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8"/>
  </p:notesMasterIdLst>
  <p:sldIdLst>
    <p:sldId id="307" r:id="rId5"/>
    <p:sldId id="378" r:id="rId6"/>
    <p:sldId id="379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B220-C3A2-4E39-820C-54E4B1E124A1}" type="datetimeFigureOut">
              <a:rPr lang="fr-CA" smtClean="0"/>
              <a:t>2025-03-20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7CB6E-3E34-44CC-90F8-E64B505D3DA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883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Les étudiants n’ont pas droit à leurs notes de cours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8F12F-71BA-4C6C-BEB4-9AA581BF4BE9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67505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8F12F-71BA-4C6C-BEB4-9AA581BF4BE9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13779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Les étudiants n’ont pas droit à leurs notes de cours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8F12F-71BA-4C6C-BEB4-9AA581BF4BE9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5369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433140D-A897-9E4C-97FA-B6FCD05D16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4456513"/>
            <a:ext cx="10519833" cy="564257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4400"/>
              </a:lnSpc>
              <a:defRPr sz="4400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071609"/>
            <a:ext cx="10519833" cy="610735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3333"/>
              </a:lnSpc>
              <a:buNone/>
              <a:defRPr sz="2933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B207E-D0F7-EE4C-A0D7-C138DC5A8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000" y="-663847"/>
            <a:ext cx="6648001" cy="454381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7303A3-B2CF-BF44-82D6-123A40E6A9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8" y="6173855"/>
            <a:ext cx="10519835" cy="261964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2000"/>
              </a:lnSpc>
              <a:spcAft>
                <a:spcPts val="0"/>
              </a:spcAft>
              <a:buFontTx/>
              <a:buNone/>
              <a:defRPr sz="2000" b="1" cap="all" baseline="0">
                <a:solidFill>
                  <a:schemeClr val="tx2"/>
                </a:solidFill>
              </a:defRPr>
            </a:lvl1pPr>
            <a:lvl2pPr marL="357707" indent="0">
              <a:buFontTx/>
              <a:buNone/>
              <a:defRPr/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/>
              <a:t>INSÉRER DATE ICI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F193782-F7E9-4047-B2C0-EF491FB96043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Copyright© 2020, HEC Montréal.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7867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401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66C56-658F-6E4F-9A4C-3116BF0B3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5E7EC10-615D-474D-B5C2-D46DC54D3E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err="1"/>
              <a:t>Thème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8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401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err="1"/>
              <a:t>Thème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0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54CF4E9-7517-F244-BFC4-B931479FB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555EF1-C69E-5647-8CB1-45C6C9E5D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2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9FEE11-A085-C446-AB85-92AA7F067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err="1"/>
              <a:t>Thème</a:t>
            </a:r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6D8488B-BA5C-0B49-95D3-D24211B71F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133E1B-9815-7C4E-B057-197DB3413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8CFE0F-93DF-D141-BB17-37693D4AF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AF3B66-237E-5D48-9D18-155657C45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068DF36-F76C-4C18-A034-1A903F79096C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124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E0F111-4F35-4F47-9BE0-A2D6F23AFD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66412E-A17A-CE4A-BC01-376F482A5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2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9FEE11-A085-C446-AB85-92AA7F067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err="1"/>
              <a:t>Thème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AF20EC2-0F57-F546-82B6-91B7B80429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CE6688-2DA5-7348-B0A8-267418703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930EC1-1943-3040-8605-A0FFBC74E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6C28C2-5F95-E24E-9DB0-20B15BEDC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FDBF6F5-A7EF-489A-B878-01B5D7E0CB24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09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E7250-1743-6049-B191-A89CE4BCE1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A7120-A7F2-5145-98AE-92CA98DAA0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009AC2A-707B-1D4B-92B9-A334E9B6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566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A1A4A-A776-CC4D-81BF-BA39E8592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1A282D4-E151-BE47-9965-8DB2B0B814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7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395A755-A1C6-5444-8DDD-01A8F25C4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Thème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579F7C-4942-2B4A-A5A9-F86D83AF2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1F49E2A-724E-4264-8CF3-C01F99C7F2EB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887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B3ABAA1-A0DB-BB45-9DA8-754B573383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53DF94-7A73-7041-8D6F-AFA3B277EA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693E38-AE8B-DB4C-B7ED-1BB819505D7F}"/>
              </a:ext>
            </a:extLst>
          </p:cNvPr>
          <p:cNvSpPr/>
          <p:nvPr/>
        </p:nvSpPr>
        <p:spPr>
          <a:xfrm>
            <a:off x="838201" y="1439335"/>
            <a:ext cx="10519833" cy="466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BB38210-680E-CB4D-B399-931BB3F06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B5871F0-3B49-B540-A3C5-A634C1E911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Thème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3C08F8-ABA6-B04C-AAA6-1B9D8C6D4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76E49E-284F-8646-B4AD-709D54663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160" y="1892300"/>
            <a:ext cx="9841680" cy="407588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F6FBD5F-DBAE-4CCB-95AF-1939210EC83C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16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587CC3-B385-2945-A9CA-61470F0480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3EC8EF-7CA8-8741-A183-787F069286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6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7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B5871F0-3B49-B540-A3C5-A634C1E911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Thème</a:t>
            </a: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D376BBE-4142-8A44-B7CF-653D304BB496}"/>
              </a:ext>
            </a:extLst>
          </p:cNvPr>
          <p:cNvSpPr txBox="1">
            <a:spLocks/>
          </p:cNvSpPr>
          <p:nvPr/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defPPr>
              <a:defRPr lang="en-US"/>
            </a:defPPr>
            <a:lvl1pPr marL="0" algn="ctr" defTabSz="685800" rtl="0" eaLnBrk="1" latinLnBrk="0" hangingPunct="1">
              <a:defRPr sz="6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9CCF2F-7E28-FB4D-B276-4AB2C7C2895F}" type="slidenum">
              <a:rPr lang="en-US" sz="800" smtClean="0"/>
              <a:pPr/>
              <a:t>‹N°›</a:t>
            </a:fld>
            <a:endParaRPr lang="en-CA" sz="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BC598D-28DE-FD47-BB87-8371BC229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3D5F411-5439-4304-965D-BDD6781D6991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572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B326BD-7D0B-F343-AB49-EC6A16EBB5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51F25-6689-5645-B9A7-6B170AF799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E7836A4-2567-554F-9370-6D8EC6ACDA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9697C0D-E4ED-AC49-B8E4-4815F735EE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Thème</a:t>
            </a: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5B2410F-9028-EC49-8C02-72C40E933634}"/>
              </a:ext>
            </a:extLst>
          </p:cNvPr>
          <p:cNvSpPr txBox="1">
            <a:spLocks/>
          </p:cNvSpPr>
          <p:nvPr/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defPPr>
              <a:defRPr lang="en-US"/>
            </a:defPPr>
            <a:lvl1pPr marL="0" algn="ctr" defTabSz="685800" rtl="0" eaLnBrk="1" latinLnBrk="0" hangingPunct="1">
              <a:defRPr sz="6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9CCF2F-7E28-FB4D-B276-4AB2C7C2895F}" type="slidenum">
              <a:rPr lang="en-US" sz="800" smtClean="0"/>
              <a:pPr/>
              <a:t>‹N°›</a:t>
            </a:fld>
            <a:endParaRPr lang="en-CA" sz="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F969CA-3995-AF49-95E6-B71362178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308B96-DF7F-0B45-ACE9-2B2C7ECE93B9}"/>
              </a:ext>
            </a:extLst>
          </p:cNvPr>
          <p:cNvSpPr/>
          <p:nvPr/>
        </p:nvSpPr>
        <p:spPr>
          <a:xfrm>
            <a:off x="838201" y="1439335"/>
            <a:ext cx="10519833" cy="466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6406D7-AC5B-E04F-8654-B634E5F7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288" y="1892300"/>
            <a:ext cx="10203425" cy="40758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581CB16-AE9C-4487-9D8A-2E90221DEB1A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096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PARATEUR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964108"/>
            <a:ext cx="10515600" cy="5983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03651-8682-3F42-A2A7-4262A3A84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5442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2D8F26-9E03-664C-8AAB-AF0958D641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241E6-23D7-5648-9D8F-D08E15891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03651-8682-3F42-A2A7-4262A3A84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9553" y="3146462"/>
            <a:ext cx="8608481" cy="547159"/>
          </a:xfrm>
          <a:prstGeom prst="rect">
            <a:avLst/>
          </a:prstGeom>
        </p:spPr>
        <p:txBody>
          <a:bodyPr anchor="b"/>
          <a:lstStyle>
            <a:lvl1pPr>
              <a:lnSpc>
                <a:spcPts val="4267"/>
              </a:lnSpc>
              <a:defRPr sz="4400" baseline="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9553" y="3720608"/>
            <a:ext cx="8608481" cy="150018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400" baseline="0">
                <a:solidFill>
                  <a:schemeClr val="accent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3357C-4D3F-8244-B7EA-1EBF31E1B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499FB-983B-9C4D-8D46-44FE6804CF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072" y="2709000"/>
            <a:ext cx="1440000" cy="1440000"/>
          </a:xfrm>
          <a:ln w="127000">
            <a:solidFill>
              <a:schemeClr val="bg2"/>
            </a:solidFill>
            <a:miter lim="800000"/>
          </a:ln>
        </p:spPr>
        <p:txBody>
          <a:bodyPr anchor="ctr" anchorCtr="0"/>
          <a:lstStyle>
            <a:lvl1pPr marL="0" indent="0" algn="ctr">
              <a:lnSpc>
                <a:spcPts val="8000"/>
              </a:lnSpc>
              <a:buFontTx/>
              <a:buNone/>
              <a:defRPr sz="8000" b="1" i="0" cap="all" baseline="0">
                <a:solidFill>
                  <a:schemeClr val="accent1"/>
                </a:solidFill>
              </a:defRPr>
            </a:lvl1pPr>
            <a:lvl2pPr marL="357707" indent="0">
              <a:buFontTx/>
              <a:buNone/>
              <a:defRPr/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BF1D149-3798-4548-99DC-DED04461776F}"/>
              </a:ext>
            </a:extLst>
          </p:cNvPr>
          <p:cNvSpPr txBox="1"/>
          <p:nvPr/>
        </p:nvSpPr>
        <p:spPr>
          <a:xfrm>
            <a:off x="2969957" y="6524901"/>
            <a:ext cx="6252087" cy="31698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Copyright© 2020 HEC Montréal.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5786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err="1"/>
              <a:t>Thème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301"/>
            <a:ext cx="10515600" cy="4224867"/>
          </a:xfrm>
        </p:spPr>
        <p:txBody>
          <a:bodyPr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50128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M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E321BE2-EF31-D64A-82BD-0664B1A62019}"/>
              </a:ext>
            </a:extLst>
          </p:cNvPr>
          <p:cNvSpPr/>
          <p:nvPr/>
        </p:nvSpPr>
        <p:spPr>
          <a:xfrm>
            <a:off x="0" y="1892302"/>
            <a:ext cx="12192000" cy="4224865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76312A-B842-134B-A740-6EDAC5FF2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593" b="10803"/>
          <a:stretch/>
        </p:blipFill>
        <p:spPr>
          <a:xfrm>
            <a:off x="0" y="1892301"/>
            <a:ext cx="12192000" cy="42248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885" y="1892301"/>
            <a:ext cx="7418915" cy="4224867"/>
          </a:xfrm>
        </p:spPr>
        <p:txBody>
          <a:bodyPr lIns="90000" tIns="90000" rIns="90000" bIns="90000" anchor="ctr" anchorCtr="0"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>
                <a:solidFill>
                  <a:schemeClr val="bg2"/>
                </a:solidFill>
              </a:defRPr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99C79-3B5F-3740-AD53-C50E5B9B20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4650318"/>
            <a:ext cx="3096684" cy="1466849"/>
          </a:xfrm>
        </p:spPr>
        <p:txBody>
          <a:bodyPr>
            <a:noAutofit/>
          </a:bodyPr>
          <a:lstStyle>
            <a:lvl1pPr marL="0" indent="0">
              <a:lnSpc>
                <a:spcPts val="2133"/>
              </a:lnSpc>
              <a:spcAft>
                <a:spcPts val="0"/>
              </a:spcAft>
              <a:buFontTx/>
              <a:buNone/>
              <a:defRPr sz="1867" b="1" cap="all" baseline="0">
                <a:solidFill>
                  <a:schemeClr val="accent1"/>
                </a:solidFill>
              </a:defRPr>
            </a:lvl1pPr>
            <a:lvl2pPr marL="0" indent="0">
              <a:lnSpc>
                <a:spcPts val="1600"/>
              </a:lnSpc>
              <a:spcAft>
                <a:spcPts val="0"/>
              </a:spcAft>
              <a:buFontTx/>
              <a:buNone/>
              <a:tabLst/>
              <a:defRPr sz="1333" baseline="0">
                <a:solidFill>
                  <a:schemeClr val="accent1"/>
                </a:solidFill>
              </a:defRPr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/>
              <a:t>Nom du </a:t>
            </a:r>
            <a:r>
              <a:rPr lang="en-US" err="1"/>
              <a:t>formateur</a:t>
            </a:r>
            <a:endParaRPr lang="en-US"/>
          </a:p>
          <a:p>
            <a:pPr lvl="1"/>
            <a:r>
              <a:rPr lang="en-US" err="1"/>
              <a:t>Titre</a:t>
            </a:r>
            <a:r>
              <a:rPr lang="en-US"/>
              <a:t> du </a:t>
            </a:r>
            <a:r>
              <a:rPr lang="en-US" err="1"/>
              <a:t>formateur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1C1062-5879-BD4A-8AFB-140706DA57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892301"/>
            <a:ext cx="2428940" cy="2428940"/>
          </a:xfrm>
          <a:solidFill>
            <a:schemeClr val="accent4">
              <a:lumMod val="20000"/>
              <a:lumOff val="80000"/>
            </a:schemeClr>
          </a:solidFill>
          <a:ln w="127000">
            <a:noFill/>
            <a:miter lim="800000"/>
          </a:ln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333"/>
            </a:lvl1pPr>
          </a:lstStyle>
          <a:p>
            <a:r>
              <a:rPr lang="en-US"/>
              <a:t>INSÉRER PHOTO ICI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/>
              <a:t>FORMATEUR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005675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E0E96A-F036-6146-BE04-0600232E3FC0}"/>
              </a:ext>
            </a:extLst>
          </p:cNvPr>
          <p:cNvSpPr/>
          <p:nvPr/>
        </p:nvSpPr>
        <p:spPr>
          <a:xfrm>
            <a:off x="0" y="1892302"/>
            <a:ext cx="12192000" cy="4224865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44DF82-E45D-7044-933A-7AF5218BA5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593" b="10803"/>
          <a:stretch/>
        </p:blipFill>
        <p:spPr>
          <a:xfrm>
            <a:off x="0" y="1892301"/>
            <a:ext cx="12192000" cy="42248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302"/>
            <a:ext cx="10515600" cy="4224865"/>
          </a:xfrm>
        </p:spPr>
        <p:txBody>
          <a:bodyPr lIns="0" tIns="90000" rIns="0" bIns="90000" anchor="ctr" anchorCtr="0"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>
                <a:solidFill>
                  <a:schemeClr val="bg2"/>
                </a:solidFill>
              </a:defRPr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325969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D5B8E79-D955-9148-9F3F-039F8FA59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3464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9BA5AE-588B-FB45-AD5F-33F4C4D769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A44F5-E098-DD43-9CBB-82806D082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ZoneTexte 4">
            <a:extLst>
              <a:ext uri="{FF2B5EF4-FFF2-40B4-BE49-F238E27FC236}">
                <a16:creationId xmlns:a16="http://schemas.microsoft.com/office/drawing/2014/main" id="{ADE03F80-98FF-8E41-B9B1-1ED8A52B332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6084" y="2245865"/>
            <a:ext cx="10519833" cy="1897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1733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hec.ca/</a:t>
            </a:r>
            <a:r>
              <a:rPr lang="fr-CA" sz="11733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endParaRPr lang="fr-CA" sz="11733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D7FA95-A771-4899-985E-C75656BB3804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Copyright© 2020, HEC Montréal.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1429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4DC03-47C0-47BA-B37F-CB916998237C}" type="datetime1">
              <a:rPr lang="fr-CA" smtClean="0"/>
              <a:t>2025-03-20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Copyright; Michel Vézina-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39357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722594A-B8FA-4C76-85D2-CC194FE17AD3}"/>
              </a:ext>
            </a:extLst>
          </p:cNvPr>
          <p:cNvSpPr txBox="1"/>
          <p:nvPr userDrawn="1"/>
        </p:nvSpPr>
        <p:spPr>
          <a:xfrm>
            <a:off x="10268712" y="6230050"/>
            <a:ext cx="1321724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CA"/>
              <a:t>Michel Vézina</a:t>
            </a:r>
          </a:p>
        </p:txBody>
      </p:sp>
    </p:spTree>
    <p:extLst>
      <p:ext uri="{BB962C8B-B14F-4D97-AF65-F5344CB8AC3E}">
        <p14:creationId xmlns:p14="http://schemas.microsoft.com/office/powerpoint/2010/main" val="1283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6F06D-0BD1-6D4F-AAE3-6DD4CE5C8A3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2915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1AD6E3AE-1EBA-B342-A01B-F73CD682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821"/>
            <a:ext cx="10515600" cy="56425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5CD68C-8915-4841-ACD2-3630A27F5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317A3F9-320C-4017-A986-0FDD20C08303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Copyright© 2020, HEC Montréal.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654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hf hdr="0" ftr="0" dt="0"/>
  <p:txStyles>
    <p:titleStyle>
      <a:lvl1pPr algn="l" defTabSz="914377" rtl="0" eaLnBrk="1" latinLnBrk="0" hangingPunct="1">
        <a:lnSpc>
          <a:spcPts val="4400"/>
        </a:lnSpc>
        <a:spcBef>
          <a:spcPct val="0"/>
        </a:spcBef>
        <a:buNone/>
        <a:defRPr sz="4000" b="1" i="0" kern="1200" cap="none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57708" indent="-357708" algn="l" defTabSz="914377" rtl="0" eaLnBrk="1" latinLnBrk="0" hangingPunct="1">
        <a:lnSpc>
          <a:spcPts val="3200"/>
        </a:lnSpc>
        <a:spcBef>
          <a:spcPts val="0"/>
        </a:spcBef>
        <a:spcAft>
          <a:spcPts val="800"/>
        </a:spcAft>
        <a:buFont typeface="Wingdings" pitchFamily="2" charset="2"/>
        <a:buChar char="§"/>
        <a:tabLst/>
        <a:defRPr sz="26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15415" indent="-357708" algn="l" defTabSz="914377" rtl="0" eaLnBrk="1" latinLnBrk="0" hangingPunct="1">
        <a:lnSpc>
          <a:spcPts val="2800"/>
        </a:lnSpc>
        <a:spcBef>
          <a:spcPts val="0"/>
        </a:spcBef>
        <a:spcAft>
          <a:spcPts val="700"/>
        </a:spcAft>
        <a:buFont typeface="Wingdings" pitchFamily="2" charset="2"/>
        <a:buChar char="§"/>
        <a:tabLst/>
        <a:defRPr sz="22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54593" indent="-239178" algn="l" defTabSz="914377" rtl="0" eaLnBrk="1" latinLnBrk="0" hangingPunct="1">
        <a:lnSpc>
          <a:spcPts val="24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8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93770" indent="-239178" algn="l" defTabSz="914377" rtl="0" eaLnBrk="1" latinLnBrk="0" hangingPunct="1">
        <a:lnSpc>
          <a:spcPts val="2000"/>
        </a:lnSpc>
        <a:spcBef>
          <a:spcPts val="0"/>
        </a:spcBef>
        <a:spcAft>
          <a:spcPts val="500"/>
        </a:spcAft>
        <a:buFont typeface="Wingdings" pitchFamily="2" charset="2"/>
        <a:buChar char="§"/>
        <a:tabLst/>
        <a:defRPr sz="14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430831" indent="-237061" algn="l" defTabSz="914377" rtl="0" eaLnBrk="1" latinLnBrk="0" hangingPunct="1">
        <a:lnSpc>
          <a:spcPts val="1600"/>
        </a:lnSpc>
        <a:spcBef>
          <a:spcPts val="0"/>
        </a:spcBef>
        <a:spcAft>
          <a:spcPts val="400"/>
        </a:spcAft>
        <a:buFont typeface="Wingdings" pitchFamily="2" charset="2"/>
        <a:buChar char="§"/>
        <a:tabLst/>
        <a:defRPr sz="10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orient="horz" pos="3162">
          <p15:clr>
            <a:srgbClr val="F26B43"/>
          </p15:clr>
        </p15:guide>
        <p15:guide id="4" pos="396">
          <p15:clr>
            <a:srgbClr val="F26B43"/>
          </p15:clr>
        </p15:guide>
        <p15:guide id="5" pos="5366">
          <p15:clr>
            <a:srgbClr val="F26B43"/>
          </p15:clr>
        </p15:guide>
        <p15:guide id="6" orient="horz" pos="237">
          <p15:clr>
            <a:srgbClr val="F26B43"/>
          </p15:clr>
        </p15:guide>
        <p15:guide id="7" orient="horz" pos="680">
          <p15:clr>
            <a:srgbClr val="F26B43"/>
          </p15:clr>
        </p15:guide>
        <p15:guide id="8" orient="horz" pos="1038">
          <p15:clr>
            <a:srgbClr val="F26B43"/>
          </p15:clr>
        </p15:guide>
        <p15:guide id="9" orient="horz" pos="338">
          <p15:clr>
            <a:srgbClr val="F26B43"/>
          </p15:clr>
        </p15:guide>
        <p15:guide id="10" orient="horz" pos="894">
          <p15:clr>
            <a:srgbClr val="F26B43"/>
          </p15:clr>
        </p15:guide>
        <p15:guide id="11" orient="horz" pos="2890">
          <p15:clr>
            <a:srgbClr val="F26B43"/>
          </p15:clr>
        </p15:guide>
        <p15:guide id="12" pos="618">
          <p15:clr>
            <a:srgbClr val="F26B43"/>
          </p15:clr>
        </p15:guide>
        <p15:guide id="13" pos="1859">
          <p15:clr>
            <a:srgbClr val="F26B43"/>
          </p15:clr>
        </p15:guide>
        <p15:guide id="14" pos="190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endParaRPr lang="fr-CA" sz="1800"/>
          </a:p>
          <a:p>
            <a:pPr>
              <a:buFont typeface="Wingdings" panose="05000000000000000000" pitchFamily="2" charset="2"/>
              <a:buChar char="§"/>
            </a:pPr>
            <a:r>
              <a:rPr lang="fr-CA"/>
              <a:t>Assurez-vous de répondre à toutes les demandes </a:t>
            </a:r>
            <a:r>
              <a:rPr lang="fr-CA" b="1"/>
              <a:t>explicites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b="1"/>
              <a:t>Aucune documentation permise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/>
              <a:t>Vous devez partir de fichier Word et Excel </a:t>
            </a:r>
            <a:r>
              <a:rPr lang="fr-CA" b="1"/>
              <a:t>VIERGES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b="1"/>
              <a:t>L’heure et la date de création du fichier seront vérifiés par les correcteurs</a:t>
            </a:r>
          </a:p>
          <a:p>
            <a:endParaRPr lang="fr-CA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5762970-172D-49D9-A022-05682A069C86}"/>
              </a:ext>
            </a:extLst>
          </p:cNvPr>
          <p:cNvSpPr/>
          <p:nvPr/>
        </p:nvSpPr>
        <p:spPr>
          <a:xfrm>
            <a:off x="718457" y="425746"/>
            <a:ext cx="11090366" cy="1102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sz="4400" b="1"/>
              <a:t>Comment aborder le cas?</a:t>
            </a:r>
          </a:p>
        </p:txBody>
      </p:sp>
    </p:spTree>
    <p:extLst>
      <p:ext uri="{BB962C8B-B14F-4D97-AF65-F5344CB8AC3E}">
        <p14:creationId xmlns:p14="http://schemas.microsoft.com/office/powerpoint/2010/main" val="3002492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3000" y="2057400"/>
            <a:ext cx="10054652" cy="4388370"/>
          </a:xfrm>
        </p:spPr>
        <p:txBody>
          <a:bodyPr>
            <a:normAutofit/>
          </a:bodyPr>
          <a:lstStyle/>
          <a:p>
            <a:pPr lvl="1" indent="0">
              <a:lnSpc>
                <a:spcPct val="100000"/>
              </a:lnSpc>
            </a:pPr>
            <a:endParaRPr lang="fr-CA" sz="2400" dirty="0"/>
          </a:p>
          <a:p>
            <a:pPr lvl="1" indent="0">
              <a:lnSpc>
                <a:spcPct val="100000"/>
              </a:lnSpc>
            </a:pPr>
            <a:r>
              <a:rPr lang="fr-CA" sz="2400" dirty="0"/>
              <a:t>ASSUREZ-VOUS DE REMETTRE LE BON FICHIER! </a:t>
            </a:r>
          </a:p>
          <a:p>
            <a:pPr lvl="1" indent="0">
              <a:lnSpc>
                <a:spcPct val="100000"/>
              </a:lnSpc>
            </a:pPr>
            <a:endParaRPr lang="fr-CA" dirty="0"/>
          </a:p>
          <a:p>
            <a:pPr lvl="1" indent="0">
              <a:lnSpc>
                <a:spcPct val="100000"/>
              </a:lnSpc>
            </a:pPr>
            <a:r>
              <a:rPr lang="fr-CA" sz="2400" dirty="0"/>
              <a:t>En cas d’erreur lors de la remise, transmettez-nous immédiatement les bons documents </a:t>
            </a:r>
            <a:r>
              <a:rPr lang="fr-CA" sz="2400" b="1" dirty="0"/>
              <a:t>SANS LES OUVRIR </a:t>
            </a:r>
            <a:r>
              <a:rPr lang="fr-CA" sz="2400" dirty="0"/>
              <a:t>pour ne pas affecter l’heure de la dernière modification</a:t>
            </a:r>
          </a:p>
          <a:p>
            <a:pPr lvl="1" indent="0">
              <a:lnSpc>
                <a:spcPct val="100000"/>
              </a:lnSpc>
              <a:buNone/>
            </a:pPr>
            <a:endParaRPr lang="fr-CA" sz="2400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4352C1A-DEB6-4BE9-8387-5764580E58AC}"/>
              </a:ext>
            </a:extLst>
          </p:cNvPr>
          <p:cNvSpPr/>
          <p:nvPr/>
        </p:nvSpPr>
        <p:spPr>
          <a:xfrm>
            <a:off x="362323" y="412230"/>
            <a:ext cx="11090366" cy="1102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sz="4400" b="1" dirty="0"/>
              <a:t>Examens</a:t>
            </a:r>
          </a:p>
        </p:txBody>
      </p:sp>
    </p:spTree>
    <p:extLst>
      <p:ext uri="{BB962C8B-B14F-4D97-AF65-F5344CB8AC3E}">
        <p14:creationId xmlns:p14="http://schemas.microsoft.com/office/powerpoint/2010/main" val="55669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endParaRPr lang="fr-CA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fr-CA" dirty="0"/>
              <a:t>Avis d’absence </a:t>
            </a:r>
          </a:p>
          <a:p>
            <a:pPr lvl="1"/>
            <a:r>
              <a:rPr lang="fr-CA" b="1" dirty="0"/>
              <a:t>Formulaire transmis au registraire</a:t>
            </a:r>
          </a:p>
          <a:p>
            <a:pPr lvl="1"/>
            <a:r>
              <a:rPr lang="fr-CA" b="1" dirty="0"/>
              <a:t>À l’intra: le résultat sera réputé être le même que celui de l’examen final (les points de l’intra sont remis au final)</a:t>
            </a:r>
          </a:p>
          <a:p>
            <a:pPr lvl="1"/>
            <a:r>
              <a:rPr lang="fr-CA" b="1" dirty="0"/>
              <a:t>Au final: Examen différé au prochain trimestre où le cours sera offert</a:t>
            </a:r>
          </a:p>
          <a:p>
            <a:endParaRPr lang="fr-CA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5762970-172D-49D9-A022-05682A069C86}"/>
              </a:ext>
            </a:extLst>
          </p:cNvPr>
          <p:cNvSpPr/>
          <p:nvPr/>
        </p:nvSpPr>
        <p:spPr>
          <a:xfrm>
            <a:off x="691824" y="447517"/>
            <a:ext cx="11090366" cy="1102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sz="4400" b="1" dirty="0"/>
              <a:t>Situations particulières pendant les examens</a:t>
            </a:r>
          </a:p>
        </p:txBody>
      </p:sp>
    </p:spTree>
    <p:extLst>
      <p:ext uri="{BB962C8B-B14F-4D97-AF65-F5344CB8AC3E}">
        <p14:creationId xmlns:p14="http://schemas.microsoft.com/office/powerpoint/2010/main" val="42072534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 FCD_F">
  <a:themeElements>
    <a:clrScheme name="HEC ED">
      <a:dk1>
        <a:srgbClr val="000000"/>
      </a:dk1>
      <a:lt1>
        <a:srgbClr val="FFFFFF"/>
      </a:lt1>
      <a:dk2>
        <a:srgbClr val="003C71"/>
      </a:dk2>
      <a:lt2>
        <a:srgbClr val="003C71"/>
      </a:lt2>
      <a:accent1>
        <a:srgbClr val="009FDF"/>
      </a:accent1>
      <a:accent2>
        <a:srgbClr val="009FDF"/>
      </a:accent2>
      <a:accent3>
        <a:srgbClr val="97999B"/>
      </a:accent3>
      <a:accent4>
        <a:srgbClr val="97999B"/>
      </a:accent4>
      <a:accent5>
        <a:srgbClr val="3CB5E6"/>
      </a:accent5>
      <a:accent6>
        <a:srgbClr val="3CB5E6"/>
      </a:accent6>
      <a:hlink>
        <a:srgbClr val="009FDF"/>
      </a:hlink>
      <a:folHlink>
        <a:srgbClr val="009FDF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 FCD_F" id="{08654BEC-F64F-473F-AF2B-36F3D2CE5BC3}" vid="{8917B93F-FFD9-4619-9788-391FA70B431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7F6C987779084D93BF47C3C6A57617" ma:contentTypeVersion="4" ma:contentTypeDescription="Create a new document." ma:contentTypeScope="" ma:versionID="4d070c05d83064a050d8f5692470040a">
  <xsd:schema xmlns:xsd="http://www.w3.org/2001/XMLSchema" xmlns:xs="http://www.w3.org/2001/XMLSchema" xmlns:p="http://schemas.microsoft.com/office/2006/metadata/properties" xmlns:ns2="e80e408d-a9df-43f2-afb6-2aa574d90de4" targetNamespace="http://schemas.microsoft.com/office/2006/metadata/properties" ma:root="true" ma:fieldsID="40588566e03e62a98709e0ee93398960" ns2:_="">
    <xsd:import namespace="e80e408d-a9df-43f2-afb6-2aa574d90d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0e408d-a9df-43f2-afb6-2aa574d90d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BFD697-EC49-4CAE-9AFD-46D57F324D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55EBF3-BBB0-4A54-B145-85BA072F064F}">
  <ds:schemaRefs>
    <ds:schemaRef ds:uri="http://schemas.microsoft.com/office/2006/metadata/properties"/>
    <ds:schemaRef ds:uri="http://purl.org/dc/terms/"/>
    <ds:schemaRef ds:uri="e80e408d-a9df-43f2-afb6-2aa574d90de4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AA36672-080C-4432-BA37-4147FD7A1D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0e408d-a9df-43f2-afb6-2aa574d90d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143</Words>
  <Application>Microsoft Office PowerPoint</Application>
  <PresentationFormat>Grand écran</PresentationFormat>
  <Paragraphs>22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Thème FCD_F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Claude Laurin</dc:creator>
  <cp:lastModifiedBy>Marie-Ève Quenneville</cp:lastModifiedBy>
  <cp:revision>3</cp:revision>
  <dcterms:created xsi:type="dcterms:W3CDTF">2022-10-17T14:42:45Z</dcterms:created>
  <dcterms:modified xsi:type="dcterms:W3CDTF">2025-03-20T22:13:24Z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0x010100AA7F6C987779084D93BF47C3C6A57617</vt:lpwstr>
  </property>
</Properties>
</file>