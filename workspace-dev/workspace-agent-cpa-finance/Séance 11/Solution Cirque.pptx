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5">
  <p:sldMasterIdLst>
    <p:sldMasterId id="2147483648" r:id="rId1"/>
  </p:sldMasterIdLst>
  <p:sldIdLst>
    <p:sldId id="256" r:id="rId2"/>
    <p:sldId id="258" r:id="rId3"/>
    <p:sldId id="260" r:id="rId4"/>
    <p:sldId id="261" r:id="rId5"/>
    <p:sldId id="262" r:id="rId6"/>
    <p:sldId id="263" r:id="rId7"/>
    <p:sldId id="264" r:id="rId8"/>
    <p:sldId id="265" r:id="rId9"/>
    <p:sldId id="266" r:id="rId10"/>
    <p:sldId id="267" r:id="rId11"/>
    <p:sldId id="276" r:id="rId12"/>
    <p:sldId id="277" r:id="rId13"/>
    <p:sldId id="278" r:id="rId14"/>
    <p:sldId id="279" r:id="rId15"/>
    <p:sldId id="280" r:id="rId16"/>
    <p:sldId id="282" r:id="rId17"/>
    <p:sldId id="284" r:id="rId18"/>
    <p:sldId id="285" r:id="rId19"/>
    <p:sldId id="286" r:id="rId20"/>
    <p:sldId id="287" r:id="rId21"/>
    <p:sldId id="288" r:id="rId22"/>
    <p:sldId id="289" r:id="rId23"/>
    <p:sldId id="290" r:id="rId24"/>
    <p:sldId id="291" r:id="rId25"/>
    <p:sldId id="283" r:id="rId26"/>
    <p:sldId id="294" r:id="rId27"/>
    <p:sldId id="296" r:id="rId28"/>
    <p:sldId id="297" r:id="rId29"/>
    <p:sldId id="298" r:id="rId30"/>
    <p:sldId id="303" r:id="rId31"/>
    <p:sldId id="360" r:id="rId32"/>
    <p:sldId id="304" r:id="rId33"/>
    <p:sldId id="305" r:id="rId34"/>
    <p:sldId id="300" r:id="rId35"/>
    <p:sldId id="301" r:id="rId36"/>
    <p:sldId id="302" r:id="rId37"/>
    <p:sldId id="306" r:id="rId38"/>
    <p:sldId id="308" r:id="rId39"/>
    <p:sldId id="309" r:id="rId40"/>
    <p:sldId id="299" r:id="rId41"/>
    <p:sldId id="311" r:id="rId42"/>
    <p:sldId id="313" r:id="rId43"/>
    <p:sldId id="314" r:id="rId44"/>
    <p:sldId id="316" r:id="rId45"/>
    <p:sldId id="317" r:id="rId46"/>
    <p:sldId id="320" r:id="rId47"/>
    <p:sldId id="321" r:id="rId48"/>
    <p:sldId id="322" r:id="rId49"/>
    <p:sldId id="323" r:id="rId50"/>
    <p:sldId id="324" r:id="rId51"/>
    <p:sldId id="325" r:id="rId52"/>
    <p:sldId id="326" r:id="rId53"/>
    <p:sldId id="327" r:id="rId54"/>
    <p:sldId id="328" r:id="rId55"/>
    <p:sldId id="332" r:id="rId56"/>
    <p:sldId id="333" r:id="rId57"/>
    <p:sldId id="334" r:id="rId58"/>
    <p:sldId id="335" r:id="rId59"/>
    <p:sldId id="336" r:id="rId60"/>
    <p:sldId id="337" r:id="rId61"/>
    <p:sldId id="338" r:id="rId62"/>
    <p:sldId id="339" r:id="rId63"/>
    <p:sldId id="341" r:id="rId64"/>
    <p:sldId id="342" r:id="rId65"/>
    <p:sldId id="343" r:id="rId66"/>
    <p:sldId id="344" r:id="rId67"/>
    <p:sldId id="345" r:id="rId68"/>
    <p:sldId id="347" r:id="rId69"/>
    <p:sldId id="348" r:id="rId70"/>
    <p:sldId id="349" r:id="rId71"/>
    <p:sldId id="350" r:id="rId72"/>
    <p:sldId id="351" r:id="rId73"/>
    <p:sldId id="352" r:id="rId74"/>
    <p:sldId id="353" r:id="rId75"/>
    <p:sldId id="355" r:id="rId76"/>
    <p:sldId id="356" r:id="rId77"/>
    <p:sldId id="357" r:id="rId78"/>
    <p:sldId id="358" r:id="rId79"/>
    <p:sldId id="359" r:id="rId8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FF8B99-CBE7-4E73-B384-BE553FFBF750}" v="2" dt="2025-03-23T19:30:42.968"/>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8" d="100"/>
          <a:sy n="108" d="100"/>
        </p:scale>
        <p:origin x="96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38089A-62D2-43EB-A1B4-5C2D78F99F92}"/>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5A082275-296D-486F-BB18-6E91767DC7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963A8A56-A035-44FF-ACF4-1572E2082364}"/>
              </a:ext>
            </a:extLst>
          </p:cNvPr>
          <p:cNvSpPr>
            <a:spLocks noGrp="1"/>
          </p:cNvSpPr>
          <p:nvPr>
            <p:ph type="dt" sz="half" idx="10"/>
          </p:nvPr>
        </p:nvSpPr>
        <p:spPr/>
        <p:txBody>
          <a:bodyPr/>
          <a:lstStyle/>
          <a:p>
            <a:fld id="{4E922800-08AD-487A-BEB8-7129ADA0B47C}" type="datetimeFigureOut">
              <a:rPr lang="fr-FR" smtClean="0"/>
              <a:t>23/03/2025</a:t>
            </a:fld>
            <a:endParaRPr lang="fr-FR"/>
          </a:p>
        </p:txBody>
      </p:sp>
      <p:sp>
        <p:nvSpPr>
          <p:cNvPr id="5" name="Espace réservé du pied de page 4">
            <a:extLst>
              <a:ext uri="{FF2B5EF4-FFF2-40B4-BE49-F238E27FC236}">
                <a16:creationId xmlns:a16="http://schemas.microsoft.com/office/drawing/2014/main" id="{746FDF38-F198-44FF-BD27-AF3FC526D8C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A130BE5-59D3-4AA0-997F-0407B01DA4B7}"/>
              </a:ext>
            </a:extLst>
          </p:cNvPr>
          <p:cNvSpPr>
            <a:spLocks noGrp="1"/>
          </p:cNvSpPr>
          <p:nvPr>
            <p:ph type="sldNum" sz="quarter" idx="12"/>
          </p:nvPr>
        </p:nvSpPr>
        <p:spPr/>
        <p:txBody>
          <a:bodyPr/>
          <a:lstStyle/>
          <a:p>
            <a:fld id="{19DE9A4D-B58A-43CC-B403-22FB039844CD}" type="slidenum">
              <a:rPr lang="fr-FR" smtClean="0"/>
              <a:t>‹N°›</a:t>
            </a:fld>
            <a:endParaRPr lang="fr-FR"/>
          </a:p>
        </p:txBody>
      </p:sp>
    </p:spTree>
    <p:extLst>
      <p:ext uri="{BB962C8B-B14F-4D97-AF65-F5344CB8AC3E}">
        <p14:creationId xmlns:p14="http://schemas.microsoft.com/office/powerpoint/2010/main" val="819987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065A0A-A605-4060-B0CE-DA1A8E3F55C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E7DD274-C261-41B3-AFD6-C93256DDE0E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360AEEE-D8C8-4A25-8FE5-E5722893502A}"/>
              </a:ext>
            </a:extLst>
          </p:cNvPr>
          <p:cNvSpPr>
            <a:spLocks noGrp="1"/>
          </p:cNvSpPr>
          <p:nvPr>
            <p:ph type="dt" sz="half" idx="10"/>
          </p:nvPr>
        </p:nvSpPr>
        <p:spPr/>
        <p:txBody>
          <a:bodyPr/>
          <a:lstStyle/>
          <a:p>
            <a:fld id="{4E922800-08AD-487A-BEB8-7129ADA0B47C}" type="datetimeFigureOut">
              <a:rPr lang="fr-FR" smtClean="0"/>
              <a:t>23/03/2025</a:t>
            </a:fld>
            <a:endParaRPr lang="fr-FR"/>
          </a:p>
        </p:txBody>
      </p:sp>
      <p:sp>
        <p:nvSpPr>
          <p:cNvPr id="5" name="Espace réservé du pied de page 4">
            <a:extLst>
              <a:ext uri="{FF2B5EF4-FFF2-40B4-BE49-F238E27FC236}">
                <a16:creationId xmlns:a16="http://schemas.microsoft.com/office/drawing/2014/main" id="{7F95AA56-5063-49ED-B932-FD91A8A629D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E4C3C67-E7EA-48E7-9E35-4C1FAF9AA931}"/>
              </a:ext>
            </a:extLst>
          </p:cNvPr>
          <p:cNvSpPr>
            <a:spLocks noGrp="1"/>
          </p:cNvSpPr>
          <p:nvPr>
            <p:ph type="sldNum" sz="quarter" idx="12"/>
          </p:nvPr>
        </p:nvSpPr>
        <p:spPr/>
        <p:txBody>
          <a:bodyPr/>
          <a:lstStyle/>
          <a:p>
            <a:fld id="{19DE9A4D-B58A-43CC-B403-22FB039844CD}" type="slidenum">
              <a:rPr lang="fr-FR" smtClean="0"/>
              <a:t>‹N°›</a:t>
            </a:fld>
            <a:endParaRPr lang="fr-FR"/>
          </a:p>
        </p:txBody>
      </p:sp>
    </p:spTree>
    <p:extLst>
      <p:ext uri="{BB962C8B-B14F-4D97-AF65-F5344CB8AC3E}">
        <p14:creationId xmlns:p14="http://schemas.microsoft.com/office/powerpoint/2010/main" val="2792009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1FBB31-09F0-4A27-B8D4-B18B2209FED7}"/>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02629A37-5AED-408B-BCC3-7440882601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330B8F7-E3E2-469A-9209-8EA494F54EAD}"/>
              </a:ext>
            </a:extLst>
          </p:cNvPr>
          <p:cNvSpPr>
            <a:spLocks noGrp="1"/>
          </p:cNvSpPr>
          <p:nvPr>
            <p:ph type="dt" sz="half" idx="10"/>
          </p:nvPr>
        </p:nvSpPr>
        <p:spPr/>
        <p:txBody>
          <a:bodyPr/>
          <a:lstStyle/>
          <a:p>
            <a:fld id="{4E922800-08AD-487A-BEB8-7129ADA0B47C}" type="datetimeFigureOut">
              <a:rPr lang="fr-FR" smtClean="0"/>
              <a:t>23/03/2025</a:t>
            </a:fld>
            <a:endParaRPr lang="fr-FR"/>
          </a:p>
        </p:txBody>
      </p:sp>
      <p:sp>
        <p:nvSpPr>
          <p:cNvPr id="5" name="Espace réservé du pied de page 4">
            <a:extLst>
              <a:ext uri="{FF2B5EF4-FFF2-40B4-BE49-F238E27FC236}">
                <a16:creationId xmlns:a16="http://schemas.microsoft.com/office/drawing/2014/main" id="{4C7282B9-C141-4F6A-830A-2BCC4893881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6F2EDD2-42AE-42B6-8240-CB0E5875FC19}"/>
              </a:ext>
            </a:extLst>
          </p:cNvPr>
          <p:cNvSpPr>
            <a:spLocks noGrp="1"/>
          </p:cNvSpPr>
          <p:nvPr>
            <p:ph type="sldNum" sz="quarter" idx="12"/>
          </p:nvPr>
        </p:nvSpPr>
        <p:spPr/>
        <p:txBody>
          <a:bodyPr/>
          <a:lstStyle/>
          <a:p>
            <a:fld id="{19DE9A4D-B58A-43CC-B403-22FB039844CD}" type="slidenum">
              <a:rPr lang="fr-FR" smtClean="0"/>
              <a:t>‹N°›</a:t>
            </a:fld>
            <a:endParaRPr lang="fr-FR"/>
          </a:p>
        </p:txBody>
      </p:sp>
    </p:spTree>
    <p:extLst>
      <p:ext uri="{BB962C8B-B14F-4D97-AF65-F5344CB8AC3E}">
        <p14:creationId xmlns:p14="http://schemas.microsoft.com/office/powerpoint/2010/main" val="641160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B176E8-43D9-4AD1-8DE0-10EC1DA7599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E739F1D-E54A-4BA9-BC1C-867C7E2A9264}"/>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65181A32-5236-4245-8C29-7B54A96CF93E}"/>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E4042F14-04A8-487E-B68A-040B274F97E7}"/>
              </a:ext>
            </a:extLst>
          </p:cNvPr>
          <p:cNvSpPr>
            <a:spLocks noGrp="1"/>
          </p:cNvSpPr>
          <p:nvPr>
            <p:ph type="dt" sz="half" idx="10"/>
          </p:nvPr>
        </p:nvSpPr>
        <p:spPr/>
        <p:txBody>
          <a:bodyPr/>
          <a:lstStyle/>
          <a:p>
            <a:fld id="{4E922800-08AD-487A-BEB8-7129ADA0B47C}" type="datetimeFigureOut">
              <a:rPr lang="fr-FR" smtClean="0"/>
              <a:t>23/03/2025</a:t>
            </a:fld>
            <a:endParaRPr lang="fr-FR"/>
          </a:p>
        </p:txBody>
      </p:sp>
      <p:sp>
        <p:nvSpPr>
          <p:cNvPr id="6" name="Espace réservé du pied de page 5">
            <a:extLst>
              <a:ext uri="{FF2B5EF4-FFF2-40B4-BE49-F238E27FC236}">
                <a16:creationId xmlns:a16="http://schemas.microsoft.com/office/drawing/2014/main" id="{6E390BCD-D546-4B69-B3B2-3C300E8111D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4DA7A62-1E81-49F5-B6B9-BCBB588B6316}"/>
              </a:ext>
            </a:extLst>
          </p:cNvPr>
          <p:cNvSpPr>
            <a:spLocks noGrp="1"/>
          </p:cNvSpPr>
          <p:nvPr>
            <p:ph type="sldNum" sz="quarter" idx="12"/>
          </p:nvPr>
        </p:nvSpPr>
        <p:spPr/>
        <p:txBody>
          <a:bodyPr/>
          <a:lstStyle/>
          <a:p>
            <a:fld id="{19DE9A4D-B58A-43CC-B403-22FB039844CD}" type="slidenum">
              <a:rPr lang="fr-FR" smtClean="0"/>
              <a:t>‹N°›</a:t>
            </a:fld>
            <a:endParaRPr lang="fr-FR"/>
          </a:p>
        </p:txBody>
      </p:sp>
    </p:spTree>
    <p:extLst>
      <p:ext uri="{BB962C8B-B14F-4D97-AF65-F5344CB8AC3E}">
        <p14:creationId xmlns:p14="http://schemas.microsoft.com/office/powerpoint/2010/main" val="496557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A5AD21B-64C3-4FDF-B442-C89B70FA5E7E}"/>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E3F44BC5-022C-49E2-9A95-6BCF5C2F2E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FFD6D0DF-F7EB-4964-AA76-1245447E7EDD}"/>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95315391-3B53-4BF3-81D9-252856068B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322D749B-2897-4E39-A76F-C864E26D8D67}"/>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19D25D8-C96A-459D-A2CF-97C1303BC8A8}"/>
              </a:ext>
            </a:extLst>
          </p:cNvPr>
          <p:cNvSpPr>
            <a:spLocks noGrp="1"/>
          </p:cNvSpPr>
          <p:nvPr>
            <p:ph type="dt" sz="half" idx="10"/>
          </p:nvPr>
        </p:nvSpPr>
        <p:spPr/>
        <p:txBody>
          <a:bodyPr/>
          <a:lstStyle/>
          <a:p>
            <a:fld id="{4E922800-08AD-487A-BEB8-7129ADA0B47C}" type="datetimeFigureOut">
              <a:rPr lang="fr-FR" smtClean="0"/>
              <a:t>23/03/2025</a:t>
            </a:fld>
            <a:endParaRPr lang="fr-FR"/>
          </a:p>
        </p:txBody>
      </p:sp>
      <p:sp>
        <p:nvSpPr>
          <p:cNvPr id="8" name="Espace réservé du pied de page 7">
            <a:extLst>
              <a:ext uri="{FF2B5EF4-FFF2-40B4-BE49-F238E27FC236}">
                <a16:creationId xmlns:a16="http://schemas.microsoft.com/office/drawing/2014/main" id="{C3444E70-21EF-480D-915B-6F4D3C3FB7C3}"/>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5D6B56F6-9879-4B75-824F-162C1C5AC214}"/>
              </a:ext>
            </a:extLst>
          </p:cNvPr>
          <p:cNvSpPr>
            <a:spLocks noGrp="1"/>
          </p:cNvSpPr>
          <p:nvPr>
            <p:ph type="sldNum" sz="quarter" idx="12"/>
          </p:nvPr>
        </p:nvSpPr>
        <p:spPr/>
        <p:txBody>
          <a:bodyPr/>
          <a:lstStyle/>
          <a:p>
            <a:fld id="{19DE9A4D-B58A-43CC-B403-22FB039844CD}" type="slidenum">
              <a:rPr lang="fr-FR" smtClean="0"/>
              <a:t>‹N°›</a:t>
            </a:fld>
            <a:endParaRPr lang="fr-FR"/>
          </a:p>
        </p:txBody>
      </p:sp>
    </p:spTree>
    <p:extLst>
      <p:ext uri="{BB962C8B-B14F-4D97-AF65-F5344CB8AC3E}">
        <p14:creationId xmlns:p14="http://schemas.microsoft.com/office/powerpoint/2010/main" val="68743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4864AB-8A2D-4B4D-B8D3-DE4B55A03C0F}"/>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7952BEC4-4DC7-40F6-99FF-A8E9E806C93B}"/>
              </a:ext>
            </a:extLst>
          </p:cNvPr>
          <p:cNvSpPr>
            <a:spLocks noGrp="1"/>
          </p:cNvSpPr>
          <p:nvPr>
            <p:ph type="dt" sz="half" idx="10"/>
          </p:nvPr>
        </p:nvSpPr>
        <p:spPr/>
        <p:txBody>
          <a:bodyPr/>
          <a:lstStyle/>
          <a:p>
            <a:fld id="{4E922800-08AD-487A-BEB8-7129ADA0B47C}" type="datetimeFigureOut">
              <a:rPr lang="fr-FR" smtClean="0"/>
              <a:t>23/03/2025</a:t>
            </a:fld>
            <a:endParaRPr lang="fr-FR"/>
          </a:p>
        </p:txBody>
      </p:sp>
      <p:sp>
        <p:nvSpPr>
          <p:cNvPr id="4" name="Espace réservé du pied de page 3">
            <a:extLst>
              <a:ext uri="{FF2B5EF4-FFF2-40B4-BE49-F238E27FC236}">
                <a16:creationId xmlns:a16="http://schemas.microsoft.com/office/drawing/2014/main" id="{15BB663A-A388-40AD-911E-3FFC6EC1F2C6}"/>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BAE80101-BC35-4E9C-8BC8-E90CCFB7F833}"/>
              </a:ext>
            </a:extLst>
          </p:cNvPr>
          <p:cNvSpPr>
            <a:spLocks noGrp="1"/>
          </p:cNvSpPr>
          <p:nvPr>
            <p:ph type="sldNum" sz="quarter" idx="12"/>
          </p:nvPr>
        </p:nvSpPr>
        <p:spPr/>
        <p:txBody>
          <a:bodyPr/>
          <a:lstStyle/>
          <a:p>
            <a:fld id="{19DE9A4D-B58A-43CC-B403-22FB039844CD}" type="slidenum">
              <a:rPr lang="fr-FR" smtClean="0"/>
              <a:t>‹N°›</a:t>
            </a:fld>
            <a:endParaRPr lang="fr-FR"/>
          </a:p>
        </p:txBody>
      </p:sp>
    </p:spTree>
    <p:extLst>
      <p:ext uri="{BB962C8B-B14F-4D97-AF65-F5344CB8AC3E}">
        <p14:creationId xmlns:p14="http://schemas.microsoft.com/office/powerpoint/2010/main" val="1139961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80C9845-7BD4-4796-8724-8B792E837B35}"/>
              </a:ext>
            </a:extLst>
          </p:cNvPr>
          <p:cNvSpPr>
            <a:spLocks noGrp="1"/>
          </p:cNvSpPr>
          <p:nvPr>
            <p:ph type="dt" sz="half" idx="10"/>
          </p:nvPr>
        </p:nvSpPr>
        <p:spPr/>
        <p:txBody>
          <a:bodyPr/>
          <a:lstStyle/>
          <a:p>
            <a:fld id="{4E922800-08AD-487A-BEB8-7129ADA0B47C}" type="datetimeFigureOut">
              <a:rPr lang="fr-FR" smtClean="0"/>
              <a:t>23/03/2025</a:t>
            </a:fld>
            <a:endParaRPr lang="fr-FR"/>
          </a:p>
        </p:txBody>
      </p:sp>
      <p:sp>
        <p:nvSpPr>
          <p:cNvPr id="3" name="Espace réservé du pied de page 2">
            <a:extLst>
              <a:ext uri="{FF2B5EF4-FFF2-40B4-BE49-F238E27FC236}">
                <a16:creationId xmlns:a16="http://schemas.microsoft.com/office/drawing/2014/main" id="{054D7683-5B27-4E56-9616-27F44AA06E16}"/>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1009E393-B5A0-47FD-A7AF-98ED235DE98B}"/>
              </a:ext>
            </a:extLst>
          </p:cNvPr>
          <p:cNvSpPr>
            <a:spLocks noGrp="1"/>
          </p:cNvSpPr>
          <p:nvPr>
            <p:ph type="sldNum" sz="quarter" idx="12"/>
          </p:nvPr>
        </p:nvSpPr>
        <p:spPr/>
        <p:txBody>
          <a:bodyPr/>
          <a:lstStyle/>
          <a:p>
            <a:fld id="{19DE9A4D-B58A-43CC-B403-22FB039844CD}" type="slidenum">
              <a:rPr lang="fr-FR" smtClean="0"/>
              <a:t>‹N°›</a:t>
            </a:fld>
            <a:endParaRPr lang="fr-FR"/>
          </a:p>
        </p:txBody>
      </p:sp>
    </p:spTree>
    <p:extLst>
      <p:ext uri="{BB962C8B-B14F-4D97-AF65-F5344CB8AC3E}">
        <p14:creationId xmlns:p14="http://schemas.microsoft.com/office/powerpoint/2010/main" val="15078958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474C3C-9692-40F0-A797-23F38D624A7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E16CE9D3-E51C-4E15-B41F-205F2A5902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88429777-7727-42C7-AB05-F308C880A4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27D8024-1DC6-4449-A0D2-15FA77509FC2}"/>
              </a:ext>
            </a:extLst>
          </p:cNvPr>
          <p:cNvSpPr>
            <a:spLocks noGrp="1"/>
          </p:cNvSpPr>
          <p:nvPr>
            <p:ph type="dt" sz="half" idx="10"/>
          </p:nvPr>
        </p:nvSpPr>
        <p:spPr/>
        <p:txBody>
          <a:bodyPr/>
          <a:lstStyle/>
          <a:p>
            <a:fld id="{4E922800-08AD-487A-BEB8-7129ADA0B47C}" type="datetimeFigureOut">
              <a:rPr lang="fr-FR" smtClean="0"/>
              <a:t>23/03/2025</a:t>
            </a:fld>
            <a:endParaRPr lang="fr-FR"/>
          </a:p>
        </p:txBody>
      </p:sp>
      <p:sp>
        <p:nvSpPr>
          <p:cNvPr id="6" name="Espace réservé du pied de page 5">
            <a:extLst>
              <a:ext uri="{FF2B5EF4-FFF2-40B4-BE49-F238E27FC236}">
                <a16:creationId xmlns:a16="http://schemas.microsoft.com/office/drawing/2014/main" id="{C13ED8E1-B93F-418E-9506-E4CAF57922D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33C8815-CF8C-4F95-B4F2-5FCD3D11DEB6}"/>
              </a:ext>
            </a:extLst>
          </p:cNvPr>
          <p:cNvSpPr>
            <a:spLocks noGrp="1"/>
          </p:cNvSpPr>
          <p:nvPr>
            <p:ph type="sldNum" sz="quarter" idx="12"/>
          </p:nvPr>
        </p:nvSpPr>
        <p:spPr/>
        <p:txBody>
          <a:bodyPr/>
          <a:lstStyle/>
          <a:p>
            <a:fld id="{19DE9A4D-B58A-43CC-B403-22FB039844CD}" type="slidenum">
              <a:rPr lang="fr-FR" smtClean="0"/>
              <a:t>‹N°›</a:t>
            </a:fld>
            <a:endParaRPr lang="fr-FR"/>
          </a:p>
        </p:txBody>
      </p:sp>
    </p:spTree>
    <p:extLst>
      <p:ext uri="{BB962C8B-B14F-4D97-AF65-F5344CB8AC3E}">
        <p14:creationId xmlns:p14="http://schemas.microsoft.com/office/powerpoint/2010/main" val="627811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C9CDA5-8A9C-4588-B598-E2C16E9C036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66DD6238-4C8A-432E-99C3-C764F0AEE9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6771197E-B5E0-4D0D-835C-C688DF30F3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60162492-7904-44DB-8D70-C51197B5A86B}"/>
              </a:ext>
            </a:extLst>
          </p:cNvPr>
          <p:cNvSpPr>
            <a:spLocks noGrp="1"/>
          </p:cNvSpPr>
          <p:nvPr>
            <p:ph type="dt" sz="half" idx="10"/>
          </p:nvPr>
        </p:nvSpPr>
        <p:spPr/>
        <p:txBody>
          <a:bodyPr/>
          <a:lstStyle/>
          <a:p>
            <a:fld id="{4E922800-08AD-487A-BEB8-7129ADA0B47C}" type="datetimeFigureOut">
              <a:rPr lang="fr-FR" smtClean="0"/>
              <a:t>23/03/2025</a:t>
            </a:fld>
            <a:endParaRPr lang="fr-FR"/>
          </a:p>
        </p:txBody>
      </p:sp>
      <p:sp>
        <p:nvSpPr>
          <p:cNvPr id="6" name="Espace réservé du pied de page 5">
            <a:extLst>
              <a:ext uri="{FF2B5EF4-FFF2-40B4-BE49-F238E27FC236}">
                <a16:creationId xmlns:a16="http://schemas.microsoft.com/office/drawing/2014/main" id="{93492D9D-73BB-4B9D-AEDE-9EEE5D988C5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24E622D-95AE-4BA1-BE2D-9716732EAF4F}"/>
              </a:ext>
            </a:extLst>
          </p:cNvPr>
          <p:cNvSpPr>
            <a:spLocks noGrp="1"/>
          </p:cNvSpPr>
          <p:nvPr>
            <p:ph type="sldNum" sz="quarter" idx="12"/>
          </p:nvPr>
        </p:nvSpPr>
        <p:spPr/>
        <p:txBody>
          <a:bodyPr/>
          <a:lstStyle/>
          <a:p>
            <a:fld id="{19DE9A4D-B58A-43CC-B403-22FB039844CD}" type="slidenum">
              <a:rPr lang="fr-FR" smtClean="0"/>
              <a:t>‹N°›</a:t>
            </a:fld>
            <a:endParaRPr lang="fr-FR"/>
          </a:p>
        </p:txBody>
      </p:sp>
    </p:spTree>
    <p:extLst>
      <p:ext uri="{BB962C8B-B14F-4D97-AF65-F5344CB8AC3E}">
        <p14:creationId xmlns:p14="http://schemas.microsoft.com/office/powerpoint/2010/main" val="3570670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21AB1A-CA88-4578-8AE4-A5CB9090FACA}"/>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1DFDAE28-613D-4F1E-8266-C5D69C0BC63A}"/>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EDC341E-3D41-4941-AC3D-5D3FAFC615BA}"/>
              </a:ext>
            </a:extLst>
          </p:cNvPr>
          <p:cNvSpPr>
            <a:spLocks noGrp="1"/>
          </p:cNvSpPr>
          <p:nvPr>
            <p:ph type="dt" sz="half" idx="10"/>
          </p:nvPr>
        </p:nvSpPr>
        <p:spPr/>
        <p:txBody>
          <a:bodyPr/>
          <a:lstStyle/>
          <a:p>
            <a:fld id="{4E922800-08AD-487A-BEB8-7129ADA0B47C}" type="datetimeFigureOut">
              <a:rPr lang="fr-FR" smtClean="0"/>
              <a:t>23/03/2025</a:t>
            </a:fld>
            <a:endParaRPr lang="fr-FR"/>
          </a:p>
        </p:txBody>
      </p:sp>
      <p:sp>
        <p:nvSpPr>
          <p:cNvPr id="5" name="Espace réservé du pied de page 4">
            <a:extLst>
              <a:ext uri="{FF2B5EF4-FFF2-40B4-BE49-F238E27FC236}">
                <a16:creationId xmlns:a16="http://schemas.microsoft.com/office/drawing/2014/main" id="{0036903D-35FE-449A-BD58-0B85D2B89C5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6AF88C5-BB7A-4C7D-8819-9E26FB9D1E59}"/>
              </a:ext>
            </a:extLst>
          </p:cNvPr>
          <p:cNvSpPr>
            <a:spLocks noGrp="1"/>
          </p:cNvSpPr>
          <p:nvPr>
            <p:ph type="sldNum" sz="quarter" idx="12"/>
          </p:nvPr>
        </p:nvSpPr>
        <p:spPr/>
        <p:txBody>
          <a:bodyPr/>
          <a:lstStyle/>
          <a:p>
            <a:fld id="{19DE9A4D-B58A-43CC-B403-22FB039844CD}" type="slidenum">
              <a:rPr lang="fr-FR" smtClean="0"/>
              <a:t>‹N°›</a:t>
            </a:fld>
            <a:endParaRPr lang="fr-FR"/>
          </a:p>
        </p:txBody>
      </p:sp>
    </p:spTree>
    <p:extLst>
      <p:ext uri="{BB962C8B-B14F-4D97-AF65-F5344CB8AC3E}">
        <p14:creationId xmlns:p14="http://schemas.microsoft.com/office/powerpoint/2010/main" val="1952263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BBD9B4BF-8A8B-48B7-BCCA-29F6A5AAF57E}"/>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77AAA18-AA2C-47CC-94AD-6B6CEF76F577}"/>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AEB0986-99E0-43D6-B53B-F6732CE232D3}"/>
              </a:ext>
            </a:extLst>
          </p:cNvPr>
          <p:cNvSpPr>
            <a:spLocks noGrp="1"/>
          </p:cNvSpPr>
          <p:nvPr>
            <p:ph type="dt" sz="half" idx="10"/>
          </p:nvPr>
        </p:nvSpPr>
        <p:spPr/>
        <p:txBody>
          <a:bodyPr/>
          <a:lstStyle/>
          <a:p>
            <a:fld id="{4E922800-08AD-487A-BEB8-7129ADA0B47C}" type="datetimeFigureOut">
              <a:rPr lang="fr-FR" smtClean="0"/>
              <a:t>23/03/2025</a:t>
            </a:fld>
            <a:endParaRPr lang="fr-FR"/>
          </a:p>
        </p:txBody>
      </p:sp>
      <p:sp>
        <p:nvSpPr>
          <p:cNvPr id="5" name="Espace réservé du pied de page 4">
            <a:extLst>
              <a:ext uri="{FF2B5EF4-FFF2-40B4-BE49-F238E27FC236}">
                <a16:creationId xmlns:a16="http://schemas.microsoft.com/office/drawing/2014/main" id="{162CCF2B-4348-4B0A-AA01-0C33C4324DD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D9D7308-0600-45E8-ADC9-9303B2F9D258}"/>
              </a:ext>
            </a:extLst>
          </p:cNvPr>
          <p:cNvSpPr>
            <a:spLocks noGrp="1"/>
          </p:cNvSpPr>
          <p:nvPr>
            <p:ph type="sldNum" sz="quarter" idx="12"/>
          </p:nvPr>
        </p:nvSpPr>
        <p:spPr/>
        <p:txBody>
          <a:bodyPr/>
          <a:lstStyle/>
          <a:p>
            <a:fld id="{19DE9A4D-B58A-43CC-B403-22FB039844CD}" type="slidenum">
              <a:rPr lang="fr-FR" smtClean="0"/>
              <a:t>‹N°›</a:t>
            </a:fld>
            <a:endParaRPr lang="fr-FR"/>
          </a:p>
        </p:txBody>
      </p:sp>
    </p:spTree>
    <p:extLst>
      <p:ext uri="{BB962C8B-B14F-4D97-AF65-F5344CB8AC3E}">
        <p14:creationId xmlns:p14="http://schemas.microsoft.com/office/powerpoint/2010/main" val="4272590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29EA3196-E55C-4B27-9B12-AE17A26570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E5157068-D548-402F-B611-08702D8D78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13F4BBB-A106-4E7C-8A90-5E1D82C1DE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922800-08AD-487A-BEB8-7129ADA0B47C}" type="datetimeFigureOut">
              <a:rPr lang="fr-FR" smtClean="0"/>
              <a:t>23/03/2025</a:t>
            </a:fld>
            <a:endParaRPr lang="fr-FR"/>
          </a:p>
        </p:txBody>
      </p:sp>
      <p:sp>
        <p:nvSpPr>
          <p:cNvPr id="5" name="Espace réservé du pied de page 4">
            <a:extLst>
              <a:ext uri="{FF2B5EF4-FFF2-40B4-BE49-F238E27FC236}">
                <a16:creationId xmlns:a16="http://schemas.microsoft.com/office/drawing/2014/main" id="{409B2A74-7EF4-46B7-B054-397E06FB44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3E478A1F-0677-4D01-92AB-571A2731B6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DE9A4D-B58A-43CC-B403-22FB039844CD}" type="slidenum">
              <a:rPr lang="fr-FR" smtClean="0"/>
              <a:t>‹N°›</a:t>
            </a:fld>
            <a:endParaRPr lang="fr-FR"/>
          </a:p>
        </p:txBody>
      </p:sp>
    </p:spTree>
    <p:extLst>
      <p:ext uri="{BB962C8B-B14F-4D97-AF65-F5344CB8AC3E}">
        <p14:creationId xmlns:p14="http://schemas.microsoft.com/office/powerpoint/2010/main" val="14040958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4509B9D-0300-4422-AD50-E3E80B78BDAD}"/>
              </a:ext>
            </a:extLst>
          </p:cNvPr>
          <p:cNvSpPr>
            <a:spLocks noGrp="1"/>
          </p:cNvSpPr>
          <p:nvPr>
            <p:ph type="ctrTitle"/>
          </p:nvPr>
        </p:nvSpPr>
        <p:spPr/>
        <p:txBody>
          <a:bodyPr/>
          <a:lstStyle/>
          <a:p>
            <a:r>
              <a:rPr lang="fr-CA" sz="4400" dirty="0"/>
              <a:t>40938</a:t>
            </a:r>
            <a:br>
              <a:rPr lang="fr-CA" dirty="0"/>
            </a:br>
            <a:r>
              <a:rPr lang="fr-CA" dirty="0"/>
              <a:t>Cas : Cirque des 5</a:t>
            </a:r>
            <a:endParaRPr lang="fr-FR" dirty="0"/>
          </a:p>
        </p:txBody>
      </p:sp>
      <p:sp>
        <p:nvSpPr>
          <p:cNvPr id="3" name="Sous-titre 2">
            <a:extLst>
              <a:ext uri="{FF2B5EF4-FFF2-40B4-BE49-F238E27FC236}">
                <a16:creationId xmlns:a16="http://schemas.microsoft.com/office/drawing/2014/main" id="{0EE9B5B9-6651-4351-AA82-30FEC8649F3B}"/>
              </a:ext>
            </a:extLst>
          </p:cNvPr>
          <p:cNvSpPr>
            <a:spLocks noGrp="1"/>
          </p:cNvSpPr>
          <p:nvPr>
            <p:ph type="subTitle" idx="1"/>
          </p:nvPr>
        </p:nvSpPr>
        <p:spPr/>
        <p:txBody>
          <a:bodyPr/>
          <a:lstStyle/>
          <a:p>
            <a:endParaRPr lang="fr-CA" dirty="0"/>
          </a:p>
          <a:p>
            <a:r>
              <a:rPr lang="fr-FR" sz="3200" dirty="0"/>
              <a:t>Louise Overbeek</a:t>
            </a:r>
          </a:p>
          <a:p>
            <a:r>
              <a:rPr lang="fr-FR" dirty="0"/>
              <a:t>Mars 2025</a:t>
            </a:r>
          </a:p>
        </p:txBody>
      </p:sp>
    </p:spTree>
    <p:extLst>
      <p:ext uri="{BB962C8B-B14F-4D97-AF65-F5344CB8AC3E}">
        <p14:creationId xmlns:p14="http://schemas.microsoft.com/office/powerpoint/2010/main" val="14179202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20D7B93-E05E-4179-B3C3-BF354E04AFEB}"/>
              </a:ext>
            </a:extLst>
          </p:cNvPr>
          <p:cNvSpPr>
            <a:spLocks noGrp="1"/>
          </p:cNvSpPr>
          <p:nvPr>
            <p:ph type="title"/>
          </p:nvPr>
        </p:nvSpPr>
        <p:spPr/>
        <p:txBody>
          <a:bodyPr/>
          <a:lstStyle/>
          <a:p>
            <a:r>
              <a:rPr lang="fr-CA" b="1" dirty="0">
                <a:solidFill>
                  <a:srgbClr val="FF0000"/>
                </a:solidFill>
              </a:rPr>
              <a:t>Notes en lien avec les parties prenantes</a:t>
            </a:r>
            <a:endParaRPr lang="fr-FR" b="1" dirty="0">
              <a:solidFill>
                <a:srgbClr val="FF0000"/>
              </a:solidFill>
            </a:endParaRPr>
          </a:p>
        </p:txBody>
      </p:sp>
      <p:sp>
        <p:nvSpPr>
          <p:cNvPr id="3" name="Espace réservé du contenu 2">
            <a:extLst>
              <a:ext uri="{FF2B5EF4-FFF2-40B4-BE49-F238E27FC236}">
                <a16:creationId xmlns:a16="http://schemas.microsoft.com/office/drawing/2014/main" id="{54F42038-7C24-4B2D-9A2C-5FD36B1660BC}"/>
              </a:ext>
            </a:extLst>
          </p:cNvPr>
          <p:cNvSpPr>
            <a:spLocks noGrp="1"/>
          </p:cNvSpPr>
          <p:nvPr>
            <p:ph idx="1"/>
          </p:nvPr>
        </p:nvSpPr>
        <p:spPr/>
        <p:txBody>
          <a:bodyPr>
            <a:normAutofit fontScale="25000" lnSpcReduction="20000"/>
          </a:bodyPr>
          <a:lstStyle/>
          <a:p>
            <a:pPr marL="0" indent="0">
              <a:buNone/>
            </a:pPr>
            <a:r>
              <a:rPr lang="fr-CA" sz="9600" b="1" cap="small" dirty="0"/>
              <a:t>Les parties prenantes à l’information et leurs attentes : </a:t>
            </a:r>
            <a:endParaRPr lang="fr-FR" sz="9600" b="1" cap="small" dirty="0"/>
          </a:p>
          <a:p>
            <a:pPr marL="0" indent="0">
              <a:buNone/>
            </a:pPr>
            <a:r>
              <a:rPr lang="fr-CA" sz="7200" dirty="0"/>
              <a:t> </a:t>
            </a:r>
            <a:endParaRPr lang="fr-FR" sz="7200" dirty="0"/>
          </a:p>
          <a:p>
            <a:r>
              <a:rPr lang="fr-FR" sz="8000" cap="small" dirty="0"/>
              <a:t>Les 5 actionnaires : Fondateurs du Cirque, détiennent chacun 20 </a:t>
            </a:r>
            <a:r>
              <a:rPr lang="fr-FR" sz="8000" dirty="0"/>
              <a:t>% </a:t>
            </a:r>
            <a:r>
              <a:rPr lang="fr-FR" sz="8000" cap="small" dirty="0"/>
              <a:t>des actions</a:t>
            </a:r>
          </a:p>
          <a:p>
            <a:pPr lvl="1"/>
            <a:r>
              <a:rPr lang="fr-CA" sz="7200" dirty="0"/>
              <a:t>Les cinq actionnaires veulent voir les actifs incorporels développés cette année dans le bilan du Cirque. </a:t>
            </a:r>
            <a:endParaRPr lang="fr-FR" sz="7200" dirty="0"/>
          </a:p>
          <a:p>
            <a:pPr lvl="1"/>
            <a:r>
              <a:rPr lang="fr-CA" sz="8000" dirty="0"/>
              <a:t>Ils ne veulent voir que des </a:t>
            </a:r>
            <a:r>
              <a:rPr lang="fr-CA" sz="8000" b="1" dirty="0"/>
              <a:t>vrais passifs</a:t>
            </a:r>
            <a:r>
              <a:rPr lang="fr-CA" sz="8000" dirty="0"/>
              <a:t> dans le bilan. À quoi réfèrent-ils exactement? Aux passifs d’impôt futurs ou aux provisions? Leur attente n’est pas claire.</a:t>
            </a:r>
            <a:endParaRPr lang="fr-FR" sz="8000" dirty="0"/>
          </a:p>
          <a:p>
            <a:pPr lvl="1">
              <a:buFont typeface="Wingdings" panose="05000000000000000000" pitchFamily="2" charset="2"/>
              <a:buChar char="Ø"/>
            </a:pPr>
            <a:r>
              <a:rPr lang="fr-CA" sz="8000" dirty="0"/>
              <a:t>Comme les EF dressés selon les IFRS sont audités, la comptabilisation des incorporels et celle des passifs doit respecter le référentiel.</a:t>
            </a:r>
            <a:endParaRPr lang="fr-FR" sz="8000" dirty="0"/>
          </a:p>
          <a:p>
            <a:pPr marL="0" indent="0">
              <a:buNone/>
            </a:pPr>
            <a:r>
              <a:rPr lang="fr-CA" sz="8000" dirty="0"/>
              <a:t> </a:t>
            </a:r>
            <a:endParaRPr lang="fr-FR" sz="8000" dirty="0"/>
          </a:p>
          <a:p>
            <a:r>
              <a:rPr lang="fr-CA" sz="8000" b="1" cap="small" dirty="0"/>
              <a:t>La banque</a:t>
            </a:r>
            <a:r>
              <a:rPr lang="fr-FR" sz="8000" b="1" cap="small" dirty="0"/>
              <a:t> : </a:t>
            </a:r>
            <a:r>
              <a:rPr lang="fr-CA" sz="8000" dirty="0"/>
              <a:t>La banque utilise les états financiers pour déterminer si elle maintient son prêt ou si elle le rappelle. </a:t>
            </a:r>
            <a:endParaRPr lang="fr-FR" sz="8000" dirty="0"/>
          </a:p>
          <a:p>
            <a:pPr lvl="1"/>
            <a:r>
              <a:rPr lang="fr-CA" sz="7200" dirty="0"/>
              <a:t>Elle exige le respect de certains ratios qui sont calculés à partir des états financiers audités. Elle s’attend à ce que les états financiers respectent les IFRS et </a:t>
            </a:r>
            <a:r>
              <a:rPr lang="fr-CA" sz="7200" b="1" dirty="0"/>
              <a:t>que tous les passifs</a:t>
            </a:r>
            <a:r>
              <a:rPr lang="fr-CA" sz="7200" dirty="0"/>
              <a:t> soient présentés.</a:t>
            </a:r>
            <a:endParaRPr lang="fr-FR" sz="7200" dirty="0"/>
          </a:p>
          <a:p>
            <a:pPr lvl="1"/>
            <a:endParaRPr lang="fr-CA" sz="8000" dirty="0"/>
          </a:p>
          <a:p>
            <a:pPr lvl="1"/>
            <a:r>
              <a:rPr lang="fr-CA" sz="8000" dirty="0"/>
              <a:t>Ces attentes sont clairement </a:t>
            </a:r>
            <a:r>
              <a:rPr lang="fr-CA" sz="8000" b="1" dirty="0"/>
              <a:t>en conflit </a:t>
            </a:r>
            <a:r>
              <a:rPr lang="fr-CA" sz="8000" dirty="0"/>
              <a:t>avec celles des actionnaires ; mais priorité est le respect du référentiel IFRS.</a:t>
            </a:r>
            <a:endParaRPr lang="fr-FR" dirty="0"/>
          </a:p>
        </p:txBody>
      </p:sp>
    </p:spTree>
    <p:extLst>
      <p:ext uri="{BB962C8B-B14F-4D97-AF65-F5344CB8AC3E}">
        <p14:creationId xmlns:p14="http://schemas.microsoft.com/office/powerpoint/2010/main" val="109541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924389C-2F82-43B5-83EC-34517C42C4E0}"/>
              </a:ext>
            </a:extLst>
          </p:cNvPr>
          <p:cNvSpPr>
            <a:spLocks noGrp="1"/>
          </p:cNvSpPr>
          <p:nvPr>
            <p:ph type="title"/>
          </p:nvPr>
        </p:nvSpPr>
        <p:spPr/>
        <p:txBody>
          <a:bodyPr/>
          <a:lstStyle/>
          <a:p>
            <a:r>
              <a:rPr lang="fr-CA" dirty="0"/>
              <a:t>EFC</a:t>
            </a:r>
            <a:endParaRPr lang="fr-FR" dirty="0"/>
          </a:p>
        </p:txBody>
      </p:sp>
      <p:sp>
        <p:nvSpPr>
          <p:cNvPr id="3" name="Espace réservé du contenu 2">
            <a:extLst>
              <a:ext uri="{FF2B5EF4-FFF2-40B4-BE49-F238E27FC236}">
                <a16:creationId xmlns:a16="http://schemas.microsoft.com/office/drawing/2014/main" id="{842E7CD4-FCC6-41E0-93F2-579ADA2E93C8}"/>
              </a:ext>
            </a:extLst>
          </p:cNvPr>
          <p:cNvSpPr>
            <a:spLocks noGrp="1"/>
          </p:cNvSpPr>
          <p:nvPr>
            <p:ph idx="1"/>
          </p:nvPr>
        </p:nvSpPr>
        <p:spPr/>
        <p:txBody>
          <a:bodyPr/>
          <a:lstStyle/>
          <a:p>
            <a:pPr marL="0" indent="0">
              <a:buNone/>
            </a:pPr>
            <a:r>
              <a:rPr lang="fr-CA" dirty="0">
                <a:solidFill>
                  <a:srgbClr val="0070C0"/>
                </a:solidFill>
              </a:rPr>
              <a:t>Intégrer les « parties prenantes » dans l’analyse des choix de méthodes comptables, ressortir l’impact d’une conclusion sur le respect d’un ratio exigé par la Banque</a:t>
            </a:r>
          </a:p>
          <a:p>
            <a:r>
              <a:rPr lang="fr-CA" dirty="0">
                <a:solidFill>
                  <a:srgbClr val="0070C0"/>
                </a:solidFill>
              </a:rPr>
              <a:t>Identifier la partie prenante : souvent actionnaire ou prêteur</a:t>
            </a:r>
          </a:p>
          <a:p>
            <a:r>
              <a:rPr lang="fr-CA" dirty="0">
                <a:solidFill>
                  <a:srgbClr val="0070C0"/>
                </a:solidFill>
              </a:rPr>
              <a:t>Son besoin / biais</a:t>
            </a:r>
          </a:p>
          <a:p>
            <a:r>
              <a:rPr lang="fr-CA" dirty="0">
                <a:solidFill>
                  <a:srgbClr val="0070C0"/>
                </a:solidFill>
              </a:rPr>
              <a:t>L’impact en lien avec l’enjeu analysé</a:t>
            </a:r>
            <a:endParaRPr lang="fr-FR" dirty="0">
              <a:solidFill>
                <a:srgbClr val="0070C0"/>
              </a:solidFill>
            </a:endParaRPr>
          </a:p>
        </p:txBody>
      </p:sp>
    </p:spTree>
    <p:extLst>
      <p:ext uri="{BB962C8B-B14F-4D97-AF65-F5344CB8AC3E}">
        <p14:creationId xmlns:p14="http://schemas.microsoft.com/office/powerpoint/2010/main" val="1132332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5A28F6-54D1-4879-8549-B436FEB1106D}"/>
              </a:ext>
            </a:extLst>
          </p:cNvPr>
          <p:cNvSpPr>
            <a:spLocks noGrp="1"/>
          </p:cNvSpPr>
          <p:nvPr>
            <p:ph type="title"/>
          </p:nvPr>
        </p:nvSpPr>
        <p:spPr>
          <a:xfrm>
            <a:off x="838200" y="365125"/>
            <a:ext cx="10515600" cy="700195"/>
          </a:xfrm>
        </p:spPr>
        <p:txBody>
          <a:bodyPr>
            <a:normAutofit fontScale="90000"/>
          </a:bodyPr>
          <a:lstStyle/>
          <a:p>
            <a:r>
              <a:rPr lang="fr-CA" sz="4000" b="1" dirty="0">
                <a:solidFill>
                  <a:srgbClr val="FF0000"/>
                </a:solidFill>
              </a:rPr>
              <a:t>1. Annulation des représentations du spectacle </a:t>
            </a:r>
            <a:r>
              <a:rPr lang="fr-CA" sz="4000" b="1" i="1" dirty="0">
                <a:solidFill>
                  <a:srgbClr val="FF0000"/>
                </a:solidFill>
              </a:rPr>
              <a:t>Versailles ou La reine qui dansait</a:t>
            </a:r>
            <a:r>
              <a:rPr lang="fr-CA" sz="4000" b="1" dirty="0">
                <a:solidFill>
                  <a:srgbClr val="FF0000"/>
                </a:solidFill>
              </a:rPr>
              <a:t> </a:t>
            </a:r>
            <a:endParaRPr lang="fr-FR" sz="4000" b="1" dirty="0">
              <a:solidFill>
                <a:srgbClr val="FF0000"/>
              </a:solidFill>
            </a:endParaRPr>
          </a:p>
        </p:txBody>
      </p:sp>
      <p:sp>
        <p:nvSpPr>
          <p:cNvPr id="3" name="Espace réservé du contenu 2">
            <a:extLst>
              <a:ext uri="{FF2B5EF4-FFF2-40B4-BE49-F238E27FC236}">
                <a16:creationId xmlns:a16="http://schemas.microsoft.com/office/drawing/2014/main" id="{186C729A-33AD-49D8-85B1-852A23B861EE}"/>
              </a:ext>
            </a:extLst>
          </p:cNvPr>
          <p:cNvSpPr>
            <a:spLocks noGrp="1"/>
          </p:cNvSpPr>
          <p:nvPr>
            <p:ph idx="1"/>
          </p:nvPr>
        </p:nvSpPr>
        <p:spPr>
          <a:xfrm>
            <a:off x="838200" y="1207364"/>
            <a:ext cx="10515600" cy="4969600"/>
          </a:xfrm>
        </p:spPr>
        <p:txBody>
          <a:bodyPr>
            <a:normAutofit fontScale="25000" lnSpcReduction="20000"/>
          </a:bodyPr>
          <a:lstStyle/>
          <a:p>
            <a:pPr marL="0" indent="0">
              <a:buNone/>
            </a:pPr>
            <a:r>
              <a:rPr lang="fr-CA" sz="8000" cap="small" dirty="0"/>
              <a:t>Problématiques</a:t>
            </a:r>
            <a:endParaRPr lang="fr-FR" sz="8000" dirty="0"/>
          </a:p>
          <a:p>
            <a:pPr marL="0" indent="0">
              <a:buNone/>
            </a:pPr>
            <a:r>
              <a:rPr lang="fr-CA" sz="8000" dirty="0"/>
              <a:t>Le spectacle a été annulé. 10 000 billets avaient été vendus. Nous nous sommes engagés à rembourser les billets ou à les échanger. Quelle est la nature de l’échange des billets? Celle du remboursement? Que faire avec les billets qui ne seront jamais échangés ou pour lesquels les clients ne demanderont jamais remboursement?</a:t>
            </a:r>
            <a:endParaRPr lang="fr-FR" sz="8000" dirty="0"/>
          </a:p>
          <a:p>
            <a:pPr marL="0" indent="0">
              <a:buNone/>
            </a:pPr>
            <a:r>
              <a:rPr lang="fr-CA" sz="4800" dirty="0"/>
              <a:t> </a:t>
            </a:r>
            <a:endParaRPr lang="fr-FR" sz="4800" dirty="0"/>
          </a:p>
          <a:p>
            <a:pPr marL="0" indent="0">
              <a:buNone/>
            </a:pPr>
            <a:r>
              <a:rPr lang="fr-CA" sz="8000" cap="small" dirty="0"/>
              <a:t>Analyse – IFRS 15</a:t>
            </a:r>
          </a:p>
          <a:p>
            <a:pPr marL="0" indent="0">
              <a:buNone/>
            </a:pPr>
            <a:r>
              <a:rPr lang="fr-CA" sz="8000" u="sng" dirty="0"/>
              <a:t>Étape 1</a:t>
            </a:r>
            <a:endParaRPr lang="fr-FR" sz="8000" u="sng" dirty="0"/>
          </a:p>
          <a:p>
            <a:pPr marL="0" indent="0">
              <a:buNone/>
            </a:pPr>
            <a:r>
              <a:rPr lang="fr-CA" sz="8000" dirty="0"/>
              <a:t>Le Cirque a un </a:t>
            </a:r>
            <a:r>
              <a:rPr lang="fr-CA" sz="8000" b="1" dirty="0"/>
              <a:t>contrat</a:t>
            </a:r>
            <a:r>
              <a:rPr lang="fr-CA" sz="8000" dirty="0"/>
              <a:t> avec chaque acheteur de billets car :</a:t>
            </a:r>
            <a:r>
              <a:rPr lang="fr-CA" sz="8000" dirty="0">
                <a:solidFill>
                  <a:srgbClr val="0070C0"/>
                </a:solidFill>
              </a:rPr>
              <a:t> </a:t>
            </a:r>
            <a:r>
              <a:rPr lang="fr-CA" sz="8000" i="1" dirty="0">
                <a:solidFill>
                  <a:srgbClr val="0070C0"/>
                </a:solidFill>
              </a:rPr>
              <a:t>pourrait être plus limité car pas un enjeu</a:t>
            </a:r>
            <a:endParaRPr lang="fr-FR" sz="8000" dirty="0"/>
          </a:p>
          <a:p>
            <a:r>
              <a:rPr lang="fr-CA" sz="8000" dirty="0"/>
              <a:t> nous sommes engagés à présenter les spectacles (les services) au moment prévu sur les billets en acceptant le paiement des clients. (IFRS 15-9a) </a:t>
            </a:r>
            <a:endParaRPr lang="fr-FR" sz="8000" dirty="0"/>
          </a:p>
          <a:p>
            <a:r>
              <a:rPr lang="fr-CA" sz="8000" dirty="0"/>
              <a:t>nous avons reçu une contrepartie monétaire; les clients ont le droit de recevoir une prestation au jour prévu sur leur billet. Selon ce qui est écrit au verso du billet, en cas d’annulation, le client a le droit d’être remboursé selon les modalités que nous indiquerons.(IFRS 15-9b)</a:t>
            </a:r>
            <a:endParaRPr lang="fr-FR" sz="8000" dirty="0"/>
          </a:p>
          <a:p>
            <a:r>
              <a:rPr lang="fr-CA" sz="8000" dirty="0"/>
              <a:t> les conditions de paiement prévues pour les services à fournir sont identifiables : le client a payé à l’avance. (IFRS 15-9c)</a:t>
            </a:r>
            <a:endParaRPr lang="fr-FR" sz="8000" dirty="0"/>
          </a:p>
          <a:p>
            <a:r>
              <a:rPr lang="fr-CA" sz="8000" dirty="0"/>
              <a:t>le contrat a une substance commerciale, il définit le calendrier et le montant des FTF (IFRS 15-9d);</a:t>
            </a:r>
            <a:endParaRPr lang="fr-FR" sz="8000" dirty="0"/>
          </a:p>
          <a:p>
            <a:r>
              <a:rPr lang="fr-CA" sz="8000" dirty="0"/>
              <a:t>il est certain que le Cirque allait recouvrer la contrepartie à laquelle il a droit en échange des biens ou des services car il a encaissé les produits le jour de la promotion. (IFRS 15-9 e)</a:t>
            </a:r>
            <a:endParaRPr lang="fr-FR" sz="8000" dirty="0"/>
          </a:p>
          <a:p>
            <a:pPr marL="0" indent="0">
              <a:buNone/>
            </a:pPr>
            <a:endParaRPr lang="fr-FR" dirty="0"/>
          </a:p>
        </p:txBody>
      </p:sp>
    </p:spTree>
    <p:extLst>
      <p:ext uri="{BB962C8B-B14F-4D97-AF65-F5344CB8AC3E}">
        <p14:creationId xmlns:p14="http://schemas.microsoft.com/office/powerpoint/2010/main" val="1707182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5A28F6-54D1-4879-8549-B436FEB1106D}"/>
              </a:ext>
            </a:extLst>
          </p:cNvPr>
          <p:cNvSpPr>
            <a:spLocks noGrp="1"/>
          </p:cNvSpPr>
          <p:nvPr>
            <p:ph type="title"/>
          </p:nvPr>
        </p:nvSpPr>
        <p:spPr/>
        <p:txBody>
          <a:bodyPr/>
          <a:lstStyle/>
          <a:p>
            <a:r>
              <a:rPr lang="fr-CA" sz="3200" b="1" dirty="0"/>
              <a:t>Annulation des représentations du spectacle </a:t>
            </a:r>
            <a:r>
              <a:rPr lang="fr-CA" sz="3200" b="1" i="1" dirty="0"/>
              <a:t>Versailles ou La reine qui dansait</a:t>
            </a:r>
            <a:r>
              <a:rPr lang="fr-CA" sz="3200" b="1" dirty="0"/>
              <a:t> </a:t>
            </a:r>
            <a:endParaRPr lang="fr-FR" b="1" dirty="0"/>
          </a:p>
        </p:txBody>
      </p:sp>
      <p:sp>
        <p:nvSpPr>
          <p:cNvPr id="3" name="Espace réservé du contenu 2">
            <a:extLst>
              <a:ext uri="{FF2B5EF4-FFF2-40B4-BE49-F238E27FC236}">
                <a16:creationId xmlns:a16="http://schemas.microsoft.com/office/drawing/2014/main" id="{186C729A-33AD-49D8-85B1-852A23B861EE}"/>
              </a:ext>
            </a:extLst>
          </p:cNvPr>
          <p:cNvSpPr>
            <a:spLocks noGrp="1"/>
          </p:cNvSpPr>
          <p:nvPr>
            <p:ph idx="1"/>
          </p:nvPr>
        </p:nvSpPr>
        <p:spPr>
          <a:xfrm>
            <a:off x="838200" y="1690688"/>
            <a:ext cx="10515600" cy="4486275"/>
          </a:xfrm>
        </p:spPr>
        <p:txBody>
          <a:bodyPr>
            <a:normAutofit/>
          </a:bodyPr>
          <a:lstStyle/>
          <a:p>
            <a:pPr marL="0" indent="0">
              <a:buNone/>
            </a:pPr>
            <a:r>
              <a:rPr lang="fr-CA" sz="2000" dirty="0"/>
              <a:t>Au moment de la prévente des billets, nous avons comptabilisé un passif sur contrat (terme IFRS – on utilise habituellement le terme « produits différés »).</a:t>
            </a:r>
            <a:endParaRPr lang="fr-FR" sz="2000" dirty="0"/>
          </a:p>
          <a:p>
            <a:pPr marL="0" indent="0">
              <a:buNone/>
            </a:pPr>
            <a:r>
              <a:rPr lang="fr-CA" sz="2000" dirty="0"/>
              <a:t> </a:t>
            </a:r>
            <a:endParaRPr lang="fr-FR" sz="2000" dirty="0"/>
          </a:p>
          <a:p>
            <a:pPr marL="0" indent="0">
              <a:buNone/>
            </a:pPr>
            <a:r>
              <a:rPr lang="fr-CA" sz="1800" dirty="0"/>
              <a:t>Caisse			800 000 $</a:t>
            </a:r>
            <a:endParaRPr lang="fr-FR" sz="1800" dirty="0"/>
          </a:p>
          <a:p>
            <a:pPr marL="0" indent="0">
              <a:buNone/>
            </a:pPr>
            <a:r>
              <a:rPr lang="fr-CA" sz="1800" dirty="0"/>
              <a:t>@ Produits différés – </a:t>
            </a:r>
            <a:r>
              <a:rPr lang="fr-CA" sz="1800" i="1" dirty="0"/>
              <a:t>Versailles</a:t>
            </a:r>
            <a:r>
              <a:rPr lang="fr-CA" sz="1800" dirty="0"/>
              <a:t>	800 000 $</a:t>
            </a:r>
          </a:p>
          <a:p>
            <a:pPr marL="0" indent="0">
              <a:buNone/>
            </a:pPr>
            <a:endParaRPr lang="fr-CA" sz="1800" dirty="0"/>
          </a:p>
          <a:p>
            <a:pPr marL="0" indent="0">
              <a:buNone/>
            </a:pPr>
            <a:endParaRPr lang="fr-CA" sz="1800" dirty="0"/>
          </a:p>
          <a:p>
            <a:pPr marL="0" indent="0">
              <a:buNone/>
            </a:pPr>
            <a:r>
              <a:rPr lang="fr-CA" sz="1800" dirty="0"/>
              <a:t>Quand l’étape 1 n’est pas un enjeu : </a:t>
            </a:r>
          </a:p>
          <a:p>
            <a:pPr marL="0" indent="0">
              <a:buNone/>
            </a:pPr>
            <a:r>
              <a:rPr lang="fr-CA" sz="1800" i="1" dirty="0"/>
              <a:t>Il y a présence d’un contrat car…</a:t>
            </a:r>
          </a:p>
          <a:p>
            <a:r>
              <a:rPr lang="fr-CA" sz="1800" dirty="0"/>
              <a:t>Justifier à l’aide de l’information de l’énoncé</a:t>
            </a:r>
            <a:endParaRPr lang="fr-FR" dirty="0"/>
          </a:p>
          <a:p>
            <a:pPr marL="0" indent="0">
              <a:buNone/>
            </a:pPr>
            <a:endParaRPr lang="fr-FR" sz="2000" dirty="0"/>
          </a:p>
        </p:txBody>
      </p:sp>
    </p:spTree>
    <p:extLst>
      <p:ext uri="{BB962C8B-B14F-4D97-AF65-F5344CB8AC3E}">
        <p14:creationId xmlns:p14="http://schemas.microsoft.com/office/powerpoint/2010/main" val="2356423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5A28F6-54D1-4879-8549-B436FEB1106D}"/>
              </a:ext>
            </a:extLst>
          </p:cNvPr>
          <p:cNvSpPr>
            <a:spLocks noGrp="1"/>
          </p:cNvSpPr>
          <p:nvPr>
            <p:ph type="title"/>
          </p:nvPr>
        </p:nvSpPr>
        <p:spPr/>
        <p:txBody>
          <a:bodyPr/>
          <a:lstStyle/>
          <a:p>
            <a:r>
              <a:rPr lang="fr-CA" sz="3200" b="1" dirty="0"/>
              <a:t>Annulation des représentations du spectacle </a:t>
            </a:r>
            <a:r>
              <a:rPr lang="fr-CA" sz="3200" b="1" i="1" dirty="0"/>
              <a:t>Versailles ou La reine qui dansait</a:t>
            </a:r>
            <a:r>
              <a:rPr lang="fr-CA" sz="3200" b="1" dirty="0"/>
              <a:t> </a:t>
            </a:r>
            <a:endParaRPr lang="fr-FR" b="1" dirty="0"/>
          </a:p>
        </p:txBody>
      </p:sp>
      <p:sp>
        <p:nvSpPr>
          <p:cNvPr id="3" name="Espace réservé du contenu 2">
            <a:extLst>
              <a:ext uri="{FF2B5EF4-FFF2-40B4-BE49-F238E27FC236}">
                <a16:creationId xmlns:a16="http://schemas.microsoft.com/office/drawing/2014/main" id="{186C729A-33AD-49D8-85B1-852A23B861EE}"/>
              </a:ext>
            </a:extLst>
          </p:cNvPr>
          <p:cNvSpPr>
            <a:spLocks noGrp="1"/>
          </p:cNvSpPr>
          <p:nvPr>
            <p:ph idx="1"/>
          </p:nvPr>
        </p:nvSpPr>
        <p:spPr>
          <a:xfrm>
            <a:off x="838200" y="1690688"/>
            <a:ext cx="10515600" cy="4486275"/>
          </a:xfrm>
        </p:spPr>
        <p:txBody>
          <a:bodyPr>
            <a:normAutofit fontScale="25000" lnSpcReduction="20000"/>
          </a:bodyPr>
          <a:lstStyle/>
          <a:p>
            <a:pPr marL="0" indent="0">
              <a:buNone/>
            </a:pPr>
            <a:r>
              <a:rPr lang="fr-CA" sz="8000" cap="small" dirty="0"/>
              <a:t>Effet de </a:t>
            </a:r>
            <a:r>
              <a:rPr lang="fr-CA" sz="8000" b="1" cap="small" dirty="0"/>
              <a:t>l’échange de billets</a:t>
            </a:r>
            <a:r>
              <a:rPr lang="fr-CA" sz="8000" cap="small" dirty="0"/>
              <a:t> sur le passif sur contrat </a:t>
            </a:r>
            <a:r>
              <a:rPr lang="fr-CA" sz="8000" i="1" dirty="0"/>
              <a:t>(contre billet d’un autre spectacle) : </a:t>
            </a:r>
            <a:endParaRPr lang="fr-FR" sz="8000" i="1" dirty="0"/>
          </a:p>
          <a:p>
            <a:pPr marL="0" indent="0">
              <a:buNone/>
            </a:pPr>
            <a:r>
              <a:rPr lang="fr-CA" sz="8000" dirty="0"/>
              <a:t>Cette annonce modifie notre contrat : La </a:t>
            </a:r>
            <a:r>
              <a:rPr lang="fr-CA" sz="8000" b="1" dirty="0"/>
              <a:t>modification</a:t>
            </a:r>
            <a:r>
              <a:rPr lang="fr-CA" sz="8000" dirty="0"/>
              <a:t> ne sera pas comptabilisée comme un contrat distinct car on n’a pas ajouté de service. On a remplacé un service par un autre. Le Cirque doit comptabiliser la modification du contrat comme s'il s'agissait d'une résiliation du contrat existant et de la création d'un nouveau contrat car les billets qui seront offerts sont distincts de ceux qui avaient été émis avant l’annulation de Versailles.</a:t>
            </a:r>
            <a:endParaRPr lang="fr-FR" sz="8000" dirty="0"/>
          </a:p>
          <a:p>
            <a:pPr marL="0" indent="0">
              <a:buNone/>
            </a:pPr>
            <a:r>
              <a:rPr lang="fr-CA" sz="8000" dirty="0"/>
              <a:t>Selon notre expérience fondée sur les 15 dernières années, 45 % des clients </a:t>
            </a:r>
            <a:r>
              <a:rPr lang="fr-CA" sz="8000" b="1" dirty="0"/>
              <a:t>échangeront leur billet</a:t>
            </a:r>
            <a:r>
              <a:rPr lang="fr-CA" sz="8000" dirty="0"/>
              <a:t> </a:t>
            </a:r>
            <a:r>
              <a:rPr lang="fr-CA" sz="8000" b="1" dirty="0"/>
              <a:t>actuel</a:t>
            </a:r>
            <a:r>
              <a:rPr lang="fr-CA" sz="8000" dirty="0"/>
              <a:t> contre le billet d’un autre spectacle. Nous conservons donc une obligation de prestation. </a:t>
            </a:r>
            <a:endParaRPr lang="fr-FR" sz="8000" dirty="0"/>
          </a:p>
          <a:p>
            <a:pPr marL="0" indent="0">
              <a:buNone/>
            </a:pPr>
            <a:r>
              <a:rPr lang="fr-CA" sz="8000" dirty="0"/>
              <a:t>Les changements seront effectués dans nos registres afin de savoir quel billet de quel spectacle a été remis à quel client. </a:t>
            </a:r>
            <a:r>
              <a:rPr lang="fr-CA" sz="8000" i="1" dirty="0"/>
              <a:t> Demeure dans un compte Produits différés – mais lié au nouveau spectacle</a:t>
            </a:r>
            <a:endParaRPr lang="fr-FR" sz="8000" dirty="0"/>
          </a:p>
          <a:p>
            <a:pPr marL="0" indent="0">
              <a:buNone/>
            </a:pPr>
            <a:r>
              <a:rPr lang="fr-CA" sz="8000" dirty="0"/>
              <a:t>Il faut s’assurer que le classement court terme - long terme du passif sur contrat (produits différés) est revu et corrigé, le cas échéant.</a:t>
            </a:r>
            <a:endParaRPr lang="fr-FR" sz="8000" dirty="0"/>
          </a:p>
          <a:p>
            <a:pPr marL="0" indent="0">
              <a:buNone/>
            </a:pPr>
            <a:endParaRPr lang="fr-FR" sz="2000" dirty="0"/>
          </a:p>
        </p:txBody>
      </p:sp>
    </p:spTree>
    <p:extLst>
      <p:ext uri="{BB962C8B-B14F-4D97-AF65-F5344CB8AC3E}">
        <p14:creationId xmlns:p14="http://schemas.microsoft.com/office/powerpoint/2010/main" val="2356429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5A28F6-54D1-4879-8549-B436FEB1106D}"/>
              </a:ext>
            </a:extLst>
          </p:cNvPr>
          <p:cNvSpPr>
            <a:spLocks noGrp="1"/>
          </p:cNvSpPr>
          <p:nvPr>
            <p:ph type="title"/>
          </p:nvPr>
        </p:nvSpPr>
        <p:spPr/>
        <p:txBody>
          <a:bodyPr/>
          <a:lstStyle/>
          <a:p>
            <a:r>
              <a:rPr lang="fr-CA" sz="3200" b="1" dirty="0"/>
              <a:t>Annulation des représentations du spectacle </a:t>
            </a:r>
            <a:r>
              <a:rPr lang="fr-CA" sz="3200" b="1" i="1" dirty="0"/>
              <a:t>Versailles ou La reine qui dansait</a:t>
            </a:r>
            <a:r>
              <a:rPr lang="fr-CA" sz="3200" b="1" dirty="0"/>
              <a:t> </a:t>
            </a:r>
            <a:endParaRPr lang="fr-FR" b="1" dirty="0"/>
          </a:p>
        </p:txBody>
      </p:sp>
      <p:sp>
        <p:nvSpPr>
          <p:cNvPr id="3" name="Espace réservé du contenu 2">
            <a:extLst>
              <a:ext uri="{FF2B5EF4-FFF2-40B4-BE49-F238E27FC236}">
                <a16:creationId xmlns:a16="http://schemas.microsoft.com/office/drawing/2014/main" id="{186C729A-33AD-49D8-85B1-852A23B861EE}"/>
              </a:ext>
            </a:extLst>
          </p:cNvPr>
          <p:cNvSpPr>
            <a:spLocks noGrp="1"/>
          </p:cNvSpPr>
          <p:nvPr>
            <p:ph idx="1"/>
          </p:nvPr>
        </p:nvSpPr>
        <p:spPr>
          <a:xfrm>
            <a:off x="838200" y="1690688"/>
            <a:ext cx="10515600" cy="4486275"/>
          </a:xfrm>
        </p:spPr>
        <p:txBody>
          <a:bodyPr>
            <a:normAutofit/>
          </a:bodyPr>
          <a:lstStyle/>
          <a:p>
            <a:pPr marL="0" indent="0">
              <a:buNone/>
            </a:pPr>
            <a:r>
              <a:rPr lang="fr-CA" sz="2000" cap="small" dirty="0"/>
              <a:t>Effet de </a:t>
            </a:r>
            <a:r>
              <a:rPr lang="fr-CA" sz="2000" b="1" cap="small" dirty="0"/>
              <a:t>l’échange de billets</a:t>
            </a:r>
            <a:r>
              <a:rPr lang="fr-CA" sz="2000" cap="small" dirty="0"/>
              <a:t> sur le passif sur contrat </a:t>
            </a:r>
            <a:r>
              <a:rPr lang="fr-CA" sz="2000" i="1" dirty="0"/>
              <a:t>(contre billet d’un autre spectacle) : </a:t>
            </a:r>
            <a:r>
              <a:rPr lang="fr-CA" sz="2000" dirty="0"/>
              <a:t>suite</a:t>
            </a:r>
            <a:endParaRPr lang="fr-FR" sz="2000" i="1" dirty="0"/>
          </a:p>
          <a:p>
            <a:pPr marL="0" indent="0">
              <a:buNone/>
            </a:pPr>
            <a:endParaRPr lang="fr-CA" sz="2000" cap="small" dirty="0"/>
          </a:p>
          <a:p>
            <a:pPr marL="0" indent="0">
              <a:buNone/>
            </a:pPr>
            <a:r>
              <a:rPr lang="fr-CA" sz="2000" cap="small" dirty="0"/>
              <a:t>Conclusion</a:t>
            </a:r>
            <a:endParaRPr lang="fr-FR" sz="2000" dirty="0"/>
          </a:p>
          <a:p>
            <a:pPr marL="0" indent="0">
              <a:buNone/>
            </a:pPr>
            <a:r>
              <a:rPr lang="fr-CA" sz="2000" dirty="0"/>
              <a:t>Cet échange n’a pas d’effet sur le montant du </a:t>
            </a:r>
            <a:r>
              <a:rPr lang="fr-CA" sz="2000" b="1" dirty="0"/>
              <a:t>passif sur contrat </a:t>
            </a:r>
            <a:r>
              <a:rPr lang="fr-CA" sz="2000" dirty="0"/>
              <a:t>pour 45 % des billets qui ont été vendus. </a:t>
            </a:r>
            <a:endParaRPr lang="fr-FR" sz="2000" dirty="0"/>
          </a:p>
          <a:p>
            <a:pPr marL="0" indent="0">
              <a:buNone/>
            </a:pPr>
            <a:endParaRPr lang="fr-CA" sz="2000" dirty="0"/>
          </a:p>
          <a:p>
            <a:pPr marL="0" indent="0">
              <a:buNone/>
            </a:pPr>
            <a:r>
              <a:rPr lang="fr-CA" sz="2000" dirty="0"/>
              <a:t>Produits différés – </a:t>
            </a:r>
            <a:r>
              <a:rPr lang="fr-CA" sz="2000" i="1" dirty="0"/>
              <a:t>Versailles</a:t>
            </a:r>
            <a:r>
              <a:rPr lang="fr-CA" sz="2000" dirty="0"/>
              <a:t>	360 000</a:t>
            </a:r>
            <a:endParaRPr lang="fr-FR" sz="2000" dirty="0"/>
          </a:p>
          <a:p>
            <a:pPr marL="0" indent="0">
              <a:buNone/>
            </a:pPr>
            <a:r>
              <a:rPr lang="fr-CA" sz="2000" dirty="0"/>
              <a:t>@ Produits différés – autre spectacle	360 000</a:t>
            </a:r>
          </a:p>
          <a:p>
            <a:pPr marL="0" indent="0">
              <a:buNone/>
            </a:pPr>
            <a:r>
              <a:rPr lang="en-US" sz="1600" dirty="0"/>
              <a:t>10 000 billets X 80 $ X 45 % = 360 000 $</a:t>
            </a:r>
            <a:endParaRPr lang="fr-FR" sz="1600" dirty="0"/>
          </a:p>
          <a:p>
            <a:pPr marL="0" indent="0">
              <a:buNone/>
            </a:pPr>
            <a:endParaRPr lang="fr-FR" sz="2000" dirty="0"/>
          </a:p>
          <a:p>
            <a:pPr marL="0" indent="0">
              <a:buNone/>
            </a:pPr>
            <a:endParaRPr lang="fr-FR" sz="2000" dirty="0"/>
          </a:p>
        </p:txBody>
      </p:sp>
    </p:spTree>
    <p:extLst>
      <p:ext uri="{BB962C8B-B14F-4D97-AF65-F5344CB8AC3E}">
        <p14:creationId xmlns:p14="http://schemas.microsoft.com/office/powerpoint/2010/main" val="24329757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19E630-501C-4184-A0C5-813C8C971518}"/>
              </a:ext>
            </a:extLst>
          </p:cNvPr>
          <p:cNvSpPr>
            <a:spLocks noGrp="1"/>
          </p:cNvSpPr>
          <p:nvPr>
            <p:ph type="title"/>
          </p:nvPr>
        </p:nvSpPr>
        <p:spPr/>
        <p:txBody>
          <a:bodyPr/>
          <a:lstStyle/>
          <a:p>
            <a:r>
              <a:rPr lang="fr-CA" sz="3200" b="1" dirty="0"/>
              <a:t>Annulation des représentations du spectacle </a:t>
            </a:r>
            <a:r>
              <a:rPr lang="fr-CA" sz="3200" b="1" i="1" dirty="0"/>
              <a:t>Versailles ou La reine qui dansait</a:t>
            </a:r>
            <a:r>
              <a:rPr lang="fr-CA" sz="3200" b="1" dirty="0"/>
              <a:t> </a:t>
            </a:r>
            <a:endParaRPr lang="fr-FR" dirty="0"/>
          </a:p>
        </p:txBody>
      </p:sp>
      <p:sp>
        <p:nvSpPr>
          <p:cNvPr id="3" name="Espace réservé du contenu 2">
            <a:extLst>
              <a:ext uri="{FF2B5EF4-FFF2-40B4-BE49-F238E27FC236}">
                <a16:creationId xmlns:a16="http://schemas.microsoft.com/office/drawing/2014/main" id="{83FD525E-8193-48AB-A2E0-72CF8D69D1A6}"/>
              </a:ext>
            </a:extLst>
          </p:cNvPr>
          <p:cNvSpPr>
            <a:spLocks noGrp="1"/>
          </p:cNvSpPr>
          <p:nvPr>
            <p:ph idx="1"/>
          </p:nvPr>
        </p:nvSpPr>
        <p:spPr/>
        <p:txBody>
          <a:bodyPr>
            <a:normAutofit fontScale="92500" lnSpcReduction="10000"/>
          </a:bodyPr>
          <a:lstStyle/>
          <a:p>
            <a:pPr marL="0" indent="0">
              <a:buNone/>
            </a:pPr>
            <a:r>
              <a:rPr lang="fr-CA" sz="2200" cap="small" dirty="0"/>
              <a:t>Effet du </a:t>
            </a:r>
            <a:r>
              <a:rPr lang="fr-CA" sz="2200" b="1" cap="small" dirty="0"/>
              <a:t>remboursement des billets</a:t>
            </a:r>
            <a:r>
              <a:rPr lang="fr-CA" sz="2200" cap="small" dirty="0"/>
              <a:t> sur le passif sur contrat :</a:t>
            </a:r>
            <a:endParaRPr lang="fr-FR" sz="2200" dirty="0"/>
          </a:p>
          <a:p>
            <a:pPr marL="0" indent="0">
              <a:buNone/>
            </a:pPr>
            <a:r>
              <a:rPr lang="fr-CA" sz="2200" dirty="0"/>
              <a:t>Selon notre expérience, 50 % des clients </a:t>
            </a:r>
            <a:r>
              <a:rPr lang="fr-CA" sz="2200" b="1" dirty="0"/>
              <a:t>accepteront un remboursement</a:t>
            </a:r>
            <a:r>
              <a:rPr lang="fr-CA" sz="2200" dirty="0"/>
              <a:t> à la suite de l’annulation du spectacle Versailles.</a:t>
            </a:r>
          </a:p>
          <a:p>
            <a:pPr marL="0" indent="0">
              <a:buNone/>
            </a:pPr>
            <a:r>
              <a:rPr lang="fr-FR" sz="2200" i="1" dirty="0"/>
              <a:t>Possible de faire une analyse « Passif »</a:t>
            </a:r>
          </a:p>
          <a:p>
            <a:pPr marL="0" indent="0">
              <a:buNone/>
            </a:pPr>
            <a:r>
              <a:rPr lang="fr-CA" sz="2200" dirty="0"/>
              <a:t> </a:t>
            </a:r>
            <a:endParaRPr lang="fr-FR" sz="2200" dirty="0"/>
          </a:p>
          <a:p>
            <a:pPr marL="0" indent="0">
              <a:buNone/>
            </a:pPr>
            <a:r>
              <a:rPr lang="fr-CA" sz="2200" cap="small" dirty="0"/>
              <a:t>Conclusion</a:t>
            </a:r>
            <a:endParaRPr lang="fr-FR" sz="2200" dirty="0"/>
          </a:p>
          <a:p>
            <a:pPr marL="0" indent="0">
              <a:buNone/>
            </a:pPr>
            <a:r>
              <a:rPr lang="fr-CA" sz="2200" dirty="0"/>
              <a:t>Le passif sur contrat sera remplacé par des comptes à payer et un décaissement. L’écriture qui suit sera enregistrée :</a:t>
            </a:r>
            <a:endParaRPr lang="fr-FR" sz="2200" dirty="0"/>
          </a:p>
          <a:p>
            <a:pPr marL="0" indent="0">
              <a:buNone/>
            </a:pPr>
            <a:r>
              <a:rPr lang="fr-CA" sz="2200" dirty="0"/>
              <a:t> </a:t>
            </a:r>
            <a:endParaRPr lang="fr-FR" sz="2200" dirty="0"/>
          </a:p>
          <a:p>
            <a:pPr marL="0" indent="0">
              <a:buNone/>
            </a:pPr>
            <a:r>
              <a:rPr lang="fr-CA" sz="2200" dirty="0"/>
              <a:t>Produits différés – </a:t>
            </a:r>
            <a:r>
              <a:rPr lang="fr-CA" sz="2200" i="1" dirty="0"/>
              <a:t>Versailles</a:t>
            </a:r>
            <a:r>
              <a:rPr lang="fr-CA" sz="2200" dirty="0"/>
              <a:t>	400 000</a:t>
            </a:r>
            <a:endParaRPr lang="fr-FR" sz="2200" dirty="0"/>
          </a:p>
          <a:p>
            <a:pPr marL="0" indent="0">
              <a:buNone/>
            </a:pPr>
            <a:r>
              <a:rPr lang="fr-CA" sz="2200" dirty="0"/>
              <a:t>@ Comptes à payer			400 000</a:t>
            </a:r>
            <a:endParaRPr lang="fr-FR" dirty="0"/>
          </a:p>
          <a:p>
            <a:pPr marL="0" indent="0">
              <a:buNone/>
            </a:pPr>
            <a:r>
              <a:rPr lang="en-US" sz="1700" dirty="0"/>
              <a:t>10 000 billets X 80 $ X 50 % = 400 000 $</a:t>
            </a:r>
            <a:endParaRPr lang="fr-FR" sz="2600" dirty="0"/>
          </a:p>
          <a:p>
            <a:pPr marL="0" indent="0">
              <a:buNone/>
            </a:pPr>
            <a:endParaRPr lang="fr-FR" dirty="0"/>
          </a:p>
        </p:txBody>
      </p:sp>
    </p:spTree>
    <p:extLst>
      <p:ext uri="{BB962C8B-B14F-4D97-AF65-F5344CB8AC3E}">
        <p14:creationId xmlns:p14="http://schemas.microsoft.com/office/powerpoint/2010/main" val="1498695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19E630-501C-4184-A0C5-813C8C971518}"/>
              </a:ext>
            </a:extLst>
          </p:cNvPr>
          <p:cNvSpPr>
            <a:spLocks noGrp="1"/>
          </p:cNvSpPr>
          <p:nvPr>
            <p:ph type="title"/>
          </p:nvPr>
        </p:nvSpPr>
        <p:spPr/>
        <p:txBody>
          <a:bodyPr/>
          <a:lstStyle/>
          <a:p>
            <a:r>
              <a:rPr lang="fr-CA" sz="3200" b="1" dirty="0"/>
              <a:t>Annulation des représentations du spectacle </a:t>
            </a:r>
            <a:r>
              <a:rPr lang="fr-CA" sz="3200" b="1" i="1" dirty="0"/>
              <a:t>Versailles ou La reine qui dansait</a:t>
            </a:r>
            <a:r>
              <a:rPr lang="fr-CA" sz="3200" b="1" dirty="0"/>
              <a:t> </a:t>
            </a:r>
            <a:endParaRPr lang="fr-FR" dirty="0"/>
          </a:p>
        </p:txBody>
      </p:sp>
      <p:sp>
        <p:nvSpPr>
          <p:cNvPr id="3" name="Espace réservé du contenu 2">
            <a:extLst>
              <a:ext uri="{FF2B5EF4-FFF2-40B4-BE49-F238E27FC236}">
                <a16:creationId xmlns:a16="http://schemas.microsoft.com/office/drawing/2014/main" id="{83FD525E-8193-48AB-A2E0-72CF8D69D1A6}"/>
              </a:ext>
            </a:extLst>
          </p:cNvPr>
          <p:cNvSpPr>
            <a:spLocks noGrp="1"/>
          </p:cNvSpPr>
          <p:nvPr>
            <p:ph idx="1"/>
          </p:nvPr>
        </p:nvSpPr>
        <p:spPr/>
        <p:txBody>
          <a:bodyPr>
            <a:normAutofit fontScale="25000" lnSpcReduction="20000"/>
          </a:bodyPr>
          <a:lstStyle/>
          <a:p>
            <a:pPr marL="0" indent="0">
              <a:buNone/>
            </a:pPr>
            <a:r>
              <a:rPr lang="fr-CA" sz="8000" cap="small" dirty="0"/>
              <a:t>Effet de la </a:t>
            </a:r>
            <a:r>
              <a:rPr lang="fr-CA" sz="8000" b="1" cap="small" dirty="0"/>
              <a:t>non-réclamation</a:t>
            </a:r>
            <a:r>
              <a:rPr lang="fr-CA" sz="8000" cap="small" dirty="0"/>
              <a:t> de 5</a:t>
            </a:r>
            <a:r>
              <a:rPr lang="fr-CA" sz="8000" dirty="0"/>
              <a:t> % des</a:t>
            </a:r>
            <a:r>
              <a:rPr lang="fr-CA" sz="8000" cap="small" dirty="0"/>
              <a:t> billets sur le passif sur contrat :</a:t>
            </a:r>
            <a:endParaRPr lang="fr-FR" sz="8000" dirty="0"/>
          </a:p>
          <a:p>
            <a:pPr marL="0" indent="0">
              <a:buNone/>
            </a:pPr>
            <a:r>
              <a:rPr lang="fr-CA" sz="8000" dirty="0"/>
              <a:t>Les billets qui ne seront jamais réclamés sont des </a:t>
            </a:r>
            <a:r>
              <a:rPr lang="fr-CA" sz="8000" b="1" dirty="0"/>
              <a:t>droits abandonnés</a:t>
            </a:r>
            <a:r>
              <a:rPr lang="fr-CA" sz="8000" dirty="0"/>
              <a:t> car les clients ne les exerceront jamais. Le passif sur contrat qui correspond à ces droits doit-il être conservé dans le bilan et si oui, pendant combien de temps? Ou doit-il être </a:t>
            </a:r>
            <a:r>
              <a:rPr lang="fr-CA" sz="8000" dirty="0" err="1"/>
              <a:t>décomptabilisé</a:t>
            </a:r>
            <a:r>
              <a:rPr lang="fr-CA" sz="8000" dirty="0"/>
              <a:t>?</a:t>
            </a:r>
            <a:endParaRPr lang="fr-FR" sz="8000" dirty="0"/>
          </a:p>
          <a:p>
            <a:pPr marL="0" indent="0">
              <a:buNone/>
            </a:pPr>
            <a:r>
              <a:rPr lang="fr-CA" sz="8000" dirty="0"/>
              <a:t> </a:t>
            </a:r>
            <a:endParaRPr lang="fr-FR" sz="8000" dirty="0"/>
          </a:p>
          <a:p>
            <a:pPr marL="0" indent="0">
              <a:buNone/>
            </a:pPr>
            <a:r>
              <a:rPr lang="fr-CA" sz="8000" cap="small" dirty="0"/>
              <a:t>Analyse</a:t>
            </a:r>
            <a:endParaRPr lang="fr-FR" sz="8000" dirty="0"/>
          </a:p>
          <a:p>
            <a:pPr marL="0" indent="0">
              <a:buNone/>
            </a:pPr>
            <a:r>
              <a:rPr lang="fr-CA" sz="8000" dirty="0"/>
              <a:t>Ces </a:t>
            </a:r>
            <a:r>
              <a:rPr lang="fr-CA" sz="8000" b="1" dirty="0"/>
              <a:t>droits abandonnés</a:t>
            </a:r>
            <a:r>
              <a:rPr lang="fr-CA" sz="8000" dirty="0"/>
              <a:t> constituent une </a:t>
            </a:r>
            <a:r>
              <a:rPr lang="fr-CA" sz="8000" b="1" dirty="0"/>
              <a:t>contrepartie variable</a:t>
            </a:r>
            <a:r>
              <a:rPr lang="fr-CA" sz="8000" dirty="0"/>
              <a:t> parce que le droit du Cirque à la contrepartie dépend de la réalisation ou de la non-réalisation d'un événement futur.</a:t>
            </a:r>
            <a:endParaRPr lang="fr-FR" sz="8000" dirty="0"/>
          </a:p>
          <a:p>
            <a:pPr marL="0" indent="0">
              <a:buNone/>
            </a:pPr>
            <a:r>
              <a:rPr lang="fr-CA" sz="8000" dirty="0"/>
              <a:t>Nous avons une solide expérience passée qui nous permet d’établir que 5 % des clients n’exerceront pas leurs droits contractuels et ne réclameront rien. </a:t>
            </a:r>
            <a:endParaRPr lang="fr-FR" sz="8000" dirty="0"/>
          </a:p>
          <a:p>
            <a:pPr marL="0" indent="0">
              <a:buNone/>
            </a:pPr>
            <a:r>
              <a:rPr lang="fr-CA" sz="8000" dirty="0"/>
              <a:t>Pour les mesurer, le Cirque peut appliquer la méthode du </a:t>
            </a:r>
            <a:r>
              <a:rPr lang="fr-CA" sz="8000" b="1" dirty="0"/>
              <a:t>montant le plus probable</a:t>
            </a:r>
            <a:r>
              <a:rPr lang="fr-CA" sz="8000" dirty="0"/>
              <a:t> car selon l’expérience passée du Cirque, ces clients ne réclameront rien. </a:t>
            </a:r>
            <a:endParaRPr lang="fr-FR" sz="8000" dirty="0"/>
          </a:p>
          <a:p>
            <a:pPr marL="0" indent="0">
              <a:buNone/>
            </a:pPr>
            <a:r>
              <a:rPr lang="fr-CA" sz="8000" dirty="0"/>
              <a:t>La méthode de la </a:t>
            </a:r>
            <a:r>
              <a:rPr lang="fr-CA" sz="8000" b="1" dirty="0"/>
              <a:t>valeur attendue</a:t>
            </a:r>
            <a:r>
              <a:rPr lang="fr-CA" sz="8000" dirty="0"/>
              <a:t> me conduirait à retenir le même montant, compte tenu du comportement attendu de ces clients. </a:t>
            </a:r>
            <a:endParaRPr lang="fr-FR" sz="8000" dirty="0"/>
          </a:p>
        </p:txBody>
      </p:sp>
    </p:spTree>
    <p:extLst>
      <p:ext uri="{BB962C8B-B14F-4D97-AF65-F5344CB8AC3E}">
        <p14:creationId xmlns:p14="http://schemas.microsoft.com/office/powerpoint/2010/main" val="1374303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19E630-501C-4184-A0C5-813C8C971518}"/>
              </a:ext>
            </a:extLst>
          </p:cNvPr>
          <p:cNvSpPr>
            <a:spLocks noGrp="1"/>
          </p:cNvSpPr>
          <p:nvPr>
            <p:ph type="title"/>
          </p:nvPr>
        </p:nvSpPr>
        <p:spPr/>
        <p:txBody>
          <a:bodyPr/>
          <a:lstStyle/>
          <a:p>
            <a:r>
              <a:rPr lang="fr-CA" sz="3200" b="1" dirty="0"/>
              <a:t>Annulation des représentations du spectacle </a:t>
            </a:r>
            <a:r>
              <a:rPr lang="fr-CA" sz="3200" b="1" i="1" dirty="0"/>
              <a:t>Versailles ou La reine qui dansait</a:t>
            </a:r>
            <a:r>
              <a:rPr lang="fr-CA" sz="3200" b="1" dirty="0"/>
              <a:t> </a:t>
            </a:r>
            <a:endParaRPr lang="fr-FR" dirty="0"/>
          </a:p>
        </p:txBody>
      </p:sp>
      <p:sp>
        <p:nvSpPr>
          <p:cNvPr id="3" name="Espace réservé du contenu 2">
            <a:extLst>
              <a:ext uri="{FF2B5EF4-FFF2-40B4-BE49-F238E27FC236}">
                <a16:creationId xmlns:a16="http://schemas.microsoft.com/office/drawing/2014/main" id="{83FD525E-8193-48AB-A2E0-72CF8D69D1A6}"/>
              </a:ext>
            </a:extLst>
          </p:cNvPr>
          <p:cNvSpPr>
            <a:spLocks noGrp="1"/>
          </p:cNvSpPr>
          <p:nvPr>
            <p:ph idx="1"/>
          </p:nvPr>
        </p:nvSpPr>
        <p:spPr/>
        <p:txBody>
          <a:bodyPr>
            <a:normAutofit fontScale="25000" lnSpcReduction="20000"/>
          </a:bodyPr>
          <a:lstStyle/>
          <a:p>
            <a:pPr marL="0" indent="0">
              <a:buNone/>
            </a:pPr>
            <a:r>
              <a:rPr lang="fr-CA" sz="8000" cap="small" dirty="0"/>
              <a:t>Effet de la </a:t>
            </a:r>
            <a:r>
              <a:rPr lang="fr-CA" sz="8000" b="1" cap="small" dirty="0"/>
              <a:t>non-réclamation</a:t>
            </a:r>
            <a:r>
              <a:rPr lang="fr-CA" sz="8000" cap="small" dirty="0"/>
              <a:t> de 5</a:t>
            </a:r>
            <a:r>
              <a:rPr lang="fr-CA" sz="8000" dirty="0"/>
              <a:t> % des</a:t>
            </a:r>
            <a:r>
              <a:rPr lang="fr-CA" sz="8000" cap="small" dirty="0"/>
              <a:t> billets sur le passif sur contrat : </a:t>
            </a:r>
            <a:r>
              <a:rPr lang="fr-CA" sz="8000" i="1" cap="small" dirty="0"/>
              <a:t>suite</a:t>
            </a:r>
            <a:endParaRPr lang="fr-FR" sz="8000" dirty="0"/>
          </a:p>
          <a:p>
            <a:pPr marL="0" indent="0">
              <a:buNone/>
            </a:pPr>
            <a:endParaRPr lang="fr-FR" sz="4000" dirty="0"/>
          </a:p>
          <a:p>
            <a:pPr marL="0" indent="0">
              <a:buNone/>
            </a:pPr>
            <a:r>
              <a:rPr lang="fr-CA" sz="8000" dirty="0"/>
              <a:t>Avant de virer la totalité de ces droits abandonnés dans les produits de l’exercice, j’ai tenu compte des dispositions sur la </a:t>
            </a:r>
            <a:r>
              <a:rPr lang="fr-CA" sz="8000" b="1" dirty="0"/>
              <a:t>limitation des estimations de contrepartie variable</a:t>
            </a:r>
            <a:r>
              <a:rPr lang="fr-CA" sz="8000" dirty="0"/>
              <a:t>.</a:t>
            </a:r>
            <a:endParaRPr lang="fr-FR" sz="8000" dirty="0"/>
          </a:p>
          <a:p>
            <a:pPr marL="0" indent="0">
              <a:buNone/>
            </a:pPr>
            <a:r>
              <a:rPr lang="fr-CA" sz="8000" dirty="0"/>
              <a:t>La valeur prédictive de notre expérience passée en matière d’annulation de spectacles et de remboursement est fiable car elle se fonde sur 15 ans d’activité. De plus, dans le cas de ces clients qui ne réclameront rien, d’après notre expérience passée, il est hautement probable que le dénouement ultérieur de l'incertitude relative à la contrepartie variable ne donnera pas lieu à un ajustement à la baisse </a:t>
            </a:r>
            <a:r>
              <a:rPr lang="fr-CA" sz="8000" b="1" dirty="0"/>
              <a:t>important</a:t>
            </a:r>
            <a:r>
              <a:rPr lang="fr-CA" sz="8000" dirty="0"/>
              <a:t> du montant cumulatif des produits des activités ordinaires comptabilisé.</a:t>
            </a:r>
            <a:endParaRPr lang="fr-FR" dirty="0"/>
          </a:p>
          <a:p>
            <a:pPr marL="0" indent="0">
              <a:buNone/>
            </a:pPr>
            <a:r>
              <a:rPr lang="fr-CA" dirty="0"/>
              <a:t> </a:t>
            </a:r>
            <a:endParaRPr lang="fr-FR" sz="8000" dirty="0"/>
          </a:p>
          <a:p>
            <a:pPr marL="0" indent="0">
              <a:buNone/>
            </a:pPr>
            <a:r>
              <a:rPr lang="fr-CA" sz="8000" cap="small" dirty="0"/>
              <a:t>Conclusion</a:t>
            </a:r>
            <a:endParaRPr lang="fr-FR" sz="8000" dirty="0"/>
          </a:p>
          <a:p>
            <a:pPr marL="0" indent="0">
              <a:buNone/>
            </a:pPr>
            <a:r>
              <a:rPr lang="fr-CA" sz="8000" dirty="0"/>
              <a:t>Le passif sur contrat qui correspond aux </a:t>
            </a:r>
            <a:r>
              <a:rPr lang="fr-CA" sz="8000" b="1" dirty="0"/>
              <a:t>droits abandonnés</a:t>
            </a:r>
            <a:r>
              <a:rPr lang="fr-CA" sz="8000" dirty="0"/>
              <a:t> totaux sera viré dans les produits de l’exercice courant.</a:t>
            </a:r>
            <a:endParaRPr lang="fr-FR" sz="8000" dirty="0"/>
          </a:p>
          <a:p>
            <a:pPr marL="0" indent="0">
              <a:buNone/>
            </a:pPr>
            <a:endParaRPr lang="fr-CA" sz="3600" dirty="0"/>
          </a:p>
          <a:p>
            <a:pPr marL="0" indent="0">
              <a:lnSpc>
                <a:spcPct val="120000"/>
              </a:lnSpc>
              <a:spcBef>
                <a:spcPts val="0"/>
              </a:spcBef>
              <a:buNone/>
            </a:pPr>
            <a:r>
              <a:rPr lang="en-CA" sz="8000" dirty="0" err="1"/>
              <a:t>Produits</a:t>
            </a:r>
            <a:r>
              <a:rPr lang="en-CA" sz="8000" dirty="0"/>
              <a:t> </a:t>
            </a:r>
            <a:r>
              <a:rPr lang="en-CA" sz="8000" dirty="0" err="1"/>
              <a:t>différés</a:t>
            </a:r>
            <a:r>
              <a:rPr lang="en-CA" sz="8000" dirty="0"/>
              <a:t> </a:t>
            </a:r>
            <a:r>
              <a:rPr lang="fr-CA" sz="8000" dirty="0"/>
              <a:t>– </a:t>
            </a:r>
            <a:r>
              <a:rPr lang="fr-CA" sz="8000" i="1" dirty="0"/>
              <a:t>Versailles</a:t>
            </a:r>
            <a:r>
              <a:rPr lang="fr-CA" sz="8000" dirty="0"/>
              <a:t>	40 000</a:t>
            </a:r>
            <a:endParaRPr lang="fr-FR" sz="8000" dirty="0"/>
          </a:p>
          <a:p>
            <a:pPr marL="0" indent="0">
              <a:lnSpc>
                <a:spcPct val="120000"/>
              </a:lnSpc>
              <a:spcBef>
                <a:spcPts val="0"/>
              </a:spcBef>
              <a:buNone/>
            </a:pPr>
            <a:r>
              <a:rPr lang="fr-CA" sz="8000" dirty="0"/>
              <a:t>@ Produits de l’exercice			40 000</a:t>
            </a:r>
            <a:endParaRPr lang="fr-FR" sz="8000" dirty="0"/>
          </a:p>
          <a:p>
            <a:pPr marL="0" indent="0">
              <a:lnSpc>
                <a:spcPct val="120000"/>
              </a:lnSpc>
              <a:spcBef>
                <a:spcPts val="0"/>
              </a:spcBef>
              <a:buNone/>
            </a:pPr>
            <a:r>
              <a:rPr lang="fr-CA" sz="6400" dirty="0"/>
              <a:t>10 000 billets X 5 % X 80 $</a:t>
            </a:r>
            <a:endParaRPr lang="fr-FR" sz="6400" dirty="0"/>
          </a:p>
          <a:p>
            <a:pPr marL="0" indent="0">
              <a:buNone/>
            </a:pPr>
            <a:endParaRPr lang="fr-FR" dirty="0"/>
          </a:p>
        </p:txBody>
      </p:sp>
    </p:spTree>
    <p:extLst>
      <p:ext uri="{BB962C8B-B14F-4D97-AF65-F5344CB8AC3E}">
        <p14:creationId xmlns:p14="http://schemas.microsoft.com/office/powerpoint/2010/main" val="2730854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CCB8CC-7E17-4264-953B-F85DA9DFF679}"/>
              </a:ext>
            </a:extLst>
          </p:cNvPr>
          <p:cNvSpPr>
            <a:spLocks noGrp="1"/>
          </p:cNvSpPr>
          <p:nvPr>
            <p:ph type="title"/>
          </p:nvPr>
        </p:nvSpPr>
        <p:spPr/>
        <p:txBody>
          <a:bodyPr/>
          <a:lstStyle/>
          <a:p>
            <a:r>
              <a:rPr lang="fr-CA" b="1" dirty="0">
                <a:solidFill>
                  <a:srgbClr val="FF0000"/>
                </a:solidFill>
              </a:rPr>
              <a:t>2. Vente de droits</a:t>
            </a:r>
            <a:endParaRPr lang="fr-FR" b="1" dirty="0">
              <a:solidFill>
                <a:srgbClr val="FF0000"/>
              </a:solidFill>
            </a:endParaRPr>
          </a:p>
        </p:txBody>
      </p:sp>
      <p:sp>
        <p:nvSpPr>
          <p:cNvPr id="3" name="Espace réservé du contenu 2">
            <a:extLst>
              <a:ext uri="{FF2B5EF4-FFF2-40B4-BE49-F238E27FC236}">
                <a16:creationId xmlns:a16="http://schemas.microsoft.com/office/drawing/2014/main" id="{AD931758-AB16-4107-8AB0-2EC868726B5C}"/>
              </a:ext>
            </a:extLst>
          </p:cNvPr>
          <p:cNvSpPr>
            <a:spLocks noGrp="1"/>
          </p:cNvSpPr>
          <p:nvPr>
            <p:ph idx="1"/>
          </p:nvPr>
        </p:nvSpPr>
        <p:spPr/>
        <p:txBody>
          <a:bodyPr>
            <a:normAutofit fontScale="25000" lnSpcReduction="20000"/>
          </a:bodyPr>
          <a:lstStyle/>
          <a:p>
            <a:pPr marL="0" indent="0">
              <a:buNone/>
            </a:pPr>
            <a:r>
              <a:rPr lang="fr-CA" sz="8000" b="1" cap="small" dirty="0"/>
              <a:t>Vente de droits à Radio-Canada</a:t>
            </a:r>
            <a:endParaRPr lang="fr-FR" sz="8000" b="1" dirty="0"/>
          </a:p>
          <a:p>
            <a:pPr marL="0" indent="0">
              <a:buNone/>
            </a:pPr>
            <a:r>
              <a:rPr lang="fr-CA" sz="8000" dirty="0"/>
              <a:t>Le contrat a été ratifié le 2 avril 2025. La livraison du documentaire aura lieu autour du 20 mai 2025. </a:t>
            </a:r>
            <a:endParaRPr lang="fr-FR" sz="8000" dirty="0"/>
          </a:p>
          <a:p>
            <a:pPr marL="0" lvl="0" indent="0">
              <a:buNone/>
            </a:pPr>
            <a:r>
              <a:rPr lang="fr-CA" sz="8000" dirty="0"/>
              <a:t>À compter du 1</a:t>
            </a:r>
            <a:r>
              <a:rPr lang="fr-CA" sz="8000" baseline="30000" dirty="0"/>
              <a:t>er</a:t>
            </a:r>
            <a:r>
              <a:rPr lang="fr-CA" sz="8000" dirty="0"/>
              <a:t> juin 2025, Radio-Canada bénéficiera d’un </a:t>
            </a:r>
            <a:r>
              <a:rPr lang="fr-CA" sz="8000" b="1" dirty="0"/>
              <a:t>droit illimité de diffuser</a:t>
            </a:r>
            <a:r>
              <a:rPr lang="fr-CA" sz="8000" dirty="0"/>
              <a:t> le documentaire au cours des trois prochaines années. </a:t>
            </a:r>
            <a:endParaRPr lang="fr-FR" sz="8000" dirty="0"/>
          </a:p>
          <a:p>
            <a:pPr marL="0" lvl="0" indent="0">
              <a:buNone/>
            </a:pPr>
            <a:r>
              <a:rPr lang="fr-CA" sz="8000" dirty="0"/>
              <a:t>Radio-Canada s’est engagée à ne pas vendre de publicité à d’autres cirques pendant la diffusion du documentaire. En cas de non-respect de cette clause, Radio-Canada devra verser 100 000 $ au Cirque au titre de dommages punitifs. </a:t>
            </a:r>
            <a:endParaRPr lang="fr-FR" sz="8000" dirty="0"/>
          </a:p>
          <a:p>
            <a:pPr marL="0" indent="0">
              <a:buNone/>
            </a:pPr>
            <a:r>
              <a:rPr lang="fr-CA" sz="8000" dirty="0"/>
              <a:t> </a:t>
            </a:r>
            <a:endParaRPr lang="fr-FR" sz="8000" dirty="0"/>
          </a:p>
          <a:p>
            <a:pPr marL="0" indent="0">
              <a:buNone/>
            </a:pPr>
            <a:r>
              <a:rPr lang="fr-CA" sz="8000" cap="small" dirty="0"/>
              <a:t>Problématiques</a:t>
            </a:r>
            <a:endParaRPr lang="fr-FR" sz="8000" dirty="0"/>
          </a:p>
          <a:p>
            <a:pPr marL="0" indent="0">
              <a:buNone/>
            </a:pPr>
            <a:r>
              <a:rPr lang="fr-CA" sz="8000" dirty="0"/>
              <a:t>À quel </a:t>
            </a:r>
            <a:r>
              <a:rPr lang="fr-CA" sz="8000" b="1" dirty="0"/>
              <a:t>momen</a:t>
            </a:r>
            <a:r>
              <a:rPr lang="fr-CA" sz="8000" dirty="0"/>
              <a:t>t le Cirque doit-il comptabiliser les produits découlant de la vente de la licence? </a:t>
            </a:r>
            <a:endParaRPr lang="fr-FR" sz="8000" dirty="0"/>
          </a:p>
          <a:p>
            <a:pPr marL="0" indent="0">
              <a:buNone/>
            </a:pPr>
            <a:r>
              <a:rPr lang="fr-CA" sz="8000" dirty="0"/>
              <a:t>Doit-il immédiatement comptabiliser la </a:t>
            </a:r>
            <a:r>
              <a:rPr lang="fr-CA" sz="8000" b="1" dirty="0"/>
              <a:t>contrepartie variable (pénalité)</a:t>
            </a:r>
            <a:r>
              <a:rPr lang="fr-CA" sz="8000" dirty="0"/>
              <a:t> pouvant découler d’éventuels dommages punitifs?</a:t>
            </a:r>
            <a:endParaRPr lang="fr-FR" sz="8000" dirty="0"/>
          </a:p>
          <a:p>
            <a:pPr marL="0" indent="0">
              <a:buNone/>
            </a:pPr>
            <a:r>
              <a:rPr lang="fr-CA" sz="8000" dirty="0"/>
              <a:t> </a:t>
            </a:r>
            <a:endParaRPr lang="fr-FR" dirty="0"/>
          </a:p>
          <a:p>
            <a:pPr marL="0" indent="0">
              <a:buNone/>
            </a:pPr>
            <a:endParaRPr lang="fr-FR" dirty="0"/>
          </a:p>
        </p:txBody>
      </p:sp>
    </p:spTree>
    <p:extLst>
      <p:ext uri="{BB962C8B-B14F-4D97-AF65-F5344CB8AC3E}">
        <p14:creationId xmlns:p14="http://schemas.microsoft.com/office/powerpoint/2010/main" val="1492715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CCB8CC-7E17-4264-953B-F85DA9DFF679}"/>
              </a:ext>
            </a:extLst>
          </p:cNvPr>
          <p:cNvSpPr>
            <a:spLocks noGrp="1"/>
          </p:cNvSpPr>
          <p:nvPr>
            <p:ph type="title"/>
          </p:nvPr>
        </p:nvSpPr>
        <p:spPr/>
        <p:txBody>
          <a:bodyPr>
            <a:normAutofit/>
          </a:bodyPr>
          <a:lstStyle/>
          <a:p>
            <a:r>
              <a:rPr lang="fr-CA" sz="3200" b="1" dirty="0"/>
              <a:t>2. Vente de droits</a:t>
            </a:r>
            <a:endParaRPr lang="fr-FR" sz="3200" b="1" dirty="0"/>
          </a:p>
        </p:txBody>
      </p:sp>
      <p:sp>
        <p:nvSpPr>
          <p:cNvPr id="3" name="Espace réservé du contenu 2">
            <a:extLst>
              <a:ext uri="{FF2B5EF4-FFF2-40B4-BE49-F238E27FC236}">
                <a16:creationId xmlns:a16="http://schemas.microsoft.com/office/drawing/2014/main" id="{AD931758-AB16-4107-8AB0-2EC868726B5C}"/>
              </a:ext>
            </a:extLst>
          </p:cNvPr>
          <p:cNvSpPr>
            <a:spLocks noGrp="1"/>
          </p:cNvSpPr>
          <p:nvPr>
            <p:ph idx="1"/>
          </p:nvPr>
        </p:nvSpPr>
        <p:spPr/>
        <p:txBody>
          <a:bodyPr>
            <a:normAutofit fontScale="25000" lnSpcReduction="20000"/>
          </a:bodyPr>
          <a:lstStyle/>
          <a:p>
            <a:pPr marL="0" indent="0">
              <a:buNone/>
            </a:pPr>
            <a:r>
              <a:rPr lang="fr-CA" sz="8000" b="1" cap="small" dirty="0"/>
              <a:t>Vente de droits à Radio-Canada - </a:t>
            </a:r>
            <a:r>
              <a:rPr lang="fr-CA" sz="8000" i="1" dirty="0"/>
              <a:t>suite</a:t>
            </a:r>
            <a:endParaRPr lang="fr-FR" sz="8000" i="1" dirty="0"/>
          </a:p>
          <a:p>
            <a:pPr marL="0" indent="0">
              <a:buNone/>
            </a:pPr>
            <a:endParaRPr lang="fr-FR" sz="8000" dirty="0"/>
          </a:p>
          <a:p>
            <a:pPr marL="0" indent="0">
              <a:buNone/>
            </a:pPr>
            <a:r>
              <a:rPr lang="fr-CA" sz="8000" cap="small" dirty="0"/>
              <a:t>Analyse</a:t>
            </a:r>
            <a:endParaRPr lang="fr-FR" sz="8000" dirty="0"/>
          </a:p>
          <a:p>
            <a:pPr marL="0" indent="0">
              <a:buNone/>
            </a:pPr>
            <a:r>
              <a:rPr lang="fr-CA" sz="8000" cap="small" dirty="0"/>
              <a:t>Nature de l’entente avec Radio-Canada</a:t>
            </a:r>
            <a:endParaRPr lang="fr-FR" sz="8000" dirty="0"/>
          </a:p>
          <a:p>
            <a:pPr marL="0" indent="0">
              <a:buNone/>
            </a:pPr>
            <a:r>
              <a:rPr lang="fr-CA" sz="8000" dirty="0"/>
              <a:t>L’octroi de cette licence constitue une </a:t>
            </a:r>
            <a:r>
              <a:rPr lang="fr-CA" sz="8000" b="1" dirty="0"/>
              <a:t>obligation de prestation distincte</a:t>
            </a:r>
            <a:r>
              <a:rPr lang="fr-CA" sz="8000" dirty="0"/>
              <a:t> pour le Cirque. </a:t>
            </a:r>
            <a:endParaRPr lang="fr-FR" sz="8000" dirty="0"/>
          </a:p>
          <a:p>
            <a:pPr marL="0" indent="0">
              <a:buNone/>
            </a:pPr>
            <a:r>
              <a:rPr lang="fr-CA" sz="8000" dirty="0"/>
              <a:t>Le Cirque doit déterminer si la licence est fournie à Radio-Canada à un moment </a:t>
            </a:r>
            <a:r>
              <a:rPr lang="fr-CA" sz="8000" b="1" dirty="0"/>
              <a:t>précis</a:t>
            </a:r>
            <a:r>
              <a:rPr lang="fr-CA" sz="8000" dirty="0"/>
              <a:t> ou </a:t>
            </a:r>
            <a:r>
              <a:rPr lang="fr-CA" sz="8000" b="1" dirty="0"/>
              <a:t>progressivement</a:t>
            </a:r>
            <a:r>
              <a:rPr lang="fr-CA" sz="8000" dirty="0"/>
              <a:t>. </a:t>
            </a:r>
            <a:endParaRPr lang="fr-FR" sz="8000" dirty="0"/>
          </a:p>
          <a:p>
            <a:pPr marL="0" indent="0">
              <a:buNone/>
            </a:pPr>
            <a:r>
              <a:rPr lang="fr-CA" sz="8000" dirty="0"/>
              <a:t>Pour établir la </a:t>
            </a:r>
            <a:r>
              <a:rPr lang="fr-CA" sz="8000" b="1" dirty="0"/>
              <a:t>nature de la promesse</a:t>
            </a:r>
            <a:r>
              <a:rPr lang="fr-CA" sz="8000" dirty="0"/>
              <a:t> faite à Radio-Canada, le Cirque doit établir le type de droit qu’il lui accorde, soit :</a:t>
            </a:r>
            <a:endParaRPr lang="fr-FR" sz="8000" dirty="0"/>
          </a:p>
          <a:p>
            <a:r>
              <a:rPr lang="fr-CA" sz="8000" dirty="0"/>
              <a:t>un </a:t>
            </a:r>
            <a:r>
              <a:rPr lang="fr-CA" sz="8000" b="1" dirty="0"/>
              <a:t>droit d'accès</a:t>
            </a:r>
            <a:r>
              <a:rPr lang="fr-CA" sz="8000" dirty="0"/>
              <a:t> à la propriété intellectuelle du Cirque (le documentaire) telle qu'elle existe tout au long des trois années couvertes par la licence ; </a:t>
            </a:r>
            <a:r>
              <a:rPr lang="fr-CA" sz="8000" b="1" dirty="0"/>
              <a:t>ou</a:t>
            </a:r>
            <a:endParaRPr lang="fr-FR" sz="8000" dirty="0"/>
          </a:p>
          <a:p>
            <a:pPr lvl="0"/>
            <a:r>
              <a:rPr lang="fr-CA" sz="8000" dirty="0"/>
              <a:t>un </a:t>
            </a:r>
            <a:r>
              <a:rPr lang="fr-CA" sz="8000" b="1" dirty="0"/>
              <a:t>droit d'utilisation</a:t>
            </a:r>
            <a:r>
              <a:rPr lang="fr-CA" sz="8000" dirty="0"/>
              <a:t> de la propriété intellectuelle du Cirque (le documentaire) telle qu'elle existe au </a:t>
            </a:r>
            <a:r>
              <a:rPr lang="fr-CA" sz="8000" b="1" dirty="0"/>
              <a:t>moment précis</a:t>
            </a:r>
            <a:r>
              <a:rPr lang="fr-CA" sz="8000" dirty="0"/>
              <a:t> (1</a:t>
            </a:r>
            <a:r>
              <a:rPr lang="fr-CA" sz="8000" baseline="30000" dirty="0"/>
              <a:t>er</a:t>
            </a:r>
            <a:r>
              <a:rPr lang="fr-CA" sz="8000" dirty="0"/>
              <a:t> juin 2025) où la licence est octroyée.</a:t>
            </a:r>
            <a:endParaRPr lang="fr-FR" sz="8000" dirty="0"/>
          </a:p>
          <a:p>
            <a:pPr marL="0" indent="0">
              <a:buNone/>
            </a:pPr>
            <a:endParaRPr lang="fr-FR" dirty="0"/>
          </a:p>
          <a:p>
            <a:pPr marL="0" indent="0">
              <a:buNone/>
            </a:pPr>
            <a:endParaRPr lang="fr-FR" dirty="0"/>
          </a:p>
        </p:txBody>
      </p:sp>
    </p:spTree>
    <p:extLst>
      <p:ext uri="{BB962C8B-B14F-4D97-AF65-F5344CB8AC3E}">
        <p14:creationId xmlns:p14="http://schemas.microsoft.com/office/powerpoint/2010/main" val="3672261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CCB8CC-7E17-4264-953B-F85DA9DFF679}"/>
              </a:ext>
            </a:extLst>
          </p:cNvPr>
          <p:cNvSpPr>
            <a:spLocks noGrp="1"/>
          </p:cNvSpPr>
          <p:nvPr>
            <p:ph type="title"/>
          </p:nvPr>
        </p:nvSpPr>
        <p:spPr/>
        <p:txBody>
          <a:bodyPr/>
          <a:lstStyle/>
          <a:p>
            <a:r>
              <a:rPr lang="fr-CA" sz="3200" b="1" dirty="0"/>
              <a:t>2. Vente de droits</a:t>
            </a:r>
            <a:endParaRPr lang="fr-FR" b="1" dirty="0">
              <a:solidFill>
                <a:srgbClr val="FF0000"/>
              </a:solidFill>
            </a:endParaRPr>
          </a:p>
        </p:txBody>
      </p:sp>
      <p:sp>
        <p:nvSpPr>
          <p:cNvPr id="3" name="Espace réservé du contenu 2">
            <a:extLst>
              <a:ext uri="{FF2B5EF4-FFF2-40B4-BE49-F238E27FC236}">
                <a16:creationId xmlns:a16="http://schemas.microsoft.com/office/drawing/2014/main" id="{AD931758-AB16-4107-8AB0-2EC868726B5C}"/>
              </a:ext>
            </a:extLst>
          </p:cNvPr>
          <p:cNvSpPr>
            <a:spLocks noGrp="1"/>
          </p:cNvSpPr>
          <p:nvPr>
            <p:ph idx="1"/>
          </p:nvPr>
        </p:nvSpPr>
        <p:spPr/>
        <p:txBody>
          <a:bodyPr>
            <a:normAutofit fontScale="25000" lnSpcReduction="20000"/>
          </a:bodyPr>
          <a:lstStyle/>
          <a:p>
            <a:pPr marL="0" indent="0">
              <a:buNone/>
            </a:pPr>
            <a:r>
              <a:rPr lang="fr-CA" sz="8000" b="1" cap="small" dirty="0"/>
              <a:t>Vente de droits à Radio-Canada  - </a:t>
            </a:r>
            <a:r>
              <a:rPr lang="fr-CA" sz="8000" i="1" dirty="0"/>
              <a:t>suite</a:t>
            </a:r>
            <a:endParaRPr lang="fr-FR" sz="8000" i="1" dirty="0"/>
          </a:p>
          <a:p>
            <a:pPr marL="0" indent="0">
              <a:buNone/>
            </a:pPr>
            <a:endParaRPr lang="fr-FR" sz="8000" dirty="0"/>
          </a:p>
          <a:p>
            <a:pPr marL="0" indent="0">
              <a:buNone/>
            </a:pPr>
            <a:r>
              <a:rPr lang="fr-CA" sz="8000" u="dotted" dirty="0"/>
              <a:t>Analyse de la nature de la promesse</a:t>
            </a:r>
            <a:endParaRPr lang="fr-FR" sz="8000" dirty="0"/>
          </a:p>
          <a:p>
            <a:pPr marL="0" indent="0">
              <a:buNone/>
            </a:pPr>
            <a:r>
              <a:rPr lang="fr-CA" sz="8000" dirty="0"/>
              <a:t> </a:t>
            </a:r>
            <a:endParaRPr lang="fr-FR" sz="8000" dirty="0"/>
          </a:p>
          <a:p>
            <a:pPr marL="0" indent="0">
              <a:buNone/>
            </a:pPr>
            <a:r>
              <a:rPr lang="fr-CA" sz="8000" dirty="0"/>
              <a:t>Nous devons d’abord nous demander si nous accordons un droit d’accès. </a:t>
            </a:r>
          </a:p>
          <a:p>
            <a:pPr marL="0" indent="0">
              <a:buNone/>
            </a:pPr>
            <a:r>
              <a:rPr lang="fr-CA" sz="8000" dirty="0"/>
              <a:t>La nature de notre promesse d’octroyer une licence à Radio-Canada consisterait à accorder un droit d’accès à notre propriété intellectuelle si les trois critères énoncés dans IFRS 15.B58 sont satisfaits : </a:t>
            </a:r>
            <a:endParaRPr lang="fr-FR" sz="8000" dirty="0"/>
          </a:p>
          <a:p>
            <a:r>
              <a:rPr lang="fr-CA" sz="8000" dirty="0"/>
              <a:t>Le contrat prescrit-il que le Cirque </a:t>
            </a:r>
            <a:r>
              <a:rPr lang="fr-CA" sz="8000" b="1" dirty="0"/>
              <a:t>entreprendra</a:t>
            </a:r>
            <a:r>
              <a:rPr lang="fr-CA" sz="8000" dirty="0"/>
              <a:t> des activités qui auront une incidence importante sur la licence sur laquelle Radio-Canada a des droits?</a:t>
            </a:r>
            <a:endParaRPr lang="fr-FR" sz="8000" dirty="0"/>
          </a:p>
          <a:p>
            <a:pPr marL="0" indent="0">
              <a:buNone/>
            </a:pPr>
            <a:r>
              <a:rPr lang="fr-CA" sz="8000" dirty="0"/>
              <a:t>Le Cirque n’entreprendra pas d’activités qui pourraient modifier considérablement la forme du documentaire. Le documentaire restera le même pendant les trois ans. </a:t>
            </a:r>
            <a:r>
              <a:rPr lang="fr-CA" sz="8000" b="1" dirty="0"/>
              <a:t>Critère non respecté</a:t>
            </a:r>
            <a:r>
              <a:rPr lang="fr-CA" sz="8000" dirty="0"/>
              <a:t>.</a:t>
            </a:r>
            <a:endParaRPr lang="fr-FR" sz="8000" dirty="0"/>
          </a:p>
          <a:p>
            <a:pPr marL="0" indent="0">
              <a:buNone/>
            </a:pPr>
            <a:r>
              <a:rPr lang="fr-CA" sz="8000" dirty="0"/>
              <a:t>La capacité de Radio-Canada de tirer parti du documentaire ne provient pas de nos activités. </a:t>
            </a:r>
            <a:endParaRPr lang="fr-FR" sz="8000" dirty="0"/>
          </a:p>
          <a:p>
            <a:pPr marL="0" indent="0">
              <a:buNone/>
            </a:pPr>
            <a:r>
              <a:rPr lang="fr-CA" sz="8000" dirty="0"/>
              <a:t>Le documentaire possède une fonctionnalité spécifique importante, soit celle de raconter notre histoire. Nos activités futures n’auront pas d’incidence importante sur la capacité de Radio-Canada de tirer parti du documentaire.</a:t>
            </a:r>
            <a:endParaRPr lang="fr-FR" sz="8000" dirty="0"/>
          </a:p>
          <a:p>
            <a:pPr marL="0" indent="0">
              <a:buNone/>
            </a:pPr>
            <a:endParaRPr lang="fr-FR" dirty="0"/>
          </a:p>
        </p:txBody>
      </p:sp>
    </p:spTree>
    <p:extLst>
      <p:ext uri="{BB962C8B-B14F-4D97-AF65-F5344CB8AC3E}">
        <p14:creationId xmlns:p14="http://schemas.microsoft.com/office/powerpoint/2010/main" val="360014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CCB8CC-7E17-4264-953B-F85DA9DFF679}"/>
              </a:ext>
            </a:extLst>
          </p:cNvPr>
          <p:cNvSpPr>
            <a:spLocks noGrp="1"/>
          </p:cNvSpPr>
          <p:nvPr>
            <p:ph type="title"/>
          </p:nvPr>
        </p:nvSpPr>
        <p:spPr/>
        <p:txBody>
          <a:bodyPr/>
          <a:lstStyle/>
          <a:p>
            <a:r>
              <a:rPr lang="fr-CA" sz="3200" b="1" dirty="0"/>
              <a:t>2. Vente de droits</a:t>
            </a:r>
            <a:endParaRPr lang="fr-FR" b="1" dirty="0">
              <a:solidFill>
                <a:srgbClr val="FF0000"/>
              </a:solidFill>
            </a:endParaRPr>
          </a:p>
        </p:txBody>
      </p:sp>
      <p:sp>
        <p:nvSpPr>
          <p:cNvPr id="3" name="Espace réservé du contenu 2">
            <a:extLst>
              <a:ext uri="{FF2B5EF4-FFF2-40B4-BE49-F238E27FC236}">
                <a16:creationId xmlns:a16="http://schemas.microsoft.com/office/drawing/2014/main" id="{AD931758-AB16-4107-8AB0-2EC868726B5C}"/>
              </a:ext>
            </a:extLst>
          </p:cNvPr>
          <p:cNvSpPr>
            <a:spLocks noGrp="1"/>
          </p:cNvSpPr>
          <p:nvPr>
            <p:ph idx="1"/>
          </p:nvPr>
        </p:nvSpPr>
        <p:spPr/>
        <p:txBody>
          <a:bodyPr>
            <a:normAutofit fontScale="25000" lnSpcReduction="20000"/>
          </a:bodyPr>
          <a:lstStyle/>
          <a:p>
            <a:pPr marL="0" indent="0">
              <a:buNone/>
            </a:pPr>
            <a:r>
              <a:rPr lang="fr-CA" sz="8000" b="1" cap="small" dirty="0"/>
              <a:t>Vente de droits à Radio-Canada  </a:t>
            </a:r>
            <a:r>
              <a:rPr lang="fr-CA" sz="8000" b="1" i="1" cap="small" dirty="0"/>
              <a:t>- </a:t>
            </a:r>
            <a:r>
              <a:rPr lang="fr-CA" sz="8000" i="1" dirty="0"/>
              <a:t>suite</a:t>
            </a:r>
            <a:endParaRPr lang="fr-FR" sz="8000" i="1" dirty="0"/>
          </a:p>
          <a:p>
            <a:pPr marL="0" indent="0">
              <a:buNone/>
            </a:pPr>
            <a:endParaRPr lang="fr-FR" sz="8000" dirty="0"/>
          </a:p>
          <a:p>
            <a:pPr marL="0" indent="0">
              <a:buNone/>
            </a:pPr>
            <a:r>
              <a:rPr lang="fr-CA" sz="8000" dirty="0"/>
              <a:t>La restriction au niveau de la vente de publicité n’entrave pas la liberté d’exploitation des droits. C’est une restriction qui </a:t>
            </a:r>
            <a:r>
              <a:rPr lang="fr-CA" sz="8000" b="1" dirty="0"/>
              <a:t>caractérise la licence</a:t>
            </a:r>
            <a:r>
              <a:rPr lang="fr-CA" sz="8000" dirty="0"/>
              <a:t> et non pas une indication servant à déterminer si l'entité remplit son obligation de prestation à un moment précis.</a:t>
            </a:r>
            <a:endParaRPr lang="fr-FR" sz="8000" dirty="0"/>
          </a:p>
          <a:p>
            <a:pPr marL="0" indent="0">
              <a:buNone/>
            </a:pPr>
            <a:r>
              <a:rPr lang="fr-CA" sz="8800" dirty="0"/>
              <a:t> </a:t>
            </a:r>
            <a:endParaRPr lang="fr-FR" sz="8800" dirty="0"/>
          </a:p>
          <a:p>
            <a:pPr marL="0" indent="0">
              <a:buNone/>
            </a:pPr>
            <a:r>
              <a:rPr lang="fr-CA" sz="8800" cap="small" dirty="0"/>
              <a:t>Conclusion</a:t>
            </a:r>
            <a:endParaRPr lang="fr-FR" sz="8800" dirty="0"/>
          </a:p>
          <a:p>
            <a:pPr marL="0" indent="0">
              <a:buNone/>
            </a:pPr>
            <a:r>
              <a:rPr lang="fr-CA" sz="8800" dirty="0"/>
              <a:t>La première condition énoncée dans IFRS 15.B58 n’est pas respectée. Radio-Canada peut décider de l'utilisation du documentaire et en tirer la quasi-totalité des avantages restants au moment précis où la licence lui est fournie. </a:t>
            </a:r>
            <a:endParaRPr lang="fr-FR" sz="8800" dirty="0"/>
          </a:p>
          <a:p>
            <a:pPr marL="0" indent="0">
              <a:buNone/>
            </a:pPr>
            <a:r>
              <a:rPr lang="fr-CA" sz="8800" dirty="0"/>
              <a:t>Nous accordons à Radio-Canada le droit de diffuser le documentaire tel qu’il existe le 1</a:t>
            </a:r>
            <a:r>
              <a:rPr lang="fr-CA" sz="8800" baseline="30000" dirty="0"/>
              <a:t>er</a:t>
            </a:r>
            <a:r>
              <a:rPr lang="fr-CA" sz="8800" dirty="0"/>
              <a:t> juin 2025.</a:t>
            </a:r>
            <a:endParaRPr lang="fr-FR" sz="8800" dirty="0"/>
          </a:p>
          <a:p>
            <a:pPr marL="0" indent="0">
              <a:buNone/>
            </a:pPr>
            <a:r>
              <a:rPr lang="fr-CA" sz="8800" dirty="0"/>
              <a:t>Par conséquent, la nature de la promesse que nous faisons à Radio-Canada est un </a:t>
            </a:r>
            <a:r>
              <a:rPr lang="fr-CA" sz="8800" b="1" dirty="0"/>
              <a:t>droit d’utilisation</a:t>
            </a:r>
            <a:r>
              <a:rPr lang="fr-CA" sz="8800" dirty="0"/>
              <a:t> du documentaire tel qu’il existe au </a:t>
            </a:r>
            <a:r>
              <a:rPr lang="fr-CA" sz="8800" b="1" dirty="0"/>
              <a:t>moment précis</a:t>
            </a:r>
            <a:r>
              <a:rPr lang="fr-CA" sz="8800" dirty="0"/>
              <a:t> où nous lui accordons la licence.</a:t>
            </a:r>
            <a:endParaRPr lang="fr-FR" sz="8800" dirty="0"/>
          </a:p>
          <a:p>
            <a:pPr marL="0" indent="0">
              <a:buNone/>
            </a:pPr>
            <a:endParaRPr lang="fr-FR" dirty="0"/>
          </a:p>
        </p:txBody>
      </p:sp>
    </p:spTree>
    <p:extLst>
      <p:ext uri="{BB962C8B-B14F-4D97-AF65-F5344CB8AC3E}">
        <p14:creationId xmlns:p14="http://schemas.microsoft.com/office/powerpoint/2010/main" val="11820923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CCB8CC-7E17-4264-953B-F85DA9DFF679}"/>
              </a:ext>
            </a:extLst>
          </p:cNvPr>
          <p:cNvSpPr>
            <a:spLocks noGrp="1"/>
          </p:cNvSpPr>
          <p:nvPr>
            <p:ph type="title"/>
          </p:nvPr>
        </p:nvSpPr>
        <p:spPr/>
        <p:txBody>
          <a:bodyPr>
            <a:normAutofit/>
          </a:bodyPr>
          <a:lstStyle/>
          <a:p>
            <a:r>
              <a:rPr lang="fr-CA" sz="3200" b="1" dirty="0"/>
              <a:t>2. Vente de droits</a:t>
            </a:r>
            <a:endParaRPr lang="fr-FR" sz="3200" b="1" dirty="0"/>
          </a:p>
        </p:txBody>
      </p:sp>
      <p:sp>
        <p:nvSpPr>
          <p:cNvPr id="3" name="Espace réservé du contenu 2">
            <a:extLst>
              <a:ext uri="{FF2B5EF4-FFF2-40B4-BE49-F238E27FC236}">
                <a16:creationId xmlns:a16="http://schemas.microsoft.com/office/drawing/2014/main" id="{AD931758-AB16-4107-8AB0-2EC868726B5C}"/>
              </a:ext>
            </a:extLst>
          </p:cNvPr>
          <p:cNvSpPr>
            <a:spLocks noGrp="1"/>
          </p:cNvSpPr>
          <p:nvPr>
            <p:ph idx="1"/>
          </p:nvPr>
        </p:nvSpPr>
        <p:spPr/>
        <p:txBody>
          <a:bodyPr>
            <a:normAutofit fontScale="25000" lnSpcReduction="20000"/>
          </a:bodyPr>
          <a:lstStyle/>
          <a:p>
            <a:pPr marL="0" indent="0">
              <a:buNone/>
            </a:pPr>
            <a:r>
              <a:rPr lang="fr-CA" sz="8000" b="1" cap="small" dirty="0"/>
              <a:t>Vente de droits à Radio-Canada  - </a:t>
            </a:r>
            <a:r>
              <a:rPr lang="fr-CA" sz="8000" i="1" dirty="0"/>
              <a:t>suite</a:t>
            </a:r>
            <a:endParaRPr lang="fr-FR" sz="8000" i="1" dirty="0"/>
          </a:p>
          <a:p>
            <a:pPr marL="0" indent="0">
              <a:buNone/>
            </a:pPr>
            <a:r>
              <a:rPr lang="fr-CA" sz="8800" cap="small" dirty="0"/>
              <a:t>Moment de la comptabilisation</a:t>
            </a:r>
            <a:endParaRPr lang="fr-FR" sz="8800" dirty="0"/>
          </a:p>
          <a:p>
            <a:pPr marL="0" indent="0">
              <a:buNone/>
            </a:pPr>
            <a:r>
              <a:rPr lang="fr-CA" sz="8800" dirty="0"/>
              <a:t>Le Cirque doit comptabiliser des produits des activités ordinaires lorsqu'il a rempli une obligation de prestation en fournissant le documentaire à Radio-Canada. L’actif sera transféré lorsque Radio-Canada aura obtenu le contrôle. Pour déterminer le moment précis où le contrôle aura été transféré à Radio-Canada, le Cirque analyse les critères qui suivent :</a:t>
            </a:r>
            <a:endParaRPr lang="fr-FR" sz="8800" dirty="0"/>
          </a:p>
          <a:p>
            <a:r>
              <a:rPr lang="fr-CA" sz="8800" dirty="0"/>
              <a:t>Rien n’indique clairement à quel moment l'entité aura un </a:t>
            </a:r>
            <a:r>
              <a:rPr lang="fr-CA" sz="8800" b="1" dirty="0"/>
              <a:t>droit actuel à un paiement</a:t>
            </a:r>
            <a:r>
              <a:rPr lang="fr-CA" sz="8800" dirty="0"/>
              <a:t> au titre de l'actif. Ce peut être au moment de livraison ou, au plus tard, au moment où la SRC a le </a:t>
            </a:r>
            <a:r>
              <a:rPr lang="fr-CA" sz="8800" b="1" dirty="0"/>
              <a:t>droit de diffuser le documentaire</a:t>
            </a:r>
            <a:r>
              <a:rPr lang="fr-CA" sz="8800" dirty="0"/>
              <a:t>.</a:t>
            </a:r>
            <a:endParaRPr lang="fr-FR" sz="8800" dirty="0"/>
          </a:p>
          <a:p>
            <a:r>
              <a:rPr lang="fr-CA" sz="8800" dirty="0"/>
              <a:t>Bien que le Cirque prévoie livrer le documentaire autour du 20 mai, Radio-Canada aura le droit d’exploiter </a:t>
            </a:r>
            <a:r>
              <a:rPr lang="fr-CA" sz="8800" b="1" dirty="0"/>
              <a:t>ces droits librement à compter du 1</a:t>
            </a:r>
            <a:r>
              <a:rPr lang="fr-CA" sz="8800" b="1" baseline="30000" dirty="0"/>
              <a:t>er</a:t>
            </a:r>
            <a:r>
              <a:rPr lang="fr-CA" sz="8800" b="1" dirty="0"/>
              <a:t> juin 2025</a:t>
            </a:r>
            <a:r>
              <a:rPr lang="fr-CA" sz="8800" dirty="0"/>
              <a:t> car c’est à ce moment-là que </a:t>
            </a:r>
            <a:r>
              <a:rPr lang="fr-CA" sz="8800" b="1" dirty="0"/>
              <a:t>débute </a:t>
            </a:r>
            <a:r>
              <a:rPr lang="fr-CA" sz="8800" dirty="0"/>
              <a:t>le droit de diffuser le documentaire autant de fois qu’elle le souhaite sur toutes ses chaînes. On peut dire que c’est à ce moment-là qu’elle est </a:t>
            </a:r>
            <a:r>
              <a:rPr lang="fr-CA" sz="8800" b="1" dirty="0"/>
              <a:t>propriétaire des droits</a:t>
            </a:r>
            <a:r>
              <a:rPr lang="fr-CA" sz="8800" dirty="0"/>
              <a:t> sur le documentaire et non pas au moment de la livraison ou de la signature du contrat.</a:t>
            </a:r>
            <a:endParaRPr lang="fr-FR" sz="8800" dirty="0"/>
          </a:p>
          <a:p>
            <a:r>
              <a:rPr lang="fr-CA" sz="8800" dirty="0"/>
              <a:t>À partir du </a:t>
            </a:r>
            <a:r>
              <a:rPr lang="fr-CA" sz="8800" b="1" dirty="0"/>
              <a:t>1</a:t>
            </a:r>
            <a:r>
              <a:rPr lang="fr-CA" sz="8800" b="1" baseline="30000" dirty="0"/>
              <a:t>er</a:t>
            </a:r>
            <a:r>
              <a:rPr lang="fr-CA" sz="8800" b="1" dirty="0"/>
              <a:t> juin 2025</a:t>
            </a:r>
            <a:r>
              <a:rPr lang="fr-CA" sz="8800" dirty="0"/>
              <a:t>, Radio-Canada aura la capacité de diffuser le documentaire et d'en tirer les revenus publicitaires.</a:t>
            </a:r>
            <a:endParaRPr lang="fr-FR" sz="8800" dirty="0"/>
          </a:p>
          <a:p>
            <a:r>
              <a:rPr lang="fr-CA" sz="8800" dirty="0"/>
              <a:t>Je présume que Radio-Canada aura </a:t>
            </a:r>
            <a:r>
              <a:rPr lang="fr-CA" sz="8800" b="1" dirty="0"/>
              <a:t>accepté l’actif</a:t>
            </a:r>
            <a:r>
              <a:rPr lang="fr-CA" sz="8800" dirty="0"/>
              <a:t> au moment de la livraison.</a:t>
            </a:r>
            <a:endParaRPr lang="fr-FR" sz="8800" dirty="0"/>
          </a:p>
          <a:p>
            <a:pPr marL="0" indent="0">
              <a:buNone/>
            </a:pPr>
            <a:r>
              <a:rPr lang="fr-CA" sz="8800" dirty="0"/>
              <a:t> </a:t>
            </a:r>
            <a:endParaRPr lang="fr-FR" sz="8800" dirty="0"/>
          </a:p>
        </p:txBody>
      </p:sp>
    </p:spTree>
    <p:extLst>
      <p:ext uri="{BB962C8B-B14F-4D97-AF65-F5344CB8AC3E}">
        <p14:creationId xmlns:p14="http://schemas.microsoft.com/office/powerpoint/2010/main" val="22654264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CCB8CC-7E17-4264-953B-F85DA9DFF679}"/>
              </a:ext>
            </a:extLst>
          </p:cNvPr>
          <p:cNvSpPr>
            <a:spLocks noGrp="1"/>
          </p:cNvSpPr>
          <p:nvPr>
            <p:ph type="title"/>
          </p:nvPr>
        </p:nvSpPr>
        <p:spPr/>
        <p:txBody>
          <a:bodyPr>
            <a:normAutofit/>
          </a:bodyPr>
          <a:lstStyle/>
          <a:p>
            <a:r>
              <a:rPr lang="fr-CA" sz="3200" b="1" dirty="0"/>
              <a:t>2. Vente de droits</a:t>
            </a:r>
            <a:endParaRPr lang="fr-FR" sz="3200" b="1" dirty="0"/>
          </a:p>
        </p:txBody>
      </p:sp>
      <p:sp>
        <p:nvSpPr>
          <p:cNvPr id="3" name="Espace réservé du contenu 2">
            <a:extLst>
              <a:ext uri="{FF2B5EF4-FFF2-40B4-BE49-F238E27FC236}">
                <a16:creationId xmlns:a16="http://schemas.microsoft.com/office/drawing/2014/main" id="{AD931758-AB16-4107-8AB0-2EC868726B5C}"/>
              </a:ext>
            </a:extLst>
          </p:cNvPr>
          <p:cNvSpPr>
            <a:spLocks noGrp="1"/>
          </p:cNvSpPr>
          <p:nvPr>
            <p:ph idx="1"/>
          </p:nvPr>
        </p:nvSpPr>
        <p:spPr/>
        <p:txBody>
          <a:bodyPr>
            <a:normAutofit/>
          </a:bodyPr>
          <a:lstStyle/>
          <a:p>
            <a:pPr marL="0" indent="0">
              <a:buNone/>
            </a:pPr>
            <a:r>
              <a:rPr lang="fr-CA" sz="2400" b="1" cap="small" dirty="0"/>
              <a:t>Vente de droits à Radio-Canada  - </a:t>
            </a:r>
            <a:r>
              <a:rPr lang="fr-CA" sz="2400" i="1" dirty="0"/>
              <a:t>suite</a:t>
            </a:r>
          </a:p>
          <a:p>
            <a:pPr marL="0" indent="0">
              <a:buNone/>
            </a:pPr>
            <a:endParaRPr lang="fr-FR" sz="2400" i="1" dirty="0"/>
          </a:p>
          <a:p>
            <a:pPr marL="0" indent="0">
              <a:buNone/>
            </a:pPr>
            <a:r>
              <a:rPr lang="fr-CA" sz="2000" cap="small" dirty="0"/>
              <a:t>Conclusion</a:t>
            </a:r>
            <a:endParaRPr lang="fr-FR" sz="2000" dirty="0"/>
          </a:p>
          <a:p>
            <a:pPr marL="0" indent="0">
              <a:buNone/>
            </a:pPr>
            <a:r>
              <a:rPr lang="fr-CA" sz="2000" dirty="0"/>
              <a:t>En substance, le fait générateur de la vente des droits de diffusion est le moment précis où la SRC a le droit de diffuser le documentaire, soit le </a:t>
            </a:r>
            <a:r>
              <a:rPr lang="fr-CA" sz="2000" b="1" dirty="0"/>
              <a:t>1</a:t>
            </a:r>
            <a:r>
              <a:rPr lang="fr-CA" sz="2000" b="1" baseline="30000" dirty="0"/>
              <a:t>er</a:t>
            </a:r>
            <a:r>
              <a:rPr lang="fr-CA" sz="2000" b="1" dirty="0"/>
              <a:t> juin 2025</a:t>
            </a:r>
            <a:r>
              <a:rPr lang="fr-CA" sz="2000" dirty="0"/>
              <a:t>. C’est à ce moment-là qu’on comptabilisera les produits en résultats.</a:t>
            </a:r>
          </a:p>
          <a:p>
            <a:pPr marL="0" indent="0">
              <a:buNone/>
            </a:pPr>
            <a:r>
              <a:rPr lang="fr-CA" sz="2000" dirty="0"/>
              <a:t> </a:t>
            </a:r>
            <a:endParaRPr lang="fr-FR" sz="2000" dirty="0"/>
          </a:p>
        </p:txBody>
      </p:sp>
    </p:spTree>
    <p:extLst>
      <p:ext uri="{BB962C8B-B14F-4D97-AF65-F5344CB8AC3E}">
        <p14:creationId xmlns:p14="http://schemas.microsoft.com/office/powerpoint/2010/main" val="27531242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CCB8CC-7E17-4264-953B-F85DA9DFF679}"/>
              </a:ext>
            </a:extLst>
          </p:cNvPr>
          <p:cNvSpPr>
            <a:spLocks noGrp="1"/>
          </p:cNvSpPr>
          <p:nvPr>
            <p:ph type="title"/>
          </p:nvPr>
        </p:nvSpPr>
        <p:spPr/>
        <p:txBody>
          <a:bodyPr>
            <a:normAutofit/>
          </a:bodyPr>
          <a:lstStyle/>
          <a:p>
            <a:r>
              <a:rPr lang="fr-CA" sz="3200" b="1" dirty="0"/>
              <a:t>2. Vente de droits</a:t>
            </a:r>
            <a:endParaRPr lang="fr-FR" sz="3200" b="1" dirty="0"/>
          </a:p>
        </p:txBody>
      </p:sp>
      <p:sp>
        <p:nvSpPr>
          <p:cNvPr id="3" name="Espace réservé du contenu 2">
            <a:extLst>
              <a:ext uri="{FF2B5EF4-FFF2-40B4-BE49-F238E27FC236}">
                <a16:creationId xmlns:a16="http://schemas.microsoft.com/office/drawing/2014/main" id="{AD931758-AB16-4107-8AB0-2EC868726B5C}"/>
              </a:ext>
            </a:extLst>
          </p:cNvPr>
          <p:cNvSpPr>
            <a:spLocks noGrp="1"/>
          </p:cNvSpPr>
          <p:nvPr>
            <p:ph idx="1"/>
          </p:nvPr>
        </p:nvSpPr>
        <p:spPr/>
        <p:txBody>
          <a:bodyPr>
            <a:normAutofit fontScale="70000" lnSpcReduction="20000"/>
          </a:bodyPr>
          <a:lstStyle/>
          <a:p>
            <a:pPr marL="0" indent="0">
              <a:buNone/>
            </a:pPr>
            <a:r>
              <a:rPr lang="fr-CA" sz="2400" b="1" cap="small" dirty="0"/>
              <a:t>Vente de droits à Radio-Canada  </a:t>
            </a:r>
            <a:r>
              <a:rPr lang="fr-CA" sz="2400" b="1" i="1" cap="small" dirty="0"/>
              <a:t>- </a:t>
            </a:r>
            <a:r>
              <a:rPr lang="fr-CA" sz="2400" i="1" dirty="0"/>
              <a:t>suite</a:t>
            </a:r>
          </a:p>
          <a:p>
            <a:pPr marL="0" indent="0">
              <a:buNone/>
            </a:pPr>
            <a:r>
              <a:rPr lang="fr-CA" u="dotted" cap="small" dirty="0"/>
              <a:t>Notes </a:t>
            </a:r>
            <a:r>
              <a:rPr lang="fr-CA" dirty="0"/>
              <a:t>:</a:t>
            </a:r>
            <a:endParaRPr lang="fr-FR" dirty="0"/>
          </a:p>
          <a:p>
            <a:pPr marL="0" indent="0">
              <a:buNone/>
            </a:pPr>
            <a:r>
              <a:rPr lang="fr-CA" dirty="0"/>
              <a:t>Certains pourraient croire que le droit d’utilisation est accordé au moment où Radio-Canada reçoit le documentaire, soit autour du 20 mai. Il pourrait être bon de souligner que tous les critères énoncés à IFRS 15-38 n’ont pas à être respectés pour identifier le moment précis du transfert. </a:t>
            </a:r>
            <a:endParaRPr lang="fr-FR" dirty="0"/>
          </a:p>
          <a:p>
            <a:pPr marL="0" indent="0">
              <a:buNone/>
            </a:pPr>
            <a:r>
              <a:rPr lang="fr-CA" dirty="0"/>
              <a:t>Comme le droit de diffuser débute le 1</a:t>
            </a:r>
            <a:r>
              <a:rPr lang="fr-CA" baseline="30000" dirty="0"/>
              <a:t>er</a:t>
            </a:r>
            <a:r>
              <a:rPr lang="fr-CA" dirty="0"/>
              <a:t> juin 2025, c’est à ce moment que le </a:t>
            </a:r>
            <a:r>
              <a:rPr lang="fr-CA" b="1" dirty="0"/>
              <a:t>contrôle de l’actif</a:t>
            </a:r>
            <a:r>
              <a:rPr lang="fr-CA" dirty="0"/>
              <a:t> passe du Cirque à Radio-Canada. Il serait inapproprié de comptabiliser les produits avant le transfert du contrôle. Si Radio-Canada payait le 25 mai 2025, le Cirque enregistrerait l’encaissement au DT et un Passif sur contrat (produits différés) au CT.</a:t>
            </a:r>
            <a:endParaRPr lang="fr-FR" dirty="0"/>
          </a:p>
          <a:p>
            <a:pPr marL="0" indent="0">
              <a:buNone/>
            </a:pPr>
            <a:r>
              <a:rPr lang="fr-CA" dirty="0"/>
              <a:t> </a:t>
            </a:r>
            <a:endParaRPr lang="fr-FR" dirty="0"/>
          </a:p>
          <a:p>
            <a:pPr marL="0" indent="0">
              <a:buNone/>
            </a:pPr>
            <a:r>
              <a:rPr lang="fr-CA" dirty="0"/>
              <a:t>D’autres pourraient avoir le réflexe de comptabiliser une telle licence sur la durée de l’entente sans se questionner sur la nature du contrat. Il faut bien noter les exigences de l’IFRS 15.</a:t>
            </a:r>
            <a:endParaRPr lang="fr-FR" dirty="0"/>
          </a:p>
          <a:p>
            <a:pPr marL="0" indent="0">
              <a:buNone/>
            </a:pPr>
            <a:r>
              <a:rPr lang="fr-CA" dirty="0"/>
              <a:t>Le Cirque vend un droit d’utilisation de sa licence. Il garde les droits sur le documentaire lui-même. Son coût de production ne sera pas sorti du bilan au moment de la vente de la licence car d’autres licences peuvent être accordées à d’autres réseaux de télévision au Brésil, en Australie ou en Chine, par exemple.</a:t>
            </a:r>
            <a:endParaRPr lang="fr-FR" dirty="0"/>
          </a:p>
          <a:p>
            <a:pPr marL="0" indent="0">
              <a:buNone/>
            </a:pPr>
            <a:endParaRPr lang="fr-FR" sz="2000" dirty="0"/>
          </a:p>
        </p:txBody>
      </p:sp>
    </p:spTree>
    <p:extLst>
      <p:ext uri="{BB962C8B-B14F-4D97-AF65-F5344CB8AC3E}">
        <p14:creationId xmlns:p14="http://schemas.microsoft.com/office/powerpoint/2010/main" val="3736729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CCB8CC-7E17-4264-953B-F85DA9DFF679}"/>
              </a:ext>
            </a:extLst>
          </p:cNvPr>
          <p:cNvSpPr>
            <a:spLocks noGrp="1"/>
          </p:cNvSpPr>
          <p:nvPr>
            <p:ph type="title"/>
          </p:nvPr>
        </p:nvSpPr>
        <p:spPr/>
        <p:txBody>
          <a:bodyPr>
            <a:normAutofit/>
          </a:bodyPr>
          <a:lstStyle/>
          <a:p>
            <a:r>
              <a:rPr lang="fr-CA" sz="3200" b="1" dirty="0"/>
              <a:t>2. Vente de droits</a:t>
            </a:r>
            <a:endParaRPr lang="fr-FR" sz="3200" b="1" dirty="0"/>
          </a:p>
        </p:txBody>
      </p:sp>
      <p:sp>
        <p:nvSpPr>
          <p:cNvPr id="3" name="Espace réservé du contenu 2">
            <a:extLst>
              <a:ext uri="{FF2B5EF4-FFF2-40B4-BE49-F238E27FC236}">
                <a16:creationId xmlns:a16="http://schemas.microsoft.com/office/drawing/2014/main" id="{AD931758-AB16-4107-8AB0-2EC868726B5C}"/>
              </a:ext>
            </a:extLst>
          </p:cNvPr>
          <p:cNvSpPr>
            <a:spLocks noGrp="1"/>
          </p:cNvSpPr>
          <p:nvPr>
            <p:ph idx="1"/>
          </p:nvPr>
        </p:nvSpPr>
        <p:spPr>
          <a:xfrm>
            <a:off x="838200" y="1532662"/>
            <a:ext cx="10515600" cy="4351338"/>
          </a:xfrm>
        </p:spPr>
        <p:txBody>
          <a:bodyPr>
            <a:normAutofit fontScale="25000" lnSpcReduction="20000"/>
          </a:bodyPr>
          <a:lstStyle/>
          <a:p>
            <a:pPr marL="0" indent="0">
              <a:buNone/>
            </a:pPr>
            <a:r>
              <a:rPr lang="fr-CA" sz="8000" b="1" cap="small" dirty="0"/>
              <a:t>Vente de droits à Radio-Canada  </a:t>
            </a:r>
            <a:r>
              <a:rPr lang="fr-CA" sz="8000" b="1" i="1" cap="small" dirty="0"/>
              <a:t>- </a:t>
            </a:r>
            <a:r>
              <a:rPr lang="fr-CA" sz="8000" i="1" dirty="0"/>
              <a:t>suite</a:t>
            </a:r>
          </a:p>
          <a:p>
            <a:pPr marL="0" indent="0">
              <a:buNone/>
            </a:pPr>
            <a:r>
              <a:rPr lang="fr-CA" sz="8000" cap="small" dirty="0"/>
              <a:t>Détermination du prix de transaction</a:t>
            </a:r>
            <a:endParaRPr lang="fr-FR" sz="8000" dirty="0"/>
          </a:p>
          <a:p>
            <a:pPr marL="0" indent="0">
              <a:buNone/>
            </a:pPr>
            <a:r>
              <a:rPr lang="fr-CA" sz="8000" dirty="0"/>
              <a:t>Le </a:t>
            </a:r>
            <a:r>
              <a:rPr lang="fr-CA" sz="8000" b="1" dirty="0"/>
              <a:t>prix de transaction</a:t>
            </a:r>
            <a:r>
              <a:rPr lang="fr-CA" sz="8000" dirty="0"/>
              <a:t> est le montant de contrepartie auquel le Cirque s'attend à avoir droit en échange des droits de diffusion promis à Radio-Canada. La contrepartie promise comprend le montant de 300 000 $. Comprendra-t-elle aussi la </a:t>
            </a:r>
            <a:r>
              <a:rPr lang="fr-CA" sz="8000" b="1" dirty="0"/>
              <a:t>pénalité prévue </a:t>
            </a:r>
            <a:r>
              <a:rPr lang="fr-CA" sz="8000" dirty="0"/>
              <a:t>au contrat?</a:t>
            </a:r>
            <a:endParaRPr lang="fr-FR" sz="8000" dirty="0"/>
          </a:p>
          <a:p>
            <a:pPr marL="0" indent="0">
              <a:buNone/>
            </a:pPr>
            <a:r>
              <a:rPr lang="fr-CA" sz="4000" dirty="0"/>
              <a:t> </a:t>
            </a:r>
            <a:endParaRPr lang="fr-FR" sz="4000" dirty="0"/>
          </a:p>
          <a:p>
            <a:pPr marL="0" indent="0">
              <a:buNone/>
            </a:pPr>
            <a:r>
              <a:rPr lang="fr-CA" sz="8000" u="dotted" dirty="0"/>
              <a:t>Analyse</a:t>
            </a:r>
            <a:endParaRPr lang="fr-FR" sz="8000" dirty="0"/>
          </a:p>
          <a:p>
            <a:pPr marL="0" indent="0">
              <a:buNone/>
            </a:pPr>
            <a:r>
              <a:rPr lang="fr-CA" sz="8000" dirty="0"/>
              <a:t>Une pénalité est une </a:t>
            </a:r>
            <a:r>
              <a:rPr lang="fr-CA" sz="8000" b="1" dirty="0"/>
              <a:t>contrepartie variable</a:t>
            </a:r>
            <a:r>
              <a:rPr lang="fr-CA" sz="8000" dirty="0"/>
              <a:t>.</a:t>
            </a:r>
            <a:endParaRPr lang="fr-FR" sz="8000" dirty="0"/>
          </a:p>
          <a:p>
            <a:pPr marL="0" indent="0">
              <a:buNone/>
            </a:pPr>
            <a:r>
              <a:rPr lang="fr-CA" sz="8000" dirty="0"/>
              <a:t>Pour estimer le montant de la contrepartie variable, j’utilise la </a:t>
            </a:r>
            <a:r>
              <a:rPr lang="fr-CA" sz="8000" b="1" dirty="0"/>
              <a:t>méthode du montant le plus probable</a:t>
            </a:r>
            <a:r>
              <a:rPr lang="fr-CA" sz="8000" dirty="0"/>
              <a:t> puisque l’issue est composée de deux montants possibles : Radio-Canada déroge, ou ne déroge pas, au contrat.</a:t>
            </a:r>
            <a:endParaRPr lang="fr-FR" sz="8000" dirty="0"/>
          </a:p>
          <a:p>
            <a:pPr marL="0" indent="0">
              <a:buNone/>
            </a:pPr>
            <a:r>
              <a:rPr lang="fr-CA" sz="8000" dirty="0"/>
              <a:t>Le montant le plus probable est celui dont la probabilité d'occurrence est la plus élevée parmi les montants de contrepartie possibles. J’estime que dans notre situation, ce montant est 0 car selon son historique, Radio-Canada n’a jamais dérogé à ses engagements contractuels. </a:t>
            </a:r>
            <a:endParaRPr lang="fr-FR" sz="8000" dirty="0"/>
          </a:p>
          <a:p>
            <a:pPr marL="0" indent="0">
              <a:buNone/>
            </a:pPr>
            <a:r>
              <a:rPr lang="fr-CA" sz="4000" dirty="0"/>
              <a:t> </a:t>
            </a:r>
            <a:endParaRPr lang="fr-FR" sz="4000" dirty="0"/>
          </a:p>
          <a:p>
            <a:pPr marL="0" indent="0">
              <a:buNone/>
            </a:pPr>
            <a:r>
              <a:rPr lang="fr-CA" sz="8000" u="dotted" dirty="0"/>
              <a:t>Conclusion</a:t>
            </a:r>
            <a:endParaRPr lang="fr-FR" sz="8000" dirty="0"/>
          </a:p>
          <a:p>
            <a:pPr marL="0" indent="0">
              <a:buNone/>
            </a:pPr>
            <a:r>
              <a:rPr lang="fr-CA" sz="8000" dirty="0"/>
              <a:t>Le prix de transaction s’élève à 300 000 $.</a:t>
            </a:r>
            <a:endParaRPr lang="fr-FR" sz="8000" dirty="0"/>
          </a:p>
          <a:p>
            <a:pPr marL="0" indent="0">
              <a:buNone/>
            </a:pPr>
            <a:r>
              <a:rPr lang="fr-CA" sz="8000" dirty="0"/>
              <a:t> </a:t>
            </a:r>
            <a:endParaRPr lang="fr-FR" sz="8000" dirty="0"/>
          </a:p>
          <a:p>
            <a:pPr marL="0" indent="0">
              <a:buNone/>
            </a:pPr>
            <a:endParaRPr lang="fr-FR" sz="2000" dirty="0"/>
          </a:p>
        </p:txBody>
      </p:sp>
    </p:spTree>
    <p:extLst>
      <p:ext uri="{BB962C8B-B14F-4D97-AF65-F5344CB8AC3E}">
        <p14:creationId xmlns:p14="http://schemas.microsoft.com/office/powerpoint/2010/main" val="28684153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CCB8CC-7E17-4264-953B-F85DA9DFF679}"/>
              </a:ext>
            </a:extLst>
          </p:cNvPr>
          <p:cNvSpPr>
            <a:spLocks noGrp="1"/>
          </p:cNvSpPr>
          <p:nvPr>
            <p:ph type="title"/>
          </p:nvPr>
        </p:nvSpPr>
        <p:spPr/>
        <p:txBody>
          <a:bodyPr>
            <a:normAutofit/>
          </a:bodyPr>
          <a:lstStyle/>
          <a:p>
            <a:r>
              <a:rPr lang="fr-CA" sz="3200" b="1" dirty="0"/>
              <a:t>2. Vente de droits</a:t>
            </a:r>
            <a:endParaRPr lang="fr-FR" sz="3200" b="1" dirty="0"/>
          </a:p>
        </p:txBody>
      </p:sp>
      <p:sp>
        <p:nvSpPr>
          <p:cNvPr id="3" name="Espace réservé du contenu 2">
            <a:extLst>
              <a:ext uri="{FF2B5EF4-FFF2-40B4-BE49-F238E27FC236}">
                <a16:creationId xmlns:a16="http://schemas.microsoft.com/office/drawing/2014/main" id="{AD931758-AB16-4107-8AB0-2EC868726B5C}"/>
              </a:ext>
            </a:extLst>
          </p:cNvPr>
          <p:cNvSpPr>
            <a:spLocks noGrp="1"/>
          </p:cNvSpPr>
          <p:nvPr>
            <p:ph idx="1"/>
          </p:nvPr>
        </p:nvSpPr>
        <p:spPr/>
        <p:txBody>
          <a:bodyPr>
            <a:normAutofit/>
          </a:bodyPr>
          <a:lstStyle/>
          <a:p>
            <a:pPr marL="0" indent="0">
              <a:buNone/>
            </a:pPr>
            <a:r>
              <a:rPr lang="fr-CA" sz="2400" b="1" cap="small" dirty="0"/>
              <a:t>Vente de droits à Radio-Canada  </a:t>
            </a:r>
            <a:r>
              <a:rPr lang="fr-CA" sz="2400" b="1" i="1" cap="small" dirty="0"/>
              <a:t>- </a:t>
            </a:r>
            <a:r>
              <a:rPr lang="fr-CA" sz="2400" i="1" dirty="0"/>
              <a:t>suite</a:t>
            </a:r>
          </a:p>
          <a:p>
            <a:pPr marL="0" indent="0">
              <a:buNone/>
            </a:pPr>
            <a:r>
              <a:rPr lang="fr-CA" sz="2400" dirty="0"/>
              <a:t> </a:t>
            </a:r>
            <a:endParaRPr lang="fr-FR" sz="2400" dirty="0"/>
          </a:p>
          <a:p>
            <a:pPr marL="0" indent="0">
              <a:buNone/>
            </a:pPr>
            <a:r>
              <a:rPr lang="fr-CA" sz="2400" cap="small" dirty="0"/>
              <a:t>Écritures</a:t>
            </a:r>
            <a:endParaRPr lang="fr-FR" sz="2400" dirty="0"/>
          </a:p>
          <a:p>
            <a:pPr marL="0" indent="0">
              <a:buNone/>
            </a:pPr>
            <a:r>
              <a:rPr lang="fr-CA" sz="2400" u="dotted" dirty="0"/>
              <a:t>Au moment du début de la période de diffusion du documentaire – </a:t>
            </a:r>
            <a:r>
              <a:rPr lang="fr-CA" sz="2400" b="1" u="dotted" dirty="0"/>
              <a:t>1 juin 2025</a:t>
            </a:r>
            <a:endParaRPr lang="fr-FR" sz="2400" dirty="0"/>
          </a:p>
          <a:p>
            <a:pPr marL="0" indent="0">
              <a:buNone/>
            </a:pPr>
            <a:r>
              <a:rPr lang="fr-CA" sz="2400" dirty="0"/>
              <a:t>Créances client – Radio-Canada			300 000</a:t>
            </a:r>
            <a:endParaRPr lang="fr-FR" sz="2400" dirty="0"/>
          </a:p>
          <a:p>
            <a:pPr marL="0" indent="0">
              <a:buNone/>
            </a:pPr>
            <a:r>
              <a:rPr lang="fr-CA" sz="2400" dirty="0"/>
              <a:t>@ Produits - vente de droits de télédiffusion			300 000</a:t>
            </a:r>
            <a:endParaRPr lang="fr-FR" sz="2400" dirty="0"/>
          </a:p>
          <a:p>
            <a:pPr marL="0" indent="0">
              <a:buNone/>
            </a:pPr>
            <a:endParaRPr lang="fr-FR" sz="8000" dirty="0"/>
          </a:p>
        </p:txBody>
      </p:sp>
    </p:spTree>
    <p:extLst>
      <p:ext uri="{BB962C8B-B14F-4D97-AF65-F5344CB8AC3E}">
        <p14:creationId xmlns:p14="http://schemas.microsoft.com/office/powerpoint/2010/main" val="18207709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CCB8CC-7E17-4264-953B-F85DA9DFF679}"/>
              </a:ext>
            </a:extLst>
          </p:cNvPr>
          <p:cNvSpPr>
            <a:spLocks noGrp="1"/>
          </p:cNvSpPr>
          <p:nvPr>
            <p:ph type="title"/>
          </p:nvPr>
        </p:nvSpPr>
        <p:spPr/>
        <p:txBody>
          <a:bodyPr>
            <a:normAutofit/>
          </a:bodyPr>
          <a:lstStyle/>
          <a:p>
            <a:r>
              <a:rPr lang="fr-CA" sz="3200" b="1" dirty="0"/>
              <a:t>2. Vente de droits</a:t>
            </a:r>
            <a:endParaRPr lang="fr-FR" sz="3200" b="1" dirty="0"/>
          </a:p>
        </p:txBody>
      </p:sp>
      <p:sp>
        <p:nvSpPr>
          <p:cNvPr id="3" name="Espace réservé du contenu 2">
            <a:extLst>
              <a:ext uri="{FF2B5EF4-FFF2-40B4-BE49-F238E27FC236}">
                <a16:creationId xmlns:a16="http://schemas.microsoft.com/office/drawing/2014/main" id="{AD931758-AB16-4107-8AB0-2EC868726B5C}"/>
              </a:ext>
            </a:extLst>
          </p:cNvPr>
          <p:cNvSpPr>
            <a:spLocks noGrp="1"/>
          </p:cNvSpPr>
          <p:nvPr>
            <p:ph idx="1"/>
          </p:nvPr>
        </p:nvSpPr>
        <p:spPr/>
        <p:txBody>
          <a:bodyPr>
            <a:normAutofit fontScale="25000" lnSpcReduction="20000"/>
          </a:bodyPr>
          <a:lstStyle/>
          <a:p>
            <a:pPr marL="0" indent="0">
              <a:buNone/>
            </a:pPr>
            <a:r>
              <a:rPr lang="fr-CA" sz="8000" b="1" cap="small" dirty="0"/>
              <a:t>Vente de droits à la BBC</a:t>
            </a:r>
            <a:endParaRPr lang="fr-FR" sz="8000" b="1" dirty="0"/>
          </a:p>
          <a:p>
            <a:pPr marL="0" indent="0">
              <a:buNone/>
            </a:pPr>
            <a:r>
              <a:rPr lang="fr-CA" sz="8000" dirty="0"/>
              <a:t> </a:t>
            </a:r>
            <a:endParaRPr lang="fr-FR" sz="8000" dirty="0"/>
          </a:p>
          <a:p>
            <a:pPr marL="0" indent="0">
              <a:buNone/>
            </a:pPr>
            <a:r>
              <a:rPr lang="fr-CA" sz="8000" cap="small" dirty="0"/>
              <a:t>Nature de l’entente avec la BBC</a:t>
            </a:r>
            <a:endParaRPr lang="fr-FR" sz="8000" dirty="0"/>
          </a:p>
          <a:p>
            <a:pPr marL="0" indent="0">
              <a:buNone/>
            </a:pPr>
            <a:r>
              <a:rPr lang="fr-CA" sz="8000" dirty="0"/>
              <a:t>L’octroi de cette licence constitue une </a:t>
            </a:r>
            <a:r>
              <a:rPr lang="fr-CA" sz="8000" b="1" dirty="0"/>
              <a:t>obligation de prestation distincte</a:t>
            </a:r>
            <a:r>
              <a:rPr lang="fr-CA" sz="8000" dirty="0"/>
              <a:t> car le Cirque promet de fournir à la BBC un bien distinct, soit un droit de diffuser un documentaire.</a:t>
            </a:r>
            <a:endParaRPr lang="fr-FR" sz="8000" dirty="0"/>
          </a:p>
          <a:p>
            <a:pPr marL="0" indent="0">
              <a:buNone/>
            </a:pPr>
            <a:r>
              <a:rPr lang="fr-CA" sz="8000" dirty="0"/>
              <a:t>Le Cirque doit d’abord déterminer si la licence est fournie à la BBC à un moment précis ou progressivement. (</a:t>
            </a:r>
            <a:r>
              <a:rPr lang="en-US" sz="8000" dirty="0"/>
              <a:t>IFRS 15-B56</a:t>
            </a:r>
            <a:r>
              <a:rPr lang="fr-FR" sz="8000" dirty="0"/>
              <a:t>)</a:t>
            </a:r>
          </a:p>
          <a:p>
            <a:pPr marL="0" indent="0">
              <a:buNone/>
            </a:pPr>
            <a:r>
              <a:rPr lang="fr-CA" sz="8000" dirty="0"/>
              <a:t>Le Cirque accorde un </a:t>
            </a:r>
            <a:r>
              <a:rPr lang="fr-CA" sz="8000" b="1" dirty="0"/>
              <a:t>droit d’utilisation</a:t>
            </a:r>
            <a:r>
              <a:rPr lang="fr-CA" sz="8000" dirty="0"/>
              <a:t> parce que la BBC peut décider de l'utilisation de la licence et en tirer la quasi-totalité des avantages restants, au </a:t>
            </a:r>
            <a:r>
              <a:rPr lang="fr-CA" sz="8000" b="1" dirty="0"/>
              <a:t>moment précis</a:t>
            </a:r>
            <a:r>
              <a:rPr lang="fr-CA" sz="8000" dirty="0"/>
              <a:t> où la licence lui est octroyée. Pendant la période d’octroi des droits, le Cirque n’entreprendra pas d’activités qui pourraient modifier considérablement la forme du documentaire (</a:t>
            </a:r>
            <a:r>
              <a:rPr lang="en-US" sz="8000" dirty="0"/>
              <a:t>IFRS 15-B59Aa)</a:t>
            </a:r>
            <a:r>
              <a:rPr lang="fr-CA" sz="8000" dirty="0"/>
              <a:t>) Critère non respecté.</a:t>
            </a:r>
            <a:endParaRPr lang="fr-FR" sz="8000" dirty="0"/>
          </a:p>
          <a:p>
            <a:pPr marL="0" indent="0">
              <a:buNone/>
            </a:pPr>
            <a:r>
              <a:rPr lang="fr-CA" sz="8000" dirty="0"/>
              <a:t>Comme le premier critère n’est pas respecté, le Cirque doit comptabiliser la promesse d'accorder le droit d'utiliser sa propriété intellectuelle comme une obligation de prestation remplie à un </a:t>
            </a:r>
            <a:r>
              <a:rPr lang="fr-CA" sz="8000" b="1" dirty="0"/>
              <a:t>moment précis (</a:t>
            </a:r>
            <a:r>
              <a:rPr lang="en-US" sz="8000" dirty="0"/>
              <a:t>IFRS 15-57).</a:t>
            </a:r>
            <a:endParaRPr lang="fr-FR" sz="8000" dirty="0"/>
          </a:p>
          <a:p>
            <a:pPr marL="0" indent="0">
              <a:buNone/>
            </a:pPr>
            <a:endParaRPr lang="fr-FR" sz="2000" dirty="0"/>
          </a:p>
        </p:txBody>
      </p:sp>
    </p:spTree>
    <p:extLst>
      <p:ext uri="{BB962C8B-B14F-4D97-AF65-F5344CB8AC3E}">
        <p14:creationId xmlns:p14="http://schemas.microsoft.com/office/powerpoint/2010/main" val="23408942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CCB8CC-7E17-4264-953B-F85DA9DFF679}"/>
              </a:ext>
            </a:extLst>
          </p:cNvPr>
          <p:cNvSpPr>
            <a:spLocks noGrp="1"/>
          </p:cNvSpPr>
          <p:nvPr>
            <p:ph type="title"/>
          </p:nvPr>
        </p:nvSpPr>
        <p:spPr/>
        <p:txBody>
          <a:bodyPr>
            <a:normAutofit/>
          </a:bodyPr>
          <a:lstStyle/>
          <a:p>
            <a:r>
              <a:rPr lang="fr-CA" sz="3200" b="1" dirty="0"/>
              <a:t>2. Vente de droits</a:t>
            </a:r>
            <a:endParaRPr lang="fr-FR" sz="3200" b="1" dirty="0"/>
          </a:p>
        </p:txBody>
      </p:sp>
      <p:sp>
        <p:nvSpPr>
          <p:cNvPr id="3" name="Espace réservé du contenu 2">
            <a:extLst>
              <a:ext uri="{FF2B5EF4-FFF2-40B4-BE49-F238E27FC236}">
                <a16:creationId xmlns:a16="http://schemas.microsoft.com/office/drawing/2014/main" id="{AD931758-AB16-4107-8AB0-2EC868726B5C}"/>
              </a:ext>
            </a:extLst>
          </p:cNvPr>
          <p:cNvSpPr>
            <a:spLocks noGrp="1"/>
          </p:cNvSpPr>
          <p:nvPr>
            <p:ph idx="1"/>
          </p:nvPr>
        </p:nvSpPr>
        <p:spPr/>
        <p:txBody>
          <a:bodyPr>
            <a:normAutofit fontScale="32500" lnSpcReduction="20000"/>
          </a:bodyPr>
          <a:lstStyle/>
          <a:p>
            <a:pPr marL="0" indent="0">
              <a:buNone/>
            </a:pPr>
            <a:r>
              <a:rPr lang="fr-CA" sz="8000" b="1" cap="small" dirty="0"/>
              <a:t>Vente de droits à la BBC   </a:t>
            </a:r>
            <a:r>
              <a:rPr lang="fr-CA" sz="8000" b="1" i="1" cap="small" dirty="0"/>
              <a:t>- </a:t>
            </a:r>
            <a:r>
              <a:rPr lang="fr-CA" sz="8000" i="1" dirty="0"/>
              <a:t>suite</a:t>
            </a:r>
            <a:endParaRPr lang="fr-FR" sz="8000" i="1" dirty="0"/>
          </a:p>
          <a:p>
            <a:pPr marL="0" indent="0">
              <a:buNone/>
            </a:pPr>
            <a:r>
              <a:rPr lang="fr-CA" sz="6200" dirty="0"/>
              <a:t> </a:t>
            </a:r>
            <a:endParaRPr lang="fr-FR" sz="6200" dirty="0"/>
          </a:p>
          <a:p>
            <a:pPr marL="0" indent="0">
              <a:buNone/>
            </a:pPr>
            <a:r>
              <a:rPr lang="fr-CA" sz="6200" dirty="0"/>
              <a:t>Le Cirque comptabilise des produits au </a:t>
            </a:r>
            <a:r>
              <a:rPr lang="fr-CA" sz="6200" b="1" dirty="0"/>
              <a:t>moment précis</a:t>
            </a:r>
            <a:r>
              <a:rPr lang="fr-CA" sz="6200" dirty="0"/>
              <a:t> où les droits sont transférés à la BBC. L’actif sera transféré lorsque la BBC aura obtenu le contrôle. Il faut analyser les critères suivants pour établir ce moment :</a:t>
            </a:r>
            <a:endParaRPr lang="fr-FR" sz="6200" dirty="0"/>
          </a:p>
          <a:p>
            <a:pPr marL="0" indent="0">
              <a:buNone/>
            </a:pPr>
            <a:r>
              <a:rPr lang="fr-CA" sz="6200" dirty="0"/>
              <a:t>Le Cirque aura un </a:t>
            </a:r>
            <a:r>
              <a:rPr lang="fr-CA" sz="6200" b="1" dirty="0"/>
              <a:t>droit actuel à un paiement</a:t>
            </a:r>
            <a:r>
              <a:rPr lang="fr-CA" sz="6200" dirty="0"/>
              <a:t> au titre de l'actif le </a:t>
            </a:r>
            <a:r>
              <a:rPr lang="fr-CA" sz="6200" b="1" dirty="0"/>
              <a:t>15 mai 2025</a:t>
            </a:r>
            <a:r>
              <a:rPr lang="fr-CA" sz="6200" dirty="0"/>
              <a:t> car la BBC aura reçu le documentaire et que la période de diffusion aura commencée. (</a:t>
            </a:r>
            <a:r>
              <a:rPr lang="en-US" sz="6200" dirty="0"/>
              <a:t>IFRS 15-38a)</a:t>
            </a:r>
            <a:r>
              <a:rPr lang="fr-FR" sz="6200" dirty="0"/>
              <a:t>)</a:t>
            </a:r>
          </a:p>
          <a:p>
            <a:pPr marL="0" indent="0">
              <a:buNone/>
            </a:pPr>
            <a:r>
              <a:rPr lang="fr-CA" sz="6200" dirty="0"/>
              <a:t>La BBC exploitera ces droits librement à compter du</a:t>
            </a:r>
            <a:r>
              <a:rPr lang="fr-CA" sz="6200" b="1" dirty="0"/>
              <a:t> 15 mai 2025</a:t>
            </a:r>
            <a:r>
              <a:rPr lang="fr-CA" sz="6200" dirty="0"/>
              <a:t> car c’est à ce moment-là que débute le droit de diffuser le documentaire autant de fois qu’elle le souhaite. On peut dire que c’est à ce moment-là que la BBC est </a:t>
            </a:r>
            <a:r>
              <a:rPr lang="fr-CA" sz="6200" b="1" dirty="0"/>
              <a:t>propriétaire des droits</a:t>
            </a:r>
            <a:r>
              <a:rPr lang="fr-CA" sz="6200" dirty="0"/>
              <a:t> sur le documentaire. </a:t>
            </a:r>
            <a:endParaRPr lang="fr-FR" sz="6200" dirty="0"/>
          </a:p>
          <a:p>
            <a:pPr marL="0" indent="0">
              <a:buNone/>
            </a:pPr>
            <a:r>
              <a:rPr lang="fr-CA" sz="6200" dirty="0"/>
              <a:t>À compter du </a:t>
            </a:r>
            <a:r>
              <a:rPr lang="fr-CA" sz="6200" b="1" dirty="0"/>
              <a:t>15 mai 2025</a:t>
            </a:r>
            <a:r>
              <a:rPr lang="fr-CA" sz="6200" dirty="0"/>
              <a:t>, la BBC a la </a:t>
            </a:r>
            <a:r>
              <a:rPr lang="fr-CA" sz="6200" b="1" dirty="0"/>
              <a:t>capacité de diffuser</a:t>
            </a:r>
            <a:r>
              <a:rPr lang="fr-CA" sz="6200" dirty="0"/>
              <a:t> le documentaire et d'en tirer les revenus publicitaires. </a:t>
            </a:r>
            <a:r>
              <a:rPr lang="en-US" sz="6200" dirty="0"/>
              <a:t>IFRS 15-38d)</a:t>
            </a:r>
            <a:endParaRPr lang="fr-FR" sz="6200" dirty="0"/>
          </a:p>
          <a:p>
            <a:pPr marL="0" indent="0">
              <a:buNone/>
            </a:pPr>
            <a:r>
              <a:rPr lang="fr-CA" sz="6200" dirty="0"/>
              <a:t>Je suppose que la BBC aura </a:t>
            </a:r>
            <a:r>
              <a:rPr lang="fr-CA" sz="6200" b="1" dirty="0"/>
              <a:t>accepté l’actif</a:t>
            </a:r>
            <a:r>
              <a:rPr lang="fr-CA" sz="6200" dirty="0"/>
              <a:t> au moment de la livraison.</a:t>
            </a:r>
            <a:endParaRPr lang="fr-FR" sz="6200" dirty="0"/>
          </a:p>
          <a:p>
            <a:pPr marL="0" indent="0">
              <a:buNone/>
            </a:pPr>
            <a:endParaRPr lang="fr-FR" sz="2000" dirty="0"/>
          </a:p>
        </p:txBody>
      </p:sp>
    </p:spTree>
    <p:extLst>
      <p:ext uri="{BB962C8B-B14F-4D97-AF65-F5344CB8AC3E}">
        <p14:creationId xmlns:p14="http://schemas.microsoft.com/office/powerpoint/2010/main" val="10640535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CCB8CC-7E17-4264-953B-F85DA9DFF679}"/>
              </a:ext>
            </a:extLst>
          </p:cNvPr>
          <p:cNvSpPr>
            <a:spLocks noGrp="1"/>
          </p:cNvSpPr>
          <p:nvPr>
            <p:ph type="title"/>
          </p:nvPr>
        </p:nvSpPr>
        <p:spPr/>
        <p:txBody>
          <a:bodyPr>
            <a:normAutofit/>
          </a:bodyPr>
          <a:lstStyle/>
          <a:p>
            <a:r>
              <a:rPr lang="fr-CA" sz="3200" b="1" dirty="0"/>
              <a:t>2. Vente de droits</a:t>
            </a:r>
            <a:endParaRPr lang="fr-FR" sz="3200" b="1" dirty="0"/>
          </a:p>
        </p:txBody>
      </p:sp>
      <p:sp>
        <p:nvSpPr>
          <p:cNvPr id="3" name="Espace réservé du contenu 2">
            <a:extLst>
              <a:ext uri="{FF2B5EF4-FFF2-40B4-BE49-F238E27FC236}">
                <a16:creationId xmlns:a16="http://schemas.microsoft.com/office/drawing/2014/main" id="{AD931758-AB16-4107-8AB0-2EC868726B5C}"/>
              </a:ext>
            </a:extLst>
          </p:cNvPr>
          <p:cNvSpPr>
            <a:spLocks noGrp="1"/>
          </p:cNvSpPr>
          <p:nvPr>
            <p:ph idx="1"/>
          </p:nvPr>
        </p:nvSpPr>
        <p:spPr/>
        <p:txBody>
          <a:bodyPr>
            <a:normAutofit fontScale="25000" lnSpcReduction="20000"/>
          </a:bodyPr>
          <a:lstStyle/>
          <a:p>
            <a:pPr marL="0" indent="0">
              <a:buNone/>
            </a:pPr>
            <a:r>
              <a:rPr lang="fr-CA" sz="8000" b="1" cap="small" dirty="0"/>
              <a:t>Vente de droits à la BBC </a:t>
            </a:r>
            <a:r>
              <a:rPr lang="fr-CA" sz="8000" b="1" i="1" cap="small" dirty="0"/>
              <a:t>- </a:t>
            </a:r>
            <a:r>
              <a:rPr lang="fr-CA" sz="8000" i="1" dirty="0"/>
              <a:t>suite </a:t>
            </a:r>
            <a:r>
              <a:rPr lang="fr-CA" sz="6200" dirty="0"/>
              <a:t> </a:t>
            </a:r>
            <a:endParaRPr lang="fr-FR" sz="6200" dirty="0"/>
          </a:p>
          <a:p>
            <a:pPr marL="0" indent="0">
              <a:buNone/>
            </a:pPr>
            <a:r>
              <a:rPr lang="fr-CA" sz="8000" cap="small" dirty="0"/>
              <a:t>Conclusion</a:t>
            </a:r>
            <a:endParaRPr lang="fr-FR" sz="8000" dirty="0"/>
          </a:p>
          <a:p>
            <a:pPr marL="0" indent="0">
              <a:buNone/>
            </a:pPr>
            <a:r>
              <a:rPr lang="fr-CA" sz="8000" dirty="0"/>
              <a:t>En substance, le </a:t>
            </a:r>
            <a:r>
              <a:rPr lang="fr-CA" sz="8000" b="1" dirty="0"/>
              <a:t>moment précis</a:t>
            </a:r>
            <a:r>
              <a:rPr lang="fr-CA" sz="8000" dirty="0"/>
              <a:t> de la vente des droits de diffusion sera le moment où la BBC aura le droit de diffuser le documentaire, soit le </a:t>
            </a:r>
            <a:r>
              <a:rPr lang="fr-CA" sz="8000" b="1" dirty="0"/>
              <a:t>15 mai 2025</a:t>
            </a:r>
            <a:r>
              <a:rPr lang="fr-CA" sz="8000" dirty="0"/>
              <a:t>. C’est à ce moment-là qu’on comptabilisera les produits en résultats. </a:t>
            </a:r>
            <a:endParaRPr lang="fr-FR" sz="8000" dirty="0"/>
          </a:p>
          <a:p>
            <a:pPr marL="0" indent="0">
              <a:buNone/>
            </a:pPr>
            <a:r>
              <a:rPr lang="fr-CA" sz="8000" dirty="0"/>
              <a:t> Le contrat avec la BBC prévoit un montant fixe de 150 000 $ et un montant variable.</a:t>
            </a:r>
            <a:endParaRPr lang="fr-FR" sz="8000" dirty="0"/>
          </a:p>
          <a:p>
            <a:pPr marL="0" indent="0">
              <a:buNone/>
            </a:pPr>
            <a:r>
              <a:rPr lang="fr-CA" sz="8000" dirty="0"/>
              <a:t> </a:t>
            </a:r>
            <a:endParaRPr lang="fr-FR" sz="8000" dirty="0"/>
          </a:p>
          <a:p>
            <a:pPr marL="0" indent="0">
              <a:buNone/>
            </a:pPr>
            <a:r>
              <a:rPr lang="fr-CA" sz="8000" cap="small" dirty="0"/>
              <a:t>à quel moment comptabilise-t-on la redevance en fonction des ventes?</a:t>
            </a:r>
            <a:endParaRPr lang="fr-FR" sz="8000" dirty="0"/>
          </a:p>
          <a:p>
            <a:pPr marL="0" indent="0">
              <a:buNone/>
            </a:pPr>
            <a:r>
              <a:rPr lang="fr-CA" sz="8000" dirty="0"/>
              <a:t>Le Cirque doit comptabiliser des produits des activités ordinaires au titre d'une redevance établie en fonction des ventes de publicité en échange du droit de diffuser le documentaire uniquement lorsque la BBC aura vendu la publicité.</a:t>
            </a:r>
            <a:endParaRPr lang="fr-FR" sz="8000" dirty="0"/>
          </a:p>
          <a:p>
            <a:pPr marL="0" indent="0">
              <a:buNone/>
            </a:pPr>
            <a:r>
              <a:rPr lang="fr-CA" sz="8000" dirty="0"/>
              <a:t>Au moment de la signature du contrat, la BBC n’a pas encore réalisé la vente de publicité. Celle-ci sera complétée lorsque les cotes d’écoutes seront connues. C’est à ce moment-là que le montant de ses revenus sera connu ainsi que la redevance qui nous est due.</a:t>
            </a:r>
            <a:endParaRPr lang="fr-FR" sz="8000" dirty="0"/>
          </a:p>
          <a:p>
            <a:pPr marL="0" indent="0">
              <a:buNone/>
            </a:pPr>
            <a:r>
              <a:rPr lang="fr-CA" sz="8000" dirty="0"/>
              <a:t> </a:t>
            </a:r>
            <a:endParaRPr lang="fr-FR" sz="8000" dirty="0"/>
          </a:p>
        </p:txBody>
      </p:sp>
    </p:spTree>
    <p:extLst>
      <p:ext uri="{BB962C8B-B14F-4D97-AF65-F5344CB8AC3E}">
        <p14:creationId xmlns:p14="http://schemas.microsoft.com/office/powerpoint/2010/main" val="42426959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CCB8CC-7E17-4264-953B-F85DA9DFF679}"/>
              </a:ext>
            </a:extLst>
          </p:cNvPr>
          <p:cNvSpPr>
            <a:spLocks noGrp="1"/>
          </p:cNvSpPr>
          <p:nvPr>
            <p:ph type="title"/>
          </p:nvPr>
        </p:nvSpPr>
        <p:spPr/>
        <p:txBody>
          <a:bodyPr>
            <a:normAutofit/>
          </a:bodyPr>
          <a:lstStyle/>
          <a:p>
            <a:r>
              <a:rPr lang="fr-CA" sz="3200" b="1" dirty="0"/>
              <a:t>2. Vente de droits</a:t>
            </a:r>
            <a:endParaRPr lang="fr-FR" sz="3200" b="1" dirty="0"/>
          </a:p>
        </p:txBody>
      </p:sp>
      <p:sp>
        <p:nvSpPr>
          <p:cNvPr id="3" name="Espace réservé du contenu 2">
            <a:extLst>
              <a:ext uri="{FF2B5EF4-FFF2-40B4-BE49-F238E27FC236}">
                <a16:creationId xmlns:a16="http://schemas.microsoft.com/office/drawing/2014/main" id="{AD931758-AB16-4107-8AB0-2EC868726B5C}"/>
              </a:ext>
            </a:extLst>
          </p:cNvPr>
          <p:cNvSpPr>
            <a:spLocks noGrp="1"/>
          </p:cNvSpPr>
          <p:nvPr>
            <p:ph idx="1"/>
          </p:nvPr>
        </p:nvSpPr>
        <p:spPr/>
        <p:txBody>
          <a:bodyPr>
            <a:normAutofit/>
          </a:bodyPr>
          <a:lstStyle/>
          <a:p>
            <a:pPr marL="0" indent="0">
              <a:buNone/>
            </a:pPr>
            <a:r>
              <a:rPr lang="fr-CA" sz="2000" b="1" cap="small" dirty="0"/>
              <a:t>Vente de droits à la BBC </a:t>
            </a:r>
            <a:r>
              <a:rPr lang="fr-CA" sz="2000" b="1" i="1" cap="small" dirty="0"/>
              <a:t>- </a:t>
            </a:r>
            <a:r>
              <a:rPr lang="fr-CA" sz="2000" i="1" dirty="0"/>
              <a:t>suite </a:t>
            </a:r>
            <a:r>
              <a:rPr lang="fr-CA" sz="2000" dirty="0"/>
              <a:t> </a:t>
            </a:r>
            <a:endParaRPr lang="fr-FR" sz="2000" dirty="0"/>
          </a:p>
          <a:p>
            <a:pPr marL="0" indent="0">
              <a:buNone/>
            </a:pPr>
            <a:r>
              <a:rPr lang="fr-CA" sz="2000" cap="small" dirty="0"/>
              <a:t>Conclusion</a:t>
            </a:r>
            <a:endParaRPr lang="fr-FR" sz="2000" dirty="0"/>
          </a:p>
          <a:p>
            <a:pPr marL="0" indent="0">
              <a:buNone/>
            </a:pPr>
            <a:r>
              <a:rPr lang="fr-CA" sz="2000" dirty="0"/>
              <a:t>En substance, le moment précis de la vente des droits de diffusion est le moment où la BBC a le droit de diffuser le documentaire. C’est à ce moment-là qu’on comptabilisera les produits en résultats. </a:t>
            </a:r>
            <a:endParaRPr lang="fr-FR" sz="2000" dirty="0"/>
          </a:p>
          <a:p>
            <a:pPr marL="0" indent="0">
              <a:buNone/>
            </a:pPr>
            <a:r>
              <a:rPr lang="fr-CA" sz="2000" dirty="0"/>
              <a:t>Au moment de la livraison du documentaire, comme la période de diffusion officielle a débuté, on inscrira un produit de l’exercice. Pour ce qui est de la redevance établie en fonction des revenus de publicité encaissés par le BBC, nous attendrons de connaître les revenus de publicité de la BBC avant de comptabiliser la portion qui nous reviendra.</a:t>
            </a:r>
            <a:endParaRPr lang="fr-FR" sz="2200" dirty="0"/>
          </a:p>
          <a:p>
            <a:pPr marL="0" indent="0">
              <a:buNone/>
            </a:pPr>
            <a:r>
              <a:rPr lang="fr-CA" sz="2600" dirty="0"/>
              <a:t> </a:t>
            </a:r>
            <a:endParaRPr lang="fr-FR" sz="2600" dirty="0"/>
          </a:p>
        </p:txBody>
      </p:sp>
    </p:spTree>
    <p:extLst>
      <p:ext uri="{BB962C8B-B14F-4D97-AF65-F5344CB8AC3E}">
        <p14:creationId xmlns:p14="http://schemas.microsoft.com/office/powerpoint/2010/main" val="21217709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CCB8CC-7E17-4264-953B-F85DA9DFF679}"/>
              </a:ext>
            </a:extLst>
          </p:cNvPr>
          <p:cNvSpPr>
            <a:spLocks noGrp="1"/>
          </p:cNvSpPr>
          <p:nvPr>
            <p:ph type="title"/>
          </p:nvPr>
        </p:nvSpPr>
        <p:spPr/>
        <p:txBody>
          <a:bodyPr>
            <a:normAutofit/>
          </a:bodyPr>
          <a:lstStyle/>
          <a:p>
            <a:r>
              <a:rPr lang="fr-CA" sz="3200" b="1" dirty="0"/>
              <a:t>2. Vente de droits</a:t>
            </a:r>
            <a:endParaRPr lang="fr-FR" sz="3200" b="1" dirty="0"/>
          </a:p>
        </p:txBody>
      </p:sp>
      <p:sp>
        <p:nvSpPr>
          <p:cNvPr id="3" name="Espace réservé du contenu 2">
            <a:extLst>
              <a:ext uri="{FF2B5EF4-FFF2-40B4-BE49-F238E27FC236}">
                <a16:creationId xmlns:a16="http://schemas.microsoft.com/office/drawing/2014/main" id="{AD931758-AB16-4107-8AB0-2EC868726B5C}"/>
              </a:ext>
            </a:extLst>
          </p:cNvPr>
          <p:cNvSpPr>
            <a:spLocks noGrp="1"/>
          </p:cNvSpPr>
          <p:nvPr>
            <p:ph idx="1"/>
          </p:nvPr>
        </p:nvSpPr>
        <p:spPr/>
        <p:txBody>
          <a:bodyPr>
            <a:normAutofit fontScale="25000" lnSpcReduction="20000"/>
          </a:bodyPr>
          <a:lstStyle/>
          <a:p>
            <a:pPr marL="0" indent="0">
              <a:buNone/>
            </a:pPr>
            <a:r>
              <a:rPr lang="fr-CA" sz="8000" b="1" cap="small" dirty="0"/>
              <a:t>Vente de droits à la BBC   </a:t>
            </a:r>
            <a:r>
              <a:rPr lang="fr-CA" sz="8000" i="1" dirty="0"/>
              <a:t>(suite)</a:t>
            </a:r>
            <a:endParaRPr lang="fr-FR" sz="8000" i="1" dirty="0"/>
          </a:p>
          <a:p>
            <a:pPr marL="0" indent="0">
              <a:buNone/>
            </a:pPr>
            <a:r>
              <a:rPr lang="fr-CA" sz="6200" dirty="0"/>
              <a:t> </a:t>
            </a:r>
            <a:endParaRPr lang="fr-FR" sz="6200" dirty="0"/>
          </a:p>
          <a:p>
            <a:pPr marL="0" indent="0">
              <a:buNone/>
            </a:pPr>
            <a:r>
              <a:rPr lang="fr-CA" sz="8000" cap="small" dirty="0"/>
              <a:t>Écritures</a:t>
            </a:r>
            <a:endParaRPr lang="fr-FR" sz="8000" dirty="0"/>
          </a:p>
          <a:p>
            <a:pPr marL="0" indent="0">
              <a:buNone/>
            </a:pPr>
            <a:r>
              <a:rPr lang="fr-CA" sz="8000" u="dotted" dirty="0"/>
              <a:t>Au moment de la livraison qui coïncide avec le début de la période de diffusion du documentaire – 15 mai 2025</a:t>
            </a:r>
            <a:endParaRPr lang="fr-FR" sz="8000" dirty="0"/>
          </a:p>
          <a:p>
            <a:pPr marL="0" indent="0">
              <a:buNone/>
            </a:pPr>
            <a:r>
              <a:rPr lang="fr-CA" sz="3200" dirty="0"/>
              <a:t> </a:t>
            </a:r>
            <a:endParaRPr lang="fr-FR" sz="3200" dirty="0"/>
          </a:p>
          <a:p>
            <a:pPr marL="0" indent="0">
              <a:buNone/>
            </a:pPr>
            <a:r>
              <a:rPr lang="fr-CA" sz="8000" dirty="0"/>
              <a:t>Créances clients – BBC				150 000</a:t>
            </a:r>
            <a:endParaRPr lang="fr-FR" sz="8000" dirty="0"/>
          </a:p>
          <a:p>
            <a:pPr marL="0" indent="0">
              <a:buNone/>
            </a:pPr>
            <a:r>
              <a:rPr lang="fr-CA" sz="8000" dirty="0"/>
              <a:t>@ Produits – vente de droits de télédiffusion		150 000</a:t>
            </a:r>
            <a:endParaRPr lang="fr-FR" sz="8000" dirty="0"/>
          </a:p>
          <a:p>
            <a:pPr marL="0" indent="0">
              <a:buNone/>
            </a:pPr>
            <a:r>
              <a:rPr lang="fr-CA" sz="8000" dirty="0"/>
              <a:t> </a:t>
            </a:r>
            <a:endParaRPr lang="fr-FR" sz="8000" dirty="0"/>
          </a:p>
          <a:p>
            <a:pPr marL="0" indent="0">
              <a:buNone/>
            </a:pPr>
            <a:r>
              <a:rPr lang="fr-CA" sz="8000" u="dotted" dirty="0"/>
              <a:t>Au moment de chaque diffusion</a:t>
            </a:r>
            <a:endParaRPr lang="fr-FR" sz="8000" dirty="0"/>
          </a:p>
          <a:p>
            <a:pPr marL="0" indent="0">
              <a:buNone/>
            </a:pPr>
            <a:r>
              <a:rPr lang="fr-CA" sz="8000" dirty="0"/>
              <a:t>Créances clients – BBC				XX</a:t>
            </a:r>
            <a:endParaRPr lang="fr-FR" sz="8000" dirty="0"/>
          </a:p>
          <a:p>
            <a:pPr marL="0" indent="0">
              <a:buNone/>
            </a:pPr>
            <a:r>
              <a:rPr lang="fr-CA" sz="8000" dirty="0"/>
              <a:t>@ Produits – vente de droits de télédiffusion		XX</a:t>
            </a:r>
            <a:endParaRPr lang="fr-FR" sz="8000" dirty="0"/>
          </a:p>
          <a:p>
            <a:pPr marL="0" indent="0">
              <a:buNone/>
            </a:pPr>
            <a:r>
              <a:rPr lang="fr-CA" sz="8000" dirty="0"/>
              <a:t>Pour comptabiliser 20 % des revenus de publicité encaissés par la BBC pendant la diffusion du documentaire. La contrepartie variable ne peut être estimée avant la diffusion du documentaire car c’est à ce moment-là que la BBC connaîtra ses revenus publicitaires.</a:t>
            </a:r>
            <a:endParaRPr lang="fr-FR" sz="8000" dirty="0"/>
          </a:p>
          <a:p>
            <a:pPr marL="0" indent="0">
              <a:buNone/>
            </a:pPr>
            <a:endParaRPr lang="fr-FR" sz="8000" dirty="0"/>
          </a:p>
          <a:p>
            <a:pPr marL="0" indent="0">
              <a:buNone/>
            </a:pPr>
            <a:r>
              <a:rPr lang="fr-CA" sz="8000" dirty="0"/>
              <a:t> </a:t>
            </a:r>
            <a:endParaRPr lang="fr-FR" sz="2000" dirty="0"/>
          </a:p>
        </p:txBody>
      </p:sp>
    </p:spTree>
    <p:extLst>
      <p:ext uri="{BB962C8B-B14F-4D97-AF65-F5344CB8AC3E}">
        <p14:creationId xmlns:p14="http://schemas.microsoft.com/office/powerpoint/2010/main" val="20371156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CA1FD6-4AC4-452E-813D-505C63A8343E}"/>
              </a:ext>
            </a:extLst>
          </p:cNvPr>
          <p:cNvSpPr>
            <a:spLocks noGrp="1"/>
          </p:cNvSpPr>
          <p:nvPr>
            <p:ph type="title"/>
          </p:nvPr>
        </p:nvSpPr>
        <p:spPr/>
        <p:txBody>
          <a:bodyPr/>
          <a:lstStyle/>
          <a:p>
            <a:r>
              <a:rPr lang="fr-CA" b="1" dirty="0">
                <a:solidFill>
                  <a:srgbClr val="FF0000"/>
                </a:solidFill>
              </a:rPr>
              <a:t>3. Costumes</a:t>
            </a:r>
            <a:endParaRPr lang="fr-FR" b="1" dirty="0">
              <a:solidFill>
                <a:srgbClr val="FF0000"/>
              </a:solidFill>
            </a:endParaRPr>
          </a:p>
        </p:txBody>
      </p:sp>
      <p:sp>
        <p:nvSpPr>
          <p:cNvPr id="3" name="Espace réservé du contenu 2">
            <a:extLst>
              <a:ext uri="{FF2B5EF4-FFF2-40B4-BE49-F238E27FC236}">
                <a16:creationId xmlns:a16="http://schemas.microsoft.com/office/drawing/2014/main" id="{08122039-2770-4F9C-BC21-FB5334B1800E}"/>
              </a:ext>
            </a:extLst>
          </p:cNvPr>
          <p:cNvSpPr>
            <a:spLocks noGrp="1"/>
          </p:cNvSpPr>
          <p:nvPr>
            <p:ph idx="1"/>
          </p:nvPr>
        </p:nvSpPr>
        <p:spPr/>
        <p:txBody>
          <a:bodyPr>
            <a:normAutofit fontScale="32500" lnSpcReduction="20000"/>
          </a:bodyPr>
          <a:lstStyle/>
          <a:p>
            <a:pPr marL="0" indent="0">
              <a:buNone/>
            </a:pPr>
            <a:r>
              <a:rPr lang="fr-CA" sz="8000" dirty="0"/>
              <a:t> </a:t>
            </a:r>
            <a:r>
              <a:rPr lang="fr-CA" sz="8000" cap="small" dirty="0"/>
              <a:t>Problématique</a:t>
            </a:r>
            <a:endParaRPr lang="fr-FR" sz="8000" dirty="0"/>
          </a:p>
          <a:p>
            <a:pPr marL="0" indent="0">
              <a:buNone/>
            </a:pPr>
            <a:r>
              <a:rPr lang="fr-CA" sz="8000" dirty="0"/>
              <a:t> Costumes : stocks ou immobilisation corporelle?</a:t>
            </a:r>
            <a:endParaRPr lang="fr-FR" sz="8000" dirty="0"/>
          </a:p>
          <a:p>
            <a:pPr marL="0" indent="0">
              <a:buNone/>
            </a:pPr>
            <a:r>
              <a:rPr lang="fr-CA" sz="8000" dirty="0"/>
              <a:t> </a:t>
            </a:r>
            <a:endParaRPr lang="fr-FR" sz="8000" dirty="0"/>
          </a:p>
          <a:p>
            <a:pPr marL="0" indent="0">
              <a:buNone/>
            </a:pPr>
            <a:r>
              <a:rPr lang="fr-CA" sz="8000" cap="small" dirty="0"/>
              <a:t>Analyse</a:t>
            </a:r>
            <a:endParaRPr lang="fr-FR" sz="8000" dirty="0"/>
          </a:p>
          <a:p>
            <a:pPr marL="0" indent="0">
              <a:buNone/>
            </a:pPr>
            <a:r>
              <a:rPr lang="fr-CA" sz="8000" dirty="0"/>
              <a:t>Définition stocks / immobilisation corporelle </a:t>
            </a:r>
            <a:r>
              <a:rPr lang="fr-CA" sz="8000" i="1" dirty="0"/>
              <a:t>(enjeu nature – quelle norme s’applique)</a:t>
            </a:r>
            <a:endParaRPr lang="fr-FR" sz="8000" dirty="0"/>
          </a:p>
          <a:p>
            <a:pPr marL="0" indent="0">
              <a:buNone/>
            </a:pPr>
            <a:r>
              <a:rPr lang="fr-CA" sz="8000" dirty="0"/>
              <a:t>Conclut que les costumes sont des immobilisations corporelles : costumes utilisés pour les spectacles</a:t>
            </a:r>
            <a:endParaRPr lang="fr-FR" sz="8000" dirty="0"/>
          </a:p>
          <a:p>
            <a:r>
              <a:rPr lang="fr-CA" sz="8000" dirty="0"/>
              <a:t>Amortissement linéaire sur 3 ans, en considérant valeur résiduelle</a:t>
            </a:r>
            <a:endParaRPr lang="fr-FR" sz="8000" dirty="0"/>
          </a:p>
          <a:p>
            <a:r>
              <a:rPr lang="fr-CA" sz="8000" dirty="0"/>
              <a:t>À la vente, gain / perte sur disposition d’immobilisation corporelle</a:t>
            </a:r>
            <a:endParaRPr lang="fr-FR" sz="8000" dirty="0"/>
          </a:p>
          <a:p>
            <a:pPr marL="0" indent="0">
              <a:buNone/>
            </a:pPr>
            <a:r>
              <a:rPr lang="fr-CA" sz="8000" dirty="0"/>
              <a:t> </a:t>
            </a:r>
            <a:endParaRPr lang="fr-FR" sz="8000" dirty="0"/>
          </a:p>
          <a:p>
            <a:pPr marL="0" indent="0">
              <a:buNone/>
            </a:pPr>
            <a:endParaRPr lang="fr-FR" dirty="0"/>
          </a:p>
        </p:txBody>
      </p:sp>
    </p:spTree>
    <p:extLst>
      <p:ext uri="{BB962C8B-B14F-4D97-AF65-F5344CB8AC3E}">
        <p14:creationId xmlns:p14="http://schemas.microsoft.com/office/powerpoint/2010/main" val="18739154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BD1628-57CA-463B-A7A6-C5D8251E013D}"/>
              </a:ext>
            </a:extLst>
          </p:cNvPr>
          <p:cNvSpPr>
            <a:spLocks noGrp="1"/>
          </p:cNvSpPr>
          <p:nvPr>
            <p:ph type="title"/>
          </p:nvPr>
        </p:nvSpPr>
        <p:spPr/>
        <p:txBody>
          <a:bodyPr/>
          <a:lstStyle/>
          <a:p>
            <a:r>
              <a:rPr lang="fr-CA" b="1" dirty="0">
                <a:solidFill>
                  <a:srgbClr val="FF0000"/>
                </a:solidFill>
              </a:rPr>
              <a:t>4. Produits promotion Quinzième anniversaire</a:t>
            </a:r>
            <a:endParaRPr lang="fr-FR" b="1" dirty="0">
              <a:solidFill>
                <a:srgbClr val="FF0000"/>
              </a:solidFill>
            </a:endParaRPr>
          </a:p>
        </p:txBody>
      </p:sp>
      <p:sp>
        <p:nvSpPr>
          <p:cNvPr id="3" name="Espace réservé du contenu 2">
            <a:extLst>
              <a:ext uri="{FF2B5EF4-FFF2-40B4-BE49-F238E27FC236}">
                <a16:creationId xmlns:a16="http://schemas.microsoft.com/office/drawing/2014/main" id="{010E1E97-E66C-45F9-9D4A-BE9B19861C5A}"/>
              </a:ext>
            </a:extLst>
          </p:cNvPr>
          <p:cNvSpPr>
            <a:spLocks noGrp="1"/>
          </p:cNvSpPr>
          <p:nvPr>
            <p:ph idx="1"/>
          </p:nvPr>
        </p:nvSpPr>
        <p:spPr/>
        <p:txBody>
          <a:bodyPr>
            <a:normAutofit fontScale="25000" lnSpcReduction="20000"/>
          </a:bodyPr>
          <a:lstStyle/>
          <a:p>
            <a:pPr marL="0" indent="0">
              <a:buNone/>
            </a:pPr>
            <a:r>
              <a:rPr lang="fr-CA" sz="8000" cap="small" dirty="0"/>
              <a:t>Problématiques</a:t>
            </a:r>
            <a:endParaRPr lang="fr-FR" sz="8000" dirty="0"/>
          </a:p>
          <a:p>
            <a:pPr marL="0" indent="0">
              <a:buNone/>
            </a:pPr>
            <a:r>
              <a:rPr lang="fr-CA" sz="8000" dirty="0"/>
              <a:t>Le forfait comprend deux billets de spectacle, un billet pour une visite des coulisses pendant les spectacles, l’accès gratuit à une </a:t>
            </a:r>
            <a:r>
              <a:rPr lang="fr-CA" sz="8000" i="1" dirty="0"/>
              <a:t>app</a:t>
            </a:r>
            <a:r>
              <a:rPr lang="fr-CA" sz="8000" dirty="0"/>
              <a:t> et un programme-souvenir.</a:t>
            </a:r>
            <a:endParaRPr lang="fr-FR" sz="8000" dirty="0"/>
          </a:p>
          <a:p>
            <a:pPr marL="0" indent="0">
              <a:buNone/>
            </a:pPr>
            <a:r>
              <a:rPr lang="fr-CA" sz="8000" dirty="0"/>
              <a:t> </a:t>
            </a:r>
            <a:endParaRPr lang="fr-FR" sz="8000" dirty="0"/>
          </a:p>
          <a:p>
            <a:pPr marL="0" indent="0">
              <a:buNone/>
            </a:pPr>
            <a:r>
              <a:rPr lang="fr-CA" sz="8000" cap="small" dirty="0"/>
              <a:t>IFRS 15 : </a:t>
            </a:r>
            <a:r>
              <a:rPr lang="fr-CA" sz="8000" u="sng" cap="small" dirty="0"/>
              <a:t>Étape 1 - Y a-t-il un contrat entre les acheteurs du forfait et le Cirque des 5?</a:t>
            </a:r>
            <a:endParaRPr lang="fr-FR" sz="8000" u="sng" cap="small" dirty="0"/>
          </a:p>
          <a:p>
            <a:pPr marL="0" indent="0">
              <a:buNone/>
            </a:pPr>
            <a:r>
              <a:rPr lang="fr-CA" sz="8000" dirty="0"/>
              <a:t> Le Cirque a un contrat avec les acheteurs du forfait car :</a:t>
            </a:r>
            <a:r>
              <a:rPr lang="fr-CA" sz="8000" dirty="0">
                <a:solidFill>
                  <a:srgbClr val="00B0F0"/>
                </a:solidFill>
              </a:rPr>
              <a:t> </a:t>
            </a:r>
            <a:r>
              <a:rPr lang="fr-CA" sz="8000" i="1" dirty="0">
                <a:solidFill>
                  <a:srgbClr val="00B0F0"/>
                </a:solidFill>
              </a:rPr>
              <a:t>puisque pas un enjeu, conclusion justifiée serait suffisant</a:t>
            </a:r>
            <a:endParaRPr lang="fr-FR" sz="8000" dirty="0"/>
          </a:p>
          <a:p>
            <a:r>
              <a:rPr lang="fr-CA" sz="8000" dirty="0"/>
              <a:t>nous sommes engagés à présenter les spectacles (les services) au moment prévu sur les billets en acceptant le paiement des clients qui se sont engagés à y assister (IFRS 15-9a) </a:t>
            </a:r>
            <a:endParaRPr lang="fr-FR" sz="8000" dirty="0"/>
          </a:p>
          <a:p>
            <a:r>
              <a:rPr lang="fr-CA" sz="8000" dirty="0"/>
              <a:t>nous avons reçu une contrepartie monétaire; les clients ont le droit de recevoir une prestation au moment indiqué sur leur billet. (IFRS 15-9b)</a:t>
            </a:r>
            <a:endParaRPr lang="fr-FR" sz="8000" dirty="0"/>
          </a:p>
          <a:p>
            <a:r>
              <a:rPr lang="fr-CA" sz="8000" dirty="0"/>
              <a:t>les clients ont payé à l’avance. Les conditions de paiement sont identifiables. (IFRS 15-9c)</a:t>
            </a:r>
            <a:endParaRPr lang="fr-FR" sz="8000" dirty="0"/>
          </a:p>
          <a:p>
            <a:r>
              <a:rPr lang="fr-CA" sz="8000" dirty="0"/>
              <a:t>le contrat a une substance commerciale, il définit le calendrier et le montant d’une partie de nos flux de trésorerie futurs (FTF). (IFRS 15-9d);</a:t>
            </a:r>
            <a:endParaRPr lang="fr-FR" sz="8000" dirty="0"/>
          </a:p>
          <a:p>
            <a:r>
              <a:rPr lang="fr-CA" sz="8000" dirty="0"/>
              <a:t>Le Cirque a recouvré la contrepartie à laquelle il a droit en échange des biens ou des services. (IFRS 15-9 e)</a:t>
            </a:r>
            <a:r>
              <a:rPr lang="fr-CA" sz="8000" b="1" dirty="0"/>
              <a:t> </a:t>
            </a:r>
            <a:endParaRPr lang="fr-FR" sz="8000" dirty="0"/>
          </a:p>
          <a:p>
            <a:pPr marL="0" indent="0">
              <a:buNone/>
            </a:pPr>
            <a:r>
              <a:rPr lang="fr-CA" sz="8000" dirty="0"/>
              <a:t> </a:t>
            </a:r>
            <a:endParaRPr lang="fr-FR" sz="8000" dirty="0"/>
          </a:p>
        </p:txBody>
      </p:sp>
    </p:spTree>
    <p:extLst>
      <p:ext uri="{BB962C8B-B14F-4D97-AF65-F5344CB8AC3E}">
        <p14:creationId xmlns:p14="http://schemas.microsoft.com/office/powerpoint/2010/main" val="1980708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BD1628-57CA-463B-A7A6-C5D8251E013D}"/>
              </a:ext>
            </a:extLst>
          </p:cNvPr>
          <p:cNvSpPr>
            <a:spLocks noGrp="1"/>
          </p:cNvSpPr>
          <p:nvPr>
            <p:ph type="title"/>
          </p:nvPr>
        </p:nvSpPr>
        <p:spPr/>
        <p:txBody>
          <a:bodyPr>
            <a:normAutofit/>
          </a:bodyPr>
          <a:lstStyle/>
          <a:p>
            <a:r>
              <a:rPr lang="fr-CA" sz="3200" b="1" dirty="0"/>
              <a:t>4. Produits promotion Quinzième anniversaire</a:t>
            </a:r>
            <a:endParaRPr lang="fr-FR" sz="3200" b="1" dirty="0"/>
          </a:p>
        </p:txBody>
      </p:sp>
      <p:sp>
        <p:nvSpPr>
          <p:cNvPr id="3" name="Espace réservé du contenu 2">
            <a:extLst>
              <a:ext uri="{FF2B5EF4-FFF2-40B4-BE49-F238E27FC236}">
                <a16:creationId xmlns:a16="http://schemas.microsoft.com/office/drawing/2014/main" id="{010E1E97-E66C-45F9-9D4A-BE9B19861C5A}"/>
              </a:ext>
            </a:extLst>
          </p:cNvPr>
          <p:cNvSpPr>
            <a:spLocks noGrp="1"/>
          </p:cNvSpPr>
          <p:nvPr>
            <p:ph idx="1"/>
          </p:nvPr>
        </p:nvSpPr>
        <p:spPr/>
        <p:txBody>
          <a:bodyPr>
            <a:normAutofit fontScale="25000" lnSpcReduction="20000"/>
          </a:bodyPr>
          <a:lstStyle/>
          <a:p>
            <a:pPr marL="0" indent="0">
              <a:buNone/>
            </a:pPr>
            <a:r>
              <a:rPr lang="fr-CA" sz="8000" cap="small" dirty="0"/>
              <a:t>IFRS 15 : </a:t>
            </a:r>
            <a:r>
              <a:rPr lang="fr-CA" sz="8000" u="sng" cap="small" dirty="0"/>
              <a:t>Étape 2 - Identification des obligations de prestation du Cirque des 5</a:t>
            </a:r>
            <a:endParaRPr lang="fr-FR" sz="8000" u="sng" dirty="0"/>
          </a:p>
          <a:p>
            <a:pPr marL="0" indent="0">
              <a:buNone/>
            </a:pPr>
            <a:r>
              <a:rPr lang="fr-CA" sz="8000" dirty="0"/>
              <a:t>Une obligation de prestation est une promesse de fournir au client un bien ou un service distinct.</a:t>
            </a:r>
            <a:endParaRPr lang="fr-FR" sz="8000" dirty="0"/>
          </a:p>
          <a:p>
            <a:pPr marL="0" indent="0">
              <a:buNone/>
            </a:pPr>
            <a:r>
              <a:rPr lang="fr-CA" sz="8000" dirty="0"/>
              <a:t>Le forfait comprend un billet pour le spectacle </a:t>
            </a:r>
            <a:r>
              <a:rPr lang="fr-CA" sz="8000" i="1" dirty="0"/>
              <a:t>Traces</a:t>
            </a:r>
            <a:r>
              <a:rPr lang="fr-CA" sz="8000" dirty="0"/>
              <a:t>; un billet pour visiter les coulisses du spectacle </a:t>
            </a:r>
            <a:r>
              <a:rPr lang="fr-CA" sz="8000" i="1" dirty="0"/>
              <a:t>Traces</a:t>
            </a:r>
            <a:r>
              <a:rPr lang="fr-CA" sz="8000" dirty="0"/>
              <a:t> le même soir; un billet pour </a:t>
            </a:r>
            <a:r>
              <a:rPr lang="fr-CA" sz="8000" i="1" dirty="0"/>
              <a:t>Cuisine et dépendances</a:t>
            </a:r>
            <a:r>
              <a:rPr lang="fr-CA" sz="8000" dirty="0"/>
              <a:t>; une </a:t>
            </a:r>
            <a:r>
              <a:rPr lang="fr-CA" sz="8000" i="1" dirty="0"/>
              <a:t>app</a:t>
            </a:r>
            <a:r>
              <a:rPr lang="fr-CA" sz="8000" dirty="0"/>
              <a:t> qui fonctionne seulement pendant le spectacle le soir-dit et un programme-souvenir.</a:t>
            </a:r>
            <a:r>
              <a:rPr lang="fr-FR" sz="8000" dirty="0">
                <a:effectLst/>
              </a:rPr>
              <a:t> </a:t>
            </a:r>
            <a:r>
              <a:rPr lang="en-US" sz="8000" dirty="0"/>
              <a:t>IFRS 15-22. </a:t>
            </a:r>
          </a:p>
          <a:p>
            <a:pPr marL="0" indent="0">
              <a:buNone/>
            </a:pPr>
            <a:endParaRPr lang="en-US" sz="8000" cap="small" dirty="0"/>
          </a:p>
          <a:p>
            <a:pPr marL="0" indent="0">
              <a:buNone/>
            </a:pPr>
            <a:r>
              <a:rPr lang="fr-CA" sz="8000" cap="small" dirty="0"/>
              <a:t>Analyse</a:t>
            </a:r>
            <a:endParaRPr lang="fr-FR" sz="8000" cap="small" dirty="0"/>
          </a:p>
          <a:p>
            <a:r>
              <a:rPr lang="fr-CA" sz="8000" b="1" u="dotted" cap="small" dirty="0"/>
              <a:t>Le billet du spectacle </a:t>
            </a:r>
            <a:r>
              <a:rPr lang="fr-CA" sz="8000" b="1" i="1" u="dotted" cap="small" dirty="0"/>
              <a:t>Traces</a:t>
            </a:r>
            <a:r>
              <a:rPr lang="fr-CA" sz="8000" i="1" cap="small" dirty="0"/>
              <a:t> </a:t>
            </a:r>
            <a:r>
              <a:rPr lang="fr-CA" sz="8000" cap="small" dirty="0"/>
              <a:t>représente une obligation de prestation distincte car </a:t>
            </a:r>
            <a:endParaRPr lang="fr-FR" sz="8000" cap="small" dirty="0"/>
          </a:p>
          <a:p>
            <a:pPr lvl="1"/>
            <a:r>
              <a:rPr lang="fr-CA" sz="7600" cap="small" dirty="0"/>
              <a:t>on peut acheter des billets pour le spectacle </a:t>
            </a:r>
            <a:r>
              <a:rPr lang="fr-CA" sz="7600" i="1" cap="small" dirty="0"/>
              <a:t>Traces</a:t>
            </a:r>
            <a:r>
              <a:rPr lang="fr-CA" sz="7600" cap="small" dirty="0"/>
              <a:t> seulement sur le marché; </a:t>
            </a:r>
            <a:r>
              <a:rPr lang="fr-CA" sz="7600" b="1" cap="small" dirty="0"/>
              <a:t>et</a:t>
            </a:r>
            <a:endParaRPr lang="fr-FR" sz="7600" cap="small" dirty="0"/>
          </a:p>
          <a:p>
            <a:pPr lvl="1"/>
            <a:r>
              <a:rPr lang="fr-CA" sz="7600" dirty="0"/>
              <a:t>notre promesse de présenter le spectacle au client peut être identifiée séparément des autres promesses contenues dans le forfait.   </a:t>
            </a:r>
            <a:r>
              <a:rPr lang="fr-CA" sz="7600" dirty="0">
                <a:solidFill>
                  <a:srgbClr val="00B0F0"/>
                </a:solidFill>
              </a:rPr>
              <a:t>Par. 27</a:t>
            </a:r>
            <a:endParaRPr lang="fr-FR" sz="7600" dirty="0"/>
          </a:p>
          <a:p>
            <a:pPr marL="0" indent="0">
              <a:buNone/>
            </a:pPr>
            <a:r>
              <a:rPr lang="fr-CA" sz="8000" cap="small" dirty="0"/>
              <a:t> </a:t>
            </a:r>
            <a:endParaRPr lang="fr-FR" sz="8000" dirty="0"/>
          </a:p>
          <a:p>
            <a:pPr marL="0" indent="0">
              <a:buNone/>
            </a:pPr>
            <a:endParaRPr lang="fr-FR" sz="8000" dirty="0"/>
          </a:p>
          <a:p>
            <a:pPr marL="0" indent="0">
              <a:buNone/>
            </a:pPr>
            <a:endParaRPr lang="fr-FR" dirty="0"/>
          </a:p>
        </p:txBody>
      </p:sp>
    </p:spTree>
    <p:extLst>
      <p:ext uri="{BB962C8B-B14F-4D97-AF65-F5344CB8AC3E}">
        <p14:creationId xmlns:p14="http://schemas.microsoft.com/office/powerpoint/2010/main" val="30722520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BD1628-57CA-463B-A7A6-C5D8251E013D}"/>
              </a:ext>
            </a:extLst>
          </p:cNvPr>
          <p:cNvSpPr>
            <a:spLocks noGrp="1"/>
          </p:cNvSpPr>
          <p:nvPr>
            <p:ph type="title"/>
          </p:nvPr>
        </p:nvSpPr>
        <p:spPr/>
        <p:txBody>
          <a:bodyPr>
            <a:normAutofit/>
          </a:bodyPr>
          <a:lstStyle/>
          <a:p>
            <a:r>
              <a:rPr lang="fr-CA" sz="3200" b="1" dirty="0"/>
              <a:t>4. Produits promotion Quinzième anniversaire</a:t>
            </a:r>
            <a:endParaRPr lang="fr-FR" sz="3200" b="1" dirty="0"/>
          </a:p>
        </p:txBody>
      </p:sp>
      <p:sp>
        <p:nvSpPr>
          <p:cNvPr id="3" name="Espace réservé du contenu 2">
            <a:extLst>
              <a:ext uri="{FF2B5EF4-FFF2-40B4-BE49-F238E27FC236}">
                <a16:creationId xmlns:a16="http://schemas.microsoft.com/office/drawing/2014/main" id="{010E1E97-E66C-45F9-9D4A-BE9B19861C5A}"/>
              </a:ext>
            </a:extLst>
          </p:cNvPr>
          <p:cNvSpPr>
            <a:spLocks noGrp="1"/>
          </p:cNvSpPr>
          <p:nvPr>
            <p:ph idx="1"/>
          </p:nvPr>
        </p:nvSpPr>
        <p:spPr>
          <a:xfrm>
            <a:off x="833021" y="1390619"/>
            <a:ext cx="10515600" cy="4351338"/>
          </a:xfrm>
        </p:spPr>
        <p:txBody>
          <a:bodyPr>
            <a:normAutofit fontScale="25000" lnSpcReduction="20000"/>
          </a:bodyPr>
          <a:lstStyle/>
          <a:p>
            <a:r>
              <a:rPr lang="fr-CA" sz="8000" b="1" u="dotted" cap="small" dirty="0"/>
              <a:t>Le billet pour visiter les coulisses de </a:t>
            </a:r>
            <a:r>
              <a:rPr lang="fr-CA" sz="8000" b="1" i="1" u="dotted" cap="small" dirty="0"/>
              <a:t>Traces</a:t>
            </a:r>
            <a:r>
              <a:rPr lang="fr-CA" sz="8000" b="1" cap="small" dirty="0"/>
              <a:t> </a:t>
            </a:r>
            <a:r>
              <a:rPr lang="fr-CA" sz="8000" cap="small" dirty="0"/>
              <a:t>représente une obligation de prestation distincte car :</a:t>
            </a:r>
            <a:endParaRPr lang="fr-FR" sz="8000" cap="small" dirty="0"/>
          </a:p>
          <a:p>
            <a:pPr lvl="1"/>
            <a:r>
              <a:rPr lang="fr-CA" sz="7600" cap="small" dirty="0"/>
              <a:t>le client peut revendre ce billet pour un prix supérieur à sa valeur de rebut (0 $) sur </a:t>
            </a:r>
            <a:r>
              <a:rPr lang="fr-CA" sz="7600" cap="small" dirty="0" err="1"/>
              <a:t>Kiiji</a:t>
            </a:r>
            <a:r>
              <a:rPr lang="fr-CA" sz="7600" cap="small" dirty="0"/>
              <a:t> à un client qui assistera au spectacle et qui n’a pas eu la chance d’acheter un des forfaits disponibles; ET</a:t>
            </a:r>
            <a:endParaRPr lang="fr-FR" sz="7600" cap="small" dirty="0"/>
          </a:p>
          <a:p>
            <a:pPr lvl="1"/>
            <a:r>
              <a:rPr lang="fr-CA" sz="7600" cap="small" dirty="0"/>
              <a:t>notre promesse de faire visiter les coulisses au client qui a acheté un billet peut être identifiée séparément des autres promesses contenues dans le forfait car la visite des coulisses ne modifie pas le spectacle qui suivra. Elle enrichit l’expérience du détenteur du billet. On peut aussi dire que la visite des coulisses n’est pas essentielle à la livraison des numéros de cirque.</a:t>
            </a:r>
            <a:endParaRPr lang="fr-FR" sz="7600" cap="small" dirty="0"/>
          </a:p>
          <a:p>
            <a:pPr marL="0" indent="0">
              <a:buNone/>
            </a:pPr>
            <a:r>
              <a:rPr lang="fr-CA" sz="4000" cap="small" dirty="0"/>
              <a:t> </a:t>
            </a:r>
            <a:endParaRPr lang="fr-FR" sz="4000" cap="small" dirty="0"/>
          </a:p>
          <a:p>
            <a:r>
              <a:rPr lang="fr-CA" sz="8000" b="1" u="dotted" cap="small" dirty="0"/>
              <a:t>Le billet de </a:t>
            </a:r>
            <a:r>
              <a:rPr lang="fr-CA" sz="8000" b="1" i="1" u="dotted" cap="small" dirty="0"/>
              <a:t>Cuisine et dépendances</a:t>
            </a:r>
            <a:r>
              <a:rPr lang="fr-CA" sz="8000" cap="small" dirty="0"/>
              <a:t> représente une obligation de prestation distincte pour les raisons invoquées pour le spectacle </a:t>
            </a:r>
            <a:r>
              <a:rPr lang="fr-CA" sz="8000" i="1" cap="small" dirty="0"/>
              <a:t>Traces</a:t>
            </a:r>
            <a:r>
              <a:rPr lang="fr-CA" sz="8000" cap="small" dirty="0"/>
              <a:t>.</a:t>
            </a:r>
            <a:endParaRPr lang="fr-FR" sz="8000" cap="small" dirty="0"/>
          </a:p>
          <a:p>
            <a:pPr marL="0" indent="0">
              <a:buNone/>
            </a:pPr>
            <a:r>
              <a:rPr lang="fr-CA" sz="4000" cap="small" dirty="0"/>
              <a:t> </a:t>
            </a:r>
            <a:endParaRPr lang="fr-FR" sz="4000" cap="small" dirty="0"/>
          </a:p>
          <a:p>
            <a:r>
              <a:rPr lang="fr-CA" sz="8000" b="1" u="dotted" cap="small" dirty="0"/>
              <a:t>L’</a:t>
            </a:r>
            <a:r>
              <a:rPr lang="fr-CA" sz="8000" b="1" i="1" u="dotted" cap="small" dirty="0"/>
              <a:t>app</a:t>
            </a:r>
            <a:r>
              <a:rPr lang="fr-CA" sz="8000" b="1" u="dotted" cap="small" dirty="0"/>
              <a:t> gratuite rattachée au spectacle </a:t>
            </a:r>
            <a:r>
              <a:rPr lang="fr-CA" sz="8000" b="1" i="1" u="dotted" cap="small" dirty="0"/>
              <a:t>Cuisine et dépendances</a:t>
            </a:r>
            <a:r>
              <a:rPr lang="fr-CA" sz="8000" b="1" u="dotted" cap="small" dirty="0"/>
              <a:t> </a:t>
            </a:r>
            <a:r>
              <a:rPr lang="fr-CA" sz="8000" cap="small" dirty="0"/>
              <a:t>n’est pas une obligation de prestation distincte car :</a:t>
            </a:r>
            <a:endParaRPr lang="fr-FR" sz="8000" cap="small" dirty="0"/>
          </a:p>
          <a:p>
            <a:pPr lvl="1"/>
            <a:r>
              <a:rPr lang="fr-CA" sz="7600" cap="small" dirty="0"/>
              <a:t>L’</a:t>
            </a:r>
            <a:r>
              <a:rPr lang="fr-CA" sz="7600" i="1" cap="small" dirty="0"/>
              <a:t>app</a:t>
            </a:r>
            <a:r>
              <a:rPr lang="fr-CA" sz="7600" cap="small" dirty="0"/>
              <a:t> n’est pas vendue séparément. Pendant la durée du spectacle, elle est mise gratuitement à la disposition du client qui possède un iPhone ou un iPad. </a:t>
            </a:r>
            <a:r>
              <a:rPr lang="fr-CA" sz="7600" b="1" cap="small" dirty="0"/>
              <a:t>Elle n’existe pas en elle-même, en dehors du spectacle</a:t>
            </a:r>
            <a:r>
              <a:rPr lang="fr-CA" sz="7600" cap="small" dirty="0"/>
              <a:t>. Elle est d’ailleurs désactivée une fois le spectacle terminé. Critère non respecté.</a:t>
            </a:r>
            <a:endParaRPr lang="fr-FR" sz="7600" cap="small" dirty="0"/>
          </a:p>
          <a:p>
            <a:pPr lvl="1"/>
            <a:r>
              <a:rPr lang="fr-CA" sz="7600" cap="small" dirty="0"/>
              <a:t>L’</a:t>
            </a:r>
            <a:r>
              <a:rPr lang="fr-CA" sz="7600" i="1" cap="small" dirty="0"/>
              <a:t>app</a:t>
            </a:r>
            <a:r>
              <a:rPr lang="fr-CA" sz="7600" cap="small" dirty="0"/>
              <a:t> </a:t>
            </a:r>
            <a:r>
              <a:rPr lang="fr-CA" sz="7600" b="1" cap="small" dirty="0"/>
              <a:t>ne peut pas être identifiée séparément</a:t>
            </a:r>
            <a:r>
              <a:rPr lang="fr-CA" sz="7600" cap="small" dirty="0"/>
              <a:t> car elle dépend fortement du spectacle </a:t>
            </a:r>
            <a:r>
              <a:rPr lang="fr-CA" sz="7600" i="1" cap="small" dirty="0"/>
              <a:t>Cuisine et dépendances</a:t>
            </a:r>
            <a:r>
              <a:rPr lang="fr-CA" sz="7600" cap="small" dirty="0"/>
              <a:t>. Elle y est étroitement liée car elle a été développée pour fonctionner pendant ce spectacle seulement. Critère non respecté.</a:t>
            </a:r>
          </a:p>
          <a:p>
            <a:pPr marL="457200" lvl="1" indent="0">
              <a:buNone/>
            </a:pPr>
            <a:r>
              <a:rPr lang="fr-CA" sz="7600" cap="small" dirty="0"/>
              <a:t>Conclusion : </a:t>
            </a:r>
            <a:r>
              <a:rPr lang="fr-CA" sz="7200" cap="small" dirty="0"/>
              <a:t>Comme cette </a:t>
            </a:r>
            <a:r>
              <a:rPr lang="fr-CA" sz="7200" i="1" cap="small" dirty="0"/>
              <a:t>app</a:t>
            </a:r>
            <a:r>
              <a:rPr lang="fr-CA" sz="7200" cap="small" dirty="0"/>
              <a:t> n’est pas distincte du spectacle </a:t>
            </a:r>
            <a:r>
              <a:rPr lang="fr-CA" sz="7200" i="1" cap="small" dirty="0"/>
              <a:t>Cuisine et dépendances</a:t>
            </a:r>
            <a:r>
              <a:rPr lang="fr-CA" sz="7200" cap="small" dirty="0"/>
              <a:t>, nous la regrouperons avec le billet du spectacle </a:t>
            </a:r>
            <a:r>
              <a:rPr lang="fr-CA" sz="7200" i="1" cap="small" dirty="0"/>
              <a:t>Cuisine et dépendances</a:t>
            </a:r>
            <a:r>
              <a:rPr lang="fr-CA" sz="7200" cap="small" dirty="0"/>
              <a:t> pour former une seule obligation de prestation distincte.</a:t>
            </a:r>
            <a:endParaRPr lang="fr-FR" sz="7200" cap="small" dirty="0"/>
          </a:p>
          <a:p>
            <a:pPr marL="457200" lvl="1" indent="0">
              <a:buNone/>
            </a:pPr>
            <a:endParaRPr lang="fr-FR" sz="7600" cap="small" dirty="0"/>
          </a:p>
          <a:p>
            <a:pPr marL="0" indent="0">
              <a:buNone/>
            </a:pPr>
            <a:r>
              <a:rPr lang="fr-CA" sz="8000" cap="small" dirty="0"/>
              <a:t> </a:t>
            </a:r>
            <a:endParaRPr lang="fr-FR" sz="8000" cap="small" dirty="0"/>
          </a:p>
          <a:p>
            <a:pPr marL="0" indent="0">
              <a:buNone/>
            </a:pPr>
            <a:endParaRPr lang="fr-FR" dirty="0"/>
          </a:p>
        </p:txBody>
      </p:sp>
    </p:spTree>
    <p:extLst>
      <p:ext uri="{BB962C8B-B14F-4D97-AF65-F5344CB8AC3E}">
        <p14:creationId xmlns:p14="http://schemas.microsoft.com/office/powerpoint/2010/main" val="28992595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BD1628-57CA-463B-A7A6-C5D8251E013D}"/>
              </a:ext>
            </a:extLst>
          </p:cNvPr>
          <p:cNvSpPr>
            <a:spLocks noGrp="1"/>
          </p:cNvSpPr>
          <p:nvPr>
            <p:ph type="title"/>
          </p:nvPr>
        </p:nvSpPr>
        <p:spPr/>
        <p:txBody>
          <a:bodyPr>
            <a:normAutofit/>
          </a:bodyPr>
          <a:lstStyle/>
          <a:p>
            <a:r>
              <a:rPr lang="fr-CA" sz="3200" b="1" dirty="0"/>
              <a:t>4. Produits promotion Quinzième anniversaire</a:t>
            </a:r>
            <a:endParaRPr lang="fr-FR" sz="3200" b="1" dirty="0"/>
          </a:p>
        </p:txBody>
      </p:sp>
      <p:sp>
        <p:nvSpPr>
          <p:cNvPr id="3" name="Espace réservé du contenu 2">
            <a:extLst>
              <a:ext uri="{FF2B5EF4-FFF2-40B4-BE49-F238E27FC236}">
                <a16:creationId xmlns:a16="http://schemas.microsoft.com/office/drawing/2014/main" id="{010E1E97-E66C-45F9-9D4A-BE9B19861C5A}"/>
              </a:ext>
            </a:extLst>
          </p:cNvPr>
          <p:cNvSpPr>
            <a:spLocks noGrp="1"/>
          </p:cNvSpPr>
          <p:nvPr>
            <p:ph idx="1"/>
          </p:nvPr>
        </p:nvSpPr>
        <p:spPr/>
        <p:txBody>
          <a:bodyPr>
            <a:normAutofit fontScale="92500" lnSpcReduction="10000"/>
          </a:bodyPr>
          <a:lstStyle/>
          <a:p>
            <a:r>
              <a:rPr lang="fr-CA" sz="2000" b="1" u="dotted" cap="small" dirty="0"/>
              <a:t>Le programme-souvenir (15 ans)</a:t>
            </a:r>
            <a:r>
              <a:rPr lang="fr-CA" sz="2000" b="1" cap="small" dirty="0"/>
              <a:t> </a:t>
            </a:r>
            <a:r>
              <a:rPr lang="fr-CA" sz="2000" cap="small" dirty="0"/>
              <a:t>représente une obligation de prestation distincte car :</a:t>
            </a:r>
            <a:endParaRPr lang="fr-FR" sz="2000" cap="small" dirty="0"/>
          </a:p>
          <a:p>
            <a:pPr lvl="1"/>
            <a:r>
              <a:rPr lang="fr-CA" sz="2000" cap="small" dirty="0"/>
              <a:t>on peut acheter le programme-souvenir sur la boutique en ligne seulement; et</a:t>
            </a:r>
            <a:endParaRPr lang="fr-FR" sz="2000" cap="small" dirty="0"/>
          </a:p>
          <a:p>
            <a:pPr lvl="1"/>
            <a:r>
              <a:rPr lang="fr-CA" sz="2000" dirty="0"/>
              <a:t>le programme-souvenir est peut être identifié séparément (il est distinct) des autres promesses contenues dans le forfait.</a:t>
            </a:r>
            <a:endParaRPr lang="fr-FR" sz="2000" dirty="0"/>
          </a:p>
          <a:p>
            <a:pPr marL="0" indent="0">
              <a:buNone/>
            </a:pPr>
            <a:r>
              <a:rPr lang="fr-CA" sz="2000" cap="small" dirty="0"/>
              <a:t> </a:t>
            </a:r>
            <a:endParaRPr lang="fr-FR" sz="2000" cap="small" dirty="0"/>
          </a:p>
          <a:p>
            <a:pPr marL="0" indent="0">
              <a:buNone/>
            </a:pPr>
            <a:r>
              <a:rPr lang="fr-CA" sz="2000" u="sng" cap="small" dirty="0"/>
              <a:t>Conclusion</a:t>
            </a:r>
            <a:endParaRPr lang="fr-FR" sz="2000" u="sng" cap="small" dirty="0"/>
          </a:p>
          <a:p>
            <a:pPr marL="0" indent="0">
              <a:buNone/>
            </a:pPr>
            <a:r>
              <a:rPr lang="fr-CA" sz="2000" cap="small" dirty="0"/>
              <a:t>Le forfait compte quatre obligations de prestations distinctes : </a:t>
            </a:r>
          </a:p>
          <a:p>
            <a:pPr>
              <a:buFontTx/>
              <a:buChar char="-"/>
            </a:pPr>
            <a:r>
              <a:rPr lang="fr-CA" sz="2000" cap="small" dirty="0"/>
              <a:t>le billet pour </a:t>
            </a:r>
            <a:r>
              <a:rPr lang="fr-CA" sz="2000" i="1" cap="small" dirty="0"/>
              <a:t>Traces</a:t>
            </a:r>
          </a:p>
          <a:p>
            <a:pPr>
              <a:buFontTx/>
              <a:buChar char="-"/>
            </a:pPr>
            <a:r>
              <a:rPr lang="fr-CA" sz="2000" cap="small" dirty="0"/>
              <a:t>le billet pour les coulisses de </a:t>
            </a:r>
            <a:r>
              <a:rPr lang="fr-CA" sz="2000" i="1" cap="small" dirty="0"/>
              <a:t>Traces</a:t>
            </a:r>
          </a:p>
          <a:p>
            <a:pPr>
              <a:buFontTx/>
              <a:buChar char="-"/>
            </a:pPr>
            <a:r>
              <a:rPr lang="fr-CA" sz="2000" cap="small" dirty="0"/>
              <a:t>le programme-souvenir </a:t>
            </a:r>
          </a:p>
          <a:p>
            <a:pPr>
              <a:buFontTx/>
              <a:buChar char="-"/>
            </a:pPr>
            <a:r>
              <a:rPr lang="fr-CA" sz="2000" cap="small" dirty="0"/>
              <a:t>le billet pour </a:t>
            </a:r>
            <a:r>
              <a:rPr lang="fr-CA" sz="2000" i="1" cap="small" dirty="0"/>
              <a:t>Cuisine et dépendances</a:t>
            </a:r>
            <a:r>
              <a:rPr lang="fr-CA" sz="2000" cap="small" dirty="0"/>
              <a:t> + l’</a:t>
            </a:r>
            <a:r>
              <a:rPr lang="fr-CA" sz="2000" i="1" cap="small" dirty="0"/>
              <a:t>app</a:t>
            </a:r>
            <a:r>
              <a:rPr lang="fr-CA" sz="2000" cap="small" dirty="0"/>
              <a:t> gratuite.</a:t>
            </a:r>
            <a:endParaRPr lang="fr-FR" sz="2000" cap="small" dirty="0"/>
          </a:p>
          <a:p>
            <a:pPr marL="0" indent="0">
              <a:buNone/>
            </a:pPr>
            <a:r>
              <a:rPr lang="fr-FR" sz="5000" cap="small" dirty="0"/>
              <a:t> </a:t>
            </a:r>
          </a:p>
          <a:p>
            <a:pPr marL="0" indent="0">
              <a:buNone/>
            </a:pPr>
            <a:endParaRPr lang="fr-FR" dirty="0"/>
          </a:p>
        </p:txBody>
      </p:sp>
    </p:spTree>
    <p:extLst>
      <p:ext uri="{BB962C8B-B14F-4D97-AF65-F5344CB8AC3E}">
        <p14:creationId xmlns:p14="http://schemas.microsoft.com/office/powerpoint/2010/main" val="33072931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BD1628-57CA-463B-A7A6-C5D8251E013D}"/>
              </a:ext>
            </a:extLst>
          </p:cNvPr>
          <p:cNvSpPr>
            <a:spLocks noGrp="1"/>
          </p:cNvSpPr>
          <p:nvPr>
            <p:ph type="title"/>
          </p:nvPr>
        </p:nvSpPr>
        <p:spPr/>
        <p:txBody>
          <a:bodyPr>
            <a:normAutofit/>
          </a:bodyPr>
          <a:lstStyle/>
          <a:p>
            <a:r>
              <a:rPr lang="fr-CA" sz="3200" b="1" dirty="0"/>
              <a:t>4. Produits promotion Quinzième anniversaire</a:t>
            </a:r>
            <a:endParaRPr lang="fr-FR" sz="3200" b="1" dirty="0"/>
          </a:p>
        </p:txBody>
      </p:sp>
      <p:sp>
        <p:nvSpPr>
          <p:cNvPr id="3" name="Espace réservé du contenu 2">
            <a:extLst>
              <a:ext uri="{FF2B5EF4-FFF2-40B4-BE49-F238E27FC236}">
                <a16:creationId xmlns:a16="http://schemas.microsoft.com/office/drawing/2014/main" id="{010E1E97-E66C-45F9-9D4A-BE9B19861C5A}"/>
              </a:ext>
            </a:extLst>
          </p:cNvPr>
          <p:cNvSpPr>
            <a:spLocks noGrp="1"/>
          </p:cNvSpPr>
          <p:nvPr>
            <p:ph idx="1"/>
          </p:nvPr>
        </p:nvSpPr>
        <p:spPr/>
        <p:txBody>
          <a:bodyPr>
            <a:normAutofit/>
          </a:bodyPr>
          <a:lstStyle/>
          <a:p>
            <a:pPr marL="0" indent="0">
              <a:buNone/>
            </a:pPr>
            <a:r>
              <a:rPr lang="fr-CA" u="sng" cap="small" dirty="0"/>
              <a:t>Étape 3 : Montant de la vente</a:t>
            </a:r>
            <a:endParaRPr lang="fr-FR" u="sng" dirty="0"/>
          </a:p>
          <a:p>
            <a:pPr marL="0" indent="0">
              <a:buNone/>
            </a:pPr>
            <a:r>
              <a:rPr lang="fr-CA" dirty="0"/>
              <a:t> </a:t>
            </a:r>
            <a:endParaRPr lang="fr-FR" dirty="0"/>
          </a:p>
          <a:p>
            <a:pPr marL="0" indent="0">
              <a:buNone/>
            </a:pPr>
            <a:r>
              <a:rPr lang="fr-CA" dirty="0"/>
              <a:t>Le prix moyen d’un forfait est 175 $</a:t>
            </a:r>
          </a:p>
          <a:p>
            <a:pPr marL="0" indent="0">
              <a:buNone/>
            </a:pPr>
            <a:r>
              <a:rPr lang="fr-FR" dirty="0"/>
              <a:t>15 000 forfaits vendus</a:t>
            </a:r>
          </a:p>
          <a:p>
            <a:pPr marL="0" indent="0">
              <a:buNone/>
            </a:pPr>
            <a:r>
              <a:rPr lang="fr-FR" dirty="0"/>
              <a:t>15 000 forfaits * 175$/forfait = 2 625 000 $</a:t>
            </a:r>
          </a:p>
          <a:p>
            <a:pPr marL="0" indent="0">
              <a:buNone/>
            </a:pPr>
            <a:r>
              <a:rPr lang="fr-CA" sz="8000" dirty="0"/>
              <a:t> </a:t>
            </a:r>
            <a:endParaRPr lang="fr-FR" sz="8000" dirty="0"/>
          </a:p>
          <a:p>
            <a:pPr marL="0" indent="0">
              <a:buNone/>
            </a:pPr>
            <a:endParaRPr lang="fr-FR" dirty="0"/>
          </a:p>
        </p:txBody>
      </p:sp>
    </p:spTree>
    <p:extLst>
      <p:ext uri="{BB962C8B-B14F-4D97-AF65-F5344CB8AC3E}">
        <p14:creationId xmlns:p14="http://schemas.microsoft.com/office/powerpoint/2010/main" val="10229735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F661D-27FF-9A2F-5C0E-259575657DB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6E60C50-6879-7A4F-E449-793CDB3C5903}"/>
              </a:ext>
            </a:extLst>
          </p:cNvPr>
          <p:cNvSpPr>
            <a:spLocks noGrp="1"/>
          </p:cNvSpPr>
          <p:nvPr>
            <p:ph type="title"/>
          </p:nvPr>
        </p:nvSpPr>
        <p:spPr/>
        <p:txBody>
          <a:bodyPr>
            <a:normAutofit/>
          </a:bodyPr>
          <a:lstStyle/>
          <a:p>
            <a:r>
              <a:rPr lang="fr-CA" sz="3200" b="1" dirty="0"/>
              <a:t>4. Produits promotion Quinzième anniversaire</a:t>
            </a:r>
            <a:endParaRPr lang="fr-FR" sz="3200" b="1" dirty="0"/>
          </a:p>
        </p:txBody>
      </p:sp>
      <p:sp>
        <p:nvSpPr>
          <p:cNvPr id="3" name="Espace réservé du contenu 2">
            <a:extLst>
              <a:ext uri="{FF2B5EF4-FFF2-40B4-BE49-F238E27FC236}">
                <a16:creationId xmlns:a16="http://schemas.microsoft.com/office/drawing/2014/main" id="{1666A11C-F5C3-485B-3279-3C8023FC8C37}"/>
              </a:ext>
            </a:extLst>
          </p:cNvPr>
          <p:cNvSpPr>
            <a:spLocks noGrp="1"/>
          </p:cNvSpPr>
          <p:nvPr>
            <p:ph idx="1"/>
          </p:nvPr>
        </p:nvSpPr>
        <p:spPr/>
        <p:txBody>
          <a:bodyPr>
            <a:normAutofit fontScale="25000" lnSpcReduction="20000"/>
          </a:bodyPr>
          <a:lstStyle/>
          <a:p>
            <a:pPr marL="0" indent="0">
              <a:buNone/>
            </a:pPr>
            <a:r>
              <a:rPr lang="fr-CA" sz="8000" u="sng" cap="small" dirty="0"/>
              <a:t>Étape 4 : Répartition du prix de transaction entre les obligations de prestation</a:t>
            </a:r>
            <a:endParaRPr lang="fr-FR" sz="8000" u="sng" dirty="0"/>
          </a:p>
          <a:p>
            <a:pPr marL="0" indent="0">
              <a:buNone/>
            </a:pPr>
            <a:r>
              <a:rPr lang="fr-CA" sz="8000" dirty="0"/>
              <a:t> </a:t>
            </a:r>
            <a:endParaRPr lang="fr-FR" sz="8000" dirty="0"/>
          </a:p>
          <a:p>
            <a:pPr marL="0" indent="0">
              <a:buNone/>
            </a:pPr>
            <a:r>
              <a:rPr lang="fr-CA" sz="8000" dirty="0"/>
              <a:t>Le prix de transaction doit être ventilé entre chacune des obligations de prestation que j’ai identifiées en proportion des prix de vente spécifiques.</a:t>
            </a:r>
            <a:endParaRPr lang="fr-FR" sz="8000" dirty="0"/>
          </a:p>
          <a:p>
            <a:pPr marL="0" indent="0">
              <a:buNone/>
            </a:pPr>
            <a:r>
              <a:rPr lang="fr-CA" sz="8000" dirty="0"/>
              <a:t>Le </a:t>
            </a:r>
            <a:r>
              <a:rPr lang="fr-CA" sz="8000" b="1" dirty="0"/>
              <a:t>prix de vente spécifique</a:t>
            </a:r>
            <a:r>
              <a:rPr lang="fr-CA" sz="8000" dirty="0"/>
              <a:t> est le prix auquel nous vendons habituellement les billets et le programme-souvenir à un client. Nous disposons de ces informations pour chacune des obligations de prestations.</a:t>
            </a:r>
            <a:endParaRPr lang="fr-FR" sz="8000" dirty="0"/>
          </a:p>
          <a:p>
            <a:pPr marL="0" indent="0">
              <a:buNone/>
            </a:pPr>
            <a:r>
              <a:rPr lang="fr-CA" sz="8000" dirty="0"/>
              <a:t>Dans le cadre de la promotion Quinzième anniversaire!, nous offrons une remise puisque la somme des prix que nous demandons habituellement (214 $) excède le prix du forfait fixé à 175 $.</a:t>
            </a:r>
            <a:endParaRPr lang="fr-FR" sz="8000" dirty="0"/>
          </a:p>
          <a:p>
            <a:pPr marL="0" indent="0">
              <a:buNone/>
            </a:pPr>
            <a:r>
              <a:rPr lang="fr-CA" sz="8000" dirty="0"/>
              <a:t>Rien n’indique que la remise vise une obligation de prestation en particulier. La remise sera donc répartie façon proportionnelle entre les quatre obligations de prestation prévues dans le forfait.</a:t>
            </a:r>
            <a:endParaRPr lang="fr-FR" sz="8000" dirty="0"/>
          </a:p>
          <a:p>
            <a:pPr marL="0" indent="0">
              <a:buNone/>
            </a:pPr>
            <a:r>
              <a:rPr lang="fr-CA" sz="8000" dirty="0"/>
              <a:t> </a:t>
            </a:r>
            <a:endParaRPr lang="fr-FR" sz="8000" dirty="0"/>
          </a:p>
          <a:p>
            <a:pPr marL="0" indent="0">
              <a:buNone/>
            </a:pPr>
            <a:endParaRPr lang="fr-FR" dirty="0"/>
          </a:p>
        </p:txBody>
      </p:sp>
    </p:spTree>
    <p:extLst>
      <p:ext uri="{BB962C8B-B14F-4D97-AF65-F5344CB8AC3E}">
        <p14:creationId xmlns:p14="http://schemas.microsoft.com/office/powerpoint/2010/main" val="9611300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BD1628-57CA-463B-A7A6-C5D8251E013D}"/>
              </a:ext>
            </a:extLst>
          </p:cNvPr>
          <p:cNvSpPr>
            <a:spLocks noGrp="1"/>
          </p:cNvSpPr>
          <p:nvPr>
            <p:ph type="title"/>
          </p:nvPr>
        </p:nvSpPr>
        <p:spPr/>
        <p:txBody>
          <a:bodyPr>
            <a:normAutofit/>
          </a:bodyPr>
          <a:lstStyle/>
          <a:p>
            <a:r>
              <a:rPr lang="fr-CA" sz="3200" b="1" dirty="0"/>
              <a:t>4. Produits promotion Quinzième anniversaire</a:t>
            </a:r>
            <a:endParaRPr lang="fr-FR" sz="3200" b="1" dirty="0"/>
          </a:p>
        </p:txBody>
      </p:sp>
      <p:sp>
        <p:nvSpPr>
          <p:cNvPr id="3" name="Espace réservé du contenu 2">
            <a:extLst>
              <a:ext uri="{FF2B5EF4-FFF2-40B4-BE49-F238E27FC236}">
                <a16:creationId xmlns:a16="http://schemas.microsoft.com/office/drawing/2014/main" id="{010E1E97-E66C-45F9-9D4A-BE9B19861C5A}"/>
              </a:ext>
            </a:extLst>
          </p:cNvPr>
          <p:cNvSpPr>
            <a:spLocks noGrp="1"/>
          </p:cNvSpPr>
          <p:nvPr>
            <p:ph idx="1"/>
          </p:nvPr>
        </p:nvSpPr>
        <p:spPr/>
        <p:txBody>
          <a:bodyPr>
            <a:normAutofit fontScale="25000" lnSpcReduction="20000"/>
          </a:bodyPr>
          <a:lstStyle/>
          <a:p>
            <a:pPr marL="0" indent="0">
              <a:buNone/>
            </a:pPr>
            <a:r>
              <a:rPr lang="fr-CA" sz="8000" cap="small" dirty="0"/>
              <a:t>La mesure des obligations de prestation distinctes selon la méthode des prix de vente spécifiques </a:t>
            </a:r>
            <a:endParaRPr lang="fr-FR" sz="8000" cap="small" dirty="0"/>
          </a:p>
          <a:p>
            <a:pPr marL="0" indent="0">
              <a:buNone/>
            </a:pPr>
            <a:r>
              <a:rPr lang="fr-CA" sz="8000" dirty="0"/>
              <a:t> </a:t>
            </a:r>
            <a:endParaRPr lang="fr-FR" sz="8000" dirty="0"/>
          </a:p>
          <a:p>
            <a:pPr marL="0" indent="0">
              <a:buNone/>
            </a:pPr>
            <a:r>
              <a:rPr lang="fr-CA" sz="8000" u="dotted" dirty="0"/>
              <a:t>Nos données de base</a:t>
            </a:r>
            <a:endParaRPr lang="fr-FR" sz="8000" dirty="0"/>
          </a:p>
          <a:p>
            <a:pPr marL="0" indent="0">
              <a:buNone/>
            </a:pPr>
            <a:r>
              <a:rPr lang="fr-CA" sz="8000" dirty="0"/>
              <a:t>Forfait = 175 $ X 15 000 = 2 625 000 $</a:t>
            </a:r>
            <a:endParaRPr lang="fr-FR" sz="8000" dirty="0"/>
          </a:p>
          <a:p>
            <a:pPr marL="0" indent="0">
              <a:buNone/>
            </a:pPr>
            <a:r>
              <a:rPr lang="fr-CA" sz="8000" dirty="0"/>
              <a:t> </a:t>
            </a:r>
            <a:endParaRPr lang="fr-FR" sz="8000" dirty="0"/>
          </a:p>
          <a:p>
            <a:pPr marL="0" indent="0">
              <a:buNone/>
            </a:pPr>
            <a:r>
              <a:rPr lang="fr-CA" sz="8000" u="dotted" dirty="0"/>
              <a:t>Prix de vente spécifique de chaque composante</a:t>
            </a:r>
            <a:endParaRPr lang="fr-FR" sz="8000" dirty="0"/>
          </a:p>
          <a:p>
            <a:pPr marL="0" indent="0">
              <a:buNone/>
            </a:pPr>
            <a:r>
              <a:rPr lang="fr-CA" sz="8000" dirty="0"/>
              <a:t> Le spectacle </a:t>
            </a:r>
            <a:r>
              <a:rPr lang="fr-CA" sz="8000" i="1" dirty="0"/>
              <a:t>Traces</a:t>
            </a:r>
            <a:r>
              <a:rPr lang="fr-CA" sz="8000" dirty="0"/>
              <a:t> =			68 $ / billet</a:t>
            </a:r>
            <a:endParaRPr lang="fr-FR" sz="8000" dirty="0"/>
          </a:p>
          <a:p>
            <a:pPr marL="0" indent="0">
              <a:buNone/>
            </a:pPr>
            <a:r>
              <a:rPr lang="fr-CA" sz="8000" dirty="0"/>
              <a:t>La visite des coulisses = 			30 $ / billet</a:t>
            </a:r>
            <a:endParaRPr lang="fr-FR" sz="8000" dirty="0"/>
          </a:p>
          <a:p>
            <a:pPr marL="0" indent="0">
              <a:buNone/>
            </a:pPr>
            <a:r>
              <a:rPr lang="fr-CA" sz="8000" dirty="0"/>
              <a:t>Le spectacle </a:t>
            </a:r>
            <a:r>
              <a:rPr lang="fr-CA" sz="8000" i="1" dirty="0"/>
              <a:t>Cuisine et dépendances</a:t>
            </a:r>
            <a:r>
              <a:rPr lang="fr-CA" sz="8000" dirty="0"/>
              <a:t> = 	77 $ / billet</a:t>
            </a:r>
            <a:endParaRPr lang="fr-FR" sz="8000" dirty="0"/>
          </a:p>
          <a:p>
            <a:pPr marL="0" indent="0">
              <a:buNone/>
            </a:pPr>
            <a:r>
              <a:rPr lang="fr-CA" sz="8000" dirty="0"/>
              <a:t>L’</a:t>
            </a:r>
            <a:r>
              <a:rPr lang="fr-CA" sz="8000" i="1" dirty="0"/>
              <a:t>app</a:t>
            </a:r>
            <a:r>
              <a:rPr lang="fr-CA" sz="8000" dirty="0"/>
              <a:t> fournie gratuitement pendant </a:t>
            </a:r>
            <a:r>
              <a:rPr lang="fr-CA" sz="8000" i="1" dirty="0"/>
              <a:t>Cuisine et dépendances</a:t>
            </a:r>
            <a:r>
              <a:rPr lang="fr-CA" sz="8000" dirty="0"/>
              <a:t> = 	0 $</a:t>
            </a:r>
            <a:endParaRPr lang="fr-FR" sz="8000" dirty="0"/>
          </a:p>
          <a:p>
            <a:pPr marL="0" indent="0">
              <a:buNone/>
            </a:pPr>
            <a:r>
              <a:rPr lang="fr-CA" sz="8000" dirty="0"/>
              <a:t>Le programme-souvenir = 			</a:t>
            </a:r>
            <a:r>
              <a:rPr lang="fr-CA" sz="8000" u="sng" dirty="0"/>
              <a:t>39 $</a:t>
            </a:r>
            <a:endParaRPr lang="fr-FR" sz="8000" dirty="0"/>
          </a:p>
          <a:p>
            <a:pPr marL="0" indent="0">
              <a:buNone/>
            </a:pPr>
            <a:r>
              <a:rPr lang="fr-CA" sz="8000" dirty="0"/>
              <a:t> </a:t>
            </a:r>
            <a:r>
              <a:rPr lang="fr-CA" sz="8000" b="1" dirty="0"/>
              <a:t>Total					214 $</a:t>
            </a:r>
            <a:endParaRPr lang="fr-FR" sz="8000" dirty="0"/>
          </a:p>
          <a:p>
            <a:pPr marL="0" indent="0">
              <a:buNone/>
            </a:pPr>
            <a:r>
              <a:rPr lang="fr-CA" sz="8000" dirty="0"/>
              <a:t> </a:t>
            </a:r>
            <a:endParaRPr lang="fr-FR" dirty="0"/>
          </a:p>
        </p:txBody>
      </p:sp>
    </p:spTree>
    <p:extLst>
      <p:ext uri="{BB962C8B-B14F-4D97-AF65-F5344CB8AC3E}">
        <p14:creationId xmlns:p14="http://schemas.microsoft.com/office/powerpoint/2010/main" val="2724735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BD1628-57CA-463B-A7A6-C5D8251E013D}"/>
              </a:ext>
            </a:extLst>
          </p:cNvPr>
          <p:cNvSpPr>
            <a:spLocks noGrp="1"/>
          </p:cNvSpPr>
          <p:nvPr>
            <p:ph type="title"/>
          </p:nvPr>
        </p:nvSpPr>
        <p:spPr/>
        <p:txBody>
          <a:bodyPr>
            <a:normAutofit/>
          </a:bodyPr>
          <a:lstStyle/>
          <a:p>
            <a:r>
              <a:rPr lang="fr-CA" sz="3200" b="1" dirty="0"/>
              <a:t>4. Produits promotion Quinzième anniversaire</a:t>
            </a:r>
            <a:endParaRPr lang="fr-FR" sz="3200" b="1" dirty="0"/>
          </a:p>
        </p:txBody>
      </p:sp>
      <p:sp>
        <p:nvSpPr>
          <p:cNvPr id="3" name="Espace réservé du contenu 2">
            <a:extLst>
              <a:ext uri="{FF2B5EF4-FFF2-40B4-BE49-F238E27FC236}">
                <a16:creationId xmlns:a16="http://schemas.microsoft.com/office/drawing/2014/main" id="{010E1E97-E66C-45F9-9D4A-BE9B19861C5A}"/>
              </a:ext>
            </a:extLst>
          </p:cNvPr>
          <p:cNvSpPr>
            <a:spLocks noGrp="1"/>
          </p:cNvSpPr>
          <p:nvPr>
            <p:ph idx="1"/>
          </p:nvPr>
        </p:nvSpPr>
        <p:spPr/>
        <p:txBody>
          <a:bodyPr>
            <a:normAutofit fontScale="25000" lnSpcReduction="20000"/>
          </a:bodyPr>
          <a:lstStyle/>
          <a:p>
            <a:pPr marL="0" indent="0">
              <a:buNone/>
            </a:pPr>
            <a:r>
              <a:rPr lang="fr-CA" sz="8000" u="dotted" dirty="0"/>
              <a:t>La JV attribuable aux billets de </a:t>
            </a:r>
            <a:r>
              <a:rPr lang="fr-CA" sz="8000" i="1" u="dotted" dirty="0"/>
              <a:t>Traces</a:t>
            </a:r>
            <a:endParaRPr lang="fr-FR" sz="8000" dirty="0"/>
          </a:p>
          <a:p>
            <a:pPr marL="0" indent="0">
              <a:buNone/>
            </a:pPr>
            <a:r>
              <a:rPr lang="fr-CA" sz="8000" dirty="0"/>
              <a:t> 175 X 68 / 214 = 55 $ X 15 000 billets = 	825 000 $</a:t>
            </a:r>
            <a:endParaRPr lang="fr-FR" sz="8000" dirty="0"/>
          </a:p>
          <a:p>
            <a:pPr marL="0" indent="0">
              <a:buNone/>
            </a:pPr>
            <a:r>
              <a:rPr lang="fr-CA" sz="8000" dirty="0"/>
              <a:t> </a:t>
            </a:r>
            <a:endParaRPr lang="fr-FR" sz="8000" dirty="0"/>
          </a:p>
          <a:p>
            <a:pPr marL="0" indent="0">
              <a:buNone/>
            </a:pPr>
            <a:r>
              <a:rPr lang="fr-CA" sz="8000" u="dotted" dirty="0"/>
              <a:t>La JV attribuable aux billets visite des coulisses</a:t>
            </a:r>
            <a:endParaRPr lang="fr-FR" sz="8000" dirty="0"/>
          </a:p>
          <a:p>
            <a:pPr marL="0" indent="0">
              <a:buNone/>
            </a:pPr>
            <a:r>
              <a:rPr lang="fr-CA" sz="8000" dirty="0"/>
              <a:t> 175 $ X 30 / 214 = 25 $ X 15 000 billets = 	375 000 $</a:t>
            </a:r>
            <a:endParaRPr lang="fr-FR" sz="8000" dirty="0"/>
          </a:p>
          <a:p>
            <a:pPr marL="0" indent="0">
              <a:buNone/>
            </a:pPr>
            <a:r>
              <a:rPr lang="fr-CA" sz="8000" dirty="0"/>
              <a:t> </a:t>
            </a:r>
            <a:endParaRPr lang="fr-FR" sz="8000" dirty="0"/>
          </a:p>
          <a:p>
            <a:pPr marL="0" indent="0">
              <a:buNone/>
            </a:pPr>
            <a:r>
              <a:rPr lang="fr-CA" sz="8000" u="dotted" dirty="0"/>
              <a:t>La JV attribuable aux billets </a:t>
            </a:r>
            <a:r>
              <a:rPr lang="fr-CA" sz="8000" i="1" u="dotted" dirty="0"/>
              <a:t>Cuisine et dépendances</a:t>
            </a:r>
            <a:r>
              <a:rPr lang="fr-CA" sz="8000" u="dotted" dirty="0"/>
              <a:t> + </a:t>
            </a:r>
            <a:r>
              <a:rPr lang="fr-CA" sz="8000" i="1" u="dotted" dirty="0"/>
              <a:t>app</a:t>
            </a:r>
            <a:r>
              <a:rPr lang="fr-CA" sz="8000" u="dotted" dirty="0"/>
              <a:t> gratuite</a:t>
            </a:r>
            <a:endParaRPr lang="fr-FR" sz="8000" dirty="0"/>
          </a:p>
          <a:p>
            <a:pPr marL="0" indent="0">
              <a:buNone/>
            </a:pPr>
            <a:r>
              <a:rPr lang="fr-CA" sz="8000" dirty="0"/>
              <a:t>175 $ X 77 / 214 = 63 $ X 15 000 billets = 	945 000 $</a:t>
            </a:r>
            <a:endParaRPr lang="fr-FR" sz="8000" dirty="0"/>
          </a:p>
          <a:p>
            <a:pPr marL="0" indent="0">
              <a:buNone/>
            </a:pPr>
            <a:r>
              <a:rPr lang="fr-CA" sz="8000" dirty="0"/>
              <a:t> </a:t>
            </a:r>
            <a:endParaRPr lang="fr-FR" sz="8000" dirty="0"/>
          </a:p>
          <a:p>
            <a:pPr marL="0" indent="0">
              <a:buNone/>
            </a:pPr>
            <a:r>
              <a:rPr lang="fr-CA" sz="8000" u="dotted" dirty="0"/>
              <a:t>La JV attribuable au programme-souvenir</a:t>
            </a:r>
            <a:endParaRPr lang="fr-FR" sz="8000" dirty="0"/>
          </a:p>
          <a:p>
            <a:pPr marL="0" indent="0">
              <a:buNone/>
            </a:pPr>
            <a:r>
              <a:rPr lang="fr-CA" sz="8000" dirty="0"/>
              <a:t> 175 $ X 39 / 214 = 32 $ X 15 000 = 		480 000 $</a:t>
            </a:r>
            <a:endParaRPr lang="fr-FR" sz="8000" dirty="0"/>
          </a:p>
          <a:p>
            <a:pPr marL="0" indent="0">
              <a:buNone/>
            </a:pPr>
            <a:r>
              <a:rPr lang="fr-CA" sz="8000" dirty="0"/>
              <a:t> </a:t>
            </a:r>
            <a:endParaRPr lang="fr-FR" sz="8000" dirty="0"/>
          </a:p>
          <a:p>
            <a:pPr marL="0" indent="0">
              <a:buNone/>
            </a:pPr>
            <a:endParaRPr lang="fr-FR" dirty="0"/>
          </a:p>
        </p:txBody>
      </p:sp>
    </p:spTree>
    <p:extLst>
      <p:ext uri="{BB962C8B-B14F-4D97-AF65-F5344CB8AC3E}">
        <p14:creationId xmlns:p14="http://schemas.microsoft.com/office/powerpoint/2010/main" val="34139243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BD1628-57CA-463B-A7A6-C5D8251E013D}"/>
              </a:ext>
            </a:extLst>
          </p:cNvPr>
          <p:cNvSpPr>
            <a:spLocks noGrp="1"/>
          </p:cNvSpPr>
          <p:nvPr>
            <p:ph type="title"/>
          </p:nvPr>
        </p:nvSpPr>
        <p:spPr/>
        <p:txBody>
          <a:bodyPr>
            <a:normAutofit/>
          </a:bodyPr>
          <a:lstStyle/>
          <a:p>
            <a:r>
              <a:rPr lang="fr-CA" sz="3200" b="1" dirty="0"/>
              <a:t>4. Produits promotion Quinzième anniversaire</a:t>
            </a:r>
            <a:endParaRPr lang="fr-FR" sz="3200" b="1" dirty="0"/>
          </a:p>
        </p:txBody>
      </p:sp>
      <p:sp>
        <p:nvSpPr>
          <p:cNvPr id="3" name="Espace réservé du contenu 2">
            <a:extLst>
              <a:ext uri="{FF2B5EF4-FFF2-40B4-BE49-F238E27FC236}">
                <a16:creationId xmlns:a16="http://schemas.microsoft.com/office/drawing/2014/main" id="{010E1E97-E66C-45F9-9D4A-BE9B19861C5A}"/>
              </a:ext>
            </a:extLst>
          </p:cNvPr>
          <p:cNvSpPr>
            <a:spLocks noGrp="1"/>
          </p:cNvSpPr>
          <p:nvPr>
            <p:ph idx="1"/>
          </p:nvPr>
        </p:nvSpPr>
        <p:spPr/>
        <p:txBody>
          <a:bodyPr>
            <a:normAutofit/>
          </a:bodyPr>
          <a:lstStyle/>
          <a:p>
            <a:pPr marL="0" indent="0">
              <a:buNone/>
            </a:pPr>
            <a:r>
              <a:rPr lang="fr-FR" sz="2000" u="sng" cap="small" dirty="0"/>
              <a:t>Étape 5 moment - </a:t>
            </a:r>
            <a:r>
              <a:rPr lang="fr-CA" sz="2000" u="sng" cap="small" dirty="0"/>
              <a:t>Obligations de prestations remplies</a:t>
            </a:r>
            <a:endParaRPr lang="fr-FR" sz="2000" u="sng" dirty="0"/>
          </a:p>
          <a:p>
            <a:pPr marL="0" indent="0">
              <a:buNone/>
            </a:pPr>
            <a:r>
              <a:rPr lang="fr-CA" sz="2000" dirty="0"/>
              <a:t>Le Cirque devra comptabiliser des produits des activités ordinaires lorsqu'il aura rempli une obligation de prestation en fournissant au client un bien (le programme-souvenir) ou en présentant le spectacle promis. </a:t>
            </a:r>
            <a:endParaRPr lang="fr-FR" sz="2000" dirty="0"/>
          </a:p>
          <a:p>
            <a:pPr marL="0" indent="0">
              <a:buNone/>
            </a:pPr>
            <a:r>
              <a:rPr lang="fr-CA" sz="2000" dirty="0"/>
              <a:t>Le Cirque remplira ses obligations de prestation à un moment précis.</a:t>
            </a:r>
            <a:endParaRPr lang="fr-FR" sz="2000" dirty="0"/>
          </a:p>
          <a:p>
            <a:r>
              <a:rPr lang="fr-CA" sz="2000" dirty="0"/>
              <a:t>Pour le programme-souvenir, ce sera lorsqu’il le postera.</a:t>
            </a:r>
            <a:endParaRPr lang="fr-FR" sz="2000" dirty="0"/>
          </a:p>
          <a:p>
            <a:r>
              <a:rPr lang="fr-CA" sz="2000" dirty="0"/>
              <a:t>Pour les spectacles, ce sera au moment de leur présentation.</a:t>
            </a:r>
            <a:r>
              <a:rPr lang="fr-CA" sz="3200" dirty="0"/>
              <a:t> </a:t>
            </a:r>
            <a:endParaRPr lang="fr-FR" sz="3200" dirty="0"/>
          </a:p>
          <a:p>
            <a:pPr marL="0" indent="0">
              <a:buNone/>
            </a:pPr>
            <a:endParaRPr lang="fr-FR" sz="2000" cap="small" dirty="0"/>
          </a:p>
          <a:p>
            <a:pPr marL="0" indent="0">
              <a:buNone/>
            </a:pPr>
            <a:endParaRPr lang="fr-FR" dirty="0"/>
          </a:p>
        </p:txBody>
      </p:sp>
    </p:spTree>
    <p:extLst>
      <p:ext uri="{BB962C8B-B14F-4D97-AF65-F5344CB8AC3E}">
        <p14:creationId xmlns:p14="http://schemas.microsoft.com/office/powerpoint/2010/main" val="40972798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BD1628-57CA-463B-A7A6-C5D8251E013D}"/>
              </a:ext>
            </a:extLst>
          </p:cNvPr>
          <p:cNvSpPr>
            <a:spLocks noGrp="1"/>
          </p:cNvSpPr>
          <p:nvPr>
            <p:ph type="title"/>
          </p:nvPr>
        </p:nvSpPr>
        <p:spPr/>
        <p:txBody>
          <a:bodyPr>
            <a:normAutofit/>
          </a:bodyPr>
          <a:lstStyle/>
          <a:p>
            <a:r>
              <a:rPr lang="fr-CA" sz="3200" b="1" dirty="0"/>
              <a:t>4. Produits promotion Quinzième anniversaire</a:t>
            </a:r>
            <a:endParaRPr lang="fr-FR" sz="3200" b="1" dirty="0"/>
          </a:p>
        </p:txBody>
      </p:sp>
      <p:sp>
        <p:nvSpPr>
          <p:cNvPr id="3" name="Espace réservé du contenu 2">
            <a:extLst>
              <a:ext uri="{FF2B5EF4-FFF2-40B4-BE49-F238E27FC236}">
                <a16:creationId xmlns:a16="http://schemas.microsoft.com/office/drawing/2014/main" id="{010E1E97-E66C-45F9-9D4A-BE9B19861C5A}"/>
              </a:ext>
            </a:extLst>
          </p:cNvPr>
          <p:cNvSpPr>
            <a:spLocks noGrp="1"/>
          </p:cNvSpPr>
          <p:nvPr>
            <p:ph idx="1"/>
          </p:nvPr>
        </p:nvSpPr>
        <p:spPr/>
        <p:txBody>
          <a:bodyPr>
            <a:normAutofit fontScale="25000" lnSpcReduction="20000"/>
          </a:bodyPr>
          <a:lstStyle/>
          <a:p>
            <a:pPr marL="0" indent="0">
              <a:buNone/>
            </a:pPr>
            <a:r>
              <a:rPr lang="fr-CA" sz="8000" cap="small" dirty="0"/>
              <a:t>Obligations remplies à un moment précis</a:t>
            </a:r>
            <a:endParaRPr lang="fr-FR" sz="8000" dirty="0"/>
          </a:p>
          <a:p>
            <a:pPr marL="0" indent="0">
              <a:buNone/>
            </a:pPr>
            <a:r>
              <a:rPr lang="fr-CA" sz="8000" dirty="0"/>
              <a:t>Le Cirque doit comptabiliser des produits des activités ordinaires lorsqu'il a rempli une obligation de prestation en fournissant au client un bien ou un service  promis.</a:t>
            </a:r>
            <a:endParaRPr lang="fr-FR" sz="8000" dirty="0"/>
          </a:p>
          <a:p>
            <a:pPr marL="0" indent="0">
              <a:buNone/>
            </a:pPr>
            <a:r>
              <a:rPr lang="fr-CA" sz="8000" dirty="0"/>
              <a:t> </a:t>
            </a:r>
            <a:endParaRPr lang="fr-FR" sz="8000" dirty="0"/>
          </a:p>
          <a:p>
            <a:pPr marL="0" indent="0">
              <a:buNone/>
            </a:pPr>
            <a:r>
              <a:rPr lang="fr-CA" sz="8000" u="dotted" dirty="0"/>
              <a:t>Pour ce qui est du programme-souvenir :</a:t>
            </a:r>
            <a:endParaRPr lang="fr-FR" sz="8000" dirty="0"/>
          </a:p>
          <a:p>
            <a:r>
              <a:rPr lang="fr-CA" sz="8000" dirty="0"/>
              <a:t>Au moment de la vente du forfait, le Cirque transfère le contrôle d’un actif aux clients. Ceux-ci peuvent vendre le programme-souvenir. Ou ils peuvent les conserver pour en profiter. Le programme-souvenir est livré par messagerie. C’est au moment où la livraison a lieu et que le client a la possession matérielle du programme-souvenir que le client a le contrôle de l’actif. À ce moment-là, il a la capacité de décider de l'utilisation de celui-ci et d'en obtenir la quasi-totalité des avantages restants.</a:t>
            </a:r>
            <a:endParaRPr lang="fr-FR" sz="8000" dirty="0"/>
          </a:p>
          <a:p>
            <a:pPr marL="0" indent="0">
              <a:buNone/>
            </a:pPr>
            <a:r>
              <a:rPr lang="fr-CA" sz="8000" dirty="0"/>
              <a:t> </a:t>
            </a:r>
            <a:endParaRPr lang="fr-FR" sz="8000" dirty="0"/>
          </a:p>
          <a:p>
            <a:pPr marL="0" indent="0">
              <a:buNone/>
            </a:pPr>
            <a:r>
              <a:rPr lang="fr-CA" sz="8000" cap="small" dirty="0"/>
              <a:t>Conclusion</a:t>
            </a:r>
            <a:endParaRPr lang="fr-FR" sz="8000" dirty="0"/>
          </a:p>
          <a:p>
            <a:pPr marL="0" indent="0">
              <a:buNone/>
            </a:pPr>
            <a:r>
              <a:rPr lang="fr-CA" sz="8000" dirty="0"/>
              <a:t>Les produits de la vente de </a:t>
            </a:r>
            <a:r>
              <a:rPr lang="fr-CA" sz="8000" b="1" dirty="0"/>
              <a:t>l’album-souvenir</a:t>
            </a:r>
            <a:r>
              <a:rPr lang="fr-CA" sz="8000" dirty="0"/>
              <a:t> seront comptabilisés au moment où nous aurons la confirmation que le service de messagerie a livré le programme-souvenir.</a:t>
            </a:r>
            <a:endParaRPr lang="fr-FR" sz="8000" dirty="0"/>
          </a:p>
          <a:p>
            <a:pPr marL="0" indent="0">
              <a:buNone/>
            </a:pPr>
            <a:r>
              <a:rPr lang="fr-CA" sz="8000" dirty="0"/>
              <a:t> </a:t>
            </a:r>
            <a:endParaRPr lang="fr-FR" sz="8000" dirty="0"/>
          </a:p>
          <a:p>
            <a:pPr marL="0" indent="0">
              <a:buNone/>
            </a:pPr>
            <a:endParaRPr lang="fr-FR" dirty="0"/>
          </a:p>
        </p:txBody>
      </p:sp>
    </p:spTree>
    <p:extLst>
      <p:ext uri="{BB962C8B-B14F-4D97-AF65-F5344CB8AC3E}">
        <p14:creationId xmlns:p14="http://schemas.microsoft.com/office/powerpoint/2010/main" val="27473181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BD1628-57CA-463B-A7A6-C5D8251E013D}"/>
              </a:ext>
            </a:extLst>
          </p:cNvPr>
          <p:cNvSpPr>
            <a:spLocks noGrp="1"/>
          </p:cNvSpPr>
          <p:nvPr>
            <p:ph type="title"/>
          </p:nvPr>
        </p:nvSpPr>
        <p:spPr/>
        <p:txBody>
          <a:bodyPr>
            <a:normAutofit/>
          </a:bodyPr>
          <a:lstStyle/>
          <a:p>
            <a:r>
              <a:rPr lang="fr-CA" sz="3200" b="1" dirty="0"/>
              <a:t>4. Produits promotion Quinzième anniversaire</a:t>
            </a:r>
            <a:endParaRPr lang="fr-FR" sz="3200" b="1" dirty="0"/>
          </a:p>
        </p:txBody>
      </p:sp>
      <p:sp>
        <p:nvSpPr>
          <p:cNvPr id="3" name="Espace réservé du contenu 2">
            <a:extLst>
              <a:ext uri="{FF2B5EF4-FFF2-40B4-BE49-F238E27FC236}">
                <a16:creationId xmlns:a16="http://schemas.microsoft.com/office/drawing/2014/main" id="{010E1E97-E66C-45F9-9D4A-BE9B19861C5A}"/>
              </a:ext>
            </a:extLst>
          </p:cNvPr>
          <p:cNvSpPr>
            <a:spLocks noGrp="1"/>
          </p:cNvSpPr>
          <p:nvPr>
            <p:ph idx="1"/>
          </p:nvPr>
        </p:nvSpPr>
        <p:spPr/>
        <p:txBody>
          <a:bodyPr>
            <a:normAutofit fontScale="25000" lnSpcReduction="20000"/>
          </a:bodyPr>
          <a:lstStyle/>
          <a:p>
            <a:pPr marL="0" indent="0">
              <a:buNone/>
            </a:pPr>
            <a:r>
              <a:rPr lang="fr-CA" sz="8000" cap="small" dirty="0"/>
              <a:t>Obligations remplies à un moment précis</a:t>
            </a:r>
            <a:endParaRPr lang="fr-FR" sz="8000" dirty="0"/>
          </a:p>
          <a:p>
            <a:pPr marL="0" indent="0">
              <a:buNone/>
            </a:pPr>
            <a:r>
              <a:rPr lang="fr-CA" sz="8000" u="dotted" dirty="0"/>
              <a:t>Pour ce qui est des spectacles</a:t>
            </a:r>
            <a:endParaRPr lang="fr-FR" sz="8000" dirty="0"/>
          </a:p>
          <a:p>
            <a:pPr marL="0" indent="0">
              <a:buNone/>
            </a:pPr>
            <a:r>
              <a:rPr lang="fr-CA" sz="8000" dirty="0"/>
              <a:t>Au moment de la vente du forfait, le Cirque promet de transférer le contrôle d’un actif – le spectacle - aux clients à une date future. À quel moment précis le transfert du contrôle est-il réalisé?</a:t>
            </a:r>
            <a:endParaRPr lang="fr-FR" sz="8000" dirty="0"/>
          </a:p>
          <a:p>
            <a:pPr marL="0" indent="0">
              <a:buNone/>
            </a:pPr>
            <a:r>
              <a:rPr lang="fr-CA" sz="8000" u="dotted" dirty="0"/>
              <a:t>Le client a le titre de propriété des billets qu’il a achetés</a:t>
            </a:r>
            <a:r>
              <a:rPr lang="fr-CA" sz="8000" dirty="0"/>
              <a:t>. Il peut décider de faire ce qu’il veut : le revendre ou assister au spectacle au moment établi. Cependant, le Cirque garde l’obligation de présenter le spectacle au moment prévu sur le billet à la personne qui détiendra le billet ce soir-là. </a:t>
            </a:r>
            <a:endParaRPr lang="fr-FR" sz="8000" dirty="0"/>
          </a:p>
          <a:p>
            <a:pPr marL="0" indent="0">
              <a:buNone/>
            </a:pPr>
            <a:r>
              <a:rPr lang="fr-CA" sz="8000" dirty="0"/>
              <a:t>Le client </a:t>
            </a:r>
            <a:r>
              <a:rPr lang="fr-CA" sz="8000" u="dotted" dirty="0"/>
              <a:t>assumera les risques et avantages importants inhérents à la propriété </a:t>
            </a:r>
            <a:r>
              <a:rPr lang="fr-CA" sz="8000" dirty="0"/>
              <a:t>du</a:t>
            </a:r>
            <a:r>
              <a:rPr lang="fr-CA" sz="8000" b="1" dirty="0"/>
              <a:t> </a:t>
            </a:r>
            <a:r>
              <a:rPr lang="fr-CA" sz="8000" dirty="0"/>
              <a:t>billet le soir où il assistera à la représentation. C’est à ce moment-là qu’il en obtiendra alors la quasi-totalité des avantages restants.</a:t>
            </a:r>
            <a:endParaRPr lang="fr-FR" sz="8000" dirty="0"/>
          </a:p>
          <a:p>
            <a:pPr marL="0" indent="0">
              <a:buNone/>
            </a:pPr>
            <a:r>
              <a:rPr lang="fr-CA" sz="8000" dirty="0"/>
              <a:t> </a:t>
            </a:r>
            <a:endParaRPr lang="fr-FR" sz="8000" dirty="0"/>
          </a:p>
          <a:p>
            <a:pPr marL="0" indent="0">
              <a:buNone/>
            </a:pPr>
            <a:r>
              <a:rPr lang="fr-CA" sz="8000" cap="small" dirty="0"/>
              <a:t>Conclusion</a:t>
            </a:r>
            <a:endParaRPr lang="fr-FR" sz="8000" dirty="0"/>
          </a:p>
          <a:p>
            <a:pPr marL="0" indent="0">
              <a:buNone/>
            </a:pPr>
            <a:r>
              <a:rPr lang="fr-CA" sz="8000" dirty="0"/>
              <a:t>Le Cirque transfère le contrôle sur le spectacle (l’actif) le soir de la prestation. </a:t>
            </a:r>
            <a:endParaRPr lang="fr-FR" sz="8000" dirty="0"/>
          </a:p>
          <a:p>
            <a:pPr marL="0" indent="0">
              <a:buNone/>
            </a:pPr>
            <a:r>
              <a:rPr lang="fr-CA" sz="8000" dirty="0"/>
              <a:t>Les produits de la vente des billets seront comptabilisés en résultat au moment où le client a un contrôle de l’actif créé par le Cirque, soit le spectacle.</a:t>
            </a:r>
            <a:endParaRPr lang="fr-FR" sz="8000" dirty="0"/>
          </a:p>
          <a:p>
            <a:pPr marL="0" indent="0">
              <a:buNone/>
            </a:pPr>
            <a:endParaRPr lang="fr-FR" sz="2000" cap="small" dirty="0"/>
          </a:p>
          <a:p>
            <a:pPr marL="0" indent="0">
              <a:buNone/>
            </a:pPr>
            <a:endParaRPr lang="fr-FR" dirty="0"/>
          </a:p>
        </p:txBody>
      </p:sp>
    </p:spTree>
    <p:extLst>
      <p:ext uri="{BB962C8B-B14F-4D97-AF65-F5344CB8AC3E}">
        <p14:creationId xmlns:p14="http://schemas.microsoft.com/office/powerpoint/2010/main" val="34416011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BD1628-57CA-463B-A7A6-C5D8251E013D}"/>
              </a:ext>
            </a:extLst>
          </p:cNvPr>
          <p:cNvSpPr>
            <a:spLocks noGrp="1"/>
          </p:cNvSpPr>
          <p:nvPr>
            <p:ph type="title"/>
          </p:nvPr>
        </p:nvSpPr>
        <p:spPr/>
        <p:txBody>
          <a:bodyPr>
            <a:normAutofit/>
          </a:bodyPr>
          <a:lstStyle/>
          <a:p>
            <a:r>
              <a:rPr lang="fr-CA" sz="3200" b="1" dirty="0"/>
              <a:t>4. Produits promotion Quinzième anniversaire</a:t>
            </a:r>
            <a:endParaRPr lang="fr-FR" sz="3200" b="1" dirty="0"/>
          </a:p>
        </p:txBody>
      </p:sp>
      <p:sp>
        <p:nvSpPr>
          <p:cNvPr id="3" name="Espace réservé du contenu 2">
            <a:extLst>
              <a:ext uri="{FF2B5EF4-FFF2-40B4-BE49-F238E27FC236}">
                <a16:creationId xmlns:a16="http://schemas.microsoft.com/office/drawing/2014/main" id="{010E1E97-E66C-45F9-9D4A-BE9B19861C5A}"/>
              </a:ext>
            </a:extLst>
          </p:cNvPr>
          <p:cNvSpPr>
            <a:spLocks noGrp="1"/>
          </p:cNvSpPr>
          <p:nvPr>
            <p:ph idx="1"/>
          </p:nvPr>
        </p:nvSpPr>
        <p:spPr/>
        <p:txBody>
          <a:bodyPr>
            <a:normAutofit/>
          </a:bodyPr>
          <a:lstStyle/>
          <a:p>
            <a:pPr marL="0" indent="0">
              <a:buNone/>
            </a:pPr>
            <a:r>
              <a:rPr lang="fr-CA" sz="2000" cap="small" dirty="0"/>
              <a:t>Conclusion</a:t>
            </a:r>
            <a:endParaRPr lang="fr-FR" sz="2000" dirty="0"/>
          </a:p>
          <a:p>
            <a:pPr marL="0" indent="0">
              <a:buNone/>
            </a:pPr>
            <a:r>
              <a:rPr lang="fr-CA" sz="2000" dirty="0"/>
              <a:t>Au moment de leur livraison, Le Cirque comptabilisera la vente des programmes-souvenir au montant de 480 000 $. </a:t>
            </a:r>
            <a:endParaRPr lang="fr-FR" sz="2000" dirty="0"/>
          </a:p>
          <a:p>
            <a:pPr marL="0" indent="0">
              <a:buNone/>
            </a:pPr>
            <a:r>
              <a:rPr lang="fr-CA" sz="2000" dirty="0"/>
              <a:t> </a:t>
            </a:r>
            <a:endParaRPr lang="fr-FR" sz="2000" dirty="0"/>
          </a:p>
          <a:p>
            <a:pPr marL="0" indent="0">
              <a:buNone/>
            </a:pPr>
            <a:r>
              <a:rPr lang="fr-CA" sz="2000" dirty="0"/>
              <a:t>Pour rapprocher les charges aux produits, il comptabilisera aussi les coûts de livraison et des programmes-souvenir.</a:t>
            </a:r>
            <a:endParaRPr lang="fr-FR" sz="2000" dirty="0"/>
          </a:p>
          <a:p>
            <a:pPr marL="0" indent="0">
              <a:buNone/>
            </a:pPr>
            <a:r>
              <a:rPr lang="fr-CA" sz="2000" dirty="0"/>
              <a:t> </a:t>
            </a:r>
            <a:endParaRPr lang="fr-FR" sz="2000" dirty="0"/>
          </a:p>
          <a:p>
            <a:pPr marL="0" indent="0">
              <a:buNone/>
            </a:pPr>
            <a:r>
              <a:rPr lang="fr-CA" sz="2000" dirty="0"/>
              <a:t>Le 20 mars, Le Cirque n’avait pas présenté les spectacles. Le produit de la vente de billets doit alors être reporté et classé en bilan selon le moment où les spectacles seront présentés.</a:t>
            </a:r>
            <a:endParaRPr lang="fr-FR" sz="8000" dirty="0"/>
          </a:p>
          <a:p>
            <a:pPr marL="0" indent="0">
              <a:buNone/>
            </a:pPr>
            <a:endParaRPr lang="fr-FR" sz="2000" cap="small" dirty="0"/>
          </a:p>
          <a:p>
            <a:pPr marL="0" indent="0">
              <a:buNone/>
            </a:pPr>
            <a:endParaRPr lang="fr-FR" dirty="0"/>
          </a:p>
        </p:txBody>
      </p:sp>
    </p:spTree>
    <p:extLst>
      <p:ext uri="{BB962C8B-B14F-4D97-AF65-F5344CB8AC3E}">
        <p14:creationId xmlns:p14="http://schemas.microsoft.com/office/powerpoint/2010/main" val="10956860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9E54D3A-3906-4C74-9E22-CEF5AA176950}"/>
              </a:ext>
            </a:extLst>
          </p:cNvPr>
          <p:cNvSpPr>
            <a:spLocks noGrp="1"/>
          </p:cNvSpPr>
          <p:nvPr>
            <p:ph type="title"/>
          </p:nvPr>
        </p:nvSpPr>
        <p:spPr/>
        <p:txBody>
          <a:bodyPr>
            <a:normAutofit/>
          </a:bodyPr>
          <a:lstStyle/>
          <a:p>
            <a:r>
              <a:rPr lang="fr-CA" sz="3200" b="1" dirty="0"/>
              <a:t>4. Produits promotion Quinzième anniversaire</a:t>
            </a:r>
            <a:endParaRPr lang="fr-FR" sz="3200" dirty="0"/>
          </a:p>
        </p:txBody>
      </p:sp>
      <p:sp>
        <p:nvSpPr>
          <p:cNvPr id="3" name="Espace réservé du contenu 2">
            <a:extLst>
              <a:ext uri="{FF2B5EF4-FFF2-40B4-BE49-F238E27FC236}">
                <a16:creationId xmlns:a16="http://schemas.microsoft.com/office/drawing/2014/main" id="{A942C9E1-EB5C-48D0-AD89-18466936ED0D}"/>
              </a:ext>
            </a:extLst>
          </p:cNvPr>
          <p:cNvSpPr>
            <a:spLocks noGrp="1"/>
          </p:cNvSpPr>
          <p:nvPr>
            <p:ph idx="1"/>
          </p:nvPr>
        </p:nvSpPr>
        <p:spPr/>
        <p:txBody>
          <a:bodyPr>
            <a:normAutofit fontScale="25000" lnSpcReduction="20000"/>
          </a:bodyPr>
          <a:lstStyle/>
          <a:p>
            <a:pPr marL="0" indent="0">
              <a:buNone/>
            </a:pPr>
            <a:r>
              <a:rPr lang="fr-FR" sz="8000" cap="small" dirty="0"/>
              <a:t>Écritures expressément demandées par le Contrôleur</a:t>
            </a:r>
          </a:p>
          <a:p>
            <a:pPr marL="0" indent="0">
              <a:buNone/>
            </a:pPr>
            <a:r>
              <a:rPr lang="fr-FR" sz="8000" dirty="0"/>
              <a:t> </a:t>
            </a:r>
          </a:p>
          <a:p>
            <a:pPr marL="0" indent="0">
              <a:buNone/>
            </a:pPr>
            <a:r>
              <a:rPr lang="fr-CA" sz="8000" u="dotted" cap="small" dirty="0"/>
              <a:t>Au moment de la vente du forfait – le 20 mars</a:t>
            </a:r>
            <a:endParaRPr lang="fr-FR" sz="8000" dirty="0"/>
          </a:p>
          <a:p>
            <a:pPr marL="0" indent="0">
              <a:buNone/>
            </a:pPr>
            <a:r>
              <a:rPr lang="fr-CA" sz="8000" dirty="0"/>
              <a:t>Caisse						2 625 000 $</a:t>
            </a:r>
            <a:endParaRPr lang="fr-FR" sz="8000" dirty="0"/>
          </a:p>
          <a:p>
            <a:pPr marL="0" indent="0">
              <a:buNone/>
            </a:pPr>
            <a:r>
              <a:rPr lang="fr-CA" sz="8000" dirty="0"/>
              <a:t>@ Produits – vente de programmes-souvenir			   480 000</a:t>
            </a:r>
            <a:endParaRPr lang="fr-FR" sz="8000" dirty="0"/>
          </a:p>
          <a:p>
            <a:pPr marL="0" indent="0">
              <a:buNone/>
            </a:pPr>
            <a:r>
              <a:rPr lang="fr-CA" sz="8000" dirty="0"/>
              <a:t>     Produits différés– </a:t>
            </a:r>
            <a:r>
              <a:rPr lang="fr-CA" sz="8000" i="1" dirty="0"/>
              <a:t>Traces</a:t>
            </a:r>
            <a:r>
              <a:rPr lang="fr-CA" sz="8000" dirty="0"/>
              <a:t>					1 200 000  </a:t>
            </a:r>
            <a:endParaRPr lang="fr-FR" sz="8000" dirty="0"/>
          </a:p>
          <a:p>
            <a:pPr marL="0" indent="0">
              <a:buNone/>
            </a:pPr>
            <a:r>
              <a:rPr lang="fr-CA" sz="8000" dirty="0"/>
              <a:t>     Produis différés– Cuisine et… </a:t>
            </a:r>
            <a:r>
              <a:rPr lang="fr-CA" sz="8000" i="1" dirty="0"/>
              <a:t>(classement non courant)</a:t>
            </a:r>
            <a:r>
              <a:rPr lang="fr-CA" sz="8000" dirty="0"/>
              <a:t>		   945 000</a:t>
            </a:r>
            <a:endParaRPr lang="fr-FR" sz="8000" dirty="0"/>
          </a:p>
          <a:p>
            <a:pPr marL="0" indent="0">
              <a:buNone/>
            </a:pPr>
            <a:endParaRPr lang="fr-CA" sz="8000" dirty="0"/>
          </a:p>
          <a:p>
            <a:pPr marL="0" indent="0">
              <a:buNone/>
            </a:pPr>
            <a:r>
              <a:rPr lang="fr-CA" sz="8000" u="dotted" cap="small" dirty="0"/>
              <a:t>Lors de la livraison des programmes-souvenir</a:t>
            </a:r>
            <a:endParaRPr lang="fr-CA" sz="8000" dirty="0"/>
          </a:p>
          <a:p>
            <a:pPr marL="0" indent="0">
              <a:buNone/>
            </a:pPr>
            <a:r>
              <a:rPr lang="fr-CA" sz="8000" dirty="0"/>
              <a:t>Coût des programmes-souvenir			      120 000 $</a:t>
            </a:r>
            <a:endParaRPr lang="fr-FR" sz="8000" dirty="0"/>
          </a:p>
          <a:p>
            <a:pPr marL="0" indent="0">
              <a:buNone/>
            </a:pPr>
            <a:r>
              <a:rPr lang="fr-CA" sz="8000" dirty="0"/>
              <a:t>@ Stocks de programmes–souvenir				  	    120 000 $</a:t>
            </a:r>
            <a:endParaRPr lang="fr-FR" sz="8000" dirty="0"/>
          </a:p>
          <a:p>
            <a:pPr marL="0" indent="0">
              <a:buNone/>
            </a:pPr>
            <a:r>
              <a:rPr lang="fr-CA" sz="8000" dirty="0"/>
              <a:t> </a:t>
            </a:r>
            <a:endParaRPr lang="fr-FR" sz="8000" dirty="0"/>
          </a:p>
          <a:p>
            <a:pPr marL="0" indent="0">
              <a:buNone/>
            </a:pPr>
            <a:endParaRPr lang="fr-FR" sz="8000" dirty="0"/>
          </a:p>
          <a:p>
            <a:pPr marL="0" indent="0">
              <a:buNone/>
            </a:pPr>
            <a:endParaRPr lang="fr-FR" dirty="0"/>
          </a:p>
        </p:txBody>
      </p:sp>
    </p:spTree>
    <p:extLst>
      <p:ext uri="{BB962C8B-B14F-4D97-AF65-F5344CB8AC3E}">
        <p14:creationId xmlns:p14="http://schemas.microsoft.com/office/powerpoint/2010/main" val="28558548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9E54D3A-3906-4C74-9E22-CEF5AA176950}"/>
              </a:ext>
            </a:extLst>
          </p:cNvPr>
          <p:cNvSpPr>
            <a:spLocks noGrp="1"/>
          </p:cNvSpPr>
          <p:nvPr>
            <p:ph type="title"/>
          </p:nvPr>
        </p:nvSpPr>
        <p:spPr/>
        <p:txBody>
          <a:bodyPr>
            <a:normAutofit/>
          </a:bodyPr>
          <a:lstStyle/>
          <a:p>
            <a:r>
              <a:rPr lang="fr-CA" sz="3200" b="1" dirty="0"/>
              <a:t>4. Produits promotion Quinzième anniversaire</a:t>
            </a:r>
            <a:endParaRPr lang="fr-FR" sz="3200" dirty="0"/>
          </a:p>
        </p:txBody>
      </p:sp>
      <p:sp>
        <p:nvSpPr>
          <p:cNvPr id="3" name="Espace réservé du contenu 2">
            <a:extLst>
              <a:ext uri="{FF2B5EF4-FFF2-40B4-BE49-F238E27FC236}">
                <a16:creationId xmlns:a16="http://schemas.microsoft.com/office/drawing/2014/main" id="{A942C9E1-EB5C-48D0-AD89-18466936ED0D}"/>
              </a:ext>
            </a:extLst>
          </p:cNvPr>
          <p:cNvSpPr>
            <a:spLocks noGrp="1"/>
          </p:cNvSpPr>
          <p:nvPr>
            <p:ph idx="1"/>
          </p:nvPr>
        </p:nvSpPr>
        <p:spPr/>
        <p:txBody>
          <a:bodyPr>
            <a:normAutofit fontScale="25000" lnSpcReduction="20000"/>
          </a:bodyPr>
          <a:lstStyle/>
          <a:p>
            <a:pPr marL="0" indent="0">
              <a:buNone/>
            </a:pPr>
            <a:r>
              <a:rPr lang="fr-CA" sz="8000" dirty="0"/>
              <a:t>Coûts de livraison - programmes			78 000 $</a:t>
            </a:r>
            <a:endParaRPr lang="fr-FR" sz="8000" dirty="0"/>
          </a:p>
          <a:p>
            <a:pPr marL="0" indent="0">
              <a:buNone/>
            </a:pPr>
            <a:r>
              <a:rPr lang="fr-CA" sz="8000" dirty="0"/>
              <a:t>@ Comptes fournisseurs ou Caisse				78 000 $</a:t>
            </a:r>
            <a:endParaRPr lang="fr-FR" sz="8000" dirty="0"/>
          </a:p>
          <a:p>
            <a:pPr marL="0" indent="0">
              <a:buNone/>
            </a:pPr>
            <a:r>
              <a:rPr lang="fr-CA" sz="8000" dirty="0"/>
              <a:t> </a:t>
            </a:r>
          </a:p>
          <a:p>
            <a:pPr marL="0" indent="0">
              <a:buNone/>
            </a:pPr>
            <a:r>
              <a:rPr lang="fr-CA" sz="8000" dirty="0"/>
              <a:t>Charge - Commissions – Le maître de billets		30 000 $</a:t>
            </a:r>
            <a:endParaRPr lang="fr-FR" sz="8000" dirty="0"/>
          </a:p>
          <a:p>
            <a:pPr marL="0" indent="0">
              <a:buNone/>
            </a:pPr>
            <a:r>
              <a:rPr lang="fr-CA" sz="8000" dirty="0"/>
              <a:t>@ Caisse						30 000 $</a:t>
            </a:r>
            <a:endParaRPr lang="fr-FR" sz="8000" dirty="0"/>
          </a:p>
          <a:p>
            <a:pPr marL="0" indent="0">
              <a:buNone/>
            </a:pPr>
            <a:r>
              <a:rPr lang="fr-CA" sz="8000" dirty="0"/>
              <a:t> </a:t>
            </a:r>
            <a:r>
              <a:rPr lang="fr-CA" sz="8000" i="1" dirty="0"/>
              <a:t>Pour enregistrer les coûts de vente des billets comme des frais engagés pour la vente</a:t>
            </a:r>
          </a:p>
          <a:p>
            <a:pPr marL="0" indent="0">
              <a:buNone/>
            </a:pPr>
            <a:r>
              <a:rPr lang="fr-CA" sz="8000" i="1" dirty="0">
                <a:solidFill>
                  <a:srgbClr val="00B0F0"/>
                </a:solidFill>
              </a:rPr>
              <a:t>Et non réduction des produits – pas un ajustement du prix de vente</a:t>
            </a:r>
            <a:endParaRPr lang="fr-FR" sz="8000" dirty="0">
              <a:solidFill>
                <a:srgbClr val="00B0F0"/>
              </a:solidFill>
            </a:endParaRPr>
          </a:p>
          <a:p>
            <a:pPr marL="0" indent="0">
              <a:buNone/>
            </a:pPr>
            <a:r>
              <a:rPr lang="fr-CA" sz="8000" dirty="0"/>
              <a:t> </a:t>
            </a:r>
            <a:endParaRPr lang="fr-FR" sz="8000" dirty="0"/>
          </a:p>
          <a:p>
            <a:pPr marL="0" indent="0">
              <a:buNone/>
            </a:pPr>
            <a:r>
              <a:rPr lang="fr-CA" sz="8000" u="dotted" cap="small" dirty="0"/>
              <a:t>Au moment où les spectacles </a:t>
            </a:r>
            <a:r>
              <a:rPr lang="fr-CA" sz="8000" i="1" u="dotted" cap="small" dirty="0"/>
              <a:t>Traces</a:t>
            </a:r>
            <a:r>
              <a:rPr lang="fr-CA" sz="8000" u="dotted" cap="small" dirty="0"/>
              <a:t> sont présentés</a:t>
            </a:r>
            <a:endParaRPr lang="fr-FR" sz="8000" dirty="0"/>
          </a:p>
          <a:p>
            <a:pPr marL="0" indent="0">
              <a:buNone/>
            </a:pPr>
            <a:r>
              <a:rPr lang="fr-CA" sz="8000" dirty="0"/>
              <a:t>Produits différés – </a:t>
            </a:r>
            <a:r>
              <a:rPr lang="fr-CA" sz="8000" i="1" dirty="0"/>
              <a:t>Traces</a:t>
            </a:r>
            <a:r>
              <a:rPr lang="fr-CA" sz="8000" dirty="0"/>
              <a:t>				1 200 000 $</a:t>
            </a:r>
            <a:endParaRPr lang="fr-FR" sz="8000" dirty="0"/>
          </a:p>
          <a:p>
            <a:pPr marL="0" indent="0">
              <a:buNone/>
            </a:pPr>
            <a:r>
              <a:rPr lang="fr-CA" sz="8000" dirty="0"/>
              <a:t>@ Produits – </a:t>
            </a:r>
            <a:r>
              <a:rPr lang="fr-CA" sz="8000" i="1" dirty="0"/>
              <a:t>Traces</a:t>
            </a:r>
            <a:r>
              <a:rPr lang="fr-CA" sz="8000" dirty="0"/>
              <a:t>					1 200 000 $</a:t>
            </a:r>
            <a:endParaRPr lang="fr-FR" sz="8000" dirty="0"/>
          </a:p>
          <a:p>
            <a:pPr marL="0" indent="0">
              <a:buNone/>
            </a:pPr>
            <a:r>
              <a:rPr lang="fr-CA" sz="8000" dirty="0"/>
              <a:t> </a:t>
            </a:r>
            <a:r>
              <a:rPr lang="fr-CA" sz="8000" i="1" dirty="0"/>
              <a:t>Pour comptabiliser les produits au moment où les spectacles sont présentés.</a:t>
            </a:r>
            <a:endParaRPr lang="fr-FR" sz="8000" dirty="0"/>
          </a:p>
          <a:p>
            <a:pPr marL="0" indent="0">
              <a:buNone/>
            </a:pPr>
            <a:endParaRPr lang="fr-FR" dirty="0"/>
          </a:p>
        </p:txBody>
      </p:sp>
    </p:spTree>
    <p:extLst>
      <p:ext uri="{BB962C8B-B14F-4D97-AF65-F5344CB8AC3E}">
        <p14:creationId xmlns:p14="http://schemas.microsoft.com/office/powerpoint/2010/main" val="37128496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925CC4-0B67-442A-9FBC-DC09BD4828B4}"/>
              </a:ext>
            </a:extLst>
          </p:cNvPr>
          <p:cNvSpPr>
            <a:spLocks noGrp="1"/>
          </p:cNvSpPr>
          <p:nvPr>
            <p:ph type="title"/>
          </p:nvPr>
        </p:nvSpPr>
        <p:spPr/>
        <p:txBody>
          <a:bodyPr/>
          <a:lstStyle/>
          <a:p>
            <a:r>
              <a:rPr lang="fr-CA" b="1" dirty="0">
                <a:solidFill>
                  <a:srgbClr val="FF0000"/>
                </a:solidFill>
              </a:rPr>
              <a:t>5. Acquisition du Musée du rire</a:t>
            </a:r>
            <a:endParaRPr lang="fr-FR" b="1" dirty="0">
              <a:solidFill>
                <a:srgbClr val="FF0000"/>
              </a:solidFill>
            </a:endParaRPr>
          </a:p>
        </p:txBody>
      </p:sp>
      <p:sp>
        <p:nvSpPr>
          <p:cNvPr id="3" name="Espace réservé du contenu 2">
            <a:extLst>
              <a:ext uri="{FF2B5EF4-FFF2-40B4-BE49-F238E27FC236}">
                <a16:creationId xmlns:a16="http://schemas.microsoft.com/office/drawing/2014/main" id="{E8104167-08DE-4A9C-8C13-A25444F9DAEC}"/>
              </a:ext>
            </a:extLst>
          </p:cNvPr>
          <p:cNvSpPr>
            <a:spLocks noGrp="1"/>
          </p:cNvSpPr>
          <p:nvPr>
            <p:ph idx="1"/>
          </p:nvPr>
        </p:nvSpPr>
        <p:spPr/>
        <p:txBody>
          <a:bodyPr>
            <a:normAutofit fontScale="40000" lnSpcReduction="20000"/>
          </a:bodyPr>
          <a:lstStyle/>
          <a:p>
            <a:pPr marL="0" indent="0">
              <a:buNone/>
            </a:pPr>
            <a:r>
              <a:rPr lang="fr-CA" sz="5000" b="1" cap="small" dirty="0"/>
              <a:t>Problématiques – acquisition et conversion du musée</a:t>
            </a:r>
            <a:endParaRPr lang="fr-FR" sz="5000" cap="small" dirty="0"/>
          </a:p>
          <a:p>
            <a:pPr marL="0" indent="0">
              <a:buNone/>
            </a:pPr>
            <a:r>
              <a:rPr lang="fr-CA" sz="5000" b="1" cap="small" dirty="0"/>
              <a:t>La nature : immobilisation corporelle ou immeuble de placement?</a:t>
            </a:r>
            <a:endParaRPr lang="fr-FR" sz="5000" dirty="0"/>
          </a:p>
          <a:p>
            <a:pPr marL="0" indent="0">
              <a:buNone/>
            </a:pPr>
            <a:r>
              <a:rPr lang="fr-CA" sz="5000" cap="small" dirty="0"/>
              <a:t>Analyse</a:t>
            </a:r>
            <a:endParaRPr lang="fr-FR" sz="5000" dirty="0"/>
          </a:p>
          <a:p>
            <a:pPr marL="0" indent="0">
              <a:buNone/>
            </a:pPr>
            <a:r>
              <a:rPr lang="fr-CA" sz="5000" dirty="0"/>
              <a:t>Le Musée sera utilisé dans le cadre des activités du Cirque. Il générera aussi des revenus de location. C’est donc un bien à double usage. </a:t>
            </a:r>
          </a:p>
          <a:p>
            <a:pPr marL="0" indent="0">
              <a:buNone/>
            </a:pPr>
            <a:r>
              <a:rPr lang="fr-CA" sz="5000" i="1" dirty="0">
                <a:solidFill>
                  <a:srgbClr val="00B0F0"/>
                </a:solidFill>
              </a:rPr>
              <a:t>Insérer IAS 40 par 10</a:t>
            </a:r>
          </a:p>
          <a:p>
            <a:pPr marL="0" indent="0">
              <a:buNone/>
            </a:pPr>
            <a:r>
              <a:rPr lang="fr-CA" sz="5000" dirty="0"/>
              <a:t>Nous ne pouvons pas comptabiliser les deux parties séparément car ces deux parties ne peuvent être vendues séparément.</a:t>
            </a:r>
            <a:endParaRPr lang="fr-FR" sz="5000" dirty="0"/>
          </a:p>
          <a:p>
            <a:pPr marL="0" indent="0">
              <a:buNone/>
            </a:pPr>
            <a:r>
              <a:rPr lang="fr-CA" sz="5000" dirty="0"/>
              <a:t>Le Cirque occupera 85,7 % (6 étages sur 7) de l’espace de l’immeuble. Ce n’est pas une part non significative (IAS 40-10).</a:t>
            </a:r>
            <a:endParaRPr lang="fr-FR" sz="5000" dirty="0"/>
          </a:p>
          <a:p>
            <a:pPr marL="0" indent="0">
              <a:buNone/>
            </a:pPr>
            <a:r>
              <a:rPr lang="fr-CA" sz="5000" dirty="0"/>
              <a:t> </a:t>
            </a:r>
            <a:endParaRPr lang="fr-FR" sz="5000" dirty="0"/>
          </a:p>
          <a:p>
            <a:pPr marL="0" indent="0">
              <a:buNone/>
            </a:pPr>
            <a:r>
              <a:rPr lang="fr-CA" sz="5000" cap="small" dirty="0"/>
              <a:t>Conclusion</a:t>
            </a:r>
            <a:endParaRPr lang="fr-FR" sz="5000" dirty="0"/>
          </a:p>
          <a:p>
            <a:pPr marL="0" indent="0">
              <a:buNone/>
            </a:pPr>
            <a:r>
              <a:rPr lang="fr-CA" sz="5000" dirty="0"/>
              <a:t>Le Musée est une immobilisation corporelle.</a:t>
            </a:r>
            <a:endParaRPr lang="fr-FR" sz="5000" dirty="0"/>
          </a:p>
          <a:p>
            <a:pPr marL="0" indent="0">
              <a:buNone/>
            </a:pPr>
            <a:endParaRPr lang="fr-FR" sz="6200" dirty="0"/>
          </a:p>
          <a:p>
            <a:pPr marL="0" indent="0">
              <a:buNone/>
            </a:pPr>
            <a:endParaRPr lang="fr-FR" dirty="0"/>
          </a:p>
        </p:txBody>
      </p:sp>
    </p:spTree>
    <p:extLst>
      <p:ext uri="{BB962C8B-B14F-4D97-AF65-F5344CB8AC3E}">
        <p14:creationId xmlns:p14="http://schemas.microsoft.com/office/powerpoint/2010/main" val="19342810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925CC4-0B67-442A-9FBC-DC09BD4828B4}"/>
              </a:ext>
            </a:extLst>
          </p:cNvPr>
          <p:cNvSpPr>
            <a:spLocks noGrp="1"/>
          </p:cNvSpPr>
          <p:nvPr>
            <p:ph type="title"/>
          </p:nvPr>
        </p:nvSpPr>
        <p:spPr/>
        <p:txBody>
          <a:bodyPr>
            <a:normAutofit/>
          </a:bodyPr>
          <a:lstStyle/>
          <a:p>
            <a:r>
              <a:rPr lang="fr-CA" sz="3200" b="1" dirty="0"/>
              <a:t>5. Acquisition du Musée du rire</a:t>
            </a:r>
            <a:endParaRPr lang="fr-FR" sz="3200" b="1" dirty="0"/>
          </a:p>
        </p:txBody>
      </p:sp>
      <p:sp>
        <p:nvSpPr>
          <p:cNvPr id="3" name="Espace réservé du contenu 2">
            <a:extLst>
              <a:ext uri="{FF2B5EF4-FFF2-40B4-BE49-F238E27FC236}">
                <a16:creationId xmlns:a16="http://schemas.microsoft.com/office/drawing/2014/main" id="{E8104167-08DE-4A9C-8C13-A25444F9DAEC}"/>
              </a:ext>
            </a:extLst>
          </p:cNvPr>
          <p:cNvSpPr>
            <a:spLocks noGrp="1"/>
          </p:cNvSpPr>
          <p:nvPr>
            <p:ph idx="1"/>
          </p:nvPr>
        </p:nvSpPr>
        <p:spPr/>
        <p:txBody>
          <a:bodyPr>
            <a:normAutofit/>
          </a:bodyPr>
          <a:lstStyle/>
          <a:p>
            <a:pPr marL="0" indent="0">
              <a:buNone/>
            </a:pPr>
            <a:r>
              <a:rPr lang="fr-CA" sz="2000" b="1" cap="small" dirty="0"/>
              <a:t>Problématiques – acquisition et conversion du musée</a:t>
            </a:r>
            <a:endParaRPr lang="fr-FR" sz="2000" cap="small" dirty="0"/>
          </a:p>
          <a:p>
            <a:pPr marL="0" indent="0">
              <a:buNone/>
            </a:pPr>
            <a:endParaRPr lang="fr-CA" sz="2000" b="1" cap="small" dirty="0"/>
          </a:p>
          <a:p>
            <a:pPr marL="0" indent="0">
              <a:buNone/>
            </a:pPr>
            <a:endParaRPr lang="fr-FR" sz="2000" dirty="0"/>
          </a:p>
          <a:p>
            <a:pPr marL="0" indent="0">
              <a:buNone/>
            </a:pPr>
            <a:endParaRPr lang="fr-FR" dirty="0"/>
          </a:p>
        </p:txBody>
      </p:sp>
      <p:graphicFrame>
        <p:nvGraphicFramePr>
          <p:cNvPr id="4" name="Tableau 3">
            <a:extLst>
              <a:ext uri="{FF2B5EF4-FFF2-40B4-BE49-F238E27FC236}">
                <a16:creationId xmlns:a16="http://schemas.microsoft.com/office/drawing/2014/main" id="{3394829B-374A-40A6-8114-594D376D4011}"/>
              </a:ext>
            </a:extLst>
          </p:cNvPr>
          <p:cNvGraphicFramePr>
            <a:graphicFrameLocks noGrp="1"/>
          </p:cNvGraphicFramePr>
          <p:nvPr>
            <p:extLst>
              <p:ext uri="{D42A27DB-BD31-4B8C-83A1-F6EECF244321}">
                <p14:modId xmlns:p14="http://schemas.microsoft.com/office/powerpoint/2010/main" val="1204590969"/>
              </p:ext>
            </p:extLst>
          </p:nvPr>
        </p:nvGraphicFramePr>
        <p:xfrm>
          <a:off x="956442" y="2173544"/>
          <a:ext cx="10279116" cy="3450404"/>
        </p:xfrm>
        <a:graphic>
          <a:graphicData uri="http://schemas.openxmlformats.org/drawingml/2006/table">
            <a:tbl>
              <a:tblPr firstRow="1" firstCol="1" bandRow="1">
                <a:tableStyleId>{5C22544A-7EE6-4342-B048-85BDC9FD1C3A}</a:tableStyleId>
              </a:tblPr>
              <a:tblGrid>
                <a:gridCol w="8339536">
                  <a:extLst>
                    <a:ext uri="{9D8B030D-6E8A-4147-A177-3AD203B41FA5}">
                      <a16:colId xmlns:a16="http://schemas.microsoft.com/office/drawing/2014/main" val="2100776828"/>
                    </a:ext>
                  </a:extLst>
                </a:gridCol>
                <a:gridCol w="1160965">
                  <a:extLst>
                    <a:ext uri="{9D8B030D-6E8A-4147-A177-3AD203B41FA5}">
                      <a16:colId xmlns:a16="http://schemas.microsoft.com/office/drawing/2014/main" val="1278921128"/>
                    </a:ext>
                  </a:extLst>
                </a:gridCol>
                <a:gridCol w="778615">
                  <a:extLst>
                    <a:ext uri="{9D8B030D-6E8A-4147-A177-3AD203B41FA5}">
                      <a16:colId xmlns:a16="http://schemas.microsoft.com/office/drawing/2014/main" val="2018779912"/>
                    </a:ext>
                  </a:extLst>
                </a:gridCol>
              </a:tblGrid>
              <a:tr h="361939">
                <a:tc>
                  <a:txBody>
                    <a:bodyPr/>
                    <a:lstStyle/>
                    <a:p>
                      <a:pPr algn="ctr">
                        <a:spcAft>
                          <a:spcPts val="0"/>
                        </a:spcAft>
                      </a:pPr>
                      <a:r>
                        <a:rPr lang="fr-CA" sz="1600" dirty="0">
                          <a:effectLst/>
                        </a:rPr>
                        <a:t>Nature</a:t>
                      </a:r>
                      <a:endParaRPr lang="fr-FR"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fr-CA" sz="1600">
                          <a:effectLst/>
                        </a:rPr>
                        <a:t>Actif</a:t>
                      </a:r>
                      <a:endParaRPr lang="fr-FR"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fr-CA" sz="1600">
                          <a:effectLst/>
                        </a:rPr>
                        <a:t>Charge</a:t>
                      </a:r>
                      <a:endParaRPr lang="fr-FR"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14695054"/>
                  </a:ext>
                </a:extLst>
              </a:tr>
              <a:tr h="361939">
                <a:tc>
                  <a:txBody>
                    <a:bodyPr/>
                    <a:lstStyle/>
                    <a:p>
                      <a:pPr algn="just">
                        <a:spcAft>
                          <a:spcPts val="0"/>
                        </a:spcAft>
                      </a:pPr>
                      <a:r>
                        <a:rPr lang="fr-CA" sz="1600" dirty="0">
                          <a:effectLst/>
                        </a:rPr>
                        <a:t>Coût d’acquisition</a:t>
                      </a:r>
                      <a:endParaRPr lang="fr-FR"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fr-CA" sz="1600">
                          <a:effectLst/>
                        </a:rPr>
                        <a:t>2 500 000</a:t>
                      </a:r>
                      <a:endParaRPr lang="fr-FR"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Aft>
                          <a:spcPts val="0"/>
                        </a:spcAft>
                      </a:pPr>
                      <a:r>
                        <a:rPr lang="fr-CA" sz="1600">
                          <a:effectLst/>
                        </a:rPr>
                        <a:t> </a:t>
                      </a:r>
                      <a:endParaRPr lang="fr-FR"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44071001"/>
                  </a:ext>
                </a:extLst>
              </a:tr>
              <a:tr h="249779">
                <a:tc>
                  <a:txBody>
                    <a:bodyPr/>
                    <a:lstStyle/>
                    <a:p>
                      <a:pPr algn="just">
                        <a:spcAft>
                          <a:spcPts val="0"/>
                        </a:spcAft>
                      </a:pPr>
                      <a:r>
                        <a:rPr lang="fr-CA" sz="1600" dirty="0">
                          <a:effectLst/>
                        </a:rPr>
                        <a:t>Taxe de Bienvenue. Fait partie du coût car elle est non remboursable</a:t>
                      </a:r>
                      <a:endParaRPr lang="fr-FR"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fr-CA" sz="1600">
                          <a:effectLst/>
                        </a:rPr>
                        <a:t>53 000</a:t>
                      </a:r>
                      <a:endParaRPr lang="fr-FR"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Aft>
                          <a:spcPts val="0"/>
                        </a:spcAft>
                      </a:pPr>
                      <a:r>
                        <a:rPr lang="fr-CA" sz="1600">
                          <a:effectLst/>
                        </a:rPr>
                        <a:t> </a:t>
                      </a:r>
                      <a:endParaRPr lang="fr-FR"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363966617"/>
                  </a:ext>
                </a:extLst>
              </a:tr>
              <a:tr h="288473">
                <a:tc>
                  <a:txBody>
                    <a:bodyPr/>
                    <a:lstStyle/>
                    <a:p>
                      <a:pPr algn="just">
                        <a:spcAft>
                          <a:spcPts val="0"/>
                        </a:spcAft>
                      </a:pPr>
                      <a:r>
                        <a:rPr lang="fr-CA" sz="1600" dirty="0">
                          <a:effectLst/>
                        </a:rPr>
                        <a:t>Honoraires juridiques : font partie du coût car ils sont directement attribuables à l’achat </a:t>
                      </a:r>
                      <a:endParaRPr lang="fr-FR"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fr-CA" sz="1600">
                          <a:effectLst/>
                        </a:rPr>
                        <a:t>105 000</a:t>
                      </a:r>
                      <a:endParaRPr lang="fr-FR"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Aft>
                          <a:spcPts val="0"/>
                        </a:spcAft>
                      </a:pPr>
                      <a:r>
                        <a:rPr lang="fr-CA" sz="1600">
                          <a:effectLst/>
                        </a:rPr>
                        <a:t> </a:t>
                      </a:r>
                      <a:endParaRPr lang="fr-FR"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66518115"/>
                  </a:ext>
                </a:extLst>
              </a:tr>
              <a:tr h="570107">
                <a:tc>
                  <a:txBody>
                    <a:bodyPr/>
                    <a:lstStyle/>
                    <a:p>
                      <a:pPr algn="just">
                        <a:spcAft>
                          <a:spcPts val="0"/>
                        </a:spcAft>
                      </a:pPr>
                      <a:r>
                        <a:rPr lang="fr-CA" sz="1600" dirty="0">
                          <a:effectLst/>
                        </a:rPr>
                        <a:t>Inspection : Fait partie du coût parce que l’inspection vise à assurer les actionnaires que l’actif pourra être utilisé de la manière souhaitée.</a:t>
                      </a:r>
                      <a:endParaRPr lang="fr-FR"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fr-CA" sz="1600">
                          <a:effectLst/>
                        </a:rPr>
                        <a:t>5 470</a:t>
                      </a:r>
                      <a:endParaRPr lang="fr-FR"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Aft>
                          <a:spcPts val="0"/>
                        </a:spcAft>
                      </a:pPr>
                      <a:r>
                        <a:rPr lang="fr-CA" sz="1600">
                          <a:effectLst/>
                        </a:rPr>
                        <a:t> </a:t>
                      </a:r>
                      <a:endParaRPr lang="fr-FR"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04130087"/>
                  </a:ext>
                </a:extLst>
              </a:tr>
              <a:tr h="622553">
                <a:tc>
                  <a:txBody>
                    <a:bodyPr/>
                    <a:lstStyle/>
                    <a:p>
                      <a:pPr algn="just">
                        <a:spcAft>
                          <a:spcPts val="0"/>
                        </a:spcAft>
                      </a:pPr>
                      <a:r>
                        <a:rPr lang="fr-CA" sz="1600" dirty="0">
                          <a:effectLst/>
                        </a:rPr>
                        <a:t>L’implication des actionnaires n’est pas un coût d’acquisition. Leur implication au titre de propriétaires fait partie des frais généraux d’administration. Leur salaire est déjà porté aux charges de l’exercice. L’estimation d’une JV n’est pas pertinente.</a:t>
                      </a:r>
                      <a:endParaRPr lang="fr-FR"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fr-CA" sz="1600">
                          <a:effectLst/>
                        </a:rPr>
                        <a:t> </a:t>
                      </a:r>
                      <a:endParaRPr lang="fr-FR"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Aft>
                          <a:spcPts val="0"/>
                        </a:spcAft>
                      </a:pPr>
                      <a:r>
                        <a:rPr lang="fr-CA" sz="1600">
                          <a:effectLst/>
                        </a:rPr>
                        <a:t> </a:t>
                      </a:r>
                      <a:endParaRPr lang="fr-FR"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63217683"/>
                  </a:ext>
                </a:extLst>
              </a:tr>
              <a:tr h="485617">
                <a:tc>
                  <a:txBody>
                    <a:bodyPr/>
                    <a:lstStyle/>
                    <a:p>
                      <a:pPr algn="just">
                        <a:spcAft>
                          <a:spcPts val="0"/>
                        </a:spcAft>
                      </a:pPr>
                      <a:r>
                        <a:rPr lang="fr-CA" sz="1600" dirty="0">
                          <a:effectLst/>
                        </a:rPr>
                        <a:t>La pénalité pour mettre fin aux baux ne fait pas partie du coût car ils n’ajoutent pas de valeur à l’actif. On peut les assimiler à des frais administratifs ou à des coûts de relocalisation.</a:t>
                      </a:r>
                      <a:endParaRPr lang="fr-FR"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fr-CA" sz="1600">
                          <a:effectLst/>
                        </a:rPr>
                        <a:t> </a:t>
                      </a:r>
                      <a:endParaRPr lang="fr-FR"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Aft>
                          <a:spcPts val="0"/>
                        </a:spcAft>
                      </a:pPr>
                      <a:r>
                        <a:rPr lang="fr-CA" sz="1600" dirty="0">
                          <a:effectLst/>
                        </a:rPr>
                        <a:t>67 000 </a:t>
                      </a:r>
                      <a:endParaRPr lang="fr-FR"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18167970"/>
                  </a:ext>
                </a:extLst>
              </a:tr>
              <a:tr h="361939">
                <a:tc>
                  <a:txBody>
                    <a:bodyPr/>
                    <a:lstStyle/>
                    <a:p>
                      <a:pPr algn="ctr">
                        <a:spcAft>
                          <a:spcPts val="0"/>
                        </a:spcAft>
                      </a:pPr>
                      <a:r>
                        <a:rPr lang="fr-CA" sz="1600" dirty="0">
                          <a:effectLst/>
                        </a:rPr>
                        <a:t>Total</a:t>
                      </a:r>
                      <a:endParaRPr lang="fr-FR"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fr-CA" sz="1600" dirty="0">
                          <a:effectLst/>
                        </a:rPr>
                        <a:t>2 663 470</a:t>
                      </a:r>
                      <a:endParaRPr lang="fr-FR"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fr-CA" sz="1600" dirty="0">
                          <a:effectLst/>
                        </a:rPr>
                        <a:t> </a:t>
                      </a:r>
                      <a:endParaRPr lang="fr-FR"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84320787"/>
                  </a:ext>
                </a:extLst>
              </a:tr>
            </a:tbl>
          </a:graphicData>
        </a:graphic>
      </p:graphicFrame>
      <p:sp>
        <p:nvSpPr>
          <p:cNvPr id="6" name="Rectangle 2">
            <a:extLst>
              <a:ext uri="{FF2B5EF4-FFF2-40B4-BE49-F238E27FC236}">
                <a16:creationId xmlns:a16="http://schemas.microsoft.com/office/drawing/2014/main" id="{0712B366-8FEC-4AF7-A5BC-0F15BCBABD00}"/>
              </a:ext>
            </a:extLst>
          </p:cNvPr>
          <p:cNvSpPr>
            <a:spLocks noChangeArrowheads="1"/>
          </p:cNvSpPr>
          <p:nvPr/>
        </p:nvSpPr>
        <p:spPr bwMode="auto">
          <a:xfrm>
            <a:off x="3284538" y="2903538"/>
            <a:ext cx="4022725" cy="6350"/>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8" name="ZoneTexte 7">
            <a:extLst>
              <a:ext uri="{FF2B5EF4-FFF2-40B4-BE49-F238E27FC236}">
                <a16:creationId xmlns:a16="http://schemas.microsoft.com/office/drawing/2014/main" id="{89E6D1F5-B8D3-45B6-B261-71A17D357368}"/>
              </a:ext>
            </a:extLst>
          </p:cNvPr>
          <p:cNvSpPr txBox="1"/>
          <p:nvPr/>
        </p:nvSpPr>
        <p:spPr>
          <a:xfrm>
            <a:off x="956442" y="5715789"/>
            <a:ext cx="10016358" cy="646331"/>
          </a:xfrm>
          <a:prstGeom prst="rect">
            <a:avLst/>
          </a:prstGeom>
          <a:noFill/>
        </p:spPr>
        <p:txBody>
          <a:bodyPr wrap="square" rtlCol="0">
            <a:spAutoFit/>
          </a:bodyPr>
          <a:lstStyle/>
          <a:p>
            <a:r>
              <a:rPr lang="fr-CA" dirty="0"/>
              <a:t>Le coût d’acquisition du Musée s’élève à 2 663 470 $</a:t>
            </a:r>
          </a:p>
          <a:p>
            <a:r>
              <a:rPr lang="fr-CA" i="1" dirty="0">
                <a:solidFill>
                  <a:srgbClr val="00B0F0"/>
                </a:solidFill>
              </a:rPr>
              <a:t>Penser à justifier pour tous les montants de l’énoncé s’ils sont inclus ou non dans le coût du Musée</a:t>
            </a:r>
            <a:endParaRPr lang="fr-FR" i="1" dirty="0">
              <a:solidFill>
                <a:srgbClr val="00B0F0"/>
              </a:solidFill>
            </a:endParaRPr>
          </a:p>
        </p:txBody>
      </p:sp>
    </p:spTree>
    <p:extLst>
      <p:ext uri="{BB962C8B-B14F-4D97-AF65-F5344CB8AC3E}">
        <p14:creationId xmlns:p14="http://schemas.microsoft.com/office/powerpoint/2010/main" val="42536494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A7E7C7-FF31-458D-9479-672402DC6B3B}"/>
              </a:ext>
            </a:extLst>
          </p:cNvPr>
          <p:cNvSpPr>
            <a:spLocks noGrp="1"/>
          </p:cNvSpPr>
          <p:nvPr>
            <p:ph type="title"/>
          </p:nvPr>
        </p:nvSpPr>
        <p:spPr/>
        <p:txBody>
          <a:bodyPr>
            <a:normAutofit/>
          </a:bodyPr>
          <a:lstStyle/>
          <a:p>
            <a:r>
              <a:rPr lang="fr-CA" sz="3200" b="1" dirty="0"/>
              <a:t>5. Acquisition du Musée du rire</a:t>
            </a:r>
            <a:endParaRPr lang="fr-FR" sz="3200" dirty="0"/>
          </a:p>
        </p:txBody>
      </p:sp>
      <p:sp>
        <p:nvSpPr>
          <p:cNvPr id="3" name="Espace réservé du contenu 2">
            <a:extLst>
              <a:ext uri="{FF2B5EF4-FFF2-40B4-BE49-F238E27FC236}">
                <a16:creationId xmlns:a16="http://schemas.microsoft.com/office/drawing/2014/main" id="{80213C90-4720-4136-8487-C12769EA770C}"/>
              </a:ext>
            </a:extLst>
          </p:cNvPr>
          <p:cNvSpPr>
            <a:spLocks noGrp="1"/>
          </p:cNvSpPr>
          <p:nvPr>
            <p:ph idx="1"/>
          </p:nvPr>
        </p:nvSpPr>
        <p:spPr/>
        <p:txBody>
          <a:bodyPr>
            <a:normAutofit/>
          </a:bodyPr>
          <a:lstStyle/>
          <a:p>
            <a:pPr marL="0" indent="0">
              <a:buNone/>
            </a:pPr>
            <a:r>
              <a:rPr lang="fr-CA" sz="2000" b="1" cap="small" dirty="0"/>
              <a:t>Évaluation ultérieure</a:t>
            </a:r>
            <a:endParaRPr lang="fr-FR" sz="2000" dirty="0"/>
          </a:p>
          <a:p>
            <a:pPr marL="0" indent="0">
              <a:buNone/>
            </a:pPr>
            <a:r>
              <a:rPr lang="fr-CA" sz="2000" dirty="0"/>
              <a:t>C’est la première bâtisse du Cirque. Aucun choix n’a encore été fait pour ce qui est de la méthode à retenir pour son évaluation ultérieure. Selon IAS 40, le Cirque a deux choix : mesurer son actif au coût amorti ou selon le modèle de la réévaluation qui permet de réévaluer périodiquement l’actif à sa JV.</a:t>
            </a:r>
            <a:endParaRPr lang="fr-FR" sz="2000" dirty="0"/>
          </a:p>
          <a:p>
            <a:pPr marL="0" indent="0">
              <a:buNone/>
            </a:pPr>
            <a:r>
              <a:rPr lang="fr-CA" sz="2000" dirty="0"/>
              <a:t>Selon le modèle de la réévaluation, le Musée serait évalué à la juste valeur à la date de réévaluation, diminuée du cumul des amortissements ultérieurs et du cumul de pertes de valeur ultérieures.</a:t>
            </a:r>
            <a:endParaRPr lang="fr-FR" sz="2000" dirty="0"/>
          </a:p>
          <a:p>
            <a:pPr marL="0" indent="0">
              <a:buNone/>
            </a:pPr>
            <a:r>
              <a:rPr lang="fr-CA" sz="2000" dirty="0"/>
              <a:t> </a:t>
            </a:r>
            <a:endParaRPr lang="fr-FR" sz="2000" dirty="0"/>
          </a:p>
          <a:p>
            <a:pPr marL="0" indent="0">
              <a:buNone/>
            </a:pPr>
            <a:endParaRPr lang="fr-FR" dirty="0"/>
          </a:p>
        </p:txBody>
      </p:sp>
    </p:spTree>
    <p:extLst>
      <p:ext uri="{BB962C8B-B14F-4D97-AF65-F5344CB8AC3E}">
        <p14:creationId xmlns:p14="http://schemas.microsoft.com/office/powerpoint/2010/main" val="20572649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A7E7C7-FF31-458D-9479-672402DC6B3B}"/>
              </a:ext>
            </a:extLst>
          </p:cNvPr>
          <p:cNvSpPr>
            <a:spLocks noGrp="1"/>
          </p:cNvSpPr>
          <p:nvPr>
            <p:ph type="title"/>
          </p:nvPr>
        </p:nvSpPr>
        <p:spPr/>
        <p:txBody>
          <a:bodyPr>
            <a:normAutofit/>
          </a:bodyPr>
          <a:lstStyle/>
          <a:p>
            <a:r>
              <a:rPr lang="fr-CA" sz="3200" b="1" dirty="0"/>
              <a:t>5. Acquisition du Musée du rire</a:t>
            </a:r>
            <a:endParaRPr lang="fr-FR" sz="3200" dirty="0"/>
          </a:p>
        </p:txBody>
      </p:sp>
      <p:sp>
        <p:nvSpPr>
          <p:cNvPr id="3" name="Espace réservé du contenu 2">
            <a:extLst>
              <a:ext uri="{FF2B5EF4-FFF2-40B4-BE49-F238E27FC236}">
                <a16:creationId xmlns:a16="http://schemas.microsoft.com/office/drawing/2014/main" id="{80213C90-4720-4136-8487-C12769EA770C}"/>
              </a:ext>
            </a:extLst>
          </p:cNvPr>
          <p:cNvSpPr>
            <a:spLocks noGrp="1"/>
          </p:cNvSpPr>
          <p:nvPr>
            <p:ph idx="1"/>
          </p:nvPr>
        </p:nvSpPr>
        <p:spPr>
          <a:xfrm>
            <a:off x="859654" y="1470518"/>
            <a:ext cx="10515600" cy="4351338"/>
          </a:xfrm>
        </p:spPr>
        <p:txBody>
          <a:bodyPr>
            <a:normAutofit fontScale="25000" lnSpcReduction="20000"/>
          </a:bodyPr>
          <a:lstStyle/>
          <a:p>
            <a:pPr marL="0" indent="0">
              <a:buNone/>
            </a:pPr>
            <a:r>
              <a:rPr lang="fr-CA" sz="8000" u="dotted" dirty="0"/>
              <a:t>Modèle de la réévaluation</a:t>
            </a:r>
            <a:endParaRPr lang="fr-FR" sz="8000" dirty="0"/>
          </a:p>
          <a:p>
            <a:pPr marL="0" indent="0">
              <a:buNone/>
            </a:pPr>
            <a:r>
              <a:rPr lang="fr-CA" sz="8000" b="1" dirty="0"/>
              <a:t>En faveur modèle réévaluation / défaveur modèle du coût</a:t>
            </a:r>
            <a:endParaRPr lang="fr-FR" sz="8000" dirty="0"/>
          </a:p>
          <a:p>
            <a:r>
              <a:rPr lang="fr-CA" sz="8000" dirty="0"/>
              <a:t>L’information financière pourrait être plus </a:t>
            </a:r>
            <a:r>
              <a:rPr lang="fr-CA" sz="8000" b="1" dirty="0"/>
              <a:t>pertinente</a:t>
            </a:r>
            <a:r>
              <a:rPr lang="fr-CA" sz="8000" dirty="0"/>
              <a:t>.</a:t>
            </a:r>
            <a:endParaRPr lang="fr-FR" sz="8000" dirty="0"/>
          </a:p>
          <a:p>
            <a:pPr marL="0" indent="0">
              <a:buNone/>
            </a:pPr>
            <a:r>
              <a:rPr lang="fr-CA" sz="3200" dirty="0"/>
              <a:t> </a:t>
            </a:r>
            <a:endParaRPr lang="fr-FR" sz="3200" dirty="0"/>
          </a:p>
          <a:p>
            <a:pPr marL="0" indent="0">
              <a:buNone/>
            </a:pPr>
            <a:r>
              <a:rPr lang="fr-CA" sz="8000" b="1" dirty="0"/>
              <a:t>En défaveur modèle réévaluation / faveur modèle du coût</a:t>
            </a:r>
            <a:endParaRPr lang="fr-FR" sz="8000" dirty="0"/>
          </a:p>
          <a:p>
            <a:r>
              <a:rPr lang="fr-CA" sz="8000" dirty="0"/>
              <a:t>L’application du modèle réévaluation est </a:t>
            </a:r>
            <a:r>
              <a:rPr lang="fr-CA" sz="8000" b="1" dirty="0"/>
              <a:t>coûteuse</a:t>
            </a:r>
            <a:r>
              <a:rPr lang="fr-CA" sz="8000" dirty="0"/>
              <a:t>. Le Cirque devra faire appel à un évaluateur pour établir la JV. De plus, comme il faudra donner des </a:t>
            </a:r>
            <a:r>
              <a:rPr lang="fr-CA" sz="8000" b="1" dirty="0"/>
              <a:t>informations sur le coût</a:t>
            </a:r>
            <a:r>
              <a:rPr lang="fr-CA" sz="8000" dirty="0"/>
              <a:t> dans une note, il est essentiel de tenir une double comptabilité. </a:t>
            </a:r>
            <a:endParaRPr lang="fr-FR" sz="8000" dirty="0"/>
          </a:p>
          <a:p>
            <a:r>
              <a:rPr lang="fr-CA" sz="8000" dirty="0"/>
              <a:t>La comptabilisation modèle réévaluation est </a:t>
            </a:r>
            <a:r>
              <a:rPr lang="fr-CA" sz="8000" b="1" dirty="0"/>
              <a:t>complexe</a:t>
            </a:r>
            <a:r>
              <a:rPr lang="fr-CA" sz="8000" dirty="0"/>
              <a:t>. Les augmentations de la JV sont portées dans les AERG. Les pertes, dans le résultat net. Une compensation des augmentations et des diminutions doit être établie. </a:t>
            </a:r>
          </a:p>
          <a:p>
            <a:endParaRPr lang="fr-CA" sz="8000" dirty="0"/>
          </a:p>
          <a:p>
            <a:pPr marL="0" indent="0">
              <a:buNone/>
            </a:pPr>
            <a:r>
              <a:rPr lang="fr-CA" sz="8000" cap="small" dirty="0"/>
              <a:t>Conclusion</a:t>
            </a:r>
            <a:endParaRPr lang="fr-FR" sz="8000" dirty="0"/>
          </a:p>
          <a:p>
            <a:pPr marL="0" indent="0">
              <a:buNone/>
            </a:pPr>
            <a:r>
              <a:rPr lang="fr-CA" sz="8000" dirty="0"/>
              <a:t>Le Cirque devrait retenir le </a:t>
            </a:r>
            <a:r>
              <a:rPr lang="fr-CA" sz="8000" b="1" dirty="0"/>
              <a:t>modèle du coût</a:t>
            </a:r>
            <a:r>
              <a:rPr lang="fr-CA" sz="8000" dirty="0"/>
              <a:t> pour sa </a:t>
            </a:r>
            <a:r>
              <a:rPr lang="fr-CA" sz="8000" b="1" dirty="0"/>
              <a:t>simplicité</a:t>
            </a:r>
            <a:r>
              <a:rPr lang="fr-CA" sz="8000" dirty="0"/>
              <a:t>, parce qu’il permet de présenter des informations plus </a:t>
            </a:r>
            <a:r>
              <a:rPr lang="fr-CA" sz="8000" b="1" dirty="0"/>
              <a:t>comparables</a:t>
            </a:r>
            <a:r>
              <a:rPr lang="fr-CA" sz="8000" dirty="0"/>
              <a:t>. </a:t>
            </a:r>
            <a:endParaRPr lang="fr-FR" sz="8000" dirty="0"/>
          </a:p>
          <a:p>
            <a:pPr marL="0" indent="0">
              <a:buNone/>
            </a:pPr>
            <a:r>
              <a:rPr lang="fr-CA" sz="8000" dirty="0"/>
              <a:t>Lorsque l’immeuble sera prêt à être mis en service, il faudra amortir ses principales composantes. </a:t>
            </a:r>
            <a:endParaRPr lang="fr-FR" sz="8000" dirty="0"/>
          </a:p>
          <a:p>
            <a:pPr marL="0" indent="0">
              <a:buNone/>
            </a:pPr>
            <a:r>
              <a:rPr lang="fr-CA" sz="8000" dirty="0"/>
              <a:t> </a:t>
            </a:r>
          </a:p>
        </p:txBody>
      </p:sp>
    </p:spTree>
    <p:extLst>
      <p:ext uri="{BB962C8B-B14F-4D97-AF65-F5344CB8AC3E}">
        <p14:creationId xmlns:p14="http://schemas.microsoft.com/office/powerpoint/2010/main" val="17214878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A7E7C7-FF31-458D-9479-672402DC6B3B}"/>
              </a:ext>
            </a:extLst>
          </p:cNvPr>
          <p:cNvSpPr>
            <a:spLocks noGrp="1"/>
          </p:cNvSpPr>
          <p:nvPr>
            <p:ph type="title"/>
          </p:nvPr>
        </p:nvSpPr>
        <p:spPr/>
        <p:txBody>
          <a:bodyPr>
            <a:normAutofit/>
          </a:bodyPr>
          <a:lstStyle/>
          <a:p>
            <a:r>
              <a:rPr lang="fr-CA" sz="3200" b="1" dirty="0"/>
              <a:t>5. Acquisition du Musée du rire</a:t>
            </a:r>
            <a:endParaRPr lang="fr-FR" sz="3200" dirty="0"/>
          </a:p>
        </p:txBody>
      </p:sp>
      <p:sp>
        <p:nvSpPr>
          <p:cNvPr id="3" name="Espace réservé du contenu 2">
            <a:extLst>
              <a:ext uri="{FF2B5EF4-FFF2-40B4-BE49-F238E27FC236}">
                <a16:creationId xmlns:a16="http://schemas.microsoft.com/office/drawing/2014/main" id="{80213C90-4720-4136-8487-C12769EA770C}"/>
              </a:ext>
            </a:extLst>
          </p:cNvPr>
          <p:cNvSpPr>
            <a:spLocks noGrp="1"/>
          </p:cNvSpPr>
          <p:nvPr>
            <p:ph idx="1"/>
          </p:nvPr>
        </p:nvSpPr>
        <p:spPr/>
        <p:txBody>
          <a:bodyPr>
            <a:normAutofit/>
          </a:bodyPr>
          <a:lstStyle/>
          <a:p>
            <a:pPr marL="0" indent="0">
              <a:buNone/>
            </a:pPr>
            <a:r>
              <a:rPr lang="fr-CA" sz="2200" b="1" cap="small" dirty="0"/>
              <a:t>Coûts de conversion du Musée</a:t>
            </a:r>
            <a:endParaRPr lang="fr-FR" sz="2200" dirty="0"/>
          </a:p>
          <a:p>
            <a:pPr marL="0" indent="0">
              <a:buNone/>
            </a:pPr>
            <a:r>
              <a:rPr lang="fr-CA" sz="2200" dirty="0"/>
              <a:t> </a:t>
            </a:r>
            <a:endParaRPr lang="fr-FR" sz="2200" dirty="0"/>
          </a:p>
          <a:p>
            <a:pPr marL="0" indent="0">
              <a:buNone/>
            </a:pPr>
            <a:r>
              <a:rPr lang="fr-CA" sz="2200" cap="small" dirty="0"/>
              <a:t>Problématique</a:t>
            </a:r>
            <a:endParaRPr lang="fr-FR" sz="2200" dirty="0"/>
          </a:p>
          <a:p>
            <a:pPr marL="0" indent="0">
              <a:buNone/>
            </a:pPr>
            <a:r>
              <a:rPr lang="fr-CA" sz="2200" dirty="0"/>
              <a:t>Parmi les coûts engagés, lesquels font partie de l’immobilisation et lesquels sont des charges de l’exercice?</a:t>
            </a:r>
            <a:endParaRPr lang="fr-FR" sz="2200" dirty="0"/>
          </a:p>
          <a:p>
            <a:pPr marL="0" indent="0">
              <a:buNone/>
            </a:pPr>
            <a:r>
              <a:rPr lang="fr-CA" sz="2200" dirty="0"/>
              <a:t> </a:t>
            </a:r>
            <a:endParaRPr lang="fr-FR" sz="2200" dirty="0"/>
          </a:p>
          <a:p>
            <a:pPr marL="0" indent="0">
              <a:buNone/>
            </a:pPr>
            <a:r>
              <a:rPr lang="fr-CA" sz="2200" cap="small" dirty="0"/>
              <a:t>Analyse</a:t>
            </a:r>
            <a:endParaRPr lang="fr-FR" sz="2200" dirty="0"/>
          </a:p>
          <a:p>
            <a:pPr marL="0" indent="0">
              <a:buNone/>
            </a:pPr>
            <a:r>
              <a:rPr lang="fr-CA" sz="2200" dirty="0"/>
              <a:t>Le coût du nouvel édifice doit comprendre tout coût directement attribuable à sa </a:t>
            </a:r>
            <a:r>
              <a:rPr lang="fr-CA" sz="2200" b="1" dirty="0"/>
              <a:t>mise en état</a:t>
            </a:r>
            <a:r>
              <a:rPr lang="fr-CA" sz="2200" dirty="0"/>
              <a:t> pour permettre son exploitation de la manière prévue par la direction du Cirque.</a:t>
            </a:r>
            <a:endParaRPr lang="fr-FR" sz="2200" dirty="0"/>
          </a:p>
          <a:p>
            <a:pPr marL="0" indent="0">
              <a:buNone/>
            </a:pPr>
            <a:r>
              <a:rPr lang="fr-CA" sz="2200" dirty="0"/>
              <a:t>IAS 16-16b)</a:t>
            </a:r>
            <a:endParaRPr lang="fr-FR" sz="2200" dirty="0"/>
          </a:p>
          <a:p>
            <a:pPr marL="0" indent="0">
              <a:buNone/>
            </a:pPr>
            <a:endParaRPr lang="fr-FR" sz="2000" dirty="0"/>
          </a:p>
          <a:p>
            <a:pPr marL="0" indent="0">
              <a:buNone/>
            </a:pPr>
            <a:endParaRPr lang="fr-FR" dirty="0"/>
          </a:p>
        </p:txBody>
      </p:sp>
    </p:spTree>
    <p:extLst>
      <p:ext uri="{BB962C8B-B14F-4D97-AF65-F5344CB8AC3E}">
        <p14:creationId xmlns:p14="http://schemas.microsoft.com/office/powerpoint/2010/main" val="24804327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A7E7C7-FF31-458D-9479-672402DC6B3B}"/>
              </a:ext>
            </a:extLst>
          </p:cNvPr>
          <p:cNvSpPr>
            <a:spLocks noGrp="1"/>
          </p:cNvSpPr>
          <p:nvPr>
            <p:ph type="title"/>
          </p:nvPr>
        </p:nvSpPr>
        <p:spPr/>
        <p:txBody>
          <a:bodyPr>
            <a:normAutofit/>
          </a:bodyPr>
          <a:lstStyle/>
          <a:p>
            <a:r>
              <a:rPr lang="fr-CA" sz="3200" b="1" dirty="0"/>
              <a:t>5. Acquisition du Musée du rire</a:t>
            </a:r>
            <a:endParaRPr lang="fr-FR" sz="3200" dirty="0"/>
          </a:p>
        </p:txBody>
      </p:sp>
      <p:sp>
        <p:nvSpPr>
          <p:cNvPr id="3" name="Espace réservé du contenu 2">
            <a:extLst>
              <a:ext uri="{FF2B5EF4-FFF2-40B4-BE49-F238E27FC236}">
                <a16:creationId xmlns:a16="http://schemas.microsoft.com/office/drawing/2014/main" id="{80213C90-4720-4136-8487-C12769EA770C}"/>
              </a:ext>
            </a:extLst>
          </p:cNvPr>
          <p:cNvSpPr>
            <a:spLocks noGrp="1"/>
          </p:cNvSpPr>
          <p:nvPr>
            <p:ph idx="1"/>
          </p:nvPr>
        </p:nvSpPr>
        <p:spPr/>
        <p:txBody>
          <a:bodyPr>
            <a:normAutofit/>
          </a:bodyPr>
          <a:lstStyle/>
          <a:p>
            <a:pPr marL="0" indent="0">
              <a:buNone/>
            </a:pPr>
            <a:endParaRPr lang="fr-FR" sz="2000" dirty="0"/>
          </a:p>
          <a:p>
            <a:pPr marL="0" indent="0">
              <a:buNone/>
            </a:pPr>
            <a:endParaRPr lang="fr-FR" dirty="0"/>
          </a:p>
        </p:txBody>
      </p:sp>
      <p:graphicFrame>
        <p:nvGraphicFramePr>
          <p:cNvPr id="4" name="Tableau 3">
            <a:extLst>
              <a:ext uri="{FF2B5EF4-FFF2-40B4-BE49-F238E27FC236}">
                <a16:creationId xmlns:a16="http://schemas.microsoft.com/office/drawing/2014/main" id="{EF20B9EA-5F6B-4BF2-98EC-3E0C4741F58E}"/>
              </a:ext>
            </a:extLst>
          </p:cNvPr>
          <p:cNvGraphicFramePr>
            <a:graphicFrameLocks noGrp="1"/>
          </p:cNvGraphicFramePr>
          <p:nvPr>
            <p:extLst>
              <p:ext uri="{D42A27DB-BD31-4B8C-83A1-F6EECF244321}">
                <p14:modId xmlns:p14="http://schemas.microsoft.com/office/powerpoint/2010/main" val="1350441903"/>
              </p:ext>
            </p:extLst>
          </p:nvPr>
        </p:nvGraphicFramePr>
        <p:xfrm>
          <a:off x="838200" y="1540487"/>
          <a:ext cx="10334297" cy="5070460"/>
        </p:xfrm>
        <a:graphic>
          <a:graphicData uri="http://schemas.openxmlformats.org/drawingml/2006/table">
            <a:tbl>
              <a:tblPr firstRow="1" firstCol="1" bandRow="1">
                <a:tableStyleId>{5C22544A-7EE6-4342-B048-85BDC9FD1C3A}</a:tableStyleId>
              </a:tblPr>
              <a:tblGrid>
                <a:gridCol w="8324194">
                  <a:extLst>
                    <a:ext uri="{9D8B030D-6E8A-4147-A177-3AD203B41FA5}">
                      <a16:colId xmlns:a16="http://schemas.microsoft.com/office/drawing/2014/main" val="2391549920"/>
                    </a:ext>
                  </a:extLst>
                </a:gridCol>
                <a:gridCol w="977462">
                  <a:extLst>
                    <a:ext uri="{9D8B030D-6E8A-4147-A177-3AD203B41FA5}">
                      <a16:colId xmlns:a16="http://schemas.microsoft.com/office/drawing/2014/main" val="2257141143"/>
                    </a:ext>
                  </a:extLst>
                </a:gridCol>
                <a:gridCol w="1032641">
                  <a:extLst>
                    <a:ext uri="{9D8B030D-6E8A-4147-A177-3AD203B41FA5}">
                      <a16:colId xmlns:a16="http://schemas.microsoft.com/office/drawing/2014/main" val="3261900137"/>
                    </a:ext>
                  </a:extLst>
                </a:gridCol>
              </a:tblGrid>
              <a:tr h="260796">
                <a:tc>
                  <a:txBody>
                    <a:bodyPr/>
                    <a:lstStyle/>
                    <a:p>
                      <a:pPr algn="ctr">
                        <a:spcAft>
                          <a:spcPts val="0"/>
                        </a:spcAft>
                      </a:pPr>
                      <a:r>
                        <a:rPr lang="fr-CA" sz="1600" dirty="0">
                          <a:effectLst/>
                        </a:rPr>
                        <a:t>Nature</a:t>
                      </a:r>
                      <a:endParaRPr lang="fr-FR"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1191" marR="61191" marT="0" marB="0"/>
                </a:tc>
                <a:tc>
                  <a:txBody>
                    <a:bodyPr/>
                    <a:lstStyle/>
                    <a:p>
                      <a:pPr algn="ctr">
                        <a:spcAft>
                          <a:spcPts val="0"/>
                        </a:spcAft>
                      </a:pPr>
                      <a:r>
                        <a:rPr lang="fr-CA" sz="1600" dirty="0">
                          <a:effectLst/>
                        </a:rPr>
                        <a:t>Actif</a:t>
                      </a:r>
                      <a:endParaRPr lang="fr-FR"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1191" marR="61191" marT="0" marB="0"/>
                </a:tc>
                <a:tc>
                  <a:txBody>
                    <a:bodyPr/>
                    <a:lstStyle/>
                    <a:p>
                      <a:pPr algn="ctr">
                        <a:spcAft>
                          <a:spcPts val="0"/>
                        </a:spcAft>
                      </a:pPr>
                      <a:r>
                        <a:rPr lang="fr-CA" sz="1600" dirty="0">
                          <a:effectLst/>
                        </a:rPr>
                        <a:t>Résultats</a:t>
                      </a:r>
                      <a:endParaRPr lang="fr-FR"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1191" marR="61191" marT="0" marB="0"/>
                </a:tc>
                <a:extLst>
                  <a:ext uri="{0D108BD9-81ED-4DB2-BD59-A6C34878D82A}">
                    <a16:rowId xmlns:a16="http://schemas.microsoft.com/office/drawing/2014/main" val="1107724917"/>
                  </a:ext>
                </a:extLst>
              </a:tr>
              <a:tr h="800803">
                <a:tc>
                  <a:txBody>
                    <a:bodyPr/>
                    <a:lstStyle/>
                    <a:p>
                      <a:pPr algn="just">
                        <a:spcAft>
                          <a:spcPts val="0"/>
                        </a:spcAft>
                      </a:pPr>
                      <a:r>
                        <a:rPr lang="fr-CA" sz="1600" dirty="0">
                          <a:effectLst/>
                        </a:rPr>
                        <a:t>Les coûts du concours pour choisir un cabinet d’architectes sont directement attribuables à la construction et font partie de l’actif. Comme le Cirque reçoit des subventions gouvernementales, il était essentiel  de procéder à un appel d’offres public. </a:t>
                      </a:r>
                      <a:endParaRPr lang="fr-FR"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1191" marR="61191" marT="0" marB="0"/>
                </a:tc>
                <a:tc>
                  <a:txBody>
                    <a:bodyPr/>
                    <a:lstStyle/>
                    <a:p>
                      <a:pPr algn="ctr">
                        <a:spcAft>
                          <a:spcPts val="0"/>
                        </a:spcAft>
                      </a:pPr>
                      <a:r>
                        <a:rPr lang="fr-CA" sz="1600" dirty="0">
                          <a:effectLst/>
                        </a:rPr>
                        <a:t>26 000 $</a:t>
                      </a:r>
                      <a:endParaRPr lang="fr-FR"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1191" marR="61191" marT="0" marB="0"/>
                </a:tc>
                <a:tc>
                  <a:txBody>
                    <a:bodyPr/>
                    <a:lstStyle/>
                    <a:p>
                      <a:pPr algn="ctr">
                        <a:spcAft>
                          <a:spcPts val="0"/>
                        </a:spcAft>
                      </a:pPr>
                      <a:r>
                        <a:rPr lang="fr-CA" sz="1600">
                          <a:effectLst/>
                        </a:rPr>
                        <a:t> </a:t>
                      </a:r>
                      <a:endParaRPr lang="fr-FR"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61191" marR="61191" marT="0" marB="0"/>
                </a:tc>
                <a:extLst>
                  <a:ext uri="{0D108BD9-81ED-4DB2-BD59-A6C34878D82A}">
                    <a16:rowId xmlns:a16="http://schemas.microsoft.com/office/drawing/2014/main" val="3458797432"/>
                  </a:ext>
                </a:extLst>
              </a:tr>
              <a:tr h="440093">
                <a:tc>
                  <a:txBody>
                    <a:bodyPr/>
                    <a:lstStyle/>
                    <a:p>
                      <a:pPr algn="just">
                        <a:spcAft>
                          <a:spcPts val="0"/>
                        </a:spcAft>
                        <a:tabLst>
                          <a:tab pos="5029200" algn="r"/>
                        </a:tabLst>
                      </a:pPr>
                      <a:r>
                        <a:rPr lang="fr-CA" sz="1600" dirty="0">
                          <a:effectLst/>
                        </a:rPr>
                        <a:t>Les plans des architectes sont essentiels pour créer les espaces nécessaires à la création et à la production. </a:t>
                      </a:r>
                      <a:endParaRPr lang="fr-FR" sz="1600" dirty="0">
                        <a:effectLst/>
                      </a:endParaRPr>
                    </a:p>
                    <a:p>
                      <a:pPr algn="just">
                        <a:spcAft>
                          <a:spcPts val="0"/>
                        </a:spcAft>
                      </a:pPr>
                      <a:r>
                        <a:rPr lang="fr-CA" sz="1600" dirty="0">
                          <a:effectLst/>
                        </a:rPr>
                        <a:t> </a:t>
                      </a:r>
                      <a:endParaRPr lang="fr-FR"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1191" marR="61191" marT="0" marB="0"/>
                </a:tc>
                <a:tc>
                  <a:txBody>
                    <a:bodyPr/>
                    <a:lstStyle/>
                    <a:p>
                      <a:pPr algn="ctr">
                        <a:spcAft>
                          <a:spcPts val="0"/>
                        </a:spcAft>
                      </a:pPr>
                      <a:r>
                        <a:rPr lang="fr-CA" sz="1600">
                          <a:effectLst/>
                        </a:rPr>
                        <a:t>10 000 $</a:t>
                      </a:r>
                      <a:endParaRPr lang="fr-FR"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61191" marR="61191" marT="0" marB="0"/>
                </a:tc>
                <a:tc>
                  <a:txBody>
                    <a:bodyPr/>
                    <a:lstStyle/>
                    <a:p>
                      <a:pPr algn="ctr">
                        <a:spcAft>
                          <a:spcPts val="0"/>
                        </a:spcAft>
                      </a:pPr>
                      <a:r>
                        <a:rPr lang="fr-CA" sz="1600">
                          <a:effectLst/>
                        </a:rPr>
                        <a:t> </a:t>
                      </a:r>
                      <a:endParaRPr lang="fr-FR"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61191" marR="61191" marT="0" marB="0"/>
                </a:tc>
                <a:extLst>
                  <a:ext uri="{0D108BD9-81ED-4DB2-BD59-A6C34878D82A}">
                    <a16:rowId xmlns:a16="http://schemas.microsoft.com/office/drawing/2014/main" val="2731475451"/>
                  </a:ext>
                </a:extLst>
              </a:tr>
              <a:tr h="521592">
                <a:tc>
                  <a:txBody>
                    <a:bodyPr/>
                    <a:lstStyle/>
                    <a:p>
                      <a:pPr algn="just">
                        <a:spcAft>
                          <a:spcPts val="0"/>
                        </a:spcAft>
                      </a:pPr>
                      <a:r>
                        <a:rPr lang="fr-CA" sz="1600" dirty="0">
                          <a:effectLst/>
                        </a:rPr>
                        <a:t>Un permis de construction est essentiel pour faire des travaux majeurs. Ce coût est directement attribuable aux travaux.</a:t>
                      </a:r>
                      <a:endParaRPr lang="fr-FR"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1191" marR="61191" marT="0" marB="0"/>
                </a:tc>
                <a:tc>
                  <a:txBody>
                    <a:bodyPr/>
                    <a:lstStyle/>
                    <a:p>
                      <a:pPr algn="ctr">
                        <a:spcAft>
                          <a:spcPts val="0"/>
                        </a:spcAft>
                      </a:pPr>
                      <a:r>
                        <a:rPr lang="fr-CA" sz="1600" dirty="0">
                          <a:effectLst/>
                        </a:rPr>
                        <a:t>1 500 $</a:t>
                      </a:r>
                      <a:endParaRPr lang="fr-FR"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1191" marR="61191" marT="0" marB="0"/>
                </a:tc>
                <a:tc>
                  <a:txBody>
                    <a:bodyPr/>
                    <a:lstStyle/>
                    <a:p>
                      <a:pPr algn="ctr">
                        <a:spcAft>
                          <a:spcPts val="0"/>
                        </a:spcAft>
                      </a:pPr>
                      <a:r>
                        <a:rPr lang="fr-CA" sz="1600">
                          <a:effectLst/>
                        </a:rPr>
                        <a:t> </a:t>
                      </a:r>
                      <a:endParaRPr lang="fr-FR"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61191" marR="61191" marT="0" marB="0"/>
                </a:tc>
                <a:extLst>
                  <a:ext uri="{0D108BD9-81ED-4DB2-BD59-A6C34878D82A}">
                    <a16:rowId xmlns:a16="http://schemas.microsoft.com/office/drawing/2014/main" val="3727658861"/>
                  </a:ext>
                </a:extLst>
              </a:tr>
              <a:tr h="633714">
                <a:tc>
                  <a:txBody>
                    <a:bodyPr/>
                    <a:lstStyle/>
                    <a:p>
                      <a:pPr algn="just">
                        <a:spcAft>
                          <a:spcPts val="0"/>
                        </a:spcAft>
                      </a:pPr>
                      <a:r>
                        <a:rPr lang="fr-CA" sz="1600" dirty="0">
                          <a:effectLst/>
                        </a:rPr>
                        <a:t>Démolition des murs intérieurs + certaines portions du plafond. Ces travaux sont des frais de préparation du site en vue de la construction et font partie du coût de l’immeuble.</a:t>
                      </a:r>
                      <a:endParaRPr lang="fr-FR"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1191" marR="61191" marT="0" marB="0"/>
                </a:tc>
                <a:tc>
                  <a:txBody>
                    <a:bodyPr/>
                    <a:lstStyle/>
                    <a:p>
                      <a:pPr algn="ctr">
                        <a:spcAft>
                          <a:spcPts val="0"/>
                        </a:spcAft>
                      </a:pPr>
                      <a:r>
                        <a:rPr lang="fr-CA" sz="1600">
                          <a:effectLst/>
                        </a:rPr>
                        <a:t>288 000 $</a:t>
                      </a:r>
                      <a:endParaRPr lang="fr-FR"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61191" marR="61191" marT="0" marB="0"/>
                </a:tc>
                <a:tc>
                  <a:txBody>
                    <a:bodyPr/>
                    <a:lstStyle/>
                    <a:p>
                      <a:pPr algn="ctr">
                        <a:spcAft>
                          <a:spcPts val="0"/>
                        </a:spcAft>
                      </a:pPr>
                      <a:r>
                        <a:rPr lang="fr-CA" sz="1600">
                          <a:effectLst/>
                        </a:rPr>
                        <a:t> </a:t>
                      </a:r>
                      <a:endParaRPr lang="fr-FR"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61191" marR="61191" marT="0" marB="0"/>
                </a:tc>
                <a:extLst>
                  <a:ext uri="{0D108BD9-81ED-4DB2-BD59-A6C34878D82A}">
                    <a16:rowId xmlns:a16="http://schemas.microsoft.com/office/drawing/2014/main" val="2655563771"/>
                  </a:ext>
                </a:extLst>
              </a:tr>
              <a:tr h="688820">
                <a:tc>
                  <a:txBody>
                    <a:bodyPr/>
                    <a:lstStyle/>
                    <a:p>
                      <a:pPr algn="just">
                        <a:spcAft>
                          <a:spcPts val="0"/>
                        </a:spcAft>
                      </a:pPr>
                      <a:r>
                        <a:rPr lang="fr-CA" sz="1600" dirty="0">
                          <a:effectLst/>
                        </a:rPr>
                        <a:t>Location de containers – déchets ou récupération pour réutilisation. Ils sont capitalisables car directement attribuables à la démolition et à l’obligation de disposer de ses déchets.</a:t>
                      </a:r>
                      <a:endParaRPr lang="fr-FR"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1191" marR="61191" marT="0" marB="0"/>
                </a:tc>
                <a:tc>
                  <a:txBody>
                    <a:bodyPr/>
                    <a:lstStyle/>
                    <a:p>
                      <a:pPr algn="ctr">
                        <a:spcAft>
                          <a:spcPts val="0"/>
                        </a:spcAft>
                      </a:pPr>
                      <a:r>
                        <a:rPr lang="fr-CA" sz="1600" dirty="0">
                          <a:effectLst/>
                        </a:rPr>
                        <a:t>5 000 $</a:t>
                      </a:r>
                      <a:endParaRPr lang="fr-FR"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1191" marR="61191" marT="0" marB="0"/>
                </a:tc>
                <a:tc>
                  <a:txBody>
                    <a:bodyPr/>
                    <a:lstStyle/>
                    <a:p>
                      <a:pPr algn="ctr">
                        <a:spcAft>
                          <a:spcPts val="0"/>
                        </a:spcAft>
                      </a:pPr>
                      <a:r>
                        <a:rPr lang="fr-CA" sz="1600">
                          <a:effectLst/>
                        </a:rPr>
                        <a:t> </a:t>
                      </a:r>
                      <a:endParaRPr lang="fr-FR"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61191" marR="61191" marT="0" marB="0"/>
                </a:tc>
                <a:extLst>
                  <a:ext uri="{0D108BD9-81ED-4DB2-BD59-A6C34878D82A}">
                    <a16:rowId xmlns:a16="http://schemas.microsoft.com/office/drawing/2014/main" val="2522628196"/>
                  </a:ext>
                </a:extLst>
              </a:tr>
              <a:tr h="1104024">
                <a:tc>
                  <a:txBody>
                    <a:bodyPr/>
                    <a:lstStyle/>
                    <a:p>
                      <a:pPr algn="just">
                        <a:spcAft>
                          <a:spcPts val="0"/>
                        </a:spcAft>
                      </a:pPr>
                      <a:r>
                        <a:rPr lang="fr-CA" sz="1600" dirty="0">
                          <a:effectLst/>
                        </a:rPr>
                        <a:t>Produit de la vente de rebuts qui sont réutilisables. Ce montant est une opération accessoire qui n’est pas essentielle pour amener l’actif dans l’état nécessaire pour permettre l’exploitation. Il ne sera pas présenté en réduction du coût de l’immobilisation. Il sera présenté comme produits.</a:t>
                      </a:r>
                      <a:endParaRPr lang="fr-FR"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1191" marR="61191" marT="0" marB="0"/>
                </a:tc>
                <a:tc>
                  <a:txBody>
                    <a:bodyPr/>
                    <a:lstStyle/>
                    <a:p>
                      <a:pPr algn="ctr">
                        <a:spcAft>
                          <a:spcPts val="0"/>
                        </a:spcAft>
                      </a:pPr>
                      <a:r>
                        <a:rPr lang="fr-CA" sz="1600" dirty="0">
                          <a:effectLst/>
                        </a:rPr>
                        <a:t> </a:t>
                      </a:r>
                      <a:endParaRPr lang="fr-FR"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1191" marR="61191" marT="0" marB="0"/>
                </a:tc>
                <a:tc>
                  <a:txBody>
                    <a:bodyPr/>
                    <a:lstStyle/>
                    <a:p>
                      <a:pPr algn="ctr">
                        <a:spcAft>
                          <a:spcPts val="0"/>
                        </a:spcAft>
                      </a:pPr>
                      <a:r>
                        <a:rPr lang="fr-CA" sz="1600" dirty="0">
                          <a:effectLst/>
                        </a:rPr>
                        <a:t>+17 000 $</a:t>
                      </a:r>
                      <a:endParaRPr lang="fr-FR"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1191" marR="61191" marT="0" marB="0"/>
                </a:tc>
                <a:extLst>
                  <a:ext uri="{0D108BD9-81ED-4DB2-BD59-A6C34878D82A}">
                    <a16:rowId xmlns:a16="http://schemas.microsoft.com/office/drawing/2014/main" val="1949551090"/>
                  </a:ext>
                </a:extLst>
              </a:tr>
              <a:tr h="329191">
                <a:tc>
                  <a:txBody>
                    <a:bodyPr/>
                    <a:lstStyle/>
                    <a:p>
                      <a:pPr algn="just">
                        <a:spcAft>
                          <a:spcPts val="0"/>
                        </a:spcAft>
                      </a:pPr>
                      <a:r>
                        <a:rPr lang="fr-CA" sz="1100" dirty="0">
                          <a:effectLst/>
                        </a:rPr>
                        <a:t> </a:t>
                      </a:r>
                      <a:endParaRPr lang="fr-FR" sz="9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1191" marR="61191" marT="0" marB="0"/>
                </a:tc>
                <a:tc>
                  <a:txBody>
                    <a:bodyPr/>
                    <a:lstStyle/>
                    <a:p>
                      <a:pPr algn="ctr">
                        <a:spcAft>
                          <a:spcPts val="0"/>
                        </a:spcAft>
                      </a:pPr>
                      <a:r>
                        <a:rPr lang="fr-CA" sz="1600" dirty="0">
                          <a:effectLst/>
                        </a:rPr>
                        <a:t>335 500</a:t>
                      </a:r>
                      <a:endParaRPr lang="fr-FR"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1191" marR="61191" marT="0" marB="0"/>
                </a:tc>
                <a:tc>
                  <a:txBody>
                    <a:bodyPr/>
                    <a:lstStyle/>
                    <a:p>
                      <a:pPr algn="ctr">
                        <a:spcAft>
                          <a:spcPts val="0"/>
                        </a:spcAft>
                      </a:pPr>
                      <a:r>
                        <a:rPr lang="fr-CA" sz="1600" dirty="0">
                          <a:effectLst/>
                        </a:rPr>
                        <a:t>17 000 CT</a:t>
                      </a:r>
                      <a:endParaRPr lang="fr-FR" sz="11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1191" marR="61191" marT="0" marB="0"/>
                </a:tc>
                <a:extLst>
                  <a:ext uri="{0D108BD9-81ED-4DB2-BD59-A6C34878D82A}">
                    <a16:rowId xmlns:a16="http://schemas.microsoft.com/office/drawing/2014/main" val="1001244231"/>
                  </a:ext>
                </a:extLst>
              </a:tr>
            </a:tbl>
          </a:graphicData>
        </a:graphic>
      </p:graphicFrame>
    </p:spTree>
    <p:extLst>
      <p:ext uri="{BB962C8B-B14F-4D97-AF65-F5344CB8AC3E}">
        <p14:creationId xmlns:p14="http://schemas.microsoft.com/office/powerpoint/2010/main" val="24588721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6C0E5C-6017-443D-8115-9F9B57BE91E5}"/>
              </a:ext>
            </a:extLst>
          </p:cNvPr>
          <p:cNvSpPr>
            <a:spLocks noGrp="1"/>
          </p:cNvSpPr>
          <p:nvPr>
            <p:ph type="title"/>
          </p:nvPr>
        </p:nvSpPr>
        <p:spPr/>
        <p:txBody>
          <a:bodyPr>
            <a:normAutofit/>
          </a:bodyPr>
          <a:lstStyle/>
          <a:p>
            <a:r>
              <a:rPr lang="fr-CA" sz="3200" b="1" dirty="0"/>
              <a:t>5. Acquisition du Musée du rire</a:t>
            </a:r>
            <a:endParaRPr lang="fr-FR" sz="3200" dirty="0"/>
          </a:p>
        </p:txBody>
      </p:sp>
      <p:sp>
        <p:nvSpPr>
          <p:cNvPr id="3" name="Espace réservé du contenu 2">
            <a:extLst>
              <a:ext uri="{FF2B5EF4-FFF2-40B4-BE49-F238E27FC236}">
                <a16:creationId xmlns:a16="http://schemas.microsoft.com/office/drawing/2014/main" id="{E28F0059-19AC-4E40-BF97-C0DBE38AB957}"/>
              </a:ext>
            </a:extLst>
          </p:cNvPr>
          <p:cNvSpPr>
            <a:spLocks noGrp="1"/>
          </p:cNvSpPr>
          <p:nvPr>
            <p:ph idx="1"/>
          </p:nvPr>
        </p:nvSpPr>
        <p:spPr>
          <a:xfrm>
            <a:off x="838200" y="1513490"/>
            <a:ext cx="10515600" cy="4663473"/>
          </a:xfrm>
        </p:spPr>
        <p:txBody>
          <a:bodyPr>
            <a:noAutofit/>
          </a:bodyPr>
          <a:lstStyle/>
          <a:p>
            <a:pPr marL="0" indent="0">
              <a:buNone/>
            </a:pPr>
            <a:r>
              <a:rPr lang="fr-CA" sz="2000" b="1" cap="small" dirty="0"/>
              <a:t>Conclusion</a:t>
            </a:r>
            <a:endParaRPr lang="fr-FR" sz="2000" dirty="0"/>
          </a:p>
          <a:p>
            <a:pPr marL="0" indent="0">
              <a:buNone/>
            </a:pPr>
            <a:r>
              <a:rPr lang="fr-CA" sz="2000" dirty="0"/>
              <a:t>Un montant de 335 500 $ sera comptabilisé dans le coût du siège social. Le montant de 17 000 $ sera comptabilisé dans les produits.</a:t>
            </a:r>
            <a:endParaRPr lang="fr-FR" sz="2000" dirty="0"/>
          </a:p>
          <a:p>
            <a:pPr marL="0" indent="0">
              <a:buNone/>
            </a:pPr>
            <a:endParaRPr lang="fr-FR" sz="2000" i="1" dirty="0"/>
          </a:p>
        </p:txBody>
      </p:sp>
    </p:spTree>
    <p:extLst>
      <p:ext uri="{BB962C8B-B14F-4D97-AF65-F5344CB8AC3E}">
        <p14:creationId xmlns:p14="http://schemas.microsoft.com/office/powerpoint/2010/main" val="36218666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6C0E5C-6017-443D-8115-9F9B57BE91E5}"/>
              </a:ext>
            </a:extLst>
          </p:cNvPr>
          <p:cNvSpPr>
            <a:spLocks noGrp="1"/>
          </p:cNvSpPr>
          <p:nvPr>
            <p:ph type="title"/>
          </p:nvPr>
        </p:nvSpPr>
        <p:spPr/>
        <p:txBody>
          <a:bodyPr>
            <a:normAutofit/>
          </a:bodyPr>
          <a:lstStyle/>
          <a:p>
            <a:r>
              <a:rPr lang="fr-CA" sz="3200" b="1" dirty="0"/>
              <a:t>5. Acquisition du Musée du rire</a:t>
            </a:r>
            <a:endParaRPr lang="fr-FR" sz="3200" dirty="0"/>
          </a:p>
        </p:txBody>
      </p:sp>
      <p:sp>
        <p:nvSpPr>
          <p:cNvPr id="3" name="Espace réservé du contenu 2">
            <a:extLst>
              <a:ext uri="{FF2B5EF4-FFF2-40B4-BE49-F238E27FC236}">
                <a16:creationId xmlns:a16="http://schemas.microsoft.com/office/drawing/2014/main" id="{E28F0059-19AC-4E40-BF97-C0DBE38AB957}"/>
              </a:ext>
            </a:extLst>
          </p:cNvPr>
          <p:cNvSpPr>
            <a:spLocks noGrp="1"/>
          </p:cNvSpPr>
          <p:nvPr>
            <p:ph idx="1"/>
          </p:nvPr>
        </p:nvSpPr>
        <p:spPr/>
        <p:txBody>
          <a:bodyPr>
            <a:noAutofit/>
          </a:bodyPr>
          <a:lstStyle/>
          <a:p>
            <a:pPr marL="0" indent="0">
              <a:buNone/>
            </a:pPr>
            <a:r>
              <a:rPr lang="fr-CA" sz="2000" b="1" cap="small" dirty="0"/>
              <a:t>Coûts d’emprunt</a:t>
            </a:r>
            <a:endParaRPr lang="fr-FR" sz="2000" dirty="0"/>
          </a:p>
          <a:p>
            <a:pPr marL="0" indent="0">
              <a:buNone/>
            </a:pPr>
            <a:r>
              <a:rPr lang="fr-CA" sz="2000" dirty="0"/>
              <a:t>Nous avons contracté un emprunt de 3 000 000 $ pour financer l’acquisition et les travaux de conversion du musée. </a:t>
            </a:r>
            <a:endParaRPr lang="fr-FR" sz="2000" dirty="0"/>
          </a:p>
          <a:p>
            <a:pPr marL="0" indent="0">
              <a:buNone/>
            </a:pPr>
            <a:r>
              <a:rPr lang="fr-CA" sz="2000" dirty="0"/>
              <a:t>Si la conversion s’étend sur une longue période, nous devrons ajouter les coûts d’emprunt dans le coût du musée. La norme ne définit pas ce qu’une longue période signifie. Cependant, en pratique, cette période compte au moins douze mois.</a:t>
            </a:r>
            <a:endParaRPr lang="fr-FR" sz="2000" dirty="0"/>
          </a:p>
          <a:p>
            <a:pPr marL="0" indent="0">
              <a:buNone/>
            </a:pPr>
            <a:r>
              <a:rPr lang="fr-CA" sz="2000" dirty="0"/>
              <a:t> Si l’échéancier prévoit que les travaux dureront plus de douze mois, les coûts d’emprunt devront être ajoutés au coût de l’immeuble.</a:t>
            </a:r>
            <a:endParaRPr lang="fr-CA" sz="2000" i="1" dirty="0"/>
          </a:p>
          <a:p>
            <a:pPr marL="0" indent="0">
              <a:buNone/>
            </a:pPr>
            <a:endParaRPr lang="fr-FR" sz="2000" i="1" dirty="0"/>
          </a:p>
        </p:txBody>
      </p:sp>
    </p:spTree>
    <p:extLst>
      <p:ext uri="{BB962C8B-B14F-4D97-AF65-F5344CB8AC3E}">
        <p14:creationId xmlns:p14="http://schemas.microsoft.com/office/powerpoint/2010/main" val="19116955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6C0E5C-6017-443D-8115-9F9B57BE91E5}"/>
              </a:ext>
            </a:extLst>
          </p:cNvPr>
          <p:cNvSpPr>
            <a:spLocks noGrp="1"/>
          </p:cNvSpPr>
          <p:nvPr>
            <p:ph type="title"/>
          </p:nvPr>
        </p:nvSpPr>
        <p:spPr/>
        <p:txBody>
          <a:bodyPr>
            <a:normAutofit/>
          </a:bodyPr>
          <a:lstStyle/>
          <a:p>
            <a:r>
              <a:rPr lang="fr-CA" sz="3200" b="1" dirty="0"/>
              <a:t>5. Acquisition du Musée du rire</a:t>
            </a:r>
            <a:endParaRPr lang="fr-FR" sz="3200" dirty="0"/>
          </a:p>
        </p:txBody>
      </p:sp>
      <p:sp>
        <p:nvSpPr>
          <p:cNvPr id="3" name="Espace réservé du contenu 2">
            <a:extLst>
              <a:ext uri="{FF2B5EF4-FFF2-40B4-BE49-F238E27FC236}">
                <a16:creationId xmlns:a16="http://schemas.microsoft.com/office/drawing/2014/main" id="{E28F0059-19AC-4E40-BF97-C0DBE38AB957}"/>
              </a:ext>
            </a:extLst>
          </p:cNvPr>
          <p:cNvSpPr>
            <a:spLocks noGrp="1"/>
          </p:cNvSpPr>
          <p:nvPr>
            <p:ph idx="1"/>
          </p:nvPr>
        </p:nvSpPr>
        <p:spPr/>
        <p:txBody>
          <a:bodyPr>
            <a:noAutofit/>
          </a:bodyPr>
          <a:lstStyle/>
          <a:p>
            <a:pPr marL="0" indent="0">
              <a:buNone/>
            </a:pPr>
            <a:r>
              <a:rPr lang="fr-CA" sz="2000" b="1" cap="small" dirty="0"/>
              <a:t>Les subventions</a:t>
            </a:r>
            <a:endParaRPr lang="fr-FR" sz="2000" dirty="0"/>
          </a:p>
          <a:p>
            <a:pPr marL="0" indent="0">
              <a:buNone/>
            </a:pPr>
            <a:r>
              <a:rPr lang="fr-CA" sz="2000" cap="small" dirty="0"/>
              <a:t>Subvention de 1 000 000 $ - Patrimoine Canada</a:t>
            </a:r>
            <a:endParaRPr lang="fr-FR" sz="2000" dirty="0"/>
          </a:p>
          <a:p>
            <a:pPr marL="0" indent="0">
              <a:buNone/>
            </a:pPr>
            <a:r>
              <a:rPr lang="fr-CA" sz="2000" dirty="0"/>
              <a:t>Une subvention publique ne doit pas être comptabilisée tant qu'il n'existe pas une assurance raisonnable que le Cirque se conformera aux conditions qui y sont attachées et que la subvention sera reçue. (IAS 20-7)</a:t>
            </a:r>
            <a:endParaRPr lang="fr-FR" sz="2000" dirty="0"/>
          </a:p>
          <a:p>
            <a:pPr marL="0" indent="0">
              <a:buNone/>
            </a:pPr>
            <a:r>
              <a:rPr lang="fr-CA" sz="2000" dirty="0"/>
              <a:t>La subvention de Patrimoine Canada sera comptabilisée après qu’un représentant de Patrimoine Canada aura visité le chantier pour s’assurer que le cachet historique de la façade a été respecté et qu’il aura fait connaître son verdict. Les représentants de Patrimoine Canada appliquent les règles d’une manière stricte et leurs attentes sont difficiles à anticiper. </a:t>
            </a:r>
            <a:endParaRPr lang="fr-FR" sz="2000" dirty="0"/>
          </a:p>
          <a:p>
            <a:pPr marL="0" indent="0">
              <a:buNone/>
            </a:pPr>
            <a:r>
              <a:rPr lang="fr-CA" sz="2000" dirty="0"/>
              <a:t>Le Cirque aura l’assurance raisonnable qu’il s’est conformé aux conditions attachées à la subvention et que la subvention sera reçue lorsque le verdict de Patrimoine Canada sera connu. C’est à ce moment-là que la subvention sera comptabilisée.</a:t>
            </a:r>
            <a:endParaRPr lang="fr-FR" sz="2000" dirty="0"/>
          </a:p>
          <a:p>
            <a:pPr marL="0" indent="0">
              <a:buNone/>
            </a:pPr>
            <a:r>
              <a:rPr lang="fr-CA" sz="2000" dirty="0"/>
              <a:t>Aucune écriture ne dit être comptabilisée au moment de l’attribution de la subvention. </a:t>
            </a:r>
            <a:endParaRPr lang="fr-FR" sz="2000" dirty="0"/>
          </a:p>
          <a:p>
            <a:pPr marL="0" indent="0">
              <a:buNone/>
            </a:pPr>
            <a:endParaRPr lang="fr-CA" sz="2000" b="1" cap="small" dirty="0"/>
          </a:p>
          <a:p>
            <a:pPr marL="0" indent="0">
              <a:buNone/>
            </a:pPr>
            <a:endParaRPr lang="fr-CA" sz="2000" i="1" dirty="0"/>
          </a:p>
          <a:p>
            <a:pPr marL="0" indent="0">
              <a:buNone/>
            </a:pPr>
            <a:endParaRPr lang="fr-FR" sz="2000" i="1" dirty="0"/>
          </a:p>
        </p:txBody>
      </p:sp>
    </p:spTree>
    <p:extLst>
      <p:ext uri="{BB962C8B-B14F-4D97-AF65-F5344CB8AC3E}">
        <p14:creationId xmlns:p14="http://schemas.microsoft.com/office/powerpoint/2010/main" val="1507638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6C0E5C-6017-443D-8115-9F9B57BE91E5}"/>
              </a:ext>
            </a:extLst>
          </p:cNvPr>
          <p:cNvSpPr>
            <a:spLocks noGrp="1"/>
          </p:cNvSpPr>
          <p:nvPr>
            <p:ph type="title"/>
          </p:nvPr>
        </p:nvSpPr>
        <p:spPr/>
        <p:txBody>
          <a:bodyPr>
            <a:normAutofit/>
          </a:bodyPr>
          <a:lstStyle/>
          <a:p>
            <a:r>
              <a:rPr lang="fr-CA" sz="3200" b="1" dirty="0"/>
              <a:t>5. Acquisition du Musée du rire</a:t>
            </a:r>
            <a:endParaRPr lang="fr-FR" sz="3200" dirty="0"/>
          </a:p>
        </p:txBody>
      </p:sp>
      <p:sp>
        <p:nvSpPr>
          <p:cNvPr id="3" name="Espace réservé du contenu 2">
            <a:extLst>
              <a:ext uri="{FF2B5EF4-FFF2-40B4-BE49-F238E27FC236}">
                <a16:creationId xmlns:a16="http://schemas.microsoft.com/office/drawing/2014/main" id="{E28F0059-19AC-4E40-BF97-C0DBE38AB957}"/>
              </a:ext>
            </a:extLst>
          </p:cNvPr>
          <p:cNvSpPr>
            <a:spLocks noGrp="1"/>
          </p:cNvSpPr>
          <p:nvPr>
            <p:ph idx="1"/>
          </p:nvPr>
        </p:nvSpPr>
        <p:spPr/>
        <p:txBody>
          <a:bodyPr>
            <a:noAutofit/>
          </a:bodyPr>
          <a:lstStyle/>
          <a:p>
            <a:pPr marL="0" indent="0">
              <a:buNone/>
            </a:pPr>
            <a:r>
              <a:rPr lang="fr-CA" sz="2000" b="1" cap="small" dirty="0"/>
              <a:t>Les subventions</a:t>
            </a:r>
            <a:endParaRPr lang="fr-FR" sz="2000" dirty="0"/>
          </a:p>
          <a:p>
            <a:pPr marL="0" indent="0">
              <a:buNone/>
            </a:pPr>
            <a:r>
              <a:rPr lang="fr-CA" sz="2000" cap="small" dirty="0"/>
              <a:t>Subvention de 3 000 000 $ - Ville de Montréal</a:t>
            </a:r>
            <a:endParaRPr lang="fr-FR" sz="2000" dirty="0"/>
          </a:p>
          <a:p>
            <a:pPr marL="0" indent="0">
              <a:buNone/>
            </a:pPr>
            <a:r>
              <a:rPr lang="fr-CA" sz="2000" dirty="0"/>
              <a:t>La Ville de Montréal a versé 3 000 000$ le 1</a:t>
            </a:r>
            <a:r>
              <a:rPr lang="fr-CA" sz="2000" baseline="30000" dirty="0"/>
              <a:t>er</a:t>
            </a:r>
            <a:r>
              <a:rPr lang="fr-CA" sz="2000" dirty="0"/>
              <a:t> avril 2025. </a:t>
            </a:r>
            <a:endParaRPr lang="fr-FR" sz="2000" dirty="0"/>
          </a:p>
          <a:p>
            <a:pPr marL="0" indent="0">
              <a:buNone/>
            </a:pPr>
            <a:endParaRPr lang="fr-FR" sz="2000" dirty="0"/>
          </a:p>
          <a:p>
            <a:pPr marL="0" indent="0">
              <a:buNone/>
            </a:pPr>
            <a:r>
              <a:rPr lang="fr-CA" sz="2000" cap="small" dirty="0"/>
              <a:t>Analyse</a:t>
            </a:r>
            <a:endParaRPr lang="fr-FR" sz="2000" dirty="0"/>
          </a:p>
          <a:p>
            <a:pPr marL="0" indent="0">
              <a:buNone/>
            </a:pPr>
            <a:r>
              <a:rPr lang="fr-CA" sz="2000" dirty="0"/>
              <a:t>La subvention n’est pas assortie de conditions.</a:t>
            </a:r>
            <a:endParaRPr lang="fr-FR" sz="2000" dirty="0"/>
          </a:p>
          <a:p>
            <a:pPr marL="0" lvl="0" indent="0">
              <a:buNone/>
            </a:pPr>
            <a:r>
              <a:rPr lang="fr-CA" sz="2000" dirty="0"/>
              <a:t>La totalité de cette subvention doit être comptabilisée le 1</a:t>
            </a:r>
            <a:r>
              <a:rPr lang="fr-CA" sz="2000" baseline="30000" dirty="0"/>
              <a:t>er</a:t>
            </a:r>
            <a:r>
              <a:rPr lang="fr-CA" sz="2000" dirty="0"/>
              <a:t> avril 2025. </a:t>
            </a:r>
            <a:endParaRPr lang="fr-FR" sz="2000" dirty="0"/>
          </a:p>
          <a:p>
            <a:pPr marL="0" indent="0">
              <a:buNone/>
            </a:pPr>
            <a:r>
              <a:rPr lang="fr-CA" sz="2000" dirty="0"/>
              <a:t>Le Cirque a le choix de comptabiliser la subvention en réduction du siège social parce qu’elle vise l’actif. On peut aussi présenter une subvention différée. Cette subvention sera portée dans les résultats au rythme où l’immeuble sera amorti. </a:t>
            </a:r>
            <a:endParaRPr lang="fr-FR" sz="2000" dirty="0"/>
          </a:p>
          <a:p>
            <a:pPr marL="0" indent="0">
              <a:buNone/>
            </a:pPr>
            <a:r>
              <a:rPr lang="fr-CA" sz="2000" dirty="0"/>
              <a:t> </a:t>
            </a:r>
            <a:endParaRPr lang="fr-CA" sz="2000" b="1" cap="small" dirty="0"/>
          </a:p>
          <a:p>
            <a:pPr marL="0" indent="0">
              <a:buNone/>
            </a:pPr>
            <a:endParaRPr lang="fr-CA" sz="2000" i="1" dirty="0"/>
          </a:p>
          <a:p>
            <a:pPr marL="0" indent="0">
              <a:buNone/>
            </a:pPr>
            <a:endParaRPr lang="fr-FR" sz="2000" i="1" dirty="0"/>
          </a:p>
        </p:txBody>
      </p:sp>
    </p:spTree>
    <p:extLst>
      <p:ext uri="{BB962C8B-B14F-4D97-AF65-F5344CB8AC3E}">
        <p14:creationId xmlns:p14="http://schemas.microsoft.com/office/powerpoint/2010/main" val="38270562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6C0E5C-6017-443D-8115-9F9B57BE91E5}"/>
              </a:ext>
            </a:extLst>
          </p:cNvPr>
          <p:cNvSpPr>
            <a:spLocks noGrp="1"/>
          </p:cNvSpPr>
          <p:nvPr>
            <p:ph type="title"/>
          </p:nvPr>
        </p:nvSpPr>
        <p:spPr/>
        <p:txBody>
          <a:bodyPr>
            <a:normAutofit/>
          </a:bodyPr>
          <a:lstStyle/>
          <a:p>
            <a:r>
              <a:rPr lang="fr-CA" sz="3200" b="1" dirty="0"/>
              <a:t>5. Acquisition du Musée du rire</a:t>
            </a:r>
            <a:endParaRPr lang="fr-FR" sz="3200" dirty="0"/>
          </a:p>
        </p:txBody>
      </p:sp>
      <p:sp>
        <p:nvSpPr>
          <p:cNvPr id="3" name="Espace réservé du contenu 2">
            <a:extLst>
              <a:ext uri="{FF2B5EF4-FFF2-40B4-BE49-F238E27FC236}">
                <a16:creationId xmlns:a16="http://schemas.microsoft.com/office/drawing/2014/main" id="{E28F0059-19AC-4E40-BF97-C0DBE38AB957}"/>
              </a:ext>
            </a:extLst>
          </p:cNvPr>
          <p:cNvSpPr>
            <a:spLocks noGrp="1"/>
          </p:cNvSpPr>
          <p:nvPr>
            <p:ph idx="1"/>
          </p:nvPr>
        </p:nvSpPr>
        <p:spPr>
          <a:xfrm>
            <a:off x="877410" y="1372864"/>
            <a:ext cx="10515600" cy="4351338"/>
          </a:xfrm>
        </p:spPr>
        <p:txBody>
          <a:bodyPr>
            <a:noAutofit/>
          </a:bodyPr>
          <a:lstStyle/>
          <a:p>
            <a:pPr marL="0" indent="0">
              <a:buNone/>
            </a:pPr>
            <a:r>
              <a:rPr lang="fr-CA" sz="2000" b="1" cap="small" dirty="0"/>
              <a:t>Les subventions</a:t>
            </a:r>
            <a:endParaRPr lang="fr-FR" sz="2000" dirty="0"/>
          </a:p>
          <a:p>
            <a:pPr marL="0" indent="0">
              <a:buNone/>
            </a:pPr>
            <a:r>
              <a:rPr lang="fr-CA" sz="2000" cap="small" dirty="0"/>
              <a:t>Subvention de 3 000 000 $ - Ville de Montréal</a:t>
            </a:r>
            <a:endParaRPr lang="fr-FR" sz="2000" dirty="0"/>
          </a:p>
          <a:p>
            <a:pPr marL="0" indent="0">
              <a:buNone/>
            </a:pPr>
            <a:r>
              <a:rPr lang="fr-CA" sz="2000" dirty="0"/>
              <a:t> </a:t>
            </a:r>
            <a:endParaRPr lang="fr-FR" sz="2000" dirty="0"/>
          </a:p>
          <a:p>
            <a:pPr marL="0" indent="0">
              <a:buNone/>
            </a:pPr>
            <a:r>
              <a:rPr lang="fr-CA" sz="2000" cap="small" dirty="0"/>
              <a:t>Les parties prenantes</a:t>
            </a:r>
            <a:r>
              <a:rPr lang="fr-CA" sz="2000" cap="small" dirty="0">
                <a:solidFill>
                  <a:srgbClr val="00B0F0"/>
                </a:solidFill>
              </a:rPr>
              <a:t> (choix en fonction des parties prenantes)</a:t>
            </a:r>
            <a:endParaRPr lang="fr-FR" sz="2000" dirty="0"/>
          </a:p>
          <a:p>
            <a:r>
              <a:rPr lang="fr-CA" sz="2000" dirty="0"/>
              <a:t>Les </a:t>
            </a:r>
            <a:r>
              <a:rPr lang="fr-CA" sz="2000" b="1" dirty="0"/>
              <a:t>actionnaires</a:t>
            </a:r>
            <a:r>
              <a:rPr lang="fr-CA" sz="2000" dirty="0"/>
              <a:t> veulent présenter des actifs. En portant la subvention contre l’actif principal du Cirque, on ne respecte pas ce souhait. En revanche, ils veulent voir de </a:t>
            </a:r>
            <a:r>
              <a:rPr lang="fr-CA" sz="2000" b="1" dirty="0"/>
              <a:t>vrais passifs</a:t>
            </a:r>
            <a:r>
              <a:rPr lang="fr-CA" sz="2000" dirty="0"/>
              <a:t> dans le bilan. La subvention reportée n’est pas un passif qui entraînera des sorties de fonds. Présenter la subvention reportée en diminution de l’actif permettrait de respecter ce souhait. </a:t>
            </a:r>
            <a:endParaRPr lang="fr-FR" sz="2000" dirty="0"/>
          </a:p>
          <a:p>
            <a:r>
              <a:rPr lang="fr-CA" sz="2000" dirty="0"/>
              <a:t>La </a:t>
            </a:r>
            <a:r>
              <a:rPr lang="fr-CA" sz="2000" b="1" dirty="0"/>
              <a:t>Banque</a:t>
            </a:r>
            <a:r>
              <a:rPr lang="fr-CA" sz="2000" dirty="0"/>
              <a:t> exige le respect de certains ratios. Pourrait-il être avantageux de présenter la subvention reportée en réduction de l’actif, afin de ne pas avoir un impact défavorable sur le ratio d’endettement? </a:t>
            </a:r>
            <a:endParaRPr lang="fr-FR" sz="2000" dirty="0"/>
          </a:p>
          <a:p>
            <a:pPr marL="0" indent="0">
              <a:buNone/>
            </a:pPr>
            <a:r>
              <a:rPr lang="fr-CA" sz="2000" dirty="0"/>
              <a:t> </a:t>
            </a:r>
            <a:r>
              <a:rPr lang="fr-CA" sz="2000" cap="small" dirty="0"/>
              <a:t>Conclusion</a:t>
            </a:r>
            <a:endParaRPr lang="fr-FR" sz="2000" dirty="0"/>
          </a:p>
          <a:p>
            <a:pPr marL="0" indent="0">
              <a:buNone/>
            </a:pPr>
            <a:r>
              <a:rPr lang="fr-CA" sz="2000" dirty="0"/>
              <a:t>Je recommande de présenter la subvention reportée au passif pour que l’actif le plus important du Cirque soit mis en évidence.</a:t>
            </a:r>
            <a:r>
              <a:rPr lang="fr-FR" sz="2000" dirty="0"/>
              <a:t> </a:t>
            </a:r>
            <a:r>
              <a:rPr lang="fr-CA" sz="2000" dirty="0"/>
              <a:t>Cela devrait satisfaire les </a:t>
            </a:r>
            <a:r>
              <a:rPr lang="fr-CA" sz="2000" b="1" dirty="0"/>
              <a:t>subventionneurs</a:t>
            </a:r>
            <a:r>
              <a:rPr lang="fr-CA" sz="2000" dirty="0"/>
              <a:t> qui regarderont les EF et les </a:t>
            </a:r>
            <a:r>
              <a:rPr lang="fr-CA" sz="2000" b="1" dirty="0"/>
              <a:t>actionnaires</a:t>
            </a:r>
            <a:r>
              <a:rPr lang="fr-CA" sz="2000" dirty="0"/>
              <a:t> qui veulent voir des actifs dans le bilan.</a:t>
            </a:r>
            <a:endParaRPr lang="fr-FR" sz="2000" i="1" dirty="0"/>
          </a:p>
        </p:txBody>
      </p:sp>
    </p:spTree>
    <p:extLst>
      <p:ext uri="{BB962C8B-B14F-4D97-AF65-F5344CB8AC3E}">
        <p14:creationId xmlns:p14="http://schemas.microsoft.com/office/powerpoint/2010/main" val="13283350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6C0E5C-6017-443D-8115-9F9B57BE91E5}"/>
              </a:ext>
            </a:extLst>
          </p:cNvPr>
          <p:cNvSpPr>
            <a:spLocks noGrp="1"/>
          </p:cNvSpPr>
          <p:nvPr>
            <p:ph type="title"/>
          </p:nvPr>
        </p:nvSpPr>
        <p:spPr/>
        <p:txBody>
          <a:bodyPr>
            <a:normAutofit/>
          </a:bodyPr>
          <a:lstStyle/>
          <a:p>
            <a:r>
              <a:rPr lang="fr-CA" sz="3200" b="1" dirty="0"/>
              <a:t>5. Acquisition du Musée du rire</a:t>
            </a:r>
            <a:endParaRPr lang="fr-FR" sz="3200" dirty="0"/>
          </a:p>
        </p:txBody>
      </p:sp>
      <p:sp>
        <p:nvSpPr>
          <p:cNvPr id="3" name="Espace réservé du contenu 2">
            <a:extLst>
              <a:ext uri="{FF2B5EF4-FFF2-40B4-BE49-F238E27FC236}">
                <a16:creationId xmlns:a16="http://schemas.microsoft.com/office/drawing/2014/main" id="{E28F0059-19AC-4E40-BF97-C0DBE38AB957}"/>
              </a:ext>
            </a:extLst>
          </p:cNvPr>
          <p:cNvSpPr>
            <a:spLocks noGrp="1"/>
          </p:cNvSpPr>
          <p:nvPr>
            <p:ph idx="1"/>
          </p:nvPr>
        </p:nvSpPr>
        <p:spPr/>
        <p:txBody>
          <a:bodyPr>
            <a:noAutofit/>
          </a:bodyPr>
          <a:lstStyle/>
          <a:p>
            <a:pPr marL="0" indent="0">
              <a:buNone/>
            </a:pPr>
            <a:r>
              <a:rPr lang="fr-CA" sz="2000" cap="small" dirty="0"/>
              <a:t>Écritures</a:t>
            </a:r>
            <a:endParaRPr lang="fr-FR" sz="2000" dirty="0"/>
          </a:p>
          <a:p>
            <a:pPr marL="0" indent="0">
              <a:buNone/>
            </a:pPr>
            <a:r>
              <a:rPr lang="fr-CA" sz="2000" dirty="0"/>
              <a:t>Encaisse					3 000 000</a:t>
            </a:r>
            <a:endParaRPr lang="fr-FR" sz="2000" dirty="0"/>
          </a:p>
          <a:p>
            <a:pPr marL="0" indent="0">
              <a:buNone/>
            </a:pPr>
            <a:r>
              <a:rPr lang="fr-CA" sz="2000" dirty="0"/>
              <a:t>@ Subvention reportée – Ville de MTL		3 000 000</a:t>
            </a:r>
            <a:endParaRPr lang="fr-FR" sz="2000" dirty="0"/>
          </a:p>
          <a:p>
            <a:pPr marL="0" indent="0">
              <a:buNone/>
            </a:pPr>
            <a:r>
              <a:rPr lang="fr-CA" sz="2000" dirty="0"/>
              <a:t> </a:t>
            </a:r>
            <a:endParaRPr lang="fr-FR" sz="2000" dirty="0"/>
          </a:p>
          <a:p>
            <a:pPr marL="0" indent="0">
              <a:buNone/>
            </a:pPr>
            <a:r>
              <a:rPr lang="fr-CA" sz="2000" dirty="0"/>
              <a:t> La subvention reportée sera portée aux résultats au moment où l’immeuble sera amorti, et ce au même rythme d’amortissement. </a:t>
            </a:r>
            <a:endParaRPr lang="fr-FR" sz="2000" dirty="0"/>
          </a:p>
          <a:p>
            <a:pPr marL="0" indent="0">
              <a:buNone/>
            </a:pPr>
            <a:endParaRPr lang="fr-CA" sz="2000" b="1" cap="small" dirty="0"/>
          </a:p>
          <a:p>
            <a:pPr marL="0" indent="0">
              <a:buNone/>
            </a:pPr>
            <a:endParaRPr lang="fr-CA" sz="2000" i="1" dirty="0"/>
          </a:p>
          <a:p>
            <a:pPr marL="0" indent="0">
              <a:buNone/>
            </a:pPr>
            <a:endParaRPr lang="fr-FR" sz="2000" i="1" dirty="0"/>
          </a:p>
        </p:txBody>
      </p:sp>
    </p:spTree>
    <p:extLst>
      <p:ext uri="{BB962C8B-B14F-4D97-AF65-F5344CB8AC3E}">
        <p14:creationId xmlns:p14="http://schemas.microsoft.com/office/powerpoint/2010/main" val="17051263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6C0E5C-6017-443D-8115-9F9B57BE91E5}"/>
              </a:ext>
            </a:extLst>
          </p:cNvPr>
          <p:cNvSpPr>
            <a:spLocks noGrp="1"/>
          </p:cNvSpPr>
          <p:nvPr>
            <p:ph type="title"/>
          </p:nvPr>
        </p:nvSpPr>
        <p:spPr/>
        <p:txBody>
          <a:bodyPr>
            <a:normAutofit/>
          </a:bodyPr>
          <a:lstStyle/>
          <a:p>
            <a:r>
              <a:rPr lang="fr-CA" sz="3200" b="1" dirty="0"/>
              <a:t>5. Acquisition du Musée du rire</a:t>
            </a:r>
            <a:endParaRPr lang="fr-FR" sz="3200" dirty="0"/>
          </a:p>
        </p:txBody>
      </p:sp>
      <p:sp>
        <p:nvSpPr>
          <p:cNvPr id="3" name="Espace réservé du contenu 2">
            <a:extLst>
              <a:ext uri="{FF2B5EF4-FFF2-40B4-BE49-F238E27FC236}">
                <a16:creationId xmlns:a16="http://schemas.microsoft.com/office/drawing/2014/main" id="{E28F0059-19AC-4E40-BF97-C0DBE38AB957}"/>
              </a:ext>
            </a:extLst>
          </p:cNvPr>
          <p:cNvSpPr>
            <a:spLocks noGrp="1"/>
          </p:cNvSpPr>
          <p:nvPr>
            <p:ph idx="1"/>
          </p:nvPr>
        </p:nvSpPr>
        <p:spPr/>
        <p:txBody>
          <a:bodyPr>
            <a:noAutofit/>
          </a:bodyPr>
          <a:lstStyle/>
          <a:p>
            <a:pPr marL="0" indent="0">
              <a:buNone/>
            </a:pPr>
            <a:r>
              <a:rPr lang="fr-CA" sz="2000" cap="small" dirty="0"/>
              <a:t>Subvention de 9 400 000 $ du MCC</a:t>
            </a:r>
            <a:endParaRPr lang="fr-FR" sz="2000" dirty="0"/>
          </a:p>
          <a:p>
            <a:pPr marL="0" indent="0">
              <a:buNone/>
            </a:pPr>
            <a:r>
              <a:rPr lang="fr-CA" sz="2000" dirty="0"/>
              <a:t>La subvention du MCC a pour but pour d’aider le Cirque à installer son Centre de création et de production dans l’ancien musée. </a:t>
            </a:r>
            <a:endParaRPr lang="fr-FR" sz="2000" dirty="0"/>
          </a:p>
          <a:p>
            <a:pPr marL="0" indent="0">
              <a:buNone/>
            </a:pPr>
            <a:r>
              <a:rPr lang="fr-CA" sz="2000" dirty="0"/>
              <a:t>Les versements seront faits à la suite de la présentation de rapports d’étape détaillés. Le premier rapport regroupera les coûts de démolition qui s’élèvent à 350 500 $. </a:t>
            </a:r>
            <a:endParaRPr lang="fr-FR" sz="2000" dirty="0"/>
          </a:p>
          <a:p>
            <a:pPr marL="0" indent="0">
              <a:buNone/>
            </a:pPr>
            <a:r>
              <a:rPr lang="fr-CA" sz="2000" dirty="0"/>
              <a:t>À quel moment devons-nous comptabiliser la subvention?</a:t>
            </a:r>
            <a:endParaRPr lang="fr-FR" sz="2000" dirty="0"/>
          </a:p>
          <a:p>
            <a:pPr marL="0" indent="0">
              <a:buNone/>
            </a:pPr>
            <a:endParaRPr lang="fr-CA" sz="2000" cap="small" dirty="0"/>
          </a:p>
          <a:p>
            <a:pPr marL="0" indent="0">
              <a:buNone/>
            </a:pPr>
            <a:endParaRPr lang="fr-CA" sz="2000" b="1" cap="small" dirty="0"/>
          </a:p>
          <a:p>
            <a:pPr marL="0" indent="0">
              <a:buNone/>
            </a:pPr>
            <a:endParaRPr lang="fr-CA" sz="2000" i="1" dirty="0"/>
          </a:p>
          <a:p>
            <a:pPr marL="0" indent="0">
              <a:buNone/>
            </a:pPr>
            <a:endParaRPr lang="fr-FR" sz="2000" i="1" dirty="0"/>
          </a:p>
        </p:txBody>
      </p:sp>
    </p:spTree>
    <p:extLst>
      <p:ext uri="{BB962C8B-B14F-4D97-AF65-F5344CB8AC3E}">
        <p14:creationId xmlns:p14="http://schemas.microsoft.com/office/powerpoint/2010/main" val="38114573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6C0E5C-6017-443D-8115-9F9B57BE91E5}"/>
              </a:ext>
            </a:extLst>
          </p:cNvPr>
          <p:cNvSpPr>
            <a:spLocks noGrp="1"/>
          </p:cNvSpPr>
          <p:nvPr>
            <p:ph type="title"/>
          </p:nvPr>
        </p:nvSpPr>
        <p:spPr/>
        <p:txBody>
          <a:bodyPr>
            <a:normAutofit/>
          </a:bodyPr>
          <a:lstStyle/>
          <a:p>
            <a:r>
              <a:rPr lang="fr-CA" sz="3200" b="1" dirty="0"/>
              <a:t>5. Acquisition du Musée du rire</a:t>
            </a:r>
            <a:endParaRPr lang="fr-FR" sz="3200" dirty="0"/>
          </a:p>
        </p:txBody>
      </p:sp>
      <p:sp>
        <p:nvSpPr>
          <p:cNvPr id="3" name="Espace réservé du contenu 2">
            <a:extLst>
              <a:ext uri="{FF2B5EF4-FFF2-40B4-BE49-F238E27FC236}">
                <a16:creationId xmlns:a16="http://schemas.microsoft.com/office/drawing/2014/main" id="{E28F0059-19AC-4E40-BF97-C0DBE38AB957}"/>
              </a:ext>
            </a:extLst>
          </p:cNvPr>
          <p:cNvSpPr>
            <a:spLocks noGrp="1"/>
          </p:cNvSpPr>
          <p:nvPr>
            <p:ph idx="1"/>
          </p:nvPr>
        </p:nvSpPr>
        <p:spPr/>
        <p:txBody>
          <a:bodyPr>
            <a:noAutofit/>
          </a:bodyPr>
          <a:lstStyle/>
          <a:p>
            <a:pPr marL="0" indent="0">
              <a:buNone/>
            </a:pPr>
            <a:r>
              <a:rPr lang="fr-CA" sz="2000" cap="small" dirty="0"/>
              <a:t>Subvention de 9 400 000 $ du MCC</a:t>
            </a:r>
          </a:p>
          <a:p>
            <a:pPr marL="0" indent="0">
              <a:buNone/>
            </a:pPr>
            <a:r>
              <a:rPr lang="fr-CA" sz="2000" dirty="0"/>
              <a:t>Cette subvention sera comptabilisée au moment où nous engageons les dépenses de conversion si nous avons une assurance raisonnable que nous nous conformerons aux conditions attachées à la subvention et que le MCC versera les sommes promises. IAS 20-7.</a:t>
            </a:r>
            <a:endParaRPr lang="fr-FR" sz="2000" dirty="0"/>
          </a:p>
          <a:p>
            <a:pPr marL="0" lvl="0" indent="0">
              <a:buNone/>
            </a:pPr>
            <a:r>
              <a:rPr lang="fr-CA" sz="2000" dirty="0"/>
              <a:t>Rien ne me porte à croire que le MCC ne versera pas le montant promis lorsque nous aurons présenté le rapport d’étape. Cette condition est respectée. </a:t>
            </a:r>
            <a:endParaRPr lang="fr-FR" sz="2000" dirty="0"/>
          </a:p>
          <a:p>
            <a:pPr marL="0" indent="0">
              <a:buNone/>
            </a:pPr>
            <a:r>
              <a:rPr lang="fr-CA" sz="2000" dirty="0"/>
              <a:t>Nous présenterons bientôt un rapport d’étape au montant de 350 500 $. Je ne tiens pas compte des produits de 17 000 $, puisque que ce ne sont pas des coûts. </a:t>
            </a:r>
            <a:endParaRPr lang="fr-FR" sz="2000" dirty="0"/>
          </a:p>
          <a:p>
            <a:pPr marL="0" indent="0">
              <a:buNone/>
            </a:pPr>
            <a:r>
              <a:rPr lang="fr-CA" sz="2000" dirty="0"/>
              <a:t>Comme il semble peu probable que le MCC refuse notre rapport, le Cirque pourra comptabiliser la subvention au moment où elle engage les coûts car les conditions de versement du MCC seront vraisemblablement respectées. </a:t>
            </a:r>
            <a:endParaRPr lang="fr-FR" sz="2000" dirty="0"/>
          </a:p>
          <a:p>
            <a:pPr marL="0" indent="0">
              <a:buNone/>
            </a:pPr>
            <a:r>
              <a:rPr lang="fr-CA" sz="2000" dirty="0"/>
              <a:t>Pour ce qui est du reste de la subvention promise par le MCC, nous comptabiliserons une subvention à recevoir au moment où les coûts sont engagés. </a:t>
            </a:r>
            <a:endParaRPr lang="fr-FR" sz="2000" dirty="0"/>
          </a:p>
          <a:p>
            <a:pPr marL="0" indent="0">
              <a:buNone/>
            </a:pPr>
            <a:r>
              <a:rPr lang="fr-CA" sz="2000" dirty="0"/>
              <a:t> </a:t>
            </a:r>
            <a:endParaRPr lang="fr-FR" sz="2000" dirty="0"/>
          </a:p>
          <a:p>
            <a:pPr marL="0" indent="0">
              <a:buNone/>
            </a:pPr>
            <a:endParaRPr lang="fr-CA" sz="2000" b="1" cap="small" dirty="0"/>
          </a:p>
          <a:p>
            <a:pPr marL="0" indent="0">
              <a:buNone/>
            </a:pPr>
            <a:endParaRPr lang="fr-CA" sz="2000" i="1" dirty="0"/>
          </a:p>
          <a:p>
            <a:pPr marL="0" indent="0">
              <a:buNone/>
            </a:pPr>
            <a:endParaRPr lang="fr-FR" sz="2000" i="1" dirty="0"/>
          </a:p>
        </p:txBody>
      </p:sp>
    </p:spTree>
    <p:extLst>
      <p:ext uri="{BB962C8B-B14F-4D97-AF65-F5344CB8AC3E}">
        <p14:creationId xmlns:p14="http://schemas.microsoft.com/office/powerpoint/2010/main" val="252604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6C0E5C-6017-443D-8115-9F9B57BE91E5}"/>
              </a:ext>
            </a:extLst>
          </p:cNvPr>
          <p:cNvSpPr>
            <a:spLocks noGrp="1"/>
          </p:cNvSpPr>
          <p:nvPr>
            <p:ph type="title"/>
          </p:nvPr>
        </p:nvSpPr>
        <p:spPr/>
        <p:txBody>
          <a:bodyPr>
            <a:normAutofit/>
          </a:bodyPr>
          <a:lstStyle/>
          <a:p>
            <a:r>
              <a:rPr lang="fr-CA" sz="3200" b="1" dirty="0"/>
              <a:t>5. Acquisition du Musée du rire</a:t>
            </a:r>
            <a:endParaRPr lang="fr-FR" sz="3200" dirty="0"/>
          </a:p>
        </p:txBody>
      </p:sp>
      <p:sp>
        <p:nvSpPr>
          <p:cNvPr id="3" name="Espace réservé du contenu 2">
            <a:extLst>
              <a:ext uri="{FF2B5EF4-FFF2-40B4-BE49-F238E27FC236}">
                <a16:creationId xmlns:a16="http://schemas.microsoft.com/office/drawing/2014/main" id="{E28F0059-19AC-4E40-BF97-C0DBE38AB957}"/>
              </a:ext>
            </a:extLst>
          </p:cNvPr>
          <p:cNvSpPr>
            <a:spLocks noGrp="1"/>
          </p:cNvSpPr>
          <p:nvPr>
            <p:ph idx="1"/>
          </p:nvPr>
        </p:nvSpPr>
        <p:spPr/>
        <p:txBody>
          <a:bodyPr>
            <a:noAutofit/>
          </a:bodyPr>
          <a:lstStyle/>
          <a:p>
            <a:pPr marL="0" indent="0">
              <a:buNone/>
            </a:pPr>
            <a:r>
              <a:rPr lang="fr-CA" sz="2000" cap="small" dirty="0"/>
              <a:t>Subvention de 9 400 000 $ du MCC</a:t>
            </a:r>
          </a:p>
          <a:p>
            <a:pPr marL="0" indent="0">
              <a:buNone/>
            </a:pPr>
            <a:r>
              <a:rPr lang="fr-CA" sz="2000" cap="small" dirty="0"/>
              <a:t>Écritures</a:t>
            </a:r>
            <a:endParaRPr lang="fr-FR" sz="2000" dirty="0"/>
          </a:p>
          <a:p>
            <a:pPr marL="0" indent="0">
              <a:buNone/>
            </a:pPr>
            <a:r>
              <a:rPr lang="fr-CA" sz="2000" dirty="0"/>
              <a:t>Créances – subvention du MCC			330 500 </a:t>
            </a:r>
            <a:endParaRPr lang="fr-FR" sz="2000" dirty="0"/>
          </a:p>
          <a:p>
            <a:pPr marL="0" indent="0">
              <a:buNone/>
            </a:pPr>
            <a:r>
              <a:rPr lang="fr-CA" sz="2000" dirty="0"/>
              <a:t>@ Subvention gouvernementale reportée			330 500</a:t>
            </a:r>
            <a:endParaRPr lang="fr-FR" sz="2000" dirty="0"/>
          </a:p>
          <a:p>
            <a:pPr marL="0" indent="0">
              <a:buNone/>
            </a:pPr>
            <a:r>
              <a:rPr lang="fr-CA" sz="2000" dirty="0"/>
              <a:t> </a:t>
            </a:r>
            <a:endParaRPr lang="fr-FR" sz="2000" dirty="0"/>
          </a:p>
          <a:p>
            <a:pPr marL="0" indent="0">
              <a:buNone/>
            </a:pPr>
            <a:r>
              <a:rPr lang="fr-CA" sz="2000" dirty="0"/>
              <a:t> </a:t>
            </a:r>
            <a:endParaRPr lang="fr-FR" sz="2000" dirty="0"/>
          </a:p>
          <a:p>
            <a:pPr marL="0" indent="0">
              <a:buNone/>
            </a:pPr>
            <a:endParaRPr lang="fr-CA" sz="2000" b="1" cap="small" dirty="0"/>
          </a:p>
          <a:p>
            <a:pPr marL="0" indent="0">
              <a:buNone/>
            </a:pPr>
            <a:endParaRPr lang="fr-CA" sz="2000" i="1" dirty="0"/>
          </a:p>
          <a:p>
            <a:pPr marL="0" indent="0">
              <a:buNone/>
            </a:pPr>
            <a:endParaRPr lang="fr-FR" sz="2000" i="1" dirty="0"/>
          </a:p>
        </p:txBody>
      </p:sp>
    </p:spTree>
    <p:extLst>
      <p:ext uri="{BB962C8B-B14F-4D97-AF65-F5344CB8AC3E}">
        <p14:creationId xmlns:p14="http://schemas.microsoft.com/office/powerpoint/2010/main" val="13806185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2D84F1-0B2B-416E-9AB8-6A6523D6CBC5}"/>
              </a:ext>
            </a:extLst>
          </p:cNvPr>
          <p:cNvSpPr>
            <a:spLocks noGrp="1"/>
          </p:cNvSpPr>
          <p:nvPr>
            <p:ph type="title"/>
          </p:nvPr>
        </p:nvSpPr>
        <p:spPr/>
        <p:txBody>
          <a:bodyPr/>
          <a:lstStyle/>
          <a:p>
            <a:r>
              <a:rPr lang="fr-CA" b="1" dirty="0">
                <a:solidFill>
                  <a:srgbClr val="FF0000"/>
                </a:solidFill>
              </a:rPr>
              <a:t>6. Union Square </a:t>
            </a:r>
            <a:r>
              <a:rPr lang="fr-CA" b="1" dirty="0" err="1">
                <a:solidFill>
                  <a:srgbClr val="FF0000"/>
                </a:solidFill>
              </a:rPr>
              <a:t>Theatre</a:t>
            </a:r>
            <a:endParaRPr lang="fr-FR" b="1" dirty="0">
              <a:solidFill>
                <a:srgbClr val="FF0000"/>
              </a:solidFill>
            </a:endParaRPr>
          </a:p>
        </p:txBody>
      </p:sp>
      <p:sp>
        <p:nvSpPr>
          <p:cNvPr id="3" name="Espace réservé du contenu 2">
            <a:extLst>
              <a:ext uri="{FF2B5EF4-FFF2-40B4-BE49-F238E27FC236}">
                <a16:creationId xmlns:a16="http://schemas.microsoft.com/office/drawing/2014/main" id="{1472F1C4-CB5A-4ADE-BB55-DAF038446596}"/>
              </a:ext>
            </a:extLst>
          </p:cNvPr>
          <p:cNvSpPr>
            <a:spLocks noGrp="1"/>
          </p:cNvSpPr>
          <p:nvPr>
            <p:ph idx="1"/>
          </p:nvPr>
        </p:nvSpPr>
        <p:spPr/>
        <p:txBody>
          <a:bodyPr>
            <a:normAutofit/>
          </a:bodyPr>
          <a:lstStyle/>
          <a:p>
            <a:pPr marL="0" indent="0">
              <a:buNone/>
            </a:pPr>
            <a:r>
              <a:rPr lang="fr-CA" sz="2000" cap="small" dirty="0"/>
              <a:t>Problématiques</a:t>
            </a:r>
            <a:endParaRPr lang="fr-FR" sz="2000" dirty="0"/>
          </a:p>
          <a:p>
            <a:pPr marL="0" indent="0">
              <a:buNone/>
            </a:pPr>
            <a:r>
              <a:rPr lang="fr-CA" sz="2000" dirty="0"/>
              <a:t>Après avoir signé un contrat de location d’une durée de trois ans, le Cirque a apporté des améliorations à la salle de l’UST en vue d’y installer son spectacle.</a:t>
            </a:r>
            <a:endParaRPr lang="fr-FR" sz="2000" dirty="0"/>
          </a:p>
          <a:p>
            <a:pPr marL="0" indent="0">
              <a:buNone/>
            </a:pPr>
            <a:r>
              <a:rPr lang="fr-CA" sz="2000" dirty="0"/>
              <a:t> </a:t>
            </a:r>
            <a:endParaRPr lang="fr-FR" sz="2000" dirty="0"/>
          </a:p>
          <a:p>
            <a:r>
              <a:rPr lang="fr-CA" sz="2000" dirty="0"/>
              <a:t>Comment traiter les opérations effectuées en monnaie américaine? </a:t>
            </a:r>
            <a:endParaRPr lang="fr-FR" sz="2000" dirty="0"/>
          </a:p>
          <a:p>
            <a:r>
              <a:rPr lang="fr-CA" sz="2000" dirty="0"/>
              <a:t>Quelle est la nature du contrat de location?</a:t>
            </a:r>
            <a:endParaRPr lang="fr-FR" sz="2000" dirty="0"/>
          </a:p>
          <a:p>
            <a:r>
              <a:rPr lang="fr-CA" sz="2000" dirty="0"/>
              <a:t>Les améliorations sont-elles des immobilisations corporelles?</a:t>
            </a:r>
            <a:endParaRPr lang="fr-FR" sz="2000" dirty="0"/>
          </a:p>
          <a:p>
            <a:r>
              <a:rPr lang="fr-CA" sz="2000" dirty="0"/>
              <a:t>À quel montant doit-on les mesurer? </a:t>
            </a:r>
            <a:endParaRPr lang="fr-FR" sz="2000" dirty="0"/>
          </a:p>
          <a:p>
            <a:r>
              <a:rPr lang="fr-CA" sz="2000" dirty="0"/>
              <a:t>Comment tenir compte de l’obligation de remettre le local en état à la fin du contrat de location?</a:t>
            </a:r>
            <a:endParaRPr lang="fr-FR" sz="2000" dirty="0"/>
          </a:p>
        </p:txBody>
      </p:sp>
    </p:spTree>
    <p:extLst>
      <p:ext uri="{BB962C8B-B14F-4D97-AF65-F5344CB8AC3E}">
        <p14:creationId xmlns:p14="http://schemas.microsoft.com/office/powerpoint/2010/main" val="1427571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2D84F1-0B2B-416E-9AB8-6A6523D6CBC5}"/>
              </a:ext>
            </a:extLst>
          </p:cNvPr>
          <p:cNvSpPr>
            <a:spLocks noGrp="1"/>
          </p:cNvSpPr>
          <p:nvPr>
            <p:ph type="title"/>
          </p:nvPr>
        </p:nvSpPr>
        <p:spPr/>
        <p:txBody>
          <a:bodyPr>
            <a:normAutofit/>
          </a:bodyPr>
          <a:lstStyle/>
          <a:p>
            <a:r>
              <a:rPr lang="fr-CA" sz="3200" b="1" dirty="0"/>
              <a:t>6. Union Square </a:t>
            </a:r>
            <a:r>
              <a:rPr lang="fr-CA" sz="3200" b="1" dirty="0" err="1"/>
              <a:t>Theatre</a:t>
            </a:r>
            <a:endParaRPr lang="fr-FR" sz="3200" b="1" dirty="0"/>
          </a:p>
        </p:txBody>
      </p:sp>
      <p:sp>
        <p:nvSpPr>
          <p:cNvPr id="3" name="Espace réservé du contenu 2">
            <a:extLst>
              <a:ext uri="{FF2B5EF4-FFF2-40B4-BE49-F238E27FC236}">
                <a16:creationId xmlns:a16="http://schemas.microsoft.com/office/drawing/2014/main" id="{1472F1C4-CB5A-4ADE-BB55-DAF038446596}"/>
              </a:ext>
            </a:extLst>
          </p:cNvPr>
          <p:cNvSpPr>
            <a:spLocks noGrp="1"/>
          </p:cNvSpPr>
          <p:nvPr>
            <p:ph idx="1"/>
          </p:nvPr>
        </p:nvSpPr>
        <p:spPr/>
        <p:txBody>
          <a:bodyPr>
            <a:normAutofit fontScale="25000" lnSpcReduction="20000"/>
          </a:bodyPr>
          <a:lstStyle/>
          <a:p>
            <a:pPr marL="0" indent="0">
              <a:buNone/>
            </a:pPr>
            <a:r>
              <a:rPr lang="fr-CA" sz="8000" cap="small" dirty="0"/>
              <a:t>Monnaie fonctionnelle du Cirque   (IAS 21)</a:t>
            </a:r>
            <a:endParaRPr lang="fr-FR" sz="8000" dirty="0"/>
          </a:p>
          <a:p>
            <a:pPr marL="0" indent="0">
              <a:buNone/>
            </a:pPr>
            <a:r>
              <a:rPr lang="fr-CA" sz="8000" dirty="0"/>
              <a:t> </a:t>
            </a:r>
            <a:endParaRPr lang="fr-FR" sz="8000" dirty="0"/>
          </a:p>
          <a:p>
            <a:pPr marL="0" indent="0">
              <a:buNone/>
            </a:pPr>
            <a:r>
              <a:rPr lang="fr-CA" sz="8000" cap="small" dirty="0"/>
              <a:t>Analyse</a:t>
            </a:r>
            <a:endParaRPr lang="fr-FR" sz="8000" dirty="0"/>
          </a:p>
          <a:p>
            <a:pPr marL="0" indent="0">
              <a:buNone/>
            </a:pPr>
            <a:r>
              <a:rPr lang="fr-CA" sz="8000" dirty="0"/>
              <a:t>Le Cirque produit des spectacles à l’étranger. Pour convertir les revenus et les charges qu’il encourt à l’étranger, il faut établir quelle est sa monnaie fonctionnelle.</a:t>
            </a:r>
            <a:endParaRPr lang="fr-FR" sz="8000" dirty="0"/>
          </a:p>
          <a:p>
            <a:pPr marL="0" indent="0">
              <a:buNone/>
            </a:pPr>
            <a:r>
              <a:rPr lang="fr-CA" sz="8000" dirty="0"/>
              <a:t>La monnaie fonctionnelle du Cirque, c’est la monnaie de l'environnement économique principal dans lequel le Cirque exerce ses activités.</a:t>
            </a:r>
            <a:endParaRPr lang="fr-FR" sz="8000" dirty="0"/>
          </a:p>
          <a:p>
            <a:pPr marL="0" indent="0">
              <a:buNone/>
            </a:pPr>
            <a:r>
              <a:rPr lang="fr-CA" sz="8000" dirty="0"/>
              <a:t> </a:t>
            </a:r>
            <a:endParaRPr lang="fr-FR" sz="8000" dirty="0"/>
          </a:p>
          <a:p>
            <a:pPr marL="0" indent="0">
              <a:buNone/>
            </a:pPr>
            <a:r>
              <a:rPr lang="fr-CA" sz="8000" dirty="0"/>
              <a:t>Pour y arriver, on applique d’abord les indicateurs principaux.</a:t>
            </a:r>
            <a:endParaRPr lang="fr-FR" sz="8000" dirty="0"/>
          </a:p>
          <a:p>
            <a:pPr marL="0" indent="0">
              <a:buNone/>
            </a:pPr>
            <a:r>
              <a:rPr lang="fr-CA" sz="8000" dirty="0"/>
              <a:t> </a:t>
            </a:r>
            <a:endParaRPr lang="fr-FR" sz="8000" dirty="0"/>
          </a:p>
          <a:p>
            <a:pPr marL="0" indent="0">
              <a:buNone/>
            </a:pPr>
            <a:r>
              <a:rPr lang="fr-CA" sz="8000" u="dotted" dirty="0"/>
              <a:t>Ventes et encaissements : </a:t>
            </a:r>
            <a:r>
              <a:rPr lang="fr-CA" sz="8000" dirty="0"/>
              <a:t>Les ventes de billets sont libellées en dollars US aux États-Unis et en dollars CAN au Canada.</a:t>
            </a:r>
            <a:endParaRPr lang="fr-FR" sz="8000" dirty="0"/>
          </a:p>
          <a:p>
            <a:pPr marL="0" indent="0">
              <a:buNone/>
            </a:pPr>
            <a:r>
              <a:rPr lang="fr-CA" sz="8000" dirty="0"/>
              <a:t>Les charges d’exploitation : main d’œuvre, les matières utilisées pour créer les accessoires, les costumes, etc., les coûts des immobilisations sont engagés et réglés en dollars CAN.</a:t>
            </a:r>
            <a:endParaRPr lang="fr-FR" sz="8000" dirty="0"/>
          </a:p>
          <a:p>
            <a:pPr marL="0" indent="0">
              <a:buNone/>
            </a:pPr>
            <a:r>
              <a:rPr lang="fr-CA" sz="8000" dirty="0"/>
              <a:t>À la suite de l’analyse de ces deux indicateurs principaux, c’est difficile de trancher de façon convaincante. Je considérerai les indicateurs secondaires.</a:t>
            </a:r>
            <a:endParaRPr lang="fr-FR" sz="2000" dirty="0"/>
          </a:p>
        </p:txBody>
      </p:sp>
    </p:spTree>
    <p:extLst>
      <p:ext uri="{BB962C8B-B14F-4D97-AF65-F5344CB8AC3E}">
        <p14:creationId xmlns:p14="http://schemas.microsoft.com/office/powerpoint/2010/main" val="7385799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2D84F1-0B2B-416E-9AB8-6A6523D6CBC5}"/>
              </a:ext>
            </a:extLst>
          </p:cNvPr>
          <p:cNvSpPr>
            <a:spLocks noGrp="1"/>
          </p:cNvSpPr>
          <p:nvPr>
            <p:ph type="title"/>
          </p:nvPr>
        </p:nvSpPr>
        <p:spPr/>
        <p:txBody>
          <a:bodyPr>
            <a:normAutofit/>
          </a:bodyPr>
          <a:lstStyle/>
          <a:p>
            <a:r>
              <a:rPr lang="fr-CA" sz="3200" b="1" dirty="0"/>
              <a:t>6. Union Square </a:t>
            </a:r>
            <a:r>
              <a:rPr lang="fr-CA" sz="3200" b="1" dirty="0" err="1"/>
              <a:t>Theatre</a:t>
            </a:r>
            <a:endParaRPr lang="fr-FR" sz="3200" b="1" dirty="0"/>
          </a:p>
        </p:txBody>
      </p:sp>
      <p:sp>
        <p:nvSpPr>
          <p:cNvPr id="3" name="Espace réservé du contenu 2">
            <a:extLst>
              <a:ext uri="{FF2B5EF4-FFF2-40B4-BE49-F238E27FC236}">
                <a16:creationId xmlns:a16="http://schemas.microsoft.com/office/drawing/2014/main" id="{1472F1C4-CB5A-4ADE-BB55-DAF038446596}"/>
              </a:ext>
            </a:extLst>
          </p:cNvPr>
          <p:cNvSpPr>
            <a:spLocks noGrp="1"/>
          </p:cNvSpPr>
          <p:nvPr>
            <p:ph idx="1"/>
          </p:nvPr>
        </p:nvSpPr>
        <p:spPr/>
        <p:txBody>
          <a:bodyPr>
            <a:normAutofit fontScale="25000" lnSpcReduction="20000"/>
          </a:bodyPr>
          <a:lstStyle/>
          <a:p>
            <a:pPr marL="0" indent="0">
              <a:buNone/>
            </a:pPr>
            <a:r>
              <a:rPr lang="fr-CA" sz="8000" cap="small" dirty="0"/>
              <a:t>Monnaie fonctionnelle du Cirque</a:t>
            </a:r>
            <a:endParaRPr lang="fr-FR" sz="8000" dirty="0"/>
          </a:p>
          <a:p>
            <a:pPr marL="0" indent="0">
              <a:buNone/>
            </a:pPr>
            <a:r>
              <a:rPr lang="fr-CA" sz="8000" dirty="0"/>
              <a:t> </a:t>
            </a:r>
            <a:endParaRPr lang="fr-FR" sz="8000" dirty="0"/>
          </a:p>
          <a:p>
            <a:pPr marL="0" indent="0">
              <a:buNone/>
            </a:pPr>
            <a:r>
              <a:rPr lang="fr-CA" sz="8000" u="dotted" dirty="0"/>
              <a:t>Activités de financement</a:t>
            </a:r>
            <a:endParaRPr lang="fr-FR" sz="8000" dirty="0"/>
          </a:p>
          <a:p>
            <a:pPr marL="0" indent="0">
              <a:buNone/>
            </a:pPr>
            <a:r>
              <a:rPr lang="fr-CA" sz="8000" dirty="0"/>
              <a:t>La Banque Populaire nous finance en devises canadiennes.</a:t>
            </a:r>
            <a:endParaRPr lang="fr-FR" sz="8000" dirty="0"/>
          </a:p>
          <a:p>
            <a:pPr marL="0" indent="0">
              <a:buNone/>
            </a:pPr>
            <a:r>
              <a:rPr lang="fr-CA" sz="8000" dirty="0"/>
              <a:t>Toutes les subventions que nous avons reçues sont en devises canadiennes.</a:t>
            </a:r>
            <a:endParaRPr lang="fr-FR" sz="8000" dirty="0"/>
          </a:p>
          <a:p>
            <a:pPr marL="0" indent="0">
              <a:buNone/>
            </a:pPr>
            <a:r>
              <a:rPr lang="fr-CA" sz="8000" dirty="0"/>
              <a:t> </a:t>
            </a:r>
            <a:endParaRPr lang="fr-FR" sz="8000" dirty="0"/>
          </a:p>
          <a:p>
            <a:pPr marL="0" indent="0">
              <a:buNone/>
            </a:pPr>
            <a:r>
              <a:rPr lang="fr-CA" sz="8000" u="dotted" dirty="0"/>
              <a:t>Entrées de trésorerie liées aux activités</a:t>
            </a:r>
            <a:endParaRPr lang="fr-FR" sz="8000" dirty="0"/>
          </a:p>
          <a:p>
            <a:pPr marL="0" indent="0">
              <a:buNone/>
            </a:pPr>
            <a:r>
              <a:rPr lang="fr-CA" sz="8000" dirty="0"/>
              <a:t>Le Cirque semble conserver les entrées de trésorerie liées aux spectacles en devises canadiennes.</a:t>
            </a:r>
            <a:endParaRPr lang="fr-FR" sz="8000" dirty="0"/>
          </a:p>
          <a:p>
            <a:pPr marL="0" indent="0">
              <a:buNone/>
            </a:pPr>
            <a:endParaRPr lang="fr-FR" sz="8000" dirty="0"/>
          </a:p>
          <a:p>
            <a:pPr marL="0" indent="0">
              <a:buNone/>
            </a:pPr>
            <a:r>
              <a:rPr lang="fr-CA" sz="8000" cap="small" dirty="0"/>
              <a:t>Conclusion</a:t>
            </a:r>
            <a:endParaRPr lang="fr-FR" sz="8000" dirty="0"/>
          </a:p>
          <a:p>
            <a:pPr marL="0" indent="0">
              <a:buNone/>
            </a:pPr>
            <a:r>
              <a:rPr lang="fr-CA" sz="8000" dirty="0"/>
              <a:t>La monnaie fonctionnelle du Cirque est le dollar CAN. </a:t>
            </a:r>
            <a:endParaRPr lang="fr-FR" sz="8000" dirty="0"/>
          </a:p>
          <a:p>
            <a:pPr marL="0" indent="0">
              <a:buNone/>
            </a:pPr>
            <a:r>
              <a:rPr lang="fr-CA" sz="8000" dirty="0"/>
              <a:t>Même si le prix de certains billets est en dollar US, les charges d’exploitation dont les salaires, le financement et les soldes excédentaires du fonds de roulement sont en dollars CAN.</a:t>
            </a:r>
            <a:endParaRPr lang="fr-FR" sz="8000" dirty="0"/>
          </a:p>
          <a:p>
            <a:pPr marL="0" indent="0">
              <a:buNone/>
            </a:pPr>
            <a:endParaRPr lang="fr-FR" sz="2000" dirty="0"/>
          </a:p>
        </p:txBody>
      </p:sp>
    </p:spTree>
    <p:extLst>
      <p:ext uri="{BB962C8B-B14F-4D97-AF65-F5344CB8AC3E}">
        <p14:creationId xmlns:p14="http://schemas.microsoft.com/office/powerpoint/2010/main" val="3772176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2D84F1-0B2B-416E-9AB8-6A6523D6CBC5}"/>
              </a:ext>
            </a:extLst>
          </p:cNvPr>
          <p:cNvSpPr>
            <a:spLocks noGrp="1"/>
          </p:cNvSpPr>
          <p:nvPr>
            <p:ph type="title"/>
          </p:nvPr>
        </p:nvSpPr>
        <p:spPr/>
        <p:txBody>
          <a:bodyPr>
            <a:normAutofit/>
          </a:bodyPr>
          <a:lstStyle/>
          <a:p>
            <a:r>
              <a:rPr lang="fr-CA" sz="3200" b="1" dirty="0"/>
              <a:t>6. Union Square </a:t>
            </a:r>
            <a:r>
              <a:rPr lang="fr-CA" sz="3200" b="1" dirty="0" err="1"/>
              <a:t>Theatre</a:t>
            </a:r>
            <a:endParaRPr lang="fr-FR" sz="3200" b="1" dirty="0"/>
          </a:p>
        </p:txBody>
      </p:sp>
      <p:sp>
        <p:nvSpPr>
          <p:cNvPr id="3" name="Espace réservé du contenu 2">
            <a:extLst>
              <a:ext uri="{FF2B5EF4-FFF2-40B4-BE49-F238E27FC236}">
                <a16:creationId xmlns:a16="http://schemas.microsoft.com/office/drawing/2014/main" id="{1472F1C4-CB5A-4ADE-BB55-DAF038446596}"/>
              </a:ext>
            </a:extLst>
          </p:cNvPr>
          <p:cNvSpPr>
            <a:spLocks noGrp="1"/>
          </p:cNvSpPr>
          <p:nvPr>
            <p:ph idx="1"/>
          </p:nvPr>
        </p:nvSpPr>
        <p:spPr>
          <a:xfrm>
            <a:off x="850777" y="1319598"/>
            <a:ext cx="10515600" cy="4351338"/>
          </a:xfrm>
        </p:spPr>
        <p:txBody>
          <a:bodyPr>
            <a:normAutofit fontScale="25000" lnSpcReduction="20000"/>
          </a:bodyPr>
          <a:lstStyle/>
          <a:p>
            <a:pPr marL="0" indent="0">
              <a:buNone/>
            </a:pPr>
            <a:r>
              <a:rPr lang="fr-CA" sz="8000" cap="small" dirty="0"/>
              <a:t>Contrat de location</a:t>
            </a:r>
            <a:endParaRPr lang="fr-FR" sz="8000" dirty="0"/>
          </a:p>
          <a:p>
            <a:pPr marL="0" indent="0">
              <a:buNone/>
            </a:pPr>
            <a:r>
              <a:rPr lang="fr-CA" sz="8000" dirty="0"/>
              <a:t>Il faut déterminer la nature du contrat de location. </a:t>
            </a:r>
          </a:p>
          <a:p>
            <a:pPr marL="0" indent="0">
              <a:buNone/>
            </a:pPr>
            <a:r>
              <a:rPr lang="fr-CA" sz="8000" dirty="0"/>
              <a:t>Analyse des exceptions au traitement comptable prévu à IFRS 16</a:t>
            </a:r>
            <a:endParaRPr lang="fr-FR" sz="8000" dirty="0"/>
          </a:p>
          <a:p>
            <a:r>
              <a:rPr lang="fr-CA" sz="8000" dirty="0"/>
              <a:t>IFRS 16 : Contrat de plus de 12 mois? À la date d’entrée en vigueur du contrat, nous aurons négocié un bail d’une durée de 3 ans.</a:t>
            </a:r>
          </a:p>
          <a:p>
            <a:r>
              <a:rPr lang="fr-CA" sz="8000" dirty="0"/>
              <a:t>Il ne s’agit pas d’un actif de faible valeur</a:t>
            </a:r>
          </a:p>
          <a:p>
            <a:r>
              <a:rPr lang="fr-CA" sz="8000" dirty="0"/>
              <a:t>Donc, aucune exception n’est rencontrée au traitement comptable prévu</a:t>
            </a:r>
            <a:endParaRPr lang="fr-FR" sz="8000" dirty="0"/>
          </a:p>
          <a:p>
            <a:pPr marL="0" lvl="0" indent="0">
              <a:buNone/>
            </a:pPr>
            <a:r>
              <a:rPr lang="fr-CA" sz="8000" dirty="0"/>
              <a:t>On comptabilisera un Droit d’utiliser un actif (débit) et une obligation locative (crédit). </a:t>
            </a:r>
            <a:endParaRPr lang="fr-FR" sz="8000" dirty="0"/>
          </a:p>
          <a:p>
            <a:pPr marL="0" lvl="0" indent="0">
              <a:buNone/>
            </a:pPr>
            <a:r>
              <a:rPr lang="fr-CA" sz="8000" dirty="0"/>
              <a:t>Pour mesurer le droit et l’obligation correspondante, il faudra actualiser les paiements futurs au moyen du taux implicite du bail, s’il est facilement déterminable. Sinon, on utilisera le taux marginal d’emprunt. </a:t>
            </a:r>
            <a:endParaRPr lang="fr-FR" sz="8000" dirty="0"/>
          </a:p>
          <a:p>
            <a:pPr marL="0" lvl="0" indent="0">
              <a:buNone/>
            </a:pPr>
            <a:r>
              <a:rPr lang="fr-CA" sz="8000" dirty="0"/>
              <a:t>À chaque mois, on réduira le droit et le passif correspondant. </a:t>
            </a:r>
            <a:endParaRPr lang="fr-FR" sz="8000" dirty="0"/>
          </a:p>
          <a:p>
            <a:pPr marL="0" lvl="0" indent="0">
              <a:buNone/>
            </a:pPr>
            <a:r>
              <a:rPr lang="fr-CA" sz="8000" dirty="0"/>
              <a:t>Les ratios risquent d’être affectés.</a:t>
            </a:r>
            <a:endParaRPr lang="fr-FR" sz="8000" dirty="0"/>
          </a:p>
          <a:p>
            <a:pPr marL="0" indent="0">
              <a:buNone/>
            </a:pPr>
            <a:r>
              <a:rPr lang="fr-CA" sz="8000" dirty="0"/>
              <a:t>  </a:t>
            </a:r>
            <a:endParaRPr lang="fr-FR" sz="8000" dirty="0"/>
          </a:p>
          <a:p>
            <a:pPr marL="0" indent="0">
              <a:buNone/>
            </a:pPr>
            <a:r>
              <a:rPr lang="fr-CA" sz="8000" cap="small" dirty="0"/>
              <a:t>Conclusion</a:t>
            </a:r>
            <a:endParaRPr lang="fr-FR" sz="8000" dirty="0"/>
          </a:p>
          <a:p>
            <a:pPr marL="0" indent="0">
              <a:buNone/>
            </a:pPr>
            <a:r>
              <a:rPr lang="fr-CA" sz="8000" dirty="0"/>
              <a:t>La monnaie fonctionnelle du Cirque est le dollar canadien. Il faut convertir le montant en dollars canadiens au taux en vigueur le premier jour du mois.</a:t>
            </a:r>
            <a:endParaRPr lang="fr-FR" sz="8000" dirty="0"/>
          </a:p>
          <a:p>
            <a:pPr marL="0" indent="0">
              <a:buNone/>
            </a:pPr>
            <a:endParaRPr lang="fr-FR" sz="2000" dirty="0"/>
          </a:p>
        </p:txBody>
      </p:sp>
    </p:spTree>
    <p:extLst>
      <p:ext uri="{BB962C8B-B14F-4D97-AF65-F5344CB8AC3E}">
        <p14:creationId xmlns:p14="http://schemas.microsoft.com/office/powerpoint/2010/main" val="335352812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2D84F1-0B2B-416E-9AB8-6A6523D6CBC5}"/>
              </a:ext>
            </a:extLst>
          </p:cNvPr>
          <p:cNvSpPr>
            <a:spLocks noGrp="1"/>
          </p:cNvSpPr>
          <p:nvPr>
            <p:ph type="title"/>
          </p:nvPr>
        </p:nvSpPr>
        <p:spPr/>
        <p:txBody>
          <a:bodyPr>
            <a:normAutofit/>
          </a:bodyPr>
          <a:lstStyle/>
          <a:p>
            <a:r>
              <a:rPr lang="fr-CA" sz="3200" b="1" dirty="0"/>
              <a:t>6. Union Square </a:t>
            </a:r>
            <a:r>
              <a:rPr lang="fr-CA" sz="3200" b="1" dirty="0" err="1"/>
              <a:t>Theatre</a:t>
            </a:r>
            <a:endParaRPr lang="fr-FR" sz="3200" b="1" dirty="0"/>
          </a:p>
        </p:txBody>
      </p:sp>
      <p:sp>
        <p:nvSpPr>
          <p:cNvPr id="3" name="Espace réservé du contenu 2">
            <a:extLst>
              <a:ext uri="{FF2B5EF4-FFF2-40B4-BE49-F238E27FC236}">
                <a16:creationId xmlns:a16="http://schemas.microsoft.com/office/drawing/2014/main" id="{1472F1C4-CB5A-4ADE-BB55-DAF038446596}"/>
              </a:ext>
            </a:extLst>
          </p:cNvPr>
          <p:cNvSpPr>
            <a:spLocks noGrp="1"/>
          </p:cNvSpPr>
          <p:nvPr>
            <p:ph idx="1"/>
          </p:nvPr>
        </p:nvSpPr>
        <p:spPr>
          <a:xfrm>
            <a:off x="833021" y="1532662"/>
            <a:ext cx="10515600" cy="4351338"/>
          </a:xfrm>
        </p:spPr>
        <p:txBody>
          <a:bodyPr>
            <a:normAutofit fontScale="25000" lnSpcReduction="20000"/>
          </a:bodyPr>
          <a:lstStyle/>
          <a:p>
            <a:pPr marL="0" indent="0">
              <a:buNone/>
            </a:pPr>
            <a:r>
              <a:rPr lang="fr-CA" sz="8000" cap="small" dirty="0"/>
              <a:t>Les améliorations locatives   </a:t>
            </a:r>
          </a:p>
          <a:p>
            <a:pPr marL="0" indent="0">
              <a:buNone/>
            </a:pPr>
            <a:r>
              <a:rPr lang="fr-CA" sz="8000" dirty="0"/>
              <a:t>Les améliorations locatives sont des immobilisations corporelles car elles sont détenues pour être utilisées par le Cirque dans la production de spectacles pendant trois ans, soit sur plus d’une période.</a:t>
            </a:r>
            <a:endParaRPr lang="fr-FR" sz="8000" dirty="0"/>
          </a:p>
          <a:p>
            <a:r>
              <a:rPr lang="fr-CA" sz="8000" dirty="0"/>
              <a:t>Le coût engagé pour abattre les cloisons fixes est essentiel pour adapter la scène au spectacle. Ce sont des frais engagés pour préparer le local. Il fait partie du coût des améliorations locatives.</a:t>
            </a:r>
            <a:endParaRPr lang="fr-FR" sz="8000" dirty="0"/>
          </a:p>
          <a:p>
            <a:r>
              <a:rPr lang="fr-CA" sz="8000" dirty="0"/>
              <a:t>À Manhattan, il est obligatoire de trier les déchets selon leur nature afin de les acheminer au centre de récupération qui convient. Ces coûts accessoires à la démolition font partie du processus de préparation du local. Ils font partie du coût des améliorations locatives. Le même raisonnement s’applique au coût du permis. </a:t>
            </a:r>
            <a:endParaRPr lang="fr-FR" sz="8000" dirty="0"/>
          </a:p>
          <a:p>
            <a:r>
              <a:rPr lang="fr-CA" sz="8000" dirty="0"/>
              <a:t>L’ajout des cloisons sur rail, le repositionnement des supports qui soutiennent les spots, l’ajout de spots supplémentaires, la construction du faux-plafond, la fabrication et installation du décor de fond de scène et la peinture  d’une fresque dans le hall d’entrée (matériaux et temps) font tous partie de l’installation et la préparation du décor qui sera utilisé pendant le spectacle. </a:t>
            </a:r>
            <a:endParaRPr lang="fr-FR" sz="8000" dirty="0"/>
          </a:p>
          <a:p>
            <a:r>
              <a:rPr lang="fr-CA" sz="8000" dirty="0"/>
              <a:t>Le salaire du contremaître ainsi que ses frais de déplacements et de subsistance sont des coûts de main d’œuvre que nous avons engagés pour installer nos décors ans le théâtre. Ils résultent directement de la construction des améliorations locatives et font partie du son coût.</a:t>
            </a:r>
            <a:endParaRPr lang="fr-FR" sz="8000" dirty="0"/>
          </a:p>
          <a:p>
            <a:r>
              <a:rPr lang="fr-CA" sz="8000" dirty="0"/>
              <a:t>Le coût du cocktail </a:t>
            </a:r>
            <a:r>
              <a:rPr lang="fr-CA" sz="8000" b="1" dirty="0"/>
              <a:t>est exclu du coût des améliorations</a:t>
            </a:r>
            <a:r>
              <a:rPr lang="fr-CA" sz="8000" dirty="0"/>
              <a:t> car c’est de la publicité destinée à mousser la vente des billets.</a:t>
            </a:r>
            <a:endParaRPr lang="fr-FR" sz="8000" dirty="0"/>
          </a:p>
          <a:p>
            <a:pPr marL="0" indent="0">
              <a:buNone/>
            </a:pPr>
            <a:endParaRPr lang="fr-FR" sz="2000" dirty="0"/>
          </a:p>
        </p:txBody>
      </p:sp>
    </p:spTree>
    <p:extLst>
      <p:ext uri="{BB962C8B-B14F-4D97-AF65-F5344CB8AC3E}">
        <p14:creationId xmlns:p14="http://schemas.microsoft.com/office/powerpoint/2010/main" val="20149999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2D84F1-0B2B-416E-9AB8-6A6523D6CBC5}"/>
              </a:ext>
            </a:extLst>
          </p:cNvPr>
          <p:cNvSpPr>
            <a:spLocks noGrp="1"/>
          </p:cNvSpPr>
          <p:nvPr>
            <p:ph type="title"/>
          </p:nvPr>
        </p:nvSpPr>
        <p:spPr/>
        <p:txBody>
          <a:bodyPr>
            <a:normAutofit/>
          </a:bodyPr>
          <a:lstStyle/>
          <a:p>
            <a:r>
              <a:rPr lang="fr-CA" sz="3200" b="1" dirty="0"/>
              <a:t>6. Union Square </a:t>
            </a:r>
            <a:r>
              <a:rPr lang="fr-CA" sz="3200" b="1" dirty="0" err="1"/>
              <a:t>Theatre</a:t>
            </a:r>
            <a:endParaRPr lang="fr-FR" sz="3200" b="1" dirty="0"/>
          </a:p>
        </p:txBody>
      </p:sp>
      <p:sp>
        <p:nvSpPr>
          <p:cNvPr id="3" name="Espace réservé du contenu 2">
            <a:extLst>
              <a:ext uri="{FF2B5EF4-FFF2-40B4-BE49-F238E27FC236}">
                <a16:creationId xmlns:a16="http://schemas.microsoft.com/office/drawing/2014/main" id="{1472F1C4-CB5A-4ADE-BB55-DAF038446596}"/>
              </a:ext>
            </a:extLst>
          </p:cNvPr>
          <p:cNvSpPr>
            <a:spLocks noGrp="1"/>
          </p:cNvSpPr>
          <p:nvPr>
            <p:ph idx="1"/>
          </p:nvPr>
        </p:nvSpPr>
        <p:spPr>
          <a:xfrm>
            <a:off x="838200" y="1250390"/>
            <a:ext cx="10515600" cy="4740506"/>
          </a:xfrm>
        </p:spPr>
        <p:txBody>
          <a:bodyPr>
            <a:normAutofit/>
          </a:bodyPr>
          <a:lstStyle/>
          <a:p>
            <a:pPr marL="0" indent="0">
              <a:buNone/>
            </a:pPr>
            <a:r>
              <a:rPr lang="fr-CA" sz="2000" cap="small" dirty="0"/>
              <a:t>Les améliorations locatives   </a:t>
            </a:r>
          </a:p>
          <a:p>
            <a:pPr marL="0" indent="0">
              <a:buNone/>
            </a:pPr>
            <a:endParaRPr lang="fr-FR" sz="2000" dirty="0"/>
          </a:p>
        </p:txBody>
      </p:sp>
      <p:graphicFrame>
        <p:nvGraphicFramePr>
          <p:cNvPr id="4" name="Tableau 3">
            <a:extLst>
              <a:ext uri="{FF2B5EF4-FFF2-40B4-BE49-F238E27FC236}">
                <a16:creationId xmlns:a16="http://schemas.microsoft.com/office/drawing/2014/main" id="{09BB29CC-8CE8-4E05-98BE-47C2F2293A6C}"/>
              </a:ext>
            </a:extLst>
          </p:cNvPr>
          <p:cNvGraphicFramePr>
            <a:graphicFrameLocks noGrp="1"/>
          </p:cNvGraphicFramePr>
          <p:nvPr>
            <p:extLst>
              <p:ext uri="{D42A27DB-BD31-4B8C-83A1-F6EECF244321}">
                <p14:modId xmlns:p14="http://schemas.microsoft.com/office/powerpoint/2010/main" val="2125484341"/>
              </p:ext>
            </p:extLst>
          </p:nvPr>
        </p:nvGraphicFramePr>
        <p:xfrm>
          <a:off x="907831" y="1573566"/>
          <a:ext cx="10515600" cy="4236646"/>
        </p:xfrm>
        <a:graphic>
          <a:graphicData uri="http://schemas.openxmlformats.org/drawingml/2006/table">
            <a:tbl>
              <a:tblPr firstRow="1" firstCol="1" bandRow="1">
                <a:tableStyleId>{5C22544A-7EE6-4342-B048-85BDC9FD1C3A}</a:tableStyleId>
              </a:tblPr>
              <a:tblGrid>
                <a:gridCol w="7499056">
                  <a:extLst>
                    <a:ext uri="{9D8B030D-6E8A-4147-A177-3AD203B41FA5}">
                      <a16:colId xmlns:a16="http://schemas.microsoft.com/office/drawing/2014/main" val="1203004881"/>
                    </a:ext>
                  </a:extLst>
                </a:gridCol>
                <a:gridCol w="1766040">
                  <a:extLst>
                    <a:ext uri="{9D8B030D-6E8A-4147-A177-3AD203B41FA5}">
                      <a16:colId xmlns:a16="http://schemas.microsoft.com/office/drawing/2014/main" val="1054178994"/>
                    </a:ext>
                  </a:extLst>
                </a:gridCol>
                <a:gridCol w="1250504">
                  <a:extLst>
                    <a:ext uri="{9D8B030D-6E8A-4147-A177-3AD203B41FA5}">
                      <a16:colId xmlns:a16="http://schemas.microsoft.com/office/drawing/2014/main" val="3945903608"/>
                    </a:ext>
                  </a:extLst>
                </a:gridCol>
              </a:tblGrid>
              <a:tr h="289537">
                <a:tc>
                  <a:txBody>
                    <a:bodyPr/>
                    <a:lstStyle/>
                    <a:p>
                      <a:pPr algn="ctr">
                        <a:spcAft>
                          <a:spcPts val="0"/>
                        </a:spcAft>
                        <a:tabLst>
                          <a:tab pos="2743200" algn="ctr"/>
                          <a:tab pos="5486400" algn="r"/>
                          <a:tab pos="449580" algn="l"/>
                        </a:tabLst>
                      </a:pPr>
                      <a:r>
                        <a:rPr lang="fr-CA" sz="1400" dirty="0">
                          <a:effectLst/>
                        </a:rPr>
                        <a:t>Nature</a:t>
                      </a:r>
                      <a:endParaRPr lang="fr-FR" sz="10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tabLst>
                          <a:tab pos="2743200" algn="ctr"/>
                          <a:tab pos="5486400" algn="r"/>
                          <a:tab pos="449580" algn="l"/>
                        </a:tabLst>
                      </a:pPr>
                      <a:r>
                        <a:rPr lang="fr-CA" sz="1400">
                          <a:effectLst/>
                        </a:rPr>
                        <a:t>Actif</a:t>
                      </a:r>
                      <a:endParaRPr lang="fr-FR" sz="10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tabLst>
                          <a:tab pos="2743200" algn="ctr"/>
                          <a:tab pos="5486400" algn="r"/>
                          <a:tab pos="449580" algn="l"/>
                        </a:tabLst>
                      </a:pPr>
                      <a:r>
                        <a:rPr lang="fr-CA" sz="1400">
                          <a:effectLst/>
                        </a:rPr>
                        <a:t>Charges</a:t>
                      </a:r>
                      <a:endParaRPr lang="fr-FR" sz="10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94742058"/>
                  </a:ext>
                </a:extLst>
              </a:tr>
              <a:tr h="289537">
                <a:tc>
                  <a:txBody>
                    <a:bodyPr/>
                    <a:lstStyle/>
                    <a:p>
                      <a:pPr algn="just">
                        <a:spcAft>
                          <a:spcPts val="0"/>
                        </a:spcAft>
                        <a:tabLst>
                          <a:tab pos="2743200" algn="ctr"/>
                          <a:tab pos="5486400" algn="r"/>
                          <a:tab pos="449580" algn="l"/>
                        </a:tabLst>
                      </a:pPr>
                      <a:r>
                        <a:rPr lang="fr-CA" sz="1400" dirty="0">
                          <a:effectLst/>
                        </a:rPr>
                        <a:t>Abattre - cloisons fixes</a:t>
                      </a:r>
                      <a:endParaRPr lang="fr-FR" sz="10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tabLst>
                          <a:tab pos="2743200" algn="ctr"/>
                          <a:tab pos="5486400" algn="r"/>
                          <a:tab pos="449580" algn="l"/>
                        </a:tabLst>
                      </a:pPr>
                      <a:r>
                        <a:rPr lang="fr-CA" sz="1400">
                          <a:effectLst/>
                        </a:rPr>
                        <a:t>15 000</a:t>
                      </a:r>
                      <a:endParaRPr lang="fr-FR" sz="10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tabLst>
                          <a:tab pos="2743200" algn="ctr"/>
                          <a:tab pos="5486400" algn="r"/>
                          <a:tab pos="449580" algn="l"/>
                        </a:tabLst>
                      </a:pPr>
                      <a:r>
                        <a:rPr lang="fr-CA" sz="1400">
                          <a:effectLst/>
                        </a:rPr>
                        <a:t> </a:t>
                      </a:r>
                      <a:endParaRPr lang="fr-FR" sz="10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18594230"/>
                  </a:ext>
                </a:extLst>
              </a:tr>
              <a:tr h="472665">
                <a:tc>
                  <a:txBody>
                    <a:bodyPr/>
                    <a:lstStyle/>
                    <a:p>
                      <a:pPr algn="just">
                        <a:spcAft>
                          <a:spcPts val="0"/>
                        </a:spcAft>
                        <a:tabLst>
                          <a:tab pos="2743200" algn="ctr"/>
                          <a:tab pos="5486400" algn="r"/>
                          <a:tab pos="449580" algn="l"/>
                        </a:tabLst>
                      </a:pPr>
                      <a:r>
                        <a:rPr lang="fr-CA" sz="1400" dirty="0">
                          <a:effectLst/>
                        </a:rPr>
                        <a:t>Location de containers - classement des déchets dans divers bacs (recyclage + ordures = loi municipale)</a:t>
                      </a:r>
                      <a:endParaRPr lang="fr-FR" sz="10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tabLst>
                          <a:tab pos="2743200" algn="ctr"/>
                          <a:tab pos="5486400" algn="r"/>
                          <a:tab pos="449580" algn="l"/>
                        </a:tabLst>
                      </a:pPr>
                      <a:r>
                        <a:rPr lang="fr-CA" sz="1400">
                          <a:effectLst/>
                        </a:rPr>
                        <a:t>10 000</a:t>
                      </a:r>
                      <a:endParaRPr lang="fr-FR" sz="10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tabLst>
                          <a:tab pos="2743200" algn="ctr"/>
                          <a:tab pos="5486400" algn="r"/>
                          <a:tab pos="449580" algn="l"/>
                        </a:tabLst>
                      </a:pPr>
                      <a:r>
                        <a:rPr lang="fr-CA" sz="1400">
                          <a:effectLst/>
                        </a:rPr>
                        <a:t> </a:t>
                      </a:r>
                      <a:endParaRPr lang="fr-FR" sz="10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63501814"/>
                  </a:ext>
                </a:extLst>
              </a:tr>
              <a:tr h="289537">
                <a:tc>
                  <a:txBody>
                    <a:bodyPr/>
                    <a:lstStyle/>
                    <a:p>
                      <a:pPr algn="just">
                        <a:spcAft>
                          <a:spcPts val="0"/>
                        </a:spcAft>
                        <a:tabLst>
                          <a:tab pos="2743200" algn="ctr"/>
                          <a:tab pos="5486400" algn="r"/>
                          <a:tab pos="449580" algn="l"/>
                        </a:tabLst>
                      </a:pPr>
                      <a:r>
                        <a:rPr lang="fr-CA" sz="1400" dirty="0">
                          <a:effectLst/>
                        </a:rPr>
                        <a:t>Permis – dépôt des containers sur le trottoir</a:t>
                      </a:r>
                      <a:endParaRPr lang="fr-FR" sz="10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tabLst>
                          <a:tab pos="2743200" algn="ctr"/>
                          <a:tab pos="5486400" algn="r"/>
                          <a:tab pos="449580" algn="l"/>
                        </a:tabLst>
                      </a:pPr>
                      <a:r>
                        <a:rPr lang="fr-CA" sz="1400">
                          <a:effectLst/>
                        </a:rPr>
                        <a:t>3 000</a:t>
                      </a:r>
                      <a:endParaRPr lang="fr-FR" sz="10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tabLst>
                          <a:tab pos="2743200" algn="ctr"/>
                          <a:tab pos="5486400" algn="r"/>
                          <a:tab pos="449580" algn="l"/>
                        </a:tabLst>
                      </a:pPr>
                      <a:r>
                        <a:rPr lang="fr-CA" sz="1400">
                          <a:effectLst/>
                        </a:rPr>
                        <a:t> </a:t>
                      </a:r>
                      <a:endParaRPr lang="fr-FR" sz="10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87775256"/>
                  </a:ext>
                </a:extLst>
              </a:tr>
              <a:tr h="289537">
                <a:tc>
                  <a:txBody>
                    <a:bodyPr/>
                    <a:lstStyle/>
                    <a:p>
                      <a:pPr algn="just">
                        <a:spcAft>
                          <a:spcPts val="0"/>
                        </a:spcAft>
                        <a:tabLst>
                          <a:tab pos="2743200" algn="ctr"/>
                          <a:tab pos="5486400" algn="r"/>
                          <a:tab pos="449580" algn="l"/>
                        </a:tabLst>
                      </a:pPr>
                      <a:r>
                        <a:rPr lang="fr-CA" sz="1400" dirty="0">
                          <a:effectLst/>
                        </a:rPr>
                        <a:t>Ajout - cloisons sur rail</a:t>
                      </a:r>
                      <a:endParaRPr lang="fr-FR" sz="10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tabLst>
                          <a:tab pos="2743200" algn="ctr"/>
                          <a:tab pos="5486400" algn="r"/>
                          <a:tab pos="449580" algn="l"/>
                        </a:tabLst>
                      </a:pPr>
                      <a:r>
                        <a:rPr lang="fr-CA" sz="1400">
                          <a:effectLst/>
                        </a:rPr>
                        <a:t>48 000</a:t>
                      </a:r>
                      <a:endParaRPr lang="fr-FR" sz="10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tabLst>
                          <a:tab pos="2743200" algn="ctr"/>
                          <a:tab pos="5486400" algn="r"/>
                          <a:tab pos="449580" algn="l"/>
                        </a:tabLst>
                      </a:pPr>
                      <a:r>
                        <a:rPr lang="fr-CA" sz="1400">
                          <a:effectLst/>
                        </a:rPr>
                        <a:t> </a:t>
                      </a:r>
                      <a:endParaRPr lang="fr-FR" sz="10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73961156"/>
                  </a:ext>
                </a:extLst>
              </a:tr>
              <a:tr h="289537">
                <a:tc>
                  <a:txBody>
                    <a:bodyPr/>
                    <a:lstStyle/>
                    <a:p>
                      <a:pPr algn="just">
                        <a:spcAft>
                          <a:spcPts val="0"/>
                        </a:spcAft>
                        <a:tabLst>
                          <a:tab pos="2743200" algn="ctr"/>
                          <a:tab pos="5486400" algn="r"/>
                          <a:tab pos="449580" algn="l"/>
                        </a:tabLst>
                      </a:pPr>
                      <a:r>
                        <a:rPr lang="fr-CA" sz="1400" dirty="0">
                          <a:effectLst/>
                        </a:rPr>
                        <a:t>Repositionnement - supports des spots</a:t>
                      </a:r>
                      <a:endParaRPr lang="fr-FR" sz="10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tabLst>
                          <a:tab pos="2743200" algn="ctr"/>
                          <a:tab pos="5486400" algn="r"/>
                          <a:tab pos="449580" algn="l"/>
                        </a:tabLst>
                      </a:pPr>
                      <a:r>
                        <a:rPr lang="fr-CA" sz="1400">
                          <a:effectLst/>
                        </a:rPr>
                        <a:t>15 000</a:t>
                      </a:r>
                      <a:endParaRPr lang="fr-FR" sz="10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tabLst>
                          <a:tab pos="2743200" algn="ctr"/>
                          <a:tab pos="5486400" algn="r"/>
                          <a:tab pos="449580" algn="l"/>
                        </a:tabLst>
                      </a:pPr>
                      <a:r>
                        <a:rPr lang="fr-CA" sz="1400" dirty="0">
                          <a:effectLst/>
                        </a:rPr>
                        <a:t> </a:t>
                      </a:r>
                      <a:endParaRPr lang="fr-FR" sz="10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34108001"/>
                  </a:ext>
                </a:extLst>
              </a:tr>
              <a:tr h="289537">
                <a:tc>
                  <a:txBody>
                    <a:bodyPr/>
                    <a:lstStyle/>
                    <a:p>
                      <a:pPr algn="just">
                        <a:spcAft>
                          <a:spcPts val="0"/>
                        </a:spcAft>
                        <a:tabLst>
                          <a:tab pos="2743200" algn="ctr"/>
                          <a:tab pos="5486400" algn="r"/>
                          <a:tab pos="449580" algn="l"/>
                        </a:tabLst>
                      </a:pPr>
                      <a:r>
                        <a:rPr lang="fr-CA" sz="1400" dirty="0">
                          <a:effectLst/>
                        </a:rPr>
                        <a:t>Ajout - spots</a:t>
                      </a:r>
                      <a:endParaRPr lang="fr-FR" sz="10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tabLst>
                          <a:tab pos="2743200" algn="ctr"/>
                          <a:tab pos="5486400" algn="r"/>
                          <a:tab pos="449580" algn="l"/>
                        </a:tabLst>
                      </a:pPr>
                      <a:r>
                        <a:rPr lang="fr-CA" sz="1400">
                          <a:effectLst/>
                        </a:rPr>
                        <a:t>10 000</a:t>
                      </a:r>
                      <a:endParaRPr lang="fr-FR" sz="10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tabLst>
                          <a:tab pos="2743200" algn="ctr"/>
                          <a:tab pos="5486400" algn="r"/>
                          <a:tab pos="449580" algn="l"/>
                        </a:tabLst>
                      </a:pPr>
                      <a:r>
                        <a:rPr lang="fr-CA" sz="1400">
                          <a:effectLst/>
                        </a:rPr>
                        <a:t> </a:t>
                      </a:r>
                      <a:endParaRPr lang="fr-FR" sz="10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59952150"/>
                  </a:ext>
                </a:extLst>
              </a:tr>
              <a:tr h="289537">
                <a:tc>
                  <a:txBody>
                    <a:bodyPr/>
                    <a:lstStyle/>
                    <a:p>
                      <a:pPr algn="just">
                        <a:spcAft>
                          <a:spcPts val="0"/>
                        </a:spcAft>
                        <a:tabLst>
                          <a:tab pos="2743200" algn="ctr"/>
                          <a:tab pos="5486400" algn="r"/>
                          <a:tab pos="449580" algn="l"/>
                        </a:tabLst>
                      </a:pPr>
                      <a:r>
                        <a:rPr lang="fr-CA" sz="1400" dirty="0">
                          <a:effectLst/>
                        </a:rPr>
                        <a:t>Construction - faux-plafond</a:t>
                      </a:r>
                      <a:endParaRPr lang="fr-FR" sz="10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tabLst>
                          <a:tab pos="2743200" algn="ctr"/>
                          <a:tab pos="5486400" algn="r"/>
                          <a:tab pos="449580" algn="l"/>
                        </a:tabLst>
                      </a:pPr>
                      <a:r>
                        <a:rPr lang="fr-CA" sz="1400">
                          <a:effectLst/>
                        </a:rPr>
                        <a:t>38 000</a:t>
                      </a:r>
                      <a:endParaRPr lang="fr-FR" sz="10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tabLst>
                          <a:tab pos="2743200" algn="ctr"/>
                          <a:tab pos="5486400" algn="r"/>
                          <a:tab pos="449580" algn="l"/>
                        </a:tabLst>
                      </a:pPr>
                      <a:r>
                        <a:rPr lang="fr-CA" sz="1400" dirty="0">
                          <a:effectLst/>
                        </a:rPr>
                        <a:t> </a:t>
                      </a:r>
                      <a:endParaRPr lang="fr-FR" sz="10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50685517"/>
                  </a:ext>
                </a:extLst>
              </a:tr>
              <a:tr h="289537">
                <a:tc>
                  <a:txBody>
                    <a:bodyPr/>
                    <a:lstStyle/>
                    <a:p>
                      <a:pPr algn="just">
                        <a:spcAft>
                          <a:spcPts val="0"/>
                        </a:spcAft>
                        <a:tabLst>
                          <a:tab pos="2743200" algn="ctr"/>
                          <a:tab pos="5486400" algn="r"/>
                          <a:tab pos="449580" algn="l"/>
                        </a:tabLst>
                      </a:pPr>
                      <a:r>
                        <a:rPr lang="fr-CA" sz="1400" dirty="0">
                          <a:effectLst/>
                        </a:rPr>
                        <a:t>Fabrication et installation – décor de fond de scène</a:t>
                      </a:r>
                      <a:endParaRPr lang="fr-FR" sz="10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tabLst>
                          <a:tab pos="2743200" algn="ctr"/>
                          <a:tab pos="5486400" algn="r"/>
                          <a:tab pos="449580" algn="l"/>
                        </a:tabLst>
                      </a:pPr>
                      <a:r>
                        <a:rPr lang="fr-CA" sz="1400">
                          <a:effectLst/>
                        </a:rPr>
                        <a:t>45 000</a:t>
                      </a:r>
                      <a:endParaRPr lang="fr-FR" sz="10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tabLst>
                          <a:tab pos="2743200" algn="ctr"/>
                          <a:tab pos="5486400" algn="r"/>
                          <a:tab pos="449580" algn="l"/>
                        </a:tabLst>
                      </a:pPr>
                      <a:r>
                        <a:rPr lang="fr-CA" sz="1400">
                          <a:effectLst/>
                        </a:rPr>
                        <a:t> </a:t>
                      </a:r>
                      <a:endParaRPr lang="fr-FR" sz="10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846066"/>
                  </a:ext>
                </a:extLst>
              </a:tr>
              <a:tr h="289537">
                <a:tc>
                  <a:txBody>
                    <a:bodyPr/>
                    <a:lstStyle/>
                    <a:p>
                      <a:pPr algn="just">
                        <a:spcAft>
                          <a:spcPts val="0"/>
                        </a:spcAft>
                        <a:tabLst>
                          <a:tab pos="2743200" algn="ctr"/>
                          <a:tab pos="5486400" algn="r"/>
                          <a:tab pos="449580" algn="l"/>
                        </a:tabLst>
                      </a:pPr>
                      <a:r>
                        <a:rPr lang="fr-CA" sz="1400" dirty="0">
                          <a:effectLst/>
                        </a:rPr>
                        <a:t>Peinture d’une fresque dans le hall d’entrée (matériaux et temps)</a:t>
                      </a:r>
                      <a:endParaRPr lang="fr-FR" sz="10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tabLst>
                          <a:tab pos="2743200" algn="ctr"/>
                          <a:tab pos="5486400" algn="r"/>
                          <a:tab pos="449580" algn="l"/>
                        </a:tabLst>
                      </a:pPr>
                      <a:r>
                        <a:rPr lang="fr-CA" sz="1400">
                          <a:effectLst/>
                        </a:rPr>
                        <a:t>27 000</a:t>
                      </a:r>
                      <a:endParaRPr lang="fr-FR" sz="10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tabLst>
                          <a:tab pos="2743200" algn="ctr"/>
                          <a:tab pos="5486400" algn="r"/>
                          <a:tab pos="449580" algn="l"/>
                        </a:tabLst>
                      </a:pPr>
                      <a:r>
                        <a:rPr lang="fr-CA" sz="1400" u="none" strike="noStrike">
                          <a:effectLst/>
                        </a:rPr>
                        <a:t> </a:t>
                      </a:r>
                      <a:endParaRPr lang="fr-FR" sz="10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52746624"/>
                  </a:ext>
                </a:extLst>
              </a:tr>
              <a:tr h="289537">
                <a:tc>
                  <a:txBody>
                    <a:bodyPr/>
                    <a:lstStyle/>
                    <a:p>
                      <a:pPr algn="just">
                        <a:spcAft>
                          <a:spcPts val="0"/>
                        </a:spcAft>
                        <a:tabLst>
                          <a:tab pos="2743200" algn="ctr"/>
                          <a:tab pos="5486400" algn="r"/>
                          <a:tab pos="449580" algn="l"/>
                        </a:tabLst>
                      </a:pPr>
                      <a:r>
                        <a:rPr lang="fr-CA" sz="1400" dirty="0">
                          <a:effectLst/>
                        </a:rPr>
                        <a:t>Salaire du surveillant de chantier</a:t>
                      </a:r>
                      <a:endParaRPr lang="fr-FR" sz="10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tabLst>
                          <a:tab pos="2743200" algn="ctr"/>
                          <a:tab pos="5486400" algn="r"/>
                          <a:tab pos="449580" algn="l"/>
                        </a:tabLst>
                      </a:pPr>
                      <a:r>
                        <a:rPr lang="fr-CA" sz="1400">
                          <a:effectLst/>
                        </a:rPr>
                        <a:t>45 000</a:t>
                      </a:r>
                      <a:endParaRPr lang="fr-FR" sz="10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tabLst>
                          <a:tab pos="2743200" algn="ctr"/>
                          <a:tab pos="5486400" algn="r"/>
                          <a:tab pos="449580" algn="l"/>
                        </a:tabLst>
                      </a:pPr>
                      <a:r>
                        <a:rPr lang="fr-CA" sz="1400">
                          <a:effectLst/>
                        </a:rPr>
                        <a:t> </a:t>
                      </a:r>
                      <a:endParaRPr lang="fr-FR" sz="10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36382594"/>
                  </a:ext>
                </a:extLst>
              </a:tr>
              <a:tr h="289537">
                <a:tc>
                  <a:txBody>
                    <a:bodyPr/>
                    <a:lstStyle/>
                    <a:p>
                      <a:pPr algn="just">
                        <a:spcAft>
                          <a:spcPts val="0"/>
                        </a:spcAft>
                        <a:tabLst>
                          <a:tab pos="2743200" algn="ctr"/>
                          <a:tab pos="5486400" algn="r"/>
                          <a:tab pos="449580" algn="l"/>
                        </a:tabLst>
                      </a:pPr>
                      <a:r>
                        <a:rPr lang="fr-CA" sz="1400" dirty="0">
                          <a:effectLst/>
                        </a:rPr>
                        <a:t>Frais de déplacement, hébergement et subsistance du surveillant</a:t>
                      </a:r>
                      <a:endParaRPr lang="fr-FR" sz="10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tabLst>
                          <a:tab pos="2743200" algn="ctr"/>
                          <a:tab pos="5486400" algn="r"/>
                          <a:tab pos="449580" algn="l"/>
                        </a:tabLst>
                      </a:pPr>
                      <a:r>
                        <a:rPr lang="fr-CA" sz="1400" dirty="0">
                          <a:effectLst/>
                        </a:rPr>
                        <a:t>5 000</a:t>
                      </a:r>
                      <a:endParaRPr lang="fr-FR" sz="10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tabLst>
                          <a:tab pos="2743200" algn="ctr"/>
                          <a:tab pos="5486400" algn="r"/>
                          <a:tab pos="449580" algn="l"/>
                        </a:tabLst>
                      </a:pPr>
                      <a:r>
                        <a:rPr lang="fr-CA" sz="1400" dirty="0">
                          <a:effectLst/>
                        </a:rPr>
                        <a:t> </a:t>
                      </a:r>
                      <a:endParaRPr lang="fr-FR" sz="10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26060417"/>
                  </a:ext>
                </a:extLst>
              </a:tr>
              <a:tr h="289537">
                <a:tc>
                  <a:txBody>
                    <a:bodyPr/>
                    <a:lstStyle/>
                    <a:p>
                      <a:pPr algn="just">
                        <a:spcAft>
                          <a:spcPts val="0"/>
                        </a:spcAft>
                        <a:tabLst>
                          <a:tab pos="2743200" algn="ctr"/>
                          <a:tab pos="5486400" algn="r"/>
                          <a:tab pos="449580" algn="l"/>
                        </a:tabLst>
                      </a:pPr>
                      <a:r>
                        <a:rPr lang="fr-CA" sz="1400">
                          <a:effectLst/>
                        </a:rPr>
                        <a:t>Cocktail – souligner la fin des travaux + inaugurer l’espace + obtenir une couverture médiatique</a:t>
                      </a:r>
                      <a:endParaRPr lang="fr-FR" sz="10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tabLst>
                          <a:tab pos="2743200" algn="ctr"/>
                          <a:tab pos="5486400" algn="r"/>
                          <a:tab pos="449580" algn="l"/>
                        </a:tabLst>
                      </a:pPr>
                      <a:r>
                        <a:rPr lang="fr-CA" sz="1400">
                          <a:effectLst/>
                        </a:rPr>
                        <a:t> </a:t>
                      </a:r>
                      <a:endParaRPr lang="fr-FR" sz="10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tabLst>
                          <a:tab pos="2743200" algn="ctr"/>
                          <a:tab pos="5486400" algn="r"/>
                          <a:tab pos="449580" algn="l"/>
                        </a:tabLst>
                      </a:pPr>
                      <a:r>
                        <a:rPr lang="fr-CA" sz="1400" dirty="0">
                          <a:effectLst/>
                        </a:rPr>
                        <a:t>12 000</a:t>
                      </a:r>
                      <a:endParaRPr lang="fr-FR" sz="10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0188191"/>
                  </a:ext>
                </a:extLst>
              </a:tr>
              <a:tr h="289537">
                <a:tc>
                  <a:txBody>
                    <a:bodyPr/>
                    <a:lstStyle/>
                    <a:p>
                      <a:pPr algn="ctr">
                        <a:spcAft>
                          <a:spcPts val="0"/>
                        </a:spcAft>
                        <a:tabLst>
                          <a:tab pos="2743200" algn="ctr"/>
                          <a:tab pos="5486400" algn="r"/>
                          <a:tab pos="449580" algn="l"/>
                        </a:tabLst>
                      </a:pPr>
                      <a:r>
                        <a:rPr lang="fr-CA" sz="1400">
                          <a:effectLst/>
                        </a:rPr>
                        <a:t>Total</a:t>
                      </a:r>
                      <a:endParaRPr lang="fr-FR" sz="10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tabLst>
                          <a:tab pos="2743200" algn="ctr"/>
                          <a:tab pos="5486400" algn="r"/>
                          <a:tab pos="449580" algn="l"/>
                        </a:tabLst>
                      </a:pPr>
                      <a:r>
                        <a:rPr lang="fr-CA" sz="1400">
                          <a:effectLst/>
                        </a:rPr>
                        <a:t>261 000</a:t>
                      </a:r>
                      <a:endParaRPr lang="fr-FR" sz="10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tabLst>
                          <a:tab pos="2743200" algn="ctr"/>
                          <a:tab pos="5486400" algn="r"/>
                          <a:tab pos="449580" algn="l"/>
                        </a:tabLst>
                      </a:pPr>
                      <a:r>
                        <a:rPr lang="fr-CA" sz="1400" dirty="0">
                          <a:effectLst/>
                        </a:rPr>
                        <a:t>12 000</a:t>
                      </a:r>
                      <a:endParaRPr lang="fr-FR" sz="10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48543650"/>
                  </a:ext>
                </a:extLst>
              </a:tr>
            </a:tbl>
          </a:graphicData>
        </a:graphic>
      </p:graphicFrame>
      <p:sp>
        <p:nvSpPr>
          <p:cNvPr id="5" name="Rectangle 1">
            <a:extLst>
              <a:ext uri="{FF2B5EF4-FFF2-40B4-BE49-F238E27FC236}">
                <a16:creationId xmlns:a16="http://schemas.microsoft.com/office/drawing/2014/main" id="{159FB74F-E2AA-4017-BB1F-AFFA30DA84D7}"/>
              </a:ext>
            </a:extLst>
          </p:cNvPr>
          <p:cNvSpPr>
            <a:spLocks noChangeArrowheads="1"/>
          </p:cNvSpPr>
          <p:nvPr/>
        </p:nvSpPr>
        <p:spPr bwMode="auto">
          <a:xfrm>
            <a:off x="-1803725" y="2308555"/>
            <a:ext cx="2265848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FR"/>
          </a:p>
        </p:txBody>
      </p:sp>
      <p:sp>
        <p:nvSpPr>
          <p:cNvPr id="6" name="ZoneTexte 5">
            <a:extLst>
              <a:ext uri="{FF2B5EF4-FFF2-40B4-BE49-F238E27FC236}">
                <a16:creationId xmlns:a16="http://schemas.microsoft.com/office/drawing/2014/main" id="{0E3331E6-524C-44F3-8CD0-D1555F7583F2}"/>
              </a:ext>
            </a:extLst>
          </p:cNvPr>
          <p:cNvSpPr txBox="1"/>
          <p:nvPr/>
        </p:nvSpPr>
        <p:spPr>
          <a:xfrm>
            <a:off x="977462" y="5810218"/>
            <a:ext cx="10376338" cy="646331"/>
          </a:xfrm>
          <a:prstGeom prst="rect">
            <a:avLst/>
          </a:prstGeom>
          <a:noFill/>
        </p:spPr>
        <p:txBody>
          <a:bodyPr wrap="square" rtlCol="0">
            <a:spAutoFit/>
          </a:bodyPr>
          <a:lstStyle/>
          <a:p>
            <a:r>
              <a:rPr lang="fr-CA" dirty="0"/>
              <a:t>Le coût des améliorations locatives s’élève à 261 000 $US ou 313 200 $CAN. Ce montant sera présenté à l’état de la situation financière</a:t>
            </a:r>
            <a:endParaRPr lang="fr-FR" dirty="0"/>
          </a:p>
        </p:txBody>
      </p:sp>
    </p:spTree>
    <p:extLst>
      <p:ext uri="{BB962C8B-B14F-4D97-AF65-F5344CB8AC3E}">
        <p14:creationId xmlns:p14="http://schemas.microsoft.com/office/powerpoint/2010/main" val="5415852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2D84F1-0B2B-416E-9AB8-6A6523D6CBC5}"/>
              </a:ext>
            </a:extLst>
          </p:cNvPr>
          <p:cNvSpPr>
            <a:spLocks noGrp="1"/>
          </p:cNvSpPr>
          <p:nvPr>
            <p:ph type="title"/>
          </p:nvPr>
        </p:nvSpPr>
        <p:spPr/>
        <p:txBody>
          <a:bodyPr>
            <a:normAutofit/>
          </a:bodyPr>
          <a:lstStyle/>
          <a:p>
            <a:r>
              <a:rPr lang="fr-CA" sz="3200" b="1" dirty="0"/>
              <a:t>6. Union Square </a:t>
            </a:r>
            <a:r>
              <a:rPr lang="fr-CA" sz="3200" b="1" dirty="0" err="1"/>
              <a:t>Theatre</a:t>
            </a:r>
            <a:endParaRPr lang="fr-FR" sz="3200" b="1" dirty="0"/>
          </a:p>
        </p:txBody>
      </p:sp>
      <p:sp>
        <p:nvSpPr>
          <p:cNvPr id="3" name="Espace réservé du contenu 2">
            <a:extLst>
              <a:ext uri="{FF2B5EF4-FFF2-40B4-BE49-F238E27FC236}">
                <a16:creationId xmlns:a16="http://schemas.microsoft.com/office/drawing/2014/main" id="{1472F1C4-CB5A-4ADE-BB55-DAF038446596}"/>
              </a:ext>
            </a:extLst>
          </p:cNvPr>
          <p:cNvSpPr>
            <a:spLocks noGrp="1"/>
          </p:cNvSpPr>
          <p:nvPr>
            <p:ph idx="1"/>
          </p:nvPr>
        </p:nvSpPr>
        <p:spPr>
          <a:xfrm>
            <a:off x="838200" y="1690688"/>
            <a:ext cx="10515600" cy="4710111"/>
          </a:xfrm>
        </p:spPr>
        <p:txBody>
          <a:bodyPr>
            <a:normAutofit/>
          </a:bodyPr>
          <a:lstStyle/>
          <a:p>
            <a:pPr marL="0" indent="0">
              <a:buNone/>
            </a:pPr>
            <a:r>
              <a:rPr lang="fr-CA" sz="2600" cap="small" dirty="0"/>
              <a:t>Les améliorations locatives</a:t>
            </a:r>
          </a:p>
          <a:p>
            <a:pPr marL="0" indent="0">
              <a:buNone/>
            </a:pPr>
            <a:r>
              <a:rPr lang="fr-CA" sz="2600" dirty="0"/>
              <a:t>Les améliorations doivent être amorties. Leur durée est de trois ans à la suite de quoi elles seront démantelées.</a:t>
            </a:r>
            <a:endParaRPr lang="fr-FR" sz="2600" dirty="0"/>
          </a:p>
          <a:p>
            <a:pPr marL="0" indent="0">
              <a:buNone/>
            </a:pPr>
            <a:r>
              <a:rPr lang="fr-CA" sz="2600" dirty="0"/>
              <a:t>Je recommande d’amortir les améliorations locatives sur la durée du contrat de location, soit trois ans.</a:t>
            </a:r>
            <a:endParaRPr lang="fr-FR" sz="2600" dirty="0"/>
          </a:p>
          <a:p>
            <a:pPr marL="0" indent="0">
              <a:buNone/>
            </a:pPr>
            <a:r>
              <a:rPr lang="fr-CA" sz="2600" dirty="0"/>
              <a:t>Un montant de 87 000 $ US ou de 104 400 $ CAN sera porté annuellement dans les charges de l’exercice.</a:t>
            </a:r>
            <a:endParaRPr lang="fr-FR" sz="2600" dirty="0"/>
          </a:p>
          <a:p>
            <a:pPr marL="0" indent="0">
              <a:buNone/>
            </a:pPr>
            <a:r>
              <a:rPr lang="fr-CA" sz="2600" dirty="0"/>
              <a:t>Les coûts de publicité sont des charges de l’exercice courant.</a:t>
            </a:r>
            <a:endParaRPr lang="fr-FR" sz="2600" dirty="0"/>
          </a:p>
          <a:p>
            <a:pPr marL="0" indent="0">
              <a:buNone/>
            </a:pPr>
            <a:r>
              <a:rPr lang="fr-CA" sz="8000" dirty="0"/>
              <a:t> </a:t>
            </a:r>
            <a:endParaRPr lang="fr-FR" sz="8000" dirty="0"/>
          </a:p>
          <a:p>
            <a:pPr marL="0" indent="0">
              <a:buNone/>
            </a:pPr>
            <a:endParaRPr lang="fr-CA" sz="8000" cap="small" dirty="0"/>
          </a:p>
          <a:p>
            <a:pPr marL="0" indent="0">
              <a:buNone/>
            </a:pPr>
            <a:endParaRPr lang="fr-FR" sz="2000" dirty="0"/>
          </a:p>
        </p:txBody>
      </p:sp>
      <p:sp>
        <p:nvSpPr>
          <p:cNvPr id="5" name="Rectangle 1">
            <a:extLst>
              <a:ext uri="{FF2B5EF4-FFF2-40B4-BE49-F238E27FC236}">
                <a16:creationId xmlns:a16="http://schemas.microsoft.com/office/drawing/2014/main" id="{159FB74F-E2AA-4017-BB1F-AFFA30DA84D7}"/>
              </a:ext>
            </a:extLst>
          </p:cNvPr>
          <p:cNvSpPr>
            <a:spLocks noChangeArrowheads="1"/>
          </p:cNvSpPr>
          <p:nvPr/>
        </p:nvSpPr>
        <p:spPr bwMode="auto">
          <a:xfrm>
            <a:off x="-1803725" y="2308555"/>
            <a:ext cx="2265848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FR"/>
          </a:p>
        </p:txBody>
      </p:sp>
    </p:spTree>
    <p:extLst>
      <p:ext uri="{BB962C8B-B14F-4D97-AF65-F5344CB8AC3E}">
        <p14:creationId xmlns:p14="http://schemas.microsoft.com/office/powerpoint/2010/main" val="40964190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2D84F1-0B2B-416E-9AB8-6A6523D6CBC5}"/>
              </a:ext>
            </a:extLst>
          </p:cNvPr>
          <p:cNvSpPr>
            <a:spLocks noGrp="1"/>
          </p:cNvSpPr>
          <p:nvPr>
            <p:ph type="title"/>
          </p:nvPr>
        </p:nvSpPr>
        <p:spPr/>
        <p:txBody>
          <a:bodyPr>
            <a:normAutofit/>
          </a:bodyPr>
          <a:lstStyle/>
          <a:p>
            <a:r>
              <a:rPr lang="fr-CA" sz="3200" b="1" dirty="0"/>
              <a:t>6. Union Square </a:t>
            </a:r>
            <a:r>
              <a:rPr lang="fr-CA" sz="3200" b="1" dirty="0" err="1"/>
              <a:t>Theatre</a:t>
            </a:r>
            <a:endParaRPr lang="fr-FR" sz="3200" b="1" dirty="0"/>
          </a:p>
        </p:txBody>
      </p:sp>
      <p:sp>
        <p:nvSpPr>
          <p:cNvPr id="3" name="Espace réservé du contenu 2">
            <a:extLst>
              <a:ext uri="{FF2B5EF4-FFF2-40B4-BE49-F238E27FC236}">
                <a16:creationId xmlns:a16="http://schemas.microsoft.com/office/drawing/2014/main" id="{1472F1C4-CB5A-4ADE-BB55-DAF038446596}"/>
              </a:ext>
            </a:extLst>
          </p:cNvPr>
          <p:cNvSpPr>
            <a:spLocks noGrp="1"/>
          </p:cNvSpPr>
          <p:nvPr>
            <p:ph idx="1"/>
          </p:nvPr>
        </p:nvSpPr>
        <p:spPr>
          <a:xfrm>
            <a:off x="838200" y="1282416"/>
            <a:ext cx="10515600" cy="4575175"/>
          </a:xfrm>
        </p:spPr>
        <p:txBody>
          <a:bodyPr>
            <a:noAutofit/>
          </a:bodyPr>
          <a:lstStyle/>
          <a:p>
            <a:pPr marL="0" indent="0">
              <a:buNone/>
            </a:pPr>
            <a:r>
              <a:rPr lang="fr-CA" sz="2000" cap="small" dirty="0"/>
              <a:t>Coût de démantèlement des améliorations locatives</a:t>
            </a:r>
            <a:endParaRPr lang="fr-FR" sz="2000" dirty="0"/>
          </a:p>
          <a:p>
            <a:pPr marL="0" indent="0">
              <a:buNone/>
            </a:pPr>
            <a:r>
              <a:rPr lang="fr-CA" sz="2000" dirty="0"/>
              <a:t>Dès le moment où nous construisons nos améliorations dans le théâtre, nous savons qu’il faudra tout démolir et remettre en place à la fin du bail.</a:t>
            </a:r>
          </a:p>
          <a:p>
            <a:pPr marL="0" indent="0">
              <a:buNone/>
            </a:pPr>
            <a:r>
              <a:rPr lang="fr-CA" sz="2000" dirty="0"/>
              <a:t>Une provision pour obligation de démantèlement sera comptabilisée en bilan au moment où les améliorations locatives sont érigées, si les trois critères qui suivent sont satisfaits :  (IAS 37)</a:t>
            </a:r>
            <a:endParaRPr lang="fr-FR" sz="2000" dirty="0"/>
          </a:p>
          <a:p>
            <a:r>
              <a:rPr lang="fr-FR" sz="2000" dirty="0"/>
              <a:t>Le Cirque a une </a:t>
            </a:r>
            <a:r>
              <a:rPr lang="fr-FR" sz="2000" b="1" dirty="0"/>
              <a:t>obligation actuelle</a:t>
            </a:r>
            <a:r>
              <a:rPr lang="fr-FR" sz="2000" dirty="0"/>
              <a:t> résultant d'un </a:t>
            </a:r>
            <a:r>
              <a:rPr lang="fr-FR" sz="2000" b="1" dirty="0"/>
              <a:t>événement passé</a:t>
            </a:r>
            <a:endParaRPr lang="fr-FR" sz="2000" dirty="0"/>
          </a:p>
          <a:p>
            <a:pPr lvl="1"/>
            <a:r>
              <a:rPr lang="fr-FR" sz="1600" dirty="0"/>
              <a:t>Le Cirque a une obligation juridique (c’est l’obligation actuelle) en vertu de son bail (c’est l’événement passé). Il doit remettre la salle dans le même état où elle était lorsqu’il a signé le bail. Au cours des trois prochaines années, Le Cirque ne pourra rien faire pour éviter cette sortie de fonds.  </a:t>
            </a:r>
            <a:r>
              <a:rPr lang="fr-FR" sz="1600" b="1" dirty="0"/>
              <a:t>Critère respecté</a:t>
            </a:r>
            <a:r>
              <a:rPr lang="fr-FR" sz="1600" dirty="0"/>
              <a:t>. </a:t>
            </a:r>
          </a:p>
          <a:p>
            <a:r>
              <a:rPr lang="fr-FR" sz="2000" dirty="0"/>
              <a:t>Il est </a:t>
            </a:r>
            <a:r>
              <a:rPr lang="fr-FR" sz="2000" b="1" dirty="0"/>
              <a:t>probable</a:t>
            </a:r>
            <a:r>
              <a:rPr lang="fr-FR" sz="2000" dirty="0"/>
              <a:t> qu'une sortie de ressources sera nécessaire pour éteindre l'obligation. </a:t>
            </a:r>
          </a:p>
          <a:p>
            <a:pPr lvl="1"/>
            <a:r>
              <a:rPr lang="fr-FR" sz="1600" dirty="0"/>
              <a:t>Avant de comptabiliser cette provision, Le Cirque doit s’assurer que cette obligation qui résulte de la signature du bail et de la construction des améliorations locatives existe indépendamment des actions futures qu’il pourrait prendre.  Le Cirque a-t-il une obligation juridique à laquelle il peut échapper en modifiant sa stratégie d’affaires ? Rien n’indique que ce soit le cas.  </a:t>
            </a:r>
            <a:r>
              <a:rPr lang="fr-CA" sz="1600" b="1" dirty="0"/>
              <a:t>Critère respecté.</a:t>
            </a:r>
            <a:r>
              <a:rPr lang="fr-CA" sz="1600" dirty="0"/>
              <a:t>  Il est probable qu’une sortie de ressources sera nécessaire.</a:t>
            </a:r>
            <a:endParaRPr lang="fr-FR" sz="1600" dirty="0"/>
          </a:p>
          <a:p>
            <a:pPr marL="0" indent="0">
              <a:buNone/>
            </a:pPr>
            <a:r>
              <a:rPr lang="fr-CA" sz="2000" dirty="0"/>
              <a:t> </a:t>
            </a:r>
            <a:r>
              <a:rPr lang="fr-FR" sz="2000" dirty="0"/>
              <a:t>Le montant de l'obligation peut être </a:t>
            </a:r>
            <a:r>
              <a:rPr lang="fr-FR" sz="2000" b="1" dirty="0"/>
              <a:t>estimé de manière fiable</a:t>
            </a:r>
            <a:r>
              <a:rPr lang="fr-FR" sz="2000" dirty="0"/>
              <a:t>. </a:t>
            </a:r>
          </a:p>
          <a:p>
            <a:pPr lvl="1"/>
            <a:r>
              <a:rPr lang="fr-CA" sz="1600" b="1" dirty="0"/>
              <a:t>Critère respecté.</a:t>
            </a:r>
            <a:r>
              <a:rPr lang="fr-CA" sz="1600" dirty="0"/>
              <a:t>  Le contremaître, qui a une longue expérience des travaux de ce type, a établi un budget de démolition et de remise en état du théâtre. Il nous a fourni des données qui nous permettront de formuler des hypothèses raisonnables.</a:t>
            </a:r>
            <a:endParaRPr lang="fr-FR" sz="1600" dirty="0"/>
          </a:p>
        </p:txBody>
      </p:sp>
      <p:sp>
        <p:nvSpPr>
          <p:cNvPr id="5" name="Rectangle 1">
            <a:extLst>
              <a:ext uri="{FF2B5EF4-FFF2-40B4-BE49-F238E27FC236}">
                <a16:creationId xmlns:a16="http://schemas.microsoft.com/office/drawing/2014/main" id="{159FB74F-E2AA-4017-BB1F-AFFA30DA84D7}"/>
              </a:ext>
            </a:extLst>
          </p:cNvPr>
          <p:cNvSpPr>
            <a:spLocks noChangeArrowheads="1"/>
          </p:cNvSpPr>
          <p:nvPr/>
        </p:nvSpPr>
        <p:spPr bwMode="auto">
          <a:xfrm>
            <a:off x="-1803725" y="2308555"/>
            <a:ext cx="2265848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FR"/>
          </a:p>
        </p:txBody>
      </p:sp>
    </p:spTree>
    <p:extLst>
      <p:ext uri="{BB962C8B-B14F-4D97-AF65-F5344CB8AC3E}">
        <p14:creationId xmlns:p14="http://schemas.microsoft.com/office/powerpoint/2010/main" val="17313978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2D84F1-0B2B-416E-9AB8-6A6523D6CBC5}"/>
              </a:ext>
            </a:extLst>
          </p:cNvPr>
          <p:cNvSpPr>
            <a:spLocks noGrp="1"/>
          </p:cNvSpPr>
          <p:nvPr>
            <p:ph type="title"/>
          </p:nvPr>
        </p:nvSpPr>
        <p:spPr/>
        <p:txBody>
          <a:bodyPr>
            <a:normAutofit/>
          </a:bodyPr>
          <a:lstStyle/>
          <a:p>
            <a:r>
              <a:rPr lang="fr-CA" sz="3200" b="1" dirty="0"/>
              <a:t>6. Union Square </a:t>
            </a:r>
            <a:r>
              <a:rPr lang="fr-CA" sz="3200" b="1" dirty="0" err="1"/>
              <a:t>Theatre</a:t>
            </a:r>
            <a:endParaRPr lang="fr-FR" sz="3200" b="1" dirty="0"/>
          </a:p>
        </p:txBody>
      </p:sp>
      <p:sp>
        <p:nvSpPr>
          <p:cNvPr id="3" name="Espace réservé du contenu 2">
            <a:extLst>
              <a:ext uri="{FF2B5EF4-FFF2-40B4-BE49-F238E27FC236}">
                <a16:creationId xmlns:a16="http://schemas.microsoft.com/office/drawing/2014/main" id="{1472F1C4-CB5A-4ADE-BB55-DAF038446596}"/>
              </a:ext>
            </a:extLst>
          </p:cNvPr>
          <p:cNvSpPr>
            <a:spLocks noGrp="1"/>
          </p:cNvSpPr>
          <p:nvPr>
            <p:ph idx="1"/>
          </p:nvPr>
        </p:nvSpPr>
        <p:spPr>
          <a:xfrm>
            <a:off x="838200" y="1825624"/>
            <a:ext cx="10515600" cy="4575175"/>
          </a:xfrm>
        </p:spPr>
        <p:txBody>
          <a:bodyPr>
            <a:noAutofit/>
          </a:bodyPr>
          <a:lstStyle/>
          <a:p>
            <a:pPr marL="0" indent="0">
              <a:buNone/>
            </a:pPr>
            <a:r>
              <a:rPr lang="fr-CA" sz="2000" cap="small" dirty="0"/>
              <a:t>Coût de démantèlement des améliorations locatives</a:t>
            </a:r>
            <a:endParaRPr lang="fr-FR" sz="2000" dirty="0"/>
          </a:p>
          <a:p>
            <a:pPr marL="0" indent="0">
              <a:buNone/>
            </a:pPr>
            <a:r>
              <a:rPr lang="fr-FR" sz="2000" dirty="0"/>
              <a:t> </a:t>
            </a:r>
          </a:p>
          <a:p>
            <a:pPr marL="0" indent="0">
              <a:buNone/>
            </a:pPr>
            <a:r>
              <a:rPr lang="fr-CA" sz="2000" cap="small" dirty="0"/>
              <a:t>Conclusion</a:t>
            </a:r>
            <a:endParaRPr lang="fr-FR" sz="2000" cap="small" dirty="0"/>
          </a:p>
          <a:p>
            <a:pPr marL="0" indent="0">
              <a:buNone/>
            </a:pPr>
            <a:r>
              <a:rPr lang="fr-FR" sz="2000" dirty="0"/>
              <a:t>Les trois critères de comptabilisation sont satisfaits.  </a:t>
            </a:r>
          </a:p>
          <a:p>
            <a:pPr marL="0" indent="0">
              <a:buNone/>
            </a:pPr>
            <a:r>
              <a:rPr lang="fr-FR" sz="2000" dirty="0"/>
              <a:t>Le Cirque devra donc comptabiliser une provision en bilan et, en contrepartie, ajouter le coût de démantèlement au coût des améliorations locatives.</a:t>
            </a:r>
          </a:p>
          <a:p>
            <a:pPr marL="0" indent="0">
              <a:buNone/>
            </a:pPr>
            <a:endParaRPr lang="fr-FR" sz="2000" dirty="0"/>
          </a:p>
        </p:txBody>
      </p:sp>
      <p:sp>
        <p:nvSpPr>
          <p:cNvPr id="5" name="Rectangle 1">
            <a:extLst>
              <a:ext uri="{FF2B5EF4-FFF2-40B4-BE49-F238E27FC236}">
                <a16:creationId xmlns:a16="http://schemas.microsoft.com/office/drawing/2014/main" id="{159FB74F-E2AA-4017-BB1F-AFFA30DA84D7}"/>
              </a:ext>
            </a:extLst>
          </p:cNvPr>
          <p:cNvSpPr>
            <a:spLocks noChangeArrowheads="1"/>
          </p:cNvSpPr>
          <p:nvPr/>
        </p:nvSpPr>
        <p:spPr bwMode="auto">
          <a:xfrm>
            <a:off x="-1803725" y="2308555"/>
            <a:ext cx="2265848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FR"/>
          </a:p>
        </p:txBody>
      </p:sp>
    </p:spTree>
    <p:extLst>
      <p:ext uri="{BB962C8B-B14F-4D97-AF65-F5344CB8AC3E}">
        <p14:creationId xmlns:p14="http://schemas.microsoft.com/office/powerpoint/2010/main" val="171991498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2D84F1-0B2B-416E-9AB8-6A6523D6CBC5}"/>
              </a:ext>
            </a:extLst>
          </p:cNvPr>
          <p:cNvSpPr>
            <a:spLocks noGrp="1"/>
          </p:cNvSpPr>
          <p:nvPr>
            <p:ph type="title"/>
          </p:nvPr>
        </p:nvSpPr>
        <p:spPr/>
        <p:txBody>
          <a:bodyPr>
            <a:normAutofit/>
          </a:bodyPr>
          <a:lstStyle/>
          <a:p>
            <a:r>
              <a:rPr lang="fr-CA" sz="3200" b="1" dirty="0"/>
              <a:t>6. Union Square </a:t>
            </a:r>
            <a:r>
              <a:rPr lang="fr-CA" sz="3200" b="1" dirty="0" err="1"/>
              <a:t>Theatre</a:t>
            </a:r>
            <a:endParaRPr lang="fr-FR" sz="3200" b="1" dirty="0"/>
          </a:p>
        </p:txBody>
      </p:sp>
      <p:sp>
        <p:nvSpPr>
          <p:cNvPr id="3" name="Espace réservé du contenu 2">
            <a:extLst>
              <a:ext uri="{FF2B5EF4-FFF2-40B4-BE49-F238E27FC236}">
                <a16:creationId xmlns:a16="http://schemas.microsoft.com/office/drawing/2014/main" id="{1472F1C4-CB5A-4ADE-BB55-DAF038446596}"/>
              </a:ext>
            </a:extLst>
          </p:cNvPr>
          <p:cNvSpPr>
            <a:spLocks noGrp="1"/>
          </p:cNvSpPr>
          <p:nvPr>
            <p:ph idx="1"/>
          </p:nvPr>
        </p:nvSpPr>
        <p:spPr>
          <a:xfrm>
            <a:off x="838200" y="1825624"/>
            <a:ext cx="10515600" cy="4575175"/>
          </a:xfrm>
        </p:spPr>
        <p:txBody>
          <a:bodyPr>
            <a:noAutofit/>
          </a:bodyPr>
          <a:lstStyle/>
          <a:p>
            <a:pPr marL="0" indent="0">
              <a:buNone/>
            </a:pPr>
            <a:r>
              <a:rPr lang="fr-CA" sz="2000" cap="small" dirty="0"/>
              <a:t>Coût de démantèlement des améliorations locatives</a:t>
            </a:r>
            <a:endParaRPr lang="fr-FR" sz="2000" dirty="0"/>
          </a:p>
          <a:p>
            <a:pPr marL="0" indent="0">
              <a:buNone/>
            </a:pPr>
            <a:r>
              <a:rPr lang="fr-CA" sz="2000" cap="small" dirty="0"/>
              <a:t>Mesure de la provision pour remise en état</a:t>
            </a:r>
            <a:endParaRPr lang="fr-FR" sz="2000" cap="small" dirty="0"/>
          </a:p>
          <a:p>
            <a:pPr marL="0" indent="0">
              <a:buNone/>
            </a:pPr>
            <a:r>
              <a:rPr lang="fr-FR" sz="2000" u="dotted" dirty="0"/>
              <a:t>La meilleure estimation   (IAS 37)</a:t>
            </a:r>
            <a:endParaRPr lang="fr-FR" sz="2000" dirty="0"/>
          </a:p>
          <a:p>
            <a:pPr marL="0" indent="0">
              <a:buNone/>
            </a:pPr>
            <a:r>
              <a:rPr lang="fr-FR" sz="2000" dirty="0"/>
              <a:t>Le montant de la provision doit correspondre à la </a:t>
            </a:r>
            <a:r>
              <a:rPr lang="fr-FR" sz="2000" b="1" dirty="0"/>
              <a:t>meilleure estimation</a:t>
            </a:r>
            <a:r>
              <a:rPr lang="fr-FR" sz="2000" dirty="0"/>
              <a:t> de la dépense nécessaire à l'extinction de l'obligation de remise en état de la salle de spectacle.</a:t>
            </a:r>
          </a:p>
          <a:p>
            <a:pPr marL="0" indent="0">
              <a:buNone/>
            </a:pPr>
            <a:r>
              <a:rPr lang="fr-FR" sz="2000" dirty="0"/>
              <a:t>Cela correspond au montant que le Cirque devrait raisonnablement payer pour éteindre son obligation à la date de clôture.  </a:t>
            </a:r>
          </a:p>
          <a:p>
            <a:pPr marL="0" indent="0">
              <a:buNone/>
            </a:pPr>
            <a:r>
              <a:rPr lang="fr-FR" sz="2000" dirty="0"/>
              <a:t> </a:t>
            </a:r>
          </a:p>
          <a:p>
            <a:pPr marL="0" indent="0">
              <a:buNone/>
            </a:pPr>
            <a:endParaRPr lang="fr-FR" sz="2000" dirty="0"/>
          </a:p>
        </p:txBody>
      </p:sp>
      <p:sp>
        <p:nvSpPr>
          <p:cNvPr id="5" name="Rectangle 1">
            <a:extLst>
              <a:ext uri="{FF2B5EF4-FFF2-40B4-BE49-F238E27FC236}">
                <a16:creationId xmlns:a16="http://schemas.microsoft.com/office/drawing/2014/main" id="{159FB74F-E2AA-4017-BB1F-AFFA30DA84D7}"/>
              </a:ext>
            </a:extLst>
          </p:cNvPr>
          <p:cNvSpPr>
            <a:spLocks noChangeArrowheads="1"/>
          </p:cNvSpPr>
          <p:nvPr/>
        </p:nvSpPr>
        <p:spPr bwMode="auto">
          <a:xfrm>
            <a:off x="-1803725" y="2308555"/>
            <a:ext cx="2265848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FR"/>
          </a:p>
        </p:txBody>
      </p:sp>
    </p:spTree>
    <p:extLst>
      <p:ext uri="{BB962C8B-B14F-4D97-AF65-F5344CB8AC3E}">
        <p14:creationId xmlns:p14="http://schemas.microsoft.com/office/powerpoint/2010/main" val="287929280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2D84F1-0B2B-416E-9AB8-6A6523D6CBC5}"/>
              </a:ext>
            </a:extLst>
          </p:cNvPr>
          <p:cNvSpPr>
            <a:spLocks noGrp="1"/>
          </p:cNvSpPr>
          <p:nvPr>
            <p:ph type="title"/>
          </p:nvPr>
        </p:nvSpPr>
        <p:spPr/>
        <p:txBody>
          <a:bodyPr>
            <a:normAutofit/>
          </a:bodyPr>
          <a:lstStyle/>
          <a:p>
            <a:r>
              <a:rPr lang="fr-CA" sz="3200" b="1" dirty="0"/>
              <a:t>6. Union Square </a:t>
            </a:r>
            <a:r>
              <a:rPr lang="fr-CA" sz="3200" b="1" dirty="0" err="1"/>
              <a:t>Theatre</a:t>
            </a:r>
            <a:endParaRPr lang="fr-FR" sz="3200" b="1" dirty="0"/>
          </a:p>
        </p:txBody>
      </p:sp>
      <p:sp>
        <p:nvSpPr>
          <p:cNvPr id="3" name="Espace réservé du contenu 2">
            <a:extLst>
              <a:ext uri="{FF2B5EF4-FFF2-40B4-BE49-F238E27FC236}">
                <a16:creationId xmlns:a16="http://schemas.microsoft.com/office/drawing/2014/main" id="{1472F1C4-CB5A-4ADE-BB55-DAF038446596}"/>
              </a:ext>
            </a:extLst>
          </p:cNvPr>
          <p:cNvSpPr>
            <a:spLocks noGrp="1"/>
          </p:cNvSpPr>
          <p:nvPr>
            <p:ph idx="1"/>
          </p:nvPr>
        </p:nvSpPr>
        <p:spPr>
          <a:xfrm>
            <a:off x="838200" y="1825624"/>
            <a:ext cx="10515600" cy="4575175"/>
          </a:xfrm>
        </p:spPr>
        <p:txBody>
          <a:bodyPr>
            <a:noAutofit/>
          </a:bodyPr>
          <a:lstStyle/>
          <a:p>
            <a:pPr marL="0" indent="0">
              <a:buNone/>
            </a:pPr>
            <a:r>
              <a:rPr lang="fr-CA" sz="2000" cap="small" dirty="0"/>
              <a:t>Coût de démantèlement des améliorations locatives</a:t>
            </a:r>
            <a:endParaRPr lang="fr-FR" sz="2000" dirty="0"/>
          </a:p>
          <a:p>
            <a:pPr marL="0" indent="0">
              <a:buNone/>
            </a:pPr>
            <a:r>
              <a:rPr lang="fr-FR" sz="2000" u="dotted" dirty="0"/>
              <a:t>Coûts de remise en état</a:t>
            </a:r>
            <a:endParaRPr lang="fr-FR" sz="2000" dirty="0"/>
          </a:p>
          <a:p>
            <a:r>
              <a:rPr lang="fr-FR" sz="2000" dirty="0"/>
              <a:t>La reconstruction des cloisons, le repositionnement des rails, la démolition du faux-plafond et la peinture du hall d’entrée entraînent des coûts de MOD et de matériel (peinture) pour </a:t>
            </a:r>
            <a:r>
              <a:rPr lang="fr-FR" sz="2000" b="1" dirty="0"/>
              <a:t>remettre le local dans son état</a:t>
            </a:r>
            <a:r>
              <a:rPr lang="fr-FR" sz="2000" dirty="0"/>
              <a:t> original. Ils totalisent 69 000 $.</a:t>
            </a:r>
          </a:p>
          <a:p>
            <a:r>
              <a:rPr lang="fr-FR" sz="2000" dirty="0"/>
              <a:t>Le salaire du surveillant de chantier et ses frais de déplacement et de subsistance sont des coûts de MOD directement attribuable à la </a:t>
            </a:r>
            <a:r>
              <a:rPr lang="fr-FR" sz="2000" b="1" dirty="0"/>
              <a:t>remise en état</a:t>
            </a:r>
            <a:r>
              <a:rPr lang="fr-FR" sz="2000" dirty="0"/>
              <a:t>. Ils totalisent 50</a:t>
            </a:r>
            <a:r>
              <a:rPr lang="fr-CA" sz="2000" dirty="0"/>
              <a:t> 000 $.</a:t>
            </a:r>
            <a:endParaRPr lang="fr-FR" sz="2000" dirty="0"/>
          </a:p>
          <a:p>
            <a:r>
              <a:rPr lang="fr-CA" sz="2000" dirty="0"/>
              <a:t>Le coût de location du container ainsi que celui du permis sont des coûts accessoires à la démolition qui doivent être engagés pour mener à bien la tâche en respectant la loi. Ils totalisent 9 000 $ et doivent être pris en compte car ils sont essentiels pour remettre le local en état.</a:t>
            </a:r>
            <a:endParaRPr lang="fr-FR" sz="2000" dirty="0"/>
          </a:p>
          <a:p>
            <a:r>
              <a:rPr lang="fr-CA" sz="2000" dirty="0"/>
              <a:t>Le produit de la vente des rails et des spots supplémentaires qu’on aura démantelés ne doit pas être réduire le passif qu’on estime. Les profits résultant de la sortie attendue de ces actifs ne doivent pas être pris en compte dans l'évaluation d'une provision parce que le </a:t>
            </a:r>
            <a:r>
              <a:rPr lang="fr-CA" sz="2000" b="1" dirty="0"/>
              <a:t>fait générateur n’est pas encore survenu</a:t>
            </a:r>
            <a:r>
              <a:rPr lang="fr-CA" sz="2000" dirty="0"/>
              <a:t>. On les comptabilisera au moment de leur vente, en 2028.</a:t>
            </a:r>
            <a:endParaRPr lang="fr-FR" sz="2000" dirty="0"/>
          </a:p>
          <a:p>
            <a:pPr marL="0" indent="0">
              <a:buNone/>
            </a:pPr>
            <a:endParaRPr lang="fr-FR" sz="2000" dirty="0"/>
          </a:p>
          <a:p>
            <a:pPr marL="0" indent="0">
              <a:buNone/>
            </a:pPr>
            <a:endParaRPr lang="fr-FR" sz="2000" dirty="0"/>
          </a:p>
        </p:txBody>
      </p:sp>
      <p:sp>
        <p:nvSpPr>
          <p:cNvPr id="5" name="Rectangle 1">
            <a:extLst>
              <a:ext uri="{FF2B5EF4-FFF2-40B4-BE49-F238E27FC236}">
                <a16:creationId xmlns:a16="http://schemas.microsoft.com/office/drawing/2014/main" id="{159FB74F-E2AA-4017-BB1F-AFFA30DA84D7}"/>
              </a:ext>
            </a:extLst>
          </p:cNvPr>
          <p:cNvSpPr>
            <a:spLocks noChangeArrowheads="1"/>
          </p:cNvSpPr>
          <p:nvPr/>
        </p:nvSpPr>
        <p:spPr bwMode="auto">
          <a:xfrm>
            <a:off x="-1803725" y="2308555"/>
            <a:ext cx="2265848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FR"/>
          </a:p>
        </p:txBody>
      </p:sp>
    </p:spTree>
    <p:extLst>
      <p:ext uri="{BB962C8B-B14F-4D97-AF65-F5344CB8AC3E}">
        <p14:creationId xmlns:p14="http://schemas.microsoft.com/office/powerpoint/2010/main" val="5800162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2D84F1-0B2B-416E-9AB8-6A6523D6CBC5}"/>
              </a:ext>
            </a:extLst>
          </p:cNvPr>
          <p:cNvSpPr>
            <a:spLocks noGrp="1"/>
          </p:cNvSpPr>
          <p:nvPr>
            <p:ph type="title"/>
          </p:nvPr>
        </p:nvSpPr>
        <p:spPr/>
        <p:txBody>
          <a:bodyPr>
            <a:normAutofit/>
          </a:bodyPr>
          <a:lstStyle/>
          <a:p>
            <a:r>
              <a:rPr lang="fr-CA" sz="3200" b="1" dirty="0"/>
              <a:t>6. Union Square </a:t>
            </a:r>
            <a:r>
              <a:rPr lang="fr-CA" sz="3200" b="1" dirty="0" err="1"/>
              <a:t>Theatre</a:t>
            </a:r>
            <a:endParaRPr lang="fr-FR" sz="3200" b="1" dirty="0"/>
          </a:p>
        </p:txBody>
      </p:sp>
      <p:sp>
        <p:nvSpPr>
          <p:cNvPr id="3" name="Espace réservé du contenu 2">
            <a:extLst>
              <a:ext uri="{FF2B5EF4-FFF2-40B4-BE49-F238E27FC236}">
                <a16:creationId xmlns:a16="http://schemas.microsoft.com/office/drawing/2014/main" id="{1472F1C4-CB5A-4ADE-BB55-DAF038446596}"/>
              </a:ext>
            </a:extLst>
          </p:cNvPr>
          <p:cNvSpPr>
            <a:spLocks noGrp="1"/>
          </p:cNvSpPr>
          <p:nvPr>
            <p:ph idx="1"/>
          </p:nvPr>
        </p:nvSpPr>
        <p:spPr>
          <a:xfrm>
            <a:off x="838200" y="1825624"/>
            <a:ext cx="10515600" cy="4575175"/>
          </a:xfrm>
        </p:spPr>
        <p:txBody>
          <a:bodyPr>
            <a:noAutofit/>
          </a:bodyPr>
          <a:lstStyle/>
          <a:p>
            <a:pPr marL="0" indent="0">
              <a:buNone/>
            </a:pPr>
            <a:r>
              <a:rPr lang="fr-CA" sz="2000" cap="small" dirty="0"/>
              <a:t>Coût de démantèlement des améliorations locatives</a:t>
            </a:r>
            <a:endParaRPr lang="fr-FR" sz="2000" dirty="0"/>
          </a:p>
          <a:p>
            <a:pPr marL="0" indent="0">
              <a:buNone/>
            </a:pPr>
            <a:r>
              <a:rPr lang="fr-FR" sz="2000" u="dotted" dirty="0"/>
              <a:t>Coûts de remise en état</a:t>
            </a:r>
            <a:endParaRPr lang="fr-FR" sz="2000" dirty="0"/>
          </a:p>
          <a:p>
            <a:pPr marL="0" indent="0">
              <a:buNone/>
            </a:pPr>
            <a:r>
              <a:rPr lang="fr-FR" sz="2000" b="1" dirty="0"/>
              <a:t>Au total</a:t>
            </a:r>
            <a:r>
              <a:rPr lang="fr-FR" sz="2000" dirty="0"/>
              <a:t>, le Cirque versera 128 000 $ pour remettre le local en état.</a:t>
            </a:r>
          </a:p>
          <a:p>
            <a:pPr marL="0" indent="0">
              <a:buNone/>
            </a:pPr>
            <a:r>
              <a:rPr lang="fr-FR" sz="2000" dirty="0"/>
              <a:t>Selon le superviseur, ce montant augmentera. L’augmentation pourrait se situer à 30 %, 35 % ou 40 %.</a:t>
            </a:r>
          </a:p>
          <a:p>
            <a:pPr marL="0" indent="0">
              <a:buNone/>
            </a:pPr>
            <a:r>
              <a:rPr lang="fr-FR" sz="2000" dirty="0"/>
              <a:t>Selon lui, aucun de ces taux n’est plus probable que l’autre.</a:t>
            </a:r>
          </a:p>
          <a:p>
            <a:pPr marL="0" indent="0">
              <a:buNone/>
            </a:pPr>
            <a:r>
              <a:rPr lang="fr-FR" sz="2000" dirty="0"/>
              <a:t>Je retiens donc 35 %, ce qui est la moyenne. Le total des sommes à engager serait de 172 800 $ US ou 207 360 $ CAN.</a:t>
            </a:r>
          </a:p>
          <a:p>
            <a:r>
              <a:rPr lang="fr-CA" sz="1800" dirty="0"/>
              <a:t>128 000 $ X 1,35 = 172 800 $US</a:t>
            </a:r>
            <a:endParaRPr lang="fr-FR" sz="1800" dirty="0"/>
          </a:p>
          <a:p>
            <a:r>
              <a:rPr lang="fr-CA" sz="1800" dirty="0"/>
              <a:t>172 800 X 1,20 = 207 360 $CAN</a:t>
            </a:r>
            <a:endParaRPr lang="fr-FR" dirty="0"/>
          </a:p>
          <a:p>
            <a:pPr marL="0" indent="0">
              <a:buNone/>
            </a:pPr>
            <a:endParaRPr lang="fr-FR" sz="2000" dirty="0"/>
          </a:p>
          <a:p>
            <a:pPr marL="0" indent="0">
              <a:buNone/>
            </a:pPr>
            <a:endParaRPr lang="fr-FR" sz="2000" dirty="0"/>
          </a:p>
        </p:txBody>
      </p:sp>
      <p:sp>
        <p:nvSpPr>
          <p:cNvPr id="5" name="Rectangle 1">
            <a:extLst>
              <a:ext uri="{FF2B5EF4-FFF2-40B4-BE49-F238E27FC236}">
                <a16:creationId xmlns:a16="http://schemas.microsoft.com/office/drawing/2014/main" id="{159FB74F-E2AA-4017-BB1F-AFFA30DA84D7}"/>
              </a:ext>
            </a:extLst>
          </p:cNvPr>
          <p:cNvSpPr>
            <a:spLocks noChangeArrowheads="1"/>
          </p:cNvSpPr>
          <p:nvPr/>
        </p:nvSpPr>
        <p:spPr bwMode="auto">
          <a:xfrm>
            <a:off x="-1803725" y="2308555"/>
            <a:ext cx="2265848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FR"/>
          </a:p>
        </p:txBody>
      </p:sp>
    </p:spTree>
    <p:extLst>
      <p:ext uri="{BB962C8B-B14F-4D97-AF65-F5344CB8AC3E}">
        <p14:creationId xmlns:p14="http://schemas.microsoft.com/office/powerpoint/2010/main" val="128355684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2D84F1-0B2B-416E-9AB8-6A6523D6CBC5}"/>
              </a:ext>
            </a:extLst>
          </p:cNvPr>
          <p:cNvSpPr>
            <a:spLocks noGrp="1"/>
          </p:cNvSpPr>
          <p:nvPr>
            <p:ph type="title"/>
          </p:nvPr>
        </p:nvSpPr>
        <p:spPr/>
        <p:txBody>
          <a:bodyPr>
            <a:normAutofit/>
          </a:bodyPr>
          <a:lstStyle/>
          <a:p>
            <a:r>
              <a:rPr lang="fr-CA" sz="3200" b="1" dirty="0"/>
              <a:t>6. Union Square </a:t>
            </a:r>
            <a:r>
              <a:rPr lang="fr-CA" sz="3200" b="1" dirty="0" err="1"/>
              <a:t>Theatre</a:t>
            </a:r>
            <a:endParaRPr lang="fr-FR" sz="3200" b="1" dirty="0"/>
          </a:p>
        </p:txBody>
      </p:sp>
      <p:sp>
        <p:nvSpPr>
          <p:cNvPr id="3" name="Espace réservé du contenu 2">
            <a:extLst>
              <a:ext uri="{FF2B5EF4-FFF2-40B4-BE49-F238E27FC236}">
                <a16:creationId xmlns:a16="http://schemas.microsoft.com/office/drawing/2014/main" id="{1472F1C4-CB5A-4ADE-BB55-DAF038446596}"/>
              </a:ext>
            </a:extLst>
          </p:cNvPr>
          <p:cNvSpPr>
            <a:spLocks noGrp="1"/>
          </p:cNvSpPr>
          <p:nvPr>
            <p:ph idx="1"/>
          </p:nvPr>
        </p:nvSpPr>
        <p:spPr>
          <a:xfrm>
            <a:off x="838200" y="1825624"/>
            <a:ext cx="10515600" cy="4575175"/>
          </a:xfrm>
        </p:spPr>
        <p:txBody>
          <a:bodyPr>
            <a:noAutofit/>
          </a:bodyPr>
          <a:lstStyle/>
          <a:p>
            <a:pPr marL="0" indent="0">
              <a:buNone/>
            </a:pPr>
            <a:r>
              <a:rPr lang="fr-CA" sz="2000" cap="small" dirty="0"/>
              <a:t>Coût de démantèlement des améliorations locatives</a:t>
            </a:r>
            <a:endParaRPr lang="fr-FR" sz="2000" dirty="0"/>
          </a:p>
          <a:p>
            <a:pPr marL="0" indent="0">
              <a:buNone/>
            </a:pPr>
            <a:r>
              <a:rPr lang="fr-CA" sz="2000" cap="small" dirty="0"/>
              <a:t>Conclusion</a:t>
            </a:r>
            <a:endParaRPr lang="fr-FR" sz="2000" dirty="0"/>
          </a:p>
          <a:p>
            <a:pPr marL="0" indent="0">
              <a:buNone/>
            </a:pPr>
            <a:r>
              <a:rPr lang="fr-FR" sz="2000" dirty="0"/>
              <a:t>Au moment d’apporter les améliorations, Le Cirque estime qu’il pourrait lui en coûter 207 360 $ pour remettre le local en état en 2028. </a:t>
            </a:r>
          </a:p>
          <a:p>
            <a:pPr marL="0" indent="0">
              <a:buNone/>
            </a:pPr>
            <a:endParaRPr lang="fr-FR" sz="2000" dirty="0"/>
          </a:p>
          <a:p>
            <a:pPr marL="0" indent="0">
              <a:buNone/>
            </a:pPr>
            <a:r>
              <a:rPr lang="fr-CA" sz="2000" u="dotted" dirty="0"/>
              <a:t>Risques et incertitudes – la valeur actuelle</a:t>
            </a:r>
            <a:endParaRPr lang="fr-FR" sz="2000" dirty="0"/>
          </a:p>
          <a:p>
            <a:pPr marL="0" indent="0">
              <a:buNone/>
            </a:pPr>
            <a:r>
              <a:rPr lang="fr-FR" sz="2000" dirty="0"/>
              <a:t>Lorsque l'effet de la valeur temps de l'argent est significatif, le montant de la provision doit être la valeur actuelle des dépenses attendues que l'on pense nécessaires pour éteindre l'obligation. </a:t>
            </a:r>
            <a:r>
              <a:rPr lang="fr-CA" sz="2000" dirty="0"/>
              <a:t>IAS 37-45</a:t>
            </a:r>
            <a:endParaRPr lang="fr-FR" sz="2000" dirty="0"/>
          </a:p>
          <a:p>
            <a:pPr marL="0" indent="0">
              <a:buNone/>
            </a:pPr>
            <a:r>
              <a:rPr lang="fr-FR" sz="2000" dirty="0"/>
              <a:t>Dans le cas d’</a:t>
            </a:r>
            <a:r>
              <a:rPr lang="fr-FR" sz="2000" i="1" dirty="0"/>
              <a:t>Union Square </a:t>
            </a:r>
            <a:r>
              <a:rPr lang="fr-FR" sz="2000" i="1" dirty="0" err="1"/>
              <a:t>Theatre</a:t>
            </a:r>
            <a:r>
              <a:rPr lang="fr-FR" sz="2000" dirty="0"/>
              <a:t>, le démantèlement surviendra trois ans après l’installation. La valeur temps est importante pour le Cirque. Il faut en tenir compte dans nos états financiers.</a:t>
            </a:r>
          </a:p>
          <a:p>
            <a:pPr marL="0" indent="0">
              <a:buNone/>
            </a:pPr>
            <a:endParaRPr lang="fr-FR" sz="2000" dirty="0"/>
          </a:p>
          <a:p>
            <a:pPr marL="0" indent="0">
              <a:buNone/>
            </a:pPr>
            <a:endParaRPr lang="fr-FR" sz="2000" dirty="0"/>
          </a:p>
          <a:p>
            <a:pPr marL="0" indent="0">
              <a:buNone/>
            </a:pPr>
            <a:endParaRPr lang="fr-FR" sz="2000" dirty="0"/>
          </a:p>
        </p:txBody>
      </p:sp>
      <p:sp>
        <p:nvSpPr>
          <p:cNvPr id="5" name="Rectangle 1">
            <a:extLst>
              <a:ext uri="{FF2B5EF4-FFF2-40B4-BE49-F238E27FC236}">
                <a16:creationId xmlns:a16="http://schemas.microsoft.com/office/drawing/2014/main" id="{159FB74F-E2AA-4017-BB1F-AFFA30DA84D7}"/>
              </a:ext>
            </a:extLst>
          </p:cNvPr>
          <p:cNvSpPr>
            <a:spLocks noChangeArrowheads="1"/>
          </p:cNvSpPr>
          <p:nvPr/>
        </p:nvSpPr>
        <p:spPr bwMode="auto">
          <a:xfrm>
            <a:off x="-1803725" y="2308555"/>
            <a:ext cx="2265848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FR"/>
          </a:p>
        </p:txBody>
      </p:sp>
    </p:spTree>
    <p:extLst>
      <p:ext uri="{BB962C8B-B14F-4D97-AF65-F5344CB8AC3E}">
        <p14:creationId xmlns:p14="http://schemas.microsoft.com/office/powerpoint/2010/main" val="1254774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2D84F1-0B2B-416E-9AB8-6A6523D6CBC5}"/>
              </a:ext>
            </a:extLst>
          </p:cNvPr>
          <p:cNvSpPr>
            <a:spLocks noGrp="1"/>
          </p:cNvSpPr>
          <p:nvPr>
            <p:ph type="title"/>
          </p:nvPr>
        </p:nvSpPr>
        <p:spPr/>
        <p:txBody>
          <a:bodyPr>
            <a:normAutofit/>
          </a:bodyPr>
          <a:lstStyle/>
          <a:p>
            <a:r>
              <a:rPr lang="fr-CA" sz="3200" b="1" dirty="0"/>
              <a:t>6. Union Square </a:t>
            </a:r>
            <a:r>
              <a:rPr lang="fr-CA" sz="3200" b="1" dirty="0" err="1"/>
              <a:t>Theatre</a:t>
            </a:r>
            <a:endParaRPr lang="fr-FR" sz="3200" b="1" dirty="0"/>
          </a:p>
        </p:txBody>
      </p:sp>
      <p:sp>
        <p:nvSpPr>
          <p:cNvPr id="3" name="Espace réservé du contenu 2">
            <a:extLst>
              <a:ext uri="{FF2B5EF4-FFF2-40B4-BE49-F238E27FC236}">
                <a16:creationId xmlns:a16="http://schemas.microsoft.com/office/drawing/2014/main" id="{1472F1C4-CB5A-4ADE-BB55-DAF038446596}"/>
              </a:ext>
            </a:extLst>
          </p:cNvPr>
          <p:cNvSpPr>
            <a:spLocks noGrp="1"/>
          </p:cNvSpPr>
          <p:nvPr>
            <p:ph idx="1"/>
          </p:nvPr>
        </p:nvSpPr>
        <p:spPr>
          <a:xfrm>
            <a:off x="838200" y="1825624"/>
            <a:ext cx="10515600" cy="4575175"/>
          </a:xfrm>
        </p:spPr>
        <p:txBody>
          <a:bodyPr>
            <a:noAutofit/>
          </a:bodyPr>
          <a:lstStyle/>
          <a:p>
            <a:pPr marL="0" indent="0">
              <a:buNone/>
            </a:pPr>
            <a:r>
              <a:rPr lang="fr-CA" sz="2000" cap="small" dirty="0"/>
              <a:t>Coût de démantèlement des améliorations locatives</a:t>
            </a:r>
            <a:endParaRPr lang="fr-FR" sz="2000" dirty="0"/>
          </a:p>
          <a:p>
            <a:pPr marL="0" indent="0">
              <a:buNone/>
            </a:pPr>
            <a:r>
              <a:rPr lang="fr-CA" sz="2000" dirty="0"/>
              <a:t>Écritures</a:t>
            </a:r>
          </a:p>
          <a:p>
            <a:pPr marL="0" lvl="0" indent="0">
              <a:buNone/>
            </a:pPr>
            <a:r>
              <a:rPr lang="fr-CA" sz="2000" cap="small" dirty="0"/>
              <a:t>À la date d’entrée en vigueur du CLS</a:t>
            </a:r>
            <a:endParaRPr lang="fr-FR" sz="2000" dirty="0"/>
          </a:p>
          <a:p>
            <a:pPr marL="0" indent="0">
              <a:buNone/>
            </a:pPr>
            <a:r>
              <a:rPr lang="fr-CA" sz="2000" dirty="0"/>
              <a:t>Améliorations locatives UST - démantèlement 	xx</a:t>
            </a:r>
            <a:endParaRPr lang="fr-FR" sz="2000" dirty="0"/>
          </a:p>
          <a:p>
            <a:pPr marL="0" indent="0">
              <a:spcBef>
                <a:spcPts val="0"/>
              </a:spcBef>
              <a:buNone/>
            </a:pPr>
            <a:r>
              <a:rPr lang="fr-CA" sz="2000" dirty="0"/>
              <a:t>@ Passif – OMHS 					xx	</a:t>
            </a:r>
          </a:p>
          <a:p>
            <a:pPr marL="0" indent="0">
              <a:buNone/>
            </a:pPr>
            <a:r>
              <a:rPr lang="fr-CA" sz="2000" i="1" dirty="0"/>
              <a:t>Montant : valeur actualisée 3 ans de 207 360 $ - selon taux de la dette long terme</a:t>
            </a:r>
          </a:p>
          <a:p>
            <a:pPr marL="0" indent="0">
              <a:buNone/>
            </a:pPr>
            <a:endParaRPr lang="fr-FR" sz="2000" i="1" dirty="0"/>
          </a:p>
          <a:p>
            <a:pPr marL="0" indent="0">
              <a:buNone/>
            </a:pPr>
            <a:r>
              <a:rPr lang="fr-CA" sz="2000" i="1" dirty="0"/>
              <a:t>Pour enregistrer le passif pour remise en état du local et la contrepartie qui est incluse dans le coût des améliorations locatives. </a:t>
            </a:r>
            <a:r>
              <a:rPr lang="fr-CA" sz="2000" dirty="0"/>
              <a:t>IAS 16-16c)</a:t>
            </a:r>
            <a:endParaRPr lang="fr-FR" sz="2000" dirty="0"/>
          </a:p>
          <a:p>
            <a:pPr marL="0" indent="0">
              <a:buNone/>
            </a:pPr>
            <a:endParaRPr lang="fr-FR" sz="2000" dirty="0"/>
          </a:p>
          <a:p>
            <a:pPr marL="0" indent="0">
              <a:buNone/>
            </a:pPr>
            <a:endParaRPr lang="fr-FR" sz="2000" dirty="0"/>
          </a:p>
        </p:txBody>
      </p:sp>
      <p:sp>
        <p:nvSpPr>
          <p:cNvPr id="5" name="Rectangle 1">
            <a:extLst>
              <a:ext uri="{FF2B5EF4-FFF2-40B4-BE49-F238E27FC236}">
                <a16:creationId xmlns:a16="http://schemas.microsoft.com/office/drawing/2014/main" id="{159FB74F-E2AA-4017-BB1F-AFFA30DA84D7}"/>
              </a:ext>
            </a:extLst>
          </p:cNvPr>
          <p:cNvSpPr>
            <a:spLocks noChangeArrowheads="1"/>
          </p:cNvSpPr>
          <p:nvPr/>
        </p:nvSpPr>
        <p:spPr bwMode="auto">
          <a:xfrm>
            <a:off x="-1803725" y="2308555"/>
            <a:ext cx="2265848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FR"/>
          </a:p>
        </p:txBody>
      </p:sp>
    </p:spTree>
    <p:extLst>
      <p:ext uri="{BB962C8B-B14F-4D97-AF65-F5344CB8AC3E}">
        <p14:creationId xmlns:p14="http://schemas.microsoft.com/office/powerpoint/2010/main" val="408416035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2D84F1-0B2B-416E-9AB8-6A6523D6CBC5}"/>
              </a:ext>
            </a:extLst>
          </p:cNvPr>
          <p:cNvSpPr>
            <a:spLocks noGrp="1"/>
          </p:cNvSpPr>
          <p:nvPr>
            <p:ph type="title"/>
          </p:nvPr>
        </p:nvSpPr>
        <p:spPr/>
        <p:txBody>
          <a:bodyPr>
            <a:normAutofit/>
          </a:bodyPr>
          <a:lstStyle/>
          <a:p>
            <a:r>
              <a:rPr lang="fr-CA" sz="3200" b="1" dirty="0"/>
              <a:t>6. Union Square </a:t>
            </a:r>
            <a:r>
              <a:rPr lang="fr-CA" sz="3200" b="1" dirty="0" err="1"/>
              <a:t>Theatre</a:t>
            </a:r>
            <a:endParaRPr lang="fr-FR" sz="3200" b="1" dirty="0"/>
          </a:p>
        </p:txBody>
      </p:sp>
      <p:sp>
        <p:nvSpPr>
          <p:cNvPr id="3" name="Espace réservé du contenu 2">
            <a:extLst>
              <a:ext uri="{FF2B5EF4-FFF2-40B4-BE49-F238E27FC236}">
                <a16:creationId xmlns:a16="http://schemas.microsoft.com/office/drawing/2014/main" id="{1472F1C4-CB5A-4ADE-BB55-DAF038446596}"/>
              </a:ext>
            </a:extLst>
          </p:cNvPr>
          <p:cNvSpPr>
            <a:spLocks noGrp="1"/>
          </p:cNvSpPr>
          <p:nvPr>
            <p:ph idx="1"/>
          </p:nvPr>
        </p:nvSpPr>
        <p:spPr>
          <a:xfrm>
            <a:off x="838200" y="1825624"/>
            <a:ext cx="10515600" cy="4575175"/>
          </a:xfrm>
        </p:spPr>
        <p:txBody>
          <a:bodyPr>
            <a:noAutofit/>
          </a:bodyPr>
          <a:lstStyle/>
          <a:p>
            <a:pPr marL="0" indent="0">
              <a:buNone/>
            </a:pPr>
            <a:r>
              <a:rPr lang="fr-CA" sz="2000" cap="small" dirty="0"/>
              <a:t>Coût de démantèlement des améliorations locatives</a:t>
            </a:r>
            <a:endParaRPr lang="fr-FR" sz="2000" dirty="0"/>
          </a:p>
          <a:p>
            <a:pPr marL="0" indent="0">
              <a:buNone/>
            </a:pPr>
            <a:r>
              <a:rPr lang="fr-CA" sz="2000" dirty="0"/>
              <a:t>Écritures</a:t>
            </a:r>
          </a:p>
          <a:p>
            <a:pPr marL="0" lvl="0" indent="0">
              <a:buNone/>
            </a:pPr>
            <a:r>
              <a:rPr lang="fr-CA" sz="2000" cap="small" dirty="0"/>
              <a:t>À la date anniversaire du CLS</a:t>
            </a:r>
            <a:endParaRPr lang="fr-FR" sz="2000" dirty="0"/>
          </a:p>
          <a:p>
            <a:pPr marL="0" indent="0">
              <a:buNone/>
            </a:pPr>
            <a:r>
              <a:rPr lang="fr-CA" sz="2000" dirty="0"/>
              <a:t>Charges financières					xx</a:t>
            </a:r>
            <a:endParaRPr lang="fr-FR" sz="2000" dirty="0"/>
          </a:p>
          <a:p>
            <a:pPr marL="0" indent="0">
              <a:buNone/>
            </a:pPr>
            <a:r>
              <a:rPr lang="fr-CA" sz="2000" dirty="0"/>
              <a:t>@ Passif – OMHS 						xx</a:t>
            </a:r>
            <a:endParaRPr lang="fr-FR" sz="2000" dirty="0"/>
          </a:p>
          <a:p>
            <a:pPr marL="0" indent="0">
              <a:buNone/>
            </a:pPr>
            <a:r>
              <a:rPr lang="fr-CA" sz="2000" dirty="0"/>
              <a:t> </a:t>
            </a:r>
            <a:r>
              <a:rPr lang="fr-CA" sz="2000" i="1" dirty="0"/>
              <a:t>Montant du passif * taux d’actualisation utilisée</a:t>
            </a:r>
          </a:p>
          <a:p>
            <a:pPr marL="0" indent="0">
              <a:buNone/>
            </a:pPr>
            <a:endParaRPr lang="fr-FR" sz="2000" dirty="0"/>
          </a:p>
          <a:p>
            <a:pPr marL="0" indent="0">
              <a:buNone/>
            </a:pPr>
            <a:r>
              <a:rPr lang="fr-CA" sz="2000" dirty="0"/>
              <a:t>Amortissement - améliorations locatives			xx</a:t>
            </a:r>
            <a:endParaRPr lang="fr-FR" sz="2000" dirty="0"/>
          </a:p>
          <a:p>
            <a:pPr marL="0" indent="0">
              <a:buNone/>
            </a:pPr>
            <a:r>
              <a:rPr lang="fr-CA" sz="2000" dirty="0"/>
              <a:t>@ Amortissement cumulé – améliorations locatives			xx</a:t>
            </a:r>
            <a:endParaRPr lang="fr-FR" sz="2000" dirty="0"/>
          </a:p>
          <a:p>
            <a:pPr marL="0" indent="0">
              <a:buNone/>
            </a:pPr>
            <a:r>
              <a:rPr lang="fr-CA" sz="2000" i="1" dirty="0"/>
              <a:t>Amortissement sur la durée du contrat de location</a:t>
            </a:r>
            <a:endParaRPr lang="fr-FR" sz="2000" dirty="0"/>
          </a:p>
          <a:p>
            <a:pPr marL="0" indent="0">
              <a:buNone/>
            </a:pPr>
            <a:endParaRPr lang="fr-FR" sz="2000" dirty="0"/>
          </a:p>
          <a:p>
            <a:pPr marL="0" indent="0">
              <a:buNone/>
            </a:pPr>
            <a:endParaRPr lang="fr-FR" sz="2000" dirty="0"/>
          </a:p>
        </p:txBody>
      </p:sp>
      <p:sp>
        <p:nvSpPr>
          <p:cNvPr id="5" name="Rectangle 1">
            <a:extLst>
              <a:ext uri="{FF2B5EF4-FFF2-40B4-BE49-F238E27FC236}">
                <a16:creationId xmlns:a16="http://schemas.microsoft.com/office/drawing/2014/main" id="{159FB74F-E2AA-4017-BB1F-AFFA30DA84D7}"/>
              </a:ext>
            </a:extLst>
          </p:cNvPr>
          <p:cNvSpPr>
            <a:spLocks noChangeArrowheads="1"/>
          </p:cNvSpPr>
          <p:nvPr/>
        </p:nvSpPr>
        <p:spPr bwMode="auto">
          <a:xfrm>
            <a:off x="-1803725" y="2308555"/>
            <a:ext cx="2265848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FR"/>
          </a:p>
        </p:txBody>
      </p:sp>
    </p:spTree>
    <p:extLst>
      <p:ext uri="{BB962C8B-B14F-4D97-AF65-F5344CB8AC3E}">
        <p14:creationId xmlns:p14="http://schemas.microsoft.com/office/powerpoint/2010/main" val="115401391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2D84F1-0B2B-416E-9AB8-6A6523D6CBC5}"/>
              </a:ext>
            </a:extLst>
          </p:cNvPr>
          <p:cNvSpPr>
            <a:spLocks noGrp="1"/>
          </p:cNvSpPr>
          <p:nvPr>
            <p:ph type="title"/>
          </p:nvPr>
        </p:nvSpPr>
        <p:spPr/>
        <p:txBody>
          <a:bodyPr>
            <a:normAutofit/>
          </a:bodyPr>
          <a:lstStyle/>
          <a:p>
            <a:r>
              <a:rPr lang="fr-CA" sz="3200" b="1" dirty="0"/>
              <a:t>6. Union Square </a:t>
            </a:r>
            <a:r>
              <a:rPr lang="fr-CA" sz="3200" b="1" dirty="0" err="1"/>
              <a:t>Theatre</a:t>
            </a:r>
            <a:endParaRPr lang="fr-FR" sz="3200" b="1" dirty="0"/>
          </a:p>
        </p:txBody>
      </p:sp>
      <p:sp>
        <p:nvSpPr>
          <p:cNvPr id="3" name="Espace réservé du contenu 2">
            <a:extLst>
              <a:ext uri="{FF2B5EF4-FFF2-40B4-BE49-F238E27FC236}">
                <a16:creationId xmlns:a16="http://schemas.microsoft.com/office/drawing/2014/main" id="{1472F1C4-CB5A-4ADE-BB55-DAF038446596}"/>
              </a:ext>
            </a:extLst>
          </p:cNvPr>
          <p:cNvSpPr>
            <a:spLocks noGrp="1"/>
          </p:cNvSpPr>
          <p:nvPr>
            <p:ph idx="1"/>
          </p:nvPr>
        </p:nvSpPr>
        <p:spPr>
          <a:xfrm>
            <a:off x="838200" y="1825624"/>
            <a:ext cx="10515600" cy="4575175"/>
          </a:xfrm>
        </p:spPr>
        <p:txBody>
          <a:bodyPr>
            <a:noAutofit/>
          </a:bodyPr>
          <a:lstStyle/>
          <a:p>
            <a:pPr marL="0" indent="0">
              <a:buNone/>
            </a:pPr>
            <a:r>
              <a:rPr lang="fr-CA" sz="2000" cap="small" dirty="0"/>
              <a:t>Coût de démantèlement des améliorations locatives</a:t>
            </a:r>
            <a:endParaRPr lang="fr-FR" sz="2000" dirty="0"/>
          </a:p>
          <a:p>
            <a:pPr marL="0" indent="0">
              <a:buNone/>
            </a:pPr>
            <a:r>
              <a:rPr lang="fr-CA" sz="2000" cap="small" dirty="0"/>
              <a:t>Les parties prenantes</a:t>
            </a:r>
            <a:endParaRPr lang="fr-FR" sz="2000" cap="small" dirty="0"/>
          </a:p>
          <a:p>
            <a:r>
              <a:rPr lang="fr-CA" sz="2000" dirty="0"/>
              <a:t>Ce traitement pourrait déplaire aux </a:t>
            </a:r>
            <a:r>
              <a:rPr lang="fr-CA" sz="2000" b="1" dirty="0"/>
              <a:t>actionnaires</a:t>
            </a:r>
            <a:r>
              <a:rPr lang="fr-CA" sz="2000" dirty="0"/>
              <a:t> qui veulent voir de </a:t>
            </a:r>
            <a:r>
              <a:rPr lang="fr-CA" sz="2000" b="1" dirty="0"/>
              <a:t>vrais passifs</a:t>
            </a:r>
            <a:r>
              <a:rPr lang="fr-CA" sz="2000" dirty="0"/>
              <a:t> dans le bilan. Il faut expliquer que ce passif existe depuis que le contrat de location a été signé et que les travaux ont débuté. En ce sens, c’est un vrai passif. </a:t>
            </a:r>
            <a:endParaRPr lang="fr-FR" sz="2000" dirty="0"/>
          </a:p>
          <a:p>
            <a:pPr marL="0" indent="0">
              <a:buNone/>
            </a:pPr>
            <a:endParaRPr lang="fr-FR" sz="2000" dirty="0"/>
          </a:p>
          <a:p>
            <a:pPr marL="0" indent="0">
              <a:buNone/>
            </a:pPr>
            <a:endParaRPr lang="fr-FR" sz="2000" dirty="0"/>
          </a:p>
          <a:p>
            <a:pPr marL="0" indent="0">
              <a:buNone/>
            </a:pPr>
            <a:endParaRPr lang="fr-FR" sz="2000" dirty="0"/>
          </a:p>
        </p:txBody>
      </p:sp>
      <p:sp>
        <p:nvSpPr>
          <p:cNvPr id="5" name="Rectangle 1">
            <a:extLst>
              <a:ext uri="{FF2B5EF4-FFF2-40B4-BE49-F238E27FC236}">
                <a16:creationId xmlns:a16="http://schemas.microsoft.com/office/drawing/2014/main" id="{159FB74F-E2AA-4017-BB1F-AFFA30DA84D7}"/>
              </a:ext>
            </a:extLst>
          </p:cNvPr>
          <p:cNvSpPr>
            <a:spLocks noChangeArrowheads="1"/>
          </p:cNvSpPr>
          <p:nvPr/>
        </p:nvSpPr>
        <p:spPr bwMode="auto">
          <a:xfrm>
            <a:off x="-1803725" y="2308555"/>
            <a:ext cx="2265848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FR"/>
          </a:p>
        </p:txBody>
      </p:sp>
    </p:spTree>
    <p:extLst>
      <p:ext uri="{BB962C8B-B14F-4D97-AF65-F5344CB8AC3E}">
        <p14:creationId xmlns:p14="http://schemas.microsoft.com/office/powerpoint/2010/main" val="26647869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04B9E5-5CFB-47F8-8099-FCC312A3D1A0}"/>
              </a:ext>
            </a:extLst>
          </p:cNvPr>
          <p:cNvSpPr>
            <a:spLocks noGrp="1"/>
          </p:cNvSpPr>
          <p:nvPr>
            <p:ph type="title"/>
          </p:nvPr>
        </p:nvSpPr>
        <p:spPr/>
        <p:txBody>
          <a:bodyPr/>
          <a:lstStyle/>
          <a:p>
            <a:r>
              <a:rPr lang="fr-CA" b="1" dirty="0">
                <a:solidFill>
                  <a:srgbClr val="FF0000"/>
                </a:solidFill>
              </a:rPr>
              <a:t>7- Capitalisation de certaines dépenses</a:t>
            </a:r>
            <a:endParaRPr lang="fr-FR" b="1" dirty="0">
              <a:solidFill>
                <a:srgbClr val="FF0000"/>
              </a:solidFill>
            </a:endParaRPr>
          </a:p>
        </p:txBody>
      </p:sp>
      <p:sp>
        <p:nvSpPr>
          <p:cNvPr id="3" name="Espace réservé du contenu 2">
            <a:extLst>
              <a:ext uri="{FF2B5EF4-FFF2-40B4-BE49-F238E27FC236}">
                <a16:creationId xmlns:a16="http://schemas.microsoft.com/office/drawing/2014/main" id="{C05B19FF-C294-4E7F-A8F2-32204C8C5A52}"/>
              </a:ext>
            </a:extLst>
          </p:cNvPr>
          <p:cNvSpPr>
            <a:spLocks noGrp="1"/>
          </p:cNvSpPr>
          <p:nvPr>
            <p:ph idx="1"/>
          </p:nvPr>
        </p:nvSpPr>
        <p:spPr>
          <a:xfrm>
            <a:off x="841899" y="1550417"/>
            <a:ext cx="10515600" cy="4351338"/>
          </a:xfrm>
        </p:spPr>
        <p:txBody>
          <a:bodyPr>
            <a:normAutofit fontScale="25000" lnSpcReduction="20000"/>
          </a:bodyPr>
          <a:lstStyle/>
          <a:p>
            <a:pPr marL="0" indent="0">
              <a:buNone/>
            </a:pPr>
            <a:r>
              <a:rPr lang="fr-CA" sz="8000" cap="small" dirty="0"/>
              <a:t>Versailles </a:t>
            </a:r>
            <a:endParaRPr lang="fr-FR" sz="8000" cap="small" dirty="0"/>
          </a:p>
          <a:p>
            <a:pPr marL="0" indent="0">
              <a:buNone/>
            </a:pPr>
            <a:r>
              <a:rPr lang="fr-CA" sz="8000" dirty="0"/>
              <a:t>Il y a une foule de correctifs à apporter avant de présenter le spectacle. Les cinq actionnaires ignorent quand ils reprendront le développement et à quel moment le spectacle sera présenté.</a:t>
            </a:r>
            <a:endParaRPr lang="fr-FR" sz="8000" dirty="0"/>
          </a:p>
          <a:p>
            <a:pPr marL="0" indent="0">
              <a:buNone/>
            </a:pPr>
            <a:r>
              <a:rPr lang="fr-CA" sz="8000" dirty="0"/>
              <a:t>Les coûts de développement présentés dans l’actif courant s’élèvent à 1 698 000 $. Le contrôleur propose de les reclasser dans la section non courante du bilan puisqu’il ignore si les actionnaires-dirigeants ont l’intention de reprendre le développement et si c’est leur volonté, à quel moment ils le feront. </a:t>
            </a:r>
            <a:endParaRPr lang="fr-FR" sz="8000" dirty="0"/>
          </a:p>
          <a:p>
            <a:pPr marL="0" indent="0">
              <a:buNone/>
            </a:pPr>
            <a:r>
              <a:rPr lang="fr-FR" sz="4000" dirty="0"/>
              <a:t>  </a:t>
            </a:r>
          </a:p>
          <a:p>
            <a:pPr marL="0" indent="0">
              <a:buNone/>
            </a:pPr>
            <a:r>
              <a:rPr lang="fr-CA" sz="8000" cap="small" dirty="0"/>
              <a:t>Analyse  IAS 36</a:t>
            </a:r>
            <a:endParaRPr lang="fr-FR" sz="8000" cap="small" dirty="0"/>
          </a:p>
          <a:p>
            <a:pPr marL="0" indent="0">
              <a:buNone/>
            </a:pPr>
            <a:r>
              <a:rPr lang="fr-CA" sz="8000" dirty="0"/>
              <a:t>Il faut déterminer si les coûts de développement du numéro se sont dépréciés. Les actionnaires ont annulé le spectacle. On ne sait pas si le développement sera achevé ou si cette annulation constitue une mise hors de service permanente. Les coûts de développement ont sans doute subi une baisse de valeur. Pour établir cette baisse, il faut établir la valeur recouvrable des coûts de développement du spectacle. La valeur recouvrable de cet actif sera égale la plus élevée entre la juste valeur diminuée des coûts de sortie et la valeur d'utilité des coûts de développement. Puisque les numéros tels qu’imaginés ne sont pas réalisables car trop compliqués, je doute qu’ils aient une valeur sur le marché. Pour calculer la valeur d'utilité des coûts de développement, il faut estimer les flux de trésorerie futurs que le Cirque s'attend à obtenir des coûts de développement engagés pour développer les numéros. Ces estimations sont difficiles à formuler dans le moment puisqu’aucun échéancier précis n’a été établi en ce qui concerne </a:t>
            </a:r>
            <a:r>
              <a:rPr lang="fr-CA" sz="8000" i="1" dirty="0"/>
              <a:t>Versailles ou La princesse qui dansait</a:t>
            </a:r>
            <a:r>
              <a:rPr lang="fr-CA" sz="8000" dirty="0"/>
              <a:t>. </a:t>
            </a:r>
            <a:endParaRPr lang="fr-FR" sz="8000" dirty="0"/>
          </a:p>
          <a:p>
            <a:pPr marL="0" indent="0">
              <a:buNone/>
            </a:pPr>
            <a:endParaRPr lang="fr-FR" dirty="0"/>
          </a:p>
        </p:txBody>
      </p:sp>
    </p:spTree>
    <p:extLst>
      <p:ext uri="{BB962C8B-B14F-4D97-AF65-F5344CB8AC3E}">
        <p14:creationId xmlns:p14="http://schemas.microsoft.com/office/powerpoint/2010/main" val="269192394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04B9E5-5CFB-47F8-8099-FCC312A3D1A0}"/>
              </a:ext>
            </a:extLst>
          </p:cNvPr>
          <p:cNvSpPr>
            <a:spLocks noGrp="1"/>
          </p:cNvSpPr>
          <p:nvPr>
            <p:ph type="title"/>
          </p:nvPr>
        </p:nvSpPr>
        <p:spPr/>
        <p:txBody>
          <a:bodyPr>
            <a:normAutofit/>
          </a:bodyPr>
          <a:lstStyle/>
          <a:p>
            <a:r>
              <a:rPr lang="fr-CA" sz="3200" b="1" dirty="0"/>
              <a:t>7- Capitalisation de certaines dépenses</a:t>
            </a:r>
            <a:endParaRPr lang="fr-FR" sz="3200" b="1" dirty="0"/>
          </a:p>
        </p:txBody>
      </p:sp>
      <p:sp>
        <p:nvSpPr>
          <p:cNvPr id="3" name="Espace réservé du contenu 2">
            <a:extLst>
              <a:ext uri="{FF2B5EF4-FFF2-40B4-BE49-F238E27FC236}">
                <a16:creationId xmlns:a16="http://schemas.microsoft.com/office/drawing/2014/main" id="{C05B19FF-C294-4E7F-A8F2-32204C8C5A52}"/>
              </a:ext>
            </a:extLst>
          </p:cNvPr>
          <p:cNvSpPr>
            <a:spLocks noGrp="1"/>
          </p:cNvSpPr>
          <p:nvPr>
            <p:ph idx="1"/>
          </p:nvPr>
        </p:nvSpPr>
        <p:spPr/>
        <p:txBody>
          <a:bodyPr>
            <a:normAutofit fontScale="92500" lnSpcReduction="10000"/>
          </a:bodyPr>
          <a:lstStyle/>
          <a:p>
            <a:pPr marL="0" indent="0">
              <a:buNone/>
            </a:pPr>
            <a:r>
              <a:rPr lang="fr-CA" sz="2600" cap="small" dirty="0"/>
              <a:t>Versailles </a:t>
            </a:r>
            <a:endParaRPr lang="fr-FR" sz="2600" cap="small" dirty="0"/>
          </a:p>
          <a:p>
            <a:pPr marL="0" indent="0">
              <a:buNone/>
            </a:pPr>
            <a:r>
              <a:rPr lang="fr-CA" sz="2600" cap="small" dirty="0"/>
              <a:t>Conclusion</a:t>
            </a:r>
            <a:endParaRPr lang="fr-FR" sz="2600" dirty="0"/>
          </a:p>
          <a:p>
            <a:pPr marL="0" indent="0">
              <a:buNone/>
            </a:pPr>
            <a:r>
              <a:rPr lang="fr-CA" sz="2600" dirty="0"/>
              <a:t>Comme tout est au point mort et que rien n’indique que le développement sera poursuivi, je présume que leur valeur recouvrable est nulle. À moins que la direction ne fournisse les données nécessaires (calendrier, flux de trésorerie estimatifs, etc.) qui permettraient d’estimer les flux de trésorerie attendus de ces coûts et leur échéancier, ces coûts qui s’élèvent à 1 698 000 $ seront comptabilisés en charge de l’exercice courant.</a:t>
            </a:r>
            <a:endParaRPr lang="fr-FR" sz="2600" dirty="0"/>
          </a:p>
          <a:p>
            <a:pPr marL="0" indent="0">
              <a:buNone/>
            </a:pPr>
            <a:r>
              <a:rPr lang="fr-CA" sz="4000" dirty="0"/>
              <a:t> </a:t>
            </a:r>
            <a:endParaRPr lang="fr-FR" sz="4000" dirty="0"/>
          </a:p>
          <a:p>
            <a:pPr marL="0" indent="0">
              <a:buNone/>
            </a:pPr>
            <a:r>
              <a:rPr lang="fr-FR" sz="8000" dirty="0"/>
              <a:t> </a:t>
            </a:r>
          </a:p>
        </p:txBody>
      </p:sp>
    </p:spTree>
    <p:extLst>
      <p:ext uri="{BB962C8B-B14F-4D97-AF65-F5344CB8AC3E}">
        <p14:creationId xmlns:p14="http://schemas.microsoft.com/office/powerpoint/2010/main" val="24361833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04B9E5-5CFB-47F8-8099-FCC312A3D1A0}"/>
              </a:ext>
            </a:extLst>
          </p:cNvPr>
          <p:cNvSpPr>
            <a:spLocks noGrp="1"/>
          </p:cNvSpPr>
          <p:nvPr>
            <p:ph type="title"/>
          </p:nvPr>
        </p:nvSpPr>
        <p:spPr/>
        <p:txBody>
          <a:bodyPr>
            <a:normAutofit/>
          </a:bodyPr>
          <a:lstStyle/>
          <a:p>
            <a:r>
              <a:rPr lang="fr-CA" sz="3200" b="1" dirty="0"/>
              <a:t>7- Capitalisation de certaines dépenses</a:t>
            </a:r>
            <a:endParaRPr lang="fr-FR" sz="3200" b="1" dirty="0"/>
          </a:p>
        </p:txBody>
      </p:sp>
      <p:sp>
        <p:nvSpPr>
          <p:cNvPr id="3" name="Espace réservé du contenu 2">
            <a:extLst>
              <a:ext uri="{FF2B5EF4-FFF2-40B4-BE49-F238E27FC236}">
                <a16:creationId xmlns:a16="http://schemas.microsoft.com/office/drawing/2014/main" id="{C05B19FF-C294-4E7F-A8F2-32204C8C5A52}"/>
              </a:ext>
            </a:extLst>
          </p:cNvPr>
          <p:cNvSpPr>
            <a:spLocks noGrp="1"/>
          </p:cNvSpPr>
          <p:nvPr>
            <p:ph idx="1"/>
          </p:nvPr>
        </p:nvSpPr>
        <p:spPr/>
        <p:txBody>
          <a:bodyPr>
            <a:normAutofit fontScale="25000" lnSpcReduction="20000"/>
          </a:bodyPr>
          <a:lstStyle/>
          <a:p>
            <a:pPr marL="0" indent="0">
              <a:buNone/>
            </a:pPr>
            <a:r>
              <a:rPr lang="fr-CA" sz="8000" cap="small" dirty="0"/>
              <a:t>Contacts</a:t>
            </a:r>
            <a:endParaRPr lang="fr-FR" sz="8000" dirty="0"/>
          </a:p>
          <a:p>
            <a:pPr marL="0" indent="0">
              <a:buNone/>
            </a:pPr>
            <a:r>
              <a:rPr lang="fr-CA" sz="8000" dirty="0"/>
              <a:t>Pendant le festival du Cirque d’Édimbourg en mars 2025, les actionnaires ont établi un contact avec le diffuseur français Blue Line </a:t>
            </a:r>
            <a:r>
              <a:rPr lang="fr-CA" sz="8000" b="1" dirty="0"/>
              <a:t>qui s’est dit intéressé</a:t>
            </a:r>
            <a:r>
              <a:rPr lang="fr-CA" sz="8000" dirty="0"/>
              <a:t> de produire le spectacle à Bobino avant la fin de 2027. De plus, le producteur américain Tom </a:t>
            </a:r>
            <a:r>
              <a:rPr lang="fr-CA" sz="8000" dirty="0" err="1"/>
              <a:t>Gabbard</a:t>
            </a:r>
            <a:r>
              <a:rPr lang="fr-CA" sz="8000" dirty="0"/>
              <a:t> </a:t>
            </a:r>
            <a:r>
              <a:rPr lang="fr-CA" sz="8000" b="1" dirty="0"/>
              <a:t>pourrait</a:t>
            </a:r>
            <a:r>
              <a:rPr lang="fr-CA" sz="8000" dirty="0"/>
              <a:t> programmer le spectacle à Charlotte, puis à San Francisco et à Boston après une visite du Cirque à Montréal.</a:t>
            </a:r>
            <a:endParaRPr lang="fr-FR" sz="8000" dirty="0"/>
          </a:p>
          <a:p>
            <a:pPr marL="0" indent="0">
              <a:buNone/>
            </a:pPr>
            <a:r>
              <a:rPr lang="fr-CA" sz="8000" dirty="0"/>
              <a:t>Il en a coûté 120 000 $ pour participer à ce festival. Ces coûts seront plus que recouvrés par les deux contrats qui pourraient être éventuellement conclus avec les deux diffuseurs.</a:t>
            </a:r>
            <a:endParaRPr lang="fr-FR" sz="8000" dirty="0"/>
          </a:p>
          <a:p>
            <a:pPr marL="0" indent="0">
              <a:buNone/>
            </a:pPr>
            <a:r>
              <a:rPr lang="fr-CA" sz="8000" dirty="0"/>
              <a:t>Les contacts sont-ils des actifs ou des charges de l’exercice? </a:t>
            </a:r>
            <a:endParaRPr lang="fr-FR" sz="8000" dirty="0"/>
          </a:p>
          <a:p>
            <a:pPr marL="0" indent="0">
              <a:buNone/>
            </a:pPr>
            <a:r>
              <a:rPr lang="fr-CA" sz="8000" dirty="0"/>
              <a:t> </a:t>
            </a:r>
            <a:endParaRPr lang="fr-FR" sz="8000" dirty="0"/>
          </a:p>
          <a:p>
            <a:pPr marL="0" indent="0">
              <a:buNone/>
            </a:pPr>
            <a:r>
              <a:rPr lang="fr-CA" sz="8000" cap="small" dirty="0"/>
              <a:t>Analyse</a:t>
            </a:r>
            <a:endParaRPr lang="fr-FR" sz="8000" dirty="0"/>
          </a:p>
          <a:p>
            <a:pPr marL="0" indent="0">
              <a:buNone/>
            </a:pPr>
            <a:r>
              <a:rPr lang="fr-CA" sz="8000" u="dotted" dirty="0"/>
              <a:t>Nature</a:t>
            </a:r>
            <a:endParaRPr lang="fr-FR" sz="8000" dirty="0"/>
          </a:p>
          <a:p>
            <a:pPr marL="0" indent="0">
              <a:buNone/>
            </a:pPr>
            <a:r>
              <a:rPr lang="fr-CA" sz="8000" dirty="0"/>
              <a:t>Pour être comptabilisé en bilan, les contacts doivent posséder toutes les caractéristiques d’un actif incorporel.</a:t>
            </a:r>
            <a:endParaRPr lang="fr-FR" sz="8000" dirty="0"/>
          </a:p>
          <a:p>
            <a:pPr marL="0" indent="0">
              <a:buNone/>
            </a:pPr>
            <a:r>
              <a:rPr lang="fr-CA" sz="8000" dirty="0"/>
              <a:t> </a:t>
            </a:r>
            <a:endParaRPr lang="fr-FR" sz="8000" dirty="0"/>
          </a:p>
          <a:p>
            <a:pPr marL="0" indent="0">
              <a:buNone/>
            </a:pPr>
            <a:endParaRPr lang="fr-FR" sz="8000" dirty="0"/>
          </a:p>
        </p:txBody>
      </p:sp>
    </p:spTree>
    <p:extLst>
      <p:ext uri="{BB962C8B-B14F-4D97-AF65-F5344CB8AC3E}">
        <p14:creationId xmlns:p14="http://schemas.microsoft.com/office/powerpoint/2010/main" val="383761951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04B9E5-5CFB-47F8-8099-FCC312A3D1A0}"/>
              </a:ext>
            </a:extLst>
          </p:cNvPr>
          <p:cNvSpPr>
            <a:spLocks noGrp="1"/>
          </p:cNvSpPr>
          <p:nvPr>
            <p:ph type="title"/>
          </p:nvPr>
        </p:nvSpPr>
        <p:spPr/>
        <p:txBody>
          <a:bodyPr>
            <a:normAutofit/>
          </a:bodyPr>
          <a:lstStyle/>
          <a:p>
            <a:r>
              <a:rPr lang="fr-CA" sz="3200" b="1" dirty="0"/>
              <a:t>7- Capitalisation de certaines dépenses</a:t>
            </a:r>
            <a:endParaRPr lang="fr-FR" sz="3200" b="1" dirty="0"/>
          </a:p>
        </p:txBody>
      </p:sp>
      <p:sp>
        <p:nvSpPr>
          <p:cNvPr id="3" name="Espace réservé du contenu 2">
            <a:extLst>
              <a:ext uri="{FF2B5EF4-FFF2-40B4-BE49-F238E27FC236}">
                <a16:creationId xmlns:a16="http://schemas.microsoft.com/office/drawing/2014/main" id="{C05B19FF-C294-4E7F-A8F2-32204C8C5A52}"/>
              </a:ext>
            </a:extLst>
          </p:cNvPr>
          <p:cNvSpPr>
            <a:spLocks noGrp="1"/>
          </p:cNvSpPr>
          <p:nvPr>
            <p:ph idx="1"/>
          </p:nvPr>
        </p:nvSpPr>
        <p:spPr/>
        <p:txBody>
          <a:bodyPr>
            <a:normAutofit fontScale="25000" lnSpcReduction="20000"/>
          </a:bodyPr>
          <a:lstStyle/>
          <a:p>
            <a:pPr marL="0" indent="0">
              <a:buNone/>
            </a:pPr>
            <a:r>
              <a:rPr lang="fr-CA" sz="8000" cap="small" dirty="0"/>
              <a:t>Contacts</a:t>
            </a:r>
            <a:endParaRPr lang="fr-FR" sz="8000" dirty="0"/>
          </a:p>
          <a:p>
            <a:pPr marL="0" indent="0">
              <a:buNone/>
            </a:pPr>
            <a:endParaRPr lang="fr-CA" sz="8000" u="dotted" dirty="0"/>
          </a:p>
          <a:p>
            <a:pPr marL="0" indent="0">
              <a:buNone/>
            </a:pPr>
            <a:r>
              <a:rPr lang="fr-CA" sz="8000" u="dotted" dirty="0"/>
              <a:t>Caractère identifiable</a:t>
            </a:r>
            <a:endParaRPr lang="fr-FR" sz="8000" dirty="0"/>
          </a:p>
          <a:p>
            <a:r>
              <a:rPr lang="fr-CA" sz="8000" dirty="0"/>
              <a:t>Ces contacts ne sont pas séparables du Cirque et susceptibles d'être vendus.</a:t>
            </a:r>
            <a:endParaRPr lang="fr-FR" sz="8000" dirty="0"/>
          </a:p>
          <a:p>
            <a:r>
              <a:rPr lang="fr-CA" sz="8000" dirty="0"/>
              <a:t>Ces contacts ne résultent pas de droits contractuels ou d'autres droits légaux. </a:t>
            </a:r>
            <a:endParaRPr lang="fr-FR" sz="8000" dirty="0"/>
          </a:p>
          <a:p>
            <a:r>
              <a:rPr lang="fr-CA" sz="8000" dirty="0"/>
              <a:t>Les personnes ont fait preuve d’intérêt. Rien n’a été signé Tout reste à faire avant qu’on soit en mesure d’identifier des avantages futurs concrets.</a:t>
            </a:r>
          </a:p>
          <a:p>
            <a:pPr marL="0" indent="0">
              <a:buNone/>
            </a:pPr>
            <a:endParaRPr lang="fr-FR" sz="8000" dirty="0"/>
          </a:p>
          <a:p>
            <a:pPr marL="0" indent="0">
              <a:buNone/>
            </a:pPr>
            <a:r>
              <a:rPr lang="fr-CA" sz="8000" cap="small" dirty="0"/>
              <a:t>Conclusion</a:t>
            </a:r>
            <a:endParaRPr lang="fr-FR" sz="8000" dirty="0"/>
          </a:p>
          <a:p>
            <a:pPr marL="0" indent="0">
              <a:buNone/>
            </a:pPr>
            <a:r>
              <a:rPr lang="fr-CA" sz="8000" dirty="0"/>
              <a:t>La participation au festival peut être associée à de la publicité. Les sommes dépensées ne sont pas des actifs mais des </a:t>
            </a:r>
            <a:r>
              <a:rPr lang="fr-CA" sz="8000" b="1" dirty="0"/>
              <a:t>charges de l’exercice</a:t>
            </a:r>
            <a:r>
              <a:rPr lang="fr-CA" sz="8000" dirty="0"/>
              <a:t> au cours duquel elles sont engagées.</a:t>
            </a:r>
            <a:endParaRPr lang="fr-FR" sz="8000" dirty="0"/>
          </a:p>
          <a:p>
            <a:pPr marL="0" indent="0">
              <a:buNone/>
            </a:pPr>
            <a:r>
              <a:rPr lang="fr-CA" sz="8000" dirty="0"/>
              <a:t> </a:t>
            </a:r>
            <a:endParaRPr lang="fr-FR" sz="8000" dirty="0"/>
          </a:p>
          <a:p>
            <a:pPr marL="0" indent="0">
              <a:buNone/>
            </a:pPr>
            <a:endParaRPr lang="fr-FR" sz="8000" dirty="0"/>
          </a:p>
        </p:txBody>
      </p:sp>
    </p:spTree>
    <p:extLst>
      <p:ext uri="{BB962C8B-B14F-4D97-AF65-F5344CB8AC3E}">
        <p14:creationId xmlns:p14="http://schemas.microsoft.com/office/powerpoint/2010/main" val="339165245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04B9E5-5CFB-47F8-8099-FCC312A3D1A0}"/>
              </a:ext>
            </a:extLst>
          </p:cNvPr>
          <p:cNvSpPr>
            <a:spLocks noGrp="1"/>
          </p:cNvSpPr>
          <p:nvPr>
            <p:ph type="title"/>
          </p:nvPr>
        </p:nvSpPr>
        <p:spPr/>
        <p:txBody>
          <a:bodyPr>
            <a:normAutofit/>
          </a:bodyPr>
          <a:lstStyle/>
          <a:p>
            <a:r>
              <a:rPr lang="fr-CA" sz="3200" b="1" dirty="0"/>
              <a:t>7- Capitalisation de certaines dépenses</a:t>
            </a:r>
            <a:endParaRPr lang="fr-FR" sz="3200" b="1" dirty="0"/>
          </a:p>
        </p:txBody>
      </p:sp>
      <p:sp>
        <p:nvSpPr>
          <p:cNvPr id="3" name="Espace réservé du contenu 2">
            <a:extLst>
              <a:ext uri="{FF2B5EF4-FFF2-40B4-BE49-F238E27FC236}">
                <a16:creationId xmlns:a16="http://schemas.microsoft.com/office/drawing/2014/main" id="{C05B19FF-C294-4E7F-A8F2-32204C8C5A52}"/>
              </a:ext>
            </a:extLst>
          </p:cNvPr>
          <p:cNvSpPr>
            <a:spLocks noGrp="1"/>
          </p:cNvSpPr>
          <p:nvPr>
            <p:ph idx="1"/>
          </p:nvPr>
        </p:nvSpPr>
        <p:spPr/>
        <p:txBody>
          <a:bodyPr>
            <a:normAutofit fontScale="25000" lnSpcReduction="20000"/>
          </a:bodyPr>
          <a:lstStyle/>
          <a:p>
            <a:pPr marL="0" indent="0">
              <a:buNone/>
            </a:pPr>
            <a:r>
              <a:rPr lang="fr-FR" sz="8000" cap="small" dirty="0"/>
              <a:t>Développement de tissus interactifs</a:t>
            </a:r>
            <a:endParaRPr lang="fr-FR" sz="8000" dirty="0"/>
          </a:p>
          <a:p>
            <a:pPr marL="0" indent="0">
              <a:buNone/>
            </a:pPr>
            <a:r>
              <a:rPr lang="fr-CA" sz="8000" dirty="0"/>
              <a:t> </a:t>
            </a:r>
            <a:endParaRPr lang="fr-FR" sz="8000" dirty="0"/>
          </a:p>
          <a:p>
            <a:pPr marL="0" indent="0">
              <a:buNone/>
            </a:pPr>
            <a:r>
              <a:rPr lang="fr-CA" sz="8000" b="1" cap="small" dirty="0"/>
              <a:t>Problématique</a:t>
            </a:r>
            <a:endParaRPr lang="fr-FR" sz="8000" dirty="0"/>
          </a:p>
          <a:p>
            <a:pPr marL="0" indent="0">
              <a:buNone/>
            </a:pPr>
            <a:r>
              <a:rPr lang="fr-CA" sz="8000" dirty="0"/>
              <a:t>Le Cirque a mandaté un chercheur pour mettre au point des tissus interactifs. L’investissement s’élève à 388 500 $. Ces coûts sont comptabilisés au bilan dans un compte de Frais reportés.</a:t>
            </a:r>
            <a:endParaRPr lang="fr-FR" sz="8000" dirty="0"/>
          </a:p>
          <a:p>
            <a:pPr marL="0" indent="0">
              <a:buNone/>
            </a:pPr>
            <a:r>
              <a:rPr lang="fr-CA" sz="8000" dirty="0"/>
              <a:t>Quelle est la nature des coûts engagés : des coûts de recherche ou des coûts de développement?</a:t>
            </a:r>
            <a:endParaRPr lang="fr-FR" sz="8000" dirty="0"/>
          </a:p>
          <a:p>
            <a:pPr marL="0" indent="0">
              <a:buNone/>
            </a:pPr>
            <a:r>
              <a:rPr lang="fr-CA" sz="8000" dirty="0"/>
              <a:t> </a:t>
            </a:r>
            <a:endParaRPr lang="fr-FR" sz="8000" dirty="0"/>
          </a:p>
          <a:p>
            <a:pPr marL="0" indent="0">
              <a:buNone/>
            </a:pPr>
            <a:r>
              <a:rPr lang="fr-CA" sz="8000" cap="small" dirty="0"/>
              <a:t>Analyse</a:t>
            </a:r>
            <a:endParaRPr lang="fr-FR" sz="8000" cap="small" dirty="0"/>
          </a:p>
          <a:p>
            <a:pPr marL="0" indent="0">
              <a:buNone/>
            </a:pPr>
            <a:r>
              <a:rPr lang="fr-CA" sz="8000" dirty="0"/>
              <a:t>Pour déterminer le traitement comptable des sommes dépensées dans ce projet, je dois déterminer s’ils satisfont à tous les critères qui caractérisent la phase de développement.</a:t>
            </a:r>
            <a:endParaRPr lang="fr-FR" sz="8000" dirty="0"/>
          </a:p>
          <a:p>
            <a:pPr marL="0" indent="0">
              <a:buNone/>
            </a:pPr>
            <a:r>
              <a:rPr lang="fr-CA" sz="8000" dirty="0"/>
              <a:t> </a:t>
            </a:r>
            <a:endParaRPr lang="fr-FR" sz="8000" dirty="0"/>
          </a:p>
          <a:p>
            <a:pPr marL="0" indent="0">
              <a:buNone/>
            </a:pPr>
            <a:endParaRPr lang="fr-FR" sz="8000" dirty="0"/>
          </a:p>
        </p:txBody>
      </p:sp>
    </p:spTree>
    <p:extLst>
      <p:ext uri="{BB962C8B-B14F-4D97-AF65-F5344CB8AC3E}">
        <p14:creationId xmlns:p14="http://schemas.microsoft.com/office/powerpoint/2010/main" val="77641361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04B9E5-5CFB-47F8-8099-FCC312A3D1A0}"/>
              </a:ext>
            </a:extLst>
          </p:cNvPr>
          <p:cNvSpPr>
            <a:spLocks noGrp="1"/>
          </p:cNvSpPr>
          <p:nvPr>
            <p:ph type="title"/>
          </p:nvPr>
        </p:nvSpPr>
        <p:spPr/>
        <p:txBody>
          <a:bodyPr>
            <a:normAutofit/>
          </a:bodyPr>
          <a:lstStyle/>
          <a:p>
            <a:r>
              <a:rPr lang="fr-CA" sz="3200" b="1" dirty="0"/>
              <a:t>7- Capitalisation de certaines dépenses</a:t>
            </a:r>
            <a:endParaRPr lang="fr-FR" sz="3200" b="1" dirty="0"/>
          </a:p>
        </p:txBody>
      </p:sp>
      <p:sp>
        <p:nvSpPr>
          <p:cNvPr id="3" name="Espace réservé du contenu 2">
            <a:extLst>
              <a:ext uri="{FF2B5EF4-FFF2-40B4-BE49-F238E27FC236}">
                <a16:creationId xmlns:a16="http://schemas.microsoft.com/office/drawing/2014/main" id="{C05B19FF-C294-4E7F-A8F2-32204C8C5A52}"/>
              </a:ext>
            </a:extLst>
          </p:cNvPr>
          <p:cNvSpPr>
            <a:spLocks noGrp="1"/>
          </p:cNvSpPr>
          <p:nvPr>
            <p:ph idx="1"/>
          </p:nvPr>
        </p:nvSpPr>
        <p:spPr/>
        <p:txBody>
          <a:bodyPr>
            <a:normAutofit fontScale="25000" lnSpcReduction="20000"/>
          </a:bodyPr>
          <a:lstStyle/>
          <a:p>
            <a:pPr marL="0" indent="0">
              <a:buNone/>
            </a:pPr>
            <a:r>
              <a:rPr lang="fr-FR" sz="8000" cap="small" dirty="0"/>
              <a:t>Développement de tissus interactifs</a:t>
            </a:r>
            <a:endParaRPr lang="fr-FR" sz="8000" dirty="0"/>
          </a:p>
          <a:p>
            <a:pPr marL="0" indent="0">
              <a:buNone/>
            </a:pPr>
            <a:r>
              <a:rPr lang="fr-CA" sz="8000" dirty="0"/>
              <a:t> </a:t>
            </a:r>
            <a:r>
              <a:rPr lang="fr-CA" sz="8000" dirty="0">
                <a:solidFill>
                  <a:srgbClr val="00B0F0"/>
                </a:solidFill>
              </a:rPr>
              <a:t>Idéalement, mettre les critères de IAS 38, et commenter en appliquant au cas</a:t>
            </a:r>
            <a:endParaRPr lang="fr-FR" sz="8000" dirty="0"/>
          </a:p>
          <a:p>
            <a:r>
              <a:rPr lang="fr-CA" sz="8000" dirty="0"/>
              <a:t>La faisabilité technique de l'achèvement de la technologie en vue de sa mise en service dans un spectacle a été </a:t>
            </a:r>
            <a:r>
              <a:rPr lang="fr-CA" sz="8000" b="1" dirty="0"/>
              <a:t>établie en novembre 2024</a:t>
            </a:r>
            <a:r>
              <a:rPr lang="fr-CA" sz="8000" dirty="0"/>
              <a:t> après que la cause de la mauvaise répartition de la couleur ait été détectée. </a:t>
            </a:r>
            <a:r>
              <a:rPr lang="fr-CA" sz="8000" b="1" dirty="0"/>
              <a:t>Critère respecté.</a:t>
            </a:r>
            <a:endParaRPr lang="fr-FR" sz="8000" dirty="0"/>
          </a:p>
          <a:p>
            <a:r>
              <a:rPr lang="fr-CA" sz="8000" dirty="0"/>
              <a:t>Les cinq actionnaires ont signifié clairement leur intention d'achever cette technologie et de la mettre en service. </a:t>
            </a:r>
            <a:r>
              <a:rPr lang="fr-CA" sz="8000" b="1" dirty="0"/>
              <a:t>Critère respecté. Décision prise de poursuivre.</a:t>
            </a:r>
            <a:endParaRPr lang="fr-FR" sz="8000" dirty="0"/>
          </a:p>
          <a:p>
            <a:r>
              <a:rPr lang="fr-CA" sz="8000" dirty="0"/>
              <a:t>Rien n’indique que le Cirque n’ait pas la capacité à mettre en service la technologie. Ils ont des liquidités plus que suffisantes. </a:t>
            </a:r>
            <a:r>
              <a:rPr lang="fr-CA" sz="8000" b="1" dirty="0"/>
              <a:t>Critère respecté.</a:t>
            </a:r>
            <a:endParaRPr lang="fr-FR" sz="8000" dirty="0"/>
          </a:p>
          <a:p>
            <a:r>
              <a:rPr lang="fr-CA" sz="8000" dirty="0"/>
              <a:t>La façon dont l'immobilisation incorporelle générera des avantages économiques futurs probables. </a:t>
            </a:r>
            <a:r>
              <a:rPr lang="fr-CA" sz="8000" b="1" dirty="0"/>
              <a:t>Critère non respecté</a:t>
            </a:r>
            <a:r>
              <a:rPr lang="fr-CA" sz="8000" dirty="0"/>
              <a:t>. Aucune information que permettra d’augmenter le prix des billets ou d’en vendre plus</a:t>
            </a:r>
            <a:endParaRPr lang="fr-FR" sz="8000" dirty="0"/>
          </a:p>
          <a:p>
            <a:r>
              <a:rPr lang="fr-CA" sz="8000" dirty="0"/>
              <a:t>Le Cirque dispose des ressources techniques, financières et autres, appropriées pour achever le développement et mettre en service l'immobilisation incorporelle. </a:t>
            </a:r>
            <a:r>
              <a:rPr lang="fr-CA" sz="8000" b="1" dirty="0"/>
              <a:t>Critère respecté</a:t>
            </a:r>
            <a:r>
              <a:rPr lang="fr-CA" sz="8000" dirty="0"/>
              <a:t>. </a:t>
            </a:r>
            <a:endParaRPr lang="fr-FR" sz="8000" dirty="0"/>
          </a:p>
          <a:p>
            <a:r>
              <a:rPr lang="fr-CA" sz="8000" dirty="0"/>
              <a:t>Le Cirque a établi une ventilation qui permet de croire qu’il peut évaluer de façon fiable les dépenses attribuables à l'immobilisation incorporelle au cours de son développement. </a:t>
            </a:r>
            <a:r>
              <a:rPr lang="fr-CA" sz="8000" b="1" dirty="0"/>
              <a:t>Critère respecté.</a:t>
            </a:r>
            <a:endParaRPr lang="fr-FR" sz="8000" dirty="0"/>
          </a:p>
          <a:p>
            <a:pPr marL="0" indent="0">
              <a:buNone/>
            </a:pPr>
            <a:r>
              <a:rPr lang="fr-CA" sz="8000" dirty="0"/>
              <a:t> </a:t>
            </a:r>
            <a:endParaRPr lang="fr-FR" sz="8000" dirty="0"/>
          </a:p>
          <a:p>
            <a:pPr marL="0" indent="0">
              <a:buNone/>
            </a:pPr>
            <a:endParaRPr lang="fr-FR" sz="8000" dirty="0"/>
          </a:p>
        </p:txBody>
      </p:sp>
    </p:spTree>
    <p:extLst>
      <p:ext uri="{BB962C8B-B14F-4D97-AF65-F5344CB8AC3E}">
        <p14:creationId xmlns:p14="http://schemas.microsoft.com/office/powerpoint/2010/main" val="418629610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04B9E5-5CFB-47F8-8099-FCC312A3D1A0}"/>
              </a:ext>
            </a:extLst>
          </p:cNvPr>
          <p:cNvSpPr>
            <a:spLocks noGrp="1"/>
          </p:cNvSpPr>
          <p:nvPr>
            <p:ph type="title"/>
          </p:nvPr>
        </p:nvSpPr>
        <p:spPr/>
        <p:txBody>
          <a:bodyPr>
            <a:normAutofit/>
          </a:bodyPr>
          <a:lstStyle/>
          <a:p>
            <a:r>
              <a:rPr lang="fr-CA" sz="3200" b="1" dirty="0"/>
              <a:t>7- Capitalisation de certaines dépenses</a:t>
            </a:r>
            <a:endParaRPr lang="fr-FR" sz="3200" b="1" dirty="0"/>
          </a:p>
        </p:txBody>
      </p:sp>
      <p:sp>
        <p:nvSpPr>
          <p:cNvPr id="3" name="Espace réservé du contenu 2">
            <a:extLst>
              <a:ext uri="{FF2B5EF4-FFF2-40B4-BE49-F238E27FC236}">
                <a16:creationId xmlns:a16="http://schemas.microsoft.com/office/drawing/2014/main" id="{C05B19FF-C294-4E7F-A8F2-32204C8C5A52}"/>
              </a:ext>
            </a:extLst>
          </p:cNvPr>
          <p:cNvSpPr>
            <a:spLocks noGrp="1"/>
          </p:cNvSpPr>
          <p:nvPr>
            <p:ph idx="1"/>
          </p:nvPr>
        </p:nvSpPr>
        <p:spPr/>
        <p:txBody>
          <a:bodyPr>
            <a:normAutofit/>
          </a:bodyPr>
          <a:lstStyle/>
          <a:p>
            <a:pPr marL="0" indent="0">
              <a:buNone/>
            </a:pPr>
            <a:r>
              <a:rPr lang="fr-FR" sz="2000" cap="small" dirty="0"/>
              <a:t>Développement de tissus interactifs</a:t>
            </a:r>
            <a:endParaRPr lang="fr-FR" sz="2000" dirty="0"/>
          </a:p>
          <a:p>
            <a:pPr marL="0" indent="0">
              <a:buNone/>
            </a:pPr>
            <a:r>
              <a:rPr lang="fr-CA" sz="2000" dirty="0"/>
              <a:t>  </a:t>
            </a:r>
            <a:endParaRPr lang="fr-FR" sz="2000" dirty="0"/>
          </a:p>
          <a:p>
            <a:pPr marL="0" indent="0">
              <a:buNone/>
            </a:pPr>
            <a:r>
              <a:rPr lang="fr-CA" sz="2000" cap="small" dirty="0"/>
              <a:t>Conclusion</a:t>
            </a:r>
            <a:endParaRPr lang="fr-FR" sz="2000" dirty="0"/>
          </a:p>
          <a:p>
            <a:pPr marL="0" indent="0">
              <a:buNone/>
            </a:pPr>
            <a:r>
              <a:rPr lang="fr-CA" sz="2000" dirty="0"/>
              <a:t>Les six critères justifiant la capitalisation des coûts de développement ne sont pas tous respectés. On ne peut capitaliser ces coûts.</a:t>
            </a:r>
          </a:p>
          <a:p>
            <a:pPr marL="0" indent="0">
              <a:buNone/>
            </a:pPr>
            <a:endParaRPr lang="fr-CA" sz="2000" cap="small" dirty="0"/>
          </a:p>
          <a:p>
            <a:pPr marL="0" indent="0">
              <a:buNone/>
            </a:pPr>
            <a:r>
              <a:rPr lang="fr-CA" sz="2000" cap="small" dirty="0"/>
              <a:t>Mesure</a:t>
            </a:r>
            <a:endParaRPr lang="fr-FR" sz="2000" dirty="0"/>
          </a:p>
          <a:p>
            <a:pPr marL="0" indent="0">
              <a:buNone/>
            </a:pPr>
            <a:r>
              <a:rPr lang="fr-CA" sz="2000" dirty="0"/>
              <a:t>Les coûts de recherche et de développement s’élevant à 388 500 $ doivent être présentés en charge.</a:t>
            </a:r>
          </a:p>
          <a:p>
            <a:pPr marL="0" indent="0">
              <a:buNone/>
            </a:pPr>
            <a:endParaRPr lang="fr-FR" sz="2600" dirty="0"/>
          </a:p>
          <a:p>
            <a:pPr marL="0" indent="0">
              <a:buNone/>
            </a:pPr>
            <a:endParaRPr lang="fr-FR" sz="8000" dirty="0"/>
          </a:p>
        </p:txBody>
      </p:sp>
    </p:spTree>
    <p:extLst>
      <p:ext uri="{BB962C8B-B14F-4D97-AF65-F5344CB8AC3E}">
        <p14:creationId xmlns:p14="http://schemas.microsoft.com/office/powerpoint/2010/main" val="203940650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04B9E5-5CFB-47F8-8099-FCC312A3D1A0}"/>
              </a:ext>
            </a:extLst>
          </p:cNvPr>
          <p:cNvSpPr>
            <a:spLocks noGrp="1"/>
          </p:cNvSpPr>
          <p:nvPr>
            <p:ph type="title"/>
          </p:nvPr>
        </p:nvSpPr>
        <p:spPr/>
        <p:txBody>
          <a:bodyPr>
            <a:normAutofit/>
          </a:bodyPr>
          <a:lstStyle/>
          <a:p>
            <a:r>
              <a:rPr lang="fr-CA" sz="3200" b="1" dirty="0"/>
              <a:t>7- Capitalisation de certaines dépenses</a:t>
            </a:r>
            <a:endParaRPr lang="fr-FR" sz="3200" b="1" dirty="0"/>
          </a:p>
        </p:txBody>
      </p:sp>
      <p:sp>
        <p:nvSpPr>
          <p:cNvPr id="3" name="Espace réservé du contenu 2">
            <a:extLst>
              <a:ext uri="{FF2B5EF4-FFF2-40B4-BE49-F238E27FC236}">
                <a16:creationId xmlns:a16="http://schemas.microsoft.com/office/drawing/2014/main" id="{C05B19FF-C294-4E7F-A8F2-32204C8C5A52}"/>
              </a:ext>
            </a:extLst>
          </p:cNvPr>
          <p:cNvSpPr>
            <a:spLocks noGrp="1"/>
          </p:cNvSpPr>
          <p:nvPr>
            <p:ph idx="1"/>
          </p:nvPr>
        </p:nvSpPr>
        <p:spPr/>
        <p:txBody>
          <a:bodyPr>
            <a:normAutofit/>
          </a:bodyPr>
          <a:lstStyle/>
          <a:p>
            <a:pPr marL="0" indent="0">
              <a:buNone/>
            </a:pPr>
            <a:r>
              <a:rPr lang="fr-FR" sz="3600" cap="small" dirty="0"/>
              <a:t>Développement de tissus interactifs</a:t>
            </a:r>
            <a:endParaRPr lang="fr-FR" sz="3600" dirty="0"/>
          </a:p>
          <a:p>
            <a:pPr marL="0" indent="0">
              <a:buNone/>
            </a:pPr>
            <a:r>
              <a:rPr lang="fr-CA" sz="3600" dirty="0"/>
              <a:t>  </a:t>
            </a:r>
            <a:endParaRPr lang="fr-FR" sz="3600" dirty="0"/>
          </a:p>
          <a:p>
            <a:pPr marL="0" indent="0">
              <a:buNone/>
            </a:pPr>
            <a:r>
              <a:rPr lang="fr-CA" sz="2000" dirty="0"/>
              <a:t>Il faudra redresser les EF comparatifs. Je propose les écritures qui suivent :</a:t>
            </a:r>
            <a:endParaRPr lang="fr-FR" sz="2000" dirty="0"/>
          </a:p>
          <a:p>
            <a:pPr marL="0" indent="0">
              <a:buNone/>
            </a:pPr>
            <a:r>
              <a:rPr lang="fr-CA" sz="2000" b="1" cap="small" dirty="0"/>
              <a:t>Pour l’exercice 2024</a:t>
            </a:r>
            <a:endParaRPr lang="fr-FR" sz="2000" dirty="0"/>
          </a:p>
          <a:p>
            <a:pPr marL="0" indent="0">
              <a:buNone/>
            </a:pPr>
            <a:r>
              <a:rPr lang="fr-CA" sz="2000" dirty="0"/>
              <a:t>Charges - frais développement – tissus interactifs 		90 000$</a:t>
            </a:r>
            <a:endParaRPr lang="fr-FR" sz="2000" dirty="0"/>
          </a:p>
          <a:p>
            <a:pPr marL="0" indent="0">
              <a:buNone/>
            </a:pPr>
            <a:r>
              <a:rPr lang="fr-CA" sz="2000" dirty="0"/>
              <a:t>@ Frais reportés							90 000 $</a:t>
            </a:r>
            <a:endParaRPr lang="fr-FR" sz="2000" dirty="0"/>
          </a:p>
          <a:p>
            <a:pPr marL="0" indent="0">
              <a:buNone/>
            </a:pPr>
            <a:r>
              <a:rPr lang="fr-CA" sz="2000" dirty="0"/>
              <a:t> </a:t>
            </a:r>
            <a:endParaRPr lang="fr-FR" sz="2000" dirty="0"/>
          </a:p>
          <a:p>
            <a:pPr marL="0" indent="0">
              <a:buNone/>
            </a:pPr>
            <a:r>
              <a:rPr lang="fr-CA" sz="2000" dirty="0"/>
              <a:t>Charges – frais de recherche				298 500</a:t>
            </a:r>
            <a:endParaRPr lang="fr-FR" sz="2000" dirty="0"/>
          </a:p>
          <a:p>
            <a:pPr marL="0" indent="0">
              <a:buNone/>
            </a:pPr>
            <a:r>
              <a:rPr lang="fr-CA" sz="2000" dirty="0"/>
              <a:t>@ Frais reportés							298 500</a:t>
            </a:r>
            <a:endParaRPr lang="fr-FR" sz="2000" dirty="0"/>
          </a:p>
          <a:p>
            <a:pPr marL="0" indent="0">
              <a:buNone/>
            </a:pPr>
            <a:endParaRPr lang="fr-FR" sz="2000" dirty="0"/>
          </a:p>
          <a:p>
            <a:pPr marL="0" indent="0">
              <a:buNone/>
            </a:pPr>
            <a:endParaRPr lang="fr-FR" sz="8000" dirty="0"/>
          </a:p>
          <a:p>
            <a:pPr marL="0" indent="0">
              <a:buNone/>
            </a:pPr>
            <a:endParaRPr lang="fr-FR" sz="8000" dirty="0"/>
          </a:p>
        </p:txBody>
      </p:sp>
    </p:spTree>
    <p:extLst>
      <p:ext uri="{BB962C8B-B14F-4D97-AF65-F5344CB8AC3E}">
        <p14:creationId xmlns:p14="http://schemas.microsoft.com/office/powerpoint/2010/main" val="296131957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04B9E5-5CFB-47F8-8099-FCC312A3D1A0}"/>
              </a:ext>
            </a:extLst>
          </p:cNvPr>
          <p:cNvSpPr>
            <a:spLocks noGrp="1"/>
          </p:cNvSpPr>
          <p:nvPr>
            <p:ph type="title"/>
          </p:nvPr>
        </p:nvSpPr>
        <p:spPr/>
        <p:txBody>
          <a:bodyPr>
            <a:normAutofit/>
          </a:bodyPr>
          <a:lstStyle/>
          <a:p>
            <a:r>
              <a:rPr lang="fr-CA" sz="3200" b="1" dirty="0"/>
              <a:t>8- Capitalisation de certaines dépenses</a:t>
            </a:r>
            <a:endParaRPr lang="fr-FR" sz="3200" b="1" dirty="0"/>
          </a:p>
        </p:txBody>
      </p:sp>
      <p:sp>
        <p:nvSpPr>
          <p:cNvPr id="3" name="Espace réservé du contenu 2">
            <a:extLst>
              <a:ext uri="{FF2B5EF4-FFF2-40B4-BE49-F238E27FC236}">
                <a16:creationId xmlns:a16="http://schemas.microsoft.com/office/drawing/2014/main" id="{C05B19FF-C294-4E7F-A8F2-32204C8C5A52}"/>
              </a:ext>
            </a:extLst>
          </p:cNvPr>
          <p:cNvSpPr>
            <a:spLocks noGrp="1"/>
          </p:cNvSpPr>
          <p:nvPr>
            <p:ph idx="1"/>
          </p:nvPr>
        </p:nvSpPr>
        <p:spPr/>
        <p:txBody>
          <a:bodyPr>
            <a:normAutofit fontScale="85000" lnSpcReduction="20000"/>
          </a:bodyPr>
          <a:lstStyle/>
          <a:p>
            <a:pPr marL="0" indent="0">
              <a:buNone/>
            </a:pPr>
            <a:r>
              <a:rPr lang="fr-FR" cap="small" dirty="0"/>
              <a:t>Développement de tissus interactifs</a:t>
            </a:r>
            <a:endParaRPr lang="fr-FR" dirty="0"/>
          </a:p>
          <a:p>
            <a:pPr marL="0" indent="0">
              <a:buNone/>
            </a:pPr>
            <a:r>
              <a:rPr lang="fr-CA" dirty="0"/>
              <a:t>  </a:t>
            </a:r>
            <a:endParaRPr lang="fr-FR" dirty="0"/>
          </a:p>
          <a:p>
            <a:pPr marL="0" indent="0">
              <a:buNone/>
            </a:pPr>
            <a:r>
              <a:rPr lang="fr-CA" cap="small" dirty="0"/>
              <a:t>Conclusion</a:t>
            </a:r>
            <a:endParaRPr lang="fr-FR" dirty="0"/>
          </a:p>
          <a:p>
            <a:pPr marL="0" indent="0">
              <a:buNone/>
            </a:pPr>
            <a:r>
              <a:rPr lang="fr-CA" dirty="0"/>
              <a:t>Lee </a:t>
            </a:r>
            <a:r>
              <a:rPr lang="fr-CA" b="1" dirty="0"/>
              <a:t>coûts de recherche</a:t>
            </a:r>
            <a:r>
              <a:rPr lang="fr-CA" dirty="0"/>
              <a:t> et de </a:t>
            </a:r>
            <a:r>
              <a:rPr lang="fr-CA" b="1" dirty="0"/>
              <a:t>développement</a:t>
            </a:r>
            <a:r>
              <a:rPr lang="fr-CA" dirty="0"/>
              <a:t> sont des charges de l’exercice au cours duquel ils sont engagés. Ils s’élèvent à 388 500 $. Si les cinq actionnaires décidaient de poursuivre le projet plus tard, le traitement de ces coûts engagés à ce jour ne sera pas revu.</a:t>
            </a:r>
            <a:endParaRPr lang="fr-FR" dirty="0"/>
          </a:p>
          <a:p>
            <a:pPr marL="0" indent="0">
              <a:buNone/>
            </a:pPr>
            <a:r>
              <a:rPr lang="fr-CA" sz="8000" dirty="0"/>
              <a:t> </a:t>
            </a:r>
            <a:endParaRPr lang="fr-FR" sz="8000" dirty="0"/>
          </a:p>
          <a:p>
            <a:pPr marL="0" indent="0">
              <a:buNone/>
            </a:pPr>
            <a:r>
              <a:rPr lang="fr-CA" sz="8000" dirty="0"/>
              <a:t> </a:t>
            </a:r>
            <a:endParaRPr lang="fr-FR" sz="8000" dirty="0"/>
          </a:p>
          <a:p>
            <a:pPr marL="0" indent="0">
              <a:buNone/>
            </a:pPr>
            <a:endParaRPr lang="fr-FR" sz="8000" dirty="0"/>
          </a:p>
        </p:txBody>
      </p:sp>
    </p:spTree>
    <p:extLst>
      <p:ext uri="{BB962C8B-B14F-4D97-AF65-F5344CB8AC3E}">
        <p14:creationId xmlns:p14="http://schemas.microsoft.com/office/powerpoint/2010/main" val="38993089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1021</TotalTime>
  <Words>10393</Words>
  <Application>Microsoft Office PowerPoint</Application>
  <PresentationFormat>Grand écran</PresentationFormat>
  <Paragraphs>798</Paragraphs>
  <Slides>79</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79</vt:i4>
      </vt:variant>
    </vt:vector>
  </HeadingPairs>
  <TitlesOfParts>
    <vt:vector size="85" baseType="lpstr">
      <vt:lpstr>Arial</vt:lpstr>
      <vt:lpstr>Calibri</vt:lpstr>
      <vt:lpstr>Calibri Light</vt:lpstr>
      <vt:lpstr>Verdana</vt:lpstr>
      <vt:lpstr>Wingdings</vt:lpstr>
      <vt:lpstr>Thème Office</vt:lpstr>
      <vt:lpstr>40938 Cas : Cirque des 5</vt:lpstr>
      <vt:lpstr>Notes en lien avec les parties prenantes</vt:lpstr>
      <vt:lpstr>EFC</vt:lpstr>
      <vt:lpstr>1. Annulation des représentations du spectacle Versailles ou La reine qui dansait </vt:lpstr>
      <vt:lpstr>Annulation des représentations du spectacle Versailles ou La reine qui dansait </vt:lpstr>
      <vt:lpstr>Annulation des représentations du spectacle Versailles ou La reine qui dansait </vt:lpstr>
      <vt:lpstr>Annulation des représentations du spectacle Versailles ou La reine qui dansait </vt:lpstr>
      <vt:lpstr>Annulation des représentations du spectacle Versailles ou La reine qui dansait </vt:lpstr>
      <vt:lpstr>Annulation des représentations du spectacle Versailles ou La reine qui dansait </vt:lpstr>
      <vt:lpstr>Annulation des représentations du spectacle Versailles ou La reine qui dansait </vt:lpstr>
      <vt:lpstr>2. Vente de droits</vt:lpstr>
      <vt:lpstr>2. Vente de droits</vt:lpstr>
      <vt:lpstr>2. Vente de droits</vt:lpstr>
      <vt:lpstr>2. Vente de droits</vt:lpstr>
      <vt:lpstr>2. Vente de droits</vt:lpstr>
      <vt:lpstr>2. Vente de droits</vt:lpstr>
      <vt:lpstr>2. Vente de droits</vt:lpstr>
      <vt:lpstr>2. Vente de droits</vt:lpstr>
      <vt:lpstr>2. Vente de droits</vt:lpstr>
      <vt:lpstr>2. Vente de droits</vt:lpstr>
      <vt:lpstr>2. Vente de droits</vt:lpstr>
      <vt:lpstr>2. Vente de droits</vt:lpstr>
      <vt:lpstr>2. Vente de droits</vt:lpstr>
      <vt:lpstr>2. Vente de droits</vt:lpstr>
      <vt:lpstr>3. Costumes</vt:lpstr>
      <vt:lpstr>4. Produits promotion Quinzième anniversaire</vt:lpstr>
      <vt:lpstr>4. Produits promotion Quinzième anniversaire</vt:lpstr>
      <vt:lpstr>4. Produits promotion Quinzième anniversaire</vt:lpstr>
      <vt:lpstr>4. Produits promotion Quinzième anniversaire</vt:lpstr>
      <vt:lpstr>4. Produits promotion Quinzième anniversaire</vt:lpstr>
      <vt:lpstr>4. Produits promotion Quinzième anniversaire</vt:lpstr>
      <vt:lpstr>4. Produits promotion Quinzième anniversaire</vt:lpstr>
      <vt:lpstr>4. Produits promotion Quinzième anniversaire</vt:lpstr>
      <vt:lpstr>4. Produits promotion Quinzième anniversaire</vt:lpstr>
      <vt:lpstr>4. Produits promotion Quinzième anniversaire</vt:lpstr>
      <vt:lpstr>4. Produits promotion Quinzième anniversaire</vt:lpstr>
      <vt:lpstr>4. Produits promotion Quinzième anniversaire</vt:lpstr>
      <vt:lpstr>4. Produits promotion Quinzième anniversaire</vt:lpstr>
      <vt:lpstr>4. Produits promotion Quinzième anniversaire</vt:lpstr>
      <vt:lpstr>5. Acquisition du Musée du rire</vt:lpstr>
      <vt:lpstr>5. Acquisition du Musée du rire</vt:lpstr>
      <vt:lpstr>5. Acquisition du Musée du rire</vt:lpstr>
      <vt:lpstr>5. Acquisition du Musée du rire</vt:lpstr>
      <vt:lpstr>5. Acquisition du Musée du rire</vt:lpstr>
      <vt:lpstr>5. Acquisition du Musée du rire</vt:lpstr>
      <vt:lpstr>5. Acquisition du Musée du rire</vt:lpstr>
      <vt:lpstr>5. Acquisition du Musée du rire</vt:lpstr>
      <vt:lpstr>5. Acquisition du Musée du rire</vt:lpstr>
      <vt:lpstr>5. Acquisition du Musée du rire</vt:lpstr>
      <vt:lpstr>5. Acquisition du Musée du rire</vt:lpstr>
      <vt:lpstr>5. Acquisition du Musée du rire</vt:lpstr>
      <vt:lpstr>5. Acquisition du Musée du rire</vt:lpstr>
      <vt:lpstr>5. Acquisition du Musée du rire</vt:lpstr>
      <vt:lpstr>5. Acquisition du Musée du rire</vt:lpstr>
      <vt:lpstr>6. Union Square Theatre</vt:lpstr>
      <vt:lpstr>6. Union Square Theatre</vt:lpstr>
      <vt:lpstr>6. Union Square Theatre</vt:lpstr>
      <vt:lpstr>6. Union Square Theatre</vt:lpstr>
      <vt:lpstr>6. Union Square Theatre</vt:lpstr>
      <vt:lpstr>6. Union Square Theatre</vt:lpstr>
      <vt:lpstr>6. Union Square Theatre</vt:lpstr>
      <vt:lpstr>6. Union Square Theatre</vt:lpstr>
      <vt:lpstr>6. Union Square Theatre</vt:lpstr>
      <vt:lpstr>6. Union Square Theatre</vt:lpstr>
      <vt:lpstr>6. Union Square Theatre</vt:lpstr>
      <vt:lpstr>6. Union Square Theatre</vt:lpstr>
      <vt:lpstr>6. Union Square Theatre</vt:lpstr>
      <vt:lpstr>6. Union Square Theatre</vt:lpstr>
      <vt:lpstr>6. Union Square Theatre</vt:lpstr>
      <vt:lpstr>6. Union Square Theatre</vt:lpstr>
      <vt:lpstr>7- Capitalisation de certaines dépenses</vt:lpstr>
      <vt:lpstr>7- Capitalisation de certaines dépenses</vt:lpstr>
      <vt:lpstr>7- Capitalisation de certaines dépenses</vt:lpstr>
      <vt:lpstr>7- Capitalisation de certaines dépenses</vt:lpstr>
      <vt:lpstr>7- Capitalisation de certaines dépenses</vt:lpstr>
      <vt:lpstr>7- Capitalisation de certaines dépenses</vt:lpstr>
      <vt:lpstr>7- Capitalisation de certaines dépenses</vt:lpstr>
      <vt:lpstr>7- Capitalisation de certaines dépenses</vt:lpstr>
      <vt:lpstr>8- Capitalisation de certaines dépenses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40938 Cas 4 : Cirque des 5</dc:title>
  <dc:creator>louise overbeek</dc:creator>
  <cp:lastModifiedBy>Louise Overbeek</cp:lastModifiedBy>
  <cp:revision>49</cp:revision>
  <dcterms:created xsi:type="dcterms:W3CDTF">2020-03-30T15:40:40Z</dcterms:created>
  <dcterms:modified xsi:type="dcterms:W3CDTF">2025-03-23T19:46:32Z</dcterms:modified>
</cp:coreProperties>
</file>