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5"/>
  </p:notesMasterIdLst>
  <p:sldIdLst>
    <p:sldId id="256" r:id="rId2"/>
    <p:sldId id="346" r:id="rId3"/>
    <p:sldId id="449" r:id="rId4"/>
    <p:sldId id="582" r:id="rId5"/>
    <p:sldId id="450" r:id="rId6"/>
    <p:sldId id="452" r:id="rId7"/>
    <p:sldId id="567" r:id="rId8"/>
    <p:sldId id="589" r:id="rId9"/>
    <p:sldId id="666" r:id="rId10"/>
    <p:sldId id="563" r:id="rId11"/>
    <p:sldId id="590" r:id="rId12"/>
    <p:sldId id="629" r:id="rId13"/>
    <p:sldId id="591" r:id="rId14"/>
    <p:sldId id="630" r:id="rId15"/>
    <p:sldId id="592" r:id="rId16"/>
    <p:sldId id="631" r:id="rId17"/>
    <p:sldId id="593" r:id="rId18"/>
    <p:sldId id="632" r:id="rId19"/>
    <p:sldId id="594" r:id="rId20"/>
    <p:sldId id="633" r:id="rId21"/>
    <p:sldId id="595" r:id="rId22"/>
    <p:sldId id="634" r:id="rId23"/>
    <p:sldId id="596" r:id="rId24"/>
    <p:sldId id="635" r:id="rId25"/>
    <p:sldId id="598" r:id="rId26"/>
    <p:sldId id="636" r:id="rId27"/>
    <p:sldId id="599" r:id="rId28"/>
    <p:sldId id="637" r:id="rId29"/>
    <p:sldId id="600" r:id="rId30"/>
    <p:sldId id="638" r:id="rId31"/>
    <p:sldId id="601" r:id="rId32"/>
    <p:sldId id="602" r:id="rId33"/>
    <p:sldId id="639" r:id="rId34"/>
    <p:sldId id="603" r:id="rId35"/>
    <p:sldId id="640" r:id="rId36"/>
    <p:sldId id="565" r:id="rId37"/>
    <p:sldId id="564" r:id="rId38"/>
    <p:sldId id="654" r:id="rId39"/>
    <p:sldId id="655" r:id="rId40"/>
    <p:sldId id="568" r:id="rId41"/>
    <p:sldId id="583" r:id="rId42"/>
    <p:sldId id="569" r:id="rId43"/>
    <p:sldId id="570" r:id="rId44"/>
    <p:sldId id="571" r:id="rId45"/>
    <p:sldId id="572" r:id="rId46"/>
    <p:sldId id="573" r:id="rId47"/>
    <p:sldId id="656" r:id="rId48"/>
    <p:sldId id="463" r:id="rId49"/>
    <p:sldId id="659" r:id="rId50"/>
    <p:sldId id="660" r:id="rId51"/>
    <p:sldId id="464" r:id="rId52"/>
    <p:sldId id="661" r:id="rId53"/>
    <p:sldId id="662" r:id="rId54"/>
    <p:sldId id="466" r:id="rId55"/>
    <p:sldId id="663" r:id="rId56"/>
    <p:sldId id="467" r:id="rId57"/>
    <p:sldId id="664" r:id="rId58"/>
    <p:sldId id="468" r:id="rId59"/>
    <p:sldId id="665" r:id="rId60"/>
    <p:sldId id="641" r:id="rId61"/>
    <p:sldId id="534" r:id="rId62"/>
    <p:sldId id="537" r:id="rId63"/>
    <p:sldId id="538" r:id="rId64"/>
    <p:sldId id="539" r:id="rId65"/>
    <p:sldId id="540" r:id="rId66"/>
    <p:sldId id="604" r:id="rId67"/>
    <p:sldId id="605" r:id="rId68"/>
    <p:sldId id="642" r:id="rId69"/>
    <p:sldId id="606" r:id="rId70"/>
    <p:sldId id="607" r:id="rId71"/>
    <p:sldId id="608" r:id="rId72"/>
    <p:sldId id="578" r:id="rId73"/>
    <p:sldId id="643" r:id="rId74"/>
    <p:sldId id="644" r:id="rId75"/>
    <p:sldId id="610" r:id="rId76"/>
    <p:sldId id="611" r:id="rId77"/>
    <p:sldId id="645" r:id="rId78"/>
    <p:sldId id="612" r:id="rId79"/>
    <p:sldId id="646" r:id="rId80"/>
    <p:sldId id="613" r:id="rId81"/>
    <p:sldId id="614" r:id="rId82"/>
    <p:sldId id="647" r:id="rId83"/>
    <p:sldId id="667" r:id="rId84"/>
    <p:sldId id="615" r:id="rId85"/>
    <p:sldId id="616" r:id="rId86"/>
    <p:sldId id="648" r:id="rId87"/>
    <p:sldId id="617" r:id="rId88"/>
    <p:sldId id="668" r:id="rId89"/>
    <p:sldId id="618" r:id="rId90"/>
    <p:sldId id="619" r:id="rId91"/>
    <p:sldId id="627" r:id="rId92"/>
    <p:sldId id="669" r:id="rId93"/>
    <p:sldId id="628" r:id="rId94"/>
    <p:sldId id="657" r:id="rId95"/>
    <p:sldId id="457" r:id="rId96"/>
    <p:sldId id="543" r:id="rId97"/>
    <p:sldId id="580" r:id="rId98"/>
    <p:sldId id="579" r:id="rId99"/>
    <p:sldId id="581" r:id="rId100"/>
    <p:sldId id="651" r:id="rId101"/>
    <p:sldId id="652" r:id="rId102"/>
    <p:sldId id="658" r:id="rId103"/>
    <p:sldId id="653" r:id="rId10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uise overbeek" initials="lo" lastIdx="1" clrIdx="0">
    <p:extLst>
      <p:ext uri="{19B8F6BF-5375-455C-9EA6-DF929625EA0E}">
        <p15:presenceInfo xmlns:p15="http://schemas.microsoft.com/office/powerpoint/2012/main" userId="S::louise.overbeek@hec.ca::5ffb9102-b48a-46c4-9734-67bf4ff917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0" d="100"/>
          <a:sy n="110" d="100"/>
        </p:scale>
        <p:origin x="4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00906-0882-442E-B1E5-3BAA39C38E14}" type="datetimeFigureOut">
              <a:rPr lang="fr-FR" smtClean="0"/>
              <a:t>29/03/2021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3AA92-844F-48ED-8580-3CE4B33FBCB4}" type="slidenum">
              <a:rPr lang="fr-FR" smtClean="0"/>
              <a:t>‹N°›</a:t>
            </a:fld>
            <a:endParaRPr lang="fr-FR"/>
          </a:p>
        </p:txBody>
      </p:sp>
    </p:spTree>
    <p:extLst>
      <p:ext uri="{BB962C8B-B14F-4D97-AF65-F5344CB8AC3E}">
        <p14:creationId xmlns:p14="http://schemas.microsoft.com/office/powerpoint/2010/main" val="4028114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dirty="0"/>
              <a:t>Réalisé</a:t>
            </a:r>
            <a:r>
              <a:rPr lang="fr-CA" baseline="0" dirty="0"/>
              <a:t> + réalisable</a:t>
            </a:r>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a:t>
            </a:fld>
            <a:endParaRPr lang="fr-CA"/>
          </a:p>
        </p:txBody>
      </p:sp>
    </p:spTree>
    <p:extLst>
      <p:ext uri="{BB962C8B-B14F-4D97-AF65-F5344CB8AC3E}">
        <p14:creationId xmlns:p14="http://schemas.microsoft.com/office/powerpoint/2010/main" val="142096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3600" dirty="0"/>
              <a:t>Risques et avantages inhérents à la propriété: jugés en fonction de la substance économique de l'accord de vente. </a:t>
            </a:r>
          </a:p>
          <a:p>
            <a:pPr lvl="1"/>
            <a:r>
              <a:rPr lang="fr-CA" sz="3200" dirty="0"/>
              <a:t>Risques: perte suite à incendie, vol, vandalisme, désuétude, change</a:t>
            </a:r>
          </a:p>
          <a:p>
            <a:pPr lvl="1"/>
            <a:r>
              <a:rPr lang="fr-CA" sz="3200" dirty="0"/>
              <a:t>Avantages: droit de vendre, d'échanger, de transférer, d'offrir en garantie d'emprunt et de louer.</a:t>
            </a:r>
          </a:p>
          <a:p>
            <a:endParaRPr lang="fr-CA" baseline="0" dirty="0"/>
          </a:p>
          <a:p>
            <a:r>
              <a:rPr lang="fr-CA" baseline="0" dirty="0"/>
              <a:t>Vente d’une auto par concessionnaire:</a:t>
            </a:r>
          </a:p>
          <a:p>
            <a:r>
              <a:rPr lang="fr-CA" dirty="0"/>
              <a:t>a) les risques et les avantages de la propriété ont été transférés à l’acheteur ; (b) le concessionnaire n’a plus de contrôle sur l’utilisation de la voiture ; (c) le montant du revenu est l’argent collecté (ou garanti dans le cas d’une location) ; et (d) le concessionnaire habituellement n’entraîne aucun coût supplémentaire à la suite de la vente.</a:t>
            </a:r>
          </a:p>
          <a:p>
            <a:pPr marL="0" indent="0">
              <a:buNone/>
            </a:pPr>
            <a:endParaRPr lang="fr-CA" sz="1200" dirty="0"/>
          </a:p>
          <a:p>
            <a:pPr marL="0" indent="0">
              <a:buNone/>
            </a:pPr>
            <a:r>
              <a:rPr lang="fr-CA" sz="1200" dirty="0"/>
              <a:t>Pas approprié de constater des produits :</a:t>
            </a:r>
          </a:p>
          <a:p>
            <a:pPr marL="171450" indent="-171450">
              <a:buFont typeface="Arial" panose="020B0604020202020204" pitchFamily="34" charset="0"/>
              <a:buChar char="•"/>
            </a:pPr>
            <a:r>
              <a:rPr lang="fr-CA" sz="1200" dirty="0"/>
              <a:t>lorsqu'il existe une responsabilité en cas de rendement insatisfaisant qui n'est pas couverte par les clauses de garantie normales;</a:t>
            </a:r>
          </a:p>
          <a:p>
            <a:pPr marL="171450" indent="-171450">
              <a:buFont typeface="Arial" panose="020B0604020202020204" pitchFamily="34" charset="0"/>
              <a:buChar char="•"/>
            </a:pPr>
            <a:r>
              <a:rPr lang="fr-CA" sz="1200" dirty="0"/>
              <a:t>lorsque l'acheteur conserve le droit de résilier l'opération;</a:t>
            </a:r>
          </a:p>
          <a:p>
            <a:pPr marL="171450" indent="-171450">
              <a:buFont typeface="Arial" panose="020B0604020202020204" pitchFamily="34" charset="0"/>
              <a:buChar char="•"/>
            </a:pPr>
            <a:r>
              <a:rPr lang="fr-CA" sz="1200" dirty="0"/>
              <a:t>lorsque les biens sont livrés en consignation.</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9</a:t>
            </a:fld>
            <a:endParaRPr lang="fr-CA"/>
          </a:p>
        </p:txBody>
      </p:sp>
    </p:spTree>
    <p:extLst>
      <p:ext uri="{BB962C8B-B14F-4D97-AF65-F5344CB8AC3E}">
        <p14:creationId xmlns:p14="http://schemas.microsoft.com/office/powerpoint/2010/main" val="1715164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11</a:t>
            </a:fld>
            <a:endParaRPr lang="fr-CA"/>
          </a:p>
        </p:txBody>
      </p:sp>
    </p:spTree>
    <p:extLst>
      <p:ext uri="{BB962C8B-B14F-4D97-AF65-F5344CB8AC3E}">
        <p14:creationId xmlns:p14="http://schemas.microsoft.com/office/powerpoint/2010/main" val="124724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13</a:t>
            </a:fld>
            <a:endParaRPr lang="fr-CA"/>
          </a:p>
        </p:txBody>
      </p:sp>
    </p:spTree>
    <p:extLst>
      <p:ext uri="{BB962C8B-B14F-4D97-AF65-F5344CB8AC3E}">
        <p14:creationId xmlns:p14="http://schemas.microsoft.com/office/powerpoint/2010/main" val="2836910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15</a:t>
            </a:fld>
            <a:endParaRPr lang="fr-CA"/>
          </a:p>
        </p:txBody>
      </p:sp>
    </p:spTree>
    <p:extLst>
      <p:ext uri="{BB962C8B-B14F-4D97-AF65-F5344CB8AC3E}">
        <p14:creationId xmlns:p14="http://schemas.microsoft.com/office/powerpoint/2010/main" val="2881623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17</a:t>
            </a:fld>
            <a:endParaRPr lang="fr-CA"/>
          </a:p>
        </p:txBody>
      </p:sp>
    </p:spTree>
    <p:extLst>
      <p:ext uri="{BB962C8B-B14F-4D97-AF65-F5344CB8AC3E}">
        <p14:creationId xmlns:p14="http://schemas.microsoft.com/office/powerpoint/2010/main" val="127251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19</a:t>
            </a:fld>
            <a:endParaRPr lang="fr-CA"/>
          </a:p>
        </p:txBody>
      </p:sp>
    </p:spTree>
    <p:extLst>
      <p:ext uri="{BB962C8B-B14F-4D97-AF65-F5344CB8AC3E}">
        <p14:creationId xmlns:p14="http://schemas.microsoft.com/office/powerpoint/2010/main" val="2785128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pPr marL="0" indent="0">
              <a:buNone/>
            </a:pP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21</a:t>
            </a:fld>
            <a:endParaRPr lang="fr-CA"/>
          </a:p>
        </p:txBody>
      </p:sp>
    </p:spTree>
    <p:extLst>
      <p:ext uri="{BB962C8B-B14F-4D97-AF65-F5344CB8AC3E}">
        <p14:creationId xmlns:p14="http://schemas.microsoft.com/office/powerpoint/2010/main" val="2469385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23</a:t>
            </a:fld>
            <a:endParaRPr lang="fr-CA"/>
          </a:p>
        </p:txBody>
      </p:sp>
    </p:spTree>
    <p:extLst>
      <p:ext uri="{BB962C8B-B14F-4D97-AF65-F5344CB8AC3E}">
        <p14:creationId xmlns:p14="http://schemas.microsoft.com/office/powerpoint/2010/main" val="1448586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25</a:t>
            </a:fld>
            <a:endParaRPr lang="fr-CA"/>
          </a:p>
        </p:txBody>
      </p:sp>
    </p:spTree>
    <p:extLst>
      <p:ext uri="{BB962C8B-B14F-4D97-AF65-F5344CB8AC3E}">
        <p14:creationId xmlns:p14="http://schemas.microsoft.com/office/powerpoint/2010/main" val="1895771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27</a:t>
            </a:fld>
            <a:endParaRPr lang="fr-CA"/>
          </a:p>
        </p:txBody>
      </p:sp>
    </p:spTree>
    <p:extLst>
      <p:ext uri="{BB962C8B-B14F-4D97-AF65-F5344CB8AC3E}">
        <p14:creationId xmlns:p14="http://schemas.microsoft.com/office/powerpoint/2010/main" val="3331207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29</a:t>
            </a:fld>
            <a:endParaRPr lang="fr-CA"/>
          </a:p>
        </p:txBody>
      </p:sp>
    </p:spTree>
    <p:extLst>
      <p:ext uri="{BB962C8B-B14F-4D97-AF65-F5344CB8AC3E}">
        <p14:creationId xmlns:p14="http://schemas.microsoft.com/office/powerpoint/2010/main" val="3186926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kern="1200" dirty="0">
                <a:solidFill>
                  <a:schemeClr val="tx1"/>
                </a:solidFill>
                <a:effectLst/>
                <a:latin typeface="+mn-lt"/>
                <a:ea typeface="+mn-ea"/>
                <a:cs typeface="+mn-cs"/>
              </a:rPr>
              <a:t>Analyser les accords qui prévoient des droits de retour particuliers pour s'assurer que ces droits sont comptabilisés conformément à leur substance. </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Par exemple, il se peut que l'entité accorde à un important client, dans le but de préserver la relation, des droits de retour particuliers relatifs aux biens invendus. De tels droits de retour pourraient ne pas être accordés à d'autres clients. En pareil cas, l'entité doit déterminer si l'opération conclue avec cet important client doit être comptabilisée comme une vente en consignation</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31</a:t>
            </a:fld>
            <a:endParaRPr lang="fr-CA"/>
          </a:p>
        </p:txBody>
      </p:sp>
    </p:spTree>
    <p:extLst>
      <p:ext uri="{BB962C8B-B14F-4D97-AF65-F5344CB8AC3E}">
        <p14:creationId xmlns:p14="http://schemas.microsoft.com/office/powerpoint/2010/main" val="1423979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32</a:t>
            </a:fld>
            <a:endParaRPr lang="fr-CA"/>
          </a:p>
        </p:txBody>
      </p:sp>
    </p:spTree>
    <p:extLst>
      <p:ext uri="{BB962C8B-B14F-4D97-AF65-F5344CB8AC3E}">
        <p14:creationId xmlns:p14="http://schemas.microsoft.com/office/powerpoint/2010/main" val="1988876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34</a:t>
            </a:fld>
            <a:endParaRPr lang="fr-CA"/>
          </a:p>
        </p:txBody>
      </p:sp>
    </p:spTree>
    <p:extLst>
      <p:ext uri="{BB962C8B-B14F-4D97-AF65-F5344CB8AC3E}">
        <p14:creationId xmlns:p14="http://schemas.microsoft.com/office/powerpoint/2010/main" val="3755907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38</a:t>
            </a:fld>
            <a:endParaRPr lang="fr-CA"/>
          </a:p>
        </p:txBody>
      </p:sp>
    </p:spTree>
    <p:extLst>
      <p:ext uri="{BB962C8B-B14F-4D97-AF65-F5344CB8AC3E}">
        <p14:creationId xmlns:p14="http://schemas.microsoft.com/office/powerpoint/2010/main" val="3480569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39</a:t>
            </a:fld>
            <a:endParaRPr lang="fr-CA"/>
          </a:p>
        </p:txBody>
      </p:sp>
    </p:spTree>
    <p:extLst>
      <p:ext uri="{BB962C8B-B14F-4D97-AF65-F5344CB8AC3E}">
        <p14:creationId xmlns:p14="http://schemas.microsoft.com/office/powerpoint/2010/main" val="617549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47</a:t>
            </a:fld>
            <a:endParaRPr lang="fr-CA"/>
          </a:p>
        </p:txBody>
      </p:sp>
    </p:spTree>
    <p:extLst>
      <p:ext uri="{BB962C8B-B14F-4D97-AF65-F5344CB8AC3E}">
        <p14:creationId xmlns:p14="http://schemas.microsoft.com/office/powerpoint/2010/main" val="2933924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kern="1200" dirty="0">
                <a:solidFill>
                  <a:schemeClr val="tx1"/>
                </a:solidFill>
                <a:effectLst/>
                <a:latin typeface="+mn-lt"/>
                <a:ea typeface="+mn-ea"/>
                <a:cs typeface="+mn-cs"/>
              </a:rPr>
              <a:t>Exemple –</a:t>
            </a:r>
            <a:r>
              <a:rPr lang="fr-CA" sz="1200" kern="1200" baseline="0" dirty="0">
                <a:solidFill>
                  <a:schemeClr val="tx1"/>
                </a:solidFill>
                <a:effectLst/>
                <a:latin typeface="+mn-lt"/>
                <a:ea typeface="+mn-ea"/>
                <a:cs typeface="+mn-cs"/>
              </a:rPr>
              <a:t> situations simples:</a:t>
            </a:r>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     les services de ménage  </a:t>
            </a:r>
          </a:p>
          <a:p>
            <a:r>
              <a:rPr lang="fr-CA" sz="1200" kern="1200" dirty="0">
                <a:solidFill>
                  <a:schemeClr val="tx1"/>
                </a:solidFill>
                <a:effectLst/>
                <a:latin typeface="+mn-lt"/>
                <a:ea typeface="+mn-ea"/>
                <a:cs typeface="+mn-cs"/>
              </a:rPr>
              <a:t>•     un spectacle ou un film présenté en salle ou au cinéma</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66</a:t>
            </a:fld>
            <a:endParaRPr lang="fr-CA"/>
          </a:p>
        </p:txBody>
      </p:sp>
    </p:spTree>
    <p:extLst>
      <p:ext uri="{BB962C8B-B14F-4D97-AF65-F5344CB8AC3E}">
        <p14:creationId xmlns:p14="http://schemas.microsoft.com/office/powerpoint/2010/main" val="813504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67</a:t>
            </a:fld>
            <a:endParaRPr lang="fr-CA"/>
          </a:p>
        </p:txBody>
      </p:sp>
    </p:spTree>
    <p:extLst>
      <p:ext uri="{BB962C8B-B14F-4D97-AF65-F5344CB8AC3E}">
        <p14:creationId xmlns:p14="http://schemas.microsoft.com/office/powerpoint/2010/main" val="305084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L'exécution doit être considérée comme achevée lorsque la mesure de la contrepartie découlant de la prestation des services ou de l'exécution du contrat à long terme est raisonnablement sûre</a:t>
            </a:r>
          </a:p>
          <a:p>
            <a:endParaRPr lang="fr-CA" dirty="0"/>
          </a:p>
          <a:p>
            <a:r>
              <a:rPr lang="fr-CA" sz="1200" b="1" kern="1200" dirty="0">
                <a:solidFill>
                  <a:schemeClr val="tx1"/>
                </a:solidFill>
                <a:effectLst/>
                <a:latin typeface="+mn-lt"/>
                <a:ea typeface="+mn-ea"/>
                <a:cs typeface="+mn-cs"/>
              </a:rPr>
              <a:t>Méthode de l'avancement des travaux</a:t>
            </a:r>
            <a:r>
              <a:rPr lang="fr-CA" sz="1200" kern="1200" dirty="0">
                <a:solidFill>
                  <a:schemeClr val="tx1"/>
                </a:solidFill>
                <a:effectLst/>
                <a:latin typeface="+mn-lt"/>
                <a:ea typeface="+mn-ea"/>
                <a:cs typeface="+mn-cs"/>
              </a:rPr>
              <a:t> : méthode de comptabilisation des produits selon laquelle ceux-ci sont constatés au prorata du degré d'avancement des travaux relatifs aux biens ou aux services faisant l'objet du contrat.</a:t>
            </a:r>
          </a:p>
          <a:p>
            <a:endParaRPr lang="fr-CA" sz="1200" kern="1200" dirty="0">
              <a:solidFill>
                <a:schemeClr val="tx1"/>
              </a:solidFill>
              <a:effectLst/>
              <a:latin typeface="+mn-lt"/>
              <a:ea typeface="+mn-ea"/>
              <a:cs typeface="+mn-cs"/>
            </a:endParaRPr>
          </a:p>
          <a:p>
            <a:r>
              <a:rPr lang="fr-CA" sz="1200" b="1" kern="1200" dirty="0">
                <a:solidFill>
                  <a:schemeClr val="tx1"/>
                </a:solidFill>
                <a:effectLst/>
                <a:latin typeface="+mn-lt"/>
                <a:ea typeface="+mn-ea"/>
                <a:cs typeface="+mn-cs"/>
              </a:rPr>
              <a:t>Méthode de l'achèvement des travaux</a:t>
            </a:r>
            <a:r>
              <a:rPr lang="fr-CA" sz="1200" kern="1200" dirty="0">
                <a:solidFill>
                  <a:schemeClr val="tx1"/>
                </a:solidFill>
                <a:effectLst/>
                <a:latin typeface="+mn-lt"/>
                <a:ea typeface="+mn-ea"/>
                <a:cs typeface="+mn-cs"/>
              </a:rPr>
              <a:t> : méthode de comptabilisation des produits selon laquelle ceux-ci ne sont constatés que lorsque la vente des biens ou la prestation des services faisant l'objet du contrat est achevée ou quasi achevée</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69</a:t>
            </a:fld>
            <a:endParaRPr lang="fr-CA"/>
          </a:p>
        </p:txBody>
      </p:sp>
    </p:spTree>
    <p:extLst>
      <p:ext uri="{BB962C8B-B14F-4D97-AF65-F5344CB8AC3E}">
        <p14:creationId xmlns:p14="http://schemas.microsoft.com/office/powerpoint/2010/main" val="2569015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Méthodes de mesure de la performance</a:t>
            </a:r>
            <a:r>
              <a:rPr lang="fr-CA" baseline="0" dirty="0"/>
              <a:t> </a:t>
            </a:r>
            <a:r>
              <a:rPr lang="fr-CA" dirty="0"/>
              <a:t>basées sur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Les extrants, par exemple unités produites ou étapes déterminantes d'un projet, et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Les intrants, par exemple heures-travail ou heures-machine.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b="1" dirty="0"/>
              <a:t>Les sommes facturées ne constituent pas une base de mesure appropriée, à moins qu'elles reflètent les travaux exécutés.</a:t>
            </a:r>
          </a:p>
          <a:p>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Lorsque la prestation de services consiste en l'exécution d'un nombre indéterminé d'actes échelonnés sur une période donnée, les produits sont comptabilisés de façon linéaire sur cette période, sauf si les faits démontrent qu'une autre méthode permettrait de mieux refléter le déroulement de l'exécution de la prestation. </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70</a:t>
            </a:fld>
            <a:endParaRPr lang="fr-CA"/>
          </a:p>
        </p:txBody>
      </p:sp>
    </p:spTree>
    <p:extLst>
      <p:ext uri="{BB962C8B-B14F-4D97-AF65-F5344CB8AC3E}">
        <p14:creationId xmlns:p14="http://schemas.microsoft.com/office/powerpoint/2010/main" val="2353041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b="1" kern="1200" dirty="0">
                <a:solidFill>
                  <a:schemeClr val="tx1"/>
                </a:solidFill>
                <a:effectLst/>
                <a:latin typeface="+mn-lt"/>
                <a:ea typeface="+mn-ea"/>
                <a:cs typeface="+mn-cs"/>
              </a:rPr>
              <a:t>La méthode de l'achèvement des travaux devrait être utilisée lorsque l'entreprise ne peut raisonnablement estimer le degré d'avancement des travaux.</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kern="1200" dirty="0">
                <a:solidFill>
                  <a:schemeClr val="tx1"/>
                </a:solidFill>
                <a:effectLst/>
                <a:latin typeface="+mn-lt"/>
                <a:ea typeface="+mn-ea"/>
                <a:cs typeface="+mn-cs"/>
              </a:rPr>
              <a:t>La méthode de l'achèvement des travaux fait l'objet de critiques parce qu'elle ne rend pas compte de la constatation des produits et des charges avant que l'exécution d'un contrat soit achevée ou quasi achevée, même si des travaux ont été effectués et des coûts, engagés. Il n'est donc pas possible d'évaluer la véritable performance de l'entité pendant la période qui précède l'achèvement de l'exécution du contrat. Par exemple, tous les produits découlant d'un contrat donné pourraient être constatés dans une période qui suit les périodes où la totalité de l'exécution a eu lieu.</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kern="1200" dirty="0">
                <a:solidFill>
                  <a:schemeClr val="tx1"/>
                </a:solidFill>
                <a:effectLst/>
                <a:latin typeface="+mn-lt"/>
                <a:ea typeface="+mn-ea"/>
                <a:cs typeface="+mn-cs"/>
              </a:rPr>
              <a:t>Un des avantages les plus importants de la méthode de l'achèvement des travaux tient cependant au fait qu'elle est beaucoup plus facile à appliquer que la méthode de l'avancement des travaux. Les coûts engagés et les montants facturés ne sont inscrits qu'aux fins d'un suivi jusqu'à ce que l'exécution du contrat soit achevée ou quasi achevée.</a:t>
            </a:r>
            <a:endParaRPr lang="fr-CA" sz="1200" b="1" kern="1200" dirty="0">
              <a:solidFill>
                <a:schemeClr val="tx1"/>
              </a:solidFill>
              <a:effectLst/>
              <a:latin typeface="+mn-lt"/>
              <a:ea typeface="+mn-ea"/>
              <a:cs typeface="+mn-cs"/>
            </a:endParaRPr>
          </a:p>
          <a:p>
            <a:endParaRPr lang="fr-CA" b="1"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75</a:t>
            </a:fld>
            <a:endParaRPr lang="fr-CA"/>
          </a:p>
        </p:txBody>
      </p:sp>
    </p:spTree>
    <p:extLst>
      <p:ext uri="{BB962C8B-B14F-4D97-AF65-F5344CB8AC3E}">
        <p14:creationId xmlns:p14="http://schemas.microsoft.com/office/powerpoint/2010/main" val="1228652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76</a:t>
            </a:fld>
            <a:endParaRPr lang="fr-CA"/>
          </a:p>
        </p:txBody>
      </p:sp>
    </p:spTree>
    <p:extLst>
      <p:ext uri="{BB962C8B-B14F-4D97-AF65-F5344CB8AC3E}">
        <p14:creationId xmlns:p14="http://schemas.microsoft.com/office/powerpoint/2010/main" val="487941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78</a:t>
            </a:fld>
            <a:endParaRPr lang="fr-CA"/>
          </a:p>
        </p:txBody>
      </p:sp>
    </p:spTree>
    <p:extLst>
      <p:ext uri="{BB962C8B-B14F-4D97-AF65-F5344CB8AC3E}">
        <p14:creationId xmlns:p14="http://schemas.microsoft.com/office/powerpoint/2010/main" val="24396632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kern="1200" dirty="0">
                <a:solidFill>
                  <a:schemeClr val="tx1"/>
                </a:solidFill>
                <a:effectLst/>
                <a:latin typeface="+mn-lt"/>
                <a:ea typeface="+mn-ea"/>
                <a:cs typeface="+mn-cs"/>
              </a:rPr>
              <a:t>Une opération de vente unique peut comporter la livraison de multiples biens, la prestation de multiples services ou la cession de multiples droits d'utilisation de biens, et ce, à des moments différents ou au cours de périodes différentes. </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Dans certains cas, les accords en cause prévoient des services initiaux d'installation, de démarrage ou de mise en service, et une contrepartie prenant la forme d'un montant fixe ou d'un montant fixe assorti d'un flux de paiements continus. </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Par exemple, lorsque le prix de vente d'un produit comprend un montant isolable au titre de services après-vente, ce montant est reporté et constaté à titre de produits sur la période au cours de laquelle le service sera rendu. </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À l'inverse, les critères de constatation sont appliqués à deux ou plusieurs opérations regroupées lorsque celles-ci sont liées de telle façon que leur incidence commerciale ne peut en être comprise sans faire référence à l'ensemble des opérations considérées comme un tout. </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Par exemple, une entité peut vendre des biens et, dans le même temps, conclure un accord distinct visant à racheter ces biens à une date ultérieure, annulant ainsi l'effet réel de la première opération; dans ce cas, les deux opérations sont traitées conjointement.</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80</a:t>
            </a:fld>
            <a:endParaRPr lang="fr-CA"/>
          </a:p>
        </p:txBody>
      </p:sp>
    </p:spTree>
    <p:extLst>
      <p:ext uri="{BB962C8B-B14F-4D97-AF65-F5344CB8AC3E}">
        <p14:creationId xmlns:p14="http://schemas.microsoft.com/office/powerpoint/2010/main" val="656701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81</a:t>
            </a:fld>
            <a:endParaRPr lang="fr-CA"/>
          </a:p>
        </p:txBody>
      </p:sp>
    </p:spTree>
    <p:extLst>
      <p:ext uri="{BB962C8B-B14F-4D97-AF65-F5344CB8AC3E}">
        <p14:creationId xmlns:p14="http://schemas.microsoft.com/office/powerpoint/2010/main" val="2778560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85</a:t>
            </a:fld>
            <a:endParaRPr lang="fr-CA"/>
          </a:p>
        </p:txBody>
      </p:sp>
    </p:spTree>
    <p:extLst>
      <p:ext uri="{BB962C8B-B14F-4D97-AF65-F5344CB8AC3E}">
        <p14:creationId xmlns:p14="http://schemas.microsoft.com/office/powerpoint/2010/main" val="13668349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dirty="0"/>
              <a:t>Exemples</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Une boutique de détail vend une carte cadeau,</a:t>
            </a:r>
            <a:endParaRPr lang="fr-CA" sz="1200" kern="1200" baseline="0" dirty="0">
              <a:solidFill>
                <a:schemeClr val="tx1"/>
              </a:solidFill>
              <a:effectLst/>
              <a:latin typeface="+mn-lt"/>
              <a:ea typeface="+mn-ea"/>
              <a:cs typeface="+mn-cs"/>
            </a:endParaRPr>
          </a:p>
          <a:p>
            <a:pPr marL="171450" indent="-171450">
              <a:buFont typeface="Arial" panose="020B0604020202020204" pitchFamily="34" charset="0"/>
              <a:buChar char="•"/>
            </a:pPr>
            <a:r>
              <a:rPr lang="fr-CA" sz="1200" kern="1200" baseline="0" dirty="0">
                <a:solidFill>
                  <a:schemeClr val="tx1"/>
                </a:solidFill>
                <a:effectLst/>
                <a:latin typeface="+mn-lt"/>
                <a:ea typeface="+mn-ea"/>
                <a:cs typeface="+mn-cs"/>
              </a:rPr>
              <a:t>A</a:t>
            </a:r>
            <a:r>
              <a:rPr lang="fr-CA" sz="1200" kern="1200" dirty="0">
                <a:solidFill>
                  <a:schemeClr val="tx1"/>
                </a:solidFill>
                <a:effectLst/>
                <a:latin typeface="+mn-lt"/>
                <a:ea typeface="+mn-ea"/>
                <a:cs typeface="+mn-cs"/>
              </a:rPr>
              <a:t>bonnements non remboursables </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Dépôts sur commande</a:t>
            </a:r>
          </a:p>
          <a:p>
            <a:pPr marL="0" indent="0">
              <a:buFont typeface="Arial" panose="020B0604020202020204" pitchFamily="34" charset="0"/>
              <a:buNone/>
            </a:pPr>
            <a:endParaRPr lang="fr-CA" sz="1200" kern="1200" dirty="0">
              <a:solidFill>
                <a:schemeClr val="tx1"/>
              </a:solidFill>
              <a:effectLst/>
              <a:latin typeface="+mn-lt"/>
              <a:ea typeface="+mn-ea"/>
              <a:cs typeface="+mn-cs"/>
            </a:endParaRPr>
          </a:p>
          <a:p>
            <a:pPr marL="0" indent="0">
              <a:buFont typeface="Arial" panose="020B0604020202020204" pitchFamily="34" charset="0"/>
              <a:buNone/>
            </a:pPr>
            <a:r>
              <a:rPr lang="fr-CA" sz="1200" kern="1200" dirty="0">
                <a:solidFill>
                  <a:schemeClr val="tx1"/>
                </a:solidFill>
                <a:effectLst/>
                <a:latin typeface="+mn-lt"/>
                <a:ea typeface="+mn-ea"/>
                <a:cs typeface="+mn-cs"/>
              </a:rPr>
              <a:t>Comptabiliser</a:t>
            </a:r>
            <a:r>
              <a:rPr lang="fr-CA" sz="1200" kern="1200" baseline="0" dirty="0">
                <a:solidFill>
                  <a:schemeClr val="tx1"/>
                </a:solidFill>
                <a:effectLst/>
                <a:latin typeface="+mn-lt"/>
                <a:ea typeface="+mn-ea"/>
                <a:cs typeface="+mn-cs"/>
              </a:rPr>
              <a:t> un </a:t>
            </a:r>
            <a:r>
              <a:rPr lang="fr-CA" sz="1200" kern="1200" dirty="0">
                <a:solidFill>
                  <a:schemeClr val="tx1"/>
                </a:solidFill>
                <a:effectLst/>
                <a:latin typeface="+mn-lt"/>
                <a:ea typeface="+mn-ea"/>
                <a:cs typeface="+mn-cs"/>
              </a:rPr>
              <a:t>passi</a:t>
            </a:r>
            <a:r>
              <a:rPr lang="fr-CA" sz="1200" kern="1200" baseline="0" dirty="0">
                <a:solidFill>
                  <a:schemeClr val="tx1"/>
                </a:solidFill>
                <a:effectLst/>
                <a:latin typeface="+mn-lt"/>
                <a:ea typeface="+mn-ea"/>
                <a:cs typeface="+mn-cs"/>
              </a:rPr>
              <a:t>f (obligation non financière) et non produits à la vente</a:t>
            </a:r>
            <a:endParaRPr lang="fr-CA" sz="1200" kern="1200" dirty="0">
              <a:solidFill>
                <a:schemeClr val="tx1"/>
              </a:solidFill>
              <a:effectLst/>
              <a:latin typeface="+mn-lt"/>
              <a:ea typeface="+mn-ea"/>
              <a:cs typeface="+mn-cs"/>
            </a:endParaRPr>
          </a:p>
          <a:p>
            <a:endParaRPr lang="fr-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kern="1200" dirty="0">
                <a:solidFill>
                  <a:schemeClr val="tx1"/>
                </a:solidFill>
                <a:effectLst/>
                <a:latin typeface="+mn-lt"/>
                <a:ea typeface="+mn-ea"/>
                <a:cs typeface="+mn-cs"/>
              </a:rPr>
              <a:t>La boutique peut </a:t>
            </a:r>
            <a:r>
              <a:rPr lang="fr-CA" sz="1200" kern="1200" dirty="0" err="1">
                <a:solidFill>
                  <a:schemeClr val="tx1"/>
                </a:solidFill>
                <a:effectLst/>
                <a:latin typeface="+mn-lt"/>
                <a:ea typeface="+mn-ea"/>
                <a:cs typeface="+mn-cs"/>
              </a:rPr>
              <a:t>décomptabiliser</a:t>
            </a:r>
            <a:r>
              <a:rPr lang="fr-CA" sz="1200" kern="1200" dirty="0">
                <a:solidFill>
                  <a:schemeClr val="tx1"/>
                </a:solidFill>
                <a:effectLst/>
                <a:latin typeface="+mn-lt"/>
                <a:ea typeface="+mn-ea"/>
                <a:cs typeface="+mn-cs"/>
              </a:rPr>
              <a:t> l'obligation (c.-à-d. constater un produit) lorsqu'elle est légalement dégagée de son obligation (c.-à-d. à la date d'expiration de la carte cadeau). Des complications particulières peuvent survenir lorsque les cartes cadeaux n'ont pas de date d'expiration. Dans ces circonstances, la boutique peut uniquement </a:t>
            </a:r>
            <a:r>
              <a:rPr lang="fr-CA" sz="1200" kern="1200" dirty="0" err="1">
                <a:solidFill>
                  <a:schemeClr val="tx1"/>
                </a:solidFill>
                <a:effectLst/>
                <a:latin typeface="+mn-lt"/>
                <a:ea typeface="+mn-ea"/>
                <a:cs typeface="+mn-cs"/>
              </a:rPr>
              <a:t>décomptabiliser</a:t>
            </a:r>
            <a:r>
              <a:rPr lang="fr-CA" sz="1200" kern="1200" dirty="0">
                <a:solidFill>
                  <a:schemeClr val="tx1"/>
                </a:solidFill>
                <a:effectLst/>
                <a:latin typeface="+mn-lt"/>
                <a:ea typeface="+mn-ea"/>
                <a:cs typeface="+mn-cs"/>
              </a:rPr>
              <a:t> l'obligation si elle démontre que la probabilité de devoir livrer le bien ultérieurement est faible.</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87</a:t>
            </a:fld>
            <a:endParaRPr lang="fr-CA"/>
          </a:p>
        </p:txBody>
      </p:sp>
    </p:spTree>
    <p:extLst>
      <p:ext uri="{BB962C8B-B14F-4D97-AF65-F5344CB8AC3E}">
        <p14:creationId xmlns:p14="http://schemas.microsoft.com/office/powerpoint/2010/main" val="1276620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dirty="0"/>
              <a:t>Exemples</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Une boutique de détail vend une carte cadeau,</a:t>
            </a:r>
            <a:endParaRPr lang="fr-CA" sz="1200" kern="1200" baseline="0" dirty="0">
              <a:solidFill>
                <a:schemeClr val="tx1"/>
              </a:solidFill>
              <a:effectLst/>
              <a:latin typeface="+mn-lt"/>
              <a:ea typeface="+mn-ea"/>
              <a:cs typeface="+mn-cs"/>
            </a:endParaRPr>
          </a:p>
          <a:p>
            <a:pPr marL="171450" indent="-171450">
              <a:buFont typeface="Arial" panose="020B0604020202020204" pitchFamily="34" charset="0"/>
              <a:buChar char="•"/>
            </a:pPr>
            <a:r>
              <a:rPr lang="fr-CA" sz="1200" kern="1200" baseline="0" dirty="0">
                <a:solidFill>
                  <a:schemeClr val="tx1"/>
                </a:solidFill>
                <a:effectLst/>
                <a:latin typeface="+mn-lt"/>
                <a:ea typeface="+mn-ea"/>
                <a:cs typeface="+mn-cs"/>
              </a:rPr>
              <a:t>A</a:t>
            </a:r>
            <a:r>
              <a:rPr lang="fr-CA" sz="1200" kern="1200" dirty="0">
                <a:solidFill>
                  <a:schemeClr val="tx1"/>
                </a:solidFill>
                <a:effectLst/>
                <a:latin typeface="+mn-lt"/>
                <a:ea typeface="+mn-ea"/>
                <a:cs typeface="+mn-cs"/>
              </a:rPr>
              <a:t>bonnements non remboursables </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Dépôts sur commande</a:t>
            </a:r>
          </a:p>
          <a:p>
            <a:pPr marL="0" indent="0">
              <a:buFont typeface="Arial" panose="020B0604020202020204" pitchFamily="34" charset="0"/>
              <a:buNone/>
            </a:pPr>
            <a:endParaRPr lang="fr-CA" sz="1200" kern="1200" dirty="0">
              <a:solidFill>
                <a:schemeClr val="tx1"/>
              </a:solidFill>
              <a:effectLst/>
              <a:latin typeface="+mn-lt"/>
              <a:ea typeface="+mn-ea"/>
              <a:cs typeface="+mn-cs"/>
            </a:endParaRPr>
          </a:p>
          <a:p>
            <a:pPr marL="0" indent="0">
              <a:buFont typeface="Arial" panose="020B0604020202020204" pitchFamily="34" charset="0"/>
              <a:buNone/>
            </a:pPr>
            <a:r>
              <a:rPr lang="fr-CA" sz="1200" kern="1200" dirty="0">
                <a:solidFill>
                  <a:schemeClr val="tx1"/>
                </a:solidFill>
                <a:effectLst/>
                <a:latin typeface="+mn-lt"/>
                <a:ea typeface="+mn-ea"/>
                <a:cs typeface="+mn-cs"/>
              </a:rPr>
              <a:t>Comptabiliser</a:t>
            </a:r>
            <a:r>
              <a:rPr lang="fr-CA" sz="1200" kern="1200" baseline="0" dirty="0">
                <a:solidFill>
                  <a:schemeClr val="tx1"/>
                </a:solidFill>
                <a:effectLst/>
                <a:latin typeface="+mn-lt"/>
                <a:ea typeface="+mn-ea"/>
                <a:cs typeface="+mn-cs"/>
              </a:rPr>
              <a:t> un </a:t>
            </a:r>
            <a:r>
              <a:rPr lang="fr-CA" sz="1200" kern="1200" dirty="0">
                <a:solidFill>
                  <a:schemeClr val="tx1"/>
                </a:solidFill>
                <a:effectLst/>
                <a:latin typeface="+mn-lt"/>
                <a:ea typeface="+mn-ea"/>
                <a:cs typeface="+mn-cs"/>
              </a:rPr>
              <a:t>passi</a:t>
            </a:r>
            <a:r>
              <a:rPr lang="fr-CA" sz="1200" kern="1200" baseline="0" dirty="0">
                <a:solidFill>
                  <a:schemeClr val="tx1"/>
                </a:solidFill>
                <a:effectLst/>
                <a:latin typeface="+mn-lt"/>
                <a:ea typeface="+mn-ea"/>
                <a:cs typeface="+mn-cs"/>
              </a:rPr>
              <a:t>f (obligation non financière) et non produits à la vente</a:t>
            </a:r>
            <a:endParaRPr lang="fr-CA" sz="1200" kern="1200" dirty="0">
              <a:solidFill>
                <a:schemeClr val="tx1"/>
              </a:solidFill>
              <a:effectLst/>
              <a:latin typeface="+mn-lt"/>
              <a:ea typeface="+mn-ea"/>
              <a:cs typeface="+mn-cs"/>
            </a:endParaRPr>
          </a:p>
          <a:p>
            <a:endParaRPr lang="fr-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kern="1200" dirty="0">
                <a:solidFill>
                  <a:schemeClr val="tx1"/>
                </a:solidFill>
                <a:effectLst/>
                <a:latin typeface="+mn-lt"/>
                <a:ea typeface="+mn-ea"/>
                <a:cs typeface="+mn-cs"/>
              </a:rPr>
              <a:t>La boutique peut </a:t>
            </a:r>
            <a:r>
              <a:rPr lang="fr-CA" sz="1200" kern="1200" dirty="0" err="1">
                <a:solidFill>
                  <a:schemeClr val="tx1"/>
                </a:solidFill>
                <a:effectLst/>
                <a:latin typeface="+mn-lt"/>
                <a:ea typeface="+mn-ea"/>
                <a:cs typeface="+mn-cs"/>
              </a:rPr>
              <a:t>décomptabiliser</a:t>
            </a:r>
            <a:r>
              <a:rPr lang="fr-CA" sz="1200" kern="1200" dirty="0">
                <a:solidFill>
                  <a:schemeClr val="tx1"/>
                </a:solidFill>
                <a:effectLst/>
                <a:latin typeface="+mn-lt"/>
                <a:ea typeface="+mn-ea"/>
                <a:cs typeface="+mn-cs"/>
              </a:rPr>
              <a:t> l'obligation (c.-à-d. constater un produit) lorsqu'elle est légalement dégagée de son obligation (c.-à-d. à la date d'expiration de la carte cadeau). Des complications particulières peuvent survenir lorsque les cartes cadeaux n'ont pas de date d'expiration. Dans ces circonstances, la boutique peut uniquement </a:t>
            </a:r>
            <a:r>
              <a:rPr lang="fr-CA" sz="1200" kern="1200" dirty="0" err="1">
                <a:solidFill>
                  <a:schemeClr val="tx1"/>
                </a:solidFill>
                <a:effectLst/>
                <a:latin typeface="+mn-lt"/>
                <a:ea typeface="+mn-ea"/>
                <a:cs typeface="+mn-cs"/>
              </a:rPr>
              <a:t>décomptabiliser</a:t>
            </a:r>
            <a:r>
              <a:rPr lang="fr-CA" sz="1200" kern="1200" dirty="0">
                <a:solidFill>
                  <a:schemeClr val="tx1"/>
                </a:solidFill>
                <a:effectLst/>
                <a:latin typeface="+mn-lt"/>
                <a:ea typeface="+mn-ea"/>
                <a:cs typeface="+mn-cs"/>
              </a:rPr>
              <a:t> l'obligation si elle démontre que la probabilité de devoir livrer le bien ultérieurement est faible.</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88</a:t>
            </a:fld>
            <a:endParaRPr lang="fr-CA"/>
          </a:p>
        </p:txBody>
      </p:sp>
    </p:spTree>
    <p:extLst>
      <p:ext uri="{BB962C8B-B14F-4D97-AF65-F5344CB8AC3E}">
        <p14:creationId xmlns:p14="http://schemas.microsoft.com/office/powerpoint/2010/main" val="16734442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sz="12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89</a:t>
            </a:fld>
            <a:endParaRPr lang="fr-CA"/>
          </a:p>
        </p:txBody>
      </p:sp>
    </p:spTree>
    <p:extLst>
      <p:ext uri="{BB962C8B-B14F-4D97-AF65-F5344CB8AC3E}">
        <p14:creationId xmlns:p14="http://schemas.microsoft.com/office/powerpoint/2010/main" val="3124824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dirty="0"/>
              <a:t>Exemple</a:t>
            </a:r>
          </a:p>
          <a:p>
            <a:r>
              <a:rPr lang="fr-CA" sz="1200" kern="1200" dirty="0">
                <a:solidFill>
                  <a:schemeClr val="tx1"/>
                </a:solidFill>
                <a:effectLst/>
                <a:latin typeface="+mn-lt"/>
                <a:ea typeface="+mn-ea"/>
                <a:cs typeface="+mn-cs"/>
              </a:rPr>
              <a:t>Une entité développe et vend un logiciel spécialisé. Un client verse 100 000 $ pour une licence d'utilisation du logiciel pour trois ans.</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Une licence confère un droit d'utiliser un actif. Les droits d'utilisation doivent être comptabilisés lorsque le logiciel spécialisé est livré, la période d'utilisation des droits a débuté et l'intervention de l'entité n'est plus nécessaire, si tous les autres critères de constatation des produits sont remplis par ailleurs.</a:t>
            </a:r>
          </a:p>
          <a:p>
            <a:r>
              <a:rPr lang="fr-CA" sz="1200" kern="1200" dirty="0">
                <a:solidFill>
                  <a:schemeClr val="tx1"/>
                </a:solidFill>
                <a:effectLst/>
                <a:latin typeface="+mn-lt"/>
                <a:ea typeface="+mn-ea"/>
                <a:cs typeface="+mn-cs"/>
              </a:rPr>
              <a:t>L'entité comptabilise ainsi le plein montant, soit 100 000 $, lorsqu'elle reçoit le paiement du client. Si l'entité a l'obligation d'offrir du soutien et des mises à niveau à son client, une partie de ce montant est alors reportée pour refléter les services à rendre au cours de la période d'utilisation de trois ans.</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90</a:t>
            </a:fld>
            <a:endParaRPr lang="fr-CA"/>
          </a:p>
        </p:txBody>
      </p:sp>
    </p:spTree>
    <p:extLst>
      <p:ext uri="{BB962C8B-B14F-4D97-AF65-F5344CB8AC3E}">
        <p14:creationId xmlns:p14="http://schemas.microsoft.com/office/powerpoint/2010/main" val="7787089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b="1" kern="1200" dirty="0">
                <a:solidFill>
                  <a:schemeClr val="tx1"/>
                </a:solidFill>
                <a:effectLst/>
                <a:latin typeface="+mn-lt"/>
                <a:ea typeface="+mn-ea"/>
                <a:cs typeface="+mn-cs"/>
              </a:rPr>
              <a:t>Normalement c’est le client qui paie le fournisseur</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Dans certaines</a:t>
            </a:r>
            <a:r>
              <a:rPr lang="fr-CA" sz="1200" kern="1200" baseline="0" dirty="0">
                <a:solidFill>
                  <a:schemeClr val="tx1"/>
                </a:solidFill>
                <a:effectLst/>
                <a:latin typeface="+mn-lt"/>
                <a:ea typeface="+mn-ea"/>
                <a:cs typeface="+mn-cs"/>
              </a:rPr>
              <a:t> </a:t>
            </a:r>
            <a:r>
              <a:rPr lang="fr-CA" sz="1200" kern="1200" dirty="0">
                <a:solidFill>
                  <a:schemeClr val="tx1"/>
                </a:solidFill>
                <a:effectLst/>
                <a:latin typeface="+mn-lt"/>
                <a:ea typeface="+mn-ea"/>
                <a:cs typeface="+mn-cs"/>
              </a:rPr>
              <a:t>circonstances, il peut ne pas s’agir d’un rabais et il est</a:t>
            </a:r>
            <a:r>
              <a:rPr lang="fr-CA" sz="1200" kern="1200" baseline="0" dirty="0">
                <a:solidFill>
                  <a:schemeClr val="tx1"/>
                </a:solidFill>
                <a:effectLst/>
                <a:latin typeface="+mn-lt"/>
                <a:ea typeface="+mn-ea"/>
                <a:cs typeface="+mn-cs"/>
              </a:rPr>
              <a:t> </a:t>
            </a:r>
            <a:r>
              <a:rPr lang="fr-CA" sz="1200" kern="1200" dirty="0">
                <a:solidFill>
                  <a:schemeClr val="tx1"/>
                </a:solidFill>
                <a:effectLst/>
                <a:latin typeface="+mn-lt"/>
                <a:ea typeface="+mn-ea"/>
                <a:cs typeface="+mn-cs"/>
              </a:rPr>
              <a:t>nécessaire de faire appel au jugement pour déterminer la substance de l’opération en examinant les caractéristiques du paiement à un client. </a:t>
            </a:r>
          </a:p>
          <a:p>
            <a:r>
              <a:rPr lang="fr-CA" sz="1200" kern="1200" dirty="0">
                <a:solidFill>
                  <a:schemeClr val="tx1"/>
                </a:solidFill>
                <a:effectLst/>
                <a:latin typeface="+mn-lt"/>
                <a:ea typeface="+mn-ea"/>
                <a:cs typeface="+mn-cs"/>
              </a:rPr>
              <a:t>Par exemple :</a:t>
            </a:r>
            <a:r>
              <a:rPr lang="fr-CA" sz="1200" kern="1200" baseline="0" dirty="0">
                <a:solidFill>
                  <a:schemeClr val="tx1"/>
                </a:solidFill>
                <a:effectLst/>
                <a:latin typeface="+mn-lt"/>
                <a:ea typeface="+mn-ea"/>
                <a:cs typeface="+mn-cs"/>
              </a:rPr>
              <a:t>  </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 fournisseur peut rembourser à un client une partie de ses frais de publicité. Le montant remboursé est souvent limité à un pourcentage précisé des achats du client. Cette situation requiert l'exercice du jugement car on ne peut dire avec certitude :</a:t>
            </a:r>
          </a:p>
          <a:p>
            <a:r>
              <a:rPr lang="fr-CA" sz="1200" kern="1200" dirty="0">
                <a:solidFill>
                  <a:schemeClr val="tx1"/>
                </a:solidFill>
                <a:effectLst/>
                <a:latin typeface="+mn-lt"/>
                <a:ea typeface="+mn-ea"/>
                <a:cs typeface="+mn-cs"/>
              </a:rPr>
              <a:t>o     si le fournisseur a reçu des avantages sous la forme de publicité ou a simplement accordé un rabais sur la vente au client;</a:t>
            </a:r>
          </a:p>
          <a:p>
            <a:r>
              <a:rPr lang="fr-CA" sz="1200" kern="1200" dirty="0">
                <a:solidFill>
                  <a:schemeClr val="tx1"/>
                </a:solidFill>
                <a:effectLst/>
                <a:latin typeface="+mn-lt"/>
                <a:ea typeface="+mn-ea"/>
                <a:cs typeface="+mn-cs"/>
              </a:rPr>
              <a:t>o     si le client a obtenu un rabais sur son achat ou bénéficié d'un coût réduit de publicité.</a:t>
            </a:r>
          </a:p>
          <a:p>
            <a:endParaRPr lang="fr-CA"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 fournisseur peut verser à un détaillant une contrepartie pour avoir droit à une superficie pour afficher ses produits (par exemple, des tablettes ou un emplacement avantageux dans la boutique). Encore une fois, cette situation requiert l'exercice du jugement car on ne peut dire avec certitude :</a:t>
            </a:r>
          </a:p>
          <a:p>
            <a:r>
              <a:rPr lang="fr-CA" sz="1200" kern="1200" dirty="0">
                <a:solidFill>
                  <a:schemeClr val="tx1"/>
                </a:solidFill>
                <a:effectLst/>
                <a:latin typeface="+mn-lt"/>
                <a:ea typeface="+mn-ea"/>
                <a:cs typeface="+mn-cs"/>
              </a:rPr>
              <a:t>o     si le fournisseur a reçu des avantages sous la forme de publicité ou a simplement accordé un rabais sur la vente au client;</a:t>
            </a:r>
          </a:p>
          <a:p>
            <a:r>
              <a:rPr lang="fr-CA" sz="1200" kern="1200" dirty="0">
                <a:solidFill>
                  <a:schemeClr val="tx1"/>
                </a:solidFill>
                <a:effectLst/>
                <a:latin typeface="+mn-lt"/>
                <a:ea typeface="+mn-ea"/>
                <a:cs typeface="+mn-cs"/>
              </a:rPr>
              <a:t>o     si le client a obtenu un rabais sur son achat ou réalisé des produits publicitaires.</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91</a:t>
            </a:fld>
            <a:endParaRPr lang="fr-CA"/>
          </a:p>
        </p:txBody>
      </p:sp>
    </p:spTree>
    <p:extLst>
      <p:ext uri="{BB962C8B-B14F-4D97-AF65-F5344CB8AC3E}">
        <p14:creationId xmlns:p14="http://schemas.microsoft.com/office/powerpoint/2010/main" val="2661989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b="1" kern="1200" dirty="0">
                <a:solidFill>
                  <a:schemeClr val="tx1"/>
                </a:solidFill>
                <a:effectLst/>
                <a:latin typeface="+mn-lt"/>
                <a:ea typeface="+mn-ea"/>
                <a:cs typeface="+mn-cs"/>
              </a:rPr>
              <a:t>Normalement c’est le client qui paie le fournisseur</a:t>
            </a:r>
          </a:p>
          <a:p>
            <a:endParaRPr lang="fr-CA" sz="1200" kern="1200" dirty="0">
              <a:solidFill>
                <a:schemeClr val="tx1"/>
              </a:solidFill>
              <a:effectLst/>
              <a:latin typeface="+mn-lt"/>
              <a:ea typeface="+mn-ea"/>
              <a:cs typeface="+mn-cs"/>
            </a:endParaRPr>
          </a:p>
          <a:p>
            <a:r>
              <a:rPr lang="fr-CA" sz="1200" kern="1200" dirty="0">
                <a:solidFill>
                  <a:schemeClr val="tx1"/>
                </a:solidFill>
                <a:effectLst/>
                <a:latin typeface="+mn-lt"/>
                <a:ea typeface="+mn-ea"/>
                <a:cs typeface="+mn-cs"/>
              </a:rPr>
              <a:t>Dans certaines</a:t>
            </a:r>
            <a:r>
              <a:rPr lang="fr-CA" sz="1200" kern="1200" baseline="0" dirty="0">
                <a:solidFill>
                  <a:schemeClr val="tx1"/>
                </a:solidFill>
                <a:effectLst/>
                <a:latin typeface="+mn-lt"/>
                <a:ea typeface="+mn-ea"/>
                <a:cs typeface="+mn-cs"/>
              </a:rPr>
              <a:t> </a:t>
            </a:r>
            <a:r>
              <a:rPr lang="fr-CA" sz="1200" kern="1200" dirty="0">
                <a:solidFill>
                  <a:schemeClr val="tx1"/>
                </a:solidFill>
                <a:effectLst/>
                <a:latin typeface="+mn-lt"/>
                <a:ea typeface="+mn-ea"/>
                <a:cs typeface="+mn-cs"/>
              </a:rPr>
              <a:t>circonstances, il peut ne pas s’agir d’un rabais et il est</a:t>
            </a:r>
            <a:r>
              <a:rPr lang="fr-CA" sz="1200" kern="1200" baseline="0" dirty="0">
                <a:solidFill>
                  <a:schemeClr val="tx1"/>
                </a:solidFill>
                <a:effectLst/>
                <a:latin typeface="+mn-lt"/>
                <a:ea typeface="+mn-ea"/>
                <a:cs typeface="+mn-cs"/>
              </a:rPr>
              <a:t> </a:t>
            </a:r>
            <a:r>
              <a:rPr lang="fr-CA" sz="1200" kern="1200" dirty="0">
                <a:solidFill>
                  <a:schemeClr val="tx1"/>
                </a:solidFill>
                <a:effectLst/>
                <a:latin typeface="+mn-lt"/>
                <a:ea typeface="+mn-ea"/>
                <a:cs typeface="+mn-cs"/>
              </a:rPr>
              <a:t>nécessaire de faire appel au jugement pour déterminer la substance de l’opération en examinant les caractéristiques du paiement à un client. </a:t>
            </a:r>
          </a:p>
          <a:p>
            <a:r>
              <a:rPr lang="fr-CA" sz="1200" kern="1200" dirty="0">
                <a:solidFill>
                  <a:schemeClr val="tx1"/>
                </a:solidFill>
                <a:effectLst/>
                <a:latin typeface="+mn-lt"/>
                <a:ea typeface="+mn-ea"/>
                <a:cs typeface="+mn-cs"/>
              </a:rPr>
              <a:t>Par exemple :</a:t>
            </a:r>
            <a:r>
              <a:rPr lang="fr-CA" sz="1200" kern="1200" baseline="0" dirty="0">
                <a:solidFill>
                  <a:schemeClr val="tx1"/>
                </a:solidFill>
                <a:effectLst/>
                <a:latin typeface="+mn-lt"/>
                <a:ea typeface="+mn-ea"/>
                <a:cs typeface="+mn-cs"/>
              </a:rPr>
              <a:t>  </a:t>
            </a: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 fournisseur peut rembourser à un client une partie de ses frais de publicité. Le montant remboursé est souvent limité à un pourcentage précisé des achats du client. Cette situation requiert l'exercice du jugement car on ne peut dire avec certitude :</a:t>
            </a:r>
          </a:p>
          <a:p>
            <a:r>
              <a:rPr lang="fr-CA" sz="1200" kern="1200" dirty="0">
                <a:solidFill>
                  <a:schemeClr val="tx1"/>
                </a:solidFill>
                <a:effectLst/>
                <a:latin typeface="+mn-lt"/>
                <a:ea typeface="+mn-ea"/>
                <a:cs typeface="+mn-cs"/>
              </a:rPr>
              <a:t>o     si le fournisseur a reçu des avantages sous la forme de publicité ou a simplement accordé un rabais sur la vente au client;</a:t>
            </a:r>
          </a:p>
          <a:p>
            <a:r>
              <a:rPr lang="fr-CA" sz="1200" kern="1200" dirty="0">
                <a:solidFill>
                  <a:schemeClr val="tx1"/>
                </a:solidFill>
                <a:effectLst/>
                <a:latin typeface="+mn-lt"/>
                <a:ea typeface="+mn-ea"/>
                <a:cs typeface="+mn-cs"/>
              </a:rPr>
              <a:t>o     si le client a obtenu un rabais sur son achat ou bénéficié d'un coût réduit de publicité.</a:t>
            </a:r>
          </a:p>
          <a:p>
            <a:endParaRPr lang="fr-CA"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CA" sz="1200" kern="1200" dirty="0">
                <a:solidFill>
                  <a:schemeClr val="tx1"/>
                </a:solidFill>
                <a:effectLst/>
                <a:latin typeface="+mn-lt"/>
                <a:ea typeface="+mn-ea"/>
                <a:cs typeface="+mn-cs"/>
              </a:rPr>
              <a:t>Un fournisseur peut verser à un détaillant une contrepartie pour avoir droit à une superficie pour afficher ses produits (par exemple, des tablettes ou un emplacement avantageux dans la boutique). Encore une fois, cette situation requiert l'exercice du jugement car on ne peut dire avec certitude :</a:t>
            </a:r>
          </a:p>
          <a:p>
            <a:r>
              <a:rPr lang="fr-CA" sz="1200" kern="1200" dirty="0">
                <a:solidFill>
                  <a:schemeClr val="tx1"/>
                </a:solidFill>
                <a:effectLst/>
                <a:latin typeface="+mn-lt"/>
                <a:ea typeface="+mn-ea"/>
                <a:cs typeface="+mn-cs"/>
              </a:rPr>
              <a:t>o     si le fournisseur a reçu des avantages sous la forme de publicité ou a simplement accordé un rabais sur la vente au client;</a:t>
            </a:r>
          </a:p>
          <a:p>
            <a:r>
              <a:rPr lang="fr-CA" sz="1200" kern="1200" dirty="0">
                <a:solidFill>
                  <a:schemeClr val="tx1"/>
                </a:solidFill>
                <a:effectLst/>
                <a:latin typeface="+mn-lt"/>
                <a:ea typeface="+mn-ea"/>
                <a:cs typeface="+mn-cs"/>
              </a:rPr>
              <a:t>o     si le client a obtenu un rabais sur son achat ou réalisé des produits publicitaires.</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92</a:t>
            </a:fld>
            <a:endParaRPr lang="fr-CA"/>
          </a:p>
        </p:txBody>
      </p:sp>
    </p:spTree>
    <p:extLst>
      <p:ext uri="{BB962C8B-B14F-4D97-AF65-F5344CB8AC3E}">
        <p14:creationId xmlns:p14="http://schemas.microsoft.com/office/powerpoint/2010/main" val="3211050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93</a:t>
            </a:fld>
            <a:endParaRPr lang="fr-CA"/>
          </a:p>
        </p:txBody>
      </p:sp>
    </p:spTree>
    <p:extLst>
      <p:ext uri="{BB962C8B-B14F-4D97-AF65-F5344CB8AC3E}">
        <p14:creationId xmlns:p14="http://schemas.microsoft.com/office/powerpoint/2010/main" val="31220071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kern="1200" dirty="0">
                <a:solidFill>
                  <a:schemeClr val="tx1"/>
                </a:solidFill>
                <a:effectLst/>
                <a:latin typeface="+mn-lt"/>
                <a:ea typeface="+mn-ea"/>
                <a:cs typeface="+mn-cs"/>
              </a:rPr>
              <a:t>Le franchiseur peut inscrire directement à l'actif les coûts de franchisage avant la constatation des redevances initiales. Les coûts reportés ne doivent pas excéder les produits attendus de la vente de la franchise, déduction faite des coûts supplémentaires estimatifs.</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100</a:t>
            </a:fld>
            <a:endParaRPr lang="fr-CA"/>
          </a:p>
        </p:txBody>
      </p:sp>
    </p:spTree>
    <p:extLst>
      <p:ext uri="{BB962C8B-B14F-4D97-AF65-F5344CB8AC3E}">
        <p14:creationId xmlns:p14="http://schemas.microsoft.com/office/powerpoint/2010/main" val="745005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r>
              <a:rPr lang="fr-CA" sz="1200" kern="1200" dirty="0">
                <a:solidFill>
                  <a:schemeClr val="tx1"/>
                </a:solidFill>
                <a:effectLst/>
                <a:latin typeface="+mn-lt"/>
                <a:ea typeface="+mn-ea"/>
                <a:cs typeface="+mn-cs"/>
              </a:rPr>
              <a:t>L'évaluation de la contrepartie et le recouvrement sont raisonnablement sûrs le 2 septembre 2018, puisque Franchisé a payé le plein montant, soit 50 000 $, à cette date. Franchiseur a rendu tous les services initiaux et n'a pas d'autres conditions importantes à remplir au 15 novembre 2018. Franchiseur n'a pas l'obligation éventuelle de rembourser un montant quelconque à Franchisé. Par conséquent, Franchiseur doit comptabiliser un produit de 50 000 $ le 15 novembre 2018, si tous les autres critères de constatation des produits sont remplis par ailleurs (c'est-à-dire que l'accord de vente ne prévoit aucune disposition particulière de remboursement).</a:t>
            </a:r>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101</a:t>
            </a:fld>
            <a:endParaRPr lang="fr-CA"/>
          </a:p>
        </p:txBody>
      </p:sp>
    </p:spTree>
    <p:extLst>
      <p:ext uri="{BB962C8B-B14F-4D97-AF65-F5344CB8AC3E}">
        <p14:creationId xmlns:p14="http://schemas.microsoft.com/office/powerpoint/2010/main" val="18879452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0838" y="692150"/>
            <a:ext cx="6156325" cy="3463925"/>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Parfois, les redevances périodiques sont moindres que le coût des services fournis par le franchiseur parce que celui-ci a déjà réduit ses risques en exigeant une redevance initiale très élevée du franchisé. Le franchiseur doit alors reporter une partie de la redevance initiale et l'amortir sur la durée du contrat de franchise.</a:t>
            </a:r>
          </a:p>
          <a:p>
            <a:endParaRPr lang="fr-CA" dirty="0"/>
          </a:p>
        </p:txBody>
      </p:sp>
      <p:sp>
        <p:nvSpPr>
          <p:cNvPr id="4" name="Espace réservé du numéro de diapositive 3"/>
          <p:cNvSpPr>
            <a:spLocks noGrp="1"/>
          </p:cNvSpPr>
          <p:nvPr>
            <p:ph type="sldNum" sz="quarter" idx="10"/>
          </p:nvPr>
        </p:nvSpPr>
        <p:spPr/>
        <p:txBody>
          <a:bodyPr/>
          <a:lstStyle/>
          <a:p>
            <a:fld id="{A6AE4D92-3975-445B-A535-D98B27D65908}" type="slidenum">
              <a:rPr lang="fr-CA" smtClean="0"/>
              <a:t>103</a:t>
            </a:fld>
            <a:endParaRPr lang="fr-CA"/>
          </a:p>
        </p:txBody>
      </p:sp>
    </p:spTree>
    <p:extLst>
      <p:ext uri="{BB962C8B-B14F-4D97-AF65-F5344CB8AC3E}">
        <p14:creationId xmlns:p14="http://schemas.microsoft.com/office/powerpoint/2010/main" val="2009793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7662DE-645B-4806-AAE8-BC46A3E0A7C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727FD9C-2026-4E28-866E-F33BCDD37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7877655-32A5-43AB-B1F0-65E7CF3C04C5}"/>
              </a:ext>
            </a:extLst>
          </p:cNvPr>
          <p:cNvSpPr>
            <a:spLocks noGrp="1"/>
          </p:cNvSpPr>
          <p:nvPr>
            <p:ph type="dt" sz="half" idx="10"/>
          </p:nvPr>
        </p:nvSpPr>
        <p:spPr/>
        <p:txBody>
          <a:bodyPr/>
          <a:lstStyle/>
          <a:p>
            <a:fld id="{6FC5F5D5-5496-4CB1-AD24-02FA9204C367}" type="datetime1">
              <a:rPr lang="fr-FR" smtClean="0"/>
              <a:t>29/03/2021</a:t>
            </a:fld>
            <a:endParaRPr lang="fr-FR"/>
          </a:p>
        </p:txBody>
      </p:sp>
      <p:sp>
        <p:nvSpPr>
          <p:cNvPr id="5" name="Espace réservé du pied de page 4">
            <a:extLst>
              <a:ext uri="{FF2B5EF4-FFF2-40B4-BE49-F238E27FC236}">
                <a16:creationId xmlns:a16="http://schemas.microsoft.com/office/drawing/2014/main" id="{211B28A1-7EA0-4594-9372-BD8598BA5157}"/>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B2FDF620-8392-4CCC-BBA0-A70D838FB0EE}"/>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1862458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BF8F7B-F02B-4B0A-87BD-46D14C2F6A6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17BE93-D61B-4A1B-A04E-B9BC97A36B4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E9FA09-73C5-4F77-A9C4-B3D5022AF014}"/>
              </a:ext>
            </a:extLst>
          </p:cNvPr>
          <p:cNvSpPr>
            <a:spLocks noGrp="1"/>
          </p:cNvSpPr>
          <p:nvPr>
            <p:ph type="dt" sz="half" idx="10"/>
          </p:nvPr>
        </p:nvSpPr>
        <p:spPr/>
        <p:txBody>
          <a:bodyPr/>
          <a:lstStyle/>
          <a:p>
            <a:fld id="{087AE12B-FC86-4C05-A331-090485FB46CC}" type="datetime1">
              <a:rPr lang="fr-FR" smtClean="0"/>
              <a:t>29/03/2021</a:t>
            </a:fld>
            <a:endParaRPr lang="fr-FR"/>
          </a:p>
        </p:txBody>
      </p:sp>
      <p:sp>
        <p:nvSpPr>
          <p:cNvPr id="5" name="Espace réservé du pied de page 4">
            <a:extLst>
              <a:ext uri="{FF2B5EF4-FFF2-40B4-BE49-F238E27FC236}">
                <a16:creationId xmlns:a16="http://schemas.microsoft.com/office/drawing/2014/main" id="{9EFB7335-7DEE-43D6-A967-6FF378068778}"/>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6733D77B-D324-4EC7-A0EC-799B5BF0B397}"/>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3229941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EF7F76-EBBC-4B9A-ABFF-DD1B403D51E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A92AC72-34FC-4267-AFB7-013CF47C39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8F3EDA9-B354-4FBB-9F94-FA9ADBF79E41}"/>
              </a:ext>
            </a:extLst>
          </p:cNvPr>
          <p:cNvSpPr>
            <a:spLocks noGrp="1"/>
          </p:cNvSpPr>
          <p:nvPr>
            <p:ph type="dt" sz="half" idx="10"/>
          </p:nvPr>
        </p:nvSpPr>
        <p:spPr/>
        <p:txBody>
          <a:bodyPr/>
          <a:lstStyle/>
          <a:p>
            <a:fld id="{B68E2CDA-3F9D-4B00-9A03-9819EF459FA8}" type="datetime1">
              <a:rPr lang="fr-FR" smtClean="0"/>
              <a:t>29/03/2021</a:t>
            </a:fld>
            <a:endParaRPr lang="fr-FR"/>
          </a:p>
        </p:txBody>
      </p:sp>
      <p:sp>
        <p:nvSpPr>
          <p:cNvPr id="5" name="Espace réservé du pied de page 4">
            <a:extLst>
              <a:ext uri="{FF2B5EF4-FFF2-40B4-BE49-F238E27FC236}">
                <a16:creationId xmlns:a16="http://schemas.microsoft.com/office/drawing/2014/main" id="{35C26491-F52A-4439-96A4-275523A5CC38}"/>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900048B6-10DC-41E9-93F8-19F408190211}"/>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11642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C57462-D7A7-45EA-9FF6-517454CC5F1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856910-E6D5-454E-9D9F-1F3DDC5F56A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2D34BCF-2BA6-478B-866E-B0DBC041E29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5273349-FC6E-430E-8192-E51D5A61D97D}"/>
              </a:ext>
            </a:extLst>
          </p:cNvPr>
          <p:cNvSpPr>
            <a:spLocks noGrp="1"/>
          </p:cNvSpPr>
          <p:nvPr>
            <p:ph type="dt" sz="half" idx="10"/>
          </p:nvPr>
        </p:nvSpPr>
        <p:spPr/>
        <p:txBody>
          <a:bodyPr/>
          <a:lstStyle/>
          <a:p>
            <a:fld id="{D098BC37-17AB-4587-829E-3483CF17C703}" type="datetime1">
              <a:rPr lang="fr-FR" smtClean="0"/>
              <a:t>29/03/2021</a:t>
            </a:fld>
            <a:endParaRPr lang="fr-FR"/>
          </a:p>
        </p:txBody>
      </p:sp>
      <p:sp>
        <p:nvSpPr>
          <p:cNvPr id="6" name="Espace réservé du pied de page 5">
            <a:extLst>
              <a:ext uri="{FF2B5EF4-FFF2-40B4-BE49-F238E27FC236}">
                <a16:creationId xmlns:a16="http://schemas.microsoft.com/office/drawing/2014/main" id="{9F631EFD-0130-4884-AFFA-AE4D17145629}"/>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198101E1-5D79-46A8-8752-643C085396D0}"/>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148577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D8F7A5-7A88-428B-BA1F-DD478453CC2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6365BFC-9032-4950-AF18-C6B79D9107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088D2DE-B798-4D30-93A9-43024E2EAD6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33C4793-6904-491B-BDEE-B51F04BC8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B861770-724A-4754-836B-498F3573DF3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E6221EE-477D-4611-B399-EC296412890F}"/>
              </a:ext>
            </a:extLst>
          </p:cNvPr>
          <p:cNvSpPr>
            <a:spLocks noGrp="1"/>
          </p:cNvSpPr>
          <p:nvPr>
            <p:ph type="dt" sz="half" idx="10"/>
          </p:nvPr>
        </p:nvSpPr>
        <p:spPr/>
        <p:txBody>
          <a:bodyPr/>
          <a:lstStyle/>
          <a:p>
            <a:fld id="{A4D89C08-374D-4A7B-84ED-53A1F05D90C6}" type="datetime1">
              <a:rPr lang="fr-FR" smtClean="0"/>
              <a:t>29/03/2021</a:t>
            </a:fld>
            <a:endParaRPr lang="fr-FR"/>
          </a:p>
        </p:txBody>
      </p:sp>
      <p:sp>
        <p:nvSpPr>
          <p:cNvPr id="8" name="Espace réservé du pied de page 7">
            <a:extLst>
              <a:ext uri="{FF2B5EF4-FFF2-40B4-BE49-F238E27FC236}">
                <a16:creationId xmlns:a16="http://schemas.microsoft.com/office/drawing/2014/main" id="{68BB67EA-8106-4919-A732-C1B717F05F22}"/>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28123DC7-552F-41FB-A844-E7A237C3D036}"/>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263887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1553C-1490-431D-8929-3B205252C77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CEAE34D-3B27-4D24-B406-E0735914EB14}"/>
              </a:ext>
            </a:extLst>
          </p:cNvPr>
          <p:cNvSpPr>
            <a:spLocks noGrp="1"/>
          </p:cNvSpPr>
          <p:nvPr>
            <p:ph type="dt" sz="half" idx="10"/>
          </p:nvPr>
        </p:nvSpPr>
        <p:spPr/>
        <p:txBody>
          <a:bodyPr/>
          <a:lstStyle/>
          <a:p>
            <a:fld id="{CBC38F08-4E58-4F9E-9315-09D33954378A}" type="datetime1">
              <a:rPr lang="fr-FR" smtClean="0"/>
              <a:t>29/03/2021</a:t>
            </a:fld>
            <a:endParaRPr lang="fr-FR"/>
          </a:p>
        </p:txBody>
      </p:sp>
      <p:sp>
        <p:nvSpPr>
          <p:cNvPr id="4" name="Espace réservé du pied de page 3">
            <a:extLst>
              <a:ext uri="{FF2B5EF4-FFF2-40B4-BE49-F238E27FC236}">
                <a16:creationId xmlns:a16="http://schemas.microsoft.com/office/drawing/2014/main" id="{A9418A12-8541-49CF-881B-1B9D55F7F09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2758094-D8B4-400A-B6C1-FCAC13020969}"/>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441901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3D5026F-1F42-4FE1-8DBB-267DDFD2AFBD}"/>
              </a:ext>
            </a:extLst>
          </p:cNvPr>
          <p:cNvSpPr>
            <a:spLocks noGrp="1"/>
          </p:cNvSpPr>
          <p:nvPr>
            <p:ph type="dt" sz="half" idx="10"/>
          </p:nvPr>
        </p:nvSpPr>
        <p:spPr/>
        <p:txBody>
          <a:bodyPr/>
          <a:lstStyle/>
          <a:p>
            <a:fld id="{E67277E1-DCEB-41AA-87E5-B9DCD1997C99}" type="datetime1">
              <a:rPr lang="fr-FR" smtClean="0"/>
              <a:t>29/03/2021</a:t>
            </a:fld>
            <a:endParaRPr lang="fr-FR"/>
          </a:p>
        </p:txBody>
      </p:sp>
      <p:sp>
        <p:nvSpPr>
          <p:cNvPr id="3" name="Espace réservé du pied de page 2">
            <a:extLst>
              <a:ext uri="{FF2B5EF4-FFF2-40B4-BE49-F238E27FC236}">
                <a16:creationId xmlns:a16="http://schemas.microsoft.com/office/drawing/2014/main" id="{8CA010F2-09AA-4263-BEC7-54AA8D68DA30}"/>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0746AF3C-0ABA-49E2-9953-BCF09A2CDC3D}"/>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328720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8B8B6-08F9-4E2C-9CA7-688196622F0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F6F985E-7792-499E-AD74-DCBB9C626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B9BF25C-9834-44E9-B4E4-D6F33B792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3971E2-08F2-4A3D-83A4-4A53B4F0279D}"/>
              </a:ext>
            </a:extLst>
          </p:cNvPr>
          <p:cNvSpPr>
            <a:spLocks noGrp="1"/>
          </p:cNvSpPr>
          <p:nvPr>
            <p:ph type="dt" sz="half" idx="10"/>
          </p:nvPr>
        </p:nvSpPr>
        <p:spPr/>
        <p:txBody>
          <a:bodyPr/>
          <a:lstStyle/>
          <a:p>
            <a:fld id="{2B86A362-EEFA-4656-B788-535AA76FA21F}" type="datetime1">
              <a:rPr lang="fr-FR" smtClean="0"/>
              <a:t>29/03/2021</a:t>
            </a:fld>
            <a:endParaRPr lang="fr-FR"/>
          </a:p>
        </p:txBody>
      </p:sp>
      <p:sp>
        <p:nvSpPr>
          <p:cNvPr id="6" name="Espace réservé du pied de page 5">
            <a:extLst>
              <a:ext uri="{FF2B5EF4-FFF2-40B4-BE49-F238E27FC236}">
                <a16:creationId xmlns:a16="http://schemas.microsoft.com/office/drawing/2014/main" id="{84315A26-BBC5-486A-A451-165A1D511951}"/>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216F4AC8-E921-4E67-AF80-FB67CC1AFD3A}"/>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413106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933347-1B42-4057-9745-C99B0861D03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D23D476-233E-4281-B680-2CE1927219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5BA7DCB-2584-419B-A4BA-E6AB933F6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FCECF35-E587-4AA4-A742-6C369B64E301}"/>
              </a:ext>
            </a:extLst>
          </p:cNvPr>
          <p:cNvSpPr>
            <a:spLocks noGrp="1"/>
          </p:cNvSpPr>
          <p:nvPr>
            <p:ph type="dt" sz="half" idx="10"/>
          </p:nvPr>
        </p:nvSpPr>
        <p:spPr/>
        <p:txBody>
          <a:bodyPr/>
          <a:lstStyle/>
          <a:p>
            <a:fld id="{91D82FCD-A0A9-4E2D-9C77-8C737961F03D}" type="datetime1">
              <a:rPr lang="fr-FR" smtClean="0"/>
              <a:t>29/03/2021</a:t>
            </a:fld>
            <a:endParaRPr lang="fr-FR"/>
          </a:p>
        </p:txBody>
      </p:sp>
      <p:sp>
        <p:nvSpPr>
          <p:cNvPr id="6" name="Espace réservé du pied de page 5">
            <a:extLst>
              <a:ext uri="{FF2B5EF4-FFF2-40B4-BE49-F238E27FC236}">
                <a16:creationId xmlns:a16="http://schemas.microsoft.com/office/drawing/2014/main" id="{581F70EE-488F-497A-87D0-F5E935BD69FE}"/>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FCFF7818-A8E6-41A2-BFD9-8E3B4DEA7BE8}"/>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3607841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48CE7C-8572-4C1D-BB5F-D89FEA4C9EB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F04201C-1003-4717-8354-BA9B593457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7303F40-F2D3-40BE-9F50-0DAFDCB9006F}"/>
              </a:ext>
            </a:extLst>
          </p:cNvPr>
          <p:cNvSpPr>
            <a:spLocks noGrp="1"/>
          </p:cNvSpPr>
          <p:nvPr>
            <p:ph type="dt" sz="half" idx="10"/>
          </p:nvPr>
        </p:nvSpPr>
        <p:spPr/>
        <p:txBody>
          <a:bodyPr/>
          <a:lstStyle/>
          <a:p>
            <a:fld id="{90996AB7-A10B-489C-A115-B9AC049040AC}" type="datetime1">
              <a:rPr lang="fr-FR" smtClean="0"/>
              <a:t>29/03/2021</a:t>
            </a:fld>
            <a:endParaRPr lang="fr-FR"/>
          </a:p>
        </p:txBody>
      </p:sp>
      <p:sp>
        <p:nvSpPr>
          <p:cNvPr id="5" name="Espace réservé du pied de page 4">
            <a:extLst>
              <a:ext uri="{FF2B5EF4-FFF2-40B4-BE49-F238E27FC236}">
                <a16:creationId xmlns:a16="http://schemas.microsoft.com/office/drawing/2014/main" id="{B0E25A15-CA5D-4EEA-A37E-EB2F3722BF73}"/>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64EAB53A-FF5B-45D5-8CB0-F4BF3B5E556B}"/>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2053860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A438F56-B593-4189-A688-B0F2F325D3C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059EA96-EACB-4AE1-91D2-D900711B1A7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8DA6466-6AE3-43C7-AD24-0EDE4767C926}"/>
              </a:ext>
            </a:extLst>
          </p:cNvPr>
          <p:cNvSpPr>
            <a:spLocks noGrp="1"/>
          </p:cNvSpPr>
          <p:nvPr>
            <p:ph type="dt" sz="half" idx="10"/>
          </p:nvPr>
        </p:nvSpPr>
        <p:spPr/>
        <p:txBody>
          <a:bodyPr/>
          <a:lstStyle/>
          <a:p>
            <a:fld id="{4CFA6620-172E-46D9-841F-200E7F61A63B}" type="datetime1">
              <a:rPr lang="fr-FR" smtClean="0"/>
              <a:t>29/03/2021</a:t>
            </a:fld>
            <a:endParaRPr lang="fr-FR"/>
          </a:p>
        </p:txBody>
      </p:sp>
      <p:sp>
        <p:nvSpPr>
          <p:cNvPr id="5" name="Espace réservé du pied de page 4">
            <a:extLst>
              <a:ext uri="{FF2B5EF4-FFF2-40B4-BE49-F238E27FC236}">
                <a16:creationId xmlns:a16="http://schemas.microsoft.com/office/drawing/2014/main" id="{D06E8196-719A-4160-9A34-B81B5AD87769}"/>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725A94B3-F09A-420F-B3E4-B42583A84993}"/>
              </a:ext>
            </a:extLst>
          </p:cNvPr>
          <p:cNvSpPr>
            <a:spLocks noGrp="1"/>
          </p:cNvSpPr>
          <p:nvPr>
            <p:ph type="sldNum" sz="quarter" idx="12"/>
          </p:nvPr>
        </p:nvSpPr>
        <p:spPr/>
        <p:txBody>
          <a:bodyPr/>
          <a:lstStyle/>
          <a:p>
            <a:fld id="{B407F3FA-7E18-4DCE-B6E1-AF2F18B1E770}" type="slidenum">
              <a:rPr lang="fr-FR" smtClean="0"/>
              <a:t>‹N°›</a:t>
            </a:fld>
            <a:endParaRPr lang="fr-FR"/>
          </a:p>
        </p:txBody>
      </p:sp>
    </p:spTree>
    <p:extLst>
      <p:ext uri="{BB962C8B-B14F-4D97-AF65-F5344CB8AC3E}">
        <p14:creationId xmlns:p14="http://schemas.microsoft.com/office/powerpoint/2010/main" val="1173291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350F866-A392-4507-BDE0-D5CD478AB5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31E5FB4-E78D-4826-88EA-B3560DF93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DEDC20E-4033-450D-87BD-B5E22271A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6DA967-0FD6-4E2B-8C27-2F480182B693}" type="datetime1">
              <a:rPr lang="fr-FR" smtClean="0"/>
              <a:t>29/03/2021</a:t>
            </a:fld>
            <a:endParaRPr lang="fr-FR"/>
          </a:p>
        </p:txBody>
      </p:sp>
      <p:sp>
        <p:nvSpPr>
          <p:cNvPr id="5" name="Espace réservé du pied de page 4">
            <a:extLst>
              <a:ext uri="{FF2B5EF4-FFF2-40B4-BE49-F238E27FC236}">
                <a16:creationId xmlns:a16="http://schemas.microsoft.com/office/drawing/2014/main" id="{86E8DFBB-8BB1-40EE-BA86-9998C9FE89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B1B9A725-E789-40BF-887C-681FB10086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7F3FA-7E18-4DCE-B6E1-AF2F18B1E770}" type="slidenum">
              <a:rPr lang="fr-FR" smtClean="0"/>
              <a:t>‹N°›</a:t>
            </a:fld>
            <a:endParaRPr lang="fr-FR"/>
          </a:p>
        </p:txBody>
      </p:sp>
    </p:spTree>
    <p:extLst>
      <p:ext uri="{BB962C8B-B14F-4D97-AF65-F5344CB8AC3E}">
        <p14:creationId xmlns:p14="http://schemas.microsoft.com/office/powerpoint/2010/main" val="1271097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738A2F-B2FD-4B7A-87EC-6289C72DE17B}"/>
              </a:ext>
            </a:extLst>
          </p:cNvPr>
          <p:cNvSpPr>
            <a:spLocks noGrp="1"/>
          </p:cNvSpPr>
          <p:nvPr>
            <p:ph type="ctrTitle"/>
          </p:nvPr>
        </p:nvSpPr>
        <p:spPr/>
        <p:txBody>
          <a:bodyPr>
            <a:normAutofit/>
          </a:bodyPr>
          <a:lstStyle/>
          <a:p>
            <a:r>
              <a:rPr lang="fr-FR" dirty="0"/>
              <a:t> (Constatation des) produits</a:t>
            </a:r>
            <a:br>
              <a:rPr lang="fr-FR" dirty="0"/>
            </a:br>
            <a:r>
              <a:rPr lang="fr-FR" sz="5400" dirty="0"/>
              <a:t>Chapitre 3400</a:t>
            </a:r>
            <a:endParaRPr lang="fr-FR" dirty="0"/>
          </a:p>
        </p:txBody>
      </p:sp>
      <p:sp>
        <p:nvSpPr>
          <p:cNvPr id="3" name="Sous-titre 2">
            <a:extLst>
              <a:ext uri="{FF2B5EF4-FFF2-40B4-BE49-F238E27FC236}">
                <a16:creationId xmlns:a16="http://schemas.microsoft.com/office/drawing/2014/main" id="{BD88983C-C924-4ED5-BE55-AB9A8A8E5389}"/>
              </a:ext>
            </a:extLst>
          </p:cNvPr>
          <p:cNvSpPr>
            <a:spLocks noGrp="1"/>
          </p:cNvSpPr>
          <p:nvPr>
            <p:ph type="subTitle" idx="1"/>
          </p:nvPr>
        </p:nvSpPr>
        <p:spPr/>
        <p:txBody>
          <a:bodyPr>
            <a:normAutofit lnSpcReduction="10000"/>
          </a:bodyPr>
          <a:lstStyle/>
          <a:p>
            <a:endParaRPr lang="fr-CA" dirty="0"/>
          </a:p>
          <a:p>
            <a:endParaRPr lang="fr-CA" dirty="0"/>
          </a:p>
          <a:p>
            <a:r>
              <a:rPr lang="fr-FR" dirty="0"/>
              <a:t>Louise Overbeek</a:t>
            </a:r>
          </a:p>
          <a:p>
            <a:r>
              <a:rPr lang="fr-FR" sz="2000" dirty="0"/>
              <a:t>Mars 2021</a:t>
            </a:r>
          </a:p>
        </p:txBody>
      </p:sp>
    </p:spTree>
    <p:extLst>
      <p:ext uri="{BB962C8B-B14F-4D97-AF65-F5344CB8AC3E}">
        <p14:creationId xmlns:p14="http://schemas.microsoft.com/office/powerpoint/2010/main" val="2997724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NCECF</a:t>
            </a:r>
            <a:endParaRPr lang="fr-FR" dirty="0"/>
          </a:p>
        </p:txBody>
      </p:sp>
      <p:sp>
        <p:nvSpPr>
          <p:cNvPr id="3" name="Espace réservé du contenu 2"/>
          <p:cNvSpPr>
            <a:spLocks noGrp="1"/>
          </p:cNvSpPr>
          <p:nvPr>
            <p:ph idx="1"/>
          </p:nvPr>
        </p:nvSpPr>
        <p:spPr>
          <a:xfrm>
            <a:off x="914400" y="1600200"/>
            <a:ext cx="10439400" cy="4925144"/>
          </a:xfrm>
        </p:spPr>
        <p:txBody>
          <a:bodyPr>
            <a:normAutofit/>
          </a:bodyPr>
          <a:lstStyle/>
          <a:p>
            <a:pPr marL="457200" lvl="1" indent="0">
              <a:buNone/>
            </a:pPr>
            <a:endParaRPr lang="fr-FR" sz="1100" dirty="0"/>
          </a:p>
          <a:p>
            <a:pPr lvl="1"/>
            <a:r>
              <a:rPr lang="fr-FR" sz="3200" dirty="0"/>
              <a:t>Chapitre 3400 (Constatation des) produits</a:t>
            </a:r>
          </a:p>
          <a:p>
            <a:pPr lvl="1"/>
            <a:r>
              <a:rPr lang="fr-FR" sz="3200" dirty="0"/>
              <a:t>NOC 2 Franchises</a:t>
            </a:r>
          </a:p>
          <a:p>
            <a:pPr lvl="1"/>
            <a:endParaRPr lang="fr-FR" dirty="0"/>
          </a:p>
          <a:p>
            <a:pPr lvl="1"/>
            <a:endParaRPr lang="fr-FR" dirty="0"/>
          </a:p>
          <a:p>
            <a:pPr lvl="1"/>
            <a:endParaRPr lang="fr-FR" dirty="0"/>
          </a:p>
          <a:p>
            <a:pPr lvl="1"/>
            <a:endParaRPr lang="fr-FR" dirty="0"/>
          </a:p>
          <a:p>
            <a:pPr lvl="1"/>
            <a:r>
              <a:rPr lang="fr-FR" dirty="0">
                <a:solidFill>
                  <a:srgbClr val="FF0000"/>
                </a:solidFill>
              </a:rPr>
              <a:t>IFRS 15</a:t>
            </a:r>
          </a:p>
          <a:p>
            <a:pPr marL="0" indent="0">
              <a:buNone/>
            </a:pPr>
            <a:endParaRPr lang="fr-FR" sz="1000" dirty="0"/>
          </a:p>
        </p:txBody>
      </p:sp>
      <p:sp>
        <p:nvSpPr>
          <p:cNvPr id="4" name="Espace réservé du numéro de diapositive 3"/>
          <p:cNvSpPr>
            <a:spLocks noGrp="1"/>
          </p:cNvSpPr>
          <p:nvPr>
            <p:ph type="sldNum" sz="quarter" idx="12"/>
          </p:nvPr>
        </p:nvSpPr>
        <p:spPr/>
        <p:txBody>
          <a:bodyPr/>
          <a:lstStyle/>
          <a:p>
            <a:fld id="{F60418E2-045D-4E06-9C53-3F708179A7E0}" type="slidenum">
              <a:rPr lang="fr-CA" smtClean="0"/>
              <a:t>2</a:t>
            </a:fld>
            <a:endParaRPr lang="fr-CA"/>
          </a:p>
        </p:txBody>
      </p:sp>
      <p:sp>
        <p:nvSpPr>
          <p:cNvPr id="5" name="Espace réservé du pied de page 4">
            <a:extLst>
              <a:ext uri="{FF2B5EF4-FFF2-40B4-BE49-F238E27FC236}">
                <a16:creationId xmlns:a16="http://schemas.microsoft.com/office/drawing/2014/main" id="{0A681442-036D-4886-BBA4-17AE3C1EDE8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9615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marL="0" indent="0" algn="ctr">
              <a:buNone/>
            </a:pPr>
            <a:br>
              <a:rPr lang="fr-CA" sz="6000" b="1" dirty="0">
                <a:solidFill>
                  <a:srgbClr val="FF0000"/>
                </a:solidFill>
              </a:rPr>
            </a:br>
            <a:r>
              <a:rPr lang="fr-CA" sz="6000" b="1" dirty="0">
                <a:solidFill>
                  <a:srgbClr val="FF0000"/>
                </a:solidFill>
              </a:rPr>
              <a:t>Chap. 3400</a:t>
            </a:r>
            <a:br>
              <a:rPr lang="fr-CA" sz="6000" b="1" dirty="0">
                <a:solidFill>
                  <a:srgbClr val="FF0000"/>
                </a:solidFill>
              </a:rPr>
            </a:br>
            <a:r>
              <a:rPr lang="fr-CA" sz="6000" b="1" dirty="0">
                <a:solidFill>
                  <a:srgbClr val="FF0000"/>
                </a:solidFill>
              </a:rPr>
              <a:t>(Constatation des) produits</a:t>
            </a:r>
            <a:endParaRPr lang="fr-FR" sz="6000"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a:t>
            </a:fld>
            <a:endParaRPr lang="fr-FR"/>
          </a:p>
        </p:txBody>
      </p:sp>
      <p:sp>
        <p:nvSpPr>
          <p:cNvPr id="5" name="Espace réservé du pied de page 4">
            <a:extLst>
              <a:ext uri="{FF2B5EF4-FFF2-40B4-BE49-F238E27FC236}">
                <a16:creationId xmlns:a16="http://schemas.microsoft.com/office/drawing/2014/main" id="{DA6EC6BB-A1D0-4814-A780-AD53FFBF4EF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1333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600" dirty="0"/>
              <a:t>Chap. 3400 </a:t>
            </a:r>
            <a:r>
              <a:rPr lang="fr-CA" sz="3600" i="1" dirty="0"/>
              <a:t>Produits</a:t>
            </a:r>
            <a:r>
              <a:rPr lang="fr-CA" sz="3600" dirty="0"/>
              <a:t> – portée </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Sujet abordé dans d’autres chapitres pour les catégories de produits suivantes : </a:t>
            </a:r>
          </a:p>
          <a:p>
            <a:r>
              <a:rPr lang="fr-CA" dirty="0"/>
              <a:t>Les produits provenant de contrats de location – chap. 3065, </a:t>
            </a:r>
            <a:r>
              <a:rPr lang="fr-CA" i="1" dirty="0"/>
              <a:t>Contrats de location </a:t>
            </a:r>
            <a:r>
              <a:rPr lang="fr-CA" dirty="0"/>
              <a:t>; </a:t>
            </a:r>
          </a:p>
          <a:p>
            <a:r>
              <a:rPr lang="fr-CA" dirty="0"/>
              <a:t>Les produits provenant de participations comptabilisées à la valeur de consolidation – chap. 3051, </a:t>
            </a:r>
            <a:r>
              <a:rPr lang="fr-CA" i="1" dirty="0"/>
              <a:t>Placements </a:t>
            </a:r>
            <a:r>
              <a:rPr lang="fr-CA" dirty="0"/>
              <a:t>; </a:t>
            </a:r>
          </a:p>
          <a:p>
            <a:r>
              <a:rPr lang="fr-CA" dirty="0"/>
              <a:t>Les produits provenant de subventions – chap. 3800, </a:t>
            </a:r>
            <a:r>
              <a:rPr lang="fr-CA" i="1" dirty="0"/>
              <a:t>Aide gouvernementale</a:t>
            </a:r>
            <a:r>
              <a:rPr lang="fr-CA" dirty="0"/>
              <a:t>. </a:t>
            </a:r>
          </a:p>
          <a:p>
            <a:pPr marL="0" indent="0">
              <a:buNone/>
            </a:pPr>
            <a:endParaRPr lang="fr-CA" dirty="0"/>
          </a:p>
          <a:p>
            <a:endParaRPr lang="fr-CA" dirty="0"/>
          </a:p>
        </p:txBody>
      </p:sp>
      <p:sp>
        <p:nvSpPr>
          <p:cNvPr id="4" name="Espace réservé du pied de page 3">
            <a:extLst>
              <a:ext uri="{FF2B5EF4-FFF2-40B4-BE49-F238E27FC236}">
                <a16:creationId xmlns:a16="http://schemas.microsoft.com/office/drawing/2014/main" id="{5FD9BA70-5F53-41ED-9803-F86093933C4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2EBFB8E-956A-4DFA-BC00-47B36998B6AD}"/>
              </a:ext>
            </a:extLst>
          </p:cNvPr>
          <p:cNvSpPr>
            <a:spLocks noGrp="1"/>
          </p:cNvSpPr>
          <p:nvPr>
            <p:ph type="sldNum" sz="quarter" idx="12"/>
          </p:nvPr>
        </p:nvSpPr>
        <p:spPr/>
        <p:txBody>
          <a:bodyPr/>
          <a:lstStyle/>
          <a:p>
            <a:fld id="{B407F3FA-7E18-4DCE-B6E1-AF2F18B1E770}" type="slidenum">
              <a:rPr lang="fr-FR" smtClean="0"/>
              <a:t>4</a:t>
            </a:fld>
            <a:endParaRPr lang="fr-FR"/>
          </a:p>
        </p:txBody>
      </p:sp>
    </p:spTree>
    <p:extLst>
      <p:ext uri="{BB962C8B-B14F-4D97-AF65-F5344CB8AC3E}">
        <p14:creationId xmlns:p14="http://schemas.microsoft.com/office/powerpoint/2010/main" val="2759435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Produits</a:t>
            </a:r>
          </a:p>
        </p:txBody>
      </p:sp>
      <p:sp>
        <p:nvSpPr>
          <p:cNvPr id="3" name="Espace réservé du contenu 2"/>
          <p:cNvSpPr>
            <a:spLocks noGrp="1"/>
          </p:cNvSpPr>
          <p:nvPr>
            <p:ph idx="1"/>
          </p:nvPr>
        </p:nvSpPr>
        <p:spPr/>
        <p:txBody>
          <a:bodyPr>
            <a:normAutofit lnSpcReduction="10000"/>
          </a:bodyPr>
          <a:lstStyle/>
          <a:p>
            <a:pPr marL="0" indent="0">
              <a:buNone/>
            </a:pPr>
            <a:r>
              <a:rPr lang="fr-CA" dirty="0"/>
              <a:t>Définition :</a:t>
            </a:r>
          </a:p>
          <a:p>
            <a:r>
              <a:rPr lang="fr-CA" dirty="0"/>
              <a:t>Sommes et autres contreparties reçues ou à recevoir</a:t>
            </a:r>
          </a:p>
          <a:p>
            <a:r>
              <a:rPr lang="fr-CA" dirty="0"/>
              <a:t>Dans le cours des activités normales de l’entreprise généralement au titre de</a:t>
            </a:r>
          </a:p>
          <a:p>
            <a:pPr lvl="1"/>
            <a:r>
              <a:rPr lang="fr-CA" dirty="0"/>
              <a:t>Vente de biens</a:t>
            </a:r>
          </a:p>
          <a:p>
            <a:pPr lvl="1"/>
            <a:r>
              <a:rPr lang="fr-CA" dirty="0"/>
              <a:t>Prestation de services</a:t>
            </a:r>
          </a:p>
          <a:p>
            <a:pPr lvl="1"/>
            <a:r>
              <a:rPr lang="fr-CA" dirty="0"/>
              <a:t>Utilisation de ressources par des tiers moyennant des intérêts, des redevances ou des dividendes</a:t>
            </a:r>
          </a:p>
          <a:p>
            <a:r>
              <a:rPr lang="fr-CA" dirty="0"/>
              <a:t>Les produits sont nets des remises, ristournes, rendus et réfactions, des indemnités pour marchandises endommagées, et des taxes de ventes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a:t>
            </a:fld>
            <a:endParaRPr lang="fr-FR"/>
          </a:p>
        </p:txBody>
      </p:sp>
      <p:sp>
        <p:nvSpPr>
          <p:cNvPr id="5" name="Espace réservé du pied de page 4">
            <a:extLst>
              <a:ext uri="{FF2B5EF4-FFF2-40B4-BE49-F238E27FC236}">
                <a16:creationId xmlns:a16="http://schemas.microsoft.com/office/drawing/2014/main" id="{8642DA3F-A6EE-45DA-A8E3-E96DA01F242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066267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Constatation des produits </a:t>
            </a:r>
            <a:br>
              <a:rPr lang="fr-CA" dirty="0"/>
            </a:br>
            <a:r>
              <a:rPr lang="fr-CA" dirty="0"/>
              <a:t>– vente de biens</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Constatation des produits lorsque :</a:t>
            </a:r>
          </a:p>
          <a:p>
            <a:r>
              <a:rPr lang="fr-CA" dirty="0"/>
              <a:t>Tous les risques et avantages importants inhérents à la propriété ont été transférés à l’acheteur</a:t>
            </a:r>
          </a:p>
          <a:p>
            <a:pPr lvl="1"/>
            <a:r>
              <a:rPr lang="fr-CA" dirty="0"/>
              <a:t>Vendeur n’exerce plus sur les biens cédés un droit de gestion ou un contrôle effectif</a:t>
            </a:r>
          </a:p>
          <a:p>
            <a:r>
              <a:rPr lang="fr-CA" dirty="0"/>
              <a:t>Mesure de la contrepartie et estimation des rendus sont raisonnablement sûres</a:t>
            </a:r>
          </a:p>
          <a:p>
            <a:r>
              <a:rPr lang="fr-CA" dirty="0"/>
              <a:t>Recouvrement final est raisonnablement sûr</a:t>
            </a:r>
          </a:p>
          <a:p>
            <a:pPr lvl="1"/>
            <a:r>
              <a:rPr lang="fr-CA" i="1" dirty="0"/>
              <a:t>(provision mauvaises créances si produit déjà constaté)</a:t>
            </a:r>
          </a:p>
          <a:p>
            <a:pPr lvl="1"/>
            <a:endParaRPr lang="fr-CA" i="1" dirty="0"/>
          </a:p>
          <a:p>
            <a:pPr lvl="1"/>
            <a:endParaRPr lang="fr-CA" i="1" dirty="0"/>
          </a:p>
          <a:p>
            <a:pPr lvl="1">
              <a:buFont typeface="Wingdings" panose="05000000000000000000" pitchFamily="2" charset="2"/>
              <a:buChar char="Ø"/>
            </a:pPr>
            <a:r>
              <a:rPr lang="fr-CA" dirty="0">
                <a:solidFill>
                  <a:srgbClr val="FF0000"/>
                </a:solidFill>
              </a:rPr>
              <a:t>IFRS 15 : 5 étapes</a:t>
            </a:r>
          </a:p>
          <a:p>
            <a:pPr lvl="2">
              <a:buFont typeface="Wingdings" panose="05000000000000000000" pitchFamily="2" charset="2"/>
              <a:buChar char="Ø"/>
            </a:pPr>
            <a:r>
              <a:rPr lang="fr-CA" dirty="0">
                <a:solidFill>
                  <a:srgbClr val="FF0000"/>
                </a:solidFill>
              </a:rPr>
              <a:t>Indications beaucoup plus détaillées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a:t>
            </a:fld>
            <a:endParaRPr lang="fr-FR"/>
          </a:p>
        </p:txBody>
      </p:sp>
      <p:sp>
        <p:nvSpPr>
          <p:cNvPr id="5" name="Espace réservé du pied de page 4">
            <a:extLst>
              <a:ext uri="{FF2B5EF4-FFF2-40B4-BE49-F238E27FC236}">
                <a16:creationId xmlns:a16="http://schemas.microsoft.com/office/drawing/2014/main" id="{9FDAC6B8-FD6E-4903-959F-3B6C2E12364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7637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Constatation des produits</a:t>
            </a:r>
            <a:br>
              <a:rPr lang="fr-CA" sz="4000" dirty="0"/>
            </a:br>
            <a:r>
              <a:rPr lang="fr-CA" sz="3600" dirty="0"/>
              <a:t>Prestation de services et contrats à long terme</a:t>
            </a:r>
            <a:endParaRPr lang="fr-CA" dirty="0"/>
          </a:p>
        </p:txBody>
      </p:sp>
      <p:sp>
        <p:nvSpPr>
          <p:cNvPr id="3" name="Espace réservé du contenu 2"/>
          <p:cNvSpPr>
            <a:spLocks noGrp="1"/>
          </p:cNvSpPr>
          <p:nvPr>
            <p:ph idx="1"/>
          </p:nvPr>
        </p:nvSpPr>
        <p:spPr>
          <a:xfrm>
            <a:off x="838200" y="1828801"/>
            <a:ext cx="10515600" cy="4297363"/>
          </a:xfrm>
        </p:spPr>
        <p:txBody>
          <a:bodyPr>
            <a:normAutofit fontScale="92500" lnSpcReduction="10000"/>
          </a:bodyPr>
          <a:lstStyle/>
          <a:p>
            <a:pPr marL="0" indent="0">
              <a:buNone/>
            </a:pPr>
            <a:r>
              <a:rPr lang="fr-CA" dirty="0"/>
              <a:t>Méthode de l’avancement des travaux</a:t>
            </a:r>
          </a:p>
          <a:p>
            <a:r>
              <a:rPr lang="fr-CA" dirty="0"/>
              <a:t>Choix à privilégier</a:t>
            </a:r>
          </a:p>
          <a:p>
            <a:pPr lvl="1"/>
            <a:r>
              <a:rPr lang="fr-CA" dirty="0"/>
              <a:t>Différentes façons de déterminer le degré d’avancement</a:t>
            </a:r>
          </a:p>
          <a:p>
            <a:pPr marL="457200" lvl="1" indent="0">
              <a:buNone/>
            </a:pPr>
            <a:endParaRPr lang="fr-CA" dirty="0"/>
          </a:p>
          <a:p>
            <a:pPr marL="0" indent="0">
              <a:buNone/>
            </a:pPr>
            <a:r>
              <a:rPr lang="fr-CA" dirty="0"/>
              <a:t>Méthode de l’achèvement des travaux</a:t>
            </a:r>
          </a:p>
          <a:p>
            <a:r>
              <a:rPr lang="fr-CA" dirty="0"/>
              <a:t>Lorsque l’exécution de la prestation réside dans la réalisation d’un seul acte</a:t>
            </a:r>
          </a:p>
          <a:p>
            <a:r>
              <a:rPr lang="fr-CA" dirty="0"/>
              <a:t>Lorsque l’entreprise ne peut raisonnablement estimer le degré d’avancement des travaux</a:t>
            </a:r>
          </a:p>
          <a:p>
            <a:pPr marL="0" indent="0">
              <a:buNone/>
            </a:pPr>
            <a:endParaRPr lang="fr-CA" dirty="0"/>
          </a:p>
          <a:p>
            <a:pPr lvl="1"/>
            <a:r>
              <a:rPr lang="fr-CA" dirty="0">
                <a:solidFill>
                  <a:srgbClr val="3366FF"/>
                </a:solidFill>
              </a:rPr>
              <a:t>Illustrations dans le guide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a:t>
            </a:fld>
            <a:endParaRPr lang="fr-FR"/>
          </a:p>
        </p:txBody>
      </p:sp>
      <p:sp>
        <p:nvSpPr>
          <p:cNvPr id="5" name="Espace réservé du pied de page 4">
            <a:extLst>
              <a:ext uri="{FF2B5EF4-FFF2-40B4-BE49-F238E27FC236}">
                <a16:creationId xmlns:a16="http://schemas.microsoft.com/office/drawing/2014/main" id="{D0441AC4-DE6E-4C08-AE50-CF94448FC6D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930367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600" dirty="0"/>
              <a:t>Produits</a:t>
            </a:r>
            <a:br>
              <a:rPr lang="fr-CA" sz="3600" dirty="0"/>
            </a:br>
            <a:r>
              <a:rPr lang="fr-CA" sz="3200" dirty="0"/>
              <a:t>Enjeu : moment de comptabilisation </a:t>
            </a:r>
          </a:p>
        </p:txBody>
      </p:sp>
      <p:sp>
        <p:nvSpPr>
          <p:cNvPr id="3" name="Espace réservé du contenu 2"/>
          <p:cNvSpPr>
            <a:spLocks noGrp="1"/>
          </p:cNvSpPr>
          <p:nvPr>
            <p:ph idx="1"/>
          </p:nvPr>
        </p:nvSpPr>
        <p:spPr/>
        <p:txBody>
          <a:bodyPr>
            <a:normAutofit lnSpcReduction="10000"/>
          </a:bodyPr>
          <a:lstStyle/>
          <a:p>
            <a:pPr marL="0" indent="0">
              <a:buNone/>
            </a:pPr>
            <a:r>
              <a:rPr lang="fr-CA" sz="2600" dirty="0"/>
              <a:t>4 critères généraux </a:t>
            </a:r>
          </a:p>
          <a:p>
            <a:r>
              <a:rPr lang="fr-CA" sz="2600" dirty="0"/>
              <a:t>Accord conclu avec client (preuves de l'existence d'un accord)</a:t>
            </a:r>
          </a:p>
          <a:p>
            <a:r>
              <a:rPr lang="fr-CA" sz="2600" dirty="0"/>
              <a:t>Livraison biens ou services rendus (exécution achevée, </a:t>
            </a:r>
            <a:r>
              <a:rPr lang="fr-CA" sz="2000" dirty="0"/>
              <a:t>ou méthode avancement pour les services et contrats à long terme</a:t>
            </a:r>
            <a:r>
              <a:rPr lang="fr-CA" sz="2600" dirty="0"/>
              <a:t>) </a:t>
            </a:r>
          </a:p>
          <a:p>
            <a:r>
              <a:rPr lang="fr-CA" sz="2600" dirty="0"/>
              <a:t>Contrepartie (prix à payer au vendeur) déterminée ou déterminable.</a:t>
            </a:r>
          </a:p>
          <a:p>
            <a:r>
              <a:rPr lang="fr-CA" sz="2600" dirty="0"/>
              <a:t>Recouvrement (raisonnablement sûr)</a:t>
            </a:r>
          </a:p>
          <a:p>
            <a:pPr marL="0" indent="0">
              <a:buNone/>
            </a:pPr>
            <a:endParaRPr lang="fr-CA" sz="2600" dirty="0"/>
          </a:p>
          <a:p>
            <a:pPr marL="0" indent="0">
              <a:buNone/>
            </a:pPr>
            <a:r>
              <a:rPr lang="fr-CA" sz="2600" dirty="0"/>
              <a:t>Difficultés d’application de ces critères en pratique</a:t>
            </a:r>
          </a:p>
          <a:p>
            <a:r>
              <a:rPr lang="fr-CA" sz="2200" dirty="0"/>
              <a:t>Incertitudes – par exemple droit de retour ou de multiples livraisons (ou éléments d'exécution).</a:t>
            </a:r>
            <a:endParaRPr lang="fr-CA" dirty="0"/>
          </a:p>
          <a:p>
            <a:pPr marL="0" indent="0">
              <a:buNone/>
            </a:pPr>
            <a:endParaRPr lang="fr-CA" dirty="0"/>
          </a:p>
        </p:txBody>
      </p:sp>
      <p:sp>
        <p:nvSpPr>
          <p:cNvPr id="4" name="Espace réservé du pied de page 3">
            <a:extLst>
              <a:ext uri="{FF2B5EF4-FFF2-40B4-BE49-F238E27FC236}">
                <a16:creationId xmlns:a16="http://schemas.microsoft.com/office/drawing/2014/main" id="{B62CA562-A41A-4202-B3F6-31B9FA63C68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BF457E3-8195-462F-AA5F-D0E38FBF1EAA}"/>
              </a:ext>
            </a:extLst>
          </p:cNvPr>
          <p:cNvSpPr>
            <a:spLocks noGrp="1"/>
          </p:cNvSpPr>
          <p:nvPr>
            <p:ph type="sldNum" sz="quarter" idx="12"/>
          </p:nvPr>
        </p:nvSpPr>
        <p:spPr/>
        <p:txBody>
          <a:bodyPr/>
          <a:lstStyle/>
          <a:p>
            <a:fld id="{B407F3FA-7E18-4DCE-B6E1-AF2F18B1E770}" type="slidenum">
              <a:rPr lang="fr-FR" smtClean="0"/>
              <a:t>8</a:t>
            </a:fld>
            <a:endParaRPr lang="fr-FR"/>
          </a:p>
        </p:txBody>
      </p:sp>
    </p:spTree>
    <p:extLst>
      <p:ext uri="{BB962C8B-B14F-4D97-AF65-F5344CB8AC3E}">
        <p14:creationId xmlns:p14="http://schemas.microsoft.com/office/powerpoint/2010/main" val="1600352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2868" y="365127"/>
            <a:ext cx="10470931" cy="1325563"/>
          </a:xfrm>
        </p:spPr>
        <p:txBody>
          <a:bodyPr>
            <a:noAutofit/>
          </a:bodyPr>
          <a:lstStyle/>
          <a:p>
            <a:r>
              <a:rPr lang="fr-CA" sz="3200" dirty="0"/>
              <a:t>Produits - ventes de biens</a:t>
            </a:r>
            <a:br>
              <a:rPr lang="fr-CA" sz="3200" dirty="0"/>
            </a:br>
            <a:r>
              <a:rPr lang="fr-CA" sz="3200" dirty="0"/>
              <a:t>Enjeu : moment de comptabilisation – exigences supplémentaires</a:t>
            </a:r>
          </a:p>
        </p:txBody>
      </p:sp>
      <p:sp>
        <p:nvSpPr>
          <p:cNvPr id="3" name="Espace réservé du contenu 2"/>
          <p:cNvSpPr>
            <a:spLocks noGrp="1"/>
          </p:cNvSpPr>
          <p:nvPr>
            <p:ph idx="1"/>
          </p:nvPr>
        </p:nvSpPr>
        <p:spPr>
          <a:xfrm>
            <a:off x="882869" y="2137411"/>
            <a:ext cx="10470931" cy="3988753"/>
          </a:xfrm>
        </p:spPr>
        <p:txBody>
          <a:bodyPr>
            <a:normAutofit/>
          </a:bodyPr>
          <a:lstStyle/>
          <a:p>
            <a:pPr marL="0" indent="0">
              <a:buNone/>
            </a:pPr>
            <a:r>
              <a:rPr lang="fr-CA" dirty="0"/>
              <a:t>Exécution considérée comme achevée lorsque: </a:t>
            </a:r>
          </a:p>
          <a:p>
            <a:pPr marL="514350" indent="-514350">
              <a:buFont typeface="+mj-lt"/>
              <a:buAutoNum type="arabicPeriod"/>
            </a:pPr>
            <a:r>
              <a:rPr lang="fr-CA" dirty="0"/>
              <a:t>Risques et avantages inhérents à la propriété transférés à l'acheteur (généralement à la livraison) </a:t>
            </a:r>
          </a:p>
          <a:p>
            <a:pPr marL="971550" lvl="1" indent="-514350">
              <a:buFont typeface="+mj-lt"/>
              <a:buAutoNum type="alphaLcPeriod"/>
            </a:pPr>
            <a:r>
              <a:rPr lang="fr-CA" dirty="0"/>
              <a:t>Actes importants exécutés par le vendeur</a:t>
            </a:r>
          </a:p>
          <a:p>
            <a:pPr marL="914400" lvl="1" indent="-457200">
              <a:buFont typeface="+mj-lt"/>
              <a:buAutoNum type="alphaLcPeriod"/>
            </a:pPr>
            <a:r>
              <a:rPr lang="fr-CA" dirty="0"/>
              <a:t>Vendeur n'exerce plus de droit sur les biens cédés (gestion ou un contrôle effectif  équivalent à celui d’un propriétaire)</a:t>
            </a:r>
          </a:p>
          <a:p>
            <a:pPr marL="514350" indent="-514350">
              <a:buFont typeface="+mj-lt"/>
              <a:buAutoNum type="arabicPeriod"/>
            </a:pPr>
            <a:r>
              <a:rPr lang="fr-CA" dirty="0"/>
              <a:t>Estimation des rendus : estimation raisonnable, montant raisonnablement sûr.</a:t>
            </a:r>
          </a:p>
          <a:p>
            <a:pPr marL="0" indent="0">
              <a:buNone/>
            </a:pPr>
            <a:endParaRPr lang="fr-CA" dirty="0"/>
          </a:p>
        </p:txBody>
      </p:sp>
      <p:sp>
        <p:nvSpPr>
          <p:cNvPr id="4" name="Espace réservé du pied de page 3">
            <a:extLst>
              <a:ext uri="{FF2B5EF4-FFF2-40B4-BE49-F238E27FC236}">
                <a16:creationId xmlns:a16="http://schemas.microsoft.com/office/drawing/2014/main" id="{EF01F563-9365-4697-AEDA-53C0790F3C73}"/>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382EC8C-1BA7-4A71-A05C-BDB48E6ABCE1}"/>
              </a:ext>
            </a:extLst>
          </p:cNvPr>
          <p:cNvSpPr>
            <a:spLocks noGrp="1"/>
          </p:cNvSpPr>
          <p:nvPr>
            <p:ph type="sldNum" sz="quarter" idx="12"/>
          </p:nvPr>
        </p:nvSpPr>
        <p:spPr/>
        <p:txBody>
          <a:bodyPr/>
          <a:lstStyle/>
          <a:p>
            <a:fld id="{B407F3FA-7E18-4DCE-B6E1-AF2F18B1E770}" type="slidenum">
              <a:rPr lang="fr-FR" smtClean="0"/>
              <a:t>9</a:t>
            </a:fld>
            <a:endParaRPr lang="fr-FR"/>
          </a:p>
        </p:txBody>
      </p:sp>
    </p:spTree>
    <p:extLst>
      <p:ext uri="{BB962C8B-B14F-4D97-AF65-F5344CB8AC3E}">
        <p14:creationId xmlns:p14="http://schemas.microsoft.com/office/powerpoint/2010/main" val="1853023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Enjeux</a:t>
            </a:r>
          </a:p>
        </p:txBody>
      </p:sp>
      <p:sp>
        <p:nvSpPr>
          <p:cNvPr id="3" name="Espace réservé du contenu 2"/>
          <p:cNvSpPr>
            <a:spLocks noGrp="1"/>
          </p:cNvSpPr>
          <p:nvPr>
            <p:ph idx="1"/>
          </p:nvPr>
        </p:nvSpPr>
        <p:spPr/>
        <p:txBody>
          <a:bodyPr>
            <a:normAutofit/>
          </a:bodyPr>
          <a:lstStyle/>
          <a:p>
            <a:r>
              <a:rPr lang="fr-CA" dirty="0">
                <a:solidFill>
                  <a:srgbClr val="00B0F0"/>
                </a:solidFill>
              </a:rPr>
              <a:t>Moment de la constatation</a:t>
            </a:r>
            <a:r>
              <a:rPr lang="fr-CA" dirty="0"/>
              <a:t> (</a:t>
            </a:r>
            <a:r>
              <a:rPr lang="fr-CA" sz="2400" dirty="0">
                <a:solidFill>
                  <a:srgbClr val="FF0000"/>
                </a:solidFill>
              </a:rPr>
              <a:t>IFRS </a:t>
            </a:r>
            <a:r>
              <a:rPr lang="fr-CA" sz="2000" dirty="0">
                <a:solidFill>
                  <a:srgbClr val="FF0000"/>
                </a:solidFill>
              </a:rPr>
              <a:t>: </a:t>
            </a:r>
            <a:r>
              <a:rPr lang="fr-CA" sz="2400" dirty="0">
                <a:solidFill>
                  <a:srgbClr val="FF0000"/>
                </a:solidFill>
              </a:rPr>
              <a:t>comptabilisation</a:t>
            </a:r>
            <a:r>
              <a:rPr lang="fr-CA" dirty="0"/>
              <a:t>)</a:t>
            </a:r>
          </a:p>
          <a:p>
            <a:pPr marL="0" indent="0">
              <a:buNone/>
            </a:pPr>
            <a:r>
              <a:rPr lang="fr-CA" dirty="0"/>
              <a:t>Exemples d’enjeux : </a:t>
            </a:r>
          </a:p>
          <a:p>
            <a:pPr lvl="1"/>
            <a:r>
              <a:rPr lang="fr-CA" dirty="0"/>
              <a:t>Transfert du contrôle  (FOB)</a:t>
            </a:r>
          </a:p>
          <a:p>
            <a:pPr lvl="1"/>
            <a:r>
              <a:rPr lang="fr-CA" dirty="0"/>
              <a:t>Produits différés</a:t>
            </a:r>
          </a:p>
          <a:p>
            <a:pPr lvl="2"/>
            <a:r>
              <a:rPr lang="fr-CA" dirty="0"/>
              <a:t>Carte cadeau</a:t>
            </a:r>
          </a:p>
          <a:p>
            <a:pPr lvl="2"/>
            <a:r>
              <a:rPr lang="fr-CA" dirty="0"/>
              <a:t>Dépôt d’un client</a:t>
            </a:r>
          </a:p>
          <a:p>
            <a:pPr lvl="1"/>
            <a:r>
              <a:rPr lang="fr-CA" dirty="0"/>
              <a:t>Accords de consignation</a:t>
            </a:r>
          </a:p>
          <a:p>
            <a:pPr lvl="1"/>
            <a:r>
              <a:rPr lang="fr-CA" dirty="0"/>
              <a:t>Ventes à livrer</a:t>
            </a:r>
          </a:p>
          <a:p>
            <a:pPr marL="457200" lvl="1"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a:t>
            </a:fld>
            <a:endParaRPr lang="fr-FR"/>
          </a:p>
        </p:txBody>
      </p:sp>
      <p:sp>
        <p:nvSpPr>
          <p:cNvPr id="5" name="Espace réservé du pied de page 4">
            <a:extLst>
              <a:ext uri="{FF2B5EF4-FFF2-40B4-BE49-F238E27FC236}">
                <a16:creationId xmlns:a16="http://schemas.microsoft.com/office/drawing/2014/main" id="{E5A623D6-B910-4730-A5E0-870BD84AB51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39337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a:t>
            </a:r>
            <a:br>
              <a:rPr lang="fr-CA" sz="3200" dirty="0"/>
            </a:br>
            <a:r>
              <a:rPr lang="fr-CA" sz="2800" dirty="0"/>
              <a:t>Critère : recouvrement raisonnablement sûr au moment de la vente - exemple</a:t>
            </a:r>
            <a:endParaRPr lang="fr-CA" sz="3200" dirty="0"/>
          </a:p>
        </p:txBody>
      </p:sp>
      <p:sp>
        <p:nvSpPr>
          <p:cNvPr id="3" name="Espace réservé du contenu 2"/>
          <p:cNvSpPr>
            <a:spLocks noGrp="1"/>
          </p:cNvSpPr>
          <p:nvPr>
            <p:ph idx="1"/>
          </p:nvPr>
        </p:nvSpPr>
        <p:spPr>
          <a:xfrm>
            <a:off x="838200" y="2393005"/>
            <a:ext cx="10515600" cy="3783959"/>
          </a:xfrm>
        </p:spPr>
        <p:txBody>
          <a:bodyPr>
            <a:normAutofit/>
          </a:bodyPr>
          <a:lstStyle/>
          <a:p>
            <a:pPr marL="0" indent="0">
              <a:buNone/>
            </a:pPr>
            <a:r>
              <a:rPr lang="fr-CA" dirty="0"/>
              <a:t>Le 25 février, une entité a vendu des biens au prix de 10 000 $. Le montant doit être payé dans les 30 jours (</a:t>
            </a:r>
            <a:r>
              <a:rPr lang="fr-CA" i="1" dirty="0"/>
              <a:t>pratique commerciale courante de l'entité)</a:t>
            </a:r>
            <a:r>
              <a:rPr lang="fr-CA" dirty="0"/>
              <a:t>. </a:t>
            </a:r>
          </a:p>
        </p:txBody>
      </p:sp>
      <p:sp>
        <p:nvSpPr>
          <p:cNvPr id="4" name="Espace réservé du pied de page 3">
            <a:extLst>
              <a:ext uri="{FF2B5EF4-FFF2-40B4-BE49-F238E27FC236}">
                <a16:creationId xmlns:a16="http://schemas.microsoft.com/office/drawing/2014/main" id="{79249A29-A3EE-4AF1-9CCF-92A4BA538CA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06B8D0F-4E12-43E6-BBB3-6A4B709A087B}"/>
              </a:ext>
            </a:extLst>
          </p:cNvPr>
          <p:cNvSpPr>
            <a:spLocks noGrp="1"/>
          </p:cNvSpPr>
          <p:nvPr>
            <p:ph type="sldNum" sz="quarter" idx="12"/>
          </p:nvPr>
        </p:nvSpPr>
        <p:spPr/>
        <p:txBody>
          <a:bodyPr/>
          <a:lstStyle/>
          <a:p>
            <a:fld id="{B407F3FA-7E18-4DCE-B6E1-AF2F18B1E770}" type="slidenum">
              <a:rPr lang="fr-FR" smtClean="0"/>
              <a:t>11</a:t>
            </a:fld>
            <a:endParaRPr lang="fr-FR"/>
          </a:p>
        </p:txBody>
      </p:sp>
    </p:spTree>
    <p:extLst>
      <p:ext uri="{BB962C8B-B14F-4D97-AF65-F5344CB8AC3E}">
        <p14:creationId xmlns:p14="http://schemas.microsoft.com/office/powerpoint/2010/main" val="3375112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Solution</a:t>
            </a:r>
            <a:endParaRPr lang="fr-CA" dirty="0"/>
          </a:p>
        </p:txBody>
      </p:sp>
      <p:sp>
        <p:nvSpPr>
          <p:cNvPr id="3" name="Espace réservé du contenu 2"/>
          <p:cNvSpPr>
            <a:spLocks noGrp="1"/>
          </p:cNvSpPr>
          <p:nvPr>
            <p:ph idx="1"/>
          </p:nvPr>
        </p:nvSpPr>
        <p:spPr/>
        <p:txBody>
          <a:bodyPr/>
          <a:lstStyle/>
          <a:p>
            <a:pPr marL="0" indent="0">
              <a:spcBef>
                <a:spcPts val="0"/>
              </a:spcBef>
              <a:buNone/>
              <a:defRPr/>
            </a:pPr>
            <a:r>
              <a:rPr lang="fr-CA" sz="2400" dirty="0"/>
              <a:t>L’entité comptabilise une vente (tous les critères rencontrés). </a:t>
            </a:r>
          </a:p>
          <a:p>
            <a:pPr>
              <a:spcBef>
                <a:spcPts val="0"/>
              </a:spcBef>
              <a:defRPr/>
            </a:pPr>
            <a:r>
              <a:rPr lang="fr-CA" sz="2400" dirty="0"/>
              <a:t>Donc prévoit un recouvrement</a:t>
            </a:r>
          </a:p>
          <a:p>
            <a:pPr>
              <a:spcBef>
                <a:spcPts val="0"/>
              </a:spcBef>
              <a:defRPr/>
            </a:pPr>
            <a:endParaRPr lang="fr-CA" sz="2400" dirty="0"/>
          </a:p>
          <a:p>
            <a:pPr marL="0" indent="0">
              <a:spcBef>
                <a:spcPts val="0"/>
              </a:spcBef>
              <a:buNone/>
              <a:defRPr/>
            </a:pPr>
            <a:r>
              <a:rPr lang="fr-CA" sz="2400" dirty="0"/>
              <a:t>Si 90 jours plus tard, le montant n'est toujours pas payé parce que le client connaît des difficultés financières, il faut déterminer le montant que l'entité est raisonnablement certaine de recouvrer. Disons par exemple 6 000 $</a:t>
            </a:r>
          </a:p>
          <a:p>
            <a:pPr marL="0" indent="0">
              <a:spcBef>
                <a:spcPts val="0"/>
              </a:spcBef>
              <a:buNone/>
              <a:defRPr/>
            </a:pPr>
            <a:endParaRPr lang="fr-CA" sz="2400" dirty="0"/>
          </a:p>
          <a:p>
            <a:pPr>
              <a:spcBef>
                <a:spcPts val="0"/>
              </a:spcBef>
              <a:defRPr/>
            </a:pPr>
            <a:r>
              <a:rPr lang="fr-CA" sz="2000" dirty="0"/>
              <a:t>Charge mauvaise créance          4 000</a:t>
            </a:r>
          </a:p>
          <a:p>
            <a:pPr marL="0" indent="0">
              <a:spcBef>
                <a:spcPts val="0"/>
              </a:spcBef>
              <a:buNone/>
              <a:defRPr/>
            </a:pPr>
            <a:r>
              <a:rPr lang="fr-CA" sz="2000" dirty="0"/>
              <a:t>     @ Provision mauvaises créances        4 000 $</a:t>
            </a:r>
          </a:p>
          <a:p>
            <a:pPr marL="0" indent="0">
              <a:spcBef>
                <a:spcPts val="0"/>
              </a:spcBef>
              <a:buNone/>
              <a:defRPr/>
            </a:pPr>
            <a:endParaRPr lang="fr-CA" sz="2000" dirty="0"/>
          </a:p>
          <a:p>
            <a:pPr>
              <a:spcBef>
                <a:spcPts val="0"/>
              </a:spcBef>
              <a:buFont typeface="Wingdings" panose="05000000000000000000" pitchFamily="2" charset="2"/>
              <a:buChar char="Ø"/>
              <a:defRPr/>
            </a:pPr>
            <a:r>
              <a:rPr lang="fr-CA" sz="2000" i="1" dirty="0"/>
              <a:t>On ne </a:t>
            </a:r>
            <a:r>
              <a:rPr lang="fr-CA" sz="2000" i="1" dirty="0" err="1"/>
              <a:t>décomptabilise</a:t>
            </a:r>
            <a:r>
              <a:rPr lang="fr-CA" sz="2000" i="1" dirty="0"/>
              <a:t> pas le produit</a:t>
            </a:r>
            <a:endParaRPr lang="fr-CA" i="1"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12</a:t>
            </a:fld>
            <a:endParaRPr lang="fr-FR"/>
          </a:p>
        </p:txBody>
      </p:sp>
      <p:sp>
        <p:nvSpPr>
          <p:cNvPr id="5" name="Espace réservé du pied de page 4">
            <a:extLst>
              <a:ext uri="{FF2B5EF4-FFF2-40B4-BE49-F238E27FC236}">
                <a16:creationId xmlns:a16="http://schemas.microsoft.com/office/drawing/2014/main" id="{5B30238C-5E6F-4A94-80B1-7C5EB77C8EE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16420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600" dirty="0"/>
              <a:t>Produits</a:t>
            </a:r>
            <a:br>
              <a:rPr lang="fr-CA" sz="3600" dirty="0"/>
            </a:br>
            <a:r>
              <a:rPr lang="fr-CA" sz="3200" dirty="0"/>
              <a:t>Critère : livraison - exemple</a:t>
            </a:r>
            <a:r>
              <a:rPr lang="fr-CA" sz="3600" dirty="0"/>
              <a:t>  </a:t>
            </a:r>
          </a:p>
        </p:txBody>
      </p:sp>
      <p:sp>
        <p:nvSpPr>
          <p:cNvPr id="3" name="Espace réservé du contenu 2"/>
          <p:cNvSpPr>
            <a:spLocks noGrp="1"/>
          </p:cNvSpPr>
          <p:nvPr>
            <p:ph idx="1"/>
          </p:nvPr>
        </p:nvSpPr>
        <p:spPr>
          <a:xfrm>
            <a:off x="838199" y="1863091"/>
            <a:ext cx="10418379" cy="4263073"/>
          </a:xfrm>
        </p:spPr>
        <p:txBody>
          <a:bodyPr>
            <a:normAutofit/>
          </a:bodyPr>
          <a:lstStyle/>
          <a:p>
            <a:pPr marL="0" indent="0">
              <a:buNone/>
            </a:pPr>
            <a:r>
              <a:rPr lang="fr-CA" dirty="0"/>
              <a:t>Une entité canadienne vend des biens à un client situé aux États-Unis</a:t>
            </a:r>
            <a:endParaRPr lang="fr-CA" sz="3600" dirty="0"/>
          </a:p>
          <a:p>
            <a:pPr marL="0" indent="0">
              <a:buNone/>
            </a:pPr>
            <a:endParaRPr lang="fr-CA" dirty="0"/>
          </a:p>
        </p:txBody>
      </p:sp>
      <p:sp>
        <p:nvSpPr>
          <p:cNvPr id="4" name="Espace réservé du pied de page 3">
            <a:extLst>
              <a:ext uri="{FF2B5EF4-FFF2-40B4-BE49-F238E27FC236}">
                <a16:creationId xmlns:a16="http://schemas.microsoft.com/office/drawing/2014/main" id="{2847E70D-4EB8-4894-852C-EE096C0EC06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8FD6BC8-C923-4207-AB31-E9A511495C86}"/>
              </a:ext>
            </a:extLst>
          </p:cNvPr>
          <p:cNvSpPr>
            <a:spLocks noGrp="1"/>
          </p:cNvSpPr>
          <p:nvPr>
            <p:ph type="sldNum" sz="quarter" idx="12"/>
          </p:nvPr>
        </p:nvSpPr>
        <p:spPr/>
        <p:txBody>
          <a:bodyPr/>
          <a:lstStyle/>
          <a:p>
            <a:fld id="{B407F3FA-7E18-4DCE-B6E1-AF2F18B1E770}" type="slidenum">
              <a:rPr lang="fr-FR" smtClean="0"/>
              <a:t>13</a:t>
            </a:fld>
            <a:endParaRPr lang="fr-FR"/>
          </a:p>
        </p:txBody>
      </p:sp>
    </p:spTree>
    <p:extLst>
      <p:ext uri="{BB962C8B-B14F-4D97-AF65-F5344CB8AC3E}">
        <p14:creationId xmlns:p14="http://schemas.microsoft.com/office/powerpoint/2010/main" val="1659233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Solution</a:t>
            </a:r>
            <a:endParaRPr lang="fr-CA" dirty="0"/>
          </a:p>
        </p:txBody>
      </p:sp>
      <p:sp>
        <p:nvSpPr>
          <p:cNvPr id="3" name="Espace réservé du contenu 2"/>
          <p:cNvSpPr>
            <a:spLocks noGrp="1"/>
          </p:cNvSpPr>
          <p:nvPr>
            <p:ph idx="1"/>
          </p:nvPr>
        </p:nvSpPr>
        <p:spPr/>
        <p:txBody>
          <a:bodyPr>
            <a:normAutofit/>
          </a:bodyPr>
          <a:lstStyle/>
          <a:p>
            <a:r>
              <a:rPr lang="fr-CA" dirty="0"/>
              <a:t>Droit de propriété</a:t>
            </a:r>
          </a:p>
          <a:p>
            <a:pPr lvl="1"/>
            <a:r>
              <a:rPr lang="fr-CA" dirty="0"/>
              <a:t>voir conditions de livraison - franco à bord (FAB) au lieu d'expédition?</a:t>
            </a:r>
          </a:p>
          <a:p>
            <a:pPr lvl="1"/>
            <a:endParaRPr lang="fr-CA" dirty="0"/>
          </a:p>
          <a:p>
            <a:pPr marL="457200" lvl="1" indent="0">
              <a:buNone/>
            </a:pPr>
            <a:r>
              <a:rPr lang="fr-CA" dirty="0"/>
              <a:t> </a:t>
            </a:r>
          </a:p>
          <a:p>
            <a:r>
              <a:rPr lang="fr-CA" dirty="0"/>
              <a:t>Autres faits et circonstances relatifs à la vente : </a:t>
            </a:r>
          </a:p>
          <a:p>
            <a:pPr lvl="1"/>
            <a:r>
              <a:rPr lang="fr-CA" dirty="0"/>
              <a:t>clause d'acceptation par le client?</a:t>
            </a:r>
          </a:p>
          <a:p>
            <a:pPr lvl="2"/>
            <a:r>
              <a:rPr lang="fr-CA" sz="1800" dirty="0"/>
              <a:t>retarder jusqu’à acceptation s’il y a un réel risque de non-acceptation</a:t>
            </a:r>
          </a:p>
          <a:p>
            <a:pPr lvl="1"/>
            <a:r>
              <a:rPr lang="fr-CA" dirty="0"/>
              <a:t>Substance - vente en consignation?</a:t>
            </a:r>
          </a:p>
          <a:p>
            <a:pPr lvl="2"/>
            <a:r>
              <a:rPr lang="fr-CA" sz="1800" dirty="0"/>
              <a:t>ex. client est un grossiste qui n'est pas tenu de payer pour les biens tant qu'il ne les a pas revendus à un détaillant</a:t>
            </a:r>
            <a:endParaRPr lang="fr-CA"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14</a:t>
            </a:fld>
            <a:endParaRPr lang="fr-FR"/>
          </a:p>
        </p:txBody>
      </p:sp>
      <p:sp>
        <p:nvSpPr>
          <p:cNvPr id="5" name="Espace réservé du pied de page 4">
            <a:extLst>
              <a:ext uri="{FF2B5EF4-FFF2-40B4-BE49-F238E27FC236}">
                <a16:creationId xmlns:a16="http://schemas.microsoft.com/office/drawing/2014/main" id="{10C3065F-2B39-4C81-9327-D4F99DA7203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56192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a:t>
            </a:r>
            <a:br>
              <a:rPr lang="fr-CA" sz="3200" dirty="0"/>
            </a:br>
            <a:r>
              <a:rPr lang="fr-CA" sz="3200" dirty="0"/>
              <a:t>Critère : existence d’un accord - exemple</a:t>
            </a:r>
            <a:endParaRPr lang="fr-CA" sz="3600" dirty="0"/>
          </a:p>
        </p:txBody>
      </p:sp>
      <p:sp>
        <p:nvSpPr>
          <p:cNvPr id="3" name="Espace réservé du contenu 2"/>
          <p:cNvSpPr>
            <a:spLocks noGrp="1"/>
          </p:cNvSpPr>
          <p:nvPr>
            <p:ph idx="1"/>
          </p:nvPr>
        </p:nvSpPr>
        <p:spPr>
          <a:xfrm>
            <a:off x="838199" y="2315183"/>
            <a:ext cx="10515599" cy="3861780"/>
          </a:xfrm>
        </p:spPr>
        <p:txBody>
          <a:bodyPr>
            <a:normAutofit/>
          </a:bodyPr>
          <a:lstStyle/>
          <a:p>
            <a:pPr marL="0" indent="0" algn="just">
              <a:buNone/>
            </a:pPr>
            <a:r>
              <a:rPr lang="fr-CA" dirty="0"/>
              <a:t>Une entité conclut avec son client une convention accessoire qui prévoit des paiements reportés et des clauses d'annulation.</a:t>
            </a:r>
          </a:p>
          <a:p>
            <a:pPr marL="0" indent="0">
              <a:buNone/>
            </a:pPr>
            <a:endParaRPr lang="fr-CA" dirty="0"/>
          </a:p>
        </p:txBody>
      </p:sp>
      <p:sp>
        <p:nvSpPr>
          <p:cNvPr id="4" name="Espace réservé du pied de page 3">
            <a:extLst>
              <a:ext uri="{FF2B5EF4-FFF2-40B4-BE49-F238E27FC236}">
                <a16:creationId xmlns:a16="http://schemas.microsoft.com/office/drawing/2014/main" id="{5A31A8C7-B3A2-4C41-8C28-AE8E413609D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EFF079A-1F39-48BF-A6D8-E252CFF65FAA}"/>
              </a:ext>
            </a:extLst>
          </p:cNvPr>
          <p:cNvSpPr>
            <a:spLocks noGrp="1"/>
          </p:cNvSpPr>
          <p:nvPr>
            <p:ph type="sldNum" sz="quarter" idx="12"/>
          </p:nvPr>
        </p:nvSpPr>
        <p:spPr/>
        <p:txBody>
          <a:bodyPr/>
          <a:lstStyle/>
          <a:p>
            <a:fld id="{B407F3FA-7E18-4DCE-B6E1-AF2F18B1E770}" type="slidenum">
              <a:rPr lang="fr-FR" smtClean="0"/>
              <a:t>15</a:t>
            </a:fld>
            <a:endParaRPr lang="fr-FR"/>
          </a:p>
        </p:txBody>
      </p:sp>
    </p:spTree>
    <p:extLst>
      <p:ext uri="{BB962C8B-B14F-4D97-AF65-F5344CB8AC3E}">
        <p14:creationId xmlns:p14="http://schemas.microsoft.com/office/powerpoint/2010/main" val="197310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lstStyle/>
          <a:p>
            <a:pPr marL="0" indent="0">
              <a:buNone/>
            </a:pPr>
            <a:r>
              <a:rPr lang="fr-CA" dirty="0"/>
              <a:t>Les clauses d'annulation remettent en question la constatation des produits selon les conditions de l'accord initial. Il faut examiner les paiements reportés pour s'assurer que l'accord de vente tel qu'il est modifié par la convention accessoire ne constitue pas, en substance, une vente en consignation.</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16</a:t>
            </a:fld>
            <a:endParaRPr lang="fr-FR"/>
          </a:p>
        </p:txBody>
      </p:sp>
      <p:sp>
        <p:nvSpPr>
          <p:cNvPr id="5" name="Espace réservé du pied de page 4">
            <a:extLst>
              <a:ext uri="{FF2B5EF4-FFF2-40B4-BE49-F238E27FC236}">
                <a16:creationId xmlns:a16="http://schemas.microsoft.com/office/drawing/2014/main" id="{AED9B840-B6E8-459F-A1DB-188957193C6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78473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775460" y="274638"/>
            <a:ext cx="8435340" cy="1143000"/>
          </a:xfrm>
        </p:spPr>
        <p:txBody>
          <a:bodyPr>
            <a:noAutofit/>
          </a:bodyPr>
          <a:lstStyle/>
          <a:p>
            <a:pPr algn="ctr"/>
            <a:r>
              <a:rPr lang="fr-CA" sz="3200" dirty="0"/>
              <a:t>Produits</a:t>
            </a:r>
            <a:br>
              <a:rPr lang="fr-CA" sz="3200" dirty="0"/>
            </a:br>
            <a:r>
              <a:rPr lang="fr-CA" sz="3200" dirty="0"/>
              <a:t>Critère : prix déterminé/déterminable – exemple 1</a:t>
            </a:r>
            <a:endParaRPr lang="fr-CA" sz="3600" dirty="0"/>
          </a:p>
        </p:txBody>
      </p:sp>
      <p:sp>
        <p:nvSpPr>
          <p:cNvPr id="3" name="Espace réservé du contenu 2"/>
          <p:cNvSpPr>
            <a:spLocks noGrp="1"/>
          </p:cNvSpPr>
          <p:nvPr>
            <p:ph idx="1"/>
          </p:nvPr>
        </p:nvSpPr>
        <p:spPr>
          <a:xfrm>
            <a:off x="861848" y="2140085"/>
            <a:ext cx="10491952" cy="4036878"/>
          </a:xfrm>
        </p:spPr>
        <p:txBody>
          <a:bodyPr>
            <a:normAutofit/>
          </a:bodyPr>
          <a:lstStyle/>
          <a:p>
            <a:pPr marL="0" indent="0">
              <a:buNone/>
            </a:pPr>
            <a:r>
              <a:rPr lang="fr-CA" dirty="0"/>
              <a:t>Une boutique a une politique générale concernant le droit de retour suivant laquelle les clients peuvent retourner les produits contre un remboursement en espèces, une note de crédit ou un autre produit dans le mois qui suit la vente.</a:t>
            </a:r>
            <a:endParaRPr lang="fr-CA" sz="3600" dirty="0"/>
          </a:p>
          <a:p>
            <a:pPr marL="0" indent="0">
              <a:buNone/>
            </a:pPr>
            <a:endParaRPr lang="fr-CA" dirty="0"/>
          </a:p>
        </p:txBody>
      </p:sp>
      <p:sp>
        <p:nvSpPr>
          <p:cNvPr id="4" name="Espace réservé du pied de page 3">
            <a:extLst>
              <a:ext uri="{FF2B5EF4-FFF2-40B4-BE49-F238E27FC236}">
                <a16:creationId xmlns:a16="http://schemas.microsoft.com/office/drawing/2014/main" id="{A38D61FD-4F9E-4517-8380-7670D0DA620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DD571D4-EC08-4E01-9D3E-6DBF11A29794}"/>
              </a:ext>
            </a:extLst>
          </p:cNvPr>
          <p:cNvSpPr>
            <a:spLocks noGrp="1"/>
          </p:cNvSpPr>
          <p:nvPr>
            <p:ph type="sldNum" sz="quarter" idx="12"/>
          </p:nvPr>
        </p:nvSpPr>
        <p:spPr/>
        <p:txBody>
          <a:bodyPr/>
          <a:lstStyle/>
          <a:p>
            <a:fld id="{B407F3FA-7E18-4DCE-B6E1-AF2F18B1E770}" type="slidenum">
              <a:rPr lang="fr-FR" smtClean="0"/>
              <a:t>17</a:t>
            </a:fld>
            <a:endParaRPr lang="fr-FR"/>
          </a:p>
        </p:txBody>
      </p:sp>
    </p:spTree>
    <p:extLst>
      <p:ext uri="{BB962C8B-B14F-4D97-AF65-F5344CB8AC3E}">
        <p14:creationId xmlns:p14="http://schemas.microsoft.com/office/powerpoint/2010/main" val="2190180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La boutique doit effectuer une estimation de l'importance des retours futurs. Cette estimation est fondée sur les résultats antérieurs de la boutique et peut être déterminée différemment selon la nature des biens vendus. Par exemple, les estimations relatives aux retours de produits électroniques ou de vêtements peuvent être différentes. La boutique réduit son chiffre d’affaires et inscrit une provision pour retour.</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18</a:t>
            </a:fld>
            <a:endParaRPr lang="fr-FR"/>
          </a:p>
        </p:txBody>
      </p:sp>
      <p:sp>
        <p:nvSpPr>
          <p:cNvPr id="5" name="Espace réservé du pied de page 4">
            <a:extLst>
              <a:ext uri="{FF2B5EF4-FFF2-40B4-BE49-F238E27FC236}">
                <a16:creationId xmlns:a16="http://schemas.microsoft.com/office/drawing/2014/main" id="{177AB9F5-2CFD-40D6-9FEB-F2426A5DA91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65902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844040" y="274638"/>
            <a:ext cx="8492490" cy="1143000"/>
          </a:xfrm>
        </p:spPr>
        <p:txBody>
          <a:bodyPr>
            <a:normAutofit fontScale="90000"/>
          </a:bodyPr>
          <a:lstStyle/>
          <a:p>
            <a:pPr algn="ctr"/>
            <a:r>
              <a:rPr lang="fr-CA" sz="3600" dirty="0"/>
              <a:t>Produits</a:t>
            </a:r>
            <a:br>
              <a:rPr lang="fr-CA" sz="3600" dirty="0"/>
            </a:br>
            <a:r>
              <a:rPr lang="fr-CA" sz="3600" dirty="0"/>
              <a:t>Critère: prix déterminé/déterminable – exemple 2</a:t>
            </a:r>
            <a:endParaRPr lang="fr-CA" sz="4000" dirty="0"/>
          </a:p>
        </p:txBody>
      </p:sp>
      <p:sp>
        <p:nvSpPr>
          <p:cNvPr id="3" name="Espace réservé du contenu 2"/>
          <p:cNvSpPr>
            <a:spLocks noGrp="1"/>
          </p:cNvSpPr>
          <p:nvPr>
            <p:ph idx="1"/>
          </p:nvPr>
        </p:nvSpPr>
        <p:spPr>
          <a:xfrm>
            <a:off x="872359" y="2334639"/>
            <a:ext cx="10481441" cy="3842325"/>
          </a:xfrm>
        </p:spPr>
        <p:txBody>
          <a:bodyPr>
            <a:normAutofit/>
          </a:bodyPr>
          <a:lstStyle/>
          <a:p>
            <a:pPr marL="0" indent="0">
              <a:buNone/>
            </a:pPr>
            <a:r>
              <a:rPr lang="fr-CA" dirty="0"/>
              <a:t>MNO vend des appareils conçus sur mesure pour un prix qui prévoit que le client doit payer un montant supplémentaire si l'appareil produit un niveau précis d'extrants dans une année.</a:t>
            </a:r>
            <a:endParaRPr lang="fr-CA" sz="3600" dirty="0"/>
          </a:p>
          <a:p>
            <a:pPr marL="0" indent="0">
              <a:buNone/>
            </a:pPr>
            <a:endParaRPr lang="fr-CA" dirty="0"/>
          </a:p>
        </p:txBody>
      </p:sp>
      <p:sp>
        <p:nvSpPr>
          <p:cNvPr id="4" name="Espace réservé du pied de page 3">
            <a:extLst>
              <a:ext uri="{FF2B5EF4-FFF2-40B4-BE49-F238E27FC236}">
                <a16:creationId xmlns:a16="http://schemas.microsoft.com/office/drawing/2014/main" id="{D0F3A19E-BE4F-40FA-ABD2-965833C41B7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54B6D33-0DA9-4B77-A483-6C95E1922F8E}"/>
              </a:ext>
            </a:extLst>
          </p:cNvPr>
          <p:cNvSpPr>
            <a:spLocks noGrp="1"/>
          </p:cNvSpPr>
          <p:nvPr>
            <p:ph type="sldNum" sz="quarter" idx="12"/>
          </p:nvPr>
        </p:nvSpPr>
        <p:spPr/>
        <p:txBody>
          <a:bodyPr/>
          <a:lstStyle/>
          <a:p>
            <a:fld id="{B407F3FA-7E18-4DCE-B6E1-AF2F18B1E770}" type="slidenum">
              <a:rPr lang="fr-FR" smtClean="0"/>
              <a:t>19</a:t>
            </a:fld>
            <a:endParaRPr lang="fr-FR"/>
          </a:p>
        </p:txBody>
      </p:sp>
    </p:spTree>
    <p:extLst>
      <p:ext uri="{BB962C8B-B14F-4D97-AF65-F5344CB8AC3E}">
        <p14:creationId xmlns:p14="http://schemas.microsoft.com/office/powerpoint/2010/main" val="4132757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lstStyle/>
          <a:p>
            <a:pPr marL="0" indent="0">
              <a:buNone/>
            </a:pPr>
            <a:r>
              <a:rPr lang="fr-CA" dirty="0"/>
              <a:t>MNO ne peut pas constater, à la date de livraison, des produits «conditionnels» axés sur les extrants produits par un appareil, même si le niveau plus élevé d'extrants est probable</a:t>
            </a:r>
          </a:p>
          <a:p>
            <a:pPr>
              <a:buFont typeface="Wingdings" panose="05000000000000000000" pitchFamily="2" charset="2"/>
              <a:buChar char="Ø"/>
            </a:pPr>
            <a:r>
              <a:rPr lang="fr-CA" dirty="0"/>
              <a:t>condition qui donne lieu au paiement supplémentaire ne s'est pas concrétisée</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20</a:t>
            </a:fld>
            <a:endParaRPr lang="fr-FR"/>
          </a:p>
        </p:txBody>
      </p:sp>
      <p:sp>
        <p:nvSpPr>
          <p:cNvPr id="5" name="Espace réservé du pied de page 4">
            <a:extLst>
              <a:ext uri="{FF2B5EF4-FFF2-40B4-BE49-F238E27FC236}">
                <a16:creationId xmlns:a16="http://schemas.microsoft.com/office/drawing/2014/main" id="{9A345575-0041-4DEC-93A0-499507455D0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96748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878330" y="274638"/>
            <a:ext cx="8481060" cy="1143000"/>
          </a:xfrm>
        </p:spPr>
        <p:txBody>
          <a:bodyPr>
            <a:noAutofit/>
          </a:bodyPr>
          <a:lstStyle/>
          <a:p>
            <a:pPr algn="ctr"/>
            <a:r>
              <a:rPr lang="fr-CA" sz="3200" dirty="0"/>
              <a:t>Produits</a:t>
            </a:r>
            <a:br>
              <a:rPr lang="fr-CA" sz="3200" dirty="0"/>
            </a:br>
            <a:r>
              <a:rPr lang="fr-CA" sz="3200" dirty="0"/>
              <a:t>Critère: prix déterminé/déterminable – exemple 3</a:t>
            </a:r>
          </a:p>
        </p:txBody>
      </p:sp>
      <p:sp>
        <p:nvSpPr>
          <p:cNvPr id="3" name="Espace réservé du contenu 2"/>
          <p:cNvSpPr>
            <a:spLocks noGrp="1"/>
          </p:cNvSpPr>
          <p:nvPr>
            <p:ph idx="1"/>
          </p:nvPr>
        </p:nvSpPr>
        <p:spPr>
          <a:xfrm>
            <a:off x="861848" y="1988821"/>
            <a:ext cx="10491952" cy="4137343"/>
          </a:xfrm>
        </p:spPr>
        <p:txBody>
          <a:bodyPr>
            <a:normAutofit/>
          </a:bodyPr>
          <a:lstStyle/>
          <a:p>
            <a:pPr marL="0" indent="0">
              <a:buNone/>
            </a:pPr>
            <a:r>
              <a:rPr lang="fr-CA" dirty="0"/>
              <a:t>VWX est un grossiste qui garantit une marge brute minimum à ses distributeurs à l'égard d'un nouveau produit pour une période d'un an.</a:t>
            </a:r>
            <a:endParaRPr lang="fr-CA" sz="3600" dirty="0"/>
          </a:p>
          <a:p>
            <a:pPr marL="0" indent="0">
              <a:buNone/>
            </a:pPr>
            <a:endParaRPr lang="fr-CA" dirty="0"/>
          </a:p>
        </p:txBody>
      </p:sp>
      <p:sp>
        <p:nvSpPr>
          <p:cNvPr id="4" name="Espace réservé du pied de page 3">
            <a:extLst>
              <a:ext uri="{FF2B5EF4-FFF2-40B4-BE49-F238E27FC236}">
                <a16:creationId xmlns:a16="http://schemas.microsoft.com/office/drawing/2014/main" id="{1E85958B-8DC7-4933-AF10-A07DCEE819B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39CE06C-7102-44D1-B690-AA8B3946981B}"/>
              </a:ext>
            </a:extLst>
          </p:cNvPr>
          <p:cNvSpPr>
            <a:spLocks noGrp="1"/>
          </p:cNvSpPr>
          <p:nvPr>
            <p:ph type="sldNum" sz="quarter" idx="12"/>
          </p:nvPr>
        </p:nvSpPr>
        <p:spPr/>
        <p:txBody>
          <a:bodyPr/>
          <a:lstStyle/>
          <a:p>
            <a:fld id="{B407F3FA-7E18-4DCE-B6E1-AF2F18B1E770}" type="slidenum">
              <a:rPr lang="fr-FR" smtClean="0"/>
              <a:t>21</a:t>
            </a:fld>
            <a:endParaRPr lang="fr-FR"/>
          </a:p>
        </p:txBody>
      </p:sp>
    </p:spTree>
    <p:extLst>
      <p:ext uri="{BB962C8B-B14F-4D97-AF65-F5344CB8AC3E}">
        <p14:creationId xmlns:p14="http://schemas.microsoft.com/office/powerpoint/2010/main" val="92693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À moins que VWX n'impose un prix de détail à ses distributeurs, elle ne connaît pas le prix de vente définitif qui sera pratiqué. VWX pourrait donc devoir reporter la constatation des produits jusqu'à ce qu'elle puisse faire une estimation raisonnable et fiable du montant de la garantie de profit brut ou que cette garantie vienne à échéance (un an)</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22</a:t>
            </a:fld>
            <a:endParaRPr lang="fr-FR"/>
          </a:p>
        </p:txBody>
      </p:sp>
      <p:sp>
        <p:nvSpPr>
          <p:cNvPr id="5" name="Espace réservé du pied de page 4">
            <a:extLst>
              <a:ext uri="{FF2B5EF4-FFF2-40B4-BE49-F238E27FC236}">
                <a16:creationId xmlns:a16="http://schemas.microsoft.com/office/drawing/2014/main" id="{F60BFBCC-A6E5-4553-A6AB-E70C84CE3B8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322993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866900" y="274638"/>
            <a:ext cx="8458200" cy="1143000"/>
          </a:xfrm>
        </p:spPr>
        <p:txBody>
          <a:bodyPr>
            <a:noAutofit/>
          </a:bodyPr>
          <a:lstStyle/>
          <a:p>
            <a:pPr algn="ctr"/>
            <a:r>
              <a:rPr lang="fr-CA" sz="3200" dirty="0"/>
              <a:t>Produits</a:t>
            </a:r>
            <a:br>
              <a:rPr lang="fr-CA" sz="3200" dirty="0"/>
            </a:br>
            <a:r>
              <a:rPr lang="fr-CA" sz="3200" dirty="0"/>
              <a:t>Critère: prix déterminé/déterminable – exemple 4</a:t>
            </a:r>
            <a:endParaRPr lang="fr-CA" sz="3600" dirty="0"/>
          </a:p>
        </p:txBody>
      </p:sp>
      <p:sp>
        <p:nvSpPr>
          <p:cNvPr id="3" name="Espace réservé du contenu 2"/>
          <p:cNvSpPr>
            <a:spLocks noGrp="1"/>
          </p:cNvSpPr>
          <p:nvPr>
            <p:ph idx="1"/>
          </p:nvPr>
        </p:nvSpPr>
        <p:spPr>
          <a:xfrm>
            <a:off x="882869" y="2256817"/>
            <a:ext cx="10470931" cy="3920146"/>
          </a:xfrm>
        </p:spPr>
        <p:txBody>
          <a:bodyPr>
            <a:normAutofit/>
          </a:bodyPr>
          <a:lstStyle/>
          <a:p>
            <a:pPr marL="0" indent="0">
              <a:buNone/>
            </a:pPr>
            <a:r>
              <a:rPr lang="fr-CA" dirty="0"/>
              <a:t>STU accorde à ses clients une remise au titre de la différence entre le prix qu'ils ont payé pour un produit électronique dans le cadre d'une opération donnée et tout prix réduit pratiqué par STU ou ses concurrents au cours du mois qui suit la date de l'opération.</a:t>
            </a:r>
            <a:endParaRPr lang="fr-CA" sz="3600" dirty="0"/>
          </a:p>
        </p:txBody>
      </p:sp>
      <p:sp>
        <p:nvSpPr>
          <p:cNvPr id="4" name="Espace réservé du pied de page 3">
            <a:extLst>
              <a:ext uri="{FF2B5EF4-FFF2-40B4-BE49-F238E27FC236}">
                <a16:creationId xmlns:a16="http://schemas.microsoft.com/office/drawing/2014/main" id="{E672C648-DEA1-4392-8298-5CBEF39FA87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91BA989-26D2-4824-A7DC-F95B0CD0A334}"/>
              </a:ext>
            </a:extLst>
          </p:cNvPr>
          <p:cNvSpPr>
            <a:spLocks noGrp="1"/>
          </p:cNvSpPr>
          <p:nvPr>
            <p:ph type="sldNum" sz="quarter" idx="12"/>
          </p:nvPr>
        </p:nvSpPr>
        <p:spPr/>
        <p:txBody>
          <a:bodyPr/>
          <a:lstStyle/>
          <a:p>
            <a:fld id="{B407F3FA-7E18-4DCE-B6E1-AF2F18B1E770}" type="slidenum">
              <a:rPr lang="fr-FR" smtClean="0"/>
              <a:t>23</a:t>
            </a:fld>
            <a:endParaRPr lang="fr-FR"/>
          </a:p>
        </p:txBody>
      </p:sp>
    </p:spTree>
    <p:extLst>
      <p:ext uri="{BB962C8B-B14F-4D97-AF65-F5344CB8AC3E}">
        <p14:creationId xmlns:p14="http://schemas.microsoft.com/office/powerpoint/2010/main" val="3407445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lstStyle/>
          <a:p>
            <a:pPr marL="0" indent="0">
              <a:buNone/>
            </a:pPr>
            <a:r>
              <a:rPr lang="fr-CA" dirty="0"/>
              <a:t>Si STU ne peut effectuer une estimation raisonnable du remboursement possible, elle ne peut déterminer le prix de vente définitif de ses produits électroniques. </a:t>
            </a:r>
          </a:p>
          <a:p>
            <a:pPr marL="0" indent="0">
              <a:buNone/>
            </a:pPr>
            <a:r>
              <a:rPr lang="fr-CA" dirty="0"/>
              <a:t>STU pourrait donc devoir reporter la constatation des produits jusqu'à ce que la clause relative à la protection du prix vienne à échéance.</a:t>
            </a:r>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24</a:t>
            </a:fld>
            <a:endParaRPr lang="fr-FR"/>
          </a:p>
        </p:txBody>
      </p:sp>
      <p:sp>
        <p:nvSpPr>
          <p:cNvPr id="5" name="Espace réservé du pied de page 4">
            <a:extLst>
              <a:ext uri="{FF2B5EF4-FFF2-40B4-BE49-F238E27FC236}">
                <a16:creationId xmlns:a16="http://schemas.microsoft.com/office/drawing/2014/main" id="{6EEF7C31-57D0-4436-BD20-9F8CDC40683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404958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Produits – vente de biens</a:t>
            </a:r>
            <a:br>
              <a:rPr lang="fr-CA" sz="3600" dirty="0"/>
            </a:br>
            <a:r>
              <a:rPr lang="fr-CA" sz="3600" dirty="0"/>
              <a:t>Critère : livraison – exemple 1</a:t>
            </a:r>
            <a:endParaRPr lang="fr-CA" dirty="0"/>
          </a:p>
        </p:txBody>
      </p:sp>
      <p:sp>
        <p:nvSpPr>
          <p:cNvPr id="3" name="Espace réservé du contenu 2"/>
          <p:cNvSpPr>
            <a:spLocks noGrp="1"/>
          </p:cNvSpPr>
          <p:nvPr>
            <p:ph idx="1"/>
          </p:nvPr>
        </p:nvSpPr>
        <p:spPr>
          <a:xfrm>
            <a:off x="838200" y="2198451"/>
            <a:ext cx="10515600" cy="3978512"/>
          </a:xfrm>
        </p:spPr>
        <p:txBody>
          <a:bodyPr/>
          <a:lstStyle/>
          <a:p>
            <a:pPr marL="0" indent="0" algn="just">
              <a:buNone/>
            </a:pPr>
            <a:r>
              <a:rPr lang="fr-CA" dirty="0"/>
              <a:t>À la date de clôture, ABC a terminé la production d'une peinture particulière qui lui a été commandée, mais qu'elle n'a cependant pas encore livrée, suite à la demande du client de retarder la livraison. La peinture a été préparée pour un constructeur qui avait payé à l'avance et possède déjà le droit de propriété.</a:t>
            </a:r>
          </a:p>
        </p:txBody>
      </p:sp>
      <p:sp>
        <p:nvSpPr>
          <p:cNvPr id="4" name="Espace réservé du pied de page 3">
            <a:extLst>
              <a:ext uri="{FF2B5EF4-FFF2-40B4-BE49-F238E27FC236}">
                <a16:creationId xmlns:a16="http://schemas.microsoft.com/office/drawing/2014/main" id="{F5ED59CB-BDA0-4980-B086-7CBFEDF1274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CE4D61B-101E-4FD3-9A08-D5EA71ADD592}"/>
              </a:ext>
            </a:extLst>
          </p:cNvPr>
          <p:cNvSpPr>
            <a:spLocks noGrp="1"/>
          </p:cNvSpPr>
          <p:nvPr>
            <p:ph type="sldNum" sz="quarter" idx="12"/>
          </p:nvPr>
        </p:nvSpPr>
        <p:spPr/>
        <p:txBody>
          <a:bodyPr/>
          <a:lstStyle/>
          <a:p>
            <a:fld id="{B407F3FA-7E18-4DCE-B6E1-AF2F18B1E770}" type="slidenum">
              <a:rPr lang="fr-FR" smtClean="0"/>
              <a:t>25</a:t>
            </a:fld>
            <a:endParaRPr lang="fr-FR"/>
          </a:p>
        </p:txBody>
      </p:sp>
    </p:spTree>
    <p:extLst>
      <p:ext uri="{BB962C8B-B14F-4D97-AF65-F5344CB8AC3E}">
        <p14:creationId xmlns:p14="http://schemas.microsoft.com/office/powerpoint/2010/main" val="967799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245871"/>
            <a:ext cx="10515600" cy="4880293"/>
          </a:xfrm>
        </p:spPr>
        <p:txBody>
          <a:bodyPr>
            <a:normAutofit fontScale="77500" lnSpcReduction="20000"/>
          </a:bodyPr>
          <a:lstStyle/>
          <a:p>
            <a:pPr marL="0" indent="0">
              <a:buNone/>
            </a:pPr>
            <a:r>
              <a:rPr lang="fr-CA" dirty="0"/>
              <a:t>C'est ce que l'on appelle une vente à livrer. Bien que la peinture n'ait pas encore été livrée au constructeur, ABC peut être en mesure de constater des produits à la date de clôture selon certaines conditions de l'accord de vente et d'autres circonstances. Les éléments suivants, notamment, doivent être examinés :</a:t>
            </a:r>
          </a:p>
          <a:p>
            <a:pPr marL="0" indent="0">
              <a:buNone/>
            </a:pPr>
            <a:r>
              <a:rPr lang="fr-CA" dirty="0"/>
              <a:t>1)     ABC conserve-t-elle la peinture dans son entrepôt à la demande du constructeur?</a:t>
            </a:r>
          </a:p>
          <a:p>
            <a:pPr marL="0" indent="0">
              <a:buNone/>
            </a:pPr>
            <a:r>
              <a:rPr lang="fr-CA" dirty="0"/>
              <a:t>OUI, a demandé de retarder livraison</a:t>
            </a:r>
          </a:p>
          <a:p>
            <a:pPr marL="0" indent="0">
              <a:buNone/>
            </a:pPr>
            <a:r>
              <a:rPr lang="fr-CA" dirty="0"/>
              <a:t>2)     La commande spéciale est-elle entreposée séparément de sorte qu'elle ne puisse être vendue à un autre client?</a:t>
            </a:r>
          </a:p>
          <a:p>
            <a:pPr marL="0" indent="0">
              <a:buNone/>
            </a:pPr>
            <a:r>
              <a:rPr lang="fr-CA" dirty="0"/>
              <a:t>OUI – appartient au client, donc ne peut vendre</a:t>
            </a:r>
          </a:p>
          <a:p>
            <a:pPr marL="0" indent="0">
              <a:buNone/>
            </a:pPr>
            <a:r>
              <a:rPr lang="fr-CA" dirty="0"/>
              <a:t>3)     L'accord de vente précise-t-il un calendrier de livraison qui est à la fois raisonnable et qui concorde avec le but commercial?</a:t>
            </a:r>
          </a:p>
          <a:p>
            <a:pPr marL="0" indent="0">
              <a:buNone/>
            </a:pPr>
            <a:r>
              <a:rPr lang="fr-CA" dirty="0"/>
              <a:t>Pas d’info</a:t>
            </a:r>
          </a:p>
          <a:p>
            <a:pPr marL="0" indent="0">
              <a:buNone/>
            </a:pPr>
            <a:endParaRPr lang="fr-CA" dirty="0"/>
          </a:p>
          <a:p>
            <a:r>
              <a:rPr lang="fr-CA" dirty="0"/>
              <a:t>Si la réponse aux questions qui précèdent est «oui», ABC pourrait constater des produits à la date de clôture. Il y a lieu de noter qu'en pratique, il est rare qu'une entité puisse constater des produits dans le cadre de ventes à livrer (avant la livraison)</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26</a:t>
            </a:fld>
            <a:endParaRPr lang="fr-FR"/>
          </a:p>
        </p:txBody>
      </p:sp>
      <p:sp>
        <p:nvSpPr>
          <p:cNvPr id="5" name="Espace réservé du pied de page 4">
            <a:extLst>
              <a:ext uri="{FF2B5EF4-FFF2-40B4-BE49-F238E27FC236}">
                <a16:creationId xmlns:a16="http://schemas.microsoft.com/office/drawing/2014/main" id="{06EE486B-DEB9-446C-9926-1CEFE3ABCF7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03219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 – vente de biens</a:t>
            </a:r>
            <a:br>
              <a:rPr lang="fr-CA" sz="3200" dirty="0"/>
            </a:br>
            <a:r>
              <a:rPr lang="fr-CA" sz="3200" dirty="0"/>
              <a:t>Critère : livraison – exemple 2</a:t>
            </a:r>
            <a:endParaRPr lang="fr-CA" sz="3600" dirty="0"/>
          </a:p>
        </p:txBody>
      </p:sp>
      <p:sp>
        <p:nvSpPr>
          <p:cNvPr id="3" name="Espace réservé du contenu 2"/>
          <p:cNvSpPr>
            <a:spLocks noGrp="1"/>
          </p:cNvSpPr>
          <p:nvPr>
            <p:ph idx="1"/>
          </p:nvPr>
        </p:nvSpPr>
        <p:spPr/>
        <p:txBody>
          <a:bodyPr>
            <a:normAutofit/>
          </a:bodyPr>
          <a:lstStyle/>
          <a:p>
            <a:pPr marL="0" indent="0">
              <a:buNone/>
            </a:pPr>
            <a:r>
              <a:rPr lang="fr-CA" dirty="0"/>
              <a:t>BCD a livré des biens aux trois détaillants suivants à la date de clôture :</a:t>
            </a:r>
          </a:p>
          <a:p>
            <a:r>
              <a:rPr lang="fr-CA" dirty="0"/>
              <a:t>X : BCD transfère titre de propriété à X lorsque ce dernier effectue le paiement suite à la vente à ses clients.</a:t>
            </a:r>
          </a:p>
          <a:p>
            <a:r>
              <a:rPr lang="fr-CA" dirty="0"/>
              <a:t>Y : peut retourner les biens à BCD qu’il les juge obsolètes.</a:t>
            </a:r>
          </a:p>
          <a:p>
            <a:r>
              <a:rPr lang="fr-CA" dirty="0"/>
              <a:t>Z : les paiements à BCD sont fonction de la capacité de Z de vendre les biens </a:t>
            </a:r>
            <a:endParaRPr lang="fr-CA" sz="3200" dirty="0"/>
          </a:p>
          <a:p>
            <a:endParaRPr lang="fr-CA" dirty="0"/>
          </a:p>
        </p:txBody>
      </p:sp>
      <p:sp>
        <p:nvSpPr>
          <p:cNvPr id="4" name="Espace réservé du pied de page 3">
            <a:extLst>
              <a:ext uri="{FF2B5EF4-FFF2-40B4-BE49-F238E27FC236}">
                <a16:creationId xmlns:a16="http://schemas.microsoft.com/office/drawing/2014/main" id="{325EBE08-A2AA-48C5-BDCA-4224B6D3CE7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F47764A-E981-4225-9ACC-EB5291F95EBE}"/>
              </a:ext>
            </a:extLst>
          </p:cNvPr>
          <p:cNvSpPr>
            <a:spLocks noGrp="1"/>
          </p:cNvSpPr>
          <p:nvPr>
            <p:ph type="sldNum" sz="quarter" idx="12"/>
          </p:nvPr>
        </p:nvSpPr>
        <p:spPr/>
        <p:txBody>
          <a:bodyPr/>
          <a:lstStyle/>
          <a:p>
            <a:fld id="{B407F3FA-7E18-4DCE-B6E1-AF2F18B1E770}" type="slidenum">
              <a:rPr lang="fr-FR" smtClean="0"/>
              <a:t>27</a:t>
            </a:fld>
            <a:endParaRPr lang="fr-FR"/>
          </a:p>
        </p:txBody>
      </p:sp>
    </p:spTree>
    <p:extLst>
      <p:ext uri="{BB962C8B-B14F-4D97-AF65-F5344CB8AC3E}">
        <p14:creationId xmlns:p14="http://schemas.microsoft.com/office/powerpoint/2010/main" val="413049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a:bodyPr>
          <a:lstStyle/>
          <a:p>
            <a:r>
              <a:rPr lang="fr-CA" dirty="0"/>
              <a:t>BCD ne peut constater de produits à la date de clôture dans le cadre d'aucune des ventes qui précèdent. </a:t>
            </a:r>
          </a:p>
          <a:p>
            <a:r>
              <a:rPr lang="fr-CA" dirty="0"/>
              <a:t>Même si les biens ont été livrés aux trois détaillants, les risques ne leur ont pas été transférés. </a:t>
            </a:r>
          </a:p>
          <a:p>
            <a:r>
              <a:rPr lang="fr-CA" dirty="0"/>
              <a:t>La vente à détaillant X est en fait une vente en consignation </a:t>
            </a:r>
            <a:r>
              <a:rPr lang="fr-CA" b="1" dirty="0"/>
              <a:t>courante</a:t>
            </a:r>
            <a:r>
              <a:rPr lang="fr-CA" dirty="0"/>
              <a:t>. </a:t>
            </a:r>
          </a:p>
          <a:p>
            <a:r>
              <a:rPr lang="fr-CA" dirty="0"/>
              <a:t>Les ventes à détaillant Y et à détaillant Z sont, </a:t>
            </a:r>
            <a:r>
              <a:rPr lang="fr-CA" b="1" dirty="0"/>
              <a:t>en substance</a:t>
            </a:r>
            <a:r>
              <a:rPr lang="fr-CA" dirty="0"/>
              <a:t>, des ventes en consignation / détaillant Y pourrait être droit de retour.</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28</a:t>
            </a:fld>
            <a:endParaRPr lang="fr-FR"/>
          </a:p>
        </p:txBody>
      </p:sp>
      <p:sp>
        <p:nvSpPr>
          <p:cNvPr id="5" name="Espace réservé du pied de page 4">
            <a:extLst>
              <a:ext uri="{FF2B5EF4-FFF2-40B4-BE49-F238E27FC236}">
                <a16:creationId xmlns:a16="http://schemas.microsoft.com/office/drawing/2014/main" id="{1775FEF7-6BDD-438C-BE0B-6523381F263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43903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 – vente de biens</a:t>
            </a:r>
            <a:br>
              <a:rPr lang="fr-CA" sz="3200" dirty="0"/>
            </a:br>
            <a:r>
              <a:rPr lang="fr-CA" sz="3200" dirty="0"/>
              <a:t>Critère: livraison – exemple 3</a:t>
            </a:r>
            <a:endParaRPr lang="fr-CA" sz="3600" dirty="0"/>
          </a:p>
        </p:txBody>
      </p:sp>
      <p:sp>
        <p:nvSpPr>
          <p:cNvPr id="3" name="Espace réservé du contenu 2"/>
          <p:cNvSpPr>
            <a:spLocks noGrp="1"/>
          </p:cNvSpPr>
          <p:nvPr>
            <p:ph idx="1"/>
          </p:nvPr>
        </p:nvSpPr>
        <p:spPr/>
        <p:txBody>
          <a:bodyPr>
            <a:normAutofit/>
          </a:bodyPr>
          <a:lstStyle/>
          <a:p>
            <a:pPr marL="0" indent="0">
              <a:buNone/>
            </a:pPr>
            <a:r>
              <a:rPr lang="fr-CA" dirty="0"/>
              <a:t>Détaillant EFG a reçu un acompte d'un client à l'égard d'un canapé en magasin qui doit être livré dans un mois. Le canapé est mis de côté jusqu'à ce que le paiement définitif soit reçu.</a:t>
            </a:r>
          </a:p>
        </p:txBody>
      </p:sp>
      <p:sp>
        <p:nvSpPr>
          <p:cNvPr id="4" name="Espace réservé du pied de page 3">
            <a:extLst>
              <a:ext uri="{FF2B5EF4-FFF2-40B4-BE49-F238E27FC236}">
                <a16:creationId xmlns:a16="http://schemas.microsoft.com/office/drawing/2014/main" id="{71FCCCFC-8F23-4F42-8B1E-82F9E0D9E5C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CF539D5-7A64-44CD-B183-A151E5DE83EC}"/>
              </a:ext>
            </a:extLst>
          </p:cNvPr>
          <p:cNvSpPr>
            <a:spLocks noGrp="1"/>
          </p:cNvSpPr>
          <p:nvPr>
            <p:ph type="sldNum" sz="quarter" idx="12"/>
          </p:nvPr>
        </p:nvSpPr>
        <p:spPr/>
        <p:txBody>
          <a:bodyPr/>
          <a:lstStyle/>
          <a:p>
            <a:fld id="{B407F3FA-7E18-4DCE-B6E1-AF2F18B1E770}" type="slidenum">
              <a:rPr lang="fr-FR" smtClean="0"/>
              <a:t>29</a:t>
            </a:fld>
            <a:endParaRPr lang="fr-FR"/>
          </a:p>
        </p:txBody>
      </p:sp>
    </p:spTree>
    <p:extLst>
      <p:ext uri="{BB962C8B-B14F-4D97-AF65-F5344CB8AC3E}">
        <p14:creationId xmlns:p14="http://schemas.microsoft.com/office/powerpoint/2010/main" val="1874251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417638"/>
            <a:ext cx="10515600" cy="4938712"/>
          </a:xfrm>
        </p:spPr>
        <p:txBody>
          <a:bodyPr>
            <a:normAutofit fontScale="85000" lnSpcReduction="20000"/>
          </a:bodyPr>
          <a:lstStyle/>
          <a:p>
            <a:r>
              <a:rPr lang="fr-CA" dirty="0"/>
              <a:t>Il s'agit d'une vente avec mise de côté et les risques de propriété ne sont pas transférés au client tant qu'EFG ne livre pas le canapé. </a:t>
            </a:r>
          </a:p>
          <a:p>
            <a:r>
              <a:rPr lang="fr-CA" dirty="0"/>
              <a:t>Si le canapé est endommagé avant la livraison, EFG devra remettre l'acompte ou remplacer le canapé. </a:t>
            </a:r>
          </a:p>
          <a:p>
            <a:r>
              <a:rPr lang="fr-CA" dirty="0"/>
              <a:t>Il y a lieu de noter que l'opération ne répond pas aux critères généraux de constatation des produits. Par exemple, EFG n'a pas convenu d'un calendrier de paiement déterminé avec le client, et ne lui a pas demandé un billet payable par versements. Par conséquent, EFG ne peut comptabiliser de produits tant qu'elle ne livre pas le canapé au client et que tous les autres critères relatifs à la constatation des produits ne sont pas remplis.</a:t>
            </a:r>
          </a:p>
          <a:p>
            <a:r>
              <a:rPr lang="fr-CA" dirty="0"/>
              <a:t>L’acompte représente un passif (produits différés)</a:t>
            </a:r>
          </a:p>
          <a:p>
            <a:endParaRPr lang="fr-CA" dirty="0"/>
          </a:p>
          <a:p>
            <a:pPr>
              <a:spcBef>
                <a:spcPts val="0"/>
              </a:spcBef>
              <a:buFont typeface="Wingdings" panose="05000000000000000000" pitchFamily="2" charset="2"/>
              <a:buChar char="Ø"/>
              <a:defRPr/>
            </a:pPr>
            <a:r>
              <a:rPr lang="fr-CA" dirty="0"/>
              <a:t>La constatation des produits est reportée jusqu'à ce que les biens soient livrés au client parce qu'EFG a conservé les risques inhérents à la propriété et que le client n'a pas pris un engagement ferme d'acheter les stocks.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30</a:t>
            </a:fld>
            <a:endParaRPr lang="fr-FR"/>
          </a:p>
        </p:txBody>
      </p:sp>
      <p:sp>
        <p:nvSpPr>
          <p:cNvPr id="5" name="Espace réservé du pied de page 4">
            <a:extLst>
              <a:ext uri="{FF2B5EF4-FFF2-40B4-BE49-F238E27FC236}">
                <a16:creationId xmlns:a16="http://schemas.microsoft.com/office/drawing/2014/main" id="{02F6418F-4080-4F86-8AC7-12566CF6040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5788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200" dirty="0"/>
              <a:t>Produits – vente de biens</a:t>
            </a:r>
            <a:br>
              <a:rPr lang="fr-CA" sz="3200" dirty="0"/>
            </a:br>
            <a:r>
              <a:rPr lang="fr-CA" sz="3200" dirty="0"/>
              <a:t>Critère : Droits de retour</a:t>
            </a:r>
            <a:endParaRPr lang="fr-CA" sz="3600"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Droits généraux</a:t>
            </a:r>
          </a:p>
          <a:p>
            <a:pPr marL="0" indent="0">
              <a:buNone/>
            </a:pPr>
            <a:r>
              <a:rPr lang="fr-CA" dirty="0"/>
              <a:t>Une entité peut accorder un droit de retour qui vient à échéance après une période déterminée, ou encore après la revente, à tous ses clients. Par exemple, les magasins de détail accordent généralement à leurs clients le droit de retourner la marchandise contre remboursement, une note de crédit ou un autre produit dans les 30 jours qui suivent la date d'achat.</a:t>
            </a:r>
          </a:p>
          <a:p>
            <a:pPr marL="0" indent="0">
              <a:buNone/>
            </a:pPr>
            <a:endParaRPr lang="fr-CA" dirty="0"/>
          </a:p>
          <a:p>
            <a:pPr marL="0" indent="0">
              <a:buNone/>
            </a:pPr>
            <a:r>
              <a:rPr lang="fr-CA" dirty="0"/>
              <a:t>Droits particuliers </a:t>
            </a:r>
          </a:p>
          <a:p>
            <a:pPr marL="0" indent="0">
              <a:buNone/>
            </a:pPr>
            <a:r>
              <a:rPr lang="fr-CA" dirty="0"/>
              <a:t>Une entité peut accorder un droit de retour à certains clients seulement – ce qui peut être problématique </a:t>
            </a:r>
          </a:p>
          <a:p>
            <a:pPr marL="0" indent="0">
              <a:buNone/>
            </a:pPr>
            <a:endParaRPr lang="fr-CA" dirty="0"/>
          </a:p>
          <a:p>
            <a:pPr>
              <a:buFont typeface="Wingdings" panose="05000000000000000000" pitchFamily="2" charset="2"/>
              <a:buChar char="Ø"/>
            </a:pPr>
            <a:r>
              <a:rPr lang="fr-CA" dirty="0"/>
              <a:t>Ventes en consignation?</a:t>
            </a:r>
          </a:p>
        </p:txBody>
      </p:sp>
      <p:sp>
        <p:nvSpPr>
          <p:cNvPr id="4" name="Espace réservé du pied de page 3">
            <a:extLst>
              <a:ext uri="{FF2B5EF4-FFF2-40B4-BE49-F238E27FC236}">
                <a16:creationId xmlns:a16="http://schemas.microsoft.com/office/drawing/2014/main" id="{B13740B1-2110-4BA7-B327-9E415F2506E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0522D5F-D362-496F-8106-C1A983FAAC79}"/>
              </a:ext>
            </a:extLst>
          </p:cNvPr>
          <p:cNvSpPr>
            <a:spLocks noGrp="1"/>
          </p:cNvSpPr>
          <p:nvPr>
            <p:ph type="sldNum" sz="quarter" idx="12"/>
          </p:nvPr>
        </p:nvSpPr>
        <p:spPr/>
        <p:txBody>
          <a:bodyPr/>
          <a:lstStyle/>
          <a:p>
            <a:fld id="{B407F3FA-7E18-4DCE-B6E1-AF2F18B1E770}" type="slidenum">
              <a:rPr lang="fr-FR" smtClean="0"/>
              <a:t>31</a:t>
            </a:fld>
            <a:endParaRPr lang="fr-FR"/>
          </a:p>
        </p:txBody>
      </p:sp>
    </p:spTree>
    <p:extLst>
      <p:ext uri="{BB962C8B-B14F-4D97-AF65-F5344CB8AC3E}">
        <p14:creationId xmlns:p14="http://schemas.microsoft.com/office/powerpoint/2010/main" val="2397119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 – vente de biens</a:t>
            </a:r>
            <a:br>
              <a:rPr lang="fr-CA" sz="3200" dirty="0"/>
            </a:br>
            <a:r>
              <a:rPr lang="fr-CA" sz="3200" dirty="0"/>
              <a:t>Critère : Droits de retour général – exemple</a:t>
            </a:r>
            <a:endParaRPr lang="fr-CA" sz="3600" dirty="0"/>
          </a:p>
        </p:txBody>
      </p:sp>
      <p:sp>
        <p:nvSpPr>
          <p:cNvPr id="3" name="Espace réservé du contenu 2"/>
          <p:cNvSpPr>
            <a:spLocks noGrp="1"/>
          </p:cNvSpPr>
          <p:nvPr>
            <p:ph idx="1"/>
          </p:nvPr>
        </p:nvSpPr>
        <p:spPr/>
        <p:txBody>
          <a:bodyPr/>
          <a:lstStyle/>
          <a:p>
            <a:pPr marL="0" indent="0" algn="just">
              <a:buNone/>
            </a:pPr>
            <a:r>
              <a:rPr lang="fr-CA" dirty="0"/>
              <a:t>HIJ, une entité dont la fin d'exercice est le 31 décembre, vend des imprimantes nouvellement développées en octobre de la même année, assorties d'un droit de retour sans justification pour une période pouvant aller jusqu'à trois mois après l'achat. HIJ n'a pas de données historiques concernant les retours pour des imprimantes comparables.</a:t>
            </a:r>
          </a:p>
        </p:txBody>
      </p:sp>
      <p:sp>
        <p:nvSpPr>
          <p:cNvPr id="4" name="Espace réservé du pied de page 3">
            <a:extLst>
              <a:ext uri="{FF2B5EF4-FFF2-40B4-BE49-F238E27FC236}">
                <a16:creationId xmlns:a16="http://schemas.microsoft.com/office/drawing/2014/main" id="{B6EF0706-F318-4A0D-8938-8011E7E3B5D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49CD330-30D9-48CF-A4E2-E6152986160B}"/>
              </a:ext>
            </a:extLst>
          </p:cNvPr>
          <p:cNvSpPr>
            <a:spLocks noGrp="1"/>
          </p:cNvSpPr>
          <p:nvPr>
            <p:ph type="sldNum" sz="quarter" idx="12"/>
          </p:nvPr>
        </p:nvSpPr>
        <p:spPr/>
        <p:txBody>
          <a:bodyPr/>
          <a:lstStyle/>
          <a:p>
            <a:fld id="{B407F3FA-7E18-4DCE-B6E1-AF2F18B1E770}" type="slidenum">
              <a:rPr lang="fr-FR" smtClean="0"/>
              <a:t>32</a:t>
            </a:fld>
            <a:endParaRPr lang="fr-FR"/>
          </a:p>
        </p:txBody>
      </p:sp>
    </p:spTree>
    <p:extLst>
      <p:ext uri="{BB962C8B-B14F-4D97-AF65-F5344CB8AC3E}">
        <p14:creationId xmlns:p14="http://schemas.microsoft.com/office/powerpoint/2010/main" val="3927941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spcBef>
                <a:spcPts val="0"/>
              </a:spcBef>
              <a:buNone/>
              <a:defRPr/>
            </a:pPr>
            <a:r>
              <a:rPr lang="fr-CA" dirty="0"/>
              <a:t>Le montant des produits constatés est comptabilisé déduction faite de la provision au titre des retours estimatifs.</a:t>
            </a:r>
          </a:p>
          <a:p>
            <a:pPr marL="0" indent="0">
              <a:spcBef>
                <a:spcPts val="0"/>
              </a:spcBef>
              <a:buNone/>
              <a:defRPr/>
            </a:pPr>
            <a:endParaRPr lang="fr-CA" dirty="0"/>
          </a:p>
          <a:p>
            <a:pPr marL="0" indent="0">
              <a:spcBef>
                <a:spcPts val="0"/>
              </a:spcBef>
              <a:buNone/>
              <a:defRPr/>
            </a:pPr>
            <a:r>
              <a:rPr lang="fr-CA" dirty="0"/>
              <a:t>Comme HIJ n'a pas de données historiques concernant les retours pour les nouvelles imprimantes, elle ne peut constater des produits dans la période. La constatation des produits doit être reportée jusqu'à ce que le droit de retour vienne à échéance. </a:t>
            </a:r>
          </a:p>
          <a:p>
            <a:pPr marL="0" indent="0">
              <a:spcBef>
                <a:spcPts val="0"/>
              </a:spcBef>
              <a:buNone/>
              <a:defRPr/>
            </a:pPr>
            <a:endParaRPr lang="fr-CA" dirty="0"/>
          </a:p>
          <a:p>
            <a:pPr marL="0" indent="0">
              <a:spcBef>
                <a:spcPts val="0"/>
              </a:spcBef>
              <a:buNone/>
              <a:defRPr/>
            </a:pPr>
            <a:r>
              <a:rPr lang="fr-CA" dirty="0"/>
              <a:t>Ni les produits ni le coût des ventes associés aux nouvelles imprimantes ne doivent être comptabilisés dans la période (c.-à-d. qu'il n'est pas approprié qu'HIJ comptabilise uniquement le profit brut découlant de la vente de nouvelles imprimantes sans disposer d'une estimation des retours possibles). </a:t>
            </a:r>
          </a:p>
          <a:p>
            <a:pPr marL="0" indent="0">
              <a:spcBef>
                <a:spcPts val="0"/>
              </a:spcBef>
              <a:buNone/>
              <a:defRPr/>
            </a:pPr>
            <a:r>
              <a:rPr lang="fr-CA" dirty="0"/>
              <a:t>Lorsqu'elle dispose d'un taux de retours historiques, une entreprise doit alors comptabiliser les produits et une provision au titre des retours estimatifs </a:t>
            </a:r>
            <a:r>
              <a:rPr lang="fr-CA" i="1" dirty="0"/>
              <a:t>(vient réduire le montant des produits constatés)</a:t>
            </a:r>
            <a:r>
              <a:rPr lang="fr-CA" dirty="0"/>
              <a:t>. </a:t>
            </a:r>
            <a:r>
              <a:rPr lang="fr-CA" i="1" dirty="0"/>
              <a:t>Et on constate dans le coût des ventes que le nombre d’unités « vendues » (et donc pas incluses dans la provision).</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33</a:t>
            </a:fld>
            <a:endParaRPr lang="fr-FR"/>
          </a:p>
        </p:txBody>
      </p:sp>
      <p:sp>
        <p:nvSpPr>
          <p:cNvPr id="5" name="Espace réservé du pied de page 4">
            <a:extLst>
              <a:ext uri="{FF2B5EF4-FFF2-40B4-BE49-F238E27FC236}">
                <a16:creationId xmlns:a16="http://schemas.microsoft.com/office/drawing/2014/main" id="{4F101B2F-8C66-46D4-BA19-54CC51AAD48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84357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 – vente de biens</a:t>
            </a:r>
            <a:br>
              <a:rPr lang="fr-CA" sz="3200" dirty="0"/>
            </a:br>
            <a:r>
              <a:rPr lang="fr-CA" sz="3200" dirty="0"/>
              <a:t>Critère : Droits de retour particulier - exemple</a:t>
            </a:r>
          </a:p>
        </p:txBody>
      </p:sp>
      <p:sp>
        <p:nvSpPr>
          <p:cNvPr id="3" name="Espace réservé du contenu 2"/>
          <p:cNvSpPr>
            <a:spLocks noGrp="1"/>
          </p:cNvSpPr>
          <p:nvPr>
            <p:ph idx="1"/>
          </p:nvPr>
        </p:nvSpPr>
        <p:spPr/>
        <p:txBody>
          <a:bodyPr>
            <a:normAutofit/>
          </a:bodyPr>
          <a:lstStyle/>
          <a:p>
            <a:pPr marL="0" indent="0">
              <a:buNone/>
            </a:pPr>
            <a:r>
              <a:rPr lang="fr-CA" dirty="0"/>
              <a:t>KLM conclut un accord avec un client pour la livraison et l'installation d'une presse. Le client n'est pas certain que la presse fonctionnera efficacement. Voici quelques détails de l'accord :</a:t>
            </a:r>
          </a:p>
          <a:p>
            <a:r>
              <a:rPr lang="fr-CA" dirty="0"/>
              <a:t>la propriété de la presse n'est transférée au client que dans les 90 jours qui suivent son installation (temps requis par le client pour évaluer le produit, acceptation implicite après 90 jours)</a:t>
            </a:r>
          </a:p>
          <a:p>
            <a:r>
              <a:rPr lang="fr-CA" dirty="0"/>
              <a:t>KLM ne produira une facture que 90 jours après l'installation</a:t>
            </a:r>
          </a:p>
          <a:p>
            <a:r>
              <a:rPr lang="fr-CA" dirty="0"/>
              <a:t>le client doit régler la facture au plus tard 30 jours après la date de facturation.</a:t>
            </a:r>
            <a:endParaRPr lang="fr-CA" sz="2400" dirty="0"/>
          </a:p>
          <a:p>
            <a:pPr marL="0" indent="0">
              <a:buNone/>
            </a:pPr>
            <a:endParaRPr lang="fr-CA" dirty="0"/>
          </a:p>
        </p:txBody>
      </p:sp>
      <p:sp>
        <p:nvSpPr>
          <p:cNvPr id="4" name="Espace réservé du pied de page 3">
            <a:extLst>
              <a:ext uri="{FF2B5EF4-FFF2-40B4-BE49-F238E27FC236}">
                <a16:creationId xmlns:a16="http://schemas.microsoft.com/office/drawing/2014/main" id="{50E70495-338F-4413-9E90-4304934E577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8AACD9E-FA2B-4D1B-9F4A-58D415033DC5}"/>
              </a:ext>
            </a:extLst>
          </p:cNvPr>
          <p:cNvSpPr>
            <a:spLocks noGrp="1"/>
          </p:cNvSpPr>
          <p:nvPr>
            <p:ph type="sldNum" sz="quarter" idx="12"/>
          </p:nvPr>
        </p:nvSpPr>
        <p:spPr/>
        <p:txBody>
          <a:bodyPr/>
          <a:lstStyle/>
          <a:p>
            <a:fld id="{B407F3FA-7E18-4DCE-B6E1-AF2F18B1E770}" type="slidenum">
              <a:rPr lang="fr-FR" smtClean="0"/>
              <a:t>34</a:t>
            </a:fld>
            <a:endParaRPr lang="fr-FR"/>
          </a:p>
        </p:txBody>
      </p:sp>
    </p:spTree>
    <p:extLst>
      <p:ext uri="{BB962C8B-B14F-4D97-AF65-F5344CB8AC3E}">
        <p14:creationId xmlns:p14="http://schemas.microsoft.com/office/powerpoint/2010/main" val="3617440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fontScale="92500"/>
          </a:bodyPr>
          <a:lstStyle/>
          <a:p>
            <a:pPr marL="0" indent="0">
              <a:buNone/>
            </a:pPr>
            <a:r>
              <a:rPr lang="fr-CA" dirty="0"/>
              <a:t>L'accord prévoit que le client doit évaluer la presse avant de l'accepter. Le client doit accepter la presse ou la retourner dans les 90 jours. En substance, l'accord semble être une livraison à des fins expérimentales car </a:t>
            </a:r>
          </a:p>
          <a:p>
            <a:pPr marL="0" indent="0">
              <a:buNone/>
            </a:pPr>
            <a:r>
              <a:rPr lang="fr-CA" dirty="0"/>
              <a:t>1) la propriété de la presse n'est pas transférée au client, et </a:t>
            </a:r>
          </a:p>
          <a:p>
            <a:pPr marL="0" indent="0">
              <a:buNone/>
            </a:pPr>
            <a:r>
              <a:rPr lang="fr-CA" dirty="0"/>
              <a:t>2) le paiement n'est pas exigé avant que le client accepte la presse.</a:t>
            </a:r>
          </a:p>
          <a:p>
            <a:pPr marL="0" indent="0">
              <a:buNone/>
            </a:pPr>
            <a:endParaRPr lang="fr-CA" dirty="0"/>
          </a:p>
          <a:p>
            <a:pPr marL="0" indent="0">
              <a:buNone/>
            </a:pPr>
            <a:r>
              <a:rPr lang="fr-CA" dirty="0"/>
              <a:t>En conséquence, KLM ne peut constater de produits à l'égard de la vente de la presse avant la première des dates suivantes : 1) l'acceptation par le client ou 2) la fin de la période d'essai de 90 jours (en supposant que tous les autres critères de constatation des produits soient remplis).</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35</a:t>
            </a:fld>
            <a:endParaRPr lang="fr-FR"/>
          </a:p>
        </p:txBody>
      </p:sp>
      <p:sp>
        <p:nvSpPr>
          <p:cNvPr id="5" name="Espace réservé du pied de page 4">
            <a:extLst>
              <a:ext uri="{FF2B5EF4-FFF2-40B4-BE49-F238E27FC236}">
                <a16:creationId xmlns:a16="http://schemas.microsoft.com/office/drawing/2014/main" id="{F3723C6F-E3A0-4D62-9EC4-4A9B0534EC1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17451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Enjeux</a:t>
            </a:r>
          </a:p>
        </p:txBody>
      </p:sp>
      <p:sp>
        <p:nvSpPr>
          <p:cNvPr id="3" name="Espace réservé du contenu 2"/>
          <p:cNvSpPr>
            <a:spLocks noGrp="1"/>
          </p:cNvSpPr>
          <p:nvPr>
            <p:ph idx="1"/>
          </p:nvPr>
        </p:nvSpPr>
        <p:spPr/>
        <p:txBody>
          <a:bodyPr>
            <a:normAutofit/>
          </a:bodyPr>
          <a:lstStyle/>
          <a:p>
            <a:r>
              <a:rPr lang="fr-CA" dirty="0">
                <a:solidFill>
                  <a:srgbClr val="00B0F0"/>
                </a:solidFill>
              </a:rPr>
              <a:t>Mesure</a:t>
            </a:r>
          </a:p>
          <a:p>
            <a:pPr lvl="1"/>
            <a:r>
              <a:rPr lang="fr-CA" dirty="0"/>
              <a:t>Réductions de prix</a:t>
            </a:r>
          </a:p>
          <a:p>
            <a:pPr lvl="2"/>
            <a:r>
              <a:rPr lang="fr-CA" dirty="0"/>
              <a:t>Produits endommagés</a:t>
            </a:r>
          </a:p>
          <a:p>
            <a:pPr lvl="2"/>
            <a:r>
              <a:rPr lang="fr-CA" dirty="0"/>
              <a:t>Rabais sur quantité</a:t>
            </a:r>
          </a:p>
          <a:p>
            <a:pPr lvl="1"/>
            <a:r>
              <a:rPr lang="fr-CA" dirty="0"/>
              <a:t>Opération non monétaire</a:t>
            </a:r>
          </a:p>
          <a:p>
            <a:pPr lvl="1"/>
            <a:r>
              <a:rPr lang="fr-CA" dirty="0"/>
              <a:t>Droits de retourner le bien </a:t>
            </a:r>
            <a:r>
              <a:rPr lang="fr-CA" sz="2600" i="1" dirty="0"/>
              <a:t>(estimable? Sinon ne peut constater produits)</a:t>
            </a:r>
            <a:endParaRPr lang="fr-CA" i="1" dirty="0"/>
          </a:p>
          <a:p>
            <a:pPr lvl="1"/>
            <a:r>
              <a:rPr lang="fr-CA" dirty="0"/>
              <a:t>Opération de financement (si aucun intérêt) </a:t>
            </a:r>
            <a:r>
              <a:rPr lang="fr-CA" sz="2600" i="1" dirty="0"/>
              <a:t>(actualisation si &gt; 12 mois)</a:t>
            </a:r>
          </a:p>
          <a:p>
            <a:pPr lvl="2"/>
            <a:r>
              <a:rPr lang="fr-CA" i="1" dirty="0"/>
              <a:t>Produits d’intérêts</a:t>
            </a:r>
            <a:endParaRPr lang="fr-CA" dirty="0"/>
          </a:p>
          <a:p>
            <a:pPr lvl="1"/>
            <a:r>
              <a:rPr lang="fr-CA" dirty="0"/>
              <a:t>Plusieurs éléments de comptabilisation – répartition du prix</a:t>
            </a:r>
          </a:p>
          <a:p>
            <a:pPr lvl="1"/>
            <a:r>
              <a:rPr lang="fr-CA" dirty="0"/>
              <a:t>Programme de fidélisation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36</a:t>
            </a:fld>
            <a:endParaRPr lang="fr-FR"/>
          </a:p>
        </p:txBody>
      </p:sp>
      <p:sp>
        <p:nvSpPr>
          <p:cNvPr id="5" name="Espace réservé du pied de page 4">
            <a:extLst>
              <a:ext uri="{FF2B5EF4-FFF2-40B4-BE49-F238E27FC236}">
                <a16:creationId xmlns:a16="http://schemas.microsoft.com/office/drawing/2014/main" id="{F7E77C3B-CC76-4EED-916F-8D99355CEB5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47839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Enjeux</a:t>
            </a:r>
          </a:p>
        </p:txBody>
      </p:sp>
      <p:sp>
        <p:nvSpPr>
          <p:cNvPr id="3" name="Espace réservé du contenu 2"/>
          <p:cNvSpPr>
            <a:spLocks noGrp="1"/>
          </p:cNvSpPr>
          <p:nvPr>
            <p:ph idx="1"/>
          </p:nvPr>
        </p:nvSpPr>
        <p:spPr/>
        <p:txBody>
          <a:bodyPr>
            <a:normAutofit/>
          </a:bodyPr>
          <a:lstStyle/>
          <a:p>
            <a:r>
              <a:rPr lang="fr-CA" dirty="0">
                <a:solidFill>
                  <a:srgbClr val="00B0F0"/>
                </a:solidFill>
              </a:rPr>
              <a:t>Présentation</a:t>
            </a:r>
          </a:p>
          <a:p>
            <a:pPr lvl="1"/>
            <a:r>
              <a:rPr lang="fr-CA" dirty="0"/>
              <a:t>Brut / net (mandataire) </a:t>
            </a:r>
            <a:r>
              <a:rPr lang="fr-CA" i="1" dirty="0"/>
              <a:t>(risque)</a:t>
            </a:r>
            <a:endParaRPr lang="fr-CA" dirty="0"/>
          </a:p>
          <a:p>
            <a:pPr lvl="1"/>
            <a:r>
              <a:rPr lang="fr-CA" dirty="0"/>
              <a:t>Chiffres d’affaires ou gain?  </a:t>
            </a:r>
            <a:r>
              <a:rPr lang="fr-CA" i="1" dirty="0"/>
              <a:t>(modèle d’affaires)</a:t>
            </a:r>
            <a:endParaRPr lang="fr-CA" dirty="0"/>
          </a:p>
          <a:p>
            <a:pPr lvl="1"/>
            <a:r>
              <a:rPr lang="fr-CA" dirty="0"/>
              <a:t>Résultats / produits différés (passif) – </a:t>
            </a:r>
            <a:r>
              <a:rPr lang="fr-CA" i="1" dirty="0"/>
              <a:t>réfère au moment de constatation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37</a:t>
            </a:fld>
            <a:endParaRPr lang="fr-FR"/>
          </a:p>
        </p:txBody>
      </p:sp>
      <p:sp>
        <p:nvSpPr>
          <p:cNvPr id="5" name="Espace réservé du pied de page 4">
            <a:extLst>
              <a:ext uri="{FF2B5EF4-FFF2-40B4-BE49-F238E27FC236}">
                <a16:creationId xmlns:a16="http://schemas.microsoft.com/office/drawing/2014/main" id="{709EDF7B-B7BB-458D-869E-81FF2B1D3D5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307086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Présentation aux résultats</a:t>
            </a:r>
            <a:br>
              <a:rPr lang="fr-CA" dirty="0"/>
            </a:br>
            <a:r>
              <a:rPr lang="fr-CA" sz="3600" dirty="0"/>
              <a:t>Montant brut/net</a:t>
            </a:r>
            <a:endParaRPr lang="fr-CA"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CA" dirty="0"/>
              <a:t>Les produits ne comprennent que les entrées brutes d'avantages économiques reçus ou à recevoir par l'entité pour son propre compte.</a:t>
            </a:r>
          </a:p>
          <a:p>
            <a:pPr marL="0" indent="0">
              <a:buNone/>
            </a:pPr>
            <a:endParaRPr lang="fr-CA" sz="2300" dirty="0"/>
          </a:p>
          <a:p>
            <a:r>
              <a:rPr lang="fr-CA" dirty="0"/>
              <a:t>Les montants perçus pour le compte de tiers tels que les taxes sur les ventes, les taxes sur les produits et services ne sont pas des avantages économiques qui vont à l'entité et ils n'aboutissent pas à une augmentation des capitaux propres. En conséquence, ils sont exclus des produits. </a:t>
            </a:r>
          </a:p>
          <a:p>
            <a:endParaRPr lang="fr-CA" sz="2300" dirty="0"/>
          </a:p>
          <a:p>
            <a:r>
              <a:rPr lang="fr-CA" dirty="0"/>
              <a:t>De même, dans une relation de mandataire, les entrées brutes d'avantages économiques comprennent des montants perçus pour le compte du mandant et ne conduisent pas à une augmentation des capitaux propres pour l'entité. Les montants perçus pour le compte du mandant ne sont pas des produits. Dans ce cas, les produits correspondent au montant des commissions.</a:t>
            </a:r>
          </a:p>
        </p:txBody>
      </p:sp>
      <p:sp>
        <p:nvSpPr>
          <p:cNvPr id="4" name="Espace réservé du pied de page 3">
            <a:extLst>
              <a:ext uri="{FF2B5EF4-FFF2-40B4-BE49-F238E27FC236}">
                <a16:creationId xmlns:a16="http://schemas.microsoft.com/office/drawing/2014/main" id="{AAF21CC0-BC92-4996-973E-70A3C6BBA72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EB9D190-E854-44EC-AA2E-F5B5950C641F}"/>
              </a:ext>
            </a:extLst>
          </p:cNvPr>
          <p:cNvSpPr>
            <a:spLocks noGrp="1"/>
          </p:cNvSpPr>
          <p:nvPr>
            <p:ph type="sldNum" sz="quarter" idx="12"/>
          </p:nvPr>
        </p:nvSpPr>
        <p:spPr/>
        <p:txBody>
          <a:bodyPr/>
          <a:lstStyle/>
          <a:p>
            <a:fld id="{B407F3FA-7E18-4DCE-B6E1-AF2F18B1E770}" type="slidenum">
              <a:rPr lang="fr-FR" smtClean="0"/>
              <a:t>38</a:t>
            </a:fld>
            <a:endParaRPr lang="fr-FR"/>
          </a:p>
        </p:txBody>
      </p:sp>
    </p:spTree>
    <p:extLst>
      <p:ext uri="{BB962C8B-B14F-4D97-AF65-F5344CB8AC3E}">
        <p14:creationId xmlns:p14="http://schemas.microsoft.com/office/powerpoint/2010/main" val="2618877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Présentation aux résultats</a:t>
            </a:r>
            <a:br>
              <a:rPr lang="fr-CA" sz="4000" dirty="0"/>
            </a:br>
            <a:r>
              <a:rPr lang="fr-CA" sz="3600" dirty="0"/>
              <a:t>Montant brut/net</a:t>
            </a:r>
            <a:endParaRPr lang="fr-CA" dirty="0"/>
          </a:p>
        </p:txBody>
      </p:sp>
      <p:sp>
        <p:nvSpPr>
          <p:cNvPr id="3" name="Espace réservé du contenu 2"/>
          <p:cNvSpPr>
            <a:spLocks noGrp="1"/>
          </p:cNvSpPr>
          <p:nvPr>
            <p:ph idx="1"/>
          </p:nvPr>
        </p:nvSpPr>
        <p:spPr>
          <a:xfrm>
            <a:off x="838200" y="1797268"/>
            <a:ext cx="10515600" cy="4557811"/>
          </a:xfrm>
        </p:spPr>
        <p:txBody>
          <a:bodyPr>
            <a:normAutofit/>
          </a:bodyPr>
          <a:lstStyle/>
          <a:p>
            <a:pPr marL="0" indent="0">
              <a:buNone/>
            </a:pPr>
            <a:r>
              <a:rPr lang="fr-CA" sz="2000" dirty="0"/>
              <a:t>Voici certains faits indiquant qu'une entité agit à titre de mandant :</a:t>
            </a:r>
          </a:p>
          <a:p>
            <a:pPr marL="0" indent="0">
              <a:buNone/>
            </a:pPr>
            <a:r>
              <a:rPr lang="fr-CA" sz="2000" dirty="0"/>
              <a:t>a)     l'entité est la principale responsable de la fourniture des biens ou de la prestation des services au client ou de l'exécution des commandes (par exemple, du fait qu'elle est responsable de l'acceptabilité des biens ou des services commandés ou achetés par le client) ;</a:t>
            </a:r>
          </a:p>
          <a:p>
            <a:pPr marL="0" indent="0">
              <a:buNone/>
            </a:pPr>
            <a:r>
              <a:rPr lang="fr-CA" sz="2000" dirty="0"/>
              <a:t>b)     l'entité assume le risque sur stocks avant ou après que le client passe sa commande, durant l'expédition des biens ou lorsqu'ils sont retournés ;</a:t>
            </a:r>
          </a:p>
          <a:p>
            <a:pPr marL="0" indent="0">
              <a:buNone/>
            </a:pPr>
            <a:r>
              <a:rPr lang="fr-CA" sz="2000" dirty="0"/>
              <a:t>c)     l'entité dispose d'une certaine latitude pour l'établissement des prix, directement ou indirectement (par exemple en fournissant des biens ou services supplémentaires) ;</a:t>
            </a:r>
          </a:p>
          <a:p>
            <a:pPr marL="0" indent="0">
              <a:buNone/>
            </a:pPr>
            <a:r>
              <a:rPr lang="fr-CA" sz="2000" dirty="0"/>
              <a:t>d)     l'entité assume le risque de crédit afférent au montant à recevoir du client.</a:t>
            </a:r>
          </a:p>
          <a:p>
            <a:endParaRPr lang="fr-CA" sz="2000" dirty="0"/>
          </a:p>
          <a:p>
            <a:r>
              <a:rPr lang="fr-CA" sz="2000" dirty="0"/>
              <a:t>Lorsqu'une entité touche un montant prédéterminé, soit une commission fixe pour chaque opération conclue, soit un pourcentage déterminé du montant facturé au client, ce fait peut indiquer qu'elle agit à titre de mandataire</a:t>
            </a:r>
          </a:p>
        </p:txBody>
      </p:sp>
      <p:sp>
        <p:nvSpPr>
          <p:cNvPr id="4" name="Espace réservé du pied de page 3">
            <a:extLst>
              <a:ext uri="{FF2B5EF4-FFF2-40B4-BE49-F238E27FC236}">
                <a16:creationId xmlns:a16="http://schemas.microsoft.com/office/drawing/2014/main" id="{A08F5E9E-098F-4C6D-91A9-87999299427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16809E4-2315-4CDA-AD7C-A89EE189BAAF}"/>
              </a:ext>
            </a:extLst>
          </p:cNvPr>
          <p:cNvSpPr>
            <a:spLocks noGrp="1"/>
          </p:cNvSpPr>
          <p:nvPr>
            <p:ph type="sldNum" sz="quarter" idx="12"/>
          </p:nvPr>
        </p:nvSpPr>
        <p:spPr/>
        <p:txBody>
          <a:bodyPr/>
          <a:lstStyle/>
          <a:p>
            <a:fld id="{B407F3FA-7E18-4DCE-B6E1-AF2F18B1E770}" type="slidenum">
              <a:rPr lang="fr-FR" smtClean="0"/>
              <a:t>39</a:t>
            </a:fld>
            <a:endParaRPr lang="fr-FR"/>
          </a:p>
        </p:txBody>
      </p:sp>
    </p:spTree>
    <p:extLst>
      <p:ext uri="{BB962C8B-B14F-4D97-AF65-F5344CB8AC3E}">
        <p14:creationId xmlns:p14="http://schemas.microsoft.com/office/powerpoint/2010/main" val="2260084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Produits c. gains</a:t>
            </a:r>
          </a:p>
        </p:txBody>
      </p:sp>
      <p:sp>
        <p:nvSpPr>
          <p:cNvPr id="3" name="Espace réservé du contenu 2"/>
          <p:cNvSpPr>
            <a:spLocks noGrp="1"/>
          </p:cNvSpPr>
          <p:nvPr>
            <p:ph idx="1"/>
          </p:nvPr>
        </p:nvSpPr>
        <p:spPr/>
        <p:txBody>
          <a:bodyPr/>
          <a:lstStyle/>
          <a:p>
            <a:pPr marL="0" indent="0">
              <a:buNone/>
            </a:pPr>
            <a:r>
              <a:rPr lang="fr-CA" dirty="0"/>
              <a:t>ABC exploite plus d’une centaine de boutiques au Canada. Au cours de la période, ABC a vendu l’une de ses boutiques au prix de 100 000 $. La valeur comptable de la boutique était de 60 000 $.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40</a:t>
            </a:fld>
            <a:endParaRPr lang="fr-FR"/>
          </a:p>
        </p:txBody>
      </p:sp>
      <p:sp>
        <p:nvSpPr>
          <p:cNvPr id="5" name="Espace réservé du pied de page 4">
            <a:extLst>
              <a:ext uri="{FF2B5EF4-FFF2-40B4-BE49-F238E27FC236}">
                <a16:creationId xmlns:a16="http://schemas.microsoft.com/office/drawing/2014/main" id="{9943BDCD-795A-4D6E-BCAD-41E7E9A77E5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57439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200" dirty="0"/>
              <a:t>Solution</a:t>
            </a:r>
            <a:endParaRPr lang="fr-CA" dirty="0"/>
          </a:p>
        </p:txBody>
      </p:sp>
      <p:sp>
        <p:nvSpPr>
          <p:cNvPr id="3" name="Espace réservé du contenu 2"/>
          <p:cNvSpPr>
            <a:spLocks noGrp="1"/>
          </p:cNvSpPr>
          <p:nvPr>
            <p:ph idx="1"/>
          </p:nvPr>
        </p:nvSpPr>
        <p:spPr/>
        <p:txBody>
          <a:bodyPr>
            <a:normAutofit lnSpcReduction="10000"/>
          </a:bodyPr>
          <a:lstStyle/>
          <a:p>
            <a:r>
              <a:rPr lang="fr-CA" dirty="0"/>
              <a:t>ABC génère des produits lorsqu'elle vend des biens aux consommateurs. </a:t>
            </a:r>
          </a:p>
          <a:p>
            <a:pPr lvl="1"/>
            <a:r>
              <a:rPr lang="fr-CA" dirty="0"/>
              <a:t>vente de boutique n’a pas été réalisée dans le cours des activités normales. Même si ABC vendait régulièrement des boutiques afin de mettre en valeur l'entreprise, ses activités principales demeurent la vente de détail.  </a:t>
            </a:r>
          </a:p>
          <a:p>
            <a:pPr lvl="1"/>
            <a:r>
              <a:rPr lang="fr-CA" dirty="0"/>
              <a:t>Donc, ABC doit comptabiliser un gain de 40 000 $ provenant de la vente de sa boutique (et non pas un produit)</a:t>
            </a:r>
          </a:p>
          <a:p>
            <a:pPr marL="457200" lvl="1" indent="0">
              <a:buNone/>
            </a:pPr>
            <a:endParaRPr lang="fr-CA" dirty="0"/>
          </a:p>
          <a:p>
            <a:r>
              <a:rPr lang="fr-CA" dirty="0"/>
              <a:t>Si les activités d'ABC consistaient à vendre des boutiques, elle comptabiliserait à titre de produit le montant brut (c'est-à-dire 100 000 $) résultant de la vente de la boutique et un coût de ventes de 60 000 $</a:t>
            </a:r>
            <a:endParaRPr lang="fr-CA" sz="3200" dirty="0"/>
          </a:p>
          <a:p>
            <a:pPr marL="0" indent="0">
              <a:buNone/>
            </a:pPr>
            <a:endParaRPr lang="fr-CA" dirty="0"/>
          </a:p>
        </p:txBody>
      </p:sp>
      <p:sp>
        <p:nvSpPr>
          <p:cNvPr id="4" name="Espace réservé du pied de page 3">
            <a:extLst>
              <a:ext uri="{FF2B5EF4-FFF2-40B4-BE49-F238E27FC236}">
                <a16:creationId xmlns:a16="http://schemas.microsoft.com/office/drawing/2014/main" id="{0A4A2139-5C30-4E69-9DA9-CA0D25F7DEC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DA4A8BA-9DAA-43D4-8757-78246C5FBDDB}"/>
              </a:ext>
            </a:extLst>
          </p:cNvPr>
          <p:cNvSpPr>
            <a:spLocks noGrp="1"/>
          </p:cNvSpPr>
          <p:nvPr>
            <p:ph type="sldNum" sz="quarter" idx="12"/>
          </p:nvPr>
        </p:nvSpPr>
        <p:spPr/>
        <p:txBody>
          <a:bodyPr/>
          <a:lstStyle/>
          <a:p>
            <a:fld id="{B407F3FA-7E18-4DCE-B6E1-AF2F18B1E770}" type="slidenum">
              <a:rPr lang="fr-FR" smtClean="0"/>
              <a:t>41</a:t>
            </a:fld>
            <a:endParaRPr lang="fr-FR"/>
          </a:p>
        </p:txBody>
      </p:sp>
    </p:spTree>
    <p:extLst>
      <p:ext uri="{BB962C8B-B14F-4D97-AF65-F5344CB8AC3E}">
        <p14:creationId xmlns:p14="http://schemas.microsoft.com/office/powerpoint/2010/main" val="2605040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Ristournes</a:t>
            </a:r>
          </a:p>
        </p:txBody>
      </p:sp>
      <p:sp>
        <p:nvSpPr>
          <p:cNvPr id="3" name="Espace réservé du contenu 2"/>
          <p:cNvSpPr>
            <a:spLocks noGrp="1"/>
          </p:cNvSpPr>
          <p:nvPr>
            <p:ph idx="1"/>
          </p:nvPr>
        </p:nvSpPr>
        <p:spPr/>
        <p:txBody>
          <a:bodyPr/>
          <a:lstStyle/>
          <a:p>
            <a:pPr marL="0" indent="0">
              <a:buNone/>
            </a:pPr>
            <a:r>
              <a:rPr lang="fr-CA" dirty="0"/>
              <a:t>Le grossiste DEF accorde des ristournes à ses distributeurs en fonction de leur volume d’achats</a:t>
            </a:r>
          </a:p>
          <a:p>
            <a:pPr marL="0" indent="0">
              <a:buNone/>
            </a:pPr>
            <a:endParaRPr lang="fr-CA" dirty="0"/>
          </a:p>
          <a:p>
            <a:pPr>
              <a:buFont typeface="Wingdings" panose="05000000000000000000" pitchFamily="2" charset="2"/>
              <a:buChar char="Ø"/>
            </a:pPr>
            <a:r>
              <a:rPr lang="fr-CA" dirty="0"/>
              <a:t>Présentation?</a:t>
            </a:r>
          </a:p>
          <a:p>
            <a:pPr>
              <a:buFont typeface="Wingdings" panose="05000000000000000000" pitchFamily="2" charset="2"/>
              <a:buChar char="Ø"/>
            </a:pPr>
            <a:r>
              <a:rPr lang="fr-CA" dirty="0"/>
              <a:t>Provision en date du bilan?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42</a:t>
            </a:fld>
            <a:endParaRPr lang="fr-FR"/>
          </a:p>
        </p:txBody>
      </p:sp>
      <p:sp>
        <p:nvSpPr>
          <p:cNvPr id="5" name="Espace réservé du pied de page 4">
            <a:extLst>
              <a:ext uri="{FF2B5EF4-FFF2-40B4-BE49-F238E27FC236}">
                <a16:creationId xmlns:a16="http://schemas.microsoft.com/office/drawing/2014/main" id="{E8B8AD99-5785-4EEB-B5E4-7CB624BE9EA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592239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CA" dirty="0"/>
              <a:t>Présentation?</a:t>
            </a:r>
          </a:p>
          <a:p>
            <a:pPr lvl="1">
              <a:buFont typeface="Wingdings" panose="05000000000000000000" pitchFamily="2" charset="2"/>
              <a:buChar char="Ø"/>
            </a:pPr>
            <a:r>
              <a:rPr lang="fr-CA" dirty="0"/>
              <a:t>Réduction des ventes</a:t>
            </a:r>
          </a:p>
          <a:p>
            <a:pPr marL="457200" lvl="1" indent="0">
              <a:buNone/>
            </a:pPr>
            <a:endParaRPr lang="fr-CA" dirty="0"/>
          </a:p>
          <a:p>
            <a:pPr>
              <a:buFont typeface="Wingdings" panose="05000000000000000000" pitchFamily="2" charset="2"/>
              <a:buChar char="Ø"/>
            </a:pPr>
            <a:r>
              <a:rPr lang="fr-CA" dirty="0"/>
              <a:t>Provision en date du bilan?</a:t>
            </a:r>
          </a:p>
          <a:p>
            <a:pPr lvl="1">
              <a:buFont typeface="Wingdings" panose="05000000000000000000" pitchFamily="2" charset="2"/>
              <a:buChar char="Ø"/>
            </a:pPr>
            <a:r>
              <a:rPr lang="fr-CA" dirty="0"/>
              <a:t>Montant estimatif des ristournes futures</a:t>
            </a:r>
          </a:p>
          <a:p>
            <a:pPr marL="457200" lvl="1" indent="0">
              <a:buNone/>
            </a:pPr>
            <a:endParaRPr lang="fr-CA" dirty="0"/>
          </a:p>
          <a:p>
            <a:pPr lvl="2">
              <a:buFont typeface="Wingdings" panose="05000000000000000000" pitchFamily="2" charset="2"/>
              <a:buChar char="Ø"/>
            </a:pPr>
            <a:r>
              <a:rPr lang="fr-CA" dirty="0"/>
              <a:t>Ventes (ristournes)</a:t>
            </a:r>
          </a:p>
          <a:p>
            <a:pPr marL="914400" lvl="2" indent="0">
              <a:buNone/>
            </a:pPr>
            <a:r>
              <a:rPr lang="fr-CA" dirty="0"/>
              <a:t>    @ Provision ou créances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43</a:t>
            </a:fld>
            <a:endParaRPr lang="fr-FR"/>
          </a:p>
        </p:txBody>
      </p:sp>
      <p:sp>
        <p:nvSpPr>
          <p:cNvPr id="5" name="Espace réservé du pied de page 4">
            <a:extLst>
              <a:ext uri="{FF2B5EF4-FFF2-40B4-BE49-F238E27FC236}">
                <a16:creationId xmlns:a16="http://schemas.microsoft.com/office/drawing/2014/main" id="{9CBF9598-5D17-4678-BEB5-AE73D6BBF4B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38302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Rabais</a:t>
            </a:r>
          </a:p>
        </p:txBody>
      </p:sp>
      <p:sp>
        <p:nvSpPr>
          <p:cNvPr id="3" name="Espace réservé du contenu 2"/>
          <p:cNvSpPr>
            <a:spLocks noGrp="1"/>
          </p:cNvSpPr>
          <p:nvPr>
            <p:ph idx="1"/>
          </p:nvPr>
        </p:nvSpPr>
        <p:spPr/>
        <p:txBody>
          <a:bodyPr>
            <a:normAutofit/>
          </a:bodyPr>
          <a:lstStyle/>
          <a:p>
            <a:pPr marL="0" indent="0">
              <a:buNone/>
            </a:pPr>
            <a:r>
              <a:rPr lang="fr-CA" dirty="0"/>
              <a:t>GHI vend une imprimante au prix de 150 000 $. Cette imprimante lui a coûté 60 000 $.</a:t>
            </a:r>
          </a:p>
          <a:p>
            <a:pPr marL="0" indent="0">
              <a:buNone/>
            </a:pPr>
            <a:r>
              <a:rPr lang="fr-CA" dirty="0"/>
              <a:t>Au moment de la livraison, le client découvre un léger défaut. GHI donne le choix au client de retourner l’imprimante contre un remboursement complet ou de bénéficier d’un escompte spécial de 30 000 $.</a:t>
            </a:r>
          </a:p>
          <a:p>
            <a:pPr marL="0" indent="0">
              <a:buNone/>
            </a:pPr>
            <a:endParaRPr lang="fr-CA" dirty="0"/>
          </a:p>
          <a:p>
            <a:pPr>
              <a:buFont typeface="Wingdings" panose="05000000000000000000" pitchFamily="2" charset="2"/>
              <a:buChar char="Ø"/>
            </a:pPr>
            <a:r>
              <a:rPr lang="fr-CA" dirty="0"/>
              <a:t>	Écritures comptables?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44</a:t>
            </a:fld>
            <a:endParaRPr lang="fr-FR"/>
          </a:p>
        </p:txBody>
      </p:sp>
      <p:sp>
        <p:nvSpPr>
          <p:cNvPr id="5" name="Espace réservé du pied de page 4">
            <a:extLst>
              <a:ext uri="{FF2B5EF4-FFF2-40B4-BE49-F238E27FC236}">
                <a16:creationId xmlns:a16="http://schemas.microsoft.com/office/drawing/2014/main" id="{C422D75D-AD04-4BE1-A0C0-C401A313E02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158036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Rabais</a:t>
            </a:r>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CA" dirty="0"/>
              <a:t>Diminution des produits (et non une charge)</a:t>
            </a:r>
          </a:p>
          <a:p>
            <a:pPr>
              <a:buFont typeface="Wingdings" panose="05000000000000000000" pitchFamily="2" charset="2"/>
              <a:buChar char="Ø"/>
            </a:pPr>
            <a:endParaRPr lang="fr-CA" dirty="0"/>
          </a:p>
          <a:p>
            <a:pPr>
              <a:buFont typeface="Wingdings" panose="05000000000000000000" pitchFamily="2" charset="2"/>
              <a:buChar char="Ø"/>
            </a:pPr>
            <a:r>
              <a:rPr lang="fr-CA" dirty="0"/>
              <a:t>Si accepte l’escompte</a:t>
            </a:r>
          </a:p>
          <a:p>
            <a:pPr lvl="1">
              <a:buFont typeface="Wingdings" panose="05000000000000000000" pitchFamily="2" charset="2"/>
              <a:buChar char="Ø"/>
            </a:pPr>
            <a:r>
              <a:rPr lang="fr-CA" dirty="0"/>
              <a:t>Vente (escompte)			30 000</a:t>
            </a:r>
          </a:p>
          <a:p>
            <a:pPr marL="457200" lvl="1" indent="0">
              <a:buNone/>
            </a:pPr>
            <a:r>
              <a:rPr lang="fr-CA" dirty="0"/>
              <a:t>    @  Créances / trésorerie			30 000</a:t>
            </a:r>
          </a:p>
          <a:p>
            <a:pPr marL="457200" lvl="1" indent="0">
              <a:buNone/>
            </a:pPr>
            <a:endParaRPr lang="fr-CA" dirty="0"/>
          </a:p>
          <a:p>
            <a:pPr>
              <a:buFont typeface="Wingdings" panose="05000000000000000000" pitchFamily="2" charset="2"/>
              <a:buChar char="Ø"/>
            </a:pPr>
            <a:r>
              <a:rPr lang="fr-CA" dirty="0"/>
              <a:t>Si choisit de retourner l’imprimante</a:t>
            </a:r>
          </a:p>
          <a:p>
            <a:pPr lvl="1">
              <a:buFont typeface="Wingdings" panose="05000000000000000000" pitchFamily="2" charset="2"/>
              <a:buChar char="Ø"/>
            </a:pPr>
            <a:r>
              <a:rPr lang="fr-CA" dirty="0"/>
              <a:t>Vente 				150 000 </a:t>
            </a:r>
          </a:p>
          <a:p>
            <a:pPr marL="457200" lvl="1" indent="0">
              <a:buNone/>
            </a:pPr>
            <a:r>
              <a:rPr lang="fr-CA" dirty="0"/>
              <a:t>    @  Créances / trésorerie			150 000</a:t>
            </a:r>
          </a:p>
          <a:p>
            <a:pPr lvl="1">
              <a:buFont typeface="Wingdings" panose="05000000000000000000" pitchFamily="2" charset="2"/>
              <a:buChar char="Ø"/>
            </a:pPr>
            <a:r>
              <a:rPr lang="fr-CA" dirty="0"/>
              <a:t>Stocks				60 000</a:t>
            </a:r>
          </a:p>
          <a:p>
            <a:pPr marL="457200" lvl="1" indent="0">
              <a:buNone/>
            </a:pPr>
            <a:r>
              <a:rPr lang="fr-CA" dirty="0"/>
              <a:t>    @  Coût des ventes			60 000</a:t>
            </a:r>
          </a:p>
          <a:p>
            <a:pPr marL="1528763" lvl="1" indent="179388">
              <a:buFont typeface="Wingdings" panose="05000000000000000000" pitchFamily="2" charset="2"/>
              <a:buChar char="Ø"/>
            </a:pPr>
            <a:r>
              <a:rPr lang="fr-CA" dirty="0"/>
              <a:t>	parfois dépréciation requise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45</a:t>
            </a:fld>
            <a:endParaRPr lang="fr-FR"/>
          </a:p>
        </p:txBody>
      </p:sp>
      <p:sp>
        <p:nvSpPr>
          <p:cNvPr id="5" name="Espace réservé du pied de page 4">
            <a:extLst>
              <a:ext uri="{FF2B5EF4-FFF2-40B4-BE49-F238E27FC236}">
                <a16:creationId xmlns:a16="http://schemas.microsoft.com/office/drawing/2014/main" id="{EF2C1D42-6C85-4FD4-93CE-FCB1CD92269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66046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Montant brut / net</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sz="3000" dirty="0"/>
              <a:t>Le 1</a:t>
            </a:r>
            <a:r>
              <a:rPr lang="fr-CA" sz="3000" baseline="30000" dirty="0"/>
              <a:t>er</a:t>
            </a:r>
            <a:r>
              <a:rPr lang="fr-CA" sz="3000" dirty="0"/>
              <a:t> septembre, Fabricant Ltée livre différents meubles à Vendeur. L’accord de vente prévoit les dispositions suivantes :</a:t>
            </a:r>
          </a:p>
          <a:p>
            <a:r>
              <a:rPr lang="fr-CA" sz="3000" dirty="0"/>
              <a:t>Vendeur a pour seule obligation de faire les efforts nécessaires pour vendre le mobilier de Fabricant</a:t>
            </a:r>
          </a:p>
          <a:p>
            <a:r>
              <a:rPr lang="fr-CA" sz="3000" dirty="0"/>
              <a:t>Vendeur recevra une commission de 10 % sur la vente du mobilier</a:t>
            </a:r>
          </a:p>
          <a:p>
            <a:r>
              <a:rPr lang="fr-CA" sz="3000" dirty="0"/>
              <a:t>Fabricant détermine le prix de vente du mobilier</a:t>
            </a:r>
          </a:p>
          <a:p>
            <a:r>
              <a:rPr lang="fr-CA" sz="3000" dirty="0"/>
              <a:t>Fabricant doit reprendre tout mobilier invendu à la fin de l’année</a:t>
            </a:r>
          </a:p>
          <a:p>
            <a:r>
              <a:rPr lang="fr-CA" sz="3000" dirty="0"/>
              <a:t>Fabricant doit assurer tous les meubles détenus par Vendeur</a:t>
            </a:r>
          </a:p>
          <a:p>
            <a:pPr marL="0" indent="0">
              <a:buNone/>
            </a:pPr>
            <a:endParaRPr lang="fr-CA" dirty="0"/>
          </a:p>
          <a:p>
            <a:pPr marL="0" indent="0">
              <a:buNone/>
            </a:pPr>
            <a:r>
              <a:rPr lang="fr-CA" dirty="0"/>
              <a:t>Dans la période de quatre mois du 1</a:t>
            </a:r>
            <a:r>
              <a:rPr lang="fr-CA" baseline="30000" dirty="0"/>
              <a:t>er</a:t>
            </a:r>
            <a:r>
              <a:rPr lang="fr-CA" dirty="0"/>
              <a:t> septembre au 31 décembre, Vendeur a vendu du mobilier pour un montant total de 350 000 $. La fin d'exercice des deux entités est le 31 décembre.</a:t>
            </a:r>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46</a:t>
            </a:fld>
            <a:endParaRPr lang="fr-FR"/>
          </a:p>
        </p:txBody>
      </p:sp>
      <p:sp>
        <p:nvSpPr>
          <p:cNvPr id="5" name="Espace réservé du pied de page 4">
            <a:extLst>
              <a:ext uri="{FF2B5EF4-FFF2-40B4-BE49-F238E27FC236}">
                <a16:creationId xmlns:a16="http://schemas.microsoft.com/office/drawing/2014/main" id="{FF05DB5D-EE90-415F-8F78-72CB8667FB3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4932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200" dirty="0"/>
              <a:t>Solution</a:t>
            </a:r>
            <a:endParaRPr lang="fr-CA"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CA" sz="2400" b="1" dirty="0"/>
              <a:t>Mandant et mandataire </a:t>
            </a:r>
            <a:endParaRPr lang="fr-CA" dirty="0"/>
          </a:p>
          <a:p>
            <a:r>
              <a:rPr lang="fr-CA" dirty="0"/>
              <a:t>La première étape consiste à reconnaître qu'aucune opération de vente n'a pas lieu entre les deux entités puisqu'il n'y a pas de transfert de propriété : leur contrat établit une relation mandant-mandataire. </a:t>
            </a:r>
          </a:p>
          <a:p>
            <a:r>
              <a:rPr lang="fr-CA" dirty="0"/>
              <a:t>La deuxième étape consiste à identifier le mandataire et le mandant. Dans ce cas, le mandant est Fabricant Ltée parce qu'il assume les risques et bénéficie des avantages inhérents aux biens (par exemple, il doit reprendre tout meuble invendu, assurer le mobilier et établir le prix de vente). En tant que mandant, Fabricant constate les produits pour leur montant brut ; en tant que mandataire, Vendeur constate les produits pour leur montant net (c.-à-d. une commission). </a:t>
            </a:r>
          </a:p>
          <a:p>
            <a:r>
              <a:rPr lang="fr-CA" dirty="0"/>
              <a:t>Ventes pour Fabricant de 350 000 $ et commission pour Vendeur de 35 000 $</a:t>
            </a:r>
          </a:p>
          <a:p>
            <a:pPr marL="0" indent="0">
              <a:buNone/>
            </a:pPr>
            <a:endParaRPr lang="fr-CA" dirty="0"/>
          </a:p>
        </p:txBody>
      </p:sp>
      <p:sp>
        <p:nvSpPr>
          <p:cNvPr id="4" name="Espace réservé du pied de page 3">
            <a:extLst>
              <a:ext uri="{FF2B5EF4-FFF2-40B4-BE49-F238E27FC236}">
                <a16:creationId xmlns:a16="http://schemas.microsoft.com/office/drawing/2014/main" id="{6A21FD09-1E8E-4772-82B3-885F27A39D5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059E867-E9EA-4DC4-8827-28DB394EAE02}"/>
              </a:ext>
            </a:extLst>
          </p:cNvPr>
          <p:cNvSpPr>
            <a:spLocks noGrp="1"/>
          </p:cNvSpPr>
          <p:nvPr>
            <p:ph type="sldNum" sz="quarter" idx="12"/>
          </p:nvPr>
        </p:nvSpPr>
        <p:spPr/>
        <p:txBody>
          <a:bodyPr/>
          <a:lstStyle/>
          <a:p>
            <a:fld id="{B407F3FA-7E18-4DCE-B6E1-AF2F18B1E770}" type="slidenum">
              <a:rPr lang="fr-FR" smtClean="0"/>
              <a:t>47</a:t>
            </a:fld>
            <a:endParaRPr lang="fr-FR"/>
          </a:p>
        </p:txBody>
      </p:sp>
    </p:spTree>
    <p:extLst>
      <p:ext uri="{BB962C8B-B14F-4D97-AF65-F5344CB8AC3E}">
        <p14:creationId xmlns:p14="http://schemas.microsoft.com/office/powerpoint/2010/main" val="617665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0050" name="Titre 1"/>
          <p:cNvSpPr>
            <a:spLocks noGrp="1"/>
          </p:cNvSpPr>
          <p:nvPr>
            <p:ph type="title"/>
          </p:nvPr>
        </p:nvSpPr>
        <p:spPr/>
        <p:txBody>
          <a:bodyPr/>
          <a:lstStyle/>
          <a:p>
            <a:r>
              <a:rPr lang="fr-CA">
                <a:latin typeface="Calibri" charset="0"/>
                <a:ea typeface="MS PGothic" charset="0"/>
                <a:cs typeface="MS PGothic" charset="0"/>
              </a:rPr>
              <a:t>Micro-cas - 1</a:t>
            </a:r>
          </a:p>
        </p:txBody>
      </p:sp>
      <p:sp>
        <p:nvSpPr>
          <p:cNvPr id="3" name="Espace réservé du contenu 2"/>
          <p:cNvSpPr>
            <a:spLocks noGrp="1"/>
          </p:cNvSpPr>
          <p:nvPr>
            <p:ph idx="1"/>
          </p:nvPr>
        </p:nvSpPr>
        <p:spPr/>
        <p:txBody>
          <a:bodyPr>
            <a:normAutofit/>
          </a:bodyPr>
          <a:lstStyle/>
          <a:p>
            <a:pPr marL="0" indent="0">
              <a:buNone/>
              <a:defRPr/>
            </a:pPr>
            <a:r>
              <a:rPr lang="fr-CA" dirty="0"/>
              <a:t>Un distributeur vend des livres. Les clients peuvent retourner les livres 90 jours après l’achat. Historiquement 20 % des ventes du distributeur font l’objet de retours.</a:t>
            </a:r>
          </a:p>
          <a:p>
            <a:pPr marL="0" indent="0">
              <a:buNone/>
              <a:defRPr/>
            </a:pPr>
            <a:r>
              <a:rPr lang="fr-CA" dirty="0"/>
              <a:t>Tous les retours peuvent être revendus au plein prix de détail. La marge sur les ventes de livres est de 60 %.</a:t>
            </a:r>
          </a:p>
          <a:p>
            <a:pPr marL="0" indent="0">
              <a:buNone/>
              <a:defRPr/>
            </a:pPr>
            <a:r>
              <a:rPr lang="fr-CA" dirty="0"/>
              <a:t>Faites l’hypothèse que 1000 livres ont été livrées au prix de 30 $ / unité (coût 12 $ / unité)</a:t>
            </a:r>
          </a:p>
          <a:p>
            <a:pPr marL="360363" indent="-360363">
              <a:buNone/>
              <a:defRPr/>
            </a:pPr>
            <a:endParaRPr lang="fr-CA" dirty="0"/>
          </a:p>
          <a:p>
            <a:pPr lvl="1">
              <a:defRPr/>
            </a:pPr>
            <a:r>
              <a:rPr lang="fr-CA" dirty="0"/>
              <a:t>A) si retourne 20 % des livres?</a:t>
            </a:r>
          </a:p>
          <a:p>
            <a:pPr lvl="1">
              <a:defRPr/>
            </a:pPr>
            <a:r>
              <a:rPr lang="fr-CA" dirty="0"/>
              <a:t>B) si ne retourne rien?</a:t>
            </a:r>
          </a:p>
        </p:txBody>
      </p:sp>
      <p:sp>
        <p:nvSpPr>
          <p:cNvPr id="130052"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4CA8E326-C5B4-1349-A890-3F973D8304AA}" type="slidenum">
              <a:rPr lang="fr-FR" sz="1200">
                <a:solidFill>
                  <a:srgbClr val="898989"/>
                </a:solidFill>
                <a:ea typeface="MS PGothic" charset="0"/>
                <a:cs typeface="MS PGothic" charset="0"/>
              </a:rPr>
              <a:pPr eaLnBrk="1" fontAlgn="base" hangingPunct="1">
                <a:spcBef>
                  <a:spcPct val="0"/>
                </a:spcBef>
                <a:spcAft>
                  <a:spcPct val="0"/>
                </a:spcAft>
              </a:pPr>
              <a:t>48</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B64D5305-9C7B-4956-8873-96F7528ED01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174212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EF1CB7-8099-48A5-923E-56155F007117}"/>
              </a:ext>
            </a:extLst>
          </p:cNvPr>
          <p:cNvSpPr>
            <a:spLocks noGrp="1"/>
          </p:cNvSpPr>
          <p:nvPr>
            <p:ph type="title"/>
          </p:nvPr>
        </p:nvSpPr>
        <p:spPr/>
        <p:txBody>
          <a:bodyPr>
            <a:normAutofit/>
          </a:bodyPr>
          <a:lstStyle/>
          <a:p>
            <a:r>
              <a:rPr lang="fr-CA" sz="3600" dirty="0"/>
              <a:t>Solution : si retourne 20 % des livres</a:t>
            </a:r>
            <a:endParaRPr lang="fr-FR" dirty="0"/>
          </a:p>
        </p:txBody>
      </p:sp>
      <p:sp>
        <p:nvSpPr>
          <p:cNvPr id="3" name="Espace réservé du contenu 2">
            <a:extLst>
              <a:ext uri="{FF2B5EF4-FFF2-40B4-BE49-F238E27FC236}">
                <a16:creationId xmlns:a16="http://schemas.microsoft.com/office/drawing/2014/main" id="{56CE40F2-BF17-4A9F-B463-DF32FB4DE510}"/>
              </a:ext>
            </a:extLst>
          </p:cNvPr>
          <p:cNvSpPr>
            <a:spLocks noGrp="1"/>
          </p:cNvSpPr>
          <p:nvPr>
            <p:ph idx="1"/>
          </p:nvPr>
        </p:nvSpPr>
        <p:spPr/>
        <p:txBody>
          <a:bodyPr>
            <a:normAutofit fontScale="85000" lnSpcReduction="20000"/>
          </a:bodyPr>
          <a:lstStyle/>
          <a:p>
            <a:pPr marL="0" indent="0">
              <a:buNone/>
            </a:pPr>
            <a:r>
              <a:rPr lang="fr-CA" dirty="0"/>
              <a:t>Encaisse 			30 000</a:t>
            </a:r>
          </a:p>
          <a:p>
            <a:pPr marL="0" indent="0">
              <a:buNone/>
            </a:pPr>
            <a:r>
              <a:rPr lang="fr-CA" dirty="0"/>
              <a:t>@	Produits			24 000</a:t>
            </a:r>
          </a:p>
          <a:p>
            <a:pPr marL="0" indent="0">
              <a:buNone/>
            </a:pPr>
            <a:r>
              <a:rPr lang="fr-FR" dirty="0"/>
              <a:t>	Provision retours		  6 000  </a:t>
            </a:r>
            <a:r>
              <a:rPr lang="fr-FR" sz="2400" dirty="0"/>
              <a:t>(passif, peut estimer)</a:t>
            </a:r>
            <a:endParaRPr lang="fr-FR" dirty="0"/>
          </a:p>
          <a:p>
            <a:pPr marL="0" indent="0">
              <a:buNone/>
            </a:pPr>
            <a:endParaRPr lang="fr-FR" dirty="0"/>
          </a:p>
          <a:p>
            <a:pPr marL="0" indent="0">
              <a:buNone/>
            </a:pPr>
            <a:r>
              <a:rPr lang="fr-FR" dirty="0"/>
              <a:t>Coût des ventes		  9 600 	</a:t>
            </a:r>
            <a:r>
              <a:rPr lang="fr-FR" sz="2400" dirty="0"/>
              <a:t>(portion vendue)</a:t>
            </a:r>
            <a:endParaRPr lang="fr-FR" dirty="0"/>
          </a:p>
          <a:p>
            <a:pPr marL="0" indent="0">
              <a:buNone/>
            </a:pPr>
            <a:r>
              <a:rPr lang="fr-FR" dirty="0"/>
              <a:t>@	Stocks				  9 600</a:t>
            </a:r>
          </a:p>
          <a:p>
            <a:pPr marL="0" indent="0">
              <a:buNone/>
            </a:pPr>
            <a:r>
              <a:rPr lang="fr-FR" i="1" dirty="0"/>
              <a:t>Comptabilise en vente la portion « estimée » vendue</a:t>
            </a:r>
          </a:p>
          <a:p>
            <a:pPr marL="0" indent="0">
              <a:buNone/>
            </a:pPr>
            <a:endParaRPr lang="fr-FR" dirty="0"/>
          </a:p>
          <a:p>
            <a:pPr marL="0" indent="0">
              <a:buNone/>
            </a:pPr>
            <a:r>
              <a:rPr lang="fr-FR" i="1" dirty="0"/>
              <a:t>Lors du retour : </a:t>
            </a:r>
          </a:p>
          <a:p>
            <a:pPr marL="0" indent="0">
              <a:buNone/>
            </a:pPr>
            <a:r>
              <a:rPr lang="fr-FR" dirty="0"/>
              <a:t>Provision retours		   6 000</a:t>
            </a:r>
          </a:p>
          <a:p>
            <a:pPr marL="0" indent="0">
              <a:buNone/>
            </a:pPr>
            <a:r>
              <a:rPr lang="fr-FR" dirty="0"/>
              <a:t>@	Encaisse			  6 000    	</a:t>
            </a:r>
            <a:r>
              <a:rPr lang="fr-FR" sz="2400" dirty="0"/>
              <a:t>(remboursement)</a:t>
            </a:r>
            <a:endParaRPr lang="fr-FR" dirty="0"/>
          </a:p>
          <a:p>
            <a:pPr marL="0" indent="0">
              <a:buNone/>
            </a:pPr>
            <a:endParaRPr lang="fr-FR" dirty="0"/>
          </a:p>
        </p:txBody>
      </p:sp>
      <p:sp>
        <p:nvSpPr>
          <p:cNvPr id="4" name="Espace réservé du numéro de diapositive 3">
            <a:extLst>
              <a:ext uri="{FF2B5EF4-FFF2-40B4-BE49-F238E27FC236}">
                <a16:creationId xmlns:a16="http://schemas.microsoft.com/office/drawing/2014/main" id="{BB5F7967-E5B7-4912-B53E-E8C620099452}"/>
              </a:ext>
            </a:extLst>
          </p:cNvPr>
          <p:cNvSpPr>
            <a:spLocks noGrp="1"/>
          </p:cNvSpPr>
          <p:nvPr>
            <p:ph type="sldNum" sz="quarter" idx="12"/>
          </p:nvPr>
        </p:nvSpPr>
        <p:spPr/>
        <p:txBody>
          <a:bodyPr/>
          <a:lstStyle/>
          <a:p>
            <a:fld id="{93CCD850-57C1-B143-82E0-6B89E4215FB0}" type="slidenum">
              <a:rPr lang="fr-FR" smtClean="0"/>
              <a:t>49</a:t>
            </a:fld>
            <a:endParaRPr lang="fr-FR"/>
          </a:p>
        </p:txBody>
      </p:sp>
      <p:sp>
        <p:nvSpPr>
          <p:cNvPr id="5" name="Espace réservé du pied de page 4">
            <a:extLst>
              <a:ext uri="{FF2B5EF4-FFF2-40B4-BE49-F238E27FC236}">
                <a16:creationId xmlns:a16="http://schemas.microsoft.com/office/drawing/2014/main" id="{84E2722E-ECCA-46C2-A34E-FFE9586CF0E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363724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EF1CB7-8099-48A5-923E-56155F007117}"/>
              </a:ext>
            </a:extLst>
          </p:cNvPr>
          <p:cNvSpPr>
            <a:spLocks noGrp="1"/>
          </p:cNvSpPr>
          <p:nvPr>
            <p:ph type="title"/>
          </p:nvPr>
        </p:nvSpPr>
        <p:spPr/>
        <p:txBody>
          <a:bodyPr>
            <a:normAutofit/>
          </a:bodyPr>
          <a:lstStyle/>
          <a:p>
            <a:r>
              <a:rPr lang="fr-CA" sz="3600" dirty="0"/>
              <a:t>Solution : si ne retourne rien</a:t>
            </a:r>
            <a:endParaRPr lang="fr-FR" dirty="0"/>
          </a:p>
        </p:txBody>
      </p:sp>
      <p:sp>
        <p:nvSpPr>
          <p:cNvPr id="3" name="Espace réservé du contenu 2">
            <a:extLst>
              <a:ext uri="{FF2B5EF4-FFF2-40B4-BE49-F238E27FC236}">
                <a16:creationId xmlns:a16="http://schemas.microsoft.com/office/drawing/2014/main" id="{56CE40F2-BF17-4A9F-B463-DF32FB4DE510}"/>
              </a:ext>
            </a:extLst>
          </p:cNvPr>
          <p:cNvSpPr>
            <a:spLocks noGrp="1"/>
          </p:cNvSpPr>
          <p:nvPr>
            <p:ph idx="1"/>
          </p:nvPr>
        </p:nvSpPr>
        <p:spPr/>
        <p:txBody>
          <a:bodyPr>
            <a:normAutofit fontScale="55000" lnSpcReduction="20000"/>
          </a:bodyPr>
          <a:lstStyle/>
          <a:p>
            <a:pPr marL="0" indent="0">
              <a:buNone/>
            </a:pPr>
            <a:r>
              <a:rPr lang="fr-CA" dirty="0"/>
              <a:t>Encaisse 			30 000</a:t>
            </a:r>
          </a:p>
          <a:p>
            <a:pPr marL="0" indent="0">
              <a:buNone/>
            </a:pPr>
            <a:r>
              <a:rPr lang="fr-CA" dirty="0"/>
              <a:t>@ 	Produits			24 000</a:t>
            </a:r>
          </a:p>
          <a:p>
            <a:pPr marL="0" indent="0">
              <a:buNone/>
            </a:pPr>
            <a:r>
              <a:rPr lang="fr-FR" dirty="0"/>
              <a:t>	Provision retours		  6 000  </a:t>
            </a:r>
            <a:r>
              <a:rPr lang="fr-FR" sz="2400" dirty="0"/>
              <a:t>(passif, peut estimer)</a:t>
            </a:r>
            <a:endParaRPr lang="fr-FR" dirty="0"/>
          </a:p>
          <a:p>
            <a:pPr marL="0" indent="0">
              <a:buNone/>
            </a:pPr>
            <a:endParaRPr lang="fr-FR" dirty="0"/>
          </a:p>
          <a:p>
            <a:pPr marL="0" indent="0">
              <a:buNone/>
            </a:pPr>
            <a:r>
              <a:rPr lang="fr-FR" dirty="0"/>
              <a:t>Coût des ventes		  9 600 	</a:t>
            </a:r>
            <a:r>
              <a:rPr lang="fr-FR" sz="2400" dirty="0"/>
              <a:t>(portion vendue)</a:t>
            </a:r>
            <a:endParaRPr lang="fr-FR" dirty="0"/>
          </a:p>
          <a:p>
            <a:pPr marL="0" indent="0">
              <a:buNone/>
            </a:pPr>
            <a:r>
              <a:rPr lang="fr-FR" dirty="0"/>
              <a:t>@	Stocks			  9 600</a:t>
            </a:r>
          </a:p>
          <a:p>
            <a:pPr marL="0" indent="0">
              <a:buNone/>
            </a:pPr>
            <a:endParaRPr lang="fr-FR" dirty="0"/>
          </a:p>
          <a:p>
            <a:pPr marL="0" indent="0">
              <a:buNone/>
            </a:pPr>
            <a:r>
              <a:rPr lang="fr-FR" i="1" dirty="0"/>
              <a:t>À la fin de la période de retours : </a:t>
            </a:r>
          </a:p>
          <a:p>
            <a:pPr marL="0" indent="0">
              <a:buNone/>
            </a:pPr>
            <a:r>
              <a:rPr lang="fr-FR" dirty="0"/>
              <a:t>Provision retours		   6 000</a:t>
            </a:r>
          </a:p>
          <a:p>
            <a:pPr marL="0" indent="0">
              <a:buNone/>
            </a:pPr>
            <a:r>
              <a:rPr lang="fr-FR" dirty="0"/>
              <a:t>@	Ventes			  6 000    	</a:t>
            </a:r>
          </a:p>
          <a:p>
            <a:pPr marL="0" indent="0">
              <a:buNone/>
            </a:pPr>
            <a:endParaRPr lang="fr-FR" dirty="0"/>
          </a:p>
          <a:p>
            <a:pPr marL="0" indent="0">
              <a:buNone/>
            </a:pPr>
            <a:r>
              <a:rPr lang="fr-FR" dirty="0"/>
              <a:t>Coût des ventes		  2 400 	</a:t>
            </a:r>
            <a:r>
              <a:rPr lang="fr-FR" sz="2400" dirty="0"/>
              <a:t>(portion vendue)</a:t>
            </a:r>
            <a:endParaRPr lang="fr-FR" dirty="0"/>
          </a:p>
          <a:p>
            <a:pPr marL="0" indent="0">
              <a:buNone/>
            </a:pPr>
            <a:r>
              <a:rPr lang="fr-FR" dirty="0"/>
              <a:t>@	Stocks			  2 400</a:t>
            </a:r>
          </a:p>
          <a:p>
            <a:pPr marL="0" indent="0">
              <a:buNone/>
            </a:pPr>
            <a:r>
              <a:rPr lang="fr-FR" i="1" dirty="0"/>
              <a:t>Comptabilisation des ventes en deux étapes, en respectant estimation des ventes – correction prospective</a:t>
            </a:r>
            <a:endParaRPr lang="fr-FR" dirty="0"/>
          </a:p>
        </p:txBody>
      </p:sp>
      <p:sp>
        <p:nvSpPr>
          <p:cNvPr id="4" name="Espace réservé du numéro de diapositive 3">
            <a:extLst>
              <a:ext uri="{FF2B5EF4-FFF2-40B4-BE49-F238E27FC236}">
                <a16:creationId xmlns:a16="http://schemas.microsoft.com/office/drawing/2014/main" id="{BB5F7967-E5B7-4912-B53E-E8C620099452}"/>
              </a:ext>
            </a:extLst>
          </p:cNvPr>
          <p:cNvSpPr>
            <a:spLocks noGrp="1"/>
          </p:cNvSpPr>
          <p:nvPr>
            <p:ph type="sldNum" sz="quarter" idx="12"/>
          </p:nvPr>
        </p:nvSpPr>
        <p:spPr/>
        <p:txBody>
          <a:bodyPr/>
          <a:lstStyle/>
          <a:p>
            <a:fld id="{93CCD850-57C1-B143-82E0-6B89E4215FB0}" type="slidenum">
              <a:rPr lang="fr-FR" smtClean="0"/>
              <a:t>50</a:t>
            </a:fld>
            <a:endParaRPr lang="fr-FR"/>
          </a:p>
        </p:txBody>
      </p:sp>
      <p:sp>
        <p:nvSpPr>
          <p:cNvPr id="5" name="Espace réservé du pied de page 4">
            <a:extLst>
              <a:ext uri="{FF2B5EF4-FFF2-40B4-BE49-F238E27FC236}">
                <a16:creationId xmlns:a16="http://schemas.microsoft.com/office/drawing/2014/main" id="{B6A8FE67-2490-4407-B8A1-F0F1E18A113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809999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1074" name="Titre 1"/>
          <p:cNvSpPr>
            <a:spLocks noGrp="1"/>
          </p:cNvSpPr>
          <p:nvPr>
            <p:ph type="title"/>
          </p:nvPr>
        </p:nvSpPr>
        <p:spPr/>
        <p:txBody>
          <a:bodyPr/>
          <a:lstStyle/>
          <a:p>
            <a:r>
              <a:rPr lang="fr-CA">
                <a:latin typeface="Calibri" charset="0"/>
                <a:ea typeface="MS PGothic" charset="0"/>
                <a:cs typeface="MS PGothic" charset="0"/>
              </a:rPr>
              <a:t>Micro-cas - 2</a:t>
            </a:r>
          </a:p>
        </p:txBody>
      </p:sp>
      <p:sp>
        <p:nvSpPr>
          <p:cNvPr id="3" name="Espace réservé du contenu 2"/>
          <p:cNvSpPr>
            <a:spLocks noGrp="1"/>
          </p:cNvSpPr>
          <p:nvPr>
            <p:ph idx="1"/>
          </p:nvPr>
        </p:nvSpPr>
        <p:spPr/>
        <p:txBody>
          <a:bodyPr/>
          <a:lstStyle/>
          <a:p>
            <a:pPr marL="0" indent="0">
              <a:buNone/>
              <a:defRPr/>
            </a:pPr>
            <a:r>
              <a:rPr lang="fr-CA" dirty="0"/>
              <a:t>Un détaillant vend des cartes-cadeaux qui n’ont pas de date d’expiration</a:t>
            </a:r>
          </a:p>
          <a:p>
            <a:pPr marL="0" indent="0">
              <a:buNone/>
              <a:defRPr/>
            </a:pPr>
            <a:endParaRPr lang="fr-CA" dirty="0"/>
          </a:p>
          <a:p>
            <a:pPr marL="354013" lvl="1" indent="-354013">
              <a:buNone/>
              <a:defRPr/>
            </a:pPr>
            <a:r>
              <a:rPr lang="fr-CA" dirty="0"/>
              <a:t>A) vente cartes-cadeaux 100 $</a:t>
            </a:r>
          </a:p>
          <a:p>
            <a:pPr marL="354013" lvl="1" indent="-354013">
              <a:buNone/>
              <a:defRPr/>
            </a:pPr>
            <a:r>
              <a:rPr lang="fr-CA" dirty="0"/>
              <a:t>B) si historique de non-échange – 2 %</a:t>
            </a:r>
          </a:p>
          <a:p>
            <a:pPr marL="354013" lvl="1" indent="-354013">
              <a:buNone/>
              <a:defRPr/>
            </a:pPr>
            <a:r>
              <a:rPr lang="fr-CA" dirty="0"/>
              <a:t>C) si utilise carte cadeau pour achat de 80 $, coûtant 45 $?</a:t>
            </a:r>
          </a:p>
        </p:txBody>
      </p:sp>
      <p:sp>
        <p:nvSpPr>
          <p:cNvPr id="131076"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057F5255-4A8F-644F-B76B-015072FC3B6F}" type="slidenum">
              <a:rPr lang="fr-FR" sz="1200">
                <a:solidFill>
                  <a:srgbClr val="898989"/>
                </a:solidFill>
                <a:ea typeface="MS PGothic" charset="0"/>
                <a:cs typeface="MS PGothic" charset="0"/>
              </a:rPr>
              <a:pPr eaLnBrk="1" fontAlgn="base" hangingPunct="1">
                <a:spcBef>
                  <a:spcPct val="0"/>
                </a:spcBef>
                <a:spcAft>
                  <a:spcPct val="0"/>
                </a:spcAft>
              </a:pPr>
              <a:t>51</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E38118C5-13C3-472A-AB6C-E6EB019ABF8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994349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2A022D-4563-4565-955A-2F2CA6DE246B}"/>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B6806638-115B-4785-AA4D-623F90C60E44}"/>
              </a:ext>
            </a:extLst>
          </p:cNvPr>
          <p:cNvSpPr>
            <a:spLocks noGrp="1"/>
          </p:cNvSpPr>
          <p:nvPr>
            <p:ph idx="1"/>
          </p:nvPr>
        </p:nvSpPr>
        <p:spPr/>
        <p:txBody>
          <a:bodyPr>
            <a:normAutofit fontScale="92500" lnSpcReduction="10000"/>
          </a:bodyPr>
          <a:lstStyle/>
          <a:p>
            <a:pPr marL="0" indent="0">
              <a:buNone/>
            </a:pPr>
            <a:r>
              <a:rPr lang="fr-CA" sz="3000" b="1" dirty="0"/>
              <a:t>Vente cartes-cadeaux</a:t>
            </a:r>
          </a:p>
          <a:p>
            <a:pPr marL="0" indent="0">
              <a:buNone/>
            </a:pPr>
            <a:r>
              <a:rPr lang="fr-CA" sz="3000" dirty="0"/>
              <a:t>Encaisse				100</a:t>
            </a:r>
          </a:p>
          <a:p>
            <a:pPr marL="0" indent="0">
              <a:buNone/>
            </a:pPr>
            <a:r>
              <a:rPr lang="fr-CA" sz="3000" dirty="0"/>
              <a:t>@	Produits différés			100</a:t>
            </a:r>
          </a:p>
          <a:p>
            <a:pPr marL="0" indent="0">
              <a:buNone/>
            </a:pPr>
            <a:r>
              <a:rPr lang="fr-CA" sz="3000" i="1" dirty="0"/>
              <a:t>N’a pas encore vendu le bien / rendu le service</a:t>
            </a:r>
          </a:p>
          <a:p>
            <a:pPr marL="0" indent="0">
              <a:buNone/>
            </a:pPr>
            <a:endParaRPr lang="fr-CA" sz="3000" i="1" dirty="0"/>
          </a:p>
          <a:p>
            <a:pPr marL="0" indent="0">
              <a:buNone/>
            </a:pPr>
            <a:r>
              <a:rPr lang="fr-CA" sz="3000" b="1" dirty="0"/>
              <a:t>Historique non-échange – 2 %</a:t>
            </a:r>
          </a:p>
          <a:p>
            <a:pPr marL="0" indent="0">
              <a:buNone/>
            </a:pPr>
            <a:r>
              <a:rPr lang="fr-CA" sz="3000" dirty="0"/>
              <a:t>Encaisse				100</a:t>
            </a:r>
          </a:p>
          <a:p>
            <a:pPr marL="0" indent="0">
              <a:buNone/>
            </a:pPr>
            <a:r>
              <a:rPr lang="fr-CA" sz="3000" dirty="0"/>
              <a:t>@	Produits différés			  98</a:t>
            </a:r>
          </a:p>
          <a:p>
            <a:pPr marL="0" indent="0">
              <a:buNone/>
            </a:pPr>
            <a:r>
              <a:rPr lang="fr-CA" sz="3000" dirty="0"/>
              <a:t>	Produits				    2</a:t>
            </a:r>
            <a:endParaRPr lang="fr-CA" dirty="0"/>
          </a:p>
          <a:p>
            <a:pPr marL="0" indent="0">
              <a:buNone/>
            </a:pPr>
            <a:endParaRPr lang="fr-CA" dirty="0"/>
          </a:p>
        </p:txBody>
      </p:sp>
      <p:sp>
        <p:nvSpPr>
          <p:cNvPr id="4" name="Espace réservé du numéro de diapositive 3">
            <a:extLst>
              <a:ext uri="{FF2B5EF4-FFF2-40B4-BE49-F238E27FC236}">
                <a16:creationId xmlns:a16="http://schemas.microsoft.com/office/drawing/2014/main" id="{F0CEBCF6-9FF5-424C-BA52-E0FB26A46A78}"/>
              </a:ext>
            </a:extLst>
          </p:cNvPr>
          <p:cNvSpPr>
            <a:spLocks noGrp="1"/>
          </p:cNvSpPr>
          <p:nvPr>
            <p:ph type="sldNum" sz="quarter" idx="12"/>
          </p:nvPr>
        </p:nvSpPr>
        <p:spPr/>
        <p:txBody>
          <a:bodyPr/>
          <a:lstStyle/>
          <a:p>
            <a:fld id="{93CCD850-57C1-B143-82E0-6B89E4215FB0}" type="slidenum">
              <a:rPr lang="fr-FR" smtClean="0"/>
              <a:t>52</a:t>
            </a:fld>
            <a:endParaRPr lang="fr-FR"/>
          </a:p>
        </p:txBody>
      </p:sp>
      <p:sp>
        <p:nvSpPr>
          <p:cNvPr id="5" name="Espace réservé du pied de page 4">
            <a:extLst>
              <a:ext uri="{FF2B5EF4-FFF2-40B4-BE49-F238E27FC236}">
                <a16:creationId xmlns:a16="http://schemas.microsoft.com/office/drawing/2014/main" id="{21EEAE88-35F0-4067-950C-112BA212F8E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288375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2A022D-4563-4565-955A-2F2CA6DE246B}"/>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B6806638-115B-4785-AA4D-623F90C60E44}"/>
              </a:ext>
            </a:extLst>
          </p:cNvPr>
          <p:cNvSpPr>
            <a:spLocks noGrp="1"/>
          </p:cNvSpPr>
          <p:nvPr>
            <p:ph idx="1"/>
          </p:nvPr>
        </p:nvSpPr>
        <p:spPr/>
        <p:txBody>
          <a:bodyPr>
            <a:normAutofit/>
          </a:bodyPr>
          <a:lstStyle/>
          <a:p>
            <a:pPr marL="0" indent="0">
              <a:buNone/>
            </a:pPr>
            <a:r>
              <a:rPr lang="fr-CA" b="1" dirty="0"/>
              <a:t>Utilisation carte-cadeau</a:t>
            </a:r>
          </a:p>
          <a:p>
            <a:pPr marL="0" indent="0">
              <a:buNone/>
            </a:pPr>
            <a:r>
              <a:rPr lang="fr-CA" dirty="0"/>
              <a:t>Produits différés		  80</a:t>
            </a:r>
          </a:p>
          <a:p>
            <a:pPr marL="0" indent="0">
              <a:buNone/>
            </a:pPr>
            <a:r>
              <a:rPr lang="fr-CA" dirty="0"/>
              <a:t>@	Ventes			  80</a:t>
            </a:r>
          </a:p>
          <a:p>
            <a:pPr marL="0" indent="0">
              <a:buNone/>
            </a:pPr>
            <a:endParaRPr lang="fr-FR" dirty="0"/>
          </a:p>
          <a:p>
            <a:pPr marL="0" indent="0">
              <a:buNone/>
            </a:pPr>
            <a:r>
              <a:rPr lang="fr-CA" dirty="0"/>
              <a:t>Coût des ventes		  45</a:t>
            </a:r>
          </a:p>
          <a:p>
            <a:pPr marL="0" indent="0">
              <a:buNone/>
            </a:pPr>
            <a:r>
              <a:rPr lang="fr-CA" dirty="0"/>
              <a:t>@	Stocks			  45</a:t>
            </a:r>
          </a:p>
          <a:p>
            <a:pPr marL="0" indent="0">
              <a:buNone/>
            </a:pPr>
            <a:endParaRPr lang="fr-FR" dirty="0"/>
          </a:p>
        </p:txBody>
      </p:sp>
      <p:sp>
        <p:nvSpPr>
          <p:cNvPr id="4" name="Espace réservé du numéro de diapositive 3">
            <a:extLst>
              <a:ext uri="{FF2B5EF4-FFF2-40B4-BE49-F238E27FC236}">
                <a16:creationId xmlns:a16="http://schemas.microsoft.com/office/drawing/2014/main" id="{F0CEBCF6-9FF5-424C-BA52-E0FB26A46A78}"/>
              </a:ext>
            </a:extLst>
          </p:cNvPr>
          <p:cNvSpPr>
            <a:spLocks noGrp="1"/>
          </p:cNvSpPr>
          <p:nvPr>
            <p:ph type="sldNum" sz="quarter" idx="12"/>
          </p:nvPr>
        </p:nvSpPr>
        <p:spPr/>
        <p:txBody>
          <a:bodyPr/>
          <a:lstStyle/>
          <a:p>
            <a:fld id="{93CCD850-57C1-B143-82E0-6B89E4215FB0}" type="slidenum">
              <a:rPr lang="fr-FR" smtClean="0"/>
              <a:t>53</a:t>
            </a:fld>
            <a:endParaRPr lang="fr-FR"/>
          </a:p>
        </p:txBody>
      </p:sp>
      <p:sp>
        <p:nvSpPr>
          <p:cNvPr id="5" name="Espace réservé du pied de page 4">
            <a:extLst>
              <a:ext uri="{FF2B5EF4-FFF2-40B4-BE49-F238E27FC236}">
                <a16:creationId xmlns:a16="http://schemas.microsoft.com/office/drawing/2014/main" id="{E6A78DEA-D546-40E4-BBA8-1668D90F75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0702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3122" name="Titre 1"/>
          <p:cNvSpPr>
            <a:spLocks noGrp="1"/>
          </p:cNvSpPr>
          <p:nvPr>
            <p:ph type="title"/>
          </p:nvPr>
        </p:nvSpPr>
        <p:spPr/>
        <p:txBody>
          <a:bodyPr/>
          <a:lstStyle/>
          <a:p>
            <a:r>
              <a:rPr lang="fr-CA" dirty="0">
                <a:latin typeface="Calibri" charset="0"/>
                <a:ea typeface="MS PGothic" charset="0"/>
                <a:cs typeface="MS PGothic" charset="0"/>
              </a:rPr>
              <a:t>Micro-cas - 3</a:t>
            </a:r>
          </a:p>
        </p:txBody>
      </p:sp>
      <p:sp>
        <p:nvSpPr>
          <p:cNvPr id="133123" name="Espace réservé du contenu 2"/>
          <p:cNvSpPr>
            <a:spLocks noGrp="1"/>
          </p:cNvSpPr>
          <p:nvPr>
            <p:ph idx="1"/>
          </p:nvPr>
        </p:nvSpPr>
        <p:spPr/>
        <p:txBody>
          <a:bodyPr>
            <a:normAutofit/>
          </a:bodyPr>
          <a:lstStyle/>
          <a:p>
            <a:pPr marL="0" indent="0">
              <a:buNone/>
            </a:pPr>
            <a:r>
              <a:rPr lang="fr-CA" dirty="0">
                <a:latin typeface="Calibri" charset="0"/>
                <a:ea typeface="MS PGothic" charset="0"/>
                <a:cs typeface="MS PGothic" charset="0"/>
              </a:rPr>
              <a:t>Une épicerie a un programme de fidélité donnant droit à des points. </a:t>
            </a:r>
          </a:p>
          <a:p>
            <a:pPr lvl="1"/>
            <a:r>
              <a:rPr lang="fr-CA" dirty="0">
                <a:latin typeface="Calibri" charset="0"/>
                <a:ea typeface="MS PGothic" charset="0"/>
                <a:cs typeface="MS PGothic" charset="0"/>
              </a:rPr>
              <a:t>Ratio des points est de 1 point par tranche de 10 $ de ventes. </a:t>
            </a:r>
          </a:p>
          <a:p>
            <a:pPr lvl="1"/>
            <a:r>
              <a:rPr lang="fr-CA" dirty="0">
                <a:latin typeface="Calibri" charset="0"/>
                <a:ea typeface="MS PGothic" charset="0"/>
                <a:cs typeface="MS PGothic" charset="0"/>
              </a:rPr>
              <a:t>L’historique de réclamation des points s’élève à 85 %. </a:t>
            </a:r>
          </a:p>
          <a:p>
            <a:pPr lvl="1"/>
            <a:r>
              <a:rPr lang="fr-CA" dirty="0">
                <a:latin typeface="Calibri" charset="0"/>
                <a:ea typeface="MS PGothic" charset="0"/>
                <a:cs typeface="MS PGothic" charset="0"/>
              </a:rPr>
              <a:t>La valeur de chaque point est estimée à 0,90 $.</a:t>
            </a:r>
          </a:p>
          <a:p>
            <a:pPr lvl="1"/>
            <a:endParaRPr lang="fr-CA" dirty="0">
              <a:latin typeface="Calibri" charset="0"/>
              <a:ea typeface="MS PGothic" charset="0"/>
              <a:cs typeface="MS PGothic" charset="0"/>
            </a:endParaRPr>
          </a:p>
          <a:p>
            <a:pPr lvl="1"/>
            <a:r>
              <a:rPr lang="fr-CA" dirty="0">
                <a:latin typeface="Calibri" charset="0"/>
                <a:ea typeface="MS PGothic" charset="0"/>
                <a:cs typeface="MS PGothic" charset="0"/>
              </a:rPr>
              <a:t>Faite le calcul avec des ventes de 1 000 $</a:t>
            </a:r>
          </a:p>
        </p:txBody>
      </p:sp>
      <p:sp>
        <p:nvSpPr>
          <p:cNvPr id="133124"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38C3175A-9772-5741-9856-837094E133F6}" type="slidenum">
              <a:rPr lang="fr-FR" sz="1200">
                <a:solidFill>
                  <a:srgbClr val="898989"/>
                </a:solidFill>
                <a:ea typeface="MS PGothic" charset="0"/>
                <a:cs typeface="MS PGothic" charset="0"/>
              </a:rPr>
              <a:pPr eaLnBrk="1" fontAlgn="base" hangingPunct="1">
                <a:spcBef>
                  <a:spcPct val="0"/>
                </a:spcBef>
                <a:spcAft>
                  <a:spcPct val="0"/>
                </a:spcAft>
              </a:pPr>
              <a:t>54</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1B745ED0-0138-4C31-9F46-1343798C20B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911840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2A022D-4563-4565-955A-2F2CA6DE246B}"/>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B6806638-115B-4785-AA4D-623F90C60E44}"/>
              </a:ext>
            </a:extLst>
          </p:cNvPr>
          <p:cNvSpPr>
            <a:spLocks noGrp="1"/>
          </p:cNvSpPr>
          <p:nvPr>
            <p:ph idx="1"/>
          </p:nvPr>
        </p:nvSpPr>
        <p:spPr/>
        <p:txBody>
          <a:bodyPr>
            <a:normAutofit/>
          </a:bodyPr>
          <a:lstStyle/>
          <a:p>
            <a:pPr marL="0" indent="0">
              <a:buNone/>
            </a:pPr>
            <a:r>
              <a:rPr lang="fr-CA" dirty="0"/>
              <a:t>Encaisse				1 000</a:t>
            </a:r>
          </a:p>
          <a:p>
            <a:pPr marL="0" indent="0">
              <a:buNone/>
            </a:pPr>
            <a:r>
              <a:rPr lang="fr-CA" dirty="0"/>
              <a:t>@	Produits				924</a:t>
            </a:r>
          </a:p>
          <a:p>
            <a:pPr marL="0" indent="0">
              <a:buNone/>
            </a:pPr>
            <a:r>
              <a:rPr lang="fr-CA" dirty="0"/>
              <a:t>	Produits différés			  76  </a:t>
            </a:r>
            <a:r>
              <a:rPr lang="fr-CA" sz="2000" dirty="0"/>
              <a:t>(1000 /10 * 85% * ,90)</a:t>
            </a:r>
            <a:endParaRPr lang="fr-CA" dirty="0"/>
          </a:p>
          <a:p>
            <a:pPr marL="0" indent="0">
              <a:buNone/>
            </a:pPr>
            <a:endParaRPr lang="fr-FR" dirty="0"/>
          </a:p>
          <a:p>
            <a:pPr marL="0" indent="0">
              <a:buNone/>
            </a:pPr>
            <a:r>
              <a:rPr lang="fr-CA" dirty="0"/>
              <a:t>Produits différés			  50</a:t>
            </a:r>
          </a:p>
          <a:p>
            <a:pPr marL="0" indent="0">
              <a:buNone/>
            </a:pPr>
            <a:r>
              <a:rPr lang="fr-CA" dirty="0"/>
              <a:t>@	Produits				  50</a:t>
            </a:r>
          </a:p>
          <a:p>
            <a:pPr marL="0" indent="0">
              <a:buNone/>
            </a:pPr>
            <a:endParaRPr lang="fr-CA" dirty="0"/>
          </a:p>
          <a:p>
            <a:pPr marL="0" indent="0">
              <a:buNone/>
            </a:pPr>
            <a:r>
              <a:rPr lang="fr-CA" i="1" dirty="0"/>
              <a:t>Et il faudrait comptabiliser le coût des ventes et réduire stocks</a:t>
            </a:r>
          </a:p>
          <a:p>
            <a:pPr marL="0" indent="0">
              <a:buNone/>
            </a:pPr>
            <a:endParaRPr lang="fr-FR" dirty="0"/>
          </a:p>
        </p:txBody>
      </p:sp>
      <p:sp>
        <p:nvSpPr>
          <p:cNvPr id="4" name="Espace réservé du numéro de diapositive 3">
            <a:extLst>
              <a:ext uri="{FF2B5EF4-FFF2-40B4-BE49-F238E27FC236}">
                <a16:creationId xmlns:a16="http://schemas.microsoft.com/office/drawing/2014/main" id="{F0CEBCF6-9FF5-424C-BA52-E0FB26A46A78}"/>
              </a:ext>
            </a:extLst>
          </p:cNvPr>
          <p:cNvSpPr>
            <a:spLocks noGrp="1"/>
          </p:cNvSpPr>
          <p:nvPr>
            <p:ph type="sldNum" sz="quarter" idx="12"/>
          </p:nvPr>
        </p:nvSpPr>
        <p:spPr/>
        <p:txBody>
          <a:bodyPr/>
          <a:lstStyle/>
          <a:p>
            <a:fld id="{93CCD850-57C1-B143-82E0-6B89E4215FB0}" type="slidenum">
              <a:rPr lang="fr-FR" smtClean="0"/>
              <a:t>55</a:t>
            </a:fld>
            <a:endParaRPr lang="fr-FR"/>
          </a:p>
        </p:txBody>
      </p:sp>
      <p:sp>
        <p:nvSpPr>
          <p:cNvPr id="5" name="Espace réservé du pied de page 4">
            <a:extLst>
              <a:ext uri="{FF2B5EF4-FFF2-40B4-BE49-F238E27FC236}">
                <a16:creationId xmlns:a16="http://schemas.microsoft.com/office/drawing/2014/main" id="{2076E5E1-B4FB-4202-894C-E84490C14D6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886919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4146" name="Titre 1"/>
          <p:cNvSpPr>
            <a:spLocks noGrp="1"/>
          </p:cNvSpPr>
          <p:nvPr>
            <p:ph type="title"/>
          </p:nvPr>
        </p:nvSpPr>
        <p:spPr/>
        <p:txBody>
          <a:bodyPr/>
          <a:lstStyle/>
          <a:p>
            <a:r>
              <a:rPr lang="fr-CA" dirty="0">
                <a:latin typeface="Calibri" charset="0"/>
              </a:rPr>
              <a:t>Micro-cas - 4</a:t>
            </a:r>
          </a:p>
        </p:txBody>
      </p:sp>
      <p:sp>
        <p:nvSpPr>
          <p:cNvPr id="134147" name="Espace réservé du contenu 2"/>
          <p:cNvSpPr>
            <a:spLocks noGrp="1"/>
          </p:cNvSpPr>
          <p:nvPr>
            <p:ph idx="1"/>
          </p:nvPr>
        </p:nvSpPr>
        <p:spPr/>
        <p:txBody>
          <a:bodyPr/>
          <a:lstStyle/>
          <a:p>
            <a:pPr marL="0" indent="0">
              <a:buNone/>
            </a:pPr>
            <a:r>
              <a:rPr lang="fr-CA" dirty="0">
                <a:latin typeface="Calibri" charset="0"/>
              </a:rPr>
              <a:t>ABC conclut une entente selon laquelle elle vend un inventaire de pétrole mais elle s’engage à racheter un volume équivalent dans six mois</a:t>
            </a:r>
          </a:p>
          <a:p>
            <a:pPr marL="0" indent="0">
              <a:buNone/>
            </a:pPr>
            <a:endParaRPr lang="fr-CA" dirty="0">
              <a:latin typeface="Calibri" charset="0"/>
            </a:endParaRPr>
          </a:p>
          <a:p>
            <a:pPr lvl="1"/>
            <a:r>
              <a:rPr lang="fr-CA" dirty="0">
                <a:latin typeface="Calibri" charset="0"/>
              </a:rPr>
              <a:t>Traitement comptable?</a:t>
            </a:r>
          </a:p>
          <a:p>
            <a:pPr marL="457200" lvl="1" indent="0">
              <a:buNone/>
            </a:pPr>
            <a:endParaRPr lang="fr-CA" dirty="0">
              <a:latin typeface="Calibri" charset="0"/>
            </a:endParaRPr>
          </a:p>
        </p:txBody>
      </p:sp>
      <p:sp>
        <p:nvSpPr>
          <p:cNvPr id="4" name="Espace réservé du numéro de diapositive 3"/>
          <p:cNvSpPr>
            <a:spLocks noGrp="1"/>
          </p:cNvSpPr>
          <p:nvPr>
            <p:ph type="sldNum" sz="quarter" idx="12"/>
          </p:nvPr>
        </p:nvSpPr>
        <p:spPr/>
        <p:txBody>
          <a:bodyPr/>
          <a:lstStyle/>
          <a:p>
            <a:pPr>
              <a:defRPr/>
            </a:pPr>
            <a:fld id="{5186F171-7829-084E-8023-00DF777FB71F}" type="slidenum">
              <a:rPr lang="fr-FR" smtClean="0"/>
              <a:pPr>
                <a:defRPr/>
              </a:pPr>
              <a:t>56</a:t>
            </a:fld>
            <a:endParaRPr lang="fr-FR"/>
          </a:p>
        </p:txBody>
      </p:sp>
      <p:sp>
        <p:nvSpPr>
          <p:cNvPr id="2" name="Espace réservé du pied de page 1">
            <a:extLst>
              <a:ext uri="{FF2B5EF4-FFF2-40B4-BE49-F238E27FC236}">
                <a16:creationId xmlns:a16="http://schemas.microsoft.com/office/drawing/2014/main" id="{CFADB1F3-FCE2-4E2C-A59C-2CAB86EADED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75327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34146" name="Titre 1"/>
          <p:cNvSpPr>
            <a:spLocks noGrp="1"/>
          </p:cNvSpPr>
          <p:nvPr>
            <p:ph type="title"/>
          </p:nvPr>
        </p:nvSpPr>
        <p:spPr/>
        <p:txBody>
          <a:bodyPr/>
          <a:lstStyle/>
          <a:p>
            <a:r>
              <a:rPr lang="fr-CA" dirty="0">
                <a:latin typeface="Calibri" charset="0"/>
              </a:rPr>
              <a:t>Solution</a:t>
            </a:r>
          </a:p>
        </p:txBody>
      </p:sp>
      <p:sp>
        <p:nvSpPr>
          <p:cNvPr id="134147" name="Espace réservé du contenu 2"/>
          <p:cNvSpPr>
            <a:spLocks noGrp="1"/>
          </p:cNvSpPr>
          <p:nvPr>
            <p:ph idx="1"/>
          </p:nvPr>
        </p:nvSpPr>
        <p:spPr/>
        <p:txBody>
          <a:bodyPr>
            <a:normAutofit/>
          </a:bodyPr>
          <a:lstStyle/>
          <a:p>
            <a:pPr marL="0" lvl="2" indent="0">
              <a:buNone/>
            </a:pPr>
            <a:r>
              <a:rPr lang="fr-CA" sz="2700" dirty="0">
                <a:latin typeface="Calibri" charset="0"/>
              </a:rPr>
              <a:t>Accord de rachat</a:t>
            </a:r>
          </a:p>
          <a:p>
            <a:pPr marL="342900" lvl="3" indent="0">
              <a:buFont typeface="Wingdings" panose="05000000000000000000" pitchFamily="2" charset="2"/>
              <a:buChar char="Ø"/>
            </a:pPr>
            <a:r>
              <a:rPr lang="fr-CA" sz="2550" dirty="0">
                <a:latin typeface="Calibri" charset="0"/>
              </a:rPr>
              <a:t>Est-ce réellement une vente?</a:t>
            </a:r>
          </a:p>
          <a:p>
            <a:pPr marL="0" lvl="2" indent="0">
              <a:buFont typeface="Wingdings" panose="05000000000000000000" pitchFamily="2" charset="2"/>
              <a:buChar char="Ø"/>
            </a:pPr>
            <a:endParaRPr lang="fr-CA" sz="2700" dirty="0">
              <a:latin typeface="Calibri" charset="0"/>
            </a:endParaRPr>
          </a:p>
          <a:p>
            <a:pPr marL="0" lvl="2" indent="0">
              <a:buNone/>
            </a:pPr>
            <a:r>
              <a:rPr lang="fr-CA" sz="2700" dirty="0">
                <a:latin typeface="Calibri" charset="0"/>
              </a:rPr>
              <a:t>Encaisse</a:t>
            </a:r>
          </a:p>
          <a:p>
            <a:pPr marL="0" lvl="2" indent="0">
              <a:buNone/>
            </a:pPr>
            <a:r>
              <a:rPr lang="fr-CA" sz="2700" dirty="0">
                <a:latin typeface="Calibri" charset="0"/>
              </a:rPr>
              <a:t>@	Passif</a:t>
            </a:r>
            <a:endParaRPr lang="fr-CA" dirty="0">
              <a:latin typeface="Calibri" charset="0"/>
            </a:endParaRPr>
          </a:p>
        </p:txBody>
      </p:sp>
      <p:sp>
        <p:nvSpPr>
          <p:cNvPr id="4" name="Espace réservé du numéro de diapositive 3"/>
          <p:cNvSpPr>
            <a:spLocks noGrp="1"/>
          </p:cNvSpPr>
          <p:nvPr>
            <p:ph type="sldNum" sz="quarter" idx="12"/>
          </p:nvPr>
        </p:nvSpPr>
        <p:spPr/>
        <p:txBody>
          <a:bodyPr/>
          <a:lstStyle/>
          <a:p>
            <a:pPr>
              <a:defRPr/>
            </a:pPr>
            <a:fld id="{5186F171-7829-084E-8023-00DF777FB71F}" type="slidenum">
              <a:rPr lang="fr-FR" smtClean="0"/>
              <a:pPr>
                <a:defRPr/>
              </a:pPr>
              <a:t>57</a:t>
            </a:fld>
            <a:endParaRPr lang="fr-FR"/>
          </a:p>
        </p:txBody>
      </p:sp>
      <p:sp>
        <p:nvSpPr>
          <p:cNvPr id="2" name="Espace réservé du pied de page 1">
            <a:extLst>
              <a:ext uri="{FF2B5EF4-FFF2-40B4-BE49-F238E27FC236}">
                <a16:creationId xmlns:a16="http://schemas.microsoft.com/office/drawing/2014/main" id="{C4C0E5B6-99D2-48AA-BEA5-823073ECF4F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1961599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5170" name="Titre 1"/>
          <p:cNvSpPr>
            <a:spLocks noGrp="1"/>
          </p:cNvSpPr>
          <p:nvPr>
            <p:ph type="title"/>
          </p:nvPr>
        </p:nvSpPr>
        <p:spPr/>
        <p:txBody>
          <a:bodyPr/>
          <a:lstStyle/>
          <a:p>
            <a:r>
              <a:rPr lang="fr-CA" dirty="0">
                <a:latin typeface="Calibri" charset="0"/>
                <a:ea typeface="MS PGothic" charset="0"/>
                <a:cs typeface="MS PGothic" charset="0"/>
              </a:rPr>
              <a:t>Micro-cas - 5</a:t>
            </a:r>
          </a:p>
        </p:txBody>
      </p:sp>
      <p:sp>
        <p:nvSpPr>
          <p:cNvPr id="3" name="Espace réservé du contenu 2"/>
          <p:cNvSpPr>
            <a:spLocks noGrp="1"/>
          </p:cNvSpPr>
          <p:nvPr>
            <p:ph idx="1"/>
          </p:nvPr>
        </p:nvSpPr>
        <p:spPr/>
        <p:txBody>
          <a:bodyPr>
            <a:normAutofit/>
          </a:bodyPr>
          <a:lstStyle/>
          <a:p>
            <a:pPr marL="0" indent="0">
              <a:buNone/>
              <a:defRPr/>
            </a:pPr>
            <a:r>
              <a:rPr lang="fr-CA" dirty="0"/>
              <a:t>Le 31 décembre, Concessionnaire ABC vend une voiture pour un montant de 28 000 $, incluant un contrat d’entretien pour une période de deux ans </a:t>
            </a:r>
            <a:r>
              <a:rPr lang="fr-CA" sz="2400" dirty="0"/>
              <a:t>(</a:t>
            </a:r>
            <a:r>
              <a:rPr lang="fr-CA" sz="2400" i="1" dirty="0"/>
              <a:t>total des prix de vente de ces entretiens 1 000 $</a:t>
            </a:r>
            <a:r>
              <a:rPr lang="fr-CA" sz="2400" dirty="0"/>
              <a:t>).</a:t>
            </a:r>
            <a:endParaRPr lang="fr-CA" dirty="0"/>
          </a:p>
          <a:p>
            <a:pPr marL="0" indent="0">
              <a:buNone/>
              <a:defRPr/>
            </a:pPr>
            <a:r>
              <a:rPr lang="fr-CA" dirty="0"/>
              <a:t>Si la voiture avait été vendue sans contrat d’entretien, le prix aurait été de 27 500 $; de même si le contrat d’entretien avait été vendu séparément, son coût aurait été de 1 000 $ (3 entretiens – valeur 400 $, 300 $, 300 $).</a:t>
            </a:r>
          </a:p>
          <a:p>
            <a:pPr marL="355600" indent="0">
              <a:buNone/>
              <a:defRPr/>
            </a:pPr>
            <a:endParaRPr lang="fr-CA" dirty="0"/>
          </a:p>
          <a:p>
            <a:pPr marL="355600" indent="0">
              <a:buNone/>
              <a:defRPr/>
            </a:pPr>
            <a:r>
              <a:rPr lang="fr-CA" dirty="0"/>
              <a:t>B) Au 30 juin, fait le premier entretien d’une valeur de 400 $</a:t>
            </a:r>
          </a:p>
        </p:txBody>
      </p:sp>
      <p:sp>
        <p:nvSpPr>
          <p:cNvPr id="135172"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8E02681B-47E1-C948-A328-DC37FB3DC916}" type="slidenum">
              <a:rPr lang="fr-FR" sz="1200">
                <a:solidFill>
                  <a:srgbClr val="898989"/>
                </a:solidFill>
                <a:ea typeface="MS PGothic" charset="0"/>
                <a:cs typeface="MS PGothic" charset="0"/>
              </a:rPr>
              <a:pPr eaLnBrk="1" fontAlgn="base" hangingPunct="1">
                <a:spcBef>
                  <a:spcPct val="0"/>
                </a:spcBef>
                <a:spcAft>
                  <a:spcPct val="0"/>
                </a:spcAft>
              </a:pPr>
              <a:t>58</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0CCD5956-A2FE-4C45-A33D-71C9B91D556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8087171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2A022D-4563-4565-955A-2F2CA6DE246B}"/>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B6806638-115B-4785-AA4D-623F90C60E44}"/>
              </a:ext>
            </a:extLst>
          </p:cNvPr>
          <p:cNvSpPr>
            <a:spLocks noGrp="1"/>
          </p:cNvSpPr>
          <p:nvPr>
            <p:ph idx="1"/>
          </p:nvPr>
        </p:nvSpPr>
        <p:spPr/>
        <p:txBody>
          <a:bodyPr>
            <a:normAutofit lnSpcReduction="10000"/>
          </a:bodyPr>
          <a:lstStyle/>
          <a:p>
            <a:pPr marL="0" indent="0">
              <a:buNone/>
            </a:pPr>
            <a:r>
              <a:rPr lang="fr-CA" dirty="0"/>
              <a:t>Encaisse			28 000</a:t>
            </a:r>
          </a:p>
          <a:p>
            <a:pPr marL="0" indent="0">
              <a:buNone/>
            </a:pPr>
            <a:r>
              <a:rPr lang="fr-CA" dirty="0"/>
              <a:t>@	Produits			      27 018	 </a:t>
            </a:r>
            <a:r>
              <a:rPr lang="fr-CA" sz="2000" dirty="0"/>
              <a:t>(27 500 /28 500 * 28 000)</a:t>
            </a:r>
            <a:endParaRPr lang="fr-CA" dirty="0"/>
          </a:p>
          <a:p>
            <a:pPr marL="0" indent="0">
              <a:buNone/>
            </a:pPr>
            <a:r>
              <a:rPr lang="fr-CA" dirty="0"/>
              <a:t>	Produits différés			982</a:t>
            </a:r>
          </a:p>
          <a:p>
            <a:pPr marL="0" indent="0">
              <a:buNone/>
            </a:pPr>
            <a:r>
              <a:rPr lang="fr-FR" sz="2100" i="1" dirty="0"/>
              <a:t>Répartir le prix selon JV</a:t>
            </a:r>
          </a:p>
          <a:p>
            <a:pPr marL="0" indent="0">
              <a:buNone/>
            </a:pPr>
            <a:endParaRPr lang="fr-FR" i="1" dirty="0"/>
          </a:p>
          <a:p>
            <a:pPr marL="0" indent="0">
              <a:buNone/>
            </a:pPr>
            <a:r>
              <a:rPr lang="fr-CA" i="1" dirty="0"/>
              <a:t>Lors de l’entretien : </a:t>
            </a:r>
          </a:p>
          <a:p>
            <a:pPr marL="0" indent="0">
              <a:buNone/>
            </a:pPr>
            <a:r>
              <a:rPr lang="fr-CA" dirty="0"/>
              <a:t>Produits différés		       393</a:t>
            </a:r>
          </a:p>
          <a:p>
            <a:pPr marL="0" indent="0">
              <a:buNone/>
            </a:pPr>
            <a:r>
              <a:rPr lang="fr-CA" dirty="0"/>
              <a:t>@	Produits				 393 </a:t>
            </a:r>
            <a:r>
              <a:rPr lang="fr-CA" sz="2100" dirty="0"/>
              <a:t>(400 /1 000 * 982)</a:t>
            </a:r>
          </a:p>
          <a:p>
            <a:pPr marL="0" indent="0">
              <a:buNone/>
            </a:pPr>
            <a:r>
              <a:rPr lang="fr-CA" sz="2100" i="1" dirty="0"/>
              <a:t>Refléter montant attribué</a:t>
            </a:r>
          </a:p>
          <a:p>
            <a:pPr marL="0" indent="0">
              <a:buNone/>
            </a:pPr>
            <a:endParaRPr lang="fr-CA" dirty="0"/>
          </a:p>
        </p:txBody>
      </p:sp>
      <p:sp>
        <p:nvSpPr>
          <p:cNvPr id="4" name="Espace réservé du numéro de diapositive 3">
            <a:extLst>
              <a:ext uri="{FF2B5EF4-FFF2-40B4-BE49-F238E27FC236}">
                <a16:creationId xmlns:a16="http://schemas.microsoft.com/office/drawing/2014/main" id="{F0CEBCF6-9FF5-424C-BA52-E0FB26A46A78}"/>
              </a:ext>
            </a:extLst>
          </p:cNvPr>
          <p:cNvSpPr>
            <a:spLocks noGrp="1"/>
          </p:cNvSpPr>
          <p:nvPr>
            <p:ph type="sldNum" sz="quarter" idx="12"/>
          </p:nvPr>
        </p:nvSpPr>
        <p:spPr/>
        <p:txBody>
          <a:bodyPr/>
          <a:lstStyle/>
          <a:p>
            <a:fld id="{93CCD850-57C1-B143-82E0-6B89E4215FB0}" type="slidenum">
              <a:rPr lang="fr-FR" smtClean="0"/>
              <a:t>59</a:t>
            </a:fld>
            <a:endParaRPr lang="fr-FR"/>
          </a:p>
        </p:txBody>
      </p:sp>
      <p:sp>
        <p:nvSpPr>
          <p:cNvPr id="5" name="Espace réservé du pied de page 4">
            <a:extLst>
              <a:ext uri="{FF2B5EF4-FFF2-40B4-BE49-F238E27FC236}">
                <a16:creationId xmlns:a16="http://schemas.microsoft.com/office/drawing/2014/main" id="{07CB1313-4129-454C-B5E7-DBFD05D93DE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281846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Structure de réponse</a:t>
            </a:r>
          </a:p>
        </p:txBody>
      </p:sp>
      <p:sp>
        <p:nvSpPr>
          <p:cNvPr id="3" name="Espace réservé du contenu 2"/>
          <p:cNvSpPr>
            <a:spLocks noGrp="1"/>
          </p:cNvSpPr>
          <p:nvPr>
            <p:ph idx="1"/>
          </p:nvPr>
        </p:nvSpPr>
        <p:spPr/>
        <p:txBody>
          <a:bodyPr/>
          <a:lstStyle/>
          <a:p>
            <a:r>
              <a:rPr lang="fr-CA" dirty="0"/>
              <a:t>Identification enjeu</a:t>
            </a:r>
          </a:p>
          <a:p>
            <a:r>
              <a:rPr lang="fr-CA" dirty="0"/>
              <a:t>Analyse</a:t>
            </a:r>
          </a:p>
          <a:p>
            <a:pPr lvl="1"/>
            <a:r>
              <a:rPr lang="fr-CA" dirty="0"/>
              <a:t>Norme</a:t>
            </a:r>
          </a:p>
          <a:p>
            <a:pPr lvl="1"/>
            <a:r>
              <a:rPr lang="fr-CA" dirty="0"/>
              <a:t>Éléments du cas</a:t>
            </a:r>
          </a:p>
          <a:p>
            <a:r>
              <a:rPr lang="fr-CA" dirty="0"/>
              <a:t>Conclusion / recommandation supportée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60</a:t>
            </a:fld>
            <a:endParaRPr lang="fr-FR"/>
          </a:p>
        </p:txBody>
      </p:sp>
      <p:sp>
        <p:nvSpPr>
          <p:cNvPr id="5" name="Espace réservé du pied de page 4">
            <a:extLst>
              <a:ext uri="{FF2B5EF4-FFF2-40B4-BE49-F238E27FC236}">
                <a16:creationId xmlns:a16="http://schemas.microsoft.com/office/drawing/2014/main" id="{990C6DB9-3A0A-48CF-A851-6ABEA4D8875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116883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9394" name="Titre 1"/>
          <p:cNvSpPr>
            <a:spLocks noGrp="1"/>
          </p:cNvSpPr>
          <p:nvPr>
            <p:ph type="title"/>
          </p:nvPr>
        </p:nvSpPr>
        <p:spPr/>
        <p:txBody>
          <a:bodyPr/>
          <a:lstStyle/>
          <a:p>
            <a:r>
              <a:rPr lang="fr-CA">
                <a:latin typeface="Calibri" charset="0"/>
              </a:rPr>
              <a:t>Problème 1</a:t>
            </a:r>
            <a:br>
              <a:rPr lang="fr-CA">
                <a:latin typeface="Calibri" charset="0"/>
              </a:rPr>
            </a:br>
            <a:r>
              <a:rPr lang="fr-CA" sz="2400">
                <a:latin typeface="Calibri" charset="0"/>
              </a:rPr>
              <a:t>Préparez les écritures comptables du « vendeur »</a:t>
            </a:r>
          </a:p>
        </p:txBody>
      </p:sp>
      <p:sp>
        <p:nvSpPr>
          <p:cNvPr id="59395" name="Espace réservé du contenu 2"/>
          <p:cNvSpPr>
            <a:spLocks noGrp="1"/>
          </p:cNvSpPr>
          <p:nvPr>
            <p:ph idx="1"/>
          </p:nvPr>
        </p:nvSpPr>
        <p:spPr/>
        <p:txBody>
          <a:bodyPr>
            <a:normAutofit lnSpcReduction="10000"/>
          </a:bodyPr>
          <a:lstStyle/>
          <a:p>
            <a:r>
              <a:rPr lang="fr-CA" sz="2400" dirty="0">
                <a:latin typeface="Calibri" charset="0"/>
              </a:rPr>
              <a:t>Le 1</a:t>
            </a:r>
            <a:r>
              <a:rPr lang="fr-CA" sz="2400" baseline="30000" dirty="0">
                <a:latin typeface="Calibri" charset="0"/>
              </a:rPr>
              <a:t>er</a:t>
            </a:r>
            <a:r>
              <a:rPr lang="fr-CA" sz="2400" dirty="0">
                <a:latin typeface="Calibri" charset="0"/>
              </a:rPr>
              <a:t> septembre, une équipe de hockey signe un bon de commande pour 15 chandails au prix unitaire de 20 $</a:t>
            </a:r>
          </a:p>
          <a:p>
            <a:r>
              <a:rPr lang="fr-CA" sz="2400" dirty="0">
                <a:latin typeface="Calibri" charset="0"/>
              </a:rPr>
              <a:t>Le 1</a:t>
            </a:r>
            <a:r>
              <a:rPr lang="fr-CA" sz="2400" baseline="30000" dirty="0">
                <a:latin typeface="Calibri" charset="0"/>
              </a:rPr>
              <a:t>er</a:t>
            </a:r>
            <a:r>
              <a:rPr lang="fr-CA" sz="2400" dirty="0">
                <a:latin typeface="Calibri" charset="0"/>
              </a:rPr>
              <a:t> octobre, envoi des chandails</a:t>
            </a:r>
          </a:p>
          <a:p>
            <a:r>
              <a:rPr lang="fr-CA" sz="2400" dirty="0">
                <a:latin typeface="Calibri" charset="0"/>
              </a:rPr>
              <a:t>Le 1</a:t>
            </a:r>
            <a:r>
              <a:rPr lang="fr-CA" sz="2400" baseline="30000" dirty="0">
                <a:latin typeface="Calibri" charset="0"/>
              </a:rPr>
              <a:t>er</a:t>
            </a:r>
            <a:r>
              <a:rPr lang="fr-CA" sz="2400" dirty="0">
                <a:latin typeface="Calibri" charset="0"/>
              </a:rPr>
              <a:t> novembre, réception du paiement</a:t>
            </a:r>
          </a:p>
          <a:p>
            <a:endParaRPr lang="fr-CA" sz="2400" dirty="0">
              <a:latin typeface="Calibri" charset="0"/>
            </a:endParaRPr>
          </a:p>
          <a:p>
            <a:endParaRPr lang="fr-CA" sz="2400" dirty="0">
              <a:latin typeface="Calibri" charset="0"/>
            </a:endParaRPr>
          </a:p>
          <a:p>
            <a:pPr marL="0" indent="0">
              <a:buNone/>
            </a:pPr>
            <a:r>
              <a:rPr lang="fr-CA" sz="2400" dirty="0">
                <a:latin typeface="Calibri" charset="0"/>
              </a:rPr>
              <a:t>B) et si l’équipe avait le droit de retourner des chandails inutilisés dans un délai de 3 mois?</a:t>
            </a:r>
          </a:p>
          <a:p>
            <a:pPr marL="0" indent="0">
              <a:buNone/>
            </a:pPr>
            <a:endParaRPr lang="fr-CA" sz="2400" dirty="0">
              <a:latin typeface="Calibri" charset="0"/>
            </a:endParaRPr>
          </a:p>
          <a:p>
            <a:pPr marL="0" indent="0">
              <a:buNone/>
            </a:pPr>
            <a:r>
              <a:rPr lang="fr-CA" sz="2400" dirty="0">
                <a:latin typeface="Calibri" charset="0"/>
              </a:rPr>
              <a:t>C) et si la vente était accompagnée d’une garantie de 6 mois </a:t>
            </a:r>
            <a:r>
              <a:rPr lang="fr-CA" sz="2400" i="1" dirty="0">
                <a:latin typeface="Calibri" charset="0"/>
              </a:rPr>
              <a:t>(garantie de base selon la loi c. garantie additionnelle du fabricant)</a:t>
            </a:r>
            <a:r>
              <a:rPr lang="fr-CA" sz="2400" dirty="0">
                <a:latin typeface="Calibri" charset="0"/>
              </a:rPr>
              <a:t>?</a:t>
            </a:r>
          </a:p>
        </p:txBody>
      </p:sp>
      <p:sp>
        <p:nvSpPr>
          <p:cNvPr id="4" name="Espace réservé du numéro de diapositive 3"/>
          <p:cNvSpPr>
            <a:spLocks noGrp="1"/>
          </p:cNvSpPr>
          <p:nvPr>
            <p:ph type="sldNum" sz="quarter" idx="12"/>
          </p:nvPr>
        </p:nvSpPr>
        <p:spPr/>
        <p:txBody>
          <a:bodyPr/>
          <a:lstStyle/>
          <a:p>
            <a:pPr>
              <a:defRPr/>
            </a:pPr>
            <a:fld id="{37F83D3C-F806-F14C-B936-DB40CF9C6AEB}" type="slidenum">
              <a:rPr lang="fr-CA" smtClean="0"/>
              <a:pPr>
                <a:defRPr/>
              </a:pPr>
              <a:t>61</a:t>
            </a:fld>
            <a:endParaRPr lang="fr-CA"/>
          </a:p>
        </p:txBody>
      </p:sp>
      <p:sp>
        <p:nvSpPr>
          <p:cNvPr id="2" name="Espace réservé du pied de page 1">
            <a:extLst>
              <a:ext uri="{FF2B5EF4-FFF2-40B4-BE49-F238E27FC236}">
                <a16:creationId xmlns:a16="http://schemas.microsoft.com/office/drawing/2014/main" id="{DDEA2C35-4FB8-4B8C-BCC5-F956F07C6E2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88822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2466" name="Titre 1"/>
          <p:cNvSpPr>
            <a:spLocks noGrp="1"/>
          </p:cNvSpPr>
          <p:nvPr>
            <p:ph type="title"/>
          </p:nvPr>
        </p:nvSpPr>
        <p:spPr/>
        <p:txBody>
          <a:bodyPr/>
          <a:lstStyle/>
          <a:p>
            <a:r>
              <a:rPr lang="fr-CA" dirty="0">
                <a:latin typeface="Calibri" charset="0"/>
              </a:rPr>
              <a:t>Problème 2</a:t>
            </a:r>
            <a:br>
              <a:rPr lang="fr-CA" dirty="0">
                <a:latin typeface="Calibri" charset="0"/>
              </a:rPr>
            </a:br>
            <a:r>
              <a:rPr lang="fr-CA" sz="2400" dirty="0">
                <a:latin typeface="Calibri" charset="0"/>
              </a:rPr>
              <a:t>Préparez les écritures comptables de LGI</a:t>
            </a:r>
          </a:p>
        </p:txBody>
      </p:sp>
      <p:sp>
        <p:nvSpPr>
          <p:cNvPr id="3" name="Espace réservé du contenu 2"/>
          <p:cNvSpPr>
            <a:spLocks noGrp="1"/>
          </p:cNvSpPr>
          <p:nvPr>
            <p:ph idx="1"/>
          </p:nvPr>
        </p:nvSpPr>
        <p:spPr/>
        <p:txBody>
          <a:bodyPr>
            <a:normAutofit/>
          </a:bodyPr>
          <a:lstStyle/>
          <a:p>
            <a:pPr marL="0" indent="0">
              <a:buNone/>
              <a:defRPr/>
            </a:pPr>
            <a:r>
              <a:rPr lang="fr-CA" sz="2400" dirty="0"/>
              <a:t>Lay </a:t>
            </a:r>
            <a:r>
              <a:rPr lang="fr-CA" sz="2400" dirty="0" err="1"/>
              <a:t>Gum</a:t>
            </a:r>
            <a:r>
              <a:rPr lang="fr-CA" sz="2400" dirty="0"/>
              <a:t> Inc. (LGI) est principalement un commerçant de fruits et légumes qui vend également des gommes à mâcher biologiques fabriquées à base de fruits et légumes. Elle se procure sa gomme à mâcher auprès de </a:t>
            </a:r>
            <a:r>
              <a:rPr lang="fr-CA" sz="2400" dirty="0" err="1"/>
              <a:t>Chewing</a:t>
            </a:r>
            <a:r>
              <a:rPr lang="fr-CA" sz="2400" dirty="0"/>
              <a:t> Inc. (CI).</a:t>
            </a:r>
          </a:p>
          <a:p>
            <a:pPr marL="0" indent="0">
              <a:buNone/>
              <a:defRPr/>
            </a:pPr>
            <a:endParaRPr lang="fr-CA" sz="2400" dirty="0"/>
          </a:p>
          <a:p>
            <a:pPr>
              <a:defRPr/>
            </a:pPr>
            <a:r>
              <a:rPr lang="fr-CA" sz="2400" dirty="0"/>
              <a:t>Janvier : Heureux d’avoir conclu une entente de cinq ans avec LGI, CI émet un chèque de 1 000 $ à LGI.</a:t>
            </a:r>
          </a:p>
          <a:p>
            <a:pPr marL="0" indent="0">
              <a:buNone/>
              <a:defRPr/>
            </a:pPr>
            <a:endParaRPr lang="fr-CA" sz="2400" dirty="0"/>
          </a:p>
          <a:p>
            <a:pPr>
              <a:defRPr/>
            </a:pPr>
            <a:r>
              <a:rPr lang="fr-CA" sz="2400" dirty="0"/>
              <a:t>Février : CI décide de faire un don à une banque alimentaire, en offrant des fruits et légumes. Pour effectuer son don, CI achète des fruits et légumes de LGI pour un montant de 10 000 $</a:t>
            </a:r>
          </a:p>
          <a:p>
            <a:pPr marL="0" indent="0">
              <a:buNone/>
              <a:defRPr/>
            </a:pPr>
            <a:endParaRPr lang="fr-CA" sz="2400" dirty="0"/>
          </a:p>
        </p:txBody>
      </p:sp>
      <p:sp>
        <p:nvSpPr>
          <p:cNvPr id="4" name="Espace réservé du numéro de diapositive 3"/>
          <p:cNvSpPr>
            <a:spLocks noGrp="1"/>
          </p:cNvSpPr>
          <p:nvPr>
            <p:ph type="sldNum" sz="quarter" idx="12"/>
          </p:nvPr>
        </p:nvSpPr>
        <p:spPr/>
        <p:txBody>
          <a:bodyPr/>
          <a:lstStyle/>
          <a:p>
            <a:pPr>
              <a:defRPr/>
            </a:pPr>
            <a:fld id="{BB67D56C-8C05-6043-8F58-9E3FCA321BD3}" type="slidenum">
              <a:rPr lang="fr-CA" smtClean="0"/>
              <a:pPr>
                <a:defRPr/>
              </a:pPr>
              <a:t>62</a:t>
            </a:fld>
            <a:endParaRPr lang="fr-CA"/>
          </a:p>
        </p:txBody>
      </p:sp>
      <p:sp>
        <p:nvSpPr>
          <p:cNvPr id="2" name="Espace réservé du pied de page 1">
            <a:extLst>
              <a:ext uri="{FF2B5EF4-FFF2-40B4-BE49-F238E27FC236}">
                <a16:creationId xmlns:a16="http://schemas.microsoft.com/office/drawing/2014/main" id="{842190C3-42D4-434F-BD18-C3F9C152566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4335784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3490" name="Titre 1"/>
          <p:cNvSpPr>
            <a:spLocks noGrp="1"/>
          </p:cNvSpPr>
          <p:nvPr>
            <p:ph type="title"/>
          </p:nvPr>
        </p:nvSpPr>
        <p:spPr/>
        <p:txBody>
          <a:bodyPr>
            <a:normAutofit/>
          </a:bodyPr>
          <a:lstStyle/>
          <a:p>
            <a:r>
              <a:rPr lang="fr-CA" dirty="0">
                <a:latin typeface="Calibri" charset="0"/>
              </a:rPr>
              <a:t>Problème 2 </a:t>
            </a:r>
            <a:r>
              <a:rPr lang="fr-CA" sz="3200" dirty="0">
                <a:latin typeface="Calibri" charset="0"/>
              </a:rPr>
              <a:t>(suite)</a:t>
            </a:r>
            <a:br>
              <a:rPr lang="fr-CA" sz="3200" dirty="0">
                <a:latin typeface="Calibri" charset="0"/>
              </a:rPr>
            </a:br>
            <a:r>
              <a:rPr lang="fr-CA" dirty="0">
                <a:latin typeface="Calibri" charset="0"/>
              </a:rPr>
              <a:t> </a:t>
            </a:r>
            <a:r>
              <a:rPr lang="fr-CA" sz="2400" dirty="0">
                <a:latin typeface="Calibri" charset="0"/>
              </a:rPr>
              <a:t>Préparez les écritures comptables de LGI</a:t>
            </a:r>
          </a:p>
        </p:txBody>
      </p:sp>
      <p:sp>
        <p:nvSpPr>
          <p:cNvPr id="63491" name="Espace réservé du contenu 2"/>
          <p:cNvSpPr>
            <a:spLocks noGrp="1"/>
          </p:cNvSpPr>
          <p:nvPr>
            <p:ph idx="1"/>
          </p:nvPr>
        </p:nvSpPr>
        <p:spPr/>
        <p:txBody>
          <a:bodyPr/>
          <a:lstStyle/>
          <a:p>
            <a:r>
              <a:rPr lang="fr-CA" sz="2400">
                <a:latin typeface="Calibri" charset="0"/>
              </a:rPr>
              <a:t>Mars : LGI décide d’innover en offrant à ses clients la possibilité de fabriquer eux-mêmes leur gomme biologique – en leur vendant les divers ingrédients requis. LGI encourt des frais publicitaires de 30 000 $ pour annoncer ce nouveau produit. CI y voyant une hausse de la demande de son produit, décide de contribuer à hauteur de 20 000 $ et envoie un chèque à LGI.</a:t>
            </a:r>
          </a:p>
        </p:txBody>
      </p:sp>
      <p:sp>
        <p:nvSpPr>
          <p:cNvPr id="4" name="Espace réservé du numéro de diapositive 3"/>
          <p:cNvSpPr>
            <a:spLocks noGrp="1"/>
          </p:cNvSpPr>
          <p:nvPr>
            <p:ph type="sldNum" sz="quarter" idx="12"/>
          </p:nvPr>
        </p:nvSpPr>
        <p:spPr/>
        <p:txBody>
          <a:bodyPr/>
          <a:lstStyle/>
          <a:p>
            <a:pPr>
              <a:defRPr/>
            </a:pPr>
            <a:fld id="{BC298BE9-5AE1-294A-9EEB-76C0484A6D2C}" type="slidenum">
              <a:rPr lang="fr-CA" smtClean="0"/>
              <a:pPr>
                <a:defRPr/>
              </a:pPr>
              <a:t>63</a:t>
            </a:fld>
            <a:endParaRPr lang="fr-CA"/>
          </a:p>
        </p:txBody>
      </p:sp>
      <p:sp>
        <p:nvSpPr>
          <p:cNvPr id="2" name="Espace réservé du pied de page 1">
            <a:extLst>
              <a:ext uri="{FF2B5EF4-FFF2-40B4-BE49-F238E27FC236}">
                <a16:creationId xmlns:a16="http://schemas.microsoft.com/office/drawing/2014/main" id="{ADEC84A5-EBFC-4B22-AA91-3805EEC2203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721467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4514" name="Titre 1"/>
          <p:cNvSpPr>
            <a:spLocks noGrp="1"/>
          </p:cNvSpPr>
          <p:nvPr>
            <p:ph type="title"/>
          </p:nvPr>
        </p:nvSpPr>
        <p:spPr/>
        <p:txBody>
          <a:bodyPr>
            <a:normAutofit/>
          </a:bodyPr>
          <a:lstStyle/>
          <a:p>
            <a:r>
              <a:rPr lang="fr-CA" dirty="0">
                <a:latin typeface="Calibri" charset="0"/>
              </a:rPr>
              <a:t>Problème 3</a:t>
            </a:r>
            <a:br>
              <a:rPr lang="fr-CA" sz="3200" dirty="0">
                <a:latin typeface="Calibri" charset="0"/>
              </a:rPr>
            </a:br>
            <a:r>
              <a:rPr lang="fr-CA" sz="2400" dirty="0">
                <a:latin typeface="Calibri" charset="0"/>
              </a:rPr>
              <a:t>Préparez les écritures comptables de DI</a:t>
            </a:r>
          </a:p>
        </p:txBody>
      </p:sp>
      <p:sp>
        <p:nvSpPr>
          <p:cNvPr id="64515" name="Espace réservé du contenu 2"/>
          <p:cNvSpPr>
            <a:spLocks noGrp="1"/>
          </p:cNvSpPr>
          <p:nvPr>
            <p:ph idx="1"/>
          </p:nvPr>
        </p:nvSpPr>
        <p:spPr>
          <a:xfrm>
            <a:off x="838200" y="2291255"/>
            <a:ext cx="10515600" cy="3885708"/>
          </a:xfrm>
        </p:spPr>
        <p:txBody>
          <a:bodyPr/>
          <a:lstStyle/>
          <a:p>
            <a:pPr marL="0" indent="0">
              <a:buNone/>
            </a:pPr>
            <a:r>
              <a:rPr lang="fr-CA" sz="2400" dirty="0">
                <a:latin typeface="Calibri" charset="0"/>
              </a:rPr>
              <a:t>Divertisseur Inc. (DI) est une entreprise qui organise des événements. Au cours du mois de juillet, elle vent 8 500 billet à 50 $ chacun pour un spectacle qui aura lieu en septembre.</a:t>
            </a:r>
          </a:p>
        </p:txBody>
      </p:sp>
      <p:sp>
        <p:nvSpPr>
          <p:cNvPr id="4" name="Espace réservé du numéro de diapositive 3"/>
          <p:cNvSpPr>
            <a:spLocks noGrp="1"/>
          </p:cNvSpPr>
          <p:nvPr>
            <p:ph type="sldNum" sz="quarter" idx="12"/>
          </p:nvPr>
        </p:nvSpPr>
        <p:spPr/>
        <p:txBody>
          <a:bodyPr/>
          <a:lstStyle/>
          <a:p>
            <a:pPr>
              <a:defRPr/>
            </a:pPr>
            <a:fld id="{81E1870B-2E59-124C-A6AB-9175065A4BD4}" type="slidenum">
              <a:rPr lang="fr-CA" smtClean="0"/>
              <a:pPr>
                <a:defRPr/>
              </a:pPr>
              <a:t>64</a:t>
            </a:fld>
            <a:endParaRPr lang="fr-CA"/>
          </a:p>
        </p:txBody>
      </p:sp>
      <p:sp>
        <p:nvSpPr>
          <p:cNvPr id="2" name="Espace réservé du pied de page 1">
            <a:extLst>
              <a:ext uri="{FF2B5EF4-FFF2-40B4-BE49-F238E27FC236}">
                <a16:creationId xmlns:a16="http://schemas.microsoft.com/office/drawing/2014/main" id="{1329CF23-AF24-4CB4-AF86-DBD8E87ADAF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846864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5538" name="Titre 1"/>
          <p:cNvSpPr>
            <a:spLocks noGrp="1"/>
          </p:cNvSpPr>
          <p:nvPr>
            <p:ph type="title"/>
          </p:nvPr>
        </p:nvSpPr>
        <p:spPr/>
        <p:txBody>
          <a:bodyPr>
            <a:normAutofit/>
          </a:bodyPr>
          <a:lstStyle/>
          <a:p>
            <a:r>
              <a:rPr lang="fr-CA" dirty="0">
                <a:latin typeface="Calibri" charset="0"/>
              </a:rPr>
              <a:t>Problème 4</a:t>
            </a:r>
            <a:br>
              <a:rPr lang="fr-CA" sz="3200" dirty="0">
                <a:latin typeface="Calibri" charset="0"/>
              </a:rPr>
            </a:br>
            <a:r>
              <a:rPr lang="fr-CA" sz="2400" dirty="0">
                <a:latin typeface="Calibri" charset="0"/>
              </a:rPr>
              <a:t>Préparez les écritures comptables de Détaillant</a:t>
            </a:r>
          </a:p>
        </p:txBody>
      </p:sp>
      <p:sp>
        <p:nvSpPr>
          <p:cNvPr id="65539" name="Espace réservé du contenu 2"/>
          <p:cNvSpPr>
            <a:spLocks noGrp="1"/>
          </p:cNvSpPr>
          <p:nvPr>
            <p:ph idx="1"/>
          </p:nvPr>
        </p:nvSpPr>
        <p:spPr>
          <a:xfrm>
            <a:off x="838200" y="2133599"/>
            <a:ext cx="10515600" cy="4043363"/>
          </a:xfrm>
        </p:spPr>
        <p:txBody>
          <a:bodyPr/>
          <a:lstStyle/>
          <a:p>
            <a:pPr marL="0" indent="0">
              <a:buNone/>
            </a:pPr>
            <a:r>
              <a:rPr lang="fr-CA" sz="2400" dirty="0">
                <a:latin typeface="Calibri" charset="0"/>
              </a:rPr>
              <a:t>Détaillant se procure des téléphones cellulaires I-Fun de Fournisseur. Le I-Fun se vend 500 $ l’unité. L’entente entre Détaillant et Fournisseur stipule que Détaillant remet à Fournisseur les sommes reçues, moins 5 % qu’il conserve. Il peut retourner les téléphones non vendus à Fournisseur sans raison requise. Lorsqu’un client veut se prévaloir de la garantie sur son I-Fun, il doit l’envoyer à Fournisseur directement.</a:t>
            </a:r>
          </a:p>
          <a:p>
            <a:pPr marL="0" indent="0">
              <a:buNone/>
            </a:pPr>
            <a:r>
              <a:rPr lang="fr-CA" sz="2400" dirty="0">
                <a:latin typeface="Calibri" charset="0"/>
              </a:rPr>
              <a:t>Considérant que Détaillant a vendu 100 cellulaires au cours de l’exercice, quel montant peut-il constater à titre de produits?</a:t>
            </a:r>
          </a:p>
          <a:p>
            <a:pPr marL="0" indent="0">
              <a:buNone/>
            </a:pPr>
            <a:endParaRPr lang="fr-CA" sz="2400" dirty="0">
              <a:latin typeface="Calibri" charset="0"/>
            </a:endParaRPr>
          </a:p>
          <a:p>
            <a:pPr marL="0" indent="0">
              <a:buNone/>
            </a:pPr>
            <a:r>
              <a:rPr lang="fr-CA" sz="2400" dirty="0">
                <a:latin typeface="Calibri" charset="0"/>
              </a:rPr>
              <a:t>	</a:t>
            </a:r>
            <a:r>
              <a:rPr lang="fr-CA" sz="2000" dirty="0">
                <a:latin typeface="Calibri" charset="0"/>
              </a:rPr>
              <a:t>(relation mandant-mandataire)</a:t>
            </a:r>
          </a:p>
        </p:txBody>
      </p:sp>
      <p:sp>
        <p:nvSpPr>
          <p:cNvPr id="4" name="Espace réservé du numéro de diapositive 3"/>
          <p:cNvSpPr>
            <a:spLocks noGrp="1"/>
          </p:cNvSpPr>
          <p:nvPr>
            <p:ph type="sldNum" sz="quarter" idx="12"/>
          </p:nvPr>
        </p:nvSpPr>
        <p:spPr/>
        <p:txBody>
          <a:bodyPr/>
          <a:lstStyle/>
          <a:p>
            <a:pPr>
              <a:defRPr/>
            </a:pPr>
            <a:fld id="{34395AD9-A9BE-7B4F-9028-E51E5891020D}" type="slidenum">
              <a:rPr lang="fr-CA" smtClean="0"/>
              <a:pPr>
                <a:defRPr/>
              </a:pPr>
              <a:t>65</a:t>
            </a:fld>
            <a:endParaRPr lang="fr-CA"/>
          </a:p>
        </p:txBody>
      </p:sp>
      <p:sp>
        <p:nvSpPr>
          <p:cNvPr id="2" name="Espace réservé du pied de page 1">
            <a:extLst>
              <a:ext uri="{FF2B5EF4-FFF2-40B4-BE49-F238E27FC236}">
                <a16:creationId xmlns:a16="http://schemas.microsoft.com/office/drawing/2014/main" id="{1DA58889-1E4F-435F-B07D-B16F87F0633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678270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Produits -  Prestation de services</a:t>
            </a:r>
            <a:br>
              <a:rPr lang="fr-CA" dirty="0"/>
            </a:br>
            <a:r>
              <a:rPr lang="fr-CA" dirty="0"/>
              <a:t>Exigences générales</a:t>
            </a:r>
          </a:p>
        </p:txBody>
      </p:sp>
      <p:sp>
        <p:nvSpPr>
          <p:cNvPr id="3" name="Espace réservé du contenu 2"/>
          <p:cNvSpPr>
            <a:spLocks noGrp="1"/>
          </p:cNvSpPr>
          <p:nvPr>
            <p:ph idx="1"/>
          </p:nvPr>
        </p:nvSpPr>
        <p:spPr/>
        <p:txBody>
          <a:bodyPr>
            <a:normAutofit/>
          </a:bodyPr>
          <a:lstStyle/>
          <a:p>
            <a:pPr marL="0" indent="0">
              <a:buNone/>
            </a:pPr>
            <a:r>
              <a:rPr lang="fr-CA" dirty="0"/>
              <a:t>L’entité doit appliquer les critères généraux de constatation des produits.</a:t>
            </a:r>
          </a:p>
          <a:p>
            <a:pPr marL="0" indent="0">
              <a:buNone/>
            </a:pPr>
            <a:r>
              <a:rPr lang="fr-CA" dirty="0"/>
              <a:t>Généralement, l’application de ces critères ne soulève pas de problème particulier si l’exécution porte sur un </a:t>
            </a:r>
            <a:r>
              <a:rPr lang="fr-CA" b="1" dirty="0"/>
              <a:t>seul acte</a:t>
            </a:r>
            <a:r>
              <a:rPr lang="fr-CA" dirty="0"/>
              <a:t>. L'entité comptabilise alors des produits à un moment précis (c.-à-d. lorsque les services sont rendus).</a:t>
            </a:r>
          </a:p>
        </p:txBody>
      </p:sp>
      <p:sp>
        <p:nvSpPr>
          <p:cNvPr id="4" name="Espace réservé du pied de page 3">
            <a:extLst>
              <a:ext uri="{FF2B5EF4-FFF2-40B4-BE49-F238E27FC236}">
                <a16:creationId xmlns:a16="http://schemas.microsoft.com/office/drawing/2014/main" id="{30CFD490-4FBB-4A74-AAA3-A4147AD3C27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F76A311-D77D-41E0-BC57-FE8D9E1EB694}"/>
              </a:ext>
            </a:extLst>
          </p:cNvPr>
          <p:cNvSpPr>
            <a:spLocks noGrp="1"/>
          </p:cNvSpPr>
          <p:nvPr>
            <p:ph type="sldNum" sz="quarter" idx="12"/>
          </p:nvPr>
        </p:nvSpPr>
        <p:spPr/>
        <p:txBody>
          <a:bodyPr/>
          <a:lstStyle/>
          <a:p>
            <a:fld id="{B407F3FA-7E18-4DCE-B6E1-AF2F18B1E770}" type="slidenum">
              <a:rPr lang="fr-FR" smtClean="0"/>
              <a:t>66</a:t>
            </a:fld>
            <a:endParaRPr lang="fr-FR"/>
          </a:p>
        </p:txBody>
      </p:sp>
    </p:spTree>
    <p:extLst>
      <p:ext uri="{BB962C8B-B14F-4D97-AF65-F5344CB8AC3E}">
        <p14:creationId xmlns:p14="http://schemas.microsoft.com/office/powerpoint/2010/main" val="1468075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Produits - Prestation de services</a:t>
            </a:r>
            <a:br>
              <a:rPr lang="fr-CA" sz="3600" dirty="0"/>
            </a:br>
            <a:r>
              <a:rPr lang="fr-CA" sz="3600" dirty="0"/>
              <a:t>Service en seul acte – exemple</a:t>
            </a:r>
            <a:r>
              <a:rPr lang="fr-CA" dirty="0"/>
              <a:t> </a:t>
            </a:r>
          </a:p>
        </p:txBody>
      </p:sp>
      <p:sp>
        <p:nvSpPr>
          <p:cNvPr id="3" name="Espace réservé du contenu 2"/>
          <p:cNvSpPr>
            <a:spLocks noGrp="1"/>
          </p:cNvSpPr>
          <p:nvPr>
            <p:ph idx="1"/>
          </p:nvPr>
        </p:nvSpPr>
        <p:spPr/>
        <p:txBody>
          <a:bodyPr/>
          <a:lstStyle/>
          <a:p>
            <a:pPr marL="0" indent="0">
              <a:buNone/>
            </a:pPr>
            <a:r>
              <a:rPr lang="fr-CA" dirty="0"/>
              <a:t>NOP possède une salle de cinéma. Le 12 février, le nombre de spectateurs s'élevait à 1 455 et le prix des billets était de 11,50 $ par personne.</a:t>
            </a:r>
          </a:p>
        </p:txBody>
      </p:sp>
      <p:sp>
        <p:nvSpPr>
          <p:cNvPr id="4" name="Espace réservé du pied de page 3">
            <a:extLst>
              <a:ext uri="{FF2B5EF4-FFF2-40B4-BE49-F238E27FC236}">
                <a16:creationId xmlns:a16="http://schemas.microsoft.com/office/drawing/2014/main" id="{30C0303A-B636-408E-9C53-6CF9E464A18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3682582-2053-4D81-9AC9-0062955E1DF2}"/>
              </a:ext>
            </a:extLst>
          </p:cNvPr>
          <p:cNvSpPr>
            <a:spLocks noGrp="1"/>
          </p:cNvSpPr>
          <p:nvPr>
            <p:ph type="sldNum" sz="quarter" idx="12"/>
          </p:nvPr>
        </p:nvSpPr>
        <p:spPr/>
        <p:txBody>
          <a:bodyPr/>
          <a:lstStyle/>
          <a:p>
            <a:fld id="{B407F3FA-7E18-4DCE-B6E1-AF2F18B1E770}" type="slidenum">
              <a:rPr lang="fr-FR" smtClean="0"/>
              <a:t>67</a:t>
            </a:fld>
            <a:endParaRPr lang="fr-FR"/>
          </a:p>
        </p:txBody>
      </p:sp>
    </p:spTree>
    <p:extLst>
      <p:ext uri="{BB962C8B-B14F-4D97-AF65-F5344CB8AC3E}">
        <p14:creationId xmlns:p14="http://schemas.microsoft.com/office/powerpoint/2010/main" val="5272653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a:bodyPr>
          <a:lstStyle/>
          <a:p>
            <a:r>
              <a:rPr lang="fr-CA" sz="2400" dirty="0"/>
              <a:t>Le 12 février, l'entité doit constater des produits de l'ordre de 16 732,50 $. </a:t>
            </a:r>
          </a:p>
          <a:p>
            <a:r>
              <a:rPr lang="fr-CA" sz="2400" dirty="0"/>
              <a:t>La seule obligation de NOP est de projeter le film pour lequel ses clients ont payé, ce qui représente le seul acte à exécuter (c.-à-d. que NOP a exécuté l'acte requis lorsqu'elle a présenté le film). </a:t>
            </a:r>
          </a:p>
          <a:p>
            <a:r>
              <a:rPr lang="fr-CA" sz="2400" dirty="0"/>
              <a:t>NOP n'a aucune autre obligation envers ses clients et, comme ceux-ci ont déjà réglé leur billet, il n'y a pas d'incertitude quant à la </a:t>
            </a:r>
            <a:r>
              <a:rPr lang="fr-CA" sz="2400" dirty="0" err="1"/>
              <a:t>recouvrabilité</a:t>
            </a:r>
            <a:r>
              <a:rPr lang="fr-CA" sz="2400" dirty="0"/>
              <a:t> de la contrepartie.</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68</a:t>
            </a:fld>
            <a:endParaRPr lang="fr-FR"/>
          </a:p>
        </p:txBody>
      </p:sp>
      <p:sp>
        <p:nvSpPr>
          <p:cNvPr id="5" name="Espace réservé du pied de page 4">
            <a:extLst>
              <a:ext uri="{FF2B5EF4-FFF2-40B4-BE49-F238E27FC236}">
                <a16:creationId xmlns:a16="http://schemas.microsoft.com/office/drawing/2014/main" id="{68BC56A3-5EE2-454F-B430-27009D0A21F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606739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620688"/>
            <a:ext cx="8229600" cy="1224136"/>
          </a:xfrm>
        </p:spPr>
        <p:txBody>
          <a:bodyPr>
            <a:noAutofit/>
          </a:bodyPr>
          <a:lstStyle/>
          <a:p>
            <a:r>
              <a:rPr lang="fr-CA" sz="3600" dirty="0"/>
              <a:t>Produits- Prestation de services</a:t>
            </a:r>
            <a:br>
              <a:rPr lang="fr-CA" sz="3600" dirty="0"/>
            </a:br>
            <a:r>
              <a:rPr lang="fr-CA" sz="3600" dirty="0"/>
              <a:t>Plusieurs actes et contrats à long terme</a:t>
            </a:r>
          </a:p>
        </p:txBody>
      </p:sp>
      <p:sp>
        <p:nvSpPr>
          <p:cNvPr id="3" name="Espace réservé du contenu 2"/>
          <p:cNvSpPr>
            <a:spLocks noGrp="1"/>
          </p:cNvSpPr>
          <p:nvPr>
            <p:ph idx="1"/>
          </p:nvPr>
        </p:nvSpPr>
        <p:spPr>
          <a:xfrm>
            <a:off x="882869" y="1988841"/>
            <a:ext cx="10470931" cy="4137323"/>
          </a:xfrm>
        </p:spPr>
        <p:txBody>
          <a:bodyPr>
            <a:normAutofit fontScale="85000" lnSpcReduction="20000"/>
          </a:bodyPr>
          <a:lstStyle/>
          <a:p>
            <a:pPr marL="0" indent="0">
              <a:buNone/>
            </a:pPr>
            <a:r>
              <a:rPr lang="fr-CA" dirty="0"/>
              <a:t>Exigences précises pour:</a:t>
            </a:r>
          </a:p>
          <a:p>
            <a:r>
              <a:rPr lang="fr-CA" dirty="0"/>
              <a:t>Prestation de </a:t>
            </a:r>
            <a:r>
              <a:rPr lang="fr-CA" b="1" dirty="0"/>
              <a:t>multiples services </a:t>
            </a:r>
            <a:r>
              <a:rPr lang="fr-CA" dirty="0"/>
              <a:t>à un client</a:t>
            </a:r>
          </a:p>
          <a:p>
            <a:r>
              <a:rPr lang="fr-CA" dirty="0"/>
              <a:t>Services offerts sur une période de plusieurs années</a:t>
            </a:r>
            <a:r>
              <a:rPr lang="fr-CA" b="1" dirty="0"/>
              <a:t> (contrats à long terme)</a:t>
            </a:r>
          </a:p>
          <a:p>
            <a:pPr marL="0" indent="0">
              <a:buNone/>
            </a:pPr>
            <a:r>
              <a:rPr lang="fr-CA" dirty="0"/>
              <a:t>Plusieurs actes OU travaux en cours à la date du bilan</a:t>
            </a:r>
          </a:p>
          <a:p>
            <a:pPr marL="0" indent="0">
              <a:buNone/>
            </a:pPr>
            <a:endParaRPr lang="fr-CA" dirty="0"/>
          </a:p>
          <a:p>
            <a:pPr marL="0" indent="0">
              <a:buNone/>
            </a:pPr>
            <a:r>
              <a:rPr lang="fr-CA" dirty="0"/>
              <a:t>Utiliser la méthode qui traduit le mieux la relation entre les produits et le travail accompli soit : </a:t>
            </a:r>
          </a:p>
          <a:p>
            <a:r>
              <a:rPr lang="fr-CA" dirty="0"/>
              <a:t>Méthode de l'avancement des travaux – </a:t>
            </a:r>
            <a:r>
              <a:rPr lang="fr-CA" dirty="0">
                <a:solidFill>
                  <a:srgbClr val="0070C0"/>
                </a:solidFill>
              </a:rPr>
              <a:t>méthode à privilégier</a:t>
            </a:r>
            <a:endParaRPr lang="fr-CA" dirty="0"/>
          </a:p>
          <a:p>
            <a:pPr lvl="1"/>
            <a:r>
              <a:rPr lang="fr-CA" dirty="0"/>
              <a:t>Selon le degré d’avancement</a:t>
            </a:r>
          </a:p>
          <a:p>
            <a:pPr marL="457200" lvl="1" indent="-457200">
              <a:buNone/>
            </a:pPr>
            <a:r>
              <a:rPr lang="fr-CA" dirty="0"/>
              <a:t>OU</a:t>
            </a:r>
          </a:p>
          <a:p>
            <a:r>
              <a:rPr lang="fr-CA" dirty="0"/>
              <a:t>Méthode de l'achèvement des travaux</a:t>
            </a:r>
          </a:p>
        </p:txBody>
      </p:sp>
      <p:sp>
        <p:nvSpPr>
          <p:cNvPr id="4" name="Espace réservé du pied de page 3">
            <a:extLst>
              <a:ext uri="{FF2B5EF4-FFF2-40B4-BE49-F238E27FC236}">
                <a16:creationId xmlns:a16="http://schemas.microsoft.com/office/drawing/2014/main" id="{D5E8795F-642E-4B36-8D76-2D1C2AF70B9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B95FCDD-756B-417B-9B01-569C9958925F}"/>
              </a:ext>
            </a:extLst>
          </p:cNvPr>
          <p:cNvSpPr>
            <a:spLocks noGrp="1"/>
          </p:cNvSpPr>
          <p:nvPr>
            <p:ph type="sldNum" sz="quarter" idx="12"/>
          </p:nvPr>
        </p:nvSpPr>
        <p:spPr/>
        <p:txBody>
          <a:bodyPr/>
          <a:lstStyle/>
          <a:p>
            <a:fld id="{B407F3FA-7E18-4DCE-B6E1-AF2F18B1E770}" type="slidenum">
              <a:rPr lang="fr-FR" smtClean="0"/>
              <a:t>69</a:t>
            </a:fld>
            <a:endParaRPr lang="fr-FR"/>
          </a:p>
        </p:txBody>
      </p:sp>
    </p:spTree>
    <p:extLst>
      <p:ext uri="{BB962C8B-B14F-4D97-AF65-F5344CB8AC3E}">
        <p14:creationId xmlns:p14="http://schemas.microsoft.com/office/powerpoint/2010/main" val="39196432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contrats à long terme</a:t>
            </a:r>
            <a:br>
              <a:rPr lang="fr-CA" sz="4000" dirty="0"/>
            </a:br>
            <a:r>
              <a:rPr lang="fr-CA" sz="4000" dirty="0"/>
              <a:t>Méthode de l'avancement des travaux</a:t>
            </a:r>
            <a:endParaRPr lang="fr-CA" dirty="0"/>
          </a:p>
        </p:txBody>
      </p:sp>
      <p:sp>
        <p:nvSpPr>
          <p:cNvPr id="3" name="Espace réservé du contenu 2"/>
          <p:cNvSpPr>
            <a:spLocks noGrp="1"/>
          </p:cNvSpPr>
          <p:nvPr>
            <p:ph idx="1"/>
          </p:nvPr>
        </p:nvSpPr>
        <p:spPr>
          <a:xfrm>
            <a:off x="838200" y="1885951"/>
            <a:ext cx="10515600" cy="4240213"/>
          </a:xfrm>
        </p:spPr>
        <p:txBody>
          <a:bodyPr>
            <a:normAutofit/>
          </a:bodyPr>
          <a:lstStyle/>
          <a:p>
            <a:pPr marL="0" indent="0">
              <a:buNone/>
            </a:pPr>
            <a:r>
              <a:rPr lang="fr-CA" dirty="0"/>
              <a:t>Comptabiliser les produits au fur et à mesure de l'exécution de actes prévus au contrat </a:t>
            </a:r>
          </a:p>
          <a:p>
            <a:pPr>
              <a:buFont typeface="Wingdings" panose="05000000000000000000" pitchFamily="2" charset="2"/>
              <a:buChar char="Ø"/>
            </a:pPr>
            <a:r>
              <a:rPr lang="fr-CA" dirty="0"/>
              <a:t>Objectif : produits doivent refléter la performance </a:t>
            </a:r>
          </a:p>
          <a:p>
            <a:pPr marL="0" indent="0">
              <a:buNone/>
            </a:pPr>
            <a:endParaRPr lang="fr-CA" dirty="0"/>
          </a:p>
          <a:p>
            <a:pPr marL="0" indent="0">
              <a:buNone/>
            </a:pPr>
            <a:r>
              <a:rPr lang="fr-CA" dirty="0"/>
              <a:t>Méthode de mesure (rationnelle et uniforme) doit être </a:t>
            </a:r>
          </a:p>
          <a:p>
            <a:pPr marL="0" indent="0">
              <a:buNone/>
            </a:pPr>
            <a:r>
              <a:rPr lang="fr-CA" dirty="0"/>
              <a:t>(1) fondée sur des montants raisonnablement déterminables ET </a:t>
            </a:r>
          </a:p>
          <a:p>
            <a:pPr marL="0" indent="0">
              <a:buNone/>
            </a:pPr>
            <a:r>
              <a:rPr lang="fr-CA" dirty="0"/>
              <a:t>(2) refléter le plus directement possible la réalisation d’activités essentielles à l'exécution du contrat</a:t>
            </a:r>
          </a:p>
          <a:p>
            <a:pPr marL="0" indent="0">
              <a:buNone/>
            </a:pPr>
            <a:endParaRPr lang="fr-CA" dirty="0"/>
          </a:p>
          <a:p>
            <a:pPr marL="0" indent="0">
              <a:buNone/>
            </a:pPr>
            <a:endParaRPr lang="fr-CA" dirty="0"/>
          </a:p>
        </p:txBody>
      </p:sp>
      <p:sp>
        <p:nvSpPr>
          <p:cNvPr id="4" name="Espace réservé du pied de page 3">
            <a:extLst>
              <a:ext uri="{FF2B5EF4-FFF2-40B4-BE49-F238E27FC236}">
                <a16:creationId xmlns:a16="http://schemas.microsoft.com/office/drawing/2014/main" id="{C6B638C6-1DFB-402E-B890-2FCC0310206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A5720FD-779C-46A9-A89C-5159DD0160B5}"/>
              </a:ext>
            </a:extLst>
          </p:cNvPr>
          <p:cNvSpPr>
            <a:spLocks noGrp="1"/>
          </p:cNvSpPr>
          <p:nvPr>
            <p:ph type="sldNum" sz="quarter" idx="12"/>
          </p:nvPr>
        </p:nvSpPr>
        <p:spPr/>
        <p:txBody>
          <a:bodyPr/>
          <a:lstStyle/>
          <a:p>
            <a:fld id="{B407F3FA-7E18-4DCE-B6E1-AF2F18B1E770}" type="slidenum">
              <a:rPr lang="fr-FR" smtClean="0"/>
              <a:t>70</a:t>
            </a:fld>
            <a:endParaRPr lang="fr-FR"/>
          </a:p>
        </p:txBody>
      </p:sp>
    </p:spTree>
    <p:extLst>
      <p:ext uri="{BB962C8B-B14F-4D97-AF65-F5344CB8AC3E}">
        <p14:creationId xmlns:p14="http://schemas.microsoft.com/office/powerpoint/2010/main" val="3063753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75520" y="274638"/>
            <a:ext cx="8712968" cy="1143000"/>
          </a:xfrm>
        </p:spPr>
        <p:txBody>
          <a:bodyPr>
            <a:noAutofit/>
          </a:bodyPr>
          <a:lstStyle/>
          <a:p>
            <a:r>
              <a:rPr lang="fr-CA" sz="3600" dirty="0"/>
              <a:t>Produits - contrats à long terme</a:t>
            </a:r>
            <a:br>
              <a:rPr lang="fr-CA" sz="3600" dirty="0"/>
            </a:br>
            <a:r>
              <a:rPr lang="fr-CA" sz="3600" dirty="0"/>
              <a:t>Méthode de l'avancement des travaux (suite)</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Méthode de l'avancement des travaux permet </a:t>
            </a:r>
          </a:p>
          <a:p>
            <a:r>
              <a:rPr lang="fr-CA" dirty="0"/>
              <a:t>un rapprochement des produits et des travaux réalisés. </a:t>
            </a:r>
          </a:p>
          <a:p>
            <a:r>
              <a:rPr lang="fr-CA" dirty="0"/>
              <a:t>reflète la performance réelle de l'entité. </a:t>
            </a:r>
          </a:p>
          <a:p>
            <a:r>
              <a:rPr lang="fr-CA" dirty="0"/>
              <a:t>permet aux utilisateurs des états financiers de mieux prédire les flux de trésorerie futurs.</a:t>
            </a:r>
          </a:p>
          <a:p>
            <a:pPr marL="0" indent="0">
              <a:buNone/>
            </a:pPr>
            <a:endParaRPr lang="fr-CA" dirty="0"/>
          </a:p>
          <a:p>
            <a:pPr marL="0" indent="0">
              <a:buNone/>
            </a:pPr>
            <a:r>
              <a:rPr lang="fr-CA" b="1" dirty="0"/>
              <a:t>Problèmes</a:t>
            </a:r>
          </a:p>
          <a:p>
            <a:r>
              <a:rPr lang="fr-CA" dirty="0"/>
              <a:t>Besoin de procéder à des estimations pour déterminer le montant des produits qui doivent être comptabilisés. </a:t>
            </a:r>
          </a:p>
          <a:p>
            <a:pPr lvl="1"/>
            <a:r>
              <a:rPr lang="fr-CA" dirty="0"/>
              <a:t>Degré d’avancement</a:t>
            </a:r>
          </a:p>
          <a:p>
            <a:r>
              <a:rPr lang="fr-CA" dirty="0"/>
              <a:t>Montants peuvent être difficiles à calculer et peu fiables. </a:t>
            </a:r>
          </a:p>
          <a:p>
            <a:r>
              <a:rPr lang="fr-CA" dirty="0"/>
              <a:t>La direction pourrait manipuler à son avantage les résultats.</a:t>
            </a:r>
          </a:p>
        </p:txBody>
      </p:sp>
      <p:sp>
        <p:nvSpPr>
          <p:cNvPr id="4" name="Espace réservé du pied de page 3">
            <a:extLst>
              <a:ext uri="{FF2B5EF4-FFF2-40B4-BE49-F238E27FC236}">
                <a16:creationId xmlns:a16="http://schemas.microsoft.com/office/drawing/2014/main" id="{2FE45C34-506E-4C14-A864-E0EC01CD260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927AA6B-E0EB-4748-94F1-9CF7BF19333F}"/>
              </a:ext>
            </a:extLst>
          </p:cNvPr>
          <p:cNvSpPr>
            <a:spLocks noGrp="1"/>
          </p:cNvSpPr>
          <p:nvPr>
            <p:ph type="sldNum" sz="quarter" idx="12"/>
          </p:nvPr>
        </p:nvSpPr>
        <p:spPr/>
        <p:txBody>
          <a:bodyPr/>
          <a:lstStyle/>
          <a:p>
            <a:fld id="{B407F3FA-7E18-4DCE-B6E1-AF2F18B1E770}" type="slidenum">
              <a:rPr lang="fr-FR" smtClean="0"/>
              <a:t>71</a:t>
            </a:fld>
            <a:endParaRPr lang="fr-FR"/>
          </a:p>
        </p:txBody>
      </p:sp>
    </p:spTree>
    <p:extLst>
      <p:ext uri="{BB962C8B-B14F-4D97-AF65-F5344CB8AC3E}">
        <p14:creationId xmlns:p14="http://schemas.microsoft.com/office/powerpoint/2010/main" val="9550630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5538" name="Titre 1"/>
          <p:cNvSpPr>
            <a:spLocks noGrp="1"/>
          </p:cNvSpPr>
          <p:nvPr>
            <p:ph type="title"/>
          </p:nvPr>
        </p:nvSpPr>
        <p:spPr/>
        <p:txBody>
          <a:bodyPr>
            <a:normAutofit/>
          </a:bodyPr>
          <a:lstStyle/>
          <a:p>
            <a:r>
              <a:rPr lang="fr-CA" dirty="0">
                <a:latin typeface="Calibri" charset="0"/>
              </a:rPr>
              <a:t>Méthode de l’avancement des travaux</a:t>
            </a:r>
            <a:endParaRPr lang="fr-CA" sz="2400" dirty="0">
              <a:latin typeface="Calibri" charset="0"/>
            </a:endParaRPr>
          </a:p>
        </p:txBody>
      </p:sp>
      <p:sp>
        <p:nvSpPr>
          <p:cNvPr id="65539" name="Espace réservé du contenu 2"/>
          <p:cNvSpPr>
            <a:spLocks noGrp="1"/>
          </p:cNvSpPr>
          <p:nvPr>
            <p:ph idx="1"/>
          </p:nvPr>
        </p:nvSpPr>
        <p:spPr/>
        <p:txBody>
          <a:bodyPr>
            <a:normAutofit lnSpcReduction="10000"/>
          </a:bodyPr>
          <a:lstStyle/>
          <a:p>
            <a:pPr marL="0" indent="0">
              <a:buNone/>
            </a:pPr>
            <a:r>
              <a:rPr lang="fr-CA" dirty="0">
                <a:latin typeface="Calibri" charset="0"/>
              </a:rPr>
              <a:t>Le 22 mars 2020, Constructeur conclut un contrant portant sur la construction d’un immeuble commercial. Le contrat est de 1 000 000 $ et les coûts estimatifs totaux s’élèvent à 750 000 $. La fin d’exercice de Constructeur est le 31 décembre. </a:t>
            </a:r>
          </a:p>
          <a:p>
            <a:pPr marL="0" indent="0">
              <a:buNone/>
            </a:pPr>
            <a:endParaRPr lang="fr-CA" sz="1900" dirty="0">
              <a:latin typeface="Calibri" charset="0"/>
            </a:endParaRPr>
          </a:p>
          <a:p>
            <a:pPr marL="0" indent="0">
              <a:buNone/>
            </a:pPr>
            <a:r>
              <a:rPr lang="fr-CA" dirty="0">
                <a:latin typeface="Calibri" charset="0"/>
              </a:rPr>
              <a:t>Au 31 décembre 2020, les coûts engagés s’élèvent à 450 000 $ et le montant facturé à 500 000 $.</a:t>
            </a:r>
          </a:p>
          <a:p>
            <a:pPr marL="0" indent="0">
              <a:buNone/>
            </a:pPr>
            <a:r>
              <a:rPr lang="fr-CA" sz="1900" dirty="0">
                <a:latin typeface="Calibri" charset="0"/>
              </a:rPr>
              <a:t> </a:t>
            </a:r>
          </a:p>
          <a:p>
            <a:pPr marL="0" indent="0">
              <a:buNone/>
            </a:pPr>
            <a:r>
              <a:rPr lang="fr-CA" dirty="0">
                <a:latin typeface="Calibri" charset="0"/>
              </a:rPr>
              <a:t>En 2021, des coûts supplémentaires de 300 000 $ sont engagés et un autre montant de 500 000 $ est facturé. À la fin de 2021, la construction est achevée et l’immeuble est livré au client.</a:t>
            </a:r>
            <a:endParaRPr lang="fr-CA" sz="2000" dirty="0">
              <a:latin typeface="Calibri" charset="0"/>
            </a:endParaRPr>
          </a:p>
        </p:txBody>
      </p:sp>
      <p:sp>
        <p:nvSpPr>
          <p:cNvPr id="4" name="Espace réservé du numéro de diapositive 3"/>
          <p:cNvSpPr>
            <a:spLocks noGrp="1"/>
          </p:cNvSpPr>
          <p:nvPr>
            <p:ph type="sldNum" sz="quarter" idx="12"/>
          </p:nvPr>
        </p:nvSpPr>
        <p:spPr/>
        <p:txBody>
          <a:bodyPr/>
          <a:lstStyle/>
          <a:p>
            <a:pPr>
              <a:defRPr/>
            </a:pPr>
            <a:fld id="{34395AD9-A9BE-7B4F-9028-E51E5891020D}" type="slidenum">
              <a:rPr lang="fr-CA" smtClean="0"/>
              <a:pPr>
                <a:defRPr/>
              </a:pPr>
              <a:t>72</a:t>
            </a:fld>
            <a:endParaRPr lang="fr-CA"/>
          </a:p>
        </p:txBody>
      </p:sp>
      <p:sp>
        <p:nvSpPr>
          <p:cNvPr id="2" name="Espace réservé du pied de page 1">
            <a:extLst>
              <a:ext uri="{FF2B5EF4-FFF2-40B4-BE49-F238E27FC236}">
                <a16:creationId xmlns:a16="http://schemas.microsoft.com/office/drawing/2014/main" id="{C2C5EDA3-D596-4581-B92D-F58183B494E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786702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233965"/>
          </a:xfrm>
        </p:spPr>
        <p:txBody>
          <a:bodyPr>
            <a:normAutofit fontScale="90000"/>
          </a:bodyPr>
          <a:lstStyle/>
          <a:p>
            <a:r>
              <a:rPr lang="fr-CA" sz="3200" dirty="0"/>
              <a:t>Solution</a:t>
            </a:r>
            <a:endParaRPr lang="fr-CA" dirty="0"/>
          </a:p>
        </p:txBody>
      </p:sp>
      <p:sp>
        <p:nvSpPr>
          <p:cNvPr id="3" name="Espace réservé du contenu 2"/>
          <p:cNvSpPr>
            <a:spLocks noGrp="1"/>
          </p:cNvSpPr>
          <p:nvPr>
            <p:ph idx="1"/>
          </p:nvPr>
        </p:nvSpPr>
        <p:spPr>
          <a:xfrm>
            <a:off x="838200" y="788276"/>
            <a:ext cx="10515600" cy="5568074"/>
          </a:xfrm>
        </p:spPr>
        <p:txBody>
          <a:bodyPr>
            <a:normAutofit fontScale="40000" lnSpcReduction="20000"/>
          </a:bodyPr>
          <a:lstStyle/>
          <a:p>
            <a:pPr marL="0" indent="0">
              <a:buNone/>
            </a:pPr>
            <a:r>
              <a:rPr lang="fr-CA" sz="3500" b="1" dirty="0"/>
              <a:t>2020</a:t>
            </a:r>
          </a:p>
          <a:p>
            <a:pPr marL="0" indent="0">
              <a:buNone/>
            </a:pPr>
            <a:r>
              <a:rPr lang="fr-CA" sz="3500" dirty="0"/>
              <a:t>PEC                           450 000</a:t>
            </a:r>
          </a:p>
          <a:p>
            <a:pPr marL="0" indent="0">
              <a:buNone/>
            </a:pPr>
            <a:r>
              <a:rPr lang="fr-CA" sz="3500" dirty="0"/>
              <a:t>@ Comptes fournisseurs     450 000</a:t>
            </a:r>
          </a:p>
          <a:p>
            <a:pPr marL="0" indent="0">
              <a:buNone/>
            </a:pPr>
            <a:endParaRPr lang="fr-CA" sz="500" dirty="0"/>
          </a:p>
          <a:p>
            <a:pPr marL="0" indent="0">
              <a:buNone/>
            </a:pPr>
            <a:r>
              <a:rPr lang="fr-CA" sz="3500" dirty="0"/>
              <a:t>CC                              500 000</a:t>
            </a:r>
          </a:p>
          <a:p>
            <a:pPr marL="0" indent="0">
              <a:buNone/>
            </a:pPr>
            <a:r>
              <a:rPr lang="fr-CA" sz="3500" dirty="0"/>
              <a:t>@ Facturation                        500 000</a:t>
            </a:r>
          </a:p>
          <a:p>
            <a:pPr marL="0" indent="0">
              <a:buNone/>
            </a:pPr>
            <a:endParaRPr lang="fr-CA" sz="2300" dirty="0"/>
          </a:p>
          <a:p>
            <a:pPr marL="0" indent="0">
              <a:buNone/>
            </a:pPr>
            <a:r>
              <a:rPr lang="fr-CA" sz="4000" dirty="0"/>
              <a:t>À la fin de 2020, il faut calculer le pourcentage d'avancement des travaux, en utilisant l'information relative aux coûts déjà engagés et aux coûts totaux </a:t>
            </a:r>
          </a:p>
          <a:p>
            <a:pPr marL="0" indent="0">
              <a:buNone/>
            </a:pPr>
            <a:r>
              <a:rPr lang="fr-CA" sz="3500" dirty="0"/>
              <a:t>Pourcentage d'avancement = coûts engagés ÷ coûts estimatifs totaux</a:t>
            </a:r>
          </a:p>
          <a:p>
            <a:pPr marL="0" indent="0">
              <a:buNone/>
            </a:pPr>
            <a:r>
              <a:rPr lang="fr-CA" sz="3500" dirty="0"/>
              <a:t>     = 450 000 $ ÷ 750 000 $       = 60 %</a:t>
            </a:r>
          </a:p>
          <a:p>
            <a:pPr marL="0" indent="0">
              <a:buNone/>
            </a:pPr>
            <a:r>
              <a:rPr lang="fr-CA" sz="4000" dirty="0"/>
              <a:t>Il faut ensuite calculer le profit brut réalisé à cette date, de la façon suivante :</a:t>
            </a:r>
          </a:p>
          <a:p>
            <a:pPr marL="0" indent="0">
              <a:buNone/>
            </a:pPr>
            <a:r>
              <a:rPr lang="fr-CA" sz="3500" dirty="0"/>
              <a:t>Profit brut réalisé à cette date = pourcentage d'avancement × profit brut estimatif total</a:t>
            </a:r>
          </a:p>
          <a:p>
            <a:pPr marL="0" indent="0">
              <a:buNone/>
            </a:pPr>
            <a:r>
              <a:rPr lang="fr-CA" sz="3500" dirty="0"/>
              <a:t>     = 60 % × (1 000 000 $ – 750 000 $)        = 150 000 $</a:t>
            </a:r>
          </a:p>
          <a:p>
            <a:pPr marL="0" indent="0">
              <a:buNone/>
            </a:pPr>
            <a:r>
              <a:rPr lang="fr-CA" sz="4000" dirty="0"/>
              <a:t>À la fin de 2020, les produits constatés correspondent au montant prévu au contrat multiplié par le pourcentage d'avancement (1 000 000 $ × 60 %) et les charges constatées correspondent au montant des coûts totaux de l'exercice. Le profit constaté dans le compte Produits en cours correspond à la différence entre les deux autres montants</a:t>
            </a:r>
          </a:p>
          <a:p>
            <a:pPr marL="0" indent="0">
              <a:buNone/>
            </a:pPr>
            <a:endParaRPr lang="fr-CA" sz="800" dirty="0"/>
          </a:p>
          <a:p>
            <a:pPr marL="0" indent="0">
              <a:buNone/>
            </a:pPr>
            <a:r>
              <a:rPr lang="fr-CA" sz="3500" dirty="0"/>
              <a:t>PEC                     150 000</a:t>
            </a:r>
          </a:p>
          <a:p>
            <a:pPr marL="0" indent="0">
              <a:buNone/>
            </a:pPr>
            <a:r>
              <a:rPr lang="fr-CA" sz="3500" dirty="0"/>
              <a:t>Charges             450 000</a:t>
            </a:r>
          </a:p>
          <a:p>
            <a:pPr marL="0" indent="0">
              <a:buNone/>
            </a:pPr>
            <a:r>
              <a:rPr lang="fr-CA" sz="3500" dirty="0"/>
              <a:t>@ Produits                        600 000</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73</a:t>
            </a:fld>
            <a:endParaRPr lang="fr-FR"/>
          </a:p>
        </p:txBody>
      </p:sp>
      <p:sp>
        <p:nvSpPr>
          <p:cNvPr id="5" name="Espace réservé du pied de page 4">
            <a:extLst>
              <a:ext uri="{FF2B5EF4-FFF2-40B4-BE49-F238E27FC236}">
                <a16:creationId xmlns:a16="http://schemas.microsoft.com/office/drawing/2014/main" id="{B4EE7875-487E-49D7-A575-51E96A17FBB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44910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199" y="1223010"/>
            <a:ext cx="10515599" cy="5246370"/>
          </a:xfrm>
        </p:spPr>
        <p:txBody>
          <a:bodyPr>
            <a:normAutofit fontScale="55000" lnSpcReduction="20000"/>
          </a:bodyPr>
          <a:lstStyle/>
          <a:p>
            <a:pPr marL="0" indent="0">
              <a:buNone/>
            </a:pPr>
            <a:r>
              <a:rPr lang="fr-CA" b="1" dirty="0"/>
              <a:t>2021</a:t>
            </a:r>
          </a:p>
          <a:p>
            <a:pPr marL="0" indent="0">
              <a:buNone/>
            </a:pPr>
            <a:r>
              <a:rPr lang="fr-CA" dirty="0"/>
              <a:t>PEC                            300 000</a:t>
            </a:r>
          </a:p>
          <a:p>
            <a:pPr marL="0" indent="0">
              <a:buNone/>
            </a:pPr>
            <a:r>
              <a:rPr lang="fr-CA" dirty="0"/>
              <a:t>@ Comptes fournisseurs     300 000</a:t>
            </a:r>
          </a:p>
          <a:p>
            <a:pPr marL="0" indent="0">
              <a:buNone/>
            </a:pPr>
            <a:endParaRPr lang="fr-CA" sz="600" dirty="0"/>
          </a:p>
          <a:p>
            <a:pPr marL="0" indent="0">
              <a:buNone/>
            </a:pPr>
            <a:r>
              <a:rPr lang="fr-CA" dirty="0"/>
              <a:t>CC                               500 000</a:t>
            </a:r>
          </a:p>
          <a:p>
            <a:pPr marL="0" indent="0">
              <a:buNone/>
            </a:pPr>
            <a:r>
              <a:rPr lang="fr-CA" dirty="0"/>
              <a:t>@ Facturation                        500 000</a:t>
            </a:r>
          </a:p>
          <a:p>
            <a:pPr marL="0" indent="0">
              <a:buNone/>
            </a:pPr>
            <a:endParaRPr lang="fr-CA" dirty="0"/>
          </a:p>
          <a:p>
            <a:pPr marL="0" indent="0">
              <a:buNone/>
            </a:pPr>
            <a:r>
              <a:rPr lang="fr-CA" dirty="0"/>
              <a:t>À la fin de 2021, il faut calculer le pourcentage d'avancement pour l'exercice.</a:t>
            </a:r>
          </a:p>
          <a:p>
            <a:pPr marL="0" indent="0">
              <a:buNone/>
            </a:pPr>
            <a:r>
              <a:rPr lang="fr-CA" dirty="0"/>
              <a:t>Pourcentage d'avancement = (coûts engagés ÷ coûts estimatifs totaux) – pourcentage précédent</a:t>
            </a:r>
          </a:p>
          <a:p>
            <a:pPr marL="0" indent="0">
              <a:buNone/>
            </a:pPr>
            <a:r>
              <a:rPr lang="fr-CA" dirty="0"/>
              <a:t>     = (750 000 $ ÷ 750 000 $) – 60 %          = 40 %</a:t>
            </a:r>
          </a:p>
          <a:p>
            <a:pPr marL="0" indent="0">
              <a:buNone/>
            </a:pPr>
            <a:r>
              <a:rPr lang="fr-CA" dirty="0"/>
              <a:t>Il faut ensuite calculer le profit brut de 2021, de la façon suivante :</a:t>
            </a:r>
          </a:p>
          <a:p>
            <a:pPr marL="0" indent="0">
              <a:buNone/>
            </a:pPr>
            <a:r>
              <a:rPr lang="fr-CA" dirty="0"/>
              <a:t>Profit brut – 2019 = (pourcentage d'avancement × profit brut) – profit précédent</a:t>
            </a:r>
          </a:p>
          <a:p>
            <a:pPr marL="0" indent="0">
              <a:buNone/>
            </a:pPr>
            <a:r>
              <a:rPr lang="fr-CA" dirty="0"/>
              <a:t>     = (100 % × (1 000 000 $ – 750 000 $)) – 150 000 $          = 100 000 $</a:t>
            </a:r>
          </a:p>
          <a:p>
            <a:pPr marL="0" indent="0">
              <a:buNone/>
            </a:pPr>
            <a:r>
              <a:rPr lang="fr-CA" dirty="0"/>
              <a:t>À la fin de 2021, le produit constaté correspond au montant prévu au contrat multiplié par le pourcentage d'avancement, moins les produits précédents ((1 000 000 $ × 100 %) – 600 000 $) et les charges constatées correspondent au montant des coûts totaux de l'exercice. Le profit constaté dans le compte PEC correspond à la différence entre les deux autres montants :</a:t>
            </a:r>
          </a:p>
          <a:p>
            <a:pPr marL="0" indent="0">
              <a:buNone/>
            </a:pPr>
            <a:r>
              <a:rPr lang="fr-CA" dirty="0"/>
              <a:t>PEC                         100 000</a:t>
            </a:r>
          </a:p>
          <a:p>
            <a:pPr marL="0" indent="0">
              <a:buNone/>
            </a:pPr>
            <a:r>
              <a:rPr lang="fr-CA" dirty="0"/>
              <a:t>Charges                  300 000</a:t>
            </a:r>
          </a:p>
          <a:p>
            <a:pPr marL="0" indent="0">
              <a:buNone/>
            </a:pPr>
            <a:r>
              <a:rPr lang="fr-CA" dirty="0"/>
              <a:t>@ Produits                           400 000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74</a:t>
            </a:fld>
            <a:endParaRPr lang="fr-FR"/>
          </a:p>
        </p:txBody>
      </p:sp>
      <p:sp>
        <p:nvSpPr>
          <p:cNvPr id="5" name="Espace réservé du pied de page 4">
            <a:extLst>
              <a:ext uri="{FF2B5EF4-FFF2-40B4-BE49-F238E27FC236}">
                <a16:creationId xmlns:a16="http://schemas.microsoft.com/office/drawing/2014/main" id="{6DFE7FBD-EF51-4492-AE8B-BCDB9F7A780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9202404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200" dirty="0"/>
              <a:t>Produits - contrats à long terme </a:t>
            </a:r>
            <a:endParaRPr lang="fr-CA" sz="3600" dirty="0"/>
          </a:p>
        </p:txBody>
      </p:sp>
      <p:sp>
        <p:nvSpPr>
          <p:cNvPr id="3" name="Espace réservé du contenu 2"/>
          <p:cNvSpPr>
            <a:spLocks noGrp="1"/>
          </p:cNvSpPr>
          <p:nvPr>
            <p:ph idx="1"/>
          </p:nvPr>
        </p:nvSpPr>
        <p:spPr/>
        <p:txBody>
          <a:bodyPr>
            <a:normAutofit lnSpcReduction="10000"/>
          </a:bodyPr>
          <a:lstStyle/>
          <a:p>
            <a:pPr marL="0" indent="0">
              <a:buNone/>
            </a:pPr>
            <a:r>
              <a:rPr lang="fr-CA" dirty="0"/>
              <a:t>Méthode de l'achèvement des travaux</a:t>
            </a:r>
          </a:p>
          <a:p>
            <a:r>
              <a:rPr lang="fr-CA" dirty="0"/>
              <a:t>Aucun montant aux résultats avant l’achèvement des travaux</a:t>
            </a:r>
          </a:p>
          <a:p>
            <a:pPr lvl="1"/>
            <a:r>
              <a:rPr lang="fr-CA" dirty="0"/>
              <a:t>Le résultat sur un contrat de construction n’est comptabilisé que lors de la fin de ce chantier.</a:t>
            </a:r>
          </a:p>
          <a:p>
            <a:pPr lvl="1"/>
            <a:r>
              <a:rPr lang="fr-CA" b="1" dirty="0">
                <a:solidFill>
                  <a:srgbClr val="0070C0"/>
                </a:solidFill>
              </a:rPr>
              <a:t>La méthode de l'achèvement des travaux ne devrait être utilisée que lorsque l'entreprise ne peut raisonnablement estimer le degré d'avancement des travaux.</a:t>
            </a:r>
            <a:endParaRPr lang="fr-CA" dirty="0">
              <a:solidFill>
                <a:srgbClr val="0070C0"/>
              </a:solidFill>
            </a:endParaRPr>
          </a:p>
          <a:p>
            <a:pPr lvl="1"/>
            <a:endParaRPr lang="fr-CA" dirty="0"/>
          </a:p>
          <a:p>
            <a:pPr marL="0" indent="0">
              <a:buNone/>
            </a:pPr>
            <a:r>
              <a:rPr lang="fr-CA" dirty="0"/>
              <a:t>Si le résultat du contrat de construction ne peut être estimé de façon fiable</a:t>
            </a:r>
          </a:p>
          <a:p>
            <a:pPr lvl="1"/>
            <a:r>
              <a:rPr lang="fr-CA" dirty="0"/>
              <a:t>Dans cette situation, comptabiliser les produits à la limite des coûts qui ont été engagés et qui seront recouvrables (aucun profit avant la fin).</a:t>
            </a:r>
            <a:endParaRPr lang="fr-CA" sz="2800" dirty="0"/>
          </a:p>
        </p:txBody>
      </p:sp>
      <p:sp>
        <p:nvSpPr>
          <p:cNvPr id="4" name="Espace réservé du pied de page 3">
            <a:extLst>
              <a:ext uri="{FF2B5EF4-FFF2-40B4-BE49-F238E27FC236}">
                <a16:creationId xmlns:a16="http://schemas.microsoft.com/office/drawing/2014/main" id="{737E9C3B-831D-41C6-8DC7-096C7091F22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5021D6B-6E9D-41D0-9597-4A0073CDB4F0}"/>
              </a:ext>
            </a:extLst>
          </p:cNvPr>
          <p:cNvSpPr>
            <a:spLocks noGrp="1"/>
          </p:cNvSpPr>
          <p:nvPr>
            <p:ph type="sldNum" sz="quarter" idx="12"/>
          </p:nvPr>
        </p:nvSpPr>
        <p:spPr/>
        <p:txBody>
          <a:bodyPr/>
          <a:lstStyle/>
          <a:p>
            <a:fld id="{B407F3FA-7E18-4DCE-B6E1-AF2F18B1E770}" type="slidenum">
              <a:rPr lang="fr-FR" smtClean="0"/>
              <a:t>75</a:t>
            </a:fld>
            <a:endParaRPr lang="fr-FR"/>
          </a:p>
        </p:txBody>
      </p:sp>
    </p:spTree>
    <p:extLst>
      <p:ext uri="{BB962C8B-B14F-4D97-AF65-F5344CB8AC3E}">
        <p14:creationId xmlns:p14="http://schemas.microsoft.com/office/powerpoint/2010/main" val="10685052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31504" y="365127"/>
            <a:ext cx="8712968" cy="1325563"/>
          </a:xfrm>
        </p:spPr>
        <p:txBody>
          <a:bodyPr>
            <a:normAutofit fontScale="90000"/>
          </a:bodyPr>
          <a:lstStyle/>
          <a:p>
            <a:pPr algn="ctr"/>
            <a:r>
              <a:rPr lang="fr-CA" sz="3600" dirty="0"/>
              <a:t>Produits - contrats à long terme </a:t>
            </a:r>
            <a:br>
              <a:rPr lang="fr-CA" sz="3600" dirty="0"/>
            </a:br>
            <a:r>
              <a:rPr lang="fr-CA" sz="3600" dirty="0"/>
              <a:t>Méthode de l’achèvement des travaux – exemple 1</a:t>
            </a:r>
            <a:endParaRPr lang="fr-CA" dirty="0"/>
          </a:p>
        </p:txBody>
      </p:sp>
      <p:sp>
        <p:nvSpPr>
          <p:cNvPr id="3" name="Espace réservé du contenu 2"/>
          <p:cNvSpPr>
            <a:spLocks noGrp="1"/>
          </p:cNvSpPr>
          <p:nvPr>
            <p:ph idx="1"/>
          </p:nvPr>
        </p:nvSpPr>
        <p:spPr>
          <a:xfrm>
            <a:off x="882869" y="2103121"/>
            <a:ext cx="10394731" cy="4023043"/>
          </a:xfrm>
        </p:spPr>
        <p:txBody>
          <a:bodyPr>
            <a:normAutofit/>
          </a:bodyPr>
          <a:lstStyle/>
          <a:p>
            <a:pPr marL="0" indent="0">
              <a:buNone/>
            </a:pPr>
            <a:r>
              <a:rPr lang="fr-CA" dirty="0"/>
              <a:t>Déménageurs Ltée a conclu un contrat portant sur la réalisation d'un déménagement clés en main avec un client qui déménage de Halifax à Vancouver. En vertu du contrat, Déménageurs doit ainsi offrir de nombreux services, y compris l'emballage et le chargement du mobilier et des électroménagers, la mise au rebut des biens à jeter, le nettoyage de la résidence de Halifax, le transport du mobilier et des électroménagers de Halifax à Vancouver, et leur chargement dans la résidence de Vancouver.</a:t>
            </a:r>
            <a:endParaRPr lang="fr-CA" sz="2400" dirty="0"/>
          </a:p>
        </p:txBody>
      </p:sp>
      <p:sp>
        <p:nvSpPr>
          <p:cNvPr id="4" name="Espace réservé du pied de page 3">
            <a:extLst>
              <a:ext uri="{FF2B5EF4-FFF2-40B4-BE49-F238E27FC236}">
                <a16:creationId xmlns:a16="http://schemas.microsoft.com/office/drawing/2014/main" id="{337B2962-174D-4814-B8FD-B99314B6153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9F6956D-EA4A-4CFB-93B8-D05202518681}"/>
              </a:ext>
            </a:extLst>
          </p:cNvPr>
          <p:cNvSpPr>
            <a:spLocks noGrp="1"/>
          </p:cNvSpPr>
          <p:nvPr>
            <p:ph type="sldNum" sz="quarter" idx="12"/>
          </p:nvPr>
        </p:nvSpPr>
        <p:spPr/>
        <p:txBody>
          <a:bodyPr/>
          <a:lstStyle/>
          <a:p>
            <a:fld id="{B407F3FA-7E18-4DCE-B6E1-AF2F18B1E770}" type="slidenum">
              <a:rPr lang="fr-FR" smtClean="0"/>
              <a:t>76</a:t>
            </a:fld>
            <a:endParaRPr lang="fr-FR"/>
          </a:p>
        </p:txBody>
      </p:sp>
    </p:spTree>
    <p:extLst>
      <p:ext uri="{BB962C8B-B14F-4D97-AF65-F5344CB8AC3E}">
        <p14:creationId xmlns:p14="http://schemas.microsoft.com/office/powerpoint/2010/main" val="4209984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234440"/>
            <a:ext cx="10515600" cy="5121910"/>
          </a:xfrm>
        </p:spPr>
        <p:txBody>
          <a:bodyPr>
            <a:normAutofit/>
          </a:bodyPr>
          <a:lstStyle/>
          <a:p>
            <a:r>
              <a:rPr lang="fr-CA" sz="1900" dirty="0"/>
              <a:t>Selon l'accord de vente, Déménageurs doit réaliser plusieurs actes. </a:t>
            </a:r>
          </a:p>
          <a:p>
            <a:r>
              <a:rPr lang="fr-CA" sz="1900" dirty="0"/>
              <a:t>Déménageurs doit utiliser la méthode qui traduit le mieux la relation entre les produits et le travail accompli </a:t>
            </a:r>
          </a:p>
          <a:p>
            <a:r>
              <a:rPr lang="fr-CA" sz="1900" dirty="0"/>
              <a:t>Il n'est peut-être pas fiable, ni même acceptable dans le contexte des critères généraux de constatation des produits, de comptabiliser des produits au moment de la réalisation des actes, notamment pour les raisons suivantes </a:t>
            </a:r>
          </a:p>
          <a:p>
            <a:pPr marL="536575" indent="-182563"/>
            <a:r>
              <a:rPr lang="fr-CA" sz="1900" dirty="0"/>
              <a:t>Si Déménageurs n'exécute pas l'acte final qui consiste à livrer et à charger le mobilier et les électroménagers dans la résidence de Vancouver, l'entreprise pourrait ne pas être en mesure de recouvrer quelque contrepartie que ce soit du client. En fait, Déménageurs s'expose à une perte possible si le mobilier ou les électroménagers sont endommagés. Le client doit accepter la livraison avant que Déménageurs puisse constater des produits dans le cadre d'un accord de vente de cette nature.</a:t>
            </a:r>
          </a:p>
          <a:p>
            <a:pPr marL="536575" indent="-182563"/>
            <a:r>
              <a:rPr lang="fr-CA" sz="1900" dirty="0"/>
              <a:t>Il est prématuré de constater des produits au moment de la réalisation de chaque acte car Déménageurs comptabiliserait ainsi un actif «éventuel» (c.-à-d. qu'aucun paiement n'est dû de la part du client ou ne peut être recouvré de ce dernier tant que le mobilier et les électroménagers n'ont pas tous été déchargés dans la résidence de Vancouver).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77</a:t>
            </a:fld>
            <a:endParaRPr lang="fr-FR"/>
          </a:p>
        </p:txBody>
      </p:sp>
      <p:sp>
        <p:nvSpPr>
          <p:cNvPr id="5" name="Espace réservé du pied de page 4">
            <a:extLst>
              <a:ext uri="{FF2B5EF4-FFF2-40B4-BE49-F238E27FC236}">
                <a16:creationId xmlns:a16="http://schemas.microsoft.com/office/drawing/2014/main" id="{806F9059-07E8-4214-A5EF-EE6F7718A0F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544922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847528" y="365127"/>
            <a:ext cx="8694012" cy="1325563"/>
          </a:xfrm>
        </p:spPr>
        <p:txBody>
          <a:bodyPr>
            <a:noAutofit/>
          </a:bodyPr>
          <a:lstStyle/>
          <a:p>
            <a:pPr algn="ctr"/>
            <a:r>
              <a:rPr lang="fr-CA" sz="3200" dirty="0"/>
              <a:t>Produits - contrats à long terme </a:t>
            </a:r>
            <a:br>
              <a:rPr lang="fr-CA" sz="3200" dirty="0"/>
            </a:br>
            <a:r>
              <a:rPr lang="fr-CA" sz="3200" dirty="0"/>
              <a:t>Méthode de l’achèvement des travaux – exemple 2</a:t>
            </a:r>
          </a:p>
        </p:txBody>
      </p:sp>
      <p:sp>
        <p:nvSpPr>
          <p:cNvPr id="3" name="Espace réservé du contenu 2"/>
          <p:cNvSpPr>
            <a:spLocks noGrp="1"/>
          </p:cNvSpPr>
          <p:nvPr>
            <p:ph idx="1"/>
          </p:nvPr>
        </p:nvSpPr>
        <p:spPr>
          <a:xfrm>
            <a:off x="903890" y="2060849"/>
            <a:ext cx="10449910" cy="4065315"/>
          </a:xfrm>
        </p:spPr>
        <p:txBody>
          <a:bodyPr>
            <a:normAutofit fontScale="92500" lnSpcReduction="10000"/>
          </a:bodyPr>
          <a:lstStyle/>
          <a:p>
            <a:pPr marL="0" indent="0">
              <a:buNone/>
            </a:pPr>
            <a:r>
              <a:rPr lang="fr-CA" dirty="0"/>
              <a:t>Le 22 mars 2020, Constructeur conclut un contrat portant sur la construction d'un immeuble commercial. Le contrat est de 1 000 000 $ et les coûts estimatifs totaux, de 750 000 $. La fin d'exercice de Constructeur est le 31 décembre. </a:t>
            </a:r>
          </a:p>
          <a:p>
            <a:pPr marL="0" indent="0">
              <a:buNone/>
            </a:pPr>
            <a:r>
              <a:rPr lang="fr-CA" dirty="0"/>
              <a:t>Au 31 décembre 2020, les coûts engagés s'élèvent à 450 000 $ et le montant facturé, à 500 000 $. </a:t>
            </a:r>
          </a:p>
          <a:p>
            <a:pPr marL="0" indent="0">
              <a:buNone/>
            </a:pPr>
            <a:r>
              <a:rPr lang="fr-CA" dirty="0"/>
              <a:t>En 2021, des coûts supplémentaires de 300 000 $ sont engagés et un autre montant de 500 000 $ est facturé. À la fin de 2021, la construction est achevée et l'immeuble est livré au client. </a:t>
            </a:r>
            <a:r>
              <a:rPr lang="fr-CA" dirty="0">
                <a:solidFill>
                  <a:srgbClr val="0070C0"/>
                </a:solidFill>
              </a:rPr>
              <a:t>Il y a lieu cependant de noter que Constructeur a déterminé qu'il ne peut évaluer l'avancement de la construction en fonction des coûts.</a:t>
            </a:r>
          </a:p>
          <a:p>
            <a:pPr marL="0" indent="0">
              <a:buNone/>
            </a:pPr>
            <a:endParaRPr lang="fr-CA" dirty="0"/>
          </a:p>
        </p:txBody>
      </p:sp>
      <p:sp>
        <p:nvSpPr>
          <p:cNvPr id="4" name="Espace réservé du pied de page 3">
            <a:extLst>
              <a:ext uri="{FF2B5EF4-FFF2-40B4-BE49-F238E27FC236}">
                <a16:creationId xmlns:a16="http://schemas.microsoft.com/office/drawing/2014/main" id="{E83E8CA5-E4E6-4BF9-9CDB-B00E8CE1395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5B96624-CF78-44A6-9CF5-5DB214236093}"/>
              </a:ext>
            </a:extLst>
          </p:cNvPr>
          <p:cNvSpPr>
            <a:spLocks noGrp="1"/>
          </p:cNvSpPr>
          <p:nvPr>
            <p:ph type="sldNum" sz="quarter" idx="12"/>
          </p:nvPr>
        </p:nvSpPr>
        <p:spPr/>
        <p:txBody>
          <a:bodyPr/>
          <a:lstStyle/>
          <a:p>
            <a:fld id="{B407F3FA-7E18-4DCE-B6E1-AF2F18B1E770}" type="slidenum">
              <a:rPr lang="fr-FR" smtClean="0"/>
              <a:t>78</a:t>
            </a:fld>
            <a:endParaRPr lang="fr-FR"/>
          </a:p>
        </p:txBody>
      </p:sp>
    </p:spTree>
    <p:extLst>
      <p:ext uri="{BB962C8B-B14F-4D97-AF65-F5344CB8AC3E}">
        <p14:creationId xmlns:p14="http://schemas.microsoft.com/office/powerpoint/2010/main" val="14762948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417638"/>
            <a:ext cx="10515600" cy="5028882"/>
          </a:xfrm>
        </p:spPr>
        <p:txBody>
          <a:bodyPr>
            <a:normAutofit fontScale="92500" lnSpcReduction="20000"/>
          </a:bodyPr>
          <a:lstStyle/>
          <a:p>
            <a:r>
              <a:rPr lang="fr-CA" dirty="0"/>
              <a:t>Même exemple que précédemment sauf que l'avancement des travaux ne peut être estimé</a:t>
            </a:r>
          </a:p>
          <a:p>
            <a:pPr lvl="1"/>
            <a:r>
              <a:rPr lang="fr-CA" dirty="0"/>
              <a:t>Constructeur doit utiliser méthode de l'achèvement des travaux. </a:t>
            </a:r>
          </a:p>
          <a:p>
            <a:r>
              <a:rPr lang="fr-CA" dirty="0"/>
              <a:t>Pendant l'exercice 2020, les coûts sont cumulés dans un compte d'actif appelé «produits en cours» ou « travaux en cours » et les créances dans le compte passif « facturation` »</a:t>
            </a:r>
          </a:p>
          <a:p>
            <a:pPr marL="0" indent="0">
              <a:buNone/>
            </a:pPr>
            <a:endParaRPr lang="fr-CA" dirty="0"/>
          </a:p>
          <a:p>
            <a:pPr marL="0" indent="0">
              <a:spcBef>
                <a:spcPts val="0"/>
              </a:spcBef>
              <a:buNone/>
              <a:defRPr/>
            </a:pPr>
            <a:r>
              <a:rPr lang="fr-CA" dirty="0"/>
              <a:t>À la fin de 2021, comme l'exécution du contrat est achevée, les comptes Travaux en cours et Facturation doivent être annulés et remplacés par les comptes de produits et de charges, de la façon suivante :</a:t>
            </a:r>
          </a:p>
          <a:p>
            <a:pPr marL="0" indent="0">
              <a:spcBef>
                <a:spcPts val="0"/>
              </a:spcBef>
              <a:buNone/>
              <a:defRPr/>
            </a:pPr>
            <a:r>
              <a:rPr lang="fr-CA" dirty="0"/>
              <a:t>Facturation    1 000 000</a:t>
            </a:r>
          </a:p>
          <a:p>
            <a:pPr marL="0" indent="0">
              <a:spcBef>
                <a:spcPts val="0"/>
              </a:spcBef>
              <a:buNone/>
              <a:defRPr/>
            </a:pPr>
            <a:r>
              <a:rPr lang="fr-CA" dirty="0"/>
              <a:t>@Produits                 1 000 000</a:t>
            </a:r>
          </a:p>
          <a:p>
            <a:pPr marL="0" indent="0">
              <a:spcBef>
                <a:spcPts val="0"/>
              </a:spcBef>
              <a:buNone/>
              <a:defRPr/>
            </a:pPr>
            <a:endParaRPr lang="fr-CA" dirty="0"/>
          </a:p>
          <a:p>
            <a:pPr marL="0" indent="0">
              <a:spcBef>
                <a:spcPts val="0"/>
              </a:spcBef>
              <a:buNone/>
              <a:defRPr/>
            </a:pPr>
            <a:r>
              <a:rPr lang="fr-CA" dirty="0"/>
              <a:t>Charges             750 000</a:t>
            </a:r>
          </a:p>
          <a:p>
            <a:pPr marL="0" indent="0">
              <a:spcBef>
                <a:spcPts val="0"/>
              </a:spcBef>
              <a:buNone/>
              <a:defRPr/>
            </a:pPr>
            <a:r>
              <a:rPr lang="fr-CA" dirty="0"/>
              <a:t>@PEC                           750 000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79</a:t>
            </a:fld>
            <a:endParaRPr lang="fr-FR"/>
          </a:p>
        </p:txBody>
      </p:sp>
      <p:sp>
        <p:nvSpPr>
          <p:cNvPr id="5" name="Espace réservé du pied de page 4">
            <a:extLst>
              <a:ext uri="{FF2B5EF4-FFF2-40B4-BE49-F238E27FC236}">
                <a16:creationId xmlns:a16="http://schemas.microsoft.com/office/drawing/2014/main" id="{3FEF8397-C065-40FE-87F6-971E9A06F09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646844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199" y="764704"/>
            <a:ext cx="10515599" cy="652934"/>
          </a:xfrm>
        </p:spPr>
        <p:txBody>
          <a:bodyPr>
            <a:normAutofit fontScale="90000"/>
          </a:bodyPr>
          <a:lstStyle/>
          <a:p>
            <a:r>
              <a:rPr lang="fr-CA" sz="4000" dirty="0"/>
              <a:t>Produits – accords spéciaux</a:t>
            </a:r>
            <a:br>
              <a:rPr lang="fr-CA" sz="4000" dirty="0"/>
            </a:br>
            <a:r>
              <a:rPr lang="fr-CA" sz="4000" dirty="0"/>
              <a:t>Opérations comportant plusieurs éléments</a:t>
            </a:r>
            <a:br>
              <a:rPr lang="fr-CA" dirty="0"/>
            </a:br>
            <a:endParaRPr lang="fr-CA" dirty="0"/>
          </a:p>
        </p:txBody>
      </p:sp>
      <p:sp>
        <p:nvSpPr>
          <p:cNvPr id="3" name="Espace réservé du contenu 2"/>
          <p:cNvSpPr>
            <a:spLocks noGrp="1"/>
          </p:cNvSpPr>
          <p:nvPr>
            <p:ph idx="1"/>
          </p:nvPr>
        </p:nvSpPr>
        <p:spPr/>
        <p:txBody>
          <a:bodyPr/>
          <a:lstStyle/>
          <a:p>
            <a:pPr marL="0" indent="0">
              <a:buNone/>
            </a:pPr>
            <a:r>
              <a:rPr lang="fr-CA" dirty="0"/>
              <a:t>Unité de comptabilisation</a:t>
            </a:r>
          </a:p>
          <a:p>
            <a:pPr marL="0" indent="0">
              <a:buNone/>
            </a:pPr>
            <a:r>
              <a:rPr lang="fr-CA" dirty="0"/>
              <a:t>Une même opération peut comporter plusieurs éléments, comme différents biens, différents services ou une combinaison de différents biens et services. Il faut alors déterminer si les critères de constatation des produits doivent être appliqués à l'opération dans son ensemble ou à des éléments distincts de l'opération.</a:t>
            </a:r>
          </a:p>
          <a:p>
            <a:pPr>
              <a:buFont typeface="Wingdings" panose="05000000000000000000" pitchFamily="2" charset="2"/>
              <a:buChar char="Ø"/>
            </a:pPr>
            <a:r>
              <a:rPr lang="fr-CA" dirty="0"/>
              <a:t>Éléments isolables</a:t>
            </a:r>
          </a:p>
        </p:txBody>
      </p:sp>
      <p:sp>
        <p:nvSpPr>
          <p:cNvPr id="4" name="Espace réservé du pied de page 3">
            <a:extLst>
              <a:ext uri="{FF2B5EF4-FFF2-40B4-BE49-F238E27FC236}">
                <a16:creationId xmlns:a16="http://schemas.microsoft.com/office/drawing/2014/main" id="{51C4E942-7794-49FF-BF51-2ADC62F92483}"/>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EF19F5E-EA74-4E28-8079-C7C884F4729B}"/>
              </a:ext>
            </a:extLst>
          </p:cNvPr>
          <p:cNvSpPr>
            <a:spLocks noGrp="1"/>
          </p:cNvSpPr>
          <p:nvPr>
            <p:ph type="sldNum" sz="quarter" idx="12"/>
          </p:nvPr>
        </p:nvSpPr>
        <p:spPr/>
        <p:txBody>
          <a:bodyPr/>
          <a:lstStyle/>
          <a:p>
            <a:fld id="{B407F3FA-7E18-4DCE-B6E1-AF2F18B1E770}" type="slidenum">
              <a:rPr lang="fr-FR" smtClean="0"/>
              <a:t>80</a:t>
            </a:fld>
            <a:endParaRPr lang="fr-FR"/>
          </a:p>
        </p:txBody>
      </p:sp>
    </p:spTree>
    <p:extLst>
      <p:ext uri="{BB962C8B-B14F-4D97-AF65-F5344CB8AC3E}">
        <p14:creationId xmlns:p14="http://schemas.microsoft.com/office/powerpoint/2010/main" val="13480031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703512" y="274638"/>
            <a:ext cx="8964488" cy="1143000"/>
          </a:xfrm>
        </p:spPr>
        <p:txBody>
          <a:bodyPr>
            <a:noAutofit/>
          </a:bodyPr>
          <a:lstStyle/>
          <a:p>
            <a:pPr algn="ctr"/>
            <a:r>
              <a:rPr lang="fr-CA" sz="3600" dirty="0"/>
              <a:t>Produits – accords spéciaux</a:t>
            </a:r>
            <a:br>
              <a:rPr lang="fr-CA" sz="3600" dirty="0"/>
            </a:br>
            <a:r>
              <a:rPr lang="fr-CA" sz="3600" dirty="0"/>
              <a:t>Opérations avec plusieurs éléments - exemple</a:t>
            </a:r>
          </a:p>
        </p:txBody>
      </p:sp>
      <p:sp>
        <p:nvSpPr>
          <p:cNvPr id="3" name="Espace réservé du contenu 2"/>
          <p:cNvSpPr>
            <a:spLocks noGrp="1"/>
          </p:cNvSpPr>
          <p:nvPr>
            <p:ph idx="1"/>
          </p:nvPr>
        </p:nvSpPr>
        <p:spPr>
          <a:xfrm>
            <a:off x="838200" y="1825625"/>
            <a:ext cx="10515600" cy="4672452"/>
          </a:xfrm>
        </p:spPr>
        <p:txBody>
          <a:bodyPr>
            <a:normAutofit fontScale="85000" lnSpcReduction="10000"/>
          </a:bodyPr>
          <a:lstStyle/>
          <a:p>
            <a:pPr marL="0" indent="0">
              <a:buNone/>
            </a:pPr>
            <a:r>
              <a:rPr lang="fr-CA" dirty="0"/>
              <a:t>Mistral vend une imprimante spécialisée dont le coût est de 30 000 $, au prix de 50 000 $, aux conditions suivantes :</a:t>
            </a:r>
          </a:p>
          <a:p>
            <a:r>
              <a:rPr lang="fr-CA" dirty="0"/>
              <a:t>Une garantie courante de 1 000 $ est accordée à l'égard de tout défaut pendant une période d'un an.</a:t>
            </a:r>
          </a:p>
          <a:p>
            <a:r>
              <a:rPr lang="fr-CA" dirty="0"/>
              <a:t>Une extension de garantie de cinq ans est offerte pour les services de réparation.</a:t>
            </a:r>
          </a:p>
          <a:p>
            <a:r>
              <a:rPr lang="fr-CA" dirty="0"/>
              <a:t>L'imprimante et l'extension de garantie peuvent être achetées ensemble à rabais.</a:t>
            </a:r>
          </a:p>
          <a:p>
            <a:pPr marL="0" indent="0">
              <a:buNone/>
            </a:pPr>
            <a:r>
              <a:rPr lang="fr-CA" dirty="0"/>
              <a:t>Il y a ici trois accords de vente :</a:t>
            </a:r>
          </a:p>
          <a:p>
            <a:pPr marL="0" indent="0">
              <a:buNone/>
            </a:pPr>
            <a:r>
              <a:rPr lang="fr-CA" dirty="0"/>
              <a:t>Accord 1 : Vente d'une imprimante spécialisée seulement au prix de 50 000 $</a:t>
            </a:r>
          </a:p>
          <a:p>
            <a:pPr marL="0" indent="0">
              <a:buNone/>
            </a:pPr>
            <a:r>
              <a:rPr lang="fr-CA" dirty="0"/>
              <a:t>Accord 2 : Vente de l'extension de garantie seulement au prix de 15 000 $</a:t>
            </a:r>
          </a:p>
          <a:p>
            <a:pPr marL="0" indent="0">
              <a:buNone/>
            </a:pPr>
            <a:r>
              <a:rPr lang="fr-CA" dirty="0"/>
              <a:t>Accord 3 : Vente d'une imprimante spécialisée et d'une extension de garantie au prix de 60 000 $ (un rabais de 5 000 $ est accordé au client pour l'achat de l'imprimante et de la garantie)</a:t>
            </a:r>
          </a:p>
          <a:p>
            <a:pPr marL="0" indent="0">
              <a:buNone/>
            </a:pPr>
            <a:endParaRPr lang="fr-CA" dirty="0"/>
          </a:p>
        </p:txBody>
      </p:sp>
      <p:sp>
        <p:nvSpPr>
          <p:cNvPr id="4" name="Espace réservé du pied de page 3">
            <a:extLst>
              <a:ext uri="{FF2B5EF4-FFF2-40B4-BE49-F238E27FC236}">
                <a16:creationId xmlns:a16="http://schemas.microsoft.com/office/drawing/2014/main" id="{6D5BB538-E579-4E16-9F95-B28C3BFCD97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92489D8-9A46-41BF-BB92-6ADFD3478837}"/>
              </a:ext>
            </a:extLst>
          </p:cNvPr>
          <p:cNvSpPr>
            <a:spLocks noGrp="1"/>
          </p:cNvSpPr>
          <p:nvPr>
            <p:ph type="sldNum" sz="quarter" idx="12"/>
          </p:nvPr>
        </p:nvSpPr>
        <p:spPr/>
        <p:txBody>
          <a:bodyPr/>
          <a:lstStyle/>
          <a:p>
            <a:fld id="{B407F3FA-7E18-4DCE-B6E1-AF2F18B1E770}" type="slidenum">
              <a:rPr lang="fr-FR" smtClean="0"/>
              <a:t>81</a:t>
            </a:fld>
            <a:endParaRPr lang="fr-FR"/>
          </a:p>
        </p:txBody>
      </p:sp>
    </p:spTree>
    <p:extLst>
      <p:ext uri="{BB962C8B-B14F-4D97-AF65-F5344CB8AC3E}">
        <p14:creationId xmlns:p14="http://schemas.microsoft.com/office/powerpoint/2010/main" val="30399993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325881"/>
            <a:ext cx="10515600" cy="4800283"/>
          </a:xfrm>
        </p:spPr>
        <p:txBody>
          <a:bodyPr>
            <a:normAutofit fontScale="92500"/>
          </a:bodyPr>
          <a:lstStyle/>
          <a:p>
            <a:pPr marL="0" indent="0">
              <a:buNone/>
            </a:pPr>
            <a:r>
              <a:rPr lang="fr-CA" sz="2600" b="1" dirty="0"/>
              <a:t>Accord 1 : Vente d'une imprimante spécialisée seulement au prix de 50 000 $</a:t>
            </a:r>
          </a:p>
          <a:p>
            <a:pPr marL="0" indent="0">
              <a:buNone/>
            </a:pPr>
            <a:r>
              <a:rPr lang="fr-CA" sz="2600" dirty="0"/>
              <a:t>Mistral constate les produits découlant de la vente de l'imprimante et comptabilise simultanément les coûts prévus de réparation associés à la garantie courante. </a:t>
            </a:r>
          </a:p>
          <a:p>
            <a:pPr marL="0" indent="0">
              <a:buNone/>
            </a:pPr>
            <a:endParaRPr lang="fr-CA" sz="2600" dirty="0"/>
          </a:p>
          <a:p>
            <a:pPr marL="0" indent="0">
              <a:spcBef>
                <a:spcPts val="0"/>
              </a:spcBef>
              <a:buNone/>
              <a:defRPr/>
            </a:pPr>
            <a:endParaRPr lang="fr-CA" sz="2600" dirty="0"/>
          </a:p>
          <a:p>
            <a:pPr marL="0" indent="0">
              <a:spcBef>
                <a:spcPts val="0"/>
              </a:spcBef>
              <a:buNone/>
              <a:defRPr/>
            </a:pPr>
            <a:r>
              <a:rPr lang="fr-CA" sz="2600" b="1" dirty="0"/>
              <a:t>Accord 2 : Vente de l'extension de garantie seulement au prix de 15 000 $</a:t>
            </a:r>
          </a:p>
          <a:p>
            <a:pPr marL="0" indent="0">
              <a:spcBef>
                <a:spcPts val="0"/>
              </a:spcBef>
              <a:buNone/>
              <a:defRPr/>
            </a:pPr>
            <a:r>
              <a:rPr lang="fr-CA" sz="2600" dirty="0"/>
              <a:t>Mistral constate les produits de façon linéaire puisqu'un nombre indéterminé d'actes doivent être accomplis sur une période de cinq ans. D'autres méthodes, comme la méthode de l'avancement des travaux (c.-à-d., constater des produits en proportion des coûts réellement engagés par rapport aux coûts estimatifs totaux associés au contrat de garantie) ou la méthode de l'achèvement des travaux (c.-à-d. constater le plein montant des produits à la fin de la période de cinq ans), ne reflètent pas mieux la performance.</a:t>
            </a:r>
          </a:p>
          <a:p>
            <a:pPr marL="0" indent="0">
              <a:spcBef>
                <a:spcPts val="0"/>
              </a:spcBef>
              <a:buNone/>
              <a:defRPr/>
            </a:pPr>
            <a:endParaRPr lang="fr-CA" sz="2600"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82</a:t>
            </a:fld>
            <a:endParaRPr lang="fr-FR"/>
          </a:p>
        </p:txBody>
      </p:sp>
      <p:sp>
        <p:nvSpPr>
          <p:cNvPr id="5" name="Espace réservé du pied de page 4">
            <a:extLst>
              <a:ext uri="{FF2B5EF4-FFF2-40B4-BE49-F238E27FC236}">
                <a16:creationId xmlns:a16="http://schemas.microsoft.com/office/drawing/2014/main" id="{36FF4273-3A81-415D-9059-2ACD3530360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367519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325881"/>
            <a:ext cx="10515600" cy="4800283"/>
          </a:xfrm>
        </p:spPr>
        <p:txBody>
          <a:bodyPr>
            <a:normAutofit/>
          </a:bodyPr>
          <a:lstStyle/>
          <a:p>
            <a:pPr marL="0" indent="0">
              <a:buNone/>
            </a:pPr>
            <a:r>
              <a:rPr lang="fr-CA" sz="2400" b="1" dirty="0"/>
              <a:t>Accord 3 : Vente d'une imprimante spécialisée et d'une extension de garantie au prix de 60 000 $</a:t>
            </a:r>
          </a:p>
          <a:p>
            <a:pPr marL="0" indent="0">
              <a:buNone/>
            </a:pPr>
            <a:r>
              <a:rPr lang="fr-CA" sz="2400" dirty="0"/>
              <a:t>Cet accord de vente comporte deux composantes :</a:t>
            </a:r>
          </a:p>
          <a:p>
            <a:pPr marL="0" indent="0">
              <a:buNone/>
            </a:pPr>
            <a:r>
              <a:rPr lang="fr-CA" sz="2400" dirty="0"/>
              <a:t>1)     vente d'une imprimante spécialisée</a:t>
            </a:r>
          </a:p>
          <a:p>
            <a:pPr marL="0" indent="0">
              <a:buNone/>
            </a:pPr>
            <a:r>
              <a:rPr lang="fr-CA" sz="2400" dirty="0"/>
              <a:t>2)     vente d'une extension de garantie.</a:t>
            </a:r>
          </a:p>
          <a:p>
            <a:pPr marL="0" indent="0">
              <a:buNone/>
            </a:pPr>
            <a:endParaRPr lang="fr-CA" sz="2400" dirty="0"/>
          </a:p>
          <a:p>
            <a:pPr marL="0" indent="0">
              <a:buNone/>
            </a:pPr>
            <a:r>
              <a:rPr lang="fr-CA" sz="2400" dirty="0"/>
              <a:t>Mistral peut répartir le montant total payé par le client en fonction du prix de vente de chaque composante de la façon suivante :</a:t>
            </a:r>
          </a:p>
          <a:p>
            <a:pPr marL="0" indent="0">
              <a:buNone/>
            </a:pPr>
            <a:r>
              <a:rPr lang="fr-CA" sz="2400" dirty="0"/>
              <a:t>Prix de vente attribué à l'imprimante : 60 000 $ × 50 000 $ / 65 000 $ = 46 154 $</a:t>
            </a:r>
          </a:p>
          <a:p>
            <a:pPr marL="0" indent="0">
              <a:buNone/>
            </a:pPr>
            <a:r>
              <a:rPr lang="fr-CA" sz="2400" dirty="0"/>
              <a:t>Prix de vente attribué à l'extension de garantie : 60 000 $ × 15 000 $ / 65 000 $ = 13 846 $</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83</a:t>
            </a:fld>
            <a:endParaRPr lang="fr-FR"/>
          </a:p>
        </p:txBody>
      </p:sp>
      <p:sp>
        <p:nvSpPr>
          <p:cNvPr id="5" name="Espace réservé du pied de page 4">
            <a:extLst>
              <a:ext uri="{FF2B5EF4-FFF2-40B4-BE49-F238E27FC236}">
                <a16:creationId xmlns:a16="http://schemas.microsoft.com/office/drawing/2014/main" id="{36FF4273-3A81-415D-9059-2ACD3530360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9291175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accords spéciaux</a:t>
            </a:r>
            <a:br>
              <a:rPr lang="fr-CA" sz="4000" dirty="0"/>
            </a:br>
            <a:r>
              <a:rPr lang="fr-CA" sz="4000" dirty="0"/>
              <a:t>Paiements reportés</a:t>
            </a:r>
            <a:endParaRPr lang="fr-CA" dirty="0"/>
          </a:p>
        </p:txBody>
      </p:sp>
      <p:sp>
        <p:nvSpPr>
          <p:cNvPr id="3" name="Espace réservé du contenu 2"/>
          <p:cNvSpPr>
            <a:spLocks noGrp="1"/>
          </p:cNvSpPr>
          <p:nvPr>
            <p:ph idx="1"/>
          </p:nvPr>
        </p:nvSpPr>
        <p:spPr/>
        <p:txBody>
          <a:bodyPr/>
          <a:lstStyle/>
          <a:p>
            <a:r>
              <a:rPr lang="fr-CA" dirty="0"/>
              <a:t>Il est nécessaire d'examiner attentivement les accords de vente comportant des modalités de paiement qui diffèrent considérablement des modalités habituelles du vendeur. </a:t>
            </a:r>
          </a:p>
          <a:p>
            <a:pPr marL="0" indent="0">
              <a:buNone/>
            </a:pPr>
            <a:endParaRPr lang="fr-CA" dirty="0"/>
          </a:p>
          <a:p>
            <a:r>
              <a:rPr lang="fr-CA" dirty="0"/>
              <a:t>Selon les circonstances, l'accord de vente peut représenter une vente en consignation ou une opération de financement.</a:t>
            </a:r>
          </a:p>
        </p:txBody>
      </p:sp>
      <p:sp>
        <p:nvSpPr>
          <p:cNvPr id="4" name="Espace réservé du pied de page 3">
            <a:extLst>
              <a:ext uri="{FF2B5EF4-FFF2-40B4-BE49-F238E27FC236}">
                <a16:creationId xmlns:a16="http://schemas.microsoft.com/office/drawing/2014/main" id="{525706D7-1452-4084-A223-F064506F433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93F261A-F243-4768-8C56-403A511538A8}"/>
              </a:ext>
            </a:extLst>
          </p:cNvPr>
          <p:cNvSpPr>
            <a:spLocks noGrp="1"/>
          </p:cNvSpPr>
          <p:nvPr>
            <p:ph type="sldNum" sz="quarter" idx="12"/>
          </p:nvPr>
        </p:nvSpPr>
        <p:spPr/>
        <p:txBody>
          <a:bodyPr/>
          <a:lstStyle/>
          <a:p>
            <a:fld id="{B407F3FA-7E18-4DCE-B6E1-AF2F18B1E770}" type="slidenum">
              <a:rPr lang="fr-FR" smtClean="0"/>
              <a:t>84</a:t>
            </a:fld>
            <a:endParaRPr lang="fr-FR"/>
          </a:p>
        </p:txBody>
      </p:sp>
    </p:spTree>
    <p:extLst>
      <p:ext uri="{BB962C8B-B14F-4D97-AF65-F5344CB8AC3E}">
        <p14:creationId xmlns:p14="http://schemas.microsoft.com/office/powerpoint/2010/main" val="14547888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Produits – accords spéciaux</a:t>
            </a:r>
            <a:br>
              <a:rPr lang="fr-CA" sz="3600" dirty="0"/>
            </a:br>
            <a:r>
              <a:rPr lang="fr-CA" sz="3600" dirty="0"/>
              <a:t>Paiements reportés – exemple 1</a:t>
            </a:r>
            <a:endParaRPr lang="fr-CA" dirty="0"/>
          </a:p>
        </p:txBody>
      </p:sp>
      <p:sp>
        <p:nvSpPr>
          <p:cNvPr id="3" name="Espace réservé du contenu 2"/>
          <p:cNvSpPr>
            <a:spLocks noGrp="1"/>
          </p:cNvSpPr>
          <p:nvPr>
            <p:ph idx="1"/>
          </p:nvPr>
        </p:nvSpPr>
        <p:spPr>
          <a:xfrm>
            <a:off x="838200" y="1771650"/>
            <a:ext cx="10515600" cy="4583430"/>
          </a:xfrm>
        </p:spPr>
        <p:txBody>
          <a:bodyPr>
            <a:normAutofit fontScale="85000" lnSpcReduction="20000"/>
          </a:bodyPr>
          <a:lstStyle/>
          <a:p>
            <a:pPr marL="0" indent="0">
              <a:buNone/>
            </a:pPr>
            <a:r>
              <a:rPr lang="fr-CA" dirty="0"/>
              <a:t>Ferme vend du matériel agricole spécialisé à des distributeurs et agriculteurs. En 20X4, la société conclut deux accords de vente qui comportent des conditions différentes de ses politiques habituelles en matière de crédit et qui prévoient un paiement complet 60 jours après la livraison du matériel.</a:t>
            </a:r>
          </a:p>
          <a:p>
            <a:pPr marL="0" indent="0">
              <a:buNone/>
            </a:pPr>
            <a:endParaRPr lang="fr-CA" dirty="0"/>
          </a:p>
          <a:p>
            <a:pPr marL="0" indent="0">
              <a:buNone/>
            </a:pPr>
            <a:r>
              <a:rPr lang="fr-CA" dirty="0"/>
              <a:t>Accord 1 : vente à un agriculteur en échange d'un billet deux ans payable par versements</a:t>
            </a:r>
          </a:p>
          <a:p>
            <a:pPr marL="0" indent="0">
              <a:buNone/>
            </a:pPr>
            <a:endParaRPr lang="fr-CA" dirty="0"/>
          </a:p>
          <a:p>
            <a:pPr marL="0" indent="0">
              <a:buNone/>
            </a:pPr>
            <a:r>
              <a:rPr lang="fr-CA" dirty="0"/>
              <a:t>Accord 2 : vente à un distributeur qui paiera le montant dû lors de la revente à un client, donc à n'importe quel moment au cours d'une période maximale de deux ans. </a:t>
            </a:r>
          </a:p>
          <a:p>
            <a:pPr marL="0" indent="0">
              <a:buNone/>
            </a:pPr>
            <a:endParaRPr lang="fr-CA" dirty="0"/>
          </a:p>
          <a:p>
            <a:pPr marL="0" indent="0">
              <a:buNone/>
            </a:pPr>
            <a:r>
              <a:rPr lang="fr-CA" dirty="0"/>
              <a:t>Aucun intérêt n'est exigé à l'égard du solde impayé avant l'échéance de la période de deux ans</a:t>
            </a:r>
          </a:p>
        </p:txBody>
      </p:sp>
      <p:sp>
        <p:nvSpPr>
          <p:cNvPr id="4" name="Espace réservé du pied de page 3">
            <a:extLst>
              <a:ext uri="{FF2B5EF4-FFF2-40B4-BE49-F238E27FC236}">
                <a16:creationId xmlns:a16="http://schemas.microsoft.com/office/drawing/2014/main" id="{4D0C61E3-A2CD-47D0-BD57-CC536D3DC34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AF04B69-0636-4931-9908-33D28F3834EC}"/>
              </a:ext>
            </a:extLst>
          </p:cNvPr>
          <p:cNvSpPr>
            <a:spLocks noGrp="1"/>
          </p:cNvSpPr>
          <p:nvPr>
            <p:ph type="sldNum" sz="quarter" idx="12"/>
          </p:nvPr>
        </p:nvSpPr>
        <p:spPr/>
        <p:txBody>
          <a:bodyPr/>
          <a:lstStyle/>
          <a:p>
            <a:fld id="{B407F3FA-7E18-4DCE-B6E1-AF2F18B1E770}" type="slidenum">
              <a:rPr lang="fr-FR" smtClean="0"/>
              <a:t>85</a:t>
            </a:fld>
            <a:endParaRPr lang="fr-FR"/>
          </a:p>
        </p:txBody>
      </p:sp>
    </p:spTree>
    <p:extLst>
      <p:ext uri="{BB962C8B-B14F-4D97-AF65-F5344CB8AC3E}">
        <p14:creationId xmlns:p14="http://schemas.microsoft.com/office/powerpoint/2010/main" val="25916839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a:xfrm>
            <a:off x="838200" y="1303021"/>
            <a:ext cx="10515600" cy="4823143"/>
          </a:xfrm>
        </p:spPr>
        <p:txBody>
          <a:bodyPr>
            <a:normAutofit fontScale="77500" lnSpcReduction="20000"/>
          </a:bodyPr>
          <a:lstStyle/>
          <a:p>
            <a:pPr marL="0" indent="0">
              <a:buNone/>
            </a:pPr>
            <a:r>
              <a:rPr lang="fr-CA" dirty="0"/>
              <a:t>Le délai supplémentaire de paiement prévu dans un accord pourrait indiquer que le recouvrement de la contrepartie n'est pas raisonnablement sûr. </a:t>
            </a:r>
          </a:p>
          <a:p>
            <a:pPr marL="0" indent="0">
              <a:buNone/>
            </a:pPr>
            <a:r>
              <a:rPr lang="fr-CA" dirty="0"/>
              <a:t>Si le recouvrement est raisonnablement sûr, Ferme doit néanmoins examiner la substance de l'accord puisque les conditions de paiement diffèrent considérablement de ses conditions habituelles. </a:t>
            </a:r>
          </a:p>
          <a:p>
            <a:pPr marL="0" indent="0">
              <a:buNone/>
            </a:pPr>
            <a:endParaRPr lang="fr-CA" dirty="0"/>
          </a:p>
          <a:p>
            <a:pPr marL="0" indent="0">
              <a:buNone/>
            </a:pPr>
            <a:r>
              <a:rPr lang="fr-CA" dirty="0"/>
              <a:t>Dans le cas présent, il semble que :</a:t>
            </a:r>
          </a:p>
          <a:p>
            <a:pPr marL="0" indent="0">
              <a:buNone/>
            </a:pPr>
            <a:r>
              <a:rPr lang="fr-CA" dirty="0"/>
              <a:t>l'Accord 1 est une opération de financement suivant laquelle le client est l'utilisateur du matériel vendu et a conclu une entente de financement avec Ferme. Ferme comptabilise donc les produits au montant de la valeur actualisée de l'effet à recevoir; la différence entre ce montant et le prix de vente est comptabilisée à titre de produit d'intérêts.</a:t>
            </a:r>
          </a:p>
          <a:p>
            <a:pPr marL="0" indent="0">
              <a:buNone/>
            </a:pPr>
            <a:endParaRPr lang="fr-CA" dirty="0"/>
          </a:p>
          <a:p>
            <a:pPr marL="0" indent="0">
              <a:buNone/>
            </a:pPr>
            <a:r>
              <a:rPr lang="fr-CA" dirty="0"/>
              <a:t>l'Accord 2 est une opération de consignation puisque le distributeur ne paie qu'au moment de la vente du matériel. Dans ce cas, les produits ne sont pas constatés tant que le matériel n'est pas vendu à l'utilisateur final et que tous les autres critères de constatation des produits ne sont pas remplis.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86</a:t>
            </a:fld>
            <a:endParaRPr lang="fr-FR"/>
          </a:p>
        </p:txBody>
      </p:sp>
      <p:sp>
        <p:nvSpPr>
          <p:cNvPr id="5" name="Espace réservé du pied de page 4">
            <a:extLst>
              <a:ext uri="{FF2B5EF4-FFF2-40B4-BE49-F238E27FC236}">
                <a16:creationId xmlns:a16="http://schemas.microsoft.com/office/drawing/2014/main" id="{9D1877C4-B410-45A9-932D-A26E3A35238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812614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accords spéciaux</a:t>
            </a:r>
            <a:br>
              <a:rPr lang="fr-CA" sz="4000" dirty="0"/>
            </a:br>
            <a:r>
              <a:rPr lang="fr-CA" sz="4000" dirty="0"/>
              <a:t>Paiements initiaux</a:t>
            </a:r>
            <a:endParaRPr lang="fr-CA" dirty="0"/>
          </a:p>
        </p:txBody>
      </p:sp>
      <p:sp>
        <p:nvSpPr>
          <p:cNvPr id="3" name="Espace réservé du contenu 2"/>
          <p:cNvSpPr>
            <a:spLocks noGrp="1"/>
          </p:cNvSpPr>
          <p:nvPr>
            <p:ph idx="1"/>
          </p:nvPr>
        </p:nvSpPr>
        <p:spPr>
          <a:xfrm>
            <a:off x="838200" y="1783081"/>
            <a:ext cx="10515600" cy="4343083"/>
          </a:xfrm>
        </p:spPr>
        <p:txBody>
          <a:bodyPr>
            <a:normAutofit/>
          </a:bodyPr>
          <a:lstStyle/>
          <a:p>
            <a:pPr marL="0" indent="0">
              <a:buNone/>
            </a:pPr>
            <a:r>
              <a:rPr lang="fr-CA" dirty="0"/>
              <a:t>En vertu de certains accords de vente, les clients doivent verser des montants avant la livraison de biens ou services. </a:t>
            </a:r>
          </a:p>
          <a:p>
            <a:pPr marL="0" indent="0">
              <a:buNone/>
            </a:pPr>
            <a:r>
              <a:rPr lang="fr-CA" dirty="0"/>
              <a:t>L'entité qui exige ces paiements initiaux reporte la constatation des produits même si le paiement n'est pas remboursable. </a:t>
            </a:r>
          </a:p>
          <a:p>
            <a:pPr marL="0" indent="0">
              <a:buNone/>
            </a:pPr>
            <a:r>
              <a:rPr lang="fr-CA" dirty="0"/>
              <a:t>Le report est justifié par le fait que l'entité n'a pas encore livré les biens ou rendu les services requis en vertu de l'accord de vente (c.-à-d. qu'elle n'a pas satisfait à l'un des critères de la constatation des produits).</a:t>
            </a:r>
          </a:p>
        </p:txBody>
      </p:sp>
      <p:sp>
        <p:nvSpPr>
          <p:cNvPr id="4" name="Espace réservé du pied de page 3">
            <a:extLst>
              <a:ext uri="{FF2B5EF4-FFF2-40B4-BE49-F238E27FC236}">
                <a16:creationId xmlns:a16="http://schemas.microsoft.com/office/drawing/2014/main" id="{9C83ABBC-F822-4498-9EEB-6DDB0BADE0F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5C6611D-1DE7-4FBB-A0D8-0C1C0621B4B2}"/>
              </a:ext>
            </a:extLst>
          </p:cNvPr>
          <p:cNvSpPr>
            <a:spLocks noGrp="1"/>
          </p:cNvSpPr>
          <p:nvPr>
            <p:ph type="sldNum" sz="quarter" idx="12"/>
          </p:nvPr>
        </p:nvSpPr>
        <p:spPr/>
        <p:txBody>
          <a:bodyPr/>
          <a:lstStyle/>
          <a:p>
            <a:fld id="{B407F3FA-7E18-4DCE-B6E1-AF2F18B1E770}" type="slidenum">
              <a:rPr lang="fr-FR" smtClean="0"/>
              <a:t>87</a:t>
            </a:fld>
            <a:endParaRPr lang="fr-FR"/>
          </a:p>
        </p:txBody>
      </p:sp>
    </p:spTree>
    <p:extLst>
      <p:ext uri="{BB962C8B-B14F-4D97-AF65-F5344CB8AC3E}">
        <p14:creationId xmlns:p14="http://schemas.microsoft.com/office/powerpoint/2010/main" val="32436066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accords spéciaux</a:t>
            </a:r>
            <a:br>
              <a:rPr lang="fr-CA" sz="4000" dirty="0"/>
            </a:br>
            <a:r>
              <a:rPr lang="fr-CA" sz="4000" dirty="0"/>
              <a:t>Paiements initiaux</a:t>
            </a:r>
            <a:endParaRPr lang="fr-CA" dirty="0"/>
          </a:p>
        </p:txBody>
      </p:sp>
      <p:sp>
        <p:nvSpPr>
          <p:cNvPr id="3" name="Espace réservé du contenu 2"/>
          <p:cNvSpPr>
            <a:spLocks noGrp="1"/>
          </p:cNvSpPr>
          <p:nvPr>
            <p:ph idx="1"/>
          </p:nvPr>
        </p:nvSpPr>
        <p:spPr>
          <a:xfrm>
            <a:off x="838200" y="1783081"/>
            <a:ext cx="10515600" cy="4343083"/>
          </a:xfrm>
        </p:spPr>
        <p:txBody>
          <a:bodyPr>
            <a:normAutofit fontScale="77500" lnSpcReduction="20000"/>
          </a:bodyPr>
          <a:lstStyle/>
          <a:p>
            <a:pPr marL="0" indent="0">
              <a:buNone/>
            </a:pPr>
            <a:r>
              <a:rPr lang="fr-CA" dirty="0"/>
              <a:t>Exemples</a:t>
            </a:r>
          </a:p>
          <a:p>
            <a:pPr marL="171450" indent="-171450"/>
            <a:r>
              <a:rPr lang="fr-CA" dirty="0"/>
              <a:t>Une boutique de détail vend une carte cadeau</a:t>
            </a:r>
          </a:p>
          <a:p>
            <a:pPr marL="171450" indent="-171450"/>
            <a:r>
              <a:rPr lang="fr-CA" dirty="0"/>
              <a:t>Abonnements non remboursables </a:t>
            </a:r>
          </a:p>
          <a:p>
            <a:pPr marL="171450" indent="-171450"/>
            <a:r>
              <a:rPr lang="fr-CA" dirty="0"/>
              <a:t>Dépôts sur commande</a:t>
            </a:r>
          </a:p>
          <a:p>
            <a:pPr marL="0" indent="0">
              <a:buNone/>
            </a:pPr>
            <a:endParaRPr lang="fr-CA" dirty="0"/>
          </a:p>
          <a:p>
            <a:pPr marL="0" indent="0">
              <a:buNone/>
            </a:pPr>
            <a:r>
              <a:rPr lang="fr-CA" dirty="0"/>
              <a:t>Comptabiliser un passif (obligation non financière) et non produits à la vente</a:t>
            </a:r>
          </a:p>
          <a:p>
            <a:endParaRPr lang="fr-CA" dirty="0"/>
          </a:p>
          <a:p>
            <a:pPr marL="0" lvl="0" indent="0">
              <a:lnSpc>
                <a:spcPct val="100000"/>
              </a:lnSpc>
              <a:spcBef>
                <a:spcPts val="0"/>
              </a:spcBef>
              <a:buNone/>
              <a:defRPr/>
            </a:pPr>
            <a:r>
              <a:rPr lang="fr-CA" dirty="0"/>
              <a:t>La boutique peut </a:t>
            </a:r>
            <a:r>
              <a:rPr lang="fr-CA" dirty="0" err="1"/>
              <a:t>décomptabiliser</a:t>
            </a:r>
            <a:r>
              <a:rPr lang="fr-CA" dirty="0"/>
              <a:t> l'obligation (c.-à-d. constater un produit) lorsqu'elle est légalement dégagée de son obligation (c.-à-d. à la date d'expiration de la carte cadeau). Des complications particulières peuvent survenir lorsque les cartes cadeaux n'ont pas de date d'expiration. Dans ces circonstances, la boutique peut uniquement </a:t>
            </a:r>
            <a:r>
              <a:rPr lang="fr-CA" dirty="0" err="1"/>
              <a:t>décomptabiliser</a:t>
            </a:r>
            <a:r>
              <a:rPr lang="fr-CA" dirty="0"/>
              <a:t> l'obligation si elle démontre que la probabilité de devoir livrer le bien ultérieurement est faible.</a:t>
            </a:r>
          </a:p>
        </p:txBody>
      </p:sp>
      <p:sp>
        <p:nvSpPr>
          <p:cNvPr id="4" name="Espace réservé du pied de page 3">
            <a:extLst>
              <a:ext uri="{FF2B5EF4-FFF2-40B4-BE49-F238E27FC236}">
                <a16:creationId xmlns:a16="http://schemas.microsoft.com/office/drawing/2014/main" id="{9C83ABBC-F822-4498-9EEB-6DDB0BADE0F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5C6611D-1DE7-4FBB-A0D8-0C1C0621B4B2}"/>
              </a:ext>
            </a:extLst>
          </p:cNvPr>
          <p:cNvSpPr>
            <a:spLocks noGrp="1"/>
          </p:cNvSpPr>
          <p:nvPr>
            <p:ph type="sldNum" sz="quarter" idx="12"/>
          </p:nvPr>
        </p:nvSpPr>
        <p:spPr/>
        <p:txBody>
          <a:bodyPr/>
          <a:lstStyle/>
          <a:p>
            <a:fld id="{B407F3FA-7E18-4DCE-B6E1-AF2F18B1E770}" type="slidenum">
              <a:rPr lang="fr-FR" smtClean="0"/>
              <a:t>88</a:t>
            </a:fld>
            <a:endParaRPr lang="fr-FR"/>
          </a:p>
        </p:txBody>
      </p:sp>
    </p:spTree>
    <p:extLst>
      <p:ext uri="{BB962C8B-B14F-4D97-AF65-F5344CB8AC3E}">
        <p14:creationId xmlns:p14="http://schemas.microsoft.com/office/powerpoint/2010/main" val="35301517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accords spéciaux</a:t>
            </a:r>
            <a:br>
              <a:rPr lang="fr-CA" sz="4000" dirty="0"/>
            </a:br>
            <a:r>
              <a:rPr lang="fr-CA" sz="4000" dirty="0"/>
              <a:t>Programmes de fidélisation</a:t>
            </a:r>
            <a:endParaRPr lang="fr-CA" dirty="0"/>
          </a:p>
        </p:txBody>
      </p:sp>
      <p:sp>
        <p:nvSpPr>
          <p:cNvPr id="3" name="Espace réservé du contenu 2"/>
          <p:cNvSpPr>
            <a:spLocks noGrp="1"/>
          </p:cNvSpPr>
          <p:nvPr>
            <p:ph idx="1"/>
          </p:nvPr>
        </p:nvSpPr>
        <p:spPr>
          <a:xfrm>
            <a:off x="914400" y="1725931"/>
            <a:ext cx="10439400" cy="4400233"/>
          </a:xfrm>
        </p:spPr>
        <p:txBody>
          <a:bodyPr>
            <a:normAutofit fontScale="70000" lnSpcReduction="20000"/>
          </a:bodyPr>
          <a:lstStyle/>
          <a:p>
            <a:pPr marL="0" indent="0">
              <a:buNone/>
            </a:pPr>
            <a:r>
              <a:rPr lang="fr-CA" dirty="0"/>
              <a:t>Les NCECF ne fournissent pas de directives expresses sur les biens ou services supplémentaires offerts en option aux clients, tels que des points de programme de fidélisation ou des incitations à la vente </a:t>
            </a:r>
          </a:p>
          <a:p>
            <a:pPr marL="0" indent="0">
              <a:buNone/>
            </a:pPr>
            <a:endParaRPr lang="fr-CA" dirty="0"/>
          </a:p>
          <a:p>
            <a:pPr marL="0" indent="0">
              <a:buNone/>
            </a:pPr>
            <a:r>
              <a:rPr lang="fr-CA" dirty="0"/>
              <a:t>Toutefois, en se basant sur les IFRS : </a:t>
            </a:r>
          </a:p>
          <a:p>
            <a:r>
              <a:rPr lang="fr-CA" dirty="0"/>
              <a:t>une entité doit comptabiliser les points-cadeaux (par exemple dans un programme de fidélisation) en tant qu’éléments identifiables de la transaction, séparément des autres éléments identifiables lors de la vente initiale. La juste valeur de la contrepartie reçue ou à recevoir au titre de la vente initiale doit être répartie entre les points-cadeaux et les autres éléments de la vente. </a:t>
            </a:r>
            <a:r>
              <a:rPr lang="fr-CA" i="1" dirty="0"/>
              <a:t>(réduit les produits)</a:t>
            </a:r>
            <a:endParaRPr lang="fr-CA" dirty="0"/>
          </a:p>
          <a:p>
            <a:r>
              <a:rPr lang="fr-CA" dirty="0"/>
              <a:t>La contrepartie affectée aux points-cadeaux doit être évaluée par référence à leur juste valeur. 	</a:t>
            </a:r>
          </a:p>
          <a:p>
            <a:endParaRPr lang="fr-CA" dirty="0"/>
          </a:p>
          <a:p>
            <a:pPr marL="0" indent="0">
              <a:spcBef>
                <a:spcPts val="0"/>
              </a:spcBef>
              <a:buNone/>
              <a:defRPr/>
            </a:pPr>
            <a:r>
              <a:rPr lang="fr-CA" dirty="0"/>
              <a:t>Selon IFRS 15, les options permettant au client d’acquérir des biens ou des services supplémentaires gratuitement ou à rabais (incitations à la vente, octroi de points-cadeaux, options de renouvellement de contrat, remises sur achats futurs de biens ou de services, etc.) peuvent donner naissance à une obligation de prestation afférente au contrat. 	</a:t>
            </a:r>
          </a:p>
        </p:txBody>
      </p:sp>
      <p:sp>
        <p:nvSpPr>
          <p:cNvPr id="4" name="Espace réservé du pied de page 3">
            <a:extLst>
              <a:ext uri="{FF2B5EF4-FFF2-40B4-BE49-F238E27FC236}">
                <a16:creationId xmlns:a16="http://schemas.microsoft.com/office/drawing/2014/main" id="{C3AFC229-4579-4B0D-866E-E550524C991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37F2ED8-E7B5-4DA2-B877-343C0A3DB175}"/>
              </a:ext>
            </a:extLst>
          </p:cNvPr>
          <p:cNvSpPr>
            <a:spLocks noGrp="1"/>
          </p:cNvSpPr>
          <p:nvPr>
            <p:ph type="sldNum" sz="quarter" idx="12"/>
          </p:nvPr>
        </p:nvSpPr>
        <p:spPr/>
        <p:txBody>
          <a:bodyPr/>
          <a:lstStyle/>
          <a:p>
            <a:fld id="{B407F3FA-7E18-4DCE-B6E1-AF2F18B1E770}" type="slidenum">
              <a:rPr lang="fr-FR" smtClean="0"/>
              <a:t>89</a:t>
            </a:fld>
            <a:endParaRPr lang="fr-FR"/>
          </a:p>
        </p:txBody>
      </p:sp>
    </p:spTree>
    <p:extLst>
      <p:ext uri="{BB962C8B-B14F-4D97-AF65-F5344CB8AC3E}">
        <p14:creationId xmlns:p14="http://schemas.microsoft.com/office/powerpoint/2010/main" val="16726303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Tirés de biens</a:t>
            </a:r>
            <a:endParaRPr lang="fr-CA" dirty="0"/>
          </a:p>
        </p:txBody>
      </p:sp>
      <p:sp>
        <p:nvSpPr>
          <p:cNvPr id="3" name="Espace réservé du contenu 2"/>
          <p:cNvSpPr>
            <a:spLocks noGrp="1"/>
          </p:cNvSpPr>
          <p:nvPr>
            <p:ph idx="1"/>
          </p:nvPr>
        </p:nvSpPr>
        <p:spPr>
          <a:xfrm>
            <a:off x="838199" y="2000251"/>
            <a:ext cx="10418379" cy="4125913"/>
          </a:xfrm>
        </p:spPr>
        <p:txBody>
          <a:bodyPr/>
          <a:lstStyle/>
          <a:p>
            <a:r>
              <a:rPr lang="fr-CA" dirty="0"/>
              <a:t>Intérêts : en fonction du temps écoulé</a:t>
            </a:r>
          </a:p>
          <a:p>
            <a:r>
              <a:rPr lang="fr-CA" dirty="0"/>
              <a:t>Redevances : à mesure qu'elles deviennent gagnées en vertu des conditions contractuelles</a:t>
            </a:r>
          </a:p>
          <a:p>
            <a:r>
              <a:rPr lang="fr-CA" dirty="0"/>
              <a:t>Dividendes : au moment où ils sont acquis au titulaire.</a:t>
            </a:r>
          </a:p>
          <a:p>
            <a:pPr marL="0" indent="0">
              <a:buNone/>
            </a:pPr>
            <a:endParaRPr lang="fr-CA" dirty="0"/>
          </a:p>
        </p:txBody>
      </p:sp>
      <p:sp>
        <p:nvSpPr>
          <p:cNvPr id="4" name="Espace réservé du pied de page 3">
            <a:extLst>
              <a:ext uri="{FF2B5EF4-FFF2-40B4-BE49-F238E27FC236}">
                <a16:creationId xmlns:a16="http://schemas.microsoft.com/office/drawing/2014/main" id="{28C43160-45D0-4831-9582-F54DE462884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F564B18-F3C6-45E2-9947-F00A3252E9E1}"/>
              </a:ext>
            </a:extLst>
          </p:cNvPr>
          <p:cNvSpPr>
            <a:spLocks noGrp="1"/>
          </p:cNvSpPr>
          <p:nvPr>
            <p:ph type="sldNum" sz="quarter" idx="12"/>
          </p:nvPr>
        </p:nvSpPr>
        <p:spPr/>
        <p:txBody>
          <a:bodyPr/>
          <a:lstStyle/>
          <a:p>
            <a:fld id="{B407F3FA-7E18-4DCE-B6E1-AF2F18B1E770}" type="slidenum">
              <a:rPr lang="fr-FR" smtClean="0"/>
              <a:t>90</a:t>
            </a:fld>
            <a:endParaRPr lang="fr-FR"/>
          </a:p>
        </p:txBody>
      </p:sp>
    </p:spTree>
    <p:extLst>
      <p:ext uri="{BB962C8B-B14F-4D97-AF65-F5344CB8AC3E}">
        <p14:creationId xmlns:p14="http://schemas.microsoft.com/office/powerpoint/2010/main" val="28496173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1" y="274638"/>
            <a:ext cx="10515600" cy="1570186"/>
          </a:xfrm>
        </p:spPr>
        <p:txBody>
          <a:bodyPr>
            <a:normAutofit/>
          </a:bodyPr>
          <a:lstStyle/>
          <a:p>
            <a:r>
              <a:rPr lang="fr-CA" sz="3600" dirty="0"/>
              <a:t>Paiements par un fournisseur - nature</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Généralement les paiement d’un fournisseur à un client portent sur un niveau cumulatif de commandes de ce dernier ou sur sa fidélité. Dans ce cas :</a:t>
            </a:r>
          </a:p>
          <a:p>
            <a:r>
              <a:rPr lang="fr-CA" sz="2400" dirty="0"/>
              <a:t>le </a:t>
            </a:r>
            <a:r>
              <a:rPr lang="fr-CA" sz="2400" b="1" dirty="0"/>
              <a:t>fournisseur</a:t>
            </a:r>
            <a:r>
              <a:rPr lang="fr-CA" sz="2400" dirty="0"/>
              <a:t> n'a pas reçu d'avantage «identifiable» du client - comptabiliser la contrepartie en diminution des ventes </a:t>
            </a:r>
          </a:p>
          <a:p>
            <a:r>
              <a:rPr lang="fr-CA" sz="2400" dirty="0"/>
              <a:t>le </a:t>
            </a:r>
            <a:r>
              <a:rPr lang="fr-CA" sz="2400" b="1" dirty="0"/>
              <a:t>client</a:t>
            </a:r>
            <a:r>
              <a:rPr lang="fr-CA" sz="2400" dirty="0"/>
              <a:t> a reçu un</a:t>
            </a:r>
            <a:r>
              <a:rPr lang="fr-CA" sz="2400" b="1" dirty="0"/>
              <a:t> rabais </a:t>
            </a:r>
            <a:r>
              <a:rPr lang="fr-CA" sz="2400" dirty="0"/>
              <a:t>pour son achat (n'a pas réalisé de produit sur l'opération) et doit comptabiliser la contrepartie en diminution des stocks ou du coût des ventes.</a:t>
            </a:r>
            <a:endParaRPr lang="fr-CA" sz="4300" dirty="0"/>
          </a:p>
          <a:p>
            <a:pPr marL="0" indent="0">
              <a:buNone/>
            </a:pPr>
            <a:endParaRPr lang="fr-CA" sz="2400" dirty="0"/>
          </a:p>
        </p:txBody>
      </p:sp>
      <p:sp>
        <p:nvSpPr>
          <p:cNvPr id="4" name="Espace réservé du pied de page 3">
            <a:extLst>
              <a:ext uri="{FF2B5EF4-FFF2-40B4-BE49-F238E27FC236}">
                <a16:creationId xmlns:a16="http://schemas.microsoft.com/office/drawing/2014/main" id="{1C3413CB-38FA-497C-B517-93529DCD7C1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14B434C-E73E-472B-AD9F-EE954F78D564}"/>
              </a:ext>
            </a:extLst>
          </p:cNvPr>
          <p:cNvSpPr>
            <a:spLocks noGrp="1"/>
          </p:cNvSpPr>
          <p:nvPr>
            <p:ph type="sldNum" sz="quarter" idx="12"/>
          </p:nvPr>
        </p:nvSpPr>
        <p:spPr/>
        <p:txBody>
          <a:bodyPr/>
          <a:lstStyle/>
          <a:p>
            <a:fld id="{B407F3FA-7E18-4DCE-B6E1-AF2F18B1E770}" type="slidenum">
              <a:rPr lang="fr-FR" smtClean="0"/>
              <a:t>91</a:t>
            </a:fld>
            <a:endParaRPr lang="fr-FR"/>
          </a:p>
        </p:txBody>
      </p:sp>
    </p:spTree>
    <p:extLst>
      <p:ext uri="{BB962C8B-B14F-4D97-AF65-F5344CB8AC3E}">
        <p14:creationId xmlns:p14="http://schemas.microsoft.com/office/powerpoint/2010/main" val="1061232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1" y="274638"/>
            <a:ext cx="10515600" cy="1570186"/>
          </a:xfrm>
        </p:spPr>
        <p:txBody>
          <a:bodyPr>
            <a:normAutofit/>
          </a:bodyPr>
          <a:lstStyle/>
          <a:p>
            <a:r>
              <a:rPr lang="fr-CA" sz="3600" dirty="0"/>
              <a:t>Paiements par un fournisseur - nature</a:t>
            </a:r>
            <a:endParaRPr lang="fr-CA" dirty="0"/>
          </a:p>
        </p:txBody>
      </p:sp>
      <p:sp>
        <p:nvSpPr>
          <p:cNvPr id="3" name="Espace réservé du contenu 2"/>
          <p:cNvSpPr>
            <a:spLocks noGrp="1"/>
          </p:cNvSpPr>
          <p:nvPr>
            <p:ph idx="1"/>
          </p:nvPr>
        </p:nvSpPr>
        <p:spPr/>
        <p:txBody>
          <a:bodyPr>
            <a:normAutofit fontScale="55000" lnSpcReduction="20000"/>
          </a:bodyPr>
          <a:lstStyle/>
          <a:p>
            <a:pPr marL="0" indent="0">
              <a:buNone/>
            </a:pPr>
            <a:r>
              <a:rPr lang="fr-CA" sz="3200" b="1" dirty="0"/>
              <a:t>Normalement c’est le client qui paie le fournisseur</a:t>
            </a:r>
          </a:p>
          <a:p>
            <a:pPr marL="0" indent="0">
              <a:buNone/>
            </a:pPr>
            <a:r>
              <a:rPr lang="fr-CA" sz="3200" dirty="0"/>
              <a:t>Dans certaines circonstances, il peut ne pas s’agir d’un rabais et il est nécessaire de faire appel au jugement pour déterminer la substance de l’opération en examinant les caractéristiques du paiement à un client.  Par exemple :  </a:t>
            </a:r>
          </a:p>
          <a:p>
            <a:r>
              <a:rPr lang="fr-CA" sz="3200" dirty="0"/>
              <a:t>Un fournisseur peut rembourser à un client une partie de ses frais de publicité. Le montant remboursé est souvent limité à un pourcentage précisé des achats du client. Cette situation requiert l'exercice du jugement car on ne peut dire avec certitude :</a:t>
            </a:r>
          </a:p>
          <a:p>
            <a:pPr marL="539750" indent="-182563">
              <a:buNone/>
            </a:pPr>
            <a:r>
              <a:rPr lang="fr-CA" sz="3200" dirty="0"/>
              <a:t>o  si le fournisseur a reçu des avantages sous la forme de publicité ou a simplement accordé un rabais sur la vente au client;</a:t>
            </a:r>
          </a:p>
          <a:p>
            <a:pPr marL="0" indent="357188">
              <a:buNone/>
            </a:pPr>
            <a:r>
              <a:rPr lang="fr-CA" sz="3200" dirty="0"/>
              <a:t>o  si le client a obtenu un rabais sur son achat ou bénéficié d'un coût réduit de publicité.</a:t>
            </a:r>
            <a:endParaRPr lang="fr-CA" sz="600" dirty="0"/>
          </a:p>
          <a:p>
            <a:r>
              <a:rPr lang="fr-CA" sz="3200" dirty="0"/>
              <a:t>Un fournisseur peut verser à un détaillant une contrepartie pour avoir droit à une superficie pour afficher ses produits (par exemple, des tablettes ou un emplacement avantageux dans la boutique). Encore une fois, cette situation requiert l'exercice du jugement car on ne peut dire avec certitude :</a:t>
            </a:r>
          </a:p>
          <a:p>
            <a:pPr marL="627063" indent="-269875">
              <a:buNone/>
            </a:pPr>
            <a:r>
              <a:rPr lang="fr-CA" sz="3200" dirty="0"/>
              <a:t>o  si le fournisseur a reçu des avantages sous la forme de publicité ou a simplement accordé un rabais sur la vente au client</a:t>
            </a:r>
          </a:p>
          <a:p>
            <a:pPr marL="0" indent="357188">
              <a:buNone/>
            </a:pPr>
            <a:r>
              <a:rPr lang="fr-CA" sz="3200" dirty="0"/>
              <a:t>o  si le client a obtenu un rabais sur son achat ou réalisé des produits publicitaires.</a:t>
            </a:r>
          </a:p>
          <a:p>
            <a:endParaRPr lang="fr-CA" sz="3200" dirty="0"/>
          </a:p>
          <a:p>
            <a:pPr marL="0" indent="0">
              <a:buNone/>
            </a:pPr>
            <a:endParaRPr lang="fr-CA" sz="3200" dirty="0"/>
          </a:p>
        </p:txBody>
      </p:sp>
      <p:sp>
        <p:nvSpPr>
          <p:cNvPr id="4" name="Espace réservé du pied de page 3">
            <a:extLst>
              <a:ext uri="{FF2B5EF4-FFF2-40B4-BE49-F238E27FC236}">
                <a16:creationId xmlns:a16="http://schemas.microsoft.com/office/drawing/2014/main" id="{1C3413CB-38FA-497C-B517-93529DCD7C1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14B434C-E73E-472B-AD9F-EE954F78D564}"/>
              </a:ext>
            </a:extLst>
          </p:cNvPr>
          <p:cNvSpPr>
            <a:spLocks noGrp="1"/>
          </p:cNvSpPr>
          <p:nvPr>
            <p:ph type="sldNum" sz="quarter" idx="12"/>
          </p:nvPr>
        </p:nvSpPr>
        <p:spPr/>
        <p:txBody>
          <a:bodyPr/>
          <a:lstStyle/>
          <a:p>
            <a:fld id="{B407F3FA-7E18-4DCE-B6E1-AF2F18B1E770}" type="slidenum">
              <a:rPr lang="fr-FR" smtClean="0"/>
              <a:t>92</a:t>
            </a:fld>
            <a:endParaRPr lang="fr-FR"/>
          </a:p>
        </p:txBody>
      </p:sp>
    </p:spTree>
    <p:extLst>
      <p:ext uri="{BB962C8B-B14F-4D97-AF65-F5344CB8AC3E}">
        <p14:creationId xmlns:p14="http://schemas.microsoft.com/office/powerpoint/2010/main" val="20193869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Paiements par un fournisseur - exemple</a:t>
            </a:r>
          </a:p>
        </p:txBody>
      </p:sp>
      <p:sp>
        <p:nvSpPr>
          <p:cNvPr id="3" name="Espace réservé du contenu 2"/>
          <p:cNvSpPr>
            <a:spLocks noGrp="1"/>
          </p:cNvSpPr>
          <p:nvPr>
            <p:ph idx="1"/>
          </p:nvPr>
        </p:nvSpPr>
        <p:spPr/>
        <p:txBody>
          <a:bodyPr>
            <a:normAutofit/>
          </a:bodyPr>
          <a:lstStyle/>
          <a:p>
            <a:pPr marL="0" indent="0">
              <a:buNone/>
            </a:pPr>
            <a:r>
              <a:rPr lang="fr-CA" dirty="0"/>
              <a:t>Neige Ltée, un fabricant renommé d'équipements de déneigement, conclut un accord avec des détaillants suivant lequel ceux-ci recevront un remboursement jusqu'à concurrence de 5 % de leurs achats totaux effectués auprès de Neige :</a:t>
            </a:r>
          </a:p>
          <a:p>
            <a:r>
              <a:rPr lang="fr-CA" dirty="0"/>
              <a:t>si les détaillants satisfont à certains critères qualitatifs lorsqu'ils placent des annonces dans des journaux locaux (par exemple, un pourcentage minimum de lignes sont consacrées à l'équipement de Neige);</a:t>
            </a:r>
          </a:p>
          <a:p>
            <a:r>
              <a:rPr lang="fr-CA" dirty="0"/>
              <a:t>si les détaillants consacrent un montant précis aux annonces</a:t>
            </a:r>
          </a:p>
        </p:txBody>
      </p:sp>
      <p:sp>
        <p:nvSpPr>
          <p:cNvPr id="4" name="Espace réservé du pied de page 3">
            <a:extLst>
              <a:ext uri="{FF2B5EF4-FFF2-40B4-BE49-F238E27FC236}">
                <a16:creationId xmlns:a16="http://schemas.microsoft.com/office/drawing/2014/main" id="{68C11512-DDDE-42E8-9400-6ED026459C5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B8FC939-421A-431D-BACE-BB09711826D3}"/>
              </a:ext>
            </a:extLst>
          </p:cNvPr>
          <p:cNvSpPr>
            <a:spLocks noGrp="1"/>
          </p:cNvSpPr>
          <p:nvPr>
            <p:ph type="sldNum" sz="quarter" idx="12"/>
          </p:nvPr>
        </p:nvSpPr>
        <p:spPr/>
        <p:txBody>
          <a:bodyPr/>
          <a:lstStyle/>
          <a:p>
            <a:fld id="{B407F3FA-7E18-4DCE-B6E1-AF2F18B1E770}" type="slidenum">
              <a:rPr lang="fr-FR" smtClean="0"/>
              <a:t>93</a:t>
            </a:fld>
            <a:endParaRPr lang="fr-FR"/>
          </a:p>
        </p:txBody>
      </p:sp>
    </p:spTree>
    <p:extLst>
      <p:ext uri="{BB962C8B-B14F-4D97-AF65-F5344CB8AC3E}">
        <p14:creationId xmlns:p14="http://schemas.microsoft.com/office/powerpoint/2010/main" val="17495536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a:xfrm>
            <a:off x="838199" y="1545021"/>
            <a:ext cx="10515599" cy="4811329"/>
          </a:xfrm>
        </p:spPr>
        <p:txBody>
          <a:bodyPr>
            <a:normAutofit/>
          </a:bodyPr>
          <a:lstStyle/>
          <a:p>
            <a:r>
              <a:rPr lang="fr-CA" sz="1800" dirty="0"/>
              <a:t>Pour les clients,  le paiement de Neige serait comptabilisé comme une réduction de la charge de publicité.</a:t>
            </a:r>
          </a:p>
          <a:p>
            <a:pPr lvl="1"/>
            <a:r>
              <a:rPr lang="fr-CA" sz="1800" dirty="0"/>
              <a:t>si remboursement anormalement élevé, on pourrait considérer qu’une partie du paiement représente un rabais. </a:t>
            </a:r>
            <a:endParaRPr lang="fr-CA" sz="1200" dirty="0"/>
          </a:p>
          <a:p>
            <a:r>
              <a:rPr lang="fr-CA" sz="1800" dirty="0"/>
              <a:t>De son côté, Neige reçoit un avantage identifiable (publicité) en échange du remboursement de 5 %. Cet avantage pourrait être suffisamment dissociable des achats effectués par les détaillants auprès de Neige si, par exemple :</a:t>
            </a:r>
          </a:p>
          <a:p>
            <a:pPr marL="720725" indent="-366713">
              <a:buNone/>
            </a:pPr>
            <a:r>
              <a:rPr lang="fr-CA" sz="1800" dirty="0"/>
              <a:t>•     l'accord conclu avec les détaillants les oblige à conserver des preuves de toutes les annonces publicitaires relatives aux produits de Neige ;</a:t>
            </a:r>
          </a:p>
          <a:p>
            <a:pPr marL="720725" indent="-366713">
              <a:buNone/>
            </a:pPr>
            <a:r>
              <a:rPr lang="fr-CA" sz="1800" dirty="0"/>
              <a:t>•     Neige peut acheter une publicité équivalente à un prix semblable auprès d'un tiers.</a:t>
            </a:r>
          </a:p>
          <a:p>
            <a:endParaRPr lang="fr-CA" sz="1500" dirty="0"/>
          </a:p>
          <a:p>
            <a:r>
              <a:rPr lang="fr-CA" sz="1800" dirty="0"/>
              <a:t>Neige pourrait considérer la publicité comme un avantage si elle pouvait faire une estimation de la juste valeur de l'avantage reçu. Le montant payé par Neige est calculé en fonction du coût de la publicité dans les journaux pour les détaillants, selon le nombre de lignes consacrées aux produits de Neige. Par conséquent, dans la mesure où la juste valeur de la publicité est équivalente ou supérieure au remboursement de 5 %, les paiements de Neige aux détaillants sont comptabilisés comme des frais de publicité par Neige.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94</a:t>
            </a:fld>
            <a:endParaRPr lang="fr-FR"/>
          </a:p>
        </p:txBody>
      </p:sp>
      <p:sp>
        <p:nvSpPr>
          <p:cNvPr id="5" name="Espace réservé du pied de page 4">
            <a:extLst>
              <a:ext uri="{FF2B5EF4-FFF2-40B4-BE49-F238E27FC236}">
                <a16:creationId xmlns:a16="http://schemas.microsoft.com/office/drawing/2014/main" id="{3534A3D2-3D7D-4C8E-8B61-32D737760C3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5496465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dirty="0"/>
          </a:p>
        </p:txBody>
      </p:sp>
      <p:sp>
        <p:nvSpPr>
          <p:cNvPr id="3" name="Espace réservé du contenu 2"/>
          <p:cNvSpPr>
            <a:spLocks noGrp="1"/>
          </p:cNvSpPr>
          <p:nvPr>
            <p:ph idx="1"/>
          </p:nvPr>
        </p:nvSpPr>
        <p:spPr/>
        <p:txBody>
          <a:bodyPr/>
          <a:lstStyle/>
          <a:p>
            <a:r>
              <a:rPr lang="fr-CA" dirty="0"/>
              <a:t>Guide : illustrations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95</a:t>
            </a:fld>
            <a:endParaRPr lang="fr-FR"/>
          </a:p>
        </p:txBody>
      </p:sp>
      <p:sp>
        <p:nvSpPr>
          <p:cNvPr id="5" name="Espace réservé du pied de page 4">
            <a:extLst>
              <a:ext uri="{FF2B5EF4-FFF2-40B4-BE49-F238E27FC236}">
                <a16:creationId xmlns:a16="http://schemas.microsoft.com/office/drawing/2014/main" id="{802FD7F5-7045-4B0D-B531-B59B0060886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903794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IFRS 15</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dirty="0"/>
              <a:t>1- Contrat conclu avec un client </a:t>
            </a:r>
            <a:r>
              <a:rPr lang="fr-CA" sz="2600" dirty="0"/>
              <a:t>(par 9)</a:t>
            </a:r>
          </a:p>
          <a:p>
            <a:pPr marL="0" indent="0">
              <a:buNone/>
            </a:pPr>
            <a:r>
              <a:rPr lang="fr-CA" dirty="0"/>
              <a:t>2- Obligations de prestation </a:t>
            </a:r>
            <a:r>
              <a:rPr lang="fr-CA" sz="2600" dirty="0"/>
              <a:t>(par 22)</a:t>
            </a:r>
          </a:p>
          <a:p>
            <a:pPr marL="0" indent="0">
              <a:buNone/>
            </a:pPr>
            <a:r>
              <a:rPr lang="fr-CA" sz="2600" dirty="0"/>
              <a:t>	prestations distinctes</a:t>
            </a:r>
          </a:p>
          <a:p>
            <a:pPr marL="0" indent="0">
              <a:buNone/>
            </a:pPr>
            <a:r>
              <a:rPr lang="fr-CA" dirty="0"/>
              <a:t>3- Obligations de prestation remplies </a:t>
            </a:r>
            <a:r>
              <a:rPr lang="fr-CA" sz="2600" dirty="0"/>
              <a:t>(par 31)</a:t>
            </a:r>
          </a:p>
          <a:p>
            <a:pPr marL="0" indent="0">
              <a:buNone/>
            </a:pPr>
            <a:r>
              <a:rPr lang="fr-CA" dirty="0"/>
              <a:t>	</a:t>
            </a:r>
            <a:r>
              <a:rPr lang="fr-CA" sz="2600" dirty="0"/>
              <a:t>lors du transfert du contrôle</a:t>
            </a:r>
          </a:p>
          <a:p>
            <a:pPr marL="0" indent="0">
              <a:buNone/>
            </a:pPr>
            <a:r>
              <a:rPr lang="fr-CA" sz="2600" dirty="0"/>
              <a:t>	degré d’avancement</a:t>
            </a:r>
            <a:endParaRPr lang="fr-CA" dirty="0"/>
          </a:p>
          <a:p>
            <a:pPr marL="0" indent="0">
              <a:buNone/>
            </a:pPr>
            <a:r>
              <a:rPr lang="fr-CA" dirty="0"/>
              <a:t>4- Prix de transaction </a:t>
            </a:r>
            <a:r>
              <a:rPr lang="fr-CA" sz="2600" dirty="0"/>
              <a:t>(par 46)</a:t>
            </a:r>
          </a:p>
          <a:p>
            <a:pPr marL="892175" indent="-892175">
              <a:buNone/>
            </a:pPr>
            <a:r>
              <a:rPr lang="fr-CA" dirty="0"/>
              <a:t>		</a:t>
            </a:r>
            <a:r>
              <a:rPr lang="fr-CA" sz="2600" dirty="0"/>
              <a:t>contrepartie variable (valeur attendue ou montant le plus probable)</a:t>
            </a:r>
          </a:p>
          <a:p>
            <a:pPr marL="892175" indent="-892175">
              <a:buNone/>
            </a:pPr>
            <a:r>
              <a:rPr lang="fr-CA" sz="2600" dirty="0"/>
              <a:t>	composante financement</a:t>
            </a:r>
          </a:p>
          <a:p>
            <a:pPr marL="892175" indent="-892175">
              <a:buNone/>
            </a:pPr>
            <a:r>
              <a:rPr lang="fr-CA" sz="2600" dirty="0"/>
              <a:t>	opération non monétaire</a:t>
            </a:r>
          </a:p>
          <a:p>
            <a:pPr marL="0" indent="0">
              <a:buNone/>
            </a:pPr>
            <a:r>
              <a:rPr lang="fr-CA" dirty="0"/>
              <a:t>5- Répartition du prix entre les obligations de prestation </a:t>
            </a:r>
            <a:r>
              <a:rPr lang="fr-CA" sz="2600" dirty="0"/>
              <a:t>(par 73)</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96</a:t>
            </a:fld>
            <a:endParaRPr lang="fr-FR"/>
          </a:p>
        </p:txBody>
      </p:sp>
      <p:sp>
        <p:nvSpPr>
          <p:cNvPr id="5" name="Espace réservé du pied de page 4">
            <a:extLst>
              <a:ext uri="{FF2B5EF4-FFF2-40B4-BE49-F238E27FC236}">
                <a16:creationId xmlns:a16="http://schemas.microsoft.com/office/drawing/2014/main" id="{C0BF196C-9B80-4FC3-9EC0-EE94251E604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196598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marL="0" indent="0" algn="ctr">
              <a:buNone/>
            </a:pPr>
            <a:br>
              <a:rPr lang="fr-CA" sz="6000" b="1" dirty="0">
                <a:solidFill>
                  <a:srgbClr val="FF0000"/>
                </a:solidFill>
              </a:rPr>
            </a:br>
            <a:r>
              <a:rPr lang="fr-CA" sz="6000" b="1" dirty="0">
                <a:solidFill>
                  <a:srgbClr val="FF0000"/>
                </a:solidFill>
              </a:rPr>
              <a:t>NOC 2</a:t>
            </a:r>
          </a:p>
          <a:p>
            <a:pPr marL="0" indent="0" algn="ctr">
              <a:buNone/>
            </a:pPr>
            <a:r>
              <a:rPr lang="fr-CA" sz="6000" b="1" dirty="0">
                <a:solidFill>
                  <a:srgbClr val="FF0000"/>
                </a:solidFill>
              </a:rPr>
              <a:t>Franchises</a:t>
            </a:r>
            <a:endParaRPr lang="fr-FR" sz="6000"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97</a:t>
            </a:fld>
            <a:endParaRPr lang="fr-FR"/>
          </a:p>
        </p:txBody>
      </p:sp>
      <p:sp>
        <p:nvSpPr>
          <p:cNvPr id="5" name="Espace réservé du pied de page 4">
            <a:extLst>
              <a:ext uri="{FF2B5EF4-FFF2-40B4-BE49-F238E27FC236}">
                <a16:creationId xmlns:a16="http://schemas.microsoft.com/office/drawing/2014/main" id="{C9CF0749-C892-4299-8FCA-59C536A419F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7584825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Produits - Tirés de biens</a:t>
            </a:r>
            <a:br>
              <a:rPr lang="fr-CA" dirty="0"/>
            </a:br>
            <a:r>
              <a:rPr lang="fr-CA" dirty="0"/>
              <a:t>Franchises - définition</a:t>
            </a:r>
          </a:p>
        </p:txBody>
      </p:sp>
      <p:sp>
        <p:nvSpPr>
          <p:cNvPr id="3" name="Espace réservé du contenu 2"/>
          <p:cNvSpPr>
            <a:spLocks noGrp="1"/>
          </p:cNvSpPr>
          <p:nvPr>
            <p:ph idx="1"/>
          </p:nvPr>
        </p:nvSpPr>
        <p:spPr/>
        <p:txBody>
          <a:bodyPr>
            <a:normAutofit fontScale="92500"/>
          </a:bodyPr>
          <a:lstStyle/>
          <a:p>
            <a:pPr marL="0" indent="0">
              <a:buNone/>
            </a:pPr>
            <a:r>
              <a:rPr lang="fr-CA" dirty="0"/>
              <a:t>Une franchise est une concession de droits, souvent de nature exclusive, par laquelle une partie (le franchiseur) confère à une autre partie (le franchisé) le droit de vendre un produit, d’utiliser une marque de commerce ou de rendre un service à partir d’un établissement sis à un endroit donné (franchise individuelle) ou de plusieurs établissements à l’intérieur d’un territoire donné (franchise régionale).</a:t>
            </a:r>
          </a:p>
          <a:p>
            <a:pPr marL="0" indent="0">
              <a:buNone/>
            </a:pPr>
            <a:endParaRPr lang="fr-CA" sz="2300" dirty="0"/>
          </a:p>
          <a:p>
            <a:pPr marL="0" indent="0">
              <a:buNone/>
            </a:pPr>
            <a:r>
              <a:rPr lang="fr-CA" dirty="0"/>
              <a:t>Les droits et responsabilités de chaque partie sont habituellement établis par un contrat de franchisage dans lequel sont normalement décrits certaines pratiques commerciales à suivre, l’apport de chaque partie à l’exploitation de l’entreprise et diverses procédures d’exploitation à respecter.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98</a:t>
            </a:fld>
            <a:endParaRPr lang="fr-FR"/>
          </a:p>
        </p:txBody>
      </p:sp>
      <p:sp>
        <p:nvSpPr>
          <p:cNvPr id="5" name="Espace réservé du pied de page 4">
            <a:extLst>
              <a:ext uri="{FF2B5EF4-FFF2-40B4-BE49-F238E27FC236}">
                <a16:creationId xmlns:a16="http://schemas.microsoft.com/office/drawing/2014/main" id="{4F034B35-2A66-4892-8F1A-56E576C5547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864922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Redevances</a:t>
            </a:r>
          </a:p>
        </p:txBody>
      </p:sp>
      <p:sp>
        <p:nvSpPr>
          <p:cNvPr id="3" name="Espace réservé du contenu 2"/>
          <p:cNvSpPr>
            <a:spLocks noGrp="1"/>
          </p:cNvSpPr>
          <p:nvPr>
            <p:ph idx="1"/>
          </p:nvPr>
        </p:nvSpPr>
        <p:spPr>
          <a:xfrm>
            <a:off x="838200" y="1314450"/>
            <a:ext cx="10515600" cy="5166360"/>
          </a:xfrm>
        </p:spPr>
        <p:txBody>
          <a:bodyPr>
            <a:normAutofit lnSpcReduction="10000"/>
          </a:bodyPr>
          <a:lstStyle/>
          <a:p>
            <a:pPr marL="0" indent="0">
              <a:buNone/>
            </a:pPr>
            <a:r>
              <a:rPr lang="fr-CA" dirty="0"/>
              <a:t>Les redevances de franchisage comprennent les redevances initiales et les redevances périodiques.</a:t>
            </a:r>
          </a:p>
          <a:p>
            <a:r>
              <a:rPr lang="fr-CA" dirty="0"/>
              <a:t>Les redevances initiales établissent la relation entre le franchiseur et le franchisé et servent à rémunérer le franchiseur pour les services initiaux qu’il fournit aux franchisés. Les services initiaux portent notamment sur le choix de l’emplacement, le financement, la publicité et la formation du personnel.</a:t>
            </a:r>
          </a:p>
          <a:p>
            <a:pPr lvl="1"/>
            <a:r>
              <a:rPr lang="fr-CA" dirty="0"/>
              <a:t>Comptabilisation des produits par le franchiseur?</a:t>
            </a:r>
          </a:p>
          <a:p>
            <a:pPr marL="457200" lvl="1" indent="0">
              <a:buNone/>
            </a:pPr>
            <a:endParaRPr lang="fr-CA" sz="2300" dirty="0"/>
          </a:p>
          <a:p>
            <a:r>
              <a:rPr lang="fr-CA" dirty="0"/>
              <a:t>Les redevances périodiques sont la contrepartie donnée par le franchisé pour le maintien des droits conférés par le contrat de franchisage, montant souvent établi en fonction d’un % des ventes.</a:t>
            </a:r>
          </a:p>
          <a:p>
            <a:pPr lvl="1"/>
            <a:r>
              <a:rPr lang="fr-CA" dirty="0"/>
              <a:t>Comptabilisation des produits par le franchiseur? </a:t>
            </a:r>
            <a:r>
              <a:rPr lang="fr-CA" i="1" dirty="0"/>
              <a:t>(base d’exercice)</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99</a:t>
            </a:fld>
            <a:endParaRPr lang="fr-FR"/>
          </a:p>
        </p:txBody>
      </p:sp>
      <p:sp>
        <p:nvSpPr>
          <p:cNvPr id="5" name="Espace réservé du pied de page 4">
            <a:extLst>
              <a:ext uri="{FF2B5EF4-FFF2-40B4-BE49-F238E27FC236}">
                <a16:creationId xmlns:a16="http://schemas.microsoft.com/office/drawing/2014/main" id="{89227C92-C61C-45AC-834F-AA3AA76C259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6806618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Produits - Tirés de biens</a:t>
            </a:r>
            <a:br>
              <a:rPr lang="fr-CA" sz="4000" dirty="0"/>
            </a:br>
            <a:r>
              <a:rPr lang="fr-CA" sz="4000" dirty="0"/>
              <a:t>Franchises – redevance initiale</a:t>
            </a:r>
            <a:endParaRPr lang="fr-CA" dirty="0"/>
          </a:p>
        </p:txBody>
      </p:sp>
      <p:sp>
        <p:nvSpPr>
          <p:cNvPr id="3" name="Espace réservé du contenu 2"/>
          <p:cNvSpPr>
            <a:spLocks noGrp="1"/>
          </p:cNvSpPr>
          <p:nvPr>
            <p:ph idx="1"/>
          </p:nvPr>
        </p:nvSpPr>
        <p:spPr>
          <a:xfrm>
            <a:off x="838200" y="1794511"/>
            <a:ext cx="10681138" cy="4331653"/>
          </a:xfrm>
        </p:spPr>
        <p:txBody>
          <a:bodyPr>
            <a:normAutofit fontScale="85000" lnSpcReduction="20000"/>
          </a:bodyPr>
          <a:lstStyle/>
          <a:p>
            <a:pPr marL="0" indent="0">
              <a:buNone/>
            </a:pPr>
            <a:r>
              <a:rPr lang="fr-CA" dirty="0"/>
              <a:t>Franchiseur comptabilise les produits lorsqu’il  s'est acquitté de l'essentiel des obligations importantes liées à la création de la franchise :</a:t>
            </a:r>
          </a:p>
          <a:p>
            <a:r>
              <a:rPr lang="fr-CA" dirty="0"/>
              <a:t>le franchiseur a fourni l'essentiel des services initiaux prévus</a:t>
            </a:r>
          </a:p>
          <a:p>
            <a:r>
              <a:rPr lang="fr-CA" dirty="0"/>
              <a:t>le franchiseur n'a plus ni l'obligation ni l'intention de rembourser des fonds ou de remettre des dettes.</a:t>
            </a:r>
          </a:p>
          <a:p>
            <a:pPr marL="0" indent="0">
              <a:buNone/>
            </a:pPr>
            <a:endParaRPr lang="fr-CA" dirty="0"/>
          </a:p>
          <a:p>
            <a:pPr marL="0" indent="0">
              <a:buNone/>
            </a:pPr>
            <a:r>
              <a:rPr lang="fr-CA" dirty="0"/>
              <a:t>En pratique, ces obligations ne seront habituellement pas remplies avant l'entrée en exploitation de la franchise. </a:t>
            </a:r>
          </a:p>
          <a:p>
            <a:pPr marL="0" indent="0">
              <a:buNone/>
            </a:pPr>
            <a:endParaRPr lang="fr-CA" dirty="0"/>
          </a:p>
          <a:p>
            <a:pPr>
              <a:buFont typeface="Wingdings" panose="05000000000000000000" pitchFamily="2" charset="2"/>
              <a:buChar char="Ø"/>
            </a:pPr>
            <a:r>
              <a:rPr lang="fr-CA" dirty="0"/>
              <a:t>Le franchiseur peut inscrire directement à l'actif les coûts de franchisage avant la constatation des redevances initiales. Les coûts reportés ne doivent pas excéder les produits attendus de la vente de la franchise, déduction faite des coûts supplémentaires estimatifs.</a:t>
            </a:r>
          </a:p>
          <a:p>
            <a:pPr marL="0" indent="0">
              <a:buNone/>
            </a:pPr>
            <a:endParaRPr lang="fr-CA" dirty="0"/>
          </a:p>
        </p:txBody>
      </p:sp>
      <p:sp>
        <p:nvSpPr>
          <p:cNvPr id="4" name="Espace réservé du pied de page 3">
            <a:extLst>
              <a:ext uri="{FF2B5EF4-FFF2-40B4-BE49-F238E27FC236}">
                <a16:creationId xmlns:a16="http://schemas.microsoft.com/office/drawing/2014/main" id="{F38D5246-A693-445F-B8BF-B14569211A43}"/>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2208CF3-DCC1-4722-A393-5F200EBE206D}"/>
              </a:ext>
            </a:extLst>
          </p:cNvPr>
          <p:cNvSpPr>
            <a:spLocks noGrp="1"/>
          </p:cNvSpPr>
          <p:nvPr>
            <p:ph type="sldNum" sz="quarter" idx="12"/>
          </p:nvPr>
        </p:nvSpPr>
        <p:spPr/>
        <p:txBody>
          <a:bodyPr/>
          <a:lstStyle/>
          <a:p>
            <a:fld id="{B407F3FA-7E18-4DCE-B6E1-AF2F18B1E770}" type="slidenum">
              <a:rPr lang="fr-FR" smtClean="0"/>
              <a:t>100</a:t>
            </a:fld>
            <a:endParaRPr lang="fr-FR"/>
          </a:p>
        </p:txBody>
      </p:sp>
    </p:spTree>
    <p:extLst>
      <p:ext uri="{BB962C8B-B14F-4D97-AF65-F5344CB8AC3E}">
        <p14:creationId xmlns:p14="http://schemas.microsoft.com/office/powerpoint/2010/main" val="16970158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CA" sz="3200" dirty="0"/>
              <a:t>Produits - Tirés de biens</a:t>
            </a:r>
            <a:br>
              <a:rPr lang="fr-CA" sz="3200" dirty="0"/>
            </a:br>
            <a:r>
              <a:rPr lang="fr-CA" sz="3200" dirty="0"/>
              <a:t>Franchises – redevance initiale - exemple</a:t>
            </a:r>
            <a:endParaRPr lang="fr-CA" sz="3600" dirty="0"/>
          </a:p>
        </p:txBody>
      </p:sp>
      <p:sp>
        <p:nvSpPr>
          <p:cNvPr id="3" name="Espace réservé du contenu 2"/>
          <p:cNvSpPr>
            <a:spLocks noGrp="1"/>
          </p:cNvSpPr>
          <p:nvPr>
            <p:ph idx="1"/>
          </p:nvPr>
        </p:nvSpPr>
        <p:spPr/>
        <p:txBody>
          <a:bodyPr>
            <a:normAutofit/>
          </a:bodyPr>
          <a:lstStyle/>
          <a:p>
            <a:pPr marL="0" indent="0">
              <a:buNone/>
            </a:pPr>
            <a:r>
              <a:rPr lang="fr-CA" dirty="0"/>
              <a:t>Franchisé Ltée achète une franchise de Franchiseur Ltée. Le 2 septembre, les deux parties conviennent d'une redevance initiale de 50 000 $, pour laquelle Franchisé recevra une aide pour le choix de l'emplacement de la future entreprise, l'obtention du financement nécessaire et la formation du personnel. Le paiement est effectué le même jour. Pendant les mois de septembre et octobre, Franchisé et Franchiseur travaillent ensemble, trouvent le bon emplacement pour l'entreprise et obtiennent le financement nécessaire. Le 15 novembre, le personnel de Franchisé a reçu sa formation et Franchisé est prêt à commencer ses activités.</a:t>
            </a:r>
          </a:p>
        </p:txBody>
      </p:sp>
      <p:sp>
        <p:nvSpPr>
          <p:cNvPr id="4" name="Espace réservé du pied de page 3">
            <a:extLst>
              <a:ext uri="{FF2B5EF4-FFF2-40B4-BE49-F238E27FC236}">
                <a16:creationId xmlns:a16="http://schemas.microsoft.com/office/drawing/2014/main" id="{316E513F-32F7-4191-AA14-5E380C2A14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97811E3-DBDF-4CBB-AA7C-15FC93C5B326}"/>
              </a:ext>
            </a:extLst>
          </p:cNvPr>
          <p:cNvSpPr>
            <a:spLocks noGrp="1"/>
          </p:cNvSpPr>
          <p:nvPr>
            <p:ph type="sldNum" sz="quarter" idx="12"/>
          </p:nvPr>
        </p:nvSpPr>
        <p:spPr/>
        <p:txBody>
          <a:bodyPr/>
          <a:lstStyle/>
          <a:p>
            <a:fld id="{B407F3FA-7E18-4DCE-B6E1-AF2F18B1E770}" type="slidenum">
              <a:rPr lang="fr-FR" smtClean="0"/>
              <a:t>101</a:t>
            </a:fld>
            <a:endParaRPr lang="fr-FR"/>
          </a:p>
        </p:txBody>
      </p:sp>
    </p:spTree>
    <p:extLst>
      <p:ext uri="{BB962C8B-B14F-4D97-AF65-F5344CB8AC3E}">
        <p14:creationId xmlns:p14="http://schemas.microsoft.com/office/powerpoint/2010/main" val="13557106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200" dirty="0"/>
              <a:t>Solution</a:t>
            </a:r>
            <a:endParaRPr lang="fr-CA" dirty="0"/>
          </a:p>
        </p:txBody>
      </p:sp>
      <p:sp>
        <p:nvSpPr>
          <p:cNvPr id="3" name="Espace réservé du contenu 2"/>
          <p:cNvSpPr>
            <a:spLocks noGrp="1"/>
          </p:cNvSpPr>
          <p:nvPr>
            <p:ph idx="1"/>
          </p:nvPr>
        </p:nvSpPr>
        <p:spPr/>
        <p:txBody>
          <a:bodyPr>
            <a:normAutofit lnSpcReduction="10000"/>
          </a:bodyPr>
          <a:lstStyle/>
          <a:p>
            <a:pPr marL="0" indent="0">
              <a:buNone/>
            </a:pPr>
            <a:r>
              <a:rPr lang="fr-CA" dirty="0"/>
              <a:t>L'évaluation de la contrepartie et le recouvrement sont raisonnablement sûrs le 2 septembre, puisque Franchisé a payé le plein montant, soit 50 000 $, à cette date. </a:t>
            </a:r>
          </a:p>
          <a:p>
            <a:pPr marL="0" indent="0">
              <a:buNone/>
            </a:pPr>
            <a:r>
              <a:rPr lang="fr-CA" dirty="0"/>
              <a:t>Franchiseur a rendu tous les services initiaux et n'a pas d'autres conditions importantes à remplir au 15 novembre. Franchiseur n'a pas l'obligation éventuelle de rembourser un montant quelconque à Franchisé. </a:t>
            </a:r>
          </a:p>
          <a:p>
            <a:pPr marL="0" indent="0">
              <a:buNone/>
            </a:pPr>
            <a:r>
              <a:rPr lang="fr-CA" dirty="0"/>
              <a:t>Par conséquent, Franchiseur doit comptabiliser un produit de 50 000 $ le 15 novembre, si tous les autres critères de constatation des produits sont remplis par ailleurs (c'est-à-dire que l'accord de vente ne prévoit aucune disposition particulière de remboursement).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102</a:t>
            </a:fld>
            <a:endParaRPr lang="fr-FR"/>
          </a:p>
        </p:txBody>
      </p:sp>
      <p:sp>
        <p:nvSpPr>
          <p:cNvPr id="5" name="Espace réservé du pied de page 4">
            <a:extLst>
              <a:ext uri="{FF2B5EF4-FFF2-40B4-BE49-F238E27FC236}">
                <a16:creationId xmlns:a16="http://schemas.microsoft.com/office/drawing/2014/main" id="{3B70DA10-FBE3-4444-8A3D-E9C3D08DF74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1485315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Produits - Tirés de biens</a:t>
            </a:r>
            <a:br>
              <a:rPr lang="fr-CA" dirty="0"/>
            </a:br>
            <a:r>
              <a:rPr lang="fr-CA" dirty="0"/>
              <a:t>Franchises – redevance périodiques</a:t>
            </a:r>
          </a:p>
        </p:txBody>
      </p:sp>
      <p:sp>
        <p:nvSpPr>
          <p:cNvPr id="3" name="Espace réservé du contenu 2"/>
          <p:cNvSpPr>
            <a:spLocks noGrp="1"/>
          </p:cNvSpPr>
          <p:nvPr>
            <p:ph idx="1"/>
          </p:nvPr>
        </p:nvSpPr>
        <p:spPr/>
        <p:txBody>
          <a:bodyPr>
            <a:normAutofit fontScale="92500"/>
          </a:bodyPr>
          <a:lstStyle/>
          <a:p>
            <a:r>
              <a:rPr lang="fr-CA" dirty="0"/>
              <a:t>Les redevances périodiques concernent divers services offerts par un franchiseur, par exemple des services de commercialisation, de développement de produits et autres services. </a:t>
            </a:r>
          </a:p>
          <a:p>
            <a:r>
              <a:rPr lang="fr-CA" dirty="0"/>
              <a:t>Très souvent, ces redevances sont fondées sur un pourcentage des ventes de la franchise. </a:t>
            </a:r>
          </a:p>
          <a:p>
            <a:pPr lvl="1"/>
            <a:r>
              <a:rPr lang="fr-CA" dirty="0"/>
              <a:t>Utiliser la comptabilité d'exercice si tous les autres critères de constatation des produits sont remplis par ailleurs</a:t>
            </a:r>
          </a:p>
          <a:p>
            <a:pPr lvl="1"/>
            <a:endParaRPr lang="fr-CA" dirty="0"/>
          </a:p>
          <a:p>
            <a:pPr lvl="1">
              <a:buFont typeface="Wingdings" panose="05000000000000000000" pitchFamily="2" charset="2"/>
              <a:buChar char="Ø"/>
            </a:pPr>
            <a:r>
              <a:rPr lang="fr-CA" dirty="0"/>
              <a:t>Parfois, les redevances périodiques sont moindres que le coût des services fournis par le franchiseur parce que celui-ci a déjà réduit ses risques en exigeant une redevance initiale très élevée du franchisé. Le franchiseur doit alors reporter une partie de la redevance initiale et l'amortir sur la durée du contrat de franchise.</a:t>
            </a:r>
          </a:p>
        </p:txBody>
      </p:sp>
      <p:sp>
        <p:nvSpPr>
          <p:cNvPr id="4" name="Espace réservé du pied de page 3">
            <a:extLst>
              <a:ext uri="{FF2B5EF4-FFF2-40B4-BE49-F238E27FC236}">
                <a16:creationId xmlns:a16="http://schemas.microsoft.com/office/drawing/2014/main" id="{94422DA6-82C3-4DCE-A27D-3EE3EDB0324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3FE307E-01E8-4D80-91B7-1FC920DF9919}"/>
              </a:ext>
            </a:extLst>
          </p:cNvPr>
          <p:cNvSpPr>
            <a:spLocks noGrp="1"/>
          </p:cNvSpPr>
          <p:nvPr>
            <p:ph type="sldNum" sz="quarter" idx="12"/>
          </p:nvPr>
        </p:nvSpPr>
        <p:spPr/>
        <p:txBody>
          <a:bodyPr/>
          <a:lstStyle/>
          <a:p>
            <a:fld id="{B407F3FA-7E18-4DCE-B6E1-AF2F18B1E770}" type="slidenum">
              <a:rPr lang="fr-FR" smtClean="0"/>
              <a:t>103</a:t>
            </a:fld>
            <a:endParaRPr lang="fr-FR"/>
          </a:p>
        </p:txBody>
      </p:sp>
    </p:spTree>
    <p:extLst>
      <p:ext uri="{BB962C8B-B14F-4D97-AF65-F5344CB8AC3E}">
        <p14:creationId xmlns:p14="http://schemas.microsoft.com/office/powerpoint/2010/main" val="75190907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TotalTime>
  <Words>11494</Words>
  <Application>Microsoft Office PowerPoint</Application>
  <PresentationFormat>Grand écran</PresentationFormat>
  <Paragraphs>976</Paragraphs>
  <Slides>103</Slides>
  <Notes>38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103</vt:i4>
      </vt:variant>
    </vt:vector>
  </HeadingPairs>
  <TitlesOfParts>
    <vt:vector size="108" baseType="lpstr">
      <vt:lpstr>Arial</vt:lpstr>
      <vt:lpstr>Calibri</vt:lpstr>
      <vt:lpstr>Calibri Light</vt:lpstr>
      <vt:lpstr>Wingdings</vt:lpstr>
      <vt:lpstr>Thème Office</vt:lpstr>
      <vt:lpstr> (Constatation des) produits Chapitre 3400</vt:lpstr>
      <vt:lpstr>NCECF</vt:lpstr>
      <vt:lpstr>Présentation PowerPoint</vt:lpstr>
      <vt:lpstr>Chap. 3400 Produits – portée </vt:lpstr>
      <vt:lpstr>Produits</vt:lpstr>
      <vt:lpstr>Constatation des produits  – vente de biens</vt:lpstr>
      <vt:lpstr>Constatation des produits Prestation de services et contrats à long terme</vt:lpstr>
      <vt:lpstr>Produits Enjeu : moment de comptabilisation </vt:lpstr>
      <vt:lpstr>Produits - ventes de biens Enjeu : moment de comptabilisation – exigences supplémentaires</vt:lpstr>
      <vt:lpstr>Enjeux</vt:lpstr>
      <vt:lpstr>Produits Critère : recouvrement raisonnablement sûr au moment de la vente - exemple</vt:lpstr>
      <vt:lpstr>Solution</vt:lpstr>
      <vt:lpstr>Produits Critère : livraison - exemple  </vt:lpstr>
      <vt:lpstr>Solution</vt:lpstr>
      <vt:lpstr>Produits Critère : existence d’un accord - exemple</vt:lpstr>
      <vt:lpstr>Solution</vt:lpstr>
      <vt:lpstr>Produits Critère : prix déterminé/déterminable – exemple 1</vt:lpstr>
      <vt:lpstr>Solution</vt:lpstr>
      <vt:lpstr>Produits Critère: prix déterminé/déterminable – exemple 2</vt:lpstr>
      <vt:lpstr>Solution</vt:lpstr>
      <vt:lpstr>Produits Critère: prix déterminé/déterminable – exemple 3</vt:lpstr>
      <vt:lpstr>Solution</vt:lpstr>
      <vt:lpstr>Produits Critère: prix déterminé/déterminable – exemple 4</vt:lpstr>
      <vt:lpstr>Solution</vt:lpstr>
      <vt:lpstr>Produits – vente de biens Critère : livraison – exemple 1</vt:lpstr>
      <vt:lpstr>Solution</vt:lpstr>
      <vt:lpstr>Produits – vente de biens Critère : livraison – exemple 2</vt:lpstr>
      <vt:lpstr>Solution</vt:lpstr>
      <vt:lpstr>Produits – vente de biens Critère: livraison – exemple 3</vt:lpstr>
      <vt:lpstr>Solution</vt:lpstr>
      <vt:lpstr>Produits – vente de biens Critère : Droits de retour</vt:lpstr>
      <vt:lpstr>Produits – vente de biens Critère : Droits de retour général – exemple</vt:lpstr>
      <vt:lpstr>Solution</vt:lpstr>
      <vt:lpstr>Produits – vente de biens Critère : Droits de retour particulier - exemple</vt:lpstr>
      <vt:lpstr>Solution</vt:lpstr>
      <vt:lpstr>Enjeux</vt:lpstr>
      <vt:lpstr>Enjeux</vt:lpstr>
      <vt:lpstr>Produits – Présentation aux résultats Montant brut/net</vt:lpstr>
      <vt:lpstr>Produits – Présentation aux résultats Montant brut/net</vt:lpstr>
      <vt:lpstr>Produits c. gains</vt:lpstr>
      <vt:lpstr>Solution</vt:lpstr>
      <vt:lpstr>Ristournes</vt:lpstr>
      <vt:lpstr>Solution</vt:lpstr>
      <vt:lpstr>Rabais</vt:lpstr>
      <vt:lpstr>Rabais</vt:lpstr>
      <vt:lpstr>Montant brut / net</vt:lpstr>
      <vt:lpstr>Solution</vt:lpstr>
      <vt:lpstr>Micro-cas - 1</vt:lpstr>
      <vt:lpstr>Solution : si retourne 20 % des livres</vt:lpstr>
      <vt:lpstr>Solution : si ne retourne rien</vt:lpstr>
      <vt:lpstr>Micro-cas - 2</vt:lpstr>
      <vt:lpstr>Solution</vt:lpstr>
      <vt:lpstr>Solution</vt:lpstr>
      <vt:lpstr>Micro-cas - 3</vt:lpstr>
      <vt:lpstr>Solution</vt:lpstr>
      <vt:lpstr>Micro-cas - 4</vt:lpstr>
      <vt:lpstr>Solution</vt:lpstr>
      <vt:lpstr>Micro-cas - 5</vt:lpstr>
      <vt:lpstr>Solution</vt:lpstr>
      <vt:lpstr>Structure de réponse</vt:lpstr>
      <vt:lpstr>Problème 1 Préparez les écritures comptables du « vendeur »</vt:lpstr>
      <vt:lpstr>Problème 2 Préparez les écritures comptables de LGI</vt:lpstr>
      <vt:lpstr>Problème 2 (suite)  Préparez les écritures comptables de LGI</vt:lpstr>
      <vt:lpstr>Problème 3 Préparez les écritures comptables de DI</vt:lpstr>
      <vt:lpstr>Problème 4 Préparez les écritures comptables de Détaillant</vt:lpstr>
      <vt:lpstr>Produits -  Prestation de services Exigences générales</vt:lpstr>
      <vt:lpstr>Produits - Prestation de services Service en seul acte – exemple </vt:lpstr>
      <vt:lpstr>Solution</vt:lpstr>
      <vt:lpstr>Produits- Prestation de services Plusieurs actes et contrats à long terme</vt:lpstr>
      <vt:lpstr>Produits - contrats à long terme Méthode de l'avancement des travaux</vt:lpstr>
      <vt:lpstr>Produits - contrats à long terme Méthode de l'avancement des travaux (suite)</vt:lpstr>
      <vt:lpstr>Méthode de l’avancement des travaux</vt:lpstr>
      <vt:lpstr>Solution</vt:lpstr>
      <vt:lpstr>Solution</vt:lpstr>
      <vt:lpstr>Produits - contrats à long terme </vt:lpstr>
      <vt:lpstr>Produits - contrats à long terme  Méthode de l’achèvement des travaux – exemple 1</vt:lpstr>
      <vt:lpstr>Solution</vt:lpstr>
      <vt:lpstr>Produits - contrats à long terme  Méthode de l’achèvement des travaux – exemple 2</vt:lpstr>
      <vt:lpstr>Solution</vt:lpstr>
      <vt:lpstr>Produits – accords spéciaux Opérations comportant plusieurs éléments </vt:lpstr>
      <vt:lpstr>Produits – accords spéciaux Opérations avec plusieurs éléments - exemple</vt:lpstr>
      <vt:lpstr>Solution</vt:lpstr>
      <vt:lpstr>Solution</vt:lpstr>
      <vt:lpstr>Produits – accords spéciaux Paiements reportés</vt:lpstr>
      <vt:lpstr>Produits – accords spéciaux Paiements reportés – exemple 1</vt:lpstr>
      <vt:lpstr>Solution</vt:lpstr>
      <vt:lpstr>Produits – accords spéciaux Paiements initiaux</vt:lpstr>
      <vt:lpstr>Produits – accords spéciaux Paiements initiaux</vt:lpstr>
      <vt:lpstr>Produits – accords spéciaux Programmes de fidélisation</vt:lpstr>
      <vt:lpstr>Produits - Tirés de biens</vt:lpstr>
      <vt:lpstr>Paiements par un fournisseur - nature</vt:lpstr>
      <vt:lpstr>Paiements par un fournisseur - nature</vt:lpstr>
      <vt:lpstr>Paiements par un fournisseur - exemple</vt:lpstr>
      <vt:lpstr>Solution</vt:lpstr>
      <vt:lpstr>Présentation PowerPoint</vt:lpstr>
      <vt:lpstr>IFRS 15</vt:lpstr>
      <vt:lpstr>Présentation PowerPoint</vt:lpstr>
      <vt:lpstr>Produits - Tirés de biens Franchises - définition</vt:lpstr>
      <vt:lpstr>Redevances</vt:lpstr>
      <vt:lpstr>Produits - Tirés de biens Franchises – redevance initiale</vt:lpstr>
      <vt:lpstr>Produits - Tirés de biens Franchises – redevance initiale - exemple</vt:lpstr>
      <vt:lpstr>Solution</vt:lpstr>
      <vt:lpstr>Produits - Tirés de biens Franchises – redevance périodiques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 6240 Séances 9-10  (Constatation des) produits</dc:title>
  <dc:creator>louise overbeek</dc:creator>
  <cp:lastModifiedBy>louise overbeek</cp:lastModifiedBy>
  <cp:revision>26</cp:revision>
  <dcterms:created xsi:type="dcterms:W3CDTF">2020-11-02T18:15:38Z</dcterms:created>
  <dcterms:modified xsi:type="dcterms:W3CDTF">2021-03-29T13:52:19Z</dcterms:modified>
</cp:coreProperties>
</file>