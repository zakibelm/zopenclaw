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44"/>
  </p:notesMasterIdLst>
  <p:sldIdLst>
    <p:sldId id="257" r:id="rId2"/>
    <p:sldId id="683" r:id="rId3"/>
    <p:sldId id="687" r:id="rId4"/>
    <p:sldId id="561" r:id="rId5"/>
    <p:sldId id="686" r:id="rId6"/>
    <p:sldId id="574" r:id="rId7"/>
    <p:sldId id="562" r:id="rId8"/>
    <p:sldId id="679" r:id="rId9"/>
    <p:sldId id="684" r:id="rId10"/>
    <p:sldId id="695" r:id="rId11"/>
    <p:sldId id="716" r:id="rId12"/>
    <p:sldId id="696" r:id="rId13"/>
    <p:sldId id="706" r:id="rId14"/>
    <p:sldId id="717" r:id="rId15"/>
    <p:sldId id="707" r:id="rId16"/>
    <p:sldId id="697" r:id="rId17"/>
    <p:sldId id="718" r:id="rId18"/>
    <p:sldId id="708" r:id="rId19"/>
    <p:sldId id="698" r:id="rId20"/>
    <p:sldId id="709" r:id="rId21"/>
    <p:sldId id="719" r:id="rId22"/>
    <p:sldId id="710" r:id="rId23"/>
    <p:sldId id="711" r:id="rId24"/>
    <p:sldId id="685" r:id="rId25"/>
    <p:sldId id="688" r:id="rId26"/>
    <p:sldId id="720" r:id="rId27"/>
    <p:sldId id="689" r:id="rId28"/>
    <p:sldId id="701" r:id="rId29"/>
    <p:sldId id="721" r:id="rId30"/>
    <p:sldId id="694" r:id="rId31"/>
    <p:sldId id="722" r:id="rId32"/>
    <p:sldId id="700" r:id="rId33"/>
    <p:sldId id="712" r:id="rId34"/>
    <p:sldId id="577" r:id="rId35"/>
    <p:sldId id="692" r:id="rId36"/>
    <p:sldId id="713" r:id="rId37"/>
    <p:sldId id="690" r:id="rId38"/>
    <p:sldId id="702" r:id="rId39"/>
    <p:sldId id="703" r:id="rId40"/>
    <p:sldId id="714" r:id="rId41"/>
    <p:sldId id="704" r:id="rId42"/>
    <p:sldId id="705" r:id="rId43"/>
    <p:sldId id="715" r:id="rId44"/>
    <p:sldId id="723" r:id="rId45"/>
    <p:sldId id="724" r:id="rId46"/>
    <p:sldId id="575" r:id="rId47"/>
    <p:sldId id="578" r:id="rId48"/>
    <p:sldId id="725" r:id="rId49"/>
    <p:sldId id="582" r:id="rId50"/>
    <p:sldId id="726" r:id="rId51"/>
    <p:sldId id="727" r:id="rId52"/>
    <p:sldId id="587" r:id="rId53"/>
    <p:sldId id="728" r:id="rId54"/>
    <p:sldId id="680" r:id="rId55"/>
    <p:sldId id="681" r:id="rId56"/>
    <p:sldId id="729" r:id="rId57"/>
    <p:sldId id="682" r:id="rId58"/>
    <p:sldId id="730" r:id="rId59"/>
    <p:sldId id="731" r:id="rId60"/>
    <p:sldId id="732" r:id="rId61"/>
    <p:sldId id="733" r:id="rId62"/>
    <p:sldId id="734" r:id="rId63"/>
    <p:sldId id="735" r:id="rId64"/>
    <p:sldId id="691" r:id="rId65"/>
    <p:sldId id="736" r:id="rId66"/>
    <p:sldId id="737" r:id="rId67"/>
    <p:sldId id="693" r:id="rId68"/>
    <p:sldId id="738" r:id="rId69"/>
    <p:sldId id="739" r:id="rId70"/>
    <p:sldId id="740" r:id="rId71"/>
    <p:sldId id="741" r:id="rId72"/>
    <p:sldId id="742" r:id="rId73"/>
    <p:sldId id="743" r:id="rId74"/>
    <p:sldId id="744" r:id="rId75"/>
    <p:sldId id="745" r:id="rId76"/>
    <p:sldId id="746" r:id="rId77"/>
    <p:sldId id="747" r:id="rId78"/>
    <p:sldId id="748" r:id="rId79"/>
    <p:sldId id="749" r:id="rId80"/>
    <p:sldId id="750" r:id="rId81"/>
    <p:sldId id="751" r:id="rId82"/>
    <p:sldId id="752" r:id="rId83"/>
    <p:sldId id="753" r:id="rId84"/>
    <p:sldId id="754" r:id="rId85"/>
    <p:sldId id="755" r:id="rId86"/>
    <p:sldId id="756" r:id="rId87"/>
    <p:sldId id="757" r:id="rId88"/>
    <p:sldId id="584" r:id="rId89"/>
    <p:sldId id="678" r:id="rId90"/>
    <p:sldId id="585" r:id="rId91"/>
    <p:sldId id="583" r:id="rId92"/>
    <p:sldId id="586" r:id="rId93"/>
    <p:sldId id="758" r:id="rId94"/>
    <p:sldId id="759" r:id="rId95"/>
    <p:sldId id="760" r:id="rId96"/>
    <p:sldId id="761" r:id="rId97"/>
    <p:sldId id="632" r:id="rId98"/>
    <p:sldId id="636" r:id="rId99"/>
    <p:sldId id="637" r:id="rId100"/>
    <p:sldId id="762" r:id="rId101"/>
    <p:sldId id="763" r:id="rId102"/>
    <p:sldId id="656" r:id="rId103"/>
    <p:sldId id="764" r:id="rId104"/>
    <p:sldId id="657" r:id="rId105"/>
    <p:sldId id="658" r:id="rId106"/>
    <p:sldId id="659" r:id="rId107"/>
    <p:sldId id="660" r:id="rId108"/>
    <p:sldId id="765" r:id="rId109"/>
    <p:sldId id="766" r:id="rId110"/>
    <p:sldId id="767" r:id="rId111"/>
    <p:sldId id="768" r:id="rId112"/>
    <p:sldId id="769" r:id="rId113"/>
    <p:sldId id="770" r:id="rId114"/>
    <p:sldId id="771" r:id="rId115"/>
    <p:sldId id="772" r:id="rId116"/>
    <p:sldId id="773" r:id="rId117"/>
    <p:sldId id="774" r:id="rId118"/>
    <p:sldId id="775" r:id="rId119"/>
    <p:sldId id="776" r:id="rId120"/>
    <p:sldId id="777" r:id="rId121"/>
    <p:sldId id="778" r:id="rId122"/>
    <p:sldId id="779" r:id="rId123"/>
    <p:sldId id="780" r:id="rId124"/>
    <p:sldId id="781" r:id="rId125"/>
    <p:sldId id="699" r:id="rId126"/>
    <p:sldId id="782" r:id="rId127"/>
    <p:sldId id="783" r:id="rId128"/>
    <p:sldId id="784" r:id="rId129"/>
    <p:sldId id="785" r:id="rId130"/>
    <p:sldId id="786" r:id="rId131"/>
    <p:sldId id="787" r:id="rId132"/>
    <p:sldId id="788" r:id="rId133"/>
    <p:sldId id="666" r:id="rId134"/>
    <p:sldId id="667" r:id="rId135"/>
    <p:sldId id="789" r:id="rId136"/>
    <p:sldId id="790" r:id="rId137"/>
    <p:sldId id="791" r:id="rId138"/>
    <p:sldId id="792" r:id="rId139"/>
    <p:sldId id="668" r:id="rId140"/>
    <p:sldId id="670" r:id="rId141"/>
    <p:sldId id="671" r:id="rId142"/>
    <p:sldId id="674" r:id="rId143"/>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1751" autoAdjust="0"/>
  </p:normalViewPr>
  <p:slideViewPr>
    <p:cSldViewPr snapToGrid="0">
      <p:cViewPr varScale="1">
        <p:scale>
          <a:sx n="87" d="100"/>
          <a:sy n="87" d="100"/>
        </p:scale>
        <p:origin x="528"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4B86CB8-4A1C-4470-9965-BE4B040D6A9A}" type="datetimeFigureOut">
              <a:rPr lang="fr-FR" smtClean="0"/>
              <a:t>07/04/2025</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520A5D-87CF-4CA0-A413-5C79B8028850}" type="slidenum">
              <a:rPr lang="fr-FR" smtClean="0"/>
              <a:t>‹N°›</a:t>
            </a:fld>
            <a:endParaRPr lang="fr-FR"/>
          </a:p>
        </p:txBody>
      </p:sp>
    </p:spTree>
    <p:extLst>
      <p:ext uri="{BB962C8B-B14F-4D97-AF65-F5344CB8AC3E}">
        <p14:creationId xmlns:p14="http://schemas.microsoft.com/office/powerpoint/2010/main" val="11300270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Financement a 100% et avec un taux fixe pas de garantie ni clauses restrictives pas de risque de désuétude ni de perte de </a:t>
            </a:r>
            <a:r>
              <a:rPr lang="fr-CA"/>
              <a:t>valeur économique  </a:t>
            </a:r>
            <a:endParaRPr lang="fr-CA" dirty="0"/>
          </a:p>
        </p:txBody>
      </p:sp>
      <p:sp>
        <p:nvSpPr>
          <p:cNvPr id="4" name="Espace réservé du numéro de diapositive 3"/>
          <p:cNvSpPr>
            <a:spLocks noGrp="1"/>
          </p:cNvSpPr>
          <p:nvPr>
            <p:ph type="sldNum" sz="quarter" idx="5"/>
          </p:nvPr>
        </p:nvSpPr>
        <p:spPr/>
        <p:txBody>
          <a:bodyPr/>
          <a:lstStyle/>
          <a:p>
            <a:fld id="{3B520A5D-87CF-4CA0-A413-5C79B8028850}" type="slidenum">
              <a:rPr lang="fr-FR" smtClean="0"/>
              <a:t>3</a:t>
            </a:fld>
            <a:endParaRPr lang="fr-FR"/>
          </a:p>
        </p:txBody>
      </p:sp>
    </p:spTree>
    <p:extLst>
      <p:ext uri="{BB962C8B-B14F-4D97-AF65-F5344CB8AC3E}">
        <p14:creationId xmlns:p14="http://schemas.microsoft.com/office/powerpoint/2010/main" val="26495605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Deux exceptions: la durée est mois d’une année et la valeur de l’actif ne dépasse 5000 dollars US </a:t>
            </a:r>
          </a:p>
        </p:txBody>
      </p:sp>
      <p:sp>
        <p:nvSpPr>
          <p:cNvPr id="4" name="Espace réservé du numéro de diapositive 3"/>
          <p:cNvSpPr>
            <a:spLocks noGrp="1"/>
          </p:cNvSpPr>
          <p:nvPr>
            <p:ph type="sldNum" sz="quarter" idx="5"/>
          </p:nvPr>
        </p:nvSpPr>
        <p:spPr/>
        <p:txBody>
          <a:bodyPr/>
          <a:lstStyle/>
          <a:p>
            <a:fld id="{3B520A5D-87CF-4CA0-A413-5C79B8028850}" type="slidenum">
              <a:rPr lang="fr-FR" smtClean="0"/>
              <a:t>7</a:t>
            </a:fld>
            <a:endParaRPr lang="fr-FR"/>
          </a:p>
        </p:txBody>
      </p:sp>
    </p:spTree>
    <p:extLst>
      <p:ext uri="{BB962C8B-B14F-4D97-AF65-F5344CB8AC3E}">
        <p14:creationId xmlns:p14="http://schemas.microsoft.com/office/powerpoint/2010/main" val="1479306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Si c’est ne pas un contrat de location ca sera un contrat de service </a:t>
            </a:r>
          </a:p>
          <a:p>
            <a:endParaRPr lang="fr-CA" dirty="0"/>
          </a:p>
        </p:txBody>
      </p:sp>
      <p:sp>
        <p:nvSpPr>
          <p:cNvPr id="4" name="Espace réservé du numéro de diapositive 3"/>
          <p:cNvSpPr>
            <a:spLocks noGrp="1"/>
          </p:cNvSpPr>
          <p:nvPr>
            <p:ph type="sldNum" sz="quarter" idx="5"/>
          </p:nvPr>
        </p:nvSpPr>
        <p:spPr/>
        <p:txBody>
          <a:bodyPr/>
          <a:lstStyle/>
          <a:p>
            <a:fld id="{3B520A5D-87CF-4CA0-A413-5C79B8028850}" type="slidenum">
              <a:rPr lang="fr-FR" smtClean="0"/>
              <a:t>8</a:t>
            </a:fld>
            <a:endParaRPr lang="fr-FR"/>
          </a:p>
        </p:txBody>
      </p:sp>
    </p:spTree>
    <p:extLst>
      <p:ext uri="{BB962C8B-B14F-4D97-AF65-F5344CB8AC3E}">
        <p14:creationId xmlns:p14="http://schemas.microsoft.com/office/powerpoint/2010/main" val="365676062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La substitution a une date donnée n’est pas un droit de substitution pour le fournisseur </a:t>
            </a:r>
          </a:p>
        </p:txBody>
      </p:sp>
      <p:sp>
        <p:nvSpPr>
          <p:cNvPr id="4" name="Espace réservé du numéro de diapositive 3"/>
          <p:cNvSpPr>
            <a:spLocks noGrp="1"/>
          </p:cNvSpPr>
          <p:nvPr>
            <p:ph type="sldNum" sz="quarter" idx="5"/>
          </p:nvPr>
        </p:nvSpPr>
        <p:spPr/>
        <p:txBody>
          <a:bodyPr/>
          <a:lstStyle/>
          <a:p>
            <a:fld id="{3B520A5D-87CF-4CA0-A413-5C79B8028850}" type="slidenum">
              <a:rPr lang="fr-FR" smtClean="0"/>
              <a:t>13</a:t>
            </a:fld>
            <a:endParaRPr lang="fr-FR"/>
          </a:p>
        </p:txBody>
      </p:sp>
    </p:spTree>
    <p:extLst>
      <p:ext uri="{BB962C8B-B14F-4D97-AF65-F5344CB8AC3E}">
        <p14:creationId xmlns:p14="http://schemas.microsoft.com/office/powerpoint/2010/main" val="31196498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Les incitatifs sont offerts par le bailleur (un bien sous-jacent) </a:t>
            </a:r>
          </a:p>
        </p:txBody>
      </p:sp>
      <p:sp>
        <p:nvSpPr>
          <p:cNvPr id="4" name="Espace réservé du numéro de diapositive 3"/>
          <p:cNvSpPr>
            <a:spLocks noGrp="1"/>
          </p:cNvSpPr>
          <p:nvPr>
            <p:ph type="sldNum" sz="quarter" idx="5"/>
          </p:nvPr>
        </p:nvSpPr>
        <p:spPr/>
        <p:txBody>
          <a:bodyPr/>
          <a:lstStyle/>
          <a:p>
            <a:fld id="{3B520A5D-87CF-4CA0-A413-5C79B8028850}" type="slidenum">
              <a:rPr lang="fr-FR" smtClean="0"/>
              <a:t>42</a:t>
            </a:fld>
            <a:endParaRPr lang="fr-FR"/>
          </a:p>
        </p:txBody>
      </p:sp>
    </p:spTree>
    <p:extLst>
      <p:ext uri="{BB962C8B-B14F-4D97-AF65-F5344CB8AC3E}">
        <p14:creationId xmlns:p14="http://schemas.microsoft.com/office/powerpoint/2010/main" val="42707118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dirty="0"/>
              <a:t>Est un AF pour le bailleur </a:t>
            </a:r>
          </a:p>
          <a:p>
            <a:r>
              <a:rPr lang="fr-CA" dirty="0"/>
              <a:t>Est un PF pour le preneur </a:t>
            </a:r>
          </a:p>
        </p:txBody>
      </p:sp>
      <p:sp>
        <p:nvSpPr>
          <p:cNvPr id="4" name="Espace réservé du numéro de diapositive 3"/>
          <p:cNvSpPr>
            <a:spLocks noGrp="1"/>
          </p:cNvSpPr>
          <p:nvPr>
            <p:ph type="sldNum" sz="quarter" idx="5"/>
          </p:nvPr>
        </p:nvSpPr>
        <p:spPr/>
        <p:txBody>
          <a:bodyPr/>
          <a:lstStyle/>
          <a:p>
            <a:fld id="{3B520A5D-87CF-4CA0-A413-5C79B8028850}" type="slidenum">
              <a:rPr lang="fr-FR" smtClean="0"/>
              <a:t>60</a:t>
            </a:fld>
            <a:endParaRPr lang="fr-FR"/>
          </a:p>
        </p:txBody>
      </p:sp>
    </p:spTree>
    <p:extLst>
      <p:ext uri="{BB962C8B-B14F-4D97-AF65-F5344CB8AC3E}">
        <p14:creationId xmlns:p14="http://schemas.microsoft.com/office/powerpoint/2010/main" val="37410050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5"/>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Calibri" panose="020F0502020204030204" pitchFamily="34" charset="0"/>
                <a:ea typeface="MS PGothic" panose="020B0600070205080204" pitchFamily="34" charset="-128"/>
              </a:defRPr>
            </a:lvl1pPr>
            <a:lvl2pPr marL="742950" indent="-285750" defTabSz="912813">
              <a:defRPr>
                <a:solidFill>
                  <a:schemeClr val="tx1"/>
                </a:solidFill>
                <a:latin typeface="Calibri" panose="020F0502020204030204" pitchFamily="34" charset="0"/>
                <a:ea typeface="MS PGothic" panose="020B0600070205080204" pitchFamily="34" charset="-128"/>
              </a:defRPr>
            </a:lvl2pPr>
            <a:lvl3pPr marL="1143000" indent="-228600" defTabSz="912813">
              <a:defRPr>
                <a:solidFill>
                  <a:schemeClr val="tx1"/>
                </a:solidFill>
                <a:latin typeface="Calibri" panose="020F0502020204030204" pitchFamily="34" charset="0"/>
                <a:ea typeface="MS PGothic" panose="020B0600070205080204" pitchFamily="34" charset="-128"/>
              </a:defRPr>
            </a:lvl3pPr>
            <a:lvl4pPr marL="1600200" indent="-228600" defTabSz="912813">
              <a:defRPr>
                <a:solidFill>
                  <a:schemeClr val="tx1"/>
                </a:solidFill>
                <a:latin typeface="Calibri" panose="020F0502020204030204" pitchFamily="34" charset="0"/>
                <a:ea typeface="MS PGothic" panose="020B0600070205080204" pitchFamily="34" charset="-128"/>
              </a:defRPr>
            </a:lvl4pPr>
            <a:lvl5pPr marL="2057400" indent="-228600" defTabSz="912813">
              <a:defRPr>
                <a:solidFill>
                  <a:schemeClr val="tx1"/>
                </a:solidFill>
                <a:latin typeface="Calibri" panose="020F0502020204030204" pitchFamily="34" charset="0"/>
                <a:ea typeface="MS PGothic" panose="020B0600070205080204" pitchFamily="34" charset="-128"/>
              </a:defRPr>
            </a:lvl5pPr>
            <a:lvl6pPr marL="2514600" indent="-228600" defTabSz="912813"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912813"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912813"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912813"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0" hangingPunct="0"/>
            <a:fld id="{33690008-110F-4DFA-BA92-9EBB9DDC739B}" type="slidenum">
              <a:rPr lang="en-US" altLang="en-US" sz="1000">
                <a:latin typeface="Times New Roman" panose="02020603050405020304" pitchFamily="18" charset="0"/>
              </a:rPr>
              <a:pPr eaLnBrk="0" hangingPunct="0"/>
              <a:t>133</a:t>
            </a:fld>
            <a:endParaRPr lang="en-US" altLang="en-US" sz="1000">
              <a:latin typeface="Times New Roman" panose="02020603050405020304" pitchFamily="18" charset="0"/>
            </a:endParaRPr>
          </a:p>
        </p:txBody>
      </p:sp>
      <p:sp>
        <p:nvSpPr>
          <p:cNvPr id="74754" name="Rectangle 2"/>
          <p:cNvSpPr>
            <a:spLocks noGrp="1" noRot="1" noChangeAspect="1" noChangeArrowheads="1" noTextEdit="1"/>
          </p:cNvSpPr>
          <p:nvPr>
            <p:ph type="sldImg"/>
          </p:nvPr>
        </p:nvSpPr>
        <p:spPr bwMode="auto">
          <a:xfrm>
            <a:off x="392113" y="687388"/>
            <a:ext cx="6226175" cy="350361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4755" name="Rectangle 3"/>
          <p:cNvSpPr>
            <a:spLocks noGrp="1" noChangeArrowheads="1"/>
          </p:cNvSpPr>
          <p:nvPr>
            <p:ph type="body" idx="1"/>
          </p:nvPr>
        </p:nvSpPr>
        <p:spPr bwMode="auto">
          <a:xfrm>
            <a:off x="914400" y="4418013"/>
            <a:ext cx="5181600" cy="41925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35038">
              <a:spcBef>
                <a:spcPct val="0"/>
              </a:spcBef>
            </a:pPr>
            <a:endParaRPr lang="fr-FR" altLang="en-US"/>
          </a:p>
        </p:txBody>
      </p:sp>
    </p:spTree>
    <p:extLst>
      <p:ext uri="{BB962C8B-B14F-4D97-AF65-F5344CB8AC3E}">
        <p14:creationId xmlns:p14="http://schemas.microsoft.com/office/powerpoint/2010/main" val="25137381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5"/>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Calibri" panose="020F0502020204030204" pitchFamily="34" charset="0"/>
                <a:ea typeface="MS PGothic" panose="020B0600070205080204" pitchFamily="34" charset="-128"/>
              </a:defRPr>
            </a:lvl1pPr>
            <a:lvl2pPr marL="742950" indent="-285750" defTabSz="912813">
              <a:defRPr>
                <a:solidFill>
                  <a:schemeClr val="tx1"/>
                </a:solidFill>
                <a:latin typeface="Calibri" panose="020F0502020204030204" pitchFamily="34" charset="0"/>
                <a:ea typeface="MS PGothic" panose="020B0600070205080204" pitchFamily="34" charset="-128"/>
              </a:defRPr>
            </a:lvl2pPr>
            <a:lvl3pPr marL="1143000" indent="-228600" defTabSz="912813">
              <a:defRPr>
                <a:solidFill>
                  <a:schemeClr val="tx1"/>
                </a:solidFill>
                <a:latin typeface="Calibri" panose="020F0502020204030204" pitchFamily="34" charset="0"/>
                <a:ea typeface="MS PGothic" panose="020B0600070205080204" pitchFamily="34" charset="-128"/>
              </a:defRPr>
            </a:lvl3pPr>
            <a:lvl4pPr marL="1600200" indent="-228600" defTabSz="912813">
              <a:defRPr>
                <a:solidFill>
                  <a:schemeClr val="tx1"/>
                </a:solidFill>
                <a:latin typeface="Calibri" panose="020F0502020204030204" pitchFamily="34" charset="0"/>
                <a:ea typeface="MS PGothic" panose="020B0600070205080204" pitchFamily="34" charset="-128"/>
              </a:defRPr>
            </a:lvl4pPr>
            <a:lvl5pPr marL="2057400" indent="-228600" defTabSz="912813">
              <a:defRPr>
                <a:solidFill>
                  <a:schemeClr val="tx1"/>
                </a:solidFill>
                <a:latin typeface="Calibri" panose="020F0502020204030204" pitchFamily="34" charset="0"/>
                <a:ea typeface="MS PGothic" panose="020B0600070205080204" pitchFamily="34" charset="-128"/>
              </a:defRPr>
            </a:lvl5pPr>
            <a:lvl6pPr marL="2514600" indent="-228600" defTabSz="912813"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912813"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912813"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912813"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0" hangingPunct="0"/>
            <a:fld id="{9453BAE1-3D40-4D04-A65B-A414FED72D5A}" type="slidenum">
              <a:rPr lang="en-US" altLang="en-US" sz="1000">
                <a:latin typeface="Times New Roman" panose="02020603050405020304" pitchFamily="18" charset="0"/>
              </a:rPr>
              <a:pPr eaLnBrk="0" hangingPunct="0"/>
              <a:t>134</a:t>
            </a:fld>
            <a:endParaRPr lang="en-US" altLang="en-US" sz="1000">
              <a:latin typeface="Times New Roman" panose="02020603050405020304" pitchFamily="18" charset="0"/>
            </a:endParaRPr>
          </a:p>
        </p:txBody>
      </p:sp>
      <p:sp>
        <p:nvSpPr>
          <p:cNvPr id="75778" name="Rectangle 2"/>
          <p:cNvSpPr>
            <a:spLocks noGrp="1" noRot="1" noChangeAspect="1" noChangeArrowheads="1" noTextEdit="1"/>
          </p:cNvSpPr>
          <p:nvPr>
            <p:ph type="sldImg"/>
          </p:nvPr>
        </p:nvSpPr>
        <p:spPr bwMode="auto">
          <a:xfrm>
            <a:off x="392113" y="687388"/>
            <a:ext cx="6226175" cy="350361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79" name="Rectangle 3"/>
          <p:cNvSpPr>
            <a:spLocks noGrp="1" noChangeArrowheads="1"/>
          </p:cNvSpPr>
          <p:nvPr>
            <p:ph type="body" idx="1"/>
          </p:nvPr>
        </p:nvSpPr>
        <p:spPr bwMode="auto">
          <a:xfrm>
            <a:off x="914400" y="4418013"/>
            <a:ext cx="5181600" cy="41925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35038">
              <a:spcBef>
                <a:spcPct val="0"/>
              </a:spcBef>
            </a:pPr>
            <a:endParaRPr lang="fr-FR" altLang="en-US"/>
          </a:p>
        </p:txBody>
      </p:sp>
    </p:spTree>
    <p:extLst>
      <p:ext uri="{BB962C8B-B14F-4D97-AF65-F5344CB8AC3E}">
        <p14:creationId xmlns:p14="http://schemas.microsoft.com/office/powerpoint/2010/main" val="5274093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5"/>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Calibri" panose="020F0502020204030204" pitchFamily="34" charset="0"/>
                <a:ea typeface="MS PGothic" panose="020B0600070205080204" pitchFamily="34" charset="-128"/>
              </a:defRPr>
            </a:lvl1pPr>
            <a:lvl2pPr marL="742950" indent="-285750" defTabSz="912813">
              <a:defRPr>
                <a:solidFill>
                  <a:schemeClr val="tx1"/>
                </a:solidFill>
                <a:latin typeface="Calibri" panose="020F0502020204030204" pitchFamily="34" charset="0"/>
                <a:ea typeface="MS PGothic" panose="020B0600070205080204" pitchFamily="34" charset="-128"/>
              </a:defRPr>
            </a:lvl2pPr>
            <a:lvl3pPr marL="1143000" indent="-228600" defTabSz="912813">
              <a:defRPr>
                <a:solidFill>
                  <a:schemeClr val="tx1"/>
                </a:solidFill>
                <a:latin typeface="Calibri" panose="020F0502020204030204" pitchFamily="34" charset="0"/>
                <a:ea typeface="MS PGothic" panose="020B0600070205080204" pitchFamily="34" charset="-128"/>
              </a:defRPr>
            </a:lvl3pPr>
            <a:lvl4pPr marL="1600200" indent="-228600" defTabSz="912813">
              <a:defRPr>
                <a:solidFill>
                  <a:schemeClr val="tx1"/>
                </a:solidFill>
                <a:latin typeface="Calibri" panose="020F0502020204030204" pitchFamily="34" charset="0"/>
                <a:ea typeface="MS PGothic" panose="020B0600070205080204" pitchFamily="34" charset="-128"/>
              </a:defRPr>
            </a:lvl4pPr>
            <a:lvl5pPr marL="2057400" indent="-228600" defTabSz="912813">
              <a:defRPr>
                <a:solidFill>
                  <a:schemeClr val="tx1"/>
                </a:solidFill>
                <a:latin typeface="Calibri" panose="020F0502020204030204" pitchFamily="34" charset="0"/>
                <a:ea typeface="MS PGothic" panose="020B0600070205080204" pitchFamily="34" charset="-128"/>
              </a:defRPr>
            </a:lvl5pPr>
            <a:lvl6pPr marL="2514600" indent="-228600" defTabSz="912813"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912813"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912813"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912813"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0" hangingPunct="0"/>
            <a:fld id="{9453BAE1-3D40-4D04-A65B-A414FED72D5A}" type="slidenum">
              <a:rPr lang="en-US" altLang="en-US" sz="1000">
                <a:latin typeface="Times New Roman" panose="02020603050405020304" pitchFamily="18" charset="0"/>
              </a:rPr>
              <a:pPr eaLnBrk="0" hangingPunct="0"/>
              <a:t>135</a:t>
            </a:fld>
            <a:endParaRPr lang="en-US" altLang="en-US" sz="1000">
              <a:latin typeface="Times New Roman" panose="02020603050405020304" pitchFamily="18" charset="0"/>
            </a:endParaRPr>
          </a:p>
        </p:txBody>
      </p:sp>
      <p:sp>
        <p:nvSpPr>
          <p:cNvPr id="75778" name="Rectangle 2"/>
          <p:cNvSpPr>
            <a:spLocks noGrp="1" noRot="1" noChangeAspect="1" noChangeArrowheads="1" noTextEdit="1"/>
          </p:cNvSpPr>
          <p:nvPr>
            <p:ph type="sldImg"/>
          </p:nvPr>
        </p:nvSpPr>
        <p:spPr bwMode="auto">
          <a:xfrm>
            <a:off x="392113" y="687388"/>
            <a:ext cx="6226175" cy="350361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79" name="Rectangle 3"/>
          <p:cNvSpPr>
            <a:spLocks noGrp="1" noChangeArrowheads="1"/>
          </p:cNvSpPr>
          <p:nvPr>
            <p:ph type="body" idx="1"/>
          </p:nvPr>
        </p:nvSpPr>
        <p:spPr bwMode="auto">
          <a:xfrm>
            <a:off x="914400" y="4418013"/>
            <a:ext cx="5181600" cy="41925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35038">
              <a:spcBef>
                <a:spcPct val="0"/>
              </a:spcBef>
            </a:pPr>
            <a:endParaRPr lang="fr-FR" altLang="en-US"/>
          </a:p>
        </p:txBody>
      </p:sp>
    </p:spTree>
    <p:extLst>
      <p:ext uri="{BB962C8B-B14F-4D97-AF65-F5344CB8AC3E}">
        <p14:creationId xmlns:p14="http://schemas.microsoft.com/office/powerpoint/2010/main" val="16712258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5"/>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Calibri" panose="020F0502020204030204" pitchFamily="34" charset="0"/>
                <a:ea typeface="MS PGothic" panose="020B0600070205080204" pitchFamily="34" charset="-128"/>
              </a:defRPr>
            </a:lvl1pPr>
            <a:lvl2pPr marL="742950" indent="-285750" defTabSz="912813">
              <a:defRPr>
                <a:solidFill>
                  <a:schemeClr val="tx1"/>
                </a:solidFill>
                <a:latin typeface="Calibri" panose="020F0502020204030204" pitchFamily="34" charset="0"/>
                <a:ea typeface="MS PGothic" panose="020B0600070205080204" pitchFamily="34" charset="-128"/>
              </a:defRPr>
            </a:lvl2pPr>
            <a:lvl3pPr marL="1143000" indent="-228600" defTabSz="912813">
              <a:defRPr>
                <a:solidFill>
                  <a:schemeClr val="tx1"/>
                </a:solidFill>
                <a:latin typeface="Calibri" panose="020F0502020204030204" pitchFamily="34" charset="0"/>
                <a:ea typeface="MS PGothic" panose="020B0600070205080204" pitchFamily="34" charset="-128"/>
              </a:defRPr>
            </a:lvl3pPr>
            <a:lvl4pPr marL="1600200" indent="-228600" defTabSz="912813">
              <a:defRPr>
                <a:solidFill>
                  <a:schemeClr val="tx1"/>
                </a:solidFill>
                <a:latin typeface="Calibri" panose="020F0502020204030204" pitchFamily="34" charset="0"/>
                <a:ea typeface="MS PGothic" panose="020B0600070205080204" pitchFamily="34" charset="-128"/>
              </a:defRPr>
            </a:lvl4pPr>
            <a:lvl5pPr marL="2057400" indent="-228600" defTabSz="912813">
              <a:defRPr>
                <a:solidFill>
                  <a:schemeClr val="tx1"/>
                </a:solidFill>
                <a:latin typeface="Calibri" panose="020F0502020204030204" pitchFamily="34" charset="0"/>
                <a:ea typeface="MS PGothic" panose="020B0600070205080204" pitchFamily="34" charset="-128"/>
              </a:defRPr>
            </a:lvl5pPr>
            <a:lvl6pPr marL="2514600" indent="-228600" defTabSz="912813"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912813"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912813"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912813"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0" hangingPunct="0"/>
            <a:fld id="{9453BAE1-3D40-4D04-A65B-A414FED72D5A}" type="slidenum">
              <a:rPr lang="en-US" altLang="en-US" sz="1000">
                <a:latin typeface="Times New Roman" panose="02020603050405020304" pitchFamily="18" charset="0"/>
              </a:rPr>
              <a:pPr eaLnBrk="0" hangingPunct="0"/>
              <a:t>137</a:t>
            </a:fld>
            <a:endParaRPr lang="en-US" altLang="en-US" sz="1000">
              <a:latin typeface="Times New Roman" panose="02020603050405020304" pitchFamily="18" charset="0"/>
            </a:endParaRPr>
          </a:p>
        </p:txBody>
      </p:sp>
      <p:sp>
        <p:nvSpPr>
          <p:cNvPr id="75778" name="Rectangle 2"/>
          <p:cNvSpPr>
            <a:spLocks noGrp="1" noRot="1" noChangeAspect="1" noChangeArrowheads="1" noTextEdit="1"/>
          </p:cNvSpPr>
          <p:nvPr>
            <p:ph type="sldImg"/>
          </p:nvPr>
        </p:nvSpPr>
        <p:spPr bwMode="auto">
          <a:xfrm>
            <a:off x="392113" y="687388"/>
            <a:ext cx="6226175" cy="350361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79" name="Rectangle 3"/>
          <p:cNvSpPr>
            <a:spLocks noGrp="1" noChangeArrowheads="1"/>
          </p:cNvSpPr>
          <p:nvPr>
            <p:ph type="body" idx="1"/>
          </p:nvPr>
        </p:nvSpPr>
        <p:spPr bwMode="auto">
          <a:xfrm>
            <a:off x="914400" y="4418013"/>
            <a:ext cx="5181600" cy="41925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35038">
              <a:spcBef>
                <a:spcPct val="0"/>
              </a:spcBef>
            </a:pPr>
            <a:endParaRPr lang="fr-FR" altLang="en-US"/>
          </a:p>
        </p:txBody>
      </p:sp>
    </p:spTree>
    <p:extLst>
      <p:ext uri="{BB962C8B-B14F-4D97-AF65-F5344CB8AC3E}">
        <p14:creationId xmlns:p14="http://schemas.microsoft.com/office/powerpoint/2010/main" val="19872972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5"/>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Calibri" panose="020F0502020204030204" pitchFamily="34" charset="0"/>
                <a:ea typeface="MS PGothic" panose="020B0600070205080204" pitchFamily="34" charset="-128"/>
              </a:defRPr>
            </a:lvl1pPr>
            <a:lvl2pPr marL="742950" indent="-285750" defTabSz="912813">
              <a:defRPr>
                <a:solidFill>
                  <a:schemeClr val="tx1"/>
                </a:solidFill>
                <a:latin typeface="Calibri" panose="020F0502020204030204" pitchFamily="34" charset="0"/>
                <a:ea typeface="MS PGothic" panose="020B0600070205080204" pitchFamily="34" charset="-128"/>
              </a:defRPr>
            </a:lvl2pPr>
            <a:lvl3pPr marL="1143000" indent="-228600" defTabSz="912813">
              <a:defRPr>
                <a:solidFill>
                  <a:schemeClr val="tx1"/>
                </a:solidFill>
                <a:latin typeface="Calibri" panose="020F0502020204030204" pitchFamily="34" charset="0"/>
                <a:ea typeface="MS PGothic" panose="020B0600070205080204" pitchFamily="34" charset="-128"/>
              </a:defRPr>
            </a:lvl3pPr>
            <a:lvl4pPr marL="1600200" indent="-228600" defTabSz="912813">
              <a:defRPr>
                <a:solidFill>
                  <a:schemeClr val="tx1"/>
                </a:solidFill>
                <a:latin typeface="Calibri" panose="020F0502020204030204" pitchFamily="34" charset="0"/>
                <a:ea typeface="MS PGothic" panose="020B0600070205080204" pitchFamily="34" charset="-128"/>
              </a:defRPr>
            </a:lvl4pPr>
            <a:lvl5pPr marL="2057400" indent="-228600" defTabSz="912813">
              <a:defRPr>
                <a:solidFill>
                  <a:schemeClr val="tx1"/>
                </a:solidFill>
                <a:latin typeface="Calibri" panose="020F0502020204030204" pitchFamily="34" charset="0"/>
                <a:ea typeface="MS PGothic" panose="020B0600070205080204" pitchFamily="34" charset="-128"/>
              </a:defRPr>
            </a:lvl5pPr>
            <a:lvl6pPr marL="2514600" indent="-228600" defTabSz="912813"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912813"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912813"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912813"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0" hangingPunct="0"/>
            <a:fld id="{9453BAE1-3D40-4D04-A65B-A414FED72D5A}" type="slidenum">
              <a:rPr lang="en-US" altLang="en-US" sz="1000">
                <a:latin typeface="Times New Roman" panose="02020603050405020304" pitchFamily="18" charset="0"/>
              </a:rPr>
              <a:pPr eaLnBrk="0" hangingPunct="0"/>
              <a:t>138</a:t>
            </a:fld>
            <a:endParaRPr lang="en-US" altLang="en-US" sz="1000">
              <a:latin typeface="Times New Roman" panose="02020603050405020304" pitchFamily="18" charset="0"/>
            </a:endParaRPr>
          </a:p>
        </p:txBody>
      </p:sp>
      <p:sp>
        <p:nvSpPr>
          <p:cNvPr id="75778" name="Rectangle 2"/>
          <p:cNvSpPr>
            <a:spLocks noGrp="1" noRot="1" noChangeAspect="1" noChangeArrowheads="1" noTextEdit="1"/>
          </p:cNvSpPr>
          <p:nvPr>
            <p:ph type="sldImg"/>
          </p:nvPr>
        </p:nvSpPr>
        <p:spPr bwMode="auto">
          <a:xfrm>
            <a:off x="392113" y="687388"/>
            <a:ext cx="6226175" cy="350361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5779" name="Rectangle 3"/>
          <p:cNvSpPr>
            <a:spLocks noGrp="1" noChangeArrowheads="1"/>
          </p:cNvSpPr>
          <p:nvPr>
            <p:ph type="body" idx="1"/>
          </p:nvPr>
        </p:nvSpPr>
        <p:spPr bwMode="auto">
          <a:xfrm>
            <a:off x="914400" y="4418013"/>
            <a:ext cx="5181600" cy="41925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35038">
              <a:spcBef>
                <a:spcPct val="0"/>
              </a:spcBef>
            </a:pPr>
            <a:endParaRPr lang="fr-FR" altLang="en-US"/>
          </a:p>
        </p:txBody>
      </p:sp>
    </p:spTree>
    <p:extLst>
      <p:ext uri="{BB962C8B-B14F-4D97-AF65-F5344CB8AC3E}">
        <p14:creationId xmlns:p14="http://schemas.microsoft.com/office/powerpoint/2010/main" val="10508660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5"/>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Calibri" panose="020F0502020204030204" pitchFamily="34" charset="0"/>
                <a:ea typeface="MS PGothic" panose="020B0600070205080204" pitchFamily="34" charset="-128"/>
              </a:defRPr>
            </a:lvl1pPr>
            <a:lvl2pPr marL="742950" indent="-285750" defTabSz="912813">
              <a:defRPr>
                <a:solidFill>
                  <a:schemeClr val="tx1"/>
                </a:solidFill>
                <a:latin typeface="Calibri" panose="020F0502020204030204" pitchFamily="34" charset="0"/>
                <a:ea typeface="MS PGothic" panose="020B0600070205080204" pitchFamily="34" charset="-128"/>
              </a:defRPr>
            </a:lvl2pPr>
            <a:lvl3pPr marL="1143000" indent="-228600" defTabSz="912813">
              <a:defRPr>
                <a:solidFill>
                  <a:schemeClr val="tx1"/>
                </a:solidFill>
                <a:latin typeface="Calibri" panose="020F0502020204030204" pitchFamily="34" charset="0"/>
                <a:ea typeface="MS PGothic" panose="020B0600070205080204" pitchFamily="34" charset="-128"/>
              </a:defRPr>
            </a:lvl3pPr>
            <a:lvl4pPr marL="1600200" indent="-228600" defTabSz="912813">
              <a:defRPr>
                <a:solidFill>
                  <a:schemeClr val="tx1"/>
                </a:solidFill>
                <a:latin typeface="Calibri" panose="020F0502020204030204" pitchFamily="34" charset="0"/>
                <a:ea typeface="MS PGothic" panose="020B0600070205080204" pitchFamily="34" charset="-128"/>
              </a:defRPr>
            </a:lvl4pPr>
            <a:lvl5pPr marL="2057400" indent="-228600" defTabSz="912813">
              <a:defRPr>
                <a:solidFill>
                  <a:schemeClr val="tx1"/>
                </a:solidFill>
                <a:latin typeface="Calibri" panose="020F0502020204030204" pitchFamily="34" charset="0"/>
                <a:ea typeface="MS PGothic" panose="020B0600070205080204" pitchFamily="34" charset="-128"/>
              </a:defRPr>
            </a:lvl5pPr>
            <a:lvl6pPr marL="2514600" indent="-228600" defTabSz="912813"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912813"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912813"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912813"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0" hangingPunct="0"/>
            <a:fld id="{B61E6E2B-F973-4322-8FA6-2EC02E3CA47A}" type="slidenum">
              <a:rPr lang="en-US" altLang="en-US" sz="1000">
                <a:latin typeface="Times New Roman" panose="02020603050405020304" pitchFamily="18" charset="0"/>
              </a:rPr>
              <a:pPr eaLnBrk="0" hangingPunct="0"/>
              <a:t>139</a:t>
            </a:fld>
            <a:endParaRPr lang="en-US" altLang="en-US" sz="1000">
              <a:latin typeface="Times New Roman" panose="02020603050405020304" pitchFamily="18" charset="0"/>
            </a:endParaRPr>
          </a:p>
        </p:txBody>
      </p:sp>
      <p:sp>
        <p:nvSpPr>
          <p:cNvPr id="76802" name="Rectangle 2"/>
          <p:cNvSpPr>
            <a:spLocks noGrp="1" noRot="1" noChangeAspect="1" noChangeArrowheads="1" noTextEdit="1"/>
          </p:cNvSpPr>
          <p:nvPr>
            <p:ph type="sldImg"/>
          </p:nvPr>
        </p:nvSpPr>
        <p:spPr bwMode="auto">
          <a:xfrm>
            <a:off x="392113" y="687388"/>
            <a:ext cx="6226175" cy="350361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6803" name="Rectangle 3"/>
          <p:cNvSpPr>
            <a:spLocks noGrp="1" noChangeArrowheads="1"/>
          </p:cNvSpPr>
          <p:nvPr>
            <p:ph type="body" idx="1"/>
          </p:nvPr>
        </p:nvSpPr>
        <p:spPr bwMode="auto">
          <a:xfrm>
            <a:off x="914400" y="4418013"/>
            <a:ext cx="5181600" cy="41925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35038">
              <a:spcBef>
                <a:spcPct val="0"/>
              </a:spcBef>
            </a:pPr>
            <a:endParaRPr lang="fr-FR" altLang="en-US"/>
          </a:p>
        </p:txBody>
      </p:sp>
    </p:spTree>
    <p:extLst>
      <p:ext uri="{BB962C8B-B14F-4D97-AF65-F5344CB8AC3E}">
        <p14:creationId xmlns:p14="http://schemas.microsoft.com/office/powerpoint/2010/main" val="159674306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5"/>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Calibri" panose="020F0502020204030204" pitchFamily="34" charset="0"/>
                <a:ea typeface="MS PGothic" panose="020B0600070205080204" pitchFamily="34" charset="-128"/>
              </a:defRPr>
            </a:lvl1pPr>
            <a:lvl2pPr marL="742950" indent="-285750" defTabSz="912813">
              <a:defRPr>
                <a:solidFill>
                  <a:schemeClr val="tx1"/>
                </a:solidFill>
                <a:latin typeface="Calibri" panose="020F0502020204030204" pitchFamily="34" charset="0"/>
                <a:ea typeface="MS PGothic" panose="020B0600070205080204" pitchFamily="34" charset="-128"/>
              </a:defRPr>
            </a:lvl2pPr>
            <a:lvl3pPr marL="1143000" indent="-228600" defTabSz="912813">
              <a:defRPr>
                <a:solidFill>
                  <a:schemeClr val="tx1"/>
                </a:solidFill>
                <a:latin typeface="Calibri" panose="020F0502020204030204" pitchFamily="34" charset="0"/>
                <a:ea typeface="MS PGothic" panose="020B0600070205080204" pitchFamily="34" charset="-128"/>
              </a:defRPr>
            </a:lvl3pPr>
            <a:lvl4pPr marL="1600200" indent="-228600" defTabSz="912813">
              <a:defRPr>
                <a:solidFill>
                  <a:schemeClr val="tx1"/>
                </a:solidFill>
                <a:latin typeface="Calibri" panose="020F0502020204030204" pitchFamily="34" charset="0"/>
                <a:ea typeface="MS PGothic" panose="020B0600070205080204" pitchFamily="34" charset="-128"/>
              </a:defRPr>
            </a:lvl4pPr>
            <a:lvl5pPr marL="2057400" indent="-228600" defTabSz="912813">
              <a:defRPr>
                <a:solidFill>
                  <a:schemeClr val="tx1"/>
                </a:solidFill>
                <a:latin typeface="Calibri" panose="020F0502020204030204" pitchFamily="34" charset="0"/>
                <a:ea typeface="MS PGothic" panose="020B0600070205080204" pitchFamily="34" charset="-128"/>
              </a:defRPr>
            </a:lvl5pPr>
            <a:lvl6pPr marL="2514600" indent="-228600" defTabSz="912813"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912813"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912813"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912813"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0" hangingPunct="0"/>
            <a:fld id="{47387372-1853-47E6-A817-AA74A39DC3DF}" type="slidenum">
              <a:rPr lang="en-US" altLang="en-US" sz="1000">
                <a:latin typeface="Times New Roman" panose="02020603050405020304" pitchFamily="18" charset="0"/>
              </a:rPr>
              <a:pPr eaLnBrk="0" hangingPunct="0"/>
              <a:t>140</a:t>
            </a:fld>
            <a:endParaRPr lang="en-US" altLang="en-US" sz="1000">
              <a:latin typeface="Times New Roman" panose="02020603050405020304" pitchFamily="18" charset="0"/>
            </a:endParaRPr>
          </a:p>
        </p:txBody>
      </p:sp>
      <p:sp>
        <p:nvSpPr>
          <p:cNvPr id="78850" name="Rectangle 2"/>
          <p:cNvSpPr>
            <a:spLocks noGrp="1" noRot="1" noChangeAspect="1" noChangeArrowheads="1" noTextEdit="1"/>
          </p:cNvSpPr>
          <p:nvPr>
            <p:ph type="sldImg"/>
          </p:nvPr>
        </p:nvSpPr>
        <p:spPr bwMode="auto">
          <a:xfrm>
            <a:off x="392113" y="687388"/>
            <a:ext cx="6226175" cy="350361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8851" name="Rectangle 3"/>
          <p:cNvSpPr>
            <a:spLocks noGrp="1" noChangeArrowheads="1"/>
          </p:cNvSpPr>
          <p:nvPr>
            <p:ph type="body" idx="1"/>
          </p:nvPr>
        </p:nvSpPr>
        <p:spPr bwMode="auto">
          <a:xfrm>
            <a:off x="914400" y="4418013"/>
            <a:ext cx="5181600" cy="41925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35038">
              <a:spcBef>
                <a:spcPct val="0"/>
              </a:spcBef>
            </a:pPr>
            <a:endParaRPr lang="fr-FR" altLang="en-US"/>
          </a:p>
        </p:txBody>
      </p:sp>
    </p:spTree>
    <p:extLst>
      <p:ext uri="{BB962C8B-B14F-4D97-AF65-F5344CB8AC3E}">
        <p14:creationId xmlns:p14="http://schemas.microsoft.com/office/powerpoint/2010/main" val="22978389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5"/>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12813">
              <a:defRPr>
                <a:solidFill>
                  <a:schemeClr val="tx1"/>
                </a:solidFill>
                <a:latin typeface="Calibri" panose="020F0502020204030204" pitchFamily="34" charset="0"/>
                <a:ea typeface="MS PGothic" panose="020B0600070205080204" pitchFamily="34" charset="-128"/>
              </a:defRPr>
            </a:lvl1pPr>
            <a:lvl2pPr marL="742950" indent="-285750" defTabSz="912813">
              <a:defRPr>
                <a:solidFill>
                  <a:schemeClr val="tx1"/>
                </a:solidFill>
                <a:latin typeface="Calibri" panose="020F0502020204030204" pitchFamily="34" charset="0"/>
                <a:ea typeface="MS PGothic" panose="020B0600070205080204" pitchFamily="34" charset="-128"/>
              </a:defRPr>
            </a:lvl2pPr>
            <a:lvl3pPr marL="1143000" indent="-228600" defTabSz="912813">
              <a:defRPr>
                <a:solidFill>
                  <a:schemeClr val="tx1"/>
                </a:solidFill>
                <a:latin typeface="Calibri" panose="020F0502020204030204" pitchFamily="34" charset="0"/>
                <a:ea typeface="MS PGothic" panose="020B0600070205080204" pitchFamily="34" charset="-128"/>
              </a:defRPr>
            </a:lvl3pPr>
            <a:lvl4pPr marL="1600200" indent="-228600" defTabSz="912813">
              <a:defRPr>
                <a:solidFill>
                  <a:schemeClr val="tx1"/>
                </a:solidFill>
                <a:latin typeface="Calibri" panose="020F0502020204030204" pitchFamily="34" charset="0"/>
                <a:ea typeface="MS PGothic" panose="020B0600070205080204" pitchFamily="34" charset="-128"/>
              </a:defRPr>
            </a:lvl4pPr>
            <a:lvl5pPr marL="2057400" indent="-228600" defTabSz="912813">
              <a:defRPr>
                <a:solidFill>
                  <a:schemeClr val="tx1"/>
                </a:solidFill>
                <a:latin typeface="Calibri" panose="020F0502020204030204" pitchFamily="34" charset="0"/>
                <a:ea typeface="MS PGothic" panose="020B0600070205080204" pitchFamily="34" charset="-128"/>
              </a:defRPr>
            </a:lvl5pPr>
            <a:lvl6pPr marL="2514600" indent="-228600" defTabSz="912813"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912813"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912813"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912813"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eaLnBrk="0" hangingPunct="0"/>
            <a:fld id="{C6DDF5C6-C234-45A0-BFAB-B0E9CD1026E7}" type="slidenum">
              <a:rPr lang="en-US" altLang="en-US" sz="1000">
                <a:latin typeface="Times New Roman" panose="02020603050405020304" pitchFamily="18" charset="0"/>
              </a:rPr>
              <a:pPr eaLnBrk="0" hangingPunct="0"/>
              <a:t>141</a:t>
            </a:fld>
            <a:endParaRPr lang="en-US" altLang="en-US" sz="1000">
              <a:latin typeface="Times New Roman" panose="02020603050405020304" pitchFamily="18" charset="0"/>
            </a:endParaRPr>
          </a:p>
        </p:txBody>
      </p:sp>
      <p:sp>
        <p:nvSpPr>
          <p:cNvPr id="79874" name="Rectangle 2"/>
          <p:cNvSpPr>
            <a:spLocks noGrp="1" noRot="1" noChangeAspect="1" noChangeArrowheads="1" noTextEdit="1"/>
          </p:cNvSpPr>
          <p:nvPr>
            <p:ph type="sldImg"/>
          </p:nvPr>
        </p:nvSpPr>
        <p:spPr bwMode="auto">
          <a:xfrm>
            <a:off x="392113" y="687388"/>
            <a:ext cx="6226175" cy="3503612"/>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79875" name="Rectangle 3"/>
          <p:cNvSpPr>
            <a:spLocks noGrp="1" noChangeArrowheads="1"/>
          </p:cNvSpPr>
          <p:nvPr>
            <p:ph type="body" idx="1"/>
          </p:nvPr>
        </p:nvSpPr>
        <p:spPr bwMode="auto">
          <a:xfrm>
            <a:off x="914400" y="4418013"/>
            <a:ext cx="5181600" cy="419258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935038">
              <a:spcBef>
                <a:spcPct val="0"/>
              </a:spcBef>
            </a:pPr>
            <a:endParaRPr lang="fr-FR" altLang="en-US"/>
          </a:p>
        </p:txBody>
      </p:sp>
    </p:spTree>
    <p:extLst>
      <p:ext uri="{BB962C8B-B14F-4D97-AF65-F5344CB8AC3E}">
        <p14:creationId xmlns:p14="http://schemas.microsoft.com/office/powerpoint/2010/main" val="25325749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0D81F9B-6330-40D1-A4F1-DE61AE5D0376}"/>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C478DFEF-E6F3-4488-89D9-3AF35E68503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04395807-A3E6-4BC8-81CA-8DC8FCD64AF3}"/>
              </a:ext>
            </a:extLst>
          </p:cNvPr>
          <p:cNvSpPr>
            <a:spLocks noGrp="1"/>
          </p:cNvSpPr>
          <p:nvPr>
            <p:ph type="dt" sz="half" idx="10"/>
          </p:nvPr>
        </p:nvSpPr>
        <p:spPr/>
        <p:txBody>
          <a:bodyPr/>
          <a:lstStyle/>
          <a:p>
            <a:fld id="{60AF352E-D249-4E6C-A8C3-907E90C0DBF5}" type="datetime1">
              <a:rPr lang="fr-FR" smtClean="0"/>
              <a:t>07/04/2025</a:t>
            </a:fld>
            <a:endParaRPr lang="fr-FR"/>
          </a:p>
        </p:txBody>
      </p:sp>
      <p:sp>
        <p:nvSpPr>
          <p:cNvPr id="5" name="Espace réservé du pied de page 4">
            <a:extLst>
              <a:ext uri="{FF2B5EF4-FFF2-40B4-BE49-F238E27FC236}">
                <a16:creationId xmlns:a16="http://schemas.microsoft.com/office/drawing/2014/main" id="{16F1837D-85F3-465B-9784-FC66E4B4CBE3}"/>
              </a:ext>
            </a:extLst>
          </p:cNvPr>
          <p:cNvSpPr>
            <a:spLocks noGrp="1"/>
          </p:cNvSpPr>
          <p:nvPr>
            <p:ph type="ftr" sz="quarter" idx="11"/>
          </p:nvPr>
        </p:nvSpPr>
        <p:spPr/>
        <p:txBody>
          <a:bodyPr/>
          <a:lstStyle/>
          <a:p>
            <a:r>
              <a:rPr lang="fr-FR"/>
              <a:t>Droits réservés - Louise Overbeek</a:t>
            </a:r>
          </a:p>
        </p:txBody>
      </p:sp>
      <p:sp>
        <p:nvSpPr>
          <p:cNvPr id="6" name="Espace réservé du numéro de diapositive 5">
            <a:extLst>
              <a:ext uri="{FF2B5EF4-FFF2-40B4-BE49-F238E27FC236}">
                <a16:creationId xmlns:a16="http://schemas.microsoft.com/office/drawing/2014/main" id="{2D04E1C3-A660-4D58-B925-A03F682992AB}"/>
              </a:ext>
            </a:extLst>
          </p:cNvPr>
          <p:cNvSpPr>
            <a:spLocks noGrp="1"/>
          </p:cNvSpPr>
          <p:nvPr>
            <p:ph type="sldNum" sz="quarter" idx="12"/>
          </p:nvPr>
        </p:nvSpPr>
        <p:spPr/>
        <p:txBody>
          <a:bodyPr/>
          <a:lstStyle/>
          <a:p>
            <a:fld id="{C1CF9165-9E3D-452B-A995-87B4F64F5FE5}" type="slidenum">
              <a:rPr lang="fr-FR" smtClean="0"/>
              <a:t>‹N°›</a:t>
            </a:fld>
            <a:endParaRPr lang="fr-FR"/>
          </a:p>
        </p:txBody>
      </p:sp>
    </p:spTree>
    <p:extLst>
      <p:ext uri="{BB962C8B-B14F-4D97-AF65-F5344CB8AC3E}">
        <p14:creationId xmlns:p14="http://schemas.microsoft.com/office/powerpoint/2010/main" val="206477063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12A5FCE0-54CB-4C34-B380-E6458FA72E31}"/>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E3DD1B7F-712A-4615-869C-CC28A5EFDBA6}"/>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21681E02-834F-497E-BEDA-3235ABC1AEEE}"/>
              </a:ext>
            </a:extLst>
          </p:cNvPr>
          <p:cNvSpPr>
            <a:spLocks noGrp="1"/>
          </p:cNvSpPr>
          <p:nvPr>
            <p:ph type="dt" sz="half" idx="10"/>
          </p:nvPr>
        </p:nvSpPr>
        <p:spPr/>
        <p:txBody>
          <a:bodyPr/>
          <a:lstStyle/>
          <a:p>
            <a:fld id="{C9313B2B-A1B7-46A6-9AF5-0FDE75EF5B97}" type="datetime1">
              <a:rPr lang="fr-FR" smtClean="0"/>
              <a:t>07/04/2025</a:t>
            </a:fld>
            <a:endParaRPr lang="fr-FR"/>
          </a:p>
        </p:txBody>
      </p:sp>
      <p:sp>
        <p:nvSpPr>
          <p:cNvPr id="5" name="Espace réservé du pied de page 4">
            <a:extLst>
              <a:ext uri="{FF2B5EF4-FFF2-40B4-BE49-F238E27FC236}">
                <a16:creationId xmlns:a16="http://schemas.microsoft.com/office/drawing/2014/main" id="{584B1794-AC56-4F8B-9D44-D1C94A628BFE}"/>
              </a:ext>
            </a:extLst>
          </p:cNvPr>
          <p:cNvSpPr>
            <a:spLocks noGrp="1"/>
          </p:cNvSpPr>
          <p:nvPr>
            <p:ph type="ftr" sz="quarter" idx="11"/>
          </p:nvPr>
        </p:nvSpPr>
        <p:spPr/>
        <p:txBody>
          <a:bodyPr/>
          <a:lstStyle/>
          <a:p>
            <a:r>
              <a:rPr lang="fr-FR"/>
              <a:t>Droits réservés - Louise Overbeek</a:t>
            </a:r>
          </a:p>
        </p:txBody>
      </p:sp>
      <p:sp>
        <p:nvSpPr>
          <p:cNvPr id="6" name="Espace réservé du numéro de diapositive 5">
            <a:extLst>
              <a:ext uri="{FF2B5EF4-FFF2-40B4-BE49-F238E27FC236}">
                <a16:creationId xmlns:a16="http://schemas.microsoft.com/office/drawing/2014/main" id="{105112F4-0155-48DE-8B27-6B351E6136E0}"/>
              </a:ext>
            </a:extLst>
          </p:cNvPr>
          <p:cNvSpPr>
            <a:spLocks noGrp="1"/>
          </p:cNvSpPr>
          <p:nvPr>
            <p:ph type="sldNum" sz="quarter" idx="12"/>
          </p:nvPr>
        </p:nvSpPr>
        <p:spPr/>
        <p:txBody>
          <a:bodyPr/>
          <a:lstStyle/>
          <a:p>
            <a:fld id="{C1CF9165-9E3D-452B-A995-87B4F64F5FE5}" type="slidenum">
              <a:rPr lang="fr-FR" smtClean="0"/>
              <a:t>‹N°›</a:t>
            </a:fld>
            <a:endParaRPr lang="fr-FR"/>
          </a:p>
        </p:txBody>
      </p:sp>
    </p:spTree>
    <p:extLst>
      <p:ext uri="{BB962C8B-B14F-4D97-AF65-F5344CB8AC3E}">
        <p14:creationId xmlns:p14="http://schemas.microsoft.com/office/powerpoint/2010/main" val="3052907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313FF1F-9752-444A-B9A8-CF87A786D113}"/>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4EA62703-05FE-42DC-B7A8-1ABB479A46C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E4C1A69E-9CFB-4751-A942-9DF6EED1D376}"/>
              </a:ext>
            </a:extLst>
          </p:cNvPr>
          <p:cNvSpPr>
            <a:spLocks noGrp="1"/>
          </p:cNvSpPr>
          <p:nvPr>
            <p:ph type="dt" sz="half" idx="10"/>
          </p:nvPr>
        </p:nvSpPr>
        <p:spPr/>
        <p:txBody>
          <a:bodyPr/>
          <a:lstStyle/>
          <a:p>
            <a:fld id="{48571A73-E2F0-4522-A6FA-7E7AB72A4222}" type="datetime1">
              <a:rPr lang="fr-FR" smtClean="0"/>
              <a:t>07/04/2025</a:t>
            </a:fld>
            <a:endParaRPr lang="fr-FR"/>
          </a:p>
        </p:txBody>
      </p:sp>
      <p:sp>
        <p:nvSpPr>
          <p:cNvPr id="5" name="Espace réservé du pied de page 4">
            <a:extLst>
              <a:ext uri="{FF2B5EF4-FFF2-40B4-BE49-F238E27FC236}">
                <a16:creationId xmlns:a16="http://schemas.microsoft.com/office/drawing/2014/main" id="{7CBC5D61-FE6B-4B55-8BE9-C580FBF7BFB8}"/>
              </a:ext>
            </a:extLst>
          </p:cNvPr>
          <p:cNvSpPr>
            <a:spLocks noGrp="1"/>
          </p:cNvSpPr>
          <p:nvPr>
            <p:ph type="ftr" sz="quarter" idx="11"/>
          </p:nvPr>
        </p:nvSpPr>
        <p:spPr/>
        <p:txBody>
          <a:bodyPr/>
          <a:lstStyle/>
          <a:p>
            <a:r>
              <a:rPr lang="fr-FR"/>
              <a:t>Droits réservés - Louise Overbeek</a:t>
            </a:r>
          </a:p>
        </p:txBody>
      </p:sp>
      <p:sp>
        <p:nvSpPr>
          <p:cNvPr id="6" name="Espace réservé du numéro de diapositive 5">
            <a:extLst>
              <a:ext uri="{FF2B5EF4-FFF2-40B4-BE49-F238E27FC236}">
                <a16:creationId xmlns:a16="http://schemas.microsoft.com/office/drawing/2014/main" id="{E76051C0-82AE-438E-9625-7DF22790530A}"/>
              </a:ext>
            </a:extLst>
          </p:cNvPr>
          <p:cNvSpPr>
            <a:spLocks noGrp="1"/>
          </p:cNvSpPr>
          <p:nvPr>
            <p:ph type="sldNum" sz="quarter" idx="12"/>
          </p:nvPr>
        </p:nvSpPr>
        <p:spPr/>
        <p:txBody>
          <a:bodyPr/>
          <a:lstStyle/>
          <a:p>
            <a:fld id="{C1CF9165-9E3D-452B-A995-87B4F64F5FE5}" type="slidenum">
              <a:rPr lang="fr-FR" smtClean="0"/>
              <a:t>‹N°›</a:t>
            </a:fld>
            <a:endParaRPr lang="fr-FR"/>
          </a:p>
        </p:txBody>
      </p:sp>
    </p:spTree>
    <p:extLst>
      <p:ext uri="{BB962C8B-B14F-4D97-AF65-F5344CB8AC3E}">
        <p14:creationId xmlns:p14="http://schemas.microsoft.com/office/powerpoint/2010/main" val="39613392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56715A-475C-4BED-8C65-B070CA2C53D2}"/>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A2C3D0F0-F12B-4E58-8A68-0F5691AE7020}"/>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F5D15BCF-9280-4322-B360-F8B57820032C}"/>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2A38E114-EA11-4013-A1C7-59C0F6D47A2F}"/>
              </a:ext>
            </a:extLst>
          </p:cNvPr>
          <p:cNvSpPr>
            <a:spLocks noGrp="1"/>
          </p:cNvSpPr>
          <p:nvPr>
            <p:ph type="dt" sz="half" idx="10"/>
          </p:nvPr>
        </p:nvSpPr>
        <p:spPr/>
        <p:txBody>
          <a:bodyPr/>
          <a:lstStyle/>
          <a:p>
            <a:fld id="{1E7E68B9-CA14-4BD6-8CE5-66C54BCBF23C}" type="datetime1">
              <a:rPr lang="fr-FR" smtClean="0"/>
              <a:t>07/04/2025</a:t>
            </a:fld>
            <a:endParaRPr lang="fr-FR"/>
          </a:p>
        </p:txBody>
      </p:sp>
      <p:sp>
        <p:nvSpPr>
          <p:cNvPr id="6" name="Espace réservé du pied de page 5">
            <a:extLst>
              <a:ext uri="{FF2B5EF4-FFF2-40B4-BE49-F238E27FC236}">
                <a16:creationId xmlns:a16="http://schemas.microsoft.com/office/drawing/2014/main" id="{E049C770-6243-496F-81FB-4F4897ADC162}"/>
              </a:ext>
            </a:extLst>
          </p:cNvPr>
          <p:cNvSpPr>
            <a:spLocks noGrp="1"/>
          </p:cNvSpPr>
          <p:nvPr>
            <p:ph type="ftr" sz="quarter" idx="11"/>
          </p:nvPr>
        </p:nvSpPr>
        <p:spPr/>
        <p:txBody>
          <a:bodyPr/>
          <a:lstStyle/>
          <a:p>
            <a:r>
              <a:rPr lang="fr-FR"/>
              <a:t>Droits réservés - Louise Overbeek</a:t>
            </a:r>
          </a:p>
        </p:txBody>
      </p:sp>
      <p:sp>
        <p:nvSpPr>
          <p:cNvPr id="7" name="Espace réservé du numéro de diapositive 6">
            <a:extLst>
              <a:ext uri="{FF2B5EF4-FFF2-40B4-BE49-F238E27FC236}">
                <a16:creationId xmlns:a16="http://schemas.microsoft.com/office/drawing/2014/main" id="{308A6DD3-B9B5-4E38-8D03-9E060D50D6A6}"/>
              </a:ext>
            </a:extLst>
          </p:cNvPr>
          <p:cNvSpPr>
            <a:spLocks noGrp="1"/>
          </p:cNvSpPr>
          <p:nvPr>
            <p:ph type="sldNum" sz="quarter" idx="12"/>
          </p:nvPr>
        </p:nvSpPr>
        <p:spPr/>
        <p:txBody>
          <a:bodyPr/>
          <a:lstStyle/>
          <a:p>
            <a:fld id="{C1CF9165-9E3D-452B-A995-87B4F64F5FE5}" type="slidenum">
              <a:rPr lang="fr-FR" smtClean="0"/>
              <a:t>‹N°›</a:t>
            </a:fld>
            <a:endParaRPr lang="fr-FR"/>
          </a:p>
        </p:txBody>
      </p:sp>
    </p:spTree>
    <p:extLst>
      <p:ext uri="{BB962C8B-B14F-4D97-AF65-F5344CB8AC3E}">
        <p14:creationId xmlns:p14="http://schemas.microsoft.com/office/powerpoint/2010/main" val="14635458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492D644-8E28-462B-91CF-FCC25DF19369}"/>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B1D69D5A-A4D7-4FB0-A3BB-7D64257F3C0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52BCB39C-449E-49C4-BA32-22FA683E5A52}"/>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7A6C27A9-905B-41F5-9FA7-6F1FE9BABB7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E3582461-6C1A-472D-B5F0-8D5B1A84B69E}"/>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C660CA71-7A42-4EA7-A872-916E590DF775}"/>
              </a:ext>
            </a:extLst>
          </p:cNvPr>
          <p:cNvSpPr>
            <a:spLocks noGrp="1"/>
          </p:cNvSpPr>
          <p:nvPr>
            <p:ph type="dt" sz="half" idx="10"/>
          </p:nvPr>
        </p:nvSpPr>
        <p:spPr/>
        <p:txBody>
          <a:bodyPr/>
          <a:lstStyle/>
          <a:p>
            <a:fld id="{CC856584-4106-4EE6-BBF7-1F54808918A8}" type="datetime1">
              <a:rPr lang="fr-FR" smtClean="0"/>
              <a:t>07/04/2025</a:t>
            </a:fld>
            <a:endParaRPr lang="fr-FR"/>
          </a:p>
        </p:txBody>
      </p:sp>
      <p:sp>
        <p:nvSpPr>
          <p:cNvPr id="8" name="Espace réservé du pied de page 7">
            <a:extLst>
              <a:ext uri="{FF2B5EF4-FFF2-40B4-BE49-F238E27FC236}">
                <a16:creationId xmlns:a16="http://schemas.microsoft.com/office/drawing/2014/main" id="{4428C2B8-FBEA-4EE5-8C00-850AAE9A68E1}"/>
              </a:ext>
            </a:extLst>
          </p:cNvPr>
          <p:cNvSpPr>
            <a:spLocks noGrp="1"/>
          </p:cNvSpPr>
          <p:nvPr>
            <p:ph type="ftr" sz="quarter" idx="11"/>
          </p:nvPr>
        </p:nvSpPr>
        <p:spPr/>
        <p:txBody>
          <a:bodyPr/>
          <a:lstStyle/>
          <a:p>
            <a:r>
              <a:rPr lang="fr-FR"/>
              <a:t>Droits réservés - Louise Overbeek</a:t>
            </a:r>
          </a:p>
        </p:txBody>
      </p:sp>
      <p:sp>
        <p:nvSpPr>
          <p:cNvPr id="9" name="Espace réservé du numéro de diapositive 8">
            <a:extLst>
              <a:ext uri="{FF2B5EF4-FFF2-40B4-BE49-F238E27FC236}">
                <a16:creationId xmlns:a16="http://schemas.microsoft.com/office/drawing/2014/main" id="{0031A5DA-1440-45E1-9F81-39B050BDD125}"/>
              </a:ext>
            </a:extLst>
          </p:cNvPr>
          <p:cNvSpPr>
            <a:spLocks noGrp="1"/>
          </p:cNvSpPr>
          <p:nvPr>
            <p:ph type="sldNum" sz="quarter" idx="12"/>
          </p:nvPr>
        </p:nvSpPr>
        <p:spPr/>
        <p:txBody>
          <a:bodyPr/>
          <a:lstStyle/>
          <a:p>
            <a:fld id="{C1CF9165-9E3D-452B-A995-87B4F64F5FE5}" type="slidenum">
              <a:rPr lang="fr-FR" smtClean="0"/>
              <a:t>‹N°›</a:t>
            </a:fld>
            <a:endParaRPr lang="fr-FR"/>
          </a:p>
        </p:txBody>
      </p:sp>
    </p:spTree>
    <p:extLst>
      <p:ext uri="{BB962C8B-B14F-4D97-AF65-F5344CB8AC3E}">
        <p14:creationId xmlns:p14="http://schemas.microsoft.com/office/powerpoint/2010/main" val="18215471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2FDF87E-015B-4290-8B71-918FAEA0E741}"/>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4940B2B3-9B04-401E-87AE-05174903B3E9}"/>
              </a:ext>
            </a:extLst>
          </p:cNvPr>
          <p:cNvSpPr>
            <a:spLocks noGrp="1"/>
          </p:cNvSpPr>
          <p:nvPr>
            <p:ph type="dt" sz="half" idx="10"/>
          </p:nvPr>
        </p:nvSpPr>
        <p:spPr/>
        <p:txBody>
          <a:bodyPr/>
          <a:lstStyle/>
          <a:p>
            <a:fld id="{618816A2-590B-4779-97D8-A3F17916E19E}" type="datetime1">
              <a:rPr lang="fr-FR" smtClean="0"/>
              <a:t>07/04/2025</a:t>
            </a:fld>
            <a:endParaRPr lang="fr-FR"/>
          </a:p>
        </p:txBody>
      </p:sp>
      <p:sp>
        <p:nvSpPr>
          <p:cNvPr id="4" name="Espace réservé du pied de page 3">
            <a:extLst>
              <a:ext uri="{FF2B5EF4-FFF2-40B4-BE49-F238E27FC236}">
                <a16:creationId xmlns:a16="http://schemas.microsoft.com/office/drawing/2014/main" id="{BEC14638-077A-44EB-9DEE-89A9EFA598AC}"/>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CEB486CC-E41A-4387-96F8-4F82AAAAFFC3}"/>
              </a:ext>
            </a:extLst>
          </p:cNvPr>
          <p:cNvSpPr>
            <a:spLocks noGrp="1"/>
          </p:cNvSpPr>
          <p:nvPr>
            <p:ph type="sldNum" sz="quarter" idx="12"/>
          </p:nvPr>
        </p:nvSpPr>
        <p:spPr/>
        <p:txBody>
          <a:bodyPr/>
          <a:lstStyle/>
          <a:p>
            <a:fld id="{C1CF9165-9E3D-452B-A995-87B4F64F5FE5}" type="slidenum">
              <a:rPr lang="fr-FR" smtClean="0"/>
              <a:t>‹N°›</a:t>
            </a:fld>
            <a:endParaRPr lang="fr-FR"/>
          </a:p>
        </p:txBody>
      </p:sp>
    </p:spTree>
    <p:extLst>
      <p:ext uri="{BB962C8B-B14F-4D97-AF65-F5344CB8AC3E}">
        <p14:creationId xmlns:p14="http://schemas.microsoft.com/office/powerpoint/2010/main" val="6010595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A6DDD1DE-06CF-4B4D-B6F9-AE14F7F7E72D}"/>
              </a:ext>
            </a:extLst>
          </p:cNvPr>
          <p:cNvSpPr>
            <a:spLocks noGrp="1"/>
          </p:cNvSpPr>
          <p:nvPr>
            <p:ph type="dt" sz="half" idx="10"/>
          </p:nvPr>
        </p:nvSpPr>
        <p:spPr/>
        <p:txBody>
          <a:bodyPr/>
          <a:lstStyle/>
          <a:p>
            <a:fld id="{B668625D-A608-4270-B9C3-E5F60920C224}" type="datetime1">
              <a:rPr lang="fr-FR" smtClean="0"/>
              <a:t>07/04/2025</a:t>
            </a:fld>
            <a:endParaRPr lang="fr-FR"/>
          </a:p>
        </p:txBody>
      </p:sp>
      <p:sp>
        <p:nvSpPr>
          <p:cNvPr id="3" name="Espace réservé du pied de page 2">
            <a:extLst>
              <a:ext uri="{FF2B5EF4-FFF2-40B4-BE49-F238E27FC236}">
                <a16:creationId xmlns:a16="http://schemas.microsoft.com/office/drawing/2014/main" id="{ABD092C7-57EF-4A1D-B31A-7A8CD8ED454F}"/>
              </a:ext>
            </a:extLst>
          </p:cNvPr>
          <p:cNvSpPr>
            <a:spLocks noGrp="1"/>
          </p:cNvSpPr>
          <p:nvPr>
            <p:ph type="ftr" sz="quarter" idx="11"/>
          </p:nvPr>
        </p:nvSpPr>
        <p:spPr/>
        <p:txBody>
          <a:bodyPr/>
          <a:lstStyle/>
          <a:p>
            <a:r>
              <a:rPr lang="fr-FR"/>
              <a:t>Droits réservés - Louise Overbeek</a:t>
            </a:r>
          </a:p>
        </p:txBody>
      </p:sp>
      <p:sp>
        <p:nvSpPr>
          <p:cNvPr id="4" name="Espace réservé du numéro de diapositive 3">
            <a:extLst>
              <a:ext uri="{FF2B5EF4-FFF2-40B4-BE49-F238E27FC236}">
                <a16:creationId xmlns:a16="http://schemas.microsoft.com/office/drawing/2014/main" id="{A5E3A9AA-198C-481F-A54D-C933CCA86E66}"/>
              </a:ext>
            </a:extLst>
          </p:cNvPr>
          <p:cNvSpPr>
            <a:spLocks noGrp="1"/>
          </p:cNvSpPr>
          <p:nvPr>
            <p:ph type="sldNum" sz="quarter" idx="12"/>
          </p:nvPr>
        </p:nvSpPr>
        <p:spPr/>
        <p:txBody>
          <a:bodyPr/>
          <a:lstStyle/>
          <a:p>
            <a:fld id="{C1CF9165-9E3D-452B-A995-87B4F64F5FE5}" type="slidenum">
              <a:rPr lang="fr-FR" smtClean="0"/>
              <a:t>‹N°›</a:t>
            </a:fld>
            <a:endParaRPr lang="fr-FR"/>
          </a:p>
        </p:txBody>
      </p:sp>
    </p:spTree>
    <p:extLst>
      <p:ext uri="{BB962C8B-B14F-4D97-AF65-F5344CB8AC3E}">
        <p14:creationId xmlns:p14="http://schemas.microsoft.com/office/powerpoint/2010/main" val="3156946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DDACCE3-4838-4520-A8B2-CE44EBEB40A6}"/>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85355F0B-A8DA-4AB1-893F-6795FB2C3BE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0D0FE96B-E231-4E2C-A9B8-1CF0F89E80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1FC0B7B0-658B-460A-8509-865F2BFDAAE7}"/>
              </a:ext>
            </a:extLst>
          </p:cNvPr>
          <p:cNvSpPr>
            <a:spLocks noGrp="1"/>
          </p:cNvSpPr>
          <p:nvPr>
            <p:ph type="dt" sz="half" idx="10"/>
          </p:nvPr>
        </p:nvSpPr>
        <p:spPr/>
        <p:txBody>
          <a:bodyPr/>
          <a:lstStyle/>
          <a:p>
            <a:fld id="{25C2EDC8-2D8E-4E35-B1DF-5CC9FB6DF124}" type="datetime1">
              <a:rPr lang="fr-FR" smtClean="0"/>
              <a:t>07/04/2025</a:t>
            </a:fld>
            <a:endParaRPr lang="fr-FR"/>
          </a:p>
        </p:txBody>
      </p:sp>
      <p:sp>
        <p:nvSpPr>
          <p:cNvPr id="6" name="Espace réservé du pied de page 5">
            <a:extLst>
              <a:ext uri="{FF2B5EF4-FFF2-40B4-BE49-F238E27FC236}">
                <a16:creationId xmlns:a16="http://schemas.microsoft.com/office/drawing/2014/main" id="{3CE5F4BA-2FBB-4E22-BF99-CAD581E3BD31}"/>
              </a:ext>
            </a:extLst>
          </p:cNvPr>
          <p:cNvSpPr>
            <a:spLocks noGrp="1"/>
          </p:cNvSpPr>
          <p:nvPr>
            <p:ph type="ftr" sz="quarter" idx="11"/>
          </p:nvPr>
        </p:nvSpPr>
        <p:spPr/>
        <p:txBody>
          <a:bodyPr/>
          <a:lstStyle/>
          <a:p>
            <a:r>
              <a:rPr lang="fr-FR"/>
              <a:t>Droits réservés - Louise Overbeek</a:t>
            </a:r>
          </a:p>
        </p:txBody>
      </p:sp>
      <p:sp>
        <p:nvSpPr>
          <p:cNvPr id="7" name="Espace réservé du numéro de diapositive 6">
            <a:extLst>
              <a:ext uri="{FF2B5EF4-FFF2-40B4-BE49-F238E27FC236}">
                <a16:creationId xmlns:a16="http://schemas.microsoft.com/office/drawing/2014/main" id="{AA52227C-FB1B-4357-AC12-FA32801BC59C}"/>
              </a:ext>
            </a:extLst>
          </p:cNvPr>
          <p:cNvSpPr>
            <a:spLocks noGrp="1"/>
          </p:cNvSpPr>
          <p:nvPr>
            <p:ph type="sldNum" sz="quarter" idx="12"/>
          </p:nvPr>
        </p:nvSpPr>
        <p:spPr/>
        <p:txBody>
          <a:bodyPr/>
          <a:lstStyle/>
          <a:p>
            <a:fld id="{C1CF9165-9E3D-452B-A995-87B4F64F5FE5}" type="slidenum">
              <a:rPr lang="fr-FR" smtClean="0"/>
              <a:t>‹N°›</a:t>
            </a:fld>
            <a:endParaRPr lang="fr-FR"/>
          </a:p>
        </p:txBody>
      </p:sp>
    </p:spTree>
    <p:extLst>
      <p:ext uri="{BB962C8B-B14F-4D97-AF65-F5344CB8AC3E}">
        <p14:creationId xmlns:p14="http://schemas.microsoft.com/office/powerpoint/2010/main" val="95130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0A0F793-BE72-488B-932E-D9B6ACA68162}"/>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6F950964-1BFD-4EF3-8139-A1C379CB317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647146E7-21A0-4DDF-A106-245A785C547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C0602F3B-EB15-4F58-A5FB-AECB3088D45E}"/>
              </a:ext>
            </a:extLst>
          </p:cNvPr>
          <p:cNvSpPr>
            <a:spLocks noGrp="1"/>
          </p:cNvSpPr>
          <p:nvPr>
            <p:ph type="dt" sz="half" idx="10"/>
          </p:nvPr>
        </p:nvSpPr>
        <p:spPr/>
        <p:txBody>
          <a:bodyPr/>
          <a:lstStyle/>
          <a:p>
            <a:fld id="{E87CF61C-DB61-4304-80FB-DCC7B7E4FE40}" type="datetime1">
              <a:rPr lang="fr-FR" smtClean="0"/>
              <a:t>07/04/2025</a:t>
            </a:fld>
            <a:endParaRPr lang="fr-FR"/>
          </a:p>
        </p:txBody>
      </p:sp>
      <p:sp>
        <p:nvSpPr>
          <p:cNvPr id="6" name="Espace réservé du pied de page 5">
            <a:extLst>
              <a:ext uri="{FF2B5EF4-FFF2-40B4-BE49-F238E27FC236}">
                <a16:creationId xmlns:a16="http://schemas.microsoft.com/office/drawing/2014/main" id="{5E558A5B-D5BD-471D-B50A-9D5E1F792B0E}"/>
              </a:ext>
            </a:extLst>
          </p:cNvPr>
          <p:cNvSpPr>
            <a:spLocks noGrp="1"/>
          </p:cNvSpPr>
          <p:nvPr>
            <p:ph type="ftr" sz="quarter" idx="11"/>
          </p:nvPr>
        </p:nvSpPr>
        <p:spPr/>
        <p:txBody>
          <a:bodyPr/>
          <a:lstStyle/>
          <a:p>
            <a:r>
              <a:rPr lang="fr-FR"/>
              <a:t>Droits réservés - Louise Overbeek</a:t>
            </a:r>
          </a:p>
        </p:txBody>
      </p:sp>
      <p:sp>
        <p:nvSpPr>
          <p:cNvPr id="7" name="Espace réservé du numéro de diapositive 6">
            <a:extLst>
              <a:ext uri="{FF2B5EF4-FFF2-40B4-BE49-F238E27FC236}">
                <a16:creationId xmlns:a16="http://schemas.microsoft.com/office/drawing/2014/main" id="{36F2980D-8286-41CA-9A99-5546021D0BB3}"/>
              </a:ext>
            </a:extLst>
          </p:cNvPr>
          <p:cNvSpPr>
            <a:spLocks noGrp="1"/>
          </p:cNvSpPr>
          <p:nvPr>
            <p:ph type="sldNum" sz="quarter" idx="12"/>
          </p:nvPr>
        </p:nvSpPr>
        <p:spPr/>
        <p:txBody>
          <a:bodyPr/>
          <a:lstStyle/>
          <a:p>
            <a:fld id="{C1CF9165-9E3D-452B-A995-87B4F64F5FE5}" type="slidenum">
              <a:rPr lang="fr-FR" smtClean="0"/>
              <a:t>‹N°›</a:t>
            </a:fld>
            <a:endParaRPr lang="fr-FR"/>
          </a:p>
        </p:txBody>
      </p:sp>
    </p:spTree>
    <p:extLst>
      <p:ext uri="{BB962C8B-B14F-4D97-AF65-F5344CB8AC3E}">
        <p14:creationId xmlns:p14="http://schemas.microsoft.com/office/powerpoint/2010/main" val="26444968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7990E64-6E27-4560-B2E3-4BAC57CF08EA}"/>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66F2D8A8-241D-4A6C-9398-7A5B315F8FE1}"/>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DDADAC01-EA18-4A43-8371-8E6015093787}"/>
              </a:ext>
            </a:extLst>
          </p:cNvPr>
          <p:cNvSpPr>
            <a:spLocks noGrp="1"/>
          </p:cNvSpPr>
          <p:nvPr>
            <p:ph type="dt" sz="half" idx="10"/>
          </p:nvPr>
        </p:nvSpPr>
        <p:spPr/>
        <p:txBody>
          <a:bodyPr/>
          <a:lstStyle/>
          <a:p>
            <a:fld id="{95E40FE9-AA21-402D-A94A-5DF2A484B7DF}" type="datetime1">
              <a:rPr lang="fr-FR" smtClean="0"/>
              <a:t>07/04/2025</a:t>
            </a:fld>
            <a:endParaRPr lang="fr-FR"/>
          </a:p>
        </p:txBody>
      </p:sp>
      <p:sp>
        <p:nvSpPr>
          <p:cNvPr id="5" name="Espace réservé du pied de page 4">
            <a:extLst>
              <a:ext uri="{FF2B5EF4-FFF2-40B4-BE49-F238E27FC236}">
                <a16:creationId xmlns:a16="http://schemas.microsoft.com/office/drawing/2014/main" id="{619E835E-F9E4-42DD-9E9D-0D474D3DF71E}"/>
              </a:ext>
            </a:extLst>
          </p:cNvPr>
          <p:cNvSpPr>
            <a:spLocks noGrp="1"/>
          </p:cNvSpPr>
          <p:nvPr>
            <p:ph type="ftr" sz="quarter" idx="11"/>
          </p:nvPr>
        </p:nvSpPr>
        <p:spPr/>
        <p:txBody>
          <a:bodyPr/>
          <a:lstStyle/>
          <a:p>
            <a:r>
              <a:rPr lang="fr-FR"/>
              <a:t>Droits réservés - Louise Overbeek</a:t>
            </a:r>
          </a:p>
        </p:txBody>
      </p:sp>
      <p:sp>
        <p:nvSpPr>
          <p:cNvPr id="6" name="Espace réservé du numéro de diapositive 5">
            <a:extLst>
              <a:ext uri="{FF2B5EF4-FFF2-40B4-BE49-F238E27FC236}">
                <a16:creationId xmlns:a16="http://schemas.microsoft.com/office/drawing/2014/main" id="{7E7B9EAD-30B9-400F-A671-D561124CEBD3}"/>
              </a:ext>
            </a:extLst>
          </p:cNvPr>
          <p:cNvSpPr>
            <a:spLocks noGrp="1"/>
          </p:cNvSpPr>
          <p:nvPr>
            <p:ph type="sldNum" sz="quarter" idx="12"/>
          </p:nvPr>
        </p:nvSpPr>
        <p:spPr/>
        <p:txBody>
          <a:bodyPr/>
          <a:lstStyle/>
          <a:p>
            <a:fld id="{C1CF9165-9E3D-452B-A995-87B4F64F5FE5}" type="slidenum">
              <a:rPr lang="fr-FR" smtClean="0"/>
              <a:t>‹N°›</a:t>
            </a:fld>
            <a:endParaRPr lang="fr-FR"/>
          </a:p>
        </p:txBody>
      </p:sp>
    </p:spTree>
    <p:extLst>
      <p:ext uri="{BB962C8B-B14F-4D97-AF65-F5344CB8AC3E}">
        <p14:creationId xmlns:p14="http://schemas.microsoft.com/office/powerpoint/2010/main" val="25039657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66F3B39F-B694-40BC-8FDA-D7C2AE76AEFD}"/>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A55608B0-72E2-4889-BCCB-C71C87F96A58}"/>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54A1B52-C29F-4C62-9A66-54981CA606C9}"/>
              </a:ext>
            </a:extLst>
          </p:cNvPr>
          <p:cNvSpPr>
            <a:spLocks noGrp="1"/>
          </p:cNvSpPr>
          <p:nvPr>
            <p:ph type="dt" sz="half" idx="10"/>
          </p:nvPr>
        </p:nvSpPr>
        <p:spPr/>
        <p:txBody>
          <a:bodyPr/>
          <a:lstStyle/>
          <a:p>
            <a:fld id="{45A49141-9F2B-4127-994D-16F167785C5D}" type="datetime1">
              <a:rPr lang="fr-FR" smtClean="0"/>
              <a:t>07/04/2025</a:t>
            </a:fld>
            <a:endParaRPr lang="fr-FR"/>
          </a:p>
        </p:txBody>
      </p:sp>
      <p:sp>
        <p:nvSpPr>
          <p:cNvPr id="5" name="Espace réservé du pied de page 4">
            <a:extLst>
              <a:ext uri="{FF2B5EF4-FFF2-40B4-BE49-F238E27FC236}">
                <a16:creationId xmlns:a16="http://schemas.microsoft.com/office/drawing/2014/main" id="{80EEEF7B-124C-4106-9248-DFF469F73757}"/>
              </a:ext>
            </a:extLst>
          </p:cNvPr>
          <p:cNvSpPr>
            <a:spLocks noGrp="1"/>
          </p:cNvSpPr>
          <p:nvPr>
            <p:ph type="ftr" sz="quarter" idx="11"/>
          </p:nvPr>
        </p:nvSpPr>
        <p:spPr/>
        <p:txBody>
          <a:bodyPr/>
          <a:lstStyle/>
          <a:p>
            <a:r>
              <a:rPr lang="fr-FR"/>
              <a:t>Droits réservés - Louise Overbeek</a:t>
            </a:r>
          </a:p>
        </p:txBody>
      </p:sp>
      <p:sp>
        <p:nvSpPr>
          <p:cNvPr id="6" name="Espace réservé du numéro de diapositive 5">
            <a:extLst>
              <a:ext uri="{FF2B5EF4-FFF2-40B4-BE49-F238E27FC236}">
                <a16:creationId xmlns:a16="http://schemas.microsoft.com/office/drawing/2014/main" id="{32BEB4BB-80D7-4B3C-B4DD-A53F47126E34}"/>
              </a:ext>
            </a:extLst>
          </p:cNvPr>
          <p:cNvSpPr>
            <a:spLocks noGrp="1"/>
          </p:cNvSpPr>
          <p:nvPr>
            <p:ph type="sldNum" sz="quarter" idx="12"/>
          </p:nvPr>
        </p:nvSpPr>
        <p:spPr/>
        <p:txBody>
          <a:bodyPr/>
          <a:lstStyle/>
          <a:p>
            <a:fld id="{C1CF9165-9E3D-452B-A995-87B4F64F5FE5}" type="slidenum">
              <a:rPr lang="fr-FR" smtClean="0"/>
              <a:t>‹N°›</a:t>
            </a:fld>
            <a:endParaRPr lang="fr-FR"/>
          </a:p>
        </p:txBody>
      </p:sp>
    </p:spTree>
    <p:extLst>
      <p:ext uri="{BB962C8B-B14F-4D97-AF65-F5344CB8AC3E}">
        <p14:creationId xmlns:p14="http://schemas.microsoft.com/office/powerpoint/2010/main" val="38387981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80DBCBFA-DA1E-466A-913A-037457A5DA1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038E9186-E962-4966-B5B6-902F5249B4D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93BF702-EA0A-4C99-9367-B76CC3B128B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063666-0A45-4714-910D-09C52ED0D4C3}" type="datetime1">
              <a:rPr lang="fr-FR" smtClean="0"/>
              <a:t>07/04/2025</a:t>
            </a:fld>
            <a:endParaRPr lang="fr-FR"/>
          </a:p>
        </p:txBody>
      </p:sp>
      <p:sp>
        <p:nvSpPr>
          <p:cNvPr id="5" name="Espace réservé du pied de page 4">
            <a:extLst>
              <a:ext uri="{FF2B5EF4-FFF2-40B4-BE49-F238E27FC236}">
                <a16:creationId xmlns:a16="http://schemas.microsoft.com/office/drawing/2014/main" id="{88CE6EF1-3587-4431-9A58-6E5E22F0FE8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fr-FR"/>
              <a:t>Droits réservés - Louise Overbeek</a:t>
            </a:r>
          </a:p>
        </p:txBody>
      </p:sp>
      <p:sp>
        <p:nvSpPr>
          <p:cNvPr id="6" name="Espace réservé du numéro de diapositive 5">
            <a:extLst>
              <a:ext uri="{FF2B5EF4-FFF2-40B4-BE49-F238E27FC236}">
                <a16:creationId xmlns:a16="http://schemas.microsoft.com/office/drawing/2014/main" id="{4D43D1F3-EA96-449D-9284-724F2A4222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CF9165-9E3D-452B-A995-87B4F64F5FE5}" type="slidenum">
              <a:rPr lang="fr-FR" smtClean="0"/>
              <a:t>‹N°›</a:t>
            </a:fld>
            <a:endParaRPr lang="fr-FR"/>
          </a:p>
        </p:txBody>
      </p:sp>
    </p:spTree>
    <p:extLst>
      <p:ext uri="{BB962C8B-B14F-4D97-AF65-F5344CB8AC3E}">
        <p14:creationId xmlns:p14="http://schemas.microsoft.com/office/powerpoint/2010/main" val="32012449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edu-knotia-ca.proxy2.hec.ca/Knowledge/Home.aspx?productID=114"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edu-knotia-ca.proxy2.hec.ca/Knowledge/Home.aspx?productID=114"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edu-knotia-ca.proxy2.hec.ca/Knowledge/Home.aspx?productID=114"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edu-knotia-ca.proxy2.hec.ca/Knowledge/Home.aspx?productID=114"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edu-knotia-ca.proxy2.hec.ca/Knowledge/Home.aspx?productID=114"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edu-knotia-ca.proxy2.hec.ca/Knowledge/Home.aspx?productID=114"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hyperlink" Target="https://edu-knotia-ca.proxy2.hec.ca/Knowledge/Home.aspx?productID=114"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s://edu-knotia-ca.proxy2.hec.ca/Knowledge/Home.aspx?productID=114" TargetMode="Externa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hyperlink" Target="https://edu-knotia-ca.proxy2.hec.ca/Knowledge/Home.aspx?productID=114" TargetMode="Externa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s://edu-knotia-ca.proxy2.hec.ca/Knowledge/Home.aspx?productID=114" TargetMode="Externa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hyperlink" Target="https://edu-knotia-ca.proxy2.hec.ca/Knowledge/Home.aspx?productID=114"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hyperlink" Target="https://edu-knotia-ca.proxy2.hec.ca/Knowledge/Home.aspx?productID=114" TargetMode="Externa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hyperlink" Target="https://edu-knotia-ca.proxy2.hec.ca/Knowledge/Home.aspx?productID=114" TargetMode="Externa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hyperlink" Target="https://edu-knotia-ca.proxy2.hec.ca/Knowledge/Home.aspx?productID=114" TargetMode="Externa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hyperlink" Target="https://edu-knotia-ca.proxy2.hec.ca/Knowledge/Home.aspx?productID=114" TargetMode="Externa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hyperlink" Target="https://edu-knotia-ca.proxy2.hec.ca/Knowledge/Home.aspx?productID=114" TargetMode="Externa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image" Target="../media/image13.emf"/><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2">
            <a:lumMod val="40000"/>
            <a:lumOff val="60000"/>
          </a:schemeClr>
        </a:solidFill>
        <a:effectLst/>
      </p:bgPr>
    </p:bg>
    <p:spTree>
      <p:nvGrpSpPr>
        <p:cNvPr id="1" name=""/>
        <p:cNvGrpSpPr/>
        <p:nvPr/>
      </p:nvGrpSpPr>
      <p:grpSpPr>
        <a:xfrm>
          <a:off x="0" y="0"/>
          <a:ext cx="0" cy="0"/>
          <a:chOff x="0" y="0"/>
          <a:chExt cx="0" cy="0"/>
        </a:xfrm>
      </p:grpSpPr>
      <p:sp>
        <p:nvSpPr>
          <p:cNvPr id="4098" name="Titre 1">
            <a:extLst>
              <a:ext uri="{FF2B5EF4-FFF2-40B4-BE49-F238E27FC236}">
                <a16:creationId xmlns:a16="http://schemas.microsoft.com/office/drawing/2014/main" id="{771C8371-A1BF-401E-A9A0-031A39AC4CF9}"/>
              </a:ext>
            </a:extLst>
          </p:cNvPr>
          <p:cNvSpPr>
            <a:spLocks noGrp="1"/>
          </p:cNvSpPr>
          <p:nvPr>
            <p:ph type="ctrTitle"/>
          </p:nvPr>
        </p:nvSpPr>
        <p:spPr>
          <a:xfrm>
            <a:off x="1524000" y="1122362"/>
            <a:ext cx="9144000" cy="2900997"/>
          </a:xfrm>
        </p:spPr>
        <p:txBody>
          <a:bodyPr>
            <a:normAutofit/>
          </a:bodyPr>
          <a:lstStyle/>
          <a:p>
            <a:pPr eaLnBrk="1" hangingPunct="1"/>
            <a:r>
              <a:rPr lang="fr-FR" altLang="fr-FR" sz="4000" b="1" dirty="0"/>
              <a:t>Contrats de location</a:t>
            </a:r>
            <a:br>
              <a:rPr lang="fr-FR" altLang="fr-FR" sz="4000" b="1" dirty="0"/>
            </a:br>
            <a:r>
              <a:rPr lang="fr-FR" altLang="fr-FR" sz="3200" b="1" i="1" dirty="0"/>
              <a:t>IFRS 16</a:t>
            </a:r>
            <a:br>
              <a:rPr lang="fr-FR" altLang="fr-FR" sz="2600" dirty="0"/>
            </a:br>
            <a:endParaRPr lang="fr-FR" altLang="fr-FR" sz="2600" dirty="0"/>
          </a:p>
        </p:txBody>
      </p:sp>
      <p:sp>
        <p:nvSpPr>
          <p:cNvPr id="4099" name="Sous-titre 2">
            <a:extLst>
              <a:ext uri="{FF2B5EF4-FFF2-40B4-BE49-F238E27FC236}">
                <a16:creationId xmlns:a16="http://schemas.microsoft.com/office/drawing/2014/main" id="{F2AF49C7-EF36-4F2B-9E4C-884C1D83D316}"/>
              </a:ext>
            </a:extLst>
          </p:cNvPr>
          <p:cNvSpPr>
            <a:spLocks noGrp="1"/>
          </p:cNvSpPr>
          <p:nvPr>
            <p:ph type="subTitle" idx="1"/>
          </p:nvPr>
        </p:nvSpPr>
        <p:spPr>
          <a:xfrm>
            <a:off x="2895600" y="4367213"/>
            <a:ext cx="6400800" cy="1752600"/>
          </a:xfrm>
        </p:spPr>
        <p:txBody>
          <a:bodyPr>
            <a:normAutofit lnSpcReduction="10000"/>
          </a:bodyPr>
          <a:lstStyle/>
          <a:p>
            <a:pPr eaLnBrk="1" hangingPunct="1">
              <a:lnSpc>
                <a:spcPct val="80000"/>
              </a:lnSpc>
            </a:pPr>
            <a:endParaRPr lang="fr-FR" altLang="fr-FR" sz="3000" dirty="0">
              <a:solidFill>
                <a:srgbClr val="898989"/>
              </a:solidFill>
            </a:endParaRPr>
          </a:p>
          <a:p>
            <a:pPr eaLnBrk="1" hangingPunct="1">
              <a:lnSpc>
                <a:spcPct val="80000"/>
              </a:lnSpc>
            </a:pPr>
            <a:endParaRPr lang="fr-FR" altLang="fr-FR" sz="3000" dirty="0">
              <a:solidFill>
                <a:srgbClr val="898989"/>
              </a:solidFill>
            </a:endParaRPr>
          </a:p>
          <a:p>
            <a:pPr eaLnBrk="1" hangingPunct="1">
              <a:lnSpc>
                <a:spcPct val="80000"/>
              </a:lnSpc>
            </a:pPr>
            <a:r>
              <a:rPr lang="fr-FR" altLang="fr-FR" sz="3000" dirty="0">
                <a:solidFill>
                  <a:srgbClr val="898989"/>
                </a:solidFill>
              </a:rPr>
              <a:t>Louise Overbeek</a:t>
            </a:r>
            <a:endParaRPr lang="fr-FR" altLang="fr-FR" dirty="0">
              <a:solidFill>
                <a:srgbClr val="898989"/>
              </a:solidFill>
            </a:endParaRPr>
          </a:p>
          <a:p>
            <a:pPr eaLnBrk="1" hangingPunct="1">
              <a:lnSpc>
                <a:spcPct val="80000"/>
              </a:lnSpc>
            </a:pPr>
            <a:r>
              <a:rPr lang="fr-FR" altLang="fr-FR" sz="1800" dirty="0">
                <a:solidFill>
                  <a:srgbClr val="898989"/>
                </a:solidFill>
              </a:rPr>
              <a:t>Mars 2021</a:t>
            </a:r>
            <a:endParaRPr lang="fr-FR" altLang="fr-FR" sz="3000" dirty="0">
              <a:solidFill>
                <a:srgbClr val="898989"/>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5122" name="Titre 1">
            <a:extLst>
              <a:ext uri="{FF2B5EF4-FFF2-40B4-BE49-F238E27FC236}">
                <a16:creationId xmlns:a16="http://schemas.microsoft.com/office/drawing/2014/main" id="{A53327F3-C77B-4DD5-842A-8FC4F50966C0}"/>
              </a:ext>
            </a:extLst>
          </p:cNvPr>
          <p:cNvSpPr>
            <a:spLocks noGrp="1"/>
          </p:cNvSpPr>
          <p:nvPr>
            <p:ph type="title"/>
          </p:nvPr>
        </p:nvSpPr>
        <p:spPr/>
        <p:txBody>
          <a:bodyPr/>
          <a:lstStyle/>
          <a:p>
            <a:pPr eaLnBrk="1" hangingPunct="1"/>
            <a:endParaRPr lang="fr-CA" altLang="fr-FR"/>
          </a:p>
        </p:txBody>
      </p:sp>
      <p:sp>
        <p:nvSpPr>
          <p:cNvPr id="5123" name="Espace réservé du contenu 2">
            <a:extLst>
              <a:ext uri="{FF2B5EF4-FFF2-40B4-BE49-F238E27FC236}">
                <a16:creationId xmlns:a16="http://schemas.microsoft.com/office/drawing/2014/main" id="{473D763F-1C64-4654-A70E-792FE46D0108}"/>
              </a:ext>
            </a:extLst>
          </p:cNvPr>
          <p:cNvSpPr>
            <a:spLocks noGrp="1"/>
          </p:cNvSpPr>
          <p:nvPr>
            <p:ph idx="1"/>
          </p:nvPr>
        </p:nvSpPr>
        <p:spPr/>
        <p:txBody>
          <a:bodyPr/>
          <a:lstStyle/>
          <a:p>
            <a:pPr marL="0" indent="0">
              <a:buNone/>
            </a:pPr>
            <a:r>
              <a:rPr lang="fr-CA" altLang="fr-FR" dirty="0"/>
              <a:t>Pourquoi louer plutôt qu</a:t>
            </a:r>
            <a:r>
              <a:rPr lang="fr-CA" altLang="fr-CA" dirty="0"/>
              <a:t>’</a:t>
            </a:r>
            <a:r>
              <a:rPr lang="fr-CA" altLang="fr-FR" dirty="0"/>
              <a:t>acheter?</a:t>
            </a:r>
          </a:p>
        </p:txBody>
      </p:sp>
      <p:sp>
        <p:nvSpPr>
          <p:cNvPr id="5124" name="Espace réservé du numéro de diapositive 3">
            <a:extLst>
              <a:ext uri="{FF2B5EF4-FFF2-40B4-BE49-F238E27FC236}">
                <a16:creationId xmlns:a16="http://schemas.microsoft.com/office/drawing/2014/main" id="{B5552098-60CA-42B2-A805-47177D98163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spcBef>
                <a:spcPct val="0"/>
              </a:spcBef>
              <a:buFontTx/>
              <a:buNone/>
            </a:pPr>
            <a:fld id="{F636894A-2DE2-4820-B0FA-F130DA775A16}" type="slidenum">
              <a:rPr lang="fr-FR" altLang="fr-FR" sz="1200">
                <a:solidFill>
                  <a:srgbClr val="898989"/>
                </a:solidFill>
              </a:rPr>
              <a:pPr>
                <a:spcBef>
                  <a:spcPct val="0"/>
                </a:spcBef>
                <a:buFontTx/>
                <a:buNone/>
              </a:pPr>
              <a:t>2</a:t>
            </a:fld>
            <a:endParaRPr lang="fr-FR" altLang="fr-FR" sz="1200">
              <a:solidFill>
                <a:srgbClr val="898989"/>
              </a:solidFill>
            </a:endParaRPr>
          </a:p>
        </p:txBody>
      </p:sp>
      <p:sp>
        <p:nvSpPr>
          <p:cNvPr id="2" name="Espace réservé du pied de page 1">
            <a:extLst>
              <a:ext uri="{FF2B5EF4-FFF2-40B4-BE49-F238E27FC236}">
                <a16:creationId xmlns:a16="http://schemas.microsoft.com/office/drawing/2014/main" id="{E862FE72-871C-4F1B-B5AF-5DDFA79B7308}"/>
              </a:ext>
            </a:extLst>
          </p:cNvPr>
          <p:cNvSpPr>
            <a:spLocks noGrp="1"/>
          </p:cNvSpPr>
          <p:nvPr>
            <p:ph type="ftr" sz="quarter" idx="11"/>
          </p:nvPr>
        </p:nvSpPr>
        <p:spPr/>
        <p:txBody>
          <a:bodyPr/>
          <a:lstStyle/>
          <a:p>
            <a:r>
              <a:rPr lang="fr-FR"/>
              <a:t>Droits réservés - Louise Overbeek</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122" name="Titre 1">
            <a:extLst>
              <a:ext uri="{FF2B5EF4-FFF2-40B4-BE49-F238E27FC236}">
                <a16:creationId xmlns:a16="http://schemas.microsoft.com/office/drawing/2014/main" id="{A53327F3-C77B-4DD5-842A-8FC4F50966C0}"/>
              </a:ext>
            </a:extLst>
          </p:cNvPr>
          <p:cNvSpPr>
            <a:spLocks noGrp="1"/>
          </p:cNvSpPr>
          <p:nvPr>
            <p:ph type="title"/>
          </p:nvPr>
        </p:nvSpPr>
        <p:spPr/>
        <p:txBody>
          <a:bodyPr/>
          <a:lstStyle/>
          <a:p>
            <a:pPr eaLnBrk="1" hangingPunct="1"/>
            <a:endParaRPr lang="fr-CA" altLang="fr-FR"/>
          </a:p>
        </p:txBody>
      </p:sp>
      <p:sp>
        <p:nvSpPr>
          <p:cNvPr id="5123" name="Espace réservé du contenu 2">
            <a:extLst>
              <a:ext uri="{FF2B5EF4-FFF2-40B4-BE49-F238E27FC236}">
                <a16:creationId xmlns:a16="http://schemas.microsoft.com/office/drawing/2014/main" id="{473D763F-1C64-4654-A70E-792FE46D0108}"/>
              </a:ext>
            </a:extLst>
          </p:cNvPr>
          <p:cNvSpPr>
            <a:spLocks noGrp="1"/>
          </p:cNvSpPr>
          <p:nvPr>
            <p:ph idx="1"/>
          </p:nvPr>
        </p:nvSpPr>
        <p:spPr/>
        <p:txBody>
          <a:bodyPr/>
          <a:lstStyle/>
          <a:p>
            <a:pPr marL="0" indent="0">
              <a:buNone/>
            </a:pPr>
            <a:r>
              <a:rPr lang="fr-CA" altLang="fr-FR" dirty="0"/>
              <a:t>Pourquoi louer plutôt qu</a:t>
            </a:r>
            <a:r>
              <a:rPr lang="fr-CA" altLang="fr-CA" dirty="0"/>
              <a:t>’</a:t>
            </a:r>
            <a:r>
              <a:rPr lang="fr-CA" altLang="fr-FR" dirty="0"/>
              <a:t>acheter?</a:t>
            </a:r>
          </a:p>
          <a:p>
            <a:r>
              <a:rPr lang="fr-CA" altLang="fr-FR" sz="2400" dirty="0"/>
              <a:t>Financement à 100 % (sauf si un « dépôt » ou paiement initial important est exigé)</a:t>
            </a:r>
          </a:p>
          <a:p>
            <a:r>
              <a:rPr lang="fr-CA" altLang="fr-FR" sz="2400" dirty="0"/>
              <a:t>Financement à taux fixe, mais coûteux (risque important pour le bailleur lié au financement à 100 %)</a:t>
            </a:r>
          </a:p>
        </p:txBody>
      </p:sp>
      <p:sp>
        <p:nvSpPr>
          <p:cNvPr id="5124" name="Espace réservé du numéro de diapositive 3">
            <a:extLst>
              <a:ext uri="{FF2B5EF4-FFF2-40B4-BE49-F238E27FC236}">
                <a16:creationId xmlns:a16="http://schemas.microsoft.com/office/drawing/2014/main" id="{B5552098-60CA-42B2-A805-47177D98163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spcBef>
                <a:spcPct val="0"/>
              </a:spcBef>
              <a:buFontTx/>
              <a:buNone/>
            </a:pPr>
            <a:fld id="{F636894A-2DE2-4820-B0FA-F130DA775A16}" type="slidenum">
              <a:rPr lang="fr-FR" altLang="fr-FR" sz="1200">
                <a:solidFill>
                  <a:srgbClr val="898989"/>
                </a:solidFill>
              </a:rPr>
              <a:pPr>
                <a:spcBef>
                  <a:spcPct val="0"/>
                </a:spcBef>
                <a:buFontTx/>
                <a:buNone/>
              </a:pPr>
              <a:t>3</a:t>
            </a:fld>
            <a:endParaRPr lang="fr-FR" altLang="fr-FR" sz="1200">
              <a:solidFill>
                <a:srgbClr val="898989"/>
              </a:solidFill>
            </a:endParaRPr>
          </a:p>
        </p:txBody>
      </p:sp>
      <p:sp>
        <p:nvSpPr>
          <p:cNvPr id="2" name="Espace réservé du pied de page 1">
            <a:extLst>
              <a:ext uri="{FF2B5EF4-FFF2-40B4-BE49-F238E27FC236}">
                <a16:creationId xmlns:a16="http://schemas.microsoft.com/office/drawing/2014/main" id="{714FE29E-9C1E-4DC8-90CD-B593CB6C9F83}"/>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20041343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re 1">
            <a:extLst>
              <a:ext uri="{FF2B5EF4-FFF2-40B4-BE49-F238E27FC236}">
                <a16:creationId xmlns:a16="http://schemas.microsoft.com/office/drawing/2014/main" id="{4427CC54-C3CB-4255-8332-7BABA020BCE2}"/>
              </a:ext>
            </a:extLst>
          </p:cNvPr>
          <p:cNvSpPr>
            <a:spLocks noGrp="1"/>
          </p:cNvSpPr>
          <p:nvPr>
            <p:ph type="title"/>
          </p:nvPr>
        </p:nvSpPr>
        <p:spPr/>
        <p:txBody>
          <a:bodyPr/>
          <a:lstStyle/>
          <a:p>
            <a:pPr eaLnBrk="1" hangingPunct="1"/>
            <a:r>
              <a:rPr lang="fr-FR" altLang="fr-FR" sz="3600"/>
              <a:t>IFRS 16</a:t>
            </a:r>
            <a:endParaRPr lang="fr-FR" altLang="fr-FR" sz="3200"/>
          </a:p>
        </p:txBody>
      </p:sp>
      <p:sp>
        <p:nvSpPr>
          <p:cNvPr id="6147" name="Espace réservé du contenu 2">
            <a:extLst>
              <a:ext uri="{FF2B5EF4-FFF2-40B4-BE49-F238E27FC236}">
                <a16:creationId xmlns:a16="http://schemas.microsoft.com/office/drawing/2014/main" id="{3CABE11D-CF3C-4318-8C2C-413BC6EED7F9}"/>
              </a:ext>
            </a:extLst>
          </p:cNvPr>
          <p:cNvSpPr>
            <a:spLocks noGrp="1"/>
          </p:cNvSpPr>
          <p:nvPr>
            <p:ph idx="1"/>
          </p:nvPr>
        </p:nvSpPr>
        <p:spPr/>
        <p:txBody>
          <a:bodyPr>
            <a:normAutofit/>
          </a:bodyPr>
          <a:lstStyle/>
          <a:p>
            <a:pPr eaLnBrk="1" hangingPunct="1"/>
            <a:r>
              <a:rPr lang="fr-CA" altLang="fr-FR" sz="2400" b="1" dirty="0">
                <a:solidFill>
                  <a:srgbClr val="FF0000"/>
                </a:solidFill>
              </a:rPr>
              <a:t>IFRS 16 </a:t>
            </a:r>
            <a:r>
              <a:rPr lang="fr-CA" altLang="fr-FR" sz="2400" i="1" dirty="0"/>
              <a:t>pour les exercices ouverts à compter du 1</a:t>
            </a:r>
            <a:r>
              <a:rPr lang="fr-CA" altLang="fr-FR" sz="2400" i="1" baseline="30000" dirty="0"/>
              <a:t>er </a:t>
            </a:r>
            <a:r>
              <a:rPr lang="fr-CA" altLang="fr-FR" sz="2400" i="1" dirty="0"/>
              <a:t>janvier 2019</a:t>
            </a:r>
          </a:p>
          <a:p>
            <a:pPr eaLnBrk="1" hangingPunct="1"/>
            <a:endParaRPr lang="fr-CA" altLang="fr-FR" sz="2400" i="1" dirty="0"/>
          </a:p>
          <a:p>
            <a:pPr marL="0" indent="0">
              <a:buNone/>
            </a:pPr>
            <a:r>
              <a:rPr lang="fr-CA" b="1" dirty="0"/>
              <a:t>Objectif</a:t>
            </a:r>
          </a:p>
          <a:p>
            <a:pPr marL="0" indent="0">
              <a:buNone/>
            </a:pPr>
            <a:r>
              <a:rPr lang="fr-CA" sz="2400" dirty="0"/>
              <a:t>1     La présente norme établit des principes concernant la comptabilisation, l'évaluation et la présentation des </a:t>
            </a:r>
            <a:r>
              <a:rPr lang="fr-CA" sz="2400" i="1" dirty="0"/>
              <a:t>contrats de location</a:t>
            </a:r>
            <a:r>
              <a:rPr lang="fr-CA" sz="2400" dirty="0"/>
              <a:t>, ainsi que les informations à fournir à leur sujet. Elle a pour objectif que les </a:t>
            </a:r>
            <a:r>
              <a:rPr lang="fr-CA" sz="2400" i="1" dirty="0"/>
              <a:t>preneurs</a:t>
            </a:r>
            <a:r>
              <a:rPr lang="fr-CA" sz="2400" dirty="0"/>
              <a:t> et les </a:t>
            </a:r>
            <a:r>
              <a:rPr lang="fr-CA" sz="2400" i="1" dirty="0"/>
              <a:t>bailleurs</a:t>
            </a:r>
            <a:r>
              <a:rPr lang="fr-CA" sz="2400" dirty="0"/>
              <a:t> fournissent des informations pertinentes qui donnent une image fidèle des opérations relatives à ces contrats, de manière à ce que les utilisateurs des états financiers disposent d'une base pour apprécier l'incidence des contrats de location sur la situation financière, la performance financière et les flux de trésorerie de l'entité.</a:t>
            </a:r>
            <a:endParaRPr lang="fr-CA" dirty="0"/>
          </a:p>
          <a:p>
            <a:pPr eaLnBrk="1" hangingPunct="1"/>
            <a:endParaRPr lang="fr-CA" altLang="fr-FR" sz="2400" i="1" dirty="0"/>
          </a:p>
          <a:p>
            <a:pPr algn="ctr" eaLnBrk="1" hangingPunct="1">
              <a:buFont typeface="Arial" panose="020B0604020202020204" pitchFamily="34" charset="0"/>
              <a:buNone/>
            </a:pPr>
            <a:endParaRPr lang="fr-CA" altLang="fr-FR" sz="6000" b="1" dirty="0">
              <a:solidFill>
                <a:srgbClr val="FF0000"/>
              </a:solidFill>
            </a:endParaRPr>
          </a:p>
          <a:p>
            <a:pPr eaLnBrk="1" hangingPunct="1">
              <a:buFont typeface="Arial" panose="020B0604020202020204" pitchFamily="34" charset="0"/>
              <a:buNone/>
            </a:pPr>
            <a:endParaRPr lang="fr-CA" altLang="fr-FR" sz="6000" b="1" dirty="0">
              <a:solidFill>
                <a:srgbClr val="FF0000"/>
              </a:solidFill>
            </a:endParaRPr>
          </a:p>
        </p:txBody>
      </p:sp>
      <p:sp>
        <p:nvSpPr>
          <p:cNvPr id="6148" name="Espace réservé du numéro de diapositive 3">
            <a:extLst>
              <a:ext uri="{FF2B5EF4-FFF2-40B4-BE49-F238E27FC236}">
                <a16:creationId xmlns:a16="http://schemas.microsoft.com/office/drawing/2014/main" id="{C06B6187-96FA-4919-BA04-E0D606D7103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spcBef>
                <a:spcPct val="0"/>
              </a:spcBef>
              <a:buFontTx/>
              <a:buNone/>
            </a:pPr>
            <a:fld id="{6CC9D8D0-4172-42CB-B604-E9F605236D4B}" type="slidenum">
              <a:rPr lang="fr-FR" altLang="fr-FR" sz="1200">
                <a:solidFill>
                  <a:srgbClr val="898989"/>
                </a:solidFill>
              </a:rPr>
              <a:pPr>
                <a:spcBef>
                  <a:spcPct val="0"/>
                </a:spcBef>
                <a:buFontTx/>
                <a:buNone/>
              </a:pPr>
              <a:t>4</a:t>
            </a:fld>
            <a:endParaRPr lang="fr-FR" altLang="fr-FR" sz="1200">
              <a:solidFill>
                <a:srgbClr val="898989"/>
              </a:solidFill>
            </a:endParaRPr>
          </a:p>
        </p:txBody>
      </p:sp>
      <p:sp>
        <p:nvSpPr>
          <p:cNvPr id="2" name="Espace réservé du pied de page 1">
            <a:extLst>
              <a:ext uri="{FF2B5EF4-FFF2-40B4-BE49-F238E27FC236}">
                <a16:creationId xmlns:a16="http://schemas.microsoft.com/office/drawing/2014/main" id="{161F3D04-17DC-4DDB-8D08-BB41E6D6AB3D}"/>
              </a:ext>
            </a:extLst>
          </p:cNvPr>
          <p:cNvSpPr>
            <a:spLocks noGrp="1"/>
          </p:cNvSpPr>
          <p:nvPr>
            <p:ph type="ftr" sz="quarter" idx="11"/>
          </p:nvPr>
        </p:nvSpPr>
        <p:spPr/>
        <p:txBody>
          <a:bodyPr/>
          <a:lstStyle/>
          <a:p>
            <a:r>
              <a:rPr lang="fr-FR"/>
              <a:t>Droits réservés - Louise Overbeek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350DD95-23B8-4823-9502-A28CE70B37B6}"/>
              </a:ext>
            </a:extLst>
          </p:cNvPr>
          <p:cNvSpPr>
            <a:spLocks noGrp="1"/>
          </p:cNvSpPr>
          <p:nvPr>
            <p:ph type="title"/>
          </p:nvPr>
        </p:nvSpPr>
        <p:spPr/>
        <p:txBody>
          <a:bodyPr/>
          <a:lstStyle/>
          <a:p>
            <a:r>
              <a:rPr lang="fr-CA" sz="4000" dirty="0"/>
              <a:t>Définitions</a:t>
            </a:r>
            <a:r>
              <a:rPr lang="fr-CA" dirty="0"/>
              <a:t>  </a:t>
            </a:r>
            <a:r>
              <a:rPr lang="fr-CA" sz="2800" dirty="0"/>
              <a:t>(IFRS 16 - Annexe A)</a:t>
            </a:r>
            <a:endParaRPr lang="fr-FR" dirty="0"/>
          </a:p>
        </p:txBody>
      </p:sp>
      <p:sp>
        <p:nvSpPr>
          <p:cNvPr id="3" name="Espace réservé du contenu 2">
            <a:extLst>
              <a:ext uri="{FF2B5EF4-FFF2-40B4-BE49-F238E27FC236}">
                <a16:creationId xmlns:a16="http://schemas.microsoft.com/office/drawing/2014/main" id="{DA1755EC-0A23-4E4E-B10E-C6EB4D910149}"/>
              </a:ext>
            </a:extLst>
          </p:cNvPr>
          <p:cNvSpPr>
            <a:spLocks noGrp="1"/>
          </p:cNvSpPr>
          <p:nvPr>
            <p:ph idx="1"/>
          </p:nvPr>
        </p:nvSpPr>
        <p:spPr/>
        <p:txBody>
          <a:bodyPr>
            <a:normAutofit lnSpcReduction="10000"/>
          </a:bodyPr>
          <a:lstStyle/>
          <a:p>
            <a:r>
              <a:rPr lang="fr-CA" b="1" dirty="0">
                <a:solidFill>
                  <a:srgbClr val="0070C0"/>
                </a:solidFill>
              </a:rPr>
              <a:t>Contrat de location </a:t>
            </a:r>
            <a:r>
              <a:rPr lang="fr-CA" dirty="0"/>
              <a:t>: Contrat, ou partie d'un contrat, par lequel est cédé le droit d'utiliser un bien (le </a:t>
            </a:r>
            <a:r>
              <a:rPr lang="fr-CA" b="1" dirty="0"/>
              <a:t>bien sous-jacent</a:t>
            </a:r>
            <a:r>
              <a:rPr lang="fr-CA" dirty="0"/>
              <a:t>) pour un certain temps moyennant une contrepartie.</a:t>
            </a:r>
          </a:p>
          <a:p>
            <a:endParaRPr lang="fr-CA" dirty="0"/>
          </a:p>
          <a:p>
            <a:r>
              <a:rPr lang="fr-CA" b="1" dirty="0">
                <a:solidFill>
                  <a:srgbClr val="0070C0"/>
                </a:solidFill>
              </a:rPr>
              <a:t>Preneur</a:t>
            </a:r>
            <a:r>
              <a:rPr lang="fr-CA" dirty="0"/>
              <a:t> : Entité qui obtient le droit d'utiliser un </a:t>
            </a:r>
            <a:r>
              <a:rPr lang="fr-CA" b="1" dirty="0"/>
              <a:t>bien sous-jacent</a:t>
            </a:r>
            <a:r>
              <a:rPr lang="fr-CA" dirty="0"/>
              <a:t> pendant un certain temps moyennant une contrepartie.</a:t>
            </a:r>
          </a:p>
          <a:p>
            <a:pPr lvl="1"/>
            <a:r>
              <a:rPr lang="fr-CA" dirty="0"/>
              <a:t>Locataire, client</a:t>
            </a:r>
          </a:p>
          <a:p>
            <a:pPr marL="457200" lvl="1" indent="0">
              <a:buNone/>
            </a:pPr>
            <a:endParaRPr lang="fr-CA" dirty="0"/>
          </a:p>
          <a:p>
            <a:r>
              <a:rPr lang="fr-CA" b="1" dirty="0">
                <a:solidFill>
                  <a:srgbClr val="0070C0"/>
                </a:solidFill>
              </a:rPr>
              <a:t>Bailleur</a:t>
            </a:r>
            <a:r>
              <a:rPr lang="fr-CA" dirty="0"/>
              <a:t> : Entité qui accorde le droit d'utiliser un </a:t>
            </a:r>
            <a:r>
              <a:rPr lang="fr-CA" b="1" dirty="0"/>
              <a:t>bien sous-jacent</a:t>
            </a:r>
            <a:r>
              <a:rPr lang="fr-CA" dirty="0"/>
              <a:t> pendant un certain temps moyennant une contrepartie.</a:t>
            </a:r>
          </a:p>
          <a:p>
            <a:pPr lvl="1"/>
            <a:r>
              <a:rPr lang="fr-CA" dirty="0"/>
              <a:t>Locateur, fournisseur</a:t>
            </a:r>
            <a:endParaRPr lang="fr-FR" dirty="0"/>
          </a:p>
        </p:txBody>
      </p:sp>
      <p:sp>
        <p:nvSpPr>
          <p:cNvPr id="5" name="Espace réservé du pied de page 4">
            <a:extLst>
              <a:ext uri="{FF2B5EF4-FFF2-40B4-BE49-F238E27FC236}">
                <a16:creationId xmlns:a16="http://schemas.microsoft.com/office/drawing/2014/main" id="{8EDAB8D3-00EB-4778-B758-95437FCB3351}"/>
              </a:ext>
            </a:extLst>
          </p:cNvPr>
          <p:cNvSpPr>
            <a:spLocks noGrp="1"/>
          </p:cNvSpPr>
          <p:nvPr>
            <p:ph type="ftr" sz="quarter" idx="11"/>
          </p:nvPr>
        </p:nvSpPr>
        <p:spPr/>
        <p:txBody>
          <a:bodyPr/>
          <a:lstStyle/>
          <a:p>
            <a:r>
              <a:rPr lang="fr-FR"/>
              <a:t>Droits réservés - Louise Overbeek</a:t>
            </a:r>
          </a:p>
        </p:txBody>
      </p:sp>
      <p:sp>
        <p:nvSpPr>
          <p:cNvPr id="6" name="Espace réservé du numéro de diapositive 5">
            <a:extLst>
              <a:ext uri="{FF2B5EF4-FFF2-40B4-BE49-F238E27FC236}">
                <a16:creationId xmlns:a16="http://schemas.microsoft.com/office/drawing/2014/main" id="{0C4DE139-1627-4625-825A-4C2FB57D0EC5}"/>
              </a:ext>
            </a:extLst>
          </p:cNvPr>
          <p:cNvSpPr>
            <a:spLocks noGrp="1"/>
          </p:cNvSpPr>
          <p:nvPr>
            <p:ph type="sldNum" sz="quarter" idx="12"/>
          </p:nvPr>
        </p:nvSpPr>
        <p:spPr/>
        <p:txBody>
          <a:bodyPr/>
          <a:lstStyle/>
          <a:p>
            <a:fld id="{C1CF9165-9E3D-452B-A995-87B4F64F5FE5}" type="slidenum">
              <a:rPr lang="fr-FR" smtClean="0"/>
              <a:t>5</a:t>
            </a:fld>
            <a:endParaRPr lang="fr-FR"/>
          </a:p>
        </p:txBody>
      </p:sp>
    </p:spTree>
    <p:extLst>
      <p:ext uri="{BB962C8B-B14F-4D97-AF65-F5344CB8AC3E}">
        <p14:creationId xmlns:p14="http://schemas.microsoft.com/office/powerpoint/2010/main" val="28167804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re 1">
            <a:extLst>
              <a:ext uri="{FF2B5EF4-FFF2-40B4-BE49-F238E27FC236}">
                <a16:creationId xmlns:a16="http://schemas.microsoft.com/office/drawing/2014/main" id="{152DDE0B-F08E-4182-AFE4-2D70182C9B4A}"/>
              </a:ext>
            </a:extLst>
          </p:cNvPr>
          <p:cNvSpPr>
            <a:spLocks noGrp="1"/>
          </p:cNvSpPr>
          <p:nvPr>
            <p:ph type="title"/>
          </p:nvPr>
        </p:nvSpPr>
        <p:spPr>
          <a:xfrm>
            <a:off x="893379" y="274638"/>
            <a:ext cx="10342180" cy="800100"/>
          </a:xfrm>
        </p:spPr>
        <p:txBody>
          <a:bodyPr>
            <a:normAutofit/>
          </a:bodyPr>
          <a:lstStyle/>
          <a:p>
            <a:r>
              <a:rPr lang="fr-CA" altLang="fr-FR" sz="3600" dirty="0"/>
              <a:t>IFRS 16 - </a:t>
            </a:r>
            <a:r>
              <a:rPr lang="fr-CA" altLang="fr-FR" sz="3600" b="1" dirty="0"/>
              <a:t>Champ d'application</a:t>
            </a:r>
            <a:endParaRPr lang="fr-CA" altLang="fr-FR" sz="3600" dirty="0"/>
          </a:p>
        </p:txBody>
      </p:sp>
      <p:sp>
        <p:nvSpPr>
          <p:cNvPr id="7171" name="Espace réservé du contenu 2">
            <a:extLst>
              <a:ext uri="{FF2B5EF4-FFF2-40B4-BE49-F238E27FC236}">
                <a16:creationId xmlns:a16="http://schemas.microsoft.com/office/drawing/2014/main" id="{68A1D939-1802-4170-BBA3-1C44FE08611C}"/>
              </a:ext>
            </a:extLst>
          </p:cNvPr>
          <p:cNvSpPr>
            <a:spLocks noGrp="1"/>
          </p:cNvSpPr>
          <p:nvPr>
            <p:ph idx="1"/>
          </p:nvPr>
        </p:nvSpPr>
        <p:spPr>
          <a:xfrm>
            <a:off x="893379" y="1334814"/>
            <a:ext cx="10460421" cy="5248548"/>
          </a:xfrm>
        </p:spPr>
        <p:txBody>
          <a:bodyPr>
            <a:normAutofit fontScale="92500" lnSpcReduction="20000"/>
          </a:bodyPr>
          <a:lstStyle/>
          <a:p>
            <a:pPr marL="0" indent="0">
              <a:lnSpc>
                <a:spcPct val="80000"/>
              </a:lnSpc>
              <a:buNone/>
            </a:pPr>
            <a:r>
              <a:rPr lang="fr-CA" altLang="fr-FR" sz="2400" dirty="0"/>
              <a:t>3     L'entité doit appliquer la présente norme à </a:t>
            </a:r>
            <a:r>
              <a:rPr lang="fr-CA" altLang="fr-FR" sz="2400" dirty="0">
                <a:solidFill>
                  <a:srgbClr val="0070C0"/>
                </a:solidFill>
              </a:rPr>
              <a:t>tous les contrats de location</a:t>
            </a:r>
            <a:r>
              <a:rPr lang="fr-CA" altLang="fr-FR" sz="2400" dirty="0"/>
              <a:t>, y compris aux contrats de location d'</a:t>
            </a:r>
            <a:r>
              <a:rPr lang="fr-CA" altLang="fr-FR" sz="2400" i="1" dirty="0"/>
              <a:t>actifs au titre de droits d'utilisation</a:t>
            </a:r>
            <a:r>
              <a:rPr lang="fr-CA" altLang="fr-FR" sz="2400" dirty="0"/>
              <a:t> que constituent les </a:t>
            </a:r>
            <a:r>
              <a:rPr lang="fr-CA" altLang="fr-FR" sz="2400" i="1" dirty="0"/>
              <a:t>contrats de </a:t>
            </a:r>
            <a:r>
              <a:rPr lang="fr-CA" altLang="fr-FR" sz="2400" i="1" dirty="0">
                <a:solidFill>
                  <a:srgbClr val="0070C0"/>
                </a:solidFill>
              </a:rPr>
              <a:t>sous-location</a:t>
            </a:r>
            <a:r>
              <a:rPr lang="fr-CA" altLang="fr-FR" sz="2400" dirty="0"/>
              <a:t>, </a:t>
            </a:r>
            <a:r>
              <a:rPr lang="fr-CA" altLang="fr-FR" sz="2400" b="1" u="sng" dirty="0"/>
              <a:t>sauf</a:t>
            </a:r>
            <a:r>
              <a:rPr lang="fr-CA" altLang="fr-FR" sz="2400" dirty="0"/>
              <a:t> :</a:t>
            </a:r>
          </a:p>
          <a:p>
            <a:pPr marL="0" indent="0">
              <a:lnSpc>
                <a:spcPct val="80000"/>
              </a:lnSpc>
              <a:buNone/>
            </a:pPr>
            <a:r>
              <a:rPr lang="fr-CA" altLang="fr-FR" sz="2400" dirty="0"/>
              <a:t>(a)     les contrats portant sur la prospection ou l'exploitation de minéraux, de pétrole, de gaz naturel ou d'autres </a:t>
            </a:r>
            <a:r>
              <a:rPr lang="fr-CA" altLang="fr-FR" sz="2400" dirty="0">
                <a:solidFill>
                  <a:srgbClr val="0070C0"/>
                </a:solidFill>
              </a:rPr>
              <a:t>ressources non renouvelables </a:t>
            </a:r>
            <a:r>
              <a:rPr lang="fr-CA" altLang="fr-FR" sz="2400" dirty="0"/>
              <a:t>similaires ;</a:t>
            </a:r>
          </a:p>
          <a:p>
            <a:pPr marL="0" indent="0">
              <a:lnSpc>
                <a:spcPct val="80000"/>
              </a:lnSpc>
              <a:buNone/>
            </a:pPr>
            <a:r>
              <a:rPr lang="fr-CA" altLang="fr-FR" sz="2400" dirty="0"/>
              <a:t>(b)     les contrats conclus par un preneur pour la location d'actifs biologiques qui entrent dans le champ d'application </a:t>
            </a:r>
            <a:r>
              <a:rPr lang="fr-CA" altLang="fr-FR" sz="2400" dirty="0">
                <a:solidFill>
                  <a:srgbClr val="0070C0"/>
                </a:solidFill>
              </a:rPr>
              <a:t>d'IAS 41 </a:t>
            </a:r>
            <a:r>
              <a:rPr lang="fr-CA" altLang="fr-FR" sz="2400" i="1" dirty="0">
                <a:solidFill>
                  <a:srgbClr val="0070C0"/>
                </a:solidFill>
              </a:rPr>
              <a:t>Agriculture</a:t>
            </a:r>
            <a:r>
              <a:rPr lang="fr-CA" altLang="fr-FR" sz="2400" dirty="0">
                <a:solidFill>
                  <a:srgbClr val="0070C0"/>
                </a:solidFill>
              </a:rPr>
              <a:t> </a:t>
            </a:r>
            <a:r>
              <a:rPr lang="fr-CA" altLang="fr-FR" sz="2400" dirty="0"/>
              <a:t>;</a:t>
            </a:r>
          </a:p>
          <a:p>
            <a:pPr marL="0" indent="0">
              <a:lnSpc>
                <a:spcPct val="80000"/>
              </a:lnSpc>
              <a:buNone/>
            </a:pPr>
            <a:r>
              <a:rPr lang="fr-CA" altLang="fr-FR" sz="2400" dirty="0"/>
              <a:t>(c)     les accords de concession de services qui entrent dans le champ d'application </a:t>
            </a:r>
            <a:r>
              <a:rPr lang="fr-CA" altLang="fr-FR" sz="2400" dirty="0">
                <a:solidFill>
                  <a:srgbClr val="0070C0"/>
                </a:solidFill>
              </a:rPr>
              <a:t>d'IFRIC 12 </a:t>
            </a:r>
            <a:r>
              <a:rPr lang="fr-CA" altLang="fr-FR" sz="2400" i="1" dirty="0">
                <a:solidFill>
                  <a:srgbClr val="0070C0"/>
                </a:solidFill>
              </a:rPr>
              <a:t>Accords de concession de services</a:t>
            </a:r>
            <a:r>
              <a:rPr lang="fr-CA" altLang="fr-FR" sz="2400" dirty="0">
                <a:solidFill>
                  <a:srgbClr val="0070C0"/>
                </a:solidFill>
              </a:rPr>
              <a:t> ;</a:t>
            </a:r>
          </a:p>
          <a:p>
            <a:pPr marL="0" indent="0">
              <a:lnSpc>
                <a:spcPct val="80000"/>
              </a:lnSpc>
              <a:buNone/>
            </a:pPr>
            <a:r>
              <a:rPr lang="fr-CA" altLang="fr-FR" sz="2400" dirty="0"/>
              <a:t>(d)    </a:t>
            </a:r>
            <a:r>
              <a:rPr lang="fr-CA" altLang="fr-FR" sz="2400" dirty="0">
                <a:solidFill>
                  <a:srgbClr val="0070C0"/>
                </a:solidFill>
              </a:rPr>
              <a:t> les licences de propriété intellectuelle </a:t>
            </a:r>
            <a:r>
              <a:rPr lang="fr-CA" altLang="fr-FR" sz="2400" dirty="0"/>
              <a:t>octroyées par un bailleur qui entrent dans le champ d'application d'IFRS 15 </a:t>
            </a:r>
            <a:r>
              <a:rPr lang="fr-CA" altLang="fr-FR" sz="2400" i="1" dirty="0"/>
              <a:t>Produits des activités ordinaires tirés de contrats conclus avec des clients</a:t>
            </a:r>
            <a:r>
              <a:rPr lang="fr-CA" altLang="fr-FR" sz="2400" dirty="0"/>
              <a:t> ;</a:t>
            </a:r>
          </a:p>
          <a:p>
            <a:pPr marL="0" indent="0">
              <a:lnSpc>
                <a:spcPct val="80000"/>
              </a:lnSpc>
              <a:buNone/>
            </a:pPr>
            <a:r>
              <a:rPr lang="fr-CA" altLang="fr-FR" sz="2400" dirty="0"/>
              <a:t>(e)    </a:t>
            </a:r>
            <a:r>
              <a:rPr lang="fr-CA" altLang="fr-FR" sz="2400" dirty="0">
                <a:solidFill>
                  <a:srgbClr val="0070C0"/>
                </a:solidFill>
              </a:rPr>
              <a:t> les droits détenus par un preneur en vertu d'un accord de licence </a:t>
            </a:r>
            <a:r>
              <a:rPr lang="fr-CA" altLang="fr-FR" sz="2400" dirty="0"/>
              <a:t>entrant dans le champ d'application d'IAS 38 </a:t>
            </a:r>
            <a:r>
              <a:rPr lang="fr-CA" altLang="fr-FR" sz="2400" i="1" dirty="0"/>
              <a:t>Immobilisations incorporelles</a:t>
            </a:r>
            <a:r>
              <a:rPr lang="fr-CA" altLang="fr-FR" sz="2400" dirty="0"/>
              <a:t> et portant sur des éléments tels que des films cinématographiques, des enregistrements vidéo, des pièces de théâtre, des manuscrits, des brevets et des droits de reproduction.</a:t>
            </a:r>
          </a:p>
          <a:p>
            <a:pPr marL="0" indent="0">
              <a:lnSpc>
                <a:spcPct val="80000"/>
              </a:lnSpc>
              <a:buNone/>
            </a:pPr>
            <a:endParaRPr lang="fr-CA" altLang="fr-FR" sz="2400" dirty="0"/>
          </a:p>
          <a:p>
            <a:pPr marL="0" indent="0">
              <a:lnSpc>
                <a:spcPct val="80000"/>
              </a:lnSpc>
              <a:buNone/>
            </a:pPr>
            <a:r>
              <a:rPr lang="fr-CA" altLang="fr-FR" sz="2400" dirty="0"/>
              <a:t>4     </a:t>
            </a:r>
            <a:r>
              <a:rPr lang="fr-CA" altLang="fr-FR" sz="2400" dirty="0">
                <a:solidFill>
                  <a:srgbClr val="0070C0"/>
                </a:solidFill>
              </a:rPr>
              <a:t>Le preneur peut appliquer la présente norme aux contrats de location d'immobilisations incorporelles autres que ceux décrits au paragraphe 3(e), </a:t>
            </a:r>
            <a:r>
              <a:rPr lang="fr-CA" altLang="fr-FR" sz="2400" u="sng" dirty="0">
                <a:solidFill>
                  <a:srgbClr val="0070C0"/>
                </a:solidFill>
              </a:rPr>
              <a:t>mais il n'est pas tenu de le faire</a:t>
            </a:r>
            <a:r>
              <a:rPr lang="fr-CA" altLang="fr-FR" sz="2400" dirty="0">
                <a:solidFill>
                  <a:srgbClr val="0070C0"/>
                </a:solidFill>
              </a:rPr>
              <a:t>.</a:t>
            </a:r>
          </a:p>
        </p:txBody>
      </p:sp>
      <p:sp>
        <p:nvSpPr>
          <p:cNvPr id="7172" name="Espace réservé du numéro de diapositive 3">
            <a:extLst>
              <a:ext uri="{FF2B5EF4-FFF2-40B4-BE49-F238E27FC236}">
                <a16:creationId xmlns:a16="http://schemas.microsoft.com/office/drawing/2014/main" id="{EBDAAD0D-A579-4C2F-B4A7-AFAA0696F79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spcBef>
                <a:spcPct val="0"/>
              </a:spcBef>
              <a:buFontTx/>
              <a:buNone/>
            </a:pPr>
            <a:fld id="{F2611A9A-2E87-424C-B0B2-8A141308CA94}" type="slidenum">
              <a:rPr lang="fr-FR" altLang="fr-FR" sz="1200">
                <a:solidFill>
                  <a:srgbClr val="898989"/>
                </a:solidFill>
              </a:rPr>
              <a:pPr>
                <a:spcBef>
                  <a:spcPct val="0"/>
                </a:spcBef>
                <a:buFontTx/>
                <a:buNone/>
              </a:pPr>
              <a:t>6</a:t>
            </a:fld>
            <a:endParaRPr lang="fr-FR" altLang="fr-FR" sz="1200">
              <a:solidFill>
                <a:srgbClr val="898989"/>
              </a:solidFill>
            </a:endParaRPr>
          </a:p>
        </p:txBody>
      </p:sp>
      <p:sp>
        <p:nvSpPr>
          <p:cNvPr id="2" name="Espace réservé du pied de page 1">
            <a:extLst>
              <a:ext uri="{FF2B5EF4-FFF2-40B4-BE49-F238E27FC236}">
                <a16:creationId xmlns:a16="http://schemas.microsoft.com/office/drawing/2014/main" id="{FFA16BE0-36D4-4EC6-9AEB-CDFCF2E187A2}"/>
              </a:ext>
            </a:extLst>
          </p:cNvPr>
          <p:cNvSpPr>
            <a:spLocks noGrp="1"/>
          </p:cNvSpPr>
          <p:nvPr>
            <p:ph type="ftr" sz="quarter" idx="11"/>
          </p:nvPr>
        </p:nvSpPr>
        <p:spPr/>
        <p:txBody>
          <a:bodyPr/>
          <a:lstStyle/>
          <a:p>
            <a:r>
              <a:rPr lang="fr-FR"/>
              <a:t>Droits réservés - Louise Overbeek</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re 1">
            <a:extLst>
              <a:ext uri="{FF2B5EF4-FFF2-40B4-BE49-F238E27FC236}">
                <a16:creationId xmlns:a16="http://schemas.microsoft.com/office/drawing/2014/main" id="{FC85BE43-BBC6-4C84-9CCA-EC9E231BF21C}"/>
              </a:ext>
            </a:extLst>
          </p:cNvPr>
          <p:cNvSpPr>
            <a:spLocks noGrp="1"/>
          </p:cNvSpPr>
          <p:nvPr>
            <p:ph type="title"/>
          </p:nvPr>
        </p:nvSpPr>
        <p:spPr>
          <a:xfrm>
            <a:off x="893379" y="274638"/>
            <a:ext cx="10460421" cy="836612"/>
          </a:xfrm>
        </p:spPr>
        <p:txBody>
          <a:bodyPr/>
          <a:lstStyle/>
          <a:p>
            <a:pPr eaLnBrk="1" hangingPunct="1"/>
            <a:r>
              <a:rPr lang="fr-CA" altLang="fr-FR" sz="3600" dirty="0"/>
              <a:t>Image fidèle</a:t>
            </a:r>
          </a:p>
        </p:txBody>
      </p:sp>
      <p:sp>
        <p:nvSpPr>
          <p:cNvPr id="8195" name="Espace réservé du contenu 2">
            <a:extLst>
              <a:ext uri="{FF2B5EF4-FFF2-40B4-BE49-F238E27FC236}">
                <a16:creationId xmlns:a16="http://schemas.microsoft.com/office/drawing/2014/main" id="{2629D8C8-3B43-4F22-88F7-AAAC5453A77B}"/>
              </a:ext>
            </a:extLst>
          </p:cNvPr>
          <p:cNvSpPr>
            <a:spLocks noGrp="1"/>
          </p:cNvSpPr>
          <p:nvPr>
            <p:ph idx="1"/>
          </p:nvPr>
        </p:nvSpPr>
        <p:spPr>
          <a:xfrm>
            <a:off x="893379" y="1355833"/>
            <a:ext cx="10460421" cy="4897821"/>
          </a:xfrm>
        </p:spPr>
        <p:txBody>
          <a:bodyPr>
            <a:normAutofit fontScale="92500" lnSpcReduction="20000"/>
          </a:bodyPr>
          <a:lstStyle/>
          <a:p>
            <a:pPr eaLnBrk="1" hangingPunct="1">
              <a:lnSpc>
                <a:spcPct val="90000"/>
              </a:lnSpc>
            </a:pPr>
            <a:r>
              <a:rPr lang="fr-CA" altLang="fr-FR" sz="2600" dirty="0"/>
              <a:t>Refléter la substance économique</a:t>
            </a:r>
          </a:p>
          <a:p>
            <a:pPr lvl="1" eaLnBrk="1" hangingPunct="1">
              <a:lnSpc>
                <a:spcPct val="90000"/>
              </a:lnSpc>
            </a:pPr>
            <a:r>
              <a:rPr lang="fr-CA" altLang="fr-FR" sz="2600" dirty="0"/>
              <a:t>Et non la forme légale</a:t>
            </a:r>
          </a:p>
          <a:p>
            <a:pPr lvl="1" eaLnBrk="1" hangingPunct="1">
              <a:lnSpc>
                <a:spcPct val="90000"/>
              </a:lnSpc>
            </a:pPr>
            <a:endParaRPr lang="fr-CA" altLang="fr-FR" sz="800" dirty="0"/>
          </a:p>
          <a:p>
            <a:pPr lvl="1" eaLnBrk="1" hangingPunct="1">
              <a:lnSpc>
                <a:spcPct val="90000"/>
              </a:lnSpc>
            </a:pPr>
            <a:r>
              <a:rPr lang="fr-CA" altLang="fr-FR" sz="2600" dirty="0"/>
              <a:t>Pour le preneur : achat de l</a:t>
            </a:r>
            <a:r>
              <a:rPr lang="fr-CA" altLang="fr-CA" sz="2600" dirty="0"/>
              <a:t>’</a:t>
            </a:r>
            <a:r>
              <a:rPr lang="fr-CA" altLang="fr-FR" sz="2600" dirty="0"/>
              <a:t>actif + financement  </a:t>
            </a:r>
            <a:r>
              <a:rPr lang="fr-CA" altLang="fr-FR" sz="2600" i="1" dirty="0"/>
              <a:t>(bailleur : vente + financement)</a:t>
            </a:r>
            <a:endParaRPr lang="fr-CA" altLang="fr-FR" sz="2600" dirty="0"/>
          </a:p>
          <a:p>
            <a:pPr lvl="2" eaLnBrk="1" hangingPunct="1">
              <a:lnSpc>
                <a:spcPct val="90000"/>
              </a:lnSpc>
            </a:pPr>
            <a:r>
              <a:rPr lang="fr-CA" altLang="fr-FR" sz="2200" dirty="0"/>
              <a:t>Même si titre de propriété n’est pas transféré  </a:t>
            </a:r>
            <a:r>
              <a:rPr lang="fr-CA" altLang="fr-FR" sz="2200" i="1" dirty="0"/>
              <a:t>(légal)</a:t>
            </a:r>
            <a:endParaRPr lang="fr-CA" altLang="fr-FR" sz="2200" dirty="0"/>
          </a:p>
          <a:p>
            <a:pPr lvl="2" eaLnBrk="1" hangingPunct="1">
              <a:lnSpc>
                <a:spcPct val="90000"/>
              </a:lnSpc>
            </a:pPr>
            <a:endParaRPr lang="fr-CA" altLang="fr-FR" sz="700" dirty="0"/>
          </a:p>
          <a:p>
            <a:pPr lvl="2" eaLnBrk="1" hangingPunct="1">
              <a:lnSpc>
                <a:spcPct val="90000"/>
              </a:lnSpc>
            </a:pPr>
            <a:r>
              <a:rPr lang="fr-CA" altLang="fr-FR" sz="2200" dirty="0"/>
              <a:t>Utilise l</a:t>
            </a:r>
            <a:r>
              <a:rPr lang="fr-CA" altLang="fr-CA" sz="2200" dirty="0"/>
              <a:t>’</a:t>
            </a:r>
            <a:r>
              <a:rPr lang="fr-CA" altLang="fr-FR" sz="2200" dirty="0"/>
              <a:t>actif </a:t>
            </a:r>
            <a:r>
              <a:rPr lang="mr-IN" altLang="fr-FR" sz="2200" dirty="0">
                <a:latin typeface="Mangal" panose="02040503050203030202" pitchFamily="18" charset="0"/>
              </a:rPr>
              <a:t>–</a:t>
            </a:r>
            <a:r>
              <a:rPr lang="fr-CA" altLang="fr-FR" sz="2200" dirty="0"/>
              <a:t> </a:t>
            </a:r>
            <a:r>
              <a:rPr lang="fr-CA" altLang="fr-FR" sz="2200" i="1" dirty="0"/>
              <a:t>l</a:t>
            </a:r>
            <a:r>
              <a:rPr lang="fr-CA" altLang="fr-CA" sz="2200" i="1" dirty="0"/>
              <a:t>’</a:t>
            </a:r>
            <a:r>
              <a:rPr lang="fr-CA" altLang="fr-FR" sz="2200" i="1" dirty="0"/>
              <a:t>actif représente le droit d</a:t>
            </a:r>
            <a:r>
              <a:rPr lang="fr-CA" altLang="fr-CA" sz="2200" i="1" dirty="0"/>
              <a:t>’</a:t>
            </a:r>
            <a:r>
              <a:rPr lang="fr-CA" altLang="fr-FR" sz="2200" i="1" dirty="0"/>
              <a:t>utiliser l</a:t>
            </a:r>
            <a:r>
              <a:rPr lang="fr-CA" altLang="fr-CA" sz="2200" i="1" dirty="0"/>
              <a:t>’</a:t>
            </a:r>
            <a:r>
              <a:rPr lang="fr-CA" altLang="fr-FR" sz="2200" i="1" dirty="0"/>
              <a:t>actif loué</a:t>
            </a:r>
          </a:p>
          <a:p>
            <a:pPr lvl="2" eaLnBrk="1" hangingPunct="1">
              <a:lnSpc>
                <a:spcPct val="90000"/>
              </a:lnSpc>
            </a:pPr>
            <a:r>
              <a:rPr lang="fr-CA" altLang="fr-FR" sz="2200" dirty="0"/>
              <a:t>Dette remboursable sur la période</a:t>
            </a:r>
          </a:p>
          <a:p>
            <a:pPr lvl="3" eaLnBrk="1" hangingPunct="1">
              <a:lnSpc>
                <a:spcPct val="90000"/>
              </a:lnSpc>
            </a:pPr>
            <a:r>
              <a:rPr lang="fr-CA" altLang="fr-FR" sz="1900" dirty="0"/>
              <a:t>Montant de la dette = portion des frais de location servant à « payer » l</a:t>
            </a:r>
            <a:r>
              <a:rPr lang="fr-CA" altLang="fr-CA" sz="1900" dirty="0"/>
              <a:t>’</a:t>
            </a:r>
            <a:r>
              <a:rPr lang="fr-CA" altLang="fr-FR" sz="1900" dirty="0"/>
              <a:t>actif (exclure frais accessoires </a:t>
            </a:r>
            <a:r>
              <a:rPr lang="fr-CA" altLang="fr-FR" sz="1900" i="1" dirty="0"/>
              <a:t>– choix comptable)</a:t>
            </a:r>
          </a:p>
          <a:p>
            <a:pPr lvl="3" eaLnBrk="1" hangingPunct="1">
              <a:lnSpc>
                <a:spcPct val="90000"/>
              </a:lnSpc>
            </a:pPr>
            <a:endParaRPr lang="fr-CA" altLang="fr-FR" sz="1900" dirty="0"/>
          </a:p>
          <a:p>
            <a:pPr lvl="3" eaLnBrk="1" hangingPunct="1">
              <a:lnSpc>
                <a:spcPct val="90000"/>
              </a:lnSpc>
              <a:buFont typeface="Wingdings" panose="05000000000000000000" pitchFamily="2" charset="2"/>
              <a:buChar char="Ø"/>
            </a:pPr>
            <a:r>
              <a:rPr lang="fr-CA" altLang="fr-FR" sz="1900" i="1" dirty="0">
                <a:solidFill>
                  <a:srgbClr val="3366FF"/>
                </a:solidFill>
              </a:rPr>
              <a:t>Pour le preneur, </a:t>
            </a:r>
            <a:r>
              <a:rPr lang="fr-CA" altLang="fr-FR" sz="1900" i="1" dirty="0">
                <a:solidFill>
                  <a:srgbClr val="3366FF"/>
                </a:solidFill>
                <a:highlight>
                  <a:srgbClr val="FFFF00"/>
                </a:highlight>
              </a:rPr>
              <a:t>sauf deux exceptions</a:t>
            </a:r>
            <a:r>
              <a:rPr lang="fr-CA" altLang="fr-FR" sz="1900" i="1" dirty="0">
                <a:solidFill>
                  <a:srgbClr val="3366FF"/>
                </a:solidFill>
              </a:rPr>
              <a:t>, les actifs et les passifs découlant de contrats de location figureront au bilan du preneur, comme si les actifs étaient acquis et financés au moyen d</a:t>
            </a:r>
            <a:r>
              <a:rPr lang="fr-CA" altLang="fr-CA" sz="1900" i="1" dirty="0">
                <a:solidFill>
                  <a:srgbClr val="3366FF"/>
                </a:solidFill>
              </a:rPr>
              <a:t>’</a:t>
            </a:r>
            <a:r>
              <a:rPr lang="fr-CA" altLang="fr-FR" sz="1900" i="1" dirty="0">
                <a:solidFill>
                  <a:srgbClr val="3366FF"/>
                </a:solidFill>
              </a:rPr>
              <a:t>emprunts</a:t>
            </a:r>
          </a:p>
          <a:p>
            <a:pPr lvl="3" eaLnBrk="1" hangingPunct="1">
              <a:lnSpc>
                <a:spcPct val="90000"/>
              </a:lnSpc>
              <a:buFont typeface="Wingdings" panose="05000000000000000000" pitchFamily="2" charset="2"/>
              <a:buChar char="Ø"/>
            </a:pPr>
            <a:r>
              <a:rPr lang="fr-CA" altLang="fr-FR" sz="1900" i="1" dirty="0">
                <a:solidFill>
                  <a:srgbClr val="3366FF"/>
                </a:solidFill>
              </a:rPr>
              <a:t>Pour le bailleur, il y a </a:t>
            </a:r>
            <a:r>
              <a:rPr lang="fr-CA" altLang="fr-FR" sz="1900" i="1" dirty="0">
                <a:solidFill>
                  <a:srgbClr val="3366FF"/>
                </a:solidFill>
                <a:highlight>
                  <a:srgbClr val="FFFF00"/>
                </a:highlight>
              </a:rPr>
              <a:t>deux traitements possibles</a:t>
            </a:r>
          </a:p>
          <a:p>
            <a:pPr lvl="4">
              <a:buFont typeface="Wingdings" panose="05000000000000000000" pitchFamily="2" charset="2"/>
              <a:buChar char="Ø"/>
            </a:pPr>
            <a:r>
              <a:rPr lang="fr-CA" altLang="fr-FR" sz="1900" i="1" dirty="0">
                <a:solidFill>
                  <a:srgbClr val="3366FF"/>
                </a:solidFill>
              </a:rPr>
              <a:t>Si respect de critères : remplacement de l’immobilisation par une créance</a:t>
            </a:r>
          </a:p>
          <a:p>
            <a:pPr lvl="4">
              <a:buFont typeface="Wingdings" panose="05000000000000000000" pitchFamily="2" charset="2"/>
              <a:buChar char="Ø"/>
            </a:pPr>
            <a:r>
              <a:rPr lang="fr-CA" altLang="fr-FR" sz="1900" i="1" dirty="0">
                <a:solidFill>
                  <a:srgbClr val="3366FF"/>
                </a:solidFill>
              </a:rPr>
              <a:t>Si non respect de critères : conserve l’immobilisation et enregistre les produits de location</a:t>
            </a:r>
          </a:p>
        </p:txBody>
      </p:sp>
      <p:sp>
        <p:nvSpPr>
          <p:cNvPr id="8196" name="Espace réservé du numéro de diapositive 3">
            <a:extLst>
              <a:ext uri="{FF2B5EF4-FFF2-40B4-BE49-F238E27FC236}">
                <a16:creationId xmlns:a16="http://schemas.microsoft.com/office/drawing/2014/main" id="{A05BFBC9-3BCA-4B9C-8818-767B830DB47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spcBef>
                <a:spcPct val="0"/>
              </a:spcBef>
              <a:buFontTx/>
              <a:buNone/>
            </a:pPr>
            <a:fld id="{BD702947-072B-435A-95B1-8AFEF2AF600B}" type="slidenum">
              <a:rPr lang="fr-FR" altLang="fr-FR" sz="1200">
                <a:solidFill>
                  <a:srgbClr val="898989"/>
                </a:solidFill>
              </a:rPr>
              <a:pPr>
                <a:spcBef>
                  <a:spcPct val="0"/>
                </a:spcBef>
                <a:buFontTx/>
                <a:buNone/>
              </a:pPr>
              <a:t>7</a:t>
            </a:fld>
            <a:endParaRPr lang="fr-FR" altLang="fr-FR" sz="1200">
              <a:solidFill>
                <a:srgbClr val="898989"/>
              </a:solidFill>
            </a:endParaRPr>
          </a:p>
        </p:txBody>
      </p:sp>
      <p:sp>
        <p:nvSpPr>
          <p:cNvPr id="2" name="Espace réservé du pied de page 1">
            <a:extLst>
              <a:ext uri="{FF2B5EF4-FFF2-40B4-BE49-F238E27FC236}">
                <a16:creationId xmlns:a16="http://schemas.microsoft.com/office/drawing/2014/main" id="{96913EDB-F3B9-44E5-ABDC-7B9AE01B8C4E}"/>
              </a:ext>
            </a:extLst>
          </p:cNvPr>
          <p:cNvSpPr>
            <a:spLocks noGrp="1"/>
          </p:cNvSpPr>
          <p:nvPr>
            <p:ph type="ftr" sz="quarter" idx="11"/>
          </p:nvPr>
        </p:nvSpPr>
        <p:spPr/>
        <p:txBody>
          <a:bodyPr/>
          <a:lstStyle/>
          <a:p>
            <a:r>
              <a:rPr lang="fr-FR"/>
              <a:t>Droits réservés - Louise Overbeek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9218" name="Titre 1">
            <a:extLst>
              <a:ext uri="{FF2B5EF4-FFF2-40B4-BE49-F238E27FC236}">
                <a16:creationId xmlns:a16="http://schemas.microsoft.com/office/drawing/2014/main" id="{AB3E7E71-1F63-4D3B-966F-7DDE6597A67B}"/>
              </a:ext>
            </a:extLst>
          </p:cNvPr>
          <p:cNvSpPr>
            <a:spLocks noGrp="1"/>
          </p:cNvSpPr>
          <p:nvPr>
            <p:ph type="title"/>
          </p:nvPr>
        </p:nvSpPr>
        <p:spPr/>
        <p:txBody>
          <a:bodyPr/>
          <a:lstStyle/>
          <a:p>
            <a:pPr eaLnBrk="1" hangingPunct="1"/>
            <a:r>
              <a:rPr lang="fr-CA" altLang="fr-FR" sz="3600" b="1" dirty="0"/>
              <a:t>IDENTIFICATION D’UN CONTRAT DE LOCATION</a:t>
            </a:r>
            <a:br>
              <a:rPr lang="fr-CA" altLang="fr-FR" sz="3600" dirty="0"/>
            </a:br>
            <a:r>
              <a:rPr lang="fr-CA" altLang="fr-FR" sz="3600" dirty="0"/>
              <a:t>Définition</a:t>
            </a:r>
          </a:p>
        </p:txBody>
      </p:sp>
      <p:sp>
        <p:nvSpPr>
          <p:cNvPr id="9219" name="Espace réservé du contenu 2">
            <a:extLst>
              <a:ext uri="{FF2B5EF4-FFF2-40B4-BE49-F238E27FC236}">
                <a16:creationId xmlns:a16="http://schemas.microsoft.com/office/drawing/2014/main" id="{79BBE94D-779D-492A-9E9E-4B117D682719}"/>
              </a:ext>
            </a:extLst>
          </p:cNvPr>
          <p:cNvSpPr>
            <a:spLocks noGrp="1"/>
          </p:cNvSpPr>
          <p:nvPr>
            <p:ph idx="1"/>
          </p:nvPr>
        </p:nvSpPr>
        <p:spPr/>
        <p:txBody>
          <a:bodyPr/>
          <a:lstStyle/>
          <a:p>
            <a:pPr marL="0" indent="0">
              <a:buNone/>
            </a:pPr>
            <a:r>
              <a:rPr lang="fr-CA" altLang="fr-FR" sz="2400" dirty="0"/>
              <a:t>9     À la date de passation d'un contrat, l'entité doit apprécier si celui-ci est ou contient un contrat de location. Un contrat est ou contient un contrat de location </a:t>
            </a:r>
            <a:r>
              <a:rPr lang="fr-CA" altLang="fr-FR" sz="2400" u="sng" dirty="0">
                <a:solidFill>
                  <a:srgbClr val="0070C0"/>
                </a:solidFill>
              </a:rPr>
              <a:t>s'il confère le droit de contrôler l'utilisation </a:t>
            </a:r>
            <a:r>
              <a:rPr lang="fr-CA" altLang="fr-FR" sz="2400" b="1" u="sng" dirty="0">
                <a:solidFill>
                  <a:srgbClr val="FF0000"/>
                </a:solidFill>
              </a:rPr>
              <a:t>d'un bien déterminé </a:t>
            </a:r>
            <a:r>
              <a:rPr lang="fr-CA" altLang="fr-FR" sz="2400" u="sng" dirty="0">
                <a:solidFill>
                  <a:srgbClr val="0070C0"/>
                </a:solidFill>
              </a:rPr>
              <a:t>pour un certain temps moyennant une contrepartie</a:t>
            </a:r>
            <a:r>
              <a:rPr lang="fr-CA" altLang="fr-FR" sz="2400" dirty="0"/>
              <a:t>.</a:t>
            </a:r>
          </a:p>
          <a:p>
            <a:pPr marL="0" indent="0"/>
            <a:r>
              <a:rPr lang="fr-CA" altLang="fr-FR" sz="2000" dirty="0"/>
              <a:t>Droit d</a:t>
            </a:r>
            <a:r>
              <a:rPr lang="fr-CA" altLang="fr-CA" sz="2000" dirty="0"/>
              <a:t>’</a:t>
            </a:r>
            <a:r>
              <a:rPr lang="fr-CA" altLang="fr-FR" sz="2000" dirty="0"/>
              <a:t>obtenir la quasi-totalité des avantages économiques découlant de l</a:t>
            </a:r>
            <a:r>
              <a:rPr lang="fr-CA" altLang="fr-CA" sz="2000" dirty="0"/>
              <a:t>’</a:t>
            </a:r>
            <a:r>
              <a:rPr lang="fr-CA" altLang="fr-FR" sz="2000" dirty="0"/>
              <a:t>utilisation du bien déterminé</a:t>
            </a:r>
          </a:p>
          <a:p>
            <a:pPr marL="0" indent="0">
              <a:spcBef>
                <a:spcPct val="0"/>
              </a:spcBef>
            </a:pPr>
            <a:r>
              <a:rPr lang="fr-CA" altLang="fr-FR" sz="2000" dirty="0"/>
              <a:t>Le droit de décider de l</a:t>
            </a:r>
            <a:r>
              <a:rPr lang="fr-CA" altLang="fr-CA" sz="2000" dirty="0"/>
              <a:t>’</a:t>
            </a:r>
            <a:r>
              <a:rPr lang="fr-CA" altLang="fr-FR" sz="2000" dirty="0"/>
              <a:t>utilisation du bien déterminé</a:t>
            </a:r>
          </a:p>
          <a:p>
            <a:pPr marL="0" indent="0">
              <a:spcBef>
                <a:spcPct val="0"/>
              </a:spcBef>
            </a:pPr>
            <a:endParaRPr lang="fr-CA" altLang="fr-FR" sz="2000" dirty="0"/>
          </a:p>
          <a:p>
            <a:pPr marL="0" indent="0">
              <a:lnSpc>
                <a:spcPct val="60000"/>
              </a:lnSpc>
              <a:spcBef>
                <a:spcPct val="0"/>
              </a:spcBef>
            </a:pPr>
            <a:r>
              <a:rPr lang="fr-CA" altLang="fr-FR" sz="2000" dirty="0"/>
              <a:t>Non rencontré si le fournisseur a le droit de remplacer le bien tout au long de la durée d</a:t>
            </a:r>
            <a:r>
              <a:rPr lang="fr-CA" altLang="fr-CA" sz="2000" dirty="0"/>
              <a:t>’</a:t>
            </a:r>
            <a:r>
              <a:rPr lang="fr-CA" altLang="fr-FR" sz="2000" dirty="0"/>
              <a:t>utilisation</a:t>
            </a:r>
          </a:p>
          <a:p>
            <a:pPr marL="0" indent="0">
              <a:lnSpc>
                <a:spcPct val="60000"/>
              </a:lnSpc>
              <a:spcBef>
                <a:spcPct val="0"/>
              </a:spcBef>
            </a:pPr>
            <a:endParaRPr lang="fr-CA" altLang="fr-FR" sz="2000" dirty="0"/>
          </a:p>
          <a:p>
            <a:pPr marL="0" indent="0">
              <a:lnSpc>
                <a:spcPct val="60000"/>
              </a:lnSpc>
              <a:spcBef>
                <a:spcPct val="0"/>
              </a:spcBef>
            </a:pPr>
            <a:endParaRPr lang="fr-CA" altLang="fr-FR" sz="2000" dirty="0"/>
          </a:p>
          <a:p>
            <a:pPr marL="0" indent="0">
              <a:lnSpc>
                <a:spcPct val="60000"/>
              </a:lnSpc>
              <a:spcBef>
                <a:spcPct val="0"/>
              </a:spcBef>
            </a:pPr>
            <a:endParaRPr lang="fr-CA" altLang="fr-FR" sz="2000" dirty="0"/>
          </a:p>
          <a:p>
            <a:pPr>
              <a:lnSpc>
                <a:spcPct val="60000"/>
              </a:lnSpc>
              <a:spcBef>
                <a:spcPct val="0"/>
              </a:spcBef>
              <a:buFont typeface="Wingdings" panose="05000000000000000000" pitchFamily="2" charset="2"/>
              <a:buChar char="Ø"/>
            </a:pPr>
            <a:r>
              <a:rPr lang="fr-CA" altLang="fr-FR" sz="2400" i="1" dirty="0">
                <a:solidFill>
                  <a:srgbClr val="0070C0"/>
                </a:solidFill>
              </a:rPr>
              <a:t>S’il ne s’agit pas d’un contrat de location, cela est possiblement un contrat de service</a:t>
            </a:r>
            <a:endParaRPr lang="fr-CA" altLang="fr-FR" sz="3200" i="1" dirty="0">
              <a:solidFill>
                <a:srgbClr val="0070C0"/>
              </a:solidFill>
            </a:endParaRPr>
          </a:p>
          <a:p>
            <a:pPr marL="0" indent="0">
              <a:buNone/>
            </a:pPr>
            <a:endParaRPr lang="fr-CA" altLang="fr-FR" dirty="0"/>
          </a:p>
        </p:txBody>
      </p:sp>
      <p:sp>
        <p:nvSpPr>
          <p:cNvPr id="9220" name="Espace réservé du numéro de diapositive 3">
            <a:extLst>
              <a:ext uri="{FF2B5EF4-FFF2-40B4-BE49-F238E27FC236}">
                <a16:creationId xmlns:a16="http://schemas.microsoft.com/office/drawing/2014/main" id="{45A548AC-3E0D-47F3-A996-705BA21D90B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spcBef>
                <a:spcPct val="0"/>
              </a:spcBef>
              <a:buFontTx/>
              <a:buNone/>
            </a:pPr>
            <a:fld id="{C9A3D7D4-F3E7-48C8-A565-C851C4C0CB24}" type="slidenum">
              <a:rPr lang="fr-FR" altLang="fr-FR" sz="1200">
                <a:solidFill>
                  <a:srgbClr val="898989"/>
                </a:solidFill>
              </a:rPr>
              <a:pPr>
                <a:spcBef>
                  <a:spcPct val="0"/>
                </a:spcBef>
                <a:buFontTx/>
                <a:buNone/>
              </a:pPr>
              <a:t>8</a:t>
            </a:fld>
            <a:endParaRPr lang="fr-FR" altLang="fr-FR" sz="1200">
              <a:solidFill>
                <a:srgbClr val="898989"/>
              </a:solidFill>
            </a:endParaRPr>
          </a:p>
        </p:txBody>
      </p:sp>
      <p:sp>
        <p:nvSpPr>
          <p:cNvPr id="2" name="Espace réservé du pied de page 1">
            <a:extLst>
              <a:ext uri="{FF2B5EF4-FFF2-40B4-BE49-F238E27FC236}">
                <a16:creationId xmlns:a16="http://schemas.microsoft.com/office/drawing/2014/main" id="{D5980298-5F4B-46BD-BD80-DBACF75B7615}"/>
              </a:ext>
            </a:extLst>
          </p:cNvPr>
          <p:cNvSpPr>
            <a:spLocks noGrp="1"/>
          </p:cNvSpPr>
          <p:nvPr>
            <p:ph type="ftr" sz="quarter" idx="11"/>
          </p:nvPr>
        </p:nvSpPr>
        <p:spPr/>
        <p:txBody>
          <a:bodyPr/>
          <a:lstStyle/>
          <a:p>
            <a:r>
              <a:rPr lang="fr-FR"/>
              <a:t>Droits réservés - Louise Overbeek</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ED3613F-6659-42B1-8BA1-FDE657947C6E}"/>
              </a:ext>
            </a:extLst>
          </p:cNvPr>
          <p:cNvSpPr>
            <a:spLocks noGrp="1"/>
          </p:cNvSpPr>
          <p:nvPr>
            <p:ph type="title"/>
          </p:nvPr>
        </p:nvSpPr>
        <p:spPr/>
        <p:txBody>
          <a:bodyPr/>
          <a:lstStyle/>
          <a:p>
            <a:r>
              <a:rPr lang="fr-CA" dirty="0"/>
              <a:t>  </a:t>
            </a:r>
            <a:endParaRPr lang="fr-FR" dirty="0"/>
          </a:p>
        </p:txBody>
      </p:sp>
      <p:sp>
        <p:nvSpPr>
          <p:cNvPr id="3" name="Espace réservé du contenu 2">
            <a:extLst>
              <a:ext uri="{FF2B5EF4-FFF2-40B4-BE49-F238E27FC236}">
                <a16:creationId xmlns:a16="http://schemas.microsoft.com/office/drawing/2014/main" id="{DF86CDE9-2DA3-4BBC-8D43-CE095B113999}"/>
              </a:ext>
            </a:extLst>
          </p:cNvPr>
          <p:cNvSpPr>
            <a:spLocks noGrp="1"/>
          </p:cNvSpPr>
          <p:nvPr>
            <p:ph idx="1"/>
          </p:nvPr>
        </p:nvSpPr>
        <p:spPr/>
        <p:txBody>
          <a:bodyPr/>
          <a:lstStyle/>
          <a:p>
            <a:pPr marL="0" indent="0">
              <a:buNone/>
            </a:pPr>
            <a:r>
              <a:rPr lang="fr-CA" sz="2400" dirty="0"/>
              <a:t>10      Le « temps » pour lequel le droit est conféré peut être exprimé en termes de volume d'utilisation du bien déterminé (par exemple, en unités d'</a:t>
            </a:r>
            <a:r>
              <a:rPr lang="fr-CA" sz="2400" dirty="0" err="1"/>
              <a:t>oeuvre</a:t>
            </a:r>
            <a:r>
              <a:rPr lang="fr-CA" sz="2400" dirty="0"/>
              <a:t> qu'une pièce de matériel servira à produire).</a:t>
            </a:r>
          </a:p>
          <a:p>
            <a:pPr marL="0" indent="0">
              <a:buNone/>
            </a:pPr>
            <a:endParaRPr lang="fr-CA" sz="2400" dirty="0"/>
          </a:p>
          <a:p>
            <a:pPr marL="0" indent="0">
              <a:buNone/>
            </a:pPr>
            <a:r>
              <a:rPr lang="fr-CA" sz="2400" dirty="0"/>
              <a:t>11      Ce n'est qu'en cas de changement dans les termes et conditions d'un contrat que l'entité doit réapprécier si ce contrat est ou contient un contrat de location.</a:t>
            </a:r>
          </a:p>
          <a:p>
            <a:pPr marL="0" indent="0">
              <a:buNone/>
            </a:pPr>
            <a:endParaRPr lang="fr-FR" dirty="0"/>
          </a:p>
        </p:txBody>
      </p:sp>
      <p:sp>
        <p:nvSpPr>
          <p:cNvPr id="4" name="Espace réservé du pied de page 3">
            <a:extLst>
              <a:ext uri="{FF2B5EF4-FFF2-40B4-BE49-F238E27FC236}">
                <a16:creationId xmlns:a16="http://schemas.microsoft.com/office/drawing/2014/main" id="{8416AD3F-38A5-44ED-95CA-7012AABAC903}"/>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7C0AE20E-DE62-4D4D-A7E9-AB2E1324CF39}"/>
              </a:ext>
            </a:extLst>
          </p:cNvPr>
          <p:cNvSpPr>
            <a:spLocks noGrp="1"/>
          </p:cNvSpPr>
          <p:nvPr>
            <p:ph type="sldNum" sz="quarter" idx="12"/>
          </p:nvPr>
        </p:nvSpPr>
        <p:spPr/>
        <p:txBody>
          <a:bodyPr/>
          <a:lstStyle/>
          <a:p>
            <a:fld id="{C1CF9165-9E3D-452B-A995-87B4F64F5FE5}" type="slidenum">
              <a:rPr lang="fr-FR" smtClean="0"/>
              <a:t>9</a:t>
            </a:fld>
            <a:endParaRPr lang="fr-FR"/>
          </a:p>
        </p:txBody>
      </p:sp>
    </p:spTree>
    <p:extLst>
      <p:ext uri="{BB962C8B-B14F-4D97-AF65-F5344CB8AC3E}">
        <p14:creationId xmlns:p14="http://schemas.microsoft.com/office/powerpoint/2010/main" val="4070339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BC6FB31-DBD0-4F6A-952A-86DC3AA034AB}"/>
              </a:ext>
            </a:extLst>
          </p:cNvPr>
          <p:cNvSpPr>
            <a:spLocks noGrp="1"/>
          </p:cNvSpPr>
          <p:nvPr>
            <p:ph type="title"/>
          </p:nvPr>
        </p:nvSpPr>
        <p:spPr>
          <a:xfrm>
            <a:off x="838200" y="365126"/>
            <a:ext cx="10515600" cy="833054"/>
          </a:xfrm>
        </p:spPr>
        <p:txBody>
          <a:bodyPr>
            <a:normAutofit fontScale="90000"/>
          </a:bodyPr>
          <a:lstStyle/>
          <a:p>
            <a:r>
              <a:rPr lang="fr-CA" sz="4000" b="1" dirty="0"/>
              <a:t>Identification d'un contrat de location </a:t>
            </a:r>
            <a:br>
              <a:rPr lang="fr-CA" sz="4000" b="1" dirty="0"/>
            </a:br>
            <a:r>
              <a:rPr lang="fr-CA" sz="3100" dirty="0"/>
              <a:t>IFRS 16 – Annexe B</a:t>
            </a:r>
            <a:endParaRPr lang="fr-FR" sz="4000" dirty="0"/>
          </a:p>
        </p:txBody>
      </p:sp>
      <p:sp>
        <p:nvSpPr>
          <p:cNvPr id="3" name="Espace réservé du contenu 2">
            <a:extLst>
              <a:ext uri="{FF2B5EF4-FFF2-40B4-BE49-F238E27FC236}">
                <a16:creationId xmlns:a16="http://schemas.microsoft.com/office/drawing/2014/main" id="{80D5CA57-D1E8-4A02-8911-F36B6C430835}"/>
              </a:ext>
            </a:extLst>
          </p:cNvPr>
          <p:cNvSpPr>
            <a:spLocks noGrp="1"/>
          </p:cNvSpPr>
          <p:nvPr>
            <p:ph idx="1"/>
          </p:nvPr>
        </p:nvSpPr>
        <p:spPr>
          <a:xfrm>
            <a:off x="838200" y="1303282"/>
            <a:ext cx="10515600" cy="5189591"/>
          </a:xfrm>
        </p:spPr>
        <p:txBody>
          <a:bodyPr>
            <a:normAutofit/>
          </a:bodyPr>
          <a:lstStyle/>
          <a:p>
            <a:pPr marL="0" indent="0">
              <a:buNone/>
            </a:pPr>
            <a:endParaRPr lang="fr-CA" sz="2400" dirty="0"/>
          </a:p>
          <a:p>
            <a:pPr marL="0" indent="0">
              <a:buNone/>
            </a:pPr>
            <a:r>
              <a:rPr lang="fr-CA" sz="2400" dirty="0"/>
              <a:t>B9     Pour déterminer si un contrat de location confère le droit de contrôler l'utilisation d'un bien déterminé (voir paragraphes </a:t>
            </a:r>
            <a:r>
              <a:rPr lang="fr-CA" sz="2400" dirty="0">
                <a:hlinkClick r:id="rId2"/>
              </a:rPr>
              <a:t>B13</a:t>
            </a:r>
            <a:r>
              <a:rPr lang="fr-CA" sz="2400" dirty="0"/>
              <a:t> à B20) pour un certain temps, l'entité doit apprécier si, tout au long de la </a:t>
            </a:r>
            <a:r>
              <a:rPr lang="fr-CA" sz="2400" i="1" dirty="0"/>
              <a:t>durée d'utilisation</a:t>
            </a:r>
            <a:r>
              <a:rPr lang="fr-CA" sz="2400" dirty="0"/>
              <a:t>, le client détient les deux droits suivants :</a:t>
            </a:r>
          </a:p>
          <a:p>
            <a:pPr marL="0" indent="0">
              <a:buNone/>
            </a:pPr>
            <a:r>
              <a:rPr lang="fr-CA" dirty="0"/>
              <a:t>(a)     </a:t>
            </a:r>
            <a:r>
              <a:rPr lang="fr-CA" dirty="0">
                <a:solidFill>
                  <a:srgbClr val="0070C0"/>
                </a:solidFill>
              </a:rPr>
              <a:t>le droit d'obtenir la quasi-totalité des avantages économiques découlant de l'utilisation du bien déterminé </a:t>
            </a:r>
            <a:r>
              <a:rPr lang="fr-CA" dirty="0"/>
              <a:t>(selon la description énoncée aux paragraphes </a:t>
            </a:r>
            <a:r>
              <a:rPr lang="fr-CA" dirty="0">
                <a:hlinkClick r:id="rId2"/>
              </a:rPr>
              <a:t>B21</a:t>
            </a:r>
            <a:r>
              <a:rPr lang="fr-CA" dirty="0"/>
              <a:t> à B23) ;</a:t>
            </a:r>
          </a:p>
          <a:p>
            <a:pPr marL="0" indent="0">
              <a:buNone/>
            </a:pPr>
            <a:r>
              <a:rPr lang="fr-CA" dirty="0"/>
              <a:t>(b)     </a:t>
            </a:r>
            <a:r>
              <a:rPr lang="fr-CA" dirty="0">
                <a:solidFill>
                  <a:srgbClr val="0070C0"/>
                </a:solidFill>
              </a:rPr>
              <a:t>le droit de décider de l'utilisation du bien déterminé </a:t>
            </a:r>
            <a:r>
              <a:rPr lang="fr-CA" dirty="0"/>
              <a:t>(selon la description énoncée aux paragraphes </a:t>
            </a:r>
            <a:r>
              <a:rPr lang="fr-CA" dirty="0">
                <a:hlinkClick r:id="rId2"/>
              </a:rPr>
              <a:t>B24</a:t>
            </a:r>
            <a:r>
              <a:rPr lang="fr-CA" dirty="0"/>
              <a:t> à B30).</a:t>
            </a:r>
          </a:p>
          <a:p>
            <a:pPr marL="0" indent="0">
              <a:buNone/>
            </a:pPr>
            <a:endParaRPr lang="fr-CA" dirty="0"/>
          </a:p>
          <a:p>
            <a:pPr marL="0" indent="0">
              <a:buNone/>
            </a:pPr>
            <a:endParaRPr lang="fr-FR" dirty="0"/>
          </a:p>
        </p:txBody>
      </p:sp>
      <p:sp>
        <p:nvSpPr>
          <p:cNvPr id="4" name="Espace réservé du pied de page 3">
            <a:extLst>
              <a:ext uri="{FF2B5EF4-FFF2-40B4-BE49-F238E27FC236}">
                <a16:creationId xmlns:a16="http://schemas.microsoft.com/office/drawing/2014/main" id="{E71E1C15-22E3-4CAE-AE5B-C1A9C8F7F009}"/>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802C016C-107C-464F-A402-7D1CB57FF422}"/>
              </a:ext>
            </a:extLst>
          </p:cNvPr>
          <p:cNvSpPr>
            <a:spLocks noGrp="1"/>
          </p:cNvSpPr>
          <p:nvPr>
            <p:ph type="sldNum" sz="quarter" idx="12"/>
          </p:nvPr>
        </p:nvSpPr>
        <p:spPr/>
        <p:txBody>
          <a:bodyPr/>
          <a:lstStyle/>
          <a:p>
            <a:fld id="{C1CF9165-9E3D-452B-A995-87B4F64F5FE5}" type="slidenum">
              <a:rPr lang="fr-FR" smtClean="0"/>
              <a:t>10</a:t>
            </a:fld>
            <a:endParaRPr lang="fr-FR"/>
          </a:p>
        </p:txBody>
      </p:sp>
    </p:spTree>
    <p:extLst>
      <p:ext uri="{BB962C8B-B14F-4D97-AF65-F5344CB8AC3E}">
        <p14:creationId xmlns:p14="http://schemas.microsoft.com/office/powerpoint/2010/main" val="9188290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BC6FB31-DBD0-4F6A-952A-86DC3AA034AB}"/>
              </a:ext>
            </a:extLst>
          </p:cNvPr>
          <p:cNvSpPr>
            <a:spLocks noGrp="1"/>
          </p:cNvSpPr>
          <p:nvPr>
            <p:ph type="title"/>
          </p:nvPr>
        </p:nvSpPr>
        <p:spPr>
          <a:xfrm>
            <a:off x="838200" y="365126"/>
            <a:ext cx="10515600" cy="833054"/>
          </a:xfrm>
        </p:spPr>
        <p:txBody>
          <a:bodyPr>
            <a:normAutofit/>
          </a:bodyPr>
          <a:lstStyle/>
          <a:p>
            <a:r>
              <a:rPr lang="fr-CA" sz="4000" b="1" dirty="0"/>
              <a:t>Identification d'un contrat de location - </a:t>
            </a:r>
            <a:r>
              <a:rPr lang="fr-CA" sz="4000" b="1" i="1" dirty="0"/>
              <a:t>suite</a:t>
            </a:r>
            <a:endParaRPr lang="fr-FR" sz="4000" dirty="0"/>
          </a:p>
        </p:txBody>
      </p:sp>
      <p:sp>
        <p:nvSpPr>
          <p:cNvPr id="3" name="Espace réservé du contenu 2">
            <a:extLst>
              <a:ext uri="{FF2B5EF4-FFF2-40B4-BE49-F238E27FC236}">
                <a16:creationId xmlns:a16="http://schemas.microsoft.com/office/drawing/2014/main" id="{80D5CA57-D1E8-4A02-8911-F36B6C430835}"/>
              </a:ext>
            </a:extLst>
          </p:cNvPr>
          <p:cNvSpPr>
            <a:spLocks noGrp="1"/>
          </p:cNvSpPr>
          <p:nvPr>
            <p:ph idx="1"/>
          </p:nvPr>
        </p:nvSpPr>
        <p:spPr>
          <a:xfrm>
            <a:off x="838200" y="1737360"/>
            <a:ext cx="10515600" cy="4755513"/>
          </a:xfrm>
        </p:spPr>
        <p:txBody>
          <a:bodyPr>
            <a:normAutofit/>
          </a:bodyPr>
          <a:lstStyle/>
          <a:p>
            <a:pPr marL="0" indent="0">
              <a:buNone/>
            </a:pPr>
            <a:r>
              <a:rPr lang="fr-CA" dirty="0"/>
              <a:t>B10     Si le client détient le droit de contrôler l'utilisation d'un bien déterminé pendant seulement une partie de la durée du contrat, alors ce contrat contient un contrat de location pour cette partie de sa durée.</a:t>
            </a:r>
          </a:p>
          <a:p>
            <a:pPr marL="0" indent="0">
              <a:buNone/>
            </a:pPr>
            <a:endParaRPr lang="fr-CA" dirty="0"/>
          </a:p>
          <a:p>
            <a:pPr marL="0" indent="0">
              <a:buNone/>
            </a:pPr>
            <a:r>
              <a:rPr lang="fr-CA" dirty="0"/>
              <a:t>B12     L'appréciation visant à déterminer si un contrat contient un contrat de location doit être portée à l'égard de chacune des composantes qui pourrait constituer une composante locative distincte. Voir les indications du paragraphe </a:t>
            </a:r>
            <a:r>
              <a:rPr lang="fr-CA" dirty="0">
                <a:hlinkClick r:id="rId2"/>
              </a:rPr>
              <a:t>B32</a:t>
            </a:r>
            <a:r>
              <a:rPr lang="fr-CA" dirty="0"/>
              <a:t> sur la séparation des composantes locatives.</a:t>
            </a:r>
          </a:p>
          <a:p>
            <a:pPr marL="0" indent="0">
              <a:buNone/>
            </a:pPr>
            <a:endParaRPr lang="fr-FR" dirty="0"/>
          </a:p>
        </p:txBody>
      </p:sp>
      <p:sp>
        <p:nvSpPr>
          <p:cNvPr id="4" name="Espace réservé du pied de page 3">
            <a:extLst>
              <a:ext uri="{FF2B5EF4-FFF2-40B4-BE49-F238E27FC236}">
                <a16:creationId xmlns:a16="http://schemas.microsoft.com/office/drawing/2014/main" id="{E71E1C15-22E3-4CAE-AE5B-C1A9C8F7F009}"/>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802C016C-107C-464F-A402-7D1CB57FF422}"/>
              </a:ext>
            </a:extLst>
          </p:cNvPr>
          <p:cNvSpPr>
            <a:spLocks noGrp="1"/>
          </p:cNvSpPr>
          <p:nvPr>
            <p:ph type="sldNum" sz="quarter" idx="12"/>
          </p:nvPr>
        </p:nvSpPr>
        <p:spPr/>
        <p:txBody>
          <a:bodyPr/>
          <a:lstStyle/>
          <a:p>
            <a:fld id="{C1CF9165-9E3D-452B-A995-87B4F64F5FE5}" type="slidenum">
              <a:rPr lang="fr-FR" smtClean="0"/>
              <a:t>11</a:t>
            </a:fld>
            <a:endParaRPr lang="fr-FR"/>
          </a:p>
        </p:txBody>
      </p:sp>
    </p:spTree>
    <p:extLst>
      <p:ext uri="{BB962C8B-B14F-4D97-AF65-F5344CB8AC3E}">
        <p14:creationId xmlns:p14="http://schemas.microsoft.com/office/powerpoint/2010/main" val="27470027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BC6FB31-DBD0-4F6A-952A-86DC3AA034AB}"/>
              </a:ext>
            </a:extLst>
          </p:cNvPr>
          <p:cNvSpPr>
            <a:spLocks noGrp="1"/>
          </p:cNvSpPr>
          <p:nvPr>
            <p:ph type="title"/>
          </p:nvPr>
        </p:nvSpPr>
        <p:spPr>
          <a:xfrm>
            <a:off x="838200" y="365126"/>
            <a:ext cx="10515600" cy="833054"/>
          </a:xfrm>
        </p:spPr>
        <p:txBody>
          <a:bodyPr>
            <a:normAutofit/>
          </a:bodyPr>
          <a:lstStyle/>
          <a:p>
            <a:r>
              <a:rPr lang="fr-CA" sz="4000" b="1" dirty="0">
                <a:solidFill>
                  <a:srgbClr val="FF0000"/>
                </a:solidFill>
              </a:rPr>
              <a:t>Bien déterminé</a:t>
            </a:r>
          </a:p>
        </p:txBody>
      </p:sp>
      <p:sp>
        <p:nvSpPr>
          <p:cNvPr id="3" name="Espace réservé du contenu 2">
            <a:extLst>
              <a:ext uri="{FF2B5EF4-FFF2-40B4-BE49-F238E27FC236}">
                <a16:creationId xmlns:a16="http://schemas.microsoft.com/office/drawing/2014/main" id="{80D5CA57-D1E8-4A02-8911-F36B6C430835}"/>
              </a:ext>
            </a:extLst>
          </p:cNvPr>
          <p:cNvSpPr>
            <a:spLocks noGrp="1"/>
          </p:cNvSpPr>
          <p:nvPr>
            <p:ph idx="1"/>
          </p:nvPr>
        </p:nvSpPr>
        <p:spPr>
          <a:xfrm>
            <a:off x="838200" y="1046480"/>
            <a:ext cx="10515600" cy="5446393"/>
          </a:xfrm>
        </p:spPr>
        <p:txBody>
          <a:bodyPr>
            <a:normAutofit fontScale="40000" lnSpcReduction="20000"/>
          </a:bodyPr>
          <a:lstStyle/>
          <a:p>
            <a:pPr marL="0" indent="0">
              <a:buNone/>
            </a:pPr>
            <a:r>
              <a:rPr lang="fr-CA" sz="5000" dirty="0"/>
              <a:t>B13    </a:t>
            </a:r>
            <a:r>
              <a:rPr lang="fr-CA" sz="6000" dirty="0"/>
              <a:t> </a:t>
            </a:r>
            <a:r>
              <a:rPr lang="fr-CA" sz="6000" u="sng" dirty="0">
                <a:solidFill>
                  <a:srgbClr val="0070C0"/>
                </a:solidFill>
              </a:rPr>
              <a:t>Le bien est habituellement déterminé par sa mention explicite au contrat. Toutefois, un bien peut aussi se trouver implicitement déterminé au moment où il est mis à la disposition du client</a:t>
            </a:r>
            <a:r>
              <a:rPr lang="fr-CA" sz="6000" dirty="0"/>
              <a:t>.</a:t>
            </a:r>
          </a:p>
          <a:p>
            <a:r>
              <a:rPr lang="fr-CA" sz="5000" i="1" dirty="0"/>
              <a:t>Identification spécifique, par exemple numéro de série</a:t>
            </a:r>
          </a:p>
          <a:p>
            <a:pPr marL="0" indent="0">
              <a:buNone/>
            </a:pPr>
            <a:endParaRPr lang="fr-CA" i="1" dirty="0"/>
          </a:p>
          <a:p>
            <a:pPr marL="0" indent="0">
              <a:buNone/>
            </a:pPr>
            <a:r>
              <a:rPr lang="fr-CA" sz="6000" b="1" dirty="0"/>
              <a:t>Droit de substitution substantiel   </a:t>
            </a:r>
            <a:r>
              <a:rPr lang="fr-CA" sz="5000" i="1" dirty="0"/>
              <a:t>(si le fournisseur a ce droit, il ne s’agit pas de contrat de location – devient un contrat de services)</a:t>
            </a:r>
            <a:endParaRPr lang="fr-CA" sz="4500" i="1" dirty="0"/>
          </a:p>
          <a:p>
            <a:pPr marL="0" indent="0">
              <a:buNone/>
            </a:pPr>
            <a:r>
              <a:rPr lang="fr-CA" sz="5000" dirty="0"/>
              <a:t>B14     Si le fournisseur a le droit substantiel de remplacer le bien tout au long de la durée d'utilisation, le client ne détient pas le droit d'utiliser un bien déterminé, même si ce dernier est explicitement mentionné. Le droit du fournisseur de remplacer le bien est substantiel seulement si les deux conditions suivantes sont réunies :</a:t>
            </a:r>
          </a:p>
          <a:p>
            <a:pPr marL="0" indent="0">
              <a:buNone/>
            </a:pPr>
            <a:r>
              <a:rPr lang="fr-CA" sz="5000" dirty="0"/>
              <a:t>(a)     le fournisseur a la capacité pratique de remplacer le bien par un autre tout au long de la durée d'utilisation (par exemple, le client ne peut pas empêcher le fournisseur de remplacer le bien et le fournisseur a aisément accès à un bien de remplacement ou il peut en fournir un dans un délai raisonnable) ;</a:t>
            </a:r>
          </a:p>
          <a:p>
            <a:pPr marL="0" indent="0">
              <a:buNone/>
            </a:pPr>
            <a:r>
              <a:rPr lang="fr-CA" sz="5000" dirty="0"/>
              <a:t>(b)     l'exercice du droit de substitution fournirait un avantage économique au fournisseur (c'est-à-dire que les avantages économiques attendus de la substitution du bien excèdent les coûts associés à celle-ci).</a:t>
            </a:r>
          </a:p>
          <a:p>
            <a:pPr marL="0" indent="0">
              <a:buNone/>
            </a:pPr>
            <a:endParaRPr lang="fr-FR" dirty="0"/>
          </a:p>
        </p:txBody>
      </p:sp>
      <p:sp>
        <p:nvSpPr>
          <p:cNvPr id="4" name="Espace réservé du pied de page 3">
            <a:extLst>
              <a:ext uri="{FF2B5EF4-FFF2-40B4-BE49-F238E27FC236}">
                <a16:creationId xmlns:a16="http://schemas.microsoft.com/office/drawing/2014/main" id="{2099F7D0-A0B2-41FD-B467-71566193E21D}"/>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9DF8312D-87C6-4D2D-9BDE-D1E4DA966588}"/>
              </a:ext>
            </a:extLst>
          </p:cNvPr>
          <p:cNvSpPr>
            <a:spLocks noGrp="1"/>
          </p:cNvSpPr>
          <p:nvPr>
            <p:ph type="sldNum" sz="quarter" idx="12"/>
          </p:nvPr>
        </p:nvSpPr>
        <p:spPr/>
        <p:txBody>
          <a:bodyPr/>
          <a:lstStyle/>
          <a:p>
            <a:fld id="{C1CF9165-9E3D-452B-A995-87B4F64F5FE5}" type="slidenum">
              <a:rPr lang="fr-FR" smtClean="0"/>
              <a:t>12</a:t>
            </a:fld>
            <a:endParaRPr lang="fr-FR"/>
          </a:p>
        </p:txBody>
      </p:sp>
    </p:spTree>
    <p:extLst>
      <p:ext uri="{BB962C8B-B14F-4D97-AF65-F5344CB8AC3E}">
        <p14:creationId xmlns:p14="http://schemas.microsoft.com/office/powerpoint/2010/main" val="16153980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BC6FB31-DBD0-4F6A-952A-86DC3AA034AB}"/>
              </a:ext>
            </a:extLst>
          </p:cNvPr>
          <p:cNvSpPr>
            <a:spLocks noGrp="1"/>
          </p:cNvSpPr>
          <p:nvPr>
            <p:ph type="title"/>
          </p:nvPr>
        </p:nvSpPr>
        <p:spPr>
          <a:xfrm>
            <a:off x="838200" y="365126"/>
            <a:ext cx="10515600" cy="833054"/>
          </a:xfrm>
        </p:spPr>
        <p:txBody>
          <a:bodyPr>
            <a:normAutofit/>
          </a:bodyPr>
          <a:lstStyle/>
          <a:p>
            <a:r>
              <a:rPr lang="fr-CA" sz="3600" b="1" dirty="0"/>
              <a:t>Bien déterminé   </a:t>
            </a:r>
            <a:r>
              <a:rPr lang="fr-CA" sz="3600" b="1" i="1" dirty="0"/>
              <a:t>(suite)</a:t>
            </a:r>
            <a:endParaRPr lang="fr-CA" sz="3600" b="1" dirty="0"/>
          </a:p>
        </p:txBody>
      </p:sp>
      <p:sp>
        <p:nvSpPr>
          <p:cNvPr id="3" name="Espace réservé du contenu 2">
            <a:extLst>
              <a:ext uri="{FF2B5EF4-FFF2-40B4-BE49-F238E27FC236}">
                <a16:creationId xmlns:a16="http://schemas.microsoft.com/office/drawing/2014/main" id="{80D5CA57-D1E8-4A02-8911-F36B6C430835}"/>
              </a:ext>
            </a:extLst>
          </p:cNvPr>
          <p:cNvSpPr>
            <a:spLocks noGrp="1"/>
          </p:cNvSpPr>
          <p:nvPr>
            <p:ph idx="1"/>
          </p:nvPr>
        </p:nvSpPr>
        <p:spPr>
          <a:xfrm>
            <a:off x="838200" y="1303283"/>
            <a:ext cx="10652760" cy="4904478"/>
          </a:xfrm>
        </p:spPr>
        <p:txBody>
          <a:bodyPr>
            <a:normAutofit fontScale="25000" lnSpcReduction="20000"/>
          </a:bodyPr>
          <a:lstStyle/>
          <a:p>
            <a:pPr marL="0" indent="0">
              <a:buNone/>
            </a:pPr>
            <a:r>
              <a:rPr lang="fr-CA" sz="8000" dirty="0"/>
              <a:t>B15     Si le fournisseur a le droit ou l'obligation de remplacer le bien seulement à une date donnée ou lorsque se produit un événement donné, ou encore à compter de cette date ou de cet événement, son droit de substitution n'est pas substantiel, car il n'a pas la capacité pratique de remplacer le bien par un autre tout au long de la durée d'utilisation.</a:t>
            </a:r>
          </a:p>
          <a:p>
            <a:pPr marL="0" indent="0">
              <a:buNone/>
            </a:pPr>
            <a:endParaRPr lang="fr-CA" sz="8000" dirty="0"/>
          </a:p>
          <a:p>
            <a:pPr marL="0" indent="0">
              <a:buNone/>
            </a:pPr>
            <a:r>
              <a:rPr lang="fr-CA" sz="8000" dirty="0"/>
              <a:t>B16     </a:t>
            </a:r>
            <a:r>
              <a:rPr lang="fr-CA" sz="8000" u="sng" dirty="0">
                <a:solidFill>
                  <a:srgbClr val="0070C0"/>
                </a:solidFill>
              </a:rPr>
              <a:t>Pour apprécier si le droit de substitution du fournisseur est substantiel</a:t>
            </a:r>
            <a:r>
              <a:rPr lang="fr-CA" sz="8000" dirty="0"/>
              <a:t>, l'entité doit se fonder sur les faits et circonstances à la date de passation du contrat et </a:t>
            </a:r>
            <a:r>
              <a:rPr lang="fr-CA" sz="8000" u="sng" dirty="0"/>
              <a:t>ne doit pas tenir compte des événements futurs dont, à cette date, la survenance n'est pas considérée comme probable</a:t>
            </a:r>
            <a:r>
              <a:rPr lang="fr-CA" sz="8000" dirty="0"/>
              <a:t>. Voici des exemples d'événements futurs qui ne seraient pas pris en compte dans l'appréciation du droit de substitution parce que, à la date de passation du contrat, leur survenance ne serait pas considérée comme probable :</a:t>
            </a:r>
          </a:p>
          <a:p>
            <a:pPr marL="0" indent="0">
              <a:buNone/>
            </a:pPr>
            <a:r>
              <a:rPr lang="fr-CA" sz="8000" dirty="0"/>
              <a:t>(a)     un accord selon lequel un client futur verserait une contrepartie supérieure au taux du marché pour l'utilisation du bien ;</a:t>
            </a:r>
          </a:p>
          <a:p>
            <a:pPr marL="0" indent="0">
              <a:buNone/>
            </a:pPr>
            <a:r>
              <a:rPr lang="fr-CA" sz="8000" dirty="0"/>
              <a:t>(b)     l'introduction d'une nouvelle technologie dont le développement n'est pas substantiel à la date de passation du contrat ;</a:t>
            </a:r>
          </a:p>
          <a:p>
            <a:pPr marL="0" indent="0">
              <a:buNone/>
            </a:pPr>
            <a:r>
              <a:rPr lang="fr-CA" sz="8000" dirty="0"/>
              <a:t>(c)     un écart substantiel entre l'utilisation du bien par le client, ou le rendement du bien, et l'utilisation ou le rendement considéré comme probable à la date de passation du contrat ;</a:t>
            </a:r>
          </a:p>
          <a:p>
            <a:pPr marL="0" indent="0">
              <a:buNone/>
            </a:pPr>
            <a:r>
              <a:rPr lang="fr-CA" sz="8000" dirty="0"/>
              <a:t>(d)     un écart substantiel entre le prix du bien sur le marché au cours de la durée d'utilisation et le prix du bien sur le marché considéré comme probable à la date de passation du contrat.</a:t>
            </a:r>
          </a:p>
          <a:p>
            <a:pPr marL="0" indent="0">
              <a:buNone/>
            </a:pPr>
            <a:endParaRPr lang="fr-CA" sz="6400" dirty="0"/>
          </a:p>
        </p:txBody>
      </p:sp>
      <p:sp>
        <p:nvSpPr>
          <p:cNvPr id="4" name="Espace réservé du pied de page 3">
            <a:extLst>
              <a:ext uri="{FF2B5EF4-FFF2-40B4-BE49-F238E27FC236}">
                <a16:creationId xmlns:a16="http://schemas.microsoft.com/office/drawing/2014/main" id="{F08B68D2-52BC-447E-8688-AB8663267B0A}"/>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A1B30A7C-4072-4913-9EF3-962511430AC1}"/>
              </a:ext>
            </a:extLst>
          </p:cNvPr>
          <p:cNvSpPr>
            <a:spLocks noGrp="1"/>
          </p:cNvSpPr>
          <p:nvPr>
            <p:ph type="sldNum" sz="quarter" idx="12"/>
          </p:nvPr>
        </p:nvSpPr>
        <p:spPr/>
        <p:txBody>
          <a:bodyPr/>
          <a:lstStyle/>
          <a:p>
            <a:fld id="{C1CF9165-9E3D-452B-A995-87B4F64F5FE5}" type="slidenum">
              <a:rPr lang="fr-FR" smtClean="0"/>
              <a:t>13</a:t>
            </a:fld>
            <a:endParaRPr lang="fr-FR"/>
          </a:p>
        </p:txBody>
      </p:sp>
    </p:spTree>
    <p:extLst>
      <p:ext uri="{BB962C8B-B14F-4D97-AF65-F5344CB8AC3E}">
        <p14:creationId xmlns:p14="http://schemas.microsoft.com/office/powerpoint/2010/main" val="30015702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BC6FB31-DBD0-4F6A-952A-86DC3AA034AB}"/>
              </a:ext>
            </a:extLst>
          </p:cNvPr>
          <p:cNvSpPr>
            <a:spLocks noGrp="1"/>
          </p:cNvSpPr>
          <p:nvPr>
            <p:ph type="title"/>
          </p:nvPr>
        </p:nvSpPr>
        <p:spPr>
          <a:xfrm>
            <a:off x="838200" y="365126"/>
            <a:ext cx="10515600" cy="833054"/>
          </a:xfrm>
        </p:spPr>
        <p:txBody>
          <a:bodyPr>
            <a:normAutofit/>
          </a:bodyPr>
          <a:lstStyle/>
          <a:p>
            <a:r>
              <a:rPr lang="fr-CA" sz="3600" b="1" dirty="0"/>
              <a:t>Bien déterminé   </a:t>
            </a:r>
            <a:r>
              <a:rPr lang="fr-CA" sz="3600" b="1" i="1" dirty="0"/>
              <a:t>(suite)</a:t>
            </a:r>
            <a:endParaRPr lang="fr-CA" sz="3600" b="1" dirty="0"/>
          </a:p>
        </p:txBody>
      </p:sp>
      <p:sp>
        <p:nvSpPr>
          <p:cNvPr id="3" name="Espace réservé du contenu 2">
            <a:extLst>
              <a:ext uri="{FF2B5EF4-FFF2-40B4-BE49-F238E27FC236}">
                <a16:creationId xmlns:a16="http://schemas.microsoft.com/office/drawing/2014/main" id="{80D5CA57-D1E8-4A02-8911-F36B6C430835}"/>
              </a:ext>
            </a:extLst>
          </p:cNvPr>
          <p:cNvSpPr>
            <a:spLocks noGrp="1"/>
          </p:cNvSpPr>
          <p:nvPr>
            <p:ph idx="1"/>
          </p:nvPr>
        </p:nvSpPr>
        <p:spPr>
          <a:xfrm>
            <a:off x="838200" y="1303283"/>
            <a:ext cx="10652760" cy="4904478"/>
          </a:xfrm>
        </p:spPr>
        <p:txBody>
          <a:bodyPr>
            <a:normAutofit fontScale="40000" lnSpcReduction="20000"/>
          </a:bodyPr>
          <a:lstStyle/>
          <a:p>
            <a:pPr marL="0" indent="0">
              <a:buNone/>
            </a:pPr>
            <a:r>
              <a:rPr lang="fr-CA" sz="6000" dirty="0"/>
              <a:t>B17     Si le bien se trouve chez le client ou à tout autre endroit que chez le fournisseur, les coûts associés à la substitution sont généralement plus élevés que si le bien se trouve chez le fournisseur, ce qui accroît la probabilité qu'ils excèdent les avantages associés à cette substitution.</a:t>
            </a:r>
          </a:p>
          <a:p>
            <a:pPr marL="0" indent="0">
              <a:buNone/>
            </a:pPr>
            <a:endParaRPr lang="fr-CA" sz="6000" dirty="0"/>
          </a:p>
          <a:p>
            <a:pPr marL="0" indent="0">
              <a:buNone/>
            </a:pPr>
            <a:r>
              <a:rPr lang="fr-CA" sz="6000" dirty="0"/>
              <a:t>B18     Le droit ou l'obligation du fournisseur de remplacer le bien lors de sa réparation ou de sa maintenance, s'il ne fonctionne pas correctement ou qu'une mise à niveau technique est offerte, n'empêche pas le client de détenir le droit d'utiliser un bien déterminé.</a:t>
            </a:r>
          </a:p>
          <a:p>
            <a:pPr marL="0" indent="0">
              <a:buNone/>
            </a:pPr>
            <a:endParaRPr lang="fr-CA" sz="6000" dirty="0"/>
          </a:p>
          <a:p>
            <a:pPr marL="0" indent="0">
              <a:buNone/>
            </a:pPr>
            <a:r>
              <a:rPr lang="fr-CA" sz="6000" dirty="0"/>
              <a:t>B19     Lorsque le client ne peut pas facilement déterminer si le fournisseur détient un droit de substitution substantiel, il doit présumer que le droit de substitution du fournisseur, le cas échéant, n'est pas substantiel.</a:t>
            </a:r>
          </a:p>
        </p:txBody>
      </p:sp>
      <p:sp>
        <p:nvSpPr>
          <p:cNvPr id="4" name="Espace réservé du pied de page 3">
            <a:extLst>
              <a:ext uri="{FF2B5EF4-FFF2-40B4-BE49-F238E27FC236}">
                <a16:creationId xmlns:a16="http://schemas.microsoft.com/office/drawing/2014/main" id="{F08B68D2-52BC-447E-8688-AB8663267B0A}"/>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A1B30A7C-4072-4913-9EF3-962511430AC1}"/>
              </a:ext>
            </a:extLst>
          </p:cNvPr>
          <p:cNvSpPr>
            <a:spLocks noGrp="1"/>
          </p:cNvSpPr>
          <p:nvPr>
            <p:ph type="sldNum" sz="quarter" idx="12"/>
          </p:nvPr>
        </p:nvSpPr>
        <p:spPr/>
        <p:txBody>
          <a:bodyPr/>
          <a:lstStyle/>
          <a:p>
            <a:fld id="{C1CF9165-9E3D-452B-A995-87B4F64F5FE5}" type="slidenum">
              <a:rPr lang="fr-FR" smtClean="0"/>
              <a:t>14</a:t>
            </a:fld>
            <a:endParaRPr lang="fr-FR"/>
          </a:p>
        </p:txBody>
      </p:sp>
    </p:spTree>
    <p:extLst>
      <p:ext uri="{BB962C8B-B14F-4D97-AF65-F5344CB8AC3E}">
        <p14:creationId xmlns:p14="http://schemas.microsoft.com/office/powerpoint/2010/main" val="25201003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BC6FB31-DBD0-4F6A-952A-86DC3AA034AB}"/>
              </a:ext>
            </a:extLst>
          </p:cNvPr>
          <p:cNvSpPr>
            <a:spLocks noGrp="1"/>
          </p:cNvSpPr>
          <p:nvPr>
            <p:ph type="title"/>
          </p:nvPr>
        </p:nvSpPr>
        <p:spPr>
          <a:xfrm>
            <a:off x="838200" y="365126"/>
            <a:ext cx="10515600" cy="833054"/>
          </a:xfrm>
        </p:spPr>
        <p:txBody>
          <a:bodyPr>
            <a:normAutofit/>
          </a:bodyPr>
          <a:lstStyle/>
          <a:p>
            <a:r>
              <a:rPr lang="fr-CA" sz="4000" dirty="0"/>
              <a:t>IFRS 16 – Annexe B</a:t>
            </a:r>
            <a:endParaRPr lang="fr-FR" sz="4000" dirty="0"/>
          </a:p>
        </p:txBody>
      </p:sp>
      <p:sp>
        <p:nvSpPr>
          <p:cNvPr id="3" name="Espace réservé du contenu 2">
            <a:extLst>
              <a:ext uri="{FF2B5EF4-FFF2-40B4-BE49-F238E27FC236}">
                <a16:creationId xmlns:a16="http://schemas.microsoft.com/office/drawing/2014/main" id="{80D5CA57-D1E8-4A02-8911-F36B6C430835}"/>
              </a:ext>
            </a:extLst>
          </p:cNvPr>
          <p:cNvSpPr>
            <a:spLocks noGrp="1"/>
          </p:cNvSpPr>
          <p:nvPr>
            <p:ph idx="1"/>
          </p:nvPr>
        </p:nvSpPr>
        <p:spPr>
          <a:xfrm>
            <a:off x="838200" y="1303282"/>
            <a:ext cx="10652760" cy="5189591"/>
          </a:xfrm>
        </p:spPr>
        <p:txBody>
          <a:bodyPr>
            <a:normAutofit/>
          </a:bodyPr>
          <a:lstStyle/>
          <a:p>
            <a:pPr marL="0" indent="0">
              <a:buNone/>
            </a:pPr>
            <a:r>
              <a:rPr lang="fr-CA" b="1" dirty="0"/>
              <a:t>Bien déterminé   </a:t>
            </a:r>
            <a:r>
              <a:rPr lang="fr-CA" b="1" i="1" dirty="0"/>
              <a:t>(suite)</a:t>
            </a:r>
            <a:endParaRPr lang="fr-CA" b="1" dirty="0"/>
          </a:p>
          <a:p>
            <a:pPr marL="0" indent="0">
              <a:buNone/>
            </a:pPr>
            <a:r>
              <a:rPr lang="fr-CA" sz="2400" i="1" dirty="0"/>
              <a:t>Partie d'un bien</a:t>
            </a:r>
          </a:p>
          <a:p>
            <a:pPr marL="0" indent="0">
              <a:buNone/>
            </a:pPr>
            <a:r>
              <a:rPr lang="fr-CA" sz="2400" dirty="0"/>
              <a:t>B20     Une partie de la capacité d'un bien constitue un bien déterminé si elle est physiquement distincte (par exemple, un étage d'un immeuble). Une partie de la capacité ou toute autre partie d'un bien qui n'est pas physiquement distincte (par exemple, une partie de la capacité d'un câble à fibres optiques) ne constitue pas un bien déterminé, à moins qu'elle représente la quasi-totalité de la capacité du bien et qu'elle procure de ce fait au client le droit d'obtenir la quasi-totalité des avantages économiques découlant de l'utilisation du bien.</a:t>
            </a:r>
            <a:endParaRPr lang="fr-CA" sz="6600" dirty="0"/>
          </a:p>
          <a:p>
            <a:pPr marL="0" indent="0">
              <a:buNone/>
            </a:pPr>
            <a:endParaRPr lang="fr-FR" dirty="0"/>
          </a:p>
        </p:txBody>
      </p:sp>
      <p:sp>
        <p:nvSpPr>
          <p:cNvPr id="4" name="Espace réservé du pied de page 3">
            <a:extLst>
              <a:ext uri="{FF2B5EF4-FFF2-40B4-BE49-F238E27FC236}">
                <a16:creationId xmlns:a16="http://schemas.microsoft.com/office/drawing/2014/main" id="{8B2DFE55-FCA0-4DB4-A65B-D2D76FB57EDB}"/>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B1D062A0-EF8D-494F-9FF6-F10FAA3EEC80}"/>
              </a:ext>
            </a:extLst>
          </p:cNvPr>
          <p:cNvSpPr>
            <a:spLocks noGrp="1"/>
          </p:cNvSpPr>
          <p:nvPr>
            <p:ph type="sldNum" sz="quarter" idx="12"/>
          </p:nvPr>
        </p:nvSpPr>
        <p:spPr/>
        <p:txBody>
          <a:bodyPr/>
          <a:lstStyle/>
          <a:p>
            <a:fld id="{C1CF9165-9E3D-452B-A995-87B4F64F5FE5}" type="slidenum">
              <a:rPr lang="fr-FR" smtClean="0"/>
              <a:t>15</a:t>
            </a:fld>
            <a:endParaRPr lang="fr-FR"/>
          </a:p>
        </p:txBody>
      </p:sp>
    </p:spTree>
    <p:extLst>
      <p:ext uri="{BB962C8B-B14F-4D97-AF65-F5344CB8AC3E}">
        <p14:creationId xmlns:p14="http://schemas.microsoft.com/office/powerpoint/2010/main" val="33144361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BC6FB31-DBD0-4F6A-952A-86DC3AA034AB}"/>
              </a:ext>
            </a:extLst>
          </p:cNvPr>
          <p:cNvSpPr>
            <a:spLocks noGrp="1"/>
          </p:cNvSpPr>
          <p:nvPr>
            <p:ph type="title"/>
          </p:nvPr>
        </p:nvSpPr>
        <p:spPr>
          <a:xfrm>
            <a:off x="838200" y="365126"/>
            <a:ext cx="10515600" cy="833054"/>
          </a:xfrm>
        </p:spPr>
        <p:txBody>
          <a:bodyPr>
            <a:normAutofit fontScale="90000"/>
          </a:bodyPr>
          <a:lstStyle/>
          <a:p>
            <a:r>
              <a:rPr lang="fr-CA" sz="4000" b="1" dirty="0"/>
              <a:t>Droit d'obtenir les avantages économiques découlant de l'utilisation   </a:t>
            </a:r>
            <a:r>
              <a:rPr lang="fr-CA" sz="3600" b="1" dirty="0"/>
              <a:t>(</a:t>
            </a:r>
            <a:r>
              <a:rPr lang="fr-CA" sz="3600" b="1" i="1" dirty="0"/>
              <a:t>- flux de trésorerie ou économies de coûts)</a:t>
            </a:r>
            <a:endParaRPr lang="fr-CA" sz="3200" b="1" dirty="0"/>
          </a:p>
        </p:txBody>
      </p:sp>
      <p:sp>
        <p:nvSpPr>
          <p:cNvPr id="3" name="Espace réservé du contenu 2">
            <a:extLst>
              <a:ext uri="{FF2B5EF4-FFF2-40B4-BE49-F238E27FC236}">
                <a16:creationId xmlns:a16="http://schemas.microsoft.com/office/drawing/2014/main" id="{80D5CA57-D1E8-4A02-8911-F36B6C430835}"/>
              </a:ext>
            </a:extLst>
          </p:cNvPr>
          <p:cNvSpPr>
            <a:spLocks noGrp="1"/>
          </p:cNvSpPr>
          <p:nvPr>
            <p:ph idx="1"/>
          </p:nvPr>
        </p:nvSpPr>
        <p:spPr>
          <a:xfrm>
            <a:off x="838200" y="1635759"/>
            <a:ext cx="10515600" cy="4541203"/>
          </a:xfrm>
        </p:spPr>
        <p:txBody>
          <a:bodyPr>
            <a:normAutofit/>
          </a:bodyPr>
          <a:lstStyle/>
          <a:p>
            <a:pPr marL="0" indent="0">
              <a:buNone/>
            </a:pPr>
            <a:r>
              <a:rPr lang="fr-CA" sz="2400" dirty="0"/>
              <a:t>B21    </a:t>
            </a:r>
            <a:r>
              <a:rPr lang="fr-CA" sz="2400" dirty="0">
                <a:solidFill>
                  <a:srgbClr val="0070C0"/>
                </a:solidFill>
              </a:rPr>
              <a:t> Pour contrôler l'utilisation d'un bien déterminé, le client doit détenir le droit d'obtenir </a:t>
            </a:r>
            <a:r>
              <a:rPr lang="fr-CA" sz="2400" u="sng" dirty="0">
                <a:solidFill>
                  <a:srgbClr val="0070C0"/>
                </a:solidFill>
              </a:rPr>
              <a:t>la quasi-totalité des avantages économiques découlant de l'utilisation du bien tout au long de la durée d'utilisation </a:t>
            </a:r>
            <a:r>
              <a:rPr lang="fr-CA" sz="2400" dirty="0">
                <a:solidFill>
                  <a:srgbClr val="0070C0"/>
                </a:solidFill>
              </a:rPr>
              <a:t>(par exemple, en ayant l'usage exclusif du bien tout au long de sa durée d'utilisation). </a:t>
            </a:r>
            <a:r>
              <a:rPr lang="fr-CA" sz="2400" dirty="0"/>
              <a:t>Le client peut tirer des avantages économiques de l'utilisation du bien directement ou indirectement de différentes façons, notamment en utilisant, détenant ou </a:t>
            </a:r>
            <a:r>
              <a:rPr lang="fr-CA" sz="2400" dirty="0">
                <a:highlight>
                  <a:srgbClr val="FFFF00"/>
                </a:highlight>
              </a:rPr>
              <a:t>sous-louant le bien</a:t>
            </a:r>
            <a:r>
              <a:rPr lang="fr-CA" sz="2400" dirty="0"/>
              <a:t>. Les avantages économiques tirés de l'utilisation du bien comprennent la production principale et les sous-produits qui en sont issus (y compris les flux de trésorerie découlant potentiellement de ces éléments) et les autres avantages économiques liés à l'utilisation du bien qui pourraient découler d'une transaction commerciale avec une tierce partie.</a:t>
            </a:r>
          </a:p>
          <a:p>
            <a:pPr marL="0" indent="0">
              <a:buNone/>
            </a:pPr>
            <a:endParaRPr lang="fr-CA" dirty="0"/>
          </a:p>
        </p:txBody>
      </p:sp>
      <p:sp>
        <p:nvSpPr>
          <p:cNvPr id="4" name="Espace réservé du pied de page 3">
            <a:extLst>
              <a:ext uri="{FF2B5EF4-FFF2-40B4-BE49-F238E27FC236}">
                <a16:creationId xmlns:a16="http://schemas.microsoft.com/office/drawing/2014/main" id="{EA9ADE46-0CF4-4D30-8DD9-C11F56D6877C}"/>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EB91DD80-6E95-4D2C-9009-58F772D75452}"/>
              </a:ext>
            </a:extLst>
          </p:cNvPr>
          <p:cNvSpPr>
            <a:spLocks noGrp="1"/>
          </p:cNvSpPr>
          <p:nvPr>
            <p:ph type="sldNum" sz="quarter" idx="12"/>
          </p:nvPr>
        </p:nvSpPr>
        <p:spPr/>
        <p:txBody>
          <a:bodyPr/>
          <a:lstStyle/>
          <a:p>
            <a:fld id="{C1CF9165-9E3D-452B-A995-87B4F64F5FE5}" type="slidenum">
              <a:rPr lang="fr-FR" smtClean="0"/>
              <a:t>16</a:t>
            </a:fld>
            <a:endParaRPr lang="fr-FR"/>
          </a:p>
        </p:txBody>
      </p:sp>
    </p:spTree>
    <p:extLst>
      <p:ext uri="{BB962C8B-B14F-4D97-AF65-F5344CB8AC3E}">
        <p14:creationId xmlns:p14="http://schemas.microsoft.com/office/powerpoint/2010/main" val="29367760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BC6FB31-DBD0-4F6A-952A-86DC3AA034AB}"/>
              </a:ext>
            </a:extLst>
          </p:cNvPr>
          <p:cNvSpPr>
            <a:spLocks noGrp="1"/>
          </p:cNvSpPr>
          <p:nvPr>
            <p:ph type="title"/>
          </p:nvPr>
        </p:nvSpPr>
        <p:spPr>
          <a:xfrm>
            <a:off x="838200" y="365126"/>
            <a:ext cx="10515600" cy="833054"/>
          </a:xfrm>
        </p:spPr>
        <p:txBody>
          <a:bodyPr>
            <a:normAutofit fontScale="90000"/>
          </a:bodyPr>
          <a:lstStyle/>
          <a:p>
            <a:r>
              <a:rPr lang="fr-CA" sz="4000" b="1" dirty="0"/>
              <a:t>Droit d'obtenir les avantages économiques découlant de l'utilisation  </a:t>
            </a:r>
            <a:r>
              <a:rPr lang="fr-CA" sz="4000" b="1" i="1" dirty="0"/>
              <a:t> - suite</a:t>
            </a:r>
          </a:p>
        </p:txBody>
      </p:sp>
      <p:sp>
        <p:nvSpPr>
          <p:cNvPr id="3" name="Espace réservé du contenu 2">
            <a:extLst>
              <a:ext uri="{FF2B5EF4-FFF2-40B4-BE49-F238E27FC236}">
                <a16:creationId xmlns:a16="http://schemas.microsoft.com/office/drawing/2014/main" id="{80D5CA57-D1E8-4A02-8911-F36B6C430835}"/>
              </a:ext>
            </a:extLst>
          </p:cNvPr>
          <p:cNvSpPr>
            <a:spLocks noGrp="1"/>
          </p:cNvSpPr>
          <p:nvPr>
            <p:ph idx="1"/>
          </p:nvPr>
        </p:nvSpPr>
        <p:spPr>
          <a:xfrm>
            <a:off x="838200" y="1303283"/>
            <a:ext cx="10515600" cy="4873680"/>
          </a:xfrm>
        </p:spPr>
        <p:txBody>
          <a:bodyPr>
            <a:normAutofit fontScale="92500" lnSpcReduction="20000"/>
          </a:bodyPr>
          <a:lstStyle/>
          <a:p>
            <a:pPr marL="0" indent="0">
              <a:buNone/>
            </a:pPr>
            <a:endParaRPr lang="fr-CA" dirty="0"/>
          </a:p>
          <a:p>
            <a:pPr marL="0" indent="0">
              <a:buNone/>
            </a:pPr>
            <a:r>
              <a:rPr lang="fr-CA" dirty="0"/>
              <a:t>B22     Pour apprécier si elle détient le droit d'obtenir la quasi-totalité des avantages économiques découlant de l'utilisation du bien, l'entité doit </a:t>
            </a:r>
            <a:r>
              <a:rPr lang="fr-CA" u="sng" dirty="0"/>
              <a:t>considérer les avantages économiques qui découlent de l'utilisation du bien dans les limites définies du droit d'utilisation du bien par le client </a:t>
            </a:r>
            <a:r>
              <a:rPr lang="fr-CA" dirty="0"/>
              <a:t>(voir paragraphe </a:t>
            </a:r>
            <a:r>
              <a:rPr lang="fr-CA" dirty="0">
                <a:hlinkClick r:id="rId2"/>
              </a:rPr>
              <a:t>B30</a:t>
            </a:r>
            <a:r>
              <a:rPr lang="fr-CA" dirty="0"/>
              <a:t>). Par exemple :</a:t>
            </a:r>
          </a:p>
          <a:p>
            <a:pPr marL="0" indent="0">
              <a:buNone/>
            </a:pPr>
            <a:r>
              <a:rPr lang="fr-CA" dirty="0"/>
              <a:t>(a)     si le contrat limite l'utilisation d'un véhicule à moteur à un territoire déterminé pendant la durée d'utilisation, l'entité ne doit considérer que les avantages économiques tirés de l'utilisation du véhicule à moteur dans ce territoire, et non au-delà ;</a:t>
            </a:r>
          </a:p>
          <a:p>
            <a:pPr marL="0" indent="0">
              <a:buNone/>
            </a:pPr>
            <a:r>
              <a:rPr lang="fr-CA" dirty="0"/>
              <a:t>(b)     si le contrat spécifie que le client peut utiliser un véhicule à moteur jusqu'à concurrence d'un kilométrage déterminé pendant la durée d'utilisation, l'entité ne doit considérer que les avantages économiques tirés de l'utilisation du véhicule à moteur pour le kilométrage permis, et non au-delà.</a:t>
            </a:r>
          </a:p>
        </p:txBody>
      </p:sp>
      <p:sp>
        <p:nvSpPr>
          <p:cNvPr id="4" name="Espace réservé du pied de page 3">
            <a:extLst>
              <a:ext uri="{FF2B5EF4-FFF2-40B4-BE49-F238E27FC236}">
                <a16:creationId xmlns:a16="http://schemas.microsoft.com/office/drawing/2014/main" id="{EA9ADE46-0CF4-4D30-8DD9-C11F56D6877C}"/>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EB91DD80-6E95-4D2C-9009-58F772D75452}"/>
              </a:ext>
            </a:extLst>
          </p:cNvPr>
          <p:cNvSpPr>
            <a:spLocks noGrp="1"/>
          </p:cNvSpPr>
          <p:nvPr>
            <p:ph type="sldNum" sz="quarter" idx="12"/>
          </p:nvPr>
        </p:nvSpPr>
        <p:spPr/>
        <p:txBody>
          <a:bodyPr/>
          <a:lstStyle/>
          <a:p>
            <a:fld id="{C1CF9165-9E3D-452B-A995-87B4F64F5FE5}" type="slidenum">
              <a:rPr lang="fr-FR" smtClean="0"/>
              <a:t>17</a:t>
            </a:fld>
            <a:endParaRPr lang="fr-FR"/>
          </a:p>
        </p:txBody>
      </p:sp>
    </p:spTree>
    <p:extLst>
      <p:ext uri="{BB962C8B-B14F-4D97-AF65-F5344CB8AC3E}">
        <p14:creationId xmlns:p14="http://schemas.microsoft.com/office/powerpoint/2010/main" val="29094662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BC6FB31-DBD0-4F6A-952A-86DC3AA034AB}"/>
              </a:ext>
            </a:extLst>
          </p:cNvPr>
          <p:cNvSpPr>
            <a:spLocks noGrp="1"/>
          </p:cNvSpPr>
          <p:nvPr>
            <p:ph type="title"/>
          </p:nvPr>
        </p:nvSpPr>
        <p:spPr>
          <a:xfrm>
            <a:off x="838200" y="365126"/>
            <a:ext cx="10515600" cy="833054"/>
          </a:xfrm>
        </p:spPr>
        <p:txBody>
          <a:bodyPr>
            <a:normAutofit fontScale="90000"/>
          </a:bodyPr>
          <a:lstStyle/>
          <a:p>
            <a:r>
              <a:rPr lang="fr-CA" sz="4000" b="1" dirty="0"/>
              <a:t>Droit d'obtenir les avantages économiques découlant de l'utilisation   </a:t>
            </a:r>
            <a:r>
              <a:rPr lang="fr-CA" sz="3600" b="1" dirty="0"/>
              <a:t>(</a:t>
            </a:r>
            <a:r>
              <a:rPr lang="fr-CA" sz="3600" b="1" i="1" dirty="0"/>
              <a:t>suite)</a:t>
            </a:r>
            <a:endParaRPr lang="fr-CA" sz="3200" b="1" dirty="0"/>
          </a:p>
        </p:txBody>
      </p:sp>
      <p:sp>
        <p:nvSpPr>
          <p:cNvPr id="3" name="Espace réservé du contenu 2">
            <a:extLst>
              <a:ext uri="{FF2B5EF4-FFF2-40B4-BE49-F238E27FC236}">
                <a16:creationId xmlns:a16="http://schemas.microsoft.com/office/drawing/2014/main" id="{80D5CA57-D1E8-4A02-8911-F36B6C430835}"/>
              </a:ext>
            </a:extLst>
          </p:cNvPr>
          <p:cNvSpPr>
            <a:spLocks noGrp="1"/>
          </p:cNvSpPr>
          <p:nvPr>
            <p:ph idx="1"/>
          </p:nvPr>
        </p:nvSpPr>
        <p:spPr>
          <a:xfrm>
            <a:off x="838200" y="1534159"/>
            <a:ext cx="10515600" cy="4642803"/>
          </a:xfrm>
        </p:spPr>
        <p:txBody>
          <a:bodyPr>
            <a:normAutofit/>
          </a:bodyPr>
          <a:lstStyle/>
          <a:p>
            <a:pPr marL="0" indent="0">
              <a:buNone/>
            </a:pPr>
            <a:r>
              <a:rPr lang="fr-CA" sz="2400" dirty="0"/>
              <a:t>B23     Si le contrat exige que le client verse au fournisseur ou à un tiers, à titre de contrepartie, une part des flux de trésorerie découlant de l'utilisation du bien, les flux de trésorerie versés à titre de contrepartie doivent être inclus dans les avantages économiques que le client tire de l'utilisation du bien. Par exemple, si le client est tenu de verser au fournisseur, en contrepartie de l'utilisation d'un espace commercial, un pourcentage des ventes qu'il y réalise, cela ne l'empêche pas d'avoir le droit d'obtenir la quasi-totalité des avantages économiques découlant de l'utilisation de l'espace commercial. Il est en effet considéré que les flux de trésorerie découlant de ces ventes constituent des avantages économiques que le client tire de l'utilisation de l'espace commercial et qu'une partie de ces flux est ensuite versée au fournisseur en contrepartie du droit d'utiliser cet espace.</a:t>
            </a:r>
          </a:p>
          <a:p>
            <a:pPr marL="0" indent="0">
              <a:buNone/>
            </a:pPr>
            <a:endParaRPr lang="fr-FR" dirty="0"/>
          </a:p>
        </p:txBody>
      </p:sp>
      <p:sp>
        <p:nvSpPr>
          <p:cNvPr id="4" name="Espace réservé du pied de page 3">
            <a:extLst>
              <a:ext uri="{FF2B5EF4-FFF2-40B4-BE49-F238E27FC236}">
                <a16:creationId xmlns:a16="http://schemas.microsoft.com/office/drawing/2014/main" id="{67DC38CA-ED28-4118-B985-74D08BEB3BD0}"/>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263FE761-C88D-4B0C-AEFB-3674E25CAF6B}"/>
              </a:ext>
            </a:extLst>
          </p:cNvPr>
          <p:cNvSpPr>
            <a:spLocks noGrp="1"/>
          </p:cNvSpPr>
          <p:nvPr>
            <p:ph type="sldNum" sz="quarter" idx="12"/>
          </p:nvPr>
        </p:nvSpPr>
        <p:spPr/>
        <p:txBody>
          <a:bodyPr/>
          <a:lstStyle/>
          <a:p>
            <a:fld id="{C1CF9165-9E3D-452B-A995-87B4F64F5FE5}" type="slidenum">
              <a:rPr lang="fr-FR" smtClean="0"/>
              <a:t>18</a:t>
            </a:fld>
            <a:endParaRPr lang="fr-FR"/>
          </a:p>
        </p:txBody>
      </p:sp>
    </p:spTree>
    <p:extLst>
      <p:ext uri="{BB962C8B-B14F-4D97-AF65-F5344CB8AC3E}">
        <p14:creationId xmlns:p14="http://schemas.microsoft.com/office/powerpoint/2010/main" val="16361337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BC6FB31-DBD0-4F6A-952A-86DC3AA034AB}"/>
              </a:ext>
            </a:extLst>
          </p:cNvPr>
          <p:cNvSpPr>
            <a:spLocks noGrp="1"/>
          </p:cNvSpPr>
          <p:nvPr>
            <p:ph type="title"/>
          </p:nvPr>
        </p:nvSpPr>
        <p:spPr>
          <a:xfrm>
            <a:off x="838200" y="365126"/>
            <a:ext cx="10515600" cy="833054"/>
          </a:xfrm>
        </p:spPr>
        <p:txBody>
          <a:bodyPr>
            <a:normAutofit/>
          </a:bodyPr>
          <a:lstStyle/>
          <a:p>
            <a:r>
              <a:rPr lang="fr-CA" sz="3600" b="1" dirty="0"/>
              <a:t>Droit de décider de l'utilisation</a:t>
            </a:r>
          </a:p>
        </p:txBody>
      </p:sp>
      <p:sp>
        <p:nvSpPr>
          <p:cNvPr id="3" name="Espace réservé du contenu 2">
            <a:extLst>
              <a:ext uri="{FF2B5EF4-FFF2-40B4-BE49-F238E27FC236}">
                <a16:creationId xmlns:a16="http://schemas.microsoft.com/office/drawing/2014/main" id="{80D5CA57-D1E8-4A02-8911-F36B6C430835}"/>
              </a:ext>
            </a:extLst>
          </p:cNvPr>
          <p:cNvSpPr>
            <a:spLocks noGrp="1"/>
          </p:cNvSpPr>
          <p:nvPr>
            <p:ph idx="1"/>
          </p:nvPr>
        </p:nvSpPr>
        <p:spPr>
          <a:xfrm>
            <a:off x="838200" y="1303283"/>
            <a:ext cx="10515600" cy="4873680"/>
          </a:xfrm>
        </p:spPr>
        <p:txBody>
          <a:bodyPr>
            <a:normAutofit fontScale="55000" lnSpcReduction="20000"/>
          </a:bodyPr>
          <a:lstStyle/>
          <a:p>
            <a:pPr marL="0" indent="0">
              <a:buNone/>
            </a:pPr>
            <a:r>
              <a:rPr lang="fr-CA" sz="4400" dirty="0"/>
              <a:t>B24     Le client a le droit de décider de l'utilisation d'un bien déterminé tout au long de la durée d'utilisation seulement dans l'une ou l'autre des situations suivantes :</a:t>
            </a:r>
          </a:p>
          <a:p>
            <a:pPr marL="0" indent="0">
              <a:buNone/>
            </a:pPr>
            <a:r>
              <a:rPr lang="fr-CA" sz="4400" dirty="0"/>
              <a:t>(a)     le client a le droit de décider comment utiliser le bien et à quelle fin l'utiliser tout au long de la durée d'utilisation (selon la description énoncée aux paragraphes </a:t>
            </a:r>
            <a:r>
              <a:rPr lang="fr-CA" sz="4400" dirty="0">
                <a:hlinkClick r:id="rId2"/>
              </a:rPr>
              <a:t>B25</a:t>
            </a:r>
            <a:r>
              <a:rPr lang="fr-CA" sz="4400" dirty="0"/>
              <a:t> à B30) ;</a:t>
            </a:r>
          </a:p>
          <a:p>
            <a:pPr marL="0" indent="0">
              <a:buNone/>
            </a:pPr>
            <a:r>
              <a:rPr lang="fr-CA" sz="4400" dirty="0"/>
              <a:t>(b)     les décisions pertinentes quant à savoir comment utiliser le bien et à quelle fin l'utiliser sont prédéterminées et l'une ou l'autre des conditions suivantes est remplie :</a:t>
            </a:r>
          </a:p>
          <a:p>
            <a:pPr marL="803275" indent="-355600">
              <a:buNone/>
            </a:pPr>
            <a:r>
              <a:rPr lang="fr-CA" sz="4400" dirty="0"/>
              <a:t>(i)     le client a le droit d'exploiter le bien (ou de décider de la manière dont le bien est exploité par d'autres) tout au long de la durée d'utilisation, sans que le fournisseur puisse changer les consignes d'exploitation,</a:t>
            </a:r>
          </a:p>
          <a:p>
            <a:pPr marL="803275" indent="-355600">
              <a:buNone/>
            </a:pPr>
            <a:r>
              <a:rPr lang="fr-CA" sz="4400" dirty="0"/>
              <a:t>(ii)    le client a conçu le bien (ou des aspects particuliers du bien) d'une façon qui prédétermine comment l'utiliser et à quelle fin l'utiliser tout au long de la durée d'utilisation.</a:t>
            </a:r>
          </a:p>
          <a:p>
            <a:pPr marL="0" indent="0">
              <a:buNone/>
            </a:pPr>
            <a:endParaRPr lang="fr-FR" dirty="0"/>
          </a:p>
        </p:txBody>
      </p:sp>
      <p:sp>
        <p:nvSpPr>
          <p:cNvPr id="4" name="Espace réservé du pied de page 3">
            <a:extLst>
              <a:ext uri="{FF2B5EF4-FFF2-40B4-BE49-F238E27FC236}">
                <a16:creationId xmlns:a16="http://schemas.microsoft.com/office/drawing/2014/main" id="{BDD268C2-F076-423A-B073-D19364E603D5}"/>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CAC93841-02C3-44CF-B25B-FA58D7171776}"/>
              </a:ext>
            </a:extLst>
          </p:cNvPr>
          <p:cNvSpPr>
            <a:spLocks noGrp="1"/>
          </p:cNvSpPr>
          <p:nvPr>
            <p:ph type="sldNum" sz="quarter" idx="12"/>
          </p:nvPr>
        </p:nvSpPr>
        <p:spPr/>
        <p:txBody>
          <a:bodyPr/>
          <a:lstStyle/>
          <a:p>
            <a:fld id="{C1CF9165-9E3D-452B-A995-87B4F64F5FE5}" type="slidenum">
              <a:rPr lang="fr-FR" smtClean="0"/>
              <a:t>19</a:t>
            </a:fld>
            <a:endParaRPr lang="fr-FR"/>
          </a:p>
        </p:txBody>
      </p:sp>
    </p:spTree>
    <p:extLst>
      <p:ext uri="{BB962C8B-B14F-4D97-AF65-F5344CB8AC3E}">
        <p14:creationId xmlns:p14="http://schemas.microsoft.com/office/powerpoint/2010/main" val="37108342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BC6FB31-DBD0-4F6A-952A-86DC3AA034AB}"/>
              </a:ext>
            </a:extLst>
          </p:cNvPr>
          <p:cNvSpPr>
            <a:spLocks noGrp="1"/>
          </p:cNvSpPr>
          <p:nvPr>
            <p:ph type="title"/>
          </p:nvPr>
        </p:nvSpPr>
        <p:spPr>
          <a:xfrm>
            <a:off x="838200" y="365126"/>
            <a:ext cx="10515600" cy="960752"/>
          </a:xfrm>
        </p:spPr>
        <p:txBody>
          <a:bodyPr>
            <a:normAutofit/>
          </a:bodyPr>
          <a:lstStyle/>
          <a:p>
            <a:r>
              <a:rPr lang="fr-CA" sz="3600" b="1" dirty="0"/>
              <a:t>Droit de décider de l'utilisation - </a:t>
            </a:r>
            <a:r>
              <a:rPr lang="fr-CA" sz="3600" b="1" i="1" dirty="0"/>
              <a:t>suite</a:t>
            </a:r>
            <a:endParaRPr lang="fr-CA" sz="3600" b="1" dirty="0"/>
          </a:p>
        </p:txBody>
      </p:sp>
      <p:sp>
        <p:nvSpPr>
          <p:cNvPr id="3" name="Espace réservé du contenu 2">
            <a:extLst>
              <a:ext uri="{FF2B5EF4-FFF2-40B4-BE49-F238E27FC236}">
                <a16:creationId xmlns:a16="http://schemas.microsoft.com/office/drawing/2014/main" id="{80D5CA57-D1E8-4A02-8911-F36B6C430835}"/>
              </a:ext>
            </a:extLst>
          </p:cNvPr>
          <p:cNvSpPr>
            <a:spLocks noGrp="1"/>
          </p:cNvSpPr>
          <p:nvPr>
            <p:ph idx="1"/>
          </p:nvPr>
        </p:nvSpPr>
        <p:spPr>
          <a:xfrm>
            <a:off x="838200" y="1554480"/>
            <a:ext cx="10515600" cy="4938393"/>
          </a:xfrm>
        </p:spPr>
        <p:txBody>
          <a:bodyPr>
            <a:normAutofit fontScale="32500" lnSpcReduction="20000"/>
          </a:bodyPr>
          <a:lstStyle/>
          <a:p>
            <a:pPr marL="0" indent="0">
              <a:buNone/>
            </a:pPr>
            <a:r>
              <a:rPr lang="fr-CA" sz="9600" i="1" dirty="0"/>
              <a:t>Décisions quant à savoir comment utiliser le bien et à quelle fin l'utiliser</a:t>
            </a:r>
          </a:p>
          <a:p>
            <a:pPr marL="0" indent="0">
              <a:buNone/>
            </a:pPr>
            <a:endParaRPr lang="fr-CA" sz="4300" i="1" dirty="0"/>
          </a:p>
          <a:p>
            <a:pPr marL="0" indent="0">
              <a:buNone/>
            </a:pPr>
            <a:r>
              <a:rPr lang="fr-CA" sz="8000" dirty="0"/>
              <a:t>B25     Le client a le droit de décider comment utiliser le bien et à quelle fin l'utiliser s'il peut, dans les limites du droit d'utilisation définies dans le contrat, apporter des changements sur ces deux plans tout au long de la durée d'utilisation. Pour porter une appréciation à cet égard, l'entité considère les droits décisionnels qui présentent le plus de pertinence pour ce qui est de pouvoir apporter de tels changements tout au long de la durée d'utilisation. Les droits décisionnels sont pertinents lorsqu'ils ont une incidence sur les avantages économiques à tirer de l'utilisation. Il est probable que les droits décisionnels les plus pertinents diffèrent d'un contrat à l'autre, selon la nature du bien et les termes et conditions du contrat.</a:t>
            </a:r>
          </a:p>
        </p:txBody>
      </p:sp>
      <p:sp>
        <p:nvSpPr>
          <p:cNvPr id="4" name="Espace réservé du pied de page 3">
            <a:extLst>
              <a:ext uri="{FF2B5EF4-FFF2-40B4-BE49-F238E27FC236}">
                <a16:creationId xmlns:a16="http://schemas.microsoft.com/office/drawing/2014/main" id="{8BDEE235-1EE3-4B1C-AC7B-07F7B15786CF}"/>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A710CA05-8FE0-4159-9230-72596348A1CD}"/>
              </a:ext>
            </a:extLst>
          </p:cNvPr>
          <p:cNvSpPr>
            <a:spLocks noGrp="1"/>
          </p:cNvSpPr>
          <p:nvPr>
            <p:ph type="sldNum" sz="quarter" idx="12"/>
          </p:nvPr>
        </p:nvSpPr>
        <p:spPr/>
        <p:txBody>
          <a:bodyPr/>
          <a:lstStyle/>
          <a:p>
            <a:fld id="{C1CF9165-9E3D-452B-A995-87B4F64F5FE5}" type="slidenum">
              <a:rPr lang="fr-FR" smtClean="0"/>
              <a:t>20</a:t>
            </a:fld>
            <a:endParaRPr lang="fr-FR"/>
          </a:p>
        </p:txBody>
      </p:sp>
    </p:spTree>
    <p:extLst>
      <p:ext uri="{BB962C8B-B14F-4D97-AF65-F5344CB8AC3E}">
        <p14:creationId xmlns:p14="http://schemas.microsoft.com/office/powerpoint/2010/main" val="3437489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BC6FB31-DBD0-4F6A-952A-86DC3AA034AB}"/>
              </a:ext>
            </a:extLst>
          </p:cNvPr>
          <p:cNvSpPr>
            <a:spLocks noGrp="1"/>
          </p:cNvSpPr>
          <p:nvPr>
            <p:ph type="title"/>
          </p:nvPr>
        </p:nvSpPr>
        <p:spPr>
          <a:xfrm>
            <a:off x="838200" y="365126"/>
            <a:ext cx="10515600" cy="782954"/>
          </a:xfrm>
        </p:spPr>
        <p:txBody>
          <a:bodyPr>
            <a:normAutofit/>
          </a:bodyPr>
          <a:lstStyle/>
          <a:p>
            <a:r>
              <a:rPr lang="fr-CA" sz="4000" b="1" dirty="0"/>
              <a:t>Droit de décider de l'utilisation – </a:t>
            </a:r>
            <a:r>
              <a:rPr lang="fr-CA" sz="4000" b="1" i="1" dirty="0"/>
              <a:t>suite</a:t>
            </a:r>
            <a:endParaRPr lang="fr-CA" sz="4000" b="1" dirty="0"/>
          </a:p>
        </p:txBody>
      </p:sp>
      <p:sp>
        <p:nvSpPr>
          <p:cNvPr id="3" name="Espace réservé du contenu 2">
            <a:extLst>
              <a:ext uri="{FF2B5EF4-FFF2-40B4-BE49-F238E27FC236}">
                <a16:creationId xmlns:a16="http://schemas.microsoft.com/office/drawing/2014/main" id="{80D5CA57-D1E8-4A02-8911-F36B6C430835}"/>
              </a:ext>
            </a:extLst>
          </p:cNvPr>
          <p:cNvSpPr>
            <a:spLocks noGrp="1"/>
          </p:cNvSpPr>
          <p:nvPr>
            <p:ph idx="1"/>
          </p:nvPr>
        </p:nvSpPr>
        <p:spPr>
          <a:xfrm>
            <a:off x="838200" y="1219200"/>
            <a:ext cx="10515600" cy="5273673"/>
          </a:xfrm>
        </p:spPr>
        <p:txBody>
          <a:bodyPr>
            <a:normAutofit fontScale="92500" lnSpcReduction="10000"/>
          </a:bodyPr>
          <a:lstStyle/>
          <a:p>
            <a:pPr marL="0" indent="0">
              <a:buNone/>
            </a:pPr>
            <a:r>
              <a:rPr lang="fr-CA" i="1" dirty="0"/>
              <a:t>Décisions quant à savoir comment utiliser le bien et à quelle fin l'utiliser (suite)</a:t>
            </a:r>
          </a:p>
          <a:p>
            <a:pPr marL="0" indent="0">
              <a:buNone/>
            </a:pPr>
            <a:endParaRPr lang="fr-CA" sz="1000" dirty="0"/>
          </a:p>
          <a:p>
            <a:pPr marL="0" indent="0">
              <a:buNone/>
            </a:pPr>
            <a:r>
              <a:rPr lang="fr-CA" sz="2400" dirty="0"/>
              <a:t>B26     Voici des exemples de droits décisionnels qui, selon les circonstances, confèrent au client le droit d'apporter, dans les limites définies du droit d'utilisation, des changements quant à savoir comment utiliser le bien et à quelle fin l'utiliser :</a:t>
            </a:r>
          </a:p>
          <a:p>
            <a:pPr marL="1076325" indent="-446088">
              <a:buNone/>
            </a:pPr>
            <a:r>
              <a:rPr lang="fr-CA" sz="2000" dirty="0"/>
              <a:t>(a)     le droit de changer le type de production qui résulte du bien (par exemple, le droit de décider d'utiliser un conteneur pour le transport des marchandises ou pour l'entreposage, ou le droit de décider de la combinaison de produits à mettre en vente dans un espace commercial) ;</a:t>
            </a:r>
          </a:p>
          <a:p>
            <a:pPr marL="1076325" indent="-446088">
              <a:buNone/>
            </a:pPr>
            <a:r>
              <a:rPr lang="fr-CA" sz="2000" dirty="0"/>
              <a:t>(b)     le droit de changer le moment auquel la production a lieu (par exemple, le droit de décider quand un appareil ou une centrale électrique sera utilisé) ;</a:t>
            </a:r>
          </a:p>
          <a:p>
            <a:pPr marL="1076325" indent="-446088">
              <a:buNone/>
            </a:pPr>
            <a:r>
              <a:rPr lang="fr-CA" sz="2000" dirty="0"/>
              <a:t>(c)     le droit de changer l'endroit où la production a lieu (par exemple, le droit de décider de la destination d'un camion ou d'un navire, ou le droit de décider où une pièce de matériel est utilisée) ;</a:t>
            </a:r>
          </a:p>
          <a:p>
            <a:pPr marL="1076325" indent="-446088">
              <a:buNone/>
            </a:pPr>
            <a:r>
              <a:rPr lang="fr-CA" sz="2000" dirty="0"/>
              <a:t>(d)     le droit de lancer ou d'arrêter la production et de changer le volume de production (par exemple, le droit de décider si une centrale produit ou non de l'énergie et de décider de la quantité d'énergie qu'elle produit).</a:t>
            </a:r>
          </a:p>
        </p:txBody>
      </p:sp>
      <p:sp>
        <p:nvSpPr>
          <p:cNvPr id="4" name="Espace réservé du pied de page 3">
            <a:extLst>
              <a:ext uri="{FF2B5EF4-FFF2-40B4-BE49-F238E27FC236}">
                <a16:creationId xmlns:a16="http://schemas.microsoft.com/office/drawing/2014/main" id="{8BDEE235-1EE3-4B1C-AC7B-07F7B15786CF}"/>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A710CA05-8FE0-4159-9230-72596348A1CD}"/>
              </a:ext>
            </a:extLst>
          </p:cNvPr>
          <p:cNvSpPr>
            <a:spLocks noGrp="1"/>
          </p:cNvSpPr>
          <p:nvPr>
            <p:ph type="sldNum" sz="quarter" idx="12"/>
          </p:nvPr>
        </p:nvSpPr>
        <p:spPr/>
        <p:txBody>
          <a:bodyPr/>
          <a:lstStyle/>
          <a:p>
            <a:fld id="{C1CF9165-9E3D-452B-A995-87B4F64F5FE5}" type="slidenum">
              <a:rPr lang="fr-FR" smtClean="0"/>
              <a:t>21</a:t>
            </a:fld>
            <a:endParaRPr lang="fr-FR"/>
          </a:p>
        </p:txBody>
      </p:sp>
    </p:spTree>
    <p:extLst>
      <p:ext uri="{BB962C8B-B14F-4D97-AF65-F5344CB8AC3E}">
        <p14:creationId xmlns:p14="http://schemas.microsoft.com/office/powerpoint/2010/main" val="5654633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BC6FB31-DBD0-4F6A-952A-86DC3AA034AB}"/>
              </a:ext>
            </a:extLst>
          </p:cNvPr>
          <p:cNvSpPr>
            <a:spLocks noGrp="1"/>
          </p:cNvSpPr>
          <p:nvPr>
            <p:ph type="title"/>
          </p:nvPr>
        </p:nvSpPr>
        <p:spPr>
          <a:xfrm>
            <a:off x="838200" y="365126"/>
            <a:ext cx="10515600" cy="833054"/>
          </a:xfrm>
        </p:spPr>
        <p:txBody>
          <a:bodyPr>
            <a:normAutofit/>
          </a:bodyPr>
          <a:lstStyle/>
          <a:p>
            <a:r>
              <a:rPr lang="fr-CA" sz="3600" b="1" dirty="0"/>
              <a:t>Droit de décider de l'utilisation - </a:t>
            </a:r>
            <a:r>
              <a:rPr lang="fr-CA" sz="3600" b="1" i="1" dirty="0"/>
              <a:t>suite</a:t>
            </a:r>
            <a:endParaRPr lang="fr-CA" sz="3600" b="1" dirty="0"/>
          </a:p>
        </p:txBody>
      </p:sp>
      <p:sp>
        <p:nvSpPr>
          <p:cNvPr id="3" name="Espace réservé du contenu 2">
            <a:extLst>
              <a:ext uri="{FF2B5EF4-FFF2-40B4-BE49-F238E27FC236}">
                <a16:creationId xmlns:a16="http://schemas.microsoft.com/office/drawing/2014/main" id="{80D5CA57-D1E8-4A02-8911-F36B6C430835}"/>
              </a:ext>
            </a:extLst>
          </p:cNvPr>
          <p:cNvSpPr>
            <a:spLocks noGrp="1"/>
          </p:cNvSpPr>
          <p:nvPr>
            <p:ph idx="1"/>
          </p:nvPr>
        </p:nvSpPr>
        <p:spPr>
          <a:xfrm>
            <a:off x="838200" y="1303283"/>
            <a:ext cx="10515600" cy="4873680"/>
          </a:xfrm>
        </p:spPr>
        <p:txBody>
          <a:bodyPr>
            <a:normAutofit/>
          </a:bodyPr>
          <a:lstStyle/>
          <a:p>
            <a:pPr marL="0" indent="0">
              <a:buNone/>
            </a:pPr>
            <a:r>
              <a:rPr lang="fr-CA" sz="2400" i="1" dirty="0"/>
              <a:t>Décisions quant à savoir comment utiliser le bien et à quelle fin l'utiliser  (suite)</a:t>
            </a:r>
          </a:p>
          <a:p>
            <a:pPr marL="0" indent="0">
              <a:buNone/>
            </a:pPr>
            <a:endParaRPr lang="fr-CA" sz="1100" dirty="0"/>
          </a:p>
          <a:p>
            <a:pPr marL="0" indent="0">
              <a:buNone/>
            </a:pPr>
            <a:r>
              <a:rPr lang="fr-CA" sz="2400" dirty="0"/>
              <a:t>B27     Les droits décisionnels </a:t>
            </a:r>
            <a:r>
              <a:rPr lang="fr-CA" sz="2400" u="sng" dirty="0"/>
              <a:t>qui ne confèrent pas au client le droit d'apporter des changements </a:t>
            </a:r>
            <a:r>
              <a:rPr lang="fr-CA" sz="2400" dirty="0"/>
              <a:t>quant à savoir comment utiliser le bien et à quelle fin l'utiliser </a:t>
            </a:r>
            <a:r>
              <a:rPr lang="fr-CA" sz="2400" u="sng" dirty="0"/>
              <a:t>comprennent par exemple les droits qui se limitent à l'exploitation ou à la maintenance du bien</a:t>
            </a:r>
            <a:r>
              <a:rPr lang="fr-CA" sz="2400" dirty="0"/>
              <a:t>. Ces droits peuvent être détenus par le client ou le fournisseur. Bien que les droits tels que ceux relatifs à l'exploitation ou à la maintenance d'un bien soient souvent essentiels à son utilisation efficace, ils ne constituent pas des droits permettant de décider comment utiliser le bien et à quelle fin l'utiliser, et ils dépendent souvent des décisions prises à ces deux égards. Toutefois, le droit d'exploiter un bien peut conférer au client le droit de décider de son utilisation si les décisions pertinentes quant à savoir comment utiliser le bien et à quelle fin l'utiliser sont prédéterminées (voir paragraphe B24(b)(i)).</a:t>
            </a:r>
          </a:p>
          <a:p>
            <a:pPr marL="0" indent="0">
              <a:buNone/>
            </a:pPr>
            <a:endParaRPr lang="fr-FR" dirty="0"/>
          </a:p>
        </p:txBody>
      </p:sp>
      <p:sp>
        <p:nvSpPr>
          <p:cNvPr id="4" name="Espace réservé du pied de page 3">
            <a:extLst>
              <a:ext uri="{FF2B5EF4-FFF2-40B4-BE49-F238E27FC236}">
                <a16:creationId xmlns:a16="http://schemas.microsoft.com/office/drawing/2014/main" id="{72F4D9CF-D7BD-4734-AFF6-CABE2D427114}"/>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E66FFACA-F3E4-4A13-8F7E-9650D4F5105D}"/>
              </a:ext>
            </a:extLst>
          </p:cNvPr>
          <p:cNvSpPr>
            <a:spLocks noGrp="1"/>
          </p:cNvSpPr>
          <p:nvPr>
            <p:ph type="sldNum" sz="quarter" idx="12"/>
          </p:nvPr>
        </p:nvSpPr>
        <p:spPr/>
        <p:txBody>
          <a:bodyPr/>
          <a:lstStyle/>
          <a:p>
            <a:fld id="{C1CF9165-9E3D-452B-A995-87B4F64F5FE5}" type="slidenum">
              <a:rPr lang="fr-FR" smtClean="0"/>
              <a:t>22</a:t>
            </a:fld>
            <a:endParaRPr lang="fr-FR"/>
          </a:p>
        </p:txBody>
      </p:sp>
    </p:spTree>
    <p:extLst>
      <p:ext uri="{BB962C8B-B14F-4D97-AF65-F5344CB8AC3E}">
        <p14:creationId xmlns:p14="http://schemas.microsoft.com/office/powerpoint/2010/main" val="10777317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BC6FB31-DBD0-4F6A-952A-86DC3AA034AB}"/>
              </a:ext>
            </a:extLst>
          </p:cNvPr>
          <p:cNvSpPr>
            <a:spLocks noGrp="1"/>
          </p:cNvSpPr>
          <p:nvPr>
            <p:ph type="title"/>
          </p:nvPr>
        </p:nvSpPr>
        <p:spPr>
          <a:xfrm>
            <a:off x="838200" y="365126"/>
            <a:ext cx="10515600" cy="833054"/>
          </a:xfrm>
        </p:spPr>
        <p:txBody>
          <a:bodyPr>
            <a:normAutofit/>
          </a:bodyPr>
          <a:lstStyle/>
          <a:p>
            <a:r>
              <a:rPr lang="fr-CA" sz="3600" b="1" dirty="0"/>
              <a:t>Droits de protection</a:t>
            </a:r>
          </a:p>
        </p:txBody>
      </p:sp>
      <p:sp>
        <p:nvSpPr>
          <p:cNvPr id="3" name="Espace réservé du contenu 2">
            <a:extLst>
              <a:ext uri="{FF2B5EF4-FFF2-40B4-BE49-F238E27FC236}">
                <a16:creationId xmlns:a16="http://schemas.microsoft.com/office/drawing/2014/main" id="{80D5CA57-D1E8-4A02-8911-F36B6C430835}"/>
              </a:ext>
            </a:extLst>
          </p:cNvPr>
          <p:cNvSpPr>
            <a:spLocks noGrp="1"/>
          </p:cNvSpPr>
          <p:nvPr>
            <p:ph idx="1"/>
          </p:nvPr>
        </p:nvSpPr>
        <p:spPr>
          <a:xfrm>
            <a:off x="838200" y="1303283"/>
            <a:ext cx="10515600" cy="4873680"/>
          </a:xfrm>
        </p:spPr>
        <p:txBody>
          <a:bodyPr>
            <a:normAutofit/>
          </a:bodyPr>
          <a:lstStyle/>
          <a:p>
            <a:pPr marL="0" indent="0">
              <a:buNone/>
            </a:pPr>
            <a:r>
              <a:rPr lang="fr-CA" sz="2400" dirty="0"/>
              <a:t>B30     Le contrat peut contenir des termes et conditions visant à protéger les droits du fournisseur sur le bien ou d'autres biens, à protéger les membres de son personnel ou à assurer la conformité du fournisseur aux lois et règlements. Ce sont là des exemples de droits de protection. Ainsi, le contrat peut (i) spécifier le volume d'utilisation maximal du bien ou encore le lieu ou le moment de son utilisation, (ii) exiger que le client adopte des pratiques d'exploitation particulières, ou (iii) exiger que le client informe le fournisseur des changements dans la manière dont le bien sera utilisé. </a:t>
            </a:r>
            <a:r>
              <a:rPr lang="fr-CA" sz="2400" u="sng" dirty="0">
                <a:solidFill>
                  <a:srgbClr val="0070C0"/>
                </a:solidFill>
              </a:rPr>
              <a:t>Les droits de protection définissent habituellement la portée du droit d'utilisation du bien par le client, mais n'empêchent pas en soi le client d'avoir le droit de décider de l'utilisation du bien.</a:t>
            </a:r>
            <a:endParaRPr lang="fr-CA" u="sng" dirty="0">
              <a:solidFill>
                <a:srgbClr val="0070C0"/>
              </a:solidFill>
            </a:endParaRPr>
          </a:p>
          <a:p>
            <a:pPr marL="0" indent="0">
              <a:buNone/>
            </a:pPr>
            <a:endParaRPr lang="fr-FR" dirty="0"/>
          </a:p>
        </p:txBody>
      </p:sp>
      <p:sp>
        <p:nvSpPr>
          <p:cNvPr id="4" name="Espace réservé du pied de page 3">
            <a:extLst>
              <a:ext uri="{FF2B5EF4-FFF2-40B4-BE49-F238E27FC236}">
                <a16:creationId xmlns:a16="http://schemas.microsoft.com/office/drawing/2014/main" id="{B66E8A2C-9379-4049-BD1B-F13DFEAB611A}"/>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B40E2B4F-C49E-42AE-BFB5-1E7BC840CA30}"/>
              </a:ext>
            </a:extLst>
          </p:cNvPr>
          <p:cNvSpPr>
            <a:spLocks noGrp="1"/>
          </p:cNvSpPr>
          <p:nvPr>
            <p:ph type="sldNum" sz="quarter" idx="12"/>
          </p:nvPr>
        </p:nvSpPr>
        <p:spPr/>
        <p:txBody>
          <a:bodyPr/>
          <a:lstStyle/>
          <a:p>
            <a:fld id="{C1CF9165-9E3D-452B-A995-87B4F64F5FE5}" type="slidenum">
              <a:rPr lang="fr-FR" smtClean="0"/>
              <a:t>23</a:t>
            </a:fld>
            <a:endParaRPr lang="fr-FR"/>
          </a:p>
        </p:txBody>
      </p:sp>
    </p:spTree>
    <p:extLst>
      <p:ext uri="{BB962C8B-B14F-4D97-AF65-F5344CB8AC3E}">
        <p14:creationId xmlns:p14="http://schemas.microsoft.com/office/powerpoint/2010/main" val="24980423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F0C0A6-897B-4162-9C56-1ECBA30915EF}"/>
              </a:ext>
            </a:extLst>
          </p:cNvPr>
          <p:cNvSpPr>
            <a:spLocks noGrp="1"/>
          </p:cNvSpPr>
          <p:nvPr>
            <p:ph type="title"/>
          </p:nvPr>
        </p:nvSpPr>
        <p:spPr>
          <a:xfrm>
            <a:off x="838200" y="477520"/>
            <a:ext cx="10515600" cy="630160"/>
          </a:xfrm>
        </p:spPr>
        <p:txBody>
          <a:bodyPr>
            <a:noAutofit/>
          </a:bodyPr>
          <a:lstStyle/>
          <a:p>
            <a:r>
              <a:rPr lang="fr-CA" sz="3600" b="1" dirty="0"/>
              <a:t>Séparation des composantes d'un contrat</a:t>
            </a:r>
            <a:endParaRPr lang="fr-FR" sz="3600" dirty="0"/>
          </a:p>
        </p:txBody>
      </p:sp>
      <p:sp>
        <p:nvSpPr>
          <p:cNvPr id="3" name="Espace réservé du contenu 2">
            <a:extLst>
              <a:ext uri="{FF2B5EF4-FFF2-40B4-BE49-F238E27FC236}">
                <a16:creationId xmlns:a16="http://schemas.microsoft.com/office/drawing/2014/main" id="{7E734282-8B08-496B-9360-7B431D410715}"/>
              </a:ext>
            </a:extLst>
          </p:cNvPr>
          <p:cNvSpPr>
            <a:spLocks noGrp="1"/>
          </p:cNvSpPr>
          <p:nvPr>
            <p:ph idx="1"/>
          </p:nvPr>
        </p:nvSpPr>
        <p:spPr>
          <a:xfrm>
            <a:off x="838200" y="1614072"/>
            <a:ext cx="10515600" cy="4974196"/>
          </a:xfrm>
        </p:spPr>
        <p:txBody>
          <a:bodyPr>
            <a:normAutofit/>
          </a:bodyPr>
          <a:lstStyle/>
          <a:p>
            <a:pPr marL="0" indent="0">
              <a:buNone/>
            </a:pPr>
            <a:r>
              <a:rPr lang="fr-CA" sz="2400" dirty="0"/>
              <a:t>12      Lorsqu'un contrat est ou contient un contrat de location, l'entité </a:t>
            </a:r>
            <a:r>
              <a:rPr lang="fr-CA" sz="2400" u="sng" dirty="0">
                <a:solidFill>
                  <a:srgbClr val="0070C0"/>
                </a:solidFill>
              </a:rPr>
              <a:t>doit comptabiliser chaque composante locative du contrat comme un contrat de location distinct</a:t>
            </a:r>
            <a:r>
              <a:rPr lang="fr-CA" sz="2400" dirty="0"/>
              <a:t>, séparément des composantes non locatives du contrat, sauf si elle applique la mesure de simplification prévue au paragraphe </a:t>
            </a:r>
            <a:r>
              <a:rPr lang="fr-CA" sz="2400" dirty="0">
                <a:hlinkClick r:id="rId2"/>
              </a:rPr>
              <a:t>15</a:t>
            </a:r>
            <a:r>
              <a:rPr lang="fr-CA" sz="2400" dirty="0"/>
              <a:t>. Des indications sur la séparation des composantes d'un contrat se trouvent aux paragraphes B32 et B33.</a:t>
            </a:r>
          </a:p>
          <a:p>
            <a:pPr marL="0" indent="0">
              <a:buNone/>
            </a:pPr>
            <a:endParaRPr lang="fr-CA" sz="2400" dirty="0"/>
          </a:p>
          <a:p>
            <a:r>
              <a:rPr lang="fr-CA" sz="2400" dirty="0"/>
              <a:t>Composante locative : paiement lié à la location du bien</a:t>
            </a:r>
          </a:p>
          <a:p>
            <a:r>
              <a:rPr lang="fr-CA" sz="2400" dirty="0"/>
              <a:t>Composante non locative : frais liés à l’usage du bien, par exemple assurance, entretien</a:t>
            </a:r>
          </a:p>
        </p:txBody>
      </p:sp>
      <p:sp>
        <p:nvSpPr>
          <p:cNvPr id="4" name="Espace réservé du pied de page 3">
            <a:extLst>
              <a:ext uri="{FF2B5EF4-FFF2-40B4-BE49-F238E27FC236}">
                <a16:creationId xmlns:a16="http://schemas.microsoft.com/office/drawing/2014/main" id="{16595AE3-BED1-417C-BC12-6B0D3B1EDC62}"/>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81857563-42A3-4A3F-BC8E-245DBAFED5EC}"/>
              </a:ext>
            </a:extLst>
          </p:cNvPr>
          <p:cNvSpPr>
            <a:spLocks noGrp="1"/>
          </p:cNvSpPr>
          <p:nvPr>
            <p:ph type="sldNum" sz="quarter" idx="12"/>
          </p:nvPr>
        </p:nvSpPr>
        <p:spPr/>
        <p:txBody>
          <a:bodyPr/>
          <a:lstStyle/>
          <a:p>
            <a:fld id="{C1CF9165-9E3D-452B-A995-87B4F64F5FE5}" type="slidenum">
              <a:rPr lang="fr-FR" smtClean="0"/>
              <a:t>24</a:t>
            </a:fld>
            <a:endParaRPr lang="fr-FR"/>
          </a:p>
        </p:txBody>
      </p:sp>
    </p:spTree>
    <p:extLst>
      <p:ext uri="{BB962C8B-B14F-4D97-AF65-F5344CB8AC3E}">
        <p14:creationId xmlns:p14="http://schemas.microsoft.com/office/powerpoint/2010/main" val="5146271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F0C0A6-897B-4162-9C56-1ECBA30915EF}"/>
              </a:ext>
            </a:extLst>
          </p:cNvPr>
          <p:cNvSpPr>
            <a:spLocks noGrp="1"/>
          </p:cNvSpPr>
          <p:nvPr>
            <p:ph type="title"/>
          </p:nvPr>
        </p:nvSpPr>
        <p:spPr>
          <a:xfrm>
            <a:off x="838200" y="18256"/>
            <a:ext cx="10515600" cy="328586"/>
          </a:xfrm>
        </p:spPr>
        <p:txBody>
          <a:bodyPr>
            <a:normAutofit fontScale="90000"/>
          </a:bodyPr>
          <a:lstStyle/>
          <a:p>
            <a:r>
              <a:rPr lang="fr-CA" dirty="0"/>
              <a:t> </a:t>
            </a:r>
            <a:endParaRPr lang="fr-FR" dirty="0"/>
          </a:p>
        </p:txBody>
      </p:sp>
      <p:sp>
        <p:nvSpPr>
          <p:cNvPr id="3" name="Espace réservé du contenu 2">
            <a:extLst>
              <a:ext uri="{FF2B5EF4-FFF2-40B4-BE49-F238E27FC236}">
                <a16:creationId xmlns:a16="http://schemas.microsoft.com/office/drawing/2014/main" id="{7E734282-8B08-496B-9360-7B431D410715}"/>
              </a:ext>
            </a:extLst>
          </p:cNvPr>
          <p:cNvSpPr>
            <a:spLocks noGrp="1"/>
          </p:cNvSpPr>
          <p:nvPr>
            <p:ph idx="1"/>
          </p:nvPr>
        </p:nvSpPr>
        <p:spPr>
          <a:xfrm>
            <a:off x="1027386" y="472966"/>
            <a:ext cx="10515600" cy="6106510"/>
          </a:xfrm>
        </p:spPr>
        <p:txBody>
          <a:bodyPr>
            <a:normAutofit/>
          </a:bodyPr>
          <a:lstStyle/>
          <a:p>
            <a:pPr marL="0" indent="0">
              <a:buNone/>
            </a:pPr>
            <a:r>
              <a:rPr lang="fr-CA" sz="3200" dirty="0"/>
              <a:t>Séparation des composantes d'un contrat</a:t>
            </a:r>
            <a:endParaRPr lang="fr-CA" sz="3000" dirty="0"/>
          </a:p>
          <a:p>
            <a:pPr marL="0" indent="0">
              <a:buNone/>
            </a:pPr>
            <a:r>
              <a:rPr lang="fr-CA" sz="3000" b="1" dirty="0"/>
              <a:t>Preneur</a:t>
            </a:r>
          </a:p>
          <a:p>
            <a:pPr marL="0" indent="0">
              <a:buNone/>
            </a:pPr>
            <a:endParaRPr lang="fr-CA" sz="1800" b="1" dirty="0"/>
          </a:p>
          <a:p>
            <a:pPr marL="0" indent="0">
              <a:buNone/>
            </a:pPr>
            <a:r>
              <a:rPr lang="fr-CA" sz="2400" dirty="0"/>
              <a:t>13      Lorsqu'un contrat contient</a:t>
            </a:r>
            <a:r>
              <a:rPr lang="fr-CA" sz="2400" dirty="0">
                <a:solidFill>
                  <a:srgbClr val="0070C0"/>
                </a:solidFill>
              </a:rPr>
              <a:t> une composante locative et une ou plusieurs autres composantes locatives ou non locatives</a:t>
            </a:r>
            <a:r>
              <a:rPr lang="fr-CA" sz="2400" dirty="0"/>
              <a:t>, le preneur doit répartir la contrepartie prévue au contrat entre toutes les composantes locatives sur la base de leur prix distinct relatif et du prix distinct de l'ensemble des composantes non locatives.</a:t>
            </a:r>
          </a:p>
          <a:p>
            <a:pPr marL="0" indent="0">
              <a:buNone/>
            </a:pPr>
            <a:r>
              <a:rPr lang="fr-CA" sz="2400" dirty="0"/>
              <a:t>14      Le prix distinct relatif des composantes locatives et non locatives doit être déterminé en fonction du prix que le bailleur ou un autre fournisseur similaire demanderait à une entité pour la composante, ou une composante similaire, prise séparément. </a:t>
            </a:r>
            <a:r>
              <a:rPr lang="fr-CA" sz="2400" u="sng" dirty="0"/>
              <a:t>Si le prix distinct ne peut être observé directement, le preneur doit estimer ce prix</a:t>
            </a:r>
            <a:r>
              <a:rPr lang="fr-CA" sz="2400" dirty="0"/>
              <a:t>, en maximisant l'utilisation d'informations observables.</a:t>
            </a:r>
          </a:p>
          <a:p>
            <a:pPr marL="0" indent="0">
              <a:buNone/>
            </a:pPr>
            <a:endParaRPr lang="fr-CA" sz="1500" dirty="0"/>
          </a:p>
        </p:txBody>
      </p:sp>
      <p:sp>
        <p:nvSpPr>
          <p:cNvPr id="4" name="Espace réservé du pied de page 3">
            <a:extLst>
              <a:ext uri="{FF2B5EF4-FFF2-40B4-BE49-F238E27FC236}">
                <a16:creationId xmlns:a16="http://schemas.microsoft.com/office/drawing/2014/main" id="{9C5E785E-93F0-4449-AD7C-2FB2F517F700}"/>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A80D319A-41E1-40E9-9081-F9CE5C35FE19}"/>
              </a:ext>
            </a:extLst>
          </p:cNvPr>
          <p:cNvSpPr>
            <a:spLocks noGrp="1"/>
          </p:cNvSpPr>
          <p:nvPr>
            <p:ph type="sldNum" sz="quarter" idx="12"/>
          </p:nvPr>
        </p:nvSpPr>
        <p:spPr/>
        <p:txBody>
          <a:bodyPr/>
          <a:lstStyle/>
          <a:p>
            <a:fld id="{C1CF9165-9E3D-452B-A995-87B4F64F5FE5}" type="slidenum">
              <a:rPr lang="fr-FR" smtClean="0"/>
              <a:t>25</a:t>
            </a:fld>
            <a:endParaRPr lang="fr-FR"/>
          </a:p>
        </p:txBody>
      </p:sp>
    </p:spTree>
    <p:extLst>
      <p:ext uri="{BB962C8B-B14F-4D97-AF65-F5344CB8AC3E}">
        <p14:creationId xmlns:p14="http://schemas.microsoft.com/office/powerpoint/2010/main" val="1521692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F0C0A6-897B-4162-9C56-1ECBA30915EF}"/>
              </a:ext>
            </a:extLst>
          </p:cNvPr>
          <p:cNvSpPr>
            <a:spLocks noGrp="1"/>
          </p:cNvSpPr>
          <p:nvPr>
            <p:ph type="title"/>
          </p:nvPr>
        </p:nvSpPr>
        <p:spPr>
          <a:xfrm>
            <a:off x="838200" y="18256"/>
            <a:ext cx="10515600" cy="328586"/>
          </a:xfrm>
        </p:spPr>
        <p:txBody>
          <a:bodyPr>
            <a:normAutofit fontScale="90000"/>
          </a:bodyPr>
          <a:lstStyle/>
          <a:p>
            <a:r>
              <a:rPr lang="fr-CA" dirty="0"/>
              <a:t> </a:t>
            </a:r>
            <a:endParaRPr lang="fr-FR" dirty="0"/>
          </a:p>
        </p:txBody>
      </p:sp>
      <p:sp>
        <p:nvSpPr>
          <p:cNvPr id="3" name="Espace réservé du contenu 2">
            <a:extLst>
              <a:ext uri="{FF2B5EF4-FFF2-40B4-BE49-F238E27FC236}">
                <a16:creationId xmlns:a16="http://schemas.microsoft.com/office/drawing/2014/main" id="{7E734282-8B08-496B-9360-7B431D410715}"/>
              </a:ext>
            </a:extLst>
          </p:cNvPr>
          <p:cNvSpPr>
            <a:spLocks noGrp="1"/>
          </p:cNvSpPr>
          <p:nvPr>
            <p:ph idx="1"/>
          </p:nvPr>
        </p:nvSpPr>
        <p:spPr>
          <a:xfrm>
            <a:off x="1027386" y="472966"/>
            <a:ext cx="10515600" cy="6106510"/>
          </a:xfrm>
        </p:spPr>
        <p:txBody>
          <a:bodyPr>
            <a:normAutofit/>
          </a:bodyPr>
          <a:lstStyle/>
          <a:p>
            <a:pPr marL="0" indent="0">
              <a:buNone/>
            </a:pPr>
            <a:r>
              <a:rPr lang="fr-CA" dirty="0"/>
              <a:t>Séparation des composantes d'un contrat</a:t>
            </a:r>
            <a:endParaRPr lang="fr-CA" sz="3000" b="1" dirty="0"/>
          </a:p>
          <a:p>
            <a:pPr marL="0" indent="0">
              <a:buNone/>
            </a:pPr>
            <a:r>
              <a:rPr lang="fr-CA" sz="3000" b="1" dirty="0"/>
              <a:t>Preneur</a:t>
            </a:r>
          </a:p>
          <a:p>
            <a:pPr marL="0" indent="0">
              <a:buNone/>
            </a:pPr>
            <a:endParaRPr lang="fr-CA" sz="1500" dirty="0"/>
          </a:p>
          <a:p>
            <a:pPr marL="0" indent="0">
              <a:buNone/>
            </a:pPr>
            <a:r>
              <a:rPr lang="fr-CA" sz="2400" dirty="0"/>
              <a:t>15      </a:t>
            </a:r>
            <a:r>
              <a:rPr lang="fr-CA" sz="2400" u="sng" dirty="0"/>
              <a:t>Par mesure de simplification, le choix est offert au preneur de ne pas séparer les composantes locatives des composantes non locatives</a:t>
            </a:r>
            <a:r>
              <a:rPr lang="fr-CA" sz="2400" dirty="0"/>
              <a:t>, mais plutôt de comptabiliser chaque composante locative et les composantes non locatives qui s'y rattachent comme </a:t>
            </a:r>
            <a:r>
              <a:rPr lang="fr-CA" sz="2400" dirty="0">
                <a:highlight>
                  <a:srgbClr val="FFFF00"/>
                </a:highlight>
              </a:rPr>
              <a:t>une seule composante, de nature locative</a:t>
            </a:r>
            <a:r>
              <a:rPr lang="fr-CA" sz="2400" dirty="0"/>
              <a:t>. Ce choix doit être exercé par catégorie de biens sous-jacents. Le preneur ne doit pas appliquer cette mesure de simplification aux dérivés incorporés qui satisfont aux conditions définies au paragraphe </a:t>
            </a:r>
            <a:r>
              <a:rPr lang="fr-CA" sz="2400" dirty="0">
                <a:hlinkClick r:id="rId2"/>
              </a:rPr>
              <a:t>4.3.3</a:t>
            </a:r>
            <a:r>
              <a:rPr lang="fr-CA" sz="2400" dirty="0"/>
              <a:t> d'IFRS 9 </a:t>
            </a:r>
            <a:r>
              <a:rPr lang="fr-CA" sz="2400" i="1" dirty="0"/>
              <a:t>Instruments financiers</a:t>
            </a:r>
            <a:r>
              <a:rPr lang="fr-CA" sz="2400" dirty="0"/>
              <a:t>.</a:t>
            </a:r>
          </a:p>
          <a:p>
            <a:pPr marL="0" indent="0">
              <a:buNone/>
            </a:pPr>
            <a:r>
              <a:rPr lang="fr-CA" sz="2400" dirty="0"/>
              <a:t>16      Si le preneur n'applique pas la mesure de simplification prévue au paragraphe </a:t>
            </a:r>
            <a:r>
              <a:rPr lang="fr-CA" sz="2400" dirty="0">
                <a:hlinkClick r:id="rId2"/>
              </a:rPr>
              <a:t>15</a:t>
            </a:r>
            <a:r>
              <a:rPr lang="fr-CA" sz="2400" dirty="0"/>
              <a:t>, il doit comptabiliser les composantes non locatives conformément aux autres normes applicables.</a:t>
            </a:r>
          </a:p>
        </p:txBody>
      </p:sp>
      <p:sp>
        <p:nvSpPr>
          <p:cNvPr id="4" name="Espace réservé du pied de page 3">
            <a:extLst>
              <a:ext uri="{FF2B5EF4-FFF2-40B4-BE49-F238E27FC236}">
                <a16:creationId xmlns:a16="http://schemas.microsoft.com/office/drawing/2014/main" id="{9C5E785E-93F0-4449-AD7C-2FB2F517F700}"/>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A80D319A-41E1-40E9-9081-F9CE5C35FE19}"/>
              </a:ext>
            </a:extLst>
          </p:cNvPr>
          <p:cNvSpPr>
            <a:spLocks noGrp="1"/>
          </p:cNvSpPr>
          <p:nvPr>
            <p:ph type="sldNum" sz="quarter" idx="12"/>
          </p:nvPr>
        </p:nvSpPr>
        <p:spPr/>
        <p:txBody>
          <a:bodyPr/>
          <a:lstStyle/>
          <a:p>
            <a:fld id="{C1CF9165-9E3D-452B-A995-87B4F64F5FE5}" type="slidenum">
              <a:rPr lang="fr-FR" smtClean="0"/>
              <a:t>26</a:t>
            </a:fld>
            <a:endParaRPr lang="fr-FR"/>
          </a:p>
        </p:txBody>
      </p:sp>
    </p:spTree>
    <p:extLst>
      <p:ext uri="{BB962C8B-B14F-4D97-AF65-F5344CB8AC3E}">
        <p14:creationId xmlns:p14="http://schemas.microsoft.com/office/powerpoint/2010/main" val="24058218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9F0C0A6-897B-4162-9C56-1ECBA30915EF}"/>
              </a:ext>
            </a:extLst>
          </p:cNvPr>
          <p:cNvSpPr>
            <a:spLocks noGrp="1"/>
          </p:cNvSpPr>
          <p:nvPr>
            <p:ph type="title"/>
          </p:nvPr>
        </p:nvSpPr>
        <p:spPr>
          <a:xfrm>
            <a:off x="838200" y="447040"/>
            <a:ext cx="10515600" cy="436880"/>
          </a:xfrm>
        </p:spPr>
        <p:txBody>
          <a:bodyPr>
            <a:normAutofit fontScale="90000"/>
          </a:bodyPr>
          <a:lstStyle/>
          <a:p>
            <a:r>
              <a:rPr lang="fr-CA" dirty="0"/>
              <a:t>Séparation des composantes d'un contrat</a:t>
            </a:r>
            <a:endParaRPr lang="fr-FR" dirty="0"/>
          </a:p>
        </p:txBody>
      </p:sp>
      <p:sp>
        <p:nvSpPr>
          <p:cNvPr id="3" name="Espace réservé du contenu 2">
            <a:extLst>
              <a:ext uri="{FF2B5EF4-FFF2-40B4-BE49-F238E27FC236}">
                <a16:creationId xmlns:a16="http://schemas.microsoft.com/office/drawing/2014/main" id="{7E734282-8B08-496B-9360-7B431D410715}"/>
              </a:ext>
            </a:extLst>
          </p:cNvPr>
          <p:cNvSpPr>
            <a:spLocks noGrp="1"/>
          </p:cNvSpPr>
          <p:nvPr>
            <p:ph idx="1"/>
          </p:nvPr>
        </p:nvSpPr>
        <p:spPr>
          <a:xfrm>
            <a:off x="838200" y="883920"/>
            <a:ext cx="10515600" cy="5695556"/>
          </a:xfrm>
        </p:spPr>
        <p:txBody>
          <a:bodyPr>
            <a:normAutofit/>
          </a:bodyPr>
          <a:lstStyle/>
          <a:p>
            <a:pPr marL="0" indent="0">
              <a:buNone/>
            </a:pPr>
            <a:r>
              <a:rPr lang="fr-CA" sz="3200" b="1" dirty="0"/>
              <a:t>Bailleur</a:t>
            </a:r>
            <a:endParaRPr lang="fr-CA" sz="1800" b="1" dirty="0"/>
          </a:p>
          <a:p>
            <a:pPr marL="0" indent="0">
              <a:buNone/>
            </a:pPr>
            <a:r>
              <a:rPr lang="fr-CA" sz="2400" dirty="0"/>
              <a:t>17      Lorsqu'un contrat contient une composante locative et une ou plusieurs autres composantes locatives ou non locatives, le bailleur </a:t>
            </a:r>
            <a:r>
              <a:rPr lang="fr-CA" sz="2400" u="sng" dirty="0">
                <a:solidFill>
                  <a:srgbClr val="0070C0"/>
                </a:solidFill>
              </a:rPr>
              <a:t>doit répartir </a:t>
            </a:r>
            <a:r>
              <a:rPr lang="fr-CA" sz="2400" dirty="0"/>
              <a:t>la contrepartie prévue au contrat en appliquant les dispositions des paragraphes </a:t>
            </a:r>
            <a:r>
              <a:rPr lang="fr-CA" sz="2400" dirty="0">
                <a:hlinkClick r:id="rId2"/>
              </a:rPr>
              <a:t>73</a:t>
            </a:r>
            <a:r>
              <a:rPr lang="fr-CA" sz="2400" dirty="0"/>
              <a:t> à 90 d'IFRS 15.</a:t>
            </a:r>
          </a:p>
          <a:p>
            <a:r>
              <a:rPr lang="fr-CA" sz="2400" i="1" dirty="0"/>
              <a:t>Choix non présent du côté du bailleur : il faut distinguer les composantes non locatives et ne pas les inclure dans la créance</a:t>
            </a:r>
          </a:p>
        </p:txBody>
      </p:sp>
      <p:sp>
        <p:nvSpPr>
          <p:cNvPr id="4" name="Espace réservé du pied de page 3">
            <a:extLst>
              <a:ext uri="{FF2B5EF4-FFF2-40B4-BE49-F238E27FC236}">
                <a16:creationId xmlns:a16="http://schemas.microsoft.com/office/drawing/2014/main" id="{8CBC5AAD-CD9E-4084-8672-CD6887790B4C}"/>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33FD351A-4860-49CB-B89E-F9EE98FCE70F}"/>
              </a:ext>
            </a:extLst>
          </p:cNvPr>
          <p:cNvSpPr>
            <a:spLocks noGrp="1"/>
          </p:cNvSpPr>
          <p:nvPr>
            <p:ph type="sldNum" sz="quarter" idx="12"/>
          </p:nvPr>
        </p:nvSpPr>
        <p:spPr/>
        <p:txBody>
          <a:bodyPr/>
          <a:lstStyle/>
          <a:p>
            <a:fld id="{C1CF9165-9E3D-452B-A995-87B4F64F5FE5}" type="slidenum">
              <a:rPr lang="fr-FR" smtClean="0"/>
              <a:t>27</a:t>
            </a:fld>
            <a:endParaRPr lang="fr-FR"/>
          </a:p>
        </p:txBody>
      </p:sp>
    </p:spTree>
    <p:extLst>
      <p:ext uri="{BB962C8B-B14F-4D97-AF65-F5344CB8AC3E}">
        <p14:creationId xmlns:p14="http://schemas.microsoft.com/office/powerpoint/2010/main" val="37974454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2A50EC4-4418-45A1-9B6D-6E02FC520EBE}"/>
              </a:ext>
            </a:extLst>
          </p:cNvPr>
          <p:cNvSpPr>
            <a:spLocks noGrp="1"/>
          </p:cNvSpPr>
          <p:nvPr>
            <p:ph type="title"/>
          </p:nvPr>
        </p:nvSpPr>
        <p:spPr>
          <a:xfrm>
            <a:off x="838200" y="365125"/>
            <a:ext cx="10515600" cy="742315"/>
          </a:xfrm>
        </p:spPr>
        <p:txBody>
          <a:bodyPr>
            <a:normAutofit fontScale="90000"/>
          </a:bodyPr>
          <a:lstStyle/>
          <a:p>
            <a:r>
              <a:rPr lang="fr-CA" sz="4000" b="1" dirty="0"/>
              <a:t>Séparation des composantes d'un contrat </a:t>
            </a:r>
            <a:r>
              <a:rPr lang="fr-CA" sz="2700" dirty="0"/>
              <a:t>IFRS 16 – Annexe B</a:t>
            </a:r>
            <a:endParaRPr lang="fr-FR" dirty="0"/>
          </a:p>
        </p:txBody>
      </p:sp>
      <p:sp>
        <p:nvSpPr>
          <p:cNvPr id="3" name="Espace réservé du contenu 2">
            <a:extLst>
              <a:ext uri="{FF2B5EF4-FFF2-40B4-BE49-F238E27FC236}">
                <a16:creationId xmlns:a16="http://schemas.microsoft.com/office/drawing/2014/main" id="{895E1BB6-5A27-40F9-A326-AA2FE9F02729}"/>
              </a:ext>
            </a:extLst>
          </p:cNvPr>
          <p:cNvSpPr>
            <a:spLocks noGrp="1"/>
          </p:cNvSpPr>
          <p:nvPr>
            <p:ph idx="1"/>
          </p:nvPr>
        </p:nvSpPr>
        <p:spPr>
          <a:xfrm>
            <a:off x="838200" y="1361440"/>
            <a:ext cx="10515600" cy="5131434"/>
          </a:xfrm>
        </p:spPr>
        <p:txBody>
          <a:bodyPr>
            <a:normAutofit/>
          </a:bodyPr>
          <a:lstStyle/>
          <a:p>
            <a:pPr marL="0" indent="0">
              <a:buNone/>
            </a:pPr>
            <a:r>
              <a:rPr lang="fr-CA" sz="2400" dirty="0"/>
              <a:t>B32     Le droit d'utiliser un bien sous-jacent est une composante locative distincte si les conditions suivantes sont réunies :</a:t>
            </a:r>
          </a:p>
          <a:p>
            <a:pPr marL="0" indent="0">
              <a:buNone/>
            </a:pPr>
            <a:r>
              <a:rPr lang="fr-CA" sz="2400" dirty="0"/>
              <a:t>(a)     </a:t>
            </a:r>
            <a:r>
              <a:rPr lang="fr-CA" sz="2400" u="sng" dirty="0"/>
              <a:t>le preneur peut tirer avantage de l'utilisation du bien sous-jacent, pris isolément </a:t>
            </a:r>
            <a:r>
              <a:rPr lang="fr-CA" sz="2400" dirty="0"/>
              <a:t>ou en combinaison avec d'autres ressources qui lui sont aisément disponibles, lesquelles sont des biens ou des services vendus ou loués séparément (par le bailleur ou d'autres fournisseurs) ou des ressources que le preneur s'est déjà procurées (auprès du bailleur ou dans le cadre d'autres opérations ou événements) ;</a:t>
            </a:r>
          </a:p>
          <a:p>
            <a:pPr marL="0" indent="0">
              <a:buNone/>
            </a:pPr>
            <a:r>
              <a:rPr lang="fr-CA" sz="2400" dirty="0"/>
              <a:t>(b)     </a:t>
            </a:r>
            <a:r>
              <a:rPr lang="fr-CA" sz="2400" u="sng" dirty="0"/>
              <a:t>le bien sous-jacent ne dépend pas fortement des autres biens sous-jacents prévus au contrat et n'y est pas étroitement lié</a:t>
            </a:r>
            <a:r>
              <a:rPr lang="fr-CA" sz="2400" dirty="0"/>
              <a:t>. Par exemple, le fait que le preneur puisse décider de ne pas louer le bien sous-jacent sans que cela ait pour autant une incidence importante sur ses droits relatifs à l'utilisation d'autres biens sous-jacents prévus au contrat peut indiquer que ce bien sous-jacent ne dépend pas fortement des autres biens sous-jacents et qu'il n'y est pas étroitement lié.</a:t>
            </a:r>
          </a:p>
          <a:p>
            <a:pPr marL="0" indent="0">
              <a:buNone/>
            </a:pPr>
            <a:endParaRPr lang="fr-CA" dirty="0"/>
          </a:p>
          <a:p>
            <a:endParaRPr lang="fr-FR" dirty="0"/>
          </a:p>
        </p:txBody>
      </p:sp>
      <p:sp>
        <p:nvSpPr>
          <p:cNvPr id="4" name="Espace réservé du pied de page 3">
            <a:extLst>
              <a:ext uri="{FF2B5EF4-FFF2-40B4-BE49-F238E27FC236}">
                <a16:creationId xmlns:a16="http://schemas.microsoft.com/office/drawing/2014/main" id="{2BEFCC20-085D-4EDD-83D0-05391A1805C0}"/>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C9CD9B0A-6306-4ED2-AB90-FE0E78030F4C}"/>
              </a:ext>
            </a:extLst>
          </p:cNvPr>
          <p:cNvSpPr>
            <a:spLocks noGrp="1"/>
          </p:cNvSpPr>
          <p:nvPr>
            <p:ph type="sldNum" sz="quarter" idx="12"/>
          </p:nvPr>
        </p:nvSpPr>
        <p:spPr/>
        <p:txBody>
          <a:bodyPr/>
          <a:lstStyle/>
          <a:p>
            <a:fld id="{C1CF9165-9E3D-452B-A995-87B4F64F5FE5}" type="slidenum">
              <a:rPr lang="fr-FR" smtClean="0"/>
              <a:t>28</a:t>
            </a:fld>
            <a:endParaRPr lang="fr-FR"/>
          </a:p>
        </p:txBody>
      </p:sp>
    </p:spTree>
    <p:extLst>
      <p:ext uri="{BB962C8B-B14F-4D97-AF65-F5344CB8AC3E}">
        <p14:creationId xmlns:p14="http://schemas.microsoft.com/office/powerpoint/2010/main" val="1885729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2A50EC4-4418-45A1-9B6D-6E02FC520EBE}"/>
              </a:ext>
            </a:extLst>
          </p:cNvPr>
          <p:cNvSpPr>
            <a:spLocks noGrp="1"/>
          </p:cNvSpPr>
          <p:nvPr>
            <p:ph type="title"/>
          </p:nvPr>
        </p:nvSpPr>
        <p:spPr>
          <a:xfrm>
            <a:off x="838200" y="365125"/>
            <a:ext cx="10515600" cy="965835"/>
          </a:xfrm>
        </p:spPr>
        <p:txBody>
          <a:bodyPr/>
          <a:lstStyle/>
          <a:p>
            <a:r>
              <a:rPr lang="fr-CA" sz="3600" b="1" dirty="0"/>
              <a:t>Séparation des composantes d'un contrat - </a:t>
            </a:r>
            <a:r>
              <a:rPr lang="fr-CA" sz="3600" b="1" i="1" dirty="0"/>
              <a:t>suite</a:t>
            </a:r>
            <a:endParaRPr lang="fr-FR" dirty="0"/>
          </a:p>
        </p:txBody>
      </p:sp>
      <p:sp>
        <p:nvSpPr>
          <p:cNvPr id="3" name="Espace réservé du contenu 2">
            <a:extLst>
              <a:ext uri="{FF2B5EF4-FFF2-40B4-BE49-F238E27FC236}">
                <a16:creationId xmlns:a16="http://schemas.microsoft.com/office/drawing/2014/main" id="{895E1BB6-5A27-40F9-A326-AA2FE9F02729}"/>
              </a:ext>
            </a:extLst>
          </p:cNvPr>
          <p:cNvSpPr>
            <a:spLocks noGrp="1"/>
          </p:cNvSpPr>
          <p:nvPr>
            <p:ph idx="1"/>
          </p:nvPr>
        </p:nvSpPr>
        <p:spPr>
          <a:xfrm>
            <a:off x="838200" y="1645920"/>
            <a:ext cx="10515600" cy="4846954"/>
          </a:xfrm>
        </p:spPr>
        <p:txBody>
          <a:bodyPr>
            <a:normAutofit/>
          </a:bodyPr>
          <a:lstStyle/>
          <a:p>
            <a:pPr marL="0" indent="0">
              <a:buNone/>
            </a:pPr>
            <a:r>
              <a:rPr lang="fr-CA" sz="2400" dirty="0"/>
              <a:t>B33     </a:t>
            </a:r>
            <a:r>
              <a:rPr lang="fr-CA" sz="2400" dirty="0">
                <a:solidFill>
                  <a:srgbClr val="0070C0"/>
                </a:solidFill>
              </a:rPr>
              <a:t>Le contrat peut prévoir le paiement d'une somme par le preneur pour des activités et des coûts qui ne donnent pas lieu à la fourniture de biens ou de services à ce dernier</a:t>
            </a:r>
            <a:r>
              <a:rPr lang="fr-CA" sz="2400" dirty="0"/>
              <a:t>. Par exemple, le bailleur peut inclure, dans la somme totale à payer, des frais relatifs à des tâches administratives, ou d'autres coûts qu'il a engagés relativement au contrat de location, qui ne donnent pas lieu à la fourniture de biens ou de services au preneur. </a:t>
            </a:r>
            <a:r>
              <a:rPr lang="fr-CA" sz="2400" u="sng" dirty="0"/>
              <a:t>De telles sommes à payer ne constituent pas une composante distincte du contrat</a:t>
            </a:r>
            <a:r>
              <a:rPr lang="fr-CA" sz="2400" dirty="0"/>
              <a:t>, mais sont plutôt considérées comme un élément de la contrepartie totale qu'on </a:t>
            </a:r>
            <a:r>
              <a:rPr lang="fr-CA" sz="2400" dirty="0">
                <a:highlight>
                  <a:srgbClr val="FFFF00"/>
                </a:highlight>
              </a:rPr>
              <a:t>répartit</a:t>
            </a:r>
            <a:r>
              <a:rPr lang="fr-CA" sz="2400" dirty="0"/>
              <a:t> entre toutes les composantes distinctes du contrat.</a:t>
            </a:r>
            <a:endParaRPr lang="fr-CA" dirty="0"/>
          </a:p>
          <a:p>
            <a:endParaRPr lang="fr-FR" dirty="0"/>
          </a:p>
        </p:txBody>
      </p:sp>
      <p:sp>
        <p:nvSpPr>
          <p:cNvPr id="4" name="Espace réservé du pied de page 3">
            <a:extLst>
              <a:ext uri="{FF2B5EF4-FFF2-40B4-BE49-F238E27FC236}">
                <a16:creationId xmlns:a16="http://schemas.microsoft.com/office/drawing/2014/main" id="{2BEFCC20-085D-4EDD-83D0-05391A1805C0}"/>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C9CD9B0A-6306-4ED2-AB90-FE0E78030F4C}"/>
              </a:ext>
            </a:extLst>
          </p:cNvPr>
          <p:cNvSpPr>
            <a:spLocks noGrp="1"/>
          </p:cNvSpPr>
          <p:nvPr>
            <p:ph type="sldNum" sz="quarter" idx="12"/>
          </p:nvPr>
        </p:nvSpPr>
        <p:spPr/>
        <p:txBody>
          <a:bodyPr/>
          <a:lstStyle/>
          <a:p>
            <a:fld id="{C1CF9165-9E3D-452B-A995-87B4F64F5FE5}" type="slidenum">
              <a:rPr lang="fr-FR" smtClean="0"/>
              <a:t>29</a:t>
            </a:fld>
            <a:endParaRPr lang="fr-FR"/>
          </a:p>
        </p:txBody>
      </p:sp>
    </p:spTree>
    <p:extLst>
      <p:ext uri="{BB962C8B-B14F-4D97-AF65-F5344CB8AC3E}">
        <p14:creationId xmlns:p14="http://schemas.microsoft.com/office/powerpoint/2010/main" val="89694215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A0C718-4B93-49A3-8609-D1A26B3B5BBD}"/>
              </a:ext>
            </a:extLst>
          </p:cNvPr>
          <p:cNvSpPr>
            <a:spLocks noGrp="1"/>
          </p:cNvSpPr>
          <p:nvPr>
            <p:ph type="title"/>
          </p:nvPr>
        </p:nvSpPr>
        <p:spPr>
          <a:xfrm>
            <a:off x="838200" y="365125"/>
            <a:ext cx="10515600" cy="791013"/>
          </a:xfrm>
        </p:spPr>
        <p:txBody>
          <a:bodyPr>
            <a:normAutofit/>
          </a:bodyPr>
          <a:lstStyle/>
          <a:p>
            <a:r>
              <a:rPr lang="fr-CA" sz="3600" b="1" dirty="0"/>
              <a:t>Application à un portefeuille  </a:t>
            </a:r>
            <a:r>
              <a:rPr lang="fr-CA" sz="2700" dirty="0"/>
              <a:t>IFRS 16 – Annexe B</a:t>
            </a:r>
            <a:endParaRPr lang="fr-FR" sz="4000" dirty="0"/>
          </a:p>
        </p:txBody>
      </p:sp>
      <p:sp>
        <p:nvSpPr>
          <p:cNvPr id="3" name="Espace réservé du contenu 2">
            <a:extLst>
              <a:ext uri="{FF2B5EF4-FFF2-40B4-BE49-F238E27FC236}">
                <a16:creationId xmlns:a16="http://schemas.microsoft.com/office/drawing/2014/main" id="{E0C1CC9C-AD11-4037-B82B-A5A6A806E7F7}"/>
              </a:ext>
            </a:extLst>
          </p:cNvPr>
          <p:cNvSpPr>
            <a:spLocks noGrp="1"/>
          </p:cNvSpPr>
          <p:nvPr>
            <p:ph idx="1"/>
          </p:nvPr>
        </p:nvSpPr>
        <p:spPr>
          <a:xfrm>
            <a:off x="838200" y="1249680"/>
            <a:ext cx="10515600" cy="5120640"/>
          </a:xfrm>
        </p:spPr>
        <p:txBody>
          <a:bodyPr>
            <a:normAutofit/>
          </a:bodyPr>
          <a:lstStyle/>
          <a:p>
            <a:pPr marL="0" indent="0">
              <a:buNone/>
            </a:pPr>
            <a:r>
              <a:rPr lang="fr-CA" sz="2400" dirty="0"/>
              <a:t>B1     La présente norme vise le traitement comptable applicable à un contrat de location. Par mesure de simplification, il est permis à l'entité d'appliquer la présente norme à un portefeuille de contrats de location présentant des caractéristiques similaires si elle peut raisonnablement s'attendre à ce que les effets sur les états financiers de l'application de la présente norme au portefeuille ne diffèrent pas de manière significative des effets que produirait l'application de la présente norme à chacun des contrats de location composant ce portefeuille. Si elle comptabilise un portefeuille, l'entité doit utiliser des estimations et des hypothèses qui en reflètent la taille et la composition.</a:t>
            </a:r>
          </a:p>
          <a:p>
            <a:pPr marL="0" indent="0">
              <a:buNone/>
            </a:pPr>
            <a:endParaRPr lang="fr-CA" dirty="0"/>
          </a:p>
          <a:p>
            <a:pPr marL="0" indent="0">
              <a:buNone/>
            </a:pPr>
            <a:endParaRPr lang="fr-CA" b="1" dirty="0"/>
          </a:p>
          <a:p>
            <a:endParaRPr lang="fr-FR" dirty="0"/>
          </a:p>
        </p:txBody>
      </p:sp>
      <p:sp>
        <p:nvSpPr>
          <p:cNvPr id="4" name="Espace réservé du pied de page 3">
            <a:extLst>
              <a:ext uri="{FF2B5EF4-FFF2-40B4-BE49-F238E27FC236}">
                <a16:creationId xmlns:a16="http://schemas.microsoft.com/office/drawing/2014/main" id="{B994828C-29FE-47B6-8242-42FF0B4C30B2}"/>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A1969852-DF15-41D1-9D8A-38480B3A91F4}"/>
              </a:ext>
            </a:extLst>
          </p:cNvPr>
          <p:cNvSpPr>
            <a:spLocks noGrp="1"/>
          </p:cNvSpPr>
          <p:nvPr>
            <p:ph type="sldNum" sz="quarter" idx="12"/>
          </p:nvPr>
        </p:nvSpPr>
        <p:spPr/>
        <p:txBody>
          <a:bodyPr/>
          <a:lstStyle/>
          <a:p>
            <a:fld id="{C1CF9165-9E3D-452B-A995-87B4F64F5FE5}" type="slidenum">
              <a:rPr lang="fr-FR" smtClean="0"/>
              <a:t>30</a:t>
            </a:fld>
            <a:endParaRPr lang="fr-FR"/>
          </a:p>
        </p:txBody>
      </p:sp>
    </p:spTree>
    <p:extLst>
      <p:ext uri="{BB962C8B-B14F-4D97-AF65-F5344CB8AC3E}">
        <p14:creationId xmlns:p14="http://schemas.microsoft.com/office/powerpoint/2010/main" val="42291506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1A0C718-4B93-49A3-8609-D1A26B3B5BBD}"/>
              </a:ext>
            </a:extLst>
          </p:cNvPr>
          <p:cNvSpPr>
            <a:spLocks noGrp="1"/>
          </p:cNvSpPr>
          <p:nvPr>
            <p:ph type="title"/>
          </p:nvPr>
        </p:nvSpPr>
        <p:spPr>
          <a:xfrm>
            <a:off x="838200" y="365125"/>
            <a:ext cx="10515600" cy="791013"/>
          </a:xfrm>
        </p:spPr>
        <p:txBody>
          <a:bodyPr>
            <a:normAutofit/>
          </a:bodyPr>
          <a:lstStyle/>
          <a:p>
            <a:r>
              <a:rPr lang="fr-CA" sz="3600" b="1" dirty="0"/>
              <a:t>Regroupement de contrats   </a:t>
            </a:r>
            <a:r>
              <a:rPr lang="fr-CA" sz="2800" dirty="0"/>
              <a:t>IFRS 16 – Annexe B</a:t>
            </a:r>
            <a:endParaRPr lang="fr-FR" sz="4000" dirty="0"/>
          </a:p>
        </p:txBody>
      </p:sp>
      <p:sp>
        <p:nvSpPr>
          <p:cNvPr id="3" name="Espace réservé du contenu 2">
            <a:extLst>
              <a:ext uri="{FF2B5EF4-FFF2-40B4-BE49-F238E27FC236}">
                <a16:creationId xmlns:a16="http://schemas.microsoft.com/office/drawing/2014/main" id="{E0C1CC9C-AD11-4037-B82B-A5A6A806E7F7}"/>
              </a:ext>
            </a:extLst>
          </p:cNvPr>
          <p:cNvSpPr>
            <a:spLocks noGrp="1"/>
          </p:cNvSpPr>
          <p:nvPr>
            <p:ph idx="1"/>
          </p:nvPr>
        </p:nvSpPr>
        <p:spPr>
          <a:xfrm>
            <a:off x="838200" y="1249680"/>
            <a:ext cx="10515600" cy="5120640"/>
          </a:xfrm>
        </p:spPr>
        <p:txBody>
          <a:bodyPr>
            <a:normAutofit/>
          </a:bodyPr>
          <a:lstStyle/>
          <a:p>
            <a:pPr marL="0" indent="0">
              <a:buNone/>
            </a:pPr>
            <a:r>
              <a:rPr lang="fr-CA" sz="2400" dirty="0"/>
              <a:t>B2     Aux fins de l'application de la présente norme, l'entité doit regrouper les contrats conclus en même temps ou presque en même temps avec la même partie (ou avec des parties liées à celle-ci) et les comptabiliser comme un seul contrat si au moins une des conditions ci-dessous est remplie :</a:t>
            </a:r>
          </a:p>
          <a:p>
            <a:pPr marL="1341438" indent="-711200">
              <a:buNone/>
            </a:pPr>
            <a:r>
              <a:rPr lang="fr-CA" sz="2400" dirty="0"/>
              <a:t>(a)     les contrats sont négociés en bloc et visent un objectif commercial global qui ne pourrait être compris si les contrats n'étaient pas considérés collectivement ;</a:t>
            </a:r>
          </a:p>
          <a:p>
            <a:pPr marL="1341438" indent="-711200">
              <a:buNone/>
            </a:pPr>
            <a:r>
              <a:rPr lang="fr-CA" sz="2400" dirty="0"/>
              <a:t>(b)     le montant de la contrepartie à payer en vertu de l'un des contrats dépend du prix ou de l'exécution de l'autre contrat ;</a:t>
            </a:r>
          </a:p>
          <a:p>
            <a:pPr marL="1341438" indent="-711200">
              <a:buNone/>
            </a:pPr>
            <a:r>
              <a:rPr lang="fr-CA" sz="2400" dirty="0"/>
              <a:t>(c)     les droits d'utilisation des biens sous-jacents conférés par les contrats (ou certains des droits d'utilisation des biens sous-jacents conférés par chacun des contrats) constituent une seule composante locative selon la description énoncée au paragraphe </a:t>
            </a:r>
            <a:r>
              <a:rPr lang="fr-CA" sz="2400" dirty="0">
                <a:hlinkClick r:id="rId2"/>
              </a:rPr>
              <a:t>B32</a:t>
            </a:r>
            <a:r>
              <a:rPr lang="fr-CA" sz="2400" dirty="0"/>
              <a:t>.</a:t>
            </a:r>
          </a:p>
          <a:p>
            <a:endParaRPr lang="fr-FR" dirty="0"/>
          </a:p>
        </p:txBody>
      </p:sp>
      <p:sp>
        <p:nvSpPr>
          <p:cNvPr id="4" name="Espace réservé du pied de page 3">
            <a:extLst>
              <a:ext uri="{FF2B5EF4-FFF2-40B4-BE49-F238E27FC236}">
                <a16:creationId xmlns:a16="http://schemas.microsoft.com/office/drawing/2014/main" id="{B994828C-29FE-47B6-8242-42FF0B4C30B2}"/>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A1969852-DF15-41D1-9D8A-38480B3A91F4}"/>
              </a:ext>
            </a:extLst>
          </p:cNvPr>
          <p:cNvSpPr>
            <a:spLocks noGrp="1"/>
          </p:cNvSpPr>
          <p:nvPr>
            <p:ph type="sldNum" sz="quarter" idx="12"/>
          </p:nvPr>
        </p:nvSpPr>
        <p:spPr/>
        <p:txBody>
          <a:bodyPr/>
          <a:lstStyle/>
          <a:p>
            <a:fld id="{C1CF9165-9E3D-452B-A995-87B4F64F5FE5}" type="slidenum">
              <a:rPr lang="fr-FR" smtClean="0"/>
              <a:t>31</a:t>
            </a:fld>
            <a:endParaRPr lang="fr-FR"/>
          </a:p>
        </p:txBody>
      </p:sp>
    </p:spTree>
    <p:extLst>
      <p:ext uri="{BB962C8B-B14F-4D97-AF65-F5344CB8AC3E}">
        <p14:creationId xmlns:p14="http://schemas.microsoft.com/office/powerpoint/2010/main" val="28334410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DA28579-7381-456A-928B-BE17F23E4548}"/>
              </a:ext>
            </a:extLst>
          </p:cNvPr>
          <p:cNvSpPr>
            <a:spLocks noGrp="1"/>
          </p:cNvSpPr>
          <p:nvPr>
            <p:ph type="title"/>
          </p:nvPr>
        </p:nvSpPr>
        <p:spPr/>
        <p:txBody>
          <a:bodyPr/>
          <a:lstStyle/>
          <a:p>
            <a:r>
              <a:rPr lang="fr-CA" dirty="0"/>
              <a:t> </a:t>
            </a:r>
            <a:endParaRPr lang="fr-FR" dirty="0"/>
          </a:p>
        </p:txBody>
      </p:sp>
      <p:sp>
        <p:nvSpPr>
          <p:cNvPr id="3" name="Espace réservé du contenu 2">
            <a:extLst>
              <a:ext uri="{FF2B5EF4-FFF2-40B4-BE49-F238E27FC236}">
                <a16:creationId xmlns:a16="http://schemas.microsoft.com/office/drawing/2014/main" id="{B9E54350-04A6-450A-92F2-9D6AD1B84A02}"/>
              </a:ext>
            </a:extLst>
          </p:cNvPr>
          <p:cNvSpPr>
            <a:spLocks noGrp="1"/>
          </p:cNvSpPr>
          <p:nvPr>
            <p:ph idx="1"/>
          </p:nvPr>
        </p:nvSpPr>
        <p:spPr/>
        <p:txBody>
          <a:bodyPr/>
          <a:lstStyle/>
          <a:p>
            <a:pPr marL="0" indent="0">
              <a:buNone/>
            </a:pPr>
            <a:r>
              <a:rPr lang="fr-CA" dirty="0"/>
              <a:t> </a:t>
            </a:r>
            <a:endParaRPr lang="fr-FR" dirty="0"/>
          </a:p>
        </p:txBody>
      </p:sp>
      <p:pic>
        <p:nvPicPr>
          <p:cNvPr id="4" name="Image 3">
            <a:extLst>
              <a:ext uri="{FF2B5EF4-FFF2-40B4-BE49-F238E27FC236}">
                <a16:creationId xmlns:a16="http://schemas.microsoft.com/office/drawing/2014/main" id="{13F0E4CD-CC8E-464A-BF09-F4B5813519FF}"/>
              </a:ext>
            </a:extLst>
          </p:cNvPr>
          <p:cNvPicPr>
            <a:picLocks noChangeAspect="1"/>
          </p:cNvPicPr>
          <p:nvPr/>
        </p:nvPicPr>
        <p:blipFill>
          <a:blip r:embed="rId2"/>
          <a:stretch>
            <a:fillRect/>
          </a:stretch>
        </p:blipFill>
        <p:spPr>
          <a:xfrm>
            <a:off x="2462212" y="481012"/>
            <a:ext cx="7267575" cy="5895975"/>
          </a:xfrm>
          <a:prstGeom prst="rect">
            <a:avLst/>
          </a:prstGeom>
        </p:spPr>
      </p:pic>
      <p:sp>
        <p:nvSpPr>
          <p:cNvPr id="5" name="Espace réservé du pied de page 4">
            <a:extLst>
              <a:ext uri="{FF2B5EF4-FFF2-40B4-BE49-F238E27FC236}">
                <a16:creationId xmlns:a16="http://schemas.microsoft.com/office/drawing/2014/main" id="{16991CE3-B9C2-4B9B-B8C5-BDDA07A1046E}"/>
              </a:ext>
            </a:extLst>
          </p:cNvPr>
          <p:cNvSpPr>
            <a:spLocks noGrp="1"/>
          </p:cNvSpPr>
          <p:nvPr>
            <p:ph type="ftr" sz="quarter" idx="11"/>
          </p:nvPr>
        </p:nvSpPr>
        <p:spPr/>
        <p:txBody>
          <a:bodyPr/>
          <a:lstStyle/>
          <a:p>
            <a:r>
              <a:rPr lang="fr-FR"/>
              <a:t>Droits réservés - Louise Overbeek</a:t>
            </a:r>
          </a:p>
        </p:txBody>
      </p:sp>
      <p:sp>
        <p:nvSpPr>
          <p:cNvPr id="6" name="Espace réservé du numéro de diapositive 5">
            <a:extLst>
              <a:ext uri="{FF2B5EF4-FFF2-40B4-BE49-F238E27FC236}">
                <a16:creationId xmlns:a16="http://schemas.microsoft.com/office/drawing/2014/main" id="{3B5DD0A5-FEA1-4D8E-B948-0EB44A9ACB9B}"/>
              </a:ext>
            </a:extLst>
          </p:cNvPr>
          <p:cNvSpPr>
            <a:spLocks noGrp="1"/>
          </p:cNvSpPr>
          <p:nvPr>
            <p:ph type="sldNum" sz="quarter" idx="12"/>
          </p:nvPr>
        </p:nvSpPr>
        <p:spPr/>
        <p:txBody>
          <a:bodyPr/>
          <a:lstStyle/>
          <a:p>
            <a:fld id="{C1CF9165-9E3D-452B-A995-87B4F64F5FE5}" type="slidenum">
              <a:rPr lang="fr-FR" smtClean="0"/>
              <a:t>32</a:t>
            </a:fld>
            <a:endParaRPr lang="fr-FR"/>
          </a:p>
        </p:txBody>
      </p:sp>
    </p:spTree>
    <p:extLst>
      <p:ext uri="{BB962C8B-B14F-4D97-AF65-F5344CB8AC3E}">
        <p14:creationId xmlns:p14="http://schemas.microsoft.com/office/powerpoint/2010/main" val="412495905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accent4">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1D828D-2DCE-410B-B53B-0B7F903186D5}"/>
              </a:ext>
            </a:extLst>
          </p:cNvPr>
          <p:cNvSpPr>
            <a:spLocks noGrp="1"/>
          </p:cNvSpPr>
          <p:nvPr>
            <p:ph type="title"/>
          </p:nvPr>
        </p:nvSpPr>
        <p:spPr/>
        <p:txBody>
          <a:bodyPr/>
          <a:lstStyle/>
          <a:p>
            <a:r>
              <a:rPr lang="fr-CA" dirty="0"/>
              <a:t>En résumé…</a:t>
            </a:r>
            <a:endParaRPr lang="fr-FR" dirty="0"/>
          </a:p>
        </p:txBody>
      </p:sp>
      <p:sp>
        <p:nvSpPr>
          <p:cNvPr id="3" name="Espace réservé du contenu 2">
            <a:extLst>
              <a:ext uri="{FF2B5EF4-FFF2-40B4-BE49-F238E27FC236}">
                <a16:creationId xmlns:a16="http://schemas.microsoft.com/office/drawing/2014/main" id="{0B084BE2-DA70-4F4B-9B1C-D1F0DD874D34}"/>
              </a:ext>
            </a:extLst>
          </p:cNvPr>
          <p:cNvSpPr>
            <a:spLocks noGrp="1"/>
          </p:cNvSpPr>
          <p:nvPr>
            <p:ph idx="1"/>
          </p:nvPr>
        </p:nvSpPr>
        <p:spPr/>
        <p:txBody>
          <a:bodyPr>
            <a:normAutofit fontScale="92500" lnSpcReduction="10000"/>
          </a:bodyPr>
          <a:lstStyle/>
          <a:p>
            <a:pPr marL="0" indent="0">
              <a:buNone/>
            </a:pPr>
            <a:r>
              <a:rPr lang="fr-CA" dirty="0"/>
              <a:t>Contrat de location?  </a:t>
            </a:r>
          </a:p>
          <a:p>
            <a:pPr marL="0" indent="0">
              <a:buNone/>
            </a:pPr>
            <a:r>
              <a:rPr lang="fr-CA" dirty="0"/>
              <a:t>Nécessite respect des trois conditions suivantes :</a:t>
            </a:r>
          </a:p>
          <a:p>
            <a:pPr marL="514350" indent="-514350">
              <a:buAutoNum type="arabicParenR"/>
            </a:pPr>
            <a:r>
              <a:rPr lang="fr-CA" dirty="0"/>
              <a:t>Bien déterminé</a:t>
            </a:r>
          </a:p>
          <a:p>
            <a:pPr marL="514350" indent="-514350">
              <a:buAutoNum type="arabicParenR"/>
            </a:pPr>
            <a:r>
              <a:rPr lang="fr-CA" dirty="0"/>
              <a:t>Preneur (client) a le droit d’obtenir la quasi-totalité des avantages économiques découlant de l’utilisation du bien</a:t>
            </a:r>
          </a:p>
          <a:p>
            <a:pPr marL="514350" indent="-514350">
              <a:buAutoNum type="arabicParenR"/>
            </a:pPr>
            <a:r>
              <a:rPr lang="fr-CA" dirty="0"/>
              <a:t>Bailleur (fournisseur) n’a pas le droit de décider de l’utilisation d’un bien déterminé</a:t>
            </a:r>
          </a:p>
          <a:p>
            <a:pPr marL="0" indent="0">
              <a:buNone/>
            </a:pPr>
            <a:r>
              <a:rPr lang="fr-CA" dirty="0"/>
              <a:t>Sinon, il s’agit d’un contrat de services</a:t>
            </a:r>
          </a:p>
          <a:p>
            <a:pPr marL="0" indent="0">
              <a:buNone/>
            </a:pPr>
            <a:endParaRPr lang="fr-CA" dirty="0"/>
          </a:p>
          <a:p>
            <a:pPr marL="0" indent="0">
              <a:buNone/>
            </a:pPr>
            <a:r>
              <a:rPr lang="fr-FR" i="1" dirty="0"/>
              <a:t>Complexe si l’entente comprend une portion importante de services</a:t>
            </a:r>
          </a:p>
        </p:txBody>
      </p:sp>
      <p:sp>
        <p:nvSpPr>
          <p:cNvPr id="4" name="Espace réservé du pied de page 3">
            <a:extLst>
              <a:ext uri="{FF2B5EF4-FFF2-40B4-BE49-F238E27FC236}">
                <a16:creationId xmlns:a16="http://schemas.microsoft.com/office/drawing/2014/main" id="{4A75A784-BB48-42D5-85FD-04D6F5371E7A}"/>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7D22923D-D64F-4179-B24F-7AA499625C23}"/>
              </a:ext>
            </a:extLst>
          </p:cNvPr>
          <p:cNvSpPr>
            <a:spLocks noGrp="1"/>
          </p:cNvSpPr>
          <p:nvPr>
            <p:ph type="sldNum" sz="quarter" idx="12"/>
          </p:nvPr>
        </p:nvSpPr>
        <p:spPr/>
        <p:txBody>
          <a:bodyPr/>
          <a:lstStyle/>
          <a:p>
            <a:fld id="{C1CF9165-9E3D-452B-A995-87B4F64F5FE5}" type="slidenum">
              <a:rPr lang="fr-FR" smtClean="0"/>
              <a:t>33</a:t>
            </a:fld>
            <a:endParaRPr lang="fr-FR"/>
          </a:p>
        </p:txBody>
      </p:sp>
    </p:spTree>
    <p:extLst>
      <p:ext uri="{BB962C8B-B14F-4D97-AF65-F5344CB8AC3E}">
        <p14:creationId xmlns:p14="http://schemas.microsoft.com/office/powerpoint/2010/main" val="3763144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11266" name="Titre 1">
            <a:extLst>
              <a:ext uri="{FF2B5EF4-FFF2-40B4-BE49-F238E27FC236}">
                <a16:creationId xmlns:a16="http://schemas.microsoft.com/office/drawing/2014/main" id="{13B7B7E2-BFDD-4D88-80EE-309F5925E031}"/>
              </a:ext>
            </a:extLst>
          </p:cNvPr>
          <p:cNvSpPr>
            <a:spLocks noGrp="1"/>
          </p:cNvSpPr>
          <p:nvPr>
            <p:ph type="title"/>
          </p:nvPr>
        </p:nvSpPr>
        <p:spPr/>
        <p:txBody>
          <a:bodyPr/>
          <a:lstStyle/>
          <a:p>
            <a:pPr eaLnBrk="1" hangingPunct="1"/>
            <a:r>
              <a:rPr lang="fr-CA" altLang="fr-FR" sz="3600" b="1" dirty="0"/>
              <a:t>DURÉE DU CONTRAT DE LOCATION</a:t>
            </a:r>
          </a:p>
        </p:txBody>
      </p:sp>
      <p:sp>
        <p:nvSpPr>
          <p:cNvPr id="3" name="Espace réservé du contenu 2">
            <a:extLst>
              <a:ext uri="{FF2B5EF4-FFF2-40B4-BE49-F238E27FC236}">
                <a16:creationId xmlns:a16="http://schemas.microsoft.com/office/drawing/2014/main" id="{8CA6EC0B-1277-4AE5-BB19-CD2CA8B8787D}"/>
              </a:ext>
            </a:extLst>
          </p:cNvPr>
          <p:cNvSpPr>
            <a:spLocks noGrp="1"/>
          </p:cNvSpPr>
          <p:nvPr>
            <p:ph idx="1"/>
          </p:nvPr>
        </p:nvSpPr>
        <p:spPr>
          <a:xfrm>
            <a:off x="838200" y="1535113"/>
            <a:ext cx="10515600" cy="4591050"/>
          </a:xfrm>
        </p:spPr>
        <p:txBody>
          <a:bodyPr>
            <a:normAutofit fontScale="92500" lnSpcReduction="10000"/>
          </a:bodyPr>
          <a:lstStyle/>
          <a:p>
            <a:pPr marL="0" indent="0">
              <a:lnSpc>
                <a:spcPct val="80000"/>
              </a:lnSpc>
              <a:buNone/>
              <a:defRPr/>
            </a:pPr>
            <a:r>
              <a:rPr lang="fr-CA" altLang="fr-FR" sz="2500" dirty="0"/>
              <a:t>18     L'entité doit déterminer la durée du contrat de location comme étant le </a:t>
            </a:r>
            <a:r>
              <a:rPr lang="fr-CA" altLang="fr-FR" sz="2500" dirty="0">
                <a:solidFill>
                  <a:srgbClr val="0070C0"/>
                </a:solidFill>
              </a:rPr>
              <a:t>temps pour lequel le contrat de location est non résiliable, auquel s'ajoutent </a:t>
            </a:r>
            <a:r>
              <a:rPr lang="fr-CA" altLang="fr-FR" sz="2500" dirty="0"/>
              <a:t>les intervalles visés par :</a:t>
            </a:r>
          </a:p>
          <a:p>
            <a:pPr marL="0" indent="0">
              <a:lnSpc>
                <a:spcPct val="80000"/>
              </a:lnSpc>
              <a:buNone/>
              <a:defRPr/>
            </a:pPr>
            <a:r>
              <a:rPr lang="fr-CA" altLang="fr-FR" sz="2500" dirty="0"/>
              <a:t>(a)     toute </a:t>
            </a:r>
            <a:r>
              <a:rPr lang="fr-CA" altLang="fr-FR" sz="2500" dirty="0">
                <a:solidFill>
                  <a:srgbClr val="0070C0"/>
                </a:solidFill>
              </a:rPr>
              <a:t>option de prolongation du contrat de location que le preneur a la certitude raisonnable d'exercer</a:t>
            </a:r>
            <a:r>
              <a:rPr lang="fr-CA" altLang="fr-FR" sz="2500" dirty="0"/>
              <a:t> ;</a:t>
            </a:r>
          </a:p>
          <a:p>
            <a:pPr marL="0" indent="0">
              <a:lnSpc>
                <a:spcPct val="80000"/>
              </a:lnSpc>
              <a:buNone/>
              <a:defRPr/>
            </a:pPr>
            <a:r>
              <a:rPr lang="fr-CA" altLang="fr-FR" sz="2500" dirty="0"/>
              <a:t>(b)     toute </a:t>
            </a:r>
            <a:r>
              <a:rPr lang="fr-CA" altLang="fr-FR" sz="2500" dirty="0">
                <a:solidFill>
                  <a:srgbClr val="0070C0"/>
                </a:solidFill>
              </a:rPr>
              <a:t>option de résiliation du contrat de location que le preneur a la certitude raisonnable de ne pas exercer</a:t>
            </a:r>
            <a:r>
              <a:rPr lang="fr-CA" altLang="fr-FR" sz="2500" dirty="0"/>
              <a:t>.</a:t>
            </a:r>
          </a:p>
          <a:p>
            <a:pPr marL="0" indent="0">
              <a:lnSpc>
                <a:spcPct val="80000"/>
              </a:lnSpc>
              <a:buNone/>
              <a:defRPr/>
            </a:pPr>
            <a:endParaRPr lang="fr-CA" altLang="fr-FR" sz="2500" dirty="0"/>
          </a:p>
          <a:p>
            <a:pPr marL="0" indent="0">
              <a:lnSpc>
                <a:spcPct val="80000"/>
              </a:lnSpc>
              <a:buNone/>
              <a:defRPr/>
            </a:pPr>
            <a:r>
              <a:rPr lang="fr-CA" altLang="fr-FR" sz="2500" dirty="0"/>
              <a:t>19    </a:t>
            </a:r>
            <a:r>
              <a:rPr lang="fr-CA" dirty="0"/>
              <a:t>Pour apprécier si le preneur a la certitude raisonnable d'exercer une option de prolongation du contrat de location ou de ne pas exercer une option de résiliation du contrat de location, l'entité doit tenir compte de tous les faits et circonstances pertinents faisant que le </a:t>
            </a:r>
            <a:r>
              <a:rPr lang="fr-CA" u="sng" dirty="0">
                <a:solidFill>
                  <a:srgbClr val="0070C0"/>
                </a:solidFill>
              </a:rPr>
              <a:t>preneur a un avantage économique à exercer l'option de prolongation ou à ne pas exercer l'option de résiliation</a:t>
            </a:r>
            <a:r>
              <a:rPr lang="fr-CA" dirty="0"/>
              <a:t>, comme l'expliquent les paragraphes </a:t>
            </a:r>
            <a:r>
              <a:rPr lang="fr-CA" dirty="0">
                <a:hlinkClick r:id="rId2"/>
              </a:rPr>
              <a:t>B37</a:t>
            </a:r>
            <a:r>
              <a:rPr lang="fr-CA" dirty="0"/>
              <a:t> à B40.</a:t>
            </a:r>
            <a:endParaRPr lang="fr-CA" altLang="fr-FR" sz="2500" dirty="0"/>
          </a:p>
          <a:p>
            <a:pPr marL="0" indent="0">
              <a:lnSpc>
                <a:spcPct val="80000"/>
              </a:lnSpc>
              <a:buNone/>
              <a:defRPr/>
            </a:pPr>
            <a:endParaRPr lang="fr-CA" altLang="fr-FR" sz="2500" dirty="0"/>
          </a:p>
        </p:txBody>
      </p:sp>
      <p:sp>
        <p:nvSpPr>
          <p:cNvPr id="11268" name="Espace réservé du numéro de diapositive 3">
            <a:extLst>
              <a:ext uri="{FF2B5EF4-FFF2-40B4-BE49-F238E27FC236}">
                <a16:creationId xmlns:a16="http://schemas.microsoft.com/office/drawing/2014/main" id="{532D294E-8C87-43D1-9096-F63E5B791BC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spcBef>
                <a:spcPct val="0"/>
              </a:spcBef>
              <a:buFontTx/>
              <a:buNone/>
            </a:pPr>
            <a:fld id="{B0BF6CD3-A2F4-4062-B57D-074582093432}" type="slidenum">
              <a:rPr lang="fr-FR" altLang="fr-FR" sz="1200">
                <a:solidFill>
                  <a:srgbClr val="898989"/>
                </a:solidFill>
              </a:rPr>
              <a:pPr>
                <a:spcBef>
                  <a:spcPct val="0"/>
                </a:spcBef>
                <a:buFontTx/>
                <a:buNone/>
              </a:pPr>
              <a:t>34</a:t>
            </a:fld>
            <a:endParaRPr lang="fr-FR" altLang="fr-FR" sz="1200">
              <a:solidFill>
                <a:srgbClr val="898989"/>
              </a:solidFill>
            </a:endParaRPr>
          </a:p>
        </p:txBody>
      </p:sp>
      <p:sp>
        <p:nvSpPr>
          <p:cNvPr id="2" name="Espace réservé du pied de page 1">
            <a:extLst>
              <a:ext uri="{FF2B5EF4-FFF2-40B4-BE49-F238E27FC236}">
                <a16:creationId xmlns:a16="http://schemas.microsoft.com/office/drawing/2014/main" id="{C9B8F18D-DBD2-40D3-ABAD-27CADFEBBA36}"/>
              </a:ext>
            </a:extLst>
          </p:cNvPr>
          <p:cNvSpPr>
            <a:spLocks noGrp="1"/>
          </p:cNvSpPr>
          <p:nvPr>
            <p:ph type="ftr" sz="quarter" idx="11"/>
          </p:nvPr>
        </p:nvSpPr>
        <p:spPr/>
        <p:txBody>
          <a:bodyPr/>
          <a:lstStyle/>
          <a:p>
            <a:r>
              <a:rPr lang="fr-FR"/>
              <a:t>Droits réservés - Louise Overbeek</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CE2E356-8ECD-42E8-B592-4FE7BFAC8EC9}"/>
              </a:ext>
            </a:extLst>
          </p:cNvPr>
          <p:cNvSpPr>
            <a:spLocks noGrp="1"/>
          </p:cNvSpPr>
          <p:nvPr>
            <p:ph type="title"/>
          </p:nvPr>
        </p:nvSpPr>
        <p:spPr>
          <a:xfrm>
            <a:off x="838200" y="365126"/>
            <a:ext cx="10515600" cy="223454"/>
          </a:xfrm>
        </p:spPr>
        <p:txBody>
          <a:bodyPr>
            <a:normAutofit fontScale="90000"/>
          </a:bodyPr>
          <a:lstStyle/>
          <a:p>
            <a:r>
              <a:rPr lang="fr-CA" dirty="0"/>
              <a:t>  </a:t>
            </a:r>
            <a:endParaRPr lang="fr-FR" dirty="0"/>
          </a:p>
        </p:txBody>
      </p:sp>
      <p:sp>
        <p:nvSpPr>
          <p:cNvPr id="3" name="Espace réservé du contenu 2">
            <a:extLst>
              <a:ext uri="{FF2B5EF4-FFF2-40B4-BE49-F238E27FC236}">
                <a16:creationId xmlns:a16="http://schemas.microsoft.com/office/drawing/2014/main" id="{A9C7A141-06B7-42DF-9891-A525EC3D84BE}"/>
              </a:ext>
            </a:extLst>
          </p:cNvPr>
          <p:cNvSpPr>
            <a:spLocks noGrp="1"/>
          </p:cNvSpPr>
          <p:nvPr>
            <p:ph idx="1"/>
          </p:nvPr>
        </p:nvSpPr>
        <p:spPr>
          <a:xfrm>
            <a:off x="838200" y="924910"/>
            <a:ext cx="10515600" cy="5423338"/>
          </a:xfrm>
        </p:spPr>
        <p:txBody>
          <a:bodyPr>
            <a:normAutofit/>
          </a:bodyPr>
          <a:lstStyle/>
          <a:p>
            <a:pPr marL="0" indent="0">
              <a:buNone/>
            </a:pPr>
            <a:r>
              <a:rPr lang="fr-CA" sz="2400" dirty="0"/>
              <a:t>20      Le preneur doit </a:t>
            </a:r>
            <a:r>
              <a:rPr lang="fr-CA" sz="2400" u="sng" dirty="0">
                <a:solidFill>
                  <a:srgbClr val="0070C0"/>
                </a:solidFill>
              </a:rPr>
              <a:t>réapprécier</a:t>
            </a:r>
            <a:r>
              <a:rPr lang="fr-CA" sz="2400" dirty="0"/>
              <a:t> s'il a la certitude raisonnable d'exercer une option de prolongation du contrat de location ou de ne pas exercer une option de résiliation du contrat de location, </a:t>
            </a:r>
            <a:r>
              <a:rPr lang="fr-CA" sz="2400" u="sng" dirty="0"/>
              <a:t>s'il se produit un événement ou un changement de circonstances important qui satisfait aux deux conditions suivantes </a:t>
            </a:r>
            <a:r>
              <a:rPr lang="fr-CA" sz="2400" dirty="0"/>
              <a:t>:</a:t>
            </a:r>
          </a:p>
          <a:p>
            <a:pPr marL="0" indent="0">
              <a:buNone/>
            </a:pPr>
            <a:r>
              <a:rPr lang="fr-CA" sz="2400" dirty="0"/>
              <a:t>(a)     il dépend de la volonté du preneur ;</a:t>
            </a:r>
          </a:p>
          <a:p>
            <a:pPr marL="0" indent="0">
              <a:buNone/>
            </a:pPr>
            <a:r>
              <a:rPr lang="fr-CA" sz="2400" dirty="0"/>
              <a:t>(b)     il a une incidence sur la question de savoir si le preneur a la certitude raisonnable d'exercer une option qu'il n'avait pas incluse dans sa détermination de la durée du contrat de location ou de ne pas exercer une option qu'il avait incluse dans cette détermination (voir paragraphe </a:t>
            </a:r>
            <a:r>
              <a:rPr lang="fr-CA" sz="2400" dirty="0">
                <a:hlinkClick r:id="rId2"/>
              </a:rPr>
              <a:t>B41</a:t>
            </a:r>
            <a:r>
              <a:rPr lang="fr-CA" sz="2400" dirty="0"/>
              <a:t>).</a:t>
            </a:r>
          </a:p>
          <a:p>
            <a:pPr marL="0" indent="0">
              <a:buNone/>
            </a:pPr>
            <a:endParaRPr lang="fr-CA" dirty="0"/>
          </a:p>
          <a:p>
            <a:pPr marL="0" indent="0">
              <a:buNone/>
            </a:pPr>
            <a:endParaRPr lang="fr-FR" dirty="0"/>
          </a:p>
        </p:txBody>
      </p:sp>
      <p:sp>
        <p:nvSpPr>
          <p:cNvPr id="4" name="Espace réservé du pied de page 3">
            <a:extLst>
              <a:ext uri="{FF2B5EF4-FFF2-40B4-BE49-F238E27FC236}">
                <a16:creationId xmlns:a16="http://schemas.microsoft.com/office/drawing/2014/main" id="{AC9208E5-D0D7-482A-A4EB-E995199B02DB}"/>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D231B533-CB94-4244-B134-6FF7A028DEFD}"/>
              </a:ext>
            </a:extLst>
          </p:cNvPr>
          <p:cNvSpPr>
            <a:spLocks noGrp="1"/>
          </p:cNvSpPr>
          <p:nvPr>
            <p:ph type="sldNum" sz="quarter" idx="12"/>
          </p:nvPr>
        </p:nvSpPr>
        <p:spPr/>
        <p:txBody>
          <a:bodyPr/>
          <a:lstStyle/>
          <a:p>
            <a:fld id="{C1CF9165-9E3D-452B-A995-87B4F64F5FE5}" type="slidenum">
              <a:rPr lang="fr-FR" smtClean="0"/>
              <a:t>35</a:t>
            </a:fld>
            <a:endParaRPr lang="fr-FR"/>
          </a:p>
        </p:txBody>
      </p:sp>
    </p:spTree>
    <p:extLst>
      <p:ext uri="{BB962C8B-B14F-4D97-AF65-F5344CB8AC3E}">
        <p14:creationId xmlns:p14="http://schemas.microsoft.com/office/powerpoint/2010/main" val="33841477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CE2E356-8ECD-42E8-B592-4FE7BFAC8EC9}"/>
              </a:ext>
            </a:extLst>
          </p:cNvPr>
          <p:cNvSpPr>
            <a:spLocks noGrp="1"/>
          </p:cNvSpPr>
          <p:nvPr>
            <p:ph type="title"/>
          </p:nvPr>
        </p:nvSpPr>
        <p:spPr>
          <a:xfrm>
            <a:off x="838200" y="365126"/>
            <a:ext cx="10515600" cy="223454"/>
          </a:xfrm>
        </p:spPr>
        <p:txBody>
          <a:bodyPr>
            <a:normAutofit fontScale="90000"/>
          </a:bodyPr>
          <a:lstStyle/>
          <a:p>
            <a:r>
              <a:rPr lang="fr-CA" dirty="0"/>
              <a:t>  </a:t>
            </a:r>
            <a:endParaRPr lang="fr-FR" dirty="0"/>
          </a:p>
        </p:txBody>
      </p:sp>
      <p:sp>
        <p:nvSpPr>
          <p:cNvPr id="3" name="Espace réservé du contenu 2">
            <a:extLst>
              <a:ext uri="{FF2B5EF4-FFF2-40B4-BE49-F238E27FC236}">
                <a16:creationId xmlns:a16="http://schemas.microsoft.com/office/drawing/2014/main" id="{A9C7A141-06B7-42DF-9891-A525EC3D84BE}"/>
              </a:ext>
            </a:extLst>
          </p:cNvPr>
          <p:cNvSpPr>
            <a:spLocks noGrp="1"/>
          </p:cNvSpPr>
          <p:nvPr>
            <p:ph idx="1"/>
          </p:nvPr>
        </p:nvSpPr>
        <p:spPr>
          <a:xfrm>
            <a:off x="838200" y="924910"/>
            <a:ext cx="10515600" cy="5423338"/>
          </a:xfrm>
        </p:spPr>
        <p:txBody>
          <a:bodyPr>
            <a:normAutofit/>
          </a:bodyPr>
          <a:lstStyle/>
          <a:p>
            <a:pPr marL="0" indent="0">
              <a:buNone/>
            </a:pPr>
            <a:r>
              <a:rPr lang="fr-CA" sz="2400" dirty="0"/>
              <a:t>21      L'entité doit </a:t>
            </a:r>
            <a:r>
              <a:rPr lang="fr-CA" sz="2400" dirty="0">
                <a:solidFill>
                  <a:srgbClr val="0070C0"/>
                </a:solidFill>
              </a:rPr>
              <a:t>modifier la durée du contrat de location si le temps pour lequel le contrat de location est non résiliable change</a:t>
            </a:r>
            <a:r>
              <a:rPr lang="fr-CA" sz="2400" dirty="0"/>
              <a:t>. Ce sera le cas, par exemple, dans l'une ou l'autre des situations suivantes :</a:t>
            </a:r>
          </a:p>
          <a:p>
            <a:pPr marL="0" indent="0">
              <a:buNone/>
            </a:pPr>
            <a:r>
              <a:rPr lang="fr-CA" sz="2400" dirty="0"/>
              <a:t>(a)     le preneur exerce une option qu'il n'avait pas incluse dans sa détermination de la durée du contrat de location ;</a:t>
            </a:r>
          </a:p>
          <a:p>
            <a:pPr marL="0" indent="0">
              <a:buNone/>
            </a:pPr>
            <a:r>
              <a:rPr lang="fr-CA" sz="2400" dirty="0"/>
              <a:t>(b)     le preneur n'exerce pas une option qu'il avait incluse dans sa détermination de la durée du contrat de location ;</a:t>
            </a:r>
          </a:p>
          <a:p>
            <a:pPr marL="0" indent="0">
              <a:buNone/>
            </a:pPr>
            <a:r>
              <a:rPr lang="fr-CA" sz="2400" dirty="0"/>
              <a:t>(c)     il survient un événement qui oblige contractuellement le preneur à exercer une option qu'il n'avait pas incluse dans sa détermination de la durée du contrat de location ;</a:t>
            </a:r>
          </a:p>
          <a:p>
            <a:pPr marL="0" indent="0">
              <a:buNone/>
            </a:pPr>
            <a:r>
              <a:rPr lang="fr-CA" sz="2400" dirty="0"/>
              <a:t>(d)     il survient un événement qui interdit contractuellement au preneur d'exercer une option qu'il avait incluse dans sa détermination de la durée du contrat de location.</a:t>
            </a:r>
          </a:p>
          <a:p>
            <a:pPr marL="0" indent="0">
              <a:buNone/>
            </a:pPr>
            <a:endParaRPr lang="fr-FR" dirty="0"/>
          </a:p>
        </p:txBody>
      </p:sp>
      <p:sp>
        <p:nvSpPr>
          <p:cNvPr id="4" name="Espace réservé du pied de page 3">
            <a:extLst>
              <a:ext uri="{FF2B5EF4-FFF2-40B4-BE49-F238E27FC236}">
                <a16:creationId xmlns:a16="http://schemas.microsoft.com/office/drawing/2014/main" id="{9B999ECF-B808-4412-A03B-DD6FB33B4761}"/>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9AD38AD2-B0D8-444B-8DBB-AA515D65A8A4}"/>
              </a:ext>
            </a:extLst>
          </p:cNvPr>
          <p:cNvSpPr>
            <a:spLocks noGrp="1"/>
          </p:cNvSpPr>
          <p:nvPr>
            <p:ph type="sldNum" sz="quarter" idx="12"/>
          </p:nvPr>
        </p:nvSpPr>
        <p:spPr/>
        <p:txBody>
          <a:bodyPr/>
          <a:lstStyle/>
          <a:p>
            <a:fld id="{C1CF9165-9E3D-452B-A995-87B4F64F5FE5}" type="slidenum">
              <a:rPr lang="fr-FR" smtClean="0"/>
              <a:t>36</a:t>
            </a:fld>
            <a:endParaRPr lang="fr-FR"/>
          </a:p>
        </p:txBody>
      </p:sp>
    </p:spTree>
    <p:extLst>
      <p:ext uri="{BB962C8B-B14F-4D97-AF65-F5344CB8AC3E}">
        <p14:creationId xmlns:p14="http://schemas.microsoft.com/office/powerpoint/2010/main" val="7826925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20BB13-CD97-4290-A49D-160C5E4A2BA2}"/>
              </a:ext>
            </a:extLst>
          </p:cNvPr>
          <p:cNvSpPr>
            <a:spLocks noGrp="1"/>
          </p:cNvSpPr>
          <p:nvPr>
            <p:ph type="title"/>
          </p:nvPr>
        </p:nvSpPr>
        <p:spPr>
          <a:xfrm>
            <a:off x="838200" y="365125"/>
            <a:ext cx="10515600" cy="762635"/>
          </a:xfrm>
        </p:spPr>
        <p:txBody>
          <a:bodyPr/>
          <a:lstStyle/>
          <a:p>
            <a:r>
              <a:rPr lang="fr-CA" sz="3600" b="1" dirty="0"/>
              <a:t>Durée du contrat de location   </a:t>
            </a:r>
            <a:r>
              <a:rPr lang="fr-CA" sz="2800" dirty="0"/>
              <a:t>IFRS 16 – Annexe B</a:t>
            </a:r>
            <a:endParaRPr lang="fr-FR" dirty="0"/>
          </a:p>
        </p:txBody>
      </p:sp>
      <p:sp>
        <p:nvSpPr>
          <p:cNvPr id="3" name="Espace réservé du contenu 2">
            <a:extLst>
              <a:ext uri="{FF2B5EF4-FFF2-40B4-BE49-F238E27FC236}">
                <a16:creationId xmlns:a16="http://schemas.microsoft.com/office/drawing/2014/main" id="{2EB0B5BF-8EF0-4B2D-8F90-21CE00302946}"/>
              </a:ext>
            </a:extLst>
          </p:cNvPr>
          <p:cNvSpPr>
            <a:spLocks noGrp="1"/>
          </p:cNvSpPr>
          <p:nvPr>
            <p:ph idx="1"/>
          </p:nvPr>
        </p:nvSpPr>
        <p:spPr>
          <a:xfrm>
            <a:off x="838200" y="1503680"/>
            <a:ext cx="10515600" cy="4673283"/>
          </a:xfrm>
        </p:spPr>
        <p:txBody>
          <a:bodyPr>
            <a:normAutofit fontScale="92500" lnSpcReduction="20000"/>
          </a:bodyPr>
          <a:lstStyle/>
          <a:p>
            <a:pPr marL="0" indent="0">
              <a:buNone/>
            </a:pPr>
            <a:r>
              <a:rPr lang="fr-CA" dirty="0"/>
              <a:t>B34     Pour évaluer la durée de l'intervalle de temps durant lequel le contrat de location est non résiliable afin de déterminer la durée du contrat de location, l'entité doit appliquer la définition d'un contrat et déterminer l'intervalle de temps durant lequel le contrat est exécutoire</a:t>
            </a:r>
            <a:r>
              <a:rPr lang="fr-CA" dirty="0">
                <a:solidFill>
                  <a:srgbClr val="FF0000"/>
                </a:solidFill>
              </a:rPr>
              <a:t>. Le contrat de location </a:t>
            </a:r>
            <a:r>
              <a:rPr lang="fr-CA" dirty="0">
                <a:highlight>
                  <a:srgbClr val="FFFF00"/>
                </a:highlight>
              </a:rPr>
              <a:t>n'est plus exécutoire </a:t>
            </a:r>
            <a:r>
              <a:rPr lang="fr-CA" dirty="0"/>
              <a:t>lorsque le preneur et le bailleur ont chacun le droit de le résilier sans la permission de l'autre partie et en ne s'exposant tout au plus qu'à une pénalité négligeable.</a:t>
            </a:r>
          </a:p>
          <a:p>
            <a:pPr marL="0" indent="0">
              <a:buNone/>
            </a:pPr>
            <a:endParaRPr lang="fr-CA" dirty="0"/>
          </a:p>
          <a:p>
            <a:pPr marL="0" indent="0">
              <a:buNone/>
            </a:pPr>
            <a:r>
              <a:rPr lang="fr-CA" dirty="0"/>
              <a:t>B35     Si seul le preneur a le droit de résilier le contrat de location, on considère que ce droit est une option de résiliation dont le preneur peut se prévaloir et l'entité doit prendre cette option en considération lorsqu'elle détermine la durée du contrat de location. Si seul le bailleur a le droit de résilier le contrat de location, l'intervalle de temps durant lequel le contrat de location est non résiliable comprend l'intervalle visé par l'option de résiliation du contrat de location.</a:t>
            </a:r>
          </a:p>
          <a:p>
            <a:endParaRPr lang="fr-FR" dirty="0"/>
          </a:p>
        </p:txBody>
      </p:sp>
      <p:sp>
        <p:nvSpPr>
          <p:cNvPr id="4" name="Espace réservé du pied de page 3">
            <a:extLst>
              <a:ext uri="{FF2B5EF4-FFF2-40B4-BE49-F238E27FC236}">
                <a16:creationId xmlns:a16="http://schemas.microsoft.com/office/drawing/2014/main" id="{38828AB0-56E6-4C46-A9E7-199D325436EB}"/>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B30C8400-AA65-4D80-A859-E809EA0FF209}"/>
              </a:ext>
            </a:extLst>
          </p:cNvPr>
          <p:cNvSpPr>
            <a:spLocks noGrp="1"/>
          </p:cNvSpPr>
          <p:nvPr>
            <p:ph type="sldNum" sz="quarter" idx="12"/>
          </p:nvPr>
        </p:nvSpPr>
        <p:spPr/>
        <p:txBody>
          <a:bodyPr/>
          <a:lstStyle/>
          <a:p>
            <a:fld id="{C1CF9165-9E3D-452B-A995-87B4F64F5FE5}" type="slidenum">
              <a:rPr lang="fr-FR" smtClean="0"/>
              <a:t>37</a:t>
            </a:fld>
            <a:endParaRPr lang="fr-FR"/>
          </a:p>
        </p:txBody>
      </p:sp>
    </p:spTree>
    <p:extLst>
      <p:ext uri="{BB962C8B-B14F-4D97-AF65-F5344CB8AC3E}">
        <p14:creationId xmlns:p14="http://schemas.microsoft.com/office/powerpoint/2010/main" val="415641726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20BB13-CD97-4290-A49D-160C5E4A2BA2}"/>
              </a:ext>
            </a:extLst>
          </p:cNvPr>
          <p:cNvSpPr>
            <a:spLocks noGrp="1"/>
          </p:cNvSpPr>
          <p:nvPr>
            <p:ph type="title"/>
          </p:nvPr>
        </p:nvSpPr>
        <p:spPr>
          <a:xfrm>
            <a:off x="838200" y="365125"/>
            <a:ext cx="10515600" cy="762635"/>
          </a:xfrm>
        </p:spPr>
        <p:txBody>
          <a:bodyPr/>
          <a:lstStyle/>
          <a:p>
            <a:r>
              <a:rPr lang="fr-CA" sz="4000" b="1" dirty="0"/>
              <a:t>Durée du contrat de location - </a:t>
            </a:r>
            <a:r>
              <a:rPr lang="fr-CA" sz="4000" b="1" i="1" dirty="0"/>
              <a:t>suite</a:t>
            </a:r>
            <a:endParaRPr lang="fr-FR" dirty="0"/>
          </a:p>
        </p:txBody>
      </p:sp>
      <p:sp>
        <p:nvSpPr>
          <p:cNvPr id="3" name="Espace réservé du contenu 2">
            <a:extLst>
              <a:ext uri="{FF2B5EF4-FFF2-40B4-BE49-F238E27FC236}">
                <a16:creationId xmlns:a16="http://schemas.microsoft.com/office/drawing/2014/main" id="{2EB0B5BF-8EF0-4B2D-8F90-21CE00302946}"/>
              </a:ext>
            </a:extLst>
          </p:cNvPr>
          <p:cNvSpPr>
            <a:spLocks noGrp="1"/>
          </p:cNvSpPr>
          <p:nvPr>
            <p:ph idx="1"/>
          </p:nvPr>
        </p:nvSpPr>
        <p:spPr>
          <a:xfrm>
            <a:off x="838200" y="1574800"/>
            <a:ext cx="10515600" cy="4602163"/>
          </a:xfrm>
        </p:spPr>
        <p:txBody>
          <a:bodyPr>
            <a:normAutofit/>
          </a:bodyPr>
          <a:lstStyle/>
          <a:p>
            <a:pPr marL="0" indent="0">
              <a:buNone/>
            </a:pPr>
            <a:r>
              <a:rPr lang="fr-CA" dirty="0"/>
              <a:t>B36     La durée du contrat de location commence à la date de début et comprend tout </a:t>
            </a:r>
            <a:r>
              <a:rPr lang="fr-CA" dirty="0">
                <a:highlight>
                  <a:srgbClr val="FFFF00"/>
                </a:highlight>
              </a:rPr>
              <a:t>intervalle</a:t>
            </a:r>
            <a:r>
              <a:rPr lang="fr-CA" dirty="0"/>
              <a:t> de temps durant lequel le bailleur permet au preneur d'utiliser le bien gratuitement.</a:t>
            </a:r>
            <a:endParaRPr lang="fr-FR" dirty="0"/>
          </a:p>
        </p:txBody>
      </p:sp>
      <p:sp>
        <p:nvSpPr>
          <p:cNvPr id="4" name="Espace réservé du pied de page 3">
            <a:extLst>
              <a:ext uri="{FF2B5EF4-FFF2-40B4-BE49-F238E27FC236}">
                <a16:creationId xmlns:a16="http://schemas.microsoft.com/office/drawing/2014/main" id="{A77E9735-12FC-461B-9305-B623FCEB1446}"/>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87829F4C-E9B1-49C7-B5D6-5BBD9382C93A}"/>
              </a:ext>
            </a:extLst>
          </p:cNvPr>
          <p:cNvSpPr>
            <a:spLocks noGrp="1"/>
          </p:cNvSpPr>
          <p:nvPr>
            <p:ph type="sldNum" sz="quarter" idx="12"/>
          </p:nvPr>
        </p:nvSpPr>
        <p:spPr/>
        <p:txBody>
          <a:bodyPr/>
          <a:lstStyle/>
          <a:p>
            <a:fld id="{C1CF9165-9E3D-452B-A995-87B4F64F5FE5}" type="slidenum">
              <a:rPr lang="fr-FR" smtClean="0"/>
              <a:t>38</a:t>
            </a:fld>
            <a:endParaRPr lang="fr-FR"/>
          </a:p>
        </p:txBody>
      </p:sp>
    </p:spTree>
    <p:extLst>
      <p:ext uri="{BB962C8B-B14F-4D97-AF65-F5344CB8AC3E}">
        <p14:creationId xmlns:p14="http://schemas.microsoft.com/office/powerpoint/2010/main" val="21581124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20BB13-CD97-4290-A49D-160C5E4A2BA2}"/>
              </a:ext>
            </a:extLst>
          </p:cNvPr>
          <p:cNvSpPr>
            <a:spLocks noGrp="1"/>
          </p:cNvSpPr>
          <p:nvPr>
            <p:ph type="title"/>
          </p:nvPr>
        </p:nvSpPr>
        <p:spPr>
          <a:xfrm>
            <a:off x="838200" y="365125"/>
            <a:ext cx="10515600" cy="254635"/>
          </a:xfrm>
        </p:spPr>
        <p:txBody>
          <a:bodyPr>
            <a:normAutofit fontScale="90000"/>
          </a:bodyPr>
          <a:lstStyle/>
          <a:p>
            <a:r>
              <a:rPr lang="fr-CA" sz="4000" b="1" dirty="0"/>
              <a:t>Durée du contrat de location - </a:t>
            </a:r>
            <a:r>
              <a:rPr lang="fr-CA" sz="4000" b="1" i="1" dirty="0"/>
              <a:t>suite</a:t>
            </a:r>
            <a:endParaRPr lang="fr-FR" dirty="0"/>
          </a:p>
        </p:txBody>
      </p:sp>
      <p:sp>
        <p:nvSpPr>
          <p:cNvPr id="3" name="Espace réservé du contenu 2">
            <a:extLst>
              <a:ext uri="{FF2B5EF4-FFF2-40B4-BE49-F238E27FC236}">
                <a16:creationId xmlns:a16="http://schemas.microsoft.com/office/drawing/2014/main" id="{2EB0B5BF-8EF0-4B2D-8F90-21CE00302946}"/>
              </a:ext>
            </a:extLst>
          </p:cNvPr>
          <p:cNvSpPr>
            <a:spLocks noGrp="1"/>
          </p:cNvSpPr>
          <p:nvPr>
            <p:ph idx="1"/>
          </p:nvPr>
        </p:nvSpPr>
        <p:spPr>
          <a:xfrm>
            <a:off x="838200" y="792480"/>
            <a:ext cx="10515600" cy="5852160"/>
          </a:xfrm>
        </p:spPr>
        <p:txBody>
          <a:bodyPr>
            <a:normAutofit fontScale="62500" lnSpcReduction="20000"/>
          </a:bodyPr>
          <a:lstStyle/>
          <a:p>
            <a:pPr marL="0" indent="0">
              <a:buNone/>
            </a:pPr>
            <a:r>
              <a:rPr lang="fr-CA" dirty="0"/>
              <a:t>B37     </a:t>
            </a:r>
            <a:r>
              <a:rPr lang="fr-CA" sz="3800" dirty="0"/>
              <a:t>À la date de début, l'entité apprécie si le preneur a la certitude raisonnable d'exercer une option de prolongation du contrat de location ou une option d'achat du bien sous-jacent, ou de ne pas exercer une option de résiliation du contrat de location. L'entité tient compte de tous les faits et circonstances pertinents faisant que le </a:t>
            </a:r>
            <a:r>
              <a:rPr lang="fr-CA" sz="3800" u="sng" dirty="0">
                <a:solidFill>
                  <a:srgbClr val="0070C0"/>
                </a:solidFill>
              </a:rPr>
              <a:t>preneur a un avantage économique à exercer une option ou à ne pas l'exercer</a:t>
            </a:r>
            <a:r>
              <a:rPr lang="fr-CA" sz="3800" dirty="0"/>
              <a:t>, y compris les changements dans les faits et circonstances attendus entre la date de début et la date d'exercice de cette option. Voici une liste non exhaustive d'exemples de facteurs à prendre en compte :</a:t>
            </a:r>
          </a:p>
          <a:p>
            <a:pPr marL="0" indent="0">
              <a:buNone/>
            </a:pPr>
            <a:r>
              <a:rPr lang="fr-CA" sz="3600" dirty="0"/>
              <a:t>(a)     les termes et conditions contractuels pour les intervalles de temps visés par l'option (périodes optionnelles) par rapport aux taux du marché, par exemple :</a:t>
            </a:r>
          </a:p>
          <a:p>
            <a:pPr marL="720725" indent="-365125">
              <a:spcBef>
                <a:spcPts val="0"/>
              </a:spcBef>
              <a:buNone/>
            </a:pPr>
            <a:r>
              <a:rPr lang="fr-CA" sz="3600" dirty="0"/>
              <a:t>(i)     le montant des paiements de loyers au cours des périodes optionnelles,</a:t>
            </a:r>
          </a:p>
          <a:p>
            <a:pPr marL="720725" indent="-365125">
              <a:spcBef>
                <a:spcPts val="0"/>
              </a:spcBef>
              <a:buNone/>
            </a:pPr>
            <a:r>
              <a:rPr lang="fr-CA" sz="3600" dirty="0"/>
              <a:t>(ii)    le montant des paiements de loyers variables ou d'autres paiements conditionnels tels que les paiements au titre des pénalités relatives à la résiliation du contrat de location et des garanties de valeur résiduelle,</a:t>
            </a:r>
          </a:p>
          <a:p>
            <a:pPr marL="720725" indent="-365125">
              <a:spcBef>
                <a:spcPts val="0"/>
              </a:spcBef>
              <a:buNone/>
            </a:pPr>
            <a:r>
              <a:rPr lang="fr-CA" sz="3600" dirty="0"/>
              <a:t>(iii)   les termes et conditions des options qui sont exerçables au terme des périodes optionnelles initiales (par exemple, une option d'achat qui est exerçable au terme de la période de prolongation à un taux inférieur aux taux actuels du marché) ;</a:t>
            </a:r>
          </a:p>
          <a:p>
            <a:pPr marL="0" indent="0">
              <a:buNone/>
            </a:pPr>
            <a:r>
              <a:rPr lang="fr-CA" sz="3600" dirty="0"/>
              <a:t>(b)     les aménagements importants de locaux loués entrepris (ou qu'il est prévu d'entreprendre) au cours de la durée du contrat et dont le preneur s'attend à tirer un avantage économique important lorsque l'option de prolongation ou de résiliation du contrat de location ou encore l'option d'achat du bien sous-jacent seront exerçables ;</a:t>
            </a:r>
          </a:p>
          <a:p>
            <a:pPr marL="0" indent="0">
              <a:buNone/>
            </a:pPr>
            <a:endParaRPr lang="fr-CA" sz="3600" dirty="0"/>
          </a:p>
        </p:txBody>
      </p:sp>
      <p:sp>
        <p:nvSpPr>
          <p:cNvPr id="4" name="Espace réservé du pied de page 3">
            <a:extLst>
              <a:ext uri="{FF2B5EF4-FFF2-40B4-BE49-F238E27FC236}">
                <a16:creationId xmlns:a16="http://schemas.microsoft.com/office/drawing/2014/main" id="{9D5D05EA-52DA-414E-8C77-3C0C03F2C8C8}"/>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DBFEE8C0-091E-48F6-A8DC-B2B54F0338FA}"/>
              </a:ext>
            </a:extLst>
          </p:cNvPr>
          <p:cNvSpPr>
            <a:spLocks noGrp="1"/>
          </p:cNvSpPr>
          <p:nvPr>
            <p:ph type="sldNum" sz="quarter" idx="12"/>
          </p:nvPr>
        </p:nvSpPr>
        <p:spPr/>
        <p:txBody>
          <a:bodyPr/>
          <a:lstStyle/>
          <a:p>
            <a:fld id="{C1CF9165-9E3D-452B-A995-87B4F64F5FE5}" type="slidenum">
              <a:rPr lang="fr-FR" smtClean="0"/>
              <a:t>39</a:t>
            </a:fld>
            <a:endParaRPr lang="fr-FR"/>
          </a:p>
        </p:txBody>
      </p:sp>
    </p:spTree>
    <p:extLst>
      <p:ext uri="{BB962C8B-B14F-4D97-AF65-F5344CB8AC3E}">
        <p14:creationId xmlns:p14="http://schemas.microsoft.com/office/powerpoint/2010/main" val="407217083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20BB13-CD97-4290-A49D-160C5E4A2BA2}"/>
              </a:ext>
            </a:extLst>
          </p:cNvPr>
          <p:cNvSpPr>
            <a:spLocks noGrp="1"/>
          </p:cNvSpPr>
          <p:nvPr>
            <p:ph type="title"/>
          </p:nvPr>
        </p:nvSpPr>
        <p:spPr>
          <a:xfrm>
            <a:off x="838200" y="365125"/>
            <a:ext cx="10515600" cy="254635"/>
          </a:xfrm>
        </p:spPr>
        <p:txBody>
          <a:bodyPr>
            <a:normAutofit fontScale="90000"/>
          </a:bodyPr>
          <a:lstStyle/>
          <a:p>
            <a:r>
              <a:rPr lang="fr-CA" sz="4000" b="1" dirty="0"/>
              <a:t>Durée du contrat de location - </a:t>
            </a:r>
            <a:r>
              <a:rPr lang="fr-CA" sz="4000" b="1" i="1" dirty="0"/>
              <a:t>suite</a:t>
            </a:r>
            <a:endParaRPr lang="fr-FR" dirty="0"/>
          </a:p>
        </p:txBody>
      </p:sp>
      <p:sp>
        <p:nvSpPr>
          <p:cNvPr id="3" name="Espace réservé du contenu 2">
            <a:extLst>
              <a:ext uri="{FF2B5EF4-FFF2-40B4-BE49-F238E27FC236}">
                <a16:creationId xmlns:a16="http://schemas.microsoft.com/office/drawing/2014/main" id="{2EB0B5BF-8EF0-4B2D-8F90-21CE00302946}"/>
              </a:ext>
            </a:extLst>
          </p:cNvPr>
          <p:cNvSpPr>
            <a:spLocks noGrp="1"/>
          </p:cNvSpPr>
          <p:nvPr>
            <p:ph idx="1"/>
          </p:nvPr>
        </p:nvSpPr>
        <p:spPr>
          <a:xfrm>
            <a:off x="838200" y="792480"/>
            <a:ext cx="10515600" cy="5852160"/>
          </a:xfrm>
        </p:spPr>
        <p:txBody>
          <a:bodyPr>
            <a:normAutofit/>
          </a:bodyPr>
          <a:lstStyle/>
          <a:p>
            <a:pPr marL="0" indent="0">
              <a:buNone/>
            </a:pPr>
            <a:r>
              <a:rPr lang="fr-CA" sz="2300" i="1" dirty="0"/>
              <a:t>(suite)</a:t>
            </a:r>
          </a:p>
          <a:p>
            <a:pPr marL="0" indent="0">
              <a:buNone/>
            </a:pPr>
            <a:endParaRPr lang="fr-CA" sz="1000" dirty="0"/>
          </a:p>
          <a:p>
            <a:pPr marL="0" indent="0">
              <a:buNone/>
            </a:pPr>
            <a:r>
              <a:rPr lang="fr-CA" sz="2300" dirty="0"/>
              <a:t>(c)     les coûts relatifs à la résiliation du contrat de location, tels que les coûts de négociation, les coûts de déménagement, les coûts relatifs à la recherche d'un autre bien sous-jacent adapté aux besoins du preneur, les coûts relatifs à l'intégration d'un nouveau bien aux activités du preneur ainsi que les pénalités relatives à la résiliation du contrat de location et les autres coûts semblables, dont les coûts associés à l'obligation de rendre le bien sous-jacent dans l'état (ou au lieu) contractuellement spécifié ;</a:t>
            </a:r>
          </a:p>
          <a:p>
            <a:pPr marL="0" indent="0">
              <a:buNone/>
            </a:pPr>
            <a:r>
              <a:rPr lang="fr-CA" sz="2300" dirty="0"/>
              <a:t>(d)     l'importance que présente le bien sous-jacent pour les activités du preneur, compte tenu, par exemple, de sa nature spécifique ou non, de l'endroit où il se trouve et de la disponibilité de solutions de rechange valables ;</a:t>
            </a:r>
          </a:p>
          <a:p>
            <a:pPr marL="0" indent="0">
              <a:buNone/>
            </a:pPr>
            <a:r>
              <a:rPr lang="fr-CA" sz="2300" dirty="0"/>
              <a:t>(e)     la conditionnalité liée à l'exercice de l'option (c'est-à-dire lorsque l'option ne peut être exercée que si une ou plusieurs conditions sont remplies) et la probabilité que les conditions soient remplies.</a:t>
            </a:r>
          </a:p>
        </p:txBody>
      </p:sp>
      <p:sp>
        <p:nvSpPr>
          <p:cNvPr id="4" name="Espace réservé du pied de page 3">
            <a:extLst>
              <a:ext uri="{FF2B5EF4-FFF2-40B4-BE49-F238E27FC236}">
                <a16:creationId xmlns:a16="http://schemas.microsoft.com/office/drawing/2014/main" id="{ED65E7C0-A2E9-44A6-95A0-AC7B9BDAA2BC}"/>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0FB517C2-1E49-4559-82C3-479C8112ED69}"/>
              </a:ext>
            </a:extLst>
          </p:cNvPr>
          <p:cNvSpPr>
            <a:spLocks noGrp="1"/>
          </p:cNvSpPr>
          <p:nvPr>
            <p:ph type="sldNum" sz="quarter" idx="12"/>
          </p:nvPr>
        </p:nvSpPr>
        <p:spPr/>
        <p:txBody>
          <a:bodyPr/>
          <a:lstStyle/>
          <a:p>
            <a:fld id="{C1CF9165-9E3D-452B-A995-87B4F64F5FE5}" type="slidenum">
              <a:rPr lang="fr-FR" smtClean="0"/>
              <a:t>40</a:t>
            </a:fld>
            <a:endParaRPr lang="fr-FR"/>
          </a:p>
        </p:txBody>
      </p:sp>
    </p:spTree>
    <p:extLst>
      <p:ext uri="{BB962C8B-B14F-4D97-AF65-F5344CB8AC3E}">
        <p14:creationId xmlns:p14="http://schemas.microsoft.com/office/powerpoint/2010/main" val="18587895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20BB13-CD97-4290-A49D-160C5E4A2BA2}"/>
              </a:ext>
            </a:extLst>
          </p:cNvPr>
          <p:cNvSpPr>
            <a:spLocks noGrp="1"/>
          </p:cNvSpPr>
          <p:nvPr>
            <p:ph type="title"/>
          </p:nvPr>
        </p:nvSpPr>
        <p:spPr>
          <a:xfrm>
            <a:off x="838200" y="365125"/>
            <a:ext cx="10515600" cy="762635"/>
          </a:xfrm>
        </p:spPr>
        <p:txBody>
          <a:bodyPr>
            <a:normAutofit/>
          </a:bodyPr>
          <a:lstStyle/>
          <a:p>
            <a:r>
              <a:rPr lang="fr-CA" sz="3600" b="1" dirty="0"/>
              <a:t>Durée du contrat de location - </a:t>
            </a:r>
            <a:r>
              <a:rPr lang="fr-CA" sz="3600" b="1" i="1" dirty="0"/>
              <a:t>suite</a:t>
            </a:r>
            <a:endParaRPr lang="fr-FR" sz="4000" i="1" dirty="0"/>
          </a:p>
        </p:txBody>
      </p:sp>
      <p:sp>
        <p:nvSpPr>
          <p:cNvPr id="3" name="Espace réservé du contenu 2">
            <a:extLst>
              <a:ext uri="{FF2B5EF4-FFF2-40B4-BE49-F238E27FC236}">
                <a16:creationId xmlns:a16="http://schemas.microsoft.com/office/drawing/2014/main" id="{2EB0B5BF-8EF0-4B2D-8F90-21CE00302946}"/>
              </a:ext>
            </a:extLst>
          </p:cNvPr>
          <p:cNvSpPr>
            <a:spLocks noGrp="1"/>
          </p:cNvSpPr>
          <p:nvPr>
            <p:ph idx="1"/>
          </p:nvPr>
        </p:nvSpPr>
        <p:spPr>
          <a:xfrm>
            <a:off x="838200" y="1361440"/>
            <a:ext cx="10515600" cy="4815523"/>
          </a:xfrm>
        </p:spPr>
        <p:txBody>
          <a:bodyPr>
            <a:normAutofit fontScale="92500" lnSpcReduction="20000"/>
          </a:bodyPr>
          <a:lstStyle/>
          <a:p>
            <a:pPr marL="0" indent="0">
              <a:buNone/>
            </a:pPr>
            <a:r>
              <a:rPr lang="fr-CA" dirty="0"/>
              <a:t>B38     Une option de prolongation ou de résiliation d'un contrat de location peut être combinée avec une ou plusieurs autres modalités contractuelles </a:t>
            </a:r>
            <a:r>
              <a:rPr lang="fr-CA" u="sng" dirty="0">
                <a:solidFill>
                  <a:srgbClr val="0070C0"/>
                </a:solidFill>
              </a:rPr>
              <a:t>(par exemple, une garantie de valeur résiduelle) de telle sorte que le preneur garantit au bailleur le paiement d'une somme minimale ou fixe qui sera substantiellement identique que l'option soit exercée ou non</a:t>
            </a:r>
            <a:r>
              <a:rPr lang="fr-CA" dirty="0"/>
              <a:t>. Dans un tel cas, nonobstant les indications sur les paiements fixes en substance énoncées au paragraphe </a:t>
            </a:r>
            <a:r>
              <a:rPr lang="fr-CA" dirty="0">
                <a:hlinkClick r:id="rId2"/>
              </a:rPr>
              <a:t>B42</a:t>
            </a:r>
            <a:r>
              <a:rPr lang="fr-CA" dirty="0"/>
              <a:t>, </a:t>
            </a:r>
            <a:r>
              <a:rPr lang="fr-CA" dirty="0">
                <a:solidFill>
                  <a:srgbClr val="0070C0"/>
                </a:solidFill>
              </a:rPr>
              <a:t>l'entité doit présumer que le preneur a la certitude raisonnable d'exercer l'option de prolongation du contrat de location ou de ne pas exercer l'option de résiliation du contrat de location</a:t>
            </a:r>
            <a:r>
              <a:rPr lang="fr-CA" dirty="0"/>
              <a:t>.</a:t>
            </a:r>
          </a:p>
          <a:p>
            <a:pPr marL="0" indent="0">
              <a:buNone/>
            </a:pPr>
            <a:endParaRPr lang="fr-CA" dirty="0"/>
          </a:p>
          <a:p>
            <a:pPr marL="0" indent="0">
              <a:buNone/>
            </a:pPr>
            <a:r>
              <a:rPr lang="fr-CA" dirty="0"/>
              <a:t>B39     Plus le temps pour lequel le contrat de location est non résiliable est court, plus il est probable qu'une option de prolongation du contrat de location soit exercée ou qu'une option de résiliation du contrat de location ne soit pas exercée. Car les coûts relatifs à l'obtention d'un bien de remplacement risquent d'être d'autant plus importants que l'intervalle de temps non résiliable est court.</a:t>
            </a:r>
          </a:p>
        </p:txBody>
      </p:sp>
      <p:sp>
        <p:nvSpPr>
          <p:cNvPr id="4" name="Espace réservé du pied de page 3">
            <a:extLst>
              <a:ext uri="{FF2B5EF4-FFF2-40B4-BE49-F238E27FC236}">
                <a16:creationId xmlns:a16="http://schemas.microsoft.com/office/drawing/2014/main" id="{0EA60113-1CB7-44AC-BFF6-E95922673D82}"/>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934F59CA-453B-4659-981A-5913449EF247}"/>
              </a:ext>
            </a:extLst>
          </p:cNvPr>
          <p:cNvSpPr>
            <a:spLocks noGrp="1"/>
          </p:cNvSpPr>
          <p:nvPr>
            <p:ph type="sldNum" sz="quarter" idx="12"/>
          </p:nvPr>
        </p:nvSpPr>
        <p:spPr/>
        <p:txBody>
          <a:bodyPr/>
          <a:lstStyle/>
          <a:p>
            <a:fld id="{C1CF9165-9E3D-452B-A995-87B4F64F5FE5}" type="slidenum">
              <a:rPr lang="fr-FR" smtClean="0"/>
              <a:t>41</a:t>
            </a:fld>
            <a:endParaRPr lang="fr-FR"/>
          </a:p>
        </p:txBody>
      </p:sp>
    </p:spTree>
    <p:extLst>
      <p:ext uri="{BB962C8B-B14F-4D97-AF65-F5344CB8AC3E}">
        <p14:creationId xmlns:p14="http://schemas.microsoft.com/office/powerpoint/2010/main" val="14022184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20BB13-CD97-4290-A49D-160C5E4A2BA2}"/>
              </a:ext>
            </a:extLst>
          </p:cNvPr>
          <p:cNvSpPr>
            <a:spLocks noGrp="1"/>
          </p:cNvSpPr>
          <p:nvPr>
            <p:ph type="title"/>
          </p:nvPr>
        </p:nvSpPr>
        <p:spPr>
          <a:xfrm>
            <a:off x="838200" y="365125"/>
            <a:ext cx="10515600" cy="386715"/>
          </a:xfrm>
        </p:spPr>
        <p:txBody>
          <a:bodyPr>
            <a:normAutofit fontScale="90000"/>
          </a:bodyPr>
          <a:lstStyle/>
          <a:p>
            <a:r>
              <a:rPr lang="fr-CA" sz="4000" b="1" dirty="0"/>
              <a:t>Durée du contrat de location </a:t>
            </a:r>
            <a:r>
              <a:rPr lang="fr-CA" sz="3600" b="1" dirty="0"/>
              <a:t>- </a:t>
            </a:r>
            <a:r>
              <a:rPr lang="fr-CA" sz="3600" b="1" i="1" dirty="0"/>
              <a:t> suite</a:t>
            </a:r>
            <a:endParaRPr lang="fr-FR" sz="4000" dirty="0"/>
          </a:p>
        </p:txBody>
      </p:sp>
      <p:sp>
        <p:nvSpPr>
          <p:cNvPr id="3" name="Espace réservé du contenu 2">
            <a:extLst>
              <a:ext uri="{FF2B5EF4-FFF2-40B4-BE49-F238E27FC236}">
                <a16:creationId xmlns:a16="http://schemas.microsoft.com/office/drawing/2014/main" id="{2EB0B5BF-8EF0-4B2D-8F90-21CE00302946}"/>
              </a:ext>
            </a:extLst>
          </p:cNvPr>
          <p:cNvSpPr>
            <a:spLocks noGrp="1"/>
          </p:cNvSpPr>
          <p:nvPr>
            <p:ph idx="1"/>
          </p:nvPr>
        </p:nvSpPr>
        <p:spPr>
          <a:xfrm>
            <a:off x="838200" y="1198881"/>
            <a:ext cx="10515600" cy="5069840"/>
          </a:xfrm>
        </p:spPr>
        <p:txBody>
          <a:bodyPr>
            <a:normAutofit/>
          </a:bodyPr>
          <a:lstStyle/>
          <a:p>
            <a:pPr marL="0" indent="0">
              <a:buNone/>
            </a:pPr>
            <a:r>
              <a:rPr lang="fr-CA" sz="2400" dirty="0"/>
              <a:t>B40     La durée pendant laquelle le preneur a généralement utilisé des types particuliers de biens (loués ou détenus en propre) auparavant et les raisons économiques sous-jacentes peuvent constituer des informations utiles pour déterminer si le preneur a la certitude raisonnable d'exercer une option ou de ne pas l'exercer. Par exemple, si le preneur utilise généralement un type particulier de biens durant un intervalle de temps donné ou s'il a l'habitude d'exercer les options prévues dans les contrats de location d'un type particulier de biens sous-jacents, il doit tenir compte des raisons économiques sous-tendant ces pratiques lorsqu'il détermine s'il a la certitude raisonnable d'exercer une option prévue dans un contrat de location de ce type de biens.</a:t>
            </a:r>
          </a:p>
          <a:p>
            <a:pPr marL="0" indent="0">
              <a:buNone/>
            </a:pPr>
            <a:endParaRPr lang="fr-CA" sz="1600" dirty="0"/>
          </a:p>
        </p:txBody>
      </p:sp>
      <p:sp>
        <p:nvSpPr>
          <p:cNvPr id="4" name="Espace réservé du pied de page 3">
            <a:extLst>
              <a:ext uri="{FF2B5EF4-FFF2-40B4-BE49-F238E27FC236}">
                <a16:creationId xmlns:a16="http://schemas.microsoft.com/office/drawing/2014/main" id="{BA0DC045-33CB-4FAA-B04D-83F8BDCE6EBC}"/>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7ED9504C-4332-418A-9D23-5B02F5E5C753}"/>
              </a:ext>
            </a:extLst>
          </p:cNvPr>
          <p:cNvSpPr>
            <a:spLocks noGrp="1"/>
          </p:cNvSpPr>
          <p:nvPr>
            <p:ph type="sldNum" sz="quarter" idx="12"/>
          </p:nvPr>
        </p:nvSpPr>
        <p:spPr/>
        <p:txBody>
          <a:bodyPr/>
          <a:lstStyle/>
          <a:p>
            <a:fld id="{C1CF9165-9E3D-452B-A995-87B4F64F5FE5}" type="slidenum">
              <a:rPr lang="fr-FR" smtClean="0"/>
              <a:t>42</a:t>
            </a:fld>
            <a:endParaRPr lang="fr-FR"/>
          </a:p>
        </p:txBody>
      </p:sp>
    </p:spTree>
    <p:extLst>
      <p:ext uri="{BB962C8B-B14F-4D97-AF65-F5344CB8AC3E}">
        <p14:creationId xmlns:p14="http://schemas.microsoft.com/office/powerpoint/2010/main" val="17728343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B20BB13-CD97-4290-A49D-160C5E4A2BA2}"/>
              </a:ext>
            </a:extLst>
          </p:cNvPr>
          <p:cNvSpPr>
            <a:spLocks noGrp="1"/>
          </p:cNvSpPr>
          <p:nvPr>
            <p:ph type="title"/>
          </p:nvPr>
        </p:nvSpPr>
        <p:spPr>
          <a:xfrm>
            <a:off x="838200" y="365125"/>
            <a:ext cx="10515600" cy="386715"/>
          </a:xfrm>
        </p:spPr>
        <p:txBody>
          <a:bodyPr>
            <a:normAutofit fontScale="90000"/>
          </a:bodyPr>
          <a:lstStyle/>
          <a:p>
            <a:r>
              <a:rPr lang="fr-CA" sz="4000" b="1" dirty="0"/>
              <a:t>Durée du contrat de location </a:t>
            </a:r>
            <a:r>
              <a:rPr lang="fr-CA" sz="3600" b="1" dirty="0"/>
              <a:t>- </a:t>
            </a:r>
            <a:r>
              <a:rPr lang="fr-CA" sz="3600" b="1" i="1" dirty="0"/>
              <a:t>suite</a:t>
            </a:r>
            <a:endParaRPr lang="fr-FR" sz="4000" dirty="0"/>
          </a:p>
        </p:txBody>
      </p:sp>
      <p:sp>
        <p:nvSpPr>
          <p:cNvPr id="3" name="Espace réservé du contenu 2">
            <a:extLst>
              <a:ext uri="{FF2B5EF4-FFF2-40B4-BE49-F238E27FC236}">
                <a16:creationId xmlns:a16="http://schemas.microsoft.com/office/drawing/2014/main" id="{2EB0B5BF-8EF0-4B2D-8F90-21CE00302946}"/>
              </a:ext>
            </a:extLst>
          </p:cNvPr>
          <p:cNvSpPr>
            <a:spLocks noGrp="1"/>
          </p:cNvSpPr>
          <p:nvPr>
            <p:ph idx="1"/>
          </p:nvPr>
        </p:nvSpPr>
        <p:spPr>
          <a:xfrm>
            <a:off x="838200" y="751840"/>
            <a:ext cx="10515600" cy="5741035"/>
          </a:xfrm>
        </p:spPr>
        <p:txBody>
          <a:bodyPr>
            <a:noAutofit/>
          </a:bodyPr>
          <a:lstStyle/>
          <a:p>
            <a:pPr marL="0" indent="0">
              <a:buNone/>
            </a:pPr>
            <a:r>
              <a:rPr lang="fr-CA" sz="2100" dirty="0"/>
              <a:t>B41     Le paragraphe </a:t>
            </a:r>
            <a:r>
              <a:rPr lang="fr-CA" sz="2100" dirty="0">
                <a:hlinkClick r:id="rId2"/>
              </a:rPr>
              <a:t>20</a:t>
            </a:r>
            <a:r>
              <a:rPr lang="fr-CA" sz="2100" dirty="0"/>
              <a:t> précise que, </a:t>
            </a:r>
            <a:r>
              <a:rPr lang="fr-CA" sz="2100" dirty="0">
                <a:solidFill>
                  <a:srgbClr val="0070C0"/>
                </a:solidFill>
              </a:rPr>
              <a:t>après la date de début, le preneur doit réapprécier la durée du contrat de location s'il se produit un événement ou un changement de circonstances important qui dépend de la volonté du preneur et qui a une incidence sur la question de savoir si le preneur a la certitude raisonnable d'exercer une option qu'il n'avait pas incluse dans sa détermination de la durée du contrat de location ou de ne pas exercer une option qu'il avait incluse dans cette détermination</a:t>
            </a:r>
            <a:r>
              <a:rPr lang="fr-CA" sz="2100" dirty="0"/>
              <a:t>. Voici des exemples d'événements ou de changements de circonstances importants :</a:t>
            </a:r>
          </a:p>
          <a:p>
            <a:pPr marL="0" indent="0">
              <a:buNone/>
            </a:pPr>
            <a:r>
              <a:rPr lang="fr-CA" sz="2100" dirty="0"/>
              <a:t>(a)     des locaux loués font l'objet d'aménagements importants qui n'étaient pas prévus à la date de début et desquels le preneur s'attend à tirer un avantage économique important lorsque l'option de prolongation ou de résiliation du contrat de location ou encore l'option d'achat du bien sous-jacent seront exerçables ;</a:t>
            </a:r>
          </a:p>
          <a:p>
            <a:pPr marL="0" indent="0">
              <a:spcBef>
                <a:spcPts val="600"/>
              </a:spcBef>
              <a:buNone/>
            </a:pPr>
            <a:r>
              <a:rPr lang="fr-CA" sz="2100" dirty="0"/>
              <a:t>(b)     le bien sous-jacent est modifié ou personnalisé dans une mesure importante, alors que ce n'était pas prévu à la date de début ;</a:t>
            </a:r>
          </a:p>
          <a:p>
            <a:pPr marL="0" indent="0">
              <a:spcBef>
                <a:spcPts val="600"/>
              </a:spcBef>
              <a:buNone/>
            </a:pPr>
            <a:r>
              <a:rPr lang="fr-CA" sz="2100" dirty="0"/>
              <a:t>(c)     un contrat de sous-location du bien sous-jacent est conclu pour un intervalle de temps allant au-delà de la fin de la durée du contrat de location précédemment déterminée ;</a:t>
            </a:r>
          </a:p>
          <a:p>
            <a:pPr marL="0" indent="0">
              <a:spcBef>
                <a:spcPts val="600"/>
              </a:spcBef>
              <a:buNone/>
            </a:pPr>
            <a:r>
              <a:rPr lang="fr-CA" sz="2100" dirty="0"/>
              <a:t>(d)     le preneur prend une décision d'affaires qui est directement liée à la décision d'exercer ou de ne pas exercer l'option (par exemple, il prend la décision de prolonger la location d'un bien complémentaire, de se défaire d'un bien de remplacement ou de céder l'unité opérationnelle au sein de laquelle l'actif au titre du droit d'utilisation est utilisé).</a:t>
            </a:r>
          </a:p>
        </p:txBody>
      </p:sp>
      <p:sp>
        <p:nvSpPr>
          <p:cNvPr id="4" name="Espace réservé du pied de page 3">
            <a:extLst>
              <a:ext uri="{FF2B5EF4-FFF2-40B4-BE49-F238E27FC236}">
                <a16:creationId xmlns:a16="http://schemas.microsoft.com/office/drawing/2014/main" id="{CD1ADFEB-EE43-44F8-8C8E-2CFF40A54D79}"/>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326B1284-E19E-4CCC-82B5-A6E6C0C4708E}"/>
              </a:ext>
            </a:extLst>
          </p:cNvPr>
          <p:cNvSpPr>
            <a:spLocks noGrp="1"/>
          </p:cNvSpPr>
          <p:nvPr>
            <p:ph type="sldNum" sz="quarter" idx="12"/>
          </p:nvPr>
        </p:nvSpPr>
        <p:spPr/>
        <p:txBody>
          <a:bodyPr/>
          <a:lstStyle/>
          <a:p>
            <a:fld id="{C1CF9165-9E3D-452B-A995-87B4F64F5FE5}" type="slidenum">
              <a:rPr lang="fr-FR" smtClean="0"/>
              <a:t>43</a:t>
            </a:fld>
            <a:endParaRPr lang="fr-FR"/>
          </a:p>
        </p:txBody>
      </p:sp>
    </p:spTree>
    <p:extLst>
      <p:ext uri="{BB962C8B-B14F-4D97-AF65-F5344CB8AC3E}">
        <p14:creationId xmlns:p14="http://schemas.microsoft.com/office/powerpoint/2010/main" val="203553611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4098" name="Titre 1">
            <a:extLst>
              <a:ext uri="{FF2B5EF4-FFF2-40B4-BE49-F238E27FC236}">
                <a16:creationId xmlns:a16="http://schemas.microsoft.com/office/drawing/2014/main" id="{771C8371-A1BF-401E-A9A0-031A39AC4CF9}"/>
              </a:ext>
            </a:extLst>
          </p:cNvPr>
          <p:cNvSpPr>
            <a:spLocks noGrp="1"/>
          </p:cNvSpPr>
          <p:nvPr>
            <p:ph type="ctrTitle"/>
          </p:nvPr>
        </p:nvSpPr>
        <p:spPr/>
        <p:txBody>
          <a:bodyPr>
            <a:normAutofit/>
          </a:bodyPr>
          <a:lstStyle/>
          <a:p>
            <a:pPr eaLnBrk="1" hangingPunct="1"/>
            <a:r>
              <a:rPr lang="fr-FR" altLang="fr-FR" b="1" dirty="0"/>
              <a:t>PRENEUR</a:t>
            </a:r>
            <a:br>
              <a:rPr lang="fr-FR" altLang="fr-FR" sz="2600" dirty="0"/>
            </a:br>
            <a:endParaRPr lang="fr-FR" altLang="fr-FR" sz="2600" dirty="0"/>
          </a:p>
        </p:txBody>
      </p:sp>
      <p:sp>
        <p:nvSpPr>
          <p:cNvPr id="4099" name="Sous-titre 2">
            <a:extLst>
              <a:ext uri="{FF2B5EF4-FFF2-40B4-BE49-F238E27FC236}">
                <a16:creationId xmlns:a16="http://schemas.microsoft.com/office/drawing/2014/main" id="{F2AF49C7-EF36-4F2B-9E4C-884C1D83D316}"/>
              </a:ext>
            </a:extLst>
          </p:cNvPr>
          <p:cNvSpPr>
            <a:spLocks noGrp="1"/>
          </p:cNvSpPr>
          <p:nvPr>
            <p:ph type="subTitle" idx="1"/>
          </p:nvPr>
        </p:nvSpPr>
        <p:spPr>
          <a:xfrm>
            <a:off x="2895600" y="4367213"/>
            <a:ext cx="6400800" cy="1752600"/>
          </a:xfrm>
        </p:spPr>
        <p:txBody>
          <a:bodyPr>
            <a:normAutofit/>
          </a:bodyPr>
          <a:lstStyle/>
          <a:p>
            <a:pPr eaLnBrk="1" hangingPunct="1">
              <a:lnSpc>
                <a:spcPct val="80000"/>
              </a:lnSpc>
            </a:pPr>
            <a:endParaRPr lang="fr-FR" altLang="fr-FR" sz="3000" dirty="0">
              <a:solidFill>
                <a:srgbClr val="898989"/>
              </a:solidFill>
            </a:endParaRPr>
          </a:p>
          <a:p>
            <a:pPr eaLnBrk="1" hangingPunct="1">
              <a:lnSpc>
                <a:spcPct val="80000"/>
              </a:lnSpc>
            </a:pPr>
            <a:endParaRPr lang="fr-FR" altLang="fr-FR" sz="3000" dirty="0">
              <a:solidFill>
                <a:srgbClr val="898989"/>
              </a:solidFill>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re 1">
            <a:extLst>
              <a:ext uri="{FF2B5EF4-FFF2-40B4-BE49-F238E27FC236}">
                <a16:creationId xmlns:a16="http://schemas.microsoft.com/office/drawing/2014/main" id="{FC85BE43-BBC6-4C84-9CCA-EC9E231BF21C}"/>
              </a:ext>
            </a:extLst>
          </p:cNvPr>
          <p:cNvSpPr>
            <a:spLocks noGrp="1"/>
          </p:cNvSpPr>
          <p:nvPr>
            <p:ph type="title"/>
          </p:nvPr>
        </p:nvSpPr>
        <p:spPr>
          <a:xfrm>
            <a:off x="903249" y="274638"/>
            <a:ext cx="10450551" cy="836612"/>
          </a:xfrm>
        </p:spPr>
        <p:txBody>
          <a:bodyPr/>
          <a:lstStyle/>
          <a:p>
            <a:pPr eaLnBrk="1" hangingPunct="1"/>
            <a:r>
              <a:rPr lang="fr-CA" altLang="fr-FR" sz="3600" dirty="0"/>
              <a:t>Preneur - image fidèle</a:t>
            </a:r>
          </a:p>
        </p:txBody>
      </p:sp>
      <p:sp>
        <p:nvSpPr>
          <p:cNvPr id="8195" name="Espace réservé du contenu 2">
            <a:extLst>
              <a:ext uri="{FF2B5EF4-FFF2-40B4-BE49-F238E27FC236}">
                <a16:creationId xmlns:a16="http://schemas.microsoft.com/office/drawing/2014/main" id="{2629D8C8-3B43-4F22-88F7-AAAC5453A77B}"/>
              </a:ext>
            </a:extLst>
          </p:cNvPr>
          <p:cNvSpPr>
            <a:spLocks noGrp="1"/>
          </p:cNvSpPr>
          <p:nvPr>
            <p:ph idx="1"/>
          </p:nvPr>
        </p:nvSpPr>
        <p:spPr>
          <a:xfrm>
            <a:off x="903249" y="1322389"/>
            <a:ext cx="10450551" cy="4803775"/>
          </a:xfrm>
        </p:spPr>
        <p:txBody>
          <a:bodyPr/>
          <a:lstStyle/>
          <a:p>
            <a:pPr eaLnBrk="1" hangingPunct="1">
              <a:lnSpc>
                <a:spcPct val="90000"/>
              </a:lnSpc>
            </a:pPr>
            <a:r>
              <a:rPr lang="fr-CA" altLang="fr-FR" sz="2600" dirty="0"/>
              <a:t>Refléter la substance économique</a:t>
            </a:r>
          </a:p>
          <a:p>
            <a:pPr lvl="1" eaLnBrk="1" hangingPunct="1">
              <a:lnSpc>
                <a:spcPct val="90000"/>
              </a:lnSpc>
            </a:pPr>
            <a:r>
              <a:rPr lang="fr-CA" altLang="fr-FR" sz="2600" dirty="0"/>
              <a:t>Et non la forme légale</a:t>
            </a:r>
          </a:p>
          <a:p>
            <a:pPr lvl="1" eaLnBrk="1" hangingPunct="1">
              <a:lnSpc>
                <a:spcPct val="90000"/>
              </a:lnSpc>
            </a:pPr>
            <a:endParaRPr lang="fr-CA" altLang="fr-FR" sz="800" dirty="0"/>
          </a:p>
          <a:p>
            <a:pPr lvl="1" eaLnBrk="1" hangingPunct="1">
              <a:lnSpc>
                <a:spcPct val="90000"/>
              </a:lnSpc>
            </a:pPr>
            <a:r>
              <a:rPr lang="fr-CA" altLang="fr-FR" sz="2600" dirty="0"/>
              <a:t>« Achat » de l</a:t>
            </a:r>
            <a:r>
              <a:rPr lang="fr-CA" altLang="fr-CA" sz="2600" dirty="0"/>
              <a:t>’</a:t>
            </a:r>
            <a:r>
              <a:rPr lang="fr-CA" altLang="fr-FR" sz="2600" dirty="0"/>
              <a:t>actif + financement</a:t>
            </a:r>
          </a:p>
          <a:p>
            <a:pPr lvl="2" eaLnBrk="1" hangingPunct="1">
              <a:lnSpc>
                <a:spcPct val="90000"/>
              </a:lnSpc>
            </a:pPr>
            <a:r>
              <a:rPr lang="fr-CA" altLang="fr-FR" sz="2200" dirty="0"/>
              <a:t>Même si le titre de propriété non transféré - </a:t>
            </a:r>
            <a:r>
              <a:rPr lang="fr-CA" altLang="fr-FR" sz="2200" i="1" dirty="0"/>
              <a:t>légal</a:t>
            </a:r>
            <a:endParaRPr lang="fr-CA" altLang="fr-FR" sz="2200" dirty="0"/>
          </a:p>
          <a:p>
            <a:pPr lvl="2" eaLnBrk="1" hangingPunct="1">
              <a:lnSpc>
                <a:spcPct val="90000"/>
              </a:lnSpc>
            </a:pPr>
            <a:endParaRPr lang="fr-CA" altLang="fr-FR" sz="700" dirty="0"/>
          </a:p>
          <a:p>
            <a:pPr lvl="2" eaLnBrk="1" hangingPunct="1">
              <a:lnSpc>
                <a:spcPct val="90000"/>
              </a:lnSpc>
            </a:pPr>
            <a:r>
              <a:rPr lang="fr-CA" altLang="fr-FR" sz="2200" dirty="0"/>
              <a:t>Utilise l</a:t>
            </a:r>
            <a:r>
              <a:rPr lang="fr-CA" altLang="fr-CA" sz="2200" dirty="0"/>
              <a:t>’</a:t>
            </a:r>
            <a:r>
              <a:rPr lang="fr-CA" altLang="fr-FR" sz="2200" dirty="0"/>
              <a:t>actif </a:t>
            </a:r>
            <a:r>
              <a:rPr lang="mr-IN" altLang="fr-FR" sz="2200" dirty="0">
                <a:latin typeface="Mangal" panose="02040503050203030202" pitchFamily="18" charset="0"/>
              </a:rPr>
              <a:t>–</a:t>
            </a:r>
            <a:r>
              <a:rPr lang="fr-CA" altLang="fr-FR" sz="2200" dirty="0"/>
              <a:t> </a:t>
            </a:r>
            <a:r>
              <a:rPr lang="fr-CA" altLang="fr-FR" sz="2200" i="1" dirty="0"/>
              <a:t>l</a:t>
            </a:r>
            <a:r>
              <a:rPr lang="fr-CA" altLang="fr-CA" sz="2200" i="1" dirty="0"/>
              <a:t>’</a:t>
            </a:r>
            <a:r>
              <a:rPr lang="fr-CA" altLang="fr-FR" sz="2200" i="1" dirty="0"/>
              <a:t>actif représente le droit d</a:t>
            </a:r>
            <a:r>
              <a:rPr lang="fr-CA" altLang="fr-CA" sz="2200" i="1" dirty="0"/>
              <a:t>’</a:t>
            </a:r>
            <a:r>
              <a:rPr lang="fr-CA" altLang="fr-FR" sz="2200" i="1" dirty="0"/>
              <a:t>utiliser l</a:t>
            </a:r>
            <a:r>
              <a:rPr lang="fr-CA" altLang="fr-CA" sz="2200" i="1" dirty="0"/>
              <a:t>’</a:t>
            </a:r>
            <a:r>
              <a:rPr lang="fr-CA" altLang="fr-FR" sz="2200" i="1" dirty="0"/>
              <a:t>actif loué</a:t>
            </a:r>
          </a:p>
          <a:p>
            <a:pPr lvl="2" eaLnBrk="1" hangingPunct="1">
              <a:lnSpc>
                <a:spcPct val="90000"/>
              </a:lnSpc>
            </a:pPr>
            <a:r>
              <a:rPr lang="fr-CA" altLang="fr-FR" sz="2200" dirty="0"/>
              <a:t>« Dette » remboursable sur la période </a:t>
            </a:r>
            <a:r>
              <a:rPr lang="fr-CA" altLang="fr-FR" sz="2200" i="1" dirty="0"/>
              <a:t>- via les paiements locatifs</a:t>
            </a:r>
          </a:p>
          <a:p>
            <a:pPr lvl="3" eaLnBrk="1" hangingPunct="1">
              <a:lnSpc>
                <a:spcPct val="90000"/>
              </a:lnSpc>
            </a:pPr>
            <a:r>
              <a:rPr lang="fr-CA" altLang="fr-FR" sz="2000" dirty="0"/>
              <a:t>Montant de la dette = valeur actualisée de la portion des frais de location servant à « payer » l</a:t>
            </a:r>
            <a:r>
              <a:rPr lang="fr-CA" altLang="fr-CA" sz="2000" dirty="0"/>
              <a:t>’</a:t>
            </a:r>
            <a:r>
              <a:rPr lang="fr-CA" altLang="fr-FR" sz="2000" dirty="0"/>
              <a:t>actif (exclure frais accessoires </a:t>
            </a:r>
            <a:r>
              <a:rPr lang="fr-CA" altLang="fr-FR" sz="2000" i="1" dirty="0"/>
              <a:t>– choix comptable)</a:t>
            </a:r>
          </a:p>
          <a:p>
            <a:pPr lvl="3" eaLnBrk="1" hangingPunct="1">
              <a:lnSpc>
                <a:spcPct val="90000"/>
              </a:lnSpc>
            </a:pPr>
            <a:endParaRPr lang="fr-CA" altLang="fr-FR" sz="1900" dirty="0"/>
          </a:p>
          <a:p>
            <a:pPr lvl="3" eaLnBrk="1" hangingPunct="1">
              <a:lnSpc>
                <a:spcPct val="90000"/>
              </a:lnSpc>
              <a:buFont typeface="Wingdings" panose="05000000000000000000" pitchFamily="2" charset="2"/>
              <a:buChar char="Ø"/>
            </a:pPr>
            <a:r>
              <a:rPr lang="fr-CA" altLang="fr-FR" sz="2000" i="1" dirty="0">
                <a:solidFill>
                  <a:srgbClr val="3366FF"/>
                </a:solidFill>
              </a:rPr>
              <a:t>Les actifs et les passifs découlant de contrats de location figureront au bilan du preneur, comme si les actifs étaient acquis et financés au moyen d</a:t>
            </a:r>
            <a:r>
              <a:rPr lang="fr-CA" altLang="fr-CA" sz="2000" i="1" dirty="0">
                <a:solidFill>
                  <a:srgbClr val="3366FF"/>
                </a:solidFill>
              </a:rPr>
              <a:t>’</a:t>
            </a:r>
            <a:r>
              <a:rPr lang="fr-CA" altLang="fr-FR" sz="2000" i="1" dirty="0">
                <a:solidFill>
                  <a:srgbClr val="3366FF"/>
                </a:solidFill>
              </a:rPr>
              <a:t>emprunts</a:t>
            </a:r>
          </a:p>
        </p:txBody>
      </p:sp>
      <p:sp>
        <p:nvSpPr>
          <p:cNvPr id="8196" name="Espace réservé du numéro de diapositive 3">
            <a:extLst>
              <a:ext uri="{FF2B5EF4-FFF2-40B4-BE49-F238E27FC236}">
                <a16:creationId xmlns:a16="http://schemas.microsoft.com/office/drawing/2014/main" id="{A05BFBC9-3BCA-4B9C-8818-767B830DB47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spcBef>
                <a:spcPct val="0"/>
              </a:spcBef>
              <a:buFontTx/>
              <a:buNone/>
            </a:pPr>
            <a:fld id="{BD702947-072B-435A-95B1-8AFEF2AF600B}" type="slidenum">
              <a:rPr lang="fr-FR" altLang="fr-FR" sz="1200">
                <a:solidFill>
                  <a:srgbClr val="898989"/>
                </a:solidFill>
              </a:rPr>
              <a:pPr>
                <a:spcBef>
                  <a:spcPct val="0"/>
                </a:spcBef>
                <a:buFontTx/>
                <a:buNone/>
              </a:pPr>
              <a:t>45</a:t>
            </a:fld>
            <a:endParaRPr lang="fr-FR" altLang="fr-FR" sz="1200">
              <a:solidFill>
                <a:srgbClr val="898989"/>
              </a:solidFill>
            </a:endParaRPr>
          </a:p>
        </p:txBody>
      </p:sp>
      <p:sp>
        <p:nvSpPr>
          <p:cNvPr id="2" name="Espace réservé du pied de page 1">
            <a:extLst>
              <a:ext uri="{FF2B5EF4-FFF2-40B4-BE49-F238E27FC236}">
                <a16:creationId xmlns:a16="http://schemas.microsoft.com/office/drawing/2014/main" id="{3E63B861-AC76-40F9-86D9-6B851DAAFD27}"/>
              </a:ext>
            </a:extLst>
          </p:cNvPr>
          <p:cNvSpPr>
            <a:spLocks noGrp="1"/>
          </p:cNvSpPr>
          <p:nvPr>
            <p:ph type="ftr" sz="quarter" idx="11"/>
          </p:nvPr>
        </p:nvSpPr>
        <p:spPr/>
        <p:txBody>
          <a:bodyPr/>
          <a:lstStyle/>
          <a:p>
            <a:r>
              <a:rPr lang="fr-FR"/>
              <a:t>Droits réservés - Louise Overbeek</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re 1">
            <a:extLst>
              <a:ext uri="{FF2B5EF4-FFF2-40B4-BE49-F238E27FC236}">
                <a16:creationId xmlns:a16="http://schemas.microsoft.com/office/drawing/2014/main" id="{3937A018-0C9C-4C53-B137-D92D84FAF130}"/>
              </a:ext>
            </a:extLst>
          </p:cNvPr>
          <p:cNvSpPr>
            <a:spLocks noGrp="1"/>
          </p:cNvSpPr>
          <p:nvPr>
            <p:ph type="title"/>
          </p:nvPr>
        </p:nvSpPr>
        <p:spPr>
          <a:xfrm>
            <a:off x="892098" y="274638"/>
            <a:ext cx="10461702" cy="811212"/>
          </a:xfrm>
        </p:spPr>
        <p:txBody>
          <a:bodyPr>
            <a:normAutofit/>
          </a:bodyPr>
          <a:lstStyle/>
          <a:p>
            <a:pPr eaLnBrk="1" hangingPunct="1"/>
            <a:r>
              <a:rPr lang="fr-CA" altLang="fr-FR" sz="3600" b="1" dirty="0"/>
              <a:t>EXEMPTIONS RELATIVES À LA COMPTABILISATION</a:t>
            </a:r>
            <a:endParaRPr lang="fr-CA" altLang="fr-FR" sz="4000" b="1" dirty="0"/>
          </a:p>
        </p:txBody>
      </p:sp>
      <p:sp>
        <p:nvSpPr>
          <p:cNvPr id="10243" name="Espace réservé du contenu 2">
            <a:extLst>
              <a:ext uri="{FF2B5EF4-FFF2-40B4-BE49-F238E27FC236}">
                <a16:creationId xmlns:a16="http://schemas.microsoft.com/office/drawing/2014/main" id="{43678BA1-B112-4956-8894-96CCC5E2C077}"/>
              </a:ext>
            </a:extLst>
          </p:cNvPr>
          <p:cNvSpPr>
            <a:spLocks noGrp="1"/>
          </p:cNvSpPr>
          <p:nvPr>
            <p:ph idx="1"/>
          </p:nvPr>
        </p:nvSpPr>
        <p:spPr>
          <a:xfrm>
            <a:off x="838200" y="1085850"/>
            <a:ext cx="10461702" cy="5270500"/>
          </a:xfrm>
        </p:spPr>
        <p:txBody>
          <a:bodyPr/>
          <a:lstStyle/>
          <a:p>
            <a:pPr marL="0" indent="0">
              <a:lnSpc>
                <a:spcPct val="80000"/>
              </a:lnSpc>
              <a:buNone/>
            </a:pPr>
            <a:endParaRPr lang="fr-CA" altLang="fr-FR" sz="1900" b="1" dirty="0"/>
          </a:p>
          <a:p>
            <a:pPr marL="0" indent="0">
              <a:lnSpc>
                <a:spcPct val="80000"/>
              </a:lnSpc>
              <a:buNone/>
            </a:pPr>
            <a:r>
              <a:rPr lang="fr-CA" altLang="fr-FR" sz="2300" dirty="0"/>
              <a:t>Le preneur </a:t>
            </a:r>
            <a:r>
              <a:rPr lang="fr-CA" altLang="fr-FR" sz="2300" u="sng" dirty="0"/>
              <a:t>peut choisir</a:t>
            </a:r>
            <a:r>
              <a:rPr lang="fr-CA" altLang="fr-FR" sz="2300" dirty="0"/>
              <a:t> de ne pas appliquer les dispositions :</a:t>
            </a:r>
          </a:p>
          <a:p>
            <a:pPr marL="0" indent="0">
              <a:lnSpc>
                <a:spcPct val="80000"/>
              </a:lnSpc>
              <a:buNone/>
            </a:pPr>
            <a:r>
              <a:rPr lang="fr-CA" altLang="fr-FR" sz="2300" dirty="0"/>
              <a:t>(a)     à des </a:t>
            </a:r>
            <a:r>
              <a:rPr lang="fr-CA" altLang="fr-FR" sz="2300" i="1" u="sng" dirty="0">
                <a:solidFill>
                  <a:srgbClr val="0070C0"/>
                </a:solidFill>
              </a:rPr>
              <a:t>contrats de location à court terme</a:t>
            </a:r>
            <a:r>
              <a:rPr lang="fr-CA" altLang="fr-FR" sz="2300" u="sng" dirty="0"/>
              <a:t> </a:t>
            </a:r>
            <a:r>
              <a:rPr lang="fr-CA" altLang="fr-FR" sz="2300" dirty="0"/>
              <a:t>; (</a:t>
            </a:r>
            <a:r>
              <a:rPr lang="fr-CA" altLang="fr-FR" sz="2100" i="1" dirty="0"/>
              <a:t>les contrats ayant un durée de 12 mois ou moins – et qui ne contiennent aucune option d</a:t>
            </a:r>
            <a:r>
              <a:rPr lang="fr-CA" altLang="fr-CA" sz="2100" i="1" dirty="0"/>
              <a:t>’</a:t>
            </a:r>
            <a:r>
              <a:rPr lang="fr-CA" altLang="fr-FR" sz="2100" i="1" dirty="0"/>
              <a:t>achat)</a:t>
            </a:r>
            <a:endParaRPr lang="fr-CA" altLang="fr-FR" sz="2300" i="1" dirty="0"/>
          </a:p>
          <a:p>
            <a:pPr marL="0" indent="0">
              <a:lnSpc>
                <a:spcPct val="80000"/>
              </a:lnSpc>
              <a:buNone/>
            </a:pPr>
            <a:r>
              <a:rPr lang="fr-CA" altLang="fr-FR" sz="2300" dirty="0"/>
              <a:t>(b)     à des contrats de location dont le </a:t>
            </a:r>
            <a:r>
              <a:rPr lang="fr-CA" altLang="fr-FR" sz="2300" i="1" u="sng" dirty="0">
                <a:solidFill>
                  <a:srgbClr val="0070C0"/>
                </a:solidFill>
              </a:rPr>
              <a:t>bien sous-jacent</a:t>
            </a:r>
            <a:r>
              <a:rPr lang="fr-CA" altLang="fr-FR" sz="2300" u="sng" dirty="0">
                <a:solidFill>
                  <a:srgbClr val="0070C0"/>
                </a:solidFill>
              </a:rPr>
              <a:t> est de faible valeur</a:t>
            </a:r>
            <a:r>
              <a:rPr lang="fr-CA" altLang="fr-FR" sz="2300" dirty="0"/>
              <a:t> </a:t>
            </a:r>
            <a:r>
              <a:rPr lang="fr-CA" altLang="fr-FR" sz="2100" i="1" dirty="0"/>
              <a:t>(valeur du bien à l</a:t>
            </a:r>
            <a:r>
              <a:rPr lang="fr-CA" altLang="fr-CA" sz="2100" i="1" dirty="0"/>
              <a:t>’</a:t>
            </a:r>
            <a:r>
              <a:rPr lang="fr-CA" altLang="fr-FR" sz="2100" i="1" dirty="0"/>
              <a:t>état neuf, faible valeur en absolue)</a:t>
            </a:r>
            <a:r>
              <a:rPr lang="fr-CA" altLang="fr-FR" sz="2100" dirty="0"/>
              <a:t>.</a:t>
            </a:r>
          </a:p>
          <a:p>
            <a:pPr marL="0" indent="0">
              <a:lnSpc>
                <a:spcPct val="80000"/>
              </a:lnSpc>
              <a:buNone/>
            </a:pPr>
            <a:r>
              <a:rPr lang="fr-CA" altLang="fr-FR" sz="2100" dirty="0"/>
              <a:t>	</a:t>
            </a:r>
            <a:r>
              <a:rPr lang="fr-CA" altLang="fr-FR" sz="2100" i="1" dirty="0"/>
              <a:t>&lt; 5 000 $ US, base individuelle</a:t>
            </a:r>
            <a:endParaRPr lang="fr-CA" altLang="fr-FR" sz="2300" dirty="0"/>
          </a:p>
          <a:p>
            <a:pPr marL="0" indent="0">
              <a:lnSpc>
                <a:spcPct val="80000"/>
              </a:lnSpc>
              <a:buNone/>
            </a:pPr>
            <a:endParaRPr lang="fr-CA" altLang="fr-FR" sz="2300" dirty="0"/>
          </a:p>
          <a:p>
            <a:pPr marL="0" indent="0">
              <a:lnSpc>
                <a:spcPct val="80000"/>
              </a:lnSpc>
            </a:pPr>
            <a:r>
              <a:rPr lang="fr-CA" altLang="fr-FR" sz="2000" dirty="0"/>
              <a:t>8     Le choix visant les contrats de location à court terme se fait par catégorie de biens sous-jacents. Une catégorie de biens sous-jacents est un regroupement de biens sous-jacents de nature similaire, utilisés de manière similaire dans les activités d'une entité. Le choix visant les contrats de location dont le bien sous-jacent est de faible valeur peut être exercé contrat par contrat.</a:t>
            </a:r>
          </a:p>
          <a:p>
            <a:pPr marL="0" indent="0">
              <a:lnSpc>
                <a:spcPct val="80000"/>
              </a:lnSpc>
            </a:pPr>
            <a:endParaRPr lang="fr-CA" altLang="fr-FR" sz="2000" dirty="0"/>
          </a:p>
          <a:p>
            <a:pPr eaLnBrk="1" hangingPunct="1">
              <a:lnSpc>
                <a:spcPct val="80000"/>
              </a:lnSpc>
              <a:buFont typeface="Wingdings" panose="05000000000000000000" pitchFamily="2" charset="2"/>
              <a:buChar char="Ø"/>
            </a:pPr>
            <a:r>
              <a:rPr lang="fr-CA" altLang="fr-FR" sz="2000" dirty="0">
                <a:solidFill>
                  <a:srgbClr val="FF0000"/>
                </a:solidFill>
              </a:rPr>
              <a:t>Alors en charge</a:t>
            </a:r>
            <a:endParaRPr lang="fr-CA" altLang="fr-FR" sz="2300" dirty="0">
              <a:solidFill>
                <a:srgbClr val="FF0000"/>
              </a:solidFill>
            </a:endParaRPr>
          </a:p>
          <a:p>
            <a:pPr marL="0" indent="0">
              <a:lnSpc>
                <a:spcPct val="80000"/>
              </a:lnSpc>
              <a:buNone/>
            </a:pPr>
            <a:endParaRPr lang="fr-CA" altLang="fr-FR" sz="1500" dirty="0"/>
          </a:p>
        </p:txBody>
      </p:sp>
      <p:sp>
        <p:nvSpPr>
          <p:cNvPr id="10244" name="Espace réservé du numéro de diapositive 3">
            <a:extLst>
              <a:ext uri="{FF2B5EF4-FFF2-40B4-BE49-F238E27FC236}">
                <a16:creationId xmlns:a16="http://schemas.microsoft.com/office/drawing/2014/main" id="{85F30D30-564A-474C-AFE1-6CD9770F05D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spcBef>
                <a:spcPct val="0"/>
              </a:spcBef>
              <a:buFontTx/>
              <a:buNone/>
            </a:pPr>
            <a:fld id="{C75A4510-C27B-452A-842D-BD20496ADB7B}" type="slidenum">
              <a:rPr lang="fr-FR" altLang="fr-FR" sz="1200">
                <a:solidFill>
                  <a:srgbClr val="898989"/>
                </a:solidFill>
              </a:rPr>
              <a:pPr>
                <a:spcBef>
                  <a:spcPct val="0"/>
                </a:spcBef>
                <a:buFontTx/>
                <a:buNone/>
              </a:pPr>
              <a:t>46</a:t>
            </a:fld>
            <a:endParaRPr lang="fr-FR" altLang="fr-FR" sz="1200">
              <a:solidFill>
                <a:srgbClr val="898989"/>
              </a:solidFill>
            </a:endParaRPr>
          </a:p>
        </p:txBody>
      </p:sp>
      <p:sp>
        <p:nvSpPr>
          <p:cNvPr id="2" name="Espace réservé du pied de page 1">
            <a:extLst>
              <a:ext uri="{FF2B5EF4-FFF2-40B4-BE49-F238E27FC236}">
                <a16:creationId xmlns:a16="http://schemas.microsoft.com/office/drawing/2014/main" id="{D753166F-EA6E-48FD-8B15-0E277AA1A926}"/>
              </a:ext>
            </a:extLst>
          </p:cNvPr>
          <p:cNvSpPr>
            <a:spLocks noGrp="1"/>
          </p:cNvSpPr>
          <p:nvPr>
            <p:ph type="ftr" sz="quarter" idx="11"/>
          </p:nvPr>
        </p:nvSpPr>
        <p:spPr/>
        <p:txBody>
          <a:bodyPr/>
          <a:lstStyle/>
          <a:p>
            <a:r>
              <a:rPr lang="fr-FR"/>
              <a:t>Droits réservés - Louise Overbeek</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re 1">
            <a:extLst>
              <a:ext uri="{FF2B5EF4-FFF2-40B4-BE49-F238E27FC236}">
                <a16:creationId xmlns:a16="http://schemas.microsoft.com/office/drawing/2014/main" id="{BD8DEA2C-6A84-4962-AB08-7CDCDB0A0410}"/>
              </a:ext>
            </a:extLst>
          </p:cNvPr>
          <p:cNvSpPr>
            <a:spLocks noGrp="1"/>
          </p:cNvSpPr>
          <p:nvPr>
            <p:ph type="title"/>
          </p:nvPr>
        </p:nvSpPr>
        <p:spPr>
          <a:xfrm>
            <a:off x="892098" y="274639"/>
            <a:ext cx="10461702" cy="765175"/>
          </a:xfrm>
        </p:spPr>
        <p:txBody>
          <a:bodyPr>
            <a:normAutofit fontScale="90000"/>
          </a:bodyPr>
          <a:lstStyle/>
          <a:p>
            <a:pPr eaLnBrk="1" hangingPunct="1"/>
            <a:r>
              <a:rPr lang="fr-CA" altLang="fr-FR" sz="3600" dirty="0"/>
              <a:t>Preneur </a:t>
            </a:r>
            <a:r>
              <a:rPr lang="mr-IN" altLang="fr-FR" sz="3600" dirty="0">
                <a:latin typeface="Mangal" panose="02040503050203030202" pitchFamily="18" charset="0"/>
              </a:rPr>
              <a:t>–</a:t>
            </a:r>
            <a:r>
              <a:rPr lang="fr-CA" altLang="fr-FR" sz="3600" dirty="0"/>
              <a:t> comptabilisation initiale</a:t>
            </a:r>
            <a:br>
              <a:rPr lang="fr-CA" altLang="fr-FR" sz="3600" dirty="0"/>
            </a:br>
            <a:r>
              <a:rPr lang="fr-CA" altLang="fr-FR" sz="3600" b="1" dirty="0"/>
              <a:t>ÉVALUATION ET COMPTABILISATION DE L’ACTIF AU TITRE DU DROIT D’UTILISATION</a:t>
            </a:r>
          </a:p>
        </p:txBody>
      </p:sp>
      <p:sp>
        <p:nvSpPr>
          <p:cNvPr id="12291" name="Espace réservé du contenu 2">
            <a:extLst>
              <a:ext uri="{FF2B5EF4-FFF2-40B4-BE49-F238E27FC236}">
                <a16:creationId xmlns:a16="http://schemas.microsoft.com/office/drawing/2014/main" id="{255DF574-E0FA-4C3F-B272-1E8C07CFC710}"/>
              </a:ext>
            </a:extLst>
          </p:cNvPr>
          <p:cNvSpPr>
            <a:spLocks noGrp="1"/>
          </p:cNvSpPr>
          <p:nvPr>
            <p:ph idx="1"/>
          </p:nvPr>
        </p:nvSpPr>
        <p:spPr>
          <a:xfrm>
            <a:off x="838199" y="1417638"/>
            <a:ext cx="10461701" cy="4938712"/>
          </a:xfrm>
        </p:spPr>
        <p:txBody>
          <a:bodyPr/>
          <a:lstStyle/>
          <a:p>
            <a:pPr marL="0" indent="0">
              <a:lnSpc>
                <a:spcPct val="80000"/>
              </a:lnSpc>
              <a:buNone/>
            </a:pPr>
            <a:r>
              <a:rPr lang="fr-CA" altLang="fr-FR" sz="2000" dirty="0"/>
              <a:t>22     </a:t>
            </a:r>
            <a:r>
              <a:rPr lang="fr-CA" altLang="fr-FR" sz="2400" dirty="0">
                <a:solidFill>
                  <a:srgbClr val="3366FF"/>
                </a:solidFill>
              </a:rPr>
              <a:t>À la </a:t>
            </a:r>
            <a:r>
              <a:rPr lang="fr-CA" altLang="fr-FR" sz="2400" i="1" dirty="0">
                <a:solidFill>
                  <a:srgbClr val="3366FF"/>
                </a:solidFill>
              </a:rPr>
              <a:t>date de début</a:t>
            </a:r>
            <a:r>
              <a:rPr lang="fr-CA" altLang="fr-FR" sz="2400" dirty="0">
                <a:solidFill>
                  <a:srgbClr val="3366FF"/>
                </a:solidFill>
              </a:rPr>
              <a:t>, le preneur doit comptabiliser un actif au titre du droit d'utilisation et une obligation locative</a:t>
            </a:r>
            <a:r>
              <a:rPr lang="fr-CA" altLang="fr-FR" sz="2400" dirty="0"/>
              <a:t>.</a:t>
            </a:r>
          </a:p>
          <a:p>
            <a:pPr marL="0" indent="0">
              <a:lnSpc>
                <a:spcPct val="80000"/>
              </a:lnSpc>
              <a:buNone/>
            </a:pPr>
            <a:endParaRPr lang="fr-CA" altLang="fr-FR" sz="2000" dirty="0"/>
          </a:p>
          <a:p>
            <a:pPr marL="0" indent="0">
              <a:lnSpc>
                <a:spcPct val="80000"/>
              </a:lnSpc>
              <a:buNone/>
            </a:pPr>
            <a:r>
              <a:rPr lang="fr-CA" altLang="fr-FR" sz="2000" dirty="0"/>
              <a:t>24     Le coût de </a:t>
            </a:r>
            <a:r>
              <a:rPr lang="fr-CA" altLang="fr-FR" sz="2000" dirty="0">
                <a:solidFill>
                  <a:srgbClr val="0070C0"/>
                </a:solidFill>
              </a:rPr>
              <a:t>l'actif au titre du droit d'utilisation</a:t>
            </a:r>
            <a:r>
              <a:rPr lang="fr-CA" altLang="fr-FR" sz="2000" dirty="0"/>
              <a:t> doit comprendre :</a:t>
            </a:r>
          </a:p>
          <a:p>
            <a:pPr marL="1081088" indent="-546100">
              <a:lnSpc>
                <a:spcPct val="80000"/>
              </a:lnSpc>
              <a:buNone/>
            </a:pPr>
            <a:r>
              <a:rPr lang="fr-CA" altLang="fr-FR" sz="2000" dirty="0"/>
              <a:t>(a)     le montant initial de l'obligation locative, évalué comme il est indiqué au paragraphe 26 ;</a:t>
            </a:r>
          </a:p>
          <a:p>
            <a:pPr marL="1081088" indent="-546100">
              <a:lnSpc>
                <a:spcPct val="80000"/>
              </a:lnSpc>
              <a:buNone/>
            </a:pPr>
            <a:r>
              <a:rPr lang="fr-CA" altLang="fr-FR" sz="2000" dirty="0"/>
              <a:t>(b)     le cas échéant, les paiements de loyers versés à la date de début ou avant cette date, déduction faite des </a:t>
            </a:r>
            <a:r>
              <a:rPr lang="fr-CA" altLang="fr-FR" sz="2000" i="1" dirty="0">
                <a:solidFill>
                  <a:srgbClr val="FF0000"/>
                </a:solidFill>
              </a:rPr>
              <a:t>avantages incitatifs à la location</a:t>
            </a:r>
            <a:r>
              <a:rPr lang="fr-CA" altLang="fr-FR" sz="2000" dirty="0"/>
              <a:t> reçus ;</a:t>
            </a:r>
          </a:p>
          <a:p>
            <a:pPr marL="1081088" indent="-546100">
              <a:lnSpc>
                <a:spcPct val="80000"/>
              </a:lnSpc>
              <a:buNone/>
            </a:pPr>
            <a:r>
              <a:rPr lang="fr-CA" altLang="fr-FR" sz="2000" dirty="0"/>
              <a:t>(c)     le cas échéant, les </a:t>
            </a:r>
            <a:r>
              <a:rPr lang="fr-CA" altLang="fr-FR" sz="2000" i="1" dirty="0">
                <a:solidFill>
                  <a:srgbClr val="FF0000"/>
                </a:solidFill>
              </a:rPr>
              <a:t>coûts directs initiaux</a:t>
            </a:r>
            <a:r>
              <a:rPr lang="fr-CA" altLang="fr-FR" sz="2000" dirty="0"/>
              <a:t> engagés par le preneur ;</a:t>
            </a:r>
          </a:p>
          <a:p>
            <a:pPr marL="1081088" indent="-546100">
              <a:lnSpc>
                <a:spcPct val="80000"/>
              </a:lnSpc>
              <a:buNone/>
            </a:pPr>
            <a:r>
              <a:rPr lang="fr-CA" altLang="fr-FR" sz="2000" dirty="0"/>
              <a:t>(d)     une estimation des coûts que le preneur devra engager pour le démantèlement et l'enlèvement du bien sous-jacent ainsi que la restauration du lieu ou pour la remise du bien sous-jacent dans l'état exigé par les termes et conditions du contrat de location, à moins que ces coûts ne soient engagés pour produire des stocks. Le preneur contracte l'obligation afférente à ces coûts soit à la date de début, soit par suite de l'utilisation du bien sous-jacent pendant une durée donnée.</a:t>
            </a:r>
            <a:endParaRPr lang="fr-CA" altLang="fr-FR" sz="1800" dirty="0"/>
          </a:p>
        </p:txBody>
      </p:sp>
      <p:sp>
        <p:nvSpPr>
          <p:cNvPr id="12292" name="Espace réservé du numéro de diapositive 3">
            <a:extLst>
              <a:ext uri="{FF2B5EF4-FFF2-40B4-BE49-F238E27FC236}">
                <a16:creationId xmlns:a16="http://schemas.microsoft.com/office/drawing/2014/main" id="{731581D1-F952-4E06-B238-D3878D175C7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spcBef>
                <a:spcPct val="0"/>
              </a:spcBef>
              <a:buFontTx/>
              <a:buNone/>
            </a:pPr>
            <a:fld id="{73795BE8-EDAE-40EF-9EFD-9E2E51A66A39}" type="slidenum">
              <a:rPr lang="fr-FR" altLang="fr-FR" sz="1200">
                <a:solidFill>
                  <a:srgbClr val="898989"/>
                </a:solidFill>
              </a:rPr>
              <a:pPr>
                <a:spcBef>
                  <a:spcPct val="0"/>
                </a:spcBef>
                <a:buFontTx/>
                <a:buNone/>
              </a:pPr>
              <a:t>47</a:t>
            </a:fld>
            <a:endParaRPr lang="fr-FR" altLang="fr-FR" sz="1200">
              <a:solidFill>
                <a:srgbClr val="898989"/>
              </a:solidFill>
            </a:endParaRPr>
          </a:p>
        </p:txBody>
      </p:sp>
      <p:sp>
        <p:nvSpPr>
          <p:cNvPr id="2" name="Espace réservé du pied de page 1">
            <a:extLst>
              <a:ext uri="{FF2B5EF4-FFF2-40B4-BE49-F238E27FC236}">
                <a16:creationId xmlns:a16="http://schemas.microsoft.com/office/drawing/2014/main" id="{7987CF75-7856-4FB3-8CA0-A8B6A48E007B}"/>
              </a:ext>
            </a:extLst>
          </p:cNvPr>
          <p:cNvSpPr>
            <a:spLocks noGrp="1"/>
          </p:cNvSpPr>
          <p:nvPr>
            <p:ph type="ftr" sz="quarter" idx="11"/>
          </p:nvPr>
        </p:nvSpPr>
        <p:spPr/>
        <p:txBody>
          <a:bodyPr/>
          <a:lstStyle/>
          <a:p>
            <a:r>
              <a:rPr lang="fr-FR"/>
              <a:t>Droits réservés - Louise Overbeek</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5F51464-819A-4232-B60F-B85A36043D07}"/>
              </a:ext>
            </a:extLst>
          </p:cNvPr>
          <p:cNvSpPr>
            <a:spLocks noGrp="1"/>
          </p:cNvSpPr>
          <p:nvPr>
            <p:ph type="title"/>
          </p:nvPr>
        </p:nvSpPr>
        <p:spPr/>
        <p:txBody>
          <a:bodyPr/>
          <a:lstStyle/>
          <a:p>
            <a:r>
              <a:rPr lang="fr-CA" dirty="0"/>
              <a:t>Définitions</a:t>
            </a:r>
            <a:endParaRPr lang="fr-FR" dirty="0"/>
          </a:p>
        </p:txBody>
      </p:sp>
      <p:sp>
        <p:nvSpPr>
          <p:cNvPr id="3" name="Espace réservé du contenu 2">
            <a:extLst>
              <a:ext uri="{FF2B5EF4-FFF2-40B4-BE49-F238E27FC236}">
                <a16:creationId xmlns:a16="http://schemas.microsoft.com/office/drawing/2014/main" id="{DCDBA749-6FCD-4150-AF57-085BAF0C4892}"/>
              </a:ext>
            </a:extLst>
          </p:cNvPr>
          <p:cNvSpPr>
            <a:spLocks noGrp="1"/>
          </p:cNvSpPr>
          <p:nvPr>
            <p:ph idx="1"/>
          </p:nvPr>
        </p:nvSpPr>
        <p:spPr/>
        <p:txBody>
          <a:bodyPr>
            <a:normAutofit fontScale="92500"/>
          </a:bodyPr>
          <a:lstStyle/>
          <a:p>
            <a:pPr marL="0" indent="0">
              <a:buNone/>
            </a:pPr>
            <a:r>
              <a:rPr lang="fr-CA" altLang="fr-FR" dirty="0">
                <a:solidFill>
                  <a:srgbClr val="FF0000"/>
                </a:solidFill>
              </a:rPr>
              <a:t>Avantages incitatifs à la location </a:t>
            </a:r>
            <a:r>
              <a:rPr lang="fr-CA" altLang="fr-FR" i="1" dirty="0">
                <a:solidFill>
                  <a:srgbClr val="FF0000"/>
                </a:solidFill>
              </a:rPr>
              <a:t>: </a:t>
            </a:r>
          </a:p>
          <a:p>
            <a:pPr marL="0" indent="0">
              <a:buNone/>
            </a:pPr>
            <a:r>
              <a:rPr lang="fr-CA" altLang="fr-FR" dirty="0"/>
              <a:t>paiements que le bailleur fait au preneur dans le cadre d’un contrat de location ou encore remboursement ou prise en charge de coûts du preneur par le bailleur</a:t>
            </a:r>
          </a:p>
          <a:p>
            <a:endParaRPr lang="fr-FR" dirty="0"/>
          </a:p>
          <a:p>
            <a:pPr marL="0" indent="0">
              <a:buNone/>
            </a:pPr>
            <a:r>
              <a:rPr lang="fr-CA" altLang="fr-FR" dirty="0">
                <a:solidFill>
                  <a:srgbClr val="FF0000"/>
                </a:solidFill>
              </a:rPr>
              <a:t>Coûts directs initiaux </a:t>
            </a:r>
            <a:r>
              <a:rPr lang="fr-CA" altLang="fr-FR" i="1" dirty="0">
                <a:solidFill>
                  <a:srgbClr val="FF0000"/>
                </a:solidFill>
              </a:rPr>
              <a:t>: </a:t>
            </a:r>
          </a:p>
          <a:p>
            <a:pPr marL="0" indent="0">
              <a:buNone/>
            </a:pPr>
            <a:r>
              <a:rPr lang="fr-CA" dirty="0"/>
              <a:t>Coûts marginaux engagés pour l'obtention d'un </a:t>
            </a:r>
            <a:r>
              <a:rPr lang="fr-CA" b="1" dirty="0"/>
              <a:t>contrat de location,</a:t>
            </a:r>
            <a:r>
              <a:rPr lang="fr-CA" dirty="0"/>
              <a:t> qui n'auraient pas été engagés si le contrat de location n'avait pas été obtenu, </a:t>
            </a:r>
          </a:p>
          <a:p>
            <a:pPr marL="892175" indent="-892175">
              <a:buNone/>
            </a:pPr>
            <a:r>
              <a:rPr lang="fr-CA" dirty="0"/>
              <a:t>	</a:t>
            </a:r>
            <a:r>
              <a:rPr lang="fr-CA" sz="2200" dirty="0"/>
              <a:t>à l'exception des coûts de la sorte engagés relativement à un </a:t>
            </a:r>
            <a:r>
              <a:rPr lang="fr-CA" sz="2200" b="1" dirty="0"/>
              <a:t>contrat de location-financement</a:t>
            </a:r>
            <a:r>
              <a:rPr lang="fr-CA" sz="2200" dirty="0"/>
              <a:t> par le </a:t>
            </a:r>
            <a:r>
              <a:rPr lang="fr-CA" sz="2200" b="1" dirty="0"/>
              <a:t>bailleur</a:t>
            </a:r>
            <a:r>
              <a:rPr lang="fr-CA" sz="2200" dirty="0"/>
              <a:t> qui est fabricant ou distributeur</a:t>
            </a:r>
            <a:endParaRPr lang="fr-FR" dirty="0"/>
          </a:p>
        </p:txBody>
      </p:sp>
      <p:sp>
        <p:nvSpPr>
          <p:cNvPr id="4" name="Espace réservé du pied de page 3">
            <a:extLst>
              <a:ext uri="{FF2B5EF4-FFF2-40B4-BE49-F238E27FC236}">
                <a16:creationId xmlns:a16="http://schemas.microsoft.com/office/drawing/2014/main" id="{A19E4555-42AC-45CA-B28E-0B0D7F404E7B}"/>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69E1A87E-FD0B-4936-9167-4012558C9212}"/>
              </a:ext>
            </a:extLst>
          </p:cNvPr>
          <p:cNvSpPr>
            <a:spLocks noGrp="1"/>
          </p:cNvSpPr>
          <p:nvPr>
            <p:ph type="sldNum" sz="quarter" idx="12"/>
          </p:nvPr>
        </p:nvSpPr>
        <p:spPr/>
        <p:txBody>
          <a:bodyPr/>
          <a:lstStyle/>
          <a:p>
            <a:fld id="{5C9924D9-E03F-489A-877F-8411DF9A3E64}" type="slidenum">
              <a:rPr lang="fr-FR" smtClean="0"/>
              <a:t>48</a:t>
            </a:fld>
            <a:endParaRPr lang="fr-FR"/>
          </a:p>
        </p:txBody>
      </p:sp>
    </p:spTree>
    <p:extLst>
      <p:ext uri="{BB962C8B-B14F-4D97-AF65-F5344CB8AC3E}">
        <p14:creationId xmlns:p14="http://schemas.microsoft.com/office/powerpoint/2010/main" val="242457851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re 1">
            <a:extLst>
              <a:ext uri="{FF2B5EF4-FFF2-40B4-BE49-F238E27FC236}">
                <a16:creationId xmlns:a16="http://schemas.microsoft.com/office/drawing/2014/main" id="{B0E41843-3CC9-4635-90C2-E4E1AD26DE4F}"/>
              </a:ext>
            </a:extLst>
          </p:cNvPr>
          <p:cNvSpPr>
            <a:spLocks noGrp="1"/>
          </p:cNvSpPr>
          <p:nvPr>
            <p:ph type="title"/>
          </p:nvPr>
        </p:nvSpPr>
        <p:spPr>
          <a:xfrm>
            <a:off x="869795" y="274639"/>
            <a:ext cx="10484005" cy="765175"/>
          </a:xfrm>
        </p:spPr>
        <p:txBody>
          <a:bodyPr>
            <a:normAutofit fontScale="90000"/>
          </a:bodyPr>
          <a:lstStyle/>
          <a:p>
            <a:pPr eaLnBrk="1" hangingPunct="1"/>
            <a:r>
              <a:rPr lang="fr-CA" altLang="fr-FR" sz="3600" dirty="0"/>
              <a:t>Preneur </a:t>
            </a:r>
            <a:r>
              <a:rPr lang="mr-IN" altLang="fr-FR" sz="3600" dirty="0">
                <a:latin typeface="Mangal" panose="02040503050203030202" pitchFamily="18" charset="0"/>
              </a:rPr>
              <a:t>–</a:t>
            </a:r>
            <a:r>
              <a:rPr lang="fr-CA" altLang="fr-FR" sz="3600" dirty="0"/>
              <a:t> comptabilisation initiale</a:t>
            </a:r>
            <a:br>
              <a:rPr lang="fr-CA" altLang="fr-FR" sz="3600" dirty="0"/>
            </a:br>
            <a:r>
              <a:rPr lang="fr-CA" altLang="fr-FR" sz="3600" b="1" dirty="0"/>
              <a:t>ÉVALUATION ET COMPTABILISATION DE L’OBLIGATION LOCATIVE</a:t>
            </a:r>
            <a:endParaRPr lang="fr-CA" altLang="fr-FR" b="1" dirty="0"/>
          </a:p>
        </p:txBody>
      </p:sp>
      <p:sp>
        <p:nvSpPr>
          <p:cNvPr id="13315" name="Espace réservé du contenu 2">
            <a:extLst>
              <a:ext uri="{FF2B5EF4-FFF2-40B4-BE49-F238E27FC236}">
                <a16:creationId xmlns:a16="http://schemas.microsoft.com/office/drawing/2014/main" id="{394C483D-8053-4B9E-AF2A-3C40EB863CC6}"/>
              </a:ext>
            </a:extLst>
          </p:cNvPr>
          <p:cNvSpPr>
            <a:spLocks noGrp="1"/>
          </p:cNvSpPr>
          <p:nvPr>
            <p:ph idx="1"/>
          </p:nvPr>
        </p:nvSpPr>
        <p:spPr>
          <a:xfrm>
            <a:off x="869795" y="1260088"/>
            <a:ext cx="10452410" cy="5207619"/>
          </a:xfrm>
        </p:spPr>
        <p:txBody>
          <a:bodyPr>
            <a:normAutofit lnSpcReduction="10000"/>
          </a:bodyPr>
          <a:lstStyle/>
          <a:p>
            <a:pPr marL="0" indent="0">
              <a:lnSpc>
                <a:spcPct val="80000"/>
              </a:lnSpc>
              <a:buNone/>
            </a:pPr>
            <a:r>
              <a:rPr lang="fr-CA" altLang="fr-FR" sz="2000" dirty="0"/>
              <a:t>26     </a:t>
            </a:r>
            <a:r>
              <a:rPr lang="fr-CA" altLang="fr-FR" sz="2400" dirty="0"/>
              <a:t>À la date de début, le preneur doit évaluer </a:t>
            </a:r>
            <a:r>
              <a:rPr lang="fr-CA" altLang="fr-FR" sz="2400" dirty="0">
                <a:solidFill>
                  <a:srgbClr val="0070C0"/>
                </a:solidFill>
              </a:rPr>
              <a:t>l'obligation locative</a:t>
            </a:r>
            <a:r>
              <a:rPr lang="fr-CA" altLang="fr-FR" sz="2400" dirty="0"/>
              <a:t> à la valeur actualisée des paiements de loyers qui n'ont pas encore été versés. </a:t>
            </a:r>
          </a:p>
          <a:p>
            <a:pPr marL="0" indent="0">
              <a:lnSpc>
                <a:spcPct val="80000"/>
              </a:lnSpc>
              <a:buNone/>
            </a:pPr>
            <a:r>
              <a:rPr lang="fr-CA" altLang="fr-FR" sz="2000" dirty="0"/>
              <a:t>… </a:t>
            </a:r>
            <a:r>
              <a:rPr lang="fr-CA" altLang="fr-FR" sz="2000" i="1" dirty="0">
                <a:solidFill>
                  <a:srgbClr val="FF0000"/>
                </a:solidFill>
              </a:rPr>
              <a:t>taux d'intérêt implicite </a:t>
            </a:r>
            <a:r>
              <a:rPr lang="fr-CA" altLang="fr-FR" sz="2000" i="1" dirty="0"/>
              <a:t>du contrat de location</a:t>
            </a:r>
            <a:r>
              <a:rPr lang="fr-CA" altLang="fr-FR" sz="2000" dirty="0"/>
              <a:t> s'il est possible de déterminer facilement ce taux. Sinon, le preneur doit utiliser son </a:t>
            </a:r>
            <a:r>
              <a:rPr lang="fr-CA" altLang="fr-FR" sz="2000" i="1" dirty="0">
                <a:solidFill>
                  <a:srgbClr val="FF0000"/>
                </a:solidFill>
              </a:rPr>
              <a:t>taux d'emprunt marginal</a:t>
            </a:r>
            <a:r>
              <a:rPr lang="fr-CA" altLang="fr-FR" sz="2000" dirty="0">
                <a:solidFill>
                  <a:srgbClr val="FF0000"/>
                </a:solidFill>
              </a:rPr>
              <a:t>.</a:t>
            </a:r>
          </a:p>
          <a:p>
            <a:pPr marL="0" indent="0">
              <a:lnSpc>
                <a:spcPct val="80000"/>
              </a:lnSpc>
              <a:buNone/>
            </a:pPr>
            <a:endParaRPr lang="fr-CA" altLang="fr-FR" sz="1100" dirty="0"/>
          </a:p>
          <a:p>
            <a:pPr marL="0" indent="0">
              <a:lnSpc>
                <a:spcPct val="80000"/>
              </a:lnSpc>
              <a:buNone/>
            </a:pPr>
            <a:r>
              <a:rPr lang="fr-CA" altLang="fr-FR" sz="2000" dirty="0"/>
              <a:t>27     …</a:t>
            </a:r>
          </a:p>
          <a:p>
            <a:pPr marL="534988" indent="-534988">
              <a:lnSpc>
                <a:spcPct val="80000"/>
              </a:lnSpc>
              <a:buNone/>
            </a:pPr>
            <a:r>
              <a:rPr lang="fr-CA" altLang="fr-FR" sz="2000" dirty="0"/>
              <a:t>(a)     les </a:t>
            </a:r>
            <a:r>
              <a:rPr lang="fr-CA" altLang="fr-FR" sz="2000" i="1" dirty="0">
                <a:solidFill>
                  <a:srgbClr val="3366FF"/>
                </a:solidFill>
              </a:rPr>
              <a:t>paiements fixes</a:t>
            </a:r>
            <a:r>
              <a:rPr lang="fr-CA" altLang="fr-FR" sz="2000" dirty="0">
                <a:solidFill>
                  <a:srgbClr val="3366FF"/>
                </a:solidFill>
              </a:rPr>
              <a:t> </a:t>
            </a:r>
            <a:r>
              <a:rPr lang="fr-CA" altLang="fr-FR" sz="2000" dirty="0"/>
              <a:t>(…), déduction faite des avantages incitatifs à la location à recevoir ;</a:t>
            </a:r>
          </a:p>
          <a:p>
            <a:pPr marL="534988" indent="-534988">
              <a:lnSpc>
                <a:spcPct val="80000"/>
              </a:lnSpc>
              <a:buNone/>
            </a:pPr>
            <a:r>
              <a:rPr lang="fr-CA" altLang="fr-FR" sz="2000" dirty="0"/>
              <a:t>(b)     les </a:t>
            </a:r>
            <a:r>
              <a:rPr lang="fr-CA" altLang="fr-FR" sz="2000" i="1" dirty="0">
                <a:solidFill>
                  <a:srgbClr val="3366FF"/>
                </a:solidFill>
              </a:rPr>
              <a:t>paiements de loyers variables</a:t>
            </a:r>
            <a:r>
              <a:rPr lang="fr-CA" altLang="fr-FR" sz="2000" dirty="0">
                <a:solidFill>
                  <a:srgbClr val="3366FF"/>
                </a:solidFill>
              </a:rPr>
              <a:t> qui sont fonction d'un indice ou d'un taux</a:t>
            </a:r>
            <a:r>
              <a:rPr lang="fr-CA" altLang="fr-FR" sz="2000" dirty="0"/>
              <a:t> (par exemple indice des prix à la consommation), initialement évalués au moyen de l'indice ou du taux en vigueur à la date de début ;</a:t>
            </a:r>
          </a:p>
          <a:p>
            <a:pPr marL="534988" indent="-534988">
              <a:lnSpc>
                <a:spcPct val="80000"/>
              </a:lnSpc>
              <a:buNone/>
            </a:pPr>
            <a:r>
              <a:rPr lang="fr-CA" altLang="fr-FR" sz="2000" dirty="0"/>
              <a:t>(c)     les sommes que le preneur </a:t>
            </a:r>
            <a:r>
              <a:rPr lang="fr-CA" altLang="fr-FR" sz="2000" dirty="0">
                <a:solidFill>
                  <a:srgbClr val="3366FF"/>
                </a:solidFill>
              </a:rPr>
              <a:t>s'attend à devoir payer </a:t>
            </a:r>
            <a:r>
              <a:rPr lang="fr-CA" altLang="fr-FR" sz="2000" dirty="0"/>
              <a:t>au bailleur au titre de </a:t>
            </a:r>
            <a:r>
              <a:rPr lang="fr-CA" altLang="fr-FR" sz="2000" i="1" dirty="0">
                <a:solidFill>
                  <a:srgbClr val="3366FF"/>
                </a:solidFill>
              </a:rPr>
              <a:t>garanties de valeur résiduelle</a:t>
            </a:r>
            <a:r>
              <a:rPr lang="fr-CA" altLang="fr-FR" sz="2000" dirty="0">
                <a:solidFill>
                  <a:srgbClr val="3366FF"/>
                </a:solidFill>
              </a:rPr>
              <a:t> </a:t>
            </a:r>
            <a:r>
              <a:rPr lang="fr-CA" altLang="fr-FR" sz="2000" dirty="0"/>
              <a:t>;</a:t>
            </a:r>
          </a:p>
          <a:p>
            <a:pPr marL="534988" indent="-534988">
              <a:lnSpc>
                <a:spcPct val="80000"/>
              </a:lnSpc>
              <a:buNone/>
            </a:pPr>
            <a:r>
              <a:rPr lang="fr-CA" altLang="fr-FR" sz="2000" dirty="0"/>
              <a:t>(d)     le </a:t>
            </a:r>
            <a:r>
              <a:rPr lang="fr-CA" altLang="fr-FR" sz="2000" dirty="0">
                <a:solidFill>
                  <a:srgbClr val="3366FF"/>
                </a:solidFill>
              </a:rPr>
              <a:t>prix d'exercice de l'option d'achat</a:t>
            </a:r>
            <a:r>
              <a:rPr lang="fr-CA" altLang="fr-FR" sz="2000" dirty="0"/>
              <a:t> que le preneur a la certitude raisonnable d'exercer (…) ;</a:t>
            </a:r>
          </a:p>
          <a:p>
            <a:pPr marL="534988" indent="-534988">
              <a:lnSpc>
                <a:spcPct val="80000"/>
              </a:lnSpc>
              <a:buNone/>
            </a:pPr>
            <a:r>
              <a:rPr lang="fr-CA" altLang="fr-FR" sz="2000" dirty="0"/>
              <a:t>(e)     les </a:t>
            </a:r>
            <a:r>
              <a:rPr lang="fr-CA" altLang="fr-FR" sz="2000" dirty="0">
                <a:solidFill>
                  <a:srgbClr val="3366FF"/>
                </a:solidFill>
              </a:rPr>
              <a:t>pénalités</a:t>
            </a:r>
            <a:r>
              <a:rPr lang="fr-CA" altLang="fr-FR" sz="2000" dirty="0"/>
              <a:t> exigées en cas de résiliation du contrat de location, si la durée du contrat de location reflète l'exercice par le preneur de l'option de résiliation du contrat de location.</a:t>
            </a:r>
          </a:p>
          <a:p>
            <a:pPr marL="0" indent="0">
              <a:lnSpc>
                <a:spcPct val="80000"/>
              </a:lnSpc>
              <a:buNone/>
            </a:pPr>
            <a:endParaRPr lang="fr-CA" altLang="fr-FR" sz="1400" dirty="0"/>
          </a:p>
          <a:p>
            <a:pPr marL="0" indent="0">
              <a:lnSpc>
                <a:spcPct val="80000"/>
              </a:lnSpc>
              <a:buFont typeface="Wingdings" panose="05000000000000000000" pitchFamily="2" charset="2"/>
              <a:buChar char="Ø"/>
            </a:pPr>
            <a:r>
              <a:rPr lang="fr-CA" altLang="fr-FR" sz="2000" dirty="0">
                <a:solidFill>
                  <a:srgbClr val="3366FF"/>
                </a:solidFill>
              </a:rPr>
              <a:t>Exclure les paiements de loyers variables</a:t>
            </a:r>
            <a:r>
              <a:rPr lang="fr-CA" altLang="fr-FR" sz="2000" dirty="0"/>
              <a:t> </a:t>
            </a:r>
            <a:r>
              <a:rPr lang="mr-IN" altLang="fr-FR" sz="2000" dirty="0">
                <a:latin typeface="Mangal" panose="02040503050203030202" pitchFamily="18" charset="0"/>
              </a:rPr>
              <a:t>–</a:t>
            </a:r>
            <a:r>
              <a:rPr lang="fr-CA" altLang="fr-FR" sz="2000" dirty="0"/>
              <a:t> comptabilisés en fin de période</a:t>
            </a:r>
            <a:endParaRPr lang="fr-CA" altLang="fr-FR" sz="2000" dirty="0">
              <a:solidFill>
                <a:srgbClr val="3366FF"/>
              </a:solidFill>
            </a:endParaRPr>
          </a:p>
        </p:txBody>
      </p:sp>
      <p:sp>
        <p:nvSpPr>
          <p:cNvPr id="13316" name="Espace réservé du numéro de diapositive 3">
            <a:extLst>
              <a:ext uri="{FF2B5EF4-FFF2-40B4-BE49-F238E27FC236}">
                <a16:creationId xmlns:a16="http://schemas.microsoft.com/office/drawing/2014/main" id="{7CAFB385-7370-4C58-80DC-73312963CB3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spcBef>
                <a:spcPct val="0"/>
              </a:spcBef>
              <a:buFontTx/>
              <a:buNone/>
            </a:pPr>
            <a:fld id="{5FCBCC94-FCD5-41BA-9D80-15A23153707A}" type="slidenum">
              <a:rPr lang="fr-FR" altLang="fr-FR" sz="1200">
                <a:solidFill>
                  <a:srgbClr val="898989"/>
                </a:solidFill>
              </a:rPr>
              <a:pPr>
                <a:spcBef>
                  <a:spcPct val="0"/>
                </a:spcBef>
                <a:buFontTx/>
                <a:buNone/>
              </a:pPr>
              <a:t>49</a:t>
            </a:fld>
            <a:endParaRPr lang="fr-FR" altLang="fr-FR" sz="1200">
              <a:solidFill>
                <a:srgbClr val="898989"/>
              </a:solidFill>
            </a:endParaRPr>
          </a:p>
        </p:txBody>
      </p:sp>
      <p:sp>
        <p:nvSpPr>
          <p:cNvPr id="2" name="Espace réservé du pied de page 1">
            <a:extLst>
              <a:ext uri="{FF2B5EF4-FFF2-40B4-BE49-F238E27FC236}">
                <a16:creationId xmlns:a16="http://schemas.microsoft.com/office/drawing/2014/main" id="{4C76F83F-B3C5-421E-906B-0CBDB97B6B0B}"/>
              </a:ext>
            </a:extLst>
          </p:cNvPr>
          <p:cNvSpPr>
            <a:spLocks noGrp="1"/>
          </p:cNvSpPr>
          <p:nvPr>
            <p:ph type="ftr" sz="quarter" idx="11"/>
          </p:nvPr>
        </p:nvSpPr>
        <p:spPr/>
        <p:txBody>
          <a:bodyPr/>
          <a:lstStyle/>
          <a:p>
            <a:r>
              <a:rPr lang="fr-FR"/>
              <a:t>Droits réservés - Louise Overbeek</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9878F6D-5488-4F7D-BBE3-DC81BD1661E7}"/>
              </a:ext>
            </a:extLst>
          </p:cNvPr>
          <p:cNvSpPr>
            <a:spLocks noGrp="1"/>
          </p:cNvSpPr>
          <p:nvPr>
            <p:ph type="title"/>
          </p:nvPr>
        </p:nvSpPr>
        <p:spPr/>
        <p:txBody>
          <a:bodyPr/>
          <a:lstStyle/>
          <a:p>
            <a:r>
              <a:rPr lang="fr-CA" sz="4000" dirty="0"/>
              <a:t>Définition</a:t>
            </a:r>
            <a:endParaRPr lang="fr-FR" dirty="0"/>
          </a:p>
        </p:txBody>
      </p:sp>
      <p:sp>
        <p:nvSpPr>
          <p:cNvPr id="3" name="Espace réservé du contenu 2">
            <a:extLst>
              <a:ext uri="{FF2B5EF4-FFF2-40B4-BE49-F238E27FC236}">
                <a16:creationId xmlns:a16="http://schemas.microsoft.com/office/drawing/2014/main" id="{E9776A37-A88D-4D72-8FF0-251232A4499D}"/>
              </a:ext>
            </a:extLst>
          </p:cNvPr>
          <p:cNvSpPr>
            <a:spLocks noGrp="1"/>
          </p:cNvSpPr>
          <p:nvPr>
            <p:ph idx="1"/>
          </p:nvPr>
        </p:nvSpPr>
        <p:spPr>
          <a:xfrm>
            <a:off x="838200" y="1550020"/>
            <a:ext cx="10515600" cy="4626943"/>
          </a:xfrm>
        </p:spPr>
        <p:txBody>
          <a:bodyPr>
            <a:normAutofit fontScale="92500" lnSpcReduction="20000"/>
          </a:bodyPr>
          <a:lstStyle/>
          <a:p>
            <a:pPr marL="0" indent="0">
              <a:buNone/>
            </a:pPr>
            <a:r>
              <a:rPr lang="fr-CA" altLang="fr-FR" i="1" dirty="0">
                <a:solidFill>
                  <a:srgbClr val="FF0000"/>
                </a:solidFill>
              </a:rPr>
              <a:t>Taux d'intérêt implicite :</a:t>
            </a:r>
          </a:p>
          <a:p>
            <a:pPr marL="0" indent="0">
              <a:buNone/>
            </a:pPr>
            <a:r>
              <a:rPr lang="fr-CA" dirty="0"/>
              <a:t>taux d’intérêt qui rend la valeur actualisée</a:t>
            </a:r>
          </a:p>
          <a:p>
            <a:pPr marL="514350" indent="-514350">
              <a:buAutoNum type="alphaLcParenR"/>
            </a:pPr>
            <a:r>
              <a:rPr lang="fr-CA" dirty="0"/>
              <a:t>des paiements de loyer, et</a:t>
            </a:r>
          </a:p>
          <a:p>
            <a:pPr marL="514350" indent="-514350">
              <a:buAutoNum type="alphaLcParenR"/>
            </a:pPr>
            <a:r>
              <a:rPr lang="fr-CA" dirty="0"/>
              <a:t>de </a:t>
            </a:r>
            <a:r>
              <a:rPr lang="fr-CA" dirty="0">
                <a:highlight>
                  <a:srgbClr val="FFFF00"/>
                </a:highlight>
              </a:rPr>
              <a:t>la valeur résiduelle non garantie </a:t>
            </a:r>
            <a:r>
              <a:rPr lang="fr-CA" dirty="0"/>
              <a:t>égale à la somme</a:t>
            </a:r>
          </a:p>
          <a:p>
            <a:pPr marL="0" indent="0">
              <a:buNone/>
            </a:pPr>
            <a:r>
              <a:rPr lang="fr-CA" dirty="0"/>
              <a:t>	i) de la juste valeur du bien sous-jacent, et</a:t>
            </a:r>
          </a:p>
          <a:p>
            <a:pPr marL="0" indent="0">
              <a:buNone/>
            </a:pPr>
            <a:r>
              <a:rPr lang="fr-CA" dirty="0"/>
              <a:t>	ii) des coûts directs initiaux du bailleur</a:t>
            </a:r>
          </a:p>
          <a:p>
            <a:pPr marL="0" indent="0">
              <a:buNone/>
            </a:pPr>
            <a:endParaRPr lang="fr-CA" dirty="0"/>
          </a:p>
          <a:p>
            <a:pPr marL="0" indent="0">
              <a:buNone/>
            </a:pPr>
            <a:r>
              <a:rPr lang="fr-CA" altLang="fr-FR" i="1" dirty="0">
                <a:solidFill>
                  <a:srgbClr val="FF0000"/>
                </a:solidFill>
              </a:rPr>
              <a:t>Taux d'emprunt marginal (du preneur) :</a:t>
            </a:r>
          </a:p>
          <a:p>
            <a:pPr marL="0" indent="0">
              <a:buNone/>
            </a:pPr>
            <a:r>
              <a:rPr lang="fr-FR" dirty="0"/>
              <a:t>taux d’intérêt que le preneur aurait à payer pour emprunter, pour une durée et </a:t>
            </a:r>
            <a:r>
              <a:rPr lang="fr-FR" u="sng" dirty="0">
                <a:solidFill>
                  <a:srgbClr val="0070C0"/>
                </a:solidFill>
              </a:rPr>
              <a:t>avec une garantie similaire</a:t>
            </a:r>
            <a:r>
              <a:rPr lang="fr-FR" dirty="0"/>
              <a:t>, les fonds nécessaires pour se procurer un bien de valeur similaire à l’actif au titre du droit d’utilisation dans un environnement économique similaire.</a:t>
            </a:r>
          </a:p>
          <a:p>
            <a:pPr marL="0" indent="0">
              <a:buNone/>
            </a:pPr>
            <a:endParaRPr lang="fr-FR" dirty="0"/>
          </a:p>
        </p:txBody>
      </p:sp>
      <p:sp>
        <p:nvSpPr>
          <p:cNvPr id="4" name="Espace réservé du numéro de diapositive 3">
            <a:extLst>
              <a:ext uri="{FF2B5EF4-FFF2-40B4-BE49-F238E27FC236}">
                <a16:creationId xmlns:a16="http://schemas.microsoft.com/office/drawing/2014/main" id="{DCDCD95C-BE29-44A6-973B-95E443C8537D}"/>
              </a:ext>
            </a:extLst>
          </p:cNvPr>
          <p:cNvSpPr>
            <a:spLocks noGrp="1"/>
          </p:cNvSpPr>
          <p:nvPr>
            <p:ph type="sldNum" sz="quarter" idx="12"/>
          </p:nvPr>
        </p:nvSpPr>
        <p:spPr/>
        <p:txBody>
          <a:bodyPr/>
          <a:lstStyle/>
          <a:p>
            <a:fld id="{4179CF0F-FECF-45AD-95AD-EC3EE53AA912}" type="slidenum">
              <a:rPr lang="fr-FR" altLang="fr-FR" smtClean="0"/>
              <a:pPr/>
              <a:t>50</a:t>
            </a:fld>
            <a:endParaRPr lang="fr-FR" altLang="fr-FR"/>
          </a:p>
        </p:txBody>
      </p:sp>
      <p:sp>
        <p:nvSpPr>
          <p:cNvPr id="5" name="Espace réservé du pied de page 4">
            <a:extLst>
              <a:ext uri="{FF2B5EF4-FFF2-40B4-BE49-F238E27FC236}">
                <a16:creationId xmlns:a16="http://schemas.microsoft.com/office/drawing/2014/main" id="{BBFBA40F-4848-48E0-AE51-C4E3CF5C673F}"/>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20587579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re 1">
            <a:extLst>
              <a:ext uri="{FF2B5EF4-FFF2-40B4-BE49-F238E27FC236}">
                <a16:creationId xmlns:a16="http://schemas.microsoft.com/office/drawing/2014/main" id="{FCE10EF8-C8BD-424E-8CA2-38A470DADAB8}"/>
              </a:ext>
            </a:extLst>
          </p:cNvPr>
          <p:cNvSpPr>
            <a:spLocks noGrp="1"/>
          </p:cNvSpPr>
          <p:nvPr>
            <p:ph type="title"/>
          </p:nvPr>
        </p:nvSpPr>
        <p:spPr>
          <a:xfrm>
            <a:off x="880946" y="274639"/>
            <a:ext cx="10348332" cy="765175"/>
          </a:xfrm>
        </p:spPr>
        <p:txBody>
          <a:bodyPr/>
          <a:lstStyle/>
          <a:p>
            <a:pPr eaLnBrk="1" hangingPunct="1"/>
            <a:r>
              <a:rPr lang="fr-CA" altLang="fr-FR" sz="2800" dirty="0"/>
              <a:t>Preneur </a:t>
            </a:r>
            <a:r>
              <a:rPr lang="mr-IN" altLang="fr-FR" sz="2800" dirty="0">
                <a:latin typeface="Mangal" panose="02040503050203030202" pitchFamily="18" charset="0"/>
              </a:rPr>
              <a:t>–</a:t>
            </a:r>
            <a:r>
              <a:rPr lang="fr-CA" altLang="fr-FR" sz="2800" dirty="0"/>
              <a:t> séparation des composantes d</a:t>
            </a:r>
            <a:r>
              <a:rPr lang="fr-CA" altLang="fr-CA" sz="2800" dirty="0"/>
              <a:t>’</a:t>
            </a:r>
            <a:r>
              <a:rPr lang="fr-CA" altLang="fr-FR" sz="2800" dirty="0"/>
              <a:t>un contrat</a:t>
            </a:r>
            <a:endParaRPr lang="fr-CA" altLang="fr-FR" sz="3600" dirty="0"/>
          </a:p>
        </p:txBody>
      </p:sp>
      <p:sp>
        <p:nvSpPr>
          <p:cNvPr id="14339" name="Espace réservé du contenu 2">
            <a:extLst>
              <a:ext uri="{FF2B5EF4-FFF2-40B4-BE49-F238E27FC236}">
                <a16:creationId xmlns:a16="http://schemas.microsoft.com/office/drawing/2014/main" id="{5DB1D149-C353-4B8D-8446-85F1149B38BF}"/>
              </a:ext>
            </a:extLst>
          </p:cNvPr>
          <p:cNvSpPr>
            <a:spLocks noGrp="1"/>
          </p:cNvSpPr>
          <p:nvPr>
            <p:ph idx="1"/>
          </p:nvPr>
        </p:nvSpPr>
        <p:spPr>
          <a:xfrm>
            <a:off x="880946" y="1405054"/>
            <a:ext cx="10430108" cy="4951297"/>
          </a:xfrm>
        </p:spPr>
        <p:txBody>
          <a:bodyPr/>
          <a:lstStyle/>
          <a:p>
            <a:pPr marL="0" indent="0">
              <a:buNone/>
            </a:pPr>
            <a:r>
              <a:rPr lang="fr-CA" altLang="fr-FR" sz="2400" dirty="0">
                <a:solidFill>
                  <a:srgbClr val="000000"/>
                </a:solidFill>
              </a:rPr>
              <a:t>Le contrat de location peut contenir des composantes</a:t>
            </a:r>
          </a:p>
          <a:p>
            <a:pPr marL="0" indent="0"/>
            <a:r>
              <a:rPr lang="fr-CA" altLang="fr-FR" sz="2400" dirty="0">
                <a:solidFill>
                  <a:srgbClr val="000000"/>
                </a:solidFill>
              </a:rPr>
              <a:t>  Locatives : montant qui sert à « payer » pour l</a:t>
            </a:r>
            <a:r>
              <a:rPr lang="fr-CA" altLang="fr-CA" sz="2400" dirty="0">
                <a:solidFill>
                  <a:srgbClr val="000000"/>
                </a:solidFill>
              </a:rPr>
              <a:t>’</a:t>
            </a:r>
            <a:r>
              <a:rPr lang="fr-CA" altLang="fr-FR" sz="2400" dirty="0">
                <a:solidFill>
                  <a:srgbClr val="000000"/>
                </a:solidFill>
              </a:rPr>
              <a:t>actif</a:t>
            </a:r>
          </a:p>
          <a:p>
            <a:pPr marL="268288" indent="-268288"/>
            <a:r>
              <a:rPr lang="fr-CA" altLang="fr-FR" sz="2400" dirty="0">
                <a:solidFill>
                  <a:srgbClr val="000000"/>
                </a:solidFill>
              </a:rPr>
              <a:t>Non locatives : par exemple bailleur inclut dans le coût de la location le service d</a:t>
            </a:r>
            <a:r>
              <a:rPr lang="fr-CA" altLang="fr-CA" sz="2400" dirty="0">
                <a:solidFill>
                  <a:srgbClr val="000000"/>
                </a:solidFill>
              </a:rPr>
              <a:t>’</a:t>
            </a:r>
            <a:r>
              <a:rPr lang="fr-CA" altLang="fr-FR" sz="2400" dirty="0">
                <a:solidFill>
                  <a:srgbClr val="000000"/>
                </a:solidFill>
              </a:rPr>
              <a:t>entretien qu</a:t>
            </a:r>
            <a:r>
              <a:rPr lang="fr-CA" altLang="fr-CA" sz="2400" dirty="0">
                <a:solidFill>
                  <a:srgbClr val="000000"/>
                </a:solidFill>
              </a:rPr>
              <a:t>’</a:t>
            </a:r>
            <a:r>
              <a:rPr lang="fr-CA" altLang="fr-FR" sz="2400" dirty="0">
                <a:solidFill>
                  <a:srgbClr val="000000"/>
                </a:solidFill>
              </a:rPr>
              <a:t>il effectuera</a:t>
            </a:r>
          </a:p>
          <a:p>
            <a:pPr marL="0" indent="0"/>
            <a:endParaRPr lang="fr-CA" altLang="fr-FR" sz="2400" dirty="0">
              <a:solidFill>
                <a:srgbClr val="000000"/>
              </a:solidFill>
            </a:endParaRPr>
          </a:p>
          <a:p>
            <a:pPr marL="177800" indent="-177800"/>
            <a:r>
              <a:rPr lang="fr-CA" altLang="fr-FR" sz="2400" dirty="0">
                <a:solidFill>
                  <a:srgbClr val="3366FF"/>
                </a:solidFill>
              </a:rPr>
              <a:t> Obligation locative n</a:t>
            </a:r>
            <a:r>
              <a:rPr lang="fr-CA" altLang="fr-CA" sz="2400" dirty="0">
                <a:solidFill>
                  <a:srgbClr val="3366FF"/>
                </a:solidFill>
              </a:rPr>
              <a:t>’</a:t>
            </a:r>
            <a:r>
              <a:rPr lang="fr-CA" altLang="fr-FR" sz="2400" dirty="0">
                <a:solidFill>
                  <a:srgbClr val="3366FF"/>
                </a:solidFill>
              </a:rPr>
              <a:t>inclut que la portion des coûts du contrat de location couvrant les composantes locatives</a:t>
            </a:r>
          </a:p>
          <a:p>
            <a:pPr marL="0" indent="0">
              <a:buFont typeface="Wingdings" panose="05000000000000000000" pitchFamily="2" charset="2"/>
              <a:buChar char="Ø"/>
            </a:pPr>
            <a:r>
              <a:rPr lang="fr-CA" altLang="fr-FR" sz="2400" dirty="0">
                <a:solidFill>
                  <a:srgbClr val="000000"/>
                </a:solidFill>
              </a:rPr>
              <a:t>Mais </a:t>
            </a:r>
            <a:r>
              <a:rPr lang="fr-CA" altLang="fr-FR" sz="2400" dirty="0">
                <a:solidFill>
                  <a:srgbClr val="3366FF"/>
                </a:solidFill>
              </a:rPr>
              <a:t>choix</a:t>
            </a:r>
            <a:r>
              <a:rPr lang="fr-CA" altLang="fr-FR" sz="2400" dirty="0">
                <a:solidFill>
                  <a:srgbClr val="000000"/>
                </a:solidFill>
              </a:rPr>
              <a:t> offert au preneur de simplifier et de ne pas séparer les composantes locatives des composantes non locatives = &gt; et donc d</a:t>
            </a:r>
            <a:r>
              <a:rPr lang="fr-CA" altLang="fr-CA" sz="2400" dirty="0">
                <a:solidFill>
                  <a:srgbClr val="000000"/>
                </a:solidFill>
              </a:rPr>
              <a:t>’</a:t>
            </a:r>
            <a:r>
              <a:rPr lang="fr-CA" altLang="ja-JP" sz="2400" dirty="0">
                <a:solidFill>
                  <a:srgbClr val="3366FF"/>
                </a:solidFill>
              </a:rPr>
              <a:t>inclure la totalité des paiements</a:t>
            </a:r>
            <a:r>
              <a:rPr lang="fr-CA" altLang="ja-JP" sz="2400" dirty="0">
                <a:solidFill>
                  <a:srgbClr val="000000"/>
                </a:solidFill>
              </a:rPr>
              <a:t> de location dans le calcul de l</a:t>
            </a:r>
            <a:r>
              <a:rPr lang="fr-CA" altLang="fr-CA" sz="2400" dirty="0">
                <a:solidFill>
                  <a:srgbClr val="000000"/>
                </a:solidFill>
              </a:rPr>
              <a:t>’</a:t>
            </a:r>
            <a:r>
              <a:rPr lang="fr-CA" altLang="ja-JP" sz="2400" dirty="0">
                <a:solidFill>
                  <a:srgbClr val="000000"/>
                </a:solidFill>
              </a:rPr>
              <a:t>évaluation initiale de l</a:t>
            </a:r>
            <a:r>
              <a:rPr lang="fr-CA" altLang="fr-CA" sz="2400" dirty="0">
                <a:solidFill>
                  <a:srgbClr val="000000"/>
                </a:solidFill>
              </a:rPr>
              <a:t>’</a:t>
            </a:r>
            <a:r>
              <a:rPr lang="fr-CA" altLang="ja-JP" sz="2400" dirty="0">
                <a:solidFill>
                  <a:srgbClr val="000000"/>
                </a:solidFill>
              </a:rPr>
              <a:t>obligation locative</a:t>
            </a:r>
            <a:endParaRPr lang="fr-CA" altLang="fr-FR" sz="2400" dirty="0">
              <a:solidFill>
                <a:srgbClr val="000000"/>
              </a:solidFill>
            </a:endParaRPr>
          </a:p>
        </p:txBody>
      </p:sp>
      <p:sp>
        <p:nvSpPr>
          <p:cNvPr id="14340" name="Espace réservé du numéro de diapositive 3">
            <a:extLst>
              <a:ext uri="{FF2B5EF4-FFF2-40B4-BE49-F238E27FC236}">
                <a16:creationId xmlns:a16="http://schemas.microsoft.com/office/drawing/2014/main" id="{A78AB300-E274-4881-B017-EB0B37F4BD2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spcBef>
                <a:spcPct val="0"/>
              </a:spcBef>
              <a:buFontTx/>
              <a:buNone/>
            </a:pPr>
            <a:fld id="{189201E9-EDD6-469B-A03B-70999A028287}" type="slidenum">
              <a:rPr lang="fr-FR" altLang="fr-FR" sz="1200">
                <a:solidFill>
                  <a:srgbClr val="898989"/>
                </a:solidFill>
              </a:rPr>
              <a:pPr>
                <a:spcBef>
                  <a:spcPct val="0"/>
                </a:spcBef>
                <a:buFontTx/>
                <a:buNone/>
              </a:pPr>
              <a:t>51</a:t>
            </a:fld>
            <a:endParaRPr lang="fr-FR" altLang="fr-FR" sz="1200">
              <a:solidFill>
                <a:srgbClr val="898989"/>
              </a:solidFill>
            </a:endParaRPr>
          </a:p>
        </p:txBody>
      </p:sp>
      <p:sp>
        <p:nvSpPr>
          <p:cNvPr id="2" name="Espace réservé du pied de page 1">
            <a:extLst>
              <a:ext uri="{FF2B5EF4-FFF2-40B4-BE49-F238E27FC236}">
                <a16:creationId xmlns:a16="http://schemas.microsoft.com/office/drawing/2014/main" id="{20B517CB-A1C4-44B4-BEF1-9DBC1ABB0B3E}"/>
              </a:ext>
            </a:extLst>
          </p:cNvPr>
          <p:cNvSpPr>
            <a:spLocks noGrp="1"/>
          </p:cNvSpPr>
          <p:nvPr>
            <p:ph type="ftr" sz="quarter" idx="11"/>
          </p:nvPr>
        </p:nvSpPr>
        <p:spPr/>
        <p:txBody>
          <a:bodyPr/>
          <a:lstStyle/>
          <a:p>
            <a:r>
              <a:rPr lang="fr-FR"/>
              <a:t>Droits réservés - Louise Overbeek</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re 1">
            <a:extLst>
              <a:ext uri="{FF2B5EF4-FFF2-40B4-BE49-F238E27FC236}">
                <a16:creationId xmlns:a16="http://schemas.microsoft.com/office/drawing/2014/main" id="{BB4A3C6F-608C-4F84-A0E9-DACABB5E26BE}"/>
              </a:ext>
            </a:extLst>
          </p:cNvPr>
          <p:cNvSpPr>
            <a:spLocks noGrp="1"/>
          </p:cNvSpPr>
          <p:nvPr>
            <p:ph type="title"/>
          </p:nvPr>
        </p:nvSpPr>
        <p:spPr/>
        <p:txBody>
          <a:bodyPr/>
          <a:lstStyle/>
          <a:p>
            <a:pPr eaLnBrk="1" hangingPunct="1"/>
            <a:r>
              <a:rPr lang="fr-CA" altLang="fr-FR" sz="3600"/>
              <a:t>Preneur</a:t>
            </a:r>
          </a:p>
        </p:txBody>
      </p:sp>
      <p:sp>
        <p:nvSpPr>
          <p:cNvPr id="15363" name="Espace réservé du contenu 2">
            <a:extLst>
              <a:ext uri="{FF2B5EF4-FFF2-40B4-BE49-F238E27FC236}">
                <a16:creationId xmlns:a16="http://schemas.microsoft.com/office/drawing/2014/main" id="{BC34818F-534B-4FBB-8841-893D1FC872A5}"/>
              </a:ext>
            </a:extLst>
          </p:cNvPr>
          <p:cNvSpPr>
            <a:spLocks noGrp="1"/>
          </p:cNvSpPr>
          <p:nvPr>
            <p:ph idx="1"/>
          </p:nvPr>
        </p:nvSpPr>
        <p:spPr/>
        <p:txBody>
          <a:bodyPr/>
          <a:lstStyle/>
          <a:p>
            <a:pPr marL="0" indent="0">
              <a:buNone/>
            </a:pPr>
            <a:r>
              <a:rPr lang="fr-CA" altLang="fr-FR" dirty="0"/>
              <a:t>Comptabilisation initiale : </a:t>
            </a:r>
          </a:p>
          <a:p>
            <a:pPr marL="0" indent="0">
              <a:lnSpc>
                <a:spcPct val="70000"/>
              </a:lnSpc>
              <a:buNone/>
            </a:pPr>
            <a:r>
              <a:rPr lang="fr-CA" altLang="fr-FR" dirty="0"/>
              <a:t>	</a:t>
            </a:r>
            <a:r>
              <a:rPr lang="fr-CA" altLang="fr-FR" sz="2400" dirty="0"/>
              <a:t>Droit d'utilisation   - </a:t>
            </a:r>
            <a:r>
              <a:rPr lang="fr-CA" altLang="fr-FR" sz="2400" i="1" dirty="0"/>
              <a:t>Actif</a:t>
            </a:r>
          </a:p>
          <a:p>
            <a:pPr marL="0" indent="0">
              <a:lnSpc>
                <a:spcPct val="70000"/>
              </a:lnSpc>
              <a:buNone/>
            </a:pPr>
            <a:r>
              <a:rPr lang="fr-CA" altLang="fr-FR" sz="2400" dirty="0"/>
              <a:t>	@ Obligation locative    - </a:t>
            </a:r>
            <a:r>
              <a:rPr lang="fr-CA" altLang="fr-FR" sz="2400" i="1" dirty="0"/>
              <a:t>Passif</a:t>
            </a:r>
          </a:p>
          <a:p>
            <a:pPr marL="0" indent="0">
              <a:lnSpc>
                <a:spcPct val="70000"/>
              </a:lnSpc>
              <a:buNone/>
            </a:pPr>
            <a:r>
              <a:rPr lang="fr-CA" altLang="fr-FR" sz="2400" dirty="0"/>
              <a:t>	     Encaisse    - si versement initial</a:t>
            </a:r>
          </a:p>
          <a:p>
            <a:pPr marL="0" indent="0">
              <a:lnSpc>
                <a:spcPct val="70000"/>
              </a:lnSpc>
              <a:buNone/>
            </a:pPr>
            <a:endParaRPr lang="fr-CA" altLang="fr-FR" dirty="0"/>
          </a:p>
          <a:p>
            <a:pPr marL="354013" lvl="2" indent="-354013"/>
            <a:r>
              <a:rPr lang="fr-CA" altLang="fr-FR" sz="2800" dirty="0"/>
              <a:t>L</a:t>
            </a:r>
            <a:r>
              <a:rPr lang="fr-CA" altLang="fr-CA" sz="2800" dirty="0"/>
              <a:t>’</a:t>
            </a:r>
            <a:r>
              <a:rPr lang="fr-CA" altLang="fr-FR" sz="2800" dirty="0"/>
              <a:t>actif lié au droit d</a:t>
            </a:r>
            <a:r>
              <a:rPr lang="fr-CA" altLang="fr-CA" sz="2800" dirty="0"/>
              <a:t>’</a:t>
            </a:r>
            <a:r>
              <a:rPr lang="fr-CA" altLang="fr-FR" sz="2800" dirty="0"/>
              <a:t>utilisation est amorti (habituellement amortissement linéaire)</a:t>
            </a:r>
          </a:p>
          <a:p>
            <a:pPr marL="811213" lvl="3" indent="-354013"/>
            <a:r>
              <a:rPr lang="fr-CA" altLang="fr-FR" sz="2400" dirty="0">
                <a:solidFill>
                  <a:srgbClr val="FF0000"/>
                </a:solidFill>
              </a:rPr>
              <a:t>Durée du bail </a:t>
            </a:r>
            <a:r>
              <a:rPr lang="fr-CA" altLang="fr-FR" sz="2400" i="1" dirty="0"/>
              <a:t>(retourne le bien)</a:t>
            </a:r>
            <a:r>
              <a:rPr lang="fr-CA" altLang="fr-FR" sz="2400" dirty="0">
                <a:solidFill>
                  <a:srgbClr val="FF0000"/>
                </a:solidFill>
              </a:rPr>
              <a:t> ou durée économique </a:t>
            </a:r>
            <a:r>
              <a:rPr lang="fr-CA" altLang="fr-FR" sz="2400" i="1" dirty="0"/>
              <a:t>(conserve le bien)</a:t>
            </a:r>
          </a:p>
          <a:p>
            <a:pPr marL="354013" lvl="2" indent="-354013"/>
            <a:r>
              <a:rPr lang="fr-CA" altLang="fr-FR" sz="2800" dirty="0"/>
              <a:t>Des intérêts sont cumulés sur le passif</a:t>
            </a:r>
          </a:p>
          <a:p>
            <a:pPr marL="811213" lvl="3" indent="-354013"/>
            <a:r>
              <a:rPr lang="fr-CA" altLang="fr-FR" sz="2400" dirty="0"/>
              <a:t>Se « rembourse » via les paiements de location</a:t>
            </a:r>
            <a:endParaRPr lang="fr-CA" altLang="fr-FR" sz="5200" dirty="0"/>
          </a:p>
          <a:p>
            <a:pPr marL="0" indent="0"/>
            <a:endParaRPr lang="fr-CA" altLang="fr-FR" dirty="0"/>
          </a:p>
        </p:txBody>
      </p:sp>
      <p:sp>
        <p:nvSpPr>
          <p:cNvPr id="15364" name="Espace réservé du numéro de diapositive 3">
            <a:extLst>
              <a:ext uri="{FF2B5EF4-FFF2-40B4-BE49-F238E27FC236}">
                <a16:creationId xmlns:a16="http://schemas.microsoft.com/office/drawing/2014/main" id="{1E29D1F5-3856-415A-BB1F-34514B212BF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spcBef>
                <a:spcPct val="0"/>
              </a:spcBef>
              <a:buFontTx/>
              <a:buNone/>
            </a:pPr>
            <a:fld id="{D6DA926D-EE12-4546-B211-7520BE77157A}" type="slidenum">
              <a:rPr lang="fr-FR" altLang="fr-FR" sz="1200">
                <a:solidFill>
                  <a:srgbClr val="898989"/>
                </a:solidFill>
              </a:rPr>
              <a:pPr>
                <a:spcBef>
                  <a:spcPct val="0"/>
                </a:spcBef>
                <a:buFontTx/>
                <a:buNone/>
              </a:pPr>
              <a:t>52</a:t>
            </a:fld>
            <a:endParaRPr lang="fr-FR" altLang="fr-FR" sz="1200">
              <a:solidFill>
                <a:srgbClr val="898989"/>
              </a:solidFill>
            </a:endParaRPr>
          </a:p>
        </p:txBody>
      </p:sp>
      <p:sp>
        <p:nvSpPr>
          <p:cNvPr id="2" name="Espace réservé du pied de page 1">
            <a:extLst>
              <a:ext uri="{FF2B5EF4-FFF2-40B4-BE49-F238E27FC236}">
                <a16:creationId xmlns:a16="http://schemas.microsoft.com/office/drawing/2014/main" id="{54150921-DA6D-4100-969C-BE08D742A2E4}"/>
              </a:ext>
            </a:extLst>
          </p:cNvPr>
          <p:cNvSpPr>
            <a:spLocks noGrp="1"/>
          </p:cNvSpPr>
          <p:nvPr>
            <p:ph type="ftr" sz="quarter" idx="11"/>
          </p:nvPr>
        </p:nvSpPr>
        <p:spPr/>
        <p:txBody>
          <a:bodyPr/>
          <a:lstStyle/>
          <a:p>
            <a:r>
              <a:rPr lang="fr-FR"/>
              <a:t>Droits réservés - Louise Overbeek</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841EBF6-7548-4F88-A708-0E429DFCB575}"/>
              </a:ext>
            </a:extLst>
          </p:cNvPr>
          <p:cNvSpPr>
            <a:spLocks noGrp="1"/>
          </p:cNvSpPr>
          <p:nvPr>
            <p:ph type="title"/>
          </p:nvPr>
        </p:nvSpPr>
        <p:spPr/>
        <p:txBody>
          <a:bodyPr/>
          <a:lstStyle/>
          <a:p>
            <a:r>
              <a:rPr lang="fr-CA" sz="3600" dirty="0"/>
              <a:t>Période d’amortissement du droit d’utilisation</a:t>
            </a:r>
            <a:endParaRPr lang="fr-FR" dirty="0"/>
          </a:p>
        </p:txBody>
      </p:sp>
      <p:sp>
        <p:nvSpPr>
          <p:cNvPr id="3" name="Espace réservé du contenu 2">
            <a:extLst>
              <a:ext uri="{FF2B5EF4-FFF2-40B4-BE49-F238E27FC236}">
                <a16:creationId xmlns:a16="http://schemas.microsoft.com/office/drawing/2014/main" id="{47064088-E025-4815-A95E-AC99B0F9FFA5}"/>
              </a:ext>
            </a:extLst>
          </p:cNvPr>
          <p:cNvSpPr>
            <a:spLocks noGrp="1"/>
          </p:cNvSpPr>
          <p:nvPr>
            <p:ph idx="1"/>
          </p:nvPr>
        </p:nvSpPr>
        <p:spPr/>
        <p:txBody>
          <a:bodyPr/>
          <a:lstStyle/>
          <a:p>
            <a:pPr marL="0" indent="0">
              <a:buNone/>
            </a:pPr>
            <a:r>
              <a:rPr lang="fr-CA" altLang="fr-FR" dirty="0">
                <a:solidFill>
                  <a:srgbClr val="FF0000"/>
                </a:solidFill>
              </a:rPr>
              <a:t>Durée du bail ou durée économique</a:t>
            </a:r>
          </a:p>
          <a:p>
            <a:pPr marL="0" indent="0">
              <a:buNone/>
            </a:pPr>
            <a:r>
              <a:rPr lang="fr-FR" dirty="0"/>
              <a:t>Durée du bail : si transfert du titre de propriété à la fin du bail</a:t>
            </a:r>
          </a:p>
          <a:p>
            <a:pPr marL="0" indent="0">
              <a:buNone/>
            </a:pPr>
            <a:r>
              <a:rPr lang="fr-FR" dirty="0"/>
              <a:t>Durée économique : si durée de la location couvre la durée économique ou si preneur conservera le bien à la fin du bail (option d’achat à prix de faveur)</a:t>
            </a:r>
          </a:p>
        </p:txBody>
      </p:sp>
      <p:sp>
        <p:nvSpPr>
          <p:cNvPr id="4" name="Espace réservé du numéro de diapositive 3">
            <a:extLst>
              <a:ext uri="{FF2B5EF4-FFF2-40B4-BE49-F238E27FC236}">
                <a16:creationId xmlns:a16="http://schemas.microsoft.com/office/drawing/2014/main" id="{2C43A0BB-CBDD-4247-BD24-FBECD0BA11E9}"/>
              </a:ext>
            </a:extLst>
          </p:cNvPr>
          <p:cNvSpPr>
            <a:spLocks noGrp="1"/>
          </p:cNvSpPr>
          <p:nvPr>
            <p:ph type="sldNum" sz="quarter" idx="12"/>
          </p:nvPr>
        </p:nvSpPr>
        <p:spPr/>
        <p:txBody>
          <a:bodyPr/>
          <a:lstStyle/>
          <a:p>
            <a:fld id="{4179CF0F-FECF-45AD-95AD-EC3EE53AA912}" type="slidenum">
              <a:rPr lang="fr-FR" altLang="fr-FR" smtClean="0"/>
              <a:pPr/>
              <a:t>53</a:t>
            </a:fld>
            <a:endParaRPr lang="fr-FR" altLang="fr-FR"/>
          </a:p>
        </p:txBody>
      </p:sp>
      <p:sp>
        <p:nvSpPr>
          <p:cNvPr id="5" name="Espace réservé du pied de page 4">
            <a:extLst>
              <a:ext uri="{FF2B5EF4-FFF2-40B4-BE49-F238E27FC236}">
                <a16:creationId xmlns:a16="http://schemas.microsoft.com/office/drawing/2014/main" id="{4498FD99-356F-4969-97A9-04700ED7696B}"/>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408589510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re 1">
            <a:extLst>
              <a:ext uri="{FF2B5EF4-FFF2-40B4-BE49-F238E27FC236}">
                <a16:creationId xmlns:a16="http://schemas.microsoft.com/office/drawing/2014/main" id="{A2D1432D-C2F7-45A5-A0D3-C85B86B7085A}"/>
              </a:ext>
            </a:extLst>
          </p:cNvPr>
          <p:cNvSpPr>
            <a:spLocks noGrp="1"/>
          </p:cNvSpPr>
          <p:nvPr>
            <p:ph type="title"/>
          </p:nvPr>
        </p:nvSpPr>
        <p:spPr/>
        <p:txBody>
          <a:bodyPr/>
          <a:lstStyle/>
          <a:p>
            <a:pPr eaLnBrk="1" hangingPunct="1"/>
            <a:r>
              <a:rPr lang="fr-CA" altLang="fr-FR" sz="3600"/>
              <a:t>Preneur </a:t>
            </a:r>
            <a:r>
              <a:rPr lang="mr-IN" altLang="fr-FR" sz="3600">
                <a:latin typeface="Mangal" panose="02040503050203030202" pitchFamily="18" charset="0"/>
              </a:rPr>
              <a:t>–</a:t>
            </a:r>
            <a:r>
              <a:rPr lang="fr-CA" altLang="fr-FR" sz="3600"/>
              <a:t> évaluation ultérieure</a:t>
            </a:r>
          </a:p>
        </p:txBody>
      </p:sp>
      <p:sp>
        <p:nvSpPr>
          <p:cNvPr id="16387" name="Espace réservé du contenu 2">
            <a:extLst>
              <a:ext uri="{FF2B5EF4-FFF2-40B4-BE49-F238E27FC236}">
                <a16:creationId xmlns:a16="http://schemas.microsoft.com/office/drawing/2014/main" id="{ACD34C2D-8590-447F-B640-6777ADAC6294}"/>
              </a:ext>
            </a:extLst>
          </p:cNvPr>
          <p:cNvSpPr>
            <a:spLocks noGrp="1"/>
          </p:cNvSpPr>
          <p:nvPr>
            <p:ph idx="1"/>
          </p:nvPr>
        </p:nvSpPr>
        <p:spPr/>
        <p:txBody>
          <a:bodyPr/>
          <a:lstStyle/>
          <a:p>
            <a:pPr eaLnBrk="1" hangingPunct="1"/>
            <a:r>
              <a:rPr lang="fr-CA" altLang="fr-FR" dirty="0">
                <a:solidFill>
                  <a:srgbClr val="3366FF"/>
                </a:solidFill>
              </a:rPr>
              <a:t>De l</a:t>
            </a:r>
            <a:r>
              <a:rPr lang="fr-CA" altLang="fr-CA" dirty="0">
                <a:solidFill>
                  <a:srgbClr val="3366FF"/>
                </a:solidFill>
              </a:rPr>
              <a:t>’</a:t>
            </a:r>
            <a:r>
              <a:rPr lang="fr-CA" altLang="fr-FR" dirty="0">
                <a:solidFill>
                  <a:srgbClr val="3366FF"/>
                </a:solidFill>
              </a:rPr>
              <a:t>actif au titre du droit d</a:t>
            </a:r>
            <a:r>
              <a:rPr lang="fr-CA" altLang="fr-CA" dirty="0">
                <a:solidFill>
                  <a:srgbClr val="3366FF"/>
                </a:solidFill>
              </a:rPr>
              <a:t>’</a:t>
            </a:r>
            <a:r>
              <a:rPr lang="fr-CA" altLang="fr-FR" dirty="0">
                <a:solidFill>
                  <a:srgbClr val="3366FF"/>
                </a:solidFill>
              </a:rPr>
              <a:t>utilisation</a:t>
            </a:r>
          </a:p>
          <a:p>
            <a:pPr lvl="1" eaLnBrk="1" hangingPunct="1"/>
            <a:r>
              <a:rPr lang="fr-CA" altLang="fr-FR" dirty="0"/>
              <a:t>Modèle du coût</a:t>
            </a:r>
          </a:p>
          <a:p>
            <a:pPr lvl="2" eaLnBrk="1" hangingPunct="1"/>
            <a:r>
              <a:rPr lang="fr-CA" altLang="fr-FR" dirty="0"/>
              <a:t>Amortissement, dépréciation</a:t>
            </a:r>
          </a:p>
          <a:p>
            <a:pPr lvl="1" eaLnBrk="1" hangingPunct="1"/>
            <a:endParaRPr lang="fr-CA" altLang="fr-FR" dirty="0"/>
          </a:p>
          <a:p>
            <a:pPr lvl="1" eaLnBrk="1" hangingPunct="1"/>
            <a:r>
              <a:rPr lang="fr-CA" altLang="fr-FR" dirty="0"/>
              <a:t>Modèle de la juste valeur</a:t>
            </a:r>
          </a:p>
          <a:p>
            <a:pPr lvl="2" eaLnBrk="1" hangingPunct="1"/>
            <a:r>
              <a:rPr lang="fr-CA" altLang="fr-FR" dirty="0"/>
              <a:t>IAS 40 </a:t>
            </a:r>
            <a:r>
              <a:rPr lang="fr-CA" altLang="fr-FR" i="1" dirty="0"/>
              <a:t>Immeubles de placement</a:t>
            </a:r>
            <a:r>
              <a:rPr lang="fr-CA" altLang="fr-FR" dirty="0"/>
              <a:t> : </a:t>
            </a:r>
            <a:r>
              <a:rPr lang="fr-CA" altLang="fr-FR" dirty="0">
                <a:solidFill>
                  <a:srgbClr val="3366FF"/>
                </a:solidFill>
              </a:rPr>
              <a:t>doit</a:t>
            </a:r>
            <a:r>
              <a:rPr lang="fr-CA" altLang="fr-FR" dirty="0"/>
              <a:t> faire le même choix que pour ses immeubles de placement</a:t>
            </a:r>
          </a:p>
          <a:p>
            <a:pPr lvl="1" eaLnBrk="1" hangingPunct="1"/>
            <a:r>
              <a:rPr lang="fr-CA" altLang="fr-FR" dirty="0"/>
              <a:t>Modèle de la réévaluation </a:t>
            </a:r>
          </a:p>
          <a:p>
            <a:pPr lvl="2" eaLnBrk="1" hangingPunct="1"/>
            <a:r>
              <a:rPr lang="fr-CA" altLang="fr-FR" dirty="0"/>
              <a:t>IAS 16 : si fait ce choix pour une catégorie d</a:t>
            </a:r>
            <a:r>
              <a:rPr lang="fr-CA" altLang="fr-CA" dirty="0"/>
              <a:t>’</a:t>
            </a:r>
            <a:r>
              <a:rPr lang="fr-CA" altLang="fr-FR" dirty="0"/>
              <a:t>immobilisations corporelles - </a:t>
            </a:r>
            <a:r>
              <a:rPr lang="fr-CA" altLang="fr-FR" dirty="0">
                <a:solidFill>
                  <a:srgbClr val="3366FF"/>
                </a:solidFill>
              </a:rPr>
              <a:t>peut choisir</a:t>
            </a:r>
            <a:r>
              <a:rPr lang="fr-CA" altLang="fr-FR" dirty="0"/>
              <a:t> d</a:t>
            </a:r>
            <a:r>
              <a:rPr lang="fr-CA" altLang="fr-CA" dirty="0"/>
              <a:t>’</a:t>
            </a:r>
            <a:r>
              <a:rPr lang="fr-CA" altLang="fr-FR" dirty="0"/>
              <a:t>appliquer ce modèle</a:t>
            </a:r>
          </a:p>
        </p:txBody>
      </p:sp>
      <p:sp>
        <p:nvSpPr>
          <p:cNvPr id="16388" name="Espace réservé du numéro de diapositive 3">
            <a:extLst>
              <a:ext uri="{FF2B5EF4-FFF2-40B4-BE49-F238E27FC236}">
                <a16:creationId xmlns:a16="http://schemas.microsoft.com/office/drawing/2014/main" id="{FA9387E0-4845-4D1D-8C77-CBF2C5407B2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spcBef>
                <a:spcPct val="0"/>
              </a:spcBef>
              <a:buFontTx/>
              <a:buNone/>
            </a:pPr>
            <a:fld id="{ABE24AAF-5F15-4B36-92FF-754657675BFD}" type="slidenum">
              <a:rPr lang="fr-FR" altLang="fr-FR" sz="1200">
                <a:solidFill>
                  <a:srgbClr val="898989"/>
                </a:solidFill>
              </a:rPr>
              <a:pPr>
                <a:spcBef>
                  <a:spcPct val="0"/>
                </a:spcBef>
                <a:buFontTx/>
                <a:buNone/>
              </a:pPr>
              <a:t>54</a:t>
            </a:fld>
            <a:endParaRPr lang="fr-FR" altLang="fr-FR" sz="1200">
              <a:solidFill>
                <a:srgbClr val="898989"/>
              </a:solidFill>
            </a:endParaRPr>
          </a:p>
        </p:txBody>
      </p:sp>
      <p:sp>
        <p:nvSpPr>
          <p:cNvPr id="2" name="Espace réservé du pied de page 1">
            <a:extLst>
              <a:ext uri="{FF2B5EF4-FFF2-40B4-BE49-F238E27FC236}">
                <a16:creationId xmlns:a16="http://schemas.microsoft.com/office/drawing/2014/main" id="{076D2870-D48E-4851-B639-4984BEA9C063}"/>
              </a:ext>
            </a:extLst>
          </p:cNvPr>
          <p:cNvSpPr>
            <a:spLocks noGrp="1"/>
          </p:cNvSpPr>
          <p:nvPr>
            <p:ph type="ftr" sz="quarter" idx="11"/>
          </p:nvPr>
        </p:nvSpPr>
        <p:spPr/>
        <p:txBody>
          <a:bodyPr/>
          <a:lstStyle/>
          <a:p>
            <a:r>
              <a:rPr lang="fr-FR"/>
              <a:t>Droits réservés - Louise Overbeek</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re 1">
            <a:extLst>
              <a:ext uri="{FF2B5EF4-FFF2-40B4-BE49-F238E27FC236}">
                <a16:creationId xmlns:a16="http://schemas.microsoft.com/office/drawing/2014/main" id="{4609661E-C63D-4561-A6E5-5FB669BBEBBD}"/>
              </a:ext>
            </a:extLst>
          </p:cNvPr>
          <p:cNvSpPr>
            <a:spLocks noGrp="1"/>
          </p:cNvSpPr>
          <p:nvPr>
            <p:ph type="title"/>
          </p:nvPr>
        </p:nvSpPr>
        <p:spPr/>
        <p:txBody>
          <a:bodyPr/>
          <a:lstStyle/>
          <a:p>
            <a:pPr eaLnBrk="1" hangingPunct="1"/>
            <a:r>
              <a:rPr lang="fr-CA" altLang="fr-FR" sz="3600"/>
              <a:t>Preneur </a:t>
            </a:r>
            <a:r>
              <a:rPr lang="mr-IN" altLang="fr-FR" sz="3600">
                <a:latin typeface="Mangal" panose="02040503050203030202" pitchFamily="18" charset="0"/>
              </a:rPr>
              <a:t>–</a:t>
            </a:r>
            <a:r>
              <a:rPr lang="fr-CA" altLang="fr-FR" sz="3600"/>
              <a:t> évaluation ultérieure</a:t>
            </a:r>
          </a:p>
        </p:txBody>
      </p:sp>
      <p:sp>
        <p:nvSpPr>
          <p:cNvPr id="17411" name="Espace réservé du contenu 2">
            <a:extLst>
              <a:ext uri="{FF2B5EF4-FFF2-40B4-BE49-F238E27FC236}">
                <a16:creationId xmlns:a16="http://schemas.microsoft.com/office/drawing/2014/main" id="{74030B82-9E95-4C32-A8D2-C1E30D775241}"/>
              </a:ext>
            </a:extLst>
          </p:cNvPr>
          <p:cNvSpPr>
            <a:spLocks noGrp="1"/>
          </p:cNvSpPr>
          <p:nvPr>
            <p:ph idx="1"/>
          </p:nvPr>
        </p:nvSpPr>
        <p:spPr/>
        <p:txBody>
          <a:bodyPr/>
          <a:lstStyle/>
          <a:p>
            <a:pPr eaLnBrk="1" hangingPunct="1">
              <a:lnSpc>
                <a:spcPct val="90000"/>
              </a:lnSpc>
            </a:pPr>
            <a:r>
              <a:rPr lang="fr-CA" altLang="fr-FR">
                <a:solidFill>
                  <a:srgbClr val="3366FF"/>
                </a:solidFill>
              </a:rPr>
              <a:t>De l</a:t>
            </a:r>
            <a:r>
              <a:rPr lang="fr-CA" altLang="fr-CA">
                <a:solidFill>
                  <a:srgbClr val="3366FF"/>
                </a:solidFill>
              </a:rPr>
              <a:t>’</a:t>
            </a:r>
            <a:r>
              <a:rPr lang="fr-CA" altLang="fr-FR">
                <a:solidFill>
                  <a:srgbClr val="3366FF"/>
                </a:solidFill>
              </a:rPr>
              <a:t>obligation locative</a:t>
            </a:r>
            <a:endParaRPr lang="fr-CA" altLang="fr-FR"/>
          </a:p>
          <a:p>
            <a:pPr lvl="1" eaLnBrk="1" hangingPunct="1">
              <a:lnSpc>
                <a:spcPct val="90000"/>
              </a:lnSpc>
            </a:pPr>
            <a:r>
              <a:rPr lang="fr-CA" altLang="fr-FR"/>
              <a:t>Augmenter la valeur comptable pour refléter les intérêts sur l</a:t>
            </a:r>
            <a:r>
              <a:rPr lang="fr-CA" altLang="fr-CA"/>
              <a:t>’</a:t>
            </a:r>
            <a:r>
              <a:rPr lang="fr-CA" altLang="fr-FR"/>
              <a:t>obligation locative</a:t>
            </a:r>
          </a:p>
          <a:p>
            <a:pPr lvl="1" eaLnBrk="1" hangingPunct="1">
              <a:lnSpc>
                <a:spcPct val="90000"/>
              </a:lnSpc>
            </a:pPr>
            <a:r>
              <a:rPr lang="fr-CA" altLang="fr-FR"/>
              <a:t>Réduire la valeur comptable pour refléter les paiements de loyers effectués</a:t>
            </a:r>
          </a:p>
          <a:p>
            <a:pPr lvl="1" eaLnBrk="1" hangingPunct="1">
              <a:lnSpc>
                <a:spcPct val="90000"/>
              </a:lnSpc>
            </a:pPr>
            <a:r>
              <a:rPr lang="fr-CA" altLang="fr-FR"/>
              <a:t>Réévaluer la valeur comptable pour refléter, le cas échéant, la nouvelle appréciation de l</a:t>
            </a:r>
            <a:r>
              <a:rPr lang="fr-CA" altLang="fr-CA"/>
              <a:t>’</a:t>
            </a:r>
            <a:r>
              <a:rPr lang="fr-CA" altLang="fr-FR"/>
              <a:t>obligation locative ou les modifications de contrat de location </a:t>
            </a:r>
            <a:r>
              <a:rPr lang="fr-CA" altLang="fr-FR" sz="2000" i="1"/>
              <a:t>(par ex. changement durée)</a:t>
            </a:r>
            <a:endParaRPr lang="fr-CA" altLang="fr-FR"/>
          </a:p>
          <a:p>
            <a:pPr lvl="1" eaLnBrk="1" hangingPunct="1">
              <a:lnSpc>
                <a:spcPct val="90000"/>
              </a:lnSpc>
            </a:pPr>
            <a:endParaRPr lang="fr-CA" altLang="fr-FR"/>
          </a:p>
          <a:p>
            <a:pPr lvl="1" eaLnBrk="1" hangingPunct="1">
              <a:lnSpc>
                <a:spcPct val="90000"/>
              </a:lnSpc>
              <a:buFont typeface="Wingdings" panose="05000000000000000000" pitchFamily="2" charset="2"/>
              <a:buChar char="Ø"/>
            </a:pPr>
            <a:r>
              <a:rPr lang="fr-CA" altLang="fr-FR" i="1"/>
              <a:t>Comptabilisation des intérêts théoriques sur l</a:t>
            </a:r>
            <a:r>
              <a:rPr lang="fr-CA" altLang="fr-CA" i="1"/>
              <a:t>’</a:t>
            </a:r>
            <a:r>
              <a:rPr lang="fr-CA" altLang="fr-FR" i="1"/>
              <a:t>obligation locative et des paiements de loyers variables le cas échéant</a:t>
            </a:r>
          </a:p>
        </p:txBody>
      </p:sp>
      <p:sp>
        <p:nvSpPr>
          <p:cNvPr id="17412" name="Espace réservé du numéro de diapositive 3">
            <a:extLst>
              <a:ext uri="{FF2B5EF4-FFF2-40B4-BE49-F238E27FC236}">
                <a16:creationId xmlns:a16="http://schemas.microsoft.com/office/drawing/2014/main" id="{6717CD82-9A5E-4363-8135-F1D334CDAA5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spcBef>
                <a:spcPct val="0"/>
              </a:spcBef>
              <a:buFontTx/>
              <a:buNone/>
            </a:pPr>
            <a:fld id="{9B6F47E5-F00B-4BEB-80AD-07B196612142}" type="slidenum">
              <a:rPr lang="fr-FR" altLang="fr-FR" sz="1200">
                <a:solidFill>
                  <a:srgbClr val="898989"/>
                </a:solidFill>
              </a:rPr>
              <a:pPr>
                <a:spcBef>
                  <a:spcPct val="0"/>
                </a:spcBef>
                <a:buFontTx/>
                <a:buNone/>
              </a:pPr>
              <a:t>55</a:t>
            </a:fld>
            <a:endParaRPr lang="fr-FR" altLang="fr-FR" sz="1200">
              <a:solidFill>
                <a:srgbClr val="898989"/>
              </a:solidFill>
            </a:endParaRPr>
          </a:p>
        </p:txBody>
      </p:sp>
      <p:sp>
        <p:nvSpPr>
          <p:cNvPr id="2" name="Espace réservé du pied de page 1">
            <a:extLst>
              <a:ext uri="{FF2B5EF4-FFF2-40B4-BE49-F238E27FC236}">
                <a16:creationId xmlns:a16="http://schemas.microsoft.com/office/drawing/2014/main" id="{6CD3CD11-689C-437B-87D8-C05888CA4E4C}"/>
              </a:ext>
            </a:extLst>
          </p:cNvPr>
          <p:cNvSpPr>
            <a:spLocks noGrp="1"/>
          </p:cNvSpPr>
          <p:nvPr>
            <p:ph type="ftr" sz="quarter" idx="11"/>
          </p:nvPr>
        </p:nvSpPr>
        <p:spPr/>
        <p:txBody>
          <a:bodyPr/>
          <a:lstStyle/>
          <a:p>
            <a:r>
              <a:rPr lang="fr-FR"/>
              <a:t>Droits réservés - Louise Overbeek</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1F3A540-981A-48FC-9DFB-0C7E2C5A7DCA}"/>
              </a:ext>
            </a:extLst>
          </p:cNvPr>
          <p:cNvSpPr>
            <a:spLocks noGrp="1"/>
          </p:cNvSpPr>
          <p:nvPr>
            <p:ph type="title"/>
          </p:nvPr>
        </p:nvSpPr>
        <p:spPr/>
        <p:txBody>
          <a:bodyPr/>
          <a:lstStyle/>
          <a:p>
            <a:r>
              <a:rPr lang="fr-CA" sz="3600" dirty="0"/>
              <a:t>Nouvelle appréciation de l’obligation locative</a:t>
            </a:r>
            <a:endParaRPr lang="fr-FR" dirty="0"/>
          </a:p>
        </p:txBody>
      </p:sp>
      <p:sp>
        <p:nvSpPr>
          <p:cNvPr id="3" name="Espace réservé du contenu 2">
            <a:extLst>
              <a:ext uri="{FF2B5EF4-FFF2-40B4-BE49-F238E27FC236}">
                <a16:creationId xmlns:a16="http://schemas.microsoft.com/office/drawing/2014/main" id="{52AA599C-F123-44F1-8EDB-19FD9351DAD7}"/>
              </a:ext>
            </a:extLst>
          </p:cNvPr>
          <p:cNvSpPr>
            <a:spLocks noGrp="1"/>
          </p:cNvSpPr>
          <p:nvPr>
            <p:ph idx="1"/>
          </p:nvPr>
        </p:nvSpPr>
        <p:spPr/>
        <p:txBody>
          <a:bodyPr/>
          <a:lstStyle/>
          <a:p>
            <a:r>
              <a:rPr lang="fr-CA" dirty="0"/>
              <a:t>Voir document précédent</a:t>
            </a:r>
          </a:p>
        </p:txBody>
      </p:sp>
      <p:sp>
        <p:nvSpPr>
          <p:cNvPr id="4" name="Espace réservé du pied de page 3">
            <a:extLst>
              <a:ext uri="{FF2B5EF4-FFF2-40B4-BE49-F238E27FC236}">
                <a16:creationId xmlns:a16="http://schemas.microsoft.com/office/drawing/2014/main" id="{25E7865F-F9AF-4DEF-AD2E-4EF11D4F4936}"/>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8D29453C-1CBA-4022-AB1E-479786F05F78}"/>
              </a:ext>
            </a:extLst>
          </p:cNvPr>
          <p:cNvSpPr>
            <a:spLocks noGrp="1"/>
          </p:cNvSpPr>
          <p:nvPr>
            <p:ph type="sldNum" sz="quarter" idx="12"/>
          </p:nvPr>
        </p:nvSpPr>
        <p:spPr/>
        <p:txBody>
          <a:bodyPr/>
          <a:lstStyle/>
          <a:p>
            <a:fld id="{5C9924D9-E03F-489A-877F-8411DF9A3E64}" type="slidenum">
              <a:rPr lang="fr-FR" smtClean="0"/>
              <a:t>56</a:t>
            </a:fld>
            <a:endParaRPr lang="fr-FR"/>
          </a:p>
        </p:txBody>
      </p:sp>
    </p:spTree>
    <p:extLst>
      <p:ext uri="{BB962C8B-B14F-4D97-AF65-F5344CB8AC3E}">
        <p14:creationId xmlns:p14="http://schemas.microsoft.com/office/powerpoint/2010/main" val="381682169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re 1">
            <a:extLst>
              <a:ext uri="{FF2B5EF4-FFF2-40B4-BE49-F238E27FC236}">
                <a16:creationId xmlns:a16="http://schemas.microsoft.com/office/drawing/2014/main" id="{545E05BA-B0F6-4285-A329-E4FBE1A33D19}"/>
              </a:ext>
            </a:extLst>
          </p:cNvPr>
          <p:cNvSpPr>
            <a:spLocks noGrp="1"/>
          </p:cNvSpPr>
          <p:nvPr>
            <p:ph type="title"/>
          </p:nvPr>
        </p:nvSpPr>
        <p:spPr/>
        <p:txBody>
          <a:bodyPr/>
          <a:lstStyle/>
          <a:p>
            <a:pPr eaLnBrk="1" hangingPunct="1"/>
            <a:r>
              <a:rPr lang="fr-CA" altLang="fr-FR" sz="3600"/>
              <a:t>Preneur </a:t>
            </a:r>
            <a:r>
              <a:rPr lang="mr-IN" altLang="fr-FR" sz="3600">
                <a:latin typeface="Mangal" panose="02040503050203030202" pitchFamily="18" charset="0"/>
              </a:rPr>
              <a:t>–</a:t>
            </a:r>
            <a:r>
              <a:rPr lang="fr-CA" altLang="fr-FR" sz="3600"/>
              <a:t> présentation</a:t>
            </a:r>
          </a:p>
        </p:txBody>
      </p:sp>
      <p:sp>
        <p:nvSpPr>
          <p:cNvPr id="18435" name="Espace réservé du contenu 2">
            <a:extLst>
              <a:ext uri="{FF2B5EF4-FFF2-40B4-BE49-F238E27FC236}">
                <a16:creationId xmlns:a16="http://schemas.microsoft.com/office/drawing/2014/main" id="{89406B2D-6229-4042-B6EF-1859066A77E8}"/>
              </a:ext>
            </a:extLst>
          </p:cNvPr>
          <p:cNvSpPr>
            <a:spLocks noGrp="1"/>
          </p:cNvSpPr>
          <p:nvPr>
            <p:ph idx="1"/>
          </p:nvPr>
        </p:nvSpPr>
        <p:spPr/>
        <p:txBody>
          <a:bodyPr/>
          <a:lstStyle/>
          <a:p>
            <a:pPr marL="0" indent="0">
              <a:buNone/>
            </a:pPr>
            <a:r>
              <a:rPr lang="fr-CA" altLang="fr-FR" sz="2400" dirty="0"/>
              <a:t>Le preneur doit présenter les éléments suivants, soit dans l</a:t>
            </a:r>
            <a:r>
              <a:rPr lang="fr-CA" altLang="fr-CA" sz="2400" dirty="0"/>
              <a:t>’</a:t>
            </a:r>
            <a:r>
              <a:rPr lang="fr-CA" altLang="fr-FR" sz="2400" dirty="0"/>
              <a:t>état de la situation financière, soit dans les notes :</a:t>
            </a:r>
          </a:p>
          <a:p>
            <a:pPr marL="0" indent="0"/>
            <a:r>
              <a:rPr lang="fr-CA" altLang="fr-FR" sz="2400" dirty="0"/>
              <a:t>  Les actifs au titre de droits d</a:t>
            </a:r>
            <a:r>
              <a:rPr lang="fr-CA" altLang="fr-CA" sz="2400" dirty="0"/>
              <a:t>’</a:t>
            </a:r>
            <a:r>
              <a:rPr lang="fr-CA" altLang="fr-FR" sz="2400" dirty="0"/>
              <a:t>utilisation, séparément des autres actifs</a:t>
            </a:r>
          </a:p>
          <a:p>
            <a:pPr marL="0" indent="0"/>
            <a:r>
              <a:rPr lang="fr-CA" altLang="fr-FR" sz="2400" dirty="0"/>
              <a:t>  Les obligations locatives, séparément des autres passifs</a:t>
            </a:r>
          </a:p>
          <a:p>
            <a:pPr lvl="1">
              <a:buFont typeface="Wingdings" panose="05000000000000000000" pitchFamily="2" charset="2"/>
              <a:buChar char="Ø"/>
            </a:pPr>
            <a:r>
              <a:rPr lang="fr-CA" altLang="fr-FR" sz="2000" dirty="0"/>
              <a:t>Portion courante</a:t>
            </a:r>
          </a:p>
          <a:p>
            <a:pPr lvl="1">
              <a:buFont typeface="Wingdings" panose="05000000000000000000" pitchFamily="2" charset="2"/>
              <a:buChar char="Ø"/>
            </a:pPr>
            <a:r>
              <a:rPr lang="fr-CA" altLang="fr-FR" sz="2000" dirty="0"/>
              <a:t>Portion non courante</a:t>
            </a:r>
          </a:p>
        </p:txBody>
      </p:sp>
      <p:sp>
        <p:nvSpPr>
          <p:cNvPr id="18436" name="Espace réservé du numéro de diapositive 3">
            <a:extLst>
              <a:ext uri="{FF2B5EF4-FFF2-40B4-BE49-F238E27FC236}">
                <a16:creationId xmlns:a16="http://schemas.microsoft.com/office/drawing/2014/main" id="{24B1D6C4-ACA4-494C-91E8-9943E287E05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spcBef>
                <a:spcPct val="0"/>
              </a:spcBef>
              <a:buFontTx/>
              <a:buNone/>
            </a:pPr>
            <a:fld id="{5CF5BA28-069C-458F-9BA9-1F2E921BF410}" type="slidenum">
              <a:rPr lang="fr-FR" altLang="fr-FR" sz="1200">
                <a:solidFill>
                  <a:srgbClr val="898989"/>
                </a:solidFill>
              </a:rPr>
              <a:pPr>
                <a:spcBef>
                  <a:spcPct val="0"/>
                </a:spcBef>
                <a:buFontTx/>
                <a:buNone/>
              </a:pPr>
              <a:t>57</a:t>
            </a:fld>
            <a:endParaRPr lang="fr-FR" altLang="fr-FR" sz="1200">
              <a:solidFill>
                <a:srgbClr val="898989"/>
              </a:solidFill>
            </a:endParaRPr>
          </a:p>
        </p:txBody>
      </p:sp>
      <p:sp>
        <p:nvSpPr>
          <p:cNvPr id="2" name="Espace réservé du pied de page 1">
            <a:extLst>
              <a:ext uri="{FF2B5EF4-FFF2-40B4-BE49-F238E27FC236}">
                <a16:creationId xmlns:a16="http://schemas.microsoft.com/office/drawing/2014/main" id="{2C501336-126A-40D8-9CF4-CF08A68D3695}"/>
              </a:ext>
            </a:extLst>
          </p:cNvPr>
          <p:cNvSpPr>
            <a:spLocks noGrp="1"/>
          </p:cNvSpPr>
          <p:nvPr>
            <p:ph type="ftr" sz="quarter" idx="11"/>
          </p:nvPr>
        </p:nvSpPr>
        <p:spPr/>
        <p:txBody>
          <a:bodyPr/>
          <a:lstStyle/>
          <a:p>
            <a:r>
              <a:rPr lang="fr-FR"/>
              <a:t>Droits réservés - Louise Overbeek</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19458" name="Rectangle 3">
            <a:extLst>
              <a:ext uri="{FF2B5EF4-FFF2-40B4-BE49-F238E27FC236}">
                <a16:creationId xmlns:a16="http://schemas.microsoft.com/office/drawing/2014/main" id="{27AE55A1-03CE-4CF8-9AA3-F3041670F36D}"/>
              </a:ext>
            </a:extLst>
          </p:cNvPr>
          <p:cNvSpPr>
            <a:spLocks noGrp="1" noChangeArrowheads="1"/>
          </p:cNvSpPr>
          <p:nvPr>
            <p:ph idx="1"/>
          </p:nvPr>
        </p:nvSpPr>
        <p:spPr>
          <a:xfrm>
            <a:off x="838199" y="1600200"/>
            <a:ext cx="10515599" cy="4406900"/>
          </a:xfrm>
        </p:spPr>
        <p:txBody>
          <a:bodyPr/>
          <a:lstStyle/>
          <a:p>
            <a:pPr marL="107950" indent="0">
              <a:buNone/>
            </a:pPr>
            <a:r>
              <a:rPr lang="fr-CA" altLang="en-US" dirty="0"/>
              <a:t>Quel est le taux de rendement d’un contrat de location ayant les modalités suivantes :</a:t>
            </a:r>
          </a:p>
          <a:p>
            <a:pPr marL="107950" indent="0">
              <a:buNone/>
            </a:pPr>
            <a:endParaRPr lang="fr-CA" altLang="en-US" dirty="0"/>
          </a:p>
          <a:p>
            <a:pPr marL="107950" indent="0">
              <a:lnSpc>
                <a:spcPct val="80000"/>
              </a:lnSpc>
              <a:buNone/>
            </a:pPr>
            <a:r>
              <a:rPr lang="fr-CA" altLang="en-US" dirty="0"/>
              <a:t>Coût de l’actif : 		34 869 $</a:t>
            </a:r>
          </a:p>
          <a:p>
            <a:pPr marL="107950" indent="0">
              <a:lnSpc>
                <a:spcPct val="80000"/>
              </a:lnSpc>
              <a:buNone/>
            </a:pPr>
            <a:r>
              <a:rPr lang="fr-CA" altLang="en-US" dirty="0"/>
              <a:t>Période :				4 ans (début de période)</a:t>
            </a:r>
          </a:p>
          <a:p>
            <a:pPr marL="107950" indent="0">
              <a:lnSpc>
                <a:spcPct val="80000"/>
              </a:lnSpc>
              <a:buNone/>
            </a:pPr>
            <a:r>
              <a:rPr lang="fr-CA" altLang="en-US" dirty="0"/>
              <a:t>Paiement annuel : 	10 000 $</a:t>
            </a:r>
          </a:p>
          <a:p>
            <a:pPr marL="107950" indent="0">
              <a:buNone/>
            </a:pPr>
            <a:endParaRPr lang="fr-CA" altLang="en-US" dirty="0"/>
          </a:p>
          <a:p>
            <a:pPr marL="107950" indent="0">
              <a:buNone/>
            </a:pPr>
            <a:r>
              <a:rPr lang="fr-CA" altLang="en-US" dirty="0"/>
              <a:t>	</a:t>
            </a:r>
            <a:r>
              <a:rPr lang="fr-CA" altLang="en-US" dirty="0">
                <a:solidFill>
                  <a:srgbClr val="FF0000"/>
                </a:solidFill>
              </a:rPr>
              <a:t>=&gt;  10 %</a:t>
            </a:r>
          </a:p>
          <a:p>
            <a:pPr marL="107950" indent="0">
              <a:buNone/>
            </a:pPr>
            <a:endParaRPr lang="fr-CA" altLang="en-US" dirty="0"/>
          </a:p>
          <a:p>
            <a:pPr marL="107950" indent="0">
              <a:buNone/>
            </a:pPr>
            <a:endParaRPr lang="fr-CA" altLang="en-US" dirty="0"/>
          </a:p>
          <a:p>
            <a:pPr marL="107950" indent="0">
              <a:buNone/>
            </a:pPr>
            <a:endParaRPr lang="fr-CA" altLang="en-US" dirty="0"/>
          </a:p>
          <a:p>
            <a:pPr marL="107950" indent="0">
              <a:buNone/>
            </a:pPr>
            <a:endParaRPr lang="fr-CA" altLang="en-US" dirty="0"/>
          </a:p>
        </p:txBody>
      </p:sp>
      <p:sp>
        <p:nvSpPr>
          <p:cNvPr id="19459" name="Rectangle 2">
            <a:extLst>
              <a:ext uri="{FF2B5EF4-FFF2-40B4-BE49-F238E27FC236}">
                <a16:creationId xmlns:a16="http://schemas.microsoft.com/office/drawing/2014/main" id="{D17309B4-E03F-448F-94D6-1C840BE6D3AF}"/>
              </a:ext>
            </a:extLst>
          </p:cNvPr>
          <p:cNvSpPr>
            <a:spLocks noGrp="1" noChangeArrowheads="1"/>
          </p:cNvSpPr>
          <p:nvPr>
            <p:ph type="title"/>
          </p:nvPr>
        </p:nvSpPr>
        <p:spPr/>
        <p:txBody>
          <a:bodyPr/>
          <a:lstStyle/>
          <a:p>
            <a:pPr eaLnBrk="1" hangingPunct="1"/>
            <a:r>
              <a:rPr lang="fr-CA" altLang="fr-FR" sz="3400"/>
              <a:t>Exercice 1 </a:t>
            </a:r>
            <a:endParaRPr lang="en-US" altLang="fr-FR" sz="3400"/>
          </a:p>
        </p:txBody>
      </p:sp>
      <p:sp>
        <p:nvSpPr>
          <p:cNvPr id="19460" name="Slide Number Placeholder 1">
            <a:extLst>
              <a:ext uri="{FF2B5EF4-FFF2-40B4-BE49-F238E27FC236}">
                <a16:creationId xmlns:a16="http://schemas.microsoft.com/office/drawing/2014/main" id="{D578A499-41CA-486E-8E35-08E3E490D16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spcBef>
                <a:spcPct val="0"/>
              </a:spcBef>
              <a:buFontTx/>
              <a:buNone/>
            </a:pPr>
            <a:fld id="{548B1B1E-EBF8-4FA6-BBF6-BD6BB2D6D543}" type="slidenum">
              <a:rPr lang="fr-FR" altLang="fr-FR" sz="1200">
                <a:solidFill>
                  <a:srgbClr val="898989"/>
                </a:solidFill>
              </a:rPr>
              <a:pPr>
                <a:spcBef>
                  <a:spcPct val="0"/>
                </a:spcBef>
                <a:buFontTx/>
                <a:buNone/>
              </a:pPr>
              <a:t>58</a:t>
            </a:fld>
            <a:endParaRPr lang="fr-FR" altLang="fr-FR" sz="1200">
              <a:solidFill>
                <a:srgbClr val="898989"/>
              </a:solidFill>
            </a:endParaRPr>
          </a:p>
        </p:txBody>
      </p:sp>
      <p:sp>
        <p:nvSpPr>
          <p:cNvPr id="2" name="Espace réservé du pied de page 1">
            <a:extLst>
              <a:ext uri="{FF2B5EF4-FFF2-40B4-BE49-F238E27FC236}">
                <a16:creationId xmlns:a16="http://schemas.microsoft.com/office/drawing/2014/main" id="{8E0C7507-8670-494F-833D-0121429AAC51}"/>
              </a:ext>
            </a:extLst>
          </p:cNvPr>
          <p:cNvSpPr>
            <a:spLocks noGrp="1"/>
          </p:cNvSpPr>
          <p:nvPr>
            <p:ph type="ftr" sz="quarter" idx="11"/>
          </p:nvPr>
        </p:nvSpPr>
        <p:spPr/>
        <p:txBody>
          <a:bodyPr/>
          <a:lstStyle/>
          <a:p>
            <a:r>
              <a:rPr lang="fr-FR"/>
              <a:t>Droits réservés - Louise Overbeek</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20482" name="Rectangle 3">
            <a:extLst>
              <a:ext uri="{FF2B5EF4-FFF2-40B4-BE49-F238E27FC236}">
                <a16:creationId xmlns:a16="http://schemas.microsoft.com/office/drawing/2014/main" id="{1D390C7F-292D-42A8-B389-FFFCAAF0847D}"/>
              </a:ext>
            </a:extLst>
          </p:cNvPr>
          <p:cNvSpPr>
            <a:spLocks noGrp="1" noChangeArrowheads="1"/>
          </p:cNvSpPr>
          <p:nvPr>
            <p:ph idx="1"/>
          </p:nvPr>
        </p:nvSpPr>
        <p:spPr>
          <a:xfrm>
            <a:off x="838199" y="1600200"/>
            <a:ext cx="10515599" cy="4406900"/>
          </a:xfrm>
        </p:spPr>
        <p:txBody>
          <a:bodyPr>
            <a:normAutofit/>
          </a:bodyPr>
          <a:lstStyle/>
          <a:p>
            <a:pPr marL="107950" indent="0">
              <a:lnSpc>
                <a:spcPct val="80000"/>
              </a:lnSpc>
              <a:buNone/>
            </a:pPr>
            <a:r>
              <a:rPr lang="fr-CA" altLang="en-US" sz="2700" dirty="0"/>
              <a:t>Quel est le montant de location annuel (paiement annuel début de période) qu’un </a:t>
            </a:r>
            <a:r>
              <a:rPr lang="fr-CA" altLang="en-US" sz="2700" dirty="0">
                <a:highlight>
                  <a:srgbClr val="FFFF00"/>
                </a:highlight>
              </a:rPr>
              <a:t>bailleur</a:t>
            </a:r>
            <a:r>
              <a:rPr lang="fr-CA" altLang="en-US" sz="2700" dirty="0"/>
              <a:t> devrait exiger si :</a:t>
            </a:r>
          </a:p>
          <a:p>
            <a:pPr marL="107950" indent="0">
              <a:lnSpc>
                <a:spcPct val="80000"/>
              </a:lnSpc>
              <a:buNone/>
            </a:pPr>
            <a:endParaRPr lang="fr-CA" altLang="en-US" sz="2700" dirty="0"/>
          </a:p>
          <a:p>
            <a:pPr marL="107950" indent="0">
              <a:lnSpc>
                <a:spcPct val="60000"/>
              </a:lnSpc>
              <a:buNone/>
            </a:pPr>
            <a:r>
              <a:rPr lang="fr-CA" altLang="en-US" sz="2700" dirty="0"/>
              <a:t>Coût de l’actif : 		500 000 $</a:t>
            </a:r>
          </a:p>
          <a:p>
            <a:pPr marL="107950" indent="0">
              <a:lnSpc>
                <a:spcPct val="60000"/>
              </a:lnSpc>
              <a:buNone/>
            </a:pPr>
            <a:r>
              <a:rPr lang="fr-CA" altLang="en-US" sz="2700" dirty="0"/>
              <a:t>Période :			4 ans (début de période)</a:t>
            </a:r>
          </a:p>
          <a:p>
            <a:pPr marL="107950" indent="0">
              <a:lnSpc>
                <a:spcPct val="60000"/>
              </a:lnSpc>
              <a:buNone/>
            </a:pPr>
            <a:r>
              <a:rPr lang="fr-CA" altLang="en-US" sz="2700" dirty="0"/>
              <a:t>Rendement recherché : 	8 %</a:t>
            </a:r>
          </a:p>
          <a:p>
            <a:pPr marL="107950" indent="0">
              <a:lnSpc>
                <a:spcPct val="80000"/>
              </a:lnSpc>
              <a:buNone/>
            </a:pPr>
            <a:endParaRPr lang="fr-CA" altLang="en-US" sz="2700" dirty="0"/>
          </a:p>
          <a:p>
            <a:pPr marL="107950" indent="0">
              <a:lnSpc>
                <a:spcPct val="80000"/>
              </a:lnSpc>
              <a:buNone/>
            </a:pPr>
            <a:r>
              <a:rPr lang="fr-CA" altLang="en-US" sz="2700" dirty="0"/>
              <a:t>	</a:t>
            </a:r>
            <a:r>
              <a:rPr lang="fr-CA" altLang="en-US" sz="2700" dirty="0">
                <a:solidFill>
                  <a:srgbClr val="FF0000"/>
                </a:solidFill>
              </a:rPr>
              <a:t>=&gt;  139 778 $</a:t>
            </a:r>
          </a:p>
          <a:p>
            <a:pPr marL="107950" indent="0">
              <a:lnSpc>
                <a:spcPct val="80000"/>
              </a:lnSpc>
              <a:buNone/>
            </a:pPr>
            <a:endParaRPr lang="fr-CA" altLang="en-US" sz="2700" dirty="0">
              <a:solidFill>
                <a:srgbClr val="3366FF"/>
              </a:solidFill>
            </a:endParaRPr>
          </a:p>
          <a:p>
            <a:pPr marL="107950" indent="0">
              <a:lnSpc>
                <a:spcPct val="80000"/>
              </a:lnSpc>
              <a:buNone/>
            </a:pPr>
            <a:r>
              <a:rPr lang="fr-CA" altLang="en-US" sz="2700" dirty="0">
                <a:solidFill>
                  <a:srgbClr val="3366FF"/>
                </a:solidFill>
              </a:rPr>
              <a:t>Préparer le tableau d’amortissement de la dette</a:t>
            </a:r>
            <a:endParaRPr lang="fr-CA" altLang="en-US" sz="2700" dirty="0"/>
          </a:p>
          <a:p>
            <a:pPr marL="107950" indent="0">
              <a:lnSpc>
                <a:spcPct val="80000"/>
              </a:lnSpc>
              <a:buNone/>
            </a:pPr>
            <a:endParaRPr lang="fr-CA" altLang="en-US" sz="2700" dirty="0"/>
          </a:p>
          <a:p>
            <a:pPr marL="107950" indent="0">
              <a:lnSpc>
                <a:spcPct val="80000"/>
              </a:lnSpc>
              <a:buNone/>
            </a:pPr>
            <a:endParaRPr lang="fr-CA" altLang="en-US" sz="2700" dirty="0"/>
          </a:p>
          <a:p>
            <a:pPr marL="107950" indent="0">
              <a:lnSpc>
                <a:spcPct val="80000"/>
              </a:lnSpc>
              <a:buNone/>
            </a:pPr>
            <a:endParaRPr lang="fr-CA" altLang="en-US" sz="2700" dirty="0"/>
          </a:p>
          <a:p>
            <a:pPr marL="107950" indent="0">
              <a:lnSpc>
                <a:spcPct val="80000"/>
              </a:lnSpc>
              <a:buNone/>
            </a:pPr>
            <a:endParaRPr lang="fr-CA" altLang="en-US" sz="2700" dirty="0"/>
          </a:p>
        </p:txBody>
      </p:sp>
      <p:sp>
        <p:nvSpPr>
          <p:cNvPr id="20483" name="Rectangle 2">
            <a:extLst>
              <a:ext uri="{FF2B5EF4-FFF2-40B4-BE49-F238E27FC236}">
                <a16:creationId xmlns:a16="http://schemas.microsoft.com/office/drawing/2014/main" id="{576485ED-FC56-4D23-8BB3-41EDDFC11071}"/>
              </a:ext>
            </a:extLst>
          </p:cNvPr>
          <p:cNvSpPr>
            <a:spLocks noGrp="1" noChangeArrowheads="1"/>
          </p:cNvSpPr>
          <p:nvPr>
            <p:ph type="title"/>
          </p:nvPr>
        </p:nvSpPr>
        <p:spPr/>
        <p:txBody>
          <a:bodyPr/>
          <a:lstStyle/>
          <a:p>
            <a:pPr eaLnBrk="1" hangingPunct="1"/>
            <a:r>
              <a:rPr lang="fr-CA" altLang="fr-FR" sz="3400"/>
              <a:t>Exercice 2 </a:t>
            </a:r>
            <a:endParaRPr lang="en-US" altLang="fr-FR" sz="3400"/>
          </a:p>
        </p:txBody>
      </p:sp>
      <p:sp>
        <p:nvSpPr>
          <p:cNvPr id="20484" name="Slide Number Placeholder 1">
            <a:extLst>
              <a:ext uri="{FF2B5EF4-FFF2-40B4-BE49-F238E27FC236}">
                <a16:creationId xmlns:a16="http://schemas.microsoft.com/office/drawing/2014/main" id="{E7BC8616-CEC2-4A97-8153-2BB7DDF4C69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spcBef>
                <a:spcPct val="0"/>
              </a:spcBef>
              <a:buFontTx/>
              <a:buNone/>
            </a:pPr>
            <a:fld id="{17928421-86D2-4AC8-B05E-9DCF3B2FAE58}" type="slidenum">
              <a:rPr lang="fr-FR" altLang="fr-FR" sz="1200">
                <a:solidFill>
                  <a:srgbClr val="898989"/>
                </a:solidFill>
              </a:rPr>
              <a:pPr>
                <a:spcBef>
                  <a:spcPct val="0"/>
                </a:spcBef>
                <a:buFontTx/>
                <a:buNone/>
              </a:pPr>
              <a:t>59</a:t>
            </a:fld>
            <a:endParaRPr lang="fr-FR" altLang="fr-FR" sz="1200">
              <a:solidFill>
                <a:srgbClr val="898989"/>
              </a:solidFill>
            </a:endParaRPr>
          </a:p>
        </p:txBody>
      </p:sp>
      <p:sp>
        <p:nvSpPr>
          <p:cNvPr id="2" name="Espace réservé du pied de page 1">
            <a:extLst>
              <a:ext uri="{FF2B5EF4-FFF2-40B4-BE49-F238E27FC236}">
                <a16:creationId xmlns:a16="http://schemas.microsoft.com/office/drawing/2014/main" id="{111E2752-1FD4-46CA-A2C2-69F71E8236F3}"/>
              </a:ext>
            </a:extLst>
          </p:cNvPr>
          <p:cNvSpPr>
            <a:spLocks noGrp="1"/>
          </p:cNvSpPr>
          <p:nvPr>
            <p:ph type="ftr" sz="quarter" idx="11"/>
          </p:nvPr>
        </p:nvSpPr>
        <p:spPr/>
        <p:txBody>
          <a:bodyPr/>
          <a:lstStyle/>
          <a:p>
            <a:r>
              <a:rPr lang="fr-FR"/>
              <a:t>Droits réservés - Louise Overbeek</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1506" name="Rectangle 3">
            <a:extLst>
              <a:ext uri="{FF2B5EF4-FFF2-40B4-BE49-F238E27FC236}">
                <a16:creationId xmlns:a16="http://schemas.microsoft.com/office/drawing/2014/main" id="{00525F42-6BBA-4067-92AB-600A78B505CA}"/>
              </a:ext>
            </a:extLst>
          </p:cNvPr>
          <p:cNvSpPr>
            <a:spLocks noGrp="1" noChangeArrowheads="1"/>
          </p:cNvSpPr>
          <p:nvPr>
            <p:ph idx="1"/>
          </p:nvPr>
        </p:nvSpPr>
        <p:spPr>
          <a:xfrm>
            <a:off x="1981200" y="1600200"/>
            <a:ext cx="8229600" cy="4406900"/>
          </a:xfrm>
        </p:spPr>
        <p:txBody>
          <a:bodyPr>
            <a:normAutofit lnSpcReduction="10000"/>
          </a:bodyPr>
          <a:lstStyle/>
          <a:p>
            <a:pPr marL="107950" indent="0">
              <a:buNone/>
              <a:tabLst>
                <a:tab pos="1611313" algn="l"/>
                <a:tab pos="3951288" algn="l"/>
                <a:tab pos="5291138" algn="l"/>
                <a:tab pos="6815138" algn="l"/>
              </a:tabLst>
            </a:pPr>
            <a:r>
              <a:rPr lang="fr-CA" altLang="en-US" sz="3000" b="1" dirty="0"/>
              <a:t>	Versement	Capital	Intérêt	Solde</a:t>
            </a:r>
          </a:p>
          <a:p>
            <a:pPr marL="107950" indent="0">
              <a:buNone/>
              <a:tabLst>
                <a:tab pos="2228850" algn="l"/>
                <a:tab pos="4229100" algn="l"/>
                <a:tab pos="5600700" algn="l"/>
                <a:tab pos="7086600" algn="l"/>
              </a:tabLst>
            </a:pPr>
            <a:r>
              <a:rPr lang="fr-CA" altLang="en-US" sz="2200" dirty="0"/>
              <a:t>							 		                     				500 000</a:t>
            </a:r>
          </a:p>
          <a:p>
            <a:pPr marL="107950" indent="0">
              <a:buNone/>
              <a:tabLst>
                <a:tab pos="2228850" algn="l"/>
                <a:tab pos="4229100" algn="l"/>
                <a:tab pos="5600700" algn="l"/>
                <a:tab pos="7086600" algn="l"/>
              </a:tabLst>
            </a:pPr>
            <a:r>
              <a:rPr lang="fr-CA" altLang="en-US" sz="2200" dirty="0"/>
              <a:t>1</a:t>
            </a:r>
            <a:r>
              <a:rPr lang="fr-CA" altLang="en-US" sz="2200" baseline="30000" dirty="0"/>
              <a:t>er</a:t>
            </a:r>
            <a:r>
              <a:rPr lang="fr-CA" altLang="en-US" sz="2200" dirty="0"/>
              <a:t> janv. X1	139 778	139 778	         0	360 222</a:t>
            </a:r>
          </a:p>
          <a:p>
            <a:pPr marL="107950" indent="0">
              <a:buNone/>
              <a:tabLst>
                <a:tab pos="2228850" algn="l"/>
                <a:tab pos="4229100" algn="l"/>
                <a:tab pos="5600700" algn="l"/>
                <a:tab pos="7086600" algn="l"/>
              </a:tabLst>
            </a:pPr>
            <a:r>
              <a:rPr lang="fr-CA" altLang="en-US" sz="2200" dirty="0"/>
              <a:t>31 déc. X1	           0	           0	28 818	389 040</a:t>
            </a:r>
          </a:p>
          <a:p>
            <a:pPr marL="107950" indent="0">
              <a:buNone/>
              <a:tabLst>
                <a:tab pos="2228850" algn="l"/>
                <a:tab pos="4229100" algn="l"/>
                <a:tab pos="5600700" algn="l"/>
                <a:tab pos="7086600" algn="l"/>
              </a:tabLst>
            </a:pPr>
            <a:r>
              <a:rPr lang="fr-CA" altLang="en-US" sz="2200" dirty="0"/>
              <a:t>1</a:t>
            </a:r>
            <a:r>
              <a:rPr lang="fr-CA" altLang="en-US" sz="2200" baseline="30000" dirty="0"/>
              <a:t>er</a:t>
            </a:r>
            <a:r>
              <a:rPr lang="fr-CA" altLang="en-US" sz="2200" dirty="0"/>
              <a:t> janv. X2	139 778	139 778	         0	249 262</a:t>
            </a:r>
          </a:p>
          <a:p>
            <a:pPr marL="107950" indent="0">
              <a:buNone/>
              <a:tabLst>
                <a:tab pos="2228850" algn="l"/>
                <a:tab pos="4229100" algn="l"/>
                <a:tab pos="5600700" algn="l"/>
                <a:tab pos="7086600" algn="l"/>
              </a:tabLst>
            </a:pPr>
            <a:r>
              <a:rPr lang="fr-CA" altLang="en-US" sz="2200" dirty="0"/>
              <a:t>31 déc. X2	           0	           0	19 941	269 203</a:t>
            </a:r>
          </a:p>
          <a:p>
            <a:pPr marL="107950" indent="0">
              <a:buNone/>
              <a:tabLst>
                <a:tab pos="2228850" algn="l"/>
                <a:tab pos="4229100" algn="l"/>
                <a:tab pos="5600700" algn="l"/>
                <a:tab pos="7086600" algn="l"/>
              </a:tabLst>
            </a:pPr>
            <a:r>
              <a:rPr lang="fr-CA" altLang="en-US" sz="2200" dirty="0"/>
              <a:t>1</a:t>
            </a:r>
            <a:r>
              <a:rPr lang="fr-CA" altLang="en-US" sz="2200" baseline="30000" dirty="0"/>
              <a:t>er</a:t>
            </a:r>
            <a:r>
              <a:rPr lang="fr-CA" altLang="en-US" sz="2200" dirty="0"/>
              <a:t> janv. X3	139 778	139 778	         0	129 425</a:t>
            </a:r>
          </a:p>
          <a:p>
            <a:pPr marL="107950" indent="0">
              <a:buNone/>
              <a:tabLst>
                <a:tab pos="2228850" algn="l"/>
                <a:tab pos="4229100" algn="l"/>
                <a:tab pos="5600700" algn="l"/>
                <a:tab pos="7086600" algn="l"/>
              </a:tabLst>
            </a:pPr>
            <a:r>
              <a:rPr lang="fr-CA" altLang="en-US" sz="2200" dirty="0"/>
              <a:t>31 déc. X3	           0	           0	10 353	139 778</a:t>
            </a:r>
          </a:p>
          <a:p>
            <a:pPr marL="107950" indent="0">
              <a:buNone/>
              <a:tabLst>
                <a:tab pos="2228850" algn="l"/>
                <a:tab pos="4229100" algn="l"/>
                <a:tab pos="5600700" algn="l"/>
                <a:tab pos="7086600" algn="l"/>
              </a:tabLst>
            </a:pPr>
            <a:r>
              <a:rPr lang="fr-CA" altLang="en-US" sz="2200" dirty="0"/>
              <a:t>1</a:t>
            </a:r>
            <a:r>
              <a:rPr lang="fr-CA" altLang="en-US" sz="2200" baseline="30000" dirty="0"/>
              <a:t>er</a:t>
            </a:r>
            <a:r>
              <a:rPr lang="fr-CA" altLang="en-US" sz="2200" dirty="0"/>
              <a:t> janv. X4	139 778	139 778	         0	           0</a:t>
            </a:r>
          </a:p>
          <a:p>
            <a:pPr marL="107950" indent="0">
              <a:buNone/>
              <a:tabLst>
                <a:tab pos="2228850" algn="l"/>
                <a:tab pos="4229100" algn="l"/>
                <a:tab pos="5600700" algn="l"/>
                <a:tab pos="7086600" algn="l"/>
              </a:tabLst>
            </a:pPr>
            <a:endParaRPr lang="fr-CA" altLang="en-US" sz="2200" dirty="0"/>
          </a:p>
          <a:p>
            <a:pPr marL="107950" indent="0">
              <a:buNone/>
              <a:tabLst>
                <a:tab pos="2228850" algn="l"/>
                <a:tab pos="4229100" algn="l"/>
                <a:tab pos="5600700" algn="l"/>
                <a:tab pos="7086600" algn="l"/>
              </a:tabLst>
            </a:pPr>
            <a:endParaRPr lang="fr-CA" altLang="en-US" sz="2200" dirty="0"/>
          </a:p>
          <a:p>
            <a:pPr marL="107950" indent="0">
              <a:buNone/>
              <a:tabLst>
                <a:tab pos="2228850" algn="l"/>
                <a:tab pos="4229100" algn="l"/>
                <a:tab pos="5600700" algn="l"/>
                <a:tab pos="7086600" algn="l"/>
              </a:tabLst>
            </a:pPr>
            <a:endParaRPr lang="fr-CA" altLang="en-US" sz="2200" dirty="0"/>
          </a:p>
        </p:txBody>
      </p:sp>
      <p:sp>
        <p:nvSpPr>
          <p:cNvPr id="21507" name="Rectangle 2">
            <a:extLst>
              <a:ext uri="{FF2B5EF4-FFF2-40B4-BE49-F238E27FC236}">
                <a16:creationId xmlns:a16="http://schemas.microsoft.com/office/drawing/2014/main" id="{E9940722-6FFD-45B7-A8B0-A115B0AE2A7A}"/>
              </a:ext>
            </a:extLst>
          </p:cNvPr>
          <p:cNvSpPr>
            <a:spLocks noGrp="1" noChangeArrowheads="1"/>
          </p:cNvSpPr>
          <p:nvPr>
            <p:ph type="title"/>
          </p:nvPr>
        </p:nvSpPr>
        <p:spPr/>
        <p:txBody>
          <a:bodyPr/>
          <a:lstStyle/>
          <a:p>
            <a:pPr eaLnBrk="1" hangingPunct="1"/>
            <a:r>
              <a:rPr lang="fr-CA" altLang="fr-FR" sz="3400"/>
              <a:t>Exercice 2 </a:t>
            </a:r>
            <a:endParaRPr lang="en-US" altLang="fr-FR" sz="3400"/>
          </a:p>
        </p:txBody>
      </p:sp>
      <p:sp>
        <p:nvSpPr>
          <p:cNvPr id="21508" name="Slide Number Placeholder 1">
            <a:extLst>
              <a:ext uri="{FF2B5EF4-FFF2-40B4-BE49-F238E27FC236}">
                <a16:creationId xmlns:a16="http://schemas.microsoft.com/office/drawing/2014/main" id="{D891CD54-9D61-4248-87C0-93DE232F836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spcBef>
                <a:spcPct val="0"/>
              </a:spcBef>
              <a:buFontTx/>
              <a:buNone/>
            </a:pPr>
            <a:fld id="{4849F105-C058-4DD9-B9AD-958BC7D75F56}" type="slidenum">
              <a:rPr lang="fr-FR" altLang="fr-FR" sz="1200">
                <a:solidFill>
                  <a:srgbClr val="898989"/>
                </a:solidFill>
              </a:rPr>
              <a:pPr>
                <a:spcBef>
                  <a:spcPct val="0"/>
                </a:spcBef>
                <a:buFontTx/>
                <a:buNone/>
              </a:pPr>
              <a:t>60</a:t>
            </a:fld>
            <a:endParaRPr lang="fr-FR" altLang="fr-FR" sz="1200">
              <a:solidFill>
                <a:srgbClr val="898989"/>
              </a:solidFill>
            </a:endParaRPr>
          </a:p>
        </p:txBody>
      </p:sp>
      <p:sp>
        <p:nvSpPr>
          <p:cNvPr id="2" name="Espace réservé du pied de page 1">
            <a:extLst>
              <a:ext uri="{FF2B5EF4-FFF2-40B4-BE49-F238E27FC236}">
                <a16:creationId xmlns:a16="http://schemas.microsoft.com/office/drawing/2014/main" id="{92359CFC-D3FF-4FD1-BAC6-53BD2A3E0FC0}"/>
              </a:ext>
            </a:extLst>
          </p:cNvPr>
          <p:cNvSpPr>
            <a:spLocks noGrp="1"/>
          </p:cNvSpPr>
          <p:nvPr>
            <p:ph type="ftr" sz="quarter" idx="11"/>
          </p:nvPr>
        </p:nvSpPr>
        <p:spPr/>
        <p:txBody>
          <a:bodyPr/>
          <a:lstStyle/>
          <a:p>
            <a:r>
              <a:rPr lang="fr-FR"/>
              <a:t>Droits réservés - Louise Overbeek</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22530" name="Rectangle 3">
            <a:extLst>
              <a:ext uri="{FF2B5EF4-FFF2-40B4-BE49-F238E27FC236}">
                <a16:creationId xmlns:a16="http://schemas.microsoft.com/office/drawing/2014/main" id="{7158C936-B8E9-44EA-B858-D63AA2182C45}"/>
              </a:ext>
            </a:extLst>
          </p:cNvPr>
          <p:cNvSpPr>
            <a:spLocks noGrp="1" noChangeArrowheads="1"/>
          </p:cNvSpPr>
          <p:nvPr>
            <p:ph idx="1"/>
          </p:nvPr>
        </p:nvSpPr>
        <p:spPr>
          <a:xfrm>
            <a:off x="838199" y="1600200"/>
            <a:ext cx="10515599" cy="4406900"/>
          </a:xfrm>
        </p:spPr>
        <p:txBody>
          <a:bodyPr>
            <a:normAutofit/>
          </a:bodyPr>
          <a:lstStyle/>
          <a:p>
            <a:pPr marL="107950" indent="0">
              <a:lnSpc>
                <a:spcPct val="80000"/>
              </a:lnSpc>
              <a:buNone/>
            </a:pPr>
            <a:r>
              <a:rPr lang="fr-CA" altLang="en-US" dirty="0"/>
              <a:t>Quel est le montant de location annuel (paiement annuel début de période) qu’un bailleur devrait exiger si :</a:t>
            </a:r>
          </a:p>
          <a:p>
            <a:pPr marL="107950" indent="0">
              <a:lnSpc>
                <a:spcPct val="80000"/>
              </a:lnSpc>
              <a:buNone/>
            </a:pPr>
            <a:endParaRPr lang="fr-CA" altLang="en-US" dirty="0"/>
          </a:p>
          <a:p>
            <a:pPr marL="107950" indent="0">
              <a:lnSpc>
                <a:spcPct val="80000"/>
              </a:lnSpc>
              <a:buNone/>
            </a:pPr>
            <a:r>
              <a:rPr lang="fr-CA" altLang="en-US" dirty="0"/>
              <a:t>Coût de l’actif : 		200 000 $</a:t>
            </a:r>
          </a:p>
          <a:p>
            <a:pPr marL="107950" indent="0">
              <a:lnSpc>
                <a:spcPct val="80000"/>
              </a:lnSpc>
              <a:buNone/>
            </a:pPr>
            <a:r>
              <a:rPr lang="fr-CA" altLang="en-US" dirty="0"/>
              <a:t>Période :			5 ans (début de période)</a:t>
            </a:r>
          </a:p>
          <a:p>
            <a:pPr marL="107950" indent="0">
              <a:lnSpc>
                <a:spcPct val="80000"/>
              </a:lnSpc>
              <a:buNone/>
            </a:pPr>
            <a:r>
              <a:rPr lang="fr-CA" altLang="en-US" dirty="0"/>
              <a:t>Rendement recherché : 	10 %</a:t>
            </a:r>
          </a:p>
          <a:p>
            <a:pPr marL="107950" indent="0">
              <a:lnSpc>
                <a:spcPct val="80000"/>
              </a:lnSpc>
              <a:buNone/>
            </a:pPr>
            <a:endParaRPr lang="fr-CA" altLang="en-US" dirty="0"/>
          </a:p>
          <a:p>
            <a:pPr marL="107950" indent="0">
              <a:lnSpc>
                <a:spcPct val="80000"/>
              </a:lnSpc>
              <a:buNone/>
            </a:pPr>
            <a:r>
              <a:rPr lang="fr-CA" altLang="en-US" dirty="0"/>
              <a:t>	</a:t>
            </a:r>
            <a:r>
              <a:rPr lang="fr-CA" altLang="en-US" dirty="0">
                <a:solidFill>
                  <a:srgbClr val="FF0000"/>
                </a:solidFill>
              </a:rPr>
              <a:t>=&gt;  47 963 $</a:t>
            </a:r>
            <a:endParaRPr lang="fr-CA" altLang="en-US" sz="3000" dirty="0">
              <a:solidFill>
                <a:srgbClr val="FF0000"/>
              </a:solidFill>
            </a:endParaRPr>
          </a:p>
          <a:p>
            <a:pPr marL="107950" indent="0">
              <a:lnSpc>
                <a:spcPct val="80000"/>
              </a:lnSpc>
              <a:buNone/>
            </a:pPr>
            <a:r>
              <a:rPr lang="fr-CA" altLang="en-US" sz="3000" dirty="0">
                <a:solidFill>
                  <a:srgbClr val="3366FF"/>
                </a:solidFill>
              </a:rPr>
              <a:t>Préparer le tableau d’amortissement de la dette</a:t>
            </a:r>
            <a:endParaRPr lang="fr-CA" altLang="en-US" sz="3000" dirty="0"/>
          </a:p>
          <a:p>
            <a:pPr marL="107950" indent="0">
              <a:lnSpc>
                <a:spcPct val="80000"/>
              </a:lnSpc>
              <a:buNone/>
            </a:pPr>
            <a:endParaRPr lang="fr-CA" altLang="en-US" sz="3000" dirty="0"/>
          </a:p>
          <a:p>
            <a:pPr marL="107950" indent="0">
              <a:lnSpc>
                <a:spcPct val="80000"/>
              </a:lnSpc>
              <a:buNone/>
            </a:pPr>
            <a:endParaRPr lang="fr-CA" altLang="en-US" sz="3000" dirty="0"/>
          </a:p>
          <a:p>
            <a:pPr marL="107950" indent="0">
              <a:lnSpc>
                <a:spcPct val="80000"/>
              </a:lnSpc>
              <a:buNone/>
            </a:pPr>
            <a:endParaRPr lang="fr-CA" altLang="en-US" sz="3000" dirty="0"/>
          </a:p>
          <a:p>
            <a:pPr marL="107950" indent="0">
              <a:lnSpc>
                <a:spcPct val="80000"/>
              </a:lnSpc>
              <a:buNone/>
            </a:pPr>
            <a:endParaRPr lang="fr-CA" altLang="en-US" sz="3000" dirty="0"/>
          </a:p>
        </p:txBody>
      </p:sp>
      <p:sp>
        <p:nvSpPr>
          <p:cNvPr id="22531" name="Rectangle 2">
            <a:extLst>
              <a:ext uri="{FF2B5EF4-FFF2-40B4-BE49-F238E27FC236}">
                <a16:creationId xmlns:a16="http://schemas.microsoft.com/office/drawing/2014/main" id="{37D23C77-F883-4A72-9839-27A3A74295B6}"/>
              </a:ext>
            </a:extLst>
          </p:cNvPr>
          <p:cNvSpPr>
            <a:spLocks noGrp="1" noChangeArrowheads="1"/>
          </p:cNvSpPr>
          <p:nvPr>
            <p:ph type="title"/>
          </p:nvPr>
        </p:nvSpPr>
        <p:spPr/>
        <p:txBody>
          <a:bodyPr/>
          <a:lstStyle/>
          <a:p>
            <a:pPr eaLnBrk="1" hangingPunct="1"/>
            <a:r>
              <a:rPr lang="fr-CA" altLang="fr-FR" sz="3400"/>
              <a:t>Exercice 3 </a:t>
            </a:r>
            <a:endParaRPr lang="en-US" altLang="fr-FR" sz="3400"/>
          </a:p>
        </p:txBody>
      </p:sp>
      <p:sp>
        <p:nvSpPr>
          <p:cNvPr id="22532" name="Slide Number Placeholder 1">
            <a:extLst>
              <a:ext uri="{FF2B5EF4-FFF2-40B4-BE49-F238E27FC236}">
                <a16:creationId xmlns:a16="http://schemas.microsoft.com/office/drawing/2014/main" id="{71E64168-A39D-4FE1-8A7C-503A02CD4F5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spcBef>
                <a:spcPct val="0"/>
              </a:spcBef>
              <a:buFontTx/>
              <a:buNone/>
            </a:pPr>
            <a:fld id="{2A3A6686-F8C1-4163-AA6F-AED96788C1D0}" type="slidenum">
              <a:rPr lang="fr-FR" altLang="fr-FR" sz="1200">
                <a:solidFill>
                  <a:srgbClr val="898989"/>
                </a:solidFill>
              </a:rPr>
              <a:pPr>
                <a:spcBef>
                  <a:spcPct val="0"/>
                </a:spcBef>
                <a:buFontTx/>
                <a:buNone/>
              </a:pPr>
              <a:t>61</a:t>
            </a:fld>
            <a:endParaRPr lang="fr-FR" altLang="fr-FR" sz="1200">
              <a:solidFill>
                <a:srgbClr val="898989"/>
              </a:solidFill>
            </a:endParaRPr>
          </a:p>
        </p:txBody>
      </p:sp>
      <p:sp>
        <p:nvSpPr>
          <p:cNvPr id="2" name="Espace réservé du pied de page 1">
            <a:extLst>
              <a:ext uri="{FF2B5EF4-FFF2-40B4-BE49-F238E27FC236}">
                <a16:creationId xmlns:a16="http://schemas.microsoft.com/office/drawing/2014/main" id="{B9EBD8AA-B2A4-49FE-8018-46D120A1E17A}"/>
              </a:ext>
            </a:extLst>
          </p:cNvPr>
          <p:cNvSpPr>
            <a:spLocks noGrp="1"/>
          </p:cNvSpPr>
          <p:nvPr>
            <p:ph type="ftr" sz="quarter" idx="11"/>
          </p:nvPr>
        </p:nvSpPr>
        <p:spPr/>
        <p:txBody>
          <a:bodyPr/>
          <a:lstStyle/>
          <a:p>
            <a:r>
              <a:rPr lang="fr-FR"/>
              <a:t>Droits réservés - Louise Overbeek</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3554" name="Rectangle 3">
            <a:extLst>
              <a:ext uri="{FF2B5EF4-FFF2-40B4-BE49-F238E27FC236}">
                <a16:creationId xmlns:a16="http://schemas.microsoft.com/office/drawing/2014/main" id="{51F0A094-E55C-4326-B280-8021A6B3BF9C}"/>
              </a:ext>
            </a:extLst>
          </p:cNvPr>
          <p:cNvSpPr>
            <a:spLocks noGrp="1" noChangeArrowheads="1"/>
          </p:cNvSpPr>
          <p:nvPr>
            <p:ph idx="1"/>
          </p:nvPr>
        </p:nvSpPr>
        <p:spPr>
          <a:xfrm>
            <a:off x="1981200" y="1200150"/>
            <a:ext cx="8229600" cy="4806950"/>
          </a:xfrm>
        </p:spPr>
        <p:txBody>
          <a:bodyPr/>
          <a:lstStyle/>
          <a:p>
            <a:pPr marL="107950" indent="0">
              <a:buNone/>
              <a:tabLst>
                <a:tab pos="1611313" algn="l"/>
                <a:tab pos="3852863" algn="l"/>
                <a:tab pos="4229100" algn="l"/>
                <a:tab pos="5376863" algn="l"/>
                <a:tab pos="6727825" algn="l"/>
              </a:tabLst>
            </a:pPr>
            <a:r>
              <a:rPr lang="fr-CA" altLang="en-US" sz="3000" dirty="0"/>
              <a:t>	</a:t>
            </a:r>
            <a:r>
              <a:rPr lang="fr-CA" altLang="en-US" sz="3000" b="1" dirty="0"/>
              <a:t>Versement	Capital	Intérêt	 Solde</a:t>
            </a:r>
          </a:p>
          <a:p>
            <a:pPr marL="107950" indent="0">
              <a:buNone/>
              <a:tabLst>
                <a:tab pos="2228850" algn="l"/>
                <a:tab pos="4229100" algn="l"/>
                <a:tab pos="5600700" algn="l"/>
                <a:tab pos="7086600" algn="l"/>
              </a:tabLst>
            </a:pPr>
            <a:r>
              <a:rPr lang="fr-CA" altLang="en-US" sz="2200" dirty="0"/>
              <a:t>			                     200 000</a:t>
            </a:r>
          </a:p>
          <a:p>
            <a:pPr marL="107950" indent="0">
              <a:buNone/>
              <a:tabLst>
                <a:tab pos="2228850" algn="l"/>
                <a:tab pos="4229100" algn="l"/>
                <a:tab pos="5600700" algn="l"/>
                <a:tab pos="7086600" algn="l"/>
              </a:tabLst>
            </a:pPr>
            <a:r>
              <a:rPr lang="fr-CA" altLang="en-US" sz="2200" dirty="0"/>
              <a:t>1</a:t>
            </a:r>
            <a:r>
              <a:rPr lang="fr-CA" altLang="en-US" sz="2200" baseline="30000" dirty="0"/>
              <a:t>er</a:t>
            </a:r>
            <a:r>
              <a:rPr lang="fr-CA" altLang="en-US" sz="2200" dirty="0"/>
              <a:t> janv. X1	  47 963	  47 963	         0	152 037</a:t>
            </a:r>
          </a:p>
          <a:p>
            <a:pPr marL="107950" indent="0">
              <a:buNone/>
              <a:tabLst>
                <a:tab pos="2228850" algn="l"/>
                <a:tab pos="4229100" algn="l"/>
                <a:tab pos="5600700" algn="l"/>
                <a:tab pos="7086600" algn="l"/>
              </a:tabLst>
            </a:pPr>
            <a:r>
              <a:rPr lang="fr-CA" altLang="en-US" sz="2200" dirty="0"/>
              <a:t>31 déc. X1	           0	           0	15 204	167 241</a:t>
            </a:r>
          </a:p>
          <a:p>
            <a:pPr marL="107950" indent="0">
              <a:buNone/>
              <a:tabLst>
                <a:tab pos="2228850" algn="l"/>
                <a:tab pos="4229100" algn="l"/>
                <a:tab pos="5600700" algn="l"/>
                <a:tab pos="7086600" algn="l"/>
              </a:tabLst>
            </a:pPr>
            <a:r>
              <a:rPr lang="fr-CA" altLang="en-US" sz="2200" dirty="0"/>
              <a:t>1</a:t>
            </a:r>
            <a:r>
              <a:rPr lang="fr-CA" altLang="en-US" sz="2200" baseline="30000" dirty="0"/>
              <a:t>er</a:t>
            </a:r>
            <a:r>
              <a:rPr lang="fr-CA" altLang="en-US" sz="2200" dirty="0"/>
              <a:t> janv. X2	  47 963	  47 963 	         0	119 278</a:t>
            </a:r>
          </a:p>
          <a:p>
            <a:pPr marL="107950" indent="0">
              <a:buNone/>
              <a:tabLst>
                <a:tab pos="2228850" algn="l"/>
                <a:tab pos="4229100" algn="l"/>
                <a:tab pos="5600700" algn="l"/>
                <a:tab pos="7086600" algn="l"/>
              </a:tabLst>
            </a:pPr>
            <a:r>
              <a:rPr lang="fr-CA" altLang="en-US" sz="2200" dirty="0"/>
              <a:t>31 déc. X2	           0	           0	11 928	131 206</a:t>
            </a:r>
          </a:p>
          <a:p>
            <a:pPr marL="107950" indent="0">
              <a:buNone/>
              <a:tabLst>
                <a:tab pos="2228850" algn="l"/>
                <a:tab pos="4229100" algn="l"/>
                <a:tab pos="5600700" algn="l"/>
                <a:tab pos="7086600" algn="l"/>
              </a:tabLst>
            </a:pPr>
            <a:r>
              <a:rPr lang="fr-CA" altLang="en-US" sz="2200" dirty="0"/>
              <a:t>1</a:t>
            </a:r>
            <a:r>
              <a:rPr lang="fr-CA" altLang="en-US" sz="2200" baseline="30000" dirty="0"/>
              <a:t>er</a:t>
            </a:r>
            <a:r>
              <a:rPr lang="fr-CA" altLang="en-US" sz="2200" dirty="0"/>
              <a:t> janv. X3	  47 963	  47 963 	         0	  83 243</a:t>
            </a:r>
          </a:p>
          <a:p>
            <a:pPr marL="107950" indent="0">
              <a:buNone/>
              <a:tabLst>
                <a:tab pos="2228850" algn="l"/>
                <a:tab pos="4229100" algn="l"/>
                <a:tab pos="5600700" algn="l"/>
                <a:tab pos="7086600" algn="l"/>
              </a:tabLst>
            </a:pPr>
            <a:r>
              <a:rPr lang="fr-CA" altLang="en-US" sz="2200" dirty="0"/>
              <a:t>31 déc. X3	           0	           0	  8 324	  91 567</a:t>
            </a:r>
          </a:p>
          <a:p>
            <a:pPr marL="107950" indent="0">
              <a:buNone/>
              <a:tabLst>
                <a:tab pos="2228850" algn="l"/>
                <a:tab pos="4229100" algn="l"/>
                <a:tab pos="5600700" algn="l"/>
                <a:tab pos="7086600" algn="l"/>
              </a:tabLst>
            </a:pPr>
            <a:r>
              <a:rPr lang="fr-CA" altLang="en-US" sz="2200" dirty="0"/>
              <a:t>1</a:t>
            </a:r>
            <a:r>
              <a:rPr lang="fr-CA" altLang="en-US" sz="2200" baseline="30000" dirty="0"/>
              <a:t>er</a:t>
            </a:r>
            <a:r>
              <a:rPr lang="fr-CA" altLang="en-US" sz="2200" dirty="0"/>
              <a:t> janv. X4	  47 963	  47 963 	         0	  43 604      31 déc. X4	           0	           0	  4 359	  47 963 </a:t>
            </a:r>
          </a:p>
          <a:p>
            <a:pPr marL="107950" indent="0">
              <a:buNone/>
              <a:tabLst>
                <a:tab pos="2228850" algn="l"/>
                <a:tab pos="4229100" algn="l"/>
                <a:tab pos="5600700" algn="l"/>
                <a:tab pos="7086600" algn="l"/>
              </a:tabLst>
            </a:pPr>
            <a:r>
              <a:rPr lang="fr-CA" altLang="en-US" sz="2200" dirty="0"/>
              <a:t>1</a:t>
            </a:r>
            <a:r>
              <a:rPr lang="fr-CA" altLang="en-US" sz="2200" baseline="30000" dirty="0"/>
              <a:t>er</a:t>
            </a:r>
            <a:r>
              <a:rPr lang="fr-CA" altLang="en-US" sz="2200" dirty="0"/>
              <a:t> janv. X5	  47 963	  47 963 	         0	           0</a:t>
            </a:r>
          </a:p>
          <a:p>
            <a:pPr marL="107950" indent="0">
              <a:buNone/>
              <a:tabLst>
                <a:tab pos="2228850" algn="l"/>
                <a:tab pos="4229100" algn="l"/>
                <a:tab pos="5600700" algn="l"/>
                <a:tab pos="7086600" algn="l"/>
              </a:tabLst>
            </a:pPr>
            <a:endParaRPr lang="fr-CA" altLang="en-US" sz="2200" dirty="0"/>
          </a:p>
          <a:p>
            <a:pPr marL="107950" indent="0">
              <a:buNone/>
              <a:tabLst>
                <a:tab pos="2228850" algn="l"/>
                <a:tab pos="4229100" algn="l"/>
                <a:tab pos="5600700" algn="l"/>
                <a:tab pos="7086600" algn="l"/>
              </a:tabLst>
            </a:pPr>
            <a:endParaRPr lang="fr-CA" altLang="en-US" sz="2200" dirty="0"/>
          </a:p>
          <a:p>
            <a:pPr marL="107950" indent="0">
              <a:buNone/>
              <a:tabLst>
                <a:tab pos="2228850" algn="l"/>
                <a:tab pos="4229100" algn="l"/>
                <a:tab pos="5600700" algn="l"/>
                <a:tab pos="7086600" algn="l"/>
              </a:tabLst>
            </a:pPr>
            <a:endParaRPr lang="fr-CA" altLang="en-US" sz="2200" dirty="0"/>
          </a:p>
        </p:txBody>
      </p:sp>
      <p:sp>
        <p:nvSpPr>
          <p:cNvPr id="23555" name="Rectangle 2">
            <a:extLst>
              <a:ext uri="{FF2B5EF4-FFF2-40B4-BE49-F238E27FC236}">
                <a16:creationId xmlns:a16="http://schemas.microsoft.com/office/drawing/2014/main" id="{60F0CEB2-2F35-4099-970E-4FF1E02FE62D}"/>
              </a:ext>
            </a:extLst>
          </p:cNvPr>
          <p:cNvSpPr>
            <a:spLocks noGrp="1" noChangeArrowheads="1"/>
          </p:cNvSpPr>
          <p:nvPr>
            <p:ph type="title"/>
          </p:nvPr>
        </p:nvSpPr>
        <p:spPr/>
        <p:txBody>
          <a:bodyPr/>
          <a:lstStyle/>
          <a:p>
            <a:pPr eaLnBrk="1" hangingPunct="1"/>
            <a:r>
              <a:rPr lang="fr-CA" altLang="fr-FR" sz="3400"/>
              <a:t>Exercice 3 </a:t>
            </a:r>
            <a:endParaRPr lang="en-US" altLang="fr-FR" sz="3400"/>
          </a:p>
        </p:txBody>
      </p:sp>
      <p:sp>
        <p:nvSpPr>
          <p:cNvPr id="23556" name="Slide Number Placeholder 1">
            <a:extLst>
              <a:ext uri="{FF2B5EF4-FFF2-40B4-BE49-F238E27FC236}">
                <a16:creationId xmlns:a16="http://schemas.microsoft.com/office/drawing/2014/main" id="{8099FFEF-95A4-46BB-B39D-C874FECAFDA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spcBef>
                <a:spcPct val="0"/>
              </a:spcBef>
              <a:buFontTx/>
              <a:buNone/>
            </a:pPr>
            <a:fld id="{E75B33E3-1A47-4D6C-A8C3-0F83AFFEF5AB}" type="slidenum">
              <a:rPr lang="fr-FR" altLang="fr-FR" sz="1200">
                <a:solidFill>
                  <a:srgbClr val="898989"/>
                </a:solidFill>
              </a:rPr>
              <a:pPr>
                <a:spcBef>
                  <a:spcPct val="0"/>
                </a:spcBef>
                <a:buFontTx/>
                <a:buNone/>
              </a:pPr>
              <a:t>62</a:t>
            </a:fld>
            <a:endParaRPr lang="fr-FR" altLang="fr-FR" sz="1200">
              <a:solidFill>
                <a:srgbClr val="898989"/>
              </a:solidFill>
            </a:endParaRPr>
          </a:p>
        </p:txBody>
      </p:sp>
      <p:sp>
        <p:nvSpPr>
          <p:cNvPr id="2" name="Espace réservé du pied de page 1">
            <a:extLst>
              <a:ext uri="{FF2B5EF4-FFF2-40B4-BE49-F238E27FC236}">
                <a16:creationId xmlns:a16="http://schemas.microsoft.com/office/drawing/2014/main" id="{E00FCDF3-096A-409E-8091-6266DA54A2CD}"/>
              </a:ext>
            </a:extLst>
          </p:cNvPr>
          <p:cNvSpPr>
            <a:spLocks noGrp="1"/>
          </p:cNvSpPr>
          <p:nvPr>
            <p:ph type="ftr" sz="quarter" idx="11"/>
          </p:nvPr>
        </p:nvSpPr>
        <p:spPr/>
        <p:txBody>
          <a:bodyPr/>
          <a:lstStyle/>
          <a:p>
            <a:r>
              <a:rPr lang="fr-FR"/>
              <a:t>Droits réservés - Louise Overbeek</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4578" name="Rectangle 3">
            <a:extLst>
              <a:ext uri="{FF2B5EF4-FFF2-40B4-BE49-F238E27FC236}">
                <a16:creationId xmlns:a16="http://schemas.microsoft.com/office/drawing/2014/main" id="{9306834F-7900-41E2-BE4B-65699B350528}"/>
              </a:ext>
            </a:extLst>
          </p:cNvPr>
          <p:cNvSpPr>
            <a:spLocks noGrp="1" noChangeArrowheads="1"/>
          </p:cNvSpPr>
          <p:nvPr>
            <p:ph idx="1"/>
          </p:nvPr>
        </p:nvSpPr>
        <p:spPr>
          <a:xfrm>
            <a:off x="838199" y="1847850"/>
            <a:ext cx="10515599" cy="4159250"/>
          </a:xfrm>
        </p:spPr>
        <p:txBody>
          <a:bodyPr>
            <a:normAutofit lnSpcReduction="10000"/>
          </a:bodyPr>
          <a:lstStyle/>
          <a:p>
            <a:pPr marL="107950" indent="0">
              <a:lnSpc>
                <a:spcPct val="80000"/>
              </a:lnSpc>
              <a:buNone/>
            </a:pPr>
            <a:r>
              <a:rPr lang="fr-CA" altLang="fr-FR" dirty="0"/>
              <a:t>Coût de l</a:t>
            </a:r>
            <a:r>
              <a:rPr lang="fr-CA" altLang="fr-CA" dirty="0"/>
              <a:t>’</a:t>
            </a:r>
            <a:r>
              <a:rPr lang="fr-CA" altLang="fr-FR" dirty="0"/>
              <a:t>actif :	500 000 $</a:t>
            </a:r>
          </a:p>
          <a:p>
            <a:pPr marL="107950" indent="0">
              <a:lnSpc>
                <a:spcPct val="80000"/>
              </a:lnSpc>
              <a:buNone/>
            </a:pPr>
            <a:r>
              <a:rPr lang="fr-CA" altLang="fr-FR" dirty="0"/>
              <a:t>Durée : 		4 ans (paiements début de période)</a:t>
            </a:r>
          </a:p>
          <a:p>
            <a:pPr marL="107950" indent="0">
              <a:lnSpc>
                <a:spcPct val="80000"/>
              </a:lnSpc>
              <a:buNone/>
            </a:pPr>
            <a:r>
              <a:rPr lang="fr-CA" altLang="fr-FR" dirty="0"/>
              <a:t>Taux exigé :		8%</a:t>
            </a:r>
          </a:p>
          <a:p>
            <a:pPr marL="107950" indent="0">
              <a:lnSpc>
                <a:spcPct val="80000"/>
              </a:lnSpc>
              <a:buNone/>
            </a:pPr>
            <a:endParaRPr lang="fr-CA" altLang="fr-FR" dirty="0"/>
          </a:p>
          <a:p>
            <a:pPr marL="107950" indent="0">
              <a:lnSpc>
                <a:spcPct val="80000"/>
              </a:lnSpc>
              <a:buNone/>
            </a:pPr>
            <a:r>
              <a:rPr lang="fr-CA" altLang="fr-FR" dirty="0"/>
              <a:t>Versement</a:t>
            </a:r>
          </a:p>
          <a:p>
            <a:pPr marL="107950" indent="0">
              <a:lnSpc>
                <a:spcPct val="80000"/>
              </a:lnSpc>
              <a:buNone/>
            </a:pPr>
            <a:r>
              <a:rPr lang="fr-CA" altLang="fr-FR" dirty="0"/>
              <a:t>500 000 	=	x + </a:t>
            </a:r>
            <a:r>
              <a:rPr lang="fr-CA" altLang="fr-FR" dirty="0" err="1"/>
              <a:t>v.a</a:t>
            </a:r>
            <a:r>
              <a:rPr lang="fr-CA" altLang="fr-FR" dirty="0"/>
              <a:t>. (x) 3 périodes à 8%</a:t>
            </a:r>
          </a:p>
          <a:p>
            <a:pPr marL="107950" indent="0">
              <a:lnSpc>
                <a:spcPct val="80000"/>
              </a:lnSpc>
              <a:buNone/>
            </a:pPr>
            <a:r>
              <a:rPr lang="fr-CA" altLang="fr-FR" dirty="0"/>
              <a:t>500 000	=	x + 2.58 x</a:t>
            </a:r>
          </a:p>
          <a:p>
            <a:pPr marL="107950" indent="0">
              <a:lnSpc>
                <a:spcPct val="80000"/>
              </a:lnSpc>
              <a:buNone/>
            </a:pPr>
            <a:r>
              <a:rPr lang="fr-CA" altLang="fr-FR" dirty="0"/>
              <a:t>500 000	=	3.58 x</a:t>
            </a:r>
          </a:p>
          <a:p>
            <a:pPr marL="107950" indent="0">
              <a:lnSpc>
                <a:spcPct val="80000"/>
              </a:lnSpc>
              <a:buNone/>
            </a:pPr>
            <a:r>
              <a:rPr lang="fr-CA" altLang="fr-FR" dirty="0"/>
              <a:t>139 665	=	x</a:t>
            </a:r>
            <a:endParaRPr lang="fr-CA" altLang="fr-FR" sz="3000" dirty="0"/>
          </a:p>
        </p:txBody>
      </p:sp>
      <p:sp>
        <p:nvSpPr>
          <p:cNvPr id="24579" name="Rectangle 2">
            <a:extLst>
              <a:ext uri="{FF2B5EF4-FFF2-40B4-BE49-F238E27FC236}">
                <a16:creationId xmlns:a16="http://schemas.microsoft.com/office/drawing/2014/main" id="{60B9F8B3-69AA-40AD-B2A2-27FDA4A6F0D0}"/>
              </a:ext>
            </a:extLst>
          </p:cNvPr>
          <p:cNvSpPr>
            <a:spLocks noGrp="1" noChangeArrowheads="1"/>
          </p:cNvSpPr>
          <p:nvPr>
            <p:ph type="title"/>
          </p:nvPr>
        </p:nvSpPr>
        <p:spPr/>
        <p:txBody>
          <a:bodyPr/>
          <a:lstStyle/>
          <a:p>
            <a:pPr eaLnBrk="1" hangingPunct="1"/>
            <a:r>
              <a:rPr lang="en-US" altLang="fr-FR"/>
              <a:t>Mathématiques financières</a:t>
            </a:r>
          </a:p>
        </p:txBody>
      </p:sp>
      <p:sp>
        <p:nvSpPr>
          <p:cNvPr id="24580" name="Slide Number Placeholder 1">
            <a:extLst>
              <a:ext uri="{FF2B5EF4-FFF2-40B4-BE49-F238E27FC236}">
                <a16:creationId xmlns:a16="http://schemas.microsoft.com/office/drawing/2014/main" id="{C24DCD3D-0307-448E-A5BA-51F98790076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spcBef>
                <a:spcPct val="0"/>
              </a:spcBef>
              <a:buFontTx/>
              <a:buNone/>
            </a:pPr>
            <a:fld id="{597FF043-8BAD-4174-864F-CD5D5CCEF461}" type="slidenum">
              <a:rPr lang="fr-FR" altLang="fr-FR" sz="1200">
                <a:solidFill>
                  <a:srgbClr val="898989"/>
                </a:solidFill>
              </a:rPr>
              <a:pPr>
                <a:spcBef>
                  <a:spcPct val="0"/>
                </a:spcBef>
                <a:buFontTx/>
                <a:buNone/>
              </a:pPr>
              <a:t>63</a:t>
            </a:fld>
            <a:endParaRPr lang="fr-FR" altLang="fr-FR" sz="1200">
              <a:solidFill>
                <a:srgbClr val="898989"/>
              </a:solidFill>
            </a:endParaRPr>
          </a:p>
        </p:txBody>
      </p:sp>
      <p:sp>
        <p:nvSpPr>
          <p:cNvPr id="2" name="Espace réservé du pied de page 1">
            <a:extLst>
              <a:ext uri="{FF2B5EF4-FFF2-40B4-BE49-F238E27FC236}">
                <a16:creationId xmlns:a16="http://schemas.microsoft.com/office/drawing/2014/main" id="{450F0D5B-3AC1-4DB7-999E-985DF37086DE}"/>
              </a:ext>
            </a:extLst>
          </p:cNvPr>
          <p:cNvSpPr>
            <a:spLocks noGrp="1"/>
          </p:cNvSpPr>
          <p:nvPr>
            <p:ph type="ftr" sz="quarter" idx="11"/>
          </p:nvPr>
        </p:nvSpPr>
        <p:spPr/>
        <p:txBody>
          <a:bodyPr/>
          <a:lstStyle/>
          <a:p>
            <a:r>
              <a:rPr lang="fr-FR"/>
              <a:t>Droits réservés - Louise Overbeek</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5602" name="Rectangle 3">
            <a:extLst>
              <a:ext uri="{FF2B5EF4-FFF2-40B4-BE49-F238E27FC236}">
                <a16:creationId xmlns:a16="http://schemas.microsoft.com/office/drawing/2014/main" id="{BF71C52B-6D4D-447F-89D3-D8AEADAF7AC7}"/>
              </a:ext>
            </a:extLst>
          </p:cNvPr>
          <p:cNvSpPr>
            <a:spLocks noGrp="1" noChangeArrowheads="1"/>
          </p:cNvSpPr>
          <p:nvPr>
            <p:ph idx="1"/>
          </p:nvPr>
        </p:nvSpPr>
        <p:spPr>
          <a:xfrm>
            <a:off x="838199" y="1847850"/>
            <a:ext cx="10515599" cy="4159250"/>
          </a:xfrm>
        </p:spPr>
        <p:txBody>
          <a:bodyPr>
            <a:normAutofit lnSpcReduction="10000"/>
          </a:bodyPr>
          <a:lstStyle/>
          <a:p>
            <a:pPr marL="107950" indent="0">
              <a:lnSpc>
                <a:spcPct val="80000"/>
              </a:lnSpc>
              <a:buNone/>
            </a:pPr>
            <a:r>
              <a:rPr lang="fr-CA" altLang="fr-FR" dirty="0"/>
              <a:t>Coût de l</a:t>
            </a:r>
            <a:r>
              <a:rPr lang="fr-CA" altLang="fr-CA" dirty="0"/>
              <a:t>’</a:t>
            </a:r>
            <a:r>
              <a:rPr lang="fr-CA" altLang="fr-FR" dirty="0"/>
              <a:t>actif :		34 869 $</a:t>
            </a:r>
          </a:p>
          <a:p>
            <a:pPr marL="107950" indent="0">
              <a:lnSpc>
                <a:spcPct val="80000"/>
              </a:lnSpc>
              <a:buNone/>
            </a:pPr>
            <a:r>
              <a:rPr lang="fr-CA" altLang="fr-FR" dirty="0"/>
              <a:t>Durée : 			4 ans (paiements début période)</a:t>
            </a:r>
          </a:p>
          <a:p>
            <a:pPr marL="107950" indent="0">
              <a:lnSpc>
                <a:spcPct val="80000"/>
              </a:lnSpc>
              <a:buNone/>
            </a:pPr>
            <a:r>
              <a:rPr lang="fr-CA" altLang="fr-FR" dirty="0"/>
              <a:t>Paiement annuel :		10 000 $</a:t>
            </a:r>
          </a:p>
          <a:p>
            <a:pPr marL="107950" indent="0">
              <a:lnSpc>
                <a:spcPct val="80000"/>
              </a:lnSpc>
              <a:buNone/>
            </a:pPr>
            <a:endParaRPr lang="fr-CA" altLang="fr-FR" dirty="0"/>
          </a:p>
          <a:p>
            <a:pPr marL="107950" indent="0">
              <a:lnSpc>
                <a:spcPct val="80000"/>
              </a:lnSpc>
              <a:buNone/>
            </a:pPr>
            <a:r>
              <a:rPr lang="fr-CA" altLang="fr-FR" dirty="0"/>
              <a:t>Taux de rendement</a:t>
            </a:r>
          </a:p>
          <a:p>
            <a:pPr marL="107950" indent="0">
              <a:lnSpc>
                <a:spcPct val="80000"/>
              </a:lnSpc>
              <a:buNone/>
            </a:pPr>
            <a:r>
              <a:rPr lang="fr-CA" altLang="fr-FR" dirty="0"/>
              <a:t>34 869 	=	10 000 + (10 000 * x)</a:t>
            </a:r>
          </a:p>
          <a:p>
            <a:pPr marL="107950" indent="0">
              <a:lnSpc>
                <a:spcPct val="80000"/>
              </a:lnSpc>
              <a:buNone/>
            </a:pPr>
            <a:r>
              <a:rPr lang="fr-CA" altLang="fr-FR" dirty="0"/>
              <a:t>24 869 	=	10 000 x</a:t>
            </a:r>
          </a:p>
          <a:p>
            <a:pPr marL="107950" indent="0">
              <a:lnSpc>
                <a:spcPct val="80000"/>
              </a:lnSpc>
              <a:buNone/>
            </a:pPr>
            <a:r>
              <a:rPr lang="fr-CA" altLang="fr-FR" dirty="0"/>
              <a:t>2.49		=	x</a:t>
            </a:r>
          </a:p>
          <a:p>
            <a:pPr marL="107950" indent="0">
              <a:lnSpc>
                <a:spcPct val="80000"/>
              </a:lnSpc>
              <a:buNone/>
            </a:pPr>
            <a:r>
              <a:rPr lang="fr-CA" altLang="fr-FR" dirty="0"/>
              <a:t>	x = 10%</a:t>
            </a:r>
            <a:endParaRPr lang="fr-CA" altLang="fr-FR" sz="3000" dirty="0"/>
          </a:p>
        </p:txBody>
      </p:sp>
      <p:sp>
        <p:nvSpPr>
          <p:cNvPr id="25603" name="Rectangle 2">
            <a:extLst>
              <a:ext uri="{FF2B5EF4-FFF2-40B4-BE49-F238E27FC236}">
                <a16:creationId xmlns:a16="http://schemas.microsoft.com/office/drawing/2014/main" id="{51AE2548-387A-47E0-BE4F-5CE1B5093CA9}"/>
              </a:ext>
            </a:extLst>
          </p:cNvPr>
          <p:cNvSpPr>
            <a:spLocks noGrp="1" noChangeArrowheads="1"/>
          </p:cNvSpPr>
          <p:nvPr>
            <p:ph type="title"/>
          </p:nvPr>
        </p:nvSpPr>
        <p:spPr/>
        <p:txBody>
          <a:bodyPr/>
          <a:lstStyle/>
          <a:p>
            <a:pPr eaLnBrk="1" hangingPunct="1"/>
            <a:r>
              <a:rPr lang="en-US" altLang="fr-FR"/>
              <a:t>Mathématiques financières</a:t>
            </a:r>
          </a:p>
        </p:txBody>
      </p:sp>
      <p:sp>
        <p:nvSpPr>
          <p:cNvPr id="25604" name="Slide Number Placeholder 1">
            <a:extLst>
              <a:ext uri="{FF2B5EF4-FFF2-40B4-BE49-F238E27FC236}">
                <a16:creationId xmlns:a16="http://schemas.microsoft.com/office/drawing/2014/main" id="{DC945917-C456-46C3-8954-66BCF3A6806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spcBef>
                <a:spcPct val="0"/>
              </a:spcBef>
              <a:buFontTx/>
              <a:buNone/>
            </a:pPr>
            <a:fld id="{6FD2A46B-594F-4E8D-9BF5-07CAE7C7CB89}" type="slidenum">
              <a:rPr lang="fr-FR" altLang="fr-FR" sz="1200">
                <a:solidFill>
                  <a:srgbClr val="898989"/>
                </a:solidFill>
              </a:rPr>
              <a:pPr>
                <a:spcBef>
                  <a:spcPct val="0"/>
                </a:spcBef>
                <a:buFontTx/>
                <a:buNone/>
              </a:pPr>
              <a:t>64</a:t>
            </a:fld>
            <a:endParaRPr lang="fr-FR" altLang="fr-FR" sz="1200">
              <a:solidFill>
                <a:srgbClr val="898989"/>
              </a:solidFill>
            </a:endParaRPr>
          </a:p>
        </p:txBody>
      </p:sp>
      <p:sp>
        <p:nvSpPr>
          <p:cNvPr id="2" name="Espace réservé du pied de page 1">
            <a:extLst>
              <a:ext uri="{FF2B5EF4-FFF2-40B4-BE49-F238E27FC236}">
                <a16:creationId xmlns:a16="http://schemas.microsoft.com/office/drawing/2014/main" id="{9E1EF594-324B-4BC4-B1E5-5ECF8429777E}"/>
              </a:ext>
            </a:extLst>
          </p:cNvPr>
          <p:cNvSpPr>
            <a:spLocks noGrp="1"/>
          </p:cNvSpPr>
          <p:nvPr>
            <p:ph type="ftr" sz="quarter" idx="11"/>
          </p:nvPr>
        </p:nvSpPr>
        <p:spPr/>
        <p:txBody>
          <a:bodyPr/>
          <a:lstStyle/>
          <a:p>
            <a:r>
              <a:rPr lang="fr-FR"/>
              <a:t>Droits réservés - Louise Overbeek</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re 1">
            <a:extLst>
              <a:ext uri="{FF2B5EF4-FFF2-40B4-BE49-F238E27FC236}">
                <a16:creationId xmlns:a16="http://schemas.microsoft.com/office/drawing/2014/main" id="{76CC0B8E-137E-4A20-A9F0-A0D3A2B35135}"/>
              </a:ext>
            </a:extLst>
          </p:cNvPr>
          <p:cNvSpPr>
            <a:spLocks noGrp="1"/>
          </p:cNvSpPr>
          <p:nvPr>
            <p:ph type="title"/>
          </p:nvPr>
        </p:nvSpPr>
        <p:spPr/>
        <p:txBody>
          <a:bodyPr/>
          <a:lstStyle/>
          <a:p>
            <a:pPr eaLnBrk="1" hangingPunct="1"/>
            <a:r>
              <a:rPr lang="fr-CA" altLang="fr-FR" sz="3600"/>
              <a:t>Preneur - Écritures</a:t>
            </a:r>
          </a:p>
        </p:txBody>
      </p:sp>
      <p:sp>
        <p:nvSpPr>
          <p:cNvPr id="26627" name="Espace réservé du contenu 2">
            <a:extLst>
              <a:ext uri="{FF2B5EF4-FFF2-40B4-BE49-F238E27FC236}">
                <a16:creationId xmlns:a16="http://schemas.microsoft.com/office/drawing/2014/main" id="{FFF3F5E6-2442-4054-AD00-7570A4207B40}"/>
              </a:ext>
            </a:extLst>
          </p:cNvPr>
          <p:cNvSpPr>
            <a:spLocks noGrp="1"/>
          </p:cNvSpPr>
          <p:nvPr>
            <p:ph idx="1"/>
          </p:nvPr>
        </p:nvSpPr>
        <p:spPr>
          <a:xfrm>
            <a:off x="838199" y="1417639"/>
            <a:ext cx="10515599" cy="4840287"/>
          </a:xfrm>
        </p:spPr>
        <p:txBody>
          <a:bodyPr>
            <a:normAutofit/>
          </a:bodyPr>
          <a:lstStyle/>
          <a:p>
            <a:pPr marL="0" indent="0">
              <a:lnSpc>
                <a:spcPct val="80000"/>
              </a:lnSpc>
              <a:spcBef>
                <a:spcPct val="0"/>
              </a:spcBef>
              <a:buNone/>
            </a:pPr>
            <a:r>
              <a:rPr lang="fr-CA" altLang="fr-FR" sz="1900" dirty="0"/>
              <a:t>À la signature du contrat de location :</a:t>
            </a:r>
          </a:p>
          <a:p>
            <a:pPr marL="0" indent="0">
              <a:lnSpc>
                <a:spcPct val="80000"/>
              </a:lnSpc>
              <a:spcBef>
                <a:spcPct val="0"/>
              </a:spcBef>
              <a:buNone/>
            </a:pPr>
            <a:r>
              <a:rPr lang="fr-CA" altLang="fr-FR" sz="1900" dirty="0"/>
              <a:t>	Droit d</a:t>
            </a:r>
            <a:r>
              <a:rPr lang="fr-CA" altLang="fr-CA" sz="1900" dirty="0"/>
              <a:t>’</a:t>
            </a:r>
            <a:r>
              <a:rPr lang="fr-CA" altLang="fr-FR" sz="1900" dirty="0"/>
              <a:t>utilisation  </a:t>
            </a:r>
          </a:p>
          <a:p>
            <a:pPr marL="0" indent="0">
              <a:lnSpc>
                <a:spcPct val="80000"/>
              </a:lnSpc>
              <a:spcBef>
                <a:spcPct val="0"/>
              </a:spcBef>
              <a:buNone/>
            </a:pPr>
            <a:r>
              <a:rPr lang="fr-CA" altLang="fr-FR" sz="1900" dirty="0"/>
              <a:t>	@  Obligation locative</a:t>
            </a:r>
          </a:p>
          <a:p>
            <a:pPr marL="0" indent="0">
              <a:lnSpc>
                <a:spcPct val="80000"/>
              </a:lnSpc>
              <a:spcBef>
                <a:spcPct val="0"/>
              </a:spcBef>
              <a:buNone/>
            </a:pPr>
            <a:endParaRPr lang="fr-CA" altLang="fr-FR" sz="1900" dirty="0"/>
          </a:p>
          <a:p>
            <a:pPr marL="0" indent="0">
              <a:lnSpc>
                <a:spcPct val="80000"/>
              </a:lnSpc>
              <a:spcBef>
                <a:spcPct val="0"/>
              </a:spcBef>
              <a:buNone/>
            </a:pPr>
            <a:r>
              <a:rPr lang="fr-CA" altLang="fr-FR" sz="1900" dirty="0"/>
              <a:t>	Droit d</a:t>
            </a:r>
            <a:r>
              <a:rPr lang="fr-CA" altLang="fr-CA" sz="1900" dirty="0"/>
              <a:t>’</a:t>
            </a:r>
            <a:r>
              <a:rPr lang="fr-CA" altLang="fr-FR" sz="1900" dirty="0"/>
              <a:t>utilisation  - </a:t>
            </a:r>
            <a:r>
              <a:rPr lang="fr-CA" altLang="fr-FR" sz="1900" i="1" dirty="0"/>
              <a:t>inclure les frais initiaux à l’actif</a:t>
            </a:r>
            <a:endParaRPr lang="fr-CA" altLang="fr-FR" sz="1900" dirty="0"/>
          </a:p>
          <a:p>
            <a:pPr marL="0" indent="0">
              <a:lnSpc>
                <a:spcPct val="80000"/>
              </a:lnSpc>
              <a:spcBef>
                <a:spcPct val="0"/>
              </a:spcBef>
              <a:buNone/>
            </a:pPr>
            <a:r>
              <a:rPr lang="fr-CA" altLang="fr-FR" sz="1900" dirty="0"/>
              <a:t>	@   Encaisse - </a:t>
            </a:r>
            <a:r>
              <a:rPr lang="fr-CA" altLang="fr-FR" sz="1900" i="1" dirty="0"/>
              <a:t>si frais initiaux</a:t>
            </a:r>
          </a:p>
          <a:p>
            <a:pPr marL="0" indent="0">
              <a:lnSpc>
                <a:spcPct val="80000"/>
              </a:lnSpc>
              <a:spcBef>
                <a:spcPct val="0"/>
              </a:spcBef>
              <a:buNone/>
            </a:pPr>
            <a:r>
              <a:rPr lang="fr-CA" altLang="fr-FR" sz="1900" dirty="0"/>
              <a:t>	</a:t>
            </a:r>
          </a:p>
          <a:p>
            <a:pPr marL="0" indent="0">
              <a:lnSpc>
                <a:spcPct val="80000"/>
              </a:lnSpc>
              <a:spcBef>
                <a:spcPct val="0"/>
              </a:spcBef>
              <a:buNone/>
            </a:pPr>
            <a:r>
              <a:rPr lang="fr-CA" altLang="fr-FR" sz="1900" dirty="0"/>
              <a:t>	Obligation locative</a:t>
            </a:r>
          </a:p>
          <a:p>
            <a:pPr marL="0" indent="0">
              <a:lnSpc>
                <a:spcPct val="80000"/>
              </a:lnSpc>
              <a:spcBef>
                <a:spcPct val="0"/>
              </a:spcBef>
              <a:buNone/>
            </a:pPr>
            <a:r>
              <a:rPr lang="fr-CA" altLang="fr-FR" sz="1900" dirty="0"/>
              <a:t>	</a:t>
            </a:r>
            <a:r>
              <a:rPr lang="fr-CA" altLang="fr-FR" sz="1900" i="1" dirty="0"/>
              <a:t>Coût des services (obligation non locative)</a:t>
            </a:r>
          </a:p>
          <a:p>
            <a:pPr marL="0" indent="0">
              <a:lnSpc>
                <a:spcPct val="80000"/>
              </a:lnSpc>
              <a:spcBef>
                <a:spcPct val="0"/>
              </a:spcBef>
              <a:buNone/>
            </a:pPr>
            <a:r>
              <a:rPr lang="fr-CA" altLang="fr-FR" sz="1900" dirty="0"/>
              <a:t>	@  Encaisse  </a:t>
            </a:r>
            <a:r>
              <a:rPr lang="fr-CA" altLang="fr-FR" sz="1900" i="1" dirty="0"/>
              <a:t>- premier paiement location</a:t>
            </a:r>
            <a:endParaRPr lang="fr-CA" altLang="fr-FR" sz="1900" dirty="0"/>
          </a:p>
          <a:p>
            <a:pPr marL="0" indent="0">
              <a:lnSpc>
                <a:spcPct val="80000"/>
              </a:lnSpc>
              <a:spcBef>
                <a:spcPct val="0"/>
              </a:spcBef>
              <a:buNone/>
            </a:pPr>
            <a:endParaRPr lang="fr-CA" altLang="fr-FR" sz="1900" dirty="0"/>
          </a:p>
          <a:p>
            <a:pPr marL="0" indent="0">
              <a:lnSpc>
                <a:spcPct val="80000"/>
              </a:lnSpc>
              <a:spcBef>
                <a:spcPct val="0"/>
              </a:spcBef>
              <a:buNone/>
            </a:pPr>
            <a:r>
              <a:rPr lang="fr-CA" altLang="fr-FR" sz="1900" dirty="0"/>
              <a:t>À la fin de période :</a:t>
            </a:r>
          </a:p>
          <a:p>
            <a:pPr marL="0" indent="0">
              <a:lnSpc>
                <a:spcPct val="80000"/>
              </a:lnSpc>
              <a:spcBef>
                <a:spcPct val="0"/>
              </a:spcBef>
              <a:buNone/>
            </a:pPr>
            <a:r>
              <a:rPr lang="fr-CA" altLang="fr-FR" sz="1900" dirty="0"/>
              <a:t>	Amortissement</a:t>
            </a:r>
          </a:p>
          <a:p>
            <a:pPr marL="0" indent="0">
              <a:lnSpc>
                <a:spcPct val="80000"/>
              </a:lnSpc>
              <a:spcBef>
                <a:spcPct val="0"/>
              </a:spcBef>
              <a:buNone/>
            </a:pPr>
            <a:r>
              <a:rPr lang="fr-CA" altLang="fr-FR" sz="1900" dirty="0"/>
              <a:t>	@  Amortissement cumulé </a:t>
            </a:r>
            <a:r>
              <a:rPr lang="mr-IN" altLang="fr-FR" sz="1900" dirty="0">
                <a:latin typeface="Mangal" panose="02040503050203030202" pitchFamily="18" charset="0"/>
              </a:rPr>
              <a:t>–</a:t>
            </a:r>
            <a:r>
              <a:rPr lang="fr-CA" altLang="fr-FR" sz="1900" dirty="0"/>
              <a:t> Droit d</a:t>
            </a:r>
            <a:r>
              <a:rPr lang="fr-CA" altLang="fr-CA" sz="1900" dirty="0"/>
              <a:t>’</a:t>
            </a:r>
            <a:r>
              <a:rPr lang="fr-CA" altLang="fr-FR" sz="1900" dirty="0"/>
              <a:t>utilisation</a:t>
            </a:r>
          </a:p>
          <a:p>
            <a:pPr marL="0" indent="0">
              <a:lnSpc>
                <a:spcPct val="80000"/>
              </a:lnSpc>
              <a:spcBef>
                <a:spcPct val="0"/>
              </a:spcBef>
              <a:buNone/>
            </a:pPr>
            <a:endParaRPr lang="fr-CA" altLang="fr-FR" sz="1900" dirty="0"/>
          </a:p>
          <a:p>
            <a:pPr marL="0" indent="0">
              <a:lnSpc>
                <a:spcPct val="80000"/>
              </a:lnSpc>
              <a:spcBef>
                <a:spcPct val="0"/>
              </a:spcBef>
              <a:buNone/>
            </a:pPr>
            <a:r>
              <a:rPr lang="fr-CA" altLang="fr-FR" sz="1900" dirty="0"/>
              <a:t>	Charge intérêts </a:t>
            </a:r>
            <a:r>
              <a:rPr lang="mr-IN" altLang="fr-FR" sz="1900" dirty="0">
                <a:latin typeface="Mangal" panose="02040503050203030202" pitchFamily="18" charset="0"/>
              </a:rPr>
              <a:t>–</a:t>
            </a:r>
            <a:r>
              <a:rPr lang="fr-CA" altLang="fr-FR" sz="1900" dirty="0"/>
              <a:t> obligation  - </a:t>
            </a:r>
            <a:r>
              <a:rPr lang="fr-CA" altLang="fr-FR" sz="1900" i="1" dirty="0"/>
              <a:t>intérêts théoriques courus</a:t>
            </a:r>
            <a:endParaRPr lang="fr-CA" altLang="fr-FR" sz="1900" dirty="0"/>
          </a:p>
          <a:p>
            <a:pPr marL="0" indent="0">
              <a:lnSpc>
                <a:spcPct val="80000"/>
              </a:lnSpc>
              <a:spcBef>
                <a:spcPct val="0"/>
              </a:spcBef>
              <a:buNone/>
            </a:pPr>
            <a:r>
              <a:rPr lang="fr-CA" altLang="fr-FR" sz="1900" dirty="0"/>
              <a:t>	@  Intérêts à payer</a:t>
            </a:r>
          </a:p>
        </p:txBody>
      </p:sp>
      <p:sp>
        <p:nvSpPr>
          <p:cNvPr id="26628" name="Espace réservé du numéro de diapositive 3">
            <a:extLst>
              <a:ext uri="{FF2B5EF4-FFF2-40B4-BE49-F238E27FC236}">
                <a16:creationId xmlns:a16="http://schemas.microsoft.com/office/drawing/2014/main" id="{B7E287D9-E84B-4CEA-B389-8BA5FD5D590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spcBef>
                <a:spcPct val="0"/>
              </a:spcBef>
              <a:buFontTx/>
              <a:buNone/>
            </a:pPr>
            <a:fld id="{301AEB88-5F73-43D9-935C-7D35F01BB8F9}" type="slidenum">
              <a:rPr lang="fr-FR" altLang="fr-FR" sz="1200">
                <a:solidFill>
                  <a:srgbClr val="898989"/>
                </a:solidFill>
              </a:rPr>
              <a:pPr>
                <a:spcBef>
                  <a:spcPct val="0"/>
                </a:spcBef>
                <a:buFontTx/>
                <a:buNone/>
              </a:pPr>
              <a:t>65</a:t>
            </a:fld>
            <a:endParaRPr lang="fr-FR" altLang="fr-FR" sz="1200">
              <a:solidFill>
                <a:srgbClr val="898989"/>
              </a:solidFill>
            </a:endParaRPr>
          </a:p>
        </p:txBody>
      </p:sp>
      <p:sp>
        <p:nvSpPr>
          <p:cNvPr id="2" name="Espace réservé du pied de page 1">
            <a:extLst>
              <a:ext uri="{FF2B5EF4-FFF2-40B4-BE49-F238E27FC236}">
                <a16:creationId xmlns:a16="http://schemas.microsoft.com/office/drawing/2014/main" id="{05AFA878-F0B3-4B1C-A20A-319A7294810F}"/>
              </a:ext>
            </a:extLst>
          </p:cNvPr>
          <p:cNvSpPr>
            <a:spLocks noGrp="1"/>
          </p:cNvSpPr>
          <p:nvPr>
            <p:ph type="ftr" sz="quarter" idx="11"/>
          </p:nvPr>
        </p:nvSpPr>
        <p:spPr/>
        <p:txBody>
          <a:bodyPr/>
          <a:lstStyle/>
          <a:p>
            <a:r>
              <a:rPr lang="fr-FR"/>
              <a:t>Droits réservés - Louise Overbeek</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re 1">
            <a:extLst>
              <a:ext uri="{FF2B5EF4-FFF2-40B4-BE49-F238E27FC236}">
                <a16:creationId xmlns:a16="http://schemas.microsoft.com/office/drawing/2014/main" id="{76CC0B8E-137E-4A20-A9F0-A0D3A2B35135}"/>
              </a:ext>
            </a:extLst>
          </p:cNvPr>
          <p:cNvSpPr>
            <a:spLocks noGrp="1"/>
          </p:cNvSpPr>
          <p:nvPr>
            <p:ph type="title"/>
          </p:nvPr>
        </p:nvSpPr>
        <p:spPr/>
        <p:txBody>
          <a:bodyPr/>
          <a:lstStyle/>
          <a:p>
            <a:pPr eaLnBrk="1" hangingPunct="1"/>
            <a:r>
              <a:rPr lang="fr-CA" altLang="fr-FR" sz="3600"/>
              <a:t>Preneur - Écritures</a:t>
            </a:r>
          </a:p>
        </p:txBody>
      </p:sp>
      <p:sp>
        <p:nvSpPr>
          <p:cNvPr id="26627" name="Espace réservé du contenu 2">
            <a:extLst>
              <a:ext uri="{FF2B5EF4-FFF2-40B4-BE49-F238E27FC236}">
                <a16:creationId xmlns:a16="http://schemas.microsoft.com/office/drawing/2014/main" id="{FFF3F5E6-2442-4054-AD00-7570A4207B40}"/>
              </a:ext>
            </a:extLst>
          </p:cNvPr>
          <p:cNvSpPr>
            <a:spLocks noGrp="1"/>
          </p:cNvSpPr>
          <p:nvPr>
            <p:ph idx="1"/>
          </p:nvPr>
        </p:nvSpPr>
        <p:spPr>
          <a:xfrm>
            <a:off x="838199" y="1417639"/>
            <a:ext cx="10515599" cy="4840287"/>
          </a:xfrm>
        </p:spPr>
        <p:txBody>
          <a:bodyPr>
            <a:normAutofit/>
          </a:bodyPr>
          <a:lstStyle/>
          <a:p>
            <a:pPr marL="0" indent="0">
              <a:lnSpc>
                <a:spcPct val="80000"/>
              </a:lnSpc>
              <a:spcBef>
                <a:spcPct val="0"/>
              </a:spcBef>
              <a:buNone/>
            </a:pPr>
            <a:endParaRPr lang="fr-CA" altLang="fr-FR" sz="1900" dirty="0"/>
          </a:p>
          <a:p>
            <a:pPr marL="0" indent="0">
              <a:lnSpc>
                <a:spcPct val="80000"/>
              </a:lnSpc>
              <a:spcBef>
                <a:spcPct val="0"/>
              </a:spcBef>
              <a:buNone/>
            </a:pPr>
            <a:r>
              <a:rPr lang="fr-CA" altLang="fr-FR" sz="1900" dirty="0"/>
              <a:t>Lors du versement de loyer :</a:t>
            </a:r>
          </a:p>
          <a:p>
            <a:pPr marL="0" indent="0">
              <a:lnSpc>
                <a:spcPct val="80000"/>
              </a:lnSpc>
              <a:spcBef>
                <a:spcPct val="0"/>
              </a:spcBef>
              <a:buNone/>
            </a:pPr>
            <a:r>
              <a:rPr lang="fr-CA" altLang="fr-FR" sz="1900" dirty="0"/>
              <a:t>	Intérêts à payer</a:t>
            </a:r>
          </a:p>
          <a:p>
            <a:pPr marL="0" indent="0">
              <a:lnSpc>
                <a:spcPct val="80000"/>
              </a:lnSpc>
              <a:spcBef>
                <a:spcPct val="0"/>
              </a:spcBef>
              <a:buNone/>
            </a:pPr>
            <a:r>
              <a:rPr lang="fr-CA" altLang="fr-FR" sz="1900" dirty="0"/>
              <a:t>	</a:t>
            </a:r>
            <a:r>
              <a:rPr lang="fr-CA" altLang="fr-FR" sz="1900" i="1" dirty="0"/>
              <a:t>Coût des services</a:t>
            </a:r>
          </a:p>
          <a:p>
            <a:pPr marL="0" indent="0">
              <a:lnSpc>
                <a:spcPct val="80000"/>
              </a:lnSpc>
              <a:spcBef>
                <a:spcPct val="0"/>
              </a:spcBef>
              <a:buNone/>
            </a:pPr>
            <a:r>
              <a:rPr lang="fr-CA" altLang="fr-FR" sz="1900" dirty="0"/>
              <a:t>	Obligation locative</a:t>
            </a:r>
          </a:p>
          <a:p>
            <a:pPr marL="0" indent="0">
              <a:lnSpc>
                <a:spcPct val="80000"/>
              </a:lnSpc>
              <a:spcBef>
                <a:spcPct val="0"/>
              </a:spcBef>
              <a:buNone/>
            </a:pPr>
            <a:r>
              <a:rPr lang="fr-CA" altLang="fr-FR" sz="1900" dirty="0"/>
              <a:t>	@  Encaisse</a:t>
            </a:r>
            <a:endParaRPr lang="fr-CA" altLang="fr-FR" sz="2500" dirty="0"/>
          </a:p>
        </p:txBody>
      </p:sp>
      <p:sp>
        <p:nvSpPr>
          <p:cNvPr id="26628" name="Espace réservé du numéro de diapositive 3">
            <a:extLst>
              <a:ext uri="{FF2B5EF4-FFF2-40B4-BE49-F238E27FC236}">
                <a16:creationId xmlns:a16="http://schemas.microsoft.com/office/drawing/2014/main" id="{B7E287D9-E84B-4CEA-B389-8BA5FD5D590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spcBef>
                <a:spcPct val="0"/>
              </a:spcBef>
              <a:buFontTx/>
              <a:buNone/>
            </a:pPr>
            <a:fld id="{301AEB88-5F73-43D9-935C-7D35F01BB8F9}" type="slidenum">
              <a:rPr lang="fr-FR" altLang="fr-FR" sz="1200">
                <a:solidFill>
                  <a:srgbClr val="898989"/>
                </a:solidFill>
              </a:rPr>
              <a:pPr>
                <a:spcBef>
                  <a:spcPct val="0"/>
                </a:spcBef>
                <a:buFontTx/>
                <a:buNone/>
              </a:pPr>
              <a:t>66</a:t>
            </a:fld>
            <a:endParaRPr lang="fr-FR" altLang="fr-FR" sz="1200">
              <a:solidFill>
                <a:srgbClr val="898989"/>
              </a:solidFill>
            </a:endParaRPr>
          </a:p>
        </p:txBody>
      </p:sp>
      <p:sp>
        <p:nvSpPr>
          <p:cNvPr id="2" name="Espace réservé du pied de page 1">
            <a:extLst>
              <a:ext uri="{FF2B5EF4-FFF2-40B4-BE49-F238E27FC236}">
                <a16:creationId xmlns:a16="http://schemas.microsoft.com/office/drawing/2014/main" id="{05AFA878-F0B3-4B1C-A20A-319A7294810F}"/>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395930963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27650" name="Titre 1">
            <a:extLst>
              <a:ext uri="{FF2B5EF4-FFF2-40B4-BE49-F238E27FC236}">
                <a16:creationId xmlns:a16="http://schemas.microsoft.com/office/drawing/2014/main" id="{15377873-0CFE-4696-8D7A-7C6B52B3682A}"/>
              </a:ext>
            </a:extLst>
          </p:cNvPr>
          <p:cNvSpPr>
            <a:spLocks noGrp="1"/>
          </p:cNvSpPr>
          <p:nvPr>
            <p:ph type="title"/>
          </p:nvPr>
        </p:nvSpPr>
        <p:spPr/>
        <p:txBody>
          <a:bodyPr/>
          <a:lstStyle/>
          <a:p>
            <a:pPr eaLnBrk="1" hangingPunct="1"/>
            <a:r>
              <a:rPr lang="fr-CA" altLang="fr-FR" sz="3600"/>
              <a:t>Exercice </a:t>
            </a:r>
            <a:r>
              <a:rPr lang="mr-IN" altLang="fr-FR" sz="3600">
                <a:latin typeface="Mangal" panose="02040503050203030202" pitchFamily="18" charset="0"/>
              </a:rPr>
              <a:t>–</a:t>
            </a:r>
            <a:r>
              <a:rPr lang="fr-CA" altLang="fr-FR" sz="3600"/>
              <a:t> préparer les écritures</a:t>
            </a:r>
            <a:endParaRPr lang="fr-CA" altLang="fr-FR"/>
          </a:p>
        </p:txBody>
      </p:sp>
      <p:sp>
        <p:nvSpPr>
          <p:cNvPr id="27651" name="Espace réservé du contenu 2">
            <a:extLst>
              <a:ext uri="{FF2B5EF4-FFF2-40B4-BE49-F238E27FC236}">
                <a16:creationId xmlns:a16="http://schemas.microsoft.com/office/drawing/2014/main" id="{348CFE77-4BC3-4453-8C2D-51B5844120BE}"/>
              </a:ext>
            </a:extLst>
          </p:cNvPr>
          <p:cNvSpPr>
            <a:spLocks noGrp="1"/>
          </p:cNvSpPr>
          <p:nvPr>
            <p:ph idx="1"/>
          </p:nvPr>
        </p:nvSpPr>
        <p:spPr/>
        <p:txBody>
          <a:bodyPr/>
          <a:lstStyle/>
          <a:p>
            <a:pPr marL="0" indent="0">
              <a:buNone/>
            </a:pPr>
            <a:r>
              <a:rPr lang="fr-FR" altLang="fr-FR" dirty="0"/>
              <a:t>Valeur de l'actif :			88 822 $</a:t>
            </a:r>
          </a:p>
          <a:p>
            <a:pPr marL="0" indent="0">
              <a:buNone/>
            </a:pPr>
            <a:r>
              <a:rPr lang="fr-FR" altLang="fr-FR" dirty="0"/>
              <a:t>Durée utile :				5 ans </a:t>
            </a:r>
          </a:p>
          <a:p>
            <a:pPr marL="0" indent="0">
              <a:buNone/>
            </a:pPr>
            <a:r>
              <a:rPr lang="fr-FR" altLang="fr-FR" dirty="0"/>
              <a:t>Durée location :			5 ans </a:t>
            </a:r>
          </a:p>
          <a:p>
            <a:pPr marL="0" indent="0">
              <a:buNone/>
            </a:pPr>
            <a:r>
              <a:rPr lang="fr-FR" altLang="fr-FR" dirty="0"/>
              <a:t>Paiement annuel location :	22 000 $ </a:t>
            </a:r>
            <a:r>
              <a:rPr lang="fr-FR" altLang="fr-FR" sz="2400" dirty="0"/>
              <a:t>début période </a:t>
            </a:r>
            <a:endParaRPr lang="fr-FR" altLang="fr-FR" dirty="0"/>
          </a:p>
          <a:p>
            <a:pPr marL="0" indent="0">
              <a:buNone/>
            </a:pPr>
            <a:r>
              <a:rPr lang="fr-FR" altLang="fr-FR" dirty="0"/>
              <a:t>Valeur résiduelle :	0 </a:t>
            </a:r>
          </a:p>
          <a:p>
            <a:pPr marL="0" indent="0">
              <a:buNone/>
            </a:pPr>
            <a:endParaRPr lang="fr-FR" altLang="fr-FR" dirty="0"/>
          </a:p>
          <a:p>
            <a:pPr marL="0" indent="0">
              <a:buNone/>
            </a:pPr>
            <a:r>
              <a:rPr lang="fr-FR" altLang="fr-FR" dirty="0"/>
              <a:t>Taux? 		</a:t>
            </a:r>
            <a:r>
              <a:rPr lang="fr-FR" altLang="fr-FR" dirty="0">
                <a:solidFill>
                  <a:srgbClr val="FF0000"/>
                </a:solidFill>
              </a:rPr>
              <a:t>12 %</a:t>
            </a:r>
            <a:r>
              <a:rPr lang="fr-FR" altLang="fr-FR" dirty="0"/>
              <a:t> </a:t>
            </a:r>
            <a:endParaRPr lang="fr-CA" altLang="fr-FR" dirty="0"/>
          </a:p>
        </p:txBody>
      </p:sp>
      <p:sp>
        <p:nvSpPr>
          <p:cNvPr id="27652" name="Espace réservé du numéro de diapositive 3">
            <a:extLst>
              <a:ext uri="{FF2B5EF4-FFF2-40B4-BE49-F238E27FC236}">
                <a16:creationId xmlns:a16="http://schemas.microsoft.com/office/drawing/2014/main" id="{0F0D6AD3-8F94-4A61-BED5-70F2414A401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spcBef>
                <a:spcPct val="0"/>
              </a:spcBef>
              <a:buFontTx/>
              <a:buNone/>
            </a:pPr>
            <a:fld id="{3C305A43-890F-4047-B0A7-75644D6AC6B9}" type="slidenum">
              <a:rPr lang="fr-FR" altLang="fr-FR" sz="1200">
                <a:solidFill>
                  <a:srgbClr val="898989"/>
                </a:solidFill>
              </a:rPr>
              <a:pPr>
                <a:spcBef>
                  <a:spcPct val="0"/>
                </a:spcBef>
                <a:buFontTx/>
                <a:buNone/>
              </a:pPr>
              <a:t>67</a:t>
            </a:fld>
            <a:endParaRPr lang="fr-FR" altLang="fr-FR" sz="1200">
              <a:solidFill>
                <a:srgbClr val="898989"/>
              </a:solidFill>
            </a:endParaRPr>
          </a:p>
        </p:txBody>
      </p:sp>
      <p:sp>
        <p:nvSpPr>
          <p:cNvPr id="2" name="Espace réservé du pied de page 1">
            <a:extLst>
              <a:ext uri="{FF2B5EF4-FFF2-40B4-BE49-F238E27FC236}">
                <a16:creationId xmlns:a16="http://schemas.microsoft.com/office/drawing/2014/main" id="{0870D0CE-4C50-488D-88BB-E031C90FF695}"/>
              </a:ext>
            </a:extLst>
          </p:cNvPr>
          <p:cNvSpPr>
            <a:spLocks noGrp="1"/>
          </p:cNvSpPr>
          <p:nvPr>
            <p:ph type="ftr" sz="quarter" idx="11"/>
          </p:nvPr>
        </p:nvSpPr>
        <p:spPr/>
        <p:txBody>
          <a:bodyPr/>
          <a:lstStyle/>
          <a:p>
            <a:r>
              <a:rPr lang="fr-FR"/>
              <a:t>Droits réservés - Louise Overbeek</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8674" name="Titre 1">
            <a:extLst>
              <a:ext uri="{FF2B5EF4-FFF2-40B4-BE49-F238E27FC236}">
                <a16:creationId xmlns:a16="http://schemas.microsoft.com/office/drawing/2014/main" id="{13AACE9C-DD38-44F6-9CBD-CD05660912AB}"/>
              </a:ext>
            </a:extLst>
          </p:cNvPr>
          <p:cNvSpPr>
            <a:spLocks noGrp="1"/>
          </p:cNvSpPr>
          <p:nvPr>
            <p:ph type="title"/>
          </p:nvPr>
        </p:nvSpPr>
        <p:spPr/>
        <p:txBody>
          <a:bodyPr/>
          <a:lstStyle/>
          <a:p>
            <a:pPr eaLnBrk="1" hangingPunct="1"/>
            <a:r>
              <a:rPr lang="fr-CA" altLang="fr-FR" dirty="0"/>
              <a:t> </a:t>
            </a:r>
          </a:p>
        </p:txBody>
      </p:sp>
      <p:sp>
        <p:nvSpPr>
          <p:cNvPr id="28675" name="Espace réservé du contenu 2">
            <a:extLst>
              <a:ext uri="{FF2B5EF4-FFF2-40B4-BE49-F238E27FC236}">
                <a16:creationId xmlns:a16="http://schemas.microsoft.com/office/drawing/2014/main" id="{80E04D2A-3BDB-427B-8309-2A2B5779A0BE}"/>
              </a:ext>
            </a:extLst>
          </p:cNvPr>
          <p:cNvSpPr>
            <a:spLocks noGrp="1"/>
          </p:cNvSpPr>
          <p:nvPr>
            <p:ph idx="1"/>
          </p:nvPr>
        </p:nvSpPr>
        <p:spPr/>
        <p:txBody>
          <a:bodyPr>
            <a:normAutofit fontScale="92500" lnSpcReduction="20000"/>
          </a:bodyPr>
          <a:lstStyle/>
          <a:p>
            <a:pPr marL="0" indent="0">
              <a:buNone/>
              <a:tabLst>
                <a:tab pos="1349375" algn="l"/>
                <a:tab pos="2960688" algn="l"/>
                <a:tab pos="5291138" algn="l"/>
              </a:tabLst>
            </a:pPr>
            <a:r>
              <a:rPr lang="fr-FR" altLang="fr-FR" sz="3000" b="1" dirty="0"/>
              <a:t>	Intérêts</a:t>
            </a:r>
            <a:r>
              <a:rPr lang="fr-FR" altLang="fr-FR" sz="3000" dirty="0"/>
              <a:t> 		</a:t>
            </a:r>
            <a:r>
              <a:rPr lang="fr-FR" altLang="fr-FR" sz="3000" b="1" dirty="0"/>
              <a:t>Versements</a:t>
            </a:r>
            <a:r>
              <a:rPr lang="fr-FR" altLang="fr-FR" sz="3000" dirty="0"/>
              <a:t> 		</a:t>
            </a:r>
            <a:r>
              <a:rPr lang="fr-FR" altLang="fr-FR" sz="3000" b="1" dirty="0"/>
              <a:t>Solde</a:t>
            </a:r>
            <a:r>
              <a:rPr lang="fr-FR" altLang="fr-FR" sz="3000" dirty="0"/>
              <a:t> </a:t>
            </a:r>
          </a:p>
          <a:p>
            <a:pPr marL="0" indent="0">
              <a:buNone/>
            </a:pPr>
            <a:r>
              <a:rPr lang="fr-FR" altLang="fr-FR" sz="2600" dirty="0"/>
              <a:t>																				88 822 </a:t>
            </a:r>
          </a:p>
          <a:p>
            <a:pPr marL="0" indent="0">
              <a:buNone/>
            </a:pPr>
            <a:r>
              <a:rPr lang="fr-FR" altLang="fr-FR" sz="2200" dirty="0"/>
              <a:t>1\01\x1 						22 000 			66 822 </a:t>
            </a:r>
          </a:p>
          <a:p>
            <a:pPr marL="0" indent="0">
              <a:buNone/>
            </a:pPr>
            <a:r>
              <a:rPr lang="fr-FR" altLang="fr-FR" sz="2200" dirty="0"/>
              <a:t>31\12\x1 	8 019 							74 840 </a:t>
            </a:r>
          </a:p>
          <a:p>
            <a:pPr marL="0" indent="0">
              <a:buNone/>
            </a:pPr>
            <a:r>
              <a:rPr lang="fr-FR" altLang="fr-FR" sz="2200" dirty="0"/>
              <a:t>1\01\x2 						22 000 			52 840 </a:t>
            </a:r>
          </a:p>
          <a:p>
            <a:pPr marL="0" indent="0">
              <a:buNone/>
            </a:pPr>
            <a:r>
              <a:rPr lang="fr-FR" altLang="fr-FR" sz="2200" dirty="0"/>
              <a:t>31\12\x2 	6 341 							59 181 </a:t>
            </a:r>
          </a:p>
          <a:p>
            <a:pPr marL="0" indent="0">
              <a:buNone/>
            </a:pPr>
            <a:r>
              <a:rPr lang="fr-FR" altLang="fr-FR" sz="2200" dirty="0"/>
              <a:t>1\01\x3 						22 000 			37 181 </a:t>
            </a:r>
          </a:p>
          <a:p>
            <a:pPr marL="0" indent="0">
              <a:buNone/>
            </a:pPr>
            <a:r>
              <a:rPr lang="fr-FR" altLang="fr-FR" sz="2200" dirty="0"/>
              <a:t>31\12\x3 	4 462 							41 643 </a:t>
            </a:r>
          </a:p>
          <a:p>
            <a:pPr marL="0" indent="0">
              <a:buNone/>
            </a:pPr>
            <a:r>
              <a:rPr lang="fr-FR" altLang="fr-FR" sz="2200" dirty="0"/>
              <a:t>1\01\x4 						22 000 			19 643 </a:t>
            </a:r>
          </a:p>
          <a:p>
            <a:pPr marL="0" indent="0">
              <a:buNone/>
            </a:pPr>
            <a:r>
              <a:rPr lang="fr-FR" altLang="fr-FR" sz="2200" dirty="0"/>
              <a:t>31\12\x4 	2 357							22 000 </a:t>
            </a:r>
          </a:p>
          <a:p>
            <a:pPr marL="0" indent="0">
              <a:buNone/>
            </a:pPr>
            <a:r>
              <a:rPr lang="fr-FR" altLang="fr-FR" sz="2200" dirty="0"/>
              <a:t>1\01\x5 						22 000 			        0  </a:t>
            </a:r>
            <a:endParaRPr lang="fr-CA" altLang="fr-FR" sz="2600" dirty="0"/>
          </a:p>
        </p:txBody>
      </p:sp>
      <p:sp>
        <p:nvSpPr>
          <p:cNvPr id="28676" name="Espace réservé du numéro de diapositive 3">
            <a:extLst>
              <a:ext uri="{FF2B5EF4-FFF2-40B4-BE49-F238E27FC236}">
                <a16:creationId xmlns:a16="http://schemas.microsoft.com/office/drawing/2014/main" id="{0E1A5764-30CE-4D00-89AA-69DB8B8A790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spcBef>
                <a:spcPct val="0"/>
              </a:spcBef>
              <a:buFontTx/>
              <a:buNone/>
            </a:pPr>
            <a:fld id="{1D9311C2-2E9B-49C3-96AB-7B5E9B061B06}" type="slidenum">
              <a:rPr lang="fr-FR" altLang="fr-FR" sz="1200">
                <a:solidFill>
                  <a:srgbClr val="898989"/>
                </a:solidFill>
              </a:rPr>
              <a:pPr>
                <a:spcBef>
                  <a:spcPct val="0"/>
                </a:spcBef>
                <a:buFontTx/>
                <a:buNone/>
              </a:pPr>
              <a:t>68</a:t>
            </a:fld>
            <a:endParaRPr lang="fr-FR" altLang="fr-FR" sz="1200">
              <a:solidFill>
                <a:srgbClr val="898989"/>
              </a:solidFill>
            </a:endParaRPr>
          </a:p>
        </p:txBody>
      </p:sp>
      <p:sp>
        <p:nvSpPr>
          <p:cNvPr id="2" name="Espace réservé du pied de page 1">
            <a:extLst>
              <a:ext uri="{FF2B5EF4-FFF2-40B4-BE49-F238E27FC236}">
                <a16:creationId xmlns:a16="http://schemas.microsoft.com/office/drawing/2014/main" id="{F5AD3AE2-05E6-47DB-9323-67647DDA0770}"/>
              </a:ext>
            </a:extLst>
          </p:cNvPr>
          <p:cNvSpPr>
            <a:spLocks noGrp="1"/>
          </p:cNvSpPr>
          <p:nvPr>
            <p:ph type="ftr" sz="quarter" idx="11"/>
          </p:nvPr>
        </p:nvSpPr>
        <p:spPr/>
        <p:txBody>
          <a:bodyPr/>
          <a:lstStyle/>
          <a:p>
            <a:r>
              <a:rPr lang="fr-FR"/>
              <a:t>Droits réservés - Louise Overbeek</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9698" name="Titre 1">
            <a:extLst>
              <a:ext uri="{FF2B5EF4-FFF2-40B4-BE49-F238E27FC236}">
                <a16:creationId xmlns:a16="http://schemas.microsoft.com/office/drawing/2014/main" id="{219B8564-690F-4766-B6C3-8304F2685270}"/>
              </a:ext>
            </a:extLst>
          </p:cNvPr>
          <p:cNvSpPr>
            <a:spLocks noGrp="1"/>
          </p:cNvSpPr>
          <p:nvPr>
            <p:ph type="title"/>
          </p:nvPr>
        </p:nvSpPr>
        <p:spPr/>
        <p:txBody>
          <a:bodyPr/>
          <a:lstStyle/>
          <a:p>
            <a:pPr eaLnBrk="1" hangingPunct="1"/>
            <a:r>
              <a:rPr lang="fr-CA" altLang="fr-FR" dirty="0"/>
              <a:t> </a:t>
            </a:r>
          </a:p>
        </p:txBody>
      </p:sp>
      <p:sp>
        <p:nvSpPr>
          <p:cNvPr id="29699" name="Espace réservé du contenu 2">
            <a:extLst>
              <a:ext uri="{FF2B5EF4-FFF2-40B4-BE49-F238E27FC236}">
                <a16:creationId xmlns:a16="http://schemas.microsoft.com/office/drawing/2014/main" id="{976340D1-C034-4C06-9DD7-3CDB2E222238}"/>
              </a:ext>
            </a:extLst>
          </p:cNvPr>
          <p:cNvSpPr>
            <a:spLocks noGrp="1"/>
          </p:cNvSpPr>
          <p:nvPr>
            <p:ph idx="1"/>
          </p:nvPr>
        </p:nvSpPr>
        <p:spPr/>
        <p:txBody>
          <a:bodyPr/>
          <a:lstStyle/>
          <a:p>
            <a:pPr marL="0" indent="0">
              <a:spcBef>
                <a:spcPct val="0"/>
              </a:spcBef>
              <a:buNone/>
            </a:pPr>
            <a:r>
              <a:rPr lang="fr-FR" altLang="fr-FR" sz="2200" b="1" dirty="0"/>
              <a:t>1/01/x1</a:t>
            </a:r>
            <a:r>
              <a:rPr lang="fr-FR" altLang="fr-FR" sz="2200" dirty="0"/>
              <a:t> </a:t>
            </a:r>
          </a:p>
          <a:p>
            <a:pPr marL="0" indent="0">
              <a:spcBef>
                <a:spcPct val="0"/>
              </a:spcBef>
              <a:buNone/>
            </a:pPr>
            <a:r>
              <a:rPr lang="fr-FR" altLang="fr-FR" sz="2200" dirty="0"/>
              <a:t>Droit d'usage 				88 822 </a:t>
            </a:r>
          </a:p>
          <a:p>
            <a:pPr marL="0" indent="0">
              <a:spcBef>
                <a:spcPct val="0"/>
              </a:spcBef>
              <a:buNone/>
            </a:pPr>
            <a:r>
              <a:rPr lang="fr-FR" altLang="fr-FR" sz="2200" dirty="0"/>
              <a:t>@  Obligation locative 				88 822 </a:t>
            </a:r>
          </a:p>
          <a:p>
            <a:pPr marL="0" indent="0">
              <a:spcBef>
                <a:spcPct val="0"/>
              </a:spcBef>
              <a:buNone/>
            </a:pPr>
            <a:r>
              <a:rPr lang="fr-FR" altLang="fr-FR" sz="2200" i="1" dirty="0"/>
              <a:t>(valeur actualisée 5 versements de 22 000 $, début de période, à 12%)</a:t>
            </a:r>
            <a:r>
              <a:rPr lang="fr-FR" altLang="fr-FR" sz="2200" dirty="0"/>
              <a:t> </a:t>
            </a:r>
          </a:p>
          <a:p>
            <a:pPr marL="0" indent="0">
              <a:spcBef>
                <a:spcPct val="0"/>
              </a:spcBef>
              <a:buNone/>
            </a:pPr>
            <a:endParaRPr lang="fr-FR" altLang="fr-FR" sz="2200" dirty="0"/>
          </a:p>
          <a:p>
            <a:pPr marL="0" indent="0">
              <a:spcBef>
                <a:spcPct val="0"/>
              </a:spcBef>
              <a:buNone/>
            </a:pPr>
            <a:r>
              <a:rPr lang="fr-FR" altLang="fr-FR" sz="2200" dirty="0"/>
              <a:t>Obligation locative 			22 000 </a:t>
            </a:r>
          </a:p>
          <a:p>
            <a:pPr marL="0" indent="0">
              <a:spcBef>
                <a:spcPct val="0"/>
              </a:spcBef>
              <a:buNone/>
            </a:pPr>
            <a:r>
              <a:rPr lang="fr-FR" altLang="fr-FR" sz="2200" dirty="0"/>
              <a:t>@  Encaisse 					22 000 </a:t>
            </a:r>
          </a:p>
          <a:p>
            <a:pPr marL="0" indent="0">
              <a:spcBef>
                <a:spcPct val="0"/>
              </a:spcBef>
              <a:buNone/>
            </a:pPr>
            <a:endParaRPr lang="fr-FR" altLang="fr-FR" sz="2200" b="1" dirty="0"/>
          </a:p>
          <a:p>
            <a:pPr marL="0" indent="0">
              <a:spcBef>
                <a:spcPct val="0"/>
              </a:spcBef>
              <a:buNone/>
            </a:pPr>
            <a:r>
              <a:rPr lang="fr-FR" altLang="fr-FR" sz="2200" b="1" dirty="0"/>
              <a:t>31/12/x1</a:t>
            </a:r>
            <a:r>
              <a:rPr lang="fr-FR" altLang="fr-FR" sz="2200" dirty="0"/>
              <a:t> </a:t>
            </a:r>
          </a:p>
          <a:p>
            <a:pPr marL="0" indent="0">
              <a:spcBef>
                <a:spcPct val="0"/>
              </a:spcBef>
              <a:buNone/>
            </a:pPr>
            <a:r>
              <a:rPr lang="fr-FR" altLang="fr-FR" sz="2200" dirty="0"/>
              <a:t>Amortissement 				17 764 </a:t>
            </a:r>
          </a:p>
          <a:p>
            <a:pPr marL="0" indent="0">
              <a:spcBef>
                <a:spcPct val="0"/>
              </a:spcBef>
              <a:buNone/>
            </a:pPr>
            <a:r>
              <a:rPr lang="fr-FR" altLang="fr-FR" sz="2200" dirty="0"/>
              <a:t>@  Amortissement cumulé 			17 764 </a:t>
            </a:r>
          </a:p>
          <a:p>
            <a:pPr marL="0" indent="0">
              <a:spcBef>
                <a:spcPct val="0"/>
              </a:spcBef>
              <a:buNone/>
            </a:pPr>
            <a:endParaRPr lang="fr-FR" altLang="fr-FR" sz="2200" dirty="0"/>
          </a:p>
          <a:p>
            <a:pPr marL="0" indent="0">
              <a:spcBef>
                <a:spcPct val="0"/>
              </a:spcBef>
              <a:buNone/>
            </a:pPr>
            <a:r>
              <a:rPr lang="fr-FR" altLang="fr-FR" sz="2200" dirty="0"/>
              <a:t>Charge intérêts - </a:t>
            </a:r>
            <a:r>
              <a:rPr lang="fr-FR" altLang="fr-FR" sz="2200" dirty="0" err="1"/>
              <a:t>oblig</a:t>
            </a:r>
            <a:r>
              <a:rPr lang="fr-FR" altLang="fr-FR" sz="2200" dirty="0"/>
              <a:t> </a:t>
            </a:r>
            <a:r>
              <a:rPr lang="fr-FR" altLang="fr-FR" sz="2200" dirty="0" err="1"/>
              <a:t>loc</a:t>
            </a:r>
            <a:r>
              <a:rPr lang="fr-FR" altLang="fr-FR" sz="2200" dirty="0"/>
              <a:t> 		8 019 </a:t>
            </a:r>
          </a:p>
          <a:p>
            <a:pPr marL="0" indent="0">
              <a:spcBef>
                <a:spcPct val="0"/>
              </a:spcBef>
              <a:buNone/>
            </a:pPr>
            <a:r>
              <a:rPr lang="fr-FR" altLang="fr-FR" sz="2200" dirty="0"/>
              <a:t>@  Intérêts à payer 				8 019</a:t>
            </a:r>
            <a:endParaRPr lang="fr-CA" altLang="fr-FR" sz="3000" dirty="0"/>
          </a:p>
        </p:txBody>
      </p:sp>
      <p:sp>
        <p:nvSpPr>
          <p:cNvPr id="29700" name="Espace réservé du numéro de diapositive 3">
            <a:extLst>
              <a:ext uri="{FF2B5EF4-FFF2-40B4-BE49-F238E27FC236}">
                <a16:creationId xmlns:a16="http://schemas.microsoft.com/office/drawing/2014/main" id="{09AF6E45-F338-44C9-B19A-C8BEB69D46D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spcBef>
                <a:spcPct val="0"/>
              </a:spcBef>
              <a:buFontTx/>
              <a:buNone/>
            </a:pPr>
            <a:fld id="{BF386D6D-0931-4CA6-B265-3C22AB4776CF}" type="slidenum">
              <a:rPr lang="fr-FR" altLang="fr-FR" sz="1200">
                <a:solidFill>
                  <a:srgbClr val="898989"/>
                </a:solidFill>
              </a:rPr>
              <a:pPr>
                <a:spcBef>
                  <a:spcPct val="0"/>
                </a:spcBef>
                <a:buFontTx/>
                <a:buNone/>
              </a:pPr>
              <a:t>69</a:t>
            </a:fld>
            <a:endParaRPr lang="fr-FR" altLang="fr-FR" sz="1200">
              <a:solidFill>
                <a:srgbClr val="898989"/>
              </a:solidFill>
            </a:endParaRPr>
          </a:p>
        </p:txBody>
      </p:sp>
      <p:sp>
        <p:nvSpPr>
          <p:cNvPr id="2" name="Espace réservé du pied de page 1">
            <a:extLst>
              <a:ext uri="{FF2B5EF4-FFF2-40B4-BE49-F238E27FC236}">
                <a16:creationId xmlns:a16="http://schemas.microsoft.com/office/drawing/2014/main" id="{8A924489-5C0F-4618-BCF0-8C75375B162F}"/>
              </a:ext>
            </a:extLst>
          </p:cNvPr>
          <p:cNvSpPr>
            <a:spLocks noGrp="1"/>
          </p:cNvSpPr>
          <p:nvPr>
            <p:ph type="ftr" sz="quarter" idx="11"/>
          </p:nvPr>
        </p:nvSpPr>
        <p:spPr/>
        <p:txBody>
          <a:bodyPr/>
          <a:lstStyle/>
          <a:p>
            <a:r>
              <a:rPr lang="fr-FR"/>
              <a:t>Droits réservés - Louise Overbeek</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30722" name="Titre 1">
            <a:extLst>
              <a:ext uri="{FF2B5EF4-FFF2-40B4-BE49-F238E27FC236}">
                <a16:creationId xmlns:a16="http://schemas.microsoft.com/office/drawing/2014/main" id="{814C2EB4-AF4E-4C3B-9B26-C35F524E795E}"/>
              </a:ext>
            </a:extLst>
          </p:cNvPr>
          <p:cNvSpPr>
            <a:spLocks noGrp="1"/>
          </p:cNvSpPr>
          <p:nvPr>
            <p:ph type="title"/>
          </p:nvPr>
        </p:nvSpPr>
        <p:spPr/>
        <p:txBody>
          <a:bodyPr/>
          <a:lstStyle/>
          <a:p>
            <a:pPr eaLnBrk="1" hangingPunct="1"/>
            <a:r>
              <a:rPr lang="fr-CA" altLang="fr-FR" dirty="0"/>
              <a:t>    </a:t>
            </a:r>
          </a:p>
        </p:txBody>
      </p:sp>
      <p:sp>
        <p:nvSpPr>
          <p:cNvPr id="30723" name="Espace réservé du contenu 2">
            <a:extLst>
              <a:ext uri="{FF2B5EF4-FFF2-40B4-BE49-F238E27FC236}">
                <a16:creationId xmlns:a16="http://schemas.microsoft.com/office/drawing/2014/main" id="{C8BBAE48-F2B3-47DC-BA16-F377B7252712}"/>
              </a:ext>
            </a:extLst>
          </p:cNvPr>
          <p:cNvSpPr>
            <a:spLocks noGrp="1"/>
          </p:cNvSpPr>
          <p:nvPr>
            <p:ph idx="1"/>
          </p:nvPr>
        </p:nvSpPr>
        <p:spPr/>
        <p:txBody>
          <a:bodyPr/>
          <a:lstStyle/>
          <a:p>
            <a:pPr marL="0" indent="0">
              <a:spcBef>
                <a:spcPct val="0"/>
              </a:spcBef>
              <a:buNone/>
            </a:pPr>
            <a:r>
              <a:rPr lang="fr-FR" altLang="fr-FR" sz="2400" b="1" dirty="0"/>
              <a:t>1/01/x2</a:t>
            </a:r>
            <a:r>
              <a:rPr lang="fr-FR" altLang="fr-FR" sz="2400" dirty="0"/>
              <a:t> </a:t>
            </a:r>
          </a:p>
          <a:p>
            <a:pPr marL="0" indent="0">
              <a:spcBef>
                <a:spcPct val="0"/>
              </a:spcBef>
              <a:buNone/>
            </a:pPr>
            <a:r>
              <a:rPr lang="fr-FR" altLang="fr-FR" sz="2400" dirty="0"/>
              <a:t>Intérêts à payer 			8 019 </a:t>
            </a:r>
          </a:p>
          <a:p>
            <a:pPr marL="0" indent="0">
              <a:spcBef>
                <a:spcPct val="0"/>
              </a:spcBef>
              <a:buNone/>
            </a:pPr>
            <a:r>
              <a:rPr lang="fr-FR" altLang="fr-FR" sz="2400" dirty="0"/>
              <a:t>Obligation locative 			13 981 </a:t>
            </a:r>
          </a:p>
          <a:p>
            <a:pPr marL="0" indent="0">
              <a:spcBef>
                <a:spcPct val="0"/>
              </a:spcBef>
              <a:buNone/>
            </a:pPr>
            <a:r>
              <a:rPr lang="fr-FR" altLang="fr-FR" sz="2400" dirty="0"/>
              <a:t>@  Encaisse 					22 000 </a:t>
            </a:r>
          </a:p>
          <a:p>
            <a:pPr marL="0" indent="0">
              <a:spcBef>
                <a:spcPct val="0"/>
              </a:spcBef>
              <a:buNone/>
            </a:pPr>
            <a:endParaRPr lang="fr-FR" altLang="fr-FR" sz="2400" b="1" dirty="0"/>
          </a:p>
          <a:p>
            <a:pPr marL="0" indent="0">
              <a:spcBef>
                <a:spcPct val="0"/>
              </a:spcBef>
              <a:buNone/>
            </a:pPr>
            <a:r>
              <a:rPr lang="fr-FR" altLang="fr-FR" sz="2400" b="1" dirty="0"/>
              <a:t>31/12/x2</a:t>
            </a:r>
            <a:r>
              <a:rPr lang="fr-FR" altLang="fr-FR" sz="2400" dirty="0"/>
              <a:t> </a:t>
            </a:r>
          </a:p>
          <a:p>
            <a:pPr marL="0" indent="0">
              <a:spcBef>
                <a:spcPct val="0"/>
              </a:spcBef>
              <a:buNone/>
            </a:pPr>
            <a:r>
              <a:rPr lang="fr-FR" altLang="fr-FR" sz="2400" dirty="0"/>
              <a:t>Amortissement 			17 764 </a:t>
            </a:r>
          </a:p>
          <a:p>
            <a:pPr marL="0" indent="0">
              <a:spcBef>
                <a:spcPct val="0"/>
              </a:spcBef>
              <a:buNone/>
            </a:pPr>
            <a:r>
              <a:rPr lang="fr-FR" altLang="fr-FR" sz="2400" dirty="0"/>
              <a:t>@  Amortissement cumulé 			17 764 </a:t>
            </a:r>
          </a:p>
          <a:p>
            <a:pPr marL="0" indent="0">
              <a:spcBef>
                <a:spcPct val="0"/>
              </a:spcBef>
              <a:buNone/>
            </a:pPr>
            <a:endParaRPr lang="fr-FR" altLang="fr-FR" sz="2400" dirty="0"/>
          </a:p>
          <a:p>
            <a:pPr marL="0" indent="0">
              <a:spcBef>
                <a:spcPct val="0"/>
              </a:spcBef>
              <a:buNone/>
            </a:pPr>
            <a:r>
              <a:rPr lang="fr-FR" altLang="fr-FR" sz="2400" dirty="0"/>
              <a:t>Charge intérêts - </a:t>
            </a:r>
            <a:r>
              <a:rPr lang="fr-FR" altLang="fr-FR" sz="2400" dirty="0" err="1"/>
              <a:t>oblig</a:t>
            </a:r>
            <a:r>
              <a:rPr lang="fr-FR" altLang="fr-FR" sz="2400" dirty="0"/>
              <a:t> </a:t>
            </a:r>
            <a:r>
              <a:rPr lang="fr-FR" altLang="fr-FR" sz="2400" dirty="0" err="1"/>
              <a:t>loc</a:t>
            </a:r>
            <a:r>
              <a:rPr lang="fr-FR" altLang="fr-FR" sz="2400" dirty="0"/>
              <a:t> 		6 341 </a:t>
            </a:r>
          </a:p>
          <a:p>
            <a:pPr marL="0" indent="0">
              <a:spcBef>
                <a:spcPct val="0"/>
              </a:spcBef>
              <a:buNone/>
            </a:pPr>
            <a:r>
              <a:rPr lang="fr-FR" altLang="fr-FR" sz="2400" dirty="0"/>
              <a:t>@  Intérêts à payer 				6 341 </a:t>
            </a:r>
            <a:endParaRPr lang="fr-CA" altLang="fr-FR" dirty="0"/>
          </a:p>
        </p:txBody>
      </p:sp>
      <p:sp>
        <p:nvSpPr>
          <p:cNvPr id="30724" name="Espace réservé du numéro de diapositive 3">
            <a:extLst>
              <a:ext uri="{FF2B5EF4-FFF2-40B4-BE49-F238E27FC236}">
                <a16:creationId xmlns:a16="http://schemas.microsoft.com/office/drawing/2014/main" id="{5911BFB4-757F-4BFB-9ECF-F86D9B3FF56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spcBef>
                <a:spcPct val="0"/>
              </a:spcBef>
              <a:buFontTx/>
              <a:buNone/>
            </a:pPr>
            <a:fld id="{48E84840-2CA3-4564-8317-B07A5402DFAB}" type="slidenum">
              <a:rPr lang="fr-FR" altLang="fr-FR" sz="1200">
                <a:solidFill>
                  <a:srgbClr val="898989"/>
                </a:solidFill>
              </a:rPr>
              <a:pPr>
                <a:spcBef>
                  <a:spcPct val="0"/>
                </a:spcBef>
                <a:buFontTx/>
                <a:buNone/>
              </a:pPr>
              <a:t>70</a:t>
            </a:fld>
            <a:endParaRPr lang="fr-FR" altLang="fr-FR" sz="1200">
              <a:solidFill>
                <a:srgbClr val="898989"/>
              </a:solidFill>
            </a:endParaRPr>
          </a:p>
        </p:txBody>
      </p:sp>
      <p:sp>
        <p:nvSpPr>
          <p:cNvPr id="2" name="Espace réservé du pied de page 1">
            <a:extLst>
              <a:ext uri="{FF2B5EF4-FFF2-40B4-BE49-F238E27FC236}">
                <a16:creationId xmlns:a16="http://schemas.microsoft.com/office/drawing/2014/main" id="{A78300A4-2443-4DCC-A8E0-753CD4D42DEF}"/>
              </a:ext>
            </a:extLst>
          </p:cNvPr>
          <p:cNvSpPr>
            <a:spLocks noGrp="1"/>
          </p:cNvSpPr>
          <p:nvPr>
            <p:ph type="ftr" sz="quarter" idx="11"/>
          </p:nvPr>
        </p:nvSpPr>
        <p:spPr/>
        <p:txBody>
          <a:bodyPr/>
          <a:lstStyle/>
          <a:p>
            <a:r>
              <a:rPr lang="fr-FR"/>
              <a:t>Droits réservés - Louise Overbeek</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27650" name="Titre 1">
            <a:extLst>
              <a:ext uri="{FF2B5EF4-FFF2-40B4-BE49-F238E27FC236}">
                <a16:creationId xmlns:a16="http://schemas.microsoft.com/office/drawing/2014/main" id="{15377873-0CFE-4696-8D7A-7C6B52B3682A}"/>
              </a:ext>
            </a:extLst>
          </p:cNvPr>
          <p:cNvSpPr>
            <a:spLocks noGrp="1"/>
          </p:cNvSpPr>
          <p:nvPr>
            <p:ph type="title"/>
          </p:nvPr>
        </p:nvSpPr>
        <p:spPr>
          <a:xfrm>
            <a:off x="838200" y="365125"/>
            <a:ext cx="10515600" cy="716543"/>
          </a:xfrm>
        </p:spPr>
        <p:txBody>
          <a:bodyPr/>
          <a:lstStyle/>
          <a:p>
            <a:pPr eaLnBrk="1" hangingPunct="1"/>
            <a:r>
              <a:rPr lang="fr-CA" altLang="fr-FR" sz="3600" dirty="0"/>
              <a:t>Exercice 2 </a:t>
            </a:r>
            <a:r>
              <a:rPr lang="mr-IN" altLang="fr-FR" sz="3600" dirty="0">
                <a:latin typeface="Mangal" panose="02040503050203030202" pitchFamily="18" charset="0"/>
              </a:rPr>
              <a:t>–</a:t>
            </a:r>
            <a:r>
              <a:rPr lang="fr-CA" altLang="fr-FR" sz="3600" dirty="0"/>
              <a:t> préparer les écritures</a:t>
            </a:r>
            <a:endParaRPr lang="fr-CA" altLang="fr-FR" dirty="0"/>
          </a:p>
        </p:txBody>
      </p:sp>
      <p:sp>
        <p:nvSpPr>
          <p:cNvPr id="27651" name="Espace réservé du contenu 2">
            <a:extLst>
              <a:ext uri="{FF2B5EF4-FFF2-40B4-BE49-F238E27FC236}">
                <a16:creationId xmlns:a16="http://schemas.microsoft.com/office/drawing/2014/main" id="{348CFE77-4BC3-4453-8C2D-51B5844120BE}"/>
              </a:ext>
            </a:extLst>
          </p:cNvPr>
          <p:cNvSpPr>
            <a:spLocks noGrp="1"/>
          </p:cNvSpPr>
          <p:nvPr>
            <p:ph idx="1"/>
          </p:nvPr>
        </p:nvSpPr>
        <p:spPr>
          <a:xfrm>
            <a:off x="838200" y="1550020"/>
            <a:ext cx="10515600" cy="4626943"/>
          </a:xfrm>
        </p:spPr>
        <p:txBody>
          <a:bodyPr>
            <a:normAutofit fontScale="92500" lnSpcReduction="10000"/>
          </a:bodyPr>
          <a:lstStyle/>
          <a:p>
            <a:pPr marL="0" indent="0">
              <a:buNone/>
            </a:pPr>
            <a:r>
              <a:rPr lang="fr-FR" altLang="fr-FR" dirty="0"/>
              <a:t>Valeur de l'actif :			286 913$</a:t>
            </a:r>
          </a:p>
          <a:p>
            <a:pPr marL="0" indent="0">
              <a:buNone/>
            </a:pPr>
            <a:r>
              <a:rPr lang="fr-FR" altLang="fr-FR" dirty="0"/>
              <a:t>Durée utile :				5 ans </a:t>
            </a:r>
          </a:p>
          <a:p>
            <a:pPr marL="0" indent="0">
              <a:buNone/>
            </a:pPr>
            <a:r>
              <a:rPr lang="fr-FR" altLang="fr-FR" dirty="0"/>
              <a:t>Durée location :			4 ans </a:t>
            </a:r>
          </a:p>
          <a:p>
            <a:pPr marL="0" indent="0">
              <a:buNone/>
            </a:pPr>
            <a:r>
              <a:rPr lang="fr-FR" altLang="fr-FR" dirty="0"/>
              <a:t>Taux :					12 %</a:t>
            </a:r>
          </a:p>
          <a:p>
            <a:pPr marL="0" indent="0">
              <a:buNone/>
            </a:pPr>
            <a:r>
              <a:rPr lang="fr-FR" altLang="fr-FR" dirty="0"/>
              <a:t>Valeur résiduelle garantie : 		50 000 $</a:t>
            </a:r>
          </a:p>
          <a:p>
            <a:pPr marL="0" indent="0">
              <a:buNone/>
            </a:pPr>
            <a:r>
              <a:rPr lang="fr-FR" altLang="fr-FR" dirty="0"/>
              <a:t>Montant qu’on prévoit payer pour honorer la garantie : 5 000 $</a:t>
            </a:r>
          </a:p>
          <a:p>
            <a:pPr marL="0" indent="0">
              <a:buNone/>
            </a:pPr>
            <a:endParaRPr lang="fr-FR" altLang="fr-FR" dirty="0"/>
          </a:p>
          <a:p>
            <a:pPr marL="0" indent="0">
              <a:buNone/>
            </a:pPr>
            <a:endParaRPr lang="fr-FR" altLang="fr-FR" dirty="0"/>
          </a:p>
          <a:p>
            <a:pPr marL="0" indent="0">
              <a:buNone/>
            </a:pPr>
            <a:r>
              <a:rPr lang="fr-FR" altLang="fr-FR" dirty="0"/>
              <a:t>Paiement annuel location :	</a:t>
            </a:r>
            <a:r>
              <a:rPr lang="fr-FR" altLang="fr-FR" dirty="0">
                <a:solidFill>
                  <a:srgbClr val="FF0000"/>
                </a:solidFill>
              </a:rPr>
              <a:t>75 000 $ </a:t>
            </a:r>
            <a:r>
              <a:rPr lang="fr-FR" altLang="fr-FR" sz="2400" dirty="0">
                <a:solidFill>
                  <a:srgbClr val="FF0000"/>
                </a:solidFill>
              </a:rPr>
              <a:t>début période </a:t>
            </a:r>
            <a:r>
              <a:rPr lang="fr-FR" altLang="fr-FR" dirty="0"/>
              <a:t>	</a:t>
            </a:r>
          </a:p>
          <a:p>
            <a:pPr marL="0" indent="0">
              <a:buNone/>
            </a:pPr>
            <a:r>
              <a:rPr lang="fr-FR" altLang="fr-FR" dirty="0"/>
              <a:t>Obligation locative : 		</a:t>
            </a:r>
            <a:r>
              <a:rPr lang="fr-FR" altLang="fr-FR" dirty="0">
                <a:solidFill>
                  <a:srgbClr val="FF0000"/>
                </a:solidFill>
              </a:rPr>
              <a:t>258 315 $</a:t>
            </a:r>
            <a:endParaRPr lang="fr-CA" altLang="fr-FR" dirty="0">
              <a:solidFill>
                <a:srgbClr val="FF0000"/>
              </a:solidFill>
            </a:endParaRPr>
          </a:p>
        </p:txBody>
      </p:sp>
      <p:sp>
        <p:nvSpPr>
          <p:cNvPr id="27652" name="Espace réservé du numéro de diapositive 3">
            <a:extLst>
              <a:ext uri="{FF2B5EF4-FFF2-40B4-BE49-F238E27FC236}">
                <a16:creationId xmlns:a16="http://schemas.microsoft.com/office/drawing/2014/main" id="{0F0D6AD3-8F94-4A61-BED5-70F2414A401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spcBef>
                <a:spcPct val="0"/>
              </a:spcBef>
              <a:buFontTx/>
              <a:buNone/>
            </a:pPr>
            <a:fld id="{3C305A43-890F-4047-B0A7-75644D6AC6B9}" type="slidenum">
              <a:rPr lang="fr-FR" altLang="fr-FR" sz="1200">
                <a:solidFill>
                  <a:srgbClr val="898989"/>
                </a:solidFill>
              </a:rPr>
              <a:pPr>
                <a:spcBef>
                  <a:spcPct val="0"/>
                </a:spcBef>
                <a:buFontTx/>
                <a:buNone/>
              </a:pPr>
              <a:t>71</a:t>
            </a:fld>
            <a:endParaRPr lang="fr-FR" altLang="fr-FR" sz="1200">
              <a:solidFill>
                <a:srgbClr val="898989"/>
              </a:solidFill>
            </a:endParaRPr>
          </a:p>
        </p:txBody>
      </p:sp>
      <p:sp>
        <p:nvSpPr>
          <p:cNvPr id="2" name="Espace réservé du pied de page 1">
            <a:extLst>
              <a:ext uri="{FF2B5EF4-FFF2-40B4-BE49-F238E27FC236}">
                <a16:creationId xmlns:a16="http://schemas.microsoft.com/office/drawing/2014/main" id="{0870D0CE-4C50-488D-88BB-E031C90FF695}"/>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353175182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F426A64-305D-4737-8018-65DD0D485BB4}"/>
              </a:ext>
            </a:extLst>
          </p:cNvPr>
          <p:cNvSpPr>
            <a:spLocks noGrp="1"/>
          </p:cNvSpPr>
          <p:nvPr>
            <p:ph type="title"/>
          </p:nvPr>
        </p:nvSpPr>
        <p:spPr/>
        <p:txBody>
          <a:bodyPr/>
          <a:lstStyle/>
          <a:p>
            <a:endParaRPr lang="fr-FR"/>
          </a:p>
        </p:txBody>
      </p:sp>
      <p:pic>
        <p:nvPicPr>
          <p:cNvPr id="6" name="Espace réservé du contenu 5">
            <a:extLst>
              <a:ext uri="{FF2B5EF4-FFF2-40B4-BE49-F238E27FC236}">
                <a16:creationId xmlns:a16="http://schemas.microsoft.com/office/drawing/2014/main" id="{F2457748-A1E1-4CAF-8B07-73687BB2D5B7}"/>
              </a:ext>
            </a:extLst>
          </p:cNvPr>
          <p:cNvPicPr>
            <a:picLocks noGrp="1" noChangeAspect="1"/>
          </p:cNvPicPr>
          <p:nvPr>
            <p:ph idx="1"/>
          </p:nvPr>
        </p:nvPicPr>
        <p:blipFill>
          <a:blip r:embed="rId2"/>
          <a:stretch>
            <a:fillRect/>
          </a:stretch>
        </p:blipFill>
        <p:spPr>
          <a:xfrm>
            <a:off x="752303" y="3210560"/>
            <a:ext cx="10230371" cy="1513840"/>
          </a:xfrm>
          <a:prstGeom prst="rect">
            <a:avLst/>
          </a:prstGeom>
        </p:spPr>
      </p:pic>
      <p:sp>
        <p:nvSpPr>
          <p:cNvPr id="4" name="Espace réservé du pied de page 3">
            <a:extLst>
              <a:ext uri="{FF2B5EF4-FFF2-40B4-BE49-F238E27FC236}">
                <a16:creationId xmlns:a16="http://schemas.microsoft.com/office/drawing/2014/main" id="{0FA6B976-3886-4723-AD7B-2BB52EE3A72B}"/>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9BF578FD-4891-4BE3-BF01-611B81FDE522}"/>
              </a:ext>
            </a:extLst>
          </p:cNvPr>
          <p:cNvSpPr>
            <a:spLocks noGrp="1"/>
          </p:cNvSpPr>
          <p:nvPr>
            <p:ph type="sldNum" sz="quarter" idx="12"/>
          </p:nvPr>
        </p:nvSpPr>
        <p:spPr/>
        <p:txBody>
          <a:bodyPr/>
          <a:lstStyle/>
          <a:p>
            <a:fld id="{5C9924D9-E03F-489A-877F-8411DF9A3E64}" type="slidenum">
              <a:rPr lang="fr-FR" smtClean="0"/>
              <a:t>72</a:t>
            </a:fld>
            <a:endParaRPr lang="fr-FR"/>
          </a:p>
        </p:txBody>
      </p:sp>
    </p:spTree>
    <p:extLst>
      <p:ext uri="{BB962C8B-B14F-4D97-AF65-F5344CB8AC3E}">
        <p14:creationId xmlns:p14="http://schemas.microsoft.com/office/powerpoint/2010/main" val="21462765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8674" name="Titre 1">
            <a:extLst>
              <a:ext uri="{FF2B5EF4-FFF2-40B4-BE49-F238E27FC236}">
                <a16:creationId xmlns:a16="http://schemas.microsoft.com/office/drawing/2014/main" id="{13AACE9C-DD38-44F6-9CBD-CD05660912AB}"/>
              </a:ext>
            </a:extLst>
          </p:cNvPr>
          <p:cNvSpPr>
            <a:spLocks noGrp="1"/>
          </p:cNvSpPr>
          <p:nvPr>
            <p:ph type="title"/>
          </p:nvPr>
        </p:nvSpPr>
        <p:spPr/>
        <p:txBody>
          <a:bodyPr/>
          <a:lstStyle/>
          <a:p>
            <a:pPr eaLnBrk="1" hangingPunct="1"/>
            <a:r>
              <a:rPr lang="fr-CA" altLang="fr-FR" dirty="0"/>
              <a:t> </a:t>
            </a:r>
          </a:p>
        </p:txBody>
      </p:sp>
      <p:sp>
        <p:nvSpPr>
          <p:cNvPr id="28676" name="Espace réservé du numéro de diapositive 3">
            <a:extLst>
              <a:ext uri="{FF2B5EF4-FFF2-40B4-BE49-F238E27FC236}">
                <a16:creationId xmlns:a16="http://schemas.microsoft.com/office/drawing/2014/main" id="{0E1A5764-30CE-4D00-89AA-69DB8B8A790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spcBef>
                <a:spcPct val="0"/>
              </a:spcBef>
              <a:buFontTx/>
              <a:buNone/>
            </a:pPr>
            <a:fld id="{1D9311C2-2E9B-49C3-96AB-7B5E9B061B06}" type="slidenum">
              <a:rPr lang="fr-FR" altLang="fr-FR" sz="1200">
                <a:solidFill>
                  <a:srgbClr val="898989"/>
                </a:solidFill>
              </a:rPr>
              <a:pPr>
                <a:spcBef>
                  <a:spcPct val="0"/>
                </a:spcBef>
                <a:buFontTx/>
                <a:buNone/>
              </a:pPr>
              <a:t>73</a:t>
            </a:fld>
            <a:endParaRPr lang="fr-FR" altLang="fr-FR" sz="1200">
              <a:solidFill>
                <a:srgbClr val="898989"/>
              </a:solidFill>
            </a:endParaRPr>
          </a:p>
        </p:txBody>
      </p:sp>
      <p:sp>
        <p:nvSpPr>
          <p:cNvPr id="2" name="Espace réservé du pied de page 1">
            <a:extLst>
              <a:ext uri="{FF2B5EF4-FFF2-40B4-BE49-F238E27FC236}">
                <a16:creationId xmlns:a16="http://schemas.microsoft.com/office/drawing/2014/main" id="{F5AD3AE2-05E6-47DB-9323-67647DDA0770}"/>
              </a:ext>
            </a:extLst>
          </p:cNvPr>
          <p:cNvSpPr>
            <a:spLocks noGrp="1"/>
          </p:cNvSpPr>
          <p:nvPr>
            <p:ph type="ftr" sz="quarter" idx="11"/>
          </p:nvPr>
        </p:nvSpPr>
        <p:spPr/>
        <p:txBody>
          <a:bodyPr/>
          <a:lstStyle/>
          <a:p>
            <a:r>
              <a:rPr lang="fr-FR"/>
              <a:t>Droits réservés - Louise Overbeek</a:t>
            </a:r>
          </a:p>
        </p:txBody>
      </p:sp>
      <p:sp>
        <p:nvSpPr>
          <p:cNvPr id="7" name="Espace réservé du contenu 6">
            <a:extLst>
              <a:ext uri="{FF2B5EF4-FFF2-40B4-BE49-F238E27FC236}">
                <a16:creationId xmlns:a16="http://schemas.microsoft.com/office/drawing/2014/main" id="{C5FD2BD7-3BC6-493A-B91B-ACBCBF26B5B4}"/>
              </a:ext>
            </a:extLst>
          </p:cNvPr>
          <p:cNvSpPr>
            <a:spLocks noGrp="1"/>
          </p:cNvSpPr>
          <p:nvPr>
            <p:ph idx="1"/>
          </p:nvPr>
        </p:nvSpPr>
        <p:spPr/>
        <p:txBody>
          <a:bodyPr/>
          <a:lstStyle/>
          <a:p>
            <a:pPr marL="0" indent="0">
              <a:buNone/>
            </a:pPr>
            <a:r>
              <a:rPr lang="fr-CA" dirty="0"/>
              <a:t> </a:t>
            </a:r>
            <a:endParaRPr lang="fr-FR" dirty="0"/>
          </a:p>
        </p:txBody>
      </p:sp>
      <p:pic>
        <p:nvPicPr>
          <p:cNvPr id="8" name="Image 7">
            <a:extLst>
              <a:ext uri="{FF2B5EF4-FFF2-40B4-BE49-F238E27FC236}">
                <a16:creationId xmlns:a16="http://schemas.microsoft.com/office/drawing/2014/main" id="{10E1DBF2-7EA7-4B4D-85E7-F40B1C45F928}"/>
              </a:ext>
            </a:extLst>
          </p:cNvPr>
          <p:cNvPicPr>
            <a:picLocks noChangeAspect="1"/>
          </p:cNvPicPr>
          <p:nvPr/>
        </p:nvPicPr>
        <p:blipFill>
          <a:blip r:embed="rId2"/>
          <a:stretch>
            <a:fillRect/>
          </a:stretch>
        </p:blipFill>
        <p:spPr>
          <a:xfrm>
            <a:off x="1568907" y="681037"/>
            <a:ext cx="8448853" cy="5128487"/>
          </a:xfrm>
          <a:prstGeom prst="rect">
            <a:avLst/>
          </a:prstGeom>
        </p:spPr>
      </p:pic>
    </p:spTree>
    <p:extLst>
      <p:ext uri="{BB962C8B-B14F-4D97-AF65-F5344CB8AC3E}">
        <p14:creationId xmlns:p14="http://schemas.microsoft.com/office/powerpoint/2010/main" val="63250432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9698" name="Titre 1">
            <a:extLst>
              <a:ext uri="{FF2B5EF4-FFF2-40B4-BE49-F238E27FC236}">
                <a16:creationId xmlns:a16="http://schemas.microsoft.com/office/drawing/2014/main" id="{219B8564-690F-4766-B6C3-8304F2685270}"/>
              </a:ext>
            </a:extLst>
          </p:cNvPr>
          <p:cNvSpPr>
            <a:spLocks noGrp="1"/>
          </p:cNvSpPr>
          <p:nvPr>
            <p:ph type="title"/>
          </p:nvPr>
        </p:nvSpPr>
        <p:spPr/>
        <p:txBody>
          <a:bodyPr/>
          <a:lstStyle/>
          <a:p>
            <a:pPr eaLnBrk="1" hangingPunct="1"/>
            <a:r>
              <a:rPr lang="fr-CA" altLang="fr-FR" dirty="0"/>
              <a:t> </a:t>
            </a:r>
          </a:p>
        </p:txBody>
      </p:sp>
      <p:sp>
        <p:nvSpPr>
          <p:cNvPr id="29699" name="Espace réservé du contenu 2">
            <a:extLst>
              <a:ext uri="{FF2B5EF4-FFF2-40B4-BE49-F238E27FC236}">
                <a16:creationId xmlns:a16="http://schemas.microsoft.com/office/drawing/2014/main" id="{976340D1-C034-4C06-9DD7-3CDB2E222238}"/>
              </a:ext>
            </a:extLst>
          </p:cNvPr>
          <p:cNvSpPr>
            <a:spLocks noGrp="1"/>
          </p:cNvSpPr>
          <p:nvPr>
            <p:ph idx="1"/>
          </p:nvPr>
        </p:nvSpPr>
        <p:spPr>
          <a:xfrm>
            <a:off x="838200" y="936702"/>
            <a:ext cx="10515600" cy="5240261"/>
          </a:xfrm>
        </p:spPr>
        <p:txBody>
          <a:bodyPr/>
          <a:lstStyle/>
          <a:p>
            <a:pPr marL="0" indent="0">
              <a:spcBef>
                <a:spcPct val="0"/>
              </a:spcBef>
              <a:buNone/>
            </a:pPr>
            <a:r>
              <a:rPr lang="fr-FR" altLang="fr-FR" sz="2200" b="1" dirty="0"/>
              <a:t>1/01/x1</a:t>
            </a:r>
            <a:r>
              <a:rPr lang="fr-FR" altLang="fr-FR" sz="2200" dirty="0"/>
              <a:t> </a:t>
            </a:r>
          </a:p>
          <a:p>
            <a:pPr marL="0" indent="0">
              <a:spcBef>
                <a:spcPct val="0"/>
              </a:spcBef>
              <a:buNone/>
            </a:pPr>
            <a:r>
              <a:rPr lang="fr-FR" altLang="fr-FR" sz="2200" dirty="0"/>
              <a:t>Droit d'usage 				258 315</a:t>
            </a:r>
          </a:p>
          <a:p>
            <a:pPr marL="0" indent="0">
              <a:spcBef>
                <a:spcPct val="0"/>
              </a:spcBef>
              <a:buNone/>
            </a:pPr>
            <a:r>
              <a:rPr lang="fr-FR" altLang="fr-FR" sz="2200" dirty="0"/>
              <a:t>@  Obligation locative 				 258 315</a:t>
            </a:r>
          </a:p>
          <a:p>
            <a:pPr marL="0" indent="0">
              <a:spcBef>
                <a:spcPct val="0"/>
              </a:spcBef>
              <a:buNone/>
            </a:pPr>
            <a:r>
              <a:rPr lang="fr-FR" altLang="fr-FR" sz="2200" i="1" dirty="0"/>
              <a:t>(valeur actualisée 4 versements de 75 000 $, début de période, à 12% + paiement 5 000 $ lié à la garantie à la fin de l’année 4)</a:t>
            </a:r>
            <a:r>
              <a:rPr lang="fr-FR" altLang="fr-FR" sz="2200" dirty="0"/>
              <a:t> </a:t>
            </a:r>
          </a:p>
          <a:p>
            <a:pPr marL="0" indent="0">
              <a:spcBef>
                <a:spcPct val="0"/>
              </a:spcBef>
              <a:buNone/>
            </a:pPr>
            <a:endParaRPr lang="fr-FR" altLang="fr-FR" sz="2200" dirty="0"/>
          </a:p>
          <a:p>
            <a:pPr marL="0" indent="0">
              <a:spcBef>
                <a:spcPct val="0"/>
              </a:spcBef>
              <a:buNone/>
            </a:pPr>
            <a:r>
              <a:rPr lang="fr-FR" altLang="fr-FR" sz="2200" dirty="0"/>
              <a:t>Obligation locative 			75 000 </a:t>
            </a:r>
          </a:p>
          <a:p>
            <a:pPr marL="0" indent="0">
              <a:spcBef>
                <a:spcPct val="0"/>
              </a:spcBef>
              <a:buNone/>
            </a:pPr>
            <a:r>
              <a:rPr lang="fr-FR" altLang="fr-FR" sz="2200" dirty="0"/>
              <a:t>@  Encaisse 					75 000 </a:t>
            </a:r>
          </a:p>
          <a:p>
            <a:pPr marL="0" indent="0">
              <a:spcBef>
                <a:spcPct val="0"/>
              </a:spcBef>
              <a:buNone/>
            </a:pPr>
            <a:endParaRPr lang="fr-FR" altLang="fr-FR" sz="2200" b="1" dirty="0"/>
          </a:p>
          <a:p>
            <a:pPr marL="0" indent="0">
              <a:spcBef>
                <a:spcPct val="0"/>
              </a:spcBef>
              <a:buNone/>
            </a:pPr>
            <a:r>
              <a:rPr lang="fr-FR" altLang="fr-FR" sz="2200" b="1" dirty="0"/>
              <a:t>31/12/x1</a:t>
            </a:r>
            <a:r>
              <a:rPr lang="fr-FR" altLang="fr-FR" sz="2200" dirty="0"/>
              <a:t> </a:t>
            </a:r>
          </a:p>
          <a:p>
            <a:pPr marL="0" indent="0">
              <a:spcBef>
                <a:spcPct val="0"/>
              </a:spcBef>
              <a:buNone/>
            </a:pPr>
            <a:r>
              <a:rPr lang="fr-FR" altLang="fr-FR" sz="2200" dirty="0"/>
              <a:t>Amortissement 				64 579</a:t>
            </a:r>
          </a:p>
          <a:p>
            <a:pPr marL="0" indent="0">
              <a:spcBef>
                <a:spcPct val="0"/>
              </a:spcBef>
              <a:buNone/>
            </a:pPr>
            <a:r>
              <a:rPr lang="fr-FR" altLang="fr-FR" sz="2200" dirty="0"/>
              <a:t>@  Amortissement cumulé 			 64 579</a:t>
            </a:r>
          </a:p>
          <a:p>
            <a:pPr marL="0" indent="0">
              <a:spcBef>
                <a:spcPct val="0"/>
              </a:spcBef>
              <a:buNone/>
            </a:pPr>
            <a:endParaRPr lang="fr-FR" altLang="fr-FR" sz="2200" dirty="0"/>
          </a:p>
          <a:p>
            <a:pPr marL="0" indent="0">
              <a:spcBef>
                <a:spcPct val="0"/>
              </a:spcBef>
              <a:buNone/>
            </a:pPr>
            <a:r>
              <a:rPr lang="fr-FR" altLang="fr-FR" sz="2200" dirty="0"/>
              <a:t>Charge intérêts - </a:t>
            </a:r>
            <a:r>
              <a:rPr lang="fr-FR" altLang="fr-FR" sz="2200" dirty="0" err="1"/>
              <a:t>oblig</a:t>
            </a:r>
            <a:r>
              <a:rPr lang="fr-FR" altLang="fr-FR" sz="2200" dirty="0"/>
              <a:t> </a:t>
            </a:r>
            <a:r>
              <a:rPr lang="fr-FR" altLang="fr-FR" sz="2200" dirty="0" err="1"/>
              <a:t>loc</a:t>
            </a:r>
            <a:r>
              <a:rPr lang="fr-FR" altLang="fr-FR" sz="2200" dirty="0"/>
              <a:t> 		21 998</a:t>
            </a:r>
          </a:p>
          <a:p>
            <a:pPr marL="0" indent="0">
              <a:spcBef>
                <a:spcPct val="0"/>
              </a:spcBef>
              <a:buNone/>
            </a:pPr>
            <a:r>
              <a:rPr lang="fr-FR" altLang="fr-FR" sz="2200" dirty="0"/>
              <a:t>@  Intérêts à payer 				 21 998</a:t>
            </a:r>
            <a:endParaRPr lang="fr-CA" altLang="fr-FR" sz="3000" dirty="0"/>
          </a:p>
        </p:txBody>
      </p:sp>
      <p:sp>
        <p:nvSpPr>
          <p:cNvPr id="29700" name="Espace réservé du numéro de diapositive 3">
            <a:extLst>
              <a:ext uri="{FF2B5EF4-FFF2-40B4-BE49-F238E27FC236}">
                <a16:creationId xmlns:a16="http://schemas.microsoft.com/office/drawing/2014/main" id="{09AF6E45-F338-44C9-B19A-C8BEB69D46D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spcBef>
                <a:spcPct val="0"/>
              </a:spcBef>
              <a:buFontTx/>
              <a:buNone/>
            </a:pPr>
            <a:fld id="{BF386D6D-0931-4CA6-B265-3C22AB4776CF}" type="slidenum">
              <a:rPr lang="fr-FR" altLang="fr-FR" sz="1200">
                <a:solidFill>
                  <a:srgbClr val="898989"/>
                </a:solidFill>
              </a:rPr>
              <a:pPr>
                <a:spcBef>
                  <a:spcPct val="0"/>
                </a:spcBef>
                <a:buFontTx/>
                <a:buNone/>
              </a:pPr>
              <a:t>74</a:t>
            </a:fld>
            <a:endParaRPr lang="fr-FR" altLang="fr-FR" sz="1200">
              <a:solidFill>
                <a:srgbClr val="898989"/>
              </a:solidFill>
            </a:endParaRPr>
          </a:p>
        </p:txBody>
      </p:sp>
      <p:sp>
        <p:nvSpPr>
          <p:cNvPr id="2" name="Espace réservé du pied de page 1">
            <a:extLst>
              <a:ext uri="{FF2B5EF4-FFF2-40B4-BE49-F238E27FC236}">
                <a16:creationId xmlns:a16="http://schemas.microsoft.com/office/drawing/2014/main" id="{8A924489-5C0F-4618-BCF0-8C75375B162F}"/>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171828624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30722" name="Titre 1">
            <a:extLst>
              <a:ext uri="{FF2B5EF4-FFF2-40B4-BE49-F238E27FC236}">
                <a16:creationId xmlns:a16="http://schemas.microsoft.com/office/drawing/2014/main" id="{814C2EB4-AF4E-4C3B-9B26-C35F524E795E}"/>
              </a:ext>
            </a:extLst>
          </p:cNvPr>
          <p:cNvSpPr>
            <a:spLocks noGrp="1"/>
          </p:cNvSpPr>
          <p:nvPr>
            <p:ph type="title"/>
          </p:nvPr>
        </p:nvSpPr>
        <p:spPr/>
        <p:txBody>
          <a:bodyPr/>
          <a:lstStyle/>
          <a:p>
            <a:pPr eaLnBrk="1" hangingPunct="1"/>
            <a:r>
              <a:rPr lang="fr-CA" altLang="fr-FR" dirty="0"/>
              <a:t>    </a:t>
            </a:r>
          </a:p>
        </p:txBody>
      </p:sp>
      <p:sp>
        <p:nvSpPr>
          <p:cNvPr id="30723" name="Espace réservé du contenu 2">
            <a:extLst>
              <a:ext uri="{FF2B5EF4-FFF2-40B4-BE49-F238E27FC236}">
                <a16:creationId xmlns:a16="http://schemas.microsoft.com/office/drawing/2014/main" id="{C8BBAE48-F2B3-47DC-BA16-F377B7252712}"/>
              </a:ext>
            </a:extLst>
          </p:cNvPr>
          <p:cNvSpPr>
            <a:spLocks noGrp="1"/>
          </p:cNvSpPr>
          <p:nvPr>
            <p:ph idx="1"/>
          </p:nvPr>
        </p:nvSpPr>
        <p:spPr/>
        <p:txBody>
          <a:bodyPr/>
          <a:lstStyle/>
          <a:p>
            <a:pPr marL="0" indent="0">
              <a:spcBef>
                <a:spcPct val="0"/>
              </a:spcBef>
              <a:buNone/>
            </a:pPr>
            <a:r>
              <a:rPr lang="fr-FR" altLang="fr-FR" sz="2400" b="1" dirty="0"/>
              <a:t>1/01/x2</a:t>
            </a:r>
            <a:r>
              <a:rPr lang="fr-FR" altLang="fr-FR" sz="2400" dirty="0"/>
              <a:t> </a:t>
            </a:r>
          </a:p>
          <a:p>
            <a:pPr marL="0" indent="0">
              <a:spcBef>
                <a:spcPct val="0"/>
              </a:spcBef>
              <a:buNone/>
            </a:pPr>
            <a:r>
              <a:rPr lang="fr-FR" altLang="fr-FR" sz="2400" dirty="0"/>
              <a:t>Intérêts à payer 			21 998</a:t>
            </a:r>
          </a:p>
          <a:p>
            <a:pPr marL="0" indent="0">
              <a:spcBef>
                <a:spcPct val="0"/>
              </a:spcBef>
              <a:buNone/>
            </a:pPr>
            <a:r>
              <a:rPr lang="fr-FR" altLang="fr-FR" sz="2400" dirty="0"/>
              <a:t>Obligation locative 			53 002</a:t>
            </a:r>
          </a:p>
          <a:p>
            <a:pPr marL="0" indent="0">
              <a:spcBef>
                <a:spcPct val="0"/>
              </a:spcBef>
              <a:buNone/>
            </a:pPr>
            <a:r>
              <a:rPr lang="fr-FR" altLang="fr-FR" sz="2400" dirty="0"/>
              <a:t>@  Encaisse 					75 000 </a:t>
            </a:r>
          </a:p>
          <a:p>
            <a:pPr marL="0" indent="0">
              <a:spcBef>
                <a:spcPct val="0"/>
              </a:spcBef>
              <a:buNone/>
            </a:pPr>
            <a:endParaRPr lang="fr-FR" altLang="fr-FR" sz="2400" b="1" dirty="0"/>
          </a:p>
          <a:p>
            <a:pPr marL="0" indent="0">
              <a:spcBef>
                <a:spcPct val="0"/>
              </a:spcBef>
              <a:buNone/>
            </a:pPr>
            <a:r>
              <a:rPr lang="fr-FR" altLang="fr-FR" sz="2400" b="1" dirty="0"/>
              <a:t>31/12/x2</a:t>
            </a:r>
            <a:r>
              <a:rPr lang="fr-FR" altLang="fr-FR" sz="2400" dirty="0"/>
              <a:t> </a:t>
            </a:r>
          </a:p>
          <a:p>
            <a:pPr marL="0" indent="0">
              <a:spcBef>
                <a:spcPct val="0"/>
              </a:spcBef>
              <a:buNone/>
            </a:pPr>
            <a:r>
              <a:rPr lang="fr-FR" altLang="fr-FR" sz="2400" dirty="0"/>
              <a:t>Amortissement 			 64 579</a:t>
            </a:r>
          </a:p>
          <a:p>
            <a:pPr marL="0" indent="0">
              <a:spcBef>
                <a:spcPct val="0"/>
              </a:spcBef>
              <a:buNone/>
            </a:pPr>
            <a:r>
              <a:rPr lang="fr-FR" altLang="fr-FR" sz="2400" dirty="0"/>
              <a:t>@  Amortissement cumulé 			 64 579</a:t>
            </a:r>
          </a:p>
          <a:p>
            <a:pPr marL="0" indent="0">
              <a:spcBef>
                <a:spcPct val="0"/>
              </a:spcBef>
              <a:buNone/>
            </a:pPr>
            <a:endParaRPr lang="fr-FR" altLang="fr-FR" sz="2400" dirty="0"/>
          </a:p>
          <a:p>
            <a:pPr marL="0" indent="0">
              <a:spcBef>
                <a:spcPct val="0"/>
              </a:spcBef>
              <a:buNone/>
            </a:pPr>
            <a:r>
              <a:rPr lang="fr-FR" altLang="fr-FR" sz="2400" dirty="0"/>
              <a:t>Charge intérêts - </a:t>
            </a:r>
            <a:r>
              <a:rPr lang="fr-FR" altLang="fr-FR" sz="2400" dirty="0" err="1"/>
              <a:t>oblig</a:t>
            </a:r>
            <a:r>
              <a:rPr lang="fr-FR" altLang="fr-FR" sz="2400" dirty="0"/>
              <a:t> </a:t>
            </a:r>
            <a:r>
              <a:rPr lang="fr-FR" altLang="fr-FR" sz="2400" dirty="0" err="1"/>
              <a:t>loc</a:t>
            </a:r>
            <a:r>
              <a:rPr lang="fr-FR" altLang="fr-FR" sz="2400" dirty="0"/>
              <a:t> 		15 638</a:t>
            </a:r>
          </a:p>
          <a:p>
            <a:pPr marL="0" indent="0">
              <a:spcBef>
                <a:spcPct val="0"/>
              </a:spcBef>
              <a:buNone/>
            </a:pPr>
            <a:r>
              <a:rPr lang="fr-FR" altLang="fr-FR" sz="2400" dirty="0"/>
              <a:t>@  Intérêts à payer 				 15 638</a:t>
            </a:r>
            <a:endParaRPr lang="fr-CA" altLang="fr-FR" dirty="0"/>
          </a:p>
        </p:txBody>
      </p:sp>
      <p:sp>
        <p:nvSpPr>
          <p:cNvPr id="30724" name="Espace réservé du numéro de diapositive 3">
            <a:extLst>
              <a:ext uri="{FF2B5EF4-FFF2-40B4-BE49-F238E27FC236}">
                <a16:creationId xmlns:a16="http://schemas.microsoft.com/office/drawing/2014/main" id="{5911BFB4-757F-4BFB-9ECF-F86D9B3FF56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spcBef>
                <a:spcPct val="0"/>
              </a:spcBef>
              <a:buFontTx/>
              <a:buNone/>
            </a:pPr>
            <a:fld id="{48E84840-2CA3-4564-8317-B07A5402DFAB}" type="slidenum">
              <a:rPr lang="fr-FR" altLang="fr-FR" sz="1200">
                <a:solidFill>
                  <a:srgbClr val="898989"/>
                </a:solidFill>
              </a:rPr>
              <a:pPr>
                <a:spcBef>
                  <a:spcPct val="0"/>
                </a:spcBef>
                <a:buFontTx/>
                <a:buNone/>
              </a:pPr>
              <a:t>75</a:t>
            </a:fld>
            <a:endParaRPr lang="fr-FR" altLang="fr-FR" sz="1200">
              <a:solidFill>
                <a:srgbClr val="898989"/>
              </a:solidFill>
            </a:endParaRPr>
          </a:p>
        </p:txBody>
      </p:sp>
      <p:sp>
        <p:nvSpPr>
          <p:cNvPr id="2" name="Espace réservé du pied de page 1">
            <a:extLst>
              <a:ext uri="{FF2B5EF4-FFF2-40B4-BE49-F238E27FC236}">
                <a16:creationId xmlns:a16="http://schemas.microsoft.com/office/drawing/2014/main" id="{A78300A4-2443-4DCC-A8E0-753CD4D42DEF}"/>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177274162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27650" name="Titre 1">
            <a:extLst>
              <a:ext uri="{FF2B5EF4-FFF2-40B4-BE49-F238E27FC236}">
                <a16:creationId xmlns:a16="http://schemas.microsoft.com/office/drawing/2014/main" id="{15377873-0CFE-4696-8D7A-7C6B52B3682A}"/>
              </a:ext>
            </a:extLst>
          </p:cNvPr>
          <p:cNvSpPr>
            <a:spLocks noGrp="1"/>
          </p:cNvSpPr>
          <p:nvPr>
            <p:ph type="title"/>
          </p:nvPr>
        </p:nvSpPr>
        <p:spPr>
          <a:xfrm>
            <a:off x="838200" y="365125"/>
            <a:ext cx="10515600" cy="716543"/>
          </a:xfrm>
        </p:spPr>
        <p:txBody>
          <a:bodyPr/>
          <a:lstStyle/>
          <a:p>
            <a:pPr eaLnBrk="1" hangingPunct="1"/>
            <a:r>
              <a:rPr lang="fr-CA" altLang="fr-FR" sz="3600" dirty="0"/>
              <a:t>Exercice 3 </a:t>
            </a:r>
            <a:r>
              <a:rPr lang="mr-IN" altLang="fr-FR" sz="3600" dirty="0">
                <a:latin typeface="Mangal" panose="02040503050203030202" pitchFamily="18" charset="0"/>
              </a:rPr>
              <a:t>–</a:t>
            </a:r>
            <a:r>
              <a:rPr lang="fr-CA" altLang="fr-FR" sz="3600" dirty="0"/>
              <a:t> préparer les écritures</a:t>
            </a:r>
            <a:endParaRPr lang="fr-CA" altLang="fr-FR" dirty="0"/>
          </a:p>
        </p:txBody>
      </p:sp>
      <p:sp>
        <p:nvSpPr>
          <p:cNvPr id="27651" name="Espace réservé du contenu 2">
            <a:extLst>
              <a:ext uri="{FF2B5EF4-FFF2-40B4-BE49-F238E27FC236}">
                <a16:creationId xmlns:a16="http://schemas.microsoft.com/office/drawing/2014/main" id="{348CFE77-4BC3-4453-8C2D-51B5844120BE}"/>
              </a:ext>
            </a:extLst>
          </p:cNvPr>
          <p:cNvSpPr>
            <a:spLocks noGrp="1"/>
          </p:cNvSpPr>
          <p:nvPr>
            <p:ph idx="1"/>
          </p:nvPr>
        </p:nvSpPr>
        <p:spPr>
          <a:xfrm>
            <a:off x="838200" y="1550020"/>
            <a:ext cx="10515600" cy="4626943"/>
          </a:xfrm>
        </p:spPr>
        <p:txBody>
          <a:bodyPr>
            <a:normAutofit/>
          </a:bodyPr>
          <a:lstStyle/>
          <a:p>
            <a:pPr marL="0" indent="0">
              <a:buNone/>
            </a:pPr>
            <a:r>
              <a:rPr lang="fr-FR" altLang="fr-FR" dirty="0"/>
              <a:t>Valeur de l'actif :			723 534 $</a:t>
            </a:r>
          </a:p>
          <a:p>
            <a:pPr marL="0" indent="0">
              <a:buNone/>
            </a:pPr>
            <a:r>
              <a:rPr lang="fr-FR" altLang="fr-FR" dirty="0"/>
              <a:t>Durée utile :				5 ans </a:t>
            </a:r>
          </a:p>
          <a:p>
            <a:pPr marL="0" indent="0">
              <a:buNone/>
            </a:pPr>
            <a:r>
              <a:rPr lang="fr-FR" altLang="fr-FR" dirty="0"/>
              <a:t>Durée location :			4 ans </a:t>
            </a:r>
          </a:p>
          <a:p>
            <a:pPr marL="0" indent="0">
              <a:buNone/>
            </a:pPr>
            <a:r>
              <a:rPr lang="fr-FR" altLang="fr-FR" dirty="0"/>
              <a:t>Taux :					14 %</a:t>
            </a:r>
          </a:p>
          <a:p>
            <a:pPr marL="0" indent="0">
              <a:buNone/>
            </a:pPr>
            <a:r>
              <a:rPr lang="fr-FR" altLang="fr-FR" dirty="0"/>
              <a:t>Option d’achat :		 	100 000 $</a:t>
            </a:r>
          </a:p>
          <a:p>
            <a:pPr marL="0" indent="0">
              <a:buNone/>
            </a:pPr>
            <a:r>
              <a:rPr lang="fr-FR" altLang="fr-FR" dirty="0"/>
              <a:t>Valeur résiduelle prévue : 	150 000 $</a:t>
            </a:r>
          </a:p>
          <a:p>
            <a:pPr marL="0" indent="0">
              <a:buNone/>
            </a:pPr>
            <a:endParaRPr lang="fr-FR" altLang="fr-FR" dirty="0"/>
          </a:p>
          <a:p>
            <a:pPr marL="0" indent="0">
              <a:buNone/>
            </a:pPr>
            <a:r>
              <a:rPr lang="fr-FR" altLang="fr-FR" dirty="0"/>
              <a:t>Paiement annuel location :	</a:t>
            </a:r>
            <a:r>
              <a:rPr lang="fr-FR" altLang="fr-FR" dirty="0">
                <a:solidFill>
                  <a:srgbClr val="FF0000"/>
                </a:solidFill>
              </a:rPr>
              <a:t>200 000 $ </a:t>
            </a:r>
            <a:r>
              <a:rPr lang="fr-FR" altLang="fr-FR" sz="2400" dirty="0">
                <a:solidFill>
                  <a:srgbClr val="FF0000"/>
                </a:solidFill>
              </a:rPr>
              <a:t>début période </a:t>
            </a:r>
            <a:r>
              <a:rPr lang="fr-FR" altLang="fr-FR" dirty="0"/>
              <a:t>	</a:t>
            </a:r>
          </a:p>
          <a:p>
            <a:pPr marL="0" indent="0">
              <a:buNone/>
            </a:pPr>
            <a:r>
              <a:rPr lang="fr-FR" altLang="fr-FR" dirty="0"/>
              <a:t>Obligation locative : 		</a:t>
            </a:r>
            <a:r>
              <a:rPr lang="fr-FR" altLang="fr-FR" dirty="0">
                <a:solidFill>
                  <a:srgbClr val="FF0000"/>
                </a:solidFill>
              </a:rPr>
              <a:t>723 534 $</a:t>
            </a:r>
            <a:endParaRPr lang="fr-CA" altLang="fr-FR" dirty="0">
              <a:solidFill>
                <a:srgbClr val="FF0000"/>
              </a:solidFill>
            </a:endParaRPr>
          </a:p>
        </p:txBody>
      </p:sp>
      <p:sp>
        <p:nvSpPr>
          <p:cNvPr id="27652" name="Espace réservé du numéro de diapositive 3">
            <a:extLst>
              <a:ext uri="{FF2B5EF4-FFF2-40B4-BE49-F238E27FC236}">
                <a16:creationId xmlns:a16="http://schemas.microsoft.com/office/drawing/2014/main" id="{0F0D6AD3-8F94-4A61-BED5-70F2414A401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spcBef>
                <a:spcPct val="0"/>
              </a:spcBef>
              <a:buFontTx/>
              <a:buNone/>
            </a:pPr>
            <a:fld id="{3C305A43-890F-4047-B0A7-75644D6AC6B9}" type="slidenum">
              <a:rPr lang="fr-FR" altLang="fr-FR" sz="1200">
                <a:solidFill>
                  <a:srgbClr val="898989"/>
                </a:solidFill>
              </a:rPr>
              <a:pPr>
                <a:spcBef>
                  <a:spcPct val="0"/>
                </a:spcBef>
                <a:buFontTx/>
                <a:buNone/>
              </a:pPr>
              <a:t>76</a:t>
            </a:fld>
            <a:endParaRPr lang="fr-FR" altLang="fr-FR" sz="1200">
              <a:solidFill>
                <a:srgbClr val="898989"/>
              </a:solidFill>
            </a:endParaRPr>
          </a:p>
        </p:txBody>
      </p:sp>
      <p:sp>
        <p:nvSpPr>
          <p:cNvPr id="2" name="Espace réservé du pied de page 1">
            <a:extLst>
              <a:ext uri="{FF2B5EF4-FFF2-40B4-BE49-F238E27FC236}">
                <a16:creationId xmlns:a16="http://schemas.microsoft.com/office/drawing/2014/main" id="{0870D0CE-4C50-488D-88BB-E031C90FF695}"/>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314743963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CE5EE54-835B-4E9C-AB4B-EFBF381AC2AE}"/>
              </a:ext>
            </a:extLst>
          </p:cNvPr>
          <p:cNvSpPr>
            <a:spLocks noGrp="1"/>
          </p:cNvSpPr>
          <p:nvPr>
            <p:ph type="title"/>
          </p:nvPr>
        </p:nvSpPr>
        <p:spPr/>
        <p:txBody>
          <a:bodyPr/>
          <a:lstStyle/>
          <a:p>
            <a:endParaRPr lang="fr-FR"/>
          </a:p>
        </p:txBody>
      </p:sp>
      <p:pic>
        <p:nvPicPr>
          <p:cNvPr id="6" name="Espace réservé du contenu 5">
            <a:extLst>
              <a:ext uri="{FF2B5EF4-FFF2-40B4-BE49-F238E27FC236}">
                <a16:creationId xmlns:a16="http://schemas.microsoft.com/office/drawing/2014/main" id="{FA588683-4C80-4F51-ADCF-D0BB8EF4A7F0}"/>
              </a:ext>
            </a:extLst>
          </p:cNvPr>
          <p:cNvPicPr>
            <a:picLocks noGrp="1" noChangeAspect="1"/>
          </p:cNvPicPr>
          <p:nvPr>
            <p:ph idx="1"/>
          </p:nvPr>
        </p:nvPicPr>
        <p:blipFill>
          <a:blip r:embed="rId2"/>
          <a:stretch>
            <a:fillRect/>
          </a:stretch>
        </p:blipFill>
        <p:spPr>
          <a:xfrm>
            <a:off x="683643" y="3200400"/>
            <a:ext cx="10573672" cy="1564640"/>
          </a:xfrm>
          <a:prstGeom prst="rect">
            <a:avLst/>
          </a:prstGeom>
        </p:spPr>
      </p:pic>
      <p:sp>
        <p:nvSpPr>
          <p:cNvPr id="4" name="Espace réservé du pied de page 3">
            <a:extLst>
              <a:ext uri="{FF2B5EF4-FFF2-40B4-BE49-F238E27FC236}">
                <a16:creationId xmlns:a16="http://schemas.microsoft.com/office/drawing/2014/main" id="{8EC9C337-101B-4247-86FC-65B0696C9541}"/>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A7E62FD1-F8BB-4474-92EC-550D02F7C574}"/>
              </a:ext>
            </a:extLst>
          </p:cNvPr>
          <p:cNvSpPr>
            <a:spLocks noGrp="1"/>
          </p:cNvSpPr>
          <p:nvPr>
            <p:ph type="sldNum" sz="quarter" idx="12"/>
          </p:nvPr>
        </p:nvSpPr>
        <p:spPr/>
        <p:txBody>
          <a:bodyPr/>
          <a:lstStyle/>
          <a:p>
            <a:fld id="{5C9924D9-E03F-489A-877F-8411DF9A3E64}" type="slidenum">
              <a:rPr lang="fr-FR" smtClean="0"/>
              <a:t>77</a:t>
            </a:fld>
            <a:endParaRPr lang="fr-FR"/>
          </a:p>
        </p:txBody>
      </p:sp>
    </p:spTree>
    <p:extLst>
      <p:ext uri="{BB962C8B-B14F-4D97-AF65-F5344CB8AC3E}">
        <p14:creationId xmlns:p14="http://schemas.microsoft.com/office/powerpoint/2010/main" val="83039467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8674" name="Titre 1">
            <a:extLst>
              <a:ext uri="{FF2B5EF4-FFF2-40B4-BE49-F238E27FC236}">
                <a16:creationId xmlns:a16="http://schemas.microsoft.com/office/drawing/2014/main" id="{13AACE9C-DD38-44F6-9CBD-CD05660912AB}"/>
              </a:ext>
            </a:extLst>
          </p:cNvPr>
          <p:cNvSpPr>
            <a:spLocks noGrp="1"/>
          </p:cNvSpPr>
          <p:nvPr>
            <p:ph type="title"/>
          </p:nvPr>
        </p:nvSpPr>
        <p:spPr/>
        <p:txBody>
          <a:bodyPr/>
          <a:lstStyle/>
          <a:p>
            <a:pPr eaLnBrk="1" hangingPunct="1"/>
            <a:r>
              <a:rPr lang="fr-CA" altLang="fr-FR" dirty="0"/>
              <a:t> </a:t>
            </a:r>
          </a:p>
        </p:txBody>
      </p:sp>
      <p:sp>
        <p:nvSpPr>
          <p:cNvPr id="28676" name="Espace réservé du numéro de diapositive 3">
            <a:extLst>
              <a:ext uri="{FF2B5EF4-FFF2-40B4-BE49-F238E27FC236}">
                <a16:creationId xmlns:a16="http://schemas.microsoft.com/office/drawing/2014/main" id="{0E1A5764-30CE-4D00-89AA-69DB8B8A790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spcBef>
                <a:spcPct val="0"/>
              </a:spcBef>
              <a:buFontTx/>
              <a:buNone/>
            </a:pPr>
            <a:fld id="{1D9311C2-2E9B-49C3-96AB-7B5E9B061B06}" type="slidenum">
              <a:rPr lang="fr-FR" altLang="fr-FR" sz="1200">
                <a:solidFill>
                  <a:srgbClr val="898989"/>
                </a:solidFill>
              </a:rPr>
              <a:pPr>
                <a:spcBef>
                  <a:spcPct val="0"/>
                </a:spcBef>
                <a:buFontTx/>
                <a:buNone/>
              </a:pPr>
              <a:t>78</a:t>
            </a:fld>
            <a:endParaRPr lang="fr-FR" altLang="fr-FR" sz="1200">
              <a:solidFill>
                <a:srgbClr val="898989"/>
              </a:solidFill>
            </a:endParaRPr>
          </a:p>
        </p:txBody>
      </p:sp>
      <p:sp>
        <p:nvSpPr>
          <p:cNvPr id="2" name="Espace réservé du pied de page 1">
            <a:extLst>
              <a:ext uri="{FF2B5EF4-FFF2-40B4-BE49-F238E27FC236}">
                <a16:creationId xmlns:a16="http://schemas.microsoft.com/office/drawing/2014/main" id="{F5AD3AE2-05E6-47DB-9323-67647DDA0770}"/>
              </a:ext>
            </a:extLst>
          </p:cNvPr>
          <p:cNvSpPr>
            <a:spLocks noGrp="1"/>
          </p:cNvSpPr>
          <p:nvPr>
            <p:ph type="ftr" sz="quarter" idx="11"/>
          </p:nvPr>
        </p:nvSpPr>
        <p:spPr/>
        <p:txBody>
          <a:bodyPr/>
          <a:lstStyle/>
          <a:p>
            <a:r>
              <a:rPr lang="fr-FR"/>
              <a:t>Droits réservés - Louise Overbeek</a:t>
            </a:r>
          </a:p>
        </p:txBody>
      </p:sp>
      <p:pic>
        <p:nvPicPr>
          <p:cNvPr id="6" name="Espace réservé du contenu 5">
            <a:extLst>
              <a:ext uri="{FF2B5EF4-FFF2-40B4-BE49-F238E27FC236}">
                <a16:creationId xmlns:a16="http://schemas.microsoft.com/office/drawing/2014/main" id="{4994AA56-4E6A-4D33-8376-F2D4FE09C0A7}"/>
              </a:ext>
            </a:extLst>
          </p:cNvPr>
          <p:cNvPicPr>
            <a:picLocks noGrp="1" noChangeAspect="1"/>
          </p:cNvPicPr>
          <p:nvPr>
            <p:ph idx="1"/>
          </p:nvPr>
        </p:nvPicPr>
        <p:blipFill>
          <a:blip r:embed="rId2"/>
          <a:stretch>
            <a:fillRect/>
          </a:stretch>
        </p:blipFill>
        <p:spPr>
          <a:xfrm>
            <a:off x="1635151" y="1293541"/>
            <a:ext cx="7337399" cy="4453830"/>
          </a:xfrm>
          <a:prstGeom prst="rect">
            <a:avLst/>
          </a:prstGeom>
        </p:spPr>
      </p:pic>
    </p:spTree>
    <p:extLst>
      <p:ext uri="{BB962C8B-B14F-4D97-AF65-F5344CB8AC3E}">
        <p14:creationId xmlns:p14="http://schemas.microsoft.com/office/powerpoint/2010/main" val="292443802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9698" name="Titre 1">
            <a:extLst>
              <a:ext uri="{FF2B5EF4-FFF2-40B4-BE49-F238E27FC236}">
                <a16:creationId xmlns:a16="http://schemas.microsoft.com/office/drawing/2014/main" id="{219B8564-690F-4766-B6C3-8304F2685270}"/>
              </a:ext>
            </a:extLst>
          </p:cNvPr>
          <p:cNvSpPr>
            <a:spLocks noGrp="1"/>
          </p:cNvSpPr>
          <p:nvPr>
            <p:ph type="title"/>
          </p:nvPr>
        </p:nvSpPr>
        <p:spPr/>
        <p:txBody>
          <a:bodyPr/>
          <a:lstStyle/>
          <a:p>
            <a:pPr eaLnBrk="1" hangingPunct="1"/>
            <a:r>
              <a:rPr lang="fr-CA" altLang="fr-FR" dirty="0"/>
              <a:t> </a:t>
            </a:r>
          </a:p>
        </p:txBody>
      </p:sp>
      <p:pic>
        <p:nvPicPr>
          <p:cNvPr id="3" name="Espace réservé du contenu 2">
            <a:extLst>
              <a:ext uri="{FF2B5EF4-FFF2-40B4-BE49-F238E27FC236}">
                <a16:creationId xmlns:a16="http://schemas.microsoft.com/office/drawing/2014/main" id="{AD6B8C97-684E-4010-9C24-08B920FDCE7F}"/>
              </a:ext>
            </a:extLst>
          </p:cNvPr>
          <p:cNvPicPr>
            <a:picLocks noGrp="1" noChangeAspect="1"/>
          </p:cNvPicPr>
          <p:nvPr>
            <p:ph idx="1"/>
          </p:nvPr>
        </p:nvPicPr>
        <p:blipFill>
          <a:blip r:embed="rId2"/>
          <a:stretch>
            <a:fillRect/>
          </a:stretch>
        </p:blipFill>
        <p:spPr>
          <a:xfrm>
            <a:off x="1869439" y="823252"/>
            <a:ext cx="7964131" cy="5150827"/>
          </a:xfrm>
          <a:prstGeom prst="rect">
            <a:avLst/>
          </a:prstGeom>
        </p:spPr>
      </p:pic>
      <p:sp>
        <p:nvSpPr>
          <p:cNvPr id="29700" name="Espace réservé du numéro de diapositive 3">
            <a:extLst>
              <a:ext uri="{FF2B5EF4-FFF2-40B4-BE49-F238E27FC236}">
                <a16:creationId xmlns:a16="http://schemas.microsoft.com/office/drawing/2014/main" id="{09AF6E45-F338-44C9-B19A-C8BEB69D46D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spcBef>
                <a:spcPct val="0"/>
              </a:spcBef>
              <a:buFontTx/>
              <a:buNone/>
            </a:pPr>
            <a:fld id="{BF386D6D-0931-4CA6-B265-3C22AB4776CF}" type="slidenum">
              <a:rPr lang="fr-FR" altLang="fr-FR" sz="1200">
                <a:solidFill>
                  <a:srgbClr val="898989"/>
                </a:solidFill>
              </a:rPr>
              <a:pPr>
                <a:spcBef>
                  <a:spcPct val="0"/>
                </a:spcBef>
                <a:buFontTx/>
                <a:buNone/>
              </a:pPr>
              <a:t>79</a:t>
            </a:fld>
            <a:endParaRPr lang="fr-FR" altLang="fr-FR" sz="1200">
              <a:solidFill>
                <a:srgbClr val="898989"/>
              </a:solidFill>
            </a:endParaRPr>
          </a:p>
        </p:txBody>
      </p:sp>
      <p:sp>
        <p:nvSpPr>
          <p:cNvPr id="2" name="Espace réservé du pied de page 1">
            <a:extLst>
              <a:ext uri="{FF2B5EF4-FFF2-40B4-BE49-F238E27FC236}">
                <a16:creationId xmlns:a16="http://schemas.microsoft.com/office/drawing/2014/main" id="{8A924489-5C0F-4618-BCF0-8C75375B162F}"/>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18591454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30722" name="Titre 1">
            <a:extLst>
              <a:ext uri="{FF2B5EF4-FFF2-40B4-BE49-F238E27FC236}">
                <a16:creationId xmlns:a16="http://schemas.microsoft.com/office/drawing/2014/main" id="{814C2EB4-AF4E-4C3B-9B26-C35F524E795E}"/>
              </a:ext>
            </a:extLst>
          </p:cNvPr>
          <p:cNvSpPr>
            <a:spLocks noGrp="1"/>
          </p:cNvSpPr>
          <p:nvPr>
            <p:ph type="title"/>
          </p:nvPr>
        </p:nvSpPr>
        <p:spPr/>
        <p:txBody>
          <a:bodyPr/>
          <a:lstStyle/>
          <a:p>
            <a:pPr eaLnBrk="1" hangingPunct="1"/>
            <a:r>
              <a:rPr lang="fr-CA" altLang="fr-FR" dirty="0"/>
              <a:t>    </a:t>
            </a:r>
          </a:p>
        </p:txBody>
      </p:sp>
      <p:pic>
        <p:nvPicPr>
          <p:cNvPr id="3" name="Espace réservé du contenu 2">
            <a:extLst>
              <a:ext uri="{FF2B5EF4-FFF2-40B4-BE49-F238E27FC236}">
                <a16:creationId xmlns:a16="http://schemas.microsoft.com/office/drawing/2014/main" id="{B13E1723-6ABC-481E-BE36-87F2E2AA7453}"/>
              </a:ext>
            </a:extLst>
          </p:cNvPr>
          <p:cNvPicPr>
            <a:picLocks noGrp="1" noChangeAspect="1"/>
          </p:cNvPicPr>
          <p:nvPr>
            <p:ph idx="1"/>
          </p:nvPr>
        </p:nvPicPr>
        <p:blipFill>
          <a:blip r:embed="rId2"/>
          <a:stretch>
            <a:fillRect/>
          </a:stretch>
        </p:blipFill>
        <p:spPr>
          <a:xfrm>
            <a:off x="2109617" y="1341120"/>
            <a:ext cx="5937103" cy="3961919"/>
          </a:xfrm>
          <a:prstGeom prst="rect">
            <a:avLst/>
          </a:prstGeom>
        </p:spPr>
      </p:pic>
      <p:sp>
        <p:nvSpPr>
          <p:cNvPr id="30724" name="Espace réservé du numéro de diapositive 3">
            <a:extLst>
              <a:ext uri="{FF2B5EF4-FFF2-40B4-BE49-F238E27FC236}">
                <a16:creationId xmlns:a16="http://schemas.microsoft.com/office/drawing/2014/main" id="{5911BFB4-757F-4BFB-9ECF-F86D9B3FF56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MS PGothic"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MS PGothic"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MS PGothic"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5pPr>
            <a:lvl6pPr marL="25146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6pPr>
            <a:lvl7pPr marL="29718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7pPr>
            <a:lvl8pPr marL="34290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8pPr>
            <a:lvl9pPr marL="3886200" indent="-228600" defTabSz="4572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MS PGothic" panose="020B0600070205080204" pitchFamily="34" charset="-128"/>
              </a:defRPr>
            </a:lvl9pPr>
          </a:lstStyle>
          <a:p>
            <a:pPr>
              <a:spcBef>
                <a:spcPct val="0"/>
              </a:spcBef>
              <a:buFontTx/>
              <a:buNone/>
            </a:pPr>
            <a:fld id="{48E84840-2CA3-4564-8317-B07A5402DFAB}" type="slidenum">
              <a:rPr lang="fr-FR" altLang="fr-FR" sz="1200">
                <a:solidFill>
                  <a:srgbClr val="898989"/>
                </a:solidFill>
              </a:rPr>
              <a:pPr>
                <a:spcBef>
                  <a:spcPct val="0"/>
                </a:spcBef>
                <a:buFontTx/>
                <a:buNone/>
              </a:pPr>
              <a:t>80</a:t>
            </a:fld>
            <a:endParaRPr lang="fr-FR" altLang="fr-FR" sz="1200">
              <a:solidFill>
                <a:srgbClr val="898989"/>
              </a:solidFill>
            </a:endParaRPr>
          </a:p>
        </p:txBody>
      </p:sp>
      <p:sp>
        <p:nvSpPr>
          <p:cNvPr id="2" name="Espace réservé du pied de page 1">
            <a:extLst>
              <a:ext uri="{FF2B5EF4-FFF2-40B4-BE49-F238E27FC236}">
                <a16:creationId xmlns:a16="http://schemas.microsoft.com/office/drawing/2014/main" id="{A78300A4-2443-4DCC-A8E0-753CD4D42DEF}"/>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195926321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63C2E2B-2F0E-43EB-B4A3-6EC31F497E6D}"/>
              </a:ext>
            </a:extLst>
          </p:cNvPr>
          <p:cNvSpPr>
            <a:spLocks noGrp="1"/>
          </p:cNvSpPr>
          <p:nvPr>
            <p:ph type="title"/>
          </p:nvPr>
        </p:nvSpPr>
        <p:spPr/>
        <p:txBody>
          <a:bodyPr/>
          <a:lstStyle/>
          <a:p>
            <a:r>
              <a:rPr lang="fr-CA" dirty="0"/>
              <a:t>Modification contrat location</a:t>
            </a:r>
            <a:endParaRPr lang="fr-FR" dirty="0"/>
          </a:p>
        </p:txBody>
      </p:sp>
      <p:sp>
        <p:nvSpPr>
          <p:cNvPr id="9" name="Espace réservé du contenu 8">
            <a:extLst>
              <a:ext uri="{FF2B5EF4-FFF2-40B4-BE49-F238E27FC236}">
                <a16:creationId xmlns:a16="http://schemas.microsoft.com/office/drawing/2014/main" id="{674AAED3-AF41-493E-A6D4-F0022CED7F3C}"/>
              </a:ext>
            </a:extLst>
          </p:cNvPr>
          <p:cNvSpPr>
            <a:spLocks noGrp="1"/>
          </p:cNvSpPr>
          <p:nvPr>
            <p:ph idx="1"/>
          </p:nvPr>
        </p:nvSpPr>
        <p:spPr/>
        <p:txBody>
          <a:bodyPr>
            <a:normAutofit lnSpcReduction="10000"/>
          </a:bodyPr>
          <a:lstStyle/>
          <a:p>
            <a:pPr marL="0" indent="0">
              <a:buNone/>
            </a:pPr>
            <a:r>
              <a:rPr lang="fr-CA" dirty="0"/>
              <a:t>36     Après la date de début, le preneur doit évaluer l'obligation locative en faisant ce qui suit :</a:t>
            </a:r>
          </a:p>
          <a:p>
            <a:pPr marL="808038" indent="-808038">
              <a:buNone/>
            </a:pPr>
            <a:r>
              <a:rPr lang="fr-CA" dirty="0"/>
              <a:t>(a)     augmenter la valeur comptable pour refléter les intérêts sur l'obligation locative ;</a:t>
            </a:r>
          </a:p>
          <a:p>
            <a:pPr marL="808038" indent="-808038">
              <a:buNone/>
            </a:pPr>
            <a:r>
              <a:rPr lang="fr-CA" dirty="0"/>
              <a:t>(b)     réduire la valeur comptable pour refléter les paiements de loyers effectués ;</a:t>
            </a:r>
          </a:p>
          <a:p>
            <a:pPr marL="808038" indent="-808038">
              <a:buNone/>
            </a:pPr>
            <a:r>
              <a:rPr lang="fr-CA" dirty="0"/>
              <a:t>(c)     </a:t>
            </a:r>
            <a:r>
              <a:rPr lang="fr-CA" u="sng" dirty="0"/>
              <a:t>réévaluer la valeur comptable pour refléter, le cas échéant, la nouvelle appréciation de l'obligation locative ou les modifications de contrat de location spécifiées aux paragraphes </a:t>
            </a:r>
            <a:r>
              <a:rPr lang="fr-CA" u="sng" dirty="0">
                <a:hlinkClick r:id="rId2"/>
              </a:rPr>
              <a:t>39</a:t>
            </a:r>
            <a:r>
              <a:rPr lang="fr-CA" u="sng" dirty="0"/>
              <a:t> à 46, ou pour refléter la révision des paiements de loyers qui sont en substance des paiements fixes </a:t>
            </a:r>
            <a:r>
              <a:rPr lang="fr-CA" dirty="0"/>
              <a:t>(voir paragraphe B42).</a:t>
            </a:r>
          </a:p>
          <a:p>
            <a:endParaRPr lang="fr-FR" dirty="0"/>
          </a:p>
        </p:txBody>
      </p:sp>
      <p:sp>
        <p:nvSpPr>
          <p:cNvPr id="4" name="Espace réservé du pied de page 3">
            <a:extLst>
              <a:ext uri="{FF2B5EF4-FFF2-40B4-BE49-F238E27FC236}">
                <a16:creationId xmlns:a16="http://schemas.microsoft.com/office/drawing/2014/main" id="{12E60E96-771E-40CC-A2CD-F29DC82B0D2B}"/>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9EF2B826-C487-443B-B3C9-447EB045FFFA}"/>
              </a:ext>
            </a:extLst>
          </p:cNvPr>
          <p:cNvSpPr>
            <a:spLocks noGrp="1"/>
          </p:cNvSpPr>
          <p:nvPr>
            <p:ph type="sldNum" sz="quarter" idx="12"/>
          </p:nvPr>
        </p:nvSpPr>
        <p:spPr/>
        <p:txBody>
          <a:bodyPr/>
          <a:lstStyle/>
          <a:p>
            <a:fld id="{5C9924D9-E03F-489A-877F-8411DF9A3E64}" type="slidenum">
              <a:rPr lang="fr-FR" smtClean="0"/>
              <a:pPr/>
              <a:t>81</a:t>
            </a:fld>
            <a:endParaRPr lang="fr-FR"/>
          </a:p>
        </p:txBody>
      </p:sp>
    </p:spTree>
    <p:extLst>
      <p:ext uri="{BB962C8B-B14F-4D97-AF65-F5344CB8AC3E}">
        <p14:creationId xmlns:p14="http://schemas.microsoft.com/office/powerpoint/2010/main" val="345398242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63C2E2B-2F0E-43EB-B4A3-6EC31F497E6D}"/>
              </a:ext>
            </a:extLst>
          </p:cNvPr>
          <p:cNvSpPr>
            <a:spLocks noGrp="1"/>
          </p:cNvSpPr>
          <p:nvPr>
            <p:ph type="title"/>
          </p:nvPr>
        </p:nvSpPr>
        <p:spPr>
          <a:xfrm>
            <a:off x="838200" y="365126"/>
            <a:ext cx="10515600" cy="700686"/>
          </a:xfrm>
        </p:spPr>
        <p:txBody>
          <a:bodyPr/>
          <a:lstStyle/>
          <a:p>
            <a:r>
              <a:rPr lang="fr-CA" dirty="0"/>
              <a:t>Modification contrat location</a:t>
            </a:r>
            <a:endParaRPr lang="fr-FR" dirty="0"/>
          </a:p>
        </p:txBody>
      </p:sp>
      <p:sp>
        <p:nvSpPr>
          <p:cNvPr id="9" name="Espace réservé du contenu 8">
            <a:extLst>
              <a:ext uri="{FF2B5EF4-FFF2-40B4-BE49-F238E27FC236}">
                <a16:creationId xmlns:a16="http://schemas.microsoft.com/office/drawing/2014/main" id="{674AAED3-AF41-493E-A6D4-F0022CED7F3C}"/>
              </a:ext>
            </a:extLst>
          </p:cNvPr>
          <p:cNvSpPr>
            <a:spLocks noGrp="1"/>
          </p:cNvSpPr>
          <p:nvPr>
            <p:ph idx="1"/>
          </p:nvPr>
        </p:nvSpPr>
        <p:spPr>
          <a:xfrm>
            <a:off x="838200" y="1294411"/>
            <a:ext cx="10515600" cy="5198464"/>
          </a:xfrm>
        </p:spPr>
        <p:txBody>
          <a:bodyPr>
            <a:normAutofit fontScale="85000" lnSpcReduction="10000"/>
          </a:bodyPr>
          <a:lstStyle/>
          <a:p>
            <a:pPr marL="0" indent="0">
              <a:buNone/>
            </a:pPr>
            <a:r>
              <a:rPr lang="fr-CA" sz="2400" b="1" dirty="0"/>
              <a:t>Nouvelle appréciation de l'obligation locative</a:t>
            </a:r>
          </a:p>
          <a:p>
            <a:pPr marL="0" indent="0">
              <a:buNone/>
            </a:pPr>
            <a:r>
              <a:rPr lang="fr-CA" sz="2000" dirty="0"/>
              <a:t>39      Après la date de début, le preneur doit refléter les changements apportés aux paiements de loyers en réévaluant l'obligation locative par l'application des paragraphes </a:t>
            </a:r>
            <a:r>
              <a:rPr lang="fr-CA" sz="2000" dirty="0">
                <a:hlinkClick r:id="rId2"/>
              </a:rPr>
              <a:t>40</a:t>
            </a:r>
            <a:r>
              <a:rPr lang="fr-CA" sz="2000" dirty="0"/>
              <a:t> à 43. Il doit porter le montant de la réévaluation en ajustement de l'actif au titre du droit d'utilisation. Toutefois, si la valeur comptable de l'actif au titre du droit d'utilisation s'en trouve ramenée à zéro et qu'il est nécessaire de réduire encore davantage l'obligation locative, le preneur doit comptabiliser le reste du montant de la réévaluation en résultat net.</a:t>
            </a:r>
          </a:p>
          <a:p>
            <a:pPr marL="0" indent="0">
              <a:buNone/>
            </a:pPr>
            <a:r>
              <a:rPr lang="fr-CA" sz="2400" dirty="0"/>
              <a:t>40      Le preneur doit réévaluer l'obligation locative en actualisant les paiements de loyers révisés </a:t>
            </a:r>
            <a:r>
              <a:rPr lang="fr-CA" sz="2400" u="sng" dirty="0">
                <a:solidFill>
                  <a:srgbClr val="0070C0"/>
                </a:solidFill>
              </a:rPr>
              <a:t>au moyen d'un taux d'actualisation révisé</a:t>
            </a:r>
            <a:r>
              <a:rPr lang="fr-CA" sz="2400" dirty="0"/>
              <a:t>, dans l'une ou l'autre des situations suivantes :</a:t>
            </a:r>
          </a:p>
          <a:p>
            <a:pPr marL="808038" indent="-357188">
              <a:buNone/>
            </a:pPr>
            <a:r>
              <a:rPr lang="fr-CA" sz="2400" dirty="0"/>
              <a:t>(a)  il y a un </a:t>
            </a:r>
            <a:r>
              <a:rPr lang="fr-CA" sz="2400" u="sng" dirty="0"/>
              <a:t>changement dans la durée du contrat de location </a:t>
            </a:r>
            <a:r>
              <a:rPr lang="fr-CA" sz="2400" dirty="0"/>
              <a:t>comme il est expliqué aux paragraphes </a:t>
            </a:r>
            <a:r>
              <a:rPr lang="fr-CA" sz="2400" dirty="0">
                <a:hlinkClick r:id="rId2"/>
              </a:rPr>
              <a:t>20</a:t>
            </a:r>
            <a:r>
              <a:rPr lang="fr-CA" sz="2400" dirty="0"/>
              <a:t> et 21, auquel cas le preneur doit déterminer les paiements de loyers révisés en fonction de la durée révisée du contrat de location ;</a:t>
            </a:r>
          </a:p>
          <a:p>
            <a:pPr marL="808038" indent="-357188">
              <a:buNone/>
            </a:pPr>
            <a:r>
              <a:rPr lang="fr-CA" sz="2400" dirty="0"/>
              <a:t>(b)  il y a un </a:t>
            </a:r>
            <a:r>
              <a:rPr lang="fr-CA" sz="2400" u="sng" dirty="0"/>
              <a:t>changement dans l'appréciation d'une option d'achat du bien sous-jacent</a:t>
            </a:r>
            <a:r>
              <a:rPr lang="fr-CA" sz="2400" dirty="0"/>
              <a:t>, cette appréciation tenant compte des événements et circonstances décrits aux paragraphes </a:t>
            </a:r>
            <a:r>
              <a:rPr lang="fr-CA" sz="2400" dirty="0">
                <a:hlinkClick r:id="rId2"/>
              </a:rPr>
              <a:t>20</a:t>
            </a:r>
            <a:r>
              <a:rPr lang="fr-CA" sz="2400" dirty="0"/>
              <a:t> et 21 et se faisant dans le contexte d'une option d'achat. Le preneur doit refléter dans sa révision des paiements de loyers la variation des sommes à payer en vertu de l'option d'achat.</a:t>
            </a:r>
          </a:p>
          <a:p>
            <a:pPr marL="0" indent="0">
              <a:buNone/>
            </a:pPr>
            <a:r>
              <a:rPr lang="fr-CA" sz="2000" dirty="0"/>
              <a:t>41      Aux fins de l'application du paragraphe </a:t>
            </a:r>
            <a:r>
              <a:rPr lang="fr-CA" sz="2000" dirty="0">
                <a:hlinkClick r:id="rId2"/>
              </a:rPr>
              <a:t>40</a:t>
            </a:r>
            <a:r>
              <a:rPr lang="fr-CA" sz="2000" dirty="0"/>
              <a:t>, le preneur doit utiliser comme taux d'actualisation révisé le taux d'intérêt implicite du contrat de location pour la durée restante s'il est possible de déterminer facilement ce taux, sinon le preneur doit utiliser son taux d'emprunt marginal à la date de la nouvelle appréciation.</a:t>
            </a:r>
          </a:p>
        </p:txBody>
      </p:sp>
      <p:sp>
        <p:nvSpPr>
          <p:cNvPr id="4" name="Espace réservé du pied de page 3">
            <a:extLst>
              <a:ext uri="{FF2B5EF4-FFF2-40B4-BE49-F238E27FC236}">
                <a16:creationId xmlns:a16="http://schemas.microsoft.com/office/drawing/2014/main" id="{12E60E96-771E-40CC-A2CD-F29DC82B0D2B}"/>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9EF2B826-C487-443B-B3C9-447EB045FFFA}"/>
              </a:ext>
            </a:extLst>
          </p:cNvPr>
          <p:cNvSpPr>
            <a:spLocks noGrp="1"/>
          </p:cNvSpPr>
          <p:nvPr>
            <p:ph type="sldNum" sz="quarter" idx="12"/>
          </p:nvPr>
        </p:nvSpPr>
        <p:spPr/>
        <p:txBody>
          <a:bodyPr/>
          <a:lstStyle/>
          <a:p>
            <a:fld id="{5C9924D9-E03F-489A-877F-8411DF9A3E64}" type="slidenum">
              <a:rPr lang="fr-FR" smtClean="0"/>
              <a:pPr/>
              <a:t>82</a:t>
            </a:fld>
            <a:endParaRPr lang="fr-FR"/>
          </a:p>
        </p:txBody>
      </p:sp>
    </p:spTree>
    <p:extLst>
      <p:ext uri="{BB962C8B-B14F-4D97-AF65-F5344CB8AC3E}">
        <p14:creationId xmlns:p14="http://schemas.microsoft.com/office/powerpoint/2010/main" val="396556925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63C2E2B-2F0E-43EB-B4A3-6EC31F497E6D}"/>
              </a:ext>
            </a:extLst>
          </p:cNvPr>
          <p:cNvSpPr>
            <a:spLocks noGrp="1"/>
          </p:cNvSpPr>
          <p:nvPr>
            <p:ph type="title"/>
          </p:nvPr>
        </p:nvSpPr>
        <p:spPr/>
        <p:txBody>
          <a:bodyPr/>
          <a:lstStyle/>
          <a:p>
            <a:r>
              <a:rPr lang="fr-CA" dirty="0"/>
              <a:t>Modification contrat location</a:t>
            </a:r>
            <a:endParaRPr lang="fr-FR" dirty="0"/>
          </a:p>
        </p:txBody>
      </p:sp>
      <p:sp>
        <p:nvSpPr>
          <p:cNvPr id="9" name="Espace réservé du contenu 8">
            <a:extLst>
              <a:ext uri="{FF2B5EF4-FFF2-40B4-BE49-F238E27FC236}">
                <a16:creationId xmlns:a16="http://schemas.microsoft.com/office/drawing/2014/main" id="{674AAED3-AF41-493E-A6D4-F0022CED7F3C}"/>
              </a:ext>
            </a:extLst>
          </p:cNvPr>
          <p:cNvSpPr>
            <a:spLocks noGrp="1"/>
          </p:cNvSpPr>
          <p:nvPr>
            <p:ph idx="1"/>
          </p:nvPr>
        </p:nvSpPr>
        <p:spPr>
          <a:xfrm>
            <a:off x="838200" y="1690688"/>
            <a:ext cx="10515600" cy="4665662"/>
          </a:xfrm>
        </p:spPr>
        <p:txBody>
          <a:bodyPr>
            <a:normAutofit fontScale="62500" lnSpcReduction="20000"/>
          </a:bodyPr>
          <a:lstStyle/>
          <a:p>
            <a:pPr marL="0" indent="0">
              <a:buNone/>
            </a:pPr>
            <a:r>
              <a:rPr lang="fr-CA" sz="3400" dirty="0"/>
              <a:t>42      Le preneur doit réévaluer l'obligation locative en actualisant les paiements de loyers révisés, dans l'une ou l'autre des situations suivantes :</a:t>
            </a:r>
          </a:p>
          <a:p>
            <a:pPr marL="0" indent="0">
              <a:buNone/>
            </a:pPr>
            <a:r>
              <a:rPr lang="fr-CA" sz="3400" dirty="0"/>
              <a:t>(a)     il y a un </a:t>
            </a:r>
            <a:r>
              <a:rPr lang="fr-CA" sz="3400" u="sng" dirty="0"/>
              <a:t>changement dans les sommes que le preneur s'attend à devoir payer au bailleur au titre d'une garantie de valeur résiduelle</a:t>
            </a:r>
            <a:r>
              <a:rPr lang="fr-CA" sz="3400" dirty="0"/>
              <a:t>, auquel cas il doit refléter dans sa révision des paiements de loyers la variation des sommes qu'il s'attend à devoir payer au bailleur au titre de la garantie de valeur résiduelle ;</a:t>
            </a:r>
          </a:p>
          <a:p>
            <a:pPr marL="0" indent="0">
              <a:buNone/>
            </a:pPr>
            <a:r>
              <a:rPr lang="fr-CA" sz="3400" dirty="0"/>
              <a:t>(b)     il y a un </a:t>
            </a:r>
            <a:r>
              <a:rPr lang="fr-CA" sz="3400" u="sng" dirty="0"/>
              <a:t>changement dans les paiements de loyers futurs en raison d'une variation de l'indice ou du taux utilisé pour déterminer ces paiements</a:t>
            </a:r>
            <a:r>
              <a:rPr lang="fr-CA" sz="3400" dirty="0"/>
              <a:t>, par exemple un changement visant à tenir compte de l'évolution des prix du marché locatif à la suite d'une étude de ce marché. Le preneur ne doit réévaluer l'obligation locative pour refléter les paiements de loyers révisés que lorsque le changement touche les flux de trésorerie (c'est-à-dire lorsque le rajustement des paiements de loyers prend effet). Le preneur doit déterminer les paiements de loyers révisés pour la durée restante du contrat de location sur la base des paiements contractuels révisés.</a:t>
            </a:r>
          </a:p>
          <a:p>
            <a:pPr marL="0" indent="0">
              <a:buNone/>
            </a:pPr>
            <a:r>
              <a:rPr lang="fr-CA" sz="3400" dirty="0"/>
              <a:t>43      Aux fins de l'application du paragraphe </a:t>
            </a:r>
            <a:r>
              <a:rPr lang="fr-CA" sz="3400" dirty="0">
                <a:hlinkClick r:id="rId2"/>
              </a:rPr>
              <a:t>42</a:t>
            </a:r>
            <a:r>
              <a:rPr lang="fr-CA" sz="3400" dirty="0"/>
              <a:t>, </a:t>
            </a:r>
            <a:r>
              <a:rPr lang="fr-CA" sz="3400" u="sng" dirty="0">
                <a:solidFill>
                  <a:srgbClr val="0070C0"/>
                </a:solidFill>
              </a:rPr>
              <a:t>le taux d'actualisation utilisé par le preneur doit demeurer inchangé</a:t>
            </a:r>
            <a:r>
              <a:rPr lang="fr-CA" sz="3400" dirty="0"/>
              <a:t>, à moins que le changement dans les paiements de loyers résulte de la fluctuation d'un taux d'intérêt variable. Dans un tel cas, le preneur doit utiliser un taux d'actualisation révisé qui reflète les variations de taux d'intérêt.</a:t>
            </a:r>
          </a:p>
          <a:p>
            <a:endParaRPr lang="fr-FR" dirty="0"/>
          </a:p>
        </p:txBody>
      </p:sp>
      <p:sp>
        <p:nvSpPr>
          <p:cNvPr id="4" name="Espace réservé du pied de page 3">
            <a:extLst>
              <a:ext uri="{FF2B5EF4-FFF2-40B4-BE49-F238E27FC236}">
                <a16:creationId xmlns:a16="http://schemas.microsoft.com/office/drawing/2014/main" id="{12E60E96-771E-40CC-A2CD-F29DC82B0D2B}"/>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9EF2B826-C487-443B-B3C9-447EB045FFFA}"/>
              </a:ext>
            </a:extLst>
          </p:cNvPr>
          <p:cNvSpPr>
            <a:spLocks noGrp="1"/>
          </p:cNvSpPr>
          <p:nvPr>
            <p:ph type="sldNum" sz="quarter" idx="12"/>
          </p:nvPr>
        </p:nvSpPr>
        <p:spPr/>
        <p:txBody>
          <a:bodyPr/>
          <a:lstStyle/>
          <a:p>
            <a:fld id="{5C9924D9-E03F-489A-877F-8411DF9A3E64}" type="slidenum">
              <a:rPr lang="fr-FR" smtClean="0"/>
              <a:pPr/>
              <a:t>83</a:t>
            </a:fld>
            <a:endParaRPr lang="fr-FR"/>
          </a:p>
        </p:txBody>
      </p:sp>
    </p:spTree>
    <p:extLst>
      <p:ext uri="{BB962C8B-B14F-4D97-AF65-F5344CB8AC3E}">
        <p14:creationId xmlns:p14="http://schemas.microsoft.com/office/powerpoint/2010/main" val="414869666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63C2E2B-2F0E-43EB-B4A3-6EC31F497E6D}"/>
              </a:ext>
            </a:extLst>
          </p:cNvPr>
          <p:cNvSpPr>
            <a:spLocks noGrp="1"/>
          </p:cNvSpPr>
          <p:nvPr>
            <p:ph type="title"/>
          </p:nvPr>
        </p:nvSpPr>
        <p:spPr/>
        <p:txBody>
          <a:bodyPr/>
          <a:lstStyle/>
          <a:p>
            <a:r>
              <a:rPr lang="fr-CA" dirty="0"/>
              <a:t>Modification contrat location</a:t>
            </a:r>
            <a:endParaRPr lang="fr-FR" dirty="0"/>
          </a:p>
        </p:txBody>
      </p:sp>
      <p:sp>
        <p:nvSpPr>
          <p:cNvPr id="9" name="Espace réservé du contenu 8">
            <a:extLst>
              <a:ext uri="{FF2B5EF4-FFF2-40B4-BE49-F238E27FC236}">
                <a16:creationId xmlns:a16="http://schemas.microsoft.com/office/drawing/2014/main" id="{674AAED3-AF41-493E-A6D4-F0022CED7F3C}"/>
              </a:ext>
            </a:extLst>
          </p:cNvPr>
          <p:cNvSpPr>
            <a:spLocks noGrp="1"/>
          </p:cNvSpPr>
          <p:nvPr>
            <p:ph idx="1"/>
          </p:nvPr>
        </p:nvSpPr>
        <p:spPr>
          <a:xfrm>
            <a:off x="838200" y="1690688"/>
            <a:ext cx="10515600" cy="4665662"/>
          </a:xfrm>
        </p:spPr>
        <p:txBody>
          <a:bodyPr>
            <a:normAutofit/>
          </a:bodyPr>
          <a:lstStyle/>
          <a:p>
            <a:pPr marL="0" indent="0">
              <a:buNone/>
            </a:pPr>
            <a:r>
              <a:rPr lang="fr-CA" i="1" dirty="0"/>
              <a:t>Modifications de contrat de location</a:t>
            </a:r>
          </a:p>
          <a:p>
            <a:pPr marL="0" indent="0">
              <a:buNone/>
            </a:pPr>
            <a:r>
              <a:rPr lang="fr-CA" dirty="0"/>
              <a:t>44      Le preneur doit considérer une modification de contrat de location comme un contrat de location distinct si les deux conditions suivantes sont remplies :</a:t>
            </a:r>
          </a:p>
          <a:p>
            <a:pPr marL="0" indent="0">
              <a:buNone/>
            </a:pPr>
            <a:r>
              <a:rPr lang="fr-CA" dirty="0"/>
              <a:t>(a)     la modification élargit l'étendue du contrat de location par l'ajout d'un droit d'utiliser un ou plusieurs biens sous-jacents ;</a:t>
            </a:r>
          </a:p>
          <a:p>
            <a:pPr marL="0" indent="0">
              <a:buNone/>
            </a:pPr>
            <a:r>
              <a:rPr lang="fr-CA" dirty="0"/>
              <a:t>(b)     la contrepartie prévue au contrat de location augmente d'un montant proportionné au prix distinct du droit d'utilisation ajouté, compte tenu, le cas échéant, des ajustements appropriés apportés à ce prix pour refléter les circonstances propres au contrat.</a:t>
            </a:r>
          </a:p>
        </p:txBody>
      </p:sp>
      <p:sp>
        <p:nvSpPr>
          <p:cNvPr id="4" name="Espace réservé du pied de page 3">
            <a:extLst>
              <a:ext uri="{FF2B5EF4-FFF2-40B4-BE49-F238E27FC236}">
                <a16:creationId xmlns:a16="http://schemas.microsoft.com/office/drawing/2014/main" id="{12E60E96-771E-40CC-A2CD-F29DC82B0D2B}"/>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9EF2B826-C487-443B-B3C9-447EB045FFFA}"/>
              </a:ext>
            </a:extLst>
          </p:cNvPr>
          <p:cNvSpPr>
            <a:spLocks noGrp="1"/>
          </p:cNvSpPr>
          <p:nvPr>
            <p:ph type="sldNum" sz="quarter" idx="12"/>
          </p:nvPr>
        </p:nvSpPr>
        <p:spPr/>
        <p:txBody>
          <a:bodyPr/>
          <a:lstStyle/>
          <a:p>
            <a:fld id="{5C9924D9-E03F-489A-877F-8411DF9A3E64}" type="slidenum">
              <a:rPr lang="fr-FR" smtClean="0"/>
              <a:pPr/>
              <a:t>84</a:t>
            </a:fld>
            <a:endParaRPr lang="fr-FR"/>
          </a:p>
        </p:txBody>
      </p:sp>
    </p:spTree>
    <p:extLst>
      <p:ext uri="{BB962C8B-B14F-4D97-AF65-F5344CB8AC3E}">
        <p14:creationId xmlns:p14="http://schemas.microsoft.com/office/powerpoint/2010/main" val="153783130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63C2E2B-2F0E-43EB-B4A3-6EC31F497E6D}"/>
              </a:ext>
            </a:extLst>
          </p:cNvPr>
          <p:cNvSpPr>
            <a:spLocks noGrp="1"/>
          </p:cNvSpPr>
          <p:nvPr>
            <p:ph type="title"/>
          </p:nvPr>
        </p:nvSpPr>
        <p:spPr/>
        <p:txBody>
          <a:bodyPr/>
          <a:lstStyle/>
          <a:p>
            <a:r>
              <a:rPr lang="fr-CA" dirty="0"/>
              <a:t>Modification contrat location</a:t>
            </a:r>
            <a:endParaRPr lang="fr-FR" dirty="0"/>
          </a:p>
        </p:txBody>
      </p:sp>
      <p:sp>
        <p:nvSpPr>
          <p:cNvPr id="9" name="Espace réservé du contenu 8">
            <a:extLst>
              <a:ext uri="{FF2B5EF4-FFF2-40B4-BE49-F238E27FC236}">
                <a16:creationId xmlns:a16="http://schemas.microsoft.com/office/drawing/2014/main" id="{674AAED3-AF41-493E-A6D4-F0022CED7F3C}"/>
              </a:ext>
            </a:extLst>
          </p:cNvPr>
          <p:cNvSpPr>
            <a:spLocks noGrp="1"/>
          </p:cNvSpPr>
          <p:nvPr>
            <p:ph idx="1"/>
          </p:nvPr>
        </p:nvSpPr>
        <p:spPr>
          <a:xfrm>
            <a:off x="838200" y="1531917"/>
            <a:ext cx="10515600" cy="4824433"/>
          </a:xfrm>
        </p:spPr>
        <p:txBody>
          <a:bodyPr>
            <a:normAutofit fontScale="92500"/>
          </a:bodyPr>
          <a:lstStyle/>
          <a:p>
            <a:pPr marL="0" indent="0">
              <a:buNone/>
            </a:pPr>
            <a:r>
              <a:rPr lang="fr-CA" sz="2000" dirty="0"/>
              <a:t>45      Dans le cas où la modification de </a:t>
            </a:r>
            <a:r>
              <a:rPr lang="fr-CA" sz="2000" dirty="0">
                <a:solidFill>
                  <a:srgbClr val="0070C0"/>
                </a:solidFill>
              </a:rPr>
              <a:t>contrat de location n'est pas traitée comme un contrat de location distinct</a:t>
            </a:r>
            <a:r>
              <a:rPr lang="fr-CA" sz="2000" dirty="0"/>
              <a:t>, le preneur doit, à la </a:t>
            </a:r>
            <a:r>
              <a:rPr lang="fr-CA" sz="2000" i="1" dirty="0"/>
              <a:t>date d'entrée en vigueur de la modification</a:t>
            </a:r>
            <a:r>
              <a:rPr lang="fr-CA" sz="2000" dirty="0"/>
              <a:t>, faire ce qui suit :</a:t>
            </a:r>
          </a:p>
          <a:p>
            <a:pPr marL="0" indent="0">
              <a:buNone/>
            </a:pPr>
            <a:r>
              <a:rPr lang="fr-CA" sz="2000" dirty="0"/>
              <a:t>(a)     répartir la contrepartie prévue au contrat modifié en appliquant les paragraphes </a:t>
            </a:r>
            <a:r>
              <a:rPr lang="fr-CA" sz="2000" dirty="0">
                <a:hlinkClick r:id="rId2"/>
              </a:rPr>
              <a:t>13</a:t>
            </a:r>
            <a:r>
              <a:rPr lang="fr-CA" sz="2000" dirty="0"/>
              <a:t> à 16 ;</a:t>
            </a:r>
          </a:p>
          <a:p>
            <a:pPr marL="0" indent="0">
              <a:buNone/>
            </a:pPr>
            <a:r>
              <a:rPr lang="fr-CA" sz="2000" dirty="0"/>
              <a:t>(b)     déterminer la durée du contrat de location modifié en appliquant les paragraphes </a:t>
            </a:r>
            <a:r>
              <a:rPr lang="fr-CA" sz="2000" dirty="0">
                <a:hlinkClick r:id="rId2"/>
              </a:rPr>
              <a:t>18</a:t>
            </a:r>
            <a:r>
              <a:rPr lang="fr-CA" sz="2000" dirty="0"/>
              <a:t> et 19 ;</a:t>
            </a:r>
          </a:p>
          <a:p>
            <a:pPr marL="0" indent="0">
              <a:buNone/>
            </a:pPr>
            <a:r>
              <a:rPr lang="fr-CA" sz="2000" dirty="0"/>
              <a:t>(c)     réévaluer l'obligation locative en actualisant les paiements de loyers révisés au moyen d'un taux d'actualisation révisé. Le preneur doit utiliser comme taux d'actualisation révisé le taux d'intérêt implicite du contrat de location pour la durée restante s'il est possible de déterminer facilement ce taux, sinon le preneur doit utiliser son taux d'emprunt marginal à la date d'entrée en vigueur de la modification.</a:t>
            </a:r>
          </a:p>
          <a:p>
            <a:pPr marL="0" indent="0">
              <a:buNone/>
            </a:pPr>
            <a:r>
              <a:rPr lang="fr-CA" sz="2000" dirty="0"/>
              <a:t>46      Dans le cas où la modification de </a:t>
            </a:r>
            <a:r>
              <a:rPr lang="fr-CA" sz="2000" dirty="0">
                <a:solidFill>
                  <a:srgbClr val="0070C0"/>
                </a:solidFill>
              </a:rPr>
              <a:t>contrat de location n'est pas traitée comme un contrat de location distinct</a:t>
            </a:r>
            <a:r>
              <a:rPr lang="fr-CA" sz="2000" dirty="0"/>
              <a:t>, le preneur doit refléter la réévaluation de l'obligation locative en faisant ce qui suit :</a:t>
            </a:r>
          </a:p>
          <a:p>
            <a:pPr marL="0" indent="0">
              <a:buNone/>
            </a:pPr>
            <a:r>
              <a:rPr lang="fr-CA" sz="2000" dirty="0"/>
              <a:t>(a)     pour une modification qui diminue l'étendue du contrat de location, réduire la valeur comptable de l'actif au titre du droit d'utilisation pour refléter la résiliation partielle ou totale du contrat de location, et comptabiliser en résultat net tout profit ou perte se rattachant à cette résiliation ;</a:t>
            </a:r>
          </a:p>
          <a:p>
            <a:pPr marL="0" indent="0">
              <a:buNone/>
            </a:pPr>
            <a:r>
              <a:rPr lang="fr-CA" sz="2000" dirty="0"/>
              <a:t>(b)     pour toute autre modification de contrat de location, apporter à l'actif au titre du droit d'utilisation un ajustement correspondant.</a:t>
            </a:r>
          </a:p>
        </p:txBody>
      </p:sp>
      <p:sp>
        <p:nvSpPr>
          <p:cNvPr id="4" name="Espace réservé du pied de page 3">
            <a:extLst>
              <a:ext uri="{FF2B5EF4-FFF2-40B4-BE49-F238E27FC236}">
                <a16:creationId xmlns:a16="http://schemas.microsoft.com/office/drawing/2014/main" id="{12E60E96-771E-40CC-A2CD-F29DC82B0D2B}"/>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9EF2B826-C487-443B-B3C9-447EB045FFFA}"/>
              </a:ext>
            </a:extLst>
          </p:cNvPr>
          <p:cNvSpPr>
            <a:spLocks noGrp="1"/>
          </p:cNvSpPr>
          <p:nvPr>
            <p:ph type="sldNum" sz="quarter" idx="12"/>
          </p:nvPr>
        </p:nvSpPr>
        <p:spPr/>
        <p:txBody>
          <a:bodyPr/>
          <a:lstStyle/>
          <a:p>
            <a:fld id="{5C9924D9-E03F-489A-877F-8411DF9A3E64}" type="slidenum">
              <a:rPr lang="fr-FR" smtClean="0"/>
              <a:pPr/>
              <a:t>85</a:t>
            </a:fld>
            <a:endParaRPr lang="fr-FR"/>
          </a:p>
        </p:txBody>
      </p:sp>
    </p:spTree>
    <p:extLst>
      <p:ext uri="{BB962C8B-B14F-4D97-AF65-F5344CB8AC3E}">
        <p14:creationId xmlns:p14="http://schemas.microsoft.com/office/powerpoint/2010/main" val="165262411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1122362"/>
            <a:ext cx="9144000" cy="2590993"/>
          </a:xfrm>
        </p:spPr>
        <p:txBody>
          <a:bodyPr>
            <a:normAutofit/>
          </a:bodyPr>
          <a:lstStyle/>
          <a:p>
            <a:r>
              <a:rPr lang="fr-FR" altLang="fr-FR" sz="4900" b="1" dirty="0"/>
              <a:t>BAILLEUR</a:t>
            </a:r>
            <a:endParaRPr lang="fr-FR" altLang="fr-FR" sz="2600" dirty="0"/>
          </a:p>
        </p:txBody>
      </p:sp>
      <p:sp>
        <p:nvSpPr>
          <p:cNvPr id="3" name="Sous-titre 2"/>
          <p:cNvSpPr>
            <a:spLocks noGrp="1"/>
          </p:cNvSpPr>
          <p:nvPr>
            <p:ph type="subTitle" idx="1"/>
          </p:nvPr>
        </p:nvSpPr>
        <p:spPr>
          <a:xfrm>
            <a:off x="2895600" y="4367213"/>
            <a:ext cx="6400800" cy="1752600"/>
          </a:xfrm>
        </p:spPr>
        <p:txBody>
          <a:bodyPr>
            <a:normAutofit/>
          </a:bodyPr>
          <a:lstStyle/>
          <a:p>
            <a:pPr>
              <a:lnSpc>
                <a:spcPct val="80000"/>
              </a:lnSpc>
            </a:pPr>
            <a:endParaRPr lang="fr-FR" altLang="fr-FR" sz="3000" dirty="0">
              <a:solidFill>
                <a:srgbClr val="898989"/>
              </a:solidFill>
            </a:endParaRPr>
          </a:p>
          <a:p>
            <a:pPr>
              <a:lnSpc>
                <a:spcPct val="80000"/>
              </a:lnSpc>
            </a:pPr>
            <a:endParaRPr lang="fr-FR" altLang="fr-FR" sz="3000" dirty="0">
              <a:solidFill>
                <a:srgbClr val="898989"/>
              </a:solidFill>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sz="3600" dirty="0"/>
              <a:t>Bailleur</a:t>
            </a:r>
            <a:endParaRPr lang="fr-CA" dirty="0"/>
          </a:p>
        </p:txBody>
      </p:sp>
      <p:sp>
        <p:nvSpPr>
          <p:cNvPr id="3" name="Espace réservé du contenu 2"/>
          <p:cNvSpPr>
            <a:spLocks noGrp="1"/>
          </p:cNvSpPr>
          <p:nvPr>
            <p:ph idx="1"/>
          </p:nvPr>
        </p:nvSpPr>
        <p:spPr/>
        <p:txBody>
          <a:bodyPr/>
          <a:lstStyle/>
          <a:p>
            <a:r>
              <a:rPr lang="fr-CA" dirty="0"/>
              <a:t>Est le détenteur légal du bien, qu’il loue à un preneur</a:t>
            </a:r>
          </a:p>
          <a:p>
            <a:pPr lvl="1"/>
            <a:r>
              <a:rPr lang="fr-CA" dirty="0"/>
              <a:t>Mais traitement comptable fonction de la substance de la transaction plutôt qu’en fonction de la forme juridique</a:t>
            </a:r>
          </a:p>
          <a:p>
            <a:endParaRPr lang="fr-CA" dirty="0"/>
          </a:p>
          <a:p>
            <a:r>
              <a:rPr lang="fr-CA" dirty="0"/>
              <a:t>Traitement comptable diffère du preneur</a:t>
            </a:r>
          </a:p>
          <a:p>
            <a:pPr marL="457200" lvl="1" indent="0">
              <a:buNone/>
            </a:pPr>
            <a:endParaRPr lang="fr-CA" dirty="0"/>
          </a:p>
        </p:txBody>
      </p:sp>
      <p:sp>
        <p:nvSpPr>
          <p:cNvPr id="4" name="Espace réservé du numéro de diapositive 3"/>
          <p:cNvSpPr>
            <a:spLocks noGrp="1"/>
          </p:cNvSpPr>
          <p:nvPr>
            <p:ph type="sldNum" sz="quarter" idx="12"/>
          </p:nvPr>
        </p:nvSpPr>
        <p:spPr/>
        <p:txBody>
          <a:bodyPr/>
          <a:lstStyle/>
          <a:p>
            <a:fld id="{5DC53271-AB06-4788-AC3D-33D4BA937B45}" type="slidenum">
              <a:rPr lang="fr-FR" altLang="fr-FR" smtClean="0"/>
              <a:pPr/>
              <a:t>87</a:t>
            </a:fld>
            <a:endParaRPr lang="fr-FR" altLang="fr-FR"/>
          </a:p>
        </p:txBody>
      </p:sp>
      <p:sp>
        <p:nvSpPr>
          <p:cNvPr id="5" name="Espace réservé du pied de page 4">
            <a:extLst>
              <a:ext uri="{FF2B5EF4-FFF2-40B4-BE49-F238E27FC236}">
                <a16:creationId xmlns:a16="http://schemas.microsoft.com/office/drawing/2014/main" id="{CE7D45A4-B36F-481E-BC99-7E6FD2440CA6}"/>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31864230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69795" y="274638"/>
            <a:ext cx="10484005" cy="660400"/>
          </a:xfrm>
        </p:spPr>
        <p:txBody>
          <a:bodyPr rtlCol="0">
            <a:normAutofit/>
          </a:bodyPr>
          <a:lstStyle/>
          <a:p>
            <a:pPr>
              <a:defRPr/>
            </a:pPr>
            <a:r>
              <a:rPr lang="fr-CA" sz="4000" b="1" dirty="0"/>
              <a:t>IFRS 16 - Bailleur</a:t>
            </a:r>
            <a:endParaRPr lang="fr-CA" b="1" dirty="0">
              <a:ea typeface="+mj-ea"/>
            </a:endParaRPr>
          </a:p>
        </p:txBody>
      </p:sp>
      <p:sp>
        <p:nvSpPr>
          <p:cNvPr id="3" name="Espace réservé du contenu 2"/>
          <p:cNvSpPr>
            <a:spLocks noGrp="1"/>
          </p:cNvSpPr>
          <p:nvPr>
            <p:ph idx="1"/>
          </p:nvPr>
        </p:nvSpPr>
        <p:spPr>
          <a:xfrm>
            <a:off x="869795" y="1362076"/>
            <a:ext cx="10484005" cy="4684713"/>
          </a:xfrm>
        </p:spPr>
        <p:txBody>
          <a:bodyPr>
            <a:normAutofit/>
          </a:bodyPr>
          <a:lstStyle/>
          <a:p>
            <a:pPr marL="0" indent="0">
              <a:buNone/>
            </a:pPr>
            <a:r>
              <a:rPr lang="fr-CA" altLang="fr-FR" dirty="0"/>
              <a:t>Le bailleur doit classer chacun de ses contrats de location soit :</a:t>
            </a:r>
          </a:p>
          <a:p>
            <a:pPr marL="0" indent="0">
              <a:buNone/>
            </a:pPr>
            <a:endParaRPr lang="fr-CA" altLang="fr-FR" dirty="0"/>
          </a:p>
          <a:p>
            <a:pPr marL="182563" indent="-182563"/>
            <a:r>
              <a:rPr lang="fr-CA" altLang="fr-FR" b="1" dirty="0">
                <a:solidFill>
                  <a:srgbClr val="0070C0"/>
                </a:solidFill>
              </a:rPr>
              <a:t>Contrat de location-financement</a:t>
            </a:r>
            <a:r>
              <a:rPr lang="fr-CA" altLang="fr-FR" dirty="0"/>
              <a:t> : s'il transfère au preneur la quasi-totalité des risques et des avantages inhérents à la propriété du bien sous-jacent</a:t>
            </a:r>
          </a:p>
          <a:p>
            <a:pPr marL="582613" lvl="1" indent="-182563"/>
            <a:r>
              <a:rPr lang="fr-CA" altLang="fr-FR" i="1" dirty="0" err="1"/>
              <a:t>Décomptabilise</a:t>
            </a:r>
            <a:r>
              <a:rPr lang="fr-CA" altLang="fr-FR" i="1" dirty="0"/>
              <a:t> l’immobilisation et comptabilise une créance à recevoir</a:t>
            </a:r>
            <a:endParaRPr lang="fr-CA" altLang="fr-FR" dirty="0"/>
          </a:p>
          <a:p>
            <a:pPr marL="182563" indent="-182563"/>
            <a:endParaRPr lang="fr-CA" altLang="fr-FR" sz="1600" dirty="0"/>
          </a:p>
          <a:p>
            <a:r>
              <a:rPr lang="fr-CA" altLang="fr-FR" b="1" dirty="0">
                <a:solidFill>
                  <a:srgbClr val="0070C0"/>
                </a:solidFill>
              </a:rPr>
              <a:t>Contrat de location simple</a:t>
            </a:r>
            <a:r>
              <a:rPr lang="fr-CA" altLang="fr-FR" dirty="0"/>
              <a:t> : s'il ne transfère pas au preneur la quasi-totalité des risques et des avantages inhérents à la propriété du bien sous-jacent.</a:t>
            </a:r>
          </a:p>
          <a:p>
            <a:pPr marL="582613" lvl="1" indent="-182563"/>
            <a:r>
              <a:rPr lang="fr-CA" altLang="fr-FR" i="1" dirty="0"/>
              <a:t>Ne </a:t>
            </a:r>
            <a:r>
              <a:rPr lang="fr-CA" altLang="fr-FR" i="1" dirty="0" err="1"/>
              <a:t>décomptabilise</a:t>
            </a:r>
            <a:r>
              <a:rPr lang="fr-CA" altLang="fr-FR" i="1" dirty="0"/>
              <a:t> pas l’immobilisation</a:t>
            </a:r>
          </a:p>
          <a:p>
            <a:pPr marL="0" indent="0">
              <a:buNone/>
            </a:pPr>
            <a:endParaRPr lang="fr-CA" altLang="fr-FR" sz="5600" dirty="0"/>
          </a:p>
          <a:p>
            <a:pPr marL="0" indent="0"/>
            <a:endParaRPr lang="fr-CA" altLang="fr-FR" sz="5600" b="1" dirty="0"/>
          </a:p>
          <a:p>
            <a:pPr marL="0" indent="0"/>
            <a:endParaRPr lang="fr-CA" altLang="fr-FR" dirty="0"/>
          </a:p>
          <a:p>
            <a:pPr marL="0" indent="0">
              <a:buNone/>
            </a:pPr>
            <a:endParaRPr lang="fr-CA" altLang="fr-FR" dirty="0"/>
          </a:p>
        </p:txBody>
      </p:sp>
      <p:sp>
        <p:nvSpPr>
          <p:cNvPr id="4" name="Espace réservé du numéro de diapositive 3"/>
          <p:cNvSpPr>
            <a:spLocks noGrp="1"/>
          </p:cNvSpPr>
          <p:nvPr>
            <p:ph type="sldNum" sz="quarter" idx="12"/>
          </p:nvPr>
        </p:nvSpPr>
        <p:spPr/>
        <p:txBody>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fld id="{95B9B4D2-B8D5-400C-879A-CB9C6546CE34}" type="slidenum">
              <a:rPr lang="fr-FR" altLang="fr-FR">
                <a:solidFill>
                  <a:srgbClr val="898989"/>
                </a:solidFill>
              </a:rPr>
              <a:pPr/>
              <a:t>88</a:t>
            </a:fld>
            <a:endParaRPr lang="fr-FR" altLang="fr-FR">
              <a:solidFill>
                <a:srgbClr val="898989"/>
              </a:solidFill>
            </a:endParaRPr>
          </a:p>
        </p:txBody>
      </p:sp>
      <p:sp>
        <p:nvSpPr>
          <p:cNvPr id="5" name="Espace réservé du pied de page 4">
            <a:extLst>
              <a:ext uri="{FF2B5EF4-FFF2-40B4-BE49-F238E27FC236}">
                <a16:creationId xmlns:a16="http://schemas.microsoft.com/office/drawing/2014/main" id="{D68E1640-8B6A-4D9C-827B-B0B220C14B19}"/>
              </a:ext>
            </a:extLst>
          </p:cNvPr>
          <p:cNvSpPr>
            <a:spLocks noGrp="1"/>
          </p:cNvSpPr>
          <p:nvPr>
            <p:ph type="ftr" sz="quarter" idx="11"/>
          </p:nvPr>
        </p:nvSpPr>
        <p:spPr/>
        <p:txBody>
          <a:bodyPr/>
          <a:lstStyle/>
          <a:p>
            <a:r>
              <a:rPr lang="fr-FR"/>
              <a:t>Droits réservés - Louise Overbeek</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80946" y="274638"/>
            <a:ext cx="10472854" cy="660400"/>
          </a:xfrm>
        </p:spPr>
        <p:txBody>
          <a:bodyPr>
            <a:normAutofit/>
          </a:bodyPr>
          <a:lstStyle/>
          <a:p>
            <a:r>
              <a:rPr lang="fr-CA" altLang="fr-FR" sz="3200"/>
              <a:t>Baille</a:t>
            </a:r>
            <a:r>
              <a:rPr lang="fr-CA" altLang="fr-FR" sz="3600"/>
              <a:t>ur </a:t>
            </a:r>
            <a:r>
              <a:rPr lang="mr-IN" altLang="fr-FR" sz="3600">
                <a:latin typeface="Mangal" charset="0"/>
              </a:rPr>
              <a:t>–</a:t>
            </a:r>
            <a:r>
              <a:rPr lang="fr-CA" altLang="fr-FR" sz="3600"/>
              <a:t> transfert des risques et avantages</a:t>
            </a:r>
            <a:endParaRPr lang="fr-CA" altLang="fr-FR" sz="4000"/>
          </a:p>
        </p:txBody>
      </p:sp>
      <p:sp>
        <p:nvSpPr>
          <p:cNvPr id="3" name="Espace réservé du contenu 2"/>
          <p:cNvSpPr>
            <a:spLocks noGrp="1"/>
          </p:cNvSpPr>
          <p:nvPr>
            <p:ph idx="1"/>
          </p:nvPr>
        </p:nvSpPr>
        <p:spPr>
          <a:xfrm>
            <a:off x="880946" y="1104405"/>
            <a:ext cx="10472854" cy="5364660"/>
          </a:xfrm>
        </p:spPr>
        <p:txBody>
          <a:bodyPr>
            <a:normAutofit fontScale="92500" lnSpcReduction="20000"/>
          </a:bodyPr>
          <a:lstStyle/>
          <a:p>
            <a:pPr marL="0" indent="0">
              <a:lnSpc>
                <a:spcPct val="80000"/>
              </a:lnSpc>
              <a:buNone/>
            </a:pPr>
            <a:r>
              <a:rPr lang="fr-CA" altLang="fr-FR" sz="2600" dirty="0"/>
              <a:t>Critères : </a:t>
            </a:r>
          </a:p>
          <a:p>
            <a:pPr>
              <a:lnSpc>
                <a:spcPct val="80000"/>
              </a:lnSpc>
            </a:pPr>
            <a:r>
              <a:rPr lang="fr-CA" altLang="fr-FR" sz="2600" dirty="0"/>
              <a:t>Au terme du contrat de location, </a:t>
            </a:r>
            <a:r>
              <a:rPr lang="fr-CA" altLang="fr-FR" sz="2600" dirty="0">
                <a:solidFill>
                  <a:srgbClr val="0070C0"/>
                </a:solidFill>
              </a:rPr>
              <a:t>transfert</a:t>
            </a:r>
            <a:r>
              <a:rPr lang="fr-CA" altLang="fr-FR" sz="2600" dirty="0"/>
              <a:t> au preneur de la </a:t>
            </a:r>
            <a:r>
              <a:rPr lang="fr-CA" altLang="fr-FR" sz="2600" dirty="0">
                <a:solidFill>
                  <a:srgbClr val="0070C0"/>
                </a:solidFill>
              </a:rPr>
              <a:t>propriété</a:t>
            </a:r>
            <a:r>
              <a:rPr lang="fr-CA" altLang="fr-FR" sz="2600" dirty="0"/>
              <a:t> du bien sous-jacent </a:t>
            </a:r>
          </a:p>
          <a:p>
            <a:pPr>
              <a:lnSpc>
                <a:spcPct val="80000"/>
              </a:lnSpc>
            </a:pPr>
            <a:endParaRPr lang="fr-CA" altLang="fr-FR" sz="1200" dirty="0"/>
          </a:p>
          <a:p>
            <a:pPr>
              <a:lnSpc>
                <a:spcPct val="80000"/>
              </a:lnSpc>
            </a:pPr>
            <a:r>
              <a:rPr lang="fr-CA" altLang="fr-FR" sz="2600" dirty="0"/>
              <a:t>le preneur a l'</a:t>
            </a:r>
            <a:r>
              <a:rPr lang="fr-CA" altLang="fr-FR" sz="2600" dirty="0">
                <a:solidFill>
                  <a:srgbClr val="0070C0"/>
                </a:solidFill>
              </a:rPr>
              <a:t>option d'acheter le bien sous-jacent à un prix suffisamment inférieur à sa </a:t>
            </a:r>
            <a:r>
              <a:rPr lang="fr-CA" altLang="fr-FR" sz="2600" i="1" dirty="0">
                <a:solidFill>
                  <a:srgbClr val="0070C0"/>
                </a:solidFill>
              </a:rPr>
              <a:t>juste valeur</a:t>
            </a:r>
          </a:p>
          <a:p>
            <a:pPr>
              <a:lnSpc>
                <a:spcPct val="80000"/>
              </a:lnSpc>
            </a:pPr>
            <a:endParaRPr lang="fr-CA" altLang="fr-FR" sz="1200" dirty="0"/>
          </a:p>
          <a:p>
            <a:pPr>
              <a:lnSpc>
                <a:spcPct val="80000"/>
              </a:lnSpc>
            </a:pPr>
            <a:r>
              <a:rPr lang="fr-CA" altLang="fr-FR" sz="2600" dirty="0"/>
              <a:t>la </a:t>
            </a:r>
            <a:r>
              <a:rPr lang="fr-CA" altLang="fr-FR" sz="2600" dirty="0">
                <a:solidFill>
                  <a:srgbClr val="0070C0"/>
                </a:solidFill>
              </a:rPr>
              <a:t>durée</a:t>
            </a:r>
            <a:r>
              <a:rPr lang="fr-CA" altLang="fr-FR" sz="2600" dirty="0"/>
              <a:t> du contrat de location couvre la </a:t>
            </a:r>
            <a:r>
              <a:rPr lang="fr-CA" altLang="fr-FR" sz="2600" dirty="0">
                <a:solidFill>
                  <a:srgbClr val="0070C0"/>
                </a:solidFill>
              </a:rPr>
              <a:t>majeure partie</a:t>
            </a:r>
            <a:r>
              <a:rPr lang="fr-CA" altLang="fr-FR" sz="2600" dirty="0"/>
              <a:t> de la </a:t>
            </a:r>
            <a:r>
              <a:rPr lang="fr-CA" altLang="fr-FR" sz="2600" i="1" dirty="0"/>
              <a:t>durée de vie économique</a:t>
            </a:r>
            <a:r>
              <a:rPr lang="fr-CA" altLang="fr-FR" sz="2600" dirty="0"/>
              <a:t> du bien sous-jacent, même s'il n'y a pas de transfert de propriété </a:t>
            </a:r>
          </a:p>
          <a:p>
            <a:pPr lvl="1">
              <a:lnSpc>
                <a:spcPct val="80000"/>
              </a:lnSpc>
            </a:pPr>
            <a:r>
              <a:rPr lang="fr-CA" altLang="fr-FR" sz="2200" dirty="0"/>
              <a:t>« 75 % »</a:t>
            </a:r>
          </a:p>
          <a:p>
            <a:pPr lvl="1">
              <a:lnSpc>
                <a:spcPct val="80000"/>
              </a:lnSpc>
            </a:pPr>
            <a:endParaRPr lang="fr-CA" altLang="fr-FR" sz="1200" dirty="0"/>
          </a:p>
          <a:p>
            <a:pPr>
              <a:lnSpc>
                <a:spcPct val="80000"/>
              </a:lnSpc>
            </a:pPr>
            <a:r>
              <a:rPr lang="fr-CA" altLang="fr-FR" sz="2600" dirty="0"/>
              <a:t>la </a:t>
            </a:r>
            <a:r>
              <a:rPr lang="fr-CA" altLang="fr-FR" sz="2600" dirty="0">
                <a:solidFill>
                  <a:srgbClr val="0070C0"/>
                </a:solidFill>
              </a:rPr>
              <a:t>valeur actualisée des paiements de loyer</a:t>
            </a:r>
            <a:r>
              <a:rPr lang="fr-CA" altLang="fr-FR" sz="2600" dirty="0"/>
              <a:t>s s'élève au moins à la </a:t>
            </a:r>
            <a:r>
              <a:rPr lang="fr-CA" altLang="fr-FR" sz="2600" dirty="0">
                <a:solidFill>
                  <a:srgbClr val="0070C0"/>
                </a:solidFill>
              </a:rPr>
              <a:t>quasi-totalité</a:t>
            </a:r>
            <a:r>
              <a:rPr lang="fr-CA" altLang="fr-FR" sz="2600" dirty="0"/>
              <a:t> de la juste valeur du bien sous-jacent </a:t>
            </a:r>
          </a:p>
          <a:p>
            <a:pPr lvl="1">
              <a:lnSpc>
                <a:spcPct val="80000"/>
              </a:lnSpc>
            </a:pPr>
            <a:r>
              <a:rPr lang="fr-CA" altLang="fr-FR" sz="2200" dirty="0"/>
              <a:t>« 90 % »</a:t>
            </a:r>
          </a:p>
          <a:p>
            <a:pPr lvl="1">
              <a:lnSpc>
                <a:spcPct val="80000"/>
              </a:lnSpc>
            </a:pPr>
            <a:endParaRPr lang="fr-CA" altLang="fr-FR" sz="1200" dirty="0"/>
          </a:p>
          <a:p>
            <a:pPr>
              <a:lnSpc>
                <a:spcPct val="80000"/>
              </a:lnSpc>
            </a:pPr>
            <a:r>
              <a:rPr lang="fr-CA" altLang="fr-FR" sz="2600" dirty="0"/>
              <a:t>le bien sous-jacent est d'une </a:t>
            </a:r>
            <a:r>
              <a:rPr lang="fr-CA" altLang="fr-FR" sz="2600" dirty="0">
                <a:solidFill>
                  <a:srgbClr val="0070C0"/>
                </a:solidFill>
              </a:rPr>
              <a:t>nature tellement spécifique</a:t>
            </a:r>
            <a:r>
              <a:rPr lang="fr-CA" altLang="fr-FR" sz="2600" dirty="0"/>
              <a:t> que seul le preneur peut l'utiliser sans lui apporter de modifications majeures.</a:t>
            </a:r>
          </a:p>
          <a:p>
            <a:pPr>
              <a:lnSpc>
                <a:spcPct val="80000"/>
              </a:lnSpc>
            </a:pPr>
            <a:endParaRPr lang="fr-CA" altLang="fr-FR" sz="2600" dirty="0"/>
          </a:p>
          <a:p>
            <a:pPr marL="0" indent="0">
              <a:lnSpc>
                <a:spcPct val="80000"/>
              </a:lnSpc>
              <a:buNone/>
            </a:pPr>
            <a:r>
              <a:rPr lang="fr-CA" altLang="fr-FR" sz="2600" dirty="0"/>
              <a:t>ET… </a:t>
            </a:r>
            <a:r>
              <a:rPr lang="fr-CA" altLang="fr-FR" sz="2600" i="1" dirty="0"/>
              <a:t>page suivante</a:t>
            </a:r>
            <a:endParaRPr lang="fr-CA" altLang="fr-FR" sz="2200" dirty="0"/>
          </a:p>
          <a:p>
            <a:pPr>
              <a:lnSpc>
                <a:spcPct val="80000"/>
              </a:lnSpc>
              <a:buFont typeface="Arial" panose="020B0604020202020204" pitchFamily="34" charset="0"/>
              <a:buNone/>
            </a:pPr>
            <a:endParaRPr lang="fr-CA" altLang="fr-FR" sz="2000" dirty="0"/>
          </a:p>
          <a:p>
            <a:pPr>
              <a:lnSpc>
                <a:spcPct val="80000"/>
              </a:lnSpc>
            </a:pPr>
            <a:endParaRPr lang="fr-CA" altLang="fr-FR" sz="1400" dirty="0"/>
          </a:p>
          <a:p>
            <a:pPr>
              <a:lnSpc>
                <a:spcPct val="80000"/>
              </a:lnSpc>
            </a:pPr>
            <a:endParaRPr lang="fr-CA" altLang="fr-FR" sz="1400" b="1" dirty="0"/>
          </a:p>
          <a:p>
            <a:pPr>
              <a:lnSpc>
                <a:spcPct val="80000"/>
              </a:lnSpc>
            </a:pPr>
            <a:endParaRPr lang="fr-CA" altLang="fr-FR" sz="800" dirty="0"/>
          </a:p>
          <a:p>
            <a:pPr>
              <a:lnSpc>
                <a:spcPct val="80000"/>
              </a:lnSpc>
              <a:buFont typeface="Arial" panose="020B0604020202020204" pitchFamily="34" charset="0"/>
              <a:buNone/>
            </a:pPr>
            <a:endParaRPr lang="fr-CA" altLang="fr-FR" sz="800" dirty="0"/>
          </a:p>
        </p:txBody>
      </p:sp>
      <p:sp>
        <p:nvSpPr>
          <p:cNvPr id="4" name="Espace réservé du numéro de diapositive 3"/>
          <p:cNvSpPr>
            <a:spLocks noGrp="1"/>
          </p:cNvSpPr>
          <p:nvPr>
            <p:ph type="sldNum" sz="quarter" idx="12"/>
          </p:nvPr>
        </p:nvSpPr>
        <p:spPr/>
        <p:txBody>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fld id="{0343D8B2-6911-4B22-B4B8-EF71479D146B}" type="slidenum">
              <a:rPr lang="fr-FR" altLang="fr-FR">
                <a:solidFill>
                  <a:srgbClr val="898989"/>
                </a:solidFill>
              </a:rPr>
              <a:pPr/>
              <a:t>89</a:t>
            </a:fld>
            <a:endParaRPr lang="fr-FR" altLang="fr-FR">
              <a:solidFill>
                <a:srgbClr val="898989"/>
              </a:solidFill>
            </a:endParaRPr>
          </a:p>
        </p:txBody>
      </p:sp>
      <p:sp>
        <p:nvSpPr>
          <p:cNvPr id="5" name="Espace réservé du pied de page 4">
            <a:extLst>
              <a:ext uri="{FF2B5EF4-FFF2-40B4-BE49-F238E27FC236}">
                <a16:creationId xmlns:a16="http://schemas.microsoft.com/office/drawing/2014/main" id="{F17C8898-1802-4C19-884E-DDE54177FA2D}"/>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395945397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903249" y="274638"/>
            <a:ext cx="10450551" cy="660400"/>
          </a:xfrm>
        </p:spPr>
        <p:txBody>
          <a:bodyPr>
            <a:normAutofit/>
          </a:bodyPr>
          <a:lstStyle/>
          <a:p>
            <a:r>
              <a:rPr lang="fr-CA" altLang="fr-FR" sz="3200" dirty="0"/>
              <a:t>Baille</a:t>
            </a:r>
            <a:r>
              <a:rPr lang="fr-CA" altLang="fr-FR" sz="3600" dirty="0"/>
              <a:t>ur </a:t>
            </a:r>
            <a:r>
              <a:rPr lang="mr-IN" altLang="fr-FR" sz="3600" dirty="0">
                <a:latin typeface="Mangal" charset="0"/>
              </a:rPr>
              <a:t>–</a:t>
            </a:r>
            <a:r>
              <a:rPr lang="fr-CA" altLang="fr-FR" sz="3600" dirty="0"/>
              <a:t> transfert des risques et avantages</a:t>
            </a:r>
            <a:endParaRPr lang="fr-CA" altLang="fr-FR" sz="4000" dirty="0"/>
          </a:p>
        </p:txBody>
      </p:sp>
      <p:sp>
        <p:nvSpPr>
          <p:cNvPr id="3" name="Espace réservé du contenu 2"/>
          <p:cNvSpPr>
            <a:spLocks noGrp="1"/>
          </p:cNvSpPr>
          <p:nvPr>
            <p:ph idx="1"/>
          </p:nvPr>
        </p:nvSpPr>
        <p:spPr>
          <a:xfrm>
            <a:off x="838200" y="1600201"/>
            <a:ext cx="10515600" cy="4868863"/>
          </a:xfrm>
        </p:spPr>
        <p:txBody>
          <a:bodyPr>
            <a:normAutofit/>
          </a:bodyPr>
          <a:lstStyle/>
          <a:p>
            <a:pPr marL="0" indent="0">
              <a:lnSpc>
                <a:spcPct val="80000"/>
              </a:lnSpc>
              <a:buNone/>
            </a:pPr>
            <a:r>
              <a:rPr lang="fr-CA" altLang="fr-FR" dirty="0"/>
              <a:t>ET…</a:t>
            </a:r>
          </a:p>
          <a:p>
            <a:pPr>
              <a:lnSpc>
                <a:spcPct val="80000"/>
              </a:lnSpc>
              <a:buFont typeface="Arial" panose="020B0604020202020204" pitchFamily="34" charset="0"/>
              <a:buNone/>
            </a:pPr>
            <a:endParaRPr lang="fr-CA" altLang="fr-FR" dirty="0"/>
          </a:p>
          <a:p>
            <a:pPr>
              <a:lnSpc>
                <a:spcPct val="80000"/>
              </a:lnSpc>
            </a:pPr>
            <a:r>
              <a:rPr lang="fr-CA" altLang="fr-FR" sz="2400" dirty="0"/>
              <a:t>si le preneur peut résilier le contrat de location, les pertes que le bailleur subit relativement à la résiliation sont à la charge du preneur</a:t>
            </a:r>
            <a:r>
              <a:rPr lang="fr-CA" altLang="fr-FR" dirty="0"/>
              <a:t> </a:t>
            </a:r>
          </a:p>
          <a:p>
            <a:pPr>
              <a:lnSpc>
                <a:spcPct val="80000"/>
              </a:lnSpc>
            </a:pPr>
            <a:endParaRPr lang="fr-CA" altLang="fr-FR" sz="1050" dirty="0"/>
          </a:p>
          <a:p>
            <a:pPr>
              <a:lnSpc>
                <a:spcPct val="80000"/>
              </a:lnSpc>
            </a:pPr>
            <a:r>
              <a:rPr lang="fr-CA" altLang="fr-FR" sz="2400" dirty="0"/>
              <a:t>les profits ou les pertes résultant de la variation de la juste valeur résiduelle reviennent au preneur ou sont à sa charge (par exemple sous la forme d'une remise de loyer égale à la majeure partie du produit de cession à la fin du contrat de location) </a:t>
            </a:r>
          </a:p>
          <a:p>
            <a:pPr marL="0" indent="0">
              <a:lnSpc>
                <a:spcPct val="80000"/>
              </a:lnSpc>
              <a:buNone/>
            </a:pPr>
            <a:endParaRPr lang="fr-CA" altLang="fr-FR" sz="1050" dirty="0"/>
          </a:p>
          <a:p>
            <a:pPr>
              <a:lnSpc>
                <a:spcPct val="80000"/>
              </a:lnSpc>
            </a:pPr>
            <a:r>
              <a:rPr lang="fr-CA" altLang="fr-FR" sz="2400" dirty="0"/>
              <a:t>le preneur a la faculté de prolonger la location moyennant un loyer sensiblement inférieur à celui du marché</a:t>
            </a:r>
          </a:p>
          <a:p>
            <a:pPr>
              <a:lnSpc>
                <a:spcPct val="80000"/>
              </a:lnSpc>
            </a:pPr>
            <a:endParaRPr lang="fr-CA" altLang="fr-FR" sz="1400" b="1" dirty="0"/>
          </a:p>
          <a:p>
            <a:pPr>
              <a:lnSpc>
                <a:spcPct val="80000"/>
              </a:lnSpc>
            </a:pPr>
            <a:endParaRPr lang="fr-CA" altLang="fr-FR" sz="800" dirty="0"/>
          </a:p>
          <a:p>
            <a:pPr>
              <a:lnSpc>
                <a:spcPct val="80000"/>
              </a:lnSpc>
              <a:buFont typeface="Arial" panose="020B0604020202020204" pitchFamily="34" charset="0"/>
              <a:buNone/>
            </a:pPr>
            <a:endParaRPr lang="fr-CA" altLang="fr-FR" sz="800" dirty="0"/>
          </a:p>
        </p:txBody>
      </p:sp>
      <p:sp>
        <p:nvSpPr>
          <p:cNvPr id="4" name="Espace réservé du numéro de diapositive 3"/>
          <p:cNvSpPr>
            <a:spLocks noGrp="1"/>
          </p:cNvSpPr>
          <p:nvPr>
            <p:ph type="sldNum" sz="quarter" idx="12"/>
          </p:nvPr>
        </p:nvSpPr>
        <p:spPr/>
        <p:txBody>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fld id="{0343D8B2-6911-4B22-B4B8-EF71479D146B}" type="slidenum">
              <a:rPr lang="fr-FR" altLang="fr-FR">
                <a:solidFill>
                  <a:srgbClr val="898989"/>
                </a:solidFill>
              </a:rPr>
              <a:pPr/>
              <a:t>90</a:t>
            </a:fld>
            <a:endParaRPr lang="fr-FR" altLang="fr-FR">
              <a:solidFill>
                <a:srgbClr val="898989"/>
              </a:solidFill>
            </a:endParaRPr>
          </a:p>
        </p:txBody>
      </p:sp>
      <p:sp>
        <p:nvSpPr>
          <p:cNvPr id="5" name="Espace réservé du pied de page 4">
            <a:extLst>
              <a:ext uri="{FF2B5EF4-FFF2-40B4-BE49-F238E27FC236}">
                <a16:creationId xmlns:a16="http://schemas.microsoft.com/office/drawing/2014/main" id="{C3568587-331C-4632-947D-0D787B43812D}"/>
              </a:ext>
            </a:extLst>
          </p:cNvPr>
          <p:cNvSpPr>
            <a:spLocks noGrp="1"/>
          </p:cNvSpPr>
          <p:nvPr>
            <p:ph type="ftr" sz="quarter" idx="11"/>
          </p:nvPr>
        </p:nvSpPr>
        <p:spPr/>
        <p:txBody>
          <a:bodyPr/>
          <a:lstStyle/>
          <a:p>
            <a:r>
              <a:rPr lang="fr-FR"/>
              <a:t>Droits réservés - Louise Overbeek</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58644" y="274638"/>
            <a:ext cx="10495156" cy="468312"/>
          </a:xfrm>
        </p:spPr>
        <p:txBody>
          <a:bodyPr rtlCol="0">
            <a:noAutofit/>
          </a:bodyPr>
          <a:lstStyle/>
          <a:p>
            <a:pPr>
              <a:defRPr/>
            </a:pPr>
            <a:r>
              <a:rPr lang="fr-CA" sz="3600" dirty="0"/>
              <a:t>Bailleur</a:t>
            </a:r>
            <a:br>
              <a:rPr lang="fr-CA" sz="3600" dirty="0"/>
            </a:br>
            <a:r>
              <a:rPr lang="fr-CA" altLang="fr-FR" sz="3600" dirty="0"/>
              <a:t>Contrats de location-financement</a:t>
            </a:r>
            <a:endParaRPr lang="fr-CA" sz="3600" dirty="0"/>
          </a:p>
        </p:txBody>
      </p:sp>
      <p:sp>
        <p:nvSpPr>
          <p:cNvPr id="3" name="Espace réservé du contenu 2"/>
          <p:cNvSpPr>
            <a:spLocks noGrp="1"/>
          </p:cNvSpPr>
          <p:nvPr>
            <p:ph idx="1"/>
          </p:nvPr>
        </p:nvSpPr>
        <p:spPr>
          <a:xfrm>
            <a:off x="858644" y="1085850"/>
            <a:ext cx="10495156" cy="5189538"/>
          </a:xfrm>
        </p:spPr>
        <p:txBody>
          <a:bodyPr>
            <a:normAutofit fontScale="92500" lnSpcReduction="10000"/>
          </a:bodyPr>
          <a:lstStyle/>
          <a:p>
            <a:pPr marL="0" indent="0">
              <a:lnSpc>
                <a:spcPct val="80000"/>
              </a:lnSpc>
              <a:buNone/>
            </a:pPr>
            <a:r>
              <a:rPr lang="fr-CA" altLang="fr-FR" sz="2400" b="1" dirty="0"/>
              <a:t>Comptabilisation initiale</a:t>
            </a:r>
            <a:endParaRPr lang="fr-CA" altLang="fr-FR" sz="1800" b="1" dirty="0"/>
          </a:p>
          <a:p>
            <a:pPr marL="0" indent="0">
              <a:lnSpc>
                <a:spcPct val="80000"/>
              </a:lnSpc>
              <a:buNone/>
            </a:pPr>
            <a:endParaRPr lang="fr-CA" altLang="fr-FR" sz="1800" b="1" dirty="0"/>
          </a:p>
          <a:p>
            <a:pPr marL="0" indent="0">
              <a:lnSpc>
                <a:spcPct val="80000"/>
              </a:lnSpc>
              <a:buNone/>
            </a:pPr>
            <a:r>
              <a:rPr lang="fr-CA" altLang="fr-FR" sz="2400" dirty="0"/>
              <a:t>67     À la date de début, le bailleur doit comptabiliser dans l'état de la situation financière les actifs détenus en vertu d'un contrat de location-financement et les présenter comme des </a:t>
            </a:r>
            <a:r>
              <a:rPr lang="fr-CA" altLang="fr-FR" sz="2400" dirty="0">
                <a:solidFill>
                  <a:srgbClr val="0070C0"/>
                </a:solidFill>
              </a:rPr>
              <a:t>créances</a:t>
            </a:r>
            <a:r>
              <a:rPr lang="fr-CA" altLang="fr-FR" sz="2400" dirty="0"/>
              <a:t> pour un montant égal à l'</a:t>
            </a:r>
            <a:r>
              <a:rPr lang="fr-CA" altLang="fr-FR" sz="2400" i="1" dirty="0"/>
              <a:t>investissement net dans le contrat de location</a:t>
            </a:r>
            <a:r>
              <a:rPr lang="fr-CA" altLang="fr-FR" sz="2400" dirty="0"/>
              <a:t>.</a:t>
            </a:r>
          </a:p>
          <a:p>
            <a:pPr marL="0" indent="0">
              <a:lnSpc>
                <a:spcPct val="80000"/>
              </a:lnSpc>
              <a:buNone/>
            </a:pPr>
            <a:endParaRPr lang="fr-CA" altLang="fr-FR" sz="900" b="1" dirty="0"/>
          </a:p>
          <a:p>
            <a:pPr marL="0" indent="0">
              <a:lnSpc>
                <a:spcPct val="80000"/>
              </a:lnSpc>
              <a:buNone/>
            </a:pPr>
            <a:r>
              <a:rPr lang="fr-CA" altLang="fr-FR" sz="2000" dirty="0"/>
              <a:t>70     … à savoir :</a:t>
            </a:r>
          </a:p>
          <a:p>
            <a:pPr marL="0" indent="0">
              <a:lnSpc>
                <a:spcPct val="80000"/>
              </a:lnSpc>
              <a:buNone/>
            </a:pPr>
            <a:r>
              <a:rPr lang="fr-CA" altLang="fr-FR" sz="2400" dirty="0"/>
              <a:t>(a)     les paiements fixes (…), déduction faite des avantages incitatifs à la location à payer ;</a:t>
            </a:r>
          </a:p>
          <a:p>
            <a:pPr marL="0" indent="0">
              <a:lnSpc>
                <a:spcPct val="80000"/>
              </a:lnSpc>
              <a:buNone/>
            </a:pPr>
            <a:r>
              <a:rPr lang="fr-CA" altLang="fr-FR" sz="2400" dirty="0"/>
              <a:t>(b)     les paiements de loyers variables qui sont fonction d'un indice ou d'un taux, initialement évalués au moyen de l'indice ou du taux en vigueur à la date de début ;</a:t>
            </a:r>
          </a:p>
          <a:p>
            <a:pPr marL="0" indent="0">
              <a:lnSpc>
                <a:spcPct val="80000"/>
              </a:lnSpc>
              <a:buNone/>
            </a:pPr>
            <a:r>
              <a:rPr lang="fr-CA" altLang="fr-FR" sz="2400" dirty="0"/>
              <a:t>(c)     les garanties de valeur résiduelle données au bailleur par le preneur, … ; </a:t>
            </a:r>
            <a:r>
              <a:rPr lang="fr-CA" altLang="fr-FR" sz="2000" i="1" dirty="0">
                <a:solidFill>
                  <a:srgbClr val="FF0000"/>
                </a:solidFill>
              </a:rPr>
              <a:t>(montant total et non estimé paiement)</a:t>
            </a:r>
            <a:endParaRPr lang="fr-CA" altLang="fr-FR" sz="2400" dirty="0"/>
          </a:p>
          <a:p>
            <a:pPr marL="0" indent="0">
              <a:lnSpc>
                <a:spcPct val="80000"/>
              </a:lnSpc>
              <a:buNone/>
            </a:pPr>
            <a:r>
              <a:rPr lang="fr-CA" altLang="fr-FR" sz="2400" dirty="0"/>
              <a:t>(d)     le prix d'exercice de l'option d'achat que le preneur a la certitude raisonnable d'exercer (…) ;</a:t>
            </a:r>
          </a:p>
          <a:p>
            <a:pPr marL="0" indent="0">
              <a:lnSpc>
                <a:spcPct val="80000"/>
              </a:lnSpc>
              <a:buNone/>
            </a:pPr>
            <a:r>
              <a:rPr lang="fr-CA" altLang="fr-FR" sz="2400" dirty="0"/>
              <a:t>(e)     les pénalités exigées en cas de résiliation du contrat de location, si la durée du contrat de location reflète l'exercice par le preneur de l'option de résiliation du contrat de location.</a:t>
            </a:r>
            <a:endParaRPr lang="fr-CA" altLang="fr-FR" sz="2000" dirty="0"/>
          </a:p>
          <a:p>
            <a:pPr marL="0" indent="0">
              <a:lnSpc>
                <a:spcPct val="80000"/>
              </a:lnSpc>
              <a:buNone/>
            </a:pPr>
            <a:endParaRPr lang="fr-CA" altLang="fr-FR" sz="800" dirty="0"/>
          </a:p>
          <a:p>
            <a:pPr marL="0" indent="0">
              <a:lnSpc>
                <a:spcPct val="80000"/>
              </a:lnSpc>
              <a:buNone/>
            </a:pPr>
            <a:endParaRPr lang="fr-CA" altLang="fr-FR" sz="800" dirty="0"/>
          </a:p>
        </p:txBody>
      </p:sp>
      <p:sp>
        <p:nvSpPr>
          <p:cNvPr id="4" name="Espace réservé du numéro de diapositive 3"/>
          <p:cNvSpPr>
            <a:spLocks noGrp="1"/>
          </p:cNvSpPr>
          <p:nvPr>
            <p:ph type="sldNum" sz="quarter" idx="12"/>
          </p:nvPr>
        </p:nvSpPr>
        <p:spPr/>
        <p:txBody>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fld id="{3F3A228D-6365-498C-8B8B-326F863916AD}" type="slidenum">
              <a:rPr lang="fr-FR" altLang="fr-FR">
                <a:solidFill>
                  <a:srgbClr val="898989"/>
                </a:solidFill>
              </a:rPr>
              <a:pPr/>
              <a:t>91</a:t>
            </a:fld>
            <a:endParaRPr lang="fr-FR" altLang="fr-FR">
              <a:solidFill>
                <a:srgbClr val="898989"/>
              </a:solidFill>
            </a:endParaRPr>
          </a:p>
        </p:txBody>
      </p:sp>
      <p:sp>
        <p:nvSpPr>
          <p:cNvPr id="5" name="Espace réservé du pied de page 4">
            <a:extLst>
              <a:ext uri="{FF2B5EF4-FFF2-40B4-BE49-F238E27FC236}">
                <a16:creationId xmlns:a16="http://schemas.microsoft.com/office/drawing/2014/main" id="{0E132FB3-F6A6-4C44-9BE2-7782D28AB2BA}"/>
              </a:ext>
            </a:extLst>
          </p:cNvPr>
          <p:cNvSpPr>
            <a:spLocks noGrp="1"/>
          </p:cNvSpPr>
          <p:nvPr>
            <p:ph type="ftr" sz="quarter" idx="11"/>
          </p:nvPr>
        </p:nvSpPr>
        <p:spPr/>
        <p:txBody>
          <a:bodyPr/>
          <a:lstStyle/>
          <a:p>
            <a:r>
              <a:rPr lang="fr-FR"/>
              <a:t>Droits réservés - Louise Overbeek</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58644" y="274638"/>
            <a:ext cx="10495156" cy="857250"/>
          </a:xfrm>
        </p:spPr>
        <p:txBody>
          <a:bodyPr>
            <a:normAutofit fontScale="90000"/>
          </a:bodyPr>
          <a:lstStyle/>
          <a:p>
            <a:r>
              <a:rPr lang="fr-CA" sz="4000" dirty="0"/>
              <a:t>Bailleur</a:t>
            </a:r>
            <a:br>
              <a:rPr lang="fr-CA" sz="4000" dirty="0"/>
            </a:br>
            <a:r>
              <a:rPr lang="fr-CA" altLang="fr-FR" sz="4000" dirty="0"/>
              <a:t>Contrats de location-financement</a:t>
            </a:r>
            <a:br>
              <a:rPr lang="fr-CA" altLang="fr-FR" sz="4000" dirty="0"/>
            </a:br>
            <a:r>
              <a:rPr lang="fr-CA" altLang="fr-FR" sz="2800" b="1" dirty="0"/>
              <a:t>qui sont fabricants ou distributeurs</a:t>
            </a:r>
            <a:endParaRPr lang="fr-CA" altLang="fr-FR" sz="4000" dirty="0"/>
          </a:p>
        </p:txBody>
      </p:sp>
      <p:sp>
        <p:nvSpPr>
          <p:cNvPr id="3" name="Espace réservé du contenu 2"/>
          <p:cNvSpPr>
            <a:spLocks noGrp="1"/>
          </p:cNvSpPr>
          <p:nvPr>
            <p:ph idx="1"/>
          </p:nvPr>
        </p:nvSpPr>
        <p:spPr>
          <a:xfrm>
            <a:off x="858644" y="1639229"/>
            <a:ext cx="10495156" cy="4717121"/>
          </a:xfrm>
        </p:spPr>
        <p:txBody>
          <a:bodyPr>
            <a:normAutofit fontScale="92500" lnSpcReduction="10000"/>
          </a:bodyPr>
          <a:lstStyle/>
          <a:p>
            <a:pPr>
              <a:lnSpc>
                <a:spcPct val="80000"/>
              </a:lnSpc>
            </a:pPr>
            <a:r>
              <a:rPr lang="fr-CA" altLang="fr-FR" dirty="0"/>
              <a:t>Intermédiaire financier</a:t>
            </a:r>
          </a:p>
          <a:p>
            <a:pPr lvl="1">
              <a:lnSpc>
                <a:spcPct val="80000"/>
              </a:lnSpc>
            </a:pPr>
            <a:r>
              <a:rPr lang="fr-CA" altLang="fr-FR" sz="2800" dirty="0"/>
              <a:t>Offre le « financement » pour un preneur</a:t>
            </a:r>
          </a:p>
          <a:p>
            <a:pPr lvl="2">
              <a:lnSpc>
                <a:spcPct val="80000"/>
              </a:lnSpc>
            </a:pPr>
            <a:r>
              <a:rPr lang="fr-CA" altLang="fr-FR" sz="2800" dirty="0"/>
              <a:t>Comptabilisation de produits financiers</a:t>
            </a:r>
          </a:p>
          <a:p>
            <a:pPr lvl="3">
              <a:lnSpc>
                <a:spcPct val="80000"/>
              </a:lnSpc>
              <a:buFont typeface="Wingdings" panose="05000000000000000000" pitchFamily="2" charset="2"/>
              <a:buChar char="Ø"/>
            </a:pPr>
            <a:r>
              <a:rPr lang="fr-CA" altLang="fr-FR" sz="2400" dirty="0"/>
              <a:t>À la date d’entrée en vigueur du contrat de location, la juste valeur du bien loué est identique à sa valeur comptable pour le bailleur</a:t>
            </a:r>
            <a:endParaRPr lang="fr-CA" altLang="fr-FR" dirty="0"/>
          </a:p>
          <a:p>
            <a:pPr lvl="1">
              <a:lnSpc>
                <a:spcPct val="80000"/>
              </a:lnSpc>
            </a:pPr>
            <a:endParaRPr lang="fr-CA" altLang="fr-FR" sz="1100" dirty="0"/>
          </a:p>
          <a:p>
            <a:pPr>
              <a:lnSpc>
                <a:spcPct val="80000"/>
              </a:lnSpc>
            </a:pPr>
            <a:r>
              <a:rPr lang="fr-CA" altLang="fr-FR" dirty="0"/>
              <a:t>Fabricant ou distributeur</a:t>
            </a:r>
          </a:p>
          <a:p>
            <a:pPr lvl="1">
              <a:lnSpc>
                <a:spcPct val="80000"/>
              </a:lnSpc>
            </a:pPr>
            <a:r>
              <a:rPr lang="fr-CA" altLang="fr-FR" sz="2800" dirty="0"/>
              <a:t>Vente d’un stock suivi d’un contrat de location-financement</a:t>
            </a:r>
          </a:p>
          <a:p>
            <a:pPr lvl="2">
              <a:lnSpc>
                <a:spcPct val="80000"/>
              </a:lnSpc>
            </a:pPr>
            <a:r>
              <a:rPr lang="fr-CA" altLang="fr-FR" sz="2800" dirty="0">
                <a:solidFill>
                  <a:srgbClr val="0070C0"/>
                </a:solidFill>
              </a:rPr>
              <a:t>Comptabilisation d’un produit, d’un coût des ventes, qui résulte en une marge brute sur le produit « vendu »</a:t>
            </a:r>
          </a:p>
          <a:p>
            <a:pPr lvl="2">
              <a:lnSpc>
                <a:spcPct val="80000"/>
              </a:lnSpc>
            </a:pPr>
            <a:r>
              <a:rPr lang="fr-CA" altLang="fr-FR" sz="2800" dirty="0"/>
              <a:t>Puis comptabilise les produits financiers liés au contrat de location-financement</a:t>
            </a:r>
          </a:p>
          <a:p>
            <a:pPr lvl="3">
              <a:lnSpc>
                <a:spcPct val="80000"/>
              </a:lnSpc>
              <a:buFont typeface="Wingdings" panose="05000000000000000000" pitchFamily="2" charset="2"/>
              <a:buChar char="Ø"/>
            </a:pPr>
            <a:r>
              <a:rPr lang="fr-CA" altLang="fr-FR" sz="2400" dirty="0"/>
              <a:t>À la date d’entrée en vigueur du contrat de location, la juste valeur du bien loué est supérieure (ou inférieure) à sa valeur comptable, ce qui donne lieu à un profit (ou une perte) pour le bailleur</a:t>
            </a:r>
            <a:endParaRPr lang="fr-CA" altLang="fr-FR" dirty="0"/>
          </a:p>
        </p:txBody>
      </p:sp>
      <p:sp>
        <p:nvSpPr>
          <p:cNvPr id="4" name="Espace réservé du numéro de diapositive 3"/>
          <p:cNvSpPr>
            <a:spLocks noGrp="1"/>
          </p:cNvSpPr>
          <p:nvPr>
            <p:ph type="sldNum" sz="quarter" idx="12"/>
          </p:nvPr>
        </p:nvSpPr>
        <p:spPr/>
        <p:txBody>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fld id="{7E32F8FE-A3F0-484A-B280-FE8A6F938B8D}" type="slidenum">
              <a:rPr lang="fr-FR" altLang="fr-FR">
                <a:solidFill>
                  <a:srgbClr val="898989"/>
                </a:solidFill>
              </a:rPr>
              <a:pPr/>
              <a:t>92</a:t>
            </a:fld>
            <a:endParaRPr lang="fr-FR" altLang="fr-FR">
              <a:solidFill>
                <a:srgbClr val="898989"/>
              </a:solidFill>
            </a:endParaRPr>
          </a:p>
        </p:txBody>
      </p:sp>
      <p:sp>
        <p:nvSpPr>
          <p:cNvPr id="5" name="Espace réservé du pied de page 4">
            <a:extLst>
              <a:ext uri="{FF2B5EF4-FFF2-40B4-BE49-F238E27FC236}">
                <a16:creationId xmlns:a16="http://schemas.microsoft.com/office/drawing/2014/main" id="{43FDEB1E-2930-4A41-899C-4096FA9E8366}"/>
              </a:ext>
            </a:extLst>
          </p:cNvPr>
          <p:cNvSpPr>
            <a:spLocks noGrp="1"/>
          </p:cNvSpPr>
          <p:nvPr>
            <p:ph type="ftr" sz="quarter" idx="11"/>
          </p:nvPr>
        </p:nvSpPr>
        <p:spPr/>
        <p:txBody>
          <a:bodyPr/>
          <a:lstStyle/>
          <a:p>
            <a:r>
              <a:rPr lang="fr-FR"/>
              <a:t>Droits réservés - Louise Overbeek</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69795" y="274638"/>
            <a:ext cx="10484005" cy="857250"/>
          </a:xfrm>
        </p:spPr>
        <p:txBody>
          <a:bodyPr>
            <a:normAutofit fontScale="90000"/>
          </a:bodyPr>
          <a:lstStyle/>
          <a:p>
            <a:r>
              <a:rPr lang="fr-CA" sz="4000" dirty="0"/>
              <a:t>Bailleur</a:t>
            </a:r>
            <a:br>
              <a:rPr lang="fr-CA" sz="4000" dirty="0"/>
            </a:br>
            <a:r>
              <a:rPr lang="fr-CA" altLang="fr-FR" sz="4000" dirty="0"/>
              <a:t>Contrats de location-financement</a:t>
            </a:r>
            <a:br>
              <a:rPr lang="fr-CA" altLang="fr-FR" sz="4000" dirty="0"/>
            </a:br>
            <a:r>
              <a:rPr lang="fr-CA" altLang="fr-FR" sz="2800" b="1" dirty="0"/>
              <a:t>qui sont fabricants ou distributeurs</a:t>
            </a:r>
            <a:endParaRPr lang="fr-CA" altLang="fr-FR" sz="4000" dirty="0"/>
          </a:p>
        </p:txBody>
      </p:sp>
      <p:sp>
        <p:nvSpPr>
          <p:cNvPr id="3" name="Espace réservé du contenu 2"/>
          <p:cNvSpPr>
            <a:spLocks noGrp="1"/>
          </p:cNvSpPr>
          <p:nvPr>
            <p:ph idx="1"/>
          </p:nvPr>
        </p:nvSpPr>
        <p:spPr>
          <a:xfrm>
            <a:off x="869795" y="1600200"/>
            <a:ext cx="10404088" cy="4756150"/>
          </a:xfrm>
        </p:spPr>
        <p:txBody>
          <a:bodyPr>
            <a:normAutofit lnSpcReduction="10000"/>
          </a:bodyPr>
          <a:lstStyle/>
          <a:p>
            <a:pPr marL="0" indent="0">
              <a:lnSpc>
                <a:spcPct val="80000"/>
              </a:lnSpc>
              <a:buNone/>
            </a:pPr>
            <a:r>
              <a:rPr lang="fr-CA" altLang="fr-FR" b="1" dirty="0"/>
              <a:t>Comptabilisation initiale</a:t>
            </a:r>
            <a:endParaRPr lang="fr-CA" altLang="fr-FR" sz="2400" b="1" dirty="0"/>
          </a:p>
          <a:p>
            <a:pPr marL="0" indent="0">
              <a:lnSpc>
                <a:spcPct val="80000"/>
              </a:lnSpc>
              <a:buNone/>
            </a:pPr>
            <a:r>
              <a:rPr lang="fr-CA" altLang="fr-FR" sz="2400" dirty="0"/>
              <a:t>71     …doit comptabiliser les éléments suivants pour chacun de ses contrats de location-financement :</a:t>
            </a:r>
          </a:p>
          <a:p>
            <a:pPr marL="0" indent="0">
              <a:lnSpc>
                <a:spcPct val="80000"/>
              </a:lnSpc>
              <a:buNone/>
            </a:pPr>
            <a:r>
              <a:rPr lang="fr-CA" altLang="fr-FR" sz="2400" dirty="0"/>
              <a:t>(a)     les</a:t>
            </a:r>
            <a:r>
              <a:rPr lang="fr-CA" altLang="fr-FR" sz="2400" dirty="0">
                <a:solidFill>
                  <a:srgbClr val="0070C0"/>
                </a:solidFill>
              </a:rPr>
              <a:t> produits des activités ordinaires</a:t>
            </a:r>
            <a:r>
              <a:rPr lang="fr-CA" altLang="fr-FR" sz="2400" dirty="0"/>
              <a:t>, soit la juste valeur du bien sous-jacent ou, si elle est inférieure, la valeur actualisée des paiements de loyers revenant au bailleur, calculée à l'aide d'un taux d'intérêt du marché ;</a:t>
            </a:r>
          </a:p>
          <a:p>
            <a:pPr marL="0" indent="0">
              <a:lnSpc>
                <a:spcPct val="80000"/>
              </a:lnSpc>
              <a:buNone/>
            </a:pPr>
            <a:r>
              <a:rPr lang="fr-CA" altLang="fr-FR" sz="2400" dirty="0"/>
              <a:t>(b)     le </a:t>
            </a:r>
            <a:r>
              <a:rPr lang="fr-CA" altLang="fr-FR" sz="2400" dirty="0">
                <a:solidFill>
                  <a:srgbClr val="0070C0"/>
                </a:solidFill>
              </a:rPr>
              <a:t>coût des ventes</a:t>
            </a:r>
            <a:r>
              <a:rPr lang="fr-CA" altLang="fr-FR" sz="2400" dirty="0"/>
              <a:t>, soit le coût du bien sous-jacent, ou sa valeur comptable si elle est différente, </a:t>
            </a:r>
            <a:r>
              <a:rPr lang="fr-CA" altLang="fr-FR" sz="2400" u="sng" dirty="0"/>
              <a:t>moins la valeur actualisée de la </a:t>
            </a:r>
            <a:r>
              <a:rPr lang="fr-CA" altLang="fr-FR" sz="2400" i="1" u="sng" dirty="0"/>
              <a:t>valeur résiduelle non garantie</a:t>
            </a:r>
            <a:r>
              <a:rPr lang="fr-CA" altLang="fr-FR" sz="2400" dirty="0"/>
              <a:t> ;    </a:t>
            </a:r>
            <a:r>
              <a:rPr lang="fr-CA" altLang="fr-FR" sz="2400" i="1" dirty="0">
                <a:solidFill>
                  <a:srgbClr val="FF0000"/>
                </a:solidFill>
                <a:highlight>
                  <a:srgbClr val="FFFF00"/>
                </a:highlight>
              </a:rPr>
              <a:t>(portion non vendue, le cas échéant)</a:t>
            </a:r>
            <a:endParaRPr lang="fr-CA" altLang="fr-FR" sz="2400" dirty="0">
              <a:solidFill>
                <a:srgbClr val="FF0000"/>
              </a:solidFill>
              <a:highlight>
                <a:srgbClr val="FFFF00"/>
              </a:highlight>
            </a:endParaRPr>
          </a:p>
          <a:p>
            <a:pPr marL="0" indent="0">
              <a:lnSpc>
                <a:spcPct val="80000"/>
              </a:lnSpc>
              <a:buNone/>
            </a:pPr>
            <a:r>
              <a:rPr lang="fr-CA" altLang="fr-FR" sz="2400" dirty="0"/>
              <a:t>(c)     le profit ou la perte sur vente (soit la différence entre les produits des activités ordinaires et le coût des ventes), établi selon les principes retenus par le bailleur pour ses ventes pures et simples auxquelles IFRS 15 s'applique. Le bailleur qui est fabricant ou distributeur doit comptabiliser à la date de début le profit ou la perte sur vente se rattachant à un contrat de location-financement, indépendamment de la question de savoir si le bien sous-jacent est transféré comme il est décrit dans IFRS 15.</a:t>
            </a:r>
          </a:p>
          <a:p>
            <a:pPr marL="0" indent="0">
              <a:lnSpc>
                <a:spcPct val="80000"/>
              </a:lnSpc>
              <a:buNone/>
            </a:pPr>
            <a:endParaRPr lang="fr-CA" altLang="fr-FR" sz="1200" dirty="0"/>
          </a:p>
          <a:p>
            <a:pPr marL="0" indent="0">
              <a:lnSpc>
                <a:spcPct val="80000"/>
              </a:lnSpc>
            </a:pPr>
            <a:endParaRPr lang="fr-CA" altLang="fr-FR" sz="800" dirty="0"/>
          </a:p>
          <a:p>
            <a:pPr marL="0" indent="0">
              <a:lnSpc>
                <a:spcPct val="80000"/>
              </a:lnSpc>
              <a:buNone/>
            </a:pPr>
            <a:endParaRPr lang="fr-CA" altLang="fr-FR" sz="800" dirty="0"/>
          </a:p>
        </p:txBody>
      </p:sp>
      <p:sp>
        <p:nvSpPr>
          <p:cNvPr id="4" name="Espace réservé du numéro de diapositive 3"/>
          <p:cNvSpPr>
            <a:spLocks noGrp="1"/>
          </p:cNvSpPr>
          <p:nvPr>
            <p:ph type="sldNum" sz="quarter" idx="12"/>
          </p:nvPr>
        </p:nvSpPr>
        <p:spPr/>
        <p:txBody>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fld id="{7E32F8FE-A3F0-484A-B280-FE8A6F938B8D}" type="slidenum">
              <a:rPr lang="fr-FR" altLang="fr-FR">
                <a:solidFill>
                  <a:srgbClr val="898989"/>
                </a:solidFill>
              </a:rPr>
              <a:pPr/>
              <a:t>93</a:t>
            </a:fld>
            <a:endParaRPr lang="fr-FR" altLang="fr-FR">
              <a:solidFill>
                <a:srgbClr val="898989"/>
              </a:solidFill>
            </a:endParaRPr>
          </a:p>
        </p:txBody>
      </p:sp>
      <p:sp>
        <p:nvSpPr>
          <p:cNvPr id="5" name="Espace réservé du pied de page 4">
            <a:extLst>
              <a:ext uri="{FF2B5EF4-FFF2-40B4-BE49-F238E27FC236}">
                <a16:creationId xmlns:a16="http://schemas.microsoft.com/office/drawing/2014/main" id="{9BD75E32-BFA1-411D-917D-44A197467153}"/>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382476251"/>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3"/>
          <p:cNvSpPr>
            <a:spLocks noGrp="1" noChangeArrowheads="1"/>
          </p:cNvSpPr>
          <p:nvPr>
            <p:ph idx="1"/>
          </p:nvPr>
        </p:nvSpPr>
        <p:spPr>
          <a:xfrm>
            <a:off x="838199" y="2090738"/>
            <a:ext cx="10515599" cy="4525962"/>
          </a:xfrm>
        </p:spPr>
        <p:txBody>
          <a:bodyPr/>
          <a:lstStyle/>
          <a:p>
            <a:pPr>
              <a:spcAft>
                <a:spcPts val="600"/>
              </a:spcAft>
            </a:pPr>
            <a:r>
              <a:rPr lang="fr-CA" altLang="en-US" dirty="0"/>
              <a:t>Ajustement des ventes et du coût des marchandises vendues lorsque la valeur résiduelle est non garantie car le critère de réalisation du produit n’est pas entièrement respecté</a:t>
            </a:r>
          </a:p>
          <a:p>
            <a:pPr lvl="2">
              <a:spcAft>
                <a:spcPts val="600"/>
              </a:spcAft>
            </a:pPr>
            <a:r>
              <a:rPr lang="fr-CA" altLang="en-US" sz="2400" i="1" dirty="0"/>
              <a:t>Vente « partielle »</a:t>
            </a:r>
          </a:p>
          <a:p>
            <a:pPr lvl="3">
              <a:spcAft>
                <a:spcPts val="600"/>
              </a:spcAft>
            </a:pPr>
            <a:r>
              <a:rPr lang="fr-CA" altLang="en-US" sz="2200" dirty="0"/>
              <a:t>Lorsque le contrat de location ne couvre pas la durée économique du bien</a:t>
            </a:r>
          </a:p>
          <a:p>
            <a:pPr lvl="4">
              <a:spcAft>
                <a:spcPts val="600"/>
              </a:spcAft>
            </a:pPr>
            <a:r>
              <a:rPr lang="fr-CA" altLang="en-US" sz="2200" dirty="0"/>
              <a:t>Comptabiliser uniquement la « portion » vendue</a:t>
            </a:r>
          </a:p>
        </p:txBody>
      </p:sp>
      <p:sp>
        <p:nvSpPr>
          <p:cNvPr id="51202" name="Rectangle 2"/>
          <p:cNvSpPr>
            <a:spLocks noGrp="1" noChangeArrowheads="1"/>
          </p:cNvSpPr>
          <p:nvPr>
            <p:ph type="title"/>
          </p:nvPr>
        </p:nvSpPr>
        <p:spPr/>
        <p:txBody>
          <a:bodyPr>
            <a:normAutofit fontScale="90000"/>
          </a:bodyPr>
          <a:lstStyle/>
          <a:p>
            <a:r>
              <a:rPr lang="fr-CA" sz="3600" dirty="0"/>
              <a:t>Bailleur</a:t>
            </a:r>
            <a:br>
              <a:rPr lang="fr-CA" sz="3600" dirty="0"/>
            </a:br>
            <a:r>
              <a:rPr lang="fr-CA" altLang="fr-FR" sz="3600" dirty="0"/>
              <a:t>Contrats de location-financement</a:t>
            </a:r>
            <a:br>
              <a:rPr lang="fr-CA" altLang="fr-FR" sz="3600" dirty="0"/>
            </a:br>
            <a:r>
              <a:rPr lang="fr-CA" altLang="fr-FR" sz="2400" b="1" dirty="0"/>
              <a:t>qui sont fabricants ou distributeurs </a:t>
            </a:r>
            <a:r>
              <a:rPr lang="fr-CA" altLang="fr-FR" sz="3400" dirty="0"/>
              <a:t>	</a:t>
            </a:r>
            <a:endParaRPr lang="en-US" altLang="fr-FR" sz="3400" dirty="0"/>
          </a:p>
        </p:txBody>
      </p:sp>
      <p:sp>
        <p:nvSpPr>
          <p:cNvPr id="2" name="Slide Number Placeholder 1"/>
          <p:cNvSpPr>
            <a:spLocks noGrp="1"/>
          </p:cNvSpPr>
          <p:nvPr>
            <p:ph type="sldNum" sz="quarter" idx="12"/>
          </p:nvPr>
        </p:nvSpPr>
        <p:spPr/>
        <p:txBody>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fld id="{FDBE3C68-B627-467C-996F-BBBB73753BF0}" type="slidenum">
              <a:rPr lang="fr-FR" altLang="fr-FR">
                <a:solidFill>
                  <a:srgbClr val="898989"/>
                </a:solidFill>
              </a:rPr>
              <a:pPr/>
              <a:t>94</a:t>
            </a:fld>
            <a:endParaRPr lang="fr-FR" altLang="fr-FR">
              <a:solidFill>
                <a:srgbClr val="898989"/>
              </a:solidFill>
            </a:endParaRPr>
          </a:p>
        </p:txBody>
      </p:sp>
      <p:sp>
        <p:nvSpPr>
          <p:cNvPr id="3" name="Espace réservé du pied de page 2">
            <a:extLst>
              <a:ext uri="{FF2B5EF4-FFF2-40B4-BE49-F238E27FC236}">
                <a16:creationId xmlns:a16="http://schemas.microsoft.com/office/drawing/2014/main" id="{40FEBE0A-3388-4F76-811F-499CAC433F25}"/>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414527560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sz="3600" dirty="0"/>
              <a:t>Bailleur - Coûts directs initiaux</a:t>
            </a:r>
            <a:endParaRPr lang="fr-CA" dirty="0"/>
          </a:p>
        </p:txBody>
      </p:sp>
      <p:sp>
        <p:nvSpPr>
          <p:cNvPr id="3" name="Espace réservé du contenu 2"/>
          <p:cNvSpPr>
            <a:spLocks noGrp="1"/>
          </p:cNvSpPr>
          <p:nvPr>
            <p:ph idx="1"/>
          </p:nvPr>
        </p:nvSpPr>
        <p:spPr/>
        <p:txBody>
          <a:bodyPr/>
          <a:lstStyle/>
          <a:p>
            <a:r>
              <a:rPr lang="fr-CA" dirty="0"/>
              <a:t>À inclure dans l’évaluation initiale de l’investissement net dans le contrat de location  </a:t>
            </a:r>
            <a:r>
              <a:rPr lang="fr-CA" sz="2400" i="1" dirty="0"/>
              <a:t>(actif)</a:t>
            </a:r>
            <a:endParaRPr lang="fr-CA" dirty="0"/>
          </a:p>
          <a:p>
            <a:pPr lvl="1"/>
            <a:r>
              <a:rPr lang="fr-CA" dirty="0"/>
              <a:t>Sauf pour bailleurs qui sont fabricants ou distributeurs  =&gt; coûts passés en charge</a:t>
            </a:r>
          </a:p>
        </p:txBody>
      </p:sp>
      <p:sp>
        <p:nvSpPr>
          <p:cNvPr id="4" name="Espace réservé du numéro de diapositive 3"/>
          <p:cNvSpPr>
            <a:spLocks noGrp="1"/>
          </p:cNvSpPr>
          <p:nvPr>
            <p:ph type="sldNum" sz="quarter" idx="12"/>
          </p:nvPr>
        </p:nvSpPr>
        <p:spPr/>
        <p:txBody>
          <a:bodyPr/>
          <a:lstStyle/>
          <a:p>
            <a:fld id="{5DC53271-AB06-4788-AC3D-33D4BA937B45}" type="slidenum">
              <a:rPr lang="fr-FR" altLang="fr-FR" smtClean="0"/>
              <a:pPr/>
              <a:t>95</a:t>
            </a:fld>
            <a:endParaRPr lang="fr-FR" altLang="fr-FR"/>
          </a:p>
        </p:txBody>
      </p:sp>
      <p:sp>
        <p:nvSpPr>
          <p:cNvPr id="5" name="Espace réservé du pied de page 4">
            <a:extLst>
              <a:ext uri="{FF2B5EF4-FFF2-40B4-BE49-F238E27FC236}">
                <a16:creationId xmlns:a16="http://schemas.microsoft.com/office/drawing/2014/main" id="{BCFFE333-E969-4201-A234-A73A37E938CD}"/>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75039381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869795" y="274638"/>
            <a:ext cx="10484005" cy="857250"/>
          </a:xfrm>
        </p:spPr>
        <p:txBody>
          <a:bodyPr>
            <a:normAutofit fontScale="90000"/>
          </a:bodyPr>
          <a:lstStyle/>
          <a:p>
            <a:r>
              <a:rPr lang="fr-CA" sz="4000" dirty="0"/>
              <a:t>Bailleur</a:t>
            </a:r>
            <a:br>
              <a:rPr lang="fr-CA" sz="4000" dirty="0"/>
            </a:br>
            <a:r>
              <a:rPr lang="fr-CA" altLang="fr-FR" sz="4000" dirty="0"/>
              <a:t>Contrats de location-financement</a:t>
            </a:r>
          </a:p>
        </p:txBody>
      </p:sp>
      <p:sp>
        <p:nvSpPr>
          <p:cNvPr id="3" name="Espace réservé du contenu 2"/>
          <p:cNvSpPr>
            <a:spLocks noGrp="1"/>
          </p:cNvSpPr>
          <p:nvPr>
            <p:ph idx="1"/>
          </p:nvPr>
        </p:nvSpPr>
        <p:spPr>
          <a:xfrm>
            <a:off x="869795" y="1449659"/>
            <a:ext cx="10484005" cy="4906691"/>
          </a:xfrm>
        </p:spPr>
        <p:txBody>
          <a:bodyPr>
            <a:normAutofit fontScale="85000" lnSpcReduction="20000"/>
          </a:bodyPr>
          <a:lstStyle/>
          <a:p>
            <a:pPr marL="0" indent="0">
              <a:lnSpc>
                <a:spcPct val="80000"/>
              </a:lnSpc>
              <a:buNone/>
            </a:pPr>
            <a:r>
              <a:rPr lang="fr-CA" altLang="fr-FR" b="1" dirty="0"/>
              <a:t>Comptabilisation ultérieure</a:t>
            </a:r>
            <a:endParaRPr lang="fr-CA" altLang="fr-FR" sz="2000" b="1" dirty="0"/>
          </a:p>
          <a:p>
            <a:pPr marL="0" indent="0">
              <a:lnSpc>
                <a:spcPct val="80000"/>
              </a:lnSpc>
              <a:buNone/>
            </a:pPr>
            <a:endParaRPr lang="fr-CA" altLang="fr-FR" sz="1400" i="1" dirty="0"/>
          </a:p>
          <a:p>
            <a:pPr marL="0" indent="0">
              <a:lnSpc>
                <a:spcPct val="80000"/>
              </a:lnSpc>
              <a:buNone/>
            </a:pPr>
            <a:r>
              <a:rPr lang="fr-CA" altLang="fr-FR" sz="2600" b="1" dirty="0"/>
              <a:t>75    </a:t>
            </a:r>
            <a:r>
              <a:rPr lang="fr-CA" altLang="fr-FR" sz="2600" dirty="0"/>
              <a:t> </a:t>
            </a:r>
            <a:r>
              <a:rPr lang="fr-CA" altLang="fr-FR" dirty="0"/>
              <a:t>Le bailleur doit comptabiliser les </a:t>
            </a:r>
            <a:r>
              <a:rPr lang="fr-CA" altLang="fr-FR" dirty="0">
                <a:solidFill>
                  <a:srgbClr val="0070C0"/>
                </a:solidFill>
              </a:rPr>
              <a:t>produits financiers</a:t>
            </a:r>
            <a:r>
              <a:rPr lang="fr-CA" altLang="fr-FR" dirty="0"/>
              <a:t> sur la durée du contrat de location en considérant un taux de rentabilité de l'investissement net du bailleur dans le contrat de location pour la période qui est constant.</a:t>
            </a:r>
            <a:endParaRPr lang="fr-CA" altLang="fr-FR" sz="2000" dirty="0"/>
          </a:p>
          <a:p>
            <a:pPr marL="0" indent="0">
              <a:lnSpc>
                <a:spcPct val="80000"/>
              </a:lnSpc>
              <a:buNone/>
            </a:pPr>
            <a:endParaRPr lang="fr-CA" altLang="fr-FR" sz="2000" dirty="0"/>
          </a:p>
          <a:p>
            <a:pPr marL="0" indent="0">
              <a:lnSpc>
                <a:spcPct val="80000"/>
              </a:lnSpc>
              <a:buNone/>
            </a:pPr>
            <a:r>
              <a:rPr lang="fr-CA" altLang="fr-FR" sz="2600" dirty="0">
                <a:solidFill>
                  <a:srgbClr val="0070C0"/>
                </a:solidFill>
              </a:rPr>
              <a:t>Investissement brut dans le contrat de location</a:t>
            </a:r>
          </a:p>
          <a:p>
            <a:pPr marL="0" indent="0">
              <a:lnSpc>
                <a:spcPct val="80000"/>
              </a:lnSpc>
              <a:buNone/>
            </a:pPr>
            <a:r>
              <a:rPr lang="fr-CA" altLang="fr-FR" sz="2600" dirty="0">
                <a:solidFill>
                  <a:srgbClr val="0070C0"/>
                </a:solidFill>
              </a:rPr>
              <a:t>	</a:t>
            </a:r>
            <a:r>
              <a:rPr lang="fr-CA" altLang="fr-FR" sz="2600" dirty="0"/>
              <a:t>Somme de :</a:t>
            </a:r>
          </a:p>
          <a:p>
            <a:pPr marL="0" indent="0">
              <a:lnSpc>
                <a:spcPct val="80000"/>
              </a:lnSpc>
              <a:buNone/>
            </a:pPr>
            <a:r>
              <a:rPr lang="fr-CA" altLang="fr-FR" sz="2600" dirty="0">
                <a:solidFill>
                  <a:srgbClr val="0070C0"/>
                </a:solidFill>
              </a:rPr>
              <a:t>	</a:t>
            </a:r>
            <a:r>
              <a:rPr lang="fr-CA" altLang="fr-FR" sz="2600" dirty="0"/>
              <a:t>- paiements de loyers</a:t>
            </a:r>
          </a:p>
          <a:p>
            <a:pPr marL="0" indent="0">
              <a:lnSpc>
                <a:spcPct val="80000"/>
              </a:lnSpc>
              <a:buNone/>
            </a:pPr>
            <a:r>
              <a:rPr lang="fr-CA" altLang="fr-FR" sz="2600" dirty="0"/>
              <a:t>	- valeur résiduelle non garantie</a:t>
            </a:r>
          </a:p>
          <a:p>
            <a:pPr marL="0" indent="0">
              <a:lnSpc>
                <a:spcPct val="80000"/>
              </a:lnSpc>
              <a:buNone/>
            </a:pPr>
            <a:endParaRPr lang="fr-CA" altLang="fr-FR" sz="2600" dirty="0"/>
          </a:p>
          <a:p>
            <a:pPr marL="0" indent="0">
              <a:lnSpc>
                <a:spcPct val="80000"/>
              </a:lnSpc>
              <a:buNone/>
            </a:pPr>
            <a:r>
              <a:rPr lang="fr-CA" altLang="fr-FR" sz="2600" dirty="0">
                <a:solidFill>
                  <a:srgbClr val="0070C0"/>
                </a:solidFill>
              </a:rPr>
              <a:t>Moins : Produits financiers non acquis</a:t>
            </a:r>
          </a:p>
          <a:p>
            <a:pPr marL="0" indent="0">
              <a:lnSpc>
                <a:spcPct val="80000"/>
              </a:lnSpc>
              <a:buNone/>
            </a:pPr>
            <a:endParaRPr lang="fr-CA" altLang="fr-FR" sz="2600" dirty="0">
              <a:solidFill>
                <a:srgbClr val="0070C0"/>
              </a:solidFill>
            </a:endParaRPr>
          </a:p>
          <a:p>
            <a:pPr marL="0" indent="0">
              <a:lnSpc>
                <a:spcPct val="80000"/>
              </a:lnSpc>
              <a:buNone/>
            </a:pPr>
            <a:r>
              <a:rPr lang="fr-CA" altLang="fr-FR" sz="2600" dirty="0">
                <a:solidFill>
                  <a:srgbClr val="0070C0"/>
                </a:solidFill>
              </a:rPr>
              <a:t>= Investissement net dans le contrat de location</a:t>
            </a:r>
          </a:p>
          <a:p>
            <a:pPr marL="446088" indent="-446088">
              <a:lnSpc>
                <a:spcPct val="80000"/>
              </a:lnSpc>
              <a:buNone/>
            </a:pPr>
            <a:r>
              <a:rPr lang="fr-CA" altLang="fr-FR" sz="2600" dirty="0">
                <a:solidFill>
                  <a:srgbClr val="0070C0"/>
                </a:solidFill>
              </a:rPr>
              <a:t>	</a:t>
            </a:r>
            <a:r>
              <a:rPr lang="fr-CA" altLang="fr-FR" sz="2600" dirty="0"/>
              <a:t>Investissement brut dans contrat de location, actualisé au taux d’intérêt implicite du contrat de location</a:t>
            </a:r>
            <a:endParaRPr lang="fr-CA" altLang="fr-FR" sz="2000" dirty="0"/>
          </a:p>
          <a:p>
            <a:pPr marL="0" indent="0">
              <a:lnSpc>
                <a:spcPct val="80000"/>
              </a:lnSpc>
              <a:buNone/>
            </a:pPr>
            <a:endParaRPr lang="fr-CA" altLang="fr-FR" sz="1200" dirty="0"/>
          </a:p>
          <a:p>
            <a:pPr marL="0" indent="0">
              <a:lnSpc>
                <a:spcPct val="80000"/>
              </a:lnSpc>
            </a:pPr>
            <a:endParaRPr lang="fr-CA" altLang="fr-FR" sz="800" dirty="0"/>
          </a:p>
          <a:p>
            <a:pPr marL="0" indent="0">
              <a:lnSpc>
                <a:spcPct val="80000"/>
              </a:lnSpc>
              <a:buNone/>
            </a:pPr>
            <a:endParaRPr lang="fr-CA" altLang="fr-FR" sz="800" dirty="0"/>
          </a:p>
        </p:txBody>
      </p:sp>
      <p:sp>
        <p:nvSpPr>
          <p:cNvPr id="4" name="Espace réservé du numéro de diapositive 3"/>
          <p:cNvSpPr>
            <a:spLocks noGrp="1"/>
          </p:cNvSpPr>
          <p:nvPr>
            <p:ph type="sldNum" sz="quarter" idx="12"/>
          </p:nvPr>
        </p:nvSpPr>
        <p:spPr/>
        <p:txBody>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fld id="{7E32F8FE-A3F0-484A-B280-FE8A6F938B8D}" type="slidenum">
              <a:rPr lang="fr-FR" altLang="fr-FR">
                <a:solidFill>
                  <a:srgbClr val="898989"/>
                </a:solidFill>
              </a:rPr>
              <a:pPr/>
              <a:t>96</a:t>
            </a:fld>
            <a:endParaRPr lang="fr-FR" altLang="fr-FR">
              <a:solidFill>
                <a:srgbClr val="898989"/>
              </a:solidFill>
            </a:endParaRPr>
          </a:p>
        </p:txBody>
      </p:sp>
      <p:sp>
        <p:nvSpPr>
          <p:cNvPr id="5" name="Espace réservé du pied de page 4">
            <a:extLst>
              <a:ext uri="{FF2B5EF4-FFF2-40B4-BE49-F238E27FC236}">
                <a16:creationId xmlns:a16="http://schemas.microsoft.com/office/drawing/2014/main" id="{5EB7B4B5-7750-4D61-B1CB-2EE9FE57A3F8}"/>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252583019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3"/>
          <p:cNvSpPr>
            <a:spLocks noGrp="1" noChangeArrowheads="1"/>
          </p:cNvSpPr>
          <p:nvPr>
            <p:ph idx="1"/>
          </p:nvPr>
        </p:nvSpPr>
        <p:spPr>
          <a:xfrm>
            <a:off x="838199" y="1695451"/>
            <a:ext cx="10515599" cy="4741863"/>
          </a:xfrm>
        </p:spPr>
        <p:txBody>
          <a:bodyPr/>
          <a:lstStyle/>
          <a:p>
            <a:pPr marL="0" indent="0">
              <a:spcBef>
                <a:spcPts val="0"/>
              </a:spcBef>
              <a:buNone/>
            </a:pPr>
            <a:r>
              <a:rPr lang="fr-FR" altLang="en-US" sz="2400" dirty="0"/>
              <a:t>Tout contrat de location autre qu’un contrat de location-financement</a:t>
            </a:r>
            <a:endParaRPr lang="fr-FR" altLang="en-US" dirty="0"/>
          </a:p>
          <a:p>
            <a:pPr marL="981075" lvl="2" indent="-350838">
              <a:spcBef>
                <a:spcPts val="0"/>
              </a:spcBef>
              <a:buSzPct val="68000"/>
            </a:pPr>
            <a:r>
              <a:rPr lang="fr-FR" altLang="en-US" sz="2200" dirty="0"/>
              <a:t>ont habituellement une durée plus courte </a:t>
            </a:r>
          </a:p>
          <a:p>
            <a:pPr marL="981075" lvl="2" indent="-350838">
              <a:spcBef>
                <a:spcPts val="0"/>
              </a:spcBef>
              <a:buSzPct val="68000"/>
            </a:pPr>
            <a:r>
              <a:rPr lang="fr-FR" altLang="en-US" sz="2200" dirty="0"/>
              <a:t>peuvent souvent être annulés avec un court préavis, avec ou sans pénalité</a:t>
            </a:r>
          </a:p>
          <a:p>
            <a:pPr>
              <a:buFont typeface="Wingdings 3" panose="05040102010807070707" pitchFamily="18" charset="2"/>
              <a:buNone/>
            </a:pPr>
            <a:endParaRPr lang="fr-FR" altLang="en-US" sz="1050" dirty="0"/>
          </a:p>
          <a:p>
            <a:pPr>
              <a:buFont typeface="Wingdings 3" panose="05040102010807070707" pitchFamily="18" charset="2"/>
              <a:buNone/>
            </a:pPr>
            <a:r>
              <a:rPr lang="fr-FR" altLang="en-US" dirty="0"/>
              <a:t>Comptabilisation    =&gt; </a:t>
            </a:r>
            <a:r>
              <a:rPr lang="fr-FR" altLang="en-US" sz="2400" i="1" dirty="0"/>
              <a:t>ne </a:t>
            </a:r>
            <a:r>
              <a:rPr lang="fr-FR" altLang="en-US" sz="2400" i="1" dirty="0" err="1"/>
              <a:t>décomptabilise</a:t>
            </a:r>
            <a:r>
              <a:rPr lang="fr-FR" altLang="en-US" sz="2400" i="1" dirty="0"/>
              <a:t> pas l’immobilisation</a:t>
            </a:r>
            <a:endParaRPr lang="fr-FR" altLang="en-US" i="1" dirty="0"/>
          </a:p>
          <a:p>
            <a:r>
              <a:rPr lang="fr-FR" altLang="en-US" sz="2400" dirty="0"/>
              <a:t>Comptabiliser en produits les paiements de loyers, habituellement selon la méthode linéaire</a:t>
            </a:r>
          </a:p>
          <a:p>
            <a:r>
              <a:rPr lang="fr-FR" altLang="en-US" sz="2400" dirty="0"/>
              <a:t>Coûts directs initiaux : </a:t>
            </a:r>
            <a:r>
              <a:rPr lang="fr-FR" altLang="en-US" sz="2000" dirty="0"/>
              <a:t>ajouter à la valeur comptable du bien loué et comptabiliser en charges sur la durée du contrat de location</a:t>
            </a:r>
          </a:p>
          <a:p>
            <a:r>
              <a:rPr lang="fr-FR" altLang="en-US" sz="2400" dirty="0"/>
              <a:t>Méthode d’amortissement</a:t>
            </a:r>
            <a:r>
              <a:rPr lang="fr-FR" altLang="en-US" sz="2000" dirty="0"/>
              <a:t> cohérente avec la méthode d’amortissement des biens similaires du bailleur</a:t>
            </a:r>
            <a:endParaRPr lang="fr-FR" altLang="en-US" dirty="0"/>
          </a:p>
          <a:p>
            <a:pPr>
              <a:buFont typeface="Wingdings" panose="05000000000000000000" pitchFamily="2" charset="2"/>
              <a:buNone/>
            </a:pPr>
            <a:endParaRPr lang="fr-FR" altLang="en-US" dirty="0"/>
          </a:p>
        </p:txBody>
      </p:sp>
      <p:sp>
        <p:nvSpPr>
          <p:cNvPr id="31746" name="Espace réservé du numéro de diapositive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fld id="{3E672090-4591-4A9D-B491-8EF7B2BC91AC}" type="slidenum">
              <a:rPr lang="fr-FR" altLang="en-US" sz="1000">
                <a:latin typeface="Tahoma" panose="020B0604030504040204" pitchFamily="34" charset="0"/>
              </a:rPr>
              <a:pPr/>
              <a:t>97</a:t>
            </a:fld>
            <a:endParaRPr lang="fr-FR" altLang="en-US" sz="1000">
              <a:latin typeface="Tahoma" panose="020B0604030504040204" pitchFamily="34" charset="0"/>
            </a:endParaRPr>
          </a:p>
        </p:txBody>
      </p:sp>
      <p:sp>
        <p:nvSpPr>
          <p:cNvPr id="31747" name="Rectangle 2"/>
          <p:cNvSpPr>
            <a:spLocks noGrp="1" noChangeArrowheads="1"/>
          </p:cNvSpPr>
          <p:nvPr>
            <p:ph type="title"/>
          </p:nvPr>
        </p:nvSpPr>
        <p:spPr/>
        <p:txBody>
          <a:bodyPr/>
          <a:lstStyle/>
          <a:p>
            <a:r>
              <a:rPr lang="fr-FR" altLang="en-US" sz="3600" dirty="0"/>
              <a:t>Contrat de location simple</a:t>
            </a:r>
            <a:endParaRPr lang="fr-FR" altLang="fr-FR" dirty="0"/>
          </a:p>
        </p:txBody>
      </p:sp>
      <p:sp>
        <p:nvSpPr>
          <p:cNvPr id="2" name="Espace réservé du pied de page 1">
            <a:extLst>
              <a:ext uri="{FF2B5EF4-FFF2-40B4-BE49-F238E27FC236}">
                <a16:creationId xmlns:a16="http://schemas.microsoft.com/office/drawing/2014/main" id="{BFD6E4B5-07A1-4EC4-8F86-BDE6B811A81D}"/>
              </a:ext>
            </a:extLst>
          </p:cNvPr>
          <p:cNvSpPr>
            <a:spLocks noGrp="1"/>
          </p:cNvSpPr>
          <p:nvPr>
            <p:ph type="ftr" sz="quarter" idx="11"/>
          </p:nvPr>
        </p:nvSpPr>
        <p:spPr/>
        <p:txBody>
          <a:bodyPr/>
          <a:lstStyle/>
          <a:p>
            <a:r>
              <a:rPr lang="fr-FR"/>
              <a:t>Droits réservés - Louise Overbeek</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3"/>
          <p:cNvSpPr>
            <a:spLocks noGrp="1" noChangeArrowheads="1"/>
          </p:cNvSpPr>
          <p:nvPr>
            <p:ph idx="1"/>
          </p:nvPr>
        </p:nvSpPr>
        <p:spPr>
          <a:xfrm>
            <a:off x="838199" y="1447801"/>
            <a:ext cx="10515599" cy="4774579"/>
          </a:xfrm>
        </p:spPr>
        <p:txBody>
          <a:bodyPr>
            <a:normAutofit/>
          </a:bodyPr>
          <a:lstStyle/>
          <a:p>
            <a:pPr>
              <a:lnSpc>
                <a:spcPct val="80000"/>
              </a:lnSpc>
            </a:pPr>
            <a:r>
              <a:rPr lang="fr-FR" altLang="en-US" b="1" dirty="0"/>
              <a:t>Coût des services </a:t>
            </a:r>
            <a:r>
              <a:rPr lang="fr-FR" altLang="en-US" i="1" dirty="0"/>
              <a:t>(frais accessoires)</a:t>
            </a:r>
            <a:r>
              <a:rPr lang="fr-FR" altLang="en-US" dirty="0"/>
              <a:t> : frais liés à l’utilisation du bien loué (assurances, entretien, impôts fonciers, etc.).</a:t>
            </a:r>
            <a:endParaRPr lang="fr-FR" altLang="en-US" sz="1050" dirty="0"/>
          </a:p>
          <a:p>
            <a:pPr>
              <a:lnSpc>
                <a:spcPct val="80000"/>
              </a:lnSpc>
              <a:buFont typeface="Wingdings" panose="05000000000000000000" pitchFamily="2" charset="2"/>
              <a:buNone/>
            </a:pPr>
            <a:endParaRPr lang="fr-FR" altLang="en-US" sz="900" dirty="0"/>
          </a:p>
          <a:p>
            <a:pPr>
              <a:lnSpc>
                <a:spcPct val="80000"/>
              </a:lnSpc>
            </a:pPr>
            <a:r>
              <a:rPr lang="fr-FR" altLang="en-US" b="1" dirty="0"/>
              <a:t>Coûts directs initiaux </a:t>
            </a:r>
            <a:r>
              <a:rPr lang="fr-FR" altLang="en-US" dirty="0"/>
              <a:t>: coûts marginaux directement attribuables à la négociation et à la conclusion d’un contrat de location. </a:t>
            </a:r>
            <a:r>
              <a:rPr lang="fr-FR" altLang="en-US" sz="2400" dirty="0"/>
              <a:t>Ces frais comprennent les commissions, les frais juridiques et les coûts relatifs à la préparation et à la rédaction des documents ayant trait au nouveau bail. </a:t>
            </a:r>
            <a:endParaRPr lang="fr-FR" altLang="en-US" sz="1050" dirty="0"/>
          </a:p>
          <a:p>
            <a:pPr>
              <a:lnSpc>
                <a:spcPct val="80000"/>
              </a:lnSpc>
              <a:buFont typeface="Wingdings" panose="05000000000000000000" pitchFamily="2" charset="2"/>
              <a:buNone/>
            </a:pPr>
            <a:endParaRPr lang="fr-FR" altLang="en-US" sz="900" dirty="0"/>
          </a:p>
          <a:p>
            <a:pPr>
              <a:lnSpc>
                <a:spcPct val="80000"/>
              </a:lnSpc>
            </a:pPr>
            <a:r>
              <a:rPr lang="fr-FR" altLang="en-US" b="1" dirty="0"/>
              <a:t>Loyer conditionnel </a:t>
            </a:r>
            <a:r>
              <a:rPr lang="fr-FR" altLang="en-US" dirty="0"/>
              <a:t>: loyer basé sur un facteur autre que le temps (ex. % chiffre d’affaires, km).</a:t>
            </a:r>
            <a:endParaRPr lang="fr-FR" altLang="en-US" sz="900" dirty="0"/>
          </a:p>
          <a:p>
            <a:pPr>
              <a:lnSpc>
                <a:spcPct val="80000"/>
              </a:lnSpc>
              <a:buFont typeface="Wingdings" panose="05000000000000000000" pitchFamily="2" charset="2"/>
              <a:buNone/>
            </a:pPr>
            <a:endParaRPr lang="fr-FR" altLang="en-US" sz="900" dirty="0"/>
          </a:p>
          <a:p>
            <a:pPr>
              <a:lnSpc>
                <a:spcPct val="80000"/>
              </a:lnSpc>
            </a:pPr>
            <a:r>
              <a:rPr lang="fr-FR" altLang="en-US" b="1" dirty="0"/>
              <a:t>Valeur résiduelle</a:t>
            </a:r>
            <a:r>
              <a:rPr lang="fr-FR" altLang="en-US" dirty="0"/>
              <a:t>: Juste valeur du bien loué</a:t>
            </a:r>
            <a:r>
              <a:rPr lang="fr-CA" altLang="en-US" dirty="0"/>
              <a:t> au terme du bail, </a:t>
            </a:r>
            <a:r>
              <a:rPr lang="fr-CA" altLang="en-US" i="1" dirty="0"/>
              <a:t>peut être garantie ou non par le preneur</a:t>
            </a:r>
            <a:r>
              <a:rPr lang="fr-CA" altLang="en-US" dirty="0"/>
              <a:t>.</a:t>
            </a:r>
            <a:endParaRPr lang="fr-FR" altLang="en-US" sz="2400" dirty="0"/>
          </a:p>
        </p:txBody>
      </p:sp>
      <p:sp>
        <p:nvSpPr>
          <p:cNvPr id="34818" name="Espace réservé du numéro de diapositive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fld id="{DB47D778-DDB8-4E00-9AA4-CC1EE17CEF96}" type="slidenum">
              <a:rPr lang="fr-FR" altLang="en-US" sz="1000">
                <a:latin typeface="Tahoma" panose="020B0604030504040204" pitchFamily="34" charset="0"/>
              </a:rPr>
              <a:pPr/>
              <a:t>98</a:t>
            </a:fld>
            <a:endParaRPr lang="fr-FR" altLang="en-US" sz="1000">
              <a:latin typeface="Tahoma" panose="020B0604030504040204" pitchFamily="34" charset="0"/>
            </a:endParaRPr>
          </a:p>
        </p:txBody>
      </p:sp>
      <p:sp>
        <p:nvSpPr>
          <p:cNvPr id="34819" name="Rectangle 2"/>
          <p:cNvSpPr>
            <a:spLocks noGrp="1" noChangeArrowheads="1"/>
          </p:cNvSpPr>
          <p:nvPr>
            <p:ph type="title"/>
          </p:nvPr>
        </p:nvSpPr>
        <p:spPr>
          <a:xfrm>
            <a:off x="838200" y="365125"/>
            <a:ext cx="10515600" cy="805753"/>
          </a:xfrm>
        </p:spPr>
        <p:txBody>
          <a:bodyPr/>
          <a:lstStyle/>
          <a:p>
            <a:r>
              <a:rPr lang="fr-CA" altLang="fr-FR" sz="3600" dirty="0"/>
              <a:t>Définitions</a:t>
            </a:r>
            <a:endParaRPr lang="fr-FR" altLang="fr-FR" dirty="0"/>
          </a:p>
        </p:txBody>
      </p:sp>
      <p:sp>
        <p:nvSpPr>
          <p:cNvPr id="2" name="Espace réservé du pied de page 1">
            <a:extLst>
              <a:ext uri="{FF2B5EF4-FFF2-40B4-BE49-F238E27FC236}">
                <a16:creationId xmlns:a16="http://schemas.microsoft.com/office/drawing/2014/main" id="{46F34A15-CE8D-4347-9025-DD4CA59E5C5E}"/>
              </a:ext>
            </a:extLst>
          </p:cNvPr>
          <p:cNvSpPr>
            <a:spLocks noGrp="1"/>
          </p:cNvSpPr>
          <p:nvPr>
            <p:ph type="ftr" sz="quarter" idx="11"/>
          </p:nvPr>
        </p:nvSpPr>
        <p:spPr/>
        <p:txBody>
          <a:bodyPr/>
          <a:lstStyle/>
          <a:p>
            <a:r>
              <a:rPr lang="fr-FR"/>
              <a:t>Droits réservés - Louise Overbeek</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3"/>
          <p:cNvSpPr>
            <a:spLocks noGrp="1" noChangeArrowheads="1"/>
          </p:cNvSpPr>
          <p:nvPr>
            <p:ph idx="1"/>
          </p:nvPr>
        </p:nvSpPr>
        <p:spPr>
          <a:xfrm>
            <a:off x="838199" y="1691641"/>
            <a:ext cx="10515599" cy="4440873"/>
          </a:xfrm>
        </p:spPr>
        <p:txBody>
          <a:bodyPr>
            <a:normAutofit fontScale="85000" lnSpcReduction="20000"/>
          </a:bodyPr>
          <a:lstStyle/>
          <a:p>
            <a:pPr marL="177800" indent="-177800">
              <a:lnSpc>
                <a:spcPct val="80000"/>
              </a:lnSpc>
              <a:buNone/>
            </a:pPr>
            <a:r>
              <a:rPr lang="fr-FR" altLang="fr-FR" sz="2600" b="1" dirty="0"/>
              <a:t>Taux d</a:t>
            </a:r>
            <a:r>
              <a:rPr lang="fr-FR" altLang="fr-CA" sz="2600" b="1" dirty="0"/>
              <a:t>’</a:t>
            </a:r>
            <a:r>
              <a:rPr lang="fr-FR" altLang="fr-FR" sz="2600" b="1" dirty="0"/>
              <a:t>intérêt implicite du contrat de location </a:t>
            </a:r>
            <a:r>
              <a:rPr lang="fr-FR" altLang="fr-FR" sz="2600" dirty="0"/>
              <a:t>: </a:t>
            </a:r>
          </a:p>
          <a:p>
            <a:pPr marL="534988" indent="-446088">
              <a:lnSpc>
                <a:spcPct val="80000"/>
              </a:lnSpc>
              <a:buNone/>
            </a:pPr>
            <a:r>
              <a:rPr lang="fr-FR" altLang="fr-FR" sz="2600" dirty="0"/>
              <a:t>taux d’intérêt qui rend la valeur actualisée</a:t>
            </a:r>
          </a:p>
          <a:p>
            <a:pPr marL="534988" indent="-446088">
              <a:lnSpc>
                <a:spcPct val="80000"/>
              </a:lnSpc>
              <a:buFont typeface="Wingdings 3" panose="05040102010807070707" pitchFamily="18" charset="2"/>
              <a:buAutoNum type="alphaLcParenR"/>
              <a:tabLst>
                <a:tab pos="534988" algn="l"/>
              </a:tabLst>
            </a:pPr>
            <a:r>
              <a:rPr lang="fr-FR" altLang="fr-FR" sz="2600" dirty="0"/>
              <a:t>des paiements de loyers et</a:t>
            </a:r>
          </a:p>
          <a:p>
            <a:pPr marL="534988" indent="-446088">
              <a:lnSpc>
                <a:spcPct val="80000"/>
              </a:lnSpc>
              <a:buFont typeface="Wingdings 3" panose="05040102010807070707" pitchFamily="18" charset="2"/>
              <a:buAutoNum type="alphaLcParenR"/>
              <a:tabLst>
                <a:tab pos="534988" algn="l"/>
              </a:tabLst>
            </a:pPr>
            <a:r>
              <a:rPr lang="fr-FR" altLang="fr-FR" sz="2600" dirty="0"/>
              <a:t>de la valeur résiduelle non garantie</a:t>
            </a:r>
          </a:p>
          <a:p>
            <a:pPr marL="534988" indent="-446088">
              <a:lnSpc>
                <a:spcPct val="80000"/>
              </a:lnSpc>
              <a:buNone/>
            </a:pPr>
            <a:r>
              <a:rPr lang="fr-FR" altLang="fr-FR" sz="2600" dirty="0"/>
              <a:t>Égale à la somme :</a:t>
            </a:r>
          </a:p>
          <a:p>
            <a:pPr marL="534988" indent="-446088">
              <a:lnSpc>
                <a:spcPct val="80000"/>
              </a:lnSpc>
              <a:buNone/>
              <a:tabLst>
                <a:tab pos="534988" algn="l"/>
              </a:tabLst>
            </a:pPr>
            <a:r>
              <a:rPr lang="fr-FR" altLang="fr-FR" sz="2600" dirty="0"/>
              <a:t>i)  	de la juste valeur du bien sous-jacent et</a:t>
            </a:r>
          </a:p>
          <a:p>
            <a:pPr marL="534988" indent="-446088">
              <a:lnSpc>
                <a:spcPct val="80000"/>
              </a:lnSpc>
              <a:buNone/>
              <a:tabLst>
                <a:tab pos="534988" algn="l"/>
              </a:tabLst>
            </a:pPr>
            <a:r>
              <a:rPr lang="fr-FR" altLang="fr-FR" sz="2600" dirty="0"/>
              <a:t>ii) 	des coûts directs initiaux du bailleur</a:t>
            </a:r>
            <a:endParaRPr lang="fr-FR" altLang="fr-FR" sz="2200" dirty="0"/>
          </a:p>
          <a:p>
            <a:pPr marL="177800" lvl="1" indent="-177800">
              <a:lnSpc>
                <a:spcPct val="80000"/>
              </a:lnSpc>
            </a:pPr>
            <a:endParaRPr lang="fr-FR" altLang="fr-FR" sz="2200" dirty="0"/>
          </a:p>
          <a:p>
            <a:pPr marL="177800" lvl="1" indent="-177800">
              <a:lnSpc>
                <a:spcPct val="80000"/>
              </a:lnSpc>
              <a:buNone/>
            </a:pPr>
            <a:r>
              <a:rPr lang="fr-FR" altLang="fr-FR" sz="2600" b="1" dirty="0"/>
              <a:t>Taux d’emprunt marginal du preneur </a:t>
            </a:r>
            <a:r>
              <a:rPr lang="fr-FR" altLang="fr-FR" sz="2200" dirty="0"/>
              <a:t>: </a:t>
            </a:r>
          </a:p>
          <a:p>
            <a:pPr marL="0" lvl="1" indent="0">
              <a:lnSpc>
                <a:spcPct val="120000"/>
              </a:lnSpc>
              <a:buNone/>
            </a:pPr>
            <a:r>
              <a:rPr lang="fr-FR" altLang="fr-FR" sz="2600" dirty="0"/>
              <a:t>Taux d’intérêt que le preneur aurait à payer pour emprunter, pour une durée et avec une garantie similaires, les fonds nécessaires pour se procurer un bien de valeur similaire à l’actif au titre du droit d’utilisation dans un environnement économique similaire</a:t>
            </a:r>
            <a:endParaRPr lang="fr-FR" altLang="fr-FR" sz="2200" dirty="0"/>
          </a:p>
          <a:p>
            <a:pPr marL="177800" lvl="1" indent="-177800">
              <a:lnSpc>
                <a:spcPct val="80000"/>
              </a:lnSpc>
            </a:pPr>
            <a:endParaRPr lang="fr-FR" altLang="fr-FR" sz="2200" dirty="0"/>
          </a:p>
          <a:p>
            <a:pPr marL="571500" lvl="1">
              <a:lnSpc>
                <a:spcPct val="80000"/>
              </a:lnSpc>
              <a:buNone/>
            </a:pPr>
            <a:r>
              <a:rPr lang="fr-FR" altLang="fr-FR" sz="2200" dirty="0"/>
              <a:t> </a:t>
            </a:r>
          </a:p>
        </p:txBody>
      </p:sp>
      <p:sp>
        <p:nvSpPr>
          <p:cNvPr id="35842" name="Espace réservé du numéro de diapositive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fld id="{EF581B56-0676-46A5-846C-7131DA544782}" type="slidenum">
              <a:rPr lang="fr-FR" altLang="en-US" sz="1000">
                <a:latin typeface="Tahoma" panose="020B0604030504040204" pitchFamily="34" charset="0"/>
              </a:rPr>
              <a:pPr/>
              <a:t>99</a:t>
            </a:fld>
            <a:endParaRPr lang="fr-FR" altLang="en-US" sz="1000">
              <a:latin typeface="Tahoma" panose="020B0604030504040204" pitchFamily="34" charset="0"/>
            </a:endParaRPr>
          </a:p>
        </p:txBody>
      </p:sp>
      <p:sp>
        <p:nvSpPr>
          <p:cNvPr id="35843" name="Rectangle 2"/>
          <p:cNvSpPr>
            <a:spLocks noGrp="1" noChangeArrowheads="1"/>
          </p:cNvSpPr>
          <p:nvPr>
            <p:ph type="title"/>
          </p:nvPr>
        </p:nvSpPr>
        <p:spPr/>
        <p:txBody>
          <a:bodyPr/>
          <a:lstStyle/>
          <a:p>
            <a:r>
              <a:rPr lang="fr-CA" altLang="fr-FR" sz="3600" dirty="0"/>
              <a:t>Définitions</a:t>
            </a:r>
            <a:endParaRPr lang="fr-FR" altLang="fr-FR" dirty="0"/>
          </a:p>
        </p:txBody>
      </p:sp>
      <p:sp>
        <p:nvSpPr>
          <p:cNvPr id="2" name="Espace réservé du pied de page 1">
            <a:extLst>
              <a:ext uri="{FF2B5EF4-FFF2-40B4-BE49-F238E27FC236}">
                <a16:creationId xmlns:a16="http://schemas.microsoft.com/office/drawing/2014/main" id="{7DA1D0DB-4922-4D5B-ADD0-6E58DCA12DA2}"/>
              </a:ext>
            </a:extLst>
          </p:cNvPr>
          <p:cNvSpPr>
            <a:spLocks noGrp="1"/>
          </p:cNvSpPr>
          <p:nvPr>
            <p:ph type="ftr" sz="quarter" idx="11"/>
          </p:nvPr>
        </p:nvSpPr>
        <p:spPr/>
        <p:txBody>
          <a:bodyPr/>
          <a:lstStyle/>
          <a:p>
            <a:r>
              <a:rPr lang="fr-FR"/>
              <a:t>Droits réservés - Louise Overbeek</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903249" y="274638"/>
            <a:ext cx="10450551" cy="628332"/>
          </a:xfrm>
        </p:spPr>
        <p:txBody>
          <a:bodyPr/>
          <a:lstStyle/>
          <a:p>
            <a:r>
              <a:rPr lang="fr-CA" sz="3600" b="1" dirty="0"/>
              <a:t>Paiements de loyers</a:t>
            </a:r>
            <a:endParaRPr lang="fr-CA" dirty="0"/>
          </a:p>
        </p:txBody>
      </p:sp>
      <p:sp>
        <p:nvSpPr>
          <p:cNvPr id="3" name="Espace réservé du contenu 2"/>
          <p:cNvSpPr>
            <a:spLocks noGrp="1"/>
          </p:cNvSpPr>
          <p:nvPr>
            <p:ph idx="1"/>
          </p:nvPr>
        </p:nvSpPr>
        <p:spPr>
          <a:xfrm>
            <a:off x="903249" y="1315844"/>
            <a:ext cx="10450551" cy="4810320"/>
          </a:xfrm>
        </p:spPr>
        <p:txBody>
          <a:bodyPr>
            <a:normAutofit lnSpcReduction="10000"/>
          </a:bodyPr>
          <a:lstStyle/>
          <a:p>
            <a:pPr marL="0" indent="0">
              <a:buNone/>
            </a:pPr>
            <a:r>
              <a:rPr lang="fr-CA" sz="2400" dirty="0"/>
              <a:t>Paiements que le </a:t>
            </a:r>
            <a:r>
              <a:rPr lang="fr-CA" sz="2400" b="1" dirty="0"/>
              <a:t>preneur</a:t>
            </a:r>
            <a:r>
              <a:rPr lang="fr-CA" sz="2400" dirty="0"/>
              <a:t> fait au </a:t>
            </a:r>
            <a:r>
              <a:rPr lang="fr-CA" sz="2400" b="1" dirty="0"/>
              <a:t>bailleur</a:t>
            </a:r>
            <a:r>
              <a:rPr lang="fr-CA" sz="2400" dirty="0"/>
              <a:t> relativement au droit d'utiliser le </a:t>
            </a:r>
            <a:r>
              <a:rPr lang="fr-CA" sz="2400" b="1" dirty="0"/>
              <a:t>bien sous-jacent</a:t>
            </a:r>
            <a:r>
              <a:rPr lang="fr-CA" sz="2400" dirty="0"/>
              <a:t> pendant la </a:t>
            </a:r>
            <a:r>
              <a:rPr lang="fr-CA" sz="2400" b="1" dirty="0"/>
              <a:t>durée du contrat de location</a:t>
            </a:r>
            <a:r>
              <a:rPr lang="fr-CA" sz="2400" dirty="0"/>
              <a:t> et qui comprennent les éléments suivants :</a:t>
            </a:r>
          </a:p>
          <a:p>
            <a:pPr marL="0" indent="0">
              <a:buNone/>
            </a:pPr>
            <a:r>
              <a:rPr lang="fr-CA" sz="2400" dirty="0"/>
              <a:t>(a) les </a:t>
            </a:r>
            <a:r>
              <a:rPr lang="fr-CA" sz="2400" b="1" dirty="0"/>
              <a:t>paiements fixes</a:t>
            </a:r>
            <a:r>
              <a:rPr lang="fr-CA" sz="2400" dirty="0"/>
              <a:t> (y compris en substance), déduction faite des </a:t>
            </a:r>
            <a:r>
              <a:rPr lang="fr-CA" sz="2400" b="1" dirty="0"/>
              <a:t>avantages incitatifs à la location </a:t>
            </a:r>
            <a:r>
              <a:rPr lang="fr-CA" sz="2400" dirty="0"/>
              <a:t>;</a:t>
            </a:r>
          </a:p>
          <a:p>
            <a:pPr marL="0" indent="0">
              <a:buNone/>
            </a:pPr>
            <a:r>
              <a:rPr lang="fr-CA" sz="2400" dirty="0"/>
              <a:t>(b) les </a:t>
            </a:r>
            <a:r>
              <a:rPr lang="fr-CA" sz="2400" b="1" dirty="0"/>
              <a:t>paiements de loyers variables</a:t>
            </a:r>
            <a:r>
              <a:rPr lang="fr-CA" sz="2400" dirty="0"/>
              <a:t> qui sont fonction d'un indice ou d'un taux ;</a:t>
            </a:r>
          </a:p>
          <a:p>
            <a:pPr marL="0" indent="0">
              <a:buNone/>
            </a:pPr>
            <a:r>
              <a:rPr lang="fr-CA" sz="2400" dirty="0"/>
              <a:t>(c) le prix d'exercice de toute option d'achat que le preneur a la certitude raisonnable d'exercer ;</a:t>
            </a:r>
          </a:p>
          <a:p>
            <a:pPr marL="0" indent="0">
              <a:buNone/>
            </a:pPr>
            <a:r>
              <a:rPr lang="fr-CA" sz="2400" dirty="0"/>
              <a:t>(d) les pénalités exigées en cas de résiliation du </a:t>
            </a:r>
            <a:r>
              <a:rPr lang="fr-CA" sz="2400" b="1" dirty="0"/>
              <a:t>contrat de location</a:t>
            </a:r>
            <a:r>
              <a:rPr lang="fr-CA" sz="2400" dirty="0"/>
              <a:t>, si la durée du contrat de location reflète l'exercice par le preneur de l'option de résiliation du contrat de location.</a:t>
            </a:r>
          </a:p>
          <a:p>
            <a:pPr marL="0" indent="0">
              <a:buNone/>
            </a:pPr>
            <a:endParaRPr lang="fr-CA" sz="2400" dirty="0"/>
          </a:p>
          <a:p>
            <a:pPr marL="0" indent="0">
              <a:buNone/>
            </a:pPr>
            <a:r>
              <a:rPr lang="fr-CA" sz="2400" i="1" dirty="0"/>
              <a:t>Suite page suivante</a:t>
            </a:r>
            <a:endParaRPr lang="fr-CA" sz="2000" i="1" dirty="0"/>
          </a:p>
        </p:txBody>
      </p:sp>
      <p:sp>
        <p:nvSpPr>
          <p:cNvPr id="4" name="Espace réservé du numéro de diapositive 3"/>
          <p:cNvSpPr>
            <a:spLocks noGrp="1"/>
          </p:cNvSpPr>
          <p:nvPr>
            <p:ph type="sldNum" sz="quarter" idx="12"/>
          </p:nvPr>
        </p:nvSpPr>
        <p:spPr/>
        <p:txBody>
          <a:bodyPr/>
          <a:lstStyle/>
          <a:p>
            <a:fld id="{5DC53271-AB06-4788-AC3D-33D4BA937B45}" type="slidenum">
              <a:rPr lang="fr-FR" altLang="fr-FR" smtClean="0"/>
              <a:pPr/>
              <a:t>100</a:t>
            </a:fld>
            <a:endParaRPr lang="fr-FR" altLang="fr-FR"/>
          </a:p>
        </p:txBody>
      </p:sp>
      <p:sp>
        <p:nvSpPr>
          <p:cNvPr id="5" name="Espace réservé du pied de page 4">
            <a:extLst>
              <a:ext uri="{FF2B5EF4-FFF2-40B4-BE49-F238E27FC236}">
                <a16:creationId xmlns:a16="http://schemas.microsoft.com/office/drawing/2014/main" id="{FEC755FE-D04B-4875-A2F8-8B0B96D593AD}"/>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209547676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903249" y="274638"/>
            <a:ext cx="10450551" cy="985450"/>
          </a:xfrm>
        </p:spPr>
        <p:txBody>
          <a:bodyPr/>
          <a:lstStyle/>
          <a:p>
            <a:r>
              <a:rPr lang="fr-CA" sz="3600" b="1" dirty="0"/>
              <a:t>Paiements de loyers</a:t>
            </a:r>
            <a:endParaRPr lang="fr-CA" dirty="0"/>
          </a:p>
        </p:txBody>
      </p:sp>
      <p:sp>
        <p:nvSpPr>
          <p:cNvPr id="3" name="Espace réservé du contenu 2"/>
          <p:cNvSpPr>
            <a:spLocks noGrp="1"/>
          </p:cNvSpPr>
          <p:nvPr>
            <p:ph idx="1"/>
          </p:nvPr>
        </p:nvSpPr>
        <p:spPr>
          <a:xfrm>
            <a:off x="903249" y="1572322"/>
            <a:ext cx="10450551" cy="4553842"/>
          </a:xfrm>
        </p:spPr>
        <p:txBody>
          <a:bodyPr/>
          <a:lstStyle/>
          <a:p>
            <a:r>
              <a:rPr lang="fr-CA" sz="2400" dirty="0"/>
              <a:t>Pour le preneur, les paiements de loyers comprennent également les sommes qu'il s'attend à devoir payer au bailleur au titre des </a:t>
            </a:r>
            <a:r>
              <a:rPr lang="fr-CA" sz="2400" b="1" dirty="0"/>
              <a:t>garanties de valeur résiduelle</a:t>
            </a:r>
            <a:r>
              <a:rPr lang="fr-CA" sz="2400" dirty="0"/>
              <a:t>. Par contre, ils ne comprennent pas les paiements affectés aux composantes non locatives du contrat, sauf lorsque le preneur choisit de regrouper la composante locative et les composantes non locatives et de les comptabiliser comme une seule composante, de nature locative.</a:t>
            </a:r>
          </a:p>
          <a:p>
            <a:endParaRPr lang="fr-CA" sz="2400" dirty="0"/>
          </a:p>
          <a:p>
            <a:r>
              <a:rPr lang="fr-CA" sz="2400" dirty="0"/>
              <a:t>Pour le </a:t>
            </a:r>
            <a:r>
              <a:rPr lang="fr-CA" sz="2400" u="sng" dirty="0">
                <a:solidFill>
                  <a:srgbClr val="0070C0"/>
                </a:solidFill>
              </a:rPr>
              <a:t>bailleur</a:t>
            </a:r>
            <a:r>
              <a:rPr lang="fr-CA" sz="2400" dirty="0"/>
              <a:t>, les paiements de loyers comprennent également, le cas échéant, les garanties de valeur résiduelle données par le preneur, une personne liée au preneur ou un tiers non lié au bailleur, qui a la capacité financière d'assumer les obligations de garantie. Par contre, ils ne comprennent pas les paiements affectés aux composantes non locatives.</a:t>
            </a:r>
            <a:endParaRPr lang="fr-CA" sz="2000" dirty="0"/>
          </a:p>
        </p:txBody>
      </p:sp>
      <p:sp>
        <p:nvSpPr>
          <p:cNvPr id="4" name="Espace réservé du numéro de diapositive 3"/>
          <p:cNvSpPr>
            <a:spLocks noGrp="1"/>
          </p:cNvSpPr>
          <p:nvPr>
            <p:ph type="sldNum" sz="quarter" idx="12"/>
          </p:nvPr>
        </p:nvSpPr>
        <p:spPr/>
        <p:txBody>
          <a:bodyPr/>
          <a:lstStyle/>
          <a:p>
            <a:fld id="{5DC53271-AB06-4788-AC3D-33D4BA937B45}" type="slidenum">
              <a:rPr lang="fr-FR" altLang="fr-FR" smtClean="0"/>
              <a:pPr/>
              <a:t>101</a:t>
            </a:fld>
            <a:endParaRPr lang="fr-FR" altLang="fr-FR"/>
          </a:p>
        </p:txBody>
      </p:sp>
      <p:sp>
        <p:nvSpPr>
          <p:cNvPr id="5" name="Espace réservé du pied de page 4">
            <a:extLst>
              <a:ext uri="{FF2B5EF4-FFF2-40B4-BE49-F238E27FC236}">
                <a16:creationId xmlns:a16="http://schemas.microsoft.com/office/drawing/2014/main" id="{20B222F7-5448-41AB-AF48-A73869FD4339}"/>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414127312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3"/>
          <p:cNvSpPr>
            <a:spLocks noGrp="1" noChangeArrowheads="1"/>
          </p:cNvSpPr>
          <p:nvPr>
            <p:ph idx="1"/>
          </p:nvPr>
        </p:nvSpPr>
        <p:spPr>
          <a:xfrm>
            <a:off x="838200" y="1657350"/>
            <a:ext cx="10515600" cy="4349750"/>
          </a:xfrm>
        </p:spPr>
        <p:txBody>
          <a:bodyPr>
            <a:normAutofit/>
          </a:bodyPr>
          <a:lstStyle/>
          <a:p>
            <a:pPr marL="107950" indent="0">
              <a:lnSpc>
                <a:spcPct val="80000"/>
              </a:lnSpc>
              <a:buNone/>
            </a:pPr>
            <a:r>
              <a:rPr lang="fr-CA" altLang="en-US" dirty="0"/>
              <a:t>1</a:t>
            </a:r>
            <a:r>
              <a:rPr lang="fr-CA" altLang="en-US" baseline="30000" dirty="0"/>
              <a:t>er</a:t>
            </a:r>
            <a:r>
              <a:rPr lang="fr-CA" altLang="en-US" dirty="0"/>
              <a:t> janvier :</a:t>
            </a:r>
          </a:p>
          <a:p>
            <a:pPr marL="107950" indent="0">
              <a:lnSpc>
                <a:spcPct val="80000"/>
              </a:lnSpc>
              <a:buNone/>
            </a:pPr>
            <a:endParaRPr lang="fr-CA" altLang="en-US" sz="700" dirty="0"/>
          </a:p>
          <a:p>
            <a:pPr marL="107950" indent="0">
              <a:lnSpc>
                <a:spcPct val="80000"/>
              </a:lnSpc>
              <a:buNone/>
            </a:pPr>
            <a:r>
              <a:rPr lang="fr-CA" altLang="en-US" sz="2400" dirty="0"/>
              <a:t>Équipement destiné à la location</a:t>
            </a:r>
          </a:p>
          <a:p>
            <a:pPr marL="107950" indent="0">
              <a:lnSpc>
                <a:spcPct val="80000"/>
              </a:lnSpc>
              <a:buNone/>
            </a:pPr>
            <a:r>
              <a:rPr lang="fr-CA" altLang="en-US" sz="2400" dirty="0"/>
              <a:t>@  Caisse</a:t>
            </a:r>
          </a:p>
          <a:p>
            <a:pPr marL="107950" indent="0">
              <a:lnSpc>
                <a:spcPct val="80000"/>
              </a:lnSpc>
              <a:buNone/>
            </a:pPr>
            <a:r>
              <a:rPr lang="fr-CA" altLang="en-US" sz="2400" i="1" dirty="0"/>
              <a:t>(bailleur ne détient pas en stock le bien à louer)</a:t>
            </a:r>
          </a:p>
          <a:p>
            <a:pPr marL="107950" indent="0">
              <a:lnSpc>
                <a:spcPct val="80000"/>
              </a:lnSpc>
              <a:buNone/>
            </a:pPr>
            <a:endParaRPr lang="fr-CA" altLang="en-US" sz="2400" i="1" dirty="0"/>
          </a:p>
          <a:p>
            <a:pPr marL="107950" indent="0">
              <a:lnSpc>
                <a:spcPct val="80000"/>
              </a:lnSpc>
              <a:buNone/>
            </a:pPr>
            <a:r>
              <a:rPr lang="fr-CA" altLang="en-US" sz="2400" dirty="0"/>
              <a:t>Coûts directs initiaux différés</a:t>
            </a:r>
          </a:p>
          <a:p>
            <a:pPr marL="107950" indent="0">
              <a:lnSpc>
                <a:spcPct val="80000"/>
              </a:lnSpc>
              <a:buNone/>
            </a:pPr>
            <a:r>
              <a:rPr lang="fr-CA" altLang="en-US" sz="2400" dirty="0"/>
              <a:t>@  Caisse</a:t>
            </a:r>
          </a:p>
          <a:p>
            <a:pPr marL="107950" indent="0">
              <a:lnSpc>
                <a:spcPct val="80000"/>
              </a:lnSpc>
              <a:buNone/>
            </a:pPr>
            <a:r>
              <a:rPr lang="fr-CA" altLang="en-US" sz="2400" i="1" dirty="0"/>
              <a:t>(bailleur les ajoutera à l’actif)</a:t>
            </a:r>
            <a:endParaRPr lang="fr-CA" altLang="en-US" i="1" dirty="0"/>
          </a:p>
          <a:p>
            <a:pPr marL="107950" indent="0">
              <a:lnSpc>
                <a:spcPct val="80000"/>
              </a:lnSpc>
              <a:buNone/>
            </a:pPr>
            <a:endParaRPr lang="fr-CA" altLang="en-US" sz="2400" i="1" dirty="0"/>
          </a:p>
          <a:p>
            <a:pPr marL="107950" indent="0">
              <a:lnSpc>
                <a:spcPct val="80000"/>
              </a:lnSpc>
              <a:buNone/>
            </a:pPr>
            <a:endParaRPr lang="fr-CA" altLang="en-US" sz="2000" dirty="0"/>
          </a:p>
          <a:p>
            <a:pPr marL="107950" indent="0">
              <a:lnSpc>
                <a:spcPct val="80000"/>
              </a:lnSpc>
              <a:buNone/>
            </a:pPr>
            <a:endParaRPr lang="fr-CA" altLang="en-US" sz="2000" dirty="0"/>
          </a:p>
          <a:p>
            <a:pPr marL="107950" indent="0">
              <a:lnSpc>
                <a:spcPct val="80000"/>
              </a:lnSpc>
              <a:buNone/>
            </a:pPr>
            <a:endParaRPr lang="fr-CA" altLang="en-US" sz="2700" i="1" dirty="0"/>
          </a:p>
          <a:p>
            <a:pPr marL="107950" indent="0">
              <a:lnSpc>
                <a:spcPct val="80000"/>
              </a:lnSpc>
              <a:buNone/>
            </a:pPr>
            <a:endParaRPr lang="fr-CA" altLang="en-US" sz="2700" i="1" dirty="0"/>
          </a:p>
          <a:p>
            <a:pPr marL="107950" indent="0">
              <a:lnSpc>
                <a:spcPct val="80000"/>
              </a:lnSpc>
              <a:buNone/>
            </a:pPr>
            <a:endParaRPr lang="en-US" altLang="en-US" sz="2700" dirty="0"/>
          </a:p>
        </p:txBody>
      </p:sp>
      <p:sp>
        <p:nvSpPr>
          <p:cNvPr id="52226" name="Rectangle 2"/>
          <p:cNvSpPr>
            <a:spLocks noGrp="1" noChangeArrowheads="1"/>
          </p:cNvSpPr>
          <p:nvPr>
            <p:ph type="title"/>
          </p:nvPr>
        </p:nvSpPr>
        <p:spPr/>
        <p:txBody>
          <a:bodyPr/>
          <a:lstStyle/>
          <a:p>
            <a:r>
              <a:rPr lang="fr-CA" altLang="fr-FR" sz="3400" dirty="0"/>
              <a:t>Bailleur : location-financement </a:t>
            </a:r>
            <a:br>
              <a:rPr lang="fr-CA" altLang="fr-FR" sz="3400" i="1" dirty="0"/>
            </a:br>
            <a:r>
              <a:rPr lang="fr-CA" altLang="fr-FR" sz="3400" dirty="0"/>
              <a:t>Écritures</a:t>
            </a:r>
            <a:endParaRPr lang="en-US" altLang="fr-FR" sz="3400" dirty="0"/>
          </a:p>
        </p:txBody>
      </p:sp>
      <p:sp>
        <p:nvSpPr>
          <p:cNvPr id="2" name="Slide Number Placeholder 1"/>
          <p:cNvSpPr>
            <a:spLocks noGrp="1"/>
          </p:cNvSpPr>
          <p:nvPr>
            <p:ph type="sldNum" sz="quarter" idx="12"/>
          </p:nvPr>
        </p:nvSpPr>
        <p:spPr/>
        <p:txBody>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fld id="{B1856F6B-86C7-4565-8D4C-C5CB358ED2AC}" type="slidenum">
              <a:rPr lang="fr-FR" altLang="fr-FR">
                <a:solidFill>
                  <a:srgbClr val="898989"/>
                </a:solidFill>
              </a:rPr>
              <a:pPr/>
              <a:t>102</a:t>
            </a:fld>
            <a:endParaRPr lang="fr-FR" altLang="fr-FR">
              <a:solidFill>
                <a:srgbClr val="898989"/>
              </a:solidFill>
            </a:endParaRPr>
          </a:p>
        </p:txBody>
      </p:sp>
      <p:sp>
        <p:nvSpPr>
          <p:cNvPr id="3" name="Espace réservé du pied de page 2">
            <a:extLst>
              <a:ext uri="{FF2B5EF4-FFF2-40B4-BE49-F238E27FC236}">
                <a16:creationId xmlns:a16="http://schemas.microsoft.com/office/drawing/2014/main" id="{D6B26267-6D01-4712-B446-D3C4BE28150B}"/>
              </a:ext>
            </a:extLst>
          </p:cNvPr>
          <p:cNvSpPr>
            <a:spLocks noGrp="1"/>
          </p:cNvSpPr>
          <p:nvPr>
            <p:ph type="ftr" sz="quarter" idx="11"/>
          </p:nvPr>
        </p:nvSpPr>
        <p:spPr/>
        <p:txBody>
          <a:bodyPr/>
          <a:lstStyle/>
          <a:p>
            <a:r>
              <a:rPr lang="fr-FR"/>
              <a:t>Droits réservés - Louise Overbeek</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3"/>
          <p:cNvSpPr>
            <a:spLocks noGrp="1" noChangeArrowheads="1"/>
          </p:cNvSpPr>
          <p:nvPr>
            <p:ph idx="1"/>
          </p:nvPr>
        </p:nvSpPr>
        <p:spPr>
          <a:xfrm>
            <a:off x="838200" y="1382751"/>
            <a:ext cx="10515600" cy="4973599"/>
          </a:xfrm>
        </p:spPr>
        <p:txBody>
          <a:bodyPr>
            <a:normAutofit fontScale="85000" lnSpcReduction="20000"/>
          </a:bodyPr>
          <a:lstStyle/>
          <a:p>
            <a:pPr marL="107950" indent="0">
              <a:lnSpc>
                <a:spcPct val="80000"/>
              </a:lnSpc>
              <a:buNone/>
            </a:pPr>
            <a:r>
              <a:rPr lang="fr-CA" altLang="en-US" dirty="0"/>
              <a:t>1</a:t>
            </a:r>
            <a:r>
              <a:rPr lang="fr-CA" altLang="en-US" baseline="30000" dirty="0"/>
              <a:t>er</a:t>
            </a:r>
            <a:r>
              <a:rPr lang="fr-CA" altLang="en-US" dirty="0"/>
              <a:t> janvier :</a:t>
            </a:r>
            <a:endParaRPr lang="fr-CA" altLang="en-US" sz="2400" dirty="0"/>
          </a:p>
          <a:p>
            <a:pPr marL="107950" indent="0">
              <a:lnSpc>
                <a:spcPct val="80000"/>
              </a:lnSpc>
              <a:buNone/>
            </a:pPr>
            <a:endParaRPr lang="fr-CA" altLang="en-US" sz="700" dirty="0"/>
          </a:p>
          <a:p>
            <a:pPr marL="107950" indent="0">
              <a:lnSpc>
                <a:spcPct val="80000"/>
              </a:lnSpc>
              <a:buNone/>
            </a:pPr>
            <a:r>
              <a:rPr lang="fr-CA" altLang="en-US" dirty="0"/>
              <a:t>Investissement net dans un contrat de location financement </a:t>
            </a:r>
            <a:r>
              <a:rPr lang="fr-CA" altLang="en-US" baseline="30000" dirty="0"/>
              <a:t>1</a:t>
            </a:r>
            <a:r>
              <a:rPr lang="fr-CA" altLang="en-US" dirty="0"/>
              <a:t> </a:t>
            </a:r>
            <a:endParaRPr lang="fr-CA" altLang="en-US" sz="2100" dirty="0"/>
          </a:p>
          <a:p>
            <a:pPr marL="107950" indent="0">
              <a:lnSpc>
                <a:spcPct val="80000"/>
              </a:lnSpc>
              <a:buNone/>
            </a:pPr>
            <a:r>
              <a:rPr lang="fr-CA" altLang="en-US" dirty="0"/>
              <a:t>@ Équipement destiné à la location</a:t>
            </a:r>
          </a:p>
          <a:p>
            <a:pPr marL="107950" indent="0">
              <a:lnSpc>
                <a:spcPct val="80000"/>
              </a:lnSpc>
              <a:buNone/>
            </a:pPr>
            <a:r>
              <a:rPr lang="fr-CA" altLang="en-US" dirty="0"/>
              <a:t>     Coûts directs initiaux différés</a:t>
            </a:r>
            <a:endParaRPr lang="fr-CA" altLang="en-US" sz="2200" dirty="0"/>
          </a:p>
          <a:p>
            <a:pPr marL="107950" indent="0">
              <a:lnSpc>
                <a:spcPct val="80000"/>
              </a:lnSpc>
              <a:buNone/>
            </a:pPr>
            <a:endParaRPr lang="fr-CA" altLang="en-US" sz="600" i="1" dirty="0"/>
          </a:p>
          <a:p>
            <a:pPr marL="107950" indent="0">
              <a:lnSpc>
                <a:spcPct val="80000"/>
              </a:lnSpc>
              <a:buNone/>
            </a:pPr>
            <a:r>
              <a:rPr lang="fr-CA" altLang="en-US" sz="2200" b="1" i="1" dirty="0">
                <a:solidFill>
                  <a:srgbClr val="FF0000"/>
                </a:solidFill>
              </a:rPr>
              <a:t>OU   ----------------------------------------------------------------</a:t>
            </a:r>
            <a:endParaRPr lang="fr-CA" altLang="en-US" sz="2200" i="1" dirty="0"/>
          </a:p>
          <a:p>
            <a:pPr marL="107950" indent="0">
              <a:lnSpc>
                <a:spcPct val="80000"/>
              </a:lnSpc>
              <a:buNone/>
            </a:pPr>
            <a:endParaRPr lang="fr-CA" altLang="en-US" sz="600" i="1" dirty="0"/>
          </a:p>
          <a:p>
            <a:pPr marL="107950" indent="0">
              <a:lnSpc>
                <a:spcPct val="80000"/>
              </a:lnSpc>
              <a:buNone/>
            </a:pPr>
            <a:r>
              <a:rPr lang="fr-CA" altLang="en-US" dirty="0"/>
              <a:t>Loyers à recevoir (brutes)	   </a:t>
            </a:r>
            <a:r>
              <a:rPr lang="fr-CA" altLang="en-US" i="1" dirty="0"/>
              <a:t>(ou Créances locatives)  </a:t>
            </a:r>
            <a:r>
              <a:rPr lang="fr-CA" altLang="en-US" dirty="0"/>
              <a:t> </a:t>
            </a:r>
            <a:r>
              <a:rPr lang="fr-CA" altLang="en-US" baseline="30000" dirty="0"/>
              <a:t>2</a:t>
            </a:r>
          </a:p>
          <a:p>
            <a:pPr marL="107950" indent="0">
              <a:lnSpc>
                <a:spcPct val="80000"/>
              </a:lnSpc>
              <a:buNone/>
            </a:pPr>
            <a:r>
              <a:rPr lang="fr-CA" altLang="en-US" dirty="0"/>
              <a:t>@ Équipement destiné à la location</a:t>
            </a:r>
          </a:p>
          <a:p>
            <a:pPr marL="107950" indent="0">
              <a:lnSpc>
                <a:spcPct val="80000"/>
              </a:lnSpc>
              <a:buNone/>
            </a:pPr>
            <a:r>
              <a:rPr lang="fr-CA" altLang="en-US" dirty="0"/>
              <a:t>     Coûts directs initiaux différés</a:t>
            </a:r>
          </a:p>
          <a:p>
            <a:pPr marL="107950" indent="0">
              <a:lnSpc>
                <a:spcPct val="80000"/>
              </a:lnSpc>
              <a:buNone/>
            </a:pPr>
            <a:r>
              <a:rPr lang="fr-CA" altLang="en-US" dirty="0"/>
              <a:t>     </a:t>
            </a:r>
            <a:r>
              <a:rPr lang="fr-CA" altLang="en-US" b="1" dirty="0">
                <a:solidFill>
                  <a:srgbClr val="0070C0"/>
                </a:solidFill>
              </a:rPr>
              <a:t>Produits financiers non acquis</a:t>
            </a:r>
            <a:r>
              <a:rPr lang="fr-CA" altLang="en-US" baseline="30000" dirty="0"/>
              <a:t> </a:t>
            </a:r>
            <a:r>
              <a:rPr lang="fr-CA" altLang="en-US" sz="2100" baseline="30000" dirty="0"/>
              <a:t>3</a:t>
            </a:r>
            <a:r>
              <a:rPr lang="fr-CA" altLang="en-US" sz="2100" dirty="0"/>
              <a:t> (intérêts non gagnés)</a:t>
            </a:r>
            <a:endParaRPr lang="fr-CA" altLang="en-US" sz="1600" dirty="0"/>
          </a:p>
          <a:p>
            <a:pPr marL="107950" indent="0">
              <a:lnSpc>
                <a:spcPct val="80000"/>
              </a:lnSpc>
              <a:buNone/>
            </a:pPr>
            <a:endParaRPr lang="fr-CA" altLang="en-US" sz="2000" dirty="0"/>
          </a:p>
          <a:p>
            <a:pPr marL="107950" indent="0">
              <a:lnSpc>
                <a:spcPct val="80000"/>
              </a:lnSpc>
              <a:buNone/>
            </a:pPr>
            <a:endParaRPr lang="fr-CA" altLang="en-US" sz="700" dirty="0"/>
          </a:p>
          <a:p>
            <a:pPr marL="107950" indent="0">
              <a:lnSpc>
                <a:spcPct val="80000"/>
              </a:lnSpc>
              <a:buNone/>
            </a:pPr>
            <a:r>
              <a:rPr lang="fr-CA" altLang="en-US" sz="2100" baseline="30000" dirty="0"/>
              <a:t>1</a:t>
            </a:r>
            <a:r>
              <a:rPr lang="fr-CA" altLang="en-US" sz="2400" baseline="30000" dirty="0"/>
              <a:t> </a:t>
            </a:r>
            <a:r>
              <a:rPr lang="fr-CA" altLang="en-US" sz="2400" dirty="0" err="1"/>
              <a:t>invest</a:t>
            </a:r>
            <a:r>
              <a:rPr lang="fr-CA" altLang="en-US" sz="2400" dirty="0"/>
              <a:t>. brut – produits fin. non gagnés</a:t>
            </a:r>
            <a:endParaRPr lang="fr-CA" altLang="en-US" sz="2400" baseline="30000" dirty="0"/>
          </a:p>
          <a:p>
            <a:pPr marL="107950" indent="0">
              <a:lnSpc>
                <a:spcPct val="80000"/>
              </a:lnSpc>
              <a:buNone/>
            </a:pPr>
            <a:r>
              <a:rPr lang="fr-CA" altLang="en-US" sz="2400" baseline="30000" dirty="0"/>
              <a:t>2  </a:t>
            </a:r>
            <a:r>
              <a:rPr lang="fr-CA" altLang="en-US" sz="2400" dirty="0"/>
              <a:t>sommation PME – frais accessoires + valeur résiduelle non garantie</a:t>
            </a:r>
          </a:p>
          <a:p>
            <a:pPr marL="107950" indent="0">
              <a:lnSpc>
                <a:spcPct val="80000"/>
              </a:lnSpc>
              <a:buNone/>
            </a:pPr>
            <a:r>
              <a:rPr lang="fr-CA" altLang="en-US" sz="2400" baseline="30000" dirty="0"/>
              <a:t> 3  </a:t>
            </a:r>
            <a:r>
              <a:rPr lang="fr-CA" altLang="en-US" sz="2400" dirty="0" err="1"/>
              <a:t>invest</a:t>
            </a:r>
            <a:r>
              <a:rPr lang="fr-CA" altLang="en-US" sz="2400" dirty="0"/>
              <a:t>. brut – valeur comptable du bien</a:t>
            </a:r>
            <a:endParaRPr lang="fr-CA" altLang="en-US" sz="2000" dirty="0"/>
          </a:p>
          <a:p>
            <a:pPr marL="107950" indent="0">
              <a:lnSpc>
                <a:spcPct val="80000"/>
              </a:lnSpc>
              <a:buNone/>
            </a:pPr>
            <a:endParaRPr lang="fr-CA" altLang="en-US" sz="2000" dirty="0"/>
          </a:p>
          <a:p>
            <a:pPr marL="107950" indent="0">
              <a:lnSpc>
                <a:spcPct val="80000"/>
              </a:lnSpc>
              <a:buNone/>
            </a:pPr>
            <a:endParaRPr lang="fr-CA" altLang="en-US" sz="2700" i="1" dirty="0"/>
          </a:p>
          <a:p>
            <a:pPr marL="107950" indent="0">
              <a:lnSpc>
                <a:spcPct val="80000"/>
              </a:lnSpc>
              <a:buNone/>
            </a:pPr>
            <a:endParaRPr lang="fr-CA" altLang="en-US" sz="2700" i="1" dirty="0"/>
          </a:p>
          <a:p>
            <a:pPr marL="107950" indent="0">
              <a:lnSpc>
                <a:spcPct val="80000"/>
              </a:lnSpc>
              <a:buNone/>
            </a:pPr>
            <a:endParaRPr lang="en-US" altLang="en-US" sz="2700" dirty="0"/>
          </a:p>
        </p:txBody>
      </p:sp>
      <p:sp>
        <p:nvSpPr>
          <p:cNvPr id="52226" name="Rectangle 2"/>
          <p:cNvSpPr>
            <a:spLocks noGrp="1" noChangeArrowheads="1"/>
          </p:cNvSpPr>
          <p:nvPr>
            <p:ph type="title"/>
          </p:nvPr>
        </p:nvSpPr>
        <p:spPr>
          <a:xfrm>
            <a:off x="838200" y="365126"/>
            <a:ext cx="10515600" cy="671938"/>
          </a:xfrm>
        </p:spPr>
        <p:txBody>
          <a:bodyPr>
            <a:normAutofit fontScale="90000"/>
          </a:bodyPr>
          <a:lstStyle/>
          <a:p>
            <a:r>
              <a:rPr lang="fr-CA" altLang="fr-FR" sz="3400" dirty="0"/>
              <a:t>Bailleur : location-financement </a:t>
            </a:r>
            <a:br>
              <a:rPr lang="fr-CA" altLang="fr-FR" sz="3400" i="1" dirty="0"/>
            </a:br>
            <a:r>
              <a:rPr lang="fr-CA" altLang="fr-FR" sz="3400" dirty="0"/>
              <a:t>Écritures</a:t>
            </a:r>
            <a:endParaRPr lang="en-US" altLang="fr-FR" sz="3400" dirty="0"/>
          </a:p>
        </p:txBody>
      </p:sp>
      <p:sp>
        <p:nvSpPr>
          <p:cNvPr id="2" name="Slide Number Placeholder 1"/>
          <p:cNvSpPr>
            <a:spLocks noGrp="1"/>
          </p:cNvSpPr>
          <p:nvPr>
            <p:ph type="sldNum" sz="quarter" idx="12"/>
          </p:nvPr>
        </p:nvSpPr>
        <p:spPr/>
        <p:txBody>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fld id="{B1856F6B-86C7-4565-8D4C-C5CB358ED2AC}" type="slidenum">
              <a:rPr lang="fr-FR" altLang="fr-FR">
                <a:solidFill>
                  <a:srgbClr val="898989"/>
                </a:solidFill>
              </a:rPr>
              <a:pPr/>
              <a:t>103</a:t>
            </a:fld>
            <a:endParaRPr lang="fr-FR" altLang="fr-FR">
              <a:solidFill>
                <a:srgbClr val="898989"/>
              </a:solidFill>
            </a:endParaRPr>
          </a:p>
        </p:txBody>
      </p:sp>
      <p:sp>
        <p:nvSpPr>
          <p:cNvPr id="3" name="Espace réservé du pied de page 2">
            <a:extLst>
              <a:ext uri="{FF2B5EF4-FFF2-40B4-BE49-F238E27FC236}">
                <a16:creationId xmlns:a16="http://schemas.microsoft.com/office/drawing/2014/main" id="{143B4408-F771-4DC4-BE24-1E474A89E9BC}"/>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381212148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3"/>
          <p:cNvSpPr>
            <a:spLocks noGrp="1" noChangeArrowheads="1"/>
          </p:cNvSpPr>
          <p:nvPr>
            <p:ph idx="1"/>
          </p:nvPr>
        </p:nvSpPr>
        <p:spPr>
          <a:xfrm>
            <a:off x="838199" y="1572322"/>
            <a:ext cx="10435683" cy="4434778"/>
          </a:xfrm>
        </p:spPr>
        <p:txBody>
          <a:bodyPr>
            <a:normAutofit lnSpcReduction="10000"/>
          </a:bodyPr>
          <a:lstStyle/>
          <a:p>
            <a:pPr marL="107950" indent="0">
              <a:buNone/>
            </a:pPr>
            <a:r>
              <a:rPr lang="fr-CA" altLang="en-US" sz="2400" dirty="0"/>
              <a:t>1</a:t>
            </a:r>
            <a:r>
              <a:rPr lang="fr-CA" altLang="en-US" sz="2400" baseline="30000" dirty="0"/>
              <a:t>er</a:t>
            </a:r>
            <a:r>
              <a:rPr lang="fr-CA" altLang="en-US" sz="2400" dirty="0"/>
              <a:t> janvier :</a:t>
            </a:r>
            <a:endParaRPr lang="fr-CA" altLang="en-US" dirty="0"/>
          </a:p>
          <a:p>
            <a:pPr marL="107950" indent="0">
              <a:buNone/>
            </a:pPr>
            <a:endParaRPr lang="fr-CA" altLang="en-US" sz="2000" dirty="0"/>
          </a:p>
          <a:p>
            <a:pPr marL="107950" indent="0">
              <a:lnSpc>
                <a:spcPct val="80000"/>
              </a:lnSpc>
              <a:buNone/>
            </a:pPr>
            <a:r>
              <a:rPr lang="fr-CA" altLang="en-US" sz="2400" dirty="0"/>
              <a:t>Caisse  </a:t>
            </a:r>
            <a:endParaRPr lang="fr-CA" altLang="en-US" sz="1800" dirty="0"/>
          </a:p>
          <a:p>
            <a:pPr marL="107950" indent="0">
              <a:lnSpc>
                <a:spcPct val="80000"/>
              </a:lnSpc>
              <a:buNone/>
            </a:pPr>
            <a:r>
              <a:rPr lang="fr-CA" altLang="en-US" sz="2400" dirty="0"/>
              <a:t>@ Investissement net dans un contrat de location financement</a:t>
            </a:r>
          </a:p>
          <a:p>
            <a:pPr marL="107950" indent="0">
              <a:lnSpc>
                <a:spcPct val="80000"/>
              </a:lnSpc>
              <a:buNone/>
            </a:pPr>
            <a:r>
              <a:rPr lang="fr-CA" altLang="en-US" sz="2400" dirty="0"/>
              <a:t>      </a:t>
            </a:r>
            <a:r>
              <a:rPr lang="fr-CA" altLang="en-US" sz="2400" i="1" dirty="0"/>
              <a:t>Frais accessoires</a:t>
            </a:r>
            <a:endParaRPr lang="fr-CA" altLang="en-US" sz="2400" dirty="0"/>
          </a:p>
          <a:p>
            <a:pPr marL="107950" indent="0">
              <a:lnSpc>
                <a:spcPct val="80000"/>
              </a:lnSpc>
              <a:buNone/>
            </a:pPr>
            <a:endParaRPr lang="fr-CA" altLang="en-US" sz="600" i="1" dirty="0"/>
          </a:p>
          <a:p>
            <a:pPr marL="107950" indent="0">
              <a:lnSpc>
                <a:spcPct val="80000"/>
              </a:lnSpc>
              <a:buNone/>
            </a:pPr>
            <a:r>
              <a:rPr lang="fr-CA" altLang="en-US" sz="2400" b="1" i="1" dirty="0">
                <a:solidFill>
                  <a:srgbClr val="FF0000"/>
                </a:solidFill>
              </a:rPr>
              <a:t>OU   ----------------------------------------------------------------</a:t>
            </a:r>
            <a:endParaRPr lang="fr-CA" altLang="en-US" sz="2400" dirty="0"/>
          </a:p>
          <a:p>
            <a:pPr marL="107950" indent="0">
              <a:buNone/>
            </a:pPr>
            <a:endParaRPr lang="fr-CA" altLang="en-US" sz="2400" dirty="0"/>
          </a:p>
          <a:p>
            <a:pPr marL="107950" indent="0">
              <a:buNone/>
            </a:pPr>
            <a:r>
              <a:rPr lang="fr-CA" altLang="en-US" sz="2400" dirty="0"/>
              <a:t>Caisse</a:t>
            </a:r>
          </a:p>
          <a:p>
            <a:pPr marL="107950" indent="0">
              <a:buNone/>
            </a:pPr>
            <a:r>
              <a:rPr lang="fr-CA" altLang="en-US" sz="2400" dirty="0"/>
              <a:t>@ Loyers à recevoir  </a:t>
            </a:r>
          </a:p>
          <a:p>
            <a:pPr marL="107950" indent="0">
              <a:buNone/>
            </a:pPr>
            <a:r>
              <a:rPr lang="fr-CA" altLang="en-US" sz="2400" dirty="0"/>
              <a:t>     </a:t>
            </a:r>
            <a:r>
              <a:rPr lang="fr-CA" altLang="en-US" sz="2400" i="1" dirty="0"/>
              <a:t>Frais accessoires</a:t>
            </a:r>
            <a:endParaRPr lang="fr-CA" altLang="en-US" i="1" dirty="0"/>
          </a:p>
          <a:p>
            <a:pPr marL="107950" indent="0">
              <a:buNone/>
            </a:pPr>
            <a:endParaRPr lang="fr-CA" altLang="en-US" dirty="0"/>
          </a:p>
          <a:p>
            <a:pPr marL="107950" indent="0">
              <a:buNone/>
            </a:pPr>
            <a:endParaRPr lang="fr-CA" altLang="en-US" i="1" dirty="0"/>
          </a:p>
          <a:p>
            <a:pPr marL="107950" indent="0">
              <a:buNone/>
            </a:pPr>
            <a:endParaRPr lang="fr-CA" altLang="en-US" i="1" dirty="0"/>
          </a:p>
          <a:p>
            <a:pPr marL="107950" indent="0">
              <a:buNone/>
            </a:pPr>
            <a:endParaRPr lang="fr-CA" altLang="en-US" i="1" dirty="0"/>
          </a:p>
          <a:p>
            <a:pPr marL="107950" indent="0">
              <a:buNone/>
            </a:pPr>
            <a:endParaRPr lang="en-US" altLang="en-US" dirty="0"/>
          </a:p>
        </p:txBody>
      </p:sp>
      <p:sp>
        <p:nvSpPr>
          <p:cNvPr id="53250" name="Rectangle 2"/>
          <p:cNvSpPr>
            <a:spLocks noGrp="1" noChangeArrowheads="1"/>
          </p:cNvSpPr>
          <p:nvPr>
            <p:ph type="title"/>
          </p:nvPr>
        </p:nvSpPr>
        <p:spPr/>
        <p:txBody>
          <a:bodyPr/>
          <a:lstStyle/>
          <a:p>
            <a:r>
              <a:rPr lang="fr-CA" altLang="fr-FR" sz="3400" dirty="0"/>
              <a:t>Bailleur : location-financement </a:t>
            </a:r>
            <a:br>
              <a:rPr lang="fr-CA" altLang="fr-FR" sz="3400" i="1" dirty="0"/>
            </a:br>
            <a:r>
              <a:rPr lang="fr-CA" altLang="fr-FR" sz="3400" dirty="0"/>
              <a:t>Écritures</a:t>
            </a:r>
            <a:endParaRPr lang="en-US" altLang="fr-FR" sz="3400" dirty="0"/>
          </a:p>
        </p:txBody>
      </p:sp>
      <p:sp>
        <p:nvSpPr>
          <p:cNvPr id="2" name="Slide Number Placeholder 1"/>
          <p:cNvSpPr>
            <a:spLocks noGrp="1"/>
          </p:cNvSpPr>
          <p:nvPr>
            <p:ph type="sldNum" sz="quarter" idx="12"/>
          </p:nvPr>
        </p:nvSpPr>
        <p:spPr/>
        <p:txBody>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fld id="{7156BAC3-BD32-4CA5-B652-24E431B18DE1}" type="slidenum">
              <a:rPr lang="fr-FR" altLang="fr-FR">
                <a:solidFill>
                  <a:srgbClr val="898989"/>
                </a:solidFill>
              </a:rPr>
              <a:pPr/>
              <a:t>104</a:t>
            </a:fld>
            <a:endParaRPr lang="fr-FR" altLang="fr-FR">
              <a:solidFill>
                <a:srgbClr val="898989"/>
              </a:solidFill>
            </a:endParaRPr>
          </a:p>
        </p:txBody>
      </p:sp>
      <p:sp>
        <p:nvSpPr>
          <p:cNvPr id="3" name="Espace réservé du pied de page 2">
            <a:extLst>
              <a:ext uri="{FF2B5EF4-FFF2-40B4-BE49-F238E27FC236}">
                <a16:creationId xmlns:a16="http://schemas.microsoft.com/office/drawing/2014/main" id="{058F1145-F564-461E-A8D7-4CD007BC8CC0}"/>
              </a:ext>
            </a:extLst>
          </p:cNvPr>
          <p:cNvSpPr>
            <a:spLocks noGrp="1"/>
          </p:cNvSpPr>
          <p:nvPr>
            <p:ph type="ftr" sz="quarter" idx="11"/>
          </p:nvPr>
        </p:nvSpPr>
        <p:spPr/>
        <p:txBody>
          <a:bodyPr/>
          <a:lstStyle/>
          <a:p>
            <a:r>
              <a:rPr lang="fr-FR"/>
              <a:t>Droits réservés - Louise Overbeek</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3"/>
          <p:cNvSpPr>
            <a:spLocks noGrp="1" noChangeArrowheads="1"/>
          </p:cNvSpPr>
          <p:nvPr>
            <p:ph idx="1"/>
          </p:nvPr>
        </p:nvSpPr>
        <p:spPr>
          <a:xfrm>
            <a:off x="838199" y="1690688"/>
            <a:ext cx="10515599" cy="4316412"/>
          </a:xfrm>
        </p:spPr>
        <p:txBody>
          <a:bodyPr>
            <a:normAutofit/>
          </a:bodyPr>
          <a:lstStyle/>
          <a:p>
            <a:pPr marL="107950" indent="0">
              <a:buNone/>
            </a:pPr>
            <a:r>
              <a:rPr lang="fr-CA" altLang="en-US" sz="2700" dirty="0"/>
              <a:t>31 décembre :</a:t>
            </a:r>
          </a:p>
          <a:p>
            <a:pPr marL="107950" indent="0">
              <a:buNone/>
            </a:pPr>
            <a:endParaRPr lang="fr-CA" altLang="en-US" sz="1100" dirty="0"/>
          </a:p>
          <a:p>
            <a:pPr marL="107950" indent="0">
              <a:buNone/>
            </a:pPr>
            <a:r>
              <a:rPr lang="fr-CA" altLang="en-US" sz="2400" dirty="0"/>
              <a:t>Investissement net dans un contrat de location financement</a:t>
            </a:r>
          </a:p>
          <a:p>
            <a:pPr marL="107950" indent="0">
              <a:buNone/>
            </a:pPr>
            <a:r>
              <a:rPr lang="fr-CA" altLang="en-US" sz="2400" dirty="0"/>
              <a:t>@ Produits financiers – intérêts sur contrat de location</a:t>
            </a:r>
            <a:endParaRPr lang="fr-CA" altLang="en-US" sz="2000" dirty="0"/>
          </a:p>
          <a:p>
            <a:pPr marL="107950" indent="0">
              <a:buNone/>
            </a:pPr>
            <a:endParaRPr lang="fr-CA" altLang="en-US" sz="1800" i="1" dirty="0"/>
          </a:p>
          <a:p>
            <a:pPr marL="107950" indent="0">
              <a:buNone/>
            </a:pPr>
            <a:r>
              <a:rPr lang="fr-CA" altLang="en-US" sz="2000" b="1" i="1" dirty="0">
                <a:solidFill>
                  <a:srgbClr val="FF0000"/>
                </a:solidFill>
              </a:rPr>
              <a:t>OU   -------------------------------------------------------------------------</a:t>
            </a:r>
          </a:p>
          <a:p>
            <a:pPr marL="107950" indent="0">
              <a:buNone/>
            </a:pPr>
            <a:endParaRPr lang="fr-CA" altLang="en-US" sz="1000" i="1" dirty="0"/>
          </a:p>
          <a:p>
            <a:pPr marL="107950" indent="0">
              <a:buNone/>
            </a:pPr>
            <a:r>
              <a:rPr lang="fr-CA" altLang="en-US" sz="2400" dirty="0"/>
              <a:t>Produits financiers non acquis</a:t>
            </a:r>
          </a:p>
          <a:p>
            <a:pPr marL="107950" indent="0">
              <a:buNone/>
            </a:pPr>
            <a:r>
              <a:rPr lang="fr-CA" altLang="en-US" sz="2400" dirty="0"/>
              <a:t>@ Produits financiers – intérêts sur contrat de location</a:t>
            </a:r>
            <a:endParaRPr lang="fr-CA" altLang="en-US" sz="2700" dirty="0"/>
          </a:p>
          <a:p>
            <a:pPr marL="107950" indent="0">
              <a:buNone/>
            </a:pPr>
            <a:endParaRPr lang="fr-CA" altLang="en-US" sz="2700" i="1" dirty="0"/>
          </a:p>
          <a:p>
            <a:pPr marL="107950" indent="0">
              <a:buNone/>
            </a:pPr>
            <a:endParaRPr lang="fr-CA" altLang="en-US" sz="2700" i="1" dirty="0"/>
          </a:p>
          <a:p>
            <a:pPr marL="107950" indent="0">
              <a:buNone/>
            </a:pPr>
            <a:endParaRPr lang="en-US" altLang="en-US" sz="2700" dirty="0"/>
          </a:p>
        </p:txBody>
      </p:sp>
      <p:sp>
        <p:nvSpPr>
          <p:cNvPr id="54274" name="Rectangle 2"/>
          <p:cNvSpPr>
            <a:spLocks noGrp="1" noChangeArrowheads="1"/>
          </p:cNvSpPr>
          <p:nvPr>
            <p:ph type="title"/>
          </p:nvPr>
        </p:nvSpPr>
        <p:spPr/>
        <p:txBody>
          <a:bodyPr/>
          <a:lstStyle/>
          <a:p>
            <a:r>
              <a:rPr lang="fr-CA" altLang="fr-FR" sz="3400"/>
              <a:t>Bailleur : location-financement </a:t>
            </a:r>
            <a:br>
              <a:rPr lang="fr-CA" altLang="fr-FR" sz="3400" i="1"/>
            </a:br>
            <a:r>
              <a:rPr lang="fr-CA" altLang="fr-FR" sz="3400"/>
              <a:t>Écritures</a:t>
            </a:r>
            <a:endParaRPr lang="en-US" altLang="fr-FR" sz="3400"/>
          </a:p>
        </p:txBody>
      </p:sp>
      <p:sp>
        <p:nvSpPr>
          <p:cNvPr id="2" name="Slide Number Placeholder 1"/>
          <p:cNvSpPr>
            <a:spLocks noGrp="1"/>
          </p:cNvSpPr>
          <p:nvPr>
            <p:ph type="sldNum" sz="quarter" idx="12"/>
          </p:nvPr>
        </p:nvSpPr>
        <p:spPr/>
        <p:txBody>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fld id="{F6257FA2-7C62-4AD2-A774-6BA13F74F78D}" type="slidenum">
              <a:rPr lang="fr-FR" altLang="fr-FR">
                <a:solidFill>
                  <a:srgbClr val="898989"/>
                </a:solidFill>
              </a:rPr>
              <a:pPr/>
              <a:t>105</a:t>
            </a:fld>
            <a:endParaRPr lang="fr-FR" altLang="fr-FR">
              <a:solidFill>
                <a:srgbClr val="898989"/>
              </a:solidFill>
            </a:endParaRPr>
          </a:p>
        </p:txBody>
      </p:sp>
      <p:sp>
        <p:nvSpPr>
          <p:cNvPr id="3" name="Espace réservé du pied de page 2">
            <a:extLst>
              <a:ext uri="{FF2B5EF4-FFF2-40B4-BE49-F238E27FC236}">
                <a16:creationId xmlns:a16="http://schemas.microsoft.com/office/drawing/2014/main" id="{ABFEE72E-A36F-43B2-BCB3-17CAE0AF7867}"/>
              </a:ext>
            </a:extLst>
          </p:cNvPr>
          <p:cNvSpPr>
            <a:spLocks noGrp="1"/>
          </p:cNvSpPr>
          <p:nvPr>
            <p:ph type="ftr" sz="quarter" idx="11"/>
          </p:nvPr>
        </p:nvSpPr>
        <p:spPr/>
        <p:txBody>
          <a:bodyPr/>
          <a:lstStyle/>
          <a:p>
            <a:r>
              <a:rPr lang="fr-FR"/>
              <a:t>Droits réservés - Louise Overbeek</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3"/>
          <p:cNvSpPr>
            <a:spLocks noGrp="1" noChangeArrowheads="1"/>
          </p:cNvSpPr>
          <p:nvPr>
            <p:ph idx="1"/>
          </p:nvPr>
        </p:nvSpPr>
        <p:spPr>
          <a:xfrm>
            <a:off x="838199" y="1885950"/>
            <a:ext cx="10515599" cy="4121150"/>
          </a:xfrm>
        </p:spPr>
        <p:txBody>
          <a:bodyPr>
            <a:normAutofit/>
          </a:bodyPr>
          <a:lstStyle/>
          <a:p>
            <a:pPr marL="107950" indent="0">
              <a:buNone/>
            </a:pPr>
            <a:r>
              <a:rPr lang="fr-CA" altLang="en-US" dirty="0"/>
              <a:t>Créance locative</a:t>
            </a:r>
          </a:p>
          <a:p>
            <a:pPr marL="354013" indent="-246063">
              <a:buFontTx/>
              <a:buChar char="-"/>
            </a:pPr>
            <a:r>
              <a:rPr lang="fr-CA" altLang="en-US" dirty="0"/>
              <a:t>Séparer entre la portion courant et non courant</a:t>
            </a:r>
          </a:p>
          <a:p>
            <a:pPr lvl="1">
              <a:buFontTx/>
              <a:buChar char="-"/>
            </a:pPr>
            <a:r>
              <a:rPr lang="fr-CA" altLang="en-US" dirty="0"/>
              <a:t>Tranche créance locative échéant à moins d’un an - principal</a:t>
            </a:r>
          </a:p>
          <a:p>
            <a:pPr marL="107950" indent="0">
              <a:buNone/>
            </a:pPr>
            <a:endParaRPr lang="fr-CA" altLang="en-US" dirty="0"/>
          </a:p>
          <a:p>
            <a:pPr marL="107950" indent="0">
              <a:buNone/>
            </a:pPr>
            <a:endParaRPr lang="fr-CA" altLang="en-US" dirty="0"/>
          </a:p>
        </p:txBody>
      </p:sp>
      <p:sp>
        <p:nvSpPr>
          <p:cNvPr id="55298" name="Rectangle 2"/>
          <p:cNvSpPr>
            <a:spLocks noGrp="1" noChangeArrowheads="1"/>
          </p:cNvSpPr>
          <p:nvPr>
            <p:ph type="title"/>
          </p:nvPr>
        </p:nvSpPr>
        <p:spPr/>
        <p:txBody>
          <a:bodyPr/>
          <a:lstStyle/>
          <a:p>
            <a:r>
              <a:rPr lang="fr-CA" altLang="fr-FR" sz="3400" dirty="0"/>
              <a:t>Bailleur : location-financement </a:t>
            </a:r>
            <a:br>
              <a:rPr lang="fr-CA" altLang="fr-FR" sz="3400" i="1" dirty="0"/>
            </a:br>
            <a:r>
              <a:rPr lang="fr-CA" altLang="en-US" sz="3600" dirty="0"/>
              <a:t>Présentation aux états financiers</a:t>
            </a:r>
            <a:endParaRPr lang="en-US" altLang="fr-FR" sz="3400" dirty="0"/>
          </a:p>
        </p:txBody>
      </p:sp>
      <p:sp>
        <p:nvSpPr>
          <p:cNvPr id="2" name="Slide Number Placeholder 1"/>
          <p:cNvSpPr>
            <a:spLocks noGrp="1"/>
          </p:cNvSpPr>
          <p:nvPr>
            <p:ph type="sldNum" sz="quarter" idx="12"/>
          </p:nvPr>
        </p:nvSpPr>
        <p:spPr/>
        <p:txBody>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fld id="{C24DFE86-BD74-4EC6-97DD-2D62E3562C3C}" type="slidenum">
              <a:rPr lang="fr-FR" altLang="fr-FR">
                <a:solidFill>
                  <a:srgbClr val="898989"/>
                </a:solidFill>
              </a:rPr>
              <a:pPr/>
              <a:t>106</a:t>
            </a:fld>
            <a:endParaRPr lang="fr-FR" altLang="fr-FR">
              <a:solidFill>
                <a:srgbClr val="898989"/>
              </a:solidFill>
            </a:endParaRPr>
          </a:p>
        </p:txBody>
      </p:sp>
      <p:sp>
        <p:nvSpPr>
          <p:cNvPr id="3" name="Espace réservé du pied de page 2">
            <a:extLst>
              <a:ext uri="{FF2B5EF4-FFF2-40B4-BE49-F238E27FC236}">
                <a16:creationId xmlns:a16="http://schemas.microsoft.com/office/drawing/2014/main" id="{14F61E18-D297-4C38-99A6-0A9AA4DF0B2B}"/>
              </a:ext>
            </a:extLst>
          </p:cNvPr>
          <p:cNvSpPr>
            <a:spLocks noGrp="1"/>
          </p:cNvSpPr>
          <p:nvPr>
            <p:ph type="ftr" sz="quarter" idx="11"/>
          </p:nvPr>
        </p:nvSpPr>
        <p:spPr/>
        <p:txBody>
          <a:bodyPr/>
          <a:lstStyle/>
          <a:p>
            <a:r>
              <a:rPr lang="fr-FR"/>
              <a:t>Droits réservés - Louise Overbeek</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3"/>
          <p:cNvSpPr>
            <a:spLocks noGrp="1" noChangeArrowheads="1"/>
          </p:cNvSpPr>
          <p:nvPr>
            <p:ph idx="1"/>
          </p:nvPr>
        </p:nvSpPr>
        <p:spPr>
          <a:xfrm>
            <a:off x="838199" y="2076450"/>
            <a:ext cx="10515599" cy="3930650"/>
          </a:xfrm>
        </p:spPr>
        <p:txBody>
          <a:bodyPr/>
          <a:lstStyle/>
          <a:p>
            <a:pPr marL="107950" indent="0">
              <a:buNone/>
            </a:pPr>
            <a:r>
              <a:rPr lang="fr-CA" altLang="en-US" sz="2400" dirty="0"/>
              <a:t>1</a:t>
            </a:r>
            <a:r>
              <a:rPr lang="fr-CA" altLang="en-US" sz="2400" baseline="30000" dirty="0"/>
              <a:t>er</a:t>
            </a:r>
            <a:r>
              <a:rPr lang="fr-CA" altLang="en-US" sz="2400" dirty="0"/>
              <a:t> décembre :</a:t>
            </a:r>
          </a:p>
          <a:p>
            <a:pPr marL="107950" indent="0">
              <a:buNone/>
            </a:pPr>
            <a:endParaRPr lang="fr-CA" altLang="en-US" sz="600" dirty="0"/>
          </a:p>
          <a:p>
            <a:pPr marL="107950" indent="0">
              <a:buNone/>
            </a:pPr>
            <a:r>
              <a:rPr lang="fr-CA" altLang="en-US" sz="2400" dirty="0"/>
              <a:t>Caisse </a:t>
            </a:r>
          </a:p>
          <a:p>
            <a:pPr marL="107950" indent="0">
              <a:buNone/>
            </a:pPr>
            <a:r>
              <a:rPr lang="fr-CA" altLang="en-US" sz="2400" dirty="0"/>
              <a:t>@ Produit locatif</a:t>
            </a:r>
            <a:endParaRPr lang="fr-CA" altLang="en-US" dirty="0"/>
          </a:p>
          <a:p>
            <a:pPr marL="107950" indent="0">
              <a:buNone/>
            </a:pPr>
            <a:endParaRPr lang="fr-CA" altLang="en-US" dirty="0"/>
          </a:p>
          <a:p>
            <a:pPr marL="107950" indent="0">
              <a:buNone/>
            </a:pPr>
            <a:endParaRPr lang="fr-CA" altLang="en-US" dirty="0"/>
          </a:p>
          <a:p>
            <a:pPr marL="107950" indent="0">
              <a:buNone/>
            </a:pPr>
            <a:endParaRPr lang="fr-CA" altLang="en-US" dirty="0"/>
          </a:p>
        </p:txBody>
      </p:sp>
      <p:sp>
        <p:nvSpPr>
          <p:cNvPr id="56322" name="Rectangle 2"/>
          <p:cNvSpPr>
            <a:spLocks noGrp="1" noChangeArrowheads="1"/>
          </p:cNvSpPr>
          <p:nvPr>
            <p:ph type="title"/>
          </p:nvPr>
        </p:nvSpPr>
        <p:spPr/>
        <p:txBody>
          <a:bodyPr/>
          <a:lstStyle/>
          <a:p>
            <a:r>
              <a:rPr lang="fr-CA" altLang="fr-FR" sz="3400"/>
              <a:t>Bailleur : location simple</a:t>
            </a:r>
            <a:br>
              <a:rPr lang="fr-CA" altLang="fr-FR" sz="3400" i="1"/>
            </a:br>
            <a:r>
              <a:rPr lang="fr-CA" altLang="fr-FR" sz="3400"/>
              <a:t>Écritures</a:t>
            </a:r>
            <a:endParaRPr lang="en-US" altLang="fr-FR" sz="3400"/>
          </a:p>
        </p:txBody>
      </p:sp>
      <p:sp>
        <p:nvSpPr>
          <p:cNvPr id="2" name="Slide Number Placeholder 1"/>
          <p:cNvSpPr>
            <a:spLocks noGrp="1"/>
          </p:cNvSpPr>
          <p:nvPr>
            <p:ph type="sldNum" sz="quarter" idx="12"/>
          </p:nvPr>
        </p:nvSpPr>
        <p:spPr/>
        <p:txBody>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fld id="{21C671B0-5C2B-4126-9D04-61E3BDB9A9F3}" type="slidenum">
              <a:rPr lang="fr-FR" altLang="fr-FR">
                <a:solidFill>
                  <a:srgbClr val="898989"/>
                </a:solidFill>
              </a:rPr>
              <a:pPr/>
              <a:t>107</a:t>
            </a:fld>
            <a:endParaRPr lang="fr-FR" altLang="fr-FR">
              <a:solidFill>
                <a:srgbClr val="898989"/>
              </a:solidFill>
            </a:endParaRPr>
          </a:p>
        </p:txBody>
      </p:sp>
      <p:sp>
        <p:nvSpPr>
          <p:cNvPr id="3" name="Espace réservé du pied de page 2">
            <a:extLst>
              <a:ext uri="{FF2B5EF4-FFF2-40B4-BE49-F238E27FC236}">
                <a16:creationId xmlns:a16="http://schemas.microsoft.com/office/drawing/2014/main" id="{DAF9EE47-9415-4F0B-8C84-1C74160DD885}"/>
              </a:ext>
            </a:extLst>
          </p:cNvPr>
          <p:cNvSpPr>
            <a:spLocks noGrp="1"/>
          </p:cNvSpPr>
          <p:nvPr>
            <p:ph type="ftr" sz="quarter" idx="11"/>
          </p:nvPr>
        </p:nvSpPr>
        <p:spPr/>
        <p:txBody>
          <a:bodyPr/>
          <a:lstStyle/>
          <a:p>
            <a:r>
              <a:rPr lang="fr-FR"/>
              <a:t>Droits réservés - Louise Overbeek</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838200" y="365125"/>
            <a:ext cx="10515600" cy="805753"/>
          </a:xfrm>
        </p:spPr>
        <p:txBody>
          <a:bodyPr/>
          <a:lstStyle/>
          <a:p>
            <a:r>
              <a:rPr lang="fr-CA" sz="3600" dirty="0"/>
              <a:t>Exercice - bailleur</a:t>
            </a:r>
            <a:endParaRPr lang="fr-CA" dirty="0"/>
          </a:p>
        </p:txBody>
      </p:sp>
      <p:sp>
        <p:nvSpPr>
          <p:cNvPr id="4" name="Espace réservé du numéro de diapositive 3"/>
          <p:cNvSpPr>
            <a:spLocks noGrp="1"/>
          </p:cNvSpPr>
          <p:nvPr>
            <p:ph type="sldNum" sz="quarter" idx="12"/>
          </p:nvPr>
        </p:nvSpPr>
        <p:spPr/>
        <p:txBody>
          <a:bodyPr/>
          <a:lstStyle/>
          <a:p>
            <a:fld id="{5DC53271-AB06-4788-AC3D-33D4BA937B45}" type="slidenum">
              <a:rPr lang="fr-FR" altLang="fr-FR" smtClean="0"/>
              <a:pPr/>
              <a:t>108</a:t>
            </a:fld>
            <a:endParaRPr lang="fr-FR" altLang="fr-FR"/>
          </a:p>
        </p:txBody>
      </p:sp>
      <p:sp>
        <p:nvSpPr>
          <p:cNvPr id="6" name="Espace réservé du contenu 5"/>
          <p:cNvSpPr>
            <a:spLocks noGrp="1"/>
          </p:cNvSpPr>
          <p:nvPr>
            <p:ph idx="1"/>
          </p:nvPr>
        </p:nvSpPr>
        <p:spPr/>
        <p:txBody>
          <a:bodyPr>
            <a:normAutofit lnSpcReduction="10000"/>
          </a:bodyPr>
          <a:lstStyle/>
          <a:p>
            <a:pPr marL="0" indent="0">
              <a:buNone/>
            </a:pPr>
            <a:r>
              <a:rPr lang="fr-CA" sz="2400" dirty="0"/>
              <a:t>Valeur de l’équipement :			154 548</a:t>
            </a:r>
          </a:p>
          <a:p>
            <a:pPr marL="0" indent="0">
              <a:buNone/>
            </a:pPr>
            <a:r>
              <a:rPr lang="fr-CA" sz="2400" i="1" dirty="0"/>
              <a:t>Que le bailleur doit acheter aux fins du contrat de location</a:t>
            </a:r>
          </a:p>
          <a:p>
            <a:pPr marL="0" indent="0">
              <a:buNone/>
            </a:pPr>
            <a:r>
              <a:rPr lang="fr-CA" sz="2400" dirty="0"/>
              <a:t>Frais initiaux liés au contrat payés par bailleur : 2 000 $</a:t>
            </a:r>
          </a:p>
          <a:p>
            <a:pPr marL="0" indent="0">
              <a:buNone/>
            </a:pPr>
            <a:r>
              <a:rPr lang="fr-CA" sz="2400" dirty="0"/>
              <a:t>Durée de la location : 				5 ans</a:t>
            </a:r>
          </a:p>
          <a:p>
            <a:pPr marL="0" indent="0">
              <a:buNone/>
            </a:pPr>
            <a:r>
              <a:rPr lang="fr-CA" sz="2400" dirty="0"/>
              <a:t>Durée de vie utile	: 			5 ans</a:t>
            </a:r>
          </a:p>
          <a:p>
            <a:pPr marL="0" indent="0">
              <a:buNone/>
            </a:pPr>
            <a:r>
              <a:rPr lang="fr-CA" sz="2400" dirty="0"/>
              <a:t>Paiements annuels location : 			42 000 $ début période</a:t>
            </a:r>
          </a:p>
          <a:p>
            <a:pPr marL="0" indent="0">
              <a:buNone/>
            </a:pPr>
            <a:r>
              <a:rPr lang="fr-CA" sz="2400" i="1" dirty="0"/>
              <a:t>Le bailleur sera responsable de l’entretien, valeur 2 000 $ annuellement</a:t>
            </a:r>
          </a:p>
          <a:p>
            <a:pPr marL="0" indent="0">
              <a:buNone/>
            </a:pPr>
            <a:r>
              <a:rPr lang="fr-CA" sz="2400" dirty="0"/>
              <a:t>Valeur résiduelle :				0 $</a:t>
            </a:r>
          </a:p>
          <a:p>
            <a:pPr marL="0" indent="0">
              <a:buNone/>
            </a:pPr>
            <a:endParaRPr lang="fr-CA" sz="2400" dirty="0"/>
          </a:p>
          <a:p>
            <a:pPr marL="0" indent="0">
              <a:buNone/>
            </a:pPr>
            <a:r>
              <a:rPr lang="fr-CA" sz="2400" dirty="0"/>
              <a:t>Taux?   </a:t>
            </a:r>
            <a:r>
              <a:rPr lang="fr-CA" sz="2400" dirty="0">
                <a:solidFill>
                  <a:srgbClr val="FF0000"/>
                </a:solidFill>
              </a:rPr>
              <a:t>14 %</a:t>
            </a:r>
            <a:endParaRPr lang="fr-CA" sz="2400" dirty="0"/>
          </a:p>
          <a:p>
            <a:pPr marL="0" indent="0">
              <a:buNone/>
            </a:pPr>
            <a:endParaRPr lang="fr-CA" sz="2400" dirty="0"/>
          </a:p>
          <a:p>
            <a:pPr marL="0" indent="0">
              <a:buNone/>
            </a:pPr>
            <a:endParaRPr lang="fr-CA" dirty="0"/>
          </a:p>
        </p:txBody>
      </p:sp>
      <p:sp>
        <p:nvSpPr>
          <p:cNvPr id="3" name="Espace réservé du pied de page 2">
            <a:extLst>
              <a:ext uri="{FF2B5EF4-FFF2-40B4-BE49-F238E27FC236}">
                <a16:creationId xmlns:a16="http://schemas.microsoft.com/office/drawing/2014/main" id="{FE73E5FF-CD20-4E63-8878-D7E02757CA8C}"/>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339452516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450F9C-142E-4C34-842D-E84A0275A5F3}"/>
              </a:ext>
            </a:extLst>
          </p:cNvPr>
          <p:cNvSpPr>
            <a:spLocks noGrp="1"/>
          </p:cNvSpPr>
          <p:nvPr>
            <p:ph type="title"/>
          </p:nvPr>
        </p:nvSpPr>
        <p:spPr/>
        <p:txBody>
          <a:bodyPr/>
          <a:lstStyle/>
          <a:p>
            <a:r>
              <a:rPr lang="fr-CA" dirty="0"/>
              <a:t>   </a:t>
            </a:r>
            <a:endParaRPr lang="fr-FR" dirty="0"/>
          </a:p>
        </p:txBody>
      </p:sp>
      <p:pic>
        <p:nvPicPr>
          <p:cNvPr id="6" name="Espace réservé du contenu 5">
            <a:extLst>
              <a:ext uri="{FF2B5EF4-FFF2-40B4-BE49-F238E27FC236}">
                <a16:creationId xmlns:a16="http://schemas.microsoft.com/office/drawing/2014/main" id="{2AC188E0-51D1-4578-83AC-5D9790475949}"/>
              </a:ext>
            </a:extLst>
          </p:cNvPr>
          <p:cNvPicPr>
            <a:picLocks noGrp="1" noChangeAspect="1"/>
          </p:cNvPicPr>
          <p:nvPr>
            <p:ph idx="1"/>
          </p:nvPr>
        </p:nvPicPr>
        <p:blipFill>
          <a:blip r:embed="rId2"/>
          <a:stretch>
            <a:fillRect/>
          </a:stretch>
        </p:blipFill>
        <p:spPr>
          <a:xfrm>
            <a:off x="1029969" y="1328578"/>
            <a:ext cx="8918359" cy="2532221"/>
          </a:xfrm>
          <a:prstGeom prst="rect">
            <a:avLst/>
          </a:prstGeom>
        </p:spPr>
      </p:pic>
      <p:sp>
        <p:nvSpPr>
          <p:cNvPr id="4" name="Espace réservé du pied de page 3">
            <a:extLst>
              <a:ext uri="{FF2B5EF4-FFF2-40B4-BE49-F238E27FC236}">
                <a16:creationId xmlns:a16="http://schemas.microsoft.com/office/drawing/2014/main" id="{32A61848-2C86-41BD-A124-23EB41E5EF11}"/>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F22BA3C1-38BC-4161-A978-6D152E9B142A}"/>
              </a:ext>
            </a:extLst>
          </p:cNvPr>
          <p:cNvSpPr>
            <a:spLocks noGrp="1"/>
          </p:cNvSpPr>
          <p:nvPr>
            <p:ph type="sldNum" sz="quarter" idx="12"/>
          </p:nvPr>
        </p:nvSpPr>
        <p:spPr/>
        <p:txBody>
          <a:bodyPr/>
          <a:lstStyle/>
          <a:p>
            <a:fld id="{AB611A3C-E82E-4A5C-8D2C-147066045627}" type="slidenum">
              <a:rPr lang="fr-FR" smtClean="0"/>
              <a:t>109</a:t>
            </a:fld>
            <a:endParaRPr lang="fr-FR"/>
          </a:p>
        </p:txBody>
      </p:sp>
      <p:pic>
        <p:nvPicPr>
          <p:cNvPr id="7" name="Image 6">
            <a:extLst>
              <a:ext uri="{FF2B5EF4-FFF2-40B4-BE49-F238E27FC236}">
                <a16:creationId xmlns:a16="http://schemas.microsoft.com/office/drawing/2014/main" id="{43FB236E-14E5-479C-BA38-0BDC5CE9D36C}"/>
              </a:ext>
            </a:extLst>
          </p:cNvPr>
          <p:cNvPicPr>
            <a:picLocks noChangeAspect="1"/>
          </p:cNvPicPr>
          <p:nvPr/>
        </p:nvPicPr>
        <p:blipFill>
          <a:blip r:embed="rId3"/>
          <a:stretch>
            <a:fillRect/>
          </a:stretch>
        </p:blipFill>
        <p:spPr>
          <a:xfrm>
            <a:off x="1029970" y="4375150"/>
            <a:ext cx="7483421" cy="1466850"/>
          </a:xfrm>
          <a:prstGeom prst="rect">
            <a:avLst/>
          </a:prstGeom>
        </p:spPr>
      </p:pic>
    </p:spTree>
    <p:extLst>
      <p:ext uri="{BB962C8B-B14F-4D97-AF65-F5344CB8AC3E}">
        <p14:creationId xmlns:p14="http://schemas.microsoft.com/office/powerpoint/2010/main" val="388814941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7DF11C5-0CD8-433B-AE1F-13B7A1E32467}"/>
              </a:ext>
            </a:extLst>
          </p:cNvPr>
          <p:cNvSpPr>
            <a:spLocks noGrp="1"/>
          </p:cNvSpPr>
          <p:nvPr>
            <p:ph type="title"/>
          </p:nvPr>
        </p:nvSpPr>
        <p:spPr/>
        <p:txBody>
          <a:bodyPr/>
          <a:lstStyle/>
          <a:p>
            <a:r>
              <a:rPr lang="fr-CA" dirty="0"/>
              <a:t> </a:t>
            </a:r>
            <a:endParaRPr lang="fr-FR" dirty="0"/>
          </a:p>
        </p:txBody>
      </p:sp>
      <p:sp>
        <p:nvSpPr>
          <p:cNvPr id="3" name="Espace réservé du contenu 2">
            <a:extLst>
              <a:ext uri="{FF2B5EF4-FFF2-40B4-BE49-F238E27FC236}">
                <a16:creationId xmlns:a16="http://schemas.microsoft.com/office/drawing/2014/main" id="{1F785C54-CF0A-4829-80AD-A810541D20BF}"/>
              </a:ext>
            </a:extLst>
          </p:cNvPr>
          <p:cNvSpPr>
            <a:spLocks noGrp="1"/>
          </p:cNvSpPr>
          <p:nvPr>
            <p:ph idx="1"/>
          </p:nvPr>
        </p:nvSpPr>
        <p:spPr/>
        <p:txBody>
          <a:bodyPr/>
          <a:lstStyle/>
          <a:p>
            <a:pPr marL="0" indent="0">
              <a:buNone/>
            </a:pPr>
            <a:r>
              <a:rPr lang="fr-CA" dirty="0"/>
              <a:t> </a:t>
            </a:r>
            <a:endParaRPr lang="fr-FR" dirty="0"/>
          </a:p>
        </p:txBody>
      </p:sp>
      <p:sp>
        <p:nvSpPr>
          <p:cNvPr id="4" name="Espace réservé du pied de page 3">
            <a:extLst>
              <a:ext uri="{FF2B5EF4-FFF2-40B4-BE49-F238E27FC236}">
                <a16:creationId xmlns:a16="http://schemas.microsoft.com/office/drawing/2014/main" id="{F4C2B784-FA0B-4321-A9CC-12FEBAFE9653}"/>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190DA980-4049-4014-A980-23BA0881CC93}"/>
              </a:ext>
            </a:extLst>
          </p:cNvPr>
          <p:cNvSpPr>
            <a:spLocks noGrp="1"/>
          </p:cNvSpPr>
          <p:nvPr>
            <p:ph type="sldNum" sz="quarter" idx="12"/>
          </p:nvPr>
        </p:nvSpPr>
        <p:spPr/>
        <p:txBody>
          <a:bodyPr/>
          <a:lstStyle/>
          <a:p>
            <a:fld id="{AB611A3C-E82E-4A5C-8D2C-147066045627}" type="slidenum">
              <a:rPr lang="fr-FR" smtClean="0"/>
              <a:t>110</a:t>
            </a:fld>
            <a:endParaRPr lang="fr-FR"/>
          </a:p>
        </p:txBody>
      </p:sp>
      <p:pic>
        <p:nvPicPr>
          <p:cNvPr id="6" name="Image 5">
            <a:extLst>
              <a:ext uri="{FF2B5EF4-FFF2-40B4-BE49-F238E27FC236}">
                <a16:creationId xmlns:a16="http://schemas.microsoft.com/office/drawing/2014/main" id="{33D02433-FABF-4274-A7DF-1EE8CE051362}"/>
              </a:ext>
            </a:extLst>
          </p:cNvPr>
          <p:cNvPicPr>
            <a:picLocks noChangeAspect="1"/>
          </p:cNvPicPr>
          <p:nvPr/>
        </p:nvPicPr>
        <p:blipFill>
          <a:blip r:embed="rId2"/>
          <a:stretch>
            <a:fillRect/>
          </a:stretch>
        </p:blipFill>
        <p:spPr>
          <a:xfrm>
            <a:off x="1930400" y="1265451"/>
            <a:ext cx="5908288" cy="5001206"/>
          </a:xfrm>
          <a:prstGeom prst="rect">
            <a:avLst/>
          </a:prstGeom>
        </p:spPr>
      </p:pic>
    </p:spTree>
    <p:extLst>
      <p:ext uri="{BB962C8B-B14F-4D97-AF65-F5344CB8AC3E}">
        <p14:creationId xmlns:p14="http://schemas.microsoft.com/office/powerpoint/2010/main" val="424005317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4578" name="Rectangle 3"/>
          <p:cNvSpPr>
            <a:spLocks noGrp="1" noChangeArrowheads="1"/>
          </p:cNvSpPr>
          <p:nvPr>
            <p:ph idx="1"/>
          </p:nvPr>
        </p:nvSpPr>
        <p:spPr>
          <a:xfrm>
            <a:off x="838200" y="1657350"/>
            <a:ext cx="10515600" cy="4349750"/>
          </a:xfrm>
        </p:spPr>
        <p:txBody>
          <a:bodyPr>
            <a:normAutofit/>
          </a:bodyPr>
          <a:lstStyle/>
          <a:p>
            <a:pPr marL="107950" indent="0">
              <a:lnSpc>
                <a:spcPct val="80000"/>
              </a:lnSpc>
              <a:buNone/>
            </a:pPr>
            <a:r>
              <a:rPr lang="fr-CA" altLang="en-US" sz="2400" dirty="0"/>
              <a:t>Analyse des critères pour classer le contrat de location</a:t>
            </a:r>
          </a:p>
          <a:p>
            <a:pPr marL="565150" indent="-457200">
              <a:lnSpc>
                <a:spcPct val="80000"/>
              </a:lnSpc>
              <a:buFont typeface="Wingdings" panose="05000000000000000000" pitchFamily="2" charset="2"/>
              <a:buChar char="Ø"/>
            </a:pPr>
            <a:r>
              <a:rPr lang="fr-CA" altLang="en-US" sz="2400" i="1" dirty="0">
                <a:solidFill>
                  <a:srgbClr val="FF0000"/>
                </a:solidFill>
              </a:rPr>
              <a:t>Location-financement</a:t>
            </a:r>
            <a:endParaRPr lang="fr-CA" altLang="en-US" i="1" dirty="0">
              <a:solidFill>
                <a:srgbClr val="FF0000"/>
              </a:solidFill>
            </a:endParaRPr>
          </a:p>
          <a:p>
            <a:pPr marL="107950" indent="0">
              <a:lnSpc>
                <a:spcPct val="80000"/>
              </a:lnSpc>
              <a:buNone/>
            </a:pPr>
            <a:endParaRPr lang="fr-CA" altLang="en-US" sz="2400" i="1" dirty="0"/>
          </a:p>
          <a:p>
            <a:pPr marL="107950" indent="0">
              <a:lnSpc>
                <a:spcPct val="80000"/>
              </a:lnSpc>
              <a:buNone/>
            </a:pPr>
            <a:endParaRPr lang="fr-CA" altLang="en-US" sz="2000" dirty="0"/>
          </a:p>
          <a:p>
            <a:pPr marL="107950" indent="0">
              <a:lnSpc>
                <a:spcPct val="80000"/>
              </a:lnSpc>
              <a:buNone/>
            </a:pPr>
            <a:endParaRPr lang="fr-CA" altLang="en-US" sz="2000" dirty="0"/>
          </a:p>
          <a:p>
            <a:pPr marL="107950" indent="0">
              <a:lnSpc>
                <a:spcPct val="80000"/>
              </a:lnSpc>
              <a:buNone/>
            </a:pPr>
            <a:endParaRPr lang="fr-CA" altLang="en-US" sz="2700" i="1" dirty="0"/>
          </a:p>
          <a:p>
            <a:pPr marL="107950" indent="0">
              <a:lnSpc>
                <a:spcPct val="80000"/>
              </a:lnSpc>
              <a:buNone/>
            </a:pPr>
            <a:endParaRPr lang="fr-CA" altLang="en-US" sz="2700" i="1" dirty="0"/>
          </a:p>
          <a:p>
            <a:pPr marL="107950" indent="0">
              <a:lnSpc>
                <a:spcPct val="80000"/>
              </a:lnSpc>
              <a:buNone/>
            </a:pPr>
            <a:endParaRPr lang="en-US" altLang="en-US" sz="2700" dirty="0"/>
          </a:p>
        </p:txBody>
      </p:sp>
      <p:sp>
        <p:nvSpPr>
          <p:cNvPr id="52226" name="Rectangle 2"/>
          <p:cNvSpPr>
            <a:spLocks noGrp="1" noChangeArrowheads="1"/>
          </p:cNvSpPr>
          <p:nvPr>
            <p:ph type="title"/>
          </p:nvPr>
        </p:nvSpPr>
        <p:spPr/>
        <p:txBody>
          <a:bodyPr/>
          <a:lstStyle/>
          <a:p>
            <a:r>
              <a:rPr lang="fr-CA" altLang="fr-FR" sz="3400" dirty="0"/>
              <a:t>Bailleur : location-financement </a:t>
            </a:r>
            <a:br>
              <a:rPr lang="fr-CA" altLang="fr-FR" sz="3400" i="1" dirty="0"/>
            </a:br>
            <a:r>
              <a:rPr lang="fr-CA" altLang="fr-FR" sz="3400" dirty="0"/>
              <a:t>Écritures</a:t>
            </a:r>
            <a:endParaRPr lang="en-US" altLang="fr-FR" sz="3400" dirty="0"/>
          </a:p>
        </p:txBody>
      </p:sp>
      <p:sp>
        <p:nvSpPr>
          <p:cNvPr id="2" name="Slide Number Placeholder 1"/>
          <p:cNvSpPr>
            <a:spLocks noGrp="1"/>
          </p:cNvSpPr>
          <p:nvPr>
            <p:ph type="sldNum" sz="quarter" idx="12"/>
          </p:nvPr>
        </p:nvSpPr>
        <p:spPr/>
        <p:txBody>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fld id="{B1856F6B-86C7-4565-8D4C-C5CB358ED2AC}" type="slidenum">
              <a:rPr lang="fr-FR" altLang="fr-FR">
                <a:solidFill>
                  <a:srgbClr val="898989"/>
                </a:solidFill>
              </a:rPr>
              <a:pPr/>
              <a:t>111</a:t>
            </a:fld>
            <a:endParaRPr lang="fr-FR" altLang="fr-FR">
              <a:solidFill>
                <a:srgbClr val="898989"/>
              </a:solidFill>
            </a:endParaRPr>
          </a:p>
        </p:txBody>
      </p:sp>
      <p:sp>
        <p:nvSpPr>
          <p:cNvPr id="3" name="Espace réservé du pied de page 2">
            <a:extLst>
              <a:ext uri="{FF2B5EF4-FFF2-40B4-BE49-F238E27FC236}">
                <a16:creationId xmlns:a16="http://schemas.microsoft.com/office/drawing/2014/main" id="{D8B7566A-B387-43CD-902D-A3C257E3F916}"/>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231532220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4578" name="Rectangle 3"/>
          <p:cNvSpPr>
            <a:spLocks noGrp="1" noChangeArrowheads="1"/>
          </p:cNvSpPr>
          <p:nvPr>
            <p:ph idx="1"/>
          </p:nvPr>
        </p:nvSpPr>
        <p:spPr>
          <a:xfrm>
            <a:off x="838200" y="1657350"/>
            <a:ext cx="10515600" cy="4349750"/>
          </a:xfrm>
        </p:spPr>
        <p:txBody>
          <a:bodyPr>
            <a:normAutofit/>
          </a:bodyPr>
          <a:lstStyle/>
          <a:p>
            <a:pPr marL="107950" indent="0">
              <a:lnSpc>
                <a:spcPct val="80000"/>
              </a:lnSpc>
              <a:buNone/>
            </a:pPr>
            <a:r>
              <a:rPr lang="fr-CA" altLang="en-US" sz="2400" dirty="0"/>
              <a:t>1</a:t>
            </a:r>
            <a:r>
              <a:rPr lang="fr-CA" altLang="en-US" sz="2400" baseline="30000" dirty="0"/>
              <a:t>er</a:t>
            </a:r>
            <a:r>
              <a:rPr lang="fr-CA" altLang="en-US" sz="2400" dirty="0"/>
              <a:t> janvier :</a:t>
            </a:r>
          </a:p>
          <a:p>
            <a:pPr marL="107950" indent="0">
              <a:lnSpc>
                <a:spcPct val="80000"/>
              </a:lnSpc>
              <a:buNone/>
            </a:pPr>
            <a:endParaRPr lang="fr-CA" altLang="en-US" sz="600" dirty="0"/>
          </a:p>
          <a:p>
            <a:pPr marL="107950" indent="0">
              <a:lnSpc>
                <a:spcPct val="80000"/>
              </a:lnSpc>
              <a:buNone/>
            </a:pPr>
            <a:r>
              <a:rPr lang="fr-CA" altLang="en-US" sz="2400" dirty="0"/>
              <a:t>Équipement destiné à la location			154 548</a:t>
            </a:r>
          </a:p>
          <a:p>
            <a:pPr marL="107950" indent="0">
              <a:lnSpc>
                <a:spcPct val="80000"/>
              </a:lnSpc>
              <a:buNone/>
            </a:pPr>
            <a:r>
              <a:rPr lang="fr-CA" altLang="en-US" sz="2400" dirty="0"/>
              <a:t>@  Caisse							154 548</a:t>
            </a:r>
          </a:p>
          <a:p>
            <a:pPr marL="107950" indent="0">
              <a:lnSpc>
                <a:spcPct val="80000"/>
              </a:lnSpc>
              <a:buNone/>
            </a:pPr>
            <a:r>
              <a:rPr lang="fr-CA" altLang="en-US" sz="2400" i="1" dirty="0"/>
              <a:t>(bailleur ne détient pas en stock le bien à louer)</a:t>
            </a:r>
          </a:p>
          <a:p>
            <a:pPr marL="107950" indent="0">
              <a:lnSpc>
                <a:spcPct val="80000"/>
              </a:lnSpc>
              <a:buNone/>
            </a:pPr>
            <a:endParaRPr lang="fr-CA" altLang="en-US" sz="2400" i="1" dirty="0"/>
          </a:p>
          <a:p>
            <a:pPr marL="107950" indent="0">
              <a:lnSpc>
                <a:spcPct val="80000"/>
              </a:lnSpc>
              <a:buNone/>
            </a:pPr>
            <a:r>
              <a:rPr lang="fr-CA" altLang="en-US" sz="2400" dirty="0"/>
              <a:t>Coûts directs initiaux différés			   2 000</a:t>
            </a:r>
          </a:p>
          <a:p>
            <a:pPr marL="107950" indent="0">
              <a:lnSpc>
                <a:spcPct val="80000"/>
              </a:lnSpc>
              <a:buNone/>
            </a:pPr>
            <a:r>
              <a:rPr lang="fr-CA" altLang="en-US" sz="2400" dirty="0"/>
              <a:t>@  Caisse							   2 000</a:t>
            </a:r>
          </a:p>
          <a:p>
            <a:pPr marL="107950" indent="0">
              <a:lnSpc>
                <a:spcPct val="80000"/>
              </a:lnSpc>
              <a:buNone/>
            </a:pPr>
            <a:r>
              <a:rPr lang="fr-CA" altLang="en-US" sz="2400" i="1" dirty="0"/>
              <a:t>(bailleur les ajoutera à l’actif)</a:t>
            </a:r>
            <a:endParaRPr lang="fr-CA" altLang="en-US" i="1" dirty="0"/>
          </a:p>
          <a:p>
            <a:pPr marL="107950" indent="0">
              <a:lnSpc>
                <a:spcPct val="80000"/>
              </a:lnSpc>
              <a:buNone/>
            </a:pPr>
            <a:endParaRPr lang="fr-CA" altLang="en-US" sz="2400" i="1" dirty="0"/>
          </a:p>
          <a:p>
            <a:pPr marL="107950" indent="0">
              <a:lnSpc>
                <a:spcPct val="80000"/>
              </a:lnSpc>
              <a:buNone/>
            </a:pPr>
            <a:endParaRPr lang="fr-CA" altLang="en-US" sz="2000" dirty="0"/>
          </a:p>
          <a:p>
            <a:pPr marL="107950" indent="0">
              <a:lnSpc>
                <a:spcPct val="80000"/>
              </a:lnSpc>
              <a:buNone/>
            </a:pPr>
            <a:endParaRPr lang="fr-CA" altLang="en-US" sz="2000" dirty="0"/>
          </a:p>
          <a:p>
            <a:pPr marL="107950" indent="0">
              <a:lnSpc>
                <a:spcPct val="80000"/>
              </a:lnSpc>
              <a:buNone/>
            </a:pPr>
            <a:endParaRPr lang="fr-CA" altLang="en-US" sz="2700" i="1" dirty="0"/>
          </a:p>
          <a:p>
            <a:pPr marL="107950" indent="0">
              <a:lnSpc>
                <a:spcPct val="80000"/>
              </a:lnSpc>
              <a:buNone/>
            </a:pPr>
            <a:endParaRPr lang="fr-CA" altLang="en-US" sz="2700" i="1" dirty="0"/>
          </a:p>
          <a:p>
            <a:pPr marL="107950" indent="0">
              <a:lnSpc>
                <a:spcPct val="80000"/>
              </a:lnSpc>
              <a:buNone/>
            </a:pPr>
            <a:endParaRPr lang="en-US" altLang="en-US" sz="2700" dirty="0"/>
          </a:p>
        </p:txBody>
      </p:sp>
      <p:sp>
        <p:nvSpPr>
          <p:cNvPr id="52226" name="Rectangle 2"/>
          <p:cNvSpPr>
            <a:spLocks noGrp="1" noChangeArrowheads="1"/>
          </p:cNvSpPr>
          <p:nvPr>
            <p:ph type="title"/>
          </p:nvPr>
        </p:nvSpPr>
        <p:spPr/>
        <p:txBody>
          <a:bodyPr/>
          <a:lstStyle/>
          <a:p>
            <a:r>
              <a:rPr lang="fr-CA" altLang="fr-FR" sz="3400" dirty="0"/>
              <a:t>Bailleur : location-financement </a:t>
            </a:r>
            <a:br>
              <a:rPr lang="fr-CA" altLang="fr-FR" sz="3400" i="1" dirty="0"/>
            </a:br>
            <a:r>
              <a:rPr lang="fr-CA" altLang="fr-FR" sz="3400" dirty="0"/>
              <a:t>Écritures</a:t>
            </a:r>
            <a:endParaRPr lang="en-US" altLang="fr-FR" sz="3400" dirty="0"/>
          </a:p>
        </p:txBody>
      </p:sp>
      <p:sp>
        <p:nvSpPr>
          <p:cNvPr id="2" name="Slide Number Placeholder 1"/>
          <p:cNvSpPr>
            <a:spLocks noGrp="1"/>
          </p:cNvSpPr>
          <p:nvPr>
            <p:ph type="sldNum" sz="quarter" idx="12"/>
          </p:nvPr>
        </p:nvSpPr>
        <p:spPr/>
        <p:txBody>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fld id="{B1856F6B-86C7-4565-8D4C-C5CB358ED2AC}" type="slidenum">
              <a:rPr lang="fr-FR" altLang="fr-FR">
                <a:solidFill>
                  <a:srgbClr val="898989"/>
                </a:solidFill>
              </a:rPr>
              <a:pPr/>
              <a:t>112</a:t>
            </a:fld>
            <a:endParaRPr lang="fr-FR" altLang="fr-FR">
              <a:solidFill>
                <a:srgbClr val="898989"/>
              </a:solidFill>
            </a:endParaRPr>
          </a:p>
        </p:txBody>
      </p:sp>
      <p:sp>
        <p:nvSpPr>
          <p:cNvPr id="3" name="Espace réservé du pied de page 2">
            <a:extLst>
              <a:ext uri="{FF2B5EF4-FFF2-40B4-BE49-F238E27FC236}">
                <a16:creationId xmlns:a16="http://schemas.microsoft.com/office/drawing/2014/main" id="{D8B7566A-B387-43CD-902D-A3C257E3F916}"/>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123039917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4578" name="Rectangle 3"/>
          <p:cNvSpPr>
            <a:spLocks noGrp="1" noChangeArrowheads="1"/>
          </p:cNvSpPr>
          <p:nvPr>
            <p:ph idx="1"/>
          </p:nvPr>
        </p:nvSpPr>
        <p:spPr>
          <a:xfrm>
            <a:off x="838200" y="1371600"/>
            <a:ext cx="10515600" cy="4984750"/>
          </a:xfrm>
        </p:spPr>
        <p:txBody>
          <a:bodyPr>
            <a:normAutofit fontScale="77500" lnSpcReduction="20000"/>
          </a:bodyPr>
          <a:lstStyle/>
          <a:p>
            <a:pPr marL="107950" indent="0">
              <a:lnSpc>
                <a:spcPct val="80000"/>
              </a:lnSpc>
              <a:buNone/>
            </a:pPr>
            <a:r>
              <a:rPr lang="fr-CA" altLang="en-US" sz="3100" dirty="0"/>
              <a:t>1</a:t>
            </a:r>
            <a:r>
              <a:rPr lang="fr-CA" altLang="en-US" sz="3100" baseline="30000" dirty="0"/>
              <a:t>er</a:t>
            </a:r>
            <a:r>
              <a:rPr lang="fr-CA" altLang="en-US" sz="3100" dirty="0"/>
              <a:t> janvier :</a:t>
            </a:r>
          </a:p>
          <a:p>
            <a:pPr marL="107950" indent="0">
              <a:lnSpc>
                <a:spcPct val="80000"/>
              </a:lnSpc>
              <a:buNone/>
            </a:pPr>
            <a:endParaRPr lang="fr-CA" altLang="en-US" sz="900" dirty="0"/>
          </a:p>
          <a:p>
            <a:pPr marL="107950" indent="0">
              <a:lnSpc>
                <a:spcPct val="80000"/>
              </a:lnSpc>
              <a:buNone/>
            </a:pPr>
            <a:r>
              <a:rPr lang="fr-CA" altLang="en-US" sz="3100" dirty="0"/>
              <a:t>Investissement net dans un contrat de location financement </a:t>
            </a:r>
            <a:r>
              <a:rPr lang="fr-CA" altLang="en-US" sz="3100" baseline="30000" dirty="0"/>
              <a:t>1</a:t>
            </a:r>
            <a:r>
              <a:rPr lang="fr-CA" altLang="en-US" sz="3100" dirty="0"/>
              <a:t> 156 548</a:t>
            </a:r>
            <a:endParaRPr lang="fr-CA" altLang="en-US" sz="2100" dirty="0"/>
          </a:p>
          <a:p>
            <a:pPr marL="107950" indent="0">
              <a:lnSpc>
                <a:spcPct val="80000"/>
              </a:lnSpc>
              <a:buNone/>
            </a:pPr>
            <a:r>
              <a:rPr lang="fr-CA" altLang="en-US" sz="3100" dirty="0"/>
              <a:t>@ Équipement destiné à la location					154 548</a:t>
            </a:r>
          </a:p>
          <a:p>
            <a:pPr marL="107950" indent="0">
              <a:lnSpc>
                <a:spcPct val="80000"/>
              </a:lnSpc>
              <a:buNone/>
            </a:pPr>
            <a:r>
              <a:rPr lang="fr-CA" altLang="en-US" sz="3100" dirty="0"/>
              <a:t>     Coûts directs initiaux différés					     2 000</a:t>
            </a:r>
            <a:endParaRPr lang="fr-CA" altLang="en-US" sz="1400" dirty="0"/>
          </a:p>
          <a:p>
            <a:pPr marL="107950" indent="0">
              <a:lnSpc>
                <a:spcPct val="80000"/>
              </a:lnSpc>
              <a:buNone/>
            </a:pPr>
            <a:endParaRPr lang="fr-CA" altLang="en-US" sz="900" i="1" dirty="0"/>
          </a:p>
          <a:p>
            <a:pPr marL="107950" indent="0">
              <a:lnSpc>
                <a:spcPct val="80000"/>
              </a:lnSpc>
              <a:buNone/>
            </a:pPr>
            <a:r>
              <a:rPr lang="fr-CA" altLang="en-US" sz="3100" b="1" i="1" dirty="0">
                <a:solidFill>
                  <a:srgbClr val="FF0000"/>
                </a:solidFill>
              </a:rPr>
              <a:t>OU   ----------------------------------------------------------------</a:t>
            </a:r>
            <a:endParaRPr lang="fr-CA" altLang="en-US" sz="3100" i="1" dirty="0"/>
          </a:p>
          <a:p>
            <a:pPr marL="107950" indent="0">
              <a:lnSpc>
                <a:spcPct val="80000"/>
              </a:lnSpc>
              <a:buNone/>
            </a:pPr>
            <a:endParaRPr lang="fr-CA" altLang="en-US" sz="900" i="1" dirty="0"/>
          </a:p>
          <a:p>
            <a:pPr marL="107950" indent="0">
              <a:lnSpc>
                <a:spcPct val="80000"/>
              </a:lnSpc>
              <a:buNone/>
            </a:pPr>
            <a:r>
              <a:rPr lang="fr-CA" altLang="en-US" sz="3100" dirty="0"/>
              <a:t>Loyers à recevoir (brutes)	   </a:t>
            </a:r>
            <a:r>
              <a:rPr lang="fr-CA" altLang="en-US" sz="3100" i="1" dirty="0"/>
              <a:t>(ou Créances locatives)  </a:t>
            </a:r>
            <a:r>
              <a:rPr lang="fr-CA" altLang="en-US" sz="3100" dirty="0"/>
              <a:t> </a:t>
            </a:r>
            <a:r>
              <a:rPr lang="fr-CA" altLang="en-US" sz="3100" baseline="30000" dirty="0"/>
              <a:t>2	</a:t>
            </a:r>
            <a:r>
              <a:rPr lang="fr-CA" altLang="en-US" sz="3100" dirty="0"/>
              <a:t> 200 000</a:t>
            </a:r>
            <a:endParaRPr lang="fr-CA" altLang="en-US" sz="3100" baseline="30000" dirty="0"/>
          </a:p>
          <a:p>
            <a:pPr marL="107950" indent="0">
              <a:lnSpc>
                <a:spcPct val="80000"/>
              </a:lnSpc>
              <a:buNone/>
            </a:pPr>
            <a:r>
              <a:rPr lang="fr-CA" altLang="en-US" sz="3100" dirty="0"/>
              <a:t>@ Équipement destiné à la location					154 548</a:t>
            </a:r>
          </a:p>
          <a:p>
            <a:pPr marL="107950" indent="0">
              <a:lnSpc>
                <a:spcPct val="80000"/>
              </a:lnSpc>
              <a:buNone/>
            </a:pPr>
            <a:r>
              <a:rPr lang="fr-CA" altLang="en-US" sz="3100" dirty="0"/>
              <a:t>     Coûts directs initiaux différés					     2 000</a:t>
            </a:r>
          </a:p>
          <a:p>
            <a:pPr marL="107950" indent="0">
              <a:lnSpc>
                <a:spcPct val="80000"/>
              </a:lnSpc>
              <a:buNone/>
            </a:pPr>
            <a:r>
              <a:rPr lang="fr-CA" altLang="en-US" sz="3100" dirty="0"/>
              <a:t>     </a:t>
            </a:r>
            <a:r>
              <a:rPr lang="fr-CA" altLang="en-US" sz="3100" b="1" dirty="0">
                <a:solidFill>
                  <a:srgbClr val="0070C0"/>
                </a:solidFill>
              </a:rPr>
              <a:t>Produits financiers non acquis</a:t>
            </a:r>
            <a:r>
              <a:rPr lang="fr-CA" altLang="en-US" sz="3100" baseline="30000" dirty="0"/>
              <a:t> </a:t>
            </a:r>
            <a:r>
              <a:rPr lang="fr-CA" altLang="en-US" sz="2100" baseline="30000" dirty="0"/>
              <a:t>3</a:t>
            </a:r>
            <a:r>
              <a:rPr lang="fr-CA" altLang="en-US" sz="2100" dirty="0"/>
              <a:t> (intérêts non gagnés)			   </a:t>
            </a:r>
            <a:r>
              <a:rPr lang="fr-CA" altLang="en-US" sz="3100" dirty="0"/>
              <a:t> 43 452</a:t>
            </a:r>
            <a:endParaRPr lang="fr-CA" altLang="en-US" sz="2000" dirty="0"/>
          </a:p>
          <a:p>
            <a:pPr marL="107950" indent="0">
              <a:lnSpc>
                <a:spcPct val="80000"/>
              </a:lnSpc>
              <a:buNone/>
            </a:pPr>
            <a:endParaRPr lang="fr-CA" altLang="en-US" sz="800" dirty="0"/>
          </a:p>
          <a:p>
            <a:pPr marL="107950" indent="0">
              <a:lnSpc>
                <a:spcPct val="80000"/>
              </a:lnSpc>
              <a:buNone/>
            </a:pPr>
            <a:endParaRPr lang="fr-CA" altLang="en-US" sz="700" dirty="0"/>
          </a:p>
          <a:p>
            <a:pPr marL="107950" indent="0">
              <a:lnSpc>
                <a:spcPct val="80000"/>
              </a:lnSpc>
              <a:buNone/>
            </a:pPr>
            <a:r>
              <a:rPr lang="fr-CA" altLang="en-US" sz="2300" baseline="30000" dirty="0"/>
              <a:t>1 </a:t>
            </a:r>
            <a:r>
              <a:rPr lang="fr-CA" altLang="en-US" sz="2300" dirty="0" err="1"/>
              <a:t>invest</a:t>
            </a:r>
            <a:r>
              <a:rPr lang="fr-CA" altLang="en-US" sz="2300" dirty="0"/>
              <a:t>. brut – produits fin. non gagnés</a:t>
            </a:r>
            <a:endParaRPr lang="fr-CA" altLang="en-US" sz="2300" baseline="30000" dirty="0"/>
          </a:p>
          <a:p>
            <a:pPr marL="107950" indent="0">
              <a:lnSpc>
                <a:spcPct val="80000"/>
              </a:lnSpc>
              <a:buNone/>
            </a:pPr>
            <a:r>
              <a:rPr lang="fr-CA" altLang="en-US" sz="2300" baseline="30000" dirty="0"/>
              <a:t>2  </a:t>
            </a:r>
            <a:r>
              <a:rPr lang="fr-CA" altLang="en-US" sz="2300" dirty="0"/>
              <a:t>sommation PME – frais accessoires + valeur résiduelle non garantie</a:t>
            </a:r>
          </a:p>
          <a:p>
            <a:pPr marL="107950" indent="0">
              <a:lnSpc>
                <a:spcPct val="80000"/>
              </a:lnSpc>
              <a:buNone/>
            </a:pPr>
            <a:r>
              <a:rPr lang="fr-CA" altLang="en-US" sz="2300" baseline="30000" dirty="0"/>
              <a:t> 3  </a:t>
            </a:r>
            <a:r>
              <a:rPr lang="fr-CA" altLang="en-US" sz="2300" dirty="0" err="1"/>
              <a:t>invest</a:t>
            </a:r>
            <a:r>
              <a:rPr lang="fr-CA" altLang="en-US" sz="2300" dirty="0"/>
              <a:t>. brut – valeur comptable du bien</a:t>
            </a:r>
            <a:endParaRPr lang="fr-CA" altLang="en-US" sz="2000" dirty="0"/>
          </a:p>
          <a:p>
            <a:pPr marL="107950" indent="0">
              <a:lnSpc>
                <a:spcPct val="80000"/>
              </a:lnSpc>
              <a:buNone/>
            </a:pPr>
            <a:endParaRPr lang="fr-CA" altLang="en-US" sz="2000" dirty="0"/>
          </a:p>
          <a:p>
            <a:pPr marL="107950" indent="0">
              <a:lnSpc>
                <a:spcPct val="80000"/>
              </a:lnSpc>
              <a:buNone/>
            </a:pPr>
            <a:endParaRPr lang="fr-CA" altLang="en-US" sz="2700" i="1" dirty="0"/>
          </a:p>
          <a:p>
            <a:pPr marL="107950" indent="0">
              <a:lnSpc>
                <a:spcPct val="80000"/>
              </a:lnSpc>
              <a:buNone/>
            </a:pPr>
            <a:endParaRPr lang="fr-CA" altLang="en-US" sz="2700" i="1" dirty="0"/>
          </a:p>
          <a:p>
            <a:pPr marL="107950" indent="0">
              <a:lnSpc>
                <a:spcPct val="80000"/>
              </a:lnSpc>
              <a:buNone/>
            </a:pPr>
            <a:endParaRPr lang="en-US" altLang="en-US" sz="2700" dirty="0"/>
          </a:p>
        </p:txBody>
      </p:sp>
      <p:sp>
        <p:nvSpPr>
          <p:cNvPr id="52226" name="Rectangle 2"/>
          <p:cNvSpPr>
            <a:spLocks noGrp="1" noChangeArrowheads="1"/>
          </p:cNvSpPr>
          <p:nvPr>
            <p:ph type="title"/>
          </p:nvPr>
        </p:nvSpPr>
        <p:spPr>
          <a:xfrm>
            <a:off x="838200" y="365126"/>
            <a:ext cx="10515600" cy="927100"/>
          </a:xfrm>
        </p:spPr>
        <p:txBody>
          <a:bodyPr>
            <a:normAutofit fontScale="90000"/>
          </a:bodyPr>
          <a:lstStyle/>
          <a:p>
            <a:r>
              <a:rPr lang="fr-CA" altLang="fr-FR" sz="3400" dirty="0"/>
              <a:t>Bailleur : location-financement </a:t>
            </a:r>
            <a:br>
              <a:rPr lang="fr-CA" altLang="fr-FR" sz="3400" i="1" dirty="0"/>
            </a:br>
            <a:r>
              <a:rPr lang="fr-CA" altLang="fr-FR" sz="3400" dirty="0"/>
              <a:t>Écritures</a:t>
            </a:r>
            <a:endParaRPr lang="en-US" altLang="fr-FR" sz="3400" dirty="0"/>
          </a:p>
        </p:txBody>
      </p:sp>
      <p:sp>
        <p:nvSpPr>
          <p:cNvPr id="2" name="Slide Number Placeholder 1"/>
          <p:cNvSpPr>
            <a:spLocks noGrp="1"/>
          </p:cNvSpPr>
          <p:nvPr>
            <p:ph type="sldNum" sz="quarter" idx="12"/>
          </p:nvPr>
        </p:nvSpPr>
        <p:spPr/>
        <p:txBody>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fld id="{B1856F6B-86C7-4565-8D4C-C5CB358ED2AC}" type="slidenum">
              <a:rPr lang="fr-FR" altLang="fr-FR">
                <a:solidFill>
                  <a:srgbClr val="898989"/>
                </a:solidFill>
              </a:rPr>
              <a:pPr/>
              <a:t>113</a:t>
            </a:fld>
            <a:endParaRPr lang="fr-FR" altLang="fr-FR">
              <a:solidFill>
                <a:srgbClr val="898989"/>
              </a:solidFill>
            </a:endParaRPr>
          </a:p>
        </p:txBody>
      </p:sp>
      <p:sp>
        <p:nvSpPr>
          <p:cNvPr id="3" name="Espace réservé du pied de page 2">
            <a:extLst>
              <a:ext uri="{FF2B5EF4-FFF2-40B4-BE49-F238E27FC236}">
                <a16:creationId xmlns:a16="http://schemas.microsoft.com/office/drawing/2014/main" id="{6482C283-E71B-4301-AB60-B1EE6AA45661}"/>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42167481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3249" name="Rectangle 3"/>
          <p:cNvSpPr>
            <a:spLocks noGrp="1" noChangeArrowheads="1"/>
          </p:cNvSpPr>
          <p:nvPr>
            <p:ph idx="1"/>
          </p:nvPr>
        </p:nvSpPr>
        <p:spPr>
          <a:xfrm>
            <a:off x="838200" y="1193181"/>
            <a:ext cx="10515600" cy="5299694"/>
          </a:xfrm>
        </p:spPr>
        <p:txBody>
          <a:bodyPr>
            <a:normAutofit lnSpcReduction="10000"/>
          </a:bodyPr>
          <a:lstStyle/>
          <a:p>
            <a:pPr marL="107950" indent="0">
              <a:buNone/>
            </a:pPr>
            <a:r>
              <a:rPr lang="fr-CA" altLang="en-US" sz="2400" dirty="0"/>
              <a:t>1</a:t>
            </a:r>
            <a:r>
              <a:rPr lang="fr-CA" altLang="en-US" sz="2400" baseline="30000" dirty="0"/>
              <a:t>er</a:t>
            </a:r>
            <a:r>
              <a:rPr lang="fr-CA" altLang="en-US" sz="2400" dirty="0"/>
              <a:t> janvier:</a:t>
            </a:r>
            <a:endParaRPr lang="fr-CA" altLang="en-US" dirty="0"/>
          </a:p>
          <a:p>
            <a:pPr marL="107950" indent="0">
              <a:buNone/>
            </a:pPr>
            <a:endParaRPr lang="fr-CA" altLang="en-US" sz="500" dirty="0"/>
          </a:p>
          <a:p>
            <a:pPr marL="107950" indent="0">
              <a:lnSpc>
                <a:spcPct val="80000"/>
              </a:lnSpc>
              <a:buNone/>
            </a:pPr>
            <a:r>
              <a:rPr lang="fr-CA" altLang="en-US" sz="2400" dirty="0"/>
              <a:t>Caisse  							42 000</a:t>
            </a:r>
            <a:endParaRPr lang="fr-CA" altLang="en-US" sz="1800" dirty="0"/>
          </a:p>
          <a:p>
            <a:pPr marL="107950" indent="0">
              <a:lnSpc>
                <a:spcPct val="80000"/>
              </a:lnSpc>
              <a:buNone/>
            </a:pPr>
            <a:r>
              <a:rPr lang="fr-CA" altLang="en-US" sz="2400" dirty="0"/>
              <a:t>@ Investissement net dans un contrat de location financement	40 000</a:t>
            </a:r>
          </a:p>
          <a:p>
            <a:pPr marL="107950" indent="0">
              <a:lnSpc>
                <a:spcPct val="80000"/>
              </a:lnSpc>
              <a:buNone/>
            </a:pPr>
            <a:r>
              <a:rPr lang="fr-CA" altLang="en-US" sz="2400" dirty="0"/>
              <a:t>      Frais d’entretien							  2 000</a:t>
            </a:r>
            <a:endParaRPr lang="fr-CA" altLang="en-US" sz="2000" dirty="0"/>
          </a:p>
          <a:p>
            <a:pPr marL="107950" indent="0">
              <a:lnSpc>
                <a:spcPct val="80000"/>
              </a:lnSpc>
              <a:buNone/>
            </a:pPr>
            <a:endParaRPr lang="fr-CA" altLang="en-US" sz="500" i="1" dirty="0"/>
          </a:p>
          <a:p>
            <a:pPr marL="107950" indent="0">
              <a:lnSpc>
                <a:spcPct val="80000"/>
              </a:lnSpc>
              <a:buNone/>
            </a:pPr>
            <a:r>
              <a:rPr lang="fr-CA" altLang="en-US" sz="2000" b="1" i="1" dirty="0">
                <a:solidFill>
                  <a:srgbClr val="FF0000"/>
                </a:solidFill>
              </a:rPr>
              <a:t>OU   ----------------------------------------------------------------</a:t>
            </a:r>
            <a:endParaRPr lang="fr-CA" altLang="en-US" sz="2000" dirty="0"/>
          </a:p>
          <a:p>
            <a:pPr marL="107950" indent="0">
              <a:buNone/>
            </a:pPr>
            <a:endParaRPr lang="fr-CA" altLang="en-US" sz="200" dirty="0"/>
          </a:p>
          <a:p>
            <a:pPr marL="107950" indent="0">
              <a:buNone/>
            </a:pPr>
            <a:r>
              <a:rPr lang="fr-CA" altLang="en-US" sz="2400" dirty="0"/>
              <a:t>Caisse								42 000</a:t>
            </a:r>
          </a:p>
          <a:p>
            <a:pPr marL="107950" indent="0">
              <a:buNone/>
            </a:pPr>
            <a:r>
              <a:rPr lang="fr-CA" altLang="en-US" sz="2400" dirty="0"/>
              <a:t>@ Loyers à recevoir  							40 000</a:t>
            </a:r>
          </a:p>
          <a:p>
            <a:pPr marL="107950" indent="0">
              <a:buNone/>
            </a:pPr>
            <a:r>
              <a:rPr lang="fr-CA" altLang="en-US" sz="2400" dirty="0"/>
              <a:t>      Frais d’entretien							  2 000</a:t>
            </a:r>
            <a:endParaRPr lang="fr-CA" altLang="en-US" i="1" dirty="0"/>
          </a:p>
          <a:p>
            <a:pPr marL="107950" indent="0">
              <a:buNone/>
            </a:pPr>
            <a:r>
              <a:rPr lang="fr-CA" altLang="en-US" sz="1300" dirty="0"/>
              <a:t>_____________________________</a:t>
            </a:r>
            <a:endParaRPr lang="fr-CA" altLang="en-US" dirty="0"/>
          </a:p>
          <a:p>
            <a:pPr marL="107950" indent="0">
              <a:buNone/>
            </a:pPr>
            <a:r>
              <a:rPr lang="fr-CA" altLang="en-US" sz="2400" dirty="0">
                <a:solidFill>
                  <a:srgbClr val="0070C0"/>
                </a:solidFill>
              </a:rPr>
              <a:t>En x1</a:t>
            </a:r>
          </a:p>
          <a:p>
            <a:pPr marL="107950" indent="0">
              <a:buNone/>
            </a:pPr>
            <a:r>
              <a:rPr lang="fr-CA" altLang="en-US" sz="2400" dirty="0"/>
              <a:t>Frais d’entretien						2 000</a:t>
            </a:r>
          </a:p>
          <a:p>
            <a:pPr marL="107950" indent="0">
              <a:buNone/>
            </a:pPr>
            <a:r>
              <a:rPr lang="fr-CA" altLang="en-US" sz="2400" dirty="0"/>
              <a:t>@  Caisse								2 000</a:t>
            </a:r>
            <a:endParaRPr lang="fr-CA" altLang="en-US" sz="2000" dirty="0"/>
          </a:p>
          <a:p>
            <a:pPr marL="107950" indent="0">
              <a:buNone/>
            </a:pPr>
            <a:endParaRPr lang="fr-CA" altLang="en-US" i="1" dirty="0"/>
          </a:p>
          <a:p>
            <a:pPr marL="107950" indent="0">
              <a:buNone/>
            </a:pPr>
            <a:endParaRPr lang="fr-CA" altLang="en-US" i="1" dirty="0"/>
          </a:p>
          <a:p>
            <a:pPr marL="107950" indent="0">
              <a:buNone/>
            </a:pPr>
            <a:endParaRPr lang="fr-CA" altLang="en-US" i="1" dirty="0"/>
          </a:p>
          <a:p>
            <a:pPr marL="107950" indent="0">
              <a:buNone/>
            </a:pPr>
            <a:endParaRPr lang="en-US" altLang="en-US" dirty="0"/>
          </a:p>
        </p:txBody>
      </p:sp>
      <p:sp>
        <p:nvSpPr>
          <p:cNvPr id="53250" name="Rectangle 2"/>
          <p:cNvSpPr>
            <a:spLocks noGrp="1" noChangeArrowheads="1"/>
          </p:cNvSpPr>
          <p:nvPr>
            <p:ph type="title"/>
          </p:nvPr>
        </p:nvSpPr>
        <p:spPr>
          <a:xfrm>
            <a:off x="838200" y="365125"/>
            <a:ext cx="10515600" cy="828055"/>
          </a:xfrm>
        </p:spPr>
        <p:txBody>
          <a:bodyPr>
            <a:normAutofit fontScale="90000"/>
          </a:bodyPr>
          <a:lstStyle/>
          <a:p>
            <a:r>
              <a:rPr lang="fr-CA" altLang="fr-FR" sz="3400" dirty="0"/>
              <a:t>Bailleur : location-financement </a:t>
            </a:r>
            <a:br>
              <a:rPr lang="fr-CA" altLang="fr-FR" sz="3400" i="1" dirty="0"/>
            </a:br>
            <a:r>
              <a:rPr lang="fr-CA" altLang="fr-FR" sz="3400" dirty="0"/>
              <a:t>Écritures</a:t>
            </a:r>
            <a:endParaRPr lang="en-US" altLang="fr-FR" sz="3400" dirty="0"/>
          </a:p>
        </p:txBody>
      </p:sp>
      <p:sp>
        <p:nvSpPr>
          <p:cNvPr id="2" name="Slide Number Placeholder 1"/>
          <p:cNvSpPr>
            <a:spLocks noGrp="1"/>
          </p:cNvSpPr>
          <p:nvPr>
            <p:ph type="sldNum" sz="quarter" idx="12"/>
          </p:nvPr>
        </p:nvSpPr>
        <p:spPr/>
        <p:txBody>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fld id="{7156BAC3-BD32-4CA5-B652-24E431B18DE1}" type="slidenum">
              <a:rPr lang="fr-FR" altLang="fr-FR">
                <a:solidFill>
                  <a:srgbClr val="898989"/>
                </a:solidFill>
              </a:rPr>
              <a:pPr/>
              <a:t>114</a:t>
            </a:fld>
            <a:endParaRPr lang="fr-FR" altLang="fr-FR">
              <a:solidFill>
                <a:srgbClr val="898989"/>
              </a:solidFill>
            </a:endParaRPr>
          </a:p>
        </p:txBody>
      </p:sp>
      <p:sp>
        <p:nvSpPr>
          <p:cNvPr id="3" name="Espace réservé du pied de page 2">
            <a:extLst>
              <a:ext uri="{FF2B5EF4-FFF2-40B4-BE49-F238E27FC236}">
                <a16:creationId xmlns:a16="http://schemas.microsoft.com/office/drawing/2014/main" id="{443D36E1-8BC5-4BAE-BE80-0B1ABDE826F9}"/>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357078862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4578" name="Rectangle 3"/>
          <p:cNvSpPr>
            <a:spLocks noGrp="1" noChangeArrowheads="1"/>
          </p:cNvSpPr>
          <p:nvPr>
            <p:ph idx="1"/>
          </p:nvPr>
        </p:nvSpPr>
        <p:spPr>
          <a:xfrm>
            <a:off x="838199" y="1428750"/>
            <a:ext cx="10515599" cy="4578350"/>
          </a:xfrm>
        </p:spPr>
        <p:txBody>
          <a:bodyPr>
            <a:normAutofit/>
          </a:bodyPr>
          <a:lstStyle/>
          <a:p>
            <a:pPr marL="107950" indent="0">
              <a:buNone/>
            </a:pPr>
            <a:r>
              <a:rPr lang="fr-CA" altLang="en-US" sz="2400" dirty="0"/>
              <a:t>31 décembre :</a:t>
            </a:r>
          </a:p>
          <a:p>
            <a:pPr marL="107950" indent="0">
              <a:buNone/>
            </a:pPr>
            <a:endParaRPr lang="fr-CA" altLang="en-US" sz="900" dirty="0"/>
          </a:p>
          <a:p>
            <a:pPr marL="107950" indent="0">
              <a:buNone/>
            </a:pPr>
            <a:r>
              <a:rPr lang="fr-CA" altLang="en-US" sz="2400" dirty="0"/>
              <a:t>Investissement net dans un contrat de location financement 	  16 317</a:t>
            </a:r>
          </a:p>
          <a:p>
            <a:pPr marL="107950" indent="0">
              <a:buNone/>
            </a:pPr>
            <a:r>
              <a:rPr lang="fr-CA" altLang="en-US" sz="2400" dirty="0"/>
              <a:t>@ Produits financiers – intérêts sur contrat de location 			16 317</a:t>
            </a:r>
          </a:p>
          <a:p>
            <a:pPr marL="107950" indent="0">
              <a:buNone/>
            </a:pPr>
            <a:endParaRPr lang="fr-CA" altLang="en-US" sz="1100" i="1" dirty="0"/>
          </a:p>
          <a:p>
            <a:pPr marL="107950" indent="0">
              <a:buNone/>
            </a:pPr>
            <a:r>
              <a:rPr lang="fr-CA" altLang="en-US" sz="2400" b="1" i="1" dirty="0">
                <a:solidFill>
                  <a:srgbClr val="FF0000"/>
                </a:solidFill>
              </a:rPr>
              <a:t>OU   -------------------------------------------------------------------------</a:t>
            </a:r>
          </a:p>
          <a:p>
            <a:pPr marL="107950" indent="0">
              <a:buNone/>
            </a:pPr>
            <a:endParaRPr lang="fr-CA" altLang="en-US" sz="2400" i="1" dirty="0"/>
          </a:p>
          <a:p>
            <a:pPr marL="107950" indent="0">
              <a:buNone/>
            </a:pPr>
            <a:r>
              <a:rPr lang="fr-CA" altLang="en-US" sz="2400" dirty="0"/>
              <a:t>Produits financiers non acquis					16 317</a:t>
            </a:r>
          </a:p>
          <a:p>
            <a:pPr marL="107950" indent="0">
              <a:buNone/>
            </a:pPr>
            <a:r>
              <a:rPr lang="fr-CA" altLang="en-US" sz="2400" dirty="0"/>
              <a:t>@ Produits financiers – intérêts sur contrat de location			16 317</a:t>
            </a:r>
            <a:endParaRPr lang="fr-CA" altLang="en-US" dirty="0"/>
          </a:p>
          <a:p>
            <a:pPr marL="107950" indent="0">
              <a:buNone/>
            </a:pPr>
            <a:endParaRPr lang="fr-CA" altLang="en-US" sz="2700" i="1" dirty="0"/>
          </a:p>
          <a:p>
            <a:pPr marL="107950" indent="0">
              <a:buNone/>
            </a:pPr>
            <a:endParaRPr lang="fr-CA" altLang="en-US" sz="2700" i="1" dirty="0"/>
          </a:p>
          <a:p>
            <a:pPr marL="107950" indent="0">
              <a:buNone/>
            </a:pPr>
            <a:endParaRPr lang="en-US" altLang="en-US" sz="2700" dirty="0"/>
          </a:p>
        </p:txBody>
      </p:sp>
      <p:sp>
        <p:nvSpPr>
          <p:cNvPr id="54274" name="Rectangle 2"/>
          <p:cNvSpPr>
            <a:spLocks noGrp="1" noChangeArrowheads="1"/>
          </p:cNvSpPr>
          <p:nvPr>
            <p:ph type="title"/>
          </p:nvPr>
        </p:nvSpPr>
        <p:spPr>
          <a:xfrm>
            <a:off x="838200" y="365125"/>
            <a:ext cx="10515600" cy="1063625"/>
          </a:xfrm>
        </p:spPr>
        <p:txBody>
          <a:bodyPr>
            <a:normAutofit/>
          </a:bodyPr>
          <a:lstStyle/>
          <a:p>
            <a:r>
              <a:rPr lang="fr-CA" altLang="fr-FR" sz="2800" dirty="0"/>
              <a:t>Bailleur : location-financement </a:t>
            </a:r>
            <a:br>
              <a:rPr lang="fr-CA" altLang="fr-FR" sz="2800" i="1" dirty="0"/>
            </a:br>
            <a:r>
              <a:rPr lang="fr-CA" altLang="fr-FR" sz="2800" dirty="0"/>
              <a:t>Écritures</a:t>
            </a:r>
            <a:endParaRPr lang="en-US" altLang="fr-FR" sz="2800" dirty="0"/>
          </a:p>
        </p:txBody>
      </p:sp>
      <p:sp>
        <p:nvSpPr>
          <p:cNvPr id="2" name="Slide Number Placeholder 1"/>
          <p:cNvSpPr>
            <a:spLocks noGrp="1"/>
          </p:cNvSpPr>
          <p:nvPr>
            <p:ph type="sldNum" sz="quarter" idx="12"/>
          </p:nvPr>
        </p:nvSpPr>
        <p:spPr/>
        <p:txBody>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fld id="{F6257FA2-7C62-4AD2-A774-6BA13F74F78D}" type="slidenum">
              <a:rPr lang="fr-FR" altLang="fr-FR">
                <a:solidFill>
                  <a:srgbClr val="898989"/>
                </a:solidFill>
              </a:rPr>
              <a:pPr/>
              <a:t>115</a:t>
            </a:fld>
            <a:endParaRPr lang="fr-FR" altLang="fr-FR">
              <a:solidFill>
                <a:srgbClr val="898989"/>
              </a:solidFill>
            </a:endParaRPr>
          </a:p>
        </p:txBody>
      </p:sp>
      <p:sp>
        <p:nvSpPr>
          <p:cNvPr id="3" name="Espace réservé du pied de page 2">
            <a:extLst>
              <a:ext uri="{FF2B5EF4-FFF2-40B4-BE49-F238E27FC236}">
                <a16:creationId xmlns:a16="http://schemas.microsoft.com/office/drawing/2014/main" id="{53A6EC42-A36E-487E-B36B-A82295BF6092}"/>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4255890867"/>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Exercice – bailleur</a:t>
            </a:r>
            <a:br>
              <a:rPr lang="fr-CA" dirty="0"/>
            </a:br>
            <a:r>
              <a:rPr lang="fr-CA" altLang="fr-FR" sz="3600" dirty="0"/>
              <a:t>Écritures – valeur résiduelle non garantie</a:t>
            </a:r>
            <a:endParaRPr lang="fr-CA" sz="3600" dirty="0"/>
          </a:p>
        </p:txBody>
      </p:sp>
      <p:sp>
        <p:nvSpPr>
          <p:cNvPr id="4" name="Espace réservé du numéro de diapositive 3"/>
          <p:cNvSpPr>
            <a:spLocks noGrp="1"/>
          </p:cNvSpPr>
          <p:nvPr>
            <p:ph type="sldNum" sz="quarter" idx="12"/>
          </p:nvPr>
        </p:nvSpPr>
        <p:spPr/>
        <p:txBody>
          <a:bodyPr/>
          <a:lstStyle/>
          <a:p>
            <a:fld id="{5DC53271-AB06-4788-AC3D-33D4BA937B45}" type="slidenum">
              <a:rPr lang="fr-FR" altLang="fr-FR" smtClean="0"/>
              <a:pPr/>
              <a:t>116</a:t>
            </a:fld>
            <a:endParaRPr lang="fr-FR" altLang="fr-FR"/>
          </a:p>
        </p:txBody>
      </p:sp>
      <p:sp>
        <p:nvSpPr>
          <p:cNvPr id="6" name="Espace réservé du contenu 5"/>
          <p:cNvSpPr>
            <a:spLocks noGrp="1"/>
          </p:cNvSpPr>
          <p:nvPr>
            <p:ph idx="1"/>
          </p:nvPr>
        </p:nvSpPr>
        <p:spPr/>
        <p:txBody>
          <a:bodyPr>
            <a:normAutofit lnSpcReduction="10000"/>
          </a:bodyPr>
          <a:lstStyle/>
          <a:p>
            <a:pPr marL="0" indent="0">
              <a:buNone/>
            </a:pPr>
            <a:r>
              <a:rPr lang="fr-CA" sz="2400" dirty="0"/>
              <a:t>Valeur de l’équipement :			217 864</a:t>
            </a:r>
          </a:p>
          <a:p>
            <a:pPr marL="0" indent="0">
              <a:buNone/>
            </a:pPr>
            <a:r>
              <a:rPr lang="fr-CA" sz="2400" i="1" dirty="0"/>
              <a:t>Que le bailleur doit acheter aux fins du contrat de location</a:t>
            </a:r>
          </a:p>
          <a:p>
            <a:pPr marL="0" indent="0">
              <a:buNone/>
            </a:pPr>
            <a:r>
              <a:rPr lang="fr-CA" sz="2400" dirty="0"/>
              <a:t>Frais initiaux liés au contrat payés par bailleur : 2 000 $</a:t>
            </a:r>
          </a:p>
          <a:p>
            <a:pPr marL="0" indent="0">
              <a:buNone/>
            </a:pPr>
            <a:r>
              <a:rPr lang="fr-CA" sz="2400" dirty="0"/>
              <a:t>Durée de la location : 				4 ans</a:t>
            </a:r>
          </a:p>
          <a:p>
            <a:pPr marL="0" indent="0">
              <a:buNone/>
            </a:pPr>
            <a:r>
              <a:rPr lang="fr-CA" sz="2400" dirty="0"/>
              <a:t>Durée de vie utile	: 			5 ans</a:t>
            </a:r>
          </a:p>
          <a:p>
            <a:pPr marL="0" indent="0">
              <a:buNone/>
            </a:pPr>
            <a:r>
              <a:rPr lang="fr-CA" sz="2400" dirty="0"/>
              <a:t>Paiements annuels location : 			62 000 $ début période</a:t>
            </a:r>
          </a:p>
          <a:p>
            <a:pPr marL="0" indent="0">
              <a:buNone/>
            </a:pPr>
            <a:r>
              <a:rPr lang="fr-CA" sz="2400" i="1" dirty="0"/>
              <a:t>Le bailleur sera responsable de l’entretien, valeur 2 000 $ annuellement</a:t>
            </a:r>
          </a:p>
          <a:p>
            <a:pPr marL="0" indent="0">
              <a:buNone/>
            </a:pPr>
            <a:r>
              <a:rPr lang="fr-CA" sz="2400" dirty="0"/>
              <a:t>Valeur résiduelle non garantie :		40 000 $</a:t>
            </a:r>
          </a:p>
          <a:p>
            <a:pPr marL="0" indent="0">
              <a:buNone/>
            </a:pPr>
            <a:endParaRPr lang="fr-CA" sz="2400" dirty="0"/>
          </a:p>
          <a:p>
            <a:pPr marL="0" indent="0">
              <a:buNone/>
            </a:pPr>
            <a:r>
              <a:rPr lang="fr-CA" sz="2400" dirty="0"/>
              <a:t>Taux?   </a:t>
            </a:r>
            <a:r>
              <a:rPr lang="fr-CA" sz="2400" dirty="0">
                <a:solidFill>
                  <a:srgbClr val="FF0000"/>
                </a:solidFill>
              </a:rPr>
              <a:t>15 %</a:t>
            </a:r>
            <a:endParaRPr lang="fr-CA" sz="2400" dirty="0"/>
          </a:p>
          <a:p>
            <a:pPr marL="0" indent="0">
              <a:buNone/>
            </a:pPr>
            <a:endParaRPr lang="fr-CA" sz="2400" dirty="0"/>
          </a:p>
          <a:p>
            <a:pPr marL="0" indent="0">
              <a:buNone/>
            </a:pPr>
            <a:endParaRPr lang="fr-CA" dirty="0"/>
          </a:p>
        </p:txBody>
      </p:sp>
      <p:sp>
        <p:nvSpPr>
          <p:cNvPr id="3" name="Espace réservé du pied de page 2">
            <a:extLst>
              <a:ext uri="{FF2B5EF4-FFF2-40B4-BE49-F238E27FC236}">
                <a16:creationId xmlns:a16="http://schemas.microsoft.com/office/drawing/2014/main" id="{8453B302-4206-450C-94F2-B3AB575796F5}"/>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199837075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AD98CC0-5826-485B-A431-FA867C3AFFD8}"/>
              </a:ext>
            </a:extLst>
          </p:cNvPr>
          <p:cNvSpPr>
            <a:spLocks noGrp="1"/>
          </p:cNvSpPr>
          <p:nvPr>
            <p:ph type="title"/>
          </p:nvPr>
        </p:nvSpPr>
        <p:spPr>
          <a:xfrm>
            <a:off x="838200" y="365125"/>
            <a:ext cx="10515600" cy="50807"/>
          </a:xfrm>
        </p:spPr>
        <p:txBody>
          <a:bodyPr>
            <a:normAutofit fontScale="90000"/>
          </a:bodyPr>
          <a:lstStyle/>
          <a:p>
            <a:r>
              <a:rPr lang="fr-CA" dirty="0"/>
              <a:t>   </a:t>
            </a:r>
            <a:endParaRPr lang="fr-FR" dirty="0"/>
          </a:p>
        </p:txBody>
      </p:sp>
      <p:pic>
        <p:nvPicPr>
          <p:cNvPr id="6" name="Espace réservé du contenu 5">
            <a:extLst>
              <a:ext uri="{FF2B5EF4-FFF2-40B4-BE49-F238E27FC236}">
                <a16:creationId xmlns:a16="http://schemas.microsoft.com/office/drawing/2014/main" id="{641ED72C-F95D-4552-A0C0-6AEA9C6F215E}"/>
              </a:ext>
            </a:extLst>
          </p:cNvPr>
          <p:cNvPicPr>
            <a:picLocks noGrp="1" noChangeAspect="1"/>
          </p:cNvPicPr>
          <p:nvPr>
            <p:ph idx="1"/>
          </p:nvPr>
        </p:nvPicPr>
        <p:blipFill>
          <a:blip r:embed="rId2"/>
          <a:stretch>
            <a:fillRect/>
          </a:stretch>
        </p:blipFill>
        <p:spPr>
          <a:xfrm>
            <a:off x="978017" y="599921"/>
            <a:ext cx="6359485" cy="1246544"/>
          </a:xfrm>
          <a:prstGeom prst="rect">
            <a:avLst/>
          </a:prstGeom>
        </p:spPr>
      </p:pic>
      <p:sp>
        <p:nvSpPr>
          <p:cNvPr id="4" name="Espace réservé du pied de page 3">
            <a:extLst>
              <a:ext uri="{FF2B5EF4-FFF2-40B4-BE49-F238E27FC236}">
                <a16:creationId xmlns:a16="http://schemas.microsoft.com/office/drawing/2014/main" id="{ED57A48D-DA1E-4C3C-8981-523609F204B1}"/>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CE0B93DF-33E3-48DE-88DD-644A0522D318}"/>
              </a:ext>
            </a:extLst>
          </p:cNvPr>
          <p:cNvSpPr>
            <a:spLocks noGrp="1"/>
          </p:cNvSpPr>
          <p:nvPr>
            <p:ph type="sldNum" sz="quarter" idx="12"/>
          </p:nvPr>
        </p:nvSpPr>
        <p:spPr/>
        <p:txBody>
          <a:bodyPr/>
          <a:lstStyle/>
          <a:p>
            <a:fld id="{AB611A3C-E82E-4A5C-8D2C-147066045627}" type="slidenum">
              <a:rPr lang="fr-FR" smtClean="0"/>
              <a:t>117</a:t>
            </a:fld>
            <a:endParaRPr lang="fr-FR"/>
          </a:p>
        </p:txBody>
      </p:sp>
      <p:pic>
        <p:nvPicPr>
          <p:cNvPr id="8" name="Image 7">
            <a:extLst>
              <a:ext uri="{FF2B5EF4-FFF2-40B4-BE49-F238E27FC236}">
                <a16:creationId xmlns:a16="http://schemas.microsoft.com/office/drawing/2014/main" id="{04EDD97B-788B-46FF-8CA5-2B7AC56E08E9}"/>
              </a:ext>
            </a:extLst>
          </p:cNvPr>
          <p:cNvPicPr>
            <a:picLocks noChangeAspect="1"/>
          </p:cNvPicPr>
          <p:nvPr/>
        </p:nvPicPr>
        <p:blipFill>
          <a:blip r:embed="rId3"/>
          <a:stretch>
            <a:fillRect/>
          </a:stretch>
        </p:blipFill>
        <p:spPr>
          <a:xfrm>
            <a:off x="978017" y="2258115"/>
            <a:ext cx="4675651" cy="3957813"/>
          </a:xfrm>
          <a:prstGeom prst="rect">
            <a:avLst/>
          </a:prstGeom>
        </p:spPr>
      </p:pic>
    </p:spTree>
    <p:extLst>
      <p:ext uri="{BB962C8B-B14F-4D97-AF65-F5344CB8AC3E}">
        <p14:creationId xmlns:p14="http://schemas.microsoft.com/office/powerpoint/2010/main" val="339295807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4578" name="Rectangle 3"/>
          <p:cNvSpPr>
            <a:spLocks noGrp="1" noChangeArrowheads="1"/>
          </p:cNvSpPr>
          <p:nvPr>
            <p:ph idx="1"/>
          </p:nvPr>
        </p:nvSpPr>
        <p:spPr>
          <a:xfrm>
            <a:off x="838200" y="1657350"/>
            <a:ext cx="10515600" cy="4349750"/>
          </a:xfrm>
        </p:spPr>
        <p:txBody>
          <a:bodyPr>
            <a:normAutofit/>
          </a:bodyPr>
          <a:lstStyle/>
          <a:p>
            <a:pPr marL="107950" indent="0">
              <a:lnSpc>
                <a:spcPct val="80000"/>
              </a:lnSpc>
              <a:buNone/>
            </a:pPr>
            <a:r>
              <a:rPr lang="fr-CA" altLang="en-US" sz="2400" dirty="0"/>
              <a:t>1</a:t>
            </a:r>
            <a:r>
              <a:rPr lang="fr-CA" altLang="en-US" sz="2400" baseline="30000" dirty="0"/>
              <a:t>er</a:t>
            </a:r>
            <a:r>
              <a:rPr lang="fr-CA" altLang="en-US" sz="2400" dirty="0"/>
              <a:t> janvier :</a:t>
            </a:r>
          </a:p>
          <a:p>
            <a:pPr marL="107950" indent="0">
              <a:lnSpc>
                <a:spcPct val="80000"/>
              </a:lnSpc>
              <a:buNone/>
            </a:pPr>
            <a:endParaRPr lang="fr-CA" altLang="en-US" sz="600" dirty="0"/>
          </a:p>
          <a:p>
            <a:pPr marL="107950" indent="0">
              <a:lnSpc>
                <a:spcPct val="80000"/>
              </a:lnSpc>
              <a:buNone/>
            </a:pPr>
            <a:r>
              <a:rPr lang="fr-CA" altLang="en-US" sz="2400" dirty="0"/>
              <a:t>Équipement destiné à la location			217 864</a:t>
            </a:r>
          </a:p>
          <a:p>
            <a:pPr marL="107950" indent="0">
              <a:lnSpc>
                <a:spcPct val="80000"/>
              </a:lnSpc>
              <a:buNone/>
            </a:pPr>
            <a:r>
              <a:rPr lang="fr-CA" altLang="en-US" sz="2400" dirty="0"/>
              <a:t>@  Caisse							217 864</a:t>
            </a:r>
          </a:p>
          <a:p>
            <a:pPr marL="107950" indent="0">
              <a:lnSpc>
                <a:spcPct val="80000"/>
              </a:lnSpc>
              <a:buNone/>
            </a:pPr>
            <a:r>
              <a:rPr lang="fr-CA" altLang="en-US" sz="2400" i="1" dirty="0"/>
              <a:t>(bailleur ne détient pas en stock le bien à louer)</a:t>
            </a:r>
          </a:p>
          <a:p>
            <a:pPr marL="107950" indent="0">
              <a:lnSpc>
                <a:spcPct val="80000"/>
              </a:lnSpc>
              <a:buNone/>
            </a:pPr>
            <a:endParaRPr lang="fr-CA" altLang="en-US" sz="2400" i="1" dirty="0"/>
          </a:p>
          <a:p>
            <a:pPr marL="107950" indent="0">
              <a:lnSpc>
                <a:spcPct val="80000"/>
              </a:lnSpc>
              <a:buNone/>
            </a:pPr>
            <a:r>
              <a:rPr lang="fr-CA" altLang="en-US" sz="2400" dirty="0"/>
              <a:t>Coûts directs initiaux différés			    2 000</a:t>
            </a:r>
          </a:p>
          <a:p>
            <a:pPr marL="107950" indent="0">
              <a:lnSpc>
                <a:spcPct val="80000"/>
              </a:lnSpc>
              <a:buNone/>
            </a:pPr>
            <a:r>
              <a:rPr lang="fr-CA" altLang="en-US" sz="2400" dirty="0"/>
              <a:t>@  Caisse							     2 000</a:t>
            </a:r>
          </a:p>
          <a:p>
            <a:pPr marL="107950" indent="0">
              <a:lnSpc>
                <a:spcPct val="80000"/>
              </a:lnSpc>
              <a:buNone/>
            </a:pPr>
            <a:r>
              <a:rPr lang="fr-CA" altLang="en-US" sz="2400" i="1" dirty="0"/>
              <a:t>(bailleur les ajoutera à l’actif)</a:t>
            </a:r>
          </a:p>
          <a:p>
            <a:pPr marL="107950" indent="0">
              <a:lnSpc>
                <a:spcPct val="80000"/>
              </a:lnSpc>
              <a:buNone/>
            </a:pPr>
            <a:endParaRPr lang="fr-CA" altLang="en-US" sz="2400" i="1" dirty="0"/>
          </a:p>
          <a:p>
            <a:pPr marL="107950" indent="0">
              <a:lnSpc>
                <a:spcPct val="80000"/>
              </a:lnSpc>
              <a:buNone/>
            </a:pPr>
            <a:endParaRPr lang="fr-CA" altLang="en-US" sz="2000" dirty="0"/>
          </a:p>
          <a:p>
            <a:pPr marL="107950" indent="0">
              <a:lnSpc>
                <a:spcPct val="80000"/>
              </a:lnSpc>
              <a:buNone/>
            </a:pPr>
            <a:endParaRPr lang="fr-CA" altLang="en-US" sz="2000" dirty="0"/>
          </a:p>
          <a:p>
            <a:pPr marL="107950" indent="0">
              <a:lnSpc>
                <a:spcPct val="80000"/>
              </a:lnSpc>
              <a:buNone/>
            </a:pPr>
            <a:endParaRPr lang="fr-CA" altLang="en-US" sz="2700" i="1" dirty="0"/>
          </a:p>
          <a:p>
            <a:pPr marL="107950" indent="0">
              <a:lnSpc>
                <a:spcPct val="80000"/>
              </a:lnSpc>
              <a:buNone/>
            </a:pPr>
            <a:endParaRPr lang="fr-CA" altLang="en-US" sz="2700" i="1" dirty="0"/>
          </a:p>
          <a:p>
            <a:pPr marL="107950" indent="0">
              <a:lnSpc>
                <a:spcPct val="80000"/>
              </a:lnSpc>
              <a:buNone/>
            </a:pPr>
            <a:endParaRPr lang="en-US" altLang="en-US" sz="2700" dirty="0"/>
          </a:p>
        </p:txBody>
      </p:sp>
      <p:sp>
        <p:nvSpPr>
          <p:cNvPr id="52226" name="Rectangle 2"/>
          <p:cNvSpPr>
            <a:spLocks noGrp="1" noChangeArrowheads="1"/>
          </p:cNvSpPr>
          <p:nvPr>
            <p:ph type="title"/>
          </p:nvPr>
        </p:nvSpPr>
        <p:spPr/>
        <p:txBody>
          <a:bodyPr/>
          <a:lstStyle/>
          <a:p>
            <a:r>
              <a:rPr lang="fr-CA" altLang="fr-FR" sz="3400" dirty="0"/>
              <a:t>Bailleur : location-financement </a:t>
            </a:r>
            <a:br>
              <a:rPr lang="fr-CA" altLang="fr-FR" sz="3400" i="1" dirty="0"/>
            </a:br>
            <a:r>
              <a:rPr lang="fr-CA" altLang="fr-FR" sz="3400" dirty="0"/>
              <a:t>Écritures – valeur résiduelle non garantie</a:t>
            </a:r>
            <a:endParaRPr lang="en-US" altLang="fr-FR" sz="3400" dirty="0"/>
          </a:p>
        </p:txBody>
      </p:sp>
      <p:sp>
        <p:nvSpPr>
          <p:cNvPr id="2" name="Slide Number Placeholder 1"/>
          <p:cNvSpPr>
            <a:spLocks noGrp="1"/>
          </p:cNvSpPr>
          <p:nvPr>
            <p:ph type="sldNum" sz="quarter" idx="12"/>
          </p:nvPr>
        </p:nvSpPr>
        <p:spPr/>
        <p:txBody>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fld id="{B1856F6B-86C7-4565-8D4C-C5CB358ED2AC}" type="slidenum">
              <a:rPr lang="fr-FR" altLang="fr-FR">
                <a:solidFill>
                  <a:srgbClr val="898989"/>
                </a:solidFill>
              </a:rPr>
              <a:pPr/>
              <a:t>118</a:t>
            </a:fld>
            <a:endParaRPr lang="fr-FR" altLang="fr-FR">
              <a:solidFill>
                <a:srgbClr val="898989"/>
              </a:solidFill>
            </a:endParaRPr>
          </a:p>
        </p:txBody>
      </p:sp>
      <p:sp>
        <p:nvSpPr>
          <p:cNvPr id="3" name="Espace réservé du pied de page 2">
            <a:extLst>
              <a:ext uri="{FF2B5EF4-FFF2-40B4-BE49-F238E27FC236}">
                <a16:creationId xmlns:a16="http://schemas.microsoft.com/office/drawing/2014/main" id="{562063F1-601B-4046-BCA2-EA31976FF694}"/>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322253251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4578" name="Rectangle 3"/>
          <p:cNvSpPr>
            <a:spLocks noGrp="1" noChangeArrowheads="1"/>
          </p:cNvSpPr>
          <p:nvPr>
            <p:ph idx="1"/>
          </p:nvPr>
        </p:nvSpPr>
        <p:spPr>
          <a:xfrm>
            <a:off x="838200" y="1260087"/>
            <a:ext cx="10515600" cy="5232787"/>
          </a:xfrm>
        </p:spPr>
        <p:txBody>
          <a:bodyPr>
            <a:normAutofit fontScale="85000" lnSpcReduction="20000"/>
          </a:bodyPr>
          <a:lstStyle/>
          <a:p>
            <a:pPr marL="107950" indent="0">
              <a:lnSpc>
                <a:spcPct val="80000"/>
              </a:lnSpc>
              <a:buNone/>
            </a:pPr>
            <a:r>
              <a:rPr lang="fr-CA" altLang="en-US" sz="2600" dirty="0"/>
              <a:t>1</a:t>
            </a:r>
            <a:r>
              <a:rPr lang="fr-CA" altLang="en-US" sz="2600" baseline="30000" dirty="0"/>
              <a:t>er</a:t>
            </a:r>
            <a:r>
              <a:rPr lang="fr-CA" altLang="en-US" sz="2600" dirty="0"/>
              <a:t> janvier :</a:t>
            </a:r>
          </a:p>
          <a:p>
            <a:pPr marL="107950" indent="0">
              <a:lnSpc>
                <a:spcPct val="80000"/>
              </a:lnSpc>
              <a:buNone/>
            </a:pPr>
            <a:endParaRPr lang="fr-CA" altLang="en-US" sz="200" dirty="0"/>
          </a:p>
          <a:p>
            <a:pPr marL="107950" indent="0">
              <a:lnSpc>
                <a:spcPct val="80000"/>
              </a:lnSpc>
              <a:buNone/>
            </a:pPr>
            <a:r>
              <a:rPr lang="fr-CA" altLang="en-US" sz="2600" dirty="0"/>
              <a:t>Investissement net dans un contrat de location financement </a:t>
            </a:r>
            <a:r>
              <a:rPr lang="fr-CA" altLang="en-US" sz="2600" baseline="30000" dirty="0"/>
              <a:t>1</a:t>
            </a:r>
            <a:r>
              <a:rPr lang="fr-CA" altLang="en-US" sz="2600" dirty="0"/>
              <a:t>   	 </a:t>
            </a:r>
            <a:r>
              <a:rPr lang="fr-CA" altLang="en-US" sz="2600" dirty="0">
                <a:solidFill>
                  <a:schemeClr val="accent6">
                    <a:lumMod val="75000"/>
                  </a:schemeClr>
                </a:solidFill>
              </a:rPr>
              <a:t>179 864</a:t>
            </a:r>
            <a:endParaRPr lang="fr-CA" altLang="en-US" sz="1900" dirty="0">
              <a:solidFill>
                <a:schemeClr val="accent6">
                  <a:lumMod val="75000"/>
                </a:schemeClr>
              </a:solidFill>
            </a:endParaRPr>
          </a:p>
          <a:p>
            <a:pPr marL="107950" indent="0">
              <a:lnSpc>
                <a:spcPct val="80000"/>
              </a:lnSpc>
              <a:buNone/>
            </a:pPr>
            <a:r>
              <a:rPr lang="fr-CA" altLang="en-US" sz="2600" b="1" dirty="0">
                <a:solidFill>
                  <a:srgbClr val="0070C0"/>
                </a:solidFill>
              </a:rPr>
              <a:t>Valeur résiduelle non garantie					</a:t>
            </a:r>
            <a:r>
              <a:rPr lang="fr-CA" altLang="en-US" sz="2600" b="1" dirty="0">
                <a:solidFill>
                  <a:schemeClr val="accent6">
                    <a:lumMod val="75000"/>
                  </a:schemeClr>
                </a:solidFill>
              </a:rPr>
              <a:t>  40 000 </a:t>
            </a:r>
            <a:r>
              <a:rPr lang="fr-CA" altLang="en-US" sz="1900" i="1" dirty="0">
                <a:solidFill>
                  <a:schemeClr val="accent6">
                    <a:lumMod val="75000"/>
                  </a:schemeClr>
                </a:solidFill>
              </a:rPr>
              <a:t>(ou regrouper)</a:t>
            </a:r>
            <a:endParaRPr lang="fr-CA" altLang="en-US" sz="2600" i="1" dirty="0">
              <a:solidFill>
                <a:schemeClr val="accent6">
                  <a:lumMod val="75000"/>
                </a:schemeClr>
              </a:solidFill>
            </a:endParaRPr>
          </a:p>
          <a:p>
            <a:pPr marL="107950" indent="0">
              <a:lnSpc>
                <a:spcPct val="80000"/>
              </a:lnSpc>
              <a:buNone/>
            </a:pPr>
            <a:r>
              <a:rPr lang="fr-CA" altLang="en-US" sz="2600" dirty="0"/>
              <a:t>@ Équipement destiné à la location					217 864</a:t>
            </a:r>
          </a:p>
          <a:p>
            <a:pPr marL="107950" indent="0">
              <a:lnSpc>
                <a:spcPct val="80000"/>
              </a:lnSpc>
              <a:buNone/>
            </a:pPr>
            <a:r>
              <a:rPr lang="fr-CA" altLang="en-US" sz="2600" dirty="0"/>
              <a:t>     Coûts directs initiaux différés					     2 000</a:t>
            </a:r>
            <a:endParaRPr lang="fr-CA" altLang="en-US" sz="1100" dirty="0"/>
          </a:p>
          <a:p>
            <a:pPr marL="107950" indent="0">
              <a:lnSpc>
                <a:spcPct val="80000"/>
              </a:lnSpc>
              <a:buNone/>
            </a:pPr>
            <a:endParaRPr lang="fr-CA" altLang="en-US" sz="500" i="1" dirty="0"/>
          </a:p>
          <a:p>
            <a:pPr marL="107950" indent="0">
              <a:lnSpc>
                <a:spcPct val="80000"/>
              </a:lnSpc>
              <a:buNone/>
            </a:pPr>
            <a:r>
              <a:rPr lang="fr-CA" altLang="en-US" sz="2000" b="1" i="1" dirty="0">
                <a:solidFill>
                  <a:srgbClr val="FF0000"/>
                </a:solidFill>
              </a:rPr>
              <a:t>OU   ----------------------------------------------------------------</a:t>
            </a:r>
            <a:endParaRPr lang="fr-CA" altLang="en-US" sz="2000" i="1" dirty="0"/>
          </a:p>
          <a:p>
            <a:pPr marL="107950" indent="0">
              <a:lnSpc>
                <a:spcPct val="80000"/>
              </a:lnSpc>
              <a:buNone/>
            </a:pPr>
            <a:endParaRPr lang="fr-CA" altLang="en-US" sz="500" i="1" dirty="0"/>
          </a:p>
          <a:p>
            <a:pPr marL="107950" indent="0">
              <a:lnSpc>
                <a:spcPct val="80000"/>
              </a:lnSpc>
              <a:buNone/>
            </a:pPr>
            <a:r>
              <a:rPr lang="fr-CA" altLang="en-US" sz="2600" dirty="0"/>
              <a:t>Loyers à recevoir (brutes)  </a:t>
            </a:r>
            <a:r>
              <a:rPr lang="fr-CA" altLang="en-US" sz="2600" i="1" dirty="0"/>
              <a:t>(ou Créances locatives)  </a:t>
            </a:r>
            <a:r>
              <a:rPr lang="fr-CA" altLang="en-US" sz="2600" dirty="0"/>
              <a:t> </a:t>
            </a:r>
            <a:r>
              <a:rPr lang="fr-CA" altLang="en-US" sz="2600" baseline="30000" dirty="0"/>
              <a:t>2		</a:t>
            </a:r>
            <a:r>
              <a:rPr lang="fr-CA" altLang="en-US" sz="2600" dirty="0"/>
              <a:t>240 000</a:t>
            </a:r>
          </a:p>
          <a:p>
            <a:pPr marL="107950" indent="0">
              <a:lnSpc>
                <a:spcPct val="80000"/>
              </a:lnSpc>
              <a:buNone/>
            </a:pPr>
            <a:r>
              <a:rPr lang="fr-CA" altLang="en-US" sz="2600" b="1" dirty="0">
                <a:solidFill>
                  <a:srgbClr val="0070C0"/>
                </a:solidFill>
              </a:rPr>
              <a:t>Valeur résiduelle non garantie					   40 000</a:t>
            </a:r>
            <a:endParaRPr lang="fr-CA" altLang="en-US" sz="2600" dirty="0"/>
          </a:p>
          <a:p>
            <a:pPr marL="107950" indent="0">
              <a:lnSpc>
                <a:spcPct val="80000"/>
              </a:lnSpc>
              <a:buNone/>
            </a:pPr>
            <a:r>
              <a:rPr lang="fr-CA" altLang="en-US" sz="2600" dirty="0"/>
              <a:t>@ Équipement destiné à la location					217 864</a:t>
            </a:r>
          </a:p>
          <a:p>
            <a:pPr marL="107950" indent="0">
              <a:lnSpc>
                <a:spcPct val="80000"/>
              </a:lnSpc>
              <a:buNone/>
            </a:pPr>
            <a:r>
              <a:rPr lang="fr-CA" altLang="en-US" sz="2600" dirty="0"/>
              <a:t>     Coûts directs initiaux différés					     2 000</a:t>
            </a:r>
          </a:p>
          <a:p>
            <a:pPr marL="107950" indent="0">
              <a:lnSpc>
                <a:spcPct val="80000"/>
              </a:lnSpc>
              <a:buNone/>
            </a:pPr>
            <a:r>
              <a:rPr lang="fr-CA" altLang="en-US" sz="2600" dirty="0"/>
              <a:t>     </a:t>
            </a:r>
            <a:r>
              <a:rPr lang="fr-CA" altLang="en-US" sz="2600" b="1" dirty="0"/>
              <a:t>Produits financiers non acquis</a:t>
            </a:r>
            <a:r>
              <a:rPr lang="fr-CA" altLang="en-US" sz="2600" baseline="30000" dirty="0"/>
              <a:t> </a:t>
            </a:r>
            <a:r>
              <a:rPr lang="fr-CA" altLang="en-US" sz="1900" baseline="30000" dirty="0"/>
              <a:t>3</a:t>
            </a:r>
            <a:r>
              <a:rPr lang="fr-CA" altLang="en-US" sz="1900" dirty="0"/>
              <a:t> (intérêts non gagnés)			    </a:t>
            </a:r>
            <a:r>
              <a:rPr lang="fr-CA" altLang="en-US" sz="2600" dirty="0"/>
              <a:t>60 136</a:t>
            </a:r>
            <a:endParaRPr lang="fr-CA" altLang="en-US" sz="2100" dirty="0"/>
          </a:p>
          <a:p>
            <a:pPr marL="107950" indent="0">
              <a:lnSpc>
                <a:spcPct val="80000"/>
              </a:lnSpc>
              <a:buNone/>
            </a:pPr>
            <a:endParaRPr lang="fr-CA" altLang="en-US" sz="700" dirty="0"/>
          </a:p>
          <a:p>
            <a:pPr marL="107950" indent="0">
              <a:lnSpc>
                <a:spcPct val="80000"/>
              </a:lnSpc>
              <a:buNone/>
            </a:pPr>
            <a:r>
              <a:rPr lang="fr-CA" altLang="en-US" sz="2000" baseline="30000" dirty="0"/>
              <a:t>1 </a:t>
            </a:r>
            <a:r>
              <a:rPr lang="fr-CA" altLang="en-US" sz="2000" dirty="0" err="1"/>
              <a:t>invest</a:t>
            </a:r>
            <a:r>
              <a:rPr lang="fr-CA" altLang="en-US" sz="2000" dirty="0"/>
              <a:t>. brut – produits fin. non gagnés</a:t>
            </a:r>
            <a:endParaRPr lang="fr-CA" altLang="en-US" sz="2000" baseline="30000" dirty="0"/>
          </a:p>
          <a:p>
            <a:pPr marL="107950" indent="0">
              <a:lnSpc>
                <a:spcPct val="80000"/>
              </a:lnSpc>
              <a:buNone/>
            </a:pPr>
            <a:r>
              <a:rPr lang="fr-CA" altLang="en-US" sz="2000" baseline="30000" dirty="0"/>
              <a:t>2  </a:t>
            </a:r>
            <a:r>
              <a:rPr lang="fr-CA" altLang="en-US" sz="2000" dirty="0"/>
              <a:t>sommation PME – frais accessoires </a:t>
            </a:r>
            <a:r>
              <a:rPr lang="fr-CA" altLang="en-US" sz="2000" b="1" dirty="0">
                <a:solidFill>
                  <a:srgbClr val="0070C0"/>
                </a:solidFill>
              </a:rPr>
              <a:t>+ valeur résiduelle non garantie</a:t>
            </a:r>
          </a:p>
          <a:p>
            <a:pPr marL="107950" indent="0">
              <a:lnSpc>
                <a:spcPct val="80000"/>
              </a:lnSpc>
              <a:buNone/>
            </a:pPr>
            <a:r>
              <a:rPr lang="fr-CA" altLang="en-US" sz="2000" baseline="30000" dirty="0"/>
              <a:t> 3  </a:t>
            </a:r>
            <a:r>
              <a:rPr lang="fr-CA" altLang="en-US" sz="2000" dirty="0" err="1"/>
              <a:t>invest</a:t>
            </a:r>
            <a:r>
              <a:rPr lang="fr-CA" altLang="en-US" sz="2000" dirty="0"/>
              <a:t>. brut – valeur comptable du bien</a:t>
            </a:r>
          </a:p>
          <a:p>
            <a:pPr marL="107950" indent="0">
              <a:lnSpc>
                <a:spcPct val="80000"/>
              </a:lnSpc>
              <a:buNone/>
            </a:pPr>
            <a:endParaRPr lang="fr-CA" altLang="en-US" sz="2000" dirty="0"/>
          </a:p>
          <a:p>
            <a:pPr marL="107950" indent="0">
              <a:lnSpc>
                <a:spcPct val="80000"/>
              </a:lnSpc>
              <a:buNone/>
            </a:pPr>
            <a:endParaRPr lang="fr-CA" altLang="en-US" sz="2700" i="1" dirty="0"/>
          </a:p>
          <a:p>
            <a:pPr marL="107950" indent="0">
              <a:lnSpc>
                <a:spcPct val="80000"/>
              </a:lnSpc>
              <a:buNone/>
            </a:pPr>
            <a:endParaRPr lang="fr-CA" altLang="en-US" sz="2700" i="1" dirty="0"/>
          </a:p>
          <a:p>
            <a:pPr marL="107950" indent="0">
              <a:lnSpc>
                <a:spcPct val="80000"/>
              </a:lnSpc>
              <a:buNone/>
            </a:pPr>
            <a:endParaRPr lang="en-US" altLang="en-US" sz="2700" dirty="0"/>
          </a:p>
        </p:txBody>
      </p:sp>
      <p:sp>
        <p:nvSpPr>
          <p:cNvPr id="52226" name="Rectangle 2"/>
          <p:cNvSpPr>
            <a:spLocks noGrp="1" noChangeArrowheads="1"/>
          </p:cNvSpPr>
          <p:nvPr>
            <p:ph type="title"/>
          </p:nvPr>
        </p:nvSpPr>
        <p:spPr>
          <a:xfrm>
            <a:off x="838200" y="365125"/>
            <a:ext cx="10515600" cy="749997"/>
          </a:xfrm>
        </p:spPr>
        <p:txBody>
          <a:bodyPr>
            <a:normAutofit fontScale="90000"/>
          </a:bodyPr>
          <a:lstStyle/>
          <a:p>
            <a:r>
              <a:rPr lang="fr-CA" altLang="fr-FR" sz="3400" dirty="0"/>
              <a:t>Bailleur : location-financement </a:t>
            </a:r>
            <a:br>
              <a:rPr lang="fr-CA" altLang="fr-FR" sz="3400" i="1" dirty="0"/>
            </a:br>
            <a:r>
              <a:rPr lang="fr-CA" altLang="fr-FR" sz="3400" dirty="0"/>
              <a:t>Écritures</a:t>
            </a:r>
            <a:endParaRPr lang="en-US" altLang="fr-FR" sz="3400" dirty="0"/>
          </a:p>
        </p:txBody>
      </p:sp>
      <p:sp>
        <p:nvSpPr>
          <p:cNvPr id="2" name="Slide Number Placeholder 1"/>
          <p:cNvSpPr>
            <a:spLocks noGrp="1"/>
          </p:cNvSpPr>
          <p:nvPr>
            <p:ph type="sldNum" sz="quarter" idx="12"/>
          </p:nvPr>
        </p:nvSpPr>
        <p:spPr/>
        <p:txBody>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fld id="{B1856F6B-86C7-4565-8D4C-C5CB358ED2AC}" type="slidenum">
              <a:rPr lang="fr-FR" altLang="fr-FR">
                <a:solidFill>
                  <a:srgbClr val="898989"/>
                </a:solidFill>
              </a:rPr>
              <a:pPr/>
              <a:t>119</a:t>
            </a:fld>
            <a:endParaRPr lang="fr-FR" altLang="fr-FR">
              <a:solidFill>
                <a:srgbClr val="898989"/>
              </a:solidFill>
            </a:endParaRPr>
          </a:p>
        </p:txBody>
      </p:sp>
      <p:sp>
        <p:nvSpPr>
          <p:cNvPr id="3" name="Espace réservé du pied de page 2">
            <a:extLst>
              <a:ext uri="{FF2B5EF4-FFF2-40B4-BE49-F238E27FC236}">
                <a16:creationId xmlns:a16="http://schemas.microsoft.com/office/drawing/2014/main" id="{ECBEF452-A33B-45F1-AEF3-17BDA9332DB2}"/>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345635348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3249" name="Rectangle 3"/>
          <p:cNvSpPr>
            <a:spLocks noGrp="1" noChangeArrowheads="1"/>
          </p:cNvSpPr>
          <p:nvPr>
            <p:ph idx="1"/>
          </p:nvPr>
        </p:nvSpPr>
        <p:spPr>
          <a:xfrm>
            <a:off x="838199" y="1561170"/>
            <a:ext cx="10515599" cy="4445929"/>
          </a:xfrm>
        </p:spPr>
        <p:txBody>
          <a:bodyPr>
            <a:normAutofit/>
          </a:bodyPr>
          <a:lstStyle/>
          <a:p>
            <a:pPr marL="107950" indent="0">
              <a:buNone/>
            </a:pPr>
            <a:r>
              <a:rPr lang="fr-CA" altLang="en-US" sz="2400" dirty="0"/>
              <a:t>1</a:t>
            </a:r>
            <a:r>
              <a:rPr lang="fr-CA" altLang="en-US" sz="2400" baseline="30000" dirty="0"/>
              <a:t>er</a:t>
            </a:r>
            <a:r>
              <a:rPr lang="fr-CA" altLang="en-US" sz="2400" dirty="0"/>
              <a:t> janvier:</a:t>
            </a:r>
            <a:endParaRPr lang="fr-CA" altLang="en-US" dirty="0"/>
          </a:p>
          <a:p>
            <a:pPr marL="107950" indent="0">
              <a:buNone/>
            </a:pPr>
            <a:endParaRPr lang="fr-CA" altLang="en-US" sz="1300" dirty="0"/>
          </a:p>
          <a:p>
            <a:pPr marL="107950" indent="0">
              <a:lnSpc>
                <a:spcPct val="80000"/>
              </a:lnSpc>
              <a:buNone/>
            </a:pPr>
            <a:r>
              <a:rPr lang="fr-CA" altLang="en-US" sz="2400" dirty="0"/>
              <a:t>Caisse  							62 000</a:t>
            </a:r>
            <a:endParaRPr lang="fr-CA" altLang="en-US" sz="1800" dirty="0"/>
          </a:p>
          <a:p>
            <a:pPr marL="107950" indent="0">
              <a:lnSpc>
                <a:spcPct val="80000"/>
              </a:lnSpc>
              <a:buNone/>
            </a:pPr>
            <a:r>
              <a:rPr lang="fr-CA" altLang="en-US" sz="2400" dirty="0"/>
              <a:t>@ Investissement net dans un contrat de location financement	60 000</a:t>
            </a:r>
          </a:p>
          <a:p>
            <a:pPr marL="107950" indent="0">
              <a:lnSpc>
                <a:spcPct val="80000"/>
              </a:lnSpc>
              <a:buNone/>
            </a:pPr>
            <a:r>
              <a:rPr lang="fr-CA" altLang="en-US" sz="2400" dirty="0"/>
              <a:t>      Frais d’entretien							  2 000</a:t>
            </a:r>
          </a:p>
          <a:p>
            <a:pPr marL="107950" indent="0">
              <a:lnSpc>
                <a:spcPct val="80000"/>
              </a:lnSpc>
              <a:buNone/>
            </a:pPr>
            <a:endParaRPr lang="fr-CA" altLang="en-US" sz="600" i="1" dirty="0"/>
          </a:p>
          <a:p>
            <a:pPr marL="107950" indent="0">
              <a:lnSpc>
                <a:spcPct val="80000"/>
              </a:lnSpc>
              <a:buNone/>
            </a:pPr>
            <a:r>
              <a:rPr lang="fr-CA" altLang="en-US" sz="2000" b="1" i="1" dirty="0">
                <a:solidFill>
                  <a:srgbClr val="FF0000"/>
                </a:solidFill>
              </a:rPr>
              <a:t>OU   ----------------------------------------------------------------</a:t>
            </a:r>
            <a:endParaRPr lang="fr-CA" altLang="en-US" sz="2000" dirty="0"/>
          </a:p>
          <a:p>
            <a:pPr marL="107950" indent="0">
              <a:buNone/>
            </a:pPr>
            <a:endParaRPr lang="fr-CA" altLang="en-US" sz="1300" dirty="0"/>
          </a:p>
          <a:p>
            <a:pPr marL="107950" indent="0">
              <a:buNone/>
            </a:pPr>
            <a:r>
              <a:rPr lang="fr-CA" altLang="en-US" sz="2400" dirty="0"/>
              <a:t>Caisse								62 000</a:t>
            </a:r>
          </a:p>
          <a:p>
            <a:pPr marL="107950" indent="0">
              <a:buNone/>
            </a:pPr>
            <a:r>
              <a:rPr lang="fr-CA" altLang="en-US" sz="2400" dirty="0"/>
              <a:t>@ Loyers à recevoir  							60 000</a:t>
            </a:r>
          </a:p>
          <a:p>
            <a:pPr marL="107950" indent="0">
              <a:buNone/>
            </a:pPr>
            <a:r>
              <a:rPr lang="fr-CA" altLang="en-US" sz="2400" dirty="0"/>
              <a:t>      Frais d’entretien							  2 000</a:t>
            </a:r>
            <a:endParaRPr lang="fr-CA" altLang="en-US" i="1" dirty="0"/>
          </a:p>
          <a:p>
            <a:pPr marL="107950" indent="0">
              <a:buNone/>
            </a:pPr>
            <a:endParaRPr lang="fr-CA" altLang="en-US" dirty="0"/>
          </a:p>
          <a:p>
            <a:pPr marL="107950" indent="0">
              <a:buNone/>
            </a:pPr>
            <a:endParaRPr lang="fr-CA" altLang="en-US" i="1" dirty="0"/>
          </a:p>
          <a:p>
            <a:pPr marL="107950" indent="0">
              <a:buNone/>
            </a:pPr>
            <a:endParaRPr lang="fr-CA" altLang="en-US" i="1" dirty="0"/>
          </a:p>
          <a:p>
            <a:pPr marL="107950" indent="0">
              <a:buNone/>
            </a:pPr>
            <a:endParaRPr lang="fr-CA" altLang="en-US" i="1" dirty="0"/>
          </a:p>
          <a:p>
            <a:pPr marL="107950" indent="0">
              <a:buNone/>
            </a:pPr>
            <a:endParaRPr lang="en-US" altLang="en-US" dirty="0"/>
          </a:p>
        </p:txBody>
      </p:sp>
      <p:sp>
        <p:nvSpPr>
          <p:cNvPr id="53250" name="Rectangle 2"/>
          <p:cNvSpPr>
            <a:spLocks noGrp="1" noChangeArrowheads="1"/>
          </p:cNvSpPr>
          <p:nvPr>
            <p:ph type="title"/>
          </p:nvPr>
        </p:nvSpPr>
        <p:spPr/>
        <p:txBody>
          <a:bodyPr/>
          <a:lstStyle/>
          <a:p>
            <a:r>
              <a:rPr lang="fr-CA" altLang="fr-FR" sz="3400"/>
              <a:t>Bailleur : location-financement </a:t>
            </a:r>
            <a:br>
              <a:rPr lang="fr-CA" altLang="fr-FR" sz="3400" i="1"/>
            </a:br>
            <a:r>
              <a:rPr lang="fr-CA" altLang="fr-FR" sz="3400"/>
              <a:t>Écritures</a:t>
            </a:r>
            <a:endParaRPr lang="en-US" altLang="fr-FR" sz="3400"/>
          </a:p>
        </p:txBody>
      </p:sp>
      <p:sp>
        <p:nvSpPr>
          <p:cNvPr id="2" name="Slide Number Placeholder 1"/>
          <p:cNvSpPr>
            <a:spLocks noGrp="1"/>
          </p:cNvSpPr>
          <p:nvPr>
            <p:ph type="sldNum" sz="quarter" idx="12"/>
          </p:nvPr>
        </p:nvSpPr>
        <p:spPr/>
        <p:txBody>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fld id="{7156BAC3-BD32-4CA5-B652-24E431B18DE1}" type="slidenum">
              <a:rPr lang="fr-FR" altLang="fr-FR">
                <a:solidFill>
                  <a:srgbClr val="898989"/>
                </a:solidFill>
              </a:rPr>
              <a:pPr/>
              <a:t>120</a:t>
            </a:fld>
            <a:endParaRPr lang="fr-FR" altLang="fr-FR">
              <a:solidFill>
                <a:srgbClr val="898989"/>
              </a:solidFill>
            </a:endParaRPr>
          </a:p>
        </p:txBody>
      </p:sp>
      <p:sp>
        <p:nvSpPr>
          <p:cNvPr id="3" name="Espace réservé du pied de page 2">
            <a:extLst>
              <a:ext uri="{FF2B5EF4-FFF2-40B4-BE49-F238E27FC236}">
                <a16:creationId xmlns:a16="http://schemas.microsoft.com/office/drawing/2014/main" id="{D192D50A-F15B-4D1B-8303-D974FD714BD9}"/>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605747383"/>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4578" name="Rectangle 3"/>
          <p:cNvSpPr>
            <a:spLocks noGrp="1" noChangeArrowheads="1"/>
          </p:cNvSpPr>
          <p:nvPr>
            <p:ph idx="1"/>
          </p:nvPr>
        </p:nvSpPr>
        <p:spPr>
          <a:xfrm>
            <a:off x="838199" y="1428750"/>
            <a:ext cx="10515599" cy="4578350"/>
          </a:xfrm>
        </p:spPr>
        <p:txBody>
          <a:bodyPr>
            <a:normAutofit/>
          </a:bodyPr>
          <a:lstStyle/>
          <a:p>
            <a:pPr marL="107950" indent="0">
              <a:buNone/>
            </a:pPr>
            <a:r>
              <a:rPr lang="fr-CA" altLang="en-US" sz="2400" dirty="0"/>
              <a:t>31 décembre :</a:t>
            </a:r>
          </a:p>
          <a:p>
            <a:pPr marL="107950" indent="0">
              <a:buNone/>
            </a:pPr>
            <a:endParaRPr lang="fr-CA" altLang="en-US" sz="300" dirty="0"/>
          </a:p>
          <a:p>
            <a:pPr marL="107950" indent="0">
              <a:buNone/>
            </a:pPr>
            <a:r>
              <a:rPr lang="fr-CA" altLang="en-US" sz="2400" dirty="0"/>
              <a:t>Investissement net dans un contrat de location financement     23 980</a:t>
            </a:r>
          </a:p>
          <a:p>
            <a:pPr marL="107950" indent="0">
              <a:buNone/>
            </a:pPr>
            <a:r>
              <a:rPr lang="fr-CA" altLang="en-US" sz="2400" dirty="0"/>
              <a:t>@ Produits financiers – intérêts sur contrat de location			23 980</a:t>
            </a:r>
            <a:endParaRPr lang="fr-CA" altLang="en-US" sz="2000" dirty="0"/>
          </a:p>
          <a:p>
            <a:pPr marL="107950" indent="0">
              <a:buNone/>
            </a:pPr>
            <a:endParaRPr lang="fr-CA" altLang="en-US" sz="2000" i="1" dirty="0"/>
          </a:p>
          <a:p>
            <a:pPr marL="107950" indent="0">
              <a:buNone/>
            </a:pPr>
            <a:r>
              <a:rPr lang="fr-CA" altLang="en-US" sz="2000" b="1" i="1" dirty="0">
                <a:solidFill>
                  <a:srgbClr val="FF0000"/>
                </a:solidFill>
              </a:rPr>
              <a:t>OU   -------------------------------------------------------------------------</a:t>
            </a:r>
          </a:p>
          <a:p>
            <a:pPr marL="107950" indent="0">
              <a:buNone/>
            </a:pPr>
            <a:endParaRPr lang="fr-CA" altLang="en-US" sz="2000" i="1" dirty="0"/>
          </a:p>
          <a:p>
            <a:pPr marL="107950" indent="0">
              <a:buNone/>
            </a:pPr>
            <a:r>
              <a:rPr lang="fr-CA" altLang="en-US" sz="2400" dirty="0"/>
              <a:t>Produits financiers non acquis					23 980</a:t>
            </a:r>
          </a:p>
          <a:p>
            <a:pPr marL="107950" indent="0">
              <a:buNone/>
            </a:pPr>
            <a:r>
              <a:rPr lang="fr-CA" altLang="en-US" sz="2400" dirty="0"/>
              <a:t>@ Produits financiers – intérêts sur contrat de location			23 980</a:t>
            </a:r>
            <a:endParaRPr lang="fr-CA" altLang="en-US" sz="2700" dirty="0"/>
          </a:p>
          <a:p>
            <a:pPr marL="107950" indent="0">
              <a:buNone/>
            </a:pPr>
            <a:endParaRPr lang="fr-CA" altLang="en-US" sz="2700" i="1" dirty="0"/>
          </a:p>
          <a:p>
            <a:pPr marL="107950" indent="0">
              <a:buNone/>
            </a:pPr>
            <a:endParaRPr lang="fr-CA" altLang="en-US" sz="2700" i="1" dirty="0"/>
          </a:p>
          <a:p>
            <a:pPr marL="107950" indent="0">
              <a:buNone/>
            </a:pPr>
            <a:endParaRPr lang="en-US" altLang="en-US" sz="2700" dirty="0"/>
          </a:p>
        </p:txBody>
      </p:sp>
      <p:sp>
        <p:nvSpPr>
          <p:cNvPr id="54274" name="Rectangle 2"/>
          <p:cNvSpPr>
            <a:spLocks noGrp="1" noChangeArrowheads="1"/>
          </p:cNvSpPr>
          <p:nvPr>
            <p:ph type="title"/>
          </p:nvPr>
        </p:nvSpPr>
        <p:spPr>
          <a:xfrm>
            <a:off x="838200" y="365125"/>
            <a:ext cx="10515600" cy="861509"/>
          </a:xfrm>
        </p:spPr>
        <p:txBody>
          <a:bodyPr>
            <a:normAutofit fontScale="90000"/>
          </a:bodyPr>
          <a:lstStyle/>
          <a:p>
            <a:r>
              <a:rPr lang="fr-CA" altLang="fr-FR" sz="3400" dirty="0"/>
              <a:t>Bailleur : location-financement </a:t>
            </a:r>
            <a:br>
              <a:rPr lang="fr-CA" altLang="fr-FR" sz="3400" i="1" dirty="0"/>
            </a:br>
            <a:r>
              <a:rPr lang="fr-CA" altLang="fr-FR" sz="3400" dirty="0"/>
              <a:t>Écritures</a:t>
            </a:r>
            <a:endParaRPr lang="en-US" altLang="fr-FR" sz="3400" dirty="0"/>
          </a:p>
        </p:txBody>
      </p:sp>
      <p:sp>
        <p:nvSpPr>
          <p:cNvPr id="2" name="Slide Number Placeholder 1"/>
          <p:cNvSpPr>
            <a:spLocks noGrp="1"/>
          </p:cNvSpPr>
          <p:nvPr>
            <p:ph type="sldNum" sz="quarter" idx="12"/>
          </p:nvPr>
        </p:nvSpPr>
        <p:spPr/>
        <p:txBody>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fld id="{F6257FA2-7C62-4AD2-A774-6BA13F74F78D}" type="slidenum">
              <a:rPr lang="fr-FR" altLang="fr-FR">
                <a:solidFill>
                  <a:srgbClr val="898989"/>
                </a:solidFill>
              </a:rPr>
              <a:pPr/>
              <a:t>121</a:t>
            </a:fld>
            <a:endParaRPr lang="fr-FR" altLang="fr-FR">
              <a:solidFill>
                <a:srgbClr val="898989"/>
              </a:solidFill>
            </a:endParaRPr>
          </a:p>
        </p:txBody>
      </p:sp>
      <p:sp>
        <p:nvSpPr>
          <p:cNvPr id="3" name="Espace réservé du pied de page 2">
            <a:extLst>
              <a:ext uri="{FF2B5EF4-FFF2-40B4-BE49-F238E27FC236}">
                <a16:creationId xmlns:a16="http://schemas.microsoft.com/office/drawing/2014/main" id="{EA2AA2A6-1879-4F80-970B-73C880CB66ED}"/>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2679186652"/>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4578" name="Rectangle 3"/>
          <p:cNvSpPr>
            <a:spLocks noGrp="1" noChangeArrowheads="1"/>
          </p:cNvSpPr>
          <p:nvPr>
            <p:ph idx="1"/>
          </p:nvPr>
        </p:nvSpPr>
        <p:spPr>
          <a:xfrm>
            <a:off x="838199" y="1851102"/>
            <a:ext cx="10515599" cy="4155998"/>
          </a:xfrm>
        </p:spPr>
        <p:txBody>
          <a:bodyPr>
            <a:normAutofit/>
          </a:bodyPr>
          <a:lstStyle/>
          <a:p>
            <a:pPr marL="107950" indent="0">
              <a:buNone/>
            </a:pPr>
            <a:r>
              <a:rPr lang="fr-CA" altLang="en-US" sz="2700" dirty="0"/>
              <a:t>À l’échéance du contrat de location :</a:t>
            </a:r>
          </a:p>
          <a:p>
            <a:pPr marL="107950" indent="0">
              <a:buNone/>
            </a:pPr>
            <a:endParaRPr lang="fr-CA" altLang="en-US" sz="2700" dirty="0"/>
          </a:p>
          <a:p>
            <a:pPr marL="107950" indent="0">
              <a:buNone/>
            </a:pPr>
            <a:r>
              <a:rPr lang="fr-CA" altLang="en-US" sz="2400" b="1" dirty="0">
                <a:solidFill>
                  <a:srgbClr val="0070C0"/>
                </a:solidFill>
              </a:rPr>
              <a:t>Équipement							40 000</a:t>
            </a:r>
          </a:p>
          <a:p>
            <a:pPr marL="107950" indent="0">
              <a:buNone/>
            </a:pPr>
            <a:r>
              <a:rPr lang="fr-CA" altLang="en-US" sz="2400" b="1" dirty="0">
                <a:solidFill>
                  <a:srgbClr val="0070C0"/>
                </a:solidFill>
              </a:rPr>
              <a:t>@ Valeur résiduelle non garantie					40 000</a:t>
            </a:r>
            <a:endParaRPr lang="fr-CA" altLang="en-US" b="1" dirty="0">
              <a:solidFill>
                <a:srgbClr val="0070C0"/>
              </a:solidFill>
            </a:endParaRPr>
          </a:p>
          <a:p>
            <a:pPr marL="107950" indent="0">
              <a:buNone/>
            </a:pPr>
            <a:endParaRPr lang="fr-CA" altLang="en-US" sz="2700" i="1" dirty="0"/>
          </a:p>
          <a:p>
            <a:pPr marL="107950" indent="0">
              <a:buNone/>
            </a:pPr>
            <a:endParaRPr lang="fr-CA" altLang="en-US" sz="2700" i="1" dirty="0"/>
          </a:p>
          <a:p>
            <a:pPr marL="107950" indent="0">
              <a:buNone/>
            </a:pPr>
            <a:endParaRPr lang="en-US" altLang="en-US" sz="2700" dirty="0"/>
          </a:p>
        </p:txBody>
      </p:sp>
      <p:sp>
        <p:nvSpPr>
          <p:cNvPr id="54274" name="Rectangle 2"/>
          <p:cNvSpPr>
            <a:spLocks noGrp="1" noChangeArrowheads="1"/>
          </p:cNvSpPr>
          <p:nvPr>
            <p:ph type="title"/>
          </p:nvPr>
        </p:nvSpPr>
        <p:spPr>
          <a:xfrm>
            <a:off x="838200" y="365125"/>
            <a:ext cx="10515600" cy="1063625"/>
          </a:xfrm>
        </p:spPr>
        <p:txBody>
          <a:bodyPr/>
          <a:lstStyle/>
          <a:p>
            <a:r>
              <a:rPr lang="fr-CA" altLang="fr-FR" sz="3400"/>
              <a:t>Bailleur : location-financement </a:t>
            </a:r>
            <a:br>
              <a:rPr lang="fr-CA" altLang="fr-FR" sz="3400" i="1"/>
            </a:br>
            <a:r>
              <a:rPr lang="fr-CA" altLang="fr-FR" sz="3400"/>
              <a:t>Écritures</a:t>
            </a:r>
            <a:endParaRPr lang="en-US" altLang="fr-FR" sz="3400"/>
          </a:p>
        </p:txBody>
      </p:sp>
      <p:sp>
        <p:nvSpPr>
          <p:cNvPr id="2" name="Slide Number Placeholder 1"/>
          <p:cNvSpPr>
            <a:spLocks noGrp="1"/>
          </p:cNvSpPr>
          <p:nvPr>
            <p:ph type="sldNum" sz="quarter" idx="12"/>
          </p:nvPr>
        </p:nvSpPr>
        <p:spPr/>
        <p:txBody>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fld id="{F6257FA2-7C62-4AD2-A774-6BA13F74F78D}" type="slidenum">
              <a:rPr lang="fr-FR" altLang="fr-FR">
                <a:solidFill>
                  <a:srgbClr val="898989"/>
                </a:solidFill>
              </a:rPr>
              <a:pPr/>
              <a:t>122</a:t>
            </a:fld>
            <a:endParaRPr lang="fr-FR" altLang="fr-FR">
              <a:solidFill>
                <a:srgbClr val="898989"/>
              </a:solidFill>
            </a:endParaRPr>
          </a:p>
        </p:txBody>
      </p:sp>
      <p:sp>
        <p:nvSpPr>
          <p:cNvPr id="3" name="Espace réservé du pied de page 2">
            <a:extLst>
              <a:ext uri="{FF2B5EF4-FFF2-40B4-BE49-F238E27FC236}">
                <a16:creationId xmlns:a16="http://schemas.microsoft.com/office/drawing/2014/main" id="{FCF0911B-3D65-42E8-910E-CC0C8D595B12}"/>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245759948"/>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dirty="0"/>
              <a:t>Exercice</a:t>
            </a:r>
            <a:br>
              <a:rPr lang="fr-CA" dirty="0"/>
            </a:br>
            <a:r>
              <a:rPr lang="fr-CA" altLang="fr-FR" sz="3200" dirty="0"/>
              <a:t>Écritures – par un fabricant ou un distributeur</a:t>
            </a:r>
            <a:endParaRPr lang="fr-CA" sz="3200" dirty="0"/>
          </a:p>
        </p:txBody>
      </p:sp>
      <p:sp>
        <p:nvSpPr>
          <p:cNvPr id="3" name="Espace réservé du contenu 2"/>
          <p:cNvSpPr>
            <a:spLocks noGrp="1"/>
          </p:cNvSpPr>
          <p:nvPr>
            <p:ph idx="1"/>
          </p:nvPr>
        </p:nvSpPr>
        <p:spPr/>
        <p:txBody>
          <a:bodyPr>
            <a:normAutofit lnSpcReduction="10000"/>
          </a:bodyPr>
          <a:lstStyle/>
          <a:p>
            <a:pPr marL="0" indent="0">
              <a:buNone/>
            </a:pPr>
            <a:r>
              <a:rPr lang="fr-CA" sz="2400" dirty="0"/>
              <a:t>Valeur de l’équipement :			121 120 $</a:t>
            </a:r>
          </a:p>
          <a:p>
            <a:pPr marL="0" indent="0">
              <a:buNone/>
            </a:pPr>
            <a:r>
              <a:rPr lang="fr-CA" sz="2400" i="1" dirty="0"/>
              <a:t>Que le bailleur a en stock au coût de 80 000 $</a:t>
            </a:r>
          </a:p>
          <a:p>
            <a:pPr marL="0" indent="0">
              <a:buNone/>
            </a:pPr>
            <a:r>
              <a:rPr lang="fr-CA" sz="2400" dirty="0"/>
              <a:t>Frais initiaux liés au contrat payés par bailleur : 1 000 $</a:t>
            </a:r>
          </a:p>
          <a:p>
            <a:pPr marL="0" indent="0">
              <a:buNone/>
            </a:pPr>
            <a:r>
              <a:rPr lang="fr-CA" sz="2400" dirty="0"/>
              <a:t>Durée de la location : 				5 ans</a:t>
            </a:r>
          </a:p>
          <a:p>
            <a:pPr marL="0" indent="0">
              <a:buNone/>
            </a:pPr>
            <a:r>
              <a:rPr lang="fr-CA" sz="2400" dirty="0"/>
              <a:t>Durée de vie utile	: 			5 ans</a:t>
            </a:r>
          </a:p>
          <a:p>
            <a:pPr marL="0" indent="0">
              <a:buNone/>
            </a:pPr>
            <a:r>
              <a:rPr lang="fr-CA" sz="2400" dirty="0"/>
              <a:t>Paiements annuels location : 			30 800 $ début période</a:t>
            </a:r>
          </a:p>
          <a:p>
            <a:pPr marL="0" indent="0">
              <a:buNone/>
            </a:pPr>
            <a:r>
              <a:rPr lang="fr-CA" sz="2400" i="1" dirty="0"/>
              <a:t>Le bailleur sera responsable de l’entretien, valeur 800 $ annuellement</a:t>
            </a:r>
          </a:p>
          <a:p>
            <a:pPr marL="0" indent="0">
              <a:buNone/>
            </a:pPr>
            <a:r>
              <a:rPr lang="fr-CA" sz="2400" dirty="0"/>
              <a:t>Valeur résiduelle :				0 $</a:t>
            </a:r>
          </a:p>
          <a:p>
            <a:pPr marL="0" indent="0">
              <a:buNone/>
            </a:pPr>
            <a:endParaRPr lang="fr-CA" sz="2400" dirty="0"/>
          </a:p>
          <a:p>
            <a:pPr marL="0" indent="0">
              <a:buNone/>
            </a:pPr>
            <a:r>
              <a:rPr lang="fr-CA" sz="2400" dirty="0"/>
              <a:t>Taux?   </a:t>
            </a:r>
            <a:r>
              <a:rPr lang="fr-CA" sz="2400" dirty="0">
                <a:solidFill>
                  <a:srgbClr val="FF0000"/>
                </a:solidFill>
              </a:rPr>
              <a:t>12 %</a:t>
            </a:r>
            <a:endParaRPr lang="fr-CA" sz="2400" dirty="0"/>
          </a:p>
          <a:p>
            <a:pPr marL="0" indent="0">
              <a:buNone/>
            </a:pPr>
            <a:endParaRPr lang="fr-CA" dirty="0"/>
          </a:p>
        </p:txBody>
      </p:sp>
      <p:sp>
        <p:nvSpPr>
          <p:cNvPr id="4" name="Espace réservé du numéro de diapositive 3"/>
          <p:cNvSpPr>
            <a:spLocks noGrp="1"/>
          </p:cNvSpPr>
          <p:nvPr>
            <p:ph type="sldNum" sz="quarter" idx="12"/>
          </p:nvPr>
        </p:nvSpPr>
        <p:spPr/>
        <p:txBody>
          <a:bodyPr/>
          <a:lstStyle/>
          <a:p>
            <a:fld id="{5DC53271-AB06-4788-AC3D-33D4BA937B45}" type="slidenum">
              <a:rPr lang="fr-FR" altLang="fr-FR" smtClean="0"/>
              <a:pPr/>
              <a:t>123</a:t>
            </a:fld>
            <a:endParaRPr lang="fr-FR" altLang="fr-FR"/>
          </a:p>
        </p:txBody>
      </p:sp>
      <p:sp>
        <p:nvSpPr>
          <p:cNvPr id="5" name="Espace réservé du pied de page 4">
            <a:extLst>
              <a:ext uri="{FF2B5EF4-FFF2-40B4-BE49-F238E27FC236}">
                <a16:creationId xmlns:a16="http://schemas.microsoft.com/office/drawing/2014/main" id="{1B59F688-5F43-405D-90FE-55E7A6AFBFB9}"/>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1156204820"/>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83B69FA-12D7-4387-A4DA-F9B7FB92A1C7}"/>
              </a:ext>
            </a:extLst>
          </p:cNvPr>
          <p:cNvSpPr>
            <a:spLocks noGrp="1"/>
          </p:cNvSpPr>
          <p:nvPr>
            <p:ph type="title"/>
          </p:nvPr>
        </p:nvSpPr>
        <p:spPr>
          <a:xfrm>
            <a:off x="838200" y="365126"/>
            <a:ext cx="10515600" cy="315912"/>
          </a:xfrm>
        </p:spPr>
        <p:txBody>
          <a:bodyPr>
            <a:normAutofit fontScale="90000"/>
          </a:bodyPr>
          <a:lstStyle/>
          <a:p>
            <a:r>
              <a:rPr lang="fr-CA" dirty="0"/>
              <a:t>  </a:t>
            </a:r>
            <a:endParaRPr lang="fr-FR" dirty="0"/>
          </a:p>
        </p:txBody>
      </p:sp>
      <p:sp>
        <p:nvSpPr>
          <p:cNvPr id="3" name="Espace réservé du contenu 2">
            <a:extLst>
              <a:ext uri="{FF2B5EF4-FFF2-40B4-BE49-F238E27FC236}">
                <a16:creationId xmlns:a16="http://schemas.microsoft.com/office/drawing/2014/main" id="{3AEAE7D1-8FBE-4018-936B-4704008900DF}"/>
              </a:ext>
            </a:extLst>
          </p:cNvPr>
          <p:cNvSpPr>
            <a:spLocks noGrp="1"/>
          </p:cNvSpPr>
          <p:nvPr>
            <p:ph idx="1"/>
          </p:nvPr>
        </p:nvSpPr>
        <p:spPr/>
        <p:txBody>
          <a:bodyPr/>
          <a:lstStyle/>
          <a:p>
            <a:pPr marL="0" indent="0">
              <a:buNone/>
            </a:pPr>
            <a:r>
              <a:rPr lang="fr-CA" dirty="0"/>
              <a:t>    </a:t>
            </a:r>
            <a:endParaRPr lang="fr-FR" dirty="0"/>
          </a:p>
        </p:txBody>
      </p:sp>
      <p:sp>
        <p:nvSpPr>
          <p:cNvPr id="4" name="Espace réservé du pied de page 3">
            <a:extLst>
              <a:ext uri="{FF2B5EF4-FFF2-40B4-BE49-F238E27FC236}">
                <a16:creationId xmlns:a16="http://schemas.microsoft.com/office/drawing/2014/main" id="{10BE6524-2177-4601-B8F8-4076FEA39529}"/>
              </a:ext>
            </a:extLst>
          </p:cNvPr>
          <p:cNvSpPr>
            <a:spLocks noGrp="1"/>
          </p:cNvSpPr>
          <p:nvPr>
            <p:ph type="ftr" sz="quarter" idx="11"/>
          </p:nvPr>
        </p:nvSpPr>
        <p:spPr/>
        <p:txBody>
          <a:bodyPr/>
          <a:lstStyle/>
          <a:p>
            <a:r>
              <a:rPr lang="fr-FR"/>
              <a:t>Droits réservés - Louise Overbeek</a:t>
            </a:r>
          </a:p>
        </p:txBody>
      </p:sp>
      <p:sp>
        <p:nvSpPr>
          <p:cNvPr id="5" name="Espace réservé du numéro de diapositive 4">
            <a:extLst>
              <a:ext uri="{FF2B5EF4-FFF2-40B4-BE49-F238E27FC236}">
                <a16:creationId xmlns:a16="http://schemas.microsoft.com/office/drawing/2014/main" id="{7C6D3AE8-6A13-4EE2-8AFE-81D7656ED357}"/>
              </a:ext>
            </a:extLst>
          </p:cNvPr>
          <p:cNvSpPr>
            <a:spLocks noGrp="1"/>
          </p:cNvSpPr>
          <p:nvPr>
            <p:ph type="sldNum" sz="quarter" idx="12"/>
          </p:nvPr>
        </p:nvSpPr>
        <p:spPr/>
        <p:txBody>
          <a:bodyPr/>
          <a:lstStyle/>
          <a:p>
            <a:fld id="{AB611A3C-E82E-4A5C-8D2C-147066045627}" type="slidenum">
              <a:rPr lang="fr-FR" smtClean="0"/>
              <a:t>124</a:t>
            </a:fld>
            <a:endParaRPr lang="fr-FR"/>
          </a:p>
        </p:txBody>
      </p:sp>
      <p:pic>
        <p:nvPicPr>
          <p:cNvPr id="6" name="Image 5">
            <a:extLst>
              <a:ext uri="{FF2B5EF4-FFF2-40B4-BE49-F238E27FC236}">
                <a16:creationId xmlns:a16="http://schemas.microsoft.com/office/drawing/2014/main" id="{8794069C-48DD-4904-B25A-3574AD9B95C2}"/>
              </a:ext>
            </a:extLst>
          </p:cNvPr>
          <p:cNvPicPr>
            <a:picLocks noChangeAspect="1"/>
          </p:cNvPicPr>
          <p:nvPr/>
        </p:nvPicPr>
        <p:blipFill>
          <a:blip r:embed="rId2"/>
          <a:stretch>
            <a:fillRect/>
          </a:stretch>
        </p:blipFill>
        <p:spPr>
          <a:xfrm>
            <a:off x="961947" y="991374"/>
            <a:ext cx="6149660" cy="1205415"/>
          </a:xfrm>
          <a:prstGeom prst="rect">
            <a:avLst/>
          </a:prstGeom>
        </p:spPr>
      </p:pic>
      <p:pic>
        <p:nvPicPr>
          <p:cNvPr id="7" name="Image 6">
            <a:extLst>
              <a:ext uri="{FF2B5EF4-FFF2-40B4-BE49-F238E27FC236}">
                <a16:creationId xmlns:a16="http://schemas.microsoft.com/office/drawing/2014/main" id="{74273935-9C9E-469E-95D7-D37A796A5A0F}"/>
              </a:ext>
            </a:extLst>
          </p:cNvPr>
          <p:cNvPicPr>
            <a:picLocks noChangeAspect="1"/>
          </p:cNvPicPr>
          <p:nvPr/>
        </p:nvPicPr>
        <p:blipFill>
          <a:blip r:embed="rId3"/>
          <a:stretch>
            <a:fillRect/>
          </a:stretch>
        </p:blipFill>
        <p:spPr>
          <a:xfrm>
            <a:off x="976077" y="2376176"/>
            <a:ext cx="4702068" cy="3980174"/>
          </a:xfrm>
          <a:prstGeom prst="rect">
            <a:avLst/>
          </a:prstGeom>
        </p:spPr>
      </p:pic>
    </p:spTree>
    <p:extLst>
      <p:ext uri="{BB962C8B-B14F-4D97-AF65-F5344CB8AC3E}">
        <p14:creationId xmlns:p14="http://schemas.microsoft.com/office/powerpoint/2010/main" val="128401416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4578" name="Rectangle 3"/>
          <p:cNvSpPr>
            <a:spLocks noGrp="1" noChangeArrowheads="1"/>
          </p:cNvSpPr>
          <p:nvPr>
            <p:ph idx="1"/>
          </p:nvPr>
        </p:nvSpPr>
        <p:spPr>
          <a:xfrm>
            <a:off x="838200" y="1657350"/>
            <a:ext cx="10515600" cy="4349750"/>
          </a:xfrm>
        </p:spPr>
        <p:txBody>
          <a:bodyPr>
            <a:normAutofit/>
          </a:bodyPr>
          <a:lstStyle/>
          <a:p>
            <a:pPr marL="107950" indent="0">
              <a:lnSpc>
                <a:spcPct val="80000"/>
              </a:lnSpc>
              <a:buNone/>
            </a:pPr>
            <a:r>
              <a:rPr lang="fr-CA" altLang="en-US" sz="2400" dirty="0"/>
              <a:t>1</a:t>
            </a:r>
            <a:r>
              <a:rPr lang="fr-CA" altLang="en-US" sz="2400" baseline="30000" dirty="0"/>
              <a:t>er</a:t>
            </a:r>
            <a:r>
              <a:rPr lang="fr-CA" altLang="en-US" sz="2400" dirty="0"/>
              <a:t> janvier :</a:t>
            </a:r>
          </a:p>
          <a:p>
            <a:pPr marL="107950" indent="0">
              <a:lnSpc>
                <a:spcPct val="80000"/>
              </a:lnSpc>
              <a:buNone/>
            </a:pPr>
            <a:endParaRPr lang="fr-CA" altLang="en-US" sz="600" dirty="0"/>
          </a:p>
          <a:p>
            <a:pPr marL="107950" indent="0">
              <a:lnSpc>
                <a:spcPct val="80000"/>
              </a:lnSpc>
              <a:buNone/>
            </a:pPr>
            <a:r>
              <a:rPr lang="fr-CA" altLang="en-US" sz="2000" strike="sngStrike" dirty="0"/>
              <a:t>Équipement destiné à la location</a:t>
            </a:r>
          </a:p>
          <a:p>
            <a:pPr marL="107950" indent="0">
              <a:lnSpc>
                <a:spcPct val="80000"/>
              </a:lnSpc>
              <a:buNone/>
            </a:pPr>
            <a:r>
              <a:rPr lang="fr-CA" altLang="en-US" sz="2000" strike="sngStrike" dirty="0"/>
              <a:t>@  Caisse</a:t>
            </a:r>
          </a:p>
          <a:p>
            <a:pPr marL="107950" indent="0">
              <a:lnSpc>
                <a:spcPct val="80000"/>
              </a:lnSpc>
              <a:buNone/>
            </a:pPr>
            <a:r>
              <a:rPr lang="fr-CA" altLang="en-US" sz="2000" i="1" dirty="0"/>
              <a:t>(bailleur détient en stock le bien à louer)</a:t>
            </a:r>
          </a:p>
          <a:p>
            <a:pPr marL="107950" indent="0">
              <a:lnSpc>
                <a:spcPct val="80000"/>
              </a:lnSpc>
              <a:buNone/>
            </a:pPr>
            <a:endParaRPr lang="fr-CA" altLang="en-US" sz="2000" i="1" dirty="0"/>
          </a:p>
          <a:p>
            <a:pPr marL="107950" indent="0">
              <a:lnSpc>
                <a:spcPct val="80000"/>
              </a:lnSpc>
              <a:buNone/>
            </a:pPr>
            <a:r>
              <a:rPr lang="fr-CA" altLang="en-US" sz="2400" dirty="0"/>
              <a:t>Coûts directs initiaux 			1 000</a:t>
            </a:r>
          </a:p>
          <a:p>
            <a:pPr marL="107950" indent="0">
              <a:lnSpc>
                <a:spcPct val="80000"/>
              </a:lnSpc>
              <a:buNone/>
            </a:pPr>
            <a:r>
              <a:rPr lang="fr-CA" altLang="en-US" sz="2400" dirty="0"/>
              <a:t>@  Caisse						1 000</a:t>
            </a:r>
          </a:p>
          <a:p>
            <a:pPr marL="107950" indent="0">
              <a:lnSpc>
                <a:spcPct val="80000"/>
              </a:lnSpc>
              <a:buNone/>
            </a:pPr>
            <a:r>
              <a:rPr lang="fr-CA" altLang="en-US" sz="2400" i="1" dirty="0"/>
              <a:t>(bailleur les </a:t>
            </a:r>
            <a:r>
              <a:rPr lang="fr-CA" altLang="en-US" sz="2400" b="1" i="1" dirty="0">
                <a:solidFill>
                  <a:srgbClr val="0070C0"/>
                </a:solidFill>
              </a:rPr>
              <a:t>passe en charges</a:t>
            </a:r>
            <a:r>
              <a:rPr lang="fr-CA" altLang="en-US" sz="2400" i="1" dirty="0"/>
              <a:t>)</a:t>
            </a:r>
          </a:p>
          <a:p>
            <a:pPr marL="107950" indent="0">
              <a:lnSpc>
                <a:spcPct val="80000"/>
              </a:lnSpc>
              <a:buNone/>
            </a:pPr>
            <a:endParaRPr lang="fr-CA" altLang="en-US" sz="2400" i="1" dirty="0"/>
          </a:p>
          <a:p>
            <a:pPr marL="107950" indent="0">
              <a:lnSpc>
                <a:spcPct val="80000"/>
              </a:lnSpc>
              <a:buNone/>
            </a:pPr>
            <a:endParaRPr lang="fr-CA" altLang="en-US" sz="2000" dirty="0"/>
          </a:p>
          <a:p>
            <a:pPr marL="107950" indent="0">
              <a:lnSpc>
                <a:spcPct val="80000"/>
              </a:lnSpc>
              <a:buNone/>
            </a:pPr>
            <a:endParaRPr lang="fr-CA" altLang="en-US" sz="2000" dirty="0"/>
          </a:p>
          <a:p>
            <a:pPr marL="107950" indent="0">
              <a:lnSpc>
                <a:spcPct val="80000"/>
              </a:lnSpc>
              <a:buNone/>
            </a:pPr>
            <a:endParaRPr lang="fr-CA" altLang="en-US" sz="2700" i="1" dirty="0"/>
          </a:p>
          <a:p>
            <a:pPr marL="107950" indent="0">
              <a:lnSpc>
                <a:spcPct val="80000"/>
              </a:lnSpc>
              <a:buNone/>
            </a:pPr>
            <a:endParaRPr lang="fr-CA" altLang="en-US" sz="2700" i="1" dirty="0"/>
          </a:p>
          <a:p>
            <a:pPr marL="107950" indent="0">
              <a:lnSpc>
                <a:spcPct val="80000"/>
              </a:lnSpc>
              <a:buNone/>
            </a:pPr>
            <a:endParaRPr lang="en-US" altLang="en-US" sz="2700" dirty="0"/>
          </a:p>
        </p:txBody>
      </p:sp>
      <p:sp>
        <p:nvSpPr>
          <p:cNvPr id="52226" name="Rectangle 2"/>
          <p:cNvSpPr>
            <a:spLocks noGrp="1" noChangeArrowheads="1"/>
          </p:cNvSpPr>
          <p:nvPr>
            <p:ph type="title"/>
          </p:nvPr>
        </p:nvSpPr>
        <p:spPr/>
        <p:txBody>
          <a:bodyPr/>
          <a:lstStyle/>
          <a:p>
            <a:r>
              <a:rPr lang="fr-CA" altLang="fr-FR" sz="3400" dirty="0"/>
              <a:t>Bailleur : location-financement </a:t>
            </a:r>
            <a:br>
              <a:rPr lang="fr-CA" altLang="fr-FR" sz="3400" i="1" dirty="0"/>
            </a:br>
            <a:r>
              <a:rPr lang="fr-CA" altLang="fr-FR" sz="3400" dirty="0"/>
              <a:t>Écritures – par un fabricant ou un distributeur</a:t>
            </a:r>
            <a:endParaRPr lang="en-US" altLang="fr-FR" sz="3400" dirty="0"/>
          </a:p>
        </p:txBody>
      </p:sp>
      <p:sp>
        <p:nvSpPr>
          <p:cNvPr id="2" name="Slide Number Placeholder 1"/>
          <p:cNvSpPr>
            <a:spLocks noGrp="1"/>
          </p:cNvSpPr>
          <p:nvPr>
            <p:ph type="sldNum" sz="quarter" idx="12"/>
          </p:nvPr>
        </p:nvSpPr>
        <p:spPr/>
        <p:txBody>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fld id="{B1856F6B-86C7-4565-8D4C-C5CB358ED2AC}" type="slidenum">
              <a:rPr lang="fr-FR" altLang="fr-FR">
                <a:solidFill>
                  <a:srgbClr val="898989"/>
                </a:solidFill>
              </a:rPr>
              <a:pPr/>
              <a:t>125</a:t>
            </a:fld>
            <a:endParaRPr lang="fr-FR" altLang="fr-FR">
              <a:solidFill>
                <a:srgbClr val="898989"/>
              </a:solidFill>
            </a:endParaRPr>
          </a:p>
        </p:txBody>
      </p:sp>
      <p:sp>
        <p:nvSpPr>
          <p:cNvPr id="3" name="Espace réservé du pied de page 2">
            <a:extLst>
              <a:ext uri="{FF2B5EF4-FFF2-40B4-BE49-F238E27FC236}">
                <a16:creationId xmlns:a16="http://schemas.microsoft.com/office/drawing/2014/main" id="{B132423C-E5B2-463D-9E4F-82BF70948843}"/>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4120168042"/>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4578" name="Rectangle 3"/>
          <p:cNvSpPr>
            <a:spLocks noGrp="1" noChangeArrowheads="1"/>
          </p:cNvSpPr>
          <p:nvPr>
            <p:ph idx="1"/>
          </p:nvPr>
        </p:nvSpPr>
        <p:spPr>
          <a:xfrm>
            <a:off x="838200" y="1014762"/>
            <a:ext cx="10515600" cy="5706714"/>
          </a:xfrm>
        </p:spPr>
        <p:txBody>
          <a:bodyPr>
            <a:normAutofit fontScale="62500" lnSpcReduction="20000"/>
          </a:bodyPr>
          <a:lstStyle/>
          <a:p>
            <a:pPr marL="107950" indent="0">
              <a:lnSpc>
                <a:spcPct val="80000"/>
              </a:lnSpc>
              <a:buNone/>
            </a:pPr>
            <a:r>
              <a:rPr lang="fr-CA" altLang="en-US" sz="2900" dirty="0"/>
              <a:t>1</a:t>
            </a:r>
            <a:r>
              <a:rPr lang="fr-CA" altLang="en-US" sz="2900" baseline="30000" dirty="0"/>
              <a:t>er</a:t>
            </a:r>
            <a:r>
              <a:rPr lang="fr-CA" altLang="en-US" sz="2900" dirty="0"/>
              <a:t> janvier :</a:t>
            </a:r>
          </a:p>
          <a:p>
            <a:pPr marL="107950" indent="0">
              <a:lnSpc>
                <a:spcPct val="80000"/>
              </a:lnSpc>
              <a:buNone/>
            </a:pPr>
            <a:endParaRPr lang="fr-CA" altLang="en-US" sz="600" dirty="0"/>
          </a:p>
          <a:p>
            <a:pPr marL="107950" indent="0">
              <a:lnSpc>
                <a:spcPct val="80000"/>
              </a:lnSpc>
              <a:buNone/>
            </a:pPr>
            <a:r>
              <a:rPr lang="fr-CA" altLang="en-US" sz="2900" dirty="0"/>
              <a:t>Investissement net dans un contrat de location financement </a:t>
            </a:r>
            <a:r>
              <a:rPr lang="fr-CA" altLang="en-US" sz="2900" baseline="30000" dirty="0"/>
              <a:t>1</a:t>
            </a:r>
            <a:r>
              <a:rPr lang="fr-CA" altLang="en-US" sz="2900" dirty="0"/>
              <a:t> 	121 120</a:t>
            </a:r>
            <a:endParaRPr lang="fr-CA" altLang="en-US" sz="2300" dirty="0"/>
          </a:p>
          <a:p>
            <a:pPr marL="107950" indent="0">
              <a:lnSpc>
                <a:spcPct val="80000"/>
              </a:lnSpc>
              <a:buNone/>
            </a:pPr>
            <a:r>
              <a:rPr lang="fr-CA" altLang="en-US" sz="2900" dirty="0">
                <a:solidFill>
                  <a:srgbClr val="0070C0"/>
                </a:solidFill>
              </a:rPr>
              <a:t>Valeur résiduelle non garantie				            0</a:t>
            </a:r>
          </a:p>
          <a:p>
            <a:pPr marL="107950" indent="0">
              <a:lnSpc>
                <a:spcPct val="80000"/>
              </a:lnSpc>
              <a:buNone/>
            </a:pPr>
            <a:r>
              <a:rPr lang="fr-CA" altLang="en-US" sz="2900" b="1" dirty="0">
                <a:solidFill>
                  <a:srgbClr val="0070C0"/>
                </a:solidFill>
              </a:rPr>
              <a:t>Coût des ventes						   80 000</a:t>
            </a:r>
            <a:endParaRPr lang="fr-CA" altLang="en-US" sz="2900" dirty="0"/>
          </a:p>
          <a:p>
            <a:pPr marL="107950" indent="0">
              <a:lnSpc>
                <a:spcPct val="80000"/>
              </a:lnSpc>
              <a:buNone/>
            </a:pPr>
            <a:r>
              <a:rPr lang="fr-CA" altLang="en-US" sz="2900" dirty="0"/>
              <a:t>@ </a:t>
            </a:r>
            <a:r>
              <a:rPr lang="fr-CA" altLang="en-US" sz="2900" b="1" dirty="0">
                <a:solidFill>
                  <a:srgbClr val="0070C0"/>
                </a:solidFill>
              </a:rPr>
              <a:t>Ventes							121 120</a:t>
            </a:r>
            <a:endParaRPr lang="fr-CA" altLang="en-US" sz="2900" dirty="0"/>
          </a:p>
          <a:p>
            <a:pPr marL="107950" indent="0">
              <a:lnSpc>
                <a:spcPct val="80000"/>
              </a:lnSpc>
              <a:buNone/>
            </a:pPr>
            <a:r>
              <a:rPr lang="fr-CA" altLang="en-US" sz="2900" dirty="0"/>
              <a:t>     </a:t>
            </a:r>
            <a:r>
              <a:rPr lang="fr-CA" altLang="en-US" sz="2900" b="1" dirty="0">
                <a:solidFill>
                  <a:srgbClr val="0070C0"/>
                </a:solidFill>
              </a:rPr>
              <a:t>Stock de produits finis						   80 000</a:t>
            </a:r>
            <a:endParaRPr lang="fr-CA" altLang="en-US" sz="2000" dirty="0"/>
          </a:p>
          <a:p>
            <a:pPr marL="107950" indent="0">
              <a:lnSpc>
                <a:spcPct val="80000"/>
              </a:lnSpc>
              <a:buNone/>
            </a:pPr>
            <a:r>
              <a:rPr lang="fr-CA" altLang="en-US" sz="2000" dirty="0"/>
              <a:t>     </a:t>
            </a:r>
            <a:r>
              <a:rPr lang="fr-CA" altLang="en-US" sz="2900" strike="sngStrike" dirty="0"/>
              <a:t>Coûts directs initiaux différés</a:t>
            </a:r>
            <a:r>
              <a:rPr lang="fr-CA" altLang="en-US" sz="2900" i="1" dirty="0"/>
              <a:t>  ont été passés en charges</a:t>
            </a:r>
            <a:endParaRPr lang="fr-CA" altLang="en-US" sz="1100" dirty="0"/>
          </a:p>
          <a:p>
            <a:pPr marL="107950" indent="0">
              <a:lnSpc>
                <a:spcPct val="80000"/>
              </a:lnSpc>
              <a:buNone/>
            </a:pPr>
            <a:endParaRPr lang="fr-CA" altLang="en-US" sz="500" i="1" dirty="0"/>
          </a:p>
          <a:p>
            <a:pPr marL="107950" indent="0">
              <a:lnSpc>
                <a:spcPct val="80000"/>
              </a:lnSpc>
              <a:buNone/>
            </a:pPr>
            <a:r>
              <a:rPr lang="fr-CA" altLang="en-US" sz="2000" b="1" i="1" dirty="0">
                <a:solidFill>
                  <a:srgbClr val="FF0000"/>
                </a:solidFill>
              </a:rPr>
              <a:t>OU   ----------------------------------------------------------------</a:t>
            </a:r>
            <a:endParaRPr lang="fr-CA" altLang="en-US" sz="2000" i="1" dirty="0"/>
          </a:p>
          <a:p>
            <a:pPr marL="107950" indent="0">
              <a:lnSpc>
                <a:spcPct val="80000"/>
              </a:lnSpc>
              <a:buNone/>
            </a:pPr>
            <a:endParaRPr lang="fr-CA" altLang="en-US" sz="500" i="1" dirty="0"/>
          </a:p>
          <a:p>
            <a:pPr marL="107950" indent="0">
              <a:lnSpc>
                <a:spcPct val="80000"/>
              </a:lnSpc>
              <a:buNone/>
            </a:pPr>
            <a:r>
              <a:rPr lang="fr-CA" altLang="en-US" sz="2900" dirty="0"/>
              <a:t>Loyers à recevoir (brutes)	   </a:t>
            </a:r>
            <a:r>
              <a:rPr lang="fr-CA" altLang="en-US" sz="2900" i="1" dirty="0"/>
              <a:t>(ou Créances locatives)  </a:t>
            </a:r>
            <a:r>
              <a:rPr lang="fr-CA" altLang="en-US" sz="2900" dirty="0"/>
              <a:t> </a:t>
            </a:r>
            <a:r>
              <a:rPr lang="fr-CA" altLang="en-US" sz="2900" baseline="30000" dirty="0"/>
              <a:t>2		</a:t>
            </a:r>
            <a:r>
              <a:rPr lang="fr-CA" altLang="en-US" sz="2900" dirty="0"/>
              <a:t>150 000</a:t>
            </a:r>
            <a:endParaRPr lang="fr-CA" altLang="en-US" sz="2900" baseline="30000" dirty="0"/>
          </a:p>
          <a:p>
            <a:pPr marL="107950" indent="0">
              <a:lnSpc>
                <a:spcPct val="80000"/>
              </a:lnSpc>
              <a:buNone/>
            </a:pPr>
            <a:r>
              <a:rPr lang="fr-CA" altLang="en-US" sz="2900" dirty="0">
                <a:solidFill>
                  <a:srgbClr val="0070C0"/>
                </a:solidFill>
              </a:rPr>
              <a:t>Valeur résiduelle non garantie				            0	</a:t>
            </a:r>
          </a:p>
          <a:p>
            <a:pPr marL="107950" indent="0">
              <a:lnSpc>
                <a:spcPct val="80000"/>
              </a:lnSpc>
              <a:buNone/>
            </a:pPr>
            <a:r>
              <a:rPr lang="fr-CA" altLang="en-US" sz="2900" b="1" dirty="0">
                <a:solidFill>
                  <a:srgbClr val="0070C0"/>
                </a:solidFill>
              </a:rPr>
              <a:t>Coût des ventes						  80 000</a:t>
            </a:r>
            <a:endParaRPr lang="fr-CA" altLang="en-US" sz="2900" dirty="0"/>
          </a:p>
          <a:p>
            <a:pPr marL="107950" indent="0">
              <a:lnSpc>
                <a:spcPct val="80000"/>
              </a:lnSpc>
              <a:buNone/>
            </a:pPr>
            <a:r>
              <a:rPr lang="fr-CA" altLang="en-US" sz="2900" dirty="0"/>
              <a:t>@ </a:t>
            </a:r>
            <a:r>
              <a:rPr lang="fr-CA" altLang="en-US" sz="2900" b="1" dirty="0">
                <a:solidFill>
                  <a:srgbClr val="0070C0"/>
                </a:solidFill>
              </a:rPr>
              <a:t>Ventes							121 120</a:t>
            </a:r>
            <a:endParaRPr lang="fr-CA" altLang="en-US" sz="2900" dirty="0"/>
          </a:p>
          <a:p>
            <a:pPr marL="107950" indent="0">
              <a:lnSpc>
                <a:spcPct val="80000"/>
              </a:lnSpc>
              <a:buNone/>
            </a:pPr>
            <a:r>
              <a:rPr lang="fr-CA" altLang="en-US" sz="2900" dirty="0"/>
              <a:t>     </a:t>
            </a:r>
            <a:r>
              <a:rPr lang="fr-CA" altLang="en-US" sz="2900" b="1" dirty="0">
                <a:solidFill>
                  <a:srgbClr val="0070C0"/>
                </a:solidFill>
              </a:rPr>
              <a:t>Stock de produits finis						  80 000</a:t>
            </a:r>
          </a:p>
          <a:p>
            <a:pPr marL="107950" indent="0">
              <a:lnSpc>
                <a:spcPct val="80000"/>
              </a:lnSpc>
              <a:buNone/>
            </a:pPr>
            <a:r>
              <a:rPr lang="fr-CA" altLang="en-US" sz="2900" dirty="0"/>
              <a:t>     </a:t>
            </a:r>
            <a:r>
              <a:rPr lang="fr-CA" altLang="en-US" sz="2900" strike="sngStrike" dirty="0"/>
              <a:t>Coûts directs initiaux différés</a:t>
            </a:r>
            <a:r>
              <a:rPr lang="fr-CA" altLang="en-US" sz="2900" i="1" dirty="0"/>
              <a:t>  ont été passés en charges</a:t>
            </a:r>
          </a:p>
          <a:p>
            <a:pPr marL="107950" indent="0">
              <a:lnSpc>
                <a:spcPct val="80000"/>
              </a:lnSpc>
              <a:buNone/>
            </a:pPr>
            <a:r>
              <a:rPr lang="fr-CA" altLang="en-US" sz="2900" dirty="0"/>
              <a:t>     </a:t>
            </a:r>
            <a:r>
              <a:rPr lang="fr-CA" altLang="en-US" sz="2900" b="1" dirty="0"/>
              <a:t>Produits financiers non acquis</a:t>
            </a:r>
            <a:r>
              <a:rPr lang="fr-CA" altLang="en-US" sz="2900" baseline="30000" dirty="0"/>
              <a:t> </a:t>
            </a:r>
            <a:r>
              <a:rPr lang="fr-CA" altLang="en-US" sz="2200" baseline="30000" dirty="0"/>
              <a:t>3</a:t>
            </a:r>
            <a:r>
              <a:rPr lang="fr-CA" altLang="en-US" sz="2200" dirty="0"/>
              <a:t> (intérêts non gagnés)			  </a:t>
            </a:r>
            <a:r>
              <a:rPr lang="fr-CA" altLang="en-US" sz="2900" dirty="0"/>
              <a:t>28 880</a:t>
            </a:r>
            <a:endParaRPr lang="fr-CA" altLang="en-US" sz="2000" dirty="0"/>
          </a:p>
          <a:p>
            <a:pPr marL="107950" indent="0">
              <a:lnSpc>
                <a:spcPct val="80000"/>
              </a:lnSpc>
              <a:buNone/>
            </a:pPr>
            <a:endParaRPr lang="fr-CA" altLang="en-US" sz="700" dirty="0"/>
          </a:p>
          <a:p>
            <a:pPr marL="107950" indent="0">
              <a:lnSpc>
                <a:spcPct val="80000"/>
              </a:lnSpc>
              <a:buNone/>
            </a:pPr>
            <a:r>
              <a:rPr lang="fr-CA" altLang="en-US" sz="2000" baseline="30000" dirty="0"/>
              <a:t>1 </a:t>
            </a:r>
            <a:r>
              <a:rPr lang="fr-CA" altLang="en-US" sz="2000" dirty="0" err="1"/>
              <a:t>invest</a:t>
            </a:r>
            <a:r>
              <a:rPr lang="fr-CA" altLang="en-US" sz="2000" dirty="0"/>
              <a:t>. brut – produits fin. non gagnés</a:t>
            </a:r>
            <a:endParaRPr lang="fr-CA" altLang="en-US" sz="2000" baseline="30000" dirty="0"/>
          </a:p>
          <a:p>
            <a:pPr marL="107950" indent="0">
              <a:lnSpc>
                <a:spcPct val="80000"/>
              </a:lnSpc>
              <a:buNone/>
            </a:pPr>
            <a:r>
              <a:rPr lang="fr-CA" altLang="en-US" sz="2000" baseline="30000" dirty="0"/>
              <a:t>2  </a:t>
            </a:r>
            <a:r>
              <a:rPr lang="fr-CA" altLang="en-US" sz="2000" dirty="0"/>
              <a:t>sommation PME – frais accessoires </a:t>
            </a:r>
            <a:r>
              <a:rPr lang="fr-CA" altLang="en-US" sz="2000" b="1" dirty="0">
                <a:solidFill>
                  <a:srgbClr val="0070C0"/>
                </a:solidFill>
              </a:rPr>
              <a:t>+ valeur résiduelle non garantie</a:t>
            </a:r>
          </a:p>
          <a:p>
            <a:pPr marL="107950" indent="0">
              <a:lnSpc>
                <a:spcPct val="80000"/>
              </a:lnSpc>
              <a:buNone/>
            </a:pPr>
            <a:r>
              <a:rPr lang="fr-CA" altLang="en-US" sz="2000" baseline="30000" dirty="0"/>
              <a:t> 3  </a:t>
            </a:r>
            <a:r>
              <a:rPr lang="fr-CA" altLang="en-US" sz="2000" dirty="0" err="1"/>
              <a:t>invest</a:t>
            </a:r>
            <a:r>
              <a:rPr lang="fr-CA" altLang="en-US" sz="2000" dirty="0"/>
              <a:t>. brut – valeur comptable du bien</a:t>
            </a:r>
            <a:endParaRPr lang="fr-CA" altLang="en-US" sz="2700" i="1" dirty="0"/>
          </a:p>
        </p:txBody>
      </p:sp>
      <p:sp>
        <p:nvSpPr>
          <p:cNvPr id="52226" name="Rectangle 2"/>
          <p:cNvSpPr>
            <a:spLocks noGrp="1" noChangeArrowheads="1"/>
          </p:cNvSpPr>
          <p:nvPr>
            <p:ph type="title"/>
          </p:nvPr>
        </p:nvSpPr>
        <p:spPr>
          <a:xfrm>
            <a:off x="838200" y="365126"/>
            <a:ext cx="10515600" cy="214737"/>
          </a:xfrm>
        </p:spPr>
        <p:txBody>
          <a:bodyPr>
            <a:noAutofit/>
          </a:bodyPr>
          <a:lstStyle/>
          <a:p>
            <a:r>
              <a:rPr lang="fr-CA" altLang="fr-FR" sz="2800" dirty="0"/>
              <a:t>Bailleur : location-financement </a:t>
            </a:r>
            <a:br>
              <a:rPr lang="fr-CA" altLang="fr-FR" sz="2800" i="1" dirty="0"/>
            </a:br>
            <a:r>
              <a:rPr lang="fr-CA" altLang="fr-FR" sz="2800" dirty="0"/>
              <a:t>Écritures</a:t>
            </a:r>
            <a:endParaRPr lang="en-US" altLang="fr-FR" sz="2800" dirty="0"/>
          </a:p>
        </p:txBody>
      </p:sp>
      <p:sp>
        <p:nvSpPr>
          <p:cNvPr id="2" name="Slide Number Placeholder 1"/>
          <p:cNvSpPr>
            <a:spLocks noGrp="1"/>
          </p:cNvSpPr>
          <p:nvPr>
            <p:ph type="sldNum" sz="quarter" idx="12"/>
          </p:nvPr>
        </p:nvSpPr>
        <p:spPr/>
        <p:txBody>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fld id="{B1856F6B-86C7-4565-8D4C-C5CB358ED2AC}" type="slidenum">
              <a:rPr lang="fr-FR" altLang="fr-FR">
                <a:solidFill>
                  <a:srgbClr val="898989"/>
                </a:solidFill>
              </a:rPr>
              <a:pPr/>
              <a:t>126</a:t>
            </a:fld>
            <a:endParaRPr lang="fr-FR" altLang="fr-FR">
              <a:solidFill>
                <a:srgbClr val="898989"/>
              </a:solidFill>
            </a:endParaRPr>
          </a:p>
        </p:txBody>
      </p:sp>
      <p:sp>
        <p:nvSpPr>
          <p:cNvPr id="3" name="Espace réservé du pied de page 2">
            <a:extLst>
              <a:ext uri="{FF2B5EF4-FFF2-40B4-BE49-F238E27FC236}">
                <a16:creationId xmlns:a16="http://schemas.microsoft.com/office/drawing/2014/main" id="{7683F2D1-C3FE-4E97-A7A7-6B483221C75A}"/>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2200645130"/>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53249" name="Rectangle 3"/>
          <p:cNvSpPr>
            <a:spLocks noGrp="1" noChangeArrowheads="1"/>
          </p:cNvSpPr>
          <p:nvPr>
            <p:ph idx="1"/>
          </p:nvPr>
        </p:nvSpPr>
        <p:spPr>
          <a:xfrm>
            <a:off x="838200" y="1428750"/>
            <a:ext cx="10515599" cy="4578350"/>
          </a:xfrm>
        </p:spPr>
        <p:txBody>
          <a:bodyPr>
            <a:normAutofit/>
          </a:bodyPr>
          <a:lstStyle/>
          <a:p>
            <a:pPr marL="107950" indent="0">
              <a:buNone/>
            </a:pPr>
            <a:r>
              <a:rPr lang="fr-CA" altLang="en-US" sz="2400" dirty="0"/>
              <a:t>1</a:t>
            </a:r>
            <a:r>
              <a:rPr lang="fr-CA" altLang="en-US" sz="2400" baseline="30000" dirty="0"/>
              <a:t>er</a:t>
            </a:r>
            <a:r>
              <a:rPr lang="fr-CA" altLang="en-US" sz="2400" dirty="0"/>
              <a:t> janvier:</a:t>
            </a:r>
            <a:endParaRPr lang="fr-CA" altLang="en-US" dirty="0"/>
          </a:p>
          <a:p>
            <a:pPr marL="107950" indent="0">
              <a:buNone/>
            </a:pPr>
            <a:endParaRPr lang="fr-CA" altLang="en-US" sz="1200" dirty="0"/>
          </a:p>
          <a:p>
            <a:pPr marL="107950" indent="0">
              <a:lnSpc>
                <a:spcPct val="80000"/>
              </a:lnSpc>
              <a:buNone/>
            </a:pPr>
            <a:r>
              <a:rPr lang="fr-CA" altLang="en-US" sz="2000" dirty="0"/>
              <a:t>Caisse  							30 800</a:t>
            </a:r>
            <a:endParaRPr lang="fr-CA" altLang="en-US" sz="1600" dirty="0"/>
          </a:p>
          <a:p>
            <a:pPr marL="107950" indent="0">
              <a:lnSpc>
                <a:spcPct val="80000"/>
              </a:lnSpc>
              <a:buNone/>
            </a:pPr>
            <a:r>
              <a:rPr lang="fr-CA" altLang="en-US" sz="2000" dirty="0"/>
              <a:t>@ Investissement net dans un contrat de location financement	30 000</a:t>
            </a:r>
          </a:p>
          <a:p>
            <a:pPr marL="107950" indent="0">
              <a:lnSpc>
                <a:spcPct val="80000"/>
              </a:lnSpc>
              <a:buNone/>
            </a:pPr>
            <a:r>
              <a:rPr lang="fr-CA" altLang="en-US" sz="2000" dirty="0"/>
              <a:t>      Frais d’entretien						      800</a:t>
            </a:r>
          </a:p>
          <a:p>
            <a:pPr marL="107950" indent="0">
              <a:lnSpc>
                <a:spcPct val="80000"/>
              </a:lnSpc>
              <a:buNone/>
            </a:pPr>
            <a:endParaRPr lang="fr-CA" altLang="en-US" sz="1100" dirty="0"/>
          </a:p>
          <a:p>
            <a:pPr marL="107950" indent="0">
              <a:lnSpc>
                <a:spcPct val="80000"/>
              </a:lnSpc>
              <a:buNone/>
            </a:pPr>
            <a:endParaRPr lang="fr-CA" altLang="en-US" sz="500" i="1" dirty="0"/>
          </a:p>
          <a:p>
            <a:pPr marL="107950" indent="0">
              <a:lnSpc>
                <a:spcPct val="80000"/>
              </a:lnSpc>
              <a:buNone/>
            </a:pPr>
            <a:r>
              <a:rPr lang="fr-CA" altLang="en-US" sz="2000" b="1" i="1" dirty="0">
                <a:solidFill>
                  <a:srgbClr val="FF0000"/>
                </a:solidFill>
              </a:rPr>
              <a:t>OU   ----------------------------------------------------------------</a:t>
            </a:r>
            <a:endParaRPr lang="fr-CA" altLang="en-US" sz="2000" dirty="0"/>
          </a:p>
          <a:p>
            <a:pPr marL="107950" indent="0">
              <a:buNone/>
            </a:pPr>
            <a:endParaRPr lang="fr-CA" altLang="en-US" sz="2000" dirty="0"/>
          </a:p>
          <a:p>
            <a:pPr marL="107950" indent="0">
              <a:buNone/>
            </a:pPr>
            <a:r>
              <a:rPr lang="fr-CA" altLang="en-US" sz="2000" dirty="0"/>
              <a:t>Caisse							30 800</a:t>
            </a:r>
          </a:p>
          <a:p>
            <a:pPr marL="107950" indent="0">
              <a:buNone/>
            </a:pPr>
            <a:r>
              <a:rPr lang="fr-CA" altLang="en-US" sz="2000" dirty="0"/>
              <a:t>@ Loyers à recevoir  						30 000</a:t>
            </a:r>
          </a:p>
          <a:p>
            <a:pPr marL="107950" indent="0">
              <a:buNone/>
            </a:pPr>
            <a:r>
              <a:rPr lang="fr-CA" altLang="en-US" sz="2000" dirty="0"/>
              <a:t>     Frais d’entretien						      800</a:t>
            </a:r>
            <a:endParaRPr lang="fr-CA" altLang="en-US" dirty="0"/>
          </a:p>
          <a:p>
            <a:pPr marL="107950" indent="0">
              <a:buNone/>
            </a:pPr>
            <a:endParaRPr lang="fr-CA" altLang="en-US" i="1" dirty="0"/>
          </a:p>
          <a:p>
            <a:pPr marL="107950" indent="0">
              <a:buNone/>
            </a:pPr>
            <a:endParaRPr lang="fr-CA" altLang="en-US" i="1" dirty="0"/>
          </a:p>
          <a:p>
            <a:pPr marL="107950" indent="0">
              <a:buNone/>
            </a:pPr>
            <a:endParaRPr lang="fr-CA" altLang="en-US" i="1" dirty="0"/>
          </a:p>
          <a:p>
            <a:pPr marL="107950" indent="0">
              <a:buNone/>
            </a:pPr>
            <a:endParaRPr lang="en-US" altLang="en-US" dirty="0"/>
          </a:p>
        </p:txBody>
      </p:sp>
      <p:sp>
        <p:nvSpPr>
          <p:cNvPr id="53250" name="Rectangle 2"/>
          <p:cNvSpPr>
            <a:spLocks noGrp="1" noChangeArrowheads="1"/>
          </p:cNvSpPr>
          <p:nvPr>
            <p:ph type="title"/>
          </p:nvPr>
        </p:nvSpPr>
        <p:spPr>
          <a:xfrm>
            <a:off x="838200" y="365125"/>
            <a:ext cx="10515600" cy="365125"/>
          </a:xfrm>
        </p:spPr>
        <p:txBody>
          <a:bodyPr>
            <a:normAutofit fontScale="90000"/>
          </a:bodyPr>
          <a:lstStyle/>
          <a:p>
            <a:r>
              <a:rPr lang="fr-CA" altLang="fr-FR" sz="3400" dirty="0"/>
              <a:t>Bailleur : location-financement </a:t>
            </a:r>
            <a:br>
              <a:rPr lang="fr-CA" altLang="fr-FR" sz="3400" i="1" dirty="0"/>
            </a:br>
            <a:r>
              <a:rPr lang="fr-CA" altLang="fr-FR" sz="3400" dirty="0"/>
              <a:t>Écritures</a:t>
            </a:r>
            <a:endParaRPr lang="en-US" altLang="fr-FR" sz="3400" dirty="0"/>
          </a:p>
        </p:txBody>
      </p:sp>
      <p:sp>
        <p:nvSpPr>
          <p:cNvPr id="2" name="Slide Number Placeholder 1"/>
          <p:cNvSpPr>
            <a:spLocks noGrp="1"/>
          </p:cNvSpPr>
          <p:nvPr>
            <p:ph type="sldNum" sz="quarter" idx="12"/>
          </p:nvPr>
        </p:nvSpPr>
        <p:spPr/>
        <p:txBody>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fld id="{7156BAC3-BD32-4CA5-B652-24E431B18DE1}" type="slidenum">
              <a:rPr lang="fr-FR" altLang="fr-FR">
                <a:solidFill>
                  <a:srgbClr val="898989"/>
                </a:solidFill>
              </a:rPr>
              <a:pPr/>
              <a:t>127</a:t>
            </a:fld>
            <a:endParaRPr lang="fr-FR" altLang="fr-FR">
              <a:solidFill>
                <a:srgbClr val="898989"/>
              </a:solidFill>
            </a:endParaRPr>
          </a:p>
        </p:txBody>
      </p:sp>
      <p:sp>
        <p:nvSpPr>
          <p:cNvPr id="3" name="Espace réservé du pied de page 2">
            <a:extLst>
              <a:ext uri="{FF2B5EF4-FFF2-40B4-BE49-F238E27FC236}">
                <a16:creationId xmlns:a16="http://schemas.microsoft.com/office/drawing/2014/main" id="{FFA5EB6F-A4F7-400C-90A4-72C75E3F130D}"/>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684465668"/>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4578" name="Rectangle 3"/>
          <p:cNvSpPr>
            <a:spLocks noGrp="1" noChangeArrowheads="1"/>
          </p:cNvSpPr>
          <p:nvPr>
            <p:ph idx="1"/>
          </p:nvPr>
        </p:nvSpPr>
        <p:spPr>
          <a:xfrm>
            <a:off x="838199" y="1428750"/>
            <a:ext cx="10515599" cy="4578350"/>
          </a:xfrm>
        </p:spPr>
        <p:txBody>
          <a:bodyPr>
            <a:normAutofit/>
          </a:bodyPr>
          <a:lstStyle/>
          <a:p>
            <a:pPr marL="107950" indent="0">
              <a:buNone/>
            </a:pPr>
            <a:r>
              <a:rPr lang="fr-CA" altLang="en-US" sz="2400" dirty="0"/>
              <a:t>31 décembre :</a:t>
            </a:r>
          </a:p>
          <a:p>
            <a:pPr marL="107950" indent="0">
              <a:buNone/>
            </a:pPr>
            <a:endParaRPr lang="fr-CA" altLang="en-US" sz="800" dirty="0"/>
          </a:p>
          <a:p>
            <a:pPr marL="107950" indent="0">
              <a:buNone/>
            </a:pPr>
            <a:r>
              <a:rPr lang="fr-CA" altLang="en-US" sz="2400" dirty="0"/>
              <a:t>Investissement net dans un contrat de location financement	10 934</a:t>
            </a:r>
          </a:p>
          <a:p>
            <a:pPr marL="107950" indent="0">
              <a:buNone/>
            </a:pPr>
            <a:r>
              <a:rPr lang="fr-CA" altLang="en-US" sz="2400" dirty="0"/>
              <a:t>@ Produits financiers – intérêts sur contrat de location			10 934</a:t>
            </a:r>
            <a:endParaRPr lang="fr-CA" altLang="en-US" sz="2000" dirty="0"/>
          </a:p>
          <a:p>
            <a:pPr marL="107950" indent="0">
              <a:buNone/>
            </a:pPr>
            <a:endParaRPr lang="fr-CA" altLang="en-US" sz="2000" i="1" dirty="0"/>
          </a:p>
          <a:p>
            <a:pPr marL="107950" indent="0">
              <a:buNone/>
            </a:pPr>
            <a:r>
              <a:rPr lang="fr-CA" altLang="en-US" sz="2000" b="1" i="1" dirty="0">
                <a:solidFill>
                  <a:srgbClr val="FF0000"/>
                </a:solidFill>
              </a:rPr>
              <a:t>OU   -------------------------------------------------------------------------</a:t>
            </a:r>
          </a:p>
          <a:p>
            <a:pPr marL="107950" indent="0">
              <a:buNone/>
            </a:pPr>
            <a:endParaRPr lang="fr-CA" altLang="en-US" sz="2000" i="1" dirty="0"/>
          </a:p>
          <a:p>
            <a:pPr marL="107950" indent="0">
              <a:buNone/>
            </a:pPr>
            <a:r>
              <a:rPr lang="fr-CA" altLang="en-US" sz="2400" dirty="0"/>
              <a:t>Produits financiers non acquis					10 934</a:t>
            </a:r>
          </a:p>
          <a:p>
            <a:pPr marL="107950" indent="0">
              <a:buNone/>
            </a:pPr>
            <a:r>
              <a:rPr lang="fr-CA" altLang="en-US" sz="2400" dirty="0"/>
              <a:t>@ Produits financiers – intérêts sur contrat de location			10 934</a:t>
            </a:r>
            <a:endParaRPr lang="fr-CA" altLang="en-US" sz="2700" dirty="0"/>
          </a:p>
          <a:p>
            <a:pPr marL="107950" indent="0">
              <a:buNone/>
            </a:pPr>
            <a:endParaRPr lang="fr-CA" altLang="en-US" sz="2700" i="1" dirty="0"/>
          </a:p>
          <a:p>
            <a:pPr marL="107950" indent="0">
              <a:buNone/>
            </a:pPr>
            <a:endParaRPr lang="fr-CA" altLang="en-US" sz="2700" i="1" dirty="0"/>
          </a:p>
          <a:p>
            <a:pPr marL="107950" indent="0">
              <a:buNone/>
            </a:pPr>
            <a:endParaRPr lang="en-US" altLang="en-US" sz="2700" dirty="0"/>
          </a:p>
        </p:txBody>
      </p:sp>
      <p:sp>
        <p:nvSpPr>
          <p:cNvPr id="54274" name="Rectangle 2"/>
          <p:cNvSpPr>
            <a:spLocks noGrp="1" noChangeArrowheads="1"/>
          </p:cNvSpPr>
          <p:nvPr>
            <p:ph type="title"/>
          </p:nvPr>
        </p:nvSpPr>
        <p:spPr>
          <a:xfrm>
            <a:off x="838200" y="365125"/>
            <a:ext cx="10515600" cy="861509"/>
          </a:xfrm>
        </p:spPr>
        <p:txBody>
          <a:bodyPr>
            <a:normAutofit fontScale="90000"/>
          </a:bodyPr>
          <a:lstStyle/>
          <a:p>
            <a:r>
              <a:rPr lang="fr-CA" altLang="fr-FR" sz="3200" dirty="0"/>
              <a:t>Bailleur : location-financement </a:t>
            </a:r>
            <a:br>
              <a:rPr lang="fr-CA" altLang="fr-FR" sz="3200" i="1" dirty="0"/>
            </a:br>
            <a:r>
              <a:rPr lang="fr-CA" altLang="fr-FR" sz="3200" dirty="0"/>
              <a:t>Écritures</a:t>
            </a:r>
            <a:endParaRPr lang="en-US" altLang="fr-FR" sz="3200" dirty="0"/>
          </a:p>
        </p:txBody>
      </p:sp>
      <p:sp>
        <p:nvSpPr>
          <p:cNvPr id="2" name="Slide Number Placeholder 1"/>
          <p:cNvSpPr>
            <a:spLocks noGrp="1"/>
          </p:cNvSpPr>
          <p:nvPr>
            <p:ph type="sldNum" sz="quarter" idx="12"/>
          </p:nvPr>
        </p:nvSpPr>
        <p:spPr/>
        <p:txBody>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fld id="{F6257FA2-7C62-4AD2-A774-6BA13F74F78D}" type="slidenum">
              <a:rPr lang="fr-FR" altLang="fr-FR">
                <a:solidFill>
                  <a:srgbClr val="898989"/>
                </a:solidFill>
              </a:rPr>
              <a:pPr/>
              <a:t>128</a:t>
            </a:fld>
            <a:endParaRPr lang="fr-FR" altLang="fr-FR">
              <a:solidFill>
                <a:srgbClr val="898989"/>
              </a:solidFill>
            </a:endParaRPr>
          </a:p>
        </p:txBody>
      </p:sp>
      <p:sp>
        <p:nvSpPr>
          <p:cNvPr id="3" name="Espace réservé du pied de page 2">
            <a:extLst>
              <a:ext uri="{FF2B5EF4-FFF2-40B4-BE49-F238E27FC236}">
                <a16:creationId xmlns:a16="http://schemas.microsoft.com/office/drawing/2014/main" id="{55503BD1-C0DE-4A4A-9DC9-76CB90C855B4}"/>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1527515416"/>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4578" name="Rectangle 3"/>
          <p:cNvSpPr>
            <a:spLocks noGrp="1" noChangeArrowheads="1"/>
          </p:cNvSpPr>
          <p:nvPr>
            <p:ph idx="1"/>
          </p:nvPr>
        </p:nvSpPr>
        <p:spPr>
          <a:xfrm>
            <a:off x="838199" y="1428750"/>
            <a:ext cx="10515599" cy="4578350"/>
          </a:xfrm>
        </p:spPr>
        <p:txBody>
          <a:bodyPr>
            <a:normAutofit/>
          </a:bodyPr>
          <a:lstStyle/>
          <a:p>
            <a:pPr marL="107950" indent="0">
              <a:buNone/>
            </a:pPr>
            <a:r>
              <a:rPr lang="fr-CA" altLang="en-US" sz="2700" dirty="0"/>
              <a:t>À l’échéance du contrat de location :</a:t>
            </a:r>
          </a:p>
          <a:p>
            <a:pPr marL="107950" indent="0">
              <a:buNone/>
            </a:pPr>
            <a:endParaRPr lang="fr-CA" altLang="en-US" sz="2700" dirty="0"/>
          </a:p>
          <a:p>
            <a:pPr marL="107950" indent="0">
              <a:buNone/>
            </a:pPr>
            <a:r>
              <a:rPr lang="fr-CA" altLang="en-US" sz="2000" b="1" dirty="0">
                <a:solidFill>
                  <a:srgbClr val="0070C0"/>
                </a:solidFill>
              </a:rPr>
              <a:t>Équipement						0</a:t>
            </a:r>
          </a:p>
          <a:p>
            <a:pPr marL="107950" indent="0">
              <a:buNone/>
            </a:pPr>
            <a:r>
              <a:rPr lang="fr-CA" altLang="en-US" sz="2000" b="1" dirty="0">
                <a:solidFill>
                  <a:srgbClr val="0070C0"/>
                </a:solidFill>
              </a:rPr>
              <a:t>@ Valeur résiduelle non garantie					0</a:t>
            </a:r>
            <a:endParaRPr lang="fr-CA" altLang="en-US" sz="2700" b="1" dirty="0">
              <a:solidFill>
                <a:srgbClr val="0070C0"/>
              </a:solidFill>
            </a:endParaRPr>
          </a:p>
          <a:p>
            <a:pPr marL="107950" indent="0">
              <a:buNone/>
            </a:pPr>
            <a:endParaRPr lang="fr-CA" altLang="en-US" sz="2700" i="1" dirty="0"/>
          </a:p>
          <a:p>
            <a:pPr marL="107950" indent="0">
              <a:buNone/>
            </a:pPr>
            <a:endParaRPr lang="fr-CA" altLang="en-US" sz="2700" i="1" dirty="0"/>
          </a:p>
          <a:p>
            <a:pPr marL="107950" indent="0">
              <a:buNone/>
            </a:pPr>
            <a:endParaRPr lang="en-US" altLang="en-US" sz="2700" dirty="0"/>
          </a:p>
        </p:txBody>
      </p:sp>
      <p:sp>
        <p:nvSpPr>
          <p:cNvPr id="54274" name="Rectangle 2"/>
          <p:cNvSpPr>
            <a:spLocks noGrp="1" noChangeArrowheads="1"/>
          </p:cNvSpPr>
          <p:nvPr>
            <p:ph type="title"/>
          </p:nvPr>
        </p:nvSpPr>
        <p:spPr>
          <a:xfrm>
            <a:off x="838200" y="365125"/>
            <a:ext cx="10515600" cy="714375"/>
          </a:xfrm>
        </p:spPr>
        <p:txBody>
          <a:bodyPr>
            <a:normAutofit fontScale="90000"/>
          </a:bodyPr>
          <a:lstStyle/>
          <a:p>
            <a:r>
              <a:rPr lang="fr-CA" altLang="fr-FR" sz="3400" dirty="0"/>
              <a:t>Bailleur : location-financement </a:t>
            </a:r>
            <a:br>
              <a:rPr lang="fr-CA" altLang="fr-FR" sz="3400" i="1" dirty="0"/>
            </a:br>
            <a:r>
              <a:rPr lang="fr-CA" altLang="fr-FR" sz="3400" dirty="0"/>
              <a:t>Écritures</a:t>
            </a:r>
            <a:endParaRPr lang="en-US" altLang="fr-FR" sz="3400" dirty="0"/>
          </a:p>
        </p:txBody>
      </p:sp>
      <p:sp>
        <p:nvSpPr>
          <p:cNvPr id="2" name="Slide Number Placeholder 1"/>
          <p:cNvSpPr>
            <a:spLocks noGrp="1"/>
          </p:cNvSpPr>
          <p:nvPr>
            <p:ph type="sldNum" sz="quarter" idx="12"/>
          </p:nvPr>
        </p:nvSpPr>
        <p:spPr/>
        <p:txBody>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fld id="{F6257FA2-7C62-4AD2-A774-6BA13F74F78D}" type="slidenum">
              <a:rPr lang="fr-FR" altLang="fr-FR">
                <a:solidFill>
                  <a:srgbClr val="898989"/>
                </a:solidFill>
              </a:rPr>
              <a:pPr/>
              <a:t>129</a:t>
            </a:fld>
            <a:endParaRPr lang="fr-FR" altLang="fr-FR">
              <a:solidFill>
                <a:srgbClr val="898989"/>
              </a:solidFill>
            </a:endParaRPr>
          </a:p>
        </p:txBody>
      </p:sp>
      <p:sp>
        <p:nvSpPr>
          <p:cNvPr id="3" name="Espace réservé du pied de page 2">
            <a:extLst>
              <a:ext uri="{FF2B5EF4-FFF2-40B4-BE49-F238E27FC236}">
                <a16:creationId xmlns:a16="http://schemas.microsoft.com/office/drawing/2014/main" id="{62E4AF8E-F2DD-4CEB-8C09-B17D1BE811A4}"/>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1358336421"/>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chemeClr val="accent5">
            <a:lumMod val="40000"/>
            <a:lumOff val="60000"/>
          </a:schemeClr>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sz="3600" dirty="0"/>
              <a:t>Exercice</a:t>
            </a:r>
            <a:br>
              <a:rPr lang="fr-CA" sz="3600" dirty="0"/>
            </a:br>
            <a:r>
              <a:rPr lang="fr-CA" sz="3600" dirty="0"/>
              <a:t>Location simple</a:t>
            </a:r>
            <a:endParaRPr lang="fr-CA" dirty="0"/>
          </a:p>
        </p:txBody>
      </p:sp>
      <p:sp>
        <p:nvSpPr>
          <p:cNvPr id="3" name="Espace réservé du contenu 2"/>
          <p:cNvSpPr>
            <a:spLocks noGrp="1"/>
          </p:cNvSpPr>
          <p:nvPr>
            <p:ph idx="1"/>
          </p:nvPr>
        </p:nvSpPr>
        <p:spPr/>
        <p:txBody>
          <a:bodyPr/>
          <a:lstStyle/>
          <a:p>
            <a:r>
              <a:rPr lang="fr-CA" sz="2400" dirty="0"/>
              <a:t>Location d’espace bureaux</a:t>
            </a:r>
          </a:p>
          <a:p>
            <a:r>
              <a:rPr lang="fr-CA" sz="2400" dirty="0"/>
              <a:t>Coût de la location : 5 000 $ mensuellement, paiements début du mois</a:t>
            </a:r>
            <a:endParaRPr lang="fr-CA" dirty="0"/>
          </a:p>
          <a:p>
            <a:r>
              <a:rPr lang="fr-CA" sz="2400" dirty="0"/>
              <a:t>Durée : 24 mois, mais les 2 premiers mois étaient gratuits</a:t>
            </a:r>
          </a:p>
        </p:txBody>
      </p:sp>
      <p:sp>
        <p:nvSpPr>
          <p:cNvPr id="4" name="Espace réservé du numéro de diapositive 3"/>
          <p:cNvSpPr>
            <a:spLocks noGrp="1"/>
          </p:cNvSpPr>
          <p:nvPr>
            <p:ph type="sldNum" sz="quarter" idx="12"/>
          </p:nvPr>
        </p:nvSpPr>
        <p:spPr/>
        <p:txBody>
          <a:bodyPr/>
          <a:lstStyle/>
          <a:p>
            <a:fld id="{5DC53271-AB06-4788-AC3D-33D4BA937B45}" type="slidenum">
              <a:rPr lang="fr-FR" altLang="fr-FR" smtClean="0"/>
              <a:pPr/>
              <a:t>130</a:t>
            </a:fld>
            <a:endParaRPr lang="fr-FR" altLang="fr-FR"/>
          </a:p>
        </p:txBody>
      </p:sp>
      <p:sp>
        <p:nvSpPr>
          <p:cNvPr id="5" name="Espace réservé du pied de page 4">
            <a:extLst>
              <a:ext uri="{FF2B5EF4-FFF2-40B4-BE49-F238E27FC236}">
                <a16:creationId xmlns:a16="http://schemas.microsoft.com/office/drawing/2014/main" id="{E279E70B-96D0-4AB9-B8C3-9ACCC390FF55}"/>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4152919446"/>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bg>
      <p:bgPr>
        <a:solidFill>
          <a:schemeClr val="accent5">
            <a:lumMod val="20000"/>
            <a:lumOff val="80000"/>
          </a:schemeClr>
        </a:solid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6B28394-52C4-448E-B5D3-744F27CC4172}"/>
              </a:ext>
            </a:extLst>
          </p:cNvPr>
          <p:cNvSpPr>
            <a:spLocks noGrp="1"/>
          </p:cNvSpPr>
          <p:nvPr>
            <p:ph type="title"/>
          </p:nvPr>
        </p:nvSpPr>
        <p:spPr>
          <a:xfrm>
            <a:off x="838200" y="365125"/>
            <a:ext cx="10515600" cy="917265"/>
          </a:xfrm>
        </p:spPr>
        <p:txBody>
          <a:bodyPr/>
          <a:lstStyle/>
          <a:p>
            <a:r>
              <a:rPr lang="fr-CA" dirty="0"/>
              <a:t>  </a:t>
            </a:r>
            <a:endParaRPr lang="fr-FR" dirty="0"/>
          </a:p>
        </p:txBody>
      </p:sp>
      <p:sp>
        <p:nvSpPr>
          <p:cNvPr id="3" name="Espace réservé du contenu 2">
            <a:extLst>
              <a:ext uri="{FF2B5EF4-FFF2-40B4-BE49-F238E27FC236}">
                <a16:creationId xmlns:a16="http://schemas.microsoft.com/office/drawing/2014/main" id="{C9E4B149-9FA2-4094-B6FF-D1A90FE776D3}"/>
              </a:ext>
            </a:extLst>
          </p:cNvPr>
          <p:cNvSpPr>
            <a:spLocks noGrp="1"/>
          </p:cNvSpPr>
          <p:nvPr>
            <p:ph idx="1"/>
          </p:nvPr>
        </p:nvSpPr>
        <p:spPr>
          <a:xfrm>
            <a:off x="838200" y="1416205"/>
            <a:ext cx="10515600" cy="4760758"/>
          </a:xfrm>
        </p:spPr>
        <p:txBody>
          <a:bodyPr>
            <a:normAutofit lnSpcReduction="10000"/>
          </a:bodyPr>
          <a:lstStyle/>
          <a:p>
            <a:pPr marL="0" indent="0">
              <a:buNone/>
            </a:pPr>
            <a:r>
              <a:rPr lang="fr-CA" sz="2200" dirty="0"/>
              <a:t>5 000 x 22 mois = 110 000 $</a:t>
            </a:r>
          </a:p>
          <a:p>
            <a:pPr marL="0" indent="0">
              <a:buNone/>
            </a:pPr>
            <a:r>
              <a:rPr lang="fr-CA" sz="2200" dirty="0"/>
              <a:t>110 000 $ / 24 mois = 4 583 $</a:t>
            </a:r>
          </a:p>
          <a:p>
            <a:pPr marL="0" indent="0">
              <a:buNone/>
            </a:pPr>
            <a:endParaRPr lang="fr-CA" sz="2400" dirty="0"/>
          </a:p>
          <a:p>
            <a:pPr marL="0" indent="0">
              <a:buNone/>
            </a:pPr>
            <a:r>
              <a:rPr lang="fr-CA" sz="2400" dirty="0"/>
              <a:t>Mois 1-2 :</a:t>
            </a:r>
          </a:p>
          <a:p>
            <a:pPr marL="0" indent="0">
              <a:buNone/>
            </a:pPr>
            <a:r>
              <a:rPr lang="fr-CA" sz="2400" dirty="0"/>
              <a:t>	Loyers à recevoir		4 583</a:t>
            </a:r>
          </a:p>
          <a:p>
            <a:pPr marL="0" indent="0">
              <a:buNone/>
            </a:pPr>
            <a:r>
              <a:rPr lang="fr-CA" sz="2400" dirty="0"/>
              <a:t>	@  Produits locatifs				4 583</a:t>
            </a:r>
          </a:p>
          <a:p>
            <a:pPr marL="0" indent="0">
              <a:buNone/>
            </a:pPr>
            <a:endParaRPr lang="fr-CA" sz="2400" dirty="0"/>
          </a:p>
          <a:p>
            <a:pPr marL="0" indent="0">
              <a:buNone/>
            </a:pPr>
            <a:r>
              <a:rPr lang="fr-CA" sz="2400" dirty="0"/>
              <a:t>Mois 3-24 :</a:t>
            </a:r>
          </a:p>
          <a:p>
            <a:pPr marL="0" indent="0">
              <a:buNone/>
            </a:pPr>
            <a:r>
              <a:rPr lang="fr-CA" sz="2400" dirty="0"/>
              <a:t>	Encaisse			5 000</a:t>
            </a:r>
          </a:p>
          <a:p>
            <a:pPr marL="0" indent="0">
              <a:buNone/>
            </a:pPr>
            <a:r>
              <a:rPr lang="fr-CA" sz="2400" dirty="0"/>
              <a:t>	@  Produits locatifs				4 583</a:t>
            </a:r>
          </a:p>
          <a:p>
            <a:pPr marL="0" indent="0">
              <a:buNone/>
            </a:pPr>
            <a:r>
              <a:rPr lang="fr-CA" sz="2400" dirty="0"/>
              <a:t>	      Loyers à recevoir				   417</a:t>
            </a:r>
            <a:endParaRPr lang="fr-FR" dirty="0"/>
          </a:p>
        </p:txBody>
      </p:sp>
      <p:sp>
        <p:nvSpPr>
          <p:cNvPr id="4" name="Espace réservé du numéro de diapositive 3">
            <a:extLst>
              <a:ext uri="{FF2B5EF4-FFF2-40B4-BE49-F238E27FC236}">
                <a16:creationId xmlns:a16="http://schemas.microsoft.com/office/drawing/2014/main" id="{1CEA7CD7-3F52-4D93-996E-DFA198C274D2}"/>
              </a:ext>
            </a:extLst>
          </p:cNvPr>
          <p:cNvSpPr>
            <a:spLocks noGrp="1"/>
          </p:cNvSpPr>
          <p:nvPr>
            <p:ph type="sldNum" sz="quarter" idx="12"/>
          </p:nvPr>
        </p:nvSpPr>
        <p:spPr/>
        <p:txBody>
          <a:bodyPr/>
          <a:lstStyle/>
          <a:p>
            <a:fld id="{5DC53271-AB06-4788-AC3D-33D4BA937B45}" type="slidenum">
              <a:rPr lang="fr-FR" altLang="fr-FR" smtClean="0"/>
              <a:pPr/>
              <a:t>131</a:t>
            </a:fld>
            <a:endParaRPr lang="fr-FR" altLang="fr-FR"/>
          </a:p>
        </p:txBody>
      </p:sp>
      <p:sp>
        <p:nvSpPr>
          <p:cNvPr id="5" name="Espace réservé du pied de page 4">
            <a:extLst>
              <a:ext uri="{FF2B5EF4-FFF2-40B4-BE49-F238E27FC236}">
                <a16:creationId xmlns:a16="http://schemas.microsoft.com/office/drawing/2014/main" id="{B3043728-86E1-410F-A71B-68AA4BB73F73}"/>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1258119032"/>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CA" sz="3600" dirty="0"/>
              <a:t>Pertes de crédit attendues sur les créances locatives</a:t>
            </a:r>
            <a:endParaRPr lang="fr-CA" dirty="0"/>
          </a:p>
        </p:txBody>
      </p:sp>
      <p:sp>
        <p:nvSpPr>
          <p:cNvPr id="3" name="Espace réservé du contenu 2"/>
          <p:cNvSpPr>
            <a:spLocks noGrp="1"/>
          </p:cNvSpPr>
          <p:nvPr>
            <p:ph idx="1"/>
          </p:nvPr>
        </p:nvSpPr>
        <p:spPr>
          <a:xfrm>
            <a:off x="838199" y="1847273"/>
            <a:ext cx="10515599" cy="4278890"/>
          </a:xfrm>
        </p:spPr>
        <p:txBody>
          <a:bodyPr>
            <a:normAutofit/>
          </a:bodyPr>
          <a:lstStyle/>
          <a:p>
            <a:r>
              <a:rPr lang="fr-CA" dirty="0"/>
              <a:t>Dépréciation requise?</a:t>
            </a:r>
            <a:endParaRPr lang="fr-CA" sz="2400" dirty="0"/>
          </a:p>
        </p:txBody>
      </p:sp>
      <p:sp>
        <p:nvSpPr>
          <p:cNvPr id="4" name="Espace réservé du numéro de diapositive 3"/>
          <p:cNvSpPr>
            <a:spLocks noGrp="1"/>
          </p:cNvSpPr>
          <p:nvPr>
            <p:ph type="sldNum" sz="quarter" idx="12"/>
          </p:nvPr>
        </p:nvSpPr>
        <p:spPr/>
        <p:txBody>
          <a:bodyPr/>
          <a:lstStyle/>
          <a:p>
            <a:fld id="{5DC53271-AB06-4788-AC3D-33D4BA937B45}" type="slidenum">
              <a:rPr lang="fr-FR" altLang="fr-FR" smtClean="0"/>
              <a:pPr/>
              <a:t>132</a:t>
            </a:fld>
            <a:endParaRPr lang="fr-FR" altLang="fr-FR"/>
          </a:p>
        </p:txBody>
      </p:sp>
      <p:sp>
        <p:nvSpPr>
          <p:cNvPr id="5" name="Espace réservé du pied de page 4">
            <a:extLst>
              <a:ext uri="{FF2B5EF4-FFF2-40B4-BE49-F238E27FC236}">
                <a16:creationId xmlns:a16="http://schemas.microsoft.com/office/drawing/2014/main" id="{0D694A58-1254-41EE-B292-670564E19D51}"/>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647918239"/>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3"/>
          <p:cNvSpPr>
            <a:spLocks noGrp="1" noChangeArrowheads="1"/>
          </p:cNvSpPr>
          <p:nvPr>
            <p:ph idx="1"/>
          </p:nvPr>
        </p:nvSpPr>
        <p:spPr>
          <a:xfrm>
            <a:off x="858643" y="2017714"/>
            <a:ext cx="10495155" cy="4171213"/>
          </a:xfrm>
        </p:spPr>
        <p:txBody>
          <a:bodyPr>
            <a:normAutofit/>
          </a:bodyPr>
          <a:lstStyle/>
          <a:p>
            <a:pPr marL="0" indent="0">
              <a:spcAft>
                <a:spcPts val="600"/>
              </a:spcAft>
              <a:buNone/>
            </a:pPr>
            <a:r>
              <a:rPr lang="fr-FR" altLang="en-US" b="1" dirty="0" err="1"/>
              <a:t>Cession-bail</a:t>
            </a:r>
            <a:r>
              <a:rPr lang="fr-FR" altLang="en-US" b="1" dirty="0"/>
              <a:t> </a:t>
            </a:r>
            <a:r>
              <a:rPr lang="fr-FR" altLang="en-US" dirty="0"/>
              <a:t>: </a:t>
            </a:r>
          </a:p>
          <a:p>
            <a:pPr marL="0" indent="0">
              <a:spcAft>
                <a:spcPts val="600"/>
              </a:spcAft>
              <a:buNone/>
            </a:pPr>
            <a:r>
              <a:rPr lang="fr-FR" altLang="en-US" dirty="0"/>
              <a:t>opération consistant en la vente d’un bien et sa reprise à bail immédiate par le vendeur</a:t>
            </a:r>
          </a:p>
          <a:p>
            <a:pPr marL="0" indent="0">
              <a:spcAft>
                <a:spcPts val="600"/>
              </a:spcAft>
              <a:tabLst>
                <a:tab pos="182563" algn="l"/>
              </a:tabLst>
            </a:pPr>
            <a:r>
              <a:rPr lang="fr-FR" altLang="en-US" sz="2400" dirty="0"/>
              <a:t> possède un bien, le vend et devient preneur (locataire)</a:t>
            </a:r>
          </a:p>
          <a:p>
            <a:pPr marL="0" indent="0">
              <a:spcAft>
                <a:spcPts val="600"/>
              </a:spcAft>
              <a:tabLst>
                <a:tab pos="182563" algn="l"/>
              </a:tabLst>
            </a:pPr>
            <a:r>
              <a:rPr lang="fr-FR" altLang="en-US" sz="2400" dirty="0"/>
              <a:t> quand a besoin de trésorerie</a:t>
            </a:r>
          </a:p>
        </p:txBody>
      </p:sp>
      <p:sp>
        <p:nvSpPr>
          <p:cNvPr id="57346" name="Espace réservé du numéro de diapositive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fld id="{0FFCF7A0-67B2-4CE4-BA78-174D2DEF6F44}" type="slidenum">
              <a:rPr lang="fr-FR" altLang="en-US" sz="1000">
                <a:latin typeface="Tahoma" panose="020B0604030504040204" pitchFamily="34" charset="0"/>
              </a:rPr>
              <a:pPr/>
              <a:t>133</a:t>
            </a:fld>
            <a:endParaRPr lang="fr-FR" altLang="en-US" sz="1000">
              <a:latin typeface="Tahoma" panose="020B0604030504040204" pitchFamily="34" charset="0"/>
            </a:endParaRPr>
          </a:p>
        </p:txBody>
      </p:sp>
      <p:sp>
        <p:nvSpPr>
          <p:cNvPr id="57347" name="Rectangle 2"/>
          <p:cNvSpPr>
            <a:spLocks noGrp="1" noChangeArrowheads="1"/>
          </p:cNvSpPr>
          <p:nvPr>
            <p:ph type="title"/>
          </p:nvPr>
        </p:nvSpPr>
        <p:spPr>
          <a:xfrm>
            <a:off x="858644" y="336550"/>
            <a:ext cx="10495156" cy="1303338"/>
          </a:xfrm>
        </p:spPr>
        <p:txBody>
          <a:bodyPr/>
          <a:lstStyle/>
          <a:p>
            <a:r>
              <a:rPr lang="fr-CA" altLang="fr-FR" sz="3400" dirty="0"/>
              <a:t>Points particuliers : </a:t>
            </a:r>
            <a:r>
              <a:rPr lang="fr-CA" altLang="fr-FR" sz="3400" dirty="0" err="1"/>
              <a:t>cession-bail</a:t>
            </a:r>
            <a:r>
              <a:rPr lang="fr-CA" altLang="fr-FR" sz="3400" dirty="0"/>
              <a:t>	</a:t>
            </a:r>
          </a:p>
        </p:txBody>
      </p:sp>
      <p:sp>
        <p:nvSpPr>
          <p:cNvPr id="57348" name="Text Box 4"/>
          <p:cNvSpPr txBox="1">
            <a:spLocks noChangeArrowheads="1"/>
          </p:cNvSpPr>
          <p:nvPr/>
        </p:nvSpPr>
        <p:spPr bwMode="auto">
          <a:xfrm>
            <a:off x="8839200" y="0"/>
            <a:ext cx="1828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spcBef>
                <a:spcPct val="50000"/>
              </a:spcBef>
            </a:pPr>
            <a:endParaRPr lang="en-CA" altLang="en-US" sz="1600" b="1">
              <a:latin typeface="Univers" charset="0"/>
            </a:endParaRPr>
          </a:p>
        </p:txBody>
      </p:sp>
      <p:sp>
        <p:nvSpPr>
          <p:cNvPr id="2" name="Espace réservé du pied de page 1">
            <a:extLst>
              <a:ext uri="{FF2B5EF4-FFF2-40B4-BE49-F238E27FC236}">
                <a16:creationId xmlns:a16="http://schemas.microsoft.com/office/drawing/2014/main" id="{597B19E7-607C-4322-BC64-8F282114FE5B}"/>
              </a:ext>
            </a:extLst>
          </p:cNvPr>
          <p:cNvSpPr>
            <a:spLocks noGrp="1"/>
          </p:cNvSpPr>
          <p:nvPr>
            <p:ph type="ftr" sz="quarter" idx="11"/>
          </p:nvPr>
        </p:nvSpPr>
        <p:spPr/>
        <p:txBody>
          <a:bodyPr/>
          <a:lstStyle/>
          <a:p>
            <a:r>
              <a:rPr lang="fr-FR"/>
              <a:t>Droits réservés - Louise Overbeek</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3"/>
          <p:cNvSpPr>
            <a:spLocks noGrp="1" noChangeArrowheads="1"/>
          </p:cNvSpPr>
          <p:nvPr>
            <p:ph idx="1"/>
          </p:nvPr>
        </p:nvSpPr>
        <p:spPr>
          <a:xfrm>
            <a:off x="892098" y="1485900"/>
            <a:ext cx="10461702" cy="4502305"/>
          </a:xfrm>
        </p:spPr>
        <p:txBody>
          <a:bodyPr/>
          <a:lstStyle/>
          <a:p>
            <a:pPr marL="0" indent="0">
              <a:spcAft>
                <a:spcPts val="600"/>
              </a:spcAft>
              <a:buNone/>
            </a:pPr>
            <a:endParaRPr lang="fr-FR" altLang="en-US" dirty="0"/>
          </a:p>
          <a:p>
            <a:pPr marL="0" indent="0">
              <a:spcAft>
                <a:spcPts val="600"/>
              </a:spcAft>
              <a:buNone/>
            </a:pPr>
            <a:r>
              <a:rPr lang="fr-CA" altLang="en-US" sz="2600" dirty="0">
                <a:solidFill>
                  <a:srgbClr val="000000"/>
                </a:solidFill>
                <a:cs typeface="Times New Roman" panose="02020603050405020304" pitchFamily="18" charset="0"/>
              </a:rPr>
              <a:t>La cession du bien constitue une vente?</a:t>
            </a:r>
          </a:p>
          <a:p>
            <a:pPr>
              <a:spcAft>
                <a:spcPts val="600"/>
              </a:spcAft>
              <a:buFont typeface="Wingdings" panose="05000000000000000000" pitchFamily="2" charset="2"/>
              <a:buChar char="Ø"/>
            </a:pPr>
            <a:r>
              <a:rPr lang="fr-CA" altLang="en-US" sz="2600" dirty="0">
                <a:solidFill>
                  <a:srgbClr val="000000"/>
                </a:solidFill>
                <a:cs typeface="Times New Roman" panose="02020603050405020304" pitchFamily="18" charset="0"/>
              </a:rPr>
              <a:t>IFRS 15</a:t>
            </a:r>
          </a:p>
          <a:p>
            <a:pPr marL="0" indent="0">
              <a:buNone/>
            </a:pPr>
            <a:endParaRPr lang="fr-CA" altLang="en-US" sz="2600" dirty="0">
              <a:solidFill>
                <a:srgbClr val="000000"/>
              </a:solidFill>
              <a:cs typeface="Times New Roman" panose="02020603050405020304" pitchFamily="18" charset="0"/>
            </a:endParaRPr>
          </a:p>
          <a:p>
            <a:pPr marL="0" indent="0">
              <a:spcAft>
                <a:spcPts val="600"/>
              </a:spcAft>
            </a:pPr>
            <a:endParaRPr lang="fr-CA" altLang="en-US" sz="2600" dirty="0">
              <a:solidFill>
                <a:srgbClr val="000000"/>
              </a:solidFill>
              <a:cs typeface="Times New Roman" panose="02020603050405020304" pitchFamily="18" charset="0"/>
            </a:endParaRPr>
          </a:p>
        </p:txBody>
      </p:sp>
      <p:sp>
        <p:nvSpPr>
          <p:cNvPr id="58370" name="Espace réservé du numéro de diapositive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fld id="{B0AB00FA-9BD6-42AC-8B45-C66D1C66F78A}" type="slidenum">
              <a:rPr lang="fr-FR" altLang="en-US" sz="1000">
                <a:latin typeface="Tahoma" panose="020B0604030504040204" pitchFamily="34" charset="0"/>
              </a:rPr>
              <a:pPr/>
              <a:t>134</a:t>
            </a:fld>
            <a:endParaRPr lang="fr-FR" altLang="en-US" sz="1000">
              <a:latin typeface="Tahoma" panose="020B0604030504040204" pitchFamily="34" charset="0"/>
            </a:endParaRPr>
          </a:p>
        </p:txBody>
      </p:sp>
      <p:sp>
        <p:nvSpPr>
          <p:cNvPr id="58371" name="Rectangle 2"/>
          <p:cNvSpPr>
            <a:spLocks noGrp="1" noChangeArrowheads="1"/>
          </p:cNvSpPr>
          <p:nvPr>
            <p:ph type="title"/>
          </p:nvPr>
        </p:nvSpPr>
        <p:spPr>
          <a:xfrm>
            <a:off x="892098" y="336550"/>
            <a:ext cx="10461702" cy="1303338"/>
          </a:xfrm>
        </p:spPr>
        <p:txBody>
          <a:bodyPr/>
          <a:lstStyle/>
          <a:p>
            <a:r>
              <a:rPr lang="fr-FR" altLang="en-US" sz="3600" dirty="0" err="1"/>
              <a:t>Cession-bail</a:t>
            </a:r>
            <a:r>
              <a:rPr lang="fr-FR" altLang="en-US" sz="3600" dirty="0"/>
              <a:t> – traitement comptable</a:t>
            </a:r>
            <a:endParaRPr lang="fr-CA" altLang="fr-FR" sz="3400" dirty="0"/>
          </a:p>
        </p:txBody>
      </p:sp>
      <p:sp>
        <p:nvSpPr>
          <p:cNvPr id="58372" name="Text Box 4"/>
          <p:cNvSpPr txBox="1">
            <a:spLocks noChangeArrowheads="1"/>
          </p:cNvSpPr>
          <p:nvPr/>
        </p:nvSpPr>
        <p:spPr bwMode="auto">
          <a:xfrm>
            <a:off x="8839200" y="0"/>
            <a:ext cx="1828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spcBef>
                <a:spcPct val="50000"/>
              </a:spcBef>
            </a:pPr>
            <a:endParaRPr lang="en-CA" altLang="en-US" sz="1600" b="1">
              <a:latin typeface="Univers" charset="0"/>
            </a:endParaRPr>
          </a:p>
        </p:txBody>
      </p:sp>
      <p:sp>
        <p:nvSpPr>
          <p:cNvPr id="2" name="Espace réservé du pied de page 1">
            <a:extLst>
              <a:ext uri="{FF2B5EF4-FFF2-40B4-BE49-F238E27FC236}">
                <a16:creationId xmlns:a16="http://schemas.microsoft.com/office/drawing/2014/main" id="{AEE7852F-CEA5-41B2-97A9-FF4B7D68F27A}"/>
              </a:ext>
            </a:extLst>
          </p:cNvPr>
          <p:cNvSpPr>
            <a:spLocks noGrp="1"/>
          </p:cNvSpPr>
          <p:nvPr>
            <p:ph type="ftr" sz="quarter" idx="11"/>
          </p:nvPr>
        </p:nvSpPr>
        <p:spPr/>
        <p:txBody>
          <a:bodyPr/>
          <a:lstStyle/>
          <a:p>
            <a:r>
              <a:rPr lang="fr-FR"/>
              <a:t>Droits réservés - Louise Overbeek</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3"/>
          <p:cNvSpPr>
            <a:spLocks noGrp="1" noChangeArrowheads="1"/>
          </p:cNvSpPr>
          <p:nvPr>
            <p:ph idx="1"/>
          </p:nvPr>
        </p:nvSpPr>
        <p:spPr>
          <a:xfrm>
            <a:off x="838200" y="1291591"/>
            <a:ext cx="10515600" cy="4886186"/>
          </a:xfrm>
        </p:spPr>
        <p:txBody>
          <a:bodyPr/>
          <a:lstStyle/>
          <a:p>
            <a:pPr marL="0" indent="0">
              <a:buNone/>
            </a:pPr>
            <a:r>
              <a:rPr lang="fr-CA" sz="2200" b="1" dirty="0"/>
              <a:t>La cession du bien constitue une vente</a:t>
            </a:r>
            <a:endParaRPr lang="fr-CA" sz="2200" dirty="0"/>
          </a:p>
          <a:p>
            <a:pPr marL="0" indent="0">
              <a:buNone/>
            </a:pPr>
            <a:r>
              <a:rPr lang="fr-CA" sz="2200" dirty="0"/>
              <a:t>100     Si la cession du bien par le vendeur-preneur satisfait aux exigences d'IFRS 15 et qu'elle peut donc être comptabilisée comme une vente d'actif :</a:t>
            </a:r>
          </a:p>
          <a:p>
            <a:pPr marL="0" indent="0">
              <a:buNone/>
            </a:pPr>
            <a:r>
              <a:rPr lang="fr-CA" sz="2200" dirty="0"/>
              <a:t>(a)     le vendeur-preneur doit évaluer l'actif au titre du droit d'utilisation découlant de la transaction de </a:t>
            </a:r>
            <a:r>
              <a:rPr lang="fr-CA" sz="2200" dirty="0" err="1"/>
              <a:t>cession-bail</a:t>
            </a:r>
            <a:r>
              <a:rPr lang="fr-CA" sz="2200" dirty="0"/>
              <a:t> proportionnellement à la valeur comptable antérieure du bien dont le vendeur-preneur conserve le droit d'utilisation. Le vendeur-preneur doit donc comptabiliser uniquement le profit ou la perte réalisé, le cas échéant, sur les droits cédés à l'acheteur-bailleur ;</a:t>
            </a:r>
          </a:p>
          <a:p>
            <a:pPr marL="0" indent="0">
              <a:buNone/>
            </a:pPr>
            <a:r>
              <a:rPr lang="fr-CA" sz="2200" dirty="0"/>
              <a:t>(b)     l'acheteur-bailleur doit comptabiliser l'achat du bien suivant les normes applicables et le contrat de location suivant les dispositions de la présente norme relatives à la comptabilité du bailleur.</a:t>
            </a:r>
          </a:p>
          <a:p>
            <a:pPr marL="0" indent="0">
              <a:buNone/>
            </a:pPr>
            <a:endParaRPr lang="fr-CA" sz="2000" dirty="0"/>
          </a:p>
          <a:p>
            <a:pPr marL="0" indent="0">
              <a:spcAft>
                <a:spcPts val="600"/>
              </a:spcAft>
              <a:buNone/>
            </a:pPr>
            <a:endParaRPr lang="fr-CA" altLang="en-US" sz="2600" dirty="0">
              <a:solidFill>
                <a:srgbClr val="000000"/>
              </a:solidFill>
              <a:cs typeface="Times New Roman" panose="02020603050405020304" pitchFamily="18" charset="0"/>
            </a:endParaRPr>
          </a:p>
          <a:p>
            <a:pPr marL="0" indent="0">
              <a:spcAft>
                <a:spcPts val="600"/>
              </a:spcAft>
            </a:pPr>
            <a:endParaRPr lang="fr-CA" altLang="en-US" sz="2600" dirty="0">
              <a:solidFill>
                <a:srgbClr val="000000"/>
              </a:solidFill>
              <a:cs typeface="Times New Roman" panose="02020603050405020304" pitchFamily="18" charset="0"/>
            </a:endParaRPr>
          </a:p>
        </p:txBody>
      </p:sp>
      <p:sp>
        <p:nvSpPr>
          <p:cNvPr id="58370" name="Espace réservé du numéro de diapositive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fld id="{B0AB00FA-9BD6-42AC-8B45-C66D1C66F78A}" type="slidenum">
              <a:rPr lang="fr-FR" altLang="en-US" sz="1000">
                <a:latin typeface="Tahoma" panose="020B0604030504040204" pitchFamily="34" charset="0"/>
              </a:rPr>
              <a:pPr/>
              <a:t>135</a:t>
            </a:fld>
            <a:endParaRPr lang="fr-FR" altLang="en-US" sz="1000">
              <a:latin typeface="Tahoma" panose="020B0604030504040204" pitchFamily="34" charset="0"/>
            </a:endParaRPr>
          </a:p>
        </p:txBody>
      </p:sp>
      <p:sp>
        <p:nvSpPr>
          <p:cNvPr id="58371" name="Rectangle 2"/>
          <p:cNvSpPr>
            <a:spLocks noGrp="1" noChangeArrowheads="1"/>
          </p:cNvSpPr>
          <p:nvPr>
            <p:ph type="title"/>
          </p:nvPr>
        </p:nvSpPr>
        <p:spPr>
          <a:xfrm>
            <a:off x="892098" y="336550"/>
            <a:ext cx="10461702" cy="729614"/>
          </a:xfrm>
        </p:spPr>
        <p:txBody>
          <a:bodyPr/>
          <a:lstStyle/>
          <a:p>
            <a:pPr>
              <a:spcAft>
                <a:spcPts val="600"/>
              </a:spcAft>
            </a:pPr>
            <a:r>
              <a:rPr lang="fr-FR" altLang="en-US" sz="3600" dirty="0" err="1"/>
              <a:t>Cession-bail</a:t>
            </a:r>
            <a:r>
              <a:rPr lang="fr-FR" altLang="en-US" sz="3600" dirty="0"/>
              <a:t> – traitement comptable </a:t>
            </a:r>
          </a:p>
        </p:txBody>
      </p:sp>
      <p:sp>
        <p:nvSpPr>
          <p:cNvPr id="58372" name="Text Box 4"/>
          <p:cNvSpPr txBox="1">
            <a:spLocks noChangeArrowheads="1"/>
          </p:cNvSpPr>
          <p:nvPr/>
        </p:nvSpPr>
        <p:spPr bwMode="auto">
          <a:xfrm>
            <a:off x="8839200" y="0"/>
            <a:ext cx="1828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spcBef>
                <a:spcPct val="50000"/>
              </a:spcBef>
            </a:pPr>
            <a:endParaRPr lang="en-CA" altLang="en-US" sz="1600" b="1">
              <a:latin typeface="Univers" charset="0"/>
            </a:endParaRPr>
          </a:p>
        </p:txBody>
      </p:sp>
      <p:sp>
        <p:nvSpPr>
          <p:cNvPr id="2" name="Espace réservé du pied de page 1">
            <a:extLst>
              <a:ext uri="{FF2B5EF4-FFF2-40B4-BE49-F238E27FC236}">
                <a16:creationId xmlns:a16="http://schemas.microsoft.com/office/drawing/2014/main" id="{2CB23CC8-6148-4838-A24C-BD13D650B352}"/>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4060834394"/>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9C0EE04-86D2-411D-AD9C-29971563F040}"/>
              </a:ext>
            </a:extLst>
          </p:cNvPr>
          <p:cNvSpPr>
            <a:spLocks noGrp="1"/>
          </p:cNvSpPr>
          <p:nvPr>
            <p:ph type="title"/>
          </p:nvPr>
        </p:nvSpPr>
        <p:spPr/>
        <p:txBody>
          <a:bodyPr/>
          <a:lstStyle/>
          <a:p>
            <a:r>
              <a:rPr lang="fr-CA" sz="3600" b="1" dirty="0"/>
              <a:t>La cession du bien constitue une vente (partielle)</a:t>
            </a:r>
            <a:endParaRPr lang="fr-FR" dirty="0"/>
          </a:p>
        </p:txBody>
      </p:sp>
      <p:sp>
        <p:nvSpPr>
          <p:cNvPr id="3" name="Espace réservé du contenu 2">
            <a:extLst>
              <a:ext uri="{FF2B5EF4-FFF2-40B4-BE49-F238E27FC236}">
                <a16:creationId xmlns:a16="http://schemas.microsoft.com/office/drawing/2014/main" id="{A9142329-507D-4BE8-8FCB-41A2F1D86463}"/>
              </a:ext>
            </a:extLst>
          </p:cNvPr>
          <p:cNvSpPr>
            <a:spLocks noGrp="1"/>
          </p:cNvSpPr>
          <p:nvPr>
            <p:ph idx="1"/>
          </p:nvPr>
        </p:nvSpPr>
        <p:spPr/>
        <p:txBody>
          <a:bodyPr/>
          <a:lstStyle/>
          <a:p>
            <a:pPr marL="0" indent="0">
              <a:buNone/>
            </a:pPr>
            <a:r>
              <a:rPr lang="fr-CA" dirty="0"/>
              <a:t>Encaisse</a:t>
            </a:r>
          </a:p>
          <a:p>
            <a:pPr marL="0" indent="0">
              <a:buNone/>
            </a:pPr>
            <a:r>
              <a:rPr lang="fr-CA" dirty="0"/>
              <a:t>Droits d’utilisation </a:t>
            </a:r>
            <a:r>
              <a:rPr lang="fr-CA" sz="2400" i="1" dirty="0"/>
              <a:t>(selon valeur comptable </a:t>
            </a:r>
            <a:r>
              <a:rPr lang="fr-CA" sz="2400" i="1" dirty="0" err="1"/>
              <a:t>immo</a:t>
            </a:r>
            <a:r>
              <a:rPr lang="fr-CA" sz="2400" i="1" dirty="0"/>
              <a:t>)</a:t>
            </a:r>
            <a:endParaRPr lang="fr-CA" sz="3600" dirty="0"/>
          </a:p>
          <a:p>
            <a:pPr marL="0" indent="0">
              <a:buNone/>
            </a:pPr>
            <a:r>
              <a:rPr lang="fr-CA" dirty="0"/>
              <a:t>@  Immobilisation</a:t>
            </a:r>
          </a:p>
          <a:p>
            <a:pPr marL="0" indent="0">
              <a:buNone/>
            </a:pPr>
            <a:r>
              <a:rPr lang="fr-CA" dirty="0"/>
              <a:t>      Gain sur cession  </a:t>
            </a:r>
            <a:r>
              <a:rPr lang="fr-CA" sz="2400" i="1" dirty="0"/>
              <a:t>(sur portion « cédée »)</a:t>
            </a:r>
            <a:endParaRPr lang="fr-CA" i="1" dirty="0"/>
          </a:p>
          <a:p>
            <a:pPr marL="0" indent="0">
              <a:buNone/>
            </a:pPr>
            <a:r>
              <a:rPr lang="fr-CA" dirty="0"/>
              <a:t>      Obligation locative</a:t>
            </a:r>
          </a:p>
          <a:p>
            <a:pPr marL="0" indent="0">
              <a:buNone/>
            </a:pPr>
            <a:r>
              <a:rPr lang="fr-CA" dirty="0"/>
              <a:t>      </a:t>
            </a:r>
            <a:endParaRPr lang="fr-FR" dirty="0"/>
          </a:p>
        </p:txBody>
      </p:sp>
      <p:sp>
        <p:nvSpPr>
          <p:cNvPr id="4" name="Espace réservé du numéro de diapositive 3">
            <a:extLst>
              <a:ext uri="{FF2B5EF4-FFF2-40B4-BE49-F238E27FC236}">
                <a16:creationId xmlns:a16="http://schemas.microsoft.com/office/drawing/2014/main" id="{10BCD57A-8FAA-4ADF-9096-5194E4D9CDC1}"/>
              </a:ext>
            </a:extLst>
          </p:cNvPr>
          <p:cNvSpPr>
            <a:spLocks noGrp="1"/>
          </p:cNvSpPr>
          <p:nvPr>
            <p:ph type="sldNum" sz="quarter" idx="12"/>
          </p:nvPr>
        </p:nvSpPr>
        <p:spPr/>
        <p:txBody>
          <a:bodyPr/>
          <a:lstStyle/>
          <a:p>
            <a:fld id="{5DC53271-AB06-4788-AC3D-33D4BA937B45}" type="slidenum">
              <a:rPr lang="fr-FR" altLang="fr-FR" smtClean="0"/>
              <a:pPr/>
              <a:t>136</a:t>
            </a:fld>
            <a:endParaRPr lang="fr-FR" altLang="fr-FR"/>
          </a:p>
        </p:txBody>
      </p:sp>
    </p:spTree>
    <p:extLst>
      <p:ext uri="{BB962C8B-B14F-4D97-AF65-F5344CB8AC3E}">
        <p14:creationId xmlns:p14="http://schemas.microsoft.com/office/powerpoint/2010/main" val="1007660001"/>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3"/>
          <p:cNvSpPr>
            <a:spLocks noGrp="1" noChangeArrowheads="1"/>
          </p:cNvSpPr>
          <p:nvPr>
            <p:ph idx="1"/>
          </p:nvPr>
        </p:nvSpPr>
        <p:spPr>
          <a:xfrm>
            <a:off x="869795" y="1291590"/>
            <a:ext cx="10484005" cy="4774673"/>
          </a:xfrm>
        </p:spPr>
        <p:txBody>
          <a:bodyPr/>
          <a:lstStyle/>
          <a:p>
            <a:pPr marL="0" indent="0">
              <a:buNone/>
            </a:pPr>
            <a:r>
              <a:rPr lang="fr-CA" sz="2200" b="1" dirty="0"/>
              <a:t>La cession du bien ne constitue pas une vente</a:t>
            </a:r>
          </a:p>
          <a:p>
            <a:pPr marL="0" indent="0">
              <a:buNone/>
            </a:pPr>
            <a:r>
              <a:rPr lang="fr-CA" sz="2200" dirty="0"/>
              <a:t>103     Si la cession du bien par le vendeur-preneur ne satisfait pas aux exigences d'IFRS 15 et ne peut donc pas être comptabilisée comme une vente d'actif :</a:t>
            </a:r>
          </a:p>
          <a:p>
            <a:pPr marL="0" indent="0">
              <a:buNone/>
            </a:pPr>
            <a:r>
              <a:rPr lang="fr-CA" sz="2200" dirty="0"/>
              <a:t>(a)     </a:t>
            </a:r>
            <a:r>
              <a:rPr lang="fr-CA" sz="2200" dirty="0">
                <a:solidFill>
                  <a:srgbClr val="0070C0"/>
                </a:solidFill>
              </a:rPr>
              <a:t>le vendeur-preneur doit laisser le bien cédé comptabilisé et il doit comptabiliser un passif financier égal au produit de la cession en appliquant IFRS 9 </a:t>
            </a:r>
            <a:r>
              <a:rPr lang="fr-CA" sz="2200" dirty="0"/>
              <a:t>;</a:t>
            </a:r>
          </a:p>
          <a:p>
            <a:pPr marL="0" indent="0">
              <a:buNone/>
            </a:pPr>
            <a:r>
              <a:rPr lang="fr-CA" sz="2200" dirty="0"/>
              <a:t>(b)     l'acheteur-bailleur ne doit pas comptabiliser le bien cédé et il doit comptabiliser un actif financier égal au produit de la cession en appliquant IFRS 9.</a:t>
            </a:r>
          </a:p>
          <a:p>
            <a:pPr marL="0" indent="0">
              <a:spcAft>
                <a:spcPts val="600"/>
              </a:spcAft>
              <a:buNone/>
            </a:pPr>
            <a:endParaRPr lang="fr-CA" altLang="en-US" sz="2600" dirty="0">
              <a:solidFill>
                <a:srgbClr val="000000"/>
              </a:solidFill>
              <a:cs typeface="Times New Roman" panose="02020603050405020304" pitchFamily="18" charset="0"/>
            </a:endParaRPr>
          </a:p>
          <a:p>
            <a:pPr marL="0" indent="0">
              <a:spcAft>
                <a:spcPts val="600"/>
              </a:spcAft>
            </a:pPr>
            <a:endParaRPr lang="fr-CA" altLang="en-US" sz="2600" dirty="0">
              <a:solidFill>
                <a:srgbClr val="000000"/>
              </a:solidFill>
              <a:cs typeface="Times New Roman" panose="02020603050405020304" pitchFamily="18" charset="0"/>
            </a:endParaRPr>
          </a:p>
        </p:txBody>
      </p:sp>
      <p:sp>
        <p:nvSpPr>
          <p:cNvPr id="58370" name="Espace réservé du numéro de diapositive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fld id="{B0AB00FA-9BD6-42AC-8B45-C66D1C66F78A}" type="slidenum">
              <a:rPr lang="fr-FR" altLang="en-US" sz="1000">
                <a:latin typeface="Tahoma" panose="020B0604030504040204" pitchFamily="34" charset="0"/>
              </a:rPr>
              <a:pPr/>
              <a:t>137</a:t>
            </a:fld>
            <a:endParaRPr lang="fr-FR" altLang="en-US" sz="1000">
              <a:latin typeface="Tahoma" panose="020B0604030504040204" pitchFamily="34" charset="0"/>
            </a:endParaRPr>
          </a:p>
        </p:txBody>
      </p:sp>
      <p:sp>
        <p:nvSpPr>
          <p:cNvPr id="58371" name="Rectangle 2"/>
          <p:cNvSpPr>
            <a:spLocks noGrp="1" noChangeArrowheads="1"/>
          </p:cNvSpPr>
          <p:nvPr>
            <p:ph type="title"/>
          </p:nvPr>
        </p:nvSpPr>
        <p:spPr>
          <a:xfrm>
            <a:off x="869795" y="336550"/>
            <a:ext cx="10484005" cy="729614"/>
          </a:xfrm>
        </p:spPr>
        <p:txBody>
          <a:bodyPr/>
          <a:lstStyle/>
          <a:p>
            <a:pPr>
              <a:spcAft>
                <a:spcPts val="600"/>
              </a:spcAft>
            </a:pPr>
            <a:r>
              <a:rPr lang="fr-FR" altLang="en-US" sz="3600" dirty="0" err="1"/>
              <a:t>Cession-bail</a:t>
            </a:r>
            <a:r>
              <a:rPr lang="fr-FR" altLang="en-US" sz="3600" dirty="0"/>
              <a:t> – traitement comptable </a:t>
            </a:r>
          </a:p>
        </p:txBody>
      </p:sp>
      <p:sp>
        <p:nvSpPr>
          <p:cNvPr id="58372" name="Text Box 4"/>
          <p:cNvSpPr txBox="1">
            <a:spLocks noChangeArrowheads="1"/>
          </p:cNvSpPr>
          <p:nvPr/>
        </p:nvSpPr>
        <p:spPr bwMode="auto">
          <a:xfrm>
            <a:off x="8839200" y="0"/>
            <a:ext cx="1828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spcBef>
                <a:spcPct val="50000"/>
              </a:spcBef>
            </a:pPr>
            <a:endParaRPr lang="en-CA" altLang="en-US" sz="1600" b="1">
              <a:latin typeface="Univers" charset="0"/>
            </a:endParaRPr>
          </a:p>
        </p:txBody>
      </p:sp>
      <p:sp>
        <p:nvSpPr>
          <p:cNvPr id="2" name="Espace réservé du pied de page 1">
            <a:extLst>
              <a:ext uri="{FF2B5EF4-FFF2-40B4-BE49-F238E27FC236}">
                <a16:creationId xmlns:a16="http://schemas.microsoft.com/office/drawing/2014/main" id="{52CEB51D-0556-46DB-8F33-AD869DAA493A}"/>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1729026440"/>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3"/>
          <p:cNvSpPr>
            <a:spLocks noGrp="1" noChangeArrowheads="1"/>
          </p:cNvSpPr>
          <p:nvPr>
            <p:ph idx="1"/>
          </p:nvPr>
        </p:nvSpPr>
        <p:spPr>
          <a:xfrm>
            <a:off x="869795" y="1884556"/>
            <a:ext cx="10452410" cy="4192859"/>
          </a:xfrm>
        </p:spPr>
        <p:txBody>
          <a:bodyPr/>
          <a:lstStyle/>
          <a:p>
            <a:pPr marL="0" indent="0">
              <a:spcAft>
                <a:spcPts val="600"/>
              </a:spcAft>
              <a:buNone/>
            </a:pPr>
            <a:r>
              <a:rPr lang="fr-CA" altLang="en-US" sz="2600" dirty="0">
                <a:solidFill>
                  <a:srgbClr val="000000"/>
                </a:solidFill>
                <a:cs typeface="Times New Roman" panose="02020603050405020304" pitchFamily="18" charset="0"/>
              </a:rPr>
              <a:t>Dans une opération de cession-bail, le bail doit être comptabilisé comme un contrat de location-financement ou de location simple, selon ce qui convient pour l’acheteur-bailleur.</a:t>
            </a:r>
          </a:p>
          <a:p>
            <a:pPr marL="0" indent="0">
              <a:spcAft>
                <a:spcPts val="600"/>
              </a:spcAft>
            </a:pPr>
            <a:endParaRPr lang="fr-CA" altLang="en-US" sz="2600" dirty="0">
              <a:solidFill>
                <a:srgbClr val="000000"/>
              </a:solidFill>
              <a:cs typeface="Times New Roman" panose="02020603050405020304" pitchFamily="18" charset="0"/>
            </a:endParaRPr>
          </a:p>
        </p:txBody>
      </p:sp>
      <p:sp>
        <p:nvSpPr>
          <p:cNvPr id="58370" name="Espace réservé du numéro de diapositive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fld id="{B0AB00FA-9BD6-42AC-8B45-C66D1C66F78A}" type="slidenum">
              <a:rPr lang="fr-FR" altLang="en-US" sz="1000">
                <a:latin typeface="Tahoma" panose="020B0604030504040204" pitchFamily="34" charset="0"/>
              </a:rPr>
              <a:pPr/>
              <a:t>138</a:t>
            </a:fld>
            <a:endParaRPr lang="fr-FR" altLang="en-US" sz="1000">
              <a:latin typeface="Tahoma" panose="020B0604030504040204" pitchFamily="34" charset="0"/>
            </a:endParaRPr>
          </a:p>
        </p:txBody>
      </p:sp>
      <p:sp>
        <p:nvSpPr>
          <p:cNvPr id="58371" name="Rectangle 2"/>
          <p:cNvSpPr>
            <a:spLocks noGrp="1" noChangeArrowheads="1"/>
          </p:cNvSpPr>
          <p:nvPr>
            <p:ph type="title"/>
          </p:nvPr>
        </p:nvSpPr>
        <p:spPr>
          <a:xfrm>
            <a:off x="869795" y="336550"/>
            <a:ext cx="10484005" cy="1303338"/>
          </a:xfrm>
        </p:spPr>
        <p:txBody>
          <a:bodyPr/>
          <a:lstStyle/>
          <a:p>
            <a:r>
              <a:rPr lang="fr-FR" altLang="en-US" sz="3600" dirty="0" err="1"/>
              <a:t>Cession-bail</a:t>
            </a:r>
            <a:r>
              <a:rPr lang="fr-FR" altLang="en-US" sz="3600" dirty="0"/>
              <a:t> – traitement comptable</a:t>
            </a:r>
            <a:endParaRPr lang="fr-CA" altLang="fr-FR" sz="3400" dirty="0"/>
          </a:p>
        </p:txBody>
      </p:sp>
      <p:sp>
        <p:nvSpPr>
          <p:cNvPr id="58372" name="Text Box 4"/>
          <p:cNvSpPr txBox="1">
            <a:spLocks noChangeArrowheads="1"/>
          </p:cNvSpPr>
          <p:nvPr/>
        </p:nvSpPr>
        <p:spPr bwMode="auto">
          <a:xfrm>
            <a:off x="8839200" y="0"/>
            <a:ext cx="1828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spcBef>
                <a:spcPct val="50000"/>
              </a:spcBef>
            </a:pPr>
            <a:endParaRPr lang="en-CA" altLang="en-US" sz="1600" b="1">
              <a:latin typeface="Univers" charset="0"/>
            </a:endParaRPr>
          </a:p>
        </p:txBody>
      </p:sp>
      <p:sp>
        <p:nvSpPr>
          <p:cNvPr id="2" name="Espace réservé du pied de page 1">
            <a:extLst>
              <a:ext uri="{FF2B5EF4-FFF2-40B4-BE49-F238E27FC236}">
                <a16:creationId xmlns:a16="http://schemas.microsoft.com/office/drawing/2014/main" id="{B8137763-6AEF-4793-8CB7-0B1739C94204}"/>
              </a:ext>
            </a:extLst>
          </p:cNvPr>
          <p:cNvSpPr>
            <a:spLocks noGrp="1"/>
          </p:cNvSpPr>
          <p:nvPr>
            <p:ph type="ftr" sz="quarter" idx="11"/>
          </p:nvPr>
        </p:nvSpPr>
        <p:spPr/>
        <p:txBody>
          <a:bodyPr/>
          <a:lstStyle/>
          <a:p>
            <a:r>
              <a:rPr lang="fr-FR"/>
              <a:t>Droits réservés - Louise Overbeek</a:t>
            </a:r>
          </a:p>
        </p:txBody>
      </p:sp>
    </p:spTree>
    <p:extLst>
      <p:ext uri="{BB962C8B-B14F-4D97-AF65-F5344CB8AC3E}">
        <p14:creationId xmlns:p14="http://schemas.microsoft.com/office/powerpoint/2010/main" val="1059156111"/>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3"/>
          <p:cNvSpPr>
            <a:spLocks noGrp="1" noChangeArrowheads="1"/>
          </p:cNvSpPr>
          <p:nvPr>
            <p:ph idx="1"/>
          </p:nvPr>
        </p:nvSpPr>
        <p:spPr>
          <a:xfrm>
            <a:off x="892097" y="2029523"/>
            <a:ext cx="10461701" cy="4102992"/>
          </a:xfrm>
        </p:spPr>
        <p:txBody>
          <a:bodyPr>
            <a:normAutofit lnSpcReduction="10000"/>
          </a:bodyPr>
          <a:lstStyle/>
          <a:p>
            <a:pPr marL="0" indent="0">
              <a:spcAft>
                <a:spcPts val="600"/>
              </a:spcAft>
              <a:buNone/>
            </a:pPr>
            <a:r>
              <a:rPr lang="fr-CA" altLang="en-US" dirty="0">
                <a:solidFill>
                  <a:srgbClr val="000000"/>
                </a:solidFill>
                <a:cs typeface="Times New Roman" panose="02020603050405020304" pitchFamily="18" charset="0"/>
              </a:rPr>
              <a:t>2 éléments de comptabilisation :</a:t>
            </a:r>
          </a:p>
          <a:p>
            <a:pPr marL="0" indent="0">
              <a:spcAft>
                <a:spcPts val="600"/>
              </a:spcAft>
              <a:buNone/>
            </a:pPr>
            <a:r>
              <a:rPr lang="fr-CA" altLang="en-US" dirty="0">
                <a:solidFill>
                  <a:srgbClr val="000000"/>
                </a:solidFill>
                <a:cs typeface="Times New Roman" panose="02020603050405020304" pitchFamily="18" charset="0"/>
              </a:rPr>
              <a:t>Location d’une bâtisse et location d’un terrain</a:t>
            </a:r>
          </a:p>
          <a:p>
            <a:pPr marL="0" indent="0">
              <a:spcAft>
                <a:spcPts val="600"/>
              </a:spcAft>
              <a:buNone/>
            </a:pPr>
            <a:endParaRPr lang="fr-CA" altLang="en-US" sz="800" dirty="0">
              <a:solidFill>
                <a:srgbClr val="000000"/>
              </a:solidFill>
              <a:cs typeface="Times New Roman" panose="02020603050405020304" pitchFamily="18" charset="0"/>
            </a:endParaRPr>
          </a:p>
          <a:p>
            <a:pPr marL="255588" lvl="1" indent="0">
              <a:spcAft>
                <a:spcPts val="600"/>
              </a:spcAft>
            </a:pPr>
            <a:r>
              <a:rPr lang="fr-CA" altLang="en-US" sz="2600" dirty="0">
                <a:solidFill>
                  <a:srgbClr val="000000"/>
                </a:solidFill>
                <a:cs typeface="Times New Roman" panose="02020603050405020304" pitchFamily="18" charset="0"/>
              </a:rPr>
              <a:t> Inscription distincte du terrain et de la bâtisse</a:t>
            </a:r>
          </a:p>
          <a:p>
            <a:pPr marL="255588" lvl="1" indent="0">
              <a:spcAft>
                <a:spcPts val="600"/>
              </a:spcAft>
            </a:pPr>
            <a:r>
              <a:rPr lang="fr-CA" altLang="en-US" sz="2600" dirty="0">
                <a:solidFill>
                  <a:srgbClr val="000000"/>
                </a:solidFill>
                <a:cs typeface="Times New Roman" panose="02020603050405020304" pitchFamily="18" charset="0"/>
              </a:rPr>
              <a:t> Répartition proportionnelle aux justes valeurs  </a:t>
            </a:r>
          </a:p>
          <a:p>
            <a:pPr marL="255588" lvl="1" indent="0">
              <a:spcAft>
                <a:spcPts val="600"/>
              </a:spcAft>
            </a:pPr>
            <a:endParaRPr lang="fr-CA" altLang="en-US" sz="2600" dirty="0">
              <a:solidFill>
                <a:srgbClr val="000000"/>
              </a:solidFill>
              <a:cs typeface="Times New Roman" panose="02020603050405020304" pitchFamily="18" charset="0"/>
            </a:endParaRPr>
          </a:p>
          <a:p>
            <a:pPr marL="255588" lvl="1" indent="0">
              <a:spcAft>
                <a:spcPts val="600"/>
              </a:spcAft>
            </a:pPr>
            <a:r>
              <a:rPr lang="fr-CA" altLang="en-US" sz="2600" dirty="0">
                <a:solidFill>
                  <a:srgbClr val="000000"/>
                </a:solidFill>
                <a:cs typeface="Times New Roman" panose="02020603050405020304" pitchFamily="18" charset="0"/>
              </a:rPr>
              <a:t> À classer comme location simple ou location-financement par le bailleur</a:t>
            </a:r>
          </a:p>
          <a:p>
            <a:pPr marL="255588" lvl="1" indent="0">
              <a:spcAft>
                <a:spcPts val="600"/>
              </a:spcAft>
            </a:pPr>
            <a:r>
              <a:rPr lang="fr-CA" altLang="en-US" sz="2600" dirty="0">
                <a:solidFill>
                  <a:srgbClr val="000000"/>
                </a:solidFill>
                <a:cs typeface="Times New Roman" panose="02020603050405020304" pitchFamily="18" charset="0"/>
              </a:rPr>
              <a:t> Preneur : si aucune des deux exceptions, comptabiliser un droit d’utilisation et une obligation locative</a:t>
            </a:r>
          </a:p>
        </p:txBody>
      </p:sp>
      <p:sp>
        <p:nvSpPr>
          <p:cNvPr id="59394" name="Espace réservé du numéro de diapositive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fld id="{DA980372-41DA-45B3-89BE-DB80A1773A5D}" type="slidenum">
              <a:rPr lang="fr-FR" altLang="en-US" sz="1000">
                <a:latin typeface="Tahoma" panose="020B0604030504040204" pitchFamily="34" charset="0"/>
              </a:rPr>
              <a:pPr/>
              <a:t>139</a:t>
            </a:fld>
            <a:endParaRPr lang="fr-FR" altLang="en-US" sz="1000">
              <a:latin typeface="Tahoma" panose="020B0604030504040204" pitchFamily="34" charset="0"/>
            </a:endParaRPr>
          </a:p>
        </p:txBody>
      </p:sp>
      <p:sp>
        <p:nvSpPr>
          <p:cNvPr id="59395" name="Rectangle 2"/>
          <p:cNvSpPr>
            <a:spLocks noGrp="1" noChangeArrowheads="1"/>
          </p:cNvSpPr>
          <p:nvPr>
            <p:ph type="title"/>
          </p:nvPr>
        </p:nvSpPr>
        <p:spPr>
          <a:xfrm>
            <a:off x="892098" y="457200"/>
            <a:ext cx="10461702" cy="1303338"/>
          </a:xfrm>
        </p:spPr>
        <p:txBody>
          <a:bodyPr/>
          <a:lstStyle/>
          <a:p>
            <a:r>
              <a:rPr lang="fr-CA" altLang="fr-FR" sz="3600" dirty="0"/>
              <a:t>Points particuliers : </a:t>
            </a:r>
            <a:br>
              <a:rPr lang="fr-CA" altLang="fr-FR" sz="3600" dirty="0"/>
            </a:br>
            <a:r>
              <a:rPr lang="fr-CA" altLang="fr-FR" sz="3600" dirty="0"/>
              <a:t>location de terrains et de constructions</a:t>
            </a:r>
            <a:r>
              <a:rPr lang="fr-CA" altLang="fr-FR" sz="3400" dirty="0"/>
              <a:t>	</a:t>
            </a:r>
          </a:p>
        </p:txBody>
      </p:sp>
      <p:sp>
        <p:nvSpPr>
          <p:cNvPr id="59396" name="Text Box 4"/>
          <p:cNvSpPr txBox="1">
            <a:spLocks noChangeArrowheads="1"/>
          </p:cNvSpPr>
          <p:nvPr/>
        </p:nvSpPr>
        <p:spPr bwMode="auto">
          <a:xfrm>
            <a:off x="8839200" y="0"/>
            <a:ext cx="1828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spcBef>
                <a:spcPct val="50000"/>
              </a:spcBef>
            </a:pPr>
            <a:endParaRPr lang="en-CA" altLang="en-US" sz="1600" b="1">
              <a:latin typeface="Univers" charset="0"/>
            </a:endParaRPr>
          </a:p>
        </p:txBody>
      </p:sp>
      <p:sp>
        <p:nvSpPr>
          <p:cNvPr id="2" name="Espace réservé du pied de page 1">
            <a:extLst>
              <a:ext uri="{FF2B5EF4-FFF2-40B4-BE49-F238E27FC236}">
                <a16:creationId xmlns:a16="http://schemas.microsoft.com/office/drawing/2014/main" id="{DA0DEE12-1CBF-4F53-8C96-D8A20DDE495D}"/>
              </a:ext>
            </a:extLst>
          </p:cNvPr>
          <p:cNvSpPr>
            <a:spLocks noGrp="1"/>
          </p:cNvSpPr>
          <p:nvPr>
            <p:ph type="ftr" sz="quarter" idx="11"/>
          </p:nvPr>
        </p:nvSpPr>
        <p:spPr/>
        <p:txBody>
          <a:bodyPr/>
          <a:lstStyle/>
          <a:p>
            <a:r>
              <a:rPr lang="fr-FR"/>
              <a:t>Droits réservés - Louise Overbeek</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3"/>
          <p:cNvSpPr>
            <a:spLocks noGrp="1" noChangeArrowheads="1"/>
          </p:cNvSpPr>
          <p:nvPr>
            <p:ph idx="1"/>
          </p:nvPr>
        </p:nvSpPr>
        <p:spPr>
          <a:xfrm>
            <a:off x="880945" y="2017713"/>
            <a:ext cx="10472853" cy="4114800"/>
          </a:xfrm>
        </p:spPr>
        <p:txBody>
          <a:bodyPr/>
          <a:lstStyle/>
          <a:p>
            <a:pPr marL="0" indent="0"/>
            <a:r>
              <a:rPr lang="fr-CA" altLang="en-US" dirty="0">
                <a:solidFill>
                  <a:srgbClr val="000000"/>
                </a:solidFill>
                <a:cs typeface="Times New Roman" panose="02020603050405020304" pitchFamily="18" charset="0"/>
              </a:rPr>
              <a:t> Financement à 100 %</a:t>
            </a:r>
          </a:p>
          <a:p>
            <a:pPr marL="800100" lvl="1" indent="-400050"/>
            <a:r>
              <a:rPr lang="fr-CA" altLang="en-US" dirty="0">
                <a:solidFill>
                  <a:srgbClr val="000000"/>
                </a:solidFill>
                <a:cs typeface="Times New Roman" panose="02020603050405020304" pitchFamily="18" charset="0"/>
              </a:rPr>
              <a:t>Ratio dette / valeur moindre avec un financement traditionnel, donc nécessite $ </a:t>
            </a:r>
          </a:p>
          <a:p>
            <a:pPr marL="800100" lvl="1" indent="-400050"/>
            <a:r>
              <a:rPr lang="fr-CA" altLang="en-US" dirty="0">
                <a:solidFill>
                  <a:srgbClr val="000000"/>
                </a:solidFill>
                <a:cs typeface="Times New Roman" panose="02020603050405020304" pitchFamily="18" charset="0"/>
              </a:rPr>
              <a:t>Financement sur la durée du contrat de location </a:t>
            </a:r>
          </a:p>
          <a:p>
            <a:pPr marL="1038225" lvl="2" indent="-400050"/>
            <a:r>
              <a:rPr lang="fr-CA" altLang="en-US" sz="2200" dirty="0">
                <a:solidFill>
                  <a:srgbClr val="000000"/>
                </a:solidFill>
                <a:cs typeface="Times New Roman" panose="02020603050405020304" pitchFamily="18" charset="0"/>
              </a:rPr>
              <a:t>peut être moindre que vie utile, mais durée d’un financement traditionnel pourrait être encore moindre</a:t>
            </a:r>
          </a:p>
          <a:p>
            <a:pPr marL="400050" lvl="1" indent="0">
              <a:buNone/>
            </a:pPr>
            <a:endParaRPr lang="fr-CA" altLang="en-US" dirty="0">
              <a:solidFill>
                <a:srgbClr val="000000"/>
              </a:solidFill>
              <a:cs typeface="Times New Roman" panose="02020603050405020304" pitchFamily="18" charset="0"/>
            </a:endParaRPr>
          </a:p>
          <a:p>
            <a:pPr marL="800100" lvl="1" indent="-400050"/>
            <a:r>
              <a:rPr lang="fr-CA" altLang="en-US" dirty="0">
                <a:solidFill>
                  <a:srgbClr val="000000"/>
                </a:solidFill>
                <a:cs typeface="Times New Roman" panose="02020603050405020304" pitchFamily="18" charset="0"/>
              </a:rPr>
              <a:t>Mais coût élevé du financement </a:t>
            </a:r>
          </a:p>
        </p:txBody>
      </p:sp>
      <p:sp>
        <p:nvSpPr>
          <p:cNvPr id="61442" name="Espace réservé du numéro de diapositive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fld id="{9EDA2693-89ED-45D3-B0CD-5502395B0ADD}" type="slidenum">
              <a:rPr lang="fr-FR" altLang="en-US" sz="1000">
                <a:latin typeface="Tahoma" panose="020B0604030504040204" pitchFamily="34" charset="0"/>
              </a:rPr>
              <a:pPr/>
              <a:t>140</a:t>
            </a:fld>
            <a:endParaRPr lang="fr-FR" altLang="en-US" sz="1000">
              <a:latin typeface="Tahoma" panose="020B0604030504040204" pitchFamily="34" charset="0"/>
            </a:endParaRPr>
          </a:p>
        </p:txBody>
      </p:sp>
      <p:sp>
        <p:nvSpPr>
          <p:cNvPr id="61443" name="Rectangle 2"/>
          <p:cNvSpPr>
            <a:spLocks noGrp="1" noChangeArrowheads="1"/>
          </p:cNvSpPr>
          <p:nvPr>
            <p:ph type="title"/>
          </p:nvPr>
        </p:nvSpPr>
        <p:spPr>
          <a:xfrm>
            <a:off x="880946" y="457200"/>
            <a:ext cx="10472854" cy="1048215"/>
          </a:xfrm>
        </p:spPr>
        <p:txBody>
          <a:bodyPr/>
          <a:lstStyle/>
          <a:p>
            <a:r>
              <a:rPr lang="fr-CA" altLang="fr-FR" sz="3400" dirty="0"/>
              <a:t>Location ou achat?</a:t>
            </a:r>
          </a:p>
        </p:txBody>
      </p:sp>
      <p:sp>
        <p:nvSpPr>
          <p:cNvPr id="61444" name="Text Box 4"/>
          <p:cNvSpPr txBox="1">
            <a:spLocks noChangeArrowheads="1"/>
          </p:cNvSpPr>
          <p:nvPr/>
        </p:nvSpPr>
        <p:spPr bwMode="auto">
          <a:xfrm>
            <a:off x="8839200" y="0"/>
            <a:ext cx="1828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spcBef>
                <a:spcPct val="50000"/>
              </a:spcBef>
            </a:pPr>
            <a:endParaRPr lang="en-CA" altLang="en-US" sz="1600" b="1">
              <a:latin typeface="Univers" charset="0"/>
            </a:endParaRPr>
          </a:p>
        </p:txBody>
      </p:sp>
      <p:sp>
        <p:nvSpPr>
          <p:cNvPr id="2" name="Espace réservé du pied de page 1">
            <a:extLst>
              <a:ext uri="{FF2B5EF4-FFF2-40B4-BE49-F238E27FC236}">
                <a16:creationId xmlns:a16="http://schemas.microsoft.com/office/drawing/2014/main" id="{C8290A8E-4C1D-4243-A410-AB90EFF3861B}"/>
              </a:ext>
            </a:extLst>
          </p:cNvPr>
          <p:cNvSpPr>
            <a:spLocks noGrp="1"/>
          </p:cNvSpPr>
          <p:nvPr>
            <p:ph type="ftr" sz="quarter" idx="11"/>
          </p:nvPr>
        </p:nvSpPr>
        <p:spPr/>
        <p:txBody>
          <a:bodyPr/>
          <a:lstStyle/>
          <a:p>
            <a:r>
              <a:rPr lang="fr-FR"/>
              <a:t>Droits réservés - Louise Overbeek</a:t>
            </a: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3"/>
          <p:cNvSpPr>
            <a:spLocks noGrp="1" noChangeArrowheads="1"/>
          </p:cNvSpPr>
          <p:nvPr>
            <p:ph idx="1"/>
          </p:nvPr>
        </p:nvSpPr>
        <p:spPr>
          <a:xfrm>
            <a:off x="880945" y="2017713"/>
            <a:ext cx="10472853" cy="4114800"/>
          </a:xfrm>
        </p:spPr>
        <p:txBody>
          <a:bodyPr/>
          <a:lstStyle/>
          <a:p>
            <a:pPr marL="0" indent="0"/>
            <a:r>
              <a:rPr lang="fr-CA" altLang="en-US" dirty="0">
                <a:solidFill>
                  <a:srgbClr val="000000"/>
                </a:solidFill>
                <a:cs typeface="Times New Roman" panose="02020603050405020304" pitchFamily="18" charset="0"/>
              </a:rPr>
              <a:t> Protection contre désuétude</a:t>
            </a:r>
          </a:p>
          <a:p>
            <a:pPr marL="400050" lvl="1" indent="0"/>
            <a:r>
              <a:rPr lang="fr-CA" altLang="en-US" dirty="0">
                <a:solidFill>
                  <a:srgbClr val="000000"/>
                </a:solidFill>
                <a:cs typeface="Times New Roman" panose="02020603050405020304" pitchFamily="18" charset="0"/>
              </a:rPr>
              <a:t> Mais pas accès à la valeur résiduelle</a:t>
            </a:r>
          </a:p>
          <a:p>
            <a:pPr marL="0" indent="0">
              <a:buNone/>
            </a:pPr>
            <a:r>
              <a:rPr lang="fr-CA" altLang="en-US" dirty="0">
                <a:solidFill>
                  <a:srgbClr val="000000"/>
                </a:solidFill>
                <a:cs typeface="Times New Roman" panose="02020603050405020304" pitchFamily="18" charset="0"/>
              </a:rPr>
              <a:t> </a:t>
            </a:r>
          </a:p>
          <a:p>
            <a:pPr marL="0" indent="0"/>
            <a:r>
              <a:rPr lang="fr-CA" altLang="en-US" dirty="0">
                <a:solidFill>
                  <a:srgbClr val="000000"/>
                </a:solidFill>
                <a:cs typeface="Times New Roman" panose="02020603050405020304" pitchFamily="18" charset="0"/>
              </a:rPr>
              <a:t> Flexibilité</a:t>
            </a:r>
          </a:p>
          <a:p>
            <a:pPr marL="400050" lvl="1" indent="0"/>
            <a:r>
              <a:rPr lang="fr-CA" altLang="en-US" dirty="0">
                <a:solidFill>
                  <a:srgbClr val="000000"/>
                </a:solidFill>
                <a:cs typeface="Times New Roman" panose="02020603050405020304" pitchFamily="18" charset="0"/>
              </a:rPr>
              <a:t> Mais n’est pas « propriétaire » du bien</a:t>
            </a:r>
          </a:p>
          <a:p>
            <a:pPr marL="0" indent="0"/>
            <a:endParaRPr lang="fr-CA" altLang="en-US" dirty="0">
              <a:solidFill>
                <a:srgbClr val="000000"/>
              </a:solidFill>
              <a:cs typeface="Times New Roman" panose="02020603050405020304" pitchFamily="18" charset="0"/>
            </a:endParaRPr>
          </a:p>
          <a:p>
            <a:pPr marL="0" indent="0"/>
            <a:r>
              <a:rPr lang="fr-CA" altLang="en-US" dirty="0">
                <a:solidFill>
                  <a:srgbClr val="000000"/>
                </a:solidFill>
                <a:cs typeface="Times New Roman" panose="02020603050405020304" pitchFamily="18" charset="0"/>
              </a:rPr>
              <a:t> Location-financement – est-ce vraiment un actif?</a:t>
            </a:r>
          </a:p>
          <a:p>
            <a:pPr marL="400050" lvl="1" indent="0"/>
            <a:r>
              <a:rPr lang="fr-CA" altLang="en-US" dirty="0">
                <a:solidFill>
                  <a:srgbClr val="000000"/>
                </a:solidFill>
                <a:cs typeface="Times New Roman" panose="02020603050405020304" pitchFamily="18" charset="0"/>
              </a:rPr>
              <a:t> Pas selon le juridique</a:t>
            </a:r>
          </a:p>
          <a:p>
            <a:pPr marL="0" indent="0">
              <a:buFontTx/>
              <a:buChar char="-"/>
            </a:pPr>
            <a:endParaRPr lang="fr-CA" altLang="en-US" dirty="0">
              <a:solidFill>
                <a:srgbClr val="000000"/>
              </a:solidFill>
              <a:cs typeface="Times New Roman" panose="02020603050405020304" pitchFamily="18" charset="0"/>
            </a:endParaRPr>
          </a:p>
        </p:txBody>
      </p:sp>
      <p:sp>
        <p:nvSpPr>
          <p:cNvPr id="62466" name="Espace réservé du numéro de diapositive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fld id="{FAD52BCA-39B5-4266-B4B2-29E21CC0220D}" type="slidenum">
              <a:rPr lang="fr-FR" altLang="en-US" sz="1000">
                <a:latin typeface="Tahoma" panose="020B0604030504040204" pitchFamily="34" charset="0"/>
              </a:rPr>
              <a:pPr/>
              <a:t>141</a:t>
            </a:fld>
            <a:endParaRPr lang="fr-FR" altLang="en-US" sz="1000">
              <a:latin typeface="Tahoma" panose="020B0604030504040204" pitchFamily="34" charset="0"/>
            </a:endParaRPr>
          </a:p>
        </p:txBody>
      </p:sp>
      <p:sp>
        <p:nvSpPr>
          <p:cNvPr id="62467" name="Rectangle 2"/>
          <p:cNvSpPr>
            <a:spLocks noGrp="1" noChangeArrowheads="1"/>
          </p:cNvSpPr>
          <p:nvPr>
            <p:ph type="title"/>
          </p:nvPr>
        </p:nvSpPr>
        <p:spPr>
          <a:xfrm>
            <a:off x="880946" y="457200"/>
            <a:ext cx="10472854" cy="1215483"/>
          </a:xfrm>
        </p:spPr>
        <p:txBody>
          <a:bodyPr/>
          <a:lstStyle/>
          <a:p>
            <a:r>
              <a:rPr lang="fr-CA" altLang="fr-FR" sz="3400" dirty="0"/>
              <a:t>Location ou achat?</a:t>
            </a:r>
          </a:p>
        </p:txBody>
      </p:sp>
      <p:sp>
        <p:nvSpPr>
          <p:cNvPr id="62468" name="Text Box 4"/>
          <p:cNvSpPr txBox="1">
            <a:spLocks noChangeArrowheads="1"/>
          </p:cNvSpPr>
          <p:nvPr/>
        </p:nvSpPr>
        <p:spPr bwMode="auto">
          <a:xfrm>
            <a:off x="8839200" y="0"/>
            <a:ext cx="182880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pPr>
              <a:spcBef>
                <a:spcPct val="50000"/>
              </a:spcBef>
            </a:pPr>
            <a:endParaRPr lang="en-CA" altLang="en-US" sz="1600" b="1">
              <a:latin typeface="Univers" charset="0"/>
            </a:endParaRPr>
          </a:p>
        </p:txBody>
      </p:sp>
      <p:sp>
        <p:nvSpPr>
          <p:cNvPr id="2" name="Espace réservé du pied de page 1">
            <a:extLst>
              <a:ext uri="{FF2B5EF4-FFF2-40B4-BE49-F238E27FC236}">
                <a16:creationId xmlns:a16="http://schemas.microsoft.com/office/drawing/2014/main" id="{50C6356B-9A73-4593-9CAE-5BF81C0384FD}"/>
              </a:ext>
            </a:extLst>
          </p:cNvPr>
          <p:cNvSpPr>
            <a:spLocks noGrp="1"/>
          </p:cNvSpPr>
          <p:nvPr>
            <p:ph type="ftr" sz="quarter" idx="11"/>
          </p:nvPr>
        </p:nvSpPr>
        <p:spPr/>
        <p:txBody>
          <a:bodyPr/>
          <a:lstStyle/>
          <a:p>
            <a:r>
              <a:rPr lang="fr-FR"/>
              <a:t>Droits réservés - Louise Overbeek</a:t>
            </a: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3"/>
          <p:cNvSpPr>
            <a:spLocks noGrp="1" noChangeArrowheads="1"/>
          </p:cNvSpPr>
          <p:nvPr>
            <p:ph idx="1"/>
          </p:nvPr>
        </p:nvSpPr>
        <p:spPr>
          <a:xfrm>
            <a:off x="838199" y="1847850"/>
            <a:ext cx="10515599" cy="4159250"/>
          </a:xfrm>
        </p:spPr>
        <p:txBody>
          <a:bodyPr>
            <a:normAutofit/>
          </a:bodyPr>
          <a:lstStyle/>
          <a:p>
            <a:pPr>
              <a:lnSpc>
                <a:spcPct val="90000"/>
              </a:lnSpc>
            </a:pPr>
            <a:r>
              <a:rPr lang="fr-CA" altLang="fr-FR" dirty="0"/>
              <a:t>Dette – clauses restrictives</a:t>
            </a:r>
          </a:p>
          <a:p>
            <a:pPr lvl="1"/>
            <a:r>
              <a:rPr lang="fr-CA" altLang="fr-FR" dirty="0"/>
              <a:t>Ratio d’endettement maximal</a:t>
            </a:r>
          </a:p>
          <a:p>
            <a:pPr>
              <a:lnSpc>
                <a:spcPct val="90000"/>
              </a:lnSpc>
              <a:buFont typeface="Wingdings 3" panose="05040102010807070707" pitchFamily="18" charset="2"/>
              <a:buNone/>
            </a:pPr>
            <a:endParaRPr lang="fr-CA" altLang="fr-FR" dirty="0"/>
          </a:p>
          <a:p>
            <a:pPr>
              <a:lnSpc>
                <a:spcPct val="90000"/>
              </a:lnSpc>
            </a:pPr>
            <a:r>
              <a:rPr lang="fr-CA" altLang="fr-FR" dirty="0"/>
              <a:t>Retour sur actif</a:t>
            </a:r>
          </a:p>
          <a:p>
            <a:pPr>
              <a:lnSpc>
                <a:spcPct val="90000"/>
              </a:lnSpc>
              <a:buFont typeface="Wingdings 3" panose="05040102010807070707" pitchFamily="18" charset="2"/>
              <a:buNone/>
            </a:pPr>
            <a:endParaRPr lang="fr-CA" altLang="fr-FR" dirty="0"/>
          </a:p>
          <a:p>
            <a:pPr>
              <a:lnSpc>
                <a:spcPct val="90000"/>
              </a:lnSpc>
            </a:pPr>
            <a:endParaRPr lang="en-US" altLang="fr-FR" dirty="0"/>
          </a:p>
        </p:txBody>
      </p:sp>
      <p:sp>
        <p:nvSpPr>
          <p:cNvPr id="63490" name="Rectangle 2"/>
          <p:cNvSpPr>
            <a:spLocks noGrp="1" noChangeArrowheads="1"/>
          </p:cNvSpPr>
          <p:nvPr>
            <p:ph type="title"/>
          </p:nvPr>
        </p:nvSpPr>
        <p:spPr/>
        <p:txBody>
          <a:bodyPr/>
          <a:lstStyle/>
          <a:p>
            <a:r>
              <a:rPr lang="en-US" altLang="fr-FR"/>
              <a:t>Impact sur les ratios</a:t>
            </a:r>
          </a:p>
        </p:txBody>
      </p:sp>
      <p:sp>
        <p:nvSpPr>
          <p:cNvPr id="2" name="Slide Number Placeholder 1"/>
          <p:cNvSpPr>
            <a:spLocks noGrp="1"/>
          </p:cNvSpPr>
          <p:nvPr>
            <p:ph type="sldNum" sz="quarter" idx="12"/>
          </p:nvPr>
        </p:nvSpPr>
        <p:spPr/>
        <p:txBody>
          <a:bodyPr/>
          <a:lstStyle>
            <a:lvl1pPr>
              <a:defRPr>
                <a:solidFill>
                  <a:schemeClr val="tx1"/>
                </a:solidFill>
                <a:latin typeface="Calibri" panose="020F0502020204030204" pitchFamily="34" charset="0"/>
                <a:ea typeface="MS PGothic" panose="020B0600070205080204" pitchFamily="34" charset="-128"/>
              </a:defRPr>
            </a:lvl1pPr>
            <a:lvl2pPr marL="742950" indent="-285750">
              <a:defRPr>
                <a:solidFill>
                  <a:schemeClr val="tx1"/>
                </a:solidFill>
                <a:latin typeface="Calibri" panose="020F0502020204030204" pitchFamily="34" charset="0"/>
                <a:ea typeface="MS PGothic" panose="020B0600070205080204" pitchFamily="34" charset="-128"/>
              </a:defRPr>
            </a:lvl2pPr>
            <a:lvl3pPr marL="1143000" indent="-228600">
              <a:defRPr>
                <a:solidFill>
                  <a:schemeClr val="tx1"/>
                </a:solidFill>
                <a:latin typeface="Calibri" panose="020F0502020204030204" pitchFamily="34" charset="0"/>
                <a:ea typeface="MS PGothic" panose="020B0600070205080204" pitchFamily="34" charset="-128"/>
              </a:defRPr>
            </a:lvl3pPr>
            <a:lvl4pPr marL="1600200" indent="-228600">
              <a:defRPr>
                <a:solidFill>
                  <a:schemeClr val="tx1"/>
                </a:solidFill>
                <a:latin typeface="Calibri" panose="020F0502020204030204" pitchFamily="34" charset="0"/>
                <a:ea typeface="MS PGothic" panose="020B0600070205080204" pitchFamily="34" charset="-128"/>
              </a:defRPr>
            </a:lvl4pPr>
            <a:lvl5pPr marL="2057400" indent="-228600">
              <a:defRPr>
                <a:solidFill>
                  <a:schemeClr val="tx1"/>
                </a:solidFill>
                <a:latin typeface="Calibri" panose="020F0502020204030204" pitchFamily="34" charset="0"/>
                <a:ea typeface="MS PGothic" panose="020B0600070205080204" pitchFamily="34" charset="-128"/>
              </a:defRPr>
            </a:lvl5pPr>
            <a:lvl6pPr marL="25146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6pPr>
            <a:lvl7pPr marL="29718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7pPr>
            <a:lvl8pPr marL="34290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8pPr>
            <a:lvl9pPr marL="3886200" indent="-228600" defTabSz="457200" fontAlgn="base">
              <a:spcBef>
                <a:spcPct val="0"/>
              </a:spcBef>
              <a:spcAft>
                <a:spcPct val="0"/>
              </a:spcAft>
              <a:defRPr>
                <a:solidFill>
                  <a:schemeClr val="tx1"/>
                </a:solidFill>
                <a:latin typeface="Calibri" panose="020F0502020204030204" pitchFamily="34" charset="0"/>
                <a:ea typeface="MS PGothic" panose="020B0600070205080204" pitchFamily="34" charset="-128"/>
              </a:defRPr>
            </a:lvl9pPr>
          </a:lstStyle>
          <a:p>
            <a:fld id="{19F08319-1C66-4B29-877F-FFD99EEAE223}" type="slidenum">
              <a:rPr lang="fr-FR" altLang="fr-FR">
                <a:solidFill>
                  <a:srgbClr val="898989"/>
                </a:solidFill>
              </a:rPr>
              <a:pPr/>
              <a:t>142</a:t>
            </a:fld>
            <a:endParaRPr lang="fr-FR" altLang="fr-FR">
              <a:solidFill>
                <a:srgbClr val="898989"/>
              </a:solidFill>
            </a:endParaRPr>
          </a:p>
        </p:txBody>
      </p:sp>
      <p:sp>
        <p:nvSpPr>
          <p:cNvPr id="3" name="Espace réservé du pied de page 2">
            <a:extLst>
              <a:ext uri="{FF2B5EF4-FFF2-40B4-BE49-F238E27FC236}">
                <a16:creationId xmlns:a16="http://schemas.microsoft.com/office/drawing/2014/main" id="{E2B510A3-C0FF-485E-A39A-972761452D55}"/>
              </a:ext>
            </a:extLst>
          </p:cNvPr>
          <p:cNvSpPr>
            <a:spLocks noGrp="1"/>
          </p:cNvSpPr>
          <p:nvPr>
            <p:ph type="ftr" sz="quarter" idx="11"/>
          </p:nvPr>
        </p:nvSpPr>
        <p:spPr/>
        <p:txBody>
          <a:bodyPr/>
          <a:lstStyle/>
          <a:p>
            <a:r>
              <a:rPr lang="fr-FR"/>
              <a:t>Droits réservés - Louise Overbeek</a:t>
            </a:r>
          </a:p>
        </p:txBody>
      </p:sp>
    </p:spTree>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1312</TotalTime>
  <Words>14694</Words>
  <Application>Microsoft Office PowerPoint</Application>
  <PresentationFormat>Grand écran</PresentationFormat>
  <Paragraphs>1385</Paragraphs>
  <Slides>142</Slides>
  <Notes>14</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142</vt:i4>
      </vt:variant>
    </vt:vector>
  </HeadingPairs>
  <TitlesOfParts>
    <vt:vector size="152" baseType="lpstr">
      <vt:lpstr>Arial</vt:lpstr>
      <vt:lpstr>Calibri</vt:lpstr>
      <vt:lpstr>Calibri Light</vt:lpstr>
      <vt:lpstr>Mangal</vt:lpstr>
      <vt:lpstr>Tahoma</vt:lpstr>
      <vt:lpstr>Times New Roman</vt:lpstr>
      <vt:lpstr>Univers</vt:lpstr>
      <vt:lpstr>Wingdings</vt:lpstr>
      <vt:lpstr>Wingdings 3</vt:lpstr>
      <vt:lpstr>Thème Office</vt:lpstr>
      <vt:lpstr>Contrats de location IFRS 16 </vt:lpstr>
      <vt:lpstr>Présentation PowerPoint</vt:lpstr>
      <vt:lpstr>Présentation PowerPoint</vt:lpstr>
      <vt:lpstr>IFRS 16</vt:lpstr>
      <vt:lpstr>Définitions  (IFRS 16 - Annexe A)</vt:lpstr>
      <vt:lpstr>IFRS 16 - Champ d'application</vt:lpstr>
      <vt:lpstr>Image fidèle</vt:lpstr>
      <vt:lpstr>IDENTIFICATION D’UN CONTRAT DE LOCATION Définition</vt:lpstr>
      <vt:lpstr>  </vt:lpstr>
      <vt:lpstr>Identification d'un contrat de location  IFRS 16 – Annexe B</vt:lpstr>
      <vt:lpstr>Identification d'un contrat de location - suite</vt:lpstr>
      <vt:lpstr>Bien déterminé</vt:lpstr>
      <vt:lpstr>Bien déterminé   (suite)</vt:lpstr>
      <vt:lpstr>Bien déterminé   (suite)</vt:lpstr>
      <vt:lpstr>IFRS 16 – Annexe B</vt:lpstr>
      <vt:lpstr>Droit d'obtenir les avantages économiques découlant de l'utilisation   (- flux de trésorerie ou économies de coûts)</vt:lpstr>
      <vt:lpstr>Droit d'obtenir les avantages économiques découlant de l'utilisation   - suite</vt:lpstr>
      <vt:lpstr>Droit d'obtenir les avantages économiques découlant de l'utilisation   (suite)</vt:lpstr>
      <vt:lpstr>Droit de décider de l'utilisation</vt:lpstr>
      <vt:lpstr>Droit de décider de l'utilisation - suite</vt:lpstr>
      <vt:lpstr>Droit de décider de l'utilisation – suite</vt:lpstr>
      <vt:lpstr>Droit de décider de l'utilisation - suite</vt:lpstr>
      <vt:lpstr>Droits de protection</vt:lpstr>
      <vt:lpstr>Séparation des composantes d'un contrat</vt:lpstr>
      <vt:lpstr> </vt:lpstr>
      <vt:lpstr> </vt:lpstr>
      <vt:lpstr>Séparation des composantes d'un contrat</vt:lpstr>
      <vt:lpstr>Séparation des composantes d'un contrat IFRS 16 – Annexe B</vt:lpstr>
      <vt:lpstr>Séparation des composantes d'un contrat - suite</vt:lpstr>
      <vt:lpstr>Application à un portefeuille  IFRS 16 – Annexe B</vt:lpstr>
      <vt:lpstr>Regroupement de contrats   IFRS 16 – Annexe B</vt:lpstr>
      <vt:lpstr> </vt:lpstr>
      <vt:lpstr>En résumé…</vt:lpstr>
      <vt:lpstr>DURÉE DU CONTRAT DE LOCATION</vt:lpstr>
      <vt:lpstr>  </vt:lpstr>
      <vt:lpstr>  </vt:lpstr>
      <vt:lpstr>Durée du contrat de location   IFRS 16 – Annexe B</vt:lpstr>
      <vt:lpstr>Durée du contrat de location - suite</vt:lpstr>
      <vt:lpstr>Durée du contrat de location - suite</vt:lpstr>
      <vt:lpstr>Durée du contrat de location - suite</vt:lpstr>
      <vt:lpstr>Durée du contrat de location - suite</vt:lpstr>
      <vt:lpstr>Durée du contrat de location -  suite</vt:lpstr>
      <vt:lpstr>Durée du contrat de location - suite</vt:lpstr>
      <vt:lpstr>PRENEUR </vt:lpstr>
      <vt:lpstr>Preneur - image fidèle</vt:lpstr>
      <vt:lpstr>EXEMPTIONS RELATIVES À LA COMPTABILISATION</vt:lpstr>
      <vt:lpstr>Preneur – comptabilisation initiale ÉVALUATION ET COMPTABILISATION DE L’ACTIF AU TITRE DU DROIT D’UTILISATION</vt:lpstr>
      <vt:lpstr>Définitions</vt:lpstr>
      <vt:lpstr>Preneur – comptabilisation initiale ÉVALUATION ET COMPTABILISATION DE L’OBLIGATION LOCATIVE</vt:lpstr>
      <vt:lpstr>Définition</vt:lpstr>
      <vt:lpstr>Preneur – séparation des composantes d’un contrat</vt:lpstr>
      <vt:lpstr>Preneur</vt:lpstr>
      <vt:lpstr>Période d’amortissement du droit d’utilisation</vt:lpstr>
      <vt:lpstr>Preneur – évaluation ultérieure</vt:lpstr>
      <vt:lpstr>Preneur – évaluation ultérieure</vt:lpstr>
      <vt:lpstr>Nouvelle appréciation de l’obligation locative</vt:lpstr>
      <vt:lpstr>Preneur – présentation</vt:lpstr>
      <vt:lpstr>Exercice 1 </vt:lpstr>
      <vt:lpstr>Exercice 2 </vt:lpstr>
      <vt:lpstr>Exercice 2 </vt:lpstr>
      <vt:lpstr>Exercice 3 </vt:lpstr>
      <vt:lpstr>Exercice 3 </vt:lpstr>
      <vt:lpstr>Mathématiques financières</vt:lpstr>
      <vt:lpstr>Mathématiques financières</vt:lpstr>
      <vt:lpstr>Preneur - Écritures</vt:lpstr>
      <vt:lpstr>Preneur - Écritures</vt:lpstr>
      <vt:lpstr>Exercice – préparer les écritures</vt:lpstr>
      <vt:lpstr> </vt:lpstr>
      <vt:lpstr> </vt:lpstr>
      <vt:lpstr>    </vt:lpstr>
      <vt:lpstr>Exercice 2 – préparer les écritures</vt:lpstr>
      <vt:lpstr>Présentation PowerPoint</vt:lpstr>
      <vt:lpstr> </vt:lpstr>
      <vt:lpstr> </vt:lpstr>
      <vt:lpstr>    </vt:lpstr>
      <vt:lpstr>Exercice 3 – préparer les écritures</vt:lpstr>
      <vt:lpstr>Présentation PowerPoint</vt:lpstr>
      <vt:lpstr> </vt:lpstr>
      <vt:lpstr> </vt:lpstr>
      <vt:lpstr>    </vt:lpstr>
      <vt:lpstr>Modification contrat location</vt:lpstr>
      <vt:lpstr>Modification contrat location</vt:lpstr>
      <vt:lpstr>Modification contrat location</vt:lpstr>
      <vt:lpstr>Modification contrat location</vt:lpstr>
      <vt:lpstr>Modification contrat location</vt:lpstr>
      <vt:lpstr>BAILLEUR</vt:lpstr>
      <vt:lpstr>Bailleur</vt:lpstr>
      <vt:lpstr>IFRS 16 - Bailleur</vt:lpstr>
      <vt:lpstr>Bailleur – transfert des risques et avantages</vt:lpstr>
      <vt:lpstr>Bailleur – transfert des risques et avantages</vt:lpstr>
      <vt:lpstr>Bailleur Contrats de location-financement</vt:lpstr>
      <vt:lpstr>Bailleur Contrats de location-financement qui sont fabricants ou distributeurs</vt:lpstr>
      <vt:lpstr>Bailleur Contrats de location-financement qui sont fabricants ou distributeurs</vt:lpstr>
      <vt:lpstr>Bailleur Contrats de location-financement qui sont fabricants ou distributeurs  </vt:lpstr>
      <vt:lpstr>Bailleur - Coûts directs initiaux</vt:lpstr>
      <vt:lpstr>Bailleur Contrats de location-financement</vt:lpstr>
      <vt:lpstr>Contrat de location simple</vt:lpstr>
      <vt:lpstr>Définitions</vt:lpstr>
      <vt:lpstr>Définitions</vt:lpstr>
      <vt:lpstr>Paiements de loyers</vt:lpstr>
      <vt:lpstr>Paiements de loyers</vt:lpstr>
      <vt:lpstr>Bailleur : location-financement  Écritures</vt:lpstr>
      <vt:lpstr>Bailleur : location-financement  Écritures</vt:lpstr>
      <vt:lpstr>Bailleur : location-financement  Écritures</vt:lpstr>
      <vt:lpstr>Bailleur : location-financement  Écritures</vt:lpstr>
      <vt:lpstr>Bailleur : location-financement  Présentation aux états financiers</vt:lpstr>
      <vt:lpstr>Bailleur : location simple Écritures</vt:lpstr>
      <vt:lpstr>Exercice - bailleur</vt:lpstr>
      <vt:lpstr>   </vt:lpstr>
      <vt:lpstr> </vt:lpstr>
      <vt:lpstr>Bailleur : location-financement  Écritures</vt:lpstr>
      <vt:lpstr>Bailleur : location-financement  Écritures</vt:lpstr>
      <vt:lpstr>Bailleur : location-financement  Écritures</vt:lpstr>
      <vt:lpstr>Bailleur : location-financement  Écritures</vt:lpstr>
      <vt:lpstr>Bailleur : location-financement  Écritures</vt:lpstr>
      <vt:lpstr>Exercice – bailleur Écritures – valeur résiduelle non garantie</vt:lpstr>
      <vt:lpstr>   </vt:lpstr>
      <vt:lpstr>Bailleur : location-financement  Écritures – valeur résiduelle non garantie</vt:lpstr>
      <vt:lpstr>Bailleur : location-financement  Écritures</vt:lpstr>
      <vt:lpstr>Bailleur : location-financement  Écritures</vt:lpstr>
      <vt:lpstr>Bailleur : location-financement  Écritures</vt:lpstr>
      <vt:lpstr>Bailleur : location-financement  Écritures</vt:lpstr>
      <vt:lpstr>Exercice Écritures – par un fabricant ou un distributeur</vt:lpstr>
      <vt:lpstr>  </vt:lpstr>
      <vt:lpstr>Bailleur : location-financement  Écritures – par un fabricant ou un distributeur</vt:lpstr>
      <vt:lpstr>Bailleur : location-financement  Écritures</vt:lpstr>
      <vt:lpstr>Bailleur : location-financement  Écritures</vt:lpstr>
      <vt:lpstr>Bailleur : location-financement  Écritures</vt:lpstr>
      <vt:lpstr>Bailleur : location-financement  Écritures</vt:lpstr>
      <vt:lpstr>Exercice Location simple</vt:lpstr>
      <vt:lpstr>  </vt:lpstr>
      <vt:lpstr>Pertes de crédit attendues sur les créances locatives</vt:lpstr>
      <vt:lpstr>Points particuliers : cession-bail </vt:lpstr>
      <vt:lpstr>Cession-bail – traitement comptable</vt:lpstr>
      <vt:lpstr>Cession-bail – traitement comptable </vt:lpstr>
      <vt:lpstr>La cession du bien constitue une vente (partielle)</vt:lpstr>
      <vt:lpstr>Cession-bail – traitement comptable </vt:lpstr>
      <vt:lpstr>Cession-bail – traitement comptable</vt:lpstr>
      <vt:lpstr>Points particuliers :  location de terrains et de constructions </vt:lpstr>
      <vt:lpstr>Location ou achat?</vt:lpstr>
      <vt:lpstr>Location ou achat?</vt:lpstr>
      <vt:lpstr>Impact sur les ratios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SCO5240 Contrats de location séance 1 : preneur version bonifiée</dc:title>
  <dc:creator>louise overbeek</dc:creator>
  <cp:lastModifiedBy>SOKRI Marzouk</cp:lastModifiedBy>
  <cp:revision>32</cp:revision>
  <dcterms:created xsi:type="dcterms:W3CDTF">2021-01-18T16:35:35Z</dcterms:created>
  <dcterms:modified xsi:type="dcterms:W3CDTF">2025-04-07T16:10:39Z</dcterms:modified>
</cp:coreProperties>
</file>