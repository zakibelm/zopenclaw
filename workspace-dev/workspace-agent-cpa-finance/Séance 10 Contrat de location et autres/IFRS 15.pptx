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bookmarkIdSeed="2">
  <p:sldMasterIdLst>
    <p:sldMasterId id="2147483672" r:id="rId1"/>
  </p:sldMasterIdLst>
  <p:notesMasterIdLst>
    <p:notesMasterId r:id="rId71"/>
  </p:notesMasterIdLst>
  <p:handoutMasterIdLst>
    <p:handoutMasterId r:id="rId72"/>
  </p:handoutMasterIdLst>
  <p:sldIdLst>
    <p:sldId id="256" r:id="rId2"/>
    <p:sldId id="1069" r:id="rId3"/>
    <p:sldId id="1067" r:id="rId4"/>
    <p:sldId id="1070" r:id="rId5"/>
    <p:sldId id="1084" r:id="rId6"/>
    <p:sldId id="1072" r:id="rId7"/>
    <p:sldId id="1073" r:id="rId8"/>
    <p:sldId id="1113" r:id="rId9"/>
    <p:sldId id="1100" r:id="rId10"/>
    <p:sldId id="1114" r:id="rId11"/>
    <p:sldId id="1085" r:id="rId12"/>
    <p:sldId id="1075" r:id="rId13"/>
    <p:sldId id="1076" r:id="rId14"/>
    <p:sldId id="1080" r:id="rId15"/>
    <p:sldId id="1115" r:id="rId16"/>
    <p:sldId id="1116" r:id="rId17"/>
    <p:sldId id="1101" r:id="rId18"/>
    <p:sldId id="1117" r:id="rId19"/>
    <p:sldId id="1118" r:id="rId20"/>
    <p:sldId id="1119" r:id="rId21"/>
    <p:sldId id="1086" r:id="rId22"/>
    <p:sldId id="1081" r:id="rId23"/>
    <p:sldId id="1082" r:id="rId24"/>
    <p:sldId id="1087" r:id="rId25"/>
    <p:sldId id="1083" r:id="rId26"/>
    <p:sldId id="1103" r:id="rId27"/>
    <p:sldId id="1123" r:id="rId28"/>
    <p:sldId id="1120" r:id="rId29"/>
    <p:sldId id="1124" r:id="rId30"/>
    <p:sldId id="1125" r:id="rId31"/>
    <p:sldId id="1122" r:id="rId32"/>
    <p:sldId id="1127" r:id="rId33"/>
    <p:sldId id="1126" r:id="rId34"/>
    <p:sldId id="1088" r:id="rId35"/>
    <p:sldId id="1089" r:id="rId36"/>
    <p:sldId id="1090" r:id="rId37"/>
    <p:sldId id="1092" r:id="rId38"/>
    <p:sldId id="1105" r:id="rId39"/>
    <p:sldId id="1128" r:id="rId40"/>
    <p:sldId id="1091" r:id="rId41"/>
    <p:sldId id="1129" r:id="rId42"/>
    <p:sldId id="1130" r:id="rId43"/>
    <p:sldId id="1131" r:id="rId44"/>
    <p:sldId id="1132" r:id="rId45"/>
    <p:sldId id="1144" r:id="rId46"/>
    <p:sldId id="1093" r:id="rId47"/>
    <p:sldId id="1094" r:id="rId48"/>
    <p:sldId id="1095" r:id="rId49"/>
    <p:sldId id="1133" r:id="rId50"/>
    <p:sldId id="1134" r:id="rId51"/>
    <p:sldId id="1096" r:id="rId52"/>
    <p:sldId id="279" r:id="rId53"/>
    <p:sldId id="1135" r:id="rId54"/>
    <p:sldId id="1136" r:id="rId55"/>
    <p:sldId id="280" r:id="rId56"/>
    <p:sldId id="281" r:id="rId57"/>
    <p:sldId id="1137" r:id="rId58"/>
    <p:sldId id="1139" r:id="rId59"/>
    <p:sldId id="1145" r:id="rId60"/>
    <p:sldId id="1097" r:id="rId61"/>
    <p:sldId id="1098" r:id="rId62"/>
    <p:sldId id="1099" r:id="rId63"/>
    <p:sldId id="1108" r:id="rId64"/>
    <p:sldId id="1140" r:id="rId65"/>
    <p:sldId id="1141" r:id="rId66"/>
    <p:sldId id="1142" r:id="rId67"/>
    <p:sldId id="1143" r:id="rId68"/>
    <p:sldId id="282" r:id="rId69"/>
    <p:sldId id="1109" r:id="rId70"/>
  </p:sldIdLst>
  <p:sldSz cx="9144000" cy="6858000" type="screen4x3"/>
  <p:notesSz cx="7010400" cy="9296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Eric Nadeau" initials="EN" lastIdx="5" clrIdx="0">
    <p:extLst>
      <p:ext uri="{19B8F6BF-5375-455C-9EA6-DF929625EA0E}">
        <p15:presenceInfo xmlns:p15="http://schemas.microsoft.com/office/powerpoint/2012/main" userId="S-1-5-21-82456952-1630626501-1777090905-135356" providerId="AD"/>
      </p:ext>
    </p:extLst>
  </p:cmAuthor>
  <p:cmAuthor id="2" name="Léa Dugal" initials="LD" lastIdx="3" clrIdx="1">
    <p:extLst>
      <p:ext uri="{19B8F6BF-5375-455C-9EA6-DF929625EA0E}">
        <p15:presenceInfo xmlns:p15="http://schemas.microsoft.com/office/powerpoint/2012/main" userId="06a34f596a04b79f"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567" autoAdjust="0"/>
    <p:restoredTop sz="64900" autoAdjust="0"/>
  </p:normalViewPr>
  <p:slideViewPr>
    <p:cSldViewPr snapToGrid="0">
      <p:cViewPr varScale="1">
        <p:scale>
          <a:sx n="70" d="100"/>
          <a:sy n="70" d="100"/>
        </p:scale>
        <p:origin x="2994"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handoutMaster" Target="handoutMasters/handout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notesMaster" Target="notesMasters/notesMaster1.xml"/><Relationship Id="rId2" Type="http://schemas.openxmlformats.org/officeDocument/2006/relationships/slide" Target="slides/slide1.xml"/><Relationship Id="rId29" Type="http://schemas.openxmlformats.org/officeDocument/2006/relationships/slide" Target="slides/slide28.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A574B2F-321D-432A-9F25-3C540A9F52C8}" type="doc">
      <dgm:prSet loTypeId="urn:microsoft.com/office/officeart/2005/8/layout/radial4" loCatId="relationship" qsTypeId="urn:microsoft.com/office/officeart/2005/8/quickstyle/simple1" qsCatId="simple" csTypeId="urn:microsoft.com/office/officeart/2005/8/colors/accent1_2" csCatId="accent1" phldr="1"/>
      <dgm:spPr/>
      <dgm:t>
        <a:bodyPr/>
        <a:lstStyle/>
        <a:p>
          <a:endParaRPr lang="en-CA"/>
        </a:p>
      </dgm:t>
    </dgm:pt>
    <dgm:pt modelId="{2C4B5270-3E72-4B9F-982B-7795434DA34B}">
      <dgm:prSet phldrT="[Text]"/>
      <dgm:spPr>
        <a:ln>
          <a:noFill/>
        </a:ln>
      </dgm:spPr>
      <dgm:t>
        <a:bodyPr/>
        <a:lstStyle/>
        <a:p>
          <a:r>
            <a:rPr lang="en-CA" b="1" dirty="0" err="1">
              <a:latin typeface="+mj-lt"/>
            </a:rPr>
            <a:t>Contrat</a:t>
          </a:r>
          <a:endParaRPr lang="en-CA" b="1" dirty="0">
            <a:latin typeface="+mj-lt"/>
          </a:endParaRPr>
        </a:p>
      </dgm:t>
    </dgm:pt>
    <dgm:pt modelId="{7487E204-759F-4D9B-8EE4-F25EDDEEC74B}" type="parTrans" cxnId="{9CFAD926-F6D5-4ED2-82C7-3EF2DF8F25F5}">
      <dgm:prSet/>
      <dgm:spPr/>
      <dgm:t>
        <a:bodyPr/>
        <a:lstStyle/>
        <a:p>
          <a:endParaRPr lang="en-CA"/>
        </a:p>
      </dgm:t>
    </dgm:pt>
    <dgm:pt modelId="{0905534F-5200-4A75-A33C-0CBB2914EE6B}" type="sibTrans" cxnId="{9CFAD926-F6D5-4ED2-82C7-3EF2DF8F25F5}">
      <dgm:prSet/>
      <dgm:spPr/>
      <dgm:t>
        <a:bodyPr/>
        <a:lstStyle/>
        <a:p>
          <a:endParaRPr lang="en-CA"/>
        </a:p>
      </dgm:t>
    </dgm:pt>
    <dgm:pt modelId="{278319AA-E999-4E94-A31C-F8340EF00D97}">
      <dgm:prSet phldrT="[Text]"/>
      <dgm:spPr>
        <a:solidFill>
          <a:schemeClr val="accent2"/>
        </a:solidFill>
        <a:ln>
          <a:noFill/>
        </a:ln>
      </dgm:spPr>
      <dgm:t>
        <a:bodyPr/>
        <a:lstStyle/>
        <a:p>
          <a:r>
            <a:rPr lang="fr-CA" i="0" dirty="0"/>
            <a:t>Approbation verbale, écrite ou autres </a:t>
          </a:r>
          <a:endParaRPr lang="en-CA" i="0" dirty="0">
            <a:latin typeface="+mj-lt"/>
          </a:endParaRPr>
        </a:p>
      </dgm:t>
    </dgm:pt>
    <dgm:pt modelId="{266B5165-02F0-4AD6-B557-EA85CE675E83}" type="parTrans" cxnId="{31864440-646F-4478-88F5-49C35A28BD0C}">
      <dgm:prSet/>
      <dgm:spPr/>
      <dgm:t>
        <a:bodyPr/>
        <a:lstStyle/>
        <a:p>
          <a:endParaRPr lang="en-CA"/>
        </a:p>
      </dgm:t>
    </dgm:pt>
    <dgm:pt modelId="{4BBF3D09-4EDA-4D56-9096-73779592795B}" type="sibTrans" cxnId="{31864440-646F-4478-88F5-49C35A28BD0C}">
      <dgm:prSet/>
      <dgm:spPr/>
      <dgm:t>
        <a:bodyPr/>
        <a:lstStyle/>
        <a:p>
          <a:endParaRPr lang="en-CA"/>
        </a:p>
      </dgm:t>
    </dgm:pt>
    <dgm:pt modelId="{C95282C4-0FBB-4E97-8260-391CAFA78611}">
      <dgm:prSet phldrT="[Text]"/>
      <dgm:spPr>
        <a:solidFill>
          <a:schemeClr val="accent3"/>
        </a:solidFill>
        <a:ln>
          <a:noFill/>
        </a:ln>
      </dgm:spPr>
      <dgm:t>
        <a:bodyPr/>
        <a:lstStyle/>
        <a:p>
          <a:r>
            <a:rPr lang="fr-CA" i="0" dirty="0"/>
            <a:t>Identification des droits de chaque partie</a:t>
          </a:r>
          <a:endParaRPr lang="en-CA" i="0" dirty="0">
            <a:latin typeface="+mj-lt"/>
          </a:endParaRPr>
        </a:p>
      </dgm:t>
    </dgm:pt>
    <dgm:pt modelId="{3B416DB7-8077-4ABD-9A6B-DD7CC95C5A5F}" type="parTrans" cxnId="{103BFB37-A037-4377-AFDA-709E0F912E32}">
      <dgm:prSet/>
      <dgm:spPr/>
      <dgm:t>
        <a:bodyPr/>
        <a:lstStyle/>
        <a:p>
          <a:endParaRPr lang="en-CA"/>
        </a:p>
      </dgm:t>
    </dgm:pt>
    <dgm:pt modelId="{DA15EA6A-A677-4C26-A372-77B77A2F8FA8}" type="sibTrans" cxnId="{103BFB37-A037-4377-AFDA-709E0F912E32}">
      <dgm:prSet/>
      <dgm:spPr/>
      <dgm:t>
        <a:bodyPr/>
        <a:lstStyle/>
        <a:p>
          <a:endParaRPr lang="en-CA"/>
        </a:p>
      </dgm:t>
    </dgm:pt>
    <dgm:pt modelId="{F18B8879-C297-4938-8F95-BF221025D197}">
      <dgm:prSet phldrT="[Text]"/>
      <dgm:spPr>
        <a:solidFill>
          <a:schemeClr val="accent4"/>
        </a:solidFill>
        <a:ln>
          <a:noFill/>
        </a:ln>
      </dgm:spPr>
      <dgm:t>
        <a:bodyPr/>
        <a:lstStyle/>
        <a:p>
          <a:r>
            <a:rPr lang="fr-CA" i="0" dirty="0"/>
            <a:t>Conditions de paiement</a:t>
          </a:r>
          <a:endParaRPr lang="en-CA" i="0" dirty="0">
            <a:latin typeface="+mj-lt"/>
          </a:endParaRPr>
        </a:p>
      </dgm:t>
    </dgm:pt>
    <dgm:pt modelId="{40913C56-8D3F-4672-A3F1-31EA738E769C}" type="parTrans" cxnId="{4ED7C5D0-69A3-4DEE-944D-D9409E69F4CD}">
      <dgm:prSet/>
      <dgm:spPr/>
      <dgm:t>
        <a:bodyPr/>
        <a:lstStyle/>
        <a:p>
          <a:endParaRPr lang="en-CA"/>
        </a:p>
      </dgm:t>
    </dgm:pt>
    <dgm:pt modelId="{7576EF1F-7031-46B6-B727-FC9E40049CCD}" type="sibTrans" cxnId="{4ED7C5D0-69A3-4DEE-944D-D9409E69F4CD}">
      <dgm:prSet/>
      <dgm:spPr/>
      <dgm:t>
        <a:bodyPr/>
        <a:lstStyle/>
        <a:p>
          <a:endParaRPr lang="en-CA"/>
        </a:p>
      </dgm:t>
    </dgm:pt>
    <dgm:pt modelId="{296E89E1-D889-45C2-811D-C94782846280}">
      <dgm:prSet phldrT="[Text]"/>
      <dgm:spPr>
        <a:solidFill>
          <a:schemeClr val="accent6"/>
        </a:solidFill>
        <a:ln>
          <a:noFill/>
        </a:ln>
      </dgm:spPr>
      <dgm:t>
        <a:bodyPr/>
        <a:lstStyle/>
        <a:p>
          <a:r>
            <a:rPr lang="fr-CA" i="0" dirty="0"/>
            <a:t>Recouvrement probable</a:t>
          </a:r>
          <a:endParaRPr lang="en-CA" i="0" dirty="0">
            <a:latin typeface="+mj-lt"/>
          </a:endParaRPr>
        </a:p>
      </dgm:t>
    </dgm:pt>
    <dgm:pt modelId="{4F6CE40B-6AD5-4EE0-85F9-05A2F06D4036}" type="parTrans" cxnId="{7994160E-DAC1-494E-888A-377054340321}">
      <dgm:prSet/>
      <dgm:spPr/>
      <dgm:t>
        <a:bodyPr/>
        <a:lstStyle/>
        <a:p>
          <a:endParaRPr lang="en-CA"/>
        </a:p>
      </dgm:t>
    </dgm:pt>
    <dgm:pt modelId="{05617AED-7D68-4290-8E7F-01BC375290DD}" type="sibTrans" cxnId="{7994160E-DAC1-494E-888A-377054340321}">
      <dgm:prSet/>
      <dgm:spPr/>
      <dgm:t>
        <a:bodyPr/>
        <a:lstStyle/>
        <a:p>
          <a:endParaRPr lang="en-CA"/>
        </a:p>
      </dgm:t>
    </dgm:pt>
    <dgm:pt modelId="{C6F0D279-D8CF-4CFB-B330-F47DEC549441}">
      <dgm:prSet phldrT="[Text]"/>
      <dgm:spPr>
        <a:solidFill>
          <a:schemeClr val="accent4"/>
        </a:solidFill>
        <a:ln>
          <a:noFill/>
        </a:ln>
      </dgm:spPr>
      <dgm:t>
        <a:bodyPr/>
        <a:lstStyle/>
        <a:p>
          <a:r>
            <a:rPr lang="fr-CA" i="0"/>
            <a:t>Substance commerciale </a:t>
          </a:r>
          <a:endParaRPr lang="en-CA" i="0" dirty="0">
            <a:latin typeface="+mj-lt"/>
          </a:endParaRPr>
        </a:p>
      </dgm:t>
    </dgm:pt>
    <dgm:pt modelId="{D69CF4E9-91F8-4C5F-B3A0-AC1F2E1557B9}" type="parTrans" cxnId="{ECC1378B-AB41-40F5-A9B5-A7676A503213}">
      <dgm:prSet/>
      <dgm:spPr/>
      <dgm:t>
        <a:bodyPr/>
        <a:lstStyle/>
        <a:p>
          <a:endParaRPr lang="fr-CA"/>
        </a:p>
      </dgm:t>
    </dgm:pt>
    <dgm:pt modelId="{CC6DA504-D27C-43F6-B9F3-332C44EAD2BC}" type="sibTrans" cxnId="{ECC1378B-AB41-40F5-A9B5-A7676A503213}">
      <dgm:prSet/>
      <dgm:spPr/>
      <dgm:t>
        <a:bodyPr/>
        <a:lstStyle/>
        <a:p>
          <a:endParaRPr lang="fr-CA"/>
        </a:p>
      </dgm:t>
    </dgm:pt>
    <dgm:pt modelId="{833B0AAF-18A0-41A3-BEFC-14F6B4B67979}" type="pres">
      <dgm:prSet presAssocID="{EA574B2F-321D-432A-9F25-3C540A9F52C8}" presName="cycle" presStyleCnt="0">
        <dgm:presLayoutVars>
          <dgm:chMax val="1"/>
          <dgm:dir/>
          <dgm:animLvl val="ctr"/>
          <dgm:resizeHandles val="exact"/>
        </dgm:presLayoutVars>
      </dgm:prSet>
      <dgm:spPr/>
    </dgm:pt>
    <dgm:pt modelId="{B676C117-7DE1-4FDA-8242-DA0ACE700559}" type="pres">
      <dgm:prSet presAssocID="{2C4B5270-3E72-4B9F-982B-7795434DA34B}" presName="centerShape" presStyleLbl="node0" presStyleIdx="0" presStyleCnt="1" custScaleX="118775"/>
      <dgm:spPr/>
    </dgm:pt>
    <dgm:pt modelId="{16A7E1CC-51BD-47B5-9E1B-80D3EDB54C75}" type="pres">
      <dgm:prSet presAssocID="{266B5165-02F0-4AD6-B557-EA85CE675E83}" presName="parTrans" presStyleLbl="bgSibTrans2D1" presStyleIdx="0" presStyleCnt="5"/>
      <dgm:spPr/>
    </dgm:pt>
    <dgm:pt modelId="{1636D0E2-ED81-4CB9-A4DC-11BA9B921E52}" type="pres">
      <dgm:prSet presAssocID="{278319AA-E999-4E94-A31C-F8340EF00D97}" presName="node" presStyleLbl="node1" presStyleIdx="0" presStyleCnt="5">
        <dgm:presLayoutVars>
          <dgm:bulletEnabled val="1"/>
        </dgm:presLayoutVars>
      </dgm:prSet>
      <dgm:spPr/>
    </dgm:pt>
    <dgm:pt modelId="{4C4AD5BE-0B4A-4DA9-AD57-E7717D7F5663}" type="pres">
      <dgm:prSet presAssocID="{3B416DB7-8077-4ABD-9A6B-DD7CC95C5A5F}" presName="parTrans" presStyleLbl="bgSibTrans2D1" presStyleIdx="1" presStyleCnt="5"/>
      <dgm:spPr/>
    </dgm:pt>
    <dgm:pt modelId="{8407EC8E-B503-45C0-9401-AC60EE98929B}" type="pres">
      <dgm:prSet presAssocID="{C95282C4-0FBB-4E97-8260-391CAFA78611}" presName="node" presStyleLbl="node1" presStyleIdx="1" presStyleCnt="5">
        <dgm:presLayoutVars>
          <dgm:bulletEnabled val="1"/>
        </dgm:presLayoutVars>
      </dgm:prSet>
      <dgm:spPr/>
    </dgm:pt>
    <dgm:pt modelId="{38CA2DFE-5176-40CE-94F4-D540F1328547}" type="pres">
      <dgm:prSet presAssocID="{40913C56-8D3F-4672-A3F1-31EA738E769C}" presName="parTrans" presStyleLbl="bgSibTrans2D1" presStyleIdx="2" presStyleCnt="5"/>
      <dgm:spPr/>
    </dgm:pt>
    <dgm:pt modelId="{EE51F55B-20A3-43C4-9CB3-CE5523B0E9FD}" type="pres">
      <dgm:prSet presAssocID="{F18B8879-C297-4938-8F95-BF221025D197}" presName="node" presStyleLbl="node1" presStyleIdx="2" presStyleCnt="5">
        <dgm:presLayoutVars>
          <dgm:bulletEnabled val="1"/>
        </dgm:presLayoutVars>
      </dgm:prSet>
      <dgm:spPr/>
    </dgm:pt>
    <dgm:pt modelId="{2B7AAB73-704A-478D-8E4D-F82C905C2138}" type="pres">
      <dgm:prSet presAssocID="{D69CF4E9-91F8-4C5F-B3A0-AC1F2E1557B9}" presName="parTrans" presStyleLbl="bgSibTrans2D1" presStyleIdx="3" presStyleCnt="5"/>
      <dgm:spPr/>
    </dgm:pt>
    <dgm:pt modelId="{1CD0EEDF-7190-4930-A2D8-6EC6EDCAE498}" type="pres">
      <dgm:prSet presAssocID="{C6F0D279-D8CF-4CFB-B330-F47DEC549441}" presName="node" presStyleLbl="node1" presStyleIdx="3" presStyleCnt="5">
        <dgm:presLayoutVars>
          <dgm:bulletEnabled val="1"/>
        </dgm:presLayoutVars>
      </dgm:prSet>
      <dgm:spPr/>
    </dgm:pt>
    <dgm:pt modelId="{24D55935-AE95-4EF5-8FA7-83C3EF689763}" type="pres">
      <dgm:prSet presAssocID="{4F6CE40B-6AD5-4EE0-85F9-05A2F06D4036}" presName="parTrans" presStyleLbl="bgSibTrans2D1" presStyleIdx="4" presStyleCnt="5"/>
      <dgm:spPr/>
    </dgm:pt>
    <dgm:pt modelId="{E1EA0857-C9DC-49A6-92A2-524BF6BB6B2C}" type="pres">
      <dgm:prSet presAssocID="{296E89E1-D889-45C2-811D-C94782846280}" presName="node" presStyleLbl="node1" presStyleIdx="4" presStyleCnt="5">
        <dgm:presLayoutVars>
          <dgm:bulletEnabled val="1"/>
        </dgm:presLayoutVars>
      </dgm:prSet>
      <dgm:spPr/>
    </dgm:pt>
  </dgm:ptLst>
  <dgm:cxnLst>
    <dgm:cxn modelId="{06B55601-DA13-4061-843B-3777526CB35A}" type="presOf" srcId="{40913C56-8D3F-4672-A3F1-31EA738E769C}" destId="{38CA2DFE-5176-40CE-94F4-D540F1328547}" srcOrd="0" destOrd="0" presId="urn:microsoft.com/office/officeart/2005/8/layout/radial4"/>
    <dgm:cxn modelId="{7994160E-DAC1-494E-888A-377054340321}" srcId="{2C4B5270-3E72-4B9F-982B-7795434DA34B}" destId="{296E89E1-D889-45C2-811D-C94782846280}" srcOrd="4" destOrd="0" parTransId="{4F6CE40B-6AD5-4EE0-85F9-05A2F06D4036}" sibTransId="{05617AED-7D68-4290-8E7F-01BC375290DD}"/>
    <dgm:cxn modelId="{76974A14-70D7-4968-81B4-0F6E5D6DDA79}" type="presOf" srcId="{C95282C4-0FBB-4E97-8260-391CAFA78611}" destId="{8407EC8E-B503-45C0-9401-AC60EE98929B}" srcOrd="0" destOrd="0" presId="urn:microsoft.com/office/officeart/2005/8/layout/radial4"/>
    <dgm:cxn modelId="{0FA61720-E194-4465-B686-414F8B5471F6}" type="presOf" srcId="{F18B8879-C297-4938-8F95-BF221025D197}" destId="{EE51F55B-20A3-43C4-9CB3-CE5523B0E9FD}" srcOrd="0" destOrd="0" presId="urn:microsoft.com/office/officeart/2005/8/layout/radial4"/>
    <dgm:cxn modelId="{9CFAD926-F6D5-4ED2-82C7-3EF2DF8F25F5}" srcId="{EA574B2F-321D-432A-9F25-3C540A9F52C8}" destId="{2C4B5270-3E72-4B9F-982B-7795434DA34B}" srcOrd="0" destOrd="0" parTransId="{7487E204-759F-4D9B-8EE4-F25EDDEEC74B}" sibTransId="{0905534F-5200-4A75-A33C-0CBB2914EE6B}"/>
    <dgm:cxn modelId="{8E7C2F27-987F-4B49-AD0D-C0503A8CC5E6}" type="presOf" srcId="{266B5165-02F0-4AD6-B557-EA85CE675E83}" destId="{16A7E1CC-51BD-47B5-9E1B-80D3EDB54C75}" srcOrd="0" destOrd="0" presId="urn:microsoft.com/office/officeart/2005/8/layout/radial4"/>
    <dgm:cxn modelId="{7F180F37-EA8D-4CC5-A753-7CCBD6526DF3}" type="presOf" srcId="{296E89E1-D889-45C2-811D-C94782846280}" destId="{E1EA0857-C9DC-49A6-92A2-524BF6BB6B2C}" srcOrd="0" destOrd="0" presId="urn:microsoft.com/office/officeart/2005/8/layout/radial4"/>
    <dgm:cxn modelId="{103BFB37-A037-4377-AFDA-709E0F912E32}" srcId="{2C4B5270-3E72-4B9F-982B-7795434DA34B}" destId="{C95282C4-0FBB-4E97-8260-391CAFA78611}" srcOrd="1" destOrd="0" parTransId="{3B416DB7-8077-4ABD-9A6B-DD7CC95C5A5F}" sibTransId="{DA15EA6A-A677-4C26-A372-77B77A2F8FA8}"/>
    <dgm:cxn modelId="{31864440-646F-4478-88F5-49C35A28BD0C}" srcId="{2C4B5270-3E72-4B9F-982B-7795434DA34B}" destId="{278319AA-E999-4E94-A31C-F8340EF00D97}" srcOrd="0" destOrd="0" parTransId="{266B5165-02F0-4AD6-B557-EA85CE675E83}" sibTransId="{4BBF3D09-4EDA-4D56-9096-73779592795B}"/>
    <dgm:cxn modelId="{19B03084-3146-4152-9D7E-7DB77F93C905}" type="presOf" srcId="{EA574B2F-321D-432A-9F25-3C540A9F52C8}" destId="{833B0AAF-18A0-41A3-BEFC-14F6B4B67979}" srcOrd="0" destOrd="0" presId="urn:microsoft.com/office/officeart/2005/8/layout/radial4"/>
    <dgm:cxn modelId="{AB25D085-0664-4A40-AE8F-CC9E9638DE6D}" type="presOf" srcId="{2C4B5270-3E72-4B9F-982B-7795434DA34B}" destId="{B676C117-7DE1-4FDA-8242-DA0ACE700559}" srcOrd="0" destOrd="0" presId="urn:microsoft.com/office/officeart/2005/8/layout/radial4"/>
    <dgm:cxn modelId="{ECC1378B-AB41-40F5-A9B5-A7676A503213}" srcId="{2C4B5270-3E72-4B9F-982B-7795434DA34B}" destId="{C6F0D279-D8CF-4CFB-B330-F47DEC549441}" srcOrd="3" destOrd="0" parTransId="{D69CF4E9-91F8-4C5F-B3A0-AC1F2E1557B9}" sibTransId="{CC6DA504-D27C-43F6-B9F3-332C44EAD2BC}"/>
    <dgm:cxn modelId="{F742BA9C-9411-4CD2-BE43-DD2BC950EF4C}" type="presOf" srcId="{C6F0D279-D8CF-4CFB-B330-F47DEC549441}" destId="{1CD0EEDF-7190-4930-A2D8-6EC6EDCAE498}" srcOrd="0" destOrd="0" presId="urn:microsoft.com/office/officeart/2005/8/layout/radial4"/>
    <dgm:cxn modelId="{91F1ACA3-234C-4AB1-8A68-346DDA179C48}" type="presOf" srcId="{D69CF4E9-91F8-4C5F-B3A0-AC1F2E1557B9}" destId="{2B7AAB73-704A-478D-8E4D-F82C905C2138}" srcOrd="0" destOrd="0" presId="urn:microsoft.com/office/officeart/2005/8/layout/radial4"/>
    <dgm:cxn modelId="{C12E92B0-0F36-4C60-BABE-3AFC93BFC060}" type="presOf" srcId="{278319AA-E999-4E94-A31C-F8340EF00D97}" destId="{1636D0E2-ED81-4CB9-A4DC-11BA9B921E52}" srcOrd="0" destOrd="0" presId="urn:microsoft.com/office/officeart/2005/8/layout/radial4"/>
    <dgm:cxn modelId="{4ED7C5D0-69A3-4DEE-944D-D9409E69F4CD}" srcId="{2C4B5270-3E72-4B9F-982B-7795434DA34B}" destId="{F18B8879-C297-4938-8F95-BF221025D197}" srcOrd="2" destOrd="0" parTransId="{40913C56-8D3F-4672-A3F1-31EA738E769C}" sibTransId="{7576EF1F-7031-46B6-B727-FC9E40049CCD}"/>
    <dgm:cxn modelId="{3C1EBAEF-8B6B-41F1-9928-C3324B04E3A8}" type="presOf" srcId="{4F6CE40B-6AD5-4EE0-85F9-05A2F06D4036}" destId="{24D55935-AE95-4EF5-8FA7-83C3EF689763}" srcOrd="0" destOrd="0" presId="urn:microsoft.com/office/officeart/2005/8/layout/radial4"/>
    <dgm:cxn modelId="{56E934F7-3BB2-4DA2-BACD-EB28DC1361CC}" type="presOf" srcId="{3B416DB7-8077-4ABD-9A6B-DD7CC95C5A5F}" destId="{4C4AD5BE-0B4A-4DA9-AD57-E7717D7F5663}" srcOrd="0" destOrd="0" presId="urn:microsoft.com/office/officeart/2005/8/layout/radial4"/>
    <dgm:cxn modelId="{584EC8EC-D6DF-466D-840B-0F41492FE063}" type="presParOf" srcId="{833B0AAF-18A0-41A3-BEFC-14F6B4B67979}" destId="{B676C117-7DE1-4FDA-8242-DA0ACE700559}" srcOrd="0" destOrd="0" presId="urn:microsoft.com/office/officeart/2005/8/layout/radial4"/>
    <dgm:cxn modelId="{5FC3207F-58F4-476E-9992-C52555DDCD8B}" type="presParOf" srcId="{833B0AAF-18A0-41A3-BEFC-14F6B4B67979}" destId="{16A7E1CC-51BD-47B5-9E1B-80D3EDB54C75}" srcOrd="1" destOrd="0" presId="urn:microsoft.com/office/officeart/2005/8/layout/radial4"/>
    <dgm:cxn modelId="{6FCD44EC-A7ED-429A-A947-0F944903C482}" type="presParOf" srcId="{833B0AAF-18A0-41A3-BEFC-14F6B4B67979}" destId="{1636D0E2-ED81-4CB9-A4DC-11BA9B921E52}" srcOrd="2" destOrd="0" presId="urn:microsoft.com/office/officeart/2005/8/layout/radial4"/>
    <dgm:cxn modelId="{F66C4D9C-7B6E-4141-9E75-EF2AE04FF43F}" type="presParOf" srcId="{833B0AAF-18A0-41A3-BEFC-14F6B4B67979}" destId="{4C4AD5BE-0B4A-4DA9-AD57-E7717D7F5663}" srcOrd="3" destOrd="0" presId="urn:microsoft.com/office/officeart/2005/8/layout/radial4"/>
    <dgm:cxn modelId="{1B66D1A7-DB92-43A9-9FB3-08F5E5A86034}" type="presParOf" srcId="{833B0AAF-18A0-41A3-BEFC-14F6B4B67979}" destId="{8407EC8E-B503-45C0-9401-AC60EE98929B}" srcOrd="4" destOrd="0" presId="urn:microsoft.com/office/officeart/2005/8/layout/radial4"/>
    <dgm:cxn modelId="{B04E9F9B-0FF9-40AC-B947-385925F399AB}" type="presParOf" srcId="{833B0AAF-18A0-41A3-BEFC-14F6B4B67979}" destId="{38CA2DFE-5176-40CE-94F4-D540F1328547}" srcOrd="5" destOrd="0" presId="urn:microsoft.com/office/officeart/2005/8/layout/radial4"/>
    <dgm:cxn modelId="{C2601AB6-2AF1-48F9-AFE4-71A732B81337}" type="presParOf" srcId="{833B0AAF-18A0-41A3-BEFC-14F6B4B67979}" destId="{EE51F55B-20A3-43C4-9CB3-CE5523B0E9FD}" srcOrd="6" destOrd="0" presId="urn:microsoft.com/office/officeart/2005/8/layout/radial4"/>
    <dgm:cxn modelId="{6C481642-DE51-4A3B-A741-9BAF859C8AEF}" type="presParOf" srcId="{833B0AAF-18A0-41A3-BEFC-14F6B4B67979}" destId="{2B7AAB73-704A-478D-8E4D-F82C905C2138}" srcOrd="7" destOrd="0" presId="urn:microsoft.com/office/officeart/2005/8/layout/radial4"/>
    <dgm:cxn modelId="{D1C77A35-DB7D-494C-B656-D2A5B287DA45}" type="presParOf" srcId="{833B0AAF-18A0-41A3-BEFC-14F6B4B67979}" destId="{1CD0EEDF-7190-4930-A2D8-6EC6EDCAE498}" srcOrd="8" destOrd="0" presId="urn:microsoft.com/office/officeart/2005/8/layout/radial4"/>
    <dgm:cxn modelId="{6C56FCB9-88BA-4E10-AD08-1ADD2B1A0882}" type="presParOf" srcId="{833B0AAF-18A0-41A3-BEFC-14F6B4B67979}" destId="{24D55935-AE95-4EF5-8FA7-83C3EF689763}" srcOrd="9" destOrd="0" presId="urn:microsoft.com/office/officeart/2005/8/layout/radial4"/>
    <dgm:cxn modelId="{95D53F1A-E23F-4222-B1CA-A5BA8945F3B6}" type="presParOf" srcId="{833B0AAF-18A0-41A3-BEFC-14F6B4B67979}" destId="{E1EA0857-C9DC-49A6-92A2-524BF6BB6B2C}" srcOrd="10" destOrd="0" presId="urn:microsoft.com/office/officeart/2005/8/layout/radial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76C117-7DE1-4FDA-8242-DA0ACE700559}">
      <dsp:nvSpPr>
        <dsp:cNvPr id="0" name=""/>
        <dsp:cNvSpPr/>
      </dsp:nvSpPr>
      <dsp:spPr>
        <a:xfrm>
          <a:off x="2327983" y="2522442"/>
          <a:ext cx="2049633" cy="1725644"/>
        </a:xfrm>
        <a:prstGeom prst="ellipse">
          <a:avLst/>
        </a:prstGeom>
        <a:solidFill>
          <a:schemeClr val="accent1">
            <a:hueOff val="0"/>
            <a:satOff val="0"/>
            <a:lumOff val="0"/>
            <a:alphaOff val="0"/>
          </a:schemeClr>
        </a:solid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685" tIns="19685" rIns="19685" bIns="19685" numCol="1" spcCol="1270" anchor="ctr" anchorCtr="0">
          <a:noAutofit/>
        </a:bodyPr>
        <a:lstStyle/>
        <a:p>
          <a:pPr marL="0" lvl="0" indent="0" algn="ctr" defTabSz="1377950">
            <a:lnSpc>
              <a:spcPct val="90000"/>
            </a:lnSpc>
            <a:spcBef>
              <a:spcPct val="0"/>
            </a:spcBef>
            <a:spcAft>
              <a:spcPct val="35000"/>
            </a:spcAft>
            <a:buNone/>
          </a:pPr>
          <a:r>
            <a:rPr lang="en-CA" sz="3100" b="1" kern="1200" dirty="0" err="1">
              <a:latin typeface="+mj-lt"/>
            </a:rPr>
            <a:t>Contrat</a:t>
          </a:r>
          <a:endParaRPr lang="en-CA" sz="3100" b="1" kern="1200" dirty="0">
            <a:latin typeface="+mj-lt"/>
          </a:endParaRPr>
        </a:p>
      </dsp:txBody>
      <dsp:txXfrm>
        <a:off x="2628145" y="2775157"/>
        <a:ext cx="1449309" cy="1220214"/>
      </dsp:txXfrm>
    </dsp:sp>
    <dsp:sp modelId="{16A7E1CC-51BD-47B5-9E1B-80D3EDB54C75}">
      <dsp:nvSpPr>
        <dsp:cNvPr id="0" name=""/>
        <dsp:cNvSpPr/>
      </dsp:nvSpPr>
      <dsp:spPr>
        <a:xfrm rot="10800000">
          <a:off x="820194" y="3139359"/>
          <a:ext cx="1424860" cy="491808"/>
        </a:xfrm>
        <a:prstGeom prst="lef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1636D0E2-ED81-4CB9-A4DC-11BA9B921E52}">
      <dsp:nvSpPr>
        <dsp:cNvPr id="0" name=""/>
        <dsp:cNvSpPr/>
      </dsp:nvSpPr>
      <dsp:spPr>
        <a:xfrm>
          <a:off x="513" y="2729519"/>
          <a:ext cx="1639362" cy="1311489"/>
        </a:xfrm>
        <a:prstGeom prst="roundRect">
          <a:avLst>
            <a:gd name="adj" fmla="val 10000"/>
          </a:avLst>
        </a:prstGeom>
        <a:solidFill>
          <a:schemeClr val="accent2"/>
        </a:solid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800100">
            <a:lnSpc>
              <a:spcPct val="90000"/>
            </a:lnSpc>
            <a:spcBef>
              <a:spcPct val="0"/>
            </a:spcBef>
            <a:spcAft>
              <a:spcPct val="35000"/>
            </a:spcAft>
            <a:buNone/>
          </a:pPr>
          <a:r>
            <a:rPr lang="fr-CA" sz="1800" i="0" kern="1200" dirty="0"/>
            <a:t>Approbation verbale, écrite ou autres </a:t>
          </a:r>
          <a:endParaRPr lang="en-CA" sz="1800" i="0" kern="1200" dirty="0">
            <a:latin typeface="+mj-lt"/>
          </a:endParaRPr>
        </a:p>
      </dsp:txBody>
      <dsp:txXfrm>
        <a:off x="38925" y="2767931"/>
        <a:ext cx="1562538" cy="1234665"/>
      </dsp:txXfrm>
    </dsp:sp>
    <dsp:sp modelId="{4C4AD5BE-0B4A-4DA9-AD57-E7717D7F5663}">
      <dsp:nvSpPr>
        <dsp:cNvPr id="0" name=""/>
        <dsp:cNvSpPr/>
      </dsp:nvSpPr>
      <dsp:spPr>
        <a:xfrm rot="13500000">
          <a:off x="1340665" y="1882832"/>
          <a:ext cx="1511213" cy="491808"/>
        </a:xfrm>
        <a:prstGeom prst="lef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8407EC8E-B503-45C0-9401-AC60EE98929B}">
      <dsp:nvSpPr>
        <dsp:cNvPr id="0" name=""/>
        <dsp:cNvSpPr/>
      </dsp:nvSpPr>
      <dsp:spPr>
        <a:xfrm>
          <a:off x="742296" y="938696"/>
          <a:ext cx="1639362" cy="1311489"/>
        </a:xfrm>
        <a:prstGeom prst="roundRect">
          <a:avLst>
            <a:gd name="adj" fmla="val 10000"/>
          </a:avLst>
        </a:prstGeom>
        <a:solidFill>
          <a:schemeClr val="accent3"/>
        </a:solid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800100">
            <a:lnSpc>
              <a:spcPct val="90000"/>
            </a:lnSpc>
            <a:spcBef>
              <a:spcPct val="0"/>
            </a:spcBef>
            <a:spcAft>
              <a:spcPct val="35000"/>
            </a:spcAft>
            <a:buNone/>
          </a:pPr>
          <a:r>
            <a:rPr lang="fr-CA" sz="1800" i="0" kern="1200" dirty="0"/>
            <a:t>Identification des droits de chaque partie</a:t>
          </a:r>
          <a:endParaRPr lang="en-CA" sz="1800" i="0" kern="1200" dirty="0">
            <a:latin typeface="+mj-lt"/>
          </a:endParaRPr>
        </a:p>
      </dsp:txBody>
      <dsp:txXfrm>
        <a:off x="780708" y="977108"/>
        <a:ext cx="1562538" cy="1234665"/>
      </dsp:txXfrm>
    </dsp:sp>
    <dsp:sp modelId="{38CA2DFE-5176-40CE-94F4-D540F1328547}">
      <dsp:nvSpPr>
        <dsp:cNvPr id="0" name=""/>
        <dsp:cNvSpPr/>
      </dsp:nvSpPr>
      <dsp:spPr>
        <a:xfrm rot="16200000">
          <a:off x="2563827" y="1395726"/>
          <a:ext cx="1577945" cy="491808"/>
        </a:xfrm>
        <a:prstGeom prst="lef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EE51F55B-20A3-43C4-9CB3-CE5523B0E9FD}">
      <dsp:nvSpPr>
        <dsp:cNvPr id="0" name=""/>
        <dsp:cNvSpPr/>
      </dsp:nvSpPr>
      <dsp:spPr>
        <a:xfrm>
          <a:off x="2533118" y="196913"/>
          <a:ext cx="1639362" cy="1311489"/>
        </a:xfrm>
        <a:prstGeom prst="roundRect">
          <a:avLst>
            <a:gd name="adj" fmla="val 10000"/>
          </a:avLst>
        </a:prstGeom>
        <a:solidFill>
          <a:schemeClr val="accent4"/>
        </a:solid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800100">
            <a:lnSpc>
              <a:spcPct val="90000"/>
            </a:lnSpc>
            <a:spcBef>
              <a:spcPct val="0"/>
            </a:spcBef>
            <a:spcAft>
              <a:spcPct val="35000"/>
            </a:spcAft>
            <a:buNone/>
          </a:pPr>
          <a:r>
            <a:rPr lang="fr-CA" sz="1800" i="0" kern="1200" dirty="0"/>
            <a:t>Conditions de paiement</a:t>
          </a:r>
          <a:endParaRPr lang="en-CA" sz="1800" i="0" kern="1200" dirty="0">
            <a:latin typeface="+mj-lt"/>
          </a:endParaRPr>
        </a:p>
      </dsp:txBody>
      <dsp:txXfrm>
        <a:off x="2571530" y="235325"/>
        <a:ext cx="1562538" cy="1234665"/>
      </dsp:txXfrm>
    </dsp:sp>
    <dsp:sp modelId="{2B7AAB73-704A-478D-8E4D-F82C905C2138}">
      <dsp:nvSpPr>
        <dsp:cNvPr id="0" name=""/>
        <dsp:cNvSpPr/>
      </dsp:nvSpPr>
      <dsp:spPr>
        <a:xfrm rot="18900000">
          <a:off x="3853720" y="1882832"/>
          <a:ext cx="1511213" cy="491808"/>
        </a:xfrm>
        <a:prstGeom prst="lef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1CD0EEDF-7190-4930-A2D8-6EC6EDCAE498}">
      <dsp:nvSpPr>
        <dsp:cNvPr id="0" name=""/>
        <dsp:cNvSpPr/>
      </dsp:nvSpPr>
      <dsp:spPr>
        <a:xfrm>
          <a:off x="4323941" y="938696"/>
          <a:ext cx="1639362" cy="1311489"/>
        </a:xfrm>
        <a:prstGeom prst="roundRect">
          <a:avLst>
            <a:gd name="adj" fmla="val 10000"/>
          </a:avLst>
        </a:prstGeom>
        <a:solidFill>
          <a:schemeClr val="accent4"/>
        </a:solid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800100">
            <a:lnSpc>
              <a:spcPct val="90000"/>
            </a:lnSpc>
            <a:spcBef>
              <a:spcPct val="0"/>
            </a:spcBef>
            <a:spcAft>
              <a:spcPct val="35000"/>
            </a:spcAft>
            <a:buNone/>
          </a:pPr>
          <a:r>
            <a:rPr lang="fr-CA" sz="1800" i="0" kern="1200"/>
            <a:t>Substance commerciale </a:t>
          </a:r>
          <a:endParaRPr lang="en-CA" sz="1800" i="0" kern="1200" dirty="0">
            <a:latin typeface="+mj-lt"/>
          </a:endParaRPr>
        </a:p>
      </dsp:txBody>
      <dsp:txXfrm>
        <a:off x="4362353" y="977108"/>
        <a:ext cx="1562538" cy="1234665"/>
      </dsp:txXfrm>
    </dsp:sp>
    <dsp:sp modelId="{24D55935-AE95-4EF5-8FA7-83C3EF689763}">
      <dsp:nvSpPr>
        <dsp:cNvPr id="0" name=""/>
        <dsp:cNvSpPr/>
      </dsp:nvSpPr>
      <dsp:spPr>
        <a:xfrm>
          <a:off x="4460545" y="3139359"/>
          <a:ext cx="1424860" cy="491808"/>
        </a:xfrm>
        <a:prstGeom prst="lef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E1EA0857-C9DC-49A6-92A2-524BF6BB6B2C}">
      <dsp:nvSpPr>
        <dsp:cNvPr id="0" name=""/>
        <dsp:cNvSpPr/>
      </dsp:nvSpPr>
      <dsp:spPr>
        <a:xfrm>
          <a:off x="5065724" y="2729519"/>
          <a:ext cx="1639362" cy="1311489"/>
        </a:xfrm>
        <a:prstGeom prst="roundRect">
          <a:avLst>
            <a:gd name="adj" fmla="val 10000"/>
          </a:avLst>
        </a:prstGeom>
        <a:solidFill>
          <a:schemeClr val="accent6"/>
        </a:solid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800100">
            <a:lnSpc>
              <a:spcPct val="90000"/>
            </a:lnSpc>
            <a:spcBef>
              <a:spcPct val="0"/>
            </a:spcBef>
            <a:spcAft>
              <a:spcPct val="35000"/>
            </a:spcAft>
            <a:buNone/>
          </a:pPr>
          <a:r>
            <a:rPr lang="fr-CA" sz="1800" i="0" kern="1200" dirty="0"/>
            <a:t>Recouvrement probable</a:t>
          </a:r>
          <a:endParaRPr lang="en-CA" sz="1800" i="0" kern="1200" dirty="0">
            <a:latin typeface="+mj-lt"/>
          </a:endParaRPr>
        </a:p>
      </dsp:txBody>
      <dsp:txXfrm>
        <a:off x="5104136" y="2767931"/>
        <a:ext cx="1562538" cy="1234665"/>
      </dsp:txXfrm>
    </dsp:sp>
  </dsp:spTree>
</dsp:drawing>
</file>

<file path=ppt/diagrams/layout1.xml><?xml version="1.0" encoding="utf-8"?>
<dgm:layoutDef xmlns:dgm="http://schemas.openxmlformats.org/drawingml/2006/diagram" xmlns:a="http://schemas.openxmlformats.org/drawingml/2006/main" uniqueId="urn:microsoft.com/office/officeart/2005/8/layout/radial4">
  <dgm:title val=""/>
  <dgm:desc val=""/>
  <dgm:catLst>
    <dgm:cat type="relationship" pri="190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t modelId="11"/>
        <dgm:pt modelId="12"/>
      </dgm:ptLst>
      <dgm:cxnLst>
        <dgm:cxn modelId="2" srcId="0" destId="1" srcOrd="0" destOrd="0"/>
        <dgm:cxn modelId="15" srcId="1" destId="11" srcOrd="0" destOrd="0"/>
        <dgm:cxn modelId="16" srcId="1" destId="12" srcOrd="1"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0"/>
              <dgm:param type="spanAng" val="360"/>
              <dgm:param type="ctrShpMap" val="fNode"/>
            </dgm:alg>
          </dgm:if>
          <dgm:else name="Name4">
            <dgm:choose name="Name5">
              <dgm:if name="Name6" axis="ch ch" ptType="node node" st="1 1" cnt="1 0" func="cnt" op="lte" val="3">
                <dgm:alg type="cycle">
                  <dgm:param type="stAng" val="-55"/>
                  <dgm:param type="spanAng" val="110"/>
                  <dgm:param type="ctrShpMap" val="fNode"/>
                </dgm:alg>
              </dgm:if>
              <dgm:else name="Name7">
                <dgm:choose name="Name8">
                  <dgm:if name="Name9" axis="ch ch" ptType="node node" st="1 1" cnt="1 0" func="cnt" op="equ" val="4">
                    <dgm:alg type="cycle">
                      <dgm:param type="stAng" val="-75"/>
                      <dgm:param type="spanAng" val="150"/>
                      <dgm:param type="ctrShpMap" val="fNode"/>
                    </dgm:alg>
                  </dgm:if>
                  <dgm:else name="Name10">
                    <dgm:alg type="cycle">
                      <dgm:param type="stAng" val="-90"/>
                      <dgm:param type="spanAng" val="180"/>
                      <dgm:param type="ctrShpMap" val="fNode"/>
                    </dgm:alg>
                  </dgm:else>
                </dgm:choose>
              </dgm:else>
            </dgm:choose>
          </dgm:else>
        </dgm:choose>
      </dgm:if>
      <dgm:else name="Name11">
        <dgm:choose name="Name12">
          <dgm:if name="Name13" axis="ch ch" ptType="node node" st="1 1" cnt="1 0" func="cnt" op="lte" val="1">
            <dgm:alg type="cycle">
              <dgm:param type="stAng" val="0"/>
              <dgm:param type="spanAng" val="-360"/>
              <dgm:param type="ctrShpMap" val="fNode"/>
            </dgm:alg>
          </dgm:if>
          <dgm:else name="Name14">
            <dgm:choose name="Name15">
              <dgm:if name="Name16" axis="ch ch" ptType="node node" st="1 1" cnt="1 0" func="cnt" op="lte" val="3">
                <dgm:alg type="cycle">
                  <dgm:param type="stAng" val="55"/>
                  <dgm:param type="spanAng" val="-110"/>
                  <dgm:param type="ctrShpMap" val="fNode"/>
                </dgm:alg>
              </dgm:if>
              <dgm:else name="Name17">
                <dgm:choose name="Name18">
                  <dgm:if name="Name19" axis="ch ch" ptType="node node" st="1 1" cnt="1 0" func="cnt" op="equ" val="4">
                    <dgm:alg type="cycle">
                      <dgm:param type="stAng" val="75"/>
                      <dgm:param type="spanAng" val="-150"/>
                      <dgm:param type="ctrShpMap" val="fNode"/>
                    </dgm:alg>
                  </dgm:if>
                  <dgm:else name="Name20">
                    <dgm:alg type="cycle">
                      <dgm:param type="stAng" val="90"/>
                      <dgm:param type="spanAng" val="-180"/>
                      <dgm:param type="ctrShpMap" val="fNode"/>
                    </dgm:alg>
                  </dgm:else>
                </dgm:choose>
              </dgm:else>
            </dgm:choose>
          </dgm:else>
        </dgm:choose>
      </dgm:else>
    </dgm:choose>
    <dgm:shape xmlns:r="http://schemas.openxmlformats.org/officeDocument/2006/relationships" r:blip="">
      <dgm:adjLst/>
    </dgm:shape>
    <dgm:presOf/>
    <dgm:constrLst>
      <dgm:constr type="w" for="ch" forName="centerShape" refType="w"/>
      <dgm:constr type="w" for="ch" forName="node" refType="w" refFor="ch" refForName="centerShape" fact="0.95"/>
      <dgm:constr type="h" for="ch" forName="parTrans" refType="w" refFor="ch" refForName="centerShape" fact="0.285"/>
      <dgm:constr type="sp" refType="w" refFor="ch" refForName="centerShape" op="equ" fact="0.23"/>
      <dgm:constr type="sibSp" refType="w" refFor="ch" refForName="node" fact="0.1"/>
      <dgm:constr type="primFontSz" for="ch" forName="node" op="equ"/>
    </dgm:constrLst>
    <dgm:choose name="Name21">
      <dgm:if name="Name22" axis="ch ch" ptType="node node" st="1 1" cnt="1 0" func="cnt" op="lte" val="5">
        <dgm:ruleLst>
          <dgm:rule type="w" for="ch" forName="centerShape" val="NaN" fact="0.27" max="NaN"/>
        </dgm:ruleLst>
      </dgm:if>
      <dgm:else name="Name23">
        <dgm:ruleLst>
          <dgm:rule type="w" for="ch" forName="centerShape" val="NaN" fact="0.27" max="NaN"/>
          <dgm:rule type="w" for="ch" forName="node" val="NaN" fact="0.7" max="NaN"/>
        </dgm:ruleLst>
      </dgm:else>
    </dgm:choose>
    <dgm:forEach name="Name24" axis="ch" ptType="node" cnt="1">
      <dgm:layoutNode name="centerShape" styleLbl="node0">
        <dgm:alg type="tx"/>
        <dgm:shape xmlns:r="http://schemas.openxmlformats.org/officeDocument/2006/relationships" type="ellipse" r:blip="">
          <dgm:adjLst/>
        </dgm:shape>
        <dgm:presOf axis="self"/>
        <dgm:constrLst>
          <dgm:constr type="tMarg" refType="primFontSz" fact="0.05"/>
          <dgm:constr type="bMarg" refType="primFontSz" fact="0.05"/>
          <dgm:constr type="lMarg" refType="primFontSz" fact="0.05"/>
          <dgm:constr type="rMarg" refType="primFontSz" fact="0.05"/>
          <dgm:constr type="primFontSz" val="65"/>
          <dgm:constr type="h" refType="w"/>
        </dgm:constrLst>
        <dgm:ruleLst>
          <dgm:rule type="primFontSz" val="5" fact="NaN" max="NaN"/>
        </dgm:ruleLst>
      </dgm:layoutNode>
      <dgm:forEach name="Name25" axis="ch">
        <dgm:forEach name="Name26" axis="self" ptType="parTrans">
          <dgm:layoutNode name="parTrans" styleLbl="bgSibTrans2D1">
            <dgm:alg type="conn">
              <dgm:param type="begPts" val="auto"/>
              <dgm:param type="endPts" val="ctr"/>
              <dgm:param type="endSty" val="noArr"/>
              <dgm:param type="begSty" val="arr"/>
            </dgm:alg>
            <dgm:shape xmlns:r="http://schemas.openxmlformats.org/officeDocument/2006/relationships" type="conn" r:blip="">
              <dgm:adjLst/>
            </dgm:shape>
            <dgm:presOf axis="self"/>
            <dgm:constrLst>
              <dgm:constr type="begPad" refType="connDist" fact="0.055"/>
              <dgm:constr type="endPad"/>
            </dgm:constrLst>
            <dgm:ruleLst/>
          </dgm:layoutNode>
        </dgm:forEach>
        <dgm:forEach name="Name27" axis="self" ptType="node">
          <dgm:layoutNode name="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h" refType="w" fact="0.8"/>
              <dgm:constr type="tMarg" refType="primFontSz" fact="0.15"/>
              <dgm:constr type="bMarg" refType="primFontSz" fact="0.15"/>
              <dgm:constr type="lMarg" refType="primFontSz" fact="0.15"/>
              <dgm:constr type="rMarg" refType="primFontSz" fact="0.15"/>
            </dgm:constrLst>
            <dgm:ruleLst>
              <dgm:rule type="primFontSz" val="5" fact="NaN" max="NaN"/>
            </dgm:ruleLst>
          </dgm:layoutNode>
        </dgm:forEach>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3037840" cy="466434"/>
          </a:xfrm>
          <a:prstGeom prst="rect">
            <a:avLst/>
          </a:prstGeom>
        </p:spPr>
        <p:txBody>
          <a:bodyPr vert="horz" lIns="93177" tIns="46589" rIns="93177" bIns="46589" rtlCol="0"/>
          <a:lstStyle>
            <a:lvl1pPr algn="l">
              <a:defRPr sz="1200"/>
            </a:lvl1pPr>
          </a:lstStyle>
          <a:p>
            <a:endParaRPr lang="fr-CA"/>
          </a:p>
        </p:txBody>
      </p:sp>
      <p:sp>
        <p:nvSpPr>
          <p:cNvPr id="3" name="Espace réservé de la date 2"/>
          <p:cNvSpPr>
            <a:spLocks noGrp="1"/>
          </p:cNvSpPr>
          <p:nvPr>
            <p:ph type="dt" sz="quarter" idx="1"/>
          </p:nvPr>
        </p:nvSpPr>
        <p:spPr>
          <a:xfrm>
            <a:off x="3970938" y="0"/>
            <a:ext cx="3037840" cy="466434"/>
          </a:xfrm>
          <a:prstGeom prst="rect">
            <a:avLst/>
          </a:prstGeom>
        </p:spPr>
        <p:txBody>
          <a:bodyPr vert="horz" lIns="93177" tIns="46589" rIns="93177" bIns="46589" rtlCol="0"/>
          <a:lstStyle>
            <a:lvl1pPr algn="r">
              <a:defRPr sz="1200"/>
            </a:lvl1pPr>
          </a:lstStyle>
          <a:p>
            <a:fld id="{F899DBFD-DB92-4953-8023-C814CB1BB721}" type="datetimeFigureOut">
              <a:rPr lang="fr-CA" smtClean="0"/>
              <a:t>2020-11-13</a:t>
            </a:fld>
            <a:endParaRPr lang="fr-CA"/>
          </a:p>
        </p:txBody>
      </p:sp>
      <p:sp>
        <p:nvSpPr>
          <p:cNvPr id="4" name="Espace réservé du pied de page 3"/>
          <p:cNvSpPr>
            <a:spLocks noGrp="1"/>
          </p:cNvSpPr>
          <p:nvPr>
            <p:ph type="ftr" sz="quarter" idx="2"/>
          </p:nvPr>
        </p:nvSpPr>
        <p:spPr>
          <a:xfrm>
            <a:off x="0" y="8829967"/>
            <a:ext cx="3037840" cy="466433"/>
          </a:xfrm>
          <a:prstGeom prst="rect">
            <a:avLst/>
          </a:prstGeom>
        </p:spPr>
        <p:txBody>
          <a:bodyPr vert="horz" lIns="93177" tIns="46589" rIns="93177" bIns="46589" rtlCol="0" anchor="b"/>
          <a:lstStyle>
            <a:lvl1pPr algn="l">
              <a:defRPr sz="1200"/>
            </a:lvl1pPr>
          </a:lstStyle>
          <a:p>
            <a:endParaRPr lang="fr-CA"/>
          </a:p>
        </p:txBody>
      </p:sp>
      <p:sp>
        <p:nvSpPr>
          <p:cNvPr id="5" name="Espace réservé du numéro de diapositive 4"/>
          <p:cNvSpPr>
            <a:spLocks noGrp="1"/>
          </p:cNvSpPr>
          <p:nvPr>
            <p:ph type="sldNum" sz="quarter" idx="3"/>
          </p:nvPr>
        </p:nvSpPr>
        <p:spPr>
          <a:xfrm>
            <a:off x="3970938" y="8829967"/>
            <a:ext cx="3037840" cy="466433"/>
          </a:xfrm>
          <a:prstGeom prst="rect">
            <a:avLst/>
          </a:prstGeom>
        </p:spPr>
        <p:txBody>
          <a:bodyPr vert="horz" lIns="93177" tIns="46589" rIns="93177" bIns="46589" rtlCol="0" anchor="b"/>
          <a:lstStyle>
            <a:lvl1pPr algn="r">
              <a:defRPr sz="1200"/>
            </a:lvl1pPr>
          </a:lstStyle>
          <a:p>
            <a:fld id="{A943ABB5-40C3-4339-9D68-D5F6535C1A3A}" type="slidenum">
              <a:rPr lang="fr-CA" smtClean="0"/>
              <a:t>‹N°›</a:t>
            </a:fld>
            <a:endParaRPr lang="fr-CA"/>
          </a:p>
        </p:txBody>
      </p:sp>
    </p:spTree>
    <p:extLst>
      <p:ext uri="{BB962C8B-B14F-4D97-AF65-F5344CB8AC3E}">
        <p14:creationId xmlns:p14="http://schemas.microsoft.com/office/powerpoint/2010/main" val="203193811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3037840" cy="466434"/>
          </a:xfrm>
          <a:prstGeom prst="rect">
            <a:avLst/>
          </a:prstGeom>
        </p:spPr>
        <p:txBody>
          <a:bodyPr vert="horz" lIns="93177" tIns="46589" rIns="93177" bIns="46589" rtlCol="0"/>
          <a:lstStyle>
            <a:lvl1pPr algn="l">
              <a:defRPr sz="1200"/>
            </a:lvl1pPr>
          </a:lstStyle>
          <a:p>
            <a:endParaRPr lang="fr-CA"/>
          </a:p>
        </p:txBody>
      </p:sp>
      <p:sp>
        <p:nvSpPr>
          <p:cNvPr id="3" name="Espace réservé de la date 2"/>
          <p:cNvSpPr>
            <a:spLocks noGrp="1"/>
          </p:cNvSpPr>
          <p:nvPr>
            <p:ph type="dt" idx="1"/>
          </p:nvPr>
        </p:nvSpPr>
        <p:spPr>
          <a:xfrm>
            <a:off x="3970938" y="0"/>
            <a:ext cx="3037840" cy="466434"/>
          </a:xfrm>
          <a:prstGeom prst="rect">
            <a:avLst/>
          </a:prstGeom>
        </p:spPr>
        <p:txBody>
          <a:bodyPr vert="horz" lIns="93177" tIns="46589" rIns="93177" bIns="46589" rtlCol="0"/>
          <a:lstStyle>
            <a:lvl1pPr algn="r">
              <a:defRPr sz="1200"/>
            </a:lvl1pPr>
          </a:lstStyle>
          <a:p>
            <a:fld id="{8C647B54-E68C-442E-BC27-6CC2AD00F513}" type="datetimeFigureOut">
              <a:rPr lang="fr-CA" smtClean="0"/>
              <a:t>2020-11-13</a:t>
            </a:fld>
            <a:endParaRPr lang="fr-CA"/>
          </a:p>
        </p:txBody>
      </p:sp>
      <p:sp>
        <p:nvSpPr>
          <p:cNvPr id="4" name="Espace réservé de l'image des diapositives 3"/>
          <p:cNvSpPr>
            <a:spLocks noGrp="1" noRot="1" noChangeAspect="1"/>
          </p:cNvSpPr>
          <p:nvPr>
            <p:ph type="sldImg" idx="2"/>
          </p:nvPr>
        </p:nvSpPr>
        <p:spPr>
          <a:xfrm>
            <a:off x="1414463" y="1162050"/>
            <a:ext cx="4181475" cy="3136900"/>
          </a:xfrm>
          <a:prstGeom prst="rect">
            <a:avLst/>
          </a:prstGeom>
          <a:noFill/>
          <a:ln w="12700">
            <a:solidFill>
              <a:prstClr val="black"/>
            </a:solidFill>
          </a:ln>
        </p:spPr>
        <p:txBody>
          <a:bodyPr vert="horz" lIns="93177" tIns="46589" rIns="93177" bIns="46589" rtlCol="0" anchor="ctr"/>
          <a:lstStyle/>
          <a:p>
            <a:endParaRPr lang="fr-CA"/>
          </a:p>
        </p:txBody>
      </p:sp>
      <p:sp>
        <p:nvSpPr>
          <p:cNvPr id="5" name="Espace réservé des notes 4"/>
          <p:cNvSpPr>
            <a:spLocks noGrp="1"/>
          </p:cNvSpPr>
          <p:nvPr>
            <p:ph type="body" sz="quarter" idx="3"/>
          </p:nvPr>
        </p:nvSpPr>
        <p:spPr>
          <a:xfrm>
            <a:off x="701040" y="4473892"/>
            <a:ext cx="5608320" cy="3660458"/>
          </a:xfrm>
          <a:prstGeom prst="rect">
            <a:avLst/>
          </a:prstGeom>
        </p:spPr>
        <p:txBody>
          <a:bodyPr vert="horz" lIns="93177" tIns="46589" rIns="93177" bIns="46589" rtlCol="0"/>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6" name="Espace réservé du pied de page 5"/>
          <p:cNvSpPr>
            <a:spLocks noGrp="1"/>
          </p:cNvSpPr>
          <p:nvPr>
            <p:ph type="ftr" sz="quarter" idx="4"/>
          </p:nvPr>
        </p:nvSpPr>
        <p:spPr>
          <a:xfrm>
            <a:off x="0" y="8829967"/>
            <a:ext cx="3037840" cy="466433"/>
          </a:xfrm>
          <a:prstGeom prst="rect">
            <a:avLst/>
          </a:prstGeom>
        </p:spPr>
        <p:txBody>
          <a:bodyPr vert="horz" lIns="93177" tIns="46589" rIns="93177" bIns="46589" rtlCol="0" anchor="b"/>
          <a:lstStyle>
            <a:lvl1pPr algn="l">
              <a:defRPr sz="1200"/>
            </a:lvl1pPr>
          </a:lstStyle>
          <a:p>
            <a:endParaRPr lang="fr-CA"/>
          </a:p>
        </p:txBody>
      </p:sp>
      <p:sp>
        <p:nvSpPr>
          <p:cNvPr id="7" name="Espace réservé du numéro de diapositive 6"/>
          <p:cNvSpPr>
            <a:spLocks noGrp="1"/>
          </p:cNvSpPr>
          <p:nvPr>
            <p:ph type="sldNum" sz="quarter" idx="5"/>
          </p:nvPr>
        </p:nvSpPr>
        <p:spPr>
          <a:xfrm>
            <a:off x="3970938" y="8829967"/>
            <a:ext cx="3037840" cy="466433"/>
          </a:xfrm>
          <a:prstGeom prst="rect">
            <a:avLst/>
          </a:prstGeom>
        </p:spPr>
        <p:txBody>
          <a:bodyPr vert="horz" lIns="93177" tIns="46589" rIns="93177" bIns="46589" rtlCol="0" anchor="b"/>
          <a:lstStyle>
            <a:lvl1pPr algn="r">
              <a:defRPr sz="1200"/>
            </a:lvl1pPr>
          </a:lstStyle>
          <a:p>
            <a:fld id="{CEA3B912-C7E7-4352-AAA7-CB395510F7FB}" type="slidenum">
              <a:rPr lang="fr-CA" smtClean="0"/>
              <a:t>‹N°›</a:t>
            </a:fld>
            <a:endParaRPr lang="fr-CA"/>
          </a:p>
        </p:txBody>
      </p:sp>
    </p:spTree>
    <p:extLst>
      <p:ext uri="{BB962C8B-B14F-4D97-AF65-F5344CB8AC3E}">
        <p14:creationId xmlns:p14="http://schemas.microsoft.com/office/powerpoint/2010/main" val="38722570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CA" dirty="0"/>
          </a:p>
        </p:txBody>
      </p:sp>
      <p:sp>
        <p:nvSpPr>
          <p:cNvPr id="4" name="Espace réservé du numéro de diapositive 3"/>
          <p:cNvSpPr>
            <a:spLocks noGrp="1"/>
          </p:cNvSpPr>
          <p:nvPr>
            <p:ph type="sldNum" sz="quarter" idx="10"/>
          </p:nvPr>
        </p:nvSpPr>
        <p:spPr/>
        <p:txBody>
          <a:bodyPr/>
          <a:lstStyle/>
          <a:p>
            <a:fld id="{CEA3B912-C7E7-4352-AAA7-CB395510F7FB}" type="slidenum">
              <a:rPr lang="fr-CA" smtClean="0"/>
              <a:t>1</a:t>
            </a:fld>
            <a:endParaRPr lang="fr-CA"/>
          </a:p>
        </p:txBody>
      </p:sp>
    </p:spTree>
    <p:extLst>
      <p:ext uri="{BB962C8B-B14F-4D97-AF65-F5344CB8AC3E}">
        <p14:creationId xmlns:p14="http://schemas.microsoft.com/office/powerpoint/2010/main" val="4147849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CA" dirty="0"/>
          </a:p>
        </p:txBody>
      </p:sp>
      <p:sp>
        <p:nvSpPr>
          <p:cNvPr id="4" name="Espace réservé du numéro de diapositive 3"/>
          <p:cNvSpPr>
            <a:spLocks noGrp="1"/>
          </p:cNvSpPr>
          <p:nvPr>
            <p:ph type="sldNum" sz="quarter" idx="10"/>
          </p:nvPr>
        </p:nvSpPr>
        <p:spPr/>
        <p:txBody>
          <a:bodyPr/>
          <a:lstStyle/>
          <a:p>
            <a:fld id="{CEA3B912-C7E7-4352-AAA7-CB395510F7FB}" type="slidenum">
              <a:rPr lang="fr-CA" smtClean="0"/>
              <a:t>4</a:t>
            </a:fld>
            <a:endParaRPr lang="fr-CA"/>
          </a:p>
        </p:txBody>
      </p:sp>
    </p:spTree>
    <p:extLst>
      <p:ext uri="{BB962C8B-B14F-4D97-AF65-F5344CB8AC3E}">
        <p14:creationId xmlns:p14="http://schemas.microsoft.com/office/powerpoint/2010/main" val="35423068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CA" dirty="0"/>
          </a:p>
        </p:txBody>
      </p:sp>
      <p:sp>
        <p:nvSpPr>
          <p:cNvPr id="4" name="Espace réservé du numéro de diapositive 3"/>
          <p:cNvSpPr>
            <a:spLocks noGrp="1"/>
          </p:cNvSpPr>
          <p:nvPr>
            <p:ph type="sldNum" sz="quarter" idx="10"/>
          </p:nvPr>
        </p:nvSpPr>
        <p:spPr/>
        <p:txBody>
          <a:bodyPr/>
          <a:lstStyle/>
          <a:p>
            <a:fld id="{CEA3B912-C7E7-4352-AAA7-CB395510F7FB}" type="slidenum">
              <a:rPr lang="fr-CA" smtClean="0"/>
              <a:t>8</a:t>
            </a:fld>
            <a:endParaRPr lang="fr-CA"/>
          </a:p>
        </p:txBody>
      </p:sp>
    </p:spTree>
    <p:extLst>
      <p:ext uri="{BB962C8B-B14F-4D97-AF65-F5344CB8AC3E}">
        <p14:creationId xmlns:p14="http://schemas.microsoft.com/office/powerpoint/2010/main" val="34116999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CA" dirty="0"/>
          </a:p>
        </p:txBody>
      </p:sp>
      <p:sp>
        <p:nvSpPr>
          <p:cNvPr id="4" name="Espace réservé du numéro de diapositive 3"/>
          <p:cNvSpPr>
            <a:spLocks noGrp="1"/>
          </p:cNvSpPr>
          <p:nvPr>
            <p:ph type="sldNum" sz="quarter" idx="10"/>
          </p:nvPr>
        </p:nvSpPr>
        <p:spPr/>
        <p:txBody>
          <a:bodyPr/>
          <a:lstStyle/>
          <a:p>
            <a:fld id="{CEA3B912-C7E7-4352-AAA7-CB395510F7FB}" type="slidenum">
              <a:rPr lang="fr-CA" smtClean="0"/>
              <a:t>16</a:t>
            </a:fld>
            <a:endParaRPr lang="fr-CA"/>
          </a:p>
        </p:txBody>
      </p:sp>
    </p:spTree>
    <p:extLst>
      <p:ext uri="{BB962C8B-B14F-4D97-AF65-F5344CB8AC3E}">
        <p14:creationId xmlns:p14="http://schemas.microsoft.com/office/powerpoint/2010/main" val="40711781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dirty="0"/>
          </a:p>
        </p:txBody>
      </p:sp>
      <p:sp>
        <p:nvSpPr>
          <p:cNvPr id="4" name="Espace réservé du numéro de diapositive 3"/>
          <p:cNvSpPr>
            <a:spLocks noGrp="1"/>
          </p:cNvSpPr>
          <p:nvPr>
            <p:ph type="sldNum" sz="quarter" idx="10"/>
          </p:nvPr>
        </p:nvSpPr>
        <p:spPr/>
        <p:txBody>
          <a:bodyPr/>
          <a:lstStyle/>
          <a:p>
            <a:fld id="{CEA3B912-C7E7-4352-AAA7-CB395510F7FB}" type="slidenum">
              <a:rPr lang="fr-CA" smtClean="0"/>
              <a:t>38</a:t>
            </a:fld>
            <a:endParaRPr lang="fr-CA"/>
          </a:p>
        </p:txBody>
      </p:sp>
    </p:spTree>
    <p:extLst>
      <p:ext uri="{BB962C8B-B14F-4D97-AF65-F5344CB8AC3E}">
        <p14:creationId xmlns:p14="http://schemas.microsoft.com/office/powerpoint/2010/main" val="9698294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CA" dirty="0"/>
          </a:p>
        </p:txBody>
      </p:sp>
      <p:sp>
        <p:nvSpPr>
          <p:cNvPr id="4" name="Espace réservé du numéro de diapositive 3"/>
          <p:cNvSpPr>
            <a:spLocks noGrp="1"/>
          </p:cNvSpPr>
          <p:nvPr>
            <p:ph type="sldNum" sz="quarter" idx="10"/>
          </p:nvPr>
        </p:nvSpPr>
        <p:spPr/>
        <p:txBody>
          <a:bodyPr/>
          <a:lstStyle/>
          <a:p>
            <a:fld id="{CEA3B912-C7E7-4352-AAA7-CB395510F7FB}" type="slidenum">
              <a:rPr lang="fr-CA" smtClean="0"/>
              <a:t>40</a:t>
            </a:fld>
            <a:endParaRPr lang="fr-CA"/>
          </a:p>
        </p:txBody>
      </p:sp>
    </p:spTree>
    <p:extLst>
      <p:ext uri="{BB962C8B-B14F-4D97-AF65-F5344CB8AC3E}">
        <p14:creationId xmlns:p14="http://schemas.microsoft.com/office/powerpoint/2010/main" val="9277811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dirty="0"/>
          </a:p>
        </p:txBody>
      </p:sp>
      <p:sp>
        <p:nvSpPr>
          <p:cNvPr id="4" name="Espace réservé du numéro de diapositive 3"/>
          <p:cNvSpPr>
            <a:spLocks noGrp="1"/>
          </p:cNvSpPr>
          <p:nvPr>
            <p:ph type="sldNum" sz="quarter" idx="10"/>
          </p:nvPr>
        </p:nvSpPr>
        <p:spPr/>
        <p:txBody>
          <a:bodyPr/>
          <a:lstStyle/>
          <a:p>
            <a:fld id="{CEA3B912-C7E7-4352-AAA7-CB395510F7FB}" type="slidenum">
              <a:rPr lang="fr-CA" smtClean="0"/>
              <a:t>41</a:t>
            </a:fld>
            <a:endParaRPr lang="fr-CA"/>
          </a:p>
        </p:txBody>
      </p:sp>
    </p:spTree>
    <p:extLst>
      <p:ext uri="{BB962C8B-B14F-4D97-AF65-F5344CB8AC3E}">
        <p14:creationId xmlns:p14="http://schemas.microsoft.com/office/powerpoint/2010/main" val="153487642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dirty="0"/>
          </a:p>
        </p:txBody>
      </p:sp>
      <p:sp>
        <p:nvSpPr>
          <p:cNvPr id="4" name="Espace réservé du numéro de diapositive 3"/>
          <p:cNvSpPr>
            <a:spLocks noGrp="1"/>
          </p:cNvSpPr>
          <p:nvPr>
            <p:ph type="sldNum" sz="quarter" idx="10"/>
          </p:nvPr>
        </p:nvSpPr>
        <p:spPr/>
        <p:txBody>
          <a:bodyPr/>
          <a:lstStyle/>
          <a:p>
            <a:fld id="{CEA3B912-C7E7-4352-AAA7-CB395510F7FB}" type="slidenum">
              <a:rPr lang="fr-CA" smtClean="0"/>
              <a:t>43</a:t>
            </a:fld>
            <a:endParaRPr lang="fr-CA"/>
          </a:p>
        </p:txBody>
      </p:sp>
    </p:spTree>
    <p:extLst>
      <p:ext uri="{BB962C8B-B14F-4D97-AF65-F5344CB8AC3E}">
        <p14:creationId xmlns:p14="http://schemas.microsoft.com/office/powerpoint/2010/main" val="28000393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dirty="0"/>
          </a:p>
          <a:p>
            <a:endParaRPr lang="fr-CA" dirty="0"/>
          </a:p>
        </p:txBody>
      </p:sp>
      <p:sp>
        <p:nvSpPr>
          <p:cNvPr id="4" name="Espace réservé du numéro de diapositive 3"/>
          <p:cNvSpPr>
            <a:spLocks noGrp="1"/>
          </p:cNvSpPr>
          <p:nvPr>
            <p:ph type="sldNum" sz="quarter" idx="10"/>
          </p:nvPr>
        </p:nvSpPr>
        <p:spPr/>
        <p:txBody>
          <a:bodyPr/>
          <a:lstStyle/>
          <a:p>
            <a:fld id="{CEA3B912-C7E7-4352-AAA7-CB395510F7FB}" type="slidenum">
              <a:rPr lang="fr-CA" smtClean="0"/>
              <a:t>44</a:t>
            </a:fld>
            <a:endParaRPr lang="fr-CA"/>
          </a:p>
        </p:txBody>
      </p:sp>
    </p:spTree>
    <p:extLst>
      <p:ext uri="{BB962C8B-B14F-4D97-AF65-F5344CB8AC3E}">
        <p14:creationId xmlns:p14="http://schemas.microsoft.com/office/powerpoint/2010/main" val="413279172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dirty="0"/>
          </a:p>
        </p:txBody>
      </p:sp>
      <p:sp>
        <p:nvSpPr>
          <p:cNvPr id="4" name="Espace réservé du numéro de diapositive 3"/>
          <p:cNvSpPr>
            <a:spLocks noGrp="1"/>
          </p:cNvSpPr>
          <p:nvPr>
            <p:ph type="sldNum" sz="quarter" idx="10"/>
          </p:nvPr>
        </p:nvSpPr>
        <p:spPr/>
        <p:txBody>
          <a:bodyPr/>
          <a:lstStyle/>
          <a:p>
            <a:fld id="{CEA3B912-C7E7-4352-AAA7-CB395510F7FB}" type="slidenum">
              <a:rPr lang="fr-CA" smtClean="0"/>
              <a:t>45</a:t>
            </a:fld>
            <a:endParaRPr lang="fr-CA"/>
          </a:p>
        </p:txBody>
      </p:sp>
    </p:spTree>
    <p:extLst>
      <p:ext uri="{BB962C8B-B14F-4D97-AF65-F5344CB8AC3E}">
        <p14:creationId xmlns:p14="http://schemas.microsoft.com/office/powerpoint/2010/main" val="18160464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dirty="0"/>
          </a:p>
        </p:txBody>
      </p:sp>
      <p:sp>
        <p:nvSpPr>
          <p:cNvPr id="4" name="Espace réservé du numéro de diapositive 3"/>
          <p:cNvSpPr>
            <a:spLocks noGrp="1"/>
          </p:cNvSpPr>
          <p:nvPr>
            <p:ph type="sldNum" sz="quarter" idx="10"/>
          </p:nvPr>
        </p:nvSpPr>
        <p:spPr/>
        <p:txBody>
          <a:bodyPr/>
          <a:lstStyle/>
          <a:p>
            <a:fld id="{CEA3B912-C7E7-4352-AAA7-CB395510F7FB}" type="slidenum">
              <a:rPr lang="fr-CA" smtClean="0"/>
              <a:t>49</a:t>
            </a:fld>
            <a:endParaRPr lang="fr-CA"/>
          </a:p>
        </p:txBody>
      </p:sp>
    </p:spTree>
    <p:extLst>
      <p:ext uri="{BB962C8B-B14F-4D97-AF65-F5344CB8AC3E}">
        <p14:creationId xmlns:p14="http://schemas.microsoft.com/office/powerpoint/2010/main" val="309351918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dirty="0"/>
          </a:p>
        </p:txBody>
      </p:sp>
      <p:sp>
        <p:nvSpPr>
          <p:cNvPr id="4" name="Espace réservé du numéro de diapositive 3"/>
          <p:cNvSpPr>
            <a:spLocks noGrp="1"/>
          </p:cNvSpPr>
          <p:nvPr>
            <p:ph type="sldNum" sz="quarter" idx="10"/>
          </p:nvPr>
        </p:nvSpPr>
        <p:spPr/>
        <p:txBody>
          <a:bodyPr/>
          <a:lstStyle/>
          <a:p>
            <a:fld id="{CEA3B912-C7E7-4352-AAA7-CB395510F7FB}" type="slidenum">
              <a:rPr lang="fr-CA" smtClean="0"/>
              <a:t>50</a:t>
            </a:fld>
            <a:endParaRPr lang="fr-CA"/>
          </a:p>
        </p:txBody>
      </p:sp>
    </p:spTree>
    <p:extLst>
      <p:ext uri="{BB962C8B-B14F-4D97-AF65-F5344CB8AC3E}">
        <p14:creationId xmlns:p14="http://schemas.microsoft.com/office/powerpoint/2010/main" val="60166565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dirty="0"/>
          </a:p>
        </p:txBody>
      </p:sp>
      <p:sp>
        <p:nvSpPr>
          <p:cNvPr id="4" name="Espace réservé du numéro de diapositive 3"/>
          <p:cNvSpPr>
            <a:spLocks noGrp="1"/>
          </p:cNvSpPr>
          <p:nvPr>
            <p:ph type="sldNum" sz="quarter" idx="10"/>
          </p:nvPr>
        </p:nvSpPr>
        <p:spPr/>
        <p:txBody>
          <a:bodyPr/>
          <a:lstStyle/>
          <a:p>
            <a:fld id="{CEA3B912-C7E7-4352-AAA7-CB395510F7FB}" type="slidenum">
              <a:rPr lang="fr-CA" smtClean="0"/>
              <a:t>53</a:t>
            </a:fld>
            <a:endParaRPr lang="fr-CA"/>
          </a:p>
        </p:txBody>
      </p:sp>
    </p:spTree>
    <p:extLst>
      <p:ext uri="{BB962C8B-B14F-4D97-AF65-F5344CB8AC3E}">
        <p14:creationId xmlns:p14="http://schemas.microsoft.com/office/powerpoint/2010/main" val="151459990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dirty="0"/>
          </a:p>
        </p:txBody>
      </p:sp>
      <p:sp>
        <p:nvSpPr>
          <p:cNvPr id="4" name="Espace réservé du numéro de diapositive 3"/>
          <p:cNvSpPr>
            <a:spLocks noGrp="1"/>
          </p:cNvSpPr>
          <p:nvPr>
            <p:ph type="sldNum" sz="quarter" idx="10"/>
          </p:nvPr>
        </p:nvSpPr>
        <p:spPr/>
        <p:txBody>
          <a:bodyPr/>
          <a:lstStyle/>
          <a:p>
            <a:fld id="{CEA3B912-C7E7-4352-AAA7-CB395510F7FB}" type="slidenum">
              <a:rPr lang="fr-CA" smtClean="0"/>
              <a:t>54</a:t>
            </a:fld>
            <a:endParaRPr lang="fr-CA"/>
          </a:p>
        </p:txBody>
      </p:sp>
    </p:spTree>
    <p:extLst>
      <p:ext uri="{BB962C8B-B14F-4D97-AF65-F5344CB8AC3E}">
        <p14:creationId xmlns:p14="http://schemas.microsoft.com/office/powerpoint/2010/main" val="271645837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dirty="0"/>
          </a:p>
        </p:txBody>
      </p:sp>
      <p:sp>
        <p:nvSpPr>
          <p:cNvPr id="4" name="Espace réservé du numéro de diapositive 3"/>
          <p:cNvSpPr>
            <a:spLocks noGrp="1"/>
          </p:cNvSpPr>
          <p:nvPr>
            <p:ph type="sldNum" sz="quarter" idx="10"/>
          </p:nvPr>
        </p:nvSpPr>
        <p:spPr/>
        <p:txBody>
          <a:bodyPr/>
          <a:lstStyle/>
          <a:p>
            <a:fld id="{CEA3B912-C7E7-4352-AAA7-CB395510F7FB}" type="slidenum">
              <a:rPr lang="fr-CA" smtClean="0"/>
              <a:t>57</a:t>
            </a:fld>
            <a:endParaRPr lang="fr-CA"/>
          </a:p>
        </p:txBody>
      </p:sp>
    </p:spTree>
    <p:extLst>
      <p:ext uri="{BB962C8B-B14F-4D97-AF65-F5344CB8AC3E}">
        <p14:creationId xmlns:p14="http://schemas.microsoft.com/office/powerpoint/2010/main" val="125823248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dirty="0"/>
          </a:p>
          <a:p>
            <a:endParaRPr lang="fr-CA" dirty="0"/>
          </a:p>
        </p:txBody>
      </p:sp>
      <p:sp>
        <p:nvSpPr>
          <p:cNvPr id="4" name="Espace réservé du numéro de diapositive 3"/>
          <p:cNvSpPr>
            <a:spLocks noGrp="1"/>
          </p:cNvSpPr>
          <p:nvPr>
            <p:ph type="sldNum" sz="quarter" idx="10"/>
          </p:nvPr>
        </p:nvSpPr>
        <p:spPr/>
        <p:txBody>
          <a:bodyPr/>
          <a:lstStyle/>
          <a:p>
            <a:fld id="{CEA3B912-C7E7-4352-AAA7-CB395510F7FB}" type="slidenum">
              <a:rPr lang="fr-CA" smtClean="0"/>
              <a:t>58</a:t>
            </a:fld>
            <a:endParaRPr lang="fr-CA"/>
          </a:p>
        </p:txBody>
      </p:sp>
    </p:spTree>
    <p:extLst>
      <p:ext uri="{BB962C8B-B14F-4D97-AF65-F5344CB8AC3E}">
        <p14:creationId xmlns:p14="http://schemas.microsoft.com/office/powerpoint/2010/main" val="328137637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dirty="0"/>
          </a:p>
        </p:txBody>
      </p:sp>
      <p:sp>
        <p:nvSpPr>
          <p:cNvPr id="4" name="Espace réservé du numéro de diapositive 3"/>
          <p:cNvSpPr>
            <a:spLocks noGrp="1"/>
          </p:cNvSpPr>
          <p:nvPr>
            <p:ph type="sldNum" sz="quarter" idx="10"/>
          </p:nvPr>
        </p:nvSpPr>
        <p:spPr/>
        <p:txBody>
          <a:bodyPr/>
          <a:lstStyle/>
          <a:p>
            <a:fld id="{CEA3B912-C7E7-4352-AAA7-CB395510F7FB}" type="slidenum">
              <a:rPr lang="fr-CA" smtClean="0"/>
              <a:t>59</a:t>
            </a:fld>
            <a:endParaRPr lang="fr-CA"/>
          </a:p>
        </p:txBody>
      </p:sp>
    </p:spTree>
    <p:extLst>
      <p:ext uri="{BB962C8B-B14F-4D97-AF65-F5344CB8AC3E}">
        <p14:creationId xmlns:p14="http://schemas.microsoft.com/office/powerpoint/2010/main" val="254912350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dirty="0"/>
          </a:p>
        </p:txBody>
      </p:sp>
      <p:sp>
        <p:nvSpPr>
          <p:cNvPr id="4" name="Espace réservé du numéro de diapositive 3"/>
          <p:cNvSpPr>
            <a:spLocks noGrp="1"/>
          </p:cNvSpPr>
          <p:nvPr>
            <p:ph type="sldNum" sz="quarter" idx="10"/>
          </p:nvPr>
        </p:nvSpPr>
        <p:spPr/>
        <p:txBody>
          <a:bodyPr/>
          <a:lstStyle/>
          <a:p>
            <a:fld id="{CEA3B912-C7E7-4352-AAA7-CB395510F7FB}" type="slidenum">
              <a:rPr lang="fr-CA" smtClean="0"/>
              <a:t>64</a:t>
            </a:fld>
            <a:endParaRPr lang="fr-CA"/>
          </a:p>
        </p:txBody>
      </p:sp>
    </p:spTree>
    <p:extLst>
      <p:ext uri="{BB962C8B-B14F-4D97-AF65-F5344CB8AC3E}">
        <p14:creationId xmlns:p14="http://schemas.microsoft.com/office/powerpoint/2010/main" val="287299894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dirty="0"/>
          </a:p>
        </p:txBody>
      </p:sp>
      <p:sp>
        <p:nvSpPr>
          <p:cNvPr id="4" name="Espace réservé du numéro de diapositive 3"/>
          <p:cNvSpPr>
            <a:spLocks noGrp="1"/>
          </p:cNvSpPr>
          <p:nvPr>
            <p:ph type="sldNum" sz="quarter" idx="10"/>
          </p:nvPr>
        </p:nvSpPr>
        <p:spPr/>
        <p:txBody>
          <a:bodyPr/>
          <a:lstStyle/>
          <a:p>
            <a:fld id="{CEA3B912-C7E7-4352-AAA7-CB395510F7FB}" type="slidenum">
              <a:rPr lang="fr-CA" smtClean="0"/>
              <a:t>66</a:t>
            </a:fld>
            <a:endParaRPr lang="fr-CA"/>
          </a:p>
        </p:txBody>
      </p:sp>
    </p:spTree>
    <p:extLst>
      <p:ext uri="{BB962C8B-B14F-4D97-AF65-F5344CB8AC3E}">
        <p14:creationId xmlns:p14="http://schemas.microsoft.com/office/powerpoint/2010/main" val="292621463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dirty="0"/>
          </a:p>
        </p:txBody>
      </p:sp>
      <p:sp>
        <p:nvSpPr>
          <p:cNvPr id="4" name="Espace réservé du numéro de diapositive 3"/>
          <p:cNvSpPr>
            <a:spLocks noGrp="1"/>
          </p:cNvSpPr>
          <p:nvPr>
            <p:ph type="sldNum" sz="quarter" idx="10"/>
          </p:nvPr>
        </p:nvSpPr>
        <p:spPr/>
        <p:txBody>
          <a:bodyPr/>
          <a:lstStyle/>
          <a:p>
            <a:fld id="{CEA3B912-C7E7-4352-AAA7-CB395510F7FB}" type="slidenum">
              <a:rPr lang="fr-CA" smtClean="0"/>
              <a:t>67</a:t>
            </a:fld>
            <a:endParaRPr lang="fr-CA"/>
          </a:p>
        </p:txBody>
      </p:sp>
    </p:spTree>
    <p:extLst>
      <p:ext uri="{BB962C8B-B14F-4D97-AF65-F5344CB8AC3E}">
        <p14:creationId xmlns:p14="http://schemas.microsoft.com/office/powerpoint/2010/main" val="1977203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7" name="Rectangle 6"/>
          <p:cNvSpPr/>
          <p:nvPr/>
        </p:nvSpPr>
        <p:spPr>
          <a:xfrm>
            <a:off x="448091" y="3085765"/>
            <a:ext cx="8240108"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2" y="990600"/>
            <a:ext cx="7989752" cy="1504844"/>
          </a:xfrm>
          <a:effectLst/>
        </p:spPr>
        <p:txBody>
          <a:bodyPr anchor="b">
            <a:normAutofit/>
          </a:bodyPr>
          <a:lstStyle>
            <a:lvl1pPr>
              <a:defRPr sz="3600">
                <a:solidFill>
                  <a:schemeClr val="accent1"/>
                </a:solidFill>
              </a:defRPr>
            </a:lvl1pPr>
          </a:lstStyle>
          <a:p>
            <a:r>
              <a:rPr lang="fr-FR"/>
              <a:t>Modifiez le style du titre</a:t>
            </a:r>
            <a:endParaRPr lang="en-US" dirty="0"/>
          </a:p>
        </p:txBody>
      </p:sp>
      <p:sp>
        <p:nvSpPr>
          <p:cNvPr id="3" name="Subtitle 2"/>
          <p:cNvSpPr>
            <a:spLocks noGrp="1"/>
          </p:cNvSpPr>
          <p:nvPr>
            <p:ph type="subTitle" idx="1"/>
          </p:nvPr>
        </p:nvSpPr>
        <p:spPr>
          <a:xfrm>
            <a:off x="581192" y="2495444"/>
            <a:ext cx="7989752"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a:t>Modifiez le style des sous-titres du masque</a:t>
            </a:r>
            <a:endParaRPr lang="en-US" dirty="0"/>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60D2C66C-4E0B-46D7-82CA-CE35910859BC}" type="datetime1">
              <a:rPr lang="fr-CA" smtClean="0"/>
              <a:t>2020-11-13</a:t>
            </a:fld>
            <a:endParaRPr lang="fr-CA"/>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fr-CA"/>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3F1B3DEB-6CA3-4B97-B0DC-BA3F5F40634A}" type="slidenum">
              <a:rPr lang="fr-CA" smtClean="0"/>
              <a:t>‹N°›</a:t>
            </a:fld>
            <a:endParaRPr lang="fr-CA"/>
          </a:p>
        </p:txBody>
      </p:sp>
    </p:spTree>
    <p:extLst>
      <p:ext uri="{BB962C8B-B14F-4D97-AF65-F5344CB8AC3E}">
        <p14:creationId xmlns:p14="http://schemas.microsoft.com/office/powerpoint/2010/main" val="14585745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7" name="Rectangle 6"/>
          <p:cNvSpPr>
            <a:spLocks noChangeAspect="1"/>
          </p:cNvSpPr>
          <p:nvPr/>
        </p:nvSpPr>
        <p:spPr>
          <a:xfrm>
            <a:off x="448092" y="599725"/>
            <a:ext cx="8238707"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a:xfrm>
            <a:off x="581192" y="2228003"/>
            <a:ext cx="7989752" cy="3630795"/>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FECC0FB7-9C8F-4F7E-8780-C5D9A3928242}" type="datetime1">
              <a:rPr lang="fr-CA" smtClean="0"/>
              <a:t>2020-11-13</a:t>
            </a:fld>
            <a:endParaRPr lang="fr-CA"/>
          </a:p>
        </p:txBody>
      </p:sp>
      <p:sp>
        <p:nvSpPr>
          <p:cNvPr id="5" name="Footer Placeholder 4"/>
          <p:cNvSpPr>
            <a:spLocks noGrp="1"/>
          </p:cNvSpPr>
          <p:nvPr>
            <p:ph type="ftr" sz="quarter" idx="11"/>
          </p:nvPr>
        </p:nvSpPr>
        <p:spPr/>
        <p:txBody>
          <a:bodyPr/>
          <a:lstStyle/>
          <a:p>
            <a:endParaRPr lang="fr-CA"/>
          </a:p>
        </p:txBody>
      </p:sp>
      <p:sp>
        <p:nvSpPr>
          <p:cNvPr id="6" name="Slide Number Placeholder 5"/>
          <p:cNvSpPr>
            <a:spLocks noGrp="1"/>
          </p:cNvSpPr>
          <p:nvPr>
            <p:ph type="sldNum" sz="quarter" idx="12"/>
          </p:nvPr>
        </p:nvSpPr>
        <p:spPr/>
        <p:txBody>
          <a:bodyPr/>
          <a:lstStyle/>
          <a:p>
            <a:fld id="{3F1B3DEB-6CA3-4B97-B0DC-BA3F5F40634A}" type="slidenum">
              <a:rPr lang="fr-CA" smtClean="0"/>
              <a:t>‹N°›</a:t>
            </a:fld>
            <a:endParaRPr lang="fr-CA"/>
          </a:p>
        </p:txBody>
      </p:sp>
    </p:spTree>
    <p:extLst>
      <p:ext uri="{BB962C8B-B14F-4D97-AF65-F5344CB8AC3E}">
        <p14:creationId xmlns:p14="http://schemas.microsoft.com/office/powerpoint/2010/main" val="42667272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8" name="Rectangle 7"/>
          <p:cNvSpPr>
            <a:spLocks noChangeAspect="1"/>
          </p:cNvSpPr>
          <p:nvPr/>
        </p:nvSpPr>
        <p:spPr>
          <a:xfrm>
            <a:off x="452646" y="5141973"/>
            <a:ext cx="8238707"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36573"/>
            <a:ext cx="7989751" cy="1504844"/>
          </a:xfrm>
        </p:spPr>
        <p:txBody>
          <a:bodyPr anchor="b">
            <a:normAutofit/>
          </a:bodyPr>
          <a:lstStyle>
            <a:lvl1pPr algn="l">
              <a:defRPr sz="3600" b="0" cap="all">
                <a:solidFill>
                  <a:schemeClr val="accent1"/>
                </a:solidFill>
              </a:defRPr>
            </a:lvl1pPr>
          </a:lstStyle>
          <a:p>
            <a:r>
              <a:rPr lang="fr-FR"/>
              <a:t>Modifiez le style du titre</a:t>
            </a:r>
            <a:endParaRPr lang="en-US" dirty="0"/>
          </a:p>
        </p:txBody>
      </p:sp>
      <p:sp>
        <p:nvSpPr>
          <p:cNvPr id="3" name="Text Placeholder 2"/>
          <p:cNvSpPr>
            <a:spLocks noGrp="1"/>
          </p:cNvSpPr>
          <p:nvPr>
            <p:ph type="body" idx="1"/>
          </p:nvPr>
        </p:nvSpPr>
        <p:spPr>
          <a:xfrm>
            <a:off x="581193" y="4541417"/>
            <a:ext cx="7989751"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Modifier les styles du texte du masque</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ED1D74DE-6E8B-4550-8A2A-3D61D2850254}" type="datetime1">
              <a:rPr lang="fr-CA" smtClean="0"/>
              <a:t>2020-11-13</a:t>
            </a:fld>
            <a:endParaRPr lang="fr-CA"/>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fr-CA"/>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3F1B3DEB-6CA3-4B97-B0DC-BA3F5F40634A}" type="slidenum">
              <a:rPr lang="fr-CA" smtClean="0"/>
              <a:t>‹N°›</a:t>
            </a:fld>
            <a:endParaRPr lang="fr-CA"/>
          </a:p>
        </p:txBody>
      </p:sp>
    </p:spTree>
    <p:extLst>
      <p:ext uri="{BB962C8B-B14F-4D97-AF65-F5344CB8AC3E}">
        <p14:creationId xmlns:p14="http://schemas.microsoft.com/office/powerpoint/2010/main" val="25357880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8" name="Rectangle 7"/>
          <p:cNvSpPr>
            <a:spLocks noChangeAspect="1"/>
          </p:cNvSpPr>
          <p:nvPr/>
        </p:nvSpPr>
        <p:spPr>
          <a:xfrm>
            <a:off x="448092" y="599725"/>
            <a:ext cx="8238707"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581192" y="2228002"/>
            <a:ext cx="3899527" cy="3633047"/>
          </a:xfrm>
        </p:spPr>
        <p:txBody>
          <a:bodyPr>
            <a:normAutofit/>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4663282" y="2228003"/>
            <a:ext cx="3907662" cy="3633047"/>
          </a:xfrm>
        </p:spPr>
        <p:txBody>
          <a:bodyPr>
            <a:normAutofit/>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2ADDD367-2525-491E-8B89-7BE20432DB50}" type="datetime1">
              <a:rPr lang="fr-CA" smtClean="0"/>
              <a:t>2020-11-13</a:t>
            </a:fld>
            <a:endParaRPr lang="fr-CA"/>
          </a:p>
        </p:txBody>
      </p:sp>
      <p:sp>
        <p:nvSpPr>
          <p:cNvPr id="6" name="Footer Placeholder 5"/>
          <p:cNvSpPr>
            <a:spLocks noGrp="1"/>
          </p:cNvSpPr>
          <p:nvPr>
            <p:ph type="ftr" sz="quarter" idx="11"/>
          </p:nvPr>
        </p:nvSpPr>
        <p:spPr/>
        <p:txBody>
          <a:bodyPr/>
          <a:lstStyle/>
          <a:p>
            <a:endParaRPr lang="fr-CA"/>
          </a:p>
        </p:txBody>
      </p:sp>
      <p:sp>
        <p:nvSpPr>
          <p:cNvPr id="7" name="Slide Number Placeholder 6"/>
          <p:cNvSpPr>
            <a:spLocks noGrp="1"/>
          </p:cNvSpPr>
          <p:nvPr>
            <p:ph type="sldNum" sz="quarter" idx="12"/>
          </p:nvPr>
        </p:nvSpPr>
        <p:spPr/>
        <p:txBody>
          <a:bodyPr/>
          <a:lstStyle/>
          <a:p>
            <a:fld id="{3F1B3DEB-6CA3-4B97-B0DC-BA3F5F40634A}" type="slidenum">
              <a:rPr lang="fr-CA" smtClean="0"/>
              <a:t>‹N°›</a:t>
            </a:fld>
            <a:endParaRPr lang="fr-CA"/>
          </a:p>
        </p:txBody>
      </p:sp>
    </p:spTree>
    <p:extLst>
      <p:ext uri="{BB962C8B-B14F-4D97-AF65-F5344CB8AC3E}">
        <p14:creationId xmlns:p14="http://schemas.microsoft.com/office/powerpoint/2010/main" val="15538118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10" name="Rectangle 9"/>
          <p:cNvSpPr>
            <a:spLocks noChangeAspect="1"/>
          </p:cNvSpPr>
          <p:nvPr/>
        </p:nvSpPr>
        <p:spPr>
          <a:xfrm>
            <a:off x="448092" y="599725"/>
            <a:ext cx="8238707"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lvl1pPr>
              <a:defRPr/>
            </a:lvl1pPr>
          </a:lstStyle>
          <a:p>
            <a:r>
              <a:rPr lang="fr-FR"/>
              <a:t>Modifiez le style du titre</a:t>
            </a:r>
            <a:endParaRPr lang="en-US" dirty="0"/>
          </a:p>
        </p:txBody>
      </p:sp>
      <p:sp>
        <p:nvSpPr>
          <p:cNvPr id="3" name="Text Placeholder 2"/>
          <p:cNvSpPr>
            <a:spLocks noGrp="1"/>
          </p:cNvSpPr>
          <p:nvPr>
            <p:ph type="body" idx="1"/>
          </p:nvPr>
        </p:nvSpPr>
        <p:spPr>
          <a:xfrm>
            <a:off x="887219" y="2228003"/>
            <a:ext cx="3593500" cy="576262"/>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4" name="Content Placeholder 3"/>
          <p:cNvSpPr>
            <a:spLocks noGrp="1"/>
          </p:cNvSpPr>
          <p:nvPr>
            <p:ph sz="half" idx="2"/>
          </p:nvPr>
        </p:nvSpPr>
        <p:spPr>
          <a:xfrm>
            <a:off x="581192" y="2926051"/>
            <a:ext cx="3899527" cy="2934999"/>
          </a:xfrm>
        </p:spPr>
        <p:txBody>
          <a:bodyPr anchor="t">
            <a:normAutofit/>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4969308" y="2228003"/>
            <a:ext cx="3601635" cy="576262"/>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6" name="Content Placeholder 5"/>
          <p:cNvSpPr>
            <a:spLocks noGrp="1"/>
          </p:cNvSpPr>
          <p:nvPr>
            <p:ph sz="quarter" idx="4"/>
          </p:nvPr>
        </p:nvSpPr>
        <p:spPr>
          <a:xfrm>
            <a:off x="4663282" y="2926051"/>
            <a:ext cx="3907662" cy="2934999"/>
          </a:xfrm>
        </p:spPr>
        <p:txBody>
          <a:bodyPr anchor="t">
            <a:normAutofit/>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9996B613-36EE-440F-A622-CFF705238574}" type="datetime1">
              <a:rPr lang="fr-CA" smtClean="0"/>
              <a:t>2020-11-13</a:t>
            </a:fld>
            <a:endParaRPr lang="fr-CA"/>
          </a:p>
        </p:txBody>
      </p:sp>
      <p:sp>
        <p:nvSpPr>
          <p:cNvPr id="8" name="Footer Placeholder 7"/>
          <p:cNvSpPr>
            <a:spLocks noGrp="1"/>
          </p:cNvSpPr>
          <p:nvPr>
            <p:ph type="ftr" sz="quarter" idx="11"/>
          </p:nvPr>
        </p:nvSpPr>
        <p:spPr/>
        <p:txBody>
          <a:bodyPr/>
          <a:lstStyle/>
          <a:p>
            <a:endParaRPr lang="fr-CA"/>
          </a:p>
        </p:txBody>
      </p:sp>
      <p:sp>
        <p:nvSpPr>
          <p:cNvPr id="9" name="Slide Number Placeholder 8"/>
          <p:cNvSpPr>
            <a:spLocks noGrp="1"/>
          </p:cNvSpPr>
          <p:nvPr>
            <p:ph type="sldNum" sz="quarter" idx="12"/>
          </p:nvPr>
        </p:nvSpPr>
        <p:spPr/>
        <p:txBody>
          <a:bodyPr/>
          <a:lstStyle/>
          <a:p>
            <a:fld id="{3F1B3DEB-6CA3-4B97-B0DC-BA3F5F40634A}" type="slidenum">
              <a:rPr lang="fr-CA" smtClean="0"/>
              <a:t>‹N°›</a:t>
            </a:fld>
            <a:endParaRPr lang="fr-CA"/>
          </a:p>
        </p:txBody>
      </p:sp>
    </p:spTree>
    <p:extLst>
      <p:ext uri="{BB962C8B-B14F-4D97-AF65-F5344CB8AC3E}">
        <p14:creationId xmlns:p14="http://schemas.microsoft.com/office/powerpoint/2010/main" val="24024222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6" name="Rectangle 5"/>
          <p:cNvSpPr>
            <a:spLocks noChangeAspect="1"/>
          </p:cNvSpPr>
          <p:nvPr/>
        </p:nvSpPr>
        <p:spPr>
          <a:xfrm>
            <a:off x="448092" y="599725"/>
            <a:ext cx="8238707"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28101A4F-C013-40AE-8316-A802BE7A1396}" type="datetime1">
              <a:rPr lang="fr-CA" smtClean="0"/>
              <a:t>2020-11-13</a:t>
            </a:fld>
            <a:endParaRPr lang="fr-CA"/>
          </a:p>
        </p:txBody>
      </p:sp>
      <p:sp>
        <p:nvSpPr>
          <p:cNvPr id="4" name="Footer Placeholder 3"/>
          <p:cNvSpPr>
            <a:spLocks noGrp="1"/>
          </p:cNvSpPr>
          <p:nvPr>
            <p:ph type="ftr" sz="quarter" idx="11"/>
          </p:nvPr>
        </p:nvSpPr>
        <p:spPr/>
        <p:txBody>
          <a:bodyPr/>
          <a:lstStyle/>
          <a:p>
            <a:endParaRPr lang="fr-CA"/>
          </a:p>
        </p:txBody>
      </p:sp>
      <p:sp>
        <p:nvSpPr>
          <p:cNvPr id="5" name="Slide Number Placeholder 4"/>
          <p:cNvSpPr>
            <a:spLocks noGrp="1"/>
          </p:cNvSpPr>
          <p:nvPr>
            <p:ph type="sldNum" sz="quarter" idx="12"/>
          </p:nvPr>
        </p:nvSpPr>
        <p:spPr/>
        <p:txBody>
          <a:bodyPr/>
          <a:lstStyle/>
          <a:p>
            <a:fld id="{3F1B3DEB-6CA3-4B97-B0DC-BA3F5F40634A}" type="slidenum">
              <a:rPr lang="fr-CA" smtClean="0"/>
              <a:t>‹N°›</a:t>
            </a:fld>
            <a:endParaRPr lang="fr-CA"/>
          </a:p>
        </p:txBody>
      </p:sp>
    </p:spTree>
    <p:extLst>
      <p:ext uri="{BB962C8B-B14F-4D97-AF65-F5344CB8AC3E}">
        <p14:creationId xmlns:p14="http://schemas.microsoft.com/office/powerpoint/2010/main" val="34845170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0457DC0-8505-40FF-85F7-EA78015B88E3}" type="datetime1">
              <a:rPr lang="fr-CA" smtClean="0"/>
              <a:t>2020-11-13</a:t>
            </a:fld>
            <a:endParaRPr lang="fr-CA"/>
          </a:p>
        </p:txBody>
      </p:sp>
      <p:sp>
        <p:nvSpPr>
          <p:cNvPr id="3" name="Footer Placeholder 2"/>
          <p:cNvSpPr>
            <a:spLocks noGrp="1"/>
          </p:cNvSpPr>
          <p:nvPr>
            <p:ph type="ftr" sz="quarter" idx="11"/>
          </p:nvPr>
        </p:nvSpPr>
        <p:spPr/>
        <p:txBody>
          <a:bodyPr/>
          <a:lstStyle/>
          <a:p>
            <a:endParaRPr lang="fr-CA"/>
          </a:p>
        </p:txBody>
      </p:sp>
      <p:sp>
        <p:nvSpPr>
          <p:cNvPr id="4" name="Slide Number Placeholder 3"/>
          <p:cNvSpPr>
            <a:spLocks noGrp="1"/>
          </p:cNvSpPr>
          <p:nvPr>
            <p:ph type="sldNum" sz="quarter" idx="12"/>
          </p:nvPr>
        </p:nvSpPr>
        <p:spPr/>
        <p:txBody>
          <a:bodyPr/>
          <a:lstStyle/>
          <a:p>
            <a:fld id="{3F1B3DEB-6CA3-4B97-B0DC-BA3F5F40634A}" type="slidenum">
              <a:rPr lang="fr-CA" smtClean="0"/>
              <a:t>‹N°›</a:t>
            </a:fld>
            <a:endParaRPr lang="fr-CA"/>
          </a:p>
        </p:txBody>
      </p:sp>
    </p:spTree>
    <p:extLst>
      <p:ext uri="{BB962C8B-B14F-4D97-AF65-F5344CB8AC3E}">
        <p14:creationId xmlns:p14="http://schemas.microsoft.com/office/powerpoint/2010/main" val="9616610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9" name="Rectangle 8"/>
          <p:cNvSpPr>
            <a:spLocks noChangeAspect="1"/>
          </p:cNvSpPr>
          <p:nvPr/>
        </p:nvSpPr>
        <p:spPr>
          <a:xfrm>
            <a:off x="452646" y="5141973"/>
            <a:ext cx="8238707"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352" y="5262296"/>
            <a:ext cx="3536625" cy="689514"/>
          </a:xfrm>
        </p:spPr>
        <p:txBody>
          <a:bodyPr anchor="ctr"/>
          <a:lstStyle>
            <a:lvl1pPr algn="l">
              <a:defRPr sz="2000" b="0">
                <a:solidFill>
                  <a:schemeClr val="accent1">
                    <a:lumMod val="75000"/>
                    <a:lumOff val="25000"/>
                  </a:schemeClr>
                </a:solidFill>
              </a:defRPr>
            </a:lvl1pPr>
          </a:lstStyle>
          <a:p>
            <a:r>
              <a:rPr lang="fr-FR"/>
              <a:t>Modifiez le style du titre</a:t>
            </a:r>
            <a:endParaRPr lang="en-US" dirty="0"/>
          </a:p>
        </p:txBody>
      </p:sp>
      <p:sp>
        <p:nvSpPr>
          <p:cNvPr id="3" name="Content Placeholder 2"/>
          <p:cNvSpPr>
            <a:spLocks noGrp="1"/>
          </p:cNvSpPr>
          <p:nvPr>
            <p:ph idx="1"/>
          </p:nvPr>
        </p:nvSpPr>
        <p:spPr>
          <a:xfrm>
            <a:off x="446399" y="601200"/>
            <a:ext cx="824040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4305617" y="5262295"/>
            <a:ext cx="426532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Modifier les styles du texte du masque</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2753B465-E964-4F57-8140-7B3417C2E2FC}" type="datetime1">
              <a:rPr lang="fr-CA" smtClean="0"/>
              <a:t>2020-11-13</a:t>
            </a:fld>
            <a:endParaRPr lang="fr-CA"/>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fr-CA"/>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3F1B3DEB-6CA3-4B97-B0DC-BA3F5F40634A}" type="slidenum">
              <a:rPr lang="fr-CA" smtClean="0"/>
              <a:t>‹N°›</a:t>
            </a:fld>
            <a:endParaRPr lang="fr-CA"/>
          </a:p>
        </p:txBody>
      </p:sp>
    </p:spTree>
    <p:extLst>
      <p:ext uri="{BB962C8B-B14F-4D97-AF65-F5344CB8AC3E}">
        <p14:creationId xmlns:p14="http://schemas.microsoft.com/office/powerpoint/2010/main" val="20559773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581192" y="4693389"/>
            <a:ext cx="7989752" cy="566738"/>
          </a:xfrm>
        </p:spPr>
        <p:txBody>
          <a:bodyPr anchor="b">
            <a:normAutofit/>
          </a:bodyPr>
          <a:lstStyle>
            <a:lvl1pPr algn="l">
              <a:defRPr sz="2400" b="0">
                <a:solidFill>
                  <a:schemeClr val="accent1"/>
                </a:solidFill>
              </a:defRPr>
            </a:lvl1pPr>
          </a:lstStyle>
          <a:p>
            <a:r>
              <a:rPr lang="fr-FR"/>
              <a:t>Modifiez le style du titre</a:t>
            </a:r>
            <a:endParaRPr lang="en-US" dirty="0"/>
          </a:p>
        </p:txBody>
      </p:sp>
      <p:sp>
        <p:nvSpPr>
          <p:cNvPr id="3" name="Picture Placeholder 2"/>
          <p:cNvSpPr>
            <a:spLocks noGrp="1" noChangeAspect="1"/>
          </p:cNvSpPr>
          <p:nvPr>
            <p:ph type="pic" idx="1"/>
          </p:nvPr>
        </p:nvSpPr>
        <p:spPr>
          <a:xfrm>
            <a:off x="448093" y="599725"/>
            <a:ext cx="8238706"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a:t>Cliquez sur l'icône pour ajouter une image</a:t>
            </a:r>
            <a:endParaRPr lang="en-US" dirty="0"/>
          </a:p>
        </p:txBody>
      </p:sp>
      <p:sp>
        <p:nvSpPr>
          <p:cNvPr id="4" name="Text Placeholder 3"/>
          <p:cNvSpPr>
            <a:spLocks noGrp="1"/>
          </p:cNvSpPr>
          <p:nvPr>
            <p:ph type="body" sz="half" idx="2"/>
          </p:nvPr>
        </p:nvSpPr>
        <p:spPr>
          <a:xfrm>
            <a:off x="581192" y="5260126"/>
            <a:ext cx="7989752"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Modifier les styles du texte du masque</a:t>
            </a:r>
          </a:p>
        </p:txBody>
      </p:sp>
      <p:sp>
        <p:nvSpPr>
          <p:cNvPr id="5" name="Date Placeholder 4"/>
          <p:cNvSpPr>
            <a:spLocks noGrp="1"/>
          </p:cNvSpPr>
          <p:nvPr>
            <p:ph type="dt" sz="half" idx="10"/>
          </p:nvPr>
        </p:nvSpPr>
        <p:spPr/>
        <p:txBody>
          <a:bodyPr/>
          <a:lstStyle/>
          <a:p>
            <a:fld id="{ACEB83AB-0931-475A-BDBB-06D23798A6CC}" type="datetime1">
              <a:rPr lang="fr-CA" smtClean="0"/>
              <a:t>2020-11-13</a:t>
            </a:fld>
            <a:endParaRPr lang="fr-CA"/>
          </a:p>
        </p:txBody>
      </p:sp>
      <p:sp>
        <p:nvSpPr>
          <p:cNvPr id="6" name="Footer Placeholder 5"/>
          <p:cNvSpPr>
            <a:spLocks noGrp="1"/>
          </p:cNvSpPr>
          <p:nvPr>
            <p:ph type="ftr" sz="quarter" idx="11"/>
          </p:nvPr>
        </p:nvSpPr>
        <p:spPr/>
        <p:txBody>
          <a:bodyPr/>
          <a:lstStyle/>
          <a:p>
            <a:endParaRPr lang="fr-CA"/>
          </a:p>
        </p:txBody>
      </p:sp>
      <p:sp>
        <p:nvSpPr>
          <p:cNvPr id="7" name="Slide Number Placeholder 6"/>
          <p:cNvSpPr>
            <a:spLocks noGrp="1"/>
          </p:cNvSpPr>
          <p:nvPr>
            <p:ph type="sldNum" sz="quarter" idx="12"/>
          </p:nvPr>
        </p:nvSpPr>
        <p:spPr/>
        <p:txBody>
          <a:bodyPr/>
          <a:lstStyle/>
          <a:p>
            <a:fld id="{3F1B3DEB-6CA3-4B97-B0DC-BA3F5F40634A}" type="slidenum">
              <a:rPr lang="fr-CA" smtClean="0"/>
              <a:t>‹N°›</a:t>
            </a:fld>
            <a:endParaRPr lang="fr-CA"/>
          </a:p>
        </p:txBody>
      </p:sp>
    </p:spTree>
    <p:extLst>
      <p:ext uri="{BB962C8B-B14F-4D97-AF65-F5344CB8AC3E}">
        <p14:creationId xmlns:p14="http://schemas.microsoft.com/office/powerpoint/2010/main" val="4964868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7" name="Rectangle 6"/>
          <p:cNvSpPr>
            <a:spLocks noChangeAspect="1"/>
          </p:cNvSpPr>
          <p:nvPr/>
        </p:nvSpPr>
        <p:spPr>
          <a:xfrm>
            <a:off x="448092" y="599725"/>
            <a:ext cx="8238707"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E65FA57D-FF64-4C67-B4D4-4D4DCE393128}" type="datetime1">
              <a:rPr lang="fr-CA" smtClean="0"/>
              <a:t>2020-11-13</a:t>
            </a:fld>
            <a:endParaRPr lang="fr-CA"/>
          </a:p>
        </p:txBody>
      </p:sp>
      <p:sp>
        <p:nvSpPr>
          <p:cNvPr id="5" name="Footer Placeholder 4"/>
          <p:cNvSpPr>
            <a:spLocks noGrp="1"/>
          </p:cNvSpPr>
          <p:nvPr>
            <p:ph type="ftr" sz="quarter" idx="11"/>
          </p:nvPr>
        </p:nvSpPr>
        <p:spPr/>
        <p:txBody>
          <a:bodyPr/>
          <a:lstStyle/>
          <a:p>
            <a:endParaRPr lang="fr-CA"/>
          </a:p>
        </p:txBody>
      </p:sp>
      <p:sp>
        <p:nvSpPr>
          <p:cNvPr id="6" name="Slide Number Placeholder 5"/>
          <p:cNvSpPr>
            <a:spLocks noGrp="1"/>
          </p:cNvSpPr>
          <p:nvPr>
            <p:ph type="sldNum" sz="quarter" idx="12"/>
          </p:nvPr>
        </p:nvSpPr>
        <p:spPr/>
        <p:txBody>
          <a:bodyPr/>
          <a:lstStyle/>
          <a:p>
            <a:fld id="{3F1B3DEB-6CA3-4B97-B0DC-BA3F5F40634A}" type="slidenum">
              <a:rPr lang="fr-CA" smtClean="0"/>
              <a:t>‹N°›</a:t>
            </a:fld>
            <a:endParaRPr lang="fr-CA"/>
          </a:p>
        </p:txBody>
      </p:sp>
    </p:spTree>
    <p:extLst>
      <p:ext uri="{BB962C8B-B14F-4D97-AF65-F5344CB8AC3E}">
        <p14:creationId xmlns:p14="http://schemas.microsoft.com/office/powerpoint/2010/main" val="24782831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7" name="Rectangle 6"/>
          <p:cNvSpPr>
            <a:spLocks noChangeAspect="1"/>
          </p:cNvSpPr>
          <p:nvPr/>
        </p:nvSpPr>
        <p:spPr>
          <a:xfrm>
            <a:off x="6629400" y="599725"/>
            <a:ext cx="2057399"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6629400" y="675725"/>
            <a:ext cx="1503123" cy="5183073"/>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581192" y="675725"/>
            <a:ext cx="5922209" cy="5183073"/>
          </a:xfrm>
        </p:spPr>
        <p:txBody>
          <a:bodyPr vert="eaVert" ancho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a:xfrm>
            <a:off x="6745255" y="5956136"/>
            <a:ext cx="947672" cy="365125"/>
          </a:xfrm>
        </p:spPr>
        <p:txBody>
          <a:bodyPr/>
          <a:lstStyle>
            <a:lvl1pPr>
              <a:defRPr>
                <a:solidFill>
                  <a:schemeClr val="accent1">
                    <a:lumMod val="75000"/>
                    <a:lumOff val="25000"/>
                  </a:schemeClr>
                </a:solidFill>
              </a:defRPr>
            </a:lvl1pPr>
          </a:lstStyle>
          <a:p>
            <a:fld id="{DAE1C2B3-C931-4E7E-847C-74CAECDC4346}" type="datetime1">
              <a:rPr lang="fr-CA" smtClean="0"/>
              <a:t>2020-11-13</a:t>
            </a:fld>
            <a:endParaRPr lang="fr-CA"/>
          </a:p>
        </p:txBody>
      </p:sp>
      <p:sp>
        <p:nvSpPr>
          <p:cNvPr id="5" name="Footer Placeholder 4"/>
          <p:cNvSpPr>
            <a:spLocks noGrp="1"/>
          </p:cNvSpPr>
          <p:nvPr>
            <p:ph type="ftr" sz="quarter" idx="11"/>
          </p:nvPr>
        </p:nvSpPr>
        <p:spPr>
          <a:xfrm>
            <a:off x="581192" y="5951810"/>
            <a:ext cx="5922209" cy="365125"/>
          </a:xfrm>
        </p:spPr>
        <p:txBody>
          <a:bodyPr/>
          <a:lstStyle/>
          <a:p>
            <a:endParaRPr lang="fr-CA"/>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3F1B3DEB-6CA3-4B97-B0DC-BA3F5F40634A}" type="slidenum">
              <a:rPr lang="fr-CA" smtClean="0"/>
              <a:t>‹N°›</a:t>
            </a:fld>
            <a:endParaRPr lang="fr-CA"/>
          </a:p>
        </p:txBody>
      </p:sp>
    </p:spTree>
    <p:extLst>
      <p:ext uri="{BB962C8B-B14F-4D97-AF65-F5344CB8AC3E}">
        <p14:creationId xmlns:p14="http://schemas.microsoft.com/office/powerpoint/2010/main" val="29008976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687474"/>
            <a:ext cx="7989752" cy="1083329"/>
          </a:xfrm>
          <a:prstGeom prst="rect">
            <a:avLst/>
          </a:prstGeom>
        </p:spPr>
        <p:txBody>
          <a:bodyPr vert="horz" lIns="91440" tIns="45720" rIns="91440" bIns="45720" rtlCol="0" anchor="b">
            <a:normAutofit/>
          </a:bodyPr>
          <a:lstStyle/>
          <a:p>
            <a:r>
              <a:rPr lang="fr-FR"/>
              <a:t>Modifiez le style du titre</a:t>
            </a:r>
            <a:endParaRPr lang="en-US" dirty="0"/>
          </a:p>
        </p:txBody>
      </p:sp>
      <p:sp>
        <p:nvSpPr>
          <p:cNvPr id="3" name="Text Placeholder 2"/>
          <p:cNvSpPr>
            <a:spLocks noGrp="1"/>
          </p:cNvSpPr>
          <p:nvPr>
            <p:ph type="body" idx="1"/>
          </p:nvPr>
        </p:nvSpPr>
        <p:spPr>
          <a:xfrm>
            <a:off x="581192" y="2228003"/>
            <a:ext cx="7989752" cy="3630794"/>
          </a:xfrm>
          <a:prstGeom prst="rect">
            <a:avLst/>
          </a:prstGeom>
        </p:spPr>
        <p:txBody>
          <a:bodyPr vert="horz" lIns="91440" tIns="45720" rIns="91440" bIns="45720" rtlCol="0" anchor="ctr">
            <a:normAutofit/>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5559327" y="5956136"/>
            <a:ext cx="2133600" cy="365125"/>
          </a:xfrm>
          <a:prstGeom prst="rect">
            <a:avLst/>
          </a:prstGeom>
        </p:spPr>
        <p:txBody>
          <a:bodyPr vert="horz" lIns="91440" tIns="45720" rIns="91440" bIns="45720" rtlCol="0" anchor="ctr"/>
          <a:lstStyle>
            <a:lvl1pPr algn="r">
              <a:defRPr sz="900">
                <a:solidFill>
                  <a:schemeClr val="accent2"/>
                </a:solidFill>
              </a:defRPr>
            </a:lvl1pPr>
          </a:lstStyle>
          <a:p>
            <a:fld id="{A68323B0-73EB-40DB-A5B0-338261459F41}" type="datetime1">
              <a:rPr lang="fr-CA" smtClean="0"/>
              <a:t>2020-11-13</a:t>
            </a:fld>
            <a:endParaRPr lang="fr-CA"/>
          </a:p>
        </p:txBody>
      </p:sp>
      <p:sp>
        <p:nvSpPr>
          <p:cNvPr id="5" name="Footer Placeholder 4"/>
          <p:cNvSpPr>
            <a:spLocks noGrp="1"/>
          </p:cNvSpPr>
          <p:nvPr>
            <p:ph type="ftr" sz="quarter" idx="3"/>
          </p:nvPr>
        </p:nvSpPr>
        <p:spPr>
          <a:xfrm>
            <a:off x="581192" y="5951810"/>
            <a:ext cx="4870585" cy="365125"/>
          </a:xfrm>
          <a:prstGeom prst="rect">
            <a:avLst/>
          </a:prstGeom>
        </p:spPr>
        <p:txBody>
          <a:bodyPr vert="horz" lIns="91440" tIns="45720" rIns="91440" bIns="45720" rtlCol="0" anchor="ctr"/>
          <a:lstStyle>
            <a:lvl1pPr algn="l">
              <a:defRPr sz="900" cap="all">
                <a:solidFill>
                  <a:schemeClr val="accent2"/>
                </a:solidFill>
              </a:defRPr>
            </a:lvl1pPr>
          </a:lstStyle>
          <a:p>
            <a:endParaRPr lang="fr-CA"/>
          </a:p>
        </p:txBody>
      </p:sp>
      <p:sp>
        <p:nvSpPr>
          <p:cNvPr id="6" name="Slide Number Placeholder 5"/>
          <p:cNvSpPr>
            <a:spLocks noGrp="1"/>
          </p:cNvSpPr>
          <p:nvPr>
            <p:ph type="sldNum" sz="quarter" idx="4"/>
          </p:nvPr>
        </p:nvSpPr>
        <p:spPr>
          <a:xfrm>
            <a:off x="7800476" y="5956136"/>
            <a:ext cx="770468" cy="365125"/>
          </a:xfrm>
          <a:prstGeom prst="rect">
            <a:avLst/>
          </a:prstGeom>
        </p:spPr>
        <p:txBody>
          <a:bodyPr vert="horz" lIns="91440" tIns="45720" rIns="91440" bIns="45720" rtlCol="0" anchor="ctr"/>
          <a:lstStyle>
            <a:lvl1pPr algn="r">
              <a:defRPr sz="900">
                <a:solidFill>
                  <a:schemeClr val="accent2"/>
                </a:solidFill>
              </a:defRPr>
            </a:lvl1pPr>
          </a:lstStyle>
          <a:p>
            <a:fld id="{3F1B3DEB-6CA3-4B97-B0DC-BA3F5F40634A}" type="slidenum">
              <a:rPr lang="fr-CA" smtClean="0"/>
              <a:t>‹N°›</a:t>
            </a:fld>
            <a:endParaRPr lang="fr-CA"/>
          </a:p>
        </p:txBody>
      </p:sp>
      <p:sp>
        <p:nvSpPr>
          <p:cNvPr id="9" name="Rectangle 8"/>
          <p:cNvSpPr/>
          <p:nvPr/>
        </p:nvSpPr>
        <p:spPr>
          <a:xfrm>
            <a:off x="448091" y="441325"/>
            <a:ext cx="2719909" cy="10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5976001" y="441325"/>
            <a:ext cx="2710800" cy="108000"/>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3216601" y="441325"/>
            <a:ext cx="2710800" cy="10800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226138580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1.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tags" Target="../tags/tag9.xml"/><Relationship Id="rId3" Type="http://schemas.openxmlformats.org/officeDocument/2006/relationships/tags" Target="../tags/tag4.xml"/><Relationship Id="rId7" Type="http://schemas.openxmlformats.org/officeDocument/2006/relationships/tags" Target="../tags/tag8.xml"/><Relationship Id="rId12" Type="http://schemas.openxmlformats.org/officeDocument/2006/relationships/notesSlide" Target="../notesSlides/notesSlide2.xml"/><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tags" Target="../tags/tag7.xml"/><Relationship Id="rId11" Type="http://schemas.openxmlformats.org/officeDocument/2006/relationships/slideLayout" Target="../slideLayouts/slideLayout2.xml"/><Relationship Id="rId5" Type="http://schemas.openxmlformats.org/officeDocument/2006/relationships/tags" Target="../tags/tag6.xml"/><Relationship Id="rId10" Type="http://schemas.openxmlformats.org/officeDocument/2006/relationships/tags" Target="../tags/tag11.xml"/><Relationship Id="rId4" Type="http://schemas.openxmlformats.org/officeDocument/2006/relationships/tags" Target="../tags/tag5.xml"/><Relationship Id="rId9" Type="http://schemas.openxmlformats.org/officeDocument/2006/relationships/tags" Target="../tags/tag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036BACF-A3D6-4201-9A76-0D294B4DC1EC}"/>
              </a:ext>
            </a:extLst>
          </p:cNvPr>
          <p:cNvSpPr>
            <a:spLocks noGrp="1"/>
          </p:cNvSpPr>
          <p:nvPr>
            <p:ph type="ctrTitle"/>
          </p:nvPr>
        </p:nvSpPr>
        <p:spPr/>
        <p:txBody>
          <a:bodyPr>
            <a:normAutofit fontScale="90000"/>
          </a:bodyPr>
          <a:lstStyle/>
          <a:p>
            <a:r>
              <a:rPr lang="fr-CA" dirty="0">
                <a:solidFill>
                  <a:schemeClr val="tx2"/>
                </a:solidFill>
              </a:rPr>
              <a:t>Les produits d’activités ordinaires tirés de contrats conclus avec des clients</a:t>
            </a:r>
          </a:p>
        </p:txBody>
      </p:sp>
      <p:sp>
        <p:nvSpPr>
          <p:cNvPr id="3" name="Sous-titre 2">
            <a:extLst>
              <a:ext uri="{FF2B5EF4-FFF2-40B4-BE49-F238E27FC236}">
                <a16:creationId xmlns:a16="http://schemas.microsoft.com/office/drawing/2014/main" id="{1AB99EBF-E551-4F8A-8705-173F7D68E0EA}"/>
              </a:ext>
            </a:extLst>
          </p:cNvPr>
          <p:cNvSpPr>
            <a:spLocks noGrp="1"/>
          </p:cNvSpPr>
          <p:nvPr>
            <p:ph type="subTitle" idx="1"/>
          </p:nvPr>
        </p:nvSpPr>
        <p:spPr/>
        <p:txBody>
          <a:bodyPr>
            <a:normAutofit/>
          </a:bodyPr>
          <a:lstStyle/>
          <a:p>
            <a:r>
              <a:rPr lang="fr-CA" sz="3200" b="1" dirty="0"/>
              <a:t>IFRS 15</a:t>
            </a:r>
          </a:p>
        </p:txBody>
      </p:sp>
      <p:sp>
        <p:nvSpPr>
          <p:cNvPr id="4" name="ZoneTexte 3">
            <a:extLst>
              <a:ext uri="{FF2B5EF4-FFF2-40B4-BE49-F238E27FC236}">
                <a16:creationId xmlns:a16="http://schemas.microsoft.com/office/drawing/2014/main" id="{5309B996-EC96-4E38-BB0B-6E9C8249C70E}"/>
              </a:ext>
            </a:extLst>
          </p:cNvPr>
          <p:cNvSpPr txBox="1"/>
          <p:nvPr>
            <p:custDataLst>
              <p:tags r:id="rId1"/>
            </p:custDataLst>
          </p:nvPr>
        </p:nvSpPr>
        <p:spPr>
          <a:xfrm>
            <a:off x="4537494" y="5478801"/>
            <a:ext cx="4295955" cy="646331"/>
          </a:xfrm>
          <a:prstGeom prst="rect">
            <a:avLst/>
          </a:prstGeom>
          <a:noFill/>
        </p:spPr>
        <p:txBody>
          <a:bodyPr wrap="square" rtlCol="0">
            <a:spAutoFit/>
          </a:bodyPr>
          <a:lstStyle/>
          <a:p>
            <a:r>
              <a:rPr lang="fr-CA" dirty="0">
                <a:solidFill>
                  <a:schemeClr val="bg1"/>
                </a:solidFill>
              </a:rPr>
              <a:t>Léa Dugal, M. Sc., CPA auditrice, CA</a:t>
            </a:r>
          </a:p>
          <a:p>
            <a:r>
              <a:rPr lang="fr-CA" dirty="0">
                <a:solidFill>
                  <a:schemeClr val="bg1"/>
                </a:solidFill>
              </a:rPr>
              <a:t>Mis à jour Louise Overbeek, Février 2019</a:t>
            </a:r>
          </a:p>
        </p:txBody>
      </p:sp>
      <p:pic>
        <p:nvPicPr>
          <p:cNvPr id="5" name="Image 4">
            <a:extLst>
              <a:ext uri="{FF2B5EF4-FFF2-40B4-BE49-F238E27FC236}">
                <a16:creationId xmlns:a16="http://schemas.microsoft.com/office/drawing/2014/main" id="{75AF8B63-A3D9-4398-9CA3-1238DBB21801}"/>
              </a:ext>
            </a:extLst>
          </p:cNvPr>
          <p:cNvPicPr>
            <a:picLocks noChangeAspect="1"/>
          </p:cNvPicPr>
          <p:nvPr/>
        </p:nvPicPr>
        <p:blipFill>
          <a:blip r:embed="rId4"/>
          <a:stretch>
            <a:fillRect/>
          </a:stretch>
        </p:blipFill>
        <p:spPr>
          <a:xfrm>
            <a:off x="722169" y="5478801"/>
            <a:ext cx="3815325" cy="640975"/>
          </a:xfrm>
          <a:prstGeom prst="rect">
            <a:avLst/>
          </a:prstGeom>
        </p:spPr>
      </p:pic>
    </p:spTree>
    <p:extLst>
      <p:ext uri="{BB962C8B-B14F-4D97-AF65-F5344CB8AC3E}">
        <p14:creationId xmlns:p14="http://schemas.microsoft.com/office/powerpoint/2010/main" val="34152723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68E1386-768D-4A39-8761-230EEDC24A0C}"/>
              </a:ext>
            </a:extLst>
          </p:cNvPr>
          <p:cNvSpPr>
            <a:spLocks noGrp="1"/>
          </p:cNvSpPr>
          <p:nvPr>
            <p:ph type="title"/>
          </p:nvPr>
        </p:nvSpPr>
        <p:spPr/>
        <p:txBody>
          <a:bodyPr/>
          <a:lstStyle/>
          <a:p>
            <a:r>
              <a:rPr lang="fr-CA" dirty="0"/>
              <a:t>Champ d’application</a:t>
            </a:r>
          </a:p>
        </p:txBody>
      </p:sp>
      <p:sp>
        <p:nvSpPr>
          <p:cNvPr id="3" name="Espace réservé du contenu 2">
            <a:extLst>
              <a:ext uri="{FF2B5EF4-FFF2-40B4-BE49-F238E27FC236}">
                <a16:creationId xmlns:a16="http://schemas.microsoft.com/office/drawing/2014/main" id="{D57B5F78-6BF8-4140-8FDF-3BE88A68D7E0}"/>
              </a:ext>
            </a:extLst>
          </p:cNvPr>
          <p:cNvSpPr>
            <a:spLocks noGrp="1"/>
          </p:cNvSpPr>
          <p:nvPr>
            <p:ph sz="half" idx="1"/>
          </p:nvPr>
        </p:nvSpPr>
        <p:spPr>
          <a:xfrm>
            <a:off x="581192" y="2228002"/>
            <a:ext cx="3899527" cy="3674034"/>
          </a:xfrm>
        </p:spPr>
        <p:txBody>
          <a:bodyPr>
            <a:noAutofit/>
          </a:bodyPr>
          <a:lstStyle/>
          <a:p>
            <a:r>
              <a:rPr lang="fr-CA" sz="2000" dirty="0">
                <a:latin typeface="+mj-lt"/>
                <a:ea typeface="Calibri" panose="020F0502020204030204" pitchFamily="34" charset="0"/>
                <a:cs typeface="Times New Roman" panose="02020603050405020304" pitchFamily="18" charset="0"/>
              </a:rPr>
              <a:t>L'entité doit appliquer IFRS 15 à un contrat seulement si l'autre partie au contrat est </a:t>
            </a:r>
            <a:r>
              <a:rPr lang="fr-CA" sz="2000" b="1" dirty="0">
                <a:solidFill>
                  <a:schemeClr val="accent2"/>
                </a:solidFill>
                <a:latin typeface="+mj-lt"/>
                <a:ea typeface="Calibri" panose="020F0502020204030204" pitchFamily="34" charset="0"/>
                <a:cs typeface="Times New Roman" panose="02020603050405020304" pitchFamily="18" charset="0"/>
              </a:rPr>
              <a:t>un client</a:t>
            </a:r>
            <a:r>
              <a:rPr lang="fr-CA" sz="2000" dirty="0">
                <a:latin typeface="+mj-lt"/>
                <a:ea typeface="Calibri" panose="020F0502020204030204" pitchFamily="34" charset="0"/>
                <a:cs typeface="Times New Roman" panose="02020603050405020304" pitchFamily="18" charset="0"/>
              </a:rPr>
              <a:t>. </a:t>
            </a:r>
          </a:p>
          <a:p>
            <a:r>
              <a:rPr lang="fr-CA" sz="2000" b="1" dirty="0">
                <a:solidFill>
                  <a:schemeClr val="accent2"/>
                </a:solidFill>
                <a:latin typeface="+mj-lt"/>
                <a:ea typeface="Calibri" panose="020F0502020204030204" pitchFamily="34" charset="0"/>
                <a:cs typeface="Times New Roman" panose="02020603050405020304" pitchFamily="18" charset="0"/>
              </a:rPr>
              <a:t>Un client est </a:t>
            </a:r>
          </a:p>
          <a:p>
            <a:pPr marL="457200" indent="-457200">
              <a:buFont typeface="Courier New" panose="02070309020205020404" pitchFamily="49" charset="0"/>
              <a:buChar char="o"/>
            </a:pPr>
            <a:r>
              <a:rPr lang="fr-CA" sz="2000" dirty="0">
                <a:latin typeface="+mj-lt"/>
                <a:ea typeface="Calibri" panose="020F0502020204030204" pitchFamily="34" charset="0"/>
                <a:cs typeface="Times New Roman" panose="02020603050405020304" pitchFamily="18" charset="0"/>
              </a:rPr>
              <a:t>une partie ayant conclu un contrat avec une entité</a:t>
            </a:r>
          </a:p>
          <a:p>
            <a:pPr marL="457200" indent="-457200">
              <a:buFont typeface="Courier New" panose="02070309020205020404" pitchFamily="49" charset="0"/>
              <a:buChar char="o"/>
            </a:pPr>
            <a:r>
              <a:rPr lang="fr-CA" sz="2000" dirty="0">
                <a:latin typeface="+mj-lt"/>
                <a:ea typeface="Calibri" panose="020F0502020204030204" pitchFamily="34" charset="0"/>
                <a:cs typeface="Times New Roman" panose="02020603050405020304" pitchFamily="18" charset="0"/>
              </a:rPr>
              <a:t>en vue d’obtenir des biens ou des services </a:t>
            </a:r>
          </a:p>
          <a:p>
            <a:pPr marL="457200" indent="-457200">
              <a:buFont typeface="Courier New" panose="02070309020205020404" pitchFamily="49" charset="0"/>
              <a:buChar char="o"/>
            </a:pPr>
            <a:r>
              <a:rPr lang="fr-CA" sz="2000" dirty="0">
                <a:latin typeface="+mj-lt"/>
                <a:ea typeface="Calibri" panose="020F0502020204030204" pitchFamily="34" charset="0"/>
                <a:cs typeface="Times New Roman" panose="02020603050405020304" pitchFamily="18" charset="0"/>
              </a:rPr>
              <a:t>qui sont un extrant des activités ordinaires de l’entité.</a:t>
            </a:r>
            <a:endParaRPr lang="fr-CA" sz="2000" dirty="0">
              <a:latin typeface="+mj-lt"/>
            </a:endParaRPr>
          </a:p>
        </p:txBody>
      </p:sp>
      <p:sp>
        <p:nvSpPr>
          <p:cNvPr id="4" name="Espace réservé du contenu 3">
            <a:extLst>
              <a:ext uri="{FF2B5EF4-FFF2-40B4-BE49-F238E27FC236}">
                <a16:creationId xmlns:a16="http://schemas.microsoft.com/office/drawing/2014/main" id="{02167D87-7CEA-441C-BEA4-77F45A8E78B2}"/>
              </a:ext>
            </a:extLst>
          </p:cNvPr>
          <p:cNvSpPr>
            <a:spLocks noGrp="1"/>
          </p:cNvSpPr>
          <p:nvPr>
            <p:ph sz="half" idx="2"/>
          </p:nvPr>
        </p:nvSpPr>
        <p:spPr>
          <a:xfrm>
            <a:off x="4663281" y="2228003"/>
            <a:ext cx="4000427" cy="4098906"/>
          </a:xfrm>
        </p:spPr>
        <p:txBody>
          <a:bodyPr>
            <a:noAutofit/>
          </a:bodyPr>
          <a:lstStyle/>
          <a:p>
            <a:r>
              <a:rPr lang="fr-CA" sz="2000" dirty="0">
                <a:latin typeface="+mj-lt"/>
              </a:rPr>
              <a:t>Donc …</a:t>
            </a:r>
          </a:p>
          <a:p>
            <a:pPr marL="418950" indent="-285750">
              <a:buFont typeface="Wingdings" panose="05000000000000000000" pitchFamily="2" charset="2"/>
              <a:buChar char="ü"/>
            </a:pPr>
            <a:r>
              <a:rPr lang="fr-CA" dirty="0">
                <a:latin typeface="+mj-lt"/>
              </a:rPr>
              <a:t>La vente de biens </a:t>
            </a:r>
          </a:p>
          <a:p>
            <a:pPr marL="418950" indent="-285750">
              <a:buFont typeface="Wingdings" panose="05000000000000000000" pitchFamily="2" charset="2"/>
              <a:buChar char="ü"/>
            </a:pPr>
            <a:r>
              <a:rPr lang="fr-CA" dirty="0">
                <a:latin typeface="+mj-lt"/>
              </a:rPr>
              <a:t>La prestations de services</a:t>
            </a:r>
          </a:p>
          <a:p>
            <a:pPr marL="418950" indent="-285750">
              <a:buFont typeface="Wingdings" panose="05000000000000000000" pitchFamily="2" charset="2"/>
              <a:buChar char="ü"/>
            </a:pPr>
            <a:r>
              <a:rPr lang="fr-CA" dirty="0">
                <a:latin typeface="+mj-lt"/>
              </a:rPr>
              <a:t>Les licences de propriété intellectuelle</a:t>
            </a:r>
          </a:p>
          <a:p>
            <a:pPr marL="418950" indent="-285750">
              <a:buFont typeface="Wingdings" panose="05000000000000000000" pitchFamily="2" charset="2"/>
              <a:buChar char="ü"/>
            </a:pPr>
            <a:r>
              <a:rPr lang="fr-CA" dirty="0">
                <a:latin typeface="+mj-lt"/>
              </a:rPr>
              <a:t>Entité agissant pour son propre compte ou comme mandataire</a:t>
            </a:r>
          </a:p>
          <a:p>
            <a:pPr marL="418950" indent="-285750">
              <a:buFont typeface="Wingdings" panose="05000000000000000000" pitchFamily="2" charset="2"/>
              <a:buChar char="ü"/>
            </a:pPr>
            <a:r>
              <a:rPr lang="fr-CA" dirty="0">
                <a:latin typeface="+mj-lt"/>
              </a:rPr>
              <a:t>Les droits de retour</a:t>
            </a:r>
          </a:p>
          <a:p>
            <a:pPr marL="418950" indent="-285750">
              <a:buFont typeface="Wingdings" panose="05000000000000000000" pitchFamily="2" charset="2"/>
              <a:buChar char="ü"/>
            </a:pPr>
            <a:r>
              <a:rPr lang="fr-CA" dirty="0">
                <a:latin typeface="+mj-lt"/>
              </a:rPr>
              <a:t>Les garanties</a:t>
            </a:r>
          </a:p>
          <a:p>
            <a:pPr marL="418950" indent="-285750">
              <a:buFont typeface="Wingdings" panose="05000000000000000000" pitchFamily="2" charset="2"/>
              <a:buChar char="ü"/>
            </a:pPr>
            <a:r>
              <a:rPr lang="fr-CA" dirty="0">
                <a:latin typeface="+mj-lt"/>
              </a:rPr>
              <a:t>Les ventes à livrer</a:t>
            </a:r>
          </a:p>
          <a:p>
            <a:pPr marL="418950" indent="-285750">
              <a:buFont typeface="Wingdings" panose="05000000000000000000" pitchFamily="2" charset="2"/>
              <a:buChar char="ü"/>
            </a:pPr>
            <a:r>
              <a:rPr lang="fr-CA" dirty="0">
                <a:latin typeface="+mj-lt"/>
              </a:rPr>
              <a:t>…</a:t>
            </a:r>
            <a:endParaRPr lang="fr-CA" sz="2000" dirty="0">
              <a:latin typeface="+mj-lt"/>
            </a:endParaRPr>
          </a:p>
        </p:txBody>
      </p:sp>
      <p:sp>
        <p:nvSpPr>
          <p:cNvPr id="5" name="Rectangle 4">
            <a:extLst>
              <a:ext uri="{FF2B5EF4-FFF2-40B4-BE49-F238E27FC236}">
                <a16:creationId xmlns:a16="http://schemas.microsoft.com/office/drawing/2014/main" id="{2FC12F4B-34C7-4588-9F08-E2D354487836}"/>
              </a:ext>
            </a:extLst>
          </p:cNvPr>
          <p:cNvSpPr/>
          <p:nvPr/>
        </p:nvSpPr>
        <p:spPr>
          <a:xfrm>
            <a:off x="3344487" y="5941612"/>
            <a:ext cx="1227513" cy="38529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sz="1600" b="1" i="1" dirty="0">
                <a:solidFill>
                  <a:schemeClr val="accent2"/>
                </a:solidFill>
              </a:rPr>
              <a:t>IFRS 15.6</a:t>
            </a:r>
          </a:p>
        </p:txBody>
      </p:sp>
      <p:sp>
        <p:nvSpPr>
          <p:cNvPr id="6" name="Espace réservé du numéro de diapositive 5"/>
          <p:cNvSpPr>
            <a:spLocks noGrp="1"/>
          </p:cNvSpPr>
          <p:nvPr>
            <p:ph type="sldNum" sz="quarter" idx="12"/>
          </p:nvPr>
        </p:nvSpPr>
        <p:spPr/>
        <p:txBody>
          <a:bodyPr/>
          <a:lstStyle/>
          <a:p>
            <a:fld id="{3F1B3DEB-6CA3-4B97-B0DC-BA3F5F40634A}" type="slidenum">
              <a:rPr lang="fr-CA" smtClean="0"/>
              <a:t>2</a:t>
            </a:fld>
            <a:endParaRPr lang="fr-CA"/>
          </a:p>
        </p:txBody>
      </p:sp>
    </p:spTree>
    <p:extLst>
      <p:ext uri="{BB962C8B-B14F-4D97-AF65-F5344CB8AC3E}">
        <p14:creationId xmlns:p14="http://schemas.microsoft.com/office/powerpoint/2010/main" val="16737974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6F20756-2D01-4591-9D2E-0BEA9B5C867E}"/>
              </a:ext>
            </a:extLst>
          </p:cNvPr>
          <p:cNvSpPr>
            <a:spLocks noGrp="1"/>
          </p:cNvSpPr>
          <p:nvPr>
            <p:ph type="title"/>
          </p:nvPr>
        </p:nvSpPr>
        <p:spPr/>
        <p:txBody>
          <a:bodyPr/>
          <a:lstStyle/>
          <a:p>
            <a:r>
              <a:rPr lang="fr-CA" dirty="0"/>
              <a:t>Le principe</a:t>
            </a:r>
          </a:p>
        </p:txBody>
      </p:sp>
      <p:sp>
        <p:nvSpPr>
          <p:cNvPr id="4" name="Espace réservé du contenu 3">
            <a:extLst>
              <a:ext uri="{FF2B5EF4-FFF2-40B4-BE49-F238E27FC236}">
                <a16:creationId xmlns:a16="http://schemas.microsoft.com/office/drawing/2014/main" id="{E9C5C45E-6347-4339-B834-8A4744B273A0}"/>
              </a:ext>
            </a:extLst>
          </p:cNvPr>
          <p:cNvSpPr>
            <a:spLocks noGrp="1"/>
          </p:cNvSpPr>
          <p:nvPr>
            <p:ph idx="1"/>
          </p:nvPr>
        </p:nvSpPr>
        <p:spPr>
          <a:xfrm>
            <a:off x="355451" y="2195684"/>
            <a:ext cx="7989752" cy="1157240"/>
          </a:xfrm>
          <a:prstGeom prst="rect">
            <a:avLst/>
          </a:prstGeom>
        </p:spPr>
        <p:txBody>
          <a:bodyPr wrap="square">
            <a:spAutoFit/>
          </a:bodyPr>
          <a:lstStyle/>
          <a:p>
            <a:r>
              <a:rPr lang="fr-CA" sz="2400" dirty="0">
                <a:latin typeface="+mj-lt"/>
                <a:ea typeface="Calibri" panose="020F0502020204030204" pitchFamily="34" charset="0"/>
                <a:cs typeface="Times New Roman" panose="02020603050405020304" pitchFamily="18" charset="0"/>
              </a:rPr>
              <a:t>L’entité doit comptabiliser les produits des activités ordinaires de manière à montrer</a:t>
            </a:r>
          </a:p>
          <a:p>
            <a:pPr marL="295275" lvl="1"/>
            <a:endParaRPr lang="fr-CA" sz="1350" dirty="0">
              <a:latin typeface="+mj-lt"/>
            </a:endParaRPr>
          </a:p>
        </p:txBody>
      </p:sp>
      <p:sp>
        <p:nvSpPr>
          <p:cNvPr id="5" name="Rectangle 4">
            <a:extLst>
              <a:ext uri="{FF2B5EF4-FFF2-40B4-BE49-F238E27FC236}">
                <a16:creationId xmlns:a16="http://schemas.microsoft.com/office/drawing/2014/main" id="{BD834BA9-A192-4DD0-A004-E6E97668494D}"/>
              </a:ext>
            </a:extLst>
          </p:cNvPr>
          <p:cNvSpPr/>
          <p:nvPr/>
        </p:nvSpPr>
        <p:spPr>
          <a:xfrm>
            <a:off x="581192" y="4062324"/>
            <a:ext cx="3870734" cy="1765819"/>
          </a:xfrm>
          <a:prstGeom prst="rect">
            <a:avLst/>
          </a:prstGeom>
        </p:spPr>
        <p:style>
          <a:lnRef idx="3">
            <a:schemeClr val="lt1"/>
          </a:lnRef>
          <a:fillRef idx="1">
            <a:schemeClr val="accent3"/>
          </a:fillRef>
          <a:effectRef idx="1">
            <a:schemeClr val="accent3"/>
          </a:effectRef>
          <a:fontRef idx="minor">
            <a:schemeClr val="lt1"/>
          </a:fontRef>
        </p:style>
        <p:txBody>
          <a:bodyPr rtlCol="0" anchor="ctr"/>
          <a:lstStyle/>
          <a:p>
            <a:pPr algn="ctr"/>
            <a:r>
              <a:rPr lang="fr-CA" sz="2800" b="1" dirty="0">
                <a:solidFill>
                  <a:schemeClr val="accent1"/>
                </a:solidFill>
                <a:ea typeface="Calibri" panose="020F0502020204030204" pitchFamily="34" charset="0"/>
                <a:cs typeface="Times New Roman" panose="02020603050405020304" pitchFamily="18" charset="0"/>
              </a:rPr>
              <a:t>Quand</a:t>
            </a:r>
            <a:r>
              <a:rPr lang="fr-CA" sz="2800" dirty="0">
                <a:solidFill>
                  <a:schemeClr val="accent1"/>
                </a:solidFill>
                <a:ea typeface="Calibri" panose="020F0502020204030204" pitchFamily="34" charset="0"/>
                <a:cs typeface="Times New Roman" panose="02020603050405020304" pitchFamily="18" charset="0"/>
              </a:rPr>
              <a:t> </a:t>
            </a:r>
            <a:br>
              <a:rPr lang="fr-CA" dirty="0">
                <a:ea typeface="Calibri" panose="020F0502020204030204" pitchFamily="34" charset="0"/>
                <a:cs typeface="Times New Roman" panose="02020603050405020304" pitchFamily="18" charset="0"/>
              </a:rPr>
            </a:br>
            <a:r>
              <a:rPr lang="fr-CA" dirty="0">
                <a:solidFill>
                  <a:schemeClr val="tx1"/>
                </a:solidFill>
                <a:ea typeface="Calibri" panose="020F0502020204030204" pitchFamily="34" charset="0"/>
                <a:cs typeface="Times New Roman" panose="02020603050405020304" pitchFamily="18" charset="0"/>
              </a:rPr>
              <a:t>les biens ou les services promis aux clients sont fournis  (le moment)</a:t>
            </a:r>
            <a:endParaRPr lang="fr-CA" dirty="0">
              <a:solidFill>
                <a:schemeClr val="tx1"/>
              </a:solidFill>
            </a:endParaRPr>
          </a:p>
        </p:txBody>
      </p:sp>
      <p:sp>
        <p:nvSpPr>
          <p:cNvPr id="6" name="Rectangle 5">
            <a:extLst>
              <a:ext uri="{FF2B5EF4-FFF2-40B4-BE49-F238E27FC236}">
                <a16:creationId xmlns:a16="http://schemas.microsoft.com/office/drawing/2014/main" id="{F1D01D41-E092-4670-ABE1-5653AF65B9D1}"/>
              </a:ext>
            </a:extLst>
          </p:cNvPr>
          <p:cNvSpPr/>
          <p:nvPr/>
        </p:nvSpPr>
        <p:spPr>
          <a:xfrm>
            <a:off x="4692074" y="4062325"/>
            <a:ext cx="3990107" cy="1765818"/>
          </a:xfrm>
          <a:prstGeom prst="rect">
            <a:avLst/>
          </a:prstGeom>
        </p:spPr>
        <p:style>
          <a:lnRef idx="3">
            <a:schemeClr val="lt1"/>
          </a:lnRef>
          <a:fillRef idx="1">
            <a:schemeClr val="accent4"/>
          </a:fillRef>
          <a:effectRef idx="1">
            <a:schemeClr val="accent4"/>
          </a:effectRef>
          <a:fontRef idx="minor">
            <a:schemeClr val="lt1"/>
          </a:fontRef>
        </p:style>
        <p:txBody>
          <a:bodyPr rtlCol="0" anchor="ctr"/>
          <a:lstStyle/>
          <a:p>
            <a:pPr marL="342900" lvl="1" algn="ctr"/>
            <a:r>
              <a:rPr lang="fr-CA" sz="2800" b="1" dirty="0">
                <a:solidFill>
                  <a:schemeClr val="accent1"/>
                </a:solidFill>
                <a:cs typeface="Times New Roman" panose="02020603050405020304" pitchFamily="18" charset="0"/>
              </a:rPr>
              <a:t>Montant</a:t>
            </a:r>
            <a:br>
              <a:rPr lang="fr-CA" dirty="0">
                <a:ea typeface="Calibri" panose="020F0502020204030204" pitchFamily="34" charset="0"/>
                <a:cs typeface="Times New Roman" panose="02020603050405020304" pitchFamily="18" charset="0"/>
              </a:rPr>
            </a:br>
            <a:r>
              <a:rPr lang="fr-CA" dirty="0">
                <a:solidFill>
                  <a:schemeClr val="tx1"/>
                </a:solidFill>
                <a:ea typeface="Calibri" panose="020F0502020204030204" pitchFamily="34" charset="0"/>
                <a:cs typeface="Times New Roman" panose="02020603050405020304" pitchFamily="18" charset="0"/>
              </a:rPr>
              <a:t>de contrepartie elle s’attend à avoir droit en échange de ces biens ou services. (la mesure)</a:t>
            </a:r>
          </a:p>
        </p:txBody>
      </p:sp>
      <p:cxnSp>
        <p:nvCxnSpPr>
          <p:cNvPr id="10" name="Connecteur droit avec flèche 9">
            <a:extLst>
              <a:ext uri="{FF2B5EF4-FFF2-40B4-BE49-F238E27FC236}">
                <a16:creationId xmlns:a16="http://schemas.microsoft.com/office/drawing/2014/main" id="{355E1E8F-060F-4FD8-A8F3-B310A64E77F9}"/>
              </a:ext>
            </a:extLst>
          </p:cNvPr>
          <p:cNvCxnSpPr>
            <a:cxnSpLocks/>
          </p:cNvCxnSpPr>
          <p:nvPr/>
        </p:nvCxnSpPr>
        <p:spPr>
          <a:xfrm flipH="1">
            <a:off x="2992583" y="3071153"/>
            <a:ext cx="1357744" cy="798883"/>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12" name="Connecteur droit avec flèche 11">
            <a:extLst>
              <a:ext uri="{FF2B5EF4-FFF2-40B4-BE49-F238E27FC236}">
                <a16:creationId xmlns:a16="http://schemas.microsoft.com/office/drawing/2014/main" id="{1D1CFC65-6DD4-4994-A70E-07DF1BCF33C4}"/>
              </a:ext>
            </a:extLst>
          </p:cNvPr>
          <p:cNvCxnSpPr>
            <a:cxnSpLocks/>
          </p:cNvCxnSpPr>
          <p:nvPr/>
        </p:nvCxnSpPr>
        <p:spPr>
          <a:xfrm>
            <a:off x="4350327" y="3069482"/>
            <a:ext cx="1302328" cy="828263"/>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13" name="Rectangle 12">
            <a:extLst>
              <a:ext uri="{FF2B5EF4-FFF2-40B4-BE49-F238E27FC236}">
                <a16:creationId xmlns:a16="http://schemas.microsoft.com/office/drawing/2014/main" id="{5AAC8F6E-9265-4AD1-8B35-89F809FDF88A}"/>
              </a:ext>
            </a:extLst>
          </p:cNvPr>
          <p:cNvSpPr/>
          <p:nvPr/>
        </p:nvSpPr>
        <p:spPr>
          <a:xfrm>
            <a:off x="7454668" y="2793412"/>
            <a:ext cx="1227513" cy="38529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sz="1600" b="1" i="1" dirty="0">
                <a:solidFill>
                  <a:schemeClr val="accent2"/>
                </a:solidFill>
              </a:rPr>
              <a:t>IFRS 15.2</a:t>
            </a:r>
          </a:p>
        </p:txBody>
      </p:sp>
      <p:sp>
        <p:nvSpPr>
          <p:cNvPr id="3" name="Espace réservé du numéro de diapositive 2"/>
          <p:cNvSpPr>
            <a:spLocks noGrp="1"/>
          </p:cNvSpPr>
          <p:nvPr>
            <p:ph type="sldNum" sz="quarter" idx="12"/>
          </p:nvPr>
        </p:nvSpPr>
        <p:spPr/>
        <p:txBody>
          <a:bodyPr/>
          <a:lstStyle/>
          <a:p>
            <a:fld id="{3F1B3DEB-6CA3-4B97-B0DC-BA3F5F40634A}" type="slidenum">
              <a:rPr lang="fr-CA" smtClean="0"/>
              <a:t>3</a:t>
            </a:fld>
            <a:endParaRPr lang="fr-CA"/>
          </a:p>
        </p:txBody>
      </p:sp>
    </p:spTree>
    <p:extLst>
      <p:ext uri="{BB962C8B-B14F-4D97-AF65-F5344CB8AC3E}">
        <p14:creationId xmlns:p14="http://schemas.microsoft.com/office/powerpoint/2010/main" val="1503965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7A956AB-4506-4A41-9743-A35FCD878FBF}"/>
              </a:ext>
            </a:extLst>
          </p:cNvPr>
          <p:cNvSpPr>
            <a:spLocks noGrp="1"/>
          </p:cNvSpPr>
          <p:nvPr>
            <p:ph type="title"/>
          </p:nvPr>
        </p:nvSpPr>
        <p:spPr/>
        <p:txBody>
          <a:bodyPr/>
          <a:lstStyle/>
          <a:p>
            <a:r>
              <a:rPr lang="fr-CA" dirty="0"/>
              <a:t>Modèle en 5 étapes</a:t>
            </a:r>
          </a:p>
        </p:txBody>
      </p:sp>
      <p:sp>
        <p:nvSpPr>
          <p:cNvPr id="14" name="Rectangle 3">
            <a:extLst>
              <a:ext uri="{FF2B5EF4-FFF2-40B4-BE49-F238E27FC236}">
                <a16:creationId xmlns:a16="http://schemas.microsoft.com/office/drawing/2014/main" id="{1BDCEB15-1C5B-462F-9A3A-BE7F462E0A40}"/>
              </a:ext>
            </a:extLst>
          </p:cNvPr>
          <p:cNvSpPr txBox="1">
            <a:spLocks noChangeArrowheads="1"/>
          </p:cNvSpPr>
          <p:nvPr>
            <p:custDataLst>
              <p:tags r:id="rId1"/>
            </p:custDataLst>
          </p:nvPr>
        </p:nvSpPr>
        <p:spPr bwMode="auto">
          <a:xfrm>
            <a:off x="483787" y="3166076"/>
            <a:ext cx="7615431" cy="473536"/>
          </a:xfrm>
          <a:prstGeom prst="rect">
            <a:avLst/>
          </a:prstGeom>
          <a:solidFill>
            <a:schemeClr val="accent2"/>
          </a:solidFill>
          <a:ln w="6350">
            <a:noFill/>
            <a:miter lim="800000"/>
            <a:headEnd/>
            <a:tailEnd/>
          </a:ln>
          <a:effectLst/>
        </p:spPr>
        <p:txBody>
          <a:bodyPr vert="horz" wrap="square" lIns="144000" tIns="27432" rIns="45720" bIns="27432" numCol="1" anchor="ctr" anchorCtr="0" compatLnSpc="1">
            <a:prstTxWarp prst="textNoShape">
              <a:avLst/>
            </a:prstTxWarp>
          </a:bodyPr>
          <a:lstStyle/>
          <a:p>
            <a:pPr lvl="0" defTabSz="179388">
              <a:spcAft>
                <a:spcPts val="400"/>
              </a:spcAft>
              <a:defRPr/>
            </a:pPr>
            <a:r>
              <a:rPr lang="fr-CA" b="1" i="1" kern="0" dirty="0">
                <a:latin typeface="+mj-lt"/>
              </a:rPr>
              <a:t>Étape 1 – </a:t>
            </a:r>
            <a:r>
              <a:rPr lang="fr-CA" kern="0" dirty="0">
                <a:latin typeface="+mj-lt"/>
              </a:rPr>
              <a:t>Identifier le contrat conclu avec le client</a:t>
            </a:r>
            <a:endParaRPr kumimoji="0" lang="fr-CA" b="0" i="0" u="none" strike="noStrike" kern="0" cap="none" spc="0" normalizeH="0" baseline="0" noProof="0" dirty="0">
              <a:ln>
                <a:noFill/>
              </a:ln>
              <a:effectLst/>
              <a:uLnTx/>
              <a:uFillTx/>
              <a:latin typeface="+mj-lt"/>
            </a:endParaRPr>
          </a:p>
        </p:txBody>
      </p:sp>
      <p:sp>
        <p:nvSpPr>
          <p:cNvPr id="15" name="Rectangle 3">
            <a:extLst>
              <a:ext uri="{FF2B5EF4-FFF2-40B4-BE49-F238E27FC236}">
                <a16:creationId xmlns:a16="http://schemas.microsoft.com/office/drawing/2014/main" id="{B22B59CD-F405-4BA0-B641-EF886FCC4ED8}"/>
              </a:ext>
            </a:extLst>
          </p:cNvPr>
          <p:cNvSpPr txBox="1">
            <a:spLocks noChangeArrowheads="1"/>
          </p:cNvSpPr>
          <p:nvPr>
            <p:custDataLst>
              <p:tags r:id="rId2"/>
            </p:custDataLst>
          </p:nvPr>
        </p:nvSpPr>
        <p:spPr bwMode="auto">
          <a:xfrm>
            <a:off x="499897" y="4540887"/>
            <a:ext cx="7615431" cy="575995"/>
          </a:xfrm>
          <a:prstGeom prst="rect">
            <a:avLst/>
          </a:prstGeom>
          <a:solidFill>
            <a:schemeClr val="accent4"/>
          </a:solidFill>
          <a:ln w="6350">
            <a:noFill/>
            <a:miter lim="800000"/>
            <a:headEnd/>
            <a:tailEnd/>
          </a:ln>
          <a:effectLst/>
        </p:spPr>
        <p:txBody>
          <a:bodyPr vert="horz" wrap="square" lIns="144000" tIns="27432" rIns="45720" bIns="27432" numCol="1" anchor="ctr" anchorCtr="0" compatLnSpc="1">
            <a:prstTxWarp prst="textNoShape">
              <a:avLst/>
            </a:prstTxWarp>
          </a:bodyPr>
          <a:lstStyle/>
          <a:p>
            <a:pPr lvl="0" defTabSz="179388">
              <a:spcAft>
                <a:spcPts val="400"/>
              </a:spcAft>
              <a:defRPr/>
            </a:pPr>
            <a:r>
              <a:rPr lang="fr-CA" b="1" i="1" kern="0" dirty="0">
                <a:latin typeface="+mj-lt"/>
              </a:rPr>
              <a:t>Étape 3 – </a:t>
            </a:r>
            <a:r>
              <a:rPr lang="fr-CA" kern="0" dirty="0">
                <a:latin typeface="+mj-lt"/>
              </a:rPr>
              <a:t>Comptabiliser le produit des activités ordinaires lorsque l’entité a rempli (ou à mesure qu’elle remplit) une obligation de prestation</a:t>
            </a:r>
            <a:endParaRPr kumimoji="0" lang="fr-CA" b="0" i="0" u="none" strike="noStrike" kern="0" cap="none" spc="0" normalizeH="0" baseline="0" noProof="0" dirty="0">
              <a:ln>
                <a:noFill/>
              </a:ln>
              <a:effectLst/>
              <a:uLnTx/>
              <a:uFillTx/>
              <a:latin typeface="+mj-lt"/>
            </a:endParaRPr>
          </a:p>
        </p:txBody>
      </p:sp>
      <p:sp>
        <p:nvSpPr>
          <p:cNvPr id="16" name="AutoShape 27">
            <a:extLst>
              <a:ext uri="{FF2B5EF4-FFF2-40B4-BE49-F238E27FC236}">
                <a16:creationId xmlns:a16="http://schemas.microsoft.com/office/drawing/2014/main" id="{7EFD7A3F-6C6A-44AC-A1B3-AA31E379F797}"/>
              </a:ext>
            </a:extLst>
          </p:cNvPr>
          <p:cNvSpPr>
            <a:spLocks noChangeArrowheads="1"/>
          </p:cNvSpPr>
          <p:nvPr>
            <p:custDataLst>
              <p:tags r:id="rId3"/>
            </p:custDataLst>
          </p:nvPr>
        </p:nvSpPr>
        <p:spPr bwMode="blackWhite">
          <a:xfrm rot="10800000">
            <a:off x="4316251" y="3701535"/>
            <a:ext cx="412270" cy="121760"/>
          </a:xfrm>
          <a:prstGeom prst="triangle">
            <a:avLst>
              <a:gd name="adj" fmla="val 50000"/>
            </a:avLst>
          </a:prstGeom>
          <a:solidFill>
            <a:schemeClr val="tx1"/>
          </a:solidFill>
          <a:ln w="6350">
            <a:noFill/>
            <a:miter lim="800000"/>
            <a:headEnd/>
            <a:tailEnd/>
          </a:ln>
          <a:effectLst/>
        </p:spPr>
        <p:txBody>
          <a:bodyPr vert="horz" wrap="square" lIns="144000" tIns="27432" rIns="45720" bIns="27432" numCol="1" anchor="ctr" anchorCtr="0" compatLnSpc="1">
            <a:prstTxWarp prst="textNoShape">
              <a:avLst/>
            </a:prstTxWarp>
          </a:bodyPr>
          <a:lstStyle/>
          <a:p>
            <a:pPr defTabSz="179388">
              <a:spcAft>
                <a:spcPts val="400"/>
              </a:spcAft>
              <a:defRPr/>
            </a:pPr>
            <a:endParaRPr lang="fr-CA" b="1" i="1" kern="0" dirty="0">
              <a:solidFill>
                <a:schemeClr val="bg1"/>
              </a:solidFill>
              <a:latin typeface="Georgia" pitchFamily="18" charset="0"/>
            </a:endParaRPr>
          </a:p>
        </p:txBody>
      </p:sp>
      <p:sp>
        <p:nvSpPr>
          <p:cNvPr id="17" name="AutoShape 27">
            <a:extLst>
              <a:ext uri="{FF2B5EF4-FFF2-40B4-BE49-F238E27FC236}">
                <a16:creationId xmlns:a16="http://schemas.microsoft.com/office/drawing/2014/main" id="{1B362F35-B1E5-45DA-8D4F-719536E4836F}"/>
              </a:ext>
            </a:extLst>
          </p:cNvPr>
          <p:cNvSpPr>
            <a:spLocks noChangeArrowheads="1"/>
          </p:cNvSpPr>
          <p:nvPr>
            <p:custDataLst>
              <p:tags r:id="rId4"/>
            </p:custDataLst>
          </p:nvPr>
        </p:nvSpPr>
        <p:spPr bwMode="blackWhite">
          <a:xfrm rot="10800000">
            <a:off x="4316252" y="4390737"/>
            <a:ext cx="412270" cy="121760"/>
          </a:xfrm>
          <a:prstGeom prst="triangle">
            <a:avLst>
              <a:gd name="adj" fmla="val 50000"/>
            </a:avLst>
          </a:prstGeom>
          <a:solidFill>
            <a:schemeClr val="tx1"/>
          </a:solidFill>
          <a:ln w="6350">
            <a:noFill/>
            <a:miter lim="800000"/>
            <a:headEnd/>
            <a:tailEnd/>
          </a:ln>
          <a:effectLst/>
        </p:spPr>
        <p:txBody>
          <a:bodyPr vert="horz" wrap="square" lIns="144000" tIns="27432" rIns="45720" bIns="27432" numCol="1" anchor="ctr" anchorCtr="0" compatLnSpc="1">
            <a:prstTxWarp prst="textNoShape">
              <a:avLst/>
            </a:prstTxWarp>
          </a:bodyPr>
          <a:lstStyle/>
          <a:p>
            <a:pPr defTabSz="179388">
              <a:spcAft>
                <a:spcPts val="400"/>
              </a:spcAft>
              <a:defRPr/>
            </a:pPr>
            <a:endParaRPr lang="fr-CA" b="1" i="1" kern="0" dirty="0">
              <a:solidFill>
                <a:schemeClr val="bg1"/>
              </a:solidFill>
              <a:latin typeface="Georgia" pitchFamily="18" charset="0"/>
            </a:endParaRPr>
          </a:p>
        </p:txBody>
      </p:sp>
      <p:sp>
        <p:nvSpPr>
          <p:cNvPr id="18" name="AutoShape 27">
            <a:extLst>
              <a:ext uri="{FF2B5EF4-FFF2-40B4-BE49-F238E27FC236}">
                <a16:creationId xmlns:a16="http://schemas.microsoft.com/office/drawing/2014/main" id="{57DC285E-81E2-43E4-8710-E03F6BCAC25C}"/>
              </a:ext>
            </a:extLst>
          </p:cNvPr>
          <p:cNvSpPr>
            <a:spLocks noChangeArrowheads="1"/>
          </p:cNvSpPr>
          <p:nvPr>
            <p:custDataLst>
              <p:tags r:id="rId5"/>
            </p:custDataLst>
          </p:nvPr>
        </p:nvSpPr>
        <p:spPr bwMode="blackWhite">
          <a:xfrm rot="10800000">
            <a:off x="4316252" y="5153827"/>
            <a:ext cx="412270" cy="121760"/>
          </a:xfrm>
          <a:prstGeom prst="triangle">
            <a:avLst>
              <a:gd name="adj" fmla="val 50000"/>
            </a:avLst>
          </a:prstGeom>
          <a:solidFill>
            <a:schemeClr val="tx1"/>
          </a:solidFill>
          <a:ln w="6350">
            <a:noFill/>
            <a:miter lim="800000"/>
            <a:headEnd/>
            <a:tailEnd/>
          </a:ln>
          <a:effectLst/>
        </p:spPr>
        <p:txBody>
          <a:bodyPr vert="horz" wrap="square" lIns="144000" tIns="27432" rIns="45720" bIns="27432" numCol="1" anchor="ctr" anchorCtr="0" compatLnSpc="1">
            <a:prstTxWarp prst="textNoShape">
              <a:avLst/>
            </a:prstTxWarp>
          </a:bodyPr>
          <a:lstStyle/>
          <a:p>
            <a:pPr defTabSz="179388">
              <a:spcAft>
                <a:spcPts val="400"/>
              </a:spcAft>
              <a:defRPr/>
            </a:pPr>
            <a:endParaRPr lang="fr-CA" b="1" i="1" kern="0" dirty="0">
              <a:solidFill>
                <a:schemeClr val="bg1"/>
              </a:solidFill>
              <a:latin typeface="Georgia" pitchFamily="18" charset="0"/>
            </a:endParaRPr>
          </a:p>
        </p:txBody>
      </p:sp>
      <p:sp>
        <p:nvSpPr>
          <p:cNvPr id="19" name="AutoShape 27">
            <a:extLst>
              <a:ext uri="{FF2B5EF4-FFF2-40B4-BE49-F238E27FC236}">
                <a16:creationId xmlns:a16="http://schemas.microsoft.com/office/drawing/2014/main" id="{281AB16A-38A6-474B-9AB4-0FAFB88D9FA6}"/>
              </a:ext>
            </a:extLst>
          </p:cNvPr>
          <p:cNvSpPr>
            <a:spLocks noChangeArrowheads="1"/>
          </p:cNvSpPr>
          <p:nvPr>
            <p:custDataLst>
              <p:tags r:id="rId6"/>
            </p:custDataLst>
          </p:nvPr>
        </p:nvSpPr>
        <p:spPr bwMode="blackWhite">
          <a:xfrm rot="10800000">
            <a:off x="4316252" y="5843028"/>
            <a:ext cx="412270" cy="121760"/>
          </a:xfrm>
          <a:prstGeom prst="triangle">
            <a:avLst>
              <a:gd name="adj" fmla="val 50000"/>
            </a:avLst>
          </a:prstGeom>
          <a:solidFill>
            <a:schemeClr val="tx1"/>
          </a:solidFill>
          <a:ln w="6350">
            <a:noFill/>
            <a:miter lim="800000"/>
            <a:headEnd/>
            <a:tailEnd/>
          </a:ln>
          <a:effectLst/>
        </p:spPr>
        <p:txBody>
          <a:bodyPr vert="horz" wrap="square" lIns="144000" tIns="27432" rIns="45720" bIns="27432" numCol="1" anchor="ctr" anchorCtr="0" compatLnSpc="1">
            <a:prstTxWarp prst="textNoShape">
              <a:avLst/>
            </a:prstTxWarp>
          </a:bodyPr>
          <a:lstStyle/>
          <a:p>
            <a:pPr defTabSz="179388">
              <a:spcAft>
                <a:spcPts val="400"/>
              </a:spcAft>
              <a:defRPr/>
            </a:pPr>
            <a:endParaRPr lang="fr-CA" b="1" i="1" kern="0" dirty="0">
              <a:solidFill>
                <a:schemeClr val="bg1"/>
              </a:solidFill>
              <a:latin typeface="Georgia" pitchFamily="18" charset="0"/>
            </a:endParaRPr>
          </a:p>
        </p:txBody>
      </p:sp>
      <p:sp>
        <p:nvSpPr>
          <p:cNvPr id="20" name="Rectangle 3">
            <a:extLst>
              <a:ext uri="{FF2B5EF4-FFF2-40B4-BE49-F238E27FC236}">
                <a16:creationId xmlns:a16="http://schemas.microsoft.com/office/drawing/2014/main" id="{CB0DDC5A-5BA7-4E2E-97E3-BFE9273E2935}"/>
              </a:ext>
            </a:extLst>
          </p:cNvPr>
          <p:cNvSpPr txBox="1">
            <a:spLocks noChangeArrowheads="1"/>
          </p:cNvSpPr>
          <p:nvPr>
            <p:custDataLst>
              <p:tags r:id="rId7"/>
            </p:custDataLst>
          </p:nvPr>
        </p:nvSpPr>
        <p:spPr bwMode="auto">
          <a:xfrm>
            <a:off x="499897" y="5290891"/>
            <a:ext cx="7615431" cy="504050"/>
          </a:xfrm>
          <a:prstGeom prst="rect">
            <a:avLst/>
          </a:prstGeom>
          <a:solidFill>
            <a:schemeClr val="accent5"/>
          </a:solidFill>
          <a:ln w="6350">
            <a:noFill/>
            <a:miter lim="800000"/>
            <a:headEnd/>
            <a:tailEnd/>
          </a:ln>
          <a:effectLst/>
        </p:spPr>
        <p:txBody>
          <a:bodyPr vert="horz" wrap="square" lIns="144000" tIns="27432" rIns="45720" bIns="27432" numCol="1" anchor="ctr" anchorCtr="0" compatLnSpc="1">
            <a:prstTxWarp prst="textNoShape">
              <a:avLst/>
            </a:prstTxWarp>
          </a:bodyPr>
          <a:lstStyle/>
          <a:p>
            <a:pPr lvl="0" defTabSz="179388">
              <a:spcAft>
                <a:spcPts val="400"/>
              </a:spcAft>
              <a:defRPr/>
            </a:pPr>
            <a:r>
              <a:rPr lang="fr-CA" b="1" i="1" kern="0" dirty="0">
                <a:latin typeface="+mj-lt"/>
              </a:rPr>
              <a:t>Étape 4 – </a:t>
            </a:r>
            <a:r>
              <a:rPr lang="fr-CA" kern="0" dirty="0">
                <a:latin typeface="+mj-lt"/>
              </a:rPr>
              <a:t>Déterminer le prix de transaction</a:t>
            </a:r>
            <a:endParaRPr kumimoji="0" lang="fr-CA" sz="1200" b="0" i="0" u="none" strike="noStrike" kern="0" cap="none" spc="0" normalizeH="0" baseline="0" noProof="0" dirty="0">
              <a:ln>
                <a:noFill/>
              </a:ln>
              <a:effectLst/>
              <a:uLnTx/>
              <a:uFillTx/>
              <a:latin typeface="+mj-lt"/>
            </a:endParaRPr>
          </a:p>
        </p:txBody>
      </p:sp>
      <p:sp>
        <p:nvSpPr>
          <p:cNvPr id="21" name="Rectangle 3">
            <a:extLst>
              <a:ext uri="{FF2B5EF4-FFF2-40B4-BE49-F238E27FC236}">
                <a16:creationId xmlns:a16="http://schemas.microsoft.com/office/drawing/2014/main" id="{A26A6E65-9B01-4FEE-968D-B9EE8BDB9831}"/>
              </a:ext>
            </a:extLst>
          </p:cNvPr>
          <p:cNvSpPr txBox="1">
            <a:spLocks noChangeArrowheads="1"/>
          </p:cNvSpPr>
          <p:nvPr>
            <p:custDataLst>
              <p:tags r:id="rId8"/>
            </p:custDataLst>
          </p:nvPr>
        </p:nvSpPr>
        <p:spPr bwMode="auto">
          <a:xfrm>
            <a:off x="499896" y="6014118"/>
            <a:ext cx="7615431" cy="504050"/>
          </a:xfrm>
          <a:prstGeom prst="rect">
            <a:avLst/>
          </a:prstGeom>
          <a:solidFill>
            <a:schemeClr val="accent6"/>
          </a:solidFill>
          <a:ln w="6350">
            <a:noFill/>
            <a:miter lim="800000"/>
            <a:headEnd/>
            <a:tailEnd/>
          </a:ln>
          <a:effectLst/>
        </p:spPr>
        <p:txBody>
          <a:bodyPr vert="horz" wrap="square" lIns="144000" tIns="27432" rIns="45720" bIns="27432" numCol="1" anchor="ctr" anchorCtr="0" compatLnSpc="1">
            <a:prstTxWarp prst="textNoShape">
              <a:avLst/>
            </a:prstTxWarp>
          </a:bodyPr>
          <a:lstStyle/>
          <a:p>
            <a:pPr lvl="0" defTabSz="179388">
              <a:spcAft>
                <a:spcPts val="400"/>
              </a:spcAft>
              <a:defRPr/>
            </a:pPr>
            <a:r>
              <a:rPr lang="fr-CA" b="1" i="1" kern="0" dirty="0">
                <a:latin typeface="+mj-lt"/>
              </a:rPr>
              <a:t>Étape 5 – </a:t>
            </a:r>
            <a:r>
              <a:rPr lang="fr-CA" kern="0" dirty="0">
                <a:latin typeface="+mj-lt"/>
              </a:rPr>
              <a:t>Répartir le prix de transaction</a:t>
            </a:r>
            <a:endParaRPr kumimoji="0" lang="fr-CA" b="0" i="0" u="none" strike="noStrike" kern="0" cap="none" spc="0" normalizeH="0" baseline="0" noProof="0" dirty="0">
              <a:ln>
                <a:noFill/>
              </a:ln>
              <a:effectLst/>
              <a:uLnTx/>
              <a:uFillTx/>
              <a:latin typeface="+mj-lt"/>
            </a:endParaRPr>
          </a:p>
        </p:txBody>
      </p:sp>
      <p:sp>
        <p:nvSpPr>
          <p:cNvPr id="22" name="TextBox 42">
            <a:extLst>
              <a:ext uri="{FF2B5EF4-FFF2-40B4-BE49-F238E27FC236}">
                <a16:creationId xmlns:a16="http://schemas.microsoft.com/office/drawing/2014/main" id="{CA37F7C4-6404-400B-8D9A-9BEFE995357D}"/>
              </a:ext>
            </a:extLst>
          </p:cNvPr>
          <p:cNvSpPr txBox="1"/>
          <p:nvPr>
            <p:custDataLst>
              <p:tags r:id="rId9"/>
            </p:custDataLst>
          </p:nvPr>
        </p:nvSpPr>
        <p:spPr>
          <a:xfrm>
            <a:off x="499896" y="2035200"/>
            <a:ext cx="8160317" cy="936104"/>
          </a:xfrm>
          <a:prstGeom prst="rect">
            <a:avLst/>
          </a:prstGeom>
        </p:spPr>
        <p:style>
          <a:lnRef idx="2">
            <a:schemeClr val="accent1"/>
          </a:lnRef>
          <a:fillRef idx="1">
            <a:schemeClr val="lt1"/>
          </a:fillRef>
          <a:effectRef idx="0">
            <a:schemeClr val="accent1"/>
          </a:effectRef>
          <a:fontRef idx="minor">
            <a:schemeClr val="dk1"/>
          </a:fontRef>
        </p:style>
        <p:txBody>
          <a:bodyPr vert="horz" wrap="square" lIns="0" tIns="0" rIns="0" bIns="0" rtlCol="0" anchor="ctr" anchorCtr="0">
            <a:noAutofit/>
          </a:bodyPr>
          <a:lstStyle/>
          <a:p>
            <a:pPr indent="-274320" algn="ctr">
              <a:spcAft>
                <a:spcPts val="900"/>
              </a:spcAft>
            </a:pPr>
            <a:r>
              <a:rPr lang="fr-CA" sz="2000" b="1" i="1" dirty="0">
                <a:solidFill>
                  <a:schemeClr val="tx2"/>
                </a:solidFill>
                <a:latin typeface="+mj-lt"/>
              </a:rPr>
              <a:t>Principe de base </a:t>
            </a:r>
            <a:br>
              <a:rPr lang="fr-CA" sz="2000" dirty="0">
                <a:solidFill>
                  <a:schemeClr val="tx2"/>
                </a:solidFill>
                <a:latin typeface="+mj-lt"/>
              </a:rPr>
            </a:br>
            <a:r>
              <a:rPr lang="fr-CA" sz="2000" dirty="0">
                <a:solidFill>
                  <a:schemeClr val="tx2"/>
                </a:solidFill>
                <a:latin typeface="+mj-lt"/>
              </a:rPr>
              <a:t>Les produits des activités ordinaires sont comptabilisés de manière à refléter la fourniture des biens ou des services</a:t>
            </a:r>
            <a:endParaRPr lang="fr-CA" dirty="0">
              <a:solidFill>
                <a:schemeClr val="tx2"/>
              </a:solidFill>
              <a:latin typeface="+mj-lt"/>
            </a:endParaRPr>
          </a:p>
        </p:txBody>
      </p:sp>
      <p:sp>
        <p:nvSpPr>
          <p:cNvPr id="23" name="Rectangle 3">
            <a:extLst>
              <a:ext uri="{FF2B5EF4-FFF2-40B4-BE49-F238E27FC236}">
                <a16:creationId xmlns:a16="http://schemas.microsoft.com/office/drawing/2014/main" id="{3064B00A-5137-427E-AD70-B314AB9D8DB3}"/>
              </a:ext>
            </a:extLst>
          </p:cNvPr>
          <p:cNvSpPr txBox="1">
            <a:spLocks noChangeArrowheads="1"/>
          </p:cNvSpPr>
          <p:nvPr>
            <p:custDataLst>
              <p:tags r:id="rId10"/>
            </p:custDataLst>
          </p:nvPr>
        </p:nvSpPr>
        <p:spPr bwMode="auto">
          <a:xfrm>
            <a:off x="493744" y="3835400"/>
            <a:ext cx="7615431" cy="496118"/>
          </a:xfrm>
          <a:prstGeom prst="rect">
            <a:avLst/>
          </a:prstGeom>
          <a:solidFill>
            <a:schemeClr val="accent3"/>
          </a:solidFill>
          <a:ln w="6350">
            <a:noFill/>
            <a:miter lim="800000"/>
            <a:headEnd/>
            <a:tailEnd/>
          </a:ln>
          <a:effectLst/>
        </p:spPr>
        <p:txBody>
          <a:bodyPr vert="horz" wrap="square" lIns="144000" tIns="27432" rIns="45720" bIns="27432" numCol="1" anchor="ctr" anchorCtr="0" compatLnSpc="1">
            <a:prstTxWarp prst="textNoShape">
              <a:avLst/>
            </a:prstTxWarp>
          </a:bodyPr>
          <a:lstStyle/>
          <a:p>
            <a:pPr lvl="0" defTabSz="179388">
              <a:spcAft>
                <a:spcPts val="400"/>
              </a:spcAft>
              <a:defRPr/>
            </a:pPr>
            <a:r>
              <a:rPr lang="fr-CA" b="1" i="1" kern="0" dirty="0">
                <a:latin typeface="+mj-lt"/>
              </a:rPr>
              <a:t>Étape 2 </a:t>
            </a:r>
            <a:r>
              <a:rPr lang="fr-CA" i="1" kern="0" dirty="0">
                <a:latin typeface="+mj-lt"/>
              </a:rPr>
              <a:t>– </a:t>
            </a:r>
            <a:r>
              <a:rPr lang="fr-CA" kern="0" dirty="0">
                <a:latin typeface="+mj-lt"/>
              </a:rPr>
              <a:t>Identifier les obligations de prestation contenues dans le contrat</a:t>
            </a:r>
            <a:endParaRPr kumimoji="0" lang="fr-CA" i="0" u="none" strike="noStrike" kern="0" cap="none" spc="0" normalizeH="0" baseline="0" noProof="0" dirty="0">
              <a:ln>
                <a:noFill/>
              </a:ln>
              <a:effectLst/>
              <a:uLnTx/>
              <a:uFillTx/>
              <a:latin typeface="+mj-lt"/>
            </a:endParaRPr>
          </a:p>
        </p:txBody>
      </p:sp>
      <p:sp>
        <p:nvSpPr>
          <p:cNvPr id="24" name="ZoneTexte 23">
            <a:extLst>
              <a:ext uri="{FF2B5EF4-FFF2-40B4-BE49-F238E27FC236}">
                <a16:creationId xmlns:a16="http://schemas.microsoft.com/office/drawing/2014/main" id="{8846132A-77BE-4AB2-B49D-C32F45EA4BAA}"/>
              </a:ext>
            </a:extLst>
          </p:cNvPr>
          <p:cNvSpPr txBox="1"/>
          <p:nvPr/>
        </p:nvSpPr>
        <p:spPr>
          <a:xfrm rot="16200000">
            <a:off x="7515533" y="3972202"/>
            <a:ext cx="1950806" cy="338554"/>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fr-CA" sz="1600" dirty="0">
                <a:solidFill>
                  <a:schemeClr val="accent1"/>
                </a:solidFill>
              </a:rPr>
              <a:t>MOMENT</a:t>
            </a:r>
          </a:p>
        </p:txBody>
      </p:sp>
      <p:sp>
        <p:nvSpPr>
          <p:cNvPr id="25" name="ZoneTexte 24">
            <a:extLst>
              <a:ext uri="{FF2B5EF4-FFF2-40B4-BE49-F238E27FC236}">
                <a16:creationId xmlns:a16="http://schemas.microsoft.com/office/drawing/2014/main" id="{5C5C6887-8514-4772-AF8A-3906C73FFA7A}"/>
              </a:ext>
            </a:extLst>
          </p:cNvPr>
          <p:cNvSpPr txBox="1"/>
          <p:nvPr/>
        </p:nvSpPr>
        <p:spPr>
          <a:xfrm rot="16200000">
            <a:off x="7869571" y="5727676"/>
            <a:ext cx="1242731" cy="338554"/>
          </a:xfrm>
          <a:prstGeom prst="rect">
            <a:avLst/>
          </a:prstGeom>
        </p:spPr>
        <p:style>
          <a:lnRef idx="2">
            <a:schemeClr val="accent4"/>
          </a:lnRef>
          <a:fillRef idx="1">
            <a:schemeClr val="lt1"/>
          </a:fillRef>
          <a:effectRef idx="0">
            <a:schemeClr val="accent4"/>
          </a:effectRef>
          <a:fontRef idx="minor">
            <a:schemeClr val="dk1"/>
          </a:fontRef>
        </p:style>
        <p:txBody>
          <a:bodyPr wrap="square" rtlCol="0">
            <a:spAutoFit/>
          </a:bodyPr>
          <a:lstStyle/>
          <a:p>
            <a:pPr algn="ctr"/>
            <a:r>
              <a:rPr lang="fr-CA" sz="1600" dirty="0">
                <a:solidFill>
                  <a:schemeClr val="accent4"/>
                </a:solidFill>
              </a:rPr>
              <a:t>MONTANT</a:t>
            </a:r>
          </a:p>
        </p:txBody>
      </p:sp>
      <p:sp>
        <p:nvSpPr>
          <p:cNvPr id="3" name="Espace réservé du numéro de diapositive 2"/>
          <p:cNvSpPr>
            <a:spLocks noGrp="1"/>
          </p:cNvSpPr>
          <p:nvPr>
            <p:ph type="sldNum" sz="quarter" idx="12"/>
          </p:nvPr>
        </p:nvSpPr>
        <p:spPr/>
        <p:txBody>
          <a:bodyPr/>
          <a:lstStyle/>
          <a:p>
            <a:fld id="{3F1B3DEB-6CA3-4B97-B0DC-BA3F5F40634A}" type="slidenum">
              <a:rPr lang="fr-CA" smtClean="0"/>
              <a:t>4</a:t>
            </a:fld>
            <a:endParaRPr lang="fr-CA"/>
          </a:p>
        </p:txBody>
      </p:sp>
    </p:spTree>
    <p:extLst>
      <p:ext uri="{BB962C8B-B14F-4D97-AF65-F5344CB8AC3E}">
        <p14:creationId xmlns:p14="http://schemas.microsoft.com/office/powerpoint/2010/main" val="24110283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texte 2">
            <a:extLst>
              <a:ext uri="{FF2B5EF4-FFF2-40B4-BE49-F238E27FC236}">
                <a16:creationId xmlns:a16="http://schemas.microsoft.com/office/drawing/2014/main" id="{043BF129-825C-40ED-B055-625FFE44B6B0}"/>
              </a:ext>
            </a:extLst>
          </p:cNvPr>
          <p:cNvSpPr>
            <a:spLocks noGrp="1"/>
          </p:cNvSpPr>
          <p:nvPr>
            <p:ph type="body" idx="1"/>
          </p:nvPr>
        </p:nvSpPr>
        <p:spPr>
          <a:xfrm>
            <a:off x="581193" y="4184073"/>
            <a:ext cx="7989751" cy="957900"/>
          </a:xfrm>
        </p:spPr>
        <p:txBody>
          <a:bodyPr>
            <a:normAutofit/>
          </a:bodyPr>
          <a:lstStyle/>
          <a:p>
            <a:r>
              <a:rPr lang="fr-CA" sz="2400" b="1" kern="0" dirty="0"/>
              <a:t>Étape 1 – </a:t>
            </a:r>
            <a:r>
              <a:rPr lang="fr-CA" sz="2400" kern="0" dirty="0"/>
              <a:t>Identifier le contrat conclu avec le client</a:t>
            </a:r>
            <a:endParaRPr lang="fr-CA" sz="2400" kern="0" cap="none" dirty="0"/>
          </a:p>
        </p:txBody>
      </p:sp>
      <p:sp>
        <p:nvSpPr>
          <p:cNvPr id="4" name="Rectangle 3">
            <a:extLst>
              <a:ext uri="{FF2B5EF4-FFF2-40B4-BE49-F238E27FC236}">
                <a16:creationId xmlns:a16="http://schemas.microsoft.com/office/drawing/2014/main" id="{0CCCAFE3-92DE-4165-8FB8-28D72504D13A}"/>
              </a:ext>
            </a:extLst>
          </p:cNvPr>
          <p:cNvSpPr/>
          <p:nvPr/>
        </p:nvSpPr>
        <p:spPr>
          <a:xfrm>
            <a:off x="434108" y="5141973"/>
            <a:ext cx="8358909" cy="1295772"/>
          </a:xfrm>
          <a:prstGeom prst="rect">
            <a:avLst/>
          </a:prstGeom>
          <a:solidFill>
            <a:schemeClr val="accent2">
              <a:lumMod val="60000"/>
              <a:lumOff val="40000"/>
            </a:schemeClr>
          </a:solidFill>
        </p:spPr>
        <p:style>
          <a:lnRef idx="3">
            <a:schemeClr val="lt1"/>
          </a:lnRef>
          <a:fillRef idx="1">
            <a:schemeClr val="accent2"/>
          </a:fillRef>
          <a:effectRef idx="1">
            <a:schemeClr val="accent2"/>
          </a:effectRef>
          <a:fontRef idx="minor">
            <a:schemeClr val="lt1"/>
          </a:fontRef>
        </p:style>
        <p:txBody>
          <a:bodyPr rtlCol="0" anchor="ctr"/>
          <a:lstStyle/>
          <a:p>
            <a:pPr algn="ctr"/>
            <a:endParaRPr lang="fr-CA"/>
          </a:p>
        </p:txBody>
      </p:sp>
      <p:sp>
        <p:nvSpPr>
          <p:cNvPr id="2" name="Espace réservé du numéro de diapositive 1"/>
          <p:cNvSpPr>
            <a:spLocks noGrp="1"/>
          </p:cNvSpPr>
          <p:nvPr>
            <p:ph type="sldNum" sz="quarter" idx="12"/>
          </p:nvPr>
        </p:nvSpPr>
        <p:spPr/>
        <p:txBody>
          <a:bodyPr/>
          <a:lstStyle/>
          <a:p>
            <a:fld id="{3F1B3DEB-6CA3-4B97-B0DC-BA3F5F40634A}" type="slidenum">
              <a:rPr lang="fr-CA" smtClean="0"/>
              <a:t>5</a:t>
            </a:fld>
            <a:endParaRPr lang="fr-CA"/>
          </a:p>
        </p:txBody>
      </p:sp>
    </p:spTree>
    <p:extLst>
      <p:ext uri="{BB962C8B-B14F-4D97-AF65-F5344CB8AC3E}">
        <p14:creationId xmlns:p14="http://schemas.microsoft.com/office/powerpoint/2010/main" val="40441667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9B4089F-5A6C-46CC-8DAF-010D49B80E5D}"/>
              </a:ext>
            </a:extLst>
          </p:cNvPr>
          <p:cNvSpPr txBox="1">
            <a:spLocks/>
          </p:cNvSpPr>
          <p:nvPr/>
        </p:nvSpPr>
        <p:spPr>
          <a:xfrm>
            <a:off x="533400" y="685800"/>
            <a:ext cx="7363691" cy="685796"/>
          </a:xfrm>
          <a:prstGeom prst="rect">
            <a:avLst/>
          </a:prstGeom>
        </p:spPr>
        <p:txBody>
          <a:bodyPr>
            <a:normAutofit fontScale="975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fr-CA" kern="0" dirty="0">
                <a:solidFill>
                  <a:schemeClr val="accent2"/>
                </a:solidFill>
              </a:rPr>
              <a:t>Existence d’un contrat</a:t>
            </a:r>
            <a:endParaRPr lang="fr-CA" dirty="0">
              <a:solidFill>
                <a:schemeClr val="accent2"/>
              </a:solidFill>
            </a:endParaRPr>
          </a:p>
        </p:txBody>
      </p:sp>
      <p:sp>
        <p:nvSpPr>
          <p:cNvPr id="3" name="Pentagon 10">
            <a:extLst>
              <a:ext uri="{FF2B5EF4-FFF2-40B4-BE49-F238E27FC236}">
                <a16:creationId xmlns:a16="http://schemas.microsoft.com/office/drawing/2014/main" id="{86654433-96C7-4E06-9D94-ECF817A8A1EB}"/>
              </a:ext>
            </a:extLst>
          </p:cNvPr>
          <p:cNvSpPr/>
          <p:nvPr/>
        </p:nvSpPr>
        <p:spPr bwMode="ltGray">
          <a:xfrm rot="5400000">
            <a:off x="7940040" y="685800"/>
            <a:ext cx="762000" cy="609600"/>
          </a:xfrm>
          <a:prstGeom prst="homePlate">
            <a:avLst/>
          </a:prstGeom>
          <a:solidFill>
            <a:schemeClr val="accent2">
              <a:lumMod val="60000"/>
              <a:lumOff val="4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schemeClr val="bg1"/>
              </a:solidFill>
              <a:latin typeface="+mj-lt"/>
            </a:endParaRPr>
          </a:p>
        </p:txBody>
      </p:sp>
      <p:sp>
        <p:nvSpPr>
          <p:cNvPr id="4" name="TextBox 11">
            <a:extLst>
              <a:ext uri="{FF2B5EF4-FFF2-40B4-BE49-F238E27FC236}">
                <a16:creationId xmlns:a16="http://schemas.microsoft.com/office/drawing/2014/main" id="{C24D2439-4D12-4D55-B7D7-CE87FB5B3064}"/>
              </a:ext>
            </a:extLst>
          </p:cNvPr>
          <p:cNvSpPr txBox="1"/>
          <p:nvPr/>
        </p:nvSpPr>
        <p:spPr>
          <a:xfrm>
            <a:off x="8016240" y="609600"/>
            <a:ext cx="609600" cy="609600"/>
          </a:xfrm>
          <a:prstGeom prst="rect">
            <a:avLst/>
          </a:prstGeom>
          <a:noFill/>
        </p:spPr>
        <p:txBody>
          <a:bodyPr wrap="square" lIns="0" tIns="0" rIns="0" bIns="0" rtlCol="0">
            <a:noAutofit/>
          </a:bodyPr>
          <a:lstStyle/>
          <a:p>
            <a:pPr indent="-274320" algn="ctr">
              <a:spcAft>
                <a:spcPts val="900"/>
              </a:spcAft>
            </a:pPr>
            <a:r>
              <a:rPr lang="en-CA" sz="4000" b="1" i="1" dirty="0">
                <a:solidFill>
                  <a:schemeClr val="bg1"/>
                </a:solidFill>
                <a:latin typeface="+mj-lt"/>
              </a:rPr>
              <a:t>1</a:t>
            </a:r>
          </a:p>
        </p:txBody>
      </p:sp>
      <p:graphicFrame>
        <p:nvGraphicFramePr>
          <p:cNvPr id="5" name="Diagram 14">
            <a:extLst>
              <a:ext uri="{FF2B5EF4-FFF2-40B4-BE49-F238E27FC236}">
                <a16:creationId xmlns:a16="http://schemas.microsoft.com/office/drawing/2014/main" id="{800AB14A-52AF-47D0-969F-3A751CC4DECF}"/>
              </a:ext>
            </a:extLst>
          </p:cNvPr>
          <p:cNvGraphicFramePr/>
          <p:nvPr>
            <p:extLst>
              <p:ext uri="{D42A27DB-BD31-4B8C-83A1-F6EECF244321}">
                <p14:modId xmlns:p14="http://schemas.microsoft.com/office/powerpoint/2010/main" val="259765408"/>
              </p:ext>
            </p:extLst>
          </p:nvPr>
        </p:nvGraphicFramePr>
        <p:xfrm>
          <a:off x="1036320" y="1219200"/>
          <a:ext cx="6705600" cy="4445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cxnSp>
        <p:nvCxnSpPr>
          <p:cNvPr id="7" name="Connecteur droit 6">
            <a:extLst>
              <a:ext uri="{FF2B5EF4-FFF2-40B4-BE49-F238E27FC236}">
                <a16:creationId xmlns:a16="http://schemas.microsoft.com/office/drawing/2014/main" id="{03FCF768-570C-44E8-A14F-AB4E83F86B6E}"/>
              </a:ext>
            </a:extLst>
          </p:cNvPr>
          <p:cNvCxnSpPr>
            <a:cxnSpLocks/>
          </p:cNvCxnSpPr>
          <p:nvPr/>
        </p:nvCxnSpPr>
        <p:spPr>
          <a:xfrm>
            <a:off x="457200" y="624840"/>
            <a:ext cx="7863840" cy="0"/>
          </a:xfrm>
          <a:prstGeom prst="line">
            <a:avLst/>
          </a:prstGeom>
          <a:ln w="28575">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80359A11-137D-4598-823C-1C3EC583EDB5}"/>
              </a:ext>
            </a:extLst>
          </p:cNvPr>
          <p:cNvSpPr/>
          <p:nvPr/>
        </p:nvSpPr>
        <p:spPr>
          <a:xfrm>
            <a:off x="7631083" y="5057885"/>
            <a:ext cx="1227513" cy="38529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sz="1600" b="1" i="1" dirty="0">
                <a:solidFill>
                  <a:schemeClr val="accent2"/>
                </a:solidFill>
              </a:rPr>
              <a:t>IFRS 15.9</a:t>
            </a:r>
          </a:p>
        </p:txBody>
      </p:sp>
      <p:sp>
        <p:nvSpPr>
          <p:cNvPr id="17" name="ZoneTexte 16">
            <a:extLst>
              <a:ext uri="{FF2B5EF4-FFF2-40B4-BE49-F238E27FC236}">
                <a16:creationId xmlns:a16="http://schemas.microsoft.com/office/drawing/2014/main" id="{FAFE9AE2-18F3-45B3-A7C8-A07EFA522AC0}"/>
              </a:ext>
            </a:extLst>
          </p:cNvPr>
          <p:cNvSpPr txBox="1"/>
          <p:nvPr/>
        </p:nvSpPr>
        <p:spPr>
          <a:xfrm>
            <a:off x="533401" y="5786650"/>
            <a:ext cx="7682552" cy="646331"/>
          </a:xfrm>
          <a:prstGeom prst="rect">
            <a:avLst/>
          </a:prstGeom>
          <a:noFill/>
        </p:spPr>
        <p:txBody>
          <a:bodyPr wrap="square" rtlCol="0">
            <a:spAutoFit/>
          </a:bodyPr>
          <a:lstStyle/>
          <a:p>
            <a:r>
              <a:rPr lang="fr-CA" dirty="0"/>
              <a:t>Si la définition d’un contrat n’est pas rencontrée il faut réévaluer les critères à chaque période de </a:t>
            </a:r>
            <a:r>
              <a:rPr lang="fr-CA" dirty="0" err="1"/>
              <a:t>reporting</a:t>
            </a:r>
            <a:r>
              <a:rPr lang="fr-CA" dirty="0"/>
              <a:t>.</a:t>
            </a:r>
          </a:p>
        </p:txBody>
      </p:sp>
      <p:sp>
        <p:nvSpPr>
          <p:cNvPr id="6" name="Espace réservé du numéro de diapositive 5"/>
          <p:cNvSpPr>
            <a:spLocks noGrp="1"/>
          </p:cNvSpPr>
          <p:nvPr>
            <p:ph type="sldNum" sz="quarter" idx="12"/>
          </p:nvPr>
        </p:nvSpPr>
        <p:spPr/>
        <p:txBody>
          <a:bodyPr/>
          <a:lstStyle/>
          <a:p>
            <a:fld id="{3F1B3DEB-6CA3-4B97-B0DC-BA3F5F40634A}" type="slidenum">
              <a:rPr lang="fr-CA" smtClean="0"/>
              <a:t>6</a:t>
            </a:fld>
            <a:endParaRPr lang="fr-CA"/>
          </a:p>
        </p:txBody>
      </p:sp>
    </p:spTree>
    <p:extLst>
      <p:ext uri="{BB962C8B-B14F-4D97-AF65-F5344CB8AC3E}">
        <p14:creationId xmlns:p14="http://schemas.microsoft.com/office/powerpoint/2010/main" val="6129330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9B4089F-5A6C-46CC-8DAF-010D49B80E5D}"/>
              </a:ext>
            </a:extLst>
          </p:cNvPr>
          <p:cNvSpPr txBox="1">
            <a:spLocks/>
          </p:cNvSpPr>
          <p:nvPr/>
        </p:nvSpPr>
        <p:spPr>
          <a:xfrm>
            <a:off x="533400" y="685800"/>
            <a:ext cx="7363691" cy="685796"/>
          </a:xfrm>
          <a:prstGeom prst="rect">
            <a:avLst/>
          </a:prstGeom>
        </p:spPr>
        <p:txBody>
          <a:bodyPr>
            <a:normAutofit fontScale="975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fr-CA" kern="0" dirty="0">
                <a:solidFill>
                  <a:schemeClr val="accent2"/>
                </a:solidFill>
              </a:rPr>
              <a:t>Regroupements de contrats</a:t>
            </a:r>
            <a:endParaRPr lang="fr-CA" dirty="0">
              <a:solidFill>
                <a:schemeClr val="accent2"/>
              </a:solidFill>
            </a:endParaRPr>
          </a:p>
        </p:txBody>
      </p:sp>
      <p:sp>
        <p:nvSpPr>
          <p:cNvPr id="3" name="Pentagon 10">
            <a:extLst>
              <a:ext uri="{FF2B5EF4-FFF2-40B4-BE49-F238E27FC236}">
                <a16:creationId xmlns:a16="http://schemas.microsoft.com/office/drawing/2014/main" id="{86654433-96C7-4E06-9D94-ECF817A8A1EB}"/>
              </a:ext>
            </a:extLst>
          </p:cNvPr>
          <p:cNvSpPr/>
          <p:nvPr/>
        </p:nvSpPr>
        <p:spPr bwMode="ltGray">
          <a:xfrm rot="5400000">
            <a:off x="7940040" y="685800"/>
            <a:ext cx="762000" cy="609600"/>
          </a:xfrm>
          <a:prstGeom prst="homePlate">
            <a:avLst/>
          </a:prstGeom>
          <a:solidFill>
            <a:schemeClr val="accent2">
              <a:lumMod val="60000"/>
              <a:lumOff val="4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schemeClr val="bg1"/>
              </a:solidFill>
              <a:latin typeface="+mj-lt"/>
            </a:endParaRPr>
          </a:p>
        </p:txBody>
      </p:sp>
      <p:sp>
        <p:nvSpPr>
          <p:cNvPr id="4" name="TextBox 11">
            <a:extLst>
              <a:ext uri="{FF2B5EF4-FFF2-40B4-BE49-F238E27FC236}">
                <a16:creationId xmlns:a16="http://schemas.microsoft.com/office/drawing/2014/main" id="{C24D2439-4D12-4D55-B7D7-CE87FB5B3064}"/>
              </a:ext>
            </a:extLst>
          </p:cNvPr>
          <p:cNvSpPr txBox="1"/>
          <p:nvPr/>
        </p:nvSpPr>
        <p:spPr>
          <a:xfrm>
            <a:off x="8016240" y="609600"/>
            <a:ext cx="609600" cy="609600"/>
          </a:xfrm>
          <a:prstGeom prst="rect">
            <a:avLst/>
          </a:prstGeom>
          <a:noFill/>
        </p:spPr>
        <p:txBody>
          <a:bodyPr wrap="square" lIns="0" tIns="0" rIns="0" bIns="0" rtlCol="0">
            <a:noAutofit/>
          </a:bodyPr>
          <a:lstStyle/>
          <a:p>
            <a:pPr indent="-274320" algn="ctr">
              <a:spcAft>
                <a:spcPts val="900"/>
              </a:spcAft>
            </a:pPr>
            <a:r>
              <a:rPr lang="en-CA" sz="4000" b="1" i="1" dirty="0">
                <a:solidFill>
                  <a:schemeClr val="bg1"/>
                </a:solidFill>
                <a:latin typeface="+mj-lt"/>
              </a:rPr>
              <a:t>1</a:t>
            </a:r>
          </a:p>
        </p:txBody>
      </p:sp>
      <p:cxnSp>
        <p:nvCxnSpPr>
          <p:cNvPr id="7" name="Connecteur droit 6">
            <a:extLst>
              <a:ext uri="{FF2B5EF4-FFF2-40B4-BE49-F238E27FC236}">
                <a16:creationId xmlns:a16="http://schemas.microsoft.com/office/drawing/2014/main" id="{03FCF768-570C-44E8-A14F-AB4E83F86B6E}"/>
              </a:ext>
            </a:extLst>
          </p:cNvPr>
          <p:cNvCxnSpPr>
            <a:cxnSpLocks/>
          </p:cNvCxnSpPr>
          <p:nvPr/>
        </p:nvCxnSpPr>
        <p:spPr>
          <a:xfrm>
            <a:off x="457200" y="624840"/>
            <a:ext cx="7863840" cy="0"/>
          </a:xfrm>
          <a:prstGeom prst="line">
            <a:avLst/>
          </a:prstGeom>
          <a:ln w="28575">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8" name="TextBox 2">
            <a:extLst>
              <a:ext uri="{FF2B5EF4-FFF2-40B4-BE49-F238E27FC236}">
                <a16:creationId xmlns:a16="http://schemas.microsoft.com/office/drawing/2014/main" id="{645364D7-5DEB-4E93-ADE4-A6C35A6005D5}"/>
              </a:ext>
            </a:extLst>
          </p:cNvPr>
          <p:cNvSpPr txBox="1"/>
          <p:nvPr/>
        </p:nvSpPr>
        <p:spPr>
          <a:xfrm>
            <a:off x="599678" y="1579421"/>
            <a:ext cx="7944643" cy="4668977"/>
          </a:xfrm>
          <a:prstGeom prst="rect">
            <a:avLst/>
          </a:prstGeom>
          <a:noFill/>
        </p:spPr>
        <p:txBody>
          <a:bodyPr vert="horz" wrap="square" lIns="0" tIns="0" rIns="0" bIns="0" rtlCol="0">
            <a:noAutofit/>
          </a:bodyPr>
          <a:lstStyle/>
          <a:p>
            <a:r>
              <a:rPr lang="fr-CA" sz="2000" i="1" dirty="0"/>
              <a:t>L'entité doit regrouper des contrats </a:t>
            </a:r>
            <a:r>
              <a:rPr lang="fr-CA" sz="2000" b="1" i="1" dirty="0"/>
              <a:t>conclus en même temps ou presque </a:t>
            </a:r>
            <a:r>
              <a:rPr lang="fr-CA" sz="2000" i="1" dirty="0"/>
              <a:t>en même temps avec le </a:t>
            </a:r>
            <a:r>
              <a:rPr lang="fr-CA" sz="2000" b="1" i="1" dirty="0"/>
              <a:t>même client </a:t>
            </a:r>
            <a:r>
              <a:rPr lang="fr-CA" sz="2000" i="1" dirty="0"/>
              <a:t>(ou avec des parties liées à celui-ci) et les comptabiliser comme un seul contrat si </a:t>
            </a:r>
            <a:r>
              <a:rPr lang="fr-CA" sz="2000" i="1" u="sng" dirty="0"/>
              <a:t>au moins une</a:t>
            </a:r>
            <a:r>
              <a:rPr lang="fr-CA" sz="2000" i="1" dirty="0"/>
              <a:t> des conditions ci-dessous est remplie :</a:t>
            </a:r>
          </a:p>
          <a:p>
            <a:endParaRPr lang="fr-CA" sz="2000" i="1" dirty="0"/>
          </a:p>
          <a:p>
            <a:pPr marL="800100" lvl="1" indent="-342900">
              <a:buFont typeface="+mj-lt"/>
              <a:buAutoNum type="alphaLcParenR"/>
            </a:pPr>
            <a:r>
              <a:rPr lang="fr-CA" sz="2000" i="1" dirty="0"/>
              <a:t>les contrats sont </a:t>
            </a:r>
            <a:r>
              <a:rPr lang="fr-CA" sz="2000" b="1" i="1" dirty="0"/>
              <a:t>négociés en bloc </a:t>
            </a:r>
            <a:r>
              <a:rPr lang="fr-CA" sz="2000" i="1" dirty="0"/>
              <a:t>et visent un objectif commercial unique </a:t>
            </a:r>
          </a:p>
          <a:p>
            <a:pPr marL="800100" lvl="1" indent="-342900">
              <a:buFont typeface="+mj-lt"/>
              <a:buAutoNum type="alphaLcParenR"/>
            </a:pPr>
            <a:endParaRPr lang="fr-CA" sz="2000" i="1" dirty="0"/>
          </a:p>
          <a:p>
            <a:pPr marL="800100" lvl="1" indent="-342900">
              <a:buFont typeface="+mj-lt"/>
              <a:buAutoNum type="alphaLcParenR"/>
            </a:pPr>
            <a:r>
              <a:rPr lang="fr-CA" sz="2000" i="1" dirty="0"/>
              <a:t>le montant de </a:t>
            </a:r>
            <a:r>
              <a:rPr lang="fr-CA" sz="2000" b="1" i="1" dirty="0"/>
              <a:t>la contrepartie </a:t>
            </a:r>
            <a:r>
              <a:rPr lang="fr-CA" sz="2000" i="1" dirty="0"/>
              <a:t>à payer en vertu d'un contrat </a:t>
            </a:r>
            <a:r>
              <a:rPr lang="fr-CA" sz="2000" b="1" i="1" dirty="0"/>
              <a:t>dépend du prix ou de l'exécution de l'autre contrat</a:t>
            </a:r>
            <a:r>
              <a:rPr lang="fr-CA" sz="2000" i="1" dirty="0"/>
              <a:t> </a:t>
            </a:r>
          </a:p>
          <a:p>
            <a:pPr marL="800100" lvl="1" indent="-342900">
              <a:buFont typeface="+mj-lt"/>
              <a:buAutoNum type="alphaLcParenR"/>
            </a:pPr>
            <a:endParaRPr lang="fr-CA" sz="2000" i="1" dirty="0"/>
          </a:p>
          <a:p>
            <a:pPr marL="800100" lvl="1" indent="-342900">
              <a:buFont typeface="+mj-lt"/>
              <a:buAutoNum type="alphaLcParenR"/>
            </a:pPr>
            <a:r>
              <a:rPr lang="fr-CA" sz="2000" i="1" dirty="0"/>
              <a:t>les biens ou services promis dans les contrats (ou certains des biens ou services promis dans chacun des contrats) constituent </a:t>
            </a:r>
            <a:r>
              <a:rPr lang="fr-CA" sz="2000" b="1" i="1" dirty="0"/>
              <a:t>une seule obligation de prestation.</a:t>
            </a:r>
          </a:p>
        </p:txBody>
      </p:sp>
      <p:sp>
        <p:nvSpPr>
          <p:cNvPr id="6" name="Rectangle 5">
            <a:extLst>
              <a:ext uri="{FF2B5EF4-FFF2-40B4-BE49-F238E27FC236}">
                <a16:creationId xmlns:a16="http://schemas.microsoft.com/office/drawing/2014/main" id="{DBBF1589-655A-42C4-A861-5551EA07365E}"/>
              </a:ext>
            </a:extLst>
          </p:cNvPr>
          <p:cNvSpPr/>
          <p:nvPr/>
        </p:nvSpPr>
        <p:spPr>
          <a:xfrm>
            <a:off x="7316808" y="5786903"/>
            <a:ext cx="1227513" cy="38529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sz="1600" b="1" i="1" dirty="0">
                <a:solidFill>
                  <a:schemeClr val="accent2"/>
                </a:solidFill>
              </a:rPr>
              <a:t>IFRS 15.17</a:t>
            </a:r>
          </a:p>
        </p:txBody>
      </p:sp>
      <p:sp>
        <p:nvSpPr>
          <p:cNvPr id="5" name="Espace réservé du numéro de diapositive 4"/>
          <p:cNvSpPr>
            <a:spLocks noGrp="1"/>
          </p:cNvSpPr>
          <p:nvPr>
            <p:ph type="sldNum" sz="quarter" idx="12"/>
          </p:nvPr>
        </p:nvSpPr>
        <p:spPr/>
        <p:txBody>
          <a:bodyPr/>
          <a:lstStyle/>
          <a:p>
            <a:fld id="{3F1B3DEB-6CA3-4B97-B0DC-BA3F5F40634A}" type="slidenum">
              <a:rPr lang="fr-CA" smtClean="0"/>
              <a:t>7</a:t>
            </a:fld>
            <a:endParaRPr lang="fr-CA"/>
          </a:p>
        </p:txBody>
      </p:sp>
    </p:spTree>
    <p:extLst>
      <p:ext uri="{BB962C8B-B14F-4D97-AF65-F5344CB8AC3E}">
        <p14:creationId xmlns:p14="http://schemas.microsoft.com/office/powerpoint/2010/main" val="2715174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9B4089F-5A6C-46CC-8DAF-010D49B80E5D}"/>
              </a:ext>
            </a:extLst>
          </p:cNvPr>
          <p:cNvSpPr txBox="1">
            <a:spLocks/>
          </p:cNvSpPr>
          <p:nvPr/>
        </p:nvSpPr>
        <p:spPr>
          <a:xfrm>
            <a:off x="533400" y="685800"/>
            <a:ext cx="7363691" cy="685796"/>
          </a:xfrm>
          <a:prstGeom prst="rect">
            <a:avLst/>
          </a:prstGeom>
        </p:spPr>
        <p:txBody>
          <a:bodyPr>
            <a:noAutofit/>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fr-CA" sz="2400" kern="0" dirty="0">
                <a:solidFill>
                  <a:schemeClr val="accent2"/>
                </a:solidFill>
              </a:rPr>
              <a:t>Contrepartie reçue avant que la définition de contrat soit rencontrée</a:t>
            </a:r>
            <a:endParaRPr lang="fr-CA" sz="2400" dirty="0">
              <a:solidFill>
                <a:schemeClr val="accent2"/>
              </a:solidFill>
            </a:endParaRPr>
          </a:p>
        </p:txBody>
      </p:sp>
      <p:sp>
        <p:nvSpPr>
          <p:cNvPr id="3" name="Pentagon 10">
            <a:extLst>
              <a:ext uri="{FF2B5EF4-FFF2-40B4-BE49-F238E27FC236}">
                <a16:creationId xmlns:a16="http://schemas.microsoft.com/office/drawing/2014/main" id="{86654433-96C7-4E06-9D94-ECF817A8A1EB}"/>
              </a:ext>
            </a:extLst>
          </p:cNvPr>
          <p:cNvSpPr/>
          <p:nvPr/>
        </p:nvSpPr>
        <p:spPr bwMode="ltGray">
          <a:xfrm rot="5400000">
            <a:off x="7940040" y="685800"/>
            <a:ext cx="762000" cy="609600"/>
          </a:xfrm>
          <a:prstGeom prst="homePlate">
            <a:avLst/>
          </a:prstGeom>
          <a:solidFill>
            <a:schemeClr val="accent2">
              <a:lumMod val="60000"/>
              <a:lumOff val="4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schemeClr val="bg1"/>
              </a:solidFill>
              <a:latin typeface="+mj-lt"/>
            </a:endParaRPr>
          </a:p>
        </p:txBody>
      </p:sp>
      <p:sp>
        <p:nvSpPr>
          <p:cNvPr id="4" name="TextBox 11">
            <a:extLst>
              <a:ext uri="{FF2B5EF4-FFF2-40B4-BE49-F238E27FC236}">
                <a16:creationId xmlns:a16="http://schemas.microsoft.com/office/drawing/2014/main" id="{C24D2439-4D12-4D55-B7D7-CE87FB5B3064}"/>
              </a:ext>
            </a:extLst>
          </p:cNvPr>
          <p:cNvSpPr txBox="1"/>
          <p:nvPr/>
        </p:nvSpPr>
        <p:spPr>
          <a:xfrm>
            <a:off x="8016240" y="609600"/>
            <a:ext cx="609600" cy="609600"/>
          </a:xfrm>
          <a:prstGeom prst="rect">
            <a:avLst/>
          </a:prstGeom>
          <a:noFill/>
        </p:spPr>
        <p:txBody>
          <a:bodyPr wrap="square" lIns="0" tIns="0" rIns="0" bIns="0" rtlCol="0">
            <a:noAutofit/>
          </a:bodyPr>
          <a:lstStyle/>
          <a:p>
            <a:pPr indent="-274320" algn="ctr">
              <a:spcAft>
                <a:spcPts val="900"/>
              </a:spcAft>
            </a:pPr>
            <a:r>
              <a:rPr lang="en-CA" sz="4000" b="1" i="1" dirty="0">
                <a:solidFill>
                  <a:schemeClr val="bg1"/>
                </a:solidFill>
                <a:latin typeface="+mj-lt"/>
              </a:rPr>
              <a:t>1</a:t>
            </a:r>
          </a:p>
        </p:txBody>
      </p:sp>
      <p:cxnSp>
        <p:nvCxnSpPr>
          <p:cNvPr id="7" name="Connecteur droit 6">
            <a:extLst>
              <a:ext uri="{FF2B5EF4-FFF2-40B4-BE49-F238E27FC236}">
                <a16:creationId xmlns:a16="http://schemas.microsoft.com/office/drawing/2014/main" id="{03FCF768-570C-44E8-A14F-AB4E83F86B6E}"/>
              </a:ext>
            </a:extLst>
          </p:cNvPr>
          <p:cNvCxnSpPr>
            <a:cxnSpLocks/>
          </p:cNvCxnSpPr>
          <p:nvPr/>
        </p:nvCxnSpPr>
        <p:spPr>
          <a:xfrm>
            <a:off x="457200" y="624840"/>
            <a:ext cx="7863840" cy="0"/>
          </a:xfrm>
          <a:prstGeom prst="line">
            <a:avLst/>
          </a:prstGeom>
          <a:ln w="28575">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8" name="TextBox 2">
            <a:extLst>
              <a:ext uri="{FF2B5EF4-FFF2-40B4-BE49-F238E27FC236}">
                <a16:creationId xmlns:a16="http://schemas.microsoft.com/office/drawing/2014/main" id="{645364D7-5DEB-4E93-ADE4-A6C35A6005D5}"/>
              </a:ext>
            </a:extLst>
          </p:cNvPr>
          <p:cNvSpPr txBox="1"/>
          <p:nvPr/>
        </p:nvSpPr>
        <p:spPr>
          <a:xfrm>
            <a:off x="599678" y="2074465"/>
            <a:ext cx="7944643" cy="4173933"/>
          </a:xfrm>
          <a:prstGeom prst="rect">
            <a:avLst/>
          </a:prstGeom>
          <a:noFill/>
        </p:spPr>
        <p:txBody>
          <a:bodyPr vert="horz" wrap="square" lIns="0" tIns="0" rIns="0" bIns="0" rtlCol="0">
            <a:noAutofit/>
          </a:bodyPr>
          <a:lstStyle/>
          <a:p>
            <a:r>
              <a:rPr lang="fr-CA" sz="2000" dirty="0"/>
              <a:t>Comptabilisé en </a:t>
            </a:r>
            <a:r>
              <a:rPr lang="fr-CA" sz="2000" b="1" dirty="0"/>
              <a:t>passif</a:t>
            </a:r>
            <a:r>
              <a:rPr lang="fr-CA" sz="2000" dirty="0"/>
              <a:t> jusqu’à ce qu’une des conditions suivantes soit respectée:</a:t>
            </a:r>
          </a:p>
          <a:p>
            <a:pPr marL="342900" indent="-342900">
              <a:buFont typeface="+mj-lt"/>
              <a:buAutoNum type="alphaLcParenR"/>
            </a:pPr>
            <a:r>
              <a:rPr lang="fr-CA" sz="2000" i="1" dirty="0"/>
              <a:t>l'entité n'a plus d'obligation de fournir des biens ou des services au client, et la totalité, ou la quasi-totalité, de la contrepartie promise par le client a été reçue et est non remboursable ;</a:t>
            </a:r>
          </a:p>
          <a:p>
            <a:pPr marL="342900" indent="-342900">
              <a:buFont typeface="+mj-lt"/>
              <a:buAutoNum type="alphaLcParenR"/>
            </a:pPr>
            <a:r>
              <a:rPr lang="fr-CA" sz="2000" i="1" dirty="0"/>
              <a:t>il y a eu résiliation du contrat, et la contrepartie reçue de la part du client est non remboursable.</a:t>
            </a:r>
          </a:p>
          <a:p>
            <a:pPr marL="342900" indent="-342900">
              <a:buFont typeface="+mj-lt"/>
              <a:buAutoNum type="alphaLcParenR"/>
            </a:pPr>
            <a:endParaRPr lang="fr-CA" sz="2000" i="1" dirty="0"/>
          </a:p>
          <a:p>
            <a:r>
              <a:rPr lang="fr-CA" sz="2000" dirty="0"/>
              <a:t>Par la suite : Comptabilisé en produits des activités ordinaires.</a:t>
            </a:r>
          </a:p>
          <a:p>
            <a:r>
              <a:rPr lang="fr-CA" sz="2000" b="1" i="1" dirty="0"/>
              <a:t> </a:t>
            </a:r>
          </a:p>
        </p:txBody>
      </p:sp>
      <p:sp>
        <p:nvSpPr>
          <p:cNvPr id="6" name="Rectangle 5">
            <a:extLst>
              <a:ext uri="{FF2B5EF4-FFF2-40B4-BE49-F238E27FC236}">
                <a16:creationId xmlns:a16="http://schemas.microsoft.com/office/drawing/2014/main" id="{DBBF1589-655A-42C4-A861-5551EA07365E}"/>
              </a:ext>
            </a:extLst>
          </p:cNvPr>
          <p:cNvSpPr/>
          <p:nvPr/>
        </p:nvSpPr>
        <p:spPr>
          <a:xfrm>
            <a:off x="6900850" y="4858856"/>
            <a:ext cx="1529372" cy="38529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sz="1600" b="1" i="1" dirty="0">
                <a:solidFill>
                  <a:schemeClr val="accent2"/>
                </a:solidFill>
              </a:rPr>
              <a:t>IFRS 15.15-16</a:t>
            </a:r>
          </a:p>
        </p:txBody>
      </p:sp>
      <p:sp>
        <p:nvSpPr>
          <p:cNvPr id="5" name="Espace réservé du numéro de diapositive 4"/>
          <p:cNvSpPr>
            <a:spLocks noGrp="1"/>
          </p:cNvSpPr>
          <p:nvPr>
            <p:ph type="sldNum" sz="quarter" idx="12"/>
          </p:nvPr>
        </p:nvSpPr>
        <p:spPr/>
        <p:txBody>
          <a:bodyPr/>
          <a:lstStyle/>
          <a:p>
            <a:fld id="{3F1B3DEB-6CA3-4B97-B0DC-BA3F5F40634A}" type="slidenum">
              <a:rPr lang="fr-CA" smtClean="0"/>
              <a:t>8</a:t>
            </a:fld>
            <a:endParaRPr lang="fr-CA"/>
          </a:p>
        </p:txBody>
      </p:sp>
      <p:sp>
        <p:nvSpPr>
          <p:cNvPr id="9" name="ZoneTexte 8"/>
          <p:cNvSpPr txBox="1"/>
          <p:nvPr/>
        </p:nvSpPr>
        <p:spPr>
          <a:xfrm>
            <a:off x="599678" y="5831457"/>
            <a:ext cx="4593424" cy="369332"/>
          </a:xfrm>
          <a:prstGeom prst="rect">
            <a:avLst/>
          </a:prstGeom>
          <a:noFill/>
        </p:spPr>
        <p:txBody>
          <a:bodyPr wrap="square" rtlCol="0">
            <a:spAutoFit/>
          </a:bodyPr>
          <a:lstStyle/>
          <a:p>
            <a:r>
              <a:rPr lang="fr-CA" i="1" dirty="0"/>
              <a:t>Produits différés</a:t>
            </a:r>
          </a:p>
        </p:txBody>
      </p:sp>
    </p:spTree>
    <p:extLst>
      <p:ext uri="{BB962C8B-B14F-4D97-AF65-F5344CB8AC3E}">
        <p14:creationId xmlns:p14="http://schemas.microsoft.com/office/powerpoint/2010/main" val="6496517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9B4089F-5A6C-46CC-8DAF-010D49B80E5D}"/>
              </a:ext>
            </a:extLst>
          </p:cNvPr>
          <p:cNvSpPr txBox="1">
            <a:spLocks/>
          </p:cNvSpPr>
          <p:nvPr/>
        </p:nvSpPr>
        <p:spPr>
          <a:xfrm>
            <a:off x="533400" y="685800"/>
            <a:ext cx="7363691" cy="685796"/>
          </a:xfrm>
          <a:prstGeom prst="rect">
            <a:avLst/>
          </a:prstGeom>
        </p:spPr>
        <p:txBody>
          <a:bodyPr>
            <a:normAutofit fontScale="975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fr-CA" kern="0" dirty="0">
                <a:solidFill>
                  <a:schemeClr val="accent2"/>
                </a:solidFill>
              </a:rPr>
              <a:t>Exemple 1</a:t>
            </a:r>
            <a:endParaRPr lang="fr-CA" dirty="0">
              <a:solidFill>
                <a:schemeClr val="accent2"/>
              </a:solidFill>
            </a:endParaRPr>
          </a:p>
        </p:txBody>
      </p:sp>
      <p:sp>
        <p:nvSpPr>
          <p:cNvPr id="3" name="Pentagon 10">
            <a:extLst>
              <a:ext uri="{FF2B5EF4-FFF2-40B4-BE49-F238E27FC236}">
                <a16:creationId xmlns:a16="http://schemas.microsoft.com/office/drawing/2014/main" id="{86654433-96C7-4E06-9D94-ECF817A8A1EB}"/>
              </a:ext>
            </a:extLst>
          </p:cNvPr>
          <p:cNvSpPr/>
          <p:nvPr/>
        </p:nvSpPr>
        <p:spPr bwMode="ltGray">
          <a:xfrm rot="5400000">
            <a:off x="7940040" y="685800"/>
            <a:ext cx="762000" cy="609600"/>
          </a:xfrm>
          <a:prstGeom prst="homePlate">
            <a:avLst/>
          </a:prstGeom>
          <a:solidFill>
            <a:schemeClr val="accent2">
              <a:lumMod val="60000"/>
              <a:lumOff val="4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schemeClr val="bg1"/>
              </a:solidFill>
              <a:latin typeface="+mj-lt"/>
            </a:endParaRPr>
          </a:p>
        </p:txBody>
      </p:sp>
      <p:sp>
        <p:nvSpPr>
          <p:cNvPr id="4" name="TextBox 11">
            <a:extLst>
              <a:ext uri="{FF2B5EF4-FFF2-40B4-BE49-F238E27FC236}">
                <a16:creationId xmlns:a16="http://schemas.microsoft.com/office/drawing/2014/main" id="{C24D2439-4D12-4D55-B7D7-CE87FB5B3064}"/>
              </a:ext>
            </a:extLst>
          </p:cNvPr>
          <p:cNvSpPr txBox="1"/>
          <p:nvPr/>
        </p:nvSpPr>
        <p:spPr>
          <a:xfrm>
            <a:off x="8016240" y="609600"/>
            <a:ext cx="609600" cy="609600"/>
          </a:xfrm>
          <a:prstGeom prst="rect">
            <a:avLst/>
          </a:prstGeom>
          <a:noFill/>
        </p:spPr>
        <p:txBody>
          <a:bodyPr wrap="square" lIns="0" tIns="0" rIns="0" bIns="0" rtlCol="0">
            <a:noAutofit/>
          </a:bodyPr>
          <a:lstStyle/>
          <a:p>
            <a:pPr indent="-274320" algn="ctr">
              <a:spcAft>
                <a:spcPts val="900"/>
              </a:spcAft>
            </a:pPr>
            <a:r>
              <a:rPr lang="en-CA" sz="4000" b="1" i="1" dirty="0">
                <a:solidFill>
                  <a:schemeClr val="bg1"/>
                </a:solidFill>
                <a:latin typeface="+mj-lt"/>
              </a:rPr>
              <a:t>1</a:t>
            </a:r>
          </a:p>
        </p:txBody>
      </p:sp>
      <p:cxnSp>
        <p:nvCxnSpPr>
          <p:cNvPr id="7" name="Connecteur droit 6">
            <a:extLst>
              <a:ext uri="{FF2B5EF4-FFF2-40B4-BE49-F238E27FC236}">
                <a16:creationId xmlns:a16="http://schemas.microsoft.com/office/drawing/2014/main" id="{03FCF768-570C-44E8-A14F-AB4E83F86B6E}"/>
              </a:ext>
            </a:extLst>
          </p:cNvPr>
          <p:cNvCxnSpPr>
            <a:cxnSpLocks/>
          </p:cNvCxnSpPr>
          <p:nvPr/>
        </p:nvCxnSpPr>
        <p:spPr>
          <a:xfrm>
            <a:off x="457200" y="624840"/>
            <a:ext cx="7863840" cy="0"/>
          </a:xfrm>
          <a:prstGeom prst="line">
            <a:avLst/>
          </a:prstGeom>
          <a:ln w="28575">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9" name="ZoneTexte 8">
            <a:extLst>
              <a:ext uri="{FF2B5EF4-FFF2-40B4-BE49-F238E27FC236}">
                <a16:creationId xmlns:a16="http://schemas.microsoft.com/office/drawing/2014/main" id="{73B11A9A-0539-41A7-821A-97809B7D4648}"/>
              </a:ext>
            </a:extLst>
          </p:cNvPr>
          <p:cNvSpPr txBox="1"/>
          <p:nvPr/>
        </p:nvSpPr>
        <p:spPr>
          <a:xfrm>
            <a:off x="457200" y="1856095"/>
            <a:ext cx="8168640" cy="4524315"/>
          </a:xfrm>
          <a:prstGeom prst="rect">
            <a:avLst/>
          </a:prstGeom>
          <a:noFill/>
        </p:spPr>
        <p:txBody>
          <a:bodyPr wrap="square" rtlCol="0">
            <a:spAutoFit/>
          </a:bodyPr>
          <a:lstStyle/>
          <a:p>
            <a:r>
              <a:rPr lang="fr-CA" dirty="0"/>
              <a:t>ABC conclut un contrat avec un client en vue de la vente d'un bâtiment pour 1 million $. Le client verse un acompte non remboursable de 50 000 $ au moment de la passation du contrat et conclut une entente de financement à long terme avec l'entité pour le solde à payer.  </a:t>
            </a:r>
          </a:p>
          <a:p>
            <a:endParaRPr lang="fr-CA" dirty="0"/>
          </a:p>
          <a:p>
            <a:r>
              <a:rPr lang="fr-CA" dirty="0"/>
              <a:t>Le client compte ouvrir un restaurant dans ce bâtiment mais a peu d'expérience dans le secteur de la restauration. Puisque la concurrence est forte en restauration, la direction d’ABC doute que le client réussira. S’il ne réussit pas, il ne sera probablement pas en mesure de faire les paiements requis selon l’entente de financement. </a:t>
            </a:r>
          </a:p>
          <a:p>
            <a:endParaRPr lang="fr-CA" dirty="0"/>
          </a:p>
          <a:p>
            <a:r>
              <a:rPr lang="fr-CA" dirty="0"/>
              <a:t>L'entente de financement n'offre aucun recours, c'est-à-dire qu'en cas de défaut de paiement de la part du client, l'entité peut reprendre possession du bâtiment, mais elle ne peut chercher à obtenir plus ample indemnisation de sa part. </a:t>
            </a:r>
          </a:p>
          <a:p>
            <a:endParaRPr lang="fr-CA" dirty="0"/>
          </a:p>
        </p:txBody>
      </p:sp>
      <p:sp>
        <p:nvSpPr>
          <p:cNvPr id="5" name="Espace réservé du numéro de diapositive 4"/>
          <p:cNvSpPr>
            <a:spLocks noGrp="1"/>
          </p:cNvSpPr>
          <p:nvPr>
            <p:ph type="sldNum" sz="quarter" idx="12"/>
          </p:nvPr>
        </p:nvSpPr>
        <p:spPr/>
        <p:txBody>
          <a:bodyPr/>
          <a:lstStyle/>
          <a:p>
            <a:fld id="{3F1B3DEB-6CA3-4B97-B0DC-BA3F5F40634A}" type="slidenum">
              <a:rPr lang="fr-CA" smtClean="0"/>
              <a:t>9</a:t>
            </a:fld>
            <a:endParaRPr lang="fr-CA"/>
          </a:p>
        </p:txBody>
      </p:sp>
    </p:spTree>
    <p:extLst>
      <p:ext uri="{BB962C8B-B14F-4D97-AF65-F5344CB8AC3E}">
        <p14:creationId xmlns:p14="http://schemas.microsoft.com/office/powerpoint/2010/main" val="15901395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9B4089F-5A6C-46CC-8DAF-010D49B80E5D}"/>
              </a:ext>
            </a:extLst>
          </p:cNvPr>
          <p:cNvSpPr txBox="1">
            <a:spLocks/>
          </p:cNvSpPr>
          <p:nvPr/>
        </p:nvSpPr>
        <p:spPr>
          <a:xfrm>
            <a:off x="533400" y="685800"/>
            <a:ext cx="7363691" cy="685796"/>
          </a:xfrm>
          <a:prstGeom prst="rect">
            <a:avLst/>
          </a:prstGeom>
        </p:spPr>
        <p:txBody>
          <a:bodyPr>
            <a:normAutofit fontScale="975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fr-CA" kern="0" dirty="0">
                <a:solidFill>
                  <a:schemeClr val="accent2"/>
                </a:solidFill>
              </a:rPr>
              <a:t>Exemple 1- Solution</a:t>
            </a:r>
            <a:endParaRPr lang="fr-CA" dirty="0">
              <a:solidFill>
                <a:schemeClr val="accent2"/>
              </a:solidFill>
            </a:endParaRPr>
          </a:p>
        </p:txBody>
      </p:sp>
      <p:sp>
        <p:nvSpPr>
          <p:cNvPr id="3" name="Pentagon 10">
            <a:extLst>
              <a:ext uri="{FF2B5EF4-FFF2-40B4-BE49-F238E27FC236}">
                <a16:creationId xmlns:a16="http://schemas.microsoft.com/office/drawing/2014/main" id="{86654433-96C7-4E06-9D94-ECF817A8A1EB}"/>
              </a:ext>
            </a:extLst>
          </p:cNvPr>
          <p:cNvSpPr/>
          <p:nvPr/>
        </p:nvSpPr>
        <p:spPr bwMode="ltGray">
          <a:xfrm rot="5400000">
            <a:off x="7940040" y="685800"/>
            <a:ext cx="762000" cy="609600"/>
          </a:xfrm>
          <a:prstGeom prst="homePlate">
            <a:avLst/>
          </a:prstGeom>
          <a:solidFill>
            <a:schemeClr val="accent2">
              <a:lumMod val="60000"/>
              <a:lumOff val="4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schemeClr val="bg1"/>
              </a:solidFill>
              <a:latin typeface="+mj-lt"/>
            </a:endParaRPr>
          </a:p>
        </p:txBody>
      </p:sp>
      <p:sp>
        <p:nvSpPr>
          <p:cNvPr id="4" name="TextBox 11">
            <a:extLst>
              <a:ext uri="{FF2B5EF4-FFF2-40B4-BE49-F238E27FC236}">
                <a16:creationId xmlns:a16="http://schemas.microsoft.com/office/drawing/2014/main" id="{C24D2439-4D12-4D55-B7D7-CE87FB5B3064}"/>
              </a:ext>
            </a:extLst>
          </p:cNvPr>
          <p:cNvSpPr txBox="1"/>
          <p:nvPr/>
        </p:nvSpPr>
        <p:spPr>
          <a:xfrm>
            <a:off x="8016240" y="609600"/>
            <a:ext cx="609600" cy="609600"/>
          </a:xfrm>
          <a:prstGeom prst="rect">
            <a:avLst/>
          </a:prstGeom>
          <a:noFill/>
        </p:spPr>
        <p:txBody>
          <a:bodyPr wrap="square" lIns="0" tIns="0" rIns="0" bIns="0" rtlCol="0">
            <a:noAutofit/>
          </a:bodyPr>
          <a:lstStyle/>
          <a:p>
            <a:pPr indent="-274320" algn="ctr">
              <a:spcAft>
                <a:spcPts val="900"/>
              </a:spcAft>
            </a:pPr>
            <a:r>
              <a:rPr lang="en-CA" sz="4000" b="1" i="1" dirty="0">
                <a:solidFill>
                  <a:schemeClr val="bg1"/>
                </a:solidFill>
                <a:latin typeface="+mj-lt"/>
              </a:rPr>
              <a:t>1</a:t>
            </a:r>
          </a:p>
        </p:txBody>
      </p:sp>
      <p:cxnSp>
        <p:nvCxnSpPr>
          <p:cNvPr id="7" name="Connecteur droit 6">
            <a:extLst>
              <a:ext uri="{FF2B5EF4-FFF2-40B4-BE49-F238E27FC236}">
                <a16:creationId xmlns:a16="http://schemas.microsoft.com/office/drawing/2014/main" id="{03FCF768-570C-44E8-A14F-AB4E83F86B6E}"/>
              </a:ext>
            </a:extLst>
          </p:cNvPr>
          <p:cNvCxnSpPr>
            <a:cxnSpLocks/>
          </p:cNvCxnSpPr>
          <p:nvPr/>
        </p:nvCxnSpPr>
        <p:spPr>
          <a:xfrm>
            <a:off x="457200" y="624840"/>
            <a:ext cx="7863840" cy="0"/>
          </a:xfrm>
          <a:prstGeom prst="line">
            <a:avLst/>
          </a:prstGeom>
          <a:ln w="28575">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10" name="ZoneTexte 9">
            <a:extLst>
              <a:ext uri="{FF2B5EF4-FFF2-40B4-BE49-F238E27FC236}">
                <a16:creationId xmlns:a16="http://schemas.microsoft.com/office/drawing/2014/main" id="{22F988B3-9324-443D-8A53-0A29B4B13BD4}"/>
              </a:ext>
            </a:extLst>
          </p:cNvPr>
          <p:cNvSpPr txBox="1"/>
          <p:nvPr/>
        </p:nvSpPr>
        <p:spPr>
          <a:xfrm>
            <a:off x="533400" y="1874375"/>
            <a:ext cx="8291015" cy="4247317"/>
          </a:xfrm>
          <a:prstGeom prst="rect">
            <a:avLst/>
          </a:prstGeom>
          <a:noFill/>
        </p:spPr>
        <p:txBody>
          <a:bodyPr wrap="square" rtlCol="0">
            <a:spAutoFit/>
          </a:bodyPr>
          <a:lstStyle/>
          <a:p>
            <a:r>
              <a:rPr lang="fr-CA" dirty="0"/>
              <a:t>Comme la direction n’est pas certaine que le client réussira compte tenu de la concurrence forte et de son manque d’expérience, il n’est pas possible de conclure que le recouvrement du 95% restant est probable.  De plus, le prêt est sans recours. </a:t>
            </a:r>
          </a:p>
          <a:p>
            <a:endParaRPr lang="fr-CA" dirty="0"/>
          </a:p>
          <a:p>
            <a:r>
              <a:rPr lang="fr-CA" dirty="0"/>
              <a:t>Ainsi, la définition d’un contrat selon le par. 9 n’est pas respectée. De plus,  les conditions du par. 15 ne sont pas respectées : </a:t>
            </a:r>
          </a:p>
          <a:p>
            <a:pPr marL="285750" indent="-285750">
              <a:buFontTx/>
              <a:buChar char="-"/>
            </a:pPr>
            <a:r>
              <a:rPr lang="fr-CA" dirty="0"/>
              <a:t>ABC n’a pas reçu la quasi-totalité de la contrepartie</a:t>
            </a:r>
          </a:p>
          <a:p>
            <a:pPr marL="285750" indent="-285750">
              <a:buFontTx/>
              <a:buChar char="-"/>
            </a:pPr>
            <a:r>
              <a:rPr lang="fr-CA" dirty="0"/>
              <a:t>Le contrat n’est pas résilié</a:t>
            </a:r>
          </a:p>
          <a:p>
            <a:pPr marL="285750" indent="-285750">
              <a:buFontTx/>
              <a:buChar char="-"/>
            </a:pPr>
            <a:endParaRPr lang="fr-CA" dirty="0"/>
          </a:p>
          <a:p>
            <a:r>
              <a:rPr lang="fr-CA" dirty="0"/>
              <a:t>ABC devra enregistrer le 50 000 $ d’acompte reçu au passif de même que tous les paiements futurs reçus selon l’entente de financement jusqu’à ce que soit :</a:t>
            </a:r>
          </a:p>
          <a:p>
            <a:pPr marL="285750" indent="-285750">
              <a:buFontTx/>
              <a:buChar char="-"/>
            </a:pPr>
            <a:r>
              <a:rPr lang="fr-CA" dirty="0"/>
              <a:t>Le recouvrement soit jugé probable, ou </a:t>
            </a:r>
          </a:p>
          <a:p>
            <a:pPr marL="285750" indent="-285750">
              <a:buFontTx/>
              <a:buChar char="-"/>
            </a:pPr>
            <a:r>
              <a:rPr lang="fr-CA" dirty="0"/>
              <a:t>ABC ait reçu la quasi-totalité de la contrepartie, ou </a:t>
            </a:r>
          </a:p>
          <a:p>
            <a:pPr marL="285750" indent="-285750">
              <a:buFontTx/>
              <a:buChar char="-"/>
            </a:pPr>
            <a:r>
              <a:rPr lang="fr-CA" dirty="0"/>
              <a:t>Le contrat soit résilié</a:t>
            </a:r>
          </a:p>
        </p:txBody>
      </p:sp>
      <p:sp>
        <p:nvSpPr>
          <p:cNvPr id="5" name="Espace réservé du numéro de diapositive 4"/>
          <p:cNvSpPr>
            <a:spLocks noGrp="1"/>
          </p:cNvSpPr>
          <p:nvPr>
            <p:ph type="sldNum" sz="quarter" idx="12"/>
          </p:nvPr>
        </p:nvSpPr>
        <p:spPr/>
        <p:txBody>
          <a:bodyPr/>
          <a:lstStyle/>
          <a:p>
            <a:fld id="{3F1B3DEB-6CA3-4B97-B0DC-BA3F5F40634A}" type="slidenum">
              <a:rPr lang="fr-CA" smtClean="0"/>
              <a:t>10</a:t>
            </a:fld>
            <a:endParaRPr lang="fr-CA"/>
          </a:p>
        </p:txBody>
      </p:sp>
    </p:spTree>
    <p:extLst>
      <p:ext uri="{BB962C8B-B14F-4D97-AF65-F5344CB8AC3E}">
        <p14:creationId xmlns:p14="http://schemas.microsoft.com/office/powerpoint/2010/main" val="24302410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texte 2">
            <a:extLst>
              <a:ext uri="{FF2B5EF4-FFF2-40B4-BE49-F238E27FC236}">
                <a16:creationId xmlns:a16="http://schemas.microsoft.com/office/drawing/2014/main" id="{E47921C4-76E2-42A3-8FC8-A49EBBD3A6E3}"/>
              </a:ext>
            </a:extLst>
          </p:cNvPr>
          <p:cNvSpPr>
            <a:spLocks noGrp="1"/>
          </p:cNvSpPr>
          <p:nvPr>
            <p:ph type="body" idx="1"/>
          </p:nvPr>
        </p:nvSpPr>
        <p:spPr>
          <a:xfrm>
            <a:off x="577124" y="4128655"/>
            <a:ext cx="8215893" cy="884009"/>
          </a:xfrm>
        </p:spPr>
        <p:txBody>
          <a:bodyPr>
            <a:noAutofit/>
          </a:bodyPr>
          <a:lstStyle/>
          <a:p>
            <a:r>
              <a:rPr lang="fr-CA" sz="2400" b="1" kern="0" dirty="0">
                <a:solidFill>
                  <a:schemeClr val="accent3"/>
                </a:solidFill>
              </a:rPr>
              <a:t>Étape 2 </a:t>
            </a:r>
            <a:r>
              <a:rPr lang="fr-CA" sz="2400" kern="0" dirty="0">
                <a:solidFill>
                  <a:schemeClr val="accent3"/>
                </a:solidFill>
              </a:rPr>
              <a:t>– Identifier les obligations de prestation contenues dans le contrat</a:t>
            </a:r>
            <a:endParaRPr lang="fr-CA" sz="2400" kern="0" cap="none" dirty="0">
              <a:solidFill>
                <a:schemeClr val="accent3"/>
              </a:solidFill>
            </a:endParaRPr>
          </a:p>
        </p:txBody>
      </p:sp>
      <p:sp>
        <p:nvSpPr>
          <p:cNvPr id="4" name="Rectangle 3">
            <a:extLst>
              <a:ext uri="{FF2B5EF4-FFF2-40B4-BE49-F238E27FC236}">
                <a16:creationId xmlns:a16="http://schemas.microsoft.com/office/drawing/2014/main" id="{A9602AE5-BA5C-4209-9B05-AFF298F0DFB6}"/>
              </a:ext>
            </a:extLst>
          </p:cNvPr>
          <p:cNvSpPr/>
          <p:nvPr/>
        </p:nvSpPr>
        <p:spPr>
          <a:xfrm>
            <a:off x="434108" y="5141973"/>
            <a:ext cx="8358909" cy="1295772"/>
          </a:xfrm>
          <a:prstGeom prst="rect">
            <a:avLst/>
          </a:prstGeom>
          <a:solidFill>
            <a:schemeClr val="accent3">
              <a:lumMod val="60000"/>
              <a:lumOff val="40000"/>
            </a:schemeClr>
          </a:solidFill>
        </p:spPr>
        <p:style>
          <a:lnRef idx="3">
            <a:schemeClr val="lt1"/>
          </a:lnRef>
          <a:fillRef idx="1">
            <a:schemeClr val="accent2"/>
          </a:fillRef>
          <a:effectRef idx="1">
            <a:schemeClr val="accent2"/>
          </a:effectRef>
          <a:fontRef idx="minor">
            <a:schemeClr val="lt1"/>
          </a:fontRef>
        </p:style>
        <p:txBody>
          <a:bodyPr rtlCol="0" anchor="ctr"/>
          <a:lstStyle/>
          <a:p>
            <a:pPr algn="ctr"/>
            <a:endParaRPr lang="fr-CA"/>
          </a:p>
        </p:txBody>
      </p:sp>
      <p:sp>
        <p:nvSpPr>
          <p:cNvPr id="2" name="Espace réservé du numéro de diapositive 1"/>
          <p:cNvSpPr>
            <a:spLocks noGrp="1"/>
          </p:cNvSpPr>
          <p:nvPr>
            <p:ph type="sldNum" sz="quarter" idx="12"/>
          </p:nvPr>
        </p:nvSpPr>
        <p:spPr/>
        <p:txBody>
          <a:bodyPr/>
          <a:lstStyle/>
          <a:p>
            <a:fld id="{3F1B3DEB-6CA3-4B97-B0DC-BA3F5F40634A}" type="slidenum">
              <a:rPr lang="fr-CA" smtClean="0"/>
              <a:t>11</a:t>
            </a:fld>
            <a:endParaRPr lang="fr-CA"/>
          </a:p>
        </p:txBody>
      </p:sp>
    </p:spTree>
    <p:extLst>
      <p:ext uri="{BB962C8B-B14F-4D97-AF65-F5344CB8AC3E}">
        <p14:creationId xmlns:p14="http://schemas.microsoft.com/office/powerpoint/2010/main" val="10692161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2967E40-1274-4390-BEAD-57F6885D6E46}"/>
              </a:ext>
            </a:extLst>
          </p:cNvPr>
          <p:cNvSpPr/>
          <p:nvPr/>
        </p:nvSpPr>
        <p:spPr>
          <a:xfrm>
            <a:off x="720666" y="4853506"/>
            <a:ext cx="7762241" cy="323272"/>
          </a:xfrm>
          <a:prstGeom prst="rect">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fr-CA"/>
          </a:p>
        </p:txBody>
      </p:sp>
      <p:sp>
        <p:nvSpPr>
          <p:cNvPr id="2" name="Titre 1">
            <a:extLst>
              <a:ext uri="{FF2B5EF4-FFF2-40B4-BE49-F238E27FC236}">
                <a16:creationId xmlns:a16="http://schemas.microsoft.com/office/drawing/2014/main" id="{29B4089F-5A6C-46CC-8DAF-010D49B80E5D}"/>
              </a:ext>
            </a:extLst>
          </p:cNvPr>
          <p:cNvSpPr txBox="1">
            <a:spLocks/>
          </p:cNvSpPr>
          <p:nvPr/>
        </p:nvSpPr>
        <p:spPr>
          <a:xfrm>
            <a:off x="533400" y="685800"/>
            <a:ext cx="7363691" cy="685796"/>
          </a:xfrm>
          <a:prstGeom prst="rect">
            <a:avLst/>
          </a:prstGeom>
        </p:spPr>
        <p:txBody>
          <a:bodyPr>
            <a:normAutofit fontScale="975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fr-CA" kern="0" dirty="0">
                <a:solidFill>
                  <a:schemeClr val="accent3"/>
                </a:solidFill>
              </a:rPr>
              <a:t>Obligations de prestation</a:t>
            </a:r>
            <a:endParaRPr lang="fr-CA" dirty="0">
              <a:solidFill>
                <a:schemeClr val="accent3"/>
              </a:solidFill>
            </a:endParaRPr>
          </a:p>
        </p:txBody>
      </p:sp>
      <p:sp>
        <p:nvSpPr>
          <p:cNvPr id="3" name="Pentagon 10">
            <a:extLst>
              <a:ext uri="{FF2B5EF4-FFF2-40B4-BE49-F238E27FC236}">
                <a16:creationId xmlns:a16="http://schemas.microsoft.com/office/drawing/2014/main" id="{86654433-96C7-4E06-9D94-ECF817A8A1EB}"/>
              </a:ext>
            </a:extLst>
          </p:cNvPr>
          <p:cNvSpPr/>
          <p:nvPr/>
        </p:nvSpPr>
        <p:spPr bwMode="ltGray">
          <a:xfrm rot="5400000">
            <a:off x="7940040" y="685800"/>
            <a:ext cx="762000" cy="609600"/>
          </a:xfrm>
          <a:prstGeom prst="homePlate">
            <a:avLst/>
          </a:prstGeom>
          <a:solidFill>
            <a:schemeClr val="accent3">
              <a:lumMod val="60000"/>
              <a:lumOff val="4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schemeClr val="bg1"/>
              </a:solidFill>
              <a:latin typeface="+mj-lt"/>
            </a:endParaRPr>
          </a:p>
        </p:txBody>
      </p:sp>
      <p:sp>
        <p:nvSpPr>
          <p:cNvPr id="4" name="TextBox 11">
            <a:extLst>
              <a:ext uri="{FF2B5EF4-FFF2-40B4-BE49-F238E27FC236}">
                <a16:creationId xmlns:a16="http://schemas.microsoft.com/office/drawing/2014/main" id="{C24D2439-4D12-4D55-B7D7-CE87FB5B3064}"/>
              </a:ext>
            </a:extLst>
          </p:cNvPr>
          <p:cNvSpPr txBox="1"/>
          <p:nvPr/>
        </p:nvSpPr>
        <p:spPr>
          <a:xfrm>
            <a:off x="8016240" y="609600"/>
            <a:ext cx="609600" cy="609600"/>
          </a:xfrm>
          <a:prstGeom prst="rect">
            <a:avLst/>
          </a:prstGeom>
          <a:noFill/>
        </p:spPr>
        <p:txBody>
          <a:bodyPr wrap="square" lIns="0" tIns="0" rIns="0" bIns="0" rtlCol="0">
            <a:noAutofit/>
          </a:bodyPr>
          <a:lstStyle/>
          <a:p>
            <a:pPr indent="-274320" algn="ctr">
              <a:spcAft>
                <a:spcPts val="900"/>
              </a:spcAft>
            </a:pPr>
            <a:r>
              <a:rPr lang="en-CA" sz="4000" b="1" i="1" dirty="0">
                <a:solidFill>
                  <a:schemeClr val="bg1"/>
                </a:solidFill>
                <a:latin typeface="+mj-lt"/>
              </a:rPr>
              <a:t>2</a:t>
            </a:r>
          </a:p>
        </p:txBody>
      </p:sp>
      <p:cxnSp>
        <p:nvCxnSpPr>
          <p:cNvPr id="7" name="Connecteur droit 6">
            <a:extLst>
              <a:ext uri="{FF2B5EF4-FFF2-40B4-BE49-F238E27FC236}">
                <a16:creationId xmlns:a16="http://schemas.microsoft.com/office/drawing/2014/main" id="{03FCF768-570C-44E8-A14F-AB4E83F86B6E}"/>
              </a:ext>
            </a:extLst>
          </p:cNvPr>
          <p:cNvCxnSpPr>
            <a:cxnSpLocks/>
          </p:cNvCxnSpPr>
          <p:nvPr/>
        </p:nvCxnSpPr>
        <p:spPr>
          <a:xfrm>
            <a:off x="457200" y="624840"/>
            <a:ext cx="7863840" cy="0"/>
          </a:xfrm>
          <a:prstGeom prst="line">
            <a:avLst/>
          </a:prstGeom>
          <a:ln w="28575">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9" name="Espace réservé du contenu 2">
            <a:extLst>
              <a:ext uri="{FF2B5EF4-FFF2-40B4-BE49-F238E27FC236}">
                <a16:creationId xmlns:a16="http://schemas.microsoft.com/office/drawing/2014/main" id="{2CE86460-1A05-496D-BC54-DD6E054BE3AC}"/>
              </a:ext>
            </a:extLst>
          </p:cNvPr>
          <p:cNvSpPr txBox="1">
            <a:spLocks/>
          </p:cNvSpPr>
          <p:nvPr/>
        </p:nvSpPr>
        <p:spPr bwMode="auto">
          <a:xfrm>
            <a:off x="714016" y="1655788"/>
            <a:ext cx="7911823" cy="2683169"/>
          </a:xfrm>
          <a:prstGeom prst="rect">
            <a:avLst/>
          </a:prstGeom>
          <a:noFill/>
          <a:ln w="9525">
            <a:noFill/>
            <a:miter lim="800000"/>
            <a:headEnd/>
            <a:tailEnd/>
          </a:ln>
          <a:effectLst/>
        </p:spPr>
        <p:txBody>
          <a:bodyPr vert="horz" wrap="square" lIns="82296" tIns="41148" rIns="82296" bIns="41148" numCol="1" anchor="t" anchorCtr="0" compatLnSpc="1">
            <a:prstTxWarp prst="textNoShape">
              <a:avLst/>
            </a:prstTxWarp>
          </a:bodyPr>
          <a:lstStyle/>
          <a:p>
            <a:pPr fontAlgn="base">
              <a:spcBef>
                <a:spcPct val="20000"/>
              </a:spcBef>
              <a:spcAft>
                <a:spcPct val="0"/>
              </a:spcAft>
              <a:buClr>
                <a:srgbClr val="9678D3"/>
              </a:buClr>
              <a:buSzPct val="60000"/>
              <a:buFont typeface="Wingdings" pitchFamily="2" charset="2"/>
              <a:buNone/>
              <a:defRPr/>
            </a:pPr>
            <a:r>
              <a:rPr lang="fr-CA" sz="2000" kern="0" dirty="0">
                <a:solidFill>
                  <a:srgbClr val="000000"/>
                </a:solidFill>
              </a:rPr>
              <a:t>Obligation de prestation: une promesse contenue dans un contrat conclu avec un client.</a:t>
            </a:r>
          </a:p>
          <a:p>
            <a:pPr fontAlgn="base">
              <a:spcBef>
                <a:spcPct val="20000"/>
              </a:spcBef>
              <a:spcAft>
                <a:spcPct val="0"/>
              </a:spcAft>
              <a:buClr>
                <a:srgbClr val="9678D3"/>
              </a:buClr>
              <a:buSzPct val="60000"/>
              <a:buFont typeface="Wingdings" pitchFamily="2" charset="2"/>
              <a:buNone/>
              <a:defRPr/>
            </a:pPr>
            <a:endParaRPr lang="fr-CA" sz="2000" i="1" kern="0" dirty="0">
              <a:solidFill>
                <a:srgbClr val="000000"/>
              </a:solidFill>
            </a:endParaRPr>
          </a:p>
          <a:p>
            <a:pPr fontAlgn="base">
              <a:spcBef>
                <a:spcPct val="20000"/>
              </a:spcBef>
              <a:spcAft>
                <a:spcPct val="0"/>
              </a:spcAft>
              <a:buClr>
                <a:srgbClr val="9678D3"/>
              </a:buClr>
              <a:buSzPct val="60000"/>
              <a:buFont typeface="Wingdings" pitchFamily="2" charset="2"/>
              <a:buNone/>
              <a:defRPr/>
            </a:pPr>
            <a:r>
              <a:rPr lang="fr-CA" sz="2000" kern="0" dirty="0">
                <a:solidFill>
                  <a:srgbClr val="000000"/>
                </a:solidFill>
              </a:rPr>
              <a:t>Cette promesse peut concerner </a:t>
            </a:r>
          </a:p>
          <a:p>
            <a:pPr marL="220320" indent="-220320" fontAlgn="base">
              <a:spcBef>
                <a:spcPct val="20000"/>
              </a:spcBef>
              <a:spcAft>
                <a:spcPct val="0"/>
              </a:spcAft>
              <a:buClr>
                <a:srgbClr val="003C71"/>
              </a:buClr>
              <a:buSzPct val="100000"/>
              <a:buFont typeface="Arial"/>
              <a:buChar char="•"/>
              <a:defRPr/>
            </a:pPr>
            <a:r>
              <a:rPr lang="fr-CA" sz="2000" kern="0" dirty="0">
                <a:solidFill>
                  <a:srgbClr val="000000"/>
                </a:solidFill>
              </a:rPr>
              <a:t>un bien et/ou un service </a:t>
            </a:r>
            <a:r>
              <a:rPr lang="fr-CA" sz="2000" b="1" kern="0" dirty="0">
                <a:solidFill>
                  <a:srgbClr val="000000"/>
                </a:solidFill>
              </a:rPr>
              <a:t>distinct</a:t>
            </a:r>
            <a:r>
              <a:rPr lang="fr-CA" sz="2000" kern="0" dirty="0">
                <a:solidFill>
                  <a:srgbClr val="000000"/>
                </a:solidFill>
              </a:rPr>
              <a:t> ou </a:t>
            </a:r>
          </a:p>
          <a:p>
            <a:pPr marL="220320" indent="-220320" fontAlgn="base">
              <a:spcBef>
                <a:spcPct val="20000"/>
              </a:spcBef>
              <a:spcAft>
                <a:spcPct val="0"/>
              </a:spcAft>
              <a:buClr>
                <a:srgbClr val="003C71"/>
              </a:buClr>
              <a:buSzPct val="100000"/>
              <a:buFont typeface="Arial"/>
              <a:buChar char="•"/>
              <a:defRPr/>
            </a:pPr>
            <a:r>
              <a:rPr lang="fr-CA" sz="2000" kern="0" dirty="0">
                <a:solidFill>
                  <a:srgbClr val="000000"/>
                </a:solidFill>
              </a:rPr>
              <a:t>une </a:t>
            </a:r>
            <a:r>
              <a:rPr lang="fr-CA" sz="2000" b="1" kern="0" dirty="0">
                <a:solidFill>
                  <a:srgbClr val="000000"/>
                </a:solidFill>
              </a:rPr>
              <a:t>série </a:t>
            </a:r>
            <a:r>
              <a:rPr lang="fr-CA" sz="2000" kern="0" dirty="0">
                <a:solidFill>
                  <a:srgbClr val="000000"/>
                </a:solidFill>
              </a:rPr>
              <a:t>de biens ou services distincts qui sont essentiellement les mêmes et fournis au client au même rythme </a:t>
            </a:r>
          </a:p>
          <a:p>
            <a:pPr marL="220320" indent="-220320" fontAlgn="base">
              <a:spcBef>
                <a:spcPct val="20000"/>
              </a:spcBef>
              <a:spcAft>
                <a:spcPct val="0"/>
              </a:spcAft>
              <a:buClr>
                <a:srgbClr val="003C71"/>
              </a:buClr>
              <a:buSzPct val="100000"/>
              <a:buFont typeface="Arial"/>
              <a:buChar char="•"/>
              <a:defRPr/>
            </a:pPr>
            <a:endParaRPr lang="fr-CA" sz="2000" kern="0" dirty="0">
              <a:solidFill>
                <a:srgbClr val="000000"/>
              </a:solidFill>
            </a:endParaRPr>
          </a:p>
          <a:p>
            <a:pPr fontAlgn="base">
              <a:spcBef>
                <a:spcPct val="20000"/>
              </a:spcBef>
              <a:spcAft>
                <a:spcPct val="0"/>
              </a:spcAft>
              <a:buClr>
                <a:srgbClr val="9678D3"/>
              </a:buClr>
              <a:buSzPct val="60000"/>
              <a:buFont typeface="Wingdings" pitchFamily="2" charset="2"/>
              <a:buNone/>
              <a:defRPr/>
            </a:pPr>
            <a:endParaRPr lang="fr-CA" sz="2000" kern="0" dirty="0">
              <a:solidFill>
                <a:srgbClr val="000000"/>
              </a:solidFill>
            </a:endParaRPr>
          </a:p>
          <a:p>
            <a:pPr fontAlgn="base">
              <a:spcBef>
                <a:spcPct val="20000"/>
              </a:spcBef>
              <a:spcAft>
                <a:spcPct val="0"/>
              </a:spcAft>
              <a:buClr>
                <a:srgbClr val="9678D3"/>
              </a:buClr>
              <a:buSzPct val="60000"/>
              <a:buFont typeface="Wingdings" pitchFamily="2" charset="2"/>
              <a:buNone/>
              <a:defRPr/>
            </a:pPr>
            <a:r>
              <a:rPr lang="fr-CA" sz="2000" kern="0" dirty="0">
                <a:solidFill>
                  <a:srgbClr val="000000"/>
                </a:solidFill>
              </a:rPr>
              <a:t>*** Il peut y avoir plusieurs obligations de prestation dans un contrat </a:t>
            </a:r>
          </a:p>
        </p:txBody>
      </p:sp>
      <p:sp>
        <p:nvSpPr>
          <p:cNvPr id="10" name="Rectangle 9">
            <a:extLst>
              <a:ext uri="{FF2B5EF4-FFF2-40B4-BE49-F238E27FC236}">
                <a16:creationId xmlns:a16="http://schemas.microsoft.com/office/drawing/2014/main" id="{8EE9DED0-5A09-42B7-9D99-68F6EDE29D90}"/>
              </a:ext>
            </a:extLst>
          </p:cNvPr>
          <p:cNvSpPr/>
          <p:nvPr/>
        </p:nvSpPr>
        <p:spPr>
          <a:xfrm>
            <a:off x="7202471" y="4004457"/>
            <a:ext cx="1227513" cy="38529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sz="1600" b="1" i="1" dirty="0">
                <a:solidFill>
                  <a:schemeClr val="accent3"/>
                </a:solidFill>
              </a:rPr>
              <a:t>IFRS 15.22</a:t>
            </a:r>
          </a:p>
        </p:txBody>
      </p:sp>
      <p:sp>
        <p:nvSpPr>
          <p:cNvPr id="6" name="Espace réservé du numéro de diapositive 5"/>
          <p:cNvSpPr>
            <a:spLocks noGrp="1"/>
          </p:cNvSpPr>
          <p:nvPr>
            <p:ph type="sldNum" sz="quarter" idx="12"/>
          </p:nvPr>
        </p:nvSpPr>
        <p:spPr/>
        <p:txBody>
          <a:bodyPr/>
          <a:lstStyle/>
          <a:p>
            <a:fld id="{3F1B3DEB-6CA3-4B97-B0DC-BA3F5F40634A}" type="slidenum">
              <a:rPr lang="fr-CA" smtClean="0"/>
              <a:t>12</a:t>
            </a:fld>
            <a:endParaRPr lang="fr-CA"/>
          </a:p>
        </p:txBody>
      </p:sp>
    </p:spTree>
    <p:extLst>
      <p:ext uri="{BB962C8B-B14F-4D97-AF65-F5344CB8AC3E}">
        <p14:creationId xmlns:p14="http://schemas.microsoft.com/office/powerpoint/2010/main" val="27520213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CD0ECA58-E80D-4BCB-BFAB-94A07C281791}"/>
              </a:ext>
            </a:extLst>
          </p:cNvPr>
          <p:cNvSpPr/>
          <p:nvPr/>
        </p:nvSpPr>
        <p:spPr>
          <a:xfrm>
            <a:off x="533401" y="2958698"/>
            <a:ext cx="8092440" cy="1034470"/>
          </a:xfrm>
          <a:prstGeom prst="rect">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fr-CA">
                <a:solidFill>
                  <a:schemeClr val="tx1"/>
                </a:solidFill>
              </a:rPr>
              <a:t>Ce critère est respecté si le client recevant le bien/service est en mesure de l’utiliser, le consommer, le revendre ou de le détenir en produisant des avantages économiques.</a:t>
            </a:r>
            <a:endParaRPr lang="fr-CA" dirty="0">
              <a:solidFill>
                <a:schemeClr val="tx1"/>
              </a:solidFill>
            </a:endParaRPr>
          </a:p>
        </p:txBody>
      </p:sp>
      <p:sp>
        <p:nvSpPr>
          <p:cNvPr id="2" name="Titre 1">
            <a:extLst>
              <a:ext uri="{FF2B5EF4-FFF2-40B4-BE49-F238E27FC236}">
                <a16:creationId xmlns:a16="http://schemas.microsoft.com/office/drawing/2014/main" id="{29B4089F-5A6C-46CC-8DAF-010D49B80E5D}"/>
              </a:ext>
            </a:extLst>
          </p:cNvPr>
          <p:cNvSpPr txBox="1">
            <a:spLocks/>
          </p:cNvSpPr>
          <p:nvPr/>
        </p:nvSpPr>
        <p:spPr>
          <a:xfrm>
            <a:off x="533400" y="685800"/>
            <a:ext cx="7363691" cy="685796"/>
          </a:xfrm>
          <a:prstGeom prst="rect">
            <a:avLst/>
          </a:prstGeom>
        </p:spPr>
        <p:txBody>
          <a:bodyPr>
            <a:normAutofit fontScale="975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fr-CA" kern="0" dirty="0">
                <a:solidFill>
                  <a:schemeClr val="accent3"/>
                </a:solidFill>
              </a:rPr>
              <a:t>Bien ou service distinct</a:t>
            </a:r>
            <a:endParaRPr lang="fr-CA" dirty="0">
              <a:solidFill>
                <a:schemeClr val="accent3"/>
              </a:solidFill>
            </a:endParaRPr>
          </a:p>
        </p:txBody>
      </p:sp>
      <p:sp>
        <p:nvSpPr>
          <p:cNvPr id="3" name="Pentagon 10">
            <a:extLst>
              <a:ext uri="{FF2B5EF4-FFF2-40B4-BE49-F238E27FC236}">
                <a16:creationId xmlns:a16="http://schemas.microsoft.com/office/drawing/2014/main" id="{86654433-96C7-4E06-9D94-ECF817A8A1EB}"/>
              </a:ext>
            </a:extLst>
          </p:cNvPr>
          <p:cNvSpPr/>
          <p:nvPr/>
        </p:nvSpPr>
        <p:spPr bwMode="ltGray">
          <a:xfrm rot="5400000">
            <a:off x="7940040" y="685800"/>
            <a:ext cx="762000" cy="609600"/>
          </a:xfrm>
          <a:prstGeom prst="homePlate">
            <a:avLst/>
          </a:prstGeom>
          <a:solidFill>
            <a:schemeClr val="accent3">
              <a:lumMod val="60000"/>
              <a:lumOff val="4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schemeClr val="bg1"/>
              </a:solidFill>
              <a:latin typeface="+mj-lt"/>
            </a:endParaRPr>
          </a:p>
        </p:txBody>
      </p:sp>
      <p:sp>
        <p:nvSpPr>
          <p:cNvPr id="4" name="TextBox 11">
            <a:extLst>
              <a:ext uri="{FF2B5EF4-FFF2-40B4-BE49-F238E27FC236}">
                <a16:creationId xmlns:a16="http://schemas.microsoft.com/office/drawing/2014/main" id="{C24D2439-4D12-4D55-B7D7-CE87FB5B3064}"/>
              </a:ext>
            </a:extLst>
          </p:cNvPr>
          <p:cNvSpPr txBox="1"/>
          <p:nvPr/>
        </p:nvSpPr>
        <p:spPr>
          <a:xfrm>
            <a:off x="8016240" y="609600"/>
            <a:ext cx="609600" cy="609600"/>
          </a:xfrm>
          <a:prstGeom prst="rect">
            <a:avLst/>
          </a:prstGeom>
          <a:noFill/>
        </p:spPr>
        <p:txBody>
          <a:bodyPr wrap="square" lIns="0" tIns="0" rIns="0" bIns="0" rtlCol="0">
            <a:noAutofit/>
          </a:bodyPr>
          <a:lstStyle/>
          <a:p>
            <a:pPr indent="-274320" algn="ctr">
              <a:spcAft>
                <a:spcPts val="900"/>
              </a:spcAft>
            </a:pPr>
            <a:r>
              <a:rPr lang="en-CA" sz="4000" b="1" i="1" dirty="0">
                <a:solidFill>
                  <a:schemeClr val="bg1"/>
                </a:solidFill>
                <a:latin typeface="+mj-lt"/>
              </a:rPr>
              <a:t>2</a:t>
            </a:r>
          </a:p>
        </p:txBody>
      </p:sp>
      <p:cxnSp>
        <p:nvCxnSpPr>
          <p:cNvPr id="7" name="Connecteur droit 6">
            <a:extLst>
              <a:ext uri="{FF2B5EF4-FFF2-40B4-BE49-F238E27FC236}">
                <a16:creationId xmlns:a16="http://schemas.microsoft.com/office/drawing/2014/main" id="{03FCF768-570C-44E8-A14F-AB4E83F86B6E}"/>
              </a:ext>
            </a:extLst>
          </p:cNvPr>
          <p:cNvCxnSpPr>
            <a:cxnSpLocks/>
          </p:cNvCxnSpPr>
          <p:nvPr/>
        </p:nvCxnSpPr>
        <p:spPr>
          <a:xfrm>
            <a:off x="457200" y="624840"/>
            <a:ext cx="7863840" cy="0"/>
          </a:xfrm>
          <a:prstGeom prst="line">
            <a:avLst/>
          </a:prstGeom>
          <a:ln w="28575">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8" name="Espace réservé du contenu 2">
            <a:extLst>
              <a:ext uri="{FF2B5EF4-FFF2-40B4-BE49-F238E27FC236}">
                <a16:creationId xmlns:a16="http://schemas.microsoft.com/office/drawing/2014/main" id="{D4BAAD85-9611-4EB1-96CE-620DEBB17504}"/>
              </a:ext>
            </a:extLst>
          </p:cNvPr>
          <p:cNvSpPr txBox="1">
            <a:spLocks/>
          </p:cNvSpPr>
          <p:nvPr/>
        </p:nvSpPr>
        <p:spPr bwMode="auto">
          <a:xfrm>
            <a:off x="482218" y="1280159"/>
            <a:ext cx="8092439" cy="1678539"/>
          </a:xfrm>
          <a:prstGeom prst="rect">
            <a:avLst/>
          </a:prstGeom>
          <a:noFill/>
          <a:ln w="9525">
            <a:noFill/>
            <a:miter lim="800000"/>
            <a:headEnd/>
            <a:tailEnd/>
          </a:ln>
          <a:effectLst/>
        </p:spPr>
        <p:txBody>
          <a:bodyPr vert="horz" wrap="square" lIns="82296" tIns="41148" rIns="82296" bIns="41148" numCol="1" anchor="t" anchorCtr="0" compatLnSpc="1">
            <a:prstTxWarp prst="textNoShape">
              <a:avLst/>
            </a:prstTxWarp>
          </a:bodyPr>
          <a:lstStyle/>
          <a:p>
            <a:r>
              <a:rPr lang="fr-CA" sz="2000" dirty="0"/>
              <a:t>Un bien/service est distinct si</a:t>
            </a:r>
          </a:p>
          <a:p>
            <a:pPr marL="342900" indent="-342900">
              <a:buFont typeface="Arial" panose="020B0604020202020204" pitchFamily="34" charset="0"/>
              <a:buChar char="•"/>
            </a:pPr>
            <a:r>
              <a:rPr lang="fr-CA" sz="2000" dirty="0"/>
              <a:t>il </a:t>
            </a:r>
            <a:r>
              <a:rPr lang="fr-CA" sz="2000" b="1" dirty="0"/>
              <a:t>existe de façon séparée</a:t>
            </a:r>
            <a:r>
              <a:rPr lang="fr-CA" sz="2000" dirty="0"/>
              <a:t>, c’est-à-dire que l’entreprise peut en tirer parti isolément ou en le combinant avec d’autres ressources aisément disponibles (biens ou services vendus séparément ou déjà obtenus)</a:t>
            </a:r>
            <a:r>
              <a:rPr lang="fr-CA" sz="2000" b="1" dirty="0"/>
              <a:t>   ET</a:t>
            </a:r>
          </a:p>
          <a:p>
            <a:pPr marL="342900" indent="-342900">
              <a:buFont typeface="Arial" panose="020B0604020202020204" pitchFamily="34" charset="0"/>
              <a:buChar char="•"/>
            </a:pPr>
            <a:endParaRPr lang="fr-CA" sz="2000" dirty="0"/>
          </a:p>
          <a:p>
            <a:endParaRPr lang="fr-CA" sz="2000" kern="0" dirty="0">
              <a:solidFill>
                <a:srgbClr val="000000"/>
              </a:solidFill>
            </a:endParaRPr>
          </a:p>
          <a:p>
            <a:pPr marL="342900" indent="-342900">
              <a:buFont typeface="Arial" panose="020B0604020202020204" pitchFamily="34" charset="0"/>
              <a:buChar char="•"/>
            </a:pPr>
            <a:endParaRPr lang="fr-CA" sz="2000" dirty="0"/>
          </a:p>
          <a:p>
            <a:pPr marL="342900" indent="-342900">
              <a:buFont typeface="Arial" panose="020B0604020202020204" pitchFamily="34" charset="0"/>
              <a:buChar char="•"/>
            </a:pPr>
            <a:endParaRPr lang="fr-CA" sz="2000" dirty="0"/>
          </a:p>
          <a:p>
            <a:pPr marL="342900" indent="-342900">
              <a:buFont typeface="Arial" panose="020B0604020202020204" pitchFamily="34" charset="0"/>
              <a:buChar char="•"/>
            </a:pPr>
            <a:r>
              <a:rPr lang="fr-CA" sz="2000" dirty="0"/>
              <a:t>la promesse de l'entité de fournir le bien ou le service au client peut être identifiée séparément des autres promesses contenues dans le contrat (distincte à l'intérieur du contrat).</a:t>
            </a:r>
            <a:endParaRPr lang="fr-CA" sz="2000" kern="0" dirty="0">
              <a:solidFill>
                <a:srgbClr val="000000"/>
              </a:solidFill>
            </a:endParaRPr>
          </a:p>
        </p:txBody>
      </p:sp>
      <p:sp>
        <p:nvSpPr>
          <p:cNvPr id="10" name="Rectangle 9">
            <a:extLst>
              <a:ext uri="{FF2B5EF4-FFF2-40B4-BE49-F238E27FC236}">
                <a16:creationId xmlns:a16="http://schemas.microsoft.com/office/drawing/2014/main" id="{96433827-F9CF-414E-99E1-E13866CFD921}"/>
              </a:ext>
            </a:extLst>
          </p:cNvPr>
          <p:cNvSpPr/>
          <p:nvPr/>
        </p:nvSpPr>
        <p:spPr>
          <a:xfrm>
            <a:off x="6575769" y="1297248"/>
            <a:ext cx="1745271" cy="41595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sz="1600" b="1" i="1" dirty="0">
                <a:solidFill>
                  <a:schemeClr val="accent3"/>
                </a:solidFill>
              </a:rPr>
              <a:t>IFRS 15.27-29</a:t>
            </a:r>
          </a:p>
        </p:txBody>
      </p:sp>
      <p:sp>
        <p:nvSpPr>
          <p:cNvPr id="6" name="Rectangle 5">
            <a:extLst>
              <a:ext uri="{FF2B5EF4-FFF2-40B4-BE49-F238E27FC236}">
                <a16:creationId xmlns:a16="http://schemas.microsoft.com/office/drawing/2014/main" id="{28EBE840-0CE8-4FCF-9D3A-8714F1AD7689}"/>
              </a:ext>
            </a:extLst>
          </p:cNvPr>
          <p:cNvSpPr/>
          <p:nvPr/>
        </p:nvSpPr>
        <p:spPr>
          <a:xfrm>
            <a:off x="533401" y="5135416"/>
            <a:ext cx="8092440" cy="1223370"/>
          </a:xfrm>
          <a:prstGeom prst="rect">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fr-CA" dirty="0">
                <a:solidFill>
                  <a:schemeClr val="tx1"/>
                </a:solidFill>
              </a:rPr>
              <a:t>Indicateurs : </a:t>
            </a:r>
          </a:p>
          <a:p>
            <a:pPr marL="285750" indent="-285750">
              <a:buFont typeface="Arial" panose="020B0604020202020204" pitchFamily="34" charset="0"/>
              <a:buChar char="•"/>
            </a:pPr>
            <a:r>
              <a:rPr lang="fr-CA" dirty="0">
                <a:solidFill>
                  <a:schemeClr val="tx1"/>
                </a:solidFill>
              </a:rPr>
              <a:t>Pas d’ important travail d'intégration</a:t>
            </a:r>
          </a:p>
          <a:p>
            <a:pPr marL="285750" indent="-285750">
              <a:buFont typeface="Arial" panose="020B0604020202020204" pitchFamily="34" charset="0"/>
              <a:buChar char="•"/>
            </a:pPr>
            <a:r>
              <a:rPr lang="fr-CA" dirty="0">
                <a:solidFill>
                  <a:schemeClr val="tx1"/>
                </a:solidFill>
              </a:rPr>
              <a:t>Aucun biens ou services se trouvent à modifier considérablement les autres </a:t>
            </a:r>
          </a:p>
          <a:p>
            <a:pPr marL="285750" indent="-285750">
              <a:buFont typeface="Arial" panose="020B0604020202020204" pitchFamily="34" charset="0"/>
              <a:buChar char="•"/>
            </a:pPr>
            <a:r>
              <a:rPr lang="fr-CA" dirty="0">
                <a:solidFill>
                  <a:schemeClr val="tx1"/>
                </a:solidFill>
              </a:rPr>
              <a:t>les biens ou les services  ne dépendent pas fortement les uns des autres</a:t>
            </a:r>
          </a:p>
        </p:txBody>
      </p:sp>
      <p:sp>
        <p:nvSpPr>
          <p:cNvPr id="9" name="Espace réservé du numéro de diapositive 8"/>
          <p:cNvSpPr>
            <a:spLocks noGrp="1"/>
          </p:cNvSpPr>
          <p:nvPr>
            <p:ph type="sldNum" sz="quarter" idx="12"/>
          </p:nvPr>
        </p:nvSpPr>
        <p:spPr/>
        <p:txBody>
          <a:bodyPr/>
          <a:lstStyle/>
          <a:p>
            <a:fld id="{3F1B3DEB-6CA3-4B97-B0DC-BA3F5F40634A}" type="slidenum">
              <a:rPr lang="fr-CA" smtClean="0"/>
              <a:t>13</a:t>
            </a:fld>
            <a:endParaRPr lang="fr-CA"/>
          </a:p>
        </p:txBody>
      </p:sp>
    </p:spTree>
    <p:extLst>
      <p:ext uri="{BB962C8B-B14F-4D97-AF65-F5344CB8AC3E}">
        <p14:creationId xmlns:p14="http://schemas.microsoft.com/office/powerpoint/2010/main" val="25907414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9B4089F-5A6C-46CC-8DAF-010D49B80E5D}"/>
              </a:ext>
            </a:extLst>
          </p:cNvPr>
          <p:cNvSpPr txBox="1">
            <a:spLocks/>
          </p:cNvSpPr>
          <p:nvPr/>
        </p:nvSpPr>
        <p:spPr>
          <a:xfrm>
            <a:off x="533400" y="685800"/>
            <a:ext cx="7363691" cy="685796"/>
          </a:xfrm>
          <a:prstGeom prst="rect">
            <a:avLst/>
          </a:prstGeom>
        </p:spPr>
        <p:txBody>
          <a:bodyPr>
            <a:normAutofit fontScale="975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fr-CA" kern="0" dirty="0">
                <a:solidFill>
                  <a:schemeClr val="accent3"/>
                </a:solidFill>
              </a:rPr>
              <a:t>Bien ou service distinct</a:t>
            </a:r>
            <a:endParaRPr lang="fr-CA" dirty="0">
              <a:solidFill>
                <a:schemeClr val="accent3"/>
              </a:solidFill>
            </a:endParaRPr>
          </a:p>
        </p:txBody>
      </p:sp>
      <p:sp>
        <p:nvSpPr>
          <p:cNvPr id="3" name="Pentagon 10">
            <a:extLst>
              <a:ext uri="{FF2B5EF4-FFF2-40B4-BE49-F238E27FC236}">
                <a16:creationId xmlns:a16="http://schemas.microsoft.com/office/drawing/2014/main" id="{86654433-96C7-4E06-9D94-ECF817A8A1EB}"/>
              </a:ext>
            </a:extLst>
          </p:cNvPr>
          <p:cNvSpPr/>
          <p:nvPr/>
        </p:nvSpPr>
        <p:spPr bwMode="ltGray">
          <a:xfrm rot="5400000">
            <a:off x="7940040" y="685800"/>
            <a:ext cx="762000" cy="609600"/>
          </a:xfrm>
          <a:prstGeom prst="homePlate">
            <a:avLst/>
          </a:prstGeom>
          <a:solidFill>
            <a:schemeClr val="accent3">
              <a:lumMod val="60000"/>
              <a:lumOff val="4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schemeClr val="bg1"/>
              </a:solidFill>
              <a:latin typeface="+mj-lt"/>
            </a:endParaRPr>
          </a:p>
        </p:txBody>
      </p:sp>
      <p:sp>
        <p:nvSpPr>
          <p:cNvPr id="4" name="TextBox 11">
            <a:extLst>
              <a:ext uri="{FF2B5EF4-FFF2-40B4-BE49-F238E27FC236}">
                <a16:creationId xmlns:a16="http://schemas.microsoft.com/office/drawing/2014/main" id="{C24D2439-4D12-4D55-B7D7-CE87FB5B3064}"/>
              </a:ext>
            </a:extLst>
          </p:cNvPr>
          <p:cNvSpPr txBox="1"/>
          <p:nvPr/>
        </p:nvSpPr>
        <p:spPr>
          <a:xfrm>
            <a:off x="8016240" y="609600"/>
            <a:ext cx="609600" cy="609600"/>
          </a:xfrm>
          <a:prstGeom prst="rect">
            <a:avLst/>
          </a:prstGeom>
          <a:noFill/>
        </p:spPr>
        <p:txBody>
          <a:bodyPr wrap="square" lIns="0" tIns="0" rIns="0" bIns="0" rtlCol="0">
            <a:noAutofit/>
          </a:bodyPr>
          <a:lstStyle/>
          <a:p>
            <a:pPr indent="-274320" algn="ctr">
              <a:spcAft>
                <a:spcPts val="900"/>
              </a:spcAft>
            </a:pPr>
            <a:r>
              <a:rPr lang="en-CA" sz="4000" b="1" i="1" dirty="0">
                <a:solidFill>
                  <a:schemeClr val="bg1"/>
                </a:solidFill>
                <a:latin typeface="+mj-lt"/>
              </a:rPr>
              <a:t>2</a:t>
            </a:r>
          </a:p>
        </p:txBody>
      </p:sp>
      <p:cxnSp>
        <p:nvCxnSpPr>
          <p:cNvPr id="7" name="Connecteur droit 6">
            <a:extLst>
              <a:ext uri="{FF2B5EF4-FFF2-40B4-BE49-F238E27FC236}">
                <a16:creationId xmlns:a16="http://schemas.microsoft.com/office/drawing/2014/main" id="{03FCF768-570C-44E8-A14F-AB4E83F86B6E}"/>
              </a:ext>
            </a:extLst>
          </p:cNvPr>
          <p:cNvCxnSpPr>
            <a:cxnSpLocks/>
          </p:cNvCxnSpPr>
          <p:nvPr/>
        </p:nvCxnSpPr>
        <p:spPr>
          <a:xfrm>
            <a:off x="457200" y="624840"/>
            <a:ext cx="7863840" cy="0"/>
          </a:xfrm>
          <a:prstGeom prst="line">
            <a:avLst/>
          </a:prstGeom>
          <a:ln w="28575">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1891F6E1-50DB-4279-B9AB-FB74624AEFD5}"/>
              </a:ext>
            </a:extLst>
          </p:cNvPr>
          <p:cNvSpPr/>
          <p:nvPr/>
        </p:nvSpPr>
        <p:spPr bwMode="ltGray">
          <a:xfrm>
            <a:off x="381000" y="1752600"/>
            <a:ext cx="2269836" cy="1371600"/>
          </a:xfrm>
          <a:prstGeom prst="rect">
            <a:avLst/>
          </a:prstGeom>
          <a:solidFill>
            <a:schemeClr val="accent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b="1" dirty="0">
                <a:solidFill>
                  <a:schemeClr val="tx1"/>
                </a:solidFill>
                <a:latin typeface="+mj-lt"/>
              </a:rPr>
              <a:t>Item </a:t>
            </a:r>
            <a:r>
              <a:rPr lang="fr-CA" b="1" i="1" dirty="0">
                <a:solidFill>
                  <a:schemeClr val="tx1"/>
                </a:solidFill>
                <a:latin typeface="+mj-lt"/>
              </a:rPr>
              <a:t>individuellement </a:t>
            </a:r>
            <a:r>
              <a:rPr lang="fr-CA" b="1" dirty="0">
                <a:solidFill>
                  <a:schemeClr val="tx1"/>
                </a:solidFill>
                <a:latin typeface="+mj-lt"/>
              </a:rPr>
              <a:t>distinct</a:t>
            </a:r>
          </a:p>
        </p:txBody>
      </p:sp>
      <p:sp>
        <p:nvSpPr>
          <p:cNvPr id="10" name="Rectangle 9">
            <a:extLst>
              <a:ext uri="{FF2B5EF4-FFF2-40B4-BE49-F238E27FC236}">
                <a16:creationId xmlns:a16="http://schemas.microsoft.com/office/drawing/2014/main" id="{C1E9C888-B491-402F-AFDE-D8010DDBDF61}"/>
              </a:ext>
            </a:extLst>
          </p:cNvPr>
          <p:cNvSpPr/>
          <p:nvPr/>
        </p:nvSpPr>
        <p:spPr bwMode="ltGray">
          <a:xfrm>
            <a:off x="380999" y="3276600"/>
            <a:ext cx="2269835" cy="1371600"/>
          </a:xfrm>
          <a:prstGeom prst="rect">
            <a:avLst/>
          </a:prstGeom>
          <a:solidFill>
            <a:schemeClr val="accent5"/>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b="1" dirty="0">
                <a:solidFill>
                  <a:schemeClr val="tx1"/>
                </a:solidFill>
                <a:latin typeface="+mj-lt"/>
              </a:rPr>
              <a:t>Groupe d’items </a:t>
            </a:r>
            <a:r>
              <a:rPr lang="fr-CA" b="1" i="1" dirty="0">
                <a:solidFill>
                  <a:schemeClr val="tx1"/>
                </a:solidFill>
                <a:latin typeface="+mj-lt"/>
              </a:rPr>
              <a:t>intégrés</a:t>
            </a:r>
          </a:p>
        </p:txBody>
      </p:sp>
      <p:sp>
        <p:nvSpPr>
          <p:cNvPr id="11" name="Rectangle 10">
            <a:extLst>
              <a:ext uri="{FF2B5EF4-FFF2-40B4-BE49-F238E27FC236}">
                <a16:creationId xmlns:a16="http://schemas.microsoft.com/office/drawing/2014/main" id="{56108F45-698E-4A44-941E-BFB6B9E2A13C}"/>
              </a:ext>
            </a:extLst>
          </p:cNvPr>
          <p:cNvSpPr/>
          <p:nvPr/>
        </p:nvSpPr>
        <p:spPr bwMode="ltGray">
          <a:xfrm>
            <a:off x="381000" y="4800600"/>
            <a:ext cx="2269834" cy="1371600"/>
          </a:xfrm>
          <a:prstGeom prst="rect">
            <a:avLst/>
          </a:prstGeom>
          <a:solidFill>
            <a:schemeClr val="accent3"/>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b="1" i="1" dirty="0">
                <a:solidFill>
                  <a:schemeClr val="tx1"/>
                </a:solidFill>
                <a:latin typeface="+mj-lt"/>
              </a:rPr>
              <a:t>Série d’items </a:t>
            </a:r>
            <a:r>
              <a:rPr lang="fr-CA" b="1" dirty="0">
                <a:solidFill>
                  <a:schemeClr val="tx1"/>
                </a:solidFill>
                <a:latin typeface="+mj-lt"/>
              </a:rPr>
              <a:t>distincts</a:t>
            </a:r>
          </a:p>
        </p:txBody>
      </p:sp>
      <p:sp>
        <p:nvSpPr>
          <p:cNvPr id="12" name="Rectangle 11">
            <a:extLst>
              <a:ext uri="{FF2B5EF4-FFF2-40B4-BE49-F238E27FC236}">
                <a16:creationId xmlns:a16="http://schemas.microsoft.com/office/drawing/2014/main" id="{1247E696-5A47-4E94-94CE-F5644A4F5F35}"/>
              </a:ext>
            </a:extLst>
          </p:cNvPr>
          <p:cNvSpPr/>
          <p:nvPr/>
        </p:nvSpPr>
        <p:spPr bwMode="ltGray">
          <a:xfrm>
            <a:off x="2744653" y="1752600"/>
            <a:ext cx="2418474" cy="1371600"/>
          </a:xfrm>
          <a:prstGeom prst="rect">
            <a:avLst/>
          </a:prstGeom>
          <a:noFill/>
          <a:ln w="31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CA" dirty="0">
                <a:solidFill>
                  <a:schemeClr val="tx1"/>
                </a:solidFill>
                <a:latin typeface="+mj-lt"/>
              </a:rPr>
              <a:t>Vendu séparément ou être utilisé séparément</a:t>
            </a:r>
          </a:p>
        </p:txBody>
      </p:sp>
      <p:sp>
        <p:nvSpPr>
          <p:cNvPr id="13" name="Rectangle 12">
            <a:extLst>
              <a:ext uri="{FF2B5EF4-FFF2-40B4-BE49-F238E27FC236}">
                <a16:creationId xmlns:a16="http://schemas.microsoft.com/office/drawing/2014/main" id="{920EF428-FEC1-4428-941A-C2813958B691}"/>
              </a:ext>
            </a:extLst>
          </p:cNvPr>
          <p:cNvSpPr/>
          <p:nvPr/>
        </p:nvSpPr>
        <p:spPr bwMode="ltGray">
          <a:xfrm>
            <a:off x="2744653" y="3266278"/>
            <a:ext cx="2418474" cy="1371600"/>
          </a:xfrm>
          <a:prstGeom prst="rect">
            <a:avLst/>
          </a:prstGeom>
          <a:noFill/>
          <a:ln w="3175">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CA" dirty="0">
                <a:solidFill>
                  <a:schemeClr val="tx1"/>
                </a:solidFill>
                <a:latin typeface="+mj-lt"/>
              </a:rPr>
              <a:t>Dépendant ou </a:t>
            </a:r>
            <a:r>
              <a:rPr lang="fr-CA" dirty="0" err="1">
                <a:solidFill>
                  <a:schemeClr val="tx1"/>
                </a:solidFill>
                <a:latin typeface="+mj-lt"/>
              </a:rPr>
              <a:t>interrelié</a:t>
            </a:r>
            <a:r>
              <a:rPr lang="fr-CA" dirty="0">
                <a:solidFill>
                  <a:schemeClr val="tx1"/>
                </a:solidFill>
                <a:latin typeface="+mj-lt"/>
              </a:rPr>
              <a:t> aux autres éléments du contrat</a:t>
            </a:r>
          </a:p>
        </p:txBody>
      </p:sp>
      <p:sp>
        <p:nvSpPr>
          <p:cNvPr id="14" name="Rectangle 13">
            <a:extLst>
              <a:ext uri="{FF2B5EF4-FFF2-40B4-BE49-F238E27FC236}">
                <a16:creationId xmlns:a16="http://schemas.microsoft.com/office/drawing/2014/main" id="{7E3590AE-AD3C-4CA1-B4B6-315A4C3A624F}"/>
              </a:ext>
            </a:extLst>
          </p:cNvPr>
          <p:cNvSpPr/>
          <p:nvPr/>
        </p:nvSpPr>
        <p:spPr bwMode="ltGray">
          <a:xfrm>
            <a:off x="2744653" y="4800600"/>
            <a:ext cx="2418474" cy="1371600"/>
          </a:xfrm>
          <a:prstGeom prst="rect">
            <a:avLst/>
          </a:prstGeom>
          <a:noFill/>
          <a:ln w="3175">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CA" kern="0" dirty="0">
                <a:solidFill>
                  <a:srgbClr val="000000"/>
                </a:solidFill>
                <a:latin typeface="+mj-lt"/>
              </a:rPr>
              <a:t>Essentiellement les mêmes et fournis au même rythme</a:t>
            </a:r>
            <a:endParaRPr lang="en-CA" dirty="0">
              <a:solidFill>
                <a:schemeClr val="tx1"/>
              </a:solidFill>
              <a:latin typeface="+mj-lt"/>
            </a:endParaRPr>
          </a:p>
        </p:txBody>
      </p:sp>
      <p:sp>
        <p:nvSpPr>
          <p:cNvPr id="15" name="Rectangle 14">
            <a:extLst>
              <a:ext uri="{FF2B5EF4-FFF2-40B4-BE49-F238E27FC236}">
                <a16:creationId xmlns:a16="http://schemas.microsoft.com/office/drawing/2014/main" id="{28E14F35-F96F-4346-88AC-86CD3CDF68EA}"/>
              </a:ext>
            </a:extLst>
          </p:cNvPr>
          <p:cNvSpPr/>
          <p:nvPr/>
        </p:nvSpPr>
        <p:spPr bwMode="ltGray">
          <a:xfrm>
            <a:off x="5290201" y="1751476"/>
            <a:ext cx="3335639" cy="1371600"/>
          </a:xfrm>
          <a:prstGeom prst="rect">
            <a:avLst/>
          </a:prstGeom>
          <a:noFill/>
          <a:ln w="31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fr-CA" dirty="0">
                <a:solidFill>
                  <a:schemeClr val="tx1"/>
                </a:solidFill>
                <a:latin typeface="+mj-lt"/>
              </a:rPr>
              <a:t>Équipement avec installation simple</a:t>
            </a:r>
          </a:p>
        </p:txBody>
      </p:sp>
      <p:sp>
        <p:nvSpPr>
          <p:cNvPr id="16" name="Rectangle 15">
            <a:extLst>
              <a:ext uri="{FF2B5EF4-FFF2-40B4-BE49-F238E27FC236}">
                <a16:creationId xmlns:a16="http://schemas.microsoft.com/office/drawing/2014/main" id="{AA738111-8351-4831-8CD9-DDA3693B1469}"/>
              </a:ext>
            </a:extLst>
          </p:cNvPr>
          <p:cNvSpPr/>
          <p:nvPr/>
        </p:nvSpPr>
        <p:spPr bwMode="ltGray">
          <a:xfrm>
            <a:off x="5290201" y="3276600"/>
            <a:ext cx="3335639" cy="1371600"/>
          </a:xfrm>
          <a:prstGeom prst="rect">
            <a:avLst/>
          </a:prstGeom>
          <a:noFill/>
          <a:ln w="3175">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fr-CA" dirty="0">
                <a:solidFill>
                  <a:schemeClr val="tx1"/>
                </a:solidFill>
                <a:latin typeface="+mj-lt"/>
              </a:rPr>
              <a:t>Contrat de construction</a:t>
            </a:r>
          </a:p>
          <a:p>
            <a:pPr marL="285750" indent="-285750">
              <a:buFont typeface="Arial" panose="020B0604020202020204" pitchFamily="34" charset="0"/>
              <a:buChar char="•"/>
            </a:pPr>
            <a:r>
              <a:rPr lang="fr-CA" dirty="0">
                <a:solidFill>
                  <a:schemeClr val="tx1"/>
                </a:solidFill>
                <a:latin typeface="+mj-lt"/>
              </a:rPr>
              <a:t>Équipement avec installation complexe</a:t>
            </a:r>
          </a:p>
        </p:txBody>
      </p:sp>
      <p:sp>
        <p:nvSpPr>
          <p:cNvPr id="17" name="Rectangle 16">
            <a:extLst>
              <a:ext uri="{FF2B5EF4-FFF2-40B4-BE49-F238E27FC236}">
                <a16:creationId xmlns:a16="http://schemas.microsoft.com/office/drawing/2014/main" id="{C5362904-2C59-4652-9A7E-92BFD9C3A2AC}"/>
              </a:ext>
            </a:extLst>
          </p:cNvPr>
          <p:cNvSpPr/>
          <p:nvPr/>
        </p:nvSpPr>
        <p:spPr bwMode="ltGray">
          <a:xfrm>
            <a:off x="5290202" y="4783709"/>
            <a:ext cx="3319874" cy="1371600"/>
          </a:xfrm>
          <a:prstGeom prst="rect">
            <a:avLst/>
          </a:prstGeom>
          <a:noFill/>
          <a:ln w="3175">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fr-CA" dirty="0">
                <a:solidFill>
                  <a:schemeClr val="tx1"/>
                </a:solidFill>
                <a:latin typeface="+mj-lt"/>
              </a:rPr>
              <a:t>Service d’entretien	</a:t>
            </a:r>
          </a:p>
        </p:txBody>
      </p:sp>
      <p:sp>
        <p:nvSpPr>
          <p:cNvPr id="5" name="Espace réservé du numéro de diapositive 4"/>
          <p:cNvSpPr>
            <a:spLocks noGrp="1"/>
          </p:cNvSpPr>
          <p:nvPr>
            <p:ph type="sldNum" sz="quarter" idx="12"/>
          </p:nvPr>
        </p:nvSpPr>
        <p:spPr/>
        <p:txBody>
          <a:bodyPr/>
          <a:lstStyle/>
          <a:p>
            <a:fld id="{3F1B3DEB-6CA3-4B97-B0DC-BA3F5F40634A}" type="slidenum">
              <a:rPr lang="fr-CA" smtClean="0"/>
              <a:t>14</a:t>
            </a:fld>
            <a:endParaRPr lang="fr-CA"/>
          </a:p>
        </p:txBody>
      </p:sp>
    </p:spTree>
    <p:extLst>
      <p:ext uri="{BB962C8B-B14F-4D97-AF65-F5344CB8AC3E}">
        <p14:creationId xmlns:p14="http://schemas.microsoft.com/office/powerpoint/2010/main" val="6518066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9B4089F-5A6C-46CC-8DAF-010D49B80E5D}"/>
              </a:ext>
            </a:extLst>
          </p:cNvPr>
          <p:cNvSpPr txBox="1">
            <a:spLocks/>
          </p:cNvSpPr>
          <p:nvPr/>
        </p:nvSpPr>
        <p:spPr>
          <a:xfrm>
            <a:off x="533400" y="685800"/>
            <a:ext cx="7363691" cy="685796"/>
          </a:xfrm>
          <a:prstGeom prst="rect">
            <a:avLst/>
          </a:prstGeom>
        </p:spPr>
        <p:txBody>
          <a:bodyPr>
            <a:normAutofit fontScale="975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fr-CA" kern="0" dirty="0">
                <a:solidFill>
                  <a:schemeClr val="accent3"/>
                </a:solidFill>
              </a:rPr>
              <a:t>Exemple 2</a:t>
            </a:r>
            <a:endParaRPr lang="fr-CA" dirty="0">
              <a:solidFill>
                <a:schemeClr val="accent3"/>
              </a:solidFill>
            </a:endParaRPr>
          </a:p>
        </p:txBody>
      </p:sp>
      <p:sp>
        <p:nvSpPr>
          <p:cNvPr id="3" name="Pentagon 10">
            <a:extLst>
              <a:ext uri="{FF2B5EF4-FFF2-40B4-BE49-F238E27FC236}">
                <a16:creationId xmlns:a16="http://schemas.microsoft.com/office/drawing/2014/main" id="{86654433-96C7-4E06-9D94-ECF817A8A1EB}"/>
              </a:ext>
            </a:extLst>
          </p:cNvPr>
          <p:cNvSpPr/>
          <p:nvPr/>
        </p:nvSpPr>
        <p:spPr bwMode="ltGray">
          <a:xfrm rot="5400000">
            <a:off x="7940040" y="685800"/>
            <a:ext cx="762000" cy="609600"/>
          </a:xfrm>
          <a:prstGeom prst="homePlate">
            <a:avLst/>
          </a:prstGeom>
          <a:solidFill>
            <a:schemeClr val="accent3">
              <a:lumMod val="60000"/>
              <a:lumOff val="4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schemeClr val="bg1"/>
              </a:solidFill>
              <a:latin typeface="+mj-lt"/>
            </a:endParaRPr>
          </a:p>
        </p:txBody>
      </p:sp>
      <p:sp>
        <p:nvSpPr>
          <p:cNvPr id="4" name="TextBox 11">
            <a:extLst>
              <a:ext uri="{FF2B5EF4-FFF2-40B4-BE49-F238E27FC236}">
                <a16:creationId xmlns:a16="http://schemas.microsoft.com/office/drawing/2014/main" id="{C24D2439-4D12-4D55-B7D7-CE87FB5B3064}"/>
              </a:ext>
            </a:extLst>
          </p:cNvPr>
          <p:cNvSpPr txBox="1"/>
          <p:nvPr/>
        </p:nvSpPr>
        <p:spPr>
          <a:xfrm>
            <a:off x="8016240" y="609600"/>
            <a:ext cx="609600" cy="609600"/>
          </a:xfrm>
          <a:prstGeom prst="rect">
            <a:avLst/>
          </a:prstGeom>
          <a:noFill/>
        </p:spPr>
        <p:txBody>
          <a:bodyPr wrap="square" lIns="0" tIns="0" rIns="0" bIns="0" rtlCol="0">
            <a:noAutofit/>
          </a:bodyPr>
          <a:lstStyle/>
          <a:p>
            <a:pPr indent="-274320" algn="ctr">
              <a:spcAft>
                <a:spcPts val="900"/>
              </a:spcAft>
            </a:pPr>
            <a:r>
              <a:rPr lang="en-CA" sz="4000" b="1" i="1" dirty="0">
                <a:solidFill>
                  <a:schemeClr val="bg1"/>
                </a:solidFill>
                <a:latin typeface="+mj-lt"/>
              </a:rPr>
              <a:t>2</a:t>
            </a:r>
          </a:p>
        </p:txBody>
      </p:sp>
      <p:cxnSp>
        <p:nvCxnSpPr>
          <p:cNvPr id="7" name="Connecteur droit 6">
            <a:extLst>
              <a:ext uri="{FF2B5EF4-FFF2-40B4-BE49-F238E27FC236}">
                <a16:creationId xmlns:a16="http://schemas.microsoft.com/office/drawing/2014/main" id="{03FCF768-570C-44E8-A14F-AB4E83F86B6E}"/>
              </a:ext>
            </a:extLst>
          </p:cNvPr>
          <p:cNvCxnSpPr>
            <a:cxnSpLocks/>
          </p:cNvCxnSpPr>
          <p:nvPr/>
        </p:nvCxnSpPr>
        <p:spPr>
          <a:xfrm>
            <a:off x="457200" y="624840"/>
            <a:ext cx="7863840" cy="0"/>
          </a:xfrm>
          <a:prstGeom prst="line">
            <a:avLst/>
          </a:prstGeom>
          <a:ln w="28575">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6" name="ZoneTexte 5">
            <a:extLst>
              <a:ext uri="{FF2B5EF4-FFF2-40B4-BE49-F238E27FC236}">
                <a16:creationId xmlns:a16="http://schemas.microsoft.com/office/drawing/2014/main" id="{30E79422-C83C-4202-BD54-E16068D3D06F}"/>
              </a:ext>
            </a:extLst>
          </p:cNvPr>
          <p:cNvSpPr txBox="1"/>
          <p:nvPr/>
        </p:nvSpPr>
        <p:spPr>
          <a:xfrm>
            <a:off x="457200" y="1720840"/>
            <a:ext cx="7863840" cy="3416320"/>
          </a:xfrm>
          <a:prstGeom prst="rect">
            <a:avLst/>
          </a:prstGeom>
          <a:noFill/>
        </p:spPr>
        <p:txBody>
          <a:bodyPr wrap="square" rtlCol="0">
            <a:spAutoFit/>
          </a:bodyPr>
          <a:lstStyle/>
          <a:p>
            <a:r>
              <a:rPr lang="fr-CA" dirty="0"/>
              <a:t>ABC, un entrepreneur général, conclut un contrat en vue de construire un hôpital pour un client. </a:t>
            </a:r>
          </a:p>
          <a:p>
            <a:endParaRPr lang="fr-CA" dirty="0"/>
          </a:p>
          <a:p>
            <a:r>
              <a:rPr lang="fr-CA" dirty="0"/>
              <a:t>L'entité est </a:t>
            </a:r>
            <a:r>
              <a:rPr lang="fr-CA" b="1" dirty="0"/>
              <a:t>responsable de l'ensemble de la gestion du projet </a:t>
            </a:r>
            <a:r>
              <a:rPr lang="fr-CA" dirty="0"/>
              <a:t>et identifie divers biens et services promis, notamment des </a:t>
            </a:r>
            <a:r>
              <a:rPr lang="fr-CA" b="1" dirty="0"/>
              <a:t>travaux d'ingénierie, de nettoyage de site, de fondations, d'approvisionnement, de construction de structure, de plomberie et d'électricité, d'installation de matériel et de finition</a:t>
            </a:r>
            <a:r>
              <a:rPr lang="fr-CA" dirty="0"/>
              <a:t>. </a:t>
            </a:r>
          </a:p>
          <a:p>
            <a:endParaRPr lang="fr-CA" dirty="0"/>
          </a:p>
          <a:p>
            <a:r>
              <a:rPr lang="fr-CA" dirty="0"/>
              <a:t>L'entité, ou des concurrents de celle-ci, vendent régulièrement bon nombre de ces biens et services séparément à d'autres clients. </a:t>
            </a:r>
          </a:p>
          <a:p>
            <a:endParaRPr lang="fr-CA" dirty="0"/>
          </a:p>
        </p:txBody>
      </p:sp>
      <p:sp>
        <p:nvSpPr>
          <p:cNvPr id="5" name="Espace réservé du numéro de diapositive 4"/>
          <p:cNvSpPr>
            <a:spLocks noGrp="1"/>
          </p:cNvSpPr>
          <p:nvPr>
            <p:ph type="sldNum" sz="quarter" idx="12"/>
          </p:nvPr>
        </p:nvSpPr>
        <p:spPr/>
        <p:txBody>
          <a:bodyPr/>
          <a:lstStyle/>
          <a:p>
            <a:fld id="{3F1B3DEB-6CA3-4B97-B0DC-BA3F5F40634A}" type="slidenum">
              <a:rPr lang="fr-CA" smtClean="0"/>
              <a:t>15</a:t>
            </a:fld>
            <a:endParaRPr lang="fr-CA"/>
          </a:p>
        </p:txBody>
      </p:sp>
    </p:spTree>
    <p:extLst>
      <p:ext uri="{BB962C8B-B14F-4D97-AF65-F5344CB8AC3E}">
        <p14:creationId xmlns:p14="http://schemas.microsoft.com/office/powerpoint/2010/main" val="10052277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9B4089F-5A6C-46CC-8DAF-010D49B80E5D}"/>
              </a:ext>
            </a:extLst>
          </p:cNvPr>
          <p:cNvSpPr txBox="1">
            <a:spLocks/>
          </p:cNvSpPr>
          <p:nvPr/>
        </p:nvSpPr>
        <p:spPr>
          <a:xfrm>
            <a:off x="554875" y="813768"/>
            <a:ext cx="7363691" cy="405432"/>
          </a:xfrm>
          <a:prstGeom prst="rect">
            <a:avLst/>
          </a:prstGeom>
        </p:spPr>
        <p:txBody>
          <a:bodyPr>
            <a:normAutofit fontScale="90000" lnSpcReduction="200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fr-CA" kern="0" dirty="0">
                <a:solidFill>
                  <a:schemeClr val="accent3"/>
                </a:solidFill>
              </a:rPr>
              <a:t>Exemple 2 - solution</a:t>
            </a:r>
            <a:endParaRPr lang="fr-CA" dirty="0">
              <a:solidFill>
                <a:schemeClr val="accent3"/>
              </a:solidFill>
            </a:endParaRPr>
          </a:p>
        </p:txBody>
      </p:sp>
      <p:sp>
        <p:nvSpPr>
          <p:cNvPr id="3" name="Pentagon 10">
            <a:extLst>
              <a:ext uri="{FF2B5EF4-FFF2-40B4-BE49-F238E27FC236}">
                <a16:creationId xmlns:a16="http://schemas.microsoft.com/office/drawing/2014/main" id="{86654433-96C7-4E06-9D94-ECF817A8A1EB}"/>
              </a:ext>
            </a:extLst>
          </p:cNvPr>
          <p:cNvSpPr/>
          <p:nvPr/>
        </p:nvSpPr>
        <p:spPr bwMode="ltGray">
          <a:xfrm rot="5400000">
            <a:off x="7940040" y="685800"/>
            <a:ext cx="762000" cy="609600"/>
          </a:xfrm>
          <a:prstGeom prst="homePlate">
            <a:avLst/>
          </a:prstGeom>
          <a:solidFill>
            <a:schemeClr val="accent3">
              <a:lumMod val="60000"/>
              <a:lumOff val="4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schemeClr val="bg1"/>
              </a:solidFill>
              <a:latin typeface="+mj-lt"/>
            </a:endParaRPr>
          </a:p>
        </p:txBody>
      </p:sp>
      <p:sp>
        <p:nvSpPr>
          <p:cNvPr id="4" name="TextBox 11">
            <a:extLst>
              <a:ext uri="{FF2B5EF4-FFF2-40B4-BE49-F238E27FC236}">
                <a16:creationId xmlns:a16="http://schemas.microsoft.com/office/drawing/2014/main" id="{C24D2439-4D12-4D55-B7D7-CE87FB5B3064}"/>
              </a:ext>
            </a:extLst>
          </p:cNvPr>
          <p:cNvSpPr txBox="1"/>
          <p:nvPr/>
        </p:nvSpPr>
        <p:spPr>
          <a:xfrm>
            <a:off x="8016240" y="609600"/>
            <a:ext cx="609600" cy="356349"/>
          </a:xfrm>
          <a:prstGeom prst="rect">
            <a:avLst/>
          </a:prstGeom>
          <a:noFill/>
        </p:spPr>
        <p:txBody>
          <a:bodyPr wrap="square" lIns="0" tIns="0" rIns="0" bIns="0" rtlCol="0">
            <a:noAutofit/>
          </a:bodyPr>
          <a:lstStyle/>
          <a:p>
            <a:pPr indent="-274320" algn="ctr">
              <a:spcAft>
                <a:spcPts val="900"/>
              </a:spcAft>
            </a:pPr>
            <a:r>
              <a:rPr lang="en-CA" sz="4000" b="1" i="1" dirty="0">
                <a:solidFill>
                  <a:schemeClr val="bg1"/>
                </a:solidFill>
                <a:latin typeface="+mj-lt"/>
              </a:rPr>
              <a:t>2</a:t>
            </a:r>
          </a:p>
        </p:txBody>
      </p:sp>
      <p:cxnSp>
        <p:nvCxnSpPr>
          <p:cNvPr id="7" name="Connecteur droit 6">
            <a:extLst>
              <a:ext uri="{FF2B5EF4-FFF2-40B4-BE49-F238E27FC236}">
                <a16:creationId xmlns:a16="http://schemas.microsoft.com/office/drawing/2014/main" id="{03FCF768-570C-44E8-A14F-AB4E83F86B6E}"/>
              </a:ext>
            </a:extLst>
          </p:cNvPr>
          <p:cNvCxnSpPr>
            <a:cxnSpLocks/>
          </p:cNvCxnSpPr>
          <p:nvPr/>
        </p:nvCxnSpPr>
        <p:spPr>
          <a:xfrm>
            <a:off x="457200" y="624840"/>
            <a:ext cx="7863840" cy="0"/>
          </a:xfrm>
          <a:prstGeom prst="line">
            <a:avLst/>
          </a:prstGeom>
          <a:ln w="28575">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6" name="ZoneTexte 5">
            <a:extLst>
              <a:ext uri="{FF2B5EF4-FFF2-40B4-BE49-F238E27FC236}">
                <a16:creationId xmlns:a16="http://schemas.microsoft.com/office/drawing/2014/main" id="{30E79422-C83C-4202-BD54-E16068D3D06F}"/>
              </a:ext>
            </a:extLst>
          </p:cNvPr>
          <p:cNvSpPr txBox="1"/>
          <p:nvPr/>
        </p:nvSpPr>
        <p:spPr>
          <a:xfrm>
            <a:off x="511743" y="1219200"/>
            <a:ext cx="7863840" cy="5632311"/>
          </a:xfrm>
          <a:prstGeom prst="rect">
            <a:avLst/>
          </a:prstGeom>
          <a:noFill/>
        </p:spPr>
        <p:txBody>
          <a:bodyPr wrap="square" rtlCol="0">
            <a:spAutoFit/>
          </a:bodyPr>
          <a:lstStyle/>
          <a:p>
            <a:pPr marL="342900" indent="-342900">
              <a:buFont typeface="+mj-lt"/>
              <a:buAutoNum type="arabicPeriod"/>
            </a:pPr>
            <a:r>
              <a:rPr lang="fr-CA" dirty="0"/>
              <a:t>Existe de façon séparée:  OUI, Les biens et services promis peuvent </a:t>
            </a:r>
            <a:r>
              <a:rPr lang="fr-CA" b="1" dirty="0"/>
              <a:t>exister de façon distincte</a:t>
            </a:r>
            <a:r>
              <a:rPr lang="fr-CA" dirty="0"/>
              <a:t>, car le client peut tirer parti des biens et des services pris isolément ou en les combinant avec d'autres ressources aisément disponibles. </a:t>
            </a:r>
          </a:p>
          <a:p>
            <a:pPr marL="742950" lvl="1" indent="-285750">
              <a:buFont typeface="Wingdings" panose="05000000000000000000" pitchFamily="2" charset="2"/>
              <a:buChar char=""/>
            </a:pPr>
            <a:r>
              <a:rPr lang="fr-CA" dirty="0"/>
              <a:t>En effet, ABC, ou des concurrents de celle-ci, vendent régulièrement bon nombre de ces biens et services séparément à d'autres clients. </a:t>
            </a:r>
          </a:p>
          <a:p>
            <a:endParaRPr lang="fr-CA" dirty="0"/>
          </a:p>
          <a:p>
            <a:pPr marL="342900" indent="-342900">
              <a:buFont typeface="+mj-lt"/>
              <a:buAutoNum type="arabicPeriod" startAt="2"/>
            </a:pPr>
            <a:r>
              <a:rPr lang="fr-CA" dirty="0"/>
              <a:t>Distincte à l'intérieur du contrat : NON, Ils ne remplissent pas la condition selon laquelle ils peuvent être </a:t>
            </a:r>
            <a:r>
              <a:rPr lang="fr-CA" b="1" dirty="0"/>
              <a:t>identifiées séparément </a:t>
            </a:r>
            <a:r>
              <a:rPr lang="fr-CA" dirty="0"/>
              <a:t>dans le contexte du contrat.</a:t>
            </a:r>
          </a:p>
          <a:p>
            <a:pPr marL="742950" lvl="1" indent="-285750">
              <a:buFont typeface="Wingdings" panose="05000000000000000000" pitchFamily="2" charset="2"/>
              <a:buChar char=""/>
            </a:pPr>
            <a:r>
              <a:rPr lang="fr-CA" dirty="0">
                <a:sym typeface="Wingdings" panose="05000000000000000000" pitchFamily="2" charset="2"/>
              </a:rPr>
              <a:t>En effet, ABC</a:t>
            </a:r>
            <a:r>
              <a:rPr lang="fr-CA" dirty="0"/>
              <a:t> réalise un </a:t>
            </a:r>
            <a:r>
              <a:rPr lang="fr-CA" b="1" dirty="0"/>
              <a:t>important travail d'intégration </a:t>
            </a:r>
            <a:r>
              <a:rPr lang="fr-CA" dirty="0"/>
              <a:t>des biens et des services pour en faire l'</a:t>
            </a:r>
            <a:r>
              <a:rPr lang="fr-CA" b="1" dirty="0"/>
              <a:t>hôpital</a:t>
            </a:r>
            <a:r>
              <a:rPr lang="fr-CA" dirty="0"/>
              <a:t> faisant l'objet du contrat passé par le client.</a:t>
            </a:r>
          </a:p>
          <a:p>
            <a:pPr marL="742950" lvl="1" indent="-285750">
              <a:buFont typeface="Wingdings" panose="05000000000000000000" pitchFamily="2" charset="2"/>
              <a:buChar char=""/>
            </a:pPr>
            <a:endParaRPr lang="fr-CA" dirty="0"/>
          </a:p>
          <a:p>
            <a:r>
              <a:rPr lang="fr-CA" dirty="0"/>
              <a:t>Comme les conditions du paragraphe 27 d'IFRS 15 ne sont pas </a:t>
            </a:r>
            <a:r>
              <a:rPr lang="fr-CA" u="sng" dirty="0"/>
              <a:t>toutes deux</a:t>
            </a:r>
            <a:r>
              <a:rPr lang="fr-CA" dirty="0"/>
              <a:t> remplies, les biens et services ne sont pas distincts. </a:t>
            </a:r>
          </a:p>
          <a:p>
            <a:endParaRPr lang="fr-CA" dirty="0"/>
          </a:p>
          <a:p>
            <a:r>
              <a:rPr lang="fr-CA" dirty="0"/>
              <a:t>L'entité doit donc comptabiliser tous les biens et les services prévus dans le contrat comme </a:t>
            </a:r>
            <a:r>
              <a:rPr lang="fr-CA" b="1" dirty="0"/>
              <a:t>une seule et même obligation de prestation.</a:t>
            </a:r>
          </a:p>
          <a:p>
            <a:endParaRPr lang="fr-CA" dirty="0"/>
          </a:p>
        </p:txBody>
      </p:sp>
      <p:sp>
        <p:nvSpPr>
          <p:cNvPr id="5" name="Espace réservé du numéro de diapositive 4"/>
          <p:cNvSpPr>
            <a:spLocks noGrp="1"/>
          </p:cNvSpPr>
          <p:nvPr>
            <p:ph type="sldNum" sz="quarter" idx="12"/>
          </p:nvPr>
        </p:nvSpPr>
        <p:spPr/>
        <p:txBody>
          <a:bodyPr/>
          <a:lstStyle/>
          <a:p>
            <a:fld id="{3F1B3DEB-6CA3-4B97-B0DC-BA3F5F40634A}" type="slidenum">
              <a:rPr lang="fr-CA" smtClean="0"/>
              <a:t>16</a:t>
            </a:fld>
            <a:endParaRPr lang="fr-CA"/>
          </a:p>
        </p:txBody>
      </p:sp>
    </p:spTree>
    <p:extLst>
      <p:ext uri="{BB962C8B-B14F-4D97-AF65-F5344CB8AC3E}">
        <p14:creationId xmlns:p14="http://schemas.microsoft.com/office/powerpoint/2010/main" val="29355273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9B4089F-5A6C-46CC-8DAF-010D49B80E5D}"/>
              </a:ext>
            </a:extLst>
          </p:cNvPr>
          <p:cNvSpPr txBox="1">
            <a:spLocks/>
          </p:cNvSpPr>
          <p:nvPr/>
        </p:nvSpPr>
        <p:spPr>
          <a:xfrm>
            <a:off x="533400" y="685800"/>
            <a:ext cx="7363691" cy="685796"/>
          </a:xfrm>
          <a:prstGeom prst="rect">
            <a:avLst/>
          </a:prstGeom>
        </p:spPr>
        <p:txBody>
          <a:bodyPr>
            <a:normAutofit fontScale="975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fr-CA" kern="0" dirty="0">
                <a:solidFill>
                  <a:schemeClr val="accent3"/>
                </a:solidFill>
              </a:rPr>
              <a:t>Exemple 3</a:t>
            </a:r>
            <a:endParaRPr lang="fr-CA" dirty="0">
              <a:solidFill>
                <a:schemeClr val="accent3"/>
              </a:solidFill>
            </a:endParaRPr>
          </a:p>
        </p:txBody>
      </p:sp>
      <p:sp>
        <p:nvSpPr>
          <p:cNvPr id="3" name="Pentagon 10">
            <a:extLst>
              <a:ext uri="{FF2B5EF4-FFF2-40B4-BE49-F238E27FC236}">
                <a16:creationId xmlns:a16="http://schemas.microsoft.com/office/drawing/2014/main" id="{86654433-96C7-4E06-9D94-ECF817A8A1EB}"/>
              </a:ext>
            </a:extLst>
          </p:cNvPr>
          <p:cNvSpPr/>
          <p:nvPr/>
        </p:nvSpPr>
        <p:spPr bwMode="ltGray">
          <a:xfrm rot="5400000">
            <a:off x="7940040" y="685800"/>
            <a:ext cx="762000" cy="609600"/>
          </a:xfrm>
          <a:prstGeom prst="homePlate">
            <a:avLst/>
          </a:prstGeom>
          <a:solidFill>
            <a:schemeClr val="accent3">
              <a:lumMod val="60000"/>
              <a:lumOff val="4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schemeClr val="bg1"/>
              </a:solidFill>
              <a:latin typeface="+mj-lt"/>
            </a:endParaRPr>
          </a:p>
        </p:txBody>
      </p:sp>
      <p:sp>
        <p:nvSpPr>
          <p:cNvPr id="4" name="TextBox 11">
            <a:extLst>
              <a:ext uri="{FF2B5EF4-FFF2-40B4-BE49-F238E27FC236}">
                <a16:creationId xmlns:a16="http://schemas.microsoft.com/office/drawing/2014/main" id="{C24D2439-4D12-4D55-B7D7-CE87FB5B3064}"/>
              </a:ext>
            </a:extLst>
          </p:cNvPr>
          <p:cNvSpPr txBox="1"/>
          <p:nvPr/>
        </p:nvSpPr>
        <p:spPr>
          <a:xfrm>
            <a:off x="8016240" y="609600"/>
            <a:ext cx="609600" cy="609600"/>
          </a:xfrm>
          <a:prstGeom prst="rect">
            <a:avLst/>
          </a:prstGeom>
          <a:noFill/>
        </p:spPr>
        <p:txBody>
          <a:bodyPr wrap="square" lIns="0" tIns="0" rIns="0" bIns="0" rtlCol="0">
            <a:noAutofit/>
          </a:bodyPr>
          <a:lstStyle/>
          <a:p>
            <a:pPr indent="-274320" algn="ctr">
              <a:spcAft>
                <a:spcPts val="900"/>
              </a:spcAft>
            </a:pPr>
            <a:r>
              <a:rPr lang="en-CA" sz="4000" b="1" i="1" dirty="0">
                <a:solidFill>
                  <a:schemeClr val="bg1"/>
                </a:solidFill>
                <a:latin typeface="+mj-lt"/>
              </a:rPr>
              <a:t>2</a:t>
            </a:r>
          </a:p>
        </p:txBody>
      </p:sp>
      <p:cxnSp>
        <p:nvCxnSpPr>
          <p:cNvPr id="7" name="Connecteur droit 6">
            <a:extLst>
              <a:ext uri="{FF2B5EF4-FFF2-40B4-BE49-F238E27FC236}">
                <a16:creationId xmlns:a16="http://schemas.microsoft.com/office/drawing/2014/main" id="{03FCF768-570C-44E8-A14F-AB4E83F86B6E}"/>
              </a:ext>
            </a:extLst>
          </p:cNvPr>
          <p:cNvCxnSpPr>
            <a:cxnSpLocks/>
          </p:cNvCxnSpPr>
          <p:nvPr/>
        </p:nvCxnSpPr>
        <p:spPr>
          <a:xfrm>
            <a:off x="457200" y="624840"/>
            <a:ext cx="7863840" cy="0"/>
          </a:xfrm>
          <a:prstGeom prst="line">
            <a:avLst/>
          </a:prstGeom>
          <a:ln w="28575">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6" name="ZoneTexte 5">
            <a:extLst>
              <a:ext uri="{FF2B5EF4-FFF2-40B4-BE49-F238E27FC236}">
                <a16:creationId xmlns:a16="http://schemas.microsoft.com/office/drawing/2014/main" id="{30E79422-C83C-4202-BD54-E16068D3D06F}"/>
              </a:ext>
            </a:extLst>
          </p:cNvPr>
          <p:cNvSpPr txBox="1"/>
          <p:nvPr/>
        </p:nvSpPr>
        <p:spPr>
          <a:xfrm>
            <a:off x="457200" y="1712790"/>
            <a:ext cx="7863840" cy="3693319"/>
          </a:xfrm>
          <a:prstGeom prst="rect">
            <a:avLst/>
          </a:prstGeom>
          <a:noFill/>
        </p:spPr>
        <p:txBody>
          <a:bodyPr wrap="square" rtlCol="0">
            <a:spAutoFit/>
          </a:bodyPr>
          <a:lstStyle/>
          <a:p>
            <a:r>
              <a:rPr lang="fr-CA" dirty="0"/>
              <a:t>ABC, un concepteur de logiciels, conclut un contrat avec un client en vue de fournir à celui-ci:</a:t>
            </a:r>
          </a:p>
          <a:p>
            <a:pPr marL="285750" indent="-285750">
              <a:buFontTx/>
              <a:buChar char="-"/>
            </a:pPr>
            <a:r>
              <a:rPr lang="fr-CA" dirty="0"/>
              <a:t>une licence de logiciel</a:t>
            </a:r>
          </a:p>
          <a:p>
            <a:pPr marL="285750" indent="-285750">
              <a:buFontTx/>
              <a:buChar char="-"/>
            </a:pPr>
            <a:r>
              <a:rPr lang="fr-CA" dirty="0"/>
              <a:t>un service d'installation</a:t>
            </a:r>
          </a:p>
          <a:p>
            <a:pPr marL="285750" indent="-285750">
              <a:buFontTx/>
              <a:buChar char="-"/>
            </a:pPr>
            <a:r>
              <a:rPr lang="fr-CA" dirty="0"/>
              <a:t>des mises à jour du logiciel (non définies)</a:t>
            </a:r>
          </a:p>
          <a:p>
            <a:pPr marL="285750" indent="-285750">
              <a:buFontTx/>
              <a:buChar char="-"/>
            </a:pPr>
            <a:r>
              <a:rPr lang="fr-CA" dirty="0"/>
              <a:t>un soutien technique (en ligne et par téléphone) pour une période de deux ans.</a:t>
            </a:r>
          </a:p>
          <a:p>
            <a:endParaRPr lang="fr-CA" dirty="0"/>
          </a:p>
          <a:p>
            <a:r>
              <a:rPr lang="fr-CA" dirty="0"/>
              <a:t>L'entité vend la licence, le service d'installation et le soutien technique séparément. </a:t>
            </a:r>
          </a:p>
          <a:p>
            <a:endParaRPr lang="fr-CA" dirty="0"/>
          </a:p>
          <a:p>
            <a:r>
              <a:rPr lang="fr-CA" dirty="0"/>
              <a:t>Le service d'installation est couramment offert par d'autres entités et ne modifie pas considérablement le logiciel. </a:t>
            </a:r>
          </a:p>
          <a:p>
            <a:endParaRPr lang="fr-CA" dirty="0"/>
          </a:p>
          <a:p>
            <a:r>
              <a:rPr lang="fr-CA" dirty="0"/>
              <a:t>Le logiciel demeure fonctionnel sans les mises à jour et le soutien technique.</a:t>
            </a:r>
          </a:p>
        </p:txBody>
      </p:sp>
      <p:sp>
        <p:nvSpPr>
          <p:cNvPr id="5" name="Espace réservé du numéro de diapositive 4"/>
          <p:cNvSpPr>
            <a:spLocks noGrp="1"/>
          </p:cNvSpPr>
          <p:nvPr>
            <p:ph type="sldNum" sz="quarter" idx="12"/>
          </p:nvPr>
        </p:nvSpPr>
        <p:spPr/>
        <p:txBody>
          <a:bodyPr/>
          <a:lstStyle/>
          <a:p>
            <a:fld id="{3F1B3DEB-6CA3-4B97-B0DC-BA3F5F40634A}" type="slidenum">
              <a:rPr lang="fr-CA" smtClean="0"/>
              <a:t>17</a:t>
            </a:fld>
            <a:endParaRPr lang="fr-CA"/>
          </a:p>
        </p:txBody>
      </p:sp>
    </p:spTree>
    <p:extLst>
      <p:ext uri="{BB962C8B-B14F-4D97-AF65-F5344CB8AC3E}">
        <p14:creationId xmlns:p14="http://schemas.microsoft.com/office/powerpoint/2010/main" val="36388316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9B4089F-5A6C-46CC-8DAF-010D49B80E5D}"/>
              </a:ext>
            </a:extLst>
          </p:cNvPr>
          <p:cNvSpPr txBox="1">
            <a:spLocks/>
          </p:cNvSpPr>
          <p:nvPr/>
        </p:nvSpPr>
        <p:spPr>
          <a:xfrm>
            <a:off x="533400" y="685800"/>
            <a:ext cx="7363691" cy="685796"/>
          </a:xfrm>
          <a:prstGeom prst="rect">
            <a:avLst/>
          </a:prstGeom>
        </p:spPr>
        <p:txBody>
          <a:bodyPr>
            <a:normAutofit fontScale="975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fr-CA" kern="0" dirty="0">
                <a:solidFill>
                  <a:schemeClr val="accent3"/>
                </a:solidFill>
              </a:rPr>
              <a:t>Exemple 3 - solution</a:t>
            </a:r>
            <a:endParaRPr lang="fr-CA" dirty="0">
              <a:solidFill>
                <a:schemeClr val="accent3"/>
              </a:solidFill>
            </a:endParaRPr>
          </a:p>
        </p:txBody>
      </p:sp>
      <p:sp>
        <p:nvSpPr>
          <p:cNvPr id="3" name="Pentagon 10">
            <a:extLst>
              <a:ext uri="{FF2B5EF4-FFF2-40B4-BE49-F238E27FC236}">
                <a16:creationId xmlns:a16="http://schemas.microsoft.com/office/drawing/2014/main" id="{86654433-96C7-4E06-9D94-ECF817A8A1EB}"/>
              </a:ext>
            </a:extLst>
          </p:cNvPr>
          <p:cNvSpPr/>
          <p:nvPr/>
        </p:nvSpPr>
        <p:spPr bwMode="ltGray">
          <a:xfrm rot="5400000">
            <a:off x="7940040" y="685800"/>
            <a:ext cx="762000" cy="609600"/>
          </a:xfrm>
          <a:prstGeom prst="homePlate">
            <a:avLst/>
          </a:prstGeom>
          <a:solidFill>
            <a:schemeClr val="accent3">
              <a:lumMod val="60000"/>
              <a:lumOff val="4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schemeClr val="bg1"/>
              </a:solidFill>
              <a:latin typeface="+mj-lt"/>
            </a:endParaRPr>
          </a:p>
        </p:txBody>
      </p:sp>
      <p:sp>
        <p:nvSpPr>
          <p:cNvPr id="4" name="TextBox 11">
            <a:extLst>
              <a:ext uri="{FF2B5EF4-FFF2-40B4-BE49-F238E27FC236}">
                <a16:creationId xmlns:a16="http://schemas.microsoft.com/office/drawing/2014/main" id="{C24D2439-4D12-4D55-B7D7-CE87FB5B3064}"/>
              </a:ext>
            </a:extLst>
          </p:cNvPr>
          <p:cNvSpPr txBox="1"/>
          <p:nvPr/>
        </p:nvSpPr>
        <p:spPr>
          <a:xfrm>
            <a:off x="8016240" y="609600"/>
            <a:ext cx="609600" cy="609600"/>
          </a:xfrm>
          <a:prstGeom prst="rect">
            <a:avLst/>
          </a:prstGeom>
          <a:noFill/>
        </p:spPr>
        <p:txBody>
          <a:bodyPr wrap="square" lIns="0" tIns="0" rIns="0" bIns="0" rtlCol="0">
            <a:noAutofit/>
          </a:bodyPr>
          <a:lstStyle/>
          <a:p>
            <a:pPr indent="-274320" algn="ctr">
              <a:spcAft>
                <a:spcPts val="900"/>
              </a:spcAft>
            </a:pPr>
            <a:r>
              <a:rPr lang="en-CA" sz="4000" b="1" i="1" dirty="0">
                <a:solidFill>
                  <a:schemeClr val="bg1"/>
                </a:solidFill>
                <a:latin typeface="+mj-lt"/>
              </a:rPr>
              <a:t>2</a:t>
            </a:r>
          </a:p>
        </p:txBody>
      </p:sp>
      <p:cxnSp>
        <p:nvCxnSpPr>
          <p:cNvPr id="7" name="Connecteur droit 6">
            <a:extLst>
              <a:ext uri="{FF2B5EF4-FFF2-40B4-BE49-F238E27FC236}">
                <a16:creationId xmlns:a16="http://schemas.microsoft.com/office/drawing/2014/main" id="{03FCF768-570C-44E8-A14F-AB4E83F86B6E}"/>
              </a:ext>
            </a:extLst>
          </p:cNvPr>
          <p:cNvCxnSpPr>
            <a:cxnSpLocks/>
          </p:cNvCxnSpPr>
          <p:nvPr/>
        </p:nvCxnSpPr>
        <p:spPr>
          <a:xfrm>
            <a:off x="457200" y="624840"/>
            <a:ext cx="7863840" cy="0"/>
          </a:xfrm>
          <a:prstGeom prst="line">
            <a:avLst/>
          </a:prstGeom>
          <a:ln w="28575">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6" name="ZoneTexte 5">
            <a:extLst>
              <a:ext uri="{FF2B5EF4-FFF2-40B4-BE49-F238E27FC236}">
                <a16:creationId xmlns:a16="http://schemas.microsoft.com/office/drawing/2014/main" id="{30E79422-C83C-4202-BD54-E16068D3D06F}"/>
              </a:ext>
            </a:extLst>
          </p:cNvPr>
          <p:cNvSpPr txBox="1"/>
          <p:nvPr/>
        </p:nvSpPr>
        <p:spPr>
          <a:xfrm>
            <a:off x="457200" y="1371596"/>
            <a:ext cx="7863840" cy="5355312"/>
          </a:xfrm>
          <a:prstGeom prst="rect">
            <a:avLst/>
          </a:prstGeom>
          <a:noFill/>
        </p:spPr>
        <p:txBody>
          <a:bodyPr wrap="square" rtlCol="0">
            <a:spAutoFit/>
          </a:bodyPr>
          <a:lstStyle/>
          <a:p>
            <a:pPr marL="342900" indent="-342900">
              <a:buFont typeface="+mj-lt"/>
              <a:buAutoNum type="arabicPeriod"/>
            </a:pPr>
            <a:r>
              <a:rPr lang="fr-CA" dirty="0"/>
              <a:t>Existe de façon séparée: OUI, Le client peut tirer parti de chacun des biens et des services pris isolément ou en les combinant avec les autres biens et services aisément disponibles.</a:t>
            </a:r>
          </a:p>
          <a:p>
            <a:pPr marL="742950" lvl="1" indent="-285750">
              <a:buFont typeface="Wingdings" panose="05000000000000000000" pitchFamily="2" charset="2"/>
              <a:buChar char=""/>
            </a:pPr>
            <a:r>
              <a:rPr lang="fr-CA" dirty="0">
                <a:sym typeface="Wingdings" panose="05000000000000000000" pitchFamily="2" charset="2"/>
              </a:rPr>
              <a:t>En effet, ABC</a:t>
            </a:r>
            <a:r>
              <a:rPr lang="fr-CA" dirty="0"/>
              <a:t> vend la licence, le service d'installation et le soutien technique séparément. Le service d'installation est couramment offert par d'autres entités.  De plus, </a:t>
            </a:r>
            <a:r>
              <a:rPr lang="fr-CA" dirty="0">
                <a:sym typeface="Wingdings" panose="05000000000000000000" pitchFamily="2" charset="2"/>
              </a:rPr>
              <a:t>l</a:t>
            </a:r>
            <a:r>
              <a:rPr lang="fr-CA" dirty="0"/>
              <a:t>e logiciel demeure fonctionnel sans les mises à jour et le soutien technique.</a:t>
            </a:r>
          </a:p>
          <a:p>
            <a:pPr marL="342900" lvl="1" indent="-342900">
              <a:buFont typeface="+mj-lt"/>
              <a:buAutoNum type="arabicPeriod" startAt="2"/>
            </a:pPr>
            <a:r>
              <a:rPr lang="fr-CA" dirty="0"/>
              <a:t>Distincte à l'intérieur du contrat : OUI, Ils peuvent être </a:t>
            </a:r>
            <a:r>
              <a:rPr lang="fr-CA" b="1" dirty="0"/>
              <a:t>identifiées séparément </a:t>
            </a:r>
            <a:r>
              <a:rPr lang="fr-CA" dirty="0"/>
              <a:t>dans le contexte du contrat.</a:t>
            </a:r>
          </a:p>
          <a:p>
            <a:pPr marL="742950" lvl="1" indent="-285750">
              <a:buFont typeface="Wingdings" panose="05000000000000000000" pitchFamily="2" charset="2"/>
              <a:buChar char=""/>
            </a:pPr>
            <a:r>
              <a:rPr lang="fr-CA" dirty="0"/>
              <a:t>En effet, aucun des biens ou services promis ne se trouve à modifier ou à personnaliser considérablement les autres biens ou services puisque le service d'installation ne modifie pas considérablement le logiciel et celui-ci demeure fonctionnel sans les mises à jour et le soutien technique. Ainsi, ABC ne réalise </a:t>
            </a:r>
            <a:r>
              <a:rPr lang="fr-CA" b="1" dirty="0"/>
              <a:t>pas un important travail d'intégration </a:t>
            </a:r>
            <a:r>
              <a:rPr lang="fr-CA" dirty="0"/>
              <a:t>du logiciel et des service. </a:t>
            </a:r>
          </a:p>
          <a:p>
            <a:pPr lvl="1"/>
            <a:endParaRPr lang="fr-CA" dirty="0"/>
          </a:p>
          <a:p>
            <a:pPr marL="0" lvl="1"/>
            <a:r>
              <a:rPr lang="fr-CA" dirty="0"/>
              <a:t>Comme les conditions du paragraphe 27 d'IFRS 15 sont toutes deux remplies, les biens et services sont distincts. Il y a donc 4 obligations de performance.</a:t>
            </a:r>
          </a:p>
          <a:p>
            <a:pPr lvl="1"/>
            <a:endParaRPr lang="fr-CA" dirty="0"/>
          </a:p>
        </p:txBody>
      </p:sp>
      <p:sp>
        <p:nvSpPr>
          <p:cNvPr id="5" name="Espace réservé du numéro de diapositive 4"/>
          <p:cNvSpPr>
            <a:spLocks noGrp="1"/>
          </p:cNvSpPr>
          <p:nvPr>
            <p:ph type="sldNum" sz="quarter" idx="12"/>
          </p:nvPr>
        </p:nvSpPr>
        <p:spPr/>
        <p:txBody>
          <a:bodyPr/>
          <a:lstStyle/>
          <a:p>
            <a:fld id="{3F1B3DEB-6CA3-4B97-B0DC-BA3F5F40634A}" type="slidenum">
              <a:rPr lang="fr-CA" smtClean="0"/>
              <a:t>18</a:t>
            </a:fld>
            <a:endParaRPr lang="fr-CA"/>
          </a:p>
        </p:txBody>
      </p:sp>
    </p:spTree>
    <p:extLst>
      <p:ext uri="{BB962C8B-B14F-4D97-AF65-F5344CB8AC3E}">
        <p14:creationId xmlns:p14="http://schemas.microsoft.com/office/powerpoint/2010/main" val="3110591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9B4089F-5A6C-46CC-8DAF-010D49B80E5D}"/>
              </a:ext>
            </a:extLst>
          </p:cNvPr>
          <p:cNvSpPr txBox="1">
            <a:spLocks/>
          </p:cNvSpPr>
          <p:nvPr/>
        </p:nvSpPr>
        <p:spPr>
          <a:xfrm>
            <a:off x="533400" y="685800"/>
            <a:ext cx="7363691" cy="685796"/>
          </a:xfrm>
          <a:prstGeom prst="rect">
            <a:avLst/>
          </a:prstGeom>
        </p:spPr>
        <p:txBody>
          <a:bodyPr>
            <a:normAutofit fontScale="975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fr-CA" kern="0" dirty="0">
                <a:solidFill>
                  <a:schemeClr val="accent3"/>
                </a:solidFill>
              </a:rPr>
              <a:t>Exemple 4</a:t>
            </a:r>
            <a:endParaRPr lang="fr-CA" dirty="0">
              <a:solidFill>
                <a:schemeClr val="accent3"/>
              </a:solidFill>
            </a:endParaRPr>
          </a:p>
        </p:txBody>
      </p:sp>
      <p:sp>
        <p:nvSpPr>
          <p:cNvPr id="3" name="Pentagon 10">
            <a:extLst>
              <a:ext uri="{FF2B5EF4-FFF2-40B4-BE49-F238E27FC236}">
                <a16:creationId xmlns:a16="http://schemas.microsoft.com/office/drawing/2014/main" id="{86654433-96C7-4E06-9D94-ECF817A8A1EB}"/>
              </a:ext>
            </a:extLst>
          </p:cNvPr>
          <p:cNvSpPr/>
          <p:nvPr/>
        </p:nvSpPr>
        <p:spPr bwMode="ltGray">
          <a:xfrm rot="5400000">
            <a:off x="7940040" y="685800"/>
            <a:ext cx="762000" cy="609600"/>
          </a:xfrm>
          <a:prstGeom prst="homePlate">
            <a:avLst/>
          </a:prstGeom>
          <a:solidFill>
            <a:schemeClr val="accent3">
              <a:lumMod val="60000"/>
              <a:lumOff val="4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schemeClr val="bg1"/>
              </a:solidFill>
              <a:latin typeface="+mj-lt"/>
            </a:endParaRPr>
          </a:p>
        </p:txBody>
      </p:sp>
      <p:sp>
        <p:nvSpPr>
          <p:cNvPr id="4" name="TextBox 11">
            <a:extLst>
              <a:ext uri="{FF2B5EF4-FFF2-40B4-BE49-F238E27FC236}">
                <a16:creationId xmlns:a16="http://schemas.microsoft.com/office/drawing/2014/main" id="{C24D2439-4D12-4D55-B7D7-CE87FB5B3064}"/>
              </a:ext>
            </a:extLst>
          </p:cNvPr>
          <p:cNvSpPr txBox="1"/>
          <p:nvPr/>
        </p:nvSpPr>
        <p:spPr>
          <a:xfrm>
            <a:off x="8016240" y="609600"/>
            <a:ext cx="609600" cy="609600"/>
          </a:xfrm>
          <a:prstGeom prst="rect">
            <a:avLst/>
          </a:prstGeom>
          <a:noFill/>
        </p:spPr>
        <p:txBody>
          <a:bodyPr wrap="square" lIns="0" tIns="0" rIns="0" bIns="0" rtlCol="0">
            <a:noAutofit/>
          </a:bodyPr>
          <a:lstStyle/>
          <a:p>
            <a:pPr indent="-274320" algn="ctr">
              <a:spcAft>
                <a:spcPts val="900"/>
              </a:spcAft>
            </a:pPr>
            <a:r>
              <a:rPr lang="en-CA" sz="4000" b="1" i="1" dirty="0">
                <a:solidFill>
                  <a:schemeClr val="bg1"/>
                </a:solidFill>
                <a:latin typeface="+mj-lt"/>
              </a:rPr>
              <a:t>2</a:t>
            </a:r>
          </a:p>
        </p:txBody>
      </p:sp>
      <p:cxnSp>
        <p:nvCxnSpPr>
          <p:cNvPr id="7" name="Connecteur droit 6">
            <a:extLst>
              <a:ext uri="{FF2B5EF4-FFF2-40B4-BE49-F238E27FC236}">
                <a16:creationId xmlns:a16="http://schemas.microsoft.com/office/drawing/2014/main" id="{03FCF768-570C-44E8-A14F-AB4E83F86B6E}"/>
              </a:ext>
            </a:extLst>
          </p:cNvPr>
          <p:cNvCxnSpPr>
            <a:cxnSpLocks/>
          </p:cNvCxnSpPr>
          <p:nvPr/>
        </p:nvCxnSpPr>
        <p:spPr>
          <a:xfrm>
            <a:off x="457200" y="624840"/>
            <a:ext cx="7863840" cy="0"/>
          </a:xfrm>
          <a:prstGeom prst="line">
            <a:avLst/>
          </a:prstGeom>
          <a:ln w="28575">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6" name="ZoneTexte 5">
            <a:extLst>
              <a:ext uri="{FF2B5EF4-FFF2-40B4-BE49-F238E27FC236}">
                <a16:creationId xmlns:a16="http://schemas.microsoft.com/office/drawing/2014/main" id="{30E79422-C83C-4202-BD54-E16068D3D06F}"/>
              </a:ext>
            </a:extLst>
          </p:cNvPr>
          <p:cNvSpPr txBox="1"/>
          <p:nvPr/>
        </p:nvSpPr>
        <p:spPr>
          <a:xfrm>
            <a:off x="457200" y="1712790"/>
            <a:ext cx="7863840" cy="2031325"/>
          </a:xfrm>
          <a:prstGeom prst="rect">
            <a:avLst/>
          </a:prstGeom>
          <a:noFill/>
        </p:spPr>
        <p:txBody>
          <a:bodyPr wrap="square" rtlCol="0">
            <a:spAutoFit/>
          </a:bodyPr>
          <a:lstStyle/>
          <a:p>
            <a:r>
              <a:rPr lang="fr-CA" dirty="0"/>
              <a:t>Les biens et les services promis sont les mêmes que dans l’exemple 3, mais le contrat stipule que, dans le cadre du service d'installation, le logiciel sera substantiellement personnalisé en vue d'ajouter de nouvelles fonctionnalités importantes qui permettront au logiciel de communiquer avec d'autres applications logicielles personnalisées utilisées par le client. </a:t>
            </a:r>
          </a:p>
          <a:p>
            <a:endParaRPr lang="fr-CA" dirty="0"/>
          </a:p>
          <a:p>
            <a:r>
              <a:rPr lang="fr-CA" dirty="0"/>
              <a:t>Le service d'installation personnalisé peut être fourni par d'autres entités.</a:t>
            </a:r>
          </a:p>
        </p:txBody>
      </p:sp>
      <p:sp>
        <p:nvSpPr>
          <p:cNvPr id="5" name="Espace réservé du numéro de diapositive 4"/>
          <p:cNvSpPr>
            <a:spLocks noGrp="1"/>
          </p:cNvSpPr>
          <p:nvPr>
            <p:ph type="sldNum" sz="quarter" idx="12"/>
          </p:nvPr>
        </p:nvSpPr>
        <p:spPr/>
        <p:txBody>
          <a:bodyPr/>
          <a:lstStyle/>
          <a:p>
            <a:fld id="{3F1B3DEB-6CA3-4B97-B0DC-BA3F5F40634A}" type="slidenum">
              <a:rPr lang="fr-CA" smtClean="0"/>
              <a:t>19</a:t>
            </a:fld>
            <a:endParaRPr lang="fr-CA"/>
          </a:p>
        </p:txBody>
      </p:sp>
    </p:spTree>
    <p:extLst>
      <p:ext uri="{BB962C8B-B14F-4D97-AF65-F5344CB8AC3E}">
        <p14:creationId xmlns:p14="http://schemas.microsoft.com/office/powerpoint/2010/main" val="23404051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9B4089F-5A6C-46CC-8DAF-010D49B80E5D}"/>
              </a:ext>
            </a:extLst>
          </p:cNvPr>
          <p:cNvSpPr txBox="1">
            <a:spLocks/>
          </p:cNvSpPr>
          <p:nvPr/>
        </p:nvSpPr>
        <p:spPr>
          <a:xfrm>
            <a:off x="533400" y="685800"/>
            <a:ext cx="7363691" cy="685796"/>
          </a:xfrm>
          <a:prstGeom prst="rect">
            <a:avLst/>
          </a:prstGeom>
        </p:spPr>
        <p:txBody>
          <a:bodyPr>
            <a:normAutofit fontScale="975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fr-CA" kern="0" dirty="0">
                <a:solidFill>
                  <a:schemeClr val="accent3"/>
                </a:solidFill>
              </a:rPr>
              <a:t>Exemple 4 - solution</a:t>
            </a:r>
            <a:endParaRPr lang="fr-CA" dirty="0">
              <a:solidFill>
                <a:schemeClr val="accent3"/>
              </a:solidFill>
            </a:endParaRPr>
          </a:p>
        </p:txBody>
      </p:sp>
      <p:sp>
        <p:nvSpPr>
          <p:cNvPr id="3" name="Pentagon 10">
            <a:extLst>
              <a:ext uri="{FF2B5EF4-FFF2-40B4-BE49-F238E27FC236}">
                <a16:creationId xmlns:a16="http://schemas.microsoft.com/office/drawing/2014/main" id="{86654433-96C7-4E06-9D94-ECF817A8A1EB}"/>
              </a:ext>
            </a:extLst>
          </p:cNvPr>
          <p:cNvSpPr/>
          <p:nvPr/>
        </p:nvSpPr>
        <p:spPr bwMode="ltGray">
          <a:xfrm rot="5400000">
            <a:off x="7940040" y="685800"/>
            <a:ext cx="762000" cy="609600"/>
          </a:xfrm>
          <a:prstGeom prst="homePlate">
            <a:avLst/>
          </a:prstGeom>
          <a:solidFill>
            <a:schemeClr val="accent3">
              <a:lumMod val="60000"/>
              <a:lumOff val="4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schemeClr val="bg1"/>
              </a:solidFill>
              <a:latin typeface="+mj-lt"/>
            </a:endParaRPr>
          </a:p>
        </p:txBody>
      </p:sp>
      <p:sp>
        <p:nvSpPr>
          <p:cNvPr id="4" name="TextBox 11">
            <a:extLst>
              <a:ext uri="{FF2B5EF4-FFF2-40B4-BE49-F238E27FC236}">
                <a16:creationId xmlns:a16="http://schemas.microsoft.com/office/drawing/2014/main" id="{C24D2439-4D12-4D55-B7D7-CE87FB5B3064}"/>
              </a:ext>
            </a:extLst>
          </p:cNvPr>
          <p:cNvSpPr txBox="1"/>
          <p:nvPr/>
        </p:nvSpPr>
        <p:spPr>
          <a:xfrm>
            <a:off x="8016240" y="609600"/>
            <a:ext cx="609600" cy="609600"/>
          </a:xfrm>
          <a:prstGeom prst="rect">
            <a:avLst/>
          </a:prstGeom>
          <a:noFill/>
        </p:spPr>
        <p:txBody>
          <a:bodyPr wrap="square" lIns="0" tIns="0" rIns="0" bIns="0" rtlCol="0">
            <a:noAutofit/>
          </a:bodyPr>
          <a:lstStyle/>
          <a:p>
            <a:pPr indent="-274320" algn="ctr">
              <a:spcAft>
                <a:spcPts val="900"/>
              </a:spcAft>
            </a:pPr>
            <a:r>
              <a:rPr lang="en-CA" sz="4000" b="1" i="1" dirty="0">
                <a:solidFill>
                  <a:schemeClr val="bg1"/>
                </a:solidFill>
                <a:latin typeface="+mj-lt"/>
              </a:rPr>
              <a:t>2</a:t>
            </a:r>
          </a:p>
        </p:txBody>
      </p:sp>
      <p:cxnSp>
        <p:nvCxnSpPr>
          <p:cNvPr id="7" name="Connecteur droit 6">
            <a:extLst>
              <a:ext uri="{FF2B5EF4-FFF2-40B4-BE49-F238E27FC236}">
                <a16:creationId xmlns:a16="http://schemas.microsoft.com/office/drawing/2014/main" id="{03FCF768-570C-44E8-A14F-AB4E83F86B6E}"/>
              </a:ext>
            </a:extLst>
          </p:cNvPr>
          <p:cNvCxnSpPr>
            <a:cxnSpLocks/>
          </p:cNvCxnSpPr>
          <p:nvPr/>
        </p:nvCxnSpPr>
        <p:spPr>
          <a:xfrm>
            <a:off x="457200" y="624840"/>
            <a:ext cx="7863840" cy="0"/>
          </a:xfrm>
          <a:prstGeom prst="line">
            <a:avLst/>
          </a:prstGeom>
          <a:ln w="28575">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6" name="ZoneTexte 5">
            <a:extLst>
              <a:ext uri="{FF2B5EF4-FFF2-40B4-BE49-F238E27FC236}">
                <a16:creationId xmlns:a16="http://schemas.microsoft.com/office/drawing/2014/main" id="{30E79422-C83C-4202-BD54-E16068D3D06F}"/>
              </a:ext>
            </a:extLst>
          </p:cNvPr>
          <p:cNvSpPr txBox="1"/>
          <p:nvPr/>
        </p:nvSpPr>
        <p:spPr>
          <a:xfrm>
            <a:off x="457200" y="1219200"/>
            <a:ext cx="7863840" cy="5632311"/>
          </a:xfrm>
          <a:prstGeom prst="rect">
            <a:avLst/>
          </a:prstGeom>
          <a:noFill/>
        </p:spPr>
        <p:txBody>
          <a:bodyPr wrap="square" rtlCol="0">
            <a:spAutoFit/>
          </a:bodyPr>
          <a:lstStyle/>
          <a:p>
            <a:pPr marL="342900" indent="-342900">
              <a:buFont typeface="+mj-lt"/>
              <a:buAutoNum type="arabicPeriod"/>
            </a:pPr>
            <a:r>
              <a:rPr lang="fr-CA" dirty="0"/>
              <a:t>Existe de façon séparée: OUI, </a:t>
            </a:r>
            <a:r>
              <a:rPr lang="fr-CA" dirty="0">
                <a:sym typeface="Wingdings" panose="05000000000000000000" pitchFamily="2" charset="2"/>
              </a:rPr>
              <a:t>idem</a:t>
            </a:r>
            <a:endParaRPr lang="fr-CA" dirty="0"/>
          </a:p>
          <a:p>
            <a:pPr marL="342900" lvl="1" indent="-342900">
              <a:buFont typeface="+mj-lt"/>
              <a:buAutoNum type="arabicPeriod" startAt="2"/>
            </a:pPr>
            <a:r>
              <a:rPr lang="fr-CA" dirty="0"/>
              <a:t>Distincte à l'intérieur du contrat : NON, ils ne peuvent être </a:t>
            </a:r>
            <a:r>
              <a:rPr lang="fr-CA" b="1" dirty="0"/>
              <a:t>identifiées séparément </a:t>
            </a:r>
            <a:r>
              <a:rPr lang="fr-CA" dirty="0"/>
              <a:t>dans le contexte du contrat.</a:t>
            </a:r>
          </a:p>
          <a:p>
            <a:pPr marL="742950" lvl="1" indent="-285750">
              <a:buFont typeface="Wingdings" panose="05000000000000000000" pitchFamily="2" charset="2"/>
              <a:buChar char=""/>
            </a:pPr>
            <a:r>
              <a:rPr lang="fr-CA" dirty="0"/>
              <a:t>En effet, le contrat donne lieu à une promesse de réaliser un </a:t>
            </a:r>
            <a:r>
              <a:rPr lang="fr-CA" b="1" dirty="0"/>
              <a:t>important travail d'intégration</a:t>
            </a:r>
            <a:r>
              <a:rPr lang="fr-CA" dirty="0"/>
              <a:t> du logiciel sous licence dans le système logiciel existant en fournissant un service d'installation personnalisé stipulé au contrat. Le logiciel se trouve considérablement modifié ou personnalisé par le service. Ainsi, la promesse de fournir la licence ne peut être identifiée séparément du service d'installation personnalisé. </a:t>
            </a:r>
          </a:p>
          <a:p>
            <a:pPr marL="742950" lvl="1" indent="-285750">
              <a:buFont typeface="Wingdings" panose="05000000000000000000" pitchFamily="2" charset="2"/>
              <a:buChar char=""/>
            </a:pPr>
            <a:r>
              <a:rPr lang="fr-CA" dirty="0"/>
              <a:t>Les mises à jour du logiciel et le soutien technique sont distincts des autres promesses contenues dans le contrat (même analyse qu’exemple 2)</a:t>
            </a:r>
          </a:p>
          <a:p>
            <a:pPr marL="742950" lvl="1" indent="-285750">
              <a:buFont typeface="Wingdings" panose="05000000000000000000" pitchFamily="2" charset="2"/>
              <a:buChar char=""/>
            </a:pPr>
            <a:endParaRPr lang="fr-CA" dirty="0"/>
          </a:p>
          <a:p>
            <a:pPr marL="0" lvl="1"/>
            <a:r>
              <a:rPr lang="fr-CA" dirty="0"/>
              <a:t>La licence de logiciel et le service d'installation personnalisé ne sont donc pas distincts. Il y a donc 3 obligations de performance:</a:t>
            </a:r>
          </a:p>
          <a:p>
            <a:pPr marL="285750" indent="-285750">
              <a:buFont typeface="Arial" panose="020B0604020202020204" pitchFamily="34" charset="0"/>
              <a:buChar char="•"/>
            </a:pPr>
            <a:r>
              <a:rPr lang="fr-CA" dirty="0"/>
              <a:t>la personnalisation du logiciel (la licence de logiciel et le service d'installation personnalisé) ;</a:t>
            </a:r>
          </a:p>
          <a:p>
            <a:pPr marL="285750" indent="-285750">
              <a:buFont typeface="Arial" panose="020B0604020202020204" pitchFamily="34" charset="0"/>
              <a:buChar char="•"/>
            </a:pPr>
            <a:r>
              <a:rPr lang="fr-CA" dirty="0"/>
              <a:t>les mises à jour du logiciel ;</a:t>
            </a:r>
          </a:p>
          <a:p>
            <a:pPr marL="285750" indent="-285750">
              <a:buFont typeface="Arial" panose="020B0604020202020204" pitchFamily="34" charset="0"/>
              <a:buChar char="•"/>
            </a:pPr>
            <a:r>
              <a:rPr lang="fr-CA" dirty="0"/>
              <a:t>le soutien technique.</a:t>
            </a:r>
          </a:p>
          <a:p>
            <a:pPr marL="0" lvl="1"/>
            <a:endParaRPr lang="fr-CA" dirty="0"/>
          </a:p>
          <a:p>
            <a:pPr lvl="1"/>
            <a:endParaRPr lang="fr-CA" dirty="0"/>
          </a:p>
        </p:txBody>
      </p:sp>
      <p:sp>
        <p:nvSpPr>
          <p:cNvPr id="5" name="Espace réservé du numéro de diapositive 4"/>
          <p:cNvSpPr>
            <a:spLocks noGrp="1"/>
          </p:cNvSpPr>
          <p:nvPr>
            <p:ph type="sldNum" sz="quarter" idx="12"/>
          </p:nvPr>
        </p:nvSpPr>
        <p:spPr/>
        <p:txBody>
          <a:bodyPr/>
          <a:lstStyle/>
          <a:p>
            <a:fld id="{3F1B3DEB-6CA3-4B97-B0DC-BA3F5F40634A}" type="slidenum">
              <a:rPr lang="fr-CA" smtClean="0"/>
              <a:t>20</a:t>
            </a:fld>
            <a:endParaRPr lang="fr-CA"/>
          </a:p>
        </p:txBody>
      </p:sp>
    </p:spTree>
    <p:extLst>
      <p:ext uri="{BB962C8B-B14F-4D97-AF65-F5344CB8AC3E}">
        <p14:creationId xmlns:p14="http://schemas.microsoft.com/office/powerpoint/2010/main" val="41766721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texte 2">
            <a:extLst>
              <a:ext uri="{FF2B5EF4-FFF2-40B4-BE49-F238E27FC236}">
                <a16:creationId xmlns:a16="http://schemas.microsoft.com/office/drawing/2014/main" id="{E47921C4-76E2-42A3-8FC8-A49EBBD3A6E3}"/>
              </a:ext>
            </a:extLst>
          </p:cNvPr>
          <p:cNvSpPr>
            <a:spLocks noGrp="1"/>
          </p:cNvSpPr>
          <p:nvPr>
            <p:ph type="body" idx="1"/>
          </p:nvPr>
        </p:nvSpPr>
        <p:spPr>
          <a:xfrm>
            <a:off x="577124" y="3716891"/>
            <a:ext cx="7989751" cy="1295773"/>
          </a:xfrm>
        </p:spPr>
        <p:txBody>
          <a:bodyPr>
            <a:noAutofit/>
          </a:bodyPr>
          <a:lstStyle/>
          <a:p>
            <a:pPr lvl="0" defTabSz="179388">
              <a:spcAft>
                <a:spcPts val="400"/>
              </a:spcAft>
              <a:defRPr/>
            </a:pPr>
            <a:r>
              <a:rPr lang="fr-CA" sz="2400" b="1" kern="0" dirty="0">
                <a:solidFill>
                  <a:schemeClr val="accent4"/>
                </a:solidFill>
              </a:rPr>
              <a:t>Étape 3 – </a:t>
            </a:r>
            <a:r>
              <a:rPr lang="fr-CA" sz="2400" kern="0" dirty="0">
                <a:solidFill>
                  <a:schemeClr val="accent4"/>
                </a:solidFill>
              </a:rPr>
              <a:t>Comptabiliser le produit des activités ordinaires lorsque l’entité a rempli une obligation de prestation</a:t>
            </a:r>
            <a:endParaRPr lang="fr-CA" sz="2400" kern="0" cap="none" dirty="0">
              <a:solidFill>
                <a:schemeClr val="accent4"/>
              </a:solidFill>
            </a:endParaRPr>
          </a:p>
        </p:txBody>
      </p:sp>
      <p:sp>
        <p:nvSpPr>
          <p:cNvPr id="4" name="Rectangle 3">
            <a:extLst>
              <a:ext uri="{FF2B5EF4-FFF2-40B4-BE49-F238E27FC236}">
                <a16:creationId xmlns:a16="http://schemas.microsoft.com/office/drawing/2014/main" id="{A9602AE5-BA5C-4209-9B05-AFF298F0DFB6}"/>
              </a:ext>
            </a:extLst>
          </p:cNvPr>
          <p:cNvSpPr/>
          <p:nvPr/>
        </p:nvSpPr>
        <p:spPr>
          <a:xfrm>
            <a:off x="434108" y="5141973"/>
            <a:ext cx="8358909" cy="1295772"/>
          </a:xfrm>
          <a:prstGeom prst="rect">
            <a:avLst/>
          </a:prstGeom>
          <a:solidFill>
            <a:schemeClr val="accent4">
              <a:lumMod val="60000"/>
              <a:lumOff val="40000"/>
            </a:schemeClr>
          </a:solidFill>
        </p:spPr>
        <p:style>
          <a:lnRef idx="3">
            <a:schemeClr val="lt1"/>
          </a:lnRef>
          <a:fillRef idx="1">
            <a:schemeClr val="accent2"/>
          </a:fillRef>
          <a:effectRef idx="1">
            <a:schemeClr val="accent2"/>
          </a:effectRef>
          <a:fontRef idx="minor">
            <a:schemeClr val="lt1"/>
          </a:fontRef>
        </p:style>
        <p:txBody>
          <a:bodyPr rtlCol="0" anchor="ctr"/>
          <a:lstStyle/>
          <a:p>
            <a:pPr algn="ctr"/>
            <a:endParaRPr lang="fr-CA"/>
          </a:p>
        </p:txBody>
      </p:sp>
      <p:sp>
        <p:nvSpPr>
          <p:cNvPr id="2" name="Espace réservé du numéro de diapositive 1"/>
          <p:cNvSpPr>
            <a:spLocks noGrp="1"/>
          </p:cNvSpPr>
          <p:nvPr>
            <p:ph type="sldNum" sz="quarter" idx="12"/>
          </p:nvPr>
        </p:nvSpPr>
        <p:spPr/>
        <p:txBody>
          <a:bodyPr/>
          <a:lstStyle/>
          <a:p>
            <a:fld id="{3F1B3DEB-6CA3-4B97-B0DC-BA3F5F40634A}" type="slidenum">
              <a:rPr lang="fr-CA" smtClean="0"/>
              <a:t>21</a:t>
            </a:fld>
            <a:endParaRPr lang="fr-CA"/>
          </a:p>
        </p:txBody>
      </p:sp>
    </p:spTree>
    <p:extLst>
      <p:ext uri="{BB962C8B-B14F-4D97-AF65-F5344CB8AC3E}">
        <p14:creationId xmlns:p14="http://schemas.microsoft.com/office/powerpoint/2010/main" val="28812903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9B4089F-5A6C-46CC-8DAF-010D49B80E5D}"/>
              </a:ext>
            </a:extLst>
          </p:cNvPr>
          <p:cNvSpPr txBox="1">
            <a:spLocks/>
          </p:cNvSpPr>
          <p:nvPr/>
        </p:nvSpPr>
        <p:spPr>
          <a:xfrm>
            <a:off x="533400" y="685800"/>
            <a:ext cx="7363691" cy="685796"/>
          </a:xfrm>
          <a:prstGeom prst="rect">
            <a:avLst/>
          </a:prstGeom>
        </p:spPr>
        <p:txBody>
          <a:bodyPr>
            <a:normAutofit fontScale="975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fr-CA" kern="0" dirty="0">
                <a:solidFill>
                  <a:schemeClr val="accent4"/>
                </a:solidFill>
              </a:rPr>
              <a:t>Quand le client obtient le contrôle ?</a:t>
            </a:r>
            <a:endParaRPr lang="fr-CA" dirty="0">
              <a:solidFill>
                <a:schemeClr val="accent4"/>
              </a:solidFill>
            </a:endParaRPr>
          </a:p>
        </p:txBody>
      </p:sp>
      <p:sp>
        <p:nvSpPr>
          <p:cNvPr id="3" name="Pentagon 10">
            <a:extLst>
              <a:ext uri="{FF2B5EF4-FFF2-40B4-BE49-F238E27FC236}">
                <a16:creationId xmlns:a16="http://schemas.microsoft.com/office/drawing/2014/main" id="{86654433-96C7-4E06-9D94-ECF817A8A1EB}"/>
              </a:ext>
            </a:extLst>
          </p:cNvPr>
          <p:cNvSpPr/>
          <p:nvPr/>
        </p:nvSpPr>
        <p:spPr bwMode="ltGray">
          <a:xfrm rot="5400000">
            <a:off x="7940040" y="685800"/>
            <a:ext cx="762000" cy="609600"/>
          </a:xfrm>
          <a:prstGeom prst="homePlate">
            <a:avLst/>
          </a:prstGeom>
          <a:solidFill>
            <a:schemeClr val="accent4">
              <a:lumMod val="60000"/>
              <a:lumOff val="4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schemeClr val="bg1"/>
              </a:solidFill>
              <a:latin typeface="+mj-lt"/>
            </a:endParaRPr>
          </a:p>
        </p:txBody>
      </p:sp>
      <p:sp>
        <p:nvSpPr>
          <p:cNvPr id="4" name="TextBox 11">
            <a:extLst>
              <a:ext uri="{FF2B5EF4-FFF2-40B4-BE49-F238E27FC236}">
                <a16:creationId xmlns:a16="http://schemas.microsoft.com/office/drawing/2014/main" id="{C24D2439-4D12-4D55-B7D7-CE87FB5B3064}"/>
              </a:ext>
            </a:extLst>
          </p:cNvPr>
          <p:cNvSpPr txBox="1"/>
          <p:nvPr/>
        </p:nvSpPr>
        <p:spPr>
          <a:xfrm>
            <a:off x="8016240" y="609600"/>
            <a:ext cx="609600" cy="609600"/>
          </a:xfrm>
          <a:prstGeom prst="rect">
            <a:avLst/>
          </a:prstGeom>
          <a:noFill/>
        </p:spPr>
        <p:txBody>
          <a:bodyPr wrap="square" lIns="0" tIns="0" rIns="0" bIns="0" rtlCol="0">
            <a:noAutofit/>
          </a:bodyPr>
          <a:lstStyle/>
          <a:p>
            <a:pPr indent="-274320" algn="ctr">
              <a:spcAft>
                <a:spcPts val="900"/>
              </a:spcAft>
            </a:pPr>
            <a:r>
              <a:rPr lang="en-CA" sz="4000" b="1" i="1" dirty="0">
                <a:solidFill>
                  <a:schemeClr val="bg1"/>
                </a:solidFill>
                <a:latin typeface="+mj-lt"/>
              </a:rPr>
              <a:t>3</a:t>
            </a:r>
          </a:p>
        </p:txBody>
      </p:sp>
      <p:cxnSp>
        <p:nvCxnSpPr>
          <p:cNvPr id="7" name="Connecteur droit 6">
            <a:extLst>
              <a:ext uri="{FF2B5EF4-FFF2-40B4-BE49-F238E27FC236}">
                <a16:creationId xmlns:a16="http://schemas.microsoft.com/office/drawing/2014/main" id="{03FCF768-570C-44E8-A14F-AB4E83F86B6E}"/>
              </a:ext>
            </a:extLst>
          </p:cNvPr>
          <p:cNvCxnSpPr>
            <a:cxnSpLocks/>
          </p:cNvCxnSpPr>
          <p:nvPr/>
        </p:nvCxnSpPr>
        <p:spPr>
          <a:xfrm>
            <a:off x="457200" y="624840"/>
            <a:ext cx="7863840" cy="0"/>
          </a:xfrm>
          <a:prstGeom prst="line">
            <a:avLst/>
          </a:prstGeom>
          <a:ln w="28575">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10" name="TextBox 15">
            <a:extLst>
              <a:ext uri="{FF2B5EF4-FFF2-40B4-BE49-F238E27FC236}">
                <a16:creationId xmlns:a16="http://schemas.microsoft.com/office/drawing/2014/main" id="{F7A7A2F7-C83A-45DD-8433-BDC6CA8AC4FD}"/>
              </a:ext>
            </a:extLst>
          </p:cNvPr>
          <p:cNvSpPr txBox="1"/>
          <p:nvPr/>
        </p:nvSpPr>
        <p:spPr>
          <a:xfrm>
            <a:off x="616527" y="2892336"/>
            <a:ext cx="8009313" cy="551938"/>
          </a:xfrm>
          <a:prstGeom prst="rect">
            <a:avLst/>
          </a:prstGeom>
          <a:noFill/>
        </p:spPr>
        <p:txBody>
          <a:bodyPr wrap="square" lIns="0" tIns="0" rIns="0" bIns="0" rtlCol="0">
            <a:noAutofit/>
          </a:bodyPr>
          <a:lstStyle/>
          <a:p>
            <a:pPr indent="-274320">
              <a:spcAft>
                <a:spcPts val="900"/>
              </a:spcAft>
            </a:pPr>
            <a:r>
              <a:rPr lang="en-CA" sz="2000" dirty="0">
                <a:latin typeface="+mj-lt"/>
              </a:rPr>
              <a:t>Il </a:t>
            </a:r>
            <a:r>
              <a:rPr lang="en-CA" sz="2000" dirty="0" err="1">
                <a:latin typeface="+mj-lt"/>
              </a:rPr>
              <a:t>faut</a:t>
            </a:r>
            <a:r>
              <a:rPr lang="en-CA" sz="2000" dirty="0">
                <a:latin typeface="+mj-lt"/>
              </a:rPr>
              <a:t> se demander pour </a:t>
            </a:r>
            <a:r>
              <a:rPr lang="en-CA" sz="2000" dirty="0" err="1">
                <a:latin typeface="+mj-lt"/>
              </a:rPr>
              <a:t>chaque</a:t>
            </a:r>
            <a:r>
              <a:rPr lang="en-CA" sz="2000" dirty="0">
                <a:latin typeface="+mj-lt"/>
              </a:rPr>
              <a:t> obligation de prestation </a:t>
            </a:r>
            <a:r>
              <a:rPr lang="en-CA" sz="2000" dirty="0" err="1">
                <a:latin typeface="+mj-lt"/>
              </a:rPr>
              <a:t>si</a:t>
            </a:r>
            <a:r>
              <a:rPr lang="en-CA" sz="2000" dirty="0">
                <a:latin typeface="+mj-lt"/>
              </a:rPr>
              <a:t> </a:t>
            </a:r>
            <a:r>
              <a:rPr lang="en-CA" sz="2000" dirty="0" err="1">
                <a:latin typeface="+mj-lt"/>
              </a:rPr>
              <a:t>celle</a:t>
            </a:r>
            <a:r>
              <a:rPr lang="en-CA" sz="2000" dirty="0">
                <a:latin typeface="+mj-lt"/>
              </a:rPr>
              <a:t>-ci </a:t>
            </a:r>
            <a:r>
              <a:rPr lang="en-CA" sz="2000" dirty="0" err="1">
                <a:latin typeface="+mj-lt"/>
              </a:rPr>
              <a:t>est</a:t>
            </a:r>
            <a:r>
              <a:rPr lang="en-CA" sz="2000" dirty="0">
                <a:latin typeface="+mj-lt"/>
              </a:rPr>
              <a:t> </a:t>
            </a:r>
            <a:r>
              <a:rPr lang="en-CA" sz="2000" dirty="0" err="1">
                <a:latin typeface="+mj-lt"/>
              </a:rPr>
              <a:t>remplie</a:t>
            </a:r>
            <a:r>
              <a:rPr lang="en-CA" sz="2000" dirty="0">
                <a:latin typeface="+mj-lt"/>
              </a:rPr>
              <a:t> : </a:t>
            </a:r>
          </a:p>
        </p:txBody>
      </p:sp>
      <p:sp>
        <p:nvSpPr>
          <p:cNvPr id="5" name="Rectangle 4">
            <a:extLst>
              <a:ext uri="{FF2B5EF4-FFF2-40B4-BE49-F238E27FC236}">
                <a16:creationId xmlns:a16="http://schemas.microsoft.com/office/drawing/2014/main" id="{9336F99E-5156-436A-992C-C957B1D4C231}"/>
              </a:ext>
            </a:extLst>
          </p:cNvPr>
          <p:cNvSpPr/>
          <p:nvPr/>
        </p:nvSpPr>
        <p:spPr>
          <a:xfrm>
            <a:off x="533400" y="1695504"/>
            <a:ext cx="8092440" cy="969813"/>
          </a:xfrm>
          <a:prstGeom prst="rect">
            <a:avLst/>
          </a:prstGeom>
          <a:solidFill>
            <a:schemeClr val="accent4">
              <a:lumMod val="60000"/>
              <a:lumOff val="40000"/>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fr-CA" sz="2000" dirty="0">
                <a:solidFill>
                  <a:schemeClr val="tx1"/>
                </a:solidFill>
              </a:rPr>
              <a:t>Le contrôle se définit comme « </a:t>
            </a:r>
            <a:r>
              <a:rPr lang="fr-CA" sz="2000" i="1" dirty="0">
                <a:solidFill>
                  <a:schemeClr val="tx1"/>
                </a:solidFill>
              </a:rPr>
              <a:t>la capacité de décider de l’utilisation de l’actif et d’en tirer la quasi-totalité des avantages restants</a:t>
            </a:r>
            <a:r>
              <a:rPr lang="fr-CA" sz="2000" dirty="0">
                <a:solidFill>
                  <a:schemeClr val="tx1"/>
                </a:solidFill>
              </a:rPr>
              <a:t> »</a:t>
            </a:r>
          </a:p>
        </p:txBody>
      </p:sp>
      <p:sp>
        <p:nvSpPr>
          <p:cNvPr id="6" name="Rectangle 5">
            <a:extLst>
              <a:ext uri="{FF2B5EF4-FFF2-40B4-BE49-F238E27FC236}">
                <a16:creationId xmlns:a16="http://schemas.microsoft.com/office/drawing/2014/main" id="{5F46BB3F-F695-4ABB-B754-BBEBE464CC40}"/>
              </a:ext>
            </a:extLst>
          </p:cNvPr>
          <p:cNvSpPr/>
          <p:nvPr/>
        </p:nvSpPr>
        <p:spPr>
          <a:xfrm>
            <a:off x="2962563" y="3639091"/>
            <a:ext cx="3447562" cy="914405"/>
          </a:xfrm>
          <a:prstGeom prst="rect">
            <a:avLst/>
          </a:prstGeom>
          <a:solidFill>
            <a:schemeClr val="accent1"/>
          </a:solidFill>
        </p:spPr>
        <p:style>
          <a:lnRef idx="3">
            <a:schemeClr val="lt1"/>
          </a:lnRef>
          <a:fillRef idx="1">
            <a:schemeClr val="accent4"/>
          </a:fillRef>
          <a:effectRef idx="1">
            <a:schemeClr val="accent4"/>
          </a:effectRef>
          <a:fontRef idx="minor">
            <a:schemeClr val="lt1"/>
          </a:fontRef>
        </p:style>
        <p:txBody>
          <a:bodyPr rtlCol="0" anchor="ctr"/>
          <a:lstStyle/>
          <a:p>
            <a:pPr algn="ctr"/>
            <a:r>
              <a:rPr lang="fr-CA" sz="2000" dirty="0"/>
              <a:t>Progressivement</a:t>
            </a:r>
          </a:p>
        </p:txBody>
      </p:sp>
      <p:sp>
        <p:nvSpPr>
          <p:cNvPr id="20" name="Rectangle 19">
            <a:extLst>
              <a:ext uri="{FF2B5EF4-FFF2-40B4-BE49-F238E27FC236}">
                <a16:creationId xmlns:a16="http://schemas.microsoft.com/office/drawing/2014/main" id="{A348637A-91FD-4609-839B-6324D6F58417}"/>
              </a:ext>
            </a:extLst>
          </p:cNvPr>
          <p:cNvSpPr/>
          <p:nvPr/>
        </p:nvSpPr>
        <p:spPr>
          <a:xfrm>
            <a:off x="2962563" y="5297018"/>
            <a:ext cx="3447562" cy="914405"/>
          </a:xfrm>
          <a:prstGeom prst="rect">
            <a:avLst/>
          </a:prstGeom>
          <a:solidFill>
            <a:schemeClr val="accent3"/>
          </a:solidFill>
        </p:spPr>
        <p:style>
          <a:lnRef idx="3">
            <a:schemeClr val="lt1"/>
          </a:lnRef>
          <a:fillRef idx="1">
            <a:schemeClr val="accent4"/>
          </a:fillRef>
          <a:effectRef idx="1">
            <a:schemeClr val="accent4"/>
          </a:effectRef>
          <a:fontRef idx="minor">
            <a:schemeClr val="lt1"/>
          </a:fontRef>
        </p:style>
        <p:txBody>
          <a:bodyPr rtlCol="0" anchor="ctr"/>
          <a:lstStyle/>
          <a:p>
            <a:pPr algn="ctr"/>
            <a:r>
              <a:rPr lang="fr-CA" sz="2000" dirty="0"/>
              <a:t>À un moment précis</a:t>
            </a:r>
          </a:p>
        </p:txBody>
      </p:sp>
      <p:sp>
        <p:nvSpPr>
          <p:cNvPr id="21" name="ZoneTexte 20">
            <a:extLst>
              <a:ext uri="{FF2B5EF4-FFF2-40B4-BE49-F238E27FC236}">
                <a16:creationId xmlns:a16="http://schemas.microsoft.com/office/drawing/2014/main" id="{18858A4E-BF88-48D0-8306-0A1C268C7FAD}"/>
              </a:ext>
            </a:extLst>
          </p:cNvPr>
          <p:cNvSpPr txBox="1"/>
          <p:nvPr/>
        </p:nvSpPr>
        <p:spPr>
          <a:xfrm>
            <a:off x="4389120" y="4740591"/>
            <a:ext cx="538930" cy="369332"/>
          </a:xfrm>
          <a:prstGeom prst="rect">
            <a:avLst/>
          </a:prstGeom>
          <a:noFill/>
        </p:spPr>
        <p:txBody>
          <a:bodyPr wrap="none" rtlCol="0">
            <a:spAutoFit/>
          </a:bodyPr>
          <a:lstStyle/>
          <a:p>
            <a:r>
              <a:rPr lang="fr-CA" dirty="0"/>
              <a:t>OU</a:t>
            </a:r>
          </a:p>
        </p:txBody>
      </p:sp>
      <p:sp>
        <p:nvSpPr>
          <p:cNvPr id="22" name="ZoneTexte 21">
            <a:extLst>
              <a:ext uri="{FF2B5EF4-FFF2-40B4-BE49-F238E27FC236}">
                <a16:creationId xmlns:a16="http://schemas.microsoft.com/office/drawing/2014/main" id="{582E015C-BFF2-4EE6-AB99-D34DB29B9212}"/>
              </a:ext>
            </a:extLst>
          </p:cNvPr>
          <p:cNvSpPr txBox="1"/>
          <p:nvPr/>
        </p:nvSpPr>
        <p:spPr>
          <a:xfrm>
            <a:off x="2336800" y="3911627"/>
            <a:ext cx="434734" cy="369332"/>
          </a:xfrm>
          <a:prstGeom prst="rect">
            <a:avLst/>
          </a:prstGeom>
          <a:noFill/>
        </p:spPr>
        <p:txBody>
          <a:bodyPr wrap="none" rtlCol="0">
            <a:spAutoFit/>
          </a:bodyPr>
          <a:lstStyle/>
          <a:p>
            <a:r>
              <a:rPr lang="fr-CA" dirty="0"/>
              <a:t>#1</a:t>
            </a:r>
          </a:p>
        </p:txBody>
      </p:sp>
      <p:sp>
        <p:nvSpPr>
          <p:cNvPr id="23" name="ZoneTexte 22">
            <a:extLst>
              <a:ext uri="{FF2B5EF4-FFF2-40B4-BE49-F238E27FC236}">
                <a16:creationId xmlns:a16="http://schemas.microsoft.com/office/drawing/2014/main" id="{644556F9-E898-475A-A894-BCA1E5F23749}"/>
              </a:ext>
            </a:extLst>
          </p:cNvPr>
          <p:cNvSpPr txBox="1"/>
          <p:nvPr/>
        </p:nvSpPr>
        <p:spPr>
          <a:xfrm>
            <a:off x="2336800" y="5569554"/>
            <a:ext cx="434734" cy="369332"/>
          </a:xfrm>
          <a:prstGeom prst="rect">
            <a:avLst/>
          </a:prstGeom>
          <a:noFill/>
        </p:spPr>
        <p:txBody>
          <a:bodyPr wrap="none" rtlCol="0">
            <a:spAutoFit/>
          </a:bodyPr>
          <a:lstStyle/>
          <a:p>
            <a:r>
              <a:rPr lang="fr-CA" dirty="0"/>
              <a:t>#2</a:t>
            </a:r>
          </a:p>
        </p:txBody>
      </p:sp>
      <p:sp>
        <p:nvSpPr>
          <p:cNvPr id="8" name="Espace réservé du numéro de diapositive 7"/>
          <p:cNvSpPr>
            <a:spLocks noGrp="1"/>
          </p:cNvSpPr>
          <p:nvPr>
            <p:ph type="sldNum" sz="quarter" idx="12"/>
          </p:nvPr>
        </p:nvSpPr>
        <p:spPr/>
        <p:txBody>
          <a:bodyPr/>
          <a:lstStyle/>
          <a:p>
            <a:fld id="{3F1B3DEB-6CA3-4B97-B0DC-BA3F5F40634A}" type="slidenum">
              <a:rPr lang="fr-CA" smtClean="0"/>
              <a:t>22</a:t>
            </a:fld>
            <a:endParaRPr lang="fr-CA"/>
          </a:p>
        </p:txBody>
      </p:sp>
    </p:spTree>
    <p:extLst>
      <p:ext uri="{BB962C8B-B14F-4D97-AF65-F5344CB8AC3E}">
        <p14:creationId xmlns:p14="http://schemas.microsoft.com/office/powerpoint/2010/main" val="14116626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9B4089F-5A6C-46CC-8DAF-010D49B80E5D}"/>
              </a:ext>
            </a:extLst>
          </p:cNvPr>
          <p:cNvSpPr txBox="1">
            <a:spLocks/>
          </p:cNvSpPr>
          <p:nvPr/>
        </p:nvSpPr>
        <p:spPr>
          <a:xfrm>
            <a:off x="533400" y="685800"/>
            <a:ext cx="7363691" cy="685796"/>
          </a:xfrm>
          <a:prstGeom prst="rect">
            <a:avLst/>
          </a:prstGeom>
        </p:spPr>
        <p:txBody>
          <a:bodyPr>
            <a:normAutofit fontScale="975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fr-CA" kern="0" dirty="0">
                <a:solidFill>
                  <a:schemeClr val="accent4"/>
                </a:solidFill>
              </a:rPr>
              <a:t>progressivement</a:t>
            </a:r>
            <a:endParaRPr lang="fr-CA" dirty="0">
              <a:solidFill>
                <a:schemeClr val="accent4"/>
              </a:solidFill>
            </a:endParaRPr>
          </a:p>
        </p:txBody>
      </p:sp>
      <p:sp>
        <p:nvSpPr>
          <p:cNvPr id="3" name="Pentagon 10">
            <a:extLst>
              <a:ext uri="{FF2B5EF4-FFF2-40B4-BE49-F238E27FC236}">
                <a16:creationId xmlns:a16="http://schemas.microsoft.com/office/drawing/2014/main" id="{86654433-96C7-4E06-9D94-ECF817A8A1EB}"/>
              </a:ext>
            </a:extLst>
          </p:cNvPr>
          <p:cNvSpPr/>
          <p:nvPr/>
        </p:nvSpPr>
        <p:spPr bwMode="ltGray">
          <a:xfrm rot="5400000">
            <a:off x="7940040" y="685800"/>
            <a:ext cx="762000" cy="609600"/>
          </a:xfrm>
          <a:prstGeom prst="homePlate">
            <a:avLst/>
          </a:prstGeom>
          <a:solidFill>
            <a:schemeClr val="accent4">
              <a:lumMod val="60000"/>
              <a:lumOff val="4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schemeClr val="bg1"/>
              </a:solidFill>
              <a:latin typeface="+mj-lt"/>
            </a:endParaRPr>
          </a:p>
        </p:txBody>
      </p:sp>
      <p:sp>
        <p:nvSpPr>
          <p:cNvPr id="4" name="TextBox 11">
            <a:extLst>
              <a:ext uri="{FF2B5EF4-FFF2-40B4-BE49-F238E27FC236}">
                <a16:creationId xmlns:a16="http://schemas.microsoft.com/office/drawing/2014/main" id="{C24D2439-4D12-4D55-B7D7-CE87FB5B3064}"/>
              </a:ext>
            </a:extLst>
          </p:cNvPr>
          <p:cNvSpPr txBox="1"/>
          <p:nvPr/>
        </p:nvSpPr>
        <p:spPr>
          <a:xfrm>
            <a:off x="8016240" y="609600"/>
            <a:ext cx="609600" cy="609600"/>
          </a:xfrm>
          <a:prstGeom prst="rect">
            <a:avLst/>
          </a:prstGeom>
          <a:noFill/>
        </p:spPr>
        <p:txBody>
          <a:bodyPr wrap="square" lIns="0" tIns="0" rIns="0" bIns="0" rtlCol="0">
            <a:noAutofit/>
          </a:bodyPr>
          <a:lstStyle/>
          <a:p>
            <a:pPr indent="-274320" algn="ctr">
              <a:spcAft>
                <a:spcPts val="900"/>
              </a:spcAft>
            </a:pPr>
            <a:r>
              <a:rPr lang="en-CA" sz="4000" b="1" i="1" dirty="0">
                <a:solidFill>
                  <a:schemeClr val="bg1"/>
                </a:solidFill>
                <a:latin typeface="+mj-lt"/>
              </a:rPr>
              <a:t>3</a:t>
            </a:r>
          </a:p>
        </p:txBody>
      </p:sp>
      <p:cxnSp>
        <p:nvCxnSpPr>
          <p:cNvPr id="7" name="Connecteur droit 6">
            <a:extLst>
              <a:ext uri="{FF2B5EF4-FFF2-40B4-BE49-F238E27FC236}">
                <a16:creationId xmlns:a16="http://schemas.microsoft.com/office/drawing/2014/main" id="{03FCF768-570C-44E8-A14F-AB4E83F86B6E}"/>
              </a:ext>
            </a:extLst>
          </p:cNvPr>
          <p:cNvCxnSpPr>
            <a:cxnSpLocks/>
          </p:cNvCxnSpPr>
          <p:nvPr/>
        </p:nvCxnSpPr>
        <p:spPr>
          <a:xfrm>
            <a:off x="457200" y="624840"/>
            <a:ext cx="7863840" cy="0"/>
          </a:xfrm>
          <a:prstGeom prst="line">
            <a:avLst/>
          </a:prstGeom>
          <a:ln w="28575">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20" name="Espace réservé du contenu 2">
            <a:extLst>
              <a:ext uri="{FF2B5EF4-FFF2-40B4-BE49-F238E27FC236}">
                <a16:creationId xmlns:a16="http://schemas.microsoft.com/office/drawing/2014/main" id="{2F0CDCB4-726F-4417-ACB2-39BBF00F9562}"/>
              </a:ext>
            </a:extLst>
          </p:cNvPr>
          <p:cNvSpPr txBox="1">
            <a:spLocks/>
          </p:cNvSpPr>
          <p:nvPr/>
        </p:nvSpPr>
        <p:spPr>
          <a:xfrm>
            <a:off x="533400" y="1450142"/>
            <a:ext cx="6421582" cy="4645858"/>
          </a:xfrm>
          <a:prstGeom prst="rect">
            <a:avLst/>
          </a:prstGeom>
        </p:spPr>
        <p:txBody>
          <a:bodyPr>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Font typeface="Wingdings 2" panose="05020102010507070707" pitchFamily="18" charset="2"/>
              <a:buNone/>
            </a:pPr>
            <a:r>
              <a:rPr lang="fr-CA" sz="2000" dirty="0">
                <a:solidFill>
                  <a:schemeClr val="tx1"/>
                </a:solidFill>
                <a:latin typeface="+mj-lt"/>
              </a:rPr>
              <a:t>Le contrôle d’un bien ou d’un service est</a:t>
            </a:r>
            <a:r>
              <a:rPr lang="fr-CA" sz="2000" b="1" dirty="0">
                <a:solidFill>
                  <a:schemeClr val="tx1"/>
                </a:solidFill>
                <a:latin typeface="+mj-lt"/>
              </a:rPr>
              <a:t> transféré progressivement</a:t>
            </a:r>
            <a:r>
              <a:rPr lang="fr-CA" sz="2000" dirty="0">
                <a:solidFill>
                  <a:schemeClr val="tx1"/>
                </a:solidFill>
                <a:latin typeface="+mj-lt"/>
              </a:rPr>
              <a:t> </a:t>
            </a:r>
            <a:r>
              <a:rPr lang="fr-CA" sz="2000" u="sng" dirty="0">
                <a:solidFill>
                  <a:schemeClr val="tx1"/>
                </a:solidFill>
                <a:latin typeface="+mj-lt"/>
              </a:rPr>
              <a:t>si l’une</a:t>
            </a:r>
            <a:r>
              <a:rPr lang="fr-CA" sz="2000" dirty="0">
                <a:solidFill>
                  <a:schemeClr val="tx1"/>
                </a:solidFill>
                <a:latin typeface="+mj-lt"/>
              </a:rPr>
              <a:t> des conditions suivantes est remplie :</a:t>
            </a:r>
          </a:p>
          <a:p>
            <a:pPr marL="338138" indent="-338138">
              <a:buFont typeface="Wingdings" panose="05000000000000000000" pitchFamily="2" charset="2"/>
              <a:buChar char="ü"/>
            </a:pPr>
            <a:r>
              <a:rPr lang="fr-CA" sz="2000" dirty="0">
                <a:solidFill>
                  <a:schemeClr val="tx1"/>
                </a:solidFill>
                <a:latin typeface="+mj-lt"/>
              </a:rPr>
              <a:t>Le client </a:t>
            </a:r>
            <a:r>
              <a:rPr lang="fr-CA" sz="2000" b="1" dirty="0">
                <a:solidFill>
                  <a:schemeClr val="tx1"/>
                </a:solidFill>
                <a:latin typeface="+mj-lt"/>
              </a:rPr>
              <a:t>reçoit et consomme simultanément </a:t>
            </a:r>
            <a:r>
              <a:rPr lang="fr-CA" sz="2000" dirty="0">
                <a:solidFill>
                  <a:schemeClr val="tx1"/>
                </a:solidFill>
                <a:latin typeface="+mj-lt"/>
              </a:rPr>
              <a:t>les avantages procurés par la prestation, au fur et à mesure où celle-ci a lieu.</a:t>
            </a:r>
          </a:p>
          <a:p>
            <a:pPr marL="338138" indent="-338138">
              <a:buFont typeface="Wingdings" panose="05000000000000000000" pitchFamily="2" charset="2"/>
              <a:buChar char="ü"/>
            </a:pPr>
            <a:r>
              <a:rPr lang="fr-CA" sz="2000" dirty="0">
                <a:solidFill>
                  <a:schemeClr val="tx1"/>
                </a:solidFill>
                <a:latin typeface="+mj-lt"/>
              </a:rPr>
              <a:t>La prestation </a:t>
            </a:r>
            <a:r>
              <a:rPr lang="fr-CA" sz="2000" b="1" dirty="0">
                <a:solidFill>
                  <a:schemeClr val="tx1"/>
                </a:solidFill>
                <a:latin typeface="+mj-lt"/>
              </a:rPr>
              <a:t>crée ou valorise un actif </a:t>
            </a:r>
            <a:r>
              <a:rPr lang="fr-CA" sz="2000" dirty="0">
                <a:solidFill>
                  <a:schemeClr val="tx1"/>
                </a:solidFill>
                <a:latin typeface="+mj-lt"/>
              </a:rPr>
              <a:t>(ex. : des travaux en cours) dont le client </a:t>
            </a:r>
            <a:r>
              <a:rPr lang="fr-CA" sz="2000" b="1" dirty="0">
                <a:solidFill>
                  <a:schemeClr val="tx1"/>
                </a:solidFill>
                <a:latin typeface="+mj-lt"/>
              </a:rPr>
              <a:t>obtient le contrôle au fur et à mesure </a:t>
            </a:r>
            <a:r>
              <a:rPr lang="fr-CA" sz="2000" dirty="0">
                <a:solidFill>
                  <a:schemeClr val="tx1"/>
                </a:solidFill>
                <a:latin typeface="+mj-lt"/>
              </a:rPr>
              <a:t>de sa création ou de sa valorisation.</a:t>
            </a:r>
          </a:p>
          <a:p>
            <a:pPr marL="338138" indent="-338138">
              <a:buFont typeface="Wingdings" panose="05000000000000000000" pitchFamily="2" charset="2"/>
              <a:buChar char="ü"/>
            </a:pPr>
            <a:r>
              <a:rPr lang="fr-CA" sz="2000" dirty="0">
                <a:solidFill>
                  <a:schemeClr val="tx1"/>
                </a:solidFill>
                <a:latin typeface="+mj-lt"/>
              </a:rPr>
              <a:t>La prestation ne crée </a:t>
            </a:r>
            <a:r>
              <a:rPr lang="fr-CA" sz="2000" b="1" dirty="0">
                <a:solidFill>
                  <a:schemeClr val="tx1"/>
                </a:solidFill>
                <a:latin typeface="+mj-lt"/>
              </a:rPr>
              <a:t>pas un actif que l’entité pourrait utiliser autrement</a:t>
            </a:r>
            <a:r>
              <a:rPr lang="fr-CA" sz="2000" dirty="0">
                <a:solidFill>
                  <a:schemeClr val="tx1"/>
                </a:solidFill>
                <a:latin typeface="+mj-lt"/>
              </a:rPr>
              <a:t>, et l’entité a un </a:t>
            </a:r>
            <a:r>
              <a:rPr lang="fr-CA" sz="2000" b="1" dirty="0">
                <a:solidFill>
                  <a:schemeClr val="tx1"/>
                </a:solidFill>
                <a:latin typeface="+mj-lt"/>
              </a:rPr>
              <a:t>droit exécutoire à un paiement  pour le travail déjà effectué</a:t>
            </a:r>
            <a:r>
              <a:rPr lang="fr-CA" sz="2000" dirty="0">
                <a:solidFill>
                  <a:schemeClr val="tx1"/>
                </a:solidFill>
                <a:latin typeface="+mj-lt"/>
              </a:rPr>
              <a:t>, s’il y avait résiliation du contrat par le client.</a:t>
            </a:r>
          </a:p>
          <a:p>
            <a:endParaRPr lang="fr-CA" sz="2000" i="1" dirty="0">
              <a:solidFill>
                <a:schemeClr val="tx1"/>
              </a:solidFill>
              <a:latin typeface="+mj-lt"/>
            </a:endParaRPr>
          </a:p>
        </p:txBody>
      </p:sp>
      <p:sp>
        <p:nvSpPr>
          <p:cNvPr id="6" name="Rectangle 5">
            <a:extLst>
              <a:ext uri="{FF2B5EF4-FFF2-40B4-BE49-F238E27FC236}">
                <a16:creationId xmlns:a16="http://schemas.microsoft.com/office/drawing/2014/main" id="{56B2953D-6E47-468E-BA3D-B2BD19F82BD6}"/>
              </a:ext>
            </a:extLst>
          </p:cNvPr>
          <p:cNvSpPr/>
          <p:nvPr/>
        </p:nvSpPr>
        <p:spPr>
          <a:xfrm>
            <a:off x="6893327" y="2235337"/>
            <a:ext cx="1732511" cy="895924"/>
          </a:xfrm>
          <a:prstGeom prst="rect">
            <a:avLst/>
          </a:prstGeom>
          <a:ln/>
        </p:spPr>
        <p:style>
          <a:lnRef idx="3">
            <a:schemeClr val="lt1"/>
          </a:lnRef>
          <a:fillRef idx="1">
            <a:schemeClr val="accent2"/>
          </a:fillRef>
          <a:effectRef idx="1">
            <a:schemeClr val="accent2"/>
          </a:effectRef>
          <a:fontRef idx="minor">
            <a:schemeClr val="lt1"/>
          </a:fontRef>
        </p:style>
        <p:txBody>
          <a:bodyPr rtlCol="0" anchor="ctr"/>
          <a:lstStyle/>
          <a:p>
            <a:pPr algn="ctr"/>
            <a:r>
              <a:rPr lang="fr-CA" sz="1600" dirty="0">
                <a:solidFill>
                  <a:schemeClr val="tx1"/>
                </a:solidFill>
              </a:rPr>
              <a:t>Services récurrents et réguliers</a:t>
            </a:r>
          </a:p>
        </p:txBody>
      </p:sp>
      <p:sp>
        <p:nvSpPr>
          <p:cNvPr id="22" name="Rectangle 21">
            <a:extLst>
              <a:ext uri="{FF2B5EF4-FFF2-40B4-BE49-F238E27FC236}">
                <a16:creationId xmlns:a16="http://schemas.microsoft.com/office/drawing/2014/main" id="{EA869B2A-796D-49CA-9B7D-A95B60970465}"/>
              </a:ext>
            </a:extLst>
          </p:cNvPr>
          <p:cNvSpPr/>
          <p:nvPr/>
        </p:nvSpPr>
        <p:spPr>
          <a:xfrm>
            <a:off x="6878089" y="3314302"/>
            <a:ext cx="1732511" cy="935009"/>
          </a:xfrm>
          <a:prstGeom prst="rect">
            <a:avLst/>
          </a:prstGeom>
          <a:ln/>
        </p:spPr>
        <p:style>
          <a:lnRef idx="3">
            <a:schemeClr val="lt1"/>
          </a:lnRef>
          <a:fillRef idx="1">
            <a:schemeClr val="accent3"/>
          </a:fillRef>
          <a:effectRef idx="1">
            <a:schemeClr val="accent3"/>
          </a:effectRef>
          <a:fontRef idx="minor">
            <a:schemeClr val="lt1"/>
          </a:fontRef>
        </p:style>
        <p:txBody>
          <a:bodyPr rtlCol="0" anchor="ctr"/>
          <a:lstStyle/>
          <a:p>
            <a:pPr algn="ctr"/>
            <a:r>
              <a:rPr lang="fr-CA" sz="1600" dirty="0">
                <a:solidFill>
                  <a:schemeClr val="tx1"/>
                </a:solidFill>
              </a:rPr>
              <a:t>Construction d’un bâtiment sur le terrain d’un client</a:t>
            </a:r>
          </a:p>
        </p:txBody>
      </p:sp>
      <p:sp>
        <p:nvSpPr>
          <p:cNvPr id="23" name="Rectangle 22">
            <a:extLst>
              <a:ext uri="{FF2B5EF4-FFF2-40B4-BE49-F238E27FC236}">
                <a16:creationId xmlns:a16="http://schemas.microsoft.com/office/drawing/2014/main" id="{3E7D8613-3F6D-4C96-A9FE-04782116F751}"/>
              </a:ext>
            </a:extLst>
          </p:cNvPr>
          <p:cNvSpPr/>
          <p:nvPr/>
        </p:nvSpPr>
        <p:spPr>
          <a:xfrm>
            <a:off x="6893327" y="4420348"/>
            <a:ext cx="1732511" cy="1096056"/>
          </a:xfrm>
          <a:prstGeom prst="rect">
            <a:avLst/>
          </a:prstGeom>
          <a:ln/>
        </p:spPr>
        <p:style>
          <a:lnRef idx="3">
            <a:schemeClr val="lt1"/>
          </a:lnRef>
          <a:fillRef idx="1">
            <a:schemeClr val="accent5"/>
          </a:fillRef>
          <a:effectRef idx="1">
            <a:schemeClr val="accent5"/>
          </a:effectRef>
          <a:fontRef idx="minor">
            <a:schemeClr val="lt1"/>
          </a:fontRef>
        </p:style>
        <p:txBody>
          <a:bodyPr rtlCol="0" anchor="ctr"/>
          <a:lstStyle/>
          <a:p>
            <a:pPr algn="ctr"/>
            <a:r>
              <a:rPr lang="fr-CA" sz="1600" dirty="0">
                <a:solidFill>
                  <a:schemeClr val="tx1"/>
                </a:solidFill>
              </a:rPr>
              <a:t>Rapport d’audit</a:t>
            </a:r>
          </a:p>
        </p:txBody>
      </p:sp>
      <p:sp>
        <p:nvSpPr>
          <p:cNvPr id="8" name="ZoneTexte 7">
            <a:extLst>
              <a:ext uri="{FF2B5EF4-FFF2-40B4-BE49-F238E27FC236}">
                <a16:creationId xmlns:a16="http://schemas.microsoft.com/office/drawing/2014/main" id="{07CCBCF1-B80C-4081-ACD8-ADC076C9CEAB}"/>
              </a:ext>
            </a:extLst>
          </p:cNvPr>
          <p:cNvSpPr txBox="1"/>
          <p:nvPr/>
        </p:nvSpPr>
        <p:spPr>
          <a:xfrm>
            <a:off x="7169876" y="1866005"/>
            <a:ext cx="1210588" cy="369332"/>
          </a:xfrm>
          <a:prstGeom prst="rect">
            <a:avLst/>
          </a:prstGeom>
          <a:noFill/>
        </p:spPr>
        <p:txBody>
          <a:bodyPr wrap="none" rtlCol="0">
            <a:spAutoFit/>
          </a:bodyPr>
          <a:lstStyle/>
          <a:p>
            <a:r>
              <a:rPr lang="fr-CA" dirty="0"/>
              <a:t>EXEMPLES</a:t>
            </a:r>
          </a:p>
        </p:txBody>
      </p:sp>
      <p:sp>
        <p:nvSpPr>
          <p:cNvPr id="24" name="Rectangle 23">
            <a:extLst>
              <a:ext uri="{FF2B5EF4-FFF2-40B4-BE49-F238E27FC236}">
                <a16:creationId xmlns:a16="http://schemas.microsoft.com/office/drawing/2014/main" id="{99EA8526-EAC1-4568-981D-A909FA29EA37}"/>
              </a:ext>
            </a:extLst>
          </p:cNvPr>
          <p:cNvSpPr/>
          <p:nvPr/>
        </p:nvSpPr>
        <p:spPr>
          <a:xfrm>
            <a:off x="6763973" y="5881739"/>
            <a:ext cx="1227513" cy="38529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sz="1600" b="1" i="1" dirty="0">
                <a:solidFill>
                  <a:schemeClr val="accent3"/>
                </a:solidFill>
              </a:rPr>
              <a:t>IFRS 15.35</a:t>
            </a:r>
          </a:p>
        </p:txBody>
      </p:sp>
      <p:sp>
        <p:nvSpPr>
          <p:cNvPr id="5" name="Espace réservé du numéro de diapositive 4"/>
          <p:cNvSpPr>
            <a:spLocks noGrp="1"/>
          </p:cNvSpPr>
          <p:nvPr>
            <p:ph type="sldNum" sz="quarter" idx="12"/>
          </p:nvPr>
        </p:nvSpPr>
        <p:spPr/>
        <p:txBody>
          <a:bodyPr/>
          <a:lstStyle/>
          <a:p>
            <a:fld id="{3F1B3DEB-6CA3-4B97-B0DC-BA3F5F40634A}" type="slidenum">
              <a:rPr lang="fr-CA" smtClean="0"/>
              <a:t>23</a:t>
            </a:fld>
            <a:endParaRPr lang="fr-CA"/>
          </a:p>
        </p:txBody>
      </p:sp>
    </p:spTree>
    <p:extLst>
      <p:ext uri="{BB962C8B-B14F-4D97-AF65-F5344CB8AC3E}">
        <p14:creationId xmlns:p14="http://schemas.microsoft.com/office/powerpoint/2010/main" val="299510744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9B4089F-5A6C-46CC-8DAF-010D49B80E5D}"/>
              </a:ext>
            </a:extLst>
          </p:cNvPr>
          <p:cNvSpPr txBox="1">
            <a:spLocks/>
          </p:cNvSpPr>
          <p:nvPr/>
        </p:nvSpPr>
        <p:spPr>
          <a:xfrm>
            <a:off x="533400" y="685800"/>
            <a:ext cx="7363691" cy="685796"/>
          </a:xfrm>
          <a:prstGeom prst="rect">
            <a:avLst/>
          </a:prstGeom>
        </p:spPr>
        <p:txBody>
          <a:bodyPr>
            <a:normAutofit fontScale="975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fr-CA" kern="0" dirty="0">
                <a:solidFill>
                  <a:schemeClr val="accent4"/>
                </a:solidFill>
              </a:rPr>
              <a:t>progressivement</a:t>
            </a:r>
            <a:endParaRPr lang="fr-CA" dirty="0">
              <a:solidFill>
                <a:schemeClr val="accent4"/>
              </a:solidFill>
            </a:endParaRPr>
          </a:p>
        </p:txBody>
      </p:sp>
      <p:sp>
        <p:nvSpPr>
          <p:cNvPr id="3" name="Pentagon 10">
            <a:extLst>
              <a:ext uri="{FF2B5EF4-FFF2-40B4-BE49-F238E27FC236}">
                <a16:creationId xmlns:a16="http://schemas.microsoft.com/office/drawing/2014/main" id="{86654433-96C7-4E06-9D94-ECF817A8A1EB}"/>
              </a:ext>
            </a:extLst>
          </p:cNvPr>
          <p:cNvSpPr/>
          <p:nvPr/>
        </p:nvSpPr>
        <p:spPr bwMode="ltGray">
          <a:xfrm rot="5400000">
            <a:off x="7940040" y="685800"/>
            <a:ext cx="762000" cy="609600"/>
          </a:xfrm>
          <a:prstGeom prst="homePlate">
            <a:avLst/>
          </a:prstGeom>
          <a:solidFill>
            <a:schemeClr val="accent4">
              <a:lumMod val="60000"/>
              <a:lumOff val="4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schemeClr val="bg1"/>
              </a:solidFill>
              <a:latin typeface="+mj-lt"/>
            </a:endParaRPr>
          </a:p>
        </p:txBody>
      </p:sp>
      <p:sp>
        <p:nvSpPr>
          <p:cNvPr id="4" name="TextBox 11">
            <a:extLst>
              <a:ext uri="{FF2B5EF4-FFF2-40B4-BE49-F238E27FC236}">
                <a16:creationId xmlns:a16="http://schemas.microsoft.com/office/drawing/2014/main" id="{C24D2439-4D12-4D55-B7D7-CE87FB5B3064}"/>
              </a:ext>
            </a:extLst>
          </p:cNvPr>
          <p:cNvSpPr txBox="1"/>
          <p:nvPr/>
        </p:nvSpPr>
        <p:spPr>
          <a:xfrm>
            <a:off x="8016240" y="609600"/>
            <a:ext cx="609600" cy="609600"/>
          </a:xfrm>
          <a:prstGeom prst="rect">
            <a:avLst/>
          </a:prstGeom>
          <a:noFill/>
        </p:spPr>
        <p:txBody>
          <a:bodyPr wrap="square" lIns="0" tIns="0" rIns="0" bIns="0" rtlCol="0">
            <a:noAutofit/>
          </a:bodyPr>
          <a:lstStyle/>
          <a:p>
            <a:pPr indent="-274320" algn="ctr">
              <a:spcAft>
                <a:spcPts val="900"/>
              </a:spcAft>
            </a:pPr>
            <a:r>
              <a:rPr lang="en-CA" sz="4000" b="1" i="1" dirty="0">
                <a:solidFill>
                  <a:schemeClr val="bg1"/>
                </a:solidFill>
                <a:latin typeface="+mj-lt"/>
              </a:rPr>
              <a:t>3</a:t>
            </a:r>
          </a:p>
        </p:txBody>
      </p:sp>
      <p:cxnSp>
        <p:nvCxnSpPr>
          <p:cNvPr id="7" name="Connecteur droit 6">
            <a:extLst>
              <a:ext uri="{FF2B5EF4-FFF2-40B4-BE49-F238E27FC236}">
                <a16:creationId xmlns:a16="http://schemas.microsoft.com/office/drawing/2014/main" id="{03FCF768-570C-44E8-A14F-AB4E83F86B6E}"/>
              </a:ext>
            </a:extLst>
          </p:cNvPr>
          <p:cNvCxnSpPr>
            <a:cxnSpLocks/>
          </p:cNvCxnSpPr>
          <p:nvPr/>
        </p:nvCxnSpPr>
        <p:spPr>
          <a:xfrm>
            <a:off x="457200" y="624840"/>
            <a:ext cx="7863840" cy="0"/>
          </a:xfrm>
          <a:prstGeom prst="line">
            <a:avLst/>
          </a:prstGeom>
          <a:ln w="28575">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21" name="Espace réservé du contenu 2">
            <a:extLst>
              <a:ext uri="{FF2B5EF4-FFF2-40B4-BE49-F238E27FC236}">
                <a16:creationId xmlns:a16="http://schemas.microsoft.com/office/drawing/2014/main" id="{CB9B6BA8-3078-487E-96B7-FB5CD031ABAF}"/>
              </a:ext>
            </a:extLst>
          </p:cNvPr>
          <p:cNvSpPr txBox="1">
            <a:spLocks/>
          </p:cNvSpPr>
          <p:nvPr/>
        </p:nvSpPr>
        <p:spPr>
          <a:xfrm>
            <a:off x="590382" y="1533237"/>
            <a:ext cx="7963236" cy="3472871"/>
          </a:xfrm>
          <a:prstGeom prst="rect">
            <a:avLst/>
          </a:prstGeom>
        </p:spPr>
        <p:txBody>
          <a:bodyPr>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Font typeface="Wingdings 2" panose="05020102010507070707" pitchFamily="18" charset="2"/>
              <a:buNone/>
            </a:pPr>
            <a:r>
              <a:rPr lang="fr-CA" sz="2000" b="1" dirty="0">
                <a:solidFill>
                  <a:schemeClr val="tx1"/>
                </a:solidFill>
                <a:latin typeface="+mj-lt"/>
              </a:rPr>
              <a:t>Si le contrôle d’un bien ou d’un service est transféré progressivement: </a:t>
            </a:r>
          </a:p>
          <a:p>
            <a:r>
              <a:rPr lang="fr-CA" sz="2000" dirty="0">
                <a:solidFill>
                  <a:schemeClr val="tx1"/>
                </a:solidFill>
                <a:latin typeface="+mj-lt"/>
              </a:rPr>
              <a:t>la méthode d’évaluation doit être basée sur le degré d’avancement </a:t>
            </a:r>
          </a:p>
          <a:p>
            <a:pPr lvl="1"/>
            <a:r>
              <a:rPr lang="fr-CA" sz="2000" dirty="0">
                <a:solidFill>
                  <a:schemeClr val="tx1"/>
                </a:solidFill>
                <a:latin typeface="+mj-lt"/>
              </a:rPr>
              <a:t>Méthode fondée sur les intrants</a:t>
            </a:r>
          </a:p>
          <a:p>
            <a:pPr lvl="1"/>
            <a:r>
              <a:rPr lang="fr-CA" sz="2000" dirty="0">
                <a:solidFill>
                  <a:schemeClr val="tx1"/>
                </a:solidFill>
                <a:latin typeface="+mj-lt"/>
              </a:rPr>
              <a:t>Méthode fondée sur les extrants</a:t>
            </a:r>
          </a:p>
          <a:p>
            <a:r>
              <a:rPr lang="fr-CA" sz="2000" dirty="0">
                <a:solidFill>
                  <a:schemeClr val="tx1"/>
                </a:solidFill>
                <a:latin typeface="+mj-lt"/>
              </a:rPr>
              <a:t>cette évaluation doit être raisonnable (informations fiables)</a:t>
            </a:r>
          </a:p>
          <a:p>
            <a:r>
              <a:rPr lang="fr-CA" sz="2000" dirty="0">
                <a:solidFill>
                  <a:schemeClr val="tx1"/>
                </a:solidFill>
                <a:latin typeface="+mj-lt"/>
              </a:rPr>
              <a:t>Sinon, comptabilisation des produits jusqu’à hauteur des coûts engagés (si recouvrables)</a:t>
            </a:r>
          </a:p>
          <a:p>
            <a:pPr marL="0" indent="0">
              <a:buFont typeface="Wingdings 2" panose="05020102010507070707" pitchFamily="18" charset="2"/>
              <a:buNone/>
            </a:pPr>
            <a:endParaRPr lang="fr-CA" sz="2000" dirty="0">
              <a:solidFill>
                <a:schemeClr val="tx1"/>
              </a:solidFill>
              <a:latin typeface="+mj-lt"/>
            </a:endParaRPr>
          </a:p>
        </p:txBody>
      </p:sp>
      <p:sp>
        <p:nvSpPr>
          <p:cNvPr id="5" name="Espace réservé du numéro de diapositive 4"/>
          <p:cNvSpPr>
            <a:spLocks noGrp="1"/>
          </p:cNvSpPr>
          <p:nvPr>
            <p:ph type="sldNum" sz="quarter" idx="12"/>
          </p:nvPr>
        </p:nvSpPr>
        <p:spPr/>
        <p:txBody>
          <a:bodyPr/>
          <a:lstStyle/>
          <a:p>
            <a:fld id="{3F1B3DEB-6CA3-4B97-B0DC-BA3F5F40634A}" type="slidenum">
              <a:rPr lang="fr-CA" smtClean="0"/>
              <a:t>24</a:t>
            </a:fld>
            <a:endParaRPr lang="fr-CA"/>
          </a:p>
        </p:txBody>
      </p:sp>
    </p:spTree>
    <p:extLst>
      <p:ext uri="{BB962C8B-B14F-4D97-AF65-F5344CB8AC3E}">
        <p14:creationId xmlns:p14="http://schemas.microsoft.com/office/powerpoint/2010/main" val="131514884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9B4089F-5A6C-46CC-8DAF-010D49B80E5D}"/>
              </a:ext>
            </a:extLst>
          </p:cNvPr>
          <p:cNvSpPr txBox="1">
            <a:spLocks/>
          </p:cNvSpPr>
          <p:nvPr/>
        </p:nvSpPr>
        <p:spPr>
          <a:xfrm>
            <a:off x="533400" y="685800"/>
            <a:ext cx="7363691" cy="685796"/>
          </a:xfrm>
          <a:prstGeom prst="rect">
            <a:avLst/>
          </a:prstGeom>
        </p:spPr>
        <p:txBody>
          <a:bodyPr>
            <a:normAutofit fontScale="975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fr-CA" kern="0" dirty="0">
                <a:solidFill>
                  <a:schemeClr val="accent4"/>
                </a:solidFill>
              </a:rPr>
              <a:t>À un moment précis</a:t>
            </a:r>
            <a:endParaRPr lang="fr-CA" dirty="0">
              <a:solidFill>
                <a:schemeClr val="accent4"/>
              </a:solidFill>
            </a:endParaRPr>
          </a:p>
        </p:txBody>
      </p:sp>
      <p:sp>
        <p:nvSpPr>
          <p:cNvPr id="3" name="Pentagon 10">
            <a:extLst>
              <a:ext uri="{FF2B5EF4-FFF2-40B4-BE49-F238E27FC236}">
                <a16:creationId xmlns:a16="http://schemas.microsoft.com/office/drawing/2014/main" id="{86654433-96C7-4E06-9D94-ECF817A8A1EB}"/>
              </a:ext>
            </a:extLst>
          </p:cNvPr>
          <p:cNvSpPr/>
          <p:nvPr/>
        </p:nvSpPr>
        <p:spPr bwMode="ltGray">
          <a:xfrm rot="5400000">
            <a:off x="7940040" y="685800"/>
            <a:ext cx="762000" cy="609600"/>
          </a:xfrm>
          <a:prstGeom prst="homePlate">
            <a:avLst/>
          </a:prstGeom>
          <a:solidFill>
            <a:schemeClr val="accent4">
              <a:lumMod val="60000"/>
              <a:lumOff val="4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schemeClr val="bg1"/>
              </a:solidFill>
              <a:latin typeface="+mj-lt"/>
            </a:endParaRPr>
          </a:p>
        </p:txBody>
      </p:sp>
      <p:sp>
        <p:nvSpPr>
          <p:cNvPr id="4" name="TextBox 11">
            <a:extLst>
              <a:ext uri="{FF2B5EF4-FFF2-40B4-BE49-F238E27FC236}">
                <a16:creationId xmlns:a16="http://schemas.microsoft.com/office/drawing/2014/main" id="{C24D2439-4D12-4D55-B7D7-CE87FB5B3064}"/>
              </a:ext>
            </a:extLst>
          </p:cNvPr>
          <p:cNvSpPr txBox="1"/>
          <p:nvPr/>
        </p:nvSpPr>
        <p:spPr>
          <a:xfrm>
            <a:off x="8016240" y="609600"/>
            <a:ext cx="609600" cy="609600"/>
          </a:xfrm>
          <a:prstGeom prst="rect">
            <a:avLst/>
          </a:prstGeom>
          <a:noFill/>
        </p:spPr>
        <p:txBody>
          <a:bodyPr wrap="square" lIns="0" tIns="0" rIns="0" bIns="0" rtlCol="0">
            <a:noAutofit/>
          </a:bodyPr>
          <a:lstStyle/>
          <a:p>
            <a:pPr indent="-274320" algn="ctr">
              <a:spcAft>
                <a:spcPts val="900"/>
              </a:spcAft>
            </a:pPr>
            <a:r>
              <a:rPr lang="en-CA" sz="4000" b="1" i="1" dirty="0">
                <a:solidFill>
                  <a:schemeClr val="bg1"/>
                </a:solidFill>
                <a:latin typeface="+mj-lt"/>
              </a:rPr>
              <a:t>3</a:t>
            </a:r>
          </a:p>
        </p:txBody>
      </p:sp>
      <p:cxnSp>
        <p:nvCxnSpPr>
          <p:cNvPr id="7" name="Connecteur droit 6">
            <a:extLst>
              <a:ext uri="{FF2B5EF4-FFF2-40B4-BE49-F238E27FC236}">
                <a16:creationId xmlns:a16="http://schemas.microsoft.com/office/drawing/2014/main" id="{03FCF768-570C-44E8-A14F-AB4E83F86B6E}"/>
              </a:ext>
            </a:extLst>
          </p:cNvPr>
          <p:cNvCxnSpPr>
            <a:cxnSpLocks/>
          </p:cNvCxnSpPr>
          <p:nvPr/>
        </p:nvCxnSpPr>
        <p:spPr>
          <a:xfrm>
            <a:off x="457200" y="624840"/>
            <a:ext cx="7863840" cy="0"/>
          </a:xfrm>
          <a:prstGeom prst="line">
            <a:avLst/>
          </a:prstGeom>
          <a:ln w="28575">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6" name="ZoneTexte 5">
            <a:extLst>
              <a:ext uri="{FF2B5EF4-FFF2-40B4-BE49-F238E27FC236}">
                <a16:creationId xmlns:a16="http://schemas.microsoft.com/office/drawing/2014/main" id="{BF9ACA32-A1DA-44A6-A846-C29CFF33AA30}"/>
              </a:ext>
            </a:extLst>
          </p:cNvPr>
          <p:cNvSpPr txBox="1"/>
          <p:nvPr/>
        </p:nvSpPr>
        <p:spPr>
          <a:xfrm>
            <a:off x="457248" y="1711422"/>
            <a:ext cx="8168592" cy="2862322"/>
          </a:xfrm>
          <a:prstGeom prst="rect">
            <a:avLst/>
          </a:prstGeom>
          <a:noFill/>
        </p:spPr>
        <p:txBody>
          <a:bodyPr wrap="square" rtlCol="0">
            <a:spAutoFit/>
          </a:bodyPr>
          <a:lstStyle/>
          <a:p>
            <a:r>
              <a:rPr lang="fr-CA" sz="2000" dirty="0"/>
              <a:t>Critères pour aider à établir à quel moment le transfert de contrôle a lieu :</a:t>
            </a:r>
          </a:p>
          <a:p>
            <a:endParaRPr lang="fr-CA" sz="2000" dirty="0"/>
          </a:p>
          <a:p>
            <a:pPr marL="800100" lvl="1" indent="-342900">
              <a:buFont typeface="+mj-lt"/>
              <a:buAutoNum type="alphaLcParenR"/>
            </a:pPr>
            <a:r>
              <a:rPr lang="fr-CA" sz="2000" dirty="0"/>
              <a:t>L’entité a un </a:t>
            </a:r>
            <a:r>
              <a:rPr lang="fr-CA" sz="2000" b="1" dirty="0"/>
              <a:t>droit actuel de paiement</a:t>
            </a:r>
            <a:r>
              <a:rPr lang="fr-CA" sz="2000" dirty="0"/>
              <a:t> au titre de l’actif</a:t>
            </a:r>
          </a:p>
          <a:p>
            <a:pPr marL="800100" lvl="1" indent="-342900">
              <a:buFont typeface="+mj-lt"/>
              <a:buAutoNum type="alphaLcParenR"/>
            </a:pPr>
            <a:r>
              <a:rPr lang="fr-CA" sz="2000" dirty="0"/>
              <a:t>Le client a le </a:t>
            </a:r>
            <a:r>
              <a:rPr lang="fr-CA" sz="2000" b="1" dirty="0"/>
              <a:t>titre de la propriété</a:t>
            </a:r>
          </a:p>
          <a:p>
            <a:pPr marL="800100" lvl="1" indent="-342900">
              <a:buFont typeface="+mj-lt"/>
              <a:buAutoNum type="alphaLcParenR"/>
            </a:pPr>
            <a:r>
              <a:rPr lang="fr-CA" sz="2000" dirty="0"/>
              <a:t>L’entité a transféré la </a:t>
            </a:r>
            <a:r>
              <a:rPr lang="fr-CA" sz="2000" b="1" dirty="0"/>
              <a:t>possession matérielle </a:t>
            </a:r>
            <a:r>
              <a:rPr lang="fr-CA" sz="2000" dirty="0"/>
              <a:t>de l’actif</a:t>
            </a:r>
          </a:p>
          <a:p>
            <a:pPr marL="800100" lvl="1" indent="-342900">
              <a:buFont typeface="+mj-lt"/>
              <a:buAutoNum type="alphaLcParenR"/>
            </a:pPr>
            <a:r>
              <a:rPr lang="fr-CA" sz="2000" dirty="0"/>
              <a:t>Le client a les </a:t>
            </a:r>
            <a:r>
              <a:rPr lang="fr-CA" sz="2000" b="1" dirty="0"/>
              <a:t>risques et avantages </a:t>
            </a:r>
            <a:r>
              <a:rPr lang="fr-CA" sz="2000" dirty="0"/>
              <a:t>importants inhérents à la propriété de l’actif</a:t>
            </a:r>
          </a:p>
          <a:p>
            <a:pPr marL="800100" lvl="1" indent="-342900">
              <a:buFont typeface="+mj-lt"/>
              <a:buAutoNum type="alphaLcParenR"/>
            </a:pPr>
            <a:r>
              <a:rPr lang="fr-CA" sz="2000" dirty="0"/>
              <a:t>Le </a:t>
            </a:r>
            <a:r>
              <a:rPr lang="fr-CA" sz="2000" b="1" dirty="0"/>
              <a:t>client a accepté </a:t>
            </a:r>
            <a:r>
              <a:rPr lang="fr-CA" sz="2000" dirty="0"/>
              <a:t>l’actif</a:t>
            </a:r>
          </a:p>
          <a:p>
            <a:endParaRPr lang="fr-CA" sz="2000" dirty="0"/>
          </a:p>
        </p:txBody>
      </p:sp>
      <p:sp>
        <p:nvSpPr>
          <p:cNvPr id="8" name="Rectangle 7">
            <a:extLst>
              <a:ext uri="{FF2B5EF4-FFF2-40B4-BE49-F238E27FC236}">
                <a16:creationId xmlns:a16="http://schemas.microsoft.com/office/drawing/2014/main" id="{1E54A092-59DF-45AB-9927-1F09FD65F6E0}"/>
              </a:ext>
            </a:extLst>
          </p:cNvPr>
          <p:cNvSpPr/>
          <p:nvPr/>
        </p:nvSpPr>
        <p:spPr>
          <a:xfrm>
            <a:off x="533400" y="4913566"/>
            <a:ext cx="8092439" cy="892315"/>
          </a:xfrm>
          <a:prstGeom prst="rect">
            <a:avLst/>
          </a:prstGeom>
          <a:solidFill>
            <a:schemeClr val="accent4">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fr-CA" sz="2000" dirty="0">
                <a:solidFill>
                  <a:schemeClr val="tx1"/>
                </a:solidFill>
              </a:rPr>
              <a:t>Il s’agit d’indicateurs. Il faut considérer tous les faits et circonstances pertinentes. </a:t>
            </a:r>
          </a:p>
        </p:txBody>
      </p:sp>
      <p:sp>
        <p:nvSpPr>
          <p:cNvPr id="12" name="Rectangle 11">
            <a:extLst>
              <a:ext uri="{FF2B5EF4-FFF2-40B4-BE49-F238E27FC236}">
                <a16:creationId xmlns:a16="http://schemas.microsoft.com/office/drawing/2014/main" id="{50E26CFE-DC4A-4E07-B549-0F03755C5A18}"/>
              </a:ext>
            </a:extLst>
          </p:cNvPr>
          <p:cNvSpPr/>
          <p:nvPr/>
        </p:nvSpPr>
        <p:spPr>
          <a:xfrm>
            <a:off x="7459239" y="3814619"/>
            <a:ext cx="1227513" cy="38529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sz="1600" b="1" i="1" dirty="0">
                <a:solidFill>
                  <a:schemeClr val="accent4"/>
                </a:solidFill>
              </a:rPr>
              <a:t>IFRS 15.38</a:t>
            </a:r>
          </a:p>
        </p:txBody>
      </p:sp>
      <p:sp>
        <p:nvSpPr>
          <p:cNvPr id="5" name="Espace réservé du numéro de diapositive 4"/>
          <p:cNvSpPr>
            <a:spLocks noGrp="1"/>
          </p:cNvSpPr>
          <p:nvPr>
            <p:ph type="sldNum" sz="quarter" idx="12"/>
          </p:nvPr>
        </p:nvSpPr>
        <p:spPr/>
        <p:txBody>
          <a:bodyPr/>
          <a:lstStyle/>
          <a:p>
            <a:fld id="{3F1B3DEB-6CA3-4B97-B0DC-BA3F5F40634A}" type="slidenum">
              <a:rPr lang="fr-CA" smtClean="0"/>
              <a:t>25</a:t>
            </a:fld>
            <a:endParaRPr lang="fr-CA"/>
          </a:p>
        </p:txBody>
      </p:sp>
    </p:spTree>
    <p:extLst>
      <p:ext uri="{BB962C8B-B14F-4D97-AF65-F5344CB8AC3E}">
        <p14:creationId xmlns:p14="http://schemas.microsoft.com/office/powerpoint/2010/main" val="227486367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9B4089F-5A6C-46CC-8DAF-010D49B80E5D}"/>
              </a:ext>
            </a:extLst>
          </p:cNvPr>
          <p:cNvSpPr txBox="1">
            <a:spLocks/>
          </p:cNvSpPr>
          <p:nvPr/>
        </p:nvSpPr>
        <p:spPr>
          <a:xfrm>
            <a:off x="533400" y="685800"/>
            <a:ext cx="7363691" cy="685796"/>
          </a:xfrm>
          <a:prstGeom prst="rect">
            <a:avLst/>
          </a:prstGeom>
        </p:spPr>
        <p:txBody>
          <a:bodyPr>
            <a:normAutofit fontScale="975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fr-CA" kern="0" dirty="0">
                <a:solidFill>
                  <a:schemeClr val="accent4"/>
                </a:solidFill>
              </a:rPr>
              <a:t>Exemple 5</a:t>
            </a:r>
            <a:endParaRPr lang="fr-CA" dirty="0">
              <a:solidFill>
                <a:schemeClr val="accent4"/>
              </a:solidFill>
            </a:endParaRPr>
          </a:p>
        </p:txBody>
      </p:sp>
      <p:sp>
        <p:nvSpPr>
          <p:cNvPr id="3" name="Pentagon 10">
            <a:extLst>
              <a:ext uri="{FF2B5EF4-FFF2-40B4-BE49-F238E27FC236}">
                <a16:creationId xmlns:a16="http://schemas.microsoft.com/office/drawing/2014/main" id="{86654433-96C7-4E06-9D94-ECF817A8A1EB}"/>
              </a:ext>
            </a:extLst>
          </p:cNvPr>
          <p:cNvSpPr/>
          <p:nvPr/>
        </p:nvSpPr>
        <p:spPr bwMode="ltGray">
          <a:xfrm rot="5400000">
            <a:off x="7940040" y="685800"/>
            <a:ext cx="762000" cy="609600"/>
          </a:xfrm>
          <a:prstGeom prst="homePlate">
            <a:avLst/>
          </a:prstGeom>
          <a:solidFill>
            <a:schemeClr val="accent4">
              <a:lumMod val="60000"/>
              <a:lumOff val="4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schemeClr val="bg1"/>
              </a:solidFill>
              <a:latin typeface="+mj-lt"/>
            </a:endParaRPr>
          </a:p>
        </p:txBody>
      </p:sp>
      <p:sp>
        <p:nvSpPr>
          <p:cNvPr id="4" name="TextBox 11">
            <a:extLst>
              <a:ext uri="{FF2B5EF4-FFF2-40B4-BE49-F238E27FC236}">
                <a16:creationId xmlns:a16="http://schemas.microsoft.com/office/drawing/2014/main" id="{C24D2439-4D12-4D55-B7D7-CE87FB5B3064}"/>
              </a:ext>
            </a:extLst>
          </p:cNvPr>
          <p:cNvSpPr txBox="1"/>
          <p:nvPr/>
        </p:nvSpPr>
        <p:spPr>
          <a:xfrm>
            <a:off x="8016240" y="609600"/>
            <a:ext cx="609600" cy="609600"/>
          </a:xfrm>
          <a:prstGeom prst="rect">
            <a:avLst/>
          </a:prstGeom>
          <a:noFill/>
        </p:spPr>
        <p:txBody>
          <a:bodyPr wrap="square" lIns="0" tIns="0" rIns="0" bIns="0" rtlCol="0">
            <a:noAutofit/>
          </a:bodyPr>
          <a:lstStyle/>
          <a:p>
            <a:pPr indent="-274320" algn="ctr">
              <a:spcAft>
                <a:spcPts val="900"/>
              </a:spcAft>
            </a:pPr>
            <a:r>
              <a:rPr lang="en-CA" sz="4000" b="1" i="1" dirty="0">
                <a:solidFill>
                  <a:schemeClr val="bg1"/>
                </a:solidFill>
                <a:latin typeface="+mj-lt"/>
              </a:rPr>
              <a:t>3</a:t>
            </a:r>
          </a:p>
        </p:txBody>
      </p:sp>
      <p:cxnSp>
        <p:nvCxnSpPr>
          <p:cNvPr id="7" name="Connecteur droit 6">
            <a:extLst>
              <a:ext uri="{FF2B5EF4-FFF2-40B4-BE49-F238E27FC236}">
                <a16:creationId xmlns:a16="http://schemas.microsoft.com/office/drawing/2014/main" id="{03FCF768-570C-44E8-A14F-AB4E83F86B6E}"/>
              </a:ext>
            </a:extLst>
          </p:cNvPr>
          <p:cNvCxnSpPr>
            <a:cxnSpLocks/>
          </p:cNvCxnSpPr>
          <p:nvPr/>
        </p:nvCxnSpPr>
        <p:spPr>
          <a:xfrm>
            <a:off x="457200" y="624840"/>
            <a:ext cx="7863840" cy="0"/>
          </a:xfrm>
          <a:prstGeom prst="line">
            <a:avLst/>
          </a:prstGeom>
          <a:ln w="28575">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6" name="ZoneTexte 5">
            <a:extLst>
              <a:ext uri="{FF2B5EF4-FFF2-40B4-BE49-F238E27FC236}">
                <a16:creationId xmlns:a16="http://schemas.microsoft.com/office/drawing/2014/main" id="{469D42E5-1690-484E-9EF5-AAB5F42CF33F}"/>
              </a:ext>
            </a:extLst>
          </p:cNvPr>
          <p:cNvSpPr txBox="1"/>
          <p:nvPr/>
        </p:nvSpPr>
        <p:spPr>
          <a:xfrm>
            <a:off x="533400" y="1624084"/>
            <a:ext cx="8092440" cy="1477328"/>
          </a:xfrm>
          <a:prstGeom prst="rect">
            <a:avLst/>
          </a:prstGeom>
          <a:noFill/>
        </p:spPr>
        <p:txBody>
          <a:bodyPr wrap="square" rtlCol="0">
            <a:spAutoFit/>
          </a:bodyPr>
          <a:lstStyle/>
          <a:p>
            <a:r>
              <a:rPr lang="fr-CA" dirty="0"/>
              <a:t>ABC conclut un contrat en vue de fournir des services de traitement de la paie mensuels à un client pour une période d'une année.</a:t>
            </a:r>
          </a:p>
          <a:p>
            <a:endParaRPr lang="fr-CA" dirty="0"/>
          </a:p>
          <a:p>
            <a:r>
              <a:rPr lang="fr-CA" dirty="0"/>
              <a:t>Les services de traitement de la paie promis sont comptabilisés comme une seule et même obligation de prestation.</a:t>
            </a:r>
          </a:p>
        </p:txBody>
      </p:sp>
      <p:sp>
        <p:nvSpPr>
          <p:cNvPr id="5" name="Espace réservé du numéro de diapositive 4"/>
          <p:cNvSpPr>
            <a:spLocks noGrp="1"/>
          </p:cNvSpPr>
          <p:nvPr>
            <p:ph type="sldNum" sz="quarter" idx="12"/>
          </p:nvPr>
        </p:nvSpPr>
        <p:spPr/>
        <p:txBody>
          <a:bodyPr/>
          <a:lstStyle/>
          <a:p>
            <a:fld id="{3F1B3DEB-6CA3-4B97-B0DC-BA3F5F40634A}" type="slidenum">
              <a:rPr lang="fr-CA" smtClean="0"/>
              <a:t>26</a:t>
            </a:fld>
            <a:endParaRPr lang="fr-CA"/>
          </a:p>
        </p:txBody>
      </p:sp>
    </p:spTree>
    <p:extLst>
      <p:ext uri="{BB962C8B-B14F-4D97-AF65-F5344CB8AC3E}">
        <p14:creationId xmlns:p14="http://schemas.microsoft.com/office/powerpoint/2010/main" val="117730903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9B4089F-5A6C-46CC-8DAF-010D49B80E5D}"/>
              </a:ext>
            </a:extLst>
          </p:cNvPr>
          <p:cNvSpPr txBox="1">
            <a:spLocks/>
          </p:cNvSpPr>
          <p:nvPr/>
        </p:nvSpPr>
        <p:spPr>
          <a:xfrm>
            <a:off x="533400" y="685800"/>
            <a:ext cx="7363691" cy="685796"/>
          </a:xfrm>
          <a:prstGeom prst="rect">
            <a:avLst/>
          </a:prstGeom>
        </p:spPr>
        <p:txBody>
          <a:bodyPr>
            <a:normAutofit fontScale="975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fr-CA" kern="0" dirty="0">
                <a:solidFill>
                  <a:schemeClr val="accent4"/>
                </a:solidFill>
              </a:rPr>
              <a:t>Exemple 5 - solution</a:t>
            </a:r>
            <a:endParaRPr lang="fr-CA" dirty="0">
              <a:solidFill>
                <a:schemeClr val="accent4"/>
              </a:solidFill>
            </a:endParaRPr>
          </a:p>
        </p:txBody>
      </p:sp>
      <p:sp>
        <p:nvSpPr>
          <p:cNvPr id="6" name="ZoneTexte 5">
            <a:extLst>
              <a:ext uri="{FF2B5EF4-FFF2-40B4-BE49-F238E27FC236}">
                <a16:creationId xmlns:a16="http://schemas.microsoft.com/office/drawing/2014/main" id="{469D42E5-1690-484E-9EF5-AAB5F42CF33F}"/>
              </a:ext>
            </a:extLst>
          </p:cNvPr>
          <p:cNvSpPr txBox="1"/>
          <p:nvPr/>
        </p:nvSpPr>
        <p:spPr>
          <a:xfrm>
            <a:off x="533400" y="1624084"/>
            <a:ext cx="8092440" cy="4524315"/>
          </a:xfrm>
          <a:prstGeom prst="rect">
            <a:avLst/>
          </a:prstGeom>
          <a:noFill/>
        </p:spPr>
        <p:txBody>
          <a:bodyPr wrap="square" rtlCol="0">
            <a:spAutoFit/>
          </a:bodyPr>
          <a:lstStyle/>
          <a:p>
            <a:r>
              <a:rPr lang="fr-CA" dirty="0"/>
              <a:t>L'obligation de prestation est remplie progressivement </a:t>
            </a:r>
            <a:r>
              <a:rPr lang="fr-CA" u="sng" dirty="0"/>
              <a:t>si l’une</a:t>
            </a:r>
            <a:r>
              <a:rPr lang="fr-CA" dirty="0"/>
              <a:t> des conditions du par 35 est remplie :</a:t>
            </a:r>
          </a:p>
          <a:p>
            <a:pPr marL="338138" indent="-338138">
              <a:buFont typeface="Wingdings" panose="05000000000000000000" pitchFamily="2" charset="2"/>
              <a:buChar char="ü"/>
            </a:pPr>
            <a:r>
              <a:rPr lang="fr-CA" i="1" dirty="0"/>
              <a:t>Le client </a:t>
            </a:r>
            <a:r>
              <a:rPr lang="fr-CA" b="1" i="1" dirty="0"/>
              <a:t>reçoit et consomme simultanément </a:t>
            </a:r>
            <a:r>
              <a:rPr lang="fr-CA" i="1" dirty="0"/>
              <a:t>les avantages procurés par la prestation, au fur et à mesure où celle-ci a lieu.</a:t>
            </a:r>
          </a:p>
          <a:p>
            <a:pPr marL="795338" lvl="1" indent="-338138">
              <a:buFont typeface="Wingdings" panose="05000000000000000000" pitchFamily="2" charset="2"/>
              <a:buChar char="à"/>
            </a:pPr>
            <a:r>
              <a:rPr lang="fr-CA" dirty="0"/>
              <a:t>OUI, car le client reçoit et consomme simultanément les avantages procurés par la prestation de l'entité lors du traitement de chaque transaction de paie, au fur et à mesure que le traitement a lieu. Le fait qu'une autre entité n'aurait pas à refaire le travail de traitement de la paie que l'entité a effectué jusqu'à la date considérée montre également que le client reçoit et consomme simultanément les avantages procurés par la prestation de l'entité au fur et à mesure que celle-ci a lieu.</a:t>
            </a:r>
          </a:p>
          <a:p>
            <a:pPr marL="795338" lvl="1" indent="-338138">
              <a:buFont typeface="Wingdings" panose="05000000000000000000" pitchFamily="2" charset="2"/>
              <a:buChar char="à"/>
            </a:pPr>
            <a:endParaRPr lang="fr-CA" i="1" dirty="0"/>
          </a:p>
          <a:p>
            <a:pPr marL="0" lvl="1"/>
            <a:r>
              <a:rPr lang="fr-CA" dirty="0"/>
              <a:t>L'entité comptabilise les produits des activités ordinaires </a:t>
            </a:r>
            <a:r>
              <a:rPr lang="fr-CA" b="1" dirty="0"/>
              <a:t>progressivement</a:t>
            </a:r>
            <a:r>
              <a:rPr lang="fr-CA" dirty="0"/>
              <a:t> en évaluant la mesure dans laquelle cette obligation de prestation est remplie</a:t>
            </a:r>
            <a:endParaRPr lang="fr-CA" i="1" dirty="0"/>
          </a:p>
          <a:p>
            <a:endParaRPr lang="fr-CA" dirty="0"/>
          </a:p>
        </p:txBody>
      </p:sp>
      <p:sp>
        <p:nvSpPr>
          <p:cNvPr id="8" name="Pentagon 10">
            <a:extLst>
              <a:ext uri="{FF2B5EF4-FFF2-40B4-BE49-F238E27FC236}">
                <a16:creationId xmlns:a16="http://schemas.microsoft.com/office/drawing/2014/main" id="{5A356BB6-4F29-4587-9E86-CDD6CCE6EB5A}"/>
              </a:ext>
            </a:extLst>
          </p:cNvPr>
          <p:cNvSpPr/>
          <p:nvPr/>
        </p:nvSpPr>
        <p:spPr bwMode="ltGray">
          <a:xfrm rot="5400000">
            <a:off x="7940040" y="685800"/>
            <a:ext cx="762000" cy="609600"/>
          </a:xfrm>
          <a:prstGeom prst="homePlate">
            <a:avLst/>
          </a:prstGeom>
          <a:solidFill>
            <a:schemeClr val="accent4">
              <a:lumMod val="60000"/>
              <a:lumOff val="4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schemeClr val="bg1"/>
              </a:solidFill>
              <a:latin typeface="+mj-lt"/>
            </a:endParaRPr>
          </a:p>
        </p:txBody>
      </p:sp>
      <p:sp>
        <p:nvSpPr>
          <p:cNvPr id="9" name="TextBox 11">
            <a:extLst>
              <a:ext uri="{FF2B5EF4-FFF2-40B4-BE49-F238E27FC236}">
                <a16:creationId xmlns:a16="http://schemas.microsoft.com/office/drawing/2014/main" id="{CEB19CFE-62DF-4577-8740-C56AD769D80F}"/>
              </a:ext>
            </a:extLst>
          </p:cNvPr>
          <p:cNvSpPr txBox="1"/>
          <p:nvPr/>
        </p:nvSpPr>
        <p:spPr>
          <a:xfrm>
            <a:off x="8016240" y="609600"/>
            <a:ext cx="609600" cy="609600"/>
          </a:xfrm>
          <a:prstGeom prst="rect">
            <a:avLst/>
          </a:prstGeom>
          <a:noFill/>
        </p:spPr>
        <p:txBody>
          <a:bodyPr wrap="square" lIns="0" tIns="0" rIns="0" bIns="0" rtlCol="0">
            <a:noAutofit/>
          </a:bodyPr>
          <a:lstStyle/>
          <a:p>
            <a:pPr indent="-274320" algn="ctr">
              <a:spcAft>
                <a:spcPts val="900"/>
              </a:spcAft>
            </a:pPr>
            <a:r>
              <a:rPr lang="en-CA" sz="4000" b="1" i="1" dirty="0">
                <a:solidFill>
                  <a:schemeClr val="bg1"/>
                </a:solidFill>
                <a:latin typeface="+mj-lt"/>
              </a:rPr>
              <a:t>3</a:t>
            </a:r>
          </a:p>
        </p:txBody>
      </p:sp>
      <p:cxnSp>
        <p:nvCxnSpPr>
          <p:cNvPr id="10" name="Connecteur droit 9">
            <a:extLst>
              <a:ext uri="{FF2B5EF4-FFF2-40B4-BE49-F238E27FC236}">
                <a16:creationId xmlns:a16="http://schemas.microsoft.com/office/drawing/2014/main" id="{3B7E19DE-C192-4DF5-B9F7-B64E172A11C9}"/>
              </a:ext>
            </a:extLst>
          </p:cNvPr>
          <p:cNvCxnSpPr>
            <a:cxnSpLocks/>
          </p:cNvCxnSpPr>
          <p:nvPr/>
        </p:nvCxnSpPr>
        <p:spPr>
          <a:xfrm>
            <a:off x="457200" y="624840"/>
            <a:ext cx="7863840" cy="0"/>
          </a:xfrm>
          <a:prstGeom prst="line">
            <a:avLst/>
          </a:prstGeom>
          <a:ln w="28575">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3" name="Espace réservé du numéro de diapositive 2"/>
          <p:cNvSpPr>
            <a:spLocks noGrp="1"/>
          </p:cNvSpPr>
          <p:nvPr>
            <p:ph type="sldNum" sz="quarter" idx="12"/>
          </p:nvPr>
        </p:nvSpPr>
        <p:spPr/>
        <p:txBody>
          <a:bodyPr/>
          <a:lstStyle/>
          <a:p>
            <a:fld id="{3F1B3DEB-6CA3-4B97-B0DC-BA3F5F40634A}" type="slidenum">
              <a:rPr lang="fr-CA" smtClean="0"/>
              <a:t>27</a:t>
            </a:fld>
            <a:endParaRPr lang="fr-CA"/>
          </a:p>
        </p:txBody>
      </p:sp>
    </p:spTree>
    <p:extLst>
      <p:ext uri="{BB962C8B-B14F-4D97-AF65-F5344CB8AC3E}">
        <p14:creationId xmlns:p14="http://schemas.microsoft.com/office/powerpoint/2010/main" val="80588417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9B4089F-5A6C-46CC-8DAF-010D49B80E5D}"/>
              </a:ext>
            </a:extLst>
          </p:cNvPr>
          <p:cNvSpPr txBox="1">
            <a:spLocks/>
          </p:cNvSpPr>
          <p:nvPr/>
        </p:nvSpPr>
        <p:spPr>
          <a:xfrm>
            <a:off x="533400" y="685800"/>
            <a:ext cx="7363691" cy="685796"/>
          </a:xfrm>
          <a:prstGeom prst="rect">
            <a:avLst/>
          </a:prstGeom>
        </p:spPr>
        <p:txBody>
          <a:bodyPr>
            <a:normAutofit fontScale="975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fr-CA" kern="0" dirty="0">
                <a:solidFill>
                  <a:schemeClr val="accent4"/>
                </a:solidFill>
              </a:rPr>
              <a:t>Exemple 6</a:t>
            </a:r>
            <a:endParaRPr lang="fr-CA" dirty="0">
              <a:solidFill>
                <a:schemeClr val="accent4"/>
              </a:solidFill>
            </a:endParaRPr>
          </a:p>
        </p:txBody>
      </p:sp>
      <p:sp>
        <p:nvSpPr>
          <p:cNvPr id="6" name="ZoneTexte 5">
            <a:extLst>
              <a:ext uri="{FF2B5EF4-FFF2-40B4-BE49-F238E27FC236}">
                <a16:creationId xmlns:a16="http://schemas.microsoft.com/office/drawing/2014/main" id="{469D42E5-1690-484E-9EF5-AAB5F42CF33F}"/>
              </a:ext>
            </a:extLst>
          </p:cNvPr>
          <p:cNvSpPr txBox="1"/>
          <p:nvPr/>
        </p:nvSpPr>
        <p:spPr>
          <a:xfrm>
            <a:off x="533400" y="1624084"/>
            <a:ext cx="8092440" cy="3139321"/>
          </a:xfrm>
          <a:prstGeom prst="rect">
            <a:avLst/>
          </a:prstGeom>
          <a:noFill/>
        </p:spPr>
        <p:txBody>
          <a:bodyPr wrap="square" rtlCol="0">
            <a:spAutoFit/>
          </a:bodyPr>
          <a:lstStyle/>
          <a:p>
            <a:r>
              <a:rPr lang="fr-CA" dirty="0"/>
              <a:t>ABC conclut un contrat avec un client en vue de fournir un service de consultation aux termes duquel elle fournit une opinion professionnelle au client. </a:t>
            </a:r>
          </a:p>
          <a:p>
            <a:endParaRPr lang="fr-CA" dirty="0"/>
          </a:p>
          <a:p>
            <a:r>
              <a:rPr lang="fr-CA" dirty="0"/>
              <a:t>L'opinion professionnelle porte sur des faits et circonstances qui sont propres au client. </a:t>
            </a:r>
          </a:p>
          <a:p>
            <a:endParaRPr lang="fr-CA" dirty="0"/>
          </a:p>
          <a:p>
            <a:r>
              <a:rPr lang="fr-CA" dirty="0"/>
              <a:t>Si le client devait résilier le contrat de consultation pour des raisons autres que la non-exécution de la prestation promise par l'entité, il serait tenu contractuellement d'indemniser l'entité pour les coûts que celle-ci a engagés, majorés de 15 %. La majoration de 15 % correspond approximativement à la marge de profit que l'entité dégage sur des contrats similaires.</a:t>
            </a:r>
          </a:p>
        </p:txBody>
      </p:sp>
      <p:sp>
        <p:nvSpPr>
          <p:cNvPr id="11" name="Pentagon 10">
            <a:extLst>
              <a:ext uri="{FF2B5EF4-FFF2-40B4-BE49-F238E27FC236}">
                <a16:creationId xmlns:a16="http://schemas.microsoft.com/office/drawing/2014/main" id="{03F5F8FB-4AFE-4562-9AAF-4AEA43DE67BE}"/>
              </a:ext>
            </a:extLst>
          </p:cNvPr>
          <p:cNvSpPr/>
          <p:nvPr/>
        </p:nvSpPr>
        <p:spPr bwMode="ltGray">
          <a:xfrm rot="5400000">
            <a:off x="7940040" y="685800"/>
            <a:ext cx="762000" cy="609600"/>
          </a:xfrm>
          <a:prstGeom prst="homePlate">
            <a:avLst/>
          </a:prstGeom>
          <a:solidFill>
            <a:schemeClr val="accent4">
              <a:lumMod val="60000"/>
              <a:lumOff val="4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schemeClr val="bg1"/>
              </a:solidFill>
              <a:latin typeface="+mj-lt"/>
            </a:endParaRPr>
          </a:p>
        </p:txBody>
      </p:sp>
      <p:sp>
        <p:nvSpPr>
          <p:cNvPr id="12" name="TextBox 11">
            <a:extLst>
              <a:ext uri="{FF2B5EF4-FFF2-40B4-BE49-F238E27FC236}">
                <a16:creationId xmlns:a16="http://schemas.microsoft.com/office/drawing/2014/main" id="{22BD164B-3B3F-4045-AEC4-C973EF28E764}"/>
              </a:ext>
            </a:extLst>
          </p:cNvPr>
          <p:cNvSpPr txBox="1"/>
          <p:nvPr/>
        </p:nvSpPr>
        <p:spPr>
          <a:xfrm>
            <a:off x="8016240" y="609600"/>
            <a:ext cx="609600" cy="609600"/>
          </a:xfrm>
          <a:prstGeom prst="rect">
            <a:avLst/>
          </a:prstGeom>
          <a:noFill/>
        </p:spPr>
        <p:txBody>
          <a:bodyPr wrap="square" lIns="0" tIns="0" rIns="0" bIns="0" rtlCol="0">
            <a:noAutofit/>
          </a:bodyPr>
          <a:lstStyle/>
          <a:p>
            <a:pPr indent="-274320" algn="ctr">
              <a:spcAft>
                <a:spcPts val="900"/>
              </a:spcAft>
            </a:pPr>
            <a:r>
              <a:rPr lang="en-CA" sz="4000" b="1" i="1" dirty="0">
                <a:solidFill>
                  <a:schemeClr val="bg1"/>
                </a:solidFill>
                <a:latin typeface="+mj-lt"/>
              </a:rPr>
              <a:t>3</a:t>
            </a:r>
          </a:p>
        </p:txBody>
      </p:sp>
      <p:cxnSp>
        <p:nvCxnSpPr>
          <p:cNvPr id="13" name="Connecteur droit 12">
            <a:extLst>
              <a:ext uri="{FF2B5EF4-FFF2-40B4-BE49-F238E27FC236}">
                <a16:creationId xmlns:a16="http://schemas.microsoft.com/office/drawing/2014/main" id="{1C29E26F-EF7D-4583-82F1-BFE60C1A30BA}"/>
              </a:ext>
            </a:extLst>
          </p:cNvPr>
          <p:cNvCxnSpPr>
            <a:cxnSpLocks/>
          </p:cNvCxnSpPr>
          <p:nvPr/>
        </p:nvCxnSpPr>
        <p:spPr>
          <a:xfrm>
            <a:off x="457200" y="624840"/>
            <a:ext cx="7863840" cy="0"/>
          </a:xfrm>
          <a:prstGeom prst="line">
            <a:avLst/>
          </a:prstGeom>
          <a:ln w="28575">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3" name="Espace réservé du numéro de diapositive 2"/>
          <p:cNvSpPr>
            <a:spLocks noGrp="1"/>
          </p:cNvSpPr>
          <p:nvPr>
            <p:ph type="sldNum" sz="quarter" idx="12"/>
          </p:nvPr>
        </p:nvSpPr>
        <p:spPr/>
        <p:txBody>
          <a:bodyPr/>
          <a:lstStyle/>
          <a:p>
            <a:fld id="{3F1B3DEB-6CA3-4B97-B0DC-BA3F5F40634A}" type="slidenum">
              <a:rPr lang="fr-CA" smtClean="0"/>
              <a:t>28</a:t>
            </a:fld>
            <a:endParaRPr lang="fr-CA"/>
          </a:p>
        </p:txBody>
      </p:sp>
    </p:spTree>
    <p:extLst>
      <p:ext uri="{BB962C8B-B14F-4D97-AF65-F5344CB8AC3E}">
        <p14:creationId xmlns:p14="http://schemas.microsoft.com/office/powerpoint/2010/main" val="42801498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9B4089F-5A6C-46CC-8DAF-010D49B80E5D}"/>
              </a:ext>
            </a:extLst>
          </p:cNvPr>
          <p:cNvSpPr txBox="1">
            <a:spLocks/>
          </p:cNvSpPr>
          <p:nvPr/>
        </p:nvSpPr>
        <p:spPr>
          <a:xfrm>
            <a:off x="533400" y="685800"/>
            <a:ext cx="7363691" cy="685796"/>
          </a:xfrm>
          <a:prstGeom prst="rect">
            <a:avLst/>
          </a:prstGeom>
        </p:spPr>
        <p:txBody>
          <a:bodyPr>
            <a:normAutofit fontScale="975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fr-CA" kern="0" dirty="0">
                <a:solidFill>
                  <a:schemeClr val="accent4"/>
                </a:solidFill>
              </a:rPr>
              <a:t>Exemple 6 - solution</a:t>
            </a:r>
            <a:endParaRPr lang="fr-CA" dirty="0">
              <a:solidFill>
                <a:schemeClr val="accent4"/>
              </a:solidFill>
            </a:endParaRPr>
          </a:p>
        </p:txBody>
      </p:sp>
      <p:sp>
        <p:nvSpPr>
          <p:cNvPr id="6" name="ZoneTexte 5">
            <a:extLst>
              <a:ext uri="{FF2B5EF4-FFF2-40B4-BE49-F238E27FC236}">
                <a16:creationId xmlns:a16="http://schemas.microsoft.com/office/drawing/2014/main" id="{469D42E5-1690-484E-9EF5-AAB5F42CF33F}"/>
              </a:ext>
            </a:extLst>
          </p:cNvPr>
          <p:cNvSpPr txBox="1"/>
          <p:nvPr/>
        </p:nvSpPr>
        <p:spPr>
          <a:xfrm>
            <a:off x="533400" y="1624084"/>
            <a:ext cx="8092440" cy="4801314"/>
          </a:xfrm>
          <a:prstGeom prst="rect">
            <a:avLst/>
          </a:prstGeom>
          <a:noFill/>
        </p:spPr>
        <p:txBody>
          <a:bodyPr wrap="square" rtlCol="0">
            <a:spAutoFit/>
          </a:bodyPr>
          <a:lstStyle/>
          <a:p>
            <a:r>
              <a:rPr lang="fr-CA" dirty="0"/>
              <a:t>L'obligation de prestation est remplie progressivement </a:t>
            </a:r>
            <a:r>
              <a:rPr lang="fr-CA" u="sng" dirty="0"/>
              <a:t>si l’une</a:t>
            </a:r>
            <a:r>
              <a:rPr lang="fr-CA" dirty="0"/>
              <a:t> des conditions du par 35 est remplie :</a:t>
            </a:r>
          </a:p>
          <a:p>
            <a:pPr marL="338138" indent="-338138">
              <a:buFont typeface="Wingdings" panose="05000000000000000000" pitchFamily="2" charset="2"/>
              <a:buChar char="ü"/>
            </a:pPr>
            <a:r>
              <a:rPr lang="fr-CA" i="1" dirty="0"/>
              <a:t>Le client </a:t>
            </a:r>
            <a:r>
              <a:rPr lang="fr-CA" b="1" i="1" dirty="0"/>
              <a:t>reçoit et consomme simultanément </a:t>
            </a:r>
            <a:r>
              <a:rPr lang="fr-CA" i="1" dirty="0"/>
              <a:t>les avantages procurés par la prestation, au fur et à mesure où celle-ci a lieu.</a:t>
            </a:r>
          </a:p>
          <a:p>
            <a:pPr marL="795338" lvl="1" indent="-338138">
              <a:buFont typeface="Wingdings" panose="05000000000000000000" pitchFamily="2" charset="2"/>
              <a:buChar char="à"/>
            </a:pPr>
            <a:r>
              <a:rPr lang="fr-CA" dirty="0"/>
              <a:t>NON, Si l'entité se trouvait dans l'incapacité de remplir son obligation et le client faisait appel à une autre société de consultation pour lui fournir une opinion, cette autre société de consultation aurait à refaire dans une large mesure le travail que l'entité a effectué jusqu'à la date considérée, car elle ne bénéficierait nullement des travaux en cours effectués par l'entité. La nature de l'opinion professionnelle est telle que le client ne recevra les avantages procurés par la prestation de l'entité que lorsqu'il recevra l'opinion professionnelle demandée. </a:t>
            </a:r>
          </a:p>
          <a:p>
            <a:pPr marL="338138" lvl="1" indent="-338138">
              <a:buFont typeface="Wingdings" panose="05000000000000000000" pitchFamily="2" charset="2"/>
              <a:buChar char="ü"/>
            </a:pPr>
            <a:r>
              <a:rPr lang="fr-CA" i="1" dirty="0"/>
              <a:t>La prestation crée ou valorise un actif (ex.: des travaux en cours) dont le client obtient le contrôle au fur et à mesure de sa création ou de sa valorisation.</a:t>
            </a:r>
          </a:p>
          <a:p>
            <a:pPr marL="795338" lvl="1" indent="-338138">
              <a:buFont typeface="Wingdings" panose="05000000000000000000" pitchFamily="2" charset="2"/>
              <a:buChar char="à"/>
            </a:pPr>
            <a:r>
              <a:rPr lang="fr-CA" dirty="0"/>
              <a:t>NON, la formation de l'opinion professionnelle ne crée pas un actif pouvant être utilisé autrement par l'entité.</a:t>
            </a:r>
          </a:p>
        </p:txBody>
      </p:sp>
      <p:sp>
        <p:nvSpPr>
          <p:cNvPr id="8" name="Pentagon 10">
            <a:extLst>
              <a:ext uri="{FF2B5EF4-FFF2-40B4-BE49-F238E27FC236}">
                <a16:creationId xmlns:a16="http://schemas.microsoft.com/office/drawing/2014/main" id="{D808B964-42AC-4912-A772-197588424C8C}"/>
              </a:ext>
            </a:extLst>
          </p:cNvPr>
          <p:cNvSpPr/>
          <p:nvPr/>
        </p:nvSpPr>
        <p:spPr bwMode="ltGray">
          <a:xfrm rot="5400000">
            <a:off x="7940040" y="685800"/>
            <a:ext cx="762000" cy="609600"/>
          </a:xfrm>
          <a:prstGeom prst="homePlate">
            <a:avLst/>
          </a:prstGeom>
          <a:solidFill>
            <a:schemeClr val="accent4">
              <a:lumMod val="60000"/>
              <a:lumOff val="4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schemeClr val="bg1"/>
              </a:solidFill>
              <a:latin typeface="+mj-lt"/>
            </a:endParaRPr>
          </a:p>
        </p:txBody>
      </p:sp>
      <p:sp>
        <p:nvSpPr>
          <p:cNvPr id="9" name="TextBox 11">
            <a:extLst>
              <a:ext uri="{FF2B5EF4-FFF2-40B4-BE49-F238E27FC236}">
                <a16:creationId xmlns:a16="http://schemas.microsoft.com/office/drawing/2014/main" id="{27CC0C51-1FC9-4828-A2A0-7A21FF4E98F2}"/>
              </a:ext>
            </a:extLst>
          </p:cNvPr>
          <p:cNvSpPr txBox="1"/>
          <p:nvPr/>
        </p:nvSpPr>
        <p:spPr>
          <a:xfrm>
            <a:off x="8016240" y="609600"/>
            <a:ext cx="609600" cy="609600"/>
          </a:xfrm>
          <a:prstGeom prst="rect">
            <a:avLst/>
          </a:prstGeom>
          <a:noFill/>
        </p:spPr>
        <p:txBody>
          <a:bodyPr wrap="square" lIns="0" tIns="0" rIns="0" bIns="0" rtlCol="0">
            <a:noAutofit/>
          </a:bodyPr>
          <a:lstStyle/>
          <a:p>
            <a:pPr indent="-274320" algn="ctr">
              <a:spcAft>
                <a:spcPts val="900"/>
              </a:spcAft>
            </a:pPr>
            <a:r>
              <a:rPr lang="en-CA" sz="4000" b="1" i="1" dirty="0">
                <a:solidFill>
                  <a:schemeClr val="bg1"/>
                </a:solidFill>
                <a:latin typeface="+mj-lt"/>
              </a:rPr>
              <a:t>3</a:t>
            </a:r>
          </a:p>
        </p:txBody>
      </p:sp>
      <p:cxnSp>
        <p:nvCxnSpPr>
          <p:cNvPr id="10" name="Connecteur droit 9">
            <a:extLst>
              <a:ext uri="{FF2B5EF4-FFF2-40B4-BE49-F238E27FC236}">
                <a16:creationId xmlns:a16="http://schemas.microsoft.com/office/drawing/2014/main" id="{7E1393CE-E125-49A8-9F8D-A241657E78F9}"/>
              </a:ext>
            </a:extLst>
          </p:cNvPr>
          <p:cNvCxnSpPr>
            <a:cxnSpLocks/>
          </p:cNvCxnSpPr>
          <p:nvPr/>
        </p:nvCxnSpPr>
        <p:spPr>
          <a:xfrm>
            <a:off x="457200" y="624840"/>
            <a:ext cx="7863840" cy="0"/>
          </a:xfrm>
          <a:prstGeom prst="line">
            <a:avLst/>
          </a:prstGeom>
          <a:ln w="28575">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3" name="Espace réservé du numéro de diapositive 2"/>
          <p:cNvSpPr>
            <a:spLocks noGrp="1"/>
          </p:cNvSpPr>
          <p:nvPr>
            <p:ph type="sldNum" sz="quarter" idx="12"/>
          </p:nvPr>
        </p:nvSpPr>
        <p:spPr/>
        <p:txBody>
          <a:bodyPr/>
          <a:lstStyle/>
          <a:p>
            <a:fld id="{3F1B3DEB-6CA3-4B97-B0DC-BA3F5F40634A}" type="slidenum">
              <a:rPr lang="fr-CA" smtClean="0"/>
              <a:t>29</a:t>
            </a:fld>
            <a:endParaRPr lang="fr-CA"/>
          </a:p>
        </p:txBody>
      </p:sp>
    </p:spTree>
    <p:extLst>
      <p:ext uri="{BB962C8B-B14F-4D97-AF65-F5344CB8AC3E}">
        <p14:creationId xmlns:p14="http://schemas.microsoft.com/office/powerpoint/2010/main" val="192535242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9B4089F-5A6C-46CC-8DAF-010D49B80E5D}"/>
              </a:ext>
            </a:extLst>
          </p:cNvPr>
          <p:cNvSpPr txBox="1">
            <a:spLocks/>
          </p:cNvSpPr>
          <p:nvPr/>
        </p:nvSpPr>
        <p:spPr>
          <a:xfrm>
            <a:off x="533400" y="685800"/>
            <a:ext cx="7363691" cy="685796"/>
          </a:xfrm>
          <a:prstGeom prst="rect">
            <a:avLst/>
          </a:prstGeom>
        </p:spPr>
        <p:txBody>
          <a:bodyPr>
            <a:normAutofit fontScale="975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fr-CA" kern="0" dirty="0">
                <a:solidFill>
                  <a:schemeClr val="accent4"/>
                </a:solidFill>
              </a:rPr>
              <a:t>Exemple 6 - solution</a:t>
            </a:r>
            <a:endParaRPr lang="fr-CA" dirty="0">
              <a:solidFill>
                <a:schemeClr val="accent4"/>
              </a:solidFill>
            </a:endParaRPr>
          </a:p>
        </p:txBody>
      </p:sp>
      <p:sp>
        <p:nvSpPr>
          <p:cNvPr id="6" name="ZoneTexte 5">
            <a:extLst>
              <a:ext uri="{FF2B5EF4-FFF2-40B4-BE49-F238E27FC236}">
                <a16:creationId xmlns:a16="http://schemas.microsoft.com/office/drawing/2014/main" id="{469D42E5-1690-484E-9EF5-AAB5F42CF33F}"/>
              </a:ext>
            </a:extLst>
          </p:cNvPr>
          <p:cNvSpPr txBox="1"/>
          <p:nvPr/>
        </p:nvSpPr>
        <p:spPr>
          <a:xfrm>
            <a:off x="533400" y="1624084"/>
            <a:ext cx="8092440" cy="4801314"/>
          </a:xfrm>
          <a:prstGeom prst="rect">
            <a:avLst/>
          </a:prstGeom>
          <a:noFill/>
        </p:spPr>
        <p:txBody>
          <a:bodyPr wrap="square" rtlCol="0">
            <a:spAutoFit/>
          </a:bodyPr>
          <a:lstStyle/>
          <a:p>
            <a:r>
              <a:rPr lang="fr-CA" dirty="0"/>
              <a:t>L'obligation de prestation est remplie progressivement </a:t>
            </a:r>
            <a:r>
              <a:rPr lang="fr-CA" u="sng" dirty="0"/>
              <a:t>si l’une </a:t>
            </a:r>
            <a:r>
              <a:rPr lang="fr-CA" dirty="0"/>
              <a:t>des conditions du par 35 est remplie (SUITE) :</a:t>
            </a:r>
          </a:p>
          <a:p>
            <a:pPr marL="285750" indent="-285750">
              <a:buFont typeface="Wingdings" panose="05000000000000000000" pitchFamily="2" charset="2"/>
              <a:buChar char="ü"/>
            </a:pPr>
            <a:r>
              <a:rPr lang="fr-CA" i="1" dirty="0"/>
              <a:t>La prestation ne crée </a:t>
            </a:r>
            <a:r>
              <a:rPr lang="fr-CA" b="1" i="1" dirty="0"/>
              <a:t>pas un actif que l’entité pourrait utiliser autrement</a:t>
            </a:r>
            <a:r>
              <a:rPr lang="fr-CA" i="1" dirty="0"/>
              <a:t>, et l’entité a un </a:t>
            </a:r>
            <a:r>
              <a:rPr lang="fr-CA" b="1" i="1" dirty="0"/>
              <a:t>droit exécutoire à un paiement  pour le travail déjà effectué</a:t>
            </a:r>
            <a:r>
              <a:rPr lang="fr-CA" i="1" dirty="0"/>
              <a:t>, s’il y avait résiliation du contrat par le client.</a:t>
            </a:r>
          </a:p>
          <a:p>
            <a:pPr marL="795338" lvl="1" indent="-338138">
              <a:buFont typeface="Wingdings" panose="05000000000000000000" pitchFamily="2" charset="2"/>
              <a:buChar char="à"/>
            </a:pPr>
            <a:r>
              <a:rPr lang="fr-CA" dirty="0"/>
              <a:t>OUI, le travail effectué ne pourrait être utilisé pour un autre  client car elle repose sur des faits et circonstances qui sont propres au client. Il existe donc une limitation pratique de la capacité de l'entité de destiner facilement l'actif à une autre utilisation. De plus, l'entité a un droit exécutoire à un paiement au titre de la prestation effectuée jusqu'à la date considérée correspondant aux coûts qu'elle a engagés, majorés d'une marge raisonnable qui correspond approximativement à la marge de profit dégagée sur d'autres contrats.</a:t>
            </a:r>
          </a:p>
          <a:p>
            <a:endParaRPr lang="fr-CA" dirty="0"/>
          </a:p>
          <a:p>
            <a:r>
              <a:rPr lang="fr-CA" dirty="0"/>
              <a:t>En conséquence, l'entité comptabilise les produits des activités ordinaires </a:t>
            </a:r>
            <a:r>
              <a:rPr lang="fr-CA" b="1" dirty="0"/>
              <a:t>progressivement</a:t>
            </a:r>
            <a:r>
              <a:rPr lang="fr-CA" dirty="0"/>
              <a:t> en évaluant la mesure dans laquelle l'obligation de prestation est remplie.</a:t>
            </a:r>
          </a:p>
        </p:txBody>
      </p:sp>
      <p:sp>
        <p:nvSpPr>
          <p:cNvPr id="8" name="Pentagon 10">
            <a:extLst>
              <a:ext uri="{FF2B5EF4-FFF2-40B4-BE49-F238E27FC236}">
                <a16:creationId xmlns:a16="http://schemas.microsoft.com/office/drawing/2014/main" id="{A57965A0-1290-4C3B-9742-7941322131A3}"/>
              </a:ext>
            </a:extLst>
          </p:cNvPr>
          <p:cNvSpPr/>
          <p:nvPr/>
        </p:nvSpPr>
        <p:spPr bwMode="ltGray">
          <a:xfrm rot="5400000">
            <a:off x="7940040" y="685800"/>
            <a:ext cx="762000" cy="609600"/>
          </a:xfrm>
          <a:prstGeom prst="homePlate">
            <a:avLst/>
          </a:prstGeom>
          <a:solidFill>
            <a:schemeClr val="accent4">
              <a:lumMod val="60000"/>
              <a:lumOff val="4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schemeClr val="bg1"/>
              </a:solidFill>
              <a:latin typeface="+mj-lt"/>
            </a:endParaRPr>
          </a:p>
        </p:txBody>
      </p:sp>
      <p:sp>
        <p:nvSpPr>
          <p:cNvPr id="9" name="TextBox 11">
            <a:extLst>
              <a:ext uri="{FF2B5EF4-FFF2-40B4-BE49-F238E27FC236}">
                <a16:creationId xmlns:a16="http://schemas.microsoft.com/office/drawing/2014/main" id="{C5CED646-D9CF-487B-83E9-FAB8944805EE}"/>
              </a:ext>
            </a:extLst>
          </p:cNvPr>
          <p:cNvSpPr txBox="1"/>
          <p:nvPr/>
        </p:nvSpPr>
        <p:spPr>
          <a:xfrm>
            <a:off x="8016240" y="609600"/>
            <a:ext cx="609600" cy="609600"/>
          </a:xfrm>
          <a:prstGeom prst="rect">
            <a:avLst/>
          </a:prstGeom>
          <a:noFill/>
        </p:spPr>
        <p:txBody>
          <a:bodyPr wrap="square" lIns="0" tIns="0" rIns="0" bIns="0" rtlCol="0">
            <a:noAutofit/>
          </a:bodyPr>
          <a:lstStyle/>
          <a:p>
            <a:pPr indent="-274320" algn="ctr">
              <a:spcAft>
                <a:spcPts val="900"/>
              </a:spcAft>
            </a:pPr>
            <a:r>
              <a:rPr lang="en-CA" sz="4000" b="1" i="1" dirty="0">
                <a:solidFill>
                  <a:schemeClr val="bg1"/>
                </a:solidFill>
                <a:latin typeface="+mj-lt"/>
              </a:rPr>
              <a:t>3</a:t>
            </a:r>
          </a:p>
        </p:txBody>
      </p:sp>
      <p:cxnSp>
        <p:nvCxnSpPr>
          <p:cNvPr id="10" name="Connecteur droit 9">
            <a:extLst>
              <a:ext uri="{FF2B5EF4-FFF2-40B4-BE49-F238E27FC236}">
                <a16:creationId xmlns:a16="http://schemas.microsoft.com/office/drawing/2014/main" id="{70C5555E-98BA-459A-B0DC-66AFEFEF3D00}"/>
              </a:ext>
            </a:extLst>
          </p:cNvPr>
          <p:cNvCxnSpPr>
            <a:cxnSpLocks/>
          </p:cNvCxnSpPr>
          <p:nvPr/>
        </p:nvCxnSpPr>
        <p:spPr>
          <a:xfrm>
            <a:off x="457200" y="624840"/>
            <a:ext cx="7863840" cy="0"/>
          </a:xfrm>
          <a:prstGeom prst="line">
            <a:avLst/>
          </a:prstGeom>
          <a:ln w="28575">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3" name="Espace réservé du numéro de diapositive 2"/>
          <p:cNvSpPr>
            <a:spLocks noGrp="1"/>
          </p:cNvSpPr>
          <p:nvPr>
            <p:ph type="sldNum" sz="quarter" idx="12"/>
          </p:nvPr>
        </p:nvSpPr>
        <p:spPr/>
        <p:txBody>
          <a:bodyPr/>
          <a:lstStyle/>
          <a:p>
            <a:fld id="{3F1B3DEB-6CA3-4B97-B0DC-BA3F5F40634A}" type="slidenum">
              <a:rPr lang="fr-CA" smtClean="0"/>
              <a:t>30</a:t>
            </a:fld>
            <a:endParaRPr lang="fr-CA"/>
          </a:p>
        </p:txBody>
      </p:sp>
    </p:spTree>
    <p:extLst>
      <p:ext uri="{BB962C8B-B14F-4D97-AF65-F5344CB8AC3E}">
        <p14:creationId xmlns:p14="http://schemas.microsoft.com/office/powerpoint/2010/main" val="240616394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9B4089F-5A6C-46CC-8DAF-010D49B80E5D}"/>
              </a:ext>
            </a:extLst>
          </p:cNvPr>
          <p:cNvSpPr txBox="1">
            <a:spLocks/>
          </p:cNvSpPr>
          <p:nvPr/>
        </p:nvSpPr>
        <p:spPr>
          <a:xfrm>
            <a:off x="533400" y="685800"/>
            <a:ext cx="7363691" cy="685796"/>
          </a:xfrm>
          <a:prstGeom prst="rect">
            <a:avLst/>
          </a:prstGeom>
        </p:spPr>
        <p:txBody>
          <a:bodyPr>
            <a:normAutofit fontScale="975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fr-CA" kern="0" dirty="0">
                <a:solidFill>
                  <a:schemeClr val="accent4"/>
                </a:solidFill>
              </a:rPr>
              <a:t>Exemple 7</a:t>
            </a:r>
            <a:endParaRPr lang="fr-CA" dirty="0">
              <a:solidFill>
                <a:schemeClr val="accent4"/>
              </a:solidFill>
            </a:endParaRPr>
          </a:p>
        </p:txBody>
      </p:sp>
      <p:sp>
        <p:nvSpPr>
          <p:cNvPr id="6" name="ZoneTexte 5">
            <a:extLst>
              <a:ext uri="{FF2B5EF4-FFF2-40B4-BE49-F238E27FC236}">
                <a16:creationId xmlns:a16="http://schemas.microsoft.com/office/drawing/2014/main" id="{469D42E5-1690-484E-9EF5-AAB5F42CF33F}"/>
              </a:ext>
            </a:extLst>
          </p:cNvPr>
          <p:cNvSpPr txBox="1"/>
          <p:nvPr/>
        </p:nvSpPr>
        <p:spPr>
          <a:xfrm>
            <a:off x="533400" y="1624084"/>
            <a:ext cx="8092440" cy="3693319"/>
          </a:xfrm>
          <a:prstGeom prst="rect">
            <a:avLst/>
          </a:prstGeom>
          <a:noFill/>
        </p:spPr>
        <p:txBody>
          <a:bodyPr wrap="square" rtlCol="0">
            <a:spAutoFit/>
          </a:bodyPr>
          <a:lstStyle/>
          <a:p>
            <a:r>
              <a:rPr lang="fr-CA" dirty="0"/>
              <a:t>ABC conclut avec un client un contrat visant la construction d'une pièce de matériel. </a:t>
            </a:r>
          </a:p>
          <a:p>
            <a:endParaRPr lang="fr-CA" dirty="0"/>
          </a:p>
          <a:p>
            <a:r>
              <a:rPr lang="fr-CA" dirty="0"/>
              <a:t>Le calendrier de paiement prévu dans le contrat stipule que le client doit verser, au moment de la passation du contrat, un acompte de 10 % du prix contractuel, effectuer des paiements périodiques tout au long de la période de construction (totalisant 50 % du prix contractuel) et effectuer un versement final de 40 % du prix contractuel lorsque la construction sera achevée et que la pièce de matériel aura passé les tests de performance prescrits. </a:t>
            </a:r>
          </a:p>
          <a:p>
            <a:endParaRPr lang="fr-CA" dirty="0"/>
          </a:p>
          <a:p>
            <a:r>
              <a:rPr lang="fr-CA" dirty="0"/>
              <a:t>Les paiements ne sont pas remboursables, sauf si l'entité n'exécute pas ses obligations comme promis. Si le client résilie le contrat, l'entité ne pourra conserver que les paiements à l'avancement qu'elle a reçus du client. L'entité n'a aucun autre droit à une indemnité de la part du client.</a:t>
            </a:r>
          </a:p>
        </p:txBody>
      </p:sp>
      <p:sp>
        <p:nvSpPr>
          <p:cNvPr id="8" name="Pentagon 10">
            <a:extLst>
              <a:ext uri="{FF2B5EF4-FFF2-40B4-BE49-F238E27FC236}">
                <a16:creationId xmlns:a16="http://schemas.microsoft.com/office/drawing/2014/main" id="{C16D787E-9067-4616-B103-19F18FBD589D}"/>
              </a:ext>
            </a:extLst>
          </p:cNvPr>
          <p:cNvSpPr/>
          <p:nvPr/>
        </p:nvSpPr>
        <p:spPr bwMode="ltGray">
          <a:xfrm rot="5400000">
            <a:off x="7940040" y="685800"/>
            <a:ext cx="762000" cy="609600"/>
          </a:xfrm>
          <a:prstGeom prst="homePlate">
            <a:avLst/>
          </a:prstGeom>
          <a:solidFill>
            <a:schemeClr val="accent4">
              <a:lumMod val="60000"/>
              <a:lumOff val="4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schemeClr val="bg1"/>
              </a:solidFill>
              <a:latin typeface="+mj-lt"/>
            </a:endParaRPr>
          </a:p>
        </p:txBody>
      </p:sp>
      <p:sp>
        <p:nvSpPr>
          <p:cNvPr id="9" name="TextBox 11">
            <a:extLst>
              <a:ext uri="{FF2B5EF4-FFF2-40B4-BE49-F238E27FC236}">
                <a16:creationId xmlns:a16="http://schemas.microsoft.com/office/drawing/2014/main" id="{1C4FE99C-F4E7-46E5-AA98-1157E9D119A9}"/>
              </a:ext>
            </a:extLst>
          </p:cNvPr>
          <p:cNvSpPr txBox="1"/>
          <p:nvPr/>
        </p:nvSpPr>
        <p:spPr>
          <a:xfrm>
            <a:off x="8016240" y="609600"/>
            <a:ext cx="609600" cy="609600"/>
          </a:xfrm>
          <a:prstGeom prst="rect">
            <a:avLst/>
          </a:prstGeom>
          <a:noFill/>
        </p:spPr>
        <p:txBody>
          <a:bodyPr wrap="square" lIns="0" tIns="0" rIns="0" bIns="0" rtlCol="0">
            <a:noAutofit/>
          </a:bodyPr>
          <a:lstStyle/>
          <a:p>
            <a:pPr indent="-274320" algn="ctr">
              <a:spcAft>
                <a:spcPts val="900"/>
              </a:spcAft>
            </a:pPr>
            <a:r>
              <a:rPr lang="en-CA" sz="4000" b="1" i="1" dirty="0">
                <a:solidFill>
                  <a:schemeClr val="bg1"/>
                </a:solidFill>
                <a:latin typeface="+mj-lt"/>
              </a:rPr>
              <a:t>3</a:t>
            </a:r>
          </a:p>
        </p:txBody>
      </p:sp>
      <p:cxnSp>
        <p:nvCxnSpPr>
          <p:cNvPr id="10" name="Connecteur droit 9">
            <a:extLst>
              <a:ext uri="{FF2B5EF4-FFF2-40B4-BE49-F238E27FC236}">
                <a16:creationId xmlns:a16="http://schemas.microsoft.com/office/drawing/2014/main" id="{952351C7-A09A-41C5-8C1E-B03F2E22CCD6}"/>
              </a:ext>
            </a:extLst>
          </p:cNvPr>
          <p:cNvCxnSpPr>
            <a:cxnSpLocks/>
          </p:cNvCxnSpPr>
          <p:nvPr/>
        </p:nvCxnSpPr>
        <p:spPr>
          <a:xfrm>
            <a:off x="457200" y="624840"/>
            <a:ext cx="7863840" cy="0"/>
          </a:xfrm>
          <a:prstGeom prst="line">
            <a:avLst/>
          </a:prstGeom>
          <a:ln w="28575">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3" name="Espace réservé du numéro de diapositive 2"/>
          <p:cNvSpPr>
            <a:spLocks noGrp="1"/>
          </p:cNvSpPr>
          <p:nvPr>
            <p:ph type="sldNum" sz="quarter" idx="12"/>
          </p:nvPr>
        </p:nvSpPr>
        <p:spPr/>
        <p:txBody>
          <a:bodyPr/>
          <a:lstStyle/>
          <a:p>
            <a:fld id="{3F1B3DEB-6CA3-4B97-B0DC-BA3F5F40634A}" type="slidenum">
              <a:rPr lang="fr-CA" smtClean="0"/>
              <a:t>31</a:t>
            </a:fld>
            <a:endParaRPr lang="fr-CA"/>
          </a:p>
        </p:txBody>
      </p:sp>
    </p:spTree>
    <p:extLst>
      <p:ext uri="{BB962C8B-B14F-4D97-AF65-F5344CB8AC3E}">
        <p14:creationId xmlns:p14="http://schemas.microsoft.com/office/powerpoint/2010/main" val="268334825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9B4089F-5A6C-46CC-8DAF-010D49B80E5D}"/>
              </a:ext>
            </a:extLst>
          </p:cNvPr>
          <p:cNvSpPr txBox="1">
            <a:spLocks/>
          </p:cNvSpPr>
          <p:nvPr/>
        </p:nvSpPr>
        <p:spPr>
          <a:xfrm>
            <a:off x="533400" y="685800"/>
            <a:ext cx="7363691" cy="685796"/>
          </a:xfrm>
          <a:prstGeom prst="rect">
            <a:avLst/>
          </a:prstGeom>
        </p:spPr>
        <p:txBody>
          <a:bodyPr>
            <a:normAutofit fontScale="975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fr-CA" kern="0" dirty="0">
                <a:solidFill>
                  <a:schemeClr val="accent4"/>
                </a:solidFill>
              </a:rPr>
              <a:t>Exemple 7 - solution</a:t>
            </a:r>
            <a:endParaRPr lang="fr-CA" dirty="0">
              <a:solidFill>
                <a:schemeClr val="accent4"/>
              </a:solidFill>
            </a:endParaRPr>
          </a:p>
        </p:txBody>
      </p:sp>
      <p:sp>
        <p:nvSpPr>
          <p:cNvPr id="6" name="ZoneTexte 5">
            <a:extLst>
              <a:ext uri="{FF2B5EF4-FFF2-40B4-BE49-F238E27FC236}">
                <a16:creationId xmlns:a16="http://schemas.microsoft.com/office/drawing/2014/main" id="{469D42E5-1690-484E-9EF5-AAB5F42CF33F}"/>
              </a:ext>
            </a:extLst>
          </p:cNvPr>
          <p:cNvSpPr txBox="1"/>
          <p:nvPr/>
        </p:nvSpPr>
        <p:spPr>
          <a:xfrm>
            <a:off x="533400" y="1624084"/>
            <a:ext cx="8092440" cy="3139321"/>
          </a:xfrm>
          <a:prstGeom prst="rect">
            <a:avLst/>
          </a:prstGeom>
          <a:noFill/>
        </p:spPr>
        <p:txBody>
          <a:bodyPr wrap="square" rtlCol="0">
            <a:spAutoFit/>
          </a:bodyPr>
          <a:lstStyle/>
          <a:p>
            <a:r>
              <a:rPr lang="fr-CA" dirty="0"/>
              <a:t>L'obligation de prestation est remplie progressivement </a:t>
            </a:r>
            <a:r>
              <a:rPr lang="fr-CA" u="sng" dirty="0"/>
              <a:t>si l’une </a:t>
            </a:r>
            <a:r>
              <a:rPr lang="fr-CA" dirty="0"/>
              <a:t>des conditions du par 35 est remplie :</a:t>
            </a:r>
          </a:p>
          <a:p>
            <a:pPr marL="338138" indent="-338138">
              <a:buFont typeface="Wingdings" panose="05000000000000000000" pitchFamily="2" charset="2"/>
              <a:buChar char="ü"/>
            </a:pPr>
            <a:r>
              <a:rPr lang="fr-CA" i="1" dirty="0"/>
              <a:t>Le client </a:t>
            </a:r>
            <a:r>
              <a:rPr lang="fr-CA" b="1" i="1" dirty="0"/>
              <a:t>reçoit et consomme simultanément </a:t>
            </a:r>
            <a:r>
              <a:rPr lang="fr-CA" i="1" dirty="0"/>
              <a:t>les avantages procurés par la prestation, au fur et à mesure où celle-ci a lieu.</a:t>
            </a:r>
          </a:p>
          <a:p>
            <a:pPr marL="795338" lvl="1" indent="-338138">
              <a:buFont typeface="Wingdings" panose="05000000000000000000" pitchFamily="2" charset="2"/>
              <a:buChar char="à"/>
            </a:pPr>
            <a:r>
              <a:rPr lang="fr-CA" dirty="0"/>
              <a:t>NON, l’entité pourra profiter des avantages liés à la pièce de matériel lorsque celle-ci sera en sa possession.</a:t>
            </a:r>
          </a:p>
          <a:p>
            <a:pPr marL="338138" lvl="1" indent="-338138">
              <a:buFont typeface="Wingdings" panose="05000000000000000000" pitchFamily="2" charset="2"/>
              <a:buChar char="ü"/>
            </a:pPr>
            <a:r>
              <a:rPr lang="fr-CA" i="1" dirty="0"/>
              <a:t>La prestation crée ou valorise un actif (ex.: des travaux en cours) dont le client obtient le contrôle au fur et à mesure de sa création ou de sa valorisation.</a:t>
            </a:r>
          </a:p>
          <a:p>
            <a:pPr marL="795338" lvl="1" indent="-338138">
              <a:buFont typeface="Wingdings" panose="05000000000000000000" pitchFamily="2" charset="2"/>
              <a:buChar char="à"/>
            </a:pPr>
            <a:r>
              <a:rPr lang="fr-CA" dirty="0"/>
              <a:t>NON, le client ne contrôle pas la pièce tant que celle-ci n’est pas en sa possession.</a:t>
            </a:r>
          </a:p>
        </p:txBody>
      </p:sp>
      <p:sp>
        <p:nvSpPr>
          <p:cNvPr id="8" name="Pentagon 10">
            <a:extLst>
              <a:ext uri="{FF2B5EF4-FFF2-40B4-BE49-F238E27FC236}">
                <a16:creationId xmlns:a16="http://schemas.microsoft.com/office/drawing/2014/main" id="{94012FE0-D862-4162-BE88-DB00254ED441}"/>
              </a:ext>
            </a:extLst>
          </p:cNvPr>
          <p:cNvSpPr/>
          <p:nvPr/>
        </p:nvSpPr>
        <p:spPr bwMode="ltGray">
          <a:xfrm rot="5400000">
            <a:off x="7940040" y="685800"/>
            <a:ext cx="762000" cy="609600"/>
          </a:xfrm>
          <a:prstGeom prst="homePlate">
            <a:avLst/>
          </a:prstGeom>
          <a:solidFill>
            <a:schemeClr val="accent4">
              <a:lumMod val="60000"/>
              <a:lumOff val="4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schemeClr val="bg1"/>
              </a:solidFill>
              <a:latin typeface="+mj-lt"/>
            </a:endParaRPr>
          </a:p>
        </p:txBody>
      </p:sp>
      <p:sp>
        <p:nvSpPr>
          <p:cNvPr id="9" name="TextBox 11">
            <a:extLst>
              <a:ext uri="{FF2B5EF4-FFF2-40B4-BE49-F238E27FC236}">
                <a16:creationId xmlns:a16="http://schemas.microsoft.com/office/drawing/2014/main" id="{C7F67489-1723-4DB8-89D4-4A156C50739D}"/>
              </a:ext>
            </a:extLst>
          </p:cNvPr>
          <p:cNvSpPr txBox="1"/>
          <p:nvPr/>
        </p:nvSpPr>
        <p:spPr>
          <a:xfrm>
            <a:off x="8016240" y="609600"/>
            <a:ext cx="609600" cy="609600"/>
          </a:xfrm>
          <a:prstGeom prst="rect">
            <a:avLst/>
          </a:prstGeom>
          <a:noFill/>
        </p:spPr>
        <p:txBody>
          <a:bodyPr wrap="square" lIns="0" tIns="0" rIns="0" bIns="0" rtlCol="0">
            <a:noAutofit/>
          </a:bodyPr>
          <a:lstStyle/>
          <a:p>
            <a:pPr indent="-274320" algn="ctr">
              <a:spcAft>
                <a:spcPts val="900"/>
              </a:spcAft>
            </a:pPr>
            <a:r>
              <a:rPr lang="en-CA" sz="4000" b="1" i="1" dirty="0">
                <a:solidFill>
                  <a:schemeClr val="bg1"/>
                </a:solidFill>
                <a:latin typeface="+mj-lt"/>
              </a:rPr>
              <a:t>3</a:t>
            </a:r>
          </a:p>
        </p:txBody>
      </p:sp>
      <p:cxnSp>
        <p:nvCxnSpPr>
          <p:cNvPr id="10" name="Connecteur droit 9">
            <a:extLst>
              <a:ext uri="{FF2B5EF4-FFF2-40B4-BE49-F238E27FC236}">
                <a16:creationId xmlns:a16="http://schemas.microsoft.com/office/drawing/2014/main" id="{E1471212-4498-4332-9335-073784334EA9}"/>
              </a:ext>
            </a:extLst>
          </p:cNvPr>
          <p:cNvCxnSpPr>
            <a:cxnSpLocks/>
          </p:cNvCxnSpPr>
          <p:nvPr/>
        </p:nvCxnSpPr>
        <p:spPr>
          <a:xfrm>
            <a:off x="457200" y="624840"/>
            <a:ext cx="7863840" cy="0"/>
          </a:xfrm>
          <a:prstGeom prst="line">
            <a:avLst/>
          </a:prstGeom>
          <a:ln w="28575">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3" name="Espace réservé du numéro de diapositive 2"/>
          <p:cNvSpPr>
            <a:spLocks noGrp="1"/>
          </p:cNvSpPr>
          <p:nvPr>
            <p:ph type="sldNum" sz="quarter" idx="12"/>
          </p:nvPr>
        </p:nvSpPr>
        <p:spPr/>
        <p:txBody>
          <a:bodyPr/>
          <a:lstStyle/>
          <a:p>
            <a:fld id="{3F1B3DEB-6CA3-4B97-B0DC-BA3F5F40634A}" type="slidenum">
              <a:rPr lang="fr-CA" smtClean="0"/>
              <a:t>32</a:t>
            </a:fld>
            <a:endParaRPr lang="fr-CA"/>
          </a:p>
        </p:txBody>
      </p:sp>
    </p:spTree>
    <p:extLst>
      <p:ext uri="{BB962C8B-B14F-4D97-AF65-F5344CB8AC3E}">
        <p14:creationId xmlns:p14="http://schemas.microsoft.com/office/powerpoint/2010/main" val="134298805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9B4089F-5A6C-46CC-8DAF-010D49B80E5D}"/>
              </a:ext>
            </a:extLst>
          </p:cNvPr>
          <p:cNvSpPr txBox="1">
            <a:spLocks/>
          </p:cNvSpPr>
          <p:nvPr/>
        </p:nvSpPr>
        <p:spPr>
          <a:xfrm>
            <a:off x="533400" y="685800"/>
            <a:ext cx="7363691" cy="685796"/>
          </a:xfrm>
          <a:prstGeom prst="rect">
            <a:avLst/>
          </a:prstGeom>
        </p:spPr>
        <p:txBody>
          <a:bodyPr>
            <a:normAutofit fontScale="975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fr-CA" kern="0" dirty="0">
                <a:solidFill>
                  <a:schemeClr val="accent4"/>
                </a:solidFill>
              </a:rPr>
              <a:t>Exemple 7 - SOLUTION</a:t>
            </a:r>
            <a:endParaRPr lang="fr-CA" dirty="0">
              <a:solidFill>
                <a:schemeClr val="accent4"/>
              </a:solidFill>
            </a:endParaRPr>
          </a:p>
        </p:txBody>
      </p:sp>
      <p:sp>
        <p:nvSpPr>
          <p:cNvPr id="6" name="ZoneTexte 5">
            <a:extLst>
              <a:ext uri="{FF2B5EF4-FFF2-40B4-BE49-F238E27FC236}">
                <a16:creationId xmlns:a16="http://schemas.microsoft.com/office/drawing/2014/main" id="{469D42E5-1690-484E-9EF5-AAB5F42CF33F}"/>
              </a:ext>
            </a:extLst>
          </p:cNvPr>
          <p:cNvSpPr txBox="1"/>
          <p:nvPr/>
        </p:nvSpPr>
        <p:spPr>
          <a:xfrm>
            <a:off x="457200" y="1337473"/>
            <a:ext cx="8092440" cy="5355312"/>
          </a:xfrm>
          <a:prstGeom prst="rect">
            <a:avLst/>
          </a:prstGeom>
          <a:noFill/>
        </p:spPr>
        <p:txBody>
          <a:bodyPr wrap="square" rtlCol="0">
            <a:spAutoFit/>
          </a:bodyPr>
          <a:lstStyle/>
          <a:p>
            <a:endParaRPr lang="fr-CA" dirty="0"/>
          </a:p>
          <a:p>
            <a:r>
              <a:rPr lang="fr-CA" dirty="0"/>
              <a:t>L'obligation de prestation est remplie progressivement </a:t>
            </a:r>
            <a:r>
              <a:rPr lang="fr-CA" u="sng" dirty="0"/>
              <a:t>si l’une</a:t>
            </a:r>
            <a:r>
              <a:rPr lang="fr-CA" dirty="0"/>
              <a:t> des conditions du par 35 est remplie (SUITE) :</a:t>
            </a:r>
          </a:p>
          <a:p>
            <a:pPr marL="285750" indent="-285750">
              <a:buFont typeface="Wingdings" panose="05000000000000000000" pitchFamily="2" charset="2"/>
              <a:buChar char="ü"/>
            </a:pPr>
            <a:r>
              <a:rPr lang="fr-CA" i="1" dirty="0"/>
              <a:t>La prestation ne crée </a:t>
            </a:r>
            <a:r>
              <a:rPr lang="fr-CA" b="1" i="1" dirty="0"/>
              <a:t>pas un actif que l’entité pourrait utiliser autrement</a:t>
            </a:r>
            <a:r>
              <a:rPr lang="fr-CA" i="1" dirty="0"/>
              <a:t>, et l’entité a un </a:t>
            </a:r>
            <a:r>
              <a:rPr lang="fr-CA" b="1" i="1" dirty="0"/>
              <a:t>droit exécutoire à un paiement  pour le travail déjà effectué</a:t>
            </a:r>
            <a:r>
              <a:rPr lang="fr-CA" i="1" dirty="0"/>
              <a:t>, s’il y avait résiliation du contrat par le client.</a:t>
            </a:r>
          </a:p>
          <a:p>
            <a:pPr marL="742950" lvl="1" indent="-285750">
              <a:buFont typeface="Wingdings" panose="05000000000000000000" pitchFamily="2" charset="2"/>
              <a:buChar char="à"/>
            </a:pPr>
            <a:r>
              <a:rPr lang="fr-CA" dirty="0"/>
              <a:t>NON, Bien que les paiements effectués par le client ne soient pas remboursables, l'entité ne s'attend pas à ce que le montant cumulatif de ces paiements, en tout temps pendant la durée du contrat, soit au moins égal au montant qui serait requis pour rémunérer l'entité pour la prestation effectuée jusqu'à la date considérée. Il en est ainsi parce qu'à divers moments au cours de la construction, </a:t>
            </a:r>
            <a:r>
              <a:rPr lang="fr-CA" b="1" dirty="0"/>
              <a:t>le montant cumulatif de la contrepartie payée par le client pourrait être inférieur au prix de vente à cette date de la pièce de matériel partiellement achevée</a:t>
            </a:r>
            <a:r>
              <a:rPr lang="fr-CA" dirty="0"/>
              <a:t>. En conséquence, l'entité n'a pas un droit à un paiement au titre de la prestation effectuée jusqu'à la date considérée.</a:t>
            </a:r>
          </a:p>
          <a:p>
            <a:endParaRPr lang="fr-CA" dirty="0"/>
          </a:p>
          <a:p>
            <a:r>
              <a:rPr lang="fr-CA" dirty="0"/>
              <a:t>ABC comptabilise la construction de la pièce de matériel comme une obligation de prestation remplie </a:t>
            </a:r>
            <a:r>
              <a:rPr lang="fr-CA" b="1" dirty="0"/>
              <a:t>à un moment précis</a:t>
            </a:r>
            <a:r>
              <a:rPr lang="fr-CA" dirty="0"/>
              <a:t>.</a:t>
            </a:r>
          </a:p>
        </p:txBody>
      </p:sp>
      <p:sp>
        <p:nvSpPr>
          <p:cNvPr id="8" name="Pentagon 10">
            <a:extLst>
              <a:ext uri="{FF2B5EF4-FFF2-40B4-BE49-F238E27FC236}">
                <a16:creationId xmlns:a16="http://schemas.microsoft.com/office/drawing/2014/main" id="{834FB57E-3E30-4357-819C-79ABD91860D5}"/>
              </a:ext>
            </a:extLst>
          </p:cNvPr>
          <p:cNvSpPr/>
          <p:nvPr/>
        </p:nvSpPr>
        <p:spPr bwMode="ltGray">
          <a:xfrm rot="5400000">
            <a:off x="7940040" y="685800"/>
            <a:ext cx="762000" cy="609600"/>
          </a:xfrm>
          <a:prstGeom prst="homePlate">
            <a:avLst/>
          </a:prstGeom>
          <a:solidFill>
            <a:schemeClr val="accent4">
              <a:lumMod val="60000"/>
              <a:lumOff val="4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schemeClr val="bg1"/>
              </a:solidFill>
              <a:latin typeface="+mj-lt"/>
            </a:endParaRPr>
          </a:p>
        </p:txBody>
      </p:sp>
      <p:sp>
        <p:nvSpPr>
          <p:cNvPr id="9" name="TextBox 11">
            <a:extLst>
              <a:ext uri="{FF2B5EF4-FFF2-40B4-BE49-F238E27FC236}">
                <a16:creationId xmlns:a16="http://schemas.microsoft.com/office/drawing/2014/main" id="{45834AAE-77B2-4805-983D-B41ECCB652B6}"/>
              </a:ext>
            </a:extLst>
          </p:cNvPr>
          <p:cNvSpPr txBox="1"/>
          <p:nvPr/>
        </p:nvSpPr>
        <p:spPr>
          <a:xfrm>
            <a:off x="8016240" y="609600"/>
            <a:ext cx="609600" cy="609600"/>
          </a:xfrm>
          <a:prstGeom prst="rect">
            <a:avLst/>
          </a:prstGeom>
          <a:noFill/>
        </p:spPr>
        <p:txBody>
          <a:bodyPr wrap="square" lIns="0" tIns="0" rIns="0" bIns="0" rtlCol="0">
            <a:noAutofit/>
          </a:bodyPr>
          <a:lstStyle/>
          <a:p>
            <a:pPr indent="-274320" algn="ctr">
              <a:spcAft>
                <a:spcPts val="900"/>
              </a:spcAft>
            </a:pPr>
            <a:r>
              <a:rPr lang="en-CA" sz="4000" b="1" i="1" dirty="0">
                <a:solidFill>
                  <a:schemeClr val="bg1"/>
                </a:solidFill>
                <a:latin typeface="+mj-lt"/>
              </a:rPr>
              <a:t>3</a:t>
            </a:r>
          </a:p>
        </p:txBody>
      </p:sp>
      <p:cxnSp>
        <p:nvCxnSpPr>
          <p:cNvPr id="10" name="Connecteur droit 9">
            <a:extLst>
              <a:ext uri="{FF2B5EF4-FFF2-40B4-BE49-F238E27FC236}">
                <a16:creationId xmlns:a16="http://schemas.microsoft.com/office/drawing/2014/main" id="{ADA63512-4D1E-4D58-B47C-9112816B9B23}"/>
              </a:ext>
            </a:extLst>
          </p:cNvPr>
          <p:cNvCxnSpPr>
            <a:cxnSpLocks/>
          </p:cNvCxnSpPr>
          <p:nvPr/>
        </p:nvCxnSpPr>
        <p:spPr>
          <a:xfrm>
            <a:off x="457200" y="624840"/>
            <a:ext cx="7863840" cy="0"/>
          </a:xfrm>
          <a:prstGeom prst="line">
            <a:avLst/>
          </a:prstGeom>
          <a:ln w="28575">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3" name="Espace réservé du numéro de diapositive 2"/>
          <p:cNvSpPr>
            <a:spLocks noGrp="1"/>
          </p:cNvSpPr>
          <p:nvPr>
            <p:ph type="sldNum" sz="quarter" idx="12"/>
          </p:nvPr>
        </p:nvSpPr>
        <p:spPr/>
        <p:txBody>
          <a:bodyPr/>
          <a:lstStyle/>
          <a:p>
            <a:fld id="{3F1B3DEB-6CA3-4B97-B0DC-BA3F5F40634A}" type="slidenum">
              <a:rPr lang="fr-CA" smtClean="0"/>
              <a:t>33</a:t>
            </a:fld>
            <a:endParaRPr lang="fr-CA"/>
          </a:p>
        </p:txBody>
      </p:sp>
    </p:spTree>
    <p:extLst>
      <p:ext uri="{BB962C8B-B14F-4D97-AF65-F5344CB8AC3E}">
        <p14:creationId xmlns:p14="http://schemas.microsoft.com/office/powerpoint/2010/main" val="261579845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texte 2">
            <a:extLst>
              <a:ext uri="{FF2B5EF4-FFF2-40B4-BE49-F238E27FC236}">
                <a16:creationId xmlns:a16="http://schemas.microsoft.com/office/drawing/2014/main" id="{E47921C4-76E2-42A3-8FC8-A49EBBD3A6E3}"/>
              </a:ext>
            </a:extLst>
          </p:cNvPr>
          <p:cNvSpPr>
            <a:spLocks noGrp="1"/>
          </p:cNvSpPr>
          <p:nvPr>
            <p:ph type="body" idx="1"/>
          </p:nvPr>
        </p:nvSpPr>
        <p:spPr>
          <a:xfrm>
            <a:off x="577124" y="4479635"/>
            <a:ext cx="7989751" cy="533029"/>
          </a:xfrm>
        </p:spPr>
        <p:txBody>
          <a:bodyPr>
            <a:noAutofit/>
          </a:bodyPr>
          <a:lstStyle/>
          <a:p>
            <a:pPr lvl="0" defTabSz="179388">
              <a:spcAft>
                <a:spcPts val="400"/>
              </a:spcAft>
              <a:defRPr/>
            </a:pPr>
            <a:r>
              <a:rPr lang="fr-CA" sz="2400" b="1" kern="0" dirty="0">
                <a:solidFill>
                  <a:schemeClr val="accent5"/>
                </a:solidFill>
              </a:rPr>
              <a:t>Étape 4 – </a:t>
            </a:r>
            <a:r>
              <a:rPr lang="fr-CA" sz="2400" kern="0" dirty="0">
                <a:solidFill>
                  <a:schemeClr val="accent5"/>
                </a:solidFill>
              </a:rPr>
              <a:t>Déterminer le prix de transaction</a:t>
            </a:r>
            <a:endParaRPr lang="fr-CA" sz="1600" kern="0" cap="none" dirty="0">
              <a:solidFill>
                <a:schemeClr val="accent5"/>
              </a:solidFill>
            </a:endParaRPr>
          </a:p>
        </p:txBody>
      </p:sp>
      <p:sp>
        <p:nvSpPr>
          <p:cNvPr id="4" name="Rectangle 3">
            <a:extLst>
              <a:ext uri="{FF2B5EF4-FFF2-40B4-BE49-F238E27FC236}">
                <a16:creationId xmlns:a16="http://schemas.microsoft.com/office/drawing/2014/main" id="{A9602AE5-BA5C-4209-9B05-AFF298F0DFB6}"/>
              </a:ext>
            </a:extLst>
          </p:cNvPr>
          <p:cNvSpPr/>
          <p:nvPr/>
        </p:nvSpPr>
        <p:spPr>
          <a:xfrm>
            <a:off x="434108" y="5141973"/>
            <a:ext cx="8358909" cy="1295772"/>
          </a:xfrm>
          <a:prstGeom prst="rect">
            <a:avLst/>
          </a:prstGeom>
          <a:solidFill>
            <a:schemeClr val="accent5">
              <a:lumMod val="60000"/>
              <a:lumOff val="40000"/>
            </a:schemeClr>
          </a:solidFill>
        </p:spPr>
        <p:style>
          <a:lnRef idx="3">
            <a:schemeClr val="lt1"/>
          </a:lnRef>
          <a:fillRef idx="1">
            <a:schemeClr val="accent2"/>
          </a:fillRef>
          <a:effectRef idx="1">
            <a:schemeClr val="accent2"/>
          </a:effectRef>
          <a:fontRef idx="minor">
            <a:schemeClr val="lt1"/>
          </a:fontRef>
        </p:style>
        <p:txBody>
          <a:bodyPr rtlCol="0" anchor="ctr"/>
          <a:lstStyle/>
          <a:p>
            <a:pPr algn="ctr"/>
            <a:endParaRPr lang="fr-CA"/>
          </a:p>
        </p:txBody>
      </p:sp>
      <p:sp>
        <p:nvSpPr>
          <p:cNvPr id="2" name="Espace réservé du numéro de diapositive 1"/>
          <p:cNvSpPr>
            <a:spLocks noGrp="1"/>
          </p:cNvSpPr>
          <p:nvPr>
            <p:ph type="sldNum" sz="quarter" idx="12"/>
          </p:nvPr>
        </p:nvSpPr>
        <p:spPr/>
        <p:txBody>
          <a:bodyPr/>
          <a:lstStyle/>
          <a:p>
            <a:fld id="{3F1B3DEB-6CA3-4B97-B0DC-BA3F5F40634A}" type="slidenum">
              <a:rPr lang="fr-CA" smtClean="0"/>
              <a:t>34</a:t>
            </a:fld>
            <a:endParaRPr lang="fr-CA"/>
          </a:p>
        </p:txBody>
      </p:sp>
    </p:spTree>
    <p:extLst>
      <p:ext uri="{BB962C8B-B14F-4D97-AF65-F5344CB8AC3E}">
        <p14:creationId xmlns:p14="http://schemas.microsoft.com/office/powerpoint/2010/main" val="95218360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9B4089F-5A6C-46CC-8DAF-010D49B80E5D}"/>
              </a:ext>
            </a:extLst>
          </p:cNvPr>
          <p:cNvSpPr txBox="1">
            <a:spLocks/>
          </p:cNvSpPr>
          <p:nvPr/>
        </p:nvSpPr>
        <p:spPr>
          <a:xfrm>
            <a:off x="533400" y="685800"/>
            <a:ext cx="7363691" cy="685796"/>
          </a:xfrm>
          <a:prstGeom prst="rect">
            <a:avLst/>
          </a:prstGeom>
        </p:spPr>
        <p:txBody>
          <a:bodyPr>
            <a:normAutofit fontScale="975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fr-CA" kern="0" dirty="0">
                <a:solidFill>
                  <a:schemeClr val="accent5"/>
                </a:solidFill>
              </a:rPr>
              <a:t>Prix de la transaction</a:t>
            </a:r>
            <a:endParaRPr lang="fr-CA" dirty="0">
              <a:solidFill>
                <a:schemeClr val="accent5"/>
              </a:solidFill>
            </a:endParaRPr>
          </a:p>
        </p:txBody>
      </p:sp>
      <p:sp>
        <p:nvSpPr>
          <p:cNvPr id="3" name="Pentagon 10">
            <a:extLst>
              <a:ext uri="{FF2B5EF4-FFF2-40B4-BE49-F238E27FC236}">
                <a16:creationId xmlns:a16="http://schemas.microsoft.com/office/drawing/2014/main" id="{86654433-96C7-4E06-9D94-ECF817A8A1EB}"/>
              </a:ext>
            </a:extLst>
          </p:cNvPr>
          <p:cNvSpPr/>
          <p:nvPr/>
        </p:nvSpPr>
        <p:spPr bwMode="ltGray">
          <a:xfrm rot="5400000">
            <a:off x="7940040" y="685800"/>
            <a:ext cx="762000" cy="609600"/>
          </a:xfrm>
          <a:prstGeom prst="homePlate">
            <a:avLst/>
          </a:prstGeom>
          <a:solidFill>
            <a:schemeClr val="accent5">
              <a:lumMod val="60000"/>
              <a:lumOff val="4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schemeClr val="bg1"/>
              </a:solidFill>
              <a:latin typeface="+mj-lt"/>
            </a:endParaRPr>
          </a:p>
        </p:txBody>
      </p:sp>
      <p:sp>
        <p:nvSpPr>
          <p:cNvPr id="4" name="TextBox 11">
            <a:extLst>
              <a:ext uri="{FF2B5EF4-FFF2-40B4-BE49-F238E27FC236}">
                <a16:creationId xmlns:a16="http://schemas.microsoft.com/office/drawing/2014/main" id="{C24D2439-4D12-4D55-B7D7-CE87FB5B3064}"/>
              </a:ext>
            </a:extLst>
          </p:cNvPr>
          <p:cNvSpPr txBox="1"/>
          <p:nvPr/>
        </p:nvSpPr>
        <p:spPr>
          <a:xfrm>
            <a:off x="8016240" y="609600"/>
            <a:ext cx="609600" cy="609600"/>
          </a:xfrm>
          <a:prstGeom prst="rect">
            <a:avLst/>
          </a:prstGeom>
          <a:noFill/>
        </p:spPr>
        <p:txBody>
          <a:bodyPr wrap="square" lIns="0" tIns="0" rIns="0" bIns="0" rtlCol="0">
            <a:noAutofit/>
          </a:bodyPr>
          <a:lstStyle/>
          <a:p>
            <a:pPr indent="-274320" algn="ctr">
              <a:spcAft>
                <a:spcPts val="900"/>
              </a:spcAft>
            </a:pPr>
            <a:r>
              <a:rPr lang="en-CA" sz="4000" b="1" i="1" dirty="0">
                <a:solidFill>
                  <a:schemeClr val="bg1"/>
                </a:solidFill>
                <a:latin typeface="+mj-lt"/>
              </a:rPr>
              <a:t>4</a:t>
            </a:r>
          </a:p>
        </p:txBody>
      </p:sp>
      <p:cxnSp>
        <p:nvCxnSpPr>
          <p:cNvPr id="7" name="Connecteur droit 6">
            <a:extLst>
              <a:ext uri="{FF2B5EF4-FFF2-40B4-BE49-F238E27FC236}">
                <a16:creationId xmlns:a16="http://schemas.microsoft.com/office/drawing/2014/main" id="{03FCF768-570C-44E8-A14F-AB4E83F86B6E}"/>
              </a:ext>
            </a:extLst>
          </p:cNvPr>
          <p:cNvCxnSpPr>
            <a:cxnSpLocks/>
          </p:cNvCxnSpPr>
          <p:nvPr/>
        </p:nvCxnSpPr>
        <p:spPr>
          <a:xfrm>
            <a:off x="457200" y="624840"/>
            <a:ext cx="7863840" cy="0"/>
          </a:xfrm>
          <a:prstGeom prst="line">
            <a:avLst/>
          </a:prstGeom>
          <a:ln w="28575">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9" name="Espace réservé du contenu 2">
            <a:extLst>
              <a:ext uri="{FF2B5EF4-FFF2-40B4-BE49-F238E27FC236}">
                <a16:creationId xmlns:a16="http://schemas.microsoft.com/office/drawing/2014/main" id="{92FB99CD-7840-480A-8AE8-47011B4144F5}"/>
              </a:ext>
            </a:extLst>
          </p:cNvPr>
          <p:cNvSpPr txBox="1">
            <a:spLocks/>
          </p:cNvSpPr>
          <p:nvPr/>
        </p:nvSpPr>
        <p:spPr>
          <a:xfrm>
            <a:off x="457200" y="1558900"/>
            <a:ext cx="8165055" cy="3703320"/>
          </a:xfrm>
          <a:prstGeom prst="rect">
            <a:avLst/>
          </a:prstGeom>
        </p:spPr>
        <p:txBody>
          <a:bodyP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buFont typeface="Wingdings 2" panose="05020102010507070707" pitchFamily="18" charset="2"/>
              <a:buNone/>
            </a:pPr>
            <a:r>
              <a:rPr lang="fr-CA" sz="2000" i="1" dirty="0">
                <a:solidFill>
                  <a:schemeClr val="tx1"/>
                </a:solidFill>
              </a:rPr>
              <a:t>C’est le </a:t>
            </a:r>
            <a:r>
              <a:rPr lang="fr-CA" sz="2000" i="1" u="sng" dirty="0">
                <a:solidFill>
                  <a:schemeClr val="tx1"/>
                </a:solidFill>
              </a:rPr>
              <a:t>montant de contrepartie</a:t>
            </a:r>
            <a:r>
              <a:rPr lang="fr-CA" sz="2000" i="1" dirty="0">
                <a:solidFill>
                  <a:schemeClr val="tx1"/>
                </a:solidFill>
              </a:rPr>
              <a:t> auquel </a:t>
            </a:r>
            <a:r>
              <a:rPr lang="fr-CA" sz="2000" b="1" i="1" dirty="0">
                <a:solidFill>
                  <a:schemeClr val="tx1"/>
                </a:solidFill>
              </a:rPr>
              <a:t>l’entité s’attend à avoir droit</a:t>
            </a:r>
            <a:r>
              <a:rPr lang="fr-CA" sz="2000" i="1" dirty="0">
                <a:solidFill>
                  <a:schemeClr val="tx1"/>
                </a:solidFill>
              </a:rPr>
              <a:t> en échange de la fourniture de biens ou de services promis à un client, à l’exclusion des sommes perçues pour le compte de tiers. </a:t>
            </a:r>
            <a:endParaRPr lang="fr-CA" sz="2000" b="1" i="1" dirty="0">
              <a:solidFill>
                <a:schemeClr val="accent5"/>
              </a:solidFill>
            </a:endParaRPr>
          </a:p>
          <a:p>
            <a:r>
              <a:rPr lang="fr-CA" sz="2000" dirty="0">
                <a:solidFill>
                  <a:schemeClr val="tx1"/>
                </a:solidFill>
              </a:rPr>
              <a:t>Peut être des montants déterminés, des montants variables ou les deux.</a:t>
            </a:r>
          </a:p>
          <a:p>
            <a:r>
              <a:rPr lang="fr-CA" sz="2000" dirty="0">
                <a:solidFill>
                  <a:schemeClr val="tx1"/>
                </a:solidFill>
              </a:rPr>
              <a:t>Pour établir le prix de la transaction, l’entité doit prendre en compte les conditions du contrat et ses pratiques commerciales habituelles.</a:t>
            </a:r>
          </a:p>
          <a:p>
            <a:pPr>
              <a:buFont typeface="Wingdings 2" panose="05020102010507070707" pitchFamily="18" charset="2"/>
              <a:buNone/>
            </a:pPr>
            <a:endParaRPr lang="fr-CA" sz="2000" dirty="0">
              <a:solidFill>
                <a:schemeClr val="tx1"/>
              </a:solidFill>
            </a:endParaRPr>
          </a:p>
        </p:txBody>
      </p:sp>
      <p:sp>
        <p:nvSpPr>
          <p:cNvPr id="11" name="Rectangle 10">
            <a:extLst>
              <a:ext uri="{FF2B5EF4-FFF2-40B4-BE49-F238E27FC236}">
                <a16:creationId xmlns:a16="http://schemas.microsoft.com/office/drawing/2014/main" id="{534BC050-05DC-4530-B66E-3CEB994DFB0B}"/>
              </a:ext>
            </a:extLst>
          </p:cNvPr>
          <p:cNvSpPr/>
          <p:nvPr/>
        </p:nvSpPr>
        <p:spPr>
          <a:xfrm>
            <a:off x="7837195" y="3980961"/>
            <a:ext cx="1227513" cy="38529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sz="1600" b="1" i="1" dirty="0">
                <a:solidFill>
                  <a:schemeClr val="accent5"/>
                </a:solidFill>
              </a:rPr>
              <a:t>IFRS 15.47</a:t>
            </a:r>
          </a:p>
        </p:txBody>
      </p:sp>
      <p:grpSp>
        <p:nvGrpSpPr>
          <p:cNvPr id="13" name="Groupe 12">
            <a:extLst>
              <a:ext uri="{FF2B5EF4-FFF2-40B4-BE49-F238E27FC236}">
                <a16:creationId xmlns:a16="http://schemas.microsoft.com/office/drawing/2014/main" id="{285B15D2-9317-40A2-B4F2-2BBA239C1114}"/>
              </a:ext>
            </a:extLst>
          </p:cNvPr>
          <p:cNvGrpSpPr/>
          <p:nvPr/>
        </p:nvGrpSpPr>
        <p:grpSpPr>
          <a:xfrm>
            <a:off x="2246446" y="5090529"/>
            <a:ext cx="1587460" cy="717982"/>
            <a:chOff x="2645211" y="108"/>
            <a:chExt cx="1587460" cy="717982"/>
          </a:xfrm>
        </p:grpSpPr>
        <p:sp>
          <p:nvSpPr>
            <p:cNvPr id="14" name="Rectangle 13">
              <a:extLst>
                <a:ext uri="{FF2B5EF4-FFF2-40B4-BE49-F238E27FC236}">
                  <a16:creationId xmlns:a16="http://schemas.microsoft.com/office/drawing/2014/main" id="{CDFDFE39-B940-4221-9335-73C12132A350}"/>
                </a:ext>
              </a:extLst>
            </p:cNvPr>
            <p:cNvSpPr/>
            <p:nvPr/>
          </p:nvSpPr>
          <p:spPr>
            <a:xfrm>
              <a:off x="2645211" y="108"/>
              <a:ext cx="1587460" cy="717982"/>
            </a:xfrm>
            <a:prstGeom prst="rect">
              <a:avLst/>
            </a:prstGeom>
            <a:solidFill>
              <a:schemeClr val="accent2"/>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sp>
        <p:sp>
          <p:nvSpPr>
            <p:cNvPr id="15" name="ZoneTexte 14">
              <a:extLst>
                <a:ext uri="{FF2B5EF4-FFF2-40B4-BE49-F238E27FC236}">
                  <a16:creationId xmlns:a16="http://schemas.microsoft.com/office/drawing/2014/main" id="{1234E2A1-2B47-444E-A6C4-C28C2814796C}"/>
                </a:ext>
              </a:extLst>
            </p:cNvPr>
            <p:cNvSpPr txBox="1"/>
            <p:nvPr/>
          </p:nvSpPr>
          <p:spPr>
            <a:xfrm>
              <a:off x="2645211" y="108"/>
              <a:ext cx="1587460" cy="71798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CA" sz="2000" b="0" kern="1200" dirty="0">
                  <a:solidFill>
                    <a:schemeClr val="tx1"/>
                  </a:solidFill>
                  <a:latin typeface="+mj-lt"/>
                </a:rPr>
                <a:t>Variable</a:t>
              </a:r>
            </a:p>
          </p:txBody>
        </p:sp>
      </p:grpSp>
      <p:grpSp>
        <p:nvGrpSpPr>
          <p:cNvPr id="16" name="Groupe 15">
            <a:extLst>
              <a:ext uri="{FF2B5EF4-FFF2-40B4-BE49-F238E27FC236}">
                <a16:creationId xmlns:a16="http://schemas.microsoft.com/office/drawing/2014/main" id="{A9B8AC41-AC77-412A-9963-B0F855427039}"/>
              </a:ext>
            </a:extLst>
          </p:cNvPr>
          <p:cNvGrpSpPr/>
          <p:nvPr/>
        </p:nvGrpSpPr>
        <p:grpSpPr>
          <a:xfrm>
            <a:off x="762992" y="4007267"/>
            <a:ext cx="1587460" cy="717982"/>
            <a:chOff x="1863328" y="836558"/>
            <a:chExt cx="1587460" cy="717982"/>
          </a:xfrm>
        </p:grpSpPr>
        <p:sp>
          <p:nvSpPr>
            <p:cNvPr id="17" name="Rectangle 16">
              <a:extLst>
                <a:ext uri="{FF2B5EF4-FFF2-40B4-BE49-F238E27FC236}">
                  <a16:creationId xmlns:a16="http://schemas.microsoft.com/office/drawing/2014/main" id="{A4A81612-B7BF-44A8-9A52-5BBAC5BE1F7A}"/>
                </a:ext>
              </a:extLst>
            </p:cNvPr>
            <p:cNvSpPr/>
            <p:nvPr/>
          </p:nvSpPr>
          <p:spPr>
            <a:xfrm>
              <a:off x="1863328" y="836558"/>
              <a:ext cx="1587460" cy="717982"/>
            </a:xfrm>
            <a:prstGeom prst="rect">
              <a:avLst/>
            </a:prstGeom>
            <a:solidFill>
              <a:schemeClr val="accent3"/>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sp>
        <p:sp>
          <p:nvSpPr>
            <p:cNvPr id="18" name="ZoneTexte 17">
              <a:extLst>
                <a:ext uri="{FF2B5EF4-FFF2-40B4-BE49-F238E27FC236}">
                  <a16:creationId xmlns:a16="http://schemas.microsoft.com/office/drawing/2014/main" id="{BBD6EA08-8AAD-4AF7-A88B-3BFD811B5A11}"/>
                </a:ext>
              </a:extLst>
            </p:cNvPr>
            <p:cNvSpPr txBox="1"/>
            <p:nvPr/>
          </p:nvSpPr>
          <p:spPr>
            <a:xfrm>
              <a:off x="1863328" y="836558"/>
              <a:ext cx="1587460" cy="71798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CA" sz="2000" b="0" kern="1200" dirty="0">
                  <a:solidFill>
                    <a:schemeClr val="tx1"/>
                  </a:solidFill>
                  <a:latin typeface="+mj-lt"/>
                </a:rPr>
                <a:t>Fixe</a:t>
              </a:r>
            </a:p>
          </p:txBody>
        </p:sp>
      </p:grpSp>
      <p:grpSp>
        <p:nvGrpSpPr>
          <p:cNvPr id="19" name="Groupe 18">
            <a:extLst>
              <a:ext uri="{FF2B5EF4-FFF2-40B4-BE49-F238E27FC236}">
                <a16:creationId xmlns:a16="http://schemas.microsoft.com/office/drawing/2014/main" id="{C1DA3D48-082A-41B1-9E43-9129AA472834}"/>
              </a:ext>
            </a:extLst>
          </p:cNvPr>
          <p:cNvGrpSpPr/>
          <p:nvPr/>
        </p:nvGrpSpPr>
        <p:grpSpPr>
          <a:xfrm>
            <a:off x="3745997" y="4007267"/>
            <a:ext cx="1765836" cy="717982"/>
            <a:chOff x="2645211" y="1673008"/>
            <a:chExt cx="1587460" cy="717982"/>
          </a:xfrm>
        </p:grpSpPr>
        <p:sp>
          <p:nvSpPr>
            <p:cNvPr id="20" name="Rectangle 19">
              <a:extLst>
                <a:ext uri="{FF2B5EF4-FFF2-40B4-BE49-F238E27FC236}">
                  <a16:creationId xmlns:a16="http://schemas.microsoft.com/office/drawing/2014/main" id="{73643DD5-FE42-457C-8824-E68003BA245F}"/>
                </a:ext>
              </a:extLst>
            </p:cNvPr>
            <p:cNvSpPr/>
            <p:nvPr/>
          </p:nvSpPr>
          <p:spPr>
            <a:xfrm>
              <a:off x="2645211" y="1673008"/>
              <a:ext cx="1587460" cy="717982"/>
            </a:xfrm>
            <a:prstGeom prst="rect">
              <a:avLst/>
            </a:prstGeom>
            <a:solidFill>
              <a:schemeClr val="accent4"/>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sp>
        <p:sp>
          <p:nvSpPr>
            <p:cNvPr id="21" name="ZoneTexte 20">
              <a:extLst>
                <a:ext uri="{FF2B5EF4-FFF2-40B4-BE49-F238E27FC236}">
                  <a16:creationId xmlns:a16="http://schemas.microsoft.com/office/drawing/2014/main" id="{9D32C289-1443-4A69-8B6A-01C6FC59D023}"/>
                </a:ext>
              </a:extLst>
            </p:cNvPr>
            <p:cNvSpPr txBox="1"/>
            <p:nvPr/>
          </p:nvSpPr>
          <p:spPr>
            <a:xfrm>
              <a:off x="2645211" y="1673008"/>
              <a:ext cx="1587460" cy="71798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CA" sz="2000" b="0" kern="1200" dirty="0">
                  <a:solidFill>
                    <a:schemeClr val="tx1"/>
                  </a:solidFill>
                  <a:latin typeface="+mj-lt"/>
                </a:rPr>
                <a:t>Financement</a:t>
              </a:r>
            </a:p>
          </p:txBody>
        </p:sp>
      </p:grpSp>
      <p:grpSp>
        <p:nvGrpSpPr>
          <p:cNvPr id="22" name="Groupe 21">
            <a:extLst>
              <a:ext uri="{FF2B5EF4-FFF2-40B4-BE49-F238E27FC236}">
                <a16:creationId xmlns:a16="http://schemas.microsoft.com/office/drawing/2014/main" id="{90389DCE-8158-4037-8EB7-0CA4D90D33A1}"/>
              </a:ext>
            </a:extLst>
          </p:cNvPr>
          <p:cNvGrpSpPr/>
          <p:nvPr/>
        </p:nvGrpSpPr>
        <p:grpSpPr>
          <a:xfrm>
            <a:off x="5258100" y="5090529"/>
            <a:ext cx="1587460" cy="717982"/>
            <a:chOff x="1863328" y="2509458"/>
            <a:chExt cx="1587460" cy="717982"/>
          </a:xfrm>
        </p:grpSpPr>
        <p:sp>
          <p:nvSpPr>
            <p:cNvPr id="23" name="Rectangle 22">
              <a:extLst>
                <a:ext uri="{FF2B5EF4-FFF2-40B4-BE49-F238E27FC236}">
                  <a16:creationId xmlns:a16="http://schemas.microsoft.com/office/drawing/2014/main" id="{E5FF200D-A6C1-4B97-8C19-70D2E55655AD}"/>
                </a:ext>
              </a:extLst>
            </p:cNvPr>
            <p:cNvSpPr/>
            <p:nvPr/>
          </p:nvSpPr>
          <p:spPr>
            <a:xfrm>
              <a:off x="1863328" y="2509458"/>
              <a:ext cx="1587460" cy="717982"/>
            </a:xfrm>
            <a:prstGeom prst="rect">
              <a:avLst/>
            </a:prstGeom>
            <a:solidFill>
              <a:schemeClr val="accent5"/>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sp>
        <p:sp>
          <p:nvSpPr>
            <p:cNvPr id="24" name="ZoneTexte 23">
              <a:extLst>
                <a:ext uri="{FF2B5EF4-FFF2-40B4-BE49-F238E27FC236}">
                  <a16:creationId xmlns:a16="http://schemas.microsoft.com/office/drawing/2014/main" id="{3B5702BD-916E-41E7-B169-2155136E6031}"/>
                </a:ext>
              </a:extLst>
            </p:cNvPr>
            <p:cNvSpPr txBox="1"/>
            <p:nvPr/>
          </p:nvSpPr>
          <p:spPr>
            <a:xfrm>
              <a:off x="1863328" y="2509458"/>
              <a:ext cx="1587460" cy="71798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CA" sz="2000" b="0" kern="1200" dirty="0">
                  <a:solidFill>
                    <a:schemeClr val="tx1"/>
                  </a:solidFill>
                  <a:latin typeface="+mj-lt"/>
                </a:rPr>
                <a:t>Non monétaire</a:t>
              </a:r>
            </a:p>
          </p:txBody>
        </p:sp>
      </p:grpSp>
      <p:grpSp>
        <p:nvGrpSpPr>
          <p:cNvPr id="25" name="Groupe 24">
            <a:extLst>
              <a:ext uri="{FF2B5EF4-FFF2-40B4-BE49-F238E27FC236}">
                <a16:creationId xmlns:a16="http://schemas.microsoft.com/office/drawing/2014/main" id="{92BFA2AF-0C32-4C83-8812-072211F3E666}"/>
              </a:ext>
            </a:extLst>
          </p:cNvPr>
          <p:cNvGrpSpPr/>
          <p:nvPr/>
        </p:nvGrpSpPr>
        <p:grpSpPr>
          <a:xfrm>
            <a:off x="6273314" y="4028225"/>
            <a:ext cx="1587460" cy="717982"/>
            <a:chOff x="2645211" y="3346017"/>
            <a:chExt cx="1587460" cy="717982"/>
          </a:xfrm>
        </p:grpSpPr>
        <p:sp>
          <p:nvSpPr>
            <p:cNvPr id="26" name="Rectangle 25">
              <a:extLst>
                <a:ext uri="{FF2B5EF4-FFF2-40B4-BE49-F238E27FC236}">
                  <a16:creationId xmlns:a16="http://schemas.microsoft.com/office/drawing/2014/main" id="{6A82ABDB-81ED-4328-90F7-154D718ED2E1}"/>
                </a:ext>
              </a:extLst>
            </p:cNvPr>
            <p:cNvSpPr/>
            <p:nvPr/>
          </p:nvSpPr>
          <p:spPr>
            <a:xfrm>
              <a:off x="2645211" y="3346017"/>
              <a:ext cx="1587460" cy="717982"/>
            </a:xfrm>
            <a:prstGeom prst="rect">
              <a:avLst/>
            </a:prstGeom>
            <a:solidFill>
              <a:schemeClr val="accent6"/>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sp>
        <p:sp>
          <p:nvSpPr>
            <p:cNvPr id="27" name="ZoneTexte 26">
              <a:extLst>
                <a:ext uri="{FF2B5EF4-FFF2-40B4-BE49-F238E27FC236}">
                  <a16:creationId xmlns:a16="http://schemas.microsoft.com/office/drawing/2014/main" id="{A677FDA4-C1E7-46E7-8592-282837EAFE2E}"/>
                </a:ext>
              </a:extLst>
            </p:cNvPr>
            <p:cNvSpPr txBox="1"/>
            <p:nvPr/>
          </p:nvSpPr>
          <p:spPr>
            <a:xfrm>
              <a:off x="2645211" y="3346017"/>
              <a:ext cx="1587460" cy="71798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CA" sz="2000" b="0" kern="1200" dirty="0">
                  <a:solidFill>
                    <a:schemeClr val="tx1"/>
                  </a:solidFill>
                  <a:latin typeface="+mj-lt"/>
                </a:rPr>
                <a:t>Paiement au client</a:t>
              </a:r>
            </a:p>
          </p:txBody>
        </p:sp>
      </p:grpSp>
      <p:sp>
        <p:nvSpPr>
          <p:cNvPr id="5" name="Espace réservé du numéro de diapositive 4"/>
          <p:cNvSpPr>
            <a:spLocks noGrp="1"/>
          </p:cNvSpPr>
          <p:nvPr>
            <p:ph type="sldNum" sz="quarter" idx="12"/>
          </p:nvPr>
        </p:nvSpPr>
        <p:spPr/>
        <p:txBody>
          <a:bodyPr/>
          <a:lstStyle/>
          <a:p>
            <a:fld id="{3F1B3DEB-6CA3-4B97-B0DC-BA3F5F40634A}" type="slidenum">
              <a:rPr lang="fr-CA" smtClean="0"/>
              <a:t>35</a:t>
            </a:fld>
            <a:endParaRPr lang="fr-CA"/>
          </a:p>
        </p:txBody>
      </p:sp>
    </p:spTree>
    <p:extLst>
      <p:ext uri="{BB962C8B-B14F-4D97-AF65-F5344CB8AC3E}">
        <p14:creationId xmlns:p14="http://schemas.microsoft.com/office/powerpoint/2010/main" val="100108118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23E4309-924C-463F-8222-C91586E12AC8}"/>
              </a:ext>
            </a:extLst>
          </p:cNvPr>
          <p:cNvSpPr/>
          <p:nvPr/>
        </p:nvSpPr>
        <p:spPr>
          <a:xfrm>
            <a:off x="3135744" y="3843473"/>
            <a:ext cx="3052620" cy="203200"/>
          </a:xfrm>
          <a:prstGeom prst="rect">
            <a:avLst/>
          </a:prstGeom>
          <a:solidFill>
            <a:schemeClr val="accent5">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fr-CA"/>
          </a:p>
        </p:txBody>
      </p:sp>
      <p:sp>
        <p:nvSpPr>
          <p:cNvPr id="6" name="Rectangle 5">
            <a:extLst>
              <a:ext uri="{FF2B5EF4-FFF2-40B4-BE49-F238E27FC236}">
                <a16:creationId xmlns:a16="http://schemas.microsoft.com/office/drawing/2014/main" id="{456EE0AE-2844-4B41-94C8-053AF877A429}"/>
              </a:ext>
            </a:extLst>
          </p:cNvPr>
          <p:cNvSpPr/>
          <p:nvPr/>
        </p:nvSpPr>
        <p:spPr>
          <a:xfrm>
            <a:off x="3057236" y="2780145"/>
            <a:ext cx="1985819" cy="203200"/>
          </a:xfrm>
          <a:prstGeom prst="rect">
            <a:avLst/>
          </a:prstGeom>
          <a:solidFill>
            <a:schemeClr val="accent5">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fr-CA"/>
          </a:p>
        </p:txBody>
      </p:sp>
      <p:sp>
        <p:nvSpPr>
          <p:cNvPr id="2" name="Titre 1">
            <a:extLst>
              <a:ext uri="{FF2B5EF4-FFF2-40B4-BE49-F238E27FC236}">
                <a16:creationId xmlns:a16="http://schemas.microsoft.com/office/drawing/2014/main" id="{29B4089F-5A6C-46CC-8DAF-010D49B80E5D}"/>
              </a:ext>
            </a:extLst>
          </p:cNvPr>
          <p:cNvSpPr txBox="1">
            <a:spLocks/>
          </p:cNvSpPr>
          <p:nvPr/>
        </p:nvSpPr>
        <p:spPr>
          <a:xfrm>
            <a:off x="533400" y="685800"/>
            <a:ext cx="7363691" cy="685796"/>
          </a:xfrm>
          <a:prstGeom prst="rect">
            <a:avLst/>
          </a:prstGeom>
        </p:spPr>
        <p:txBody>
          <a:bodyPr>
            <a:normAutofit fontScale="975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fr-CA" kern="0" dirty="0">
                <a:solidFill>
                  <a:schemeClr val="accent5"/>
                </a:solidFill>
              </a:rPr>
              <a:t>Contrepartie variable</a:t>
            </a:r>
            <a:endParaRPr lang="fr-CA" dirty="0">
              <a:solidFill>
                <a:schemeClr val="accent5"/>
              </a:solidFill>
            </a:endParaRPr>
          </a:p>
        </p:txBody>
      </p:sp>
      <p:sp>
        <p:nvSpPr>
          <p:cNvPr id="3" name="Pentagon 10">
            <a:extLst>
              <a:ext uri="{FF2B5EF4-FFF2-40B4-BE49-F238E27FC236}">
                <a16:creationId xmlns:a16="http://schemas.microsoft.com/office/drawing/2014/main" id="{86654433-96C7-4E06-9D94-ECF817A8A1EB}"/>
              </a:ext>
            </a:extLst>
          </p:cNvPr>
          <p:cNvSpPr/>
          <p:nvPr/>
        </p:nvSpPr>
        <p:spPr bwMode="ltGray">
          <a:xfrm rot="5400000">
            <a:off x="7940040" y="685800"/>
            <a:ext cx="762000" cy="609600"/>
          </a:xfrm>
          <a:prstGeom prst="homePlate">
            <a:avLst/>
          </a:prstGeom>
          <a:solidFill>
            <a:schemeClr val="accent5">
              <a:lumMod val="60000"/>
              <a:lumOff val="4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schemeClr val="bg1"/>
              </a:solidFill>
              <a:latin typeface="+mj-lt"/>
            </a:endParaRPr>
          </a:p>
        </p:txBody>
      </p:sp>
      <p:sp>
        <p:nvSpPr>
          <p:cNvPr id="4" name="TextBox 11">
            <a:extLst>
              <a:ext uri="{FF2B5EF4-FFF2-40B4-BE49-F238E27FC236}">
                <a16:creationId xmlns:a16="http://schemas.microsoft.com/office/drawing/2014/main" id="{C24D2439-4D12-4D55-B7D7-CE87FB5B3064}"/>
              </a:ext>
            </a:extLst>
          </p:cNvPr>
          <p:cNvSpPr txBox="1"/>
          <p:nvPr/>
        </p:nvSpPr>
        <p:spPr>
          <a:xfrm>
            <a:off x="8016240" y="609600"/>
            <a:ext cx="609600" cy="609600"/>
          </a:xfrm>
          <a:prstGeom prst="rect">
            <a:avLst/>
          </a:prstGeom>
          <a:noFill/>
        </p:spPr>
        <p:txBody>
          <a:bodyPr wrap="square" lIns="0" tIns="0" rIns="0" bIns="0" rtlCol="0">
            <a:noAutofit/>
          </a:bodyPr>
          <a:lstStyle/>
          <a:p>
            <a:pPr indent="-274320" algn="ctr">
              <a:spcAft>
                <a:spcPts val="900"/>
              </a:spcAft>
            </a:pPr>
            <a:r>
              <a:rPr lang="en-CA" sz="4000" b="1" i="1" dirty="0">
                <a:solidFill>
                  <a:schemeClr val="bg1"/>
                </a:solidFill>
                <a:latin typeface="+mj-lt"/>
              </a:rPr>
              <a:t>4</a:t>
            </a:r>
          </a:p>
        </p:txBody>
      </p:sp>
      <p:cxnSp>
        <p:nvCxnSpPr>
          <p:cNvPr id="7" name="Connecteur droit 6">
            <a:extLst>
              <a:ext uri="{FF2B5EF4-FFF2-40B4-BE49-F238E27FC236}">
                <a16:creationId xmlns:a16="http://schemas.microsoft.com/office/drawing/2014/main" id="{03FCF768-570C-44E8-A14F-AB4E83F86B6E}"/>
              </a:ext>
            </a:extLst>
          </p:cNvPr>
          <p:cNvCxnSpPr>
            <a:cxnSpLocks/>
          </p:cNvCxnSpPr>
          <p:nvPr/>
        </p:nvCxnSpPr>
        <p:spPr>
          <a:xfrm>
            <a:off x="457200" y="624840"/>
            <a:ext cx="7863840" cy="0"/>
          </a:xfrm>
          <a:prstGeom prst="line">
            <a:avLst/>
          </a:prstGeom>
          <a:ln w="28575">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534BC050-05DC-4530-B66E-3CEB994DFB0B}"/>
              </a:ext>
            </a:extLst>
          </p:cNvPr>
          <p:cNvSpPr/>
          <p:nvPr/>
        </p:nvSpPr>
        <p:spPr>
          <a:xfrm>
            <a:off x="7437582" y="4426832"/>
            <a:ext cx="1227513" cy="38529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sz="1600" b="1" i="1" dirty="0">
                <a:solidFill>
                  <a:schemeClr val="accent5"/>
                </a:solidFill>
              </a:rPr>
              <a:t>IFRS 15.53</a:t>
            </a:r>
          </a:p>
        </p:txBody>
      </p:sp>
      <p:sp>
        <p:nvSpPr>
          <p:cNvPr id="8" name="Espace réservé du contenu 2">
            <a:extLst>
              <a:ext uri="{FF2B5EF4-FFF2-40B4-BE49-F238E27FC236}">
                <a16:creationId xmlns:a16="http://schemas.microsoft.com/office/drawing/2014/main" id="{E7153CFB-0E0E-405B-B4A0-EA771C431F83}"/>
              </a:ext>
            </a:extLst>
          </p:cNvPr>
          <p:cNvSpPr txBox="1">
            <a:spLocks/>
          </p:cNvSpPr>
          <p:nvPr/>
        </p:nvSpPr>
        <p:spPr>
          <a:xfrm>
            <a:off x="533400" y="1280159"/>
            <a:ext cx="8092440" cy="4594152"/>
          </a:xfrm>
          <a:prstGeom prst="rect">
            <a:avLst/>
          </a:prstGeom>
        </p:spPr>
        <p:txBody>
          <a:bodyPr>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None/>
            </a:pPr>
            <a:r>
              <a:rPr lang="fr-CA" sz="2000" dirty="0">
                <a:solidFill>
                  <a:schemeClr val="tx1"/>
                </a:solidFill>
              </a:rPr>
              <a:t>Pour estimer le montant de contrepartie variable, l'entité doit utiliser celle des deux méthodes ci-dessous qui devrait, selon elle, permettre de prédire le plus exactement le montant de contrepartie auquel elle aura droit.</a:t>
            </a:r>
          </a:p>
          <a:p>
            <a:pPr lvl="1"/>
            <a:r>
              <a:rPr lang="fr-CA" sz="2000" dirty="0">
                <a:solidFill>
                  <a:schemeClr val="tx1"/>
                </a:solidFill>
              </a:rPr>
              <a:t>la méthode de </a:t>
            </a:r>
            <a:r>
              <a:rPr lang="fr-CA" sz="2000" b="1" dirty="0">
                <a:solidFill>
                  <a:schemeClr val="tx1"/>
                </a:solidFill>
              </a:rPr>
              <a:t>la valeur attendue:</a:t>
            </a:r>
            <a:r>
              <a:rPr lang="fr-CA" sz="2000" i="1" dirty="0">
                <a:solidFill>
                  <a:schemeClr val="tx1"/>
                </a:solidFill>
              </a:rPr>
              <a:t> </a:t>
            </a:r>
          </a:p>
          <a:p>
            <a:pPr lvl="3"/>
            <a:r>
              <a:rPr lang="fr-CA" sz="1600" dirty="0">
                <a:solidFill>
                  <a:schemeClr val="tx1"/>
                </a:solidFill>
              </a:rPr>
              <a:t>somme des divers montants de contrepartie possibles, pondérés par leur probabilité d’occurrence. </a:t>
            </a:r>
          </a:p>
          <a:p>
            <a:pPr lvl="1"/>
            <a:r>
              <a:rPr lang="fr-CA" sz="2000" dirty="0">
                <a:solidFill>
                  <a:schemeClr val="tx1"/>
                </a:solidFill>
              </a:rPr>
              <a:t>ou la méthode du </a:t>
            </a:r>
            <a:r>
              <a:rPr lang="fr-CA" sz="2000" b="1" dirty="0">
                <a:solidFill>
                  <a:schemeClr val="tx1"/>
                </a:solidFill>
              </a:rPr>
              <a:t>montant le plus probable</a:t>
            </a:r>
            <a:r>
              <a:rPr lang="fr-CA" sz="2000" dirty="0">
                <a:solidFill>
                  <a:schemeClr val="tx1"/>
                </a:solidFill>
              </a:rPr>
              <a:t>:</a:t>
            </a:r>
            <a:r>
              <a:rPr lang="fr-CA" sz="2000" i="1" dirty="0">
                <a:solidFill>
                  <a:schemeClr val="tx1"/>
                </a:solidFill>
              </a:rPr>
              <a:t> </a:t>
            </a:r>
          </a:p>
          <a:p>
            <a:pPr lvl="3"/>
            <a:r>
              <a:rPr lang="fr-CA" sz="1600" dirty="0">
                <a:solidFill>
                  <a:schemeClr val="tx1"/>
                </a:solidFill>
              </a:rPr>
              <a:t>celui dont la probabilité d’occurrence est la plus élevée parmi les montants de contrepartie possibles </a:t>
            </a:r>
          </a:p>
          <a:p>
            <a:pPr>
              <a:buFont typeface="Wingdings 2" panose="05020102010507070707" pitchFamily="18" charset="2"/>
              <a:buNone/>
            </a:pPr>
            <a:endParaRPr lang="fr-CA" sz="2000" dirty="0">
              <a:solidFill>
                <a:schemeClr val="tx1"/>
              </a:solidFill>
            </a:endParaRPr>
          </a:p>
        </p:txBody>
      </p:sp>
      <p:sp>
        <p:nvSpPr>
          <p:cNvPr id="5" name="Rectangle 4">
            <a:extLst>
              <a:ext uri="{FF2B5EF4-FFF2-40B4-BE49-F238E27FC236}">
                <a16:creationId xmlns:a16="http://schemas.microsoft.com/office/drawing/2014/main" id="{3E5D945E-3B30-43E6-A3D9-DDDAE46A3722}"/>
              </a:ext>
            </a:extLst>
          </p:cNvPr>
          <p:cNvSpPr/>
          <p:nvPr/>
        </p:nvSpPr>
        <p:spPr>
          <a:xfrm>
            <a:off x="1627909" y="5110002"/>
            <a:ext cx="5809673" cy="1062182"/>
          </a:xfrm>
          <a:prstGeom prst="rect">
            <a:avLst/>
          </a:prstGeom>
          <a:solidFill>
            <a:schemeClr val="accent5">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fr-CA" dirty="0">
                <a:solidFill>
                  <a:schemeClr val="tx1"/>
                </a:solidFill>
              </a:rPr>
              <a:t>rabais, remises, remboursements, retours, concessions sur le prix, d'incitations, primes de performance, pénalités, …</a:t>
            </a:r>
          </a:p>
        </p:txBody>
      </p:sp>
      <p:sp>
        <p:nvSpPr>
          <p:cNvPr id="9" name="Espace réservé du numéro de diapositive 8"/>
          <p:cNvSpPr>
            <a:spLocks noGrp="1"/>
          </p:cNvSpPr>
          <p:nvPr>
            <p:ph type="sldNum" sz="quarter" idx="12"/>
          </p:nvPr>
        </p:nvSpPr>
        <p:spPr/>
        <p:txBody>
          <a:bodyPr/>
          <a:lstStyle/>
          <a:p>
            <a:fld id="{3F1B3DEB-6CA3-4B97-B0DC-BA3F5F40634A}" type="slidenum">
              <a:rPr lang="fr-CA" smtClean="0"/>
              <a:t>36</a:t>
            </a:fld>
            <a:endParaRPr lang="fr-CA"/>
          </a:p>
        </p:txBody>
      </p:sp>
    </p:spTree>
    <p:extLst>
      <p:ext uri="{BB962C8B-B14F-4D97-AF65-F5344CB8AC3E}">
        <p14:creationId xmlns:p14="http://schemas.microsoft.com/office/powerpoint/2010/main" val="162541972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9B4089F-5A6C-46CC-8DAF-010D49B80E5D}"/>
              </a:ext>
            </a:extLst>
          </p:cNvPr>
          <p:cNvSpPr txBox="1">
            <a:spLocks/>
          </p:cNvSpPr>
          <p:nvPr/>
        </p:nvSpPr>
        <p:spPr>
          <a:xfrm>
            <a:off x="533400" y="685800"/>
            <a:ext cx="7363691" cy="685796"/>
          </a:xfrm>
          <a:prstGeom prst="rect">
            <a:avLst/>
          </a:prstGeom>
        </p:spPr>
        <p:txBody>
          <a:bodyPr>
            <a:noAutofit/>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fr-CA" sz="2700" kern="0" dirty="0">
                <a:solidFill>
                  <a:schemeClr val="accent5"/>
                </a:solidFill>
              </a:rPr>
              <a:t>Limitation des estimations de Contrepartie variable</a:t>
            </a:r>
            <a:endParaRPr lang="fr-CA" sz="2700" dirty="0">
              <a:solidFill>
                <a:schemeClr val="accent5"/>
              </a:solidFill>
            </a:endParaRPr>
          </a:p>
        </p:txBody>
      </p:sp>
      <p:sp>
        <p:nvSpPr>
          <p:cNvPr id="3" name="Pentagon 10">
            <a:extLst>
              <a:ext uri="{FF2B5EF4-FFF2-40B4-BE49-F238E27FC236}">
                <a16:creationId xmlns:a16="http://schemas.microsoft.com/office/drawing/2014/main" id="{86654433-96C7-4E06-9D94-ECF817A8A1EB}"/>
              </a:ext>
            </a:extLst>
          </p:cNvPr>
          <p:cNvSpPr/>
          <p:nvPr/>
        </p:nvSpPr>
        <p:spPr bwMode="ltGray">
          <a:xfrm rot="5400000">
            <a:off x="7940040" y="685800"/>
            <a:ext cx="762000" cy="609600"/>
          </a:xfrm>
          <a:prstGeom prst="homePlate">
            <a:avLst/>
          </a:prstGeom>
          <a:solidFill>
            <a:schemeClr val="accent5">
              <a:lumMod val="60000"/>
              <a:lumOff val="4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schemeClr val="bg1"/>
              </a:solidFill>
              <a:latin typeface="+mj-lt"/>
            </a:endParaRPr>
          </a:p>
        </p:txBody>
      </p:sp>
      <p:sp>
        <p:nvSpPr>
          <p:cNvPr id="4" name="TextBox 11">
            <a:extLst>
              <a:ext uri="{FF2B5EF4-FFF2-40B4-BE49-F238E27FC236}">
                <a16:creationId xmlns:a16="http://schemas.microsoft.com/office/drawing/2014/main" id="{C24D2439-4D12-4D55-B7D7-CE87FB5B3064}"/>
              </a:ext>
            </a:extLst>
          </p:cNvPr>
          <p:cNvSpPr txBox="1"/>
          <p:nvPr/>
        </p:nvSpPr>
        <p:spPr>
          <a:xfrm>
            <a:off x="8016240" y="609600"/>
            <a:ext cx="609600" cy="609600"/>
          </a:xfrm>
          <a:prstGeom prst="rect">
            <a:avLst/>
          </a:prstGeom>
          <a:noFill/>
        </p:spPr>
        <p:txBody>
          <a:bodyPr wrap="square" lIns="0" tIns="0" rIns="0" bIns="0" rtlCol="0">
            <a:noAutofit/>
          </a:bodyPr>
          <a:lstStyle/>
          <a:p>
            <a:pPr indent="-274320" algn="ctr">
              <a:spcAft>
                <a:spcPts val="900"/>
              </a:spcAft>
            </a:pPr>
            <a:r>
              <a:rPr lang="en-CA" sz="4000" b="1" i="1" dirty="0">
                <a:solidFill>
                  <a:schemeClr val="bg1"/>
                </a:solidFill>
                <a:latin typeface="+mj-lt"/>
              </a:rPr>
              <a:t>4</a:t>
            </a:r>
          </a:p>
        </p:txBody>
      </p:sp>
      <p:cxnSp>
        <p:nvCxnSpPr>
          <p:cNvPr id="7" name="Connecteur droit 6">
            <a:extLst>
              <a:ext uri="{FF2B5EF4-FFF2-40B4-BE49-F238E27FC236}">
                <a16:creationId xmlns:a16="http://schemas.microsoft.com/office/drawing/2014/main" id="{03FCF768-570C-44E8-A14F-AB4E83F86B6E}"/>
              </a:ext>
            </a:extLst>
          </p:cNvPr>
          <p:cNvCxnSpPr>
            <a:cxnSpLocks/>
          </p:cNvCxnSpPr>
          <p:nvPr/>
        </p:nvCxnSpPr>
        <p:spPr>
          <a:xfrm>
            <a:off x="457200" y="624840"/>
            <a:ext cx="7863840" cy="0"/>
          </a:xfrm>
          <a:prstGeom prst="line">
            <a:avLst/>
          </a:prstGeom>
          <a:ln w="28575">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534BC050-05DC-4530-B66E-3CEB994DFB0B}"/>
              </a:ext>
            </a:extLst>
          </p:cNvPr>
          <p:cNvSpPr/>
          <p:nvPr/>
        </p:nvSpPr>
        <p:spPr>
          <a:xfrm>
            <a:off x="7481434" y="3118700"/>
            <a:ext cx="1227513" cy="38529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sz="1600" b="1" i="1" dirty="0">
                <a:solidFill>
                  <a:schemeClr val="accent5"/>
                </a:solidFill>
              </a:rPr>
              <a:t>IFRS 15.56</a:t>
            </a:r>
          </a:p>
        </p:txBody>
      </p:sp>
      <p:sp>
        <p:nvSpPr>
          <p:cNvPr id="9" name="ZoneTexte 8">
            <a:extLst>
              <a:ext uri="{FF2B5EF4-FFF2-40B4-BE49-F238E27FC236}">
                <a16:creationId xmlns:a16="http://schemas.microsoft.com/office/drawing/2014/main" id="{4D674A5A-9340-4643-B874-63EAD85A38D8}"/>
              </a:ext>
            </a:extLst>
          </p:cNvPr>
          <p:cNvSpPr txBox="1"/>
          <p:nvPr/>
        </p:nvSpPr>
        <p:spPr>
          <a:xfrm>
            <a:off x="637309" y="1618290"/>
            <a:ext cx="7933635" cy="1786746"/>
          </a:xfrm>
          <a:prstGeom prst="rect">
            <a:avLst/>
          </a:prstGeom>
          <a:noFill/>
        </p:spPr>
        <p:txBody>
          <a:bodyPr wrap="square" rtlCol="0">
            <a:spAutoFit/>
          </a:bodyPr>
          <a:lstStyle/>
          <a:p>
            <a:r>
              <a:rPr lang="fr-CA" dirty="0"/>
              <a:t>L'entité doit inclure dans le prix de transaction tout ou partie du montant de contrepartie variable estimé dans la seule mesure où </a:t>
            </a:r>
            <a:r>
              <a:rPr lang="fr-CA" b="1" dirty="0"/>
              <a:t>il est hautement probable</a:t>
            </a:r>
            <a:r>
              <a:rPr lang="fr-CA" dirty="0"/>
              <a:t> que le dénouement ultérieur de l'incertitude relative à la contrepartie variable </a:t>
            </a:r>
            <a:r>
              <a:rPr lang="fr-CA" b="1" dirty="0"/>
              <a:t>ne donnera pas lieu à un ajustement à la baisse important du montant cumulatif des produits des activités ordinaires comptabilisé.</a:t>
            </a:r>
          </a:p>
        </p:txBody>
      </p:sp>
      <p:sp>
        <p:nvSpPr>
          <p:cNvPr id="21" name="Rectangle 20">
            <a:extLst>
              <a:ext uri="{FF2B5EF4-FFF2-40B4-BE49-F238E27FC236}">
                <a16:creationId xmlns:a16="http://schemas.microsoft.com/office/drawing/2014/main" id="{5A572CC4-C365-407C-9B42-443830309C75}"/>
              </a:ext>
            </a:extLst>
          </p:cNvPr>
          <p:cNvSpPr/>
          <p:nvPr/>
        </p:nvSpPr>
        <p:spPr>
          <a:xfrm>
            <a:off x="753456" y="3620160"/>
            <a:ext cx="1828800" cy="2117898"/>
          </a:xfrm>
          <a:prstGeom prst="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fr-CA" dirty="0">
                <a:solidFill>
                  <a:schemeClr val="tx1"/>
                </a:solidFill>
              </a:rPr>
              <a:t>L’incertitude sera levée dans une longue période</a:t>
            </a:r>
          </a:p>
        </p:txBody>
      </p:sp>
      <p:sp>
        <p:nvSpPr>
          <p:cNvPr id="26" name="Rectangle 25">
            <a:extLst>
              <a:ext uri="{FF2B5EF4-FFF2-40B4-BE49-F238E27FC236}">
                <a16:creationId xmlns:a16="http://schemas.microsoft.com/office/drawing/2014/main" id="{6749044C-D14E-4B5B-95CC-76BA980637A3}"/>
              </a:ext>
            </a:extLst>
          </p:cNvPr>
          <p:cNvSpPr/>
          <p:nvPr/>
        </p:nvSpPr>
        <p:spPr>
          <a:xfrm>
            <a:off x="2761326" y="3620160"/>
            <a:ext cx="1828800" cy="2117899"/>
          </a:xfrm>
          <a:prstGeom prst="rect">
            <a:avLst/>
          </a:prstGeom>
          <a:solidFill>
            <a:schemeClr val="accent4">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fr-CA" dirty="0">
                <a:solidFill>
                  <a:schemeClr val="tx1"/>
                </a:solidFill>
              </a:rPr>
              <a:t>Expérience avec des contrats similaires</a:t>
            </a:r>
          </a:p>
        </p:txBody>
      </p:sp>
      <p:sp>
        <p:nvSpPr>
          <p:cNvPr id="27" name="Rectangle 26">
            <a:extLst>
              <a:ext uri="{FF2B5EF4-FFF2-40B4-BE49-F238E27FC236}">
                <a16:creationId xmlns:a16="http://schemas.microsoft.com/office/drawing/2014/main" id="{E53B8CA3-9877-436D-89C3-37D463D86B8A}"/>
              </a:ext>
            </a:extLst>
          </p:cNvPr>
          <p:cNvSpPr/>
          <p:nvPr/>
        </p:nvSpPr>
        <p:spPr>
          <a:xfrm>
            <a:off x="4690347" y="3651731"/>
            <a:ext cx="1828800" cy="2108925"/>
          </a:xfrm>
          <a:prstGeom prst="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fr-CA" dirty="0">
                <a:solidFill>
                  <a:schemeClr val="tx1"/>
                </a:solidFill>
              </a:rPr>
              <a:t>Sensible à des facteurs qui échappent au contrôle de l’entité</a:t>
            </a:r>
          </a:p>
        </p:txBody>
      </p:sp>
      <p:sp>
        <p:nvSpPr>
          <p:cNvPr id="28" name="Rectangle 27">
            <a:extLst>
              <a:ext uri="{FF2B5EF4-FFF2-40B4-BE49-F238E27FC236}">
                <a16:creationId xmlns:a16="http://schemas.microsoft.com/office/drawing/2014/main" id="{266123CD-38CF-4A35-87CA-487D538B87AF}"/>
              </a:ext>
            </a:extLst>
          </p:cNvPr>
          <p:cNvSpPr/>
          <p:nvPr/>
        </p:nvSpPr>
        <p:spPr>
          <a:xfrm>
            <a:off x="6619368" y="3620160"/>
            <a:ext cx="1828800" cy="2108925"/>
          </a:xfrm>
          <a:prstGeom prst="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fr-CA" dirty="0">
                <a:solidFill>
                  <a:schemeClr val="tx1"/>
                </a:solidFill>
              </a:rPr>
              <a:t>Nombre de montants possible et fourchette de contrepartie possible large</a:t>
            </a:r>
          </a:p>
        </p:txBody>
      </p:sp>
      <p:sp>
        <p:nvSpPr>
          <p:cNvPr id="5" name="Espace réservé du numéro de diapositive 4"/>
          <p:cNvSpPr>
            <a:spLocks noGrp="1"/>
          </p:cNvSpPr>
          <p:nvPr>
            <p:ph type="sldNum" sz="quarter" idx="12"/>
          </p:nvPr>
        </p:nvSpPr>
        <p:spPr/>
        <p:txBody>
          <a:bodyPr/>
          <a:lstStyle/>
          <a:p>
            <a:fld id="{3F1B3DEB-6CA3-4B97-B0DC-BA3F5F40634A}" type="slidenum">
              <a:rPr lang="fr-CA" smtClean="0"/>
              <a:t>37</a:t>
            </a:fld>
            <a:endParaRPr lang="fr-CA"/>
          </a:p>
        </p:txBody>
      </p:sp>
    </p:spTree>
    <p:extLst>
      <p:ext uri="{BB962C8B-B14F-4D97-AF65-F5344CB8AC3E}">
        <p14:creationId xmlns:p14="http://schemas.microsoft.com/office/powerpoint/2010/main" val="391314660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9B4089F-5A6C-46CC-8DAF-010D49B80E5D}"/>
              </a:ext>
            </a:extLst>
          </p:cNvPr>
          <p:cNvSpPr txBox="1">
            <a:spLocks/>
          </p:cNvSpPr>
          <p:nvPr/>
        </p:nvSpPr>
        <p:spPr>
          <a:xfrm>
            <a:off x="533400" y="685800"/>
            <a:ext cx="7363691" cy="685796"/>
          </a:xfrm>
          <a:prstGeom prst="rect">
            <a:avLst/>
          </a:prstGeom>
        </p:spPr>
        <p:txBody>
          <a:bodyPr>
            <a:normAutofit fontScale="975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fr-CA" kern="0" dirty="0">
                <a:solidFill>
                  <a:schemeClr val="accent5"/>
                </a:solidFill>
              </a:rPr>
              <a:t>Exemple 8</a:t>
            </a:r>
            <a:endParaRPr lang="fr-CA" dirty="0">
              <a:solidFill>
                <a:schemeClr val="accent5"/>
              </a:solidFill>
            </a:endParaRPr>
          </a:p>
        </p:txBody>
      </p:sp>
      <p:sp>
        <p:nvSpPr>
          <p:cNvPr id="3" name="Pentagon 10">
            <a:extLst>
              <a:ext uri="{FF2B5EF4-FFF2-40B4-BE49-F238E27FC236}">
                <a16:creationId xmlns:a16="http://schemas.microsoft.com/office/drawing/2014/main" id="{86654433-96C7-4E06-9D94-ECF817A8A1EB}"/>
              </a:ext>
            </a:extLst>
          </p:cNvPr>
          <p:cNvSpPr/>
          <p:nvPr/>
        </p:nvSpPr>
        <p:spPr bwMode="ltGray">
          <a:xfrm rot="5400000">
            <a:off x="7940040" y="685800"/>
            <a:ext cx="762000" cy="609600"/>
          </a:xfrm>
          <a:prstGeom prst="homePlate">
            <a:avLst/>
          </a:prstGeom>
          <a:solidFill>
            <a:schemeClr val="accent5">
              <a:lumMod val="60000"/>
              <a:lumOff val="4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schemeClr val="bg1"/>
              </a:solidFill>
              <a:latin typeface="+mj-lt"/>
            </a:endParaRPr>
          </a:p>
        </p:txBody>
      </p:sp>
      <p:sp>
        <p:nvSpPr>
          <p:cNvPr id="4" name="TextBox 11">
            <a:extLst>
              <a:ext uri="{FF2B5EF4-FFF2-40B4-BE49-F238E27FC236}">
                <a16:creationId xmlns:a16="http://schemas.microsoft.com/office/drawing/2014/main" id="{C24D2439-4D12-4D55-B7D7-CE87FB5B3064}"/>
              </a:ext>
            </a:extLst>
          </p:cNvPr>
          <p:cNvSpPr txBox="1"/>
          <p:nvPr/>
        </p:nvSpPr>
        <p:spPr>
          <a:xfrm>
            <a:off x="8016240" y="609600"/>
            <a:ext cx="609600" cy="609600"/>
          </a:xfrm>
          <a:prstGeom prst="rect">
            <a:avLst/>
          </a:prstGeom>
          <a:noFill/>
        </p:spPr>
        <p:txBody>
          <a:bodyPr wrap="square" lIns="0" tIns="0" rIns="0" bIns="0" rtlCol="0">
            <a:noAutofit/>
          </a:bodyPr>
          <a:lstStyle/>
          <a:p>
            <a:pPr indent="-274320" algn="ctr">
              <a:spcAft>
                <a:spcPts val="900"/>
              </a:spcAft>
            </a:pPr>
            <a:r>
              <a:rPr lang="en-CA" sz="4000" b="1" i="1" dirty="0">
                <a:solidFill>
                  <a:schemeClr val="bg1"/>
                </a:solidFill>
                <a:latin typeface="+mj-lt"/>
              </a:rPr>
              <a:t>4</a:t>
            </a:r>
          </a:p>
        </p:txBody>
      </p:sp>
      <p:cxnSp>
        <p:nvCxnSpPr>
          <p:cNvPr id="7" name="Connecteur droit 6">
            <a:extLst>
              <a:ext uri="{FF2B5EF4-FFF2-40B4-BE49-F238E27FC236}">
                <a16:creationId xmlns:a16="http://schemas.microsoft.com/office/drawing/2014/main" id="{03FCF768-570C-44E8-A14F-AB4E83F86B6E}"/>
              </a:ext>
            </a:extLst>
          </p:cNvPr>
          <p:cNvCxnSpPr>
            <a:cxnSpLocks/>
          </p:cNvCxnSpPr>
          <p:nvPr/>
        </p:nvCxnSpPr>
        <p:spPr>
          <a:xfrm>
            <a:off x="457200" y="624840"/>
            <a:ext cx="7863840" cy="0"/>
          </a:xfrm>
          <a:prstGeom prst="line">
            <a:avLst/>
          </a:prstGeom>
          <a:ln w="28575">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6" name="ZoneTexte 5">
            <a:extLst>
              <a:ext uri="{FF2B5EF4-FFF2-40B4-BE49-F238E27FC236}">
                <a16:creationId xmlns:a16="http://schemas.microsoft.com/office/drawing/2014/main" id="{50481375-1E15-4219-B0C7-368411CD7913}"/>
              </a:ext>
            </a:extLst>
          </p:cNvPr>
          <p:cNvSpPr txBox="1"/>
          <p:nvPr/>
        </p:nvSpPr>
        <p:spPr>
          <a:xfrm>
            <a:off x="518160" y="1658199"/>
            <a:ext cx="8092440" cy="2862322"/>
          </a:xfrm>
          <a:prstGeom prst="rect">
            <a:avLst/>
          </a:prstGeom>
          <a:noFill/>
        </p:spPr>
        <p:txBody>
          <a:bodyPr wrap="square" rtlCol="0">
            <a:spAutoFit/>
          </a:bodyPr>
          <a:lstStyle/>
          <a:p>
            <a:r>
              <a:rPr lang="fr-CA" dirty="0"/>
              <a:t>ABC conclut un contrat avec un client en vue de lui fournir des services de gestion d'actifs pendant une période de cinq ans. </a:t>
            </a:r>
          </a:p>
          <a:p>
            <a:endParaRPr lang="fr-CA" dirty="0"/>
          </a:p>
          <a:p>
            <a:r>
              <a:rPr lang="fr-CA" dirty="0"/>
              <a:t>L'entité touche des honoraires fixes de gestion trimestriels. Elle touche également des honoraires incitatifs fondés sur la performance représentant 20% de l'excédent du rendement du fonds sur le rendement d'un indice de marché observable sur la période de cinq ans. </a:t>
            </a:r>
          </a:p>
          <a:p>
            <a:endParaRPr lang="fr-CA" dirty="0"/>
          </a:p>
          <a:p>
            <a:r>
              <a:rPr lang="fr-CA" dirty="0"/>
              <a:t>En conséquence, les honoraires fondés sur la performance prévus dans le contrat sont considérés comme une contrepartie variable.</a:t>
            </a:r>
          </a:p>
        </p:txBody>
      </p:sp>
      <p:sp>
        <p:nvSpPr>
          <p:cNvPr id="5" name="Espace réservé du numéro de diapositive 4"/>
          <p:cNvSpPr>
            <a:spLocks noGrp="1"/>
          </p:cNvSpPr>
          <p:nvPr>
            <p:ph type="sldNum" sz="quarter" idx="12"/>
          </p:nvPr>
        </p:nvSpPr>
        <p:spPr/>
        <p:txBody>
          <a:bodyPr/>
          <a:lstStyle/>
          <a:p>
            <a:fld id="{3F1B3DEB-6CA3-4B97-B0DC-BA3F5F40634A}" type="slidenum">
              <a:rPr lang="fr-CA" smtClean="0"/>
              <a:t>38</a:t>
            </a:fld>
            <a:endParaRPr lang="fr-CA"/>
          </a:p>
        </p:txBody>
      </p:sp>
      <p:sp>
        <p:nvSpPr>
          <p:cNvPr id="8" name="ZoneTexte 7"/>
          <p:cNvSpPr txBox="1"/>
          <p:nvPr/>
        </p:nvSpPr>
        <p:spPr>
          <a:xfrm>
            <a:off x="533400" y="5469147"/>
            <a:ext cx="8037544" cy="923330"/>
          </a:xfrm>
          <a:prstGeom prst="rect">
            <a:avLst/>
          </a:prstGeom>
          <a:noFill/>
        </p:spPr>
        <p:txBody>
          <a:bodyPr wrap="square" rtlCol="0">
            <a:spAutoFit/>
          </a:bodyPr>
          <a:lstStyle/>
          <a:p>
            <a:r>
              <a:rPr lang="fr-CA" i="1" dirty="0"/>
              <a:t>L'entité comptabilise les services comme une seule et même obligation de prestation, car elle fournit une série de services distincts qui sont essentiellement les mêmes et qui sont fournis au même rythme. </a:t>
            </a:r>
          </a:p>
        </p:txBody>
      </p:sp>
    </p:spTree>
    <p:extLst>
      <p:ext uri="{BB962C8B-B14F-4D97-AF65-F5344CB8AC3E}">
        <p14:creationId xmlns:p14="http://schemas.microsoft.com/office/powerpoint/2010/main" val="293807377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9B4089F-5A6C-46CC-8DAF-010D49B80E5D}"/>
              </a:ext>
            </a:extLst>
          </p:cNvPr>
          <p:cNvSpPr txBox="1">
            <a:spLocks/>
          </p:cNvSpPr>
          <p:nvPr/>
        </p:nvSpPr>
        <p:spPr>
          <a:xfrm>
            <a:off x="533400" y="685800"/>
            <a:ext cx="7363691" cy="533400"/>
          </a:xfrm>
          <a:prstGeom prst="rect">
            <a:avLst/>
          </a:prstGeom>
        </p:spPr>
        <p:txBody>
          <a:bodyPr>
            <a:normAutofit fontScale="975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fr-CA" kern="0" dirty="0">
                <a:solidFill>
                  <a:schemeClr val="accent5"/>
                </a:solidFill>
              </a:rPr>
              <a:t>Exemple 8 - solution</a:t>
            </a:r>
            <a:endParaRPr lang="fr-CA" dirty="0">
              <a:solidFill>
                <a:schemeClr val="accent5"/>
              </a:solidFill>
            </a:endParaRPr>
          </a:p>
        </p:txBody>
      </p:sp>
      <p:sp>
        <p:nvSpPr>
          <p:cNvPr id="3" name="Pentagon 10">
            <a:extLst>
              <a:ext uri="{FF2B5EF4-FFF2-40B4-BE49-F238E27FC236}">
                <a16:creationId xmlns:a16="http://schemas.microsoft.com/office/drawing/2014/main" id="{86654433-96C7-4E06-9D94-ECF817A8A1EB}"/>
              </a:ext>
            </a:extLst>
          </p:cNvPr>
          <p:cNvSpPr/>
          <p:nvPr/>
        </p:nvSpPr>
        <p:spPr bwMode="ltGray">
          <a:xfrm rot="5400000">
            <a:off x="7940040" y="685800"/>
            <a:ext cx="762000" cy="609600"/>
          </a:xfrm>
          <a:prstGeom prst="homePlate">
            <a:avLst/>
          </a:prstGeom>
          <a:solidFill>
            <a:schemeClr val="accent5">
              <a:lumMod val="60000"/>
              <a:lumOff val="4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schemeClr val="bg1"/>
              </a:solidFill>
              <a:latin typeface="+mj-lt"/>
            </a:endParaRPr>
          </a:p>
        </p:txBody>
      </p:sp>
      <p:sp>
        <p:nvSpPr>
          <p:cNvPr id="4" name="TextBox 11">
            <a:extLst>
              <a:ext uri="{FF2B5EF4-FFF2-40B4-BE49-F238E27FC236}">
                <a16:creationId xmlns:a16="http://schemas.microsoft.com/office/drawing/2014/main" id="{C24D2439-4D12-4D55-B7D7-CE87FB5B3064}"/>
              </a:ext>
            </a:extLst>
          </p:cNvPr>
          <p:cNvSpPr txBox="1"/>
          <p:nvPr/>
        </p:nvSpPr>
        <p:spPr>
          <a:xfrm>
            <a:off x="8016240" y="609600"/>
            <a:ext cx="609600" cy="609600"/>
          </a:xfrm>
          <a:prstGeom prst="rect">
            <a:avLst/>
          </a:prstGeom>
          <a:noFill/>
        </p:spPr>
        <p:txBody>
          <a:bodyPr wrap="square" lIns="0" tIns="0" rIns="0" bIns="0" rtlCol="0">
            <a:noAutofit/>
          </a:bodyPr>
          <a:lstStyle/>
          <a:p>
            <a:pPr indent="-274320" algn="ctr">
              <a:spcAft>
                <a:spcPts val="900"/>
              </a:spcAft>
            </a:pPr>
            <a:r>
              <a:rPr lang="en-CA" sz="4000" b="1" i="1" dirty="0">
                <a:solidFill>
                  <a:schemeClr val="bg1"/>
                </a:solidFill>
                <a:latin typeface="+mj-lt"/>
              </a:rPr>
              <a:t>4</a:t>
            </a:r>
          </a:p>
        </p:txBody>
      </p:sp>
      <p:cxnSp>
        <p:nvCxnSpPr>
          <p:cNvPr id="7" name="Connecteur droit 6">
            <a:extLst>
              <a:ext uri="{FF2B5EF4-FFF2-40B4-BE49-F238E27FC236}">
                <a16:creationId xmlns:a16="http://schemas.microsoft.com/office/drawing/2014/main" id="{03FCF768-570C-44E8-A14F-AB4E83F86B6E}"/>
              </a:ext>
            </a:extLst>
          </p:cNvPr>
          <p:cNvCxnSpPr>
            <a:cxnSpLocks/>
          </p:cNvCxnSpPr>
          <p:nvPr/>
        </p:nvCxnSpPr>
        <p:spPr>
          <a:xfrm>
            <a:off x="457200" y="624840"/>
            <a:ext cx="7863840" cy="0"/>
          </a:xfrm>
          <a:prstGeom prst="line">
            <a:avLst/>
          </a:prstGeom>
          <a:ln w="28575">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5" name="ZoneTexte 4">
            <a:extLst>
              <a:ext uri="{FF2B5EF4-FFF2-40B4-BE49-F238E27FC236}">
                <a16:creationId xmlns:a16="http://schemas.microsoft.com/office/drawing/2014/main" id="{111C699B-5BF0-4F5A-88FB-719E102AFC76}"/>
              </a:ext>
            </a:extLst>
          </p:cNvPr>
          <p:cNvSpPr txBox="1"/>
          <p:nvPr/>
        </p:nvSpPr>
        <p:spPr>
          <a:xfrm>
            <a:off x="448574" y="1185268"/>
            <a:ext cx="8277367" cy="5632311"/>
          </a:xfrm>
          <a:prstGeom prst="rect">
            <a:avLst/>
          </a:prstGeom>
          <a:noFill/>
        </p:spPr>
        <p:txBody>
          <a:bodyPr wrap="square" rtlCol="0">
            <a:spAutoFit/>
          </a:bodyPr>
          <a:lstStyle/>
          <a:p>
            <a:r>
              <a:rPr lang="fr-CA" dirty="0"/>
              <a:t>En raison des éléments suivants: </a:t>
            </a:r>
            <a:endParaRPr lang="fr-CA" b="1" dirty="0"/>
          </a:p>
          <a:p>
            <a:pPr marL="285750" indent="-285750">
              <a:buFontTx/>
              <a:buChar char="-"/>
            </a:pPr>
            <a:r>
              <a:rPr lang="fr-CA" dirty="0"/>
              <a:t>La contrepartie variable sera complètement connue au bout d’une longue période de 5 ans.</a:t>
            </a:r>
          </a:p>
          <a:p>
            <a:pPr marL="285750" indent="-285750">
              <a:buFontTx/>
              <a:buChar char="-"/>
            </a:pPr>
            <a:r>
              <a:rPr lang="fr-CA" dirty="0"/>
              <a:t>Bien qu’ABC ait de l'expérience en ce qui concerne des contrats similaires, la valeur prédictive de cette expérience est limitée pour déterminer la performance future du marché. </a:t>
            </a:r>
          </a:p>
          <a:p>
            <a:pPr marL="285750" indent="-285750">
              <a:buFontTx/>
              <a:buChar char="-"/>
            </a:pPr>
            <a:r>
              <a:rPr lang="fr-CA" dirty="0"/>
              <a:t>La contrepartie promise dépend du marché et, de ce fait, est très sensible à des facteurs qui échappent à son influence. </a:t>
            </a:r>
          </a:p>
          <a:p>
            <a:pPr marL="285750" indent="-285750">
              <a:buFontTx/>
              <a:buChar char="-"/>
            </a:pPr>
            <a:r>
              <a:rPr lang="fr-CA" dirty="0"/>
              <a:t>Le nombre de montants de contrepartie possibles pour les honoraires incitatifs est élevé et la fourchette est large. </a:t>
            </a:r>
          </a:p>
          <a:p>
            <a:endParaRPr lang="fr-CA" dirty="0"/>
          </a:p>
          <a:p>
            <a:r>
              <a:rPr lang="fr-CA" dirty="0"/>
              <a:t>Il en ressort que, au moment de la passation du contrat, l'entité </a:t>
            </a:r>
            <a:r>
              <a:rPr lang="fr-CA" u="sng" dirty="0"/>
              <a:t>ne peut </a:t>
            </a:r>
            <a:r>
              <a:rPr lang="fr-CA" dirty="0"/>
              <a:t>conclure qu'il est hautement probable que l'inclusion de son estimation des honoraires incitatifs dans le prix de transaction ne donnera pas lieu à un ajustement à la baisse important du montant cumulatif des produits des activités ordinaires comptabilisé.</a:t>
            </a:r>
          </a:p>
          <a:p>
            <a:endParaRPr lang="fr-CA" dirty="0"/>
          </a:p>
          <a:p>
            <a:r>
              <a:rPr lang="fr-CA" dirty="0"/>
              <a:t>Le montant de la contrepartie variable ne pourra pas être inclus dans le prix de transaction au moment de la passation du contrat. L’incertitude ne sera levée qu’à la fin de la période de 5 ans. </a:t>
            </a:r>
          </a:p>
          <a:p>
            <a:endParaRPr lang="fr-CA" dirty="0"/>
          </a:p>
        </p:txBody>
      </p:sp>
      <p:sp>
        <p:nvSpPr>
          <p:cNvPr id="6" name="Espace réservé du numéro de diapositive 5"/>
          <p:cNvSpPr>
            <a:spLocks noGrp="1"/>
          </p:cNvSpPr>
          <p:nvPr>
            <p:ph type="sldNum" sz="quarter" idx="12"/>
          </p:nvPr>
        </p:nvSpPr>
        <p:spPr/>
        <p:txBody>
          <a:bodyPr/>
          <a:lstStyle/>
          <a:p>
            <a:fld id="{3F1B3DEB-6CA3-4B97-B0DC-BA3F5F40634A}" type="slidenum">
              <a:rPr lang="fr-CA" smtClean="0"/>
              <a:t>39</a:t>
            </a:fld>
            <a:endParaRPr lang="fr-CA"/>
          </a:p>
        </p:txBody>
      </p:sp>
    </p:spTree>
    <p:extLst>
      <p:ext uri="{BB962C8B-B14F-4D97-AF65-F5344CB8AC3E}">
        <p14:creationId xmlns:p14="http://schemas.microsoft.com/office/powerpoint/2010/main" val="218097113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9B4089F-5A6C-46CC-8DAF-010D49B80E5D}"/>
              </a:ext>
            </a:extLst>
          </p:cNvPr>
          <p:cNvSpPr txBox="1">
            <a:spLocks/>
          </p:cNvSpPr>
          <p:nvPr/>
        </p:nvSpPr>
        <p:spPr>
          <a:xfrm>
            <a:off x="533400" y="685800"/>
            <a:ext cx="7363691" cy="685796"/>
          </a:xfrm>
          <a:prstGeom prst="rect">
            <a:avLst/>
          </a:prstGeom>
        </p:spPr>
        <p:txBody>
          <a:bodyPr>
            <a:normAutofit fontScale="975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fr-CA" kern="0" dirty="0">
                <a:solidFill>
                  <a:schemeClr val="accent5"/>
                </a:solidFill>
              </a:rPr>
              <a:t>Autres composantes</a:t>
            </a:r>
            <a:endParaRPr lang="fr-CA" dirty="0">
              <a:solidFill>
                <a:schemeClr val="accent5"/>
              </a:solidFill>
            </a:endParaRPr>
          </a:p>
        </p:txBody>
      </p:sp>
      <p:sp>
        <p:nvSpPr>
          <p:cNvPr id="3" name="Pentagon 10">
            <a:extLst>
              <a:ext uri="{FF2B5EF4-FFF2-40B4-BE49-F238E27FC236}">
                <a16:creationId xmlns:a16="http://schemas.microsoft.com/office/drawing/2014/main" id="{86654433-96C7-4E06-9D94-ECF817A8A1EB}"/>
              </a:ext>
            </a:extLst>
          </p:cNvPr>
          <p:cNvSpPr/>
          <p:nvPr/>
        </p:nvSpPr>
        <p:spPr bwMode="ltGray">
          <a:xfrm rot="5400000">
            <a:off x="7940040" y="685800"/>
            <a:ext cx="762000" cy="609600"/>
          </a:xfrm>
          <a:prstGeom prst="homePlate">
            <a:avLst/>
          </a:prstGeom>
          <a:solidFill>
            <a:schemeClr val="accent5">
              <a:lumMod val="60000"/>
              <a:lumOff val="4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schemeClr val="bg1"/>
              </a:solidFill>
              <a:latin typeface="+mj-lt"/>
            </a:endParaRPr>
          </a:p>
        </p:txBody>
      </p:sp>
      <p:sp>
        <p:nvSpPr>
          <p:cNvPr id="4" name="TextBox 11">
            <a:extLst>
              <a:ext uri="{FF2B5EF4-FFF2-40B4-BE49-F238E27FC236}">
                <a16:creationId xmlns:a16="http://schemas.microsoft.com/office/drawing/2014/main" id="{C24D2439-4D12-4D55-B7D7-CE87FB5B3064}"/>
              </a:ext>
            </a:extLst>
          </p:cNvPr>
          <p:cNvSpPr txBox="1"/>
          <p:nvPr/>
        </p:nvSpPr>
        <p:spPr>
          <a:xfrm>
            <a:off x="8016240" y="609600"/>
            <a:ext cx="609600" cy="609600"/>
          </a:xfrm>
          <a:prstGeom prst="rect">
            <a:avLst/>
          </a:prstGeom>
          <a:noFill/>
        </p:spPr>
        <p:txBody>
          <a:bodyPr wrap="square" lIns="0" tIns="0" rIns="0" bIns="0" rtlCol="0">
            <a:noAutofit/>
          </a:bodyPr>
          <a:lstStyle/>
          <a:p>
            <a:pPr indent="-274320" algn="ctr">
              <a:spcAft>
                <a:spcPts val="900"/>
              </a:spcAft>
            </a:pPr>
            <a:r>
              <a:rPr lang="en-CA" sz="4000" b="1" i="1" dirty="0">
                <a:solidFill>
                  <a:schemeClr val="bg1"/>
                </a:solidFill>
                <a:latin typeface="+mj-lt"/>
              </a:rPr>
              <a:t>4</a:t>
            </a:r>
          </a:p>
        </p:txBody>
      </p:sp>
      <p:cxnSp>
        <p:nvCxnSpPr>
          <p:cNvPr id="7" name="Connecteur droit 6">
            <a:extLst>
              <a:ext uri="{FF2B5EF4-FFF2-40B4-BE49-F238E27FC236}">
                <a16:creationId xmlns:a16="http://schemas.microsoft.com/office/drawing/2014/main" id="{03FCF768-570C-44E8-A14F-AB4E83F86B6E}"/>
              </a:ext>
            </a:extLst>
          </p:cNvPr>
          <p:cNvCxnSpPr>
            <a:cxnSpLocks/>
          </p:cNvCxnSpPr>
          <p:nvPr/>
        </p:nvCxnSpPr>
        <p:spPr>
          <a:xfrm>
            <a:off x="457200" y="624840"/>
            <a:ext cx="7863840" cy="0"/>
          </a:xfrm>
          <a:prstGeom prst="line">
            <a:avLst/>
          </a:prstGeom>
          <a:ln w="28575">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grpSp>
        <p:nvGrpSpPr>
          <p:cNvPr id="10" name="Groupe 9">
            <a:extLst>
              <a:ext uri="{FF2B5EF4-FFF2-40B4-BE49-F238E27FC236}">
                <a16:creationId xmlns:a16="http://schemas.microsoft.com/office/drawing/2014/main" id="{52A19153-F174-4C01-B66A-A76A7459137D}"/>
              </a:ext>
            </a:extLst>
          </p:cNvPr>
          <p:cNvGrpSpPr/>
          <p:nvPr/>
        </p:nvGrpSpPr>
        <p:grpSpPr>
          <a:xfrm>
            <a:off x="533401" y="2116263"/>
            <a:ext cx="3502892" cy="717982"/>
            <a:chOff x="2645211" y="1673008"/>
            <a:chExt cx="1587460" cy="717982"/>
          </a:xfrm>
        </p:grpSpPr>
        <p:sp>
          <p:nvSpPr>
            <p:cNvPr id="12" name="Rectangle 11">
              <a:extLst>
                <a:ext uri="{FF2B5EF4-FFF2-40B4-BE49-F238E27FC236}">
                  <a16:creationId xmlns:a16="http://schemas.microsoft.com/office/drawing/2014/main" id="{5C5BC804-C6D1-4360-94FA-541079104627}"/>
                </a:ext>
              </a:extLst>
            </p:cNvPr>
            <p:cNvSpPr/>
            <p:nvPr/>
          </p:nvSpPr>
          <p:spPr>
            <a:xfrm>
              <a:off x="2645211" y="1673008"/>
              <a:ext cx="1587460" cy="717982"/>
            </a:xfrm>
            <a:prstGeom prst="rect">
              <a:avLst/>
            </a:prstGeom>
            <a:solidFill>
              <a:schemeClr val="accent4"/>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sp>
        <p:sp>
          <p:nvSpPr>
            <p:cNvPr id="13" name="ZoneTexte 12">
              <a:extLst>
                <a:ext uri="{FF2B5EF4-FFF2-40B4-BE49-F238E27FC236}">
                  <a16:creationId xmlns:a16="http://schemas.microsoft.com/office/drawing/2014/main" id="{A559FA55-A280-4659-B7D8-A5555BD168E8}"/>
                </a:ext>
              </a:extLst>
            </p:cNvPr>
            <p:cNvSpPr txBox="1"/>
            <p:nvPr/>
          </p:nvSpPr>
          <p:spPr>
            <a:xfrm>
              <a:off x="2645211" y="1673008"/>
              <a:ext cx="1587460" cy="71798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fr-CA" sz="2000" dirty="0">
                  <a:solidFill>
                    <a:schemeClr val="tx1"/>
                  </a:solidFill>
                  <a:latin typeface="+mj-lt"/>
                </a:rPr>
                <a:t>Composante de f</a:t>
              </a:r>
              <a:r>
                <a:rPr lang="fr-CA" sz="2000" b="0" kern="1200" dirty="0">
                  <a:solidFill>
                    <a:schemeClr val="tx1"/>
                  </a:solidFill>
                  <a:latin typeface="+mj-lt"/>
                </a:rPr>
                <a:t>inancement</a:t>
              </a:r>
            </a:p>
          </p:txBody>
        </p:sp>
      </p:grpSp>
      <p:sp>
        <p:nvSpPr>
          <p:cNvPr id="5" name="Rectangle 4">
            <a:extLst>
              <a:ext uri="{FF2B5EF4-FFF2-40B4-BE49-F238E27FC236}">
                <a16:creationId xmlns:a16="http://schemas.microsoft.com/office/drawing/2014/main" id="{8C5F5F63-476C-4B16-B40A-47CD6E75236C}"/>
              </a:ext>
            </a:extLst>
          </p:cNvPr>
          <p:cNvSpPr/>
          <p:nvPr/>
        </p:nvSpPr>
        <p:spPr>
          <a:xfrm>
            <a:off x="4156364" y="2116263"/>
            <a:ext cx="4522205" cy="717982"/>
          </a:xfrm>
          <a:prstGeom prst="rect">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fr-CA" sz="2000" dirty="0">
                <a:latin typeface="+mj-lt"/>
              </a:rPr>
              <a:t>Actualisation requise</a:t>
            </a:r>
          </a:p>
        </p:txBody>
      </p:sp>
      <p:grpSp>
        <p:nvGrpSpPr>
          <p:cNvPr id="14" name="Groupe 13">
            <a:extLst>
              <a:ext uri="{FF2B5EF4-FFF2-40B4-BE49-F238E27FC236}">
                <a16:creationId xmlns:a16="http://schemas.microsoft.com/office/drawing/2014/main" id="{6FD57AA9-D79C-4596-BDAF-1F64794D6CEF}"/>
              </a:ext>
            </a:extLst>
          </p:cNvPr>
          <p:cNvGrpSpPr/>
          <p:nvPr/>
        </p:nvGrpSpPr>
        <p:grpSpPr>
          <a:xfrm>
            <a:off x="533400" y="2955544"/>
            <a:ext cx="3502891" cy="1356608"/>
            <a:chOff x="1863328" y="2509458"/>
            <a:chExt cx="1587460" cy="717982"/>
          </a:xfrm>
        </p:grpSpPr>
        <p:sp>
          <p:nvSpPr>
            <p:cNvPr id="15" name="Rectangle 14">
              <a:extLst>
                <a:ext uri="{FF2B5EF4-FFF2-40B4-BE49-F238E27FC236}">
                  <a16:creationId xmlns:a16="http://schemas.microsoft.com/office/drawing/2014/main" id="{140B263F-1098-4288-875A-001976C3CD38}"/>
                </a:ext>
              </a:extLst>
            </p:cNvPr>
            <p:cNvSpPr/>
            <p:nvPr/>
          </p:nvSpPr>
          <p:spPr>
            <a:xfrm>
              <a:off x="1863328" y="2509458"/>
              <a:ext cx="1587460" cy="717982"/>
            </a:xfrm>
            <a:prstGeom prst="rect">
              <a:avLst/>
            </a:prstGeom>
            <a:solidFill>
              <a:schemeClr val="accent5"/>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sp>
        <p:sp>
          <p:nvSpPr>
            <p:cNvPr id="16" name="ZoneTexte 15">
              <a:extLst>
                <a:ext uri="{FF2B5EF4-FFF2-40B4-BE49-F238E27FC236}">
                  <a16:creationId xmlns:a16="http://schemas.microsoft.com/office/drawing/2014/main" id="{1022AF7D-BDCB-4F50-84C6-ABFC049A95DE}"/>
                </a:ext>
              </a:extLst>
            </p:cNvPr>
            <p:cNvSpPr txBox="1"/>
            <p:nvPr/>
          </p:nvSpPr>
          <p:spPr>
            <a:xfrm>
              <a:off x="1863328" y="2509458"/>
              <a:ext cx="1587460" cy="71798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fr-CA" sz="2000" dirty="0">
                  <a:solidFill>
                    <a:schemeClr val="tx1"/>
                  </a:solidFill>
                  <a:latin typeface="+mj-lt"/>
                </a:rPr>
                <a:t>Composante non-</a:t>
              </a:r>
              <a:r>
                <a:rPr lang="fr-CA" sz="2000" b="0" kern="1200" dirty="0">
                  <a:solidFill>
                    <a:schemeClr val="tx1"/>
                  </a:solidFill>
                  <a:latin typeface="+mj-lt"/>
                </a:rPr>
                <a:t>monétaire</a:t>
              </a:r>
            </a:p>
          </p:txBody>
        </p:sp>
      </p:grpSp>
      <p:sp>
        <p:nvSpPr>
          <p:cNvPr id="6" name="Rectangle 5">
            <a:extLst>
              <a:ext uri="{FF2B5EF4-FFF2-40B4-BE49-F238E27FC236}">
                <a16:creationId xmlns:a16="http://schemas.microsoft.com/office/drawing/2014/main" id="{663F9059-9BF4-4092-B6E6-21813712DFD5}"/>
              </a:ext>
            </a:extLst>
          </p:cNvPr>
          <p:cNvSpPr/>
          <p:nvPr/>
        </p:nvSpPr>
        <p:spPr>
          <a:xfrm>
            <a:off x="4156364" y="2955543"/>
            <a:ext cx="4522205" cy="1356609"/>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fr-CA" sz="2000" dirty="0">
                <a:solidFill>
                  <a:schemeClr val="tx1"/>
                </a:solidFill>
                <a:latin typeface="+mj-lt"/>
              </a:rPr>
              <a:t>Comptabiliser l’échange à la </a:t>
            </a:r>
            <a:r>
              <a:rPr lang="fr-CA" sz="2000" b="1" dirty="0">
                <a:solidFill>
                  <a:schemeClr val="tx1"/>
                </a:solidFill>
                <a:latin typeface="+mj-lt"/>
              </a:rPr>
              <a:t>juste valeur </a:t>
            </a:r>
            <a:r>
              <a:rPr lang="fr-CA" sz="2000" dirty="0">
                <a:solidFill>
                  <a:schemeClr val="tx1"/>
                </a:solidFill>
                <a:latin typeface="+mj-lt"/>
              </a:rPr>
              <a:t>des biens/services </a:t>
            </a:r>
            <a:r>
              <a:rPr lang="fr-CA" sz="2000" b="1" dirty="0">
                <a:solidFill>
                  <a:schemeClr val="tx1"/>
                </a:solidFill>
                <a:latin typeface="+mj-lt"/>
              </a:rPr>
              <a:t>reçus</a:t>
            </a:r>
            <a:r>
              <a:rPr lang="fr-CA" sz="2000" dirty="0">
                <a:solidFill>
                  <a:schemeClr val="tx1"/>
                </a:solidFill>
                <a:latin typeface="+mj-lt"/>
              </a:rPr>
              <a:t>. Si non disponible, prendre la juste valeur des biens/services cédés.</a:t>
            </a:r>
            <a:endParaRPr lang="fr-CA" sz="2000" dirty="0">
              <a:latin typeface="+mj-lt"/>
            </a:endParaRPr>
          </a:p>
        </p:txBody>
      </p:sp>
      <p:grpSp>
        <p:nvGrpSpPr>
          <p:cNvPr id="17" name="Groupe 16">
            <a:extLst>
              <a:ext uri="{FF2B5EF4-FFF2-40B4-BE49-F238E27FC236}">
                <a16:creationId xmlns:a16="http://schemas.microsoft.com/office/drawing/2014/main" id="{EA25D96E-C32E-49D6-8A6A-10A652BCACE3}"/>
              </a:ext>
            </a:extLst>
          </p:cNvPr>
          <p:cNvGrpSpPr/>
          <p:nvPr/>
        </p:nvGrpSpPr>
        <p:grpSpPr>
          <a:xfrm>
            <a:off x="533400" y="4447133"/>
            <a:ext cx="3502890" cy="717982"/>
            <a:chOff x="2645211" y="3346017"/>
            <a:chExt cx="1587460" cy="717982"/>
          </a:xfrm>
        </p:grpSpPr>
        <p:sp>
          <p:nvSpPr>
            <p:cNvPr id="18" name="Rectangle 17">
              <a:extLst>
                <a:ext uri="{FF2B5EF4-FFF2-40B4-BE49-F238E27FC236}">
                  <a16:creationId xmlns:a16="http://schemas.microsoft.com/office/drawing/2014/main" id="{C9685D14-C530-4590-88B2-564C9D47CDD4}"/>
                </a:ext>
              </a:extLst>
            </p:cNvPr>
            <p:cNvSpPr/>
            <p:nvPr/>
          </p:nvSpPr>
          <p:spPr>
            <a:xfrm>
              <a:off x="2645211" y="3346017"/>
              <a:ext cx="1587460" cy="717982"/>
            </a:xfrm>
            <a:prstGeom prst="rect">
              <a:avLst/>
            </a:prstGeom>
            <a:solidFill>
              <a:schemeClr val="accent6"/>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sp>
        <p:sp>
          <p:nvSpPr>
            <p:cNvPr id="19" name="ZoneTexte 18">
              <a:extLst>
                <a:ext uri="{FF2B5EF4-FFF2-40B4-BE49-F238E27FC236}">
                  <a16:creationId xmlns:a16="http://schemas.microsoft.com/office/drawing/2014/main" id="{EB0179DD-0005-4BC9-80BF-297BD52A5C8C}"/>
                </a:ext>
              </a:extLst>
            </p:cNvPr>
            <p:cNvSpPr txBox="1"/>
            <p:nvPr/>
          </p:nvSpPr>
          <p:spPr>
            <a:xfrm>
              <a:off x="2645211" y="3346017"/>
              <a:ext cx="1587460" cy="71798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fr-CA" sz="2000" b="0" kern="1200" dirty="0">
                  <a:solidFill>
                    <a:schemeClr val="tx1"/>
                  </a:solidFill>
                  <a:latin typeface="+mj-lt"/>
                </a:rPr>
                <a:t>Contrepartie payée au client</a:t>
              </a:r>
            </a:p>
          </p:txBody>
        </p:sp>
      </p:grpSp>
      <p:sp>
        <p:nvSpPr>
          <p:cNvPr id="20" name="Rectangle 19">
            <a:extLst>
              <a:ext uri="{FF2B5EF4-FFF2-40B4-BE49-F238E27FC236}">
                <a16:creationId xmlns:a16="http://schemas.microsoft.com/office/drawing/2014/main" id="{F6FC5E59-225D-496E-ABE7-0C4999BE3EEE}"/>
              </a:ext>
            </a:extLst>
          </p:cNvPr>
          <p:cNvSpPr/>
          <p:nvPr/>
        </p:nvSpPr>
        <p:spPr>
          <a:xfrm>
            <a:off x="4156364" y="4447133"/>
            <a:ext cx="4522205" cy="71798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fr-CA" sz="2000" dirty="0">
                <a:solidFill>
                  <a:schemeClr val="tx1"/>
                </a:solidFill>
                <a:latin typeface="+mj-lt"/>
              </a:rPr>
              <a:t>Déterminer si réduction du prix ou achat d’un bien/service distinct.</a:t>
            </a:r>
            <a:endParaRPr lang="fr-CA" sz="2000" dirty="0">
              <a:latin typeface="+mj-lt"/>
            </a:endParaRPr>
          </a:p>
        </p:txBody>
      </p:sp>
      <p:sp>
        <p:nvSpPr>
          <p:cNvPr id="8" name="Espace réservé du numéro de diapositive 7"/>
          <p:cNvSpPr>
            <a:spLocks noGrp="1"/>
          </p:cNvSpPr>
          <p:nvPr>
            <p:ph type="sldNum" sz="quarter" idx="12"/>
          </p:nvPr>
        </p:nvSpPr>
        <p:spPr/>
        <p:txBody>
          <a:bodyPr/>
          <a:lstStyle/>
          <a:p>
            <a:fld id="{3F1B3DEB-6CA3-4B97-B0DC-BA3F5F40634A}" type="slidenum">
              <a:rPr lang="fr-CA" smtClean="0"/>
              <a:t>40</a:t>
            </a:fld>
            <a:endParaRPr lang="fr-CA"/>
          </a:p>
        </p:txBody>
      </p:sp>
    </p:spTree>
    <p:extLst>
      <p:ext uri="{BB962C8B-B14F-4D97-AF65-F5344CB8AC3E}">
        <p14:creationId xmlns:p14="http://schemas.microsoft.com/office/powerpoint/2010/main" val="95938029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9B4089F-5A6C-46CC-8DAF-010D49B80E5D}"/>
              </a:ext>
            </a:extLst>
          </p:cNvPr>
          <p:cNvSpPr txBox="1">
            <a:spLocks/>
          </p:cNvSpPr>
          <p:nvPr/>
        </p:nvSpPr>
        <p:spPr>
          <a:xfrm>
            <a:off x="533400" y="685800"/>
            <a:ext cx="7363691" cy="685796"/>
          </a:xfrm>
          <a:prstGeom prst="rect">
            <a:avLst/>
          </a:prstGeom>
        </p:spPr>
        <p:txBody>
          <a:bodyPr>
            <a:normAutofit fontScale="975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fr-CA" kern="0" dirty="0">
                <a:solidFill>
                  <a:schemeClr val="accent5"/>
                </a:solidFill>
              </a:rPr>
              <a:t>Exemple 9</a:t>
            </a:r>
            <a:endParaRPr lang="fr-CA" dirty="0">
              <a:solidFill>
                <a:schemeClr val="accent5"/>
              </a:solidFill>
            </a:endParaRPr>
          </a:p>
        </p:txBody>
      </p:sp>
      <p:sp>
        <p:nvSpPr>
          <p:cNvPr id="3" name="Pentagon 10">
            <a:extLst>
              <a:ext uri="{FF2B5EF4-FFF2-40B4-BE49-F238E27FC236}">
                <a16:creationId xmlns:a16="http://schemas.microsoft.com/office/drawing/2014/main" id="{86654433-96C7-4E06-9D94-ECF817A8A1EB}"/>
              </a:ext>
            </a:extLst>
          </p:cNvPr>
          <p:cNvSpPr/>
          <p:nvPr/>
        </p:nvSpPr>
        <p:spPr bwMode="ltGray">
          <a:xfrm rot="5400000">
            <a:off x="7940040" y="685800"/>
            <a:ext cx="762000" cy="609600"/>
          </a:xfrm>
          <a:prstGeom prst="homePlate">
            <a:avLst/>
          </a:prstGeom>
          <a:solidFill>
            <a:schemeClr val="accent5">
              <a:lumMod val="60000"/>
              <a:lumOff val="4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schemeClr val="bg1"/>
              </a:solidFill>
              <a:latin typeface="+mj-lt"/>
            </a:endParaRPr>
          </a:p>
        </p:txBody>
      </p:sp>
      <p:sp>
        <p:nvSpPr>
          <p:cNvPr id="4" name="TextBox 11">
            <a:extLst>
              <a:ext uri="{FF2B5EF4-FFF2-40B4-BE49-F238E27FC236}">
                <a16:creationId xmlns:a16="http://schemas.microsoft.com/office/drawing/2014/main" id="{C24D2439-4D12-4D55-B7D7-CE87FB5B3064}"/>
              </a:ext>
            </a:extLst>
          </p:cNvPr>
          <p:cNvSpPr txBox="1"/>
          <p:nvPr/>
        </p:nvSpPr>
        <p:spPr>
          <a:xfrm>
            <a:off x="8016240" y="609600"/>
            <a:ext cx="609600" cy="609600"/>
          </a:xfrm>
          <a:prstGeom prst="rect">
            <a:avLst/>
          </a:prstGeom>
          <a:noFill/>
        </p:spPr>
        <p:txBody>
          <a:bodyPr wrap="square" lIns="0" tIns="0" rIns="0" bIns="0" rtlCol="0">
            <a:noAutofit/>
          </a:bodyPr>
          <a:lstStyle/>
          <a:p>
            <a:pPr indent="-274320" algn="ctr">
              <a:spcAft>
                <a:spcPts val="900"/>
              </a:spcAft>
            </a:pPr>
            <a:r>
              <a:rPr lang="en-CA" sz="4000" b="1" i="1" dirty="0">
                <a:solidFill>
                  <a:schemeClr val="bg1"/>
                </a:solidFill>
                <a:latin typeface="+mj-lt"/>
              </a:rPr>
              <a:t>4</a:t>
            </a:r>
          </a:p>
        </p:txBody>
      </p:sp>
      <p:cxnSp>
        <p:nvCxnSpPr>
          <p:cNvPr id="7" name="Connecteur droit 6">
            <a:extLst>
              <a:ext uri="{FF2B5EF4-FFF2-40B4-BE49-F238E27FC236}">
                <a16:creationId xmlns:a16="http://schemas.microsoft.com/office/drawing/2014/main" id="{03FCF768-570C-44E8-A14F-AB4E83F86B6E}"/>
              </a:ext>
            </a:extLst>
          </p:cNvPr>
          <p:cNvCxnSpPr>
            <a:cxnSpLocks/>
          </p:cNvCxnSpPr>
          <p:nvPr/>
        </p:nvCxnSpPr>
        <p:spPr>
          <a:xfrm>
            <a:off x="457200" y="624840"/>
            <a:ext cx="7863840" cy="0"/>
          </a:xfrm>
          <a:prstGeom prst="line">
            <a:avLst/>
          </a:prstGeom>
          <a:ln w="28575">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6" name="ZoneTexte 5">
            <a:extLst>
              <a:ext uri="{FF2B5EF4-FFF2-40B4-BE49-F238E27FC236}">
                <a16:creationId xmlns:a16="http://schemas.microsoft.com/office/drawing/2014/main" id="{50481375-1E15-4219-B0C7-368411CD7913}"/>
              </a:ext>
            </a:extLst>
          </p:cNvPr>
          <p:cNvSpPr txBox="1"/>
          <p:nvPr/>
        </p:nvSpPr>
        <p:spPr>
          <a:xfrm>
            <a:off x="518160" y="1658199"/>
            <a:ext cx="8092440" cy="2585323"/>
          </a:xfrm>
          <a:prstGeom prst="rect">
            <a:avLst/>
          </a:prstGeom>
          <a:noFill/>
        </p:spPr>
        <p:txBody>
          <a:bodyPr wrap="square" rtlCol="0">
            <a:spAutoFit/>
          </a:bodyPr>
          <a:lstStyle/>
          <a:p>
            <a:r>
              <a:rPr lang="fr-CA" dirty="0"/>
              <a:t>ABC conclut un contrat en vue de la construction d'un bâtiment qui prévoit des paiements à l'atteinte d'étapes spécifiées de la prestation de l'entité tout au long de la durée du contrat de trois ans. </a:t>
            </a:r>
          </a:p>
          <a:p>
            <a:endParaRPr lang="fr-CA" dirty="0"/>
          </a:p>
          <a:p>
            <a:r>
              <a:rPr lang="fr-CA" dirty="0"/>
              <a:t>L'obligation de prestation sera remplie progressivement et les paiements d'étape sont échelonnés de manière à coïncider avec la prestation attendue de l'entité. Le contrat stipule qu'un pourcentage spécifié de chaque paiement d'étape sera retenu par le client tout au long du contrat et que ce pourcentage ne sera versé à l'entité qu'une fois le bâtiment terminé.</a:t>
            </a:r>
          </a:p>
        </p:txBody>
      </p:sp>
      <p:sp>
        <p:nvSpPr>
          <p:cNvPr id="5" name="Espace réservé du numéro de diapositive 4"/>
          <p:cNvSpPr>
            <a:spLocks noGrp="1"/>
          </p:cNvSpPr>
          <p:nvPr>
            <p:ph type="sldNum" sz="quarter" idx="12"/>
          </p:nvPr>
        </p:nvSpPr>
        <p:spPr/>
        <p:txBody>
          <a:bodyPr/>
          <a:lstStyle/>
          <a:p>
            <a:fld id="{3F1B3DEB-6CA3-4B97-B0DC-BA3F5F40634A}" type="slidenum">
              <a:rPr lang="fr-CA" smtClean="0"/>
              <a:t>41</a:t>
            </a:fld>
            <a:endParaRPr lang="fr-CA"/>
          </a:p>
        </p:txBody>
      </p:sp>
      <p:sp>
        <p:nvSpPr>
          <p:cNvPr id="8" name="ZoneTexte 7"/>
          <p:cNvSpPr txBox="1"/>
          <p:nvPr/>
        </p:nvSpPr>
        <p:spPr>
          <a:xfrm>
            <a:off x="533400" y="5397931"/>
            <a:ext cx="7787640" cy="923330"/>
          </a:xfrm>
          <a:prstGeom prst="rect">
            <a:avLst/>
          </a:prstGeom>
          <a:noFill/>
        </p:spPr>
        <p:txBody>
          <a:bodyPr wrap="square" rtlCol="0">
            <a:spAutoFit/>
          </a:bodyPr>
          <a:lstStyle/>
          <a:p>
            <a:r>
              <a:rPr lang="fr-CA" i="1" dirty="0"/>
              <a:t>L'entité comptabilise les services comme une seule et même obligation de prestation, car elle fournit une série de services distincts qui sont essentiellement les mêmes et qui sont fournis au même rythme. </a:t>
            </a:r>
          </a:p>
        </p:txBody>
      </p:sp>
    </p:spTree>
    <p:extLst>
      <p:ext uri="{BB962C8B-B14F-4D97-AF65-F5344CB8AC3E}">
        <p14:creationId xmlns:p14="http://schemas.microsoft.com/office/powerpoint/2010/main" val="354417618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9B4089F-5A6C-46CC-8DAF-010D49B80E5D}"/>
              </a:ext>
            </a:extLst>
          </p:cNvPr>
          <p:cNvSpPr txBox="1">
            <a:spLocks/>
          </p:cNvSpPr>
          <p:nvPr/>
        </p:nvSpPr>
        <p:spPr>
          <a:xfrm>
            <a:off x="533400" y="685800"/>
            <a:ext cx="7363691" cy="685796"/>
          </a:xfrm>
          <a:prstGeom prst="rect">
            <a:avLst/>
          </a:prstGeom>
        </p:spPr>
        <p:txBody>
          <a:bodyPr>
            <a:normAutofit fontScale="975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fr-CA" kern="0" dirty="0">
                <a:solidFill>
                  <a:schemeClr val="accent5"/>
                </a:solidFill>
              </a:rPr>
              <a:t>Exemple 9 - solution</a:t>
            </a:r>
            <a:endParaRPr lang="fr-CA" dirty="0">
              <a:solidFill>
                <a:schemeClr val="accent5"/>
              </a:solidFill>
            </a:endParaRPr>
          </a:p>
        </p:txBody>
      </p:sp>
      <p:sp>
        <p:nvSpPr>
          <p:cNvPr id="5" name="ZoneTexte 4">
            <a:extLst>
              <a:ext uri="{FF2B5EF4-FFF2-40B4-BE49-F238E27FC236}">
                <a16:creationId xmlns:a16="http://schemas.microsoft.com/office/drawing/2014/main" id="{111C699B-5BF0-4F5A-88FB-719E102AFC76}"/>
              </a:ext>
            </a:extLst>
          </p:cNvPr>
          <p:cNvSpPr txBox="1"/>
          <p:nvPr/>
        </p:nvSpPr>
        <p:spPr>
          <a:xfrm>
            <a:off x="457200" y="1714386"/>
            <a:ext cx="8277367" cy="2585323"/>
          </a:xfrm>
          <a:prstGeom prst="rect">
            <a:avLst/>
          </a:prstGeom>
          <a:noFill/>
        </p:spPr>
        <p:txBody>
          <a:bodyPr wrap="square" rtlCol="0">
            <a:spAutoFit/>
          </a:bodyPr>
          <a:lstStyle/>
          <a:p>
            <a:r>
              <a:rPr lang="fr-CA" dirty="0"/>
              <a:t>Le contrat ne comporte pas une composante financement importante. </a:t>
            </a:r>
          </a:p>
          <a:p>
            <a:endParaRPr lang="fr-CA" dirty="0"/>
          </a:p>
          <a:p>
            <a:r>
              <a:rPr lang="fr-CA" dirty="0"/>
              <a:t>Les paiements d'étape coïncident avec la prestation de l'entité et le contrat exige que certains montants soient retenus pour des raisons autres que l'octroi d'un financement selon le par. 62(c) d'IFRS 15. </a:t>
            </a:r>
          </a:p>
          <a:p>
            <a:endParaRPr lang="fr-CA" dirty="0"/>
          </a:p>
          <a:p>
            <a:r>
              <a:rPr lang="fr-CA" dirty="0"/>
              <a:t>La retenue d'un pourcentage spécifié de chaque paiement d'étape vise à protéger le client dans l'éventualité où l'entrepreneur omet de s'acquitter adéquatement de ses obligations en vertu du contrat.</a:t>
            </a:r>
          </a:p>
        </p:txBody>
      </p:sp>
      <p:sp>
        <p:nvSpPr>
          <p:cNvPr id="8" name="Pentagon 10">
            <a:extLst>
              <a:ext uri="{FF2B5EF4-FFF2-40B4-BE49-F238E27FC236}">
                <a16:creationId xmlns:a16="http://schemas.microsoft.com/office/drawing/2014/main" id="{A6FF17F8-8CF6-4DA9-8CD3-2FF8B73B8F85}"/>
              </a:ext>
            </a:extLst>
          </p:cNvPr>
          <p:cNvSpPr/>
          <p:nvPr/>
        </p:nvSpPr>
        <p:spPr bwMode="ltGray">
          <a:xfrm rot="5400000">
            <a:off x="7940040" y="685800"/>
            <a:ext cx="762000" cy="609600"/>
          </a:xfrm>
          <a:prstGeom prst="homePlate">
            <a:avLst/>
          </a:prstGeom>
          <a:solidFill>
            <a:schemeClr val="accent5">
              <a:lumMod val="60000"/>
              <a:lumOff val="4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schemeClr val="bg1"/>
              </a:solidFill>
              <a:latin typeface="+mj-lt"/>
            </a:endParaRPr>
          </a:p>
        </p:txBody>
      </p:sp>
      <p:sp>
        <p:nvSpPr>
          <p:cNvPr id="9" name="TextBox 11">
            <a:extLst>
              <a:ext uri="{FF2B5EF4-FFF2-40B4-BE49-F238E27FC236}">
                <a16:creationId xmlns:a16="http://schemas.microsoft.com/office/drawing/2014/main" id="{F6DE9134-1EF1-46CD-B2E5-872B965AE48C}"/>
              </a:ext>
            </a:extLst>
          </p:cNvPr>
          <p:cNvSpPr txBox="1"/>
          <p:nvPr/>
        </p:nvSpPr>
        <p:spPr>
          <a:xfrm>
            <a:off x="8016240" y="609600"/>
            <a:ext cx="609600" cy="609600"/>
          </a:xfrm>
          <a:prstGeom prst="rect">
            <a:avLst/>
          </a:prstGeom>
          <a:noFill/>
        </p:spPr>
        <p:txBody>
          <a:bodyPr wrap="square" lIns="0" tIns="0" rIns="0" bIns="0" rtlCol="0">
            <a:noAutofit/>
          </a:bodyPr>
          <a:lstStyle/>
          <a:p>
            <a:pPr indent="-274320" algn="ctr">
              <a:spcAft>
                <a:spcPts val="900"/>
              </a:spcAft>
            </a:pPr>
            <a:r>
              <a:rPr lang="en-CA" sz="4000" b="1" i="1" dirty="0">
                <a:solidFill>
                  <a:schemeClr val="bg1"/>
                </a:solidFill>
                <a:latin typeface="+mj-lt"/>
              </a:rPr>
              <a:t>4</a:t>
            </a:r>
          </a:p>
        </p:txBody>
      </p:sp>
      <p:cxnSp>
        <p:nvCxnSpPr>
          <p:cNvPr id="10" name="Connecteur droit 9">
            <a:extLst>
              <a:ext uri="{FF2B5EF4-FFF2-40B4-BE49-F238E27FC236}">
                <a16:creationId xmlns:a16="http://schemas.microsoft.com/office/drawing/2014/main" id="{0214404C-8790-4791-B109-4BB334B8853A}"/>
              </a:ext>
            </a:extLst>
          </p:cNvPr>
          <p:cNvCxnSpPr>
            <a:cxnSpLocks/>
          </p:cNvCxnSpPr>
          <p:nvPr/>
        </p:nvCxnSpPr>
        <p:spPr>
          <a:xfrm>
            <a:off x="457200" y="624840"/>
            <a:ext cx="7863840" cy="0"/>
          </a:xfrm>
          <a:prstGeom prst="line">
            <a:avLst/>
          </a:prstGeom>
          <a:ln w="28575">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3" name="Espace réservé du numéro de diapositive 2"/>
          <p:cNvSpPr>
            <a:spLocks noGrp="1"/>
          </p:cNvSpPr>
          <p:nvPr>
            <p:ph type="sldNum" sz="quarter" idx="12"/>
          </p:nvPr>
        </p:nvSpPr>
        <p:spPr/>
        <p:txBody>
          <a:bodyPr/>
          <a:lstStyle/>
          <a:p>
            <a:fld id="{3F1B3DEB-6CA3-4B97-B0DC-BA3F5F40634A}" type="slidenum">
              <a:rPr lang="fr-CA" smtClean="0"/>
              <a:t>42</a:t>
            </a:fld>
            <a:endParaRPr lang="fr-CA"/>
          </a:p>
        </p:txBody>
      </p:sp>
    </p:spTree>
    <p:extLst>
      <p:ext uri="{BB962C8B-B14F-4D97-AF65-F5344CB8AC3E}">
        <p14:creationId xmlns:p14="http://schemas.microsoft.com/office/powerpoint/2010/main" val="296051916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9B4089F-5A6C-46CC-8DAF-010D49B80E5D}"/>
              </a:ext>
            </a:extLst>
          </p:cNvPr>
          <p:cNvSpPr txBox="1">
            <a:spLocks/>
          </p:cNvSpPr>
          <p:nvPr/>
        </p:nvSpPr>
        <p:spPr>
          <a:xfrm>
            <a:off x="533400" y="685800"/>
            <a:ext cx="7363691" cy="685796"/>
          </a:xfrm>
          <a:prstGeom prst="rect">
            <a:avLst/>
          </a:prstGeom>
        </p:spPr>
        <p:txBody>
          <a:bodyPr>
            <a:normAutofit fontScale="975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fr-CA" kern="0" dirty="0">
                <a:solidFill>
                  <a:schemeClr val="accent5"/>
                </a:solidFill>
              </a:rPr>
              <a:t>Exemple 10</a:t>
            </a:r>
            <a:endParaRPr lang="fr-CA" dirty="0">
              <a:solidFill>
                <a:schemeClr val="accent5"/>
              </a:solidFill>
            </a:endParaRPr>
          </a:p>
        </p:txBody>
      </p:sp>
      <p:sp>
        <p:nvSpPr>
          <p:cNvPr id="6" name="ZoneTexte 5">
            <a:extLst>
              <a:ext uri="{FF2B5EF4-FFF2-40B4-BE49-F238E27FC236}">
                <a16:creationId xmlns:a16="http://schemas.microsoft.com/office/drawing/2014/main" id="{50481375-1E15-4219-B0C7-368411CD7913}"/>
              </a:ext>
            </a:extLst>
          </p:cNvPr>
          <p:cNvSpPr txBox="1"/>
          <p:nvPr/>
        </p:nvSpPr>
        <p:spPr>
          <a:xfrm>
            <a:off x="518160" y="1658199"/>
            <a:ext cx="8092440" cy="2862322"/>
          </a:xfrm>
          <a:prstGeom prst="rect">
            <a:avLst/>
          </a:prstGeom>
          <a:noFill/>
        </p:spPr>
        <p:txBody>
          <a:bodyPr wrap="square" rtlCol="0">
            <a:spAutoFit/>
          </a:bodyPr>
          <a:lstStyle/>
          <a:p>
            <a:r>
              <a:rPr lang="fr-CA" dirty="0"/>
              <a:t>ABC conclut avec un client un contrat portant sur la vente d'un actif. </a:t>
            </a:r>
          </a:p>
          <a:p>
            <a:endParaRPr lang="fr-CA" dirty="0"/>
          </a:p>
          <a:p>
            <a:r>
              <a:rPr lang="fr-CA" dirty="0"/>
              <a:t>Le contrôle de l'actif sera transféré au client dans deux ans (c.-à-d. que l'obligation de prestation sera remplie à un moment précis). </a:t>
            </a:r>
          </a:p>
          <a:p>
            <a:endParaRPr lang="fr-CA" dirty="0"/>
          </a:p>
          <a:p>
            <a:r>
              <a:rPr lang="fr-CA" dirty="0"/>
              <a:t>Le contrat prévoit deux modes de paiement possibles : le paiement de 5 000 $ dans deux ans lorsque le client obtiendra le contrôle de l'actif, ou le paiement de 4 000 $ au moment de la signature du contrat. </a:t>
            </a:r>
          </a:p>
          <a:p>
            <a:endParaRPr lang="fr-CA" dirty="0"/>
          </a:p>
          <a:p>
            <a:r>
              <a:rPr lang="fr-CA" dirty="0"/>
              <a:t>Le client choisit de payer 4 000 $ lors de la signature du contrat.</a:t>
            </a:r>
          </a:p>
        </p:txBody>
      </p:sp>
      <p:sp>
        <p:nvSpPr>
          <p:cNvPr id="8" name="Pentagon 10">
            <a:extLst>
              <a:ext uri="{FF2B5EF4-FFF2-40B4-BE49-F238E27FC236}">
                <a16:creationId xmlns:a16="http://schemas.microsoft.com/office/drawing/2014/main" id="{66238D1D-1025-4700-B794-63353A850C15}"/>
              </a:ext>
            </a:extLst>
          </p:cNvPr>
          <p:cNvSpPr/>
          <p:nvPr/>
        </p:nvSpPr>
        <p:spPr bwMode="ltGray">
          <a:xfrm rot="5400000">
            <a:off x="7940040" y="685800"/>
            <a:ext cx="762000" cy="609600"/>
          </a:xfrm>
          <a:prstGeom prst="homePlate">
            <a:avLst/>
          </a:prstGeom>
          <a:solidFill>
            <a:schemeClr val="accent5">
              <a:lumMod val="60000"/>
              <a:lumOff val="4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schemeClr val="bg1"/>
              </a:solidFill>
              <a:latin typeface="+mj-lt"/>
            </a:endParaRPr>
          </a:p>
        </p:txBody>
      </p:sp>
      <p:sp>
        <p:nvSpPr>
          <p:cNvPr id="9" name="TextBox 11">
            <a:extLst>
              <a:ext uri="{FF2B5EF4-FFF2-40B4-BE49-F238E27FC236}">
                <a16:creationId xmlns:a16="http://schemas.microsoft.com/office/drawing/2014/main" id="{92B3D23E-024A-4486-8440-841F0C81F4FA}"/>
              </a:ext>
            </a:extLst>
          </p:cNvPr>
          <p:cNvSpPr txBox="1"/>
          <p:nvPr/>
        </p:nvSpPr>
        <p:spPr>
          <a:xfrm>
            <a:off x="8016240" y="609600"/>
            <a:ext cx="609600" cy="609600"/>
          </a:xfrm>
          <a:prstGeom prst="rect">
            <a:avLst/>
          </a:prstGeom>
          <a:noFill/>
        </p:spPr>
        <p:txBody>
          <a:bodyPr wrap="square" lIns="0" tIns="0" rIns="0" bIns="0" rtlCol="0">
            <a:noAutofit/>
          </a:bodyPr>
          <a:lstStyle/>
          <a:p>
            <a:pPr indent="-274320" algn="ctr">
              <a:spcAft>
                <a:spcPts val="900"/>
              </a:spcAft>
            </a:pPr>
            <a:r>
              <a:rPr lang="en-CA" sz="4000" b="1" i="1" dirty="0">
                <a:solidFill>
                  <a:schemeClr val="bg1"/>
                </a:solidFill>
                <a:latin typeface="+mj-lt"/>
              </a:rPr>
              <a:t>4</a:t>
            </a:r>
          </a:p>
        </p:txBody>
      </p:sp>
      <p:cxnSp>
        <p:nvCxnSpPr>
          <p:cNvPr id="10" name="Connecteur droit 9">
            <a:extLst>
              <a:ext uri="{FF2B5EF4-FFF2-40B4-BE49-F238E27FC236}">
                <a16:creationId xmlns:a16="http://schemas.microsoft.com/office/drawing/2014/main" id="{98044F5E-7C17-4A8F-9A35-2D55DF1691C5}"/>
              </a:ext>
            </a:extLst>
          </p:cNvPr>
          <p:cNvCxnSpPr>
            <a:cxnSpLocks/>
          </p:cNvCxnSpPr>
          <p:nvPr/>
        </p:nvCxnSpPr>
        <p:spPr>
          <a:xfrm>
            <a:off x="457200" y="624840"/>
            <a:ext cx="7863840" cy="0"/>
          </a:xfrm>
          <a:prstGeom prst="line">
            <a:avLst/>
          </a:prstGeom>
          <a:ln w="28575">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3" name="Espace réservé du numéro de diapositive 2"/>
          <p:cNvSpPr>
            <a:spLocks noGrp="1"/>
          </p:cNvSpPr>
          <p:nvPr>
            <p:ph type="sldNum" sz="quarter" idx="12"/>
          </p:nvPr>
        </p:nvSpPr>
        <p:spPr/>
        <p:txBody>
          <a:bodyPr/>
          <a:lstStyle/>
          <a:p>
            <a:fld id="{3F1B3DEB-6CA3-4B97-B0DC-BA3F5F40634A}" type="slidenum">
              <a:rPr lang="fr-CA" smtClean="0"/>
              <a:t>43</a:t>
            </a:fld>
            <a:endParaRPr lang="fr-CA"/>
          </a:p>
        </p:txBody>
      </p:sp>
      <p:sp>
        <p:nvSpPr>
          <p:cNvPr id="4" name="ZoneTexte 3"/>
          <p:cNvSpPr txBox="1"/>
          <p:nvPr/>
        </p:nvSpPr>
        <p:spPr>
          <a:xfrm>
            <a:off x="533400" y="5400136"/>
            <a:ext cx="7787640" cy="923330"/>
          </a:xfrm>
          <a:prstGeom prst="rect">
            <a:avLst/>
          </a:prstGeom>
          <a:noFill/>
        </p:spPr>
        <p:txBody>
          <a:bodyPr wrap="square" rtlCol="0">
            <a:spAutoFit/>
          </a:bodyPr>
          <a:lstStyle/>
          <a:p>
            <a:r>
              <a:rPr lang="fr-CA" i="1" dirty="0"/>
              <a:t>L'entité comptabilise les services comme une seule et même obligation de prestation, car elle fournit une série de services distincts qui sont essentiellement les mêmes et qui sont fournis au même rythme. </a:t>
            </a:r>
          </a:p>
        </p:txBody>
      </p:sp>
    </p:spTree>
    <p:extLst>
      <p:ext uri="{BB962C8B-B14F-4D97-AF65-F5344CB8AC3E}">
        <p14:creationId xmlns:p14="http://schemas.microsoft.com/office/powerpoint/2010/main" val="99152934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9B4089F-5A6C-46CC-8DAF-010D49B80E5D}"/>
              </a:ext>
            </a:extLst>
          </p:cNvPr>
          <p:cNvSpPr txBox="1">
            <a:spLocks/>
          </p:cNvSpPr>
          <p:nvPr/>
        </p:nvSpPr>
        <p:spPr>
          <a:xfrm>
            <a:off x="533400" y="685800"/>
            <a:ext cx="7363691" cy="685796"/>
          </a:xfrm>
          <a:prstGeom prst="rect">
            <a:avLst/>
          </a:prstGeom>
        </p:spPr>
        <p:txBody>
          <a:bodyPr>
            <a:normAutofit fontScale="975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fr-CA" kern="0" dirty="0">
                <a:solidFill>
                  <a:schemeClr val="accent5"/>
                </a:solidFill>
              </a:rPr>
              <a:t>Exemple 10 - solution</a:t>
            </a:r>
            <a:endParaRPr lang="fr-CA" dirty="0">
              <a:solidFill>
                <a:schemeClr val="accent5"/>
              </a:solidFill>
            </a:endParaRPr>
          </a:p>
        </p:txBody>
      </p:sp>
      <p:sp>
        <p:nvSpPr>
          <p:cNvPr id="5" name="ZoneTexte 4">
            <a:extLst>
              <a:ext uri="{FF2B5EF4-FFF2-40B4-BE49-F238E27FC236}">
                <a16:creationId xmlns:a16="http://schemas.microsoft.com/office/drawing/2014/main" id="{111C699B-5BF0-4F5A-88FB-719E102AFC76}"/>
              </a:ext>
            </a:extLst>
          </p:cNvPr>
          <p:cNvSpPr txBox="1"/>
          <p:nvPr/>
        </p:nvSpPr>
        <p:spPr>
          <a:xfrm>
            <a:off x="457200" y="1714386"/>
            <a:ext cx="8277367" cy="3139321"/>
          </a:xfrm>
          <a:prstGeom prst="rect">
            <a:avLst/>
          </a:prstGeom>
          <a:noFill/>
        </p:spPr>
        <p:txBody>
          <a:bodyPr wrap="square" rtlCol="0">
            <a:spAutoFit/>
          </a:bodyPr>
          <a:lstStyle/>
          <a:p>
            <a:r>
              <a:rPr lang="fr-CA" dirty="0"/>
              <a:t>Le contrat comporte une composante financement importante en raison de la période qui s'écoule entre le moment où le client paie l'actif et le moment où l'entité transfère l'actif au client (2 ans).</a:t>
            </a:r>
          </a:p>
          <a:p>
            <a:endParaRPr lang="fr-CA" dirty="0"/>
          </a:p>
          <a:p>
            <a:r>
              <a:rPr lang="fr-CA" dirty="0"/>
              <a:t>Le taux d'intérêt implicite de la transaction est de 11,8 %, soit le taux d'intérêt nécessaire pour que les deux modes de paiement possibles soient équivalents sur le plan économique. </a:t>
            </a:r>
          </a:p>
          <a:p>
            <a:endParaRPr lang="fr-CA" dirty="0"/>
          </a:p>
          <a:p>
            <a:r>
              <a:rPr lang="fr-CA" dirty="0"/>
              <a:t>Cependant, conformément au par. 64 d'IFRS 15, le taux d'intérêt qui devrait être utilisé pour l'ajustement du montant de contrepartie promis est de 6 %, ce qui correspond au taux marginal d'endettement de l'entité.</a:t>
            </a:r>
          </a:p>
        </p:txBody>
      </p:sp>
      <p:sp>
        <p:nvSpPr>
          <p:cNvPr id="8" name="Pentagon 10">
            <a:extLst>
              <a:ext uri="{FF2B5EF4-FFF2-40B4-BE49-F238E27FC236}">
                <a16:creationId xmlns:a16="http://schemas.microsoft.com/office/drawing/2014/main" id="{001FCB43-C19F-4E11-BA7A-A244350AC96C}"/>
              </a:ext>
            </a:extLst>
          </p:cNvPr>
          <p:cNvSpPr/>
          <p:nvPr/>
        </p:nvSpPr>
        <p:spPr bwMode="ltGray">
          <a:xfrm rot="5400000">
            <a:off x="7940040" y="685800"/>
            <a:ext cx="762000" cy="609600"/>
          </a:xfrm>
          <a:prstGeom prst="homePlate">
            <a:avLst/>
          </a:prstGeom>
          <a:solidFill>
            <a:schemeClr val="accent5">
              <a:lumMod val="60000"/>
              <a:lumOff val="4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schemeClr val="bg1"/>
              </a:solidFill>
              <a:latin typeface="+mj-lt"/>
            </a:endParaRPr>
          </a:p>
        </p:txBody>
      </p:sp>
      <p:sp>
        <p:nvSpPr>
          <p:cNvPr id="9" name="TextBox 11">
            <a:extLst>
              <a:ext uri="{FF2B5EF4-FFF2-40B4-BE49-F238E27FC236}">
                <a16:creationId xmlns:a16="http://schemas.microsoft.com/office/drawing/2014/main" id="{AA0A5ECA-C490-45AF-BAF8-D5A2B770CA84}"/>
              </a:ext>
            </a:extLst>
          </p:cNvPr>
          <p:cNvSpPr txBox="1"/>
          <p:nvPr/>
        </p:nvSpPr>
        <p:spPr>
          <a:xfrm>
            <a:off x="8016240" y="609600"/>
            <a:ext cx="609600" cy="609600"/>
          </a:xfrm>
          <a:prstGeom prst="rect">
            <a:avLst/>
          </a:prstGeom>
          <a:noFill/>
        </p:spPr>
        <p:txBody>
          <a:bodyPr wrap="square" lIns="0" tIns="0" rIns="0" bIns="0" rtlCol="0">
            <a:noAutofit/>
          </a:bodyPr>
          <a:lstStyle/>
          <a:p>
            <a:pPr indent="-274320" algn="ctr">
              <a:spcAft>
                <a:spcPts val="900"/>
              </a:spcAft>
            </a:pPr>
            <a:r>
              <a:rPr lang="en-CA" sz="4000" b="1" i="1" dirty="0">
                <a:solidFill>
                  <a:schemeClr val="bg1"/>
                </a:solidFill>
                <a:latin typeface="+mj-lt"/>
              </a:rPr>
              <a:t>4</a:t>
            </a:r>
          </a:p>
        </p:txBody>
      </p:sp>
      <p:cxnSp>
        <p:nvCxnSpPr>
          <p:cNvPr id="10" name="Connecteur droit 9">
            <a:extLst>
              <a:ext uri="{FF2B5EF4-FFF2-40B4-BE49-F238E27FC236}">
                <a16:creationId xmlns:a16="http://schemas.microsoft.com/office/drawing/2014/main" id="{74CDD1DA-2460-48DE-9678-B8804F3DD940}"/>
              </a:ext>
            </a:extLst>
          </p:cNvPr>
          <p:cNvCxnSpPr>
            <a:cxnSpLocks/>
          </p:cNvCxnSpPr>
          <p:nvPr/>
        </p:nvCxnSpPr>
        <p:spPr>
          <a:xfrm>
            <a:off x="457200" y="624840"/>
            <a:ext cx="7863840" cy="0"/>
          </a:xfrm>
          <a:prstGeom prst="line">
            <a:avLst/>
          </a:prstGeom>
          <a:ln w="28575">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3" name="Espace réservé du numéro de diapositive 2"/>
          <p:cNvSpPr>
            <a:spLocks noGrp="1"/>
          </p:cNvSpPr>
          <p:nvPr>
            <p:ph type="sldNum" sz="quarter" idx="12"/>
          </p:nvPr>
        </p:nvSpPr>
        <p:spPr/>
        <p:txBody>
          <a:bodyPr/>
          <a:lstStyle/>
          <a:p>
            <a:fld id="{3F1B3DEB-6CA3-4B97-B0DC-BA3F5F40634A}" type="slidenum">
              <a:rPr lang="fr-CA" smtClean="0"/>
              <a:t>44</a:t>
            </a:fld>
            <a:endParaRPr lang="fr-CA"/>
          </a:p>
        </p:txBody>
      </p:sp>
    </p:spTree>
    <p:extLst>
      <p:ext uri="{BB962C8B-B14F-4D97-AF65-F5344CB8AC3E}">
        <p14:creationId xmlns:p14="http://schemas.microsoft.com/office/powerpoint/2010/main" val="325889527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9B4089F-5A6C-46CC-8DAF-010D49B80E5D}"/>
              </a:ext>
            </a:extLst>
          </p:cNvPr>
          <p:cNvSpPr txBox="1">
            <a:spLocks/>
          </p:cNvSpPr>
          <p:nvPr/>
        </p:nvSpPr>
        <p:spPr>
          <a:xfrm>
            <a:off x="554875" y="658770"/>
            <a:ext cx="7363691" cy="533400"/>
          </a:xfrm>
          <a:prstGeom prst="rect">
            <a:avLst/>
          </a:prstGeom>
        </p:spPr>
        <p:txBody>
          <a:bodyPr>
            <a:normAutofit fontScale="975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fr-CA" kern="0" dirty="0">
                <a:solidFill>
                  <a:schemeClr val="accent5"/>
                </a:solidFill>
              </a:rPr>
              <a:t>Exemple 10 - solution</a:t>
            </a:r>
            <a:endParaRPr lang="fr-CA" dirty="0">
              <a:solidFill>
                <a:schemeClr val="accent5"/>
              </a:solidFill>
            </a:endParaRPr>
          </a:p>
        </p:txBody>
      </p:sp>
      <p:sp>
        <p:nvSpPr>
          <p:cNvPr id="8" name="Pentagon 10">
            <a:extLst>
              <a:ext uri="{FF2B5EF4-FFF2-40B4-BE49-F238E27FC236}">
                <a16:creationId xmlns:a16="http://schemas.microsoft.com/office/drawing/2014/main" id="{001FCB43-C19F-4E11-BA7A-A244350AC96C}"/>
              </a:ext>
            </a:extLst>
          </p:cNvPr>
          <p:cNvSpPr/>
          <p:nvPr/>
        </p:nvSpPr>
        <p:spPr bwMode="ltGray">
          <a:xfrm rot="5400000">
            <a:off x="7940040" y="685800"/>
            <a:ext cx="762000" cy="609600"/>
          </a:xfrm>
          <a:prstGeom prst="homePlate">
            <a:avLst/>
          </a:prstGeom>
          <a:solidFill>
            <a:schemeClr val="accent5">
              <a:lumMod val="60000"/>
              <a:lumOff val="4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schemeClr val="bg1"/>
              </a:solidFill>
              <a:latin typeface="+mj-lt"/>
            </a:endParaRPr>
          </a:p>
        </p:txBody>
      </p:sp>
      <p:sp>
        <p:nvSpPr>
          <p:cNvPr id="9" name="TextBox 11">
            <a:extLst>
              <a:ext uri="{FF2B5EF4-FFF2-40B4-BE49-F238E27FC236}">
                <a16:creationId xmlns:a16="http://schemas.microsoft.com/office/drawing/2014/main" id="{AA0A5ECA-C490-45AF-BAF8-D5A2B770CA84}"/>
              </a:ext>
            </a:extLst>
          </p:cNvPr>
          <p:cNvSpPr txBox="1"/>
          <p:nvPr/>
        </p:nvSpPr>
        <p:spPr>
          <a:xfrm>
            <a:off x="8016240" y="609600"/>
            <a:ext cx="609600" cy="609600"/>
          </a:xfrm>
          <a:prstGeom prst="rect">
            <a:avLst/>
          </a:prstGeom>
          <a:noFill/>
        </p:spPr>
        <p:txBody>
          <a:bodyPr wrap="square" lIns="0" tIns="0" rIns="0" bIns="0" rtlCol="0">
            <a:noAutofit/>
          </a:bodyPr>
          <a:lstStyle/>
          <a:p>
            <a:pPr indent="-274320" algn="ctr">
              <a:spcAft>
                <a:spcPts val="900"/>
              </a:spcAft>
            </a:pPr>
            <a:r>
              <a:rPr lang="en-CA" sz="4000" b="1" i="1" dirty="0">
                <a:solidFill>
                  <a:schemeClr val="bg1"/>
                </a:solidFill>
                <a:latin typeface="+mj-lt"/>
              </a:rPr>
              <a:t>4</a:t>
            </a:r>
          </a:p>
        </p:txBody>
      </p:sp>
      <p:cxnSp>
        <p:nvCxnSpPr>
          <p:cNvPr id="10" name="Connecteur droit 9">
            <a:extLst>
              <a:ext uri="{FF2B5EF4-FFF2-40B4-BE49-F238E27FC236}">
                <a16:creationId xmlns:a16="http://schemas.microsoft.com/office/drawing/2014/main" id="{74CDD1DA-2460-48DE-9678-B8804F3DD940}"/>
              </a:ext>
            </a:extLst>
          </p:cNvPr>
          <p:cNvCxnSpPr>
            <a:cxnSpLocks/>
          </p:cNvCxnSpPr>
          <p:nvPr/>
        </p:nvCxnSpPr>
        <p:spPr>
          <a:xfrm>
            <a:off x="457200" y="624840"/>
            <a:ext cx="7863840" cy="0"/>
          </a:xfrm>
          <a:prstGeom prst="line">
            <a:avLst/>
          </a:prstGeom>
          <a:ln w="28575">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3" name="Espace réservé du numéro de diapositive 2"/>
          <p:cNvSpPr>
            <a:spLocks noGrp="1"/>
          </p:cNvSpPr>
          <p:nvPr>
            <p:ph type="sldNum" sz="quarter" idx="12"/>
          </p:nvPr>
        </p:nvSpPr>
        <p:spPr/>
        <p:txBody>
          <a:bodyPr/>
          <a:lstStyle/>
          <a:p>
            <a:fld id="{3F1B3DEB-6CA3-4B97-B0DC-BA3F5F40634A}" type="slidenum">
              <a:rPr lang="fr-CA" smtClean="0"/>
              <a:t>45</a:t>
            </a:fld>
            <a:endParaRPr lang="fr-CA"/>
          </a:p>
        </p:txBody>
      </p:sp>
      <p:sp>
        <p:nvSpPr>
          <p:cNvPr id="4" name="Rectangle 3"/>
          <p:cNvSpPr/>
          <p:nvPr/>
        </p:nvSpPr>
        <p:spPr>
          <a:xfrm>
            <a:off x="533400" y="1432555"/>
            <a:ext cx="8470957" cy="5078313"/>
          </a:xfrm>
          <a:prstGeom prst="rect">
            <a:avLst/>
          </a:prstGeom>
        </p:spPr>
        <p:txBody>
          <a:bodyPr wrap="square">
            <a:spAutoFit/>
          </a:bodyPr>
          <a:lstStyle/>
          <a:p>
            <a:r>
              <a:rPr lang="fr-CA" dirty="0"/>
              <a:t>IE151     Les écritures de journal suivantes visent à illustrer le traitement comptable de la composante financement importante :</a:t>
            </a:r>
          </a:p>
          <a:p>
            <a:r>
              <a:rPr lang="fr-CA" dirty="0"/>
              <a:t>(a)     comptabilisation d'un passif sur contrat relativement au paiement de 4 000 $  reçu au moment de la passation du contrat :</a:t>
            </a:r>
          </a:p>
          <a:p>
            <a:r>
              <a:rPr lang="fr-CA" dirty="0"/>
              <a:t>Trésorerie			4 000 </a:t>
            </a:r>
          </a:p>
          <a:p>
            <a:r>
              <a:rPr lang="fr-CA" dirty="0"/>
              <a:t>@ Passif sur contrat			4 000 </a:t>
            </a:r>
          </a:p>
          <a:p>
            <a:r>
              <a:rPr lang="fr-CA" dirty="0"/>
              <a:t>(b)     au cours des deux années qui suivent la passation du contrat et jusqu'à ce que l'actif soit transféré, l'entité ajuste le montant de contrepartie promis (conformément au par. 65 d'IFRS 15) et elle comptabilise progressivement le passif sur contrat en constatant l'intérêt à l'égard de 4 000 au taux de 6 % pendant deux ans :</a:t>
            </a:r>
          </a:p>
          <a:p>
            <a:r>
              <a:rPr lang="fr-CA" dirty="0"/>
              <a:t>Charge d'intérêts  	494 </a:t>
            </a:r>
          </a:p>
          <a:p>
            <a:r>
              <a:rPr lang="fr-CA" dirty="0"/>
              <a:t>@Passif sur contrat				494 </a:t>
            </a:r>
          </a:p>
          <a:p>
            <a:endParaRPr lang="fr-CA" dirty="0"/>
          </a:p>
          <a:p>
            <a:r>
              <a:rPr lang="fr-CA" dirty="0"/>
              <a:t>(b)     comptabilisation des produits des activités ordinaires relativement au transfert de l'actif :</a:t>
            </a:r>
          </a:p>
          <a:p>
            <a:r>
              <a:rPr lang="fr-CA" dirty="0"/>
              <a:t>Passif sur contrat		4 494 </a:t>
            </a:r>
          </a:p>
          <a:p>
            <a:r>
              <a:rPr lang="fr-CA" dirty="0"/>
              <a:t>@ Produits des activités ordinaires	4 494 </a:t>
            </a:r>
          </a:p>
        </p:txBody>
      </p:sp>
    </p:spTree>
    <p:extLst>
      <p:ext uri="{BB962C8B-B14F-4D97-AF65-F5344CB8AC3E}">
        <p14:creationId xmlns:p14="http://schemas.microsoft.com/office/powerpoint/2010/main" val="151645138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texte 2">
            <a:extLst>
              <a:ext uri="{FF2B5EF4-FFF2-40B4-BE49-F238E27FC236}">
                <a16:creationId xmlns:a16="http://schemas.microsoft.com/office/drawing/2014/main" id="{E47921C4-76E2-42A3-8FC8-A49EBBD3A6E3}"/>
              </a:ext>
            </a:extLst>
          </p:cNvPr>
          <p:cNvSpPr>
            <a:spLocks noGrp="1"/>
          </p:cNvSpPr>
          <p:nvPr>
            <p:ph type="body" idx="1"/>
          </p:nvPr>
        </p:nvSpPr>
        <p:spPr>
          <a:xfrm>
            <a:off x="577124" y="4479635"/>
            <a:ext cx="7989751" cy="533029"/>
          </a:xfrm>
        </p:spPr>
        <p:txBody>
          <a:bodyPr>
            <a:noAutofit/>
          </a:bodyPr>
          <a:lstStyle/>
          <a:p>
            <a:pPr lvl="0" defTabSz="179388">
              <a:spcAft>
                <a:spcPts val="400"/>
              </a:spcAft>
              <a:defRPr/>
            </a:pPr>
            <a:r>
              <a:rPr lang="fr-CA" sz="2400" b="1" kern="0" dirty="0">
                <a:solidFill>
                  <a:schemeClr val="accent6"/>
                </a:solidFill>
              </a:rPr>
              <a:t>Étape 5 – </a:t>
            </a:r>
            <a:r>
              <a:rPr lang="fr-CA" sz="2400" kern="0" dirty="0">
                <a:solidFill>
                  <a:schemeClr val="accent6"/>
                </a:solidFill>
              </a:rPr>
              <a:t>Répartir le prix de transaction</a:t>
            </a:r>
            <a:endParaRPr lang="fr-CA" sz="2400" kern="0" cap="none" dirty="0">
              <a:solidFill>
                <a:schemeClr val="accent6"/>
              </a:solidFill>
            </a:endParaRPr>
          </a:p>
        </p:txBody>
      </p:sp>
      <p:sp>
        <p:nvSpPr>
          <p:cNvPr id="4" name="Rectangle 3">
            <a:extLst>
              <a:ext uri="{FF2B5EF4-FFF2-40B4-BE49-F238E27FC236}">
                <a16:creationId xmlns:a16="http://schemas.microsoft.com/office/drawing/2014/main" id="{A9602AE5-BA5C-4209-9B05-AFF298F0DFB6}"/>
              </a:ext>
            </a:extLst>
          </p:cNvPr>
          <p:cNvSpPr/>
          <p:nvPr/>
        </p:nvSpPr>
        <p:spPr>
          <a:xfrm>
            <a:off x="434108" y="5141973"/>
            <a:ext cx="8358909" cy="1295772"/>
          </a:xfrm>
          <a:prstGeom prst="rect">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fr-CA"/>
          </a:p>
        </p:txBody>
      </p:sp>
      <p:sp>
        <p:nvSpPr>
          <p:cNvPr id="2" name="Espace réservé du numéro de diapositive 1"/>
          <p:cNvSpPr>
            <a:spLocks noGrp="1"/>
          </p:cNvSpPr>
          <p:nvPr>
            <p:ph type="sldNum" sz="quarter" idx="12"/>
          </p:nvPr>
        </p:nvSpPr>
        <p:spPr/>
        <p:txBody>
          <a:bodyPr/>
          <a:lstStyle/>
          <a:p>
            <a:fld id="{3F1B3DEB-6CA3-4B97-B0DC-BA3F5F40634A}" type="slidenum">
              <a:rPr lang="fr-CA" smtClean="0"/>
              <a:t>46</a:t>
            </a:fld>
            <a:endParaRPr lang="fr-CA"/>
          </a:p>
        </p:txBody>
      </p:sp>
    </p:spTree>
    <p:extLst>
      <p:ext uri="{BB962C8B-B14F-4D97-AF65-F5344CB8AC3E}">
        <p14:creationId xmlns:p14="http://schemas.microsoft.com/office/powerpoint/2010/main" val="62347591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9B4089F-5A6C-46CC-8DAF-010D49B80E5D}"/>
              </a:ext>
            </a:extLst>
          </p:cNvPr>
          <p:cNvSpPr txBox="1">
            <a:spLocks/>
          </p:cNvSpPr>
          <p:nvPr/>
        </p:nvSpPr>
        <p:spPr>
          <a:xfrm>
            <a:off x="533400" y="685800"/>
            <a:ext cx="7363691" cy="685796"/>
          </a:xfrm>
          <a:prstGeom prst="rect">
            <a:avLst/>
          </a:prstGeom>
        </p:spPr>
        <p:txBody>
          <a:bodyPr>
            <a:normAutofit fontScale="975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fr-CA" kern="0" dirty="0">
                <a:solidFill>
                  <a:schemeClr val="accent5"/>
                </a:solidFill>
              </a:rPr>
              <a:t>Répartir le prix de vente</a:t>
            </a:r>
            <a:endParaRPr lang="fr-CA" dirty="0">
              <a:solidFill>
                <a:schemeClr val="accent5"/>
              </a:solidFill>
            </a:endParaRPr>
          </a:p>
        </p:txBody>
      </p:sp>
      <p:sp>
        <p:nvSpPr>
          <p:cNvPr id="3" name="Pentagon 10">
            <a:extLst>
              <a:ext uri="{FF2B5EF4-FFF2-40B4-BE49-F238E27FC236}">
                <a16:creationId xmlns:a16="http://schemas.microsoft.com/office/drawing/2014/main" id="{86654433-96C7-4E06-9D94-ECF817A8A1EB}"/>
              </a:ext>
            </a:extLst>
          </p:cNvPr>
          <p:cNvSpPr/>
          <p:nvPr/>
        </p:nvSpPr>
        <p:spPr bwMode="ltGray">
          <a:xfrm rot="5400000">
            <a:off x="7940040" y="685800"/>
            <a:ext cx="762000" cy="609600"/>
          </a:xfrm>
          <a:prstGeom prst="homePlate">
            <a:avLst/>
          </a:prstGeom>
          <a:solidFill>
            <a:schemeClr val="accent6">
              <a:lumMod val="60000"/>
              <a:lumOff val="4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schemeClr val="bg1"/>
              </a:solidFill>
              <a:latin typeface="+mj-lt"/>
            </a:endParaRPr>
          </a:p>
        </p:txBody>
      </p:sp>
      <p:sp>
        <p:nvSpPr>
          <p:cNvPr id="4" name="TextBox 11">
            <a:extLst>
              <a:ext uri="{FF2B5EF4-FFF2-40B4-BE49-F238E27FC236}">
                <a16:creationId xmlns:a16="http://schemas.microsoft.com/office/drawing/2014/main" id="{C24D2439-4D12-4D55-B7D7-CE87FB5B3064}"/>
              </a:ext>
            </a:extLst>
          </p:cNvPr>
          <p:cNvSpPr txBox="1"/>
          <p:nvPr/>
        </p:nvSpPr>
        <p:spPr>
          <a:xfrm>
            <a:off x="8016240" y="609600"/>
            <a:ext cx="609600" cy="609600"/>
          </a:xfrm>
          <a:prstGeom prst="rect">
            <a:avLst/>
          </a:prstGeom>
          <a:noFill/>
        </p:spPr>
        <p:txBody>
          <a:bodyPr wrap="square" lIns="0" tIns="0" rIns="0" bIns="0" rtlCol="0">
            <a:noAutofit/>
          </a:bodyPr>
          <a:lstStyle/>
          <a:p>
            <a:pPr indent="-274320" algn="ctr">
              <a:spcAft>
                <a:spcPts val="900"/>
              </a:spcAft>
            </a:pPr>
            <a:r>
              <a:rPr lang="en-CA" sz="4000" b="1" i="1" dirty="0">
                <a:solidFill>
                  <a:schemeClr val="bg1"/>
                </a:solidFill>
                <a:latin typeface="+mj-lt"/>
              </a:rPr>
              <a:t>5</a:t>
            </a:r>
          </a:p>
        </p:txBody>
      </p:sp>
      <p:cxnSp>
        <p:nvCxnSpPr>
          <p:cNvPr id="7" name="Connecteur droit 6">
            <a:extLst>
              <a:ext uri="{FF2B5EF4-FFF2-40B4-BE49-F238E27FC236}">
                <a16:creationId xmlns:a16="http://schemas.microsoft.com/office/drawing/2014/main" id="{03FCF768-570C-44E8-A14F-AB4E83F86B6E}"/>
              </a:ext>
            </a:extLst>
          </p:cNvPr>
          <p:cNvCxnSpPr>
            <a:cxnSpLocks/>
          </p:cNvCxnSpPr>
          <p:nvPr/>
        </p:nvCxnSpPr>
        <p:spPr>
          <a:xfrm>
            <a:off x="457200" y="624840"/>
            <a:ext cx="7863840" cy="0"/>
          </a:xfrm>
          <a:prstGeom prst="line">
            <a:avLst/>
          </a:prstGeom>
          <a:ln w="28575">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8" name="ZoneTexte 7">
            <a:extLst>
              <a:ext uri="{FF2B5EF4-FFF2-40B4-BE49-F238E27FC236}">
                <a16:creationId xmlns:a16="http://schemas.microsoft.com/office/drawing/2014/main" id="{BAECF1EE-91D2-4384-8710-9F055B1CE3A1}"/>
              </a:ext>
            </a:extLst>
          </p:cNvPr>
          <p:cNvSpPr txBox="1"/>
          <p:nvPr/>
        </p:nvSpPr>
        <p:spPr>
          <a:xfrm>
            <a:off x="525780" y="1774384"/>
            <a:ext cx="8092440" cy="1631216"/>
          </a:xfrm>
          <a:prstGeom prst="rect">
            <a:avLst/>
          </a:prstGeom>
          <a:noFill/>
        </p:spPr>
        <p:txBody>
          <a:bodyPr wrap="square" rtlCol="0">
            <a:spAutoFit/>
          </a:bodyPr>
          <a:lstStyle/>
          <a:p>
            <a:r>
              <a:rPr lang="fr-CA" sz="2000" kern="0" dirty="0">
                <a:solidFill>
                  <a:srgbClr val="000000"/>
                </a:solidFill>
              </a:rPr>
              <a:t>Il faut répartir le prix total avec une méthode basée sur le prix spécifique de chaque obligation.</a:t>
            </a:r>
          </a:p>
          <a:p>
            <a:endParaRPr lang="fr-CA" sz="2000" kern="0" dirty="0">
              <a:solidFill>
                <a:srgbClr val="000000"/>
              </a:solidFill>
            </a:endParaRPr>
          </a:p>
          <a:p>
            <a:endParaRPr lang="fr-CA" sz="2000" kern="0" dirty="0">
              <a:solidFill>
                <a:srgbClr val="000000"/>
              </a:solidFill>
            </a:endParaRPr>
          </a:p>
          <a:p>
            <a:endParaRPr lang="fr-CA" sz="2000" dirty="0"/>
          </a:p>
        </p:txBody>
      </p:sp>
      <p:sp>
        <p:nvSpPr>
          <p:cNvPr id="21" name="Rectangle 20">
            <a:extLst>
              <a:ext uri="{FF2B5EF4-FFF2-40B4-BE49-F238E27FC236}">
                <a16:creationId xmlns:a16="http://schemas.microsoft.com/office/drawing/2014/main" id="{3A16733F-9451-4C00-A917-8AE06EE9C22C}"/>
              </a:ext>
            </a:extLst>
          </p:cNvPr>
          <p:cNvSpPr/>
          <p:nvPr/>
        </p:nvSpPr>
        <p:spPr>
          <a:xfrm>
            <a:off x="7415876" y="2424817"/>
            <a:ext cx="1227513" cy="38529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sz="1600" b="1" i="1" dirty="0">
                <a:solidFill>
                  <a:schemeClr val="accent5"/>
                </a:solidFill>
              </a:rPr>
              <a:t>IFRS 15.73</a:t>
            </a:r>
          </a:p>
        </p:txBody>
      </p:sp>
      <p:sp>
        <p:nvSpPr>
          <p:cNvPr id="11" name="Bulle narrative : rectangle 10">
            <a:extLst>
              <a:ext uri="{FF2B5EF4-FFF2-40B4-BE49-F238E27FC236}">
                <a16:creationId xmlns:a16="http://schemas.microsoft.com/office/drawing/2014/main" id="{72AB5CD8-4936-472B-BDA1-5A65BF6F5F99}"/>
              </a:ext>
            </a:extLst>
          </p:cNvPr>
          <p:cNvSpPr/>
          <p:nvPr/>
        </p:nvSpPr>
        <p:spPr>
          <a:xfrm>
            <a:off x="533400" y="2898214"/>
            <a:ext cx="8340437" cy="1560603"/>
          </a:xfrm>
          <a:prstGeom prst="wedgeRectCallout">
            <a:avLst>
              <a:gd name="adj1" fmla="val -21045"/>
              <a:gd name="adj2" fmla="val -33320"/>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fr-CA" sz="2000" dirty="0">
                <a:solidFill>
                  <a:schemeClr val="tx1"/>
                </a:solidFill>
              </a:rPr>
              <a:t>Déterminé à la signature du contrat et pas mis à jour.</a:t>
            </a:r>
          </a:p>
          <a:p>
            <a:pPr algn="ctr"/>
            <a:endParaRPr lang="fr-CA" sz="2000" dirty="0">
              <a:solidFill>
                <a:schemeClr val="tx1"/>
              </a:solidFill>
            </a:endParaRPr>
          </a:p>
          <a:p>
            <a:pPr algn="ctr"/>
            <a:r>
              <a:rPr lang="fr-CA" sz="2000" dirty="0">
                <a:solidFill>
                  <a:schemeClr val="tx1"/>
                </a:solidFill>
              </a:rPr>
              <a:t>Les modifications au prix de vente est alloué selon la même base que l’allocation initiale</a:t>
            </a:r>
          </a:p>
        </p:txBody>
      </p:sp>
      <p:sp>
        <p:nvSpPr>
          <p:cNvPr id="23" name="ZoneTexte 22">
            <a:extLst>
              <a:ext uri="{FF2B5EF4-FFF2-40B4-BE49-F238E27FC236}">
                <a16:creationId xmlns:a16="http://schemas.microsoft.com/office/drawing/2014/main" id="{87D0559D-1A07-4154-B43E-E1D153B4DB38}"/>
              </a:ext>
            </a:extLst>
          </p:cNvPr>
          <p:cNvSpPr txBox="1"/>
          <p:nvPr/>
        </p:nvSpPr>
        <p:spPr>
          <a:xfrm>
            <a:off x="665018" y="4932218"/>
            <a:ext cx="7416800" cy="1015663"/>
          </a:xfrm>
          <a:prstGeom prst="rect">
            <a:avLst/>
          </a:prstGeom>
          <a:noFill/>
        </p:spPr>
        <p:txBody>
          <a:bodyPr wrap="square" rtlCol="0">
            <a:spAutoFit/>
          </a:bodyPr>
          <a:lstStyle/>
          <a:p>
            <a:r>
              <a:rPr lang="fr-CA" sz="2000" dirty="0"/>
              <a:t>Attention:</a:t>
            </a:r>
          </a:p>
          <a:p>
            <a:pPr marL="285750" indent="-285750">
              <a:buFontTx/>
              <a:buChar char="-"/>
            </a:pPr>
            <a:r>
              <a:rPr lang="fr-CA" sz="2000" dirty="0"/>
              <a:t>Répartition d’une remise</a:t>
            </a:r>
          </a:p>
          <a:p>
            <a:pPr marL="285750" indent="-285750">
              <a:buFontTx/>
              <a:buChar char="-"/>
            </a:pPr>
            <a:r>
              <a:rPr lang="fr-CA" sz="2000" dirty="0"/>
              <a:t>Répartition contrepartie variable</a:t>
            </a:r>
          </a:p>
        </p:txBody>
      </p:sp>
      <p:sp>
        <p:nvSpPr>
          <p:cNvPr id="5" name="Espace réservé du numéro de diapositive 4"/>
          <p:cNvSpPr>
            <a:spLocks noGrp="1"/>
          </p:cNvSpPr>
          <p:nvPr>
            <p:ph type="sldNum" sz="quarter" idx="12"/>
          </p:nvPr>
        </p:nvSpPr>
        <p:spPr/>
        <p:txBody>
          <a:bodyPr/>
          <a:lstStyle/>
          <a:p>
            <a:fld id="{3F1B3DEB-6CA3-4B97-B0DC-BA3F5F40634A}" type="slidenum">
              <a:rPr lang="fr-CA" smtClean="0"/>
              <a:t>47</a:t>
            </a:fld>
            <a:endParaRPr lang="fr-CA"/>
          </a:p>
        </p:txBody>
      </p:sp>
    </p:spTree>
    <p:extLst>
      <p:ext uri="{BB962C8B-B14F-4D97-AF65-F5344CB8AC3E}">
        <p14:creationId xmlns:p14="http://schemas.microsoft.com/office/powerpoint/2010/main" val="394876877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9B4089F-5A6C-46CC-8DAF-010D49B80E5D}"/>
              </a:ext>
            </a:extLst>
          </p:cNvPr>
          <p:cNvSpPr txBox="1">
            <a:spLocks/>
          </p:cNvSpPr>
          <p:nvPr/>
        </p:nvSpPr>
        <p:spPr>
          <a:xfrm>
            <a:off x="533400" y="685800"/>
            <a:ext cx="7363691" cy="685796"/>
          </a:xfrm>
          <a:prstGeom prst="rect">
            <a:avLst/>
          </a:prstGeom>
        </p:spPr>
        <p:txBody>
          <a:bodyPr>
            <a:normAutofit fontScale="975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fr-CA" kern="0" dirty="0">
                <a:solidFill>
                  <a:schemeClr val="accent5"/>
                </a:solidFill>
              </a:rPr>
              <a:t>Répartir le prix de vente</a:t>
            </a:r>
            <a:endParaRPr lang="fr-CA" dirty="0">
              <a:solidFill>
                <a:schemeClr val="accent5"/>
              </a:solidFill>
            </a:endParaRPr>
          </a:p>
        </p:txBody>
      </p:sp>
      <p:sp>
        <p:nvSpPr>
          <p:cNvPr id="3" name="Pentagon 10">
            <a:extLst>
              <a:ext uri="{FF2B5EF4-FFF2-40B4-BE49-F238E27FC236}">
                <a16:creationId xmlns:a16="http://schemas.microsoft.com/office/drawing/2014/main" id="{86654433-96C7-4E06-9D94-ECF817A8A1EB}"/>
              </a:ext>
            </a:extLst>
          </p:cNvPr>
          <p:cNvSpPr/>
          <p:nvPr/>
        </p:nvSpPr>
        <p:spPr bwMode="ltGray">
          <a:xfrm rot="5400000">
            <a:off x="7940040" y="685800"/>
            <a:ext cx="762000" cy="609600"/>
          </a:xfrm>
          <a:prstGeom prst="homePlate">
            <a:avLst/>
          </a:prstGeom>
          <a:solidFill>
            <a:schemeClr val="accent6">
              <a:lumMod val="60000"/>
              <a:lumOff val="4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schemeClr val="bg1"/>
              </a:solidFill>
              <a:latin typeface="+mj-lt"/>
            </a:endParaRPr>
          </a:p>
        </p:txBody>
      </p:sp>
      <p:sp>
        <p:nvSpPr>
          <p:cNvPr id="4" name="TextBox 11">
            <a:extLst>
              <a:ext uri="{FF2B5EF4-FFF2-40B4-BE49-F238E27FC236}">
                <a16:creationId xmlns:a16="http://schemas.microsoft.com/office/drawing/2014/main" id="{C24D2439-4D12-4D55-B7D7-CE87FB5B3064}"/>
              </a:ext>
            </a:extLst>
          </p:cNvPr>
          <p:cNvSpPr txBox="1"/>
          <p:nvPr/>
        </p:nvSpPr>
        <p:spPr>
          <a:xfrm>
            <a:off x="8016240" y="609600"/>
            <a:ext cx="609600" cy="609600"/>
          </a:xfrm>
          <a:prstGeom prst="rect">
            <a:avLst/>
          </a:prstGeom>
          <a:noFill/>
        </p:spPr>
        <p:txBody>
          <a:bodyPr wrap="square" lIns="0" tIns="0" rIns="0" bIns="0" rtlCol="0">
            <a:noAutofit/>
          </a:bodyPr>
          <a:lstStyle/>
          <a:p>
            <a:pPr indent="-274320" algn="ctr">
              <a:spcAft>
                <a:spcPts val="900"/>
              </a:spcAft>
            </a:pPr>
            <a:r>
              <a:rPr lang="en-CA" sz="4000" b="1" i="1" dirty="0">
                <a:solidFill>
                  <a:schemeClr val="bg1"/>
                </a:solidFill>
                <a:latin typeface="+mj-lt"/>
              </a:rPr>
              <a:t>5</a:t>
            </a:r>
          </a:p>
        </p:txBody>
      </p:sp>
      <p:cxnSp>
        <p:nvCxnSpPr>
          <p:cNvPr id="7" name="Connecteur droit 6">
            <a:extLst>
              <a:ext uri="{FF2B5EF4-FFF2-40B4-BE49-F238E27FC236}">
                <a16:creationId xmlns:a16="http://schemas.microsoft.com/office/drawing/2014/main" id="{03FCF768-570C-44E8-A14F-AB4E83F86B6E}"/>
              </a:ext>
            </a:extLst>
          </p:cNvPr>
          <p:cNvCxnSpPr>
            <a:cxnSpLocks/>
          </p:cNvCxnSpPr>
          <p:nvPr/>
        </p:nvCxnSpPr>
        <p:spPr>
          <a:xfrm>
            <a:off x="457200" y="624840"/>
            <a:ext cx="7863840" cy="0"/>
          </a:xfrm>
          <a:prstGeom prst="line">
            <a:avLst/>
          </a:prstGeom>
          <a:ln w="28575">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3A16733F-9451-4C00-A917-8AE06EE9C22C}"/>
              </a:ext>
            </a:extLst>
          </p:cNvPr>
          <p:cNvSpPr/>
          <p:nvPr/>
        </p:nvSpPr>
        <p:spPr>
          <a:xfrm>
            <a:off x="7383087" y="5462626"/>
            <a:ext cx="1227513" cy="38529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sz="1600" b="1" i="1" dirty="0">
                <a:solidFill>
                  <a:schemeClr val="accent5"/>
                </a:solidFill>
              </a:rPr>
              <a:t>IFRS 15.73</a:t>
            </a:r>
          </a:p>
        </p:txBody>
      </p:sp>
      <p:sp>
        <p:nvSpPr>
          <p:cNvPr id="10" name="Espace réservé du contenu 2">
            <a:extLst>
              <a:ext uri="{FF2B5EF4-FFF2-40B4-BE49-F238E27FC236}">
                <a16:creationId xmlns:a16="http://schemas.microsoft.com/office/drawing/2014/main" id="{C3F85CE5-A0D9-4118-9109-5D6C169DE09D}"/>
              </a:ext>
            </a:extLst>
          </p:cNvPr>
          <p:cNvSpPr txBox="1">
            <a:spLocks/>
          </p:cNvSpPr>
          <p:nvPr/>
        </p:nvSpPr>
        <p:spPr bwMode="auto">
          <a:xfrm>
            <a:off x="533400" y="2993891"/>
            <a:ext cx="8092440" cy="2854032"/>
          </a:xfrm>
          <a:prstGeom prst="rect">
            <a:avLst/>
          </a:prstGeom>
          <a:noFill/>
          <a:ln w="9525">
            <a:noFill/>
            <a:miter lim="800000"/>
            <a:headEnd/>
            <a:tailEnd/>
          </a:ln>
          <a:effectLst/>
        </p:spPr>
        <p:txBody>
          <a:bodyPr vert="horz" wrap="square" lIns="82296" tIns="41148" rIns="82296" bIns="41148" numCol="1" anchor="t" anchorCtr="0" compatLnSpc="1">
            <a:prstTxWarp prst="textNoShape">
              <a:avLst/>
            </a:prstTxWarp>
          </a:bodyPr>
          <a:lstStyle/>
          <a:p>
            <a:pPr marL="257175" indent="-257175" fontAlgn="base">
              <a:spcBef>
                <a:spcPct val="20000"/>
              </a:spcBef>
              <a:spcAft>
                <a:spcPct val="0"/>
              </a:spcAft>
              <a:buClr>
                <a:srgbClr val="3333CC"/>
              </a:buClr>
              <a:buSzPct val="60000"/>
              <a:buFont typeface="Wingdings" pitchFamily="2" charset="2"/>
              <a:buChar char="n"/>
            </a:pPr>
            <a:r>
              <a:rPr lang="fr-CA" sz="2000" kern="0" dirty="0">
                <a:latin typeface="+mj-lt"/>
              </a:rPr>
              <a:t>3 méthodes sont possibles (en ordre de priorité):</a:t>
            </a:r>
          </a:p>
          <a:p>
            <a:pPr marL="385763" indent="-385763" fontAlgn="base">
              <a:spcBef>
                <a:spcPct val="20000"/>
              </a:spcBef>
              <a:spcAft>
                <a:spcPct val="0"/>
              </a:spcAft>
              <a:buClr>
                <a:srgbClr val="3333CC"/>
              </a:buClr>
              <a:buSzPct val="60000"/>
              <a:buFont typeface="+mj-lt"/>
              <a:buAutoNum type="arabicPeriod"/>
            </a:pPr>
            <a:r>
              <a:rPr lang="fr-CA" sz="2000" kern="0" dirty="0">
                <a:latin typeface="+mj-lt"/>
              </a:rPr>
              <a:t>la méthode </a:t>
            </a:r>
            <a:r>
              <a:rPr lang="fr-CA" sz="2000" b="1" kern="0" dirty="0">
                <a:latin typeface="+mj-lt"/>
              </a:rPr>
              <a:t>d’évaluation du marché </a:t>
            </a:r>
            <a:r>
              <a:rPr lang="fr-CA" sz="2000" kern="0" dirty="0">
                <a:latin typeface="+mj-lt"/>
              </a:rPr>
              <a:t>avec ajustement: basée sur les prix de vente externes sur le marché</a:t>
            </a:r>
          </a:p>
          <a:p>
            <a:pPr marL="385763" indent="-385763" fontAlgn="base">
              <a:spcBef>
                <a:spcPct val="20000"/>
              </a:spcBef>
              <a:spcAft>
                <a:spcPct val="0"/>
              </a:spcAft>
              <a:buClr>
                <a:srgbClr val="3333CC"/>
              </a:buClr>
              <a:buSzPct val="60000"/>
              <a:buFont typeface="+mj-lt"/>
              <a:buAutoNum type="arabicPeriod"/>
            </a:pPr>
            <a:r>
              <a:rPr lang="fr-CA" sz="2000" kern="0" dirty="0">
                <a:latin typeface="+mj-lt"/>
              </a:rPr>
              <a:t>la méthode du </a:t>
            </a:r>
            <a:r>
              <a:rPr lang="fr-CA" sz="2000" b="1" kern="0" dirty="0">
                <a:latin typeface="+mj-lt"/>
              </a:rPr>
              <a:t>coût attendu </a:t>
            </a:r>
            <a:r>
              <a:rPr lang="fr-CA" sz="2000" kern="0" dirty="0">
                <a:latin typeface="+mj-lt"/>
              </a:rPr>
              <a:t>plus la marge: basée sur des données internes  </a:t>
            </a:r>
          </a:p>
          <a:p>
            <a:pPr marL="385763" indent="-385763" fontAlgn="base">
              <a:spcBef>
                <a:spcPct val="20000"/>
              </a:spcBef>
              <a:spcAft>
                <a:spcPct val="0"/>
              </a:spcAft>
              <a:buClr>
                <a:srgbClr val="3333CC"/>
              </a:buClr>
              <a:buSzPct val="60000"/>
              <a:buFont typeface="+mj-lt"/>
              <a:buAutoNum type="arabicPeriod"/>
            </a:pPr>
            <a:r>
              <a:rPr lang="fr-CA" sz="2000" kern="0" dirty="0">
                <a:latin typeface="+mj-lt"/>
              </a:rPr>
              <a:t>la </a:t>
            </a:r>
            <a:r>
              <a:rPr lang="fr-CA" sz="2000" b="1" kern="0" dirty="0">
                <a:latin typeface="+mj-lt"/>
              </a:rPr>
              <a:t>méthode résiduelle </a:t>
            </a:r>
            <a:r>
              <a:rPr lang="fr-CA" sz="2000" kern="0" dirty="0">
                <a:latin typeface="+mj-lt"/>
              </a:rPr>
              <a:t>: établir le prix spécifique des autres obligations et par différence, établir le prix de l’obligation ne pouvant être évaluée.</a:t>
            </a:r>
          </a:p>
          <a:p>
            <a:pPr marL="308610" indent="-308610" fontAlgn="base">
              <a:spcBef>
                <a:spcPct val="20000"/>
              </a:spcBef>
              <a:spcAft>
                <a:spcPct val="0"/>
              </a:spcAft>
              <a:buClr>
                <a:srgbClr val="003C71"/>
              </a:buClr>
              <a:buSzPct val="100000"/>
              <a:buFont typeface="Arial"/>
              <a:buChar char="•"/>
              <a:defRPr/>
            </a:pPr>
            <a:endParaRPr lang="fr-CA" sz="2000" kern="0" dirty="0">
              <a:latin typeface="+mj-lt"/>
            </a:endParaRPr>
          </a:p>
        </p:txBody>
      </p:sp>
      <p:sp>
        <p:nvSpPr>
          <p:cNvPr id="11" name="Rectangle 10">
            <a:extLst>
              <a:ext uri="{FF2B5EF4-FFF2-40B4-BE49-F238E27FC236}">
                <a16:creationId xmlns:a16="http://schemas.microsoft.com/office/drawing/2014/main" id="{235E025E-DD4E-46EA-BBCB-231582596BEE}"/>
              </a:ext>
            </a:extLst>
          </p:cNvPr>
          <p:cNvSpPr/>
          <p:nvPr/>
        </p:nvSpPr>
        <p:spPr>
          <a:xfrm>
            <a:off x="533400" y="1595142"/>
            <a:ext cx="8092440" cy="1101876"/>
          </a:xfrm>
          <a:prstGeom prst="rect">
            <a:avLst/>
          </a:prstGeom>
          <a:solidFill>
            <a:schemeClr val="accent6">
              <a:lumMod val="60000"/>
              <a:lumOff val="40000"/>
            </a:schemeClr>
          </a:solidFill>
          <a:ln/>
        </p:spPr>
        <p:style>
          <a:lnRef idx="3">
            <a:schemeClr val="lt1"/>
          </a:lnRef>
          <a:fillRef idx="1">
            <a:schemeClr val="accent6"/>
          </a:fillRef>
          <a:effectRef idx="1">
            <a:schemeClr val="accent6"/>
          </a:effectRef>
          <a:fontRef idx="minor">
            <a:schemeClr val="lt1"/>
          </a:fontRef>
        </p:style>
        <p:txBody>
          <a:bodyPr rtlCol="0" anchor="ctr"/>
          <a:lstStyle/>
          <a:p>
            <a:pPr fontAlgn="base">
              <a:spcBef>
                <a:spcPct val="20000"/>
              </a:spcBef>
              <a:spcAft>
                <a:spcPct val="0"/>
              </a:spcAft>
              <a:buClr>
                <a:srgbClr val="003C71"/>
              </a:buClr>
              <a:buSzPct val="100000"/>
              <a:defRPr/>
            </a:pPr>
            <a:r>
              <a:rPr lang="fr-CA" sz="2000" kern="0" dirty="0">
                <a:solidFill>
                  <a:srgbClr val="000000"/>
                </a:solidFill>
              </a:rPr>
              <a:t>Prix de vente spécifique : </a:t>
            </a:r>
            <a:r>
              <a:rPr lang="fr-CA" sz="2000" i="1" kern="0" dirty="0">
                <a:solidFill>
                  <a:srgbClr val="000000"/>
                </a:solidFill>
              </a:rPr>
              <a:t>Prix auquel une entité vendrait séparément à un client un bien ou un service promis.</a:t>
            </a:r>
          </a:p>
        </p:txBody>
      </p:sp>
      <p:sp>
        <p:nvSpPr>
          <p:cNvPr id="5" name="Espace réservé du numéro de diapositive 4"/>
          <p:cNvSpPr>
            <a:spLocks noGrp="1"/>
          </p:cNvSpPr>
          <p:nvPr>
            <p:ph type="sldNum" sz="quarter" idx="12"/>
          </p:nvPr>
        </p:nvSpPr>
        <p:spPr/>
        <p:txBody>
          <a:bodyPr/>
          <a:lstStyle/>
          <a:p>
            <a:fld id="{3F1B3DEB-6CA3-4B97-B0DC-BA3F5F40634A}" type="slidenum">
              <a:rPr lang="fr-CA" smtClean="0"/>
              <a:t>48</a:t>
            </a:fld>
            <a:endParaRPr lang="fr-CA"/>
          </a:p>
        </p:txBody>
      </p:sp>
    </p:spTree>
    <p:extLst>
      <p:ext uri="{BB962C8B-B14F-4D97-AF65-F5344CB8AC3E}">
        <p14:creationId xmlns:p14="http://schemas.microsoft.com/office/powerpoint/2010/main" val="344609569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9B4089F-5A6C-46CC-8DAF-010D49B80E5D}"/>
              </a:ext>
            </a:extLst>
          </p:cNvPr>
          <p:cNvSpPr txBox="1">
            <a:spLocks/>
          </p:cNvSpPr>
          <p:nvPr/>
        </p:nvSpPr>
        <p:spPr>
          <a:xfrm>
            <a:off x="533400" y="685800"/>
            <a:ext cx="7363691" cy="685796"/>
          </a:xfrm>
          <a:prstGeom prst="rect">
            <a:avLst/>
          </a:prstGeom>
        </p:spPr>
        <p:txBody>
          <a:bodyPr>
            <a:normAutofit fontScale="975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fr-CA" kern="0" dirty="0">
                <a:solidFill>
                  <a:schemeClr val="accent6"/>
                </a:solidFill>
              </a:rPr>
              <a:t>Exemple 11</a:t>
            </a:r>
            <a:endParaRPr lang="fr-CA" dirty="0">
              <a:solidFill>
                <a:schemeClr val="accent6"/>
              </a:solidFill>
            </a:endParaRPr>
          </a:p>
        </p:txBody>
      </p:sp>
      <p:sp>
        <p:nvSpPr>
          <p:cNvPr id="3" name="Pentagon 10">
            <a:extLst>
              <a:ext uri="{FF2B5EF4-FFF2-40B4-BE49-F238E27FC236}">
                <a16:creationId xmlns:a16="http://schemas.microsoft.com/office/drawing/2014/main" id="{86654433-96C7-4E06-9D94-ECF817A8A1EB}"/>
              </a:ext>
            </a:extLst>
          </p:cNvPr>
          <p:cNvSpPr/>
          <p:nvPr/>
        </p:nvSpPr>
        <p:spPr bwMode="ltGray">
          <a:xfrm rot="5400000">
            <a:off x="7940040" y="685800"/>
            <a:ext cx="762000" cy="609600"/>
          </a:xfrm>
          <a:prstGeom prst="homePlate">
            <a:avLst/>
          </a:prstGeom>
          <a:solidFill>
            <a:schemeClr val="accent6">
              <a:lumMod val="60000"/>
              <a:lumOff val="4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schemeClr val="bg1"/>
              </a:solidFill>
              <a:latin typeface="+mj-lt"/>
            </a:endParaRPr>
          </a:p>
        </p:txBody>
      </p:sp>
      <p:sp>
        <p:nvSpPr>
          <p:cNvPr id="4" name="TextBox 11">
            <a:extLst>
              <a:ext uri="{FF2B5EF4-FFF2-40B4-BE49-F238E27FC236}">
                <a16:creationId xmlns:a16="http://schemas.microsoft.com/office/drawing/2014/main" id="{C24D2439-4D12-4D55-B7D7-CE87FB5B3064}"/>
              </a:ext>
            </a:extLst>
          </p:cNvPr>
          <p:cNvSpPr txBox="1"/>
          <p:nvPr/>
        </p:nvSpPr>
        <p:spPr>
          <a:xfrm>
            <a:off x="8016240" y="609600"/>
            <a:ext cx="609600" cy="609600"/>
          </a:xfrm>
          <a:prstGeom prst="rect">
            <a:avLst/>
          </a:prstGeom>
          <a:noFill/>
        </p:spPr>
        <p:txBody>
          <a:bodyPr wrap="square" lIns="0" tIns="0" rIns="0" bIns="0" rtlCol="0">
            <a:noAutofit/>
          </a:bodyPr>
          <a:lstStyle/>
          <a:p>
            <a:pPr indent="-274320" algn="ctr">
              <a:spcAft>
                <a:spcPts val="900"/>
              </a:spcAft>
            </a:pPr>
            <a:r>
              <a:rPr lang="en-CA" sz="4000" b="1" i="1" dirty="0">
                <a:solidFill>
                  <a:schemeClr val="bg1"/>
                </a:solidFill>
                <a:latin typeface="+mj-lt"/>
              </a:rPr>
              <a:t>5</a:t>
            </a:r>
          </a:p>
        </p:txBody>
      </p:sp>
      <p:cxnSp>
        <p:nvCxnSpPr>
          <p:cNvPr id="7" name="Connecteur droit 6">
            <a:extLst>
              <a:ext uri="{FF2B5EF4-FFF2-40B4-BE49-F238E27FC236}">
                <a16:creationId xmlns:a16="http://schemas.microsoft.com/office/drawing/2014/main" id="{03FCF768-570C-44E8-A14F-AB4E83F86B6E}"/>
              </a:ext>
            </a:extLst>
          </p:cNvPr>
          <p:cNvCxnSpPr>
            <a:cxnSpLocks/>
          </p:cNvCxnSpPr>
          <p:nvPr/>
        </p:nvCxnSpPr>
        <p:spPr>
          <a:xfrm>
            <a:off x="457200" y="624840"/>
            <a:ext cx="7863840" cy="0"/>
          </a:xfrm>
          <a:prstGeom prst="line">
            <a:avLst/>
          </a:prstGeom>
          <a:ln w="28575">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11" name="ZoneTexte 10">
            <a:extLst>
              <a:ext uri="{FF2B5EF4-FFF2-40B4-BE49-F238E27FC236}">
                <a16:creationId xmlns:a16="http://schemas.microsoft.com/office/drawing/2014/main" id="{47E4342B-6643-4D8A-8AF7-D0943688D345}"/>
              </a:ext>
            </a:extLst>
          </p:cNvPr>
          <p:cNvSpPr txBox="1"/>
          <p:nvPr/>
        </p:nvSpPr>
        <p:spPr>
          <a:xfrm>
            <a:off x="533400" y="1732677"/>
            <a:ext cx="7916156" cy="1754326"/>
          </a:xfrm>
          <a:prstGeom prst="rect">
            <a:avLst/>
          </a:prstGeom>
          <a:noFill/>
        </p:spPr>
        <p:txBody>
          <a:bodyPr wrap="square" rtlCol="0">
            <a:spAutoFit/>
          </a:bodyPr>
          <a:lstStyle/>
          <a:p>
            <a:r>
              <a:rPr lang="fr-CA" dirty="0"/>
              <a:t>ABC conclut un contrat avec un client en vue de lui vendre les produits A, B et C en contrepartie d'un montant de 100 UM. </a:t>
            </a:r>
          </a:p>
          <a:p>
            <a:endParaRPr lang="fr-CA" dirty="0"/>
          </a:p>
          <a:p>
            <a:r>
              <a:rPr lang="fr-CA" dirty="0"/>
              <a:t>L'entité vend couramment le produit A, B et C séparément aux prix respectifs de 40 $, 55 $ et 45 $. De plus, l'entité vend couramment les produits B et C ensemble pour 60 $.</a:t>
            </a:r>
          </a:p>
        </p:txBody>
      </p:sp>
      <p:sp>
        <p:nvSpPr>
          <p:cNvPr id="5" name="Espace réservé du numéro de diapositive 4"/>
          <p:cNvSpPr>
            <a:spLocks noGrp="1"/>
          </p:cNvSpPr>
          <p:nvPr>
            <p:ph type="sldNum" sz="quarter" idx="12"/>
          </p:nvPr>
        </p:nvSpPr>
        <p:spPr/>
        <p:txBody>
          <a:bodyPr/>
          <a:lstStyle/>
          <a:p>
            <a:fld id="{3F1B3DEB-6CA3-4B97-B0DC-BA3F5F40634A}" type="slidenum">
              <a:rPr lang="fr-CA" smtClean="0"/>
              <a:t>49</a:t>
            </a:fld>
            <a:endParaRPr lang="fr-CA"/>
          </a:p>
        </p:txBody>
      </p:sp>
    </p:spTree>
    <p:extLst>
      <p:ext uri="{BB962C8B-B14F-4D97-AF65-F5344CB8AC3E}">
        <p14:creationId xmlns:p14="http://schemas.microsoft.com/office/powerpoint/2010/main" val="69220303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9B4089F-5A6C-46CC-8DAF-010D49B80E5D}"/>
              </a:ext>
            </a:extLst>
          </p:cNvPr>
          <p:cNvSpPr txBox="1">
            <a:spLocks/>
          </p:cNvSpPr>
          <p:nvPr/>
        </p:nvSpPr>
        <p:spPr>
          <a:xfrm>
            <a:off x="533400" y="685800"/>
            <a:ext cx="7363691" cy="685796"/>
          </a:xfrm>
          <a:prstGeom prst="rect">
            <a:avLst/>
          </a:prstGeom>
        </p:spPr>
        <p:txBody>
          <a:bodyPr>
            <a:normAutofit fontScale="975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fr-CA" kern="0" dirty="0">
                <a:solidFill>
                  <a:schemeClr val="accent6"/>
                </a:solidFill>
              </a:rPr>
              <a:t>Exemple 11 - solution</a:t>
            </a:r>
            <a:endParaRPr lang="fr-CA" dirty="0">
              <a:solidFill>
                <a:schemeClr val="accent6"/>
              </a:solidFill>
            </a:endParaRPr>
          </a:p>
        </p:txBody>
      </p:sp>
      <p:sp>
        <p:nvSpPr>
          <p:cNvPr id="5" name="ZoneTexte 4">
            <a:extLst>
              <a:ext uri="{FF2B5EF4-FFF2-40B4-BE49-F238E27FC236}">
                <a16:creationId xmlns:a16="http://schemas.microsoft.com/office/drawing/2014/main" id="{111C699B-5BF0-4F5A-88FB-719E102AFC76}"/>
              </a:ext>
            </a:extLst>
          </p:cNvPr>
          <p:cNvSpPr txBox="1"/>
          <p:nvPr/>
        </p:nvSpPr>
        <p:spPr>
          <a:xfrm>
            <a:off x="457200" y="1714386"/>
            <a:ext cx="8277367" cy="2031325"/>
          </a:xfrm>
          <a:prstGeom prst="rect">
            <a:avLst/>
          </a:prstGeom>
          <a:noFill/>
        </p:spPr>
        <p:txBody>
          <a:bodyPr wrap="square" rtlCol="0">
            <a:spAutoFit/>
          </a:bodyPr>
          <a:lstStyle/>
          <a:p>
            <a:r>
              <a:rPr lang="fr-CA" dirty="0"/>
              <a:t>Le contrat prévoit une remise de 40 UM sur la transaction prise dans son ensemble. Comme l'entité vend couramment les produits B et C ensemble pour 60 UM et le produit A pour 40 UM, elle dispose d'éléments qui lui indiquent que la totalité de la remise devrait être affectée aux promesses de fourniture des produits B et C selon le par. 82 d'IFRS 15.</a:t>
            </a:r>
          </a:p>
          <a:p>
            <a:endParaRPr lang="fr-CA" dirty="0"/>
          </a:p>
          <a:p>
            <a:endParaRPr lang="fr-CA" dirty="0"/>
          </a:p>
        </p:txBody>
      </p:sp>
      <p:graphicFrame>
        <p:nvGraphicFramePr>
          <p:cNvPr id="6" name="Tableau 5">
            <a:extLst>
              <a:ext uri="{FF2B5EF4-FFF2-40B4-BE49-F238E27FC236}">
                <a16:creationId xmlns:a16="http://schemas.microsoft.com/office/drawing/2014/main" id="{8652C273-C5DD-4675-888B-F4760518B5D9}"/>
              </a:ext>
            </a:extLst>
          </p:cNvPr>
          <p:cNvGraphicFramePr>
            <a:graphicFrameLocks noGrp="1"/>
          </p:cNvGraphicFramePr>
          <p:nvPr>
            <p:extLst>
              <p:ext uri="{D42A27DB-BD31-4B8C-83A1-F6EECF244321}">
                <p14:modId xmlns:p14="http://schemas.microsoft.com/office/powerpoint/2010/main" val="2981952029"/>
              </p:ext>
            </p:extLst>
          </p:nvPr>
        </p:nvGraphicFramePr>
        <p:xfrm>
          <a:off x="533400" y="3555096"/>
          <a:ext cx="8037543" cy="1280160"/>
        </p:xfrm>
        <a:graphic>
          <a:graphicData uri="http://schemas.openxmlformats.org/drawingml/2006/table">
            <a:tbl>
              <a:tblPr/>
              <a:tblGrid>
                <a:gridCol w="1444950">
                  <a:extLst>
                    <a:ext uri="{9D8B030D-6E8A-4147-A177-3AD203B41FA5}">
                      <a16:colId xmlns:a16="http://schemas.microsoft.com/office/drawing/2014/main" val="771710327"/>
                    </a:ext>
                  </a:extLst>
                </a:gridCol>
                <a:gridCol w="788657">
                  <a:extLst>
                    <a:ext uri="{9D8B030D-6E8A-4147-A177-3AD203B41FA5}">
                      <a16:colId xmlns:a16="http://schemas.microsoft.com/office/drawing/2014/main" val="2146906863"/>
                    </a:ext>
                  </a:extLst>
                </a:gridCol>
                <a:gridCol w="5803936">
                  <a:extLst>
                    <a:ext uri="{9D8B030D-6E8A-4147-A177-3AD203B41FA5}">
                      <a16:colId xmlns:a16="http://schemas.microsoft.com/office/drawing/2014/main" val="489449018"/>
                    </a:ext>
                  </a:extLst>
                </a:gridCol>
              </a:tblGrid>
              <a:tr h="0">
                <a:tc>
                  <a:txBody>
                    <a:bodyPr/>
                    <a:lstStyle/>
                    <a:p>
                      <a:r>
                        <a:rPr lang="fr-CA" dirty="0">
                          <a:effectLst/>
                        </a:rPr>
                        <a:t>Produit A</a:t>
                      </a:r>
                    </a:p>
                    <a:p>
                      <a:r>
                        <a:rPr lang="fr-CA" dirty="0">
                          <a:effectLst/>
                        </a:rPr>
                        <a:t>Produit B</a:t>
                      </a:r>
                    </a:p>
                  </a:txBody>
                  <a:tcPr marL="30480" marR="30480" marT="30480" marB="30480">
                    <a:lnL>
                      <a:noFill/>
                    </a:lnL>
                    <a:lnR>
                      <a:noFill/>
                    </a:lnR>
                    <a:lnT>
                      <a:noFill/>
                    </a:lnT>
                    <a:lnB>
                      <a:noFill/>
                    </a:lnB>
                    <a:solidFill>
                      <a:srgbClr val="FFFFFF"/>
                    </a:solidFill>
                  </a:tcPr>
                </a:tc>
                <a:tc>
                  <a:txBody>
                    <a:bodyPr/>
                    <a:lstStyle/>
                    <a:p>
                      <a:pPr algn="r" defTabSz="179388"/>
                      <a:r>
                        <a:rPr lang="fr-CA" dirty="0">
                          <a:effectLst/>
                        </a:rPr>
                        <a:t>40</a:t>
                      </a:r>
                    </a:p>
                    <a:p>
                      <a:pPr algn="r"/>
                      <a:r>
                        <a:rPr lang="fr-CA" dirty="0">
                          <a:effectLst/>
                        </a:rPr>
                        <a:t>33</a:t>
                      </a:r>
                    </a:p>
                  </a:txBody>
                  <a:tcPr marL="30480" marR="30480" marT="30480" marB="30480">
                    <a:lnL>
                      <a:noFill/>
                    </a:lnL>
                    <a:lnR>
                      <a:noFill/>
                    </a:lnR>
                    <a:lnT>
                      <a:noFill/>
                    </a:lnT>
                    <a:lnB>
                      <a:noFill/>
                    </a:lnB>
                    <a:solidFill>
                      <a:srgbClr val="FFFFFF"/>
                    </a:solidFill>
                  </a:tcPr>
                </a:tc>
                <a:tc>
                  <a:txBody>
                    <a:bodyPr/>
                    <a:lstStyle/>
                    <a:p>
                      <a:endParaRPr lang="pt-BR" dirty="0">
                        <a:effectLst/>
                      </a:endParaRPr>
                    </a:p>
                    <a:p>
                      <a:r>
                        <a:rPr lang="pt-BR" dirty="0">
                          <a:effectLst/>
                        </a:rPr>
                        <a:t> (55 $ ÷ prix de vente spécifique total de 100 $ × 60 $)</a:t>
                      </a:r>
                    </a:p>
                  </a:txBody>
                  <a:tcPr marL="30480" marR="30480" marT="30480" marB="30480">
                    <a:lnL>
                      <a:noFill/>
                    </a:lnL>
                    <a:lnR>
                      <a:noFill/>
                    </a:lnR>
                    <a:lnT>
                      <a:noFill/>
                    </a:lnT>
                    <a:lnB>
                      <a:noFill/>
                    </a:lnB>
                    <a:solidFill>
                      <a:srgbClr val="FFFFFF"/>
                    </a:solidFill>
                  </a:tcPr>
                </a:tc>
                <a:extLst>
                  <a:ext uri="{0D108BD9-81ED-4DB2-BD59-A6C34878D82A}">
                    <a16:rowId xmlns:a16="http://schemas.microsoft.com/office/drawing/2014/main" val="2301608505"/>
                  </a:ext>
                </a:extLst>
              </a:tr>
              <a:tr h="0">
                <a:tc>
                  <a:txBody>
                    <a:bodyPr/>
                    <a:lstStyle/>
                    <a:p>
                      <a:r>
                        <a:rPr lang="fr-CA">
                          <a:effectLst/>
                        </a:rPr>
                        <a:t>Produit C</a:t>
                      </a:r>
                    </a:p>
                  </a:txBody>
                  <a:tcPr marL="30480" marR="30480" marT="30480" marB="30480">
                    <a:lnL>
                      <a:noFill/>
                    </a:lnL>
                    <a:lnR>
                      <a:noFill/>
                    </a:lnR>
                    <a:lnT>
                      <a:noFill/>
                    </a:lnT>
                    <a:lnB>
                      <a:noFill/>
                    </a:lnB>
                    <a:solidFill>
                      <a:srgbClr val="FFFFFF"/>
                    </a:solidFill>
                  </a:tcPr>
                </a:tc>
                <a:tc>
                  <a:txBody>
                    <a:bodyPr/>
                    <a:lstStyle/>
                    <a:p>
                      <a:pPr algn="r"/>
                      <a:r>
                        <a:rPr lang="fr-CA" u="sng">
                          <a:effectLst/>
                        </a:rPr>
                        <a:t> 27</a:t>
                      </a:r>
                      <a:endParaRPr lang="fr-CA">
                        <a:effectLst/>
                      </a:endParaRPr>
                    </a:p>
                  </a:txBody>
                  <a:tcPr marL="30480" marR="30480" marT="30480" marB="30480">
                    <a:lnL>
                      <a:noFill/>
                    </a:lnL>
                    <a:lnR>
                      <a:noFill/>
                    </a:lnR>
                    <a:lnT>
                      <a:noFill/>
                    </a:lnT>
                    <a:lnB>
                      <a:noFill/>
                    </a:lnB>
                    <a:solidFill>
                      <a:srgbClr val="FFFFFF"/>
                    </a:solidFill>
                  </a:tcPr>
                </a:tc>
                <a:tc>
                  <a:txBody>
                    <a:bodyPr/>
                    <a:lstStyle/>
                    <a:p>
                      <a:r>
                        <a:rPr lang="pt-BR" dirty="0">
                          <a:effectLst/>
                        </a:rPr>
                        <a:t> (45 $ ÷ prix de vente spécifique total de 100 $ × 60 $)</a:t>
                      </a:r>
                    </a:p>
                  </a:txBody>
                  <a:tcPr marL="30480" marR="30480" marT="30480" marB="30480">
                    <a:lnL>
                      <a:noFill/>
                    </a:lnL>
                    <a:lnR>
                      <a:noFill/>
                    </a:lnR>
                    <a:lnT>
                      <a:noFill/>
                    </a:lnT>
                    <a:lnB>
                      <a:noFill/>
                    </a:lnB>
                    <a:solidFill>
                      <a:srgbClr val="FFFFFF"/>
                    </a:solidFill>
                  </a:tcPr>
                </a:tc>
                <a:extLst>
                  <a:ext uri="{0D108BD9-81ED-4DB2-BD59-A6C34878D82A}">
                    <a16:rowId xmlns:a16="http://schemas.microsoft.com/office/drawing/2014/main" val="3389099189"/>
                  </a:ext>
                </a:extLst>
              </a:tr>
              <a:tr h="0">
                <a:tc>
                  <a:txBody>
                    <a:bodyPr/>
                    <a:lstStyle/>
                    <a:p>
                      <a:r>
                        <a:rPr lang="fr-CA">
                          <a:effectLst/>
                        </a:rPr>
                        <a:t>Total</a:t>
                      </a:r>
                    </a:p>
                  </a:txBody>
                  <a:tcPr marL="30480" marR="30480" marT="30480" marB="30480">
                    <a:lnL>
                      <a:noFill/>
                    </a:lnL>
                    <a:lnR>
                      <a:noFill/>
                    </a:lnR>
                    <a:lnT>
                      <a:noFill/>
                    </a:lnT>
                    <a:lnB>
                      <a:noFill/>
                    </a:lnB>
                    <a:solidFill>
                      <a:srgbClr val="FFFFFF"/>
                    </a:solidFill>
                  </a:tcPr>
                </a:tc>
                <a:tc>
                  <a:txBody>
                    <a:bodyPr/>
                    <a:lstStyle/>
                    <a:p>
                      <a:pPr algn="r"/>
                      <a:r>
                        <a:rPr lang="fr-CA" dirty="0">
                          <a:effectLst/>
                        </a:rPr>
                        <a:t>100</a:t>
                      </a:r>
                    </a:p>
                  </a:txBody>
                  <a:tcPr marL="30480" marR="30480" marT="30480" marB="30480">
                    <a:lnL>
                      <a:noFill/>
                    </a:lnL>
                    <a:lnR>
                      <a:noFill/>
                    </a:lnR>
                    <a:lnT>
                      <a:noFill/>
                    </a:lnT>
                    <a:lnB>
                      <a:noFill/>
                    </a:lnB>
                    <a:solidFill>
                      <a:srgbClr val="FFFFFF"/>
                    </a:solidFill>
                  </a:tcPr>
                </a:tc>
                <a:tc>
                  <a:txBody>
                    <a:bodyPr/>
                    <a:lstStyle/>
                    <a:p>
                      <a:r>
                        <a:rPr lang="fr-CA" dirty="0">
                          <a:effectLst/>
                        </a:rPr>
                        <a:t> </a:t>
                      </a:r>
                    </a:p>
                  </a:txBody>
                  <a:tcPr marL="30480" marR="30480" marT="30480" marB="30480">
                    <a:lnL>
                      <a:noFill/>
                    </a:lnL>
                    <a:lnR>
                      <a:noFill/>
                    </a:lnR>
                    <a:lnT>
                      <a:noFill/>
                    </a:lnT>
                    <a:lnB>
                      <a:noFill/>
                    </a:lnB>
                    <a:solidFill>
                      <a:srgbClr val="FFFFFF"/>
                    </a:solidFill>
                  </a:tcPr>
                </a:tc>
                <a:extLst>
                  <a:ext uri="{0D108BD9-81ED-4DB2-BD59-A6C34878D82A}">
                    <a16:rowId xmlns:a16="http://schemas.microsoft.com/office/drawing/2014/main" val="1019951397"/>
                  </a:ext>
                </a:extLst>
              </a:tr>
            </a:tbl>
          </a:graphicData>
        </a:graphic>
      </p:graphicFrame>
      <p:sp>
        <p:nvSpPr>
          <p:cNvPr id="8" name="Pentagon 10">
            <a:extLst>
              <a:ext uri="{FF2B5EF4-FFF2-40B4-BE49-F238E27FC236}">
                <a16:creationId xmlns:a16="http://schemas.microsoft.com/office/drawing/2014/main" id="{29CA9569-1C95-4DFC-A59C-F665333233F7}"/>
              </a:ext>
            </a:extLst>
          </p:cNvPr>
          <p:cNvSpPr/>
          <p:nvPr/>
        </p:nvSpPr>
        <p:spPr bwMode="ltGray">
          <a:xfrm rot="5400000">
            <a:off x="7940040" y="685800"/>
            <a:ext cx="762000" cy="609600"/>
          </a:xfrm>
          <a:prstGeom prst="homePlate">
            <a:avLst/>
          </a:prstGeom>
          <a:solidFill>
            <a:schemeClr val="accent6">
              <a:lumMod val="60000"/>
              <a:lumOff val="4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solidFill>
                <a:schemeClr val="bg1"/>
              </a:solidFill>
              <a:latin typeface="+mj-lt"/>
            </a:endParaRPr>
          </a:p>
        </p:txBody>
      </p:sp>
      <p:sp>
        <p:nvSpPr>
          <p:cNvPr id="9" name="TextBox 11">
            <a:extLst>
              <a:ext uri="{FF2B5EF4-FFF2-40B4-BE49-F238E27FC236}">
                <a16:creationId xmlns:a16="http://schemas.microsoft.com/office/drawing/2014/main" id="{384FC9F8-36FB-41F7-835A-62DE6B233441}"/>
              </a:ext>
            </a:extLst>
          </p:cNvPr>
          <p:cNvSpPr txBox="1"/>
          <p:nvPr/>
        </p:nvSpPr>
        <p:spPr>
          <a:xfrm>
            <a:off x="8016240" y="609600"/>
            <a:ext cx="609600" cy="609600"/>
          </a:xfrm>
          <a:prstGeom prst="rect">
            <a:avLst/>
          </a:prstGeom>
          <a:noFill/>
        </p:spPr>
        <p:txBody>
          <a:bodyPr wrap="square" lIns="0" tIns="0" rIns="0" bIns="0" rtlCol="0">
            <a:noAutofit/>
          </a:bodyPr>
          <a:lstStyle/>
          <a:p>
            <a:pPr indent="-274320" algn="ctr">
              <a:spcAft>
                <a:spcPts val="900"/>
              </a:spcAft>
            </a:pPr>
            <a:r>
              <a:rPr lang="en-CA" sz="4000" b="1" i="1" dirty="0">
                <a:solidFill>
                  <a:schemeClr val="bg1"/>
                </a:solidFill>
                <a:latin typeface="+mj-lt"/>
              </a:rPr>
              <a:t>5</a:t>
            </a:r>
          </a:p>
        </p:txBody>
      </p:sp>
      <p:cxnSp>
        <p:nvCxnSpPr>
          <p:cNvPr id="10" name="Connecteur droit 9">
            <a:extLst>
              <a:ext uri="{FF2B5EF4-FFF2-40B4-BE49-F238E27FC236}">
                <a16:creationId xmlns:a16="http://schemas.microsoft.com/office/drawing/2014/main" id="{1FDC71CB-A56A-4845-A772-813FFF597840}"/>
              </a:ext>
            </a:extLst>
          </p:cNvPr>
          <p:cNvCxnSpPr>
            <a:cxnSpLocks/>
          </p:cNvCxnSpPr>
          <p:nvPr/>
        </p:nvCxnSpPr>
        <p:spPr>
          <a:xfrm>
            <a:off x="457200" y="624840"/>
            <a:ext cx="7863840" cy="0"/>
          </a:xfrm>
          <a:prstGeom prst="line">
            <a:avLst/>
          </a:prstGeom>
          <a:ln w="28575">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3" name="Espace réservé du numéro de diapositive 2"/>
          <p:cNvSpPr>
            <a:spLocks noGrp="1"/>
          </p:cNvSpPr>
          <p:nvPr>
            <p:ph type="sldNum" sz="quarter" idx="12"/>
          </p:nvPr>
        </p:nvSpPr>
        <p:spPr/>
        <p:txBody>
          <a:bodyPr/>
          <a:lstStyle/>
          <a:p>
            <a:fld id="{3F1B3DEB-6CA3-4B97-B0DC-BA3F5F40634A}" type="slidenum">
              <a:rPr lang="fr-CA" smtClean="0"/>
              <a:t>50</a:t>
            </a:fld>
            <a:endParaRPr lang="fr-CA"/>
          </a:p>
        </p:txBody>
      </p:sp>
    </p:spTree>
    <p:extLst>
      <p:ext uri="{BB962C8B-B14F-4D97-AF65-F5344CB8AC3E}">
        <p14:creationId xmlns:p14="http://schemas.microsoft.com/office/powerpoint/2010/main" val="32507309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texte 2">
            <a:extLst>
              <a:ext uri="{FF2B5EF4-FFF2-40B4-BE49-F238E27FC236}">
                <a16:creationId xmlns:a16="http://schemas.microsoft.com/office/drawing/2014/main" id="{F162D36D-E3F3-44B4-9D63-BDB6EF914D33}"/>
              </a:ext>
            </a:extLst>
          </p:cNvPr>
          <p:cNvSpPr>
            <a:spLocks noGrp="1"/>
          </p:cNvSpPr>
          <p:nvPr>
            <p:ph type="body" idx="1"/>
          </p:nvPr>
        </p:nvSpPr>
        <p:spPr/>
        <p:txBody>
          <a:bodyPr>
            <a:normAutofit/>
          </a:bodyPr>
          <a:lstStyle/>
          <a:p>
            <a:r>
              <a:rPr lang="fr-CA" sz="2400" dirty="0"/>
              <a:t>AUTRES ÉLÉMENTS D’ANALYSE</a:t>
            </a:r>
          </a:p>
        </p:txBody>
      </p:sp>
      <p:sp>
        <p:nvSpPr>
          <p:cNvPr id="2" name="Espace réservé du numéro de diapositive 1"/>
          <p:cNvSpPr>
            <a:spLocks noGrp="1"/>
          </p:cNvSpPr>
          <p:nvPr>
            <p:ph type="sldNum" sz="quarter" idx="12"/>
          </p:nvPr>
        </p:nvSpPr>
        <p:spPr/>
        <p:txBody>
          <a:bodyPr/>
          <a:lstStyle/>
          <a:p>
            <a:fld id="{3F1B3DEB-6CA3-4B97-B0DC-BA3F5F40634A}" type="slidenum">
              <a:rPr lang="fr-CA" smtClean="0"/>
              <a:t>51</a:t>
            </a:fld>
            <a:endParaRPr lang="fr-CA"/>
          </a:p>
        </p:txBody>
      </p:sp>
    </p:spTree>
    <p:extLst>
      <p:ext uri="{BB962C8B-B14F-4D97-AF65-F5344CB8AC3E}">
        <p14:creationId xmlns:p14="http://schemas.microsoft.com/office/powerpoint/2010/main" val="204076595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577124" y="1051213"/>
            <a:ext cx="7989752" cy="740664"/>
          </a:xfrm>
        </p:spPr>
        <p:txBody>
          <a:bodyPr>
            <a:noAutofit/>
          </a:bodyPr>
          <a:lstStyle/>
          <a:p>
            <a:r>
              <a:rPr lang="fr-CA" dirty="0"/>
              <a:t>Les coûts marginaux reliés à l’obtention du contrat</a:t>
            </a:r>
          </a:p>
        </p:txBody>
      </p:sp>
      <p:sp>
        <p:nvSpPr>
          <p:cNvPr id="3" name="Espace réservé du contenu 2"/>
          <p:cNvSpPr>
            <a:spLocks noGrp="1"/>
          </p:cNvSpPr>
          <p:nvPr>
            <p:ph idx="1"/>
          </p:nvPr>
        </p:nvSpPr>
        <p:spPr>
          <a:xfrm>
            <a:off x="581192" y="2228003"/>
            <a:ext cx="7989752" cy="2759633"/>
          </a:xfrm>
        </p:spPr>
        <p:txBody>
          <a:bodyPr>
            <a:normAutofit/>
          </a:bodyPr>
          <a:lstStyle/>
          <a:p>
            <a:pPr marL="0" indent="0">
              <a:buNone/>
            </a:pPr>
            <a:r>
              <a:rPr lang="fr-CA" sz="2000" dirty="0">
                <a:solidFill>
                  <a:schemeClr val="tx1"/>
                </a:solidFill>
              </a:rPr>
              <a:t>Définition : </a:t>
            </a:r>
          </a:p>
          <a:p>
            <a:pPr marL="0" indent="0">
              <a:buNone/>
            </a:pPr>
            <a:r>
              <a:rPr lang="fr-CA" sz="2000" dirty="0">
                <a:solidFill>
                  <a:schemeClr val="tx1"/>
                </a:solidFill>
              </a:rPr>
              <a:t>Ce sont les coûts que l’entité engage pour obtenir un contrat avec un client et qu’elle n’aurait pas engagés si elle n’avait pas obtenu le contrat. </a:t>
            </a:r>
          </a:p>
          <a:p>
            <a:pPr marL="0" indent="0">
              <a:buNone/>
            </a:pPr>
            <a:endParaRPr lang="fr-CA" sz="2000" i="1" dirty="0">
              <a:solidFill>
                <a:schemeClr val="tx1"/>
              </a:solidFill>
            </a:endParaRPr>
          </a:p>
          <a:p>
            <a:pPr>
              <a:buFont typeface="Wingdings" panose="05000000000000000000" pitchFamily="2" charset="2"/>
              <a:buChar char="Ø"/>
            </a:pPr>
            <a:r>
              <a:rPr lang="fr-CA" sz="2000" dirty="0">
                <a:solidFill>
                  <a:schemeClr val="tx1"/>
                </a:solidFill>
              </a:rPr>
              <a:t>Il faut les comptabiliser à l’actif si on s’attend à les récupérer</a:t>
            </a:r>
          </a:p>
          <a:p>
            <a:pPr marL="0" indent="0">
              <a:buNone/>
            </a:pPr>
            <a:endParaRPr lang="fr-CA" sz="2000" dirty="0">
              <a:solidFill>
                <a:schemeClr val="tx1"/>
              </a:solidFill>
            </a:endParaRPr>
          </a:p>
        </p:txBody>
      </p:sp>
      <p:sp>
        <p:nvSpPr>
          <p:cNvPr id="4" name="Espace réservé du numéro de diapositive 3"/>
          <p:cNvSpPr>
            <a:spLocks noGrp="1"/>
          </p:cNvSpPr>
          <p:nvPr>
            <p:ph type="sldNum" sz="quarter" idx="4"/>
          </p:nvPr>
        </p:nvSpPr>
        <p:spPr/>
        <p:txBody>
          <a:bodyPr/>
          <a:lstStyle/>
          <a:p>
            <a:endParaRPr lang="fr-CA" dirty="0">
              <a:solidFill>
                <a:srgbClr val="003C71"/>
              </a:solidFill>
            </a:endParaRPr>
          </a:p>
        </p:txBody>
      </p:sp>
    </p:spTree>
    <p:extLst>
      <p:ext uri="{BB962C8B-B14F-4D97-AF65-F5344CB8AC3E}">
        <p14:creationId xmlns:p14="http://schemas.microsoft.com/office/powerpoint/2010/main" val="252543177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9B4089F-5A6C-46CC-8DAF-010D49B80E5D}"/>
              </a:ext>
            </a:extLst>
          </p:cNvPr>
          <p:cNvSpPr txBox="1">
            <a:spLocks/>
          </p:cNvSpPr>
          <p:nvPr/>
        </p:nvSpPr>
        <p:spPr>
          <a:xfrm>
            <a:off x="533400" y="685800"/>
            <a:ext cx="7363691" cy="685796"/>
          </a:xfrm>
          <a:prstGeom prst="rect">
            <a:avLst/>
          </a:prstGeom>
        </p:spPr>
        <p:txBody>
          <a:bodyPr>
            <a:normAutofit fontScale="975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fr-CA" kern="0" dirty="0">
                <a:solidFill>
                  <a:schemeClr val="accent2"/>
                </a:solidFill>
              </a:rPr>
              <a:t>Exemple 12</a:t>
            </a:r>
            <a:endParaRPr lang="fr-CA" dirty="0">
              <a:solidFill>
                <a:schemeClr val="accent2"/>
              </a:solidFill>
            </a:endParaRPr>
          </a:p>
        </p:txBody>
      </p:sp>
      <p:sp>
        <p:nvSpPr>
          <p:cNvPr id="4" name="TextBox 11">
            <a:extLst>
              <a:ext uri="{FF2B5EF4-FFF2-40B4-BE49-F238E27FC236}">
                <a16:creationId xmlns:a16="http://schemas.microsoft.com/office/drawing/2014/main" id="{C24D2439-4D12-4D55-B7D7-CE87FB5B3064}"/>
              </a:ext>
            </a:extLst>
          </p:cNvPr>
          <p:cNvSpPr txBox="1"/>
          <p:nvPr/>
        </p:nvSpPr>
        <p:spPr>
          <a:xfrm>
            <a:off x="8016240" y="609600"/>
            <a:ext cx="609600" cy="609600"/>
          </a:xfrm>
          <a:prstGeom prst="rect">
            <a:avLst/>
          </a:prstGeom>
          <a:noFill/>
        </p:spPr>
        <p:txBody>
          <a:bodyPr wrap="square" lIns="0" tIns="0" rIns="0" bIns="0" rtlCol="0">
            <a:noAutofit/>
          </a:bodyPr>
          <a:lstStyle/>
          <a:p>
            <a:pPr indent="-274320" algn="ctr">
              <a:spcAft>
                <a:spcPts val="900"/>
              </a:spcAft>
            </a:pPr>
            <a:r>
              <a:rPr lang="en-CA" sz="4000" b="1" i="1" dirty="0">
                <a:solidFill>
                  <a:schemeClr val="bg1"/>
                </a:solidFill>
                <a:latin typeface="+mj-lt"/>
              </a:rPr>
              <a:t>5</a:t>
            </a:r>
          </a:p>
        </p:txBody>
      </p:sp>
      <p:sp>
        <p:nvSpPr>
          <p:cNvPr id="11" name="ZoneTexte 10">
            <a:extLst>
              <a:ext uri="{FF2B5EF4-FFF2-40B4-BE49-F238E27FC236}">
                <a16:creationId xmlns:a16="http://schemas.microsoft.com/office/drawing/2014/main" id="{47E4342B-6643-4D8A-8AF7-D0943688D345}"/>
              </a:ext>
            </a:extLst>
          </p:cNvPr>
          <p:cNvSpPr txBox="1"/>
          <p:nvPr/>
        </p:nvSpPr>
        <p:spPr>
          <a:xfrm>
            <a:off x="533400" y="1732677"/>
            <a:ext cx="7916156" cy="923330"/>
          </a:xfrm>
          <a:prstGeom prst="rect">
            <a:avLst/>
          </a:prstGeom>
          <a:noFill/>
        </p:spPr>
        <p:txBody>
          <a:bodyPr wrap="square" rtlCol="0">
            <a:spAutoFit/>
          </a:bodyPr>
          <a:lstStyle/>
          <a:p>
            <a:r>
              <a:rPr lang="fr-CA" dirty="0"/>
              <a:t>Une entité qui fournit des services de consultation remporte un appel d'offres en vue de la fourniture de services de consultation à un nouveau client. L'entité a engagé les coûts suivants pour obtenir le contrat :</a:t>
            </a:r>
          </a:p>
        </p:txBody>
      </p:sp>
      <p:graphicFrame>
        <p:nvGraphicFramePr>
          <p:cNvPr id="6" name="Tableau 5">
            <a:extLst>
              <a:ext uri="{FF2B5EF4-FFF2-40B4-BE49-F238E27FC236}">
                <a16:creationId xmlns:a16="http://schemas.microsoft.com/office/drawing/2014/main" id="{84816C4E-9701-48B7-A5B0-63C2B837DA19}"/>
              </a:ext>
            </a:extLst>
          </p:cNvPr>
          <p:cNvGraphicFramePr>
            <a:graphicFrameLocks noGrp="1"/>
          </p:cNvGraphicFramePr>
          <p:nvPr>
            <p:extLst>
              <p:ext uri="{D42A27DB-BD31-4B8C-83A1-F6EECF244321}">
                <p14:modId xmlns:p14="http://schemas.microsoft.com/office/powerpoint/2010/main" val="3830787289"/>
              </p:ext>
            </p:extLst>
          </p:nvPr>
        </p:nvGraphicFramePr>
        <p:xfrm>
          <a:off x="655308" y="2845634"/>
          <a:ext cx="7794248" cy="1341120"/>
        </p:xfrm>
        <a:graphic>
          <a:graphicData uri="http://schemas.openxmlformats.org/drawingml/2006/table">
            <a:tbl>
              <a:tblPr/>
              <a:tblGrid>
                <a:gridCol w="6406231">
                  <a:extLst>
                    <a:ext uri="{9D8B030D-6E8A-4147-A177-3AD203B41FA5}">
                      <a16:colId xmlns:a16="http://schemas.microsoft.com/office/drawing/2014/main" val="1613253495"/>
                    </a:ext>
                  </a:extLst>
                </a:gridCol>
                <a:gridCol w="1388017">
                  <a:extLst>
                    <a:ext uri="{9D8B030D-6E8A-4147-A177-3AD203B41FA5}">
                      <a16:colId xmlns:a16="http://schemas.microsoft.com/office/drawing/2014/main" val="537094987"/>
                    </a:ext>
                  </a:extLst>
                </a:gridCol>
              </a:tblGrid>
              <a:tr h="0">
                <a:tc>
                  <a:txBody>
                    <a:bodyPr/>
                    <a:lstStyle/>
                    <a:p>
                      <a:r>
                        <a:rPr lang="fr-CA">
                          <a:effectLst/>
                        </a:rPr>
                        <a:t>Frais juridiques externes liés au contrôle diligent</a:t>
                      </a:r>
                    </a:p>
                  </a:txBody>
                  <a:tcPr marL="30480" marR="30480" marT="30480" marB="30480">
                    <a:lnL>
                      <a:noFill/>
                    </a:lnL>
                    <a:lnR>
                      <a:noFill/>
                    </a:lnR>
                    <a:lnT>
                      <a:noFill/>
                    </a:lnT>
                    <a:lnB>
                      <a:noFill/>
                    </a:lnB>
                    <a:solidFill>
                      <a:srgbClr val="FFFFFF"/>
                    </a:solidFill>
                  </a:tcPr>
                </a:tc>
                <a:tc>
                  <a:txBody>
                    <a:bodyPr/>
                    <a:lstStyle/>
                    <a:p>
                      <a:pPr algn="r"/>
                      <a:r>
                        <a:rPr lang="fr-CA">
                          <a:effectLst/>
                        </a:rPr>
                        <a:t>15 000</a:t>
                      </a:r>
                    </a:p>
                  </a:txBody>
                  <a:tcPr marL="30480" marR="30480" marT="30480" marB="30480">
                    <a:lnL>
                      <a:noFill/>
                    </a:lnL>
                    <a:lnR>
                      <a:noFill/>
                    </a:lnR>
                    <a:lnT>
                      <a:noFill/>
                    </a:lnT>
                    <a:lnB>
                      <a:noFill/>
                    </a:lnB>
                    <a:solidFill>
                      <a:srgbClr val="FFFFFF"/>
                    </a:solidFill>
                  </a:tcPr>
                </a:tc>
                <a:extLst>
                  <a:ext uri="{0D108BD9-81ED-4DB2-BD59-A6C34878D82A}">
                    <a16:rowId xmlns:a16="http://schemas.microsoft.com/office/drawing/2014/main" val="289163534"/>
                  </a:ext>
                </a:extLst>
              </a:tr>
              <a:tr h="0">
                <a:tc>
                  <a:txBody>
                    <a:bodyPr/>
                    <a:lstStyle/>
                    <a:p>
                      <a:r>
                        <a:rPr lang="fr-CA">
                          <a:effectLst/>
                        </a:rPr>
                        <a:t>Frais de déplacement engagés pour présenter l'offre</a:t>
                      </a:r>
                    </a:p>
                  </a:txBody>
                  <a:tcPr marL="30480" marR="30480" marT="30480" marB="30480">
                    <a:lnL>
                      <a:noFill/>
                    </a:lnL>
                    <a:lnR>
                      <a:noFill/>
                    </a:lnR>
                    <a:lnT>
                      <a:noFill/>
                    </a:lnT>
                    <a:lnB>
                      <a:noFill/>
                    </a:lnB>
                    <a:solidFill>
                      <a:srgbClr val="FFFFFF"/>
                    </a:solidFill>
                  </a:tcPr>
                </a:tc>
                <a:tc>
                  <a:txBody>
                    <a:bodyPr/>
                    <a:lstStyle/>
                    <a:p>
                      <a:pPr algn="r"/>
                      <a:r>
                        <a:rPr lang="fr-CA">
                          <a:effectLst/>
                        </a:rPr>
                        <a:t>25 000</a:t>
                      </a:r>
                    </a:p>
                  </a:txBody>
                  <a:tcPr marL="30480" marR="30480" marT="30480" marB="30480">
                    <a:lnL>
                      <a:noFill/>
                    </a:lnL>
                    <a:lnR>
                      <a:noFill/>
                    </a:lnR>
                    <a:lnT>
                      <a:noFill/>
                    </a:lnT>
                    <a:lnB>
                      <a:noFill/>
                    </a:lnB>
                    <a:solidFill>
                      <a:srgbClr val="FFFFFF"/>
                    </a:solidFill>
                  </a:tcPr>
                </a:tc>
                <a:extLst>
                  <a:ext uri="{0D108BD9-81ED-4DB2-BD59-A6C34878D82A}">
                    <a16:rowId xmlns:a16="http://schemas.microsoft.com/office/drawing/2014/main" val="1062163978"/>
                  </a:ext>
                </a:extLst>
              </a:tr>
              <a:tr h="0">
                <a:tc>
                  <a:txBody>
                    <a:bodyPr/>
                    <a:lstStyle/>
                    <a:p>
                      <a:r>
                        <a:rPr lang="fr-CA">
                          <a:effectLst/>
                        </a:rPr>
                        <a:t>Commissions versées au personnel de vente</a:t>
                      </a:r>
                    </a:p>
                  </a:txBody>
                  <a:tcPr marL="30480" marR="30480" marT="30480" marB="30480">
                    <a:lnL>
                      <a:noFill/>
                    </a:lnL>
                    <a:lnR>
                      <a:noFill/>
                    </a:lnR>
                    <a:lnT>
                      <a:noFill/>
                    </a:lnT>
                    <a:lnB>
                      <a:noFill/>
                    </a:lnB>
                    <a:solidFill>
                      <a:srgbClr val="FFFFFF"/>
                    </a:solidFill>
                  </a:tcPr>
                </a:tc>
                <a:tc>
                  <a:txBody>
                    <a:bodyPr/>
                    <a:lstStyle/>
                    <a:p>
                      <a:pPr algn="r"/>
                      <a:r>
                        <a:rPr lang="fr-CA" u="sng">
                          <a:effectLst/>
                        </a:rPr>
                        <a:t>10 000</a:t>
                      </a:r>
                      <a:endParaRPr lang="fr-CA">
                        <a:effectLst/>
                      </a:endParaRPr>
                    </a:p>
                  </a:txBody>
                  <a:tcPr marL="30480" marR="30480" marT="30480" marB="30480">
                    <a:lnL>
                      <a:noFill/>
                    </a:lnL>
                    <a:lnR>
                      <a:noFill/>
                    </a:lnR>
                    <a:lnT>
                      <a:noFill/>
                    </a:lnT>
                    <a:lnB>
                      <a:noFill/>
                    </a:lnB>
                    <a:solidFill>
                      <a:srgbClr val="FFFFFF"/>
                    </a:solidFill>
                  </a:tcPr>
                </a:tc>
                <a:extLst>
                  <a:ext uri="{0D108BD9-81ED-4DB2-BD59-A6C34878D82A}">
                    <a16:rowId xmlns:a16="http://schemas.microsoft.com/office/drawing/2014/main" val="3748148871"/>
                  </a:ext>
                </a:extLst>
              </a:tr>
              <a:tr h="0">
                <a:tc>
                  <a:txBody>
                    <a:bodyPr/>
                    <a:lstStyle/>
                    <a:p>
                      <a:r>
                        <a:rPr lang="fr-CA">
                          <a:effectLst/>
                        </a:rPr>
                        <a:t>Total des coûts engagés</a:t>
                      </a:r>
                    </a:p>
                  </a:txBody>
                  <a:tcPr marL="30480" marR="30480" marT="30480" marB="30480">
                    <a:lnL>
                      <a:noFill/>
                    </a:lnL>
                    <a:lnR>
                      <a:noFill/>
                    </a:lnR>
                    <a:lnT>
                      <a:noFill/>
                    </a:lnT>
                    <a:lnB>
                      <a:noFill/>
                    </a:lnB>
                    <a:solidFill>
                      <a:srgbClr val="FFFFFF"/>
                    </a:solidFill>
                  </a:tcPr>
                </a:tc>
                <a:tc>
                  <a:txBody>
                    <a:bodyPr/>
                    <a:lstStyle/>
                    <a:p>
                      <a:pPr algn="r"/>
                      <a:r>
                        <a:rPr lang="fr-CA" dirty="0">
                          <a:effectLst/>
                        </a:rPr>
                        <a:t>50 000</a:t>
                      </a:r>
                    </a:p>
                  </a:txBody>
                  <a:tcPr marL="30480" marR="30480" marT="30480" marB="30480">
                    <a:lnL>
                      <a:noFill/>
                    </a:lnL>
                    <a:lnR>
                      <a:noFill/>
                    </a:lnR>
                    <a:lnT>
                      <a:noFill/>
                    </a:lnT>
                    <a:lnB>
                      <a:noFill/>
                    </a:lnB>
                    <a:solidFill>
                      <a:srgbClr val="FFFFFF"/>
                    </a:solidFill>
                  </a:tcPr>
                </a:tc>
                <a:extLst>
                  <a:ext uri="{0D108BD9-81ED-4DB2-BD59-A6C34878D82A}">
                    <a16:rowId xmlns:a16="http://schemas.microsoft.com/office/drawing/2014/main" val="2765816759"/>
                  </a:ext>
                </a:extLst>
              </a:tr>
            </a:tbl>
          </a:graphicData>
        </a:graphic>
      </p:graphicFrame>
      <p:sp>
        <p:nvSpPr>
          <p:cNvPr id="3" name="Espace réservé du numéro de diapositive 2"/>
          <p:cNvSpPr>
            <a:spLocks noGrp="1"/>
          </p:cNvSpPr>
          <p:nvPr>
            <p:ph type="sldNum" sz="quarter" idx="12"/>
          </p:nvPr>
        </p:nvSpPr>
        <p:spPr/>
        <p:txBody>
          <a:bodyPr/>
          <a:lstStyle/>
          <a:p>
            <a:fld id="{3F1B3DEB-6CA3-4B97-B0DC-BA3F5F40634A}" type="slidenum">
              <a:rPr lang="fr-CA" smtClean="0"/>
              <a:t>53</a:t>
            </a:fld>
            <a:endParaRPr lang="fr-CA"/>
          </a:p>
        </p:txBody>
      </p:sp>
    </p:spTree>
    <p:extLst>
      <p:ext uri="{BB962C8B-B14F-4D97-AF65-F5344CB8AC3E}">
        <p14:creationId xmlns:p14="http://schemas.microsoft.com/office/powerpoint/2010/main" val="215697150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9B4089F-5A6C-46CC-8DAF-010D49B80E5D}"/>
              </a:ext>
            </a:extLst>
          </p:cNvPr>
          <p:cNvSpPr txBox="1">
            <a:spLocks/>
          </p:cNvSpPr>
          <p:nvPr/>
        </p:nvSpPr>
        <p:spPr>
          <a:xfrm>
            <a:off x="533400" y="685800"/>
            <a:ext cx="7363691" cy="685796"/>
          </a:xfrm>
          <a:prstGeom prst="rect">
            <a:avLst/>
          </a:prstGeom>
        </p:spPr>
        <p:txBody>
          <a:bodyPr>
            <a:normAutofit fontScale="975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fr-CA" kern="0" dirty="0">
                <a:solidFill>
                  <a:schemeClr val="accent2"/>
                </a:solidFill>
              </a:rPr>
              <a:t>Exemple 12 - solution</a:t>
            </a:r>
            <a:endParaRPr lang="fr-CA" dirty="0">
              <a:solidFill>
                <a:schemeClr val="accent2"/>
              </a:solidFill>
            </a:endParaRPr>
          </a:p>
        </p:txBody>
      </p:sp>
      <p:sp>
        <p:nvSpPr>
          <p:cNvPr id="5" name="ZoneTexte 4">
            <a:extLst>
              <a:ext uri="{FF2B5EF4-FFF2-40B4-BE49-F238E27FC236}">
                <a16:creationId xmlns:a16="http://schemas.microsoft.com/office/drawing/2014/main" id="{111C699B-5BF0-4F5A-88FB-719E102AFC76}"/>
              </a:ext>
            </a:extLst>
          </p:cNvPr>
          <p:cNvSpPr txBox="1"/>
          <p:nvPr/>
        </p:nvSpPr>
        <p:spPr>
          <a:xfrm>
            <a:off x="457200" y="1714386"/>
            <a:ext cx="8277367" cy="3139321"/>
          </a:xfrm>
          <a:prstGeom prst="rect">
            <a:avLst/>
          </a:prstGeom>
          <a:noFill/>
        </p:spPr>
        <p:txBody>
          <a:bodyPr wrap="square" rtlCol="0">
            <a:spAutoFit/>
          </a:bodyPr>
          <a:lstStyle/>
          <a:p>
            <a:r>
              <a:rPr lang="fr-CA" dirty="0"/>
              <a:t>Conformément au par. 91 d'IFRS 15, l'entité comptabilise un actif de 10 000 $ au titre des coûts marginaux d'obtention du contrat correspondant aux commissions versées au personnel de vente, car elle s'attend à recouvrer ces coûts à même les honoraires futurs qui seront facturés pour les services de consultation. </a:t>
            </a:r>
          </a:p>
          <a:p>
            <a:endParaRPr lang="fr-CA" dirty="0"/>
          </a:p>
          <a:p>
            <a:r>
              <a:rPr lang="fr-CA" dirty="0"/>
              <a:t>L'entité établit que les frais juridiques externes et les frais de déplacement auraient été engagés que le contrat ait été obtenu ou non. Par conséquent, conformément au par. 93 d'IFRS 15, ces coûts sont comptabilisés en charges au moment où ils sont engagés.</a:t>
            </a:r>
          </a:p>
          <a:p>
            <a:endParaRPr lang="fr-CA" dirty="0"/>
          </a:p>
        </p:txBody>
      </p:sp>
      <p:sp>
        <p:nvSpPr>
          <p:cNvPr id="3" name="Espace réservé du numéro de diapositive 2"/>
          <p:cNvSpPr>
            <a:spLocks noGrp="1"/>
          </p:cNvSpPr>
          <p:nvPr>
            <p:ph type="sldNum" sz="quarter" idx="12"/>
          </p:nvPr>
        </p:nvSpPr>
        <p:spPr/>
        <p:txBody>
          <a:bodyPr/>
          <a:lstStyle/>
          <a:p>
            <a:fld id="{3F1B3DEB-6CA3-4B97-B0DC-BA3F5F40634A}" type="slidenum">
              <a:rPr lang="fr-CA" smtClean="0"/>
              <a:t>54</a:t>
            </a:fld>
            <a:endParaRPr lang="fr-CA"/>
          </a:p>
        </p:txBody>
      </p:sp>
    </p:spTree>
    <p:extLst>
      <p:ext uri="{BB962C8B-B14F-4D97-AF65-F5344CB8AC3E}">
        <p14:creationId xmlns:p14="http://schemas.microsoft.com/office/powerpoint/2010/main" val="185375928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581192" y="999202"/>
            <a:ext cx="7989752" cy="740664"/>
          </a:xfrm>
        </p:spPr>
        <p:txBody>
          <a:bodyPr/>
          <a:lstStyle/>
          <a:p>
            <a:r>
              <a:rPr lang="fr-CA" dirty="0"/>
              <a:t>Les coûts d’exécution du contrat</a:t>
            </a:r>
          </a:p>
        </p:txBody>
      </p:sp>
      <p:sp>
        <p:nvSpPr>
          <p:cNvPr id="3" name="Espace réservé du contenu 2"/>
          <p:cNvSpPr>
            <a:spLocks noGrp="1"/>
          </p:cNvSpPr>
          <p:nvPr>
            <p:ph idx="1"/>
          </p:nvPr>
        </p:nvSpPr>
        <p:spPr/>
        <p:txBody>
          <a:bodyPr>
            <a:normAutofit/>
          </a:bodyPr>
          <a:lstStyle/>
          <a:p>
            <a:pPr marL="0" indent="0">
              <a:buNone/>
            </a:pPr>
            <a:r>
              <a:rPr lang="fr-CA" sz="2000" b="1" u="sng" dirty="0">
                <a:solidFill>
                  <a:schemeClr val="tx1"/>
                </a:solidFill>
              </a:rPr>
              <a:t>Les coûts d’exécution du contrat incluent:</a:t>
            </a:r>
          </a:p>
          <a:p>
            <a:pPr lvl="0"/>
            <a:r>
              <a:rPr lang="fr-CA" sz="2000" dirty="0">
                <a:solidFill>
                  <a:schemeClr val="tx1"/>
                </a:solidFill>
              </a:rPr>
              <a:t>les coûts de main-d’œuvre directe, </a:t>
            </a:r>
          </a:p>
          <a:p>
            <a:pPr lvl="0"/>
            <a:r>
              <a:rPr lang="fr-CA" sz="2000" dirty="0">
                <a:solidFill>
                  <a:schemeClr val="tx1"/>
                </a:solidFill>
              </a:rPr>
              <a:t>le coût des matières premières, </a:t>
            </a:r>
          </a:p>
          <a:p>
            <a:pPr lvl="0"/>
            <a:r>
              <a:rPr lang="fr-CA" sz="2000" dirty="0">
                <a:solidFill>
                  <a:schemeClr val="tx1"/>
                </a:solidFill>
              </a:rPr>
              <a:t>les affections de coûts directement liés au contrat, </a:t>
            </a:r>
          </a:p>
          <a:p>
            <a:pPr lvl="0"/>
            <a:r>
              <a:rPr lang="fr-CA" sz="2000" dirty="0">
                <a:solidFill>
                  <a:schemeClr val="tx1"/>
                </a:solidFill>
              </a:rPr>
              <a:t>les coûts explicitement facturables au client,</a:t>
            </a:r>
          </a:p>
          <a:p>
            <a:pPr lvl="0"/>
            <a:r>
              <a:rPr lang="fr-CA" sz="2000" dirty="0">
                <a:solidFill>
                  <a:schemeClr val="tx1"/>
                </a:solidFill>
              </a:rPr>
              <a:t>les autres coûts (engagés uniquement parce que l’entité a conclu le contrat).</a:t>
            </a:r>
          </a:p>
          <a:p>
            <a:pPr marL="0" indent="0">
              <a:buNone/>
            </a:pPr>
            <a:endParaRPr lang="fr-CA" sz="2000" dirty="0">
              <a:solidFill>
                <a:schemeClr val="tx1"/>
              </a:solidFill>
            </a:endParaRPr>
          </a:p>
        </p:txBody>
      </p:sp>
      <p:sp>
        <p:nvSpPr>
          <p:cNvPr id="4" name="Espace réservé du numéro de diapositive 3"/>
          <p:cNvSpPr>
            <a:spLocks noGrp="1"/>
          </p:cNvSpPr>
          <p:nvPr>
            <p:ph type="sldNum" sz="quarter" idx="4"/>
          </p:nvPr>
        </p:nvSpPr>
        <p:spPr/>
        <p:txBody>
          <a:bodyPr/>
          <a:lstStyle/>
          <a:p>
            <a:endParaRPr lang="fr-CA" dirty="0">
              <a:solidFill>
                <a:srgbClr val="003C71"/>
              </a:solidFill>
            </a:endParaRPr>
          </a:p>
        </p:txBody>
      </p:sp>
    </p:spTree>
    <p:extLst>
      <p:ext uri="{BB962C8B-B14F-4D97-AF65-F5344CB8AC3E}">
        <p14:creationId xmlns:p14="http://schemas.microsoft.com/office/powerpoint/2010/main" val="122346665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78800" y="1051214"/>
            <a:ext cx="9144000" cy="740664"/>
          </a:xfrm>
        </p:spPr>
        <p:txBody>
          <a:bodyPr/>
          <a:lstStyle/>
          <a:p>
            <a:r>
              <a:rPr lang="fr-CA" dirty="0"/>
              <a:t>Les coûts d’exécution à l’actif</a:t>
            </a:r>
          </a:p>
        </p:txBody>
      </p:sp>
      <p:sp>
        <p:nvSpPr>
          <p:cNvPr id="3" name="Espace réservé du contenu 2"/>
          <p:cNvSpPr>
            <a:spLocks noGrp="1"/>
          </p:cNvSpPr>
          <p:nvPr>
            <p:ph idx="1"/>
          </p:nvPr>
        </p:nvSpPr>
        <p:spPr>
          <a:xfrm>
            <a:off x="478800" y="2427704"/>
            <a:ext cx="8186400" cy="3723714"/>
          </a:xfrm>
        </p:spPr>
        <p:txBody>
          <a:bodyPr>
            <a:noAutofit/>
          </a:bodyPr>
          <a:lstStyle/>
          <a:p>
            <a:pPr marL="0" indent="0">
              <a:buNone/>
            </a:pPr>
            <a:r>
              <a:rPr lang="fr-CA" sz="2000" dirty="0">
                <a:solidFill>
                  <a:schemeClr val="tx1"/>
                </a:solidFill>
              </a:rPr>
              <a:t>Les coûts engagés pour l’exécution d’un contrat comptabilisés à </a:t>
            </a:r>
            <a:r>
              <a:rPr lang="fr-CA" sz="2000" u="sng" dirty="0">
                <a:solidFill>
                  <a:schemeClr val="tx1"/>
                </a:solidFill>
              </a:rPr>
              <a:t>l’actif</a:t>
            </a:r>
            <a:r>
              <a:rPr lang="fr-CA" sz="2000" dirty="0">
                <a:solidFill>
                  <a:schemeClr val="tx1"/>
                </a:solidFill>
              </a:rPr>
              <a:t>, uniquement si ces coûts remplissent </a:t>
            </a:r>
            <a:r>
              <a:rPr lang="fr-CA" sz="2000" u="sng" dirty="0">
                <a:solidFill>
                  <a:schemeClr val="tx1"/>
                </a:solidFill>
              </a:rPr>
              <a:t>toutes</a:t>
            </a:r>
            <a:r>
              <a:rPr lang="fr-CA" sz="2000" dirty="0">
                <a:solidFill>
                  <a:schemeClr val="tx1"/>
                </a:solidFill>
              </a:rPr>
              <a:t> les conditions suivantes :</a:t>
            </a:r>
          </a:p>
          <a:p>
            <a:pPr lvl="1"/>
            <a:r>
              <a:rPr lang="fr-CA" sz="2000" dirty="0">
                <a:solidFill>
                  <a:schemeClr val="tx1"/>
                </a:solidFill>
              </a:rPr>
              <a:t>ils sont directement liés à un contrat;</a:t>
            </a:r>
          </a:p>
          <a:p>
            <a:pPr lvl="1"/>
            <a:r>
              <a:rPr lang="fr-CA" sz="2000" dirty="0">
                <a:solidFill>
                  <a:schemeClr val="tx1"/>
                </a:solidFill>
              </a:rPr>
              <a:t>ils procurent à l’entité des ressources nouvelles ou accrues qui lui serviront à remplir ses obligations de prestation;</a:t>
            </a:r>
          </a:p>
          <a:p>
            <a:pPr lvl="1"/>
            <a:r>
              <a:rPr lang="fr-CA" sz="2000" dirty="0">
                <a:solidFill>
                  <a:schemeClr val="tx1"/>
                </a:solidFill>
              </a:rPr>
              <a:t>on s’attend à les recouvrer.</a:t>
            </a:r>
          </a:p>
          <a:p>
            <a:pPr lvl="1"/>
            <a:endParaRPr lang="fr-CA" sz="2000" dirty="0">
              <a:solidFill>
                <a:schemeClr val="tx1"/>
              </a:solidFill>
            </a:endParaRPr>
          </a:p>
          <a:p>
            <a:r>
              <a:rPr lang="fr-CA" sz="2000" dirty="0">
                <a:solidFill>
                  <a:schemeClr val="tx1"/>
                </a:solidFill>
              </a:rPr>
              <a:t>Cet actif doit alors être amorti sur une base systématique</a:t>
            </a:r>
          </a:p>
          <a:p>
            <a:pPr marL="0" indent="0">
              <a:buNone/>
            </a:pPr>
            <a:endParaRPr lang="fr-CA" sz="2000" dirty="0">
              <a:solidFill>
                <a:schemeClr val="tx1"/>
              </a:solidFill>
            </a:endParaRPr>
          </a:p>
        </p:txBody>
      </p:sp>
      <p:sp>
        <p:nvSpPr>
          <p:cNvPr id="4" name="Espace réservé du numéro de diapositive 3"/>
          <p:cNvSpPr>
            <a:spLocks noGrp="1"/>
          </p:cNvSpPr>
          <p:nvPr>
            <p:ph type="sldNum" sz="quarter" idx="4"/>
          </p:nvPr>
        </p:nvSpPr>
        <p:spPr/>
        <p:txBody>
          <a:bodyPr/>
          <a:lstStyle/>
          <a:p>
            <a:endParaRPr lang="fr-CA" dirty="0">
              <a:solidFill>
                <a:srgbClr val="003C71"/>
              </a:solidFill>
            </a:endParaRPr>
          </a:p>
        </p:txBody>
      </p:sp>
    </p:spTree>
    <p:extLst>
      <p:ext uri="{BB962C8B-B14F-4D97-AF65-F5344CB8AC3E}">
        <p14:creationId xmlns:p14="http://schemas.microsoft.com/office/powerpoint/2010/main" val="90638730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9B4089F-5A6C-46CC-8DAF-010D49B80E5D}"/>
              </a:ext>
            </a:extLst>
          </p:cNvPr>
          <p:cNvSpPr txBox="1">
            <a:spLocks/>
          </p:cNvSpPr>
          <p:nvPr/>
        </p:nvSpPr>
        <p:spPr>
          <a:xfrm>
            <a:off x="533400" y="685800"/>
            <a:ext cx="7363691" cy="685796"/>
          </a:xfrm>
          <a:prstGeom prst="rect">
            <a:avLst/>
          </a:prstGeom>
        </p:spPr>
        <p:txBody>
          <a:bodyPr>
            <a:normAutofit fontScale="975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fr-CA" kern="0" dirty="0">
                <a:solidFill>
                  <a:schemeClr val="accent2"/>
                </a:solidFill>
              </a:rPr>
              <a:t>Exemple 13</a:t>
            </a:r>
            <a:endParaRPr lang="fr-CA" dirty="0">
              <a:solidFill>
                <a:schemeClr val="accent2"/>
              </a:solidFill>
            </a:endParaRPr>
          </a:p>
        </p:txBody>
      </p:sp>
      <p:sp>
        <p:nvSpPr>
          <p:cNvPr id="4" name="TextBox 11">
            <a:extLst>
              <a:ext uri="{FF2B5EF4-FFF2-40B4-BE49-F238E27FC236}">
                <a16:creationId xmlns:a16="http://schemas.microsoft.com/office/drawing/2014/main" id="{C24D2439-4D12-4D55-B7D7-CE87FB5B3064}"/>
              </a:ext>
            </a:extLst>
          </p:cNvPr>
          <p:cNvSpPr txBox="1"/>
          <p:nvPr/>
        </p:nvSpPr>
        <p:spPr>
          <a:xfrm>
            <a:off x="8016240" y="609600"/>
            <a:ext cx="609600" cy="609600"/>
          </a:xfrm>
          <a:prstGeom prst="rect">
            <a:avLst/>
          </a:prstGeom>
          <a:noFill/>
        </p:spPr>
        <p:txBody>
          <a:bodyPr wrap="square" lIns="0" tIns="0" rIns="0" bIns="0" rtlCol="0">
            <a:noAutofit/>
          </a:bodyPr>
          <a:lstStyle/>
          <a:p>
            <a:pPr indent="-274320" algn="ctr">
              <a:spcAft>
                <a:spcPts val="900"/>
              </a:spcAft>
            </a:pPr>
            <a:r>
              <a:rPr lang="en-CA" sz="4000" b="1" i="1" dirty="0">
                <a:solidFill>
                  <a:schemeClr val="bg1"/>
                </a:solidFill>
                <a:latin typeface="+mj-lt"/>
              </a:rPr>
              <a:t>5</a:t>
            </a:r>
          </a:p>
        </p:txBody>
      </p:sp>
      <p:sp>
        <p:nvSpPr>
          <p:cNvPr id="11" name="ZoneTexte 10">
            <a:extLst>
              <a:ext uri="{FF2B5EF4-FFF2-40B4-BE49-F238E27FC236}">
                <a16:creationId xmlns:a16="http://schemas.microsoft.com/office/drawing/2014/main" id="{47E4342B-6643-4D8A-8AF7-D0943688D345}"/>
              </a:ext>
            </a:extLst>
          </p:cNvPr>
          <p:cNvSpPr txBox="1"/>
          <p:nvPr/>
        </p:nvSpPr>
        <p:spPr>
          <a:xfrm>
            <a:off x="613922" y="1705231"/>
            <a:ext cx="7916156" cy="2862322"/>
          </a:xfrm>
          <a:prstGeom prst="rect">
            <a:avLst/>
          </a:prstGeom>
          <a:noFill/>
        </p:spPr>
        <p:txBody>
          <a:bodyPr wrap="square" rtlCol="0">
            <a:spAutoFit/>
          </a:bodyPr>
          <a:lstStyle/>
          <a:p>
            <a:r>
              <a:rPr lang="fr-CA" dirty="0"/>
              <a:t>ABC conclut un contrat de service en vue de gérer le centre de données informatisé d'un client pour une période de cinq ans. Le contrat est renouvelable pour des périodes d'une année par la suite. La durée moyenne de rétention d'un client est de sept ans. </a:t>
            </a:r>
          </a:p>
          <a:p>
            <a:endParaRPr lang="fr-CA" dirty="0"/>
          </a:p>
          <a:p>
            <a:r>
              <a:rPr lang="fr-CA" dirty="0"/>
              <a:t>Avant de fournir des services, l'entité conçoit et construit aux fins de son utilisation interne une plateforme technologique qui communiquera avec les systèmes du client. Cette plateforme n'est pas fournie au client, mais elle sera utilisée pour fournir des services au client. Les coûts engagés initialement pour établir la plateforme technologique s'établissent comme suit :</a:t>
            </a:r>
          </a:p>
        </p:txBody>
      </p:sp>
      <p:graphicFrame>
        <p:nvGraphicFramePr>
          <p:cNvPr id="3" name="Tableau 2">
            <a:extLst>
              <a:ext uri="{FF2B5EF4-FFF2-40B4-BE49-F238E27FC236}">
                <a16:creationId xmlns:a16="http://schemas.microsoft.com/office/drawing/2014/main" id="{ACE62002-48EC-4EA6-B6A0-B79FB01169EF}"/>
              </a:ext>
            </a:extLst>
          </p:cNvPr>
          <p:cNvGraphicFramePr>
            <a:graphicFrameLocks noGrp="1"/>
          </p:cNvGraphicFramePr>
          <p:nvPr>
            <p:extLst>
              <p:ext uri="{D42A27DB-BD31-4B8C-83A1-F6EECF244321}">
                <p14:modId xmlns:p14="http://schemas.microsoft.com/office/powerpoint/2010/main" val="3304336105"/>
              </p:ext>
            </p:extLst>
          </p:nvPr>
        </p:nvGraphicFramePr>
        <p:xfrm>
          <a:off x="1389877" y="4682825"/>
          <a:ext cx="5650736" cy="1676400"/>
        </p:xfrm>
        <a:graphic>
          <a:graphicData uri="http://schemas.openxmlformats.org/drawingml/2006/table">
            <a:tbl>
              <a:tblPr/>
              <a:tblGrid>
                <a:gridCol w="4377331">
                  <a:extLst>
                    <a:ext uri="{9D8B030D-6E8A-4147-A177-3AD203B41FA5}">
                      <a16:colId xmlns:a16="http://schemas.microsoft.com/office/drawing/2014/main" val="3484914676"/>
                    </a:ext>
                  </a:extLst>
                </a:gridCol>
                <a:gridCol w="1273405">
                  <a:extLst>
                    <a:ext uri="{9D8B030D-6E8A-4147-A177-3AD203B41FA5}">
                      <a16:colId xmlns:a16="http://schemas.microsoft.com/office/drawing/2014/main" val="2355394213"/>
                    </a:ext>
                  </a:extLst>
                </a:gridCol>
              </a:tblGrid>
              <a:tr h="0">
                <a:tc>
                  <a:txBody>
                    <a:bodyPr/>
                    <a:lstStyle/>
                    <a:p>
                      <a:r>
                        <a:rPr lang="fr-CA" dirty="0">
                          <a:effectLst/>
                        </a:rPr>
                        <a:t>Services de conception</a:t>
                      </a:r>
                    </a:p>
                  </a:txBody>
                  <a:tcPr marL="30480" marR="30480" marT="30480" marB="30480">
                    <a:lnL>
                      <a:noFill/>
                    </a:lnL>
                    <a:lnR>
                      <a:noFill/>
                    </a:lnR>
                    <a:lnT>
                      <a:noFill/>
                    </a:lnT>
                    <a:lnB>
                      <a:noFill/>
                    </a:lnB>
                    <a:solidFill>
                      <a:srgbClr val="FFFFFF"/>
                    </a:solidFill>
                  </a:tcPr>
                </a:tc>
                <a:tc>
                  <a:txBody>
                    <a:bodyPr/>
                    <a:lstStyle/>
                    <a:p>
                      <a:pPr algn="r"/>
                      <a:r>
                        <a:rPr lang="fr-CA">
                          <a:effectLst/>
                        </a:rPr>
                        <a:t>40 000</a:t>
                      </a:r>
                    </a:p>
                  </a:txBody>
                  <a:tcPr marL="30480" marR="30480" marT="30480" marB="30480">
                    <a:lnL>
                      <a:noFill/>
                    </a:lnL>
                    <a:lnR>
                      <a:noFill/>
                    </a:lnR>
                    <a:lnT>
                      <a:noFill/>
                    </a:lnT>
                    <a:lnB>
                      <a:noFill/>
                    </a:lnB>
                    <a:solidFill>
                      <a:srgbClr val="FFFFFF"/>
                    </a:solidFill>
                  </a:tcPr>
                </a:tc>
                <a:extLst>
                  <a:ext uri="{0D108BD9-81ED-4DB2-BD59-A6C34878D82A}">
                    <a16:rowId xmlns:a16="http://schemas.microsoft.com/office/drawing/2014/main" val="1357368681"/>
                  </a:ext>
                </a:extLst>
              </a:tr>
              <a:tr h="0">
                <a:tc>
                  <a:txBody>
                    <a:bodyPr/>
                    <a:lstStyle/>
                    <a:p>
                      <a:r>
                        <a:rPr lang="fr-CA">
                          <a:effectLst/>
                        </a:rPr>
                        <a:t>Matériel</a:t>
                      </a:r>
                    </a:p>
                  </a:txBody>
                  <a:tcPr marL="30480" marR="30480" marT="30480" marB="30480">
                    <a:lnL>
                      <a:noFill/>
                    </a:lnL>
                    <a:lnR>
                      <a:noFill/>
                    </a:lnR>
                    <a:lnT>
                      <a:noFill/>
                    </a:lnT>
                    <a:lnB>
                      <a:noFill/>
                    </a:lnB>
                    <a:solidFill>
                      <a:srgbClr val="FFFFFF"/>
                    </a:solidFill>
                  </a:tcPr>
                </a:tc>
                <a:tc>
                  <a:txBody>
                    <a:bodyPr/>
                    <a:lstStyle/>
                    <a:p>
                      <a:pPr algn="r"/>
                      <a:r>
                        <a:rPr lang="fr-CA">
                          <a:effectLst/>
                        </a:rPr>
                        <a:t>120 000</a:t>
                      </a:r>
                    </a:p>
                  </a:txBody>
                  <a:tcPr marL="30480" marR="30480" marT="30480" marB="30480">
                    <a:lnL>
                      <a:noFill/>
                    </a:lnL>
                    <a:lnR>
                      <a:noFill/>
                    </a:lnR>
                    <a:lnT>
                      <a:noFill/>
                    </a:lnT>
                    <a:lnB>
                      <a:noFill/>
                    </a:lnB>
                    <a:solidFill>
                      <a:srgbClr val="FFFFFF"/>
                    </a:solidFill>
                  </a:tcPr>
                </a:tc>
                <a:extLst>
                  <a:ext uri="{0D108BD9-81ED-4DB2-BD59-A6C34878D82A}">
                    <a16:rowId xmlns:a16="http://schemas.microsoft.com/office/drawing/2014/main" val="122638587"/>
                  </a:ext>
                </a:extLst>
              </a:tr>
              <a:tr h="0">
                <a:tc>
                  <a:txBody>
                    <a:bodyPr/>
                    <a:lstStyle/>
                    <a:p>
                      <a:r>
                        <a:rPr lang="fr-CA" dirty="0">
                          <a:effectLst/>
                        </a:rPr>
                        <a:t>Logiciel</a:t>
                      </a:r>
                    </a:p>
                  </a:txBody>
                  <a:tcPr marL="30480" marR="30480" marT="30480" marB="30480">
                    <a:lnL>
                      <a:noFill/>
                    </a:lnL>
                    <a:lnR>
                      <a:noFill/>
                    </a:lnR>
                    <a:lnT>
                      <a:noFill/>
                    </a:lnT>
                    <a:lnB>
                      <a:noFill/>
                    </a:lnB>
                    <a:solidFill>
                      <a:srgbClr val="FFFFFF"/>
                    </a:solidFill>
                  </a:tcPr>
                </a:tc>
                <a:tc>
                  <a:txBody>
                    <a:bodyPr/>
                    <a:lstStyle/>
                    <a:p>
                      <a:pPr algn="r"/>
                      <a:r>
                        <a:rPr lang="fr-CA">
                          <a:effectLst/>
                        </a:rPr>
                        <a:t>90 000</a:t>
                      </a:r>
                    </a:p>
                  </a:txBody>
                  <a:tcPr marL="30480" marR="30480" marT="30480" marB="30480">
                    <a:lnL>
                      <a:noFill/>
                    </a:lnL>
                    <a:lnR>
                      <a:noFill/>
                    </a:lnR>
                    <a:lnT>
                      <a:noFill/>
                    </a:lnT>
                    <a:lnB>
                      <a:noFill/>
                    </a:lnB>
                    <a:solidFill>
                      <a:srgbClr val="FFFFFF"/>
                    </a:solidFill>
                  </a:tcPr>
                </a:tc>
                <a:extLst>
                  <a:ext uri="{0D108BD9-81ED-4DB2-BD59-A6C34878D82A}">
                    <a16:rowId xmlns:a16="http://schemas.microsoft.com/office/drawing/2014/main" val="2394563422"/>
                  </a:ext>
                </a:extLst>
              </a:tr>
              <a:tr h="0">
                <a:tc>
                  <a:txBody>
                    <a:bodyPr/>
                    <a:lstStyle/>
                    <a:p>
                      <a:r>
                        <a:rPr lang="fr-CA">
                          <a:effectLst/>
                        </a:rPr>
                        <a:t>Migration et tests du centre de données</a:t>
                      </a:r>
                    </a:p>
                  </a:txBody>
                  <a:tcPr marL="30480" marR="30480" marT="30480" marB="30480">
                    <a:lnL>
                      <a:noFill/>
                    </a:lnL>
                    <a:lnR>
                      <a:noFill/>
                    </a:lnR>
                    <a:lnT>
                      <a:noFill/>
                    </a:lnT>
                    <a:lnB>
                      <a:noFill/>
                    </a:lnB>
                    <a:solidFill>
                      <a:srgbClr val="FFFFFF"/>
                    </a:solidFill>
                  </a:tcPr>
                </a:tc>
                <a:tc>
                  <a:txBody>
                    <a:bodyPr/>
                    <a:lstStyle/>
                    <a:p>
                      <a:pPr algn="r"/>
                      <a:r>
                        <a:rPr lang="fr-CA" u="sng">
                          <a:effectLst/>
                        </a:rPr>
                        <a:t> 100 000</a:t>
                      </a:r>
                      <a:endParaRPr lang="fr-CA">
                        <a:effectLst/>
                      </a:endParaRPr>
                    </a:p>
                  </a:txBody>
                  <a:tcPr marL="30480" marR="30480" marT="30480" marB="30480">
                    <a:lnL>
                      <a:noFill/>
                    </a:lnL>
                    <a:lnR>
                      <a:noFill/>
                    </a:lnR>
                    <a:lnT>
                      <a:noFill/>
                    </a:lnT>
                    <a:lnB>
                      <a:noFill/>
                    </a:lnB>
                    <a:solidFill>
                      <a:srgbClr val="FFFFFF"/>
                    </a:solidFill>
                  </a:tcPr>
                </a:tc>
                <a:extLst>
                  <a:ext uri="{0D108BD9-81ED-4DB2-BD59-A6C34878D82A}">
                    <a16:rowId xmlns:a16="http://schemas.microsoft.com/office/drawing/2014/main" val="733023137"/>
                  </a:ext>
                </a:extLst>
              </a:tr>
              <a:tr h="0">
                <a:tc>
                  <a:txBody>
                    <a:bodyPr/>
                    <a:lstStyle/>
                    <a:p>
                      <a:r>
                        <a:rPr lang="fr-CA">
                          <a:effectLst/>
                        </a:rPr>
                        <a:t>Total des coûts</a:t>
                      </a:r>
                    </a:p>
                  </a:txBody>
                  <a:tcPr marL="30480" marR="30480" marT="30480" marB="30480">
                    <a:lnL>
                      <a:noFill/>
                    </a:lnL>
                    <a:lnR>
                      <a:noFill/>
                    </a:lnR>
                    <a:lnT>
                      <a:noFill/>
                    </a:lnT>
                    <a:lnB>
                      <a:noFill/>
                    </a:lnB>
                    <a:solidFill>
                      <a:srgbClr val="FFFFFF"/>
                    </a:solidFill>
                  </a:tcPr>
                </a:tc>
                <a:tc>
                  <a:txBody>
                    <a:bodyPr/>
                    <a:lstStyle/>
                    <a:p>
                      <a:pPr algn="r"/>
                      <a:r>
                        <a:rPr lang="fr-CA" dirty="0">
                          <a:effectLst/>
                        </a:rPr>
                        <a:t>350 000</a:t>
                      </a:r>
                    </a:p>
                  </a:txBody>
                  <a:tcPr marL="30480" marR="30480" marT="30480" marB="30480">
                    <a:lnL>
                      <a:noFill/>
                    </a:lnL>
                    <a:lnR>
                      <a:noFill/>
                    </a:lnR>
                    <a:lnT>
                      <a:noFill/>
                    </a:lnT>
                    <a:lnB>
                      <a:noFill/>
                    </a:lnB>
                    <a:solidFill>
                      <a:srgbClr val="FFFFFF"/>
                    </a:solidFill>
                  </a:tcPr>
                </a:tc>
                <a:extLst>
                  <a:ext uri="{0D108BD9-81ED-4DB2-BD59-A6C34878D82A}">
                    <a16:rowId xmlns:a16="http://schemas.microsoft.com/office/drawing/2014/main" val="1114168174"/>
                  </a:ext>
                </a:extLst>
              </a:tr>
            </a:tbl>
          </a:graphicData>
        </a:graphic>
      </p:graphicFrame>
      <p:sp>
        <p:nvSpPr>
          <p:cNvPr id="5" name="Espace réservé du numéro de diapositive 4"/>
          <p:cNvSpPr>
            <a:spLocks noGrp="1"/>
          </p:cNvSpPr>
          <p:nvPr>
            <p:ph type="sldNum" sz="quarter" idx="12"/>
          </p:nvPr>
        </p:nvSpPr>
        <p:spPr/>
        <p:txBody>
          <a:bodyPr/>
          <a:lstStyle/>
          <a:p>
            <a:fld id="{3F1B3DEB-6CA3-4B97-B0DC-BA3F5F40634A}" type="slidenum">
              <a:rPr lang="fr-CA" smtClean="0"/>
              <a:t>57</a:t>
            </a:fld>
            <a:endParaRPr lang="fr-CA"/>
          </a:p>
        </p:txBody>
      </p:sp>
    </p:spTree>
    <p:extLst>
      <p:ext uri="{BB962C8B-B14F-4D97-AF65-F5344CB8AC3E}">
        <p14:creationId xmlns:p14="http://schemas.microsoft.com/office/powerpoint/2010/main" val="195135133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9B4089F-5A6C-46CC-8DAF-010D49B80E5D}"/>
              </a:ext>
            </a:extLst>
          </p:cNvPr>
          <p:cNvSpPr txBox="1">
            <a:spLocks/>
          </p:cNvSpPr>
          <p:nvPr/>
        </p:nvSpPr>
        <p:spPr>
          <a:xfrm>
            <a:off x="533400" y="685800"/>
            <a:ext cx="7363691" cy="452887"/>
          </a:xfrm>
          <a:prstGeom prst="rect">
            <a:avLst/>
          </a:prstGeom>
        </p:spPr>
        <p:txBody>
          <a:bodyPr>
            <a:normAutofit fontScale="90000" lnSpcReduction="100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fr-CA" kern="0" dirty="0">
                <a:solidFill>
                  <a:schemeClr val="accent2"/>
                </a:solidFill>
              </a:rPr>
              <a:t>Exemple 13 - solution</a:t>
            </a:r>
            <a:endParaRPr lang="fr-CA" dirty="0">
              <a:solidFill>
                <a:schemeClr val="accent2"/>
              </a:solidFill>
            </a:endParaRPr>
          </a:p>
        </p:txBody>
      </p:sp>
      <p:sp>
        <p:nvSpPr>
          <p:cNvPr id="5" name="ZoneTexte 4">
            <a:extLst>
              <a:ext uri="{FF2B5EF4-FFF2-40B4-BE49-F238E27FC236}">
                <a16:creationId xmlns:a16="http://schemas.microsoft.com/office/drawing/2014/main" id="{111C699B-5BF0-4F5A-88FB-719E102AFC76}"/>
              </a:ext>
            </a:extLst>
          </p:cNvPr>
          <p:cNvSpPr txBox="1"/>
          <p:nvPr/>
        </p:nvSpPr>
        <p:spPr>
          <a:xfrm>
            <a:off x="533400" y="1154822"/>
            <a:ext cx="8410433" cy="5447645"/>
          </a:xfrm>
          <a:prstGeom prst="rect">
            <a:avLst/>
          </a:prstGeom>
          <a:noFill/>
        </p:spPr>
        <p:txBody>
          <a:bodyPr wrap="square" rtlCol="0">
            <a:spAutoFit/>
          </a:bodyPr>
          <a:lstStyle/>
          <a:p>
            <a:r>
              <a:rPr lang="fr-CA" dirty="0"/>
              <a:t>Les frais pour la plateforme technologique visent principalement des activités d'exécution du contrat, mais ne donnent pas lieu à la fourniture de biens ou de services au client. L'entité comptabilise les frais d'établissement initiaux comme suit :</a:t>
            </a:r>
          </a:p>
          <a:p>
            <a:endParaRPr lang="fr-CA" dirty="0"/>
          </a:p>
          <a:p>
            <a:pPr marL="342900" indent="-342900">
              <a:buFont typeface="+mj-lt"/>
              <a:buAutoNum type="alphaLcParenR"/>
            </a:pPr>
            <a:r>
              <a:rPr lang="fr-CA" dirty="0"/>
              <a:t>frais de matériel — comptabilisés conformément à IAS 16 </a:t>
            </a:r>
            <a:r>
              <a:rPr lang="fr-CA" i="1" dirty="0" err="1"/>
              <a:t>Immo</a:t>
            </a:r>
            <a:r>
              <a:rPr lang="fr-CA" i="1" dirty="0"/>
              <a:t>. corporelles</a:t>
            </a:r>
            <a:r>
              <a:rPr lang="fr-CA" dirty="0"/>
              <a:t>;</a:t>
            </a:r>
          </a:p>
          <a:p>
            <a:pPr marL="342900" indent="-342900">
              <a:buFont typeface="+mj-lt"/>
              <a:buAutoNum type="alphaLcParenR"/>
            </a:pPr>
            <a:endParaRPr lang="fr-CA" sz="1200" dirty="0"/>
          </a:p>
          <a:p>
            <a:pPr marL="342900" indent="-342900">
              <a:buFont typeface="+mj-lt"/>
              <a:buAutoNum type="alphaLcParenR"/>
            </a:pPr>
            <a:r>
              <a:rPr lang="fr-CA" dirty="0"/>
              <a:t>frais de logiciels — comptabilisés conformément à IAS 38 </a:t>
            </a:r>
            <a:r>
              <a:rPr lang="fr-CA" i="1" dirty="0" err="1"/>
              <a:t>Immo</a:t>
            </a:r>
            <a:r>
              <a:rPr lang="fr-CA" i="1" dirty="0"/>
              <a:t>. incorporelles</a:t>
            </a:r>
            <a:r>
              <a:rPr lang="fr-CA" dirty="0"/>
              <a:t>;</a:t>
            </a:r>
          </a:p>
          <a:p>
            <a:pPr marL="342900" indent="-342900">
              <a:buFont typeface="+mj-lt"/>
              <a:buAutoNum type="alphaLcParenR"/>
            </a:pPr>
            <a:endParaRPr lang="fr-CA" sz="1200" dirty="0"/>
          </a:p>
          <a:p>
            <a:pPr marL="342900" indent="-342900">
              <a:buFont typeface="+mj-lt"/>
              <a:buAutoNum type="alphaLcParenR"/>
            </a:pPr>
            <a:r>
              <a:rPr lang="fr-CA" dirty="0"/>
              <a:t>coûts de conception, de migration et de tests du centre de données — IFRS 15</a:t>
            </a:r>
          </a:p>
          <a:p>
            <a:pPr marL="800100" lvl="1" indent="-342900">
              <a:buFont typeface="Arial" panose="020B0604020202020204" pitchFamily="34" charset="0"/>
              <a:buChar char="•"/>
            </a:pPr>
            <a:r>
              <a:rPr lang="fr-CA" dirty="0"/>
              <a:t>ils sont directement liés à un contrat; OUI, ces coûts n’auraient pas été engagés si le contrat n’avais pas été signé. </a:t>
            </a:r>
          </a:p>
          <a:p>
            <a:pPr marL="800100" lvl="1" indent="-342900">
              <a:buFont typeface="Arial" panose="020B0604020202020204" pitchFamily="34" charset="0"/>
              <a:buChar char="•"/>
            </a:pPr>
            <a:r>
              <a:rPr lang="fr-CA" dirty="0"/>
              <a:t>ils procurent à l’entité des ressources nouvelles ou accrues qui lui serviront à remplir ses obligations de prestation; OUI, la plateforme technologique sera utilisée pour fournir les services prévus au contrat. </a:t>
            </a:r>
          </a:p>
          <a:p>
            <a:pPr marL="800100" lvl="1" indent="-342900">
              <a:buFont typeface="Arial" panose="020B0604020202020204" pitchFamily="34" charset="0"/>
              <a:buChar char="•"/>
            </a:pPr>
            <a:r>
              <a:rPr lang="fr-CA" dirty="0"/>
              <a:t>on s’attend à les recouvrer, OUI, aucune indication contraire.</a:t>
            </a:r>
          </a:p>
          <a:p>
            <a:endParaRPr lang="fr-CA" dirty="0"/>
          </a:p>
          <a:p>
            <a:r>
              <a:rPr lang="fr-CA" dirty="0"/>
              <a:t>L'actif créé, doit être amorti sur une base systématique sur la période de sept ans. </a:t>
            </a:r>
          </a:p>
        </p:txBody>
      </p:sp>
      <p:sp>
        <p:nvSpPr>
          <p:cNvPr id="3" name="Espace réservé du numéro de diapositive 2"/>
          <p:cNvSpPr>
            <a:spLocks noGrp="1"/>
          </p:cNvSpPr>
          <p:nvPr>
            <p:ph type="sldNum" sz="quarter" idx="12"/>
          </p:nvPr>
        </p:nvSpPr>
        <p:spPr/>
        <p:txBody>
          <a:bodyPr/>
          <a:lstStyle/>
          <a:p>
            <a:fld id="{3F1B3DEB-6CA3-4B97-B0DC-BA3F5F40634A}" type="slidenum">
              <a:rPr lang="fr-CA" smtClean="0"/>
              <a:t>58</a:t>
            </a:fld>
            <a:endParaRPr lang="fr-CA"/>
          </a:p>
        </p:txBody>
      </p:sp>
    </p:spTree>
    <p:extLst>
      <p:ext uri="{BB962C8B-B14F-4D97-AF65-F5344CB8AC3E}">
        <p14:creationId xmlns:p14="http://schemas.microsoft.com/office/powerpoint/2010/main" val="374454214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9B4089F-5A6C-46CC-8DAF-010D49B80E5D}"/>
              </a:ext>
            </a:extLst>
          </p:cNvPr>
          <p:cNvSpPr txBox="1">
            <a:spLocks/>
          </p:cNvSpPr>
          <p:nvPr/>
        </p:nvSpPr>
        <p:spPr>
          <a:xfrm>
            <a:off x="533400" y="685800"/>
            <a:ext cx="7363691" cy="452887"/>
          </a:xfrm>
          <a:prstGeom prst="rect">
            <a:avLst/>
          </a:prstGeom>
        </p:spPr>
        <p:txBody>
          <a:bodyPr>
            <a:normAutofit fontScale="90000" lnSpcReduction="100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fr-CA" kern="0" dirty="0">
                <a:solidFill>
                  <a:schemeClr val="accent2"/>
                </a:solidFill>
              </a:rPr>
              <a:t>Exemple 13 - solution</a:t>
            </a:r>
            <a:endParaRPr lang="fr-CA" dirty="0">
              <a:solidFill>
                <a:schemeClr val="accent2"/>
              </a:solidFill>
            </a:endParaRPr>
          </a:p>
        </p:txBody>
      </p:sp>
      <p:sp>
        <p:nvSpPr>
          <p:cNvPr id="5" name="ZoneTexte 4">
            <a:extLst>
              <a:ext uri="{FF2B5EF4-FFF2-40B4-BE49-F238E27FC236}">
                <a16:creationId xmlns:a16="http://schemas.microsoft.com/office/drawing/2014/main" id="{111C699B-5BF0-4F5A-88FB-719E102AFC76}"/>
              </a:ext>
            </a:extLst>
          </p:cNvPr>
          <p:cNvSpPr txBox="1"/>
          <p:nvPr/>
        </p:nvSpPr>
        <p:spPr>
          <a:xfrm>
            <a:off x="533400" y="1793177"/>
            <a:ext cx="8410433" cy="3693319"/>
          </a:xfrm>
          <a:prstGeom prst="rect">
            <a:avLst/>
          </a:prstGeom>
          <a:noFill/>
        </p:spPr>
        <p:txBody>
          <a:bodyPr wrap="square" rtlCol="0">
            <a:spAutoFit/>
          </a:bodyPr>
          <a:lstStyle/>
          <a:p>
            <a:r>
              <a:rPr lang="fr-CA" dirty="0"/>
              <a:t>Outre les coûts initiaux liés à l'établissement de la plateforme technologique, l'entité a désigné deux employés comme étant principalement responsables de la prestation de services au client. </a:t>
            </a:r>
          </a:p>
          <a:p>
            <a:endParaRPr lang="fr-CA" dirty="0"/>
          </a:p>
          <a:p>
            <a:r>
              <a:rPr lang="fr-CA" dirty="0"/>
              <a:t>Bien que les coûts liés à ces deux employés soient engagés dans le cadre de la prestation des services au client, l'entité est arrivée à la conclusion qu'ils ne lui procurent pas des ressources nouvelles ou accrues (voir par. 95(b) d'IFRS 15). </a:t>
            </a:r>
          </a:p>
          <a:p>
            <a:endParaRPr lang="fr-CA" dirty="0"/>
          </a:p>
          <a:p>
            <a:r>
              <a:rPr lang="fr-CA" dirty="0"/>
              <a:t>En conséquence, les coûts ne remplissent pas les conditions énoncées au par. 95 d'IFRS 15 et ne peuvent être comptabilisés à titre d'actif selon IFRS 15. Conformément au par. 98, l'entité comptabilise les charges salariales de ces deux employés lorsqu'elles sont engagées.</a:t>
            </a:r>
          </a:p>
          <a:p>
            <a:r>
              <a:rPr lang="fr-CA" dirty="0"/>
              <a:t> </a:t>
            </a:r>
          </a:p>
        </p:txBody>
      </p:sp>
      <p:sp>
        <p:nvSpPr>
          <p:cNvPr id="3" name="Espace réservé du numéro de diapositive 2"/>
          <p:cNvSpPr>
            <a:spLocks noGrp="1"/>
          </p:cNvSpPr>
          <p:nvPr>
            <p:ph type="sldNum" sz="quarter" idx="12"/>
          </p:nvPr>
        </p:nvSpPr>
        <p:spPr/>
        <p:txBody>
          <a:bodyPr/>
          <a:lstStyle/>
          <a:p>
            <a:fld id="{3F1B3DEB-6CA3-4B97-B0DC-BA3F5F40634A}" type="slidenum">
              <a:rPr lang="fr-CA" smtClean="0"/>
              <a:t>59</a:t>
            </a:fld>
            <a:endParaRPr lang="fr-CA"/>
          </a:p>
        </p:txBody>
      </p:sp>
    </p:spTree>
    <p:extLst>
      <p:ext uri="{BB962C8B-B14F-4D97-AF65-F5344CB8AC3E}">
        <p14:creationId xmlns:p14="http://schemas.microsoft.com/office/powerpoint/2010/main" val="254686874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00C64F6-0A13-476B-AF39-443483C405F5}"/>
              </a:ext>
            </a:extLst>
          </p:cNvPr>
          <p:cNvSpPr>
            <a:spLocks noGrp="1"/>
          </p:cNvSpPr>
          <p:nvPr>
            <p:ph type="title"/>
          </p:nvPr>
        </p:nvSpPr>
        <p:spPr/>
        <p:txBody>
          <a:bodyPr/>
          <a:lstStyle/>
          <a:p>
            <a:r>
              <a:rPr lang="fr-CA" dirty="0"/>
              <a:t>Mandant - Mandataire</a:t>
            </a:r>
          </a:p>
        </p:txBody>
      </p:sp>
      <p:sp>
        <p:nvSpPr>
          <p:cNvPr id="4" name="Rectangle 3">
            <a:extLst>
              <a:ext uri="{FF2B5EF4-FFF2-40B4-BE49-F238E27FC236}">
                <a16:creationId xmlns:a16="http://schemas.microsoft.com/office/drawing/2014/main" id="{CCFF5891-BE1B-4971-8605-3DE128CAF4EB}"/>
              </a:ext>
            </a:extLst>
          </p:cNvPr>
          <p:cNvSpPr/>
          <p:nvPr/>
        </p:nvSpPr>
        <p:spPr>
          <a:xfrm>
            <a:off x="471055" y="3519053"/>
            <a:ext cx="1625600" cy="1191491"/>
          </a:xfrm>
          <a:prstGeom prst="rect">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fr-CA" dirty="0">
                <a:solidFill>
                  <a:schemeClr val="tx1"/>
                </a:solidFill>
              </a:rPr>
              <a:t>MANDANT</a:t>
            </a:r>
          </a:p>
        </p:txBody>
      </p:sp>
      <p:sp>
        <p:nvSpPr>
          <p:cNvPr id="5" name="Rectangle 4">
            <a:extLst>
              <a:ext uri="{FF2B5EF4-FFF2-40B4-BE49-F238E27FC236}">
                <a16:creationId xmlns:a16="http://schemas.microsoft.com/office/drawing/2014/main" id="{1B02FC3F-9E71-4D74-832F-ECD315707B6A}"/>
              </a:ext>
            </a:extLst>
          </p:cNvPr>
          <p:cNvSpPr/>
          <p:nvPr/>
        </p:nvSpPr>
        <p:spPr>
          <a:xfrm>
            <a:off x="471055" y="2147454"/>
            <a:ext cx="1625600" cy="1191491"/>
          </a:xfrm>
          <a:prstGeom prst="rect">
            <a:avLst/>
          </a:prstGeom>
        </p:spPr>
        <p:style>
          <a:lnRef idx="3">
            <a:schemeClr val="lt1"/>
          </a:lnRef>
          <a:fillRef idx="1">
            <a:schemeClr val="accent3"/>
          </a:fillRef>
          <a:effectRef idx="1">
            <a:schemeClr val="accent3"/>
          </a:effectRef>
          <a:fontRef idx="minor">
            <a:schemeClr val="lt1"/>
          </a:fontRef>
        </p:style>
        <p:txBody>
          <a:bodyPr rtlCol="0" anchor="ctr"/>
          <a:lstStyle/>
          <a:p>
            <a:pPr algn="ctr"/>
            <a:r>
              <a:rPr lang="fr-CA" dirty="0">
                <a:solidFill>
                  <a:schemeClr val="tx1"/>
                </a:solidFill>
              </a:rPr>
              <a:t>MANDATAIRE</a:t>
            </a:r>
          </a:p>
        </p:txBody>
      </p:sp>
      <p:sp>
        <p:nvSpPr>
          <p:cNvPr id="6" name="Rectangle 5">
            <a:extLst>
              <a:ext uri="{FF2B5EF4-FFF2-40B4-BE49-F238E27FC236}">
                <a16:creationId xmlns:a16="http://schemas.microsoft.com/office/drawing/2014/main" id="{861896B5-2711-44BB-B468-EF987E8F6C46}"/>
              </a:ext>
            </a:extLst>
          </p:cNvPr>
          <p:cNvSpPr/>
          <p:nvPr/>
        </p:nvSpPr>
        <p:spPr>
          <a:xfrm>
            <a:off x="2235201" y="3519053"/>
            <a:ext cx="5135417" cy="1191491"/>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fr-CA" dirty="0"/>
              <a:t> le contrôle de chaque bien ou service spécifié avant que celui-ci ne soit fourni au client</a:t>
            </a:r>
          </a:p>
        </p:txBody>
      </p:sp>
      <p:sp>
        <p:nvSpPr>
          <p:cNvPr id="7" name="Rectangle 6">
            <a:extLst>
              <a:ext uri="{FF2B5EF4-FFF2-40B4-BE49-F238E27FC236}">
                <a16:creationId xmlns:a16="http://schemas.microsoft.com/office/drawing/2014/main" id="{C50A47D9-0055-449A-B924-231AE8436935}"/>
              </a:ext>
            </a:extLst>
          </p:cNvPr>
          <p:cNvSpPr/>
          <p:nvPr/>
        </p:nvSpPr>
        <p:spPr>
          <a:xfrm>
            <a:off x="7509163" y="3519053"/>
            <a:ext cx="1163781" cy="1191491"/>
          </a:xfrm>
          <a:prstGeom prst="rect">
            <a:avLst/>
          </a:prstGeom>
          <a:solidFill>
            <a:schemeClr val="accent6">
              <a:lumMod val="60000"/>
              <a:lumOff val="40000"/>
            </a:schemeClr>
          </a:solidFill>
          <a:ln/>
        </p:spPr>
        <p:style>
          <a:lnRef idx="3">
            <a:schemeClr val="lt1"/>
          </a:lnRef>
          <a:fillRef idx="1">
            <a:schemeClr val="accent6"/>
          </a:fillRef>
          <a:effectRef idx="1">
            <a:schemeClr val="accent6"/>
          </a:effectRef>
          <a:fontRef idx="minor">
            <a:schemeClr val="lt1"/>
          </a:fontRef>
        </p:style>
        <p:txBody>
          <a:bodyPr rtlCol="0" anchor="ctr"/>
          <a:lstStyle/>
          <a:p>
            <a:pPr algn="ctr"/>
            <a:r>
              <a:rPr lang="fr-CA" dirty="0">
                <a:solidFill>
                  <a:schemeClr val="tx1"/>
                </a:solidFill>
              </a:rPr>
              <a:t>BRUT</a:t>
            </a:r>
          </a:p>
        </p:txBody>
      </p:sp>
      <p:sp>
        <p:nvSpPr>
          <p:cNvPr id="8" name="Rectangle 7">
            <a:extLst>
              <a:ext uri="{FF2B5EF4-FFF2-40B4-BE49-F238E27FC236}">
                <a16:creationId xmlns:a16="http://schemas.microsoft.com/office/drawing/2014/main" id="{081FF2FE-BA8F-42D3-9602-322C250D0794}"/>
              </a:ext>
            </a:extLst>
          </p:cNvPr>
          <p:cNvSpPr/>
          <p:nvPr/>
        </p:nvSpPr>
        <p:spPr>
          <a:xfrm>
            <a:off x="2249055" y="2147454"/>
            <a:ext cx="5121563" cy="1191491"/>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fr-CA" dirty="0"/>
              <a:t>obligation de prestation consiste à prendre les dispositions voulues pour qu'un tiers fournisse le bien ou le service spécifié</a:t>
            </a:r>
          </a:p>
        </p:txBody>
      </p:sp>
      <p:sp>
        <p:nvSpPr>
          <p:cNvPr id="9" name="Rectangle 8">
            <a:extLst>
              <a:ext uri="{FF2B5EF4-FFF2-40B4-BE49-F238E27FC236}">
                <a16:creationId xmlns:a16="http://schemas.microsoft.com/office/drawing/2014/main" id="{E2B750AD-4BBF-476C-BF19-2031E26EF662}"/>
              </a:ext>
            </a:extLst>
          </p:cNvPr>
          <p:cNvSpPr/>
          <p:nvPr/>
        </p:nvSpPr>
        <p:spPr>
          <a:xfrm>
            <a:off x="7509163" y="2161307"/>
            <a:ext cx="1163781" cy="1191491"/>
          </a:xfrm>
          <a:prstGeom prst="rect">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fr-CA" dirty="0">
                <a:solidFill>
                  <a:schemeClr val="tx1"/>
                </a:solidFill>
              </a:rPr>
              <a:t>NET</a:t>
            </a:r>
          </a:p>
        </p:txBody>
      </p:sp>
      <p:sp>
        <p:nvSpPr>
          <p:cNvPr id="10" name="ZoneTexte 9">
            <a:extLst>
              <a:ext uri="{FF2B5EF4-FFF2-40B4-BE49-F238E27FC236}">
                <a16:creationId xmlns:a16="http://schemas.microsoft.com/office/drawing/2014/main" id="{D87F6ED1-919C-4424-9E70-FA80AA56D4BE}"/>
              </a:ext>
            </a:extLst>
          </p:cNvPr>
          <p:cNvSpPr txBox="1"/>
          <p:nvPr/>
        </p:nvSpPr>
        <p:spPr>
          <a:xfrm>
            <a:off x="471055" y="4876799"/>
            <a:ext cx="8201889" cy="1477328"/>
          </a:xfrm>
          <a:prstGeom prst="rect">
            <a:avLst/>
          </a:prstGeom>
          <a:noFill/>
        </p:spPr>
        <p:txBody>
          <a:bodyPr wrap="square" rtlCol="0">
            <a:spAutoFit/>
          </a:bodyPr>
          <a:lstStyle/>
          <a:p>
            <a:r>
              <a:rPr lang="fr-CA" dirty="0"/>
              <a:t>Les indicateurs que l'entité a le contrôle du bien ou du service spécifié avant qu'il ne soit fourni au client:</a:t>
            </a:r>
          </a:p>
          <a:p>
            <a:pPr marL="285750" indent="-285750">
              <a:buFont typeface="Arial" panose="020B0604020202020204" pitchFamily="34" charset="0"/>
              <a:buChar char="•"/>
            </a:pPr>
            <a:r>
              <a:rPr lang="fr-CA" dirty="0"/>
              <a:t>la responsabilité première de fournir comme promis le bien ou le service </a:t>
            </a:r>
          </a:p>
          <a:p>
            <a:pPr marL="285750" indent="-285750">
              <a:buFont typeface="Arial" panose="020B0604020202020204" pitchFamily="34" charset="0"/>
              <a:buChar char="•"/>
            </a:pPr>
            <a:r>
              <a:rPr lang="fr-CA" dirty="0"/>
              <a:t>exposée au risque sur stocks </a:t>
            </a:r>
          </a:p>
          <a:p>
            <a:pPr marL="285750" indent="-285750">
              <a:buFont typeface="Arial" panose="020B0604020202020204" pitchFamily="34" charset="0"/>
              <a:buChar char="•"/>
            </a:pPr>
            <a:r>
              <a:rPr lang="fr-CA" dirty="0"/>
              <a:t>dispose d'une latitude pour fixer le prix du bien ou du service</a:t>
            </a:r>
          </a:p>
        </p:txBody>
      </p:sp>
      <p:sp>
        <p:nvSpPr>
          <p:cNvPr id="11" name="Rectangle 10">
            <a:extLst>
              <a:ext uri="{FF2B5EF4-FFF2-40B4-BE49-F238E27FC236}">
                <a16:creationId xmlns:a16="http://schemas.microsoft.com/office/drawing/2014/main" id="{E53EA812-6179-4388-9EC6-80CB0066124C}"/>
              </a:ext>
            </a:extLst>
          </p:cNvPr>
          <p:cNvSpPr/>
          <p:nvPr/>
        </p:nvSpPr>
        <p:spPr>
          <a:xfrm>
            <a:off x="7325358" y="6170526"/>
            <a:ext cx="1531389" cy="38529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sz="1600" b="1" i="1" dirty="0">
                <a:solidFill>
                  <a:schemeClr val="accent5"/>
                </a:solidFill>
              </a:rPr>
              <a:t>IFRS 15.B37</a:t>
            </a:r>
          </a:p>
        </p:txBody>
      </p:sp>
      <p:sp>
        <p:nvSpPr>
          <p:cNvPr id="3" name="Espace réservé du numéro de diapositive 2"/>
          <p:cNvSpPr>
            <a:spLocks noGrp="1"/>
          </p:cNvSpPr>
          <p:nvPr>
            <p:ph type="sldNum" sz="quarter" idx="12"/>
          </p:nvPr>
        </p:nvSpPr>
        <p:spPr/>
        <p:txBody>
          <a:bodyPr/>
          <a:lstStyle/>
          <a:p>
            <a:fld id="{3F1B3DEB-6CA3-4B97-B0DC-BA3F5F40634A}" type="slidenum">
              <a:rPr lang="fr-CA" smtClean="0"/>
              <a:t>60</a:t>
            </a:fld>
            <a:endParaRPr lang="fr-CA"/>
          </a:p>
        </p:txBody>
      </p:sp>
    </p:spTree>
    <p:extLst>
      <p:ext uri="{BB962C8B-B14F-4D97-AF65-F5344CB8AC3E}">
        <p14:creationId xmlns:p14="http://schemas.microsoft.com/office/powerpoint/2010/main" val="230768402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51EAEB8-666D-4C6D-9389-38C93496EFCA}"/>
              </a:ext>
            </a:extLst>
          </p:cNvPr>
          <p:cNvSpPr>
            <a:spLocks noGrp="1"/>
          </p:cNvSpPr>
          <p:nvPr>
            <p:ph type="title"/>
          </p:nvPr>
        </p:nvSpPr>
        <p:spPr/>
        <p:txBody>
          <a:bodyPr/>
          <a:lstStyle/>
          <a:p>
            <a:r>
              <a:rPr lang="fr-CA" dirty="0"/>
              <a:t>Modification de contrats</a:t>
            </a:r>
          </a:p>
        </p:txBody>
      </p:sp>
      <p:sp>
        <p:nvSpPr>
          <p:cNvPr id="3" name="Espace réservé du contenu 2">
            <a:extLst>
              <a:ext uri="{FF2B5EF4-FFF2-40B4-BE49-F238E27FC236}">
                <a16:creationId xmlns:a16="http://schemas.microsoft.com/office/drawing/2014/main" id="{A3F3C67D-8361-49B7-B30C-17E0C500A7CE}"/>
              </a:ext>
            </a:extLst>
          </p:cNvPr>
          <p:cNvSpPr>
            <a:spLocks noGrp="1"/>
          </p:cNvSpPr>
          <p:nvPr>
            <p:ph idx="1"/>
          </p:nvPr>
        </p:nvSpPr>
        <p:spPr>
          <a:xfrm>
            <a:off x="434109" y="2699058"/>
            <a:ext cx="8136835" cy="2537961"/>
          </a:xfrm>
        </p:spPr>
        <p:txBody>
          <a:bodyPr>
            <a:noAutofit/>
          </a:bodyPr>
          <a:lstStyle/>
          <a:p>
            <a:pPr marL="0" indent="0">
              <a:buNone/>
            </a:pPr>
            <a:r>
              <a:rPr lang="fr-CA" sz="2000" dirty="0">
                <a:solidFill>
                  <a:schemeClr val="tx1"/>
                </a:solidFill>
              </a:rPr>
              <a:t>Comptabilisé comme un contrat distinct si les deux conditions suivantes sont remplies :</a:t>
            </a:r>
          </a:p>
          <a:p>
            <a:pPr marL="457200" indent="-457200">
              <a:buFont typeface="+mj-lt"/>
              <a:buAutoNum type="alphaLcParenR"/>
            </a:pPr>
            <a:r>
              <a:rPr lang="fr-CA" sz="2000" dirty="0">
                <a:solidFill>
                  <a:schemeClr val="tx1"/>
                </a:solidFill>
              </a:rPr>
              <a:t>ajout de biens ou de services promis qui sont distincts</a:t>
            </a:r>
          </a:p>
          <a:p>
            <a:pPr marL="457200" indent="-457200">
              <a:buFont typeface="+mj-lt"/>
              <a:buAutoNum type="alphaLcParenR"/>
            </a:pPr>
            <a:r>
              <a:rPr lang="fr-CA" sz="2000" dirty="0">
                <a:solidFill>
                  <a:schemeClr val="tx1"/>
                </a:solidFill>
              </a:rPr>
              <a:t>le prix du contrat augmente d'un montant de contrepartie qui reflète le </a:t>
            </a:r>
            <a:r>
              <a:rPr lang="fr-CA" sz="2000" i="1" dirty="0">
                <a:solidFill>
                  <a:schemeClr val="tx1"/>
                </a:solidFill>
              </a:rPr>
              <a:t>prix de vente spécifique</a:t>
            </a:r>
            <a:r>
              <a:rPr lang="fr-CA" sz="2000" dirty="0">
                <a:solidFill>
                  <a:schemeClr val="tx1"/>
                </a:solidFill>
              </a:rPr>
              <a:t> du ou des biens ou des services additionnels promis</a:t>
            </a:r>
          </a:p>
        </p:txBody>
      </p:sp>
      <p:sp>
        <p:nvSpPr>
          <p:cNvPr id="4" name="Rectangle 3">
            <a:extLst>
              <a:ext uri="{FF2B5EF4-FFF2-40B4-BE49-F238E27FC236}">
                <a16:creationId xmlns:a16="http://schemas.microsoft.com/office/drawing/2014/main" id="{4D5DFED1-96FA-4C22-B1EE-6254F1669559}"/>
              </a:ext>
            </a:extLst>
          </p:cNvPr>
          <p:cNvSpPr/>
          <p:nvPr/>
        </p:nvSpPr>
        <p:spPr>
          <a:xfrm>
            <a:off x="434109" y="2292824"/>
            <a:ext cx="8211127" cy="487322"/>
          </a:xfrm>
          <a:prstGeom prst="rect">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fr-CA" sz="2000" dirty="0">
                <a:solidFill>
                  <a:schemeClr val="tx1"/>
                </a:solidFill>
              </a:rPr>
              <a:t>*** Lorsque approuvé ***</a:t>
            </a:r>
          </a:p>
        </p:txBody>
      </p:sp>
      <p:sp>
        <p:nvSpPr>
          <p:cNvPr id="5" name="Rectangle 4">
            <a:extLst>
              <a:ext uri="{FF2B5EF4-FFF2-40B4-BE49-F238E27FC236}">
                <a16:creationId xmlns:a16="http://schemas.microsoft.com/office/drawing/2014/main" id="{51A11E58-EE25-49EA-91A7-4D6E9B924877}"/>
              </a:ext>
            </a:extLst>
          </p:cNvPr>
          <p:cNvSpPr/>
          <p:nvPr/>
        </p:nvSpPr>
        <p:spPr>
          <a:xfrm>
            <a:off x="7178502" y="5121616"/>
            <a:ext cx="1531389" cy="38529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sz="1600" b="1" i="1" dirty="0">
                <a:solidFill>
                  <a:schemeClr val="accent3"/>
                </a:solidFill>
              </a:rPr>
              <a:t>IFRS 15.20</a:t>
            </a:r>
          </a:p>
        </p:txBody>
      </p:sp>
      <p:sp>
        <p:nvSpPr>
          <p:cNvPr id="6" name="Espace réservé du numéro de diapositive 5"/>
          <p:cNvSpPr>
            <a:spLocks noGrp="1"/>
          </p:cNvSpPr>
          <p:nvPr>
            <p:ph type="sldNum" sz="quarter" idx="12"/>
          </p:nvPr>
        </p:nvSpPr>
        <p:spPr/>
        <p:txBody>
          <a:bodyPr/>
          <a:lstStyle/>
          <a:p>
            <a:fld id="{3F1B3DEB-6CA3-4B97-B0DC-BA3F5F40634A}" type="slidenum">
              <a:rPr lang="fr-CA" smtClean="0"/>
              <a:t>61</a:t>
            </a:fld>
            <a:endParaRPr lang="fr-CA"/>
          </a:p>
        </p:txBody>
      </p:sp>
    </p:spTree>
    <p:extLst>
      <p:ext uri="{BB962C8B-B14F-4D97-AF65-F5344CB8AC3E}">
        <p14:creationId xmlns:p14="http://schemas.microsoft.com/office/powerpoint/2010/main" val="30565318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E5E2D08-A82F-436E-AFB1-B819647C9419}"/>
              </a:ext>
            </a:extLst>
          </p:cNvPr>
          <p:cNvSpPr>
            <a:spLocks noGrp="1"/>
          </p:cNvSpPr>
          <p:nvPr>
            <p:ph type="title"/>
          </p:nvPr>
        </p:nvSpPr>
        <p:spPr/>
        <p:txBody>
          <a:bodyPr/>
          <a:lstStyle/>
          <a:p>
            <a:r>
              <a:rPr lang="fr-CA" dirty="0"/>
              <a:t>Modification de contrats</a:t>
            </a:r>
          </a:p>
        </p:txBody>
      </p:sp>
      <p:sp>
        <p:nvSpPr>
          <p:cNvPr id="3" name="Espace réservé du contenu 2">
            <a:extLst>
              <a:ext uri="{FF2B5EF4-FFF2-40B4-BE49-F238E27FC236}">
                <a16:creationId xmlns:a16="http://schemas.microsoft.com/office/drawing/2014/main" id="{0A13B465-471B-454C-BFB7-98BBA3F1CC85}"/>
              </a:ext>
            </a:extLst>
          </p:cNvPr>
          <p:cNvSpPr>
            <a:spLocks noGrp="1"/>
          </p:cNvSpPr>
          <p:nvPr>
            <p:ph idx="1"/>
          </p:nvPr>
        </p:nvSpPr>
        <p:spPr>
          <a:xfrm>
            <a:off x="433812" y="2154112"/>
            <a:ext cx="7989752" cy="450542"/>
          </a:xfrm>
        </p:spPr>
        <p:txBody>
          <a:bodyPr>
            <a:normAutofit/>
          </a:bodyPr>
          <a:lstStyle/>
          <a:p>
            <a:pPr marL="0" indent="0">
              <a:buNone/>
            </a:pPr>
            <a:r>
              <a:rPr lang="fr-CA" sz="2000" dirty="0">
                <a:solidFill>
                  <a:schemeClr val="tx1"/>
                </a:solidFill>
              </a:rPr>
              <a:t>Si pas comptabilisée comme un contrat distinct:</a:t>
            </a:r>
          </a:p>
        </p:txBody>
      </p:sp>
      <p:sp>
        <p:nvSpPr>
          <p:cNvPr id="4" name="Rectangle 3">
            <a:extLst>
              <a:ext uri="{FF2B5EF4-FFF2-40B4-BE49-F238E27FC236}">
                <a16:creationId xmlns:a16="http://schemas.microsoft.com/office/drawing/2014/main" id="{4EBC9DEF-CE8E-4563-904E-11D3A067B672}"/>
              </a:ext>
            </a:extLst>
          </p:cNvPr>
          <p:cNvSpPr/>
          <p:nvPr/>
        </p:nvSpPr>
        <p:spPr>
          <a:xfrm>
            <a:off x="573056" y="2761672"/>
            <a:ext cx="3048000" cy="544946"/>
          </a:xfrm>
          <a:prstGeom prst="rect">
            <a:avLst/>
          </a:prstGeom>
          <a:solidFill>
            <a:schemeClr val="accent3">
              <a:lumMod val="75000"/>
            </a:schemeClr>
          </a:solidFill>
        </p:spPr>
        <p:style>
          <a:lnRef idx="3">
            <a:schemeClr val="lt1"/>
          </a:lnRef>
          <a:fillRef idx="1">
            <a:schemeClr val="accent3"/>
          </a:fillRef>
          <a:effectRef idx="1">
            <a:schemeClr val="accent3"/>
          </a:effectRef>
          <a:fontRef idx="minor">
            <a:schemeClr val="lt1"/>
          </a:fontRef>
        </p:style>
        <p:txBody>
          <a:bodyPr rtlCol="0" anchor="ctr"/>
          <a:lstStyle/>
          <a:p>
            <a:pPr algn="ctr"/>
            <a:r>
              <a:rPr lang="fr-CA" dirty="0">
                <a:solidFill>
                  <a:schemeClr val="tx1"/>
                </a:solidFill>
              </a:rPr>
              <a:t>Ajustement prospectif</a:t>
            </a:r>
          </a:p>
        </p:txBody>
      </p:sp>
      <p:sp>
        <p:nvSpPr>
          <p:cNvPr id="5" name="Rectangle 4">
            <a:extLst>
              <a:ext uri="{FF2B5EF4-FFF2-40B4-BE49-F238E27FC236}">
                <a16:creationId xmlns:a16="http://schemas.microsoft.com/office/drawing/2014/main" id="{DCD40BA7-1C8A-4EC4-9DE5-959541F85E95}"/>
              </a:ext>
            </a:extLst>
          </p:cNvPr>
          <p:cNvSpPr/>
          <p:nvPr/>
        </p:nvSpPr>
        <p:spPr>
          <a:xfrm>
            <a:off x="3777672" y="2761672"/>
            <a:ext cx="4904509" cy="544946"/>
          </a:xfrm>
          <a:prstGeom prst="rect">
            <a:avLst/>
          </a:prstGeom>
        </p:spPr>
        <p:style>
          <a:lnRef idx="3">
            <a:schemeClr val="lt1"/>
          </a:lnRef>
          <a:fillRef idx="1">
            <a:schemeClr val="accent3"/>
          </a:fillRef>
          <a:effectRef idx="1">
            <a:schemeClr val="accent3"/>
          </a:effectRef>
          <a:fontRef idx="minor">
            <a:schemeClr val="lt1"/>
          </a:fontRef>
        </p:style>
        <p:txBody>
          <a:bodyPr rtlCol="0" anchor="ctr"/>
          <a:lstStyle/>
          <a:p>
            <a:pPr algn="ctr"/>
            <a:r>
              <a:rPr lang="fr-CA" dirty="0">
                <a:solidFill>
                  <a:schemeClr val="tx1"/>
                </a:solidFill>
              </a:rPr>
              <a:t>résiliation du contrat existant et de la création d'un nouveau contrat</a:t>
            </a:r>
          </a:p>
        </p:txBody>
      </p:sp>
      <p:sp>
        <p:nvSpPr>
          <p:cNvPr id="6" name="Rectangle 5">
            <a:extLst>
              <a:ext uri="{FF2B5EF4-FFF2-40B4-BE49-F238E27FC236}">
                <a16:creationId xmlns:a16="http://schemas.microsoft.com/office/drawing/2014/main" id="{896795AA-69B3-4A08-B98C-2794948CF89B}"/>
              </a:ext>
            </a:extLst>
          </p:cNvPr>
          <p:cNvSpPr/>
          <p:nvPr/>
        </p:nvSpPr>
        <p:spPr>
          <a:xfrm>
            <a:off x="581192" y="4824898"/>
            <a:ext cx="3039864" cy="544946"/>
          </a:xfrm>
          <a:prstGeom prst="rect">
            <a:avLst/>
          </a:prstGeom>
          <a:solidFill>
            <a:schemeClr val="accent6">
              <a:lumMod val="75000"/>
            </a:schemeClr>
          </a:solidFill>
        </p:spPr>
        <p:style>
          <a:lnRef idx="3">
            <a:schemeClr val="lt1"/>
          </a:lnRef>
          <a:fillRef idx="1">
            <a:schemeClr val="accent6"/>
          </a:fillRef>
          <a:effectRef idx="1">
            <a:schemeClr val="accent6"/>
          </a:effectRef>
          <a:fontRef idx="minor">
            <a:schemeClr val="lt1"/>
          </a:fontRef>
        </p:style>
        <p:txBody>
          <a:bodyPr rtlCol="0" anchor="ctr"/>
          <a:lstStyle/>
          <a:p>
            <a:pPr algn="ctr"/>
            <a:r>
              <a:rPr lang="fr-CA" dirty="0">
                <a:solidFill>
                  <a:schemeClr val="tx1"/>
                </a:solidFill>
              </a:rPr>
              <a:t>Ajustement cumulatif</a:t>
            </a:r>
          </a:p>
        </p:txBody>
      </p:sp>
      <p:sp>
        <p:nvSpPr>
          <p:cNvPr id="7" name="Rectangle 6">
            <a:extLst>
              <a:ext uri="{FF2B5EF4-FFF2-40B4-BE49-F238E27FC236}">
                <a16:creationId xmlns:a16="http://schemas.microsoft.com/office/drawing/2014/main" id="{28919C20-FC89-42D6-A290-AA7EFE13B7F9}"/>
              </a:ext>
            </a:extLst>
          </p:cNvPr>
          <p:cNvSpPr/>
          <p:nvPr/>
        </p:nvSpPr>
        <p:spPr>
          <a:xfrm>
            <a:off x="3777671" y="4824898"/>
            <a:ext cx="4904509" cy="544946"/>
          </a:xfrm>
          <a:prstGeom prst="rect">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fr-CA" dirty="0">
                <a:solidFill>
                  <a:schemeClr val="tx1"/>
                </a:solidFill>
              </a:rPr>
              <a:t>comme si celle-ci faisait partie du contrat existant</a:t>
            </a:r>
          </a:p>
        </p:txBody>
      </p:sp>
      <p:sp>
        <p:nvSpPr>
          <p:cNvPr id="8" name="Rectangle 7">
            <a:extLst>
              <a:ext uri="{FF2B5EF4-FFF2-40B4-BE49-F238E27FC236}">
                <a16:creationId xmlns:a16="http://schemas.microsoft.com/office/drawing/2014/main" id="{D6CAFAC3-D656-42CE-BE32-9447DA696C47}"/>
              </a:ext>
            </a:extLst>
          </p:cNvPr>
          <p:cNvSpPr/>
          <p:nvPr/>
        </p:nvSpPr>
        <p:spPr>
          <a:xfrm>
            <a:off x="581192" y="3459020"/>
            <a:ext cx="8100988" cy="1235731"/>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fr-CA" dirty="0"/>
              <a:t>si les biens ou les services restants sont distincts de ceux qui ont été fournis jusqu'à la date de la modification du contrat. Le montant de contrepartie à affecter aux obligations de prestation qui restent à remplir est la somme : montant de contrepartie initial restant + contrepartie selon la modification</a:t>
            </a:r>
          </a:p>
        </p:txBody>
      </p:sp>
      <p:sp>
        <p:nvSpPr>
          <p:cNvPr id="9" name="Rectangle 8">
            <a:extLst>
              <a:ext uri="{FF2B5EF4-FFF2-40B4-BE49-F238E27FC236}">
                <a16:creationId xmlns:a16="http://schemas.microsoft.com/office/drawing/2014/main" id="{A802ABFE-C41C-4B31-A748-CF86FE8CEE01}"/>
              </a:ext>
            </a:extLst>
          </p:cNvPr>
          <p:cNvSpPr/>
          <p:nvPr/>
        </p:nvSpPr>
        <p:spPr>
          <a:xfrm>
            <a:off x="573056" y="5499991"/>
            <a:ext cx="8109124" cy="79432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fr-CA" dirty="0"/>
              <a:t>si une seule et même obligation de prestation qui est partiellement remplie à la date de la modification du contrat.</a:t>
            </a:r>
          </a:p>
        </p:txBody>
      </p:sp>
      <p:sp>
        <p:nvSpPr>
          <p:cNvPr id="10" name="Rectangle 9">
            <a:extLst>
              <a:ext uri="{FF2B5EF4-FFF2-40B4-BE49-F238E27FC236}">
                <a16:creationId xmlns:a16="http://schemas.microsoft.com/office/drawing/2014/main" id="{3AA62935-EC45-442F-8E94-87F21D0EC6BA}"/>
              </a:ext>
            </a:extLst>
          </p:cNvPr>
          <p:cNvSpPr/>
          <p:nvPr/>
        </p:nvSpPr>
        <p:spPr>
          <a:xfrm>
            <a:off x="7408485" y="6294318"/>
            <a:ext cx="1531389" cy="38529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sz="1600" b="1" i="1" dirty="0">
                <a:solidFill>
                  <a:schemeClr val="accent5"/>
                </a:solidFill>
              </a:rPr>
              <a:t>IFRS 15.21</a:t>
            </a:r>
          </a:p>
        </p:txBody>
      </p:sp>
      <p:sp>
        <p:nvSpPr>
          <p:cNvPr id="11" name="Espace réservé du numéro de diapositive 10"/>
          <p:cNvSpPr>
            <a:spLocks noGrp="1"/>
          </p:cNvSpPr>
          <p:nvPr>
            <p:ph type="sldNum" sz="quarter" idx="12"/>
          </p:nvPr>
        </p:nvSpPr>
        <p:spPr/>
        <p:txBody>
          <a:bodyPr/>
          <a:lstStyle/>
          <a:p>
            <a:fld id="{3F1B3DEB-6CA3-4B97-B0DC-BA3F5F40634A}" type="slidenum">
              <a:rPr lang="fr-CA" smtClean="0"/>
              <a:t>62</a:t>
            </a:fld>
            <a:endParaRPr lang="fr-CA"/>
          </a:p>
        </p:txBody>
      </p:sp>
    </p:spTree>
    <p:extLst>
      <p:ext uri="{BB962C8B-B14F-4D97-AF65-F5344CB8AC3E}">
        <p14:creationId xmlns:p14="http://schemas.microsoft.com/office/powerpoint/2010/main" val="337516069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9B4089F-5A6C-46CC-8DAF-010D49B80E5D}"/>
              </a:ext>
            </a:extLst>
          </p:cNvPr>
          <p:cNvSpPr txBox="1">
            <a:spLocks/>
          </p:cNvSpPr>
          <p:nvPr/>
        </p:nvSpPr>
        <p:spPr>
          <a:xfrm>
            <a:off x="533400" y="685800"/>
            <a:ext cx="7363691" cy="685796"/>
          </a:xfrm>
          <a:prstGeom prst="rect">
            <a:avLst/>
          </a:prstGeom>
        </p:spPr>
        <p:txBody>
          <a:bodyPr>
            <a:normAutofit fontScale="975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fr-CA" kern="0" dirty="0">
                <a:solidFill>
                  <a:schemeClr val="accent2"/>
                </a:solidFill>
              </a:rPr>
              <a:t>Exemple 14</a:t>
            </a:r>
            <a:endParaRPr lang="fr-CA" dirty="0">
              <a:solidFill>
                <a:schemeClr val="accent2"/>
              </a:solidFill>
            </a:endParaRPr>
          </a:p>
        </p:txBody>
      </p:sp>
      <p:sp>
        <p:nvSpPr>
          <p:cNvPr id="6" name="ZoneTexte 5">
            <a:extLst>
              <a:ext uri="{FF2B5EF4-FFF2-40B4-BE49-F238E27FC236}">
                <a16:creationId xmlns:a16="http://schemas.microsoft.com/office/drawing/2014/main" id="{BDB98A0A-C42F-4AE5-A677-6E325D1FA13C}"/>
              </a:ext>
            </a:extLst>
          </p:cNvPr>
          <p:cNvSpPr txBox="1"/>
          <p:nvPr/>
        </p:nvSpPr>
        <p:spPr>
          <a:xfrm>
            <a:off x="580030" y="1371596"/>
            <a:ext cx="7983940" cy="4524315"/>
          </a:xfrm>
          <a:prstGeom prst="rect">
            <a:avLst/>
          </a:prstGeom>
          <a:noFill/>
        </p:spPr>
        <p:txBody>
          <a:bodyPr wrap="square" rtlCol="0">
            <a:spAutoFit/>
          </a:bodyPr>
          <a:lstStyle/>
          <a:p>
            <a:r>
              <a:rPr lang="fr-CA" dirty="0"/>
              <a:t>Une entité promet de vendre 120 produits à un client pour 12 000 $ (100 $ par produit). </a:t>
            </a:r>
          </a:p>
          <a:p>
            <a:endParaRPr lang="fr-CA" dirty="0"/>
          </a:p>
          <a:p>
            <a:r>
              <a:rPr lang="fr-CA" dirty="0"/>
              <a:t>Les produits sont fournis au client sur une période de six mois. L'entité transfère le contrôle de chaque produit à un moment précis. </a:t>
            </a:r>
          </a:p>
          <a:p>
            <a:endParaRPr lang="fr-CA" dirty="0"/>
          </a:p>
          <a:p>
            <a:r>
              <a:rPr lang="fr-CA" dirty="0"/>
              <a:t>Après le transfert par l'entité du contrôle de 60 produits au client, le contrat est modifié pour exiger la livraison de 30 produits supplémentaires (pour un total de 150 produits identiques) au client. </a:t>
            </a:r>
          </a:p>
          <a:p>
            <a:endParaRPr lang="fr-CA" dirty="0"/>
          </a:p>
          <a:p>
            <a:r>
              <a:rPr lang="fr-CA" dirty="0"/>
              <a:t>Les 30 produits supplémentaires n'étaient pas inclus dans le contrat initial. </a:t>
            </a:r>
          </a:p>
          <a:p>
            <a:endParaRPr lang="fr-CA" dirty="0"/>
          </a:p>
          <a:p>
            <a:r>
              <a:rPr lang="fr-CA" dirty="0"/>
              <a:t>Le prix fixé lors de la modification du contrat pour les 30 produits supplémentaires s'élève à 2 850 $. Le prix des produits supplémentaires reflète le prix de vente spécifique des produits au moment de la modification du contrat, et les produits supplémentaires sont distincts des produits initiaux.</a:t>
            </a:r>
          </a:p>
        </p:txBody>
      </p:sp>
      <p:sp>
        <p:nvSpPr>
          <p:cNvPr id="3" name="Espace réservé du numéro de diapositive 2"/>
          <p:cNvSpPr>
            <a:spLocks noGrp="1"/>
          </p:cNvSpPr>
          <p:nvPr>
            <p:ph type="sldNum" sz="quarter" idx="12"/>
          </p:nvPr>
        </p:nvSpPr>
        <p:spPr/>
        <p:txBody>
          <a:bodyPr/>
          <a:lstStyle/>
          <a:p>
            <a:fld id="{3F1B3DEB-6CA3-4B97-B0DC-BA3F5F40634A}" type="slidenum">
              <a:rPr lang="fr-CA" smtClean="0"/>
              <a:t>63</a:t>
            </a:fld>
            <a:endParaRPr lang="fr-CA"/>
          </a:p>
        </p:txBody>
      </p:sp>
    </p:spTree>
    <p:extLst>
      <p:ext uri="{BB962C8B-B14F-4D97-AF65-F5344CB8AC3E}">
        <p14:creationId xmlns:p14="http://schemas.microsoft.com/office/powerpoint/2010/main" val="79937263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9B4089F-5A6C-46CC-8DAF-010D49B80E5D}"/>
              </a:ext>
            </a:extLst>
          </p:cNvPr>
          <p:cNvSpPr txBox="1">
            <a:spLocks/>
          </p:cNvSpPr>
          <p:nvPr/>
        </p:nvSpPr>
        <p:spPr>
          <a:xfrm>
            <a:off x="533400" y="685800"/>
            <a:ext cx="7363691" cy="685796"/>
          </a:xfrm>
          <a:prstGeom prst="rect">
            <a:avLst/>
          </a:prstGeom>
        </p:spPr>
        <p:txBody>
          <a:bodyPr>
            <a:normAutofit fontScale="975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fr-CA" kern="0" dirty="0">
                <a:solidFill>
                  <a:schemeClr val="accent2"/>
                </a:solidFill>
              </a:rPr>
              <a:t>Exemple 14 - solution</a:t>
            </a:r>
            <a:endParaRPr lang="fr-CA" dirty="0">
              <a:solidFill>
                <a:schemeClr val="accent2"/>
              </a:solidFill>
            </a:endParaRPr>
          </a:p>
        </p:txBody>
      </p:sp>
      <p:sp>
        <p:nvSpPr>
          <p:cNvPr id="6" name="ZoneTexte 5">
            <a:extLst>
              <a:ext uri="{FF2B5EF4-FFF2-40B4-BE49-F238E27FC236}">
                <a16:creationId xmlns:a16="http://schemas.microsoft.com/office/drawing/2014/main" id="{BDB98A0A-C42F-4AE5-A677-6E325D1FA13C}"/>
              </a:ext>
            </a:extLst>
          </p:cNvPr>
          <p:cNvSpPr txBox="1"/>
          <p:nvPr/>
        </p:nvSpPr>
        <p:spPr>
          <a:xfrm>
            <a:off x="580030" y="1371596"/>
            <a:ext cx="7983940" cy="5324535"/>
          </a:xfrm>
          <a:prstGeom prst="rect">
            <a:avLst/>
          </a:prstGeom>
          <a:noFill/>
        </p:spPr>
        <p:txBody>
          <a:bodyPr wrap="square" rtlCol="0">
            <a:spAutoFit/>
          </a:bodyPr>
          <a:lstStyle/>
          <a:p>
            <a:r>
              <a:rPr lang="fr-CA" dirty="0"/>
              <a:t>Selon le par 20, une modification est comptabilisée comme un contrat distinct si les deux conditions suivantes sont remplies :</a:t>
            </a:r>
          </a:p>
          <a:p>
            <a:pPr marL="457200" indent="-457200">
              <a:buFont typeface="+mj-lt"/>
              <a:buAutoNum type="alphaLcParenR"/>
            </a:pPr>
            <a:r>
              <a:rPr lang="fr-CA" dirty="0"/>
              <a:t>ajout de biens ou de services promis qui sont distincts</a:t>
            </a:r>
          </a:p>
          <a:p>
            <a:pPr marL="914400" lvl="1" indent="-457200">
              <a:buFont typeface="Wingdings" panose="05000000000000000000" pitchFamily="2" charset="2"/>
              <a:buChar char="à"/>
            </a:pPr>
            <a:r>
              <a:rPr lang="fr-CA" dirty="0"/>
              <a:t>OUI, les 30 produits supplémentaires sont distincts des produits initiaux.</a:t>
            </a:r>
          </a:p>
          <a:p>
            <a:pPr lvl="1" indent="-457200">
              <a:buFont typeface="+mj-lt"/>
              <a:buAutoNum type="alphaLcParenR" startAt="2"/>
            </a:pPr>
            <a:r>
              <a:rPr lang="fr-CA" dirty="0"/>
              <a:t>le prix du contrat augmente d'un montant de contrepartie qui reflète le prix de vente spécifique du ou des biens ou des services additionnels promis</a:t>
            </a:r>
          </a:p>
          <a:p>
            <a:pPr marL="914400" lvl="1" indent="-457200">
              <a:buFont typeface="Wingdings" panose="05000000000000000000" pitchFamily="2" charset="2"/>
              <a:buChar char="à"/>
            </a:pPr>
            <a:r>
              <a:rPr lang="fr-CA" dirty="0"/>
              <a:t>OUI, le prix des produits supplémentaires de 95$ reflète le prix de vente spécifique des produits au moment de la modification du contrat.</a:t>
            </a:r>
          </a:p>
          <a:p>
            <a:endParaRPr lang="fr-CA" sz="1400" dirty="0"/>
          </a:p>
          <a:p>
            <a:r>
              <a:rPr lang="fr-CA" dirty="0"/>
              <a:t>La modification du contrat pour les 30 produits supplémentaires constitue, en fait, un nouveau contrat distinct pour des produits à venir qui n'a aucune incidence sur la comptabilisation du contrat existant. </a:t>
            </a:r>
          </a:p>
          <a:p>
            <a:endParaRPr lang="fr-CA" sz="1400" dirty="0"/>
          </a:p>
          <a:p>
            <a:r>
              <a:rPr lang="fr-CA" dirty="0"/>
              <a:t>L'entité comptabilise en produits des activités ordinaires 100 $ par produit pour les 120 produits visés dans le contrat initial et 95 $ par produit pour les 30 produits visés dans le nouveau contrat.</a:t>
            </a:r>
          </a:p>
        </p:txBody>
      </p:sp>
      <p:sp>
        <p:nvSpPr>
          <p:cNvPr id="3" name="Espace réservé du numéro de diapositive 2"/>
          <p:cNvSpPr>
            <a:spLocks noGrp="1"/>
          </p:cNvSpPr>
          <p:nvPr>
            <p:ph type="sldNum" sz="quarter" idx="12"/>
          </p:nvPr>
        </p:nvSpPr>
        <p:spPr/>
        <p:txBody>
          <a:bodyPr/>
          <a:lstStyle/>
          <a:p>
            <a:fld id="{3F1B3DEB-6CA3-4B97-B0DC-BA3F5F40634A}" type="slidenum">
              <a:rPr lang="fr-CA" smtClean="0"/>
              <a:t>64</a:t>
            </a:fld>
            <a:endParaRPr lang="fr-CA"/>
          </a:p>
        </p:txBody>
      </p:sp>
    </p:spTree>
    <p:extLst>
      <p:ext uri="{BB962C8B-B14F-4D97-AF65-F5344CB8AC3E}">
        <p14:creationId xmlns:p14="http://schemas.microsoft.com/office/powerpoint/2010/main" val="60550286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9B4089F-5A6C-46CC-8DAF-010D49B80E5D}"/>
              </a:ext>
            </a:extLst>
          </p:cNvPr>
          <p:cNvSpPr txBox="1">
            <a:spLocks/>
          </p:cNvSpPr>
          <p:nvPr/>
        </p:nvSpPr>
        <p:spPr>
          <a:xfrm>
            <a:off x="533400" y="685800"/>
            <a:ext cx="7363691" cy="685796"/>
          </a:xfrm>
          <a:prstGeom prst="rect">
            <a:avLst/>
          </a:prstGeom>
        </p:spPr>
        <p:txBody>
          <a:bodyPr>
            <a:normAutofit fontScale="975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fr-CA" kern="0" dirty="0">
                <a:solidFill>
                  <a:schemeClr val="accent2"/>
                </a:solidFill>
              </a:rPr>
              <a:t>Exemple 15</a:t>
            </a:r>
            <a:endParaRPr lang="fr-CA" dirty="0">
              <a:solidFill>
                <a:schemeClr val="accent2"/>
              </a:solidFill>
            </a:endParaRPr>
          </a:p>
        </p:txBody>
      </p:sp>
      <p:sp>
        <p:nvSpPr>
          <p:cNvPr id="6" name="ZoneTexte 5">
            <a:extLst>
              <a:ext uri="{FF2B5EF4-FFF2-40B4-BE49-F238E27FC236}">
                <a16:creationId xmlns:a16="http://schemas.microsoft.com/office/drawing/2014/main" id="{BDB98A0A-C42F-4AE5-A677-6E325D1FA13C}"/>
              </a:ext>
            </a:extLst>
          </p:cNvPr>
          <p:cNvSpPr txBox="1"/>
          <p:nvPr/>
        </p:nvSpPr>
        <p:spPr>
          <a:xfrm>
            <a:off x="533400" y="1671847"/>
            <a:ext cx="7983940" cy="3970318"/>
          </a:xfrm>
          <a:prstGeom prst="rect">
            <a:avLst/>
          </a:prstGeom>
          <a:noFill/>
        </p:spPr>
        <p:txBody>
          <a:bodyPr wrap="square" rtlCol="0">
            <a:spAutoFit/>
          </a:bodyPr>
          <a:lstStyle/>
          <a:p>
            <a:r>
              <a:rPr lang="fr-CA" dirty="0"/>
              <a:t>Mêmes données qu’à l’exemple 14 MAIS : </a:t>
            </a:r>
          </a:p>
          <a:p>
            <a:endParaRPr lang="fr-CA" dirty="0"/>
          </a:p>
          <a:p>
            <a:r>
              <a:rPr lang="fr-CA" dirty="0"/>
              <a:t>Le prix unitaire des 30 produits supplémentaires est de 80 $. Le prix de vente spécifique des produits au moment de la modification du contrat est de 95 $.</a:t>
            </a:r>
          </a:p>
          <a:p>
            <a:endParaRPr lang="fr-CA" dirty="0"/>
          </a:p>
          <a:p>
            <a:r>
              <a:rPr lang="fr-CA" dirty="0"/>
              <a:t>Cependant, le client constate que les 60 premiers produits qui lui ont été fournis comportent de légers défauts propres à ces produits déjà livrés.  ABC promet un crédit partiel unitaire de 15 $ pour dédommager le client de la piètre qualité de ces produits. </a:t>
            </a:r>
          </a:p>
          <a:p>
            <a:endParaRPr lang="fr-CA" dirty="0"/>
          </a:p>
          <a:p>
            <a:r>
              <a:rPr lang="fr-CA" dirty="0"/>
              <a:t>En conséquence, la modification du contrat précise que le prix des 30 produits supplémentaires est de 1 500 $, ou 50 $ par produit. Ce prix comprend le prix convenu pour les 30 produits supplémentaires, soit 2 400 $ ou 80 $ par produit, moins le crédit de 900 $.</a:t>
            </a:r>
          </a:p>
        </p:txBody>
      </p:sp>
      <p:sp>
        <p:nvSpPr>
          <p:cNvPr id="3" name="Espace réservé du numéro de diapositive 2"/>
          <p:cNvSpPr>
            <a:spLocks noGrp="1"/>
          </p:cNvSpPr>
          <p:nvPr>
            <p:ph type="sldNum" sz="quarter" idx="12"/>
          </p:nvPr>
        </p:nvSpPr>
        <p:spPr/>
        <p:txBody>
          <a:bodyPr/>
          <a:lstStyle/>
          <a:p>
            <a:fld id="{3F1B3DEB-6CA3-4B97-B0DC-BA3F5F40634A}" type="slidenum">
              <a:rPr lang="fr-CA" smtClean="0"/>
              <a:t>65</a:t>
            </a:fld>
            <a:endParaRPr lang="fr-CA"/>
          </a:p>
        </p:txBody>
      </p:sp>
    </p:spTree>
    <p:extLst>
      <p:ext uri="{BB962C8B-B14F-4D97-AF65-F5344CB8AC3E}">
        <p14:creationId xmlns:p14="http://schemas.microsoft.com/office/powerpoint/2010/main" val="154146197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9B4089F-5A6C-46CC-8DAF-010D49B80E5D}"/>
              </a:ext>
            </a:extLst>
          </p:cNvPr>
          <p:cNvSpPr txBox="1">
            <a:spLocks/>
          </p:cNvSpPr>
          <p:nvPr/>
        </p:nvSpPr>
        <p:spPr>
          <a:xfrm>
            <a:off x="533400" y="685800"/>
            <a:ext cx="7363691" cy="438910"/>
          </a:xfrm>
          <a:prstGeom prst="rect">
            <a:avLst/>
          </a:prstGeom>
        </p:spPr>
        <p:txBody>
          <a:bodyPr>
            <a:normAutofit fontScale="90000" lnSpcReduction="100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fr-CA" kern="0" dirty="0">
                <a:solidFill>
                  <a:schemeClr val="accent2"/>
                </a:solidFill>
              </a:rPr>
              <a:t>Exemple 15 - solution</a:t>
            </a:r>
            <a:endParaRPr lang="fr-CA" dirty="0">
              <a:solidFill>
                <a:schemeClr val="accent2"/>
              </a:solidFill>
            </a:endParaRPr>
          </a:p>
        </p:txBody>
      </p:sp>
      <p:sp>
        <p:nvSpPr>
          <p:cNvPr id="6" name="ZoneTexte 5">
            <a:extLst>
              <a:ext uri="{FF2B5EF4-FFF2-40B4-BE49-F238E27FC236}">
                <a16:creationId xmlns:a16="http://schemas.microsoft.com/office/drawing/2014/main" id="{BDB98A0A-C42F-4AE5-A677-6E325D1FA13C}"/>
              </a:ext>
            </a:extLst>
          </p:cNvPr>
          <p:cNvSpPr txBox="1"/>
          <p:nvPr/>
        </p:nvSpPr>
        <p:spPr>
          <a:xfrm>
            <a:off x="362309" y="1418008"/>
            <a:ext cx="8384876" cy="5232202"/>
          </a:xfrm>
          <a:prstGeom prst="rect">
            <a:avLst/>
          </a:prstGeom>
          <a:noFill/>
        </p:spPr>
        <p:txBody>
          <a:bodyPr wrap="square" rtlCol="0">
            <a:spAutoFit/>
          </a:bodyPr>
          <a:lstStyle/>
          <a:p>
            <a:r>
              <a:rPr lang="fr-CA" dirty="0"/>
              <a:t>Au moment où la modification est apportée, l'entité comptabilise le montant de 900 $ en en diminution des produits des activités ordinaires relativement aux 60 premiers produits fournis. </a:t>
            </a:r>
          </a:p>
          <a:p>
            <a:endParaRPr lang="fr-CA" sz="1400" dirty="0"/>
          </a:p>
          <a:p>
            <a:r>
              <a:rPr lang="fr-CA" dirty="0"/>
              <a:t>Selon le par 20, une modification est comptabilisée comme un contrat distinct si les deux conditions suivantes sont remplies :</a:t>
            </a:r>
          </a:p>
          <a:p>
            <a:pPr marL="457200" indent="-457200">
              <a:buFont typeface="+mj-lt"/>
              <a:buAutoNum type="alphaLcParenR"/>
            </a:pPr>
            <a:r>
              <a:rPr lang="fr-CA" dirty="0"/>
              <a:t>ajout de biens ou de services promis qui sont distincts</a:t>
            </a:r>
          </a:p>
          <a:p>
            <a:pPr marL="914400" lvl="1" indent="-457200">
              <a:buFont typeface="Wingdings" panose="05000000000000000000" pitchFamily="2" charset="2"/>
              <a:buChar char="à"/>
            </a:pPr>
            <a:r>
              <a:rPr lang="fr-CA" dirty="0"/>
              <a:t>OUI, les 30 produits supplémentaires sont distincts des produits initiaux.</a:t>
            </a:r>
          </a:p>
          <a:p>
            <a:pPr lvl="1" indent="-457200">
              <a:buFont typeface="+mj-lt"/>
              <a:buAutoNum type="alphaLcParenR" startAt="2"/>
            </a:pPr>
            <a:r>
              <a:rPr lang="fr-CA" dirty="0"/>
              <a:t>le prix du contrat augmente d'un montant de contrepartie qui reflète le prix de vente spécifique du ou des biens ou des services additionnels promis</a:t>
            </a:r>
          </a:p>
          <a:p>
            <a:pPr marL="914400" lvl="1" indent="-457200">
              <a:buFont typeface="Wingdings" panose="05000000000000000000" pitchFamily="2" charset="2"/>
              <a:buChar char="à"/>
            </a:pPr>
            <a:r>
              <a:rPr lang="fr-CA" dirty="0"/>
              <a:t>NON, le prix des produits supplémentaires de 80 $ ne reflète pas le prix de vente spécifique des produits au moment de la modification du contrat.</a:t>
            </a:r>
          </a:p>
          <a:p>
            <a:endParaRPr lang="fr-CA" sz="1400" dirty="0"/>
          </a:p>
          <a:p>
            <a:r>
              <a:rPr lang="fr-CA" dirty="0"/>
              <a:t>La modification du contrat pour les 30 produits supplémentaires ne sera pas comptabilisé comme un contrat distinct mais plutôt comme un </a:t>
            </a:r>
            <a:r>
              <a:rPr lang="fr-CA" b="1" dirty="0"/>
              <a:t>ajustement prospectif </a:t>
            </a:r>
            <a:r>
              <a:rPr lang="fr-CA" dirty="0"/>
              <a:t>au contrat existant. En effet, les biens ou les services restants sont distincts de ceux qui ont été fournis jusqu'à la date de la modification du contrat. </a:t>
            </a:r>
          </a:p>
          <a:p>
            <a:endParaRPr lang="fr-CA" dirty="0"/>
          </a:p>
        </p:txBody>
      </p:sp>
      <p:sp>
        <p:nvSpPr>
          <p:cNvPr id="3" name="Espace réservé du numéro de diapositive 2"/>
          <p:cNvSpPr>
            <a:spLocks noGrp="1"/>
          </p:cNvSpPr>
          <p:nvPr>
            <p:ph type="sldNum" sz="quarter" idx="12"/>
          </p:nvPr>
        </p:nvSpPr>
        <p:spPr/>
        <p:txBody>
          <a:bodyPr/>
          <a:lstStyle/>
          <a:p>
            <a:fld id="{3F1B3DEB-6CA3-4B97-B0DC-BA3F5F40634A}" type="slidenum">
              <a:rPr lang="fr-CA" smtClean="0"/>
              <a:t>66</a:t>
            </a:fld>
            <a:endParaRPr lang="fr-CA"/>
          </a:p>
        </p:txBody>
      </p:sp>
    </p:spTree>
    <p:extLst>
      <p:ext uri="{BB962C8B-B14F-4D97-AF65-F5344CB8AC3E}">
        <p14:creationId xmlns:p14="http://schemas.microsoft.com/office/powerpoint/2010/main" val="63948477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9B4089F-5A6C-46CC-8DAF-010D49B80E5D}"/>
              </a:ext>
            </a:extLst>
          </p:cNvPr>
          <p:cNvSpPr txBox="1">
            <a:spLocks/>
          </p:cNvSpPr>
          <p:nvPr/>
        </p:nvSpPr>
        <p:spPr>
          <a:xfrm>
            <a:off x="533400" y="685800"/>
            <a:ext cx="7363691" cy="685796"/>
          </a:xfrm>
          <a:prstGeom prst="rect">
            <a:avLst/>
          </a:prstGeom>
        </p:spPr>
        <p:txBody>
          <a:bodyPr>
            <a:normAutofit fontScale="975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fr-CA" kern="0" dirty="0">
                <a:solidFill>
                  <a:schemeClr val="accent2"/>
                </a:solidFill>
              </a:rPr>
              <a:t>Exemple 15 - solution</a:t>
            </a:r>
            <a:endParaRPr lang="fr-CA" dirty="0">
              <a:solidFill>
                <a:schemeClr val="accent2"/>
              </a:solidFill>
            </a:endParaRPr>
          </a:p>
        </p:txBody>
      </p:sp>
      <p:sp>
        <p:nvSpPr>
          <p:cNvPr id="6" name="ZoneTexte 5">
            <a:extLst>
              <a:ext uri="{FF2B5EF4-FFF2-40B4-BE49-F238E27FC236}">
                <a16:creationId xmlns:a16="http://schemas.microsoft.com/office/drawing/2014/main" id="{BDB98A0A-C42F-4AE5-A677-6E325D1FA13C}"/>
              </a:ext>
            </a:extLst>
          </p:cNvPr>
          <p:cNvSpPr txBox="1"/>
          <p:nvPr/>
        </p:nvSpPr>
        <p:spPr>
          <a:xfrm>
            <a:off x="580030" y="1685495"/>
            <a:ext cx="7983940" cy="2585323"/>
          </a:xfrm>
          <a:prstGeom prst="rect">
            <a:avLst/>
          </a:prstGeom>
          <a:noFill/>
        </p:spPr>
        <p:txBody>
          <a:bodyPr wrap="square" rtlCol="0">
            <a:spAutoFit/>
          </a:bodyPr>
          <a:lstStyle/>
          <a:p>
            <a:r>
              <a:rPr lang="fr-CA" dirty="0"/>
              <a:t>Le montant comptabilisé en produits des activités ordinaires pour chacun des produits restants est donc un mélange des différents prix. </a:t>
            </a:r>
          </a:p>
          <a:p>
            <a:endParaRPr lang="fr-CA" dirty="0"/>
          </a:p>
          <a:p>
            <a:r>
              <a:rPr lang="fr-CA" dirty="0"/>
              <a:t>La contrepartie totale qu’il reste à recevoir se calcule comme suit : </a:t>
            </a:r>
          </a:p>
          <a:p>
            <a:pPr marL="285750" indent="-285750">
              <a:buFontTx/>
              <a:buChar char="-"/>
            </a:pPr>
            <a:r>
              <a:rPr lang="fr-CA" dirty="0"/>
              <a:t>100 $ * 60 produits non encore fournis en vertu du contrat initial</a:t>
            </a:r>
          </a:p>
          <a:p>
            <a:pPr marL="285750" indent="-285750">
              <a:buFontTx/>
              <a:buChar char="-"/>
            </a:pPr>
            <a:r>
              <a:rPr lang="fr-CA" dirty="0"/>
              <a:t>80 $ * 30 nouveaux produits</a:t>
            </a:r>
          </a:p>
          <a:p>
            <a:pPr marL="285750" indent="-285750">
              <a:buFontTx/>
              <a:buChar char="-"/>
            </a:pPr>
            <a:r>
              <a:rPr lang="fr-CA" dirty="0"/>
              <a:t>TOTAL : 8 400$</a:t>
            </a:r>
          </a:p>
          <a:p>
            <a:pPr marL="285750" indent="-285750">
              <a:buFontTx/>
              <a:buChar char="-"/>
            </a:pPr>
            <a:endParaRPr lang="fr-CA" dirty="0"/>
          </a:p>
          <a:p>
            <a:r>
              <a:rPr lang="fr-CA" dirty="0"/>
              <a:t>Cela correspond à 93,33 $ par produit.</a:t>
            </a:r>
          </a:p>
        </p:txBody>
      </p:sp>
      <p:sp>
        <p:nvSpPr>
          <p:cNvPr id="3" name="Espace réservé du numéro de diapositive 2"/>
          <p:cNvSpPr>
            <a:spLocks noGrp="1"/>
          </p:cNvSpPr>
          <p:nvPr>
            <p:ph type="sldNum" sz="quarter" idx="12"/>
          </p:nvPr>
        </p:nvSpPr>
        <p:spPr/>
        <p:txBody>
          <a:bodyPr/>
          <a:lstStyle/>
          <a:p>
            <a:fld id="{3F1B3DEB-6CA3-4B97-B0DC-BA3F5F40634A}" type="slidenum">
              <a:rPr lang="fr-CA" smtClean="0"/>
              <a:t>67</a:t>
            </a:fld>
            <a:endParaRPr lang="fr-CA"/>
          </a:p>
        </p:txBody>
      </p:sp>
    </p:spTree>
    <p:extLst>
      <p:ext uri="{BB962C8B-B14F-4D97-AF65-F5344CB8AC3E}">
        <p14:creationId xmlns:p14="http://schemas.microsoft.com/office/powerpoint/2010/main" val="72084302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397164" y="1041977"/>
            <a:ext cx="9144000" cy="740664"/>
          </a:xfrm>
        </p:spPr>
        <p:txBody>
          <a:bodyPr/>
          <a:lstStyle/>
          <a:p>
            <a:r>
              <a:rPr lang="fr-CA" dirty="0"/>
              <a:t>Présentation</a:t>
            </a:r>
          </a:p>
        </p:txBody>
      </p:sp>
      <p:sp>
        <p:nvSpPr>
          <p:cNvPr id="3" name="Espace réservé du contenu 2"/>
          <p:cNvSpPr>
            <a:spLocks noGrp="1"/>
          </p:cNvSpPr>
          <p:nvPr>
            <p:ph idx="1"/>
          </p:nvPr>
        </p:nvSpPr>
        <p:spPr>
          <a:xfrm>
            <a:off x="478800" y="2067486"/>
            <a:ext cx="8186400" cy="4591932"/>
          </a:xfrm>
        </p:spPr>
        <p:txBody>
          <a:bodyPr>
            <a:noAutofit/>
          </a:bodyPr>
          <a:lstStyle/>
          <a:p>
            <a:r>
              <a:rPr lang="fr-CA" sz="2000" u="sng" dirty="0"/>
              <a:t>Actif sur contrat </a:t>
            </a:r>
            <a:r>
              <a:rPr lang="fr-CA" sz="2000" dirty="0"/>
              <a:t>: droit de l’entité d’obtenir une contrepartie en échange de biens ou de services qu’elle a fournis à un client (travaux en cours; différent de « clients »)</a:t>
            </a:r>
          </a:p>
          <a:p>
            <a:r>
              <a:rPr lang="fr-CA" sz="2000" u="sng" dirty="0"/>
              <a:t>Passif sur contrat </a:t>
            </a:r>
            <a:r>
              <a:rPr lang="fr-CA" sz="2000" dirty="0"/>
              <a:t>: obligation de l’entité de fournir à un client des biens ou des services pour lesquels elle a reçu une contrepartie, ou pour lesquels la contrepartie est exigible (produits différés)</a:t>
            </a:r>
          </a:p>
          <a:p>
            <a:r>
              <a:rPr lang="fr-CA" sz="2000" dirty="0"/>
              <a:t>En note aux É/F : </a:t>
            </a:r>
          </a:p>
          <a:p>
            <a:pPr marL="268920" lvl="1" indent="0">
              <a:buNone/>
            </a:pPr>
            <a:r>
              <a:rPr lang="fr-CA" sz="2000" dirty="0"/>
              <a:t>Informations requises pour permettre aux utilisateurs des états financiers de comprendre la </a:t>
            </a:r>
            <a:r>
              <a:rPr lang="fr-CA" sz="2000" u="sng" dirty="0"/>
              <a:t>nature</a:t>
            </a:r>
            <a:r>
              <a:rPr lang="fr-CA" sz="2000" dirty="0"/>
              <a:t>, le </a:t>
            </a:r>
            <a:r>
              <a:rPr lang="fr-CA" sz="2000" u="sng" dirty="0"/>
              <a:t>montant</a:t>
            </a:r>
            <a:r>
              <a:rPr lang="fr-CA" sz="2000" dirty="0"/>
              <a:t>, le </a:t>
            </a:r>
            <a:r>
              <a:rPr lang="fr-CA" sz="2000" u="sng" dirty="0"/>
              <a:t>calendrier</a:t>
            </a:r>
            <a:r>
              <a:rPr lang="fr-CA" sz="2000" dirty="0"/>
              <a:t> et le </a:t>
            </a:r>
            <a:r>
              <a:rPr lang="fr-CA" sz="2000" u="sng" dirty="0"/>
              <a:t>degré d’incertitude</a:t>
            </a:r>
            <a:r>
              <a:rPr lang="fr-CA" sz="2000" dirty="0"/>
              <a:t> des produits des activités ordinaires et des flux de trésorerie provenant des contrats conclus avec les clients. </a:t>
            </a:r>
          </a:p>
          <a:p>
            <a:pPr marL="0" indent="0">
              <a:buNone/>
            </a:pPr>
            <a:endParaRPr lang="fr-CA" sz="2000" dirty="0"/>
          </a:p>
        </p:txBody>
      </p:sp>
      <p:sp>
        <p:nvSpPr>
          <p:cNvPr id="4" name="Espace réservé du numéro de diapositive 3"/>
          <p:cNvSpPr>
            <a:spLocks noGrp="1"/>
          </p:cNvSpPr>
          <p:nvPr>
            <p:ph type="sldNum" sz="quarter" idx="4"/>
          </p:nvPr>
        </p:nvSpPr>
        <p:spPr/>
        <p:txBody>
          <a:bodyPr/>
          <a:lstStyle/>
          <a:p>
            <a:endParaRPr lang="fr-CA" dirty="0">
              <a:solidFill>
                <a:srgbClr val="003C71"/>
              </a:solidFill>
            </a:endParaRPr>
          </a:p>
        </p:txBody>
      </p:sp>
    </p:spTree>
    <p:extLst>
      <p:ext uri="{BB962C8B-B14F-4D97-AF65-F5344CB8AC3E}">
        <p14:creationId xmlns:p14="http://schemas.microsoft.com/office/powerpoint/2010/main" val="114494785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9123B3CE-B88F-4ED5-9C86-27142544A3C2}"/>
              </a:ext>
            </a:extLst>
          </p:cNvPr>
          <p:cNvSpPr>
            <a:spLocks noGrp="1"/>
          </p:cNvSpPr>
          <p:nvPr>
            <p:ph idx="1"/>
          </p:nvPr>
        </p:nvSpPr>
        <p:spPr>
          <a:xfrm>
            <a:off x="446399" y="1274618"/>
            <a:ext cx="8240400" cy="3531382"/>
          </a:xfrm>
        </p:spPr>
        <p:txBody>
          <a:bodyPr>
            <a:normAutofit/>
          </a:bodyPr>
          <a:lstStyle/>
          <a:p>
            <a:pPr marL="0" indent="0" algn="ctr">
              <a:buNone/>
            </a:pPr>
            <a:r>
              <a:rPr lang="fr-CA" sz="9600" dirty="0">
                <a:solidFill>
                  <a:schemeClr val="accent3"/>
                </a:solidFill>
              </a:rPr>
              <a:t>QUESTIONS ?</a:t>
            </a:r>
          </a:p>
        </p:txBody>
      </p:sp>
      <p:sp>
        <p:nvSpPr>
          <p:cNvPr id="2" name="Espace réservé du numéro de diapositive 1"/>
          <p:cNvSpPr>
            <a:spLocks noGrp="1"/>
          </p:cNvSpPr>
          <p:nvPr>
            <p:ph type="sldNum" sz="quarter" idx="12"/>
          </p:nvPr>
        </p:nvSpPr>
        <p:spPr/>
        <p:txBody>
          <a:bodyPr/>
          <a:lstStyle/>
          <a:p>
            <a:fld id="{3F1B3DEB-6CA3-4B97-B0DC-BA3F5F40634A}" type="slidenum">
              <a:rPr lang="fr-CA" smtClean="0"/>
              <a:t>69</a:t>
            </a:fld>
            <a:endParaRPr lang="fr-CA"/>
          </a:p>
        </p:txBody>
      </p:sp>
    </p:spTree>
    <p:extLst>
      <p:ext uri="{BB962C8B-B14F-4D97-AF65-F5344CB8AC3E}">
        <p14:creationId xmlns:p14="http://schemas.microsoft.com/office/powerpoint/2010/main" val="380210138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NUM" val="4"/>
</p:tagLst>
</file>

<file path=ppt/tags/tag2.xml><?xml version="1.0" encoding="utf-8"?>
<p:tagLst xmlns:a="http://schemas.openxmlformats.org/drawingml/2006/main" xmlns:r="http://schemas.openxmlformats.org/officeDocument/2006/relationships" xmlns:p="http://schemas.openxmlformats.org/presentationml/2006/main">
  <p:tag name="NUM" val="3"/>
</p:tagLst>
</file>

<file path=ppt/tags/tag3.xml><?xml version="1.0" encoding="utf-8"?>
<p:tagLst xmlns:a="http://schemas.openxmlformats.org/drawingml/2006/main" xmlns:r="http://schemas.openxmlformats.org/officeDocument/2006/relationships" xmlns:p="http://schemas.openxmlformats.org/presentationml/2006/main">
  <p:tag name="NUM" val="5"/>
</p:tagLst>
</file>

<file path=ppt/tags/tag4.xml><?xml version="1.0" encoding="utf-8"?>
<p:tagLst xmlns:a="http://schemas.openxmlformats.org/drawingml/2006/main" xmlns:r="http://schemas.openxmlformats.org/officeDocument/2006/relationships" xmlns:p="http://schemas.openxmlformats.org/presentationml/2006/main">
  <p:tag name="NUM" val="6"/>
</p:tagLst>
</file>

<file path=ppt/tags/tag5.xml><?xml version="1.0" encoding="utf-8"?>
<p:tagLst xmlns:a="http://schemas.openxmlformats.org/drawingml/2006/main" xmlns:r="http://schemas.openxmlformats.org/officeDocument/2006/relationships" xmlns:p="http://schemas.openxmlformats.org/presentationml/2006/main">
  <p:tag name="NUM" val="7"/>
</p:tagLst>
</file>

<file path=ppt/tags/tag6.xml><?xml version="1.0" encoding="utf-8"?>
<p:tagLst xmlns:a="http://schemas.openxmlformats.org/drawingml/2006/main" xmlns:r="http://schemas.openxmlformats.org/officeDocument/2006/relationships" xmlns:p="http://schemas.openxmlformats.org/presentationml/2006/main">
  <p:tag name="NUM" val="8"/>
</p:tagLst>
</file>

<file path=ppt/tags/tag7.xml><?xml version="1.0" encoding="utf-8"?>
<p:tagLst xmlns:a="http://schemas.openxmlformats.org/drawingml/2006/main" xmlns:r="http://schemas.openxmlformats.org/officeDocument/2006/relationships" xmlns:p="http://schemas.openxmlformats.org/presentationml/2006/main">
  <p:tag name="NUM" val="9"/>
</p:tagLst>
</file>

<file path=ppt/tags/tag8.xml><?xml version="1.0" encoding="utf-8"?>
<p:tagLst xmlns:a="http://schemas.openxmlformats.org/drawingml/2006/main" xmlns:r="http://schemas.openxmlformats.org/officeDocument/2006/relationships" xmlns:p="http://schemas.openxmlformats.org/presentationml/2006/main">
  <p:tag name="NUM" val="10"/>
</p:tagLst>
</file>

<file path=ppt/tags/tag9.xml><?xml version="1.0" encoding="utf-8"?>
<p:tagLst xmlns:a="http://schemas.openxmlformats.org/drawingml/2006/main" xmlns:r="http://schemas.openxmlformats.org/officeDocument/2006/relationships" xmlns:p="http://schemas.openxmlformats.org/presentationml/2006/main">
  <p:tag name="NUM" val="11"/>
</p:tagLst>
</file>

<file path=ppt/tags/tag10.xml><?xml version="1.0" encoding="utf-8"?>
<p:tagLst xmlns:a="http://schemas.openxmlformats.org/drawingml/2006/main" xmlns:r="http://schemas.openxmlformats.org/officeDocument/2006/relationships" xmlns:p="http://schemas.openxmlformats.org/presentationml/2006/main">
  <p:tag name="NUM" val="12"/>
</p:tagLst>
</file>

<file path=ppt/tags/tag11.xml><?xml version="1.0" encoding="utf-8"?>
<p:tagLst xmlns:a="http://schemas.openxmlformats.org/drawingml/2006/main" xmlns:r="http://schemas.openxmlformats.org/officeDocument/2006/relationships" xmlns:p="http://schemas.openxmlformats.org/presentationml/2006/main">
  <p:tag name="NUM" val="13"/>
</p:tagLst>
</file>

<file path=ppt/theme/theme1.xml><?xml version="1.0" encoding="utf-8"?>
<a:theme xmlns:a="http://schemas.openxmlformats.org/drawingml/2006/main" name="Dividende">
  <a:themeElements>
    <a:clrScheme name="Personnalisé 2">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3ECCB4"/>
      </a:hlink>
      <a:folHlink>
        <a:srgbClr val="85DFD0"/>
      </a:folHlink>
    </a:clrScheme>
    <a:fontScheme name="Dividende">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e">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C21699FF-00E4-43C8-BBCC-D7E5536C3717}"/>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Concis</Template>
  <TotalTime>3101</TotalTime>
  <Words>6998</Words>
  <Application>Microsoft Office PowerPoint</Application>
  <PresentationFormat>Affichage à l'écran (4:3)</PresentationFormat>
  <Paragraphs>646</Paragraphs>
  <Slides>69</Slides>
  <Notes>20</Notes>
  <HiddenSlides>0</HiddenSlides>
  <MMClips>0</MMClips>
  <ScaleCrop>false</ScaleCrop>
  <HeadingPairs>
    <vt:vector size="6" baseType="variant">
      <vt:variant>
        <vt:lpstr>Polices utilisées</vt:lpstr>
      </vt:variant>
      <vt:variant>
        <vt:i4>7</vt:i4>
      </vt:variant>
      <vt:variant>
        <vt:lpstr>Thème</vt:lpstr>
      </vt:variant>
      <vt:variant>
        <vt:i4>1</vt:i4>
      </vt:variant>
      <vt:variant>
        <vt:lpstr>Titres des diapositives</vt:lpstr>
      </vt:variant>
      <vt:variant>
        <vt:i4>69</vt:i4>
      </vt:variant>
    </vt:vector>
  </HeadingPairs>
  <TitlesOfParts>
    <vt:vector size="77" baseType="lpstr">
      <vt:lpstr>Arial</vt:lpstr>
      <vt:lpstr>Calibri</vt:lpstr>
      <vt:lpstr>Courier New</vt:lpstr>
      <vt:lpstr>Georgia</vt:lpstr>
      <vt:lpstr>Gill Sans MT</vt:lpstr>
      <vt:lpstr>Wingdings</vt:lpstr>
      <vt:lpstr>Wingdings 2</vt:lpstr>
      <vt:lpstr>Dividende</vt:lpstr>
      <vt:lpstr>Les produits d’activités ordinaires tirés de contrats conclus avec des clients</vt:lpstr>
      <vt:lpstr>Champ d’application</vt:lpstr>
      <vt:lpstr>Le principe</vt:lpstr>
      <vt:lpstr>Modèle en 5 étapes</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Les coûts marginaux reliés à l’obtention du contrat</vt:lpstr>
      <vt:lpstr>Présentation PowerPoint</vt:lpstr>
      <vt:lpstr>Présentation PowerPoint</vt:lpstr>
      <vt:lpstr>Les coûts d’exécution du contrat</vt:lpstr>
      <vt:lpstr>Les coûts d’exécution à l’actif</vt:lpstr>
      <vt:lpstr>Présentation PowerPoint</vt:lpstr>
      <vt:lpstr>Présentation PowerPoint</vt:lpstr>
      <vt:lpstr>Présentation PowerPoint</vt:lpstr>
      <vt:lpstr>Mandant - Mandataire</vt:lpstr>
      <vt:lpstr>Modification de contrats</vt:lpstr>
      <vt:lpstr>Modification de contrats</vt:lpstr>
      <vt:lpstr>Présentation PowerPoint</vt:lpstr>
      <vt:lpstr>Présentation PowerPoint</vt:lpstr>
      <vt:lpstr>Présentation PowerPoint</vt:lpstr>
      <vt:lpstr>Présentation PowerPoint</vt:lpstr>
      <vt:lpstr>Présentation PowerPoint</vt:lpstr>
      <vt:lpstr>Présentation</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 produits d’activités ordinaires tirés de contrats conclus avec des clients</dc:title>
  <dc:creator>Léa Dugal</dc:creator>
  <cp:lastModifiedBy>louise overbeek</cp:lastModifiedBy>
  <cp:revision>76</cp:revision>
  <cp:lastPrinted>2018-06-10T16:45:36Z</cp:lastPrinted>
  <dcterms:created xsi:type="dcterms:W3CDTF">2018-05-14T14:35:51Z</dcterms:created>
  <dcterms:modified xsi:type="dcterms:W3CDTF">2020-11-13T15:24:59Z</dcterms:modified>
</cp:coreProperties>
</file>