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259" r:id="rId4"/>
    <p:sldId id="285" r:id="rId5"/>
    <p:sldId id="260" r:id="rId6"/>
    <p:sldId id="261" r:id="rId7"/>
    <p:sldId id="286" r:id="rId8"/>
    <p:sldId id="262" r:id="rId9"/>
    <p:sldId id="263" r:id="rId10"/>
    <p:sldId id="287" r:id="rId11"/>
    <p:sldId id="264" r:id="rId12"/>
    <p:sldId id="265" r:id="rId13"/>
    <p:sldId id="288" r:id="rId14"/>
    <p:sldId id="266" r:id="rId15"/>
    <p:sldId id="284" r:id="rId16"/>
    <p:sldId id="289" r:id="rId17"/>
    <p:sldId id="268" r:id="rId18"/>
    <p:sldId id="269" r:id="rId19"/>
    <p:sldId id="270" r:id="rId20"/>
    <p:sldId id="290" r:id="rId21"/>
    <p:sldId id="271" r:id="rId22"/>
    <p:sldId id="272" r:id="rId23"/>
    <p:sldId id="273" r:id="rId24"/>
    <p:sldId id="291" r:id="rId25"/>
    <p:sldId id="274" r:id="rId26"/>
    <p:sldId id="275" r:id="rId27"/>
    <p:sldId id="276" r:id="rId28"/>
    <p:sldId id="277" r:id="rId29"/>
    <p:sldId id="278" r:id="rId30"/>
    <p:sldId id="292" r:id="rId31"/>
    <p:sldId id="279" r:id="rId32"/>
    <p:sldId id="280" r:id="rId33"/>
    <p:sldId id="281" r:id="rId34"/>
    <p:sldId id="282" r:id="rId35"/>
    <p:sldId id="283"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8C24E-26FE-4663-8A64-7BCDD96806BA}" type="datetimeFigureOut">
              <a:rPr lang="fr-CA" smtClean="0"/>
              <a:t>2020-12-02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37E7DB-7866-4E07-8DAF-758F86657F66}" type="slidenum">
              <a:rPr lang="fr-CA" smtClean="0"/>
              <a:t>‹N°›</a:t>
            </a:fld>
            <a:endParaRPr lang="fr-CA"/>
          </a:p>
        </p:txBody>
      </p:sp>
    </p:spTree>
    <p:extLst>
      <p:ext uri="{BB962C8B-B14F-4D97-AF65-F5344CB8AC3E}">
        <p14:creationId xmlns:p14="http://schemas.microsoft.com/office/powerpoint/2010/main" val="2399011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5</a:t>
            </a:fld>
            <a:endParaRPr lang="fr-CA"/>
          </a:p>
        </p:txBody>
      </p:sp>
    </p:spTree>
    <p:extLst>
      <p:ext uri="{BB962C8B-B14F-4D97-AF65-F5344CB8AC3E}">
        <p14:creationId xmlns:p14="http://schemas.microsoft.com/office/powerpoint/2010/main" val="3267482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19</a:t>
            </a:fld>
            <a:endParaRPr lang="fr-CA"/>
          </a:p>
        </p:txBody>
      </p:sp>
    </p:spTree>
    <p:extLst>
      <p:ext uri="{BB962C8B-B14F-4D97-AF65-F5344CB8AC3E}">
        <p14:creationId xmlns:p14="http://schemas.microsoft.com/office/powerpoint/2010/main" val="113545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23</a:t>
            </a:fld>
            <a:endParaRPr lang="fr-CA"/>
          </a:p>
        </p:txBody>
      </p:sp>
    </p:spTree>
    <p:extLst>
      <p:ext uri="{BB962C8B-B14F-4D97-AF65-F5344CB8AC3E}">
        <p14:creationId xmlns:p14="http://schemas.microsoft.com/office/powerpoint/2010/main" val="1807146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24</a:t>
            </a:fld>
            <a:endParaRPr lang="fr-CA"/>
          </a:p>
        </p:txBody>
      </p:sp>
    </p:spTree>
    <p:extLst>
      <p:ext uri="{BB962C8B-B14F-4D97-AF65-F5344CB8AC3E}">
        <p14:creationId xmlns:p14="http://schemas.microsoft.com/office/powerpoint/2010/main" val="4090217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29</a:t>
            </a:fld>
            <a:endParaRPr lang="fr-CA"/>
          </a:p>
        </p:txBody>
      </p:sp>
    </p:spTree>
    <p:extLst>
      <p:ext uri="{BB962C8B-B14F-4D97-AF65-F5344CB8AC3E}">
        <p14:creationId xmlns:p14="http://schemas.microsoft.com/office/powerpoint/2010/main" val="162597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BA9D8349-F08A-4D64-B1F3-C97B289926D6}" type="slidenum">
              <a:rPr lang="fr-CA" smtClean="0"/>
              <a:t>30</a:t>
            </a:fld>
            <a:endParaRPr lang="fr-CA"/>
          </a:p>
        </p:txBody>
      </p:sp>
    </p:spTree>
    <p:extLst>
      <p:ext uri="{BB962C8B-B14F-4D97-AF65-F5344CB8AC3E}">
        <p14:creationId xmlns:p14="http://schemas.microsoft.com/office/powerpoint/2010/main" val="3410133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3467707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3292576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3524746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3BB2E4DC-36FB-4FD6-BB78-AF7114D6369E}" type="datetimeFigureOut">
              <a:rPr lang="fr-CA" smtClean="0"/>
              <a:t>2020-12-02</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2793537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BB2E4DC-36FB-4FD6-BB78-AF7114D6369E}" type="datetimeFigureOut">
              <a:rPr lang="fr-CA" smtClean="0"/>
              <a:t>2020-12-02</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2673781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3BB2E4DC-36FB-4FD6-BB78-AF7114D6369E}" type="datetimeFigureOut">
              <a:rPr lang="fr-CA" smtClean="0"/>
              <a:t>2020-12-02</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908298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B2E4DC-36FB-4FD6-BB78-AF7114D6369E}" type="datetimeFigureOut">
              <a:rPr lang="fr-CA" smtClean="0"/>
              <a:t>2020-12-02</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2247439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BB2E4DC-36FB-4FD6-BB78-AF7114D6369E}" type="datetimeFigureOut">
              <a:rPr lang="fr-CA" smtClean="0"/>
              <a:t>2020-12-02</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3809963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BB2E4DC-36FB-4FD6-BB78-AF7114D6369E}" type="datetimeFigureOut">
              <a:rPr lang="fr-CA" smtClean="0"/>
              <a:t>2020-12-02</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569470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2305582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254B2042-43B8-4FBA-9BCC-7EA9476B5BFF}" type="slidenum">
              <a:rPr lang="fr-CA" smtClean="0"/>
              <a:t>‹N°›</a:t>
            </a:fld>
            <a:endParaRPr lang="fr-CA"/>
          </a:p>
        </p:txBody>
      </p:sp>
    </p:spTree>
    <p:extLst>
      <p:ext uri="{BB962C8B-B14F-4D97-AF65-F5344CB8AC3E}">
        <p14:creationId xmlns:p14="http://schemas.microsoft.com/office/powerpoint/2010/main" val="792119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B2E4DC-36FB-4FD6-BB78-AF7114D6369E}" type="datetimeFigureOut">
              <a:rPr lang="fr-CA" smtClean="0"/>
              <a:t>2020-12-02</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4B2042-43B8-4FBA-9BCC-7EA9476B5BFF}" type="slidenum">
              <a:rPr lang="fr-CA" smtClean="0"/>
              <a:t>‹N°›</a:t>
            </a:fld>
            <a:endParaRPr lang="fr-CA"/>
          </a:p>
        </p:txBody>
      </p:sp>
    </p:spTree>
    <p:extLst>
      <p:ext uri="{BB962C8B-B14F-4D97-AF65-F5344CB8AC3E}">
        <p14:creationId xmlns:p14="http://schemas.microsoft.com/office/powerpoint/2010/main" val="181234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CA" dirty="0"/>
              <a:t>IFRS 15 - Produits</a:t>
            </a:r>
            <a:br>
              <a:rPr lang="fr-CA" dirty="0"/>
            </a:br>
            <a:r>
              <a:rPr lang="fr-CA" sz="4000" dirty="0"/>
              <a:t>exercices sur les 5 étapes et autres illustrations</a:t>
            </a:r>
            <a:endParaRPr lang="fr-CA" dirty="0"/>
          </a:p>
        </p:txBody>
      </p:sp>
      <p:sp>
        <p:nvSpPr>
          <p:cNvPr id="3" name="Sous-titre 2"/>
          <p:cNvSpPr>
            <a:spLocks noGrp="1"/>
          </p:cNvSpPr>
          <p:nvPr>
            <p:ph type="subTitle" idx="1"/>
          </p:nvPr>
        </p:nvSpPr>
        <p:spPr>
          <a:xfrm>
            <a:off x="1524000" y="4490977"/>
            <a:ext cx="9144000" cy="766822"/>
          </a:xfrm>
        </p:spPr>
        <p:txBody>
          <a:bodyPr>
            <a:normAutofit fontScale="92500" lnSpcReduction="10000"/>
          </a:bodyPr>
          <a:lstStyle/>
          <a:p>
            <a:r>
              <a:rPr lang="fr-CA" dirty="0"/>
              <a:t>Louise Overbeek</a:t>
            </a:r>
          </a:p>
          <a:p>
            <a:r>
              <a:rPr lang="fr-CA" sz="2200" dirty="0"/>
              <a:t>Mars 2020</a:t>
            </a:r>
            <a:endParaRPr lang="fr-CA" dirty="0"/>
          </a:p>
        </p:txBody>
      </p:sp>
    </p:spTree>
    <p:extLst>
      <p:ext uri="{BB962C8B-B14F-4D97-AF65-F5344CB8AC3E}">
        <p14:creationId xmlns:p14="http://schemas.microsoft.com/office/powerpoint/2010/main" val="1220339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kern="0" dirty="0"/>
              <a:t>Étape 1 – </a:t>
            </a:r>
            <a:r>
              <a:rPr lang="fr-CA" sz="3600" kern="0" dirty="0"/>
              <a:t>Identifier le contrat conclu avec le client</a:t>
            </a:r>
            <a:endParaRPr lang="fr-CA" dirty="0"/>
          </a:p>
        </p:txBody>
      </p:sp>
      <p:sp>
        <p:nvSpPr>
          <p:cNvPr id="3" name="Espace réservé du contenu 2"/>
          <p:cNvSpPr>
            <a:spLocks noGrp="1"/>
          </p:cNvSpPr>
          <p:nvPr>
            <p:ph idx="1"/>
          </p:nvPr>
        </p:nvSpPr>
        <p:spPr/>
        <p:txBody>
          <a:bodyPr/>
          <a:lstStyle/>
          <a:p>
            <a:pPr lvl="0"/>
            <a:r>
              <a:rPr lang="fr-CA" i="0" dirty="0"/>
              <a:t>Approbation verbale, écrite ou autres </a:t>
            </a:r>
            <a:endParaRPr lang="en-CA" sz="4000" dirty="0"/>
          </a:p>
          <a:p>
            <a:pPr lvl="0"/>
            <a:r>
              <a:rPr lang="fr-CA" i="0" dirty="0"/>
              <a:t>Identification des droits de chaque partie</a:t>
            </a:r>
            <a:endParaRPr lang="en-CA" sz="4000" dirty="0"/>
          </a:p>
          <a:p>
            <a:pPr lvl="0"/>
            <a:r>
              <a:rPr lang="fr-CA" i="0" dirty="0"/>
              <a:t>Conditions de paiement</a:t>
            </a:r>
            <a:endParaRPr lang="en-CA" sz="4000" dirty="0"/>
          </a:p>
          <a:p>
            <a:pPr lvl="0"/>
            <a:r>
              <a:rPr lang="fr-CA" i="0" dirty="0"/>
              <a:t>Substance commerciale </a:t>
            </a:r>
            <a:endParaRPr lang="en-CA" sz="4000" dirty="0"/>
          </a:p>
          <a:p>
            <a:pPr lvl="0"/>
            <a:r>
              <a:rPr lang="fr-CA" i="0" dirty="0"/>
              <a:t>Recouvrement probable</a:t>
            </a:r>
            <a:endParaRPr lang="en-CA" sz="4000" dirty="0"/>
          </a:p>
          <a:p>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856423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r>
              <a:rPr lang="fr-CA" dirty="0"/>
              <a:t>Location de costumes pour une durée de 3 jours (prix app. 50 $)</a:t>
            </a:r>
          </a:p>
          <a:p>
            <a:r>
              <a:rPr lang="fr-CA" dirty="0"/>
              <a:t>Si non retour dans les délais doit payer le « prix de vente » du costume (prix app. 300 $)</a:t>
            </a:r>
          </a:p>
          <a:p>
            <a:pPr lvl="1"/>
            <a:r>
              <a:rPr lang="fr-CA" i="1" dirty="0"/>
              <a:t>Fréquent que les clients rapportent les costumes avec un jour de retard</a:t>
            </a:r>
          </a:p>
          <a:p>
            <a:pPr lvl="1"/>
            <a:r>
              <a:rPr lang="fr-CA" i="1" dirty="0"/>
              <a:t>Aucune pénalité n’est alors exigée</a:t>
            </a:r>
          </a:p>
          <a:p>
            <a:r>
              <a:rPr lang="fr-CA" dirty="0"/>
              <a:t>Mention dans le bas de la facture, mais aucune autre communication de cet engagement</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7123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232377-B20D-458A-A5B2-50DCCAA0A719}"/>
              </a:ext>
            </a:extLst>
          </p:cNvPr>
          <p:cNvSpPr>
            <a:spLocks noGrp="1"/>
          </p:cNvSpPr>
          <p:nvPr>
            <p:ph type="title"/>
          </p:nvPr>
        </p:nvSpPr>
        <p:spPr/>
        <p:txBody>
          <a:bodyPr/>
          <a:lstStyle/>
          <a:p>
            <a:r>
              <a:rPr lang="fr-CA" dirty="0"/>
              <a:t>Étape 1</a:t>
            </a:r>
            <a:endParaRPr lang="fr-FR" dirty="0"/>
          </a:p>
        </p:txBody>
      </p:sp>
      <p:sp>
        <p:nvSpPr>
          <p:cNvPr id="3" name="Espace réservé du contenu 2">
            <a:extLst>
              <a:ext uri="{FF2B5EF4-FFF2-40B4-BE49-F238E27FC236}">
                <a16:creationId xmlns:a16="http://schemas.microsoft.com/office/drawing/2014/main" id="{D9EADA57-B5D8-4CD7-8122-DC79CD6A517B}"/>
              </a:ext>
            </a:extLst>
          </p:cNvPr>
          <p:cNvSpPr>
            <a:spLocks noGrp="1"/>
          </p:cNvSpPr>
          <p:nvPr>
            <p:ph idx="1"/>
          </p:nvPr>
        </p:nvSpPr>
        <p:spPr/>
        <p:txBody>
          <a:bodyPr/>
          <a:lstStyle/>
          <a:p>
            <a:r>
              <a:rPr lang="fr-CA" dirty="0"/>
              <a:t>Analyse des critères de la norme</a:t>
            </a:r>
          </a:p>
          <a:p>
            <a:r>
              <a:rPr lang="fr-CA" dirty="0"/>
              <a:t>Y a-t-il vraiment une entente?</a:t>
            </a:r>
          </a:p>
          <a:p>
            <a:r>
              <a:rPr lang="fr-CA" dirty="0"/>
              <a:t>Non, ne pourrait comptabiliser le produit </a:t>
            </a:r>
            <a:r>
              <a:rPr lang="fr-CA" sz="2400" dirty="0"/>
              <a:t>(300$- 50$) </a:t>
            </a:r>
            <a:r>
              <a:rPr lang="fr-CA" dirty="0"/>
              <a:t>après le délai de 3 jours, enjeu au niveau du recouvrement</a:t>
            </a:r>
          </a:p>
          <a:p>
            <a:endParaRPr lang="fr-CA" dirty="0"/>
          </a:p>
          <a:p>
            <a:pPr marL="0" indent="0">
              <a:buNone/>
            </a:pPr>
            <a:r>
              <a:rPr lang="fr-CA" dirty="0"/>
              <a:t>=&gt;</a:t>
            </a:r>
            <a:r>
              <a:rPr lang="fr-CA" i="1" dirty="0"/>
              <a:t>L’étape 1 ne devrait pas être problématique car met fin à l’analyse</a:t>
            </a:r>
          </a:p>
          <a:p>
            <a:pPr marL="0" indent="0">
              <a:buNone/>
            </a:pPr>
            <a:r>
              <a:rPr lang="fr-CA" dirty="0"/>
              <a:t>	Pas un enjeu si client a déjà payé</a:t>
            </a:r>
            <a:endParaRPr lang="fr-FR" dirty="0"/>
          </a:p>
        </p:txBody>
      </p:sp>
    </p:spTree>
    <p:extLst>
      <p:ext uri="{BB962C8B-B14F-4D97-AF65-F5344CB8AC3E}">
        <p14:creationId xmlns:p14="http://schemas.microsoft.com/office/powerpoint/2010/main" val="372685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kern="0" dirty="0"/>
              <a:t>Étape 2 </a:t>
            </a:r>
            <a:r>
              <a:rPr lang="fr-CA" sz="3600" kern="0" dirty="0"/>
              <a:t>– Identifier les obligations de prestation contenues dans le contrat</a:t>
            </a:r>
            <a:endParaRPr lang="fr-CA" dirty="0"/>
          </a:p>
        </p:txBody>
      </p:sp>
      <p:sp>
        <p:nvSpPr>
          <p:cNvPr id="3" name="Espace réservé du contenu 2"/>
          <p:cNvSpPr>
            <a:spLocks noGrp="1"/>
          </p:cNvSpPr>
          <p:nvPr>
            <p:ph idx="1"/>
          </p:nvPr>
        </p:nvSpPr>
        <p:spPr/>
        <p:txBody>
          <a:bodyPr/>
          <a:lstStyle/>
          <a:p>
            <a:pPr marL="0" indent="0">
              <a:buNone/>
            </a:pPr>
            <a:r>
              <a:rPr lang="fr-CA" dirty="0"/>
              <a:t>Un bien/service est distinct si</a:t>
            </a:r>
          </a:p>
          <a:p>
            <a:pPr marL="342900" indent="-342900"/>
            <a:r>
              <a:rPr lang="fr-CA" dirty="0"/>
              <a:t>il </a:t>
            </a:r>
            <a:r>
              <a:rPr lang="fr-CA" b="1" dirty="0"/>
              <a:t>existe de façon séparée</a:t>
            </a:r>
            <a:r>
              <a:rPr lang="fr-CA" dirty="0"/>
              <a:t>, c’est-à-dire que l’entreprise peut en tirer parti isolément ou en le combinant avec d’autres ressources aisément disponibles (biens ou services vendus séparément ou déjà obtenus)</a:t>
            </a:r>
            <a:r>
              <a:rPr lang="fr-CA" b="1" dirty="0"/>
              <a:t>   ET</a:t>
            </a:r>
          </a:p>
          <a:p>
            <a:pPr marL="342900" indent="-342900"/>
            <a:r>
              <a:rPr lang="fr-CA" dirty="0"/>
              <a:t>la promesse de l'entité de fournir le bien ou le service au client peut être identifiée séparément des autres promesses contenues dans le contrat (distincte à l'intérieur du contrat).</a:t>
            </a:r>
            <a:endParaRPr lang="fr-CA" b="1" dirty="0"/>
          </a:p>
          <a:p>
            <a:endParaRPr lang="fr-CA" dirty="0"/>
          </a:p>
        </p:txBody>
      </p:sp>
    </p:spTree>
    <p:extLst>
      <p:ext uri="{BB962C8B-B14F-4D97-AF65-F5344CB8AC3E}">
        <p14:creationId xmlns:p14="http://schemas.microsoft.com/office/powerpoint/2010/main" val="3254978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r>
              <a:rPr lang="fr-CA" dirty="0"/>
              <a:t>Vente d’un téléphone et d’un accès au réseau pendant deux ans, en contrepartie de :</a:t>
            </a:r>
          </a:p>
          <a:p>
            <a:pPr marL="0" indent="0">
              <a:buNone/>
            </a:pPr>
            <a:r>
              <a:rPr lang="fr-CA" dirty="0"/>
              <a:t> « gratuit pour le téléphone » et 80 $ par mois pour l’accès réseau</a:t>
            </a:r>
          </a:p>
          <a:p>
            <a:pPr marL="0" indent="0">
              <a:buNone/>
            </a:pPr>
            <a:endParaRPr lang="fr-CA" dirty="0"/>
          </a:p>
          <a:p>
            <a:r>
              <a:rPr lang="fr-CA" dirty="0"/>
              <a:t>Les téléphones sont vendus séparément pour un montant de 800 $ et le client peut accéder au réseau de son choix</a:t>
            </a:r>
          </a:p>
          <a:p>
            <a:r>
              <a:rPr lang="fr-CA" dirty="0"/>
              <a:t>L’accès au réseau est également vendu séparément pour 60 $ par mois pendant deux ans, le client fournit alors le téléphone</a:t>
            </a:r>
          </a:p>
          <a:p>
            <a:pPr marL="0" indent="0">
              <a:buNone/>
            </a:pPr>
            <a:endParaRPr lang="fr-CA" dirty="0"/>
          </a:p>
        </p:txBody>
      </p:sp>
    </p:spTree>
    <p:extLst>
      <p:ext uri="{BB962C8B-B14F-4D97-AF65-F5344CB8AC3E}">
        <p14:creationId xmlns:p14="http://schemas.microsoft.com/office/powerpoint/2010/main" val="3908030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232377-B20D-458A-A5B2-50DCCAA0A719}"/>
              </a:ext>
            </a:extLst>
          </p:cNvPr>
          <p:cNvSpPr>
            <a:spLocks noGrp="1"/>
          </p:cNvSpPr>
          <p:nvPr>
            <p:ph type="title"/>
          </p:nvPr>
        </p:nvSpPr>
        <p:spPr/>
        <p:txBody>
          <a:bodyPr/>
          <a:lstStyle/>
          <a:p>
            <a:r>
              <a:rPr lang="fr-CA" dirty="0"/>
              <a:t>Étape 2</a:t>
            </a:r>
            <a:endParaRPr lang="fr-FR" dirty="0"/>
          </a:p>
        </p:txBody>
      </p:sp>
      <p:sp>
        <p:nvSpPr>
          <p:cNvPr id="3" name="Espace réservé du contenu 2">
            <a:extLst>
              <a:ext uri="{FF2B5EF4-FFF2-40B4-BE49-F238E27FC236}">
                <a16:creationId xmlns:a16="http://schemas.microsoft.com/office/drawing/2014/main" id="{D9EADA57-B5D8-4CD7-8122-DC79CD6A517B}"/>
              </a:ext>
            </a:extLst>
          </p:cNvPr>
          <p:cNvSpPr>
            <a:spLocks noGrp="1"/>
          </p:cNvSpPr>
          <p:nvPr>
            <p:ph idx="1"/>
          </p:nvPr>
        </p:nvSpPr>
        <p:spPr/>
        <p:txBody>
          <a:bodyPr/>
          <a:lstStyle/>
          <a:p>
            <a:r>
              <a:rPr lang="fr-CA" dirty="0"/>
              <a:t>Analyse des critères de la norme</a:t>
            </a:r>
          </a:p>
          <a:p>
            <a:pPr lvl="1"/>
            <a:r>
              <a:rPr lang="fr-CA" i="1" dirty="0"/>
              <a:t>Le cas ne donne habituellement pas d’information sur le deuxième critère – présumer que présenté distinctement sur la facture</a:t>
            </a:r>
          </a:p>
          <a:p>
            <a:r>
              <a:rPr lang="fr-CA" dirty="0"/>
              <a:t>Faire une conclusion claire – ici deux obligations de prestation</a:t>
            </a:r>
          </a:p>
          <a:p>
            <a:endParaRPr lang="fr-CA" dirty="0"/>
          </a:p>
          <a:p>
            <a:pPr marL="0" indent="0">
              <a:buNone/>
            </a:pPr>
            <a:r>
              <a:rPr lang="fr-CA" dirty="0"/>
              <a:t>=&gt;</a:t>
            </a:r>
            <a:r>
              <a:rPr lang="fr-CA" i="1" dirty="0"/>
              <a:t>L’étape 2 est souvent problématique, car ouvre l’étape de répartition du produit entre les obligations de prestation</a:t>
            </a:r>
          </a:p>
          <a:p>
            <a:pPr marL="895350" indent="0">
              <a:buNone/>
            </a:pPr>
            <a:r>
              <a:rPr lang="fr-CA" dirty="0"/>
              <a:t>	Il pourrait aussi il y avoir l’enjeu d’une obligation ou d’une série d’obligations</a:t>
            </a:r>
            <a:endParaRPr lang="fr-FR" dirty="0"/>
          </a:p>
        </p:txBody>
      </p:sp>
    </p:spTree>
    <p:extLst>
      <p:ext uri="{BB962C8B-B14F-4D97-AF65-F5344CB8AC3E}">
        <p14:creationId xmlns:p14="http://schemas.microsoft.com/office/powerpoint/2010/main" val="2371732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kern="0" dirty="0"/>
              <a:t>Étape 3 – </a:t>
            </a:r>
            <a:r>
              <a:rPr lang="fr-CA" sz="3600" kern="0" dirty="0"/>
              <a:t>Déterminer le prix de transaction</a:t>
            </a:r>
            <a:endParaRPr lang="fr-CA" dirty="0"/>
          </a:p>
        </p:txBody>
      </p:sp>
      <p:sp>
        <p:nvSpPr>
          <p:cNvPr id="3" name="Espace réservé du contenu 2"/>
          <p:cNvSpPr>
            <a:spLocks noGrp="1"/>
          </p:cNvSpPr>
          <p:nvPr>
            <p:ph idx="1"/>
          </p:nvPr>
        </p:nvSpPr>
        <p:spPr/>
        <p:txBody>
          <a:bodyPr/>
          <a:lstStyle/>
          <a:p>
            <a:pPr>
              <a:buFont typeface="Wingdings 2" panose="05020102010507070707" pitchFamily="18" charset="2"/>
              <a:buNone/>
            </a:pPr>
            <a:r>
              <a:rPr lang="fr-CA" i="1" dirty="0">
                <a:solidFill>
                  <a:schemeClr val="tx1"/>
                </a:solidFill>
              </a:rPr>
              <a:t>C’est le </a:t>
            </a:r>
            <a:r>
              <a:rPr lang="fr-CA" i="1" u="sng" dirty="0">
                <a:solidFill>
                  <a:schemeClr val="tx1"/>
                </a:solidFill>
              </a:rPr>
              <a:t>montant de contrepartie</a:t>
            </a:r>
            <a:r>
              <a:rPr lang="fr-CA" i="1" dirty="0">
                <a:solidFill>
                  <a:schemeClr val="tx1"/>
                </a:solidFill>
              </a:rPr>
              <a:t> auquel </a:t>
            </a:r>
            <a:r>
              <a:rPr lang="fr-CA" b="1" i="1" dirty="0">
                <a:solidFill>
                  <a:schemeClr val="tx1"/>
                </a:solidFill>
              </a:rPr>
              <a:t>l’entité s’attend à avoir droit</a:t>
            </a:r>
            <a:r>
              <a:rPr lang="fr-CA" i="1" dirty="0">
                <a:solidFill>
                  <a:schemeClr val="tx1"/>
                </a:solidFill>
              </a:rPr>
              <a:t> en échange de la fourniture de biens ou de services promis à un client, à l’exclusion des sommes perçues pour le compte de tiers. </a:t>
            </a:r>
            <a:endParaRPr lang="fr-CA" b="1" i="1" dirty="0">
              <a:solidFill>
                <a:schemeClr val="accent5"/>
              </a:solidFill>
            </a:endParaRPr>
          </a:p>
          <a:p>
            <a:r>
              <a:rPr lang="fr-CA" dirty="0">
                <a:solidFill>
                  <a:schemeClr val="tx1"/>
                </a:solidFill>
              </a:rPr>
              <a:t>Peut être des montants déterminés, des </a:t>
            </a:r>
            <a:r>
              <a:rPr lang="fr-CA" u="sng" dirty="0">
                <a:solidFill>
                  <a:schemeClr val="tx1"/>
                </a:solidFill>
              </a:rPr>
              <a:t>montants variables</a:t>
            </a:r>
            <a:r>
              <a:rPr lang="fr-CA" dirty="0">
                <a:solidFill>
                  <a:schemeClr val="tx1"/>
                </a:solidFill>
              </a:rPr>
              <a:t> ou les deux.</a:t>
            </a:r>
          </a:p>
          <a:p>
            <a:r>
              <a:rPr lang="fr-CA" dirty="0">
                <a:solidFill>
                  <a:schemeClr val="tx1"/>
                </a:solidFill>
              </a:rPr>
              <a:t>Pour établir le prix de la transaction, l’entité doit prendre en compte les conditions du contrat et ses pratiques commerciales habituelles.</a:t>
            </a:r>
          </a:p>
          <a:p>
            <a:pPr lvl="1"/>
            <a:r>
              <a:rPr lang="fr-CA" dirty="0"/>
              <a:t>Contrepartie non monétaire</a:t>
            </a:r>
          </a:p>
          <a:p>
            <a:pPr lvl="1"/>
            <a:r>
              <a:rPr lang="fr-CA" dirty="0"/>
              <a:t>Report du paiement (financement)</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059208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pPr marL="0" indent="0">
              <a:buNone/>
            </a:pPr>
            <a:r>
              <a:rPr lang="fr-CA" dirty="0"/>
              <a:t>Préparation de la demande fiscale pour crédit R&amp;D.</a:t>
            </a:r>
          </a:p>
          <a:p>
            <a:pPr marL="0" indent="0">
              <a:buNone/>
            </a:pPr>
            <a:r>
              <a:rPr lang="fr-CA" dirty="0"/>
              <a:t>Honoraire de 5 000 $ plus 10 % des sommes recouvrées.</a:t>
            </a:r>
          </a:p>
          <a:p>
            <a:pPr marL="0" indent="0">
              <a:buNone/>
            </a:pPr>
            <a:endParaRPr lang="fr-CA" dirty="0"/>
          </a:p>
          <a:p>
            <a:pPr marL="0" indent="0">
              <a:buNone/>
            </a:pPr>
            <a:r>
              <a:rPr lang="fr-CA" i="1" dirty="0"/>
              <a:t>Il faut savoir que le gouvernement refuse régulièrement une portion de la demande</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19812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Étape 3</a:t>
            </a:r>
            <a:endParaRPr lang="fr-CA" dirty="0"/>
          </a:p>
        </p:txBody>
      </p:sp>
      <p:sp>
        <p:nvSpPr>
          <p:cNvPr id="3" name="Espace réservé du contenu 2"/>
          <p:cNvSpPr>
            <a:spLocks noGrp="1"/>
          </p:cNvSpPr>
          <p:nvPr>
            <p:ph idx="1"/>
          </p:nvPr>
        </p:nvSpPr>
        <p:spPr/>
        <p:txBody>
          <a:bodyPr/>
          <a:lstStyle/>
          <a:p>
            <a:pPr marL="0" indent="0">
              <a:buNone/>
            </a:pPr>
            <a:r>
              <a:rPr lang="fr-CA" dirty="0"/>
              <a:t>Enjeu de montant variable – voir IFRS 15</a:t>
            </a:r>
          </a:p>
          <a:p>
            <a:pPr marL="0" indent="0">
              <a:buNone/>
            </a:pPr>
            <a:r>
              <a:rPr lang="fr-CA" dirty="0"/>
              <a:t>=&gt; Portion fixe peut être comptabilisée (en fonction de l’analyse de l’étape moment) mais pour la portion variable il faudra attendre que le montant soit estimable (et qu’il y ait peu de risque qu’il faudra renverser l’écriture)</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125417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17629" y="365126"/>
            <a:ext cx="11053823" cy="734470"/>
          </a:xfrm>
        </p:spPr>
        <p:txBody>
          <a:bodyPr>
            <a:normAutofit fontScale="90000"/>
          </a:bodyPr>
          <a:lstStyle/>
          <a:p>
            <a:pPr algn="ctr"/>
            <a:r>
              <a:rPr lang="fr-CA" sz="4000" b="1" kern="0" dirty="0"/>
              <a:t>Étape 4 – </a:t>
            </a:r>
            <a:r>
              <a:rPr lang="fr-CA" sz="4000" kern="0" dirty="0"/>
              <a:t>Comptabiliser le produit des activités ordinaires lorsque l’entité a rempli une obligation de prestation</a:t>
            </a:r>
            <a:endParaRPr lang="fr-CA" dirty="0"/>
          </a:p>
        </p:txBody>
      </p:sp>
      <p:sp>
        <p:nvSpPr>
          <p:cNvPr id="3" name="Espace réservé du contenu 2"/>
          <p:cNvSpPr>
            <a:spLocks noGrp="1"/>
          </p:cNvSpPr>
          <p:nvPr>
            <p:ph idx="1"/>
          </p:nvPr>
        </p:nvSpPr>
        <p:spPr>
          <a:xfrm>
            <a:off x="838200" y="1446834"/>
            <a:ext cx="10515600" cy="4988689"/>
          </a:xfrm>
        </p:spPr>
        <p:txBody>
          <a:bodyPr>
            <a:normAutofit fontScale="85000" lnSpcReduction="20000"/>
          </a:bodyPr>
          <a:lstStyle/>
          <a:p>
            <a:pPr marL="0" indent="0">
              <a:buNone/>
            </a:pPr>
            <a:r>
              <a:rPr lang="fr-CA" dirty="0">
                <a:solidFill>
                  <a:schemeClr val="tx1"/>
                </a:solidFill>
              </a:rPr>
              <a:t>Le contrôle se définit comme « </a:t>
            </a:r>
            <a:r>
              <a:rPr lang="fr-CA" i="1" dirty="0">
                <a:solidFill>
                  <a:schemeClr val="tx1"/>
                </a:solidFill>
              </a:rPr>
              <a:t>la capacité de décider de l’utilisation de l’actif et d’en tirer la quasi-totalité des avantages restants</a:t>
            </a:r>
            <a:r>
              <a:rPr lang="fr-CA" dirty="0">
                <a:solidFill>
                  <a:schemeClr val="tx1"/>
                </a:solidFill>
              </a:rPr>
              <a:t> »</a:t>
            </a:r>
          </a:p>
          <a:p>
            <a:pPr lvl="1"/>
            <a:r>
              <a:rPr lang="fr-CA" dirty="0"/>
              <a:t>À une date précise ou progressivement</a:t>
            </a:r>
          </a:p>
          <a:p>
            <a:pPr lvl="1"/>
            <a:endParaRPr lang="fr-CA" dirty="0"/>
          </a:p>
          <a:p>
            <a:pPr marL="0" indent="0">
              <a:buNone/>
            </a:pPr>
            <a:r>
              <a:rPr lang="fr-CA" sz="2000" dirty="0"/>
              <a:t>Le contrôle d’un bien ou d’un service est</a:t>
            </a:r>
            <a:r>
              <a:rPr lang="fr-CA" sz="2000" b="1" dirty="0"/>
              <a:t> transféré progressivement</a:t>
            </a:r>
            <a:r>
              <a:rPr lang="fr-CA" sz="2000" dirty="0"/>
              <a:t> </a:t>
            </a:r>
            <a:r>
              <a:rPr lang="fr-CA" sz="2000" u="sng" dirty="0"/>
              <a:t>si l’une</a:t>
            </a:r>
            <a:r>
              <a:rPr lang="fr-CA" sz="2000" dirty="0"/>
              <a:t> des conditions suivantes est remplie :</a:t>
            </a:r>
          </a:p>
          <a:p>
            <a:pPr>
              <a:buFont typeface="Courier New" panose="02070309020205020404" pitchFamily="49" charset="0"/>
              <a:buChar char="o"/>
            </a:pPr>
            <a:r>
              <a:rPr lang="fr-CA" sz="2000" dirty="0"/>
              <a:t>Le client </a:t>
            </a:r>
            <a:r>
              <a:rPr lang="fr-CA" sz="2000" b="1" dirty="0"/>
              <a:t>reçoit et consomme simultanément </a:t>
            </a:r>
            <a:r>
              <a:rPr lang="fr-CA" sz="2000" dirty="0"/>
              <a:t>les avantages procurés par la prestation, au fur et à mesure où celle-ci a lieu.</a:t>
            </a:r>
          </a:p>
          <a:p>
            <a:pPr>
              <a:buFont typeface="Courier New" panose="02070309020205020404" pitchFamily="49" charset="0"/>
              <a:buChar char="o"/>
            </a:pPr>
            <a:r>
              <a:rPr lang="fr-CA" sz="2000" dirty="0"/>
              <a:t>La prestation </a:t>
            </a:r>
            <a:r>
              <a:rPr lang="fr-CA" sz="2000" b="1" dirty="0"/>
              <a:t>crée ou valorise un actif </a:t>
            </a:r>
            <a:r>
              <a:rPr lang="fr-CA" sz="2000" dirty="0"/>
              <a:t>(ex. : des travaux en cours) dont le client </a:t>
            </a:r>
            <a:r>
              <a:rPr lang="fr-CA" sz="2000" b="1" dirty="0"/>
              <a:t>obtient le contrôle au fur et à mesure </a:t>
            </a:r>
            <a:r>
              <a:rPr lang="fr-CA" sz="2000" dirty="0"/>
              <a:t>de sa création ou de sa valorisation.</a:t>
            </a:r>
          </a:p>
          <a:p>
            <a:pPr>
              <a:buFont typeface="Courier New" panose="02070309020205020404" pitchFamily="49" charset="0"/>
              <a:buChar char="o"/>
            </a:pPr>
            <a:r>
              <a:rPr lang="fr-CA" sz="2000" dirty="0"/>
              <a:t>La prestation ne crée </a:t>
            </a:r>
            <a:r>
              <a:rPr lang="fr-CA" sz="2000" b="1" dirty="0"/>
              <a:t>pas un actif que l’entité pourrait utiliser autrement</a:t>
            </a:r>
            <a:r>
              <a:rPr lang="fr-CA" sz="2000" dirty="0"/>
              <a:t>, et l’entité a un </a:t>
            </a:r>
            <a:r>
              <a:rPr lang="fr-CA" sz="2000" b="1" dirty="0"/>
              <a:t>droit exécutoire à un paiement  pour le travail déjà effectué</a:t>
            </a:r>
            <a:r>
              <a:rPr lang="fr-CA" sz="2000" dirty="0"/>
              <a:t>, s’il y avait résiliation du contrat par le client.</a:t>
            </a:r>
          </a:p>
          <a:p>
            <a:pPr marL="0" indent="0">
              <a:buNone/>
            </a:pPr>
            <a:endParaRPr lang="fr-CA" sz="2000" dirty="0"/>
          </a:p>
          <a:p>
            <a:r>
              <a:rPr lang="fr-CA" sz="2000" dirty="0"/>
              <a:t>Critères pour aider à établir à quel moment le transfert de contrôle a lieu :</a:t>
            </a:r>
          </a:p>
          <a:p>
            <a:pPr marL="800100" lvl="1" indent="-342900">
              <a:buFont typeface="+mj-lt"/>
              <a:buAutoNum type="alphaLcParenR"/>
            </a:pPr>
            <a:r>
              <a:rPr lang="fr-CA" sz="2000" dirty="0"/>
              <a:t>L’entité a un </a:t>
            </a:r>
            <a:r>
              <a:rPr lang="fr-CA" sz="2000" b="1" dirty="0"/>
              <a:t>droit actuel de paiement</a:t>
            </a:r>
            <a:r>
              <a:rPr lang="fr-CA" sz="2000" dirty="0"/>
              <a:t> au titre de l’actif</a:t>
            </a:r>
          </a:p>
          <a:p>
            <a:pPr marL="800100" lvl="1" indent="-342900">
              <a:buFont typeface="+mj-lt"/>
              <a:buAutoNum type="alphaLcParenR"/>
            </a:pPr>
            <a:r>
              <a:rPr lang="fr-CA" sz="2000" dirty="0"/>
              <a:t>Le client a le </a:t>
            </a:r>
            <a:r>
              <a:rPr lang="fr-CA" sz="2000" b="1" dirty="0"/>
              <a:t>titre de la propriété</a:t>
            </a:r>
          </a:p>
          <a:p>
            <a:pPr marL="800100" lvl="1" indent="-342900">
              <a:buFont typeface="+mj-lt"/>
              <a:buAutoNum type="alphaLcParenR"/>
            </a:pPr>
            <a:r>
              <a:rPr lang="fr-CA" sz="2000" dirty="0"/>
              <a:t>L’entité a transféré la </a:t>
            </a:r>
            <a:r>
              <a:rPr lang="fr-CA" sz="2000" b="1" dirty="0"/>
              <a:t>possession matérielle </a:t>
            </a:r>
            <a:r>
              <a:rPr lang="fr-CA" sz="2000" dirty="0"/>
              <a:t>de l’actif</a:t>
            </a:r>
          </a:p>
          <a:p>
            <a:pPr marL="800100" lvl="1" indent="-342900">
              <a:buFont typeface="+mj-lt"/>
              <a:buAutoNum type="alphaLcParenR"/>
            </a:pPr>
            <a:r>
              <a:rPr lang="fr-CA" sz="2000" dirty="0"/>
              <a:t>Le client a les </a:t>
            </a:r>
            <a:r>
              <a:rPr lang="fr-CA" sz="2000" b="1" dirty="0"/>
              <a:t>risques et avantages </a:t>
            </a:r>
            <a:r>
              <a:rPr lang="fr-CA" sz="2000" dirty="0"/>
              <a:t>importants inhérents à la propriété de l’actif</a:t>
            </a:r>
          </a:p>
          <a:p>
            <a:pPr marL="800100" lvl="1" indent="-342900">
              <a:buFont typeface="+mj-lt"/>
              <a:buAutoNum type="alphaLcParenR"/>
            </a:pPr>
            <a:r>
              <a:rPr lang="fr-CA" sz="2000" dirty="0"/>
              <a:t>Le </a:t>
            </a:r>
            <a:r>
              <a:rPr lang="fr-CA" sz="2000" b="1" dirty="0"/>
              <a:t>client a accepté </a:t>
            </a:r>
            <a:r>
              <a:rPr lang="fr-CA" sz="2000" dirty="0"/>
              <a:t>l’actif</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09983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pPr marL="625475" indent="-625475">
              <a:buAutoNum type="alphaLcParenR"/>
            </a:pPr>
            <a:r>
              <a:rPr lang="fr-CA" dirty="0"/>
              <a:t>Mandat pour la tenue des livres d’une petite entreprise. Montant de 15 000 $ pour l’année 2019.</a:t>
            </a:r>
          </a:p>
          <a:p>
            <a:pPr marL="625475" indent="-625475">
              <a:buAutoNum type="alphaLcParenR"/>
            </a:pPr>
            <a:endParaRPr lang="fr-CA" dirty="0"/>
          </a:p>
          <a:p>
            <a:pPr marL="625475" indent="-625475">
              <a:buAutoNum type="alphaLcParenR"/>
            </a:pPr>
            <a:r>
              <a:rPr lang="fr-CA" dirty="0"/>
              <a:t>Mandat pour évaluer un immeuble. Montant forfaitaire de 6 000 $.</a:t>
            </a:r>
          </a:p>
          <a:p>
            <a:pPr marL="895350" indent="-895350">
              <a:buNone/>
            </a:pPr>
            <a:r>
              <a:rPr lang="fr-CA" dirty="0"/>
              <a:t>	</a:t>
            </a:r>
            <a:r>
              <a:rPr lang="fr-CA" sz="2400" i="1" dirty="0"/>
              <a:t>Le client ne recevra le rapport qu’à la fin des travaux. Le montant est exigible à la réception du rapport, aucune somme due si le rapport n’est pas complété</a:t>
            </a:r>
            <a:r>
              <a:rPr lang="fr-CA" i="1" dirty="0"/>
              <a:t>.</a:t>
            </a: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378654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Étape 4</a:t>
            </a:r>
            <a:endParaRPr lang="fr-CA" dirty="0"/>
          </a:p>
        </p:txBody>
      </p:sp>
      <p:sp>
        <p:nvSpPr>
          <p:cNvPr id="3" name="Espace réservé du contenu 2"/>
          <p:cNvSpPr>
            <a:spLocks noGrp="1"/>
          </p:cNvSpPr>
          <p:nvPr>
            <p:ph idx="1"/>
          </p:nvPr>
        </p:nvSpPr>
        <p:spPr/>
        <p:txBody>
          <a:bodyPr>
            <a:normAutofit fontScale="92500"/>
          </a:bodyPr>
          <a:lstStyle/>
          <a:p>
            <a:pPr marL="0" indent="0">
              <a:buNone/>
            </a:pPr>
            <a:r>
              <a:rPr lang="fr-CA" dirty="0"/>
              <a:t>Analyse critères progressivement – voir IFRS 15</a:t>
            </a:r>
          </a:p>
          <a:p>
            <a:pPr marL="0" indent="0">
              <a:buNone/>
            </a:pPr>
            <a:endParaRPr lang="fr-CA" dirty="0"/>
          </a:p>
          <a:p>
            <a:pPr marL="625475" indent="-625475">
              <a:buAutoNum type="alphaLcParenR"/>
            </a:pPr>
            <a:r>
              <a:rPr lang="fr-CA" dirty="0"/>
              <a:t>Mandat pour la tenue des livres d’une petite entreprise. Montant de 15 000 $ pour l’année 2019.</a:t>
            </a:r>
          </a:p>
          <a:p>
            <a:pPr marL="457200" lvl="1" indent="0">
              <a:buNone/>
            </a:pPr>
            <a:r>
              <a:rPr lang="fr-CA" dirty="0"/>
              <a:t>=&gt; progressivement, selon degré d’avancement (période de 12 mois)</a:t>
            </a:r>
          </a:p>
          <a:p>
            <a:pPr marL="625475" indent="-625475">
              <a:buAutoNum type="alphaLcParenR"/>
            </a:pPr>
            <a:endParaRPr lang="fr-CA" dirty="0"/>
          </a:p>
          <a:p>
            <a:pPr marL="625475" indent="-625475">
              <a:buAutoNum type="alphaLcParenR"/>
            </a:pPr>
            <a:r>
              <a:rPr lang="fr-CA" dirty="0"/>
              <a:t>Mandat pour évaluer un immeuble. Montant forfaitaire de 6 000 $.</a:t>
            </a:r>
          </a:p>
          <a:p>
            <a:pPr marL="895350" indent="-895350">
              <a:buNone/>
            </a:pPr>
            <a:r>
              <a:rPr lang="fr-CA" dirty="0"/>
              <a:t>	</a:t>
            </a:r>
            <a:r>
              <a:rPr lang="fr-CA" sz="2400" i="1" dirty="0"/>
              <a:t>Le client ne recevra le rapport qu’à la fin des travaux. Le montant est exigible à la réception du rapport, aucune somme due si le rapport n’est pas complété.</a:t>
            </a:r>
          </a:p>
          <a:p>
            <a:pPr marL="895350" indent="-895350">
              <a:buNone/>
            </a:pPr>
            <a:r>
              <a:rPr lang="fr-CA" sz="2400" i="1" dirty="0"/>
              <a:t>	=&gt; nous n’avons droit au produit que si le rapport est complété</a:t>
            </a: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17891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kern="0" dirty="0"/>
              <a:t>Étape 5 – </a:t>
            </a:r>
            <a:r>
              <a:rPr lang="fr-CA" sz="3600" kern="0" dirty="0"/>
              <a:t>Répartir le prix de transaction</a:t>
            </a:r>
            <a:endParaRPr lang="fr-CA" dirty="0"/>
          </a:p>
        </p:txBody>
      </p:sp>
      <p:sp>
        <p:nvSpPr>
          <p:cNvPr id="3" name="Espace réservé du contenu 2"/>
          <p:cNvSpPr>
            <a:spLocks noGrp="1"/>
          </p:cNvSpPr>
          <p:nvPr>
            <p:ph idx="1"/>
          </p:nvPr>
        </p:nvSpPr>
        <p:spPr/>
        <p:txBody>
          <a:bodyPr/>
          <a:lstStyle/>
          <a:p>
            <a:r>
              <a:rPr lang="fr-CA" kern="0" dirty="0">
                <a:solidFill>
                  <a:srgbClr val="000000"/>
                </a:solidFill>
              </a:rPr>
              <a:t>Il faut répartir le prix total avec une méthode basée sur le prix spécifique de chaque obligation.</a:t>
            </a:r>
          </a:p>
          <a:p>
            <a:pPr lvl="1"/>
            <a:r>
              <a:rPr lang="fr-CA" dirty="0"/>
              <a:t>Contrepartie variable</a:t>
            </a:r>
          </a:p>
          <a:p>
            <a:pPr lvl="1"/>
            <a:r>
              <a:rPr lang="fr-CA" dirty="0"/>
              <a:t>Remise / rabais</a:t>
            </a:r>
          </a:p>
          <a:p>
            <a:pPr lvl="1"/>
            <a:endParaRPr lang="fr-CA" dirty="0"/>
          </a:p>
          <a:p>
            <a:pPr marL="0" indent="0" fontAlgn="base">
              <a:spcBef>
                <a:spcPct val="20000"/>
              </a:spcBef>
              <a:spcAft>
                <a:spcPct val="0"/>
              </a:spcAft>
              <a:buClr>
                <a:srgbClr val="3333CC"/>
              </a:buClr>
              <a:buSzPct val="60000"/>
              <a:buNone/>
            </a:pPr>
            <a:r>
              <a:rPr lang="fr-CA" sz="2000" kern="0" dirty="0">
                <a:latin typeface="+mn-lt"/>
                <a:ea typeface="+mn-ea"/>
                <a:cs typeface="+mn-cs"/>
              </a:rPr>
              <a:t>3 méthodes sont possibles (en ordre de priorité) :</a:t>
            </a:r>
          </a:p>
          <a:p>
            <a:pPr marL="0" indent="0" fontAlgn="base">
              <a:spcBef>
                <a:spcPct val="20000"/>
              </a:spcBef>
              <a:spcAft>
                <a:spcPct val="0"/>
              </a:spcAft>
              <a:buClr>
                <a:srgbClr val="3333CC"/>
              </a:buClr>
              <a:buSzPct val="60000"/>
              <a:buNone/>
            </a:pPr>
            <a:r>
              <a:rPr lang="fr-CA" sz="2000" kern="0" dirty="0">
                <a:latin typeface="+mn-lt"/>
                <a:ea typeface="+mn-ea"/>
                <a:cs typeface="+mn-cs"/>
              </a:rPr>
              <a:t>la méthode </a:t>
            </a:r>
            <a:r>
              <a:rPr lang="fr-CA" sz="2000" b="1" kern="0" dirty="0">
                <a:latin typeface="+mn-lt"/>
                <a:ea typeface="+mn-ea"/>
                <a:cs typeface="+mn-cs"/>
              </a:rPr>
              <a:t>d’évaluation du marché </a:t>
            </a:r>
            <a:r>
              <a:rPr lang="fr-CA" sz="2000" kern="0" dirty="0">
                <a:latin typeface="+mn-lt"/>
                <a:ea typeface="+mn-ea"/>
                <a:cs typeface="+mn-cs"/>
              </a:rPr>
              <a:t>avec ajustement : basée sur les prix de vente externes sur le marché</a:t>
            </a:r>
          </a:p>
          <a:p>
            <a:pPr marL="0" indent="0" fontAlgn="base">
              <a:spcBef>
                <a:spcPct val="20000"/>
              </a:spcBef>
              <a:spcAft>
                <a:spcPct val="0"/>
              </a:spcAft>
              <a:buClr>
                <a:srgbClr val="3333CC"/>
              </a:buClr>
              <a:buSzPct val="60000"/>
              <a:buNone/>
            </a:pPr>
            <a:r>
              <a:rPr lang="fr-CA" sz="2000" kern="0" dirty="0">
                <a:latin typeface="+mn-lt"/>
                <a:ea typeface="+mn-ea"/>
                <a:cs typeface="+mn-cs"/>
              </a:rPr>
              <a:t>la méthode du </a:t>
            </a:r>
            <a:r>
              <a:rPr lang="fr-CA" sz="2000" b="1" kern="0" dirty="0">
                <a:latin typeface="+mn-lt"/>
                <a:ea typeface="+mn-ea"/>
                <a:cs typeface="+mn-cs"/>
              </a:rPr>
              <a:t>coût attendu </a:t>
            </a:r>
            <a:r>
              <a:rPr lang="fr-CA" sz="2000" kern="0" dirty="0">
                <a:latin typeface="+mn-lt"/>
                <a:ea typeface="+mn-ea"/>
                <a:cs typeface="+mn-cs"/>
              </a:rPr>
              <a:t>plus la marge : basée sur des données internes  </a:t>
            </a:r>
          </a:p>
          <a:p>
            <a:pPr marL="0" indent="0" fontAlgn="base">
              <a:spcBef>
                <a:spcPct val="20000"/>
              </a:spcBef>
              <a:spcAft>
                <a:spcPct val="0"/>
              </a:spcAft>
              <a:buClr>
                <a:srgbClr val="3333CC"/>
              </a:buClr>
              <a:buSzPct val="60000"/>
              <a:buNone/>
            </a:pPr>
            <a:r>
              <a:rPr lang="fr-CA" sz="2000" kern="0" dirty="0">
                <a:latin typeface="+mn-lt"/>
                <a:ea typeface="+mn-ea"/>
                <a:cs typeface="+mn-cs"/>
              </a:rPr>
              <a:t>la </a:t>
            </a:r>
            <a:r>
              <a:rPr lang="fr-CA" sz="2000" b="1" kern="0" dirty="0">
                <a:latin typeface="+mn-lt"/>
                <a:ea typeface="+mn-ea"/>
                <a:cs typeface="+mn-cs"/>
              </a:rPr>
              <a:t>méthode résiduelle </a:t>
            </a:r>
            <a:r>
              <a:rPr lang="fr-CA" sz="2000" kern="0" dirty="0">
                <a:latin typeface="+mn-lt"/>
                <a:ea typeface="+mn-ea"/>
                <a:cs typeface="+mn-cs"/>
              </a:rPr>
              <a:t>: établir le prix spécifique des autres obligations et par différence, établir le prix de l’obligation </a:t>
            </a:r>
            <a:r>
              <a:rPr lang="fr-CA" sz="2000" kern="0" dirty="0">
                <a:solidFill>
                  <a:schemeClr val="tx1"/>
                </a:solidFill>
                <a:latin typeface="+mn-lt"/>
                <a:ea typeface="+mn-ea"/>
                <a:cs typeface="+mn-cs"/>
              </a:rPr>
              <a:t>ne pouvant être évaluée.</a:t>
            </a: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411305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r>
              <a:rPr lang="fr-CA" dirty="0"/>
              <a:t>Vente d’un téléphone et d’un accès au réseau pendant deux ans, en contrepartie de :</a:t>
            </a:r>
          </a:p>
          <a:p>
            <a:pPr marL="0" indent="0">
              <a:buNone/>
            </a:pPr>
            <a:r>
              <a:rPr lang="fr-CA" dirty="0"/>
              <a:t> « gratuit pour le téléphone » et 80 $ par mois pour l’accès réseau</a:t>
            </a:r>
          </a:p>
          <a:p>
            <a:pPr marL="0" indent="0">
              <a:buNone/>
            </a:pPr>
            <a:endParaRPr lang="fr-CA" dirty="0"/>
          </a:p>
          <a:p>
            <a:r>
              <a:rPr lang="fr-CA" dirty="0"/>
              <a:t>Les téléphones sont vendus séparément pour un montant de 800 $ et le client peut accéder au réseau de son choix</a:t>
            </a:r>
          </a:p>
          <a:p>
            <a:r>
              <a:rPr lang="fr-CA" dirty="0"/>
              <a:t>L’accès au réseau est également vendu séparément pour 60 $ par mois pendant deux ans, le client fournit alors le téléphone</a:t>
            </a:r>
          </a:p>
          <a:p>
            <a:pPr marL="0" indent="0">
              <a:buNone/>
            </a:pPr>
            <a:endParaRPr lang="fr-CA" dirty="0"/>
          </a:p>
        </p:txBody>
      </p:sp>
    </p:spTree>
    <p:extLst>
      <p:ext uri="{BB962C8B-B14F-4D97-AF65-F5344CB8AC3E}">
        <p14:creationId xmlns:p14="http://schemas.microsoft.com/office/powerpoint/2010/main" val="3801681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Étape 5</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Référence à la norme, répartition au prorata des justes valeurs relatives</a:t>
            </a:r>
          </a:p>
          <a:p>
            <a:pPr>
              <a:buFontTx/>
              <a:buChar char="-"/>
            </a:pPr>
            <a:r>
              <a:rPr lang="fr-CA" dirty="0"/>
              <a:t>Calculer le montant total de la vente</a:t>
            </a:r>
          </a:p>
          <a:p>
            <a:pPr>
              <a:buFontTx/>
              <a:buChar char="-"/>
            </a:pPr>
            <a:r>
              <a:rPr lang="fr-CA" dirty="0"/>
              <a:t>Puis répartir au prorata des justes  valeurs</a:t>
            </a:r>
          </a:p>
          <a:p>
            <a:pPr>
              <a:buFontTx/>
              <a:buChar char="-"/>
            </a:pPr>
            <a:r>
              <a:rPr lang="fr-CA" dirty="0"/>
              <a:t>Étape moment doit mentionner pour chaque obligation de prestation à quel moment le produit peut être comptabilisé</a:t>
            </a:r>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02149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Autres illustrations – annexe B</a:t>
            </a:r>
            <a:endParaRPr lang="fr-CA" dirty="0"/>
          </a:p>
        </p:txBody>
      </p:sp>
      <p:sp>
        <p:nvSpPr>
          <p:cNvPr id="3" name="Espace réservé du contenu 2"/>
          <p:cNvSpPr>
            <a:spLocks noGrp="1"/>
          </p:cNvSpPr>
          <p:nvPr>
            <p:ph idx="1"/>
          </p:nvPr>
        </p:nvSpPr>
        <p:spPr/>
        <p:txBody>
          <a:bodyPr/>
          <a:lstStyle/>
          <a:p>
            <a:endParaRPr lang="fr-CA"/>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300280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5440" y="365126"/>
            <a:ext cx="11775440" cy="665022"/>
          </a:xfrm>
        </p:spPr>
        <p:txBody>
          <a:bodyPr>
            <a:normAutofit/>
          </a:bodyPr>
          <a:lstStyle/>
          <a:p>
            <a:pPr algn="ctr"/>
            <a:r>
              <a:rPr lang="fr-CA" sz="3200" b="1" dirty="0"/>
              <a:t>Ventes avec droit de retour</a:t>
            </a:r>
          </a:p>
        </p:txBody>
      </p:sp>
      <p:sp>
        <p:nvSpPr>
          <p:cNvPr id="3" name="Espace réservé du contenu 2"/>
          <p:cNvSpPr>
            <a:spLocks noGrp="1"/>
          </p:cNvSpPr>
          <p:nvPr>
            <p:ph idx="1"/>
          </p:nvPr>
        </p:nvSpPr>
        <p:spPr>
          <a:xfrm>
            <a:off x="838200" y="1198880"/>
            <a:ext cx="10515600" cy="4978083"/>
          </a:xfrm>
        </p:spPr>
        <p:txBody>
          <a:bodyPr>
            <a:normAutofit fontScale="92500" lnSpcReduction="10000"/>
          </a:bodyPr>
          <a:lstStyle/>
          <a:p>
            <a:pPr marL="0" indent="0">
              <a:buNone/>
            </a:pPr>
            <a:r>
              <a:rPr lang="fr-CA" sz="2000" dirty="0"/>
              <a:t>B20     Dans le cadre de certains contrats, l'entité transfère le contrôle d'un produit au client, tout en accordant à ce dernier le droit de lui retourner le produit pour diverses raisons (par exemple l'insatisfaction du client) ainsi que de recevoir un ou plusieurs des éléments ci-dessous :</a:t>
            </a:r>
          </a:p>
          <a:p>
            <a:pPr marL="0" indent="0">
              <a:buNone/>
            </a:pPr>
            <a:r>
              <a:rPr lang="fr-CA" sz="2000" dirty="0"/>
              <a:t>(a)     un remboursement total ou partiel de la contrepartie versée ;</a:t>
            </a:r>
          </a:p>
          <a:p>
            <a:pPr marL="0" indent="0">
              <a:buNone/>
            </a:pPr>
            <a:r>
              <a:rPr lang="fr-CA" sz="2000" dirty="0"/>
              <a:t>(b)     un avoir (note de crédit) pouvant être porté en diminution de sommes qui sont ou seront dues à l'entité ;</a:t>
            </a:r>
          </a:p>
          <a:p>
            <a:pPr marL="0" indent="0">
              <a:buNone/>
            </a:pPr>
            <a:r>
              <a:rPr lang="fr-CA" sz="2000" dirty="0"/>
              <a:t>(c)     un autre produit en échange.</a:t>
            </a:r>
          </a:p>
          <a:p>
            <a:pPr marL="0" indent="0">
              <a:buNone/>
            </a:pPr>
            <a:endParaRPr lang="fr-CA" sz="2000" dirty="0"/>
          </a:p>
          <a:p>
            <a:pPr marL="0" indent="0">
              <a:buNone/>
            </a:pPr>
            <a:r>
              <a:rPr lang="fr-CA" sz="2000" dirty="0"/>
              <a:t>B21     Pour rendre compte de la fourniture de produits avec droit de retour (et de certains services pouvant faire l'objet d'un remboursement), l'entité doit comptabiliser tous les éléments ci-dessous :</a:t>
            </a:r>
          </a:p>
          <a:p>
            <a:pPr marL="0" indent="0">
              <a:buNone/>
            </a:pPr>
            <a:r>
              <a:rPr lang="fr-CA" sz="2000" dirty="0"/>
              <a:t>(a)     des produits des activités ordinaires au titre des produits fournis, pour un montant égal au montant de contrepartie auquel elle s'attend à avoir droit (l'entité ne comptabilise donc pas de produits des activités ordinaires pour les produits dont elle prévoit un retour) ;</a:t>
            </a:r>
          </a:p>
          <a:p>
            <a:pPr marL="0" indent="0">
              <a:buNone/>
            </a:pPr>
            <a:r>
              <a:rPr lang="fr-CA" sz="2000" dirty="0"/>
              <a:t>(b)     un passif au titre des remboursements futurs ;</a:t>
            </a:r>
          </a:p>
          <a:p>
            <a:pPr marL="0" indent="0">
              <a:buNone/>
            </a:pPr>
            <a:r>
              <a:rPr lang="fr-CA" sz="2000" dirty="0"/>
              <a:t>(c)     un actif (et un ajustement correspondant du coût des ventes) représentant son droit de récupérer les produits détenus par le client lors du règlement du passif au titre des remboursements.</a:t>
            </a:r>
          </a:p>
          <a:p>
            <a:pPr marL="0" indent="0">
              <a:buNone/>
            </a:pPr>
            <a:endParaRPr lang="fr-CA" sz="2000" i="1" dirty="0">
              <a:solidFill>
                <a:srgbClr val="FF0000"/>
              </a:solidFill>
            </a:endParaRP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015090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pPr marL="0" indent="0">
              <a:buNone/>
            </a:pPr>
            <a:r>
              <a:rPr lang="fr-CA" dirty="0"/>
              <a:t>Vente de livres à une librairie pour une somme de 40 000 $, avec droit de retour sans condition pour une période de 3 mois.</a:t>
            </a:r>
          </a:p>
          <a:p>
            <a:pPr marL="0" indent="0">
              <a:buNone/>
            </a:pPr>
            <a:endParaRPr lang="fr-CA" dirty="0"/>
          </a:p>
          <a:p>
            <a:pPr marL="0" indent="0">
              <a:buNone/>
            </a:pPr>
            <a:r>
              <a:rPr lang="fr-CA" dirty="0"/>
              <a:t>L’entreprise a un historique de retour de 15 %, toutefois pas pour ces livres spécifiques.</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789547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CDA02B-059F-495E-85F8-6D8F88C26DC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06FE3B8-586A-48CA-90AF-0182970EDF6B}"/>
              </a:ext>
            </a:extLst>
          </p:cNvPr>
          <p:cNvSpPr>
            <a:spLocks noGrp="1"/>
          </p:cNvSpPr>
          <p:nvPr>
            <p:ph idx="1"/>
          </p:nvPr>
        </p:nvSpPr>
        <p:spPr/>
        <p:txBody>
          <a:bodyPr/>
          <a:lstStyle/>
          <a:p>
            <a:r>
              <a:rPr lang="fr-CA" dirty="0"/>
              <a:t>L’historique est probablement acceptable, même s’il s’agit d’un livre différent</a:t>
            </a:r>
          </a:p>
        </p:txBody>
      </p:sp>
    </p:spTree>
    <p:extLst>
      <p:ext uri="{BB962C8B-B14F-4D97-AF65-F5344CB8AC3E}">
        <p14:creationId xmlns:p14="http://schemas.microsoft.com/office/powerpoint/2010/main" val="22857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36361"/>
          </a:xfrm>
        </p:spPr>
        <p:txBody>
          <a:bodyPr>
            <a:normAutofit/>
          </a:bodyPr>
          <a:lstStyle/>
          <a:p>
            <a:pPr algn="ctr"/>
            <a:r>
              <a:rPr lang="fr-CA" sz="3200" b="1" dirty="0"/>
              <a:t>Garanties</a:t>
            </a:r>
          </a:p>
        </p:txBody>
      </p:sp>
      <p:sp>
        <p:nvSpPr>
          <p:cNvPr id="3" name="Espace réservé du contenu 2"/>
          <p:cNvSpPr>
            <a:spLocks noGrp="1"/>
          </p:cNvSpPr>
          <p:nvPr>
            <p:ph idx="1"/>
          </p:nvPr>
        </p:nvSpPr>
        <p:spPr>
          <a:xfrm>
            <a:off x="838200" y="1317171"/>
            <a:ext cx="10515600" cy="5039178"/>
          </a:xfrm>
        </p:spPr>
        <p:txBody>
          <a:bodyPr>
            <a:normAutofit fontScale="70000" lnSpcReduction="20000"/>
          </a:bodyPr>
          <a:lstStyle/>
          <a:p>
            <a:pPr marL="0" indent="0">
              <a:buNone/>
            </a:pPr>
            <a:r>
              <a:rPr lang="fr-CA" sz="3000" dirty="0"/>
              <a:t>B28     Il est fréquent qu'une entité fournisse (conformément au contrat, à la législation ou à ses pratiques commerciales habituelles) une garantie lorsqu'elle vend un produit (bien ou service). La nature de la garantie peut varier considérablement selon les secteurs d'activité et les contrats. Certaines garanties fournissent au client l'assurance que le produit visé fonctionnera comme l'ont prévu les parties du fait qu'il est conforme aux spécifications convenues. D'autres lui procurent un service en plus de cette assurance.</a:t>
            </a:r>
          </a:p>
          <a:p>
            <a:pPr marL="0" indent="0">
              <a:buNone/>
            </a:pPr>
            <a:endParaRPr lang="fr-CA" sz="3000" dirty="0"/>
          </a:p>
          <a:p>
            <a:pPr marL="0" indent="0">
              <a:buNone/>
            </a:pPr>
            <a:r>
              <a:rPr lang="fr-CA" sz="3000" dirty="0"/>
              <a:t>B29     Si le client a l'option d'acheter une garantie séparément (par exemple, parce que le prix en est fixé ou négocié séparément), la garantie constitue un service distinct du fait que l'entité promet au client un service en plus du produit dont la fonctionnalité est décrite dans le contrat. Dans ce cas, l'entité doit comptabiliser la garantie promise comme une obligation de prestation conformément aux paragraphes 22 à 30 et affecter une partie du prix de transaction à cette obligation de prestation conformément aux paragraphes 73 à 86.</a:t>
            </a:r>
          </a:p>
          <a:p>
            <a:pPr marL="0" indent="0">
              <a:buNone/>
            </a:pPr>
            <a:endParaRPr lang="fr-CA" sz="3000" dirty="0"/>
          </a:p>
          <a:p>
            <a:pPr marL="0" indent="0">
              <a:buNone/>
            </a:pPr>
            <a:r>
              <a:rPr lang="fr-CA" sz="3000" dirty="0"/>
              <a:t>B30     Si le client n'a pas l'option d'acheter la garantie séparément, l'entité doit comptabiliser celle-ci conformément à IAS 37 </a:t>
            </a:r>
            <a:r>
              <a:rPr lang="fr-CA" sz="3000" i="1" dirty="0"/>
              <a:t>Provisions, passifs éventuels et actifs éventuels</a:t>
            </a:r>
            <a:r>
              <a:rPr lang="fr-CA" sz="3000" dirty="0"/>
              <a:t>, à moins que la garantie promise ou une partie de celle-ci ne procure au client un service en plus de l'assurance que le produit visé est conforme aux spécifications convenues.</a:t>
            </a:r>
          </a:p>
          <a:p>
            <a:pPr marL="0" indent="0">
              <a:buNone/>
            </a:pPr>
            <a:endParaRPr lang="fr-CA" dirty="0"/>
          </a:p>
          <a:p>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3825686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36361"/>
          </a:xfrm>
        </p:spPr>
        <p:txBody>
          <a:bodyPr>
            <a:normAutofit/>
          </a:bodyPr>
          <a:lstStyle/>
          <a:p>
            <a:pPr algn="ctr"/>
            <a:r>
              <a:rPr lang="fr-CA" sz="3200" dirty="0"/>
              <a:t>Garanties</a:t>
            </a:r>
          </a:p>
        </p:txBody>
      </p:sp>
      <p:sp>
        <p:nvSpPr>
          <p:cNvPr id="3" name="Espace réservé du contenu 2"/>
          <p:cNvSpPr>
            <a:spLocks noGrp="1"/>
          </p:cNvSpPr>
          <p:nvPr>
            <p:ph idx="1"/>
          </p:nvPr>
        </p:nvSpPr>
        <p:spPr>
          <a:xfrm>
            <a:off x="838200" y="1088571"/>
            <a:ext cx="10515600" cy="5267778"/>
          </a:xfrm>
        </p:spPr>
        <p:txBody>
          <a:bodyPr>
            <a:normAutofit fontScale="55000" lnSpcReduction="20000"/>
          </a:bodyPr>
          <a:lstStyle/>
          <a:p>
            <a:pPr marL="0" indent="0">
              <a:buNone/>
            </a:pPr>
            <a:r>
              <a:rPr lang="fr-CA" sz="3000" dirty="0"/>
              <a:t>B31     Lorsqu'elle détermine si une garantie procure au client un service en plus de l'assurance que le produit visé est conforme aux spécifications convenues, l'entité doit tenir compte de facteurs tels que les suivants :</a:t>
            </a:r>
          </a:p>
          <a:p>
            <a:pPr marL="0" indent="0">
              <a:buNone/>
            </a:pPr>
            <a:r>
              <a:rPr lang="fr-CA" sz="3000" dirty="0"/>
              <a:t>(a)     l'obligation légale de fournir la garantie — si des dispositions législatives obligent l'entité à fournir une garantie, leur existence indique que la garantie promise ne constitue pas une obligation de prestation, car les dispositions de ce type ont généralement pour but de protéger les clients contre le risque que les produits achetés soient défectueux ;</a:t>
            </a:r>
          </a:p>
          <a:p>
            <a:pPr marL="0" indent="0">
              <a:buNone/>
            </a:pPr>
            <a:r>
              <a:rPr lang="fr-CA" sz="3000" dirty="0"/>
              <a:t>(b)     la durée de la garantie — plus la protection est offerte sur une longue période, plus il est probable que la garantie promise constitue une obligation de prestation, car il est plus probable que celle-ci procure au client un service en plus de l'assurance que le produit visé est conforme aux spécifications convenues ;</a:t>
            </a:r>
          </a:p>
          <a:p>
            <a:pPr marL="0" indent="0">
              <a:buNone/>
            </a:pPr>
            <a:r>
              <a:rPr lang="fr-CA" sz="3000" dirty="0"/>
              <a:t>(c)     la nature des tâches que l'entité promet d'effectuer — s'il est nécessaire que l'entité effectue certaines tâches déterminées pour fournir l'assurance que le produit est conforme aux spécifications convenues (par exemple assurer le transport de retour des produits défectueux), ces tâches ne donnent vraisemblablement pas naissance à une obligation de prestation.</a:t>
            </a:r>
          </a:p>
          <a:p>
            <a:pPr marL="0" indent="0">
              <a:buNone/>
            </a:pPr>
            <a:r>
              <a:rPr lang="fr-CA" sz="3000" dirty="0"/>
              <a:t>B32     Si une garantie ou une partie de garantie procure au client un service en plus de l'assurance que le produit visé est conforme aux spécifications convenues, le service promis constitue une obligation de prestation. Par conséquent, l'entité doit répartir le prix de transaction entre le produit et le service. Si la garantie promise porte à la fois sur une assurance et sur un service dont on ne peut raisonnablement rendre compte séparément, l'entité doit les comptabiliser comme une seule et même obligation de prestation.</a:t>
            </a:r>
          </a:p>
          <a:p>
            <a:pPr marL="0" indent="0">
              <a:buNone/>
            </a:pPr>
            <a:r>
              <a:rPr lang="fr-CA" sz="3000" dirty="0"/>
              <a:t>B33     Des dispositions législatives qui obligent l'entité à verser une indemnité si ses produits causent un préjudice ou des dommages ne donnent pas naissance à une obligation de prestation. Il se peut, par exemple, qu'un fabricant vende un produit dans un pays où la loi le tient responsable des dommages (par exemple à la propriété personnelle) qui pourraient être causés par l'utilisation normale du produit par le consommateur. Ne donne pas non plus naissance à une obligation de prestation un engagement pris par l'entité d'indemniser le client advenant que la responsabilité de ce dernier soit mise en cause et qu'il doive payer des dommages-intérêts pour non-respect de brevets, de droits d'auteur, de marques de commerce ou d'autres droits du fait des produits de l'entité. L'entité doit comptabiliser de telles obligations conformément à IAS 37.</a:t>
            </a:r>
            <a:endParaRPr lang="fr-CA" dirty="0"/>
          </a:p>
          <a:p>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266656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pPr marL="0" indent="0">
              <a:buNone/>
            </a:pPr>
            <a:r>
              <a:rPr lang="fr-CA" dirty="0"/>
              <a:t>Vente d’un équipement 1000 $ incluant la garantie obligatoire par le gouvernement canadien d’une durée d’un an et vente d’une garantie prolongée optionnelle de deux années pour un montant de 200 $. </a:t>
            </a:r>
          </a:p>
          <a:p>
            <a:pPr lvl="1"/>
            <a:r>
              <a:rPr lang="fr-CA" dirty="0"/>
              <a:t>L’entreprise prévoit débourser 20 $ pour la garantie de base et 45 $ pour la garantie prolongée.</a:t>
            </a:r>
          </a:p>
          <a:p>
            <a:pPr marL="457200" lvl="1" indent="0">
              <a:buNone/>
            </a:pPr>
            <a:r>
              <a:rPr lang="fr-CA" dirty="0"/>
              <a:t>=&gt; Préparez les écritures</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590179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Solution</a:t>
            </a:r>
            <a:endParaRPr lang="fr-CA" dirty="0"/>
          </a:p>
        </p:txBody>
      </p:sp>
      <p:sp>
        <p:nvSpPr>
          <p:cNvPr id="3" name="Espace réservé du contenu 2"/>
          <p:cNvSpPr>
            <a:spLocks noGrp="1"/>
          </p:cNvSpPr>
          <p:nvPr>
            <p:ph idx="1"/>
          </p:nvPr>
        </p:nvSpPr>
        <p:spPr/>
        <p:txBody>
          <a:bodyPr>
            <a:normAutofit/>
          </a:bodyPr>
          <a:lstStyle/>
          <a:p>
            <a:pPr marL="0" indent="0">
              <a:buNone/>
            </a:pPr>
            <a:r>
              <a:rPr lang="fr-CA" sz="2400" dirty="0"/>
              <a:t>Voir IFRS 15 – annexe B</a:t>
            </a:r>
          </a:p>
          <a:p>
            <a:pPr marL="0" indent="0">
              <a:buNone/>
            </a:pPr>
            <a:r>
              <a:rPr lang="fr-CA" sz="2400" dirty="0"/>
              <a:t>Garantie légale est traitée par IAS 37 Provision</a:t>
            </a:r>
          </a:p>
          <a:p>
            <a:pPr marL="0" indent="0">
              <a:buNone/>
            </a:pPr>
            <a:r>
              <a:rPr lang="fr-CA" sz="2400" dirty="0"/>
              <a:t>	Charge  	20</a:t>
            </a:r>
          </a:p>
          <a:p>
            <a:pPr marL="0" indent="0">
              <a:buNone/>
            </a:pPr>
            <a:r>
              <a:rPr lang="fr-CA" sz="2400" dirty="0"/>
              <a:t>	@   Provision 		20</a:t>
            </a:r>
          </a:p>
          <a:p>
            <a:pPr marL="0" indent="0">
              <a:buNone/>
            </a:pPr>
            <a:r>
              <a:rPr lang="fr-CA" sz="2400" dirty="0"/>
              <a:t>Garantie optionnelle est considérée comme une obligation de prestation distincte </a:t>
            </a:r>
            <a:r>
              <a:rPr lang="fr-CA" sz="2400" i="1" dirty="0"/>
              <a:t>(donc ne pas faire l’analyse selon les critères de l’étape 2 car mention dans la norme qu’est une obligation distincte)</a:t>
            </a:r>
            <a:r>
              <a:rPr lang="fr-CA" sz="2400" dirty="0"/>
              <a:t>.</a:t>
            </a:r>
          </a:p>
          <a:p>
            <a:pPr marL="0" indent="0">
              <a:buNone/>
            </a:pPr>
            <a:r>
              <a:rPr lang="fr-CA" sz="2400" dirty="0"/>
              <a:t>	Caisse  		200</a:t>
            </a:r>
          </a:p>
          <a:p>
            <a:pPr marL="0" indent="0">
              <a:buNone/>
            </a:pPr>
            <a:r>
              <a:rPr lang="fr-CA" sz="2400" dirty="0"/>
              <a:t>	@   Produits différés	200</a:t>
            </a:r>
          </a:p>
          <a:p>
            <a:pPr marL="0" indent="0">
              <a:buNone/>
            </a:pPr>
            <a:endParaRPr lang="fr-CA" sz="2400" dirty="0"/>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872541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875846"/>
          </a:xfrm>
        </p:spPr>
        <p:txBody>
          <a:bodyPr>
            <a:normAutofit fontScale="90000"/>
          </a:bodyPr>
          <a:lstStyle/>
          <a:p>
            <a:pPr algn="ctr"/>
            <a:r>
              <a:rPr lang="fr-CA" sz="3600" b="1" dirty="0"/>
              <a:t>Entité agissant pour son propre compte ou comme mandataire</a:t>
            </a:r>
            <a:endParaRPr lang="fr-CA" b="1" dirty="0"/>
          </a:p>
        </p:txBody>
      </p:sp>
      <p:sp>
        <p:nvSpPr>
          <p:cNvPr id="3" name="Espace réservé du contenu 2"/>
          <p:cNvSpPr>
            <a:spLocks noGrp="1"/>
          </p:cNvSpPr>
          <p:nvPr>
            <p:ph idx="1"/>
          </p:nvPr>
        </p:nvSpPr>
        <p:spPr>
          <a:xfrm>
            <a:off x="576943" y="1240972"/>
            <a:ext cx="11114314" cy="5115377"/>
          </a:xfrm>
        </p:spPr>
        <p:txBody>
          <a:bodyPr>
            <a:noAutofit/>
          </a:bodyPr>
          <a:lstStyle/>
          <a:p>
            <a:pPr marL="0" indent="0">
              <a:buNone/>
            </a:pPr>
            <a:r>
              <a:rPr lang="fr-CA" sz="1800" dirty="0"/>
              <a:t>B34     Lorsqu'un tiers intervient dans la fourniture de biens ou de services au client de l'entité, cette dernière doit déterminer si sa promesse est par nature une obligation de prestation de fournir elle-même les biens ou les services spécifiés (elle agit alors pour son propre compte) ou de prendre les dispositions voulues pour que le tiers s'en charge (elle agit alors comme mandataire). L'entité détermine si elle agit pour son propre compte ou comme mandataire pour chaque bien ou service spécifié promis au client. Un bien ou un service spécifié est un bien ou un service distinct (ou un groupe de biens ou de services distinct) à fournir au client (voir paragraphes 27 à 30). Si un contrat conclu avec un client porte sur plus d'un bien ou service spécifié, il se peut que l'entité agisse pour son propre compte pour certains des biens ou services spécifiés, et comme mandataire pour d'autres.</a:t>
            </a:r>
          </a:p>
          <a:p>
            <a:pPr marL="0" indent="0">
              <a:buNone/>
            </a:pPr>
            <a:endParaRPr lang="fr-CA" sz="300" dirty="0"/>
          </a:p>
          <a:p>
            <a:pPr marL="0" indent="0">
              <a:buNone/>
            </a:pPr>
            <a:r>
              <a:rPr lang="fr-CA" sz="1800" dirty="0"/>
              <a:t>B34A     Pour déterminer la nature de sa promesse (comme décrit au paragraphe B34), l'entité doit :</a:t>
            </a:r>
          </a:p>
          <a:p>
            <a:pPr marL="0" indent="0">
              <a:buNone/>
            </a:pPr>
            <a:r>
              <a:rPr lang="fr-CA" sz="1800" dirty="0"/>
              <a:t>(a)     identifier les biens ou les services spécifiés à fournir au client (qui pourraient par exemple consister en un droit de recevoir un bien ou un service fourni par un tiers (voir paragraphe 26)) ;</a:t>
            </a:r>
          </a:p>
          <a:p>
            <a:pPr marL="0" indent="0">
              <a:buNone/>
            </a:pPr>
            <a:r>
              <a:rPr lang="fr-CA" sz="1800" dirty="0"/>
              <a:t>(b)     évaluer si elle a le contrôle (comme décrit au paragraphe 33) de chaque bien ou service spécifié avant que celui-ci ne soit fourni au client.</a:t>
            </a:r>
          </a:p>
          <a:p>
            <a:pPr marL="0" indent="0">
              <a:buNone/>
            </a:pPr>
            <a:r>
              <a:rPr lang="fr-CA" sz="1800" dirty="0"/>
              <a:t>B35     L'entité agit pour son propre compte si elle a le contrôle du bien ou du service spécifié avant qu'il ne soit fourni au client. Cependant, l'entité n'a pas nécessairement le contrôle d'un bien spécifié si elle n'obtient que momentanément le titre de propriété de ce bien avant que ce titre de propriété ne soit transféré au client. L'entité qui agit pour son propre compte peut remplir elle-même son obligation de prestation consistant à fournir le bien ou le service spécifié ou embaucher un tiers (par exemple, un sous-traitant) afin qu'il remplisse pour elle une partie ou l'intégralité de l'obligation de prestation.</a:t>
            </a:r>
            <a:endParaRPr lang="fr-CA" sz="1400"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213364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36361"/>
          </a:xfrm>
        </p:spPr>
        <p:txBody>
          <a:bodyPr>
            <a:normAutofit fontScale="90000"/>
          </a:bodyPr>
          <a:lstStyle/>
          <a:p>
            <a:pPr algn="ctr"/>
            <a:r>
              <a:rPr lang="fr-CA" sz="3600" b="1" dirty="0"/>
              <a:t>Entité agissant pour son propre compte ou comme mandataire</a:t>
            </a:r>
            <a:endParaRPr lang="fr-CA" b="1" dirty="0"/>
          </a:p>
        </p:txBody>
      </p:sp>
      <p:sp>
        <p:nvSpPr>
          <p:cNvPr id="3" name="Espace réservé du contenu 2"/>
          <p:cNvSpPr>
            <a:spLocks noGrp="1"/>
          </p:cNvSpPr>
          <p:nvPr>
            <p:ph idx="1"/>
          </p:nvPr>
        </p:nvSpPr>
        <p:spPr>
          <a:xfrm>
            <a:off x="631371" y="1143000"/>
            <a:ext cx="11027229" cy="5344886"/>
          </a:xfrm>
        </p:spPr>
        <p:txBody>
          <a:bodyPr>
            <a:normAutofit fontScale="62500" lnSpcReduction="20000"/>
          </a:bodyPr>
          <a:lstStyle/>
          <a:p>
            <a:pPr marL="0" indent="0">
              <a:buNone/>
            </a:pPr>
            <a:r>
              <a:rPr lang="fr-CA" dirty="0"/>
              <a:t>B35A     Lorsqu'un tiers intervient dans la fourniture de biens ou de services au client de l'entité qui agit pour son propre compte, celle-ci obtient le contrôle, selon le cas :</a:t>
            </a:r>
          </a:p>
          <a:p>
            <a:pPr marL="0" indent="0">
              <a:buNone/>
            </a:pPr>
            <a:r>
              <a:rPr lang="fr-CA" dirty="0"/>
              <a:t>(a)     d'un bien ou d'un autre actif du tiers, qu'elle fournit ensuite au client ;</a:t>
            </a:r>
          </a:p>
          <a:p>
            <a:pPr marL="0" indent="0">
              <a:buNone/>
            </a:pPr>
            <a:r>
              <a:rPr lang="fr-CA" dirty="0"/>
              <a:t>(b)     d'un droit à une prestation de service par le tiers, ce qui lui donne la capacité de prescrire à ce tiers de fournir pour elle le service au client ;</a:t>
            </a:r>
          </a:p>
          <a:p>
            <a:pPr marL="0" indent="0">
              <a:buNone/>
            </a:pPr>
            <a:r>
              <a:rPr lang="fr-CA" dirty="0"/>
              <a:t>(c)     d'un bien ou d'un service du tiers, qu'elle combine ensuite avec d'autres biens ou services pour fournir au client le bien ou le service spécifié. Par exemple, si l'entité réalise un important travail d'intégration des biens ou des services (voir paragraphe 29(a)) fournis par un tiers au bien ou au service spécifié constituant l'objet du contrat passé par le client, elle a le contrôle du bien ou du service spécifié avant qu'il ne soit fourni au client. Il en est ainsi parce qu'elle obtient d'abord le contrôle des intrants du bien ou du service spécifié (qui comprend les biens ou les services des tiers), puis décide de leur utilisation en vue de créer l'extrant qui constitue le bien ou le service spécifié.</a:t>
            </a:r>
          </a:p>
          <a:p>
            <a:pPr marL="0" indent="0">
              <a:buNone/>
            </a:pPr>
            <a:endParaRPr lang="fr-CA" sz="600" dirty="0"/>
          </a:p>
          <a:p>
            <a:pPr marL="0" indent="0">
              <a:buNone/>
            </a:pPr>
            <a:r>
              <a:rPr lang="fr-CA" dirty="0"/>
              <a:t>B35B     Lorsque (ou à mesure que) l'entité agissant pour son propre compte remplit une obligation de prestation, elle comptabilise en produits des activités ordinaires le montant brut de contrepartie auquel elle s'attend à avoir droit en échange du bien ou du service spécifié fourni.</a:t>
            </a:r>
          </a:p>
          <a:p>
            <a:pPr marL="0" indent="0">
              <a:buNone/>
            </a:pPr>
            <a:endParaRPr lang="fr-CA" sz="500" dirty="0"/>
          </a:p>
          <a:p>
            <a:pPr marL="0" indent="0">
              <a:buNone/>
            </a:pPr>
            <a:r>
              <a:rPr lang="fr-CA" dirty="0"/>
              <a:t>B36     L'entité agit comme mandataire si son obligation de prestation consiste à prendre les dispositions voulues pour qu'un tiers fournisse le bien ou le service spécifié. L'entité agissant comme mandataire n'a pas le contrôle du bien ou du service spécifié fourni par un tiers avant que ce bien ou ce service ne soit fourni au client. Lorsque l'entité agissant comme mandataire remplit (ou à mesure qu'elle remplit) une obligation de prestation, elle comptabilise en produits des activités ordinaires le montant des honoraires ou de la commission auquel elle s'attend à avoir droit en échange des dispositions prises pour que le tiers fournisse les biens ou les services spécifiés. Les honoraires ou la commission de l'entité pourraient être le montant net de contrepartie que celle-ci conserve après avoir payé au tiers la contrepartie reçue en échange des biens ou des services à fournir par celui-ci.</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31219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592818"/>
          </a:xfrm>
        </p:spPr>
        <p:txBody>
          <a:bodyPr>
            <a:normAutofit fontScale="90000"/>
          </a:bodyPr>
          <a:lstStyle/>
          <a:p>
            <a:pPr algn="ctr"/>
            <a:r>
              <a:rPr lang="fr-CA" sz="3600" b="1" dirty="0"/>
              <a:t>Entité agissant pour son propre compte ou comme mandataire</a:t>
            </a:r>
            <a:endParaRPr lang="fr-CA" b="1" dirty="0"/>
          </a:p>
        </p:txBody>
      </p:sp>
      <p:sp>
        <p:nvSpPr>
          <p:cNvPr id="3" name="Espace réservé du contenu 2"/>
          <p:cNvSpPr>
            <a:spLocks noGrp="1"/>
          </p:cNvSpPr>
          <p:nvPr>
            <p:ph idx="1"/>
          </p:nvPr>
        </p:nvSpPr>
        <p:spPr>
          <a:xfrm>
            <a:off x="838200" y="1110344"/>
            <a:ext cx="10515600" cy="5066620"/>
          </a:xfrm>
        </p:spPr>
        <p:txBody>
          <a:bodyPr>
            <a:normAutofit fontScale="55000" lnSpcReduction="20000"/>
          </a:bodyPr>
          <a:lstStyle/>
          <a:p>
            <a:pPr marL="0" indent="0">
              <a:buNone/>
            </a:pPr>
            <a:r>
              <a:rPr lang="fr-CA" dirty="0"/>
              <a:t>B37     Les indicateurs que l'entité a le contrôle du bien ou du service spécifié avant qu'il ne soit fourni au client (et agit donc pour son propre compte (voir paragraphe B35)) comprennent notamment les suivants :</a:t>
            </a:r>
          </a:p>
          <a:p>
            <a:pPr marL="0" indent="0">
              <a:buNone/>
            </a:pPr>
            <a:r>
              <a:rPr lang="fr-CA" dirty="0"/>
              <a:t>(a)     la responsabilité première de fournir comme promis le bien ou le service spécifié incombe à l'entité et englobe habituellement la responsabilité de l'acceptabilité du bien ou du service spécifié (par exemple, la responsabilité première de la conformité du bien ou du service aux spécifications du client). Le fait que la responsabilité première de fournir comme promis le bien ou le service spécifié incombe à l'entité peut indiquer que le tiers qui intervient dans la fourniture du bien ou du service spécifié agit pour le compte de l'entité ;</a:t>
            </a:r>
          </a:p>
          <a:p>
            <a:pPr marL="0" indent="0">
              <a:buNone/>
            </a:pPr>
            <a:r>
              <a:rPr lang="fr-CA" dirty="0"/>
              <a:t>(b)     l'entité est exposée au risque sur stocks avant que le bien ou le service spécifié ne soit fourni au client ou après que le contrôle lui en a été transféré (par exemple, si le client a un droit de retour). Par exemple, si l'entité obtient (ou s'engage à obtenir) le bien ou le service spécifié avant d'avoir contracté avec le client, ce fait peut indiquer que l'entité a la capacité de décider de l'utilisation du bien ou du service et d'en tirer la quasi-totalité des avantages restants avant qu'il ne soit fourni au client ;</a:t>
            </a:r>
          </a:p>
          <a:p>
            <a:pPr marL="0" indent="0">
              <a:buNone/>
            </a:pPr>
            <a:r>
              <a:rPr lang="fr-CA" dirty="0"/>
              <a:t>(c)     l'entité dispose d'une latitude pour fixer le prix du bien ou du service spécifié. Le fait que l'entité fixe le prix que le client paie pour le bien ou le service spécifié peut indiquer qu'elle a la capacité de décider de l'utilisation de ce bien ou de ce service et d'en obtenir la quasi-totalité des avantages restants. Cela dit, un mandataire peut avoir une certaine latitude dans l'établissement des prix. Par exemple, il peut disposer d'une marge de </a:t>
            </a:r>
            <a:r>
              <a:rPr lang="fr-CA" dirty="0" err="1"/>
              <a:t>manoeuvre</a:t>
            </a:r>
            <a:r>
              <a:rPr lang="fr-CA" dirty="0"/>
              <a:t> pour fixer des prix afin de tirer des produits supplémentaires de la prestation d'un service d'intermédiation en vue de la fourniture par un tiers de biens ou de services au client.</a:t>
            </a:r>
          </a:p>
          <a:p>
            <a:pPr marL="0" indent="0">
              <a:buNone/>
            </a:pPr>
            <a:r>
              <a:rPr lang="fr-CA" dirty="0"/>
              <a:t>B37A     Les indicateurs énoncés au paragraphe B37 aux fins de l'appréciation du contrôle peuvent être plus ou moins pertinents selon la nature du bien ou du service spécifié et les modalités du contrat. En outre, il se peut que des indicateurs différents constituent des éléments probants plus convaincants, selon les contrats.</a:t>
            </a:r>
          </a:p>
          <a:p>
            <a:pPr marL="0" indent="0">
              <a:buNone/>
            </a:pPr>
            <a:r>
              <a:rPr lang="fr-CA" dirty="0"/>
              <a:t>B38     Si un tiers prend à sa charge une obligation de prestation de l'entité et obtient les droits contractuels connexes, de telle sorte que l'entité n'est plus tenue de remplir l'obligation de prestation consistant à fournir le bien ou le service spécifié au client (autrement dit, l'entité n'agit plus pour son propre compte), l'entité ne doit pas comptabiliser de produits des activités ordinaires au titre de cette obligation. Elle doit plutôt déterminer s'il y a lieu de comptabiliser des produits des activités ordinaires pour avoir rempli une obligation de prestation consistant à obtenir un contrat pour le tiers (autrement dit, déterminer si elle agit comme mandataire).</a:t>
            </a:r>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890051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200" b="1" dirty="0"/>
              <a:t>Concept mandant - mandataire</a:t>
            </a:r>
            <a:endParaRPr lang="fr-CA" sz="4000" b="1" dirty="0"/>
          </a:p>
        </p:txBody>
      </p:sp>
      <p:sp>
        <p:nvSpPr>
          <p:cNvPr id="3" name="Espace réservé du contenu 2"/>
          <p:cNvSpPr>
            <a:spLocks noGrp="1"/>
          </p:cNvSpPr>
          <p:nvPr>
            <p:ph idx="1"/>
          </p:nvPr>
        </p:nvSpPr>
        <p:spPr/>
        <p:txBody>
          <a:bodyPr/>
          <a:lstStyle/>
          <a:p>
            <a:pPr marL="0" indent="0">
              <a:buNone/>
            </a:pPr>
            <a:r>
              <a:rPr lang="fr-CA" dirty="0"/>
              <a:t>Les indicateurs que l'entité a le contrôle du bien ou du service spécifié avant qu'il ne soit fourni au client :</a:t>
            </a:r>
          </a:p>
          <a:p>
            <a:pPr marL="285750" indent="-285750"/>
            <a:r>
              <a:rPr lang="fr-CA" dirty="0"/>
              <a:t>la responsabilité première de fournir comme promis le bien ou le service </a:t>
            </a:r>
          </a:p>
          <a:p>
            <a:pPr marL="285750" indent="-285750"/>
            <a:r>
              <a:rPr lang="fr-CA" dirty="0"/>
              <a:t>exposée au risque sur stocks </a:t>
            </a:r>
          </a:p>
          <a:p>
            <a:pPr marL="285750" indent="-285750"/>
            <a:r>
              <a:rPr lang="fr-CA" dirty="0"/>
              <a:t>dispose d'une latitude pour fixer le prix du bien ou du service</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615136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Illustration</a:t>
            </a:r>
            <a:endParaRPr lang="fr-CA" dirty="0"/>
          </a:p>
        </p:txBody>
      </p:sp>
      <p:sp>
        <p:nvSpPr>
          <p:cNvPr id="3" name="Espace réservé du contenu 2"/>
          <p:cNvSpPr>
            <a:spLocks noGrp="1"/>
          </p:cNvSpPr>
          <p:nvPr>
            <p:ph idx="1"/>
          </p:nvPr>
        </p:nvSpPr>
        <p:spPr/>
        <p:txBody>
          <a:bodyPr/>
          <a:lstStyle/>
          <a:p>
            <a:pPr marL="0" indent="0">
              <a:buNone/>
            </a:pPr>
            <a:r>
              <a:rPr lang="fr-CA" dirty="0"/>
              <a:t>Vente d’une excursion lors d’une croisière</a:t>
            </a:r>
          </a:p>
          <a:p>
            <a:pPr lvl="1"/>
            <a:r>
              <a:rPr lang="fr-CA" sz="2800" dirty="0"/>
              <a:t>Vente se fait sur le bateau </a:t>
            </a:r>
            <a:r>
              <a:rPr lang="fr-CA" dirty="0"/>
              <a:t>(150 $) </a:t>
            </a:r>
            <a:r>
              <a:rPr lang="fr-CA" sz="2800" dirty="0"/>
              <a:t>par la « croisière » et l’excursion est organisée par une entreprise locale de  l’île visitée.</a:t>
            </a:r>
          </a:p>
          <a:p>
            <a:pPr lvl="2"/>
            <a:r>
              <a:rPr lang="fr-CA" dirty="0"/>
              <a:t>Un montant de 20 $ est retenu pour l’effort de vente et 130 $ est remis à l’entreprise locale</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168420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Solution</a:t>
            </a:r>
            <a:endParaRPr lang="fr-CA" dirty="0"/>
          </a:p>
        </p:txBody>
      </p:sp>
      <p:sp>
        <p:nvSpPr>
          <p:cNvPr id="3" name="Espace réservé du contenu 2"/>
          <p:cNvSpPr>
            <a:spLocks noGrp="1"/>
          </p:cNvSpPr>
          <p:nvPr>
            <p:ph idx="1"/>
          </p:nvPr>
        </p:nvSpPr>
        <p:spPr/>
        <p:txBody>
          <a:bodyPr/>
          <a:lstStyle/>
          <a:p>
            <a:pPr marL="0" indent="0">
              <a:buNone/>
            </a:pPr>
            <a:r>
              <a:rPr lang="fr-CA" dirty="0"/>
              <a:t>Mandataire – à justifier avec la norme</a:t>
            </a:r>
          </a:p>
          <a:p>
            <a:pPr marL="0" indent="0">
              <a:buNone/>
            </a:pPr>
            <a:r>
              <a:rPr lang="fr-CA" dirty="0"/>
              <a:t>Donc le produit se limite à 20 $</a:t>
            </a:r>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839549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79827"/>
          </a:xfrm>
        </p:spPr>
        <p:txBody>
          <a:bodyPr>
            <a:noAutofit/>
          </a:bodyPr>
          <a:lstStyle/>
          <a:p>
            <a:pPr algn="ctr"/>
            <a:r>
              <a:rPr lang="fr-CA" sz="3200" b="1" dirty="0"/>
              <a:t>Accords de rachat</a:t>
            </a:r>
          </a:p>
        </p:txBody>
      </p:sp>
      <p:sp>
        <p:nvSpPr>
          <p:cNvPr id="3" name="Espace réservé du contenu 2"/>
          <p:cNvSpPr>
            <a:spLocks noGrp="1"/>
          </p:cNvSpPr>
          <p:nvPr>
            <p:ph idx="1"/>
          </p:nvPr>
        </p:nvSpPr>
        <p:spPr>
          <a:xfrm>
            <a:off x="567159" y="1030147"/>
            <a:ext cx="11042249" cy="4791919"/>
          </a:xfrm>
        </p:spPr>
        <p:txBody>
          <a:bodyPr>
            <a:normAutofit/>
          </a:bodyPr>
          <a:lstStyle/>
          <a:p>
            <a:pPr marL="0" indent="0">
              <a:buNone/>
            </a:pPr>
            <a:r>
              <a:rPr lang="fr-CA" sz="2400" dirty="0"/>
              <a:t>B64     Un accord de rachat est un contrat en vertu duquel l'entité vend un actif et promet ou a l'option de le racheter (soit dans le cadre du même contrat, soit dans le cadre d'un autre). L'actif racheté peut être celui qui a été vendu à l'origine au client, un actif qui est dans une large mesure le même, ou un autre actif dont celui vendu à l'origine constitue un composant.</a:t>
            </a:r>
          </a:p>
          <a:p>
            <a:pPr marL="0" indent="0">
              <a:buNone/>
            </a:pPr>
            <a:endParaRPr lang="fr-CA" sz="2400" dirty="0"/>
          </a:p>
          <a:p>
            <a:pPr marL="0" indent="0">
              <a:buNone/>
            </a:pPr>
            <a:r>
              <a:rPr lang="fr-CA" sz="2400" dirty="0"/>
              <a:t>B65     De manière générale, il existe trois formes d'accords de rachat, à savoir ceux en vertu desquels :</a:t>
            </a:r>
          </a:p>
          <a:p>
            <a:pPr marL="0" indent="0">
              <a:buNone/>
            </a:pPr>
            <a:r>
              <a:rPr lang="fr-CA" sz="2400" dirty="0"/>
              <a:t>(a)     l'entité a une obligation de racheter l'actif (contrat à terme) ;</a:t>
            </a:r>
          </a:p>
          <a:p>
            <a:pPr marL="0" indent="0">
              <a:buNone/>
            </a:pPr>
            <a:r>
              <a:rPr lang="fr-CA" sz="2400" dirty="0"/>
              <a:t>(b)     l'entité a un droit de racheter l'actif (option d'achat) ;</a:t>
            </a:r>
          </a:p>
          <a:p>
            <a:pPr marL="0" indent="0">
              <a:buNone/>
            </a:pPr>
            <a:r>
              <a:rPr lang="fr-CA" sz="2400" dirty="0"/>
              <a:t>(c)     l'entité a une obligation de racheter l'actif à la demande du client (option de vente).</a:t>
            </a:r>
            <a:endParaRPr lang="fr-CA" dirty="0"/>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68687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79827"/>
          </a:xfrm>
        </p:spPr>
        <p:txBody>
          <a:bodyPr>
            <a:noAutofit/>
          </a:bodyPr>
          <a:lstStyle/>
          <a:p>
            <a:pPr algn="ctr"/>
            <a:r>
              <a:rPr lang="fr-CA" sz="3200" b="1" dirty="0"/>
              <a:t>Accords de rachat</a:t>
            </a:r>
            <a:endParaRPr lang="fr-CA" sz="3600" b="1" dirty="0"/>
          </a:p>
        </p:txBody>
      </p:sp>
      <p:sp>
        <p:nvSpPr>
          <p:cNvPr id="3" name="Espace réservé du contenu 2"/>
          <p:cNvSpPr>
            <a:spLocks noGrp="1"/>
          </p:cNvSpPr>
          <p:nvPr>
            <p:ph idx="1"/>
          </p:nvPr>
        </p:nvSpPr>
        <p:spPr>
          <a:xfrm>
            <a:off x="567159" y="1030147"/>
            <a:ext cx="11146421" cy="5146816"/>
          </a:xfrm>
        </p:spPr>
        <p:txBody>
          <a:bodyPr>
            <a:normAutofit fontScale="62500" lnSpcReduction="20000"/>
          </a:bodyPr>
          <a:lstStyle/>
          <a:p>
            <a:pPr marL="0" indent="0">
              <a:buNone/>
            </a:pPr>
            <a:r>
              <a:rPr lang="fr-CA" b="1" dirty="0"/>
              <a:t>Contrat à terme ou option d'achat</a:t>
            </a:r>
          </a:p>
          <a:p>
            <a:pPr marL="0" indent="0">
              <a:buNone/>
            </a:pPr>
            <a:r>
              <a:rPr lang="fr-CA" dirty="0"/>
              <a:t>B66     Si l'entité a une obligation ou un droit de racheter l'actif (contrat à terme ou option d'achat), le </a:t>
            </a:r>
            <a:r>
              <a:rPr lang="fr-CA" u="sng" dirty="0"/>
              <a:t>client n'obtient pas le contrôle de l'actif, parce que sa capacité de décider de l'utilisation de l'actif et d'en tirer la quasi-totalité des avantages restants est limitée, même s'il peut en avoir la possession matérielle</a:t>
            </a:r>
            <a:r>
              <a:rPr lang="fr-CA" dirty="0"/>
              <a:t>. En conséquence, l'entité doit comptabiliser le contrat comme suit :</a:t>
            </a:r>
          </a:p>
          <a:p>
            <a:pPr marL="0" indent="0">
              <a:buNone/>
            </a:pPr>
            <a:r>
              <a:rPr lang="fr-CA" dirty="0"/>
              <a:t>(a)     </a:t>
            </a:r>
            <a:r>
              <a:rPr lang="fr-CA" u="sng" dirty="0">
                <a:solidFill>
                  <a:srgbClr val="00B0F0"/>
                </a:solidFill>
              </a:rPr>
              <a:t>soit comme un contrat de location </a:t>
            </a:r>
            <a:r>
              <a:rPr lang="fr-CA" dirty="0"/>
              <a:t>à traiter selon IFRS 16 </a:t>
            </a:r>
            <a:r>
              <a:rPr lang="fr-CA" i="1" dirty="0"/>
              <a:t>Contrats de location</a:t>
            </a:r>
            <a:r>
              <a:rPr lang="fr-CA" dirty="0"/>
              <a:t>, si l'actif peut ou doit être racheté à un montant inférieur à son prix de vente initial, à moins que le contrat fasse partie d'une transaction de </a:t>
            </a:r>
            <a:r>
              <a:rPr lang="fr-CA" dirty="0" err="1"/>
              <a:t>cession-bail</a:t>
            </a:r>
            <a:r>
              <a:rPr lang="fr-CA" dirty="0"/>
              <a:t>, auquel cas l'entité doit conserver l'actif dans ses comptes et doit comptabiliser un passif financier au titre de toute contrepartie reçue du client. L'entité doit comptabiliser ce passif financier selon IFRS 9 ;</a:t>
            </a:r>
          </a:p>
          <a:p>
            <a:pPr marL="0" indent="0">
              <a:buNone/>
            </a:pPr>
            <a:r>
              <a:rPr lang="fr-CA" dirty="0"/>
              <a:t>(b)     </a:t>
            </a:r>
            <a:r>
              <a:rPr lang="fr-CA" u="sng" dirty="0">
                <a:solidFill>
                  <a:srgbClr val="00B0F0"/>
                </a:solidFill>
              </a:rPr>
              <a:t>soit comme un accord de financement </a:t>
            </a:r>
            <a:r>
              <a:rPr lang="fr-CA" dirty="0"/>
              <a:t>à traiter selon le paragraphe B68, si l'actif peut ou doit être racheté à un montant égal ou supérieur à son prix de vente initial.</a:t>
            </a:r>
          </a:p>
          <a:p>
            <a:pPr marL="0" indent="0">
              <a:buNone/>
            </a:pPr>
            <a:endParaRPr lang="fr-CA" dirty="0"/>
          </a:p>
          <a:p>
            <a:pPr marL="0" indent="0">
              <a:buNone/>
            </a:pPr>
            <a:r>
              <a:rPr lang="fr-CA" dirty="0"/>
              <a:t>B67     Lorsqu'elle compare le prix de rachat avec le prix de vente, l'entité doit tenir compte de la valeur temps de l'argent.</a:t>
            </a:r>
          </a:p>
          <a:p>
            <a:pPr marL="0" indent="0">
              <a:buNone/>
            </a:pPr>
            <a:r>
              <a:rPr lang="fr-CA" dirty="0"/>
              <a:t>B68     Si l'accord de rachat est un accord de financement, l'entité doit continuer à comptabiliser l'actif et doit aussi comptabiliser un passif financier au titre de toute contrepartie reçue du client. La différence entre le montant de la contrepartie reçue du client et le montant de la contrepartie à lui verser doit être comptabilisée par l'entité à titre d'intérêts et, s'il y a lieu, de coût de traitement ou de possession (par exemple les assurances).</a:t>
            </a:r>
          </a:p>
          <a:p>
            <a:pPr marL="0" indent="0">
              <a:buNone/>
            </a:pPr>
            <a:r>
              <a:rPr lang="fr-CA" dirty="0"/>
              <a:t>B69     Si l'option expire sans avoir été exercée, l'entité doit </a:t>
            </a:r>
            <a:r>
              <a:rPr lang="fr-CA" dirty="0" err="1"/>
              <a:t>décomptabiliser</a:t>
            </a:r>
            <a:r>
              <a:rPr lang="fr-CA" dirty="0"/>
              <a:t> le passif et comptabiliser des produits des activités ordinaires.</a:t>
            </a:r>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3712518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79827"/>
          </a:xfrm>
        </p:spPr>
        <p:txBody>
          <a:bodyPr>
            <a:noAutofit/>
          </a:bodyPr>
          <a:lstStyle/>
          <a:p>
            <a:pPr algn="ctr"/>
            <a:r>
              <a:rPr lang="fr-CA" sz="3200" b="1" dirty="0"/>
              <a:t>Accords de rachat</a:t>
            </a:r>
            <a:endParaRPr lang="fr-CA" sz="3600" b="1" dirty="0"/>
          </a:p>
        </p:txBody>
      </p:sp>
      <p:sp>
        <p:nvSpPr>
          <p:cNvPr id="3" name="Espace réservé du contenu 2"/>
          <p:cNvSpPr>
            <a:spLocks noGrp="1"/>
          </p:cNvSpPr>
          <p:nvPr>
            <p:ph idx="1"/>
          </p:nvPr>
        </p:nvSpPr>
        <p:spPr>
          <a:xfrm>
            <a:off x="613458" y="1030147"/>
            <a:ext cx="11007524" cy="5486400"/>
          </a:xfrm>
        </p:spPr>
        <p:txBody>
          <a:bodyPr>
            <a:normAutofit fontScale="55000" lnSpcReduction="20000"/>
          </a:bodyPr>
          <a:lstStyle/>
          <a:p>
            <a:pPr marL="0" indent="0">
              <a:buNone/>
            </a:pPr>
            <a:r>
              <a:rPr lang="fr-CA" sz="2900" b="1" dirty="0"/>
              <a:t>Option de vente</a:t>
            </a:r>
          </a:p>
          <a:p>
            <a:pPr marL="0" indent="0">
              <a:buNone/>
            </a:pPr>
            <a:r>
              <a:rPr lang="fr-CA" sz="2900" dirty="0"/>
              <a:t>B70     Si l'entité a une obligation de racheter l'actif à la demande du client (option de vente) à un prix inférieur au prix de vente initial de l'actif, elle doit se demander au moment de la passation du contrat si le client a un avantage économique important à exercer son droit. S'il exerce son droit, le client se trouve alors en fait à payer une contrepartie à l'entité en retour du droit d'utiliser un actif déterminé pendant une certaine période. Par conséquent, si le client a un avantage économique important à exercer son droit, l'entité doit comptabiliser l'accord comme un contrat de location conformément à IFRS 16, à moins que le contrat fasse partie d'une transaction de </a:t>
            </a:r>
            <a:r>
              <a:rPr lang="fr-CA" sz="2900" dirty="0" err="1"/>
              <a:t>cession-bail</a:t>
            </a:r>
            <a:r>
              <a:rPr lang="fr-CA" sz="2900" dirty="0"/>
              <a:t>. Si le contrat fait partie d'une transaction de </a:t>
            </a:r>
            <a:r>
              <a:rPr lang="fr-CA" sz="2900" dirty="0" err="1"/>
              <a:t>cession-bail</a:t>
            </a:r>
            <a:r>
              <a:rPr lang="fr-CA" sz="2900" dirty="0"/>
              <a:t>, l'entité doit conserver l'actif dans ses comptes et doit comptabiliser un passif financier au titre de toute contrepartie reçue du client. L'entité doit comptabiliser ce passif financier selon IFRS 9.</a:t>
            </a:r>
          </a:p>
          <a:p>
            <a:pPr marL="0" indent="0">
              <a:buNone/>
            </a:pPr>
            <a:r>
              <a:rPr lang="fr-CA" sz="2900" dirty="0"/>
              <a:t>B71     Pour déterminer si le client a un avantage économique important à exercer son droit, l'entité doit prendre en compte divers facteurs, dont le rapport entre le prix de rachat et la valeur de marché attendue de l'actif à la date de rachat, ainsi que le délai restant à courir jusqu'à l'expiration du droit. Par exemple, s'il est à prévoir que le prix de rachat sera considérablement plus élevé que la valeur de marché de l'actif, cela peut indiquer que le client a un avantage économique important à exercer l'option d'achat.</a:t>
            </a:r>
          </a:p>
          <a:p>
            <a:pPr marL="0" indent="0">
              <a:buNone/>
            </a:pPr>
            <a:r>
              <a:rPr lang="fr-CA" sz="2900" dirty="0"/>
              <a:t>B72     Si le client n'a pas un avantage économique important à exercer son droit à un prix inférieur au prix de vente initial de l'actif, l'entité doit comptabiliser l'accord comme s'il s'agissait de la vente d'un produit avec droit de retour, comme il est expliqué aux paragraphes B20 à B27.</a:t>
            </a:r>
          </a:p>
          <a:p>
            <a:pPr marL="0" indent="0">
              <a:buNone/>
            </a:pPr>
            <a:r>
              <a:rPr lang="fr-CA" sz="2900" dirty="0"/>
              <a:t>B73     Si le prix de rachat de l'actif est égal ou supérieur à son prix de vente initial et est plus élevé que sa valeur de marché attendue, le contrat est en fait un accord de financement et doit, par conséquent, être comptabilisé comme il est expliqué au paragraphe B68.</a:t>
            </a:r>
          </a:p>
          <a:p>
            <a:pPr marL="0" indent="0">
              <a:buNone/>
            </a:pPr>
            <a:r>
              <a:rPr lang="fr-CA" sz="2900" dirty="0"/>
              <a:t>B74     Si le prix de rachat de l'actif est égal ou supérieur à son prix de vente initial et est égal ou inférieur à sa valeur de marché attendue, et que le client n'a pas un avantage économique important à exercer son droit, l'entité doit alors comptabiliser l'accord comme s'il s'agissait de la vente d'un produit avec droit de retour comme il est expliqué aux paragraphes B20 à B27.</a:t>
            </a:r>
          </a:p>
          <a:p>
            <a:pPr marL="0" indent="0">
              <a:buNone/>
            </a:pPr>
            <a:r>
              <a:rPr lang="fr-CA" sz="2900" dirty="0"/>
              <a:t>B75     Lorsqu'elle compare le prix de rachat avec le prix de vente, l'entité doit tenir compte de la valeur temps de l'argent.</a:t>
            </a:r>
          </a:p>
          <a:p>
            <a:pPr marL="0" indent="0">
              <a:buNone/>
            </a:pPr>
            <a:r>
              <a:rPr lang="fr-CA" sz="2900" dirty="0"/>
              <a:t>B76     Si l'option expire sans avoir été exercée, l'entité doit </a:t>
            </a:r>
            <a:r>
              <a:rPr lang="fr-CA" sz="2900" dirty="0" err="1"/>
              <a:t>décomptabiliser</a:t>
            </a:r>
            <a:r>
              <a:rPr lang="fr-CA" sz="2900" dirty="0"/>
              <a:t> le passif et comptabiliser des produits des activités ordinaires.</a:t>
            </a:r>
            <a:endParaRPr lang="fr-CA" dirty="0"/>
          </a:p>
          <a:p>
            <a:pPr marL="0" indent="0">
              <a:buNone/>
            </a:pP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168298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5440" y="365125"/>
            <a:ext cx="11704320" cy="701675"/>
          </a:xfrm>
        </p:spPr>
        <p:txBody>
          <a:bodyPr>
            <a:normAutofit/>
          </a:bodyPr>
          <a:lstStyle/>
          <a:p>
            <a:pPr algn="ctr"/>
            <a:r>
              <a:rPr lang="fr-CA" sz="3200" b="1" dirty="0"/>
              <a:t>Accords de consignation</a:t>
            </a:r>
          </a:p>
        </p:txBody>
      </p:sp>
      <p:sp>
        <p:nvSpPr>
          <p:cNvPr id="3" name="Espace réservé du contenu 2"/>
          <p:cNvSpPr>
            <a:spLocks noGrp="1"/>
          </p:cNvSpPr>
          <p:nvPr>
            <p:ph idx="1"/>
          </p:nvPr>
        </p:nvSpPr>
        <p:spPr>
          <a:xfrm>
            <a:off x="838200" y="1608881"/>
            <a:ext cx="10515600" cy="4568082"/>
          </a:xfrm>
        </p:spPr>
        <p:txBody>
          <a:bodyPr>
            <a:normAutofit fontScale="77500" lnSpcReduction="20000"/>
          </a:bodyPr>
          <a:lstStyle/>
          <a:p>
            <a:pPr marL="0" indent="0">
              <a:buNone/>
            </a:pPr>
            <a:r>
              <a:rPr lang="fr-CA" dirty="0"/>
              <a:t>B77     Lorsque l'entité livre un produit à un tiers (par exemple un distributeur ou un grossiste) pour vente aux clients finaux, elle doit évaluer si le tiers obtient le contrôle du produit à ce moment-là. Le produit livré à un tiers peut être détenu en vertu d'un accord de consignation si le tiers n'en obtient pas le contrôle. Par conséquent, l'entité ne doit pas comptabiliser de produits des activités ordinaires au moment de la livraison au tiers si le produit livré est détenu en consignation.</a:t>
            </a:r>
          </a:p>
          <a:p>
            <a:pPr marL="0" indent="0">
              <a:buNone/>
            </a:pPr>
            <a:endParaRPr lang="fr-CA" dirty="0"/>
          </a:p>
          <a:p>
            <a:pPr marL="0" indent="0">
              <a:buNone/>
            </a:pPr>
            <a:r>
              <a:rPr lang="fr-CA" dirty="0"/>
              <a:t>B78     Les indicateurs qu'un accord est un accord de consignation sont notamment les suivants :</a:t>
            </a:r>
          </a:p>
          <a:p>
            <a:pPr marL="0" indent="0">
              <a:buNone/>
            </a:pPr>
            <a:r>
              <a:rPr lang="fr-CA" dirty="0"/>
              <a:t>(a)     le produit est contrôlé par l'entité jusqu'à ce que se produise un événement spécifié, par exemple la vente du produit à un client du distributeur, ou jusqu'au terme d'une période déterminée ;</a:t>
            </a:r>
          </a:p>
          <a:p>
            <a:pPr marL="0" indent="0">
              <a:buNone/>
            </a:pPr>
            <a:r>
              <a:rPr lang="fr-CA" dirty="0"/>
              <a:t>(b)     l'entité est en mesure d'exiger que le produit lui soit rendu ou de le transférer à un tiers (comme un autre distributeur) ;</a:t>
            </a:r>
          </a:p>
          <a:p>
            <a:pPr marL="0" indent="0">
              <a:buNone/>
            </a:pPr>
            <a:r>
              <a:rPr lang="fr-CA" dirty="0"/>
              <a:t>(c)     le distributeur n'a pas l'obligation inconditionnelle de payer le produit (même si un acompte peut être exigé de sa part).</a:t>
            </a:r>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3643594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572424"/>
          </a:xfrm>
        </p:spPr>
        <p:txBody>
          <a:bodyPr>
            <a:normAutofit/>
          </a:bodyPr>
          <a:lstStyle/>
          <a:p>
            <a:pPr algn="ctr"/>
            <a:r>
              <a:rPr lang="fr-CA" sz="3200" b="1" dirty="0"/>
              <a:t>Ventes à livrer</a:t>
            </a:r>
          </a:p>
        </p:txBody>
      </p:sp>
      <p:sp>
        <p:nvSpPr>
          <p:cNvPr id="3" name="Espace réservé du contenu 2"/>
          <p:cNvSpPr>
            <a:spLocks noGrp="1"/>
          </p:cNvSpPr>
          <p:nvPr>
            <p:ph idx="1"/>
          </p:nvPr>
        </p:nvSpPr>
        <p:spPr>
          <a:xfrm>
            <a:off x="416689" y="937550"/>
            <a:ext cx="11366339" cy="5555847"/>
          </a:xfrm>
        </p:spPr>
        <p:txBody>
          <a:bodyPr>
            <a:normAutofit fontScale="25000" lnSpcReduction="20000"/>
          </a:bodyPr>
          <a:lstStyle/>
          <a:p>
            <a:pPr marL="0" indent="0">
              <a:buNone/>
            </a:pPr>
            <a:r>
              <a:rPr lang="fr-CA" sz="6400" dirty="0"/>
              <a:t>B79     Un accord de vente à livrer est un contrat en vertu duquel l'entité facture à son client un produit dont elle conserve la possession matérielle jusqu'à ce que le produit soit ultérieurement fourni au client. Par exemple, il se peut que le client propose un contrat de ce type à l'entité parce qu'il ne dispose pas de l'espace suffisant pour stocker le produit ou qu'il accuse un retard dans son calendrier de production.</a:t>
            </a:r>
          </a:p>
          <a:p>
            <a:pPr marL="0" indent="0">
              <a:buNone/>
            </a:pPr>
            <a:endParaRPr lang="fr-CA" sz="2400" dirty="0"/>
          </a:p>
          <a:p>
            <a:pPr marL="0" indent="0">
              <a:buNone/>
            </a:pPr>
            <a:r>
              <a:rPr lang="fr-CA" sz="6400" dirty="0"/>
              <a:t>B80     Pour déterminer le moment où elle a rempli son obligation de prestation consistant à fournir un produit, l'entité doit évaluer à quel moment le client obtient le contrôle du produit (voir paragraphe 38). Dans certains cas, le contrôle est transféré soit lorsque le produit est livré au client, soit lorsque le produit est expédié, selon les termes du contrat (y compris les conditions de livraison et d'expédition). Toutefois, dans d'autres cas, il se peut que le client obtienne le contrôle d'un produit même si l'entité en a encore la possession matérielle. Dans un tel cas, le client a la capacité de décider de l'utilisation du produit et d'en tirer la quasi-totalité des avantages restants même s'il a décidé de ne pas exercer son droit d'en prendre matériellement possession. L'entité n'a donc pas le contrôle du produit. Elle se trouve plutôt à fournir au client un service de garde d'actif.</a:t>
            </a:r>
          </a:p>
          <a:p>
            <a:pPr marL="0" indent="0">
              <a:buNone/>
            </a:pPr>
            <a:endParaRPr lang="fr-CA" sz="2400" dirty="0"/>
          </a:p>
          <a:p>
            <a:pPr marL="0" indent="0">
              <a:buNone/>
            </a:pPr>
            <a:r>
              <a:rPr lang="fr-CA" sz="6400" dirty="0"/>
              <a:t>B81     Au-delà des dispositions du paragraphe 38, dans le cas d'une vente à livrer, </a:t>
            </a:r>
            <a:r>
              <a:rPr lang="fr-CA" sz="6400" u="sng" dirty="0">
                <a:solidFill>
                  <a:srgbClr val="00B0F0"/>
                </a:solidFill>
              </a:rPr>
              <a:t>toutes les conditions suivantes doivent être réunies pour que le client ait obtenu le contrôle du produit :</a:t>
            </a:r>
          </a:p>
          <a:p>
            <a:pPr marL="0" indent="0">
              <a:buNone/>
            </a:pPr>
            <a:r>
              <a:rPr lang="fr-CA" sz="6400" u="sng" dirty="0">
                <a:solidFill>
                  <a:srgbClr val="00B0F0"/>
                </a:solidFill>
              </a:rPr>
              <a:t>(a)     la vente à livrer doit avoir un motif réel (par exemple, le client l'a demandée) ;</a:t>
            </a:r>
          </a:p>
          <a:p>
            <a:pPr marL="0" indent="0">
              <a:buNone/>
            </a:pPr>
            <a:r>
              <a:rPr lang="fr-CA" sz="6400" u="sng" dirty="0">
                <a:solidFill>
                  <a:srgbClr val="00B0F0"/>
                </a:solidFill>
              </a:rPr>
              <a:t>(b)     le produit doit être identifié séparément comme appartenant au client ;</a:t>
            </a:r>
          </a:p>
          <a:p>
            <a:pPr marL="0" indent="0">
              <a:buNone/>
            </a:pPr>
            <a:r>
              <a:rPr lang="fr-CA" sz="6400" u="sng" dirty="0">
                <a:solidFill>
                  <a:srgbClr val="00B0F0"/>
                </a:solidFill>
              </a:rPr>
              <a:t>(c)     le produit doit être prêt à livrer au client ;</a:t>
            </a:r>
          </a:p>
          <a:p>
            <a:pPr marL="0" indent="0">
              <a:buNone/>
            </a:pPr>
            <a:r>
              <a:rPr lang="fr-CA" sz="6400" u="sng" dirty="0">
                <a:solidFill>
                  <a:srgbClr val="00B0F0"/>
                </a:solidFill>
              </a:rPr>
              <a:t>(d)     l'entité n'a pas le loisir d'utiliser le produit ou de le destiner à un autre client.</a:t>
            </a:r>
          </a:p>
          <a:p>
            <a:pPr marL="0" indent="0">
              <a:buNone/>
            </a:pPr>
            <a:endParaRPr lang="fr-CA" sz="2400" dirty="0"/>
          </a:p>
          <a:p>
            <a:pPr marL="0" indent="0">
              <a:buNone/>
            </a:pPr>
            <a:r>
              <a:rPr lang="fr-CA" sz="6400" dirty="0"/>
              <a:t>B82     Si l'entité comptabilise des produits des activités ordinaires au titre d'un bien cédé dans le cadre d'une vente à livrer, elle doit se demander si, en application des paragraphes 22 à 30, il lui reste des obligations de prestation à remplir (par exemple en ce qui concerne la garde du bien) auxquelles elle doit affecter une partie du prix de transaction conformément aux paragraphes 73 à 86.</a:t>
            </a:r>
            <a:endParaRPr lang="fr-CA" dirty="0"/>
          </a:p>
        </p:txBody>
      </p:sp>
      <p:sp>
        <p:nvSpPr>
          <p:cNvPr id="4" name="Espace réservé du pied de page 3"/>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39379145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5346</Words>
  <Application>Microsoft Office PowerPoint</Application>
  <PresentationFormat>Grand écran</PresentationFormat>
  <Paragraphs>234</Paragraphs>
  <Slides>35</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Arial</vt:lpstr>
      <vt:lpstr>Calibri</vt:lpstr>
      <vt:lpstr>Calibri Light</vt:lpstr>
      <vt:lpstr>Courier New</vt:lpstr>
      <vt:lpstr>Wingdings 2</vt:lpstr>
      <vt:lpstr>Thème Office</vt:lpstr>
      <vt:lpstr>IFRS 15 - Produits exercices sur les 5 étapes et autres illustrations</vt:lpstr>
      <vt:lpstr>Étape 1 – Identifier le contrat conclu avec le client</vt:lpstr>
      <vt:lpstr>Illustration</vt:lpstr>
      <vt:lpstr>Étape 1</vt:lpstr>
      <vt:lpstr>Étape 2 – Identifier les obligations de prestation contenues dans le contrat</vt:lpstr>
      <vt:lpstr>Illustration</vt:lpstr>
      <vt:lpstr>Étape 2</vt:lpstr>
      <vt:lpstr>Étape 3 – Déterminer le prix de transaction</vt:lpstr>
      <vt:lpstr>Illustration</vt:lpstr>
      <vt:lpstr>Étape 3</vt:lpstr>
      <vt:lpstr>Étape 4 – Comptabiliser le produit des activités ordinaires lorsque l’entité a rempli une obligation de prestation</vt:lpstr>
      <vt:lpstr>Illustration</vt:lpstr>
      <vt:lpstr>Étape 4</vt:lpstr>
      <vt:lpstr>Étape 5 – Répartir le prix de transaction</vt:lpstr>
      <vt:lpstr>Illustration</vt:lpstr>
      <vt:lpstr>Étape 5</vt:lpstr>
      <vt:lpstr>Autres illustrations – annexe B</vt:lpstr>
      <vt:lpstr>Ventes avec droit de retour</vt:lpstr>
      <vt:lpstr>Illustration</vt:lpstr>
      <vt:lpstr>Présentation PowerPoint</vt:lpstr>
      <vt:lpstr>Garanties</vt:lpstr>
      <vt:lpstr>Garanties</vt:lpstr>
      <vt:lpstr>Illustration</vt:lpstr>
      <vt:lpstr>Solution</vt:lpstr>
      <vt:lpstr>Entité agissant pour son propre compte ou comme mandataire</vt:lpstr>
      <vt:lpstr>Entité agissant pour son propre compte ou comme mandataire</vt:lpstr>
      <vt:lpstr>Entité agissant pour son propre compte ou comme mandataire</vt:lpstr>
      <vt:lpstr>Concept mandant - mandataire</vt:lpstr>
      <vt:lpstr>Illustration</vt:lpstr>
      <vt:lpstr>Solution</vt:lpstr>
      <vt:lpstr>Accords de rachat</vt:lpstr>
      <vt:lpstr>Accords de rachat</vt:lpstr>
      <vt:lpstr>Accords de rachat</vt:lpstr>
      <vt:lpstr>Accords de consignation</vt:lpstr>
      <vt:lpstr>Ventes à livrer</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louise overbeek</cp:lastModifiedBy>
  <cp:revision>12</cp:revision>
  <dcterms:created xsi:type="dcterms:W3CDTF">2019-11-08T12:41:12Z</dcterms:created>
  <dcterms:modified xsi:type="dcterms:W3CDTF">2020-12-02T15:45:19Z</dcterms:modified>
</cp:coreProperties>
</file>