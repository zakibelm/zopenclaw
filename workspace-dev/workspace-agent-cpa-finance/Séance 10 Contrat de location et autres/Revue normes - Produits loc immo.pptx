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7"/>
  </p:notesMasterIdLst>
  <p:sldIdLst>
    <p:sldId id="257" r:id="rId2"/>
    <p:sldId id="449" r:id="rId3"/>
    <p:sldId id="547" r:id="rId4"/>
    <p:sldId id="450" r:id="rId5"/>
    <p:sldId id="548" r:id="rId6"/>
    <p:sldId id="452" r:id="rId7"/>
    <p:sldId id="451" r:id="rId8"/>
    <p:sldId id="542" r:id="rId9"/>
    <p:sldId id="543" r:id="rId10"/>
    <p:sldId id="544" r:id="rId11"/>
    <p:sldId id="545" r:id="rId12"/>
    <p:sldId id="463" r:id="rId13"/>
    <p:sldId id="627" r:id="rId14"/>
    <p:sldId id="628" r:id="rId15"/>
    <p:sldId id="466" r:id="rId16"/>
    <p:sldId id="629" r:id="rId17"/>
    <p:sldId id="468" r:id="rId18"/>
    <p:sldId id="630" r:id="rId19"/>
    <p:sldId id="549" r:id="rId20"/>
    <p:sldId id="550" r:id="rId21"/>
    <p:sldId id="551" r:id="rId22"/>
    <p:sldId id="556" r:id="rId23"/>
    <p:sldId id="631" r:id="rId24"/>
    <p:sldId id="552" r:id="rId25"/>
    <p:sldId id="632" r:id="rId26"/>
    <p:sldId id="553" r:id="rId27"/>
    <p:sldId id="633" r:id="rId28"/>
    <p:sldId id="554" r:id="rId29"/>
    <p:sldId id="634" r:id="rId30"/>
    <p:sldId id="555" r:id="rId31"/>
    <p:sldId id="635" r:id="rId32"/>
    <p:sldId id="557" r:id="rId33"/>
    <p:sldId id="558" r:id="rId34"/>
    <p:sldId id="559" r:id="rId35"/>
    <p:sldId id="560" r:id="rId36"/>
    <p:sldId id="561" r:id="rId37"/>
    <p:sldId id="562" r:id="rId38"/>
    <p:sldId id="574" r:id="rId39"/>
    <p:sldId id="575" r:id="rId40"/>
    <p:sldId id="576" r:id="rId41"/>
    <p:sldId id="577" r:id="rId42"/>
    <p:sldId id="578" r:id="rId43"/>
    <p:sldId id="582" r:id="rId44"/>
    <p:sldId id="587" r:id="rId45"/>
    <p:sldId id="581" r:id="rId46"/>
    <p:sldId id="584" r:id="rId47"/>
    <p:sldId id="585" r:id="rId48"/>
    <p:sldId id="583" r:id="rId49"/>
    <p:sldId id="586" r:id="rId50"/>
    <p:sldId id="588" r:id="rId51"/>
    <p:sldId id="591" r:id="rId52"/>
    <p:sldId id="592" r:id="rId53"/>
    <p:sldId id="593" r:id="rId54"/>
    <p:sldId id="594" r:id="rId55"/>
    <p:sldId id="597" r:id="rId56"/>
    <p:sldId id="598" r:id="rId57"/>
    <p:sldId id="599" r:id="rId58"/>
    <p:sldId id="600" r:id="rId59"/>
    <p:sldId id="601" r:id="rId60"/>
    <p:sldId id="602" r:id="rId61"/>
    <p:sldId id="563" r:id="rId62"/>
    <p:sldId id="565" r:id="rId63"/>
    <p:sldId id="603" r:id="rId64"/>
    <p:sldId id="605" r:id="rId65"/>
    <p:sldId id="566" r:id="rId66"/>
    <p:sldId id="567" r:id="rId67"/>
    <p:sldId id="606" r:id="rId68"/>
    <p:sldId id="609" r:id="rId69"/>
    <p:sldId id="610" r:id="rId70"/>
    <p:sldId id="611" r:id="rId71"/>
    <p:sldId id="612" r:id="rId72"/>
    <p:sldId id="613" r:id="rId73"/>
    <p:sldId id="636" r:id="rId74"/>
    <p:sldId id="614" r:id="rId75"/>
    <p:sldId id="615" r:id="rId76"/>
    <p:sldId id="616" r:id="rId77"/>
    <p:sldId id="617" r:id="rId78"/>
    <p:sldId id="618" r:id="rId79"/>
    <p:sldId id="620" r:id="rId80"/>
    <p:sldId id="622" r:id="rId81"/>
    <p:sldId id="623" r:id="rId82"/>
    <p:sldId id="624" r:id="rId83"/>
    <p:sldId id="625" r:id="rId84"/>
    <p:sldId id="626" r:id="rId85"/>
    <p:sldId id="568" r:id="rId8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1" d="100"/>
          <a:sy n="61" d="100"/>
        </p:scale>
        <p:origin x="5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1C8C9A-70B0-4038-A186-658A03F7F606}" type="datetimeFigureOut">
              <a:rPr lang="fr-FR" smtClean="0"/>
              <a:t>13/11/2020</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1500B-728E-4D26-A2FE-6B390148F7DB}" type="slidenum">
              <a:rPr lang="fr-FR" smtClean="0"/>
              <a:t>‹N°›</a:t>
            </a:fld>
            <a:endParaRPr lang="fr-FR"/>
          </a:p>
        </p:txBody>
      </p:sp>
    </p:spTree>
    <p:extLst>
      <p:ext uri="{BB962C8B-B14F-4D97-AF65-F5344CB8AC3E}">
        <p14:creationId xmlns:p14="http://schemas.microsoft.com/office/powerpoint/2010/main" val="3231397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3482EB-60A1-4A66-AE94-887015EF583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B90E70D-8284-4D62-B431-E066F2ABE1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4B17940-02E6-4ACC-9E4E-DEAE76DD352F}"/>
              </a:ext>
            </a:extLst>
          </p:cNvPr>
          <p:cNvSpPr>
            <a:spLocks noGrp="1"/>
          </p:cNvSpPr>
          <p:nvPr>
            <p:ph type="dt" sz="half" idx="10"/>
          </p:nvPr>
        </p:nvSpPr>
        <p:spPr/>
        <p:txBody>
          <a:bodyPr/>
          <a:lstStyle/>
          <a:p>
            <a:fld id="{A47ABD82-3C08-48D2-817B-0F58187B0ADC}" type="datetime1">
              <a:rPr lang="fr-FR" smtClean="0"/>
              <a:t>13/11/2020</a:t>
            </a:fld>
            <a:endParaRPr lang="fr-FR"/>
          </a:p>
        </p:txBody>
      </p:sp>
      <p:sp>
        <p:nvSpPr>
          <p:cNvPr id="5" name="Espace réservé du pied de page 4">
            <a:extLst>
              <a:ext uri="{FF2B5EF4-FFF2-40B4-BE49-F238E27FC236}">
                <a16:creationId xmlns:a16="http://schemas.microsoft.com/office/drawing/2014/main" id="{07F2BCB8-08BE-40A4-9EAE-7FBE8766A1D7}"/>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778F311D-CB39-4C75-9D93-6450CAAA7016}"/>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245347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2F2F3A-5B0B-4F15-BF65-6B2860CC353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9AA894A-6CFF-4914-9F81-6C5BE170202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AD4D98D-359C-4846-91EC-9884BED5F817}"/>
              </a:ext>
            </a:extLst>
          </p:cNvPr>
          <p:cNvSpPr>
            <a:spLocks noGrp="1"/>
          </p:cNvSpPr>
          <p:nvPr>
            <p:ph type="dt" sz="half" idx="10"/>
          </p:nvPr>
        </p:nvSpPr>
        <p:spPr/>
        <p:txBody>
          <a:bodyPr/>
          <a:lstStyle/>
          <a:p>
            <a:fld id="{16B4B0F6-DBAF-469B-9DD0-25FE6109DF78}" type="datetime1">
              <a:rPr lang="fr-FR" smtClean="0"/>
              <a:t>13/11/2020</a:t>
            </a:fld>
            <a:endParaRPr lang="fr-FR"/>
          </a:p>
        </p:txBody>
      </p:sp>
      <p:sp>
        <p:nvSpPr>
          <p:cNvPr id="5" name="Espace réservé du pied de page 4">
            <a:extLst>
              <a:ext uri="{FF2B5EF4-FFF2-40B4-BE49-F238E27FC236}">
                <a16:creationId xmlns:a16="http://schemas.microsoft.com/office/drawing/2014/main" id="{CF3AA8DB-F950-4D30-992E-3110406935C5}"/>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C508D982-5675-4A89-9722-D8F7FC7D9B8E}"/>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720687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248B7D-A596-435D-AEF0-FBBEDAB8D69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E3C1589-3498-4E28-9E59-F6EE766384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7ED4E3A-DFEC-4649-9252-E7E821885A29}"/>
              </a:ext>
            </a:extLst>
          </p:cNvPr>
          <p:cNvSpPr>
            <a:spLocks noGrp="1"/>
          </p:cNvSpPr>
          <p:nvPr>
            <p:ph type="dt" sz="half" idx="10"/>
          </p:nvPr>
        </p:nvSpPr>
        <p:spPr/>
        <p:txBody>
          <a:bodyPr/>
          <a:lstStyle/>
          <a:p>
            <a:fld id="{E9A405B4-FB9F-4FA5-B563-14589065CA9C}" type="datetime1">
              <a:rPr lang="fr-FR" smtClean="0"/>
              <a:t>13/11/2020</a:t>
            </a:fld>
            <a:endParaRPr lang="fr-FR"/>
          </a:p>
        </p:txBody>
      </p:sp>
      <p:sp>
        <p:nvSpPr>
          <p:cNvPr id="5" name="Espace réservé du pied de page 4">
            <a:extLst>
              <a:ext uri="{FF2B5EF4-FFF2-40B4-BE49-F238E27FC236}">
                <a16:creationId xmlns:a16="http://schemas.microsoft.com/office/drawing/2014/main" id="{9FC31F9E-CB26-4915-9005-CD0265B84CDA}"/>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B93F219B-CC8D-4D95-BAB8-D2EEA801EAB2}"/>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1645705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AFDAB9-E5CD-49AF-88FA-7EE71392B06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3B6E163-FB6E-48BC-92BB-FCD34D2F30F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1176ADA-B255-4126-B787-3D0E3668195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2BF9B4A-F410-4791-98F9-4A1B86AF5D86}"/>
              </a:ext>
            </a:extLst>
          </p:cNvPr>
          <p:cNvSpPr>
            <a:spLocks noGrp="1"/>
          </p:cNvSpPr>
          <p:nvPr>
            <p:ph type="dt" sz="half" idx="10"/>
          </p:nvPr>
        </p:nvSpPr>
        <p:spPr/>
        <p:txBody>
          <a:bodyPr/>
          <a:lstStyle/>
          <a:p>
            <a:fld id="{6EE38C63-ACD5-467B-9D0F-B1AD02105ABF}" type="datetime1">
              <a:rPr lang="fr-FR" smtClean="0"/>
              <a:t>13/11/2020</a:t>
            </a:fld>
            <a:endParaRPr lang="fr-FR"/>
          </a:p>
        </p:txBody>
      </p:sp>
      <p:sp>
        <p:nvSpPr>
          <p:cNvPr id="6" name="Espace réservé du pied de page 5">
            <a:extLst>
              <a:ext uri="{FF2B5EF4-FFF2-40B4-BE49-F238E27FC236}">
                <a16:creationId xmlns:a16="http://schemas.microsoft.com/office/drawing/2014/main" id="{7FEF910B-747E-403F-BD66-194C4160BEE2}"/>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FCFEF1A5-9CB2-448E-A3DF-597E3D73C2D0}"/>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2545118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41AE50-00F9-4EB9-9860-A41E9AC6655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44CB78B-28BD-40DB-8144-333BFAC0B1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A704E98-B734-47DA-8EA6-E553FA9DA92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1B65CD5-F104-4B36-A2B3-47132D09FE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A05A8A2-2AB1-4E1B-86E0-F8024323798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A602863-5352-46C5-BDD8-92D5D5C9235B}"/>
              </a:ext>
            </a:extLst>
          </p:cNvPr>
          <p:cNvSpPr>
            <a:spLocks noGrp="1"/>
          </p:cNvSpPr>
          <p:nvPr>
            <p:ph type="dt" sz="half" idx="10"/>
          </p:nvPr>
        </p:nvSpPr>
        <p:spPr/>
        <p:txBody>
          <a:bodyPr/>
          <a:lstStyle/>
          <a:p>
            <a:fld id="{533CA1EB-7390-4503-AD20-4B2A253E99D7}" type="datetime1">
              <a:rPr lang="fr-FR" smtClean="0"/>
              <a:t>13/11/2020</a:t>
            </a:fld>
            <a:endParaRPr lang="fr-FR"/>
          </a:p>
        </p:txBody>
      </p:sp>
      <p:sp>
        <p:nvSpPr>
          <p:cNvPr id="8" name="Espace réservé du pied de page 7">
            <a:extLst>
              <a:ext uri="{FF2B5EF4-FFF2-40B4-BE49-F238E27FC236}">
                <a16:creationId xmlns:a16="http://schemas.microsoft.com/office/drawing/2014/main" id="{9E1CCD54-27E8-4680-A9F5-70CD0D9FD2CB}"/>
              </a:ext>
            </a:extLst>
          </p:cNvPr>
          <p:cNvSpPr>
            <a:spLocks noGrp="1"/>
          </p:cNvSpPr>
          <p:nvPr>
            <p:ph type="ftr" sz="quarter" idx="11"/>
          </p:nvPr>
        </p:nvSpPr>
        <p:spPr/>
        <p:txBody>
          <a:bodyPr/>
          <a:lstStyle/>
          <a:p>
            <a:r>
              <a:rPr lang="fr-FR"/>
              <a:t>Droits réservés - Louise Overbeek</a:t>
            </a:r>
          </a:p>
        </p:txBody>
      </p:sp>
      <p:sp>
        <p:nvSpPr>
          <p:cNvPr id="9" name="Espace réservé du numéro de diapositive 8">
            <a:extLst>
              <a:ext uri="{FF2B5EF4-FFF2-40B4-BE49-F238E27FC236}">
                <a16:creationId xmlns:a16="http://schemas.microsoft.com/office/drawing/2014/main" id="{45273B82-8ED9-4D84-A95A-EF5DE2FE4A9C}"/>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3227827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669449-ED1B-4839-A6F9-4843FF4E9C1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6382266-9899-4440-B009-50583934E975}"/>
              </a:ext>
            </a:extLst>
          </p:cNvPr>
          <p:cNvSpPr>
            <a:spLocks noGrp="1"/>
          </p:cNvSpPr>
          <p:nvPr>
            <p:ph type="dt" sz="half" idx="10"/>
          </p:nvPr>
        </p:nvSpPr>
        <p:spPr/>
        <p:txBody>
          <a:bodyPr/>
          <a:lstStyle/>
          <a:p>
            <a:fld id="{7133F63C-1907-47D2-B8A4-012DBBDC640E}" type="datetime1">
              <a:rPr lang="fr-FR" smtClean="0"/>
              <a:t>13/11/2020</a:t>
            </a:fld>
            <a:endParaRPr lang="fr-FR"/>
          </a:p>
        </p:txBody>
      </p:sp>
      <p:sp>
        <p:nvSpPr>
          <p:cNvPr id="4" name="Espace réservé du pied de page 3">
            <a:extLst>
              <a:ext uri="{FF2B5EF4-FFF2-40B4-BE49-F238E27FC236}">
                <a16:creationId xmlns:a16="http://schemas.microsoft.com/office/drawing/2014/main" id="{86FD49A4-0282-4A1E-9C75-D6556B9C491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8C5A8A-CF29-49F9-A2E1-1A1D9F66980F}"/>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430545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C51E288-23CD-4E98-9DD2-022843CA8911}"/>
              </a:ext>
            </a:extLst>
          </p:cNvPr>
          <p:cNvSpPr>
            <a:spLocks noGrp="1"/>
          </p:cNvSpPr>
          <p:nvPr>
            <p:ph type="dt" sz="half" idx="10"/>
          </p:nvPr>
        </p:nvSpPr>
        <p:spPr/>
        <p:txBody>
          <a:bodyPr/>
          <a:lstStyle/>
          <a:p>
            <a:fld id="{9AA4E48A-7E8F-4548-A69D-35BB9C28C54D}" type="datetime1">
              <a:rPr lang="fr-FR" smtClean="0"/>
              <a:t>13/11/2020</a:t>
            </a:fld>
            <a:endParaRPr lang="fr-FR"/>
          </a:p>
        </p:txBody>
      </p:sp>
      <p:sp>
        <p:nvSpPr>
          <p:cNvPr id="3" name="Espace réservé du pied de page 2">
            <a:extLst>
              <a:ext uri="{FF2B5EF4-FFF2-40B4-BE49-F238E27FC236}">
                <a16:creationId xmlns:a16="http://schemas.microsoft.com/office/drawing/2014/main" id="{286A6674-6914-4844-8FFB-6F33D60B824D}"/>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5A587BDA-FD43-4F8C-B4E2-CC8460BABF37}"/>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2909306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F3331-B8DE-4926-A043-B3FE9A36441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E8B44C7-5579-46DB-8A67-3B478FF001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7984769-4F03-4860-8A95-1D00513127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B09FC01-9AA8-4A32-9F4B-BF2B42B1D251}"/>
              </a:ext>
            </a:extLst>
          </p:cNvPr>
          <p:cNvSpPr>
            <a:spLocks noGrp="1"/>
          </p:cNvSpPr>
          <p:nvPr>
            <p:ph type="dt" sz="half" idx="10"/>
          </p:nvPr>
        </p:nvSpPr>
        <p:spPr/>
        <p:txBody>
          <a:bodyPr/>
          <a:lstStyle/>
          <a:p>
            <a:fld id="{25B283EA-E333-4BAD-AA32-7D7152F44B7A}" type="datetime1">
              <a:rPr lang="fr-FR" smtClean="0"/>
              <a:t>13/11/2020</a:t>
            </a:fld>
            <a:endParaRPr lang="fr-FR"/>
          </a:p>
        </p:txBody>
      </p:sp>
      <p:sp>
        <p:nvSpPr>
          <p:cNvPr id="6" name="Espace réservé du pied de page 5">
            <a:extLst>
              <a:ext uri="{FF2B5EF4-FFF2-40B4-BE49-F238E27FC236}">
                <a16:creationId xmlns:a16="http://schemas.microsoft.com/office/drawing/2014/main" id="{4A5F3236-8407-4C0A-8A7C-C664EB0DCF8C}"/>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FA6AB62B-AEE3-4FD3-8BCB-64432E0B2262}"/>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384219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1875F2-D45F-4ADE-9EFA-D89CF7C1799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811036A-7165-42E2-8A51-CA727DED01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712C052-DD4A-4CF6-A1D5-5FBEC72EA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3C1138A-FD7B-4759-9206-1467FADF1EB6}"/>
              </a:ext>
            </a:extLst>
          </p:cNvPr>
          <p:cNvSpPr>
            <a:spLocks noGrp="1"/>
          </p:cNvSpPr>
          <p:nvPr>
            <p:ph type="dt" sz="half" idx="10"/>
          </p:nvPr>
        </p:nvSpPr>
        <p:spPr/>
        <p:txBody>
          <a:bodyPr/>
          <a:lstStyle/>
          <a:p>
            <a:fld id="{DE061BCE-EFE3-4395-98CC-98B534297A37}" type="datetime1">
              <a:rPr lang="fr-FR" smtClean="0"/>
              <a:t>13/11/2020</a:t>
            </a:fld>
            <a:endParaRPr lang="fr-FR"/>
          </a:p>
        </p:txBody>
      </p:sp>
      <p:sp>
        <p:nvSpPr>
          <p:cNvPr id="6" name="Espace réservé du pied de page 5">
            <a:extLst>
              <a:ext uri="{FF2B5EF4-FFF2-40B4-BE49-F238E27FC236}">
                <a16:creationId xmlns:a16="http://schemas.microsoft.com/office/drawing/2014/main" id="{A5220D3F-4006-4E80-866C-89C044E07B8A}"/>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896FB380-9FFE-48EC-8ABF-7C29A0E0B5A9}"/>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2543748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E2EC8D-0610-44E0-A299-82CF8BFF457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67203E8-B585-4A45-B5FB-5F11D4F5733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481CA1F-1E6B-44DA-AC6E-3A8F8C21E3E4}"/>
              </a:ext>
            </a:extLst>
          </p:cNvPr>
          <p:cNvSpPr>
            <a:spLocks noGrp="1"/>
          </p:cNvSpPr>
          <p:nvPr>
            <p:ph type="dt" sz="half" idx="10"/>
          </p:nvPr>
        </p:nvSpPr>
        <p:spPr/>
        <p:txBody>
          <a:bodyPr/>
          <a:lstStyle/>
          <a:p>
            <a:fld id="{3123F442-D266-4333-A571-18A1C7C15406}" type="datetime1">
              <a:rPr lang="fr-FR" smtClean="0"/>
              <a:t>13/11/2020</a:t>
            </a:fld>
            <a:endParaRPr lang="fr-FR"/>
          </a:p>
        </p:txBody>
      </p:sp>
      <p:sp>
        <p:nvSpPr>
          <p:cNvPr id="5" name="Espace réservé du pied de page 4">
            <a:extLst>
              <a:ext uri="{FF2B5EF4-FFF2-40B4-BE49-F238E27FC236}">
                <a16:creationId xmlns:a16="http://schemas.microsoft.com/office/drawing/2014/main" id="{E610E766-CDAD-469E-B112-CFB2F07886BB}"/>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94B08C02-A569-41EA-8DAF-90744E038EF2}"/>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4278981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A75CBA1-CB71-4589-8823-6791001ACFD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A189740-790B-46CF-BE63-A03A14F63E4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9D754AD-6412-49FD-A7CF-73AEA29F9D8D}"/>
              </a:ext>
            </a:extLst>
          </p:cNvPr>
          <p:cNvSpPr>
            <a:spLocks noGrp="1"/>
          </p:cNvSpPr>
          <p:nvPr>
            <p:ph type="dt" sz="half" idx="10"/>
          </p:nvPr>
        </p:nvSpPr>
        <p:spPr/>
        <p:txBody>
          <a:bodyPr/>
          <a:lstStyle/>
          <a:p>
            <a:fld id="{75B7B12D-AE61-4E23-8B64-ABA11786D49F}" type="datetime1">
              <a:rPr lang="fr-FR" smtClean="0"/>
              <a:t>13/11/2020</a:t>
            </a:fld>
            <a:endParaRPr lang="fr-FR"/>
          </a:p>
        </p:txBody>
      </p:sp>
      <p:sp>
        <p:nvSpPr>
          <p:cNvPr id="5" name="Espace réservé du pied de page 4">
            <a:extLst>
              <a:ext uri="{FF2B5EF4-FFF2-40B4-BE49-F238E27FC236}">
                <a16:creationId xmlns:a16="http://schemas.microsoft.com/office/drawing/2014/main" id="{B9B1E941-7A70-408F-9E53-91EC0121D7CA}"/>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1D4824D1-6C1A-4E87-83EC-EE8C730BF45A}"/>
              </a:ext>
            </a:extLst>
          </p:cNvPr>
          <p:cNvSpPr>
            <a:spLocks noGrp="1"/>
          </p:cNvSpPr>
          <p:nvPr>
            <p:ph type="sldNum" sz="quarter" idx="12"/>
          </p:nvPr>
        </p:nvSpPr>
        <p:spPr/>
        <p:txBody>
          <a:bodyPr/>
          <a:lstStyle/>
          <a:p>
            <a:fld id="{245A90F0-BBD2-4887-A64A-A77B26D486D9}" type="slidenum">
              <a:rPr lang="fr-FR" smtClean="0"/>
              <a:t>‹N°›</a:t>
            </a:fld>
            <a:endParaRPr lang="fr-FR"/>
          </a:p>
        </p:txBody>
      </p:sp>
    </p:spTree>
    <p:extLst>
      <p:ext uri="{BB962C8B-B14F-4D97-AF65-F5344CB8AC3E}">
        <p14:creationId xmlns:p14="http://schemas.microsoft.com/office/powerpoint/2010/main" val="969339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7B0F35E-C90C-497E-9087-4E4633784B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229949F-4C4B-416D-B9CF-D8DFE59C14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B9DC78-402A-47C9-B2D4-76F637F7E9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68DF5B-5AA5-4562-A25A-16A3A814CA89}" type="datetime1">
              <a:rPr lang="fr-FR" smtClean="0"/>
              <a:t>13/11/2020</a:t>
            </a:fld>
            <a:endParaRPr lang="fr-FR"/>
          </a:p>
        </p:txBody>
      </p:sp>
      <p:sp>
        <p:nvSpPr>
          <p:cNvPr id="5" name="Espace réservé du pied de page 4">
            <a:extLst>
              <a:ext uri="{FF2B5EF4-FFF2-40B4-BE49-F238E27FC236}">
                <a16:creationId xmlns:a16="http://schemas.microsoft.com/office/drawing/2014/main" id="{77116384-38EA-415E-83FB-9027627CE1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93764E9E-C0B7-45FF-B482-15DA017C0D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5A90F0-BBD2-4887-A64A-A77B26D486D9}" type="slidenum">
              <a:rPr lang="fr-FR" smtClean="0"/>
              <a:t>‹N°›</a:t>
            </a:fld>
            <a:endParaRPr lang="fr-FR"/>
          </a:p>
        </p:txBody>
      </p:sp>
    </p:spTree>
    <p:extLst>
      <p:ext uri="{BB962C8B-B14F-4D97-AF65-F5344CB8AC3E}">
        <p14:creationId xmlns:p14="http://schemas.microsoft.com/office/powerpoint/2010/main" val="2277642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fr-FR" sz="3600" b="1" dirty="0"/>
              <a:t>40938</a:t>
            </a:r>
            <a:br>
              <a:rPr lang="fr-FR" sz="4400" b="1" dirty="0"/>
            </a:br>
            <a:r>
              <a:rPr lang="fr-FR" sz="4400" b="1" dirty="0"/>
              <a:t>Revue de certaines normes</a:t>
            </a:r>
            <a:br>
              <a:rPr lang="fr-FR" sz="4400" b="1" dirty="0"/>
            </a:br>
            <a:r>
              <a:rPr lang="fr-FR" sz="4400" b="1" dirty="0"/>
              <a:t>Produits </a:t>
            </a:r>
            <a:r>
              <a:rPr lang="fr-FR" sz="3600" b="1" dirty="0"/>
              <a:t>et autres</a:t>
            </a:r>
            <a:br>
              <a:rPr lang="fr-FR" sz="4800" b="1" dirty="0"/>
            </a:br>
            <a:r>
              <a:rPr lang="fr-FR" sz="3600" b="1" dirty="0"/>
              <a:t>séances 10-11</a:t>
            </a:r>
            <a:endParaRPr lang="fr-FR" sz="2900" dirty="0"/>
          </a:p>
        </p:txBody>
      </p:sp>
      <p:sp>
        <p:nvSpPr>
          <p:cNvPr id="3" name="Sous-titre 2"/>
          <p:cNvSpPr>
            <a:spLocks noGrp="1"/>
          </p:cNvSpPr>
          <p:nvPr>
            <p:ph type="subTitle" idx="1"/>
          </p:nvPr>
        </p:nvSpPr>
        <p:spPr>
          <a:xfrm>
            <a:off x="2895600" y="4367944"/>
            <a:ext cx="6400800" cy="1752600"/>
          </a:xfrm>
        </p:spPr>
        <p:txBody>
          <a:bodyPr>
            <a:normAutofit/>
          </a:bodyPr>
          <a:lstStyle/>
          <a:p>
            <a:endParaRPr lang="fr-FR" dirty="0"/>
          </a:p>
          <a:p>
            <a:endParaRPr lang="fr-FR" dirty="0"/>
          </a:p>
          <a:p>
            <a:r>
              <a:rPr lang="fr-FR" dirty="0"/>
              <a:t>Louise Overbeek</a:t>
            </a:r>
            <a:endParaRPr lang="fr-FR" sz="2600" dirty="0"/>
          </a:p>
          <a:p>
            <a:r>
              <a:rPr lang="fr-FR" sz="1900" dirty="0"/>
              <a:t>Novembre 2020</a:t>
            </a:r>
            <a:endParaRPr lang="fr-FR" dirty="0"/>
          </a:p>
        </p:txBody>
      </p:sp>
    </p:spTree>
    <p:extLst>
      <p:ext uri="{BB962C8B-B14F-4D97-AF65-F5344CB8AC3E}">
        <p14:creationId xmlns:p14="http://schemas.microsoft.com/office/powerpoint/2010/main" val="329426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br>
              <a:rPr lang="fr-CA" sz="6000" b="1" dirty="0">
                <a:solidFill>
                  <a:srgbClr val="FF0000"/>
                </a:solidFill>
              </a:rPr>
            </a:br>
            <a:r>
              <a:rPr lang="fr-CA" sz="6000" b="1" dirty="0">
                <a:solidFill>
                  <a:srgbClr val="FF0000"/>
                </a:solidFill>
              </a:rPr>
              <a:t>Constatation des produits</a:t>
            </a:r>
          </a:p>
          <a:p>
            <a:pPr marL="0" indent="0" algn="ctr">
              <a:buNone/>
            </a:pPr>
            <a:endParaRPr lang="fr-CA" sz="6000" b="1" dirty="0">
              <a:solidFill>
                <a:srgbClr val="FF0000"/>
              </a:solidFill>
            </a:endParaRPr>
          </a:p>
          <a:p>
            <a:pPr marL="0" indent="0">
              <a:buNone/>
            </a:pPr>
            <a:r>
              <a:rPr lang="fr-CA" sz="2600" b="1" dirty="0">
                <a:solidFill>
                  <a:srgbClr val="FF0000"/>
                </a:solidFill>
              </a:rPr>
              <a:t>IFRS 15</a:t>
            </a:r>
            <a:endParaRPr lang="fr-CA" sz="6000" b="1" dirty="0">
              <a:solidFill>
                <a:srgbClr val="FF0000"/>
              </a:solidFill>
            </a:endParaRPr>
          </a:p>
          <a:p>
            <a:pPr marL="0" indent="0">
              <a:buNone/>
            </a:pPr>
            <a:r>
              <a:rPr lang="fr-CA" sz="2600" b="1" dirty="0" err="1">
                <a:solidFill>
                  <a:srgbClr val="FF0000"/>
                </a:solidFill>
              </a:rPr>
              <a:t>Chap</a:t>
            </a:r>
            <a:r>
              <a:rPr lang="fr-CA" sz="2600" b="1" dirty="0">
                <a:solidFill>
                  <a:srgbClr val="FF0000"/>
                </a:solidFill>
              </a:rPr>
              <a:t> 3400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a:t>
            </a:fld>
            <a:endParaRPr lang="fr-FR"/>
          </a:p>
        </p:txBody>
      </p:sp>
      <p:sp>
        <p:nvSpPr>
          <p:cNvPr id="5" name="Espace réservé du pied de page 4">
            <a:extLst>
              <a:ext uri="{FF2B5EF4-FFF2-40B4-BE49-F238E27FC236}">
                <a16:creationId xmlns:a16="http://schemas.microsoft.com/office/drawing/2014/main" id="{023CDF29-132D-4333-B8CC-689E95B7CB5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1333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Enjeux</a:t>
            </a:r>
          </a:p>
        </p:txBody>
      </p:sp>
      <p:sp>
        <p:nvSpPr>
          <p:cNvPr id="3" name="Espace réservé du contenu 2"/>
          <p:cNvSpPr>
            <a:spLocks noGrp="1"/>
          </p:cNvSpPr>
          <p:nvPr>
            <p:ph idx="1"/>
          </p:nvPr>
        </p:nvSpPr>
        <p:spPr/>
        <p:txBody>
          <a:bodyPr>
            <a:normAutofit fontScale="92500" lnSpcReduction="10000"/>
          </a:bodyPr>
          <a:lstStyle/>
          <a:p>
            <a:r>
              <a:rPr lang="fr-CA" dirty="0"/>
              <a:t>Moment de la comptabilisation / constatation</a:t>
            </a:r>
          </a:p>
          <a:p>
            <a:pPr lvl="1"/>
            <a:r>
              <a:rPr lang="fr-CA" dirty="0"/>
              <a:t>Transfert du contrôle</a:t>
            </a:r>
          </a:p>
          <a:p>
            <a:pPr marL="457200" lvl="1" indent="0">
              <a:buNone/>
            </a:pPr>
            <a:endParaRPr lang="fr-CA" dirty="0"/>
          </a:p>
          <a:p>
            <a:r>
              <a:rPr lang="fr-CA" dirty="0"/>
              <a:t>Mesure</a:t>
            </a:r>
          </a:p>
          <a:p>
            <a:pPr lvl="1"/>
            <a:r>
              <a:rPr lang="fr-CA" dirty="0"/>
              <a:t>Opération non monétaire</a:t>
            </a:r>
          </a:p>
          <a:p>
            <a:pPr lvl="1"/>
            <a:r>
              <a:rPr lang="fr-CA" dirty="0"/>
              <a:t>Net des retours?, autres éléments variables</a:t>
            </a:r>
          </a:p>
          <a:p>
            <a:pPr lvl="1"/>
            <a:r>
              <a:rPr lang="fr-CA" dirty="0"/>
              <a:t>Plusieurs éléments de comptabilisation</a:t>
            </a:r>
          </a:p>
          <a:p>
            <a:pPr marL="457200" lvl="1" indent="0">
              <a:buNone/>
            </a:pPr>
            <a:endParaRPr lang="fr-CA" dirty="0"/>
          </a:p>
          <a:p>
            <a:r>
              <a:rPr lang="fr-CA" dirty="0"/>
              <a:t>Présentation</a:t>
            </a:r>
          </a:p>
          <a:p>
            <a:pPr lvl="1"/>
            <a:r>
              <a:rPr lang="fr-CA" dirty="0"/>
              <a:t>Brut / net (mandataire)</a:t>
            </a:r>
          </a:p>
          <a:p>
            <a:pPr lvl="1"/>
            <a:r>
              <a:rPr lang="fr-CA" dirty="0"/>
              <a:t>Chiffres d’affaires ou gain?</a:t>
            </a:r>
          </a:p>
          <a:p>
            <a:pPr lvl="1"/>
            <a:r>
              <a:rPr lang="fr-CA" dirty="0"/>
              <a:t>Résultats / produits différés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a:t>
            </a:fld>
            <a:endParaRPr lang="fr-FR"/>
          </a:p>
        </p:txBody>
      </p:sp>
      <p:sp>
        <p:nvSpPr>
          <p:cNvPr id="5" name="Espace réservé du pied de page 4">
            <a:extLst>
              <a:ext uri="{FF2B5EF4-FFF2-40B4-BE49-F238E27FC236}">
                <a16:creationId xmlns:a16="http://schemas.microsoft.com/office/drawing/2014/main" id="{4C80B3E3-4327-4DA4-8C27-98F68788948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68936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Produits</a:t>
            </a:r>
          </a:p>
        </p:txBody>
      </p:sp>
      <p:sp>
        <p:nvSpPr>
          <p:cNvPr id="3" name="Espace réservé du contenu 2"/>
          <p:cNvSpPr>
            <a:spLocks noGrp="1"/>
          </p:cNvSpPr>
          <p:nvPr>
            <p:ph idx="1"/>
          </p:nvPr>
        </p:nvSpPr>
        <p:spPr/>
        <p:txBody>
          <a:bodyPr>
            <a:normAutofit lnSpcReduction="10000"/>
          </a:bodyPr>
          <a:lstStyle/>
          <a:p>
            <a:pPr marL="0" indent="0">
              <a:buNone/>
            </a:pPr>
            <a:r>
              <a:rPr lang="fr-CA" dirty="0"/>
              <a:t>Définition NCECF :</a:t>
            </a:r>
          </a:p>
          <a:p>
            <a:r>
              <a:rPr lang="fr-CA" dirty="0"/>
              <a:t>Sommes et autres contreparties reçues ou à recevoir</a:t>
            </a:r>
          </a:p>
          <a:p>
            <a:r>
              <a:rPr lang="fr-CA" dirty="0"/>
              <a:t>Dans le cours des activités normales de l’entreprise généralement au titre de</a:t>
            </a:r>
          </a:p>
          <a:p>
            <a:pPr lvl="1"/>
            <a:r>
              <a:rPr lang="fr-CA" dirty="0"/>
              <a:t>Vente de biens</a:t>
            </a:r>
          </a:p>
          <a:p>
            <a:pPr lvl="1"/>
            <a:r>
              <a:rPr lang="fr-CA" dirty="0"/>
              <a:t>Prestation de services</a:t>
            </a:r>
          </a:p>
          <a:p>
            <a:pPr lvl="1"/>
            <a:r>
              <a:rPr lang="fr-CA" dirty="0"/>
              <a:t>Utilisation de ressources par des tiers moyennant des intérêts, des redevances ou des dividendes</a:t>
            </a:r>
          </a:p>
          <a:p>
            <a:r>
              <a:rPr lang="fr-CA" dirty="0"/>
              <a:t>Les produits sont nets des remises, ristournes, rendus et réfactions, des indemnités pour marchandises endommagées, et des taxes de ventes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a:t>
            </a:fld>
            <a:endParaRPr lang="fr-FR"/>
          </a:p>
        </p:txBody>
      </p:sp>
      <p:sp>
        <p:nvSpPr>
          <p:cNvPr id="5" name="Espace réservé du pied de page 4">
            <a:extLst>
              <a:ext uri="{FF2B5EF4-FFF2-40B4-BE49-F238E27FC236}">
                <a16:creationId xmlns:a16="http://schemas.microsoft.com/office/drawing/2014/main" id="{0101473E-DD34-4351-BE0B-95FC2C2158A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066267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IFRS 15  - </a:t>
            </a:r>
            <a:r>
              <a:rPr lang="fr-CA" sz="3600" i="1" dirty="0"/>
              <a:t>aborder les 5 étapes</a:t>
            </a:r>
            <a:endParaRPr lang="fr-CA" i="1"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1- contrat conclu avec un client </a:t>
            </a:r>
            <a:r>
              <a:rPr lang="fr-CA" sz="2600" dirty="0"/>
              <a:t>(par 9)</a:t>
            </a:r>
          </a:p>
          <a:p>
            <a:pPr marL="0" indent="0">
              <a:buNone/>
            </a:pPr>
            <a:r>
              <a:rPr lang="fr-CA" dirty="0"/>
              <a:t>2- obligations de prestation </a:t>
            </a:r>
            <a:r>
              <a:rPr lang="fr-CA" sz="2600" dirty="0"/>
              <a:t>(par 22)</a:t>
            </a:r>
          </a:p>
          <a:p>
            <a:pPr marL="0" indent="0">
              <a:buNone/>
            </a:pPr>
            <a:r>
              <a:rPr lang="fr-CA" dirty="0"/>
              <a:t>3- obligations de prestation remplies </a:t>
            </a:r>
            <a:r>
              <a:rPr lang="fr-CA" i="1" dirty="0"/>
              <a:t>(moment)</a:t>
            </a:r>
            <a:r>
              <a:rPr lang="fr-CA" dirty="0"/>
              <a:t> </a:t>
            </a:r>
            <a:r>
              <a:rPr lang="fr-CA" sz="2600" dirty="0"/>
              <a:t>(par 31)</a:t>
            </a:r>
          </a:p>
          <a:p>
            <a:pPr marL="0" indent="0">
              <a:buNone/>
            </a:pPr>
            <a:r>
              <a:rPr lang="fr-CA" dirty="0"/>
              <a:t>		</a:t>
            </a:r>
            <a:r>
              <a:rPr lang="fr-CA" sz="2600" dirty="0"/>
              <a:t>lors du transfert du contrôle</a:t>
            </a:r>
          </a:p>
          <a:p>
            <a:pPr marL="0" indent="0">
              <a:buNone/>
            </a:pPr>
            <a:r>
              <a:rPr lang="fr-CA" sz="2600" dirty="0"/>
              <a:t>		degré d’avancement</a:t>
            </a:r>
            <a:endParaRPr lang="fr-CA" dirty="0"/>
          </a:p>
          <a:p>
            <a:pPr marL="0" indent="0">
              <a:buNone/>
            </a:pPr>
            <a:r>
              <a:rPr lang="fr-CA" dirty="0"/>
              <a:t>4- prix de transaction </a:t>
            </a:r>
            <a:r>
              <a:rPr lang="fr-CA" i="1" dirty="0"/>
              <a:t>(mesure)</a:t>
            </a:r>
            <a:r>
              <a:rPr lang="fr-CA" dirty="0"/>
              <a:t> </a:t>
            </a:r>
            <a:r>
              <a:rPr lang="fr-CA" sz="2600" dirty="0"/>
              <a:t>(par 46)</a:t>
            </a:r>
          </a:p>
          <a:p>
            <a:pPr marL="892175" indent="-892175">
              <a:buNone/>
            </a:pPr>
            <a:r>
              <a:rPr lang="fr-CA" dirty="0"/>
              <a:t>		</a:t>
            </a:r>
            <a:r>
              <a:rPr lang="fr-CA" sz="2600" dirty="0"/>
              <a:t>contrepartie variable (valeur attendue ou montant le plus probable)</a:t>
            </a:r>
          </a:p>
          <a:p>
            <a:pPr marL="892175" indent="-892175">
              <a:buNone/>
            </a:pPr>
            <a:r>
              <a:rPr lang="fr-CA" sz="2600" dirty="0"/>
              <a:t>	composante financement</a:t>
            </a:r>
          </a:p>
          <a:p>
            <a:pPr marL="892175" indent="-892175">
              <a:buNone/>
            </a:pPr>
            <a:r>
              <a:rPr lang="fr-CA" sz="2600" dirty="0"/>
              <a:t>	opération non monétaire</a:t>
            </a:r>
          </a:p>
          <a:p>
            <a:pPr marL="358775" indent="-358775">
              <a:buNone/>
            </a:pPr>
            <a:r>
              <a:rPr lang="fr-CA" dirty="0"/>
              <a:t>5- répartition du prix entre les obligations de prestation </a:t>
            </a:r>
            <a:r>
              <a:rPr lang="fr-CA" sz="2600" dirty="0"/>
              <a:t>(par 73)</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a:t>
            </a:fld>
            <a:endParaRPr lang="fr-FR"/>
          </a:p>
        </p:txBody>
      </p:sp>
      <p:sp>
        <p:nvSpPr>
          <p:cNvPr id="5" name="Espace réservé du pied de page 4">
            <a:extLst>
              <a:ext uri="{FF2B5EF4-FFF2-40B4-BE49-F238E27FC236}">
                <a16:creationId xmlns:a16="http://schemas.microsoft.com/office/drawing/2014/main" id="{5635F429-9B70-427C-860B-798E0B53A98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03154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NCECF</a:t>
            </a:r>
            <a:br>
              <a:rPr lang="fr-CA" dirty="0"/>
            </a:br>
            <a:r>
              <a:rPr lang="fr-CA" dirty="0"/>
              <a:t>– vente de biens</a:t>
            </a:r>
          </a:p>
        </p:txBody>
      </p:sp>
      <p:sp>
        <p:nvSpPr>
          <p:cNvPr id="3" name="Espace réservé du contenu 2"/>
          <p:cNvSpPr>
            <a:spLocks noGrp="1"/>
          </p:cNvSpPr>
          <p:nvPr>
            <p:ph idx="1"/>
          </p:nvPr>
        </p:nvSpPr>
        <p:spPr>
          <a:xfrm>
            <a:off x="838200" y="1703071"/>
            <a:ext cx="10515600" cy="4423093"/>
          </a:xfrm>
        </p:spPr>
        <p:txBody>
          <a:bodyPr>
            <a:normAutofit fontScale="85000" lnSpcReduction="10000"/>
          </a:bodyPr>
          <a:lstStyle/>
          <a:p>
            <a:pPr marL="0" indent="0">
              <a:buNone/>
            </a:pPr>
            <a:r>
              <a:rPr lang="fr-CA" dirty="0"/>
              <a:t>Constatation des produits lorsque :</a:t>
            </a:r>
          </a:p>
          <a:p>
            <a:pPr marL="0" indent="0">
              <a:buNone/>
            </a:pPr>
            <a:endParaRPr lang="fr-CA" dirty="0"/>
          </a:p>
          <a:p>
            <a:r>
              <a:rPr lang="fr-CA" dirty="0"/>
              <a:t>Tous les risques et avantages importants inhérents à la propriété ont été transférés à l’acheteur</a:t>
            </a:r>
          </a:p>
          <a:p>
            <a:pPr lvl="1"/>
            <a:r>
              <a:rPr lang="fr-CA" dirty="0"/>
              <a:t>Vendeur n’exerce plus sur les biens cédés un droit de gestion ou un contrôle effectif</a:t>
            </a:r>
          </a:p>
          <a:p>
            <a:pPr lvl="1"/>
            <a:endParaRPr lang="fr-CA" dirty="0"/>
          </a:p>
          <a:p>
            <a:r>
              <a:rPr lang="fr-CA" dirty="0"/>
              <a:t>Mesure de la contrepartie et estimation des rendus sont raisonnablement sûres</a:t>
            </a:r>
          </a:p>
          <a:p>
            <a:endParaRPr lang="fr-CA" dirty="0"/>
          </a:p>
          <a:p>
            <a:r>
              <a:rPr lang="fr-CA" dirty="0"/>
              <a:t>Recouvrement final est raisonnablement sûr</a:t>
            </a:r>
          </a:p>
          <a:p>
            <a:pPr lvl="1"/>
            <a:r>
              <a:rPr lang="fr-CA" i="1" dirty="0"/>
              <a:t>provision mauvaises créances si produit déjà constaté</a:t>
            </a:r>
          </a:p>
          <a:p>
            <a:pPr lvl="1"/>
            <a:endParaRPr lang="fr-CA" i="1" dirty="0"/>
          </a:p>
          <a:p>
            <a:pPr marL="457200" lvl="1" indent="0">
              <a:buNone/>
            </a:pPr>
            <a:r>
              <a:rPr lang="fr-CA" i="1" dirty="0"/>
              <a:t>=&gt; </a:t>
            </a:r>
            <a:r>
              <a:rPr lang="fr-CA" i="1" dirty="0">
                <a:solidFill>
                  <a:srgbClr val="00B0F0"/>
                </a:solidFill>
              </a:rPr>
              <a:t>Votre solution doit analyser ces trois critères (application au cas)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a:t>
            </a:fld>
            <a:endParaRPr lang="fr-FR"/>
          </a:p>
        </p:txBody>
      </p:sp>
      <p:sp>
        <p:nvSpPr>
          <p:cNvPr id="5" name="Espace réservé du pied de page 4">
            <a:extLst>
              <a:ext uri="{FF2B5EF4-FFF2-40B4-BE49-F238E27FC236}">
                <a16:creationId xmlns:a16="http://schemas.microsoft.com/office/drawing/2014/main" id="{134DEF1D-294C-43D2-A92A-88707946A7B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7637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NCECF</a:t>
            </a:r>
            <a:br>
              <a:rPr lang="fr-CA" dirty="0"/>
            </a:br>
            <a:r>
              <a:rPr lang="fr-CA" sz="3100" dirty="0"/>
              <a:t>Prestation de services et contrats à long terme</a:t>
            </a:r>
            <a:endParaRPr lang="fr-CA" dirty="0"/>
          </a:p>
        </p:txBody>
      </p:sp>
      <p:sp>
        <p:nvSpPr>
          <p:cNvPr id="3" name="Espace réservé du contenu 2"/>
          <p:cNvSpPr>
            <a:spLocks noGrp="1"/>
          </p:cNvSpPr>
          <p:nvPr>
            <p:ph idx="1"/>
          </p:nvPr>
        </p:nvSpPr>
        <p:spPr>
          <a:xfrm>
            <a:off x="838200" y="2011681"/>
            <a:ext cx="10515600" cy="4114483"/>
          </a:xfrm>
        </p:spPr>
        <p:txBody>
          <a:bodyPr>
            <a:normAutofit/>
          </a:bodyPr>
          <a:lstStyle/>
          <a:p>
            <a:pPr marL="0" indent="0">
              <a:buNone/>
            </a:pPr>
            <a:r>
              <a:rPr lang="fr-CA" dirty="0"/>
              <a:t>Méthode de l’avancement des travaux</a:t>
            </a:r>
          </a:p>
          <a:p>
            <a:r>
              <a:rPr lang="fr-CA" dirty="0"/>
              <a:t>Choix à privilégier</a:t>
            </a:r>
          </a:p>
          <a:p>
            <a:pPr lvl="1"/>
            <a:r>
              <a:rPr lang="fr-CA" dirty="0"/>
              <a:t>Différentes façons de déterminer le degré d’avancement</a:t>
            </a:r>
          </a:p>
          <a:p>
            <a:pPr lvl="2"/>
            <a:r>
              <a:rPr lang="fr-CA" dirty="0"/>
              <a:t>Linéaire acceptable</a:t>
            </a:r>
          </a:p>
          <a:p>
            <a:pPr marL="457200" lvl="1" indent="0">
              <a:buNone/>
            </a:pPr>
            <a:endParaRPr lang="fr-CA" dirty="0"/>
          </a:p>
          <a:p>
            <a:pPr marL="0" indent="0">
              <a:buNone/>
            </a:pPr>
            <a:r>
              <a:rPr lang="fr-CA" dirty="0"/>
              <a:t>Méthode de l’achèvement des travaux</a:t>
            </a:r>
          </a:p>
          <a:p>
            <a:r>
              <a:rPr lang="fr-CA" sz="2600" dirty="0"/>
              <a:t>Lorsque l’exécution de la prestation réside dans la réalisation d’un seul acte</a:t>
            </a:r>
          </a:p>
          <a:p>
            <a:r>
              <a:rPr lang="fr-CA" sz="2600" dirty="0"/>
              <a:t>Lorsque l’entreprise ne peut raisonnablement estimer le degré d’avancement des travaux</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a:t>
            </a:fld>
            <a:endParaRPr lang="fr-FR"/>
          </a:p>
        </p:txBody>
      </p:sp>
      <p:sp>
        <p:nvSpPr>
          <p:cNvPr id="5" name="Espace réservé du pied de page 4">
            <a:extLst>
              <a:ext uri="{FF2B5EF4-FFF2-40B4-BE49-F238E27FC236}">
                <a16:creationId xmlns:a16="http://schemas.microsoft.com/office/drawing/2014/main" id="{7F67087B-8896-4E95-B22E-7B3AB481550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38313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Ristournes</a:t>
            </a:r>
          </a:p>
        </p:txBody>
      </p:sp>
      <p:sp>
        <p:nvSpPr>
          <p:cNvPr id="3" name="Espace réservé du contenu 2"/>
          <p:cNvSpPr>
            <a:spLocks noGrp="1"/>
          </p:cNvSpPr>
          <p:nvPr>
            <p:ph idx="1"/>
          </p:nvPr>
        </p:nvSpPr>
        <p:spPr/>
        <p:txBody>
          <a:bodyPr/>
          <a:lstStyle/>
          <a:p>
            <a:pPr marL="0" indent="0">
              <a:buNone/>
            </a:pPr>
            <a:r>
              <a:rPr lang="fr-CA" sz="2400" dirty="0"/>
              <a:t>Le grossiste DEF accorde des ristournes à ses distributeurs en fonction de leur volume d’achats </a:t>
            </a:r>
            <a:r>
              <a:rPr lang="fr-CA" sz="2400" i="1" dirty="0"/>
              <a:t>(rabais-volume)</a:t>
            </a:r>
          </a:p>
          <a:p>
            <a:pPr marL="0" indent="0">
              <a:buNone/>
            </a:pPr>
            <a:endParaRPr lang="fr-CA" sz="2400" dirty="0"/>
          </a:p>
          <a:p>
            <a:pPr>
              <a:buFont typeface="Wingdings" panose="05000000000000000000" pitchFamily="2" charset="2"/>
              <a:buChar char="Ø"/>
            </a:pPr>
            <a:r>
              <a:rPr lang="fr-CA" sz="2400" dirty="0"/>
              <a:t>Provision en date du bilan?</a:t>
            </a:r>
          </a:p>
          <a:p>
            <a:pPr>
              <a:buFont typeface="Wingdings" panose="05000000000000000000" pitchFamily="2" charset="2"/>
              <a:buChar char="Ø"/>
            </a:pPr>
            <a:r>
              <a:rPr lang="fr-CA" sz="2400" dirty="0"/>
              <a:t>Présentation?</a:t>
            </a:r>
          </a:p>
          <a:p>
            <a:pPr>
              <a:buFont typeface="Wingdings" panose="05000000000000000000" pitchFamily="2" charset="2"/>
              <a:buChar char="Ø"/>
            </a:pPr>
            <a:endParaRPr lang="fr-CA" sz="24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a:t>
            </a:fld>
            <a:endParaRPr lang="fr-FR"/>
          </a:p>
        </p:txBody>
      </p:sp>
      <p:sp>
        <p:nvSpPr>
          <p:cNvPr id="5" name="Espace réservé du pied de page 4">
            <a:extLst>
              <a:ext uri="{FF2B5EF4-FFF2-40B4-BE49-F238E27FC236}">
                <a16:creationId xmlns:a16="http://schemas.microsoft.com/office/drawing/2014/main" id="{CE3841CA-F71C-483D-BC62-4D75CAA6A6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36271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Ristournes</a:t>
            </a:r>
          </a:p>
        </p:txBody>
      </p:sp>
      <p:sp>
        <p:nvSpPr>
          <p:cNvPr id="3" name="Espace réservé du contenu 2"/>
          <p:cNvSpPr>
            <a:spLocks noGrp="1"/>
          </p:cNvSpPr>
          <p:nvPr>
            <p:ph idx="1"/>
          </p:nvPr>
        </p:nvSpPr>
        <p:spPr/>
        <p:txBody>
          <a:bodyPr>
            <a:normAutofit/>
          </a:bodyPr>
          <a:lstStyle/>
          <a:p>
            <a:pPr marL="0" indent="0">
              <a:buNone/>
            </a:pPr>
            <a:r>
              <a:rPr lang="fr-CA" sz="2400" dirty="0"/>
              <a:t>Le grossiste DEF accorde des ristournes à ses distributeurs en fonction de leur volume d’achats</a:t>
            </a:r>
          </a:p>
          <a:p>
            <a:pPr marL="0" indent="0">
              <a:buNone/>
            </a:pPr>
            <a:endParaRPr lang="fr-CA" sz="2400" dirty="0"/>
          </a:p>
          <a:p>
            <a:pPr>
              <a:buFont typeface="Wingdings" panose="05000000000000000000" pitchFamily="2" charset="2"/>
              <a:buChar char="Ø"/>
            </a:pPr>
            <a:r>
              <a:rPr lang="fr-CA" sz="2400" dirty="0"/>
              <a:t>Provision en date du bilan?</a:t>
            </a:r>
          </a:p>
          <a:p>
            <a:pPr lvl="1">
              <a:buFont typeface="Wingdings" panose="05000000000000000000" pitchFamily="2" charset="2"/>
              <a:buChar char="Ø"/>
            </a:pPr>
            <a:r>
              <a:rPr lang="fr-CA" sz="2000" dirty="0"/>
              <a:t>Montant estimatif des ristournes futures</a:t>
            </a:r>
            <a:endParaRPr lang="fr-CA" dirty="0"/>
          </a:p>
          <a:p>
            <a:pPr lvl="2">
              <a:buFont typeface="Wingdings" panose="05000000000000000000" pitchFamily="2" charset="2"/>
              <a:buChar char="Ø"/>
            </a:pPr>
            <a:r>
              <a:rPr lang="fr-CA" dirty="0"/>
              <a:t>Ventes (ristournes)</a:t>
            </a:r>
          </a:p>
          <a:p>
            <a:pPr marL="914400" lvl="2" indent="0">
              <a:buNone/>
            </a:pPr>
            <a:r>
              <a:rPr lang="fr-CA" dirty="0"/>
              <a:t>    @ Provision ou créances</a:t>
            </a:r>
          </a:p>
          <a:p>
            <a:pPr marL="914400" lvl="2" indent="0">
              <a:buNone/>
            </a:pPr>
            <a:endParaRPr lang="fr-CA" dirty="0"/>
          </a:p>
          <a:p>
            <a:pPr>
              <a:buFont typeface="Wingdings" panose="05000000000000000000" pitchFamily="2" charset="2"/>
              <a:buChar char="Ø"/>
            </a:pPr>
            <a:r>
              <a:rPr lang="fr-CA" sz="2400" dirty="0"/>
              <a:t>Présentation?</a:t>
            </a:r>
          </a:p>
          <a:p>
            <a:pPr lvl="1">
              <a:buFont typeface="Wingdings" panose="05000000000000000000" pitchFamily="2" charset="2"/>
              <a:buChar char="Ø"/>
            </a:pPr>
            <a:r>
              <a:rPr lang="fr-CA" sz="2000" dirty="0"/>
              <a:t>Réduction des ventes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9</a:t>
            </a:fld>
            <a:endParaRPr lang="fr-FR"/>
          </a:p>
        </p:txBody>
      </p:sp>
      <p:sp>
        <p:nvSpPr>
          <p:cNvPr id="5" name="Espace réservé du pied de page 4">
            <a:extLst>
              <a:ext uri="{FF2B5EF4-FFF2-40B4-BE49-F238E27FC236}">
                <a16:creationId xmlns:a16="http://schemas.microsoft.com/office/drawing/2014/main" id="{C7FFE259-F8C9-4BA0-A787-1A431A3FD98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849175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Rabais</a:t>
            </a:r>
          </a:p>
        </p:txBody>
      </p:sp>
      <p:sp>
        <p:nvSpPr>
          <p:cNvPr id="3" name="Espace réservé du contenu 2"/>
          <p:cNvSpPr>
            <a:spLocks noGrp="1"/>
          </p:cNvSpPr>
          <p:nvPr>
            <p:ph idx="1"/>
          </p:nvPr>
        </p:nvSpPr>
        <p:spPr/>
        <p:txBody>
          <a:bodyPr>
            <a:normAutofit/>
          </a:bodyPr>
          <a:lstStyle/>
          <a:p>
            <a:pPr marL="0" indent="0">
              <a:buNone/>
            </a:pPr>
            <a:r>
              <a:rPr lang="fr-CA" sz="2400" dirty="0"/>
              <a:t>GHI vend une imprimante au prix de 150 000 $. Cette imprimante lui a coûté 60 000 $.</a:t>
            </a:r>
          </a:p>
          <a:p>
            <a:pPr marL="0" indent="0">
              <a:buNone/>
            </a:pPr>
            <a:r>
              <a:rPr lang="fr-CA" sz="2400" dirty="0"/>
              <a:t>Au moment de la livraison, le client découvre un léger défaut. GHI donne le choix au client de retourner l’imprimante contre un remboursement complet ou de bénéficier d’un escompte spécial de 30 000 $</a:t>
            </a:r>
          </a:p>
          <a:p>
            <a:pPr marL="0" indent="0">
              <a:buNone/>
            </a:pPr>
            <a:endParaRPr lang="fr-CA" sz="2400" dirty="0"/>
          </a:p>
          <a:p>
            <a:pPr>
              <a:buFont typeface="Wingdings" panose="05000000000000000000" pitchFamily="2" charset="2"/>
              <a:buChar char="Ø"/>
            </a:pPr>
            <a:r>
              <a:rPr lang="fr-CA" sz="2400" dirty="0"/>
              <a:t>	écritures comptables?</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10</a:t>
            </a:fld>
            <a:endParaRPr lang="fr-FR"/>
          </a:p>
        </p:txBody>
      </p:sp>
      <p:sp>
        <p:nvSpPr>
          <p:cNvPr id="5" name="Espace réservé du pied de page 4">
            <a:extLst>
              <a:ext uri="{FF2B5EF4-FFF2-40B4-BE49-F238E27FC236}">
                <a16:creationId xmlns:a16="http://schemas.microsoft.com/office/drawing/2014/main" id="{D14234FC-E438-4896-8B1A-671BD651163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12923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Rabais</a:t>
            </a:r>
          </a:p>
        </p:txBody>
      </p:sp>
      <p:sp>
        <p:nvSpPr>
          <p:cNvPr id="3" name="Espace réservé du contenu 2"/>
          <p:cNvSpPr>
            <a:spLocks noGrp="1"/>
          </p:cNvSpPr>
          <p:nvPr>
            <p:ph idx="1"/>
          </p:nvPr>
        </p:nvSpPr>
        <p:spPr/>
        <p:txBody>
          <a:bodyPr>
            <a:normAutofit fontScale="92500" lnSpcReduction="20000"/>
          </a:bodyPr>
          <a:lstStyle/>
          <a:p>
            <a:pPr>
              <a:buFont typeface="Wingdings" panose="05000000000000000000" pitchFamily="2" charset="2"/>
              <a:buChar char="Ø"/>
            </a:pPr>
            <a:r>
              <a:rPr lang="fr-CA" dirty="0"/>
              <a:t>Diminution des produits (et non une charge)</a:t>
            </a:r>
          </a:p>
          <a:p>
            <a:pPr>
              <a:buFont typeface="Wingdings" panose="05000000000000000000" pitchFamily="2" charset="2"/>
              <a:buChar char="Ø"/>
            </a:pPr>
            <a:endParaRPr lang="fr-CA" dirty="0"/>
          </a:p>
          <a:p>
            <a:pPr>
              <a:buFont typeface="Wingdings" panose="05000000000000000000" pitchFamily="2" charset="2"/>
              <a:buChar char="Ø"/>
            </a:pPr>
            <a:r>
              <a:rPr lang="fr-CA" dirty="0"/>
              <a:t>Si accepte l’escompte</a:t>
            </a:r>
          </a:p>
          <a:p>
            <a:pPr lvl="1">
              <a:buFont typeface="Wingdings" panose="05000000000000000000" pitchFamily="2" charset="2"/>
              <a:buChar char="Ø"/>
            </a:pPr>
            <a:r>
              <a:rPr lang="fr-CA" dirty="0"/>
              <a:t>Vente (escompte)			30 000</a:t>
            </a:r>
          </a:p>
          <a:p>
            <a:pPr marL="457200" lvl="1" indent="0">
              <a:buNone/>
            </a:pPr>
            <a:r>
              <a:rPr lang="fr-CA" dirty="0"/>
              <a:t>    @  Créances / trésorerie			30 000</a:t>
            </a:r>
          </a:p>
          <a:p>
            <a:pPr marL="457200" lvl="1" indent="0">
              <a:buNone/>
            </a:pPr>
            <a:endParaRPr lang="fr-CA" dirty="0"/>
          </a:p>
          <a:p>
            <a:pPr>
              <a:buFont typeface="Wingdings" panose="05000000000000000000" pitchFamily="2" charset="2"/>
              <a:buChar char="Ø"/>
            </a:pPr>
            <a:r>
              <a:rPr lang="fr-CA" dirty="0"/>
              <a:t>Si choisit de retourner l’imprimante</a:t>
            </a:r>
          </a:p>
          <a:p>
            <a:pPr lvl="1">
              <a:buFont typeface="Wingdings" panose="05000000000000000000" pitchFamily="2" charset="2"/>
              <a:buChar char="Ø"/>
            </a:pPr>
            <a:r>
              <a:rPr lang="fr-CA" dirty="0"/>
              <a:t>Vente 				150 000 </a:t>
            </a:r>
          </a:p>
          <a:p>
            <a:pPr marL="457200" lvl="1" indent="0">
              <a:buNone/>
            </a:pPr>
            <a:r>
              <a:rPr lang="fr-CA" dirty="0"/>
              <a:t>    @  Créances / trésorerie			150 000</a:t>
            </a:r>
          </a:p>
          <a:p>
            <a:pPr lvl="1">
              <a:buFont typeface="Wingdings" panose="05000000000000000000" pitchFamily="2" charset="2"/>
              <a:buChar char="Ø"/>
            </a:pPr>
            <a:r>
              <a:rPr lang="fr-CA" dirty="0"/>
              <a:t>Stocks				60 000</a:t>
            </a:r>
          </a:p>
          <a:p>
            <a:pPr marL="457200" lvl="1" indent="0">
              <a:buNone/>
            </a:pPr>
            <a:r>
              <a:rPr lang="fr-CA" dirty="0"/>
              <a:t>    @  Coût des ventes			60 000</a:t>
            </a:r>
          </a:p>
          <a:p>
            <a:pPr marL="1528763" lvl="1" indent="179388">
              <a:buFont typeface="Wingdings" panose="05000000000000000000" pitchFamily="2" charset="2"/>
              <a:buChar char="Ø"/>
            </a:pPr>
            <a:r>
              <a:rPr lang="fr-CA" dirty="0"/>
              <a:t>		parfois dépréciation requise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11</a:t>
            </a:fld>
            <a:endParaRPr lang="fr-FR"/>
          </a:p>
        </p:txBody>
      </p:sp>
      <p:sp>
        <p:nvSpPr>
          <p:cNvPr id="5" name="Espace réservé du pied de page 4">
            <a:extLst>
              <a:ext uri="{FF2B5EF4-FFF2-40B4-BE49-F238E27FC236}">
                <a16:creationId xmlns:a16="http://schemas.microsoft.com/office/drawing/2014/main" id="{0E445D5C-43BD-4491-8E01-F42D6E68931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765861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0050" name="Titre 1"/>
          <p:cNvSpPr>
            <a:spLocks noGrp="1"/>
          </p:cNvSpPr>
          <p:nvPr>
            <p:ph type="title"/>
          </p:nvPr>
        </p:nvSpPr>
        <p:spPr/>
        <p:txBody>
          <a:bodyPr>
            <a:normAutofit/>
          </a:bodyPr>
          <a:lstStyle/>
          <a:p>
            <a:r>
              <a:rPr lang="fr-CA" dirty="0">
                <a:latin typeface="Calibri" charset="0"/>
                <a:ea typeface="MS PGothic" charset="0"/>
                <a:cs typeface="MS PGothic" charset="0"/>
              </a:rPr>
              <a:t>Micro-cas – 1</a:t>
            </a:r>
            <a:br>
              <a:rPr lang="fr-CA" dirty="0">
                <a:latin typeface="Calibri" charset="0"/>
                <a:ea typeface="MS PGothic" charset="0"/>
                <a:cs typeface="MS PGothic" charset="0"/>
              </a:rPr>
            </a:br>
            <a:r>
              <a:rPr lang="fr-CA" sz="2400" dirty="0">
                <a:latin typeface="Calibri" charset="0"/>
                <a:ea typeface="MS PGothic" charset="0"/>
                <a:cs typeface="MS PGothic" charset="0"/>
              </a:rPr>
              <a:t>Préparer les écritures comptables</a:t>
            </a:r>
            <a:endParaRPr lang="fr-CA" dirty="0">
              <a:latin typeface="Calibri" charset="0"/>
              <a:ea typeface="MS PGothic" charset="0"/>
              <a:cs typeface="MS PGothic" charset="0"/>
            </a:endParaRPr>
          </a:p>
        </p:txBody>
      </p:sp>
      <p:sp>
        <p:nvSpPr>
          <p:cNvPr id="3" name="Espace réservé du contenu 2"/>
          <p:cNvSpPr>
            <a:spLocks noGrp="1"/>
          </p:cNvSpPr>
          <p:nvPr>
            <p:ph idx="1"/>
          </p:nvPr>
        </p:nvSpPr>
        <p:spPr/>
        <p:txBody>
          <a:bodyPr>
            <a:normAutofit/>
          </a:bodyPr>
          <a:lstStyle/>
          <a:p>
            <a:pPr marL="0" indent="0">
              <a:buNone/>
              <a:defRPr/>
            </a:pPr>
            <a:r>
              <a:rPr lang="fr-CA" dirty="0"/>
              <a:t>Un distributeur vend des livres. Les clients peuvent retourner les livres 90 jours après l’achat. Historiquement 20 % des ventes du distributeur font l’objet de retours.</a:t>
            </a:r>
          </a:p>
          <a:p>
            <a:pPr marL="0" indent="0">
              <a:buNone/>
              <a:defRPr/>
            </a:pPr>
            <a:r>
              <a:rPr lang="fr-CA" dirty="0"/>
              <a:t>Tous les retours peuvent être revendus au plein prix de détail. La marge sur les ventes de livres est de 60 %.</a:t>
            </a:r>
          </a:p>
          <a:p>
            <a:pPr marL="360363" indent="-3175">
              <a:buNone/>
              <a:defRPr/>
            </a:pPr>
            <a:r>
              <a:rPr lang="fr-CA" dirty="0"/>
              <a:t>Faites l’hypothèse que 1 000 livres ont été livrés au prix de 30 $ / unité (coût 12 $ / unité)</a:t>
            </a:r>
          </a:p>
          <a:p>
            <a:pPr marL="360363" indent="-360363">
              <a:buNone/>
              <a:defRPr/>
            </a:pPr>
            <a:endParaRPr lang="fr-CA" dirty="0"/>
          </a:p>
          <a:p>
            <a:pPr marL="457200" lvl="1" indent="0">
              <a:buNone/>
              <a:defRPr/>
            </a:pPr>
            <a:r>
              <a:rPr lang="fr-CA" dirty="0"/>
              <a:t>A) si retourne 20 % des livres?</a:t>
            </a:r>
          </a:p>
          <a:p>
            <a:pPr marL="457200" lvl="1" indent="0">
              <a:buNone/>
              <a:defRPr/>
            </a:pPr>
            <a:r>
              <a:rPr lang="fr-CA" dirty="0"/>
              <a:t>B) si ne retourne rien?</a:t>
            </a:r>
          </a:p>
        </p:txBody>
      </p:sp>
      <p:sp>
        <p:nvSpPr>
          <p:cNvPr id="130052"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4CA8E326-C5B4-1349-A890-3F973D8304AA}" type="slidenum">
              <a:rPr lang="fr-FR" sz="1200">
                <a:solidFill>
                  <a:srgbClr val="898989"/>
                </a:solidFill>
                <a:ea typeface="MS PGothic" charset="0"/>
                <a:cs typeface="MS PGothic" charset="0"/>
              </a:rPr>
              <a:pPr eaLnBrk="1" fontAlgn="base" hangingPunct="1">
                <a:spcBef>
                  <a:spcPct val="0"/>
                </a:spcBef>
                <a:spcAft>
                  <a:spcPct val="0"/>
                </a:spcAft>
              </a:pPr>
              <a:t>12</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F49B951D-D0BC-4A23-8906-2B499E62130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174212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Micro-cas 1 – solution A</a:t>
            </a:r>
          </a:p>
        </p:txBody>
      </p:sp>
      <p:sp>
        <p:nvSpPr>
          <p:cNvPr id="3" name="Espace réservé du contenu 2"/>
          <p:cNvSpPr>
            <a:spLocks noGrp="1"/>
          </p:cNvSpPr>
          <p:nvPr>
            <p:ph idx="1"/>
          </p:nvPr>
        </p:nvSpPr>
        <p:spPr/>
        <p:txBody>
          <a:bodyPr>
            <a:normAutofit fontScale="92500"/>
          </a:bodyPr>
          <a:lstStyle/>
          <a:p>
            <a:pPr marL="0" indent="0">
              <a:spcBef>
                <a:spcPts val="0"/>
              </a:spcBef>
              <a:buNone/>
            </a:pPr>
            <a:r>
              <a:rPr lang="fr-CA" sz="2400" dirty="0"/>
              <a:t>Clients					30 000</a:t>
            </a:r>
          </a:p>
          <a:p>
            <a:pPr marL="0" indent="0">
              <a:spcBef>
                <a:spcPts val="0"/>
              </a:spcBef>
              <a:buNone/>
            </a:pPr>
            <a:r>
              <a:rPr lang="fr-CA" sz="2400" dirty="0"/>
              <a:t>@ Produits					24 000</a:t>
            </a:r>
          </a:p>
          <a:p>
            <a:pPr marL="0" indent="0">
              <a:spcBef>
                <a:spcPts val="0"/>
              </a:spcBef>
              <a:buNone/>
            </a:pPr>
            <a:r>
              <a:rPr lang="fr-CA" sz="2400" dirty="0"/>
              <a:t>     Prov retours					  6 000 </a:t>
            </a:r>
            <a:r>
              <a:rPr lang="fr-CA" sz="2200" i="1" dirty="0"/>
              <a:t>(ou autre nom pour ce compte)</a:t>
            </a:r>
            <a:endParaRPr lang="fr-CA" sz="2400" i="1" dirty="0"/>
          </a:p>
          <a:p>
            <a:pPr marL="0" indent="0">
              <a:spcBef>
                <a:spcPts val="0"/>
              </a:spcBef>
              <a:buNone/>
            </a:pPr>
            <a:endParaRPr lang="fr-CA" sz="2400" dirty="0"/>
          </a:p>
          <a:p>
            <a:pPr marL="0" indent="0">
              <a:spcBef>
                <a:spcPts val="0"/>
              </a:spcBef>
              <a:buNone/>
            </a:pPr>
            <a:r>
              <a:rPr lang="fr-CA" sz="2400" dirty="0"/>
              <a:t>CMV </a:t>
            </a:r>
            <a:r>
              <a:rPr lang="fr-CA" sz="1800" dirty="0"/>
              <a:t>(800 unités)			</a:t>
            </a:r>
            <a:r>
              <a:rPr lang="fr-CA" sz="2400" dirty="0"/>
              <a:t>	  9 600</a:t>
            </a:r>
          </a:p>
          <a:p>
            <a:pPr marL="0" indent="0">
              <a:spcBef>
                <a:spcPts val="0"/>
              </a:spcBef>
              <a:buNone/>
            </a:pPr>
            <a:r>
              <a:rPr lang="fr-CA" sz="2400" dirty="0"/>
              <a:t>Produits à récupérer			  2 400</a:t>
            </a:r>
          </a:p>
          <a:p>
            <a:pPr marL="0" indent="0">
              <a:spcBef>
                <a:spcPts val="0"/>
              </a:spcBef>
              <a:buNone/>
            </a:pPr>
            <a:r>
              <a:rPr lang="fr-CA" sz="2400" dirty="0"/>
              <a:t>@  Stocks					12 000</a:t>
            </a:r>
          </a:p>
          <a:p>
            <a:pPr marL="0" indent="0">
              <a:spcBef>
                <a:spcPts val="0"/>
              </a:spcBef>
              <a:buNone/>
            </a:pPr>
            <a:r>
              <a:rPr lang="fr-CA" sz="2400" dirty="0"/>
              <a:t>-------------------------------------------------------</a:t>
            </a:r>
          </a:p>
          <a:p>
            <a:pPr marL="0" indent="0">
              <a:spcBef>
                <a:spcPts val="0"/>
              </a:spcBef>
              <a:buNone/>
            </a:pPr>
            <a:endParaRPr lang="fr-CA" sz="2400" dirty="0"/>
          </a:p>
          <a:p>
            <a:pPr marL="0" indent="0">
              <a:spcBef>
                <a:spcPts val="0"/>
              </a:spcBef>
              <a:buNone/>
            </a:pPr>
            <a:r>
              <a:rPr lang="fr-CA" sz="2400" dirty="0"/>
              <a:t>Stocks </a:t>
            </a:r>
            <a:r>
              <a:rPr lang="fr-CA" sz="1800" dirty="0"/>
              <a:t>(200 unités)</a:t>
            </a:r>
            <a:r>
              <a:rPr lang="fr-CA" sz="2400" dirty="0"/>
              <a:t>				  2 400</a:t>
            </a:r>
          </a:p>
          <a:p>
            <a:pPr marL="0" indent="0">
              <a:spcBef>
                <a:spcPts val="0"/>
              </a:spcBef>
              <a:buNone/>
            </a:pPr>
            <a:r>
              <a:rPr lang="fr-CA" sz="2400" dirty="0"/>
              <a:t>@  Produits à récupérer				  2 400</a:t>
            </a:r>
          </a:p>
          <a:p>
            <a:pPr marL="0" indent="0">
              <a:spcBef>
                <a:spcPts val="0"/>
              </a:spcBef>
              <a:buNone/>
            </a:pPr>
            <a:endParaRPr lang="fr-CA" sz="2400" dirty="0"/>
          </a:p>
          <a:p>
            <a:pPr marL="0" indent="0">
              <a:spcBef>
                <a:spcPts val="0"/>
              </a:spcBef>
              <a:buNone/>
            </a:pPr>
            <a:r>
              <a:rPr lang="fr-CA" sz="2400" dirty="0"/>
              <a:t>Provision retours			  6 000</a:t>
            </a:r>
          </a:p>
          <a:p>
            <a:pPr marL="0" indent="0">
              <a:spcBef>
                <a:spcPts val="0"/>
              </a:spcBef>
              <a:buNone/>
            </a:pPr>
            <a:r>
              <a:rPr lang="fr-CA" sz="2400" dirty="0"/>
              <a:t>@  Clients					6 000</a:t>
            </a:r>
          </a:p>
          <a:p>
            <a:pPr marL="0" indent="0">
              <a:spcBef>
                <a:spcPts val="0"/>
              </a:spcBef>
              <a:buNone/>
            </a:pPr>
            <a:endParaRPr lang="fr-CA" sz="2400" dirty="0"/>
          </a:p>
          <a:p>
            <a:pPr marL="0" indent="0">
              <a:spcBef>
                <a:spcPts val="0"/>
              </a:spcBef>
              <a:buNone/>
            </a:pPr>
            <a:endParaRPr lang="fr-CA" sz="2400" dirty="0"/>
          </a:p>
          <a:p>
            <a:pPr marL="0" indent="0">
              <a:spcBef>
                <a:spcPts val="0"/>
              </a:spcBef>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a:t>
            </a:fld>
            <a:endParaRPr lang="fr-FR"/>
          </a:p>
        </p:txBody>
      </p:sp>
      <p:sp>
        <p:nvSpPr>
          <p:cNvPr id="5" name="Espace réservé du pied de page 4">
            <a:extLst>
              <a:ext uri="{FF2B5EF4-FFF2-40B4-BE49-F238E27FC236}">
                <a16:creationId xmlns:a16="http://schemas.microsoft.com/office/drawing/2014/main" id="{CB47223F-3E87-438B-8923-3621E7AFAB1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84236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Micro-cas 1 – solution B</a:t>
            </a:r>
          </a:p>
        </p:txBody>
      </p:sp>
      <p:sp>
        <p:nvSpPr>
          <p:cNvPr id="3" name="Espace réservé du contenu 2"/>
          <p:cNvSpPr>
            <a:spLocks noGrp="1"/>
          </p:cNvSpPr>
          <p:nvPr>
            <p:ph idx="1"/>
          </p:nvPr>
        </p:nvSpPr>
        <p:spPr/>
        <p:txBody>
          <a:bodyPr>
            <a:normAutofit lnSpcReduction="10000"/>
          </a:bodyPr>
          <a:lstStyle/>
          <a:p>
            <a:pPr marL="0" indent="0">
              <a:spcBef>
                <a:spcPts val="0"/>
              </a:spcBef>
              <a:buNone/>
            </a:pPr>
            <a:r>
              <a:rPr lang="fr-CA" sz="2400" dirty="0"/>
              <a:t>Clients					30 000</a:t>
            </a:r>
          </a:p>
          <a:p>
            <a:pPr marL="0" indent="0">
              <a:spcBef>
                <a:spcPts val="0"/>
              </a:spcBef>
              <a:buNone/>
            </a:pPr>
            <a:r>
              <a:rPr lang="fr-CA" sz="2400" dirty="0"/>
              <a:t>@ Produits						24 000</a:t>
            </a:r>
          </a:p>
          <a:p>
            <a:pPr marL="0" indent="0">
              <a:spcBef>
                <a:spcPts val="0"/>
              </a:spcBef>
              <a:buNone/>
            </a:pPr>
            <a:r>
              <a:rPr lang="fr-CA" sz="2400" dirty="0"/>
              <a:t>     </a:t>
            </a:r>
            <a:r>
              <a:rPr lang="fr-CA" sz="2400" dirty="0" err="1"/>
              <a:t>Prov</a:t>
            </a:r>
            <a:r>
              <a:rPr lang="fr-CA" sz="2400" dirty="0"/>
              <a:t> retours					  6 000</a:t>
            </a:r>
          </a:p>
          <a:p>
            <a:pPr marL="0" indent="0">
              <a:spcBef>
                <a:spcPts val="0"/>
              </a:spcBef>
              <a:buNone/>
            </a:pPr>
            <a:endParaRPr lang="fr-CA" sz="2400" dirty="0"/>
          </a:p>
          <a:p>
            <a:pPr marL="0" indent="0">
              <a:spcBef>
                <a:spcPts val="0"/>
              </a:spcBef>
              <a:buNone/>
            </a:pPr>
            <a:r>
              <a:rPr lang="fr-CA" sz="2400" dirty="0"/>
              <a:t>CMV </a:t>
            </a:r>
            <a:r>
              <a:rPr lang="fr-CA" sz="1800" dirty="0"/>
              <a:t>(800 unités)			</a:t>
            </a:r>
            <a:r>
              <a:rPr lang="fr-CA" sz="2400" dirty="0"/>
              <a:t>	  9 600</a:t>
            </a:r>
          </a:p>
          <a:p>
            <a:pPr marL="0" indent="0">
              <a:spcBef>
                <a:spcPts val="0"/>
              </a:spcBef>
              <a:buNone/>
            </a:pPr>
            <a:r>
              <a:rPr lang="fr-CA" sz="2400" dirty="0"/>
              <a:t>Produits à récupérer			  2 400</a:t>
            </a:r>
          </a:p>
          <a:p>
            <a:pPr marL="0" indent="0">
              <a:spcBef>
                <a:spcPts val="0"/>
              </a:spcBef>
              <a:buNone/>
            </a:pPr>
            <a:r>
              <a:rPr lang="fr-CA" sz="2400" dirty="0"/>
              <a:t>@  Stocks						12 000</a:t>
            </a:r>
          </a:p>
          <a:p>
            <a:pPr marL="0" indent="0">
              <a:spcBef>
                <a:spcPts val="0"/>
              </a:spcBef>
              <a:buNone/>
            </a:pPr>
            <a:r>
              <a:rPr lang="fr-CA" sz="2400" dirty="0"/>
              <a:t>---------------------------------------------------</a:t>
            </a:r>
          </a:p>
          <a:p>
            <a:pPr marL="0" indent="0">
              <a:spcBef>
                <a:spcPts val="0"/>
              </a:spcBef>
              <a:buNone/>
            </a:pPr>
            <a:endParaRPr lang="fr-CA" sz="2400" dirty="0"/>
          </a:p>
          <a:p>
            <a:pPr marL="0" indent="0">
              <a:spcBef>
                <a:spcPts val="0"/>
              </a:spcBef>
              <a:buNone/>
            </a:pPr>
            <a:r>
              <a:rPr lang="fr-CA" sz="2400" dirty="0"/>
              <a:t>Provision retours			  6 000</a:t>
            </a:r>
          </a:p>
          <a:p>
            <a:pPr marL="0" indent="0">
              <a:spcBef>
                <a:spcPts val="0"/>
              </a:spcBef>
              <a:buNone/>
            </a:pPr>
            <a:r>
              <a:rPr lang="fr-CA" sz="2400" dirty="0"/>
              <a:t>@  Ventes						6 000</a:t>
            </a:r>
          </a:p>
          <a:p>
            <a:pPr marL="0" indent="0">
              <a:spcBef>
                <a:spcPts val="0"/>
              </a:spcBef>
              <a:buNone/>
            </a:pPr>
            <a:endParaRPr lang="fr-CA" sz="2400" dirty="0"/>
          </a:p>
          <a:p>
            <a:pPr marL="0" indent="0">
              <a:spcBef>
                <a:spcPts val="0"/>
              </a:spcBef>
              <a:buNone/>
            </a:pPr>
            <a:r>
              <a:rPr lang="fr-CA" sz="2400" dirty="0"/>
              <a:t>CMV </a:t>
            </a:r>
            <a:r>
              <a:rPr lang="fr-CA" sz="1800" dirty="0"/>
              <a:t>(200 unités)			</a:t>
            </a:r>
            <a:r>
              <a:rPr lang="fr-CA" sz="2400" dirty="0"/>
              <a:t>	  2 400</a:t>
            </a:r>
          </a:p>
          <a:p>
            <a:pPr marL="0" indent="0">
              <a:spcBef>
                <a:spcPts val="0"/>
              </a:spcBef>
              <a:buNone/>
            </a:pPr>
            <a:r>
              <a:rPr lang="fr-CA" sz="2400" dirty="0"/>
              <a:t>@   Produits à récupérer				  2 400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14</a:t>
            </a:fld>
            <a:endParaRPr lang="fr-FR"/>
          </a:p>
        </p:txBody>
      </p:sp>
      <p:sp>
        <p:nvSpPr>
          <p:cNvPr id="5" name="Espace réservé du pied de page 4">
            <a:extLst>
              <a:ext uri="{FF2B5EF4-FFF2-40B4-BE49-F238E27FC236}">
                <a16:creationId xmlns:a16="http://schemas.microsoft.com/office/drawing/2014/main" id="{21A8B745-2E69-488C-9645-BAF7177545F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626331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3122" name="Titre 1"/>
          <p:cNvSpPr>
            <a:spLocks noGrp="1"/>
          </p:cNvSpPr>
          <p:nvPr>
            <p:ph type="title"/>
          </p:nvPr>
        </p:nvSpPr>
        <p:spPr/>
        <p:txBody>
          <a:bodyPr>
            <a:normAutofit/>
          </a:bodyPr>
          <a:lstStyle/>
          <a:p>
            <a:r>
              <a:rPr lang="fr-CA" dirty="0">
                <a:latin typeface="Calibri" charset="0"/>
                <a:ea typeface="MS PGothic" charset="0"/>
                <a:cs typeface="MS PGothic" charset="0"/>
              </a:rPr>
              <a:t>Micro-cas – 2</a:t>
            </a:r>
            <a:br>
              <a:rPr lang="fr-CA" dirty="0">
                <a:latin typeface="Calibri" charset="0"/>
                <a:ea typeface="MS PGothic" charset="0"/>
                <a:cs typeface="MS PGothic" charset="0"/>
              </a:rPr>
            </a:br>
            <a:r>
              <a:rPr lang="fr-CA" sz="2700" dirty="0">
                <a:latin typeface="Calibri" charset="0"/>
                <a:ea typeface="MS PGothic" charset="0"/>
                <a:cs typeface="MS PGothic" charset="0"/>
              </a:rPr>
              <a:t>Préparer les écritures comptables</a:t>
            </a:r>
          </a:p>
        </p:txBody>
      </p:sp>
      <p:sp>
        <p:nvSpPr>
          <p:cNvPr id="133123" name="Espace réservé du contenu 2"/>
          <p:cNvSpPr>
            <a:spLocks noGrp="1"/>
          </p:cNvSpPr>
          <p:nvPr>
            <p:ph idx="1"/>
          </p:nvPr>
        </p:nvSpPr>
        <p:spPr/>
        <p:txBody>
          <a:bodyPr>
            <a:normAutofit/>
          </a:bodyPr>
          <a:lstStyle/>
          <a:p>
            <a:r>
              <a:rPr lang="fr-CA" sz="2400" dirty="0">
                <a:latin typeface="Calibri" charset="0"/>
                <a:ea typeface="MS PGothic" charset="0"/>
                <a:cs typeface="MS PGothic" charset="0"/>
              </a:rPr>
              <a:t>Une épicerie a un programme de fidélité donnant droit à des points – programme « maison » et non de tiers</a:t>
            </a:r>
            <a:r>
              <a:rPr lang="fr-CA" sz="2000" dirty="0">
                <a:latin typeface="Calibri" charset="0"/>
                <a:ea typeface="MS PGothic" charset="0"/>
                <a:cs typeface="MS PGothic" charset="0"/>
              </a:rPr>
              <a:t> (serait un compte à payer) </a:t>
            </a:r>
            <a:endParaRPr lang="fr-CA" sz="2400" dirty="0">
              <a:latin typeface="Calibri" charset="0"/>
              <a:ea typeface="MS PGothic" charset="0"/>
              <a:cs typeface="MS PGothic" charset="0"/>
            </a:endParaRPr>
          </a:p>
          <a:p>
            <a:pPr lvl="1"/>
            <a:r>
              <a:rPr lang="fr-CA" sz="2000" dirty="0">
                <a:latin typeface="Calibri" charset="0"/>
                <a:ea typeface="MS PGothic" charset="0"/>
                <a:cs typeface="MS PGothic" charset="0"/>
              </a:rPr>
              <a:t>Ratio des points est de 1 point par tranche de 10 $ de ventes. </a:t>
            </a:r>
          </a:p>
          <a:p>
            <a:pPr lvl="1"/>
            <a:r>
              <a:rPr lang="fr-CA" sz="2000" dirty="0">
                <a:latin typeface="Calibri" charset="0"/>
                <a:ea typeface="MS PGothic" charset="0"/>
                <a:cs typeface="MS PGothic" charset="0"/>
              </a:rPr>
              <a:t>L’historique de réclamation des points s’élève à 85 %. </a:t>
            </a:r>
          </a:p>
          <a:p>
            <a:pPr lvl="1"/>
            <a:r>
              <a:rPr lang="fr-CA" sz="2000" dirty="0">
                <a:latin typeface="Calibri" charset="0"/>
                <a:ea typeface="MS PGothic" charset="0"/>
                <a:cs typeface="MS PGothic" charset="0"/>
              </a:rPr>
              <a:t>La valeur de chaque point est estimée à 0,90 $</a:t>
            </a:r>
          </a:p>
          <a:p>
            <a:pPr lvl="1"/>
            <a:endParaRPr lang="fr-CA" sz="2000" dirty="0">
              <a:latin typeface="Calibri" charset="0"/>
              <a:ea typeface="MS PGothic" charset="0"/>
              <a:cs typeface="MS PGothic" charset="0"/>
            </a:endParaRPr>
          </a:p>
          <a:p>
            <a:pPr lvl="1"/>
            <a:endParaRPr lang="fr-CA" sz="2000" dirty="0">
              <a:latin typeface="Calibri" charset="0"/>
              <a:ea typeface="MS PGothic" charset="0"/>
              <a:cs typeface="MS PGothic" charset="0"/>
            </a:endParaRPr>
          </a:p>
          <a:p>
            <a:pPr marL="457200" lvl="1" indent="0">
              <a:buNone/>
            </a:pPr>
            <a:r>
              <a:rPr lang="fr-CA" sz="2000" dirty="0">
                <a:latin typeface="Calibri" charset="0"/>
                <a:ea typeface="MS PGothic" charset="0"/>
                <a:cs typeface="MS PGothic" charset="0"/>
              </a:rPr>
              <a:t>Faite le calcul avec des ventes de 1 000 $</a:t>
            </a:r>
          </a:p>
          <a:p>
            <a:pPr lvl="1"/>
            <a:endParaRPr lang="fr-CA" sz="2000" dirty="0">
              <a:latin typeface="Calibri" charset="0"/>
              <a:ea typeface="MS PGothic" charset="0"/>
              <a:cs typeface="MS PGothic" charset="0"/>
            </a:endParaRPr>
          </a:p>
          <a:p>
            <a:pPr marL="457200" lvl="1" indent="0">
              <a:buNone/>
            </a:pPr>
            <a:r>
              <a:rPr lang="fr-CA" sz="2000" dirty="0">
                <a:latin typeface="Calibri" charset="0"/>
                <a:ea typeface="MS PGothic" charset="0"/>
                <a:cs typeface="MS PGothic" charset="0"/>
              </a:rPr>
              <a:t>B) si utilise les points pour un achat de 50 $, coût des produits 40 $?</a:t>
            </a:r>
            <a:endParaRPr lang="fr-CA" dirty="0">
              <a:latin typeface="Calibri" charset="0"/>
              <a:ea typeface="MS PGothic" charset="0"/>
              <a:cs typeface="MS PGothic" charset="0"/>
            </a:endParaRPr>
          </a:p>
        </p:txBody>
      </p:sp>
      <p:sp>
        <p:nvSpPr>
          <p:cNvPr id="133124"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38C3175A-9772-5741-9856-837094E133F6}" type="slidenum">
              <a:rPr lang="fr-FR" sz="1200">
                <a:solidFill>
                  <a:srgbClr val="898989"/>
                </a:solidFill>
                <a:ea typeface="MS PGothic" charset="0"/>
                <a:cs typeface="MS PGothic" charset="0"/>
              </a:rPr>
              <a:pPr eaLnBrk="1" fontAlgn="base" hangingPunct="1">
                <a:spcBef>
                  <a:spcPct val="0"/>
                </a:spcBef>
                <a:spcAft>
                  <a:spcPct val="0"/>
                </a:spcAft>
              </a:pPr>
              <a:t>15</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C997161E-E572-46F2-93B1-547F87211B2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91184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Micro-cas 2 – solution</a:t>
            </a:r>
          </a:p>
        </p:txBody>
      </p:sp>
      <p:sp>
        <p:nvSpPr>
          <p:cNvPr id="3" name="Espace réservé du contenu 2"/>
          <p:cNvSpPr>
            <a:spLocks noGrp="1"/>
          </p:cNvSpPr>
          <p:nvPr>
            <p:ph idx="1"/>
          </p:nvPr>
        </p:nvSpPr>
        <p:spPr/>
        <p:txBody>
          <a:bodyPr>
            <a:normAutofit/>
          </a:bodyPr>
          <a:lstStyle/>
          <a:p>
            <a:pPr marL="0" indent="0">
              <a:spcBef>
                <a:spcPts val="0"/>
              </a:spcBef>
              <a:buNone/>
            </a:pPr>
            <a:r>
              <a:rPr lang="fr-CA" sz="2400" dirty="0"/>
              <a:t>Encaisse					  1 000</a:t>
            </a:r>
          </a:p>
          <a:p>
            <a:pPr marL="0" indent="0">
              <a:spcBef>
                <a:spcPts val="0"/>
              </a:spcBef>
              <a:buNone/>
            </a:pPr>
            <a:r>
              <a:rPr lang="fr-CA" sz="2400" dirty="0"/>
              <a:t>@ Produits							924</a:t>
            </a:r>
          </a:p>
          <a:p>
            <a:pPr marL="0" indent="0">
              <a:spcBef>
                <a:spcPts val="0"/>
              </a:spcBef>
              <a:buNone/>
            </a:pPr>
            <a:r>
              <a:rPr lang="fr-CA" sz="2400" dirty="0"/>
              <a:t>     Produits différés						  76</a:t>
            </a:r>
          </a:p>
          <a:p>
            <a:pPr marL="0" indent="0">
              <a:spcBef>
                <a:spcPts val="0"/>
              </a:spcBef>
              <a:buNone/>
            </a:pPr>
            <a:endParaRPr lang="fr-CA" sz="2400" dirty="0"/>
          </a:p>
          <a:p>
            <a:pPr marL="0" indent="0">
              <a:spcBef>
                <a:spcPts val="0"/>
              </a:spcBef>
              <a:buNone/>
            </a:pPr>
            <a:r>
              <a:rPr lang="fr-CA" sz="2400" dirty="0"/>
              <a:t>-------------------------------------------------</a:t>
            </a:r>
          </a:p>
          <a:p>
            <a:pPr marL="0" indent="0">
              <a:spcBef>
                <a:spcPts val="0"/>
              </a:spcBef>
              <a:buNone/>
            </a:pPr>
            <a:endParaRPr lang="fr-CA" sz="2400" dirty="0"/>
          </a:p>
          <a:p>
            <a:pPr marL="0" indent="0">
              <a:spcBef>
                <a:spcPts val="0"/>
              </a:spcBef>
              <a:buNone/>
            </a:pPr>
            <a:r>
              <a:rPr lang="fr-CA" sz="2400" dirty="0"/>
              <a:t>Produits différés					50</a:t>
            </a:r>
          </a:p>
          <a:p>
            <a:pPr marL="0" indent="0">
              <a:spcBef>
                <a:spcPts val="0"/>
              </a:spcBef>
              <a:buNone/>
            </a:pPr>
            <a:r>
              <a:rPr lang="fr-CA" sz="2400" dirty="0"/>
              <a:t>@  Produits							50</a:t>
            </a:r>
          </a:p>
          <a:p>
            <a:pPr marL="0" indent="0">
              <a:spcBef>
                <a:spcPts val="0"/>
              </a:spcBef>
              <a:buNone/>
            </a:pPr>
            <a:endParaRPr lang="fr-CA" sz="2400" dirty="0"/>
          </a:p>
          <a:p>
            <a:pPr marL="0" indent="0">
              <a:spcBef>
                <a:spcPts val="0"/>
              </a:spcBef>
              <a:buNone/>
            </a:pPr>
            <a:r>
              <a:rPr lang="fr-CA" sz="2400" dirty="0"/>
              <a:t>CMV							40</a:t>
            </a:r>
          </a:p>
          <a:p>
            <a:pPr marL="0" indent="0">
              <a:spcBef>
                <a:spcPts val="0"/>
              </a:spcBef>
              <a:buNone/>
            </a:pPr>
            <a:r>
              <a:rPr lang="fr-CA" sz="2400" dirty="0"/>
              <a:t>@  Stocks							40</a:t>
            </a:r>
          </a:p>
          <a:p>
            <a:pPr marL="0" indent="0">
              <a:spcBef>
                <a:spcPts val="0"/>
              </a:spcBef>
              <a:buNone/>
            </a:pPr>
            <a:endParaRPr lang="fr-CA" sz="2400" dirty="0"/>
          </a:p>
          <a:p>
            <a:pPr marL="0" indent="0">
              <a:spcBef>
                <a:spcPts val="0"/>
              </a:spcBef>
              <a:buNone/>
            </a:pPr>
            <a:endParaRPr lang="fr-CA" sz="24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16</a:t>
            </a:fld>
            <a:endParaRPr lang="fr-FR"/>
          </a:p>
        </p:txBody>
      </p:sp>
      <p:sp>
        <p:nvSpPr>
          <p:cNvPr id="5" name="Espace réservé du pied de page 4">
            <a:extLst>
              <a:ext uri="{FF2B5EF4-FFF2-40B4-BE49-F238E27FC236}">
                <a16:creationId xmlns:a16="http://schemas.microsoft.com/office/drawing/2014/main" id="{E761EBBD-C8E7-46A4-A8C5-A99EE4821E4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067316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35170" name="Titre 1"/>
          <p:cNvSpPr>
            <a:spLocks noGrp="1"/>
          </p:cNvSpPr>
          <p:nvPr>
            <p:ph type="title"/>
          </p:nvPr>
        </p:nvSpPr>
        <p:spPr/>
        <p:txBody>
          <a:bodyPr>
            <a:normAutofit/>
          </a:bodyPr>
          <a:lstStyle/>
          <a:p>
            <a:r>
              <a:rPr lang="fr-CA" dirty="0">
                <a:latin typeface="Calibri" charset="0"/>
                <a:ea typeface="MS PGothic" charset="0"/>
                <a:cs typeface="MS PGothic" charset="0"/>
              </a:rPr>
              <a:t>Micro-cas – 3</a:t>
            </a:r>
            <a:br>
              <a:rPr lang="fr-CA" dirty="0">
                <a:latin typeface="Calibri" charset="0"/>
                <a:ea typeface="MS PGothic" charset="0"/>
                <a:cs typeface="MS PGothic" charset="0"/>
              </a:rPr>
            </a:br>
            <a:r>
              <a:rPr lang="fr-CA" sz="2700" dirty="0">
                <a:latin typeface="Calibri" charset="0"/>
                <a:ea typeface="MS PGothic" charset="0"/>
                <a:cs typeface="MS PGothic" charset="0"/>
              </a:rPr>
              <a:t>Préparer les écritures comptables</a:t>
            </a:r>
          </a:p>
        </p:txBody>
      </p:sp>
      <p:sp>
        <p:nvSpPr>
          <p:cNvPr id="3" name="Espace réservé du contenu 2"/>
          <p:cNvSpPr>
            <a:spLocks noGrp="1"/>
          </p:cNvSpPr>
          <p:nvPr>
            <p:ph idx="1"/>
          </p:nvPr>
        </p:nvSpPr>
        <p:spPr/>
        <p:txBody>
          <a:bodyPr/>
          <a:lstStyle/>
          <a:p>
            <a:pPr marL="0" indent="0">
              <a:buNone/>
              <a:defRPr/>
            </a:pPr>
            <a:r>
              <a:rPr lang="fr-CA" sz="2400" dirty="0"/>
              <a:t>Le 31 décembre 2019, Concessionnaire ABC vend une voiture pour un montant de 28 000 $, incluant un contrat d’entretien pour une période de deux ans </a:t>
            </a:r>
            <a:r>
              <a:rPr lang="fr-CA" sz="2000" dirty="0"/>
              <a:t>(4 entretiens prévus)</a:t>
            </a:r>
            <a:r>
              <a:rPr lang="fr-CA" sz="2400" dirty="0"/>
              <a:t>.</a:t>
            </a:r>
          </a:p>
          <a:p>
            <a:pPr marL="355600" indent="0">
              <a:buNone/>
              <a:defRPr/>
            </a:pPr>
            <a:r>
              <a:rPr lang="fr-CA" sz="2400" dirty="0"/>
              <a:t>Si la voiture avait été vendue sans contrat d’entretien, le prix aurait été de 27 500 $; de même si le contrat d’entretien avait été vendu séparément, son coût aurait été de 1 000 $.</a:t>
            </a:r>
          </a:p>
          <a:p>
            <a:pPr marL="355600" indent="0">
              <a:buNone/>
              <a:defRPr/>
            </a:pPr>
            <a:endParaRPr lang="fr-CA" sz="2400" dirty="0"/>
          </a:p>
          <a:p>
            <a:pPr marL="355600" indent="0">
              <a:buNone/>
              <a:defRPr/>
            </a:pPr>
            <a:r>
              <a:rPr lang="fr-CA" sz="2400" dirty="0"/>
              <a:t>B) Au 30 juin, fait un entretien d’une valeur de 250 $</a:t>
            </a:r>
            <a:endParaRPr lang="fr-CA" dirty="0"/>
          </a:p>
        </p:txBody>
      </p:sp>
      <p:sp>
        <p:nvSpPr>
          <p:cNvPr id="135172" name="Espace réservé du numéro de diapositive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fontAlgn="base" hangingPunct="1">
              <a:spcBef>
                <a:spcPct val="0"/>
              </a:spcBef>
              <a:spcAft>
                <a:spcPct val="0"/>
              </a:spcAft>
            </a:pPr>
            <a:fld id="{8E02681B-47E1-C948-A328-DC37FB3DC916}" type="slidenum">
              <a:rPr lang="fr-FR" sz="1200">
                <a:solidFill>
                  <a:srgbClr val="898989"/>
                </a:solidFill>
                <a:ea typeface="MS PGothic" charset="0"/>
                <a:cs typeface="MS PGothic" charset="0"/>
              </a:rPr>
              <a:pPr eaLnBrk="1" fontAlgn="base" hangingPunct="1">
                <a:spcBef>
                  <a:spcPct val="0"/>
                </a:spcBef>
                <a:spcAft>
                  <a:spcPct val="0"/>
                </a:spcAft>
              </a:pPr>
              <a:t>17</a:t>
            </a:fld>
            <a:endParaRPr lang="fr-FR" sz="1200">
              <a:solidFill>
                <a:srgbClr val="898989"/>
              </a:solidFill>
              <a:ea typeface="MS PGothic" charset="0"/>
              <a:cs typeface="MS PGothic" charset="0"/>
            </a:endParaRPr>
          </a:p>
        </p:txBody>
      </p:sp>
      <p:sp>
        <p:nvSpPr>
          <p:cNvPr id="2" name="Espace réservé du pied de page 1">
            <a:extLst>
              <a:ext uri="{FF2B5EF4-FFF2-40B4-BE49-F238E27FC236}">
                <a16:creationId xmlns:a16="http://schemas.microsoft.com/office/drawing/2014/main" id="{615FC43D-7562-463E-BC60-4D8E3ACBE72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808717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Micro-cas 3 – solution</a:t>
            </a:r>
          </a:p>
        </p:txBody>
      </p:sp>
      <p:sp>
        <p:nvSpPr>
          <p:cNvPr id="3" name="Espace réservé du contenu 2"/>
          <p:cNvSpPr>
            <a:spLocks noGrp="1"/>
          </p:cNvSpPr>
          <p:nvPr>
            <p:ph idx="1"/>
          </p:nvPr>
        </p:nvSpPr>
        <p:spPr/>
        <p:txBody>
          <a:bodyPr>
            <a:normAutofit fontScale="92500" lnSpcReduction="20000"/>
          </a:bodyPr>
          <a:lstStyle/>
          <a:p>
            <a:pPr marL="0" indent="0">
              <a:spcBef>
                <a:spcPts val="0"/>
              </a:spcBef>
              <a:buNone/>
            </a:pPr>
            <a:r>
              <a:rPr lang="fr-CA" sz="2400" dirty="0">
                <a:solidFill>
                  <a:srgbClr val="FF0000"/>
                </a:solidFill>
              </a:rPr>
              <a:t>IFRS : 5 étapes</a:t>
            </a:r>
          </a:p>
          <a:p>
            <a:pPr marL="0" indent="0">
              <a:spcBef>
                <a:spcPts val="0"/>
              </a:spcBef>
              <a:buNone/>
            </a:pPr>
            <a:r>
              <a:rPr lang="fr-CA" sz="2400" dirty="0">
                <a:solidFill>
                  <a:srgbClr val="FF0000"/>
                </a:solidFill>
              </a:rPr>
              <a:t>NCECF : 3 critères</a:t>
            </a:r>
          </a:p>
          <a:p>
            <a:pPr marL="0" indent="0">
              <a:spcBef>
                <a:spcPts val="0"/>
              </a:spcBef>
              <a:buNone/>
            </a:pPr>
            <a:endParaRPr lang="fr-CA" sz="2400" dirty="0"/>
          </a:p>
          <a:p>
            <a:pPr marL="0" indent="0">
              <a:spcBef>
                <a:spcPts val="0"/>
              </a:spcBef>
              <a:buNone/>
            </a:pPr>
            <a:r>
              <a:rPr lang="fr-CA" sz="2400" dirty="0"/>
              <a:t>Encaisse					28 000</a:t>
            </a:r>
          </a:p>
          <a:p>
            <a:pPr marL="0" indent="0">
              <a:spcBef>
                <a:spcPts val="0"/>
              </a:spcBef>
              <a:buNone/>
            </a:pPr>
            <a:r>
              <a:rPr lang="fr-CA" sz="2400" dirty="0"/>
              <a:t>@ Produits						27 018</a:t>
            </a:r>
          </a:p>
          <a:p>
            <a:pPr marL="0" indent="0">
              <a:spcBef>
                <a:spcPts val="0"/>
              </a:spcBef>
              <a:buNone/>
            </a:pPr>
            <a:r>
              <a:rPr lang="fr-CA" sz="2400" dirty="0"/>
              <a:t>     Produits différés				  	     982</a:t>
            </a:r>
          </a:p>
          <a:p>
            <a:pPr marL="0" indent="0">
              <a:spcBef>
                <a:spcPts val="0"/>
              </a:spcBef>
              <a:buNone/>
            </a:pPr>
            <a:endParaRPr lang="fr-CA" sz="2400" dirty="0"/>
          </a:p>
          <a:p>
            <a:pPr marL="0" indent="0">
              <a:spcBef>
                <a:spcPts val="0"/>
              </a:spcBef>
              <a:buNone/>
            </a:pPr>
            <a:endParaRPr lang="fr-CA" sz="2400" dirty="0"/>
          </a:p>
          <a:p>
            <a:pPr marL="0" indent="0">
              <a:spcBef>
                <a:spcPts val="0"/>
              </a:spcBef>
              <a:buNone/>
            </a:pPr>
            <a:r>
              <a:rPr lang="fr-CA" sz="2400" dirty="0"/>
              <a:t>-------------------------------------------------</a:t>
            </a:r>
          </a:p>
          <a:p>
            <a:pPr marL="0" indent="0">
              <a:spcBef>
                <a:spcPts val="0"/>
              </a:spcBef>
              <a:buNone/>
            </a:pPr>
            <a:endParaRPr lang="fr-CA" sz="2400" dirty="0"/>
          </a:p>
          <a:p>
            <a:pPr marL="0" indent="0">
              <a:spcBef>
                <a:spcPts val="0"/>
              </a:spcBef>
              <a:buNone/>
            </a:pPr>
            <a:r>
              <a:rPr lang="fr-CA" sz="2400" dirty="0"/>
              <a:t>Produits différés				     246</a:t>
            </a:r>
          </a:p>
          <a:p>
            <a:pPr marL="0" indent="0">
              <a:spcBef>
                <a:spcPts val="0"/>
              </a:spcBef>
              <a:buNone/>
            </a:pPr>
            <a:r>
              <a:rPr lang="fr-CA" sz="2400" dirty="0"/>
              <a:t>@  Produits						246</a:t>
            </a:r>
          </a:p>
          <a:p>
            <a:pPr marL="0" indent="0">
              <a:spcBef>
                <a:spcPts val="0"/>
              </a:spcBef>
              <a:buNone/>
            </a:pPr>
            <a:endParaRPr lang="fr-CA" sz="2400" dirty="0"/>
          </a:p>
          <a:p>
            <a:pPr marL="0" indent="0">
              <a:spcBef>
                <a:spcPts val="0"/>
              </a:spcBef>
              <a:buNone/>
            </a:pPr>
            <a:r>
              <a:rPr lang="fr-CA" sz="2400" dirty="0"/>
              <a:t>CMV						</a:t>
            </a:r>
          </a:p>
          <a:p>
            <a:pPr marL="0" indent="0">
              <a:spcBef>
                <a:spcPts val="0"/>
              </a:spcBef>
              <a:buNone/>
            </a:pPr>
            <a:r>
              <a:rPr lang="fr-CA" sz="2400" dirty="0"/>
              <a:t>@  Stocks</a:t>
            </a:r>
          </a:p>
          <a:p>
            <a:pPr marL="0" indent="0">
              <a:spcBef>
                <a:spcPts val="0"/>
              </a:spcBef>
              <a:buNone/>
            </a:pPr>
            <a:r>
              <a:rPr lang="fr-CA" sz="2200" i="1" dirty="0"/>
              <a:t>(huile, filtre, main-d’œuvre)</a:t>
            </a:r>
            <a:r>
              <a:rPr lang="fr-CA" sz="2400" dirty="0"/>
              <a:t>							</a:t>
            </a:r>
          </a:p>
          <a:p>
            <a:pPr marL="0" indent="0">
              <a:spcBef>
                <a:spcPts val="0"/>
              </a:spcBef>
              <a:buNone/>
            </a:pPr>
            <a:endParaRPr lang="fr-CA" sz="2400" dirty="0"/>
          </a:p>
          <a:p>
            <a:pPr marL="0" indent="0">
              <a:spcBef>
                <a:spcPts val="0"/>
              </a:spcBef>
              <a:buNone/>
            </a:pPr>
            <a:endParaRPr lang="fr-CA" sz="24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18</a:t>
            </a:fld>
            <a:endParaRPr lang="fr-FR"/>
          </a:p>
        </p:txBody>
      </p:sp>
      <p:sp>
        <p:nvSpPr>
          <p:cNvPr id="5" name="Espace réservé du pied de page 4">
            <a:extLst>
              <a:ext uri="{FF2B5EF4-FFF2-40B4-BE49-F238E27FC236}">
                <a16:creationId xmlns:a16="http://schemas.microsoft.com/office/drawing/2014/main" id="{D1ED75BB-6AF2-4D1A-B7E6-A48EA38A573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691107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br>
              <a:rPr lang="fr-CA" sz="6000" b="1" dirty="0">
                <a:solidFill>
                  <a:srgbClr val="FF0000"/>
                </a:solidFill>
              </a:rPr>
            </a:br>
            <a:r>
              <a:rPr lang="fr-CA" sz="6000" b="1" dirty="0">
                <a:solidFill>
                  <a:srgbClr val="FF0000"/>
                </a:solidFill>
              </a:rPr>
              <a:t>Immobilisations corporelles</a:t>
            </a:r>
          </a:p>
          <a:p>
            <a:pPr marL="0" indent="0" algn="ctr">
              <a:buNone/>
            </a:pPr>
            <a:endParaRPr lang="fr-CA" sz="6000" b="1" dirty="0">
              <a:solidFill>
                <a:srgbClr val="FF0000"/>
              </a:solidFill>
            </a:endParaRPr>
          </a:p>
          <a:p>
            <a:pPr marL="0" indent="0">
              <a:buNone/>
            </a:pPr>
            <a:r>
              <a:rPr lang="fr-CA" sz="2600" b="1" dirty="0">
                <a:solidFill>
                  <a:srgbClr val="FF0000"/>
                </a:solidFill>
              </a:rPr>
              <a:t>IFRS : IAS 16 + 40</a:t>
            </a:r>
          </a:p>
          <a:p>
            <a:pPr marL="0" indent="0">
              <a:buNone/>
            </a:pPr>
            <a:r>
              <a:rPr lang="fr-CA" sz="2600" b="1" dirty="0" err="1">
                <a:solidFill>
                  <a:srgbClr val="FF0000"/>
                </a:solidFill>
              </a:rPr>
              <a:t>Chap</a:t>
            </a:r>
            <a:r>
              <a:rPr lang="fr-CA" sz="2600" b="1" dirty="0">
                <a:solidFill>
                  <a:srgbClr val="FF0000"/>
                </a:solidFill>
              </a:rPr>
              <a:t> 3061</a:t>
            </a:r>
          </a:p>
          <a:p>
            <a:pPr marL="0" indent="0">
              <a:buNone/>
            </a:pPr>
            <a:endParaRPr lang="fr-CA" sz="6000" b="1"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19</a:t>
            </a:fld>
            <a:endParaRPr lang="fr-FR"/>
          </a:p>
        </p:txBody>
      </p:sp>
      <p:sp>
        <p:nvSpPr>
          <p:cNvPr id="5" name="Espace réservé du pied de page 4">
            <a:extLst>
              <a:ext uri="{FF2B5EF4-FFF2-40B4-BE49-F238E27FC236}">
                <a16:creationId xmlns:a16="http://schemas.microsoft.com/office/drawing/2014/main" id="{AE069CA3-FFFB-4A75-A64A-0A8C8041231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18865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Mesure</a:t>
            </a:r>
          </a:p>
        </p:txBody>
      </p:sp>
      <p:sp>
        <p:nvSpPr>
          <p:cNvPr id="3" name="Espace réservé du contenu 2"/>
          <p:cNvSpPr>
            <a:spLocks noGrp="1"/>
          </p:cNvSpPr>
          <p:nvPr>
            <p:ph idx="1"/>
          </p:nvPr>
        </p:nvSpPr>
        <p:spPr/>
        <p:txBody>
          <a:bodyPr>
            <a:normAutofit fontScale="92500" lnSpcReduction="10000"/>
          </a:bodyPr>
          <a:lstStyle/>
          <a:p>
            <a:r>
              <a:rPr lang="fr-CA" dirty="0"/>
              <a:t>NCECF : coût</a:t>
            </a:r>
          </a:p>
          <a:p>
            <a:pPr lvl="1"/>
            <a:r>
              <a:rPr lang="fr-CA" dirty="0"/>
              <a:t>Pas de norme spécifique pour immeuble de placement</a:t>
            </a:r>
          </a:p>
          <a:p>
            <a:r>
              <a:rPr lang="fr-CA" dirty="0"/>
              <a:t>IAS 16 : choix coût ou modèle de réévaluation</a:t>
            </a:r>
          </a:p>
          <a:p>
            <a:pPr marL="0" indent="0">
              <a:buNone/>
            </a:pPr>
            <a:r>
              <a:rPr lang="fr-CA" dirty="0"/>
              <a:t>    IAS 40 : choix coût ou juste valeur</a:t>
            </a:r>
          </a:p>
          <a:p>
            <a:pPr marL="895350" indent="-895350">
              <a:buNone/>
            </a:pPr>
            <a:r>
              <a:rPr lang="fr-CA" dirty="0"/>
              <a:t>		</a:t>
            </a:r>
            <a:r>
              <a:rPr lang="fr-CA" i="1" dirty="0"/>
              <a:t>mesure subséquente, choix en fonction des parties prenantes</a:t>
            </a:r>
          </a:p>
          <a:p>
            <a:pPr marL="0" indent="0">
              <a:buNone/>
            </a:pPr>
            <a:endParaRPr lang="fr-CA" dirty="0"/>
          </a:p>
          <a:p>
            <a:pPr>
              <a:buFont typeface="Wingdings" panose="05000000000000000000" pitchFamily="2" charset="2"/>
              <a:buChar char="Ø"/>
            </a:pPr>
            <a:r>
              <a:rPr lang="fr-CA" dirty="0"/>
              <a:t>Différence modèle réévaluation et juste valeur? </a:t>
            </a:r>
          </a:p>
          <a:p>
            <a:pPr marL="0" indent="0">
              <a:buNone/>
            </a:pPr>
            <a:r>
              <a:rPr lang="fr-CA" dirty="0"/>
              <a:t>	Pour  l’augmentation de valeur</a:t>
            </a:r>
          </a:p>
          <a:p>
            <a:pPr lvl="1">
              <a:buFont typeface="Wingdings" panose="05000000000000000000" pitchFamily="2" charset="2"/>
              <a:buChar char="Ø"/>
            </a:pPr>
            <a:r>
              <a:rPr lang="fr-CA" dirty="0"/>
              <a:t>IAS 16 : autre élément du résultat global</a:t>
            </a:r>
          </a:p>
          <a:p>
            <a:pPr lvl="1">
              <a:buFont typeface="Wingdings" panose="05000000000000000000" pitchFamily="2" charset="2"/>
              <a:buChar char="Ø"/>
            </a:pPr>
            <a:r>
              <a:rPr lang="fr-CA" dirty="0"/>
              <a:t>IAS 40 : résultat  net</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20</a:t>
            </a:fld>
            <a:endParaRPr lang="fr-FR"/>
          </a:p>
        </p:txBody>
      </p:sp>
      <p:sp>
        <p:nvSpPr>
          <p:cNvPr id="5" name="Espace réservé du pied de page 4">
            <a:extLst>
              <a:ext uri="{FF2B5EF4-FFF2-40B4-BE49-F238E27FC236}">
                <a16:creationId xmlns:a16="http://schemas.microsoft.com/office/drawing/2014/main" id="{61B0DE88-C434-4FBF-9298-C53057FDE11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38894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Immobilisation </a:t>
            </a:r>
            <a:br>
              <a:rPr lang="fr-CA" dirty="0"/>
            </a:br>
            <a:r>
              <a:rPr lang="fr-CA" dirty="0"/>
              <a:t>« construite à l’interne »</a:t>
            </a:r>
            <a:br>
              <a:rPr lang="fr-CA" dirty="0"/>
            </a:br>
            <a:r>
              <a:rPr lang="fr-CA" dirty="0"/>
              <a:t>Capitalisation des intérêts</a:t>
            </a:r>
          </a:p>
        </p:txBody>
      </p:sp>
      <p:sp>
        <p:nvSpPr>
          <p:cNvPr id="3" name="Espace réservé du contenu 2"/>
          <p:cNvSpPr>
            <a:spLocks noGrp="1"/>
          </p:cNvSpPr>
          <p:nvPr>
            <p:ph idx="1"/>
          </p:nvPr>
        </p:nvSpPr>
        <p:spPr>
          <a:xfrm>
            <a:off x="838200" y="2308861"/>
            <a:ext cx="10515600" cy="3817303"/>
          </a:xfrm>
        </p:spPr>
        <p:txBody>
          <a:bodyPr>
            <a:normAutofit lnSpcReduction="10000"/>
          </a:bodyPr>
          <a:lstStyle/>
          <a:p>
            <a:pPr marL="0" indent="0">
              <a:buNone/>
            </a:pPr>
            <a:r>
              <a:rPr lang="fr-CA" dirty="0"/>
              <a:t>NCECF : construction « échelonnée dans le temps »</a:t>
            </a:r>
          </a:p>
          <a:p>
            <a:endParaRPr lang="fr-CA" dirty="0"/>
          </a:p>
          <a:p>
            <a:r>
              <a:rPr lang="fr-CA" dirty="0"/>
              <a:t>IFRS :</a:t>
            </a:r>
          </a:p>
          <a:p>
            <a:pPr lvl="1"/>
            <a:r>
              <a:rPr lang="fr-CA" dirty="0"/>
              <a:t>Obligation de capitaliser</a:t>
            </a:r>
          </a:p>
          <a:p>
            <a:endParaRPr lang="fr-CA" dirty="0"/>
          </a:p>
          <a:p>
            <a:r>
              <a:rPr lang="fr-CA" dirty="0"/>
              <a:t>NCECF :</a:t>
            </a:r>
          </a:p>
          <a:p>
            <a:pPr lvl="1"/>
            <a:r>
              <a:rPr lang="fr-CA" dirty="0"/>
              <a:t>Choix méthode comptable : capitaliser ou non</a:t>
            </a:r>
          </a:p>
          <a:p>
            <a:pPr lvl="1"/>
            <a:r>
              <a:rPr lang="fr-CA" dirty="0"/>
              <a:t>Si choisit méthode capitalisation des intérêts, critère additionnel : les intérêts doivent être directement rattachés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21</a:t>
            </a:fld>
            <a:endParaRPr lang="fr-FR"/>
          </a:p>
        </p:txBody>
      </p:sp>
      <p:sp>
        <p:nvSpPr>
          <p:cNvPr id="5" name="Espace réservé du pied de page 4">
            <a:extLst>
              <a:ext uri="{FF2B5EF4-FFF2-40B4-BE49-F238E27FC236}">
                <a16:creationId xmlns:a16="http://schemas.microsoft.com/office/drawing/2014/main" id="{D2931A5D-62E8-45BA-85A7-7251E402F1D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70117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sz="3600" dirty="0"/>
              <a:t>Peut-on capitaliser au coût des immobilisations les frais financiers suivants?</a:t>
            </a:r>
            <a:br>
              <a:rPr lang="fr-CA" dirty="0"/>
            </a:br>
            <a:r>
              <a:rPr lang="fr-CA" sz="3100" dirty="0"/>
              <a:t>IFRS? NCECF?</a:t>
            </a:r>
            <a:endParaRPr lang="fr-CA" dirty="0"/>
          </a:p>
        </p:txBody>
      </p:sp>
      <p:sp>
        <p:nvSpPr>
          <p:cNvPr id="3" name="Espace réservé du contenu 2"/>
          <p:cNvSpPr>
            <a:spLocks noGrp="1"/>
          </p:cNvSpPr>
          <p:nvPr>
            <p:ph idx="1"/>
          </p:nvPr>
        </p:nvSpPr>
        <p:spPr>
          <a:xfrm>
            <a:off x="838200" y="2308861"/>
            <a:ext cx="10515600" cy="3817303"/>
          </a:xfrm>
        </p:spPr>
        <p:txBody>
          <a:bodyPr/>
          <a:lstStyle/>
          <a:p>
            <a:r>
              <a:rPr lang="fr-CA" dirty="0"/>
              <a:t>Déboursés de construction financés par la marge de crédit?</a:t>
            </a:r>
          </a:p>
          <a:p>
            <a:endParaRPr lang="fr-CA" dirty="0"/>
          </a:p>
          <a:p>
            <a:r>
              <a:rPr lang="fr-CA" dirty="0"/>
              <a:t>Frais financiers reliés à un prêt construction qui est remboursé un an après la fin de la construction?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22</a:t>
            </a:fld>
            <a:endParaRPr lang="fr-FR"/>
          </a:p>
        </p:txBody>
      </p:sp>
      <p:sp>
        <p:nvSpPr>
          <p:cNvPr id="5" name="Espace réservé du pied de page 4">
            <a:extLst>
              <a:ext uri="{FF2B5EF4-FFF2-40B4-BE49-F238E27FC236}">
                <a16:creationId xmlns:a16="http://schemas.microsoft.com/office/drawing/2014/main" id="{7B819605-FC9E-4BF1-8F34-0E19D1A3A60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006158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sz="3600" dirty="0"/>
              <a:t>Peut-on capitaliser au coût des immobilisations les frais financiers suivants?</a:t>
            </a:r>
            <a:br>
              <a:rPr lang="fr-CA" dirty="0"/>
            </a:br>
            <a:r>
              <a:rPr lang="fr-CA" sz="3100" dirty="0"/>
              <a:t>IFRS? NCECF?</a:t>
            </a:r>
            <a:endParaRPr lang="fr-CA" dirty="0"/>
          </a:p>
        </p:txBody>
      </p:sp>
      <p:sp>
        <p:nvSpPr>
          <p:cNvPr id="3" name="Espace réservé du contenu 2"/>
          <p:cNvSpPr>
            <a:spLocks noGrp="1"/>
          </p:cNvSpPr>
          <p:nvPr>
            <p:ph idx="1"/>
          </p:nvPr>
        </p:nvSpPr>
        <p:spPr>
          <a:xfrm>
            <a:off x="838200" y="2308861"/>
            <a:ext cx="10515600" cy="3817303"/>
          </a:xfrm>
        </p:spPr>
        <p:txBody>
          <a:bodyPr>
            <a:normAutofit/>
          </a:bodyPr>
          <a:lstStyle/>
          <a:p>
            <a:pPr>
              <a:buFont typeface="Symbol" panose="05050102010706020507" pitchFamily="18" charset="2"/>
              <a:buChar char="Þ"/>
            </a:pPr>
            <a:r>
              <a:rPr lang="fr-CA" i="1" dirty="0">
                <a:solidFill>
                  <a:srgbClr val="00B0F0"/>
                </a:solidFill>
              </a:rPr>
              <a:t>Critère de longue période de préparation</a:t>
            </a:r>
          </a:p>
          <a:p>
            <a:pPr marL="0" indent="0">
              <a:buNone/>
            </a:pPr>
            <a:endParaRPr lang="fr-CA" sz="1200" dirty="0"/>
          </a:p>
          <a:p>
            <a:r>
              <a:rPr lang="fr-CA" dirty="0"/>
              <a:t>Déboursés de construction financés par la marge de crédit?</a:t>
            </a:r>
          </a:p>
          <a:p>
            <a:pPr lvl="1"/>
            <a:r>
              <a:rPr lang="fr-CA" dirty="0"/>
              <a:t>IFRS oui, NCECF non car pas directement rattachés</a:t>
            </a:r>
          </a:p>
          <a:p>
            <a:pPr lvl="1"/>
            <a:endParaRPr lang="fr-CA" dirty="0"/>
          </a:p>
          <a:p>
            <a:r>
              <a:rPr lang="fr-CA" dirty="0"/>
              <a:t>Frais financiers reliés à un prêt construction qui est remboursé un an après la fin de la construction?</a:t>
            </a:r>
          </a:p>
          <a:p>
            <a:pPr lvl="1"/>
            <a:r>
              <a:rPr lang="fr-CA" dirty="0"/>
              <a:t>Seulement pendant la période de construction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23</a:t>
            </a:fld>
            <a:endParaRPr lang="fr-FR"/>
          </a:p>
        </p:txBody>
      </p:sp>
      <p:sp>
        <p:nvSpPr>
          <p:cNvPr id="5" name="Espace réservé du pied de page 4">
            <a:extLst>
              <a:ext uri="{FF2B5EF4-FFF2-40B4-BE49-F238E27FC236}">
                <a16:creationId xmlns:a16="http://schemas.microsoft.com/office/drawing/2014/main" id="{76A2B777-C3E1-4230-A877-4069598131F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905453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Question</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Parmi les éléments suivants, lesquels doivent être inclus dans le coût d’un équipement :</a:t>
            </a:r>
          </a:p>
          <a:p>
            <a:r>
              <a:rPr lang="fr-CA" dirty="0"/>
              <a:t>Frais de conception de l’équipement?</a:t>
            </a:r>
          </a:p>
          <a:p>
            <a:r>
              <a:rPr lang="fr-CA" dirty="0"/>
              <a:t>Coût des travaux d’électricité requis pour permettre l’installation de l’équipement?</a:t>
            </a:r>
          </a:p>
          <a:p>
            <a:r>
              <a:rPr lang="fr-CA" dirty="0"/>
              <a:t>Honoraires des ingénieurs lors de l’installation de l’équipement?</a:t>
            </a:r>
          </a:p>
          <a:p>
            <a:r>
              <a:rPr lang="fr-CA" dirty="0"/>
              <a:t>Frais d’essai et de préparation?</a:t>
            </a:r>
          </a:p>
          <a:p>
            <a:r>
              <a:rPr lang="fr-CA" dirty="0"/>
              <a:t>Frais de formation de la main d’œuvre pour cet équipement spécialisé?</a:t>
            </a:r>
          </a:p>
          <a:p>
            <a:r>
              <a:rPr lang="fr-CA" dirty="0"/>
              <a:t>Pertes d’exploitation anormalement élevées lors des premiers mois d’exploitation?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24</a:t>
            </a:fld>
            <a:endParaRPr lang="fr-FR"/>
          </a:p>
        </p:txBody>
      </p:sp>
      <p:sp>
        <p:nvSpPr>
          <p:cNvPr id="5" name="Espace réservé du pied de page 4">
            <a:extLst>
              <a:ext uri="{FF2B5EF4-FFF2-40B4-BE49-F238E27FC236}">
                <a16:creationId xmlns:a16="http://schemas.microsoft.com/office/drawing/2014/main" id="{F0CC0488-1BC0-4A09-8D55-880CEBEED38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38893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Question</a:t>
            </a:r>
          </a:p>
        </p:txBody>
      </p:sp>
      <p:sp>
        <p:nvSpPr>
          <p:cNvPr id="3" name="Espace réservé du contenu 2"/>
          <p:cNvSpPr>
            <a:spLocks noGrp="1"/>
          </p:cNvSpPr>
          <p:nvPr>
            <p:ph idx="1"/>
          </p:nvPr>
        </p:nvSpPr>
        <p:spPr/>
        <p:txBody>
          <a:bodyPr>
            <a:normAutofit fontScale="77500" lnSpcReduction="20000"/>
          </a:bodyPr>
          <a:lstStyle/>
          <a:p>
            <a:pPr marL="0" indent="0">
              <a:buNone/>
            </a:pPr>
            <a:r>
              <a:rPr lang="fr-CA" i="1" dirty="0">
                <a:solidFill>
                  <a:srgbClr val="00B0F0"/>
                </a:solidFill>
              </a:rPr>
              <a:t>Supporter votre conclusion par la norme</a:t>
            </a:r>
          </a:p>
          <a:p>
            <a:pPr marL="0" indent="0">
              <a:buNone/>
            </a:pPr>
            <a:endParaRPr lang="fr-CA" i="1" dirty="0">
              <a:solidFill>
                <a:srgbClr val="00B0F0"/>
              </a:solidFill>
            </a:endParaRPr>
          </a:p>
          <a:p>
            <a:pPr marL="0" indent="0">
              <a:buNone/>
            </a:pPr>
            <a:r>
              <a:rPr lang="fr-CA" dirty="0"/>
              <a:t>Parmi les éléments suivants, lesquels doivent être inclus dans le coût d’un équipement :</a:t>
            </a:r>
          </a:p>
          <a:p>
            <a:r>
              <a:rPr lang="fr-CA" dirty="0"/>
              <a:t>Frais de conception de l’équipement?   </a:t>
            </a:r>
            <a:r>
              <a:rPr lang="fr-CA" dirty="0">
                <a:solidFill>
                  <a:srgbClr val="00B0F0"/>
                </a:solidFill>
              </a:rPr>
              <a:t>OUI</a:t>
            </a:r>
          </a:p>
          <a:p>
            <a:r>
              <a:rPr lang="fr-CA" dirty="0"/>
              <a:t>Coût des travaux d’électricité requis pour permettre l’installation de l’équipement? </a:t>
            </a:r>
            <a:r>
              <a:rPr lang="fr-CA" dirty="0">
                <a:solidFill>
                  <a:srgbClr val="00B0F0"/>
                </a:solidFill>
              </a:rPr>
              <a:t>OUI</a:t>
            </a:r>
            <a:endParaRPr lang="fr-CA" dirty="0"/>
          </a:p>
          <a:p>
            <a:r>
              <a:rPr lang="fr-CA" dirty="0"/>
              <a:t>Honoraires des ingénieurs lors de l’installation de l’équipement? </a:t>
            </a:r>
            <a:r>
              <a:rPr lang="fr-CA" dirty="0">
                <a:solidFill>
                  <a:srgbClr val="00B0F0"/>
                </a:solidFill>
              </a:rPr>
              <a:t>OUI</a:t>
            </a:r>
            <a:endParaRPr lang="fr-CA" dirty="0"/>
          </a:p>
          <a:p>
            <a:r>
              <a:rPr lang="fr-CA" dirty="0"/>
              <a:t>Frais d’essai et de préparation? </a:t>
            </a:r>
            <a:r>
              <a:rPr lang="fr-CA" dirty="0">
                <a:solidFill>
                  <a:srgbClr val="00B0F0"/>
                </a:solidFill>
              </a:rPr>
              <a:t>OUI</a:t>
            </a:r>
            <a:endParaRPr lang="fr-CA" dirty="0"/>
          </a:p>
          <a:p>
            <a:r>
              <a:rPr lang="fr-CA" dirty="0"/>
              <a:t>Frais de formation de la main d’œuvre pour cet équipement spécialisé? </a:t>
            </a:r>
            <a:r>
              <a:rPr lang="fr-CA" dirty="0">
                <a:solidFill>
                  <a:srgbClr val="00B0F0"/>
                </a:solidFill>
              </a:rPr>
              <a:t>NON, voir norme immobilisations incorporelles</a:t>
            </a:r>
            <a:endParaRPr lang="fr-CA" dirty="0"/>
          </a:p>
          <a:p>
            <a:r>
              <a:rPr lang="fr-CA" dirty="0"/>
              <a:t>Pertes d’exploitation </a:t>
            </a:r>
            <a:r>
              <a:rPr lang="fr-CA" u="sng" dirty="0">
                <a:solidFill>
                  <a:srgbClr val="00B0F0"/>
                </a:solidFill>
              </a:rPr>
              <a:t>anormalement</a:t>
            </a:r>
            <a:r>
              <a:rPr lang="fr-CA" dirty="0"/>
              <a:t> élevées lors des premiers mois d’exploitation? </a:t>
            </a:r>
            <a:r>
              <a:rPr lang="fr-CA" dirty="0">
                <a:solidFill>
                  <a:srgbClr val="00B0F0"/>
                </a:solidFill>
              </a:rPr>
              <a:t>NON</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25</a:t>
            </a:fld>
            <a:endParaRPr lang="fr-FR"/>
          </a:p>
        </p:txBody>
      </p:sp>
      <p:sp>
        <p:nvSpPr>
          <p:cNvPr id="5" name="Espace réservé du pied de page 4">
            <a:extLst>
              <a:ext uri="{FF2B5EF4-FFF2-40B4-BE49-F238E27FC236}">
                <a16:creationId xmlns:a16="http://schemas.microsoft.com/office/drawing/2014/main" id="{CEB26E94-7CFB-4387-AC4C-3646EFF69B1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085399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Achat en bloc</a:t>
            </a:r>
          </a:p>
        </p:txBody>
      </p:sp>
      <p:sp>
        <p:nvSpPr>
          <p:cNvPr id="3" name="Espace réservé du contenu 2"/>
          <p:cNvSpPr>
            <a:spLocks noGrp="1"/>
          </p:cNvSpPr>
          <p:nvPr>
            <p:ph idx="1"/>
          </p:nvPr>
        </p:nvSpPr>
        <p:spPr/>
        <p:txBody>
          <a:bodyPr>
            <a:normAutofit/>
          </a:bodyPr>
          <a:lstStyle/>
          <a:p>
            <a:r>
              <a:rPr lang="fr-CA" sz="3000" dirty="0"/>
              <a:t>Acquisition des éléments A, B et C pour 3 000 $</a:t>
            </a:r>
          </a:p>
          <a:p>
            <a:r>
              <a:rPr lang="fr-CA" sz="3000" dirty="0"/>
              <a:t>Justes valeurs : A- 1200 $ ; B- 1 000 $ ; C- 900 $</a:t>
            </a:r>
          </a:p>
          <a:p>
            <a:pPr marL="0" indent="0">
              <a:buNone/>
            </a:pPr>
            <a:endParaRPr lang="fr-CA" sz="3000" dirty="0"/>
          </a:p>
          <a:p>
            <a:r>
              <a:rPr lang="fr-CA" sz="3000" dirty="0"/>
              <a:t>Contexte : vente en bloc donc doit acquérir les 3 éléments, mais ne conservera pas l’élément C</a:t>
            </a:r>
          </a:p>
          <a:p>
            <a:endParaRPr lang="fr-CA" dirty="0"/>
          </a:p>
          <a:p>
            <a:pPr>
              <a:buFont typeface="Wingdings" panose="05000000000000000000" pitchFamily="2" charset="2"/>
              <a:buChar char="Ø"/>
            </a:pPr>
            <a:r>
              <a:rPr lang="fr-CA" dirty="0"/>
              <a:t>Valeur attribuée aux différents éléments?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26</a:t>
            </a:fld>
            <a:endParaRPr lang="fr-FR"/>
          </a:p>
        </p:txBody>
      </p:sp>
      <p:sp>
        <p:nvSpPr>
          <p:cNvPr id="5" name="Espace réservé du pied de page 4">
            <a:extLst>
              <a:ext uri="{FF2B5EF4-FFF2-40B4-BE49-F238E27FC236}">
                <a16:creationId xmlns:a16="http://schemas.microsoft.com/office/drawing/2014/main" id="{872C3D61-C1BD-46BD-9BD2-C2E71C92DAD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1542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Achat en bloc - solution</a:t>
            </a:r>
          </a:p>
        </p:txBody>
      </p:sp>
      <p:sp>
        <p:nvSpPr>
          <p:cNvPr id="3" name="Espace réservé du contenu 2"/>
          <p:cNvSpPr>
            <a:spLocks noGrp="1"/>
          </p:cNvSpPr>
          <p:nvPr>
            <p:ph idx="1"/>
          </p:nvPr>
        </p:nvSpPr>
        <p:spPr/>
        <p:txBody>
          <a:bodyPr>
            <a:normAutofit/>
          </a:bodyPr>
          <a:lstStyle/>
          <a:p>
            <a:r>
              <a:rPr lang="fr-CA" sz="3000" dirty="0"/>
              <a:t>Il faut isoler l’élément non conservé et répartir le solde entre les éléments conservés</a:t>
            </a:r>
          </a:p>
          <a:p>
            <a:endParaRPr lang="fr-CA" sz="3000" dirty="0"/>
          </a:p>
          <a:p>
            <a:pPr marL="0" indent="0">
              <a:buNone/>
            </a:pPr>
            <a:r>
              <a:rPr lang="fr-CA" sz="3000" dirty="0"/>
              <a:t>	</a:t>
            </a:r>
            <a:r>
              <a:rPr lang="fr-CA" sz="2400" dirty="0"/>
              <a:t>3000 - 900 = 2100</a:t>
            </a:r>
          </a:p>
          <a:p>
            <a:pPr marL="0" indent="0">
              <a:buNone/>
            </a:pPr>
            <a:r>
              <a:rPr lang="fr-CA" sz="2400" dirty="0"/>
              <a:t>	2100 à répartir au prorata JV</a:t>
            </a:r>
          </a:p>
          <a:p>
            <a:pPr marL="0" indent="0">
              <a:buNone/>
            </a:pPr>
            <a:r>
              <a:rPr lang="fr-CA" sz="2400" dirty="0"/>
              <a:t>		A : 1145 $</a:t>
            </a:r>
          </a:p>
          <a:p>
            <a:pPr marL="0" indent="0">
              <a:buNone/>
            </a:pPr>
            <a:r>
              <a:rPr lang="fr-CA" sz="2400" dirty="0"/>
              <a:t>		B : 955 $</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27</a:t>
            </a:fld>
            <a:endParaRPr lang="fr-FR"/>
          </a:p>
        </p:txBody>
      </p:sp>
      <p:sp>
        <p:nvSpPr>
          <p:cNvPr id="5" name="Espace réservé du pied de page 4">
            <a:extLst>
              <a:ext uri="{FF2B5EF4-FFF2-40B4-BE49-F238E27FC236}">
                <a16:creationId xmlns:a16="http://schemas.microsoft.com/office/drawing/2014/main" id="{BA145435-D010-4581-B2FA-089A0F00533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04857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Actif ou charge?</a:t>
            </a:r>
          </a:p>
        </p:txBody>
      </p:sp>
      <p:sp>
        <p:nvSpPr>
          <p:cNvPr id="3" name="Espace réservé du contenu 2"/>
          <p:cNvSpPr>
            <a:spLocks noGrp="1"/>
          </p:cNvSpPr>
          <p:nvPr>
            <p:ph idx="1"/>
          </p:nvPr>
        </p:nvSpPr>
        <p:spPr/>
        <p:txBody>
          <a:bodyPr/>
          <a:lstStyle/>
          <a:p>
            <a:r>
              <a:rPr lang="fr-CA" dirty="0"/>
              <a:t>Frais d’entretien annuels?</a:t>
            </a:r>
          </a:p>
          <a:p>
            <a:r>
              <a:rPr lang="fr-CA" dirty="0"/>
              <a:t>Réparation majeure de l’équipement de production?</a:t>
            </a:r>
          </a:p>
          <a:p>
            <a:r>
              <a:rPr lang="fr-CA" dirty="0"/>
              <a:t>Frais d’agrandissement de l’usine?</a:t>
            </a:r>
          </a:p>
          <a:p>
            <a:r>
              <a:rPr lang="fr-CA" dirty="0"/>
              <a:t>Remplacement du toit de l’immeuble?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28</a:t>
            </a:fld>
            <a:endParaRPr lang="fr-FR"/>
          </a:p>
        </p:txBody>
      </p:sp>
      <p:sp>
        <p:nvSpPr>
          <p:cNvPr id="5" name="Espace réservé du pied de page 4">
            <a:extLst>
              <a:ext uri="{FF2B5EF4-FFF2-40B4-BE49-F238E27FC236}">
                <a16:creationId xmlns:a16="http://schemas.microsoft.com/office/drawing/2014/main" id="{3F8BBBA1-1857-4B9A-A707-6FE020B325E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76344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Actif ou charge?</a:t>
            </a:r>
          </a:p>
        </p:txBody>
      </p:sp>
      <p:sp>
        <p:nvSpPr>
          <p:cNvPr id="3" name="Espace réservé du contenu 2"/>
          <p:cNvSpPr>
            <a:spLocks noGrp="1"/>
          </p:cNvSpPr>
          <p:nvPr>
            <p:ph idx="1"/>
          </p:nvPr>
        </p:nvSpPr>
        <p:spPr/>
        <p:txBody>
          <a:bodyPr>
            <a:normAutofit/>
          </a:bodyPr>
          <a:lstStyle/>
          <a:p>
            <a:pPr marL="0" indent="0">
              <a:buNone/>
            </a:pPr>
            <a:r>
              <a:rPr lang="fr-CA" i="1" dirty="0">
                <a:solidFill>
                  <a:srgbClr val="00B0F0"/>
                </a:solidFill>
              </a:rPr>
              <a:t>Supporter votre conclusion par la norme</a:t>
            </a:r>
          </a:p>
          <a:p>
            <a:pPr marL="0" indent="0">
              <a:buNone/>
            </a:pPr>
            <a:endParaRPr lang="fr-CA" dirty="0"/>
          </a:p>
          <a:p>
            <a:r>
              <a:rPr lang="fr-CA" dirty="0"/>
              <a:t>Frais d’entretien annuels?</a:t>
            </a:r>
            <a:r>
              <a:rPr lang="fr-CA" dirty="0">
                <a:solidFill>
                  <a:srgbClr val="00B0F0"/>
                </a:solidFill>
              </a:rPr>
              <a:t>    charge</a:t>
            </a:r>
            <a:endParaRPr lang="fr-CA" dirty="0"/>
          </a:p>
          <a:p>
            <a:r>
              <a:rPr lang="fr-CA" u="sng" dirty="0">
                <a:solidFill>
                  <a:srgbClr val="00B0F0"/>
                </a:solidFill>
              </a:rPr>
              <a:t>Réparation</a:t>
            </a:r>
            <a:r>
              <a:rPr lang="fr-CA" dirty="0"/>
              <a:t> majeure de l’équipement de production? </a:t>
            </a:r>
            <a:r>
              <a:rPr lang="fr-CA" dirty="0">
                <a:solidFill>
                  <a:srgbClr val="00B0F0"/>
                </a:solidFill>
              </a:rPr>
              <a:t>charge</a:t>
            </a:r>
            <a:endParaRPr lang="fr-CA" dirty="0"/>
          </a:p>
          <a:p>
            <a:r>
              <a:rPr lang="fr-CA" dirty="0"/>
              <a:t>Frais d’agrandissement de l’usine?   </a:t>
            </a:r>
            <a:r>
              <a:rPr lang="fr-CA" dirty="0">
                <a:solidFill>
                  <a:srgbClr val="00B0F0"/>
                </a:solidFill>
              </a:rPr>
              <a:t>Actif, </a:t>
            </a:r>
            <a:r>
              <a:rPr lang="fr-CA" i="1" dirty="0">
                <a:solidFill>
                  <a:srgbClr val="00B0F0"/>
                </a:solidFill>
              </a:rPr>
              <a:t>concept amélioration</a:t>
            </a:r>
            <a:endParaRPr lang="fr-CA" i="1" dirty="0"/>
          </a:p>
          <a:p>
            <a:r>
              <a:rPr lang="fr-CA" dirty="0"/>
              <a:t>Remplacement du toit de l’immeuble?  </a:t>
            </a:r>
            <a:r>
              <a:rPr lang="fr-CA" dirty="0">
                <a:solidFill>
                  <a:srgbClr val="00B0F0"/>
                </a:solidFill>
              </a:rPr>
              <a:t>Charge, sauf si amortissement par composante </a:t>
            </a:r>
            <a:r>
              <a:rPr lang="fr-CA" sz="3000" dirty="0">
                <a:solidFill>
                  <a:srgbClr val="00B0F0"/>
                </a:solidFill>
              </a:rPr>
              <a:t>(alors </a:t>
            </a:r>
            <a:r>
              <a:rPr lang="fr-CA" sz="3000" dirty="0" err="1">
                <a:solidFill>
                  <a:srgbClr val="00B0F0"/>
                </a:solidFill>
              </a:rPr>
              <a:t>décomptabiliser</a:t>
            </a:r>
            <a:r>
              <a:rPr lang="fr-CA" sz="3000" dirty="0">
                <a:solidFill>
                  <a:srgbClr val="00B0F0"/>
                </a:solidFill>
              </a:rPr>
              <a:t> le résiduel et capitaliser ce coût)</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29</a:t>
            </a:fld>
            <a:endParaRPr lang="fr-FR"/>
          </a:p>
        </p:txBody>
      </p:sp>
      <p:sp>
        <p:nvSpPr>
          <p:cNvPr id="5" name="Espace réservé du pied de page 4">
            <a:extLst>
              <a:ext uri="{FF2B5EF4-FFF2-40B4-BE49-F238E27FC236}">
                <a16:creationId xmlns:a16="http://schemas.microsoft.com/office/drawing/2014/main" id="{1A5C4924-D959-4E1A-8168-77DBC19DCE3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98933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Terrain et </a:t>
            </a:r>
            <a:br>
              <a:rPr lang="fr-CA" dirty="0"/>
            </a:br>
            <a:r>
              <a:rPr lang="fr-CA" dirty="0"/>
              <a:t>immeuble « construit » à l’interne</a:t>
            </a:r>
          </a:p>
        </p:txBody>
      </p:sp>
      <p:sp>
        <p:nvSpPr>
          <p:cNvPr id="3" name="Espace réservé du contenu 2"/>
          <p:cNvSpPr>
            <a:spLocks noGrp="1"/>
          </p:cNvSpPr>
          <p:nvPr>
            <p:ph idx="1"/>
          </p:nvPr>
        </p:nvSpPr>
        <p:spPr>
          <a:xfrm>
            <a:off x="838200" y="1794511"/>
            <a:ext cx="10515600" cy="4331653"/>
          </a:xfrm>
        </p:spPr>
        <p:txBody>
          <a:bodyPr/>
          <a:lstStyle/>
          <a:p>
            <a:pPr marL="0" indent="0">
              <a:buNone/>
            </a:pPr>
            <a:r>
              <a:rPr lang="fr-CA" dirty="0"/>
              <a:t>Quels éléments devrait-on inclure dans le coût du terrain? De l’immeuble qui sera construit ultérieurement à l’acquisition du terrain?</a:t>
            </a:r>
          </a:p>
          <a:p>
            <a:r>
              <a:rPr lang="fr-CA" dirty="0"/>
              <a:t>Frais notaire – terrain?</a:t>
            </a:r>
          </a:p>
          <a:p>
            <a:r>
              <a:rPr lang="fr-CA" dirty="0"/>
              <a:t>Frais arpenteurs, pour les limites du terrain?</a:t>
            </a:r>
          </a:p>
          <a:p>
            <a:r>
              <a:rPr lang="fr-CA" dirty="0"/>
              <a:t>Honoraires des architectes?</a:t>
            </a:r>
          </a:p>
          <a:p>
            <a:r>
              <a:rPr lang="fr-CA" dirty="0"/>
              <a:t>Salaire employé - chargé du projet de construction?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30</a:t>
            </a:fld>
            <a:endParaRPr lang="fr-FR"/>
          </a:p>
        </p:txBody>
      </p:sp>
      <p:sp>
        <p:nvSpPr>
          <p:cNvPr id="5" name="Espace réservé du pied de page 4">
            <a:extLst>
              <a:ext uri="{FF2B5EF4-FFF2-40B4-BE49-F238E27FC236}">
                <a16:creationId xmlns:a16="http://schemas.microsoft.com/office/drawing/2014/main" id="{FBC15FDE-5793-457E-A532-E3CFA158EBF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03026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Terrain et </a:t>
            </a:r>
            <a:br>
              <a:rPr lang="fr-CA" dirty="0"/>
            </a:br>
            <a:r>
              <a:rPr lang="fr-CA" dirty="0"/>
              <a:t>immeuble « construit » à l’interne</a:t>
            </a:r>
          </a:p>
        </p:txBody>
      </p:sp>
      <p:sp>
        <p:nvSpPr>
          <p:cNvPr id="3" name="Espace réservé du contenu 2"/>
          <p:cNvSpPr>
            <a:spLocks noGrp="1"/>
          </p:cNvSpPr>
          <p:nvPr>
            <p:ph idx="1"/>
          </p:nvPr>
        </p:nvSpPr>
        <p:spPr>
          <a:xfrm>
            <a:off x="838200" y="1794511"/>
            <a:ext cx="10515600" cy="4331653"/>
          </a:xfrm>
        </p:spPr>
        <p:txBody>
          <a:bodyPr/>
          <a:lstStyle/>
          <a:p>
            <a:r>
              <a:rPr lang="fr-CA" dirty="0"/>
              <a:t>Frais notaire – terrain?</a:t>
            </a:r>
            <a:r>
              <a:rPr lang="fr-CA" dirty="0">
                <a:solidFill>
                  <a:srgbClr val="00B0F0"/>
                </a:solidFill>
              </a:rPr>
              <a:t> Oui, terrain</a:t>
            </a:r>
            <a:endParaRPr lang="fr-CA" dirty="0"/>
          </a:p>
          <a:p>
            <a:r>
              <a:rPr lang="fr-CA" dirty="0"/>
              <a:t>Frais arpenteurs, pour les limites du terrain? </a:t>
            </a:r>
            <a:r>
              <a:rPr lang="fr-CA" dirty="0">
                <a:solidFill>
                  <a:srgbClr val="00B0F0"/>
                </a:solidFill>
              </a:rPr>
              <a:t>Oui, terrain, </a:t>
            </a:r>
            <a:r>
              <a:rPr lang="fr-CA" i="1" dirty="0">
                <a:solidFill>
                  <a:srgbClr val="00B0F0"/>
                </a:solidFill>
              </a:rPr>
              <a:t> aurait aussi pu être pour situer la future construction sur le terrain</a:t>
            </a:r>
            <a:endParaRPr lang="fr-CA" dirty="0"/>
          </a:p>
          <a:p>
            <a:r>
              <a:rPr lang="fr-CA" dirty="0"/>
              <a:t>Honoraires des architectes?   </a:t>
            </a:r>
            <a:r>
              <a:rPr lang="fr-CA" dirty="0">
                <a:solidFill>
                  <a:srgbClr val="00B0F0"/>
                </a:solidFill>
              </a:rPr>
              <a:t>Oui, bâtisse</a:t>
            </a:r>
            <a:endParaRPr lang="fr-CA" dirty="0"/>
          </a:p>
          <a:p>
            <a:r>
              <a:rPr lang="fr-CA" dirty="0"/>
              <a:t>Salaire employé - chargé du projet de construction?</a:t>
            </a:r>
            <a:r>
              <a:rPr lang="fr-CA" dirty="0">
                <a:solidFill>
                  <a:srgbClr val="00B0F0"/>
                </a:solidFill>
              </a:rPr>
              <a:t>  Voir la  norme, coûts liés, n’ont pas à être marginaux, donc oui, bâtisse</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31</a:t>
            </a:fld>
            <a:endParaRPr lang="fr-FR"/>
          </a:p>
        </p:txBody>
      </p:sp>
      <p:sp>
        <p:nvSpPr>
          <p:cNvPr id="5" name="Espace réservé du pied de page 4">
            <a:extLst>
              <a:ext uri="{FF2B5EF4-FFF2-40B4-BE49-F238E27FC236}">
                <a16:creationId xmlns:a16="http://schemas.microsoft.com/office/drawing/2014/main" id="{4B9EAE75-4798-4FFA-8BD6-D780A9DBD9D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67322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20000"/>
          </a:bodyPr>
          <a:lstStyle/>
          <a:p>
            <a:pPr marL="0" indent="0" algn="ctr">
              <a:buNone/>
            </a:pPr>
            <a:br>
              <a:rPr lang="fr-CA" sz="6000" b="1" dirty="0">
                <a:solidFill>
                  <a:srgbClr val="FF0000"/>
                </a:solidFill>
              </a:rPr>
            </a:br>
            <a:r>
              <a:rPr lang="fr-CA" sz="6000" b="1" dirty="0">
                <a:solidFill>
                  <a:srgbClr val="FF0000"/>
                </a:solidFill>
              </a:rPr>
              <a:t>Provision pour démantèlement</a:t>
            </a:r>
          </a:p>
          <a:p>
            <a:pPr marL="0" indent="0" algn="ctr">
              <a:buNone/>
            </a:pPr>
            <a:r>
              <a:rPr lang="fr-CA" sz="6000" b="1" dirty="0">
                <a:solidFill>
                  <a:srgbClr val="FF0000"/>
                </a:solidFill>
              </a:rPr>
              <a:t>Obligation liée à la mise hors service d’immobilisations</a:t>
            </a:r>
          </a:p>
          <a:p>
            <a:pPr marL="0" indent="0" algn="ctr">
              <a:buNone/>
            </a:pPr>
            <a:endParaRPr lang="fr-CA" sz="6000" b="1" dirty="0">
              <a:solidFill>
                <a:srgbClr val="FF0000"/>
              </a:solidFill>
            </a:endParaRPr>
          </a:p>
          <a:p>
            <a:pPr marL="0" indent="0">
              <a:buNone/>
            </a:pPr>
            <a:r>
              <a:rPr lang="fr-CA" sz="2600" b="1" dirty="0">
                <a:solidFill>
                  <a:srgbClr val="FF0000"/>
                </a:solidFill>
              </a:rPr>
              <a:t>IAS 37</a:t>
            </a:r>
            <a:endParaRPr lang="fr-CA" sz="6000" b="1" dirty="0">
              <a:solidFill>
                <a:srgbClr val="FF0000"/>
              </a:solidFill>
            </a:endParaRPr>
          </a:p>
          <a:p>
            <a:pPr marL="0" indent="0">
              <a:buNone/>
            </a:pPr>
            <a:r>
              <a:rPr lang="fr-CA" sz="2600" b="1" dirty="0" err="1">
                <a:solidFill>
                  <a:srgbClr val="FF0000"/>
                </a:solidFill>
              </a:rPr>
              <a:t>Chap</a:t>
            </a:r>
            <a:r>
              <a:rPr lang="fr-CA" sz="2600" b="1" dirty="0">
                <a:solidFill>
                  <a:srgbClr val="FF0000"/>
                </a:solidFill>
              </a:rPr>
              <a:t> 3110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32</a:t>
            </a:fld>
            <a:endParaRPr lang="fr-FR"/>
          </a:p>
        </p:txBody>
      </p:sp>
      <p:sp>
        <p:nvSpPr>
          <p:cNvPr id="5" name="Espace réservé du pied de page 4">
            <a:extLst>
              <a:ext uri="{FF2B5EF4-FFF2-40B4-BE49-F238E27FC236}">
                <a16:creationId xmlns:a16="http://schemas.microsoft.com/office/drawing/2014/main" id="{EC60FEFB-A02F-464B-B397-D210F929DD7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84636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Comptabilisation et répartition du coût</a:t>
            </a:r>
          </a:p>
        </p:txBody>
      </p:sp>
      <p:sp>
        <p:nvSpPr>
          <p:cNvPr id="3" name="Espace réservé du contenu 2"/>
          <p:cNvSpPr>
            <a:spLocks noGrp="1"/>
          </p:cNvSpPr>
          <p:nvPr>
            <p:ph idx="1"/>
          </p:nvPr>
        </p:nvSpPr>
        <p:spPr/>
        <p:txBody>
          <a:bodyPr>
            <a:normAutofit/>
          </a:bodyPr>
          <a:lstStyle/>
          <a:p>
            <a:r>
              <a:rPr lang="fr-CA" dirty="0"/>
              <a:t>Montant du passif – actualisé</a:t>
            </a:r>
          </a:p>
          <a:p>
            <a:pPr lvl="1"/>
            <a:r>
              <a:rPr lang="fr-CA" dirty="0"/>
              <a:t>Charge de </a:t>
            </a:r>
            <a:r>
              <a:rPr lang="fr-CA" dirty="0" err="1"/>
              <a:t>désactualisation</a:t>
            </a:r>
            <a:endParaRPr lang="fr-CA" dirty="0"/>
          </a:p>
          <a:p>
            <a:pPr lvl="2"/>
            <a:r>
              <a:rPr lang="fr-CA" dirty="0">
                <a:solidFill>
                  <a:srgbClr val="00B0F0"/>
                </a:solidFill>
              </a:rPr>
              <a:t>IFRS : frais financiers</a:t>
            </a:r>
          </a:p>
          <a:p>
            <a:pPr lvl="2"/>
            <a:r>
              <a:rPr lang="fr-CA" dirty="0">
                <a:solidFill>
                  <a:srgbClr val="00B0F0"/>
                </a:solidFill>
              </a:rPr>
              <a:t>NCECF : à l’extérieur des frais financiers</a:t>
            </a:r>
          </a:p>
          <a:p>
            <a:pPr lvl="1"/>
            <a:r>
              <a:rPr lang="fr-CA" dirty="0"/>
              <a:t>IFRS coûts prévus ; NCECF ok basé sur coûts actuels</a:t>
            </a:r>
          </a:p>
          <a:p>
            <a:r>
              <a:rPr lang="fr-CA" dirty="0"/>
              <a:t>Ajouté au coût de l’immobilisation / Stocks</a:t>
            </a:r>
          </a:p>
          <a:p>
            <a:pPr lvl="1"/>
            <a:r>
              <a:rPr lang="fr-CA" dirty="0"/>
              <a:t>Inclus dans amortissement futur de l’</a:t>
            </a:r>
            <a:r>
              <a:rPr lang="fr-CA" dirty="0" err="1"/>
              <a:t>immo</a:t>
            </a:r>
            <a:r>
              <a:rPr lang="fr-CA" dirty="0"/>
              <a:t> / Coût des ventes</a:t>
            </a:r>
          </a:p>
          <a:p>
            <a:pPr lvl="2"/>
            <a:r>
              <a:rPr lang="fr-CA" dirty="0"/>
              <a:t>Selon si lié à une </a:t>
            </a:r>
            <a:r>
              <a:rPr lang="fr-CA" dirty="0" err="1"/>
              <a:t>immo</a:t>
            </a:r>
            <a:r>
              <a:rPr lang="fr-CA" dirty="0"/>
              <a:t> ou au processus de production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33</a:t>
            </a:fld>
            <a:endParaRPr lang="fr-FR"/>
          </a:p>
        </p:txBody>
      </p:sp>
      <p:sp>
        <p:nvSpPr>
          <p:cNvPr id="5" name="Espace réservé du pied de page 4">
            <a:extLst>
              <a:ext uri="{FF2B5EF4-FFF2-40B4-BE49-F238E27FC236}">
                <a16:creationId xmlns:a16="http://schemas.microsoft.com/office/drawing/2014/main" id="{7A2BAB2F-C136-4BB9-818C-531BD09D0B0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42131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a:t>
            </a:r>
          </a:p>
        </p:txBody>
      </p:sp>
      <p:sp>
        <p:nvSpPr>
          <p:cNvPr id="3" name="Espace réservé du contenu 2"/>
          <p:cNvSpPr>
            <a:spLocks noGrp="1"/>
          </p:cNvSpPr>
          <p:nvPr>
            <p:ph idx="1"/>
          </p:nvPr>
        </p:nvSpPr>
        <p:spPr/>
        <p:txBody>
          <a:bodyPr/>
          <a:lstStyle/>
          <a:p>
            <a:pPr marL="0" indent="0">
              <a:buNone/>
            </a:pPr>
            <a:r>
              <a:rPr lang="fr-CA" dirty="0"/>
              <a:t>Le 1</a:t>
            </a:r>
            <a:r>
              <a:rPr lang="fr-CA" baseline="30000" dirty="0"/>
              <a:t>er</a:t>
            </a:r>
            <a:r>
              <a:rPr lang="fr-CA" dirty="0"/>
              <a:t> janvier 2020, Société signe un bail de 5 ans et engage des dépenses :</a:t>
            </a:r>
          </a:p>
          <a:p>
            <a:pPr>
              <a:buFont typeface="Wingdings" panose="05000000000000000000" pitchFamily="2" charset="2"/>
              <a:buChar char="§"/>
            </a:pPr>
            <a:r>
              <a:rPr lang="fr-CA" dirty="0"/>
              <a:t>Coût des améliorations locatives : 10 000 $</a:t>
            </a:r>
          </a:p>
          <a:p>
            <a:pPr>
              <a:buFont typeface="Wingdings" panose="05000000000000000000" pitchFamily="2" charset="2"/>
              <a:buChar char="§"/>
            </a:pPr>
            <a:r>
              <a:rPr lang="fr-CA" dirty="0"/>
              <a:t>Coût estimé pour enlever : 1 000 $</a:t>
            </a:r>
          </a:p>
          <a:p>
            <a:pPr>
              <a:buFont typeface="Wingdings" panose="05000000000000000000" pitchFamily="2" charset="2"/>
              <a:buChar char="§"/>
            </a:pPr>
            <a:r>
              <a:rPr lang="fr-CA" dirty="0"/>
              <a:t>Taux d’actualisation : 5 %</a:t>
            </a:r>
          </a:p>
          <a:p>
            <a:pPr>
              <a:buFont typeface="Wingdings" panose="05000000000000000000" pitchFamily="2" charset="2"/>
              <a:buChar char="§"/>
            </a:pPr>
            <a:r>
              <a:rPr lang="fr-CA" dirty="0"/>
              <a:t>Amortissement améliorations locatives : linéaire</a:t>
            </a:r>
          </a:p>
          <a:p>
            <a:pPr>
              <a:buFont typeface="Wingdings" panose="05000000000000000000" pitchFamily="2" charset="2"/>
              <a:buChar char="§"/>
            </a:pPr>
            <a:endParaRPr lang="fr-CA" dirty="0"/>
          </a:p>
          <a:p>
            <a:pPr>
              <a:buFont typeface="Wingdings" panose="05000000000000000000" pitchFamily="2" charset="2"/>
              <a:buChar char="Ø"/>
            </a:pPr>
            <a:r>
              <a:rPr lang="fr-CA" dirty="0"/>
              <a:t>Écritures 2020?</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34</a:t>
            </a:fld>
            <a:endParaRPr lang="fr-FR"/>
          </a:p>
        </p:txBody>
      </p:sp>
      <p:sp>
        <p:nvSpPr>
          <p:cNvPr id="5" name="Espace réservé du pied de page 4">
            <a:extLst>
              <a:ext uri="{FF2B5EF4-FFF2-40B4-BE49-F238E27FC236}">
                <a16:creationId xmlns:a16="http://schemas.microsoft.com/office/drawing/2014/main" id="{561E7FC6-5876-4E82-860F-32DD84AE327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62512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sp>
        <p:nvSpPr>
          <p:cNvPr id="3" name="Espace réservé du contenu 2"/>
          <p:cNvSpPr>
            <a:spLocks noGrp="1"/>
          </p:cNvSpPr>
          <p:nvPr>
            <p:ph idx="1"/>
          </p:nvPr>
        </p:nvSpPr>
        <p:spPr/>
        <p:txBody>
          <a:bodyPr>
            <a:normAutofit/>
          </a:bodyPr>
          <a:lstStyle/>
          <a:p>
            <a:pPr marL="0" indent="0">
              <a:spcBef>
                <a:spcPts val="0"/>
              </a:spcBef>
              <a:buNone/>
            </a:pPr>
            <a:r>
              <a:rPr lang="fr-CA" dirty="0"/>
              <a:t>1/01/19 :	 </a:t>
            </a:r>
          </a:p>
          <a:p>
            <a:pPr marL="0" indent="0">
              <a:spcBef>
                <a:spcPts val="0"/>
              </a:spcBef>
              <a:buNone/>
            </a:pPr>
            <a:r>
              <a:rPr lang="fr-CA" dirty="0"/>
              <a:t>Améliorations locatives 	   		10 784</a:t>
            </a:r>
          </a:p>
          <a:p>
            <a:pPr marL="0" indent="0">
              <a:spcBef>
                <a:spcPts val="0"/>
              </a:spcBef>
              <a:buNone/>
            </a:pPr>
            <a:r>
              <a:rPr lang="fr-CA" dirty="0"/>
              <a:t>@  Encaisse							10 000</a:t>
            </a:r>
          </a:p>
          <a:p>
            <a:pPr marL="0" indent="0">
              <a:spcBef>
                <a:spcPts val="0"/>
              </a:spcBef>
              <a:buNone/>
            </a:pPr>
            <a:r>
              <a:rPr lang="fr-CA" dirty="0"/>
              <a:t>	 Provision (OMHS)					      784</a:t>
            </a:r>
          </a:p>
          <a:p>
            <a:pPr marL="0" indent="0">
              <a:spcBef>
                <a:spcPts val="0"/>
              </a:spcBef>
              <a:buNone/>
            </a:pPr>
            <a:endParaRPr lang="fr-CA" dirty="0"/>
          </a:p>
          <a:p>
            <a:pPr marL="0" indent="0">
              <a:spcBef>
                <a:spcPts val="0"/>
              </a:spcBef>
              <a:buNone/>
            </a:pPr>
            <a:r>
              <a:rPr lang="fr-CA" dirty="0"/>
              <a:t>31/12/19 : </a:t>
            </a:r>
          </a:p>
          <a:p>
            <a:pPr marL="0" indent="0">
              <a:spcBef>
                <a:spcPts val="0"/>
              </a:spcBef>
              <a:buNone/>
            </a:pPr>
            <a:r>
              <a:rPr lang="fr-CA" dirty="0"/>
              <a:t>Amortissement				2 157</a:t>
            </a:r>
          </a:p>
          <a:p>
            <a:pPr marL="0" indent="0">
              <a:spcBef>
                <a:spcPts val="0"/>
              </a:spcBef>
              <a:buNone/>
            </a:pPr>
            <a:r>
              <a:rPr lang="fr-CA" dirty="0"/>
              <a:t>@  Amortissement cumulé				2 157</a:t>
            </a:r>
          </a:p>
          <a:p>
            <a:pPr marL="0" indent="0">
              <a:spcBef>
                <a:spcPts val="0"/>
              </a:spcBef>
              <a:buNone/>
            </a:pPr>
            <a:endParaRPr lang="fr-CA" dirty="0"/>
          </a:p>
          <a:p>
            <a:pPr marL="0" indent="0">
              <a:spcBef>
                <a:spcPts val="0"/>
              </a:spcBef>
              <a:buNone/>
            </a:pPr>
            <a:r>
              <a:rPr lang="fr-CA" dirty="0"/>
              <a:t>Fr financiers (</a:t>
            </a:r>
            <a:r>
              <a:rPr lang="fr-CA" sz="2400" dirty="0"/>
              <a:t>Charge </a:t>
            </a:r>
            <a:r>
              <a:rPr lang="fr-CA" sz="2400" dirty="0" err="1"/>
              <a:t>désactualisation</a:t>
            </a:r>
            <a:r>
              <a:rPr lang="fr-CA" sz="2400" dirty="0"/>
              <a:t>)	        </a:t>
            </a:r>
            <a:r>
              <a:rPr lang="fr-CA" dirty="0"/>
              <a:t>39</a:t>
            </a:r>
          </a:p>
          <a:p>
            <a:pPr marL="0" indent="0">
              <a:spcBef>
                <a:spcPts val="0"/>
              </a:spcBef>
              <a:buNone/>
            </a:pPr>
            <a:r>
              <a:rPr lang="fr-CA" dirty="0"/>
              <a:t>@  Provision (OMHS)					       39</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35</a:t>
            </a:fld>
            <a:endParaRPr lang="fr-FR"/>
          </a:p>
        </p:txBody>
      </p:sp>
      <p:sp>
        <p:nvSpPr>
          <p:cNvPr id="5" name="Espace réservé du pied de page 4">
            <a:extLst>
              <a:ext uri="{FF2B5EF4-FFF2-40B4-BE49-F238E27FC236}">
                <a16:creationId xmlns:a16="http://schemas.microsoft.com/office/drawing/2014/main" id="{9AE64C5C-8DD4-4EFB-8E6D-F45B79B1869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87577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br>
              <a:rPr lang="fr-CA" sz="6000" b="1" dirty="0">
                <a:solidFill>
                  <a:srgbClr val="FF0000"/>
                </a:solidFill>
              </a:rPr>
            </a:br>
            <a:r>
              <a:rPr lang="fr-CA" sz="6000" b="1" dirty="0">
                <a:solidFill>
                  <a:srgbClr val="FF0000"/>
                </a:solidFill>
              </a:rPr>
              <a:t>Contrats de location</a:t>
            </a:r>
          </a:p>
          <a:p>
            <a:pPr marL="0" indent="0" algn="ctr">
              <a:buNone/>
            </a:pPr>
            <a:endParaRPr lang="fr-CA" sz="6000" b="1" dirty="0">
              <a:solidFill>
                <a:srgbClr val="FF0000"/>
              </a:solidFill>
            </a:endParaRPr>
          </a:p>
          <a:p>
            <a:pPr marL="0" indent="0">
              <a:buNone/>
            </a:pPr>
            <a:r>
              <a:rPr lang="fr-CA" sz="2600" b="1" dirty="0">
                <a:solidFill>
                  <a:srgbClr val="FF0000"/>
                </a:solidFill>
              </a:rPr>
              <a:t>IFRS 16</a:t>
            </a:r>
            <a:endParaRPr lang="fr-CA" sz="6000" i="1" dirty="0"/>
          </a:p>
          <a:p>
            <a:pPr marL="0" indent="0">
              <a:buNone/>
            </a:pPr>
            <a:r>
              <a:rPr lang="fr-CA" sz="2600" b="1" dirty="0" err="1">
                <a:solidFill>
                  <a:srgbClr val="FF0000"/>
                </a:solidFill>
              </a:rPr>
              <a:t>Chap</a:t>
            </a:r>
            <a:r>
              <a:rPr lang="fr-CA" sz="2600" b="1" dirty="0">
                <a:solidFill>
                  <a:srgbClr val="FF0000"/>
                </a:solidFill>
              </a:rPr>
              <a:t> 3065</a:t>
            </a:r>
          </a:p>
          <a:p>
            <a:pPr marL="0" indent="0">
              <a:buNone/>
            </a:pPr>
            <a:endParaRPr lang="fr-CA" sz="6000" b="1"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36</a:t>
            </a:fld>
            <a:endParaRPr lang="fr-FR"/>
          </a:p>
        </p:txBody>
      </p:sp>
      <p:sp>
        <p:nvSpPr>
          <p:cNvPr id="5" name="Espace réservé du pied de page 4">
            <a:extLst>
              <a:ext uri="{FF2B5EF4-FFF2-40B4-BE49-F238E27FC236}">
                <a16:creationId xmlns:a16="http://schemas.microsoft.com/office/drawing/2014/main" id="{D5A1734A-2353-494F-B218-21E432D846A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29888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Image fidèle</a:t>
            </a:r>
          </a:p>
        </p:txBody>
      </p:sp>
      <p:sp>
        <p:nvSpPr>
          <p:cNvPr id="3" name="Espace réservé du contenu 2"/>
          <p:cNvSpPr>
            <a:spLocks noGrp="1"/>
          </p:cNvSpPr>
          <p:nvPr>
            <p:ph idx="1"/>
          </p:nvPr>
        </p:nvSpPr>
        <p:spPr/>
        <p:txBody>
          <a:bodyPr>
            <a:normAutofit/>
          </a:bodyPr>
          <a:lstStyle/>
          <a:p>
            <a:r>
              <a:rPr lang="fr-CA" dirty="0"/>
              <a:t>Refléter la substance économique</a:t>
            </a:r>
          </a:p>
          <a:p>
            <a:pPr lvl="1"/>
            <a:r>
              <a:rPr lang="fr-CA" dirty="0"/>
              <a:t>Et non la forme légale</a:t>
            </a:r>
          </a:p>
          <a:p>
            <a:pPr lvl="1"/>
            <a:endParaRPr lang="fr-CA" dirty="0"/>
          </a:p>
          <a:p>
            <a:pPr lvl="1"/>
            <a:r>
              <a:rPr lang="fr-CA" dirty="0"/>
              <a:t>Achat (vente) de l’actif + financement</a:t>
            </a:r>
          </a:p>
          <a:p>
            <a:pPr lvl="2"/>
            <a:r>
              <a:rPr lang="fr-CA" dirty="0"/>
              <a:t>Même si titre de propriété non transféré</a:t>
            </a:r>
          </a:p>
          <a:p>
            <a:pPr lvl="2"/>
            <a:endParaRPr lang="fr-CA" dirty="0"/>
          </a:p>
          <a:p>
            <a:pPr lvl="2"/>
            <a:r>
              <a:rPr lang="fr-CA" dirty="0"/>
              <a:t>Utilise l’actif</a:t>
            </a:r>
          </a:p>
          <a:p>
            <a:pPr lvl="2"/>
            <a:r>
              <a:rPr lang="fr-CA" dirty="0"/>
              <a:t>Dette remboursable sur la période</a:t>
            </a:r>
          </a:p>
          <a:p>
            <a:pPr lvl="3"/>
            <a:r>
              <a:rPr lang="fr-CA" dirty="0"/>
              <a:t>Montant de la dette = portion des frais de location servant à « payer » l’actif (exclure frais accessoires)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37</a:t>
            </a:fld>
            <a:endParaRPr lang="fr-FR"/>
          </a:p>
        </p:txBody>
      </p:sp>
      <p:sp>
        <p:nvSpPr>
          <p:cNvPr id="5" name="Espace réservé du pied de page 4">
            <a:extLst>
              <a:ext uri="{FF2B5EF4-FFF2-40B4-BE49-F238E27FC236}">
                <a16:creationId xmlns:a16="http://schemas.microsoft.com/office/drawing/2014/main" id="{26265A8E-A9D4-4521-9D4B-EA64A22A2CF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430644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82869" y="274638"/>
            <a:ext cx="10470931" cy="799782"/>
          </a:xfrm>
        </p:spPr>
        <p:txBody>
          <a:bodyPr/>
          <a:lstStyle/>
          <a:p>
            <a:r>
              <a:rPr lang="fr-CA" dirty="0"/>
              <a:t>IFRS 16</a:t>
            </a:r>
          </a:p>
        </p:txBody>
      </p:sp>
      <p:sp>
        <p:nvSpPr>
          <p:cNvPr id="3" name="Espace réservé du contenu 2"/>
          <p:cNvSpPr>
            <a:spLocks noGrp="1"/>
          </p:cNvSpPr>
          <p:nvPr>
            <p:ph idx="1"/>
          </p:nvPr>
        </p:nvSpPr>
        <p:spPr>
          <a:xfrm>
            <a:off x="882869" y="1074420"/>
            <a:ext cx="10426262" cy="5281930"/>
          </a:xfrm>
        </p:spPr>
        <p:txBody>
          <a:bodyPr>
            <a:normAutofit fontScale="92500" lnSpcReduction="10000"/>
          </a:bodyPr>
          <a:lstStyle/>
          <a:p>
            <a:pPr marL="0" indent="0">
              <a:buNone/>
            </a:pPr>
            <a:r>
              <a:rPr lang="fr-CA" sz="2200" b="1" dirty="0"/>
              <a:t>Champ d'application</a:t>
            </a:r>
          </a:p>
          <a:p>
            <a:pPr marL="0" indent="0">
              <a:buNone/>
            </a:pPr>
            <a:r>
              <a:rPr lang="fr-CA" sz="1800" dirty="0"/>
              <a:t>3     L'entité doit appliquer la présente norme à tous les contrats de location, y compris aux contrats de location d'</a:t>
            </a:r>
            <a:r>
              <a:rPr lang="fr-CA" sz="1800" i="1" dirty="0"/>
              <a:t>actifs au titre de droits d'utilisation</a:t>
            </a:r>
            <a:r>
              <a:rPr lang="fr-CA" sz="1800" dirty="0"/>
              <a:t> que constituent les </a:t>
            </a:r>
            <a:r>
              <a:rPr lang="fr-CA" sz="1800" i="1" dirty="0"/>
              <a:t>contrats de sous-location</a:t>
            </a:r>
            <a:r>
              <a:rPr lang="fr-CA" sz="1800" dirty="0"/>
              <a:t>, sauf :</a:t>
            </a:r>
          </a:p>
          <a:p>
            <a:pPr marL="0" indent="0">
              <a:buNone/>
            </a:pPr>
            <a:r>
              <a:rPr lang="fr-CA" sz="1800" dirty="0"/>
              <a:t>(a)     les contrats portant sur la prospection ou l'exploitation de minéraux, de pétrole, de gaz naturel ou d'autres ressources non renouvelables similaires ;</a:t>
            </a:r>
          </a:p>
          <a:p>
            <a:pPr marL="0" indent="0">
              <a:buNone/>
            </a:pPr>
            <a:r>
              <a:rPr lang="fr-CA" sz="1800" dirty="0"/>
              <a:t>(b)     les contrats conclus par un preneur pour la location d'actifs biologiques qui entrent dans le champ d'application d'IAS 41 </a:t>
            </a:r>
            <a:r>
              <a:rPr lang="fr-CA" sz="1800" i="1" dirty="0"/>
              <a:t>Agriculture</a:t>
            </a:r>
            <a:r>
              <a:rPr lang="fr-CA" sz="1800" dirty="0"/>
              <a:t> ;</a:t>
            </a:r>
          </a:p>
          <a:p>
            <a:pPr marL="0" indent="0">
              <a:buNone/>
            </a:pPr>
            <a:r>
              <a:rPr lang="fr-CA" sz="1800" dirty="0"/>
              <a:t>(c)     les accords de concession de services qui entrent dans le champ d'application d'IFRIC 12 </a:t>
            </a:r>
            <a:r>
              <a:rPr lang="fr-CA" sz="1800" i="1" dirty="0"/>
              <a:t>Accords de concession de services</a:t>
            </a:r>
            <a:r>
              <a:rPr lang="fr-CA" sz="1800" dirty="0"/>
              <a:t> ;</a:t>
            </a:r>
          </a:p>
          <a:p>
            <a:pPr marL="0" indent="0">
              <a:buNone/>
            </a:pPr>
            <a:r>
              <a:rPr lang="fr-CA" sz="1800" dirty="0"/>
              <a:t>(d)     les licences de propriété intellectuelle octroyées par un bailleur qui entrent dans le champ d'application d'IFRS 15 </a:t>
            </a:r>
            <a:r>
              <a:rPr lang="fr-CA" sz="1800" i="1" dirty="0"/>
              <a:t>Produits des activités ordinaires tirés de contrats conclus avec des clients</a:t>
            </a:r>
            <a:r>
              <a:rPr lang="fr-CA" sz="1800" dirty="0"/>
              <a:t> ;</a:t>
            </a:r>
          </a:p>
          <a:p>
            <a:pPr marL="0" indent="0">
              <a:buNone/>
            </a:pPr>
            <a:r>
              <a:rPr lang="fr-CA" sz="1800" dirty="0"/>
              <a:t>(e)     les droits détenus par un preneur en vertu d'un accord de licence entrant dans le champ d'application d'IAS 38 </a:t>
            </a:r>
            <a:r>
              <a:rPr lang="fr-CA" sz="1800" i="1" dirty="0"/>
              <a:t>Immobilisations incorporelles</a:t>
            </a:r>
            <a:r>
              <a:rPr lang="fr-CA" sz="1800" dirty="0"/>
              <a:t> et portant sur des éléments tels que des films cinématographiques, des enregistrements vidéo, des pièces de théâtre, des manuscrits, des brevets et des droits de reproduction.</a:t>
            </a:r>
          </a:p>
          <a:p>
            <a:pPr marL="0" indent="0">
              <a:buNone/>
            </a:pPr>
            <a:endParaRPr lang="fr-CA" sz="1800" dirty="0"/>
          </a:p>
          <a:p>
            <a:pPr marL="0" indent="0">
              <a:buNone/>
            </a:pPr>
            <a:r>
              <a:rPr lang="fr-CA" sz="1800" dirty="0"/>
              <a:t>4     </a:t>
            </a:r>
            <a:r>
              <a:rPr lang="fr-CA" sz="1800" dirty="0">
                <a:solidFill>
                  <a:srgbClr val="0070C0"/>
                </a:solidFill>
              </a:rPr>
              <a:t>Le preneur peut appliquer la présente norme aux contrats de location d'immobilisations </a:t>
            </a:r>
            <a:r>
              <a:rPr lang="fr-CA" sz="1800" u="sng" dirty="0">
                <a:solidFill>
                  <a:srgbClr val="0070C0"/>
                </a:solidFill>
              </a:rPr>
              <a:t>incorporelles</a:t>
            </a:r>
            <a:r>
              <a:rPr lang="fr-CA" sz="1800" dirty="0">
                <a:solidFill>
                  <a:srgbClr val="0070C0"/>
                </a:solidFill>
              </a:rPr>
              <a:t> autres que ceux décrits au paragraphe 3(e), mais il n'est pas tenu de le faire.</a:t>
            </a:r>
          </a:p>
          <a:p>
            <a:pPr marL="0" indent="0">
              <a:buNone/>
            </a:pPr>
            <a:r>
              <a:rPr lang="fr-CA" sz="1800" dirty="0">
                <a:solidFill>
                  <a:srgbClr val="FF0000"/>
                </a:solidFill>
              </a:rPr>
              <a:t>	=&gt; NCECF  : uniquement les immobilisations corporelles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38</a:t>
            </a:fld>
            <a:endParaRPr lang="fr-FR"/>
          </a:p>
        </p:txBody>
      </p:sp>
      <p:sp>
        <p:nvSpPr>
          <p:cNvPr id="5" name="Espace réservé du pied de page 4">
            <a:extLst>
              <a:ext uri="{FF2B5EF4-FFF2-40B4-BE49-F238E27FC236}">
                <a16:creationId xmlns:a16="http://schemas.microsoft.com/office/drawing/2014/main" id="{4A919621-B283-46A7-BF75-4B8F30C1774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84292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8"/>
            <a:ext cx="10460421" cy="536892"/>
          </a:xfrm>
        </p:spPr>
        <p:txBody>
          <a:bodyPr>
            <a:normAutofit fontScale="90000"/>
          </a:bodyPr>
          <a:lstStyle/>
          <a:p>
            <a:r>
              <a:rPr lang="fr-CA" dirty="0"/>
              <a:t>IFRS 16</a:t>
            </a:r>
          </a:p>
        </p:txBody>
      </p:sp>
      <p:sp>
        <p:nvSpPr>
          <p:cNvPr id="3" name="Espace réservé du contenu 2"/>
          <p:cNvSpPr>
            <a:spLocks noGrp="1"/>
          </p:cNvSpPr>
          <p:nvPr>
            <p:ph idx="1"/>
          </p:nvPr>
        </p:nvSpPr>
        <p:spPr>
          <a:xfrm>
            <a:off x="893379" y="1052215"/>
            <a:ext cx="10460421" cy="5952931"/>
          </a:xfrm>
        </p:spPr>
        <p:txBody>
          <a:bodyPr>
            <a:normAutofit fontScale="40000" lnSpcReduction="20000"/>
          </a:bodyPr>
          <a:lstStyle/>
          <a:p>
            <a:pPr marL="0" indent="0">
              <a:buNone/>
            </a:pPr>
            <a:r>
              <a:rPr lang="fr-CA" sz="5500" b="1" dirty="0"/>
              <a:t>Exemptions relatives à la comptabilisation (paragraphes B3 à B8)</a:t>
            </a:r>
          </a:p>
          <a:p>
            <a:pPr marL="0" indent="0">
              <a:buNone/>
            </a:pPr>
            <a:endParaRPr lang="fr-CA" sz="4000" b="1" dirty="0"/>
          </a:p>
          <a:p>
            <a:pPr marL="0" indent="0">
              <a:buNone/>
            </a:pPr>
            <a:r>
              <a:rPr lang="fr-CA" sz="4800" dirty="0"/>
              <a:t>5     Le preneur peut choisir de ne pas appliquer les dispositions des paragraphes 22 à 49 :</a:t>
            </a:r>
          </a:p>
          <a:p>
            <a:pPr marL="0" indent="0">
              <a:buNone/>
            </a:pPr>
            <a:r>
              <a:rPr lang="fr-CA" sz="4800" dirty="0"/>
              <a:t>(a)     à des </a:t>
            </a:r>
            <a:r>
              <a:rPr lang="fr-CA" sz="4800" i="1" u="sng" dirty="0">
                <a:solidFill>
                  <a:srgbClr val="0070C0"/>
                </a:solidFill>
              </a:rPr>
              <a:t>contrats de location à court terme</a:t>
            </a:r>
            <a:r>
              <a:rPr lang="fr-CA" sz="4800" u="sng" dirty="0"/>
              <a:t> </a:t>
            </a:r>
            <a:r>
              <a:rPr lang="fr-CA" sz="4800" dirty="0"/>
              <a:t>; (</a:t>
            </a:r>
            <a:r>
              <a:rPr lang="fr-CA" sz="4500" i="1" dirty="0"/>
              <a:t>les contrats ayant un durée de 12 mois ou moins – et qui ne contiennent aucune option d’achat)</a:t>
            </a:r>
            <a:endParaRPr lang="fr-CA" sz="4800" i="1" dirty="0"/>
          </a:p>
          <a:p>
            <a:pPr marL="0" indent="0">
              <a:buNone/>
            </a:pPr>
            <a:r>
              <a:rPr lang="fr-CA" sz="4800" dirty="0"/>
              <a:t>(b)     à des contrats de location dont le </a:t>
            </a:r>
            <a:r>
              <a:rPr lang="fr-CA" sz="4800" i="1" u="sng" dirty="0">
                <a:solidFill>
                  <a:srgbClr val="0070C0"/>
                </a:solidFill>
              </a:rPr>
              <a:t>bien sous-jacent</a:t>
            </a:r>
            <a:r>
              <a:rPr lang="fr-CA" sz="4800" u="sng" dirty="0">
                <a:solidFill>
                  <a:srgbClr val="0070C0"/>
                </a:solidFill>
              </a:rPr>
              <a:t> est de faible valeur</a:t>
            </a:r>
            <a:r>
              <a:rPr lang="fr-CA" sz="4800" dirty="0"/>
              <a:t> (selon les explications des paragraphes B3 à B8).</a:t>
            </a:r>
          </a:p>
          <a:p>
            <a:pPr marL="0" indent="0">
              <a:buNone/>
            </a:pPr>
            <a:endParaRPr lang="fr-CA" sz="4800" dirty="0"/>
          </a:p>
          <a:p>
            <a:pPr marL="0" indent="0">
              <a:buNone/>
            </a:pPr>
            <a:r>
              <a:rPr lang="fr-CA" sz="4800" dirty="0"/>
              <a:t>6     … doit comptabiliser en charges les </a:t>
            </a:r>
            <a:r>
              <a:rPr lang="fr-CA" sz="4800" i="1" dirty="0"/>
              <a:t>paiements de loyers</a:t>
            </a:r>
            <a:r>
              <a:rPr lang="fr-CA" sz="4800" dirty="0"/>
              <a:t> associés à ces contrats, soit </a:t>
            </a:r>
            <a:r>
              <a:rPr lang="fr-CA" sz="4800" dirty="0">
                <a:solidFill>
                  <a:srgbClr val="0070C0"/>
                </a:solidFill>
              </a:rPr>
              <a:t>selon la méthode linéaire sur la </a:t>
            </a:r>
            <a:r>
              <a:rPr lang="fr-CA" sz="4800" i="1" dirty="0">
                <a:solidFill>
                  <a:srgbClr val="0070C0"/>
                </a:solidFill>
              </a:rPr>
              <a:t>durée du contrat de location</a:t>
            </a:r>
            <a:r>
              <a:rPr lang="fr-CA" sz="4800" dirty="0">
                <a:solidFill>
                  <a:srgbClr val="0070C0"/>
                </a:solidFill>
              </a:rPr>
              <a:t>, soit selon une autre méthode systématique. Le preneur doit utiliser une autre méthode systématique si celle-ci est plus représentative de la façon dont il tire avantage de l'utilisation du bien sous-jacent.</a:t>
            </a:r>
          </a:p>
          <a:p>
            <a:pPr marL="0" indent="0">
              <a:buNone/>
            </a:pPr>
            <a:endParaRPr lang="fr-CA" sz="4800" dirty="0"/>
          </a:p>
          <a:p>
            <a:pPr marL="0" indent="0">
              <a:buNone/>
            </a:pPr>
            <a:r>
              <a:rPr lang="fr-CA" sz="4800" dirty="0"/>
              <a:t>8     Le choix visant les contrats de location à court terme se fait par catégorie de biens sous-jacents. Une catégorie de biens sous-jacents est un regroupement de biens sous-jacents de nature similaire, utilisés de manière similaire dans les activités d'une entité. Le choix visant les contrats de location dont le bien sous-jacent est de faible valeur peut être exercé contrat par contrat.</a:t>
            </a:r>
          </a:p>
          <a:p>
            <a:pPr marL="0" indent="0">
              <a:buNone/>
            </a:pPr>
            <a:endParaRPr lang="fr-CA" sz="2000" dirty="0"/>
          </a:p>
          <a:p>
            <a:pPr marL="0" indent="0">
              <a:buNone/>
            </a:pPr>
            <a:r>
              <a:rPr lang="fr-CA" sz="4800" dirty="0"/>
              <a:t>=&gt;</a:t>
            </a:r>
            <a:r>
              <a:rPr lang="fr-CA" sz="4800" i="1" dirty="0">
                <a:solidFill>
                  <a:srgbClr val="00B0F0"/>
                </a:solidFill>
              </a:rPr>
              <a:t>  Analyse sommaire requise dans une réponse pour dire si le contrat dans le cas est sujet à l’exemption ou  non</a:t>
            </a:r>
            <a:endParaRPr lang="fr-CA" sz="48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39</a:t>
            </a:fld>
            <a:endParaRPr lang="fr-FR"/>
          </a:p>
        </p:txBody>
      </p:sp>
      <p:sp>
        <p:nvSpPr>
          <p:cNvPr id="5" name="Espace réservé du pied de page 4">
            <a:extLst>
              <a:ext uri="{FF2B5EF4-FFF2-40B4-BE49-F238E27FC236}">
                <a16:creationId xmlns:a16="http://schemas.microsoft.com/office/drawing/2014/main" id="{30A4955E-532E-4920-A86D-984A1715831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655583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IFRS 16 - contrat</a:t>
            </a:r>
          </a:p>
        </p:txBody>
      </p:sp>
      <p:sp>
        <p:nvSpPr>
          <p:cNvPr id="3" name="Espace réservé du contenu 2"/>
          <p:cNvSpPr>
            <a:spLocks noGrp="1"/>
          </p:cNvSpPr>
          <p:nvPr>
            <p:ph idx="1"/>
          </p:nvPr>
        </p:nvSpPr>
        <p:spPr/>
        <p:txBody>
          <a:bodyPr>
            <a:normAutofit/>
          </a:bodyPr>
          <a:lstStyle/>
          <a:p>
            <a:pPr marL="0" indent="0">
              <a:buNone/>
            </a:pPr>
            <a:r>
              <a:rPr lang="fr-CA" sz="2400" dirty="0"/>
              <a:t>9     À la date de passation d'un contrat, l'entité doit apprécier si celui-ci est ou contient un contrat de location. Un contrat est ou contient un contrat de location </a:t>
            </a:r>
            <a:r>
              <a:rPr lang="fr-CA" sz="2400" u="sng" dirty="0">
                <a:solidFill>
                  <a:srgbClr val="0070C0"/>
                </a:solidFill>
              </a:rPr>
              <a:t>s'il confère le droit de contrôler l'utilisation d'un bien déterminé pour un certain temps moyennant une contrepartie</a:t>
            </a:r>
            <a:r>
              <a:rPr lang="fr-CA" sz="2400" dirty="0"/>
              <a:t>. Des indications sur la manière d'apprécier si un contrat est ou contient un contrat de location se trouvent aux paragraphes B9 à B31.</a:t>
            </a: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40</a:t>
            </a:fld>
            <a:endParaRPr lang="fr-FR"/>
          </a:p>
        </p:txBody>
      </p:sp>
      <p:sp>
        <p:nvSpPr>
          <p:cNvPr id="5" name="Espace réservé du pied de page 4">
            <a:extLst>
              <a:ext uri="{FF2B5EF4-FFF2-40B4-BE49-F238E27FC236}">
                <a16:creationId xmlns:a16="http://schemas.microsoft.com/office/drawing/2014/main" id="{3D232DBA-7928-458F-8CBD-4C92A8D1C79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81286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IFRS 16 - durée</a:t>
            </a:r>
          </a:p>
        </p:txBody>
      </p:sp>
      <p:sp>
        <p:nvSpPr>
          <p:cNvPr id="3" name="Espace réservé du contenu 2"/>
          <p:cNvSpPr>
            <a:spLocks noGrp="1"/>
          </p:cNvSpPr>
          <p:nvPr>
            <p:ph idx="1"/>
          </p:nvPr>
        </p:nvSpPr>
        <p:spPr>
          <a:xfrm>
            <a:off x="838200" y="1786759"/>
            <a:ext cx="10515600" cy="4339405"/>
          </a:xfrm>
        </p:spPr>
        <p:txBody>
          <a:bodyPr>
            <a:normAutofit fontScale="92500" lnSpcReduction="20000"/>
          </a:bodyPr>
          <a:lstStyle/>
          <a:p>
            <a:pPr marL="0" indent="0">
              <a:buNone/>
            </a:pPr>
            <a:r>
              <a:rPr lang="fr-CA" b="1" dirty="0"/>
              <a:t>Durée du contrat de location (paragraphes B34 à B41)</a:t>
            </a:r>
          </a:p>
          <a:p>
            <a:pPr marL="0" indent="0">
              <a:buNone/>
            </a:pPr>
            <a:r>
              <a:rPr lang="fr-CA" dirty="0"/>
              <a:t>18     L'entité doit déterminer la durée du contrat de location comme étant le temps pour lequel le contrat de location est non résiliable, auquel s'ajoutent les intervalles visés par :</a:t>
            </a:r>
          </a:p>
          <a:p>
            <a:pPr marL="0" indent="0">
              <a:buNone/>
            </a:pPr>
            <a:r>
              <a:rPr lang="fr-CA" dirty="0"/>
              <a:t>(a)     toute option de prolongation du contrat de location que le preneur a la certitude raisonnable d'exercer ;</a:t>
            </a:r>
          </a:p>
          <a:p>
            <a:pPr marL="0" indent="0">
              <a:buNone/>
            </a:pPr>
            <a:r>
              <a:rPr lang="fr-CA" dirty="0"/>
              <a:t>(b)     toute option de résiliation du contrat de location que le preneur a la certitude raisonnable de ne pas exercer.</a:t>
            </a:r>
          </a:p>
          <a:p>
            <a:pPr marL="0" indent="0">
              <a:buNone/>
            </a:pPr>
            <a:endParaRPr lang="fr-CA" dirty="0"/>
          </a:p>
          <a:p>
            <a:pPr marL="0" indent="0">
              <a:buNone/>
            </a:pPr>
            <a:r>
              <a:rPr lang="fr-CA" dirty="0"/>
              <a:t>19    … le preneur a un </a:t>
            </a:r>
            <a:r>
              <a:rPr lang="fr-CA" dirty="0">
                <a:solidFill>
                  <a:srgbClr val="0070C0"/>
                </a:solidFill>
                <a:effectLst>
                  <a:outerShdw blurRad="38100" dist="38100" dir="2700000" algn="tl">
                    <a:srgbClr val="000000">
                      <a:alpha val="43137"/>
                    </a:srgbClr>
                  </a:outerShdw>
                </a:effectLst>
              </a:rPr>
              <a:t>avantage économique</a:t>
            </a:r>
            <a:r>
              <a:rPr lang="fr-CA" dirty="0"/>
              <a:t> à exercer l'option de prolongation ou à ne pas exercer l'option de résiliation, comme l'expliquent les paragraphes B37 à B40.</a:t>
            </a:r>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41</a:t>
            </a:fld>
            <a:endParaRPr lang="fr-FR"/>
          </a:p>
        </p:txBody>
      </p:sp>
      <p:sp>
        <p:nvSpPr>
          <p:cNvPr id="5" name="Espace réservé du pied de page 4">
            <a:extLst>
              <a:ext uri="{FF2B5EF4-FFF2-40B4-BE49-F238E27FC236}">
                <a16:creationId xmlns:a16="http://schemas.microsoft.com/office/drawing/2014/main" id="{49C11152-DF7B-49A2-96F6-A10C058CDAE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02813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93379" y="274638"/>
            <a:ext cx="10460421" cy="765492"/>
          </a:xfrm>
        </p:spPr>
        <p:txBody>
          <a:bodyPr/>
          <a:lstStyle/>
          <a:p>
            <a:r>
              <a:rPr lang="fr-CA" dirty="0"/>
              <a:t>IFRS 16 - Preneur</a:t>
            </a:r>
          </a:p>
        </p:txBody>
      </p:sp>
      <p:sp>
        <p:nvSpPr>
          <p:cNvPr id="3" name="Espace réservé du contenu 2"/>
          <p:cNvSpPr>
            <a:spLocks noGrp="1"/>
          </p:cNvSpPr>
          <p:nvPr>
            <p:ph idx="1"/>
          </p:nvPr>
        </p:nvSpPr>
        <p:spPr>
          <a:xfrm>
            <a:off x="893379" y="1417320"/>
            <a:ext cx="10460421" cy="4939030"/>
          </a:xfrm>
        </p:spPr>
        <p:txBody>
          <a:bodyPr>
            <a:normAutofit fontScale="32500" lnSpcReduction="20000"/>
          </a:bodyPr>
          <a:lstStyle/>
          <a:p>
            <a:pPr marL="0" indent="0">
              <a:buNone/>
            </a:pPr>
            <a:r>
              <a:rPr lang="fr-CA" sz="6200" dirty="0"/>
              <a:t>22     À la </a:t>
            </a:r>
            <a:r>
              <a:rPr lang="fr-CA" sz="6200" i="1" dirty="0"/>
              <a:t>date de début</a:t>
            </a:r>
            <a:r>
              <a:rPr lang="fr-CA" sz="6200" dirty="0"/>
              <a:t>, le preneur doit comptabiliser un </a:t>
            </a:r>
            <a:r>
              <a:rPr lang="fr-CA" sz="6200" dirty="0">
                <a:solidFill>
                  <a:srgbClr val="FF0000"/>
                </a:solidFill>
              </a:rPr>
              <a:t>actif</a:t>
            </a:r>
            <a:r>
              <a:rPr lang="fr-CA" sz="6200" dirty="0"/>
              <a:t> au titre du droit d'utilisation et une obligation locative.</a:t>
            </a:r>
          </a:p>
          <a:p>
            <a:pPr marL="0" indent="0">
              <a:buNone/>
            </a:pPr>
            <a:endParaRPr lang="fr-CA" sz="6200" dirty="0"/>
          </a:p>
          <a:p>
            <a:pPr marL="0" indent="0">
              <a:buNone/>
            </a:pPr>
            <a:r>
              <a:rPr lang="fr-CA" sz="6200" dirty="0"/>
              <a:t>24     Le coût de </a:t>
            </a:r>
            <a:r>
              <a:rPr lang="fr-CA" sz="6200" dirty="0">
                <a:solidFill>
                  <a:srgbClr val="0070C0"/>
                </a:solidFill>
              </a:rPr>
              <a:t>l'actif au titre du droit d'utilisation</a:t>
            </a:r>
            <a:r>
              <a:rPr lang="fr-CA" sz="6200" dirty="0"/>
              <a:t> doit comprendre :</a:t>
            </a:r>
          </a:p>
          <a:p>
            <a:pPr marL="0" indent="0">
              <a:buNone/>
            </a:pPr>
            <a:r>
              <a:rPr lang="fr-CA" sz="6200" dirty="0"/>
              <a:t>(a)     le montant initial de l'obligation locative, évalué comme il est indiqué au paragraphe 26 ;</a:t>
            </a:r>
          </a:p>
          <a:p>
            <a:pPr marL="0" indent="0">
              <a:buNone/>
            </a:pPr>
            <a:r>
              <a:rPr lang="fr-CA" sz="6200" dirty="0"/>
              <a:t>(b)     le cas échéant, les paiements de loyers versés à la date de début ou avant cette date, déduction faite des </a:t>
            </a:r>
            <a:r>
              <a:rPr lang="fr-CA" sz="6200" i="1" dirty="0"/>
              <a:t>avantages incitatifs à la location</a:t>
            </a:r>
            <a:r>
              <a:rPr lang="fr-CA" sz="6200" dirty="0"/>
              <a:t> reçus ;</a:t>
            </a:r>
          </a:p>
          <a:p>
            <a:pPr marL="0" indent="0">
              <a:buNone/>
            </a:pPr>
            <a:r>
              <a:rPr lang="fr-CA" sz="6200" dirty="0"/>
              <a:t>(c)     le cas échéant, les </a:t>
            </a:r>
            <a:r>
              <a:rPr lang="fr-CA" sz="6200" i="1" dirty="0"/>
              <a:t>coûts directs initiaux</a:t>
            </a:r>
            <a:r>
              <a:rPr lang="fr-CA" sz="6200" dirty="0"/>
              <a:t> engagés par le preneur ;</a:t>
            </a:r>
          </a:p>
          <a:p>
            <a:pPr marL="0" indent="0">
              <a:buNone/>
            </a:pPr>
            <a:r>
              <a:rPr lang="fr-CA" sz="6200" dirty="0"/>
              <a:t>(d)     une estimation des coûts que le preneur devra engager pour le démantèlement et l'enlèvement du bien sous-jacent ainsi que la restauration du lieu ou pour la remise du bien sous-jacent dans l'état exigé par les termes et conditions du contrat de location, à moins que ces coûts ne soient engagés pour produire des stocks. Le preneur contracte l'obligation afférente à ces coûts soit à la date de début, soit par suite de l'utilisation du bien sous-jacent pendant une durée donnée.</a:t>
            </a:r>
            <a:endParaRPr lang="fr-CA" sz="56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42</a:t>
            </a:fld>
            <a:endParaRPr lang="fr-FR"/>
          </a:p>
        </p:txBody>
      </p:sp>
      <p:sp>
        <p:nvSpPr>
          <p:cNvPr id="5" name="Espace réservé du pied de page 4">
            <a:extLst>
              <a:ext uri="{FF2B5EF4-FFF2-40B4-BE49-F238E27FC236}">
                <a16:creationId xmlns:a16="http://schemas.microsoft.com/office/drawing/2014/main" id="{44FCDF1B-EEBC-443C-A084-3CD734FD145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27681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765492"/>
          </a:xfrm>
        </p:spPr>
        <p:txBody>
          <a:bodyPr/>
          <a:lstStyle/>
          <a:p>
            <a:r>
              <a:rPr lang="fr-CA" dirty="0"/>
              <a:t>IFRS 16 - Preneur</a:t>
            </a:r>
          </a:p>
        </p:txBody>
      </p:sp>
      <p:sp>
        <p:nvSpPr>
          <p:cNvPr id="3" name="Espace réservé du contenu 2"/>
          <p:cNvSpPr>
            <a:spLocks noGrp="1"/>
          </p:cNvSpPr>
          <p:nvPr>
            <p:ph idx="1"/>
          </p:nvPr>
        </p:nvSpPr>
        <p:spPr>
          <a:xfrm>
            <a:off x="872359" y="1345324"/>
            <a:ext cx="10481441" cy="5011026"/>
          </a:xfrm>
        </p:spPr>
        <p:txBody>
          <a:bodyPr>
            <a:normAutofit fontScale="25000" lnSpcReduction="20000"/>
          </a:bodyPr>
          <a:lstStyle/>
          <a:p>
            <a:pPr marL="0" indent="0">
              <a:buNone/>
            </a:pPr>
            <a:r>
              <a:rPr lang="fr-CA" sz="8000" dirty="0"/>
              <a:t>26     À la date de début, le preneur doit évaluer </a:t>
            </a:r>
            <a:r>
              <a:rPr lang="fr-CA" sz="8000" dirty="0">
                <a:solidFill>
                  <a:srgbClr val="FF0000"/>
                </a:solidFill>
              </a:rPr>
              <a:t>l'obligation locative </a:t>
            </a:r>
            <a:r>
              <a:rPr lang="fr-CA" sz="8000" dirty="0"/>
              <a:t>à la valeur actualisée des paiements de loyers qui n'ont pas encore été versés. </a:t>
            </a:r>
          </a:p>
          <a:p>
            <a:pPr marL="0" indent="0">
              <a:buNone/>
            </a:pPr>
            <a:r>
              <a:rPr lang="fr-CA" sz="8000" dirty="0"/>
              <a:t>… </a:t>
            </a:r>
            <a:r>
              <a:rPr lang="fr-CA" sz="8000" i="1" dirty="0"/>
              <a:t>taux d'intérêt implicite du contrat de location</a:t>
            </a:r>
            <a:r>
              <a:rPr lang="fr-CA" sz="8000" dirty="0"/>
              <a:t> s'il est possible de déterminer facilement ce taux. Sinon, le preneur doit utiliser son </a:t>
            </a:r>
            <a:r>
              <a:rPr lang="fr-CA" sz="8000" i="1" dirty="0"/>
              <a:t>taux d'emprunt marginal</a:t>
            </a:r>
            <a:r>
              <a:rPr lang="fr-CA" sz="8000" dirty="0"/>
              <a:t>.</a:t>
            </a:r>
          </a:p>
          <a:p>
            <a:pPr marL="0" indent="0">
              <a:buNone/>
            </a:pPr>
            <a:endParaRPr lang="fr-CA" sz="7200" dirty="0"/>
          </a:p>
          <a:p>
            <a:pPr marL="0" indent="0">
              <a:buNone/>
            </a:pPr>
            <a:r>
              <a:rPr lang="fr-CA" sz="8000" dirty="0"/>
              <a:t>27     …</a:t>
            </a:r>
          </a:p>
          <a:p>
            <a:pPr marL="0" indent="0">
              <a:buNone/>
            </a:pPr>
            <a:r>
              <a:rPr lang="fr-CA" sz="8000" dirty="0"/>
              <a:t>(a)     les </a:t>
            </a:r>
            <a:r>
              <a:rPr lang="fr-CA" sz="8000" i="1" dirty="0"/>
              <a:t>paiements fixes</a:t>
            </a:r>
            <a:r>
              <a:rPr lang="fr-CA" sz="8000" dirty="0"/>
              <a:t> (…), déduction faite des avantages incitatifs à la location à recevoir ;</a:t>
            </a:r>
          </a:p>
          <a:p>
            <a:pPr marL="0" indent="0">
              <a:buNone/>
            </a:pPr>
            <a:r>
              <a:rPr lang="fr-CA" sz="8000" dirty="0"/>
              <a:t>(b)     les </a:t>
            </a:r>
            <a:r>
              <a:rPr lang="fr-CA" sz="8000" i="1" dirty="0"/>
              <a:t>paiements de loyers variables</a:t>
            </a:r>
            <a:r>
              <a:rPr lang="fr-CA" sz="8000" dirty="0"/>
              <a:t> qui sont fonction d'un indice ou d'un taux (par exemple indice des prix à la consommation), initialement évalués au moyen de l'indice ou du taux en vigueur à la date de début ;</a:t>
            </a:r>
          </a:p>
          <a:p>
            <a:pPr marL="0" indent="0">
              <a:buNone/>
            </a:pPr>
            <a:r>
              <a:rPr lang="fr-CA" sz="8000" dirty="0"/>
              <a:t>(c)     les sommes que le preneur s'attend à devoir payer au bailleur au titre de </a:t>
            </a:r>
            <a:r>
              <a:rPr lang="fr-CA" sz="8000" i="1" dirty="0"/>
              <a:t>garanties de valeur résiduelle</a:t>
            </a:r>
            <a:r>
              <a:rPr lang="fr-CA" sz="8000" dirty="0"/>
              <a:t> ;</a:t>
            </a:r>
          </a:p>
          <a:p>
            <a:pPr marL="0" indent="0">
              <a:buNone/>
            </a:pPr>
            <a:r>
              <a:rPr lang="fr-CA" sz="8000" dirty="0"/>
              <a:t>(d)     le prix d'exercice de l'option d'achat que le preneur a la certitude raisonnable d'exercer (…) ;</a:t>
            </a:r>
          </a:p>
          <a:p>
            <a:pPr marL="0" indent="0">
              <a:buNone/>
            </a:pPr>
            <a:r>
              <a:rPr lang="fr-CA" sz="8000" dirty="0"/>
              <a:t>(e)     les pénalités exigées en cas de résiliation du contrat de location, si la durée du contrat de location reflète l'exercice par le preneur de l'option de résiliation du contrat de location.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43</a:t>
            </a:fld>
            <a:endParaRPr lang="fr-FR"/>
          </a:p>
        </p:txBody>
      </p:sp>
      <p:sp>
        <p:nvSpPr>
          <p:cNvPr id="5" name="Espace réservé du pied de page 4">
            <a:extLst>
              <a:ext uri="{FF2B5EF4-FFF2-40B4-BE49-F238E27FC236}">
                <a16:creationId xmlns:a16="http://schemas.microsoft.com/office/drawing/2014/main" id="{E7B16779-0FFF-4E18-9C85-3DC4D62E46C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520851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a:bodyPr>
          <a:lstStyle/>
          <a:p>
            <a:pPr marL="0" indent="0">
              <a:buNone/>
            </a:pPr>
            <a:r>
              <a:rPr lang="fr-CA" dirty="0"/>
              <a:t>À la </a:t>
            </a:r>
            <a:r>
              <a:rPr lang="fr-CA" i="1" dirty="0"/>
              <a:t>date de début</a:t>
            </a:r>
            <a:r>
              <a:rPr lang="fr-CA" dirty="0"/>
              <a:t>, le preneur doit comptabiliser un actif au titre du droit d'utilisation et une obligation locative.</a:t>
            </a:r>
          </a:p>
          <a:p>
            <a:pPr marL="354013" lvl="2" indent="-354013" fontAlgn="base"/>
            <a:r>
              <a:rPr lang="fr-CA" sz="2800" dirty="0"/>
              <a:t>L’actif lié au droit d’utilisation est amorti (habituellement amortissement linéaire)</a:t>
            </a:r>
          </a:p>
          <a:p>
            <a:pPr marL="811213" lvl="3" indent="-354013" fontAlgn="base"/>
            <a:r>
              <a:rPr lang="fr-CA" sz="2400" dirty="0"/>
              <a:t>Durée du bail ou durée économique</a:t>
            </a:r>
          </a:p>
          <a:p>
            <a:pPr marL="354013" lvl="2" indent="-354013" fontAlgn="base"/>
            <a:r>
              <a:rPr lang="fr-CA" sz="2800" dirty="0"/>
              <a:t>Des intérêts sont cumulés sur le passif</a:t>
            </a:r>
            <a:endParaRPr lang="fr-CA" sz="5600" dirty="0"/>
          </a:p>
          <a:p>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44</a:t>
            </a:fld>
            <a:endParaRPr lang="fr-FR"/>
          </a:p>
        </p:txBody>
      </p:sp>
      <p:sp>
        <p:nvSpPr>
          <p:cNvPr id="5" name="Espace réservé du pied de page 4">
            <a:extLst>
              <a:ext uri="{FF2B5EF4-FFF2-40B4-BE49-F238E27FC236}">
                <a16:creationId xmlns:a16="http://schemas.microsoft.com/office/drawing/2014/main" id="{981D0BE6-FC0E-4A77-B3BD-954CBE3E42A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18779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8229600" cy="594042"/>
          </a:xfrm>
        </p:spPr>
        <p:txBody>
          <a:bodyPr>
            <a:normAutofit fontScale="90000"/>
          </a:bodyPr>
          <a:lstStyle/>
          <a:p>
            <a:r>
              <a:rPr lang="fr-CA" dirty="0"/>
              <a:t>IFRS 16 - Preneur</a:t>
            </a:r>
          </a:p>
        </p:txBody>
      </p:sp>
      <p:sp>
        <p:nvSpPr>
          <p:cNvPr id="3" name="Espace réservé du contenu 2"/>
          <p:cNvSpPr>
            <a:spLocks noGrp="1"/>
          </p:cNvSpPr>
          <p:nvPr>
            <p:ph idx="1"/>
          </p:nvPr>
        </p:nvSpPr>
        <p:spPr>
          <a:xfrm>
            <a:off x="882869" y="1383031"/>
            <a:ext cx="10470931" cy="4743133"/>
          </a:xfrm>
        </p:spPr>
        <p:txBody>
          <a:bodyPr>
            <a:normAutofit/>
          </a:bodyPr>
          <a:lstStyle/>
          <a:p>
            <a:pPr marL="0" indent="0">
              <a:buNone/>
            </a:pPr>
            <a:r>
              <a:rPr lang="fr-CA" dirty="0"/>
              <a:t>34     Si le preneur applique le modèle de la juste valeur décrit dans </a:t>
            </a:r>
            <a:r>
              <a:rPr lang="fr-CA" dirty="0">
                <a:solidFill>
                  <a:srgbClr val="00B0F0"/>
                </a:solidFill>
              </a:rPr>
              <a:t>IAS 40 </a:t>
            </a:r>
            <a:r>
              <a:rPr lang="fr-CA" i="1" dirty="0"/>
              <a:t>Immeubles de placement</a:t>
            </a:r>
            <a:r>
              <a:rPr lang="fr-CA" dirty="0"/>
              <a:t> à ses immeubles de placement, il </a:t>
            </a:r>
            <a:r>
              <a:rPr lang="fr-CA" u="sng" dirty="0">
                <a:solidFill>
                  <a:srgbClr val="0070C0"/>
                </a:solidFill>
              </a:rPr>
              <a:t>doit</a:t>
            </a:r>
            <a:r>
              <a:rPr lang="fr-CA" dirty="0"/>
              <a:t> aussi appliquer le modèle de la juste valeur à ses actifs au titre de droits d'utilisation qui répondent à la définition d'un immeuble de placement au sens d'IAS 40.</a:t>
            </a:r>
          </a:p>
          <a:p>
            <a:pPr marL="0" indent="0">
              <a:buNone/>
            </a:pPr>
            <a:endParaRPr lang="fr-CA" dirty="0"/>
          </a:p>
          <a:p>
            <a:pPr marL="0" indent="0">
              <a:buNone/>
            </a:pPr>
            <a:r>
              <a:rPr lang="fr-CA" dirty="0"/>
              <a:t>35     Si le preneur applique le modèle de la réévaluation décrit dans </a:t>
            </a:r>
            <a:r>
              <a:rPr lang="fr-CA" dirty="0">
                <a:solidFill>
                  <a:srgbClr val="00B0F0"/>
                </a:solidFill>
              </a:rPr>
              <a:t>IAS 16 </a:t>
            </a:r>
            <a:r>
              <a:rPr lang="fr-CA" dirty="0"/>
              <a:t>à une catégorie d'immobilisations corporelles, il </a:t>
            </a:r>
            <a:r>
              <a:rPr lang="fr-CA" u="sng" dirty="0">
                <a:solidFill>
                  <a:srgbClr val="0070C0"/>
                </a:solidFill>
              </a:rPr>
              <a:t>peut</a:t>
            </a:r>
            <a:r>
              <a:rPr lang="fr-CA" dirty="0"/>
              <a:t> choisir d'appliquer ce modèle à tous les actifs au titre de droits d'utilisation qui se rattachent à des immobilisations corporelles de cette catégorie.</a:t>
            </a:r>
          </a:p>
          <a:p>
            <a:pPr marL="0" indent="0">
              <a:buNone/>
            </a:pPr>
            <a:endParaRPr lang="fr-CA" sz="80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45</a:t>
            </a:fld>
            <a:endParaRPr lang="fr-FR"/>
          </a:p>
        </p:txBody>
      </p:sp>
      <p:sp>
        <p:nvSpPr>
          <p:cNvPr id="5" name="Espace réservé du pied de page 4">
            <a:extLst>
              <a:ext uri="{FF2B5EF4-FFF2-40B4-BE49-F238E27FC236}">
                <a16:creationId xmlns:a16="http://schemas.microsoft.com/office/drawing/2014/main" id="{D37D5798-BE15-4D50-B34F-D45A948AC7B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2660490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9"/>
            <a:ext cx="10481441" cy="661035"/>
          </a:xfrm>
        </p:spPr>
        <p:txBody>
          <a:bodyPr>
            <a:normAutofit fontScale="90000"/>
          </a:bodyPr>
          <a:lstStyle/>
          <a:p>
            <a:r>
              <a:rPr lang="fr-CA" dirty="0"/>
              <a:t>IFRS 16 - Bailleur</a:t>
            </a:r>
          </a:p>
        </p:txBody>
      </p:sp>
      <p:sp>
        <p:nvSpPr>
          <p:cNvPr id="3" name="Espace réservé du contenu 2"/>
          <p:cNvSpPr>
            <a:spLocks noGrp="1"/>
          </p:cNvSpPr>
          <p:nvPr>
            <p:ph idx="1"/>
          </p:nvPr>
        </p:nvSpPr>
        <p:spPr>
          <a:xfrm>
            <a:off x="872359" y="1634490"/>
            <a:ext cx="10481441" cy="3120390"/>
          </a:xfrm>
        </p:spPr>
        <p:txBody>
          <a:bodyPr>
            <a:normAutofit/>
          </a:bodyPr>
          <a:lstStyle/>
          <a:p>
            <a:pPr marL="0" indent="0">
              <a:buNone/>
            </a:pPr>
            <a:r>
              <a:rPr lang="fr-CA" dirty="0"/>
              <a:t>62     Un contrat de location est classé en tant que </a:t>
            </a:r>
            <a:r>
              <a:rPr lang="fr-CA" u="sng" dirty="0">
                <a:solidFill>
                  <a:srgbClr val="0070C0"/>
                </a:solidFill>
              </a:rPr>
              <a:t>contrat de location-financement</a:t>
            </a:r>
            <a:r>
              <a:rPr lang="fr-CA" dirty="0"/>
              <a:t> s'il transfère au preneur la quasi-totalité des risques et des avantages inhérents à la propriété du bien sous-jacent. Un contrat de location est classé en tant que </a:t>
            </a:r>
            <a:r>
              <a:rPr lang="fr-CA" u="sng" dirty="0">
                <a:solidFill>
                  <a:srgbClr val="0070C0"/>
                </a:solidFill>
              </a:rPr>
              <a:t>contrat de location simple</a:t>
            </a:r>
            <a:r>
              <a:rPr lang="fr-CA" dirty="0"/>
              <a:t> s'il ne transfère pas au preneur la quasi-totalité des risques et des avantages inhérents à la propriété du bien sous-jacent.</a:t>
            </a:r>
          </a:p>
          <a:p>
            <a:pPr marL="0" indent="0">
              <a:buNone/>
            </a:pPr>
            <a:endParaRPr lang="fr-CA" sz="5100" b="1" dirty="0"/>
          </a:p>
          <a:p>
            <a:pPr marL="0" indent="0">
              <a:buNone/>
            </a:pPr>
            <a:endParaRPr lang="fr-CA" sz="5100" b="1" dirty="0"/>
          </a:p>
          <a:p>
            <a:pPr marL="0" indent="0">
              <a:buNone/>
            </a:pPr>
            <a:endParaRPr lang="fr-CA" sz="5100" b="1" dirty="0"/>
          </a:p>
          <a:p>
            <a:pPr marL="0" indent="0">
              <a:buNone/>
            </a:pPr>
            <a:endParaRPr lang="fr-CA" sz="4000" dirty="0"/>
          </a:p>
          <a:p>
            <a:pPr marL="0" indent="0">
              <a:buNone/>
            </a:pPr>
            <a:endParaRPr lang="fr-CA" sz="5600" dirty="0"/>
          </a:p>
          <a:p>
            <a:endParaRPr lang="fr-CA" sz="5600" b="1" dirty="0"/>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46</a:t>
            </a:fld>
            <a:endParaRPr lang="fr-FR"/>
          </a:p>
        </p:txBody>
      </p:sp>
      <p:sp>
        <p:nvSpPr>
          <p:cNvPr id="5" name="Espace réservé du pied de page 4">
            <a:extLst>
              <a:ext uri="{FF2B5EF4-FFF2-40B4-BE49-F238E27FC236}">
                <a16:creationId xmlns:a16="http://schemas.microsoft.com/office/drawing/2014/main" id="{66A4AD14-E8FF-48CB-A867-D488DD80C7A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17476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1338" y="274639"/>
            <a:ext cx="10502462" cy="661035"/>
          </a:xfrm>
        </p:spPr>
        <p:txBody>
          <a:bodyPr>
            <a:normAutofit fontScale="90000"/>
          </a:bodyPr>
          <a:lstStyle/>
          <a:p>
            <a:r>
              <a:rPr lang="fr-CA" dirty="0"/>
              <a:t>IFRS 16 – Bailleur - classement</a:t>
            </a:r>
          </a:p>
        </p:txBody>
      </p:sp>
      <p:sp>
        <p:nvSpPr>
          <p:cNvPr id="3" name="Espace réservé du contenu 2"/>
          <p:cNvSpPr>
            <a:spLocks noGrp="1"/>
          </p:cNvSpPr>
          <p:nvPr>
            <p:ph idx="1"/>
          </p:nvPr>
        </p:nvSpPr>
        <p:spPr>
          <a:xfrm>
            <a:off x="851338" y="1280160"/>
            <a:ext cx="10502462" cy="5189220"/>
          </a:xfrm>
        </p:spPr>
        <p:txBody>
          <a:bodyPr>
            <a:normAutofit fontScale="25000" lnSpcReduction="20000"/>
          </a:bodyPr>
          <a:lstStyle/>
          <a:p>
            <a:pPr marL="0" indent="0">
              <a:buNone/>
            </a:pPr>
            <a:r>
              <a:rPr lang="fr-CA" sz="8000" dirty="0"/>
              <a:t>63     …</a:t>
            </a:r>
          </a:p>
          <a:p>
            <a:pPr marL="0" indent="0">
              <a:buNone/>
            </a:pPr>
            <a:r>
              <a:rPr lang="fr-CA" sz="8000" dirty="0"/>
              <a:t>(a)     …, de </a:t>
            </a:r>
            <a:r>
              <a:rPr lang="fr-CA" sz="8000" dirty="0">
                <a:solidFill>
                  <a:srgbClr val="0070C0"/>
                </a:solidFill>
              </a:rPr>
              <a:t>transférer</a:t>
            </a:r>
            <a:r>
              <a:rPr lang="fr-CA" sz="8000" dirty="0"/>
              <a:t> au preneur la </a:t>
            </a:r>
            <a:r>
              <a:rPr lang="fr-CA" sz="8000" dirty="0">
                <a:solidFill>
                  <a:srgbClr val="0070C0"/>
                </a:solidFill>
              </a:rPr>
              <a:t>propriété</a:t>
            </a:r>
            <a:r>
              <a:rPr lang="fr-CA" sz="8000" dirty="0"/>
              <a:t> du bien sous-jacent ;</a:t>
            </a:r>
          </a:p>
          <a:p>
            <a:pPr marL="0" indent="0">
              <a:buNone/>
            </a:pPr>
            <a:r>
              <a:rPr lang="fr-CA" sz="8000" dirty="0"/>
              <a:t>(b)     le preneur a l'</a:t>
            </a:r>
            <a:r>
              <a:rPr lang="fr-CA" sz="8000" dirty="0">
                <a:solidFill>
                  <a:srgbClr val="0070C0"/>
                </a:solidFill>
              </a:rPr>
              <a:t>option d'acheter le bien sous-jacent à un prix … suffisamment inférieur à sa </a:t>
            </a:r>
            <a:r>
              <a:rPr lang="fr-CA" sz="8000" i="1" dirty="0">
                <a:solidFill>
                  <a:srgbClr val="0070C0"/>
                </a:solidFill>
              </a:rPr>
              <a:t>juste valeur</a:t>
            </a:r>
            <a:r>
              <a:rPr lang="fr-CA" sz="8000" dirty="0"/>
              <a:t> … ;</a:t>
            </a:r>
          </a:p>
          <a:p>
            <a:pPr marL="0" indent="0">
              <a:buNone/>
            </a:pPr>
            <a:r>
              <a:rPr lang="fr-CA" sz="8000" dirty="0"/>
              <a:t>(c)     la </a:t>
            </a:r>
            <a:r>
              <a:rPr lang="fr-CA" sz="8000" dirty="0">
                <a:solidFill>
                  <a:srgbClr val="0070C0"/>
                </a:solidFill>
              </a:rPr>
              <a:t>durée</a:t>
            </a:r>
            <a:r>
              <a:rPr lang="fr-CA" sz="8000" dirty="0"/>
              <a:t> du contrat de location couvre la </a:t>
            </a:r>
            <a:r>
              <a:rPr lang="fr-CA" sz="8000" dirty="0">
                <a:solidFill>
                  <a:srgbClr val="0070C0"/>
                </a:solidFill>
              </a:rPr>
              <a:t>majeure partie</a:t>
            </a:r>
            <a:r>
              <a:rPr lang="fr-CA" sz="8000" dirty="0"/>
              <a:t> de la </a:t>
            </a:r>
            <a:r>
              <a:rPr lang="fr-CA" sz="8000" i="1" dirty="0"/>
              <a:t>durée de vie économique</a:t>
            </a:r>
            <a:r>
              <a:rPr lang="fr-CA" sz="8000" dirty="0"/>
              <a:t> du bien sous-jacent, même s'il n'y a pas de transfert de propriété ;</a:t>
            </a:r>
          </a:p>
          <a:p>
            <a:pPr marL="0" indent="0">
              <a:buNone/>
            </a:pPr>
            <a:r>
              <a:rPr lang="fr-CA" sz="8000" dirty="0"/>
              <a:t>(d)     …, la </a:t>
            </a:r>
            <a:r>
              <a:rPr lang="fr-CA" sz="8000" dirty="0">
                <a:solidFill>
                  <a:srgbClr val="0070C0"/>
                </a:solidFill>
              </a:rPr>
              <a:t>valeur actualisée des paiements de loyer</a:t>
            </a:r>
            <a:r>
              <a:rPr lang="fr-CA" sz="8000" dirty="0"/>
              <a:t>s s'élève au moins à la </a:t>
            </a:r>
            <a:r>
              <a:rPr lang="fr-CA" sz="8000" dirty="0">
                <a:solidFill>
                  <a:srgbClr val="0070C0"/>
                </a:solidFill>
              </a:rPr>
              <a:t>quasi-totalité</a:t>
            </a:r>
            <a:r>
              <a:rPr lang="fr-CA" sz="8000" dirty="0"/>
              <a:t> de la juste valeur du bien sous-jacent ;</a:t>
            </a:r>
          </a:p>
          <a:p>
            <a:pPr marL="0" indent="0">
              <a:buNone/>
            </a:pPr>
            <a:r>
              <a:rPr lang="fr-CA" sz="8000" dirty="0"/>
              <a:t>(e)     le bien sous-jacent est d'une </a:t>
            </a:r>
            <a:r>
              <a:rPr lang="fr-CA" sz="8000" dirty="0">
                <a:solidFill>
                  <a:srgbClr val="0070C0"/>
                </a:solidFill>
              </a:rPr>
              <a:t>nature tellement spécifique</a:t>
            </a:r>
            <a:r>
              <a:rPr lang="fr-CA" sz="8000" dirty="0"/>
              <a:t> que seul le preneur peut l'utiliser sans lui apporter de modifications majeures.</a:t>
            </a:r>
          </a:p>
          <a:p>
            <a:pPr marL="0" indent="0">
              <a:buNone/>
            </a:pPr>
            <a:r>
              <a:rPr lang="fr-CA" sz="8000" dirty="0"/>
              <a:t>64     …</a:t>
            </a:r>
          </a:p>
          <a:p>
            <a:pPr marL="0" indent="0">
              <a:buNone/>
            </a:pPr>
            <a:r>
              <a:rPr lang="fr-CA" sz="8000" dirty="0"/>
              <a:t>(a)     si le preneur peut résilier le contrat de location, les pertes que le bailleur subit relativement à la résiliation sont à la charge du preneur ;</a:t>
            </a:r>
          </a:p>
          <a:p>
            <a:pPr marL="0" indent="0">
              <a:buNone/>
            </a:pPr>
            <a:r>
              <a:rPr lang="fr-CA" sz="8000" dirty="0"/>
              <a:t>(b)     les profits ou les pertes résultant de la variation de la juste valeur résiduelle reviennent au preneur ou sont à sa charge (par exemple sous la forme d'une remise de loyer égale à la majeure partie du produit de cession à la fin du contrat de location) ;</a:t>
            </a:r>
          </a:p>
          <a:p>
            <a:pPr marL="0" indent="0">
              <a:buNone/>
            </a:pPr>
            <a:r>
              <a:rPr lang="fr-CA" sz="8000" dirty="0"/>
              <a:t>(c)     le preneur a la faculté de prolonger la location moyennant un loyer sensiblement inférieur à celui du marché</a:t>
            </a:r>
            <a:endParaRPr lang="fr-CA" sz="5600" dirty="0"/>
          </a:p>
          <a:p>
            <a:endParaRPr lang="fr-CA" sz="5600" b="1" dirty="0"/>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47</a:t>
            </a:fld>
            <a:endParaRPr lang="fr-FR"/>
          </a:p>
        </p:txBody>
      </p:sp>
      <p:sp>
        <p:nvSpPr>
          <p:cNvPr id="5" name="Espace réservé du pied de page 4">
            <a:extLst>
              <a:ext uri="{FF2B5EF4-FFF2-40B4-BE49-F238E27FC236}">
                <a16:creationId xmlns:a16="http://schemas.microsoft.com/office/drawing/2014/main" id="{C1A13245-4989-43C2-BEBA-A4B1CF604FC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85873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1338" y="274638"/>
            <a:ext cx="10502462" cy="468312"/>
          </a:xfrm>
        </p:spPr>
        <p:txBody>
          <a:bodyPr>
            <a:normAutofit fontScale="90000"/>
          </a:bodyPr>
          <a:lstStyle/>
          <a:p>
            <a:r>
              <a:rPr lang="fr-CA" dirty="0"/>
              <a:t>IFRS 16 - Bailleur</a:t>
            </a:r>
          </a:p>
        </p:txBody>
      </p:sp>
      <p:sp>
        <p:nvSpPr>
          <p:cNvPr id="3" name="Espace réservé du contenu 2"/>
          <p:cNvSpPr>
            <a:spLocks noGrp="1"/>
          </p:cNvSpPr>
          <p:nvPr>
            <p:ph idx="1"/>
          </p:nvPr>
        </p:nvSpPr>
        <p:spPr>
          <a:xfrm>
            <a:off x="851338" y="1085850"/>
            <a:ext cx="10502462" cy="5189220"/>
          </a:xfrm>
        </p:spPr>
        <p:txBody>
          <a:bodyPr>
            <a:normAutofit fontScale="25000" lnSpcReduction="20000"/>
          </a:bodyPr>
          <a:lstStyle/>
          <a:p>
            <a:pPr marL="0" indent="0">
              <a:buNone/>
            </a:pPr>
            <a:r>
              <a:rPr lang="fr-CA" sz="9600" b="1" dirty="0"/>
              <a:t>Contrats de location-financement</a:t>
            </a:r>
            <a:endParaRPr lang="fr-CA" sz="7200" b="1" dirty="0"/>
          </a:p>
          <a:p>
            <a:pPr marL="0" indent="0">
              <a:buNone/>
            </a:pPr>
            <a:endParaRPr lang="fr-CA" sz="7200" b="1" dirty="0"/>
          </a:p>
          <a:p>
            <a:pPr marL="0" indent="0">
              <a:buNone/>
            </a:pPr>
            <a:r>
              <a:rPr lang="fr-CA" sz="8000" dirty="0"/>
              <a:t>67     À la date de début, le bailleur doit comptabiliser dans l'état de la situation financière les actifs détenus en vertu d'un contrat de location-financement et les présenter comme des </a:t>
            </a:r>
            <a:r>
              <a:rPr lang="fr-CA" sz="8000" dirty="0">
                <a:solidFill>
                  <a:srgbClr val="0070C0"/>
                </a:solidFill>
              </a:rPr>
              <a:t>créances</a:t>
            </a:r>
            <a:r>
              <a:rPr lang="fr-CA" sz="8000" dirty="0"/>
              <a:t> pour un montant égal à l'</a:t>
            </a:r>
            <a:r>
              <a:rPr lang="fr-CA" sz="8000" i="1" dirty="0"/>
              <a:t>investissement net dans le contrat de location</a:t>
            </a:r>
            <a:r>
              <a:rPr lang="fr-CA" sz="8000" dirty="0"/>
              <a:t>.</a:t>
            </a:r>
          </a:p>
          <a:p>
            <a:pPr marL="0" indent="0">
              <a:buNone/>
            </a:pPr>
            <a:endParaRPr lang="fr-CA" sz="3600" b="1" dirty="0"/>
          </a:p>
          <a:p>
            <a:pPr marL="0" indent="0">
              <a:buNone/>
            </a:pPr>
            <a:r>
              <a:rPr lang="fr-CA" sz="8000" dirty="0"/>
              <a:t>70     … à savoir :</a:t>
            </a:r>
          </a:p>
          <a:p>
            <a:pPr marL="0" indent="0">
              <a:buNone/>
            </a:pPr>
            <a:r>
              <a:rPr lang="fr-CA" sz="8000" dirty="0"/>
              <a:t>(a)     les paiements fixes (…), déduction faite des avantages incitatifs à la location à payer ;</a:t>
            </a:r>
          </a:p>
          <a:p>
            <a:pPr marL="0" indent="0">
              <a:buNone/>
            </a:pPr>
            <a:r>
              <a:rPr lang="fr-CA" sz="8000" dirty="0"/>
              <a:t>(b)     les paiements de loyers variables qui sont fonction d'un indice ou d'un taux, initialement évalués au moyen de l'indice ou du taux en vigueur à la date de début ;</a:t>
            </a:r>
          </a:p>
          <a:p>
            <a:pPr marL="0" indent="0">
              <a:buNone/>
            </a:pPr>
            <a:r>
              <a:rPr lang="fr-CA" sz="8000" dirty="0"/>
              <a:t>(c)     les garanties de valeur résiduelle données au bailleur par le preneur, … ;</a:t>
            </a:r>
          </a:p>
          <a:p>
            <a:pPr marL="0" indent="0">
              <a:buNone/>
            </a:pPr>
            <a:r>
              <a:rPr lang="fr-CA" sz="8000" dirty="0"/>
              <a:t>(d)     le prix d'exercice de l'option d'achat que le preneur a la certitude raisonnable d'exercer (…) ;</a:t>
            </a:r>
          </a:p>
          <a:p>
            <a:pPr marL="0" indent="0">
              <a:buNone/>
            </a:pPr>
            <a:r>
              <a:rPr lang="fr-CA" sz="8000" dirty="0"/>
              <a:t>(e)     les pénalités exigées en cas de résiliation du contrat de location, si la durée du contrat de location reflète l'exercice par le preneur de l'option de résiliation du contrat de location.</a:t>
            </a:r>
            <a:endParaRPr lang="fr-CA" sz="7200" dirty="0"/>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48</a:t>
            </a:fld>
            <a:endParaRPr lang="fr-FR"/>
          </a:p>
        </p:txBody>
      </p:sp>
      <p:sp>
        <p:nvSpPr>
          <p:cNvPr id="5" name="Espace réservé du pied de page 4">
            <a:extLst>
              <a:ext uri="{FF2B5EF4-FFF2-40B4-BE49-F238E27FC236}">
                <a16:creationId xmlns:a16="http://schemas.microsoft.com/office/drawing/2014/main" id="{324C54FF-5811-429C-85C1-E8F35A376D8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795797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74638"/>
            <a:ext cx="10226566" cy="856932"/>
          </a:xfrm>
        </p:spPr>
        <p:txBody>
          <a:bodyPr>
            <a:normAutofit fontScale="90000"/>
          </a:bodyPr>
          <a:lstStyle/>
          <a:p>
            <a:r>
              <a:rPr lang="fr-CA" dirty="0"/>
              <a:t>IFRS 16 – Bailleur </a:t>
            </a:r>
            <a:br>
              <a:rPr lang="fr-CA" dirty="0"/>
            </a:br>
            <a:r>
              <a:rPr lang="fr-CA" sz="3100" b="1" dirty="0"/>
              <a:t>qui sont fabricants ou distributeurs</a:t>
            </a:r>
            <a:endParaRPr lang="fr-CA" dirty="0"/>
          </a:p>
        </p:txBody>
      </p:sp>
      <p:sp>
        <p:nvSpPr>
          <p:cNvPr id="3" name="Espace réservé du contenu 2"/>
          <p:cNvSpPr>
            <a:spLocks noGrp="1"/>
          </p:cNvSpPr>
          <p:nvPr>
            <p:ph idx="1"/>
          </p:nvPr>
        </p:nvSpPr>
        <p:spPr>
          <a:xfrm>
            <a:off x="914400" y="1360170"/>
            <a:ext cx="10439400" cy="4996180"/>
          </a:xfrm>
        </p:spPr>
        <p:txBody>
          <a:bodyPr>
            <a:normAutofit fontScale="25000" lnSpcReduction="20000"/>
          </a:bodyPr>
          <a:lstStyle/>
          <a:p>
            <a:pPr marL="0" indent="0">
              <a:buNone/>
            </a:pPr>
            <a:r>
              <a:rPr lang="fr-CA" sz="8000" dirty="0"/>
              <a:t>71     …doit comptabiliser les éléments suivants pour chacun de ses contrats de location-financement :</a:t>
            </a:r>
          </a:p>
          <a:p>
            <a:pPr marL="0" indent="0">
              <a:buNone/>
            </a:pPr>
            <a:r>
              <a:rPr lang="fr-CA" sz="8000" dirty="0"/>
              <a:t>(a)     les</a:t>
            </a:r>
            <a:r>
              <a:rPr lang="fr-CA" sz="8000" dirty="0">
                <a:solidFill>
                  <a:srgbClr val="0070C0"/>
                </a:solidFill>
              </a:rPr>
              <a:t> produits des activités ordinaires</a:t>
            </a:r>
            <a:r>
              <a:rPr lang="fr-CA" sz="8000" dirty="0"/>
              <a:t>, soit la juste valeur du bien sous-jacent ou, si elle est inférieure, la valeur actualisée des paiements de loyers revenant au bailleur, calculée à l'aide d'un taux d'intérêt du marché ;</a:t>
            </a:r>
          </a:p>
          <a:p>
            <a:pPr marL="0" indent="0">
              <a:buNone/>
            </a:pPr>
            <a:r>
              <a:rPr lang="fr-CA" sz="8000" dirty="0"/>
              <a:t>(b)     le </a:t>
            </a:r>
            <a:r>
              <a:rPr lang="fr-CA" sz="8000" dirty="0">
                <a:solidFill>
                  <a:srgbClr val="0070C0"/>
                </a:solidFill>
              </a:rPr>
              <a:t>coût des ventes</a:t>
            </a:r>
            <a:r>
              <a:rPr lang="fr-CA" sz="8000" dirty="0"/>
              <a:t>, soit le coût du bien sous-jacent, ou sa valeur comptable si elle est différente, moins la valeur actualisée de la </a:t>
            </a:r>
            <a:r>
              <a:rPr lang="fr-CA" sz="8000" i="1" dirty="0"/>
              <a:t>valeur résiduelle non garantie</a:t>
            </a:r>
            <a:r>
              <a:rPr lang="fr-CA" sz="8000" dirty="0"/>
              <a:t> ;</a:t>
            </a:r>
          </a:p>
          <a:p>
            <a:pPr marL="0" indent="0">
              <a:buNone/>
            </a:pPr>
            <a:r>
              <a:rPr lang="fr-CA" sz="8000" dirty="0"/>
              <a:t>(c)     le profit ou la perte sur vente (soit la différence entre les produits des activités ordinaires et le coût des ventes), établi selon les principes retenus par le bailleur pour ses ventes pures et simples auxquelles IFRS 15 s'applique. Le bailleur qui est fabricant ou distributeur doit comptabiliser à la date de début le profit ou la perte sur vente se rattachant à un contrat de location-financement, indépendamment de la question de savoir si le bien sous-jacent est transféré comme il est décrit dans IFRS 15.</a:t>
            </a:r>
          </a:p>
          <a:p>
            <a:pPr marL="0" indent="0">
              <a:buNone/>
            </a:pPr>
            <a:endParaRPr lang="fr-CA" sz="5600" i="1" dirty="0"/>
          </a:p>
          <a:p>
            <a:pPr marL="0" indent="0">
              <a:buNone/>
            </a:pPr>
            <a:r>
              <a:rPr lang="fr-CA" sz="8000" b="1" dirty="0"/>
              <a:t>75    </a:t>
            </a:r>
            <a:r>
              <a:rPr lang="fr-CA" sz="8000" dirty="0"/>
              <a:t> Le bailleur doit comptabiliser les </a:t>
            </a:r>
            <a:r>
              <a:rPr lang="fr-CA" sz="8000" dirty="0">
                <a:solidFill>
                  <a:srgbClr val="0070C0"/>
                </a:solidFill>
              </a:rPr>
              <a:t>produits financiers</a:t>
            </a:r>
            <a:r>
              <a:rPr lang="fr-CA" sz="8000" dirty="0"/>
              <a:t> sur la durée du contrat de location en considérant un taux de rentabilité de l'investissement net du bailleur dans le contrat de location pour la période qui est constant.</a:t>
            </a:r>
          </a:p>
          <a:p>
            <a:pPr marL="0" indent="0">
              <a:buNone/>
            </a:pPr>
            <a:endParaRPr lang="fr-CA" sz="4800" dirty="0"/>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49</a:t>
            </a:fld>
            <a:endParaRPr lang="fr-FR"/>
          </a:p>
        </p:txBody>
      </p:sp>
      <p:sp>
        <p:nvSpPr>
          <p:cNvPr id="5" name="Espace réservé du pied de page 4">
            <a:extLst>
              <a:ext uri="{FF2B5EF4-FFF2-40B4-BE49-F238E27FC236}">
                <a16:creationId xmlns:a16="http://schemas.microsoft.com/office/drawing/2014/main" id="{7B0B5990-E18F-4CEE-8951-3975A6DFDE2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011387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solidFill>
                <a:srgbClr val="FF0000"/>
              </a:solidFill>
            </a:endParaRPr>
          </a:p>
        </p:txBody>
      </p:sp>
      <p:sp>
        <p:nvSpPr>
          <p:cNvPr id="3" name="Espace réservé du contenu 2"/>
          <p:cNvSpPr>
            <a:spLocks noGrp="1"/>
          </p:cNvSpPr>
          <p:nvPr>
            <p:ph idx="1"/>
          </p:nvPr>
        </p:nvSpPr>
        <p:spPr/>
        <p:txBody>
          <a:bodyPr/>
          <a:lstStyle/>
          <a:p>
            <a:pPr marL="0" indent="0" algn="ctr">
              <a:buNone/>
            </a:pPr>
            <a:r>
              <a:rPr lang="fr-FR" sz="6000" b="1" dirty="0">
                <a:solidFill>
                  <a:srgbClr val="FF0000"/>
                </a:solidFill>
              </a:rPr>
              <a:t>NCECF – chap. 3065  </a:t>
            </a:r>
          </a:p>
          <a:p>
            <a:pPr marL="0" indent="0" algn="ctr">
              <a:buNone/>
            </a:pPr>
            <a:r>
              <a:rPr lang="fr-FR" sz="6000" b="1" dirty="0">
                <a:solidFill>
                  <a:srgbClr val="FF0000"/>
                </a:solidFill>
              </a:rPr>
              <a:t>Contrats de location</a:t>
            </a:r>
            <a:endParaRPr lang="fr-FR" sz="6000" b="1"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50</a:t>
            </a:fld>
            <a:endParaRPr lang="fr-FR"/>
          </a:p>
        </p:txBody>
      </p:sp>
      <p:sp>
        <p:nvSpPr>
          <p:cNvPr id="5" name="Espace réservé du pied de page 4">
            <a:extLst>
              <a:ext uri="{FF2B5EF4-FFF2-40B4-BE49-F238E27FC236}">
                <a16:creationId xmlns:a16="http://schemas.microsoft.com/office/drawing/2014/main" id="{70B53DBD-2D24-4DB1-AC26-E45074CE42F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09832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Classement</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b="1" dirty="0"/>
              <a:t>Preneur</a:t>
            </a:r>
            <a:r>
              <a:rPr lang="fr-FR" dirty="0"/>
              <a:t> : transfert des avantages et des risques – au moins une des conditions</a:t>
            </a:r>
          </a:p>
          <a:p>
            <a:r>
              <a:rPr lang="fr-FR" dirty="0"/>
              <a:t>Pratiquement assuré que le preneur accédera à la propriété du bien au terme du bail (prévu de céder le titre de propriété ou option d’achat à prix de faveur)</a:t>
            </a:r>
          </a:p>
          <a:p>
            <a:r>
              <a:rPr lang="fr-FR" dirty="0"/>
              <a:t>Durée du bail est telle que le preneur jouira de pratiquement tous les avantages économiques que l’on prévoit pouvoir tirer de l’utilisation du bien </a:t>
            </a:r>
            <a:r>
              <a:rPr lang="fr-FR" dirty="0">
                <a:solidFill>
                  <a:srgbClr val="0070C0"/>
                </a:solidFill>
              </a:rPr>
              <a:t>(&gt;75%)</a:t>
            </a:r>
          </a:p>
          <a:p>
            <a:r>
              <a:rPr lang="fr-FR" dirty="0"/>
              <a:t>Bailleur est assuré, aux termes du bail, de récupérer le capital investi dans le bien loué et de gagner un rendement sur cet investissement </a:t>
            </a:r>
            <a:r>
              <a:rPr lang="fr-FR" dirty="0">
                <a:solidFill>
                  <a:srgbClr val="0070C0"/>
                </a:solidFill>
              </a:rPr>
              <a:t>(va PME &gt;90% JV bien loué)</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51</a:t>
            </a:fld>
            <a:endParaRPr lang="fr-FR"/>
          </a:p>
        </p:txBody>
      </p:sp>
      <p:sp>
        <p:nvSpPr>
          <p:cNvPr id="5" name="Espace réservé du pied de page 4">
            <a:extLst>
              <a:ext uri="{FF2B5EF4-FFF2-40B4-BE49-F238E27FC236}">
                <a16:creationId xmlns:a16="http://schemas.microsoft.com/office/drawing/2014/main" id="{6AEB0165-2DC1-4496-A2FB-B3CD8079AF5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354165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Contrats de location</a:t>
            </a:r>
          </a:p>
        </p:txBody>
      </p:sp>
      <p:sp>
        <p:nvSpPr>
          <p:cNvPr id="3" name="Espace réservé du contenu 2"/>
          <p:cNvSpPr>
            <a:spLocks noGrp="1"/>
          </p:cNvSpPr>
          <p:nvPr>
            <p:ph idx="1"/>
          </p:nvPr>
        </p:nvSpPr>
        <p:spPr/>
        <p:txBody>
          <a:bodyPr>
            <a:normAutofit/>
          </a:bodyPr>
          <a:lstStyle/>
          <a:p>
            <a:r>
              <a:rPr lang="fr-FR" dirty="0"/>
              <a:t>Preneur</a:t>
            </a:r>
          </a:p>
          <a:p>
            <a:pPr lvl="1"/>
            <a:r>
              <a:rPr lang="fr-FR" dirty="0"/>
              <a:t>Location-exploitation </a:t>
            </a:r>
          </a:p>
          <a:p>
            <a:pPr lvl="1"/>
            <a:r>
              <a:rPr lang="fr-FR" dirty="0"/>
              <a:t>Location-acquisition </a:t>
            </a:r>
            <a:endParaRPr lang="fr-FR" dirty="0">
              <a:solidFill>
                <a:srgbClr val="FF0000"/>
              </a:solidFill>
            </a:endParaRPr>
          </a:p>
          <a:p>
            <a:pPr marL="457200" lvl="1" indent="0">
              <a:buNone/>
            </a:pPr>
            <a:endParaRPr lang="fr-FR" dirty="0"/>
          </a:p>
          <a:p>
            <a:r>
              <a:rPr lang="fr-FR" dirty="0"/>
              <a:t>Bailleur</a:t>
            </a:r>
          </a:p>
          <a:p>
            <a:pPr lvl="1"/>
            <a:r>
              <a:rPr lang="fr-FR" dirty="0"/>
              <a:t>Location-exploitation</a:t>
            </a:r>
          </a:p>
          <a:p>
            <a:pPr lvl="1"/>
            <a:r>
              <a:rPr lang="fr-FR" dirty="0"/>
              <a:t>Location-vente (fabricant / distributeur)</a:t>
            </a:r>
          </a:p>
          <a:p>
            <a:pPr lvl="1"/>
            <a:r>
              <a:rPr lang="fr-FR" dirty="0"/>
              <a:t>Location-financement (intermédiaire financier)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52</a:t>
            </a:fld>
            <a:endParaRPr lang="fr-FR"/>
          </a:p>
        </p:txBody>
      </p:sp>
      <p:sp>
        <p:nvSpPr>
          <p:cNvPr id="5" name="Espace réservé du pied de page 4">
            <a:extLst>
              <a:ext uri="{FF2B5EF4-FFF2-40B4-BE49-F238E27FC236}">
                <a16:creationId xmlns:a16="http://schemas.microsoft.com/office/drawing/2014/main" id="{BC36F2B4-2BF7-4F01-B697-3E27B6ACFB9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238184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Preneur – location-acquisition</a:t>
            </a:r>
          </a:p>
        </p:txBody>
      </p:sp>
      <p:sp>
        <p:nvSpPr>
          <p:cNvPr id="3" name="Espace réservé du contenu 2"/>
          <p:cNvSpPr>
            <a:spLocks noGrp="1"/>
          </p:cNvSpPr>
          <p:nvPr>
            <p:ph idx="1"/>
          </p:nvPr>
        </p:nvSpPr>
        <p:spPr/>
        <p:txBody>
          <a:bodyPr>
            <a:normAutofit/>
          </a:bodyPr>
          <a:lstStyle/>
          <a:p>
            <a:r>
              <a:rPr lang="fr-FR" dirty="0"/>
              <a:t>Doit comptabiliser l’acquisition d’un bien et la prise en charge d’une obligation</a:t>
            </a:r>
          </a:p>
          <a:p>
            <a:pPr lvl="1"/>
            <a:r>
              <a:rPr lang="fr-FR" dirty="0"/>
              <a:t>Au montant de la dette (</a:t>
            </a:r>
            <a:r>
              <a:rPr lang="fr-FR" dirty="0" err="1"/>
              <a:t>v.a</a:t>
            </a:r>
            <a:r>
              <a:rPr lang="fr-FR" dirty="0"/>
              <a:t>. des paiements minimums exigibles)</a:t>
            </a:r>
          </a:p>
          <a:p>
            <a:pPr lvl="2"/>
            <a:r>
              <a:rPr lang="fr-FR" dirty="0"/>
              <a:t>Amortissement de l’actif (durée bail, durée vie utile)</a:t>
            </a:r>
          </a:p>
          <a:p>
            <a:pPr lvl="2"/>
            <a:r>
              <a:rPr lang="fr-FR" dirty="0"/>
              <a:t>Méthode intérêts réels pour l’obligation</a:t>
            </a:r>
          </a:p>
          <a:p>
            <a:endParaRPr lang="fr-FR" dirty="0"/>
          </a:p>
          <a:p>
            <a:r>
              <a:rPr lang="fr-FR" dirty="0"/>
              <a:t>Présentation distincte des autres immobilisations et obligations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53</a:t>
            </a:fld>
            <a:endParaRPr lang="fr-FR"/>
          </a:p>
        </p:txBody>
      </p:sp>
      <p:sp>
        <p:nvSpPr>
          <p:cNvPr id="5" name="Espace réservé du pied de page 4">
            <a:extLst>
              <a:ext uri="{FF2B5EF4-FFF2-40B4-BE49-F238E27FC236}">
                <a16:creationId xmlns:a16="http://schemas.microsoft.com/office/drawing/2014/main" id="{B310F78A-37D3-45B3-AF5E-05BB9DE4684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7911058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Preneur – location-exploitation</a:t>
            </a:r>
          </a:p>
        </p:txBody>
      </p:sp>
      <p:sp>
        <p:nvSpPr>
          <p:cNvPr id="3" name="Espace réservé du contenu 2"/>
          <p:cNvSpPr>
            <a:spLocks noGrp="1"/>
          </p:cNvSpPr>
          <p:nvPr>
            <p:ph idx="1"/>
          </p:nvPr>
        </p:nvSpPr>
        <p:spPr/>
        <p:txBody>
          <a:bodyPr/>
          <a:lstStyle/>
          <a:p>
            <a:r>
              <a:rPr lang="fr-FR" dirty="0"/>
              <a:t>Imputer aux résultats selon une formule linéaire appliquée sur la durée du bail</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54</a:t>
            </a:fld>
            <a:endParaRPr lang="fr-FR"/>
          </a:p>
        </p:txBody>
      </p:sp>
      <p:sp>
        <p:nvSpPr>
          <p:cNvPr id="5" name="Espace réservé du pied de page 4">
            <a:extLst>
              <a:ext uri="{FF2B5EF4-FFF2-40B4-BE49-F238E27FC236}">
                <a16:creationId xmlns:a16="http://schemas.microsoft.com/office/drawing/2014/main" id="{BB0580FD-E491-4FF6-B68A-E13F12F3A7B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093162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Classement</a:t>
            </a:r>
          </a:p>
        </p:txBody>
      </p:sp>
      <p:sp>
        <p:nvSpPr>
          <p:cNvPr id="3" name="Espace réservé du contenu 2"/>
          <p:cNvSpPr>
            <a:spLocks noGrp="1"/>
          </p:cNvSpPr>
          <p:nvPr>
            <p:ph idx="1"/>
          </p:nvPr>
        </p:nvSpPr>
        <p:spPr/>
        <p:txBody>
          <a:bodyPr>
            <a:normAutofit/>
          </a:bodyPr>
          <a:lstStyle/>
          <a:p>
            <a:pPr marL="0" indent="0">
              <a:buNone/>
            </a:pPr>
            <a:r>
              <a:rPr lang="fr-FR" b="1" dirty="0"/>
              <a:t>Bailleur</a:t>
            </a:r>
            <a:r>
              <a:rPr lang="fr-FR" dirty="0"/>
              <a:t> : transfert des avantages et des risques - toutes les conditions</a:t>
            </a:r>
          </a:p>
          <a:p>
            <a:r>
              <a:rPr lang="fr-FR" dirty="0"/>
              <a:t>Une des conditions du preneur</a:t>
            </a:r>
          </a:p>
          <a:p>
            <a:r>
              <a:rPr lang="fr-FR" dirty="0"/>
              <a:t>Risque de recouvrement des loyers n’est pas supérieur au risque lié normalement au recouvrement de créances similaires</a:t>
            </a:r>
          </a:p>
          <a:p>
            <a:r>
              <a:rPr lang="fr-FR" dirty="0"/>
              <a:t>Montant des coûts non remboursables que le bailleur pourrait être amené à engager aux termes du bail peut être estimé avec assez de précision</a:t>
            </a:r>
          </a:p>
          <a:p>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55</a:t>
            </a:fld>
            <a:endParaRPr lang="fr-FR"/>
          </a:p>
        </p:txBody>
      </p:sp>
      <p:sp>
        <p:nvSpPr>
          <p:cNvPr id="5" name="Espace réservé du pied de page 4">
            <a:extLst>
              <a:ext uri="{FF2B5EF4-FFF2-40B4-BE49-F238E27FC236}">
                <a16:creationId xmlns:a16="http://schemas.microsoft.com/office/drawing/2014/main" id="{47097CCF-E467-4221-9EA0-C7A0808C2A8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3183154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Bailleur</a:t>
            </a:r>
          </a:p>
        </p:txBody>
      </p:sp>
      <p:sp>
        <p:nvSpPr>
          <p:cNvPr id="3" name="Espace réservé du contenu 2"/>
          <p:cNvSpPr>
            <a:spLocks noGrp="1"/>
          </p:cNvSpPr>
          <p:nvPr>
            <p:ph idx="1"/>
          </p:nvPr>
        </p:nvSpPr>
        <p:spPr/>
        <p:txBody>
          <a:bodyPr>
            <a:normAutofit/>
          </a:bodyPr>
          <a:lstStyle/>
          <a:p>
            <a:r>
              <a:rPr lang="fr-FR" dirty="0"/>
              <a:t>Location-exploitation</a:t>
            </a:r>
          </a:p>
          <a:p>
            <a:endParaRPr lang="fr-FR" dirty="0"/>
          </a:p>
          <a:p>
            <a:r>
              <a:rPr lang="fr-FR" dirty="0"/>
              <a:t>Location-financement</a:t>
            </a:r>
          </a:p>
          <a:p>
            <a:pPr lvl="1"/>
            <a:r>
              <a:rPr lang="fr-FR" dirty="0"/>
              <a:t>Produits financiers</a:t>
            </a:r>
          </a:p>
          <a:p>
            <a:pPr lvl="1"/>
            <a:endParaRPr lang="fr-FR" dirty="0"/>
          </a:p>
          <a:p>
            <a:r>
              <a:rPr lang="fr-FR" dirty="0"/>
              <a:t>Location-vente</a:t>
            </a:r>
          </a:p>
          <a:p>
            <a:pPr lvl="1"/>
            <a:r>
              <a:rPr lang="fr-FR" dirty="0"/>
              <a:t>Vente du produit + produits financiers</a:t>
            </a:r>
          </a:p>
          <a:p>
            <a:pPr lvl="1"/>
            <a:endParaRPr lang="fr-FR" dirty="0"/>
          </a:p>
          <a:p>
            <a:pPr lvl="1">
              <a:buFont typeface="Wingdings" panose="05000000000000000000" pitchFamily="2" charset="2"/>
              <a:buChar char="Ø"/>
            </a:pPr>
            <a:r>
              <a:rPr lang="fr-FR" dirty="0"/>
              <a:t>Présentation</a:t>
            </a:r>
          </a:p>
          <a:p>
            <a:pPr lvl="2"/>
            <a:r>
              <a:rPr lang="fr-FR" dirty="0"/>
              <a:t>Créance à long terme, portion à court terme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56</a:t>
            </a:fld>
            <a:endParaRPr lang="fr-FR"/>
          </a:p>
        </p:txBody>
      </p:sp>
      <p:sp>
        <p:nvSpPr>
          <p:cNvPr id="5" name="Espace réservé du pied de page 4">
            <a:extLst>
              <a:ext uri="{FF2B5EF4-FFF2-40B4-BE49-F238E27FC236}">
                <a16:creationId xmlns:a16="http://schemas.microsoft.com/office/drawing/2014/main" id="{0D040CA4-2BE1-45A5-BEE3-0E061DEAEA1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717702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Bailleur– location-exploitation</a:t>
            </a:r>
          </a:p>
        </p:txBody>
      </p:sp>
      <p:sp>
        <p:nvSpPr>
          <p:cNvPr id="3" name="Espace réservé du contenu 2"/>
          <p:cNvSpPr>
            <a:spLocks noGrp="1"/>
          </p:cNvSpPr>
          <p:nvPr>
            <p:ph idx="1"/>
          </p:nvPr>
        </p:nvSpPr>
        <p:spPr/>
        <p:txBody>
          <a:bodyPr/>
          <a:lstStyle/>
          <a:p>
            <a:r>
              <a:rPr lang="fr-FR" dirty="0"/>
              <a:t>Les produits doivent être comptabilisés selon une formule linéaire appliquée sur la durée du bail</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57</a:t>
            </a:fld>
            <a:endParaRPr lang="fr-FR"/>
          </a:p>
        </p:txBody>
      </p:sp>
      <p:sp>
        <p:nvSpPr>
          <p:cNvPr id="5" name="Espace réservé du pied de page 4">
            <a:extLst>
              <a:ext uri="{FF2B5EF4-FFF2-40B4-BE49-F238E27FC236}">
                <a16:creationId xmlns:a16="http://schemas.microsoft.com/office/drawing/2014/main" id="{C07EDFD7-7F59-41D0-A955-8508B79E941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65474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Cession bail</a:t>
            </a:r>
          </a:p>
        </p:txBody>
      </p:sp>
      <p:sp>
        <p:nvSpPr>
          <p:cNvPr id="3" name="Espace réservé du contenu 2"/>
          <p:cNvSpPr>
            <a:spLocks noGrp="1"/>
          </p:cNvSpPr>
          <p:nvPr>
            <p:ph idx="1"/>
          </p:nvPr>
        </p:nvSpPr>
        <p:spPr/>
        <p:txBody>
          <a:bodyPr>
            <a:normAutofit/>
          </a:bodyPr>
          <a:lstStyle/>
          <a:p>
            <a:r>
              <a:rPr lang="fr-FR" dirty="0"/>
              <a:t>Opération consistant en la vente d’un bien et sa reprise à bail immédiate par le vendeur</a:t>
            </a:r>
          </a:p>
          <a:p>
            <a:endParaRPr lang="fr-FR" dirty="0"/>
          </a:p>
          <a:p>
            <a:r>
              <a:rPr lang="fr-FR" dirty="0"/>
              <a:t>Dans une opération de </a:t>
            </a:r>
            <a:r>
              <a:rPr lang="fr-FR" dirty="0" err="1"/>
              <a:t>cession-bail</a:t>
            </a:r>
            <a:r>
              <a:rPr lang="fr-FR" dirty="0"/>
              <a:t>, le bail doit être comptabilisé comme un contrat de location-acquisition, de location-financement ou de location-exploitation, selon ce qui convient pour le vendeur-preneur et l’acheteur-bailleur</a:t>
            </a:r>
          </a:p>
          <a:p>
            <a:pPr lvl="1"/>
            <a:r>
              <a:rPr lang="fr-FR" dirty="0"/>
              <a:t>Reporter le gain/perte résultant de la vente sur la durée du bail (sauf si </a:t>
            </a:r>
            <a:r>
              <a:rPr lang="fr-FR" dirty="0" err="1"/>
              <a:t>loc</a:t>
            </a:r>
            <a:r>
              <a:rPr lang="fr-FR" dirty="0"/>
              <a:t> exploitation et considère qu’il y a eu vente)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58</a:t>
            </a:fld>
            <a:endParaRPr lang="fr-FR"/>
          </a:p>
        </p:txBody>
      </p:sp>
      <p:sp>
        <p:nvSpPr>
          <p:cNvPr id="5" name="Espace réservé du pied de page 4">
            <a:extLst>
              <a:ext uri="{FF2B5EF4-FFF2-40B4-BE49-F238E27FC236}">
                <a16:creationId xmlns:a16="http://schemas.microsoft.com/office/drawing/2014/main" id="{82C485D5-2A6F-48EA-A49A-8C556BD3F24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6641767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Informations à fournir</a:t>
            </a:r>
          </a:p>
        </p:txBody>
      </p:sp>
      <p:sp>
        <p:nvSpPr>
          <p:cNvPr id="3" name="Espace réservé du contenu 2"/>
          <p:cNvSpPr>
            <a:spLocks noGrp="1"/>
          </p:cNvSpPr>
          <p:nvPr>
            <p:ph idx="1"/>
          </p:nvPr>
        </p:nvSpPr>
        <p:spPr/>
        <p:txBody>
          <a:bodyPr>
            <a:normAutofit/>
          </a:bodyPr>
          <a:lstStyle/>
          <a:p>
            <a:r>
              <a:rPr lang="fr-FR" dirty="0"/>
              <a:t>Preneur – location-acquisition</a:t>
            </a:r>
          </a:p>
          <a:p>
            <a:pPr lvl="1"/>
            <a:r>
              <a:rPr lang="fr-FR" dirty="0" err="1"/>
              <a:t>Immo</a:t>
            </a:r>
            <a:r>
              <a:rPr lang="fr-FR" dirty="0"/>
              <a:t> louées : coût, amortissement cumulée, méthode d’amortissement utilisé (période / taux)</a:t>
            </a:r>
          </a:p>
          <a:p>
            <a:pPr lvl="1"/>
            <a:r>
              <a:rPr lang="fr-FR" dirty="0"/>
              <a:t>Obligation locative : taux d’intérêt, date d’échéance, solde impayé, si les contrats sont garantis</a:t>
            </a:r>
          </a:p>
          <a:p>
            <a:pPr lvl="1"/>
            <a:r>
              <a:rPr lang="fr-FR" dirty="0">
                <a:solidFill>
                  <a:srgbClr val="0070C0"/>
                </a:solidFill>
              </a:rPr>
              <a:t>Montant global estimatif des versements à effectuer dans chacun des 5 prochains exercices</a:t>
            </a:r>
          </a:p>
          <a:p>
            <a:pPr marL="457200" lvl="1" indent="0">
              <a:buNone/>
            </a:pPr>
            <a:endParaRPr lang="fr-FR" dirty="0">
              <a:solidFill>
                <a:srgbClr val="FF0000"/>
              </a:solidFill>
            </a:endParaRPr>
          </a:p>
          <a:p>
            <a:r>
              <a:rPr lang="fr-FR" dirty="0"/>
              <a:t>Preneur – location-exploitation</a:t>
            </a:r>
          </a:p>
          <a:p>
            <a:pPr lvl="1"/>
            <a:r>
              <a:rPr lang="fr-FR" dirty="0"/>
              <a:t>Total des paiements minimums futurs exigibles en ainsi que leur montant pour chacun des 5 exercices suivants; nature des autres engagements	</a:t>
            </a:r>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59</a:t>
            </a:fld>
            <a:endParaRPr lang="fr-FR"/>
          </a:p>
        </p:txBody>
      </p:sp>
      <p:sp>
        <p:nvSpPr>
          <p:cNvPr id="5" name="Espace réservé du pied de page 4">
            <a:extLst>
              <a:ext uri="{FF2B5EF4-FFF2-40B4-BE49-F238E27FC236}">
                <a16:creationId xmlns:a16="http://schemas.microsoft.com/office/drawing/2014/main" id="{2B49DD9D-0E77-46F0-B9CD-B477CA75177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136732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Informations à fournir</a:t>
            </a:r>
          </a:p>
        </p:txBody>
      </p:sp>
      <p:sp>
        <p:nvSpPr>
          <p:cNvPr id="3" name="Espace réservé du contenu 2"/>
          <p:cNvSpPr>
            <a:spLocks noGrp="1"/>
          </p:cNvSpPr>
          <p:nvPr>
            <p:ph idx="1"/>
          </p:nvPr>
        </p:nvSpPr>
        <p:spPr/>
        <p:txBody>
          <a:bodyPr>
            <a:normAutofit/>
          </a:bodyPr>
          <a:lstStyle/>
          <a:p>
            <a:r>
              <a:rPr lang="fr-FR" dirty="0"/>
              <a:t>Bailleur– location-vente</a:t>
            </a:r>
          </a:p>
          <a:p>
            <a:pPr lvl="1"/>
            <a:r>
              <a:rPr lang="fr-FR" dirty="0"/>
              <a:t>Investissement net ainsi que taux d’intérêt implicites </a:t>
            </a:r>
          </a:p>
          <a:p>
            <a:pPr marL="457200" lvl="1" indent="0">
              <a:buNone/>
            </a:pPr>
            <a:endParaRPr lang="fr-FR" dirty="0">
              <a:solidFill>
                <a:srgbClr val="FF0000"/>
              </a:solidFill>
            </a:endParaRPr>
          </a:p>
          <a:p>
            <a:r>
              <a:rPr lang="fr-FR" dirty="0"/>
              <a:t>Bailleur– location-exploitation</a:t>
            </a:r>
          </a:p>
          <a:p>
            <a:pPr lvl="1"/>
            <a:r>
              <a:rPr lang="fr-FR" dirty="0"/>
              <a:t>Coût des immobilisations corporelles destinées à la location et le montant de l’amortissement cumulé</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60</a:t>
            </a:fld>
            <a:endParaRPr lang="fr-FR"/>
          </a:p>
        </p:txBody>
      </p:sp>
      <p:sp>
        <p:nvSpPr>
          <p:cNvPr id="5" name="Espace réservé du pied de page 4">
            <a:extLst>
              <a:ext uri="{FF2B5EF4-FFF2-40B4-BE49-F238E27FC236}">
                <a16:creationId xmlns:a16="http://schemas.microsoft.com/office/drawing/2014/main" id="{03B266CE-BE08-4159-BAA1-B2F45AB2418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0168743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Impact sur les ratios financiers</a:t>
            </a:r>
          </a:p>
        </p:txBody>
      </p:sp>
      <p:sp>
        <p:nvSpPr>
          <p:cNvPr id="3" name="Espace réservé du contenu 2"/>
          <p:cNvSpPr>
            <a:spLocks noGrp="1"/>
          </p:cNvSpPr>
          <p:nvPr>
            <p:ph idx="1"/>
          </p:nvPr>
        </p:nvSpPr>
        <p:spPr/>
        <p:txBody>
          <a:bodyPr>
            <a:normAutofit/>
          </a:bodyPr>
          <a:lstStyle/>
          <a:p>
            <a:r>
              <a:rPr lang="fr-CA" dirty="0"/>
              <a:t>Dans sa convention de prêt, la société doit respecter un maximum de dette sur capitaux propres</a:t>
            </a:r>
          </a:p>
          <a:p>
            <a:pPr marL="0" indent="0">
              <a:buNone/>
            </a:pPr>
            <a:endParaRPr lang="fr-CA" dirty="0"/>
          </a:p>
          <a:p>
            <a:r>
              <a:rPr lang="fr-CA" dirty="0"/>
              <a:t>Une information sensible pour les actionnaires est la rentabilité définie comme résultat net / chiffre d’affaires</a:t>
            </a:r>
          </a:p>
          <a:p>
            <a:pPr marL="0" indent="0">
              <a:buNone/>
            </a:pPr>
            <a:endParaRPr lang="fr-CA" dirty="0"/>
          </a:p>
          <a:p>
            <a:r>
              <a:rPr lang="fr-CA" dirty="0"/>
              <a:t>Une information sensible pour les actionnaires est le rendement sur actif</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61</a:t>
            </a:fld>
            <a:endParaRPr lang="fr-FR"/>
          </a:p>
        </p:txBody>
      </p:sp>
      <p:sp>
        <p:nvSpPr>
          <p:cNvPr id="5" name="Espace réservé du pied de page 4">
            <a:extLst>
              <a:ext uri="{FF2B5EF4-FFF2-40B4-BE49-F238E27FC236}">
                <a16:creationId xmlns:a16="http://schemas.microsoft.com/office/drawing/2014/main" id="{88DFE575-AA68-43CC-8CAF-407A0054C3C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23627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br>
              <a:rPr lang="fr-CA" sz="6000" b="1" dirty="0">
                <a:solidFill>
                  <a:srgbClr val="FF0000"/>
                </a:solidFill>
              </a:rPr>
            </a:br>
            <a:r>
              <a:rPr lang="fr-CA" sz="6000" b="1" dirty="0">
                <a:solidFill>
                  <a:srgbClr val="FF0000"/>
                </a:solidFill>
              </a:rPr>
              <a:t>Dépréciation</a:t>
            </a:r>
          </a:p>
          <a:p>
            <a:pPr marL="0" indent="0" algn="ctr">
              <a:buNone/>
            </a:pPr>
            <a:endParaRPr lang="fr-CA" sz="6000" b="1" dirty="0">
              <a:solidFill>
                <a:srgbClr val="FF0000"/>
              </a:solidFill>
            </a:endParaRPr>
          </a:p>
          <a:p>
            <a:pPr marL="0" indent="0">
              <a:buNone/>
            </a:pPr>
            <a:r>
              <a:rPr lang="fr-CA" sz="2600" b="1" dirty="0">
                <a:solidFill>
                  <a:srgbClr val="FF0000"/>
                </a:solidFill>
              </a:rPr>
              <a:t>IAS 36</a:t>
            </a:r>
          </a:p>
          <a:p>
            <a:pPr marL="0" indent="0">
              <a:buNone/>
            </a:pPr>
            <a:r>
              <a:rPr lang="fr-CA" sz="2600" b="1" dirty="0" err="1">
                <a:solidFill>
                  <a:srgbClr val="FF0000"/>
                </a:solidFill>
              </a:rPr>
              <a:t>Chap</a:t>
            </a:r>
            <a:r>
              <a:rPr lang="fr-CA" sz="2600" b="1" dirty="0">
                <a:solidFill>
                  <a:srgbClr val="FF0000"/>
                </a:solidFill>
              </a:rPr>
              <a:t> 3063</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62</a:t>
            </a:fld>
            <a:endParaRPr lang="fr-FR"/>
          </a:p>
        </p:txBody>
      </p:sp>
      <p:sp>
        <p:nvSpPr>
          <p:cNvPr id="5" name="Espace réservé du pied de page 4">
            <a:extLst>
              <a:ext uri="{FF2B5EF4-FFF2-40B4-BE49-F238E27FC236}">
                <a16:creationId xmlns:a16="http://schemas.microsoft.com/office/drawing/2014/main" id="{A4B7BED1-1B8A-46FA-AABD-BF8ED340B5B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7121952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Dépréciation d’actifs à long terme</a:t>
            </a:r>
          </a:p>
        </p:txBody>
      </p:sp>
      <p:sp>
        <p:nvSpPr>
          <p:cNvPr id="3" name="Espace réservé du contenu 2"/>
          <p:cNvSpPr>
            <a:spLocks noGrp="1"/>
          </p:cNvSpPr>
          <p:nvPr>
            <p:ph idx="1"/>
          </p:nvPr>
        </p:nvSpPr>
        <p:spPr/>
        <p:txBody>
          <a:bodyPr>
            <a:normAutofit/>
          </a:bodyPr>
          <a:lstStyle/>
          <a:p>
            <a:r>
              <a:rPr lang="fr-FR" dirty="0"/>
              <a:t>Dépréciation : perte de valeur subie par un actif à long terme lorsque sa valeur comptable excède sa valeur recouvrable et sa juste valeur</a:t>
            </a:r>
          </a:p>
          <a:p>
            <a:pPr marL="0" indent="0">
              <a:buNone/>
            </a:pPr>
            <a:endParaRPr lang="fr-FR" dirty="0"/>
          </a:p>
          <a:p>
            <a:r>
              <a:rPr lang="fr-FR" dirty="0"/>
              <a:t>Chapitre 3063 s’applique :</a:t>
            </a:r>
          </a:p>
          <a:p>
            <a:pPr lvl="1"/>
            <a:r>
              <a:rPr lang="fr-FR" dirty="0"/>
              <a:t>aux actifs à long terme non monétaires, y compris les </a:t>
            </a:r>
            <a:r>
              <a:rPr lang="fr-FR" dirty="0" err="1"/>
              <a:t>immo</a:t>
            </a:r>
            <a:r>
              <a:rPr lang="fr-FR" dirty="0"/>
              <a:t> corporelles, les actifs incorporels à durée de vie utile limitée et les actifs à long terme payés d’avance</a:t>
            </a:r>
          </a:p>
          <a:p>
            <a:pPr lvl="2"/>
            <a:r>
              <a:rPr lang="fr-FR" dirty="0"/>
              <a:t>Ne s’applique pas aux écarts d’acquisition et aux actifs incorporels dont la durée de vie utile est indéfinie (</a:t>
            </a:r>
            <a:r>
              <a:rPr lang="fr-FR" dirty="0" err="1"/>
              <a:t>chap</a:t>
            </a:r>
            <a:r>
              <a:rPr lang="fr-FR" dirty="0"/>
              <a:t> 3064); aux placements, y compris les participations comptabilisées à la valeur de conso (</a:t>
            </a:r>
            <a:r>
              <a:rPr lang="fr-FR" dirty="0" err="1"/>
              <a:t>chap</a:t>
            </a:r>
            <a:r>
              <a:rPr lang="fr-FR" dirty="0"/>
              <a:t> 3051),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63</a:t>
            </a:fld>
            <a:endParaRPr lang="fr-FR"/>
          </a:p>
        </p:txBody>
      </p:sp>
      <p:sp>
        <p:nvSpPr>
          <p:cNvPr id="5" name="Espace réservé du pied de page 4">
            <a:extLst>
              <a:ext uri="{FF2B5EF4-FFF2-40B4-BE49-F238E27FC236}">
                <a16:creationId xmlns:a16="http://schemas.microsoft.com/office/drawing/2014/main" id="{A04EE9B2-92B3-47E4-8A5B-4FBDC04AEC6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717684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NCECF</a:t>
            </a:r>
            <a:br>
              <a:rPr lang="fr-FR" dirty="0"/>
            </a:br>
            <a:r>
              <a:rPr lang="fr-FR" dirty="0"/>
              <a:t>Constatation et mesure</a:t>
            </a:r>
          </a:p>
        </p:txBody>
      </p:sp>
      <p:sp>
        <p:nvSpPr>
          <p:cNvPr id="3" name="Espace réservé du contenu 2"/>
          <p:cNvSpPr>
            <a:spLocks noGrp="1"/>
          </p:cNvSpPr>
          <p:nvPr>
            <p:ph idx="1"/>
          </p:nvPr>
        </p:nvSpPr>
        <p:spPr>
          <a:xfrm>
            <a:off x="838200" y="2228192"/>
            <a:ext cx="10515600" cy="4128157"/>
          </a:xfrm>
        </p:spPr>
        <p:txBody>
          <a:bodyPr>
            <a:normAutofit/>
          </a:bodyPr>
          <a:lstStyle/>
          <a:p>
            <a:r>
              <a:rPr lang="fr-FR" sz="3200" dirty="0"/>
              <a:t>Quand effectuer un test de </a:t>
            </a:r>
            <a:r>
              <a:rPr lang="fr-FR" sz="3200" dirty="0" err="1"/>
              <a:t>recouvrabilité</a:t>
            </a:r>
            <a:endParaRPr lang="fr-FR" sz="3200" dirty="0"/>
          </a:p>
          <a:p>
            <a:pPr lvl="1"/>
            <a:r>
              <a:rPr lang="fr-FR" sz="2800" dirty="0">
                <a:solidFill>
                  <a:srgbClr val="FF0000"/>
                </a:solidFill>
              </a:rPr>
              <a:t>Lorsque des événements ou des changements de situation indiquent que sa valeur comptable pourrait ne pas être recouvrable (pas d’exigence annuelle)</a:t>
            </a:r>
          </a:p>
          <a:p>
            <a:pPr lvl="2"/>
            <a:r>
              <a:rPr lang="fr-FR" sz="2400" dirty="0"/>
              <a:t>Ex. : baisse significative de la juste valeur, changement défavorable important dans le degré d’utilisation ou dans l’état de l’actif, changement défavorable important dans l’environnement juridique ou le contexte économique, pertes d’exploitation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64</a:t>
            </a:fld>
            <a:endParaRPr lang="fr-FR"/>
          </a:p>
        </p:txBody>
      </p:sp>
      <p:sp>
        <p:nvSpPr>
          <p:cNvPr id="5" name="Espace réservé du pied de page 4">
            <a:extLst>
              <a:ext uri="{FF2B5EF4-FFF2-40B4-BE49-F238E27FC236}">
                <a16:creationId xmlns:a16="http://schemas.microsoft.com/office/drawing/2014/main" id="{8C7DA724-7DB7-422B-8EB1-BD36C6D1C96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636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t>NCECF</a:t>
            </a:r>
            <a:br>
              <a:rPr lang="fr-CA" dirty="0"/>
            </a:br>
            <a:r>
              <a:rPr lang="fr-CA" dirty="0"/>
              <a:t>Constatation et mesure</a:t>
            </a:r>
          </a:p>
        </p:txBody>
      </p:sp>
      <p:sp>
        <p:nvSpPr>
          <p:cNvPr id="3" name="Espace réservé du contenu 2"/>
          <p:cNvSpPr>
            <a:spLocks noGrp="1"/>
          </p:cNvSpPr>
          <p:nvPr>
            <p:ph idx="1"/>
          </p:nvPr>
        </p:nvSpPr>
        <p:spPr/>
        <p:txBody>
          <a:bodyPr>
            <a:normAutofit lnSpcReduction="10000"/>
          </a:bodyPr>
          <a:lstStyle/>
          <a:p>
            <a:pPr marL="0" indent="0">
              <a:buNone/>
            </a:pPr>
            <a:r>
              <a:rPr lang="fr-CA" dirty="0"/>
              <a:t>Une perte de valeur doit être constatée lorsque la valeur comptable d’un actif à long terme n’est pas recouvrable et qu’elle excède la juste valeur de l’actif</a:t>
            </a:r>
          </a:p>
          <a:p>
            <a:pPr marL="0" indent="0">
              <a:buNone/>
            </a:pPr>
            <a:endParaRPr lang="fr-CA" dirty="0"/>
          </a:p>
          <a:p>
            <a:pPr>
              <a:buFontTx/>
              <a:buChar char="-"/>
            </a:pPr>
            <a:r>
              <a:rPr lang="fr-CA" dirty="0"/>
              <a:t>Total des flux de trésorerie </a:t>
            </a:r>
            <a:r>
              <a:rPr lang="fr-CA" u="sng" dirty="0">
                <a:solidFill>
                  <a:srgbClr val="0070C0"/>
                </a:solidFill>
              </a:rPr>
              <a:t>non actualisés</a:t>
            </a:r>
            <a:r>
              <a:rPr lang="fr-CA" dirty="0"/>
              <a:t> qui résulteront vraisemblablement de l’utilisation et de la sortie éventuelle de l’actif</a:t>
            </a:r>
          </a:p>
          <a:p>
            <a:pPr lvl="1">
              <a:buFontTx/>
              <a:buChar char="-"/>
            </a:pPr>
            <a:r>
              <a:rPr lang="fr-CA" dirty="0"/>
              <a:t>Si valeur comptable &lt; </a:t>
            </a:r>
            <a:r>
              <a:rPr lang="fr-CA" dirty="0" err="1"/>
              <a:t>FTFuturs</a:t>
            </a:r>
            <a:r>
              <a:rPr lang="fr-CA" dirty="0"/>
              <a:t> =&gt; aucun ajustement</a:t>
            </a:r>
          </a:p>
          <a:p>
            <a:pPr lvl="1">
              <a:buFontTx/>
              <a:buChar char="-"/>
            </a:pPr>
            <a:r>
              <a:rPr lang="fr-CA" dirty="0"/>
              <a:t>Si valeur comptable &gt; </a:t>
            </a:r>
            <a:r>
              <a:rPr lang="fr-CA" dirty="0" err="1"/>
              <a:t>FTFuturs</a:t>
            </a:r>
            <a:r>
              <a:rPr lang="fr-CA" dirty="0"/>
              <a:t> =&gt; ajuster : estimer valeur</a:t>
            </a:r>
          </a:p>
          <a:p>
            <a:pPr lvl="1">
              <a:buFontTx/>
              <a:buChar char="-"/>
            </a:pPr>
            <a:endParaRPr lang="fr-CA" dirty="0"/>
          </a:p>
          <a:p>
            <a:pPr lvl="1">
              <a:buFontTx/>
              <a:buChar char="-"/>
            </a:pPr>
            <a:r>
              <a:rPr lang="fr-FR" dirty="0">
                <a:solidFill>
                  <a:srgbClr val="FF0000"/>
                </a:solidFill>
              </a:rPr>
              <a:t>Une perte de valeur ne doit pas faire l’objet de reprises si la juste valeur s’accroît ultérieurement</a:t>
            </a:r>
            <a:endParaRPr lang="fr-CA"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65</a:t>
            </a:fld>
            <a:endParaRPr lang="fr-FR"/>
          </a:p>
        </p:txBody>
      </p:sp>
      <p:sp>
        <p:nvSpPr>
          <p:cNvPr id="5" name="Espace réservé du pied de page 4">
            <a:extLst>
              <a:ext uri="{FF2B5EF4-FFF2-40B4-BE49-F238E27FC236}">
                <a16:creationId xmlns:a16="http://schemas.microsoft.com/office/drawing/2014/main" id="{F57B785E-9D9D-4084-ADC3-7B169DDDE10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62717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pPr marL="0" indent="0" algn="ctr">
              <a:buNone/>
            </a:pPr>
            <a:br>
              <a:rPr lang="fr-CA" sz="6000" b="1" dirty="0">
                <a:solidFill>
                  <a:srgbClr val="FF0000"/>
                </a:solidFill>
              </a:rPr>
            </a:br>
            <a:r>
              <a:rPr lang="fr-CA" sz="6000" b="1" dirty="0">
                <a:solidFill>
                  <a:srgbClr val="FF0000"/>
                </a:solidFill>
              </a:rPr>
              <a:t>Actifs incorporels</a:t>
            </a:r>
          </a:p>
          <a:p>
            <a:pPr marL="0" indent="0" algn="ctr">
              <a:buNone/>
            </a:pPr>
            <a:endParaRPr lang="fr-CA" sz="6000" b="1" dirty="0">
              <a:solidFill>
                <a:srgbClr val="FF0000"/>
              </a:solidFill>
            </a:endParaRPr>
          </a:p>
          <a:p>
            <a:pPr marL="0" indent="0">
              <a:buNone/>
            </a:pPr>
            <a:r>
              <a:rPr lang="fr-CA" sz="2600" b="1" dirty="0" err="1">
                <a:solidFill>
                  <a:srgbClr val="FF0000"/>
                </a:solidFill>
              </a:rPr>
              <a:t>Chap</a:t>
            </a:r>
            <a:r>
              <a:rPr lang="fr-CA" sz="2600" b="1" dirty="0">
                <a:solidFill>
                  <a:srgbClr val="FF0000"/>
                </a:solidFill>
              </a:rPr>
              <a:t> 3064</a:t>
            </a:r>
          </a:p>
          <a:p>
            <a:pPr marL="0" indent="0">
              <a:buNone/>
            </a:pPr>
            <a:r>
              <a:rPr lang="fr-CA" sz="2600" b="1" dirty="0">
                <a:solidFill>
                  <a:srgbClr val="FF0000"/>
                </a:solidFill>
              </a:rPr>
              <a:t>IAS 38</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66</a:t>
            </a:fld>
            <a:endParaRPr lang="fr-FR"/>
          </a:p>
        </p:txBody>
      </p:sp>
      <p:sp>
        <p:nvSpPr>
          <p:cNvPr id="5" name="Espace réservé du pied de page 4">
            <a:extLst>
              <a:ext uri="{FF2B5EF4-FFF2-40B4-BE49-F238E27FC236}">
                <a16:creationId xmlns:a16="http://schemas.microsoft.com/office/drawing/2014/main" id="{AEA3BD6C-2B15-4368-AC36-74CF76E5301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960535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Actifs incorporels</a:t>
            </a:r>
          </a:p>
        </p:txBody>
      </p:sp>
      <p:sp>
        <p:nvSpPr>
          <p:cNvPr id="3" name="Espace réservé du contenu 2"/>
          <p:cNvSpPr>
            <a:spLocks noGrp="1"/>
          </p:cNvSpPr>
          <p:nvPr>
            <p:ph idx="1"/>
          </p:nvPr>
        </p:nvSpPr>
        <p:spPr/>
        <p:txBody>
          <a:bodyPr>
            <a:normAutofit/>
          </a:bodyPr>
          <a:lstStyle/>
          <a:p>
            <a:r>
              <a:rPr lang="fr-FR" dirty="0"/>
              <a:t>Actif non monétaire identifiable sans substance physique</a:t>
            </a:r>
          </a:p>
          <a:p>
            <a:pPr lvl="1"/>
            <a:r>
              <a:rPr lang="fr-FR" dirty="0"/>
              <a:t>Actif </a:t>
            </a:r>
          </a:p>
          <a:p>
            <a:pPr lvl="2"/>
            <a:r>
              <a:rPr lang="fr-FR" dirty="0"/>
              <a:t>contrôle de la ressource : restreindre l’accès à des tiers</a:t>
            </a:r>
          </a:p>
          <a:p>
            <a:pPr lvl="2"/>
            <a:r>
              <a:rPr lang="fr-FR" dirty="0"/>
              <a:t>avantages économiques futurs : produits, économies</a:t>
            </a:r>
          </a:p>
          <a:p>
            <a:pPr lvl="1"/>
            <a:r>
              <a:rPr lang="fr-FR" dirty="0"/>
              <a:t>Non monétaire</a:t>
            </a:r>
          </a:p>
          <a:p>
            <a:pPr lvl="1"/>
            <a:r>
              <a:rPr lang="fr-FR" dirty="0"/>
              <a:t>Identifiable </a:t>
            </a:r>
          </a:p>
          <a:p>
            <a:pPr lvl="2"/>
            <a:r>
              <a:rPr lang="fr-FR" dirty="0"/>
              <a:t>séparable de l’entité </a:t>
            </a:r>
            <a:r>
              <a:rPr lang="fr-FR" dirty="0">
                <a:solidFill>
                  <a:srgbClr val="0070C0"/>
                </a:solidFill>
              </a:rPr>
              <a:t>OU</a:t>
            </a:r>
            <a:r>
              <a:rPr lang="fr-FR" dirty="0"/>
              <a:t> </a:t>
            </a:r>
          </a:p>
          <a:p>
            <a:pPr lvl="2"/>
            <a:r>
              <a:rPr lang="fr-FR" dirty="0"/>
              <a:t>résulte de droits contractuels ou autres droits légaux</a:t>
            </a:r>
          </a:p>
          <a:p>
            <a:pPr lvl="1"/>
            <a:r>
              <a:rPr lang="fr-FR" dirty="0"/>
              <a:t>Sans substance physique</a:t>
            </a:r>
          </a:p>
          <a:p>
            <a:pPr lvl="1"/>
            <a:endParaRPr lang="fr-FR" dirty="0"/>
          </a:p>
          <a:p>
            <a:pPr lvl="2"/>
            <a:r>
              <a:rPr lang="fr-FR" dirty="0"/>
              <a:t>Sinon, comptabiliser en charges</a:t>
            </a:r>
          </a:p>
          <a:p>
            <a:pPr marL="457200" lvl="1" indent="0">
              <a:buNone/>
            </a:pPr>
            <a:endParaRPr lang="fr-FR"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67</a:t>
            </a:fld>
            <a:endParaRPr lang="fr-FR"/>
          </a:p>
        </p:txBody>
      </p:sp>
      <p:sp>
        <p:nvSpPr>
          <p:cNvPr id="5" name="Espace réservé du pied de page 4">
            <a:extLst>
              <a:ext uri="{FF2B5EF4-FFF2-40B4-BE49-F238E27FC236}">
                <a16:creationId xmlns:a16="http://schemas.microsoft.com/office/drawing/2014/main" id="{10C59A6B-DEC9-418F-AC1B-87E9179B020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665189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Actifs incorporels achetés</a:t>
            </a:r>
          </a:p>
        </p:txBody>
      </p:sp>
      <p:sp>
        <p:nvSpPr>
          <p:cNvPr id="3" name="Espace réservé du contenu 2"/>
          <p:cNvSpPr>
            <a:spLocks noGrp="1"/>
          </p:cNvSpPr>
          <p:nvPr>
            <p:ph idx="1"/>
          </p:nvPr>
        </p:nvSpPr>
        <p:spPr/>
        <p:txBody>
          <a:bodyPr>
            <a:normAutofit/>
          </a:bodyPr>
          <a:lstStyle/>
          <a:p>
            <a:r>
              <a:rPr lang="fr-FR" dirty="0"/>
              <a:t>Contrôle : titre de propriété</a:t>
            </a:r>
          </a:p>
          <a:p>
            <a:r>
              <a:rPr lang="fr-FR" dirty="0"/>
              <a:t>Coût : prix d’acquisition, diminué de toute remise / rabais, augmenté des taxes non remboursables, tels les droits de douane</a:t>
            </a:r>
          </a:p>
          <a:p>
            <a:pPr lvl="1"/>
            <a:r>
              <a:rPr lang="fr-FR" dirty="0"/>
              <a:t>augmenté de tous les coûts directement attribuables à l’acquisition que l’acquéreur doit engager avant de pouvoir utiliser l’actif incorporel de la façon prévue</a:t>
            </a:r>
          </a:p>
          <a:p>
            <a:pPr lvl="2"/>
            <a:r>
              <a:rPr lang="fr-FR" dirty="0"/>
              <a:t>Ex. : honoraires juridiques lors de l’achat d’un brevet</a:t>
            </a:r>
          </a:p>
          <a:p>
            <a:pPr lvl="1"/>
            <a:r>
              <a:rPr lang="fr-FR" dirty="0"/>
              <a:t>Mais exclut les coûts de lancement d’un nouveau bien ou service, d’une activité…</a:t>
            </a:r>
          </a:p>
        </p:txBody>
      </p:sp>
      <p:sp>
        <p:nvSpPr>
          <p:cNvPr id="4" name="Espace réservé du numéro de diapositive 3"/>
          <p:cNvSpPr>
            <a:spLocks noGrp="1"/>
          </p:cNvSpPr>
          <p:nvPr>
            <p:ph type="sldNum" sz="quarter" idx="12"/>
          </p:nvPr>
        </p:nvSpPr>
        <p:spPr/>
        <p:txBody>
          <a:bodyPr/>
          <a:lstStyle/>
          <a:p>
            <a:fld id="{EB9817E7-40F9-6948-B3E8-6A1157E03DAA}" type="slidenum">
              <a:rPr lang="fr-FR" smtClean="0"/>
              <a:t>68</a:t>
            </a:fld>
            <a:endParaRPr lang="fr-FR"/>
          </a:p>
        </p:txBody>
      </p:sp>
      <p:sp>
        <p:nvSpPr>
          <p:cNvPr id="5" name="Espace réservé du pied de page 4">
            <a:extLst>
              <a:ext uri="{FF2B5EF4-FFF2-40B4-BE49-F238E27FC236}">
                <a16:creationId xmlns:a16="http://schemas.microsoft.com/office/drawing/2014/main" id="{BE454FC2-A529-49FC-AD34-FD10F3748AD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9765516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Actifs incorporels</a:t>
            </a:r>
          </a:p>
        </p:txBody>
      </p:sp>
      <p:sp>
        <p:nvSpPr>
          <p:cNvPr id="3" name="Espace réservé du contenu 2"/>
          <p:cNvSpPr>
            <a:spLocks noGrp="1"/>
          </p:cNvSpPr>
          <p:nvPr>
            <p:ph idx="1"/>
          </p:nvPr>
        </p:nvSpPr>
        <p:spPr/>
        <p:txBody>
          <a:bodyPr>
            <a:normAutofit/>
          </a:bodyPr>
          <a:lstStyle/>
          <a:p>
            <a:pPr marL="0" indent="0">
              <a:buNone/>
            </a:pPr>
            <a:r>
              <a:rPr lang="fr-FR" dirty="0"/>
              <a:t>Problématiques comptables</a:t>
            </a:r>
          </a:p>
          <a:p>
            <a:r>
              <a:rPr lang="fr-FR" dirty="0"/>
              <a:t>Charge ou actif?</a:t>
            </a:r>
          </a:p>
          <a:p>
            <a:pPr lvl="1"/>
            <a:r>
              <a:rPr lang="fr-FR" dirty="0"/>
              <a:t>Incertitude relativement aux avantages économiques futurs – difficile d’établir un lien clair entre la détention de ces immobilisations et les avantages économiques dont pourra bénéficier l’entreprise au cours d’un exercice futur</a:t>
            </a:r>
          </a:p>
          <a:p>
            <a:pPr lvl="2"/>
            <a:r>
              <a:rPr lang="fr-FR" dirty="0"/>
              <a:t>Calculer la valeur recouvrable</a:t>
            </a:r>
          </a:p>
          <a:p>
            <a:pPr lvl="2"/>
            <a:r>
              <a:rPr lang="fr-FR" dirty="0"/>
              <a:t>Estimer la durée d’utilité</a:t>
            </a:r>
          </a:p>
          <a:p>
            <a:pPr lvl="2"/>
            <a:r>
              <a:rPr lang="fr-FR" dirty="0"/>
              <a:t>Juste valeur : pas de marché actif</a:t>
            </a:r>
          </a:p>
        </p:txBody>
      </p:sp>
      <p:sp>
        <p:nvSpPr>
          <p:cNvPr id="4" name="Espace réservé du numéro de diapositive 3"/>
          <p:cNvSpPr>
            <a:spLocks noGrp="1"/>
          </p:cNvSpPr>
          <p:nvPr>
            <p:ph type="sldNum" sz="quarter" idx="12"/>
          </p:nvPr>
        </p:nvSpPr>
        <p:spPr/>
        <p:txBody>
          <a:bodyPr/>
          <a:lstStyle/>
          <a:p>
            <a:fld id="{EB9817E7-40F9-6948-B3E8-6A1157E03DAA}" type="slidenum">
              <a:rPr lang="fr-FR" smtClean="0"/>
              <a:t>69</a:t>
            </a:fld>
            <a:endParaRPr lang="fr-FR"/>
          </a:p>
        </p:txBody>
      </p:sp>
      <p:sp>
        <p:nvSpPr>
          <p:cNvPr id="5" name="Espace réservé du pied de page 4">
            <a:extLst>
              <a:ext uri="{FF2B5EF4-FFF2-40B4-BE49-F238E27FC236}">
                <a16:creationId xmlns:a16="http://schemas.microsoft.com/office/drawing/2014/main" id="{19CB6A05-B03B-4C63-8157-3AA46E7B14B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045167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Actifs incorporels générés en interne</a:t>
            </a:r>
          </a:p>
        </p:txBody>
      </p:sp>
      <p:sp>
        <p:nvSpPr>
          <p:cNvPr id="3" name="Espace réservé du contenu 2"/>
          <p:cNvSpPr>
            <a:spLocks noGrp="1"/>
          </p:cNvSpPr>
          <p:nvPr>
            <p:ph idx="1"/>
          </p:nvPr>
        </p:nvSpPr>
        <p:spPr/>
        <p:txBody>
          <a:bodyPr>
            <a:normAutofit/>
          </a:bodyPr>
          <a:lstStyle/>
          <a:p>
            <a:pPr marL="0" indent="0">
              <a:buNone/>
            </a:pPr>
            <a:r>
              <a:rPr lang="fr-FR" dirty="0"/>
              <a:t>Enjeux :</a:t>
            </a:r>
          </a:p>
          <a:p>
            <a:r>
              <a:rPr lang="fr-FR" dirty="0"/>
              <a:t>Probabilité des avantages économiques futurs</a:t>
            </a:r>
          </a:p>
          <a:p>
            <a:pPr lvl="1"/>
            <a:r>
              <a:rPr lang="fr-FR" dirty="0"/>
              <a:t>Arrivent quelques années plus tard / après la date du bilan</a:t>
            </a:r>
          </a:p>
          <a:p>
            <a:pPr lvl="2"/>
            <a:r>
              <a:rPr lang="fr-FR" dirty="0">
                <a:solidFill>
                  <a:srgbClr val="4F81BD"/>
                </a:solidFill>
              </a:rPr>
              <a:t>Ne peut faire une application rétrospective (pour capitaliser)</a:t>
            </a:r>
          </a:p>
          <a:p>
            <a:r>
              <a:rPr lang="fr-FR" dirty="0"/>
              <a:t>Déterminer le coût</a:t>
            </a:r>
          </a:p>
        </p:txBody>
      </p:sp>
      <p:sp>
        <p:nvSpPr>
          <p:cNvPr id="4" name="Espace réservé du numéro de diapositive 3"/>
          <p:cNvSpPr>
            <a:spLocks noGrp="1"/>
          </p:cNvSpPr>
          <p:nvPr>
            <p:ph type="sldNum" sz="quarter" idx="12"/>
          </p:nvPr>
        </p:nvSpPr>
        <p:spPr/>
        <p:txBody>
          <a:bodyPr/>
          <a:lstStyle/>
          <a:p>
            <a:fld id="{EB9817E7-40F9-6948-B3E8-6A1157E03DAA}" type="slidenum">
              <a:rPr lang="fr-FR" smtClean="0"/>
              <a:t>70</a:t>
            </a:fld>
            <a:endParaRPr lang="fr-FR"/>
          </a:p>
        </p:txBody>
      </p:sp>
      <p:sp>
        <p:nvSpPr>
          <p:cNvPr id="5" name="Espace réservé du pied de page 4">
            <a:extLst>
              <a:ext uri="{FF2B5EF4-FFF2-40B4-BE49-F238E27FC236}">
                <a16:creationId xmlns:a16="http://schemas.microsoft.com/office/drawing/2014/main" id="{4A31AF5D-D3A8-47C8-840B-5290689757E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5290893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Actifs incorporels</a:t>
            </a:r>
          </a:p>
        </p:txBody>
      </p:sp>
      <p:sp>
        <p:nvSpPr>
          <p:cNvPr id="3" name="Espace réservé du contenu 2"/>
          <p:cNvSpPr>
            <a:spLocks noGrp="1"/>
          </p:cNvSpPr>
          <p:nvPr>
            <p:ph idx="1"/>
          </p:nvPr>
        </p:nvSpPr>
        <p:spPr>
          <a:xfrm>
            <a:off x="838200" y="2244487"/>
            <a:ext cx="10515600" cy="3881677"/>
          </a:xfrm>
        </p:spPr>
        <p:txBody>
          <a:bodyPr>
            <a:normAutofit/>
          </a:bodyPr>
          <a:lstStyle/>
          <a:p>
            <a:r>
              <a:rPr lang="fr-FR" dirty="0"/>
              <a:t>NCECF : Comptabilisés au coût</a:t>
            </a:r>
          </a:p>
          <a:p>
            <a:r>
              <a:rPr lang="fr-FR" dirty="0">
                <a:solidFill>
                  <a:srgbClr val="FF0000"/>
                </a:solidFill>
              </a:rPr>
              <a:t>IFRS : choix coût ou modèle de réévaluation, mais nécessite un marché actif pour pouvoir choisir la juste valeur</a:t>
            </a:r>
          </a:p>
          <a:p>
            <a:pPr lvl="2"/>
            <a:r>
              <a:rPr lang="fr-FR" dirty="0">
                <a:solidFill>
                  <a:srgbClr val="FF0000"/>
                </a:solidFill>
              </a:rPr>
              <a:t>Très rare…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71</a:t>
            </a:fld>
            <a:endParaRPr lang="fr-FR"/>
          </a:p>
        </p:txBody>
      </p:sp>
      <p:sp>
        <p:nvSpPr>
          <p:cNvPr id="5" name="Espace réservé du pied de page 4">
            <a:extLst>
              <a:ext uri="{FF2B5EF4-FFF2-40B4-BE49-F238E27FC236}">
                <a16:creationId xmlns:a16="http://schemas.microsoft.com/office/drawing/2014/main" id="{9F7A8E4A-31B6-45A8-AD44-C0631967225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4664762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Quelques exemples – actif ou charge?</a:t>
            </a:r>
          </a:p>
        </p:txBody>
      </p:sp>
      <p:sp>
        <p:nvSpPr>
          <p:cNvPr id="3" name="Espace réservé du contenu 2"/>
          <p:cNvSpPr>
            <a:spLocks noGrp="1"/>
          </p:cNvSpPr>
          <p:nvPr>
            <p:ph idx="1"/>
          </p:nvPr>
        </p:nvSpPr>
        <p:spPr/>
        <p:txBody>
          <a:bodyPr/>
          <a:lstStyle/>
          <a:p>
            <a:r>
              <a:rPr lang="fr-FR" dirty="0"/>
              <a:t>Dépenses au titre des activités en démarrage?</a:t>
            </a:r>
          </a:p>
          <a:p>
            <a:r>
              <a:rPr lang="fr-FR" dirty="0"/>
              <a:t>Dépenses de formation?</a:t>
            </a:r>
          </a:p>
          <a:p>
            <a:r>
              <a:rPr lang="fr-FR" dirty="0"/>
              <a:t>Dépenses de publicité et de promotion?</a:t>
            </a:r>
          </a:p>
          <a:p>
            <a:r>
              <a:rPr lang="fr-FR" dirty="0"/>
              <a:t>Dépenses de relocalisation ou de réorganisation de toute ou partie d’une entité?</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72</a:t>
            </a:fld>
            <a:endParaRPr lang="fr-FR"/>
          </a:p>
        </p:txBody>
      </p:sp>
      <p:sp>
        <p:nvSpPr>
          <p:cNvPr id="5" name="Espace réservé du pied de page 4">
            <a:extLst>
              <a:ext uri="{FF2B5EF4-FFF2-40B4-BE49-F238E27FC236}">
                <a16:creationId xmlns:a16="http://schemas.microsoft.com/office/drawing/2014/main" id="{999510F9-4F78-4BBA-A946-7571E2039FA8}"/>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088847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Quelques exemples – actif ou charge?</a:t>
            </a:r>
          </a:p>
        </p:txBody>
      </p:sp>
      <p:sp>
        <p:nvSpPr>
          <p:cNvPr id="3" name="Espace réservé du contenu 2"/>
          <p:cNvSpPr>
            <a:spLocks noGrp="1"/>
          </p:cNvSpPr>
          <p:nvPr>
            <p:ph idx="1"/>
          </p:nvPr>
        </p:nvSpPr>
        <p:spPr/>
        <p:txBody>
          <a:bodyPr>
            <a:normAutofit fontScale="92500" lnSpcReduction="10000"/>
          </a:bodyPr>
          <a:lstStyle/>
          <a:p>
            <a:pPr>
              <a:buFont typeface="Symbol" panose="05050102010706020507" pitchFamily="18" charset="2"/>
              <a:buChar char="Þ"/>
            </a:pPr>
            <a:r>
              <a:rPr lang="fr-FR" i="1" dirty="0"/>
              <a:t>Supporter l’analyse avec la norme</a:t>
            </a:r>
          </a:p>
          <a:p>
            <a:pPr marL="0" indent="0">
              <a:buNone/>
            </a:pPr>
            <a:endParaRPr lang="fr-FR" i="1" dirty="0"/>
          </a:p>
          <a:p>
            <a:r>
              <a:rPr lang="fr-FR" dirty="0"/>
              <a:t>Dépenses au titre des activités en démarrage?</a:t>
            </a:r>
          </a:p>
          <a:p>
            <a:pPr lvl="1"/>
            <a:r>
              <a:rPr lang="fr-FR" dirty="0">
                <a:solidFill>
                  <a:srgbClr val="00B0F0"/>
                </a:solidFill>
              </a:rPr>
              <a:t>charge</a:t>
            </a:r>
          </a:p>
          <a:p>
            <a:r>
              <a:rPr lang="fr-FR" dirty="0"/>
              <a:t>Dépenses de formation?</a:t>
            </a:r>
          </a:p>
          <a:p>
            <a:pPr lvl="1"/>
            <a:r>
              <a:rPr lang="fr-FR" dirty="0">
                <a:solidFill>
                  <a:srgbClr val="00B0F0"/>
                </a:solidFill>
              </a:rPr>
              <a:t>charge</a:t>
            </a:r>
            <a:endParaRPr lang="fr-FR" dirty="0"/>
          </a:p>
          <a:p>
            <a:r>
              <a:rPr lang="fr-FR" dirty="0"/>
              <a:t>Dépenses de publicité et de promotion?</a:t>
            </a:r>
          </a:p>
          <a:p>
            <a:pPr lvl="1"/>
            <a:r>
              <a:rPr lang="fr-FR" dirty="0">
                <a:solidFill>
                  <a:srgbClr val="00B0F0"/>
                </a:solidFill>
              </a:rPr>
              <a:t>charge</a:t>
            </a:r>
            <a:endParaRPr lang="fr-FR" dirty="0"/>
          </a:p>
          <a:p>
            <a:r>
              <a:rPr lang="fr-FR" dirty="0"/>
              <a:t>Dépenses de relocalisation ou de réorganisation de toute ou partie d’une entité?</a:t>
            </a:r>
          </a:p>
          <a:p>
            <a:pPr lvl="1"/>
            <a:r>
              <a:rPr lang="fr-FR" dirty="0">
                <a:solidFill>
                  <a:srgbClr val="00B0F0"/>
                </a:solidFill>
              </a:rPr>
              <a:t>charge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73</a:t>
            </a:fld>
            <a:endParaRPr lang="fr-FR"/>
          </a:p>
        </p:txBody>
      </p:sp>
      <p:sp>
        <p:nvSpPr>
          <p:cNvPr id="5" name="Espace réservé du pied de page 4">
            <a:extLst>
              <a:ext uri="{FF2B5EF4-FFF2-40B4-BE49-F238E27FC236}">
                <a16:creationId xmlns:a16="http://schemas.microsoft.com/office/drawing/2014/main" id="{D17FC01D-2D1A-4B94-94A1-CE8AE1921E6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955422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Durée de vie légale au Canada</a:t>
            </a:r>
          </a:p>
        </p:txBody>
      </p:sp>
      <p:sp>
        <p:nvSpPr>
          <p:cNvPr id="3" name="Espace réservé du contenu 2"/>
          <p:cNvSpPr>
            <a:spLocks noGrp="1"/>
          </p:cNvSpPr>
          <p:nvPr>
            <p:ph idx="1"/>
          </p:nvPr>
        </p:nvSpPr>
        <p:spPr/>
        <p:txBody>
          <a:bodyPr>
            <a:normAutofit/>
          </a:bodyPr>
          <a:lstStyle/>
          <a:p>
            <a:r>
              <a:rPr lang="fr-FR" dirty="0"/>
              <a:t>Brevets : 20 ans</a:t>
            </a:r>
          </a:p>
          <a:p>
            <a:pPr marL="0" indent="0">
              <a:buNone/>
            </a:pPr>
            <a:endParaRPr lang="fr-FR" sz="800" dirty="0"/>
          </a:p>
          <a:p>
            <a:r>
              <a:rPr lang="fr-FR" dirty="0"/>
              <a:t>Droits d’auteur : 50 ans après la mort de l’auteur</a:t>
            </a:r>
          </a:p>
          <a:p>
            <a:pPr marL="0" indent="0">
              <a:buNone/>
            </a:pPr>
            <a:endParaRPr lang="fr-FR" sz="900" dirty="0"/>
          </a:p>
          <a:p>
            <a:r>
              <a:rPr lang="fr-FR" dirty="0"/>
              <a:t>Marques de commerce et noms commerciaux : 15 ans, renouvelable indéfiniment</a:t>
            </a:r>
          </a:p>
          <a:p>
            <a:pPr marL="0" indent="0">
              <a:buNone/>
            </a:pPr>
            <a:endParaRPr lang="fr-FR" sz="900" dirty="0"/>
          </a:p>
          <a:p>
            <a:r>
              <a:rPr lang="fr-FR" dirty="0"/>
              <a:t>Dessins industriels : 5 ans, renouvelable pour une période supplémentaire de 5 ans</a:t>
            </a:r>
          </a:p>
        </p:txBody>
      </p:sp>
      <p:sp>
        <p:nvSpPr>
          <p:cNvPr id="4" name="Espace réservé du numéro de diapositive 3"/>
          <p:cNvSpPr>
            <a:spLocks noGrp="1"/>
          </p:cNvSpPr>
          <p:nvPr>
            <p:ph type="sldNum" sz="quarter" idx="12"/>
          </p:nvPr>
        </p:nvSpPr>
        <p:spPr/>
        <p:txBody>
          <a:bodyPr/>
          <a:lstStyle/>
          <a:p>
            <a:fld id="{B9BAC619-AC20-A94F-B305-1D1AA8C30BA6}" type="slidenum">
              <a:rPr lang="fr-FR" smtClean="0"/>
              <a:t>74</a:t>
            </a:fld>
            <a:endParaRPr lang="fr-FR"/>
          </a:p>
        </p:txBody>
      </p:sp>
      <p:sp>
        <p:nvSpPr>
          <p:cNvPr id="5" name="Espace réservé du pied de page 4">
            <a:extLst>
              <a:ext uri="{FF2B5EF4-FFF2-40B4-BE49-F238E27FC236}">
                <a16:creationId xmlns:a16="http://schemas.microsoft.com/office/drawing/2014/main" id="{92B926DB-4237-4DC7-9BC0-187327E75CD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0761607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Franchises</a:t>
            </a:r>
          </a:p>
        </p:txBody>
      </p:sp>
      <p:sp>
        <p:nvSpPr>
          <p:cNvPr id="3" name="Espace réservé du contenu 2"/>
          <p:cNvSpPr>
            <a:spLocks noGrp="1"/>
          </p:cNvSpPr>
          <p:nvPr>
            <p:ph idx="1"/>
          </p:nvPr>
        </p:nvSpPr>
        <p:spPr>
          <a:xfrm>
            <a:off x="838200" y="1600200"/>
            <a:ext cx="10515600" cy="5012823"/>
          </a:xfrm>
        </p:spPr>
        <p:txBody>
          <a:bodyPr>
            <a:normAutofit fontScale="70000" lnSpcReduction="20000"/>
          </a:bodyPr>
          <a:lstStyle/>
          <a:p>
            <a:r>
              <a:rPr lang="fr-FR" dirty="0">
                <a:solidFill>
                  <a:srgbClr val="3366FF"/>
                </a:solidFill>
              </a:rPr>
              <a:t>Exemples de franchises?</a:t>
            </a:r>
          </a:p>
          <a:p>
            <a:pPr marL="0" indent="0">
              <a:buNone/>
            </a:pPr>
            <a:endParaRPr lang="fr-FR" sz="2000" dirty="0"/>
          </a:p>
          <a:p>
            <a:r>
              <a:rPr lang="fr-FR" dirty="0"/>
              <a:t>Franchiseur : assistance – choix de l’emplacement, obtention du financement, conception et construction des installations, publicité, programmes de formation, établissement du programme de contrôle de qualité</a:t>
            </a:r>
          </a:p>
          <a:p>
            <a:r>
              <a:rPr lang="fr-FR" dirty="0"/>
              <a:t>Franchisé : gestion décentralisée d’une entreprise par son propriétaire</a:t>
            </a:r>
          </a:p>
          <a:p>
            <a:endParaRPr lang="fr-FR" dirty="0"/>
          </a:p>
          <a:p>
            <a:r>
              <a:rPr lang="fr-FR" dirty="0"/>
              <a:t>Redevance initiale (coût d’une franchise) et redevances subséquentes</a:t>
            </a:r>
          </a:p>
          <a:p>
            <a:pPr lvl="1"/>
            <a:r>
              <a:rPr lang="fr-FR" dirty="0"/>
              <a:t>Attention : redevance initiale peut inclure des éléments non reliés au coût de la franchise (immobilisations corporelles données, publicité initiale…)</a:t>
            </a:r>
          </a:p>
          <a:p>
            <a:endParaRPr lang="fr-FR" dirty="0"/>
          </a:p>
          <a:p>
            <a:r>
              <a:rPr lang="fr-FR" dirty="0"/>
              <a:t>Coût d’une franchise (redevance initiale) = actif incorporel</a:t>
            </a:r>
          </a:p>
          <a:p>
            <a:pPr lvl="1"/>
            <a:r>
              <a:rPr lang="fr-FR" dirty="0"/>
              <a:t>Contrat qui donne le contrôle sur les avantages économiques futurs</a:t>
            </a:r>
          </a:p>
          <a:p>
            <a:pPr lvl="1"/>
            <a:r>
              <a:rPr lang="fr-FR" dirty="0"/>
              <a:t>Avantages économiques futurs supportés par la réputation du franchiseur</a:t>
            </a:r>
          </a:p>
          <a:p>
            <a:pPr lvl="1"/>
            <a:r>
              <a:rPr lang="fr-FR" dirty="0"/>
              <a:t>Non monétaire</a:t>
            </a:r>
          </a:p>
          <a:p>
            <a:pPr lvl="1"/>
            <a:r>
              <a:rPr lang="fr-FR" dirty="0"/>
              <a:t>Actif identifiable (acheté séparément d’un tiers)</a:t>
            </a:r>
          </a:p>
          <a:p>
            <a:pPr lvl="1"/>
            <a:r>
              <a:rPr lang="fr-FR" dirty="0"/>
              <a:t>Pas de substance physique</a:t>
            </a:r>
          </a:p>
        </p:txBody>
      </p:sp>
      <p:sp>
        <p:nvSpPr>
          <p:cNvPr id="4" name="Espace réservé du numéro de diapositive 3"/>
          <p:cNvSpPr>
            <a:spLocks noGrp="1"/>
          </p:cNvSpPr>
          <p:nvPr>
            <p:ph type="sldNum" sz="quarter" idx="12"/>
          </p:nvPr>
        </p:nvSpPr>
        <p:spPr/>
        <p:txBody>
          <a:bodyPr/>
          <a:lstStyle/>
          <a:p>
            <a:fld id="{EB9817E7-40F9-6948-B3E8-6A1157E03DAA}" type="slidenum">
              <a:rPr lang="fr-FR" smtClean="0"/>
              <a:t>75</a:t>
            </a:fld>
            <a:endParaRPr lang="fr-FR"/>
          </a:p>
        </p:txBody>
      </p:sp>
      <p:sp>
        <p:nvSpPr>
          <p:cNvPr id="5" name="Espace réservé du pied de page 4">
            <a:extLst>
              <a:ext uri="{FF2B5EF4-FFF2-40B4-BE49-F238E27FC236}">
                <a16:creationId xmlns:a16="http://schemas.microsoft.com/office/drawing/2014/main" id="{751B56EB-7BF6-4F4B-8EB1-738F8A37BAF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336869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Recherche et développement</a:t>
            </a:r>
          </a:p>
        </p:txBody>
      </p:sp>
      <p:sp>
        <p:nvSpPr>
          <p:cNvPr id="3" name="Espace réservé du contenu 2"/>
          <p:cNvSpPr>
            <a:spLocks noGrp="1"/>
          </p:cNvSpPr>
          <p:nvPr>
            <p:ph idx="1"/>
          </p:nvPr>
        </p:nvSpPr>
        <p:spPr/>
        <p:txBody>
          <a:bodyPr>
            <a:normAutofit/>
          </a:bodyPr>
          <a:lstStyle/>
          <a:p>
            <a:r>
              <a:rPr lang="fr-FR" b="1" dirty="0"/>
              <a:t>Recherche</a:t>
            </a:r>
            <a:r>
              <a:rPr lang="fr-FR" dirty="0"/>
              <a:t> : investigation originale et programmée entreprise en vue d’acquérir une compréhension et des connaissances scientifiques ou techniques nouvelles</a:t>
            </a:r>
          </a:p>
          <a:p>
            <a:pPr marL="0" indent="0">
              <a:buNone/>
            </a:pPr>
            <a:endParaRPr lang="fr-FR" dirty="0"/>
          </a:p>
          <a:p>
            <a:r>
              <a:rPr lang="fr-FR" b="1" dirty="0"/>
              <a:t>Développement</a:t>
            </a:r>
            <a:r>
              <a:rPr lang="fr-FR" dirty="0"/>
              <a:t> : application des résultats de la recherche ou d’autres connaissances à un plan ou un modèle en vue de la production de matériaux, dispositifs, produits, procédés, systèmes ou services nouveaux ou substantiellement améliorés, avant le commencement de leur production commerciale ou de leur utilisation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76</a:t>
            </a:fld>
            <a:endParaRPr lang="fr-FR"/>
          </a:p>
        </p:txBody>
      </p:sp>
      <p:sp>
        <p:nvSpPr>
          <p:cNvPr id="5" name="Espace réservé du pied de page 4">
            <a:extLst>
              <a:ext uri="{FF2B5EF4-FFF2-40B4-BE49-F238E27FC236}">
                <a16:creationId xmlns:a16="http://schemas.microsoft.com/office/drawing/2014/main" id="{E12785D8-6ED5-4DA4-9828-375CD8B7811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523768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Recherche et développement</a:t>
            </a:r>
          </a:p>
        </p:txBody>
      </p:sp>
      <p:sp>
        <p:nvSpPr>
          <p:cNvPr id="3" name="Espace réservé du contenu 2"/>
          <p:cNvSpPr>
            <a:spLocks noGrp="1"/>
          </p:cNvSpPr>
          <p:nvPr>
            <p:ph idx="1"/>
          </p:nvPr>
        </p:nvSpPr>
        <p:spPr>
          <a:xfrm>
            <a:off x="838200" y="1600200"/>
            <a:ext cx="10515600" cy="4969028"/>
          </a:xfrm>
        </p:spPr>
        <p:txBody>
          <a:bodyPr>
            <a:normAutofit fontScale="92500" lnSpcReduction="20000"/>
          </a:bodyPr>
          <a:lstStyle/>
          <a:p>
            <a:r>
              <a:rPr lang="fr-FR" b="1" dirty="0"/>
              <a:t>Recherche</a:t>
            </a:r>
            <a:r>
              <a:rPr lang="fr-FR" dirty="0"/>
              <a:t> : les dépenses pour la recherche doivent être comptabilisées en charges lorsqu’elles sont engagées</a:t>
            </a:r>
          </a:p>
          <a:p>
            <a:pPr marL="0" indent="0">
              <a:buNone/>
            </a:pPr>
            <a:endParaRPr lang="fr-FR" sz="2600" dirty="0"/>
          </a:p>
          <a:p>
            <a:r>
              <a:rPr lang="fr-FR" b="1" dirty="0"/>
              <a:t>Développement</a:t>
            </a:r>
            <a:r>
              <a:rPr lang="fr-FR" dirty="0"/>
              <a:t> : </a:t>
            </a:r>
            <a:r>
              <a:rPr lang="fr-FR" dirty="0">
                <a:solidFill>
                  <a:srgbClr val="0070C0"/>
                </a:solidFill>
              </a:rPr>
              <a:t>NCECF choix de passer ces dépenses en charges ou porter ces dépenses au bilan à titre d’actif incorporel </a:t>
            </a:r>
            <a:r>
              <a:rPr lang="fr-FR" i="1" dirty="0">
                <a:solidFill>
                  <a:srgbClr val="FF0000"/>
                </a:solidFill>
              </a:rPr>
              <a:t>(IFRS : capitalisation)</a:t>
            </a:r>
            <a:r>
              <a:rPr lang="fr-FR" dirty="0">
                <a:solidFill>
                  <a:srgbClr val="0070C0"/>
                </a:solidFill>
              </a:rPr>
              <a:t> </a:t>
            </a:r>
            <a:r>
              <a:rPr lang="fr-FR" dirty="0"/>
              <a:t>si rencontrent tous les critères</a:t>
            </a:r>
          </a:p>
          <a:p>
            <a:pPr lvl="1"/>
            <a:r>
              <a:rPr lang="fr-FR" dirty="0">
                <a:solidFill>
                  <a:srgbClr val="000000"/>
                </a:solidFill>
              </a:rPr>
              <a:t>Faisabilité technique</a:t>
            </a:r>
          </a:p>
          <a:p>
            <a:pPr lvl="1"/>
            <a:r>
              <a:rPr lang="fr-FR" dirty="0">
                <a:solidFill>
                  <a:srgbClr val="000000"/>
                </a:solidFill>
              </a:rPr>
              <a:t>Intention d’achever et de l’utiliser ou de le vendre</a:t>
            </a:r>
          </a:p>
          <a:p>
            <a:pPr lvl="1"/>
            <a:r>
              <a:rPr lang="fr-FR" dirty="0">
                <a:solidFill>
                  <a:srgbClr val="000000"/>
                </a:solidFill>
              </a:rPr>
              <a:t>Capacité à utiliser ou à vendre l’actif incorporel</a:t>
            </a:r>
          </a:p>
          <a:p>
            <a:pPr lvl="1"/>
            <a:r>
              <a:rPr lang="fr-FR" dirty="0">
                <a:solidFill>
                  <a:srgbClr val="000000"/>
                </a:solidFill>
              </a:rPr>
              <a:t>Disponibilité des ressources techniques, financières…</a:t>
            </a:r>
          </a:p>
          <a:p>
            <a:pPr lvl="1"/>
            <a:r>
              <a:rPr lang="fr-FR" dirty="0">
                <a:solidFill>
                  <a:srgbClr val="000000"/>
                </a:solidFill>
              </a:rPr>
              <a:t>Capacité à identifier les dépenses</a:t>
            </a:r>
          </a:p>
          <a:p>
            <a:pPr lvl="1"/>
            <a:r>
              <a:rPr lang="fr-FR" dirty="0">
                <a:solidFill>
                  <a:srgbClr val="000000"/>
                </a:solidFill>
              </a:rPr>
              <a:t>Avantages économiques futurs</a:t>
            </a:r>
          </a:p>
          <a:p>
            <a:pPr lvl="1"/>
            <a:endParaRPr lang="fr-FR" dirty="0">
              <a:solidFill>
                <a:srgbClr val="000000"/>
              </a:solidFill>
            </a:endParaRPr>
          </a:p>
          <a:p>
            <a:pPr lvl="2"/>
            <a:r>
              <a:rPr lang="fr-FR" sz="2900" dirty="0">
                <a:solidFill>
                  <a:srgbClr val="4F81BD"/>
                </a:solidFill>
              </a:rPr>
              <a:t>Ne peut capitaliser de façon rétrospective quand les critères sont finalement rencontrés</a:t>
            </a:r>
            <a:endParaRPr lang="fr-FR" sz="2900" dirty="0">
              <a:solidFill>
                <a:srgbClr val="000000"/>
              </a:solidFill>
            </a:endParaRPr>
          </a:p>
          <a:p>
            <a:pPr lvl="1"/>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77</a:t>
            </a:fld>
            <a:endParaRPr lang="fr-FR"/>
          </a:p>
        </p:txBody>
      </p:sp>
      <p:sp>
        <p:nvSpPr>
          <p:cNvPr id="5" name="Espace réservé du pied de page 4">
            <a:extLst>
              <a:ext uri="{FF2B5EF4-FFF2-40B4-BE49-F238E27FC236}">
                <a16:creationId xmlns:a16="http://schemas.microsoft.com/office/drawing/2014/main" id="{F61E801A-19ED-4329-A2C6-C53D22E3650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7535009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Frais de recherche et de développement</a:t>
            </a:r>
          </a:p>
        </p:txBody>
      </p:sp>
      <p:sp>
        <p:nvSpPr>
          <p:cNvPr id="3" name="Espace réservé du contenu 2"/>
          <p:cNvSpPr>
            <a:spLocks noGrp="1"/>
          </p:cNvSpPr>
          <p:nvPr>
            <p:ph idx="1"/>
          </p:nvPr>
        </p:nvSpPr>
        <p:spPr/>
        <p:txBody>
          <a:bodyPr>
            <a:normAutofit/>
          </a:bodyPr>
          <a:lstStyle/>
          <a:p>
            <a:pPr marL="0" indent="0">
              <a:buNone/>
            </a:pPr>
            <a:r>
              <a:rPr lang="fr-FR" dirty="0"/>
              <a:t>Frais de développement</a:t>
            </a:r>
          </a:p>
          <a:p>
            <a:r>
              <a:rPr lang="fr-FR" dirty="0"/>
              <a:t>Capitalisés jusqu’à concurrence du montant qui pourra être recouvré</a:t>
            </a:r>
          </a:p>
          <a:p>
            <a:r>
              <a:rPr lang="fr-FR" dirty="0"/>
              <a:t>Amortissement débute avec la production / l’utilisation du produit</a:t>
            </a:r>
          </a:p>
          <a:p>
            <a:pPr lvl="1"/>
            <a:r>
              <a:rPr lang="fr-FR" dirty="0"/>
              <a:t>Méthode d’amortissement logique et systématique en fonction si possible de la vente / utilisation du produit</a:t>
            </a:r>
          </a:p>
          <a:p>
            <a:r>
              <a:rPr lang="fr-FR" dirty="0"/>
              <a:t>Revoir la valeur comptable à chaque date de bilan c. valeur avantages futurs</a:t>
            </a:r>
          </a:p>
        </p:txBody>
      </p:sp>
      <p:sp>
        <p:nvSpPr>
          <p:cNvPr id="4" name="Espace réservé du numéro de diapositive 3"/>
          <p:cNvSpPr>
            <a:spLocks noGrp="1"/>
          </p:cNvSpPr>
          <p:nvPr>
            <p:ph type="sldNum" sz="quarter" idx="12"/>
          </p:nvPr>
        </p:nvSpPr>
        <p:spPr/>
        <p:txBody>
          <a:bodyPr/>
          <a:lstStyle/>
          <a:p>
            <a:fld id="{EB9817E7-40F9-6948-B3E8-6A1157E03DAA}" type="slidenum">
              <a:rPr lang="fr-FR" smtClean="0"/>
              <a:t>78</a:t>
            </a:fld>
            <a:endParaRPr lang="fr-FR"/>
          </a:p>
        </p:txBody>
      </p:sp>
      <p:sp>
        <p:nvSpPr>
          <p:cNvPr id="5" name="Espace réservé du pied de page 4">
            <a:extLst>
              <a:ext uri="{FF2B5EF4-FFF2-40B4-BE49-F238E27FC236}">
                <a16:creationId xmlns:a16="http://schemas.microsoft.com/office/drawing/2014/main" id="{8FFB0AEB-6B1F-4570-96B0-A4B7F0F3F2C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7939135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Recherche et développement</a:t>
            </a:r>
          </a:p>
        </p:txBody>
      </p:sp>
      <p:sp>
        <p:nvSpPr>
          <p:cNvPr id="3" name="Espace réservé du contenu 2"/>
          <p:cNvSpPr>
            <a:spLocks noGrp="1"/>
          </p:cNvSpPr>
          <p:nvPr>
            <p:ph idx="1"/>
          </p:nvPr>
        </p:nvSpPr>
        <p:spPr/>
        <p:txBody>
          <a:bodyPr>
            <a:normAutofit/>
          </a:bodyPr>
          <a:lstStyle/>
          <a:p>
            <a:r>
              <a:rPr lang="fr-FR" dirty="0">
                <a:solidFill>
                  <a:srgbClr val="000000"/>
                </a:solidFill>
              </a:rPr>
              <a:t>Frais de développement : inclure</a:t>
            </a:r>
          </a:p>
          <a:p>
            <a:pPr lvl="1"/>
            <a:r>
              <a:rPr lang="fr-FR" dirty="0">
                <a:solidFill>
                  <a:srgbClr val="000000"/>
                </a:solidFill>
              </a:rPr>
              <a:t>Coût des matériaux utilisés?</a:t>
            </a:r>
          </a:p>
          <a:p>
            <a:pPr lvl="1"/>
            <a:r>
              <a:rPr lang="fr-FR" dirty="0">
                <a:solidFill>
                  <a:srgbClr val="000000"/>
                </a:solidFill>
              </a:rPr>
              <a:t>Salaires?</a:t>
            </a:r>
          </a:p>
          <a:p>
            <a:pPr lvl="1"/>
            <a:r>
              <a:rPr lang="fr-FR" dirty="0">
                <a:solidFill>
                  <a:srgbClr val="000000"/>
                </a:solidFill>
              </a:rPr>
              <a:t>Amortissement des brevets / licences?</a:t>
            </a:r>
          </a:p>
          <a:p>
            <a:pPr lvl="1"/>
            <a:r>
              <a:rPr lang="fr-FR" dirty="0">
                <a:solidFill>
                  <a:srgbClr val="000000"/>
                </a:solidFill>
              </a:rPr>
              <a:t>Frais de vente?</a:t>
            </a:r>
          </a:p>
          <a:p>
            <a:pPr lvl="1"/>
            <a:r>
              <a:rPr lang="fr-FR" dirty="0">
                <a:solidFill>
                  <a:srgbClr val="000000"/>
                </a:solidFill>
              </a:rPr>
              <a:t>Frais de formation du personnel pour exploiter l’actif?</a:t>
            </a:r>
          </a:p>
          <a:p>
            <a:pPr lvl="1"/>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79</a:t>
            </a:fld>
            <a:endParaRPr lang="fr-FR"/>
          </a:p>
        </p:txBody>
      </p:sp>
      <p:sp>
        <p:nvSpPr>
          <p:cNvPr id="5" name="Espace réservé du pied de page 4">
            <a:extLst>
              <a:ext uri="{FF2B5EF4-FFF2-40B4-BE49-F238E27FC236}">
                <a16:creationId xmlns:a16="http://schemas.microsoft.com/office/drawing/2014/main" id="{1818F5F1-4E7F-4F71-B276-09EEFC71165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672759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82869" y="274638"/>
            <a:ext cx="10470931" cy="922114"/>
          </a:xfrm>
        </p:spPr>
        <p:txBody>
          <a:bodyPr/>
          <a:lstStyle/>
          <a:p>
            <a:r>
              <a:rPr lang="fr-FR" dirty="0"/>
              <a:t>Amortissement / dépréciation</a:t>
            </a:r>
          </a:p>
        </p:txBody>
      </p:sp>
      <p:sp>
        <p:nvSpPr>
          <p:cNvPr id="3" name="Espace réservé du contenu 2"/>
          <p:cNvSpPr>
            <a:spLocks noGrp="1"/>
          </p:cNvSpPr>
          <p:nvPr>
            <p:ph idx="1"/>
          </p:nvPr>
        </p:nvSpPr>
        <p:spPr>
          <a:xfrm>
            <a:off x="882869" y="1600200"/>
            <a:ext cx="10470931" cy="4637112"/>
          </a:xfrm>
        </p:spPr>
        <p:txBody>
          <a:bodyPr>
            <a:normAutofit/>
          </a:bodyPr>
          <a:lstStyle/>
          <a:p>
            <a:r>
              <a:rPr lang="fr-FR" dirty="0"/>
              <a:t>Actif incorporel à durée déterminée</a:t>
            </a:r>
          </a:p>
          <a:p>
            <a:pPr lvl="1"/>
            <a:r>
              <a:rPr lang="fr-FR" dirty="0"/>
              <a:t>Amortissement</a:t>
            </a:r>
          </a:p>
          <a:p>
            <a:pPr lvl="1"/>
            <a:r>
              <a:rPr lang="fr-FR" dirty="0"/>
              <a:t>Test de dépréciation</a:t>
            </a:r>
          </a:p>
          <a:p>
            <a:pPr marL="457200" lvl="1" indent="0">
              <a:buNone/>
            </a:pPr>
            <a:endParaRPr lang="fr-FR" dirty="0"/>
          </a:p>
          <a:p>
            <a:r>
              <a:rPr lang="fr-FR" dirty="0"/>
              <a:t>Actif incorporel à durée indéfinie </a:t>
            </a:r>
            <a:r>
              <a:rPr lang="fr-FR" dirty="0">
                <a:solidFill>
                  <a:srgbClr val="FF0000"/>
                </a:solidFill>
              </a:rPr>
              <a:t>(indéterminée)</a:t>
            </a:r>
            <a:r>
              <a:rPr lang="fr-FR" dirty="0"/>
              <a:t> – </a:t>
            </a:r>
            <a:r>
              <a:rPr lang="fr-FR" dirty="0">
                <a:solidFill>
                  <a:srgbClr val="3366FF"/>
                </a:solidFill>
              </a:rPr>
              <a:t>ne signifie pas illimitée</a:t>
            </a:r>
          </a:p>
          <a:p>
            <a:pPr lvl="1"/>
            <a:r>
              <a:rPr lang="fr-FR" dirty="0">
                <a:solidFill>
                  <a:srgbClr val="000000"/>
                </a:solidFill>
              </a:rPr>
              <a:t>pas d’amortissement</a:t>
            </a:r>
          </a:p>
          <a:p>
            <a:pPr lvl="1"/>
            <a:r>
              <a:rPr lang="fr-FR" dirty="0">
                <a:solidFill>
                  <a:srgbClr val="000000"/>
                </a:solidFill>
              </a:rPr>
              <a:t>Test de dépréciation : </a:t>
            </a:r>
            <a:r>
              <a:rPr lang="fr-FR" dirty="0">
                <a:solidFill>
                  <a:srgbClr val="0070C0"/>
                </a:solidFill>
              </a:rPr>
              <a:t>lorsque des événements ou des changements de situation indiquent que sa valeur comptable peut excéder sa juste valeur</a:t>
            </a:r>
          </a:p>
          <a:p>
            <a:pPr lvl="2"/>
            <a:r>
              <a:rPr lang="fr-FR" dirty="0">
                <a:solidFill>
                  <a:srgbClr val="000000"/>
                </a:solidFill>
              </a:rPr>
              <a:t>Une perte de valeur au titre d’un actif incorporel ne doit pas faire l’objet de reprises si la juste valeur s’accroît ultérieurement</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80</a:t>
            </a:fld>
            <a:endParaRPr lang="fr-FR"/>
          </a:p>
        </p:txBody>
      </p:sp>
      <p:sp>
        <p:nvSpPr>
          <p:cNvPr id="5" name="Espace réservé du pied de page 4">
            <a:extLst>
              <a:ext uri="{FF2B5EF4-FFF2-40B4-BE49-F238E27FC236}">
                <a16:creationId xmlns:a16="http://schemas.microsoft.com/office/drawing/2014/main" id="{458CF311-A975-4CB6-ACFC-31F30AE8462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807935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Goodwill / Écart d’acquisition</a:t>
            </a:r>
          </a:p>
        </p:txBody>
      </p:sp>
      <p:sp>
        <p:nvSpPr>
          <p:cNvPr id="3" name="Espace réservé du contenu 2"/>
          <p:cNvSpPr>
            <a:spLocks noGrp="1"/>
          </p:cNvSpPr>
          <p:nvPr>
            <p:ph idx="1"/>
          </p:nvPr>
        </p:nvSpPr>
        <p:spPr>
          <a:xfrm>
            <a:off x="838200" y="1600201"/>
            <a:ext cx="10515600" cy="4663207"/>
          </a:xfrm>
        </p:spPr>
        <p:txBody>
          <a:bodyPr>
            <a:normAutofit lnSpcReduction="10000"/>
          </a:bodyPr>
          <a:lstStyle/>
          <a:p>
            <a:r>
              <a:rPr lang="fr-FR" dirty="0"/>
              <a:t>Actif représentant les avantages économiques futurs résultant des actifs acquis lors d’un regroupement d’entreprises qui ne sont pas identifiés individuellement et comptabilisés séparément</a:t>
            </a:r>
          </a:p>
          <a:p>
            <a:pPr lvl="1"/>
            <a:r>
              <a:rPr lang="fr-FR" dirty="0"/>
              <a:t>Doit être rattaché à une ou à plusieurs unités d’exploitation à la date d’acquisition</a:t>
            </a:r>
          </a:p>
          <a:p>
            <a:pPr marL="0" indent="0">
              <a:buNone/>
            </a:pPr>
            <a:endParaRPr lang="fr-FR" sz="1700" dirty="0"/>
          </a:p>
          <a:p>
            <a:r>
              <a:rPr lang="fr-FR" dirty="0"/>
              <a:t>Non amortissable, soumis à un test de dépréciation lorsque des événements ou des changements de situation indiquent que la valeur comptable de l’unité d’exploitation à laquelle se rattache l’écart pourrait excéder sa juste valeur</a:t>
            </a:r>
          </a:p>
          <a:p>
            <a:pPr lvl="1"/>
            <a:r>
              <a:rPr lang="fr-FR" dirty="0"/>
              <a:t>La perte de valeur d’un écart d’acquisition ne doit pas faire l’objet de reprises si la juste valeur de l’unité d’exploitation à laquelle cet écart est rattaché s’accroît ultérieurement</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81</a:t>
            </a:fld>
            <a:endParaRPr lang="fr-FR"/>
          </a:p>
        </p:txBody>
      </p:sp>
      <p:sp>
        <p:nvSpPr>
          <p:cNvPr id="5" name="Espace réservé du pied de page 4">
            <a:extLst>
              <a:ext uri="{FF2B5EF4-FFF2-40B4-BE49-F238E27FC236}">
                <a16:creationId xmlns:a16="http://schemas.microsoft.com/office/drawing/2014/main" id="{8BEF4952-F2EA-4C52-8E42-A0B014BC0E0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6231067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Goodwill / Écart d’acquisition</a:t>
            </a:r>
          </a:p>
        </p:txBody>
      </p:sp>
      <p:sp>
        <p:nvSpPr>
          <p:cNvPr id="3" name="Espace réservé du contenu 2"/>
          <p:cNvSpPr>
            <a:spLocks noGrp="1"/>
          </p:cNvSpPr>
          <p:nvPr>
            <p:ph idx="1"/>
          </p:nvPr>
        </p:nvSpPr>
        <p:spPr>
          <a:xfrm>
            <a:off x="838200" y="1600200"/>
            <a:ext cx="10515600" cy="4756150"/>
          </a:xfrm>
        </p:spPr>
        <p:txBody>
          <a:bodyPr>
            <a:normAutofit fontScale="92500" lnSpcReduction="20000"/>
          </a:bodyPr>
          <a:lstStyle/>
          <a:p>
            <a:r>
              <a:rPr lang="fr-FR" dirty="0"/>
              <a:t>Secteur d’exploitation : composante de l’entreprise qui réunit toutes les caractéristiques suivantes :</a:t>
            </a:r>
          </a:p>
          <a:p>
            <a:pPr lvl="1"/>
            <a:r>
              <a:rPr lang="fr-FR" dirty="0"/>
              <a:t>Elle exerce des activités commerciales dont elle peut tirer des produits et pour lesquelles elle peut engager des charges (y compris des produits et des charges rattachés à des opérations conclues avec d’autres composantes de la même entreprise)</a:t>
            </a:r>
          </a:p>
          <a:p>
            <a:pPr lvl="1"/>
            <a:r>
              <a:rPr lang="fr-FR" dirty="0"/>
              <a:t>Ses résultats d’exploitation sont examinés périodiquement par le principal responsable de l’exploitation de l’entreprise aux fins de la prise de décisions quant aux ressources qui seront attribuées au secteur et de l’évaluation de la performance du secteur</a:t>
            </a:r>
          </a:p>
          <a:p>
            <a:pPr lvl="1"/>
            <a:r>
              <a:rPr lang="fr-FR" dirty="0"/>
              <a:t>On dispose à son sujet d’une information financière distincte</a:t>
            </a:r>
          </a:p>
          <a:p>
            <a:pPr marL="457200" lvl="1" indent="0">
              <a:buNone/>
            </a:pPr>
            <a:endParaRPr lang="fr-FR" sz="1300" dirty="0"/>
          </a:p>
          <a:p>
            <a:r>
              <a:rPr lang="fr-FR" dirty="0"/>
              <a:t>Unité d’exploitation : correspond soit à un secteur d’exploitation, soit au niveau immédiatement inférieur (composante). Doit constituer une unité économique sur laquelle des info financières distinctes sont disponibles et que la direction du secteur en examine régulièrement les résultats d’exploitation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82</a:t>
            </a:fld>
            <a:endParaRPr lang="fr-FR"/>
          </a:p>
        </p:txBody>
      </p:sp>
      <p:sp>
        <p:nvSpPr>
          <p:cNvPr id="5" name="Espace réservé du pied de page 4">
            <a:extLst>
              <a:ext uri="{FF2B5EF4-FFF2-40B4-BE49-F238E27FC236}">
                <a16:creationId xmlns:a16="http://schemas.microsoft.com/office/drawing/2014/main" id="{24977804-D9E7-4EFF-AF1F-3057C68BCB2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76789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Goodwill / Écart d’acquisition</a:t>
            </a:r>
          </a:p>
        </p:txBody>
      </p:sp>
      <p:sp>
        <p:nvSpPr>
          <p:cNvPr id="3" name="Espace réservé du contenu 2"/>
          <p:cNvSpPr>
            <a:spLocks noGrp="1"/>
          </p:cNvSpPr>
          <p:nvPr>
            <p:ph idx="1"/>
          </p:nvPr>
        </p:nvSpPr>
        <p:spPr/>
        <p:txBody>
          <a:bodyPr>
            <a:normAutofit/>
          </a:bodyPr>
          <a:lstStyle/>
          <a:p>
            <a:r>
              <a:rPr lang="fr-FR" dirty="0"/>
              <a:t>Le montant global des écarts d’acquisition doit être présenté sous un poste distinct dans le bilan de l’entreprise</a:t>
            </a:r>
          </a:p>
          <a:p>
            <a:pPr marL="0" indent="0">
              <a:buNone/>
            </a:pPr>
            <a:endParaRPr lang="fr-FR" sz="900" dirty="0"/>
          </a:p>
          <a:p>
            <a:r>
              <a:rPr lang="fr-FR" dirty="0"/>
              <a:t>Le montant global des pertes de valeur des écarts d’acquisition doit être présenté sous un poste distinct dans l’état des résultats, avant les activités abandonnées, sauf si la perte de valeur d’un écart d’acquisition se rapporte à une activité abandonnée, ou encore présenté dans les notes complémentaires. </a:t>
            </a:r>
          </a:p>
          <a:p>
            <a:pPr lvl="1"/>
            <a:r>
              <a:rPr lang="fr-FR" dirty="0"/>
              <a:t>Fournir les info suivantes : description des faits et circonstances qui sont à l’origine de la perte de valeur ET le montant de la perte de valeur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83</a:t>
            </a:fld>
            <a:endParaRPr lang="fr-FR"/>
          </a:p>
        </p:txBody>
      </p:sp>
      <p:sp>
        <p:nvSpPr>
          <p:cNvPr id="5" name="Espace réservé du pied de page 4">
            <a:extLst>
              <a:ext uri="{FF2B5EF4-FFF2-40B4-BE49-F238E27FC236}">
                <a16:creationId xmlns:a16="http://schemas.microsoft.com/office/drawing/2014/main" id="{8B049721-1783-4C22-B924-11F7C3C842C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1687538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Informations à fournir</a:t>
            </a:r>
          </a:p>
        </p:txBody>
      </p:sp>
      <p:sp>
        <p:nvSpPr>
          <p:cNvPr id="3" name="Espace réservé du contenu 2"/>
          <p:cNvSpPr>
            <a:spLocks noGrp="1"/>
          </p:cNvSpPr>
          <p:nvPr>
            <p:ph idx="1"/>
          </p:nvPr>
        </p:nvSpPr>
        <p:spPr>
          <a:xfrm>
            <a:off x="838200" y="1600201"/>
            <a:ext cx="10515600" cy="4609397"/>
          </a:xfrm>
        </p:spPr>
        <p:txBody>
          <a:bodyPr>
            <a:normAutofit lnSpcReduction="10000"/>
          </a:bodyPr>
          <a:lstStyle/>
          <a:p>
            <a:r>
              <a:rPr lang="fr-FR" dirty="0"/>
              <a:t>Actifs amortissables : valeur comptable nette, par grandes catégories, montant global des amortissement pour la période, méthode d’amortissement utilisée, y compris la durée ou le taux d’amortissement</a:t>
            </a:r>
          </a:p>
          <a:p>
            <a:r>
              <a:rPr lang="fr-FR" dirty="0"/>
              <a:t>Actifs non amortissables : valeur comptable par grandes catégories</a:t>
            </a:r>
          </a:p>
          <a:p>
            <a:r>
              <a:rPr lang="fr-FR" dirty="0">
                <a:solidFill>
                  <a:schemeClr val="accent1"/>
                </a:solidFill>
              </a:rPr>
              <a:t>Motifs à l’appui de la comptabilisation d’actifs incorporels générés en interne</a:t>
            </a:r>
          </a:p>
          <a:p>
            <a:r>
              <a:rPr lang="fr-FR" dirty="0">
                <a:solidFill>
                  <a:srgbClr val="000000"/>
                </a:solidFill>
              </a:rPr>
              <a:t>Pour toute perte de valeur comptabilisée : une description de l’actif incorporel ayant subi une dépréciation et les faits et circonstances qui sont à l’origine de la perte de valeur; montant de la perte de valeur; libellé du poste de l’état des résultats dans lequel la perte de valeur a été prise en compte.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84</a:t>
            </a:fld>
            <a:endParaRPr lang="fr-FR"/>
          </a:p>
        </p:txBody>
      </p:sp>
      <p:sp>
        <p:nvSpPr>
          <p:cNvPr id="5" name="Espace réservé du pied de page 4">
            <a:extLst>
              <a:ext uri="{FF2B5EF4-FFF2-40B4-BE49-F238E27FC236}">
                <a16:creationId xmlns:a16="http://schemas.microsoft.com/office/drawing/2014/main" id="{B3D228DB-D9EC-468C-8AC1-AB27E85A58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2108780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Actif?</a:t>
            </a:r>
          </a:p>
        </p:txBody>
      </p:sp>
      <p:sp>
        <p:nvSpPr>
          <p:cNvPr id="3" name="Espace réservé du contenu 2"/>
          <p:cNvSpPr>
            <a:spLocks noGrp="1"/>
          </p:cNvSpPr>
          <p:nvPr>
            <p:ph idx="1"/>
          </p:nvPr>
        </p:nvSpPr>
        <p:spPr/>
        <p:txBody>
          <a:bodyPr/>
          <a:lstStyle/>
          <a:p>
            <a:r>
              <a:rPr lang="fr-CA" dirty="0"/>
              <a:t>Actifs incorporels générés en interne</a:t>
            </a:r>
          </a:p>
          <a:p>
            <a:pPr lvl="1"/>
            <a:r>
              <a:rPr lang="fr-CA" dirty="0"/>
              <a:t>Frais de développement?</a:t>
            </a:r>
          </a:p>
          <a:p>
            <a:pPr marL="457200" lvl="1" indent="0">
              <a:buNone/>
            </a:pPr>
            <a:endParaRPr lang="fr-CA" dirty="0"/>
          </a:p>
          <a:p>
            <a:r>
              <a:rPr lang="fr-CA" dirty="0"/>
              <a:t>Actifs incorporels acquis</a:t>
            </a:r>
          </a:p>
          <a:p>
            <a:pPr lvl="1"/>
            <a:r>
              <a:rPr lang="fr-CA" dirty="0"/>
              <a:t>Rencontre critères actif incorporel?</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85</a:t>
            </a:fld>
            <a:endParaRPr lang="fr-FR"/>
          </a:p>
        </p:txBody>
      </p:sp>
      <p:sp>
        <p:nvSpPr>
          <p:cNvPr id="5" name="Espace réservé du pied de page 4">
            <a:extLst>
              <a:ext uri="{FF2B5EF4-FFF2-40B4-BE49-F238E27FC236}">
                <a16:creationId xmlns:a16="http://schemas.microsoft.com/office/drawing/2014/main" id="{6171C471-AC07-4326-9BBE-EAB5D9502C6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88821071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6758</Words>
  <Application>Microsoft Office PowerPoint</Application>
  <PresentationFormat>Grand écran</PresentationFormat>
  <Paragraphs>816</Paragraphs>
  <Slides>85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85</vt:i4>
      </vt:variant>
    </vt:vector>
  </HeadingPairs>
  <TitlesOfParts>
    <vt:vector size="91" baseType="lpstr">
      <vt:lpstr>Arial</vt:lpstr>
      <vt:lpstr>Calibri</vt:lpstr>
      <vt:lpstr>Calibri Light</vt:lpstr>
      <vt:lpstr>Symbol</vt:lpstr>
      <vt:lpstr>Wingdings</vt:lpstr>
      <vt:lpstr>Thème Office</vt:lpstr>
      <vt:lpstr>40938 Revue de certaines normes Produits et autres séances 10-11</vt:lpstr>
      <vt:lpstr>Présentation PowerPoint</vt:lpstr>
      <vt:lpstr>Enjeux</vt:lpstr>
      <vt:lpstr>Produits</vt:lpstr>
      <vt:lpstr>IFRS 15  - aborder les 5 étapes</vt:lpstr>
      <vt:lpstr>NCECF – vente de biens</vt:lpstr>
      <vt:lpstr>NCECF Prestation de services et contrats à long terme</vt:lpstr>
      <vt:lpstr>Ristournes</vt:lpstr>
      <vt:lpstr>Ristournes</vt:lpstr>
      <vt:lpstr>Rabais</vt:lpstr>
      <vt:lpstr>Rabais</vt:lpstr>
      <vt:lpstr>Micro-cas – 1 Préparer les écritures comptables</vt:lpstr>
      <vt:lpstr>Micro-cas 1 – solution A</vt:lpstr>
      <vt:lpstr>Micro-cas 1 – solution B</vt:lpstr>
      <vt:lpstr>Micro-cas – 2 Préparer les écritures comptables</vt:lpstr>
      <vt:lpstr>Micro-cas 2 – solution</vt:lpstr>
      <vt:lpstr>Micro-cas – 3 Préparer les écritures comptables</vt:lpstr>
      <vt:lpstr>Micro-cas 3 – solution</vt:lpstr>
      <vt:lpstr>Présentation PowerPoint</vt:lpstr>
      <vt:lpstr>Mesure</vt:lpstr>
      <vt:lpstr>Immobilisation  « construite à l’interne » Capitalisation des intérêts</vt:lpstr>
      <vt:lpstr>Peut-on capitaliser au coût des immobilisations les frais financiers suivants? IFRS? NCECF?</vt:lpstr>
      <vt:lpstr>Peut-on capitaliser au coût des immobilisations les frais financiers suivants? IFRS? NCECF?</vt:lpstr>
      <vt:lpstr>Question</vt:lpstr>
      <vt:lpstr>Question</vt:lpstr>
      <vt:lpstr>Achat en bloc</vt:lpstr>
      <vt:lpstr>Achat en bloc - solution</vt:lpstr>
      <vt:lpstr>Actif ou charge?</vt:lpstr>
      <vt:lpstr>Actif ou charge?</vt:lpstr>
      <vt:lpstr>Terrain et  immeuble « construit » à l’interne</vt:lpstr>
      <vt:lpstr>Terrain et  immeuble « construit » à l’interne</vt:lpstr>
      <vt:lpstr>Présentation PowerPoint</vt:lpstr>
      <vt:lpstr>Comptabilisation et répartition du coût</vt:lpstr>
      <vt:lpstr>Exercice</vt:lpstr>
      <vt:lpstr>  </vt:lpstr>
      <vt:lpstr>Présentation PowerPoint</vt:lpstr>
      <vt:lpstr>Image fidèle</vt:lpstr>
      <vt:lpstr>IFRS 16</vt:lpstr>
      <vt:lpstr>IFRS 16</vt:lpstr>
      <vt:lpstr>IFRS 16 - contrat</vt:lpstr>
      <vt:lpstr>IFRS 16 - durée</vt:lpstr>
      <vt:lpstr>IFRS 16 - Preneur</vt:lpstr>
      <vt:lpstr>IFRS 16 - Preneur</vt:lpstr>
      <vt:lpstr>Présentation PowerPoint</vt:lpstr>
      <vt:lpstr>IFRS 16 - Preneur</vt:lpstr>
      <vt:lpstr>IFRS 16 - Bailleur</vt:lpstr>
      <vt:lpstr>IFRS 16 – Bailleur - classement</vt:lpstr>
      <vt:lpstr>IFRS 16 - Bailleur</vt:lpstr>
      <vt:lpstr>IFRS 16 – Bailleur  qui sont fabricants ou distributeurs</vt:lpstr>
      <vt:lpstr>Présentation PowerPoint</vt:lpstr>
      <vt:lpstr>Classement</vt:lpstr>
      <vt:lpstr>Contrats de location</vt:lpstr>
      <vt:lpstr>Preneur – location-acquisition</vt:lpstr>
      <vt:lpstr>Preneur – location-exploitation</vt:lpstr>
      <vt:lpstr>Classement</vt:lpstr>
      <vt:lpstr>Bailleur</vt:lpstr>
      <vt:lpstr>Bailleur– location-exploitation</vt:lpstr>
      <vt:lpstr>Cession bail</vt:lpstr>
      <vt:lpstr>Informations à fournir</vt:lpstr>
      <vt:lpstr>Informations à fournir</vt:lpstr>
      <vt:lpstr>Impact sur les ratios financiers</vt:lpstr>
      <vt:lpstr>Présentation PowerPoint</vt:lpstr>
      <vt:lpstr>Dépréciation d’actifs à long terme</vt:lpstr>
      <vt:lpstr>NCECF Constatation et mesure</vt:lpstr>
      <vt:lpstr>NCECF Constatation et mesure</vt:lpstr>
      <vt:lpstr>Présentation PowerPoint</vt:lpstr>
      <vt:lpstr>Actifs incorporels</vt:lpstr>
      <vt:lpstr>Actifs incorporels achetés</vt:lpstr>
      <vt:lpstr>Actifs incorporels</vt:lpstr>
      <vt:lpstr>Actifs incorporels générés en interne</vt:lpstr>
      <vt:lpstr>Actifs incorporels</vt:lpstr>
      <vt:lpstr>Quelques exemples – actif ou charge?</vt:lpstr>
      <vt:lpstr>Quelques exemples – actif ou charge?</vt:lpstr>
      <vt:lpstr>Durée de vie légale au Canada</vt:lpstr>
      <vt:lpstr>Franchises</vt:lpstr>
      <vt:lpstr>Recherche et développement</vt:lpstr>
      <vt:lpstr>Recherche et développement</vt:lpstr>
      <vt:lpstr>Frais de recherche et de développement</vt:lpstr>
      <vt:lpstr>Recherche et développement</vt:lpstr>
      <vt:lpstr>Amortissement / dépréciation</vt:lpstr>
      <vt:lpstr>Goodwill / Écart d’acquisition</vt:lpstr>
      <vt:lpstr>Goodwill / Écart d’acquisition</vt:lpstr>
      <vt:lpstr>Goodwill / Écart d’acquisition</vt:lpstr>
      <vt:lpstr>Informations à fournir</vt:lpstr>
      <vt:lpstr>Actif?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40938 Revue de certaines normes Produits et autres séances 10-11</dc:title>
  <dc:creator>louise overbeek</dc:creator>
  <cp:lastModifiedBy>louise overbeek</cp:lastModifiedBy>
  <cp:revision>3</cp:revision>
  <dcterms:created xsi:type="dcterms:W3CDTF">2020-11-13T16:50:27Z</dcterms:created>
  <dcterms:modified xsi:type="dcterms:W3CDTF">2020-11-13T17:13:40Z</dcterms:modified>
</cp:coreProperties>
</file>