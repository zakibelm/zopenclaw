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2"/>
  </p:notesMasterIdLst>
  <p:sldIdLst>
    <p:sldId id="257" r:id="rId2"/>
    <p:sldId id="440" r:id="rId3"/>
    <p:sldId id="441" r:id="rId4"/>
    <p:sldId id="718" r:id="rId5"/>
    <p:sldId id="699" r:id="rId6"/>
    <p:sldId id="442" r:id="rId7"/>
    <p:sldId id="547" r:id="rId8"/>
    <p:sldId id="551" r:id="rId9"/>
    <p:sldId id="539" r:id="rId10"/>
    <p:sldId id="545" r:id="rId11"/>
    <p:sldId id="550" r:id="rId12"/>
    <p:sldId id="552" r:id="rId13"/>
    <p:sldId id="444" r:id="rId14"/>
    <p:sldId id="554" r:id="rId15"/>
    <p:sldId id="555" r:id="rId16"/>
    <p:sldId id="700" r:id="rId17"/>
    <p:sldId id="692" r:id="rId18"/>
    <p:sldId id="693" r:id="rId19"/>
    <p:sldId id="694" r:id="rId20"/>
    <p:sldId id="695" r:id="rId21"/>
    <p:sldId id="696" r:id="rId22"/>
    <p:sldId id="446" r:id="rId23"/>
    <p:sldId id="528" r:id="rId24"/>
    <p:sldId id="537" r:id="rId25"/>
    <p:sldId id="685" r:id="rId26"/>
    <p:sldId id="686" r:id="rId27"/>
    <p:sldId id="687" r:id="rId28"/>
    <p:sldId id="688" r:id="rId29"/>
    <p:sldId id="689" r:id="rId30"/>
    <p:sldId id="716" r:id="rId31"/>
    <p:sldId id="717" r:id="rId32"/>
    <p:sldId id="701" r:id="rId33"/>
    <p:sldId id="702" r:id="rId34"/>
    <p:sldId id="260" r:id="rId35"/>
    <p:sldId id="703" r:id="rId36"/>
    <p:sldId id="704" r:id="rId37"/>
    <p:sldId id="705" r:id="rId38"/>
    <p:sldId id="706" r:id="rId39"/>
    <p:sldId id="697" r:id="rId40"/>
    <p:sldId id="530" r:id="rId41"/>
    <p:sldId id="546" r:id="rId42"/>
    <p:sldId id="719" r:id="rId43"/>
    <p:sldId id="720" r:id="rId44"/>
    <p:sldId id="543" r:id="rId45"/>
    <p:sldId id="707" r:id="rId46"/>
    <p:sldId id="721" r:id="rId47"/>
    <p:sldId id="724" r:id="rId48"/>
    <p:sldId id="447" r:id="rId49"/>
    <p:sldId id="448" r:id="rId50"/>
    <p:sldId id="262" r:id="rId51"/>
    <p:sldId id="709" r:id="rId52"/>
    <p:sldId id="263" r:id="rId53"/>
    <p:sldId id="710" r:id="rId54"/>
    <p:sldId id="714" r:id="rId55"/>
    <p:sldId id="715" r:id="rId56"/>
    <p:sldId id="449" r:id="rId57"/>
    <p:sldId id="450" r:id="rId58"/>
    <p:sldId id="451" r:id="rId59"/>
    <p:sldId id="452" r:id="rId60"/>
    <p:sldId id="538" r:id="rId6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215" autoAdjust="0"/>
  </p:normalViewPr>
  <p:slideViewPr>
    <p:cSldViewPr snapToGrid="0">
      <p:cViewPr varScale="1">
        <p:scale>
          <a:sx n="82" d="100"/>
          <a:sy n="82" d="100"/>
        </p:scale>
        <p:origin x="67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EB7601-9E68-4A6E-A17B-A84A2FADE29D}" type="datetimeFigureOut">
              <a:rPr lang="fr-FR" smtClean="0"/>
              <a:t>17/04/2025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4BCADC-66A6-4C3C-B9B0-70FE6C9053D3}" type="slidenum">
              <a:rPr lang="fr-FR" smtClean="0"/>
              <a:t>‹N°›</a:t>
            </a:fld>
            <a:endParaRPr lang="fr-FR"/>
          </a:p>
        </p:txBody>
      </p:sp>
    </p:spTree>
    <p:extLst>
      <p:ext uri="{BB962C8B-B14F-4D97-AF65-F5344CB8AC3E}">
        <p14:creationId xmlns:p14="http://schemas.microsoft.com/office/powerpoint/2010/main" val="8543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PME=Paiement minimum exigible </a:t>
            </a:r>
          </a:p>
        </p:txBody>
      </p:sp>
      <p:sp>
        <p:nvSpPr>
          <p:cNvPr id="4" name="Espace réservé du numéro de diapositive 3"/>
          <p:cNvSpPr>
            <a:spLocks noGrp="1"/>
          </p:cNvSpPr>
          <p:nvPr>
            <p:ph type="sldNum" sz="quarter" idx="5"/>
          </p:nvPr>
        </p:nvSpPr>
        <p:spPr/>
        <p:txBody>
          <a:bodyPr/>
          <a:lstStyle/>
          <a:p>
            <a:fld id="{BF4BCADC-66A6-4C3C-B9B0-70FE6C9053D3}" type="slidenum">
              <a:rPr lang="fr-FR" smtClean="0"/>
              <a:t>9</a:t>
            </a:fld>
            <a:endParaRPr lang="fr-FR"/>
          </a:p>
        </p:txBody>
      </p:sp>
    </p:spTree>
    <p:extLst>
      <p:ext uri="{BB962C8B-B14F-4D97-AF65-F5344CB8AC3E}">
        <p14:creationId xmlns:p14="http://schemas.microsoft.com/office/powerpoint/2010/main" val="371960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Pour le V on se pose que le bailleur prolonge le bail car le preneur n’a pas de contrôle donc l’évaluation initiale sera incluse </a:t>
            </a:r>
          </a:p>
          <a:p>
            <a:r>
              <a:rPr lang="fr-CA" dirty="0"/>
              <a:t>Pour III le preneur engage a honorer la dette de bailleur sur le bien loué attention ici le bailleur n’a pas le choix logiquement le durée sera prolongé </a:t>
            </a:r>
          </a:p>
        </p:txBody>
      </p:sp>
      <p:sp>
        <p:nvSpPr>
          <p:cNvPr id="4" name="Espace réservé du numéro de diapositive 3"/>
          <p:cNvSpPr>
            <a:spLocks noGrp="1"/>
          </p:cNvSpPr>
          <p:nvPr>
            <p:ph type="sldNum" sz="quarter" idx="5"/>
          </p:nvPr>
        </p:nvSpPr>
        <p:spPr/>
        <p:txBody>
          <a:bodyPr/>
          <a:lstStyle/>
          <a:p>
            <a:fld id="{BF4BCADC-66A6-4C3C-B9B0-70FE6C9053D3}" type="slidenum">
              <a:rPr lang="fr-FR" smtClean="0"/>
              <a:t>11</a:t>
            </a:fld>
            <a:endParaRPr lang="fr-FR"/>
          </a:p>
        </p:txBody>
      </p:sp>
    </p:spTree>
    <p:extLst>
      <p:ext uri="{BB962C8B-B14F-4D97-AF65-F5344CB8AC3E}">
        <p14:creationId xmlns:p14="http://schemas.microsoft.com/office/powerpoint/2010/main" val="2720251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F4BCADC-66A6-4C3C-B9B0-70FE6C9053D3}" type="slidenum">
              <a:rPr lang="fr-FR" smtClean="0"/>
              <a:t>16</a:t>
            </a:fld>
            <a:endParaRPr lang="fr-FR"/>
          </a:p>
        </p:txBody>
      </p:sp>
    </p:spTree>
    <p:extLst>
      <p:ext uri="{BB962C8B-B14F-4D97-AF65-F5344CB8AC3E}">
        <p14:creationId xmlns:p14="http://schemas.microsoft.com/office/powerpoint/2010/main" val="400397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BF4BCADC-66A6-4C3C-B9B0-70FE6C9053D3}" type="slidenum">
              <a:rPr lang="fr-FR" smtClean="0"/>
              <a:t>47</a:t>
            </a:fld>
            <a:endParaRPr lang="fr-FR"/>
          </a:p>
        </p:txBody>
      </p:sp>
    </p:spTree>
    <p:extLst>
      <p:ext uri="{BB962C8B-B14F-4D97-AF65-F5344CB8AC3E}">
        <p14:creationId xmlns:p14="http://schemas.microsoft.com/office/powerpoint/2010/main" val="2234641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C00A09-A81F-4E38-A519-3E88A4F24B4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BC60D33-745C-434B-B769-46C3E68E23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92C403C-6E7C-46A5-B52B-B2E637081BF0}"/>
              </a:ext>
            </a:extLst>
          </p:cNvPr>
          <p:cNvSpPr>
            <a:spLocks noGrp="1"/>
          </p:cNvSpPr>
          <p:nvPr>
            <p:ph type="dt" sz="half" idx="10"/>
          </p:nvPr>
        </p:nvSpPr>
        <p:spPr/>
        <p:txBody>
          <a:bodyPr/>
          <a:lstStyle/>
          <a:p>
            <a:fld id="{CFC8925C-D796-47C4-B213-5CE246D1AA20}" type="datetime1">
              <a:rPr lang="fr-FR" smtClean="0"/>
              <a:t>17/04/2025</a:t>
            </a:fld>
            <a:endParaRPr lang="fr-FR"/>
          </a:p>
        </p:txBody>
      </p:sp>
      <p:sp>
        <p:nvSpPr>
          <p:cNvPr id="5" name="Espace réservé du pied de page 4">
            <a:extLst>
              <a:ext uri="{FF2B5EF4-FFF2-40B4-BE49-F238E27FC236}">
                <a16:creationId xmlns:a16="http://schemas.microsoft.com/office/drawing/2014/main" id="{65F77B04-E2D6-47D4-A38A-12E14FE00A1B}"/>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D85EF154-579A-4AF2-B492-C51E48E00513}"/>
              </a:ext>
            </a:extLst>
          </p:cNvPr>
          <p:cNvSpPr>
            <a:spLocks noGrp="1"/>
          </p:cNvSpPr>
          <p:nvPr>
            <p:ph type="sldNum" sz="quarter" idx="12"/>
          </p:nvPr>
        </p:nvSpPr>
        <p:spPr/>
        <p:txBody>
          <a:bodyPr/>
          <a:lstStyle/>
          <a:p>
            <a:fld id="{83AE54BF-1D3E-4F4A-82B1-C4E42C537D7C}" type="slidenum">
              <a:rPr lang="fr-FR" smtClean="0"/>
              <a:t>‹N°›</a:t>
            </a:fld>
            <a:endParaRPr lang="fr-FR"/>
          </a:p>
        </p:txBody>
      </p:sp>
    </p:spTree>
    <p:extLst>
      <p:ext uri="{BB962C8B-B14F-4D97-AF65-F5344CB8AC3E}">
        <p14:creationId xmlns:p14="http://schemas.microsoft.com/office/powerpoint/2010/main" val="4288439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72F9F7-48D7-4282-A367-274361DFED1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537B7FA-13EB-4243-BA8B-D01227A0236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FD1F3B4-6ADA-436C-BC04-00A70B2567D8}"/>
              </a:ext>
            </a:extLst>
          </p:cNvPr>
          <p:cNvSpPr>
            <a:spLocks noGrp="1"/>
          </p:cNvSpPr>
          <p:nvPr>
            <p:ph type="dt" sz="half" idx="10"/>
          </p:nvPr>
        </p:nvSpPr>
        <p:spPr/>
        <p:txBody>
          <a:bodyPr/>
          <a:lstStyle/>
          <a:p>
            <a:fld id="{AE684FB4-32E6-48F9-A8A0-D1AC0F585324}" type="datetime1">
              <a:rPr lang="fr-FR" smtClean="0"/>
              <a:t>17/04/2025</a:t>
            </a:fld>
            <a:endParaRPr lang="fr-FR"/>
          </a:p>
        </p:txBody>
      </p:sp>
      <p:sp>
        <p:nvSpPr>
          <p:cNvPr id="5" name="Espace réservé du pied de page 4">
            <a:extLst>
              <a:ext uri="{FF2B5EF4-FFF2-40B4-BE49-F238E27FC236}">
                <a16:creationId xmlns:a16="http://schemas.microsoft.com/office/drawing/2014/main" id="{E1567BBF-F7E2-4CC5-A494-2B6499BAF1BA}"/>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ADABD59D-AA63-4376-949F-175F33B2A352}"/>
              </a:ext>
            </a:extLst>
          </p:cNvPr>
          <p:cNvSpPr>
            <a:spLocks noGrp="1"/>
          </p:cNvSpPr>
          <p:nvPr>
            <p:ph type="sldNum" sz="quarter" idx="12"/>
          </p:nvPr>
        </p:nvSpPr>
        <p:spPr/>
        <p:txBody>
          <a:bodyPr/>
          <a:lstStyle/>
          <a:p>
            <a:fld id="{83AE54BF-1D3E-4F4A-82B1-C4E42C537D7C}" type="slidenum">
              <a:rPr lang="fr-FR" smtClean="0"/>
              <a:t>‹N°›</a:t>
            </a:fld>
            <a:endParaRPr lang="fr-FR"/>
          </a:p>
        </p:txBody>
      </p:sp>
    </p:spTree>
    <p:extLst>
      <p:ext uri="{BB962C8B-B14F-4D97-AF65-F5344CB8AC3E}">
        <p14:creationId xmlns:p14="http://schemas.microsoft.com/office/powerpoint/2010/main" val="3464624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2812A5-AF19-49A3-8AD4-2CFA8921953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372EBB4-5DB5-49CD-AD3F-6BF489253D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4020897-5F8F-4B00-ACC4-125036A3C338}"/>
              </a:ext>
            </a:extLst>
          </p:cNvPr>
          <p:cNvSpPr>
            <a:spLocks noGrp="1"/>
          </p:cNvSpPr>
          <p:nvPr>
            <p:ph type="dt" sz="half" idx="10"/>
          </p:nvPr>
        </p:nvSpPr>
        <p:spPr/>
        <p:txBody>
          <a:bodyPr/>
          <a:lstStyle/>
          <a:p>
            <a:fld id="{5F62EDBE-EF31-4671-9506-2DB12093BD1D}" type="datetime1">
              <a:rPr lang="fr-FR" smtClean="0"/>
              <a:t>17/04/2025</a:t>
            </a:fld>
            <a:endParaRPr lang="fr-FR"/>
          </a:p>
        </p:txBody>
      </p:sp>
      <p:sp>
        <p:nvSpPr>
          <p:cNvPr id="5" name="Espace réservé du pied de page 4">
            <a:extLst>
              <a:ext uri="{FF2B5EF4-FFF2-40B4-BE49-F238E27FC236}">
                <a16:creationId xmlns:a16="http://schemas.microsoft.com/office/drawing/2014/main" id="{83BE2414-6007-4513-8CC8-184A64EB9216}"/>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1008A59A-2642-4F54-BD6B-1B733498D722}"/>
              </a:ext>
            </a:extLst>
          </p:cNvPr>
          <p:cNvSpPr>
            <a:spLocks noGrp="1"/>
          </p:cNvSpPr>
          <p:nvPr>
            <p:ph type="sldNum" sz="quarter" idx="12"/>
          </p:nvPr>
        </p:nvSpPr>
        <p:spPr/>
        <p:txBody>
          <a:bodyPr/>
          <a:lstStyle/>
          <a:p>
            <a:fld id="{83AE54BF-1D3E-4F4A-82B1-C4E42C537D7C}" type="slidenum">
              <a:rPr lang="fr-FR" smtClean="0"/>
              <a:t>‹N°›</a:t>
            </a:fld>
            <a:endParaRPr lang="fr-FR"/>
          </a:p>
        </p:txBody>
      </p:sp>
    </p:spTree>
    <p:extLst>
      <p:ext uri="{BB962C8B-B14F-4D97-AF65-F5344CB8AC3E}">
        <p14:creationId xmlns:p14="http://schemas.microsoft.com/office/powerpoint/2010/main" val="865589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5951AB-02C6-4AD9-9E2E-48931F0061A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86F5E3A-F3E7-4E40-AF6A-FC2D14002BD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9FA3661-CD49-4BA1-A202-E6BFA98A4B0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13E5363-1FB1-457E-91B6-205B7DDEB381}"/>
              </a:ext>
            </a:extLst>
          </p:cNvPr>
          <p:cNvSpPr>
            <a:spLocks noGrp="1"/>
          </p:cNvSpPr>
          <p:nvPr>
            <p:ph type="dt" sz="half" idx="10"/>
          </p:nvPr>
        </p:nvSpPr>
        <p:spPr/>
        <p:txBody>
          <a:bodyPr/>
          <a:lstStyle/>
          <a:p>
            <a:fld id="{01264A8E-5923-42DC-8B6D-E866CCFD4040}" type="datetime1">
              <a:rPr lang="fr-FR" smtClean="0"/>
              <a:t>17/04/2025</a:t>
            </a:fld>
            <a:endParaRPr lang="fr-FR"/>
          </a:p>
        </p:txBody>
      </p:sp>
      <p:sp>
        <p:nvSpPr>
          <p:cNvPr id="6" name="Espace réservé du pied de page 5">
            <a:extLst>
              <a:ext uri="{FF2B5EF4-FFF2-40B4-BE49-F238E27FC236}">
                <a16:creationId xmlns:a16="http://schemas.microsoft.com/office/drawing/2014/main" id="{6AA13D51-E89D-4247-8C6E-5B76CE1E30F0}"/>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88556932-693B-43A5-AB63-0DF4972A373E}"/>
              </a:ext>
            </a:extLst>
          </p:cNvPr>
          <p:cNvSpPr>
            <a:spLocks noGrp="1"/>
          </p:cNvSpPr>
          <p:nvPr>
            <p:ph type="sldNum" sz="quarter" idx="12"/>
          </p:nvPr>
        </p:nvSpPr>
        <p:spPr/>
        <p:txBody>
          <a:bodyPr/>
          <a:lstStyle/>
          <a:p>
            <a:fld id="{83AE54BF-1D3E-4F4A-82B1-C4E42C537D7C}" type="slidenum">
              <a:rPr lang="fr-FR" smtClean="0"/>
              <a:t>‹N°›</a:t>
            </a:fld>
            <a:endParaRPr lang="fr-FR"/>
          </a:p>
        </p:txBody>
      </p:sp>
    </p:spTree>
    <p:extLst>
      <p:ext uri="{BB962C8B-B14F-4D97-AF65-F5344CB8AC3E}">
        <p14:creationId xmlns:p14="http://schemas.microsoft.com/office/powerpoint/2010/main" val="1675203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07C584-8A53-4381-BD9E-FDB6BCF44BC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83BB92A-5618-4F1C-9AC3-506A49C443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C1F2CCF-3DD9-41B4-8BDC-B39BDF1D208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26CAF4F-1695-4902-B1EF-6CBF86966E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AB946CF-A54F-406A-881F-62DF2D6F07F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D03A758-DA7D-4635-89EA-312866D90CB3}"/>
              </a:ext>
            </a:extLst>
          </p:cNvPr>
          <p:cNvSpPr>
            <a:spLocks noGrp="1"/>
          </p:cNvSpPr>
          <p:nvPr>
            <p:ph type="dt" sz="half" idx="10"/>
          </p:nvPr>
        </p:nvSpPr>
        <p:spPr/>
        <p:txBody>
          <a:bodyPr/>
          <a:lstStyle/>
          <a:p>
            <a:fld id="{2B24AA84-F69F-4BC0-AD7D-0F315849F1F5}" type="datetime1">
              <a:rPr lang="fr-FR" smtClean="0"/>
              <a:t>17/04/2025</a:t>
            </a:fld>
            <a:endParaRPr lang="fr-FR"/>
          </a:p>
        </p:txBody>
      </p:sp>
      <p:sp>
        <p:nvSpPr>
          <p:cNvPr id="8" name="Espace réservé du pied de page 7">
            <a:extLst>
              <a:ext uri="{FF2B5EF4-FFF2-40B4-BE49-F238E27FC236}">
                <a16:creationId xmlns:a16="http://schemas.microsoft.com/office/drawing/2014/main" id="{030896CA-FA89-4F9C-A584-1B7CAC2C2BE4}"/>
              </a:ext>
            </a:extLst>
          </p:cNvPr>
          <p:cNvSpPr>
            <a:spLocks noGrp="1"/>
          </p:cNvSpPr>
          <p:nvPr>
            <p:ph type="ftr" sz="quarter" idx="11"/>
          </p:nvPr>
        </p:nvSpPr>
        <p:spPr/>
        <p:txBody>
          <a:bodyPr/>
          <a:lstStyle/>
          <a:p>
            <a:r>
              <a:rPr lang="fr-FR"/>
              <a:t>Droits réservés - Louise Overbeek</a:t>
            </a:r>
          </a:p>
        </p:txBody>
      </p:sp>
      <p:sp>
        <p:nvSpPr>
          <p:cNvPr id="9" name="Espace réservé du numéro de diapositive 8">
            <a:extLst>
              <a:ext uri="{FF2B5EF4-FFF2-40B4-BE49-F238E27FC236}">
                <a16:creationId xmlns:a16="http://schemas.microsoft.com/office/drawing/2014/main" id="{CB0D24CE-DDA3-47F9-89BE-66C186694997}"/>
              </a:ext>
            </a:extLst>
          </p:cNvPr>
          <p:cNvSpPr>
            <a:spLocks noGrp="1"/>
          </p:cNvSpPr>
          <p:nvPr>
            <p:ph type="sldNum" sz="quarter" idx="12"/>
          </p:nvPr>
        </p:nvSpPr>
        <p:spPr/>
        <p:txBody>
          <a:bodyPr/>
          <a:lstStyle/>
          <a:p>
            <a:fld id="{83AE54BF-1D3E-4F4A-82B1-C4E42C537D7C}" type="slidenum">
              <a:rPr lang="fr-FR" smtClean="0"/>
              <a:t>‹N°›</a:t>
            </a:fld>
            <a:endParaRPr lang="fr-FR"/>
          </a:p>
        </p:txBody>
      </p:sp>
    </p:spTree>
    <p:extLst>
      <p:ext uri="{BB962C8B-B14F-4D97-AF65-F5344CB8AC3E}">
        <p14:creationId xmlns:p14="http://schemas.microsoft.com/office/powerpoint/2010/main" val="2329333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A91BA9-FA31-445D-ADF5-1BDF3D0D6F0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8923287-023D-490E-BBF8-A3A9EADBEE70}"/>
              </a:ext>
            </a:extLst>
          </p:cNvPr>
          <p:cNvSpPr>
            <a:spLocks noGrp="1"/>
          </p:cNvSpPr>
          <p:nvPr>
            <p:ph type="dt" sz="half" idx="10"/>
          </p:nvPr>
        </p:nvSpPr>
        <p:spPr/>
        <p:txBody>
          <a:bodyPr/>
          <a:lstStyle/>
          <a:p>
            <a:fld id="{1F536567-2E6A-4F87-A095-AF93B4343C5F}" type="datetime1">
              <a:rPr lang="fr-FR" smtClean="0"/>
              <a:t>17/04/2025</a:t>
            </a:fld>
            <a:endParaRPr lang="fr-FR"/>
          </a:p>
        </p:txBody>
      </p:sp>
      <p:sp>
        <p:nvSpPr>
          <p:cNvPr id="4" name="Espace réservé du pied de page 3">
            <a:extLst>
              <a:ext uri="{FF2B5EF4-FFF2-40B4-BE49-F238E27FC236}">
                <a16:creationId xmlns:a16="http://schemas.microsoft.com/office/drawing/2014/main" id="{77997E83-4708-4709-B8AE-76F141D37B35}"/>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E9F8CFB-46F0-403B-AC03-05FC8E907A75}"/>
              </a:ext>
            </a:extLst>
          </p:cNvPr>
          <p:cNvSpPr>
            <a:spLocks noGrp="1"/>
          </p:cNvSpPr>
          <p:nvPr>
            <p:ph type="sldNum" sz="quarter" idx="12"/>
          </p:nvPr>
        </p:nvSpPr>
        <p:spPr/>
        <p:txBody>
          <a:bodyPr/>
          <a:lstStyle/>
          <a:p>
            <a:fld id="{83AE54BF-1D3E-4F4A-82B1-C4E42C537D7C}" type="slidenum">
              <a:rPr lang="fr-FR" smtClean="0"/>
              <a:t>‹N°›</a:t>
            </a:fld>
            <a:endParaRPr lang="fr-FR"/>
          </a:p>
        </p:txBody>
      </p:sp>
    </p:spTree>
    <p:extLst>
      <p:ext uri="{BB962C8B-B14F-4D97-AF65-F5344CB8AC3E}">
        <p14:creationId xmlns:p14="http://schemas.microsoft.com/office/powerpoint/2010/main" val="1190665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D17ADD4-217D-4769-A037-A9AA4561C728}"/>
              </a:ext>
            </a:extLst>
          </p:cNvPr>
          <p:cNvSpPr>
            <a:spLocks noGrp="1"/>
          </p:cNvSpPr>
          <p:nvPr>
            <p:ph type="dt" sz="half" idx="10"/>
          </p:nvPr>
        </p:nvSpPr>
        <p:spPr/>
        <p:txBody>
          <a:bodyPr/>
          <a:lstStyle/>
          <a:p>
            <a:fld id="{B8239E16-5332-4728-A804-328E0BD0DFE9}" type="datetime1">
              <a:rPr lang="fr-FR" smtClean="0"/>
              <a:t>17/04/2025</a:t>
            </a:fld>
            <a:endParaRPr lang="fr-FR"/>
          </a:p>
        </p:txBody>
      </p:sp>
      <p:sp>
        <p:nvSpPr>
          <p:cNvPr id="3" name="Espace réservé du pied de page 2">
            <a:extLst>
              <a:ext uri="{FF2B5EF4-FFF2-40B4-BE49-F238E27FC236}">
                <a16:creationId xmlns:a16="http://schemas.microsoft.com/office/drawing/2014/main" id="{F303986B-2A46-4526-8A02-FAE710701277}"/>
              </a:ext>
            </a:extLst>
          </p:cNvPr>
          <p:cNvSpPr>
            <a:spLocks noGrp="1"/>
          </p:cNvSpPr>
          <p:nvPr>
            <p:ph type="ftr" sz="quarter" idx="11"/>
          </p:nvPr>
        </p:nvSpPr>
        <p:spPr/>
        <p:txBody>
          <a:bodyPr/>
          <a:lstStyle/>
          <a:p>
            <a:r>
              <a:rPr lang="fr-FR"/>
              <a:t>Droits réservés - Louise Overbeek</a:t>
            </a:r>
          </a:p>
        </p:txBody>
      </p:sp>
      <p:sp>
        <p:nvSpPr>
          <p:cNvPr id="4" name="Espace réservé du numéro de diapositive 3">
            <a:extLst>
              <a:ext uri="{FF2B5EF4-FFF2-40B4-BE49-F238E27FC236}">
                <a16:creationId xmlns:a16="http://schemas.microsoft.com/office/drawing/2014/main" id="{6AFE5515-F3B6-4CA9-85D5-D20DA3DB4146}"/>
              </a:ext>
            </a:extLst>
          </p:cNvPr>
          <p:cNvSpPr>
            <a:spLocks noGrp="1"/>
          </p:cNvSpPr>
          <p:nvPr>
            <p:ph type="sldNum" sz="quarter" idx="12"/>
          </p:nvPr>
        </p:nvSpPr>
        <p:spPr/>
        <p:txBody>
          <a:bodyPr/>
          <a:lstStyle/>
          <a:p>
            <a:fld id="{83AE54BF-1D3E-4F4A-82B1-C4E42C537D7C}" type="slidenum">
              <a:rPr lang="fr-FR" smtClean="0"/>
              <a:t>‹N°›</a:t>
            </a:fld>
            <a:endParaRPr lang="fr-FR"/>
          </a:p>
        </p:txBody>
      </p:sp>
    </p:spTree>
    <p:extLst>
      <p:ext uri="{BB962C8B-B14F-4D97-AF65-F5344CB8AC3E}">
        <p14:creationId xmlns:p14="http://schemas.microsoft.com/office/powerpoint/2010/main" val="3477749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2FBA0B-D118-4B9C-B8B3-1CBB7EA35DA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4143BA4-A919-4719-A0DD-07DA7EAF9B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8F72532-5ACE-40A8-BB84-A6E120D16B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DA2ACFE-6181-4466-98F1-EA733A4A0320}"/>
              </a:ext>
            </a:extLst>
          </p:cNvPr>
          <p:cNvSpPr>
            <a:spLocks noGrp="1"/>
          </p:cNvSpPr>
          <p:nvPr>
            <p:ph type="dt" sz="half" idx="10"/>
          </p:nvPr>
        </p:nvSpPr>
        <p:spPr/>
        <p:txBody>
          <a:bodyPr/>
          <a:lstStyle/>
          <a:p>
            <a:fld id="{FB6BEAC8-AFDE-4B87-A311-74B5FE628E24}" type="datetime1">
              <a:rPr lang="fr-FR" smtClean="0"/>
              <a:t>17/04/2025</a:t>
            </a:fld>
            <a:endParaRPr lang="fr-FR"/>
          </a:p>
        </p:txBody>
      </p:sp>
      <p:sp>
        <p:nvSpPr>
          <p:cNvPr id="6" name="Espace réservé du pied de page 5">
            <a:extLst>
              <a:ext uri="{FF2B5EF4-FFF2-40B4-BE49-F238E27FC236}">
                <a16:creationId xmlns:a16="http://schemas.microsoft.com/office/drawing/2014/main" id="{45A15C6E-8E05-4B6F-B9AC-2844B453A7FB}"/>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9F4D60EC-E8AF-48CA-BFA7-CB2D9CD3FDEF}"/>
              </a:ext>
            </a:extLst>
          </p:cNvPr>
          <p:cNvSpPr>
            <a:spLocks noGrp="1"/>
          </p:cNvSpPr>
          <p:nvPr>
            <p:ph type="sldNum" sz="quarter" idx="12"/>
          </p:nvPr>
        </p:nvSpPr>
        <p:spPr/>
        <p:txBody>
          <a:bodyPr/>
          <a:lstStyle/>
          <a:p>
            <a:fld id="{83AE54BF-1D3E-4F4A-82B1-C4E42C537D7C}" type="slidenum">
              <a:rPr lang="fr-FR" smtClean="0"/>
              <a:t>‹N°›</a:t>
            </a:fld>
            <a:endParaRPr lang="fr-FR"/>
          </a:p>
        </p:txBody>
      </p:sp>
    </p:spTree>
    <p:extLst>
      <p:ext uri="{BB962C8B-B14F-4D97-AF65-F5344CB8AC3E}">
        <p14:creationId xmlns:p14="http://schemas.microsoft.com/office/powerpoint/2010/main" val="2178716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E83C84-7044-4125-B790-97FD7AD5668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4AAAA6A-22C6-4EF8-A90E-7478AFF5D5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3275EB5-7F71-45D3-9180-5C93E0B5E6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34E0F47-7786-43C3-9E83-2EB8DE50799C}"/>
              </a:ext>
            </a:extLst>
          </p:cNvPr>
          <p:cNvSpPr>
            <a:spLocks noGrp="1"/>
          </p:cNvSpPr>
          <p:nvPr>
            <p:ph type="dt" sz="half" idx="10"/>
          </p:nvPr>
        </p:nvSpPr>
        <p:spPr/>
        <p:txBody>
          <a:bodyPr/>
          <a:lstStyle/>
          <a:p>
            <a:fld id="{934FA664-E507-41B5-9D05-503C0BB13C0B}" type="datetime1">
              <a:rPr lang="fr-FR" smtClean="0"/>
              <a:t>17/04/2025</a:t>
            </a:fld>
            <a:endParaRPr lang="fr-FR"/>
          </a:p>
        </p:txBody>
      </p:sp>
      <p:sp>
        <p:nvSpPr>
          <p:cNvPr id="6" name="Espace réservé du pied de page 5">
            <a:extLst>
              <a:ext uri="{FF2B5EF4-FFF2-40B4-BE49-F238E27FC236}">
                <a16:creationId xmlns:a16="http://schemas.microsoft.com/office/drawing/2014/main" id="{E384A781-F957-4924-9B33-4BE973D03EE1}"/>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B544E4E4-7ECC-45F0-9097-55ACA0270E22}"/>
              </a:ext>
            </a:extLst>
          </p:cNvPr>
          <p:cNvSpPr>
            <a:spLocks noGrp="1"/>
          </p:cNvSpPr>
          <p:nvPr>
            <p:ph type="sldNum" sz="quarter" idx="12"/>
          </p:nvPr>
        </p:nvSpPr>
        <p:spPr/>
        <p:txBody>
          <a:bodyPr/>
          <a:lstStyle/>
          <a:p>
            <a:fld id="{83AE54BF-1D3E-4F4A-82B1-C4E42C537D7C}" type="slidenum">
              <a:rPr lang="fr-FR" smtClean="0"/>
              <a:t>‹N°›</a:t>
            </a:fld>
            <a:endParaRPr lang="fr-FR"/>
          </a:p>
        </p:txBody>
      </p:sp>
    </p:spTree>
    <p:extLst>
      <p:ext uri="{BB962C8B-B14F-4D97-AF65-F5344CB8AC3E}">
        <p14:creationId xmlns:p14="http://schemas.microsoft.com/office/powerpoint/2010/main" val="1005994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EB88D9-5F4D-4E9A-B409-3AF9EBB2828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D415AB0-EA2F-475C-9156-0F429164F5B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1B265A-D637-4DD1-A50A-25A18CA1F468}"/>
              </a:ext>
            </a:extLst>
          </p:cNvPr>
          <p:cNvSpPr>
            <a:spLocks noGrp="1"/>
          </p:cNvSpPr>
          <p:nvPr>
            <p:ph type="dt" sz="half" idx="10"/>
          </p:nvPr>
        </p:nvSpPr>
        <p:spPr/>
        <p:txBody>
          <a:bodyPr/>
          <a:lstStyle/>
          <a:p>
            <a:fld id="{F51AFBE5-475C-4E5F-A637-C87ED431841B}" type="datetime1">
              <a:rPr lang="fr-FR" smtClean="0"/>
              <a:t>17/04/2025</a:t>
            </a:fld>
            <a:endParaRPr lang="fr-FR"/>
          </a:p>
        </p:txBody>
      </p:sp>
      <p:sp>
        <p:nvSpPr>
          <p:cNvPr id="5" name="Espace réservé du pied de page 4">
            <a:extLst>
              <a:ext uri="{FF2B5EF4-FFF2-40B4-BE49-F238E27FC236}">
                <a16:creationId xmlns:a16="http://schemas.microsoft.com/office/drawing/2014/main" id="{5D6F8C8A-AEF0-4385-998B-6B99C3FA448F}"/>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C75ABDB2-CAD0-4F6A-91BB-4C9DF9135DCA}"/>
              </a:ext>
            </a:extLst>
          </p:cNvPr>
          <p:cNvSpPr>
            <a:spLocks noGrp="1"/>
          </p:cNvSpPr>
          <p:nvPr>
            <p:ph type="sldNum" sz="quarter" idx="12"/>
          </p:nvPr>
        </p:nvSpPr>
        <p:spPr/>
        <p:txBody>
          <a:bodyPr/>
          <a:lstStyle/>
          <a:p>
            <a:fld id="{83AE54BF-1D3E-4F4A-82B1-C4E42C537D7C}" type="slidenum">
              <a:rPr lang="fr-FR" smtClean="0"/>
              <a:t>‹N°›</a:t>
            </a:fld>
            <a:endParaRPr lang="fr-FR"/>
          </a:p>
        </p:txBody>
      </p:sp>
    </p:spTree>
    <p:extLst>
      <p:ext uri="{BB962C8B-B14F-4D97-AF65-F5344CB8AC3E}">
        <p14:creationId xmlns:p14="http://schemas.microsoft.com/office/powerpoint/2010/main" val="112212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6545908-E451-4317-AE3F-A6E95E589DF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CCBDF27-21D5-4CDD-911C-49037DCA59D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C7FACEA-41D2-45EF-AD0D-4B4E83168CFE}"/>
              </a:ext>
            </a:extLst>
          </p:cNvPr>
          <p:cNvSpPr>
            <a:spLocks noGrp="1"/>
          </p:cNvSpPr>
          <p:nvPr>
            <p:ph type="dt" sz="half" idx="10"/>
          </p:nvPr>
        </p:nvSpPr>
        <p:spPr/>
        <p:txBody>
          <a:bodyPr/>
          <a:lstStyle/>
          <a:p>
            <a:fld id="{F5D0CAB9-F282-42AC-8AB2-CFBC9E546855}" type="datetime1">
              <a:rPr lang="fr-FR" smtClean="0"/>
              <a:t>17/04/2025</a:t>
            </a:fld>
            <a:endParaRPr lang="fr-FR"/>
          </a:p>
        </p:txBody>
      </p:sp>
      <p:sp>
        <p:nvSpPr>
          <p:cNvPr id="5" name="Espace réservé du pied de page 4">
            <a:extLst>
              <a:ext uri="{FF2B5EF4-FFF2-40B4-BE49-F238E27FC236}">
                <a16:creationId xmlns:a16="http://schemas.microsoft.com/office/drawing/2014/main" id="{D6071C2F-3709-41CE-B6DB-3E3180EFB9A2}"/>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1E121CF4-FD34-4D23-86BA-C0CB29F4A8A6}"/>
              </a:ext>
            </a:extLst>
          </p:cNvPr>
          <p:cNvSpPr>
            <a:spLocks noGrp="1"/>
          </p:cNvSpPr>
          <p:nvPr>
            <p:ph type="sldNum" sz="quarter" idx="12"/>
          </p:nvPr>
        </p:nvSpPr>
        <p:spPr/>
        <p:txBody>
          <a:bodyPr/>
          <a:lstStyle/>
          <a:p>
            <a:fld id="{83AE54BF-1D3E-4F4A-82B1-C4E42C537D7C}" type="slidenum">
              <a:rPr lang="fr-FR" smtClean="0"/>
              <a:t>‹N°›</a:t>
            </a:fld>
            <a:endParaRPr lang="fr-FR"/>
          </a:p>
        </p:txBody>
      </p:sp>
    </p:spTree>
    <p:extLst>
      <p:ext uri="{BB962C8B-B14F-4D97-AF65-F5344CB8AC3E}">
        <p14:creationId xmlns:p14="http://schemas.microsoft.com/office/powerpoint/2010/main" val="3108908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43D7FD3-C795-4B3D-A6C3-43CB179AC1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92E9837-D744-460C-A88F-E65C577C35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71D8D03-7CDF-4A50-9C16-C5E6A98494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902B5A-92BE-4653-9BEB-5C96A7C1D158}" type="datetime1">
              <a:rPr lang="fr-FR" smtClean="0"/>
              <a:t>17/04/2025</a:t>
            </a:fld>
            <a:endParaRPr lang="fr-FR"/>
          </a:p>
        </p:txBody>
      </p:sp>
      <p:sp>
        <p:nvSpPr>
          <p:cNvPr id="5" name="Espace réservé du pied de page 4">
            <a:extLst>
              <a:ext uri="{FF2B5EF4-FFF2-40B4-BE49-F238E27FC236}">
                <a16:creationId xmlns:a16="http://schemas.microsoft.com/office/drawing/2014/main" id="{553EBEB6-2521-4964-816F-88B90416CA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D1DED6E5-C63D-4D32-8DD6-CE42F46CE4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AE54BF-1D3E-4F4A-82B1-C4E42C537D7C}" type="slidenum">
              <a:rPr lang="fr-FR" smtClean="0"/>
              <a:t>‹N°›</a:t>
            </a:fld>
            <a:endParaRPr lang="fr-FR"/>
          </a:p>
        </p:txBody>
      </p:sp>
    </p:spTree>
    <p:extLst>
      <p:ext uri="{BB962C8B-B14F-4D97-AF65-F5344CB8AC3E}">
        <p14:creationId xmlns:p14="http://schemas.microsoft.com/office/powerpoint/2010/main" val="3111952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edu-knotia-ca.proxy2.hec.ca/Knowledge/Home.aspx?productID=114"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2"/>
            <a:ext cx="9144000" cy="2526529"/>
          </a:xfrm>
        </p:spPr>
        <p:txBody>
          <a:bodyPr>
            <a:normAutofit/>
          </a:bodyPr>
          <a:lstStyle/>
          <a:p>
            <a:r>
              <a:rPr lang="fr-FR" sz="4800" b="1" dirty="0"/>
              <a:t>Contrat de location</a:t>
            </a:r>
            <a:br>
              <a:rPr lang="fr-FR" sz="4800" b="1" dirty="0"/>
            </a:br>
            <a:r>
              <a:rPr lang="fr-FR" sz="4000" b="1" dirty="0">
                <a:solidFill>
                  <a:srgbClr val="FF0000"/>
                </a:solidFill>
              </a:rPr>
              <a:t>Chap. 3065  </a:t>
            </a:r>
            <a:br>
              <a:rPr lang="fr-FR" sz="4800" dirty="0"/>
            </a:br>
            <a:endParaRPr lang="fr-CA" sz="2700" b="1" dirty="0"/>
          </a:p>
        </p:txBody>
      </p:sp>
      <p:sp>
        <p:nvSpPr>
          <p:cNvPr id="3" name="Sous-titre 2"/>
          <p:cNvSpPr>
            <a:spLocks noGrp="1"/>
          </p:cNvSpPr>
          <p:nvPr>
            <p:ph type="subTitle" idx="1"/>
          </p:nvPr>
        </p:nvSpPr>
        <p:spPr>
          <a:xfrm>
            <a:off x="2855640" y="5373216"/>
            <a:ext cx="6400800" cy="792088"/>
          </a:xfrm>
        </p:spPr>
        <p:txBody>
          <a:bodyPr>
            <a:normAutofit fontScale="92500" lnSpcReduction="20000"/>
          </a:bodyPr>
          <a:lstStyle/>
          <a:p>
            <a:r>
              <a:rPr lang="fr-CA" sz="3000" dirty="0"/>
              <a:t>Louise Overbeek</a:t>
            </a:r>
            <a:endParaRPr lang="fr-CA" sz="3500" dirty="0"/>
          </a:p>
          <a:p>
            <a:r>
              <a:rPr lang="fr-CA" sz="2200" dirty="0"/>
              <a:t>Mars 2021</a:t>
            </a:r>
          </a:p>
        </p:txBody>
      </p:sp>
    </p:spTree>
    <p:extLst>
      <p:ext uri="{BB962C8B-B14F-4D97-AF65-F5344CB8AC3E}">
        <p14:creationId xmlns:p14="http://schemas.microsoft.com/office/powerpoint/2010/main" val="1141288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Contrats de location</a:t>
            </a:r>
          </a:p>
        </p:txBody>
      </p:sp>
      <p:sp>
        <p:nvSpPr>
          <p:cNvPr id="3" name="Espace réservé du contenu 2"/>
          <p:cNvSpPr>
            <a:spLocks noGrp="1"/>
          </p:cNvSpPr>
          <p:nvPr>
            <p:ph idx="1"/>
          </p:nvPr>
        </p:nvSpPr>
        <p:spPr/>
        <p:txBody>
          <a:bodyPr>
            <a:normAutofit/>
          </a:bodyPr>
          <a:lstStyle/>
          <a:p>
            <a:r>
              <a:rPr lang="fr-FR" dirty="0"/>
              <a:t>Convention par laquelle le bailleur (ou locateur) cède au preneur (ou locataire), habituellement pour une période déterminée, le droit d’utiliser un </a:t>
            </a:r>
            <a:r>
              <a:rPr lang="fr-FR" dirty="0">
                <a:solidFill>
                  <a:srgbClr val="0070C0"/>
                </a:solidFill>
              </a:rPr>
              <a:t>bien </a:t>
            </a:r>
            <a:r>
              <a:rPr lang="fr-FR" b="1" dirty="0">
                <a:solidFill>
                  <a:srgbClr val="0070C0"/>
                </a:solidFill>
              </a:rPr>
              <a:t>corporel</a:t>
            </a:r>
            <a:r>
              <a:rPr lang="fr-FR" dirty="0"/>
              <a:t>, moyennant le versement d’un loyer</a:t>
            </a:r>
          </a:p>
          <a:p>
            <a:pPr lvl="1"/>
            <a:r>
              <a:rPr lang="fr-FR" sz="2600" i="1" dirty="0">
                <a:solidFill>
                  <a:srgbClr val="FF0000"/>
                </a:solidFill>
              </a:rPr>
              <a:t>IFRS : incorporel aussi</a:t>
            </a:r>
            <a:endParaRPr lang="fr-FR" i="1" dirty="0">
              <a:solidFill>
                <a:srgbClr val="FF0000"/>
              </a:solidFill>
            </a:endParaRPr>
          </a:p>
          <a:p>
            <a:endParaRPr lang="fr-FR" dirty="0"/>
          </a:p>
          <a:p>
            <a:r>
              <a:rPr lang="fr-FR" dirty="0"/>
              <a:t>Contrats implicites</a:t>
            </a:r>
          </a:p>
          <a:p>
            <a:pPr lvl="1"/>
            <a:r>
              <a:rPr lang="fr-FR" dirty="0"/>
              <a:t>Accord avec un fournisseur peut inclure un contrat de location</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a:t>
            </a:fld>
            <a:endParaRPr lang="fr-FR"/>
          </a:p>
        </p:txBody>
      </p:sp>
      <p:sp>
        <p:nvSpPr>
          <p:cNvPr id="5" name="Espace réservé du pied de page 4">
            <a:extLst>
              <a:ext uri="{FF2B5EF4-FFF2-40B4-BE49-F238E27FC236}">
                <a16:creationId xmlns:a16="http://schemas.microsoft.com/office/drawing/2014/main" id="{FDBEFEAB-FF77-437C-98B1-F055D4A3B9C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906139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Image fidèle</a:t>
            </a:r>
          </a:p>
        </p:txBody>
      </p:sp>
      <p:sp>
        <p:nvSpPr>
          <p:cNvPr id="3" name="Espace réservé du contenu 2"/>
          <p:cNvSpPr>
            <a:spLocks noGrp="1"/>
          </p:cNvSpPr>
          <p:nvPr>
            <p:ph idx="1"/>
          </p:nvPr>
        </p:nvSpPr>
        <p:spPr/>
        <p:txBody>
          <a:bodyPr/>
          <a:lstStyle/>
          <a:p>
            <a:r>
              <a:rPr lang="fr-FR" dirty="0"/>
              <a:t>Refléter la substance économique</a:t>
            </a:r>
          </a:p>
          <a:p>
            <a:pPr lvl="2"/>
            <a:r>
              <a:rPr lang="fr-FR" sz="2400" dirty="0"/>
              <a:t>Et non la forme légale</a:t>
            </a:r>
          </a:p>
          <a:p>
            <a:pPr lvl="1"/>
            <a:r>
              <a:rPr lang="fr-FR" sz="2800" dirty="0"/>
              <a:t>Achat (vente) de l’actif + financement</a:t>
            </a:r>
          </a:p>
          <a:p>
            <a:pPr lvl="2"/>
            <a:r>
              <a:rPr lang="fr-FR" sz="2400" dirty="0"/>
              <a:t>Même si titre de propriété non transféré (légal)</a:t>
            </a:r>
          </a:p>
          <a:p>
            <a:pPr lvl="2"/>
            <a:endParaRPr lang="fr-FR" sz="2400" dirty="0"/>
          </a:p>
          <a:p>
            <a:pPr lvl="2"/>
            <a:r>
              <a:rPr lang="fr-FR" sz="2400" dirty="0"/>
              <a:t>Utilise l’actif</a:t>
            </a:r>
          </a:p>
          <a:p>
            <a:pPr lvl="2"/>
            <a:r>
              <a:rPr lang="fr-FR" sz="2400" dirty="0"/>
              <a:t>Dette remboursable sur la période</a:t>
            </a:r>
          </a:p>
          <a:p>
            <a:pPr lvl="2"/>
            <a:endParaRPr lang="fr-FR" sz="2400" dirty="0"/>
          </a:p>
          <a:p>
            <a:pPr lvl="2"/>
            <a:r>
              <a:rPr lang="fr-FR" sz="2400" dirty="0"/>
              <a:t>Impact sur les ratios financiers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a:t>
            </a:fld>
            <a:endParaRPr lang="fr-FR"/>
          </a:p>
        </p:txBody>
      </p:sp>
      <p:sp>
        <p:nvSpPr>
          <p:cNvPr id="5" name="Espace réservé du pied de page 4">
            <a:extLst>
              <a:ext uri="{FF2B5EF4-FFF2-40B4-BE49-F238E27FC236}">
                <a16:creationId xmlns:a16="http://schemas.microsoft.com/office/drawing/2014/main" id="{EEA57976-B937-4B7D-A098-12B9F821C2D7}"/>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388349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Contrats de location</a:t>
            </a:r>
          </a:p>
        </p:txBody>
      </p:sp>
      <p:sp>
        <p:nvSpPr>
          <p:cNvPr id="3" name="Espace réservé du contenu 2"/>
          <p:cNvSpPr>
            <a:spLocks noGrp="1"/>
          </p:cNvSpPr>
          <p:nvPr>
            <p:ph idx="1"/>
          </p:nvPr>
        </p:nvSpPr>
        <p:spPr/>
        <p:txBody>
          <a:bodyPr>
            <a:normAutofit/>
          </a:bodyPr>
          <a:lstStyle/>
          <a:p>
            <a:r>
              <a:rPr lang="fr-FR" dirty="0"/>
              <a:t>Preneur</a:t>
            </a:r>
          </a:p>
          <a:p>
            <a:pPr lvl="1"/>
            <a:r>
              <a:rPr lang="fr-FR" dirty="0"/>
              <a:t>Location-exploitation </a:t>
            </a:r>
            <a:r>
              <a:rPr lang="fr-FR" dirty="0">
                <a:solidFill>
                  <a:srgbClr val="0070C0"/>
                </a:solidFill>
              </a:rPr>
              <a:t>(charge)</a:t>
            </a:r>
          </a:p>
          <a:p>
            <a:pPr lvl="1"/>
            <a:r>
              <a:rPr lang="fr-FR" dirty="0"/>
              <a:t>Location-acquisition </a:t>
            </a:r>
            <a:r>
              <a:rPr lang="fr-FR" dirty="0">
                <a:solidFill>
                  <a:srgbClr val="0070C0"/>
                </a:solidFill>
              </a:rPr>
              <a:t>(actif + passif)</a:t>
            </a:r>
          </a:p>
          <a:p>
            <a:pPr marL="457200" lvl="1" indent="0">
              <a:buNone/>
            </a:pPr>
            <a:endParaRPr lang="fr-FR" dirty="0"/>
          </a:p>
          <a:p>
            <a:r>
              <a:rPr lang="fr-FR" dirty="0"/>
              <a:t>Bailleur</a:t>
            </a:r>
          </a:p>
          <a:p>
            <a:pPr lvl="1"/>
            <a:r>
              <a:rPr lang="fr-FR" dirty="0"/>
              <a:t>Location-exploitation </a:t>
            </a:r>
            <a:r>
              <a:rPr lang="fr-FR" dirty="0">
                <a:solidFill>
                  <a:srgbClr val="FF0000"/>
                </a:solidFill>
              </a:rPr>
              <a:t>(location simple)</a:t>
            </a:r>
            <a:endParaRPr lang="fr-FR" dirty="0"/>
          </a:p>
          <a:p>
            <a:pPr lvl="1"/>
            <a:r>
              <a:rPr lang="fr-FR" dirty="0"/>
              <a:t>Location-vente (fabricant / distributeur) </a:t>
            </a:r>
            <a:r>
              <a:rPr lang="fr-FR" dirty="0">
                <a:solidFill>
                  <a:srgbClr val="FF0000"/>
                </a:solidFill>
              </a:rPr>
              <a:t>(location financement)</a:t>
            </a:r>
            <a:endParaRPr lang="fr-FR" dirty="0"/>
          </a:p>
          <a:p>
            <a:pPr lvl="1"/>
            <a:r>
              <a:rPr lang="fr-FR" dirty="0"/>
              <a:t>Location-financement (intermédiaire financier) </a:t>
            </a:r>
            <a:r>
              <a:rPr lang="fr-FR" dirty="0">
                <a:solidFill>
                  <a:srgbClr val="FF0000"/>
                </a:solidFill>
              </a:rPr>
              <a:t>(location financement)</a:t>
            </a:r>
            <a:endParaRPr lang="fr-FR"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a:t>
            </a:fld>
            <a:endParaRPr lang="fr-FR"/>
          </a:p>
        </p:txBody>
      </p:sp>
      <p:sp>
        <p:nvSpPr>
          <p:cNvPr id="5" name="Espace réservé du pied de page 4">
            <a:extLst>
              <a:ext uri="{FF2B5EF4-FFF2-40B4-BE49-F238E27FC236}">
                <a16:creationId xmlns:a16="http://schemas.microsoft.com/office/drawing/2014/main" id="{40075078-CDE6-4B9C-8BB6-E2D84A5A7B9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239869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D1A94-326C-4113-A6EF-1FCB1F60EEA2}"/>
              </a:ext>
            </a:extLst>
          </p:cNvPr>
          <p:cNvSpPr>
            <a:spLocks noGrp="1"/>
          </p:cNvSpPr>
          <p:nvPr>
            <p:ph type="title"/>
          </p:nvPr>
        </p:nvSpPr>
        <p:spPr/>
        <p:txBody>
          <a:bodyPr/>
          <a:lstStyle/>
          <a:p>
            <a:r>
              <a:rPr lang="fr-CA" dirty="0"/>
              <a:t>Preneur</a:t>
            </a:r>
            <a:endParaRPr lang="fr-FR" dirty="0"/>
          </a:p>
        </p:txBody>
      </p:sp>
      <p:sp>
        <p:nvSpPr>
          <p:cNvPr id="3" name="Espace réservé du contenu 2">
            <a:extLst>
              <a:ext uri="{FF2B5EF4-FFF2-40B4-BE49-F238E27FC236}">
                <a16:creationId xmlns:a16="http://schemas.microsoft.com/office/drawing/2014/main" id="{2D59E2BD-A57B-4660-8623-A82DB552956B}"/>
              </a:ext>
            </a:extLst>
          </p:cNvPr>
          <p:cNvSpPr>
            <a:spLocks noGrp="1"/>
          </p:cNvSpPr>
          <p:nvPr>
            <p:ph idx="1"/>
          </p:nvPr>
        </p:nvSpPr>
        <p:spPr/>
        <p:txBody>
          <a:bodyPr/>
          <a:lstStyle/>
          <a:p>
            <a:endParaRPr lang="fr-FR"/>
          </a:p>
        </p:txBody>
      </p:sp>
      <p:sp>
        <p:nvSpPr>
          <p:cNvPr id="4" name="Espace réservé du pied de page 3">
            <a:extLst>
              <a:ext uri="{FF2B5EF4-FFF2-40B4-BE49-F238E27FC236}">
                <a16:creationId xmlns:a16="http://schemas.microsoft.com/office/drawing/2014/main" id="{D73CF4EA-3ABD-450E-83C4-1EABDA70C5C5}"/>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580A70EE-1502-4A6B-88FE-FEDE2211878F}"/>
              </a:ext>
            </a:extLst>
          </p:cNvPr>
          <p:cNvSpPr>
            <a:spLocks noGrp="1"/>
          </p:cNvSpPr>
          <p:nvPr>
            <p:ph type="sldNum" sz="quarter" idx="12"/>
          </p:nvPr>
        </p:nvSpPr>
        <p:spPr/>
        <p:txBody>
          <a:bodyPr/>
          <a:lstStyle/>
          <a:p>
            <a:fld id="{83AE54BF-1D3E-4F4A-82B1-C4E42C537D7C}" type="slidenum">
              <a:rPr lang="fr-FR" smtClean="0"/>
              <a:t>5</a:t>
            </a:fld>
            <a:endParaRPr lang="fr-FR"/>
          </a:p>
        </p:txBody>
      </p:sp>
    </p:spTree>
    <p:extLst>
      <p:ext uri="{BB962C8B-B14F-4D97-AF65-F5344CB8AC3E}">
        <p14:creationId xmlns:p14="http://schemas.microsoft.com/office/powerpoint/2010/main" val="388065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72359" y="274638"/>
            <a:ext cx="10481441" cy="778098"/>
          </a:xfrm>
        </p:spPr>
        <p:txBody>
          <a:bodyPr/>
          <a:lstStyle/>
          <a:p>
            <a:r>
              <a:rPr lang="fr-FR" dirty="0"/>
              <a:t>Classement - preneur</a:t>
            </a:r>
          </a:p>
        </p:txBody>
      </p:sp>
      <p:sp>
        <p:nvSpPr>
          <p:cNvPr id="3" name="Espace réservé du contenu 2"/>
          <p:cNvSpPr>
            <a:spLocks noGrp="1"/>
          </p:cNvSpPr>
          <p:nvPr>
            <p:ph idx="1"/>
          </p:nvPr>
        </p:nvSpPr>
        <p:spPr>
          <a:xfrm>
            <a:off x="872359" y="1052736"/>
            <a:ext cx="10481441" cy="5424264"/>
          </a:xfrm>
        </p:spPr>
        <p:txBody>
          <a:bodyPr>
            <a:normAutofit fontScale="77500" lnSpcReduction="20000"/>
          </a:bodyPr>
          <a:lstStyle/>
          <a:p>
            <a:pPr marL="0" indent="0">
              <a:buNone/>
            </a:pPr>
            <a:r>
              <a:rPr lang="fr-FR" b="1" dirty="0"/>
              <a:t>Preneur</a:t>
            </a:r>
            <a:r>
              <a:rPr lang="fr-FR" dirty="0"/>
              <a:t> : transfert des avantages et des risques – au moins </a:t>
            </a:r>
            <a:r>
              <a:rPr lang="fr-FR" u="sng" dirty="0"/>
              <a:t>une</a:t>
            </a:r>
            <a:r>
              <a:rPr lang="fr-FR" dirty="0"/>
              <a:t> des conditions</a:t>
            </a:r>
          </a:p>
          <a:p>
            <a:r>
              <a:rPr lang="fr-FR" dirty="0"/>
              <a:t>Pratiquement assuré que le preneur accédera à la propriété du bien au terme du bail </a:t>
            </a:r>
          </a:p>
          <a:p>
            <a:pPr lvl="1"/>
            <a:r>
              <a:rPr lang="fr-FR" dirty="0"/>
              <a:t>prévu de céder le titre de propriété ou </a:t>
            </a:r>
            <a:r>
              <a:rPr lang="fr-FR" dirty="0">
                <a:solidFill>
                  <a:srgbClr val="00B050"/>
                </a:solidFill>
              </a:rPr>
              <a:t>option d’achat à prix de faveur</a:t>
            </a:r>
          </a:p>
          <a:p>
            <a:pPr marL="457200" lvl="1" indent="0">
              <a:buNone/>
            </a:pPr>
            <a:endParaRPr lang="fr-FR" dirty="0"/>
          </a:p>
          <a:p>
            <a:r>
              <a:rPr lang="fr-FR" dirty="0"/>
              <a:t>Durée du bail est telle que le preneur jouira de pratiquement tous les avantages économiques que l’on prévoit pouvoir tirer de l’utilisation du bien </a:t>
            </a:r>
          </a:p>
          <a:p>
            <a:pPr lvl="1"/>
            <a:r>
              <a:rPr lang="fr-FR" dirty="0">
                <a:solidFill>
                  <a:srgbClr val="0070C0"/>
                </a:solidFill>
              </a:rPr>
              <a:t>(&gt; 75 %)</a:t>
            </a:r>
          </a:p>
          <a:p>
            <a:r>
              <a:rPr lang="fr-FR" dirty="0"/>
              <a:t>Bailleur est assuré, aux termes du bail, de récupérer le capital investi dans le bien loué et de gagner un rendement sur cet investissement </a:t>
            </a:r>
          </a:p>
          <a:p>
            <a:pPr lvl="1"/>
            <a:r>
              <a:rPr lang="fr-FR" dirty="0">
                <a:solidFill>
                  <a:srgbClr val="0070C0"/>
                </a:solidFill>
              </a:rPr>
              <a:t>(va </a:t>
            </a:r>
            <a:r>
              <a:rPr lang="fr-FR" dirty="0">
                <a:solidFill>
                  <a:srgbClr val="00B050"/>
                </a:solidFill>
              </a:rPr>
              <a:t>PME</a:t>
            </a:r>
            <a:r>
              <a:rPr lang="fr-FR" dirty="0">
                <a:solidFill>
                  <a:srgbClr val="0070C0"/>
                </a:solidFill>
              </a:rPr>
              <a:t> &gt; 90 % JV bien loué)</a:t>
            </a:r>
          </a:p>
          <a:p>
            <a:pPr marL="457200" lvl="1" indent="0">
              <a:buNone/>
            </a:pPr>
            <a:endParaRPr lang="fr-CA" sz="2600" dirty="0"/>
          </a:p>
          <a:p>
            <a:pPr marL="0" lvl="1" indent="0">
              <a:buNone/>
            </a:pPr>
            <a:r>
              <a:rPr lang="fr-CA" dirty="0"/>
              <a:t>09     </a:t>
            </a:r>
            <a:r>
              <a:rPr lang="fr-CA" i="1" dirty="0"/>
              <a:t>Lorsque, aux termes d'un bail, pratiquement tous les avantages et les risques inhérents à la propriété du bien loué sont transférés du bailleur au preneur, ce bail doit être comptabilisé comme un contrat de location-acquisition par le preneur et comme un contrat de location-vente ou de location-financement par le bailleur.</a:t>
            </a:r>
          </a:p>
          <a:p>
            <a:pPr marL="0" lvl="1" indent="0">
              <a:buNone/>
            </a:pPr>
            <a:r>
              <a:rPr lang="fr-CA" dirty="0"/>
              <a:t>.10     </a:t>
            </a:r>
            <a:r>
              <a:rPr lang="fr-CA" i="1" dirty="0"/>
              <a:t>Lorsque, aux termes d'un bail, pratiquement tous les avantages et les risques inhérents à la propriété sont laissés au bailleur, ce bail doit être comptabilisé comme un contrat de location-exploitation tant par le bailleur que par le preneur.</a:t>
            </a:r>
            <a:endParaRPr lang="fr-CA" sz="2600" dirty="0"/>
          </a:p>
          <a:p>
            <a:pPr lvl="1"/>
            <a:endParaRPr lang="fr-FR" dirty="0">
              <a:solidFill>
                <a:srgbClr val="0070C0"/>
              </a:solidFill>
            </a:endParaRPr>
          </a:p>
          <a:p>
            <a:pPr lvl="1"/>
            <a:r>
              <a:rPr lang="fr-FR" i="1" dirty="0">
                <a:solidFill>
                  <a:srgbClr val="FF0000"/>
                </a:solidFill>
              </a:rPr>
              <a:t>IFRS 16 : plus de 12 mois, pas faible valeur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a:t>
            </a:fld>
            <a:endParaRPr lang="fr-FR"/>
          </a:p>
        </p:txBody>
      </p:sp>
      <p:sp>
        <p:nvSpPr>
          <p:cNvPr id="5" name="Espace réservé du pied de page 4">
            <a:extLst>
              <a:ext uri="{FF2B5EF4-FFF2-40B4-BE49-F238E27FC236}">
                <a16:creationId xmlns:a16="http://schemas.microsoft.com/office/drawing/2014/main" id="{FEC6E357-6C78-476E-B4BB-C986E7D6382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841282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2359" y="274638"/>
            <a:ext cx="10481441" cy="778098"/>
          </a:xfrm>
        </p:spPr>
        <p:txBody>
          <a:bodyPr/>
          <a:lstStyle/>
          <a:p>
            <a:r>
              <a:rPr lang="fr-FR" dirty="0"/>
              <a:t>Définitions</a:t>
            </a:r>
          </a:p>
        </p:txBody>
      </p:sp>
      <p:sp>
        <p:nvSpPr>
          <p:cNvPr id="3" name="Espace réservé du contenu 2"/>
          <p:cNvSpPr>
            <a:spLocks noGrp="1"/>
          </p:cNvSpPr>
          <p:nvPr>
            <p:ph idx="1"/>
          </p:nvPr>
        </p:nvSpPr>
        <p:spPr>
          <a:xfrm>
            <a:off x="872359" y="1262743"/>
            <a:ext cx="10481441" cy="5155474"/>
          </a:xfrm>
        </p:spPr>
        <p:txBody>
          <a:bodyPr>
            <a:normAutofit/>
          </a:bodyPr>
          <a:lstStyle/>
          <a:p>
            <a:pPr marL="0" lvl="1" indent="0">
              <a:buNone/>
            </a:pPr>
            <a:r>
              <a:rPr lang="fr-CA" b="1" dirty="0"/>
              <a:t>Option d'achat à prix de faveur :</a:t>
            </a:r>
            <a:r>
              <a:rPr lang="fr-CA" dirty="0"/>
              <a:t> disposition contractuelle permettant au preneur qui le désire d'acheter le bien loué à un </a:t>
            </a:r>
            <a:r>
              <a:rPr lang="fr-CA" u="sng" dirty="0">
                <a:solidFill>
                  <a:srgbClr val="0070C0"/>
                </a:solidFill>
              </a:rPr>
              <a:t>prix suffisamment inférieur à la juste valeur prévisible</a:t>
            </a:r>
            <a:r>
              <a:rPr lang="fr-CA" dirty="0"/>
              <a:t> du bien à la date fixée pour l'exercice de l'option pour que, à la date d'entrée en vigueur du bail, il paraisse pratiquement assuré que le preneur se prévaudra de ce droit d'achat.</a:t>
            </a:r>
          </a:p>
          <a:p>
            <a:pPr marL="0" lvl="1" indent="0">
              <a:buNone/>
            </a:pPr>
            <a:endParaRPr lang="fr-CA" sz="18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7</a:t>
            </a:fld>
            <a:endParaRPr lang="fr-FR"/>
          </a:p>
        </p:txBody>
      </p:sp>
      <p:sp>
        <p:nvSpPr>
          <p:cNvPr id="5" name="Espace réservé du pied de page 4">
            <a:extLst>
              <a:ext uri="{FF2B5EF4-FFF2-40B4-BE49-F238E27FC236}">
                <a16:creationId xmlns:a16="http://schemas.microsoft.com/office/drawing/2014/main" id="{FEC6E357-6C78-476E-B4BB-C986E7D6382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874261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2359" y="274638"/>
            <a:ext cx="10481441" cy="778098"/>
          </a:xfrm>
        </p:spPr>
        <p:txBody>
          <a:bodyPr/>
          <a:lstStyle/>
          <a:p>
            <a:r>
              <a:rPr lang="fr-FR" dirty="0"/>
              <a:t>Définitions</a:t>
            </a:r>
          </a:p>
        </p:txBody>
      </p:sp>
      <p:sp>
        <p:nvSpPr>
          <p:cNvPr id="3" name="Espace réservé du contenu 2"/>
          <p:cNvSpPr>
            <a:spLocks noGrp="1"/>
          </p:cNvSpPr>
          <p:nvPr>
            <p:ph idx="1"/>
          </p:nvPr>
        </p:nvSpPr>
        <p:spPr>
          <a:xfrm>
            <a:off x="872359" y="1052736"/>
            <a:ext cx="10481441" cy="5411126"/>
          </a:xfrm>
        </p:spPr>
        <p:txBody>
          <a:bodyPr>
            <a:normAutofit fontScale="92500" lnSpcReduction="20000"/>
          </a:bodyPr>
          <a:lstStyle/>
          <a:p>
            <a:pPr marL="0" indent="0">
              <a:buNone/>
            </a:pPr>
            <a:r>
              <a:rPr lang="fr-CA" sz="2400" b="1" dirty="0"/>
              <a:t>Paiements minimums exigibles en vertu du bail :</a:t>
            </a:r>
            <a:endParaRPr lang="fr-CA" sz="2400" dirty="0"/>
          </a:p>
          <a:p>
            <a:pPr marL="182563" indent="0">
              <a:buNone/>
            </a:pPr>
            <a:r>
              <a:rPr lang="fr-CA" sz="2400" dirty="0"/>
              <a:t>i)     Pour le </a:t>
            </a:r>
            <a:r>
              <a:rPr lang="fr-CA" sz="2400" b="1" u="sng" dirty="0">
                <a:solidFill>
                  <a:srgbClr val="0070C0"/>
                </a:solidFill>
              </a:rPr>
              <a:t>preneur</a:t>
            </a:r>
            <a:r>
              <a:rPr lang="fr-CA" sz="2400" dirty="0"/>
              <a:t>, les paiements minimums exigibles en vertu du bail comprennent :</a:t>
            </a:r>
          </a:p>
          <a:p>
            <a:pPr marL="182563" indent="0">
              <a:buNone/>
            </a:pPr>
            <a:r>
              <a:rPr lang="fr-CA" sz="2400" dirty="0"/>
              <a:t>—     les </a:t>
            </a:r>
            <a:r>
              <a:rPr lang="fr-CA" sz="2400" dirty="0">
                <a:solidFill>
                  <a:srgbClr val="0070C0"/>
                </a:solidFill>
              </a:rPr>
              <a:t>loyers minimums prévus </a:t>
            </a:r>
            <a:r>
              <a:rPr lang="fr-CA" sz="2400" dirty="0"/>
              <a:t>pour la durée du bail,</a:t>
            </a:r>
          </a:p>
          <a:p>
            <a:pPr marL="182563" indent="0">
              <a:buNone/>
            </a:pPr>
            <a:r>
              <a:rPr lang="fr-CA" sz="2400" dirty="0"/>
              <a:t>—     plus toute </a:t>
            </a:r>
            <a:r>
              <a:rPr lang="fr-CA" sz="2400" dirty="0">
                <a:solidFill>
                  <a:srgbClr val="0070C0"/>
                </a:solidFill>
              </a:rPr>
              <a:t>garantie, partielle ou complète de la valeur résiduelle </a:t>
            </a:r>
            <a:r>
              <a:rPr lang="fr-CA" sz="2400" dirty="0"/>
              <a:t>du bien loué au terme de la durée du bail qui est donnée par le preneur ou une personne qui lui est apparentée (si le preneur s'est engagé à rembourser au bailleur toute différence entre le produit de la réalisation du bien et un montant défini d'avance, la garantie à inclure dans les paiements minimums exigibles en vertu du bail est le montant en question plutôt qu'une estimation de la différence à combler),</a:t>
            </a:r>
          </a:p>
          <a:p>
            <a:pPr marL="182563" indent="0">
              <a:buNone/>
            </a:pPr>
            <a:r>
              <a:rPr lang="fr-CA" sz="2400" dirty="0"/>
              <a:t>—     plus toute </a:t>
            </a:r>
            <a:r>
              <a:rPr lang="fr-CA" sz="2400" dirty="0">
                <a:solidFill>
                  <a:srgbClr val="0070C0"/>
                </a:solidFill>
              </a:rPr>
              <a:t>pénalité</a:t>
            </a:r>
            <a:r>
              <a:rPr lang="fr-CA" sz="2400" dirty="0"/>
              <a:t> exigée du preneur advenant que celui-ci décide de ne pas renouveler ou de ne pas prolonger le contrat de location au terme de la durée du bail.</a:t>
            </a:r>
          </a:p>
          <a:p>
            <a:pPr marL="182563" indent="0">
              <a:buNone/>
            </a:pPr>
            <a:endParaRPr lang="fr-CA" sz="800" dirty="0"/>
          </a:p>
          <a:p>
            <a:pPr marL="182563" indent="0">
              <a:buNone/>
            </a:pPr>
            <a:r>
              <a:rPr lang="fr-CA" sz="2400" dirty="0"/>
              <a:t>Toutefois, si le bail comporte une </a:t>
            </a:r>
            <a:r>
              <a:rPr lang="fr-CA" sz="2400" dirty="0">
                <a:solidFill>
                  <a:srgbClr val="0070C0"/>
                </a:solidFill>
              </a:rPr>
              <a:t>option d'achat à prix de faveur</a:t>
            </a:r>
            <a:r>
              <a:rPr lang="fr-CA" sz="2400" dirty="0"/>
              <a:t>, les paiements minimums ne comprennent que le total des loyers minimums pour la durée du bail et le montant prévu dans l'option d'achat à prix de faveur. Les paiements qui dépendent de facteurs mesurables à la date d'entrée en vigueur du bail, tels que l'indice des prix à la consommation ou le taux d'intérêt préférentiel, ne constituent pas, en substance, des loyers conditionnels dans leur totalité et ils sont pris en compte dans les paiements minimaux exigibles en vertu du bail sur la base de l'indice ou du taux existant à la date d'entrée en vigueur du bail.</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8</a:t>
            </a:fld>
            <a:endParaRPr lang="fr-FR"/>
          </a:p>
        </p:txBody>
      </p:sp>
      <p:sp>
        <p:nvSpPr>
          <p:cNvPr id="5" name="Espace réservé du pied de page 4">
            <a:extLst>
              <a:ext uri="{FF2B5EF4-FFF2-40B4-BE49-F238E27FC236}">
                <a16:creationId xmlns:a16="http://schemas.microsoft.com/office/drawing/2014/main" id="{FEC6E357-6C78-476E-B4BB-C986E7D6382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526395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B3BEA3-ECEF-48E6-9BC7-90893882D4B0}"/>
              </a:ext>
            </a:extLst>
          </p:cNvPr>
          <p:cNvSpPr>
            <a:spLocks noGrp="1"/>
          </p:cNvSpPr>
          <p:nvPr>
            <p:ph type="title"/>
          </p:nvPr>
        </p:nvSpPr>
        <p:spPr/>
        <p:txBody>
          <a:bodyPr/>
          <a:lstStyle/>
          <a:p>
            <a:r>
              <a:rPr lang="fr-FR" dirty="0"/>
              <a:t>Définitions</a:t>
            </a:r>
          </a:p>
        </p:txBody>
      </p:sp>
      <p:sp>
        <p:nvSpPr>
          <p:cNvPr id="3" name="Espace réservé du contenu 2">
            <a:extLst>
              <a:ext uri="{FF2B5EF4-FFF2-40B4-BE49-F238E27FC236}">
                <a16:creationId xmlns:a16="http://schemas.microsoft.com/office/drawing/2014/main" id="{A1112E94-40AE-461E-A686-4A2D6D0E2BF4}"/>
              </a:ext>
            </a:extLst>
          </p:cNvPr>
          <p:cNvSpPr>
            <a:spLocks noGrp="1"/>
          </p:cNvSpPr>
          <p:nvPr>
            <p:ph idx="1"/>
          </p:nvPr>
        </p:nvSpPr>
        <p:spPr/>
        <p:txBody>
          <a:bodyPr>
            <a:normAutofit/>
          </a:bodyPr>
          <a:lstStyle/>
          <a:p>
            <a:r>
              <a:rPr lang="fr-CA" sz="2400" dirty="0"/>
              <a:t> </a:t>
            </a:r>
            <a:r>
              <a:rPr lang="fr-CA" sz="2400" b="1" dirty="0"/>
              <a:t>Loyer conditionnel :</a:t>
            </a:r>
            <a:r>
              <a:rPr lang="fr-CA" sz="2400" dirty="0"/>
              <a:t> loyer basé sur un facteur </a:t>
            </a:r>
            <a:r>
              <a:rPr lang="fr-CA" sz="2400" b="1" dirty="0">
                <a:solidFill>
                  <a:srgbClr val="FF0000"/>
                </a:solidFill>
                <a:highlight>
                  <a:srgbClr val="FFFF00"/>
                </a:highlight>
              </a:rPr>
              <a:t>autre que le temps </a:t>
            </a:r>
            <a:r>
              <a:rPr lang="fr-CA" sz="2400" dirty="0"/>
              <a:t>(pourcentage du chiffre d'affaires, fréquence d'utilisation, taux d'intérêt préférentiel, indice de prix, etc.).</a:t>
            </a:r>
          </a:p>
          <a:p>
            <a:pPr lvl="1"/>
            <a:r>
              <a:rPr lang="fr-CA" sz="2000" dirty="0">
                <a:solidFill>
                  <a:srgbClr val="FF0000"/>
                </a:solidFill>
              </a:rPr>
              <a:t>N’est pas inclus dans les PME</a:t>
            </a:r>
          </a:p>
          <a:p>
            <a:pPr lvl="1"/>
            <a:endParaRPr lang="fr-CA" sz="2000" dirty="0">
              <a:solidFill>
                <a:srgbClr val="FF0000"/>
              </a:solidFill>
            </a:endParaRPr>
          </a:p>
          <a:p>
            <a:r>
              <a:rPr lang="fr-CA" sz="2400" b="1" dirty="0"/>
              <a:t>Frais accessoires :</a:t>
            </a:r>
            <a:r>
              <a:rPr lang="fr-CA" sz="2400" dirty="0"/>
              <a:t> frais liés à l'utilisation du bien loué (assurances, entretien, impôts fonciers, etc.).</a:t>
            </a:r>
          </a:p>
          <a:p>
            <a:pPr lvl="1"/>
            <a:r>
              <a:rPr lang="fr-CA" sz="2000" dirty="0">
                <a:solidFill>
                  <a:srgbClr val="FF0000"/>
                </a:solidFill>
              </a:rPr>
              <a:t>Ne sont pas inclus dans les PME</a:t>
            </a:r>
            <a:endParaRPr lang="fr-FR" sz="2000" dirty="0"/>
          </a:p>
        </p:txBody>
      </p:sp>
      <p:sp>
        <p:nvSpPr>
          <p:cNvPr id="4" name="Espace réservé du pied de page 3">
            <a:extLst>
              <a:ext uri="{FF2B5EF4-FFF2-40B4-BE49-F238E27FC236}">
                <a16:creationId xmlns:a16="http://schemas.microsoft.com/office/drawing/2014/main" id="{5BF168E5-EEEE-4AFA-AB6D-FFFE14680D79}"/>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5FCC3AC4-4AF5-4D43-AEE8-6C5D75B2DBBD}"/>
              </a:ext>
            </a:extLst>
          </p:cNvPr>
          <p:cNvSpPr>
            <a:spLocks noGrp="1"/>
          </p:cNvSpPr>
          <p:nvPr>
            <p:ph type="sldNum" sz="quarter" idx="12"/>
          </p:nvPr>
        </p:nvSpPr>
        <p:spPr/>
        <p:txBody>
          <a:bodyPr/>
          <a:lstStyle/>
          <a:p>
            <a:fld id="{83AE54BF-1D3E-4F4A-82B1-C4E42C537D7C}" type="slidenum">
              <a:rPr lang="fr-FR" smtClean="0"/>
              <a:t>9</a:t>
            </a:fld>
            <a:endParaRPr lang="fr-FR"/>
          </a:p>
        </p:txBody>
      </p:sp>
    </p:spTree>
    <p:extLst>
      <p:ext uri="{BB962C8B-B14F-4D97-AF65-F5344CB8AC3E}">
        <p14:creationId xmlns:p14="http://schemas.microsoft.com/office/powerpoint/2010/main" val="344045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2359" y="274638"/>
            <a:ext cx="10481441" cy="778098"/>
          </a:xfrm>
        </p:spPr>
        <p:txBody>
          <a:bodyPr/>
          <a:lstStyle/>
          <a:p>
            <a:r>
              <a:rPr lang="fr-FR" dirty="0"/>
              <a:t>Définitions</a:t>
            </a:r>
          </a:p>
        </p:txBody>
      </p:sp>
      <p:sp>
        <p:nvSpPr>
          <p:cNvPr id="3" name="Espace réservé du contenu 2"/>
          <p:cNvSpPr>
            <a:spLocks noGrp="1"/>
          </p:cNvSpPr>
          <p:nvPr>
            <p:ph idx="1"/>
          </p:nvPr>
        </p:nvSpPr>
        <p:spPr>
          <a:xfrm>
            <a:off x="872359" y="1495424"/>
            <a:ext cx="10481441" cy="4741887"/>
          </a:xfrm>
        </p:spPr>
        <p:txBody>
          <a:bodyPr>
            <a:normAutofit/>
          </a:bodyPr>
          <a:lstStyle/>
          <a:p>
            <a:pPr marL="182563" lvl="1" indent="-182563"/>
            <a:r>
              <a:rPr lang="fr-CA" sz="2000" b="1" dirty="0"/>
              <a:t>Taux d'intérêt implicite du bail :</a:t>
            </a:r>
            <a:r>
              <a:rPr lang="fr-CA" sz="2000" dirty="0"/>
              <a:t> taux d'actualisation qu'il faut utiliser, à la date d'entrée en vigueur du bail, pour que la valeur actualisée globale :</a:t>
            </a:r>
          </a:p>
          <a:p>
            <a:pPr marL="182563" indent="0">
              <a:buNone/>
            </a:pPr>
            <a:r>
              <a:rPr lang="fr-CA" sz="2000" dirty="0"/>
              <a:t>i)   des paiements minimums, au sens du </a:t>
            </a:r>
            <a:r>
              <a:rPr lang="fr-CA" sz="2000" b="1" dirty="0">
                <a:solidFill>
                  <a:srgbClr val="FF0000"/>
                </a:solidFill>
                <a:highlight>
                  <a:srgbClr val="FFFF00"/>
                </a:highlight>
              </a:rPr>
              <a:t>bailleur</a:t>
            </a:r>
            <a:r>
              <a:rPr lang="fr-CA" sz="2000" dirty="0"/>
              <a:t>, exigibles en vertu du bail, abstraction faite de la partie des paiements qui correspond aux frais accessoires pris en charge par le bailleur et au profit réalisé sur ces frais, le cas échéant, et</a:t>
            </a:r>
          </a:p>
          <a:p>
            <a:pPr marL="182563" indent="0">
              <a:buNone/>
            </a:pPr>
            <a:r>
              <a:rPr lang="fr-CA" sz="2000" dirty="0"/>
              <a:t>ii)  de la valeur résiduelle non garantie qui revient au bailleur,</a:t>
            </a:r>
          </a:p>
          <a:p>
            <a:pPr marL="182563" indent="0">
              <a:buNone/>
            </a:pPr>
            <a:r>
              <a:rPr lang="fr-CA" sz="2000" dirty="0"/>
              <a:t>soit égale à la juste valeur du bien, pour le bailleur, à la date d'entrée en vigueur du bail.</a:t>
            </a:r>
          </a:p>
          <a:p>
            <a:pPr marL="182563" indent="0">
              <a:buNone/>
            </a:pPr>
            <a:endParaRPr lang="fr-CA" sz="2000" dirty="0"/>
          </a:p>
          <a:p>
            <a:pPr marL="182563" indent="-182563"/>
            <a:r>
              <a:rPr lang="fr-CA" sz="2000" b="1" dirty="0"/>
              <a:t>Taux d'intérêt marginal du preneur :</a:t>
            </a:r>
            <a:r>
              <a:rPr lang="fr-CA" sz="2000" dirty="0"/>
              <a:t> taux d'intérêt que le preneur devrait payer, à la date d'entrée en vigueur du bail, s'il voulait emprunter, pour une même durée et moyennant une garantie comparable, les fonds nécessaires à l'achat du bien loué.</a:t>
            </a:r>
          </a:p>
          <a:p>
            <a:pPr lvl="1"/>
            <a:endParaRPr lang="fr-FR" dirty="0">
              <a:solidFill>
                <a:srgbClr val="0070C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10</a:t>
            </a:fld>
            <a:endParaRPr lang="fr-FR"/>
          </a:p>
        </p:txBody>
      </p:sp>
      <p:sp>
        <p:nvSpPr>
          <p:cNvPr id="5" name="Espace réservé du pied de page 4">
            <a:extLst>
              <a:ext uri="{FF2B5EF4-FFF2-40B4-BE49-F238E27FC236}">
                <a16:creationId xmlns:a16="http://schemas.microsoft.com/office/drawing/2014/main" id="{FEC6E357-6C78-476E-B4BB-C986E7D63820}"/>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935285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E58BF7-F1BA-47DB-9A3E-3F9555008C2C}"/>
              </a:ext>
            </a:extLst>
          </p:cNvPr>
          <p:cNvSpPr>
            <a:spLocks noGrp="1"/>
          </p:cNvSpPr>
          <p:nvPr>
            <p:ph type="title"/>
          </p:nvPr>
        </p:nvSpPr>
        <p:spPr>
          <a:xfrm>
            <a:off x="838200" y="365126"/>
            <a:ext cx="10515600" cy="615949"/>
          </a:xfrm>
        </p:spPr>
        <p:txBody>
          <a:bodyPr>
            <a:normAutofit fontScale="90000"/>
          </a:bodyPr>
          <a:lstStyle/>
          <a:p>
            <a:r>
              <a:rPr lang="fr-FR" dirty="0"/>
              <a:t>Définitions - </a:t>
            </a:r>
            <a:r>
              <a:rPr lang="fr-CA" dirty="0"/>
              <a:t>Durée du bail</a:t>
            </a:r>
            <a:endParaRPr lang="fr-FR" dirty="0"/>
          </a:p>
        </p:txBody>
      </p:sp>
      <p:sp>
        <p:nvSpPr>
          <p:cNvPr id="3" name="Espace réservé du contenu 2">
            <a:extLst>
              <a:ext uri="{FF2B5EF4-FFF2-40B4-BE49-F238E27FC236}">
                <a16:creationId xmlns:a16="http://schemas.microsoft.com/office/drawing/2014/main" id="{3BC04A84-FF5B-4988-B2BD-48A676980AB7}"/>
              </a:ext>
            </a:extLst>
          </p:cNvPr>
          <p:cNvSpPr>
            <a:spLocks noGrp="1"/>
          </p:cNvSpPr>
          <p:nvPr>
            <p:ph idx="1"/>
          </p:nvPr>
        </p:nvSpPr>
        <p:spPr>
          <a:xfrm>
            <a:off x="851338" y="1135117"/>
            <a:ext cx="10502462" cy="5357757"/>
          </a:xfrm>
        </p:spPr>
        <p:txBody>
          <a:bodyPr>
            <a:normAutofit lnSpcReduction="10000"/>
          </a:bodyPr>
          <a:lstStyle/>
          <a:p>
            <a:pPr marL="0" indent="0">
              <a:buNone/>
            </a:pPr>
            <a:r>
              <a:rPr lang="fr-CA" sz="2400" b="1" dirty="0"/>
              <a:t>Durée du bail :</a:t>
            </a:r>
            <a:r>
              <a:rPr lang="fr-CA" sz="2400" dirty="0"/>
              <a:t> période déterminée pendant laquelle le bail est non résiliable, plus :</a:t>
            </a:r>
          </a:p>
          <a:p>
            <a:pPr marL="0" indent="0">
              <a:buNone/>
            </a:pPr>
            <a:r>
              <a:rPr lang="fr-CA" sz="2400" dirty="0"/>
              <a:t>i)     toute période faisant l'objet d'une option de renouvellement à prix de faveur,</a:t>
            </a:r>
          </a:p>
          <a:p>
            <a:pPr marL="0" indent="0">
              <a:buNone/>
            </a:pPr>
            <a:r>
              <a:rPr lang="fr-CA" sz="2400" dirty="0"/>
              <a:t>ii)     toute période pour laquelle le non-renouvellement du bail entraînerait pour le preneur une pénalité si élevée que, à la date d'entrée en vigueur du bail, il semble pratiquement assuré que le preneur exercera son option de renouvellement,</a:t>
            </a:r>
          </a:p>
          <a:p>
            <a:pPr marL="0" indent="0">
              <a:buNone/>
            </a:pPr>
            <a:r>
              <a:rPr lang="fr-CA" sz="2400" dirty="0"/>
              <a:t>iii)     toute période visée par une option de renouvellement ordinaire pour la durée de laquelle le preneur s'est engagé à garantir la dette du bailleur relativement au bien loué,</a:t>
            </a:r>
          </a:p>
          <a:p>
            <a:pPr marL="0" indent="0">
              <a:buNone/>
            </a:pPr>
            <a:r>
              <a:rPr lang="fr-CA" sz="2400" dirty="0"/>
              <a:t>iv)     toute période visée par des options de renouvellement ordinaires précédant la date à compter de laquelle peut être exercée une option d'achat à prix de faveur,</a:t>
            </a:r>
          </a:p>
          <a:p>
            <a:pPr marL="0" indent="0">
              <a:buNone/>
            </a:pPr>
            <a:r>
              <a:rPr lang="fr-CA" sz="2400" dirty="0"/>
              <a:t>v)     toute période pour laquelle le bailleur a la faculté de renouveler ou de prolonger le bail,</a:t>
            </a:r>
          </a:p>
          <a:p>
            <a:pPr marL="0" indent="0">
              <a:buNone/>
            </a:pPr>
            <a:r>
              <a:rPr lang="fr-CA" sz="2400" dirty="0"/>
              <a:t>à condition que la durée du bail ne s'étende pas au-delà de la date à compter de laquelle peut être exercée une option d'achat à prix de faveur.</a:t>
            </a:r>
          </a:p>
        </p:txBody>
      </p:sp>
      <p:sp>
        <p:nvSpPr>
          <p:cNvPr id="4" name="Espace réservé du pied de page 3">
            <a:extLst>
              <a:ext uri="{FF2B5EF4-FFF2-40B4-BE49-F238E27FC236}">
                <a16:creationId xmlns:a16="http://schemas.microsoft.com/office/drawing/2014/main" id="{357F0667-FDC8-465C-B395-79E38417E78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0D0CF4F-8DF1-4C4C-A16D-36F51A1F3CA2}"/>
              </a:ext>
            </a:extLst>
          </p:cNvPr>
          <p:cNvSpPr>
            <a:spLocks noGrp="1"/>
          </p:cNvSpPr>
          <p:nvPr>
            <p:ph type="sldNum" sz="quarter" idx="12"/>
          </p:nvPr>
        </p:nvSpPr>
        <p:spPr/>
        <p:txBody>
          <a:bodyPr/>
          <a:lstStyle/>
          <a:p>
            <a:fld id="{83AE54BF-1D3E-4F4A-82B1-C4E42C537D7C}" type="slidenum">
              <a:rPr lang="fr-FR" smtClean="0"/>
              <a:t>11</a:t>
            </a:fld>
            <a:endParaRPr lang="fr-FR"/>
          </a:p>
        </p:txBody>
      </p:sp>
    </p:spTree>
    <p:extLst>
      <p:ext uri="{BB962C8B-B14F-4D97-AF65-F5344CB8AC3E}">
        <p14:creationId xmlns:p14="http://schemas.microsoft.com/office/powerpoint/2010/main" val="2672149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E58BF7-F1BA-47DB-9A3E-3F9555008C2C}"/>
              </a:ext>
            </a:extLst>
          </p:cNvPr>
          <p:cNvSpPr>
            <a:spLocks noGrp="1"/>
          </p:cNvSpPr>
          <p:nvPr>
            <p:ph type="title"/>
          </p:nvPr>
        </p:nvSpPr>
        <p:spPr>
          <a:xfrm>
            <a:off x="838200" y="365126"/>
            <a:ext cx="10515600" cy="615949"/>
          </a:xfrm>
        </p:spPr>
        <p:txBody>
          <a:bodyPr>
            <a:normAutofit fontScale="90000"/>
          </a:bodyPr>
          <a:lstStyle/>
          <a:p>
            <a:r>
              <a:rPr lang="fr-FR" dirty="0"/>
              <a:t>Définitions - </a:t>
            </a:r>
            <a:r>
              <a:rPr lang="fr-CA" dirty="0"/>
              <a:t>Durée du bail</a:t>
            </a:r>
            <a:endParaRPr lang="fr-FR" dirty="0"/>
          </a:p>
        </p:txBody>
      </p:sp>
      <p:sp>
        <p:nvSpPr>
          <p:cNvPr id="3" name="Espace réservé du contenu 2">
            <a:extLst>
              <a:ext uri="{FF2B5EF4-FFF2-40B4-BE49-F238E27FC236}">
                <a16:creationId xmlns:a16="http://schemas.microsoft.com/office/drawing/2014/main" id="{3BC04A84-FF5B-4988-B2BD-48A676980AB7}"/>
              </a:ext>
            </a:extLst>
          </p:cNvPr>
          <p:cNvSpPr>
            <a:spLocks noGrp="1"/>
          </p:cNvSpPr>
          <p:nvPr>
            <p:ph idx="1"/>
          </p:nvPr>
        </p:nvSpPr>
        <p:spPr>
          <a:xfrm>
            <a:off x="838200" y="1229710"/>
            <a:ext cx="10515600" cy="5126639"/>
          </a:xfrm>
        </p:spPr>
        <p:txBody>
          <a:bodyPr>
            <a:normAutofit fontScale="92500" lnSpcReduction="10000"/>
          </a:bodyPr>
          <a:lstStyle/>
          <a:p>
            <a:pPr marL="0" indent="0">
              <a:buNone/>
            </a:pPr>
            <a:r>
              <a:rPr lang="fr-CA" sz="2400" b="1" dirty="0"/>
              <a:t>Durée du bail :</a:t>
            </a:r>
            <a:r>
              <a:rPr lang="fr-CA" sz="2400" dirty="0"/>
              <a:t> </a:t>
            </a:r>
            <a:r>
              <a:rPr lang="fr-CA" sz="2400" i="1" dirty="0"/>
              <a:t>suite</a:t>
            </a:r>
            <a:endParaRPr lang="fr-CA" sz="2400" b="1" dirty="0"/>
          </a:p>
          <a:p>
            <a:pPr marL="0" indent="0">
              <a:buNone/>
            </a:pPr>
            <a:r>
              <a:rPr lang="fr-CA" sz="2400" dirty="0"/>
              <a:t>On considère que le bail est non résiliable si, pour qu'il puisse être résilié, il faut :</a:t>
            </a:r>
          </a:p>
          <a:p>
            <a:pPr marL="0" indent="0">
              <a:buNone/>
            </a:pPr>
            <a:r>
              <a:rPr lang="fr-CA" sz="2400" dirty="0"/>
              <a:t>i)     qu'une éventualité tout à fait improbable se matérialise, ou</a:t>
            </a:r>
          </a:p>
          <a:p>
            <a:pPr marL="0" indent="0">
              <a:buNone/>
            </a:pPr>
            <a:r>
              <a:rPr lang="fr-CA" sz="2400" dirty="0"/>
              <a:t>ii)     que le preneur obtienne l'autorisation du bailleur, ou</a:t>
            </a:r>
          </a:p>
          <a:p>
            <a:pPr marL="0" indent="0">
              <a:buNone/>
            </a:pPr>
            <a:r>
              <a:rPr lang="fr-CA" sz="2400" dirty="0"/>
              <a:t>iii)     que le preneur conclue un nouveau bail portant sur le même bien ou un bien équivalent avec le même bailleur, ou</a:t>
            </a:r>
          </a:p>
          <a:p>
            <a:pPr marL="0" indent="0">
              <a:buNone/>
            </a:pPr>
            <a:r>
              <a:rPr lang="fr-CA" sz="2400" dirty="0"/>
              <a:t>iv)     que le preneur verse une pénalité si importante que, à la date d'entrée en vigueur du contrat de location, il paraisse pratiquement assuré que le bail sera maintenu en vigueur.</a:t>
            </a:r>
          </a:p>
          <a:p>
            <a:pPr marL="0" indent="0">
              <a:buNone/>
            </a:pPr>
            <a:endParaRPr lang="fr-CA" sz="2400" b="1" dirty="0"/>
          </a:p>
          <a:p>
            <a:pPr marL="0" indent="0">
              <a:buNone/>
            </a:pPr>
            <a:r>
              <a:rPr lang="fr-CA" sz="2400" b="1" dirty="0"/>
              <a:t>Option de renouvellement à prix de faveur :</a:t>
            </a:r>
            <a:r>
              <a:rPr lang="fr-CA" sz="2400" dirty="0"/>
              <a:t> disposition contractuelle permettant au preneur qui le désire de renouveler le bail à un loyer suffisamment inférieur au juste prix de location qui, prévoit-on, aura cours pour le bien à la date fixée pour l'exercice de l'option pour que, à la date d'entrée en vigueur du bail, il paraisse pratiquement assuré que le preneur se prévaudra de ce droit de renouvellement. Par «juste prix de location», on entend le loyer qui a cours pour un bien équivalent dans des conditions semblables.</a:t>
            </a:r>
          </a:p>
        </p:txBody>
      </p:sp>
      <p:sp>
        <p:nvSpPr>
          <p:cNvPr id="4" name="Espace réservé du pied de page 3">
            <a:extLst>
              <a:ext uri="{FF2B5EF4-FFF2-40B4-BE49-F238E27FC236}">
                <a16:creationId xmlns:a16="http://schemas.microsoft.com/office/drawing/2014/main" id="{357F0667-FDC8-465C-B395-79E38417E78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0D0CF4F-8DF1-4C4C-A16D-36F51A1F3CA2}"/>
              </a:ext>
            </a:extLst>
          </p:cNvPr>
          <p:cNvSpPr>
            <a:spLocks noGrp="1"/>
          </p:cNvSpPr>
          <p:nvPr>
            <p:ph type="sldNum" sz="quarter" idx="12"/>
          </p:nvPr>
        </p:nvSpPr>
        <p:spPr/>
        <p:txBody>
          <a:bodyPr/>
          <a:lstStyle/>
          <a:p>
            <a:fld id="{83AE54BF-1D3E-4F4A-82B1-C4E42C537D7C}" type="slidenum">
              <a:rPr lang="fr-FR" smtClean="0"/>
              <a:t>12</a:t>
            </a:fld>
            <a:endParaRPr lang="fr-FR"/>
          </a:p>
        </p:txBody>
      </p:sp>
    </p:spTree>
    <p:extLst>
      <p:ext uri="{BB962C8B-B14F-4D97-AF65-F5344CB8AC3E}">
        <p14:creationId xmlns:p14="http://schemas.microsoft.com/office/powerpoint/2010/main" val="3343204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solidFill>
                  <a:srgbClr val="FF0000"/>
                </a:solidFill>
              </a:rPr>
              <a:t>Classement - preneur</a:t>
            </a:r>
          </a:p>
        </p:txBody>
      </p:sp>
      <p:sp>
        <p:nvSpPr>
          <p:cNvPr id="3" name="Espace réservé du contenu 2"/>
          <p:cNvSpPr>
            <a:spLocks noGrp="1"/>
          </p:cNvSpPr>
          <p:nvPr>
            <p:ph idx="1"/>
          </p:nvPr>
        </p:nvSpPr>
        <p:spPr>
          <a:xfrm>
            <a:off x="838200" y="1690688"/>
            <a:ext cx="10515600" cy="4486275"/>
          </a:xfrm>
        </p:spPr>
        <p:txBody>
          <a:bodyPr>
            <a:normAutofit lnSpcReduction="10000"/>
          </a:bodyPr>
          <a:lstStyle/>
          <a:p>
            <a:r>
              <a:rPr lang="fr-FR" dirty="0"/>
              <a:t>Preneur</a:t>
            </a:r>
          </a:p>
          <a:p>
            <a:pPr lvl="1"/>
            <a:r>
              <a:rPr lang="fr-FR" dirty="0"/>
              <a:t>Location-exploitation : </a:t>
            </a:r>
            <a:r>
              <a:rPr lang="fr-CA" dirty="0"/>
              <a:t>bail laissant au bailleur pratiquement tous les avantages et les risques inhérents à la propriété du bien.</a:t>
            </a:r>
            <a:r>
              <a:rPr lang="fr-FR" dirty="0"/>
              <a:t> </a:t>
            </a:r>
          </a:p>
          <a:p>
            <a:pPr lvl="3"/>
            <a:r>
              <a:rPr lang="fr-FR" dirty="0">
                <a:solidFill>
                  <a:srgbClr val="0070C0"/>
                </a:solidFill>
              </a:rPr>
              <a:t>(charge)</a:t>
            </a:r>
          </a:p>
          <a:p>
            <a:pPr lvl="1"/>
            <a:endParaRPr lang="fr-FR" dirty="0">
              <a:solidFill>
                <a:srgbClr val="0070C0"/>
              </a:solidFill>
            </a:endParaRPr>
          </a:p>
          <a:p>
            <a:pPr lvl="1"/>
            <a:r>
              <a:rPr lang="fr-FR" dirty="0"/>
              <a:t>Location-acquisition : </a:t>
            </a:r>
            <a:r>
              <a:rPr lang="fr-CA" dirty="0"/>
              <a:t>bail par lequel pratiquement tous les avantages et les risques inhérents à la propriété du bien sont transférés au preneur.</a:t>
            </a:r>
            <a:r>
              <a:rPr lang="fr-FR" dirty="0"/>
              <a:t> </a:t>
            </a:r>
          </a:p>
          <a:p>
            <a:pPr lvl="2"/>
            <a:r>
              <a:rPr lang="fr-CA" dirty="0"/>
              <a:t>.14     Pour rendre compte de toutes les ressources dont il dispose et de toutes les obligations à long terme qu'il assume, le preneur doit comptabiliser les deux volets de l'opération de location-acquisition : l'acquisition d'un bien et la prise en charge d'une obligation.</a:t>
            </a:r>
          </a:p>
          <a:p>
            <a:pPr lvl="2"/>
            <a:r>
              <a:rPr lang="fr-CA" dirty="0"/>
              <a:t>.15     </a:t>
            </a:r>
            <a:r>
              <a:rPr lang="fr-CA" i="1" dirty="0"/>
              <a:t>Le preneur doit comptabiliser les deux volets de l'opération de location-acquisition, à savoir le bien et l'obligation.</a:t>
            </a:r>
          </a:p>
          <a:p>
            <a:pPr lvl="3"/>
            <a:r>
              <a:rPr lang="fr-FR" dirty="0">
                <a:solidFill>
                  <a:srgbClr val="0070C0"/>
                </a:solidFill>
              </a:rPr>
              <a:t>(actif + passif)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13</a:t>
            </a:fld>
            <a:endParaRPr lang="fr-FR"/>
          </a:p>
        </p:txBody>
      </p:sp>
      <p:sp>
        <p:nvSpPr>
          <p:cNvPr id="5" name="Espace réservé du pied de page 4">
            <a:extLst>
              <a:ext uri="{FF2B5EF4-FFF2-40B4-BE49-F238E27FC236}">
                <a16:creationId xmlns:a16="http://schemas.microsoft.com/office/drawing/2014/main" id="{40075078-CDE6-4B9C-8BB6-E2D84A5A7B9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944215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1035050"/>
          </a:xfrm>
        </p:spPr>
        <p:txBody>
          <a:bodyPr/>
          <a:lstStyle/>
          <a:p>
            <a:r>
              <a:rPr lang="fr-FR" dirty="0">
                <a:solidFill>
                  <a:srgbClr val="FF0000"/>
                </a:solidFill>
              </a:rPr>
              <a:t>Preneur – location-acquisition</a:t>
            </a:r>
          </a:p>
        </p:txBody>
      </p:sp>
      <p:sp>
        <p:nvSpPr>
          <p:cNvPr id="3" name="Espace réservé du contenu 2"/>
          <p:cNvSpPr>
            <a:spLocks noGrp="1"/>
          </p:cNvSpPr>
          <p:nvPr>
            <p:ph idx="1"/>
          </p:nvPr>
        </p:nvSpPr>
        <p:spPr>
          <a:xfrm>
            <a:off x="838200" y="1400175"/>
            <a:ext cx="10515600" cy="4956175"/>
          </a:xfrm>
        </p:spPr>
        <p:txBody>
          <a:bodyPr>
            <a:normAutofit fontScale="92500" lnSpcReduction="10000"/>
          </a:bodyPr>
          <a:lstStyle/>
          <a:p>
            <a:pPr marL="0" indent="0">
              <a:buNone/>
            </a:pPr>
            <a:r>
              <a:rPr lang="fr-CA" dirty="0"/>
              <a:t>.</a:t>
            </a:r>
            <a:r>
              <a:rPr lang="fr-CA" sz="2400" dirty="0"/>
              <a:t>16     </a:t>
            </a:r>
            <a:r>
              <a:rPr lang="fr-CA" sz="2400" u="sng" dirty="0">
                <a:solidFill>
                  <a:schemeClr val="accent1"/>
                </a:solidFill>
              </a:rPr>
              <a:t>Le montant de l'élément d'actif et le montant de l'obligation que l'on comptabilise au début du contrat de location correspondent à la valeur actualisée des paiements minimums exigibles en vertu du bail, abstraction faite de la partie de ces paiements qui a trait aux frais accessoires</a:t>
            </a:r>
            <a:r>
              <a:rPr lang="fr-CA" sz="2400" dirty="0"/>
              <a:t>. Si l'on ne connaît pas le montant des frais accessoires que comprennent les paiements minimums exigibles en vertu du bail, on en fait une </a:t>
            </a:r>
            <a:r>
              <a:rPr lang="fr-CA" sz="2400" b="1" dirty="0">
                <a:highlight>
                  <a:srgbClr val="FFFF00"/>
                </a:highlight>
              </a:rPr>
              <a:t>estimation</a:t>
            </a:r>
            <a:r>
              <a:rPr lang="fr-CA" sz="2400" b="1" dirty="0"/>
              <a:t>. </a:t>
            </a:r>
            <a:r>
              <a:rPr lang="fr-CA" sz="2400" dirty="0"/>
              <a:t>Le taux d'intérêt implicite du bail est partiellement fonction de la valeur résiduelle du bien loué, valeur à laquelle le preneur n'est habituellement pas intéressé. Par conséquent, si l'on utilisait ce taux d'intérêt implicite comme taux d'actualisation lorsqu'il est supérieur au taux d'intérêt marginal du preneur, on aboutirait à un montant moins représentatif de la valeur du bien pour le preneur que si l'on utilisait son taux d'intérêt marginal comme taux d'actualisation. C'est pourquoi, </a:t>
            </a:r>
            <a:r>
              <a:rPr lang="fr-CA" sz="2400" u="sng" dirty="0">
                <a:solidFill>
                  <a:schemeClr val="accent1"/>
                </a:solidFill>
              </a:rPr>
              <a:t>pour déterminer la valeur actualisée des paiements minimums exigibles en vertu du bail, le preneur doit utiliser comme taux d'actualisation son taux d'intérêt marginal ou, s'il lui est facile de le déterminer et s'il est inférieur au taux d'intérêt marginal, le taux d'intérêt implicite du bail</a:t>
            </a:r>
            <a:r>
              <a:rPr lang="fr-CA" sz="2400" dirty="0"/>
              <a:t>. Nonobstant ce qui précède, la valeur attribuée au bien et à l'obligation ne doit pas dépasser la juste valeur du bien loué.</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14</a:t>
            </a:fld>
            <a:endParaRPr lang="fr-FR"/>
          </a:p>
        </p:txBody>
      </p:sp>
      <p:sp>
        <p:nvSpPr>
          <p:cNvPr id="5" name="Espace réservé du pied de page 4">
            <a:extLst>
              <a:ext uri="{FF2B5EF4-FFF2-40B4-BE49-F238E27FC236}">
                <a16:creationId xmlns:a16="http://schemas.microsoft.com/office/drawing/2014/main" id="{CAD19564-C9C8-4DED-A29B-49E3C9E253AB}"/>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594372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1035050"/>
          </a:xfrm>
        </p:spPr>
        <p:txBody>
          <a:bodyPr/>
          <a:lstStyle/>
          <a:p>
            <a:r>
              <a:rPr lang="fr-FR" dirty="0">
                <a:solidFill>
                  <a:srgbClr val="FF0000"/>
                </a:solidFill>
              </a:rPr>
              <a:t>Preneur – location-acquisition</a:t>
            </a:r>
          </a:p>
        </p:txBody>
      </p:sp>
      <p:sp>
        <p:nvSpPr>
          <p:cNvPr id="3" name="Espace réservé du contenu 2"/>
          <p:cNvSpPr>
            <a:spLocks noGrp="1"/>
          </p:cNvSpPr>
          <p:nvPr>
            <p:ph idx="1"/>
          </p:nvPr>
        </p:nvSpPr>
        <p:spPr>
          <a:xfrm>
            <a:off x="838200" y="1702676"/>
            <a:ext cx="10515600" cy="4653674"/>
          </a:xfrm>
        </p:spPr>
        <p:txBody>
          <a:bodyPr>
            <a:normAutofit/>
          </a:bodyPr>
          <a:lstStyle/>
          <a:p>
            <a:pPr lvl="1"/>
            <a:r>
              <a:rPr lang="fr-FR" dirty="0"/>
              <a:t>Doit comptabiliser l’acquisition d’un bien et la prise en charge d’une obligation</a:t>
            </a:r>
          </a:p>
          <a:p>
            <a:pPr lvl="2"/>
            <a:r>
              <a:rPr lang="fr-FR" sz="2400" dirty="0"/>
              <a:t>Au montant de la dette (</a:t>
            </a:r>
            <a:r>
              <a:rPr lang="fr-FR" sz="2400" dirty="0" err="1"/>
              <a:t>v.a</a:t>
            </a:r>
            <a:r>
              <a:rPr lang="fr-FR" sz="2400" dirty="0"/>
              <a:t>. des paiements minimums exigibles)</a:t>
            </a:r>
          </a:p>
          <a:p>
            <a:pPr lvl="3"/>
            <a:r>
              <a:rPr lang="fr-FR" sz="2400" dirty="0"/>
              <a:t>Méthode intérêts réels pour l’obligation locative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15</a:t>
            </a:fld>
            <a:endParaRPr lang="fr-FR"/>
          </a:p>
        </p:txBody>
      </p:sp>
      <p:sp>
        <p:nvSpPr>
          <p:cNvPr id="5" name="Espace réservé du pied de page 4">
            <a:extLst>
              <a:ext uri="{FF2B5EF4-FFF2-40B4-BE49-F238E27FC236}">
                <a16:creationId xmlns:a16="http://schemas.microsoft.com/office/drawing/2014/main" id="{CAD19564-C9C8-4DED-A29B-49E3C9E253AB}"/>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265831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873125"/>
          </a:xfrm>
        </p:spPr>
        <p:txBody>
          <a:bodyPr/>
          <a:lstStyle/>
          <a:p>
            <a:r>
              <a:rPr lang="fr-FR" dirty="0"/>
              <a:t>Preneur – location-acquisition</a:t>
            </a:r>
          </a:p>
        </p:txBody>
      </p:sp>
      <p:sp>
        <p:nvSpPr>
          <p:cNvPr id="3" name="Espace réservé du contenu 2"/>
          <p:cNvSpPr>
            <a:spLocks noGrp="1"/>
          </p:cNvSpPr>
          <p:nvPr>
            <p:ph idx="1"/>
          </p:nvPr>
        </p:nvSpPr>
        <p:spPr>
          <a:xfrm>
            <a:off x="838200" y="1504950"/>
            <a:ext cx="10515600" cy="4851400"/>
          </a:xfrm>
        </p:spPr>
        <p:txBody>
          <a:bodyPr>
            <a:normAutofit/>
          </a:bodyPr>
          <a:lstStyle/>
          <a:p>
            <a:pPr marL="266700" lvl="1" indent="-266700"/>
            <a:r>
              <a:rPr lang="fr-CA" dirty="0"/>
              <a:t>.17     La valeur capitalisée d'un bien amortissable loué en vertu d'un contrat de location-acquisition doit être amortie sur </a:t>
            </a:r>
            <a:r>
              <a:rPr lang="fr-CA" dirty="0">
                <a:highlight>
                  <a:srgbClr val="FFFF00"/>
                </a:highlight>
              </a:rPr>
              <a:t>la durée d'utilisation prévue pour le bien</a:t>
            </a:r>
            <a:r>
              <a:rPr lang="fr-CA" dirty="0"/>
              <a:t>, selon une formule compatible avec les pratiques du preneur en matière d'amortissement pour les immobilisations de </a:t>
            </a:r>
            <a:r>
              <a:rPr lang="fr-CA" dirty="0">
                <a:highlight>
                  <a:srgbClr val="FFFF00"/>
                </a:highlight>
              </a:rPr>
              <a:t>même nature </a:t>
            </a:r>
            <a:r>
              <a:rPr lang="fr-CA" dirty="0"/>
              <a:t>(voir le chapitre </a:t>
            </a:r>
            <a:r>
              <a:rPr lang="fr-CA" dirty="0">
                <a:hlinkClick r:id="rId3"/>
              </a:rPr>
              <a:t>3061</a:t>
            </a:r>
            <a:r>
              <a:rPr lang="fr-CA" dirty="0"/>
              <a:t>, IMMOBILISATIONS CORPORELLES). Si le bail comporte des dispositions d'accession à la propriété ou contient une option d'achat à prix de faveur, la période d'amortissement doit être la durée économique du bien. Sinon, on doit amortir le bien sur la durée du bail.</a:t>
            </a:r>
            <a:endParaRPr lang="fr-FR" dirty="0"/>
          </a:p>
          <a:p>
            <a:pPr marL="714375" lvl="2" indent="-266700"/>
            <a:r>
              <a:rPr lang="fr-FR" dirty="0"/>
              <a:t>Amortissement de l’actif – immobilisation louée (durée bail, durée vie utile)</a:t>
            </a:r>
          </a:p>
          <a:p>
            <a:endParaRPr lang="fr-FR" dirty="0"/>
          </a:p>
          <a:p>
            <a:r>
              <a:rPr lang="fr-FR" dirty="0"/>
              <a:t>Présentation distincte des autres immobilisations et obligations</a:t>
            </a:r>
            <a:endParaRPr lang="fr-FR" sz="24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16</a:t>
            </a:fld>
            <a:endParaRPr lang="fr-FR"/>
          </a:p>
        </p:txBody>
      </p:sp>
      <p:sp>
        <p:nvSpPr>
          <p:cNvPr id="5" name="Espace réservé du pied de page 4">
            <a:extLst>
              <a:ext uri="{FF2B5EF4-FFF2-40B4-BE49-F238E27FC236}">
                <a16:creationId xmlns:a16="http://schemas.microsoft.com/office/drawing/2014/main" id="{CAD19564-C9C8-4DED-A29B-49E3C9E253AB}"/>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248831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a:extLst>
              <a:ext uri="{FF2B5EF4-FFF2-40B4-BE49-F238E27FC236}">
                <a16:creationId xmlns:a16="http://schemas.microsoft.com/office/drawing/2014/main" id="{76CC0B8E-137E-4A20-A9F0-A0D3A2B35135}"/>
              </a:ext>
            </a:extLst>
          </p:cNvPr>
          <p:cNvSpPr>
            <a:spLocks noGrp="1"/>
          </p:cNvSpPr>
          <p:nvPr>
            <p:ph type="title"/>
          </p:nvPr>
        </p:nvSpPr>
        <p:spPr/>
        <p:txBody>
          <a:bodyPr/>
          <a:lstStyle/>
          <a:p>
            <a:r>
              <a:rPr lang="fr-FR" sz="3600" dirty="0"/>
              <a:t>Preneur – location-acquisition</a:t>
            </a:r>
            <a:r>
              <a:rPr lang="fr-CA" altLang="fr-FR" sz="3600" dirty="0"/>
              <a:t> - Écritures</a:t>
            </a:r>
          </a:p>
        </p:txBody>
      </p:sp>
      <p:sp>
        <p:nvSpPr>
          <p:cNvPr id="26627" name="Espace réservé du contenu 2">
            <a:extLst>
              <a:ext uri="{FF2B5EF4-FFF2-40B4-BE49-F238E27FC236}">
                <a16:creationId xmlns:a16="http://schemas.microsoft.com/office/drawing/2014/main" id="{FFF3F5E6-2442-4054-AD00-7570A4207B40}"/>
              </a:ext>
            </a:extLst>
          </p:cNvPr>
          <p:cNvSpPr>
            <a:spLocks noGrp="1"/>
          </p:cNvSpPr>
          <p:nvPr>
            <p:ph idx="1"/>
          </p:nvPr>
        </p:nvSpPr>
        <p:spPr>
          <a:xfrm>
            <a:off x="838199" y="1417639"/>
            <a:ext cx="10515599" cy="4840287"/>
          </a:xfrm>
        </p:spPr>
        <p:txBody>
          <a:bodyPr/>
          <a:lstStyle/>
          <a:p>
            <a:pPr marL="0" indent="0">
              <a:lnSpc>
                <a:spcPct val="80000"/>
              </a:lnSpc>
              <a:spcBef>
                <a:spcPct val="0"/>
              </a:spcBef>
              <a:buNone/>
            </a:pPr>
            <a:r>
              <a:rPr lang="fr-CA" altLang="fr-FR" sz="1900" dirty="0"/>
              <a:t>À la signature du contrat de location :</a:t>
            </a:r>
          </a:p>
          <a:p>
            <a:pPr marL="0" indent="0">
              <a:lnSpc>
                <a:spcPct val="80000"/>
              </a:lnSpc>
              <a:spcBef>
                <a:spcPct val="0"/>
              </a:spcBef>
              <a:buNone/>
            </a:pPr>
            <a:r>
              <a:rPr lang="fr-CA" altLang="fr-FR" sz="1900" dirty="0"/>
              <a:t>	</a:t>
            </a:r>
            <a:r>
              <a:rPr lang="fr-CA" altLang="fr-FR" sz="1900" dirty="0">
                <a:solidFill>
                  <a:srgbClr val="FF0000"/>
                </a:solidFill>
              </a:rPr>
              <a:t>Immobilisation louée</a:t>
            </a:r>
          </a:p>
          <a:p>
            <a:pPr marL="0" indent="0">
              <a:lnSpc>
                <a:spcPct val="80000"/>
              </a:lnSpc>
              <a:spcBef>
                <a:spcPct val="0"/>
              </a:spcBef>
              <a:buNone/>
            </a:pPr>
            <a:r>
              <a:rPr lang="fr-CA" altLang="fr-FR" sz="1900" dirty="0"/>
              <a:t>	@  Obligation locative</a:t>
            </a:r>
          </a:p>
          <a:p>
            <a:pPr marL="0" indent="0">
              <a:lnSpc>
                <a:spcPct val="80000"/>
              </a:lnSpc>
              <a:spcBef>
                <a:spcPct val="0"/>
              </a:spcBef>
              <a:buNone/>
            </a:pPr>
            <a:endParaRPr lang="fr-CA" altLang="fr-FR" sz="1900" dirty="0"/>
          </a:p>
          <a:p>
            <a:pPr marL="0" indent="0">
              <a:lnSpc>
                <a:spcPct val="80000"/>
              </a:lnSpc>
              <a:spcBef>
                <a:spcPct val="0"/>
              </a:spcBef>
              <a:buNone/>
            </a:pPr>
            <a:r>
              <a:rPr lang="fr-CA" altLang="fr-FR" sz="1900" dirty="0"/>
              <a:t>	Obligation locative</a:t>
            </a:r>
          </a:p>
          <a:p>
            <a:pPr marL="0" indent="0">
              <a:lnSpc>
                <a:spcPct val="80000"/>
              </a:lnSpc>
              <a:spcBef>
                <a:spcPct val="0"/>
              </a:spcBef>
              <a:buNone/>
            </a:pPr>
            <a:r>
              <a:rPr lang="fr-CA" altLang="fr-FR" sz="1900" dirty="0"/>
              <a:t>	</a:t>
            </a:r>
            <a:r>
              <a:rPr lang="fr-CA" altLang="fr-FR" sz="1900" i="1" dirty="0"/>
              <a:t>Coût des services (frais accessoires)  </a:t>
            </a:r>
          </a:p>
          <a:p>
            <a:pPr marL="0" indent="0">
              <a:lnSpc>
                <a:spcPct val="80000"/>
              </a:lnSpc>
              <a:spcBef>
                <a:spcPct val="0"/>
              </a:spcBef>
              <a:buNone/>
            </a:pPr>
            <a:r>
              <a:rPr lang="fr-CA" altLang="fr-FR" sz="1900" dirty="0"/>
              <a:t>	@  Encaisse  </a:t>
            </a:r>
            <a:r>
              <a:rPr lang="fr-CA" altLang="fr-FR" sz="1900" i="1" dirty="0"/>
              <a:t>- premier paiement location</a:t>
            </a:r>
            <a:endParaRPr lang="fr-CA" altLang="fr-FR" sz="1900" dirty="0"/>
          </a:p>
          <a:p>
            <a:pPr marL="0" indent="0">
              <a:lnSpc>
                <a:spcPct val="80000"/>
              </a:lnSpc>
              <a:spcBef>
                <a:spcPct val="0"/>
              </a:spcBef>
              <a:buNone/>
            </a:pPr>
            <a:endParaRPr lang="fr-CA" altLang="fr-FR" sz="1900" dirty="0"/>
          </a:p>
          <a:p>
            <a:pPr marL="0" indent="0">
              <a:lnSpc>
                <a:spcPct val="80000"/>
              </a:lnSpc>
              <a:spcBef>
                <a:spcPct val="0"/>
              </a:spcBef>
              <a:buNone/>
            </a:pPr>
            <a:r>
              <a:rPr lang="fr-CA" altLang="fr-FR" sz="1900" dirty="0"/>
              <a:t>À la fin de période :</a:t>
            </a:r>
          </a:p>
          <a:p>
            <a:pPr marL="0" indent="0">
              <a:lnSpc>
                <a:spcPct val="80000"/>
              </a:lnSpc>
              <a:spcBef>
                <a:spcPct val="0"/>
              </a:spcBef>
              <a:buNone/>
            </a:pPr>
            <a:r>
              <a:rPr lang="fr-CA" altLang="fr-FR" sz="1900" dirty="0"/>
              <a:t>	Amortissement</a:t>
            </a:r>
          </a:p>
          <a:p>
            <a:pPr marL="0" indent="0">
              <a:lnSpc>
                <a:spcPct val="80000"/>
              </a:lnSpc>
              <a:spcBef>
                <a:spcPct val="0"/>
              </a:spcBef>
              <a:buNone/>
            </a:pPr>
            <a:r>
              <a:rPr lang="fr-CA" altLang="fr-FR" sz="1900" dirty="0"/>
              <a:t>	@  Amortissement cumulé </a:t>
            </a:r>
            <a:r>
              <a:rPr lang="mr-IN" altLang="fr-FR" sz="1900" dirty="0">
                <a:latin typeface="Mangal" panose="02040503050203030202" pitchFamily="18" charset="0"/>
              </a:rPr>
              <a:t>–</a:t>
            </a:r>
            <a:r>
              <a:rPr lang="fr-CA" altLang="fr-FR" sz="1900" dirty="0"/>
              <a:t> Immobilisation louée</a:t>
            </a:r>
          </a:p>
          <a:p>
            <a:pPr marL="0" indent="0">
              <a:lnSpc>
                <a:spcPct val="80000"/>
              </a:lnSpc>
              <a:spcBef>
                <a:spcPct val="0"/>
              </a:spcBef>
              <a:buNone/>
            </a:pPr>
            <a:endParaRPr lang="fr-CA" altLang="fr-FR" sz="1900" dirty="0"/>
          </a:p>
          <a:p>
            <a:pPr marL="0" indent="0">
              <a:lnSpc>
                <a:spcPct val="80000"/>
              </a:lnSpc>
              <a:spcBef>
                <a:spcPct val="0"/>
              </a:spcBef>
              <a:buNone/>
            </a:pPr>
            <a:r>
              <a:rPr lang="fr-CA" altLang="fr-FR" sz="1900" dirty="0"/>
              <a:t>	Charge intérêts </a:t>
            </a:r>
            <a:r>
              <a:rPr lang="mr-IN" altLang="fr-FR" sz="1900" dirty="0">
                <a:latin typeface="Mangal" panose="02040503050203030202" pitchFamily="18" charset="0"/>
              </a:rPr>
              <a:t>–</a:t>
            </a:r>
            <a:r>
              <a:rPr lang="fr-CA" altLang="fr-FR" sz="1900" dirty="0"/>
              <a:t> obligation  - </a:t>
            </a:r>
            <a:r>
              <a:rPr lang="fr-CA" altLang="fr-FR" sz="1900" i="1" dirty="0"/>
              <a:t>intérêts théoriques courus</a:t>
            </a:r>
            <a:endParaRPr lang="fr-CA" altLang="fr-FR" sz="1900" dirty="0"/>
          </a:p>
          <a:p>
            <a:pPr marL="0" indent="0">
              <a:lnSpc>
                <a:spcPct val="80000"/>
              </a:lnSpc>
              <a:spcBef>
                <a:spcPct val="0"/>
              </a:spcBef>
              <a:buNone/>
            </a:pPr>
            <a:r>
              <a:rPr lang="fr-CA" altLang="fr-FR" sz="1900" dirty="0"/>
              <a:t>	@  Intérêts à payer</a:t>
            </a:r>
          </a:p>
          <a:p>
            <a:pPr marL="0" indent="0">
              <a:lnSpc>
                <a:spcPct val="80000"/>
              </a:lnSpc>
              <a:spcBef>
                <a:spcPct val="0"/>
              </a:spcBef>
              <a:buNone/>
            </a:pPr>
            <a:endParaRPr lang="fr-CA" altLang="fr-FR" sz="1900" dirty="0"/>
          </a:p>
          <a:p>
            <a:pPr marL="0" indent="0">
              <a:lnSpc>
                <a:spcPct val="80000"/>
              </a:lnSpc>
              <a:spcBef>
                <a:spcPct val="0"/>
              </a:spcBef>
              <a:buNone/>
            </a:pPr>
            <a:r>
              <a:rPr lang="fr-CA" altLang="fr-FR" sz="1900" dirty="0"/>
              <a:t>Lors du versement de loyer :</a:t>
            </a:r>
          </a:p>
          <a:p>
            <a:pPr marL="0" indent="0">
              <a:lnSpc>
                <a:spcPct val="80000"/>
              </a:lnSpc>
              <a:spcBef>
                <a:spcPct val="0"/>
              </a:spcBef>
              <a:buNone/>
            </a:pPr>
            <a:r>
              <a:rPr lang="fr-CA" altLang="fr-FR" sz="1900" dirty="0"/>
              <a:t>	Intérêts à payer</a:t>
            </a:r>
          </a:p>
          <a:p>
            <a:pPr marL="0" indent="0">
              <a:lnSpc>
                <a:spcPct val="80000"/>
              </a:lnSpc>
              <a:spcBef>
                <a:spcPct val="0"/>
              </a:spcBef>
              <a:buNone/>
            </a:pPr>
            <a:r>
              <a:rPr lang="fr-CA" altLang="fr-FR" sz="1900" dirty="0"/>
              <a:t>	</a:t>
            </a:r>
            <a:r>
              <a:rPr lang="fr-CA" altLang="fr-FR" sz="1900" i="1" dirty="0"/>
              <a:t>Coût des services</a:t>
            </a:r>
          </a:p>
          <a:p>
            <a:pPr marL="0" indent="0">
              <a:lnSpc>
                <a:spcPct val="80000"/>
              </a:lnSpc>
              <a:spcBef>
                <a:spcPct val="0"/>
              </a:spcBef>
              <a:buNone/>
            </a:pPr>
            <a:r>
              <a:rPr lang="fr-CA" altLang="fr-FR" sz="1900" dirty="0"/>
              <a:t>	Obligation locative</a:t>
            </a:r>
          </a:p>
          <a:p>
            <a:pPr marL="0" indent="0">
              <a:lnSpc>
                <a:spcPct val="80000"/>
              </a:lnSpc>
              <a:spcBef>
                <a:spcPct val="0"/>
              </a:spcBef>
              <a:buNone/>
            </a:pPr>
            <a:r>
              <a:rPr lang="fr-CA" altLang="fr-FR" sz="1900" dirty="0"/>
              <a:t>	@  Encaisse</a:t>
            </a:r>
            <a:endParaRPr lang="fr-CA" altLang="fr-FR" sz="2500" dirty="0"/>
          </a:p>
        </p:txBody>
      </p:sp>
      <p:sp>
        <p:nvSpPr>
          <p:cNvPr id="26628" name="Espace réservé du numéro de diapositive 3">
            <a:extLst>
              <a:ext uri="{FF2B5EF4-FFF2-40B4-BE49-F238E27FC236}">
                <a16:creationId xmlns:a16="http://schemas.microsoft.com/office/drawing/2014/main" id="{B7E287D9-E84B-4CEA-B389-8BA5FD5D590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301AEB88-5F73-43D9-935C-7D35F01BB8F9}" type="slidenum">
              <a:rPr lang="fr-FR" altLang="fr-FR" sz="1200">
                <a:solidFill>
                  <a:srgbClr val="898989"/>
                </a:solidFill>
              </a:rPr>
              <a:pPr>
                <a:spcBef>
                  <a:spcPct val="0"/>
                </a:spcBef>
                <a:buFontTx/>
                <a:buNone/>
              </a:pPr>
              <a:t>17</a:t>
            </a:fld>
            <a:endParaRPr lang="fr-FR" altLang="fr-FR" sz="120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7650" name="Titre 1">
            <a:extLst>
              <a:ext uri="{FF2B5EF4-FFF2-40B4-BE49-F238E27FC236}">
                <a16:creationId xmlns:a16="http://schemas.microsoft.com/office/drawing/2014/main" id="{15377873-0CFE-4696-8D7A-7C6B52B3682A}"/>
              </a:ext>
            </a:extLst>
          </p:cNvPr>
          <p:cNvSpPr>
            <a:spLocks noGrp="1"/>
          </p:cNvSpPr>
          <p:nvPr>
            <p:ph type="title"/>
          </p:nvPr>
        </p:nvSpPr>
        <p:spPr/>
        <p:txBody>
          <a:bodyPr/>
          <a:lstStyle/>
          <a:p>
            <a:pPr eaLnBrk="1" hangingPunct="1"/>
            <a:r>
              <a:rPr lang="fr-CA" altLang="fr-FR" sz="3600" dirty="0"/>
              <a:t>Exercice </a:t>
            </a:r>
            <a:r>
              <a:rPr lang="mr-IN" altLang="fr-FR" sz="3600" dirty="0">
                <a:latin typeface="Mangal" panose="02040503050203030202" pitchFamily="18" charset="0"/>
              </a:rPr>
              <a:t>–</a:t>
            </a:r>
            <a:r>
              <a:rPr lang="fr-CA" altLang="fr-FR" sz="3600" dirty="0"/>
              <a:t> préparer les écritures</a:t>
            </a:r>
            <a:endParaRPr lang="fr-CA" altLang="fr-FR" dirty="0"/>
          </a:p>
        </p:txBody>
      </p:sp>
      <p:sp>
        <p:nvSpPr>
          <p:cNvPr id="27651" name="Espace réservé du contenu 2">
            <a:extLst>
              <a:ext uri="{FF2B5EF4-FFF2-40B4-BE49-F238E27FC236}">
                <a16:creationId xmlns:a16="http://schemas.microsoft.com/office/drawing/2014/main" id="{348CFE77-4BC3-4453-8C2D-51B5844120BE}"/>
              </a:ext>
            </a:extLst>
          </p:cNvPr>
          <p:cNvSpPr>
            <a:spLocks noGrp="1"/>
          </p:cNvSpPr>
          <p:nvPr>
            <p:ph idx="1"/>
          </p:nvPr>
        </p:nvSpPr>
        <p:spPr/>
        <p:txBody>
          <a:bodyPr/>
          <a:lstStyle/>
          <a:p>
            <a:pPr marL="0" indent="0">
              <a:buNone/>
            </a:pPr>
            <a:r>
              <a:rPr lang="fr-FR" altLang="fr-FR" dirty="0"/>
              <a:t>Valeur de l'actif :			88 822 $</a:t>
            </a:r>
          </a:p>
          <a:p>
            <a:pPr marL="0" indent="0">
              <a:buNone/>
            </a:pPr>
            <a:r>
              <a:rPr lang="fr-FR" altLang="fr-FR" dirty="0"/>
              <a:t>Durée utile :				5 ans </a:t>
            </a:r>
          </a:p>
          <a:p>
            <a:pPr marL="0" indent="0">
              <a:buNone/>
            </a:pPr>
            <a:r>
              <a:rPr lang="fr-FR" altLang="fr-FR" dirty="0"/>
              <a:t>Durée location :			5 ans </a:t>
            </a:r>
          </a:p>
          <a:p>
            <a:pPr marL="0" indent="0">
              <a:buNone/>
            </a:pPr>
            <a:r>
              <a:rPr lang="fr-FR" altLang="fr-FR" dirty="0"/>
              <a:t>Paiement annuel location :	22 000 $ </a:t>
            </a:r>
            <a:r>
              <a:rPr lang="fr-FR" altLang="fr-FR" sz="2400" dirty="0"/>
              <a:t>début période </a:t>
            </a:r>
            <a:endParaRPr lang="fr-FR" altLang="fr-FR" dirty="0"/>
          </a:p>
          <a:p>
            <a:pPr marL="0" indent="0">
              <a:buNone/>
            </a:pPr>
            <a:r>
              <a:rPr lang="fr-FR" altLang="fr-FR" dirty="0"/>
              <a:t>Valeur résiduelle :			0 $</a:t>
            </a:r>
          </a:p>
          <a:p>
            <a:pPr marL="0" indent="0">
              <a:buNone/>
            </a:pPr>
            <a:endParaRPr lang="fr-FR" altLang="fr-FR" dirty="0"/>
          </a:p>
          <a:p>
            <a:pPr marL="0" indent="0">
              <a:buNone/>
            </a:pPr>
            <a:r>
              <a:rPr lang="fr-FR" altLang="fr-FR" dirty="0"/>
              <a:t>Taux? 		</a:t>
            </a:r>
            <a:r>
              <a:rPr lang="fr-FR" altLang="fr-FR" dirty="0">
                <a:solidFill>
                  <a:srgbClr val="FF0000"/>
                </a:solidFill>
              </a:rPr>
              <a:t>12 %</a:t>
            </a:r>
            <a:r>
              <a:rPr lang="fr-FR" altLang="fr-FR" dirty="0"/>
              <a:t> </a:t>
            </a:r>
            <a:endParaRPr lang="fr-CA" altLang="fr-FR" dirty="0"/>
          </a:p>
        </p:txBody>
      </p:sp>
      <p:sp>
        <p:nvSpPr>
          <p:cNvPr id="27652" name="Espace réservé du numéro de diapositive 3">
            <a:extLst>
              <a:ext uri="{FF2B5EF4-FFF2-40B4-BE49-F238E27FC236}">
                <a16:creationId xmlns:a16="http://schemas.microsoft.com/office/drawing/2014/main" id="{0F0D6AD3-8F94-4A61-BED5-70F2414A401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3C305A43-890F-4047-B0A7-75644D6AC6B9}" type="slidenum">
              <a:rPr lang="fr-FR" altLang="fr-FR" sz="1200">
                <a:solidFill>
                  <a:srgbClr val="898989"/>
                </a:solidFill>
              </a:rPr>
              <a:pPr>
                <a:spcBef>
                  <a:spcPct val="0"/>
                </a:spcBef>
                <a:buFontTx/>
                <a:buNone/>
              </a:pPr>
              <a:t>18</a:t>
            </a:fld>
            <a:endParaRPr lang="fr-FR" altLang="fr-FR" sz="1200">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8674" name="Titre 1">
            <a:extLst>
              <a:ext uri="{FF2B5EF4-FFF2-40B4-BE49-F238E27FC236}">
                <a16:creationId xmlns:a16="http://schemas.microsoft.com/office/drawing/2014/main" id="{13AACE9C-DD38-44F6-9CBD-CD05660912AB}"/>
              </a:ext>
            </a:extLst>
          </p:cNvPr>
          <p:cNvSpPr>
            <a:spLocks noGrp="1"/>
          </p:cNvSpPr>
          <p:nvPr>
            <p:ph type="title"/>
          </p:nvPr>
        </p:nvSpPr>
        <p:spPr/>
        <p:txBody>
          <a:bodyPr/>
          <a:lstStyle/>
          <a:p>
            <a:pPr eaLnBrk="1" hangingPunct="1"/>
            <a:endParaRPr lang="fr-CA" altLang="fr-FR"/>
          </a:p>
        </p:txBody>
      </p:sp>
      <p:sp>
        <p:nvSpPr>
          <p:cNvPr id="28675" name="Espace réservé du contenu 2">
            <a:extLst>
              <a:ext uri="{FF2B5EF4-FFF2-40B4-BE49-F238E27FC236}">
                <a16:creationId xmlns:a16="http://schemas.microsoft.com/office/drawing/2014/main" id="{80E04D2A-3BDB-427B-8309-2A2B5779A0BE}"/>
              </a:ext>
            </a:extLst>
          </p:cNvPr>
          <p:cNvSpPr>
            <a:spLocks noGrp="1"/>
          </p:cNvSpPr>
          <p:nvPr>
            <p:ph idx="1"/>
          </p:nvPr>
        </p:nvSpPr>
        <p:spPr/>
        <p:txBody>
          <a:bodyPr>
            <a:normAutofit fontScale="92500" lnSpcReduction="10000"/>
          </a:bodyPr>
          <a:lstStyle/>
          <a:p>
            <a:pPr marL="0" indent="0">
              <a:buNone/>
              <a:tabLst>
                <a:tab pos="1349375" algn="l"/>
                <a:tab pos="2960688" algn="l"/>
                <a:tab pos="5291138" algn="l"/>
              </a:tabLst>
            </a:pPr>
            <a:r>
              <a:rPr lang="fr-FR" altLang="fr-FR" sz="3000" b="1" dirty="0"/>
              <a:t>	Intérêts</a:t>
            </a:r>
            <a:r>
              <a:rPr lang="fr-FR" altLang="fr-FR" sz="3000" dirty="0"/>
              <a:t> </a:t>
            </a:r>
            <a:r>
              <a:rPr lang="fr-FR" altLang="fr-FR" sz="3000" dirty="0">
                <a:solidFill>
                  <a:schemeClr val="accent1"/>
                </a:solidFill>
              </a:rPr>
              <a:t>– 12 %</a:t>
            </a:r>
            <a:r>
              <a:rPr lang="fr-FR" altLang="fr-FR" sz="3000" dirty="0"/>
              <a:t>	</a:t>
            </a:r>
            <a:r>
              <a:rPr lang="fr-FR" altLang="fr-FR" sz="3000" b="1" dirty="0"/>
              <a:t>Versements</a:t>
            </a:r>
            <a:r>
              <a:rPr lang="fr-FR" altLang="fr-FR" sz="3000" dirty="0"/>
              <a:t> 		</a:t>
            </a:r>
            <a:r>
              <a:rPr lang="fr-FR" altLang="fr-FR" sz="3000" b="1" dirty="0"/>
              <a:t>Solde</a:t>
            </a:r>
            <a:r>
              <a:rPr lang="fr-FR" altLang="fr-FR" sz="3000" dirty="0"/>
              <a:t> </a:t>
            </a:r>
          </a:p>
          <a:p>
            <a:pPr marL="0" indent="0">
              <a:buNone/>
            </a:pPr>
            <a:r>
              <a:rPr lang="fr-FR" altLang="fr-FR" sz="2600" dirty="0"/>
              <a:t>									88 822 </a:t>
            </a:r>
          </a:p>
          <a:p>
            <a:pPr marL="0" indent="0">
              <a:buNone/>
            </a:pPr>
            <a:r>
              <a:rPr lang="fr-FR" altLang="fr-FR" sz="2200" dirty="0"/>
              <a:t>1\01\x1 						22 000 			66 822 </a:t>
            </a:r>
          </a:p>
          <a:p>
            <a:pPr marL="0" indent="0">
              <a:buNone/>
            </a:pPr>
            <a:r>
              <a:rPr lang="fr-FR" altLang="fr-FR" sz="2200" dirty="0"/>
              <a:t>31\12\x1 	8 019 							74 840 </a:t>
            </a:r>
          </a:p>
          <a:p>
            <a:pPr marL="0" indent="0">
              <a:buNone/>
            </a:pPr>
            <a:r>
              <a:rPr lang="fr-FR" altLang="fr-FR" sz="2200" dirty="0"/>
              <a:t>1\01\x2 						22 000 			52 840 </a:t>
            </a:r>
          </a:p>
          <a:p>
            <a:pPr marL="0" indent="0">
              <a:buNone/>
            </a:pPr>
            <a:r>
              <a:rPr lang="fr-FR" altLang="fr-FR" sz="2200" dirty="0"/>
              <a:t>31\12\x2 	6 341 							59 181 </a:t>
            </a:r>
          </a:p>
          <a:p>
            <a:pPr marL="0" indent="0">
              <a:buNone/>
            </a:pPr>
            <a:r>
              <a:rPr lang="fr-FR" altLang="fr-FR" sz="2200" dirty="0"/>
              <a:t>1\01\x3 						22 000 			37 181 </a:t>
            </a:r>
          </a:p>
          <a:p>
            <a:pPr marL="0" indent="0">
              <a:buNone/>
            </a:pPr>
            <a:r>
              <a:rPr lang="fr-FR" altLang="fr-FR" sz="2200" dirty="0"/>
              <a:t>31\12\x3 	4 462 							41 643 </a:t>
            </a:r>
          </a:p>
          <a:p>
            <a:pPr marL="0" indent="0">
              <a:buNone/>
            </a:pPr>
            <a:r>
              <a:rPr lang="fr-FR" altLang="fr-FR" sz="2200" dirty="0"/>
              <a:t>1\01\x4 						22 000 			19 643 </a:t>
            </a:r>
          </a:p>
          <a:p>
            <a:pPr marL="0" indent="0">
              <a:buNone/>
            </a:pPr>
            <a:r>
              <a:rPr lang="fr-FR" altLang="fr-FR" sz="2200" dirty="0"/>
              <a:t>31\12\x4 	2 357							22 000 </a:t>
            </a:r>
          </a:p>
          <a:p>
            <a:pPr marL="0" indent="0">
              <a:buNone/>
            </a:pPr>
            <a:r>
              <a:rPr lang="fr-FR" altLang="fr-FR" sz="2200" dirty="0"/>
              <a:t>1\01\x5 						22 000 			        0  </a:t>
            </a:r>
            <a:endParaRPr lang="fr-CA" altLang="fr-FR" sz="2600" dirty="0"/>
          </a:p>
        </p:txBody>
      </p:sp>
      <p:sp>
        <p:nvSpPr>
          <p:cNvPr id="28676" name="Espace réservé du numéro de diapositive 3">
            <a:extLst>
              <a:ext uri="{FF2B5EF4-FFF2-40B4-BE49-F238E27FC236}">
                <a16:creationId xmlns:a16="http://schemas.microsoft.com/office/drawing/2014/main" id="{0E1A5764-30CE-4D00-89AA-69DB8B8A79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1D9311C2-2E9B-49C3-96AB-7B5E9B061B06}" type="slidenum">
              <a:rPr lang="fr-FR" altLang="fr-FR" sz="1200">
                <a:solidFill>
                  <a:srgbClr val="898989"/>
                </a:solidFill>
              </a:rPr>
              <a:pPr>
                <a:spcBef>
                  <a:spcPct val="0"/>
                </a:spcBef>
                <a:buFontTx/>
                <a:buNone/>
              </a:pPr>
              <a:t>19</a:t>
            </a:fld>
            <a:endParaRPr lang="fr-FR" altLang="fr-FR" sz="1200">
              <a:solidFill>
                <a:srgbClr val="89898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9698" name="Titre 1">
            <a:extLst>
              <a:ext uri="{FF2B5EF4-FFF2-40B4-BE49-F238E27FC236}">
                <a16:creationId xmlns:a16="http://schemas.microsoft.com/office/drawing/2014/main" id="{219B8564-690F-4766-B6C3-8304F2685270}"/>
              </a:ext>
            </a:extLst>
          </p:cNvPr>
          <p:cNvSpPr>
            <a:spLocks noGrp="1"/>
          </p:cNvSpPr>
          <p:nvPr>
            <p:ph type="title"/>
          </p:nvPr>
        </p:nvSpPr>
        <p:spPr/>
        <p:txBody>
          <a:bodyPr/>
          <a:lstStyle/>
          <a:p>
            <a:pPr eaLnBrk="1" hangingPunct="1"/>
            <a:endParaRPr lang="fr-CA" altLang="fr-FR"/>
          </a:p>
        </p:txBody>
      </p:sp>
      <p:sp>
        <p:nvSpPr>
          <p:cNvPr id="29699" name="Espace réservé du contenu 2">
            <a:extLst>
              <a:ext uri="{FF2B5EF4-FFF2-40B4-BE49-F238E27FC236}">
                <a16:creationId xmlns:a16="http://schemas.microsoft.com/office/drawing/2014/main" id="{976340D1-C034-4C06-9DD7-3CDB2E222238}"/>
              </a:ext>
            </a:extLst>
          </p:cNvPr>
          <p:cNvSpPr>
            <a:spLocks noGrp="1"/>
          </p:cNvSpPr>
          <p:nvPr>
            <p:ph idx="1"/>
          </p:nvPr>
        </p:nvSpPr>
        <p:spPr/>
        <p:txBody>
          <a:bodyPr/>
          <a:lstStyle/>
          <a:p>
            <a:pPr marL="0" indent="0">
              <a:spcBef>
                <a:spcPct val="0"/>
              </a:spcBef>
              <a:buNone/>
            </a:pPr>
            <a:r>
              <a:rPr lang="fr-FR" altLang="fr-FR" sz="2200" b="1" dirty="0"/>
              <a:t>1\01\x1</a:t>
            </a:r>
            <a:r>
              <a:rPr lang="fr-FR" altLang="fr-FR" sz="2200" dirty="0"/>
              <a:t> </a:t>
            </a:r>
          </a:p>
          <a:p>
            <a:pPr marL="0" indent="0">
              <a:spcBef>
                <a:spcPct val="0"/>
              </a:spcBef>
              <a:buNone/>
            </a:pPr>
            <a:r>
              <a:rPr lang="fr-FR" altLang="fr-FR" sz="2200" dirty="0"/>
              <a:t>Immobilisation louée			88 822 </a:t>
            </a:r>
          </a:p>
          <a:p>
            <a:pPr marL="0" indent="0">
              <a:spcBef>
                <a:spcPct val="0"/>
              </a:spcBef>
              <a:buNone/>
            </a:pPr>
            <a:r>
              <a:rPr lang="fr-FR" altLang="fr-FR" sz="2200" dirty="0"/>
              <a:t>@  Obligation locative 				88 822 </a:t>
            </a:r>
          </a:p>
          <a:p>
            <a:pPr marL="0" indent="0">
              <a:spcBef>
                <a:spcPct val="0"/>
              </a:spcBef>
              <a:buNone/>
            </a:pPr>
            <a:r>
              <a:rPr lang="fr-FR" altLang="fr-FR" sz="2200" i="1" dirty="0"/>
              <a:t>(valeur actualisée 5 versements de 22 000 $, début de période, à 12%)</a:t>
            </a:r>
            <a:r>
              <a:rPr lang="fr-FR" altLang="fr-FR" sz="2200" dirty="0"/>
              <a:t> </a:t>
            </a:r>
          </a:p>
          <a:p>
            <a:pPr marL="0" indent="0">
              <a:spcBef>
                <a:spcPct val="0"/>
              </a:spcBef>
              <a:buNone/>
            </a:pPr>
            <a:endParaRPr lang="fr-FR" altLang="fr-FR" sz="2200" dirty="0"/>
          </a:p>
          <a:p>
            <a:pPr marL="0" indent="0">
              <a:spcBef>
                <a:spcPct val="0"/>
              </a:spcBef>
              <a:buNone/>
            </a:pPr>
            <a:r>
              <a:rPr lang="fr-FR" altLang="fr-FR" sz="2200" dirty="0"/>
              <a:t>Obligation locative 			22 000 </a:t>
            </a:r>
          </a:p>
          <a:p>
            <a:pPr marL="0" indent="0">
              <a:spcBef>
                <a:spcPct val="0"/>
              </a:spcBef>
              <a:buNone/>
            </a:pPr>
            <a:r>
              <a:rPr lang="fr-FR" altLang="fr-FR" sz="2200" dirty="0"/>
              <a:t>@  Encaisse 					22 000 </a:t>
            </a:r>
          </a:p>
          <a:p>
            <a:pPr marL="0" indent="0">
              <a:spcBef>
                <a:spcPct val="0"/>
              </a:spcBef>
              <a:buNone/>
            </a:pPr>
            <a:endParaRPr lang="fr-FR" altLang="fr-FR" sz="2200" b="1" dirty="0"/>
          </a:p>
          <a:p>
            <a:pPr marL="0" indent="0">
              <a:spcBef>
                <a:spcPct val="0"/>
              </a:spcBef>
              <a:buNone/>
            </a:pPr>
            <a:r>
              <a:rPr lang="fr-FR" altLang="fr-FR" sz="2200" b="1" dirty="0"/>
              <a:t>31\12\x1</a:t>
            </a:r>
            <a:r>
              <a:rPr lang="fr-FR" altLang="fr-FR" sz="2200" dirty="0"/>
              <a:t> </a:t>
            </a:r>
          </a:p>
          <a:p>
            <a:pPr marL="0" indent="0">
              <a:spcBef>
                <a:spcPct val="0"/>
              </a:spcBef>
              <a:buNone/>
            </a:pPr>
            <a:r>
              <a:rPr lang="fr-FR" altLang="fr-FR" sz="2200" dirty="0"/>
              <a:t>Amortissement 				17 764 </a:t>
            </a:r>
          </a:p>
          <a:p>
            <a:pPr marL="0" indent="0">
              <a:spcBef>
                <a:spcPct val="0"/>
              </a:spcBef>
              <a:buNone/>
            </a:pPr>
            <a:r>
              <a:rPr lang="fr-FR" altLang="fr-FR" sz="2200" dirty="0"/>
              <a:t>@  Amortissement cumulé 			17 764 </a:t>
            </a:r>
          </a:p>
          <a:p>
            <a:pPr marL="0" indent="0">
              <a:spcBef>
                <a:spcPct val="0"/>
              </a:spcBef>
              <a:buNone/>
            </a:pPr>
            <a:endParaRPr lang="fr-FR" altLang="fr-FR" sz="2200" dirty="0"/>
          </a:p>
          <a:p>
            <a:pPr marL="0" indent="0">
              <a:spcBef>
                <a:spcPct val="0"/>
              </a:spcBef>
              <a:buNone/>
            </a:pPr>
            <a:r>
              <a:rPr lang="fr-FR" altLang="fr-FR" sz="2200" dirty="0"/>
              <a:t>Charge intérêts - </a:t>
            </a:r>
            <a:r>
              <a:rPr lang="fr-FR" altLang="fr-FR" sz="2200" dirty="0" err="1"/>
              <a:t>oblig</a:t>
            </a:r>
            <a:r>
              <a:rPr lang="fr-FR" altLang="fr-FR" sz="2200" dirty="0"/>
              <a:t> </a:t>
            </a:r>
            <a:r>
              <a:rPr lang="fr-FR" altLang="fr-FR" sz="2200" dirty="0" err="1"/>
              <a:t>loc</a:t>
            </a:r>
            <a:r>
              <a:rPr lang="fr-FR" altLang="fr-FR" sz="2200" dirty="0"/>
              <a:t> 		8 019 </a:t>
            </a:r>
          </a:p>
          <a:p>
            <a:pPr marL="0" indent="0">
              <a:spcBef>
                <a:spcPct val="0"/>
              </a:spcBef>
              <a:buNone/>
            </a:pPr>
            <a:r>
              <a:rPr lang="fr-FR" altLang="fr-FR" sz="2200" dirty="0"/>
              <a:t>@  Intérêts à payer 				8 019</a:t>
            </a:r>
            <a:endParaRPr lang="fr-CA" altLang="fr-FR" sz="3000" dirty="0"/>
          </a:p>
        </p:txBody>
      </p:sp>
      <p:sp>
        <p:nvSpPr>
          <p:cNvPr id="29700" name="Espace réservé du numéro de diapositive 3">
            <a:extLst>
              <a:ext uri="{FF2B5EF4-FFF2-40B4-BE49-F238E27FC236}">
                <a16:creationId xmlns:a16="http://schemas.microsoft.com/office/drawing/2014/main" id="{09AF6E45-F338-44C9-B19A-C8BEB69D46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BF386D6D-0931-4CA6-B265-3C22AB4776CF}" type="slidenum">
              <a:rPr lang="fr-FR" altLang="fr-FR" sz="1200">
                <a:solidFill>
                  <a:srgbClr val="898989"/>
                </a:solidFill>
              </a:rPr>
              <a:pPr>
                <a:spcBef>
                  <a:spcPct val="0"/>
                </a:spcBef>
                <a:buFontTx/>
                <a:buNone/>
              </a:pPr>
              <a:t>20</a:t>
            </a:fld>
            <a:endParaRPr lang="fr-FR" altLang="fr-FR" sz="1200">
              <a:solidFill>
                <a:srgbClr val="89898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0722" name="Titre 1">
            <a:extLst>
              <a:ext uri="{FF2B5EF4-FFF2-40B4-BE49-F238E27FC236}">
                <a16:creationId xmlns:a16="http://schemas.microsoft.com/office/drawing/2014/main" id="{814C2EB4-AF4E-4C3B-9B26-C35F524E795E}"/>
              </a:ext>
            </a:extLst>
          </p:cNvPr>
          <p:cNvSpPr>
            <a:spLocks noGrp="1"/>
          </p:cNvSpPr>
          <p:nvPr>
            <p:ph type="title"/>
          </p:nvPr>
        </p:nvSpPr>
        <p:spPr/>
        <p:txBody>
          <a:bodyPr/>
          <a:lstStyle/>
          <a:p>
            <a:pPr eaLnBrk="1" hangingPunct="1"/>
            <a:endParaRPr lang="fr-CA" altLang="fr-FR"/>
          </a:p>
        </p:txBody>
      </p:sp>
      <p:sp>
        <p:nvSpPr>
          <p:cNvPr id="30723" name="Espace réservé du contenu 2">
            <a:extLst>
              <a:ext uri="{FF2B5EF4-FFF2-40B4-BE49-F238E27FC236}">
                <a16:creationId xmlns:a16="http://schemas.microsoft.com/office/drawing/2014/main" id="{C8BBAE48-F2B3-47DC-BA16-F377B7252712}"/>
              </a:ext>
            </a:extLst>
          </p:cNvPr>
          <p:cNvSpPr>
            <a:spLocks noGrp="1"/>
          </p:cNvSpPr>
          <p:nvPr>
            <p:ph idx="1"/>
          </p:nvPr>
        </p:nvSpPr>
        <p:spPr/>
        <p:txBody>
          <a:bodyPr/>
          <a:lstStyle/>
          <a:p>
            <a:pPr marL="0" indent="0">
              <a:spcBef>
                <a:spcPct val="0"/>
              </a:spcBef>
              <a:buNone/>
            </a:pPr>
            <a:r>
              <a:rPr lang="fr-FR" altLang="fr-FR" sz="2400" b="1" dirty="0"/>
              <a:t>1\01\x2</a:t>
            </a:r>
            <a:r>
              <a:rPr lang="fr-FR" altLang="fr-FR" sz="2400" dirty="0"/>
              <a:t> </a:t>
            </a:r>
          </a:p>
          <a:p>
            <a:pPr marL="0" indent="0">
              <a:spcBef>
                <a:spcPct val="0"/>
              </a:spcBef>
              <a:buNone/>
            </a:pPr>
            <a:r>
              <a:rPr lang="fr-FR" altLang="fr-FR" sz="2400" dirty="0"/>
              <a:t>Intérêts à payer 			8 019 </a:t>
            </a:r>
          </a:p>
          <a:p>
            <a:pPr marL="0" indent="0">
              <a:spcBef>
                <a:spcPct val="0"/>
              </a:spcBef>
              <a:buNone/>
            </a:pPr>
            <a:r>
              <a:rPr lang="fr-FR" altLang="fr-FR" sz="2400" dirty="0"/>
              <a:t>Obligation locative 			13 981 </a:t>
            </a:r>
          </a:p>
          <a:p>
            <a:pPr marL="0" indent="0">
              <a:spcBef>
                <a:spcPct val="0"/>
              </a:spcBef>
              <a:buNone/>
            </a:pPr>
            <a:r>
              <a:rPr lang="fr-FR" altLang="fr-FR" sz="2400" dirty="0"/>
              <a:t>@  Encaisse 					22 000 </a:t>
            </a:r>
          </a:p>
          <a:p>
            <a:pPr marL="0" indent="0">
              <a:spcBef>
                <a:spcPct val="0"/>
              </a:spcBef>
              <a:buNone/>
            </a:pPr>
            <a:endParaRPr lang="fr-FR" altLang="fr-FR" sz="2400" b="1" dirty="0"/>
          </a:p>
          <a:p>
            <a:pPr marL="0" indent="0">
              <a:spcBef>
                <a:spcPct val="0"/>
              </a:spcBef>
              <a:buNone/>
            </a:pPr>
            <a:r>
              <a:rPr lang="fr-FR" altLang="fr-FR" sz="2400" b="1" dirty="0"/>
              <a:t>31\12\x2</a:t>
            </a:r>
            <a:r>
              <a:rPr lang="fr-FR" altLang="fr-FR" sz="2400" dirty="0"/>
              <a:t> </a:t>
            </a:r>
          </a:p>
          <a:p>
            <a:pPr marL="0" indent="0">
              <a:spcBef>
                <a:spcPct val="0"/>
              </a:spcBef>
              <a:buNone/>
            </a:pPr>
            <a:r>
              <a:rPr lang="fr-FR" altLang="fr-FR" sz="2400" dirty="0"/>
              <a:t>Amortissement 			17 764 </a:t>
            </a:r>
          </a:p>
          <a:p>
            <a:pPr marL="0" indent="0">
              <a:spcBef>
                <a:spcPct val="0"/>
              </a:spcBef>
              <a:buNone/>
            </a:pPr>
            <a:r>
              <a:rPr lang="fr-FR" altLang="fr-FR" sz="2400" dirty="0"/>
              <a:t>@  Amortissement cumulé 			17 764 </a:t>
            </a:r>
          </a:p>
          <a:p>
            <a:pPr marL="0" indent="0">
              <a:spcBef>
                <a:spcPct val="0"/>
              </a:spcBef>
              <a:buNone/>
            </a:pPr>
            <a:endParaRPr lang="fr-FR" altLang="fr-FR" sz="2400" dirty="0"/>
          </a:p>
          <a:p>
            <a:pPr marL="0" indent="0">
              <a:spcBef>
                <a:spcPct val="0"/>
              </a:spcBef>
              <a:buNone/>
            </a:pPr>
            <a:r>
              <a:rPr lang="fr-FR" altLang="fr-FR" sz="2400" dirty="0"/>
              <a:t>Charge intérêts - </a:t>
            </a:r>
            <a:r>
              <a:rPr lang="fr-FR" altLang="fr-FR" sz="2400" dirty="0" err="1"/>
              <a:t>oblig</a:t>
            </a:r>
            <a:r>
              <a:rPr lang="fr-FR" altLang="fr-FR" sz="2400" dirty="0"/>
              <a:t> </a:t>
            </a:r>
            <a:r>
              <a:rPr lang="fr-FR" altLang="fr-FR" sz="2400" dirty="0" err="1"/>
              <a:t>loc</a:t>
            </a:r>
            <a:r>
              <a:rPr lang="fr-FR" altLang="fr-FR" sz="2400" dirty="0"/>
              <a:t> 		  6 341 </a:t>
            </a:r>
          </a:p>
          <a:p>
            <a:pPr marL="0" indent="0">
              <a:spcBef>
                <a:spcPct val="0"/>
              </a:spcBef>
              <a:buNone/>
            </a:pPr>
            <a:r>
              <a:rPr lang="fr-FR" altLang="fr-FR" sz="2400" dirty="0"/>
              <a:t>@  Intérêts à payer 				  6 341 </a:t>
            </a:r>
            <a:endParaRPr lang="fr-CA" altLang="fr-FR" dirty="0"/>
          </a:p>
        </p:txBody>
      </p:sp>
      <p:sp>
        <p:nvSpPr>
          <p:cNvPr id="30724" name="Espace réservé du numéro de diapositive 3">
            <a:extLst>
              <a:ext uri="{FF2B5EF4-FFF2-40B4-BE49-F238E27FC236}">
                <a16:creationId xmlns:a16="http://schemas.microsoft.com/office/drawing/2014/main" id="{5911BFB4-757F-4BFB-9ECF-F86D9B3FF56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48E84840-2CA3-4564-8317-B07A5402DFAB}" type="slidenum">
              <a:rPr lang="fr-FR" altLang="fr-FR" sz="1200">
                <a:solidFill>
                  <a:srgbClr val="898989"/>
                </a:solidFill>
              </a:rPr>
              <a:pPr>
                <a:spcBef>
                  <a:spcPct val="0"/>
                </a:spcBef>
                <a:buFontTx/>
                <a:buNone/>
              </a:pPr>
              <a:t>21</a:t>
            </a:fld>
            <a:endParaRPr lang="fr-FR" altLang="fr-FR" sz="1200">
              <a:solidFill>
                <a:srgbClr val="89898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solidFill>
                  <a:srgbClr val="FF0000"/>
                </a:solidFill>
              </a:rPr>
              <a:t>Preneur – location-exploitation</a:t>
            </a:r>
          </a:p>
        </p:txBody>
      </p:sp>
      <p:sp>
        <p:nvSpPr>
          <p:cNvPr id="3" name="Espace réservé du contenu 2"/>
          <p:cNvSpPr>
            <a:spLocks noGrp="1"/>
          </p:cNvSpPr>
          <p:nvPr>
            <p:ph idx="1"/>
          </p:nvPr>
        </p:nvSpPr>
        <p:spPr/>
        <p:txBody>
          <a:bodyPr/>
          <a:lstStyle/>
          <a:p>
            <a:r>
              <a:rPr lang="fr-CA" dirty="0"/>
              <a:t>.28     </a:t>
            </a:r>
            <a:r>
              <a:rPr lang="fr-CA" i="1" dirty="0"/>
              <a:t>Les loyers exigibles en vertu d'un contrat de location-exploitation doivent être imputés aux résultats selon une formule linéaire appliquée sur la durée du bail, sauf si une autre formule à la fois logique et systématique permet de mieux respecter la courbe suivant laquelle l'utilisateur du bien en tire avantage.</a:t>
            </a:r>
          </a:p>
          <a:p>
            <a:pPr lvl="1"/>
            <a:r>
              <a:rPr lang="fr-FR" dirty="0"/>
              <a:t>Imputer aux résultats selon une formule linéaire appliquée sur la durée du bail</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22</a:t>
            </a:fld>
            <a:endParaRPr lang="fr-FR"/>
          </a:p>
        </p:txBody>
      </p:sp>
      <p:sp>
        <p:nvSpPr>
          <p:cNvPr id="5" name="Espace réservé du pied de page 4">
            <a:extLst>
              <a:ext uri="{FF2B5EF4-FFF2-40B4-BE49-F238E27FC236}">
                <a16:creationId xmlns:a16="http://schemas.microsoft.com/office/drawing/2014/main" id="{6CFAAA36-9033-4E60-B355-A173429BD39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502944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Exemple  </a:t>
            </a:r>
            <a:r>
              <a:rPr lang="fr-CA" sz="2800" i="1" dirty="0"/>
              <a:t>(Guide)</a:t>
            </a:r>
            <a:endParaRPr lang="fr-CA" sz="2800" dirty="0"/>
          </a:p>
        </p:txBody>
      </p:sp>
      <p:sp>
        <p:nvSpPr>
          <p:cNvPr id="3" name="Espace réservé du contenu 2"/>
          <p:cNvSpPr>
            <a:spLocks noGrp="1"/>
          </p:cNvSpPr>
          <p:nvPr>
            <p:ph idx="1"/>
          </p:nvPr>
        </p:nvSpPr>
        <p:spPr/>
        <p:txBody>
          <a:bodyPr>
            <a:normAutofit/>
          </a:bodyPr>
          <a:lstStyle/>
          <a:p>
            <a:pPr marL="0" indent="0">
              <a:buNone/>
            </a:pPr>
            <a:r>
              <a:rPr lang="fr-CA" dirty="0"/>
              <a:t>La société Simon vient de conclure un contrat de location d’une machine. Le bail couvre une période de cinq ans et les paiements seront de 1 500 $ par mois. </a:t>
            </a:r>
          </a:p>
          <a:p>
            <a:pPr marL="0" indent="0">
              <a:buNone/>
            </a:pPr>
            <a:r>
              <a:rPr lang="fr-CA" dirty="0"/>
              <a:t>Au terme du bail, la machine reviendra au bailleur. Elle devrait avoir une durée économique de sept ans et sa juste valeur est de 30 000 $. </a:t>
            </a:r>
          </a:p>
          <a:p>
            <a:pPr marL="0" indent="0">
              <a:buNone/>
            </a:pPr>
            <a:r>
              <a:rPr lang="fr-CA" dirty="0"/>
              <a:t>La valeur actualisée des paiements exigibles en vertu du bail est de 24 200 $.</a:t>
            </a:r>
          </a:p>
          <a:p>
            <a:pPr marL="0" indent="0">
              <a:buNone/>
            </a:pPr>
            <a:r>
              <a:rPr lang="fr-CA" dirty="0"/>
              <a:t>=&gt; Déterminez le traitement comptable – analyse des critères</a:t>
            </a:r>
          </a:p>
        </p:txBody>
      </p:sp>
      <p:sp>
        <p:nvSpPr>
          <p:cNvPr id="4" name="Espace réservé du numéro de diapositive 3"/>
          <p:cNvSpPr>
            <a:spLocks noGrp="1"/>
          </p:cNvSpPr>
          <p:nvPr>
            <p:ph type="sldNum" sz="quarter" idx="12"/>
          </p:nvPr>
        </p:nvSpPr>
        <p:spPr/>
        <p:txBody>
          <a:bodyPr/>
          <a:lstStyle/>
          <a:p>
            <a:fld id="{F60418E2-045D-4E06-9C53-3F708179A7E0}" type="slidenum">
              <a:rPr lang="fr-CA" smtClean="0"/>
              <a:t>23</a:t>
            </a:fld>
            <a:endParaRPr lang="fr-CA"/>
          </a:p>
        </p:txBody>
      </p:sp>
      <p:sp>
        <p:nvSpPr>
          <p:cNvPr id="5" name="Espace réservé du pied de page 4">
            <a:extLst>
              <a:ext uri="{FF2B5EF4-FFF2-40B4-BE49-F238E27FC236}">
                <a16:creationId xmlns:a16="http://schemas.microsoft.com/office/drawing/2014/main" id="{EE04C64A-934D-49F9-BE00-B5A18419CDA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553497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516267-F045-4C5A-AC86-C63DE70FDF78}"/>
              </a:ext>
            </a:extLst>
          </p:cNvPr>
          <p:cNvSpPr>
            <a:spLocks noGrp="1"/>
          </p:cNvSpPr>
          <p:nvPr>
            <p:ph type="title"/>
          </p:nvPr>
        </p:nvSpPr>
        <p:spPr/>
        <p:txBody>
          <a:bodyPr/>
          <a:lstStyle/>
          <a:p>
            <a:r>
              <a:rPr lang="fr-CA" dirty="0"/>
              <a:t>Exemple  - solution</a:t>
            </a:r>
            <a:endParaRPr lang="fr-FR" dirty="0"/>
          </a:p>
        </p:txBody>
      </p:sp>
      <p:sp>
        <p:nvSpPr>
          <p:cNvPr id="3" name="Espace réservé du contenu 2">
            <a:extLst>
              <a:ext uri="{FF2B5EF4-FFF2-40B4-BE49-F238E27FC236}">
                <a16:creationId xmlns:a16="http://schemas.microsoft.com/office/drawing/2014/main" id="{6DC3461A-88CC-458B-A1EE-6FD36FEA8B25}"/>
              </a:ext>
            </a:extLst>
          </p:cNvPr>
          <p:cNvSpPr>
            <a:spLocks noGrp="1"/>
          </p:cNvSpPr>
          <p:nvPr>
            <p:ph idx="1"/>
          </p:nvPr>
        </p:nvSpPr>
        <p:spPr/>
        <p:txBody>
          <a:bodyPr>
            <a:normAutofit fontScale="85000" lnSpcReduction="10000"/>
          </a:bodyPr>
          <a:lstStyle/>
          <a:p>
            <a:pPr marL="0" indent="0">
              <a:buNone/>
            </a:pPr>
            <a:r>
              <a:rPr lang="fr-FR" b="1" dirty="0"/>
              <a:t>Preneur</a:t>
            </a:r>
            <a:r>
              <a:rPr lang="fr-FR" dirty="0"/>
              <a:t> : transfert des avantages et des risques – au moins </a:t>
            </a:r>
            <a:r>
              <a:rPr lang="fr-FR" u="sng" dirty="0"/>
              <a:t>une</a:t>
            </a:r>
            <a:r>
              <a:rPr lang="fr-FR" dirty="0"/>
              <a:t> des conditions</a:t>
            </a:r>
          </a:p>
          <a:p>
            <a:r>
              <a:rPr lang="fr-FR" dirty="0"/>
              <a:t>Pratiquement assuré que le preneur accédera à la propriété du bien au terme du bail </a:t>
            </a:r>
          </a:p>
          <a:p>
            <a:pPr lvl="1"/>
            <a:r>
              <a:rPr lang="fr-FR" dirty="0"/>
              <a:t>prévu de céder le titre de propriété ou option d’achat à prix de faveur</a:t>
            </a:r>
          </a:p>
          <a:p>
            <a:pPr lvl="1"/>
            <a:r>
              <a:rPr lang="fr-FR" dirty="0">
                <a:solidFill>
                  <a:srgbClr val="FF0000"/>
                </a:solidFill>
              </a:rPr>
              <a:t>NON, « </a:t>
            </a:r>
            <a:r>
              <a:rPr lang="fr-CA" dirty="0">
                <a:solidFill>
                  <a:srgbClr val="FF0000"/>
                </a:solidFill>
              </a:rPr>
              <a:t>Au terme du bail, la machine reviendra au bailleur. »</a:t>
            </a:r>
            <a:endParaRPr lang="fr-FR" dirty="0">
              <a:solidFill>
                <a:srgbClr val="FF0000"/>
              </a:solidFill>
            </a:endParaRPr>
          </a:p>
          <a:p>
            <a:r>
              <a:rPr lang="fr-FR" dirty="0"/>
              <a:t>Durée du bail est telle que le preneur jouira de pratiquement tous les avantages économiques que l’on prévoit pouvoir tirer de l’utilisation du bien </a:t>
            </a:r>
          </a:p>
          <a:p>
            <a:pPr lvl="1"/>
            <a:r>
              <a:rPr lang="fr-FR" dirty="0">
                <a:solidFill>
                  <a:srgbClr val="0070C0"/>
                </a:solidFill>
              </a:rPr>
              <a:t>(&gt;75%)  </a:t>
            </a:r>
            <a:r>
              <a:rPr lang="fr-FR" dirty="0">
                <a:solidFill>
                  <a:srgbClr val="FF0000"/>
                </a:solidFill>
              </a:rPr>
              <a:t>5 / 7 ans = 71 % près du 75 % - question de jugement mais probablement NON</a:t>
            </a:r>
            <a:endParaRPr lang="fr-FR" dirty="0">
              <a:solidFill>
                <a:srgbClr val="0070C0"/>
              </a:solidFill>
            </a:endParaRPr>
          </a:p>
          <a:p>
            <a:r>
              <a:rPr lang="fr-FR" dirty="0"/>
              <a:t>Bailleur est assuré, aux termes du bail, de récupérer le capital investi dans le bien loué et de gagner un rendement sur cet investissement </a:t>
            </a:r>
          </a:p>
          <a:p>
            <a:pPr lvl="1"/>
            <a:r>
              <a:rPr lang="fr-FR" dirty="0">
                <a:solidFill>
                  <a:srgbClr val="0070C0"/>
                </a:solidFill>
              </a:rPr>
              <a:t>(va PME &gt;90% JV bien loué)  </a:t>
            </a:r>
            <a:r>
              <a:rPr lang="fr-FR" dirty="0">
                <a:solidFill>
                  <a:srgbClr val="FF0000"/>
                </a:solidFill>
              </a:rPr>
              <a:t>24 200 / 30 000 = 81 % NON</a:t>
            </a:r>
          </a:p>
          <a:p>
            <a:pPr lvl="1"/>
            <a:r>
              <a:rPr lang="fr-FR" dirty="0">
                <a:solidFill>
                  <a:srgbClr val="FF0000"/>
                </a:solidFill>
              </a:rPr>
              <a:t>Donc, location exploitation pour le preneur</a:t>
            </a:r>
            <a:endParaRPr lang="fr-FR" dirty="0">
              <a:solidFill>
                <a:srgbClr val="0070C0"/>
              </a:solidFill>
            </a:endParaRPr>
          </a:p>
          <a:p>
            <a:pPr marL="0" indent="0">
              <a:buNone/>
            </a:pPr>
            <a:endParaRPr lang="fr-FR" dirty="0"/>
          </a:p>
        </p:txBody>
      </p:sp>
      <p:sp>
        <p:nvSpPr>
          <p:cNvPr id="4" name="Espace réservé du pied de page 3">
            <a:extLst>
              <a:ext uri="{FF2B5EF4-FFF2-40B4-BE49-F238E27FC236}">
                <a16:creationId xmlns:a16="http://schemas.microsoft.com/office/drawing/2014/main" id="{A167374C-4735-4FB5-B9ED-2836CBF1C7A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4D8D3251-E787-4CE5-80F7-71DC93DCB085}"/>
              </a:ext>
            </a:extLst>
          </p:cNvPr>
          <p:cNvSpPr>
            <a:spLocks noGrp="1"/>
          </p:cNvSpPr>
          <p:nvPr>
            <p:ph type="sldNum" sz="quarter" idx="12"/>
          </p:nvPr>
        </p:nvSpPr>
        <p:spPr/>
        <p:txBody>
          <a:bodyPr/>
          <a:lstStyle/>
          <a:p>
            <a:fld id="{83AE54BF-1D3E-4F4A-82B1-C4E42C537D7C}" type="slidenum">
              <a:rPr lang="fr-FR" smtClean="0"/>
              <a:t>24</a:t>
            </a:fld>
            <a:endParaRPr lang="fr-FR"/>
          </a:p>
        </p:txBody>
      </p:sp>
    </p:spTree>
    <p:extLst>
      <p:ext uri="{BB962C8B-B14F-4D97-AF65-F5344CB8AC3E}">
        <p14:creationId xmlns:p14="http://schemas.microsoft.com/office/powerpoint/2010/main" val="4268254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27AE55A1-03CE-4CF8-9AA3-F3041670F36D}"/>
              </a:ext>
            </a:extLst>
          </p:cNvPr>
          <p:cNvSpPr>
            <a:spLocks noGrp="1" noChangeArrowheads="1"/>
          </p:cNvSpPr>
          <p:nvPr>
            <p:ph idx="1"/>
          </p:nvPr>
        </p:nvSpPr>
        <p:spPr>
          <a:xfrm>
            <a:off x="838199" y="1600200"/>
            <a:ext cx="10515599" cy="4406900"/>
          </a:xfrm>
        </p:spPr>
        <p:txBody>
          <a:bodyPr/>
          <a:lstStyle/>
          <a:p>
            <a:pPr marL="107950" indent="0">
              <a:buNone/>
            </a:pPr>
            <a:r>
              <a:rPr lang="fr-CA" altLang="en-US" dirty="0"/>
              <a:t>Quel est le taux de rendement d’un contrat de location ayant les modalités suivantes :</a:t>
            </a:r>
          </a:p>
          <a:p>
            <a:pPr marL="107950" indent="0">
              <a:buNone/>
            </a:pPr>
            <a:endParaRPr lang="fr-CA" altLang="en-US" dirty="0"/>
          </a:p>
          <a:p>
            <a:pPr marL="107950" indent="0">
              <a:lnSpc>
                <a:spcPct val="80000"/>
              </a:lnSpc>
              <a:buNone/>
            </a:pPr>
            <a:r>
              <a:rPr lang="fr-CA" altLang="en-US" dirty="0"/>
              <a:t>Coût de l’actif : 		34 869 $</a:t>
            </a:r>
          </a:p>
          <a:p>
            <a:pPr marL="107950" indent="0">
              <a:lnSpc>
                <a:spcPct val="80000"/>
              </a:lnSpc>
              <a:buNone/>
            </a:pPr>
            <a:r>
              <a:rPr lang="fr-CA" altLang="en-US" dirty="0"/>
              <a:t>Période :			4 ans (début de période)</a:t>
            </a:r>
          </a:p>
          <a:p>
            <a:pPr marL="107950" indent="0">
              <a:lnSpc>
                <a:spcPct val="80000"/>
              </a:lnSpc>
              <a:buNone/>
            </a:pPr>
            <a:r>
              <a:rPr lang="fr-CA" altLang="en-US" dirty="0"/>
              <a:t>Paiement annuel : 	10 000 $</a:t>
            </a:r>
          </a:p>
          <a:p>
            <a:pPr marL="107950" indent="0">
              <a:buNone/>
            </a:pPr>
            <a:endParaRPr lang="fr-CA" altLang="en-US" dirty="0"/>
          </a:p>
          <a:p>
            <a:pPr marL="107950" indent="0">
              <a:buNone/>
            </a:pPr>
            <a:r>
              <a:rPr lang="fr-CA" altLang="en-US" dirty="0"/>
              <a:t>	</a:t>
            </a:r>
            <a:r>
              <a:rPr lang="fr-CA" altLang="en-US" dirty="0">
                <a:solidFill>
                  <a:srgbClr val="FF0000"/>
                </a:solidFill>
              </a:rPr>
              <a:t>=&gt;  10 %</a:t>
            </a:r>
          </a:p>
          <a:p>
            <a:pPr marL="107950" indent="0">
              <a:buNone/>
            </a:pPr>
            <a:endParaRPr lang="fr-CA" altLang="en-US" dirty="0"/>
          </a:p>
          <a:p>
            <a:pPr marL="107950" indent="0">
              <a:buNone/>
            </a:pPr>
            <a:endParaRPr lang="fr-CA" altLang="en-US" dirty="0"/>
          </a:p>
          <a:p>
            <a:pPr marL="107950" indent="0">
              <a:buNone/>
            </a:pPr>
            <a:endParaRPr lang="fr-CA" altLang="en-US" dirty="0"/>
          </a:p>
          <a:p>
            <a:pPr marL="107950" indent="0">
              <a:buNone/>
            </a:pPr>
            <a:endParaRPr lang="fr-CA" altLang="en-US" dirty="0"/>
          </a:p>
        </p:txBody>
      </p:sp>
      <p:sp>
        <p:nvSpPr>
          <p:cNvPr id="19459" name="Rectangle 2">
            <a:extLst>
              <a:ext uri="{FF2B5EF4-FFF2-40B4-BE49-F238E27FC236}">
                <a16:creationId xmlns:a16="http://schemas.microsoft.com/office/drawing/2014/main" id="{D17309B4-E03F-448F-94D6-1C840BE6D3AF}"/>
              </a:ext>
            </a:extLst>
          </p:cNvPr>
          <p:cNvSpPr>
            <a:spLocks noGrp="1" noChangeArrowheads="1"/>
          </p:cNvSpPr>
          <p:nvPr>
            <p:ph type="title"/>
          </p:nvPr>
        </p:nvSpPr>
        <p:spPr/>
        <p:txBody>
          <a:bodyPr/>
          <a:lstStyle/>
          <a:p>
            <a:pPr eaLnBrk="1" hangingPunct="1"/>
            <a:r>
              <a:rPr lang="fr-CA" altLang="fr-FR" sz="3400"/>
              <a:t>Exercice 1 </a:t>
            </a:r>
            <a:endParaRPr lang="en-US" altLang="fr-FR" sz="3400"/>
          </a:p>
        </p:txBody>
      </p:sp>
      <p:sp>
        <p:nvSpPr>
          <p:cNvPr id="19460" name="Slide Number Placeholder 1">
            <a:extLst>
              <a:ext uri="{FF2B5EF4-FFF2-40B4-BE49-F238E27FC236}">
                <a16:creationId xmlns:a16="http://schemas.microsoft.com/office/drawing/2014/main" id="{D578A499-41CA-486E-8E35-08E3E490D16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548B1B1E-EBF8-4FA6-BBF6-BD6BB2D6D543}" type="slidenum">
              <a:rPr lang="fr-FR" altLang="fr-FR" sz="1200">
                <a:solidFill>
                  <a:srgbClr val="898989"/>
                </a:solidFill>
              </a:rPr>
              <a:pPr>
                <a:spcBef>
                  <a:spcPct val="0"/>
                </a:spcBef>
                <a:buFontTx/>
                <a:buNone/>
              </a:pPr>
              <a:t>25</a:t>
            </a:fld>
            <a:endParaRPr lang="fr-FR" altLang="fr-FR" sz="1200">
              <a:solidFill>
                <a:srgbClr val="89898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1D390C7F-292D-42A8-B389-FFFCAAF0847D}"/>
              </a:ext>
            </a:extLst>
          </p:cNvPr>
          <p:cNvSpPr>
            <a:spLocks noGrp="1" noChangeArrowheads="1"/>
          </p:cNvSpPr>
          <p:nvPr>
            <p:ph idx="1"/>
          </p:nvPr>
        </p:nvSpPr>
        <p:spPr>
          <a:xfrm>
            <a:off x="838199" y="1600200"/>
            <a:ext cx="10515599" cy="4406900"/>
          </a:xfrm>
        </p:spPr>
        <p:txBody>
          <a:bodyPr>
            <a:normAutofit/>
          </a:bodyPr>
          <a:lstStyle/>
          <a:p>
            <a:pPr marL="107950" indent="0">
              <a:lnSpc>
                <a:spcPct val="80000"/>
              </a:lnSpc>
              <a:buNone/>
            </a:pPr>
            <a:r>
              <a:rPr lang="fr-CA" altLang="en-US" sz="2700" dirty="0"/>
              <a:t>Quel est le montant de location annuel (paiement annuel début de période) qu’un bailleur devrait exiger si :</a:t>
            </a:r>
          </a:p>
          <a:p>
            <a:pPr marL="107950" indent="0">
              <a:lnSpc>
                <a:spcPct val="80000"/>
              </a:lnSpc>
              <a:buNone/>
            </a:pPr>
            <a:endParaRPr lang="fr-CA" altLang="en-US" sz="2700" dirty="0"/>
          </a:p>
          <a:p>
            <a:pPr marL="107950" indent="0">
              <a:lnSpc>
                <a:spcPct val="60000"/>
              </a:lnSpc>
              <a:buNone/>
            </a:pPr>
            <a:r>
              <a:rPr lang="fr-CA" altLang="en-US" sz="2700" dirty="0"/>
              <a:t>Coût de l’actif : 		500 000 $</a:t>
            </a:r>
          </a:p>
          <a:p>
            <a:pPr marL="107950" indent="0">
              <a:lnSpc>
                <a:spcPct val="60000"/>
              </a:lnSpc>
              <a:buNone/>
            </a:pPr>
            <a:r>
              <a:rPr lang="fr-CA" altLang="en-US" sz="2700" dirty="0"/>
              <a:t>Période :			4 ans (début de période)</a:t>
            </a:r>
          </a:p>
          <a:p>
            <a:pPr marL="107950" indent="0">
              <a:lnSpc>
                <a:spcPct val="60000"/>
              </a:lnSpc>
              <a:buNone/>
            </a:pPr>
            <a:r>
              <a:rPr lang="fr-CA" altLang="en-US" sz="2700" dirty="0"/>
              <a:t>Rendement recherché : 	8 %</a:t>
            </a:r>
          </a:p>
          <a:p>
            <a:pPr marL="107950" indent="0">
              <a:lnSpc>
                <a:spcPct val="80000"/>
              </a:lnSpc>
              <a:buNone/>
            </a:pPr>
            <a:endParaRPr lang="fr-CA" altLang="en-US" sz="2700" dirty="0"/>
          </a:p>
          <a:p>
            <a:pPr marL="107950" indent="0">
              <a:lnSpc>
                <a:spcPct val="80000"/>
              </a:lnSpc>
              <a:buNone/>
            </a:pPr>
            <a:r>
              <a:rPr lang="fr-CA" altLang="en-US" sz="2700" dirty="0"/>
              <a:t>	</a:t>
            </a:r>
            <a:r>
              <a:rPr lang="fr-CA" altLang="en-US" sz="2700" dirty="0">
                <a:solidFill>
                  <a:srgbClr val="FF0000"/>
                </a:solidFill>
              </a:rPr>
              <a:t>=&gt;  139 778 $</a:t>
            </a:r>
          </a:p>
          <a:p>
            <a:pPr marL="107950" indent="0">
              <a:lnSpc>
                <a:spcPct val="80000"/>
              </a:lnSpc>
              <a:buNone/>
            </a:pPr>
            <a:endParaRPr lang="fr-CA" altLang="en-US" sz="2700" dirty="0">
              <a:solidFill>
                <a:srgbClr val="3366FF"/>
              </a:solidFill>
            </a:endParaRPr>
          </a:p>
          <a:p>
            <a:pPr marL="107950" indent="0">
              <a:lnSpc>
                <a:spcPct val="80000"/>
              </a:lnSpc>
              <a:buNone/>
            </a:pPr>
            <a:r>
              <a:rPr lang="fr-CA" altLang="en-US" sz="2700" dirty="0">
                <a:solidFill>
                  <a:srgbClr val="3366FF"/>
                </a:solidFill>
              </a:rPr>
              <a:t>Préparer le tableau d’amortissement de la dette</a:t>
            </a:r>
            <a:endParaRPr lang="fr-CA" altLang="en-US" sz="2700" dirty="0"/>
          </a:p>
          <a:p>
            <a:pPr marL="107950" indent="0">
              <a:lnSpc>
                <a:spcPct val="80000"/>
              </a:lnSpc>
              <a:buNone/>
            </a:pPr>
            <a:endParaRPr lang="fr-CA" altLang="en-US" sz="2700" dirty="0"/>
          </a:p>
          <a:p>
            <a:pPr marL="107950" indent="0">
              <a:lnSpc>
                <a:spcPct val="80000"/>
              </a:lnSpc>
              <a:buNone/>
            </a:pPr>
            <a:endParaRPr lang="fr-CA" altLang="en-US" sz="2700" dirty="0"/>
          </a:p>
          <a:p>
            <a:pPr marL="107950" indent="0">
              <a:lnSpc>
                <a:spcPct val="80000"/>
              </a:lnSpc>
              <a:buNone/>
            </a:pPr>
            <a:endParaRPr lang="fr-CA" altLang="en-US" sz="2700" dirty="0"/>
          </a:p>
          <a:p>
            <a:pPr marL="107950" indent="0">
              <a:lnSpc>
                <a:spcPct val="80000"/>
              </a:lnSpc>
              <a:buNone/>
            </a:pPr>
            <a:endParaRPr lang="fr-CA" altLang="en-US" sz="2700" dirty="0"/>
          </a:p>
        </p:txBody>
      </p:sp>
      <p:sp>
        <p:nvSpPr>
          <p:cNvPr id="20483" name="Rectangle 2">
            <a:extLst>
              <a:ext uri="{FF2B5EF4-FFF2-40B4-BE49-F238E27FC236}">
                <a16:creationId xmlns:a16="http://schemas.microsoft.com/office/drawing/2014/main" id="{576485ED-FC56-4D23-8BB3-41EDDFC11071}"/>
              </a:ext>
            </a:extLst>
          </p:cNvPr>
          <p:cNvSpPr>
            <a:spLocks noGrp="1" noChangeArrowheads="1"/>
          </p:cNvSpPr>
          <p:nvPr>
            <p:ph type="title"/>
          </p:nvPr>
        </p:nvSpPr>
        <p:spPr/>
        <p:txBody>
          <a:bodyPr/>
          <a:lstStyle/>
          <a:p>
            <a:pPr eaLnBrk="1" hangingPunct="1"/>
            <a:r>
              <a:rPr lang="fr-CA" altLang="fr-FR" sz="3400"/>
              <a:t>Exercice 2 </a:t>
            </a:r>
            <a:endParaRPr lang="en-US" altLang="fr-FR" sz="3400"/>
          </a:p>
        </p:txBody>
      </p:sp>
      <p:sp>
        <p:nvSpPr>
          <p:cNvPr id="20484" name="Slide Number Placeholder 1">
            <a:extLst>
              <a:ext uri="{FF2B5EF4-FFF2-40B4-BE49-F238E27FC236}">
                <a16:creationId xmlns:a16="http://schemas.microsoft.com/office/drawing/2014/main" id="{E7BC8616-CEC2-4A97-8153-2BB7DDF4C69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17928421-86D2-4AC8-B05E-9DCF3B2FAE58}" type="slidenum">
              <a:rPr lang="fr-FR" altLang="fr-FR" sz="1200">
                <a:solidFill>
                  <a:srgbClr val="898989"/>
                </a:solidFill>
              </a:rPr>
              <a:pPr>
                <a:spcBef>
                  <a:spcPct val="0"/>
                </a:spcBef>
                <a:buFontTx/>
                <a:buNone/>
              </a:pPr>
              <a:t>26</a:t>
            </a:fld>
            <a:endParaRPr lang="fr-FR" altLang="fr-FR" sz="1200">
              <a:solidFill>
                <a:srgbClr val="89898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00525F42-6BBA-4067-92AB-600A78B505CA}"/>
              </a:ext>
            </a:extLst>
          </p:cNvPr>
          <p:cNvSpPr>
            <a:spLocks noGrp="1" noChangeArrowheads="1"/>
          </p:cNvSpPr>
          <p:nvPr>
            <p:ph idx="1"/>
          </p:nvPr>
        </p:nvSpPr>
        <p:spPr>
          <a:xfrm>
            <a:off x="1981200" y="1600200"/>
            <a:ext cx="8229600" cy="4406900"/>
          </a:xfrm>
        </p:spPr>
        <p:txBody>
          <a:bodyPr>
            <a:normAutofit lnSpcReduction="10000"/>
          </a:bodyPr>
          <a:lstStyle/>
          <a:p>
            <a:pPr marL="107950" indent="0">
              <a:buNone/>
              <a:tabLst>
                <a:tab pos="1611313" algn="l"/>
                <a:tab pos="3951288" algn="l"/>
                <a:tab pos="5291138" algn="l"/>
                <a:tab pos="6815138" algn="l"/>
              </a:tabLst>
            </a:pPr>
            <a:r>
              <a:rPr lang="fr-CA" altLang="en-US" sz="3000" b="1" dirty="0"/>
              <a:t>	Versement	Capital	Intérêt	Solde</a:t>
            </a:r>
          </a:p>
          <a:p>
            <a:pPr marL="107950" indent="0">
              <a:buNone/>
              <a:tabLst>
                <a:tab pos="2228850" algn="l"/>
                <a:tab pos="4229100" algn="l"/>
                <a:tab pos="5600700" algn="l"/>
                <a:tab pos="7086600" algn="l"/>
              </a:tabLst>
            </a:pPr>
            <a:r>
              <a:rPr lang="fr-CA" altLang="en-US" sz="2200" dirty="0"/>
              <a:t>							 		                     500 000</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X1	139 778	139 778	         0	360 222</a:t>
            </a:r>
          </a:p>
          <a:p>
            <a:pPr marL="107950" indent="0">
              <a:buNone/>
              <a:tabLst>
                <a:tab pos="2228850" algn="l"/>
                <a:tab pos="4229100" algn="l"/>
                <a:tab pos="5600700" algn="l"/>
                <a:tab pos="7086600" algn="l"/>
              </a:tabLst>
            </a:pPr>
            <a:r>
              <a:rPr lang="fr-CA" altLang="en-US" sz="2200" dirty="0"/>
              <a:t>31 déc. X1	           0	           0	28 818	389 040</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X2	139 778	139 778	         0	249 262</a:t>
            </a:r>
          </a:p>
          <a:p>
            <a:pPr marL="107950" indent="0">
              <a:buNone/>
              <a:tabLst>
                <a:tab pos="2228850" algn="l"/>
                <a:tab pos="4229100" algn="l"/>
                <a:tab pos="5600700" algn="l"/>
                <a:tab pos="7086600" algn="l"/>
              </a:tabLst>
            </a:pPr>
            <a:r>
              <a:rPr lang="fr-CA" altLang="en-US" sz="2200" dirty="0"/>
              <a:t>31 déc. X2	           0	           0	19 941	269 203</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X3	139 778	139 778	         0	129 425</a:t>
            </a:r>
          </a:p>
          <a:p>
            <a:pPr marL="107950" indent="0">
              <a:buNone/>
              <a:tabLst>
                <a:tab pos="2228850" algn="l"/>
                <a:tab pos="4229100" algn="l"/>
                <a:tab pos="5600700" algn="l"/>
                <a:tab pos="7086600" algn="l"/>
              </a:tabLst>
            </a:pPr>
            <a:r>
              <a:rPr lang="fr-CA" altLang="en-US" sz="2200" dirty="0"/>
              <a:t>31 déc. X3	           0	           0	10 353	139 778</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X4	139 778	139 778	         0	           0</a:t>
            </a:r>
          </a:p>
          <a:p>
            <a:pPr marL="107950" indent="0">
              <a:buNone/>
              <a:tabLst>
                <a:tab pos="2228850" algn="l"/>
                <a:tab pos="4229100" algn="l"/>
                <a:tab pos="5600700" algn="l"/>
                <a:tab pos="7086600" algn="l"/>
              </a:tabLst>
            </a:pPr>
            <a:endParaRPr lang="fr-CA" altLang="en-US" sz="2200" dirty="0"/>
          </a:p>
          <a:p>
            <a:pPr marL="107950" indent="0">
              <a:buNone/>
              <a:tabLst>
                <a:tab pos="2228850" algn="l"/>
                <a:tab pos="4229100" algn="l"/>
                <a:tab pos="5600700" algn="l"/>
                <a:tab pos="7086600" algn="l"/>
              </a:tabLst>
            </a:pPr>
            <a:endParaRPr lang="fr-CA" altLang="en-US" sz="2200" dirty="0"/>
          </a:p>
          <a:p>
            <a:pPr marL="107950" indent="0">
              <a:buNone/>
              <a:tabLst>
                <a:tab pos="2228850" algn="l"/>
                <a:tab pos="4229100" algn="l"/>
                <a:tab pos="5600700" algn="l"/>
                <a:tab pos="7086600" algn="l"/>
              </a:tabLst>
            </a:pPr>
            <a:endParaRPr lang="fr-CA" altLang="en-US" sz="2200" dirty="0"/>
          </a:p>
        </p:txBody>
      </p:sp>
      <p:sp>
        <p:nvSpPr>
          <p:cNvPr id="21507" name="Rectangle 2">
            <a:extLst>
              <a:ext uri="{FF2B5EF4-FFF2-40B4-BE49-F238E27FC236}">
                <a16:creationId xmlns:a16="http://schemas.microsoft.com/office/drawing/2014/main" id="{E9940722-6FFD-45B7-A8B0-A115B0AE2A7A}"/>
              </a:ext>
            </a:extLst>
          </p:cNvPr>
          <p:cNvSpPr>
            <a:spLocks noGrp="1" noChangeArrowheads="1"/>
          </p:cNvSpPr>
          <p:nvPr>
            <p:ph type="title"/>
          </p:nvPr>
        </p:nvSpPr>
        <p:spPr/>
        <p:txBody>
          <a:bodyPr/>
          <a:lstStyle/>
          <a:p>
            <a:pPr eaLnBrk="1" hangingPunct="1"/>
            <a:r>
              <a:rPr lang="fr-CA" altLang="fr-FR" sz="3400"/>
              <a:t>Exercice 2 </a:t>
            </a:r>
            <a:endParaRPr lang="en-US" altLang="fr-FR" sz="3400"/>
          </a:p>
        </p:txBody>
      </p:sp>
      <p:sp>
        <p:nvSpPr>
          <p:cNvPr id="21508" name="Slide Number Placeholder 1">
            <a:extLst>
              <a:ext uri="{FF2B5EF4-FFF2-40B4-BE49-F238E27FC236}">
                <a16:creationId xmlns:a16="http://schemas.microsoft.com/office/drawing/2014/main" id="{D891CD54-9D61-4248-87C0-93DE232F836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4849F105-C058-4DD9-B9AD-958BC7D75F56}" type="slidenum">
              <a:rPr lang="fr-FR" altLang="fr-FR" sz="1200">
                <a:solidFill>
                  <a:srgbClr val="898989"/>
                </a:solidFill>
              </a:rPr>
              <a:pPr>
                <a:spcBef>
                  <a:spcPct val="0"/>
                </a:spcBef>
                <a:buFontTx/>
                <a:buNone/>
              </a:pPr>
              <a:t>27</a:t>
            </a:fld>
            <a:endParaRPr lang="fr-FR" altLang="fr-FR" sz="1200">
              <a:solidFill>
                <a:srgbClr val="89898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7158C936-B8E9-44EA-B858-D63AA2182C45}"/>
              </a:ext>
            </a:extLst>
          </p:cNvPr>
          <p:cNvSpPr>
            <a:spLocks noGrp="1" noChangeArrowheads="1"/>
          </p:cNvSpPr>
          <p:nvPr>
            <p:ph idx="1"/>
          </p:nvPr>
        </p:nvSpPr>
        <p:spPr>
          <a:xfrm>
            <a:off x="904875" y="1600200"/>
            <a:ext cx="10372725" cy="4406900"/>
          </a:xfrm>
        </p:spPr>
        <p:txBody>
          <a:bodyPr>
            <a:normAutofit/>
          </a:bodyPr>
          <a:lstStyle/>
          <a:p>
            <a:pPr marL="107950" indent="0">
              <a:lnSpc>
                <a:spcPct val="80000"/>
              </a:lnSpc>
              <a:buNone/>
            </a:pPr>
            <a:r>
              <a:rPr lang="fr-CA" altLang="en-US" dirty="0"/>
              <a:t>Quel est le montant de location annuel (paiement annuel début de période) qu’un bailleur devrait exiger si :</a:t>
            </a:r>
          </a:p>
          <a:p>
            <a:pPr marL="107950" indent="0">
              <a:lnSpc>
                <a:spcPct val="80000"/>
              </a:lnSpc>
              <a:buNone/>
            </a:pPr>
            <a:endParaRPr lang="fr-CA" altLang="en-US" dirty="0"/>
          </a:p>
          <a:p>
            <a:pPr marL="107950" indent="0">
              <a:lnSpc>
                <a:spcPct val="80000"/>
              </a:lnSpc>
              <a:buNone/>
            </a:pPr>
            <a:r>
              <a:rPr lang="fr-CA" altLang="en-US" dirty="0"/>
              <a:t>Coût de l’actif : 		200 000 $</a:t>
            </a:r>
          </a:p>
          <a:p>
            <a:pPr marL="107950" indent="0">
              <a:lnSpc>
                <a:spcPct val="80000"/>
              </a:lnSpc>
              <a:buNone/>
            </a:pPr>
            <a:r>
              <a:rPr lang="fr-CA" altLang="en-US" dirty="0"/>
              <a:t>Période :			5 ans (début de période)</a:t>
            </a:r>
          </a:p>
          <a:p>
            <a:pPr marL="107950" indent="0">
              <a:lnSpc>
                <a:spcPct val="80000"/>
              </a:lnSpc>
              <a:buNone/>
            </a:pPr>
            <a:r>
              <a:rPr lang="fr-CA" altLang="en-US" dirty="0"/>
              <a:t>Rendement recherché : 	10 %</a:t>
            </a:r>
          </a:p>
          <a:p>
            <a:pPr marL="107950" indent="0">
              <a:lnSpc>
                <a:spcPct val="80000"/>
              </a:lnSpc>
              <a:buNone/>
            </a:pPr>
            <a:endParaRPr lang="fr-CA" altLang="en-US" dirty="0"/>
          </a:p>
          <a:p>
            <a:pPr marL="107950" indent="0">
              <a:lnSpc>
                <a:spcPct val="80000"/>
              </a:lnSpc>
              <a:buNone/>
            </a:pPr>
            <a:r>
              <a:rPr lang="fr-CA" altLang="en-US" dirty="0"/>
              <a:t>	</a:t>
            </a:r>
            <a:r>
              <a:rPr lang="fr-CA" altLang="en-US" dirty="0">
                <a:solidFill>
                  <a:srgbClr val="FF0000"/>
                </a:solidFill>
              </a:rPr>
              <a:t>=&gt;  47 963 $</a:t>
            </a:r>
            <a:endParaRPr lang="fr-CA" altLang="en-US" sz="3000" dirty="0">
              <a:solidFill>
                <a:srgbClr val="FF0000"/>
              </a:solidFill>
            </a:endParaRPr>
          </a:p>
          <a:p>
            <a:pPr marL="107950" indent="0">
              <a:lnSpc>
                <a:spcPct val="80000"/>
              </a:lnSpc>
              <a:buNone/>
            </a:pPr>
            <a:r>
              <a:rPr lang="fr-CA" altLang="en-US" sz="3000" dirty="0">
                <a:solidFill>
                  <a:srgbClr val="3366FF"/>
                </a:solidFill>
              </a:rPr>
              <a:t>Préparer le tableau d’amortissement de la dette</a:t>
            </a:r>
            <a:endParaRPr lang="fr-CA" altLang="en-US" sz="3000" dirty="0"/>
          </a:p>
          <a:p>
            <a:pPr marL="107950" indent="0">
              <a:lnSpc>
                <a:spcPct val="80000"/>
              </a:lnSpc>
              <a:buNone/>
            </a:pPr>
            <a:endParaRPr lang="fr-CA" altLang="en-US" sz="3000" dirty="0"/>
          </a:p>
          <a:p>
            <a:pPr marL="107950" indent="0">
              <a:lnSpc>
                <a:spcPct val="80000"/>
              </a:lnSpc>
              <a:buNone/>
            </a:pPr>
            <a:endParaRPr lang="fr-CA" altLang="en-US" sz="3000" dirty="0"/>
          </a:p>
          <a:p>
            <a:pPr marL="107950" indent="0">
              <a:lnSpc>
                <a:spcPct val="80000"/>
              </a:lnSpc>
              <a:buNone/>
            </a:pPr>
            <a:endParaRPr lang="fr-CA" altLang="en-US" sz="3000" dirty="0"/>
          </a:p>
          <a:p>
            <a:pPr marL="107950" indent="0">
              <a:lnSpc>
                <a:spcPct val="80000"/>
              </a:lnSpc>
              <a:buNone/>
            </a:pPr>
            <a:endParaRPr lang="fr-CA" altLang="en-US" sz="3000" dirty="0"/>
          </a:p>
        </p:txBody>
      </p:sp>
      <p:sp>
        <p:nvSpPr>
          <p:cNvPr id="22531" name="Rectangle 2">
            <a:extLst>
              <a:ext uri="{FF2B5EF4-FFF2-40B4-BE49-F238E27FC236}">
                <a16:creationId xmlns:a16="http://schemas.microsoft.com/office/drawing/2014/main" id="{37D23C77-F883-4A72-9839-27A3A74295B6}"/>
              </a:ext>
            </a:extLst>
          </p:cNvPr>
          <p:cNvSpPr>
            <a:spLocks noGrp="1" noChangeArrowheads="1"/>
          </p:cNvSpPr>
          <p:nvPr>
            <p:ph type="title"/>
          </p:nvPr>
        </p:nvSpPr>
        <p:spPr/>
        <p:txBody>
          <a:bodyPr/>
          <a:lstStyle/>
          <a:p>
            <a:pPr eaLnBrk="1" hangingPunct="1"/>
            <a:r>
              <a:rPr lang="fr-CA" altLang="fr-FR" sz="3400"/>
              <a:t>Exercice 3 </a:t>
            </a:r>
            <a:endParaRPr lang="en-US" altLang="fr-FR" sz="3400"/>
          </a:p>
        </p:txBody>
      </p:sp>
      <p:sp>
        <p:nvSpPr>
          <p:cNvPr id="22532" name="Slide Number Placeholder 1">
            <a:extLst>
              <a:ext uri="{FF2B5EF4-FFF2-40B4-BE49-F238E27FC236}">
                <a16:creationId xmlns:a16="http://schemas.microsoft.com/office/drawing/2014/main" id="{71E64168-A39D-4FE1-8A7C-503A02CD4F5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2A3A6686-F8C1-4163-AA6F-AED96788C1D0}" type="slidenum">
              <a:rPr lang="fr-FR" altLang="fr-FR" sz="1200">
                <a:solidFill>
                  <a:srgbClr val="898989"/>
                </a:solidFill>
              </a:rPr>
              <a:pPr>
                <a:spcBef>
                  <a:spcPct val="0"/>
                </a:spcBef>
                <a:buFontTx/>
                <a:buNone/>
              </a:pPr>
              <a:t>28</a:t>
            </a:fld>
            <a:endParaRPr lang="fr-FR" altLang="fr-FR" sz="1200">
              <a:solidFill>
                <a:srgbClr val="898989"/>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51F0A094-E55C-4326-B280-8021A6B3BF9C}"/>
              </a:ext>
            </a:extLst>
          </p:cNvPr>
          <p:cNvSpPr>
            <a:spLocks noGrp="1" noChangeArrowheads="1"/>
          </p:cNvSpPr>
          <p:nvPr>
            <p:ph idx="1"/>
          </p:nvPr>
        </p:nvSpPr>
        <p:spPr>
          <a:xfrm>
            <a:off x="1981200" y="1200150"/>
            <a:ext cx="8229600" cy="4806950"/>
          </a:xfrm>
        </p:spPr>
        <p:txBody>
          <a:bodyPr/>
          <a:lstStyle/>
          <a:p>
            <a:pPr marL="107950" indent="0">
              <a:buNone/>
              <a:tabLst>
                <a:tab pos="1611313" algn="l"/>
                <a:tab pos="3852863" algn="l"/>
                <a:tab pos="4229100" algn="l"/>
                <a:tab pos="5376863" algn="l"/>
                <a:tab pos="6727825" algn="l"/>
              </a:tabLst>
            </a:pPr>
            <a:r>
              <a:rPr lang="fr-CA" altLang="en-US" sz="3000" dirty="0"/>
              <a:t>	</a:t>
            </a:r>
            <a:r>
              <a:rPr lang="fr-CA" altLang="en-US" sz="3000" b="1" dirty="0"/>
              <a:t>Versement	Capital	Intérêt	 Solde</a:t>
            </a:r>
          </a:p>
          <a:p>
            <a:pPr marL="107950" indent="0">
              <a:buNone/>
              <a:tabLst>
                <a:tab pos="2228850" algn="l"/>
                <a:tab pos="4229100" algn="l"/>
                <a:tab pos="5600700" algn="l"/>
                <a:tab pos="7086600" algn="l"/>
              </a:tabLst>
            </a:pPr>
            <a:r>
              <a:rPr lang="fr-CA" altLang="en-US" sz="2200" dirty="0"/>
              <a:t>			                     200 000</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X1	  47 963	  47 963	         0	152 037</a:t>
            </a:r>
          </a:p>
          <a:p>
            <a:pPr marL="107950" indent="0">
              <a:buNone/>
              <a:tabLst>
                <a:tab pos="2228850" algn="l"/>
                <a:tab pos="4229100" algn="l"/>
                <a:tab pos="5600700" algn="l"/>
                <a:tab pos="7086600" algn="l"/>
              </a:tabLst>
            </a:pPr>
            <a:r>
              <a:rPr lang="fr-CA" altLang="en-US" sz="2200" dirty="0"/>
              <a:t>31 déc. X1	           0	           0	15 204	167 241</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X2	  47 963	  47 963 	         0	119 278</a:t>
            </a:r>
          </a:p>
          <a:p>
            <a:pPr marL="107950" indent="0">
              <a:buNone/>
              <a:tabLst>
                <a:tab pos="2228850" algn="l"/>
                <a:tab pos="4229100" algn="l"/>
                <a:tab pos="5600700" algn="l"/>
                <a:tab pos="7086600" algn="l"/>
              </a:tabLst>
            </a:pPr>
            <a:r>
              <a:rPr lang="fr-CA" altLang="en-US" sz="2200" dirty="0"/>
              <a:t>31 déc. X2	           0	           0	11 928	131 206</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X3	  47 963	  47 963 	         0	  83 243</a:t>
            </a:r>
          </a:p>
          <a:p>
            <a:pPr marL="107950" indent="0">
              <a:buNone/>
              <a:tabLst>
                <a:tab pos="2228850" algn="l"/>
                <a:tab pos="4229100" algn="l"/>
                <a:tab pos="5600700" algn="l"/>
                <a:tab pos="7086600" algn="l"/>
              </a:tabLst>
            </a:pPr>
            <a:r>
              <a:rPr lang="fr-CA" altLang="en-US" sz="2200" dirty="0"/>
              <a:t>31 déc. X3	           0	           0	  8 324	  91 567</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X4	  47 963	  47 963 	         0	  43 604      31 déc. X4	           0	           0	  4 359	  47 963 </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X5	  47 963	  47 963 	         0	           0</a:t>
            </a:r>
          </a:p>
          <a:p>
            <a:pPr marL="107950" indent="0">
              <a:buNone/>
              <a:tabLst>
                <a:tab pos="2228850" algn="l"/>
                <a:tab pos="4229100" algn="l"/>
                <a:tab pos="5600700" algn="l"/>
                <a:tab pos="7086600" algn="l"/>
              </a:tabLst>
            </a:pPr>
            <a:endParaRPr lang="fr-CA" altLang="en-US" sz="2200" dirty="0"/>
          </a:p>
          <a:p>
            <a:pPr marL="107950" indent="0">
              <a:buNone/>
              <a:tabLst>
                <a:tab pos="2228850" algn="l"/>
                <a:tab pos="4229100" algn="l"/>
                <a:tab pos="5600700" algn="l"/>
                <a:tab pos="7086600" algn="l"/>
              </a:tabLst>
            </a:pPr>
            <a:endParaRPr lang="fr-CA" altLang="en-US" sz="2200" dirty="0"/>
          </a:p>
          <a:p>
            <a:pPr marL="107950" indent="0">
              <a:buNone/>
              <a:tabLst>
                <a:tab pos="2228850" algn="l"/>
                <a:tab pos="4229100" algn="l"/>
                <a:tab pos="5600700" algn="l"/>
                <a:tab pos="7086600" algn="l"/>
              </a:tabLst>
            </a:pPr>
            <a:endParaRPr lang="fr-CA" altLang="en-US" sz="2200" dirty="0"/>
          </a:p>
        </p:txBody>
      </p:sp>
      <p:sp>
        <p:nvSpPr>
          <p:cNvPr id="23555" name="Rectangle 2">
            <a:extLst>
              <a:ext uri="{FF2B5EF4-FFF2-40B4-BE49-F238E27FC236}">
                <a16:creationId xmlns:a16="http://schemas.microsoft.com/office/drawing/2014/main" id="{60F0CEB2-2F35-4099-970E-4FF1E02FE62D}"/>
              </a:ext>
            </a:extLst>
          </p:cNvPr>
          <p:cNvSpPr>
            <a:spLocks noGrp="1" noChangeArrowheads="1"/>
          </p:cNvSpPr>
          <p:nvPr>
            <p:ph type="title"/>
          </p:nvPr>
        </p:nvSpPr>
        <p:spPr/>
        <p:txBody>
          <a:bodyPr/>
          <a:lstStyle/>
          <a:p>
            <a:pPr eaLnBrk="1" hangingPunct="1"/>
            <a:r>
              <a:rPr lang="fr-CA" altLang="fr-FR" sz="3400"/>
              <a:t>Exercice 3 </a:t>
            </a:r>
            <a:endParaRPr lang="en-US" altLang="fr-FR" sz="3400"/>
          </a:p>
        </p:txBody>
      </p:sp>
      <p:sp>
        <p:nvSpPr>
          <p:cNvPr id="23556" name="Slide Number Placeholder 1">
            <a:extLst>
              <a:ext uri="{FF2B5EF4-FFF2-40B4-BE49-F238E27FC236}">
                <a16:creationId xmlns:a16="http://schemas.microsoft.com/office/drawing/2014/main" id="{8099FFEF-95A4-46BB-B39D-C874FECAFDA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E75B33E3-1A47-4D6C-A8C3-0F83AFFEF5AB}" type="slidenum">
              <a:rPr lang="fr-FR" altLang="fr-FR" sz="1200">
                <a:solidFill>
                  <a:srgbClr val="898989"/>
                </a:solidFill>
              </a:rPr>
              <a:pPr>
                <a:spcBef>
                  <a:spcPct val="0"/>
                </a:spcBef>
                <a:buFontTx/>
                <a:buNone/>
              </a:pPr>
              <a:t>29</a:t>
            </a:fld>
            <a:endParaRPr lang="fr-FR" altLang="fr-FR" sz="1200">
              <a:solidFill>
                <a:srgbClr val="89898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3925DB-F2D5-42A7-A528-D8AECDD43E82}"/>
              </a:ext>
            </a:extLst>
          </p:cNvPr>
          <p:cNvSpPr>
            <a:spLocks noGrp="1"/>
          </p:cNvSpPr>
          <p:nvPr>
            <p:ph type="title"/>
          </p:nvPr>
        </p:nvSpPr>
        <p:spPr/>
        <p:txBody>
          <a:bodyPr/>
          <a:lstStyle/>
          <a:p>
            <a:r>
              <a:rPr lang="fr-CA" dirty="0"/>
              <a:t>Exercice</a:t>
            </a:r>
            <a:endParaRPr lang="fr-FR" dirty="0"/>
          </a:p>
        </p:txBody>
      </p:sp>
      <p:sp>
        <p:nvSpPr>
          <p:cNvPr id="3" name="Espace réservé du contenu 2">
            <a:extLst>
              <a:ext uri="{FF2B5EF4-FFF2-40B4-BE49-F238E27FC236}">
                <a16:creationId xmlns:a16="http://schemas.microsoft.com/office/drawing/2014/main" id="{A643E292-A9D8-4243-A01F-A287DFF02A77}"/>
              </a:ext>
            </a:extLst>
          </p:cNvPr>
          <p:cNvSpPr>
            <a:spLocks noGrp="1"/>
          </p:cNvSpPr>
          <p:nvPr>
            <p:ph idx="1"/>
          </p:nvPr>
        </p:nvSpPr>
        <p:spPr/>
        <p:txBody>
          <a:bodyPr>
            <a:normAutofit lnSpcReduction="10000"/>
          </a:bodyPr>
          <a:lstStyle/>
          <a:p>
            <a:pPr marL="0" indent="0">
              <a:buNone/>
            </a:pPr>
            <a:r>
              <a:rPr lang="fr-CA" sz="2400" dirty="0"/>
              <a:t>ABC avait envisagé acquérir un chariot élévateur au prix de 25 817 $, mais elle a finalement opté pour louer cet équipement pour une période de cinq ans et les paiements s’élèvent à 5 000 $ par année, début de période. Au terme du bail, le chariot élévateur pourra être acquis à sa juste valeur par ABC. ABC et le bailleur estiment que le chariot devrait alors avoir une valeur de 8 000 $ et une durée de vie résiduelle de 2 ans.  </a:t>
            </a:r>
            <a:endParaRPr lang="fr-FR" sz="2400" dirty="0"/>
          </a:p>
          <a:p>
            <a:pPr marL="0" indent="0">
              <a:buNone/>
            </a:pPr>
            <a:r>
              <a:rPr lang="fr-CA" sz="2400" dirty="0"/>
              <a:t> </a:t>
            </a:r>
            <a:endParaRPr lang="fr-FR" sz="2400" dirty="0"/>
          </a:p>
          <a:p>
            <a:pPr marL="0" lvl="4" indent="0">
              <a:buNone/>
            </a:pPr>
            <a:r>
              <a:rPr lang="fr-CA" sz="2400" i="1" dirty="0"/>
              <a:t>Déterminer le traitement comptable (méthode) et justifier à l’aide des critères (analyser tous les critères)</a:t>
            </a:r>
            <a:endParaRPr lang="fr-FR" sz="2400" dirty="0"/>
          </a:p>
          <a:p>
            <a:pPr marL="0" indent="0">
              <a:buNone/>
            </a:pPr>
            <a:r>
              <a:rPr lang="fr-CA" sz="2400" i="1" dirty="0"/>
              <a:t> </a:t>
            </a:r>
            <a:endParaRPr lang="fr-FR" sz="2400" dirty="0"/>
          </a:p>
          <a:p>
            <a:pPr marL="0" lvl="4" indent="0">
              <a:buNone/>
            </a:pPr>
            <a:r>
              <a:rPr lang="fr-CA" sz="2400" i="1" dirty="0"/>
              <a:t>Préparer les écritures de la première année, acquisition au 1</a:t>
            </a:r>
            <a:r>
              <a:rPr lang="fr-CA" sz="2400" i="1" baseline="30000" dirty="0"/>
              <a:t>er</a:t>
            </a:r>
            <a:r>
              <a:rPr lang="fr-CA" sz="2400" i="1" dirty="0"/>
              <a:t> janvier, fin d’exercice 31 décembre.</a:t>
            </a:r>
            <a:endParaRPr lang="fr-FR" sz="2400" dirty="0"/>
          </a:p>
          <a:p>
            <a:pPr marL="0" indent="0">
              <a:buNone/>
            </a:pPr>
            <a:endParaRPr lang="fr-FR" dirty="0"/>
          </a:p>
        </p:txBody>
      </p:sp>
      <p:sp>
        <p:nvSpPr>
          <p:cNvPr id="4" name="Espace réservé du pied de page 3">
            <a:extLst>
              <a:ext uri="{FF2B5EF4-FFF2-40B4-BE49-F238E27FC236}">
                <a16:creationId xmlns:a16="http://schemas.microsoft.com/office/drawing/2014/main" id="{3747FC47-35BD-4813-93C7-BB200FFEFAA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0A70A878-0CB4-48BF-81E1-632E6418B15C}"/>
              </a:ext>
            </a:extLst>
          </p:cNvPr>
          <p:cNvSpPr>
            <a:spLocks noGrp="1"/>
          </p:cNvSpPr>
          <p:nvPr>
            <p:ph type="sldNum" sz="quarter" idx="12"/>
          </p:nvPr>
        </p:nvSpPr>
        <p:spPr/>
        <p:txBody>
          <a:bodyPr/>
          <a:lstStyle/>
          <a:p>
            <a:fld id="{83AE54BF-1D3E-4F4A-82B1-C4E42C537D7C}" type="slidenum">
              <a:rPr lang="fr-FR" smtClean="0"/>
              <a:t>30</a:t>
            </a:fld>
            <a:endParaRPr lang="fr-FR"/>
          </a:p>
        </p:txBody>
      </p:sp>
    </p:spTree>
    <p:extLst>
      <p:ext uri="{BB962C8B-B14F-4D97-AF65-F5344CB8AC3E}">
        <p14:creationId xmlns:p14="http://schemas.microsoft.com/office/powerpoint/2010/main" val="1166554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488385-CF4A-426B-9CD0-541E9B49352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2DF87DF-D6C6-40FE-9005-14FF521DC3B9}"/>
              </a:ext>
            </a:extLst>
          </p:cNvPr>
          <p:cNvSpPr>
            <a:spLocks noGrp="1"/>
          </p:cNvSpPr>
          <p:nvPr>
            <p:ph idx="1"/>
          </p:nvPr>
        </p:nvSpPr>
        <p:spPr/>
        <p:txBody>
          <a:bodyPr>
            <a:normAutofit fontScale="92500" lnSpcReduction="20000"/>
          </a:bodyPr>
          <a:lstStyle/>
          <a:p>
            <a:r>
              <a:rPr lang="fr-CA" dirty="0"/>
              <a:t>Transfert propriété</a:t>
            </a:r>
          </a:p>
          <a:p>
            <a:pPr lvl="1"/>
            <a:r>
              <a:rPr lang="fr-CA" dirty="0"/>
              <a:t>Pas de transfert automatique et pas d’option à prix de faveur = NON</a:t>
            </a:r>
          </a:p>
          <a:p>
            <a:r>
              <a:rPr lang="fr-CA" dirty="0"/>
              <a:t>Durée</a:t>
            </a:r>
          </a:p>
          <a:p>
            <a:pPr lvl="1"/>
            <a:r>
              <a:rPr lang="fr-CA" dirty="0"/>
              <a:t>5 / 7 = 71,4 % &lt; 75 % = NON</a:t>
            </a:r>
          </a:p>
          <a:p>
            <a:r>
              <a:rPr lang="fr-CA" dirty="0"/>
              <a:t>Paiements</a:t>
            </a:r>
          </a:p>
          <a:p>
            <a:pPr lvl="1"/>
            <a:r>
              <a:rPr lang="fr-CA" dirty="0"/>
              <a:t>Taux implicite = 10 %  </a:t>
            </a:r>
            <a:r>
              <a:rPr lang="fr-CA" sz="2000" dirty="0"/>
              <a:t>(PV : 25 817, PMT : - 5 000 début période, FV : 8 000, n : 5)</a:t>
            </a:r>
            <a:endParaRPr lang="fr-CA" dirty="0"/>
          </a:p>
          <a:p>
            <a:pPr lvl="1"/>
            <a:r>
              <a:rPr lang="fr-CA" dirty="0"/>
              <a:t>Valeur actuelle = 20 850 $ </a:t>
            </a:r>
            <a:r>
              <a:rPr lang="fr-CA" sz="2000" dirty="0"/>
              <a:t>(PMT : 5 000 $ début période, FV : 0, n : 5 et i : 10 %) </a:t>
            </a:r>
            <a:endParaRPr lang="fr-CA" dirty="0"/>
          </a:p>
          <a:p>
            <a:pPr lvl="1"/>
            <a:r>
              <a:rPr lang="fr-CA" dirty="0"/>
              <a:t>20 850 / 25 817 = 81 %  &lt; 90 % = NON </a:t>
            </a:r>
          </a:p>
          <a:p>
            <a:pPr marL="0" lvl="1" indent="0"/>
            <a:r>
              <a:rPr lang="fr-CA" dirty="0"/>
              <a:t>Donc, puisqu’aucun critère respecté = location-exploitation</a:t>
            </a:r>
          </a:p>
          <a:p>
            <a:pPr marL="0" lvl="1" indent="0">
              <a:buNone/>
            </a:pPr>
            <a:endParaRPr lang="fr-CA" dirty="0"/>
          </a:p>
          <a:p>
            <a:pPr marL="0" lvl="1" indent="0">
              <a:buNone/>
            </a:pPr>
            <a:r>
              <a:rPr lang="fr-CA" dirty="0"/>
              <a:t>Écriture :</a:t>
            </a:r>
          </a:p>
          <a:p>
            <a:pPr marL="0" lvl="1" indent="0">
              <a:buNone/>
            </a:pPr>
            <a:r>
              <a:rPr lang="fr-CA" dirty="0"/>
              <a:t>Charge locative	5 000</a:t>
            </a:r>
          </a:p>
          <a:p>
            <a:pPr marL="0" lvl="1" indent="0">
              <a:buNone/>
            </a:pPr>
            <a:r>
              <a:rPr lang="fr-CA" dirty="0"/>
              <a:t> @  Encaisse		5 000</a:t>
            </a:r>
            <a:endParaRPr lang="fr-FR" dirty="0"/>
          </a:p>
        </p:txBody>
      </p:sp>
      <p:sp>
        <p:nvSpPr>
          <p:cNvPr id="4" name="Espace réservé du pied de page 3">
            <a:extLst>
              <a:ext uri="{FF2B5EF4-FFF2-40B4-BE49-F238E27FC236}">
                <a16:creationId xmlns:a16="http://schemas.microsoft.com/office/drawing/2014/main" id="{CBC7337D-177A-4E96-A01F-FA8FA22CCCF8}"/>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6F9411D-D1CD-41EB-8AB9-90167F5C1367}"/>
              </a:ext>
            </a:extLst>
          </p:cNvPr>
          <p:cNvSpPr>
            <a:spLocks noGrp="1"/>
          </p:cNvSpPr>
          <p:nvPr>
            <p:ph type="sldNum" sz="quarter" idx="12"/>
          </p:nvPr>
        </p:nvSpPr>
        <p:spPr/>
        <p:txBody>
          <a:bodyPr/>
          <a:lstStyle/>
          <a:p>
            <a:fld id="{83AE54BF-1D3E-4F4A-82B1-C4E42C537D7C}" type="slidenum">
              <a:rPr lang="fr-FR" smtClean="0"/>
              <a:t>31</a:t>
            </a:fld>
            <a:endParaRPr lang="fr-FR"/>
          </a:p>
        </p:txBody>
      </p:sp>
    </p:spTree>
    <p:extLst>
      <p:ext uri="{BB962C8B-B14F-4D97-AF65-F5344CB8AC3E}">
        <p14:creationId xmlns:p14="http://schemas.microsoft.com/office/powerpoint/2010/main" val="1107702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Preneur – problème synthèse</a:t>
            </a:r>
          </a:p>
        </p:txBody>
      </p:sp>
      <p:sp>
        <p:nvSpPr>
          <p:cNvPr id="3" name="Espace réservé du contenu 2"/>
          <p:cNvSpPr>
            <a:spLocks noGrp="1"/>
          </p:cNvSpPr>
          <p:nvPr>
            <p:ph idx="1"/>
          </p:nvPr>
        </p:nvSpPr>
        <p:spPr/>
        <p:txBody>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32</a:t>
            </a:fld>
            <a:endParaRPr lang="fr-FR" altLang="fr-FR"/>
          </a:p>
        </p:txBody>
      </p:sp>
      <p:pic>
        <p:nvPicPr>
          <p:cNvPr id="5" name="Image 4"/>
          <p:cNvPicPr>
            <a:picLocks noChangeAspect="1"/>
          </p:cNvPicPr>
          <p:nvPr/>
        </p:nvPicPr>
        <p:blipFill>
          <a:blip r:embed="rId2"/>
          <a:stretch>
            <a:fillRect/>
          </a:stretch>
        </p:blipFill>
        <p:spPr>
          <a:xfrm>
            <a:off x="2004852" y="1828800"/>
            <a:ext cx="8123852" cy="3177540"/>
          </a:xfrm>
          <a:prstGeom prst="rect">
            <a:avLst/>
          </a:prstGeom>
        </p:spPr>
      </p:pic>
    </p:spTree>
    <p:extLst>
      <p:ext uri="{BB962C8B-B14F-4D97-AF65-F5344CB8AC3E}">
        <p14:creationId xmlns:p14="http://schemas.microsoft.com/office/powerpoint/2010/main" val="3724769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516267-F045-4C5A-AC86-C63DE70FDF78}"/>
              </a:ext>
            </a:extLst>
          </p:cNvPr>
          <p:cNvSpPr>
            <a:spLocks noGrp="1"/>
          </p:cNvSpPr>
          <p:nvPr>
            <p:ph type="title"/>
          </p:nvPr>
        </p:nvSpPr>
        <p:spPr/>
        <p:txBody>
          <a:bodyPr/>
          <a:lstStyle/>
          <a:p>
            <a:r>
              <a:rPr lang="fr-CA" dirty="0"/>
              <a:t>Solution</a:t>
            </a:r>
            <a:endParaRPr lang="fr-FR" dirty="0"/>
          </a:p>
        </p:txBody>
      </p:sp>
      <p:sp>
        <p:nvSpPr>
          <p:cNvPr id="3" name="Espace réservé du contenu 2">
            <a:extLst>
              <a:ext uri="{FF2B5EF4-FFF2-40B4-BE49-F238E27FC236}">
                <a16:creationId xmlns:a16="http://schemas.microsoft.com/office/drawing/2014/main" id="{6DC3461A-88CC-458B-A1EE-6FD36FEA8B25}"/>
              </a:ext>
            </a:extLst>
          </p:cNvPr>
          <p:cNvSpPr>
            <a:spLocks noGrp="1"/>
          </p:cNvSpPr>
          <p:nvPr>
            <p:ph idx="1"/>
          </p:nvPr>
        </p:nvSpPr>
        <p:spPr/>
        <p:txBody>
          <a:bodyPr>
            <a:normAutofit fontScale="70000" lnSpcReduction="20000"/>
          </a:bodyPr>
          <a:lstStyle/>
          <a:p>
            <a:pPr marL="0" indent="0">
              <a:buNone/>
            </a:pPr>
            <a:r>
              <a:rPr lang="fr-FR" b="1" dirty="0"/>
              <a:t>Preneur</a:t>
            </a:r>
            <a:r>
              <a:rPr lang="fr-FR" dirty="0"/>
              <a:t> : transfert des avantages et des risques – au moins </a:t>
            </a:r>
            <a:r>
              <a:rPr lang="fr-FR" u="sng" dirty="0"/>
              <a:t>une</a:t>
            </a:r>
            <a:r>
              <a:rPr lang="fr-FR" dirty="0"/>
              <a:t> des conditions</a:t>
            </a:r>
          </a:p>
          <a:p>
            <a:r>
              <a:rPr lang="fr-FR" dirty="0"/>
              <a:t>Pratiquement assuré que le preneur accédera à la propriété du bien au terme du bail </a:t>
            </a:r>
          </a:p>
          <a:p>
            <a:pPr lvl="1"/>
            <a:r>
              <a:rPr lang="fr-FR" dirty="0"/>
              <a:t>prévu de céder le titre de propriété ou option d’achat à prix de faveur</a:t>
            </a:r>
          </a:p>
          <a:p>
            <a:pPr lvl="1"/>
            <a:r>
              <a:rPr lang="fr-FR" dirty="0">
                <a:solidFill>
                  <a:srgbClr val="FF0000"/>
                </a:solidFill>
              </a:rPr>
              <a:t>OUI, </a:t>
            </a:r>
            <a:r>
              <a:rPr lang="fr-CA" dirty="0">
                <a:solidFill>
                  <a:srgbClr val="FF0000"/>
                </a:solidFill>
              </a:rPr>
              <a:t>option d’achat à prix de faveur - 27 115 $ alors que valeur résiduelle estimative prévue est à 45 000 $</a:t>
            </a:r>
            <a:endParaRPr lang="fr-FR" dirty="0">
              <a:solidFill>
                <a:srgbClr val="FF0000"/>
              </a:solidFill>
            </a:endParaRPr>
          </a:p>
          <a:p>
            <a:r>
              <a:rPr lang="fr-FR" dirty="0"/>
              <a:t>Durée du bail est telle que le preneur jouira de pratiquement tous les avantages économiques que l’on prévoit pouvoir tirer de l’utilisation du bien </a:t>
            </a:r>
          </a:p>
          <a:p>
            <a:pPr lvl="1"/>
            <a:r>
              <a:rPr lang="fr-FR" dirty="0">
                <a:solidFill>
                  <a:srgbClr val="0070C0"/>
                </a:solidFill>
              </a:rPr>
              <a:t>(&gt;75%)  </a:t>
            </a:r>
          </a:p>
          <a:p>
            <a:pPr lvl="1"/>
            <a:r>
              <a:rPr lang="fr-FR" dirty="0">
                <a:solidFill>
                  <a:srgbClr val="FF0000"/>
                </a:solidFill>
              </a:rPr>
              <a:t>NON, 3 / 5 ans = 60 % - inférieur à 75 % </a:t>
            </a:r>
            <a:endParaRPr lang="fr-FR" dirty="0">
              <a:solidFill>
                <a:srgbClr val="0070C0"/>
              </a:solidFill>
            </a:endParaRPr>
          </a:p>
          <a:p>
            <a:r>
              <a:rPr lang="fr-FR" dirty="0"/>
              <a:t>Bailleur est assuré, aux termes du bail, de récupérer le capital investi dans le bien loué et de gagner un rendement sur cet investissement </a:t>
            </a:r>
          </a:p>
          <a:p>
            <a:pPr lvl="1"/>
            <a:r>
              <a:rPr lang="fr-FR" dirty="0">
                <a:solidFill>
                  <a:srgbClr val="0070C0"/>
                </a:solidFill>
              </a:rPr>
              <a:t>(va PME &gt;90% JV bien loué)  </a:t>
            </a:r>
          </a:p>
          <a:p>
            <a:pPr lvl="1"/>
            <a:r>
              <a:rPr lang="fr-FR" dirty="0">
                <a:solidFill>
                  <a:srgbClr val="FF0000"/>
                </a:solidFill>
              </a:rPr>
              <a:t>OUI, 100 000 / 100 000 = 100 %</a:t>
            </a:r>
          </a:p>
          <a:p>
            <a:pPr lvl="2"/>
            <a:r>
              <a:rPr lang="fr-FR" dirty="0">
                <a:solidFill>
                  <a:srgbClr val="FF0000"/>
                </a:solidFill>
              </a:rPr>
              <a:t>PME : valeur actualisée de la somme des loyers (30 000 $ - il faut enlever les frais accessoires) ET de la valeur actualisée de l’option d’achat à prix de faveur (27 115 $)</a:t>
            </a:r>
          </a:p>
          <a:p>
            <a:pPr lvl="1"/>
            <a:endParaRPr lang="fr-FR" dirty="0">
              <a:solidFill>
                <a:srgbClr val="FF0000"/>
              </a:solidFill>
            </a:endParaRPr>
          </a:p>
          <a:p>
            <a:pPr lvl="1"/>
            <a:r>
              <a:rPr lang="fr-FR" i="1" dirty="0">
                <a:solidFill>
                  <a:srgbClr val="FF0000"/>
                </a:solidFill>
              </a:rPr>
              <a:t>Donc, puisqu’au moins un critère respecté, sera classé comme location-acquisition pour le preneur</a:t>
            </a:r>
            <a:endParaRPr lang="fr-FR" i="1" dirty="0">
              <a:solidFill>
                <a:srgbClr val="0070C0"/>
              </a:solidFill>
            </a:endParaRPr>
          </a:p>
          <a:p>
            <a:pPr marL="0" indent="0">
              <a:buNone/>
            </a:pPr>
            <a:endParaRPr lang="fr-FR" dirty="0"/>
          </a:p>
        </p:txBody>
      </p:sp>
      <p:sp>
        <p:nvSpPr>
          <p:cNvPr id="4" name="Espace réservé du pied de page 3">
            <a:extLst>
              <a:ext uri="{FF2B5EF4-FFF2-40B4-BE49-F238E27FC236}">
                <a16:creationId xmlns:a16="http://schemas.microsoft.com/office/drawing/2014/main" id="{A167374C-4735-4FB5-B9ED-2836CBF1C7A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4D8D3251-E787-4CE5-80F7-71DC93DCB085}"/>
              </a:ext>
            </a:extLst>
          </p:cNvPr>
          <p:cNvSpPr>
            <a:spLocks noGrp="1"/>
          </p:cNvSpPr>
          <p:nvPr>
            <p:ph type="sldNum" sz="quarter" idx="12"/>
          </p:nvPr>
        </p:nvSpPr>
        <p:spPr/>
        <p:txBody>
          <a:bodyPr/>
          <a:lstStyle/>
          <a:p>
            <a:fld id="{83AE54BF-1D3E-4F4A-82B1-C4E42C537D7C}" type="slidenum">
              <a:rPr lang="fr-FR" smtClean="0"/>
              <a:t>33</a:t>
            </a:fld>
            <a:endParaRPr lang="fr-FR"/>
          </a:p>
        </p:txBody>
      </p:sp>
    </p:spTree>
    <p:extLst>
      <p:ext uri="{BB962C8B-B14F-4D97-AF65-F5344CB8AC3E}">
        <p14:creationId xmlns:p14="http://schemas.microsoft.com/office/powerpoint/2010/main" val="26200275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 </a:t>
            </a:r>
          </a:p>
        </p:txBody>
      </p:sp>
      <p:sp>
        <p:nvSpPr>
          <p:cNvPr id="3" name="Espace réservé du contenu 2"/>
          <p:cNvSpPr>
            <a:spLocks noGrp="1"/>
          </p:cNvSpPr>
          <p:nvPr>
            <p:ph idx="1"/>
          </p:nvPr>
        </p:nvSpPr>
        <p:spPr/>
        <p:txBody>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34</a:t>
            </a:fld>
            <a:endParaRPr lang="fr-FR" altLang="fr-FR"/>
          </a:p>
        </p:txBody>
      </p:sp>
      <p:pic>
        <p:nvPicPr>
          <p:cNvPr id="5" name="Image 4"/>
          <p:cNvPicPr>
            <a:picLocks noChangeAspect="1"/>
          </p:cNvPicPr>
          <p:nvPr/>
        </p:nvPicPr>
        <p:blipFill>
          <a:blip r:embed="rId2"/>
          <a:stretch>
            <a:fillRect/>
          </a:stretch>
        </p:blipFill>
        <p:spPr>
          <a:xfrm>
            <a:off x="3021330" y="1502448"/>
            <a:ext cx="5568684" cy="4623715"/>
          </a:xfrm>
          <a:prstGeom prst="rect">
            <a:avLst/>
          </a:prstGeom>
        </p:spPr>
      </p:pic>
    </p:spTree>
    <p:extLst>
      <p:ext uri="{BB962C8B-B14F-4D97-AF65-F5344CB8AC3E}">
        <p14:creationId xmlns:p14="http://schemas.microsoft.com/office/powerpoint/2010/main" val="24717195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13E848-EAF8-4D81-9BCA-84A37AFB7A87}"/>
              </a:ext>
            </a:extLst>
          </p:cNvPr>
          <p:cNvSpPr>
            <a:spLocks noGrp="1"/>
          </p:cNvSpPr>
          <p:nvPr>
            <p:ph type="title"/>
          </p:nvPr>
        </p:nvSpPr>
        <p:spPr>
          <a:xfrm>
            <a:off x="838200" y="365126"/>
            <a:ext cx="10515600" cy="315912"/>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0ACC0B09-9333-4B0C-BB03-CA875024DE0A}"/>
              </a:ext>
            </a:extLst>
          </p:cNvPr>
          <p:cNvSpPr>
            <a:spLocks noGrp="1"/>
          </p:cNvSpPr>
          <p:nvPr>
            <p:ph idx="1"/>
          </p:nvPr>
        </p:nvSpPr>
        <p:spPr>
          <a:xfrm>
            <a:off x="838200" y="681038"/>
            <a:ext cx="10515600" cy="5495925"/>
          </a:xfrm>
        </p:spPr>
        <p:txBody>
          <a:bodyPr>
            <a:normAutofit fontScale="92500" lnSpcReduction="10000"/>
          </a:bodyPr>
          <a:lstStyle/>
          <a:p>
            <a:pPr marL="0" indent="0">
              <a:buNone/>
            </a:pPr>
            <a:r>
              <a:rPr lang="fr-CA" sz="2000" b="1" dirty="0"/>
              <a:t>1</a:t>
            </a:r>
            <a:r>
              <a:rPr lang="fr-CA" sz="2000" b="1" baseline="30000" dirty="0"/>
              <a:t>er</a:t>
            </a:r>
            <a:r>
              <a:rPr lang="fr-CA" sz="2000" b="1" dirty="0"/>
              <a:t> janvier x0</a:t>
            </a:r>
          </a:p>
          <a:p>
            <a:pPr marL="0" indent="0">
              <a:buNone/>
            </a:pPr>
            <a:r>
              <a:rPr lang="fr-CA" sz="2000" dirty="0"/>
              <a:t>Équipement louée		100 000</a:t>
            </a:r>
          </a:p>
          <a:p>
            <a:pPr marL="0" indent="0">
              <a:buNone/>
            </a:pPr>
            <a:r>
              <a:rPr lang="fr-CA" sz="2000" dirty="0"/>
              <a:t>@  Obligation locative			100 000</a:t>
            </a:r>
          </a:p>
          <a:p>
            <a:pPr marL="0" indent="0">
              <a:buNone/>
            </a:pPr>
            <a:endParaRPr lang="fr-CA" sz="2000" dirty="0"/>
          </a:p>
          <a:p>
            <a:pPr marL="0" indent="0">
              <a:buNone/>
            </a:pPr>
            <a:r>
              <a:rPr lang="fr-CA" sz="2000" dirty="0"/>
              <a:t>Obligation locative 	    30 000</a:t>
            </a:r>
          </a:p>
          <a:p>
            <a:pPr marL="0" indent="0">
              <a:buNone/>
            </a:pPr>
            <a:r>
              <a:rPr lang="fr-CA" sz="2000" dirty="0"/>
              <a:t>Charge assurances		       2 000</a:t>
            </a:r>
          </a:p>
          <a:p>
            <a:pPr marL="0" indent="0">
              <a:buNone/>
            </a:pPr>
            <a:r>
              <a:rPr lang="fr-CA" sz="2000" dirty="0"/>
              <a:t>@  Encaisse				  32 000</a:t>
            </a:r>
          </a:p>
          <a:p>
            <a:pPr marL="0" indent="0">
              <a:buNone/>
            </a:pPr>
            <a:endParaRPr lang="fr-CA" sz="2000" dirty="0"/>
          </a:p>
          <a:p>
            <a:pPr marL="0" indent="0">
              <a:buNone/>
            </a:pPr>
            <a:r>
              <a:rPr lang="fr-CA" sz="2000" b="1" dirty="0"/>
              <a:t>31 décembre x0</a:t>
            </a:r>
          </a:p>
          <a:p>
            <a:pPr marL="0" indent="0">
              <a:buNone/>
            </a:pPr>
            <a:r>
              <a:rPr lang="fr-CA" sz="2000" dirty="0"/>
              <a:t>Charge intérêts sur </a:t>
            </a:r>
            <a:r>
              <a:rPr lang="fr-CA" sz="2000" dirty="0" err="1"/>
              <a:t>oblig</a:t>
            </a:r>
            <a:r>
              <a:rPr lang="fr-CA" sz="2000" dirty="0"/>
              <a:t> </a:t>
            </a:r>
            <a:r>
              <a:rPr lang="fr-CA" sz="2000" dirty="0" err="1"/>
              <a:t>loc</a:t>
            </a:r>
            <a:r>
              <a:rPr lang="fr-CA" sz="2000" dirty="0"/>
              <a:t>	         8 401</a:t>
            </a:r>
          </a:p>
          <a:p>
            <a:pPr marL="0" indent="0">
              <a:buNone/>
            </a:pPr>
            <a:r>
              <a:rPr lang="fr-CA" sz="2000" dirty="0"/>
              <a:t>@  Intérêts à payer			      8 401</a:t>
            </a:r>
          </a:p>
          <a:p>
            <a:pPr marL="0" indent="0">
              <a:buNone/>
            </a:pPr>
            <a:endParaRPr lang="fr-CA" sz="2000" dirty="0"/>
          </a:p>
          <a:p>
            <a:pPr marL="0" indent="0">
              <a:buNone/>
            </a:pPr>
            <a:r>
              <a:rPr lang="fr-CA" sz="2000" dirty="0"/>
              <a:t>Amortissement 		         19 200</a:t>
            </a:r>
          </a:p>
          <a:p>
            <a:pPr marL="0" indent="0">
              <a:buNone/>
            </a:pPr>
            <a:r>
              <a:rPr lang="fr-CA" sz="2000" dirty="0"/>
              <a:t>@  Amort cum – </a:t>
            </a:r>
            <a:r>
              <a:rPr lang="fr-CA" sz="2000" dirty="0" err="1"/>
              <a:t>équip</a:t>
            </a:r>
            <a:r>
              <a:rPr lang="fr-CA" sz="2000" dirty="0"/>
              <a:t> loué		  	   19 200</a:t>
            </a:r>
            <a:endParaRPr lang="fr-FR" sz="2000" dirty="0"/>
          </a:p>
          <a:p>
            <a:pPr marL="0" indent="0">
              <a:buNone/>
            </a:pPr>
            <a:r>
              <a:rPr lang="fr-FR" sz="2000" i="1" dirty="0">
                <a:solidFill>
                  <a:srgbClr val="FF0000"/>
                </a:solidFill>
              </a:rPr>
              <a:t>Durée vie économique car option d’achat prix faveur – conservera après la durée du bail</a:t>
            </a:r>
          </a:p>
        </p:txBody>
      </p:sp>
      <p:sp>
        <p:nvSpPr>
          <p:cNvPr id="4" name="Espace réservé du pied de page 3">
            <a:extLst>
              <a:ext uri="{FF2B5EF4-FFF2-40B4-BE49-F238E27FC236}">
                <a16:creationId xmlns:a16="http://schemas.microsoft.com/office/drawing/2014/main" id="{1A93F93D-6CAF-443E-8802-1DF8A871F6A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2E7E781-D7C9-48E8-869D-3D5FFF21CCC4}"/>
              </a:ext>
            </a:extLst>
          </p:cNvPr>
          <p:cNvSpPr>
            <a:spLocks noGrp="1"/>
          </p:cNvSpPr>
          <p:nvPr>
            <p:ph type="sldNum" sz="quarter" idx="12"/>
          </p:nvPr>
        </p:nvSpPr>
        <p:spPr/>
        <p:txBody>
          <a:bodyPr/>
          <a:lstStyle/>
          <a:p>
            <a:fld id="{83AE54BF-1D3E-4F4A-82B1-C4E42C537D7C}" type="slidenum">
              <a:rPr lang="fr-FR" smtClean="0"/>
              <a:t>35</a:t>
            </a:fld>
            <a:endParaRPr lang="fr-FR"/>
          </a:p>
        </p:txBody>
      </p:sp>
    </p:spTree>
    <p:extLst>
      <p:ext uri="{BB962C8B-B14F-4D97-AF65-F5344CB8AC3E}">
        <p14:creationId xmlns:p14="http://schemas.microsoft.com/office/powerpoint/2010/main" val="2503286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13E848-EAF8-4D81-9BCA-84A37AFB7A87}"/>
              </a:ext>
            </a:extLst>
          </p:cNvPr>
          <p:cNvSpPr>
            <a:spLocks noGrp="1"/>
          </p:cNvSpPr>
          <p:nvPr>
            <p:ph type="title"/>
          </p:nvPr>
        </p:nvSpPr>
        <p:spPr>
          <a:xfrm>
            <a:off x="838200" y="365126"/>
            <a:ext cx="10515600" cy="315912"/>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0ACC0B09-9333-4B0C-BB03-CA875024DE0A}"/>
              </a:ext>
            </a:extLst>
          </p:cNvPr>
          <p:cNvSpPr>
            <a:spLocks noGrp="1"/>
          </p:cNvSpPr>
          <p:nvPr>
            <p:ph idx="1"/>
          </p:nvPr>
        </p:nvSpPr>
        <p:spPr>
          <a:xfrm>
            <a:off x="838200" y="681038"/>
            <a:ext cx="10515600" cy="5495925"/>
          </a:xfrm>
        </p:spPr>
        <p:txBody>
          <a:bodyPr>
            <a:normAutofit/>
          </a:bodyPr>
          <a:lstStyle/>
          <a:p>
            <a:pPr marL="0" indent="0">
              <a:buNone/>
            </a:pPr>
            <a:r>
              <a:rPr lang="fr-CA" sz="2000" b="1" dirty="0"/>
              <a:t>1</a:t>
            </a:r>
            <a:r>
              <a:rPr lang="fr-CA" sz="2000" b="1" baseline="30000" dirty="0"/>
              <a:t>er</a:t>
            </a:r>
            <a:r>
              <a:rPr lang="fr-CA" sz="2000" b="1" dirty="0"/>
              <a:t> janvier x1</a:t>
            </a:r>
          </a:p>
          <a:p>
            <a:pPr marL="0" indent="0">
              <a:buNone/>
            </a:pPr>
            <a:r>
              <a:rPr lang="fr-CA" sz="2000" dirty="0"/>
              <a:t>Obligation locative 		 21 599</a:t>
            </a:r>
          </a:p>
          <a:p>
            <a:pPr marL="0" indent="0">
              <a:buNone/>
            </a:pPr>
            <a:r>
              <a:rPr lang="fr-CA" sz="2000" dirty="0"/>
              <a:t>Intérêts à payer			    8 401</a:t>
            </a:r>
          </a:p>
          <a:p>
            <a:pPr marL="0" indent="0">
              <a:buNone/>
            </a:pPr>
            <a:r>
              <a:rPr lang="fr-CA" sz="2000" dirty="0"/>
              <a:t>Charge assurances		    2 000</a:t>
            </a:r>
          </a:p>
          <a:p>
            <a:pPr marL="0" indent="0">
              <a:buNone/>
            </a:pPr>
            <a:r>
              <a:rPr lang="fr-CA" sz="2000" dirty="0"/>
              <a:t>@  Encaisse				  32 000</a:t>
            </a:r>
          </a:p>
          <a:p>
            <a:pPr marL="0" indent="0">
              <a:buNone/>
            </a:pPr>
            <a:endParaRPr lang="fr-CA" sz="2000" dirty="0"/>
          </a:p>
          <a:p>
            <a:pPr marL="0" indent="0">
              <a:buNone/>
            </a:pPr>
            <a:r>
              <a:rPr lang="fr-CA" sz="2000" b="1" dirty="0"/>
              <a:t>31 décembre x1</a:t>
            </a:r>
          </a:p>
          <a:p>
            <a:pPr marL="0" indent="0">
              <a:buNone/>
            </a:pPr>
            <a:r>
              <a:rPr lang="fr-CA" sz="2000" dirty="0"/>
              <a:t>Charge intérêts sur </a:t>
            </a:r>
            <a:r>
              <a:rPr lang="fr-CA" sz="2000" dirty="0" err="1"/>
              <a:t>oblig</a:t>
            </a:r>
            <a:r>
              <a:rPr lang="fr-CA" sz="2000" dirty="0"/>
              <a:t> </a:t>
            </a:r>
            <a:r>
              <a:rPr lang="fr-CA" sz="2000" dirty="0" err="1"/>
              <a:t>loc</a:t>
            </a:r>
            <a:r>
              <a:rPr lang="fr-CA" sz="2000" dirty="0"/>
              <a:t>	     5 809</a:t>
            </a:r>
          </a:p>
          <a:p>
            <a:pPr marL="0" indent="0">
              <a:buNone/>
            </a:pPr>
            <a:r>
              <a:rPr lang="fr-CA" sz="2000" dirty="0"/>
              <a:t>@  Intérêts à payer			      5 809</a:t>
            </a:r>
          </a:p>
          <a:p>
            <a:pPr marL="0" indent="0">
              <a:buNone/>
            </a:pPr>
            <a:endParaRPr lang="fr-CA" sz="2000" dirty="0"/>
          </a:p>
          <a:p>
            <a:pPr marL="0" indent="0">
              <a:buNone/>
            </a:pPr>
            <a:r>
              <a:rPr lang="fr-CA" sz="2000" dirty="0"/>
              <a:t>Amortissement 			    19 200</a:t>
            </a:r>
          </a:p>
          <a:p>
            <a:pPr marL="0" indent="0">
              <a:buNone/>
            </a:pPr>
            <a:r>
              <a:rPr lang="fr-CA" sz="2000" dirty="0"/>
              <a:t>@  Amort cum – </a:t>
            </a:r>
            <a:r>
              <a:rPr lang="fr-CA" sz="2000" dirty="0" err="1"/>
              <a:t>équip</a:t>
            </a:r>
            <a:r>
              <a:rPr lang="fr-CA" sz="2000" dirty="0"/>
              <a:t> loué		     19 200</a:t>
            </a:r>
            <a:endParaRPr lang="fr-FR" sz="2000" dirty="0"/>
          </a:p>
          <a:p>
            <a:pPr marL="0" indent="0">
              <a:buNone/>
            </a:pPr>
            <a:endParaRPr lang="fr-FR" sz="2000" i="1" dirty="0">
              <a:solidFill>
                <a:srgbClr val="FF0000"/>
              </a:solidFill>
            </a:endParaRPr>
          </a:p>
        </p:txBody>
      </p:sp>
      <p:sp>
        <p:nvSpPr>
          <p:cNvPr id="4" name="Espace réservé du pied de page 3">
            <a:extLst>
              <a:ext uri="{FF2B5EF4-FFF2-40B4-BE49-F238E27FC236}">
                <a16:creationId xmlns:a16="http://schemas.microsoft.com/office/drawing/2014/main" id="{1A93F93D-6CAF-443E-8802-1DF8A871F6A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2E7E781-D7C9-48E8-869D-3D5FFF21CCC4}"/>
              </a:ext>
            </a:extLst>
          </p:cNvPr>
          <p:cNvSpPr>
            <a:spLocks noGrp="1"/>
          </p:cNvSpPr>
          <p:nvPr>
            <p:ph type="sldNum" sz="quarter" idx="12"/>
          </p:nvPr>
        </p:nvSpPr>
        <p:spPr/>
        <p:txBody>
          <a:bodyPr/>
          <a:lstStyle/>
          <a:p>
            <a:fld id="{83AE54BF-1D3E-4F4A-82B1-C4E42C537D7C}" type="slidenum">
              <a:rPr lang="fr-FR" smtClean="0"/>
              <a:t>36</a:t>
            </a:fld>
            <a:endParaRPr lang="fr-FR"/>
          </a:p>
        </p:txBody>
      </p:sp>
    </p:spTree>
    <p:extLst>
      <p:ext uri="{BB962C8B-B14F-4D97-AF65-F5344CB8AC3E}">
        <p14:creationId xmlns:p14="http://schemas.microsoft.com/office/powerpoint/2010/main" val="765794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13E848-EAF8-4D81-9BCA-84A37AFB7A87}"/>
              </a:ext>
            </a:extLst>
          </p:cNvPr>
          <p:cNvSpPr>
            <a:spLocks noGrp="1"/>
          </p:cNvSpPr>
          <p:nvPr>
            <p:ph type="title"/>
          </p:nvPr>
        </p:nvSpPr>
        <p:spPr>
          <a:xfrm>
            <a:off x="838200" y="365126"/>
            <a:ext cx="10515600" cy="315912"/>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0ACC0B09-9333-4B0C-BB03-CA875024DE0A}"/>
              </a:ext>
            </a:extLst>
          </p:cNvPr>
          <p:cNvSpPr>
            <a:spLocks noGrp="1"/>
          </p:cNvSpPr>
          <p:nvPr>
            <p:ph idx="1"/>
          </p:nvPr>
        </p:nvSpPr>
        <p:spPr>
          <a:xfrm>
            <a:off x="838200" y="681038"/>
            <a:ext cx="10515600" cy="5495925"/>
          </a:xfrm>
        </p:spPr>
        <p:txBody>
          <a:bodyPr>
            <a:normAutofit fontScale="85000" lnSpcReduction="20000"/>
          </a:bodyPr>
          <a:lstStyle/>
          <a:p>
            <a:pPr marL="0" indent="0">
              <a:buNone/>
            </a:pPr>
            <a:r>
              <a:rPr lang="fr-CA" sz="2000" b="1" dirty="0"/>
              <a:t>1</a:t>
            </a:r>
            <a:r>
              <a:rPr lang="fr-CA" sz="2000" b="1" baseline="30000" dirty="0"/>
              <a:t>er</a:t>
            </a:r>
            <a:r>
              <a:rPr lang="fr-CA" sz="2000" b="1" dirty="0"/>
              <a:t> janvier x2</a:t>
            </a:r>
          </a:p>
          <a:p>
            <a:pPr marL="0" indent="0">
              <a:buNone/>
            </a:pPr>
            <a:r>
              <a:rPr lang="fr-CA" sz="2000" dirty="0"/>
              <a:t>Obligation locative 		 24 191</a:t>
            </a:r>
          </a:p>
          <a:p>
            <a:pPr marL="0" indent="0">
              <a:buNone/>
            </a:pPr>
            <a:r>
              <a:rPr lang="fr-CA" sz="2000" dirty="0"/>
              <a:t>Intérêts à payer		    5 809</a:t>
            </a:r>
          </a:p>
          <a:p>
            <a:pPr marL="0" indent="0">
              <a:buNone/>
            </a:pPr>
            <a:r>
              <a:rPr lang="fr-CA" sz="2000" dirty="0"/>
              <a:t>Charge assurances		    2 000</a:t>
            </a:r>
          </a:p>
          <a:p>
            <a:pPr marL="0" indent="0">
              <a:buNone/>
            </a:pPr>
            <a:r>
              <a:rPr lang="fr-CA" sz="2000" dirty="0"/>
              <a:t>@  Encaisse			  32 000</a:t>
            </a:r>
          </a:p>
          <a:p>
            <a:pPr marL="0" indent="0">
              <a:buNone/>
            </a:pPr>
            <a:endParaRPr lang="fr-CA" sz="2000" dirty="0"/>
          </a:p>
          <a:p>
            <a:pPr marL="0" indent="0">
              <a:buNone/>
            </a:pPr>
            <a:r>
              <a:rPr lang="fr-CA" sz="2000" b="1" dirty="0"/>
              <a:t>31 décembre x2</a:t>
            </a:r>
          </a:p>
          <a:p>
            <a:pPr marL="0" indent="0">
              <a:buNone/>
            </a:pPr>
            <a:r>
              <a:rPr lang="fr-CA" sz="2000" dirty="0"/>
              <a:t>Charge intérêts sur </a:t>
            </a:r>
            <a:r>
              <a:rPr lang="fr-CA" sz="2000" dirty="0" err="1"/>
              <a:t>oblig</a:t>
            </a:r>
            <a:r>
              <a:rPr lang="fr-CA" sz="2000" dirty="0"/>
              <a:t> </a:t>
            </a:r>
            <a:r>
              <a:rPr lang="fr-CA" sz="2000" dirty="0" err="1"/>
              <a:t>loc</a:t>
            </a:r>
            <a:r>
              <a:rPr lang="fr-CA" sz="2000" dirty="0"/>
              <a:t>	     2 905</a:t>
            </a:r>
          </a:p>
          <a:p>
            <a:pPr marL="0" indent="0">
              <a:buNone/>
            </a:pPr>
            <a:r>
              <a:rPr lang="fr-CA" sz="2000" dirty="0"/>
              <a:t>@  Intérêts à payer			      2 905</a:t>
            </a:r>
          </a:p>
          <a:p>
            <a:pPr marL="0" indent="0">
              <a:buNone/>
            </a:pPr>
            <a:endParaRPr lang="fr-CA" sz="2000" dirty="0"/>
          </a:p>
          <a:p>
            <a:pPr marL="0" indent="0">
              <a:buNone/>
            </a:pPr>
            <a:r>
              <a:rPr lang="fr-CA" sz="2000" dirty="0"/>
              <a:t>Amortissement 		    19 200</a:t>
            </a:r>
          </a:p>
          <a:p>
            <a:pPr marL="0" indent="0">
              <a:buNone/>
            </a:pPr>
            <a:r>
              <a:rPr lang="fr-CA" sz="2000" dirty="0"/>
              <a:t>@  Amort cum – </a:t>
            </a:r>
            <a:r>
              <a:rPr lang="fr-CA" sz="2000" dirty="0" err="1"/>
              <a:t>équip</a:t>
            </a:r>
            <a:r>
              <a:rPr lang="fr-CA" sz="2000" dirty="0"/>
              <a:t> loué		     19 200</a:t>
            </a:r>
          </a:p>
          <a:p>
            <a:pPr marL="0" indent="0">
              <a:buNone/>
            </a:pPr>
            <a:endParaRPr lang="fr-CA" sz="2000" dirty="0"/>
          </a:p>
          <a:p>
            <a:pPr marL="0" indent="0">
              <a:buNone/>
            </a:pPr>
            <a:r>
              <a:rPr lang="fr-CA" sz="2000" dirty="0"/>
              <a:t>Obligation locative		    24 210</a:t>
            </a:r>
          </a:p>
          <a:p>
            <a:pPr marL="0" indent="0">
              <a:buNone/>
            </a:pPr>
            <a:r>
              <a:rPr lang="fr-CA" sz="2000" dirty="0"/>
              <a:t>Intérêts à payer		      2 905</a:t>
            </a:r>
          </a:p>
          <a:p>
            <a:pPr marL="0" indent="0">
              <a:buNone/>
            </a:pPr>
            <a:r>
              <a:rPr lang="fr-CA" sz="2000" dirty="0"/>
              <a:t>@  Caisse			   	      27 115</a:t>
            </a:r>
          </a:p>
          <a:p>
            <a:pPr marL="0" indent="0">
              <a:buNone/>
            </a:pPr>
            <a:r>
              <a:rPr lang="fr-CA" sz="2000" i="1" dirty="0">
                <a:solidFill>
                  <a:srgbClr val="FF0000"/>
                </a:solidFill>
              </a:rPr>
              <a:t>Exercice de l’option d’achat - prix de faveur</a:t>
            </a:r>
            <a:endParaRPr lang="fr-FR" sz="2000" i="1" dirty="0">
              <a:solidFill>
                <a:srgbClr val="FF0000"/>
              </a:solidFill>
            </a:endParaRPr>
          </a:p>
        </p:txBody>
      </p:sp>
      <p:sp>
        <p:nvSpPr>
          <p:cNvPr id="4" name="Espace réservé du pied de page 3">
            <a:extLst>
              <a:ext uri="{FF2B5EF4-FFF2-40B4-BE49-F238E27FC236}">
                <a16:creationId xmlns:a16="http://schemas.microsoft.com/office/drawing/2014/main" id="{1A93F93D-6CAF-443E-8802-1DF8A871F6A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2E7E781-D7C9-48E8-869D-3D5FFF21CCC4}"/>
              </a:ext>
            </a:extLst>
          </p:cNvPr>
          <p:cNvSpPr>
            <a:spLocks noGrp="1"/>
          </p:cNvSpPr>
          <p:nvPr>
            <p:ph type="sldNum" sz="quarter" idx="12"/>
          </p:nvPr>
        </p:nvSpPr>
        <p:spPr/>
        <p:txBody>
          <a:bodyPr/>
          <a:lstStyle/>
          <a:p>
            <a:fld id="{83AE54BF-1D3E-4F4A-82B1-C4E42C537D7C}" type="slidenum">
              <a:rPr lang="fr-FR" smtClean="0"/>
              <a:t>37</a:t>
            </a:fld>
            <a:endParaRPr lang="fr-FR"/>
          </a:p>
        </p:txBody>
      </p:sp>
    </p:spTree>
    <p:extLst>
      <p:ext uri="{BB962C8B-B14F-4D97-AF65-F5344CB8AC3E}">
        <p14:creationId xmlns:p14="http://schemas.microsoft.com/office/powerpoint/2010/main" val="4229920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CFAE6A-9279-43D9-81BC-A9A97F7DB18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9A1AFAF7-35CC-4EA6-8591-F03D76F65939}"/>
              </a:ext>
            </a:extLst>
          </p:cNvPr>
          <p:cNvSpPr>
            <a:spLocks noGrp="1"/>
          </p:cNvSpPr>
          <p:nvPr>
            <p:ph idx="1"/>
          </p:nvPr>
        </p:nvSpPr>
        <p:spPr/>
        <p:txBody>
          <a:bodyPr>
            <a:normAutofit/>
          </a:bodyPr>
          <a:lstStyle/>
          <a:p>
            <a:pPr marL="0" indent="0">
              <a:buNone/>
            </a:pPr>
            <a:r>
              <a:rPr lang="fr-CA" sz="1800" dirty="0"/>
              <a:t>Amortissement cum – </a:t>
            </a:r>
            <a:r>
              <a:rPr lang="fr-CA" sz="1800" dirty="0" err="1"/>
              <a:t>équip</a:t>
            </a:r>
            <a:r>
              <a:rPr lang="fr-CA" sz="1800" dirty="0"/>
              <a:t> loué 	57 600</a:t>
            </a:r>
          </a:p>
          <a:p>
            <a:pPr marL="0" indent="0">
              <a:buNone/>
            </a:pPr>
            <a:r>
              <a:rPr lang="fr-CA" sz="1800" dirty="0"/>
              <a:t>Équipement			42 400</a:t>
            </a:r>
          </a:p>
          <a:p>
            <a:pPr marL="0" indent="0">
              <a:buNone/>
            </a:pPr>
            <a:r>
              <a:rPr lang="fr-CA" sz="1800" dirty="0"/>
              <a:t>@  Équipement loué		     	100 000</a:t>
            </a:r>
          </a:p>
          <a:p>
            <a:pPr marL="0" indent="0">
              <a:buNone/>
            </a:pPr>
            <a:r>
              <a:rPr lang="fr-CA" sz="1800" i="1" dirty="0" err="1">
                <a:solidFill>
                  <a:srgbClr val="FF0000"/>
                </a:solidFill>
              </a:rPr>
              <a:t>Décomptabilisation</a:t>
            </a:r>
            <a:r>
              <a:rPr lang="fr-CA" sz="1800" i="1" dirty="0">
                <a:solidFill>
                  <a:srgbClr val="FF0000"/>
                </a:solidFill>
              </a:rPr>
              <a:t> de l’équipement loué et comptabilisation de l’acquisition</a:t>
            </a:r>
          </a:p>
          <a:p>
            <a:pPr marL="0" indent="0">
              <a:buNone/>
            </a:pPr>
            <a:endParaRPr lang="fr-CA" sz="1800" i="1" dirty="0">
              <a:solidFill>
                <a:srgbClr val="FF0000"/>
              </a:solidFill>
            </a:endParaRPr>
          </a:p>
          <a:p>
            <a:pPr marL="0" indent="0">
              <a:buNone/>
            </a:pPr>
            <a:r>
              <a:rPr lang="fr-CA" sz="1800" dirty="0"/>
              <a:t>Et continuera à amortir l’équipement sur la durée restante de deux ans</a:t>
            </a:r>
          </a:p>
        </p:txBody>
      </p:sp>
      <p:sp>
        <p:nvSpPr>
          <p:cNvPr id="4" name="Espace réservé du pied de page 3">
            <a:extLst>
              <a:ext uri="{FF2B5EF4-FFF2-40B4-BE49-F238E27FC236}">
                <a16:creationId xmlns:a16="http://schemas.microsoft.com/office/drawing/2014/main" id="{853468CF-F6A9-4C33-8324-0FDE204C4EB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B6C5E1EE-9B6A-41FC-9333-5872CEC57C25}"/>
              </a:ext>
            </a:extLst>
          </p:cNvPr>
          <p:cNvSpPr>
            <a:spLocks noGrp="1"/>
          </p:cNvSpPr>
          <p:nvPr>
            <p:ph type="sldNum" sz="quarter" idx="12"/>
          </p:nvPr>
        </p:nvSpPr>
        <p:spPr/>
        <p:txBody>
          <a:bodyPr/>
          <a:lstStyle/>
          <a:p>
            <a:fld id="{83AE54BF-1D3E-4F4A-82B1-C4E42C537D7C}" type="slidenum">
              <a:rPr lang="fr-FR" smtClean="0"/>
              <a:t>38</a:t>
            </a:fld>
            <a:endParaRPr lang="fr-FR"/>
          </a:p>
        </p:txBody>
      </p:sp>
    </p:spTree>
    <p:extLst>
      <p:ext uri="{BB962C8B-B14F-4D97-AF65-F5344CB8AC3E}">
        <p14:creationId xmlns:p14="http://schemas.microsoft.com/office/powerpoint/2010/main" val="34377099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D1A94-326C-4113-A6EF-1FCB1F60EEA2}"/>
              </a:ext>
            </a:extLst>
          </p:cNvPr>
          <p:cNvSpPr>
            <a:spLocks noGrp="1"/>
          </p:cNvSpPr>
          <p:nvPr>
            <p:ph type="title"/>
          </p:nvPr>
        </p:nvSpPr>
        <p:spPr/>
        <p:txBody>
          <a:bodyPr/>
          <a:lstStyle/>
          <a:p>
            <a:r>
              <a:rPr lang="fr-CA" dirty="0"/>
              <a:t>Bailleur</a:t>
            </a:r>
            <a:endParaRPr lang="fr-FR" dirty="0"/>
          </a:p>
        </p:txBody>
      </p:sp>
      <p:sp>
        <p:nvSpPr>
          <p:cNvPr id="3" name="Espace réservé du contenu 2">
            <a:extLst>
              <a:ext uri="{FF2B5EF4-FFF2-40B4-BE49-F238E27FC236}">
                <a16:creationId xmlns:a16="http://schemas.microsoft.com/office/drawing/2014/main" id="{2D59E2BD-A57B-4660-8623-A82DB552956B}"/>
              </a:ext>
            </a:extLst>
          </p:cNvPr>
          <p:cNvSpPr>
            <a:spLocks noGrp="1"/>
          </p:cNvSpPr>
          <p:nvPr>
            <p:ph idx="1"/>
          </p:nvPr>
        </p:nvSpPr>
        <p:spPr/>
        <p:txBody>
          <a:bodyPr/>
          <a:lstStyle/>
          <a:p>
            <a:endParaRPr lang="fr-FR"/>
          </a:p>
        </p:txBody>
      </p:sp>
      <p:sp>
        <p:nvSpPr>
          <p:cNvPr id="4" name="Espace réservé du pied de page 3">
            <a:extLst>
              <a:ext uri="{FF2B5EF4-FFF2-40B4-BE49-F238E27FC236}">
                <a16:creationId xmlns:a16="http://schemas.microsoft.com/office/drawing/2014/main" id="{D73CF4EA-3ABD-450E-83C4-1EABDA70C5C5}"/>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580A70EE-1502-4A6B-88FE-FEDE2211878F}"/>
              </a:ext>
            </a:extLst>
          </p:cNvPr>
          <p:cNvSpPr>
            <a:spLocks noGrp="1"/>
          </p:cNvSpPr>
          <p:nvPr>
            <p:ph type="sldNum" sz="quarter" idx="12"/>
          </p:nvPr>
        </p:nvSpPr>
        <p:spPr/>
        <p:txBody>
          <a:bodyPr/>
          <a:lstStyle/>
          <a:p>
            <a:fld id="{83AE54BF-1D3E-4F4A-82B1-C4E42C537D7C}" type="slidenum">
              <a:rPr lang="fr-FR" smtClean="0"/>
              <a:t>39</a:t>
            </a:fld>
            <a:endParaRPr lang="fr-FR"/>
          </a:p>
        </p:txBody>
      </p:sp>
    </p:spTree>
    <p:extLst>
      <p:ext uri="{BB962C8B-B14F-4D97-AF65-F5344CB8AC3E}">
        <p14:creationId xmlns:p14="http://schemas.microsoft.com/office/powerpoint/2010/main" val="2938583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Classement - bailleur</a:t>
            </a:r>
          </a:p>
        </p:txBody>
      </p:sp>
      <p:sp>
        <p:nvSpPr>
          <p:cNvPr id="3" name="Espace réservé du contenu 2"/>
          <p:cNvSpPr>
            <a:spLocks noGrp="1"/>
          </p:cNvSpPr>
          <p:nvPr>
            <p:ph idx="1"/>
          </p:nvPr>
        </p:nvSpPr>
        <p:spPr/>
        <p:txBody>
          <a:bodyPr>
            <a:normAutofit fontScale="85000" lnSpcReduction="20000"/>
          </a:bodyPr>
          <a:lstStyle/>
          <a:p>
            <a:pPr marL="0" indent="0">
              <a:buNone/>
            </a:pPr>
            <a:r>
              <a:rPr lang="fr-FR" b="1" dirty="0"/>
              <a:t>Bailleur</a:t>
            </a:r>
            <a:r>
              <a:rPr lang="fr-FR" dirty="0"/>
              <a:t> : transfert des avantages et des risques - toutes les conditions</a:t>
            </a:r>
          </a:p>
          <a:p>
            <a:r>
              <a:rPr lang="fr-FR" dirty="0"/>
              <a:t>Une des conditions du preneur</a:t>
            </a:r>
          </a:p>
          <a:p>
            <a:r>
              <a:rPr lang="fr-FR" dirty="0"/>
              <a:t>Risque de recouvrement des loyers n’est pas supérieur au risque lié normalement au recouvrement de créances similaires</a:t>
            </a:r>
          </a:p>
          <a:p>
            <a:r>
              <a:rPr lang="fr-FR" dirty="0"/>
              <a:t>Montant des coûts non remboursables que le bailleur pourrait être amené à engager aux termes du bail peut être estimé avec assez de précision</a:t>
            </a:r>
          </a:p>
          <a:p>
            <a:endParaRPr lang="fr-FR" dirty="0">
              <a:solidFill>
                <a:srgbClr val="FF0000"/>
              </a:solidFill>
            </a:endParaRPr>
          </a:p>
          <a:p>
            <a:r>
              <a:rPr lang="fr-CA" sz="2400" dirty="0"/>
              <a:t>09     </a:t>
            </a:r>
            <a:r>
              <a:rPr lang="fr-CA" sz="2400" i="1" dirty="0"/>
              <a:t>Lorsque, aux termes d'un bail, pratiquement tous les avantages et les risques inhérents à la propriété du bien loué sont transférés du bailleur au preneur, ce bail doit être comptabilisé comme un contrat de location-acquisition par le preneur et comme un contrat de location-vente ou de location-financement par le bailleur.</a:t>
            </a:r>
          </a:p>
          <a:p>
            <a:r>
              <a:rPr lang="fr-CA" sz="2400" dirty="0"/>
              <a:t>.10     </a:t>
            </a:r>
            <a:r>
              <a:rPr lang="fr-CA" sz="2400" i="1" dirty="0"/>
              <a:t>Lorsque, aux termes d'un bail, pratiquement tous les avantages et les risques inhérents à la propriété sont laissés au bailleur, ce bail doit être comptabilisé comme un contrat de location-exploitation tant par le bailleur que par le preneur.</a:t>
            </a:r>
            <a:endParaRPr lang="fr-FR" sz="2400"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40</a:t>
            </a:fld>
            <a:endParaRPr lang="fr-FR"/>
          </a:p>
        </p:txBody>
      </p:sp>
      <p:sp>
        <p:nvSpPr>
          <p:cNvPr id="5" name="Espace réservé du pied de page 4">
            <a:extLst>
              <a:ext uri="{FF2B5EF4-FFF2-40B4-BE49-F238E27FC236}">
                <a16:creationId xmlns:a16="http://schemas.microsoft.com/office/drawing/2014/main" id="{B1AF1D05-997D-4B39-9556-1F155EEBFE4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4950556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Classement - bailleur</a:t>
            </a:r>
          </a:p>
        </p:txBody>
      </p:sp>
      <p:sp>
        <p:nvSpPr>
          <p:cNvPr id="3" name="Espace réservé du contenu 2"/>
          <p:cNvSpPr>
            <a:spLocks noGrp="1"/>
          </p:cNvSpPr>
          <p:nvPr>
            <p:ph idx="1"/>
          </p:nvPr>
        </p:nvSpPr>
        <p:spPr>
          <a:xfrm>
            <a:off x="838200" y="1466850"/>
            <a:ext cx="10515600" cy="4889500"/>
          </a:xfrm>
        </p:spPr>
        <p:txBody>
          <a:bodyPr>
            <a:normAutofit fontScale="85000" lnSpcReduction="20000"/>
          </a:bodyPr>
          <a:lstStyle/>
          <a:p>
            <a:r>
              <a:rPr lang="fr-FR" dirty="0"/>
              <a:t>Bailleur</a:t>
            </a:r>
          </a:p>
          <a:p>
            <a:pPr lvl="1"/>
            <a:r>
              <a:rPr lang="fr-FR" b="1" dirty="0"/>
              <a:t>Location-exploitation</a:t>
            </a:r>
            <a:r>
              <a:rPr lang="fr-FR" dirty="0"/>
              <a:t> : </a:t>
            </a:r>
            <a:r>
              <a:rPr lang="fr-CA" dirty="0"/>
              <a:t>bail laissant au bailleur pratiquement tous les avantages et les risques inhérents à la propriété du bien.</a:t>
            </a:r>
            <a:r>
              <a:rPr lang="fr-FR" dirty="0"/>
              <a:t> </a:t>
            </a:r>
          </a:p>
          <a:p>
            <a:pPr lvl="2"/>
            <a:r>
              <a:rPr lang="fr-FR" dirty="0">
                <a:solidFill>
                  <a:srgbClr val="FF0000"/>
                </a:solidFill>
              </a:rPr>
              <a:t>(location simple)</a:t>
            </a:r>
          </a:p>
          <a:p>
            <a:pPr lvl="2"/>
            <a:endParaRPr lang="fr-FR" dirty="0"/>
          </a:p>
          <a:p>
            <a:pPr lvl="1"/>
            <a:r>
              <a:rPr lang="fr-FR" b="1" dirty="0"/>
              <a:t>Location-vente</a:t>
            </a:r>
            <a:r>
              <a:rPr lang="fr-FR" dirty="0"/>
              <a:t> (fabricant / distributeur) : </a:t>
            </a:r>
            <a:r>
              <a:rPr lang="fr-CA" dirty="0"/>
              <a:t>bail par lequel pratiquement tous les avantages et les risques inhérents à la propriété du bien sont transférés au preneur; à la date d'entrée en vigueur du bail, la juste valeur du bien loué est supérieure ou inférieure à sa valeur comptable, ce qui donne lieu à un profit ou une perte pour le bailleur (qui, dans la plupart des cas, est un fabricant ou un distributeur).</a:t>
            </a:r>
            <a:r>
              <a:rPr lang="fr-FR" dirty="0"/>
              <a:t> </a:t>
            </a:r>
          </a:p>
          <a:p>
            <a:pPr lvl="2"/>
            <a:r>
              <a:rPr lang="fr-FR" dirty="0">
                <a:solidFill>
                  <a:srgbClr val="FF0000"/>
                </a:solidFill>
              </a:rPr>
              <a:t>(location financement)</a:t>
            </a:r>
          </a:p>
          <a:p>
            <a:pPr lvl="2"/>
            <a:endParaRPr lang="fr-FR" dirty="0"/>
          </a:p>
          <a:p>
            <a:pPr lvl="1"/>
            <a:r>
              <a:rPr lang="fr-FR" b="1" dirty="0"/>
              <a:t>Location-financement</a:t>
            </a:r>
            <a:r>
              <a:rPr lang="fr-FR" dirty="0"/>
              <a:t> (intermédiaire financier) : </a:t>
            </a:r>
            <a:r>
              <a:rPr lang="fr-CA" dirty="0"/>
              <a:t>bail par lequel pratiquement tous les avantages et les risques inhérents à la propriété du bien sont transférés au preneur; à la date d'entrée en vigueur du bail, la juste valeur du bien loué est identique à sa valeur comptable pour le bailleur (qui, habituellement, n'est ni un fabricant, ni un distributeur). En cas de renouvellement ou de prolongation, on peut continuer à considérer le bail comme un contrat de location-financement même si la valeur comptable du bien au terme de la durée du bail initial diffère de sa juste valeur à cette date. </a:t>
            </a:r>
          </a:p>
          <a:p>
            <a:pPr lvl="2"/>
            <a:r>
              <a:rPr lang="fr-FR" dirty="0">
                <a:solidFill>
                  <a:srgbClr val="FF0000"/>
                </a:solidFill>
              </a:rPr>
              <a:t>(location financement)</a:t>
            </a:r>
            <a:endParaRPr lang="fr-FR"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41</a:t>
            </a:fld>
            <a:endParaRPr lang="fr-FR"/>
          </a:p>
        </p:txBody>
      </p:sp>
      <p:sp>
        <p:nvSpPr>
          <p:cNvPr id="5" name="Espace réservé du pied de page 4">
            <a:extLst>
              <a:ext uri="{FF2B5EF4-FFF2-40B4-BE49-F238E27FC236}">
                <a16:creationId xmlns:a16="http://schemas.microsoft.com/office/drawing/2014/main" id="{40075078-CDE6-4B9C-8BB6-E2D84A5A7B9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3571900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Bailleur</a:t>
            </a:r>
          </a:p>
        </p:txBody>
      </p:sp>
      <p:sp>
        <p:nvSpPr>
          <p:cNvPr id="3" name="Espace réservé du contenu 2"/>
          <p:cNvSpPr>
            <a:spLocks noGrp="1"/>
          </p:cNvSpPr>
          <p:nvPr>
            <p:ph idx="1"/>
          </p:nvPr>
        </p:nvSpPr>
        <p:spPr/>
        <p:txBody>
          <a:bodyPr/>
          <a:lstStyle/>
          <a:p>
            <a:r>
              <a:rPr lang="fr-FR" dirty="0"/>
              <a:t>Location-financement</a:t>
            </a:r>
          </a:p>
          <a:p>
            <a:pPr lvl="1"/>
            <a:r>
              <a:rPr lang="fr-FR" dirty="0"/>
              <a:t>Produits financiers</a:t>
            </a:r>
          </a:p>
          <a:p>
            <a:pPr lvl="1"/>
            <a:endParaRPr lang="fr-FR" dirty="0"/>
          </a:p>
          <a:p>
            <a:r>
              <a:rPr lang="fr-FR" dirty="0"/>
              <a:t>Location-vente</a:t>
            </a:r>
          </a:p>
          <a:p>
            <a:pPr lvl="1"/>
            <a:r>
              <a:rPr lang="fr-FR" dirty="0"/>
              <a:t>Vente du produit + produits financiers</a:t>
            </a:r>
          </a:p>
          <a:p>
            <a:pPr lvl="1"/>
            <a:endParaRPr lang="fr-FR" dirty="0"/>
          </a:p>
          <a:p>
            <a:r>
              <a:rPr lang="fr-FR" dirty="0"/>
              <a:t>Présentation</a:t>
            </a:r>
          </a:p>
          <a:p>
            <a:pPr lvl="1"/>
            <a:r>
              <a:rPr lang="fr-FR" dirty="0"/>
              <a:t>Créance à long terme, portion à court terme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42</a:t>
            </a:fld>
            <a:endParaRPr lang="fr-FR"/>
          </a:p>
        </p:txBody>
      </p:sp>
      <p:sp>
        <p:nvSpPr>
          <p:cNvPr id="5" name="Espace réservé du pied de page 4">
            <a:extLst>
              <a:ext uri="{FF2B5EF4-FFF2-40B4-BE49-F238E27FC236}">
                <a16:creationId xmlns:a16="http://schemas.microsoft.com/office/drawing/2014/main" id="{944CFF9F-1A24-40E1-88E0-83E352AA3BEE}"/>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7148383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Bailleur– location-exploitation</a:t>
            </a:r>
          </a:p>
        </p:txBody>
      </p:sp>
      <p:sp>
        <p:nvSpPr>
          <p:cNvPr id="3" name="Espace réservé du contenu 2"/>
          <p:cNvSpPr>
            <a:spLocks noGrp="1"/>
          </p:cNvSpPr>
          <p:nvPr>
            <p:ph idx="1"/>
          </p:nvPr>
        </p:nvSpPr>
        <p:spPr/>
        <p:txBody>
          <a:bodyPr/>
          <a:lstStyle/>
          <a:p>
            <a:r>
              <a:rPr lang="fr-FR" dirty="0"/>
              <a:t>Les produits doivent être comptabilisés selon une formule linéaire appliquée sur la durée du bail</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43</a:t>
            </a:fld>
            <a:endParaRPr lang="fr-FR"/>
          </a:p>
        </p:txBody>
      </p:sp>
      <p:sp>
        <p:nvSpPr>
          <p:cNvPr id="5" name="Espace réservé du pied de page 4">
            <a:extLst>
              <a:ext uri="{FF2B5EF4-FFF2-40B4-BE49-F238E27FC236}">
                <a16:creationId xmlns:a16="http://schemas.microsoft.com/office/drawing/2014/main" id="{4C0AA205-C39E-4B9F-BAC6-82D9D88C5E9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5616044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8017D2-461F-46C5-B9AA-48A7FD62DE38}"/>
              </a:ext>
            </a:extLst>
          </p:cNvPr>
          <p:cNvSpPr>
            <a:spLocks noGrp="1"/>
          </p:cNvSpPr>
          <p:nvPr>
            <p:ph type="title"/>
          </p:nvPr>
        </p:nvSpPr>
        <p:spPr/>
        <p:txBody>
          <a:bodyPr/>
          <a:lstStyle/>
          <a:p>
            <a:r>
              <a:rPr lang="fr-CA" dirty="0"/>
              <a:t>Définitions</a:t>
            </a:r>
            <a:endParaRPr lang="fr-FR" dirty="0"/>
          </a:p>
        </p:txBody>
      </p:sp>
      <p:sp>
        <p:nvSpPr>
          <p:cNvPr id="3" name="Espace réservé du contenu 2">
            <a:extLst>
              <a:ext uri="{FF2B5EF4-FFF2-40B4-BE49-F238E27FC236}">
                <a16:creationId xmlns:a16="http://schemas.microsoft.com/office/drawing/2014/main" id="{826A66FF-2681-4B16-9CE7-19F410865B09}"/>
              </a:ext>
            </a:extLst>
          </p:cNvPr>
          <p:cNvSpPr>
            <a:spLocks noGrp="1"/>
          </p:cNvSpPr>
          <p:nvPr>
            <p:ph idx="1"/>
          </p:nvPr>
        </p:nvSpPr>
        <p:spPr>
          <a:xfrm>
            <a:off x="838200" y="1552575"/>
            <a:ext cx="10515600" cy="4624388"/>
          </a:xfrm>
        </p:spPr>
        <p:txBody>
          <a:bodyPr>
            <a:normAutofit fontScale="92500" lnSpcReduction="10000"/>
          </a:bodyPr>
          <a:lstStyle/>
          <a:p>
            <a:pPr marL="0" indent="0">
              <a:buNone/>
            </a:pPr>
            <a:r>
              <a:rPr lang="fr-CA" sz="2400" b="1" dirty="0"/>
              <a:t>Paiements minimums exigibles en vertu du bail :</a:t>
            </a:r>
            <a:endParaRPr lang="fr-CA" sz="2400" dirty="0"/>
          </a:p>
          <a:p>
            <a:pPr marL="0" indent="0">
              <a:buNone/>
            </a:pPr>
            <a:r>
              <a:rPr lang="fr-CA" sz="2400" dirty="0"/>
              <a:t>ii)     Pour le bailleur, les paiements minimums exigibles en vertu du bail comprennent :</a:t>
            </a:r>
          </a:p>
          <a:p>
            <a:pPr marL="0" indent="0">
              <a:buNone/>
            </a:pPr>
            <a:r>
              <a:rPr lang="fr-CA" sz="2400" dirty="0"/>
              <a:t>—     les </a:t>
            </a:r>
            <a:r>
              <a:rPr lang="fr-CA" sz="2400" dirty="0">
                <a:solidFill>
                  <a:srgbClr val="0070C0"/>
                </a:solidFill>
              </a:rPr>
              <a:t>paiements minimums définis ci-dessus pour le preneur</a:t>
            </a:r>
            <a:r>
              <a:rPr lang="fr-CA" sz="2400" dirty="0"/>
              <a:t>,</a:t>
            </a:r>
          </a:p>
          <a:p>
            <a:pPr marL="0" indent="0">
              <a:buNone/>
            </a:pPr>
            <a:r>
              <a:rPr lang="fr-CA" sz="2400" dirty="0"/>
              <a:t>—     plus toute </a:t>
            </a:r>
            <a:r>
              <a:rPr lang="fr-CA" sz="2400" dirty="0">
                <a:solidFill>
                  <a:srgbClr val="0070C0"/>
                </a:solidFill>
              </a:rPr>
              <a:t>valeur résiduelle </a:t>
            </a:r>
            <a:r>
              <a:rPr lang="fr-CA" sz="2400" dirty="0"/>
              <a:t>ainsi que tous loyers exigibles au-delà de la durée du bail, qui sont garantis par une tierce partie non apparentée au preneur ou au bailleur, pour autant que le garant ait la capacité financière d'honorer les obligations afférentes à la garantie.</a:t>
            </a:r>
          </a:p>
          <a:p>
            <a:pPr marL="0" indent="0">
              <a:buNone/>
            </a:pPr>
            <a:endParaRPr lang="fr-CA" sz="2400" dirty="0"/>
          </a:p>
          <a:p>
            <a:pPr marL="0" indent="0">
              <a:buNone/>
            </a:pPr>
            <a:r>
              <a:rPr lang="fr-CA" sz="2400" b="1" dirty="0"/>
              <a:t>Frais initiaux directs :</a:t>
            </a:r>
            <a:r>
              <a:rPr lang="fr-CA" sz="2400" dirty="0"/>
              <a:t> frais engagés par le bailleur et directement liés à la négociation et à l'exécution d'un bail donné. Ces frais comprennent les commissions, les frais juridiques et les coûts relatifs à la préparation et à la rédaction des documents ayant trait au nouveau bail. Ils ne comprennent ni les frais d'encadrement et d'administration, ni les frais de publicité et de conception qui ne portent pas uniquement sur le bail en question, ni les frais de recouvrement et les provisions pour loyers non recouvrables.</a:t>
            </a:r>
          </a:p>
          <a:p>
            <a:pPr marL="0" indent="0">
              <a:buNone/>
            </a:pPr>
            <a:endParaRPr lang="fr-CA" dirty="0"/>
          </a:p>
          <a:p>
            <a:pPr marL="0" indent="0">
              <a:buNone/>
            </a:pPr>
            <a:endParaRPr lang="fr-FR" dirty="0"/>
          </a:p>
        </p:txBody>
      </p:sp>
      <p:sp>
        <p:nvSpPr>
          <p:cNvPr id="4" name="Espace réservé du pied de page 3">
            <a:extLst>
              <a:ext uri="{FF2B5EF4-FFF2-40B4-BE49-F238E27FC236}">
                <a16:creationId xmlns:a16="http://schemas.microsoft.com/office/drawing/2014/main" id="{2171CDDB-1FFE-4CE1-A8BF-CE3DEC7F3C7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C831D013-802B-4CB7-8EA8-EE8E4FE0EDEE}"/>
              </a:ext>
            </a:extLst>
          </p:cNvPr>
          <p:cNvSpPr>
            <a:spLocks noGrp="1"/>
          </p:cNvSpPr>
          <p:nvPr>
            <p:ph type="sldNum" sz="quarter" idx="12"/>
          </p:nvPr>
        </p:nvSpPr>
        <p:spPr/>
        <p:txBody>
          <a:bodyPr/>
          <a:lstStyle/>
          <a:p>
            <a:fld id="{83AE54BF-1D3E-4F4A-82B1-C4E42C537D7C}" type="slidenum">
              <a:rPr lang="fr-FR" smtClean="0"/>
              <a:t>44</a:t>
            </a:fld>
            <a:endParaRPr lang="fr-FR"/>
          </a:p>
        </p:txBody>
      </p:sp>
    </p:spTree>
    <p:extLst>
      <p:ext uri="{BB962C8B-B14F-4D97-AF65-F5344CB8AC3E}">
        <p14:creationId xmlns:p14="http://schemas.microsoft.com/office/powerpoint/2010/main" val="36137351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C77CA9-D18C-472A-B92F-BC883ED93B13}"/>
              </a:ext>
            </a:extLst>
          </p:cNvPr>
          <p:cNvSpPr>
            <a:spLocks noGrp="1"/>
          </p:cNvSpPr>
          <p:nvPr>
            <p:ph type="title"/>
          </p:nvPr>
        </p:nvSpPr>
        <p:spPr/>
        <p:txBody>
          <a:bodyPr/>
          <a:lstStyle/>
          <a:p>
            <a:r>
              <a:rPr lang="fr-CA" dirty="0"/>
              <a:t>Contrat de location-financement</a:t>
            </a:r>
            <a:endParaRPr lang="fr-FR" dirty="0"/>
          </a:p>
        </p:txBody>
      </p:sp>
      <p:sp>
        <p:nvSpPr>
          <p:cNvPr id="3" name="Espace réservé du contenu 2">
            <a:extLst>
              <a:ext uri="{FF2B5EF4-FFF2-40B4-BE49-F238E27FC236}">
                <a16:creationId xmlns:a16="http://schemas.microsoft.com/office/drawing/2014/main" id="{147B2BB1-CA8A-44D0-B53B-80584D4B2992}"/>
              </a:ext>
            </a:extLst>
          </p:cNvPr>
          <p:cNvSpPr>
            <a:spLocks noGrp="1"/>
          </p:cNvSpPr>
          <p:nvPr>
            <p:ph idx="1"/>
          </p:nvPr>
        </p:nvSpPr>
        <p:spPr/>
        <p:txBody>
          <a:bodyPr>
            <a:normAutofit fontScale="62500" lnSpcReduction="20000"/>
          </a:bodyPr>
          <a:lstStyle/>
          <a:p>
            <a:r>
              <a:rPr lang="fr-CA" dirty="0"/>
              <a:t>.29     On retrouve le plus souvent les contrats de location-financement dans les situations où le bailleur sert d'intermédiaire financier entre le fabricant ou le distributeur et le preneur. Ces contrats de location génèrent des produits sous forme de produits financiers.</a:t>
            </a:r>
          </a:p>
          <a:p>
            <a:pPr lvl="1"/>
            <a:r>
              <a:rPr lang="fr-FR" dirty="0">
                <a:solidFill>
                  <a:srgbClr val="FF0000"/>
                </a:solidFill>
              </a:rPr>
              <a:t>Produits financiers</a:t>
            </a:r>
          </a:p>
          <a:p>
            <a:endParaRPr lang="fr-CA" dirty="0"/>
          </a:p>
          <a:p>
            <a:r>
              <a:rPr lang="fr-CA" dirty="0"/>
              <a:t>.30     Les produits financiers découlant d'un contrat de location-financement correspondent à la différence entre les deux montants suivants :</a:t>
            </a:r>
          </a:p>
          <a:p>
            <a:pPr marL="714375" indent="-447675">
              <a:buNone/>
            </a:pPr>
            <a:r>
              <a:rPr lang="fr-CA" dirty="0"/>
              <a:t>a)     le total des paiements minimums exigibles en vertu du bail, abstraction faite des frais accessoires et de la marge de profit qui y est intégrée, plus toute valeur résiduelle non garantie revenant au bailleur;</a:t>
            </a:r>
          </a:p>
          <a:p>
            <a:pPr marL="714375" indent="-447675">
              <a:buNone/>
            </a:pPr>
            <a:r>
              <a:rPr lang="fr-CA" dirty="0"/>
              <a:t>b)     son coût d'origine ou, si elle est différente du coût d'origine, la valeur comptable du bien loué.</a:t>
            </a:r>
          </a:p>
          <a:p>
            <a:endParaRPr lang="fr-CA" dirty="0"/>
          </a:p>
          <a:p>
            <a:r>
              <a:rPr lang="fr-CA" dirty="0"/>
              <a:t>.35     </a:t>
            </a:r>
            <a:r>
              <a:rPr lang="fr-CA" i="1" dirty="0"/>
              <a:t>Le bailleur qui a conclu un </a:t>
            </a:r>
            <a:r>
              <a:rPr lang="fr-CA" i="1" dirty="0">
                <a:solidFill>
                  <a:srgbClr val="0070C0"/>
                </a:solidFill>
              </a:rPr>
              <a:t>contrat de location-financement </a:t>
            </a:r>
            <a:r>
              <a:rPr lang="fr-CA" i="1" dirty="0"/>
              <a:t>doit imputer les frais initiaux directs </a:t>
            </a:r>
            <a:r>
              <a:rPr lang="fr-CA" i="1" dirty="0">
                <a:solidFill>
                  <a:srgbClr val="0070C0"/>
                </a:solidFill>
              </a:rPr>
              <a:t>aux résultats de l'exercice au cours duquel ils sont engagés et imputer en contrepartie un montant égal de produits financiers non gagnés</a:t>
            </a:r>
            <a:r>
              <a:rPr lang="fr-CA" i="1" dirty="0"/>
              <a:t>. Le reste des produits doit être reporté et imputé aux résultats sur la durée du bail selon une formule permettant de dégager un taux de rendement constant de l'investissement restant dans le contrat de location.</a:t>
            </a:r>
          </a:p>
        </p:txBody>
      </p:sp>
      <p:sp>
        <p:nvSpPr>
          <p:cNvPr id="4" name="Espace réservé du pied de page 3">
            <a:extLst>
              <a:ext uri="{FF2B5EF4-FFF2-40B4-BE49-F238E27FC236}">
                <a16:creationId xmlns:a16="http://schemas.microsoft.com/office/drawing/2014/main" id="{E394D6C9-DA79-494C-AB4B-63D486CB181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C5C9E82-98D1-41F0-997C-66BCF768302F}"/>
              </a:ext>
            </a:extLst>
          </p:cNvPr>
          <p:cNvSpPr>
            <a:spLocks noGrp="1"/>
          </p:cNvSpPr>
          <p:nvPr>
            <p:ph type="sldNum" sz="quarter" idx="12"/>
          </p:nvPr>
        </p:nvSpPr>
        <p:spPr/>
        <p:txBody>
          <a:bodyPr/>
          <a:lstStyle/>
          <a:p>
            <a:fld id="{83AE54BF-1D3E-4F4A-82B1-C4E42C537D7C}" type="slidenum">
              <a:rPr lang="fr-FR" smtClean="0"/>
              <a:t>45</a:t>
            </a:fld>
            <a:endParaRPr lang="fr-FR"/>
          </a:p>
        </p:txBody>
      </p:sp>
    </p:spTree>
    <p:extLst>
      <p:ext uri="{BB962C8B-B14F-4D97-AF65-F5344CB8AC3E}">
        <p14:creationId xmlns:p14="http://schemas.microsoft.com/office/powerpoint/2010/main" val="26644624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C77CA9-D18C-472A-B92F-BC883ED93B13}"/>
              </a:ext>
            </a:extLst>
          </p:cNvPr>
          <p:cNvSpPr>
            <a:spLocks noGrp="1"/>
          </p:cNvSpPr>
          <p:nvPr>
            <p:ph type="title"/>
          </p:nvPr>
        </p:nvSpPr>
        <p:spPr/>
        <p:txBody>
          <a:bodyPr/>
          <a:lstStyle/>
          <a:p>
            <a:r>
              <a:rPr lang="fr-CA" dirty="0"/>
              <a:t>Contrat de location-vente</a:t>
            </a:r>
            <a:endParaRPr lang="fr-FR" dirty="0"/>
          </a:p>
        </p:txBody>
      </p:sp>
      <p:sp>
        <p:nvSpPr>
          <p:cNvPr id="3" name="Espace réservé du contenu 2">
            <a:extLst>
              <a:ext uri="{FF2B5EF4-FFF2-40B4-BE49-F238E27FC236}">
                <a16:creationId xmlns:a16="http://schemas.microsoft.com/office/drawing/2014/main" id="{147B2BB1-CA8A-44D0-B53B-80584D4B2992}"/>
              </a:ext>
            </a:extLst>
          </p:cNvPr>
          <p:cNvSpPr>
            <a:spLocks noGrp="1"/>
          </p:cNvSpPr>
          <p:nvPr>
            <p:ph idx="1"/>
          </p:nvPr>
        </p:nvSpPr>
        <p:spPr>
          <a:xfrm>
            <a:off x="838200" y="1690687"/>
            <a:ext cx="10515600" cy="4802187"/>
          </a:xfrm>
        </p:spPr>
        <p:txBody>
          <a:bodyPr>
            <a:normAutofit lnSpcReduction="10000"/>
          </a:bodyPr>
          <a:lstStyle/>
          <a:p>
            <a:pPr marL="0" indent="0">
              <a:buNone/>
            </a:pPr>
            <a:r>
              <a:rPr lang="fr-CA" sz="2400" dirty="0"/>
              <a:t>.37     On retrouve le plus souvent les contrats de location-vente dans les situations où un fabricant ou un distributeur utilise cette formule pour faciliter la vente de ses produits. Les contrats de location-vente donnent lieu à deux types de produits : le gain (ou la perte) initial réalisé sur la vente du produit à la date d'entrée en vigueur du bail et les produits financiers gagnés sur la durée du bail.</a:t>
            </a:r>
            <a:endParaRPr lang="fr-FR" sz="2400" dirty="0"/>
          </a:p>
          <a:p>
            <a:pPr lvl="2"/>
            <a:r>
              <a:rPr lang="fr-FR" sz="1800" dirty="0">
                <a:solidFill>
                  <a:srgbClr val="FF0000"/>
                </a:solidFill>
              </a:rPr>
              <a:t>Vente du produit + produits financiers</a:t>
            </a:r>
          </a:p>
          <a:p>
            <a:pPr marL="914400" lvl="2" indent="0">
              <a:buNone/>
            </a:pPr>
            <a:endParaRPr lang="fr-CA" sz="1800" dirty="0"/>
          </a:p>
          <a:p>
            <a:pPr marL="0" indent="0">
              <a:buNone/>
            </a:pPr>
            <a:r>
              <a:rPr lang="fr-CA" sz="2400" dirty="0"/>
              <a:t>.38     Le montant à comptabiliser au titre de la vente à la date d'entrée en vigueur du contrat de location-vente est la valeur actualisée des paiements minimums exigibles en vertu du bail, abstraction faite des frais accessoires et de la marge de profit qui y est intégrée, calculée au taux d'intérêt implicite du bail. Le montant à comptabiliser à titre de prix coûtant du bien vendu à la date d'entrée en vigueur du bail est le coût d'origine ou la valeur comptable (si elle diffère du coût d'origine) du bien loué, moins la valeur résiduelle non garantie pouvant revenir au bailleur actualisée au taux d'intérêt implicite du bail.</a:t>
            </a:r>
          </a:p>
        </p:txBody>
      </p:sp>
      <p:sp>
        <p:nvSpPr>
          <p:cNvPr id="4" name="Espace réservé du pied de page 3">
            <a:extLst>
              <a:ext uri="{FF2B5EF4-FFF2-40B4-BE49-F238E27FC236}">
                <a16:creationId xmlns:a16="http://schemas.microsoft.com/office/drawing/2014/main" id="{E394D6C9-DA79-494C-AB4B-63D486CB1810}"/>
              </a:ext>
            </a:extLst>
          </p:cNvPr>
          <p:cNvSpPr>
            <a:spLocks noGrp="1"/>
          </p:cNvSpPr>
          <p:nvPr>
            <p:ph type="ftr" sz="quarter" idx="11"/>
          </p:nvPr>
        </p:nvSpPr>
        <p:spPr/>
        <p:txBody>
          <a:bodyPr/>
          <a:lstStyle/>
          <a:p>
            <a:r>
              <a:rPr lang="fr-FR" dirty="0"/>
              <a:t>Droits réservés - Louise Overbeek</a:t>
            </a:r>
          </a:p>
        </p:txBody>
      </p:sp>
      <p:sp>
        <p:nvSpPr>
          <p:cNvPr id="5" name="Espace réservé du numéro de diapositive 4">
            <a:extLst>
              <a:ext uri="{FF2B5EF4-FFF2-40B4-BE49-F238E27FC236}">
                <a16:creationId xmlns:a16="http://schemas.microsoft.com/office/drawing/2014/main" id="{9C5C9E82-98D1-41F0-997C-66BCF768302F}"/>
              </a:ext>
            </a:extLst>
          </p:cNvPr>
          <p:cNvSpPr>
            <a:spLocks noGrp="1"/>
          </p:cNvSpPr>
          <p:nvPr>
            <p:ph type="sldNum" sz="quarter" idx="12"/>
          </p:nvPr>
        </p:nvSpPr>
        <p:spPr/>
        <p:txBody>
          <a:bodyPr/>
          <a:lstStyle/>
          <a:p>
            <a:fld id="{83AE54BF-1D3E-4F4A-82B1-C4E42C537D7C}" type="slidenum">
              <a:rPr lang="fr-FR" smtClean="0"/>
              <a:t>46</a:t>
            </a:fld>
            <a:endParaRPr lang="fr-FR"/>
          </a:p>
        </p:txBody>
      </p:sp>
    </p:spTree>
    <p:extLst>
      <p:ext uri="{BB962C8B-B14F-4D97-AF65-F5344CB8AC3E}">
        <p14:creationId xmlns:p14="http://schemas.microsoft.com/office/powerpoint/2010/main" val="13527929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C77CA9-D18C-472A-B92F-BC883ED93B13}"/>
              </a:ext>
            </a:extLst>
          </p:cNvPr>
          <p:cNvSpPr>
            <a:spLocks noGrp="1"/>
          </p:cNvSpPr>
          <p:nvPr>
            <p:ph type="title"/>
          </p:nvPr>
        </p:nvSpPr>
        <p:spPr/>
        <p:txBody>
          <a:bodyPr/>
          <a:lstStyle/>
          <a:p>
            <a:r>
              <a:rPr lang="fr-CA" dirty="0"/>
              <a:t>Contrat de location-vente</a:t>
            </a:r>
            <a:endParaRPr lang="fr-FR" dirty="0"/>
          </a:p>
        </p:txBody>
      </p:sp>
      <p:sp>
        <p:nvSpPr>
          <p:cNvPr id="3" name="Espace réservé du contenu 2">
            <a:extLst>
              <a:ext uri="{FF2B5EF4-FFF2-40B4-BE49-F238E27FC236}">
                <a16:creationId xmlns:a16="http://schemas.microsoft.com/office/drawing/2014/main" id="{147B2BB1-CA8A-44D0-B53B-80584D4B2992}"/>
              </a:ext>
            </a:extLst>
          </p:cNvPr>
          <p:cNvSpPr>
            <a:spLocks noGrp="1"/>
          </p:cNvSpPr>
          <p:nvPr>
            <p:ph idx="1"/>
          </p:nvPr>
        </p:nvSpPr>
        <p:spPr>
          <a:xfrm>
            <a:off x="838200" y="1533525"/>
            <a:ext cx="10515600" cy="4959350"/>
          </a:xfrm>
        </p:spPr>
        <p:txBody>
          <a:bodyPr>
            <a:normAutofit fontScale="85000" lnSpcReduction="20000"/>
          </a:bodyPr>
          <a:lstStyle/>
          <a:p>
            <a:pPr marL="0" indent="0">
              <a:buNone/>
            </a:pPr>
            <a:r>
              <a:rPr lang="fr-CA" sz="2400" i="1" dirty="0"/>
              <a:t>(suite)</a:t>
            </a:r>
          </a:p>
          <a:p>
            <a:pPr marL="0" indent="0">
              <a:buNone/>
            </a:pPr>
            <a:r>
              <a:rPr lang="fr-CA" sz="2600" dirty="0"/>
              <a:t>.39     Les produits financiers découlant d'un contrat de location-vente correspondent à la différence entre :</a:t>
            </a:r>
          </a:p>
          <a:p>
            <a:pPr marL="628650" indent="-361950">
              <a:buNone/>
            </a:pPr>
            <a:r>
              <a:rPr lang="fr-CA" sz="2600" dirty="0"/>
              <a:t>a)     le total des paiements minimums exigibles en vertu du bail, abstraction faite des frais accessoires et de la marge de profit qui y est intégrée, plus toute valeur résiduelle non garantie revenant au bailleur; et</a:t>
            </a:r>
          </a:p>
          <a:p>
            <a:pPr marL="628650" indent="-361950">
              <a:buNone/>
            </a:pPr>
            <a:r>
              <a:rPr lang="fr-CA" sz="2600" dirty="0"/>
              <a:t>b)     la somme de la valeur actualisée de ces mêmes éléments.</a:t>
            </a:r>
          </a:p>
          <a:p>
            <a:pPr marL="628650" indent="-361950">
              <a:buNone/>
            </a:pPr>
            <a:r>
              <a:rPr lang="fr-CA" sz="2600" dirty="0"/>
              <a:t>Pour calculer les valeurs actualisées en question, on utilise le taux d'intérêt implicite du bail.</a:t>
            </a:r>
          </a:p>
          <a:p>
            <a:endParaRPr lang="fr-CA" sz="1800" dirty="0"/>
          </a:p>
          <a:p>
            <a:pPr marL="0" indent="0">
              <a:buNone/>
            </a:pPr>
            <a:r>
              <a:rPr lang="fr-CA" dirty="0"/>
              <a:t>.43     </a:t>
            </a:r>
            <a:r>
              <a:rPr lang="fr-CA" i="1" dirty="0"/>
              <a:t>Lorsqu'il a conclu un </a:t>
            </a:r>
            <a:r>
              <a:rPr lang="fr-CA" i="1" dirty="0">
                <a:solidFill>
                  <a:srgbClr val="0070C0"/>
                </a:solidFill>
              </a:rPr>
              <a:t>contrat de location-vente</a:t>
            </a:r>
            <a:r>
              <a:rPr lang="fr-CA" i="1" dirty="0"/>
              <a:t>, le fabricant ou le distributeur doit comptabiliser la vente, et constater le gain ou la perte connexe au moment de l'opération. </a:t>
            </a:r>
            <a:r>
              <a:rPr lang="fr-CA" i="1" dirty="0">
                <a:solidFill>
                  <a:srgbClr val="0070C0"/>
                </a:solidFill>
              </a:rPr>
              <a:t>Les frais initiaux directs doivent être imputés aux résultats à la date d'entrée en vigueur du bail</a:t>
            </a:r>
            <a:r>
              <a:rPr lang="fr-CA" i="1" dirty="0"/>
              <a:t> et les produits financiers non gagnés doivent être reportés et imputés aux résultats sur la durée du contrat de location selon une formule permettant de dégager un taux de rendement constant de l'investissement restant dans le contrat de location.</a:t>
            </a:r>
            <a:endParaRPr lang="fr-FR" dirty="0"/>
          </a:p>
        </p:txBody>
      </p:sp>
      <p:sp>
        <p:nvSpPr>
          <p:cNvPr id="4" name="Espace réservé du pied de page 3">
            <a:extLst>
              <a:ext uri="{FF2B5EF4-FFF2-40B4-BE49-F238E27FC236}">
                <a16:creationId xmlns:a16="http://schemas.microsoft.com/office/drawing/2014/main" id="{E394D6C9-DA79-494C-AB4B-63D486CB181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C5C9E82-98D1-41F0-997C-66BCF768302F}"/>
              </a:ext>
            </a:extLst>
          </p:cNvPr>
          <p:cNvSpPr>
            <a:spLocks noGrp="1"/>
          </p:cNvSpPr>
          <p:nvPr>
            <p:ph type="sldNum" sz="quarter" idx="12"/>
          </p:nvPr>
        </p:nvSpPr>
        <p:spPr/>
        <p:txBody>
          <a:bodyPr/>
          <a:lstStyle/>
          <a:p>
            <a:fld id="{83AE54BF-1D3E-4F4A-82B1-C4E42C537D7C}" type="slidenum">
              <a:rPr lang="fr-FR" smtClean="0"/>
              <a:t>47</a:t>
            </a:fld>
            <a:endParaRPr lang="fr-FR"/>
          </a:p>
        </p:txBody>
      </p:sp>
    </p:spTree>
    <p:extLst>
      <p:ext uri="{BB962C8B-B14F-4D97-AF65-F5344CB8AC3E}">
        <p14:creationId xmlns:p14="http://schemas.microsoft.com/office/powerpoint/2010/main" val="10727703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Bailleur</a:t>
            </a:r>
          </a:p>
        </p:txBody>
      </p:sp>
      <p:sp>
        <p:nvSpPr>
          <p:cNvPr id="3" name="Espace réservé du contenu 2"/>
          <p:cNvSpPr>
            <a:spLocks noGrp="1"/>
          </p:cNvSpPr>
          <p:nvPr>
            <p:ph idx="1"/>
          </p:nvPr>
        </p:nvSpPr>
        <p:spPr/>
        <p:txBody>
          <a:bodyPr>
            <a:normAutofit/>
          </a:bodyPr>
          <a:lstStyle/>
          <a:p>
            <a:r>
              <a:rPr lang="fr-FR" dirty="0"/>
              <a:t>Présentation</a:t>
            </a:r>
          </a:p>
          <a:p>
            <a:pPr lvl="1"/>
            <a:r>
              <a:rPr lang="fr-FR" dirty="0"/>
              <a:t>Créance à long terme, portion à court terme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48</a:t>
            </a:fld>
            <a:endParaRPr lang="fr-FR"/>
          </a:p>
        </p:txBody>
      </p:sp>
      <p:sp>
        <p:nvSpPr>
          <p:cNvPr id="5" name="Espace réservé du pied de page 4">
            <a:extLst>
              <a:ext uri="{FF2B5EF4-FFF2-40B4-BE49-F238E27FC236}">
                <a16:creationId xmlns:a16="http://schemas.microsoft.com/office/drawing/2014/main" id="{944CFF9F-1A24-40E1-88E0-83E352AA3BEE}"/>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2993720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Bailleur– location-exploitation</a:t>
            </a:r>
          </a:p>
        </p:txBody>
      </p:sp>
      <p:sp>
        <p:nvSpPr>
          <p:cNvPr id="3" name="Espace réservé du contenu 2"/>
          <p:cNvSpPr>
            <a:spLocks noGrp="1"/>
          </p:cNvSpPr>
          <p:nvPr>
            <p:ph idx="1"/>
          </p:nvPr>
        </p:nvSpPr>
        <p:spPr/>
        <p:txBody>
          <a:bodyPr>
            <a:normAutofit fontScale="92500" lnSpcReduction="10000"/>
          </a:bodyPr>
          <a:lstStyle/>
          <a:p>
            <a:pPr marL="0" indent="0">
              <a:buNone/>
            </a:pPr>
            <a:r>
              <a:rPr lang="fr-CA" sz="2600" dirty="0"/>
              <a:t>.55     Les loyers provenant d'un contrat de location-exploitation doivent être imputés aux résultats, au fur et à mesure qu'ils deviennent exigibles, sur la durée du bail. Toutefois, si les loyers ne sont pas encaissés en montants égaux, les produits doivent être comptabilisés selon une formule linéaire à moins qu'une autre formule, à la fois logique et systématique, ne rende mieux compte de la courbe suivant laquelle le bailleur tire avantage du bien loué.</a:t>
            </a:r>
          </a:p>
          <a:p>
            <a:pPr lvl="1"/>
            <a:r>
              <a:rPr lang="fr-FR" dirty="0">
                <a:solidFill>
                  <a:srgbClr val="FF0000"/>
                </a:solidFill>
              </a:rPr>
              <a:t>Les produits doivent être comptabilisés selon une formule linéaire appliquée sur la durée du bail</a:t>
            </a:r>
          </a:p>
          <a:p>
            <a:pPr lvl="1"/>
            <a:endParaRPr lang="fr-CA" dirty="0"/>
          </a:p>
          <a:p>
            <a:pPr marL="0" indent="0">
              <a:buNone/>
            </a:pPr>
            <a:r>
              <a:rPr lang="fr-CA" sz="2600" dirty="0"/>
              <a:t>.56     Lorsqu'un bail donne lieu à des </a:t>
            </a:r>
            <a:r>
              <a:rPr lang="fr-CA" sz="2600" dirty="0">
                <a:solidFill>
                  <a:srgbClr val="0070C0"/>
                </a:solidFill>
              </a:rPr>
              <a:t>frais initiaux dir</a:t>
            </a:r>
            <a:r>
              <a:rPr lang="fr-CA" sz="2600" dirty="0"/>
              <a:t>ects, ces frais doivent être synchronisés avec tous les produits gagnés pendant la durée du bail et ils doivent être reportés et amortis, sur la durée du bail, au rythme où l'on comptabilise les produits de location.</a:t>
            </a:r>
          </a:p>
          <a:p>
            <a:endParaRPr lang="fr-FR" dirty="0"/>
          </a:p>
          <a:p>
            <a:endParaRPr lang="fr-FR"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49</a:t>
            </a:fld>
            <a:endParaRPr lang="fr-FR"/>
          </a:p>
        </p:txBody>
      </p:sp>
      <p:sp>
        <p:nvSpPr>
          <p:cNvPr id="5" name="Espace réservé du pied de page 4">
            <a:extLst>
              <a:ext uri="{FF2B5EF4-FFF2-40B4-BE49-F238E27FC236}">
                <a16:creationId xmlns:a16="http://schemas.microsoft.com/office/drawing/2014/main" id="{4C0AA205-C39E-4B9F-BAC6-82D9D88C5E9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5661233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Bailleur</a:t>
            </a:r>
          </a:p>
        </p:txBody>
      </p:sp>
      <p:sp>
        <p:nvSpPr>
          <p:cNvPr id="3" name="Espace réservé du contenu 2"/>
          <p:cNvSpPr>
            <a:spLocks noGrp="1"/>
          </p:cNvSpPr>
          <p:nvPr>
            <p:ph idx="1"/>
          </p:nvPr>
        </p:nvSpPr>
        <p:spPr/>
        <p:txBody>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50</a:t>
            </a:fld>
            <a:endParaRPr lang="fr-FR" altLang="fr-FR"/>
          </a:p>
        </p:txBody>
      </p:sp>
      <p:pic>
        <p:nvPicPr>
          <p:cNvPr id="5" name="Image 4"/>
          <p:cNvPicPr>
            <a:picLocks noChangeAspect="1"/>
          </p:cNvPicPr>
          <p:nvPr/>
        </p:nvPicPr>
        <p:blipFill>
          <a:blip r:embed="rId2"/>
          <a:stretch>
            <a:fillRect/>
          </a:stretch>
        </p:blipFill>
        <p:spPr>
          <a:xfrm>
            <a:off x="2092552" y="1764900"/>
            <a:ext cx="8226603" cy="3550050"/>
          </a:xfrm>
          <a:prstGeom prst="rect">
            <a:avLst/>
          </a:prstGeom>
        </p:spPr>
      </p:pic>
      <p:sp>
        <p:nvSpPr>
          <p:cNvPr id="6" name="ZoneTexte 5">
            <a:extLst>
              <a:ext uri="{FF2B5EF4-FFF2-40B4-BE49-F238E27FC236}">
                <a16:creationId xmlns:a16="http://schemas.microsoft.com/office/drawing/2014/main" id="{C9112BBC-7EC9-4191-9464-012528837ED7}"/>
              </a:ext>
            </a:extLst>
          </p:cNvPr>
          <p:cNvSpPr txBox="1"/>
          <p:nvPr/>
        </p:nvSpPr>
        <p:spPr>
          <a:xfrm>
            <a:off x="2092552" y="5649686"/>
            <a:ext cx="8118249" cy="369332"/>
          </a:xfrm>
          <a:prstGeom prst="rect">
            <a:avLst/>
          </a:prstGeom>
          <a:noFill/>
        </p:spPr>
        <p:txBody>
          <a:bodyPr wrap="square" rtlCol="0">
            <a:spAutoFit/>
          </a:bodyPr>
          <a:lstStyle/>
          <a:p>
            <a:r>
              <a:rPr lang="fr-CA" dirty="0"/>
              <a:t>Note : Équipement fait sur mesure pour preneur</a:t>
            </a:r>
            <a:endParaRPr lang="fr-FR" dirty="0"/>
          </a:p>
        </p:txBody>
      </p:sp>
    </p:spTree>
    <p:extLst>
      <p:ext uri="{BB962C8B-B14F-4D97-AF65-F5344CB8AC3E}">
        <p14:creationId xmlns:p14="http://schemas.microsoft.com/office/powerpoint/2010/main" val="26294915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Solution</a:t>
            </a:r>
          </a:p>
        </p:txBody>
      </p:sp>
      <p:sp>
        <p:nvSpPr>
          <p:cNvPr id="3" name="Espace réservé du contenu 2"/>
          <p:cNvSpPr>
            <a:spLocks noGrp="1"/>
          </p:cNvSpPr>
          <p:nvPr>
            <p:ph idx="1"/>
          </p:nvPr>
        </p:nvSpPr>
        <p:spPr>
          <a:xfrm>
            <a:off x="838200" y="1343026"/>
            <a:ext cx="10515600" cy="5013324"/>
          </a:xfrm>
        </p:spPr>
        <p:txBody>
          <a:bodyPr>
            <a:normAutofit fontScale="62500" lnSpcReduction="20000"/>
          </a:bodyPr>
          <a:lstStyle/>
          <a:p>
            <a:pPr marL="0" indent="0">
              <a:buNone/>
            </a:pPr>
            <a:r>
              <a:rPr lang="fr-FR" b="1" dirty="0"/>
              <a:t>Bailleur</a:t>
            </a:r>
            <a:r>
              <a:rPr lang="fr-FR" dirty="0"/>
              <a:t> : transfert des avantages et des risques - toutes les conditions</a:t>
            </a:r>
          </a:p>
          <a:p>
            <a:r>
              <a:rPr lang="fr-FR" dirty="0"/>
              <a:t>Une des conditions du preneur</a:t>
            </a:r>
          </a:p>
          <a:p>
            <a:pPr lvl="1"/>
            <a:r>
              <a:rPr lang="fr-FR" dirty="0"/>
              <a:t>Pratiquement assuré que le preneur accédera à la propriété du bien au terme du bail - prévu de céder le titre de propriété ou option d’achat à prix de faveur</a:t>
            </a:r>
          </a:p>
          <a:p>
            <a:pPr lvl="2"/>
            <a:r>
              <a:rPr lang="fr-FR" dirty="0">
                <a:solidFill>
                  <a:srgbClr val="FF0000"/>
                </a:solidFill>
              </a:rPr>
              <a:t>NON, pas de transfert au terme du bail et pas d’</a:t>
            </a:r>
            <a:r>
              <a:rPr lang="fr-CA" dirty="0">
                <a:solidFill>
                  <a:srgbClr val="FF0000"/>
                </a:solidFill>
              </a:rPr>
              <a:t>option d’achat à prix de faveur </a:t>
            </a:r>
            <a:endParaRPr lang="fr-FR" dirty="0">
              <a:solidFill>
                <a:srgbClr val="FF0000"/>
              </a:solidFill>
            </a:endParaRPr>
          </a:p>
          <a:p>
            <a:pPr lvl="1"/>
            <a:r>
              <a:rPr lang="fr-FR" dirty="0"/>
              <a:t>Durée du bail est telle que le preneur jouira de pratiquement tous les avantages économiques que l’on prévoit pouvoir tirer de l’utilisation du bien </a:t>
            </a:r>
            <a:endParaRPr lang="fr-FR" dirty="0">
              <a:solidFill>
                <a:srgbClr val="0070C0"/>
              </a:solidFill>
            </a:endParaRPr>
          </a:p>
          <a:p>
            <a:pPr lvl="2"/>
            <a:r>
              <a:rPr lang="fr-FR" dirty="0">
                <a:solidFill>
                  <a:srgbClr val="FF0000"/>
                </a:solidFill>
              </a:rPr>
              <a:t>NON, 3 / 5 ans = 60 % - inférieur à 75 % </a:t>
            </a:r>
            <a:endParaRPr lang="fr-FR" dirty="0">
              <a:solidFill>
                <a:srgbClr val="0070C0"/>
              </a:solidFill>
            </a:endParaRPr>
          </a:p>
          <a:p>
            <a:pPr lvl="1"/>
            <a:r>
              <a:rPr lang="fr-FR" dirty="0"/>
              <a:t>Bailleur est assuré, aux termes du bail, de récupérer le capital investi dans le bien loué et de gagner un rendement sur cet investissement </a:t>
            </a:r>
          </a:p>
          <a:p>
            <a:pPr lvl="2"/>
            <a:r>
              <a:rPr lang="fr-FR" dirty="0">
                <a:solidFill>
                  <a:srgbClr val="FF0000"/>
                </a:solidFill>
              </a:rPr>
              <a:t>OUI, 500 000 / 500 000 = 100 %</a:t>
            </a:r>
          </a:p>
          <a:p>
            <a:pPr lvl="2"/>
            <a:r>
              <a:rPr lang="fr-FR" dirty="0">
                <a:solidFill>
                  <a:srgbClr val="FF0000"/>
                </a:solidFill>
              </a:rPr>
              <a:t>PME : valeur actualisée de la somme des loyers (150 360$ - il faut enlever les frais accessoires) ET de la valeur actualisée de la valeur garantie (160 000 $)</a:t>
            </a:r>
          </a:p>
          <a:p>
            <a:pPr marL="628650" lvl="2" indent="-180975"/>
            <a:r>
              <a:rPr lang="fr-FR" dirty="0">
                <a:solidFill>
                  <a:srgbClr val="FF0000"/>
                </a:solidFill>
              </a:rPr>
              <a:t>Donc, puisqu’un critère respecté = OUI</a:t>
            </a:r>
            <a:endParaRPr lang="fr-FR" dirty="0"/>
          </a:p>
          <a:p>
            <a:r>
              <a:rPr lang="fr-FR" dirty="0"/>
              <a:t>Risque de recouvrement des loyers n’est pas supérieur au risque lié normalement au recouvrement de créances similaires</a:t>
            </a:r>
          </a:p>
          <a:p>
            <a:pPr lvl="1"/>
            <a:r>
              <a:rPr lang="fr-FR" dirty="0">
                <a:solidFill>
                  <a:srgbClr val="FF0000"/>
                </a:solidFill>
              </a:rPr>
              <a:t>OUI – rien n’indique qu’il y a un risque de recouvrement</a:t>
            </a:r>
          </a:p>
          <a:p>
            <a:r>
              <a:rPr lang="fr-FR" dirty="0"/>
              <a:t>Montant des coûts non remboursables que le bailleur pourrait être amené à engager aux termes du bail peut être estimé avec assez de précision</a:t>
            </a:r>
          </a:p>
          <a:p>
            <a:pPr lvl="1"/>
            <a:r>
              <a:rPr lang="fr-FR" dirty="0">
                <a:solidFill>
                  <a:srgbClr val="FF0000"/>
                </a:solidFill>
              </a:rPr>
              <a:t>OUI – aucun coût non remboursable mentionné</a:t>
            </a:r>
          </a:p>
          <a:p>
            <a:pPr lvl="1"/>
            <a:endParaRPr lang="fr-FR" dirty="0">
              <a:solidFill>
                <a:srgbClr val="FF0000"/>
              </a:solidFill>
            </a:endParaRPr>
          </a:p>
          <a:p>
            <a:pPr lvl="1"/>
            <a:r>
              <a:rPr lang="fr-FR" dirty="0">
                <a:solidFill>
                  <a:srgbClr val="FF0000"/>
                </a:solidFill>
              </a:rPr>
              <a:t>Donc, location-vente   (coût de l’équipement en stock - inférieur au prix de « vente »)</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51</a:t>
            </a:fld>
            <a:endParaRPr lang="fr-FR"/>
          </a:p>
        </p:txBody>
      </p:sp>
      <p:sp>
        <p:nvSpPr>
          <p:cNvPr id="5" name="Espace réservé du pied de page 4">
            <a:extLst>
              <a:ext uri="{FF2B5EF4-FFF2-40B4-BE49-F238E27FC236}">
                <a16:creationId xmlns:a16="http://schemas.microsoft.com/office/drawing/2014/main" id="{B1AF1D05-997D-4B39-9556-1F155EEBFE4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9556520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idx="1"/>
          </p:nvPr>
        </p:nvSpPr>
        <p:spPr/>
        <p:txBody>
          <a:bodyPr/>
          <a:lstStyle/>
          <a:p>
            <a:pPr marL="0" indent="0">
              <a:buNone/>
            </a:pPr>
            <a:r>
              <a:rPr lang="fr-CA" dirty="0"/>
              <a:t> </a:t>
            </a:r>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52</a:t>
            </a:fld>
            <a:endParaRPr lang="fr-FR" altLang="fr-FR"/>
          </a:p>
        </p:txBody>
      </p:sp>
      <p:pic>
        <p:nvPicPr>
          <p:cNvPr id="5" name="Image 4"/>
          <p:cNvPicPr>
            <a:picLocks noChangeAspect="1"/>
          </p:cNvPicPr>
          <p:nvPr/>
        </p:nvPicPr>
        <p:blipFill>
          <a:blip r:embed="rId2"/>
          <a:stretch>
            <a:fillRect/>
          </a:stretch>
        </p:blipFill>
        <p:spPr>
          <a:xfrm>
            <a:off x="2644928" y="1371498"/>
            <a:ext cx="5028413" cy="5033837"/>
          </a:xfrm>
          <a:prstGeom prst="rect">
            <a:avLst/>
          </a:prstGeom>
        </p:spPr>
      </p:pic>
    </p:spTree>
    <p:extLst>
      <p:ext uri="{BB962C8B-B14F-4D97-AF65-F5344CB8AC3E}">
        <p14:creationId xmlns:p14="http://schemas.microsoft.com/office/powerpoint/2010/main" val="31845794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13E848-EAF8-4D81-9BCA-84A37AFB7A87}"/>
              </a:ext>
            </a:extLst>
          </p:cNvPr>
          <p:cNvSpPr>
            <a:spLocks noGrp="1"/>
          </p:cNvSpPr>
          <p:nvPr>
            <p:ph type="title"/>
          </p:nvPr>
        </p:nvSpPr>
        <p:spPr>
          <a:xfrm>
            <a:off x="838200" y="365126"/>
            <a:ext cx="10515600" cy="315912"/>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0ACC0B09-9333-4B0C-BB03-CA875024DE0A}"/>
              </a:ext>
            </a:extLst>
          </p:cNvPr>
          <p:cNvSpPr>
            <a:spLocks noGrp="1"/>
          </p:cNvSpPr>
          <p:nvPr>
            <p:ph idx="1"/>
          </p:nvPr>
        </p:nvSpPr>
        <p:spPr>
          <a:xfrm>
            <a:off x="838200" y="681038"/>
            <a:ext cx="10515600" cy="5495925"/>
          </a:xfrm>
        </p:spPr>
        <p:txBody>
          <a:bodyPr>
            <a:normAutofit fontScale="92500" lnSpcReduction="20000"/>
          </a:bodyPr>
          <a:lstStyle/>
          <a:p>
            <a:pPr marL="0" indent="0">
              <a:buNone/>
            </a:pPr>
            <a:r>
              <a:rPr lang="fr-CA" sz="2000" b="1" dirty="0"/>
              <a:t>1</a:t>
            </a:r>
            <a:r>
              <a:rPr lang="fr-CA" sz="2000" b="1" baseline="30000" dirty="0"/>
              <a:t>er</a:t>
            </a:r>
            <a:r>
              <a:rPr lang="fr-CA" sz="2000" b="1" dirty="0"/>
              <a:t> janvier x0</a:t>
            </a:r>
          </a:p>
          <a:p>
            <a:pPr marL="0" indent="0">
              <a:buNone/>
            </a:pPr>
            <a:r>
              <a:rPr lang="fr-CA" sz="2000" dirty="0"/>
              <a:t>Loyers à recevoir			611 080      </a:t>
            </a:r>
            <a:r>
              <a:rPr lang="fr-CA" sz="2000" i="1" dirty="0"/>
              <a:t>montants des loyers + valeur résiduelle</a:t>
            </a:r>
            <a:endParaRPr lang="fr-CA" sz="2000" dirty="0"/>
          </a:p>
          <a:p>
            <a:pPr marL="0" indent="0">
              <a:buNone/>
            </a:pPr>
            <a:r>
              <a:rPr lang="fr-CA" sz="2000" dirty="0"/>
              <a:t>Coût des ventes			400 000</a:t>
            </a:r>
          </a:p>
          <a:p>
            <a:pPr marL="0" indent="0">
              <a:buNone/>
            </a:pPr>
            <a:r>
              <a:rPr lang="fr-CA" sz="2000" dirty="0"/>
              <a:t>@  Ventes				500 000</a:t>
            </a:r>
          </a:p>
          <a:p>
            <a:pPr marL="0" indent="0">
              <a:buNone/>
            </a:pPr>
            <a:r>
              <a:rPr lang="fr-CA" sz="2000" dirty="0"/>
              <a:t>      Produits financiers non acquis		111 080</a:t>
            </a:r>
          </a:p>
          <a:p>
            <a:pPr marL="0" indent="0">
              <a:buNone/>
            </a:pPr>
            <a:r>
              <a:rPr lang="fr-CA" sz="2000" dirty="0"/>
              <a:t>      Stocks				400 000</a:t>
            </a:r>
          </a:p>
          <a:p>
            <a:pPr marL="0" indent="0">
              <a:buNone/>
            </a:pPr>
            <a:endParaRPr lang="fr-CA" sz="2000" dirty="0"/>
          </a:p>
          <a:p>
            <a:pPr marL="0" indent="0">
              <a:buNone/>
            </a:pPr>
            <a:r>
              <a:rPr lang="fr-CA" sz="2000" dirty="0"/>
              <a:t>Encaisse				158 360</a:t>
            </a:r>
          </a:p>
          <a:p>
            <a:pPr marL="0" indent="0">
              <a:buNone/>
            </a:pPr>
            <a:r>
              <a:rPr lang="fr-CA" sz="2000" dirty="0"/>
              <a:t>@  Loyers à recevoir			150 360</a:t>
            </a:r>
          </a:p>
          <a:p>
            <a:pPr marL="0" indent="0">
              <a:buNone/>
            </a:pPr>
            <a:r>
              <a:rPr lang="fr-CA" sz="2000" dirty="0"/>
              <a:t>      Charge d’assurances			     8 000</a:t>
            </a:r>
          </a:p>
          <a:p>
            <a:pPr marL="0" indent="0">
              <a:buNone/>
            </a:pPr>
            <a:endParaRPr lang="fr-CA" sz="2000" dirty="0"/>
          </a:p>
          <a:p>
            <a:pPr marL="0" indent="0">
              <a:buNone/>
            </a:pPr>
            <a:r>
              <a:rPr lang="fr-CA" sz="2000" b="1" dirty="0"/>
              <a:t>31 décembre x0</a:t>
            </a:r>
          </a:p>
          <a:p>
            <a:pPr marL="0" indent="0">
              <a:buNone/>
            </a:pPr>
            <a:r>
              <a:rPr lang="fr-CA" sz="2000" dirty="0"/>
              <a:t>Produits financiers non acquis	   52 448</a:t>
            </a:r>
          </a:p>
          <a:p>
            <a:pPr marL="0" indent="0">
              <a:buNone/>
            </a:pPr>
            <a:r>
              <a:rPr lang="fr-CA" sz="2000" dirty="0"/>
              <a:t>@  Produits financiers–intérêts sur contrat </a:t>
            </a:r>
            <a:r>
              <a:rPr lang="fr-CA" sz="2000" dirty="0" err="1"/>
              <a:t>loc</a:t>
            </a:r>
            <a:r>
              <a:rPr lang="fr-CA" sz="2000" dirty="0"/>
              <a:t> 	    52 448</a:t>
            </a:r>
          </a:p>
          <a:p>
            <a:pPr marL="0" indent="0">
              <a:buNone/>
            </a:pPr>
            <a:endParaRPr lang="fr-FR" sz="2000" dirty="0"/>
          </a:p>
          <a:p>
            <a:pPr marL="0" indent="0">
              <a:buNone/>
            </a:pPr>
            <a:r>
              <a:rPr lang="fr-FR" sz="2000" i="1" dirty="0">
                <a:solidFill>
                  <a:srgbClr val="FF0000"/>
                </a:solidFill>
              </a:rPr>
              <a:t>OU  écriture au net (Loyers à recevoir nets des produits financiers non acquis</a:t>
            </a:r>
          </a:p>
        </p:txBody>
      </p:sp>
      <p:sp>
        <p:nvSpPr>
          <p:cNvPr id="4" name="Espace réservé du pied de page 3">
            <a:extLst>
              <a:ext uri="{FF2B5EF4-FFF2-40B4-BE49-F238E27FC236}">
                <a16:creationId xmlns:a16="http://schemas.microsoft.com/office/drawing/2014/main" id="{1A93F93D-6CAF-443E-8802-1DF8A871F6A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2E7E781-D7C9-48E8-869D-3D5FFF21CCC4}"/>
              </a:ext>
            </a:extLst>
          </p:cNvPr>
          <p:cNvSpPr>
            <a:spLocks noGrp="1"/>
          </p:cNvSpPr>
          <p:nvPr>
            <p:ph type="sldNum" sz="quarter" idx="12"/>
          </p:nvPr>
        </p:nvSpPr>
        <p:spPr/>
        <p:txBody>
          <a:bodyPr/>
          <a:lstStyle/>
          <a:p>
            <a:fld id="{83AE54BF-1D3E-4F4A-82B1-C4E42C537D7C}" type="slidenum">
              <a:rPr lang="fr-FR" smtClean="0"/>
              <a:t>53</a:t>
            </a:fld>
            <a:endParaRPr lang="fr-FR"/>
          </a:p>
        </p:txBody>
      </p:sp>
    </p:spTree>
    <p:extLst>
      <p:ext uri="{BB962C8B-B14F-4D97-AF65-F5344CB8AC3E}">
        <p14:creationId xmlns:p14="http://schemas.microsoft.com/office/powerpoint/2010/main" val="18459904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13E848-EAF8-4D81-9BCA-84A37AFB7A87}"/>
              </a:ext>
            </a:extLst>
          </p:cNvPr>
          <p:cNvSpPr>
            <a:spLocks noGrp="1"/>
          </p:cNvSpPr>
          <p:nvPr>
            <p:ph type="title"/>
          </p:nvPr>
        </p:nvSpPr>
        <p:spPr>
          <a:xfrm>
            <a:off x="838200" y="365126"/>
            <a:ext cx="10515600" cy="315912"/>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0ACC0B09-9333-4B0C-BB03-CA875024DE0A}"/>
              </a:ext>
            </a:extLst>
          </p:cNvPr>
          <p:cNvSpPr>
            <a:spLocks noGrp="1"/>
          </p:cNvSpPr>
          <p:nvPr>
            <p:ph idx="1"/>
          </p:nvPr>
        </p:nvSpPr>
        <p:spPr>
          <a:xfrm>
            <a:off x="838200" y="681038"/>
            <a:ext cx="10515600" cy="5495925"/>
          </a:xfrm>
        </p:spPr>
        <p:txBody>
          <a:bodyPr>
            <a:normAutofit/>
          </a:bodyPr>
          <a:lstStyle/>
          <a:p>
            <a:pPr marL="0" indent="0">
              <a:buNone/>
            </a:pPr>
            <a:r>
              <a:rPr lang="fr-CA" sz="2000" b="1" dirty="0"/>
              <a:t>1</a:t>
            </a:r>
            <a:r>
              <a:rPr lang="fr-CA" sz="2000" b="1" baseline="30000" dirty="0"/>
              <a:t>er</a:t>
            </a:r>
            <a:r>
              <a:rPr lang="fr-CA" sz="2000" b="1" dirty="0"/>
              <a:t> janvier x1</a:t>
            </a:r>
          </a:p>
          <a:p>
            <a:pPr marL="0" indent="0">
              <a:buNone/>
            </a:pPr>
            <a:r>
              <a:rPr lang="fr-CA" sz="2000" dirty="0"/>
              <a:t>Encaisse				158 360</a:t>
            </a:r>
          </a:p>
          <a:p>
            <a:pPr marL="0" indent="0">
              <a:buNone/>
            </a:pPr>
            <a:r>
              <a:rPr lang="fr-CA" sz="2000" dirty="0"/>
              <a:t>@  Loyers à recevoir			150 360</a:t>
            </a:r>
          </a:p>
          <a:p>
            <a:pPr marL="0" indent="0">
              <a:buNone/>
            </a:pPr>
            <a:r>
              <a:rPr lang="fr-CA" sz="2000" dirty="0"/>
              <a:t>      Charge d’assurances			     8 000</a:t>
            </a:r>
          </a:p>
          <a:p>
            <a:pPr marL="0" indent="0">
              <a:buNone/>
            </a:pPr>
            <a:endParaRPr lang="fr-CA" sz="2000" dirty="0"/>
          </a:p>
          <a:p>
            <a:pPr marL="0" indent="0">
              <a:buNone/>
            </a:pPr>
            <a:r>
              <a:rPr lang="fr-CA" sz="2000" b="1" dirty="0"/>
              <a:t>31 décembre x1</a:t>
            </a:r>
          </a:p>
          <a:p>
            <a:pPr marL="0" indent="0">
              <a:buNone/>
            </a:pPr>
            <a:r>
              <a:rPr lang="fr-CA" sz="2000" dirty="0"/>
              <a:t>Produits financiers non acquis	   37 761</a:t>
            </a:r>
          </a:p>
          <a:p>
            <a:pPr marL="0" indent="0">
              <a:buNone/>
            </a:pPr>
            <a:r>
              <a:rPr lang="fr-CA" sz="2000" dirty="0"/>
              <a:t>@  Produits financiers–intérêts sur contrat </a:t>
            </a:r>
            <a:r>
              <a:rPr lang="fr-CA" sz="2000" dirty="0" err="1"/>
              <a:t>loc</a:t>
            </a:r>
            <a:r>
              <a:rPr lang="fr-CA" sz="2000" dirty="0"/>
              <a:t>     37 761</a:t>
            </a:r>
          </a:p>
          <a:p>
            <a:pPr marL="0" indent="0">
              <a:buNone/>
            </a:pPr>
            <a:endParaRPr lang="fr-FR" sz="2000" dirty="0"/>
          </a:p>
          <a:p>
            <a:pPr marL="0" indent="0">
              <a:buNone/>
            </a:pPr>
            <a:endParaRPr lang="fr-FR" sz="2000" i="1" dirty="0">
              <a:solidFill>
                <a:srgbClr val="FF0000"/>
              </a:solidFill>
            </a:endParaRPr>
          </a:p>
        </p:txBody>
      </p:sp>
      <p:sp>
        <p:nvSpPr>
          <p:cNvPr id="4" name="Espace réservé du pied de page 3">
            <a:extLst>
              <a:ext uri="{FF2B5EF4-FFF2-40B4-BE49-F238E27FC236}">
                <a16:creationId xmlns:a16="http://schemas.microsoft.com/office/drawing/2014/main" id="{1A93F93D-6CAF-443E-8802-1DF8A871F6A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2E7E781-D7C9-48E8-869D-3D5FFF21CCC4}"/>
              </a:ext>
            </a:extLst>
          </p:cNvPr>
          <p:cNvSpPr>
            <a:spLocks noGrp="1"/>
          </p:cNvSpPr>
          <p:nvPr>
            <p:ph type="sldNum" sz="quarter" idx="12"/>
          </p:nvPr>
        </p:nvSpPr>
        <p:spPr/>
        <p:txBody>
          <a:bodyPr/>
          <a:lstStyle/>
          <a:p>
            <a:fld id="{83AE54BF-1D3E-4F4A-82B1-C4E42C537D7C}" type="slidenum">
              <a:rPr lang="fr-FR" smtClean="0"/>
              <a:t>54</a:t>
            </a:fld>
            <a:endParaRPr lang="fr-FR"/>
          </a:p>
        </p:txBody>
      </p:sp>
    </p:spTree>
    <p:extLst>
      <p:ext uri="{BB962C8B-B14F-4D97-AF65-F5344CB8AC3E}">
        <p14:creationId xmlns:p14="http://schemas.microsoft.com/office/powerpoint/2010/main" val="39863937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13E848-EAF8-4D81-9BCA-84A37AFB7A87}"/>
              </a:ext>
            </a:extLst>
          </p:cNvPr>
          <p:cNvSpPr>
            <a:spLocks noGrp="1"/>
          </p:cNvSpPr>
          <p:nvPr>
            <p:ph type="title"/>
          </p:nvPr>
        </p:nvSpPr>
        <p:spPr>
          <a:xfrm>
            <a:off x="838200" y="365126"/>
            <a:ext cx="10515600" cy="315912"/>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0ACC0B09-9333-4B0C-BB03-CA875024DE0A}"/>
              </a:ext>
            </a:extLst>
          </p:cNvPr>
          <p:cNvSpPr>
            <a:spLocks noGrp="1"/>
          </p:cNvSpPr>
          <p:nvPr>
            <p:ph idx="1"/>
          </p:nvPr>
        </p:nvSpPr>
        <p:spPr>
          <a:xfrm>
            <a:off x="838200" y="681038"/>
            <a:ext cx="10515600" cy="5495925"/>
          </a:xfrm>
        </p:spPr>
        <p:txBody>
          <a:bodyPr>
            <a:normAutofit/>
          </a:bodyPr>
          <a:lstStyle/>
          <a:p>
            <a:pPr marL="0" indent="0">
              <a:buNone/>
            </a:pPr>
            <a:r>
              <a:rPr lang="fr-CA" sz="2000" b="1" dirty="0"/>
              <a:t>1</a:t>
            </a:r>
            <a:r>
              <a:rPr lang="fr-CA" sz="2000" b="1" baseline="30000" dirty="0"/>
              <a:t>er</a:t>
            </a:r>
            <a:r>
              <a:rPr lang="fr-CA" sz="2000" b="1" dirty="0"/>
              <a:t> janvier x2</a:t>
            </a:r>
          </a:p>
          <a:p>
            <a:pPr marL="0" indent="0">
              <a:buNone/>
            </a:pPr>
            <a:r>
              <a:rPr lang="fr-CA" sz="2000" dirty="0"/>
              <a:t>Encaisse				158 360</a:t>
            </a:r>
          </a:p>
          <a:p>
            <a:pPr marL="0" indent="0">
              <a:buNone/>
            </a:pPr>
            <a:r>
              <a:rPr lang="fr-CA" sz="2000" dirty="0"/>
              <a:t>@  Loyers à recevoir			150 360</a:t>
            </a:r>
          </a:p>
          <a:p>
            <a:pPr marL="0" indent="0">
              <a:buNone/>
            </a:pPr>
            <a:r>
              <a:rPr lang="fr-CA" sz="2000" dirty="0"/>
              <a:t>      Charge d’assurances			     8 000</a:t>
            </a:r>
          </a:p>
          <a:p>
            <a:pPr marL="0" indent="0">
              <a:buNone/>
            </a:pPr>
            <a:endParaRPr lang="fr-CA" sz="2000" dirty="0"/>
          </a:p>
          <a:p>
            <a:pPr marL="0" indent="0">
              <a:buNone/>
            </a:pPr>
            <a:r>
              <a:rPr lang="fr-CA" sz="2000" b="1" dirty="0"/>
              <a:t>31 décembre x2</a:t>
            </a:r>
          </a:p>
          <a:p>
            <a:pPr marL="0" indent="0">
              <a:buNone/>
            </a:pPr>
            <a:r>
              <a:rPr lang="fr-CA" sz="2000" dirty="0"/>
              <a:t>Produits financiers non acquis	   20 870</a:t>
            </a:r>
          </a:p>
          <a:p>
            <a:pPr marL="0" indent="0">
              <a:buNone/>
            </a:pPr>
            <a:r>
              <a:rPr lang="fr-CA" sz="2000" dirty="0"/>
              <a:t>@  Produits financiers–intérêts sur contrat </a:t>
            </a:r>
            <a:r>
              <a:rPr lang="fr-CA" sz="2000" dirty="0" err="1"/>
              <a:t>loc</a:t>
            </a:r>
            <a:r>
              <a:rPr lang="fr-CA" sz="2000" dirty="0"/>
              <a:t>     20 870</a:t>
            </a:r>
          </a:p>
          <a:p>
            <a:pPr marL="0" indent="0">
              <a:buNone/>
            </a:pPr>
            <a:endParaRPr lang="fr-CA" sz="2000" dirty="0"/>
          </a:p>
          <a:p>
            <a:pPr marL="0" indent="0">
              <a:buNone/>
            </a:pPr>
            <a:r>
              <a:rPr lang="fr-CA" sz="2000" dirty="0"/>
              <a:t>Stocks				160 000</a:t>
            </a:r>
          </a:p>
          <a:p>
            <a:pPr marL="0" indent="0">
              <a:buNone/>
            </a:pPr>
            <a:r>
              <a:rPr lang="fr-CA" sz="2000" dirty="0"/>
              <a:t>@  Loyers à recevoir			160 000</a:t>
            </a:r>
          </a:p>
          <a:p>
            <a:pPr marL="0" indent="0">
              <a:buNone/>
            </a:pPr>
            <a:r>
              <a:rPr lang="fr-CA" sz="2000" i="1" dirty="0">
                <a:solidFill>
                  <a:srgbClr val="FF0000"/>
                </a:solidFill>
              </a:rPr>
              <a:t>Retour de l’actif ; hypothèse juste valeur = valeur garantie, sinon $ à recevoir</a:t>
            </a:r>
          </a:p>
          <a:p>
            <a:pPr marL="0" indent="0">
              <a:buNone/>
            </a:pPr>
            <a:endParaRPr lang="fr-FR" sz="2000" dirty="0"/>
          </a:p>
          <a:p>
            <a:pPr marL="0" indent="0">
              <a:buNone/>
            </a:pPr>
            <a:endParaRPr lang="fr-FR" sz="2000" i="1" dirty="0">
              <a:solidFill>
                <a:srgbClr val="FF0000"/>
              </a:solidFill>
            </a:endParaRPr>
          </a:p>
        </p:txBody>
      </p:sp>
      <p:sp>
        <p:nvSpPr>
          <p:cNvPr id="4" name="Espace réservé du pied de page 3">
            <a:extLst>
              <a:ext uri="{FF2B5EF4-FFF2-40B4-BE49-F238E27FC236}">
                <a16:creationId xmlns:a16="http://schemas.microsoft.com/office/drawing/2014/main" id="{1A93F93D-6CAF-443E-8802-1DF8A871F6A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2E7E781-D7C9-48E8-869D-3D5FFF21CCC4}"/>
              </a:ext>
            </a:extLst>
          </p:cNvPr>
          <p:cNvSpPr>
            <a:spLocks noGrp="1"/>
          </p:cNvSpPr>
          <p:nvPr>
            <p:ph type="sldNum" sz="quarter" idx="12"/>
          </p:nvPr>
        </p:nvSpPr>
        <p:spPr/>
        <p:txBody>
          <a:bodyPr/>
          <a:lstStyle/>
          <a:p>
            <a:fld id="{83AE54BF-1D3E-4F4A-82B1-C4E42C537D7C}" type="slidenum">
              <a:rPr lang="fr-FR" smtClean="0"/>
              <a:t>55</a:t>
            </a:fld>
            <a:endParaRPr lang="fr-FR"/>
          </a:p>
        </p:txBody>
      </p:sp>
    </p:spTree>
    <p:extLst>
      <p:ext uri="{BB962C8B-B14F-4D97-AF65-F5344CB8AC3E}">
        <p14:creationId xmlns:p14="http://schemas.microsoft.com/office/powerpoint/2010/main" val="1656660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Cession bail</a:t>
            </a:r>
          </a:p>
        </p:txBody>
      </p:sp>
      <p:sp>
        <p:nvSpPr>
          <p:cNvPr id="3" name="Espace réservé du contenu 2"/>
          <p:cNvSpPr>
            <a:spLocks noGrp="1"/>
          </p:cNvSpPr>
          <p:nvPr>
            <p:ph idx="1"/>
          </p:nvPr>
        </p:nvSpPr>
        <p:spPr/>
        <p:txBody>
          <a:bodyPr>
            <a:normAutofit/>
          </a:bodyPr>
          <a:lstStyle/>
          <a:p>
            <a:r>
              <a:rPr lang="fr-FR" dirty="0"/>
              <a:t>Opération consistant en la vente d’un bien et sa reprise à bail immédiate par le vendeur</a:t>
            </a:r>
          </a:p>
          <a:p>
            <a:endParaRPr lang="fr-FR" dirty="0"/>
          </a:p>
          <a:p>
            <a:r>
              <a:rPr lang="fr-FR" dirty="0"/>
              <a:t>Dans une opération de </a:t>
            </a:r>
            <a:r>
              <a:rPr lang="fr-FR" dirty="0" err="1"/>
              <a:t>cession-bail</a:t>
            </a:r>
            <a:r>
              <a:rPr lang="fr-FR" dirty="0"/>
              <a:t>, le bail doit être comptabilisé comme un contrat de location-acquisition, de location-financement ou de location-exploitation, selon ce qui convient pour le vendeur-preneur et l’acheteur-bailleur</a:t>
            </a:r>
          </a:p>
          <a:p>
            <a:pPr lvl="1"/>
            <a:r>
              <a:rPr lang="fr-FR" dirty="0"/>
              <a:t>Reporter le gain/perte résultant de la vente sur la durée du bail (sauf si </a:t>
            </a:r>
            <a:r>
              <a:rPr lang="fr-FR" dirty="0" err="1"/>
              <a:t>loc</a:t>
            </a:r>
            <a:r>
              <a:rPr lang="fr-FR" dirty="0"/>
              <a:t> exploitation et considère qu’il y a eu vente)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56</a:t>
            </a:fld>
            <a:endParaRPr lang="fr-FR"/>
          </a:p>
        </p:txBody>
      </p:sp>
      <p:sp>
        <p:nvSpPr>
          <p:cNvPr id="5" name="Espace réservé du pied de page 4">
            <a:extLst>
              <a:ext uri="{FF2B5EF4-FFF2-40B4-BE49-F238E27FC236}">
                <a16:creationId xmlns:a16="http://schemas.microsoft.com/office/drawing/2014/main" id="{8120E9EB-6CD0-4A9A-BABD-33D05285144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6922225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Informations à fournir</a:t>
            </a:r>
          </a:p>
        </p:txBody>
      </p:sp>
      <p:sp>
        <p:nvSpPr>
          <p:cNvPr id="3" name="Espace réservé du contenu 2"/>
          <p:cNvSpPr>
            <a:spLocks noGrp="1"/>
          </p:cNvSpPr>
          <p:nvPr>
            <p:ph idx="1"/>
          </p:nvPr>
        </p:nvSpPr>
        <p:spPr/>
        <p:txBody>
          <a:bodyPr>
            <a:normAutofit/>
          </a:bodyPr>
          <a:lstStyle/>
          <a:p>
            <a:r>
              <a:rPr lang="fr-FR" dirty="0"/>
              <a:t>Preneur – location-acquisition</a:t>
            </a:r>
          </a:p>
          <a:p>
            <a:pPr lvl="1"/>
            <a:r>
              <a:rPr lang="fr-FR" dirty="0" err="1"/>
              <a:t>Immo</a:t>
            </a:r>
            <a:r>
              <a:rPr lang="fr-FR" dirty="0"/>
              <a:t> louées : coût, amortissement cumulée, méthode d’amortissement utilisé (période / taux)</a:t>
            </a:r>
          </a:p>
          <a:p>
            <a:pPr lvl="1"/>
            <a:r>
              <a:rPr lang="fr-FR" dirty="0"/>
              <a:t>Obligation locative : taux d’intérêt, date d’échéance, solde impayé, si les contrats sont garantis</a:t>
            </a:r>
          </a:p>
          <a:p>
            <a:pPr lvl="1"/>
            <a:r>
              <a:rPr lang="fr-FR" dirty="0">
                <a:solidFill>
                  <a:srgbClr val="0070C0"/>
                </a:solidFill>
              </a:rPr>
              <a:t>Montant global estimatif des versements à effectuer dans chacun des cinq prochains exercices</a:t>
            </a:r>
          </a:p>
          <a:p>
            <a:pPr marL="457200" lvl="1" indent="0">
              <a:buNone/>
            </a:pPr>
            <a:endParaRPr lang="fr-FR" dirty="0">
              <a:solidFill>
                <a:srgbClr val="FF0000"/>
              </a:solidFill>
            </a:endParaRPr>
          </a:p>
          <a:p>
            <a:r>
              <a:rPr lang="fr-FR" dirty="0"/>
              <a:t>Preneur – location-exploitation</a:t>
            </a:r>
          </a:p>
          <a:p>
            <a:pPr lvl="1"/>
            <a:r>
              <a:rPr lang="fr-FR" dirty="0"/>
              <a:t>Total des paiements minimums futurs exigibles ainsi que leur montant pour chacun des cinq exercices suivants; nature des autres engagements	</a:t>
            </a:r>
            <a:endParaRPr lang="fr-FR" dirty="0">
              <a:solidFill>
                <a:srgbClr val="FF0000"/>
              </a:solidFill>
            </a:endParaRP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57</a:t>
            </a:fld>
            <a:endParaRPr lang="fr-FR"/>
          </a:p>
        </p:txBody>
      </p:sp>
      <p:sp>
        <p:nvSpPr>
          <p:cNvPr id="5" name="Espace réservé du pied de page 4">
            <a:extLst>
              <a:ext uri="{FF2B5EF4-FFF2-40B4-BE49-F238E27FC236}">
                <a16:creationId xmlns:a16="http://schemas.microsoft.com/office/drawing/2014/main" id="{1322A920-36D1-496E-8A87-3B76B76AA90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4304177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Informations à fournir</a:t>
            </a:r>
          </a:p>
        </p:txBody>
      </p:sp>
      <p:sp>
        <p:nvSpPr>
          <p:cNvPr id="3" name="Espace réservé du contenu 2"/>
          <p:cNvSpPr>
            <a:spLocks noGrp="1"/>
          </p:cNvSpPr>
          <p:nvPr>
            <p:ph idx="1"/>
          </p:nvPr>
        </p:nvSpPr>
        <p:spPr/>
        <p:txBody>
          <a:bodyPr>
            <a:normAutofit/>
          </a:bodyPr>
          <a:lstStyle/>
          <a:p>
            <a:r>
              <a:rPr lang="fr-FR" dirty="0"/>
              <a:t>Bailleur– location-vente</a:t>
            </a:r>
          </a:p>
          <a:p>
            <a:pPr lvl="1"/>
            <a:r>
              <a:rPr lang="fr-FR" dirty="0"/>
              <a:t>Investissement net ainsi que taux d’intérêt implicites </a:t>
            </a:r>
          </a:p>
          <a:p>
            <a:pPr marL="457200" lvl="1" indent="0">
              <a:buNone/>
            </a:pPr>
            <a:endParaRPr lang="fr-FR" dirty="0">
              <a:solidFill>
                <a:srgbClr val="FF0000"/>
              </a:solidFill>
            </a:endParaRPr>
          </a:p>
          <a:p>
            <a:r>
              <a:rPr lang="fr-FR" dirty="0"/>
              <a:t>Bailleur– location-exploitation</a:t>
            </a:r>
          </a:p>
          <a:p>
            <a:pPr lvl="1"/>
            <a:r>
              <a:rPr lang="fr-FR" dirty="0"/>
              <a:t>Coût des immobilisations corporelles destinées à la location et le montant de l’amortissement cumulé</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58</a:t>
            </a:fld>
            <a:endParaRPr lang="fr-FR"/>
          </a:p>
        </p:txBody>
      </p:sp>
      <p:sp>
        <p:nvSpPr>
          <p:cNvPr id="5" name="Espace réservé du pied de page 4">
            <a:extLst>
              <a:ext uri="{FF2B5EF4-FFF2-40B4-BE49-F238E27FC236}">
                <a16:creationId xmlns:a16="http://schemas.microsoft.com/office/drawing/2014/main" id="{3C958344-A363-47F5-B051-EF8C20030B57}"/>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6980298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Contrats de location – questions</a:t>
            </a:r>
          </a:p>
        </p:txBody>
      </p:sp>
      <p:sp>
        <p:nvSpPr>
          <p:cNvPr id="3" name="Espace réservé du contenu 2"/>
          <p:cNvSpPr>
            <a:spLocks noGrp="1"/>
          </p:cNvSpPr>
          <p:nvPr>
            <p:ph idx="1"/>
          </p:nvPr>
        </p:nvSpPr>
        <p:spPr/>
        <p:txBody>
          <a:bodyPr>
            <a:normAutofit/>
          </a:bodyPr>
          <a:lstStyle/>
          <a:p>
            <a:r>
              <a:rPr lang="fr-FR" dirty="0"/>
              <a:t>Quel est l’impact sur les ratios financiers…</a:t>
            </a:r>
          </a:p>
          <a:p>
            <a:pPr marL="0" indent="0">
              <a:buNone/>
            </a:pPr>
            <a:endParaRPr lang="fr-FR" sz="900" dirty="0"/>
          </a:p>
          <a:p>
            <a:pPr lvl="1"/>
            <a:r>
              <a:rPr lang="fr-FR" dirty="0"/>
              <a:t>Dans sa convention de prêt, la société doit respecter un ratio maximum de dette sur capitaux propres. Sensibilité face à la méthode comptable pour le preneur?</a:t>
            </a:r>
          </a:p>
          <a:p>
            <a:pPr lvl="1"/>
            <a:r>
              <a:rPr lang="fr-FR" dirty="0"/>
              <a:t>Une information sensible pour les actionnaires est la rentabilité définie comme bénéfice net / chiffre d’affaires. Sensibilité face à la méthode comptable pour le preneur?</a:t>
            </a:r>
          </a:p>
          <a:p>
            <a:pPr marL="457200" lvl="1" indent="0">
              <a:buNone/>
            </a:pPr>
            <a:endParaRPr lang="fr-FR" sz="900" dirty="0"/>
          </a:p>
          <a:p>
            <a:pPr lvl="1"/>
            <a:r>
              <a:rPr lang="fr-FR" dirty="0"/>
              <a:t>Une information sensible pour les actionnaires est le rendement sur actif. Sensibilité face à la méthode comptable pour le preneur?</a:t>
            </a:r>
          </a:p>
          <a:p>
            <a:pPr marL="457200" lvl="1" indent="0">
              <a:buNone/>
            </a:pPr>
            <a:endParaRPr lang="fr-FR" sz="900" dirty="0"/>
          </a:p>
          <a:p>
            <a:pPr lvl="1"/>
            <a:endParaRPr lang="fr-FR"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59</a:t>
            </a:fld>
            <a:endParaRPr lang="fr-FR"/>
          </a:p>
        </p:txBody>
      </p:sp>
      <p:sp>
        <p:nvSpPr>
          <p:cNvPr id="5" name="Espace réservé du pied de page 4">
            <a:extLst>
              <a:ext uri="{FF2B5EF4-FFF2-40B4-BE49-F238E27FC236}">
                <a16:creationId xmlns:a16="http://schemas.microsoft.com/office/drawing/2014/main" id="{374CB2E8-3C46-449D-B1B3-B21B2CD114E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0357637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Contrats de location – questions</a:t>
            </a:r>
          </a:p>
        </p:txBody>
      </p:sp>
      <p:sp>
        <p:nvSpPr>
          <p:cNvPr id="3" name="Espace réservé du contenu 2"/>
          <p:cNvSpPr>
            <a:spLocks noGrp="1"/>
          </p:cNvSpPr>
          <p:nvPr>
            <p:ph idx="1"/>
          </p:nvPr>
        </p:nvSpPr>
        <p:spPr/>
        <p:txBody>
          <a:bodyPr>
            <a:normAutofit fontScale="92500" lnSpcReduction="20000"/>
          </a:bodyPr>
          <a:lstStyle/>
          <a:p>
            <a:r>
              <a:rPr lang="fr-FR" dirty="0"/>
              <a:t>Quel est l’impact sur les ratios financiers…</a:t>
            </a:r>
          </a:p>
          <a:p>
            <a:pPr marL="0" indent="0">
              <a:buNone/>
            </a:pPr>
            <a:endParaRPr lang="fr-FR" sz="900" dirty="0"/>
          </a:p>
          <a:p>
            <a:pPr lvl="1"/>
            <a:r>
              <a:rPr lang="fr-FR" dirty="0"/>
              <a:t>Dans sa convention de prêt, la société doit respecter un ratio maximum de dette sur capitaux propres. Sensibilité face à la méthode comptable pour le preneur?</a:t>
            </a:r>
          </a:p>
          <a:p>
            <a:pPr lvl="2"/>
            <a:r>
              <a:rPr lang="fr-FR" dirty="0">
                <a:solidFill>
                  <a:srgbClr val="FF0000"/>
                </a:solidFill>
              </a:rPr>
              <a:t>Location-acquisition : dette liée à l’obligation locative, donc défavorable</a:t>
            </a:r>
          </a:p>
          <a:p>
            <a:pPr lvl="1"/>
            <a:r>
              <a:rPr lang="fr-FR" dirty="0"/>
              <a:t>Une information sensible pour les actionnaires est la rentabilité définie comme bénéfice net / chiffre d’affaires. Sensibilité face à la méthode comptable pour le preneur?</a:t>
            </a:r>
          </a:p>
          <a:p>
            <a:pPr lvl="2"/>
            <a:r>
              <a:rPr lang="fr-FR" dirty="0">
                <a:solidFill>
                  <a:srgbClr val="FF0000"/>
                </a:solidFill>
              </a:rPr>
              <a:t>Similaire : location-exploitation : charge location ; location-acquisition : charge amortissement + frais financiers</a:t>
            </a:r>
          </a:p>
          <a:p>
            <a:pPr lvl="2"/>
            <a:r>
              <a:rPr lang="fr-FR" dirty="0">
                <a:solidFill>
                  <a:srgbClr val="FF0000"/>
                </a:solidFill>
              </a:rPr>
              <a:t>Total similaire, mais location-acquisition aura charge plus importante au début de la location et moins importante à la fin (charge d’intérêts diminue avec solde obligation qui diminue)</a:t>
            </a:r>
          </a:p>
          <a:p>
            <a:pPr marL="457200" lvl="1" indent="0">
              <a:buNone/>
            </a:pPr>
            <a:endParaRPr lang="fr-FR" sz="900" dirty="0"/>
          </a:p>
          <a:p>
            <a:pPr lvl="1"/>
            <a:r>
              <a:rPr lang="fr-FR" dirty="0"/>
              <a:t>Une information sensible pour les actionnaires est le rendement sur actif. Sensibilité face à la méthode comptable pour le preneur?</a:t>
            </a:r>
          </a:p>
          <a:p>
            <a:pPr lvl="2"/>
            <a:r>
              <a:rPr lang="fr-FR" dirty="0">
                <a:solidFill>
                  <a:srgbClr val="FF0000"/>
                </a:solidFill>
              </a:rPr>
              <a:t>Location-acquisition présente un actif loué, donc défavorable</a:t>
            </a:r>
          </a:p>
          <a:p>
            <a:pPr marL="457200" lvl="1" indent="0">
              <a:buNone/>
            </a:pPr>
            <a:endParaRPr lang="fr-FR" sz="900" dirty="0"/>
          </a:p>
          <a:p>
            <a:pPr lvl="1"/>
            <a:endParaRPr lang="fr-FR"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60</a:t>
            </a:fld>
            <a:endParaRPr lang="fr-FR"/>
          </a:p>
        </p:txBody>
      </p:sp>
      <p:sp>
        <p:nvSpPr>
          <p:cNvPr id="5" name="Espace réservé du pied de page 4">
            <a:extLst>
              <a:ext uri="{FF2B5EF4-FFF2-40B4-BE49-F238E27FC236}">
                <a16:creationId xmlns:a16="http://schemas.microsoft.com/office/drawing/2014/main" id="{A7065132-349F-4D29-8A7D-DC53FD8B873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13977949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1937</TotalTime>
  <Words>6509</Words>
  <Application>Microsoft Office PowerPoint</Application>
  <PresentationFormat>Grand écran</PresentationFormat>
  <Paragraphs>607</Paragraphs>
  <Slides>60</Slides>
  <Notes>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60</vt:i4>
      </vt:variant>
    </vt:vector>
  </HeadingPairs>
  <TitlesOfParts>
    <vt:vector size="65" baseType="lpstr">
      <vt:lpstr>Arial</vt:lpstr>
      <vt:lpstr>Calibri</vt:lpstr>
      <vt:lpstr>Calibri Light</vt:lpstr>
      <vt:lpstr>Mangal</vt:lpstr>
      <vt:lpstr>Thème Office</vt:lpstr>
      <vt:lpstr>Contrat de location Chap. 3065   </vt:lpstr>
      <vt:lpstr>Contrats de location</vt:lpstr>
      <vt:lpstr>Image fidèle</vt:lpstr>
      <vt:lpstr>Contrats de location</vt:lpstr>
      <vt:lpstr>Preneur</vt:lpstr>
      <vt:lpstr>Classement - preneur</vt:lpstr>
      <vt:lpstr>Définitions</vt:lpstr>
      <vt:lpstr>Définitions</vt:lpstr>
      <vt:lpstr>Définitions</vt:lpstr>
      <vt:lpstr>Définitions</vt:lpstr>
      <vt:lpstr>Définitions - Durée du bail</vt:lpstr>
      <vt:lpstr>Définitions - Durée du bail</vt:lpstr>
      <vt:lpstr>Classement - preneur</vt:lpstr>
      <vt:lpstr>Preneur – location-acquisition</vt:lpstr>
      <vt:lpstr>Preneur – location-acquisition</vt:lpstr>
      <vt:lpstr>Preneur – location-acquisition</vt:lpstr>
      <vt:lpstr>Preneur – location-acquisition - Écritures</vt:lpstr>
      <vt:lpstr>Exercice – préparer les écritures</vt:lpstr>
      <vt:lpstr>Présentation PowerPoint</vt:lpstr>
      <vt:lpstr>Présentation PowerPoint</vt:lpstr>
      <vt:lpstr>Présentation PowerPoint</vt:lpstr>
      <vt:lpstr>Preneur – location-exploitation</vt:lpstr>
      <vt:lpstr>Exemple  (Guide)</vt:lpstr>
      <vt:lpstr>Exemple  - solution</vt:lpstr>
      <vt:lpstr>Exercice 1 </vt:lpstr>
      <vt:lpstr>Exercice 2 </vt:lpstr>
      <vt:lpstr>Exercice 2 </vt:lpstr>
      <vt:lpstr>Exercice 3 </vt:lpstr>
      <vt:lpstr>Exercice 3 </vt:lpstr>
      <vt:lpstr>Exercice</vt:lpstr>
      <vt:lpstr>Présentation PowerPoint</vt:lpstr>
      <vt:lpstr>Preneur – problème synthèse</vt:lpstr>
      <vt:lpstr>Solution</vt:lpstr>
      <vt:lpstr> </vt:lpstr>
      <vt:lpstr>  </vt:lpstr>
      <vt:lpstr>  </vt:lpstr>
      <vt:lpstr>  </vt:lpstr>
      <vt:lpstr>Présentation PowerPoint</vt:lpstr>
      <vt:lpstr>Bailleur</vt:lpstr>
      <vt:lpstr>Classement - bailleur</vt:lpstr>
      <vt:lpstr>Classement - bailleur</vt:lpstr>
      <vt:lpstr>Bailleur</vt:lpstr>
      <vt:lpstr>Bailleur– location-exploitation</vt:lpstr>
      <vt:lpstr>Définitions</vt:lpstr>
      <vt:lpstr>Contrat de location-financement</vt:lpstr>
      <vt:lpstr>Contrat de location-vente</vt:lpstr>
      <vt:lpstr>Contrat de location-vente</vt:lpstr>
      <vt:lpstr>Bailleur</vt:lpstr>
      <vt:lpstr>Bailleur– location-exploitation</vt:lpstr>
      <vt:lpstr>Bailleur</vt:lpstr>
      <vt:lpstr>Solution</vt:lpstr>
      <vt:lpstr>Présentation PowerPoint</vt:lpstr>
      <vt:lpstr>  </vt:lpstr>
      <vt:lpstr>  </vt:lpstr>
      <vt:lpstr>  </vt:lpstr>
      <vt:lpstr>Cession bail</vt:lpstr>
      <vt:lpstr>Informations à fournir</vt:lpstr>
      <vt:lpstr>Informations à fournir</vt:lpstr>
      <vt:lpstr>Contrats de location – questions</vt:lpstr>
      <vt:lpstr>Contrats de location –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 6240 séance 6  Contrats de location Engagements contractuels Dépréciation d’immobilisations et désinvestissement Immobilisations incorporelles</dc:title>
  <dc:creator>louise overbeek</dc:creator>
  <cp:lastModifiedBy>SOKRI Marzouk</cp:lastModifiedBy>
  <cp:revision>39</cp:revision>
  <dcterms:created xsi:type="dcterms:W3CDTF">2020-09-29T21:45:13Z</dcterms:created>
  <dcterms:modified xsi:type="dcterms:W3CDTF">2025-04-17T19:53:30Z</dcterms:modified>
</cp:coreProperties>
</file>