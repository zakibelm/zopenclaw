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7" r:id="rId2"/>
    <p:sldId id="258" r:id="rId3"/>
    <p:sldId id="259" r:id="rId4"/>
    <p:sldId id="260" r:id="rId5"/>
    <p:sldId id="261" r:id="rId6"/>
    <p:sldId id="262" r:id="rId7"/>
    <p:sldId id="263" r:id="rId8"/>
    <p:sldId id="264" r:id="rId9"/>
    <p:sldId id="271" r:id="rId10"/>
    <p:sldId id="272" r:id="rId11"/>
    <p:sldId id="273" r:id="rId12"/>
    <p:sldId id="274" r:id="rId13"/>
    <p:sldId id="278" r:id="rId14"/>
    <p:sldId id="279" r:id="rId15"/>
    <p:sldId id="265" r:id="rId16"/>
    <p:sldId id="266" r:id="rId17"/>
    <p:sldId id="267" r:id="rId18"/>
    <p:sldId id="268" r:id="rId19"/>
    <p:sldId id="269" r:id="rId20"/>
    <p:sldId id="275" r:id="rId21"/>
    <p:sldId id="282" r:id="rId22"/>
    <p:sldId id="283" r:id="rId23"/>
    <p:sldId id="286" r:id="rId24"/>
    <p:sldId id="280" r:id="rId25"/>
    <p:sldId id="281" r:id="rId26"/>
    <p:sldId id="287" r:id="rId27"/>
    <p:sldId id="285" r:id="rId28"/>
    <p:sldId id="270" r:id="rId29"/>
    <p:sldId id="276" r:id="rId30"/>
    <p:sldId id="277" r:id="rId31"/>
    <p:sldId id="288" r:id="rId32"/>
    <p:sldId id="284" r:id="rId33"/>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0056"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C9C382D9-FCAA-4628-9E3F-14042EBDAE30}" type="datetimeFigureOut">
              <a:rPr lang="fr-CA" smtClean="0"/>
              <a:t>2025-01-14</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1E0ABE57-FF1E-422F-9B55-C03E6E22D4F8}" type="slidenum">
              <a:rPr lang="fr-CA" smtClean="0"/>
              <a:t>‹N°›</a:t>
            </a:fld>
            <a:endParaRPr lang="fr-CA"/>
          </a:p>
        </p:txBody>
      </p:sp>
    </p:spTree>
    <p:extLst>
      <p:ext uri="{BB962C8B-B14F-4D97-AF65-F5344CB8AC3E}">
        <p14:creationId xmlns:p14="http://schemas.microsoft.com/office/powerpoint/2010/main" val="114368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3B8B2E80-5917-4F91-B630-DA5371E79F11}" type="datetimeFigureOut">
              <a:rPr lang="fr-CA" smtClean="0"/>
              <a:t>2025-01-14</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D71D9541-7AB3-4BBB-A40F-B2FDE11458C6}" type="slidenum">
              <a:rPr lang="fr-CA" smtClean="0"/>
              <a:t>‹N°›</a:t>
            </a:fld>
            <a:endParaRPr lang="fr-CA"/>
          </a:p>
        </p:txBody>
      </p:sp>
    </p:spTree>
    <p:extLst>
      <p:ext uri="{BB962C8B-B14F-4D97-AF65-F5344CB8AC3E}">
        <p14:creationId xmlns:p14="http://schemas.microsoft.com/office/powerpoint/2010/main" val="16553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La mesure généralement correspond a la contrepartie </a:t>
            </a:r>
            <a:r>
              <a:rPr lang="fr-CA" dirty="0" err="1"/>
              <a:t>recu</a:t>
            </a:r>
            <a:r>
              <a:rPr lang="fr-CA" dirty="0"/>
              <a:t> pour les couts et l'immobilisation La dépréciation les mêmes couts </a:t>
            </a:r>
          </a:p>
          <a:p>
            <a:r>
              <a:rPr lang="fr-CA" dirty="0"/>
              <a:t>La dépréciation il faut faire tes fiches </a:t>
            </a:r>
          </a:p>
          <a:p>
            <a:endParaRPr lang="fr-CA" dirty="0"/>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6</a:t>
            </a:fld>
            <a:endParaRPr lang="fr-CA"/>
          </a:p>
        </p:txBody>
      </p:sp>
    </p:spTree>
    <p:extLst>
      <p:ext uri="{BB962C8B-B14F-4D97-AF65-F5344CB8AC3E}">
        <p14:creationId xmlns:p14="http://schemas.microsoft.com/office/powerpoint/2010/main" val="3193331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Aux cas toujours commencer par info </a:t>
            </a:r>
            <a:r>
              <a:rPr lang="fr-CA" dirty="0" err="1"/>
              <a:t>financiere</a:t>
            </a:r>
            <a:r>
              <a:rPr lang="fr-CA" dirty="0"/>
              <a:t>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7</a:t>
            </a:fld>
            <a:endParaRPr lang="fr-CA"/>
          </a:p>
        </p:txBody>
      </p:sp>
    </p:spTree>
    <p:extLst>
      <p:ext uri="{BB962C8B-B14F-4D97-AF65-F5344CB8AC3E}">
        <p14:creationId xmlns:p14="http://schemas.microsoft.com/office/powerpoint/2010/main" val="238245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Encaisse  10</a:t>
            </a:r>
          </a:p>
          <a:p>
            <a:r>
              <a:rPr lang="fr-CA" dirty="0"/>
              <a:t>Produit                                 9</a:t>
            </a:r>
          </a:p>
          <a:p>
            <a:r>
              <a:rPr lang="fr-CA" dirty="0"/>
              <a:t>Produit différé                      1</a:t>
            </a:r>
          </a:p>
          <a:p>
            <a:endParaRPr lang="fr-CA" dirty="0"/>
          </a:p>
          <a:p>
            <a:r>
              <a:rPr lang="fr-CA" dirty="0"/>
              <a:t>CMV                         540</a:t>
            </a:r>
          </a:p>
          <a:p>
            <a:r>
              <a:rPr lang="fr-CA" dirty="0"/>
              <a:t>Actif droit de retour 60</a:t>
            </a:r>
          </a:p>
          <a:p>
            <a:r>
              <a:rPr lang="fr-CA" dirty="0"/>
              <a:t>Stock                                                         600       c’est acceptable dans les NCECF Cout des stocks            540</a:t>
            </a:r>
          </a:p>
          <a:p>
            <a:r>
              <a:rPr lang="fr-CA" dirty="0"/>
              <a:t>                                                                                                                                    Stock                                               540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8</a:t>
            </a:fld>
            <a:endParaRPr lang="fr-CA"/>
          </a:p>
        </p:txBody>
      </p:sp>
    </p:spTree>
    <p:extLst>
      <p:ext uri="{BB962C8B-B14F-4D97-AF65-F5344CB8AC3E}">
        <p14:creationId xmlns:p14="http://schemas.microsoft.com/office/powerpoint/2010/main" val="90075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Enjeu:est</a:t>
            </a:r>
            <a:r>
              <a:rPr lang="fr-CA" dirty="0"/>
              <a:t> que le montant de présentation de stock a 45$ est adéquat est que l’</a:t>
            </a:r>
            <a:r>
              <a:rPr lang="fr-CA" dirty="0" err="1"/>
              <a:t>ntreprise</a:t>
            </a:r>
            <a:r>
              <a:rPr lang="fr-CA" dirty="0"/>
              <a:t> doit faire une </a:t>
            </a:r>
            <a:r>
              <a:rPr lang="fr-CA" dirty="0" err="1"/>
              <a:t>déprcéciation</a:t>
            </a:r>
            <a:r>
              <a:rPr lang="fr-CA" dirty="0"/>
              <a:t> de stock afin de présenter les stocks au moindre cout de VNR ou de cout </a:t>
            </a:r>
          </a:p>
          <a:p>
            <a:r>
              <a:rPr lang="fr-CA" dirty="0"/>
              <a:t>Identification de la norme et </a:t>
            </a:r>
            <a:r>
              <a:rPr lang="fr-CA" dirty="0" err="1"/>
              <a:t>analyse:selon</a:t>
            </a:r>
            <a:r>
              <a:rPr lang="fr-CA" dirty="0"/>
              <a:t> l’IAS 2 selon le paragraphe 9 </a:t>
            </a:r>
            <a:r>
              <a:rPr lang="fr-FR" dirty="0"/>
              <a:t>Les stocks doivent être évalués au plus faible du coût et de la valeur nette de réalisation.</a:t>
            </a:r>
          </a:p>
          <a:p>
            <a:r>
              <a:rPr lang="fr-FR" dirty="0"/>
              <a:t>Ici on a la valeur de cout est 60 $ et la VNR est 45 est la plus faible </a:t>
            </a:r>
          </a:p>
          <a:p>
            <a:r>
              <a:rPr lang="fr-FR" dirty="0" err="1"/>
              <a:t>Recommandation:passer</a:t>
            </a:r>
            <a:r>
              <a:rPr lang="fr-FR" dirty="0"/>
              <a:t> une perte de valeur afin présenter les stock au moindre cout soit (60-45)*400=6000</a:t>
            </a:r>
          </a:p>
          <a:p>
            <a:r>
              <a:rPr lang="fr-FR" dirty="0" err="1"/>
              <a:t>Écrtire</a:t>
            </a:r>
            <a:r>
              <a:rPr lang="fr-FR" dirty="0"/>
              <a:t> de </a:t>
            </a:r>
            <a:r>
              <a:rPr lang="fr-FR" dirty="0" err="1"/>
              <a:t>régularisationn</a:t>
            </a:r>
            <a:r>
              <a:rPr lang="fr-FR" dirty="0"/>
              <a:t>: Perte de valeur RN  6000</a:t>
            </a:r>
          </a:p>
          <a:p>
            <a:r>
              <a:rPr lang="fr-FR" dirty="0"/>
              <a:t>                                           Stock                                             6000 </a:t>
            </a:r>
          </a:p>
          <a:p>
            <a:endParaRPr lang="fr-CA" dirty="0"/>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9</a:t>
            </a:fld>
            <a:endParaRPr lang="fr-CA"/>
          </a:p>
        </p:txBody>
      </p:sp>
    </p:spTree>
    <p:extLst>
      <p:ext uri="{BB962C8B-B14F-4D97-AF65-F5344CB8AC3E}">
        <p14:creationId xmlns:p14="http://schemas.microsoft.com/office/powerpoint/2010/main" val="1826251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produits différés on parle de montant </a:t>
            </a:r>
            <a:r>
              <a:rPr lang="fr-CA"/>
              <a:t>et des fois </a:t>
            </a:r>
            <a:r>
              <a:rPr lang="fr-CA" dirty="0"/>
              <a:t>de moment a savoir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10</a:t>
            </a:fld>
            <a:endParaRPr lang="fr-CA"/>
          </a:p>
        </p:txBody>
      </p:sp>
    </p:spTree>
    <p:extLst>
      <p:ext uri="{BB962C8B-B14F-4D97-AF65-F5344CB8AC3E}">
        <p14:creationId xmlns:p14="http://schemas.microsoft.com/office/powerpoint/2010/main" val="1576012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Enjeu:Moment</a:t>
            </a:r>
            <a:r>
              <a:rPr lang="fr-CA" dirty="0"/>
              <a:t> de comptabilisation de la vente de la nouvelle ligne de produit </a:t>
            </a:r>
          </a:p>
          <a:p>
            <a:r>
              <a:rPr lang="fr-CA" dirty="0"/>
              <a:t>Identification de la norme et </a:t>
            </a:r>
            <a:r>
              <a:rPr lang="fr-CA" dirty="0" err="1"/>
              <a:t>analyse:selon</a:t>
            </a:r>
            <a:r>
              <a:rPr lang="fr-CA" dirty="0"/>
              <a:t> le chapitre 3400 des NCECF pour constater un produit il faut respecter les trois </a:t>
            </a:r>
            <a:r>
              <a:rPr lang="fr-CA" dirty="0" err="1"/>
              <a:t>étpaes</a:t>
            </a:r>
            <a:r>
              <a:rPr lang="fr-CA" dirty="0"/>
              <a:t>:</a:t>
            </a:r>
          </a:p>
          <a:p>
            <a:r>
              <a:rPr lang="fr-CA" dirty="0"/>
              <a:t>Exécution </a:t>
            </a:r>
            <a:r>
              <a:rPr lang="fr-CA" dirty="0" err="1"/>
              <a:t>achevée:dans</a:t>
            </a:r>
            <a:r>
              <a:rPr lang="fr-CA" dirty="0"/>
              <a:t> le cas de ABC le client a toujours le droit de faire retourner ses produit sans condition pour une période de </a:t>
            </a:r>
            <a:r>
              <a:rPr lang="fr-CA" dirty="0" err="1"/>
              <a:t>tois</a:t>
            </a:r>
            <a:r>
              <a:rPr lang="fr-CA" dirty="0"/>
              <a:t> mois et comme la vente de ces produits est faite deux semaine avant la fin de l’</a:t>
            </a:r>
            <a:r>
              <a:rPr lang="fr-CA" dirty="0" err="1"/>
              <a:t>Execrice</a:t>
            </a:r>
            <a:r>
              <a:rPr lang="fr-CA" dirty="0"/>
              <a:t> cela signifie que ABC a </a:t>
            </a:r>
            <a:r>
              <a:rPr lang="fr-CA" dirty="0" err="1"/>
              <a:t>toujoiurs</a:t>
            </a:r>
            <a:r>
              <a:rPr lang="fr-CA" dirty="0"/>
              <a:t> une obligation de prestation vis-à-vis son client </a:t>
            </a:r>
          </a:p>
          <a:p>
            <a:r>
              <a:rPr lang="fr-CA" dirty="0"/>
              <a:t>Le montant de contre partie peut être </a:t>
            </a:r>
            <a:r>
              <a:rPr lang="fr-CA" dirty="0" err="1"/>
              <a:t>évlaué</a:t>
            </a:r>
            <a:r>
              <a:rPr lang="fr-CA" dirty="0"/>
              <a:t> d’une façon </a:t>
            </a:r>
            <a:r>
              <a:rPr lang="fr-CA" dirty="0" err="1"/>
              <a:t>faible:cette</a:t>
            </a:r>
            <a:r>
              <a:rPr lang="fr-CA" dirty="0"/>
              <a:t> condition s’applique le montant de transaction correspond au 100u*20</a:t>
            </a:r>
          </a:p>
          <a:p>
            <a:r>
              <a:rPr lang="fr-CA" dirty="0"/>
              <a:t>Le recouvrement est certain:</a:t>
            </a:r>
          </a:p>
          <a:p>
            <a:r>
              <a:rPr lang="fr-CA" dirty="0" err="1"/>
              <a:t>Recommandation:comptabiliser</a:t>
            </a:r>
            <a:r>
              <a:rPr lang="fr-CA" dirty="0"/>
              <a:t> un </a:t>
            </a:r>
            <a:r>
              <a:rPr lang="fr-CA" dirty="0" err="1"/>
              <a:t>prouit</a:t>
            </a:r>
            <a:r>
              <a:rPr lang="fr-CA" dirty="0"/>
              <a:t> différé d’un montant de 100*20=2000 comme un passif dans ces EF              donc il faut parler des trois étapes attention aux retour ici on parle pas de </a:t>
            </a:r>
            <a:r>
              <a:rPr lang="fr-CA" dirty="0" err="1"/>
              <a:t>transfer</a:t>
            </a:r>
            <a:r>
              <a:rPr lang="fr-CA" dirty="0"/>
              <a:t> de risque mais par contre on parle de montant car le transfert est déjà fait attention on parle des ventes des produit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11</a:t>
            </a:fld>
            <a:endParaRPr lang="fr-CA"/>
          </a:p>
        </p:txBody>
      </p:sp>
    </p:spTree>
    <p:extLst>
      <p:ext uri="{BB962C8B-B14F-4D97-AF65-F5344CB8AC3E}">
        <p14:creationId xmlns:p14="http://schemas.microsoft.com/office/powerpoint/2010/main" val="143767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Enjeu:est</a:t>
            </a:r>
            <a:r>
              <a:rPr lang="fr-CA" dirty="0"/>
              <a:t> que la présentation de </a:t>
            </a:r>
            <a:r>
              <a:rPr lang="fr-CA" dirty="0" err="1"/>
              <a:t>ABéC</a:t>
            </a:r>
            <a:r>
              <a:rPr lang="fr-CA" dirty="0"/>
              <a:t> pour l’équipement est adéquate veut dire est que l’équipement doit être présenter dans un actif courant ou non courant</a:t>
            </a:r>
          </a:p>
          <a:p>
            <a:r>
              <a:rPr lang="fr-CA" dirty="0"/>
              <a:t>Identification de la norme et </a:t>
            </a:r>
            <a:r>
              <a:rPr lang="fr-CA" dirty="0" err="1"/>
              <a:t>analyse:Selon</a:t>
            </a:r>
            <a:r>
              <a:rPr lang="fr-CA" dirty="0"/>
              <a:t> l’IFRS 5 le paragraphe 6 </a:t>
            </a:r>
            <a:r>
              <a:rPr lang="fr-FR" dirty="0"/>
              <a:t>Une entité doit classer un actif non courant (ou un groupe destiné à être cédé) comme détenu en vue de la vente si sa valeur comptable est recouvrée principalement par le biais d'une transaction de vente plutôt que par l'utilisation continue.</a:t>
            </a:r>
          </a:p>
          <a:p>
            <a:endParaRPr lang="fr-FR" dirty="0"/>
          </a:p>
          <a:p>
            <a:r>
              <a:rPr lang="fr-FR" dirty="0"/>
              <a:t>7       Pour que tel soit le cas, l'actif (ou le groupe destiné à être cédé) doit être disponible en vue de la vente immédiate dans son état actuel sous réserve uniquement des conditions qui sont habituelles et coutumières pour la vente de tels actifs (ou groupes destinés à être cédés) et sa vente doit être hautement probable.</a:t>
            </a:r>
          </a:p>
          <a:p>
            <a:endParaRPr lang="fr-FR" dirty="0"/>
          </a:p>
          <a:p>
            <a:r>
              <a:rPr lang="fr-FR" dirty="0"/>
              <a:t>8       Pour que la vente soit hautement probable, la direction, au niveau approprié, doit s'être engagée à l'égard d'un plan de vente de l'actif (ou du groupe destiné à être cédé), et un programme actif pour trouver un acheteur et mener à bien le plan doit avoir été entrepris. De plus, l'actif (ou le groupe destiné à être cédé) doit être activement commercialisé en vue de la vente à un prix qui est raisonnable par rapport à sa juste valeur actuelle. Par ailleurs, la vente devrait normalement répondre, dans l'année suivant son classement, aux critères de comptabilisation à titre de vente réalisée, à l'exception de ce qui est permis par le paragraphe 9, et les mesures requises pour mener le plan à bien doivent indiquer qu'il est improbable que des changements importants soient apportés au plan ou que celui-ci soit retiré. La probabilité de l'obtention de l'approbation des actionnaires (si celle-ci est requise par la législation locale) doit être prise en compte pour évaluer si la vente est hautement probable.</a:t>
            </a:r>
          </a:p>
          <a:p>
            <a:endParaRPr lang="fr-FR" dirty="0"/>
          </a:p>
          <a:p>
            <a:r>
              <a:rPr lang="fr-FR" dirty="0"/>
              <a:t>8A      Une entité engagée à l'égard d'un plan de vente impliquant la perte de contrôle d'une filiale doit classer tous les actifs et passifs de cette filiale comme détenus en vue de la vente lorsque les critères établis aux paragraphes 6 à 8 sont remplis, que l'entité conserve ou non une participation ne donnant pas le contrôle dans son ancienne filiale après la vente. Cette condition s’</a:t>
            </a:r>
            <a:r>
              <a:rPr lang="fr-FR" dirty="0" err="1"/>
              <a:t>appliqeu</a:t>
            </a:r>
            <a:r>
              <a:rPr lang="fr-FR" dirty="0"/>
              <a:t> car ABC a déjà remplacer l’Actif par un </a:t>
            </a:r>
            <a:r>
              <a:rPr lang="fr-FR" dirty="0" err="1"/>
              <a:t>nouveu</a:t>
            </a:r>
            <a:r>
              <a:rPr lang="fr-FR" dirty="0"/>
              <a:t> actif et l’a annoncé dans un site </a:t>
            </a:r>
            <a:r>
              <a:rPr lang="fr-FR" dirty="0" err="1"/>
              <a:t>industrille</a:t>
            </a:r>
            <a:r>
              <a:rPr lang="fr-FR" dirty="0"/>
              <a:t> pour la vente </a:t>
            </a:r>
          </a:p>
          <a:p>
            <a:r>
              <a:rPr lang="fr-FR" dirty="0"/>
              <a:t>Recommandation :ABC doit </a:t>
            </a:r>
            <a:r>
              <a:rPr lang="fr-FR" dirty="0" err="1"/>
              <a:t>presernter</a:t>
            </a:r>
            <a:r>
              <a:rPr lang="fr-FR" dirty="0"/>
              <a:t> l’équipement dans un actif courant </a:t>
            </a:r>
            <a:r>
              <a:rPr lang="fr-FR" dirty="0" err="1"/>
              <a:t>detenan</a:t>
            </a:r>
            <a:r>
              <a:rPr lang="fr-FR" dirty="0"/>
              <a:t> en vue de la vente </a:t>
            </a:r>
          </a:p>
          <a:p>
            <a:r>
              <a:rPr lang="fr-FR" dirty="0"/>
              <a:t>Et selon l’IFRS 5 Évaluation d'un actif non courant (ou d'un groupe destiné à être cédé)</a:t>
            </a:r>
          </a:p>
          <a:p>
            <a:endParaRPr lang="fr-FR" dirty="0"/>
          </a:p>
          <a:p>
            <a:r>
              <a:rPr lang="fr-FR" dirty="0"/>
              <a:t>15     Une entité doit évaluer un actif non courant (ou un groupe destiné à être cédé) classé comme détenu en vue de la vente au plus faible de sa valeur comptable et de sa juste valeur diminuée des coûts de la vente. Dans notre cas l’équipement</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21</a:t>
            </a:fld>
            <a:endParaRPr lang="fr-CA"/>
          </a:p>
        </p:txBody>
      </p:sp>
    </p:spTree>
    <p:extLst>
      <p:ext uri="{BB962C8B-B14F-4D97-AF65-F5344CB8AC3E}">
        <p14:creationId xmlns:p14="http://schemas.microsoft.com/office/powerpoint/2010/main" val="2143566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JV et JV-cout des ventes n’est pas les mêmes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22</a:t>
            </a:fld>
            <a:endParaRPr lang="fr-CA"/>
          </a:p>
        </p:txBody>
      </p:sp>
    </p:spTree>
    <p:extLst>
      <p:ext uri="{BB962C8B-B14F-4D97-AF65-F5344CB8AC3E}">
        <p14:creationId xmlns:p14="http://schemas.microsoft.com/office/powerpoint/2010/main" val="3910928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Attention pour les critères de l’actif détenu en vue de la vente sont mélangé on doit les analyser un par un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23</a:t>
            </a:fld>
            <a:endParaRPr lang="fr-CA"/>
          </a:p>
        </p:txBody>
      </p:sp>
    </p:spTree>
    <p:extLst>
      <p:ext uri="{BB962C8B-B14F-4D97-AF65-F5344CB8AC3E}">
        <p14:creationId xmlns:p14="http://schemas.microsoft.com/office/powerpoint/2010/main" val="2181281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Réévaluation: pour les immobilisation corporelle et incorporelle si ils prennent de valeur comme les terrains et les bâtiments donc est une méthode comptable qui n’a pas appliqué par toutes les entreprises </a:t>
            </a:r>
          </a:p>
          <a:p>
            <a:r>
              <a:rPr lang="fr-CA" dirty="0"/>
              <a:t>Les écart sur les JV va partir au AÉRG  (positif) et si négatif on touche AÉRG </a:t>
            </a:r>
          </a:p>
          <a:p>
            <a:r>
              <a:rPr lang="fr-CA" dirty="0"/>
              <a:t>On le droit de renverser l’</a:t>
            </a:r>
            <a:r>
              <a:rPr lang="fr-CA" dirty="0" err="1"/>
              <a:t>amortissment</a:t>
            </a:r>
            <a:r>
              <a:rPr lang="fr-CA" dirty="0"/>
              <a:t> donc on peut jouer sur les </a:t>
            </a:r>
            <a:r>
              <a:rPr lang="fr-CA" dirty="0" err="1"/>
              <a:t>amortissemnts</a:t>
            </a:r>
            <a:r>
              <a:rPr lang="fr-CA" dirty="0"/>
              <a:t> </a:t>
            </a:r>
            <a:r>
              <a:rPr lang="fr-CA" dirty="0" err="1"/>
              <a:t>commulés</a:t>
            </a:r>
            <a:r>
              <a:rPr lang="fr-CA" dirty="0"/>
              <a:t>  on joue sur ce compte dans le cas de perte ou de gain utilise le compte T (IAS 16)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24</a:t>
            </a:fld>
            <a:endParaRPr lang="fr-CA"/>
          </a:p>
        </p:txBody>
      </p:sp>
    </p:spTree>
    <p:extLst>
      <p:ext uri="{BB962C8B-B14F-4D97-AF65-F5344CB8AC3E}">
        <p14:creationId xmlns:p14="http://schemas.microsoft.com/office/powerpoint/2010/main" val="4193644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 faire a </a:t>
            </a:r>
            <a:r>
              <a:rPr lang="fr-CA"/>
              <a:t>la maison </a:t>
            </a:r>
          </a:p>
        </p:txBody>
      </p:sp>
      <p:sp>
        <p:nvSpPr>
          <p:cNvPr id="4" name="Espace réservé du numéro de diapositive 3"/>
          <p:cNvSpPr>
            <a:spLocks noGrp="1"/>
          </p:cNvSpPr>
          <p:nvPr>
            <p:ph type="sldNum" sz="quarter" idx="5"/>
          </p:nvPr>
        </p:nvSpPr>
        <p:spPr/>
        <p:txBody>
          <a:bodyPr/>
          <a:lstStyle/>
          <a:p>
            <a:fld id="{D71D9541-7AB3-4BBB-A40F-B2FDE11458C6}" type="slidenum">
              <a:rPr lang="fr-CA" smtClean="0"/>
              <a:t>25</a:t>
            </a:fld>
            <a:endParaRPr lang="fr-CA"/>
          </a:p>
        </p:txBody>
      </p:sp>
    </p:spTree>
    <p:extLst>
      <p:ext uri="{BB962C8B-B14F-4D97-AF65-F5344CB8AC3E}">
        <p14:creationId xmlns:p14="http://schemas.microsoft.com/office/powerpoint/2010/main" val="3698368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2105029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195467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2736983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F5EF5F99-33B0-4769-A524-6EC1DC58A492}" type="datetimeFigureOut">
              <a:rPr lang="fr-CA" smtClean="0"/>
              <a:t>2025-01-14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1972076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F5EF5F99-33B0-4769-A524-6EC1DC58A492}" type="datetimeFigureOut">
              <a:rPr lang="fr-CA" smtClean="0"/>
              <a:t>2025-01-14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2737775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F5EF5F99-33B0-4769-A524-6EC1DC58A492}" type="datetimeFigureOut">
              <a:rPr lang="fr-CA" smtClean="0"/>
              <a:t>2025-01-14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1387284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5EF5F99-33B0-4769-A524-6EC1DC58A492}" type="datetimeFigureOut">
              <a:rPr lang="fr-CA" smtClean="0"/>
              <a:t>2025-01-14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722562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F5EF5F99-33B0-4769-A524-6EC1DC58A492}" type="datetimeFigureOut">
              <a:rPr lang="fr-CA" smtClean="0"/>
              <a:t>2025-01-14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411631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F5EF5F99-33B0-4769-A524-6EC1DC58A492}" type="datetimeFigureOut">
              <a:rPr lang="fr-CA" smtClean="0"/>
              <a:t>2025-01-14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3098832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2922298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CCFA4E24-1A9F-42BC-B378-A208B39ADA23}" type="slidenum">
              <a:rPr lang="fr-CA" smtClean="0"/>
              <a:t>‹N°›</a:t>
            </a:fld>
            <a:endParaRPr lang="fr-CA"/>
          </a:p>
        </p:txBody>
      </p:sp>
    </p:spTree>
    <p:extLst>
      <p:ext uri="{BB962C8B-B14F-4D97-AF65-F5344CB8AC3E}">
        <p14:creationId xmlns:p14="http://schemas.microsoft.com/office/powerpoint/2010/main" val="2446057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EF5F99-33B0-4769-A524-6EC1DC58A492}" type="datetimeFigureOut">
              <a:rPr lang="fr-CA" smtClean="0"/>
              <a:t>2025-01-14</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FA4E24-1A9F-42BC-B378-A208B39ADA23}" type="slidenum">
              <a:rPr lang="fr-CA" smtClean="0"/>
              <a:t>‹N°›</a:t>
            </a:fld>
            <a:endParaRPr lang="fr-CA"/>
          </a:p>
        </p:txBody>
      </p:sp>
    </p:spTree>
    <p:extLst>
      <p:ext uri="{BB962C8B-B14F-4D97-AF65-F5344CB8AC3E}">
        <p14:creationId xmlns:p14="http://schemas.microsoft.com/office/powerpoint/2010/main" val="2875867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knotia.ca/knowledge/home.aspx?productid=8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du-knotia-ca.proxy.bibliotheques.uqam.ca/Knowledge/Home.aspx?productID=114"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FR" sz="3600" b="1" dirty="0"/>
              <a:t>40938</a:t>
            </a:r>
            <a:br>
              <a:rPr lang="fr-FR" b="1" dirty="0"/>
            </a:br>
            <a:r>
              <a:rPr lang="fr-FR" sz="3600" b="1" dirty="0"/>
              <a:t>Séance 2</a:t>
            </a:r>
            <a:br>
              <a:rPr lang="fr-FR" b="1" dirty="0"/>
            </a:br>
            <a:r>
              <a:rPr lang="fr-FR" b="1" dirty="0"/>
              <a:t>Analyse de cas</a:t>
            </a:r>
            <a:br>
              <a:rPr lang="fr-FR" b="1" dirty="0"/>
            </a:br>
            <a:r>
              <a:rPr lang="fr-FR" b="1" dirty="0"/>
              <a:t>démarche</a:t>
            </a:r>
            <a:endParaRPr lang="fr-FR" sz="3600" b="1" dirty="0"/>
          </a:p>
        </p:txBody>
      </p:sp>
      <p:sp>
        <p:nvSpPr>
          <p:cNvPr id="3" name="Sous-titre 2"/>
          <p:cNvSpPr>
            <a:spLocks noGrp="1"/>
          </p:cNvSpPr>
          <p:nvPr>
            <p:ph type="subTitle" idx="1"/>
          </p:nvPr>
        </p:nvSpPr>
        <p:spPr>
          <a:xfrm>
            <a:off x="2895600" y="5266481"/>
            <a:ext cx="6400800" cy="775504"/>
          </a:xfrm>
        </p:spPr>
        <p:txBody>
          <a:bodyPr>
            <a:normAutofit fontScale="92500" lnSpcReduction="10000"/>
          </a:bodyPr>
          <a:lstStyle/>
          <a:p>
            <a:r>
              <a:rPr lang="fr-FR" dirty="0">
                <a:solidFill>
                  <a:schemeClr val="tx1"/>
                </a:solidFill>
              </a:rPr>
              <a:t>Louise Overbeek</a:t>
            </a:r>
          </a:p>
          <a:p>
            <a:r>
              <a:rPr lang="fr-FR" sz="2000" dirty="0"/>
              <a:t>Janvier 2025</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a:t>
            </a:fld>
            <a:endParaRPr lang="fr-FR"/>
          </a:p>
        </p:txBody>
      </p:sp>
    </p:spTree>
    <p:extLst>
      <p:ext uri="{BB962C8B-B14F-4D97-AF65-F5344CB8AC3E}">
        <p14:creationId xmlns:p14="http://schemas.microsoft.com/office/powerpoint/2010/main" val="1505436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solidFill>
                  <a:srgbClr val="FF0000"/>
                </a:solidFill>
              </a:rPr>
              <a:t>Analyse de cas - EFC</a:t>
            </a:r>
          </a:p>
        </p:txBody>
      </p:sp>
      <p:sp>
        <p:nvSpPr>
          <p:cNvPr id="3" name="Espace réservé du contenu 2"/>
          <p:cNvSpPr>
            <a:spLocks noGrp="1"/>
          </p:cNvSpPr>
          <p:nvPr>
            <p:ph idx="1"/>
          </p:nvPr>
        </p:nvSpPr>
        <p:spPr/>
        <p:txBody>
          <a:bodyPr/>
          <a:lstStyle/>
          <a:p>
            <a:r>
              <a:rPr lang="fr-CA" dirty="0"/>
              <a:t>Méthode d’analyse de cas – information financière</a:t>
            </a:r>
          </a:p>
          <a:p>
            <a:r>
              <a:rPr lang="fr-CA" dirty="0"/>
              <a:t>Correction par compétence</a:t>
            </a:r>
          </a:p>
          <a:p>
            <a:pPr lvl="1"/>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a:t>
            </a:fld>
            <a:endParaRPr lang="fr-FR"/>
          </a:p>
        </p:txBody>
      </p:sp>
    </p:spTree>
    <p:extLst>
      <p:ext uri="{BB962C8B-B14F-4D97-AF65-F5344CB8AC3E}">
        <p14:creationId xmlns:p14="http://schemas.microsoft.com/office/powerpoint/2010/main" val="2315989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solidFill>
                  <a:srgbClr val="FF0000"/>
                </a:solidFill>
              </a:rPr>
              <a:t>Démarche analyse de cas</a:t>
            </a:r>
          </a:p>
        </p:txBody>
      </p:sp>
      <p:sp>
        <p:nvSpPr>
          <p:cNvPr id="3" name="Espace réservé du contenu 2"/>
          <p:cNvSpPr>
            <a:spLocks noGrp="1"/>
          </p:cNvSpPr>
          <p:nvPr>
            <p:ph idx="1"/>
          </p:nvPr>
        </p:nvSpPr>
        <p:spPr/>
        <p:txBody>
          <a:bodyPr>
            <a:normAutofit/>
          </a:bodyPr>
          <a:lstStyle/>
          <a:p>
            <a:r>
              <a:rPr lang="fr-CA" dirty="0"/>
              <a:t>Adaptée pour des cas </a:t>
            </a:r>
            <a:r>
              <a:rPr lang="fr-CA" dirty="0" err="1"/>
              <a:t>unidisciplinaire</a:t>
            </a:r>
            <a:r>
              <a:rPr lang="fr-CA" dirty="0"/>
              <a:t> en information financière</a:t>
            </a:r>
          </a:p>
          <a:p>
            <a:pPr lvl="1"/>
            <a:r>
              <a:rPr lang="fr-CA" dirty="0"/>
              <a:t>En 40938, nous limitons généralement les cas à des enjeux en information financière</a:t>
            </a:r>
          </a:p>
          <a:p>
            <a:pPr lvl="2">
              <a:buFont typeface="Wingdings" panose="05000000000000000000" pitchFamily="2" charset="2"/>
              <a:buChar char="Ø"/>
            </a:pPr>
            <a:r>
              <a:rPr lang="fr-CA" sz="2400" dirty="0">
                <a:solidFill>
                  <a:srgbClr val="0070C0"/>
                </a:solidFill>
              </a:rPr>
              <a:t>Aux examens, il n’y aura que des indicateurs en information financière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a:t>
            </a:fld>
            <a:endParaRPr lang="fr-FR"/>
          </a:p>
        </p:txBody>
      </p:sp>
    </p:spTree>
    <p:extLst>
      <p:ext uri="{BB962C8B-B14F-4D97-AF65-F5344CB8AC3E}">
        <p14:creationId xmlns:p14="http://schemas.microsoft.com/office/powerpoint/2010/main" val="3454982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1- Comprendre le contexte</a:t>
            </a:r>
          </a:p>
        </p:txBody>
      </p:sp>
      <p:sp>
        <p:nvSpPr>
          <p:cNvPr id="3" name="Espace réservé du contenu 2"/>
          <p:cNvSpPr>
            <a:spLocks noGrp="1"/>
          </p:cNvSpPr>
          <p:nvPr>
            <p:ph idx="1"/>
          </p:nvPr>
        </p:nvSpPr>
        <p:spPr/>
        <p:txBody>
          <a:bodyPr>
            <a:normAutofit/>
          </a:bodyPr>
          <a:lstStyle/>
          <a:p>
            <a:r>
              <a:rPr lang="fr-CA" dirty="0"/>
              <a:t>Comprendre le contexte du cas</a:t>
            </a:r>
          </a:p>
          <a:p>
            <a:pPr lvl="1"/>
            <a:r>
              <a:rPr lang="fr-CA" dirty="0"/>
              <a:t>Identifier rôle (auditeur, comptable à l’interne, consultant externe, …)</a:t>
            </a:r>
          </a:p>
          <a:p>
            <a:pPr lvl="1"/>
            <a:r>
              <a:rPr lang="fr-CA" dirty="0"/>
              <a:t>Identifier mandats </a:t>
            </a:r>
          </a:p>
          <a:p>
            <a:pPr lvl="1"/>
            <a:endParaRPr lang="fr-CA" dirty="0"/>
          </a:p>
          <a:p>
            <a:pPr lvl="1"/>
            <a:r>
              <a:rPr lang="fr-CA" dirty="0"/>
              <a:t>Contexte peut avoir un impact sur les recommandations quant aux traitements/méthodes comptables</a:t>
            </a:r>
          </a:p>
          <a:p>
            <a:pPr lvl="2"/>
            <a:r>
              <a:rPr lang="fr-CA" dirty="0"/>
              <a:t>Vente d’entreprise, recherche de financement, nouvelles transactions importantes…</a:t>
            </a:r>
          </a:p>
          <a:p>
            <a:pPr lvl="1"/>
            <a:endParaRPr lang="fr-CA" dirty="0"/>
          </a:p>
          <a:p>
            <a:pPr lvl="1"/>
            <a:r>
              <a:rPr lang="fr-CA" i="1" dirty="0"/>
              <a:t>Survol de l’énoncé avant d’aborder la lecture détaillée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a:t>
            </a:fld>
            <a:endParaRPr lang="fr-FR"/>
          </a:p>
        </p:txBody>
      </p:sp>
    </p:spTree>
    <p:extLst>
      <p:ext uri="{BB962C8B-B14F-4D97-AF65-F5344CB8AC3E}">
        <p14:creationId xmlns:p14="http://schemas.microsoft.com/office/powerpoint/2010/main" val="103210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2- Identifier les parties prenantes</a:t>
            </a:r>
          </a:p>
        </p:txBody>
      </p:sp>
      <p:sp>
        <p:nvSpPr>
          <p:cNvPr id="3" name="Espace réservé du contenu 2"/>
          <p:cNvSpPr>
            <a:spLocks noGrp="1"/>
          </p:cNvSpPr>
          <p:nvPr>
            <p:ph idx="1"/>
          </p:nvPr>
        </p:nvSpPr>
        <p:spPr/>
        <p:txBody>
          <a:bodyPr>
            <a:normAutofit/>
          </a:bodyPr>
          <a:lstStyle/>
          <a:p>
            <a:r>
              <a:rPr lang="fr-CA" dirty="0"/>
              <a:t>Identifier les parties prenantes concernées</a:t>
            </a:r>
          </a:p>
          <a:p>
            <a:pPr lvl="1"/>
            <a:r>
              <a:rPr lang="fr-CA" dirty="0"/>
              <a:t>Et leurs attentes/motivations/besoins</a:t>
            </a:r>
          </a:p>
          <a:p>
            <a:pPr lvl="2"/>
            <a:r>
              <a:rPr lang="fr-CA" sz="2200" dirty="0"/>
              <a:t>Boni en fonction du résultat net, ratios bancaires à respecter, prix de vente de la société fonction du BAIIA…</a:t>
            </a:r>
          </a:p>
          <a:p>
            <a:pPr marL="914400" lvl="2" indent="0">
              <a:buNone/>
            </a:pPr>
            <a:endParaRPr lang="fr-CA" dirty="0"/>
          </a:p>
          <a:p>
            <a:pPr lvl="2"/>
            <a:r>
              <a:rPr lang="fr-CA" dirty="0"/>
              <a:t>À intégrer dans les analyses – biais</a:t>
            </a:r>
          </a:p>
          <a:p>
            <a:pPr lvl="2"/>
            <a:r>
              <a:rPr lang="fr-CA" dirty="0"/>
              <a:t>À intégrer dans les recommandations quant à un choix de méthode comptable</a:t>
            </a:r>
          </a:p>
          <a:p>
            <a:pPr marL="457200" lvl="1" indent="0">
              <a:buNone/>
            </a:pPr>
            <a:endParaRPr lang="fr-CA" dirty="0"/>
          </a:p>
          <a:p>
            <a:pPr lvl="1"/>
            <a:r>
              <a:rPr lang="fr-CA" dirty="0"/>
              <a:t>Actionnaires, prêteurs…</a:t>
            </a:r>
          </a:p>
          <a:p>
            <a:pPr marL="457200" lvl="1"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a:t>
            </a:fld>
            <a:endParaRPr lang="fr-FR"/>
          </a:p>
        </p:txBody>
      </p:sp>
    </p:spTree>
    <p:extLst>
      <p:ext uri="{BB962C8B-B14F-4D97-AF65-F5344CB8AC3E}">
        <p14:creationId xmlns:p14="http://schemas.microsoft.com/office/powerpoint/2010/main" val="4256788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3- Identifier les enjeux comptables</a:t>
            </a:r>
          </a:p>
        </p:txBody>
      </p:sp>
      <p:sp>
        <p:nvSpPr>
          <p:cNvPr id="3" name="Espace réservé du contenu 2"/>
          <p:cNvSpPr>
            <a:spLocks noGrp="1"/>
          </p:cNvSpPr>
          <p:nvPr>
            <p:ph idx="1"/>
          </p:nvPr>
        </p:nvSpPr>
        <p:spPr/>
        <p:txBody>
          <a:bodyPr/>
          <a:lstStyle/>
          <a:p>
            <a:r>
              <a:rPr lang="fr-CA" dirty="0"/>
              <a:t>Identifier les enjeux comptables : </a:t>
            </a:r>
          </a:p>
          <a:p>
            <a:endParaRPr lang="fr-CA" dirty="0"/>
          </a:p>
          <a:p>
            <a:pPr lvl="1"/>
            <a:r>
              <a:rPr lang="fr-CA" dirty="0">
                <a:solidFill>
                  <a:srgbClr val="0070C0"/>
                </a:solidFill>
              </a:rPr>
              <a:t>Nature </a:t>
            </a:r>
            <a:r>
              <a:rPr lang="fr-CA" dirty="0"/>
              <a:t>/ substance de la transaction  </a:t>
            </a:r>
            <a:r>
              <a:rPr lang="fr-CA" i="1" dirty="0"/>
              <a:t>(poste EF, norme(s) applicable(s))</a:t>
            </a:r>
          </a:p>
          <a:p>
            <a:pPr lvl="1"/>
            <a:endParaRPr lang="fr-CA" i="1" dirty="0"/>
          </a:p>
          <a:p>
            <a:pPr lvl="1"/>
            <a:r>
              <a:rPr lang="fr-CA" dirty="0">
                <a:solidFill>
                  <a:srgbClr val="0070C0"/>
                </a:solidFill>
              </a:rPr>
              <a:t>Mesure </a:t>
            </a:r>
            <a:r>
              <a:rPr lang="fr-CA" dirty="0"/>
              <a:t>– initiale et subséquente  </a:t>
            </a:r>
            <a:r>
              <a:rPr lang="fr-CA" i="1" dirty="0"/>
              <a:t>(ex. : choix modèle de mesure)</a:t>
            </a:r>
          </a:p>
          <a:p>
            <a:pPr lvl="1"/>
            <a:endParaRPr lang="fr-CA" dirty="0"/>
          </a:p>
          <a:p>
            <a:pPr lvl="1"/>
            <a:r>
              <a:rPr lang="fr-CA" dirty="0">
                <a:solidFill>
                  <a:srgbClr val="0070C0"/>
                </a:solidFill>
              </a:rPr>
              <a:t>Moment </a:t>
            </a:r>
            <a:r>
              <a:rPr lang="fr-CA" dirty="0"/>
              <a:t>de comptabilisation/constatation</a:t>
            </a:r>
          </a:p>
          <a:p>
            <a:pPr marL="457200" lvl="1" indent="0">
              <a:buNone/>
            </a:pPr>
            <a:endParaRPr lang="fr-CA" dirty="0"/>
          </a:p>
          <a:p>
            <a:pPr lvl="1"/>
            <a:r>
              <a:rPr lang="fr-CA" dirty="0">
                <a:solidFill>
                  <a:srgbClr val="0070C0"/>
                </a:solidFill>
              </a:rPr>
              <a:t>Présentation</a:t>
            </a:r>
            <a:r>
              <a:rPr lang="fr-CA" dirty="0"/>
              <a:t>, incluant notes importantes</a:t>
            </a:r>
            <a:endParaRPr lang="fr-CA" dirty="0">
              <a:solidFill>
                <a:srgbClr val="0070C0"/>
              </a:solidFill>
            </a:endParaRPr>
          </a:p>
          <a:p>
            <a:pPr lvl="1"/>
            <a:endParaRPr lang="fr-CA" dirty="0"/>
          </a:p>
          <a:p>
            <a:pPr lvl="1"/>
            <a:endParaRPr lang="fr-CA" dirty="0"/>
          </a:p>
          <a:p>
            <a:pPr marL="457200" lvl="1"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6</a:t>
            </a:fld>
            <a:endParaRPr lang="fr-FR"/>
          </a:p>
        </p:txBody>
      </p:sp>
    </p:spTree>
    <p:extLst>
      <p:ext uri="{BB962C8B-B14F-4D97-AF65-F5344CB8AC3E}">
        <p14:creationId xmlns:p14="http://schemas.microsoft.com/office/powerpoint/2010/main" val="3338429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4- Classer les enjeux</a:t>
            </a:r>
          </a:p>
        </p:txBody>
      </p:sp>
      <p:sp>
        <p:nvSpPr>
          <p:cNvPr id="3" name="Espace réservé du contenu 2"/>
          <p:cNvSpPr>
            <a:spLocks noGrp="1"/>
          </p:cNvSpPr>
          <p:nvPr>
            <p:ph idx="1"/>
          </p:nvPr>
        </p:nvSpPr>
        <p:spPr/>
        <p:txBody>
          <a:bodyPr/>
          <a:lstStyle/>
          <a:p>
            <a:r>
              <a:rPr lang="fr-CA" dirty="0"/>
              <a:t>Classer les enjeux</a:t>
            </a:r>
          </a:p>
          <a:p>
            <a:pPr lvl="1"/>
            <a:r>
              <a:rPr lang="fr-CA" dirty="0"/>
              <a:t>Par ordre d’importance, par ordre logique</a:t>
            </a:r>
          </a:p>
          <a:p>
            <a:pPr lvl="1"/>
            <a:endParaRPr lang="fr-CA" dirty="0"/>
          </a:p>
          <a:p>
            <a:pPr lvl="1">
              <a:buFont typeface="Wingdings" panose="05000000000000000000" pitchFamily="2" charset="2"/>
              <a:buChar char="Ø"/>
            </a:pPr>
            <a:r>
              <a:rPr lang="fr-CA" i="1" dirty="0"/>
              <a:t>Ou répartir le temps de rédaction selon l’importance relative des problématiques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7</a:t>
            </a:fld>
            <a:endParaRPr lang="fr-FR"/>
          </a:p>
        </p:txBody>
      </p:sp>
    </p:spTree>
    <p:extLst>
      <p:ext uri="{BB962C8B-B14F-4D97-AF65-F5344CB8AC3E}">
        <p14:creationId xmlns:p14="http://schemas.microsoft.com/office/powerpoint/2010/main" val="882549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5- Rédiger le rapport</a:t>
            </a:r>
          </a:p>
        </p:txBody>
      </p:sp>
      <p:sp>
        <p:nvSpPr>
          <p:cNvPr id="3" name="Espace réservé du contenu 2"/>
          <p:cNvSpPr>
            <a:spLocks noGrp="1"/>
          </p:cNvSpPr>
          <p:nvPr>
            <p:ph idx="1"/>
          </p:nvPr>
        </p:nvSpPr>
        <p:spPr>
          <a:xfrm>
            <a:off x="838200" y="1825624"/>
            <a:ext cx="10515600" cy="4530725"/>
          </a:xfrm>
        </p:spPr>
        <p:txBody>
          <a:bodyPr>
            <a:normAutofit fontScale="92500" lnSpcReduction="20000"/>
          </a:bodyPr>
          <a:lstStyle/>
          <a:p>
            <a:r>
              <a:rPr lang="fr-CA" dirty="0"/>
              <a:t>Rédiger le rapport</a:t>
            </a:r>
          </a:p>
          <a:p>
            <a:pPr lvl="1"/>
            <a:r>
              <a:rPr lang="fr-CA" dirty="0"/>
              <a:t>Structure claire</a:t>
            </a:r>
          </a:p>
          <a:p>
            <a:pPr lvl="1"/>
            <a:r>
              <a:rPr lang="fr-CA" dirty="0"/>
              <a:t>Communication efficace</a:t>
            </a:r>
          </a:p>
          <a:p>
            <a:pPr lvl="2"/>
            <a:r>
              <a:rPr lang="fr-CA" sz="1900" dirty="0"/>
              <a:t>Idées claires et complètes</a:t>
            </a:r>
            <a:endParaRPr lang="fr-CA" dirty="0"/>
          </a:p>
          <a:p>
            <a:pPr lvl="1">
              <a:buFont typeface="Wingdings" panose="05000000000000000000" pitchFamily="2" charset="2"/>
              <a:buChar char="Ø"/>
            </a:pPr>
            <a:r>
              <a:rPr lang="fr-CA" dirty="0"/>
              <a:t>« coller » aux demandes</a:t>
            </a:r>
          </a:p>
          <a:p>
            <a:pPr lvl="1"/>
            <a:endParaRPr lang="fr-CA" dirty="0"/>
          </a:p>
          <a:p>
            <a:pPr lvl="1"/>
            <a:r>
              <a:rPr lang="fr-CA" dirty="0"/>
              <a:t>S’assurer de couvrir l’ensemble des enjeux identifiés - étendue</a:t>
            </a:r>
          </a:p>
          <a:p>
            <a:pPr lvl="1"/>
            <a:r>
              <a:rPr lang="fr-CA" dirty="0">
                <a:solidFill>
                  <a:srgbClr val="0070C0"/>
                </a:solidFill>
              </a:rPr>
              <a:t>Analyse intégrant les normes et les éléments du cas </a:t>
            </a:r>
            <a:r>
              <a:rPr lang="fr-CA" dirty="0"/>
              <a:t>– étendue et profondeur</a:t>
            </a:r>
            <a:endParaRPr lang="fr-CA" dirty="0">
              <a:solidFill>
                <a:srgbClr val="0070C0"/>
              </a:solidFill>
            </a:endParaRPr>
          </a:p>
          <a:p>
            <a:pPr lvl="2"/>
            <a:r>
              <a:rPr lang="fr-CA" i="1" dirty="0"/>
              <a:t>Extraits </a:t>
            </a:r>
            <a:r>
              <a:rPr lang="fr-CA" i="1" u="sng" dirty="0"/>
              <a:t>pertinents</a:t>
            </a:r>
            <a:r>
              <a:rPr lang="fr-CA" i="1" dirty="0"/>
              <a:t> des normes – ou dans vos mots mais en précisant la norme</a:t>
            </a:r>
          </a:p>
          <a:p>
            <a:pPr lvl="2"/>
            <a:r>
              <a:rPr lang="fr-CA" i="1" dirty="0"/>
              <a:t>Difficulté : </a:t>
            </a:r>
            <a:r>
              <a:rPr lang="fr-CA" b="1" i="1" dirty="0">
                <a:highlight>
                  <a:srgbClr val="FFFF00"/>
                </a:highlight>
              </a:rPr>
              <a:t>profondeur de l’analyse</a:t>
            </a:r>
          </a:p>
          <a:p>
            <a:pPr lvl="2"/>
            <a:r>
              <a:rPr lang="fr-CA" i="1" dirty="0"/>
              <a:t>Analyse des options possibles (choix méthode comptable…)</a:t>
            </a:r>
          </a:p>
          <a:p>
            <a:pPr lvl="2"/>
            <a:r>
              <a:rPr lang="fr-CA" i="1" dirty="0"/>
              <a:t>Éviter le « dumping » et appliquer au cas, possibilité de devoir quantifier si les données sont disponibles</a:t>
            </a:r>
          </a:p>
          <a:p>
            <a:pPr lvl="1"/>
            <a:r>
              <a:rPr lang="fr-CA" dirty="0"/>
              <a:t>Conclure / recommander, en considérant les parties prenantes le cas échéant</a:t>
            </a:r>
          </a:p>
          <a:p>
            <a:pPr lvl="2"/>
            <a:r>
              <a:rPr lang="fr-CA" sz="2200" dirty="0"/>
              <a:t>Pourrait inclure écritures, correction des états financiers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8</a:t>
            </a:fld>
            <a:endParaRPr lang="fr-FR"/>
          </a:p>
        </p:txBody>
      </p:sp>
      <p:sp>
        <p:nvSpPr>
          <p:cNvPr id="5" name="ZoneTexte 4">
            <a:extLst>
              <a:ext uri="{FF2B5EF4-FFF2-40B4-BE49-F238E27FC236}">
                <a16:creationId xmlns:a16="http://schemas.microsoft.com/office/drawing/2014/main" id="{4D17FD5A-0400-4812-9428-8E111969E42C}"/>
              </a:ext>
            </a:extLst>
          </p:cNvPr>
          <p:cNvSpPr txBox="1"/>
          <p:nvPr/>
        </p:nvSpPr>
        <p:spPr>
          <a:xfrm>
            <a:off x="6553200" y="1188720"/>
            <a:ext cx="4074160" cy="1477328"/>
          </a:xfrm>
          <a:prstGeom prst="rect">
            <a:avLst/>
          </a:prstGeom>
          <a:noFill/>
        </p:spPr>
        <p:txBody>
          <a:bodyPr wrap="square" rtlCol="0">
            <a:spAutoFit/>
          </a:bodyPr>
          <a:lstStyle/>
          <a:p>
            <a:r>
              <a:rPr lang="fr-CA" i="1" u="sng" dirty="0">
                <a:highlight>
                  <a:srgbClr val="FFFF00"/>
                </a:highlight>
              </a:rPr>
              <a:t>Enjeu</a:t>
            </a:r>
          </a:p>
          <a:p>
            <a:r>
              <a:rPr lang="fr-CA" i="1" dirty="0">
                <a:highlight>
                  <a:srgbClr val="FFFF00"/>
                </a:highlight>
              </a:rPr>
              <a:t>Analyse</a:t>
            </a:r>
          </a:p>
          <a:p>
            <a:pPr marL="285750" indent="-285750">
              <a:buFontTx/>
              <a:buChar char="-"/>
            </a:pPr>
            <a:r>
              <a:rPr lang="fr-CA" i="1" dirty="0">
                <a:highlight>
                  <a:srgbClr val="FFFF00"/>
                </a:highlight>
              </a:rPr>
              <a:t>Norme</a:t>
            </a:r>
          </a:p>
          <a:p>
            <a:pPr marL="285750" indent="-285750">
              <a:buFontTx/>
              <a:buChar char="-"/>
            </a:pPr>
            <a:r>
              <a:rPr lang="fr-CA" i="1" dirty="0">
                <a:highlight>
                  <a:srgbClr val="FFFF00"/>
                </a:highlight>
              </a:rPr>
              <a:t>Application au cas</a:t>
            </a:r>
          </a:p>
          <a:p>
            <a:r>
              <a:rPr lang="fr-CA" i="1" dirty="0">
                <a:highlight>
                  <a:srgbClr val="FFFF00"/>
                </a:highlight>
              </a:rPr>
              <a:t>Conclusion / recommandation supportée</a:t>
            </a:r>
            <a:endParaRPr lang="fr-FR" i="1" dirty="0">
              <a:highlight>
                <a:srgbClr val="FFFF00"/>
              </a:highlight>
            </a:endParaRPr>
          </a:p>
        </p:txBody>
      </p:sp>
    </p:spTree>
    <p:extLst>
      <p:ext uri="{BB962C8B-B14F-4D97-AF65-F5344CB8AC3E}">
        <p14:creationId xmlns:p14="http://schemas.microsoft.com/office/powerpoint/2010/main" val="3480803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p:txBody>
          <a:bodyPr/>
          <a:lstStyle/>
          <a:p>
            <a:r>
              <a:rPr lang="fr-CA" dirty="0"/>
              <a:t>Exercice 1 : IFRS / NCECF</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p:txBody>
          <a:bodyPr/>
          <a:lstStyle/>
          <a:p>
            <a:pPr marL="0" indent="0">
              <a:buNone/>
            </a:pPr>
            <a:r>
              <a:rPr lang="fr-CA" dirty="0"/>
              <a:t>Stock acheté au coût de 60 $ par unité, prix de vente 100 $ par unité</a:t>
            </a:r>
          </a:p>
          <a:p>
            <a:pPr marL="0" indent="0">
              <a:buNone/>
            </a:pPr>
            <a:endParaRPr lang="fr-CA" dirty="0"/>
          </a:p>
          <a:p>
            <a:pPr marL="0" indent="0">
              <a:buNone/>
            </a:pPr>
            <a:r>
              <a:rPr lang="fr-CA" dirty="0"/>
              <a:t>Toutefois, nouvelle ligne de produits sortie par l’entreprise qui l’amène à réviser le prix des stocks existants à 45 $ par unité.</a:t>
            </a:r>
          </a:p>
          <a:p>
            <a:pPr marL="0" indent="0">
              <a:buNone/>
            </a:pPr>
            <a:r>
              <a:rPr lang="fr-CA" dirty="0"/>
              <a:t>Détient en fin de période 400 unités</a:t>
            </a:r>
            <a:endParaRPr lang="fr-FR" dirty="0"/>
          </a:p>
        </p:txBody>
      </p:sp>
    </p:spTree>
    <p:extLst>
      <p:ext uri="{BB962C8B-B14F-4D97-AF65-F5344CB8AC3E}">
        <p14:creationId xmlns:p14="http://schemas.microsoft.com/office/powerpoint/2010/main" val="2530980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p:txBody>
          <a:bodyPr/>
          <a:lstStyle/>
          <a:p>
            <a:r>
              <a:rPr lang="fr-CA" dirty="0"/>
              <a:t>Exercice 1</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a:xfrm>
            <a:off x="1460938" y="1825625"/>
            <a:ext cx="9892862" cy="4351338"/>
          </a:xfrm>
        </p:spPr>
        <p:txBody>
          <a:bodyPr>
            <a:normAutofit lnSpcReduction="10000"/>
          </a:bodyPr>
          <a:lstStyle/>
          <a:p>
            <a:pPr marL="0" indent="0">
              <a:buNone/>
            </a:pPr>
            <a:r>
              <a:rPr lang="fr-CA" b="1" u="sng" dirty="0"/>
              <a:t>Stocks - mesure</a:t>
            </a:r>
          </a:p>
          <a:p>
            <a:pPr marL="0" indent="0">
              <a:buNone/>
            </a:pPr>
            <a:r>
              <a:rPr lang="fr-CA" dirty="0"/>
              <a:t>Selon IAS 2, plus faible coût et VNR    </a:t>
            </a:r>
            <a:r>
              <a:rPr lang="fr-CA" i="1" dirty="0">
                <a:solidFill>
                  <a:srgbClr val="FF0000"/>
                </a:solidFill>
              </a:rPr>
              <a:t>PAS IAS 36</a:t>
            </a:r>
            <a:endParaRPr lang="fr-CA" dirty="0"/>
          </a:p>
          <a:p>
            <a:pPr marL="0" indent="0">
              <a:buNone/>
            </a:pPr>
            <a:r>
              <a:rPr lang="fr-CA" dirty="0"/>
              <a:t>Coût aux livres à 60 $ par unité et VNR à 45 $ par unité depuis la sortie de la nouvelle ligne de produits.</a:t>
            </a:r>
          </a:p>
          <a:p>
            <a:pPr marL="0" indent="0">
              <a:buNone/>
            </a:pPr>
            <a:endParaRPr lang="fr-CA" dirty="0"/>
          </a:p>
          <a:p>
            <a:pPr marL="0" indent="0">
              <a:buNone/>
            </a:pPr>
            <a:r>
              <a:rPr lang="fr-CA" dirty="0"/>
              <a:t>Il faut donc réduire le coût des stocks de 15 $ par unité</a:t>
            </a:r>
          </a:p>
          <a:p>
            <a:pPr marL="0" indent="0">
              <a:buNone/>
            </a:pPr>
            <a:r>
              <a:rPr lang="fr-CA" dirty="0"/>
              <a:t>Baisse valeur des stocks : 6 000 $   </a:t>
            </a:r>
            <a:r>
              <a:rPr lang="fr-CA" i="1" dirty="0"/>
              <a:t>(quantifier)</a:t>
            </a:r>
            <a:endParaRPr lang="fr-CA" dirty="0"/>
          </a:p>
          <a:p>
            <a:pPr marL="0" indent="0">
              <a:buNone/>
            </a:pPr>
            <a:endParaRPr lang="fr-CA" dirty="0"/>
          </a:p>
          <a:p>
            <a:pPr>
              <a:buFont typeface="Wingdings" panose="05000000000000000000" pitchFamily="2" charset="2"/>
              <a:buChar char="Ø"/>
            </a:pPr>
            <a:r>
              <a:rPr lang="fr-CA" dirty="0"/>
              <a:t>Idem IFRS et NCECF</a:t>
            </a:r>
          </a:p>
          <a:p>
            <a:pPr marL="0" indent="0">
              <a:buNone/>
            </a:pPr>
            <a:endParaRPr lang="fr-CA" dirty="0"/>
          </a:p>
          <a:p>
            <a:pPr marL="0" indent="0">
              <a:buNone/>
            </a:pPr>
            <a:endParaRPr lang="fr-CA" dirty="0"/>
          </a:p>
          <a:p>
            <a:pPr marL="0" indent="0">
              <a:buNone/>
            </a:pPr>
            <a:endParaRPr lang="fr-FR" dirty="0"/>
          </a:p>
        </p:txBody>
      </p:sp>
      <p:sp>
        <p:nvSpPr>
          <p:cNvPr id="4" name="ZoneTexte 3">
            <a:extLst>
              <a:ext uri="{FF2B5EF4-FFF2-40B4-BE49-F238E27FC236}">
                <a16:creationId xmlns:a16="http://schemas.microsoft.com/office/drawing/2014/main" id="{7C47A58D-275F-45C8-AAB0-AE4ADC034F83}"/>
              </a:ext>
            </a:extLst>
          </p:cNvPr>
          <p:cNvSpPr txBox="1"/>
          <p:nvPr/>
        </p:nvSpPr>
        <p:spPr>
          <a:xfrm>
            <a:off x="373116" y="1903107"/>
            <a:ext cx="1681656" cy="369332"/>
          </a:xfrm>
          <a:prstGeom prst="rect">
            <a:avLst/>
          </a:prstGeom>
          <a:noFill/>
        </p:spPr>
        <p:txBody>
          <a:bodyPr wrap="square" rtlCol="0">
            <a:spAutoFit/>
          </a:bodyPr>
          <a:lstStyle/>
          <a:p>
            <a:r>
              <a:rPr lang="fr-CA" dirty="0"/>
              <a:t>Enjeu</a:t>
            </a:r>
            <a:endParaRPr lang="fr-FR" dirty="0"/>
          </a:p>
        </p:txBody>
      </p:sp>
      <p:sp>
        <p:nvSpPr>
          <p:cNvPr id="5" name="ZoneTexte 4">
            <a:extLst>
              <a:ext uri="{FF2B5EF4-FFF2-40B4-BE49-F238E27FC236}">
                <a16:creationId xmlns:a16="http://schemas.microsoft.com/office/drawing/2014/main" id="{C0C8BF1A-8893-400B-8E46-D0387B154DA2}"/>
              </a:ext>
            </a:extLst>
          </p:cNvPr>
          <p:cNvSpPr txBox="1"/>
          <p:nvPr/>
        </p:nvSpPr>
        <p:spPr>
          <a:xfrm>
            <a:off x="383627" y="2349921"/>
            <a:ext cx="1681656" cy="369332"/>
          </a:xfrm>
          <a:prstGeom prst="rect">
            <a:avLst/>
          </a:prstGeom>
          <a:noFill/>
        </p:spPr>
        <p:txBody>
          <a:bodyPr wrap="square" rtlCol="0">
            <a:spAutoFit/>
          </a:bodyPr>
          <a:lstStyle/>
          <a:p>
            <a:r>
              <a:rPr lang="fr-CA" dirty="0"/>
              <a:t>Norme</a:t>
            </a:r>
            <a:endParaRPr lang="fr-FR" dirty="0"/>
          </a:p>
        </p:txBody>
      </p:sp>
      <p:sp>
        <p:nvSpPr>
          <p:cNvPr id="6" name="ZoneTexte 5">
            <a:extLst>
              <a:ext uri="{FF2B5EF4-FFF2-40B4-BE49-F238E27FC236}">
                <a16:creationId xmlns:a16="http://schemas.microsoft.com/office/drawing/2014/main" id="{1DED97A2-AFBC-466D-AD1B-F17016F10EFD}"/>
              </a:ext>
            </a:extLst>
          </p:cNvPr>
          <p:cNvSpPr txBox="1"/>
          <p:nvPr/>
        </p:nvSpPr>
        <p:spPr>
          <a:xfrm>
            <a:off x="233854" y="4263442"/>
            <a:ext cx="1681656" cy="369332"/>
          </a:xfrm>
          <a:prstGeom prst="rect">
            <a:avLst/>
          </a:prstGeom>
          <a:noFill/>
        </p:spPr>
        <p:txBody>
          <a:bodyPr wrap="square" rtlCol="0">
            <a:spAutoFit/>
          </a:bodyPr>
          <a:lstStyle/>
          <a:p>
            <a:r>
              <a:rPr lang="fr-CA" dirty="0"/>
              <a:t>Conclusion</a:t>
            </a:r>
          </a:p>
        </p:txBody>
      </p:sp>
      <p:sp>
        <p:nvSpPr>
          <p:cNvPr id="7" name="ZoneTexte 6">
            <a:extLst>
              <a:ext uri="{FF2B5EF4-FFF2-40B4-BE49-F238E27FC236}">
                <a16:creationId xmlns:a16="http://schemas.microsoft.com/office/drawing/2014/main" id="{927A843B-369E-49D8-94A6-ED66506CA1F6}"/>
              </a:ext>
            </a:extLst>
          </p:cNvPr>
          <p:cNvSpPr txBox="1"/>
          <p:nvPr/>
        </p:nvSpPr>
        <p:spPr>
          <a:xfrm>
            <a:off x="233854" y="2874217"/>
            <a:ext cx="1416269" cy="646330"/>
          </a:xfrm>
          <a:prstGeom prst="rect">
            <a:avLst/>
          </a:prstGeom>
          <a:noFill/>
        </p:spPr>
        <p:txBody>
          <a:bodyPr wrap="square" rtlCol="0">
            <a:spAutoFit/>
          </a:bodyPr>
          <a:lstStyle/>
          <a:p>
            <a:r>
              <a:rPr lang="fr-CA" dirty="0"/>
              <a:t>Application au cas</a:t>
            </a:r>
          </a:p>
        </p:txBody>
      </p:sp>
    </p:spTree>
    <p:extLst>
      <p:ext uri="{BB962C8B-B14F-4D97-AF65-F5344CB8AC3E}">
        <p14:creationId xmlns:p14="http://schemas.microsoft.com/office/powerpoint/2010/main" val="2893888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p:txBody>
          <a:bodyPr/>
          <a:lstStyle/>
          <a:p>
            <a:r>
              <a:rPr lang="fr-CA" dirty="0"/>
              <a:t>Exercice 2</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p:txBody>
          <a:bodyPr/>
          <a:lstStyle/>
          <a:p>
            <a:pPr marL="0" indent="0">
              <a:buNone/>
            </a:pPr>
            <a:r>
              <a:rPr lang="fr-CA" dirty="0"/>
              <a:t>ABC rend disponible une nouvelle ligne de produits. Pour aider à l’acceptation par les clients, ABC offre une période de retour sans </a:t>
            </a:r>
            <a:r>
              <a:rPr lang="fr-CA" dirty="0">
                <a:highlight>
                  <a:srgbClr val="FFFF00"/>
                </a:highlight>
              </a:rPr>
              <a:t>condition de trois mois.</a:t>
            </a:r>
          </a:p>
          <a:p>
            <a:pPr marL="0" indent="0">
              <a:buNone/>
            </a:pPr>
            <a:r>
              <a:rPr lang="fr-CA" dirty="0"/>
              <a:t>ABC vend au comptant 100 unités à 20 $ chacune de ces nouveaux produits deux semaines avant la fin de l’exercice (de la période).</a:t>
            </a:r>
          </a:p>
          <a:p>
            <a:pPr marL="0" indent="0">
              <a:buNone/>
            </a:pPr>
            <a:r>
              <a:rPr lang="fr-CA" dirty="0"/>
              <a:t>Comment présenter cette transaction?</a:t>
            </a:r>
          </a:p>
          <a:p>
            <a:pPr marL="0" indent="0">
              <a:buNone/>
            </a:pPr>
            <a:endParaRPr lang="fr-CA" dirty="0"/>
          </a:p>
          <a:p>
            <a:pPr>
              <a:buFont typeface="Wingdings" panose="05000000000000000000" pitchFamily="2" charset="2"/>
              <a:buChar char="Ø"/>
            </a:pPr>
            <a:r>
              <a:rPr lang="fr-CA" dirty="0"/>
              <a:t> utiliser le référentiel NCECF</a:t>
            </a:r>
            <a:endParaRPr lang="fr-FR" dirty="0"/>
          </a:p>
        </p:txBody>
      </p:sp>
    </p:spTree>
    <p:extLst>
      <p:ext uri="{BB962C8B-B14F-4D97-AF65-F5344CB8AC3E}">
        <p14:creationId xmlns:p14="http://schemas.microsoft.com/office/powerpoint/2010/main" val="4272657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p:txBody>
          <a:bodyPr/>
          <a:lstStyle/>
          <a:p>
            <a:r>
              <a:rPr lang="fr-CA" dirty="0"/>
              <a:t>Exercice 2</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a:xfrm>
            <a:off x="1460938" y="1825625"/>
            <a:ext cx="9892862" cy="4351338"/>
          </a:xfrm>
        </p:spPr>
        <p:txBody>
          <a:bodyPr/>
          <a:lstStyle/>
          <a:p>
            <a:pPr marL="0" indent="0">
              <a:buNone/>
            </a:pPr>
            <a:r>
              <a:rPr lang="fr-CA" b="1" u="sng" dirty="0"/>
              <a:t>Produits – moment de comptabilisation</a:t>
            </a:r>
          </a:p>
          <a:p>
            <a:pPr marL="0" indent="0">
              <a:buNone/>
            </a:pPr>
            <a:r>
              <a:rPr lang="fr-CA" i="1" dirty="0">
                <a:solidFill>
                  <a:srgbClr val="0070C0"/>
                </a:solidFill>
              </a:rPr>
              <a:t>IFRS 15 : approche 5 étapes</a:t>
            </a:r>
          </a:p>
          <a:p>
            <a:pPr marL="0" indent="0">
              <a:buNone/>
            </a:pPr>
            <a:r>
              <a:rPr lang="fr-CA" i="1" dirty="0">
                <a:solidFill>
                  <a:srgbClr val="0070C0"/>
                </a:solidFill>
              </a:rPr>
              <a:t>chap. 3400 : critères</a:t>
            </a:r>
          </a:p>
          <a:p>
            <a:pPr marL="0" indent="0">
              <a:buNone/>
            </a:pPr>
            <a:endParaRPr lang="fr-CA" i="1" dirty="0"/>
          </a:p>
          <a:p>
            <a:pPr marL="0" indent="0">
              <a:buNone/>
            </a:pPr>
            <a:r>
              <a:rPr lang="fr-CA" dirty="0"/>
              <a:t>Pas d’historique sur les retours pour ces produits, donc ne peut estimer les retours</a:t>
            </a:r>
          </a:p>
          <a:p>
            <a:pPr marL="0" indent="0">
              <a:buNone/>
            </a:pPr>
            <a:endParaRPr lang="fr-CA" dirty="0"/>
          </a:p>
          <a:p>
            <a:pPr marL="0" indent="0">
              <a:buNone/>
            </a:pPr>
            <a:r>
              <a:rPr lang="fr-CA" dirty="0"/>
              <a:t>Produits différés</a:t>
            </a:r>
          </a:p>
          <a:p>
            <a:pPr marL="0" indent="0">
              <a:buNone/>
            </a:pPr>
            <a:endParaRPr lang="fr-CA" dirty="0"/>
          </a:p>
          <a:p>
            <a:pPr marL="0" indent="0">
              <a:buNone/>
            </a:pPr>
            <a:endParaRPr lang="fr-CA" dirty="0"/>
          </a:p>
          <a:p>
            <a:pPr marL="0" indent="0">
              <a:buNone/>
            </a:pPr>
            <a:endParaRPr lang="fr-FR" dirty="0"/>
          </a:p>
        </p:txBody>
      </p:sp>
      <p:sp>
        <p:nvSpPr>
          <p:cNvPr id="4" name="ZoneTexte 3">
            <a:extLst>
              <a:ext uri="{FF2B5EF4-FFF2-40B4-BE49-F238E27FC236}">
                <a16:creationId xmlns:a16="http://schemas.microsoft.com/office/drawing/2014/main" id="{7C47A58D-275F-45C8-AAB0-AE4ADC034F83}"/>
              </a:ext>
            </a:extLst>
          </p:cNvPr>
          <p:cNvSpPr txBox="1"/>
          <p:nvPr/>
        </p:nvSpPr>
        <p:spPr>
          <a:xfrm>
            <a:off x="373116" y="1903107"/>
            <a:ext cx="1681656" cy="369332"/>
          </a:xfrm>
          <a:prstGeom prst="rect">
            <a:avLst/>
          </a:prstGeom>
          <a:noFill/>
        </p:spPr>
        <p:txBody>
          <a:bodyPr wrap="square" rtlCol="0">
            <a:spAutoFit/>
          </a:bodyPr>
          <a:lstStyle/>
          <a:p>
            <a:r>
              <a:rPr lang="fr-CA" dirty="0"/>
              <a:t>Enjeu</a:t>
            </a:r>
            <a:endParaRPr lang="fr-FR" dirty="0"/>
          </a:p>
        </p:txBody>
      </p:sp>
      <p:sp>
        <p:nvSpPr>
          <p:cNvPr id="5" name="ZoneTexte 4">
            <a:extLst>
              <a:ext uri="{FF2B5EF4-FFF2-40B4-BE49-F238E27FC236}">
                <a16:creationId xmlns:a16="http://schemas.microsoft.com/office/drawing/2014/main" id="{C0C8BF1A-8893-400B-8E46-D0387B154DA2}"/>
              </a:ext>
            </a:extLst>
          </p:cNvPr>
          <p:cNvSpPr txBox="1"/>
          <p:nvPr/>
        </p:nvSpPr>
        <p:spPr>
          <a:xfrm>
            <a:off x="383627" y="2349921"/>
            <a:ext cx="1681656" cy="369332"/>
          </a:xfrm>
          <a:prstGeom prst="rect">
            <a:avLst/>
          </a:prstGeom>
          <a:noFill/>
        </p:spPr>
        <p:txBody>
          <a:bodyPr wrap="square" rtlCol="0">
            <a:spAutoFit/>
          </a:bodyPr>
          <a:lstStyle/>
          <a:p>
            <a:r>
              <a:rPr lang="fr-CA" dirty="0"/>
              <a:t>Norme</a:t>
            </a:r>
            <a:endParaRPr lang="fr-FR" dirty="0"/>
          </a:p>
        </p:txBody>
      </p:sp>
      <p:sp>
        <p:nvSpPr>
          <p:cNvPr id="6" name="ZoneTexte 5">
            <a:extLst>
              <a:ext uri="{FF2B5EF4-FFF2-40B4-BE49-F238E27FC236}">
                <a16:creationId xmlns:a16="http://schemas.microsoft.com/office/drawing/2014/main" id="{1DED97A2-AFBC-466D-AD1B-F17016F10EFD}"/>
              </a:ext>
            </a:extLst>
          </p:cNvPr>
          <p:cNvSpPr txBox="1"/>
          <p:nvPr/>
        </p:nvSpPr>
        <p:spPr>
          <a:xfrm>
            <a:off x="233854" y="5360722"/>
            <a:ext cx="1681656" cy="369332"/>
          </a:xfrm>
          <a:prstGeom prst="rect">
            <a:avLst/>
          </a:prstGeom>
          <a:noFill/>
        </p:spPr>
        <p:txBody>
          <a:bodyPr wrap="square" rtlCol="0">
            <a:spAutoFit/>
          </a:bodyPr>
          <a:lstStyle/>
          <a:p>
            <a:r>
              <a:rPr lang="fr-CA" dirty="0"/>
              <a:t>Conclusion</a:t>
            </a:r>
          </a:p>
        </p:txBody>
      </p:sp>
      <p:sp>
        <p:nvSpPr>
          <p:cNvPr id="7" name="ZoneTexte 6">
            <a:extLst>
              <a:ext uri="{FF2B5EF4-FFF2-40B4-BE49-F238E27FC236}">
                <a16:creationId xmlns:a16="http://schemas.microsoft.com/office/drawing/2014/main" id="{927A843B-369E-49D8-94A6-ED66506CA1F6}"/>
              </a:ext>
            </a:extLst>
          </p:cNvPr>
          <p:cNvSpPr txBox="1"/>
          <p:nvPr/>
        </p:nvSpPr>
        <p:spPr>
          <a:xfrm>
            <a:off x="233854" y="3815583"/>
            <a:ext cx="1416269" cy="646330"/>
          </a:xfrm>
          <a:prstGeom prst="rect">
            <a:avLst/>
          </a:prstGeom>
          <a:noFill/>
        </p:spPr>
        <p:txBody>
          <a:bodyPr wrap="square" rtlCol="0">
            <a:spAutoFit/>
          </a:bodyPr>
          <a:lstStyle/>
          <a:p>
            <a:r>
              <a:rPr lang="fr-CA" dirty="0"/>
              <a:t>Application au cas</a:t>
            </a:r>
          </a:p>
        </p:txBody>
      </p:sp>
    </p:spTree>
    <p:extLst>
      <p:ext uri="{BB962C8B-B14F-4D97-AF65-F5344CB8AC3E}">
        <p14:creationId xmlns:p14="http://schemas.microsoft.com/office/powerpoint/2010/main" val="1389436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a:xfrm>
            <a:off x="838200" y="365125"/>
            <a:ext cx="10515600" cy="509885"/>
          </a:xfrm>
        </p:spPr>
        <p:txBody>
          <a:bodyPr>
            <a:normAutofit fontScale="90000"/>
          </a:bodyPr>
          <a:lstStyle/>
          <a:p>
            <a:r>
              <a:rPr lang="fr-CA" dirty="0"/>
              <a:t>Exercice 2 - NCECF</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a:xfrm>
            <a:off x="1460938" y="875010"/>
            <a:ext cx="10237076" cy="5883141"/>
          </a:xfrm>
        </p:spPr>
        <p:txBody>
          <a:bodyPr>
            <a:normAutofit fontScale="92500" lnSpcReduction="10000"/>
          </a:bodyPr>
          <a:lstStyle/>
          <a:p>
            <a:pPr marL="0" indent="0">
              <a:buNone/>
            </a:pPr>
            <a:r>
              <a:rPr lang="fr-CA" sz="1900" b="1" u="sng" dirty="0"/>
              <a:t>Produits – moment de comptabilisation</a:t>
            </a:r>
          </a:p>
          <a:p>
            <a:pPr marL="0" indent="0">
              <a:buNone/>
            </a:pPr>
            <a:r>
              <a:rPr lang="fr-CA" sz="1600" i="1" dirty="0"/>
              <a:t>chap. 3400 : critères par. 4 et 5</a:t>
            </a:r>
          </a:p>
          <a:p>
            <a:pPr marL="0" indent="0" algn="l">
              <a:buNone/>
            </a:pPr>
            <a:r>
              <a:rPr lang="fr-CA" sz="1600" b="0" i="0" dirty="0">
                <a:solidFill>
                  <a:srgbClr val="0070C0"/>
                </a:solidFill>
                <a:effectLst/>
                <a:latin typeface="Gotham A"/>
              </a:rPr>
              <a:t>04    </a:t>
            </a:r>
            <a:r>
              <a:rPr lang="fr-CA" sz="1600" b="0" i="1" dirty="0">
                <a:solidFill>
                  <a:srgbClr val="444444"/>
                </a:solidFill>
                <a:effectLst/>
                <a:latin typeface="Gotham A"/>
              </a:rPr>
              <a:t>Les produits provenant de la vente de biens ou de la prestation de services doivent être constatés lorsque les exigences relatives à l'exécution énoncées aux paragraphes </a:t>
            </a:r>
            <a:r>
              <a:rPr lang="fr-CA" sz="1600" b="0" i="0" u="none" strike="noStrike" dirty="0">
                <a:solidFill>
                  <a:srgbClr val="006FBA"/>
                </a:solidFill>
                <a:effectLst/>
                <a:latin typeface="Gotham A"/>
              </a:rPr>
              <a:t>3400.05</a:t>
            </a:r>
            <a:r>
              <a:rPr lang="fr-CA" sz="1600" b="0" i="1" dirty="0">
                <a:solidFill>
                  <a:srgbClr val="444444"/>
                </a:solidFill>
                <a:effectLst/>
                <a:latin typeface="Gotham A"/>
              </a:rPr>
              <a:t> et .06 sont satisfaites, pourvu qu'au moment de l'exécution </a:t>
            </a:r>
            <a:r>
              <a:rPr lang="fr-CA" sz="1600" b="1" i="1" u="sng" dirty="0">
                <a:solidFill>
                  <a:srgbClr val="444444"/>
                </a:solidFill>
                <a:effectLst/>
                <a:latin typeface="Gotham A"/>
              </a:rPr>
              <a:t>le recouvrement final soit raisonnablement sû</a:t>
            </a:r>
            <a:r>
              <a:rPr lang="fr-CA" sz="1600" b="0" i="1" dirty="0">
                <a:solidFill>
                  <a:srgbClr val="444444"/>
                </a:solidFill>
                <a:effectLst/>
                <a:latin typeface="Gotham A"/>
              </a:rPr>
              <a:t>r.</a:t>
            </a:r>
            <a:endParaRPr lang="fr-CA" sz="1600" b="0" i="0" dirty="0">
              <a:solidFill>
                <a:srgbClr val="444444"/>
              </a:solidFill>
              <a:effectLst/>
              <a:latin typeface="Gotham A"/>
            </a:endParaRPr>
          </a:p>
          <a:p>
            <a:pPr marL="0" indent="0" algn="l">
              <a:buNone/>
            </a:pPr>
            <a:r>
              <a:rPr lang="fr-CA" sz="1600" b="0" i="0" dirty="0">
                <a:solidFill>
                  <a:srgbClr val="444444"/>
                </a:solidFill>
                <a:effectLst/>
                <a:latin typeface="Gotham A"/>
              </a:rPr>
              <a:t>.</a:t>
            </a:r>
            <a:r>
              <a:rPr lang="fr-CA" sz="1600" b="0" i="0" dirty="0">
                <a:solidFill>
                  <a:srgbClr val="0070C0"/>
                </a:solidFill>
                <a:effectLst/>
                <a:latin typeface="Gotham A"/>
              </a:rPr>
              <a:t>05 </a:t>
            </a:r>
            <a:r>
              <a:rPr lang="fr-CA" sz="1600" b="0" i="0" dirty="0">
                <a:solidFill>
                  <a:srgbClr val="444444"/>
                </a:solidFill>
                <a:effectLst/>
                <a:latin typeface="Gotham A"/>
              </a:rPr>
              <a:t>   </a:t>
            </a:r>
            <a:r>
              <a:rPr lang="fr-CA" sz="1600" b="0" i="1" dirty="0">
                <a:solidFill>
                  <a:srgbClr val="444444"/>
                </a:solidFill>
                <a:effectLst/>
                <a:latin typeface="Gotham A"/>
              </a:rPr>
              <a:t>Dans le cas d'une opération portant sur la vente de biens, l'exécution doit être considérée comme achevée lorsque les conditions suivantes sont remplies :</a:t>
            </a:r>
            <a:endParaRPr lang="fr-CA" sz="1600" b="0" i="0" dirty="0">
              <a:solidFill>
                <a:srgbClr val="444444"/>
              </a:solidFill>
              <a:effectLst/>
              <a:latin typeface="Gotham A"/>
            </a:endParaRPr>
          </a:p>
          <a:p>
            <a:pPr marL="0" indent="0" algn="l">
              <a:buNone/>
            </a:pPr>
            <a:r>
              <a:rPr lang="fr-CA" sz="1600" b="0" i="1" dirty="0">
                <a:solidFill>
                  <a:srgbClr val="444444"/>
                </a:solidFill>
                <a:effectLst/>
                <a:latin typeface="Gotham A"/>
              </a:rPr>
              <a:t>a)     tous les </a:t>
            </a:r>
            <a:r>
              <a:rPr lang="fr-CA" sz="1600" b="1" i="1" u="sng" dirty="0">
                <a:solidFill>
                  <a:srgbClr val="444444"/>
                </a:solidFill>
                <a:effectLst/>
                <a:latin typeface="Gotham A"/>
              </a:rPr>
              <a:t>risques et avantages importants inhérents à la propriété ont été transférés à l'acheteur </a:t>
            </a:r>
            <a:r>
              <a:rPr lang="fr-CA" sz="1600" b="0" i="1" dirty="0">
                <a:solidFill>
                  <a:srgbClr val="444444"/>
                </a:solidFill>
                <a:effectLst/>
                <a:latin typeface="Gotham A"/>
              </a:rPr>
              <a:t>du fait que tous les actes importants ont été exécutés, et le vendeur n'exerce plus sur les biens cédés un droit de gestion ou un contrôle effectif comparable à celui qui découle généralement du droit de propriété;</a:t>
            </a:r>
            <a:endParaRPr lang="fr-CA" sz="1600" b="0" i="0" dirty="0">
              <a:solidFill>
                <a:srgbClr val="444444"/>
              </a:solidFill>
              <a:effectLst/>
              <a:latin typeface="Gotham A"/>
            </a:endParaRPr>
          </a:p>
          <a:p>
            <a:pPr marL="0" indent="0" algn="l">
              <a:buNone/>
            </a:pPr>
            <a:r>
              <a:rPr lang="fr-CA" sz="1600" b="0" i="1" dirty="0">
                <a:solidFill>
                  <a:srgbClr val="444444"/>
                </a:solidFill>
                <a:effectLst/>
                <a:latin typeface="Gotham A"/>
              </a:rPr>
              <a:t>b)     </a:t>
            </a:r>
            <a:r>
              <a:rPr lang="fr-CA" sz="1600" b="1" i="1" u="sng" dirty="0">
                <a:solidFill>
                  <a:srgbClr val="444444"/>
                </a:solidFill>
                <a:effectLst/>
                <a:latin typeface="Gotham A"/>
              </a:rPr>
              <a:t>la mesure </a:t>
            </a:r>
            <a:r>
              <a:rPr lang="fr-CA" sz="1600" b="0" i="1" dirty="0">
                <a:solidFill>
                  <a:srgbClr val="444444"/>
                </a:solidFill>
                <a:effectLst/>
                <a:latin typeface="Gotham A"/>
              </a:rPr>
              <a:t>de la contrepartie qui sera obtenue pour les biens vendus et l'estimation des rendus sont raisonnablement sûres.</a:t>
            </a:r>
            <a:endParaRPr lang="fr-CA" sz="1600" b="0" i="0" dirty="0">
              <a:solidFill>
                <a:srgbClr val="444444"/>
              </a:solidFill>
              <a:effectLst/>
              <a:latin typeface="Gotham A"/>
            </a:endParaRPr>
          </a:p>
          <a:p>
            <a:pPr marL="0" indent="0">
              <a:buNone/>
            </a:pPr>
            <a:r>
              <a:rPr lang="fr-CA" sz="1600" i="1" dirty="0"/>
              <a:t>	</a:t>
            </a:r>
            <a:r>
              <a:rPr lang="fr-CA" sz="1600" i="1" dirty="0">
                <a:solidFill>
                  <a:srgbClr val="FF0000"/>
                </a:solidFill>
              </a:rPr>
              <a:t>l’enjeu mesure est ici couvert par </a:t>
            </a:r>
            <a:r>
              <a:rPr lang="fr-CA" sz="1600" i="1" dirty="0" err="1">
                <a:solidFill>
                  <a:srgbClr val="FF0000"/>
                </a:solidFill>
              </a:rPr>
              <a:t>par</a:t>
            </a:r>
            <a:r>
              <a:rPr lang="fr-CA" sz="1600" i="1" dirty="0">
                <a:solidFill>
                  <a:srgbClr val="FF0000"/>
                </a:solidFill>
              </a:rPr>
              <a:t>. 21</a:t>
            </a:r>
            <a:endParaRPr lang="fr-CA" sz="1600" i="1" dirty="0"/>
          </a:p>
          <a:p>
            <a:pPr marL="0" indent="0" algn="l">
              <a:buNone/>
            </a:pPr>
            <a:r>
              <a:rPr lang="fr-CA" sz="1600" b="0" i="0" dirty="0">
                <a:solidFill>
                  <a:srgbClr val="0070C0"/>
                </a:solidFill>
                <a:effectLst/>
                <a:latin typeface="Gotham A"/>
              </a:rPr>
              <a:t>.21    </a:t>
            </a:r>
            <a:r>
              <a:rPr lang="fr-CA" sz="1600" b="0" i="0" dirty="0">
                <a:solidFill>
                  <a:srgbClr val="444444"/>
                </a:solidFill>
                <a:effectLst/>
                <a:latin typeface="Gotham A"/>
              </a:rPr>
              <a:t>Les incertitudes relatives à la mesure des produits peuvent être liées à l'un des points suivants ou aux deux :</a:t>
            </a:r>
          </a:p>
          <a:p>
            <a:pPr marL="0" indent="0" algn="l">
              <a:buNone/>
            </a:pPr>
            <a:r>
              <a:rPr lang="fr-CA" sz="1600" b="0" i="0" dirty="0">
                <a:solidFill>
                  <a:srgbClr val="444444"/>
                </a:solidFill>
                <a:effectLst/>
                <a:latin typeface="Gotham A"/>
              </a:rPr>
              <a:t>a)     Contrepartie : Lorsque la contrepartie ne peut être déterminée avec une précision raisonnable, par exemple lorsque le paiement relatif aux biens vendus est lié à la revente desdits biens par l'acheteur, les produits ne sont pas constatés.</a:t>
            </a:r>
          </a:p>
          <a:p>
            <a:pPr marL="0" indent="0" algn="l">
              <a:buNone/>
            </a:pPr>
            <a:r>
              <a:rPr lang="fr-CA" sz="1600" b="0" i="0" dirty="0">
                <a:solidFill>
                  <a:srgbClr val="0070C0"/>
                </a:solidFill>
                <a:effectLst/>
                <a:latin typeface="Gotham A"/>
              </a:rPr>
              <a:t>b</a:t>
            </a:r>
            <a:r>
              <a:rPr lang="fr-CA" sz="1600" b="0" i="0" dirty="0">
                <a:solidFill>
                  <a:srgbClr val="444444"/>
                </a:solidFill>
                <a:effectLst/>
                <a:latin typeface="Gotham A"/>
              </a:rPr>
              <a:t>)     Rendus : </a:t>
            </a:r>
            <a:r>
              <a:rPr lang="fr-CA" sz="1600" b="1" i="0" u="sng" dirty="0">
                <a:solidFill>
                  <a:srgbClr val="444444"/>
                </a:solidFill>
                <a:effectLst/>
                <a:latin typeface="Gotham A"/>
              </a:rPr>
              <a:t>Les produits ne sont pas constatés lorsque les quantités de marchandises susceptibles d'être retournées à l'entreprise sont importantes et imprévisibles, </a:t>
            </a:r>
            <a:r>
              <a:rPr lang="fr-CA" sz="1600" b="0" i="0" dirty="0">
                <a:solidFill>
                  <a:srgbClr val="444444"/>
                </a:solidFill>
                <a:effectLst/>
                <a:latin typeface="Gotham A"/>
              </a:rPr>
              <a:t>par exemple lorsque le marché auquel un bien retournable est destiné n'a pas été étudié. Lorsque les quantités susceptibles d'être retournées à l'entreprise sont importantes et prévisibles, la constitution d'une provision peut suffire.</a:t>
            </a:r>
          </a:p>
          <a:p>
            <a:pPr>
              <a:buFont typeface="Wingdings" panose="05000000000000000000" pitchFamily="2" charset="2"/>
              <a:buChar char="Ø"/>
            </a:pPr>
            <a:r>
              <a:rPr lang="fr-CA" sz="1900" dirty="0">
                <a:solidFill>
                  <a:srgbClr val="0070C0"/>
                </a:solidFill>
              </a:rPr>
              <a:t>Pas d’historique sur les retours pour ces produits, donc ne peut estimer les retours</a:t>
            </a:r>
          </a:p>
          <a:p>
            <a:pPr marL="0" indent="0">
              <a:buNone/>
            </a:pPr>
            <a:endParaRPr lang="fr-CA" sz="1600" dirty="0"/>
          </a:p>
          <a:p>
            <a:pPr marL="0" indent="0">
              <a:buNone/>
            </a:pPr>
            <a:r>
              <a:rPr lang="fr-CA" sz="1900" dirty="0"/>
              <a:t>Produits différés</a:t>
            </a:r>
          </a:p>
        </p:txBody>
      </p:sp>
      <p:sp>
        <p:nvSpPr>
          <p:cNvPr id="4" name="ZoneTexte 3">
            <a:extLst>
              <a:ext uri="{FF2B5EF4-FFF2-40B4-BE49-F238E27FC236}">
                <a16:creationId xmlns:a16="http://schemas.microsoft.com/office/drawing/2014/main" id="{7C47A58D-275F-45C8-AAB0-AE4ADC034F83}"/>
              </a:ext>
            </a:extLst>
          </p:cNvPr>
          <p:cNvSpPr txBox="1"/>
          <p:nvPr/>
        </p:nvSpPr>
        <p:spPr>
          <a:xfrm>
            <a:off x="409902" y="835060"/>
            <a:ext cx="966953" cy="369332"/>
          </a:xfrm>
          <a:prstGeom prst="rect">
            <a:avLst/>
          </a:prstGeom>
          <a:noFill/>
        </p:spPr>
        <p:txBody>
          <a:bodyPr wrap="square" rtlCol="0">
            <a:spAutoFit/>
          </a:bodyPr>
          <a:lstStyle/>
          <a:p>
            <a:r>
              <a:rPr lang="fr-CA" dirty="0"/>
              <a:t>Enjeu</a:t>
            </a:r>
            <a:endParaRPr lang="fr-FR" dirty="0"/>
          </a:p>
        </p:txBody>
      </p:sp>
      <p:sp>
        <p:nvSpPr>
          <p:cNvPr id="5" name="ZoneTexte 4">
            <a:extLst>
              <a:ext uri="{FF2B5EF4-FFF2-40B4-BE49-F238E27FC236}">
                <a16:creationId xmlns:a16="http://schemas.microsoft.com/office/drawing/2014/main" id="{C0C8BF1A-8893-400B-8E46-D0387B154DA2}"/>
              </a:ext>
            </a:extLst>
          </p:cNvPr>
          <p:cNvSpPr txBox="1"/>
          <p:nvPr/>
        </p:nvSpPr>
        <p:spPr>
          <a:xfrm>
            <a:off x="445375" y="1244342"/>
            <a:ext cx="931480" cy="369332"/>
          </a:xfrm>
          <a:prstGeom prst="rect">
            <a:avLst/>
          </a:prstGeom>
          <a:noFill/>
        </p:spPr>
        <p:txBody>
          <a:bodyPr wrap="square" rtlCol="0">
            <a:spAutoFit/>
          </a:bodyPr>
          <a:lstStyle/>
          <a:p>
            <a:r>
              <a:rPr lang="fr-CA" dirty="0"/>
              <a:t>Norme</a:t>
            </a:r>
            <a:endParaRPr lang="fr-FR" dirty="0"/>
          </a:p>
        </p:txBody>
      </p:sp>
      <p:sp>
        <p:nvSpPr>
          <p:cNvPr id="6" name="ZoneTexte 5">
            <a:extLst>
              <a:ext uri="{FF2B5EF4-FFF2-40B4-BE49-F238E27FC236}">
                <a16:creationId xmlns:a16="http://schemas.microsoft.com/office/drawing/2014/main" id="{1DED97A2-AFBC-466D-AD1B-F17016F10EFD}"/>
              </a:ext>
            </a:extLst>
          </p:cNvPr>
          <p:cNvSpPr txBox="1"/>
          <p:nvPr/>
        </p:nvSpPr>
        <p:spPr>
          <a:xfrm>
            <a:off x="224658" y="6201549"/>
            <a:ext cx="1227084" cy="369332"/>
          </a:xfrm>
          <a:prstGeom prst="rect">
            <a:avLst/>
          </a:prstGeom>
          <a:noFill/>
        </p:spPr>
        <p:txBody>
          <a:bodyPr wrap="square" rtlCol="0">
            <a:spAutoFit/>
          </a:bodyPr>
          <a:lstStyle/>
          <a:p>
            <a:r>
              <a:rPr lang="fr-CA" dirty="0"/>
              <a:t>Conclusion</a:t>
            </a:r>
          </a:p>
        </p:txBody>
      </p:sp>
      <p:sp>
        <p:nvSpPr>
          <p:cNvPr id="7" name="ZoneTexte 6">
            <a:extLst>
              <a:ext uri="{FF2B5EF4-FFF2-40B4-BE49-F238E27FC236}">
                <a16:creationId xmlns:a16="http://schemas.microsoft.com/office/drawing/2014/main" id="{927A843B-369E-49D8-94A6-ED66506CA1F6}"/>
              </a:ext>
            </a:extLst>
          </p:cNvPr>
          <p:cNvSpPr txBox="1"/>
          <p:nvPr/>
        </p:nvSpPr>
        <p:spPr>
          <a:xfrm>
            <a:off x="224658" y="5376610"/>
            <a:ext cx="1416269" cy="646330"/>
          </a:xfrm>
          <a:prstGeom prst="rect">
            <a:avLst/>
          </a:prstGeom>
          <a:noFill/>
        </p:spPr>
        <p:txBody>
          <a:bodyPr wrap="square" rtlCol="0">
            <a:spAutoFit/>
          </a:bodyPr>
          <a:lstStyle/>
          <a:p>
            <a:r>
              <a:rPr lang="fr-CA" dirty="0"/>
              <a:t>Application au cas</a:t>
            </a:r>
          </a:p>
        </p:txBody>
      </p:sp>
    </p:spTree>
    <p:extLst>
      <p:ext uri="{BB962C8B-B14F-4D97-AF65-F5344CB8AC3E}">
        <p14:creationId xmlns:p14="http://schemas.microsoft.com/office/powerpoint/2010/main" val="329330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BCF6AC-5C63-4211-BF6F-3F5856D324F0}"/>
              </a:ext>
            </a:extLst>
          </p:cNvPr>
          <p:cNvSpPr>
            <a:spLocks noGrp="1"/>
          </p:cNvSpPr>
          <p:nvPr>
            <p:ph type="title"/>
          </p:nvPr>
        </p:nvSpPr>
        <p:spPr>
          <a:xfrm>
            <a:off x="838200" y="365126"/>
            <a:ext cx="10515600" cy="833416"/>
          </a:xfrm>
        </p:spPr>
        <p:txBody>
          <a:bodyPr/>
          <a:lstStyle/>
          <a:p>
            <a:r>
              <a:rPr lang="fr-CA" dirty="0"/>
              <a:t>Exercice 2 - IFRS</a:t>
            </a:r>
            <a:endParaRPr lang="fr-FR" dirty="0"/>
          </a:p>
        </p:txBody>
      </p:sp>
      <p:sp>
        <p:nvSpPr>
          <p:cNvPr id="3" name="Espace réservé du contenu 2">
            <a:extLst>
              <a:ext uri="{FF2B5EF4-FFF2-40B4-BE49-F238E27FC236}">
                <a16:creationId xmlns:a16="http://schemas.microsoft.com/office/drawing/2014/main" id="{B3EA10AF-0468-429D-B72A-9A9F86098AAB}"/>
              </a:ext>
            </a:extLst>
          </p:cNvPr>
          <p:cNvSpPr>
            <a:spLocks noGrp="1"/>
          </p:cNvSpPr>
          <p:nvPr>
            <p:ph idx="1"/>
          </p:nvPr>
        </p:nvSpPr>
        <p:spPr>
          <a:xfrm>
            <a:off x="1460938" y="1566041"/>
            <a:ext cx="9892862" cy="4610922"/>
          </a:xfrm>
        </p:spPr>
        <p:txBody>
          <a:bodyPr>
            <a:normAutofit fontScale="70000" lnSpcReduction="20000"/>
          </a:bodyPr>
          <a:lstStyle/>
          <a:p>
            <a:pPr marL="0" indent="0">
              <a:buNone/>
            </a:pPr>
            <a:r>
              <a:rPr lang="fr-CA" b="1" u="sng" dirty="0"/>
              <a:t>Produits – moment de comptabilisation</a:t>
            </a:r>
          </a:p>
          <a:p>
            <a:pPr marL="0" indent="0">
              <a:buNone/>
            </a:pPr>
            <a:r>
              <a:rPr lang="fr-CA" i="1" dirty="0"/>
              <a:t>IFRS 15 : approche 5 étapes</a:t>
            </a:r>
          </a:p>
          <a:p>
            <a:pPr marL="0" indent="0">
              <a:buNone/>
            </a:pPr>
            <a:r>
              <a:rPr lang="fr-CA" b="0" i="0" dirty="0">
                <a:solidFill>
                  <a:srgbClr val="444444"/>
                </a:solidFill>
                <a:effectLst/>
                <a:latin typeface="Gotham A"/>
              </a:rPr>
              <a:t>B23     L'entité doit appliquer les dispositions des paragraphes </a:t>
            </a:r>
            <a:r>
              <a:rPr lang="fr-CA" b="0" i="0" u="none" strike="noStrike" dirty="0">
                <a:solidFill>
                  <a:srgbClr val="006FBA"/>
                </a:solidFill>
                <a:effectLst/>
                <a:latin typeface="Gotham A"/>
              </a:rPr>
              <a:t>47</a:t>
            </a:r>
            <a:r>
              <a:rPr lang="fr-CA" b="0" i="0" dirty="0">
                <a:solidFill>
                  <a:srgbClr val="444444"/>
                </a:solidFill>
                <a:effectLst/>
                <a:latin typeface="Gotham A"/>
              </a:rPr>
              <a:t> à 72 (y compris les dispositions sur la limitation des estimations de contrepartie variable des paragraphes </a:t>
            </a:r>
            <a:r>
              <a:rPr lang="fr-CA" b="0" i="0" u="none" strike="noStrike" dirty="0">
                <a:solidFill>
                  <a:srgbClr val="006FBA"/>
                </a:solidFill>
                <a:effectLst/>
                <a:latin typeface="Gotham A"/>
                <a:hlinkClick r:id="rId2"/>
              </a:rPr>
              <a:t>56</a:t>
            </a:r>
            <a:r>
              <a:rPr lang="fr-CA" b="0" i="0" dirty="0">
                <a:solidFill>
                  <a:srgbClr val="444444"/>
                </a:solidFill>
                <a:effectLst/>
                <a:latin typeface="Gotham A"/>
              </a:rPr>
              <a:t> à 58) pour déterminer le montant de contrepartie auquel elle s'attend à avoir droit (c'est-à-dire exclusion faite des retours prévus). </a:t>
            </a:r>
            <a:r>
              <a:rPr lang="fr-CA" b="0" i="0" dirty="0">
                <a:solidFill>
                  <a:srgbClr val="0070C0"/>
                </a:solidFill>
                <a:effectLst/>
                <a:latin typeface="Gotham A"/>
              </a:rPr>
              <a:t>Dans le cas des montants de contrepartie reçus (ou à recevoir) auxquels elle ne s'attend pas à avoir droit, l'entité ne doit pas comptabiliser de produits des activités ordinaires au moment où elle fournit les produits au client, mais plutôt comptabiliser ces montants reçus (ou à recevoir) comme un passif au titre des remboursements futurs. </a:t>
            </a:r>
            <a:r>
              <a:rPr lang="fr-CA" b="0" i="0" dirty="0">
                <a:solidFill>
                  <a:srgbClr val="444444"/>
                </a:solidFill>
                <a:effectLst/>
                <a:latin typeface="Gotham A"/>
              </a:rPr>
              <a:t>Par la suite, à la fin de chaque période de présentation de l'information financière, elle doit mettre à jour son évaluation des montants auxquels elle s'attend à avoir droit en échange des produits fournis et ajuster en conséquence le prix de transaction et, par conséquent, le montant des produits des activités ordinaires comptabilisés.</a:t>
            </a:r>
            <a:endParaRPr lang="fr-CA" i="1" dirty="0"/>
          </a:p>
          <a:p>
            <a:pPr marL="0" indent="0">
              <a:buNone/>
            </a:pPr>
            <a:r>
              <a:rPr lang="fr-CA" dirty="0"/>
              <a:t>Pas d’historique sur les retours pour ces produits, donc ne peut estimer les retours</a:t>
            </a:r>
          </a:p>
          <a:p>
            <a:pPr marL="0" indent="0">
              <a:buNone/>
            </a:pPr>
            <a:endParaRPr lang="fr-CA" dirty="0"/>
          </a:p>
          <a:p>
            <a:pPr marL="0" indent="0">
              <a:buNone/>
            </a:pPr>
            <a:r>
              <a:rPr lang="fr-CA" dirty="0"/>
              <a:t>Produits différés</a:t>
            </a:r>
          </a:p>
          <a:p>
            <a:pPr marL="0" indent="0">
              <a:buNone/>
            </a:pPr>
            <a:endParaRPr lang="fr-CA" dirty="0"/>
          </a:p>
          <a:p>
            <a:pPr marL="0" indent="0">
              <a:buNone/>
            </a:pPr>
            <a:endParaRPr lang="fr-CA" dirty="0"/>
          </a:p>
          <a:p>
            <a:pPr marL="0" indent="0">
              <a:buNone/>
            </a:pPr>
            <a:endParaRPr lang="fr-FR" dirty="0"/>
          </a:p>
        </p:txBody>
      </p:sp>
      <p:sp>
        <p:nvSpPr>
          <p:cNvPr id="4" name="ZoneTexte 3">
            <a:extLst>
              <a:ext uri="{FF2B5EF4-FFF2-40B4-BE49-F238E27FC236}">
                <a16:creationId xmlns:a16="http://schemas.microsoft.com/office/drawing/2014/main" id="{7C47A58D-275F-45C8-AAB0-AE4ADC034F83}"/>
              </a:ext>
            </a:extLst>
          </p:cNvPr>
          <p:cNvSpPr txBox="1"/>
          <p:nvPr/>
        </p:nvSpPr>
        <p:spPr>
          <a:xfrm>
            <a:off x="383627" y="1489711"/>
            <a:ext cx="958534" cy="369332"/>
          </a:xfrm>
          <a:prstGeom prst="rect">
            <a:avLst/>
          </a:prstGeom>
          <a:noFill/>
        </p:spPr>
        <p:txBody>
          <a:bodyPr wrap="square" rtlCol="0">
            <a:spAutoFit/>
          </a:bodyPr>
          <a:lstStyle/>
          <a:p>
            <a:r>
              <a:rPr lang="fr-CA" dirty="0"/>
              <a:t>Enjeu</a:t>
            </a:r>
            <a:endParaRPr lang="fr-FR" dirty="0"/>
          </a:p>
        </p:txBody>
      </p:sp>
      <p:sp>
        <p:nvSpPr>
          <p:cNvPr id="5" name="ZoneTexte 4">
            <a:extLst>
              <a:ext uri="{FF2B5EF4-FFF2-40B4-BE49-F238E27FC236}">
                <a16:creationId xmlns:a16="http://schemas.microsoft.com/office/drawing/2014/main" id="{C0C8BF1A-8893-400B-8E46-D0387B154DA2}"/>
              </a:ext>
            </a:extLst>
          </p:cNvPr>
          <p:cNvSpPr txBox="1"/>
          <p:nvPr/>
        </p:nvSpPr>
        <p:spPr>
          <a:xfrm>
            <a:off x="383627" y="1980153"/>
            <a:ext cx="1077311" cy="369332"/>
          </a:xfrm>
          <a:prstGeom prst="rect">
            <a:avLst/>
          </a:prstGeom>
          <a:noFill/>
        </p:spPr>
        <p:txBody>
          <a:bodyPr wrap="square" rtlCol="0">
            <a:spAutoFit/>
          </a:bodyPr>
          <a:lstStyle/>
          <a:p>
            <a:r>
              <a:rPr lang="fr-CA" dirty="0"/>
              <a:t>Norme</a:t>
            </a:r>
            <a:endParaRPr lang="fr-FR" dirty="0"/>
          </a:p>
        </p:txBody>
      </p:sp>
      <p:sp>
        <p:nvSpPr>
          <p:cNvPr id="6" name="ZoneTexte 5">
            <a:extLst>
              <a:ext uri="{FF2B5EF4-FFF2-40B4-BE49-F238E27FC236}">
                <a16:creationId xmlns:a16="http://schemas.microsoft.com/office/drawing/2014/main" id="{1DED97A2-AFBC-466D-AD1B-F17016F10EFD}"/>
              </a:ext>
            </a:extLst>
          </p:cNvPr>
          <p:cNvSpPr txBox="1"/>
          <p:nvPr/>
        </p:nvSpPr>
        <p:spPr>
          <a:xfrm>
            <a:off x="233854" y="5507867"/>
            <a:ext cx="1296715" cy="377926"/>
          </a:xfrm>
          <a:prstGeom prst="rect">
            <a:avLst/>
          </a:prstGeom>
          <a:noFill/>
        </p:spPr>
        <p:txBody>
          <a:bodyPr wrap="square" rtlCol="0">
            <a:spAutoFit/>
          </a:bodyPr>
          <a:lstStyle/>
          <a:p>
            <a:r>
              <a:rPr lang="fr-CA" dirty="0"/>
              <a:t>Conclusion</a:t>
            </a:r>
          </a:p>
        </p:txBody>
      </p:sp>
      <p:sp>
        <p:nvSpPr>
          <p:cNvPr id="7" name="ZoneTexte 6">
            <a:extLst>
              <a:ext uri="{FF2B5EF4-FFF2-40B4-BE49-F238E27FC236}">
                <a16:creationId xmlns:a16="http://schemas.microsoft.com/office/drawing/2014/main" id="{927A843B-369E-49D8-94A6-ED66506CA1F6}"/>
              </a:ext>
            </a:extLst>
          </p:cNvPr>
          <p:cNvSpPr txBox="1"/>
          <p:nvPr/>
        </p:nvSpPr>
        <p:spPr>
          <a:xfrm>
            <a:off x="233854" y="4693181"/>
            <a:ext cx="1296715" cy="646331"/>
          </a:xfrm>
          <a:prstGeom prst="rect">
            <a:avLst/>
          </a:prstGeom>
          <a:noFill/>
        </p:spPr>
        <p:txBody>
          <a:bodyPr wrap="square" rtlCol="0">
            <a:spAutoFit/>
          </a:bodyPr>
          <a:lstStyle/>
          <a:p>
            <a:r>
              <a:rPr lang="fr-CA" dirty="0"/>
              <a:t>Application au cas</a:t>
            </a:r>
          </a:p>
        </p:txBody>
      </p:sp>
    </p:spTree>
    <p:extLst>
      <p:ext uri="{BB962C8B-B14F-4D97-AF65-F5344CB8AC3E}">
        <p14:creationId xmlns:p14="http://schemas.microsoft.com/office/powerpoint/2010/main" val="805352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Correction par compétence</a:t>
            </a:r>
          </a:p>
        </p:txBody>
      </p:sp>
      <p:sp>
        <p:nvSpPr>
          <p:cNvPr id="3" name="Espace réservé du contenu 2"/>
          <p:cNvSpPr>
            <a:spLocks noGrp="1"/>
          </p:cNvSpPr>
          <p:nvPr>
            <p:ph idx="1"/>
          </p:nvPr>
        </p:nvSpPr>
        <p:spPr/>
        <p:txBody>
          <a:bodyPr>
            <a:normAutofit/>
          </a:bodyPr>
          <a:lstStyle/>
          <a:p>
            <a:pPr marL="0" indent="0">
              <a:buNone/>
            </a:pPr>
            <a:r>
              <a:rPr lang="fr-CA" b="1" dirty="0"/>
              <a:t>Non traité (NT) : </a:t>
            </a:r>
            <a:endParaRPr lang="fr-CA" dirty="0"/>
          </a:p>
          <a:p>
            <a:r>
              <a:rPr lang="fr-CA" i="1" dirty="0"/>
              <a:t>L’étudiant n’a pas identifié la (les) problématique(s) en jeu. </a:t>
            </a:r>
          </a:p>
          <a:p>
            <a:pPr lvl="1"/>
            <a:r>
              <a:rPr lang="fr-CA" i="1" dirty="0"/>
              <a:t>Plus que le titre, nécessite un début d’analyse</a:t>
            </a:r>
          </a:p>
          <a:p>
            <a:pPr marL="0" indent="0">
              <a:buNone/>
            </a:pPr>
            <a:endParaRPr lang="fr-CA" i="1" dirty="0"/>
          </a:p>
          <a:p>
            <a:pPr marL="0" indent="0">
              <a:buNone/>
            </a:pPr>
            <a:r>
              <a:rPr lang="fr-CA" b="1" dirty="0"/>
              <a:t>Compétence minime (CM) :</a:t>
            </a:r>
            <a:endParaRPr lang="fr-CA" sz="4400" dirty="0"/>
          </a:p>
          <a:p>
            <a:r>
              <a:rPr lang="fr-CA" i="1" dirty="0"/>
              <a:t>L’étudiant identifie la (les) problématique(s) en jeu et fournit une analyse, mais son analyse ne satisfait pas aux exigences du niveau EVC ou l’étudiant applique des normes qui ne sont pas appropriées à la situation ou l’étudiant ne répond pas à des demandes explicites. </a:t>
            </a:r>
            <a:endParaRPr lang="fr-CA" sz="4400" dirty="0"/>
          </a:p>
          <a:p>
            <a:pPr lvl="1"/>
            <a:endParaRPr lang="fr-CA" i="1"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15</a:t>
            </a:fld>
            <a:endParaRPr lang="fr-FR"/>
          </a:p>
        </p:txBody>
      </p:sp>
      <p:sp>
        <p:nvSpPr>
          <p:cNvPr id="5" name="ZoneTexte 4">
            <a:extLst>
              <a:ext uri="{FF2B5EF4-FFF2-40B4-BE49-F238E27FC236}">
                <a16:creationId xmlns:a16="http://schemas.microsoft.com/office/drawing/2014/main" id="{9C6734B5-154C-405C-AB92-7DA843475842}"/>
              </a:ext>
            </a:extLst>
          </p:cNvPr>
          <p:cNvSpPr txBox="1"/>
          <p:nvPr/>
        </p:nvSpPr>
        <p:spPr>
          <a:xfrm>
            <a:off x="7894320" y="365125"/>
            <a:ext cx="4013200" cy="646331"/>
          </a:xfrm>
          <a:prstGeom prst="rect">
            <a:avLst/>
          </a:prstGeom>
          <a:noFill/>
        </p:spPr>
        <p:txBody>
          <a:bodyPr wrap="square" rtlCol="0">
            <a:spAutoFit/>
          </a:bodyPr>
          <a:lstStyle/>
          <a:p>
            <a:r>
              <a:rPr lang="fr-CA" i="1" dirty="0"/>
              <a:t>Illustrer avec un exemple indicateur info financière</a:t>
            </a:r>
            <a:endParaRPr lang="fr-FR" i="1" dirty="0"/>
          </a:p>
        </p:txBody>
      </p:sp>
    </p:spTree>
    <p:extLst>
      <p:ext uri="{BB962C8B-B14F-4D97-AF65-F5344CB8AC3E}">
        <p14:creationId xmlns:p14="http://schemas.microsoft.com/office/powerpoint/2010/main" val="220597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Correction par compétence</a:t>
            </a:r>
          </a:p>
        </p:txBody>
      </p:sp>
      <p:sp>
        <p:nvSpPr>
          <p:cNvPr id="3" name="Espace réservé du contenu 2"/>
          <p:cNvSpPr>
            <a:spLocks noGrp="1"/>
          </p:cNvSpPr>
          <p:nvPr>
            <p:ph idx="1"/>
          </p:nvPr>
        </p:nvSpPr>
        <p:spPr/>
        <p:txBody>
          <a:bodyPr>
            <a:normAutofit fontScale="62500" lnSpcReduction="20000"/>
          </a:bodyPr>
          <a:lstStyle/>
          <a:p>
            <a:pPr marL="0" indent="0">
              <a:buNone/>
            </a:pPr>
            <a:r>
              <a:rPr lang="fr-CA" sz="4400" b="1" dirty="0"/>
              <a:t>En voie vers la compétence (EVC) : </a:t>
            </a:r>
            <a:endParaRPr lang="fr-CA" sz="4400" dirty="0"/>
          </a:p>
          <a:p>
            <a:r>
              <a:rPr lang="fr-CA" sz="4400" i="1" dirty="0"/>
              <a:t>L’étudiant identifie la (les) problématique(s) en jeu et fournit une analyse, mais son rapport comporte des lacunes à certains égards. </a:t>
            </a:r>
          </a:p>
          <a:p>
            <a:r>
              <a:rPr lang="fr-CA" sz="4400" i="1" dirty="0"/>
              <a:t>Voici des </a:t>
            </a:r>
            <a:r>
              <a:rPr lang="fr-CA" sz="4400" b="1" i="1" u="sng" dirty="0"/>
              <a:t>exemples</a:t>
            </a:r>
            <a:r>
              <a:rPr lang="fr-CA" sz="4400" b="1" i="1" dirty="0"/>
              <a:t> de lacunes</a:t>
            </a:r>
            <a:r>
              <a:rPr lang="fr-CA" sz="4400" i="1" dirty="0"/>
              <a:t> : l’analyse est incomplète ou on y dénote des erreurs, les normes sont exposées ou citées mais elles ne sont pas appliquées correctement ou concrètement au cas, plusieurs facteurs de risques ou des risques importants ne sont pas identifiés, conclusion ou recommandation erronée ou qui n’est pas cohérente avec l’analyse ou qui ne tient pas compte de la situation, pas d’analyse quantitative alors qu’elle serait utile et que l’information nécessaire est fournie dans le cas, ne tient pas compte des parties prenantes, etc.</a:t>
            </a:r>
            <a:endParaRPr lang="fr-CA" sz="4400"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16</a:t>
            </a:fld>
            <a:endParaRPr lang="fr-FR"/>
          </a:p>
        </p:txBody>
      </p:sp>
    </p:spTree>
    <p:extLst>
      <p:ext uri="{BB962C8B-B14F-4D97-AF65-F5344CB8AC3E}">
        <p14:creationId xmlns:p14="http://schemas.microsoft.com/office/powerpoint/2010/main" val="2775595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Correction par compétence</a:t>
            </a:r>
          </a:p>
        </p:txBody>
      </p:sp>
      <p:sp>
        <p:nvSpPr>
          <p:cNvPr id="3" name="Espace réservé du contenu 2"/>
          <p:cNvSpPr>
            <a:spLocks noGrp="1"/>
          </p:cNvSpPr>
          <p:nvPr>
            <p:ph idx="1"/>
          </p:nvPr>
        </p:nvSpPr>
        <p:spPr>
          <a:xfrm>
            <a:off x="838200" y="1825625"/>
            <a:ext cx="10515600" cy="4895850"/>
          </a:xfrm>
        </p:spPr>
        <p:txBody>
          <a:bodyPr>
            <a:normAutofit lnSpcReduction="10000"/>
          </a:bodyPr>
          <a:lstStyle/>
          <a:p>
            <a:pPr marL="0" indent="0">
              <a:buNone/>
            </a:pPr>
            <a:r>
              <a:rPr lang="fr-CA" b="1" dirty="0"/>
              <a:t>Compétent (C) : </a:t>
            </a:r>
            <a:endParaRPr lang="fr-CA" dirty="0"/>
          </a:p>
          <a:p>
            <a:r>
              <a:rPr lang="fr-CA" i="1" dirty="0"/>
              <a:t>L’étudiant identifie la (les) problématique(s) en jeu, fournit une analyse approfondie et formule des conclusions/recommandations logiques, cohérentes avec son analyse, et appropriées à la situation. On s’attend à ce que vous utilisiez les normes appropriées (normes comptables ou d’audit) </a:t>
            </a:r>
            <a:r>
              <a:rPr lang="fr-CA" b="1" i="1" dirty="0"/>
              <a:t>ET</a:t>
            </a:r>
            <a:r>
              <a:rPr lang="fr-CA" i="1" dirty="0"/>
              <a:t> que vous les appliquiez à la situation en utilisant les données du cas (analyse et argumentation concrètes), que vous teniez compte du contexte et des attentes/motivations/préoccupations des parties prenantes et des effets sur celles-ci, que l’analyse soit complète et utile (EX. : calculs, impacts sur les états financiers et les ratios, écritures si nécessaires, assertions et postes/opérations touchés, etc.) et que les conclusions et recommandations soient logiques et formulées clairement.</a:t>
            </a: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17</a:t>
            </a:fld>
            <a:endParaRPr lang="fr-FR"/>
          </a:p>
        </p:txBody>
      </p:sp>
    </p:spTree>
    <p:extLst>
      <p:ext uri="{BB962C8B-B14F-4D97-AF65-F5344CB8AC3E}">
        <p14:creationId xmlns:p14="http://schemas.microsoft.com/office/powerpoint/2010/main" val="2973669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Correction par compétence</a:t>
            </a:r>
          </a:p>
        </p:txBody>
      </p:sp>
      <p:sp>
        <p:nvSpPr>
          <p:cNvPr id="3" name="Espace réservé du contenu 2"/>
          <p:cNvSpPr>
            <a:spLocks noGrp="1"/>
          </p:cNvSpPr>
          <p:nvPr>
            <p:ph idx="1"/>
          </p:nvPr>
        </p:nvSpPr>
        <p:spPr/>
        <p:txBody>
          <a:bodyPr>
            <a:normAutofit/>
          </a:bodyPr>
          <a:lstStyle/>
          <a:p>
            <a:pPr marL="0" indent="0">
              <a:buNone/>
            </a:pPr>
            <a:r>
              <a:rPr lang="fr-CA" b="1" dirty="0"/>
              <a:t>Compétent avec distinction (CAD) : </a:t>
            </a:r>
          </a:p>
          <a:p>
            <a:r>
              <a:rPr lang="fr-CA" i="1" dirty="0"/>
              <a:t>En plus des exigences attendues pour atteindre le niveau compétent, l’étudiant fournit une analyse de très haute qualité (EX. : quantité et qualité des arguments, références directes aux normes, démontre une grande maîtrise des normes et un excellent jugement, perçoit des attentes implicites ou d’autres problèmes qui découlent des problématiques analysées et y répond, perçoit clairement les conflits et les enjeux, etc.). </a:t>
            </a:r>
            <a:endParaRPr lang="fr-CA" dirty="0"/>
          </a:p>
          <a:p>
            <a:pPr marL="0" indent="0">
              <a:buNone/>
            </a:pPr>
            <a:endParaRPr lang="fr-CA" sz="2400"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18</a:t>
            </a:fld>
            <a:endParaRPr lang="fr-FR"/>
          </a:p>
        </p:txBody>
      </p:sp>
    </p:spTree>
    <p:extLst>
      <p:ext uri="{BB962C8B-B14F-4D97-AF65-F5344CB8AC3E}">
        <p14:creationId xmlns:p14="http://schemas.microsoft.com/office/powerpoint/2010/main" val="142177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CPA - EFC</a:t>
            </a:r>
          </a:p>
        </p:txBody>
      </p:sp>
      <p:sp>
        <p:nvSpPr>
          <p:cNvPr id="3" name="Espace réservé du contenu 2"/>
          <p:cNvSpPr>
            <a:spLocks noGrp="1"/>
          </p:cNvSpPr>
          <p:nvPr>
            <p:ph idx="1"/>
          </p:nvPr>
        </p:nvSpPr>
        <p:spPr/>
        <p:txBody>
          <a:bodyPr/>
          <a:lstStyle/>
          <a:p>
            <a:r>
              <a:rPr lang="fr-CA" dirty="0"/>
              <a:t>Grille de compétences des CPA</a:t>
            </a:r>
          </a:p>
          <a:p>
            <a:pPr lvl="1"/>
            <a:r>
              <a:rPr lang="fr-CA" dirty="0"/>
              <a:t>Niveaux de maîtrise pour les éléments d’information financière : majoritairement A, quelques éléments plus complexes et non courants à B</a:t>
            </a:r>
          </a:p>
          <a:p>
            <a:endParaRPr lang="fr-CA" dirty="0"/>
          </a:p>
          <a:p>
            <a:pPr lvl="1"/>
            <a:r>
              <a:rPr lang="fr-CA" dirty="0"/>
              <a:t>Titre auditeur : nécessite profondeur en information financière</a:t>
            </a:r>
          </a:p>
          <a:p>
            <a:pPr lvl="2"/>
            <a:r>
              <a:rPr lang="fr-CA" sz="2400" dirty="0"/>
              <a:t>Sinon, peut réussir l’EFC et être CPA, mais sans le titre auditeur</a:t>
            </a:r>
          </a:p>
          <a:p>
            <a:pPr lvl="3"/>
            <a:r>
              <a:rPr lang="fr-CA" sz="2000" dirty="0"/>
              <a:t>Examen reprise, $ et temps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19</a:t>
            </a:fld>
            <a:endParaRPr lang="fr-FR"/>
          </a:p>
        </p:txBody>
      </p:sp>
    </p:spTree>
    <p:extLst>
      <p:ext uri="{BB962C8B-B14F-4D97-AF65-F5344CB8AC3E}">
        <p14:creationId xmlns:p14="http://schemas.microsoft.com/office/powerpoint/2010/main" val="3575547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3600" dirty="0"/>
              <a:t>Cas - Exercice de rédaction, avec application de la démarche d’analyse de cas</a:t>
            </a:r>
          </a:p>
        </p:txBody>
      </p:sp>
      <p:sp>
        <p:nvSpPr>
          <p:cNvPr id="3" name="Espace réservé du contenu 2"/>
          <p:cNvSpPr>
            <a:spLocks noGrp="1"/>
          </p:cNvSpPr>
          <p:nvPr>
            <p:ph idx="1"/>
          </p:nvPr>
        </p:nvSpPr>
        <p:spPr/>
        <p:txBody>
          <a:bodyPr>
            <a:normAutofit/>
          </a:bodyPr>
          <a:lstStyle/>
          <a:p>
            <a:pPr marL="0" indent="0">
              <a:buNone/>
            </a:pPr>
            <a:endParaRPr lang="fr-CA" dirty="0"/>
          </a:p>
          <a:p>
            <a:r>
              <a:rPr lang="fr-CA" dirty="0"/>
              <a:t>2 mises en situation à rédiger en sous-groupe de 3 étudiants</a:t>
            </a:r>
          </a:p>
          <a:p>
            <a:r>
              <a:rPr lang="fr-CA" dirty="0"/>
              <a:t>Rétro sommaire en groupe</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20</a:t>
            </a:fld>
            <a:endParaRPr lang="fr-FR"/>
          </a:p>
        </p:txBody>
      </p:sp>
    </p:spTree>
    <p:extLst>
      <p:ext uri="{BB962C8B-B14F-4D97-AF65-F5344CB8AC3E}">
        <p14:creationId xmlns:p14="http://schemas.microsoft.com/office/powerpoint/2010/main" val="3490166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dirty="0"/>
              <a:t>Mise en situation #1 - IFRS</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b="0" dirty="0"/>
              <a:t>ABC fabrique des réservoirs. </a:t>
            </a:r>
            <a:r>
              <a:rPr lang="fr-CA" b="0" dirty="0">
                <a:highlight>
                  <a:srgbClr val="FFFF00"/>
                </a:highlight>
              </a:rPr>
              <a:t>Le 30 septembre 2024</a:t>
            </a:r>
            <a:r>
              <a:rPr lang="fr-CA" b="0" dirty="0"/>
              <a:t>, ABC a remplacé un équipement par une nouvelle version ayant une plus grande capacité. L’ancien équipement est encore en bon état de fonctionnement.</a:t>
            </a:r>
          </a:p>
          <a:p>
            <a:pPr marL="0" indent="0">
              <a:buNone/>
            </a:pPr>
            <a:r>
              <a:rPr lang="fr-CA" b="0" dirty="0"/>
              <a:t>L’équipement a alors été retiré de la ch</a:t>
            </a:r>
            <a:r>
              <a:rPr lang="fr-CA" dirty="0"/>
              <a:t>aîne de production d’ABC</a:t>
            </a:r>
            <a:r>
              <a:rPr lang="fr-CA" b="0" dirty="0"/>
              <a:t> et se trouve actuellement dans un entrepôt. L’équipement avait été acheté le </a:t>
            </a:r>
            <a:r>
              <a:rPr lang="fr-CA" b="0" dirty="0">
                <a:highlight>
                  <a:srgbClr val="FFFF00"/>
                </a:highlight>
              </a:rPr>
              <a:t>1</a:t>
            </a:r>
            <a:r>
              <a:rPr lang="fr-CA" b="0" baseline="30000" dirty="0">
                <a:highlight>
                  <a:srgbClr val="FFFF00"/>
                </a:highlight>
              </a:rPr>
              <a:t>er</a:t>
            </a:r>
            <a:r>
              <a:rPr lang="fr-CA" b="0" dirty="0">
                <a:highlight>
                  <a:srgbClr val="FFFF00"/>
                </a:highlight>
              </a:rPr>
              <a:t> janvier 2022 à un coût de 100 000 $. Il a été amorti durant tous les mois de l’exercice 2024, à un taux de 30 % amortissement dégressif</a:t>
            </a:r>
            <a:r>
              <a:rPr lang="fr-CA" b="0" dirty="0"/>
              <a:t>. </a:t>
            </a:r>
          </a:p>
          <a:p>
            <a:pPr marL="0" indent="0">
              <a:buNone/>
            </a:pPr>
            <a:r>
              <a:rPr lang="fr-CA" dirty="0">
                <a:highlight>
                  <a:srgbClr val="FFFF00"/>
                </a:highlight>
              </a:rPr>
              <a:t>L’équipement</a:t>
            </a:r>
            <a:r>
              <a:rPr lang="fr-CA" b="0" dirty="0">
                <a:highlight>
                  <a:srgbClr val="FFFF00"/>
                </a:highlight>
              </a:rPr>
              <a:t> est annoncé sur des sites Web industriels au prix de 30 000 $. </a:t>
            </a:r>
            <a:r>
              <a:rPr lang="fr-CA" b="0" dirty="0"/>
              <a:t>On s’attend à ce que les coûts de la vente correspondent à </a:t>
            </a:r>
            <a:r>
              <a:rPr lang="fr-CA" b="0" dirty="0">
                <a:highlight>
                  <a:srgbClr val="FFFF00"/>
                </a:highlight>
              </a:rPr>
              <a:t>10 % du prix de </a:t>
            </a:r>
            <a:r>
              <a:rPr lang="fr-CA" b="0" dirty="0"/>
              <a:t>vente. La direction n’a pas encore reçu d’offre d’achat pour le vieil équipement au 31 décembre 2024. Par le passé, des équipements semblables ont été vendus en quelques mois à un prix d’environ </a:t>
            </a:r>
            <a:r>
              <a:rPr lang="fr-CA" b="0" dirty="0">
                <a:highlight>
                  <a:srgbClr val="FFFF00"/>
                </a:highlight>
              </a:rPr>
              <a:t>30 000 $.</a:t>
            </a:r>
            <a:endParaRPr lang="fr-CA" dirty="0">
              <a:highlight>
                <a:srgbClr val="FFFF00"/>
              </a:highlight>
            </a:endParaRPr>
          </a:p>
        </p:txBody>
      </p:sp>
    </p:spTree>
    <p:extLst>
      <p:ext uri="{BB962C8B-B14F-4D97-AF65-F5344CB8AC3E}">
        <p14:creationId xmlns:p14="http://schemas.microsoft.com/office/powerpoint/2010/main" val="3156288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57618"/>
          </a:xfrm>
        </p:spPr>
        <p:txBody>
          <a:bodyPr>
            <a:normAutofit fontScale="90000"/>
          </a:bodyPr>
          <a:lstStyle/>
          <a:p>
            <a:pPr algn="ctr"/>
            <a:r>
              <a:rPr lang="fr-CA" dirty="0"/>
              <a:t>Mise en situation #1 – IFRS</a:t>
            </a:r>
            <a:br>
              <a:rPr lang="fr-CA" dirty="0"/>
            </a:br>
            <a:r>
              <a:rPr lang="fr-CA" dirty="0"/>
              <a:t>Éléments de solution</a:t>
            </a:r>
          </a:p>
        </p:txBody>
      </p:sp>
      <p:sp>
        <p:nvSpPr>
          <p:cNvPr id="3" name="Espace réservé du contenu 2"/>
          <p:cNvSpPr>
            <a:spLocks noGrp="1"/>
          </p:cNvSpPr>
          <p:nvPr>
            <p:ph idx="1"/>
          </p:nvPr>
        </p:nvSpPr>
        <p:spPr>
          <a:xfrm>
            <a:off x="838200" y="1423686"/>
            <a:ext cx="10515600" cy="5300499"/>
          </a:xfrm>
        </p:spPr>
        <p:txBody>
          <a:bodyPr>
            <a:normAutofit fontScale="92500"/>
          </a:bodyPr>
          <a:lstStyle/>
          <a:p>
            <a:pPr marL="0" indent="0">
              <a:buNone/>
            </a:pPr>
            <a:r>
              <a:rPr lang="fr-CA" sz="2000" dirty="0"/>
              <a:t>Selon </a:t>
            </a:r>
            <a:r>
              <a:rPr lang="fr-CA" sz="2000" b="0" dirty="0"/>
              <a:t>IFRS 5 </a:t>
            </a:r>
            <a:r>
              <a:rPr lang="fr-CA" sz="2000" b="0" i="1" dirty="0"/>
              <a:t>actifs non courants détenus en vue de la vente et activités abandonnées, </a:t>
            </a:r>
            <a:r>
              <a:rPr lang="fr-CA" sz="2000" b="0" dirty="0"/>
              <a:t>une entreprise doit</a:t>
            </a:r>
            <a:r>
              <a:rPr lang="fr-CA" sz="2000" dirty="0"/>
              <a:t> </a:t>
            </a:r>
            <a:r>
              <a:rPr lang="fr-CA" sz="2000" b="0" dirty="0">
                <a:highlight>
                  <a:srgbClr val="FFFF00"/>
                </a:highlight>
              </a:rPr>
              <a:t>classer</a:t>
            </a:r>
            <a:r>
              <a:rPr lang="fr-CA" sz="2000" b="0" dirty="0"/>
              <a:t> un actif non courant comme détenu en vue de la vente si sa valeur comptable est recouvrée principalement par le biais d'une transaction de vente plutôt que par l'utilisation continue.</a:t>
            </a:r>
          </a:p>
          <a:p>
            <a:pPr lvl="1"/>
            <a:r>
              <a:rPr lang="fr-CA" sz="1800" b="0" dirty="0"/>
              <a:t>ABC N’UTILISE PLUS L’ÉQUIPEMENT ET L’A MIS EN VENTE</a:t>
            </a:r>
          </a:p>
          <a:p>
            <a:pPr marL="0" indent="0">
              <a:buNone/>
            </a:pPr>
            <a:r>
              <a:rPr lang="fr-CA" sz="2000" b="0" dirty="0"/>
              <a:t>Selon IFRS 5, l’actif doit être disponible en vue de la vente immédiate dans son état actuel et sa vente doit être </a:t>
            </a:r>
            <a:r>
              <a:rPr lang="fr-CA" sz="2000" b="0" i="1" dirty="0"/>
              <a:t>hautement probable -</a:t>
            </a:r>
            <a:r>
              <a:rPr lang="fr-CA" sz="2000" b="0" dirty="0"/>
              <a:t> la direction doit s'être engagée à l'égard d'un plan de vente de l'actif et un programme actif pour trouver un acheteur et mener à bien le plan doit avoir été entrepris. De plus, l'actif doit être activement commercialisé en vue de la vente à un prix qui est raisonnable par rapport à sa juste valeur actuelle. Par ailleurs, la vente devrait normalement répondre, dans l'année suivant son classement, aux critères de comptabilisation à titre de vente réalisée.</a:t>
            </a:r>
          </a:p>
          <a:p>
            <a:pPr marL="625475" lvl="1" indent="-168275"/>
            <a:r>
              <a:rPr lang="fr-CA" sz="1800" b="0" dirty="0"/>
              <a:t>ÉQUIPEMENT DISPONIBLE À LA VENTE (N’EST PLUS UTILISÉ), ÉTAT ACTUEL PERMET UNE VENTE, ACHETEURS POTENTIELS IDENTIFIÉS, DIRECTION A PRIS LA DÉCISION DE VENDRE ET DES ACTIVITÉS DE VENTE ONT DÉBUTÉ (ANNONCES SITE WEB), PAR LE PASSÉ VENTES SIMILAIRES EN QUELQUES MOIS</a:t>
            </a:r>
          </a:p>
          <a:p>
            <a:r>
              <a:rPr lang="fr-CA" sz="2000" dirty="0"/>
              <a:t>Mesure : </a:t>
            </a:r>
            <a:r>
              <a:rPr lang="fr-CA" sz="2000" b="0" dirty="0"/>
              <a:t>au plus faible de sa valeur comptable et de sa juste valeur diminuée des coûts de la vente</a:t>
            </a:r>
          </a:p>
          <a:p>
            <a:pPr lvl="1"/>
            <a:r>
              <a:rPr lang="fr-CA" sz="1800" b="0" dirty="0"/>
              <a:t>L’ÉQUIPEMENT A UNE VALEUR COMPTABLE DE 37 975 $. Attention l’amortissement devait cesser au 30 septembre 2023</a:t>
            </a:r>
            <a:r>
              <a:rPr lang="fr-CA" sz="1800" b="0" dirty="0">
                <a:solidFill>
                  <a:srgbClr val="FF0000"/>
                </a:solidFill>
              </a:rPr>
              <a:t> – écriture de correction</a:t>
            </a:r>
            <a:endParaRPr lang="fr-CA" sz="1800" b="0" dirty="0"/>
          </a:p>
          <a:p>
            <a:pPr lvl="1"/>
            <a:r>
              <a:rPr lang="fr-CA" sz="1800" b="0" dirty="0"/>
              <a:t>PRIX DE VENTE PRÉVU : 30 000 $, COÛTS DE LA VENTE - 10 % du prix de vente (3 000 $) = 27 000 $.</a:t>
            </a:r>
          </a:p>
          <a:p>
            <a:pPr lvl="1"/>
            <a:r>
              <a:rPr lang="fr-CA" sz="1800" b="0" dirty="0"/>
              <a:t>=&gt; DÉPRÉCIER L’ÉQUIPEMENT POUR UN MONTANT DE 10 975 $.</a:t>
            </a:r>
            <a:r>
              <a:rPr lang="fr-CA" sz="1800" b="0" dirty="0">
                <a:solidFill>
                  <a:srgbClr val="FF0000"/>
                </a:solidFill>
              </a:rPr>
              <a:t> - écriture</a:t>
            </a:r>
            <a:endParaRPr lang="fr-CA" sz="900" dirty="0"/>
          </a:p>
        </p:txBody>
      </p:sp>
    </p:spTree>
    <p:extLst>
      <p:ext uri="{BB962C8B-B14F-4D97-AF65-F5344CB8AC3E}">
        <p14:creationId xmlns:p14="http://schemas.microsoft.com/office/powerpoint/2010/main" val="420603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57618"/>
          </a:xfrm>
        </p:spPr>
        <p:txBody>
          <a:bodyPr>
            <a:normAutofit fontScale="90000"/>
          </a:bodyPr>
          <a:lstStyle/>
          <a:p>
            <a:pPr algn="ctr"/>
            <a:r>
              <a:rPr lang="fr-CA" dirty="0"/>
              <a:t>Mise en situation #1 – NCECF</a:t>
            </a:r>
            <a:br>
              <a:rPr lang="fr-CA" dirty="0"/>
            </a:br>
            <a:r>
              <a:rPr lang="fr-CA" dirty="0"/>
              <a:t>Éléments de solution</a:t>
            </a:r>
          </a:p>
        </p:txBody>
      </p:sp>
      <p:sp>
        <p:nvSpPr>
          <p:cNvPr id="3" name="Espace réservé du contenu 2"/>
          <p:cNvSpPr>
            <a:spLocks noGrp="1"/>
          </p:cNvSpPr>
          <p:nvPr>
            <p:ph idx="1"/>
          </p:nvPr>
        </p:nvSpPr>
        <p:spPr>
          <a:xfrm>
            <a:off x="838199" y="1269507"/>
            <a:ext cx="11022367" cy="5486399"/>
          </a:xfrm>
        </p:spPr>
        <p:txBody>
          <a:bodyPr>
            <a:normAutofit fontScale="92500" lnSpcReduction="20000"/>
          </a:bodyPr>
          <a:lstStyle/>
          <a:p>
            <a:pPr marL="0" indent="0">
              <a:buNone/>
            </a:pPr>
            <a:r>
              <a:rPr lang="fr-CA" sz="1800" b="1" dirty="0"/>
              <a:t>Vieil équipement – nature/présentation et mesure</a:t>
            </a:r>
          </a:p>
          <a:p>
            <a:pPr marL="0" indent="0">
              <a:buNone/>
            </a:pPr>
            <a:r>
              <a:rPr lang="fr-CA" sz="1800" dirty="0"/>
              <a:t>Norme : </a:t>
            </a:r>
            <a:r>
              <a:rPr lang="fr-CA" sz="1800" b="0" dirty="0"/>
              <a:t>chap</a:t>
            </a:r>
            <a:r>
              <a:rPr lang="fr-CA" sz="1800" dirty="0"/>
              <a:t>. 3475 </a:t>
            </a:r>
            <a:r>
              <a:rPr lang="fr-CA" sz="1800" i="1" dirty="0"/>
              <a:t>Sortie d’actifs à long terme et abandon d’activités</a:t>
            </a:r>
            <a:endParaRPr lang="fr-CA" sz="1800" b="0" i="1" dirty="0"/>
          </a:p>
          <a:p>
            <a:r>
              <a:rPr lang="fr-CA" sz="1800" b="0" dirty="0"/>
              <a:t>une entreprise doit</a:t>
            </a:r>
            <a:r>
              <a:rPr lang="fr-CA" sz="1800" dirty="0"/>
              <a:t> </a:t>
            </a:r>
            <a:r>
              <a:rPr lang="fr-CA" sz="1800" b="0" dirty="0"/>
              <a:t>classer un actif long terme comme détenu en vue de la vente si sa valeur comptable est recouvrée principalement par le biais d'une transaction de vente plutôt que par l'utilisation continue.</a:t>
            </a:r>
          </a:p>
          <a:p>
            <a:pPr lvl="1"/>
            <a:r>
              <a:rPr lang="fr-CA" sz="1600" b="0" dirty="0"/>
              <a:t>ABC N’UTILISE PLUS L’ÉQUIPEMENT ET L’A MIS EN VENTE</a:t>
            </a:r>
          </a:p>
          <a:p>
            <a:pPr marL="0" indent="0" algn="l">
              <a:buNone/>
            </a:pPr>
            <a:r>
              <a:rPr lang="fr-CA" sz="1400" b="0" i="0" dirty="0">
                <a:solidFill>
                  <a:srgbClr val="0070C0"/>
                </a:solidFill>
                <a:effectLst/>
                <a:latin typeface="Gotham A"/>
              </a:rPr>
              <a:t>.08    </a:t>
            </a:r>
            <a:r>
              <a:rPr lang="fr-CA" sz="1400" b="0" i="1" dirty="0">
                <a:solidFill>
                  <a:srgbClr val="0070C0"/>
                </a:solidFill>
                <a:effectLst/>
                <a:latin typeface="Gotham A"/>
              </a:rPr>
              <a:t>Un actif à long terme à vendre doit être classé comme destiné à la vente dans la période au cours de laquelle tous les critères suivants sont atteints :</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a)     les membres de la direction qui ont le pouvoir d'approuver l'opération se sont engagés à poursuivre un plan de vente;</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b)     l'actif est disponible à la vente immédiatement dans son état actuel, sous réserve seulement des conditions habituelles de vente applicables à de tels actifs;</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c)     un programme actif de recherche d'acquéreur ainsi que d'autres démarches nécessaires pour la bonne exécution du plan de vente ont été entrepris;</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d)     la vente est probable et devrait répondre, dans un délai d'un an, aux critères de constatation des ventes, sous réserve des exceptions permises au paragraphe </a:t>
            </a:r>
            <a:r>
              <a:rPr lang="fr-CA" sz="1400" b="0" i="0" u="none" strike="noStrike" dirty="0">
                <a:solidFill>
                  <a:srgbClr val="0070C0"/>
                </a:solidFill>
                <a:effectLst/>
                <a:latin typeface="Gotham A"/>
                <a:hlinkClick r:id="rId3">
                  <a:extLst>
                    <a:ext uri="{A12FA001-AC4F-418D-AE19-62706E023703}">
                      <ahyp:hlinkClr xmlns:ahyp="http://schemas.microsoft.com/office/drawing/2018/hyperlinkcolor" val="tx"/>
                    </a:ext>
                  </a:extLst>
                </a:hlinkClick>
              </a:rPr>
              <a:t>3475.09</a:t>
            </a:r>
            <a:r>
              <a:rPr lang="fr-CA" sz="1400" b="0" i="1" dirty="0">
                <a:solidFill>
                  <a:srgbClr val="0070C0"/>
                </a:solidFill>
                <a:effectLst/>
                <a:latin typeface="Gotham A"/>
              </a:rPr>
              <a:t>;</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e)     l'actif fait l'objet d'efforts de vente soutenus et est offert à un prix qui est raisonnable compte tenu de sa juste valeur actuelle;</a:t>
            </a:r>
            <a:endParaRPr lang="fr-CA" sz="1400" b="0" i="0" dirty="0">
              <a:solidFill>
                <a:srgbClr val="0070C0"/>
              </a:solidFill>
              <a:effectLst/>
              <a:latin typeface="Gotham A"/>
            </a:endParaRPr>
          </a:p>
          <a:p>
            <a:pPr marL="0" indent="0" algn="l">
              <a:buNone/>
            </a:pPr>
            <a:r>
              <a:rPr lang="fr-CA" sz="1400" b="0" i="1" dirty="0">
                <a:solidFill>
                  <a:srgbClr val="0070C0"/>
                </a:solidFill>
                <a:effectLst/>
                <a:latin typeface="Gotham A"/>
              </a:rPr>
              <a:t>f)     les démarches qu'il reste à faire pour la bonne exécution du plan donnent à croire qu'il est peu probable que le plan sera modifié de façon significative ou abandonné.</a:t>
            </a:r>
            <a:endParaRPr lang="fr-CA" sz="1200" b="0" i="0" dirty="0">
              <a:solidFill>
                <a:srgbClr val="0070C0"/>
              </a:solidFill>
              <a:effectLst/>
              <a:latin typeface="Gotham A"/>
            </a:endParaRPr>
          </a:p>
          <a:p>
            <a:pPr marL="625475" lvl="1" indent="-168275"/>
            <a:r>
              <a:rPr lang="fr-CA" sz="1600" b="0" dirty="0"/>
              <a:t>A) OUI, décision prise par la direction de vendre ; B) OUI, équipement n’est plus utilisé ; C) OUI, annonce site web ; D) OUI, ventes similaires en quelques mois par le passé ; E) OUI site web et prix « dans le marché » ; F) OUI équipement remplacé</a:t>
            </a:r>
          </a:p>
          <a:p>
            <a:r>
              <a:rPr lang="fr-CA" sz="1600" dirty="0"/>
              <a:t>Mesure : </a:t>
            </a:r>
            <a:r>
              <a:rPr lang="fr-CA" sz="1200" b="0" i="0" dirty="0">
                <a:solidFill>
                  <a:srgbClr val="444444"/>
                </a:solidFill>
                <a:effectLst/>
                <a:latin typeface="Gotham A"/>
              </a:rPr>
              <a:t>.</a:t>
            </a:r>
            <a:r>
              <a:rPr lang="fr-CA" sz="1600" b="0" i="0" dirty="0">
                <a:solidFill>
                  <a:srgbClr val="0070C0"/>
                </a:solidFill>
                <a:effectLst/>
                <a:latin typeface="Gotham A"/>
              </a:rPr>
              <a:t>13    </a:t>
            </a:r>
            <a:r>
              <a:rPr lang="fr-CA" sz="1600" b="0" i="1" dirty="0">
                <a:solidFill>
                  <a:srgbClr val="0070C0"/>
                </a:solidFill>
                <a:effectLst/>
                <a:latin typeface="Gotham A"/>
              </a:rPr>
              <a:t>Un actif à long terme classé comme destiné à la vente doit être évalué au plus faible de sa valeur comptable et de sa juste valeur diminuée des frais de vente. Un actif à long terme ne doit pas être amorti lorsqu'il est classé comme destiné à la vente (…)</a:t>
            </a:r>
            <a:endParaRPr lang="fr-CA" sz="1600" b="0" dirty="0">
              <a:solidFill>
                <a:srgbClr val="0070C0"/>
              </a:solidFill>
            </a:endParaRPr>
          </a:p>
          <a:p>
            <a:pPr lvl="1"/>
            <a:r>
              <a:rPr lang="fr-CA" sz="1400" b="0" dirty="0"/>
              <a:t>L’ÉQUIPEMENT A UNE VALEUR COMPTABLE DE 37 975 $. Attention l’amortissement devait cesser au 30 septembre </a:t>
            </a:r>
            <a:r>
              <a:rPr lang="fr-CA" sz="1400" b="0" dirty="0">
                <a:solidFill>
                  <a:srgbClr val="FF0000"/>
                </a:solidFill>
              </a:rPr>
              <a:t>– écriture de correction</a:t>
            </a:r>
            <a:endParaRPr lang="fr-CA" sz="1400" b="0" dirty="0"/>
          </a:p>
          <a:p>
            <a:pPr lvl="1"/>
            <a:r>
              <a:rPr lang="fr-CA" sz="1400" b="0" dirty="0"/>
              <a:t>PRIX DE VENTE PRÉVU : 30 000 $, COÛTS DE LA VENTE - 10 % du prix de vente (3 000 $) = 27 000 $.</a:t>
            </a:r>
            <a:r>
              <a:rPr lang="fr-CA" sz="1400" b="0" dirty="0">
                <a:solidFill>
                  <a:srgbClr val="FF0000"/>
                </a:solidFill>
              </a:rPr>
              <a:t> - écriture</a:t>
            </a:r>
            <a:endParaRPr lang="fr-CA" sz="1400" b="0" dirty="0"/>
          </a:p>
          <a:p>
            <a:pPr lvl="1"/>
            <a:endParaRPr lang="fr-CA" sz="1400" dirty="0"/>
          </a:p>
          <a:p>
            <a:pPr marL="0" lvl="1" indent="0">
              <a:buNone/>
            </a:pPr>
            <a:r>
              <a:rPr lang="fr-CA" sz="1800" b="0" dirty="0"/>
              <a:t>Présenter l’équipement distinctement du poste Immobilisations et déprécier l’équipement pour un montant de 10 975 $.</a:t>
            </a:r>
            <a:endParaRPr lang="fr-CA" sz="900" dirty="0"/>
          </a:p>
        </p:txBody>
      </p:sp>
      <p:sp>
        <p:nvSpPr>
          <p:cNvPr id="4" name="ZoneTexte 3">
            <a:extLst>
              <a:ext uri="{FF2B5EF4-FFF2-40B4-BE49-F238E27FC236}">
                <a16:creationId xmlns:a16="http://schemas.microsoft.com/office/drawing/2014/main" id="{891EFBCA-66D8-409D-AF07-E2BDF5D3E924}"/>
              </a:ext>
            </a:extLst>
          </p:cNvPr>
          <p:cNvSpPr txBox="1"/>
          <p:nvPr/>
        </p:nvSpPr>
        <p:spPr>
          <a:xfrm>
            <a:off x="220979" y="1181028"/>
            <a:ext cx="690154" cy="338554"/>
          </a:xfrm>
          <a:prstGeom prst="rect">
            <a:avLst/>
          </a:prstGeom>
          <a:noFill/>
        </p:spPr>
        <p:txBody>
          <a:bodyPr wrap="square" rtlCol="0">
            <a:spAutoFit/>
          </a:bodyPr>
          <a:lstStyle/>
          <a:p>
            <a:r>
              <a:rPr lang="fr-CA" sz="1600" dirty="0">
                <a:solidFill>
                  <a:srgbClr val="FF0000"/>
                </a:solidFill>
              </a:rPr>
              <a:t>Enjeu</a:t>
            </a:r>
            <a:endParaRPr lang="fr-FR" sz="1600" dirty="0">
              <a:solidFill>
                <a:srgbClr val="FF0000"/>
              </a:solidFill>
            </a:endParaRPr>
          </a:p>
        </p:txBody>
      </p:sp>
      <p:sp>
        <p:nvSpPr>
          <p:cNvPr id="5" name="ZoneTexte 4">
            <a:extLst>
              <a:ext uri="{FF2B5EF4-FFF2-40B4-BE49-F238E27FC236}">
                <a16:creationId xmlns:a16="http://schemas.microsoft.com/office/drawing/2014/main" id="{75C04561-4B68-48FB-B64B-9C0F3AEE9392}"/>
              </a:ext>
            </a:extLst>
          </p:cNvPr>
          <p:cNvSpPr txBox="1"/>
          <p:nvPr/>
        </p:nvSpPr>
        <p:spPr>
          <a:xfrm>
            <a:off x="148045" y="1762240"/>
            <a:ext cx="836023" cy="338554"/>
          </a:xfrm>
          <a:prstGeom prst="rect">
            <a:avLst/>
          </a:prstGeom>
          <a:noFill/>
        </p:spPr>
        <p:txBody>
          <a:bodyPr wrap="square" rtlCol="0">
            <a:spAutoFit/>
          </a:bodyPr>
          <a:lstStyle/>
          <a:p>
            <a:r>
              <a:rPr lang="fr-CA" sz="1600" dirty="0">
                <a:solidFill>
                  <a:srgbClr val="FF0000"/>
                </a:solidFill>
              </a:rPr>
              <a:t>Analyse</a:t>
            </a:r>
            <a:endParaRPr lang="fr-FR" sz="1600" dirty="0">
              <a:solidFill>
                <a:srgbClr val="FF0000"/>
              </a:solidFill>
            </a:endParaRPr>
          </a:p>
        </p:txBody>
      </p:sp>
      <p:sp>
        <p:nvSpPr>
          <p:cNvPr id="6" name="ZoneTexte 5">
            <a:extLst>
              <a:ext uri="{FF2B5EF4-FFF2-40B4-BE49-F238E27FC236}">
                <a16:creationId xmlns:a16="http://schemas.microsoft.com/office/drawing/2014/main" id="{6A07F12A-004A-4E80-A014-6BDB6A4CDB6A}"/>
              </a:ext>
            </a:extLst>
          </p:cNvPr>
          <p:cNvSpPr txBox="1"/>
          <p:nvPr/>
        </p:nvSpPr>
        <p:spPr>
          <a:xfrm>
            <a:off x="148045" y="5690792"/>
            <a:ext cx="1171303" cy="338554"/>
          </a:xfrm>
          <a:prstGeom prst="rect">
            <a:avLst/>
          </a:prstGeom>
          <a:noFill/>
        </p:spPr>
        <p:txBody>
          <a:bodyPr wrap="square" rtlCol="0">
            <a:spAutoFit/>
          </a:bodyPr>
          <a:lstStyle/>
          <a:p>
            <a:r>
              <a:rPr lang="fr-CA" sz="1600" dirty="0">
                <a:solidFill>
                  <a:srgbClr val="FF0000"/>
                </a:solidFill>
              </a:rPr>
              <a:t>Conclusion</a:t>
            </a:r>
            <a:endParaRPr lang="fr-FR" sz="1600" dirty="0">
              <a:solidFill>
                <a:srgbClr val="FF0000"/>
              </a:solidFill>
            </a:endParaRPr>
          </a:p>
        </p:txBody>
      </p:sp>
    </p:spTree>
    <p:extLst>
      <p:ext uri="{BB962C8B-B14F-4D97-AF65-F5344CB8AC3E}">
        <p14:creationId xmlns:p14="http://schemas.microsoft.com/office/powerpoint/2010/main" val="940088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dirty="0"/>
              <a:t>Mise en situation #2 - IFRS</a:t>
            </a:r>
          </a:p>
        </p:txBody>
      </p:sp>
      <p:sp>
        <p:nvSpPr>
          <p:cNvPr id="3" name="Espace réservé du contenu 2"/>
          <p:cNvSpPr>
            <a:spLocks noGrp="1"/>
          </p:cNvSpPr>
          <p:nvPr>
            <p:ph idx="1"/>
          </p:nvPr>
        </p:nvSpPr>
        <p:spPr/>
        <p:txBody>
          <a:bodyPr>
            <a:normAutofit/>
          </a:bodyPr>
          <a:lstStyle/>
          <a:p>
            <a:pPr marL="0" indent="0">
              <a:buNone/>
            </a:pPr>
            <a:r>
              <a:rPr lang="fr-CA" b="0" dirty="0"/>
              <a:t>Le 31 mars 2024, ABC acquiert un brevet de XYZ à un coût de 80 000 $. Elle a également dû payer des honoraires de 3 000 $ à ses avocats pour compléter la transaction. ABC estime que la durée de vie utile du brevet est de cinq ans.</a:t>
            </a:r>
          </a:p>
          <a:p>
            <a:pPr marL="0" indent="0">
              <a:buNone/>
            </a:pPr>
            <a:r>
              <a:rPr lang="fr-CA" b="0" dirty="0"/>
              <a:t>Toutefois, au 31 décembre 2024, ABC apprend qu’un concurrent a développé une nouvelle technologie qui rend son brevet moins intéressant. La direction d’ABC revoit la valeur de son brevet et estime qu’elle n’est plus que de 20 000 $.</a:t>
            </a:r>
            <a:endParaRPr lang="fr-CA" dirty="0"/>
          </a:p>
        </p:txBody>
      </p:sp>
    </p:spTree>
    <p:extLst>
      <p:ext uri="{BB962C8B-B14F-4D97-AF65-F5344CB8AC3E}">
        <p14:creationId xmlns:p14="http://schemas.microsoft.com/office/powerpoint/2010/main" val="404102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57618"/>
          </a:xfrm>
        </p:spPr>
        <p:txBody>
          <a:bodyPr>
            <a:normAutofit fontScale="90000"/>
          </a:bodyPr>
          <a:lstStyle/>
          <a:p>
            <a:pPr algn="ctr"/>
            <a:r>
              <a:rPr lang="fr-CA" dirty="0"/>
              <a:t>Mise en situation #2 – IFRS</a:t>
            </a:r>
            <a:br>
              <a:rPr lang="fr-CA" dirty="0"/>
            </a:br>
            <a:r>
              <a:rPr lang="fr-CA" dirty="0"/>
              <a:t>Éléments de solution</a:t>
            </a:r>
          </a:p>
        </p:txBody>
      </p:sp>
      <p:sp>
        <p:nvSpPr>
          <p:cNvPr id="3" name="Espace réservé du contenu 2"/>
          <p:cNvSpPr>
            <a:spLocks noGrp="1"/>
          </p:cNvSpPr>
          <p:nvPr>
            <p:ph idx="1"/>
          </p:nvPr>
        </p:nvSpPr>
        <p:spPr>
          <a:xfrm>
            <a:off x="838200" y="1423686"/>
            <a:ext cx="10622872" cy="5322802"/>
          </a:xfrm>
        </p:spPr>
        <p:txBody>
          <a:bodyPr>
            <a:normAutofit fontScale="92500" lnSpcReduction="20000"/>
          </a:bodyPr>
          <a:lstStyle/>
          <a:p>
            <a:r>
              <a:rPr lang="fr-CA" sz="2000" b="0" dirty="0"/>
              <a:t>Selon IAS 38 </a:t>
            </a:r>
            <a:r>
              <a:rPr lang="fr-CA" sz="2000" b="0" i="1" dirty="0"/>
              <a:t>Immobilisations incorporelles</a:t>
            </a:r>
            <a:r>
              <a:rPr lang="fr-CA" sz="2000" b="0" dirty="0"/>
              <a:t>, un actif incorporel acquis doit être comptabilisé à l’actif si</a:t>
            </a:r>
          </a:p>
          <a:p>
            <a:pPr marL="285750" indent="-285750">
              <a:buFontTx/>
              <a:buChar char="-"/>
            </a:pPr>
            <a:r>
              <a:rPr lang="fr-CA" sz="2000" b="0" dirty="0"/>
              <a:t>Actif identifiable, soit séparable ou droits contractuels</a:t>
            </a:r>
          </a:p>
          <a:p>
            <a:pPr marL="534988" lvl="1" indent="-177800">
              <a:buFontTx/>
              <a:buChar char="-"/>
            </a:pPr>
            <a:r>
              <a:rPr lang="fr-CA" sz="2000" dirty="0"/>
              <a:t>DROITS CONTRACTUELS EN VERTU DU BREVET</a:t>
            </a:r>
            <a:endParaRPr lang="fr-CA" sz="2000" b="0" dirty="0"/>
          </a:p>
          <a:p>
            <a:pPr marL="285750" indent="-285750">
              <a:buFontTx/>
              <a:buChar char="-"/>
            </a:pPr>
            <a:r>
              <a:rPr lang="fr-CA" sz="2000" b="0" dirty="0"/>
              <a:t>Contrôle les avantages économiques liés à l’actif</a:t>
            </a:r>
          </a:p>
          <a:p>
            <a:pPr marL="534988" lvl="1" indent="-177800">
              <a:buFontTx/>
              <a:buChar char="-"/>
            </a:pPr>
            <a:r>
              <a:rPr lang="fr-CA" sz="2000" dirty="0"/>
              <a:t>OUI BREVET EMPÊCHE LES TIERS D’UTILISER CE QUI EST PROTÉGÉ</a:t>
            </a:r>
            <a:endParaRPr lang="fr-CA" sz="2000" b="0" dirty="0"/>
          </a:p>
          <a:p>
            <a:pPr marL="285750" indent="-285750">
              <a:buFontTx/>
              <a:buChar char="-"/>
            </a:pPr>
            <a:r>
              <a:rPr lang="fr-CA" sz="2000" b="0" dirty="0"/>
              <a:t>Avantages économiques futurs</a:t>
            </a:r>
          </a:p>
          <a:p>
            <a:pPr marL="534988" lvl="1" indent="-177800">
              <a:buFontTx/>
              <a:buChar char="-"/>
              <a:tabLst>
                <a:tab pos="534988" algn="l"/>
              </a:tabLst>
            </a:pPr>
            <a:r>
              <a:rPr lang="fr-CA" sz="2000" dirty="0"/>
              <a:t>OUI, LORSQUE ABC A ACHETÉ LE BREVET, ELLE A ÉVALUÉ QUE LES AVANTAGES ÉTAIENT D’AU MOINS 80 000 $.</a:t>
            </a:r>
          </a:p>
          <a:p>
            <a:pPr marL="0" lvl="1" indent="0">
              <a:buNone/>
            </a:pPr>
            <a:r>
              <a:rPr lang="fr-CA" sz="2000" dirty="0"/>
              <a:t>Donc, il s’agit d’un actif incorporel. </a:t>
            </a:r>
          </a:p>
          <a:p>
            <a:pPr marL="0" lvl="1" indent="0">
              <a:buNone/>
            </a:pPr>
            <a:r>
              <a:rPr lang="fr-CA" sz="2000" dirty="0"/>
              <a:t>Analyse des critères de comptabilisation : </a:t>
            </a:r>
          </a:p>
          <a:p>
            <a:pPr marL="342900" lvl="1" indent="-342900">
              <a:buFontTx/>
              <a:buChar char="-"/>
            </a:pPr>
            <a:r>
              <a:rPr lang="fr-CA" sz="2000" dirty="0"/>
              <a:t>Avantages économiques futures : OUI car…</a:t>
            </a:r>
          </a:p>
          <a:p>
            <a:pPr marL="342900" lvl="1" indent="-342900">
              <a:buFontTx/>
              <a:buChar char="-"/>
            </a:pPr>
            <a:r>
              <a:rPr lang="fr-CA" sz="2000" dirty="0"/>
              <a:t>Mesure : OUI car…</a:t>
            </a:r>
          </a:p>
          <a:p>
            <a:pPr marL="0" lvl="1" indent="0">
              <a:buNone/>
            </a:pPr>
            <a:r>
              <a:rPr lang="fr-CA" sz="2000" dirty="0"/>
              <a:t>Au coût de 80 000 $ il faut ajouter les honoraires des avocats de 3 000 $ car frais sont liés à l’acquisition du brevet.</a:t>
            </a:r>
          </a:p>
          <a:p>
            <a:pPr marL="0" lvl="1" indent="0">
              <a:buNone/>
            </a:pPr>
            <a:endParaRPr lang="fr-CA" sz="2000" b="0" dirty="0"/>
          </a:p>
          <a:p>
            <a:pPr marL="0" lvl="1" indent="0">
              <a:buNone/>
            </a:pPr>
            <a:r>
              <a:rPr lang="fr-CA" sz="2000" dirty="0"/>
              <a:t>Actif incorporel à durée déterminée, donc amortissement : linéaire (83 000 / 5 ans * 9/12 mois) = 12 450 $</a:t>
            </a:r>
          </a:p>
          <a:p>
            <a:pPr marL="0" lvl="1" indent="0">
              <a:buNone/>
            </a:pPr>
            <a:r>
              <a:rPr lang="fr-CA" sz="2000" b="0" dirty="0"/>
              <a:t>Selon IAS 36, doit déprécier un actif dont la valeur est inférieure à la valeur comptable. Au 31 décembre 2024, les avantages futurs sont estimés à 20 000 $ </a:t>
            </a:r>
            <a:r>
              <a:rPr lang="fr-CA" sz="2000" b="0" i="1" dirty="0"/>
              <a:t>(à étayer)</a:t>
            </a:r>
            <a:r>
              <a:rPr lang="fr-CA" sz="2000" b="0" dirty="0"/>
              <a:t> : charge et réduction de l’actif incorporel de 50 550 $ pour ramener la valeur à 20 000 $.</a:t>
            </a:r>
            <a:endParaRPr lang="fr-CA" sz="2000" dirty="0"/>
          </a:p>
        </p:txBody>
      </p:sp>
    </p:spTree>
    <p:extLst>
      <p:ext uri="{BB962C8B-B14F-4D97-AF65-F5344CB8AC3E}">
        <p14:creationId xmlns:p14="http://schemas.microsoft.com/office/powerpoint/2010/main" val="392744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57618"/>
          </a:xfrm>
        </p:spPr>
        <p:txBody>
          <a:bodyPr>
            <a:normAutofit fontScale="90000"/>
          </a:bodyPr>
          <a:lstStyle/>
          <a:p>
            <a:pPr algn="ctr"/>
            <a:r>
              <a:rPr lang="fr-CA" dirty="0"/>
              <a:t>Mise en situation #2 – NCECF</a:t>
            </a:r>
            <a:br>
              <a:rPr lang="fr-CA" dirty="0"/>
            </a:br>
            <a:r>
              <a:rPr lang="fr-CA" dirty="0"/>
              <a:t>Éléments de solution</a:t>
            </a:r>
          </a:p>
        </p:txBody>
      </p:sp>
      <p:sp>
        <p:nvSpPr>
          <p:cNvPr id="3" name="Espace réservé du contenu 2"/>
          <p:cNvSpPr>
            <a:spLocks noGrp="1"/>
          </p:cNvSpPr>
          <p:nvPr>
            <p:ph idx="1"/>
          </p:nvPr>
        </p:nvSpPr>
        <p:spPr>
          <a:xfrm>
            <a:off x="838199" y="1423686"/>
            <a:ext cx="10691949" cy="5216811"/>
          </a:xfrm>
        </p:spPr>
        <p:txBody>
          <a:bodyPr>
            <a:normAutofit fontScale="77500" lnSpcReduction="20000"/>
          </a:bodyPr>
          <a:lstStyle/>
          <a:p>
            <a:pPr marL="0" indent="0">
              <a:buNone/>
            </a:pPr>
            <a:r>
              <a:rPr lang="fr-CA" sz="2000" dirty="0"/>
              <a:t>Brevet : mesure</a:t>
            </a:r>
          </a:p>
          <a:p>
            <a:pPr marL="0" indent="0">
              <a:buNone/>
            </a:pPr>
            <a:endParaRPr lang="fr-CA" sz="2000" dirty="0"/>
          </a:p>
          <a:p>
            <a:pPr marL="0" indent="0">
              <a:spcBef>
                <a:spcPts val="0"/>
              </a:spcBef>
              <a:buNone/>
            </a:pPr>
            <a:r>
              <a:rPr lang="fr-CA" sz="2000" b="0" dirty="0"/>
              <a:t>Selon chap. 3064 </a:t>
            </a:r>
            <a:r>
              <a:rPr lang="fr-CA" sz="2000" b="0" i="1" dirty="0"/>
              <a:t>Écarts d’acquisition et actifs incorporels</a:t>
            </a:r>
            <a:r>
              <a:rPr lang="fr-CA" sz="2000" b="0" dirty="0"/>
              <a:t>, un actif incorporel acquis doit être comptabilisé à l’actif si</a:t>
            </a:r>
          </a:p>
          <a:p>
            <a:pPr marL="285750" indent="-285750">
              <a:buFontTx/>
              <a:buChar char="-"/>
            </a:pPr>
            <a:r>
              <a:rPr lang="fr-CA" sz="2000" b="0" dirty="0"/>
              <a:t>Actif identifiable, soit séparable ou droits contractuels</a:t>
            </a:r>
          </a:p>
          <a:p>
            <a:pPr marL="534988" lvl="1" indent="-177800">
              <a:buFontTx/>
              <a:buChar char="-"/>
            </a:pPr>
            <a:r>
              <a:rPr lang="fr-CA" sz="2000" dirty="0"/>
              <a:t>DROITS CONTRACTUELS EN VERTU DU BREVET</a:t>
            </a:r>
            <a:endParaRPr lang="fr-CA" sz="2000" b="0" dirty="0"/>
          </a:p>
          <a:p>
            <a:pPr marL="285750" indent="-285750">
              <a:buFontTx/>
              <a:buChar char="-"/>
            </a:pPr>
            <a:r>
              <a:rPr lang="fr-CA" sz="2000" b="0" dirty="0"/>
              <a:t>Contrôle les avantages économiques liés à l’actif</a:t>
            </a:r>
          </a:p>
          <a:p>
            <a:pPr marL="534988" lvl="1" indent="-177800">
              <a:buFontTx/>
              <a:buChar char="-"/>
            </a:pPr>
            <a:r>
              <a:rPr lang="fr-CA" sz="2000" dirty="0"/>
              <a:t>OUI BREVET EMPÊCHE LES TIERS D’UTILISER CE QUI EST PROTÉGÉ</a:t>
            </a:r>
            <a:endParaRPr lang="fr-CA" sz="2000" b="0" dirty="0"/>
          </a:p>
          <a:p>
            <a:pPr marL="285750" indent="-285750">
              <a:buFontTx/>
              <a:buChar char="-"/>
            </a:pPr>
            <a:r>
              <a:rPr lang="fr-CA" sz="2000" b="0" dirty="0"/>
              <a:t>Avantages économiques futurs</a:t>
            </a:r>
          </a:p>
          <a:p>
            <a:pPr marL="534988" lvl="1" indent="-177800">
              <a:buFontTx/>
              <a:buChar char="-"/>
              <a:tabLst>
                <a:tab pos="534988" algn="l"/>
              </a:tabLst>
            </a:pPr>
            <a:r>
              <a:rPr lang="fr-CA" sz="2000" dirty="0"/>
              <a:t>OUI, LORSQUE ABC A ACHETÉ LE BREVET, ELLE A ÉVALUÉ QUE LES AVANTAGES ÉTAIENT D’AU MOINS 80 000 $.</a:t>
            </a:r>
          </a:p>
          <a:p>
            <a:pPr marL="0" lvl="1" indent="0">
              <a:buNone/>
            </a:pPr>
            <a:r>
              <a:rPr lang="fr-CA" sz="2000" dirty="0"/>
              <a:t>Donc, il s’agit d’un actif incorporel. </a:t>
            </a:r>
          </a:p>
          <a:p>
            <a:pPr marL="0" lvl="1" indent="0">
              <a:buNone/>
            </a:pPr>
            <a:r>
              <a:rPr lang="fr-CA" sz="2000" dirty="0"/>
              <a:t>Analyse des critères de comptabilisation : </a:t>
            </a:r>
          </a:p>
          <a:p>
            <a:pPr marL="342900" lvl="1" indent="-342900">
              <a:buFontTx/>
              <a:buChar char="-"/>
            </a:pPr>
            <a:r>
              <a:rPr lang="fr-CA" sz="2000" dirty="0"/>
              <a:t>Avantages économiques futures : OUI car…</a:t>
            </a:r>
          </a:p>
          <a:p>
            <a:pPr marL="342900" lvl="1" indent="-342900">
              <a:buFontTx/>
              <a:buChar char="-"/>
            </a:pPr>
            <a:r>
              <a:rPr lang="fr-CA" sz="2000" dirty="0"/>
              <a:t>Mesure : OUI car…</a:t>
            </a:r>
          </a:p>
          <a:p>
            <a:pPr marL="0" lvl="1" indent="0">
              <a:buNone/>
            </a:pPr>
            <a:r>
              <a:rPr lang="fr-CA" sz="2000" dirty="0"/>
              <a:t>Au coût de 80 000 $ il faut ajouter les honoraires des avocats de 3 000 $ car frais sont liés à l’acquisition du brevet.</a:t>
            </a:r>
          </a:p>
          <a:p>
            <a:pPr marL="0" lvl="1" indent="0">
              <a:buNone/>
            </a:pPr>
            <a:endParaRPr lang="fr-CA" sz="2000" b="0" dirty="0"/>
          </a:p>
          <a:p>
            <a:pPr marL="0" lvl="1" indent="0">
              <a:buNone/>
            </a:pPr>
            <a:r>
              <a:rPr lang="fr-CA" sz="2000" dirty="0"/>
              <a:t>Actif incorporel à durée déterminée, donc amortissement : linéaire (83 000 / 5 ans * 9/12 mois) = 12 450 $</a:t>
            </a:r>
          </a:p>
          <a:p>
            <a:pPr marL="0" lvl="1" indent="0">
              <a:buNone/>
            </a:pPr>
            <a:r>
              <a:rPr lang="fr-CA" sz="2000" b="0" dirty="0"/>
              <a:t>Selon chap. 3063 </a:t>
            </a:r>
            <a:r>
              <a:rPr lang="fr-CA" sz="2000" b="0" i="1" dirty="0"/>
              <a:t>Dépréciation d’actifs à long terme</a:t>
            </a:r>
            <a:r>
              <a:rPr lang="fr-CA" sz="2000" b="0" dirty="0"/>
              <a:t>, </a:t>
            </a:r>
            <a:r>
              <a:rPr lang="fr-CA" sz="2100" b="0" i="0" dirty="0">
                <a:solidFill>
                  <a:srgbClr val="0070C0"/>
                </a:solidFill>
                <a:effectLst/>
                <a:latin typeface="Gotham A"/>
              </a:rPr>
              <a:t>.04    </a:t>
            </a:r>
            <a:r>
              <a:rPr lang="fr-CA" sz="2100" b="0" i="1" dirty="0">
                <a:solidFill>
                  <a:srgbClr val="0070C0"/>
                </a:solidFill>
                <a:effectLst/>
                <a:latin typeface="Gotham A"/>
              </a:rPr>
              <a:t>Une perte de valeur doit être constatée lorsque la valeur comptable d'un actif à long terme n'est pas recouvrable et qu'elle excède la juste valeur de l'actif.</a:t>
            </a:r>
            <a:r>
              <a:rPr lang="fr-CA" sz="2000" b="0" dirty="0"/>
              <a:t> Au 31 décembre, les avantages futurs sont estimés à 20 000 $ </a:t>
            </a:r>
            <a:r>
              <a:rPr lang="fr-CA" sz="2000" b="0" i="1" dirty="0"/>
              <a:t>(à étayer)</a:t>
            </a:r>
            <a:r>
              <a:rPr lang="fr-CA" sz="2000" b="0" dirty="0"/>
              <a:t> </a:t>
            </a:r>
            <a:endParaRPr lang="fr-CA" sz="2000" dirty="0"/>
          </a:p>
          <a:p>
            <a:pPr marL="0" lvl="1" indent="0">
              <a:buNone/>
            </a:pPr>
            <a:endParaRPr lang="fr-CA" sz="2000" b="0" dirty="0"/>
          </a:p>
          <a:p>
            <a:pPr marL="0" lvl="1" indent="0">
              <a:buNone/>
            </a:pPr>
            <a:r>
              <a:rPr lang="fr-CA" sz="2000" b="0" dirty="0"/>
              <a:t>Il faut comptabiliser une charge et réduction de l’actif incorporel de 50 550 $ pour ramener la valeur à 20 000 $.</a:t>
            </a:r>
            <a:endParaRPr lang="fr-CA" sz="2000" dirty="0"/>
          </a:p>
        </p:txBody>
      </p:sp>
      <p:sp>
        <p:nvSpPr>
          <p:cNvPr id="4" name="ZoneTexte 3">
            <a:extLst>
              <a:ext uri="{FF2B5EF4-FFF2-40B4-BE49-F238E27FC236}">
                <a16:creationId xmlns:a16="http://schemas.microsoft.com/office/drawing/2014/main" id="{6DDAFDBD-633A-4D45-8430-461162B32555}"/>
              </a:ext>
            </a:extLst>
          </p:cNvPr>
          <p:cNvSpPr txBox="1"/>
          <p:nvPr/>
        </p:nvSpPr>
        <p:spPr>
          <a:xfrm>
            <a:off x="114299" y="1869521"/>
            <a:ext cx="836023" cy="338554"/>
          </a:xfrm>
          <a:prstGeom prst="rect">
            <a:avLst/>
          </a:prstGeom>
          <a:noFill/>
        </p:spPr>
        <p:txBody>
          <a:bodyPr wrap="square" rtlCol="0">
            <a:spAutoFit/>
          </a:bodyPr>
          <a:lstStyle/>
          <a:p>
            <a:r>
              <a:rPr lang="fr-CA" sz="1600" dirty="0">
                <a:solidFill>
                  <a:srgbClr val="FF0000"/>
                </a:solidFill>
              </a:rPr>
              <a:t>Analyse</a:t>
            </a:r>
            <a:endParaRPr lang="fr-FR" sz="1600" dirty="0">
              <a:solidFill>
                <a:srgbClr val="FF0000"/>
              </a:solidFill>
            </a:endParaRPr>
          </a:p>
        </p:txBody>
      </p:sp>
      <p:sp>
        <p:nvSpPr>
          <p:cNvPr id="5" name="ZoneTexte 4">
            <a:extLst>
              <a:ext uri="{FF2B5EF4-FFF2-40B4-BE49-F238E27FC236}">
                <a16:creationId xmlns:a16="http://schemas.microsoft.com/office/drawing/2014/main" id="{BB491BDD-9638-4B0E-AE99-DE40CD8D5013}"/>
              </a:ext>
            </a:extLst>
          </p:cNvPr>
          <p:cNvSpPr txBox="1"/>
          <p:nvPr/>
        </p:nvSpPr>
        <p:spPr>
          <a:xfrm>
            <a:off x="114299" y="1399302"/>
            <a:ext cx="836023" cy="338554"/>
          </a:xfrm>
          <a:prstGeom prst="rect">
            <a:avLst/>
          </a:prstGeom>
          <a:noFill/>
        </p:spPr>
        <p:txBody>
          <a:bodyPr wrap="square" rtlCol="0">
            <a:spAutoFit/>
          </a:bodyPr>
          <a:lstStyle/>
          <a:p>
            <a:r>
              <a:rPr lang="fr-CA" sz="1600" dirty="0">
                <a:solidFill>
                  <a:srgbClr val="FF0000"/>
                </a:solidFill>
              </a:rPr>
              <a:t>Enjeu</a:t>
            </a:r>
            <a:endParaRPr lang="fr-FR" sz="1600" dirty="0">
              <a:solidFill>
                <a:srgbClr val="FF0000"/>
              </a:solidFill>
            </a:endParaRPr>
          </a:p>
        </p:txBody>
      </p:sp>
      <p:sp>
        <p:nvSpPr>
          <p:cNvPr id="6" name="ZoneTexte 5">
            <a:extLst>
              <a:ext uri="{FF2B5EF4-FFF2-40B4-BE49-F238E27FC236}">
                <a16:creationId xmlns:a16="http://schemas.microsoft.com/office/drawing/2014/main" id="{9FADADDF-7753-479E-A5C6-C5B10C4978B4}"/>
              </a:ext>
            </a:extLst>
          </p:cNvPr>
          <p:cNvSpPr txBox="1"/>
          <p:nvPr/>
        </p:nvSpPr>
        <p:spPr>
          <a:xfrm>
            <a:off x="77678" y="5923500"/>
            <a:ext cx="1129939" cy="338554"/>
          </a:xfrm>
          <a:prstGeom prst="rect">
            <a:avLst/>
          </a:prstGeom>
          <a:noFill/>
        </p:spPr>
        <p:txBody>
          <a:bodyPr wrap="square" rtlCol="0">
            <a:spAutoFit/>
          </a:bodyPr>
          <a:lstStyle/>
          <a:p>
            <a:r>
              <a:rPr lang="fr-CA" sz="1600" dirty="0">
                <a:solidFill>
                  <a:srgbClr val="FF0000"/>
                </a:solidFill>
              </a:rPr>
              <a:t>Conclusion</a:t>
            </a:r>
            <a:endParaRPr lang="fr-FR" sz="1600" dirty="0">
              <a:solidFill>
                <a:srgbClr val="FF0000"/>
              </a:solidFill>
            </a:endParaRPr>
          </a:p>
        </p:txBody>
      </p:sp>
    </p:spTree>
    <p:extLst>
      <p:ext uri="{BB962C8B-B14F-4D97-AF65-F5344CB8AC3E}">
        <p14:creationId xmlns:p14="http://schemas.microsoft.com/office/powerpoint/2010/main" val="3789020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EC8CAF-4582-C2B2-6DB5-76E6D7CC78D1}"/>
              </a:ext>
            </a:extLst>
          </p:cNvPr>
          <p:cNvSpPr>
            <a:spLocks noGrp="1"/>
          </p:cNvSpPr>
          <p:nvPr>
            <p:ph type="title"/>
          </p:nvPr>
        </p:nvSpPr>
        <p:spPr/>
        <p:txBody>
          <a:bodyPr/>
          <a:lstStyle/>
          <a:p>
            <a:r>
              <a:rPr lang="fr-CA" dirty="0"/>
              <a:t>Expliquer le modèle de réévaluation?</a:t>
            </a:r>
            <a:endParaRPr lang="fr-FR" dirty="0"/>
          </a:p>
        </p:txBody>
      </p:sp>
      <p:sp>
        <p:nvSpPr>
          <p:cNvPr id="3" name="Espace réservé du contenu 2">
            <a:extLst>
              <a:ext uri="{FF2B5EF4-FFF2-40B4-BE49-F238E27FC236}">
                <a16:creationId xmlns:a16="http://schemas.microsoft.com/office/drawing/2014/main" id="{382CE252-9B5A-9D75-402A-C4CA1FC7BB63}"/>
              </a:ext>
            </a:extLst>
          </p:cNvPr>
          <p:cNvSpPr>
            <a:spLocks noGrp="1"/>
          </p:cNvSpPr>
          <p:nvPr>
            <p:ph idx="1"/>
          </p:nvPr>
        </p:nvSpPr>
        <p:spPr/>
        <p:txBody>
          <a:bodyPr/>
          <a:lstStyle/>
          <a:p>
            <a:r>
              <a:rPr lang="fr-CA" dirty="0"/>
              <a:t>Modèle possible selon IAS 16 et IAS 38</a:t>
            </a:r>
          </a:p>
          <a:p>
            <a:pPr lvl="1"/>
            <a:r>
              <a:rPr lang="fr-CA" dirty="0"/>
              <a:t>Nécessite un marché actif</a:t>
            </a:r>
          </a:p>
          <a:p>
            <a:pPr lvl="1"/>
            <a:endParaRPr lang="fr-CA" dirty="0"/>
          </a:p>
          <a:p>
            <a:pPr marL="342900" lvl="1" indent="-342900"/>
            <a:r>
              <a:rPr lang="fr-CA" dirty="0"/>
              <a:t>Faire une illustration avec des écritures?</a:t>
            </a:r>
          </a:p>
          <a:p>
            <a:pPr marL="800100" lvl="2" indent="-342900"/>
            <a:r>
              <a:rPr lang="fr-CA" dirty="0"/>
              <a:t>Gain : va dans AERG</a:t>
            </a:r>
          </a:p>
          <a:p>
            <a:pPr marL="1257300" lvl="3" indent="-342900"/>
            <a:r>
              <a:rPr lang="fr-CA" dirty="0"/>
              <a:t>Si pas de dépréciation à compenser dans résultat net</a:t>
            </a:r>
          </a:p>
          <a:p>
            <a:pPr marL="800100" lvl="2" indent="-342900"/>
            <a:r>
              <a:rPr lang="fr-CA" dirty="0"/>
              <a:t>Perte : va au résultat net</a:t>
            </a:r>
          </a:p>
          <a:p>
            <a:pPr marL="1257300" lvl="3" indent="-342900"/>
            <a:r>
              <a:rPr lang="fr-CA" dirty="0"/>
              <a:t>Si pas de solde gain dans AERG</a:t>
            </a:r>
            <a:endParaRPr lang="fr-FR" dirty="0"/>
          </a:p>
        </p:txBody>
      </p:sp>
    </p:spTree>
    <p:extLst>
      <p:ext uri="{BB962C8B-B14F-4D97-AF65-F5344CB8AC3E}">
        <p14:creationId xmlns:p14="http://schemas.microsoft.com/office/powerpoint/2010/main" val="137714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Cas - Exercice de rédaction, avec application de la démarche d’analyse de cas</a:t>
            </a:r>
            <a:endParaRPr lang="fr-CA" dirty="0"/>
          </a:p>
        </p:txBody>
      </p:sp>
      <p:sp>
        <p:nvSpPr>
          <p:cNvPr id="3" name="Espace réservé du contenu 2"/>
          <p:cNvSpPr>
            <a:spLocks noGrp="1"/>
          </p:cNvSpPr>
          <p:nvPr>
            <p:ph idx="1"/>
          </p:nvPr>
        </p:nvSpPr>
        <p:spPr/>
        <p:txBody>
          <a:bodyPr>
            <a:normAutofit/>
          </a:bodyPr>
          <a:lstStyle/>
          <a:p>
            <a:pPr marL="0" indent="0">
              <a:buNone/>
            </a:pPr>
            <a:endParaRPr lang="fr-CA" dirty="0"/>
          </a:p>
          <a:p>
            <a:r>
              <a:rPr lang="fr-CA" dirty="0"/>
              <a:t>Cas Vélo à rédiger individuellement</a:t>
            </a:r>
            <a:r>
              <a:rPr lang="fr-CA" i="1" dirty="0"/>
              <a:t> (25 minutes)</a:t>
            </a:r>
            <a:r>
              <a:rPr lang="fr-CA" dirty="0"/>
              <a:t>, puis échange en sous-groupe de 3 étudiants</a:t>
            </a:r>
          </a:p>
          <a:p>
            <a:pPr lvl="1"/>
            <a:r>
              <a:rPr lang="fr-CA" dirty="0"/>
              <a:t>préparation d’une solution commune?</a:t>
            </a:r>
            <a:endParaRPr lang="fr-CA" dirty="0">
              <a:solidFill>
                <a:srgbClr val="FF0000"/>
              </a:solidFill>
            </a:endParaRPr>
          </a:p>
          <a:p>
            <a:r>
              <a:rPr lang="fr-CA" dirty="0"/>
              <a:t>Rétro en groupe</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28</a:t>
            </a:fld>
            <a:endParaRPr lang="fr-FR"/>
          </a:p>
        </p:txBody>
      </p:sp>
    </p:spTree>
    <p:extLst>
      <p:ext uri="{BB962C8B-B14F-4D97-AF65-F5344CB8AC3E}">
        <p14:creationId xmlns:p14="http://schemas.microsoft.com/office/powerpoint/2010/main" val="1179352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Cas - Cas additionnel après la séance</a:t>
            </a:r>
            <a:r>
              <a:rPr lang="fr-CA" dirty="0"/>
              <a:t> </a:t>
            </a:r>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Cas </a:t>
            </a:r>
            <a:r>
              <a:rPr lang="fr-CA" dirty="0" err="1"/>
              <a:t>Ferretti</a:t>
            </a:r>
            <a:endParaRPr lang="fr-CA" dirty="0"/>
          </a:p>
          <a:p>
            <a:r>
              <a:rPr lang="fr-CA" dirty="0"/>
              <a:t>Rédaction d’une solution </a:t>
            </a:r>
            <a:r>
              <a:rPr lang="fr-CA" sz="2400" i="1" dirty="0"/>
              <a:t>(pas de temps limite) – IFRS et NCECF</a:t>
            </a:r>
          </a:p>
          <a:p>
            <a:r>
              <a:rPr lang="fr-CA" dirty="0"/>
              <a:t>et faire une auto-correction </a:t>
            </a:r>
            <a:r>
              <a:rPr lang="fr-CA" i="1" dirty="0">
                <a:solidFill>
                  <a:srgbClr val="FF0000"/>
                </a:solidFill>
              </a:rPr>
              <a:t>(ne pas remettre)</a:t>
            </a:r>
          </a:p>
          <a:p>
            <a:pPr lvl="1"/>
            <a:r>
              <a:rPr lang="fr-CA" dirty="0"/>
              <a:t>Travail d’auto-correction : à l’aide de la solution, commentez votre copie</a:t>
            </a:r>
            <a:endParaRPr lang="fr-CA" i="1" dirty="0"/>
          </a:p>
          <a:p>
            <a:pPr lvl="1"/>
            <a:r>
              <a:rPr lang="fr-CA" i="1" dirty="0"/>
              <a:t>À la fin de votre rapport, identifier</a:t>
            </a:r>
          </a:p>
          <a:p>
            <a:pPr lvl="2"/>
            <a:r>
              <a:rPr lang="fr-CA" i="1" dirty="0"/>
              <a:t>Éléments bien réussis</a:t>
            </a:r>
          </a:p>
          <a:p>
            <a:pPr lvl="2"/>
            <a:r>
              <a:rPr lang="fr-CA" i="1" dirty="0"/>
              <a:t>Éléments à travailler</a:t>
            </a:r>
          </a:p>
          <a:p>
            <a:pPr lvl="2"/>
            <a:r>
              <a:rPr lang="fr-CA" i="1" dirty="0"/>
              <a:t>Votre plan d’action</a:t>
            </a:r>
          </a:p>
          <a:p>
            <a:pPr marL="630238" lvl="2" indent="-185738"/>
            <a:r>
              <a:rPr lang="fr-CA" dirty="0"/>
              <a:t>Réécrire ou compléter en bleu les sections moins réussies, le cas échéant, directement sur le document de rédaction</a:t>
            </a:r>
          </a:p>
          <a:p>
            <a:pPr marL="630238" lvl="2" indent="-185738"/>
            <a:r>
              <a:rPr lang="fr-CA" dirty="0"/>
              <a:t>Documents : </a:t>
            </a:r>
            <a:r>
              <a:rPr lang="fr-CA" i="1" dirty="0">
                <a:solidFill>
                  <a:srgbClr val="0070C0"/>
                </a:solidFill>
              </a:rPr>
              <a:t>énoncé + solution IFRS + solution NCECF</a:t>
            </a:r>
            <a:endParaRPr lang="fr-CA" i="1" dirty="0"/>
          </a:p>
          <a:p>
            <a:pPr lvl="2"/>
            <a:endParaRPr lang="fr-CA" i="1" dirty="0"/>
          </a:p>
          <a:p>
            <a:pPr marL="342900" lvl="2" indent="-342900">
              <a:buFont typeface="Wingdings" panose="05000000000000000000" pitchFamily="2" charset="2"/>
              <a:buChar char="Ø"/>
            </a:pPr>
            <a:r>
              <a:rPr lang="fr-FR" dirty="0">
                <a:solidFill>
                  <a:srgbClr val="0070C0"/>
                </a:solidFill>
              </a:rPr>
              <a:t>Cas Horizon également disponible</a:t>
            </a:r>
            <a:endParaRPr lang="fr-CA" i="1"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29</a:t>
            </a:fld>
            <a:endParaRPr lang="fr-FR"/>
          </a:p>
        </p:txBody>
      </p:sp>
    </p:spTree>
    <p:extLst>
      <p:ext uri="{BB962C8B-B14F-4D97-AF65-F5344CB8AC3E}">
        <p14:creationId xmlns:p14="http://schemas.microsoft.com/office/powerpoint/2010/main" val="3384350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Cas – ONM et OEA</a:t>
            </a:r>
            <a:endParaRPr lang="fr-CA" dirty="0"/>
          </a:p>
        </p:txBody>
      </p:sp>
      <p:sp>
        <p:nvSpPr>
          <p:cNvPr id="3" name="Espace réservé du contenu 2"/>
          <p:cNvSpPr>
            <a:spLocks noGrp="1"/>
          </p:cNvSpPr>
          <p:nvPr>
            <p:ph idx="1"/>
          </p:nvPr>
        </p:nvSpPr>
        <p:spPr>
          <a:xfrm>
            <a:off x="838200" y="1825624"/>
            <a:ext cx="10515600" cy="4530725"/>
          </a:xfrm>
        </p:spPr>
        <p:txBody>
          <a:bodyPr>
            <a:normAutofit fontScale="85000" lnSpcReduction="20000"/>
          </a:bodyPr>
          <a:lstStyle/>
          <a:p>
            <a:r>
              <a:rPr lang="fr-CA" b="1" i="1" dirty="0"/>
              <a:t>Avant de rédiger ce cas, lire les normes portant sur les opérations non monétaires et sur les opérations entre apparentés – NCECF</a:t>
            </a:r>
          </a:p>
          <a:p>
            <a:endParaRPr lang="fr-CA" b="1" i="1" dirty="0"/>
          </a:p>
          <a:p>
            <a:r>
              <a:rPr lang="fr-CA" dirty="0"/>
              <a:t>Cas Cinquième roue </a:t>
            </a:r>
          </a:p>
          <a:p>
            <a:r>
              <a:rPr lang="fr-CA" dirty="0"/>
              <a:t>Rédaction d’une solution </a:t>
            </a:r>
            <a:r>
              <a:rPr lang="fr-CA" i="1" dirty="0"/>
              <a:t>(</a:t>
            </a:r>
            <a:r>
              <a:rPr lang="fr-CA" i="1" dirty="0">
                <a:solidFill>
                  <a:srgbClr val="FF0000"/>
                </a:solidFill>
              </a:rPr>
              <a:t>Ne pas remettre</a:t>
            </a:r>
            <a:r>
              <a:rPr lang="fr-CA" i="1" dirty="0"/>
              <a:t>)</a:t>
            </a:r>
            <a:endParaRPr lang="fr-CA" dirty="0"/>
          </a:p>
          <a:p>
            <a:r>
              <a:rPr lang="fr-CA" dirty="0"/>
              <a:t>et faire une auto-correction</a:t>
            </a:r>
            <a:endParaRPr lang="fr-CA" i="1" dirty="0"/>
          </a:p>
          <a:p>
            <a:pPr lvl="1"/>
            <a:r>
              <a:rPr lang="fr-CA" dirty="0"/>
              <a:t>Travail d’auto-correction : à l’aide de la solution qui sera disponible, commentez votre copie en rouge </a:t>
            </a:r>
            <a:r>
              <a:rPr lang="fr-CA" i="1" dirty="0"/>
              <a:t>(pas de grille de correction)</a:t>
            </a:r>
          </a:p>
          <a:p>
            <a:pPr lvl="1"/>
            <a:r>
              <a:rPr lang="fr-CA" i="1" dirty="0"/>
              <a:t>À la fin de votre rapport, identifier</a:t>
            </a:r>
          </a:p>
          <a:p>
            <a:pPr lvl="2"/>
            <a:r>
              <a:rPr lang="fr-CA" i="1" dirty="0"/>
              <a:t>Éléments bien réussis</a:t>
            </a:r>
          </a:p>
          <a:p>
            <a:pPr lvl="2"/>
            <a:r>
              <a:rPr lang="fr-CA" i="1" dirty="0"/>
              <a:t>Éléments à travailler </a:t>
            </a:r>
          </a:p>
          <a:p>
            <a:pPr lvl="2"/>
            <a:r>
              <a:rPr lang="fr-CA" i="1" dirty="0"/>
              <a:t>Votre plan d’action</a:t>
            </a:r>
          </a:p>
          <a:p>
            <a:pPr lvl="2"/>
            <a:endParaRPr lang="fr-CA" i="1" dirty="0"/>
          </a:p>
          <a:p>
            <a:pPr lvl="2">
              <a:buFont typeface="Wingdings" panose="05000000000000000000" pitchFamily="2" charset="2"/>
              <a:buChar char="Ø"/>
            </a:pPr>
            <a:r>
              <a:rPr lang="fr-CA" i="1" dirty="0">
                <a:solidFill>
                  <a:srgbClr val="0070C0"/>
                </a:solidFill>
              </a:rPr>
              <a:t>Séance 3 avant la séance document disponible portant sur ONM et OEA</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30</a:t>
            </a:fld>
            <a:endParaRPr lang="fr-FR"/>
          </a:p>
        </p:txBody>
      </p:sp>
    </p:spTree>
    <p:extLst>
      <p:ext uri="{BB962C8B-B14F-4D97-AF65-F5344CB8AC3E}">
        <p14:creationId xmlns:p14="http://schemas.microsoft.com/office/powerpoint/2010/main" val="182422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3C0BAD-45A5-423B-931A-773F815B7434}"/>
              </a:ext>
            </a:extLst>
          </p:cNvPr>
          <p:cNvSpPr>
            <a:spLocks noGrp="1"/>
          </p:cNvSpPr>
          <p:nvPr>
            <p:ph type="title"/>
          </p:nvPr>
        </p:nvSpPr>
        <p:spPr/>
        <p:txBody>
          <a:bodyPr/>
          <a:lstStyle/>
          <a:p>
            <a:r>
              <a:rPr lang="fr-CA" dirty="0"/>
              <a:t>Travail après la séance</a:t>
            </a:r>
            <a:endParaRPr lang="fr-FR" dirty="0"/>
          </a:p>
        </p:txBody>
      </p:sp>
      <p:sp>
        <p:nvSpPr>
          <p:cNvPr id="3" name="Espace réservé du contenu 2">
            <a:extLst>
              <a:ext uri="{FF2B5EF4-FFF2-40B4-BE49-F238E27FC236}">
                <a16:creationId xmlns:a16="http://schemas.microsoft.com/office/drawing/2014/main" id="{65C3222E-A14B-4B60-98EE-C06BED03A278}"/>
              </a:ext>
            </a:extLst>
          </p:cNvPr>
          <p:cNvSpPr>
            <a:spLocks noGrp="1"/>
          </p:cNvSpPr>
          <p:nvPr>
            <p:ph idx="1"/>
          </p:nvPr>
        </p:nvSpPr>
        <p:spPr/>
        <p:txBody>
          <a:bodyPr>
            <a:normAutofit/>
          </a:bodyPr>
          <a:lstStyle/>
          <a:p>
            <a:r>
              <a:rPr lang="fr-CA" dirty="0"/>
              <a:t>Travail en lien avec l’intelligence artificielle – en équipe de 4</a:t>
            </a:r>
            <a:endParaRPr lang="fr-CA" dirty="0">
              <a:solidFill>
                <a:srgbClr val="0070C0"/>
              </a:solidFill>
            </a:endParaRPr>
          </a:p>
          <a:p>
            <a:pPr lvl="1"/>
            <a:r>
              <a:rPr lang="fr-CA" b="1" dirty="0">
                <a:solidFill>
                  <a:srgbClr val="FF0000"/>
                </a:solidFill>
              </a:rPr>
              <a:t>Finaliser les équipes?</a:t>
            </a:r>
            <a:endParaRPr lang="fr-CA" i="1" dirty="0">
              <a:solidFill>
                <a:srgbClr val="FF0000"/>
              </a:solidFill>
            </a:endParaRPr>
          </a:p>
          <a:p>
            <a:pPr lvl="1"/>
            <a:r>
              <a:rPr lang="fr-CA" i="1" dirty="0">
                <a:solidFill>
                  <a:srgbClr val="FF0000"/>
                </a:solidFill>
              </a:rPr>
              <a:t>À remettre</a:t>
            </a:r>
          </a:p>
          <a:p>
            <a:pPr lvl="2"/>
            <a:r>
              <a:rPr lang="fr-CA" dirty="0"/>
              <a:t>Mentionné lors revue document introduction séance 1</a:t>
            </a:r>
          </a:p>
          <a:p>
            <a:pPr lvl="3"/>
            <a:r>
              <a:rPr lang="fr-CA" dirty="0"/>
              <a:t>Pertinence de la question + validation réponse obtenue </a:t>
            </a:r>
          </a:p>
          <a:p>
            <a:pPr lvl="4"/>
            <a:r>
              <a:rPr lang="fr-CA" dirty="0"/>
              <a:t>Intelligence artificielle, version gratuite</a:t>
            </a:r>
          </a:p>
          <a:p>
            <a:pPr lvl="4"/>
            <a:r>
              <a:rPr lang="fr-CA" dirty="0"/>
              <a:t>Question posée en français</a:t>
            </a:r>
          </a:p>
          <a:p>
            <a:pPr lvl="4"/>
            <a:r>
              <a:rPr lang="fr-CA" dirty="0"/>
              <a:t>Portant sur les NCECF</a:t>
            </a:r>
          </a:p>
          <a:p>
            <a:pPr lvl="4"/>
            <a:endParaRPr lang="fr-CA" dirty="0"/>
          </a:p>
          <a:p>
            <a:pPr lvl="2"/>
            <a:endParaRPr lang="fr-FR" dirty="0"/>
          </a:p>
        </p:txBody>
      </p:sp>
    </p:spTree>
    <p:extLst>
      <p:ext uri="{BB962C8B-B14F-4D97-AF65-F5344CB8AC3E}">
        <p14:creationId xmlns:p14="http://schemas.microsoft.com/office/powerpoint/2010/main" val="2139665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Différents documents dans la section « avant la séance » pour la séance 3</a:t>
            </a:r>
            <a:endParaRPr lang="fr-CA" dirty="0"/>
          </a:p>
        </p:txBody>
      </p:sp>
      <p:sp>
        <p:nvSpPr>
          <p:cNvPr id="3" name="Espace réservé du contenu 2"/>
          <p:cNvSpPr>
            <a:spLocks noGrp="1"/>
          </p:cNvSpPr>
          <p:nvPr>
            <p:ph idx="1"/>
          </p:nvPr>
        </p:nvSpPr>
        <p:spPr>
          <a:xfrm>
            <a:off x="838200" y="1825624"/>
            <a:ext cx="10515600" cy="4530725"/>
          </a:xfrm>
        </p:spPr>
        <p:txBody>
          <a:bodyPr>
            <a:normAutofit/>
          </a:bodyPr>
          <a:lstStyle/>
          <a:p>
            <a:r>
              <a:rPr lang="fr-CA" dirty="0"/>
              <a:t>ONM OEA : revoir les normes et au besoin revoir ce document avant la rédaction du cas Cinquième roue</a:t>
            </a:r>
          </a:p>
          <a:p>
            <a:r>
              <a:rPr lang="fr-CA" dirty="0"/>
              <a:t>IFRS 13 Juste valeur – </a:t>
            </a:r>
            <a:r>
              <a:rPr lang="fr-CA" i="1" dirty="0"/>
              <a:t>(revue des connaissances, donc optionnel) -</a:t>
            </a:r>
            <a:r>
              <a:rPr lang="fr-CA" dirty="0"/>
              <a:t>selon si vu ou non dans Actifs et résultats</a:t>
            </a:r>
          </a:p>
          <a:p>
            <a:r>
              <a:rPr lang="fr-CA" dirty="0"/>
              <a:t>Différents textes sur la gestion des résultats – revue « </a:t>
            </a:r>
            <a:r>
              <a:rPr lang="fr-CA" i="1" dirty="0"/>
              <a:t>survol des points importants</a:t>
            </a:r>
            <a:r>
              <a:rPr lang="fr-CA" dirty="0"/>
              <a:t> »</a:t>
            </a:r>
          </a:p>
          <a:p>
            <a:endParaRPr lang="fr-CA" dirty="0"/>
          </a:p>
          <a:p>
            <a:r>
              <a:rPr lang="fr-CA" dirty="0"/>
              <a:t>Au besoin : </a:t>
            </a:r>
            <a:r>
              <a:rPr lang="fr-CA" i="1" dirty="0"/>
              <a:t>(revue des connaissances, donc </a:t>
            </a:r>
            <a:r>
              <a:rPr lang="fr-CA" i="1" dirty="0">
                <a:solidFill>
                  <a:srgbClr val="0070C0"/>
                </a:solidFill>
              </a:rPr>
              <a:t>optionnel</a:t>
            </a:r>
            <a:r>
              <a:rPr lang="fr-CA" i="1" dirty="0"/>
              <a:t>)</a:t>
            </a:r>
            <a:endParaRPr lang="fr-CA" dirty="0"/>
          </a:p>
          <a:p>
            <a:pPr lvl="1"/>
            <a:r>
              <a:rPr lang="fr-CA" dirty="0"/>
              <a:t>Stocks</a:t>
            </a:r>
          </a:p>
          <a:p>
            <a:pPr lvl="1"/>
            <a:r>
              <a:rPr lang="fr-CA" dirty="0"/>
              <a:t>Avantages du personnel</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32</a:t>
            </a:fld>
            <a:endParaRPr lang="fr-FR"/>
          </a:p>
        </p:txBody>
      </p:sp>
    </p:spTree>
    <p:extLst>
      <p:ext uri="{BB962C8B-B14F-4D97-AF65-F5344CB8AC3E}">
        <p14:creationId xmlns:p14="http://schemas.microsoft.com/office/powerpoint/2010/main" val="16806005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1962</TotalTime>
  <Words>4635</Words>
  <Application>Microsoft Office PowerPoint</Application>
  <PresentationFormat>Grand écran</PresentationFormat>
  <Paragraphs>365</Paragraphs>
  <Slides>32</Slides>
  <Notes>11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32</vt:i4>
      </vt:variant>
    </vt:vector>
  </HeadingPairs>
  <TitlesOfParts>
    <vt:vector size="39" baseType="lpstr">
      <vt:lpstr>Aptos</vt:lpstr>
      <vt:lpstr>Arial</vt:lpstr>
      <vt:lpstr>Calibri</vt:lpstr>
      <vt:lpstr>Calibri Light</vt:lpstr>
      <vt:lpstr>Gotham A</vt:lpstr>
      <vt:lpstr>Wingdings</vt:lpstr>
      <vt:lpstr>Thème Office</vt:lpstr>
      <vt:lpstr>40938 Séance 2 Analyse de cas démarche</vt:lpstr>
      <vt:lpstr>Analyse de cas - EFC</vt:lpstr>
      <vt:lpstr>Démarche analyse de cas</vt:lpstr>
      <vt:lpstr>1- Comprendre le contexte</vt:lpstr>
      <vt:lpstr>2- Identifier les parties prenantes</vt:lpstr>
      <vt:lpstr>3- Identifier les enjeux comptables</vt:lpstr>
      <vt:lpstr>4- Classer les enjeux</vt:lpstr>
      <vt:lpstr>5- Rédiger le rapport</vt:lpstr>
      <vt:lpstr>Exercice 1 : IFRS / NCECF</vt:lpstr>
      <vt:lpstr>Exercice 1</vt:lpstr>
      <vt:lpstr>Exercice 2</vt:lpstr>
      <vt:lpstr>Exercice 2</vt:lpstr>
      <vt:lpstr>Exercice 2 - NCECF</vt:lpstr>
      <vt:lpstr>Exercice 2 - IFRS</vt:lpstr>
      <vt:lpstr>Correction par compétence</vt:lpstr>
      <vt:lpstr>Correction par compétence</vt:lpstr>
      <vt:lpstr>Correction par compétence</vt:lpstr>
      <vt:lpstr>Correction par compétence</vt:lpstr>
      <vt:lpstr>CPA - EFC</vt:lpstr>
      <vt:lpstr>Cas - Exercice de rédaction, avec application de la démarche d’analyse de cas</vt:lpstr>
      <vt:lpstr>Mise en situation #1 - IFRS</vt:lpstr>
      <vt:lpstr>Mise en situation #1 – IFRS Éléments de solution</vt:lpstr>
      <vt:lpstr>Mise en situation #1 – NCECF Éléments de solution</vt:lpstr>
      <vt:lpstr>Mise en situation #2 - IFRS</vt:lpstr>
      <vt:lpstr>Mise en situation #2 – IFRS Éléments de solution</vt:lpstr>
      <vt:lpstr>Mise en situation #2 – NCECF Éléments de solution</vt:lpstr>
      <vt:lpstr>Expliquer le modèle de réévaluation?</vt:lpstr>
      <vt:lpstr>Cas - Exercice de rédaction, avec application de la démarche d’analyse de cas</vt:lpstr>
      <vt:lpstr>Cas - Cas additionnel après la séance </vt:lpstr>
      <vt:lpstr>Cas – ONM et OEA</vt:lpstr>
      <vt:lpstr>Travail après la séance</vt:lpstr>
      <vt:lpstr>Différents documents dans la section « avant la séance » pour la séance 3</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27</cp:revision>
  <cp:lastPrinted>2019-08-28T15:41:07Z</cp:lastPrinted>
  <dcterms:created xsi:type="dcterms:W3CDTF">2019-08-28T15:26:01Z</dcterms:created>
  <dcterms:modified xsi:type="dcterms:W3CDTF">2025-01-14T19:33:22Z</dcterms:modified>
</cp:coreProperties>
</file>