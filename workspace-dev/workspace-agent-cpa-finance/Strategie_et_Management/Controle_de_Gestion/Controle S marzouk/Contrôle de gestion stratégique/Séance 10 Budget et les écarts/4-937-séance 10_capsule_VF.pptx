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1.xml" ContentType="application/vnd.openxmlformats-officedocument.presentationml.tags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3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9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tags/tag73.xml" ContentType="application/vnd.openxmlformats-officedocument.presentationml.tag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tags/tag74.xml" ContentType="application/vnd.openxmlformats-officedocument.presentationml.tags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1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omments/comment6.xml" ContentType="application/vnd.openxmlformats-officedocument.presentationml.comment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5" r:id="rId1"/>
    <p:sldMasterId id="2147484057" r:id="rId2"/>
    <p:sldMasterId id="2147484104" r:id="rId3"/>
    <p:sldMasterId id="2147484116" r:id="rId4"/>
    <p:sldMasterId id="2147484137" r:id="rId5"/>
  </p:sldMasterIdLst>
  <p:notesMasterIdLst>
    <p:notesMasterId r:id="rId41"/>
  </p:notesMasterIdLst>
  <p:handoutMasterIdLst>
    <p:handoutMasterId r:id="rId42"/>
  </p:handoutMasterIdLst>
  <p:sldIdLst>
    <p:sldId id="261" r:id="rId6"/>
    <p:sldId id="298" r:id="rId7"/>
    <p:sldId id="299" r:id="rId8"/>
    <p:sldId id="307" r:id="rId9"/>
    <p:sldId id="467" r:id="rId10"/>
    <p:sldId id="468" r:id="rId11"/>
    <p:sldId id="469" r:id="rId12"/>
    <p:sldId id="470" r:id="rId13"/>
    <p:sldId id="472" r:id="rId14"/>
    <p:sldId id="473" r:id="rId15"/>
    <p:sldId id="282" r:id="rId16"/>
    <p:sldId id="474" r:id="rId17"/>
    <p:sldId id="308" r:id="rId18"/>
    <p:sldId id="490" r:id="rId19"/>
    <p:sldId id="492" r:id="rId20"/>
    <p:sldId id="491" r:id="rId21"/>
    <p:sldId id="494" r:id="rId22"/>
    <p:sldId id="475" r:id="rId23"/>
    <p:sldId id="476" r:id="rId24"/>
    <p:sldId id="477" r:id="rId25"/>
    <p:sldId id="478" r:id="rId26"/>
    <p:sldId id="479" r:id="rId27"/>
    <p:sldId id="480" r:id="rId28"/>
    <p:sldId id="461" r:id="rId29"/>
    <p:sldId id="481" r:id="rId30"/>
    <p:sldId id="357" r:id="rId31"/>
    <p:sldId id="482" r:id="rId32"/>
    <p:sldId id="486" r:id="rId33"/>
    <p:sldId id="487" r:id="rId34"/>
    <p:sldId id="488" r:id="rId35"/>
    <p:sldId id="333" r:id="rId36"/>
    <p:sldId id="272" r:id="rId37"/>
    <p:sldId id="489" r:id="rId38"/>
    <p:sldId id="398" r:id="rId39"/>
    <p:sldId id="485" r:id="rId40"/>
  </p:sldIdLst>
  <p:sldSz cx="12192000" cy="6858000"/>
  <p:notesSz cx="7077075" cy="9369425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BD0EF365-5BB4-4C86-BFA4-B1FC660217D0}">
          <p14:sldIdLst>
            <p14:sldId id="261"/>
            <p14:sldId id="298"/>
            <p14:sldId id="299"/>
            <p14:sldId id="307"/>
            <p14:sldId id="467"/>
            <p14:sldId id="468"/>
            <p14:sldId id="469"/>
            <p14:sldId id="470"/>
            <p14:sldId id="472"/>
            <p14:sldId id="473"/>
            <p14:sldId id="282"/>
            <p14:sldId id="474"/>
            <p14:sldId id="308"/>
            <p14:sldId id="490"/>
            <p14:sldId id="492"/>
            <p14:sldId id="491"/>
            <p14:sldId id="494"/>
            <p14:sldId id="475"/>
            <p14:sldId id="476"/>
            <p14:sldId id="477"/>
            <p14:sldId id="478"/>
            <p14:sldId id="479"/>
            <p14:sldId id="480"/>
            <p14:sldId id="461"/>
            <p14:sldId id="481"/>
            <p14:sldId id="357"/>
          </p14:sldIdLst>
        </p14:section>
        <p14:section name="Section sans titre" id="{5717AF0D-9589-45D5-B335-A1CB9C840EBE}">
          <p14:sldIdLst>
            <p14:sldId id="482"/>
            <p14:sldId id="486"/>
            <p14:sldId id="487"/>
            <p14:sldId id="488"/>
            <p14:sldId id="333"/>
            <p14:sldId id="272"/>
            <p14:sldId id="489"/>
            <p14:sldId id="398"/>
            <p14:sldId id="4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eur" initials="A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DCEB"/>
    <a:srgbClr val="CDE7ED"/>
    <a:srgbClr val="DFECCE"/>
    <a:srgbClr val="DEEC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3072D1-1C7C-483C-BB0E-00C31A313648}" v="43" dt="2022-11-07T21:38:12.4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25" autoAdjust="0"/>
    <p:restoredTop sz="89659" autoAdjust="0"/>
  </p:normalViewPr>
  <p:slideViewPr>
    <p:cSldViewPr snapToGrid="0">
      <p:cViewPr varScale="1">
        <p:scale>
          <a:sx n="70" d="100"/>
          <a:sy n="70" d="100"/>
        </p:scale>
        <p:origin x="72" y="39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2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commentAuthors" Target="commentAuthors.xml"/><Relationship Id="rId48" Type="http://schemas.microsoft.com/office/2015/10/relationships/revisionInfo" Target="revisionInfo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notesMaster" Target="notesMasters/notes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2-11-02T15:23:09.763" idx="3">
    <p:pos x="10" y="10"/>
    <p:text>Il me semble que cette diapo devrait apparaître après la présentation des écarts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2-11-02T15:24:46.616" idx="4">
    <p:pos x="10" y="10"/>
    <p:text>plutôt que de présenter cette diapo, je pense que je le dirais dans la présentation de la diapo précédente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2-11-02T15:26:01.400" idx="5">
    <p:pos x="10" y="10"/>
    <p:text>j'irais directement à la décomposition des écarts de la diapositive suivante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2-10-11T15:20:17.028" idx="2">
    <p:pos x="10" y="10"/>
    <p:text>ME, peut-on mettre ici un lien vers le fichier intitulé "Suivi Budgétaire_non modifié" qui apparaît à la séance 10 sur One Drive? Cela m'apparaîtrait plus utile que ce tableau, qui fait un peu "charabia" dans une capsule.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2-11-02T15:27:06.364" idx="6">
    <p:pos x="10" y="10"/>
    <p:text/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2-11-02T15:46:03.962" idx="8">
    <p:pos x="10" y="10"/>
    <p:text>à placer après la diapo 29?</p:text>
    <p:extLst>
      <p:ext uri="{C676402C-5697-4E1C-873F-D02D1690AC5C}">
        <p15:threadingInfo xmlns:p15="http://schemas.microsoft.com/office/powerpoint/2012/main" timeZoneBias="24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DB35B6-17DC-4F60-8E69-E3D0FD8AA001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CC7DE4-6415-4290-88A6-10E06D50CF1A}">
      <dgm:prSet/>
      <dgm:spPr/>
      <dgm:t>
        <a:bodyPr/>
        <a:lstStyle/>
        <a:p>
          <a:r>
            <a:rPr lang="fr-CA" dirty="0"/>
            <a:t>Budget des investissements </a:t>
          </a:r>
          <a:endParaRPr lang="en-US" dirty="0"/>
        </a:p>
      </dgm:t>
    </dgm:pt>
    <dgm:pt modelId="{DFB33162-BF32-4381-8A3F-F62688AA86AE}" type="parTrans" cxnId="{F4AFE4B5-0434-4241-B824-38E5788E1736}">
      <dgm:prSet/>
      <dgm:spPr/>
      <dgm:t>
        <a:bodyPr/>
        <a:lstStyle/>
        <a:p>
          <a:endParaRPr lang="en-US"/>
        </a:p>
      </dgm:t>
    </dgm:pt>
    <dgm:pt modelId="{507C9FA4-F9D8-4E9A-92B7-7C0DB2B56A87}" type="sibTrans" cxnId="{F4AFE4B5-0434-4241-B824-38E5788E1736}">
      <dgm:prSet/>
      <dgm:spPr/>
      <dgm:t>
        <a:bodyPr/>
        <a:lstStyle/>
        <a:p>
          <a:endParaRPr lang="en-US"/>
        </a:p>
      </dgm:t>
    </dgm:pt>
    <dgm:pt modelId="{FC7EE65A-1385-4C13-9CAF-76943620702E}">
      <dgm:prSet/>
      <dgm:spPr/>
      <dgm:t>
        <a:bodyPr/>
        <a:lstStyle/>
        <a:p>
          <a:r>
            <a:rPr lang="fr-CA" dirty="0"/>
            <a:t>Prévoir les </a:t>
          </a:r>
          <a:r>
            <a:rPr lang="fr-CA" b="1" dirty="0"/>
            <a:t>investissements requis </a:t>
          </a:r>
          <a:r>
            <a:rPr lang="fr-CA" b="0" dirty="0"/>
            <a:t>pour le</a:t>
          </a:r>
          <a:r>
            <a:rPr lang="fr-CA" b="1" dirty="0"/>
            <a:t> maintien </a:t>
          </a:r>
          <a:r>
            <a:rPr lang="fr-CA" dirty="0"/>
            <a:t>ou </a:t>
          </a:r>
          <a:r>
            <a:rPr lang="fr-CA" b="1" dirty="0"/>
            <a:t>l’ajout </a:t>
          </a:r>
          <a:r>
            <a:rPr lang="fr-CA" dirty="0"/>
            <a:t>aux infrastructures de l’organisation, en vue d’en </a:t>
          </a:r>
          <a:r>
            <a:rPr lang="fr-CA" b="1" dirty="0"/>
            <a:t>assurer un financement adéquat</a:t>
          </a:r>
          <a:endParaRPr lang="en-US" dirty="0"/>
        </a:p>
      </dgm:t>
    </dgm:pt>
    <dgm:pt modelId="{87CF889D-DF70-496E-8777-B7F1117C5923}" type="parTrans" cxnId="{93EE8839-2C42-469A-9B7D-849D2C46FD59}">
      <dgm:prSet/>
      <dgm:spPr/>
      <dgm:t>
        <a:bodyPr/>
        <a:lstStyle/>
        <a:p>
          <a:endParaRPr lang="en-US"/>
        </a:p>
      </dgm:t>
    </dgm:pt>
    <dgm:pt modelId="{C1B72B3E-583F-4334-8F9D-2C3C3E976C62}" type="sibTrans" cxnId="{93EE8839-2C42-469A-9B7D-849D2C46FD59}">
      <dgm:prSet/>
      <dgm:spPr/>
      <dgm:t>
        <a:bodyPr/>
        <a:lstStyle/>
        <a:p>
          <a:endParaRPr lang="en-US"/>
        </a:p>
      </dgm:t>
    </dgm:pt>
    <dgm:pt modelId="{6B6C8FCF-97BC-457C-9726-F85CB348FF71}">
      <dgm:prSet/>
      <dgm:spPr/>
      <dgm:t>
        <a:bodyPr/>
        <a:lstStyle/>
        <a:p>
          <a:r>
            <a:rPr lang="fr-CA" dirty="0"/>
            <a:t>Horizon </a:t>
          </a:r>
          <a:r>
            <a:rPr lang="fr-CA" b="1" dirty="0"/>
            <a:t>long terme </a:t>
          </a:r>
          <a:r>
            <a:rPr lang="fr-CA" dirty="0"/>
            <a:t>(plan quinquennal d’investissement, par exemple)</a:t>
          </a:r>
          <a:endParaRPr lang="en-US" dirty="0"/>
        </a:p>
      </dgm:t>
    </dgm:pt>
    <dgm:pt modelId="{C659AEC1-5246-4B37-904E-A80D90BA9A37}" type="parTrans" cxnId="{A95450FE-F474-48B6-9F0A-D4FF5CF9283A}">
      <dgm:prSet/>
      <dgm:spPr/>
      <dgm:t>
        <a:bodyPr/>
        <a:lstStyle/>
        <a:p>
          <a:endParaRPr lang="en-US"/>
        </a:p>
      </dgm:t>
    </dgm:pt>
    <dgm:pt modelId="{DEACCFF6-1142-48D9-8D62-1FBACF884AA3}" type="sibTrans" cxnId="{A95450FE-F474-48B6-9F0A-D4FF5CF9283A}">
      <dgm:prSet/>
      <dgm:spPr/>
      <dgm:t>
        <a:bodyPr/>
        <a:lstStyle/>
        <a:p>
          <a:endParaRPr lang="en-US"/>
        </a:p>
      </dgm:t>
    </dgm:pt>
    <dgm:pt modelId="{7EE9D3B3-C117-4251-984D-1B8B37C7B18E}">
      <dgm:prSet/>
      <dgm:spPr/>
      <dgm:t>
        <a:bodyPr/>
        <a:lstStyle/>
        <a:p>
          <a:r>
            <a:rPr lang="fr-CA" dirty="0"/>
            <a:t>Budget d’exploitation</a:t>
          </a:r>
          <a:endParaRPr lang="en-US" dirty="0"/>
        </a:p>
      </dgm:t>
    </dgm:pt>
    <dgm:pt modelId="{344401B4-34CB-4793-B8D2-F4953AD2533D}" type="parTrans" cxnId="{EECEBA16-E819-4A0F-8ADC-09E49789D639}">
      <dgm:prSet/>
      <dgm:spPr/>
      <dgm:t>
        <a:bodyPr/>
        <a:lstStyle/>
        <a:p>
          <a:endParaRPr lang="en-US"/>
        </a:p>
      </dgm:t>
    </dgm:pt>
    <dgm:pt modelId="{E3EEA38E-5CC4-48D2-9D01-74BE4941C217}" type="sibTrans" cxnId="{EECEBA16-E819-4A0F-8ADC-09E49789D639}">
      <dgm:prSet/>
      <dgm:spPr/>
      <dgm:t>
        <a:bodyPr/>
        <a:lstStyle/>
        <a:p>
          <a:endParaRPr lang="en-US"/>
        </a:p>
      </dgm:t>
    </dgm:pt>
    <dgm:pt modelId="{DA7384AE-0353-4F81-AD68-4F51FCAA615C}">
      <dgm:prSet/>
      <dgm:spPr/>
      <dgm:t>
        <a:bodyPr/>
        <a:lstStyle/>
        <a:p>
          <a:r>
            <a:rPr lang="fr-CA" dirty="0"/>
            <a:t>Déterminer l’impact de </a:t>
          </a:r>
          <a:r>
            <a:rPr lang="fr-CA" b="1" dirty="0"/>
            <a:t>l’atteinte des objectifs sur  les résultats de l’organisation</a:t>
          </a:r>
          <a:endParaRPr lang="en-US" dirty="0"/>
        </a:p>
      </dgm:t>
    </dgm:pt>
    <dgm:pt modelId="{9D0BA78D-D701-44E1-8BA9-01001C73A70D}" type="parTrans" cxnId="{20EED09E-A67C-493E-9943-F5536F2BFED6}">
      <dgm:prSet/>
      <dgm:spPr/>
      <dgm:t>
        <a:bodyPr/>
        <a:lstStyle/>
        <a:p>
          <a:endParaRPr lang="en-US"/>
        </a:p>
      </dgm:t>
    </dgm:pt>
    <dgm:pt modelId="{8AE41767-DDA4-481F-B449-943E22A26E64}" type="sibTrans" cxnId="{20EED09E-A67C-493E-9943-F5536F2BFED6}">
      <dgm:prSet/>
      <dgm:spPr/>
      <dgm:t>
        <a:bodyPr/>
        <a:lstStyle/>
        <a:p>
          <a:endParaRPr lang="en-US"/>
        </a:p>
      </dgm:t>
    </dgm:pt>
    <dgm:pt modelId="{209B34C2-E743-4332-BDA2-BC34F1DB86C0}">
      <dgm:prSet/>
      <dgm:spPr/>
      <dgm:t>
        <a:bodyPr/>
        <a:lstStyle/>
        <a:p>
          <a:r>
            <a:rPr lang="fr-CA"/>
            <a:t>Horizon </a:t>
          </a:r>
          <a:r>
            <a:rPr lang="fr-CA" b="1"/>
            <a:t>court terme </a:t>
          </a:r>
          <a:r>
            <a:rPr lang="fr-CA"/>
            <a:t>(généralement un exercice, possiblement scindé en budget trimestriel ou mensuel)</a:t>
          </a:r>
          <a:endParaRPr lang="en-US"/>
        </a:p>
      </dgm:t>
    </dgm:pt>
    <dgm:pt modelId="{F2D60DD7-1F13-4D4F-A5F9-251406AE8F1D}" type="parTrans" cxnId="{CB3DE4D6-6E09-490E-ACCE-C85A646639B5}">
      <dgm:prSet/>
      <dgm:spPr/>
      <dgm:t>
        <a:bodyPr/>
        <a:lstStyle/>
        <a:p>
          <a:endParaRPr lang="en-US"/>
        </a:p>
      </dgm:t>
    </dgm:pt>
    <dgm:pt modelId="{58947ED2-BCC3-463B-9424-B55FACC61CDF}" type="sibTrans" cxnId="{CB3DE4D6-6E09-490E-ACCE-C85A646639B5}">
      <dgm:prSet/>
      <dgm:spPr/>
      <dgm:t>
        <a:bodyPr/>
        <a:lstStyle/>
        <a:p>
          <a:endParaRPr lang="en-US"/>
        </a:p>
      </dgm:t>
    </dgm:pt>
    <dgm:pt modelId="{EC1ECB8D-EAE5-433A-8E29-92ACF6FFB726}">
      <dgm:prSet/>
      <dgm:spPr/>
      <dgm:t>
        <a:bodyPr/>
        <a:lstStyle/>
        <a:p>
          <a:r>
            <a:rPr lang="fr-CA" dirty="0"/>
            <a:t>Budget de caisse</a:t>
          </a:r>
          <a:endParaRPr lang="en-US" dirty="0"/>
        </a:p>
      </dgm:t>
    </dgm:pt>
    <dgm:pt modelId="{BDCC2984-1C92-482F-85BE-D7A7EC648972}" type="parTrans" cxnId="{C9D314D6-6096-4E6F-A407-DB9CB52803AB}">
      <dgm:prSet/>
      <dgm:spPr/>
      <dgm:t>
        <a:bodyPr/>
        <a:lstStyle/>
        <a:p>
          <a:endParaRPr lang="en-US"/>
        </a:p>
      </dgm:t>
    </dgm:pt>
    <dgm:pt modelId="{22F4A89D-F4E0-4804-9D58-D539D0B66927}" type="sibTrans" cxnId="{C9D314D6-6096-4E6F-A407-DB9CB52803AB}">
      <dgm:prSet/>
      <dgm:spPr/>
      <dgm:t>
        <a:bodyPr/>
        <a:lstStyle/>
        <a:p>
          <a:endParaRPr lang="en-US"/>
        </a:p>
      </dgm:t>
    </dgm:pt>
    <dgm:pt modelId="{08302B70-C6F3-400F-8179-9B7E58C152FF}">
      <dgm:prSet/>
      <dgm:spPr/>
      <dgm:t>
        <a:bodyPr/>
        <a:lstStyle/>
        <a:p>
          <a:r>
            <a:rPr lang="fr-CA" dirty="0"/>
            <a:t>Prévoir </a:t>
          </a:r>
          <a:r>
            <a:rPr lang="fr-CA" b="1" dirty="0"/>
            <a:t>les mouvements de trésorerie</a:t>
          </a:r>
          <a:r>
            <a:rPr lang="fr-CA" dirty="0"/>
            <a:t>, en vue de gérer </a:t>
          </a:r>
          <a:r>
            <a:rPr lang="fr-CA" b="1" dirty="0"/>
            <a:t>les risques de déficits</a:t>
          </a:r>
          <a:endParaRPr lang="en-US" dirty="0"/>
        </a:p>
      </dgm:t>
    </dgm:pt>
    <dgm:pt modelId="{C1DC6213-37DD-40E3-89F1-B1650C73C36D}" type="parTrans" cxnId="{CD6A9420-4F96-41F3-A2F9-1BED58C3E374}">
      <dgm:prSet/>
      <dgm:spPr/>
      <dgm:t>
        <a:bodyPr/>
        <a:lstStyle/>
        <a:p>
          <a:endParaRPr lang="en-US"/>
        </a:p>
      </dgm:t>
    </dgm:pt>
    <dgm:pt modelId="{630478A5-95AD-413B-B4EF-0C9E8A478BE7}" type="sibTrans" cxnId="{CD6A9420-4F96-41F3-A2F9-1BED58C3E374}">
      <dgm:prSet/>
      <dgm:spPr/>
      <dgm:t>
        <a:bodyPr/>
        <a:lstStyle/>
        <a:p>
          <a:endParaRPr lang="en-US"/>
        </a:p>
      </dgm:t>
    </dgm:pt>
    <dgm:pt modelId="{B6416D2B-9B1C-406E-9C92-FDE6C7A991F8}">
      <dgm:prSet/>
      <dgm:spPr/>
      <dgm:t>
        <a:bodyPr/>
        <a:lstStyle/>
        <a:p>
          <a:r>
            <a:rPr lang="fr-CA"/>
            <a:t>Horizon </a:t>
          </a:r>
          <a:r>
            <a:rPr lang="fr-CA" b="1"/>
            <a:t>court terme </a:t>
          </a:r>
          <a:r>
            <a:rPr lang="fr-CA"/>
            <a:t>(généralement un exercice, possiblement scindé en budget trimestriel ou mensuel)</a:t>
          </a:r>
          <a:endParaRPr lang="en-US"/>
        </a:p>
      </dgm:t>
    </dgm:pt>
    <dgm:pt modelId="{809A1CC7-EF70-4776-B96D-EE276A92EC07}" type="parTrans" cxnId="{14BDF94C-4B99-4431-B53C-8305E635CCB9}">
      <dgm:prSet/>
      <dgm:spPr/>
      <dgm:t>
        <a:bodyPr/>
        <a:lstStyle/>
        <a:p>
          <a:endParaRPr lang="en-US"/>
        </a:p>
      </dgm:t>
    </dgm:pt>
    <dgm:pt modelId="{C052206A-7E9E-4929-A6E5-B9D2368912F6}" type="sibTrans" cxnId="{14BDF94C-4B99-4431-B53C-8305E635CCB9}">
      <dgm:prSet/>
      <dgm:spPr/>
      <dgm:t>
        <a:bodyPr/>
        <a:lstStyle/>
        <a:p>
          <a:endParaRPr lang="en-US"/>
        </a:p>
      </dgm:t>
    </dgm:pt>
    <dgm:pt modelId="{BD850D0F-6497-4CF7-A792-DC294B62241C}" type="pres">
      <dgm:prSet presAssocID="{B9DB35B6-17DC-4F60-8E69-E3D0FD8AA001}" presName="Name0" presStyleCnt="0">
        <dgm:presLayoutVars>
          <dgm:dir/>
          <dgm:animLvl val="lvl"/>
          <dgm:resizeHandles val="exact"/>
        </dgm:presLayoutVars>
      </dgm:prSet>
      <dgm:spPr/>
    </dgm:pt>
    <dgm:pt modelId="{3E129A1E-8D37-4A97-9F79-ABC8F4F8DABE}" type="pres">
      <dgm:prSet presAssocID="{34CC7DE4-6415-4290-88A6-10E06D50CF1A}" presName="linNode" presStyleCnt="0"/>
      <dgm:spPr/>
    </dgm:pt>
    <dgm:pt modelId="{4A0350D3-F12D-4D5E-8D7B-6B502DE0F19D}" type="pres">
      <dgm:prSet presAssocID="{34CC7DE4-6415-4290-88A6-10E06D50CF1A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8B20F106-3C49-4116-ADCC-A1862A35FF93}" type="pres">
      <dgm:prSet presAssocID="{34CC7DE4-6415-4290-88A6-10E06D50CF1A}" presName="descendantText" presStyleLbl="alignAccFollowNode1" presStyleIdx="0" presStyleCnt="3">
        <dgm:presLayoutVars>
          <dgm:bulletEnabled val="1"/>
        </dgm:presLayoutVars>
      </dgm:prSet>
      <dgm:spPr/>
    </dgm:pt>
    <dgm:pt modelId="{5A3B66CA-040F-46CB-96B5-CB8DE7E2BAAC}" type="pres">
      <dgm:prSet presAssocID="{507C9FA4-F9D8-4E9A-92B7-7C0DB2B56A87}" presName="sp" presStyleCnt="0"/>
      <dgm:spPr/>
    </dgm:pt>
    <dgm:pt modelId="{A4571823-4863-435D-9139-D9BA117DAD4D}" type="pres">
      <dgm:prSet presAssocID="{7EE9D3B3-C117-4251-984D-1B8B37C7B18E}" presName="linNode" presStyleCnt="0"/>
      <dgm:spPr/>
    </dgm:pt>
    <dgm:pt modelId="{E8797527-2C8E-452D-B470-B33722F47CBA}" type="pres">
      <dgm:prSet presAssocID="{7EE9D3B3-C117-4251-984D-1B8B37C7B18E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6566698D-7BF9-4F0E-A4D4-E188B4617FC4}" type="pres">
      <dgm:prSet presAssocID="{7EE9D3B3-C117-4251-984D-1B8B37C7B18E}" presName="descendantText" presStyleLbl="alignAccFollowNode1" presStyleIdx="1" presStyleCnt="3">
        <dgm:presLayoutVars>
          <dgm:bulletEnabled val="1"/>
        </dgm:presLayoutVars>
      </dgm:prSet>
      <dgm:spPr/>
    </dgm:pt>
    <dgm:pt modelId="{0225E8E0-2497-48F1-A331-7BB6EC8F7BE1}" type="pres">
      <dgm:prSet presAssocID="{E3EEA38E-5CC4-48D2-9D01-74BE4941C217}" presName="sp" presStyleCnt="0"/>
      <dgm:spPr/>
    </dgm:pt>
    <dgm:pt modelId="{DADE786F-B3EC-41B3-9445-04C919F70FF8}" type="pres">
      <dgm:prSet presAssocID="{EC1ECB8D-EAE5-433A-8E29-92ACF6FFB726}" presName="linNode" presStyleCnt="0"/>
      <dgm:spPr/>
    </dgm:pt>
    <dgm:pt modelId="{C64652D0-B352-4E01-B405-724BB6293149}" type="pres">
      <dgm:prSet presAssocID="{EC1ECB8D-EAE5-433A-8E29-92ACF6FFB726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92E17B89-563D-4398-B91E-5F5FFD4872AA}" type="pres">
      <dgm:prSet presAssocID="{EC1ECB8D-EAE5-433A-8E29-92ACF6FFB726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CD806400-CD1F-497F-9EA7-FEC176F8D90C}" type="presOf" srcId="{B9DB35B6-17DC-4F60-8E69-E3D0FD8AA001}" destId="{BD850D0F-6497-4CF7-A792-DC294B62241C}" srcOrd="0" destOrd="0" presId="urn:microsoft.com/office/officeart/2005/8/layout/vList5"/>
    <dgm:cxn modelId="{EECEBA16-E819-4A0F-8ADC-09E49789D639}" srcId="{B9DB35B6-17DC-4F60-8E69-E3D0FD8AA001}" destId="{7EE9D3B3-C117-4251-984D-1B8B37C7B18E}" srcOrd="1" destOrd="0" parTransId="{344401B4-34CB-4793-B8D2-F4953AD2533D}" sibTransId="{E3EEA38E-5CC4-48D2-9D01-74BE4941C217}"/>
    <dgm:cxn modelId="{CD6A9420-4F96-41F3-A2F9-1BED58C3E374}" srcId="{EC1ECB8D-EAE5-433A-8E29-92ACF6FFB726}" destId="{08302B70-C6F3-400F-8179-9B7E58C152FF}" srcOrd="0" destOrd="0" parTransId="{C1DC6213-37DD-40E3-89F1-B1650C73C36D}" sibTransId="{630478A5-95AD-413B-B4EF-0C9E8A478BE7}"/>
    <dgm:cxn modelId="{20781531-20A3-4397-A8E3-04FDE35F7DCD}" type="presOf" srcId="{34CC7DE4-6415-4290-88A6-10E06D50CF1A}" destId="{4A0350D3-F12D-4D5E-8D7B-6B502DE0F19D}" srcOrd="0" destOrd="0" presId="urn:microsoft.com/office/officeart/2005/8/layout/vList5"/>
    <dgm:cxn modelId="{93EE8839-2C42-469A-9B7D-849D2C46FD59}" srcId="{34CC7DE4-6415-4290-88A6-10E06D50CF1A}" destId="{FC7EE65A-1385-4C13-9CAF-76943620702E}" srcOrd="0" destOrd="0" parTransId="{87CF889D-DF70-496E-8777-B7F1117C5923}" sibTransId="{C1B72B3E-583F-4334-8F9D-2C3C3E976C62}"/>
    <dgm:cxn modelId="{E7F98D5C-10CD-462D-B220-7FDB63584F13}" type="presOf" srcId="{DA7384AE-0353-4F81-AD68-4F51FCAA615C}" destId="{6566698D-7BF9-4F0E-A4D4-E188B4617FC4}" srcOrd="0" destOrd="0" presId="urn:microsoft.com/office/officeart/2005/8/layout/vList5"/>
    <dgm:cxn modelId="{94705042-751F-499C-B587-000EBEDD44C9}" type="presOf" srcId="{B6416D2B-9B1C-406E-9C92-FDE6C7A991F8}" destId="{92E17B89-563D-4398-B91E-5F5FFD4872AA}" srcOrd="0" destOrd="1" presId="urn:microsoft.com/office/officeart/2005/8/layout/vList5"/>
    <dgm:cxn modelId="{08B92448-A348-4B4A-AA02-2382BF8A4741}" type="presOf" srcId="{6B6C8FCF-97BC-457C-9726-F85CB348FF71}" destId="{8B20F106-3C49-4116-ADCC-A1862A35FF93}" srcOrd="0" destOrd="1" presId="urn:microsoft.com/office/officeart/2005/8/layout/vList5"/>
    <dgm:cxn modelId="{CBB2D64A-D38D-4D20-ADF3-0F4A7106C9FA}" type="presOf" srcId="{08302B70-C6F3-400F-8179-9B7E58C152FF}" destId="{92E17B89-563D-4398-B91E-5F5FFD4872AA}" srcOrd="0" destOrd="0" presId="urn:microsoft.com/office/officeart/2005/8/layout/vList5"/>
    <dgm:cxn modelId="{14BDF94C-4B99-4431-B53C-8305E635CCB9}" srcId="{EC1ECB8D-EAE5-433A-8E29-92ACF6FFB726}" destId="{B6416D2B-9B1C-406E-9C92-FDE6C7A991F8}" srcOrd="1" destOrd="0" parTransId="{809A1CC7-EF70-4776-B96D-EE276A92EC07}" sibTransId="{C052206A-7E9E-4929-A6E5-B9D2368912F6}"/>
    <dgm:cxn modelId="{92ADAB95-84B2-407B-8BB5-55D01E7ED1A5}" type="presOf" srcId="{EC1ECB8D-EAE5-433A-8E29-92ACF6FFB726}" destId="{C64652D0-B352-4E01-B405-724BB6293149}" srcOrd="0" destOrd="0" presId="urn:microsoft.com/office/officeart/2005/8/layout/vList5"/>
    <dgm:cxn modelId="{9C2D0696-8B2E-4BC7-8929-96156051ADCB}" type="presOf" srcId="{7EE9D3B3-C117-4251-984D-1B8B37C7B18E}" destId="{E8797527-2C8E-452D-B470-B33722F47CBA}" srcOrd="0" destOrd="0" presId="urn:microsoft.com/office/officeart/2005/8/layout/vList5"/>
    <dgm:cxn modelId="{D2C18599-1E08-4B17-82FF-3A9127B358D4}" type="presOf" srcId="{209B34C2-E743-4332-BDA2-BC34F1DB86C0}" destId="{6566698D-7BF9-4F0E-A4D4-E188B4617FC4}" srcOrd="0" destOrd="1" presId="urn:microsoft.com/office/officeart/2005/8/layout/vList5"/>
    <dgm:cxn modelId="{20EED09E-A67C-493E-9943-F5536F2BFED6}" srcId="{7EE9D3B3-C117-4251-984D-1B8B37C7B18E}" destId="{DA7384AE-0353-4F81-AD68-4F51FCAA615C}" srcOrd="0" destOrd="0" parTransId="{9D0BA78D-D701-44E1-8BA9-01001C73A70D}" sibTransId="{8AE41767-DDA4-481F-B449-943E22A26E64}"/>
    <dgm:cxn modelId="{F4AFE4B5-0434-4241-B824-38E5788E1736}" srcId="{B9DB35B6-17DC-4F60-8E69-E3D0FD8AA001}" destId="{34CC7DE4-6415-4290-88A6-10E06D50CF1A}" srcOrd="0" destOrd="0" parTransId="{DFB33162-BF32-4381-8A3F-F62688AA86AE}" sibTransId="{507C9FA4-F9D8-4E9A-92B7-7C0DB2B56A87}"/>
    <dgm:cxn modelId="{C32F18D1-32D4-47A4-8BB6-439530740B9C}" type="presOf" srcId="{FC7EE65A-1385-4C13-9CAF-76943620702E}" destId="{8B20F106-3C49-4116-ADCC-A1862A35FF93}" srcOrd="0" destOrd="0" presId="urn:microsoft.com/office/officeart/2005/8/layout/vList5"/>
    <dgm:cxn modelId="{C9D314D6-6096-4E6F-A407-DB9CB52803AB}" srcId="{B9DB35B6-17DC-4F60-8E69-E3D0FD8AA001}" destId="{EC1ECB8D-EAE5-433A-8E29-92ACF6FFB726}" srcOrd="2" destOrd="0" parTransId="{BDCC2984-1C92-482F-85BE-D7A7EC648972}" sibTransId="{22F4A89D-F4E0-4804-9D58-D539D0B66927}"/>
    <dgm:cxn modelId="{CB3DE4D6-6E09-490E-ACCE-C85A646639B5}" srcId="{7EE9D3B3-C117-4251-984D-1B8B37C7B18E}" destId="{209B34C2-E743-4332-BDA2-BC34F1DB86C0}" srcOrd="1" destOrd="0" parTransId="{F2D60DD7-1F13-4D4F-A5F9-251406AE8F1D}" sibTransId="{58947ED2-BCC3-463B-9424-B55FACC61CDF}"/>
    <dgm:cxn modelId="{A95450FE-F474-48B6-9F0A-D4FF5CF9283A}" srcId="{34CC7DE4-6415-4290-88A6-10E06D50CF1A}" destId="{6B6C8FCF-97BC-457C-9726-F85CB348FF71}" srcOrd="1" destOrd="0" parTransId="{C659AEC1-5246-4B37-904E-A80D90BA9A37}" sibTransId="{DEACCFF6-1142-48D9-8D62-1FBACF884AA3}"/>
    <dgm:cxn modelId="{A898A856-FAA5-418A-94A2-2542E80D3DAD}" type="presParOf" srcId="{BD850D0F-6497-4CF7-A792-DC294B62241C}" destId="{3E129A1E-8D37-4A97-9F79-ABC8F4F8DABE}" srcOrd="0" destOrd="0" presId="urn:microsoft.com/office/officeart/2005/8/layout/vList5"/>
    <dgm:cxn modelId="{607A90AB-F104-4725-B5F8-618AC0EA063C}" type="presParOf" srcId="{3E129A1E-8D37-4A97-9F79-ABC8F4F8DABE}" destId="{4A0350D3-F12D-4D5E-8D7B-6B502DE0F19D}" srcOrd="0" destOrd="0" presId="urn:microsoft.com/office/officeart/2005/8/layout/vList5"/>
    <dgm:cxn modelId="{2EF1A7C4-9A51-45A6-A58D-E4359D294E3E}" type="presParOf" srcId="{3E129A1E-8D37-4A97-9F79-ABC8F4F8DABE}" destId="{8B20F106-3C49-4116-ADCC-A1862A35FF93}" srcOrd="1" destOrd="0" presId="urn:microsoft.com/office/officeart/2005/8/layout/vList5"/>
    <dgm:cxn modelId="{848BFDD3-D870-42AE-B0E5-4AC82CB4671D}" type="presParOf" srcId="{BD850D0F-6497-4CF7-A792-DC294B62241C}" destId="{5A3B66CA-040F-46CB-96B5-CB8DE7E2BAAC}" srcOrd="1" destOrd="0" presId="urn:microsoft.com/office/officeart/2005/8/layout/vList5"/>
    <dgm:cxn modelId="{0D183CB6-C120-4ED0-9908-BCCA2CD24332}" type="presParOf" srcId="{BD850D0F-6497-4CF7-A792-DC294B62241C}" destId="{A4571823-4863-435D-9139-D9BA117DAD4D}" srcOrd="2" destOrd="0" presId="urn:microsoft.com/office/officeart/2005/8/layout/vList5"/>
    <dgm:cxn modelId="{C4693C8A-E807-4500-87E8-F091A95136DF}" type="presParOf" srcId="{A4571823-4863-435D-9139-D9BA117DAD4D}" destId="{E8797527-2C8E-452D-B470-B33722F47CBA}" srcOrd="0" destOrd="0" presId="urn:microsoft.com/office/officeart/2005/8/layout/vList5"/>
    <dgm:cxn modelId="{BAC738A7-1FCA-4A3F-B17C-A25E82066238}" type="presParOf" srcId="{A4571823-4863-435D-9139-D9BA117DAD4D}" destId="{6566698D-7BF9-4F0E-A4D4-E188B4617FC4}" srcOrd="1" destOrd="0" presId="urn:microsoft.com/office/officeart/2005/8/layout/vList5"/>
    <dgm:cxn modelId="{7DD69062-8E33-4F40-98B3-F607529650A4}" type="presParOf" srcId="{BD850D0F-6497-4CF7-A792-DC294B62241C}" destId="{0225E8E0-2497-48F1-A331-7BB6EC8F7BE1}" srcOrd="3" destOrd="0" presId="urn:microsoft.com/office/officeart/2005/8/layout/vList5"/>
    <dgm:cxn modelId="{A1CFDC34-0091-452A-B998-43D8227F12EA}" type="presParOf" srcId="{BD850D0F-6497-4CF7-A792-DC294B62241C}" destId="{DADE786F-B3EC-41B3-9445-04C919F70FF8}" srcOrd="4" destOrd="0" presId="urn:microsoft.com/office/officeart/2005/8/layout/vList5"/>
    <dgm:cxn modelId="{0E83F480-2018-4542-8198-D3DCF7CAD36B}" type="presParOf" srcId="{DADE786F-B3EC-41B3-9445-04C919F70FF8}" destId="{C64652D0-B352-4E01-B405-724BB6293149}" srcOrd="0" destOrd="0" presId="urn:microsoft.com/office/officeart/2005/8/layout/vList5"/>
    <dgm:cxn modelId="{7B78BAFB-DD8A-45D7-8F41-8B8ED2D3B9DD}" type="presParOf" srcId="{DADE786F-B3EC-41B3-9445-04C919F70FF8}" destId="{92E17B89-563D-4398-B91E-5F5FFD4872A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14FC91-5C1E-4989-AFD9-4E0740B501EE}" type="doc">
      <dgm:prSet loTypeId="urn:microsoft.com/office/officeart/2005/8/layout/list1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0CA4B5-DA6C-4B4E-90F1-2422C6D65353}">
      <dgm:prSet custT="1"/>
      <dgm:spPr/>
      <dgm:t>
        <a:bodyPr/>
        <a:lstStyle/>
        <a:p>
          <a:r>
            <a:rPr lang="fr-CA" sz="2400"/>
            <a:t>Les trois composantes illustrent une facette importante du plan stratégique et des objectifs en découlant</a:t>
          </a:r>
          <a:endParaRPr lang="en-US" sz="2400"/>
        </a:p>
      </dgm:t>
    </dgm:pt>
    <dgm:pt modelId="{F4DA1F56-B11F-4551-AA9E-608C6514A79C}" type="parTrans" cxnId="{52736D2A-A679-4B2B-802D-B543F83ABBAF}">
      <dgm:prSet/>
      <dgm:spPr/>
      <dgm:t>
        <a:bodyPr/>
        <a:lstStyle/>
        <a:p>
          <a:endParaRPr lang="en-US" sz="3600"/>
        </a:p>
      </dgm:t>
    </dgm:pt>
    <dgm:pt modelId="{2E8432F9-C7E4-42A4-AECB-8D7B67E7AB7C}" type="sibTrans" cxnId="{52736D2A-A679-4B2B-802D-B543F83ABBAF}">
      <dgm:prSet/>
      <dgm:spPr/>
      <dgm:t>
        <a:bodyPr/>
        <a:lstStyle/>
        <a:p>
          <a:endParaRPr lang="en-US" sz="3600"/>
        </a:p>
      </dgm:t>
    </dgm:pt>
    <dgm:pt modelId="{E16C3A88-EB9D-4021-8E3D-67504BBE99F0}">
      <dgm:prSet custT="1"/>
      <dgm:spPr/>
      <dgm:t>
        <a:bodyPr/>
        <a:lstStyle/>
        <a:p>
          <a:r>
            <a:rPr lang="fr-CA" sz="2400" dirty="0"/>
            <a:t>Chacune des trois composantes joue un rôle crucial et complémentaire</a:t>
          </a:r>
          <a:endParaRPr lang="en-US" sz="2400" dirty="0"/>
        </a:p>
      </dgm:t>
    </dgm:pt>
    <dgm:pt modelId="{2E4A2F27-AA87-41EF-9D96-3A376FF5A294}" type="parTrans" cxnId="{56A9D79A-FD45-48DA-87D9-D81EDF80CCF1}">
      <dgm:prSet/>
      <dgm:spPr/>
      <dgm:t>
        <a:bodyPr/>
        <a:lstStyle/>
        <a:p>
          <a:endParaRPr lang="en-US" sz="3600"/>
        </a:p>
      </dgm:t>
    </dgm:pt>
    <dgm:pt modelId="{E168B857-B4D3-4059-B5BE-4754EDFBEEAC}" type="sibTrans" cxnId="{56A9D79A-FD45-48DA-87D9-D81EDF80CCF1}">
      <dgm:prSet/>
      <dgm:spPr/>
      <dgm:t>
        <a:bodyPr/>
        <a:lstStyle/>
        <a:p>
          <a:endParaRPr lang="en-US" sz="3600"/>
        </a:p>
      </dgm:t>
    </dgm:pt>
    <dgm:pt modelId="{424E41C8-14DA-4B62-8763-63063E1E2742}">
      <dgm:prSet custT="1"/>
      <dgm:spPr/>
      <dgm:t>
        <a:bodyPr/>
        <a:lstStyle/>
        <a:p>
          <a:r>
            <a:rPr lang="fr-CA" sz="2000" dirty="0"/>
            <a:t>Négliger l’une ou l’autre des composantes comporte des risque importants</a:t>
          </a:r>
          <a:endParaRPr lang="en-US" sz="2000" dirty="0"/>
        </a:p>
      </dgm:t>
    </dgm:pt>
    <dgm:pt modelId="{D7329C10-CDD9-403D-970E-7C4DAA5F7A08}" type="parTrans" cxnId="{D84B4623-A5C9-40A2-B6FE-2A238C0D72CC}">
      <dgm:prSet/>
      <dgm:spPr/>
      <dgm:t>
        <a:bodyPr/>
        <a:lstStyle/>
        <a:p>
          <a:endParaRPr lang="en-US" sz="3600"/>
        </a:p>
      </dgm:t>
    </dgm:pt>
    <dgm:pt modelId="{09D78151-672C-4F63-9F7F-905A31BCBF83}" type="sibTrans" cxnId="{D84B4623-A5C9-40A2-B6FE-2A238C0D72CC}">
      <dgm:prSet/>
      <dgm:spPr/>
      <dgm:t>
        <a:bodyPr/>
        <a:lstStyle/>
        <a:p>
          <a:endParaRPr lang="en-US" sz="3600"/>
        </a:p>
      </dgm:t>
    </dgm:pt>
    <dgm:pt modelId="{9F09AD0E-EDF9-4197-B778-6D247774B862}">
      <dgm:prSet custT="1"/>
      <dgm:spPr/>
      <dgm:t>
        <a:bodyPr/>
        <a:lstStyle/>
        <a:p>
          <a:r>
            <a:rPr lang="fr-CA" sz="2400"/>
            <a:t>La combinaison des trois composantes permettent de construire des états financiers pro-forma</a:t>
          </a:r>
          <a:endParaRPr lang="en-US" sz="2400"/>
        </a:p>
      </dgm:t>
    </dgm:pt>
    <dgm:pt modelId="{10525E15-D33E-4820-8314-5B86AA8073D3}" type="parTrans" cxnId="{19B8B833-9A02-4720-9FE0-B05EF9D48386}">
      <dgm:prSet/>
      <dgm:spPr/>
      <dgm:t>
        <a:bodyPr/>
        <a:lstStyle/>
        <a:p>
          <a:endParaRPr lang="en-US" sz="3600"/>
        </a:p>
      </dgm:t>
    </dgm:pt>
    <dgm:pt modelId="{37509AD7-ACDA-4509-82AA-A4683A01D538}" type="sibTrans" cxnId="{19B8B833-9A02-4720-9FE0-B05EF9D48386}">
      <dgm:prSet/>
      <dgm:spPr/>
      <dgm:t>
        <a:bodyPr/>
        <a:lstStyle/>
        <a:p>
          <a:endParaRPr lang="en-US" sz="3600"/>
        </a:p>
      </dgm:t>
    </dgm:pt>
    <dgm:pt modelId="{C054BC3A-43EB-44F8-BF99-77B37398D3A5}">
      <dgm:prSet custT="1"/>
      <dgm:spPr/>
      <dgm:t>
        <a:bodyPr/>
        <a:lstStyle/>
        <a:p>
          <a:r>
            <a:rPr lang="fr-CA" sz="2000" dirty="0"/>
            <a:t>Ceux-ci intéressent grandement diverses parties prenantes (actionnaires, créanciers, analystes financiers, etc…)</a:t>
          </a:r>
          <a:endParaRPr lang="en-US" sz="2000" dirty="0"/>
        </a:p>
      </dgm:t>
    </dgm:pt>
    <dgm:pt modelId="{8F7B5247-A363-44B7-9683-0624468E3D7B}" type="parTrans" cxnId="{8BFEBB84-6F87-402A-9F63-8BDCF11231DA}">
      <dgm:prSet/>
      <dgm:spPr/>
      <dgm:t>
        <a:bodyPr/>
        <a:lstStyle/>
        <a:p>
          <a:endParaRPr lang="en-US" sz="3600"/>
        </a:p>
      </dgm:t>
    </dgm:pt>
    <dgm:pt modelId="{B34B62CD-9D9F-4E7D-AEBB-942C540BD38A}" type="sibTrans" cxnId="{8BFEBB84-6F87-402A-9F63-8BDCF11231DA}">
      <dgm:prSet/>
      <dgm:spPr/>
      <dgm:t>
        <a:bodyPr/>
        <a:lstStyle/>
        <a:p>
          <a:endParaRPr lang="en-US" sz="3600"/>
        </a:p>
      </dgm:t>
    </dgm:pt>
    <dgm:pt modelId="{E902A752-C112-4DF5-BCE8-5F96D3D4653E}" type="pres">
      <dgm:prSet presAssocID="{2E14FC91-5C1E-4989-AFD9-4E0740B501EE}" presName="linear" presStyleCnt="0">
        <dgm:presLayoutVars>
          <dgm:dir/>
          <dgm:animLvl val="lvl"/>
          <dgm:resizeHandles val="exact"/>
        </dgm:presLayoutVars>
      </dgm:prSet>
      <dgm:spPr/>
    </dgm:pt>
    <dgm:pt modelId="{73D10DB5-C083-4575-A3E6-680436040675}" type="pres">
      <dgm:prSet presAssocID="{5A0CA4B5-DA6C-4B4E-90F1-2422C6D65353}" presName="parentLin" presStyleCnt="0"/>
      <dgm:spPr/>
    </dgm:pt>
    <dgm:pt modelId="{FEF9ADEE-C52E-4329-865E-B0EF709CF96F}" type="pres">
      <dgm:prSet presAssocID="{5A0CA4B5-DA6C-4B4E-90F1-2422C6D65353}" presName="parentLeftMargin" presStyleLbl="node1" presStyleIdx="0" presStyleCnt="3"/>
      <dgm:spPr/>
    </dgm:pt>
    <dgm:pt modelId="{C755328B-6A3D-4609-9338-020FE5FC6929}" type="pres">
      <dgm:prSet presAssocID="{5A0CA4B5-DA6C-4B4E-90F1-2422C6D65353}" presName="parentText" presStyleLbl="node1" presStyleIdx="0" presStyleCnt="3" custScaleX="107112">
        <dgm:presLayoutVars>
          <dgm:chMax val="0"/>
          <dgm:bulletEnabled val="1"/>
        </dgm:presLayoutVars>
      </dgm:prSet>
      <dgm:spPr/>
    </dgm:pt>
    <dgm:pt modelId="{748ACE03-9BCB-457A-A0AF-502864E81AB1}" type="pres">
      <dgm:prSet presAssocID="{5A0CA4B5-DA6C-4B4E-90F1-2422C6D65353}" presName="negativeSpace" presStyleCnt="0"/>
      <dgm:spPr/>
    </dgm:pt>
    <dgm:pt modelId="{D2D06445-72C6-4956-9CE4-A72F0DF909F4}" type="pres">
      <dgm:prSet presAssocID="{5A0CA4B5-DA6C-4B4E-90F1-2422C6D65353}" presName="childText" presStyleLbl="conFgAcc1" presStyleIdx="0" presStyleCnt="3">
        <dgm:presLayoutVars>
          <dgm:bulletEnabled val="1"/>
        </dgm:presLayoutVars>
      </dgm:prSet>
      <dgm:spPr/>
    </dgm:pt>
    <dgm:pt modelId="{20A2581C-053C-4E45-B771-DE164D1F4EED}" type="pres">
      <dgm:prSet presAssocID="{2E8432F9-C7E4-42A4-AECB-8D7B67E7AB7C}" presName="spaceBetweenRectangles" presStyleCnt="0"/>
      <dgm:spPr/>
    </dgm:pt>
    <dgm:pt modelId="{B6AF169F-3799-4637-8901-B11F3CA56FCE}" type="pres">
      <dgm:prSet presAssocID="{E16C3A88-EB9D-4021-8E3D-67504BBE99F0}" presName="parentLin" presStyleCnt="0"/>
      <dgm:spPr/>
    </dgm:pt>
    <dgm:pt modelId="{CF1222F1-42F9-4AA1-96C1-2F23CA63A265}" type="pres">
      <dgm:prSet presAssocID="{E16C3A88-EB9D-4021-8E3D-67504BBE99F0}" presName="parentLeftMargin" presStyleLbl="node1" presStyleIdx="0" presStyleCnt="3"/>
      <dgm:spPr/>
    </dgm:pt>
    <dgm:pt modelId="{E3079A9F-3DB1-43B5-AD71-8F5B1E93D2BC}" type="pres">
      <dgm:prSet presAssocID="{E16C3A88-EB9D-4021-8E3D-67504BBE99F0}" presName="parentText" presStyleLbl="node1" presStyleIdx="1" presStyleCnt="3" custScaleX="107801">
        <dgm:presLayoutVars>
          <dgm:chMax val="0"/>
          <dgm:bulletEnabled val="1"/>
        </dgm:presLayoutVars>
      </dgm:prSet>
      <dgm:spPr/>
    </dgm:pt>
    <dgm:pt modelId="{DED7274E-B847-4221-BFB7-3E4814B53360}" type="pres">
      <dgm:prSet presAssocID="{E16C3A88-EB9D-4021-8E3D-67504BBE99F0}" presName="negativeSpace" presStyleCnt="0"/>
      <dgm:spPr/>
    </dgm:pt>
    <dgm:pt modelId="{1D352020-4A7D-4B58-A385-5513376F4B0A}" type="pres">
      <dgm:prSet presAssocID="{E16C3A88-EB9D-4021-8E3D-67504BBE99F0}" presName="childText" presStyleLbl="conFgAcc1" presStyleIdx="1" presStyleCnt="3">
        <dgm:presLayoutVars>
          <dgm:bulletEnabled val="1"/>
        </dgm:presLayoutVars>
      </dgm:prSet>
      <dgm:spPr/>
    </dgm:pt>
    <dgm:pt modelId="{C14B454F-A128-4E2B-AA74-6BF7732969F3}" type="pres">
      <dgm:prSet presAssocID="{E168B857-B4D3-4059-B5BE-4754EDFBEEAC}" presName="spaceBetweenRectangles" presStyleCnt="0"/>
      <dgm:spPr/>
    </dgm:pt>
    <dgm:pt modelId="{A6B9AAC1-B7CB-4E9A-B15D-D36F05D2E2DD}" type="pres">
      <dgm:prSet presAssocID="{9F09AD0E-EDF9-4197-B778-6D247774B862}" presName="parentLin" presStyleCnt="0"/>
      <dgm:spPr/>
    </dgm:pt>
    <dgm:pt modelId="{0347E767-EEE2-4534-B22B-5BD9218EADEA}" type="pres">
      <dgm:prSet presAssocID="{9F09AD0E-EDF9-4197-B778-6D247774B862}" presName="parentLeftMargin" presStyleLbl="node1" presStyleIdx="1" presStyleCnt="3"/>
      <dgm:spPr/>
    </dgm:pt>
    <dgm:pt modelId="{8DD4C3CC-EB8C-433A-9E06-4619426236D0}" type="pres">
      <dgm:prSet presAssocID="{9F09AD0E-EDF9-4197-B778-6D247774B862}" presName="parentText" presStyleLbl="node1" presStyleIdx="2" presStyleCnt="3" custScaleX="108667">
        <dgm:presLayoutVars>
          <dgm:chMax val="0"/>
          <dgm:bulletEnabled val="1"/>
        </dgm:presLayoutVars>
      </dgm:prSet>
      <dgm:spPr/>
    </dgm:pt>
    <dgm:pt modelId="{6F7E29D0-FAA1-40CB-AC0E-F54CF54D3CCA}" type="pres">
      <dgm:prSet presAssocID="{9F09AD0E-EDF9-4197-B778-6D247774B862}" presName="negativeSpace" presStyleCnt="0"/>
      <dgm:spPr/>
    </dgm:pt>
    <dgm:pt modelId="{7A312979-3E30-446C-B810-5FC246B4E7F8}" type="pres">
      <dgm:prSet presAssocID="{9F09AD0E-EDF9-4197-B778-6D247774B862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84B4623-A5C9-40A2-B6FE-2A238C0D72CC}" srcId="{E16C3A88-EB9D-4021-8E3D-67504BBE99F0}" destId="{424E41C8-14DA-4B62-8763-63063E1E2742}" srcOrd="0" destOrd="0" parTransId="{D7329C10-CDD9-403D-970E-7C4DAA5F7A08}" sibTransId="{09D78151-672C-4F63-9F7F-905A31BCBF83}"/>
    <dgm:cxn modelId="{52736D2A-A679-4B2B-802D-B543F83ABBAF}" srcId="{2E14FC91-5C1E-4989-AFD9-4E0740B501EE}" destId="{5A0CA4B5-DA6C-4B4E-90F1-2422C6D65353}" srcOrd="0" destOrd="0" parTransId="{F4DA1F56-B11F-4551-AA9E-608C6514A79C}" sibTransId="{2E8432F9-C7E4-42A4-AECB-8D7B67E7AB7C}"/>
    <dgm:cxn modelId="{19B8B833-9A02-4720-9FE0-B05EF9D48386}" srcId="{2E14FC91-5C1E-4989-AFD9-4E0740B501EE}" destId="{9F09AD0E-EDF9-4197-B778-6D247774B862}" srcOrd="2" destOrd="0" parTransId="{10525E15-D33E-4820-8314-5B86AA8073D3}" sibTransId="{37509AD7-ACDA-4509-82AA-A4683A01D538}"/>
    <dgm:cxn modelId="{43B0D734-6BD0-4A46-BAC0-8D26913A9399}" type="presOf" srcId="{E16C3A88-EB9D-4021-8E3D-67504BBE99F0}" destId="{CF1222F1-42F9-4AA1-96C1-2F23CA63A265}" srcOrd="0" destOrd="0" presId="urn:microsoft.com/office/officeart/2005/8/layout/list1"/>
    <dgm:cxn modelId="{2FFF0752-224E-46B8-B1D9-1A0A6DA425CD}" type="presOf" srcId="{5A0CA4B5-DA6C-4B4E-90F1-2422C6D65353}" destId="{C755328B-6A3D-4609-9338-020FE5FC6929}" srcOrd="1" destOrd="0" presId="urn:microsoft.com/office/officeart/2005/8/layout/list1"/>
    <dgm:cxn modelId="{A050DF77-5E4C-4DE9-8EC6-895E61A5B9B5}" type="presOf" srcId="{424E41C8-14DA-4B62-8763-63063E1E2742}" destId="{1D352020-4A7D-4B58-A385-5513376F4B0A}" srcOrd="0" destOrd="0" presId="urn:microsoft.com/office/officeart/2005/8/layout/list1"/>
    <dgm:cxn modelId="{8BFEBB84-6F87-402A-9F63-8BDCF11231DA}" srcId="{9F09AD0E-EDF9-4197-B778-6D247774B862}" destId="{C054BC3A-43EB-44F8-BF99-77B37398D3A5}" srcOrd="0" destOrd="0" parTransId="{8F7B5247-A363-44B7-9683-0624468E3D7B}" sibTransId="{B34B62CD-9D9F-4E7D-AEBB-942C540BD38A}"/>
    <dgm:cxn modelId="{EC53EC93-566E-4FDA-800C-86521C185FEF}" type="presOf" srcId="{C054BC3A-43EB-44F8-BF99-77B37398D3A5}" destId="{7A312979-3E30-446C-B810-5FC246B4E7F8}" srcOrd="0" destOrd="0" presId="urn:microsoft.com/office/officeart/2005/8/layout/list1"/>
    <dgm:cxn modelId="{87859196-2447-4D93-BBDA-C6580A7E72AD}" type="presOf" srcId="{9F09AD0E-EDF9-4197-B778-6D247774B862}" destId="{0347E767-EEE2-4534-B22B-5BD9218EADEA}" srcOrd="0" destOrd="0" presId="urn:microsoft.com/office/officeart/2005/8/layout/list1"/>
    <dgm:cxn modelId="{56A9D79A-FD45-48DA-87D9-D81EDF80CCF1}" srcId="{2E14FC91-5C1E-4989-AFD9-4E0740B501EE}" destId="{E16C3A88-EB9D-4021-8E3D-67504BBE99F0}" srcOrd="1" destOrd="0" parTransId="{2E4A2F27-AA87-41EF-9D96-3A376FF5A294}" sibTransId="{E168B857-B4D3-4059-B5BE-4754EDFBEEAC}"/>
    <dgm:cxn modelId="{741031A3-74B7-4359-88CA-ECB0FAD7B642}" type="presOf" srcId="{9F09AD0E-EDF9-4197-B778-6D247774B862}" destId="{8DD4C3CC-EB8C-433A-9E06-4619426236D0}" srcOrd="1" destOrd="0" presId="urn:microsoft.com/office/officeart/2005/8/layout/list1"/>
    <dgm:cxn modelId="{046DA8A7-B701-44A6-8BDC-02A42F0C9EB0}" type="presOf" srcId="{2E14FC91-5C1E-4989-AFD9-4E0740B501EE}" destId="{E902A752-C112-4DF5-BCE8-5F96D3D4653E}" srcOrd="0" destOrd="0" presId="urn:microsoft.com/office/officeart/2005/8/layout/list1"/>
    <dgm:cxn modelId="{F5A9D8AE-616D-4BD0-B636-3D3B804B1680}" type="presOf" srcId="{5A0CA4B5-DA6C-4B4E-90F1-2422C6D65353}" destId="{FEF9ADEE-C52E-4329-865E-B0EF709CF96F}" srcOrd="0" destOrd="0" presId="urn:microsoft.com/office/officeart/2005/8/layout/list1"/>
    <dgm:cxn modelId="{D82F7FDB-DC13-461C-8E47-81AD1CC904D4}" type="presOf" srcId="{E16C3A88-EB9D-4021-8E3D-67504BBE99F0}" destId="{E3079A9F-3DB1-43B5-AD71-8F5B1E93D2BC}" srcOrd="1" destOrd="0" presId="urn:microsoft.com/office/officeart/2005/8/layout/list1"/>
    <dgm:cxn modelId="{FE230A0B-5C83-46EC-8EAF-13DC354EB0B7}" type="presParOf" srcId="{E902A752-C112-4DF5-BCE8-5F96D3D4653E}" destId="{73D10DB5-C083-4575-A3E6-680436040675}" srcOrd="0" destOrd="0" presId="urn:microsoft.com/office/officeart/2005/8/layout/list1"/>
    <dgm:cxn modelId="{217FB197-E607-4B04-8EA6-5897A2B3D1D2}" type="presParOf" srcId="{73D10DB5-C083-4575-A3E6-680436040675}" destId="{FEF9ADEE-C52E-4329-865E-B0EF709CF96F}" srcOrd="0" destOrd="0" presId="urn:microsoft.com/office/officeart/2005/8/layout/list1"/>
    <dgm:cxn modelId="{E40DC66E-BCD3-41FD-8486-FFFF01D81850}" type="presParOf" srcId="{73D10DB5-C083-4575-A3E6-680436040675}" destId="{C755328B-6A3D-4609-9338-020FE5FC6929}" srcOrd="1" destOrd="0" presId="urn:microsoft.com/office/officeart/2005/8/layout/list1"/>
    <dgm:cxn modelId="{0EF08014-C004-4958-8E7F-723C8447B77E}" type="presParOf" srcId="{E902A752-C112-4DF5-BCE8-5F96D3D4653E}" destId="{748ACE03-9BCB-457A-A0AF-502864E81AB1}" srcOrd="1" destOrd="0" presId="urn:microsoft.com/office/officeart/2005/8/layout/list1"/>
    <dgm:cxn modelId="{3BA886F9-8D5E-4D54-9892-5F4BA352C4CE}" type="presParOf" srcId="{E902A752-C112-4DF5-BCE8-5F96D3D4653E}" destId="{D2D06445-72C6-4956-9CE4-A72F0DF909F4}" srcOrd="2" destOrd="0" presId="urn:microsoft.com/office/officeart/2005/8/layout/list1"/>
    <dgm:cxn modelId="{FB5BB18E-C3EE-4D3B-841A-FEF4A37B38A8}" type="presParOf" srcId="{E902A752-C112-4DF5-BCE8-5F96D3D4653E}" destId="{20A2581C-053C-4E45-B771-DE164D1F4EED}" srcOrd="3" destOrd="0" presId="urn:microsoft.com/office/officeart/2005/8/layout/list1"/>
    <dgm:cxn modelId="{EBFBDF05-C7EA-422C-B9E6-9783D851159F}" type="presParOf" srcId="{E902A752-C112-4DF5-BCE8-5F96D3D4653E}" destId="{B6AF169F-3799-4637-8901-B11F3CA56FCE}" srcOrd="4" destOrd="0" presId="urn:microsoft.com/office/officeart/2005/8/layout/list1"/>
    <dgm:cxn modelId="{44A4AFC2-161E-4A81-B72D-5FE3C5C97CFF}" type="presParOf" srcId="{B6AF169F-3799-4637-8901-B11F3CA56FCE}" destId="{CF1222F1-42F9-4AA1-96C1-2F23CA63A265}" srcOrd="0" destOrd="0" presId="urn:microsoft.com/office/officeart/2005/8/layout/list1"/>
    <dgm:cxn modelId="{14E96C42-4307-4572-A0E6-442410618DF4}" type="presParOf" srcId="{B6AF169F-3799-4637-8901-B11F3CA56FCE}" destId="{E3079A9F-3DB1-43B5-AD71-8F5B1E93D2BC}" srcOrd="1" destOrd="0" presId="urn:microsoft.com/office/officeart/2005/8/layout/list1"/>
    <dgm:cxn modelId="{2CB65A02-69AC-48D3-BE4A-8346BAC5FEBB}" type="presParOf" srcId="{E902A752-C112-4DF5-BCE8-5F96D3D4653E}" destId="{DED7274E-B847-4221-BFB7-3E4814B53360}" srcOrd="5" destOrd="0" presId="urn:microsoft.com/office/officeart/2005/8/layout/list1"/>
    <dgm:cxn modelId="{5F538FFE-133D-428D-B588-581CD8F30A8B}" type="presParOf" srcId="{E902A752-C112-4DF5-BCE8-5F96D3D4653E}" destId="{1D352020-4A7D-4B58-A385-5513376F4B0A}" srcOrd="6" destOrd="0" presId="urn:microsoft.com/office/officeart/2005/8/layout/list1"/>
    <dgm:cxn modelId="{F82D2E41-739D-47CA-84E2-2E4F334DA954}" type="presParOf" srcId="{E902A752-C112-4DF5-BCE8-5F96D3D4653E}" destId="{C14B454F-A128-4E2B-AA74-6BF7732969F3}" srcOrd="7" destOrd="0" presId="urn:microsoft.com/office/officeart/2005/8/layout/list1"/>
    <dgm:cxn modelId="{03FD68E1-BC59-4717-91A1-DD9F9FDF2B35}" type="presParOf" srcId="{E902A752-C112-4DF5-BCE8-5F96D3D4653E}" destId="{A6B9AAC1-B7CB-4E9A-B15D-D36F05D2E2DD}" srcOrd="8" destOrd="0" presId="urn:microsoft.com/office/officeart/2005/8/layout/list1"/>
    <dgm:cxn modelId="{877C2BEE-4440-49B3-BDEA-00E72D149E07}" type="presParOf" srcId="{A6B9AAC1-B7CB-4E9A-B15D-D36F05D2E2DD}" destId="{0347E767-EEE2-4534-B22B-5BD9218EADEA}" srcOrd="0" destOrd="0" presId="urn:microsoft.com/office/officeart/2005/8/layout/list1"/>
    <dgm:cxn modelId="{622EBEFA-5260-4738-8953-CDE4A0FDAC95}" type="presParOf" srcId="{A6B9AAC1-B7CB-4E9A-B15D-D36F05D2E2DD}" destId="{8DD4C3CC-EB8C-433A-9E06-4619426236D0}" srcOrd="1" destOrd="0" presId="urn:microsoft.com/office/officeart/2005/8/layout/list1"/>
    <dgm:cxn modelId="{3E3122F0-B3DE-45B2-BC8B-C6985F3F5F7B}" type="presParOf" srcId="{E902A752-C112-4DF5-BCE8-5F96D3D4653E}" destId="{6F7E29D0-FAA1-40CB-AC0E-F54CF54D3CCA}" srcOrd="9" destOrd="0" presId="urn:microsoft.com/office/officeart/2005/8/layout/list1"/>
    <dgm:cxn modelId="{48AD2135-B116-4206-A3A5-0054AD0DA0BF}" type="presParOf" srcId="{E902A752-C112-4DF5-BCE8-5F96D3D4653E}" destId="{7A312979-3E30-446C-B810-5FC246B4E7F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972F052-904A-445D-89E0-12C6F72AC135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1B1967-86E1-46A9-8156-09E9AAF5BDE1}">
      <dgm:prSet custT="1"/>
      <dgm:spPr/>
      <dgm:t>
        <a:bodyPr/>
        <a:lstStyle/>
        <a:p>
          <a:r>
            <a:rPr lang="fr-CA" sz="2800" dirty="0"/>
            <a:t>Découle  du plan stratégique</a:t>
          </a:r>
          <a:endParaRPr lang="en-US" sz="2800" dirty="0"/>
        </a:p>
      </dgm:t>
    </dgm:pt>
    <dgm:pt modelId="{311F88F1-7555-4B8D-A111-C7BB649B6A97}" type="parTrans" cxnId="{14DA3C92-E565-4078-BF89-5BA18A70CA0C}">
      <dgm:prSet/>
      <dgm:spPr/>
      <dgm:t>
        <a:bodyPr/>
        <a:lstStyle/>
        <a:p>
          <a:endParaRPr lang="en-US" sz="2000"/>
        </a:p>
      </dgm:t>
    </dgm:pt>
    <dgm:pt modelId="{A557642A-D4C5-43E4-8F3E-F6A45E4EAEE2}" type="sibTrans" cxnId="{14DA3C92-E565-4078-BF89-5BA18A70CA0C}">
      <dgm:prSet/>
      <dgm:spPr/>
      <dgm:t>
        <a:bodyPr/>
        <a:lstStyle/>
        <a:p>
          <a:endParaRPr lang="en-US" sz="2000"/>
        </a:p>
      </dgm:t>
    </dgm:pt>
    <dgm:pt modelId="{C9333499-DE5D-479F-9717-3F30FFA6C93E}">
      <dgm:prSet custT="1"/>
      <dgm:spPr/>
      <dgm:t>
        <a:bodyPr/>
        <a:lstStyle/>
        <a:p>
          <a:r>
            <a:rPr lang="fr-CA" sz="2400" b="1" dirty="0"/>
            <a:t>Inclut :</a:t>
          </a:r>
        </a:p>
        <a:p>
          <a:r>
            <a:rPr lang="fr-CA" sz="2400" dirty="0"/>
            <a:t>Nouveaux investissements </a:t>
          </a:r>
        </a:p>
        <a:p>
          <a:r>
            <a:rPr lang="fr-CA" sz="2400" dirty="0"/>
            <a:t>Plans d’entretien ou de rénovation des infrastructures existantes</a:t>
          </a:r>
          <a:endParaRPr lang="en-US" sz="2400" dirty="0"/>
        </a:p>
      </dgm:t>
    </dgm:pt>
    <dgm:pt modelId="{6724666A-EC75-472F-AC90-6686B3302CA4}" type="parTrans" cxnId="{0F9DCF1E-9596-4F67-8AE1-BF6232C125B4}">
      <dgm:prSet/>
      <dgm:spPr/>
      <dgm:t>
        <a:bodyPr/>
        <a:lstStyle/>
        <a:p>
          <a:endParaRPr lang="en-US" sz="2000"/>
        </a:p>
      </dgm:t>
    </dgm:pt>
    <dgm:pt modelId="{C16E1841-0025-4899-84C4-46EA8A1B91C5}" type="sibTrans" cxnId="{0F9DCF1E-9596-4F67-8AE1-BF6232C125B4}">
      <dgm:prSet/>
      <dgm:spPr/>
      <dgm:t>
        <a:bodyPr/>
        <a:lstStyle/>
        <a:p>
          <a:endParaRPr lang="en-US" sz="2000"/>
        </a:p>
      </dgm:t>
    </dgm:pt>
    <dgm:pt modelId="{976DA378-7B2B-4C02-B5E3-FCE61DDCE85A}">
      <dgm:prSet custT="1"/>
      <dgm:spPr/>
      <dgm:t>
        <a:bodyPr/>
        <a:lstStyle/>
        <a:p>
          <a:pPr algn="ctr"/>
          <a:r>
            <a:rPr lang="fr-CA" sz="2400" dirty="0"/>
            <a:t>Doit généralement s’accompagner d’un plan de financement </a:t>
          </a:r>
          <a:endParaRPr lang="en-US" sz="2400" dirty="0"/>
        </a:p>
      </dgm:t>
    </dgm:pt>
    <dgm:pt modelId="{BAF1272E-D84E-41F0-9D0F-17610A652907}" type="parTrans" cxnId="{25284B10-AB99-495E-86F1-B13B36888247}">
      <dgm:prSet/>
      <dgm:spPr/>
      <dgm:t>
        <a:bodyPr/>
        <a:lstStyle/>
        <a:p>
          <a:endParaRPr lang="en-US" sz="2000"/>
        </a:p>
      </dgm:t>
    </dgm:pt>
    <dgm:pt modelId="{CD42F809-9941-481E-AF7A-20C37C59BC00}" type="sibTrans" cxnId="{25284B10-AB99-495E-86F1-B13B36888247}">
      <dgm:prSet/>
      <dgm:spPr/>
      <dgm:t>
        <a:bodyPr/>
        <a:lstStyle/>
        <a:p>
          <a:endParaRPr lang="en-US" sz="2000"/>
        </a:p>
      </dgm:t>
    </dgm:pt>
    <dgm:pt modelId="{57E3A3D1-DFCA-4CBF-8D63-29074AE6996A}">
      <dgm:prSet custT="1"/>
      <dgm:spPr/>
      <dgm:t>
        <a:bodyPr/>
        <a:lstStyle/>
        <a:p>
          <a:r>
            <a:rPr lang="fr-CA" sz="2400" b="1" u="sng" dirty="0"/>
            <a:t>Faiblesse fréquente  </a:t>
          </a:r>
          <a:r>
            <a:rPr lang="fr-CA" sz="2400" dirty="0"/>
            <a:t>Surutilisation du budget d’exploitation et des fonds auto-générés</a:t>
          </a:r>
          <a:endParaRPr lang="en-US" sz="2400" dirty="0"/>
        </a:p>
      </dgm:t>
    </dgm:pt>
    <dgm:pt modelId="{3EB4F6B8-9BB2-45C6-8E2F-B9FDFE8ED927}" type="parTrans" cxnId="{C1E118F1-2DC3-4E95-9C77-BC51C8E4A5B7}">
      <dgm:prSet/>
      <dgm:spPr/>
      <dgm:t>
        <a:bodyPr/>
        <a:lstStyle/>
        <a:p>
          <a:endParaRPr lang="en-US" sz="2000"/>
        </a:p>
      </dgm:t>
    </dgm:pt>
    <dgm:pt modelId="{9A16ABAC-2FE4-4A6A-A5AB-6F05FED281AD}" type="sibTrans" cxnId="{C1E118F1-2DC3-4E95-9C77-BC51C8E4A5B7}">
      <dgm:prSet/>
      <dgm:spPr/>
      <dgm:t>
        <a:bodyPr/>
        <a:lstStyle/>
        <a:p>
          <a:endParaRPr lang="en-US" sz="2000"/>
        </a:p>
      </dgm:t>
    </dgm:pt>
    <dgm:pt modelId="{B6036D1F-044E-4E82-A158-F9872D81AD05}">
      <dgm:prSet custT="1"/>
      <dgm:spPr/>
      <dgm:t>
        <a:bodyPr/>
        <a:lstStyle/>
        <a:p>
          <a:r>
            <a:rPr lang="fr-CA" sz="1800" dirty="0"/>
            <a:t>Exemple: Enjeux créés par la faiblesse des fonds de prévoyance pour les copropriétés</a:t>
          </a:r>
          <a:endParaRPr lang="en-US" sz="1800" dirty="0"/>
        </a:p>
      </dgm:t>
    </dgm:pt>
    <dgm:pt modelId="{2A4F1A38-B381-4F10-9F2F-9D9E7510AF7D}" type="parTrans" cxnId="{5185EE7E-83E8-4CE9-843F-A9F7638916B3}">
      <dgm:prSet/>
      <dgm:spPr/>
      <dgm:t>
        <a:bodyPr/>
        <a:lstStyle/>
        <a:p>
          <a:endParaRPr lang="en-US" sz="2000"/>
        </a:p>
      </dgm:t>
    </dgm:pt>
    <dgm:pt modelId="{4BBF2CC4-065A-4F38-BFB4-D340776358A7}" type="sibTrans" cxnId="{5185EE7E-83E8-4CE9-843F-A9F7638916B3}">
      <dgm:prSet/>
      <dgm:spPr/>
      <dgm:t>
        <a:bodyPr/>
        <a:lstStyle/>
        <a:p>
          <a:endParaRPr lang="en-US" sz="2000"/>
        </a:p>
      </dgm:t>
    </dgm:pt>
    <dgm:pt modelId="{EC7A1F42-0E1A-401E-AF5C-796D1B011109}" type="pres">
      <dgm:prSet presAssocID="{3972F052-904A-445D-89E0-12C6F72AC135}" presName="diagram" presStyleCnt="0">
        <dgm:presLayoutVars>
          <dgm:dir/>
          <dgm:resizeHandles val="exact"/>
        </dgm:presLayoutVars>
      </dgm:prSet>
      <dgm:spPr/>
    </dgm:pt>
    <dgm:pt modelId="{FDA0D3D9-F60B-488F-94E8-5D5B2A580C7E}" type="pres">
      <dgm:prSet presAssocID="{B71B1967-86E1-46A9-8156-09E9AAF5BDE1}" presName="node" presStyleLbl="node1" presStyleIdx="0" presStyleCnt="4" custScaleX="91104" custScaleY="76837">
        <dgm:presLayoutVars>
          <dgm:bulletEnabled val="1"/>
        </dgm:presLayoutVars>
      </dgm:prSet>
      <dgm:spPr/>
    </dgm:pt>
    <dgm:pt modelId="{17702085-0475-4232-9F7C-1BB1C272AF1E}" type="pres">
      <dgm:prSet presAssocID="{A557642A-D4C5-43E4-8F3E-F6A45E4EAEE2}" presName="sibTrans" presStyleCnt="0"/>
      <dgm:spPr/>
    </dgm:pt>
    <dgm:pt modelId="{14D26168-746F-4548-A464-462D4B284533}" type="pres">
      <dgm:prSet presAssocID="{C9333499-DE5D-479F-9717-3F30FFA6C93E}" presName="node" presStyleLbl="node1" presStyleIdx="1" presStyleCnt="4" custScaleX="91104" custScaleY="76837">
        <dgm:presLayoutVars>
          <dgm:bulletEnabled val="1"/>
        </dgm:presLayoutVars>
      </dgm:prSet>
      <dgm:spPr/>
    </dgm:pt>
    <dgm:pt modelId="{8C6FC911-6B10-4586-A498-FF9FA0EEA4D3}" type="pres">
      <dgm:prSet presAssocID="{C16E1841-0025-4899-84C4-46EA8A1B91C5}" presName="sibTrans" presStyleCnt="0"/>
      <dgm:spPr/>
    </dgm:pt>
    <dgm:pt modelId="{123EB698-530A-4F9B-9B85-4670A79ABF14}" type="pres">
      <dgm:prSet presAssocID="{976DA378-7B2B-4C02-B5E3-FCE61DDCE85A}" presName="node" presStyleLbl="node1" presStyleIdx="2" presStyleCnt="4" custScaleX="91104" custScaleY="76837">
        <dgm:presLayoutVars>
          <dgm:bulletEnabled val="1"/>
        </dgm:presLayoutVars>
      </dgm:prSet>
      <dgm:spPr/>
    </dgm:pt>
    <dgm:pt modelId="{E048CCF2-3834-45EE-BF5A-F0434010C14C}" type="pres">
      <dgm:prSet presAssocID="{CD42F809-9941-481E-AF7A-20C37C59BC00}" presName="sibTrans" presStyleCnt="0"/>
      <dgm:spPr/>
    </dgm:pt>
    <dgm:pt modelId="{B11E9407-DA40-4F1D-BF16-DD240F55D3F3}" type="pres">
      <dgm:prSet presAssocID="{57E3A3D1-DFCA-4CBF-8D63-29074AE6996A}" presName="node" presStyleLbl="node1" presStyleIdx="3" presStyleCnt="4" custScaleX="91104" custScaleY="76837">
        <dgm:presLayoutVars>
          <dgm:bulletEnabled val="1"/>
        </dgm:presLayoutVars>
      </dgm:prSet>
      <dgm:spPr/>
    </dgm:pt>
  </dgm:ptLst>
  <dgm:cxnLst>
    <dgm:cxn modelId="{25284B10-AB99-495E-86F1-B13B36888247}" srcId="{3972F052-904A-445D-89E0-12C6F72AC135}" destId="{976DA378-7B2B-4C02-B5E3-FCE61DDCE85A}" srcOrd="2" destOrd="0" parTransId="{BAF1272E-D84E-41F0-9D0F-17610A652907}" sibTransId="{CD42F809-9941-481E-AF7A-20C37C59BC00}"/>
    <dgm:cxn modelId="{0F9DCF1E-9596-4F67-8AE1-BF6232C125B4}" srcId="{3972F052-904A-445D-89E0-12C6F72AC135}" destId="{C9333499-DE5D-479F-9717-3F30FFA6C93E}" srcOrd="1" destOrd="0" parTransId="{6724666A-EC75-472F-AC90-6686B3302CA4}" sibTransId="{C16E1841-0025-4899-84C4-46EA8A1B91C5}"/>
    <dgm:cxn modelId="{57AB4132-29A7-4889-8693-E15D66B31CA8}" type="presOf" srcId="{C9333499-DE5D-479F-9717-3F30FFA6C93E}" destId="{14D26168-746F-4548-A464-462D4B284533}" srcOrd="0" destOrd="0" presId="urn:microsoft.com/office/officeart/2005/8/layout/default"/>
    <dgm:cxn modelId="{22511961-08B1-46AF-8B6D-26B80628602D}" type="presOf" srcId="{57E3A3D1-DFCA-4CBF-8D63-29074AE6996A}" destId="{B11E9407-DA40-4F1D-BF16-DD240F55D3F3}" srcOrd="0" destOrd="0" presId="urn:microsoft.com/office/officeart/2005/8/layout/default"/>
    <dgm:cxn modelId="{5185EE7E-83E8-4CE9-843F-A9F7638916B3}" srcId="{57E3A3D1-DFCA-4CBF-8D63-29074AE6996A}" destId="{B6036D1F-044E-4E82-A158-F9872D81AD05}" srcOrd="0" destOrd="0" parTransId="{2A4F1A38-B381-4F10-9F2F-9D9E7510AF7D}" sibTransId="{4BBF2CC4-065A-4F38-BFB4-D340776358A7}"/>
    <dgm:cxn modelId="{14DA3C92-E565-4078-BF89-5BA18A70CA0C}" srcId="{3972F052-904A-445D-89E0-12C6F72AC135}" destId="{B71B1967-86E1-46A9-8156-09E9AAF5BDE1}" srcOrd="0" destOrd="0" parTransId="{311F88F1-7555-4B8D-A111-C7BB649B6A97}" sibTransId="{A557642A-D4C5-43E4-8F3E-F6A45E4EAEE2}"/>
    <dgm:cxn modelId="{DDB8E8C3-B3D6-4331-A077-D9D7C4231521}" type="presOf" srcId="{B6036D1F-044E-4E82-A158-F9872D81AD05}" destId="{B11E9407-DA40-4F1D-BF16-DD240F55D3F3}" srcOrd="0" destOrd="1" presId="urn:microsoft.com/office/officeart/2005/8/layout/default"/>
    <dgm:cxn modelId="{CAE336CA-84E2-433E-B216-34F3C58EF653}" type="presOf" srcId="{B71B1967-86E1-46A9-8156-09E9AAF5BDE1}" destId="{FDA0D3D9-F60B-488F-94E8-5D5B2A580C7E}" srcOrd="0" destOrd="0" presId="urn:microsoft.com/office/officeart/2005/8/layout/default"/>
    <dgm:cxn modelId="{6AC754DD-A87F-4F48-94BD-7F49AF52C6F8}" type="presOf" srcId="{3972F052-904A-445D-89E0-12C6F72AC135}" destId="{EC7A1F42-0E1A-401E-AF5C-796D1B011109}" srcOrd="0" destOrd="0" presId="urn:microsoft.com/office/officeart/2005/8/layout/default"/>
    <dgm:cxn modelId="{C1E118F1-2DC3-4E95-9C77-BC51C8E4A5B7}" srcId="{3972F052-904A-445D-89E0-12C6F72AC135}" destId="{57E3A3D1-DFCA-4CBF-8D63-29074AE6996A}" srcOrd="3" destOrd="0" parTransId="{3EB4F6B8-9BB2-45C6-8E2F-B9FDFE8ED927}" sibTransId="{9A16ABAC-2FE4-4A6A-A5AB-6F05FED281AD}"/>
    <dgm:cxn modelId="{09E92BF9-13E8-45B5-B9E3-0E42969DE861}" type="presOf" srcId="{976DA378-7B2B-4C02-B5E3-FCE61DDCE85A}" destId="{123EB698-530A-4F9B-9B85-4670A79ABF14}" srcOrd="0" destOrd="0" presId="urn:microsoft.com/office/officeart/2005/8/layout/default"/>
    <dgm:cxn modelId="{90405DBB-C7A2-4D3F-A18E-DD9BAF623284}" type="presParOf" srcId="{EC7A1F42-0E1A-401E-AF5C-796D1B011109}" destId="{FDA0D3D9-F60B-488F-94E8-5D5B2A580C7E}" srcOrd="0" destOrd="0" presId="urn:microsoft.com/office/officeart/2005/8/layout/default"/>
    <dgm:cxn modelId="{09615630-5C60-4C50-9D58-C072E28F7151}" type="presParOf" srcId="{EC7A1F42-0E1A-401E-AF5C-796D1B011109}" destId="{17702085-0475-4232-9F7C-1BB1C272AF1E}" srcOrd="1" destOrd="0" presId="urn:microsoft.com/office/officeart/2005/8/layout/default"/>
    <dgm:cxn modelId="{3B16919B-9B5D-4DF9-92D9-A37BA69BF4DD}" type="presParOf" srcId="{EC7A1F42-0E1A-401E-AF5C-796D1B011109}" destId="{14D26168-746F-4548-A464-462D4B284533}" srcOrd="2" destOrd="0" presId="urn:microsoft.com/office/officeart/2005/8/layout/default"/>
    <dgm:cxn modelId="{17FB7489-FDD2-4DDD-B2E0-3B0272F8F2FC}" type="presParOf" srcId="{EC7A1F42-0E1A-401E-AF5C-796D1B011109}" destId="{8C6FC911-6B10-4586-A498-FF9FA0EEA4D3}" srcOrd="3" destOrd="0" presId="urn:microsoft.com/office/officeart/2005/8/layout/default"/>
    <dgm:cxn modelId="{16B4E838-0C2F-4151-AAAB-F9E73559FF7A}" type="presParOf" srcId="{EC7A1F42-0E1A-401E-AF5C-796D1B011109}" destId="{123EB698-530A-4F9B-9B85-4670A79ABF14}" srcOrd="4" destOrd="0" presId="urn:microsoft.com/office/officeart/2005/8/layout/default"/>
    <dgm:cxn modelId="{20953F7C-080F-4FC6-ABF4-F87C0031218B}" type="presParOf" srcId="{EC7A1F42-0E1A-401E-AF5C-796D1B011109}" destId="{E048CCF2-3834-45EE-BF5A-F0434010C14C}" srcOrd="5" destOrd="0" presId="urn:microsoft.com/office/officeart/2005/8/layout/default"/>
    <dgm:cxn modelId="{EDD47D6B-A501-47BD-9661-A3F4D4E23642}" type="presParOf" srcId="{EC7A1F42-0E1A-401E-AF5C-796D1B011109}" destId="{B11E9407-DA40-4F1D-BF16-DD240F55D3F3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8AD757C-AC82-4023-ABDE-CE5658AC4743}" type="doc">
      <dgm:prSet loTypeId="urn:microsoft.com/office/officeart/2005/8/layout/process4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4A85F2B-D174-46D7-81CC-DC2F46CF515F}">
      <dgm:prSet/>
      <dgm:spPr/>
      <dgm:t>
        <a:bodyPr/>
        <a:lstStyle/>
        <a:p>
          <a:r>
            <a:rPr lang="fr-CA" b="0" i="0" baseline="0" dirty="0"/>
            <a:t>Prévoir tous les impacts financiers de la planification établie en lien avec les objectifs stratégiques</a:t>
          </a:r>
          <a:endParaRPr lang="en-US" dirty="0"/>
        </a:p>
      </dgm:t>
    </dgm:pt>
    <dgm:pt modelId="{DFDC46A9-1234-484C-A0AC-2E76ECBFA767}" type="parTrans" cxnId="{FCF6F8DA-A773-4F15-B31F-B9A15A925E68}">
      <dgm:prSet/>
      <dgm:spPr/>
      <dgm:t>
        <a:bodyPr/>
        <a:lstStyle/>
        <a:p>
          <a:endParaRPr lang="en-US"/>
        </a:p>
      </dgm:t>
    </dgm:pt>
    <dgm:pt modelId="{FDAB4408-9CF4-46F0-9183-29B5042F9C44}" type="sibTrans" cxnId="{FCF6F8DA-A773-4F15-B31F-B9A15A925E68}">
      <dgm:prSet/>
      <dgm:spPr/>
      <dgm:t>
        <a:bodyPr/>
        <a:lstStyle/>
        <a:p>
          <a:endParaRPr lang="en-US"/>
        </a:p>
      </dgm:t>
    </dgm:pt>
    <dgm:pt modelId="{B5C65878-938B-422E-805A-F950ED50F027}">
      <dgm:prSet/>
      <dgm:spPr/>
      <dgm:t>
        <a:bodyPr/>
        <a:lstStyle/>
        <a:p>
          <a:r>
            <a:rPr lang="fr-CA" b="0" i="0" baseline="0" dirty="0"/>
            <a:t>Synthèse des grandes étapes</a:t>
          </a:r>
          <a:endParaRPr lang="en-US" dirty="0"/>
        </a:p>
      </dgm:t>
    </dgm:pt>
    <dgm:pt modelId="{2026C72D-8EF0-4788-AEA4-2CF5482C26B1}" type="parTrans" cxnId="{17DE4644-B4D6-43BA-82E3-627DCC599D3B}">
      <dgm:prSet/>
      <dgm:spPr/>
      <dgm:t>
        <a:bodyPr/>
        <a:lstStyle/>
        <a:p>
          <a:endParaRPr lang="en-US"/>
        </a:p>
      </dgm:t>
    </dgm:pt>
    <dgm:pt modelId="{DACFC579-22A7-4927-928E-8B726396BBA6}" type="sibTrans" cxnId="{17DE4644-B4D6-43BA-82E3-627DCC599D3B}">
      <dgm:prSet/>
      <dgm:spPr/>
      <dgm:t>
        <a:bodyPr/>
        <a:lstStyle/>
        <a:p>
          <a:endParaRPr lang="en-US"/>
        </a:p>
      </dgm:t>
    </dgm:pt>
    <dgm:pt modelId="{1A3DB7F3-1E70-4EBA-BE07-ECC1E29D0461}">
      <dgm:prSet custT="1"/>
      <dgm:spPr/>
      <dgm:t>
        <a:bodyPr/>
        <a:lstStyle/>
        <a:p>
          <a:r>
            <a:rPr lang="fr-CA" sz="1600" b="1" i="0" baseline="0" dirty="0"/>
            <a:t>Objectifs de croissance</a:t>
          </a:r>
        </a:p>
        <a:p>
          <a:r>
            <a:rPr lang="fr-CA" sz="1600" b="1" i="0" baseline="0" dirty="0"/>
            <a:t> </a:t>
          </a:r>
          <a:r>
            <a:rPr lang="fr-CA" sz="1600" b="0" i="0" baseline="0" dirty="0"/>
            <a:t>Impact sur les revenus </a:t>
          </a:r>
        </a:p>
        <a:p>
          <a:r>
            <a:rPr lang="fr-CA" sz="1600" b="0" i="0" baseline="0" dirty="0"/>
            <a:t> </a:t>
          </a:r>
          <a:r>
            <a:rPr lang="fr-CA" sz="1600" b="0" i="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budget des ventes</a:t>
          </a:r>
          <a:endParaRPr lang="en-US" sz="16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619654B-CD3C-4C22-B08F-AB9491097C12}" type="parTrans" cxnId="{65FCCAE2-65D6-41D7-8491-FEDE20DF67A5}">
      <dgm:prSet/>
      <dgm:spPr/>
      <dgm:t>
        <a:bodyPr/>
        <a:lstStyle/>
        <a:p>
          <a:endParaRPr lang="en-US"/>
        </a:p>
      </dgm:t>
    </dgm:pt>
    <dgm:pt modelId="{AED7E6D4-8741-4334-8FCE-2B4EFC991230}" type="sibTrans" cxnId="{65FCCAE2-65D6-41D7-8491-FEDE20DF67A5}">
      <dgm:prSet/>
      <dgm:spPr/>
      <dgm:t>
        <a:bodyPr/>
        <a:lstStyle/>
        <a:p>
          <a:endParaRPr lang="en-US"/>
        </a:p>
      </dgm:t>
    </dgm:pt>
    <dgm:pt modelId="{BCC1512D-C943-4E2E-97DC-6160943F6F4E}">
      <dgm:prSet custT="1"/>
      <dgm:spPr>
        <a:solidFill>
          <a:schemeClr val="accent2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fr-CA" sz="1800" b="1" i="0" kern="1200" baseline="0" dirty="0"/>
            <a:t>Objectifs d’efficience</a:t>
          </a:r>
        </a:p>
        <a:p>
          <a:r>
            <a:rPr lang="fr-CA" sz="1600" b="0" i="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" panose="020F0502020204030204"/>
              <a:ea typeface="+mn-ea"/>
              <a:cs typeface="+mn-cs"/>
            </a:rPr>
            <a:t> Impact sur la production</a:t>
          </a:r>
        </a:p>
        <a:p>
          <a:r>
            <a:rPr lang="fr-CA" sz="1600" b="0" i="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+mn-ea"/>
              <a:cs typeface="+mn-cs"/>
            </a:rPr>
            <a:t> budget de production</a:t>
          </a:r>
          <a:endParaRPr lang="en-US" sz="1600" b="0" i="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" panose="020F0502020204030204"/>
            <a:ea typeface="+mn-ea"/>
            <a:cs typeface="+mn-cs"/>
          </a:endParaRPr>
        </a:p>
      </dgm:t>
    </dgm:pt>
    <dgm:pt modelId="{98D2DCC6-970A-4F30-971B-E455D4C48653}" type="parTrans" cxnId="{B120D152-B0D4-46EE-9867-E06B11041403}">
      <dgm:prSet/>
      <dgm:spPr/>
      <dgm:t>
        <a:bodyPr/>
        <a:lstStyle/>
        <a:p>
          <a:endParaRPr lang="en-US"/>
        </a:p>
      </dgm:t>
    </dgm:pt>
    <dgm:pt modelId="{6E4FDF94-C81F-4DBA-8FD6-BE14758F5D3A}" type="sibTrans" cxnId="{B120D152-B0D4-46EE-9867-E06B11041403}">
      <dgm:prSet/>
      <dgm:spPr/>
      <dgm:t>
        <a:bodyPr/>
        <a:lstStyle/>
        <a:p>
          <a:endParaRPr lang="en-US"/>
        </a:p>
      </dgm:t>
    </dgm:pt>
    <dgm:pt modelId="{772B21A8-32D3-48F9-BF35-27AE35916EBF}">
      <dgm:prSet custT="1"/>
      <dgm:spPr/>
      <dgm:t>
        <a:bodyPr/>
        <a:lstStyle/>
        <a:p>
          <a:pPr marL="0"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1" i="0" kern="1200" baseline="0" dirty="0"/>
            <a:t>Objectifs d’utilisation des ressources </a:t>
          </a:r>
        </a:p>
        <a:p>
          <a:pPr marL="0"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0" i="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" panose="020F0502020204030204"/>
              <a:ea typeface="+mn-ea"/>
              <a:cs typeface="+mn-cs"/>
            </a:rPr>
            <a:t>Impact sur les coûts de production  </a:t>
          </a:r>
        </a:p>
        <a:p>
          <a:pPr marL="0"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0" i="0" kern="120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budget des coûts de fabrication</a:t>
          </a:r>
          <a:endParaRPr lang="en-US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BAFE446-4006-4A68-BB25-C33BC7140060}" type="parTrans" cxnId="{77E0817E-4EC4-4ADE-A081-EC3096F025E1}">
      <dgm:prSet/>
      <dgm:spPr/>
      <dgm:t>
        <a:bodyPr/>
        <a:lstStyle/>
        <a:p>
          <a:endParaRPr lang="en-US"/>
        </a:p>
      </dgm:t>
    </dgm:pt>
    <dgm:pt modelId="{783F599B-F887-4ECE-800A-C01212363A1A}" type="sibTrans" cxnId="{77E0817E-4EC4-4ADE-A081-EC3096F025E1}">
      <dgm:prSet/>
      <dgm:spPr/>
      <dgm:t>
        <a:bodyPr/>
        <a:lstStyle/>
        <a:p>
          <a:endParaRPr lang="en-US"/>
        </a:p>
      </dgm:t>
    </dgm:pt>
    <dgm:pt modelId="{60E6C6EC-FCBD-48BF-AB7E-61A69186A4BC}">
      <dgm:prSet custT="1"/>
      <dgm:spPr>
        <a:solidFill>
          <a:schemeClr val="accent2">
            <a:lumMod val="40000"/>
            <a:lumOff val="60000"/>
            <a:alpha val="90000"/>
          </a:schemeClr>
        </a:solidFill>
      </dgm:spPr>
      <dgm:t>
        <a:bodyPr/>
        <a:lstStyle/>
        <a:p>
          <a:pPr marL="0"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1" i="0" kern="1200" baseline="0" dirty="0"/>
            <a:t>Objectifs économie d’autres ressources</a:t>
          </a:r>
        </a:p>
        <a:p>
          <a:pPr marL="0"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300" b="0" i="0" kern="1200" baseline="0" dirty="0"/>
            <a:t> </a:t>
          </a:r>
          <a:r>
            <a:rPr lang="fr-CA" sz="1600" b="0" i="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" panose="020F0502020204030204"/>
              <a:ea typeface="+mn-ea"/>
              <a:cs typeface="+mn-cs"/>
            </a:rPr>
            <a:t>Impact sur les frais discrétionnaires </a:t>
          </a:r>
        </a:p>
        <a:p>
          <a:pPr marL="0"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0" i="0" kern="120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Budget des départements de supports  </a:t>
          </a:r>
          <a:endParaRPr lang="en-US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E0B510B-D201-45AC-BB64-17607A89FDF7}" type="parTrans" cxnId="{F929AAC8-DD6A-483E-96D6-415EBD5D11F8}">
      <dgm:prSet/>
      <dgm:spPr/>
      <dgm:t>
        <a:bodyPr/>
        <a:lstStyle/>
        <a:p>
          <a:endParaRPr lang="en-US"/>
        </a:p>
      </dgm:t>
    </dgm:pt>
    <dgm:pt modelId="{54295EFB-CF90-4A97-9321-4C0EF971D560}" type="sibTrans" cxnId="{F929AAC8-DD6A-483E-96D6-415EBD5D11F8}">
      <dgm:prSet/>
      <dgm:spPr/>
      <dgm:t>
        <a:bodyPr/>
        <a:lstStyle/>
        <a:p>
          <a:endParaRPr lang="en-US"/>
        </a:p>
      </dgm:t>
    </dgm:pt>
    <dgm:pt modelId="{7FE16F8A-1B7E-459B-A631-FF6B6197D266}" type="pres">
      <dgm:prSet presAssocID="{88AD757C-AC82-4023-ABDE-CE5658AC4743}" presName="Name0" presStyleCnt="0">
        <dgm:presLayoutVars>
          <dgm:dir/>
          <dgm:animLvl val="lvl"/>
          <dgm:resizeHandles val="exact"/>
        </dgm:presLayoutVars>
      </dgm:prSet>
      <dgm:spPr/>
    </dgm:pt>
    <dgm:pt modelId="{1EB1CEF7-6F13-4E59-90E3-3024BE44A6D6}" type="pres">
      <dgm:prSet presAssocID="{B5C65878-938B-422E-805A-F950ED50F027}" presName="boxAndChildren" presStyleCnt="0"/>
      <dgm:spPr/>
    </dgm:pt>
    <dgm:pt modelId="{0AB448E4-E2A2-46D8-B270-2AFF770649C9}" type="pres">
      <dgm:prSet presAssocID="{B5C65878-938B-422E-805A-F950ED50F027}" presName="parentTextBox" presStyleLbl="node1" presStyleIdx="0" presStyleCnt="2"/>
      <dgm:spPr/>
    </dgm:pt>
    <dgm:pt modelId="{7DA5DAEF-8C68-43CF-9F6C-A9A6176A4C3D}" type="pres">
      <dgm:prSet presAssocID="{B5C65878-938B-422E-805A-F950ED50F027}" presName="entireBox" presStyleLbl="node1" presStyleIdx="0" presStyleCnt="2" custScaleX="99171" custScaleY="138239"/>
      <dgm:spPr/>
    </dgm:pt>
    <dgm:pt modelId="{D3B5EE19-2C19-44C1-AE45-2D76D6A031AB}" type="pres">
      <dgm:prSet presAssocID="{B5C65878-938B-422E-805A-F950ED50F027}" presName="descendantBox" presStyleCnt="0"/>
      <dgm:spPr/>
    </dgm:pt>
    <dgm:pt modelId="{3FB09132-DD94-4330-8DF0-68B5A22BAF38}" type="pres">
      <dgm:prSet presAssocID="{1A3DB7F3-1E70-4EBA-BE07-ECC1E29D0461}" presName="childTextBox" presStyleLbl="fgAccFollowNode1" presStyleIdx="0" presStyleCnt="4" custScaleX="94489" custScaleY="163830">
        <dgm:presLayoutVars>
          <dgm:bulletEnabled val="1"/>
        </dgm:presLayoutVars>
      </dgm:prSet>
      <dgm:spPr/>
    </dgm:pt>
    <dgm:pt modelId="{8959944D-9DDD-429A-9B39-F2346B9394D8}" type="pres">
      <dgm:prSet presAssocID="{BCC1512D-C943-4E2E-97DC-6160943F6F4E}" presName="childTextBox" presStyleLbl="fgAccFollowNode1" presStyleIdx="1" presStyleCnt="4" custScaleX="96124" custScaleY="163830">
        <dgm:presLayoutVars>
          <dgm:bulletEnabled val="1"/>
        </dgm:presLayoutVars>
      </dgm:prSet>
      <dgm:spPr/>
    </dgm:pt>
    <dgm:pt modelId="{BBFFFED7-54A9-4755-B9DA-5161D22E63AD}" type="pres">
      <dgm:prSet presAssocID="{772B21A8-32D3-48F9-BF35-27AE35916EBF}" presName="childTextBox" presStyleLbl="fgAccFollowNode1" presStyleIdx="2" presStyleCnt="4" custScaleX="98221" custScaleY="163830">
        <dgm:presLayoutVars>
          <dgm:bulletEnabled val="1"/>
        </dgm:presLayoutVars>
      </dgm:prSet>
      <dgm:spPr/>
    </dgm:pt>
    <dgm:pt modelId="{3CAC9595-5024-4DDA-845A-9CCEE7A8BAA5}" type="pres">
      <dgm:prSet presAssocID="{60E6C6EC-FCBD-48BF-AB7E-61A69186A4BC}" presName="childTextBox" presStyleLbl="fgAccFollowNode1" presStyleIdx="3" presStyleCnt="4" custScaleX="97353" custScaleY="166083">
        <dgm:presLayoutVars>
          <dgm:bulletEnabled val="1"/>
        </dgm:presLayoutVars>
      </dgm:prSet>
      <dgm:spPr/>
    </dgm:pt>
    <dgm:pt modelId="{66CCDB72-0ED2-443A-9191-F2D4DE6B1446}" type="pres">
      <dgm:prSet presAssocID="{FDAB4408-9CF4-46F0-9183-29B5042F9C44}" presName="sp" presStyleCnt="0"/>
      <dgm:spPr/>
    </dgm:pt>
    <dgm:pt modelId="{1275CE64-8667-4FE7-A9A2-7A40F92665A9}" type="pres">
      <dgm:prSet presAssocID="{84A85F2B-D174-46D7-81CC-DC2F46CF515F}" presName="arrowAndChildren" presStyleCnt="0"/>
      <dgm:spPr/>
    </dgm:pt>
    <dgm:pt modelId="{BE02F7CA-A70B-43C0-B01A-AC297E692B33}" type="pres">
      <dgm:prSet presAssocID="{84A85F2B-D174-46D7-81CC-DC2F46CF515F}" presName="parentTextArrow" presStyleLbl="node1" presStyleIdx="1" presStyleCnt="2" custScaleY="70517"/>
      <dgm:spPr/>
    </dgm:pt>
  </dgm:ptLst>
  <dgm:cxnLst>
    <dgm:cxn modelId="{4D53192D-56B5-41B9-B88B-A6B22F9202DE}" type="presOf" srcId="{772B21A8-32D3-48F9-BF35-27AE35916EBF}" destId="{BBFFFED7-54A9-4755-B9DA-5161D22E63AD}" srcOrd="0" destOrd="0" presId="urn:microsoft.com/office/officeart/2005/8/layout/process4"/>
    <dgm:cxn modelId="{17DE4644-B4D6-43BA-82E3-627DCC599D3B}" srcId="{88AD757C-AC82-4023-ABDE-CE5658AC4743}" destId="{B5C65878-938B-422E-805A-F950ED50F027}" srcOrd="1" destOrd="0" parTransId="{2026C72D-8EF0-4788-AEA4-2CF5482C26B1}" sibTransId="{DACFC579-22A7-4927-928E-8B726396BBA6}"/>
    <dgm:cxn modelId="{B120D152-B0D4-46EE-9867-E06B11041403}" srcId="{B5C65878-938B-422E-805A-F950ED50F027}" destId="{BCC1512D-C943-4E2E-97DC-6160943F6F4E}" srcOrd="1" destOrd="0" parTransId="{98D2DCC6-970A-4F30-971B-E455D4C48653}" sibTransId="{6E4FDF94-C81F-4DBA-8FD6-BE14758F5D3A}"/>
    <dgm:cxn modelId="{96138F77-5EE7-4E48-8294-EA233E6A71B6}" type="presOf" srcId="{B5C65878-938B-422E-805A-F950ED50F027}" destId="{7DA5DAEF-8C68-43CF-9F6C-A9A6176A4C3D}" srcOrd="1" destOrd="0" presId="urn:microsoft.com/office/officeart/2005/8/layout/process4"/>
    <dgm:cxn modelId="{77E0817E-4EC4-4ADE-A081-EC3096F025E1}" srcId="{B5C65878-938B-422E-805A-F950ED50F027}" destId="{772B21A8-32D3-48F9-BF35-27AE35916EBF}" srcOrd="2" destOrd="0" parTransId="{2BAFE446-4006-4A68-BB25-C33BC7140060}" sibTransId="{783F599B-F887-4ECE-800A-C01212363A1A}"/>
    <dgm:cxn modelId="{B4FE2080-6C17-400C-A50F-B69AA7931AAA}" type="presOf" srcId="{B5C65878-938B-422E-805A-F950ED50F027}" destId="{0AB448E4-E2A2-46D8-B270-2AFF770649C9}" srcOrd="0" destOrd="0" presId="urn:microsoft.com/office/officeart/2005/8/layout/process4"/>
    <dgm:cxn modelId="{B1989C84-CE23-4654-898D-953820E7F968}" type="presOf" srcId="{BCC1512D-C943-4E2E-97DC-6160943F6F4E}" destId="{8959944D-9DDD-429A-9B39-F2346B9394D8}" srcOrd="0" destOrd="0" presId="urn:microsoft.com/office/officeart/2005/8/layout/process4"/>
    <dgm:cxn modelId="{E0BF1F8A-5121-439C-AF07-DAEB1AB6304F}" type="presOf" srcId="{88AD757C-AC82-4023-ABDE-CE5658AC4743}" destId="{7FE16F8A-1B7E-459B-A631-FF6B6197D266}" srcOrd="0" destOrd="0" presId="urn:microsoft.com/office/officeart/2005/8/layout/process4"/>
    <dgm:cxn modelId="{125E7DBC-1D8B-48C1-8D65-D84CE9B0E215}" type="presOf" srcId="{1A3DB7F3-1E70-4EBA-BE07-ECC1E29D0461}" destId="{3FB09132-DD94-4330-8DF0-68B5A22BAF38}" srcOrd="0" destOrd="0" presId="urn:microsoft.com/office/officeart/2005/8/layout/process4"/>
    <dgm:cxn modelId="{F929AAC8-DD6A-483E-96D6-415EBD5D11F8}" srcId="{B5C65878-938B-422E-805A-F950ED50F027}" destId="{60E6C6EC-FCBD-48BF-AB7E-61A69186A4BC}" srcOrd="3" destOrd="0" parTransId="{3E0B510B-D201-45AC-BB64-17607A89FDF7}" sibTransId="{54295EFB-CF90-4A97-9321-4C0EF971D560}"/>
    <dgm:cxn modelId="{FCF6F8DA-A773-4F15-B31F-B9A15A925E68}" srcId="{88AD757C-AC82-4023-ABDE-CE5658AC4743}" destId="{84A85F2B-D174-46D7-81CC-DC2F46CF515F}" srcOrd="0" destOrd="0" parTransId="{DFDC46A9-1234-484C-A0AC-2E76ECBFA767}" sibTransId="{FDAB4408-9CF4-46F0-9183-29B5042F9C44}"/>
    <dgm:cxn modelId="{0DDDFDDE-C72E-42A4-BD02-210F27B97186}" type="presOf" srcId="{84A85F2B-D174-46D7-81CC-DC2F46CF515F}" destId="{BE02F7CA-A70B-43C0-B01A-AC297E692B33}" srcOrd="0" destOrd="0" presId="urn:microsoft.com/office/officeart/2005/8/layout/process4"/>
    <dgm:cxn modelId="{65FCCAE2-65D6-41D7-8491-FEDE20DF67A5}" srcId="{B5C65878-938B-422E-805A-F950ED50F027}" destId="{1A3DB7F3-1E70-4EBA-BE07-ECC1E29D0461}" srcOrd="0" destOrd="0" parTransId="{4619654B-CD3C-4C22-B08F-AB9491097C12}" sibTransId="{AED7E6D4-8741-4334-8FCE-2B4EFC991230}"/>
    <dgm:cxn modelId="{64A0B0FB-5820-4F32-B20F-E9EB3BEBCB60}" type="presOf" srcId="{60E6C6EC-FCBD-48BF-AB7E-61A69186A4BC}" destId="{3CAC9595-5024-4DDA-845A-9CCEE7A8BAA5}" srcOrd="0" destOrd="0" presId="urn:microsoft.com/office/officeart/2005/8/layout/process4"/>
    <dgm:cxn modelId="{DCDE6F7A-20C7-4CAA-AAFF-9A3B5B9E16ED}" type="presParOf" srcId="{7FE16F8A-1B7E-459B-A631-FF6B6197D266}" destId="{1EB1CEF7-6F13-4E59-90E3-3024BE44A6D6}" srcOrd="0" destOrd="0" presId="urn:microsoft.com/office/officeart/2005/8/layout/process4"/>
    <dgm:cxn modelId="{7B077A86-95DC-40CE-82C9-BAD745DF9D9B}" type="presParOf" srcId="{1EB1CEF7-6F13-4E59-90E3-3024BE44A6D6}" destId="{0AB448E4-E2A2-46D8-B270-2AFF770649C9}" srcOrd="0" destOrd="0" presId="urn:microsoft.com/office/officeart/2005/8/layout/process4"/>
    <dgm:cxn modelId="{2DE8519E-B162-49D4-8D25-C747112A7DFA}" type="presParOf" srcId="{1EB1CEF7-6F13-4E59-90E3-3024BE44A6D6}" destId="{7DA5DAEF-8C68-43CF-9F6C-A9A6176A4C3D}" srcOrd="1" destOrd="0" presId="urn:microsoft.com/office/officeart/2005/8/layout/process4"/>
    <dgm:cxn modelId="{0AA4EB74-1D2E-4A5E-A127-61D02105711E}" type="presParOf" srcId="{1EB1CEF7-6F13-4E59-90E3-3024BE44A6D6}" destId="{D3B5EE19-2C19-44C1-AE45-2D76D6A031AB}" srcOrd="2" destOrd="0" presId="urn:microsoft.com/office/officeart/2005/8/layout/process4"/>
    <dgm:cxn modelId="{F8EE32CB-C4AA-4B09-8595-2EFF278BB979}" type="presParOf" srcId="{D3B5EE19-2C19-44C1-AE45-2D76D6A031AB}" destId="{3FB09132-DD94-4330-8DF0-68B5A22BAF38}" srcOrd="0" destOrd="0" presId="urn:microsoft.com/office/officeart/2005/8/layout/process4"/>
    <dgm:cxn modelId="{4FCF03EC-6C68-44D9-9B26-6874BF53BF46}" type="presParOf" srcId="{D3B5EE19-2C19-44C1-AE45-2D76D6A031AB}" destId="{8959944D-9DDD-429A-9B39-F2346B9394D8}" srcOrd="1" destOrd="0" presId="urn:microsoft.com/office/officeart/2005/8/layout/process4"/>
    <dgm:cxn modelId="{2FD5B399-176D-48B0-BE36-11C76DEB6277}" type="presParOf" srcId="{D3B5EE19-2C19-44C1-AE45-2D76D6A031AB}" destId="{BBFFFED7-54A9-4755-B9DA-5161D22E63AD}" srcOrd="2" destOrd="0" presId="urn:microsoft.com/office/officeart/2005/8/layout/process4"/>
    <dgm:cxn modelId="{2D277D8D-4766-4A28-9D10-D7C008ED6298}" type="presParOf" srcId="{D3B5EE19-2C19-44C1-AE45-2D76D6A031AB}" destId="{3CAC9595-5024-4DDA-845A-9CCEE7A8BAA5}" srcOrd="3" destOrd="0" presId="urn:microsoft.com/office/officeart/2005/8/layout/process4"/>
    <dgm:cxn modelId="{6E5B583E-E74C-48CE-8F1C-43DAC7BDF650}" type="presParOf" srcId="{7FE16F8A-1B7E-459B-A631-FF6B6197D266}" destId="{66CCDB72-0ED2-443A-9191-F2D4DE6B1446}" srcOrd="1" destOrd="0" presId="urn:microsoft.com/office/officeart/2005/8/layout/process4"/>
    <dgm:cxn modelId="{EB7F3920-630F-4257-84CE-01D63CC00452}" type="presParOf" srcId="{7FE16F8A-1B7E-459B-A631-FF6B6197D266}" destId="{1275CE64-8667-4FE7-A9A2-7A40F92665A9}" srcOrd="2" destOrd="0" presId="urn:microsoft.com/office/officeart/2005/8/layout/process4"/>
    <dgm:cxn modelId="{50D97997-8005-4212-84E3-3425B6CD1A8F}" type="presParOf" srcId="{1275CE64-8667-4FE7-A9A2-7A40F92665A9}" destId="{BE02F7CA-A70B-43C0-B01A-AC297E692B33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8FBD970-D25F-4EB8-8D6B-F17FA247F42B}" type="doc">
      <dgm:prSet loTypeId="urn:microsoft.com/office/officeart/2005/8/layout/cycle8" loCatId="cycle" qsTypeId="urn:microsoft.com/office/officeart/2005/8/quickstyle/simple1" qsCatId="simple" csTypeId="urn:microsoft.com/office/officeart/2005/8/colors/accent2_4" csCatId="accent2" phldr="1"/>
      <dgm:spPr/>
    </dgm:pt>
    <dgm:pt modelId="{5C848703-B4F9-43F6-A1A1-84EE1190E873}">
      <dgm:prSet phldrT="[Texte]" custT="1"/>
      <dgm:spPr/>
      <dgm:t>
        <a:bodyPr/>
        <a:lstStyle/>
        <a:p>
          <a:r>
            <a:rPr lang="fr-CA" sz="1600" dirty="0"/>
            <a:t>1) Écarts significatifs</a:t>
          </a:r>
        </a:p>
      </dgm:t>
    </dgm:pt>
    <dgm:pt modelId="{714781B1-DB19-4000-BFA3-470C622C8954}" type="parTrans" cxnId="{78813501-5981-4280-9B3C-E42CB578FEEE}">
      <dgm:prSet/>
      <dgm:spPr/>
      <dgm:t>
        <a:bodyPr/>
        <a:lstStyle/>
        <a:p>
          <a:endParaRPr lang="fr-CA" sz="1200"/>
        </a:p>
      </dgm:t>
    </dgm:pt>
    <dgm:pt modelId="{B653FCB2-5432-461E-B6D0-427E04963E25}" type="sibTrans" cxnId="{78813501-5981-4280-9B3C-E42CB578FEEE}">
      <dgm:prSet/>
      <dgm:spPr/>
      <dgm:t>
        <a:bodyPr/>
        <a:lstStyle/>
        <a:p>
          <a:endParaRPr lang="fr-CA" sz="1200"/>
        </a:p>
      </dgm:t>
    </dgm:pt>
    <dgm:pt modelId="{2AD0ECC4-518C-42B3-83B8-5BB2F31848DB}">
      <dgm:prSet phldrT="[Texte]" custT="1"/>
      <dgm:spPr/>
      <dgm:t>
        <a:bodyPr/>
        <a:lstStyle/>
        <a:p>
          <a:r>
            <a:rPr lang="fr-CA" sz="1600"/>
            <a:t>2) Causes </a:t>
          </a:r>
          <a:endParaRPr lang="fr-CA" sz="1600" dirty="0"/>
        </a:p>
      </dgm:t>
    </dgm:pt>
    <dgm:pt modelId="{D925C1C2-C294-4D36-9B8B-5E3645EACF3D}" type="parTrans" cxnId="{F3EB44BE-C3E2-4315-B21A-34D79D866E70}">
      <dgm:prSet/>
      <dgm:spPr/>
      <dgm:t>
        <a:bodyPr/>
        <a:lstStyle/>
        <a:p>
          <a:endParaRPr lang="fr-CA" sz="1200"/>
        </a:p>
      </dgm:t>
    </dgm:pt>
    <dgm:pt modelId="{0915D21C-C53B-4CD6-9B5A-C4A357A8E529}" type="sibTrans" cxnId="{F3EB44BE-C3E2-4315-B21A-34D79D866E70}">
      <dgm:prSet/>
      <dgm:spPr/>
      <dgm:t>
        <a:bodyPr/>
        <a:lstStyle/>
        <a:p>
          <a:endParaRPr lang="fr-CA" sz="1200"/>
        </a:p>
      </dgm:t>
    </dgm:pt>
    <dgm:pt modelId="{8FA86915-BF06-43D7-BE2B-17EF878705D9}">
      <dgm:prSet phldrT="[Texte]" custT="1"/>
      <dgm:spPr/>
      <dgm:t>
        <a:bodyPr/>
        <a:lstStyle/>
        <a:p>
          <a:r>
            <a:rPr lang="fr-CA" sz="1600" dirty="0"/>
            <a:t>4) Solutions</a:t>
          </a:r>
        </a:p>
      </dgm:t>
    </dgm:pt>
    <dgm:pt modelId="{C1002CEF-A647-41E5-9838-769DE2DB5D60}" type="parTrans" cxnId="{B3CCE5BD-DB71-480E-807C-3C740D609CE7}">
      <dgm:prSet/>
      <dgm:spPr/>
      <dgm:t>
        <a:bodyPr/>
        <a:lstStyle/>
        <a:p>
          <a:endParaRPr lang="fr-CA" sz="1200"/>
        </a:p>
      </dgm:t>
    </dgm:pt>
    <dgm:pt modelId="{E8F5E8A7-8737-4F67-8C97-36C7662813C9}" type="sibTrans" cxnId="{B3CCE5BD-DB71-480E-807C-3C740D609CE7}">
      <dgm:prSet/>
      <dgm:spPr/>
      <dgm:t>
        <a:bodyPr/>
        <a:lstStyle/>
        <a:p>
          <a:endParaRPr lang="fr-CA" sz="1200"/>
        </a:p>
      </dgm:t>
    </dgm:pt>
    <dgm:pt modelId="{37659D2C-C8CA-45B4-BD42-021048046F90}">
      <dgm:prSet phldrT="[Texte]" custT="1"/>
      <dgm:spPr/>
      <dgm:t>
        <a:bodyPr/>
        <a:lstStyle/>
        <a:p>
          <a:r>
            <a:rPr lang="fr-CA" sz="1600"/>
            <a:t>3) Indices</a:t>
          </a:r>
          <a:endParaRPr lang="fr-CA" sz="1600" dirty="0"/>
        </a:p>
      </dgm:t>
    </dgm:pt>
    <dgm:pt modelId="{A552E37A-4AA9-4992-8E35-C06E9DAC90F9}" type="parTrans" cxnId="{27DBA07E-80F0-4D63-ABDF-72E0C4E6D982}">
      <dgm:prSet/>
      <dgm:spPr/>
      <dgm:t>
        <a:bodyPr/>
        <a:lstStyle/>
        <a:p>
          <a:endParaRPr lang="fr-CA" sz="1200"/>
        </a:p>
      </dgm:t>
    </dgm:pt>
    <dgm:pt modelId="{B09E0987-18D1-41B1-BE79-B4C8F2A8E344}" type="sibTrans" cxnId="{27DBA07E-80F0-4D63-ABDF-72E0C4E6D982}">
      <dgm:prSet/>
      <dgm:spPr/>
      <dgm:t>
        <a:bodyPr/>
        <a:lstStyle/>
        <a:p>
          <a:endParaRPr lang="fr-CA" sz="1200"/>
        </a:p>
      </dgm:t>
    </dgm:pt>
    <dgm:pt modelId="{0675B942-1089-433F-A7ED-CBE6C6BE46B2}" type="pres">
      <dgm:prSet presAssocID="{A8FBD970-D25F-4EB8-8D6B-F17FA247F42B}" presName="compositeShape" presStyleCnt="0">
        <dgm:presLayoutVars>
          <dgm:chMax val="7"/>
          <dgm:dir/>
          <dgm:resizeHandles val="exact"/>
        </dgm:presLayoutVars>
      </dgm:prSet>
      <dgm:spPr/>
    </dgm:pt>
    <dgm:pt modelId="{57DE512D-856E-48E5-8E37-70EEA157DCD6}" type="pres">
      <dgm:prSet presAssocID="{A8FBD970-D25F-4EB8-8D6B-F17FA247F42B}" presName="wedge1" presStyleLbl="node1" presStyleIdx="0" presStyleCnt="4"/>
      <dgm:spPr/>
    </dgm:pt>
    <dgm:pt modelId="{40107FCE-6302-4CE8-BBF9-3F7E48E13B49}" type="pres">
      <dgm:prSet presAssocID="{A8FBD970-D25F-4EB8-8D6B-F17FA247F42B}" presName="dummy1a" presStyleCnt="0"/>
      <dgm:spPr/>
    </dgm:pt>
    <dgm:pt modelId="{D95DC009-6DA0-4449-ADB4-EA83B43C6658}" type="pres">
      <dgm:prSet presAssocID="{A8FBD970-D25F-4EB8-8D6B-F17FA247F42B}" presName="dummy1b" presStyleCnt="0"/>
      <dgm:spPr/>
    </dgm:pt>
    <dgm:pt modelId="{8B379AF9-8178-4F4B-AC8B-1A77842499F7}" type="pres">
      <dgm:prSet presAssocID="{A8FBD970-D25F-4EB8-8D6B-F17FA247F42B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043C806-3953-4106-94A6-015B871BBBB1}" type="pres">
      <dgm:prSet presAssocID="{A8FBD970-D25F-4EB8-8D6B-F17FA247F42B}" presName="wedge2" presStyleLbl="node1" presStyleIdx="1" presStyleCnt="4"/>
      <dgm:spPr/>
    </dgm:pt>
    <dgm:pt modelId="{5F0F3AAA-C88C-4CBB-B1A9-0CD5457D4772}" type="pres">
      <dgm:prSet presAssocID="{A8FBD970-D25F-4EB8-8D6B-F17FA247F42B}" presName="dummy2a" presStyleCnt="0"/>
      <dgm:spPr/>
    </dgm:pt>
    <dgm:pt modelId="{5208B2D6-46C8-430E-94C1-6D23097DFFC0}" type="pres">
      <dgm:prSet presAssocID="{A8FBD970-D25F-4EB8-8D6B-F17FA247F42B}" presName="dummy2b" presStyleCnt="0"/>
      <dgm:spPr/>
    </dgm:pt>
    <dgm:pt modelId="{FC37AD61-7659-4E44-8951-335AFE4660D0}" type="pres">
      <dgm:prSet presAssocID="{A8FBD970-D25F-4EB8-8D6B-F17FA247F42B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0E43772-3339-4CAF-B0DF-7E623B87E5C6}" type="pres">
      <dgm:prSet presAssocID="{A8FBD970-D25F-4EB8-8D6B-F17FA247F42B}" presName="wedge3" presStyleLbl="node1" presStyleIdx="2" presStyleCnt="4"/>
      <dgm:spPr/>
    </dgm:pt>
    <dgm:pt modelId="{8549A405-5C1E-4484-BBB1-5CFECEB66454}" type="pres">
      <dgm:prSet presAssocID="{A8FBD970-D25F-4EB8-8D6B-F17FA247F42B}" presName="dummy3a" presStyleCnt="0"/>
      <dgm:spPr/>
    </dgm:pt>
    <dgm:pt modelId="{FEE9864F-F5B9-4043-9F14-670D49624EA9}" type="pres">
      <dgm:prSet presAssocID="{A8FBD970-D25F-4EB8-8D6B-F17FA247F42B}" presName="dummy3b" presStyleCnt="0"/>
      <dgm:spPr/>
    </dgm:pt>
    <dgm:pt modelId="{E26DA193-F75A-48FE-B637-2A510ECF4206}" type="pres">
      <dgm:prSet presAssocID="{A8FBD970-D25F-4EB8-8D6B-F17FA247F42B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FEC2834-EDB3-4D32-9693-8937F1551187}" type="pres">
      <dgm:prSet presAssocID="{A8FBD970-D25F-4EB8-8D6B-F17FA247F42B}" presName="wedge4" presStyleLbl="node1" presStyleIdx="3" presStyleCnt="4"/>
      <dgm:spPr/>
    </dgm:pt>
    <dgm:pt modelId="{19660CCF-453D-40B8-9188-E302D75415E6}" type="pres">
      <dgm:prSet presAssocID="{A8FBD970-D25F-4EB8-8D6B-F17FA247F42B}" presName="dummy4a" presStyleCnt="0"/>
      <dgm:spPr/>
    </dgm:pt>
    <dgm:pt modelId="{1FBC6C41-F1AF-4C4E-BC24-2C0C06B657DD}" type="pres">
      <dgm:prSet presAssocID="{A8FBD970-D25F-4EB8-8D6B-F17FA247F42B}" presName="dummy4b" presStyleCnt="0"/>
      <dgm:spPr/>
    </dgm:pt>
    <dgm:pt modelId="{25C55CB0-66B3-4E9A-8D9A-EE58450B653C}" type="pres">
      <dgm:prSet presAssocID="{A8FBD970-D25F-4EB8-8D6B-F17FA247F42B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AC17E184-9A1F-4EC9-B3AC-3D5746CDB423}" type="pres">
      <dgm:prSet presAssocID="{B653FCB2-5432-461E-B6D0-427E04963E25}" presName="arrowWedge1" presStyleLbl="fgSibTrans2D1" presStyleIdx="0" presStyleCnt="4"/>
      <dgm:spPr/>
    </dgm:pt>
    <dgm:pt modelId="{4389DDB5-A3C5-4BFE-831F-EE000B8C1B53}" type="pres">
      <dgm:prSet presAssocID="{0915D21C-C53B-4CD6-9B5A-C4A357A8E529}" presName="arrowWedge2" presStyleLbl="fgSibTrans2D1" presStyleIdx="1" presStyleCnt="4"/>
      <dgm:spPr/>
    </dgm:pt>
    <dgm:pt modelId="{D2C469AD-04DA-4644-8E1E-1A0DA118F5FE}" type="pres">
      <dgm:prSet presAssocID="{B09E0987-18D1-41B1-BE79-B4C8F2A8E344}" presName="arrowWedge3" presStyleLbl="fgSibTrans2D1" presStyleIdx="2" presStyleCnt="4"/>
      <dgm:spPr/>
    </dgm:pt>
    <dgm:pt modelId="{EE5D6402-F6C6-487E-9DFB-D5A81A440E63}" type="pres">
      <dgm:prSet presAssocID="{E8F5E8A7-8737-4F67-8C97-36C7662813C9}" presName="arrowWedge4" presStyleLbl="fgSibTrans2D1" presStyleIdx="3" presStyleCnt="4"/>
      <dgm:spPr/>
    </dgm:pt>
  </dgm:ptLst>
  <dgm:cxnLst>
    <dgm:cxn modelId="{78813501-5981-4280-9B3C-E42CB578FEEE}" srcId="{A8FBD970-D25F-4EB8-8D6B-F17FA247F42B}" destId="{5C848703-B4F9-43F6-A1A1-84EE1190E873}" srcOrd="0" destOrd="0" parTransId="{714781B1-DB19-4000-BFA3-470C622C8954}" sibTransId="{B653FCB2-5432-461E-B6D0-427E04963E25}"/>
    <dgm:cxn modelId="{429B9915-EE23-4291-ACBF-96074DD00F02}" type="presOf" srcId="{2AD0ECC4-518C-42B3-83B8-5BB2F31848DB}" destId="{A043C806-3953-4106-94A6-015B871BBBB1}" srcOrd="0" destOrd="0" presId="urn:microsoft.com/office/officeart/2005/8/layout/cycle8"/>
    <dgm:cxn modelId="{47774024-1E5F-42AE-827F-D98AB1D8AA4F}" type="presOf" srcId="{2AD0ECC4-518C-42B3-83B8-5BB2F31848DB}" destId="{FC37AD61-7659-4E44-8951-335AFE4660D0}" srcOrd="1" destOrd="0" presId="urn:microsoft.com/office/officeart/2005/8/layout/cycle8"/>
    <dgm:cxn modelId="{AC5B1933-1F29-40F2-84E3-2AC14696E83D}" type="presOf" srcId="{37659D2C-C8CA-45B4-BD42-021048046F90}" destId="{A0E43772-3339-4CAF-B0DF-7E623B87E5C6}" srcOrd="0" destOrd="0" presId="urn:microsoft.com/office/officeart/2005/8/layout/cycle8"/>
    <dgm:cxn modelId="{EDF8A95C-7FAD-4CE1-8EF4-96D15C086447}" type="presOf" srcId="{8FA86915-BF06-43D7-BE2B-17EF878705D9}" destId="{25C55CB0-66B3-4E9A-8D9A-EE58450B653C}" srcOrd="1" destOrd="0" presId="urn:microsoft.com/office/officeart/2005/8/layout/cycle8"/>
    <dgm:cxn modelId="{27DBA07E-80F0-4D63-ABDF-72E0C4E6D982}" srcId="{A8FBD970-D25F-4EB8-8D6B-F17FA247F42B}" destId="{37659D2C-C8CA-45B4-BD42-021048046F90}" srcOrd="2" destOrd="0" parTransId="{A552E37A-4AA9-4992-8E35-C06E9DAC90F9}" sibTransId="{B09E0987-18D1-41B1-BE79-B4C8F2A8E344}"/>
    <dgm:cxn modelId="{98BA9595-61D0-4687-98E8-D86A1DA18270}" type="presOf" srcId="{5C848703-B4F9-43F6-A1A1-84EE1190E873}" destId="{57DE512D-856E-48E5-8E37-70EEA157DCD6}" srcOrd="0" destOrd="0" presId="urn:microsoft.com/office/officeart/2005/8/layout/cycle8"/>
    <dgm:cxn modelId="{121C2999-2293-4086-A89A-F1DEC7B26FDC}" type="presOf" srcId="{8FA86915-BF06-43D7-BE2B-17EF878705D9}" destId="{1FEC2834-EDB3-4D32-9693-8937F1551187}" srcOrd="0" destOrd="0" presId="urn:microsoft.com/office/officeart/2005/8/layout/cycle8"/>
    <dgm:cxn modelId="{7079DCA9-5A06-43E4-9EBA-46E1113E4097}" type="presOf" srcId="{5C848703-B4F9-43F6-A1A1-84EE1190E873}" destId="{8B379AF9-8178-4F4B-AC8B-1A77842499F7}" srcOrd="1" destOrd="0" presId="urn:microsoft.com/office/officeart/2005/8/layout/cycle8"/>
    <dgm:cxn modelId="{B3CCE5BD-DB71-480E-807C-3C740D609CE7}" srcId="{A8FBD970-D25F-4EB8-8D6B-F17FA247F42B}" destId="{8FA86915-BF06-43D7-BE2B-17EF878705D9}" srcOrd="3" destOrd="0" parTransId="{C1002CEF-A647-41E5-9838-769DE2DB5D60}" sibTransId="{E8F5E8A7-8737-4F67-8C97-36C7662813C9}"/>
    <dgm:cxn modelId="{F3EB44BE-C3E2-4315-B21A-34D79D866E70}" srcId="{A8FBD970-D25F-4EB8-8D6B-F17FA247F42B}" destId="{2AD0ECC4-518C-42B3-83B8-5BB2F31848DB}" srcOrd="1" destOrd="0" parTransId="{D925C1C2-C294-4D36-9B8B-5E3645EACF3D}" sibTransId="{0915D21C-C53B-4CD6-9B5A-C4A357A8E529}"/>
    <dgm:cxn modelId="{6598F3EB-D09B-41B1-BA63-D86111B64F78}" type="presOf" srcId="{A8FBD970-D25F-4EB8-8D6B-F17FA247F42B}" destId="{0675B942-1089-433F-A7ED-CBE6C6BE46B2}" srcOrd="0" destOrd="0" presId="urn:microsoft.com/office/officeart/2005/8/layout/cycle8"/>
    <dgm:cxn modelId="{30FE68FE-FD7A-4D42-898E-1D679A71C835}" type="presOf" srcId="{37659D2C-C8CA-45B4-BD42-021048046F90}" destId="{E26DA193-F75A-48FE-B637-2A510ECF4206}" srcOrd="1" destOrd="0" presId="urn:microsoft.com/office/officeart/2005/8/layout/cycle8"/>
    <dgm:cxn modelId="{8BD56979-59ED-420E-A287-F6D225693249}" type="presParOf" srcId="{0675B942-1089-433F-A7ED-CBE6C6BE46B2}" destId="{57DE512D-856E-48E5-8E37-70EEA157DCD6}" srcOrd="0" destOrd="0" presId="urn:microsoft.com/office/officeart/2005/8/layout/cycle8"/>
    <dgm:cxn modelId="{9E5F08AF-F9B1-4C3A-B834-FD4FFF18A452}" type="presParOf" srcId="{0675B942-1089-433F-A7ED-CBE6C6BE46B2}" destId="{40107FCE-6302-4CE8-BBF9-3F7E48E13B49}" srcOrd="1" destOrd="0" presId="urn:microsoft.com/office/officeart/2005/8/layout/cycle8"/>
    <dgm:cxn modelId="{67143119-9CF4-4B4D-8AF6-45EB5CE6106D}" type="presParOf" srcId="{0675B942-1089-433F-A7ED-CBE6C6BE46B2}" destId="{D95DC009-6DA0-4449-ADB4-EA83B43C6658}" srcOrd="2" destOrd="0" presId="urn:microsoft.com/office/officeart/2005/8/layout/cycle8"/>
    <dgm:cxn modelId="{169C4DB6-9133-420E-8C4D-11CC1E7BC848}" type="presParOf" srcId="{0675B942-1089-433F-A7ED-CBE6C6BE46B2}" destId="{8B379AF9-8178-4F4B-AC8B-1A77842499F7}" srcOrd="3" destOrd="0" presId="urn:microsoft.com/office/officeart/2005/8/layout/cycle8"/>
    <dgm:cxn modelId="{19B8AC4B-182A-4273-830D-DF45E328DCD8}" type="presParOf" srcId="{0675B942-1089-433F-A7ED-CBE6C6BE46B2}" destId="{A043C806-3953-4106-94A6-015B871BBBB1}" srcOrd="4" destOrd="0" presId="urn:microsoft.com/office/officeart/2005/8/layout/cycle8"/>
    <dgm:cxn modelId="{6DB96104-E9CD-414F-AC9E-B0ACBBE1E852}" type="presParOf" srcId="{0675B942-1089-433F-A7ED-CBE6C6BE46B2}" destId="{5F0F3AAA-C88C-4CBB-B1A9-0CD5457D4772}" srcOrd="5" destOrd="0" presId="urn:microsoft.com/office/officeart/2005/8/layout/cycle8"/>
    <dgm:cxn modelId="{4189AD49-CA39-4774-A4FF-978FD645395D}" type="presParOf" srcId="{0675B942-1089-433F-A7ED-CBE6C6BE46B2}" destId="{5208B2D6-46C8-430E-94C1-6D23097DFFC0}" srcOrd="6" destOrd="0" presId="urn:microsoft.com/office/officeart/2005/8/layout/cycle8"/>
    <dgm:cxn modelId="{40D68B97-A3CB-4841-96BA-FFBA0F10423E}" type="presParOf" srcId="{0675B942-1089-433F-A7ED-CBE6C6BE46B2}" destId="{FC37AD61-7659-4E44-8951-335AFE4660D0}" srcOrd="7" destOrd="0" presId="urn:microsoft.com/office/officeart/2005/8/layout/cycle8"/>
    <dgm:cxn modelId="{DA25078F-2D36-48EA-88B7-5C0513B43CCE}" type="presParOf" srcId="{0675B942-1089-433F-A7ED-CBE6C6BE46B2}" destId="{A0E43772-3339-4CAF-B0DF-7E623B87E5C6}" srcOrd="8" destOrd="0" presId="urn:microsoft.com/office/officeart/2005/8/layout/cycle8"/>
    <dgm:cxn modelId="{8A3829CE-FA34-49AA-AC6C-889C4ACD39B5}" type="presParOf" srcId="{0675B942-1089-433F-A7ED-CBE6C6BE46B2}" destId="{8549A405-5C1E-4484-BBB1-5CFECEB66454}" srcOrd="9" destOrd="0" presId="urn:microsoft.com/office/officeart/2005/8/layout/cycle8"/>
    <dgm:cxn modelId="{3CDF5B6C-2293-491B-B4C1-CD525A8756AC}" type="presParOf" srcId="{0675B942-1089-433F-A7ED-CBE6C6BE46B2}" destId="{FEE9864F-F5B9-4043-9F14-670D49624EA9}" srcOrd="10" destOrd="0" presId="urn:microsoft.com/office/officeart/2005/8/layout/cycle8"/>
    <dgm:cxn modelId="{81E23CFC-AED2-40B6-A974-5CAF7487814D}" type="presParOf" srcId="{0675B942-1089-433F-A7ED-CBE6C6BE46B2}" destId="{E26DA193-F75A-48FE-B637-2A510ECF4206}" srcOrd="11" destOrd="0" presId="urn:microsoft.com/office/officeart/2005/8/layout/cycle8"/>
    <dgm:cxn modelId="{1C8144DF-2ED2-43E4-A270-5FC333FE8C3D}" type="presParOf" srcId="{0675B942-1089-433F-A7ED-CBE6C6BE46B2}" destId="{1FEC2834-EDB3-4D32-9693-8937F1551187}" srcOrd="12" destOrd="0" presId="urn:microsoft.com/office/officeart/2005/8/layout/cycle8"/>
    <dgm:cxn modelId="{5087C24D-008A-476C-A302-C89997787E57}" type="presParOf" srcId="{0675B942-1089-433F-A7ED-CBE6C6BE46B2}" destId="{19660CCF-453D-40B8-9188-E302D75415E6}" srcOrd="13" destOrd="0" presId="urn:microsoft.com/office/officeart/2005/8/layout/cycle8"/>
    <dgm:cxn modelId="{1F88470A-23EC-4FCD-89D4-D8AF792726A4}" type="presParOf" srcId="{0675B942-1089-433F-A7ED-CBE6C6BE46B2}" destId="{1FBC6C41-F1AF-4C4E-BC24-2C0C06B657DD}" srcOrd="14" destOrd="0" presId="urn:microsoft.com/office/officeart/2005/8/layout/cycle8"/>
    <dgm:cxn modelId="{DCE29BB1-6187-401D-A074-EB9352EB89BC}" type="presParOf" srcId="{0675B942-1089-433F-A7ED-CBE6C6BE46B2}" destId="{25C55CB0-66B3-4E9A-8D9A-EE58450B653C}" srcOrd="15" destOrd="0" presId="urn:microsoft.com/office/officeart/2005/8/layout/cycle8"/>
    <dgm:cxn modelId="{3A779202-5AD2-486F-94FA-AF876CCB85F3}" type="presParOf" srcId="{0675B942-1089-433F-A7ED-CBE6C6BE46B2}" destId="{AC17E184-9A1F-4EC9-B3AC-3D5746CDB423}" srcOrd="16" destOrd="0" presId="urn:microsoft.com/office/officeart/2005/8/layout/cycle8"/>
    <dgm:cxn modelId="{2108D46E-7F7E-4FD5-BF39-449ED5D245C3}" type="presParOf" srcId="{0675B942-1089-433F-A7ED-CBE6C6BE46B2}" destId="{4389DDB5-A3C5-4BFE-831F-EE000B8C1B53}" srcOrd="17" destOrd="0" presId="urn:microsoft.com/office/officeart/2005/8/layout/cycle8"/>
    <dgm:cxn modelId="{57BA1696-0A4F-4DA9-8C1A-A65FFD08AE8A}" type="presParOf" srcId="{0675B942-1089-433F-A7ED-CBE6C6BE46B2}" destId="{D2C469AD-04DA-4644-8E1E-1A0DA118F5FE}" srcOrd="18" destOrd="0" presId="urn:microsoft.com/office/officeart/2005/8/layout/cycle8"/>
    <dgm:cxn modelId="{991B702D-F531-4D2D-B05A-95095D39CFE2}" type="presParOf" srcId="{0675B942-1089-433F-A7ED-CBE6C6BE46B2}" destId="{EE5D6402-F6C6-487E-9DFB-D5A81A440E63}" srcOrd="1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762EDF5-022C-407E-83DC-25A35DD18E3B}" type="doc">
      <dgm:prSet loTypeId="urn:microsoft.com/office/officeart/2005/8/layout/vList5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E2315DB-D2D1-44D2-A9CE-2C205AEB21CE}">
      <dgm:prSet/>
      <dgm:spPr/>
      <dgm:t>
        <a:bodyPr/>
        <a:lstStyle/>
        <a:p>
          <a:r>
            <a:rPr lang="fr-CA"/>
            <a:t>Les OBNL opèrent dans univers où les ressources sont rares</a:t>
          </a:r>
          <a:endParaRPr lang="en-US"/>
        </a:p>
      </dgm:t>
    </dgm:pt>
    <dgm:pt modelId="{4A117401-E0C8-48E8-84CE-C62E302D63F1}" type="parTrans" cxnId="{5686B5F7-B98F-491F-BFC4-CC3E55F60228}">
      <dgm:prSet/>
      <dgm:spPr/>
      <dgm:t>
        <a:bodyPr/>
        <a:lstStyle/>
        <a:p>
          <a:endParaRPr lang="en-US"/>
        </a:p>
      </dgm:t>
    </dgm:pt>
    <dgm:pt modelId="{B3EBE9A5-325C-429D-9493-095858B7367C}" type="sibTrans" cxnId="{5686B5F7-B98F-491F-BFC4-CC3E55F60228}">
      <dgm:prSet/>
      <dgm:spPr/>
      <dgm:t>
        <a:bodyPr/>
        <a:lstStyle/>
        <a:p>
          <a:endParaRPr lang="en-US"/>
        </a:p>
      </dgm:t>
    </dgm:pt>
    <dgm:pt modelId="{62F1AFA5-6111-482E-900D-0413AFC3858B}">
      <dgm:prSet/>
      <dgm:spPr/>
      <dgm:t>
        <a:bodyPr/>
        <a:lstStyle/>
        <a:p>
          <a:r>
            <a:rPr lang="fr-CA"/>
            <a:t>Dans ce contexte, les rôles du budget sont multiples</a:t>
          </a:r>
          <a:endParaRPr lang="en-US"/>
        </a:p>
      </dgm:t>
    </dgm:pt>
    <dgm:pt modelId="{1F4BB76B-B5C1-466D-BEFF-C1F20B9E5EE7}" type="parTrans" cxnId="{54E3027C-67B5-40E3-82EA-FA8AE5C81F62}">
      <dgm:prSet/>
      <dgm:spPr/>
      <dgm:t>
        <a:bodyPr/>
        <a:lstStyle/>
        <a:p>
          <a:endParaRPr lang="en-US"/>
        </a:p>
      </dgm:t>
    </dgm:pt>
    <dgm:pt modelId="{3BACFE3F-BCCB-4A91-9FE9-610E9259D356}" type="sibTrans" cxnId="{54E3027C-67B5-40E3-82EA-FA8AE5C81F62}">
      <dgm:prSet/>
      <dgm:spPr/>
      <dgm:t>
        <a:bodyPr/>
        <a:lstStyle/>
        <a:p>
          <a:endParaRPr lang="en-US"/>
        </a:p>
      </dgm:t>
    </dgm:pt>
    <dgm:pt modelId="{9F048185-00DC-47F2-BA59-0A6A0BDBCBF1}">
      <dgm:prSet/>
      <dgm:spPr/>
      <dgm:t>
        <a:bodyPr/>
        <a:lstStyle/>
        <a:p>
          <a:r>
            <a:rPr lang="fr-CA"/>
            <a:t>Rôle des prévisions des entrées et des sorties de fonds</a:t>
          </a:r>
          <a:endParaRPr lang="en-US"/>
        </a:p>
      </dgm:t>
    </dgm:pt>
    <dgm:pt modelId="{006C18BF-9584-4591-9FFB-0227E82EA907}" type="parTrans" cxnId="{112883E9-78F0-4D5E-A0AC-605941EB1E43}">
      <dgm:prSet/>
      <dgm:spPr/>
      <dgm:t>
        <a:bodyPr/>
        <a:lstStyle/>
        <a:p>
          <a:endParaRPr lang="en-US"/>
        </a:p>
      </dgm:t>
    </dgm:pt>
    <dgm:pt modelId="{92DABB83-FAF0-4B9D-A672-92E4E8111257}" type="sibTrans" cxnId="{112883E9-78F0-4D5E-A0AC-605941EB1E43}">
      <dgm:prSet/>
      <dgm:spPr/>
      <dgm:t>
        <a:bodyPr/>
        <a:lstStyle/>
        <a:p>
          <a:endParaRPr lang="en-US"/>
        </a:p>
      </dgm:t>
    </dgm:pt>
    <dgm:pt modelId="{DEB1A619-5106-4F08-A892-CBBECC25002A}">
      <dgm:prSet/>
      <dgm:spPr/>
      <dgm:t>
        <a:bodyPr/>
        <a:lstStyle/>
        <a:p>
          <a:r>
            <a:rPr lang="fr-CA"/>
            <a:t>Rôle d’optimisation des ressources</a:t>
          </a:r>
          <a:endParaRPr lang="en-US"/>
        </a:p>
      </dgm:t>
    </dgm:pt>
    <dgm:pt modelId="{042F3E90-A65A-466A-995C-6A28476BB035}" type="parTrans" cxnId="{630BF97F-28BE-4A34-B62D-ADCC21E450C7}">
      <dgm:prSet/>
      <dgm:spPr/>
      <dgm:t>
        <a:bodyPr/>
        <a:lstStyle/>
        <a:p>
          <a:endParaRPr lang="en-US"/>
        </a:p>
      </dgm:t>
    </dgm:pt>
    <dgm:pt modelId="{CBA5476A-BDA3-405D-B714-23BC1529913C}" type="sibTrans" cxnId="{630BF97F-28BE-4A34-B62D-ADCC21E450C7}">
      <dgm:prSet/>
      <dgm:spPr/>
      <dgm:t>
        <a:bodyPr/>
        <a:lstStyle/>
        <a:p>
          <a:endParaRPr lang="en-US"/>
        </a:p>
      </dgm:t>
    </dgm:pt>
    <dgm:pt modelId="{62644AA3-243D-42CF-B7E8-AC2024C655DD}">
      <dgm:prSet/>
      <dgm:spPr/>
      <dgm:t>
        <a:bodyPr/>
        <a:lstStyle/>
        <a:p>
          <a:r>
            <a:rPr lang="fr-CA"/>
            <a:t>Rôle d’allocation des ressources</a:t>
          </a:r>
          <a:endParaRPr lang="en-US"/>
        </a:p>
      </dgm:t>
    </dgm:pt>
    <dgm:pt modelId="{5CE59FF2-A102-4DDC-A8A1-BBB512C1279B}" type="parTrans" cxnId="{9574600A-575A-422D-A52E-79964988B676}">
      <dgm:prSet/>
      <dgm:spPr/>
      <dgm:t>
        <a:bodyPr/>
        <a:lstStyle/>
        <a:p>
          <a:endParaRPr lang="en-US"/>
        </a:p>
      </dgm:t>
    </dgm:pt>
    <dgm:pt modelId="{88701707-B0D9-49C4-BAD9-ED7F65949BF7}" type="sibTrans" cxnId="{9574600A-575A-422D-A52E-79964988B676}">
      <dgm:prSet/>
      <dgm:spPr/>
      <dgm:t>
        <a:bodyPr/>
        <a:lstStyle/>
        <a:p>
          <a:endParaRPr lang="en-US"/>
        </a:p>
      </dgm:t>
    </dgm:pt>
    <dgm:pt modelId="{CECE33F4-1703-45F7-8EA0-6DA7A9DF786D}">
      <dgm:prSet/>
      <dgm:spPr/>
      <dgm:t>
        <a:bodyPr/>
        <a:lstStyle/>
        <a:p>
          <a:r>
            <a:rPr lang="fr-CA"/>
            <a:t>L’exercice budgétaire fait partie intégrante du processus de reddition de comptes</a:t>
          </a:r>
          <a:endParaRPr lang="en-US"/>
        </a:p>
      </dgm:t>
    </dgm:pt>
    <dgm:pt modelId="{2770E6F1-FC16-4FE0-8A2C-1E9EEA77C7BF}" type="parTrans" cxnId="{4C9E7CDB-BAA6-410E-983E-9BC8F162DFD2}">
      <dgm:prSet/>
      <dgm:spPr/>
      <dgm:t>
        <a:bodyPr/>
        <a:lstStyle/>
        <a:p>
          <a:endParaRPr lang="en-US"/>
        </a:p>
      </dgm:t>
    </dgm:pt>
    <dgm:pt modelId="{CB47CED2-13A3-43B4-B580-5152D8D8CD81}" type="sibTrans" cxnId="{4C9E7CDB-BAA6-410E-983E-9BC8F162DFD2}">
      <dgm:prSet/>
      <dgm:spPr/>
      <dgm:t>
        <a:bodyPr/>
        <a:lstStyle/>
        <a:p>
          <a:endParaRPr lang="en-US"/>
        </a:p>
      </dgm:t>
    </dgm:pt>
    <dgm:pt modelId="{C5CB1E22-A97F-40E6-8ED1-4B21027C4091}" type="pres">
      <dgm:prSet presAssocID="{5762EDF5-022C-407E-83DC-25A35DD18E3B}" presName="Name0" presStyleCnt="0">
        <dgm:presLayoutVars>
          <dgm:dir/>
          <dgm:animLvl val="lvl"/>
          <dgm:resizeHandles val="exact"/>
        </dgm:presLayoutVars>
      </dgm:prSet>
      <dgm:spPr/>
    </dgm:pt>
    <dgm:pt modelId="{A179DB23-0936-40B5-BC2D-D05001AF82A5}" type="pres">
      <dgm:prSet presAssocID="{BE2315DB-D2D1-44D2-A9CE-2C205AEB21CE}" presName="linNode" presStyleCnt="0"/>
      <dgm:spPr/>
    </dgm:pt>
    <dgm:pt modelId="{75AFCEE7-7803-419B-8E63-7CC3682AB454}" type="pres">
      <dgm:prSet presAssocID="{BE2315DB-D2D1-44D2-A9CE-2C205AEB21CE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E8AF808C-E2A9-49CA-8BDD-393D4FB4E217}" type="pres">
      <dgm:prSet presAssocID="{B3EBE9A5-325C-429D-9493-095858B7367C}" presName="sp" presStyleCnt="0"/>
      <dgm:spPr/>
    </dgm:pt>
    <dgm:pt modelId="{F576FC84-8238-468C-8F32-C86B73FD83CB}" type="pres">
      <dgm:prSet presAssocID="{62F1AFA5-6111-482E-900D-0413AFC3858B}" presName="linNode" presStyleCnt="0"/>
      <dgm:spPr/>
    </dgm:pt>
    <dgm:pt modelId="{E0258977-812A-4C89-B625-064D1F15E73B}" type="pres">
      <dgm:prSet presAssocID="{62F1AFA5-6111-482E-900D-0413AFC3858B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FC8C7476-112F-4316-B66D-2D71D8E3E539}" type="pres">
      <dgm:prSet presAssocID="{62F1AFA5-6111-482E-900D-0413AFC3858B}" presName="descendantText" presStyleLbl="alignAccFollowNode1" presStyleIdx="0" presStyleCnt="1">
        <dgm:presLayoutVars>
          <dgm:bulletEnabled val="1"/>
        </dgm:presLayoutVars>
      </dgm:prSet>
      <dgm:spPr/>
    </dgm:pt>
    <dgm:pt modelId="{A01A677E-2689-4558-86EE-4421B0FBF9F1}" type="pres">
      <dgm:prSet presAssocID="{3BACFE3F-BCCB-4A91-9FE9-610E9259D356}" presName="sp" presStyleCnt="0"/>
      <dgm:spPr/>
    </dgm:pt>
    <dgm:pt modelId="{E707F591-ABCF-40BA-8531-FE2EF6CC9E44}" type="pres">
      <dgm:prSet presAssocID="{CECE33F4-1703-45F7-8EA0-6DA7A9DF786D}" presName="linNode" presStyleCnt="0"/>
      <dgm:spPr/>
    </dgm:pt>
    <dgm:pt modelId="{E7D2540F-22DA-4ECC-A963-075B3C7646E2}" type="pres">
      <dgm:prSet presAssocID="{CECE33F4-1703-45F7-8EA0-6DA7A9DF786D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454EFB09-CC6B-4762-B26B-F6EBF62CA061}" type="presOf" srcId="{BE2315DB-D2D1-44D2-A9CE-2C205AEB21CE}" destId="{75AFCEE7-7803-419B-8E63-7CC3682AB454}" srcOrd="0" destOrd="0" presId="urn:microsoft.com/office/officeart/2005/8/layout/vList5"/>
    <dgm:cxn modelId="{9574600A-575A-422D-A52E-79964988B676}" srcId="{62F1AFA5-6111-482E-900D-0413AFC3858B}" destId="{62644AA3-243D-42CF-B7E8-AC2024C655DD}" srcOrd="2" destOrd="0" parTransId="{5CE59FF2-A102-4DDC-A8A1-BBB512C1279B}" sibTransId="{88701707-B0D9-49C4-BAD9-ED7F65949BF7}"/>
    <dgm:cxn modelId="{294ACB33-B118-406F-855B-2F1D0991482B}" type="presOf" srcId="{DEB1A619-5106-4F08-A892-CBBECC25002A}" destId="{FC8C7476-112F-4316-B66D-2D71D8E3E539}" srcOrd="0" destOrd="1" presId="urn:microsoft.com/office/officeart/2005/8/layout/vList5"/>
    <dgm:cxn modelId="{79BA0962-0660-4951-8D9E-56BF553FA6FF}" type="presOf" srcId="{62F1AFA5-6111-482E-900D-0413AFC3858B}" destId="{E0258977-812A-4C89-B625-064D1F15E73B}" srcOrd="0" destOrd="0" presId="urn:microsoft.com/office/officeart/2005/8/layout/vList5"/>
    <dgm:cxn modelId="{A4B61E4F-59A4-48DB-A243-11F4493E5FE3}" type="presOf" srcId="{5762EDF5-022C-407E-83DC-25A35DD18E3B}" destId="{C5CB1E22-A97F-40E6-8ED1-4B21027C4091}" srcOrd="0" destOrd="0" presId="urn:microsoft.com/office/officeart/2005/8/layout/vList5"/>
    <dgm:cxn modelId="{54E3027C-67B5-40E3-82EA-FA8AE5C81F62}" srcId="{5762EDF5-022C-407E-83DC-25A35DD18E3B}" destId="{62F1AFA5-6111-482E-900D-0413AFC3858B}" srcOrd="1" destOrd="0" parTransId="{1F4BB76B-B5C1-466D-BEFF-C1F20B9E5EE7}" sibTransId="{3BACFE3F-BCCB-4A91-9FE9-610E9259D356}"/>
    <dgm:cxn modelId="{630BF97F-28BE-4A34-B62D-ADCC21E450C7}" srcId="{62F1AFA5-6111-482E-900D-0413AFC3858B}" destId="{DEB1A619-5106-4F08-A892-CBBECC25002A}" srcOrd="1" destOrd="0" parTransId="{042F3E90-A65A-466A-995C-6A28476BB035}" sibTransId="{CBA5476A-BDA3-405D-B714-23BC1529913C}"/>
    <dgm:cxn modelId="{3EFF29B6-CF1D-4279-80CF-4885D0A297D9}" type="presOf" srcId="{9F048185-00DC-47F2-BA59-0A6A0BDBCBF1}" destId="{FC8C7476-112F-4316-B66D-2D71D8E3E539}" srcOrd="0" destOrd="0" presId="urn:microsoft.com/office/officeart/2005/8/layout/vList5"/>
    <dgm:cxn modelId="{84DE55D6-6A2F-449F-B0AA-6F7838045ADF}" type="presOf" srcId="{62644AA3-243D-42CF-B7E8-AC2024C655DD}" destId="{FC8C7476-112F-4316-B66D-2D71D8E3E539}" srcOrd="0" destOrd="2" presId="urn:microsoft.com/office/officeart/2005/8/layout/vList5"/>
    <dgm:cxn modelId="{4C9E7CDB-BAA6-410E-983E-9BC8F162DFD2}" srcId="{5762EDF5-022C-407E-83DC-25A35DD18E3B}" destId="{CECE33F4-1703-45F7-8EA0-6DA7A9DF786D}" srcOrd="2" destOrd="0" parTransId="{2770E6F1-FC16-4FE0-8A2C-1E9EEA77C7BF}" sibTransId="{CB47CED2-13A3-43B4-B580-5152D8D8CD81}"/>
    <dgm:cxn modelId="{BE1D00E9-63CF-4937-847F-AB6591ECD0C1}" type="presOf" srcId="{CECE33F4-1703-45F7-8EA0-6DA7A9DF786D}" destId="{E7D2540F-22DA-4ECC-A963-075B3C7646E2}" srcOrd="0" destOrd="0" presId="urn:microsoft.com/office/officeart/2005/8/layout/vList5"/>
    <dgm:cxn modelId="{112883E9-78F0-4D5E-A0AC-605941EB1E43}" srcId="{62F1AFA5-6111-482E-900D-0413AFC3858B}" destId="{9F048185-00DC-47F2-BA59-0A6A0BDBCBF1}" srcOrd="0" destOrd="0" parTransId="{006C18BF-9584-4591-9FFB-0227E82EA907}" sibTransId="{92DABB83-FAF0-4B9D-A672-92E4E8111257}"/>
    <dgm:cxn modelId="{5686B5F7-B98F-491F-BFC4-CC3E55F60228}" srcId="{5762EDF5-022C-407E-83DC-25A35DD18E3B}" destId="{BE2315DB-D2D1-44D2-A9CE-2C205AEB21CE}" srcOrd="0" destOrd="0" parTransId="{4A117401-E0C8-48E8-84CE-C62E302D63F1}" sibTransId="{B3EBE9A5-325C-429D-9493-095858B7367C}"/>
    <dgm:cxn modelId="{35527892-F190-4276-8D5E-71206D996E9A}" type="presParOf" srcId="{C5CB1E22-A97F-40E6-8ED1-4B21027C4091}" destId="{A179DB23-0936-40B5-BC2D-D05001AF82A5}" srcOrd="0" destOrd="0" presId="urn:microsoft.com/office/officeart/2005/8/layout/vList5"/>
    <dgm:cxn modelId="{D3A75C45-F878-407A-B837-72E0A2935F51}" type="presParOf" srcId="{A179DB23-0936-40B5-BC2D-D05001AF82A5}" destId="{75AFCEE7-7803-419B-8E63-7CC3682AB454}" srcOrd="0" destOrd="0" presId="urn:microsoft.com/office/officeart/2005/8/layout/vList5"/>
    <dgm:cxn modelId="{EED2E76B-958B-4B23-80AB-A2BB95B0FB4D}" type="presParOf" srcId="{C5CB1E22-A97F-40E6-8ED1-4B21027C4091}" destId="{E8AF808C-E2A9-49CA-8BDD-393D4FB4E217}" srcOrd="1" destOrd="0" presId="urn:microsoft.com/office/officeart/2005/8/layout/vList5"/>
    <dgm:cxn modelId="{3B8EE0B3-99C1-4243-A237-01523167346F}" type="presParOf" srcId="{C5CB1E22-A97F-40E6-8ED1-4B21027C4091}" destId="{F576FC84-8238-468C-8F32-C86B73FD83CB}" srcOrd="2" destOrd="0" presId="urn:microsoft.com/office/officeart/2005/8/layout/vList5"/>
    <dgm:cxn modelId="{BDBDBAE7-995E-4B5F-A870-2D81F86087A9}" type="presParOf" srcId="{F576FC84-8238-468C-8F32-C86B73FD83CB}" destId="{E0258977-812A-4C89-B625-064D1F15E73B}" srcOrd="0" destOrd="0" presId="urn:microsoft.com/office/officeart/2005/8/layout/vList5"/>
    <dgm:cxn modelId="{29C964B9-1FA1-4AA0-9F53-3D85DA3F914D}" type="presParOf" srcId="{F576FC84-8238-468C-8F32-C86B73FD83CB}" destId="{FC8C7476-112F-4316-B66D-2D71D8E3E539}" srcOrd="1" destOrd="0" presId="urn:microsoft.com/office/officeart/2005/8/layout/vList5"/>
    <dgm:cxn modelId="{3EA6DC2B-3C24-4B20-9763-4E013A329B00}" type="presParOf" srcId="{C5CB1E22-A97F-40E6-8ED1-4B21027C4091}" destId="{A01A677E-2689-4558-86EE-4421B0FBF9F1}" srcOrd="3" destOrd="0" presId="urn:microsoft.com/office/officeart/2005/8/layout/vList5"/>
    <dgm:cxn modelId="{56B4C99D-44AC-4D62-B10E-1EAC4F18D912}" type="presParOf" srcId="{C5CB1E22-A97F-40E6-8ED1-4B21027C4091}" destId="{E707F591-ABCF-40BA-8531-FE2EF6CC9E44}" srcOrd="4" destOrd="0" presId="urn:microsoft.com/office/officeart/2005/8/layout/vList5"/>
    <dgm:cxn modelId="{7DACE856-FC29-4F4D-B1D7-2CD63DD99121}" type="presParOf" srcId="{E707F591-ABCF-40BA-8531-FE2EF6CC9E44}" destId="{E7D2540F-22DA-4ECC-A963-075B3C7646E2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2705C40-1817-4E3C-8630-00541760B33D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189670FB-70A0-47D2-A735-09EDD6785BA0}">
      <dgm:prSet/>
      <dgm:spPr/>
      <dgm:t>
        <a:bodyPr/>
        <a:lstStyle/>
        <a:p>
          <a:r>
            <a:rPr lang="fr-CA"/>
            <a:t>Une stratégie et des objectifs clairs</a:t>
          </a:r>
          <a:endParaRPr lang="en-US"/>
        </a:p>
      </dgm:t>
    </dgm:pt>
    <dgm:pt modelId="{11045C89-32DE-4F7E-AFB6-4EEC51219F25}" type="parTrans" cxnId="{7BEC2447-CBAA-4651-8CC6-68974BAE2186}">
      <dgm:prSet/>
      <dgm:spPr/>
      <dgm:t>
        <a:bodyPr/>
        <a:lstStyle/>
        <a:p>
          <a:endParaRPr lang="en-US"/>
        </a:p>
      </dgm:t>
    </dgm:pt>
    <dgm:pt modelId="{F5A521E0-8305-4A4F-A96B-FF996B244DA3}" type="sibTrans" cxnId="{7BEC2447-CBAA-4651-8CC6-68974BAE2186}">
      <dgm:prSet/>
      <dgm:spPr/>
      <dgm:t>
        <a:bodyPr/>
        <a:lstStyle/>
        <a:p>
          <a:endParaRPr lang="en-US"/>
        </a:p>
      </dgm:t>
    </dgm:pt>
    <dgm:pt modelId="{2F419B19-628C-4D04-8D57-AB8A9366DDF7}">
      <dgm:prSet/>
      <dgm:spPr/>
      <dgm:t>
        <a:bodyPr/>
        <a:lstStyle/>
        <a:p>
          <a:r>
            <a:rPr lang="fr-CA"/>
            <a:t>Une structure organisationnelle cohérente à laquelle le rôle du processus budgétaire est bien adaptée</a:t>
          </a:r>
          <a:endParaRPr lang="en-US"/>
        </a:p>
      </dgm:t>
    </dgm:pt>
    <dgm:pt modelId="{EF5798A3-16F5-4FD3-A8EE-42769E16FB63}" type="parTrans" cxnId="{D6A9F2DB-0722-4262-887C-EDEE608FE2F9}">
      <dgm:prSet/>
      <dgm:spPr/>
      <dgm:t>
        <a:bodyPr/>
        <a:lstStyle/>
        <a:p>
          <a:endParaRPr lang="en-US"/>
        </a:p>
      </dgm:t>
    </dgm:pt>
    <dgm:pt modelId="{403C8A30-7D67-4EF4-A0B9-B04BFB3CFD76}" type="sibTrans" cxnId="{D6A9F2DB-0722-4262-887C-EDEE608FE2F9}">
      <dgm:prSet/>
      <dgm:spPr/>
      <dgm:t>
        <a:bodyPr/>
        <a:lstStyle/>
        <a:p>
          <a:endParaRPr lang="en-US"/>
        </a:p>
      </dgm:t>
    </dgm:pt>
    <dgm:pt modelId="{53975A27-A90A-4788-93D6-F10BC59B9828}">
      <dgm:prSet/>
      <dgm:spPr/>
      <dgm:t>
        <a:bodyPr/>
        <a:lstStyle/>
        <a:p>
          <a:r>
            <a:rPr lang="fr-CA"/>
            <a:t>Tous les participants comprennent l’importance du processus budgétaire et y adhèrent</a:t>
          </a:r>
          <a:endParaRPr lang="en-US"/>
        </a:p>
      </dgm:t>
    </dgm:pt>
    <dgm:pt modelId="{9AA242AA-13E1-4DD5-9D47-A489F574A52C}" type="parTrans" cxnId="{AFB7DCB8-9AC3-4846-A532-DE16F759731C}">
      <dgm:prSet/>
      <dgm:spPr/>
      <dgm:t>
        <a:bodyPr/>
        <a:lstStyle/>
        <a:p>
          <a:endParaRPr lang="en-US"/>
        </a:p>
      </dgm:t>
    </dgm:pt>
    <dgm:pt modelId="{28A3C1CC-E32A-44EC-A0AF-B56C4F799958}" type="sibTrans" cxnId="{AFB7DCB8-9AC3-4846-A532-DE16F759731C}">
      <dgm:prSet/>
      <dgm:spPr/>
      <dgm:t>
        <a:bodyPr/>
        <a:lstStyle/>
        <a:p>
          <a:endParaRPr lang="en-US"/>
        </a:p>
      </dgm:t>
    </dgm:pt>
    <dgm:pt modelId="{A59894FC-82B2-410F-A120-908A940473F1}">
      <dgm:prSet/>
      <dgm:spPr/>
      <dgm:t>
        <a:bodyPr/>
        <a:lstStyle/>
        <a:p>
          <a:r>
            <a:rPr lang="fr-CA"/>
            <a:t>Un travail rigoureux de la part des participants, incluant des recherches approfondies</a:t>
          </a:r>
          <a:endParaRPr lang="en-US"/>
        </a:p>
      </dgm:t>
    </dgm:pt>
    <dgm:pt modelId="{16C7187C-2834-42A8-90DD-B539C94CC5C4}" type="parTrans" cxnId="{A5D5279A-2E88-47A5-A93E-30E836D6CF25}">
      <dgm:prSet/>
      <dgm:spPr/>
      <dgm:t>
        <a:bodyPr/>
        <a:lstStyle/>
        <a:p>
          <a:endParaRPr lang="en-US"/>
        </a:p>
      </dgm:t>
    </dgm:pt>
    <dgm:pt modelId="{3F9FC97A-9DEE-4A20-8915-E3D2E380F12E}" type="sibTrans" cxnId="{A5D5279A-2E88-47A5-A93E-30E836D6CF25}">
      <dgm:prSet/>
      <dgm:spPr/>
      <dgm:t>
        <a:bodyPr/>
        <a:lstStyle/>
        <a:p>
          <a:endParaRPr lang="en-US"/>
        </a:p>
      </dgm:t>
    </dgm:pt>
    <dgm:pt modelId="{0168CD35-B20A-4FC6-8352-954C4973B9F1}" type="pres">
      <dgm:prSet presAssocID="{62705C40-1817-4E3C-8630-00541760B33D}" presName="linear" presStyleCnt="0">
        <dgm:presLayoutVars>
          <dgm:animLvl val="lvl"/>
          <dgm:resizeHandles val="exact"/>
        </dgm:presLayoutVars>
      </dgm:prSet>
      <dgm:spPr/>
    </dgm:pt>
    <dgm:pt modelId="{2FC6590C-EE47-4C9E-B243-389E39151377}" type="pres">
      <dgm:prSet presAssocID="{189670FB-70A0-47D2-A735-09EDD6785BA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B42692B-9B77-41CD-A9BD-082874163850}" type="pres">
      <dgm:prSet presAssocID="{F5A521E0-8305-4A4F-A96B-FF996B244DA3}" presName="spacer" presStyleCnt="0"/>
      <dgm:spPr/>
    </dgm:pt>
    <dgm:pt modelId="{D92AAF32-AA95-4332-9E7D-FC5A7E7F5BA7}" type="pres">
      <dgm:prSet presAssocID="{2F419B19-628C-4D04-8D57-AB8A9366DDF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D3CE942-54B6-4EC9-9D39-A8AE89DB75B5}" type="pres">
      <dgm:prSet presAssocID="{403C8A30-7D67-4EF4-A0B9-B04BFB3CFD76}" presName="spacer" presStyleCnt="0"/>
      <dgm:spPr/>
    </dgm:pt>
    <dgm:pt modelId="{CE50F1CC-F7B6-4BAB-81D1-09B8C777D33E}" type="pres">
      <dgm:prSet presAssocID="{53975A27-A90A-4788-93D6-F10BC59B982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0771A3D-4FA3-49FD-B756-E71A525B62F8}" type="pres">
      <dgm:prSet presAssocID="{28A3C1CC-E32A-44EC-A0AF-B56C4F799958}" presName="spacer" presStyleCnt="0"/>
      <dgm:spPr/>
    </dgm:pt>
    <dgm:pt modelId="{AA7286F0-6018-4B6D-BD8D-C7C9865D9D0A}" type="pres">
      <dgm:prSet presAssocID="{A59894FC-82B2-410F-A120-908A940473F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BEC2447-CBAA-4651-8CC6-68974BAE2186}" srcId="{62705C40-1817-4E3C-8630-00541760B33D}" destId="{189670FB-70A0-47D2-A735-09EDD6785BA0}" srcOrd="0" destOrd="0" parTransId="{11045C89-32DE-4F7E-AFB6-4EEC51219F25}" sibTransId="{F5A521E0-8305-4A4F-A96B-FF996B244DA3}"/>
    <dgm:cxn modelId="{AC777C8B-2D35-4EB2-B90E-2F32EE1B1CDD}" type="presOf" srcId="{2F419B19-628C-4D04-8D57-AB8A9366DDF7}" destId="{D92AAF32-AA95-4332-9E7D-FC5A7E7F5BA7}" srcOrd="0" destOrd="0" presId="urn:microsoft.com/office/officeart/2005/8/layout/vList2"/>
    <dgm:cxn modelId="{F5647B8D-A0CB-4822-B435-7018522BD3BA}" type="presOf" srcId="{62705C40-1817-4E3C-8630-00541760B33D}" destId="{0168CD35-B20A-4FC6-8352-954C4973B9F1}" srcOrd="0" destOrd="0" presId="urn:microsoft.com/office/officeart/2005/8/layout/vList2"/>
    <dgm:cxn modelId="{A5D5279A-2E88-47A5-A93E-30E836D6CF25}" srcId="{62705C40-1817-4E3C-8630-00541760B33D}" destId="{A59894FC-82B2-410F-A120-908A940473F1}" srcOrd="3" destOrd="0" parTransId="{16C7187C-2834-42A8-90DD-B539C94CC5C4}" sibTransId="{3F9FC97A-9DEE-4A20-8915-E3D2E380F12E}"/>
    <dgm:cxn modelId="{AFB7DCB8-9AC3-4846-A532-DE16F759731C}" srcId="{62705C40-1817-4E3C-8630-00541760B33D}" destId="{53975A27-A90A-4788-93D6-F10BC59B9828}" srcOrd="2" destOrd="0" parTransId="{9AA242AA-13E1-4DD5-9D47-A489F574A52C}" sibTransId="{28A3C1CC-E32A-44EC-A0AF-B56C4F799958}"/>
    <dgm:cxn modelId="{E265BDD1-9382-4E40-A382-B3A62A1D7B55}" type="presOf" srcId="{A59894FC-82B2-410F-A120-908A940473F1}" destId="{AA7286F0-6018-4B6D-BD8D-C7C9865D9D0A}" srcOrd="0" destOrd="0" presId="urn:microsoft.com/office/officeart/2005/8/layout/vList2"/>
    <dgm:cxn modelId="{D6A9F2DB-0722-4262-887C-EDEE608FE2F9}" srcId="{62705C40-1817-4E3C-8630-00541760B33D}" destId="{2F419B19-628C-4D04-8D57-AB8A9366DDF7}" srcOrd="1" destOrd="0" parTransId="{EF5798A3-16F5-4FD3-A8EE-42769E16FB63}" sibTransId="{403C8A30-7D67-4EF4-A0B9-B04BFB3CFD76}"/>
    <dgm:cxn modelId="{3DA920E1-2D25-49BA-9875-92FE6549DD1E}" type="presOf" srcId="{189670FB-70A0-47D2-A735-09EDD6785BA0}" destId="{2FC6590C-EE47-4C9E-B243-389E39151377}" srcOrd="0" destOrd="0" presId="urn:microsoft.com/office/officeart/2005/8/layout/vList2"/>
    <dgm:cxn modelId="{5B5D51EE-DABF-4218-9E36-8A91EA9C54DE}" type="presOf" srcId="{53975A27-A90A-4788-93D6-F10BC59B9828}" destId="{CE50F1CC-F7B6-4BAB-81D1-09B8C777D33E}" srcOrd="0" destOrd="0" presId="urn:microsoft.com/office/officeart/2005/8/layout/vList2"/>
    <dgm:cxn modelId="{30B38585-E318-4A8E-9E80-D18ED6D8D2A4}" type="presParOf" srcId="{0168CD35-B20A-4FC6-8352-954C4973B9F1}" destId="{2FC6590C-EE47-4C9E-B243-389E39151377}" srcOrd="0" destOrd="0" presId="urn:microsoft.com/office/officeart/2005/8/layout/vList2"/>
    <dgm:cxn modelId="{8779DA17-4DFD-4DE0-8D50-91C27E8BB9EC}" type="presParOf" srcId="{0168CD35-B20A-4FC6-8352-954C4973B9F1}" destId="{1B42692B-9B77-41CD-A9BD-082874163850}" srcOrd="1" destOrd="0" presId="urn:microsoft.com/office/officeart/2005/8/layout/vList2"/>
    <dgm:cxn modelId="{CF313FBC-BD1B-4180-9938-83FFE2D50CC8}" type="presParOf" srcId="{0168CD35-B20A-4FC6-8352-954C4973B9F1}" destId="{D92AAF32-AA95-4332-9E7D-FC5A7E7F5BA7}" srcOrd="2" destOrd="0" presId="urn:microsoft.com/office/officeart/2005/8/layout/vList2"/>
    <dgm:cxn modelId="{7F15BA11-2AF8-470F-97E4-16206374A776}" type="presParOf" srcId="{0168CD35-B20A-4FC6-8352-954C4973B9F1}" destId="{1D3CE942-54B6-4EC9-9D39-A8AE89DB75B5}" srcOrd="3" destOrd="0" presId="urn:microsoft.com/office/officeart/2005/8/layout/vList2"/>
    <dgm:cxn modelId="{9CAF7EDC-3889-48A1-B355-76E21D4B265D}" type="presParOf" srcId="{0168CD35-B20A-4FC6-8352-954C4973B9F1}" destId="{CE50F1CC-F7B6-4BAB-81D1-09B8C777D33E}" srcOrd="4" destOrd="0" presId="urn:microsoft.com/office/officeart/2005/8/layout/vList2"/>
    <dgm:cxn modelId="{FB079F5F-A7E3-4E23-8DC4-9B742B56A6FB}" type="presParOf" srcId="{0168CD35-B20A-4FC6-8352-954C4973B9F1}" destId="{00771A3D-4FA3-49FD-B756-E71A525B62F8}" srcOrd="5" destOrd="0" presId="urn:microsoft.com/office/officeart/2005/8/layout/vList2"/>
    <dgm:cxn modelId="{B5B3EA4F-247E-4B45-9B51-6A1CBFBF3A42}" type="presParOf" srcId="{0168CD35-B20A-4FC6-8352-954C4973B9F1}" destId="{AA7286F0-6018-4B6D-BD8D-C7C9865D9D0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20F106-3C49-4116-ADCC-A1862A35FF93}">
      <dsp:nvSpPr>
        <dsp:cNvPr id="0" name=""/>
        <dsp:cNvSpPr/>
      </dsp:nvSpPr>
      <dsp:spPr>
        <a:xfrm rot="5400000">
          <a:off x="6475312" y="-2518314"/>
          <a:ext cx="135059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700" kern="1200" dirty="0"/>
            <a:t>Prévoir les </a:t>
          </a:r>
          <a:r>
            <a:rPr lang="fr-CA" sz="1700" b="1" kern="1200" dirty="0"/>
            <a:t>investissements requis </a:t>
          </a:r>
          <a:r>
            <a:rPr lang="fr-CA" sz="1700" b="0" kern="1200" dirty="0"/>
            <a:t>pour le</a:t>
          </a:r>
          <a:r>
            <a:rPr lang="fr-CA" sz="1700" b="1" kern="1200" dirty="0"/>
            <a:t> maintien </a:t>
          </a:r>
          <a:r>
            <a:rPr lang="fr-CA" sz="1700" kern="1200" dirty="0"/>
            <a:t>ou </a:t>
          </a:r>
          <a:r>
            <a:rPr lang="fr-CA" sz="1700" b="1" kern="1200" dirty="0"/>
            <a:t>l’ajout </a:t>
          </a:r>
          <a:r>
            <a:rPr lang="fr-CA" sz="1700" kern="1200" dirty="0"/>
            <a:t>aux infrastructures de l’organisation, en vue d’en </a:t>
          </a:r>
          <a:r>
            <a:rPr lang="fr-CA" sz="1700" b="1" kern="1200" dirty="0"/>
            <a:t>assurer un financement adéquat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700" kern="1200" dirty="0"/>
            <a:t>Horizon </a:t>
          </a:r>
          <a:r>
            <a:rPr lang="fr-CA" sz="1700" b="1" kern="1200" dirty="0"/>
            <a:t>long terme </a:t>
          </a:r>
          <a:r>
            <a:rPr lang="fr-CA" sz="1700" kern="1200" dirty="0"/>
            <a:t>(plan quinquennal d’investissement, par exemple)</a:t>
          </a:r>
          <a:endParaRPr lang="en-US" sz="1700" kern="1200" dirty="0"/>
        </a:p>
      </dsp:txBody>
      <dsp:txXfrm rot="-5400000">
        <a:off x="3785616" y="237312"/>
        <a:ext cx="6664054" cy="1218731"/>
      </dsp:txXfrm>
    </dsp:sp>
    <dsp:sp modelId="{4A0350D3-F12D-4D5E-8D7B-6B502DE0F19D}">
      <dsp:nvSpPr>
        <dsp:cNvPr id="0" name=""/>
        <dsp:cNvSpPr/>
      </dsp:nvSpPr>
      <dsp:spPr>
        <a:xfrm>
          <a:off x="0" y="2557"/>
          <a:ext cx="3785616" cy="168823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800" kern="1200" dirty="0"/>
            <a:t>Budget des investissements </a:t>
          </a:r>
          <a:endParaRPr lang="en-US" sz="3800" kern="1200" dirty="0"/>
        </a:p>
      </dsp:txBody>
      <dsp:txXfrm>
        <a:off x="82413" y="84970"/>
        <a:ext cx="3620790" cy="1523413"/>
      </dsp:txXfrm>
    </dsp:sp>
    <dsp:sp modelId="{6566698D-7BF9-4F0E-A4D4-E188B4617FC4}">
      <dsp:nvSpPr>
        <dsp:cNvPr id="0" name=""/>
        <dsp:cNvSpPr/>
      </dsp:nvSpPr>
      <dsp:spPr>
        <a:xfrm rot="5400000">
          <a:off x="6475312" y="-745663"/>
          <a:ext cx="135059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700" kern="1200" dirty="0"/>
            <a:t>Déterminer l’impact de </a:t>
          </a:r>
          <a:r>
            <a:rPr lang="fr-CA" sz="1700" b="1" kern="1200" dirty="0"/>
            <a:t>l’atteinte des objectifs sur  les résultats de l’organisation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700" kern="1200"/>
            <a:t>Horizon </a:t>
          </a:r>
          <a:r>
            <a:rPr lang="fr-CA" sz="1700" b="1" kern="1200"/>
            <a:t>court terme </a:t>
          </a:r>
          <a:r>
            <a:rPr lang="fr-CA" sz="1700" kern="1200"/>
            <a:t>(généralement un exercice, possiblement scindé en budget trimestriel ou mensuel)</a:t>
          </a:r>
          <a:endParaRPr lang="en-US" sz="1700" kern="1200"/>
        </a:p>
      </dsp:txBody>
      <dsp:txXfrm rot="-5400000">
        <a:off x="3785616" y="2009963"/>
        <a:ext cx="6664054" cy="1218731"/>
      </dsp:txXfrm>
    </dsp:sp>
    <dsp:sp modelId="{E8797527-2C8E-452D-B470-B33722F47CBA}">
      <dsp:nvSpPr>
        <dsp:cNvPr id="0" name=""/>
        <dsp:cNvSpPr/>
      </dsp:nvSpPr>
      <dsp:spPr>
        <a:xfrm>
          <a:off x="0" y="1775208"/>
          <a:ext cx="3785616" cy="168823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800" kern="1200" dirty="0"/>
            <a:t>Budget d’exploitation</a:t>
          </a:r>
          <a:endParaRPr lang="en-US" sz="3800" kern="1200" dirty="0"/>
        </a:p>
      </dsp:txBody>
      <dsp:txXfrm>
        <a:off x="82413" y="1857621"/>
        <a:ext cx="3620790" cy="1523413"/>
      </dsp:txXfrm>
    </dsp:sp>
    <dsp:sp modelId="{92E17B89-563D-4398-B91E-5F5FFD4872AA}">
      <dsp:nvSpPr>
        <dsp:cNvPr id="0" name=""/>
        <dsp:cNvSpPr/>
      </dsp:nvSpPr>
      <dsp:spPr>
        <a:xfrm rot="5400000">
          <a:off x="6475312" y="1026987"/>
          <a:ext cx="135059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700" kern="1200" dirty="0"/>
            <a:t>Prévoir </a:t>
          </a:r>
          <a:r>
            <a:rPr lang="fr-CA" sz="1700" b="1" kern="1200" dirty="0"/>
            <a:t>les mouvements de trésorerie</a:t>
          </a:r>
          <a:r>
            <a:rPr lang="fr-CA" sz="1700" kern="1200" dirty="0"/>
            <a:t>, en vue de gérer </a:t>
          </a:r>
          <a:r>
            <a:rPr lang="fr-CA" sz="1700" b="1" kern="1200" dirty="0"/>
            <a:t>les risques de déficits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700" kern="1200"/>
            <a:t>Horizon </a:t>
          </a:r>
          <a:r>
            <a:rPr lang="fr-CA" sz="1700" b="1" kern="1200"/>
            <a:t>court terme </a:t>
          </a:r>
          <a:r>
            <a:rPr lang="fr-CA" sz="1700" kern="1200"/>
            <a:t>(généralement un exercice, possiblement scindé en budget trimestriel ou mensuel)</a:t>
          </a:r>
          <a:endParaRPr lang="en-US" sz="1700" kern="1200"/>
        </a:p>
      </dsp:txBody>
      <dsp:txXfrm rot="-5400000">
        <a:off x="3785616" y="3782613"/>
        <a:ext cx="6664054" cy="1218731"/>
      </dsp:txXfrm>
    </dsp:sp>
    <dsp:sp modelId="{C64652D0-B352-4E01-B405-724BB6293149}">
      <dsp:nvSpPr>
        <dsp:cNvPr id="0" name=""/>
        <dsp:cNvSpPr/>
      </dsp:nvSpPr>
      <dsp:spPr>
        <a:xfrm>
          <a:off x="0" y="3547859"/>
          <a:ext cx="3785616" cy="168823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800" kern="1200" dirty="0"/>
            <a:t>Budget de caisse</a:t>
          </a:r>
          <a:endParaRPr lang="en-US" sz="3800" kern="1200" dirty="0"/>
        </a:p>
      </dsp:txBody>
      <dsp:txXfrm>
        <a:off x="82413" y="3630272"/>
        <a:ext cx="3620790" cy="15234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06445-72C6-4956-9CE4-A72F0DF909F4}">
      <dsp:nvSpPr>
        <dsp:cNvPr id="0" name=""/>
        <dsp:cNvSpPr/>
      </dsp:nvSpPr>
      <dsp:spPr>
        <a:xfrm>
          <a:off x="0" y="465948"/>
          <a:ext cx="10515600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55328B-6A3D-4609-9338-020FE5FC6929}">
      <dsp:nvSpPr>
        <dsp:cNvPr id="0" name=""/>
        <dsp:cNvSpPr/>
      </dsp:nvSpPr>
      <dsp:spPr>
        <a:xfrm>
          <a:off x="525780" y="37908"/>
          <a:ext cx="7884428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/>
            <a:t>Les trois composantes illustrent une facette importante du plan stratégique et des objectifs en découlant</a:t>
          </a:r>
          <a:endParaRPr lang="en-US" sz="2400" kern="1200"/>
        </a:p>
      </dsp:txBody>
      <dsp:txXfrm>
        <a:off x="567570" y="79698"/>
        <a:ext cx="7800848" cy="772500"/>
      </dsp:txXfrm>
    </dsp:sp>
    <dsp:sp modelId="{1D352020-4A7D-4B58-A385-5513376F4B0A}">
      <dsp:nvSpPr>
        <dsp:cNvPr id="0" name=""/>
        <dsp:cNvSpPr/>
      </dsp:nvSpPr>
      <dsp:spPr>
        <a:xfrm>
          <a:off x="0" y="1781388"/>
          <a:ext cx="10515600" cy="102768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604012" rIns="81612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000" kern="1200" dirty="0"/>
            <a:t>Négliger l’une ou l’autre des composantes comporte des risque importants</a:t>
          </a:r>
          <a:endParaRPr lang="en-US" sz="2000" kern="1200" dirty="0"/>
        </a:p>
      </dsp:txBody>
      <dsp:txXfrm>
        <a:off x="0" y="1781388"/>
        <a:ext cx="10515600" cy="1027687"/>
      </dsp:txXfrm>
    </dsp:sp>
    <dsp:sp modelId="{E3079A9F-3DB1-43B5-AD71-8F5B1E93D2BC}">
      <dsp:nvSpPr>
        <dsp:cNvPr id="0" name=""/>
        <dsp:cNvSpPr/>
      </dsp:nvSpPr>
      <dsp:spPr>
        <a:xfrm>
          <a:off x="525780" y="1353348"/>
          <a:ext cx="7935145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dirty="0"/>
            <a:t>Chacune des trois composantes joue un rôle crucial et complémentaire</a:t>
          </a:r>
          <a:endParaRPr lang="en-US" sz="2400" kern="1200" dirty="0"/>
        </a:p>
      </dsp:txBody>
      <dsp:txXfrm>
        <a:off x="567570" y="1395138"/>
        <a:ext cx="7851565" cy="772500"/>
      </dsp:txXfrm>
    </dsp:sp>
    <dsp:sp modelId="{7A312979-3E30-446C-B810-5FC246B4E7F8}">
      <dsp:nvSpPr>
        <dsp:cNvPr id="0" name=""/>
        <dsp:cNvSpPr/>
      </dsp:nvSpPr>
      <dsp:spPr>
        <a:xfrm>
          <a:off x="0" y="3393716"/>
          <a:ext cx="10515600" cy="13245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604012" rIns="81612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000" kern="1200" dirty="0"/>
            <a:t>Ceux-ci intéressent grandement diverses parties prenantes (actionnaires, créanciers, analystes financiers, etc…)</a:t>
          </a:r>
          <a:endParaRPr lang="en-US" sz="2000" kern="1200" dirty="0"/>
        </a:p>
      </dsp:txBody>
      <dsp:txXfrm>
        <a:off x="0" y="3393716"/>
        <a:ext cx="10515600" cy="1324575"/>
      </dsp:txXfrm>
    </dsp:sp>
    <dsp:sp modelId="{8DD4C3CC-EB8C-433A-9E06-4619426236D0}">
      <dsp:nvSpPr>
        <dsp:cNvPr id="0" name=""/>
        <dsp:cNvSpPr/>
      </dsp:nvSpPr>
      <dsp:spPr>
        <a:xfrm>
          <a:off x="525780" y="2965676"/>
          <a:ext cx="7998890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/>
            <a:t>La combinaison des trois composantes permettent de construire des états financiers pro-forma</a:t>
          </a:r>
          <a:endParaRPr lang="en-US" sz="2400" kern="1200"/>
        </a:p>
      </dsp:txBody>
      <dsp:txXfrm>
        <a:off x="567570" y="3007466"/>
        <a:ext cx="7915310" cy="772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A0D3D9-F60B-488F-94E8-5D5B2A580C7E}">
      <dsp:nvSpPr>
        <dsp:cNvPr id="0" name=""/>
        <dsp:cNvSpPr/>
      </dsp:nvSpPr>
      <dsp:spPr>
        <a:xfrm>
          <a:off x="743237" y="232"/>
          <a:ext cx="4384677" cy="221881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800" kern="1200" dirty="0"/>
            <a:t>Découle  du plan stratégique</a:t>
          </a:r>
          <a:endParaRPr lang="en-US" sz="2800" kern="1200" dirty="0"/>
        </a:p>
      </dsp:txBody>
      <dsp:txXfrm>
        <a:off x="743237" y="232"/>
        <a:ext cx="4384677" cy="2218818"/>
      </dsp:txXfrm>
    </dsp:sp>
    <dsp:sp modelId="{14D26168-746F-4548-A464-462D4B284533}">
      <dsp:nvSpPr>
        <dsp:cNvPr id="0" name=""/>
        <dsp:cNvSpPr/>
      </dsp:nvSpPr>
      <dsp:spPr>
        <a:xfrm>
          <a:off x="5609197" y="232"/>
          <a:ext cx="4384677" cy="221881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b="1" kern="1200" dirty="0"/>
            <a:t>Inclut :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dirty="0"/>
            <a:t>Nouveaux investissements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dirty="0"/>
            <a:t>Plans d’entretien ou de rénovation des infrastructures existantes</a:t>
          </a:r>
          <a:endParaRPr lang="en-US" sz="2400" kern="1200" dirty="0"/>
        </a:p>
      </dsp:txBody>
      <dsp:txXfrm>
        <a:off x="5609197" y="232"/>
        <a:ext cx="4384677" cy="2218818"/>
      </dsp:txXfrm>
    </dsp:sp>
    <dsp:sp modelId="{123EB698-530A-4F9B-9B85-4670A79ABF14}">
      <dsp:nvSpPr>
        <dsp:cNvPr id="0" name=""/>
        <dsp:cNvSpPr/>
      </dsp:nvSpPr>
      <dsp:spPr>
        <a:xfrm>
          <a:off x="743237" y="2700334"/>
          <a:ext cx="4384677" cy="221881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dirty="0"/>
            <a:t>Doit généralement s’accompagner d’un plan de financement </a:t>
          </a:r>
          <a:endParaRPr lang="en-US" sz="2400" kern="1200" dirty="0"/>
        </a:p>
      </dsp:txBody>
      <dsp:txXfrm>
        <a:off x="743237" y="2700334"/>
        <a:ext cx="4384677" cy="2218818"/>
      </dsp:txXfrm>
    </dsp:sp>
    <dsp:sp modelId="{B11E9407-DA40-4F1D-BF16-DD240F55D3F3}">
      <dsp:nvSpPr>
        <dsp:cNvPr id="0" name=""/>
        <dsp:cNvSpPr/>
      </dsp:nvSpPr>
      <dsp:spPr>
        <a:xfrm>
          <a:off x="5609197" y="2700334"/>
          <a:ext cx="4384677" cy="221881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b="1" u="sng" kern="1200" dirty="0"/>
            <a:t>Faiblesse fréquente  </a:t>
          </a:r>
          <a:r>
            <a:rPr lang="fr-CA" sz="2400" kern="1200" dirty="0"/>
            <a:t>Surutilisation du budget d’exploitation et des fonds auto-générés</a:t>
          </a:r>
          <a:endParaRPr lang="en-US" sz="24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800" kern="1200" dirty="0"/>
            <a:t>Exemple: Enjeux créés par la faiblesse des fonds de prévoyance pour les copropriétés</a:t>
          </a:r>
          <a:endParaRPr lang="en-US" sz="1800" kern="1200" dirty="0"/>
        </a:p>
      </dsp:txBody>
      <dsp:txXfrm>
        <a:off x="5609197" y="2700334"/>
        <a:ext cx="4384677" cy="22188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A5DAEF-8C68-43CF-9F6C-A9A6176A4C3D}">
      <dsp:nvSpPr>
        <dsp:cNvPr id="0" name=""/>
        <dsp:cNvSpPr/>
      </dsp:nvSpPr>
      <dsp:spPr>
        <a:xfrm>
          <a:off x="42890" y="2195369"/>
          <a:ext cx="10261817" cy="28365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400" b="0" i="0" kern="1200" baseline="0" dirty="0"/>
            <a:t>Synthèse des grandes étapes</a:t>
          </a:r>
          <a:endParaRPr lang="en-US" sz="3400" kern="1200" dirty="0"/>
        </a:p>
      </dsp:txBody>
      <dsp:txXfrm>
        <a:off x="42890" y="2195369"/>
        <a:ext cx="10261817" cy="1531712"/>
      </dsp:txXfrm>
    </dsp:sp>
    <dsp:sp modelId="{3FB09132-DD94-4330-8DF0-68B5A22BAF38}">
      <dsp:nvSpPr>
        <dsp:cNvPr id="0" name=""/>
        <dsp:cNvSpPr/>
      </dsp:nvSpPr>
      <dsp:spPr>
        <a:xfrm>
          <a:off x="3054" y="3353424"/>
          <a:ext cx="2530269" cy="1546337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1" i="0" kern="1200" baseline="0" dirty="0"/>
            <a:t>Objectifs de croissance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1" i="0" kern="1200" baseline="0" dirty="0"/>
            <a:t> </a:t>
          </a:r>
          <a:r>
            <a:rPr lang="fr-CA" sz="1600" b="0" i="0" kern="1200" baseline="0" dirty="0"/>
            <a:t>Impact sur les revenus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0" i="0" kern="1200" baseline="0" dirty="0"/>
            <a:t> </a:t>
          </a:r>
          <a:r>
            <a:rPr lang="fr-CA" sz="1600" b="0" i="0" kern="120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budget des ventes</a:t>
          </a:r>
          <a:endParaRPr lang="en-US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054" y="3353424"/>
        <a:ext cx="2530269" cy="1546337"/>
      </dsp:txXfrm>
    </dsp:sp>
    <dsp:sp modelId="{8959944D-9DDD-429A-9B39-F2346B9394D8}">
      <dsp:nvSpPr>
        <dsp:cNvPr id="0" name=""/>
        <dsp:cNvSpPr/>
      </dsp:nvSpPr>
      <dsp:spPr>
        <a:xfrm>
          <a:off x="2533323" y="3353424"/>
          <a:ext cx="2574052" cy="1546337"/>
        </a:xfrm>
        <a:prstGeom prst="rect">
          <a:avLst/>
        </a:prstGeom>
        <a:solidFill>
          <a:schemeClr val="accent2">
            <a:lumMod val="40000"/>
            <a:lumOff val="60000"/>
            <a:alpha val="9000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800" b="1" i="0" kern="1200" baseline="0" dirty="0"/>
            <a:t>Objectifs d’efficience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0" i="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" panose="020F0502020204030204"/>
              <a:ea typeface="+mn-ea"/>
              <a:cs typeface="+mn-cs"/>
            </a:rPr>
            <a:t> Impact sur la production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0" i="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+mn-ea"/>
              <a:cs typeface="+mn-cs"/>
            </a:rPr>
            <a:t> budget de production</a:t>
          </a:r>
          <a:endParaRPr lang="en-US" sz="1600" b="0" i="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" panose="020F0502020204030204"/>
            <a:ea typeface="+mn-ea"/>
            <a:cs typeface="+mn-cs"/>
          </a:endParaRPr>
        </a:p>
      </dsp:txBody>
      <dsp:txXfrm>
        <a:off x="2533323" y="3353424"/>
        <a:ext cx="2574052" cy="1546337"/>
      </dsp:txXfrm>
    </dsp:sp>
    <dsp:sp modelId="{BBFFFED7-54A9-4755-B9DA-5161D22E63AD}">
      <dsp:nvSpPr>
        <dsp:cNvPr id="0" name=""/>
        <dsp:cNvSpPr/>
      </dsp:nvSpPr>
      <dsp:spPr>
        <a:xfrm>
          <a:off x="5107375" y="3353424"/>
          <a:ext cx="2630206" cy="1546337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1" i="0" kern="1200" baseline="0" dirty="0"/>
            <a:t>Objectifs d’utilisation des ressources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0" i="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" panose="020F0502020204030204"/>
              <a:ea typeface="+mn-ea"/>
              <a:cs typeface="+mn-cs"/>
            </a:rPr>
            <a:t>Impact sur les coûts de production 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0" i="0" kern="120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budget des coûts de fabrication</a:t>
          </a:r>
          <a:endParaRPr lang="en-US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107375" y="3353424"/>
        <a:ext cx="2630206" cy="1546337"/>
      </dsp:txXfrm>
    </dsp:sp>
    <dsp:sp modelId="{3CAC9595-5024-4DDA-845A-9CCEE7A8BAA5}">
      <dsp:nvSpPr>
        <dsp:cNvPr id="0" name=""/>
        <dsp:cNvSpPr/>
      </dsp:nvSpPr>
      <dsp:spPr>
        <a:xfrm>
          <a:off x="7737582" y="3342791"/>
          <a:ext cx="2606962" cy="1567602"/>
        </a:xfrm>
        <a:prstGeom prst="rect">
          <a:avLst/>
        </a:prstGeom>
        <a:solidFill>
          <a:schemeClr val="accent2">
            <a:lumMod val="40000"/>
            <a:lumOff val="60000"/>
            <a:alpha val="9000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1" i="0" kern="1200" baseline="0" dirty="0"/>
            <a:t>Objectifs économie d’autres ressources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300" b="0" i="0" kern="1200" baseline="0" dirty="0"/>
            <a:t> </a:t>
          </a:r>
          <a:r>
            <a:rPr lang="fr-CA" sz="1600" b="0" i="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" panose="020F0502020204030204"/>
              <a:ea typeface="+mn-ea"/>
              <a:cs typeface="+mn-cs"/>
            </a:rPr>
            <a:t>Impact sur les frais discrétionnaires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b="0" i="0" kern="120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Budget des départements de supports  </a:t>
          </a:r>
          <a:endParaRPr lang="en-US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7737582" y="3342791"/>
        <a:ext cx="2606962" cy="1567602"/>
      </dsp:txXfrm>
    </dsp:sp>
    <dsp:sp modelId="{BE02F7CA-A70B-43C0-B01A-AC297E692B33}">
      <dsp:nvSpPr>
        <dsp:cNvPr id="0" name=""/>
        <dsp:cNvSpPr/>
      </dsp:nvSpPr>
      <dsp:spPr>
        <a:xfrm rot="10800000">
          <a:off x="0" y="772"/>
          <a:ext cx="10347598" cy="2225374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400" b="0" i="0" kern="1200" baseline="0" dirty="0"/>
            <a:t>Prévoir tous les impacts financiers de la planification établie en lien avec les objectifs stratégiques</a:t>
          </a:r>
          <a:endParaRPr lang="en-US" sz="3400" kern="1200" dirty="0"/>
        </a:p>
      </dsp:txBody>
      <dsp:txXfrm rot="10800000">
        <a:off x="0" y="772"/>
        <a:ext cx="10347598" cy="14459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DE512D-856E-48E5-8E37-70EEA157DCD6}">
      <dsp:nvSpPr>
        <dsp:cNvPr id="0" name=""/>
        <dsp:cNvSpPr/>
      </dsp:nvSpPr>
      <dsp:spPr>
        <a:xfrm>
          <a:off x="3498077" y="264777"/>
          <a:ext cx="3604450" cy="3604450"/>
        </a:xfrm>
        <a:prstGeom prst="pie">
          <a:avLst>
            <a:gd name="adj1" fmla="val 16200000"/>
            <a:gd name="adj2" fmla="val 0"/>
          </a:avLst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dirty="0"/>
            <a:t>1) Écarts significatifs</a:t>
          </a:r>
        </a:p>
      </dsp:txBody>
      <dsp:txXfrm>
        <a:off x="5411440" y="1011843"/>
        <a:ext cx="1330214" cy="986932"/>
      </dsp:txXfrm>
    </dsp:sp>
    <dsp:sp modelId="{A043C806-3953-4106-94A6-015B871BBBB1}">
      <dsp:nvSpPr>
        <dsp:cNvPr id="0" name=""/>
        <dsp:cNvSpPr/>
      </dsp:nvSpPr>
      <dsp:spPr>
        <a:xfrm>
          <a:off x="3498077" y="385784"/>
          <a:ext cx="3604450" cy="3604450"/>
        </a:xfrm>
        <a:prstGeom prst="pie">
          <a:avLst>
            <a:gd name="adj1" fmla="val 0"/>
            <a:gd name="adj2" fmla="val 5400000"/>
          </a:avLst>
        </a:prstGeom>
        <a:solidFill>
          <a:schemeClr val="accent2">
            <a:shade val="50000"/>
            <a:hueOff val="364881"/>
            <a:satOff val="-18769"/>
            <a:lumOff val="268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/>
            <a:t>2) Causes </a:t>
          </a:r>
          <a:endParaRPr lang="fr-CA" sz="1600" kern="1200" dirty="0"/>
        </a:p>
      </dsp:txBody>
      <dsp:txXfrm>
        <a:off x="5411440" y="2256236"/>
        <a:ext cx="1330214" cy="986932"/>
      </dsp:txXfrm>
    </dsp:sp>
    <dsp:sp modelId="{A0E43772-3339-4CAF-B0DF-7E623B87E5C6}">
      <dsp:nvSpPr>
        <dsp:cNvPr id="0" name=""/>
        <dsp:cNvSpPr/>
      </dsp:nvSpPr>
      <dsp:spPr>
        <a:xfrm>
          <a:off x="3377071" y="385784"/>
          <a:ext cx="3604450" cy="3604450"/>
        </a:xfrm>
        <a:prstGeom prst="pie">
          <a:avLst>
            <a:gd name="adj1" fmla="val 5400000"/>
            <a:gd name="adj2" fmla="val 10800000"/>
          </a:avLst>
        </a:prstGeom>
        <a:solidFill>
          <a:schemeClr val="accent2">
            <a:shade val="50000"/>
            <a:hueOff val="729762"/>
            <a:satOff val="-37537"/>
            <a:lumOff val="536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/>
            <a:t>3) Indices</a:t>
          </a:r>
          <a:endParaRPr lang="fr-CA" sz="1600" kern="1200" dirty="0"/>
        </a:p>
      </dsp:txBody>
      <dsp:txXfrm>
        <a:off x="3737945" y="2256236"/>
        <a:ext cx="1330214" cy="986932"/>
      </dsp:txXfrm>
    </dsp:sp>
    <dsp:sp modelId="{1FEC2834-EDB3-4D32-9693-8937F1551187}">
      <dsp:nvSpPr>
        <dsp:cNvPr id="0" name=""/>
        <dsp:cNvSpPr/>
      </dsp:nvSpPr>
      <dsp:spPr>
        <a:xfrm>
          <a:off x="3377071" y="264777"/>
          <a:ext cx="3604450" cy="3604450"/>
        </a:xfrm>
        <a:prstGeom prst="pie">
          <a:avLst>
            <a:gd name="adj1" fmla="val 10800000"/>
            <a:gd name="adj2" fmla="val 16200000"/>
          </a:avLst>
        </a:prstGeom>
        <a:solidFill>
          <a:schemeClr val="accent2">
            <a:shade val="50000"/>
            <a:hueOff val="364881"/>
            <a:satOff val="-18769"/>
            <a:lumOff val="268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dirty="0"/>
            <a:t>4) Solutions</a:t>
          </a:r>
        </a:p>
      </dsp:txBody>
      <dsp:txXfrm>
        <a:off x="3737945" y="1011843"/>
        <a:ext cx="1330214" cy="986932"/>
      </dsp:txXfrm>
    </dsp:sp>
    <dsp:sp modelId="{AC17E184-9A1F-4EC9-B3AC-3D5746CDB423}">
      <dsp:nvSpPr>
        <dsp:cNvPr id="0" name=""/>
        <dsp:cNvSpPr/>
      </dsp:nvSpPr>
      <dsp:spPr>
        <a:xfrm>
          <a:off x="3274945" y="41645"/>
          <a:ext cx="4050716" cy="4050716"/>
        </a:xfrm>
        <a:prstGeom prst="circularArrow">
          <a:avLst>
            <a:gd name="adj1" fmla="val 5085"/>
            <a:gd name="adj2" fmla="val 327528"/>
            <a:gd name="adj3" fmla="val 21272472"/>
            <a:gd name="adj4" fmla="val 16200000"/>
            <a:gd name="adj5" fmla="val 5932"/>
          </a:avLst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89DDB5-A3C5-4BFE-831F-EE000B8C1B53}">
      <dsp:nvSpPr>
        <dsp:cNvPr id="0" name=""/>
        <dsp:cNvSpPr/>
      </dsp:nvSpPr>
      <dsp:spPr>
        <a:xfrm>
          <a:off x="3274945" y="162651"/>
          <a:ext cx="4050716" cy="4050716"/>
        </a:xfrm>
        <a:prstGeom prst="circularArrow">
          <a:avLst>
            <a:gd name="adj1" fmla="val 5085"/>
            <a:gd name="adj2" fmla="val 327528"/>
            <a:gd name="adj3" fmla="val 5072472"/>
            <a:gd name="adj4" fmla="val 0"/>
            <a:gd name="adj5" fmla="val 5932"/>
          </a:avLst>
        </a:prstGeom>
        <a:solidFill>
          <a:schemeClr val="accent2">
            <a:shade val="90000"/>
            <a:hueOff val="364129"/>
            <a:satOff val="-18475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469AD-04DA-4644-8E1E-1A0DA118F5FE}">
      <dsp:nvSpPr>
        <dsp:cNvPr id="0" name=""/>
        <dsp:cNvSpPr/>
      </dsp:nvSpPr>
      <dsp:spPr>
        <a:xfrm>
          <a:off x="3153938" y="162651"/>
          <a:ext cx="4050716" cy="4050716"/>
        </a:xfrm>
        <a:prstGeom prst="circularArrow">
          <a:avLst>
            <a:gd name="adj1" fmla="val 5085"/>
            <a:gd name="adj2" fmla="val 327528"/>
            <a:gd name="adj3" fmla="val 10472472"/>
            <a:gd name="adj4" fmla="val 5400000"/>
            <a:gd name="adj5" fmla="val 5932"/>
          </a:avLst>
        </a:prstGeom>
        <a:solidFill>
          <a:schemeClr val="accent2">
            <a:shade val="90000"/>
            <a:hueOff val="728259"/>
            <a:satOff val="-36949"/>
            <a:lumOff val="4204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5D6402-F6C6-487E-9DFB-D5A81A440E63}">
      <dsp:nvSpPr>
        <dsp:cNvPr id="0" name=""/>
        <dsp:cNvSpPr/>
      </dsp:nvSpPr>
      <dsp:spPr>
        <a:xfrm>
          <a:off x="3153938" y="41645"/>
          <a:ext cx="4050716" cy="4050716"/>
        </a:xfrm>
        <a:prstGeom prst="circularArrow">
          <a:avLst>
            <a:gd name="adj1" fmla="val 5085"/>
            <a:gd name="adj2" fmla="val 327528"/>
            <a:gd name="adj3" fmla="val 15872472"/>
            <a:gd name="adj4" fmla="val 10800000"/>
            <a:gd name="adj5" fmla="val 5932"/>
          </a:avLst>
        </a:prstGeom>
        <a:solidFill>
          <a:schemeClr val="accent2">
            <a:shade val="90000"/>
            <a:hueOff val="364129"/>
            <a:satOff val="-18475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AFCEE7-7803-419B-8E63-7CC3682AB454}">
      <dsp:nvSpPr>
        <dsp:cNvPr id="0" name=""/>
        <dsp:cNvSpPr/>
      </dsp:nvSpPr>
      <dsp:spPr>
        <a:xfrm>
          <a:off x="0" y="1910"/>
          <a:ext cx="3785616" cy="12610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200" kern="1200"/>
            <a:t>Les OBNL opèrent dans univers où les ressources sont rares</a:t>
          </a:r>
          <a:endParaRPr lang="en-US" sz="2200" kern="1200"/>
        </a:p>
      </dsp:txBody>
      <dsp:txXfrm>
        <a:off x="61561" y="63471"/>
        <a:ext cx="3662494" cy="1137957"/>
      </dsp:txXfrm>
    </dsp:sp>
    <dsp:sp modelId="{FC8C7476-112F-4316-B66D-2D71D8E3E539}">
      <dsp:nvSpPr>
        <dsp:cNvPr id="0" name=""/>
        <dsp:cNvSpPr/>
      </dsp:nvSpPr>
      <dsp:spPr>
        <a:xfrm rot="5400000">
          <a:off x="6646176" y="-1408408"/>
          <a:ext cx="1008863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800" kern="1200"/>
            <a:t>Rôle des prévisions des entrées et des sorties de fonds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800" kern="1200"/>
            <a:t>Rôle d’optimisation des ressources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800" kern="1200"/>
            <a:t>Rôle d’allocation des ressources</a:t>
          </a:r>
          <a:endParaRPr lang="en-US" sz="1800" kern="1200"/>
        </a:p>
      </dsp:txBody>
      <dsp:txXfrm rot="-5400000">
        <a:off x="3785616" y="1501401"/>
        <a:ext cx="6680735" cy="910365"/>
      </dsp:txXfrm>
    </dsp:sp>
    <dsp:sp modelId="{E0258977-812A-4C89-B625-064D1F15E73B}">
      <dsp:nvSpPr>
        <dsp:cNvPr id="0" name=""/>
        <dsp:cNvSpPr/>
      </dsp:nvSpPr>
      <dsp:spPr>
        <a:xfrm>
          <a:off x="0" y="1326043"/>
          <a:ext cx="3785616" cy="12610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200" kern="1200"/>
            <a:t>Dans ce contexte, les rôles du budget sont multiples</a:t>
          </a:r>
          <a:endParaRPr lang="en-US" sz="2200" kern="1200"/>
        </a:p>
      </dsp:txBody>
      <dsp:txXfrm>
        <a:off x="61561" y="1387604"/>
        <a:ext cx="3662494" cy="1137957"/>
      </dsp:txXfrm>
    </dsp:sp>
    <dsp:sp modelId="{E7D2540F-22DA-4ECC-A963-075B3C7646E2}">
      <dsp:nvSpPr>
        <dsp:cNvPr id="0" name=""/>
        <dsp:cNvSpPr/>
      </dsp:nvSpPr>
      <dsp:spPr>
        <a:xfrm>
          <a:off x="0" y="2650177"/>
          <a:ext cx="3785616" cy="12610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200" kern="1200"/>
            <a:t>L’exercice budgétaire fait partie intégrante du processus de reddition de comptes</a:t>
          </a:r>
          <a:endParaRPr lang="en-US" sz="2200" kern="1200"/>
        </a:p>
      </dsp:txBody>
      <dsp:txXfrm>
        <a:off x="61561" y="2711738"/>
        <a:ext cx="3662494" cy="113795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C6590C-EE47-4C9E-B243-389E39151377}">
      <dsp:nvSpPr>
        <dsp:cNvPr id="0" name=""/>
        <dsp:cNvSpPr/>
      </dsp:nvSpPr>
      <dsp:spPr>
        <a:xfrm>
          <a:off x="0" y="29866"/>
          <a:ext cx="10515600" cy="91367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300" kern="1200"/>
            <a:t>Une stratégie et des objectifs clairs</a:t>
          </a:r>
          <a:endParaRPr lang="en-US" sz="2300" kern="1200"/>
        </a:p>
      </dsp:txBody>
      <dsp:txXfrm>
        <a:off x="44602" y="74468"/>
        <a:ext cx="10426396" cy="824474"/>
      </dsp:txXfrm>
    </dsp:sp>
    <dsp:sp modelId="{D92AAF32-AA95-4332-9E7D-FC5A7E7F5BA7}">
      <dsp:nvSpPr>
        <dsp:cNvPr id="0" name=""/>
        <dsp:cNvSpPr/>
      </dsp:nvSpPr>
      <dsp:spPr>
        <a:xfrm>
          <a:off x="0" y="1009784"/>
          <a:ext cx="10515600" cy="91367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300" kern="1200"/>
            <a:t>Une structure organisationnelle cohérente à laquelle le rôle du processus budgétaire est bien adaptée</a:t>
          </a:r>
          <a:endParaRPr lang="en-US" sz="2300" kern="1200"/>
        </a:p>
      </dsp:txBody>
      <dsp:txXfrm>
        <a:off x="44602" y="1054386"/>
        <a:ext cx="10426396" cy="824474"/>
      </dsp:txXfrm>
    </dsp:sp>
    <dsp:sp modelId="{CE50F1CC-F7B6-4BAB-81D1-09B8C777D33E}">
      <dsp:nvSpPr>
        <dsp:cNvPr id="0" name=""/>
        <dsp:cNvSpPr/>
      </dsp:nvSpPr>
      <dsp:spPr>
        <a:xfrm>
          <a:off x="0" y="1989703"/>
          <a:ext cx="10515600" cy="91367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300" kern="1200"/>
            <a:t>Tous les participants comprennent l’importance du processus budgétaire et y adhèrent</a:t>
          </a:r>
          <a:endParaRPr lang="en-US" sz="2300" kern="1200"/>
        </a:p>
      </dsp:txBody>
      <dsp:txXfrm>
        <a:off x="44602" y="2034305"/>
        <a:ext cx="10426396" cy="824474"/>
      </dsp:txXfrm>
    </dsp:sp>
    <dsp:sp modelId="{AA7286F0-6018-4B6D-BD8D-C7C9865D9D0A}">
      <dsp:nvSpPr>
        <dsp:cNvPr id="0" name=""/>
        <dsp:cNvSpPr/>
      </dsp:nvSpPr>
      <dsp:spPr>
        <a:xfrm>
          <a:off x="0" y="2969622"/>
          <a:ext cx="10515600" cy="91367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300" kern="1200"/>
            <a:t>Un travail rigoureux de la part des participants, incluant des recherches approfondies</a:t>
          </a:r>
          <a:endParaRPr lang="en-US" sz="2300" kern="1200"/>
        </a:p>
      </dsp:txBody>
      <dsp:txXfrm>
        <a:off x="44602" y="3014224"/>
        <a:ext cx="10426396" cy="8244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CB188315-A5FB-43A7-B83F-8AB429ECA21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126CA61-490D-46E1-95B6-C357E10DF0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08438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C8603-7857-48E5-A219-4B2395FFEB30}" type="datetimeFigureOut">
              <a:rPr lang="fr-CA" smtClean="0"/>
              <a:t>2025-04-03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CD6B801-660D-4C34-A20B-88146BBA22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99525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581D93-99EF-40B3-A2D6-A12FF6F914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08438" y="8899525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F8E06-5924-41AE-B1B5-8F03F171BFD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38294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70098"/>
          </a:xfrm>
          <a:prstGeom prst="rect">
            <a:avLst/>
          </a:prstGeom>
        </p:spPr>
        <p:txBody>
          <a:bodyPr vert="horz" lIns="93969" tIns="46985" rIns="93969" bIns="46985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08705" y="0"/>
            <a:ext cx="3066733" cy="470098"/>
          </a:xfrm>
          <a:prstGeom prst="rect">
            <a:avLst/>
          </a:prstGeom>
        </p:spPr>
        <p:txBody>
          <a:bodyPr vert="horz" lIns="93969" tIns="46985" rIns="93969" bIns="46985" rtlCol="0"/>
          <a:lstStyle>
            <a:lvl1pPr algn="r">
              <a:defRPr sz="1200"/>
            </a:lvl1pPr>
          </a:lstStyle>
          <a:p>
            <a:fld id="{14ACF90F-8CD0-48D0-B214-EE61CF43C26A}" type="datetimeFigureOut">
              <a:rPr lang="fr-CA" smtClean="0"/>
              <a:t>2025-04-03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71575"/>
            <a:ext cx="5619750" cy="31607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969" tIns="46985" rIns="93969" bIns="46985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7708" y="4509035"/>
            <a:ext cx="5661660" cy="3689212"/>
          </a:xfrm>
          <a:prstGeom prst="rect">
            <a:avLst/>
          </a:prstGeom>
        </p:spPr>
        <p:txBody>
          <a:bodyPr vert="horz" lIns="93969" tIns="46985" rIns="93969" bIns="46985" rtlCol="0"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899329"/>
            <a:ext cx="3066733" cy="470097"/>
          </a:xfrm>
          <a:prstGeom prst="rect">
            <a:avLst/>
          </a:prstGeom>
        </p:spPr>
        <p:txBody>
          <a:bodyPr vert="horz" lIns="93969" tIns="46985" rIns="93969" bIns="46985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08705" y="8899329"/>
            <a:ext cx="3066733" cy="470097"/>
          </a:xfrm>
          <a:prstGeom prst="rect">
            <a:avLst/>
          </a:prstGeom>
        </p:spPr>
        <p:txBody>
          <a:bodyPr vert="horz" lIns="93969" tIns="46985" rIns="93969" bIns="46985" rtlCol="0" anchor="b"/>
          <a:lstStyle>
            <a:lvl1pPr algn="r">
              <a:defRPr sz="1200"/>
            </a:lvl1pPr>
          </a:lstStyle>
          <a:p>
            <a:fld id="{1F1F2D47-FF76-4FB8-96DA-10C04CB97B9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92673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5650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CA" altLang="fr-FR" dirty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B7A36EF-D9E7-4BD7-84BC-7C5F81AADEF5}" type="slidenum">
              <a:rPr lang="fr-CA" altLang="fr-FR">
                <a:latin typeface="Calibri" panose="020F0502020204030204" pitchFamily="34" charset="0"/>
              </a:rPr>
              <a:pPr eaLnBrk="1" hangingPunct="1"/>
              <a:t>2</a:t>
            </a:fld>
            <a:endParaRPr lang="fr-CA" altLang="fr-FR">
              <a:latin typeface="Calibri" panose="020F0502020204030204" pitchFamily="34" charset="0"/>
            </a:endParaRPr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701040" y="4413860"/>
          <a:ext cx="5608320" cy="41853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0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1958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r-CA" altLang="fr-FR" dirty="0"/>
              <a:t>Planification et de contrôle </a:t>
            </a:r>
          </a:p>
        </p:txBody>
      </p:sp>
    </p:spTree>
    <p:extLst>
      <p:ext uri="{BB962C8B-B14F-4D97-AF65-F5344CB8AC3E}">
        <p14:creationId xmlns:p14="http://schemas.microsoft.com/office/powerpoint/2010/main" val="1040315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Copyright, Michel Vézina - HEC Montréal</a:t>
            </a:r>
          </a:p>
        </p:txBody>
      </p:sp>
      <p:sp>
        <p:nvSpPr>
          <p:cNvPr id="798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1AADA3-0D0E-4F33-832B-A89CBC7F9E97}" type="slidenum">
              <a:rPr kumimoji="0" lang="fr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321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210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 dirty="0"/>
          </a:p>
        </p:txBody>
      </p:sp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701040" y="4413860"/>
          <a:ext cx="5608320" cy="41853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0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7227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4002DDC-FBF0-4C8E-989F-F7A266FE62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69F8073-B7F2-4A1B-AECE-689D89C64C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98963"/>
            <a:ext cx="5140325" cy="4165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fr-FR" altLang="fr-FR" dirty="0"/>
          </a:p>
        </p:txBody>
      </p:sp>
    </p:spTree>
    <p:extLst>
      <p:ext uri="{BB962C8B-B14F-4D97-AF65-F5344CB8AC3E}">
        <p14:creationId xmlns:p14="http://schemas.microsoft.com/office/powerpoint/2010/main" val="6618479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4002DDC-FBF0-4C8E-989F-F7A266FE62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69F8073-B7F2-4A1B-AECE-689D89C64C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98963"/>
            <a:ext cx="5140325" cy="4165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011152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4002DDC-FBF0-4C8E-989F-F7A266FE62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69F8073-B7F2-4A1B-AECE-689D89C64C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98963"/>
            <a:ext cx="5140325" cy="4165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6805654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53766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870A11-ED4F-46C5-B7EE-5AD4C7A3CD48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896417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 altLang="fr-FR" dirty="0"/>
          </a:p>
        </p:txBody>
      </p:sp>
    </p:spTree>
    <p:extLst>
      <p:ext uri="{BB962C8B-B14F-4D97-AF65-F5344CB8AC3E}">
        <p14:creationId xmlns:p14="http://schemas.microsoft.com/office/powerpoint/2010/main" val="39892427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57999D6-6E3C-4F79-977D-0B0FFEAEEA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9B1AA5-94F6-40A2-B338-2A6C380F182B}" type="slidenum">
              <a:rPr kumimoji="0" lang="fr-CA" alt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02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CA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A5AE5C8A-6B2F-4B94-82DF-6033218C4E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F9663120-4570-406C-BAF7-B2350CFB6B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CA" alt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57999D6-6E3C-4F79-977D-0B0FFEAEEA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9B1AA5-94F6-40A2-B338-2A6C380F182B}" type="slidenum">
              <a:rPr kumimoji="0" lang="fr-CA" alt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02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r-CA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A5AE5C8A-6B2F-4B94-82DF-6033218C4E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F9663120-4570-406C-BAF7-B2350CFB6B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CA" altLang="fr-FR" dirty="0"/>
          </a:p>
        </p:txBody>
      </p:sp>
    </p:spTree>
    <p:extLst>
      <p:ext uri="{BB962C8B-B14F-4D97-AF65-F5344CB8AC3E}">
        <p14:creationId xmlns:p14="http://schemas.microsoft.com/office/powerpoint/2010/main" val="3981264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57999D6-6E3C-4F79-977D-0B0FFEAEEA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9B1AA5-94F6-40A2-B338-2A6C380F182B}" type="slidenum">
              <a:rPr kumimoji="0" lang="fr-CA" alt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02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CA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A5AE5C8A-6B2F-4B94-82DF-6033218C4E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F9663120-4570-406C-BAF7-B2350CFB6B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CA" altLang="fr-FR"/>
          </a:p>
        </p:txBody>
      </p:sp>
    </p:spTree>
    <p:extLst>
      <p:ext uri="{BB962C8B-B14F-4D97-AF65-F5344CB8AC3E}">
        <p14:creationId xmlns:p14="http://schemas.microsoft.com/office/powerpoint/2010/main" val="24590555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57999D6-6E3C-4F79-977D-0B0FFEAEEA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9B1AA5-94F6-40A2-B338-2A6C380F182B}" type="slidenum">
              <a:rPr kumimoji="0" lang="fr-CA" alt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02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fr-CA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A5AE5C8A-6B2F-4B94-82DF-6033218C4E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F9663120-4570-406C-BAF7-B2350CFB6B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CA" alt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57999D6-6E3C-4F79-977D-0B0FFEAEEA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9B1AA5-94F6-40A2-B338-2A6C380F182B}" type="slidenum">
              <a:rPr kumimoji="0" lang="fr-CA" alt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02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fr-CA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A5AE5C8A-6B2F-4B94-82DF-6033218C4E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F9663120-4570-406C-BAF7-B2350CFB6B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CA" altLang="fr-FR"/>
          </a:p>
        </p:txBody>
      </p:sp>
    </p:spTree>
    <p:extLst>
      <p:ext uri="{BB962C8B-B14F-4D97-AF65-F5344CB8AC3E}">
        <p14:creationId xmlns:p14="http://schemas.microsoft.com/office/powerpoint/2010/main" val="26920202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61006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F2D47-FF76-4FB8-96DA-10C04CB97B90}" type="slidenum">
              <a:rPr lang="fr-CA" smtClean="0"/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686423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 altLang="fr-FR" dirty="0"/>
          </a:p>
        </p:txBody>
      </p:sp>
    </p:spTree>
    <p:extLst>
      <p:ext uri="{BB962C8B-B14F-4D97-AF65-F5344CB8AC3E}">
        <p14:creationId xmlns:p14="http://schemas.microsoft.com/office/powerpoint/2010/main" val="31232723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42DECBA-A30B-4BD0-A00A-76DDCFBB9FD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6ED19142-81C0-4936-A773-458CD11A1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264886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>
            <a:extLst>
              <a:ext uri="{FF2B5EF4-FFF2-40B4-BE49-F238E27FC236}">
                <a16:creationId xmlns:a16="http://schemas.microsoft.com/office/drawing/2014/main" id="{88290F97-1ED2-4034-BC71-F34682AB31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Espace réservé des commentaires 2">
            <a:extLst>
              <a:ext uri="{FF2B5EF4-FFF2-40B4-BE49-F238E27FC236}">
                <a16:creationId xmlns:a16="http://schemas.microsoft.com/office/drawing/2014/main" id="{58FFCB39-6512-4E05-90F8-19B6E4779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 altLang="fr-FR"/>
          </a:p>
        </p:txBody>
      </p:sp>
      <p:sp>
        <p:nvSpPr>
          <p:cNvPr id="18436" name="Espace réservé du numéro de diapositive 3">
            <a:extLst>
              <a:ext uri="{FF2B5EF4-FFF2-40B4-BE49-F238E27FC236}">
                <a16:creationId xmlns:a16="http://schemas.microsoft.com/office/drawing/2014/main" id="{1238AF60-6C60-472F-9F5D-D8A2E9E36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1327F36-1EB5-4237-876E-2C46510F1B08}" type="slidenum">
              <a:rPr kumimoji="0" lang="fr-CA" altLang="fr-FR"/>
              <a:pPr>
                <a:spcBef>
                  <a:spcPct val="0"/>
                </a:spcBef>
              </a:pPr>
              <a:t>32</a:t>
            </a:fld>
            <a:endParaRPr kumimoji="0" lang="fr-CA" altLang="fr-F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97891F-8E97-436D-8A6F-925AB86BAA3B}" type="slidenum">
              <a:rPr kumimoji="0" lang="fr-CA" alt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fr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701040" y="4413860"/>
          <a:ext cx="5608320" cy="41853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0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0483">
                <a:tc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60139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4002DDC-FBF0-4C8E-989F-F7A266FE62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69F8073-B7F2-4A1B-AECE-689D89C64C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98963"/>
            <a:ext cx="5140325" cy="4165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90526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433140D-A897-9E4C-97FA-B6FCD05D16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4456513"/>
            <a:ext cx="10519833" cy="564257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ts val="4400"/>
              </a:lnSpc>
              <a:defRPr sz="4400" cap="all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1" y="5071609"/>
            <a:ext cx="10519833" cy="610735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3333"/>
              </a:lnSpc>
              <a:buNone/>
              <a:defRPr sz="2933" b="1" cap="all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9B207E-D0F7-EE4C-A0D7-C138DC5A8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000" y="-663847"/>
            <a:ext cx="6648001" cy="454381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7303A3-B2CF-BF44-82D6-123A40E6A9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8" y="6173855"/>
            <a:ext cx="10519835" cy="261964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2000"/>
              </a:lnSpc>
              <a:spcAft>
                <a:spcPts val="0"/>
              </a:spcAft>
              <a:buFontTx/>
              <a:buNone/>
              <a:defRPr sz="2000" b="1" cap="all" baseline="0">
                <a:solidFill>
                  <a:schemeClr val="tx2"/>
                </a:solidFill>
              </a:defRPr>
            </a:lvl1pPr>
            <a:lvl2pPr marL="357707" indent="0">
              <a:buFontTx/>
              <a:buNone/>
              <a:defRPr/>
            </a:lvl2pPr>
            <a:lvl3pPr marL="715415" indent="0">
              <a:buFontTx/>
              <a:buNone/>
              <a:defRPr/>
            </a:lvl3pPr>
            <a:lvl4pPr marL="954592" indent="0">
              <a:buFontTx/>
              <a:buNone/>
              <a:defRPr/>
            </a:lvl4pPr>
            <a:lvl5pPr marL="1193770" indent="0">
              <a:buFontTx/>
              <a:buNone/>
              <a:defRPr/>
            </a:lvl5pPr>
          </a:lstStyle>
          <a:p>
            <a:pPr lvl="0"/>
            <a:r>
              <a:rPr lang="en-US" dirty="0"/>
              <a:t>INSÉRER DATE ICI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F193782-F7E9-4047-B2C0-EF491FB96043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Copyright© 2020, HEC Montréal.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4256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401"/>
            <a:ext cx="10515600" cy="564257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04000"/>
            <a:ext cx="10515600" cy="391316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66C56-658F-6E4F-9A4C-3116BF0B3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5E7EC10-615D-474D-B5C2-D46DC54D3E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78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S-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401"/>
            <a:ext cx="10515600" cy="564257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1E2A1-DD6F-3343-9A70-CA94AF8A8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87426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/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8977904-AFCB-C14E-8C77-D19C03460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1864B4-FF4D-F74D-AE3F-64E77F448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FC8DF6-AB48-CF49-8356-B76E4D1F0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4000"/>
            <a:ext cx="10515600" cy="391316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736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S-T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54CF4E9-7517-F244-BFC4-B931479FB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3555EF1-C69E-5647-8CB1-45C6C9E5D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562"/>
            <a:ext cx="10515600" cy="564257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B9FEE11-A085-C446-AB85-92AA7F0674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6D8488B-BA5C-0B49-95D3-D24211B71F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587426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/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133E1B-9815-7C4E-B057-197DB34136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8CFE0F-93DF-D141-BB17-37693D4AF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5"/>
            <a:ext cx="1845289" cy="126123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0AF3B66-237E-5D48-9D18-155657C45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4000"/>
            <a:ext cx="10515600" cy="391316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068DF36-F76C-4C18-A034-1A903F79096C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150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S-T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E0F111-4F35-4F47-9BE0-A2D6F23AFD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66412E-A17A-CE4A-BC01-376F482A5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562"/>
            <a:ext cx="10515600" cy="564257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B9FEE11-A085-C446-AB85-92AA7F0674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AF20EC2-0F57-F546-82B6-91B7B80429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587426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/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5CE6688-2DA5-7348-B0A8-267418703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930EC1-1943-3040-8605-A0FFBC74E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5"/>
            <a:ext cx="1845289" cy="1261231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46C28C2-5F95-E24E-9DB0-20B15BEDC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4000"/>
            <a:ext cx="10515600" cy="391316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FDBF6F5-A7EF-489A-B878-01B5D7E0CB24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3806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S-T BLEU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1BE7250-1743-6049-B191-A89CE4BCE1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BA7120-A7F2-5145-98AE-92CA98DAA07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009AC2A-707B-1D4B-92B9-A334E9B67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566"/>
            <a:ext cx="10515600" cy="564257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A1A4A-A776-CC4D-81BF-BA39E8592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1A282D4-E151-BE47-9965-8DB2B0B814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87427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9395A755-A1C6-5444-8DDD-01A8F25C47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579F7C-4942-2B4A-A5A9-F86D83AF2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4"/>
            <a:ext cx="1845289" cy="126122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1F49E2A-724E-4264-8CF3-C01F99C7F2EB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9639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BLEU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B3ABAA1-A0DB-BB45-9DA8-754B573383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F53DF94-7A73-7041-8D6F-AFA3B277EAB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A693E38-AE8B-DB4C-B7ED-1BB819505D7F}"/>
              </a:ext>
            </a:extLst>
          </p:cNvPr>
          <p:cNvSpPr/>
          <p:nvPr/>
        </p:nvSpPr>
        <p:spPr>
          <a:xfrm>
            <a:off x="838201" y="1439335"/>
            <a:ext cx="10519833" cy="46676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BB38210-680E-CB4D-B399-931BB3F06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1E2A1-DD6F-3343-9A70-CA94AF8A8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B5871F0-3B49-B540-A3C5-A634C1E911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3C08F8-ABA6-B04C-AAA6-1B9D8C6D4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4"/>
            <a:ext cx="1845289" cy="12612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676E49E-284F-8646-B4AD-709D54663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160" y="1892300"/>
            <a:ext cx="9841680" cy="407588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F6FBD5F-DBAE-4CCB-95AF-1939210EC83C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0795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S-T NO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587CC3-B385-2945-A9CA-61470F0480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3EC8EF-7CA8-8741-A183-787F069286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566"/>
            <a:ext cx="10515600" cy="564257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1E2A1-DD6F-3343-9A70-CA94AF8A8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87427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B5871F0-3B49-B540-A3C5-A634C1E911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D376BBE-4142-8A44-B7CF-653D304BB496}"/>
              </a:ext>
            </a:extLst>
          </p:cNvPr>
          <p:cNvSpPr txBox="1">
            <a:spLocks/>
          </p:cNvSpPr>
          <p:nvPr/>
        </p:nvSpPr>
        <p:spPr>
          <a:xfrm>
            <a:off x="838200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defPPr>
              <a:defRPr lang="en-US"/>
            </a:defPPr>
            <a:lvl1pPr marL="0" algn="ctr" defTabSz="685800" rtl="0" eaLnBrk="1" latinLnBrk="0" hangingPunct="1">
              <a:defRPr sz="6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9CCF2F-7E28-FB4D-B276-4AB2C7C2895F}" type="slidenum">
              <a:rPr lang="en-US" sz="800" smtClean="0"/>
              <a:pPr/>
              <a:t>‹N°›</a:t>
            </a:fld>
            <a:endParaRPr lang="en-CA" sz="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BC598D-28DE-FD47-BB87-8371BC229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4"/>
            <a:ext cx="1845289" cy="1261229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23D5F411-5439-4304-965D-BDD6781D6991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9770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NO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B326BD-7D0B-F343-AB49-EC6A16EBB5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F51F25-6689-5645-B9A7-6B170AF799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E7836A4-2567-554F-9370-6D8EC6ACDA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F9697C0D-E4ED-AC49-B8E4-4815F735EE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5B2410F-9028-EC49-8C02-72C40E933634}"/>
              </a:ext>
            </a:extLst>
          </p:cNvPr>
          <p:cNvSpPr txBox="1">
            <a:spLocks/>
          </p:cNvSpPr>
          <p:nvPr/>
        </p:nvSpPr>
        <p:spPr>
          <a:xfrm>
            <a:off x="838200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defPPr>
              <a:defRPr lang="en-US"/>
            </a:defPPr>
            <a:lvl1pPr marL="0" algn="ctr" defTabSz="685800" rtl="0" eaLnBrk="1" latinLnBrk="0" hangingPunct="1">
              <a:defRPr sz="6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9CCF2F-7E28-FB4D-B276-4AB2C7C2895F}" type="slidenum">
              <a:rPr lang="en-US" sz="800" smtClean="0"/>
              <a:pPr/>
              <a:t>‹N°›</a:t>
            </a:fld>
            <a:endParaRPr lang="en-CA" sz="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F969CA-3995-AF49-95E6-B71362178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4"/>
            <a:ext cx="1845289" cy="126122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A308B96-DF7F-0B45-ACE9-2B2C7ECE93B9}"/>
              </a:ext>
            </a:extLst>
          </p:cNvPr>
          <p:cNvSpPr/>
          <p:nvPr/>
        </p:nvSpPr>
        <p:spPr>
          <a:xfrm>
            <a:off x="838201" y="1439335"/>
            <a:ext cx="10519833" cy="46676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6406D7-AC5B-E04F-8654-B634E5F7F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288" y="1892300"/>
            <a:ext cx="10203425" cy="40758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581CB16-AE9C-4487-9D8A-2E90221DEB1A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5390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PARATEUR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964108"/>
            <a:ext cx="10515600" cy="5983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FC03651-8682-3F42-A2A7-4262A3A84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13409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T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2D8F26-9E03-664C-8AAB-AF0958D641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241E6-23D7-5648-9D8F-D08E15891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FC03651-8682-3F42-A2A7-4262A3A84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9553" y="3146462"/>
            <a:ext cx="8608481" cy="547159"/>
          </a:xfrm>
          <a:prstGeom prst="rect">
            <a:avLst/>
          </a:prstGeom>
        </p:spPr>
        <p:txBody>
          <a:bodyPr anchor="b"/>
          <a:lstStyle>
            <a:lvl1pPr>
              <a:lnSpc>
                <a:spcPts val="4267"/>
              </a:lnSpc>
              <a:defRPr sz="4400" baseline="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9553" y="3720608"/>
            <a:ext cx="8608481" cy="1500187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400" baseline="0">
                <a:solidFill>
                  <a:schemeClr val="accent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E3357C-4D3F-8244-B7EA-1EBF31E1B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5"/>
            <a:ext cx="1845289" cy="1261231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499FB-983B-9C4D-8D46-44FE6804CF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072" y="2709000"/>
            <a:ext cx="1440000" cy="1440000"/>
          </a:xfrm>
          <a:ln w="127000">
            <a:solidFill>
              <a:schemeClr val="bg2"/>
            </a:solidFill>
            <a:miter lim="800000"/>
          </a:ln>
        </p:spPr>
        <p:txBody>
          <a:bodyPr anchor="ctr" anchorCtr="0"/>
          <a:lstStyle>
            <a:lvl1pPr marL="0" indent="0" algn="ctr">
              <a:lnSpc>
                <a:spcPts val="8000"/>
              </a:lnSpc>
              <a:buFontTx/>
              <a:buNone/>
              <a:defRPr sz="8000" b="1" i="0" cap="all" baseline="0">
                <a:solidFill>
                  <a:schemeClr val="accent1"/>
                </a:solidFill>
              </a:defRPr>
            </a:lvl1pPr>
            <a:lvl2pPr marL="357707" indent="0">
              <a:buFontTx/>
              <a:buNone/>
              <a:defRPr/>
            </a:lvl2pPr>
            <a:lvl3pPr marL="715415" indent="0">
              <a:buFontTx/>
              <a:buNone/>
              <a:defRPr/>
            </a:lvl3pPr>
            <a:lvl4pPr marL="954592" indent="0">
              <a:buFontTx/>
              <a:buNone/>
              <a:defRPr/>
            </a:lvl4pPr>
            <a:lvl5pPr marL="1193770" indent="0">
              <a:buFontTx/>
              <a:buNone/>
              <a:defRPr/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BF1D149-3798-4548-99DC-DED04461776F}"/>
              </a:ext>
            </a:extLst>
          </p:cNvPr>
          <p:cNvSpPr txBox="1"/>
          <p:nvPr/>
        </p:nvSpPr>
        <p:spPr>
          <a:xfrm>
            <a:off x="2969957" y="6524901"/>
            <a:ext cx="6252087" cy="31698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Copyright© 2020 HEC Montréal.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5754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8977904-AFCB-C14E-8C77-D19C03460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1864B4-FF4D-F74D-AE3F-64E77F448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FC8DF6-AB48-CF49-8356-B76E4D1F0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2301"/>
            <a:ext cx="10515600" cy="4224867"/>
          </a:xfrm>
        </p:spPr>
        <p:txBody>
          <a:bodyPr>
            <a:normAutofit/>
          </a:bodyPr>
          <a:lstStyle>
            <a:lvl1pPr marL="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1pPr>
            <a:lvl2pPr marL="357707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2pPr>
            <a:lvl3pPr marL="715415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3pPr>
            <a:lvl4pPr marL="954592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4pPr>
            <a:lvl5pPr marL="119377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A5B4CAF-7D56-CC46-8426-C252642A84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2606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MAT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E321BE2-EF31-D64A-82BD-0664B1A62019}"/>
              </a:ext>
            </a:extLst>
          </p:cNvPr>
          <p:cNvSpPr/>
          <p:nvPr/>
        </p:nvSpPr>
        <p:spPr>
          <a:xfrm>
            <a:off x="0" y="1892302"/>
            <a:ext cx="12192000" cy="4224865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76312A-B842-134B-A740-6EDAC5FF26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593" b="10803"/>
          <a:stretch/>
        </p:blipFill>
        <p:spPr>
          <a:xfrm>
            <a:off x="0" y="1892301"/>
            <a:ext cx="12192000" cy="422486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FC8DF6-AB48-CF49-8356-B76E4D1F0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4885" y="1892301"/>
            <a:ext cx="7418915" cy="4224867"/>
          </a:xfrm>
        </p:spPr>
        <p:txBody>
          <a:bodyPr lIns="90000" tIns="90000" rIns="90000" bIns="90000" anchor="ctr" anchorCtr="0">
            <a:normAutofit/>
          </a:bodyPr>
          <a:lstStyle>
            <a:lvl1pPr marL="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>
                <a:solidFill>
                  <a:schemeClr val="bg2"/>
                </a:solidFill>
              </a:defRPr>
            </a:lvl1pPr>
            <a:lvl2pPr marL="357707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2pPr>
            <a:lvl3pPr marL="715415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3pPr>
            <a:lvl4pPr marL="954592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4pPr>
            <a:lvl5pPr marL="119377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99C79-3B5F-3740-AD53-C50E5B9B20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1" y="4650318"/>
            <a:ext cx="3096684" cy="1466849"/>
          </a:xfrm>
        </p:spPr>
        <p:txBody>
          <a:bodyPr>
            <a:noAutofit/>
          </a:bodyPr>
          <a:lstStyle>
            <a:lvl1pPr marL="0" indent="0">
              <a:lnSpc>
                <a:spcPts val="2133"/>
              </a:lnSpc>
              <a:spcAft>
                <a:spcPts val="0"/>
              </a:spcAft>
              <a:buFontTx/>
              <a:buNone/>
              <a:defRPr sz="1867" b="1" cap="all" baseline="0">
                <a:solidFill>
                  <a:schemeClr val="accent1"/>
                </a:solidFill>
              </a:defRPr>
            </a:lvl1pPr>
            <a:lvl2pPr marL="0" indent="0">
              <a:lnSpc>
                <a:spcPts val="1600"/>
              </a:lnSpc>
              <a:spcAft>
                <a:spcPts val="0"/>
              </a:spcAft>
              <a:buFontTx/>
              <a:buNone/>
              <a:tabLst/>
              <a:defRPr sz="1333" baseline="0">
                <a:solidFill>
                  <a:schemeClr val="accent1"/>
                </a:solidFill>
              </a:defRPr>
            </a:lvl2pPr>
            <a:lvl3pPr marL="715415" indent="0">
              <a:buFontTx/>
              <a:buNone/>
              <a:defRPr/>
            </a:lvl3pPr>
            <a:lvl4pPr marL="954592" indent="0">
              <a:buFontTx/>
              <a:buNone/>
              <a:defRPr/>
            </a:lvl4pPr>
            <a:lvl5pPr marL="1193770" indent="0">
              <a:buFontTx/>
              <a:buNone/>
              <a:defRPr/>
            </a:lvl5pPr>
          </a:lstStyle>
          <a:p>
            <a:pPr lvl="0"/>
            <a:r>
              <a:rPr lang="en-US" dirty="0"/>
              <a:t>Nom du </a:t>
            </a:r>
            <a:r>
              <a:rPr lang="en-US" dirty="0" err="1"/>
              <a:t>formateur</a:t>
            </a:r>
            <a:endParaRPr lang="en-US" dirty="0"/>
          </a:p>
          <a:p>
            <a:pPr lvl="1"/>
            <a:r>
              <a:rPr lang="en-US" dirty="0" err="1"/>
              <a:t>Titre</a:t>
            </a:r>
            <a:r>
              <a:rPr lang="en-US" dirty="0"/>
              <a:t> du </a:t>
            </a:r>
            <a:r>
              <a:rPr lang="en-US" dirty="0" err="1"/>
              <a:t>formateur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01C1062-5879-BD4A-8AFB-140706DA57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892301"/>
            <a:ext cx="2428940" cy="2428940"/>
          </a:xfrm>
          <a:solidFill>
            <a:schemeClr val="accent4">
              <a:lumMod val="20000"/>
              <a:lumOff val="80000"/>
            </a:schemeClr>
          </a:solidFill>
          <a:ln w="127000">
            <a:noFill/>
            <a:miter lim="800000"/>
          </a:ln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333"/>
            </a:lvl1pPr>
          </a:lstStyle>
          <a:p>
            <a:r>
              <a:rPr lang="en-US" dirty="0"/>
              <a:t>INSÉRER PHOTO ICI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1864B4-FF4D-F74D-AE3F-64E77F448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8977904-AFCB-C14E-8C77-D19C03460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/>
              <a:t>FORMATEUR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A5B4CAF-7D56-CC46-8426-C252642A84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948041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E0E96A-F036-6146-BE04-0600232E3FC0}"/>
              </a:ext>
            </a:extLst>
          </p:cNvPr>
          <p:cNvSpPr/>
          <p:nvPr/>
        </p:nvSpPr>
        <p:spPr>
          <a:xfrm>
            <a:off x="0" y="1892302"/>
            <a:ext cx="12192000" cy="4224865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44DF82-E45D-7044-933A-7AF5218BA5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593" b="10803"/>
          <a:stretch/>
        </p:blipFill>
        <p:spPr>
          <a:xfrm>
            <a:off x="0" y="1892301"/>
            <a:ext cx="12192000" cy="422486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FC8DF6-AB48-CF49-8356-B76E4D1F0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2302"/>
            <a:ext cx="10515600" cy="4224865"/>
          </a:xfrm>
        </p:spPr>
        <p:txBody>
          <a:bodyPr lIns="0" tIns="90000" rIns="0" bIns="90000" anchor="ctr" anchorCtr="0">
            <a:normAutofit/>
          </a:bodyPr>
          <a:lstStyle>
            <a:lvl1pPr marL="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>
                <a:solidFill>
                  <a:schemeClr val="bg2"/>
                </a:solidFill>
              </a:defRPr>
            </a:lvl1pPr>
            <a:lvl2pPr marL="357707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2pPr>
            <a:lvl3pPr marL="715415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3pPr>
            <a:lvl4pPr marL="954592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4pPr>
            <a:lvl5pPr marL="119377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1864B4-FF4D-F74D-AE3F-64E77F448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8977904-AFCB-C14E-8C77-D19C03460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A5B4CAF-7D56-CC46-8426-C252642A84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232652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D5B8E79-D955-9148-9F3F-039F8FA59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18652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9BA5AE-588B-FB45-AD5F-33F4C4D769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7A44F5-E098-DD43-9CBB-82806D082A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ZoneTexte 4">
            <a:extLst>
              <a:ext uri="{FF2B5EF4-FFF2-40B4-BE49-F238E27FC236}">
                <a16:creationId xmlns:a16="http://schemas.microsoft.com/office/drawing/2014/main" id="{ADE03F80-98FF-8E41-B9B1-1ED8A52B332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36084" y="2245865"/>
            <a:ext cx="10519833" cy="1897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1733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hec.ca/</a:t>
            </a:r>
            <a:r>
              <a:rPr lang="fr-CA" sz="11733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</a:t>
            </a:r>
            <a:endParaRPr lang="fr-CA" sz="11733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FD7FA95-A771-4899-985E-C75656BB3804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Copyright© 2020, HEC Montréal.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6335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4DC03-47C0-47BA-B37F-CB916998237C}" type="datetime1">
              <a:rPr lang="fr-CA" smtClean="0"/>
              <a:t>2025-04-03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Copyright; Michel Vézina-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555111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722594A-B8FA-4C76-85D2-CC194FE17AD3}"/>
              </a:ext>
            </a:extLst>
          </p:cNvPr>
          <p:cNvSpPr txBox="1"/>
          <p:nvPr userDrawn="1"/>
        </p:nvSpPr>
        <p:spPr>
          <a:xfrm>
            <a:off x="10268712" y="6230050"/>
            <a:ext cx="1321724" cy="3000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CA" dirty="0"/>
              <a:t>Michel Vézina</a:t>
            </a:r>
          </a:p>
        </p:txBody>
      </p:sp>
    </p:spTree>
    <p:extLst>
      <p:ext uri="{BB962C8B-B14F-4D97-AF65-F5344CB8AC3E}">
        <p14:creationId xmlns:p14="http://schemas.microsoft.com/office/powerpoint/2010/main" val="42942561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A2BD0-635B-4CC3-AF52-0EB79BF83385}" type="slidenum">
              <a:rPr lang="fr-CA" altLang="fr-FR" smtClean="0"/>
              <a:pPr/>
              <a:t>‹N°›</a:t>
            </a:fld>
            <a:endParaRPr lang="fr-CA" alt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FBA8C36-169D-4BA0-A1F4-B500D0A3AC06}"/>
              </a:ext>
            </a:extLst>
          </p:cNvPr>
          <p:cNvSpPr txBox="1"/>
          <p:nvPr userDrawn="1"/>
        </p:nvSpPr>
        <p:spPr>
          <a:xfrm>
            <a:off x="10271463" y="6263292"/>
            <a:ext cx="1216241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CA" sz="1100" dirty="0"/>
              <a:t>Michel Vézina</a:t>
            </a:r>
          </a:p>
        </p:txBody>
      </p:sp>
    </p:spTree>
    <p:extLst>
      <p:ext uri="{BB962C8B-B14F-4D97-AF65-F5344CB8AC3E}">
        <p14:creationId xmlns:p14="http://schemas.microsoft.com/office/powerpoint/2010/main" val="3994053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433140D-A897-9E4C-97FA-B6FCD05D16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4456513"/>
            <a:ext cx="10519833" cy="564257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ts val="4400"/>
              </a:lnSpc>
              <a:defRPr sz="4400" cap="all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1" y="5071609"/>
            <a:ext cx="10519833" cy="610735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3333"/>
              </a:lnSpc>
              <a:buNone/>
              <a:defRPr sz="2933" b="1" cap="all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9B207E-D0F7-EE4C-A0D7-C138DC5A8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000" y="-663847"/>
            <a:ext cx="6648001" cy="454381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7303A3-B2CF-BF44-82D6-123A40E6A9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8" y="6173855"/>
            <a:ext cx="10519835" cy="261964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2000"/>
              </a:lnSpc>
              <a:spcAft>
                <a:spcPts val="0"/>
              </a:spcAft>
              <a:buFontTx/>
              <a:buNone/>
              <a:defRPr sz="2000" b="1" cap="all" baseline="0">
                <a:solidFill>
                  <a:schemeClr val="tx2"/>
                </a:solidFill>
              </a:defRPr>
            </a:lvl1pPr>
            <a:lvl2pPr marL="357707" indent="0">
              <a:buFontTx/>
              <a:buNone/>
              <a:defRPr/>
            </a:lvl2pPr>
            <a:lvl3pPr marL="715415" indent="0">
              <a:buFontTx/>
              <a:buNone/>
              <a:defRPr/>
            </a:lvl3pPr>
            <a:lvl4pPr marL="954592" indent="0">
              <a:buFontTx/>
              <a:buNone/>
              <a:defRPr/>
            </a:lvl4pPr>
            <a:lvl5pPr marL="1193770" indent="0">
              <a:buFontTx/>
              <a:buNone/>
              <a:defRPr/>
            </a:lvl5pPr>
          </a:lstStyle>
          <a:p>
            <a:pPr lvl="0"/>
            <a:r>
              <a:rPr lang="en-US" dirty="0"/>
              <a:t>INSÉRER DATE ICI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F193782-F7E9-4047-B2C0-EF491FB96043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Copyright© 2020, HEC Montréal.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3798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401"/>
            <a:ext cx="10515600" cy="564257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04000"/>
            <a:ext cx="10515600" cy="391316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66C56-658F-6E4F-9A4C-3116BF0B3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5E7EC10-615D-474D-B5C2-D46DC54D3E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1551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S-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401"/>
            <a:ext cx="10515600" cy="564257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1E2A1-DD6F-3343-9A70-CA94AF8A8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87426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/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8977904-AFCB-C14E-8C77-D19C03460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1864B4-FF4D-F74D-AE3F-64E77F448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FC8DF6-AB48-CF49-8356-B76E4D1F0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4000"/>
            <a:ext cx="10515600" cy="391316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8294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S-T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54CF4E9-7517-F244-BFC4-B931479FB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3555EF1-C69E-5647-8CB1-45C6C9E5D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562"/>
            <a:ext cx="10515600" cy="564257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B9FEE11-A085-C446-AB85-92AA7F0674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6D8488B-BA5C-0B49-95D3-D24211B71F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587426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/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133E1B-9815-7C4E-B057-197DB34136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8CFE0F-93DF-D141-BB17-37693D4AF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5"/>
            <a:ext cx="1845289" cy="126123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0AF3B66-237E-5D48-9D18-155657C45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4000"/>
            <a:ext cx="10515600" cy="391316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068DF36-F76C-4C18-A034-1A903F79096C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24678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S-T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E0F111-4F35-4F47-9BE0-A2D6F23AFD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66412E-A17A-CE4A-BC01-376F482A5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562"/>
            <a:ext cx="10515600" cy="564257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B9FEE11-A085-C446-AB85-92AA7F0674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AF20EC2-0F57-F546-82B6-91B7B80429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587426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/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5CE6688-2DA5-7348-B0A8-267418703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930EC1-1943-3040-8605-A0FFBC74E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5"/>
            <a:ext cx="1845289" cy="1261231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46C28C2-5F95-E24E-9DB0-20B15BEDC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4000"/>
            <a:ext cx="10515600" cy="391316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FDBF6F5-A7EF-489A-B878-01B5D7E0CB24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54669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S-T BLEU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1BE7250-1743-6049-B191-A89CE4BCE1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BA7120-A7F2-5145-98AE-92CA98DAA07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009AC2A-707B-1D4B-92B9-A334E9B67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566"/>
            <a:ext cx="10515600" cy="564257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A1A4A-A776-CC4D-81BF-BA39E8592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1A282D4-E151-BE47-9965-8DB2B0B814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87427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9395A755-A1C6-5444-8DDD-01A8F25C47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579F7C-4942-2B4A-A5A9-F86D83AF2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4"/>
            <a:ext cx="1845289" cy="126122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1F49E2A-724E-4264-8CF3-C01F99C7F2EB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22935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BLEU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B3ABAA1-A0DB-BB45-9DA8-754B573383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F53DF94-7A73-7041-8D6F-AFA3B277EAB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A693E38-AE8B-DB4C-B7ED-1BB819505D7F}"/>
              </a:ext>
            </a:extLst>
          </p:cNvPr>
          <p:cNvSpPr/>
          <p:nvPr/>
        </p:nvSpPr>
        <p:spPr>
          <a:xfrm>
            <a:off x="838201" y="1439335"/>
            <a:ext cx="10519833" cy="46676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BB38210-680E-CB4D-B399-931BB3F06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1E2A1-DD6F-3343-9A70-CA94AF8A8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B5871F0-3B49-B540-A3C5-A634C1E911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3C08F8-ABA6-B04C-AAA6-1B9D8C6D4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4"/>
            <a:ext cx="1845289" cy="12612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676E49E-284F-8646-B4AD-709D54663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160" y="1892300"/>
            <a:ext cx="9841680" cy="407588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F6FBD5F-DBAE-4CCB-95AF-1939210EC83C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01998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S-T NO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587CC3-B385-2945-A9CA-61470F0480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3EC8EF-7CA8-8741-A183-787F069286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566"/>
            <a:ext cx="10515600" cy="564257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1E2A1-DD6F-3343-9A70-CA94AF8A8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87427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B5871F0-3B49-B540-A3C5-A634C1E911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D376BBE-4142-8A44-B7CF-653D304BB496}"/>
              </a:ext>
            </a:extLst>
          </p:cNvPr>
          <p:cNvSpPr txBox="1">
            <a:spLocks/>
          </p:cNvSpPr>
          <p:nvPr/>
        </p:nvSpPr>
        <p:spPr>
          <a:xfrm>
            <a:off x="838200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defPPr>
              <a:defRPr lang="en-US"/>
            </a:defPPr>
            <a:lvl1pPr marL="0" algn="ctr" defTabSz="685800" rtl="0" eaLnBrk="1" latinLnBrk="0" hangingPunct="1">
              <a:defRPr sz="6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9CCF2F-7E28-FB4D-B276-4AB2C7C2895F}" type="slidenum">
              <a:rPr lang="en-US" sz="800" smtClean="0"/>
              <a:pPr/>
              <a:t>‹N°›</a:t>
            </a:fld>
            <a:endParaRPr lang="en-CA" sz="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BC598D-28DE-FD47-BB87-8371BC229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4"/>
            <a:ext cx="1845289" cy="1261229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23D5F411-5439-4304-965D-BDD6781D6991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10916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NO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B326BD-7D0B-F343-AB49-EC6A16EBB5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F51F25-6689-5645-B9A7-6B170AF799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E7836A4-2567-554F-9370-6D8EC6ACDA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F9697C0D-E4ED-AC49-B8E4-4815F735EE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5B2410F-9028-EC49-8C02-72C40E933634}"/>
              </a:ext>
            </a:extLst>
          </p:cNvPr>
          <p:cNvSpPr txBox="1">
            <a:spLocks/>
          </p:cNvSpPr>
          <p:nvPr/>
        </p:nvSpPr>
        <p:spPr>
          <a:xfrm>
            <a:off x="838200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defPPr>
              <a:defRPr lang="en-US"/>
            </a:defPPr>
            <a:lvl1pPr marL="0" algn="ctr" defTabSz="685800" rtl="0" eaLnBrk="1" latinLnBrk="0" hangingPunct="1">
              <a:defRPr sz="6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9CCF2F-7E28-FB4D-B276-4AB2C7C2895F}" type="slidenum">
              <a:rPr lang="en-US" sz="800" smtClean="0"/>
              <a:pPr/>
              <a:t>‹N°›</a:t>
            </a:fld>
            <a:endParaRPr lang="en-CA" sz="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F969CA-3995-AF49-95E6-B71362178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4"/>
            <a:ext cx="1845289" cy="126122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A308B96-DF7F-0B45-ACE9-2B2C7ECE93B9}"/>
              </a:ext>
            </a:extLst>
          </p:cNvPr>
          <p:cNvSpPr/>
          <p:nvPr/>
        </p:nvSpPr>
        <p:spPr>
          <a:xfrm>
            <a:off x="838201" y="1439335"/>
            <a:ext cx="10519833" cy="46676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6406D7-AC5B-E04F-8654-B634E5F7F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288" y="1892300"/>
            <a:ext cx="10203425" cy="40758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581CB16-AE9C-4487-9D8A-2E90221DEB1A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26791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PARATEUR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964108"/>
            <a:ext cx="10515600" cy="5983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FC03651-8682-3F42-A2A7-4262A3A84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462033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T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2D8F26-9E03-664C-8AAB-AF0958D641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241E6-23D7-5648-9D8F-D08E15891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FC03651-8682-3F42-A2A7-4262A3A84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9553" y="3146462"/>
            <a:ext cx="8608481" cy="547159"/>
          </a:xfrm>
          <a:prstGeom prst="rect">
            <a:avLst/>
          </a:prstGeom>
        </p:spPr>
        <p:txBody>
          <a:bodyPr anchor="b"/>
          <a:lstStyle>
            <a:lvl1pPr>
              <a:lnSpc>
                <a:spcPts val="4267"/>
              </a:lnSpc>
              <a:defRPr sz="4400" baseline="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9553" y="3720608"/>
            <a:ext cx="8608481" cy="1500187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400" baseline="0">
                <a:solidFill>
                  <a:schemeClr val="accent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E3357C-4D3F-8244-B7EA-1EBF31E1B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5"/>
            <a:ext cx="1845289" cy="1261231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499FB-983B-9C4D-8D46-44FE6804CF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072" y="2709000"/>
            <a:ext cx="1440000" cy="1440000"/>
          </a:xfrm>
          <a:ln w="127000">
            <a:solidFill>
              <a:schemeClr val="bg2"/>
            </a:solidFill>
            <a:miter lim="800000"/>
          </a:ln>
        </p:spPr>
        <p:txBody>
          <a:bodyPr anchor="ctr" anchorCtr="0"/>
          <a:lstStyle>
            <a:lvl1pPr marL="0" indent="0" algn="ctr">
              <a:lnSpc>
                <a:spcPts val="8000"/>
              </a:lnSpc>
              <a:buFontTx/>
              <a:buNone/>
              <a:defRPr sz="8000" b="1" i="0" cap="all" baseline="0">
                <a:solidFill>
                  <a:schemeClr val="accent1"/>
                </a:solidFill>
              </a:defRPr>
            </a:lvl1pPr>
            <a:lvl2pPr marL="357707" indent="0">
              <a:buFontTx/>
              <a:buNone/>
              <a:defRPr/>
            </a:lvl2pPr>
            <a:lvl3pPr marL="715415" indent="0">
              <a:buFontTx/>
              <a:buNone/>
              <a:defRPr/>
            </a:lvl3pPr>
            <a:lvl4pPr marL="954592" indent="0">
              <a:buFontTx/>
              <a:buNone/>
              <a:defRPr/>
            </a:lvl4pPr>
            <a:lvl5pPr marL="1193770" indent="0">
              <a:buFontTx/>
              <a:buNone/>
              <a:defRPr/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BF1D149-3798-4548-99DC-DED04461776F}"/>
              </a:ext>
            </a:extLst>
          </p:cNvPr>
          <p:cNvSpPr txBox="1"/>
          <p:nvPr/>
        </p:nvSpPr>
        <p:spPr>
          <a:xfrm>
            <a:off x="2969957" y="6524901"/>
            <a:ext cx="6252087" cy="31698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Copyright© 2020 HEC Montréal.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54583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8977904-AFCB-C14E-8C77-D19C03460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1864B4-FF4D-F74D-AE3F-64E77F448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FC8DF6-AB48-CF49-8356-B76E4D1F0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2301"/>
            <a:ext cx="10515600" cy="4224867"/>
          </a:xfrm>
        </p:spPr>
        <p:txBody>
          <a:bodyPr>
            <a:normAutofit/>
          </a:bodyPr>
          <a:lstStyle>
            <a:lvl1pPr marL="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1pPr>
            <a:lvl2pPr marL="357707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2pPr>
            <a:lvl3pPr marL="715415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3pPr>
            <a:lvl4pPr marL="954592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4pPr>
            <a:lvl5pPr marL="119377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A5B4CAF-7D56-CC46-8426-C252642A84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2218323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MAT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E321BE2-EF31-D64A-82BD-0664B1A62019}"/>
              </a:ext>
            </a:extLst>
          </p:cNvPr>
          <p:cNvSpPr/>
          <p:nvPr/>
        </p:nvSpPr>
        <p:spPr>
          <a:xfrm>
            <a:off x="0" y="1892302"/>
            <a:ext cx="12192000" cy="4224865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76312A-B842-134B-A740-6EDAC5FF26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593" b="10803"/>
          <a:stretch/>
        </p:blipFill>
        <p:spPr>
          <a:xfrm>
            <a:off x="0" y="1892301"/>
            <a:ext cx="12192000" cy="422486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FC8DF6-AB48-CF49-8356-B76E4D1F0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4885" y="1892301"/>
            <a:ext cx="7418915" cy="4224867"/>
          </a:xfrm>
        </p:spPr>
        <p:txBody>
          <a:bodyPr lIns="90000" tIns="90000" rIns="90000" bIns="90000" anchor="ctr" anchorCtr="0">
            <a:normAutofit/>
          </a:bodyPr>
          <a:lstStyle>
            <a:lvl1pPr marL="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>
                <a:solidFill>
                  <a:schemeClr val="bg2"/>
                </a:solidFill>
              </a:defRPr>
            </a:lvl1pPr>
            <a:lvl2pPr marL="357707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2pPr>
            <a:lvl3pPr marL="715415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3pPr>
            <a:lvl4pPr marL="954592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4pPr>
            <a:lvl5pPr marL="119377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99C79-3B5F-3740-AD53-C50E5B9B20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1" y="4650318"/>
            <a:ext cx="3096684" cy="1466849"/>
          </a:xfrm>
        </p:spPr>
        <p:txBody>
          <a:bodyPr>
            <a:noAutofit/>
          </a:bodyPr>
          <a:lstStyle>
            <a:lvl1pPr marL="0" indent="0">
              <a:lnSpc>
                <a:spcPts val="2133"/>
              </a:lnSpc>
              <a:spcAft>
                <a:spcPts val="0"/>
              </a:spcAft>
              <a:buFontTx/>
              <a:buNone/>
              <a:defRPr sz="1867" b="1" cap="all" baseline="0">
                <a:solidFill>
                  <a:schemeClr val="accent1"/>
                </a:solidFill>
              </a:defRPr>
            </a:lvl1pPr>
            <a:lvl2pPr marL="0" indent="0">
              <a:lnSpc>
                <a:spcPts val="1600"/>
              </a:lnSpc>
              <a:spcAft>
                <a:spcPts val="0"/>
              </a:spcAft>
              <a:buFontTx/>
              <a:buNone/>
              <a:tabLst/>
              <a:defRPr sz="1333" baseline="0">
                <a:solidFill>
                  <a:schemeClr val="accent1"/>
                </a:solidFill>
              </a:defRPr>
            </a:lvl2pPr>
            <a:lvl3pPr marL="715415" indent="0">
              <a:buFontTx/>
              <a:buNone/>
              <a:defRPr/>
            </a:lvl3pPr>
            <a:lvl4pPr marL="954592" indent="0">
              <a:buFontTx/>
              <a:buNone/>
              <a:defRPr/>
            </a:lvl4pPr>
            <a:lvl5pPr marL="1193770" indent="0">
              <a:buFontTx/>
              <a:buNone/>
              <a:defRPr/>
            </a:lvl5pPr>
          </a:lstStyle>
          <a:p>
            <a:pPr lvl="0"/>
            <a:r>
              <a:rPr lang="en-US" dirty="0"/>
              <a:t>Nom du </a:t>
            </a:r>
            <a:r>
              <a:rPr lang="en-US" dirty="0" err="1"/>
              <a:t>formateur</a:t>
            </a:r>
            <a:endParaRPr lang="en-US" dirty="0"/>
          </a:p>
          <a:p>
            <a:pPr lvl="1"/>
            <a:r>
              <a:rPr lang="en-US" dirty="0" err="1"/>
              <a:t>Titre</a:t>
            </a:r>
            <a:r>
              <a:rPr lang="en-US" dirty="0"/>
              <a:t> du </a:t>
            </a:r>
            <a:r>
              <a:rPr lang="en-US" dirty="0" err="1"/>
              <a:t>formateur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01C1062-5879-BD4A-8AFB-140706DA57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892301"/>
            <a:ext cx="2428940" cy="2428940"/>
          </a:xfrm>
          <a:solidFill>
            <a:schemeClr val="accent4">
              <a:lumMod val="20000"/>
              <a:lumOff val="80000"/>
            </a:schemeClr>
          </a:solidFill>
          <a:ln w="127000">
            <a:noFill/>
            <a:miter lim="800000"/>
          </a:ln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333"/>
            </a:lvl1pPr>
          </a:lstStyle>
          <a:p>
            <a:r>
              <a:rPr lang="en-US" dirty="0"/>
              <a:t>INSÉRER PHOTO ICI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1864B4-FF4D-F74D-AE3F-64E77F448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8977904-AFCB-C14E-8C77-D19C03460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/>
              <a:t>FORMATEUR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A5B4CAF-7D56-CC46-8426-C252642A84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7793086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E0E96A-F036-6146-BE04-0600232E3FC0}"/>
              </a:ext>
            </a:extLst>
          </p:cNvPr>
          <p:cNvSpPr/>
          <p:nvPr/>
        </p:nvSpPr>
        <p:spPr>
          <a:xfrm>
            <a:off x="0" y="1892302"/>
            <a:ext cx="12192000" cy="4224865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44DF82-E45D-7044-933A-7AF5218BA5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593" b="10803"/>
          <a:stretch/>
        </p:blipFill>
        <p:spPr>
          <a:xfrm>
            <a:off x="0" y="1892301"/>
            <a:ext cx="12192000" cy="422486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FC8DF6-AB48-CF49-8356-B76E4D1F0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2302"/>
            <a:ext cx="10515600" cy="4224865"/>
          </a:xfrm>
        </p:spPr>
        <p:txBody>
          <a:bodyPr lIns="0" tIns="90000" rIns="0" bIns="90000" anchor="ctr" anchorCtr="0">
            <a:normAutofit/>
          </a:bodyPr>
          <a:lstStyle>
            <a:lvl1pPr marL="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>
                <a:solidFill>
                  <a:schemeClr val="bg2"/>
                </a:solidFill>
              </a:defRPr>
            </a:lvl1pPr>
            <a:lvl2pPr marL="357707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2pPr>
            <a:lvl3pPr marL="715415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3pPr>
            <a:lvl4pPr marL="954592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4pPr>
            <a:lvl5pPr marL="119377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1864B4-FF4D-F74D-AE3F-64E77F448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8977904-AFCB-C14E-8C77-D19C03460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A5B4CAF-7D56-CC46-8426-C252642A84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5133564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D5B8E79-D955-9148-9F3F-039F8FA59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324541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9BA5AE-588B-FB45-AD5F-33F4C4D769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7A44F5-E098-DD43-9CBB-82806D082A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ZoneTexte 4">
            <a:extLst>
              <a:ext uri="{FF2B5EF4-FFF2-40B4-BE49-F238E27FC236}">
                <a16:creationId xmlns:a16="http://schemas.microsoft.com/office/drawing/2014/main" id="{ADE03F80-98FF-8E41-B9B1-1ED8A52B332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36084" y="2245865"/>
            <a:ext cx="10519833" cy="1897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1733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hec.ca/</a:t>
            </a:r>
            <a:r>
              <a:rPr lang="fr-CA" sz="11733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</a:t>
            </a:r>
            <a:endParaRPr lang="fr-CA" sz="11733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FD7FA95-A771-4899-985E-C75656BB3804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Copyright© 2020, HEC Montréal.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35026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9FB6-8024-4452-BEE5-D1B422F97DBE}" type="datetime1">
              <a:rPr lang="fr-CA" smtClean="0"/>
              <a:t>2025-04-03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Copyright; Michel Vézina-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268276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E6986-CB39-4607-A6CB-A18E0FB295B6}" type="datetime1">
              <a:rPr lang="fr-CA" smtClean="0"/>
              <a:t>2025-04-03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Copyright; Michel Vézina-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634052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E5EEE-C7DD-4171-98AB-51BD709A2B6F}" type="datetime1">
              <a:rPr lang="fr-CA" smtClean="0"/>
              <a:t>2025-04-03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Copyright; Michel Vézina- HEC Montréal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681758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79B71-BD2B-4874-9D6F-CF9BFDE3742F}" type="datetime1">
              <a:rPr lang="fr-CA" smtClean="0"/>
              <a:t>2025-04-03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Copyright; Michel Vézina- HEC Montréal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3722164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32000" y="190500"/>
            <a:ext cx="9347200" cy="152717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2032000" y="1905000"/>
            <a:ext cx="9347200" cy="4114800"/>
          </a:xfrm>
        </p:spPr>
        <p:txBody>
          <a:bodyPr/>
          <a:lstStyle/>
          <a:p>
            <a:pPr lvl="0"/>
            <a:endParaRPr lang="fr-CA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C8A60E-CBEB-4B84-ACAE-0A8B870F620F}" type="datetime1">
              <a:rPr lang="fr-CA" smtClean="0"/>
              <a:t>2025-04-03</a:t>
            </a:fld>
            <a:endParaRPr lang="fr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CA"/>
              <a:t>Copyright; Michel Vézina- HEC Montréal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E2B84E-4C6E-4A99-8104-C80351DEF369}" type="slidenum">
              <a:rPr lang="fr-CA" altLang="fr-FR"/>
              <a:pPr>
                <a:defRPr/>
              </a:pPr>
              <a:t>‹N°›</a:t>
            </a:fld>
            <a:endParaRPr lang="fr-CA" altLang="fr-FR"/>
          </a:p>
        </p:txBody>
      </p:sp>
    </p:spTree>
    <p:extLst>
      <p:ext uri="{BB962C8B-B14F-4D97-AF65-F5344CB8AC3E}">
        <p14:creationId xmlns:p14="http://schemas.microsoft.com/office/powerpoint/2010/main" val="6613171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496D8AE7-65AD-420F-BECD-FA30E1F543A6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36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 sz="1350"/>
          </a:p>
        </p:txBody>
      </p:sp>
      <p:grpSp>
        <p:nvGrpSpPr>
          <p:cNvPr id="5" name="Group 8">
            <a:extLst>
              <a:ext uri="{FF2B5EF4-FFF2-40B4-BE49-F238E27FC236}">
                <a16:creationId xmlns:a16="http://schemas.microsoft.com/office/drawing/2014/main" id="{E72182AE-D12F-4D4D-A6E7-BF416B839C5D}"/>
              </a:ext>
            </a:extLst>
          </p:cNvPr>
          <p:cNvGrpSpPr>
            <a:grpSpLocks/>
          </p:cNvGrpSpPr>
          <p:nvPr/>
        </p:nvGrpSpPr>
        <p:grpSpPr bwMode="auto">
          <a:xfrm>
            <a:off x="9990667" y="2992438"/>
            <a:ext cx="1784351" cy="2189162"/>
            <a:chOff x="4704" y="1885"/>
            <a:chExt cx="843" cy="1379"/>
          </a:xfrm>
        </p:grpSpPr>
        <p:sp>
          <p:nvSpPr>
            <p:cNvPr id="6" name="Oval 9">
              <a:extLst>
                <a:ext uri="{FF2B5EF4-FFF2-40B4-BE49-F238E27FC236}">
                  <a16:creationId xmlns:a16="http://schemas.microsoft.com/office/drawing/2014/main" id="{3A42F581-9A13-444D-B1F3-3BA54E3D3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7" name="Oval 10">
              <a:extLst>
                <a:ext uri="{FF2B5EF4-FFF2-40B4-BE49-F238E27FC236}">
                  <a16:creationId xmlns:a16="http://schemas.microsoft.com/office/drawing/2014/main" id="{C65FF57A-C958-4167-8DE0-1C061E260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8" name="Oval 11">
              <a:extLst>
                <a:ext uri="{FF2B5EF4-FFF2-40B4-BE49-F238E27FC236}">
                  <a16:creationId xmlns:a16="http://schemas.microsoft.com/office/drawing/2014/main" id="{20BD4755-1FBB-483B-8B5E-5A57C2FDF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9" name="Oval 12">
              <a:extLst>
                <a:ext uri="{FF2B5EF4-FFF2-40B4-BE49-F238E27FC236}">
                  <a16:creationId xmlns:a16="http://schemas.microsoft.com/office/drawing/2014/main" id="{4B80DC1F-C335-4B4C-8F60-F3C806F76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" name="Oval 13">
              <a:extLst>
                <a:ext uri="{FF2B5EF4-FFF2-40B4-BE49-F238E27FC236}">
                  <a16:creationId xmlns:a16="http://schemas.microsoft.com/office/drawing/2014/main" id="{501EB3B9-1355-4C96-B5A4-ADA9F24D7F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1" name="Oval 14">
              <a:extLst>
                <a:ext uri="{FF2B5EF4-FFF2-40B4-BE49-F238E27FC236}">
                  <a16:creationId xmlns:a16="http://schemas.microsoft.com/office/drawing/2014/main" id="{8C89996D-F66D-4D93-9E27-9DBED1B9D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2" name="Oval 15">
              <a:extLst>
                <a:ext uri="{FF2B5EF4-FFF2-40B4-BE49-F238E27FC236}">
                  <a16:creationId xmlns:a16="http://schemas.microsoft.com/office/drawing/2014/main" id="{52559161-B35A-4943-B139-5326496F0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D7AACB68-61A2-4AB8-A6A0-452CA40A3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4" name="Oval 17">
              <a:extLst>
                <a:ext uri="{FF2B5EF4-FFF2-40B4-BE49-F238E27FC236}">
                  <a16:creationId xmlns:a16="http://schemas.microsoft.com/office/drawing/2014/main" id="{CAC7916F-F251-4044-A0E8-711D5B36A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5" name="Oval 18">
              <a:extLst>
                <a:ext uri="{FF2B5EF4-FFF2-40B4-BE49-F238E27FC236}">
                  <a16:creationId xmlns:a16="http://schemas.microsoft.com/office/drawing/2014/main" id="{50E1C366-5D83-4308-9BB8-EE7E2E1A48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6" name="Oval 19">
              <a:extLst>
                <a:ext uri="{FF2B5EF4-FFF2-40B4-BE49-F238E27FC236}">
                  <a16:creationId xmlns:a16="http://schemas.microsoft.com/office/drawing/2014/main" id="{887D8193-055F-447F-81FB-BDCBE69AD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7" name="Oval 20">
              <a:extLst>
                <a:ext uri="{FF2B5EF4-FFF2-40B4-BE49-F238E27FC236}">
                  <a16:creationId xmlns:a16="http://schemas.microsoft.com/office/drawing/2014/main" id="{5BC3A535-2F22-4968-BA47-B362B944D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8" name="Oval 21">
              <a:extLst>
                <a:ext uri="{FF2B5EF4-FFF2-40B4-BE49-F238E27FC236}">
                  <a16:creationId xmlns:a16="http://schemas.microsoft.com/office/drawing/2014/main" id="{A09B634B-6550-4D0D-9F61-3525C62B6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9" name="Oval 22">
              <a:extLst>
                <a:ext uri="{FF2B5EF4-FFF2-40B4-BE49-F238E27FC236}">
                  <a16:creationId xmlns:a16="http://schemas.microsoft.com/office/drawing/2014/main" id="{E23AFC43-2A1F-4BB3-8752-FD1DBD36C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20" name="Oval 23">
              <a:extLst>
                <a:ext uri="{FF2B5EF4-FFF2-40B4-BE49-F238E27FC236}">
                  <a16:creationId xmlns:a16="http://schemas.microsoft.com/office/drawing/2014/main" id="{B4EB24FD-B741-4826-86CE-FB435BBBE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21" name="Oval 24">
              <a:extLst>
                <a:ext uri="{FF2B5EF4-FFF2-40B4-BE49-F238E27FC236}">
                  <a16:creationId xmlns:a16="http://schemas.microsoft.com/office/drawing/2014/main" id="{3CF5441B-02A2-4880-BB57-EF3270F46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22" name="Oval 25">
              <a:extLst>
                <a:ext uri="{FF2B5EF4-FFF2-40B4-BE49-F238E27FC236}">
                  <a16:creationId xmlns:a16="http://schemas.microsoft.com/office/drawing/2014/main" id="{2F62EA2A-D8E1-4AD0-A8F5-DC17FC2346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23" name="Oval 26">
              <a:extLst>
                <a:ext uri="{FF2B5EF4-FFF2-40B4-BE49-F238E27FC236}">
                  <a16:creationId xmlns:a16="http://schemas.microsoft.com/office/drawing/2014/main" id="{C5EBD672-AB55-4E62-90A4-1AB7031D5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24" name="Oval 27">
              <a:extLst>
                <a:ext uri="{FF2B5EF4-FFF2-40B4-BE49-F238E27FC236}">
                  <a16:creationId xmlns:a16="http://schemas.microsoft.com/office/drawing/2014/main" id="{B75E24F4-BC24-473A-9360-51E5B2DA6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25" name="Oval 28">
              <a:extLst>
                <a:ext uri="{FF2B5EF4-FFF2-40B4-BE49-F238E27FC236}">
                  <a16:creationId xmlns:a16="http://schemas.microsoft.com/office/drawing/2014/main" id="{D699A479-A599-42A0-BBF5-C36C456CB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26" name="Oval 29">
              <a:extLst>
                <a:ext uri="{FF2B5EF4-FFF2-40B4-BE49-F238E27FC236}">
                  <a16:creationId xmlns:a16="http://schemas.microsoft.com/office/drawing/2014/main" id="{83F91288-45AB-42D3-8E22-BDA4EF110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27" name="Oval 30">
              <a:extLst>
                <a:ext uri="{FF2B5EF4-FFF2-40B4-BE49-F238E27FC236}">
                  <a16:creationId xmlns:a16="http://schemas.microsoft.com/office/drawing/2014/main" id="{DCA82AA8-EB9C-4345-9FE1-21792F597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28" name="Oval 31">
              <a:extLst>
                <a:ext uri="{FF2B5EF4-FFF2-40B4-BE49-F238E27FC236}">
                  <a16:creationId xmlns:a16="http://schemas.microsoft.com/office/drawing/2014/main" id="{6312DCBE-1B30-4AF5-84F3-6205251A3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29" name="Oval 32">
              <a:extLst>
                <a:ext uri="{FF2B5EF4-FFF2-40B4-BE49-F238E27FC236}">
                  <a16:creationId xmlns:a16="http://schemas.microsoft.com/office/drawing/2014/main" id="{0BADD913-BE2F-452F-B170-F19AA9B52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30" name="Oval 33">
              <a:extLst>
                <a:ext uri="{FF2B5EF4-FFF2-40B4-BE49-F238E27FC236}">
                  <a16:creationId xmlns:a16="http://schemas.microsoft.com/office/drawing/2014/main" id="{8FA51E34-275E-4172-B656-157BAB58A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31" name="Oval 34">
              <a:extLst>
                <a:ext uri="{FF2B5EF4-FFF2-40B4-BE49-F238E27FC236}">
                  <a16:creationId xmlns:a16="http://schemas.microsoft.com/office/drawing/2014/main" id="{AA0150E0-B0EF-48D6-823D-A58450FB1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32" name="Oval 35">
              <a:extLst>
                <a:ext uri="{FF2B5EF4-FFF2-40B4-BE49-F238E27FC236}">
                  <a16:creationId xmlns:a16="http://schemas.microsoft.com/office/drawing/2014/main" id="{1C3E3203-EBCD-46DF-B56B-581553F4C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33" name="Oval 36">
              <a:extLst>
                <a:ext uri="{FF2B5EF4-FFF2-40B4-BE49-F238E27FC236}">
                  <a16:creationId xmlns:a16="http://schemas.microsoft.com/office/drawing/2014/main" id="{ABCA21EE-B177-4557-99F5-62FA82A7C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34" name="Oval 37">
              <a:extLst>
                <a:ext uri="{FF2B5EF4-FFF2-40B4-BE49-F238E27FC236}">
                  <a16:creationId xmlns:a16="http://schemas.microsoft.com/office/drawing/2014/main" id="{45E6E545-7CA6-4680-8B43-7CC24023F9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35" name="Oval 38">
              <a:extLst>
                <a:ext uri="{FF2B5EF4-FFF2-40B4-BE49-F238E27FC236}">
                  <a16:creationId xmlns:a16="http://schemas.microsoft.com/office/drawing/2014/main" id="{BF7E5805-AF4B-402E-9DA0-F5972A68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36" name="Oval 39">
              <a:extLst>
                <a:ext uri="{FF2B5EF4-FFF2-40B4-BE49-F238E27FC236}">
                  <a16:creationId xmlns:a16="http://schemas.microsoft.com/office/drawing/2014/main" id="{C25D308C-0205-45DA-A12C-004B93D65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</p:grpSp>
      <p:sp>
        <p:nvSpPr>
          <p:cNvPr id="37" name="Line 40">
            <a:extLst>
              <a:ext uri="{FF2B5EF4-FFF2-40B4-BE49-F238E27FC236}">
                <a16:creationId xmlns:a16="http://schemas.microsoft.com/office/drawing/2014/main" id="{1617676D-8B5E-406A-B53C-4C4C1E6669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400" y="2819400"/>
            <a:ext cx="109728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 sz="1350"/>
          </a:p>
        </p:txBody>
      </p:sp>
      <p:sp>
        <p:nvSpPr>
          <p:cNvPr id="43315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21217" y="466725"/>
            <a:ext cx="90424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fr-CA" altLang="en-US"/>
              <a:t>Cliquez pour modifier le style du titre</a:t>
            </a:r>
          </a:p>
        </p:txBody>
      </p:sp>
      <p:sp>
        <p:nvSpPr>
          <p:cNvPr id="43315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fr-CA" altLang="en-US"/>
              <a:t>Cliquez pour modifier le style des sous-titres du masque</a:t>
            </a:r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EDD939EF-864A-4548-B934-D09943B69D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 altLang="en-US"/>
          </a:p>
        </p:txBody>
      </p:sp>
      <p:sp>
        <p:nvSpPr>
          <p:cNvPr id="39" name="Rectangle 6">
            <a:extLst>
              <a:ext uri="{FF2B5EF4-FFF2-40B4-BE49-F238E27FC236}">
                <a16:creationId xmlns:a16="http://schemas.microsoft.com/office/drawing/2014/main" id="{83C71A92-15C1-4E06-AF65-F43F8511B6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fr-CA" altLang="en-US"/>
          </a:p>
        </p:txBody>
      </p:sp>
      <p:sp>
        <p:nvSpPr>
          <p:cNvPr id="40" name="Rectangle 7">
            <a:extLst>
              <a:ext uri="{FF2B5EF4-FFF2-40B4-BE49-F238E27FC236}">
                <a16:creationId xmlns:a16="http://schemas.microsoft.com/office/drawing/2014/main" id="{D9F1CF59-255D-4F84-8B45-B3632D49B4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EF1DB8-93E6-4A9D-97AE-97510B2911EF}" type="slidenum">
              <a:rPr lang="fr-CA" altLang="en-US"/>
              <a:pPr/>
              <a:t>‹N°›</a:t>
            </a:fld>
            <a:endParaRPr lang="fr-CA" altLang="en-US"/>
          </a:p>
        </p:txBody>
      </p:sp>
    </p:spTree>
    <p:extLst>
      <p:ext uri="{BB962C8B-B14F-4D97-AF65-F5344CB8AC3E}">
        <p14:creationId xmlns:p14="http://schemas.microsoft.com/office/powerpoint/2010/main" val="37407868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A237904-E820-4874-BDB0-42240AEED6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EBEFD61-8FE8-4973-BCA1-DF01415E21C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6B020A-39AC-4944-943E-540837008DF1}" type="slidenum">
              <a:rPr lang="fr-CA" altLang="en-US"/>
              <a:pPr/>
              <a:t>‹N°›</a:t>
            </a:fld>
            <a:endParaRPr lang="fr-CA" altLang="en-US"/>
          </a:p>
        </p:txBody>
      </p:sp>
    </p:spTree>
    <p:extLst>
      <p:ext uri="{BB962C8B-B14F-4D97-AF65-F5344CB8AC3E}">
        <p14:creationId xmlns:p14="http://schemas.microsoft.com/office/powerpoint/2010/main" val="21955159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8A1F813-5C8C-4D7D-8CE9-10C9DE220B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458538A-0250-48A5-874D-DCD65220DD6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5FEC3C-39DA-417E-81AB-E1801E42D439}" type="slidenum">
              <a:rPr lang="fr-CA" altLang="en-US"/>
              <a:pPr/>
              <a:t>‹N°›</a:t>
            </a:fld>
            <a:endParaRPr lang="fr-CA" altLang="en-US"/>
          </a:p>
        </p:txBody>
      </p:sp>
    </p:spTree>
    <p:extLst>
      <p:ext uri="{BB962C8B-B14F-4D97-AF65-F5344CB8AC3E}">
        <p14:creationId xmlns:p14="http://schemas.microsoft.com/office/powerpoint/2010/main" val="35241890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046F251-5995-4405-A6DB-4C0BA1CF9A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ABB6A9B-2840-4A8A-B2BC-9B349002757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056E64-7719-4E2D-80BF-0D35E0B97733}" type="slidenum">
              <a:rPr lang="fr-CA" altLang="en-US"/>
              <a:pPr/>
              <a:t>‹N°›</a:t>
            </a:fld>
            <a:endParaRPr lang="fr-CA" altLang="en-US"/>
          </a:p>
        </p:txBody>
      </p:sp>
    </p:spTree>
    <p:extLst>
      <p:ext uri="{BB962C8B-B14F-4D97-AF65-F5344CB8AC3E}">
        <p14:creationId xmlns:p14="http://schemas.microsoft.com/office/powerpoint/2010/main" val="142130387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257B1B4-0585-410A-98F2-2E074508B3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1D3D58-F732-4CE0-B459-E1824F706FE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B2E394-BFD2-4582-A473-9907DA0CD5AA}" type="slidenum">
              <a:rPr lang="fr-CA" altLang="en-US"/>
              <a:pPr/>
              <a:t>‹N°›</a:t>
            </a:fld>
            <a:endParaRPr lang="fr-CA" altLang="en-US"/>
          </a:p>
        </p:txBody>
      </p:sp>
    </p:spTree>
    <p:extLst>
      <p:ext uri="{BB962C8B-B14F-4D97-AF65-F5344CB8AC3E}">
        <p14:creationId xmlns:p14="http://schemas.microsoft.com/office/powerpoint/2010/main" val="154476125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A100FC2-6E72-4DF1-BDF2-7630751C8A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F6E7EF1-1EDC-4D8D-8B7A-991149190FB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89D89A-0F1E-4672-B352-4B47F45A266C}" type="slidenum">
              <a:rPr lang="fr-CA" altLang="en-US"/>
              <a:pPr/>
              <a:t>‹N°›</a:t>
            </a:fld>
            <a:endParaRPr lang="fr-CA" altLang="en-US"/>
          </a:p>
        </p:txBody>
      </p:sp>
    </p:spTree>
    <p:extLst>
      <p:ext uri="{BB962C8B-B14F-4D97-AF65-F5344CB8AC3E}">
        <p14:creationId xmlns:p14="http://schemas.microsoft.com/office/powerpoint/2010/main" val="3797622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69EBE1DE-8028-4C1E-9E3D-CA8B0519BB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 altLang="en-US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15D97386-C7D8-4840-99D3-41AACD94AE8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E62D72-2C2D-41F3-8DBB-790875C18769}" type="slidenum">
              <a:rPr lang="fr-CA" altLang="en-US"/>
              <a:pPr/>
              <a:t>‹N°›</a:t>
            </a:fld>
            <a:endParaRPr lang="fr-CA" altLang="en-US"/>
          </a:p>
        </p:txBody>
      </p:sp>
    </p:spTree>
    <p:extLst>
      <p:ext uri="{BB962C8B-B14F-4D97-AF65-F5344CB8AC3E}">
        <p14:creationId xmlns:p14="http://schemas.microsoft.com/office/powerpoint/2010/main" val="180299499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F3416BA-DDED-4AE8-B319-364A7B7A2B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D4C2C56-20B9-4945-9E1B-AD2DFD8E91E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226834-B655-4EF7-9746-C003A389ED29}" type="slidenum">
              <a:rPr lang="fr-CA" altLang="en-US"/>
              <a:pPr/>
              <a:t>‹N°›</a:t>
            </a:fld>
            <a:endParaRPr lang="fr-CA" altLang="en-US"/>
          </a:p>
        </p:txBody>
      </p:sp>
    </p:spTree>
    <p:extLst>
      <p:ext uri="{BB962C8B-B14F-4D97-AF65-F5344CB8AC3E}">
        <p14:creationId xmlns:p14="http://schemas.microsoft.com/office/powerpoint/2010/main" val="82815558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CA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0E7E29E-5309-4248-B491-3EA7657C98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C925BDB-5833-44A2-9677-51E6801F748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AD481B-DE34-49FD-9399-B2384ED68252}" type="slidenum">
              <a:rPr lang="fr-CA" altLang="en-US"/>
              <a:pPr/>
              <a:t>‹N°›</a:t>
            </a:fld>
            <a:endParaRPr lang="fr-CA" altLang="en-US"/>
          </a:p>
        </p:txBody>
      </p:sp>
    </p:spTree>
    <p:extLst>
      <p:ext uri="{BB962C8B-B14F-4D97-AF65-F5344CB8AC3E}">
        <p14:creationId xmlns:p14="http://schemas.microsoft.com/office/powerpoint/2010/main" val="13774760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7BFA1DB-DFE4-4265-9949-C4D1E6A6D2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3D4AD7D5-5360-46CF-A0B6-6662E08A4CC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61A8A3-C1FF-46F9-BCC7-FB86513764D0}" type="slidenum">
              <a:rPr lang="fr-CA" altLang="en-US"/>
              <a:pPr/>
              <a:t>‹N°›</a:t>
            </a:fld>
            <a:endParaRPr lang="fr-CA" altLang="en-US"/>
          </a:p>
        </p:txBody>
      </p:sp>
    </p:spTree>
    <p:extLst>
      <p:ext uri="{BB962C8B-B14F-4D97-AF65-F5344CB8AC3E}">
        <p14:creationId xmlns:p14="http://schemas.microsoft.com/office/powerpoint/2010/main" val="199647554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261B093-7C15-4F3C-83C3-64F5604EC7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8218153-F737-4A79-B053-1849DD21CD8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4A0E4D-0CFE-4BA9-8D29-5BF57A0218B3}" type="slidenum">
              <a:rPr lang="fr-CA" altLang="en-US"/>
              <a:pPr/>
              <a:t>‹N°›</a:t>
            </a:fld>
            <a:endParaRPr lang="fr-CA" altLang="en-US"/>
          </a:p>
        </p:txBody>
      </p:sp>
    </p:spTree>
    <p:extLst>
      <p:ext uri="{BB962C8B-B14F-4D97-AF65-F5344CB8AC3E}">
        <p14:creationId xmlns:p14="http://schemas.microsoft.com/office/powerpoint/2010/main" val="327077202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433140D-A897-9E4C-97FA-B6FCD05D16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4456513"/>
            <a:ext cx="10519833" cy="564257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ts val="4400"/>
              </a:lnSpc>
              <a:defRPr sz="4400" cap="all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1" y="5071609"/>
            <a:ext cx="10519833" cy="610735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3333"/>
              </a:lnSpc>
              <a:buNone/>
              <a:defRPr sz="2933" b="1" cap="all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9B207E-D0F7-EE4C-A0D7-C138DC5A8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000" y="-663847"/>
            <a:ext cx="6648001" cy="454381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7303A3-B2CF-BF44-82D6-123A40E6A9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8" y="6173855"/>
            <a:ext cx="10519835" cy="261964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2000"/>
              </a:lnSpc>
              <a:spcAft>
                <a:spcPts val="0"/>
              </a:spcAft>
              <a:buFontTx/>
              <a:buNone/>
              <a:defRPr sz="2000" b="1" cap="all" baseline="0">
                <a:solidFill>
                  <a:schemeClr val="tx2"/>
                </a:solidFill>
              </a:defRPr>
            </a:lvl1pPr>
            <a:lvl2pPr marL="357707" indent="0">
              <a:buFontTx/>
              <a:buNone/>
              <a:defRPr/>
            </a:lvl2pPr>
            <a:lvl3pPr marL="715415" indent="0">
              <a:buFontTx/>
              <a:buNone/>
              <a:defRPr/>
            </a:lvl3pPr>
            <a:lvl4pPr marL="954592" indent="0">
              <a:buFontTx/>
              <a:buNone/>
              <a:defRPr/>
            </a:lvl4pPr>
            <a:lvl5pPr marL="1193770" indent="0">
              <a:buFontTx/>
              <a:buNone/>
              <a:defRPr/>
            </a:lvl5pPr>
          </a:lstStyle>
          <a:p>
            <a:pPr lvl="0"/>
            <a:r>
              <a:rPr lang="en-US" dirty="0"/>
              <a:t>INSÉRER DATE ICI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F193782-F7E9-4047-B2C0-EF491FB96043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Copyright© 2020, HEC Montréal.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2897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401"/>
            <a:ext cx="10515600" cy="564257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04000"/>
            <a:ext cx="10515600" cy="3913167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66C56-658F-6E4F-9A4C-3116BF0B3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5E7EC10-615D-474D-B5C2-D46DC54D3E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10141527" y="6270914"/>
            <a:ext cx="1381991" cy="2597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01121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S-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401"/>
            <a:ext cx="10515600" cy="564257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1E2A1-DD6F-3343-9A70-CA94AF8A8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87426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/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8977904-AFCB-C14E-8C77-D19C03460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1864B4-FF4D-F74D-AE3F-64E77F448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FC8DF6-AB48-CF49-8356-B76E4D1F0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4000"/>
            <a:ext cx="10515600" cy="3913167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81815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S-T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54CF4E9-7517-F244-BFC4-B931479FB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3555EF1-C69E-5647-8CB1-45C6C9E5D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562"/>
            <a:ext cx="10515600" cy="564257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B9FEE11-A085-C446-AB85-92AA7F0674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6D8488B-BA5C-0B49-95D3-D24211B71F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587426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/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133E1B-9815-7C4E-B057-197DB34136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8CFE0F-93DF-D141-BB17-37693D4AF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5"/>
            <a:ext cx="1845289" cy="126123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0AF3B66-237E-5D48-9D18-155657C45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4000"/>
            <a:ext cx="10515600" cy="3913167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068DF36-F76C-4C18-A034-1A903F79096C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109062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S-T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E0F111-4F35-4F47-9BE0-A2D6F23AFD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66412E-A17A-CE4A-BC01-376F482A5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562"/>
            <a:ext cx="10515600" cy="564257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B9FEE11-A085-C446-AB85-92AA7F0674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AF20EC2-0F57-F546-82B6-91B7B80429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587426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/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5CE6688-2DA5-7348-B0A8-267418703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930EC1-1943-3040-8605-A0FFBC74E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5"/>
            <a:ext cx="1845289" cy="1261231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46C28C2-5F95-E24E-9DB0-20B15BEDC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4000"/>
            <a:ext cx="10515600" cy="3913167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FDBF6F5-A7EF-489A-B878-01B5D7E0CB24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Copyright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© 2022, 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HEC Montréal.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9328827" y="6186791"/>
            <a:ext cx="2471496" cy="343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664704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S-T BLEU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1BE7250-1743-6049-B191-A89CE4BCE1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BA7120-A7F2-5145-98AE-92CA98DAA07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009AC2A-707B-1D4B-92B9-A334E9B67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566"/>
            <a:ext cx="10515600" cy="564257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A1A4A-A776-CC4D-81BF-BA39E8592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1A282D4-E151-BE47-9965-8DB2B0B814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87427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9395A755-A1C6-5444-8DDD-01A8F25C47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579F7C-4942-2B4A-A5A9-F86D83AF2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4"/>
            <a:ext cx="1845289" cy="126122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1F49E2A-724E-4264-8CF3-C01F99C7F2EB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10141527" y="6270914"/>
            <a:ext cx="1381991" cy="2597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56346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BLEU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B3ABAA1-A0DB-BB45-9DA8-754B573383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F53DF94-7A73-7041-8D6F-AFA3B277EAB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A693E38-AE8B-DB4C-B7ED-1BB819505D7F}"/>
              </a:ext>
            </a:extLst>
          </p:cNvPr>
          <p:cNvSpPr/>
          <p:nvPr/>
        </p:nvSpPr>
        <p:spPr>
          <a:xfrm>
            <a:off x="838201" y="1439335"/>
            <a:ext cx="10519833" cy="46676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BB38210-680E-CB4D-B399-931BB3F06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1E2A1-DD6F-3343-9A70-CA94AF8A8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B5871F0-3B49-B540-A3C5-A634C1E911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3C08F8-ABA6-B04C-AAA6-1B9D8C6D4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4"/>
            <a:ext cx="1845289" cy="12612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676E49E-284F-8646-B4AD-709D54663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160" y="1892300"/>
            <a:ext cx="9841680" cy="407588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F6FBD5F-DBAE-4CCB-95AF-1939210EC83C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187327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S-T NO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587CC3-B385-2945-A9CA-61470F0480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3EC8EF-7CA8-8741-A183-787F069286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566"/>
            <a:ext cx="10515600" cy="564257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1E2A1-DD6F-3343-9A70-CA94AF8A8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87427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B5871F0-3B49-B540-A3C5-A634C1E911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D376BBE-4142-8A44-B7CF-653D304BB496}"/>
              </a:ext>
            </a:extLst>
          </p:cNvPr>
          <p:cNvSpPr txBox="1">
            <a:spLocks/>
          </p:cNvSpPr>
          <p:nvPr/>
        </p:nvSpPr>
        <p:spPr>
          <a:xfrm>
            <a:off x="838200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defPPr>
              <a:defRPr lang="en-US"/>
            </a:defPPr>
            <a:lvl1pPr marL="0" algn="ctr" defTabSz="685800" rtl="0" eaLnBrk="1" latinLnBrk="0" hangingPunct="1">
              <a:defRPr sz="6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9CCF2F-7E28-FB4D-B276-4AB2C7C2895F}" type="slidenum">
              <a:rPr lang="en-US" sz="800" smtClean="0"/>
              <a:pPr/>
              <a:t>‹N°›</a:t>
            </a:fld>
            <a:endParaRPr lang="en-CA" sz="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BC598D-28DE-FD47-BB87-8371BC229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4"/>
            <a:ext cx="1845289" cy="1261229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23D5F411-5439-4304-965D-BDD6781D6991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10141527" y="6270914"/>
            <a:ext cx="1381991" cy="2597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81787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NO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B326BD-7D0B-F343-AB49-EC6A16EBB5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F51F25-6689-5645-B9A7-6B170AF799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E7836A4-2567-554F-9370-6D8EC6ACDA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F9697C0D-E4ED-AC49-B8E4-4815F735EE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5B2410F-9028-EC49-8C02-72C40E933634}"/>
              </a:ext>
            </a:extLst>
          </p:cNvPr>
          <p:cNvSpPr txBox="1">
            <a:spLocks/>
          </p:cNvSpPr>
          <p:nvPr/>
        </p:nvSpPr>
        <p:spPr>
          <a:xfrm>
            <a:off x="838200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defPPr>
              <a:defRPr lang="en-US"/>
            </a:defPPr>
            <a:lvl1pPr marL="0" algn="ctr" defTabSz="685800" rtl="0" eaLnBrk="1" latinLnBrk="0" hangingPunct="1">
              <a:defRPr sz="6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9CCF2F-7E28-FB4D-B276-4AB2C7C2895F}" type="slidenum">
              <a:rPr lang="en-US" sz="800" smtClean="0"/>
              <a:pPr/>
              <a:t>‹N°›</a:t>
            </a:fld>
            <a:endParaRPr lang="en-CA" sz="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F969CA-3995-AF49-95E6-B71362178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4"/>
            <a:ext cx="1845289" cy="126122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A308B96-DF7F-0B45-ACE9-2B2C7ECE93B9}"/>
              </a:ext>
            </a:extLst>
          </p:cNvPr>
          <p:cNvSpPr/>
          <p:nvPr/>
        </p:nvSpPr>
        <p:spPr>
          <a:xfrm>
            <a:off x="838201" y="1439335"/>
            <a:ext cx="10519833" cy="46676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6406D7-AC5B-E04F-8654-B634E5F7F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288" y="1892300"/>
            <a:ext cx="10203425" cy="40758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581CB16-AE9C-4487-9D8A-2E90221DEB1A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10141527" y="6270914"/>
            <a:ext cx="1381991" cy="2597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27293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PARATEUR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998220"/>
            <a:ext cx="10515600" cy="56425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FC03651-8682-3F42-A2A7-4262A3A84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6360921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T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2D8F26-9E03-664C-8AAB-AF0958D641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241E6-23D7-5648-9D8F-D08E15891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FC03651-8682-3F42-A2A7-4262A3A84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9553" y="3146462"/>
            <a:ext cx="8608481" cy="547159"/>
          </a:xfrm>
          <a:prstGeom prst="rect">
            <a:avLst/>
          </a:prstGeom>
        </p:spPr>
        <p:txBody>
          <a:bodyPr anchor="b"/>
          <a:lstStyle>
            <a:lvl1pPr>
              <a:lnSpc>
                <a:spcPts val="4267"/>
              </a:lnSpc>
              <a:defRPr sz="4400" baseline="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9553" y="3720608"/>
            <a:ext cx="8608481" cy="1500187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400" baseline="0">
                <a:solidFill>
                  <a:schemeClr val="accent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E3357C-4D3F-8244-B7EA-1EBF31E1B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33" y="5861725"/>
            <a:ext cx="1845289" cy="1261231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499FB-983B-9C4D-8D46-44FE6804CF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072" y="2709000"/>
            <a:ext cx="1440000" cy="1440000"/>
          </a:xfrm>
          <a:ln w="127000">
            <a:solidFill>
              <a:schemeClr val="bg2"/>
            </a:solidFill>
            <a:miter lim="800000"/>
          </a:ln>
        </p:spPr>
        <p:txBody>
          <a:bodyPr anchor="ctr" anchorCtr="0"/>
          <a:lstStyle>
            <a:lvl1pPr marL="0" indent="0" algn="ctr">
              <a:lnSpc>
                <a:spcPts val="8000"/>
              </a:lnSpc>
              <a:buFontTx/>
              <a:buNone/>
              <a:defRPr sz="8000" b="1" i="0" cap="all" baseline="0">
                <a:solidFill>
                  <a:schemeClr val="accent1"/>
                </a:solidFill>
              </a:defRPr>
            </a:lvl1pPr>
            <a:lvl2pPr marL="357707" indent="0">
              <a:buFontTx/>
              <a:buNone/>
              <a:defRPr/>
            </a:lvl2pPr>
            <a:lvl3pPr marL="715415" indent="0">
              <a:buFontTx/>
              <a:buNone/>
              <a:defRPr/>
            </a:lvl3pPr>
            <a:lvl4pPr marL="954592" indent="0">
              <a:buFontTx/>
              <a:buNone/>
              <a:defRPr/>
            </a:lvl4pPr>
            <a:lvl5pPr marL="1193770" indent="0">
              <a:buFontTx/>
              <a:buNone/>
              <a:defRPr/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BF1D149-3798-4548-99DC-DED04461776F}"/>
              </a:ext>
            </a:extLst>
          </p:cNvPr>
          <p:cNvSpPr txBox="1"/>
          <p:nvPr/>
        </p:nvSpPr>
        <p:spPr>
          <a:xfrm>
            <a:off x="2969957" y="6524901"/>
            <a:ext cx="6252087" cy="31698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Copyright© 2020 HEC Montréal.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991246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8977904-AFCB-C14E-8C77-D19C03460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1864B4-FF4D-F74D-AE3F-64E77F448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FC8DF6-AB48-CF49-8356-B76E4D1F0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2301"/>
            <a:ext cx="10515600" cy="4224867"/>
          </a:xfrm>
        </p:spPr>
        <p:txBody>
          <a:bodyPr>
            <a:normAutofit/>
          </a:bodyPr>
          <a:lstStyle>
            <a:lvl1pPr marL="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1pPr>
            <a:lvl2pPr marL="357707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2pPr>
            <a:lvl3pPr marL="715415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3pPr>
            <a:lvl4pPr marL="954592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4pPr>
            <a:lvl5pPr marL="119377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A5B4CAF-7D56-CC46-8426-C252642A84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66254367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MAT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E321BE2-EF31-D64A-82BD-0664B1A62019}"/>
              </a:ext>
            </a:extLst>
          </p:cNvPr>
          <p:cNvSpPr/>
          <p:nvPr/>
        </p:nvSpPr>
        <p:spPr>
          <a:xfrm>
            <a:off x="0" y="1892302"/>
            <a:ext cx="12192000" cy="4224865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76312A-B842-134B-A740-6EDAC5FF26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593" b="10803"/>
          <a:stretch/>
        </p:blipFill>
        <p:spPr>
          <a:xfrm>
            <a:off x="0" y="1892301"/>
            <a:ext cx="12192000" cy="422486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FC8DF6-AB48-CF49-8356-B76E4D1F0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4885" y="1892301"/>
            <a:ext cx="7418915" cy="4224867"/>
          </a:xfrm>
        </p:spPr>
        <p:txBody>
          <a:bodyPr lIns="90000" tIns="90000" rIns="90000" bIns="90000" anchor="ctr" anchorCtr="0">
            <a:normAutofit/>
          </a:bodyPr>
          <a:lstStyle>
            <a:lvl1pPr marL="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>
                <a:solidFill>
                  <a:schemeClr val="bg2"/>
                </a:solidFill>
              </a:defRPr>
            </a:lvl1pPr>
            <a:lvl2pPr marL="357707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2pPr>
            <a:lvl3pPr marL="715415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3pPr>
            <a:lvl4pPr marL="954592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4pPr>
            <a:lvl5pPr marL="119377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99C79-3B5F-3740-AD53-C50E5B9B20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1" y="4650318"/>
            <a:ext cx="3096684" cy="1466849"/>
          </a:xfrm>
        </p:spPr>
        <p:txBody>
          <a:bodyPr>
            <a:noAutofit/>
          </a:bodyPr>
          <a:lstStyle>
            <a:lvl1pPr marL="0" indent="0">
              <a:lnSpc>
                <a:spcPts val="2133"/>
              </a:lnSpc>
              <a:spcAft>
                <a:spcPts val="0"/>
              </a:spcAft>
              <a:buFontTx/>
              <a:buNone/>
              <a:defRPr sz="1867" b="1" cap="all" baseline="0">
                <a:solidFill>
                  <a:schemeClr val="accent1"/>
                </a:solidFill>
              </a:defRPr>
            </a:lvl1pPr>
            <a:lvl2pPr marL="0" indent="0">
              <a:lnSpc>
                <a:spcPts val="1600"/>
              </a:lnSpc>
              <a:spcAft>
                <a:spcPts val="0"/>
              </a:spcAft>
              <a:buFontTx/>
              <a:buNone/>
              <a:tabLst/>
              <a:defRPr sz="1333" baseline="0">
                <a:solidFill>
                  <a:schemeClr val="accent1"/>
                </a:solidFill>
              </a:defRPr>
            </a:lvl2pPr>
            <a:lvl3pPr marL="715415" indent="0">
              <a:buFontTx/>
              <a:buNone/>
              <a:defRPr/>
            </a:lvl3pPr>
            <a:lvl4pPr marL="954592" indent="0">
              <a:buFontTx/>
              <a:buNone/>
              <a:defRPr/>
            </a:lvl4pPr>
            <a:lvl5pPr marL="1193770" indent="0">
              <a:buFontTx/>
              <a:buNone/>
              <a:defRPr/>
            </a:lvl5pPr>
          </a:lstStyle>
          <a:p>
            <a:pPr lvl="0"/>
            <a:r>
              <a:rPr lang="en-US" dirty="0"/>
              <a:t>Nom du </a:t>
            </a:r>
            <a:r>
              <a:rPr lang="en-US" dirty="0" err="1"/>
              <a:t>formateur</a:t>
            </a:r>
            <a:endParaRPr lang="en-US" dirty="0"/>
          </a:p>
          <a:p>
            <a:pPr lvl="1"/>
            <a:r>
              <a:rPr lang="en-US" dirty="0" err="1"/>
              <a:t>Titre</a:t>
            </a:r>
            <a:r>
              <a:rPr lang="en-US" dirty="0"/>
              <a:t> du </a:t>
            </a:r>
            <a:r>
              <a:rPr lang="en-US" dirty="0" err="1"/>
              <a:t>formateur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01C1062-5879-BD4A-8AFB-140706DA57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892301"/>
            <a:ext cx="2428940" cy="2428940"/>
          </a:xfrm>
          <a:solidFill>
            <a:schemeClr val="accent4">
              <a:lumMod val="20000"/>
              <a:lumOff val="80000"/>
            </a:schemeClr>
          </a:solidFill>
          <a:ln w="127000">
            <a:noFill/>
            <a:miter lim="800000"/>
          </a:ln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333"/>
            </a:lvl1pPr>
          </a:lstStyle>
          <a:p>
            <a:r>
              <a:rPr lang="en-US" dirty="0"/>
              <a:t>INSÉRER PHOTO ICI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1864B4-FF4D-F74D-AE3F-64E77F448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8977904-AFCB-C14E-8C77-D19C03460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/>
              <a:t>FORMATEUR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A5B4CAF-7D56-CC46-8426-C252642A84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11066707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E0E96A-F036-6146-BE04-0600232E3FC0}"/>
              </a:ext>
            </a:extLst>
          </p:cNvPr>
          <p:cNvSpPr/>
          <p:nvPr/>
        </p:nvSpPr>
        <p:spPr>
          <a:xfrm>
            <a:off x="0" y="1892302"/>
            <a:ext cx="12192000" cy="4224865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44DF82-E45D-7044-933A-7AF5218BA5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593" b="10803"/>
          <a:stretch/>
        </p:blipFill>
        <p:spPr>
          <a:xfrm>
            <a:off x="0" y="1892301"/>
            <a:ext cx="12192000" cy="422486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FC8DF6-AB48-CF49-8356-B76E4D1F0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2302"/>
            <a:ext cx="10515600" cy="4224865"/>
          </a:xfrm>
        </p:spPr>
        <p:txBody>
          <a:bodyPr lIns="0" tIns="90000" rIns="0" bIns="90000" anchor="ctr" anchorCtr="0">
            <a:normAutofit/>
          </a:bodyPr>
          <a:lstStyle>
            <a:lvl1pPr marL="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>
                <a:solidFill>
                  <a:schemeClr val="bg2"/>
                </a:solidFill>
              </a:defRPr>
            </a:lvl1pPr>
            <a:lvl2pPr marL="357707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2pPr>
            <a:lvl3pPr marL="715415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3pPr>
            <a:lvl4pPr marL="954592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4pPr>
            <a:lvl5pPr marL="119377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1864B4-FF4D-F74D-AE3F-64E77F448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8977904-AFCB-C14E-8C77-D19C03460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A5B4CAF-7D56-CC46-8426-C252642A84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21606475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D5B8E79-D955-9148-9F3F-039F8FA59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8723185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9BA5AE-588B-FB45-AD5F-33F4C4D769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7A44F5-E098-DD43-9CBB-82806D082A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ZoneTexte 4">
            <a:extLst>
              <a:ext uri="{FF2B5EF4-FFF2-40B4-BE49-F238E27FC236}">
                <a16:creationId xmlns:a16="http://schemas.microsoft.com/office/drawing/2014/main" id="{ADE03F80-98FF-8E41-B9B1-1ED8A52B332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36084" y="2245865"/>
            <a:ext cx="10519833" cy="1897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1733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hec.ca/</a:t>
            </a:r>
            <a:r>
              <a:rPr lang="fr-CA" sz="11733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</a:t>
            </a:r>
            <a:endParaRPr lang="fr-CA" sz="11733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FD7FA95-A771-4899-985E-C75656BB3804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Copyright© 2020, HEC Montréal.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807984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r>
              <a:rPr lang="fr-CA"/>
              <a:t>(c) Michel Vézina adapté par Claude Laurin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9641305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r>
              <a:rPr lang="fr-CA"/>
              <a:t>(c) Michel Vézina adapté par Claude Laurin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5267109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r>
              <a:rPr lang="fr-CA"/>
              <a:t>(c) Michel Vézina adapté par Claude Laurin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00190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CA"/>
              <a:t>(c) Michel Vézina adapté par Claude Laurin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4920094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58C0-08F0-4A50-B07B-6D1C5C48A4F1}" type="datetime1">
              <a:rPr lang="fr-CA" smtClean="0"/>
              <a:t>2025-04-03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56783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6CC53-9834-49DE-99C7-7F6AD1C4BD1F}" type="datetime1">
              <a:rPr lang="fr-CA" smtClean="0"/>
              <a:t>2025-04-03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5933171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4052-1310-45CC-AB2F-03ABCF62E9FF}" type="datetime1">
              <a:rPr lang="fr-CA" smtClean="0"/>
              <a:t>2025-04-03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92683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654CD-DF54-4297-AB04-B1C5A2A1A70B}" type="datetime1">
              <a:rPr lang="fr-CA" smtClean="0"/>
              <a:t>2025-04-03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0136777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85161-F226-49B3-8311-95D08D34E590}" type="datetime1">
              <a:rPr lang="fr-CA" smtClean="0"/>
              <a:t>2025-04-03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1608731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AC9E8-FE15-4A03-A806-7F73DF5A5F85}" type="datetime1">
              <a:rPr lang="fr-CA" smtClean="0"/>
              <a:t>2025-04-03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2230674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3B74F-FFDA-44B0-B1C6-B75437B2865C}" type="datetime1">
              <a:rPr lang="fr-CA" smtClean="0"/>
              <a:t>2025-04-03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CA"/>
              <a:t>(C) HEC montréal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5481822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2C18C76-5CD6-4C9C-B832-4C8504C5995D}" type="datetime1">
              <a:rPr lang="fr-CA" smtClean="0"/>
              <a:t>2025-04-03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CA"/>
              <a:t>(C) HEC montréal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9318292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6D5F-D8B3-47B9-AD8E-A213A52E417B}" type="datetime1">
              <a:rPr lang="fr-CA" smtClean="0"/>
              <a:t>2025-04-03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1773920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02F0-BF15-44FB-94E4-357A06432B1C}" type="datetime1">
              <a:rPr lang="fr-CA" smtClean="0"/>
              <a:t>2025-04-03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4224468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23436-8FC2-4AA4-B634-7FDF3C3F3889}" type="datetime1">
              <a:rPr lang="fr-CA" smtClean="0"/>
              <a:t>2025-04-03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(C)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3071227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27051" y="765175"/>
            <a:ext cx="11137901" cy="93503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527052" y="1827213"/>
            <a:ext cx="11051116" cy="4114800"/>
          </a:xfrm>
        </p:spPr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fr-CA" altLang="fr-FR">
              <a:solidFill>
                <a:srgbClr val="000000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fr-CA" altLang="fr-FR">
                <a:solidFill>
                  <a:srgbClr val="000000"/>
                </a:solidFill>
              </a:rPr>
              <a:t>51-902-02  Contrôle budgétaire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4F0B59F5-75C1-4F51-AEE0-6FEFF3390D82}" type="slidenum">
              <a:rPr lang="fr-CA" altLang="fr-FR">
                <a:solidFill>
                  <a:srgbClr val="000000"/>
                </a:solidFill>
              </a:rPr>
              <a:pPr/>
              <a:t>‹N°›</a:t>
            </a:fld>
            <a:endParaRPr lang="fr-CA" altLang="fr-F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975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40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4.xml"/><Relationship Id="rId21" Type="http://schemas.openxmlformats.org/officeDocument/2006/relationships/theme" Target="../theme/theme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71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70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Relationship Id="rId22" Type="http://schemas.openxmlformats.org/officeDocument/2006/relationships/image" Target="../media/image1.e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56F06D-0BD1-6D4F-AAE3-6DD4CE5C8A3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55033" y="5861725"/>
            <a:ext cx="1845289" cy="126123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29154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1AD6E3AE-1EBA-B342-A01B-F73CD682E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821"/>
            <a:ext cx="10515600" cy="56425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85CD68C-8915-4841-ACD2-3630A27F5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317A3F9-320C-4017-A986-0FDD20C08303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Copyright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© 2020, 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HEC Montréal.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346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6" r:id="rId1"/>
    <p:sldLayoutId id="2147484037" r:id="rId2"/>
    <p:sldLayoutId id="2147484038" r:id="rId3"/>
    <p:sldLayoutId id="2147484039" r:id="rId4"/>
    <p:sldLayoutId id="2147484040" r:id="rId5"/>
    <p:sldLayoutId id="2147484041" r:id="rId6"/>
    <p:sldLayoutId id="2147484042" r:id="rId7"/>
    <p:sldLayoutId id="2147484043" r:id="rId8"/>
    <p:sldLayoutId id="2147484044" r:id="rId9"/>
    <p:sldLayoutId id="2147484045" r:id="rId10"/>
    <p:sldLayoutId id="2147484046" r:id="rId11"/>
    <p:sldLayoutId id="2147484047" r:id="rId12"/>
    <p:sldLayoutId id="2147484048" r:id="rId13"/>
    <p:sldLayoutId id="2147484049" r:id="rId14"/>
    <p:sldLayoutId id="2147484050" r:id="rId15"/>
    <p:sldLayoutId id="2147484051" r:id="rId16"/>
    <p:sldLayoutId id="2147484052" r:id="rId17"/>
    <p:sldLayoutId id="2147484053" r:id="rId18"/>
    <p:sldLayoutId id="2147484102" r:id="rId19"/>
  </p:sldLayoutIdLst>
  <p:hf hdr="0" ftr="0" dt="0"/>
  <p:txStyles>
    <p:titleStyle>
      <a:lvl1pPr algn="l" defTabSz="914377" rtl="0" eaLnBrk="1" latinLnBrk="0" hangingPunct="1">
        <a:lnSpc>
          <a:spcPts val="4400"/>
        </a:lnSpc>
        <a:spcBef>
          <a:spcPct val="0"/>
        </a:spcBef>
        <a:buNone/>
        <a:defRPr sz="4000" b="1" i="0" kern="1200" cap="none" baseline="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57708" indent="-357708" algn="l" defTabSz="914377" rtl="0" eaLnBrk="1" latinLnBrk="0" hangingPunct="1">
        <a:lnSpc>
          <a:spcPts val="3200"/>
        </a:lnSpc>
        <a:spcBef>
          <a:spcPts val="0"/>
        </a:spcBef>
        <a:spcAft>
          <a:spcPts val="800"/>
        </a:spcAft>
        <a:buFont typeface="Wingdings" pitchFamily="2" charset="2"/>
        <a:buChar char="§"/>
        <a:tabLst/>
        <a:defRPr sz="26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15415" indent="-357708" algn="l" defTabSz="914377" rtl="0" eaLnBrk="1" latinLnBrk="0" hangingPunct="1">
        <a:lnSpc>
          <a:spcPts val="2800"/>
        </a:lnSpc>
        <a:spcBef>
          <a:spcPts val="0"/>
        </a:spcBef>
        <a:spcAft>
          <a:spcPts val="700"/>
        </a:spcAft>
        <a:buFont typeface="Wingdings" pitchFamily="2" charset="2"/>
        <a:buChar char="§"/>
        <a:tabLst/>
        <a:defRPr sz="22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54593" indent="-239178" algn="l" defTabSz="914377" rtl="0" eaLnBrk="1" latinLnBrk="0" hangingPunct="1">
        <a:lnSpc>
          <a:spcPts val="24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8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193770" indent="-239178" algn="l" defTabSz="914377" rtl="0" eaLnBrk="1" latinLnBrk="0" hangingPunct="1">
        <a:lnSpc>
          <a:spcPts val="2000"/>
        </a:lnSpc>
        <a:spcBef>
          <a:spcPts val="0"/>
        </a:spcBef>
        <a:spcAft>
          <a:spcPts val="500"/>
        </a:spcAft>
        <a:buFont typeface="Wingdings" pitchFamily="2" charset="2"/>
        <a:buChar char="§"/>
        <a:tabLst/>
        <a:defRPr sz="14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430831" indent="-237061" algn="l" defTabSz="914377" rtl="0" eaLnBrk="1" latinLnBrk="0" hangingPunct="1">
        <a:lnSpc>
          <a:spcPts val="1600"/>
        </a:lnSpc>
        <a:spcBef>
          <a:spcPts val="0"/>
        </a:spcBef>
        <a:spcAft>
          <a:spcPts val="400"/>
        </a:spcAft>
        <a:buFont typeface="Wingdings" pitchFamily="2" charset="2"/>
        <a:buChar char="§"/>
        <a:tabLst/>
        <a:defRPr sz="10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orient="horz" pos="3162">
          <p15:clr>
            <a:srgbClr val="F26B43"/>
          </p15:clr>
        </p15:guide>
        <p15:guide id="4" pos="396">
          <p15:clr>
            <a:srgbClr val="F26B43"/>
          </p15:clr>
        </p15:guide>
        <p15:guide id="5" pos="5366">
          <p15:clr>
            <a:srgbClr val="F26B43"/>
          </p15:clr>
        </p15:guide>
        <p15:guide id="6" orient="horz" pos="237">
          <p15:clr>
            <a:srgbClr val="F26B43"/>
          </p15:clr>
        </p15:guide>
        <p15:guide id="7" orient="horz" pos="680">
          <p15:clr>
            <a:srgbClr val="F26B43"/>
          </p15:clr>
        </p15:guide>
        <p15:guide id="8" orient="horz" pos="1038">
          <p15:clr>
            <a:srgbClr val="F26B43"/>
          </p15:clr>
        </p15:guide>
        <p15:guide id="9" orient="horz" pos="338">
          <p15:clr>
            <a:srgbClr val="F26B43"/>
          </p15:clr>
        </p15:guide>
        <p15:guide id="10" orient="horz" pos="894">
          <p15:clr>
            <a:srgbClr val="F26B43"/>
          </p15:clr>
        </p15:guide>
        <p15:guide id="11" orient="horz" pos="2890">
          <p15:clr>
            <a:srgbClr val="F26B43"/>
          </p15:clr>
        </p15:guide>
        <p15:guide id="12" pos="618">
          <p15:clr>
            <a:srgbClr val="F26B43"/>
          </p15:clr>
        </p15:guide>
        <p15:guide id="13" pos="1859">
          <p15:clr>
            <a:srgbClr val="F26B43"/>
          </p15:clr>
        </p15:guide>
        <p15:guide id="14" pos="190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56F06D-0BD1-6D4F-AAE3-6DD4CE5C8A3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55033" y="5861725"/>
            <a:ext cx="1845289" cy="126123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29154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1AD6E3AE-1EBA-B342-A01B-F73CD682E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821"/>
            <a:ext cx="10515600" cy="56425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85CD68C-8915-4841-ACD2-3630A27F5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317A3F9-320C-4017-A986-0FDD20C08303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Copyright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© 2020, 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HEC Montréal.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611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  <p:sldLayoutId id="2147484078" r:id="rId21"/>
  </p:sldLayoutIdLst>
  <p:hf hdr="0" ftr="0" dt="0"/>
  <p:txStyles>
    <p:titleStyle>
      <a:lvl1pPr algn="l" defTabSz="914377" rtl="0" eaLnBrk="1" latinLnBrk="0" hangingPunct="1">
        <a:lnSpc>
          <a:spcPts val="4400"/>
        </a:lnSpc>
        <a:spcBef>
          <a:spcPct val="0"/>
        </a:spcBef>
        <a:buNone/>
        <a:defRPr sz="4000" b="1" i="0" kern="1200" cap="none" baseline="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57708" indent="-357708" algn="l" defTabSz="914377" rtl="0" eaLnBrk="1" latinLnBrk="0" hangingPunct="1">
        <a:lnSpc>
          <a:spcPts val="3200"/>
        </a:lnSpc>
        <a:spcBef>
          <a:spcPts val="0"/>
        </a:spcBef>
        <a:spcAft>
          <a:spcPts val="800"/>
        </a:spcAft>
        <a:buFont typeface="Wingdings" pitchFamily="2" charset="2"/>
        <a:buChar char="§"/>
        <a:tabLst/>
        <a:defRPr sz="26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15415" indent="-357708" algn="l" defTabSz="914377" rtl="0" eaLnBrk="1" latinLnBrk="0" hangingPunct="1">
        <a:lnSpc>
          <a:spcPts val="2800"/>
        </a:lnSpc>
        <a:spcBef>
          <a:spcPts val="0"/>
        </a:spcBef>
        <a:spcAft>
          <a:spcPts val="700"/>
        </a:spcAft>
        <a:buFont typeface="Wingdings" pitchFamily="2" charset="2"/>
        <a:buChar char="§"/>
        <a:tabLst/>
        <a:defRPr sz="22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54593" indent="-239178" algn="l" defTabSz="914377" rtl="0" eaLnBrk="1" latinLnBrk="0" hangingPunct="1">
        <a:lnSpc>
          <a:spcPts val="24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8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193770" indent="-239178" algn="l" defTabSz="914377" rtl="0" eaLnBrk="1" latinLnBrk="0" hangingPunct="1">
        <a:lnSpc>
          <a:spcPts val="2000"/>
        </a:lnSpc>
        <a:spcBef>
          <a:spcPts val="0"/>
        </a:spcBef>
        <a:spcAft>
          <a:spcPts val="500"/>
        </a:spcAft>
        <a:buFont typeface="Wingdings" pitchFamily="2" charset="2"/>
        <a:buChar char="§"/>
        <a:tabLst/>
        <a:defRPr sz="14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430831" indent="-237061" algn="l" defTabSz="914377" rtl="0" eaLnBrk="1" latinLnBrk="0" hangingPunct="1">
        <a:lnSpc>
          <a:spcPts val="1600"/>
        </a:lnSpc>
        <a:spcBef>
          <a:spcPts val="0"/>
        </a:spcBef>
        <a:spcAft>
          <a:spcPts val="400"/>
        </a:spcAft>
        <a:buFont typeface="Wingdings" pitchFamily="2" charset="2"/>
        <a:buChar char="§"/>
        <a:tabLst/>
        <a:defRPr sz="10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orient="horz" pos="3162">
          <p15:clr>
            <a:srgbClr val="F26B43"/>
          </p15:clr>
        </p15:guide>
        <p15:guide id="4" pos="396">
          <p15:clr>
            <a:srgbClr val="F26B43"/>
          </p15:clr>
        </p15:guide>
        <p15:guide id="5" pos="5366">
          <p15:clr>
            <a:srgbClr val="F26B43"/>
          </p15:clr>
        </p15:guide>
        <p15:guide id="6" orient="horz" pos="237">
          <p15:clr>
            <a:srgbClr val="F26B43"/>
          </p15:clr>
        </p15:guide>
        <p15:guide id="7" orient="horz" pos="680">
          <p15:clr>
            <a:srgbClr val="F26B43"/>
          </p15:clr>
        </p15:guide>
        <p15:guide id="8" orient="horz" pos="1038">
          <p15:clr>
            <a:srgbClr val="F26B43"/>
          </p15:clr>
        </p15:guide>
        <p15:guide id="9" orient="horz" pos="338">
          <p15:clr>
            <a:srgbClr val="F26B43"/>
          </p15:clr>
        </p15:guide>
        <p15:guide id="10" orient="horz" pos="894">
          <p15:clr>
            <a:srgbClr val="F26B43"/>
          </p15:clr>
        </p15:guide>
        <p15:guide id="11" orient="horz" pos="2890">
          <p15:clr>
            <a:srgbClr val="F26B43"/>
          </p15:clr>
        </p15:guide>
        <p15:guide id="12" pos="618">
          <p15:clr>
            <a:srgbClr val="F26B43"/>
          </p15:clr>
        </p15:guide>
        <p15:guide id="13" pos="1859">
          <p15:clr>
            <a:srgbClr val="F26B43"/>
          </p15:clr>
        </p15:guide>
        <p15:guide id="14" pos="190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>
            <a:extLst>
              <a:ext uri="{FF2B5EF4-FFF2-40B4-BE49-F238E27FC236}">
                <a16:creationId xmlns:a16="http://schemas.microsoft.com/office/drawing/2014/main" id="{CA61AF08-D214-454A-BC6A-065B755FFB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172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 sz="135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1DDB261-D9DB-45EF-A596-48A1E8EFF2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CA" altLang="en-US"/>
              <a:t>Cliquez pour modifier le style du titre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225E6CC-3FBB-4429-9515-00F709E37A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A" altLang="en-US"/>
              <a:t>Cliquez pour modifier les styles du texte du masque</a:t>
            </a:r>
          </a:p>
          <a:p>
            <a:pPr lvl="1"/>
            <a:r>
              <a:rPr lang="fr-CA" altLang="en-US"/>
              <a:t>Deuxième niveau</a:t>
            </a:r>
          </a:p>
          <a:p>
            <a:pPr lvl="2"/>
            <a:r>
              <a:rPr lang="fr-CA" altLang="en-US"/>
              <a:t>Troisième niveau</a:t>
            </a:r>
          </a:p>
          <a:p>
            <a:pPr lvl="3"/>
            <a:r>
              <a:rPr lang="fr-CA" altLang="en-US"/>
              <a:t>Quatrième niveau</a:t>
            </a:r>
          </a:p>
          <a:p>
            <a:pPr lvl="4"/>
            <a:r>
              <a:rPr lang="fr-CA" altLang="en-US"/>
              <a:t>Cinquième niveau</a:t>
            </a:r>
          </a:p>
        </p:txBody>
      </p:sp>
      <p:sp>
        <p:nvSpPr>
          <p:cNvPr id="432133" name="Rectangle 5">
            <a:extLst>
              <a:ext uri="{FF2B5EF4-FFF2-40B4-BE49-F238E27FC236}">
                <a16:creationId xmlns:a16="http://schemas.microsoft.com/office/drawing/2014/main" id="{2B5CE5E1-5C7A-4AB9-867A-3559CAB424E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fr-CA" altLang="en-US"/>
          </a:p>
        </p:txBody>
      </p:sp>
      <p:sp>
        <p:nvSpPr>
          <p:cNvPr id="432135" name="Rectangle 7">
            <a:extLst>
              <a:ext uri="{FF2B5EF4-FFF2-40B4-BE49-F238E27FC236}">
                <a16:creationId xmlns:a16="http://schemas.microsoft.com/office/drawing/2014/main" id="{D0424ED8-465A-4C5D-A741-C6E1A2EC506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DC107B9B-C7A2-4375-AF62-49E79605EC82}" type="slidenum">
              <a:rPr lang="fr-CA" altLang="en-US"/>
              <a:pPr/>
              <a:t>‹N°›</a:t>
            </a:fld>
            <a:endParaRPr lang="fr-CA" altLang="en-US"/>
          </a:p>
        </p:txBody>
      </p:sp>
      <p:grpSp>
        <p:nvGrpSpPr>
          <p:cNvPr id="1031" name="Group 8">
            <a:extLst>
              <a:ext uri="{FF2B5EF4-FFF2-40B4-BE49-F238E27FC236}">
                <a16:creationId xmlns:a16="http://schemas.microsoft.com/office/drawing/2014/main" id="{495F21C3-2170-4252-B21E-AE6C9E195DB8}"/>
              </a:ext>
            </a:extLst>
          </p:cNvPr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1032" name="Oval 9">
              <a:extLst>
                <a:ext uri="{FF2B5EF4-FFF2-40B4-BE49-F238E27FC236}">
                  <a16:creationId xmlns:a16="http://schemas.microsoft.com/office/drawing/2014/main" id="{164C39DF-0FDA-4A87-AA47-310CA97D6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33" name="Oval 10">
              <a:extLst>
                <a:ext uri="{FF2B5EF4-FFF2-40B4-BE49-F238E27FC236}">
                  <a16:creationId xmlns:a16="http://schemas.microsoft.com/office/drawing/2014/main" id="{AA5683F2-0DBE-46A0-8DF1-44B831575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34" name="Oval 11">
              <a:extLst>
                <a:ext uri="{FF2B5EF4-FFF2-40B4-BE49-F238E27FC236}">
                  <a16:creationId xmlns:a16="http://schemas.microsoft.com/office/drawing/2014/main" id="{A17332D1-8114-4158-8FF0-BD7F36D92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35" name="Oval 12">
              <a:extLst>
                <a:ext uri="{FF2B5EF4-FFF2-40B4-BE49-F238E27FC236}">
                  <a16:creationId xmlns:a16="http://schemas.microsoft.com/office/drawing/2014/main" id="{5D985D94-1A72-4539-AF5F-82FB728FED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36" name="Oval 13">
              <a:extLst>
                <a:ext uri="{FF2B5EF4-FFF2-40B4-BE49-F238E27FC236}">
                  <a16:creationId xmlns:a16="http://schemas.microsoft.com/office/drawing/2014/main" id="{55465154-89E2-4AEC-94A3-7E8F1992E1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37" name="Oval 14">
              <a:extLst>
                <a:ext uri="{FF2B5EF4-FFF2-40B4-BE49-F238E27FC236}">
                  <a16:creationId xmlns:a16="http://schemas.microsoft.com/office/drawing/2014/main" id="{F117A7BE-72CE-4727-B4D2-480B82DA2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38" name="Oval 15">
              <a:extLst>
                <a:ext uri="{FF2B5EF4-FFF2-40B4-BE49-F238E27FC236}">
                  <a16:creationId xmlns:a16="http://schemas.microsoft.com/office/drawing/2014/main" id="{5163A905-FB2B-4112-A481-1A5F2AA1B4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39" name="Oval 16">
              <a:extLst>
                <a:ext uri="{FF2B5EF4-FFF2-40B4-BE49-F238E27FC236}">
                  <a16:creationId xmlns:a16="http://schemas.microsoft.com/office/drawing/2014/main" id="{9C8C32AD-2B58-4940-B548-0E411A973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40" name="Oval 17">
              <a:extLst>
                <a:ext uri="{FF2B5EF4-FFF2-40B4-BE49-F238E27FC236}">
                  <a16:creationId xmlns:a16="http://schemas.microsoft.com/office/drawing/2014/main" id="{C0C15518-BBAC-4914-AABE-25A3F5B3B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41" name="Oval 18">
              <a:extLst>
                <a:ext uri="{FF2B5EF4-FFF2-40B4-BE49-F238E27FC236}">
                  <a16:creationId xmlns:a16="http://schemas.microsoft.com/office/drawing/2014/main" id="{D61079E8-FB0A-4EC7-91D0-42130184C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42" name="Oval 19">
              <a:extLst>
                <a:ext uri="{FF2B5EF4-FFF2-40B4-BE49-F238E27FC236}">
                  <a16:creationId xmlns:a16="http://schemas.microsoft.com/office/drawing/2014/main" id="{028CA48A-EF86-4635-B65F-9EB6CCC2D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43" name="Oval 20">
              <a:extLst>
                <a:ext uri="{FF2B5EF4-FFF2-40B4-BE49-F238E27FC236}">
                  <a16:creationId xmlns:a16="http://schemas.microsoft.com/office/drawing/2014/main" id="{C0DB15CF-7CCC-43FE-BA7C-8DA9797AC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44" name="Oval 21">
              <a:extLst>
                <a:ext uri="{FF2B5EF4-FFF2-40B4-BE49-F238E27FC236}">
                  <a16:creationId xmlns:a16="http://schemas.microsoft.com/office/drawing/2014/main" id="{0E68D587-1F1D-4796-B41D-D028B0E6B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45" name="Oval 22">
              <a:extLst>
                <a:ext uri="{FF2B5EF4-FFF2-40B4-BE49-F238E27FC236}">
                  <a16:creationId xmlns:a16="http://schemas.microsoft.com/office/drawing/2014/main" id="{1D931DD0-BA06-4A8F-95E2-F11DD69CA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46" name="Oval 23">
              <a:extLst>
                <a:ext uri="{FF2B5EF4-FFF2-40B4-BE49-F238E27FC236}">
                  <a16:creationId xmlns:a16="http://schemas.microsoft.com/office/drawing/2014/main" id="{2B52A6F3-DBFB-40F5-82B7-A601AEAA7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47" name="Oval 24">
              <a:extLst>
                <a:ext uri="{FF2B5EF4-FFF2-40B4-BE49-F238E27FC236}">
                  <a16:creationId xmlns:a16="http://schemas.microsoft.com/office/drawing/2014/main" id="{AB74ED0B-ABBA-44BA-A037-E5A72BF29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48" name="Oval 25">
              <a:extLst>
                <a:ext uri="{FF2B5EF4-FFF2-40B4-BE49-F238E27FC236}">
                  <a16:creationId xmlns:a16="http://schemas.microsoft.com/office/drawing/2014/main" id="{E01C119A-74A7-4A15-BDA0-701DD49EF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49" name="Oval 26">
              <a:extLst>
                <a:ext uri="{FF2B5EF4-FFF2-40B4-BE49-F238E27FC236}">
                  <a16:creationId xmlns:a16="http://schemas.microsoft.com/office/drawing/2014/main" id="{7EF8FE10-4B0E-4094-8F07-3B922B8E9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50" name="Oval 27">
              <a:extLst>
                <a:ext uri="{FF2B5EF4-FFF2-40B4-BE49-F238E27FC236}">
                  <a16:creationId xmlns:a16="http://schemas.microsoft.com/office/drawing/2014/main" id="{C7B9D42D-A9A7-4CC0-A01D-B931DF570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51" name="Oval 28">
              <a:extLst>
                <a:ext uri="{FF2B5EF4-FFF2-40B4-BE49-F238E27FC236}">
                  <a16:creationId xmlns:a16="http://schemas.microsoft.com/office/drawing/2014/main" id="{9B160098-59C6-4A19-89A3-9FCC06A72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52" name="Oval 29">
              <a:extLst>
                <a:ext uri="{FF2B5EF4-FFF2-40B4-BE49-F238E27FC236}">
                  <a16:creationId xmlns:a16="http://schemas.microsoft.com/office/drawing/2014/main" id="{9FD5317E-DA4A-4E80-9517-23FD4721C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53" name="Oval 30">
              <a:extLst>
                <a:ext uri="{FF2B5EF4-FFF2-40B4-BE49-F238E27FC236}">
                  <a16:creationId xmlns:a16="http://schemas.microsoft.com/office/drawing/2014/main" id="{A1703BEE-53A9-439C-B341-9BF9535D3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54" name="Oval 31">
              <a:extLst>
                <a:ext uri="{FF2B5EF4-FFF2-40B4-BE49-F238E27FC236}">
                  <a16:creationId xmlns:a16="http://schemas.microsoft.com/office/drawing/2014/main" id="{61C36F9C-5E2E-4D03-8555-7EEAAE419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55" name="Oval 32">
              <a:extLst>
                <a:ext uri="{FF2B5EF4-FFF2-40B4-BE49-F238E27FC236}">
                  <a16:creationId xmlns:a16="http://schemas.microsoft.com/office/drawing/2014/main" id="{F5FF6AEA-C5F8-4E4F-AB5A-9B580AEB1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56" name="Oval 33">
              <a:extLst>
                <a:ext uri="{FF2B5EF4-FFF2-40B4-BE49-F238E27FC236}">
                  <a16:creationId xmlns:a16="http://schemas.microsoft.com/office/drawing/2014/main" id="{D0A35F0C-D792-4461-9C17-8A31075DE6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57" name="Oval 34">
              <a:extLst>
                <a:ext uri="{FF2B5EF4-FFF2-40B4-BE49-F238E27FC236}">
                  <a16:creationId xmlns:a16="http://schemas.microsoft.com/office/drawing/2014/main" id="{61433DBC-3CB9-4471-A2B9-65BF8FBFA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58" name="Oval 35">
              <a:extLst>
                <a:ext uri="{FF2B5EF4-FFF2-40B4-BE49-F238E27FC236}">
                  <a16:creationId xmlns:a16="http://schemas.microsoft.com/office/drawing/2014/main" id="{1D522396-FF59-4290-BF79-CF9D5D64B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59" name="Oval 36">
              <a:extLst>
                <a:ext uri="{FF2B5EF4-FFF2-40B4-BE49-F238E27FC236}">
                  <a16:creationId xmlns:a16="http://schemas.microsoft.com/office/drawing/2014/main" id="{9A460130-0DA2-47E8-ADB0-45A7C6BDF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60" name="Oval 37">
              <a:extLst>
                <a:ext uri="{FF2B5EF4-FFF2-40B4-BE49-F238E27FC236}">
                  <a16:creationId xmlns:a16="http://schemas.microsoft.com/office/drawing/2014/main" id="{B1D40121-C64B-4BF5-A604-E9ACCF1FD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61" name="Oval 38">
              <a:extLst>
                <a:ext uri="{FF2B5EF4-FFF2-40B4-BE49-F238E27FC236}">
                  <a16:creationId xmlns:a16="http://schemas.microsoft.com/office/drawing/2014/main" id="{87795572-D271-4FED-B9F7-A91ACF75D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  <p:sp>
          <p:nvSpPr>
            <p:cNvPr id="1062" name="Oval 39">
              <a:extLst>
                <a:ext uri="{FF2B5EF4-FFF2-40B4-BE49-F238E27FC236}">
                  <a16:creationId xmlns:a16="http://schemas.microsoft.com/office/drawing/2014/main" id="{B62B0F4D-2433-42DF-B563-65C6D4B60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CA" altLang="fr-FR" sz="1350"/>
            </a:p>
          </p:txBody>
        </p:sp>
      </p:grpSp>
    </p:spTree>
    <p:extLst>
      <p:ext uri="{BB962C8B-B14F-4D97-AF65-F5344CB8AC3E}">
        <p14:creationId xmlns:p14="http://schemas.microsoft.com/office/powerpoint/2010/main" val="368446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5" r:id="rId1"/>
    <p:sldLayoutId id="2147484106" r:id="rId2"/>
    <p:sldLayoutId id="2147484107" r:id="rId3"/>
    <p:sldLayoutId id="2147484108" r:id="rId4"/>
    <p:sldLayoutId id="2147484109" r:id="rId5"/>
    <p:sldLayoutId id="2147484110" r:id="rId6"/>
    <p:sldLayoutId id="2147484111" r:id="rId7"/>
    <p:sldLayoutId id="2147484112" r:id="rId8"/>
    <p:sldLayoutId id="2147484113" r:id="rId9"/>
    <p:sldLayoutId id="2147484114" r:id="rId10"/>
    <p:sldLayoutId id="214748411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56F06D-0BD1-6D4F-AAE3-6DD4CE5C8A3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955033" y="5861725"/>
            <a:ext cx="1845289" cy="126123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29154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1AD6E3AE-1EBA-B342-A01B-F73CD682E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821"/>
            <a:ext cx="10515600" cy="56425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85CD68C-8915-4841-ACD2-3630A27F5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317A3F9-320C-4017-A986-0FDD20C08303}"/>
              </a:ext>
            </a:extLst>
          </p:cNvPr>
          <p:cNvSpPr txBox="1"/>
          <p:nvPr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Copyright</a:t>
            </a:r>
            <a:r>
              <a:rPr lang="en-US" sz="800" baseline="0">
                <a:solidFill>
                  <a:srgbClr val="003C71"/>
                </a:solidFill>
                <a:latin typeface="Arial"/>
                <a:cs typeface="Arial"/>
              </a:rPr>
              <a:t>© 2020, 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HEC Montréal.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10141527" y="6270914"/>
            <a:ext cx="1381991" cy="2597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400" dirty="0">
                <a:solidFill>
                  <a:schemeClr val="tx1"/>
                </a:solidFill>
              </a:rPr>
              <a:t>Michel Vézina</a:t>
            </a:r>
            <a:endParaRPr lang="fr-FR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476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7" r:id="rId1"/>
    <p:sldLayoutId id="2147484118" r:id="rId2"/>
    <p:sldLayoutId id="2147484119" r:id="rId3"/>
    <p:sldLayoutId id="2147484120" r:id="rId4"/>
    <p:sldLayoutId id="2147484121" r:id="rId5"/>
    <p:sldLayoutId id="2147484122" r:id="rId6"/>
    <p:sldLayoutId id="2147484123" r:id="rId7"/>
    <p:sldLayoutId id="2147484124" r:id="rId8"/>
    <p:sldLayoutId id="2147484125" r:id="rId9"/>
    <p:sldLayoutId id="2147484126" r:id="rId10"/>
    <p:sldLayoutId id="2147484127" r:id="rId11"/>
    <p:sldLayoutId id="2147484128" r:id="rId12"/>
    <p:sldLayoutId id="2147484129" r:id="rId13"/>
    <p:sldLayoutId id="2147484130" r:id="rId14"/>
    <p:sldLayoutId id="2147484131" r:id="rId15"/>
    <p:sldLayoutId id="2147484132" r:id="rId16"/>
    <p:sldLayoutId id="2147484133" r:id="rId17"/>
    <p:sldLayoutId id="2147484134" r:id="rId18"/>
    <p:sldLayoutId id="2147484135" r:id="rId19"/>
    <p:sldLayoutId id="2147484136" r:id="rId20"/>
  </p:sldLayoutIdLst>
  <p:hf hdr="0" dt="0"/>
  <p:txStyles>
    <p:titleStyle>
      <a:lvl1pPr algn="l" defTabSz="914377" rtl="0" eaLnBrk="1" latinLnBrk="0" hangingPunct="1">
        <a:lnSpc>
          <a:spcPts val="4400"/>
        </a:lnSpc>
        <a:spcBef>
          <a:spcPct val="0"/>
        </a:spcBef>
        <a:buNone/>
        <a:defRPr sz="4000" b="1" i="0" kern="1200" cap="none" baseline="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57708" indent="-357708" algn="l" defTabSz="914377" rtl="0" eaLnBrk="1" latinLnBrk="0" hangingPunct="1">
        <a:lnSpc>
          <a:spcPts val="3200"/>
        </a:lnSpc>
        <a:spcBef>
          <a:spcPts val="0"/>
        </a:spcBef>
        <a:spcAft>
          <a:spcPts val="800"/>
        </a:spcAft>
        <a:buFont typeface="Wingdings" pitchFamily="2" charset="2"/>
        <a:buChar char="§"/>
        <a:tabLst/>
        <a:defRPr sz="26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15415" indent="-357708" algn="l" defTabSz="914377" rtl="0" eaLnBrk="1" latinLnBrk="0" hangingPunct="1">
        <a:lnSpc>
          <a:spcPts val="2800"/>
        </a:lnSpc>
        <a:spcBef>
          <a:spcPts val="0"/>
        </a:spcBef>
        <a:spcAft>
          <a:spcPts val="700"/>
        </a:spcAft>
        <a:buFont typeface="Wingdings" pitchFamily="2" charset="2"/>
        <a:buChar char="§"/>
        <a:tabLst/>
        <a:defRPr sz="22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54593" indent="-239178" algn="l" defTabSz="914377" rtl="0" eaLnBrk="1" latinLnBrk="0" hangingPunct="1">
        <a:lnSpc>
          <a:spcPts val="24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8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193770" indent="-239178" algn="l" defTabSz="914377" rtl="0" eaLnBrk="1" latinLnBrk="0" hangingPunct="1">
        <a:lnSpc>
          <a:spcPts val="2000"/>
        </a:lnSpc>
        <a:spcBef>
          <a:spcPts val="0"/>
        </a:spcBef>
        <a:spcAft>
          <a:spcPts val="500"/>
        </a:spcAft>
        <a:buFont typeface="Wingdings" pitchFamily="2" charset="2"/>
        <a:buChar char="§"/>
        <a:tabLst/>
        <a:defRPr sz="14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430831" indent="-237061" algn="l" defTabSz="914377" rtl="0" eaLnBrk="1" latinLnBrk="0" hangingPunct="1">
        <a:lnSpc>
          <a:spcPts val="1600"/>
        </a:lnSpc>
        <a:spcBef>
          <a:spcPts val="0"/>
        </a:spcBef>
        <a:spcAft>
          <a:spcPts val="400"/>
        </a:spcAft>
        <a:buFont typeface="Wingdings" pitchFamily="2" charset="2"/>
        <a:buChar char="§"/>
        <a:tabLst/>
        <a:defRPr sz="10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orient="horz" pos="3162">
          <p15:clr>
            <a:srgbClr val="F26B43"/>
          </p15:clr>
        </p15:guide>
        <p15:guide id="3" pos="396">
          <p15:clr>
            <a:srgbClr val="F26B43"/>
          </p15:clr>
        </p15:guide>
        <p15:guide id="4" pos="5366">
          <p15:clr>
            <a:srgbClr val="F26B43"/>
          </p15:clr>
        </p15:guide>
        <p15:guide id="5" orient="horz" pos="237">
          <p15:clr>
            <a:srgbClr val="F26B43"/>
          </p15:clr>
        </p15:guide>
        <p15:guide id="6" orient="horz" pos="680">
          <p15:clr>
            <a:srgbClr val="F26B43"/>
          </p15:clr>
        </p15:guide>
        <p15:guide id="7" orient="horz" pos="1038">
          <p15:clr>
            <a:srgbClr val="F26B43"/>
          </p15:clr>
        </p15:guide>
        <p15:guide id="8" orient="horz" pos="338">
          <p15:clr>
            <a:srgbClr val="F26B43"/>
          </p15:clr>
        </p15:guide>
        <p15:guide id="9" orient="horz" pos="894">
          <p15:clr>
            <a:srgbClr val="F26B43"/>
          </p15:clr>
        </p15:guide>
        <p15:guide id="10" orient="horz" pos="2890">
          <p15:clr>
            <a:srgbClr val="F26B43"/>
          </p15:clr>
        </p15:guide>
        <p15:guide id="11" pos="618">
          <p15:clr>
            <a:srgbClr val="F26B43"/>
          </p15:clr>
        </p15:guide>
        <p15:guide id="12" pos="1859">
          <p15:clr>
            <a:srgbClr val="F26B43"/>
          </p15:clr>
        </p15:guide>
        <p15:guide id="13" pos="1905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B9F18B9-9E5D-4B74-AD2E-A338EC337F5C}" type="datetime1">
              <a:rPr lang="fr-CA" smtClean="0"/>
              <a:t>2025-04-03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CA"/>
              <a:t>(C)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EB25B09-B9A6-4811-8700-6D36B9CE20D1}" type="slidenum">
              <a:rPr lang="fr-CA" smtClean="0"/>
              <a:t>‹N°›</a:t>
            </a:fld>
            <a:endParaRPr lang="fr-CA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687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8" r:id="rId1"/>
    <p:sldLayoutId id="2147484139" r:id="rId2"/>
    <p:sldLayoutId id="2147484140" r:id="rId3"/>
    <p:sldLayoutId id="2147484141" r:id="rId4"/>
    <p:sldLayoutId id="2147484142" r:id="rId5"/>
    <p:sldLayoutId id="2147484143" r:id="rId6"/>
    <p:sldLayoutId id="2147484144" r:id="rId7"/>
    <p:sldLayoutId id="2147484145" r:id="rId8"/>
    <p:sldLayoutId id="2147484146" r:id="rId9"/>
    <p:sldLayoutId id="2147484147" r:id="rId10"/>
    <p:sldLayoutId id="2147484148" r:id="rId11"/>
    <p:sldLayoutId id="2147484149" r:id="rId12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sa/3.0/" TargetMode="External"/><Relationship Id="rId3" Type="http://schemas.openxmlformats.org/officeDocument/2006/relationships/tags" Target="../tags/tag6.xml"/><Relationship Id="rId7" Type="http://schemas.openxmlformats.org/officeDocument/2006/relationships/hyperlink" Target="https://commons.wikimedia.org/wiki/File:Accountancy_template.svg" TargetMode="Externa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18" Type="http://schemas.openxmlformats.org/officeDocument/2006/relationships/slideLayout" Target="../slideLayouts/slideLayout70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17" Type="http://schemas.openxmlformats.org/officeDocument/2006/relationships/tags" Target="../tags/tag30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tags" Target="../tags/tag28.xml"/><Relationship Id="rId10" Type="http://schemas.openxmlformats.org/officeDocument/2006/relationships/tags" Target="../tags/tag23.xml"/><Relationship Id="rId19" Type="http://schemas.openxmlformats.org/officeDocument/2006/relationships/notesSlide" Target="../notesSlides/notesSlide4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tags" Target="../tags/tag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43.xml"/><Relationship Id="rId18" Type="http://schemas.openxmlformats.org/officeDocument/2006/relationships/tags" Target="../tags/tag48.xml"/><Relationship Id="rId26" Type="http://schemas.openxmlformats.org/officeDocument/2006/relationships/tags" Target="../tags/tag56.xml"/><Relationship Id="rId39" Type="http://schemas.openxmlformats.org/officeDocument/2006/relationships/tags" Target="../tags/tag69.xml"/><Relationship Id="rId21" Type="http://schemas.openxmlformats.org/officeDocument/2006/relationships/tags" Target="../tags/tag51.xml"/><Relationship Id="rId34" Type="http://schemas.openxmlformats.org/officeDocument/2006/relationships/tags" Target="../tags/tag64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6" Type="http://schemas.openxmlformats.org/officeDocument/2006/relationships/tags" Target="../tags/tag46.xml"/><Relationship Id="rId20" Type="http://schemas.openxmlformats.org/officeDocument/2006/relationships/tags" Target="../tags/tag50.xml"/><Relationship Id="rId29" Type="http://schemas.openxmlformats.org/officeDocument/2006/relationships/tags" Target="../tags/tag59.xml"/><Relationship Id="rId41" Type="http://schemas.openxmlformats.org/officeDocument/2006/relationships/notesSlide" Target="../notesSlides/notesSlide9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24" Type="http://schemas.openxmlformats.org/officeDocument/2006/relationships/tags" Target="../tags/tag54.xml"/><Relationship Id="rId32" Type="http://schemas.openxmlformats.org/officeDocument/2006/relationships/tags" Target="../tags/tag62.xml"/><Relationship Id="rId37" Type="http://schemas.openxmlformats.org/officeDocument/2006/relationships/tags" Target="../tags/tag67.xml"/><Relationship Id="rId40" Type="http://schemas.openxmlformats.org/officeDocument/2006/relationships/slideLayout" Target="../slideLayouts/slideLayout75.xml"/><Relationship Id="rId5" Type="http://schemas.openxmlformats.org/officeDocument/2006/relationships/tags" Target="../tags/tag35.xml"/><Relationship Id="rId15" Type="http://schemas.openxmlformats.org/officeDocument/2006/relationships/tags" Target="../tags/tag45.xml"/><Relationship Id="rId23" Type="http://schemas.openxmlformats.org/officeDocument/2006/relationships/tags" Target="../tags/tag53.xml"/><Relationship Id="rId28" Type="http://schemas.openxmlformats.org/officeDocument/2006/relationships/tags" Target="../tags/tag58.xml"/><Relationship Id="rId36" Type="http://schemas.openxmlformats.org/officeDocument/2006/relationships/tags" Target="../tags/tag66.xml"/><Relationship Id="rId10" Type="http://schemas.openxmlformats.org/officeDocument/2006/relationships/tags" Target="../tags/tag40.xml"/><Relationship Id="rId19" Type="http://schemas.openxmlformats.org/officeDocument/2006/relationships/tags" Target="../tags/tag49.xml"/><Relationship Id="rId31" Type="http://schemas.openxmlformats.org/officeDocument/2006/relationships/tags" Target="../tags/tag61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Relationship Id="rId22" Type="http://schemas.openxmlformats.org/officeDocument/2006/relationships/tags" Target="../tags/tag52.xml"/><Relationship Id="rId27" Type="http://schemas.openxmlformats.org/officeDocument/2006/relationships/tags" Target="../tags/tag57.xml"/><Relationship Id="rId30" Type="http://schemas.openxmlformats.org/officeDocument/2006/relationships/tags" Target="../tags/tag60.xml"/><Relationship Id="rId35" Type="http://schemas.openxmlformats.org/officeDocument/2006/relationships/tags" Target="../tags/tag65.xml"/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12" Type="http://schemas.openxmlformats.org/officeDocument/2006/relationships/tags" Target="../tags/tag42.xml"/><Relationship Id="rId17" Type="http://schemas.openxmlformats.org/officeDocument/2006/relationships/tags" Target="../tags/tag47.xml"/><Relationship Id="rId25" Type="http://schemas.openxmlformats.org/officeDocument/2006/relationships/tags" Target="../tags/tag55.xml"/><Relationship Id="rId33" Type="http://schemas.openxmlformats.org/officeDocument/2006/relationships/tags" Target="../tags/tag63.xml"/><Relationship Id="rId38" Type="http://schemas.openxmlformats.org/officeDocument/2006/relationships/tags" Target="../tags/tag6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73.xml"/><Relationship Id="rId6" Type="http://schemas.openxmlformats.org/officeDocument/2006/relationships/comments" Target="../comments/comment4.xml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7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6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image" Target="../media/image11.png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6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97280" y="758952"/>
            <a:ext cx="5438602" cy="3566160"/>
          </a:xfrm>
        </p:spPr>
        <p:txBody>
          <a:bodyPr>
            <a:normAutofit/>
          </a:bodyPr>
          <a:lstStyle/>
          <a:p>
            <a:r>
              <a:rPr lang="fr-CA" b="1" dirty="0"/>
              <a:t>Contrôle de gestion stratégique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84219" y="4476640"/>
            <a:ext cx="11023561" cy="1716567"/>
          </a:xfrm>
        </p:spPr>
        <p:txBody>
          <a:bodyPr>
            <a:noAutofit/>
          </a:bodyPr>
          <a:lstStyle/>
          <a:p>
            <a:endParaRPr lang="fr-CA" sz="1000" b="1" dirty="0"/>
          </a:p>
          <a:p>
            <a:r>
              <a:rPr lang="fr-CA" sz="2800" b="1" dirty="0"/>
              <a:t>Séance 10: Mettre en place un processus budgétaire performant – planification et contrôle</a:t>
            </a:r>
          </a:p>
          <a:p>
            <a:endParaRPr lang="fr-CA" sz="1000" b="1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E068EDA-5C8B-4326-A59D-AE56A3FE3BA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</a:t>
            </a:fld>
            <a:endParaRPr lang="fr-CA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6901D0F-C783-4074-8F7B-45848A239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787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CA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C077B8B-FF9F-4EF0-9566-13919692667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7045036" y="882639"/>
            <a:ext cx="3841173" cy="3841173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4F6FD9C1-7C69-47B8-B166-502133AD7624}"/>
              </a:ext>
            </a:extLst>
          </p:cNvPr>
          <p:cNvSpPr txBox="1"/>
          <p:nvPr/>
        </p:nvSpPr>
        <p:spPr>
          <a:xfrm>
            <a:off x="2667000" y="6963972"/>
            <a:ext cx="2653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900">
                <a:hlinkClick r:id="rId7" tooltip="https://commons.wikimedia.org/wiki/File:Accountancy_template.svg"/>
              </a:rPr>
              <a:t>Cette photo</a:t>
            </a:r>
            <a:r>
              <a:rPr lang="fr-CA" sz="900"/>
              <a:t> par Auteur inconnu est soumise à la licence </a:t>
            </a:r>
            <a:r>
              <a:rPr lang="fr-CA" sz="900">
                <a:hlinkClick r:id="rId8" tooltip="https://creativecommons.org/licenses/by-sa/3.0/"/>
              </a:rPr>
              <a:t>CC BY-SA</a:t>
            </a:r>
            <a:endParaRPr lang="fr-CA" sz="900"/>
          </a:p>
        </p:txBody>
      </p:sp>
    </p:spTree>
    <p:extLst>
      <p:ext uri="{BB962C8B-B14F-4D97-AF65-F5344CB8AC3E}">
        <p14:creationId xmlns:p14="http://schemas.microsoft.com/office/powerpoint/2010/main" val="4159150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174173" y="650205"/>
            <a:ext cx="10029558" cy="1128514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fr-CA" dirty="0"/>
              <a:t>Plan du module gestion budgétaire</a:t>
            </a:r>
            <a:br>
              <a:rPr lang="fr-CA" dirty="0"/>
            </a:br>
            <a:endParaRPr lang="fr-CA" dirty="0"/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20520740"/>
              </p:ext>
            </p:extLst>
          </p:nvPr>
        </p:nvGraphicFramePr>
        <p:xfrm>
          <a:off x="2212771" y="2084586"/>
          <a:ext cx="7952362" cy="276173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65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6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1974">
                <a:tc>
                  <a:txBody>
                    <a:bodyPr/>
                    <a:lstStyle/>
                    <a:p>
                      <a:r>
                        <a:rPr lang="fr-CA" sz="2800" b="1" dirty="0">
                          <a:solidFill>
                            <a:srgbClr val="FF0000"/>
                          </a:solidFill>
                          <a:latin typeface="+mj-lt"/>
                        </a:rPr>
                        <a:t>Volet 1</a:t>
                      </a:r>
                      <a:endParaRPr lang="fr-CA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2800" b="0" dirty="0">
                          <a:solidFill>
                            <a:schemeClr val="tx1"/>
                          </a:solidFill>
                          <a:latin typeface="+mj-lt"/>
                        </a:rPr>
                        <a:t>Le budget, outil central du processus de planification et de contrôle</a:t>
                      </a:r>
                      <a:endParaRPr lang="fr-CA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1974">
                <a:tc>
                  <a:txBody>
                    <a:bodyPr/>
                    <a:lstStyle/>
                    <a:p>
                      <a:r>
                        <a:rPr lang="fr-CA" sz="2800" b="1" dirty="0">
                          <a:solidFill>
                            <a:srgbClr val="FF0000"/>
                          </a:solidFill>
                          <a:latin typeface="+mj-lt"/>
                        </a:rPr>
                        <a:t>Volet 2 </a:t>
                      </a:r>
                      <a:endParaRPr lang="fr-CA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2800" b="0" dirty="0">
                          <a:solidFill>
                            <a:schemeClr val="tx1"/>
                          </a:solidFill>
                          <a:latin typeface="+mj-lt"/>
                        </a:rPr>
                        <a:t>Le contrôle budgétaire, exercice indissociable du processus de planification</a:t>
                      </a:r>
                      <a:endParaRPr lang="fr-CA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974">
                <a:tc>
                  <a:txBody>
                    <a:bodyPr/>
                    <a:lstStyle/>
                    <a:p>
                      <a:r>
                        <a:rPr lang="fr-CA" sz="2800" b="1" dirty="0">
                          <a:solidFill>
                            <a:srgbClr val="FF0000"/>
                          </a:solidFill>
                          <a:latin typeface="+mj-lt"/>
                        </a:rPr>
                        <a:t>Volet 3</a:t>
                      </a:r>
                      <a:endParaRPr lang="fr-CA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2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Processus budgétaire: enjeux particuliers</a:t>
                      </a:r>
                      <a:endParaRPr lang="fr-CA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38202" y="6524902"/>
            <a:ext cx="167999" cy="167999"/>
          </a:xfrm>
        </p:spPr>
        <p:txBody>
          <a:bodyPr/>
          <a:lstStyle/>
          <a:p>
            <a:r>
              <a:rPr lang="fr-CA" dirty="0"/>
              <a:t>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1025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290944" y="682336"/>
            <a:ext cx="11461174" cy="1941594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buClr>
                <a:schemeClr val="accent2"/>
              </a:buClr>
              <a:buFont typeface="Symbol" panose="05050102010706020507" pitchFamily="18" charset="2"/>
              <a:buNone/>
            </a:pPr>
            <a:r>
              <a:rPr kumimoji="1" lang="fr-CA" altLang="fr-FR" sz="2800" dirty="0">
                <a:solidFill>
                  <a:srgbClr val="FF0000"/>
                </a:solidFill>
                <a:latin typeface="Arial Black" panose="020B0A04020102020204" pitchFamily="34" charset="0"/>
              </a:rPr>
              <a:t>Volet 1: </a:t>
            </a:r>
          </a:p>
          <a:p>
            <a:r>
              <a:rPr lang="fr-CA" sz="2800" b="0" dirty="0">
                <a:solidFill>
                  <a:schemeClr val="tx1"/>
                </a:solidFill>
                <a:latin typeface="Arial Black" panose="020B0A04020102020204" pitchFamily="34" charset="0"/>
              </a:rPr>
              <a:t>Le Budget, outil central du processus de planification et de contrôle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73B90A62-6D41-41F7-B122-D18519B9449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3</a:t>
            </a:fld>
            <a:endParaRPr lang="fr-CA"/>
          </a:p>
        </p:txBody>
      </p:sp>
      <p:sp>
        <p:nvSpPr>
          <p:cNvPr id="17" name="ZoneTexte 5">
            <a:extLst>
              <a:ext uri="{FF2B5EF4-FFF2-40B4-BE49-F238E27FC236}">
                <a16:creationId xmlns:a16="http://schemas.microsoft.com/office/drawing/2014/main" id="{481F9457-50CB-45AB-8899-C68C9CC6FF55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0611" y="3213670"/>
            <a:ext cx="533399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r>
              <a:rPr lang="fr-CA" altLang="fr-FR" sz="2000" b="1" dirty="0">
                <a:solidFill>
                  <a:srgbClr val="FF0000"/>
                </a:solidFill>
                <a:latin typeface="Clarendon" pitchFamily="18" charset="0"/>
              </a:rPr>
              <a:t>Objectif d’apprentissage</a:t>
            </a:r>
            <a:r>
              <a:rPr lang="fr-CA" altLang="fr-FR" sz="2000" dirty="0">
                <a:latin typeface="Clarendon" pitchFamily="18" charset="0"/>
              </a:rPr>
              <a:t>:</a:t>
            </a:r>
          </a:p>
          <a:p>
            <a:r>
              <a:rPr lang="fr-CA" altLang="fr-FR" sz="2000" dirty="0">
                <a:latin typeface="Clarendon" pitchFamily="18" charset="0"/>
              </a:rPr>
              <a:t>Comprendre le fonctionnement du budget et la place qu’il occupe dans la planification stratégique</a:t>
            </a:r>
          </a:p>
        </p:txBody>
      </p:sp>
    </p:spTree>
    <p:extLst>
      <p:ext uri="{BB962C8B-B14F-4D97-AF65-F5344CB8AC3E}">
        <p14:creationId xmlns:p14="http://schemas.microsoft.com/office/powerpoint/2010/main" val="2052773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522514" y="218157"/>
            <a:ext cx="10699216" cy="1128514"/>
          </a:xfr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fr-CA" dirty="0"/>
              <a:t>La place du budget dans la planification stratégique</a:t>
            </a:r>
          </a:p>
        </p:txBody>
      </p:sp>
      <p:sp>
        <p:nvSpPr>
          <p:cNvPr id="3994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944865" y="1412876"/>
            <a:ext cx="2952750" cy="5048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alt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Mission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alt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Pourquoi existons-nous</a:t>
            </a:r>
            <a:r>
              <a:rPr kumimoji="0" lang="fr-CA" alt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?</a:t>
            </a:r>
          </a:p>
        </p:txBody>
      </p:sp>
      <p:sp>
        <p:nvSpPr>
          <p:cNvPr id="39942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297166" y="1917701"/>
            <a:ext cx="4103687" cy="5762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alt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Valeurs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alt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Qu’est-ce qui est important pour nous?</a:t>
            </a:r>
          </a:p>
        </p:txBody>
      </p:sp>
      <p:sp>
        <p:nvSpPr>
          <p:cNvPr id="39943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936802" y="2493964"/>
            <a:ext cx="4895850" cy="50323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alt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Vision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alt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Que veut-on devenir?</a:t>
            </a:r>
          </a:p>
        </p:txBody>
      </p:sp>
      <p:sp>
        <p:nvSpPr>
          <p:cNvPr id="39944" name="Rectangl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576440" y="2997201"/>
            <a:ext cx="5759450" cy="5048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alt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Stratégie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alt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Quel est notre plan de match?</a:t>
            </a:r>
          </a:p>
        </p:txBody>
      </p:sp>
      <p:sp>
        <p:nvSpPr>
          <p:cNvPr id="39945" name="Rectangle 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144640" y="3502026"/>
            <a:ext cx="6551612" cy="574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fr-CA" altLang="fr-FR" sz="1800" b="1" dirty="0">
                <a:solidFill>
                  <a:srgbClr val="FFFFFF"/>
                </a:solidFill>
                <a:latin typeface="Calibri Light" panose="020F0302020204030204"/>
              </a:rPr>
              <a:t>Carte stratégique et tableau de bord</a:t>
            </a:r>
          </a:p>
          <a:p>
            <a:pPr algn="ctr" defTabSz="914400"/>
            <a:r>
              <a:rPr lang="fr-CA" altLang="fr-FR" sz="1800" dirty="0">
                <a:solidFill>
                  <a:srgbClr val="FFFFFF"/>
                </a:solidFill>
                <a:latin typeface="Calibri Light" panose="020F0302020204030204"/>
              </a:rPr>
              <a:t>Quels sont nos objectifs, nos indicateurs, nos cibles et nos moyens?</a:t>
            </a:r>
          </a:p>
        </p:txBody>
      </p:sp>
      <p:sp>
        <p:nvSpPr>
          <p:cNvPr id="39946" name="Rectangle 1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712841" y="4076700"/>
            <a:ext cx="7272337" cy="50323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fr-CA" altLang="fr-FR" sz="1800" b="1" dirty="0">
                <a:solidFill>
                  <a:srgbClr val="003C71"/>
                </a:solidFill>
                <a:latin typeface="Calibri Light" panose="020F0302020204030204"/>
              </a:rPr>
              <a:t>Budgets</a:t>
            </a:r>
          </a:p>
          <a:p>
            <a:pPr algn="ctr" defTabSz="914400"/>
            <a:r>
              <a:rPr lang="fr-CA" altLang="fr-FR" sz="1800" dirty="0">
                <a:solidFill>
                  <a:srgbClr val="003C71"/>
                </a:solidFill>
                <a:latin typeface="Calibri Light" panose="020F0302020204030204"/>
              </a:rPr>
              <a:t>Quels sont les impacts financiers et les ressources requises?</a:t>
            </a:r>
          </a:p>
        </p:txBody>
      </p:sp>
      <p:sp>
        <p:nvSpPr>
          <p:cNvPr id="39947" name="Rectangle 1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352478" y="4581525"/>
            <a:ext cx="7777163" cy="50323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alt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Personnel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alt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Comment contribuer à l’atteinte des objectifs organisationnels?</a:t>
            </a:r>
          </a:p>
        </p:txBody>
      </p:sp>
      <p:sp>
        <p:nvSpPr>
          <p:cNvPr id="39948" name="Rectangle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063552" y="5300663"/>
            <a:ext cx="8642350" cy="11525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itchFamily="34" charset="0"/>
                <a:ea typeface="+mn-ea"/>
                <a:cs typeface="+mn-cs"/>
              </a:rPr>
              <a:t>Résultats stratégiques mesurés dans le tableau de bord prospectif</a:t>
            </a:r>
          </a:p>
        </p:txBody>
      </p:sp>
      <p:sp>
        <p:nvSpPr>
          <p:cNvPr id="39949" name="Oval 1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065264" y="5662614"/>
            <a:ext cx="1944688" cy="719137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alt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Bailleurs de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alt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fonds satisfaits</a:t>
            </a:r>
          </a:p>
        </p:txBody>
      </p:sp>
      <p:sp>
        <p:nvSpPr>
          <p:cNvPr id="39950" name="Oval 14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152828" y="5589589"/>
            <a:ext cx="1944687" cy="790575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alt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Clients/bénéficiaires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alt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satisfaits</a:t>
            </a:r>
          </a:p>
        </p:txBody>
      </p:sp>
      <p:sp>
        <p:nvSpPr>
          <p:cNvPr id="39951" name="Oval 15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457878" y="5661025"/>
            <a:ext cx="1944687" cy="719138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alt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Processus efficaces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alt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et efficients</a:t>
            </a:r>
          </a:p>
        </p:txBody>
      </p:sp>
      <p:sp>
        <p:nvSpPr>
          <p:cNvPr id="39952" name="Oval 16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8474003" y="5589589"/>
            <a:ext cx="2160587" cy="790575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alt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Main-d’œuvre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alt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motivée et compétente</a:t>
            </a:r>
          </a:p>
        </p:txBody>
      </p:sp>
      <p:sp>
        <p:nvSpPr>
          <p:cNvPr id="39953" name="AutoShape 17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024365" y="5084764"/>
            <a:ext cx="576262" cy="215899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altLang="fr-F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B25B09-B9A6-4811-8700-6D36B9CE20D1}" type="slidenum">
              <a:rPr kumimoji="0" lang="fr-CA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CA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32C330-3DA2-10B0-0B87-B459AB58FD2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(c) Michel Vézina adapté par Claude Laurin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4038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26">
            <a:extLst>
              <a:ext uri="{FF2B5EF4-FFF2-40B4-BE49-F238E27FC236}">
                <a16:creationId xmlns:a16="http://schemas.microsoft.com/office/drawing/2014/main" id="{9EBE3219-3928-43AA-9007-4006514CCC4A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>
          <a:xfrm>
            <a:off x="838199" y="482601"/>
            <a:ext cx="11112795" cy="686980"/>
          </a:xfrm>
        </p:spPr>
        <p:txBody>
          <a:bodyPr>
            <a:noAutofit/>
          </a:bodyPr>
          <a:lstStyle/>
          <a:p>
            <a:r>
              <a:rPr lang="fr-CA" altLang="fr-FR" sz="4400" cap="none" dirty="0">
                <a:solidFill>
                  <a:schemeClr val="accent1"/>
                </a:solidFill>
                <a:ea typeface="+mj-ea"/>
              </a:rPr>
              <a:t>Les composantes et rôles du budget</a:t>
            </a:r>
          </a:p>
        </p:txBody>
      </p:sp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A34F08E9-FDCC-47EB-A079-56724C1F3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</p:spPr>
        <p:txBody>
          <a:bodyPr anchor="ctr">
            <a:normAutofit/>
          </a:bodyPr>
          <a:lstStyle/>
          <a:p>
            <a:pPr marL="0" marR="0" lvl="0" indent="0" defTabSz="6858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EB25B09-B9A6-4811-8700-6D36B9CE20D1}" type="slidenum">
              <a:rPr kumimoji="0" lang="fr-CA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L="0" marR="0" lvl="0" indent="0" defTabSz="6858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CA" b="1" i="0" u="none" strike="noStrike" kern="120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graphicFrame>
        <p:nvGraphicFramePr>
          <p:cNvPr id="48147" name="Rectangle 1027">
            <a:extLst>
              <a:ext uri="{FF2B5EF4-FFF2-40B4-BE49-F238E27FC236}">
                <a16:creationId xmlns:a16="http://schemas.microsoft.com/office/drawing/2014/main" id="{5CB68647-D8B1-E198-E8E3-729DADE276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7233478"/>
              </p:ext>
            </p:extLst>
          </p:nvPr>
        </p:nvGraphicFramePr>
        <p:xfrm>
          <a:off x="487326" y="1286244"/>
          <a:ext cx="10515600" cy="523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63648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26">
            <a:extLst>
              <a:ext uri="{FF2B5EF4-FFF2-40B4-BE49-F238E27FC236}">
                <a16:creationId xmlns:a16="http://schemas.microsoft.com/office/drawing/2014/main" id="{9EBE3219-3928-43AA-9007-4006514CCC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552254"/>
            <a:ext cx="10515600" cy="564257"/>
          </a:xfrm>
        </p:spPr>
        <p:txBody>
          <a:bodyPr wrap="square" anchor="ctr">
            <a:normAutofit/>
          </a:bodyPr>
          <a:lstStyle/>
          <a:p>
            <a:r>
              <a:rPr lang="fr-CA" altLang="fr-FR" sz="2200" dirty="0"/>
              <a:t>Les composantes et rôles du budget – </a:t>
            </a:r>
            <a:r>
              <a:rPr lang="fr-CA" altLang="fr-F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Importantes mises en garde!</a:t>
            </a:r>
          </a:p>
        </p:txBody>
      </p:sp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A34F08E9-FDCC-47EB-A079-56724C1F3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2" y="6524902"/>
            <a:ext cx="167999" cy="167999"/>
          </a:xfrm>
        </p:spPr>
        <p:txBody>
          <a:bodyPr anchor="ctr">
            <a:normAutofit/>
          </a:bodyPr>
          <a:lstStyle/>
          <a:p>
            <a:pPr marL="0" marR="0" lvl="0" indent="0" defTabSz="6858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EB25B09-B9A6-4811-8700-6D36B9CE20D1}" type="slidenum">
              <a:rPr kumimoji="0" lang="fr-CA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L="0" marR="0" lvl="0" indent="0" defTabSz="6858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CA" b="1" i="0" u="none" strike="noStrike" kern="120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graphicFrame>
        <p:nvGraphicFramePr>
          <p:cNvPr id="48133" name="Rectangle 1027">
            <a:extLst>
              <a:ext uri="{FF2B5EF4-FFF2-40B4-BE49-F238E27FC236}">
                <a16:creationId xmlns:a16="http://schemas.microsoft.com/office/drawing/2014/main" id="{B2AE3C0D-B4FA-41E3-E505-D8512155D2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5970723"/>
              </p:ext>
            </p:extLst>
          </p:nvPr>
        </p:nvGraphicFramePr>
        <p:xfrm>
          <a:off x="838200" y="1360968"/>
          <a:ext cx="10515600" cy="475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2717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26">
            <a:extLst>
              <a:ext uri="{FF2B5EF4-FFF2-40B4-BE49-F238E27FC236}">
                <a16:creationId xmlns:a16="http://schemas.microsoft.com/office/drawing/2014/main" id="{9EBE3219-3928-43AA-9007-4006514CCC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9304" y="458704"/>
            <a:ext cx="10515600" cy="564257"/>
          </a:xfrm>
        </p:spPr>
        <p:txBody>
          <a:bodyPr wrap="square" anchor="ctr">
            <a:normAutofit/>
          </a:bodyPr>
          <a:lstStyle/>
          <a:p>
            <a:r>
              <a:rPr lang="fr-CA" altLang="fr-FR" dirty="0"/>
              <a:t>Le budget des investissements</a:t>
            </a:r>
          </a:p>
        </p:txBody>
      </p:sp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A34F08E9-FDCC-47EB-A079-56724C1F3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</p:spPr>
        <p:txBody>
          <a:bodyPr anchor="ctr">
            <a:normAutofit/>
          </a:bodyPr>
          <a:lstStyle/>
          <a:p>
            <a:pPr marL="0" marR="0" lvl="0" indent="0" defTabSz="6858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EB25B09-B9A6-4811-8700-6D36B9CE20D1}" type="slidenum">
              <a:rPr kumimoji="0" lang="fr-CA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L="0" marR="0" lvl="0" indent="0" defTabSz="6858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CA" b="1" i="0" u="none" strike="noStrike" kern="120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graphicFrame>
        <p:nvGraphicFramePr>
          <p:cNvPr id="48148" name="Rectangle 1027">
            <a:extLst>
              <a:ext uri="{FF2B5EF4-FFF2-40B4-BE49-F238E27FC236}">
                <a16:creationId xmlns:a16="http://schemas.microsoft.com/office/drawing/2014/main" id="{E16CE9B7-8F56-B2BD-29C1-4996C0E1A0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6422142"/>
              </p:ext>
            </p:extLst>
          </p:nvPr>
        </p:nvGraphicFramePr>
        <p:xfrm>
          <a:off x="616688" y="1605516"/>
          <a:ext cx="10737112" cy="49193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70108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E6B980-5F2D-4D9C-B97E-D2675F04AF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B25B09-B9A6-4811-8700-6D36B9CE20D1}" type="slidenum">
              <a:rPr lang="fr-CA" smtClean="0"/>
              <a:pPr>
                <a:spcAft>
                  <a:spcPts val="600"/>
                </a:spcAft>
              </a:pPr>
              <a:t>8</a:t>
            </a:fld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0DA2217-02FB-4B36-B8BF-C4767BFEE0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/>
          <a:p>
            <a:r>
              <a:rPr lang="fr-CA" sz="4000" cap="none" dirty="0">
                <a:solidFill>
                  <a:schemeClr val="accent1"/>
                </a:solidFill>
                <a:ea typeface="+mj-ea"/>
              </a:rPr>
              <a:t>Le budget d’exploitation</a:t>
            </a:r>
          </a:p>
        </p:txBody>
      </p:sp>
      <p:graphicFrame>
        <p:nvGraphicFramePr>
          <p:cNvPr id="6" name="Espace réservé du contenu 2">
            <a:extLst>
              <a:ext uri="{FF2B5EF4-FFF2-40B4-BE49-F238E27FC236}">
                <a16:creationId xmlns:a16="http://schemas.microsoft.com/office/drawing/2014/main" id="{1ED66694-9AE1-1296-FC5E-62EC3EE595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866659"/>
              </p:ext>
            </p:extLst>
          </p:nvPr>
        </p:nvGraphicFramePr>
        <p:xfrm>
          <a:off x="838200" y="1203328"/>
          <a:ext cx="10347599" cy="5032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41325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D7D898-506D-4833-8827-EB2332A51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 budget de caisse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1B2699-6A5A-4B71-9A6F-456AB8FCA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Utilise des éléments de deux autres composantes du budget et incorpore tout autres mouvements de fonds, incluant notamment:</a:t>
            </a:r>
          </a:p>
          <a:p>
            <a:endParaRPr lang="fr-CA" dirty="0"/>
          </a:p>
          <a:p>
            <a:pPr lvl="1"/>
            <a:r>
              <a:rPr lang="fr-CA" dirty="0"/>
              <a:t>L’obtention ou le remboursement de financements importants</a:t>
            </a:r>
          </a:p>
          <a:p>
            <a:pPr lvl="1"/>
            <a:r>
              <a:rPr lang="fr-CA" dirty="0"/>
              <a:t>Paiement d’intérêts ou de dividendes</a:t>
            </a:r>
          </a:p>
          <a:p>
            <a:pPr lvl="1"/>
            <a:r>
              <a:rPr lang="fr-CA" dirty="0"/>
              <a:t>Autres élément de la gestion du fond de roulement</a:t>
            </a:r>
          </a:p>
          <a:p>
            <a:pPr lvl="1"/>
            <a:endParaRPr lang="fr-CA" dirty="0"/>
          </a:p>
          <a:p>
            <a:pPr marL="357707" lvl="1" indent="0">
              <a:buNone/>
            </a:pPr>
            <a:r>
              <a:rPr lang="fr-CA" sz="2670" dirty="0"/>
              <a:t> … pour prévoir les variations du solde d’encaisse</a:t>
            </a:r>
          </a:p>
          <a:p>
            <a:pPr marL="357707" lvl="1" indent="0">
              <a:buNone/>
            </a:pPr>
            <a:endParaRPr lang="fr-CA" sz="2670" dirty="0"/>
          </a:p>
          <a:p>
            <a:endParaRPr lang="fr-CA" sz="307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742105-207A-4A04-837C-9E819896A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00429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5574AF-EBC0-4FF3-9E4D-4F70738B3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États financiers pro forma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8D950E-6B39-4C02-8785-F6A7F36A7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44809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dirty="0"/>
              <a:t>Une fois que les trois composantes du budget finalisées, on dispose de toutes les données requises pour produire:</a:t>
            </a:r>
          </a:p>
          <a:p>
            <a:pPr lvl="1"/>
            <a:r>
              <a:rPr lang="fr-CA" dirty="0"/>
              <a:t>Un État des résultats prévisionnels</a:t>
            </a:r>
          </a:p>
          <a:p>
            <a:pPr lvl="1"/>
            <a:r>
              <a:rPr lang="fr-CA" dirty="0"/>
              <a:t>Un État prévisionnel de la situation financière </a:t>
            </a:r>
          </a:p>
          <a:p>
            <a:pPr lvl="1"/>
            <a:r>
              <a:rPr lang="fr-CA" dirty="0"/>
              <a:t>Un État de flux de trésorerie prévisionnel</a:t>
            </a:r>
          </a:p>
          <a:p>
            <a:pPr lvl="1"/>
            <a:endParaRPr lang="fr-CA" dirty="0"/>
          </a:p>
          <a:p>
            <a:pPr marL="0" indent="0">
              <a:buNone/>
            </a:pPr>
            <a:r>
              <a:rPr lang="fr-CA" dirty="0"/>
              <a:t>L’ensemble des états financiers prévisionnels (ou pro forma) permet de déterminer si les objectifs financiers visés pourront être atteints</a:t>
            </a:r>
          </a:p>
          <a:p>
            <a:pPr lvl="1"/>
            <a:r>
              <a:rPr lang="fr-CA" dirty="0"/>
              <a:t>Un processus de rétroaction itératif est souvent mis en œuvre pour peaufiner le budget</a:t>
            </a:r>
          </a:p>
          <a:p>
            <a:pPr lvl="1"/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2A9E09-253B-4CCD-A4BE-ECD413AD3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66874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/>
          <p:cNvGrpSpPr/>
          <p:nvPr>
            <p:custDataLst>
              <p:tags r:id="rId2"/>
            </p:custDataLst>
          </p:nvPr>
        </p:nvGrpSpPr>
        <p:grpSpPr>
          <a:xfrm>
            <a:off x="441767" y="0"/>
            <a:ext cx="11308466" cy="6636284"/>
            <a:chOff x="1666876" y="323806"/>
            <a:chExt cx="8786843" cy="6319904"/>
          </a:xfrm>
          <a:solidFill>
            <a:schemeClr val="bg1"/>
          </a:solidFill>
        </p:grpSpPr>
        <p:sp>
          <p:nvSpPr>
            <p:cNvPr id="44069" name="Rectangle 37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881158" y="5072074"/>
              <a:ext cx="8572560" cy="1571636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9525" algn="ctr">
              <a:solidFill>
                <a:schemeClr val="accent2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51" name="Rectangle 19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881157" y="754693"/>
              <a:ext cx="8572562" cy="4174507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9525" algn="ctr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34" name="Text Box 2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474208" y="323806"/>
              <a:ext cx="3314961" cy="995582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Planification stratégique</a:t>
              </a:r>
              <a:endParaRPr kumimoji="0" lang="fr-CA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35" name="Text Box 3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159345" y="1597666"/>
              <a:ext cx="1944687" cy="369788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Budget des ventes</a:t>
              </a:r>
            </a:p>
          </p:txBody>
        </p:sp>
        <p:sp>
          <p:nvSpPr>
            <p:cNvPr id="44037" name="Text Box 5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051395" y="2281215"/>
              <a:ext cx="2160588" cy="739575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CA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Budget de production</a:t>
              </a:r>
            </a:p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CA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38" name="Text Box 6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166911" y="2277738"/>
              <a:ext cx="2087563" cy="483568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Budget des inventaires </a:t>
              </a:r>
              <a:r>
                <a:rPr kumimoji="0" lang="fr-CA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(stocks)</a:t>
              </a:r>
            </a:p>
          </p:txBody>
        </p:sp>
        <p:sp>
          <p:nvSpPr>
            <p:cNvPr id="44039" name="Text Box 7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739075" y="1928802"/>
              <a:ext cx="2500329" cy="682685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400" b="1" i="0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Budget des départements support </a:t>
              </a:r>
              <a:r>
                <a:rPr kumimoji="0" lang="fr-CA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:</a:t>
              </a:r>
            </a:p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Administration, R&amp;D, Marketing, TI, Distribution</a:t>
              </a:r>
            </a:p>
          </p:txBody>
        </p:sp>
        <p:sp>
          <p:nvSpPr>
            <p:cNvPr id="44040" name="Text Box 8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667109" y="3286125"/>
              <a:ext cx="1439861" cy="483568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Budget des matières premières</a:t>
              </a:r>
            </a:p>
          </p:txBody>
        </p:sp>
        <p:sp>
          <p:nvSpPr>
            <p:cNvPr id="44041" name="Text Box 9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322870" y="3287710"/>
              <a:ext cx="1643072" cy="483568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Budget de la main-d’œuvre directe</a:t>
              </a:r>
            </a:p>
          </p:txBody>
        </p:sp>
        <p:sp>
          <p:nvSpPr>
            <p:cNvPr id="44042" name="Text Box 10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096132" y="3287710"/>
              <a:ext cx="1439862" cy="682685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5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Budget des frais généraux de fabrication</a:t>
              </a:r>
            </a:p>
          </p:txBody>
        </p:sp>
        <p:sp>
          <p:nvSpPr>
            <p:cNvPr id="44043" name="Text Box 1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172065" y="4338648"/>
              <a:ext cx="1944687" cy="483568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Budget du coût des produits vendus</a:t>
              </a:r>
            </a:p>
          </p:txBody>
        </p:sp>
        <p:sp>
          <p:nvSpPr>
            <p:cNvPr id="44044" name="Text Box 12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894243" y="5214951"/>
              <a:ext cx="2500331" cy="284453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État des résultats prévisionnels</a:t>
              </a:r>
            </a:p>
          </p:txBody>
        </p:sp>
        <p:sp>
          <p:nvSpPr>
            <p:cNvPr id="44045" name="Text Box 13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011344" y="5862976"/>
              <a:ext cx="1512891" cy="483568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Budget des investissements</a:t>
              </a:r>
            </a:p>
          </p:txBody>
        </p:sp>
        <p:sp>
          <p:nvSpPr>
            <p:cNvPr id="44047" name="Text Box 15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5433641" y="5970699"/>
              <a:ext cx="1441451" cy="284453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Budget de Caisse </a:t>
              </a:r>
            </a:p>
          </p:txBody>
        </p:sp>
        <p:sp>
          <p:nvSpPr>
            <p:cNvPr id="44048" name="Text Box 16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394575" y="5647535"/>
              <a:ext cx="1282104" cy="881801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État de la situation financière Pro Forma</a:t>
              </a:r>
            </a:p>
          </p:txBody>
        </p:sp>
        <p:sp>
          <p:nvSpPr>
            <p:cNvPr id="44049" name="Text Box 17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8916626" y="5755255"/>
              <a:ext cx="1441451" cy="682685"/>
            </a:xfrm>
            <a:prstGeom prst="rect">
              <a:avLst/>
            </a:prstGeom>
            <a:grp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État des flux de trésorerie prévisionnels</a:t>
              </a:r>
            </a:p>
          </p:txBody>
        </p:sp>
        <p:sp>
          <p:nvSpPr>
            <p:cNvPr id="44052" name="Line 20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1666876" y="6165850"/>
              <a:ext cx="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75" name="Text Box 43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2033502" y="1240970"/>
              <a:ext cx="2303463" cy="381035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marR="0" lvl="0" indent="0" defTabSz="914400" eaLnBrk="0" fontAlgn="auto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000" b="1" i="0" u="sng" strike="noStrike" cap="none" spc="0" normalizeH="0" baseline="0">
                  <a:ln>
                    <a:noFill/>
                  </a:ln>
                  <a:solidFill>
                    <a:srgbClr val="63A537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</a:defRPr>
              </a:lvl1pPr>
            </a:lstStyle>
            <a:p>
              <a:r>
                <a:rPr lang="fr-CA" u="none" dirty="0"/>
                <a:t>Budgets d’exploitation</a:t>
              </a:r>
            </a:p>
          </p:txBody>
        </p:sp>
        <p:cxnSp>
          <p:nvCxnSpPr>
            <p:cNvPr id="46" name="Connecteur droit avec flèche 45"/>
            <p:cNvCxnSpPr>
              <a:stCxn id="44034" idx="2"/>
              <a:endCxn id="44035" idx="0"/>
            </p:cNvCxnSpPr>
            <p:nvPr>
              <p:custDataLst>
                <p:tags r:id="rId22"/>
              </p:custDataLst>
            </p:nvPr>
          </p:nvCxnSpPr>
          <p:spPr>
            <a:xfrm>
              <a:off x="6131689" y="1319388"/>
              <a:ext cx="0" cy="278278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eur droit avec flèche 47"/>
            <p:cNvCxnSpPr>
              <a:stCxn id="44035" idx="2"/>
            </p:cNvCxnSpPr>
            <p:nvPr>
              <p:custDataLst>
                <p:tags r:id="rId23"/>
              </p:custDataLst>
            </p:nvPr>
          </p:nvCxnSpPr>
          <p:spPr>
            <a:xfrm>
              <a:off x="6131688" y="1967454"/>
              <a:ext cx="9960" cy="652478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avec flèche 49"/>
            <p:cNvCxnSpPr>
              <a:stCxn id="44037" idx="2"/>
              <a:endCxn id="44040" idx="0"/>
            </p:cNvCxnSpPr>
            <p:nvPr>
              <p:custDataLst>
                <p:tags r:id="rId24"/>
              </p:custDataLst>
            </p:nvPr>
          </p:nvCxnSpPr>
          <p:spPr>
            <a:xfrm flipH="1">
              <a:off x="4387041" y="3020789"/>
              <a:ext cx="1744649" cy="265336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eur droit avec flèche 51"/>
            <p:cNvCxnSpPr>
              <a:stCxn id="44037" idx="2"/>
              <a:endCxn id="44041" idx="0"/>
            </p:cNvCxnSpPr>
            <p:nvPr>
              <p:custDataLst>
                <p:tags r:id="rId25"/>
              </p:custDataLst>
            </p:nvPr>
          </p:nvCxnSpPr>
          <p:spPr>
            <a:xfrm>
              <a:off x="6131689" y="3020789"/>
              <a:ext cx="12717" cy="266921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eur droit avec flèche 53"/>
            <p:cNvCxnSpPr>
              <a:stCxn id="44037" idx="2"/>
              <a:endCxn id="44042" idx="0"/>
            </p:cNvCxnSpPr>
            <p:nvPr>
              <p:custDataLst>
                <p:tags r:id="rId26"/>
              </p:custDataLst>
            </p:nvPr>
          </p:nvCxnSpPr>
          <p:spPr>
            <a:xfrm>
              <a:off x="6131689" y="3020789"/>
              <a:ext cx="1684374" cy="266921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eur droit avec flèche 55"/>
            <p:cNvCxnSpPr/>
            <p:nvPr>
              <p:custDataLst>
                <p:tags r:id="rId27"/>
              </p:custDataLst>
            </p:nvPr>
          </p:nvCxnSpPr>
          <p:spPr>
            <a:xfrm flipV="1">
              <a:off x="4241755" y="2533125"/>
              <a:ext cx="809640" cy="1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avec flèche 60"/>
            <p:cNvCxnSpPr>
              <a:stCxn id="44041" idx="2"/>
              <a:endCxn id="44043" idx="0"/>
            </p:cNvCxnSpPr>
            <p:nvPr>
              <p:custDataLst>
                <p:tags r:id="rId28"/>
              </p:custDataLst>
            </p:nvPr>
          </p:nvCxnSpPr>
          <p:spPr>
            <a:xfrm>
              <a:off x="6144406" y="3771278"/>
              <a:ext cx="2" cy="567370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eur en angle 64"/>
            <p:cNvCxnSpPr>
              <a:cxnSpLocks/>
              <a:endCxn id="44069" idx="1"/>
            </p:cNvCxnSpPr>
            <p:nvPr>
              <p:custDataLst>
                <p:tags r:id="rId29"/>
              </p:custDataLst>
            </p:nvPr>
          </p:nvCxnSpPr>
          <p:spPr>
            <a:xfrm rot="5400000">
              <a:off x="620019" y="2082734"/>
              <a:ext cx="5108275" cy="2585999"/>
            </a:xfrm>
            <a:prstGeom prst="bentConnector4">
              <a:avLst>
                <a:gd name="adj1" fmla="val -3039"/>
                <a:gd name="adj2" fmla="val 106869"/>
              </a:avLst>
            </a:prstGeom>
            <a:ln w="57150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7" name="Forme 66"/>
            <p:cNvCxnSpPr>
              <a:stCxn id="44035" idx="3"/>
              <a:endCxn id="44039" idx="0"/>
            </p:cNvCxnSpPr>
            <p:nvPr>
              <p:custDataLst>
                <p:tags r:id="rId30"/>
              </p:custDataLst>
            </p:nvPr>
          </p:nvCxnSpPr>
          <p:spPr>
            <a:xfrm>
              <a:off x="7104032" y="1782560"/>
              <a:ext cx="1885207" cy="146242"/>
            </a:xfrm>
            <a:prstGeom prst="bentConnector2">
              <a:avLst/>
            </a:prstGeom>
            <a:grp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eur droit avec flèche 68"/>
            <p:cNvCxnSpPr>
              <a:stCxn id="44043" idx="2"/>
              <a:endCxn id="44044" idx="0"/>
            </p:cNvCxnSpPr>
            <p:nvPr>
              <p:custDataLst>
                <p:tags r:id="rId31"/>
              </p:custDataLst>
            </p:nvPr>
          </p:nvCxnSpPr>
          <p:spPr>
            <a:xfrm>
              <a:off x="6144408" y="4822215"/>
              <a:ext cx="1" cy="392736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0" name="Forme 79"/>
            <p:cNvCxnSpPr>
              <a:stCxn id="44039" idx="2"/>
              <a:endCxn id="44044" idx="3"/>
            </p:cNvCxnSpPr>
            <p:nvPr>
              <p:custDataLst>
                <p:tags r:id="rId32"/>
              </p:custDataLst>
            </p:nvPr>
          </p:nvCxnSpPr>
          <p:spPr>
            <a:xfrm rot="5400000">
              <a:off x="6819062" y="3187000"/>
              <a:ext cx="2745691" cy="1594665"/>
            </a:xfrm>
            <a:prstGeom prst="bentConnector2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2" name="Forme 81"/>
            <p:cNvCxnSpPr>
              <a:stCxn id="44039" idx="2"/>
              <a:endCxn id="44042" idx="3"/>
            </p:cNvCxnSpPr>
            <p:nvPr>
              <p:custDataLst>
                <p:tags r:id="rId33"/>
              </p:custDataLst>
            </p:nvPr>
          </p:nvCxnSpPr>
          <p:spPr>
            <a:xfrm rot="5400000">
              <a:off x="8253834" y="2893648"/>
              <a:ext cx="1017566" cy="453245"/>
            </a:xfrm>
            <a:prstGeom prst="bentConnector2">
              <a:avLst/>
            </a:prstGeom>
            <a:grp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eur droit avec flèche 83"/>
            <p:cNvCxnSpPr>
              <a:stCxn id="44044" idx="2"/>
              <a:endCxn id="44047" idx="0"/>
            </p:cNvCxnSpPr>
            <p:nvPr>
              <p:custDataLst>
                <p:tags r:id="rId34"/>
              </p:custDataLst>
            </p:nvPr>
          </p:nvCxnSpPr>
          <p:spPr>
            <a:xfrm>
              <a:off x="6144409" y="5499404"/>
              <a:ext cx="9957" cy="471295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eur droit avec flèche 94"/>
            <p:cNvCxnSpPr/>
            <p:nvPr>
              <p:custDataLst>
                <p:tags r:id="rId35"/>
              </p:custDataLst>
            </p:nvPr>
          </p:nvCxnSpPr>
          <p:spPr>
            <a:xfrm>
              <a:off x="3524232" y="6124587"/>
              <a:ext cx="1909410" cy="1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eur droit avec flèche 96"/>
            <p:cNvCxnSpPr/>
            <p:nvPr>
              <p:custDataLst>
                <p:tags r:id="rId36"/>
              </p:custDataLst>
            </p:nvPr>
          </p:nvCxnSpPr>
          <p:spPr>
            <a:xfrm>
              <a:off x="6875092" y="6124587"/>
              <a:ext cx="519483" cy="0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eur droit avec flèche 98"/>
            <p:cNvCxnSpPr/>
            <p:nvPr>
              <p:custDataLst>
                <p:tags r:id="rId37"/>
              </p:custDataLst>
            </p:nvPr>
          </p:nvCxnSpPr>
          <p:spPr>
            <a:xfrm flipV="1">
              <a:off x="8762617" y="6114214"/>
              <a:ext cx="154008" cy="10373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 Box 43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938292" y="5172284"/>
              <a:ext cx="2303463" cy="381035"/>
            </a:xfrm>
            <a:prstGeom prst="rect">
              <a:avLst/>
            </a:prstGeom>
            <a:grp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2000" b="1" i="0" strike="noStrike" kern="1200" cap="none" spc="0" normalizeH="0" baseline="0" noProof="0" dirty="0">
                  <a:ln>
                    <a:noFill/>
                  </a:ln>
                  <a:solidFill>
                    <a:srgbClr val="63A537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Budgets financiers</a:t>
              </a:r>
            </a:p>
          </p:txBody>
        </p:sp>
        <p:cxnSp>
          <p:nvCxnSpPr>
            <p:cNvPr id="44" name="Connecteur en angle 43"/>
            <p:cNvCxnSpPr>
              <a:stCxn id="44038" idx="2"/>
              <a:endCxn id="44043" idx="1"/>
            </p:cNvCxnSpPr>
            <p:nvPr>
              <p:custDataLst>
                <p:tags r:id="rId39"/>
              </p:custDataLst>
            </p:nvPr>
          </p:nvCxnSpPr>
          <p:spPr>
            <a:xfrm rot="16200000" flipH="1">
              <a:off x="3281815" y="2690182"/>
              <a:ext cx="1819127" cy="1961373"/>
            </a:xfrm>
            <a:prstGeom prst="bentConnector2">
              <a:avLst/>
            </a:prstGeom>
            <a:grpFill/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Espace réservé du numéro de diapositive 7"/>
          <p:cNvSpPr>
            <a:spLocks noGrp="1"/>
          </p:cNvSpPr>
          <p:nvPr>
            <p:ph type="sldNum" sz="quarter" idx="4294967295"/>
            <p:custDataLst>
              <p:tags r:id="rId3"/>
            </p:custDataLst>
          </p:nvPr>
        </p:nvSpPr>
        <p:spPr>
          <a:xfrm>
            <a:off x="10077974" y="5588316"/>
            <a:ext cx="256004" cy="265789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008ED5-8015-41DF-BC47-EA62E6FE4E18}" type="slidenum">
              <a:rPr kumimoji="0" lang="fr-CA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CA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9958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290944" y="682336"/>
            <a:ext cx="11461174" cy="1941594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buClr>
                <a:schemeClr val="accent2"/>
              </a:buClr>
              <a:buFont typeface="Symbol" panose="05050102010706020507" pitchFamily="18" charset="2"/>
              <a:buNone/>
            </a:pPr>
            <a:r>
              <a:rPr kumimoji="1" lang="fr-CA" altLang="fr-FR" sz="2800" dirty="0">
                <a:solidFill>
                  <a:srgbClr val="FF0000"/>
                </a:solidFill>
                <a:latin typeface="Arial Black" panose="020B0A04020102020204" pitchFamily="34" charset="0"/>
              </a:rPr>
              <a:t>Volet 2: </a:t>
            </a:r>
          </a:p>
          <a:p>
            <a:r>
              <a:rPr lang="fr-CA" sz="2800" b="0" dirty="0">
                <a:solidFill>
                  <a:schemeClr val="tx1"/>
                </a:solidFill>
                <a:latin typeface="Arial Black" panose="020B0A04020102020204" pitchFamily="34" charset="0"/>
              </a:rPr>
              <a:t>Le contrôle budgétaire, exercice indissociable du processus de planification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73B90A62-6D41-41F7-B122-D18519B9449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B25B09-B9A6-4811-8700-6D36B9CE20D1}" type="slidenum">
              <a:rPr kumimoji="0" lang="fr-CA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CA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ZoneTexte 5">
            <a:extLst>
              <a:ext uri="{FF2B5EF4-FFF2-40B4-BE49-F238E27FC236}">
                <a16:creationId xmlns:a16="http://schemas.microsoft.com/office/drawing/2014/main" id="{481F9457-50CB-45AB-8899-C68C9CC6FF55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0611" y="3213670"/>
            <a:ext cx="533399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 marL="0" marR="0" lvl="0" indent="0" algn="l" defTabSz="6858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alt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larendon" pitchFamily="18" charset="0"/>
                <a:ea typeface="ヒラギノ角ゴ Pro W3" pitchFamily="84" charset="-128"/>
                <a:cs typeface="+mn-cs"/>
              </a:rPr>
              <a:t>Objectif d’apprentissage</a:t>
            </a:r>
            <a:r>
              <a:rPr kumimoji="0" lang="fr-CA" alt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larendon" pitchFamily="18" charset="0"/>
                <a:ea typeface="ヒラギノ角ゴ Pro W3" pitchFamily="84" charset="-128"/>
                <a:cs typeface="+mn-cs"/>
              </a:rPr>
              <a:t>:</a:t>
            </a:r>
          </a:p>
          <a:p>
            <a:pPr lvl="0"/>
            <a:r>
              <a:rPr lang="fr-CA" altLang="fr-FR" sz="2000" dirty="0">
                <a:solidFill>
                  <a:srgbClr val="000000"/>
                </a:solidFill>
                <a:latin typeface="Clarendon" pitchFamily="18" charset="0"/>
              </a:rPr>
              <a:t>Comprendre le fonctionnement du contrôle budgétaire et le rôle des analyses d’écart</a:t>
            </a:r>
            <a:endParaRPr kumimoji="0" lang="fr-CA" altLang="fr-FR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larendon" pitchFamily="18" charset="0"/>
              <a:ea typeface="ヒラギノ角ゴ Pro W3" pitchFamily="8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1156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050">
            <a:extLst>
              <a:ext uri="{FF2B5EF4-FFF2-40B4-BE49-F238E27FC236}">
                <a16:creationId xmlns:a16="http://schemas.microsoft.com/office/drawing/2014/main" id="{8617B91F-72FB-439A-8A25-9098127A3D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377" eaLnBrk="1" hangingPunct="1">
              <a:lnSpc>
                <a:spcPts val="4400"/>
              </a:lnSpc>
            </a:pPr>
            <a:r>
              <a:rPr lang="fr-CA" altLang="fr-FR" sz="4000" kern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Indissociabilité de la planification et du contrôle</a:t>
            </a:r>
          </a:p>
        </p:txBody>
      </p:sp>
      <p:sp>
        <p:nvSpPr>
          <p:cNvPr id="7171" name="Rectangle 2051">
            <a:extLst>
              <a:ext uri="{FF2B5EF4-FFF2-40B4-BE49-F238E27FC236}">
                <a16:creationId xmlns:a16="http://schemas.microsoft.com/office/drawing/2014/main" id="{F919D71D-DBD1-44CD-B149-FC7F211B7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057399"/>
            <a:ext cx="1587500" cy="990600"/>
          </a:xfrm>
          <a:prstGeom prst="rect">
            <a:avLst/>
          </a:prstGeom>
          <a:solidFill>
            <a:srgbClr val="87E004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Plan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stratégique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(programmes)</a:t>
            </a:r>
          </a:p>
        </p:txBody>
      </p:sp>
      <p:sp>
        <p:nvSpPr>
          <p:cNvPr id="7172" name="Rectangle 2052">
            <a:extLst>
              <a:ext uri="{FF2B5EF4-FFF2-40B4-BE49-F238E27FC236}">
                <a16:creationId xmlns:a16="http://schemas.microsoft.com/office/drawing/2014/main" id="{F4DAE7E6-186C-4433-AE20-97985F082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657600"/>
            <a:ext cx="1587500" cy="990600"/>
          </a:xfrm>
          <a:prstGeom prst="rect">
            <a:avLst/>
          </a:prstGeom>
          <a:solidFill>
            <a:srgbClr val="98F2FE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>
                <a:solidFill>
                  <a:srgbClr val="000000"/>
                </a:solidFill>
              </a:rPr>
              <a:t>Budget</a:t>
            </a:r>
          </a:p>
        </p:txBody>
      </p:sp>
      <p:sp>
        <p:nvSpPr>
          <p:cNvPr id="7189" name="Text Box 2070">
            <a:extLst>
              <a:ext uri="{FF2B5EF4-FFF2-40B4-BE49-F238E27FC236}">
                <a16:creationId xmlns:a16="http://schemas.microsoft.com/office/drawing/2014/main" id="{3DFF4A4F-BAC0-4B0D-9799-43144A629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6248401"/>
            <a:ext cx="74179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600">
                <a:solidFill>
                  <a:srgbClr val="000000"/>
                </a:solidFill>
                <a:latin typeface="Tahoma" panose="020B0604030504040204" pitchFamily="34" charset="0"/>
              </a:rPr>
              <a:t>Note: Rétroaction n’est pas automatique; elle est contextuelle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9121C52B-73E8-3F0D-8BCA-8ACF7DCD20DD}"/>
              </a:ext>
            </a:extLst>
          </p:cNvPr>
          <p:cNvCxnSpPr>
            <a:cxnSpLocks/>
            <a:stCxn id="7171" idx="2"/>
            <a:endCxn id="7172" idx="0"/>
          </p:cNvCxnSpPr>
          <p:nvPr/>
        </p:nvCxnSpPr>
        <p:spPr>
          <a:xfrm>
            <a:off x="3460750" y="3047999"/>
            <a:ext cx="0" cy="609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050">
            <a:extLst>
              <a:ext uri="{FF2B5EF4-FFF2-40B4-BE49-F238E27FC236}">
                <a16:creationId xmlns:a16="http://schemas.microsoft.com/office/drawing/2014/main" id="{8617B91F-72FB-439A-8A25-9098127A3D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377" eaLnBrk="1" hangingPunct="1">
              <a:lnSpc>
                <a:spcPts val="4400"/>
              </a:lnSpc>
            </a:pPr>
            <a:r>
              <a:rPr lang="fr-CA" altLang="fr-FR" sz="4000" kern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Indissociabilité de la planification et du contrôle</a:t>
            </a:r>
          </a:p>
        </p:txBody>
      </p:sp>
      <p:sp>
        <p:nvSpPr>
          <p:cNvPr id="7171" name="Rectangle 2051">
            <a:extLst>
              <a:ext uri="{FF2B5EF4-FFF2-40B4-BE49-F238E27FC236}">
                <a16:creationId xmlns:a16="http://schemas.microsoft.com/office/drawing/2014/main" id="{F919D71D-DBD1-44CD-B149-FC7F211B7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057400"/>
            <a:ext cx="1587500" cy="990600"/>
          </a:xfrm>
          <a:prstGeom prst="rect">
            <a:avLst/>
          </a:prstGeom>
          <a:solidFill>
            <a:srgbClr val="87E004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Plan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stratégique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(programmes)</a:t>
            </a:r>
          </a:p>
        </p:txBody>
      </p:sp>
      <p:sp>
        <p:nvSpPr>
          <p:cNvPr id="7172" name="Rectangle 2052">
            <a:extLst>
              <a:ext uri="{FF2B5EF4-FFF2-40B4-BE49-F238E27FC236}">
                <a16:creationId xmlns:a16="http://schemas.microsoft.com/office/drawing/2014/main" id="{F4DAE7E6-186C-4433-AE20-97985F082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657600"/>
            <a:ext cx="1587500" cy="990600"/>
          </a:xfrm>
          <a:prstGeom prst="rect">
            <a:avLst/>
          </a:prstGeom>
          <a:solidFill>
            <a:srgbClr val="98F2FE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>
                <a:solidFill>
                  <a:srgbClr val="000000"/>
                </a:solidFill>
              </a:rPr>
              <a:t>Budget</a:t>
            </a:r>
          </a:p>
        </p:txBody>
      </p:sp>
      <p:sp>
        <p:nvSpPr>
          <p:cNvPr id="7176" name="Rectangle 2056">
            <a:extLst>
              <a:ext uri="{FF2B5EF4-FFF2-40B4-BE49-F238E27FC236}">
                <a16:creationId xmlns:a16="http://schemas.microsoft.com/office/drawing/2014/main" id="{C5BB6808-B568-4482-9D0B-EB824B18A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3657600"/>
            <a:ext cx="1587500" cy="990600"/>
          </a:xfrm>
          <a:prstGeom prst="rect">
            <a:avLst/>
          </a:prstGeom>
          <a:solidFill>
            <a:srgbClr val="98F2FE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>
                <a:solidFill>
                  <a:srgbClr val="000000"/>
                </a:solidFill>
              </a:rPr>
              <a:t>Résultats</a:t>
            </a:r>
          </a:p>
        </p:txBody>
      </p:sp>
      <p:sp>
        <p:nvSpPr>
          <p:cNvPr id="7177" name="Rectangle 2057">
            <a:extLst>
              <a:ext uri="{FF2B5EF4-FFF2-40B4-BE49-F238E27FC236}">
                <a16:creationId xmlns:a16="http://schemas.microsoft.com/office/drawing/2014/main" id="{3240A9CA-20C8-42A8-9E47-6FF7A0426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2057400"/>
            <a:ext cx="1587500" cy="9906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Transactions</a:t>
            </a:r>
          </a:p>
        </p:txBody>
      </p:sp>
      <p:sp>
        <p:nvSpPr>
          <p:cNvPr id="7178" name="Line 2058">
            <a:extLst>
              <a:ext uri="{FF2B5EF4-FFF2-40B4-BE49-F238E27FC236}">
                <a16:creationId xmlns:a16="http://schemas.microsoft.com/office/drawing/2014/main" id="{77D81BC7-D5CC-4BF8-82F6-891A398BE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3048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CA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89" name="Text Box 2070">
            <a:extLst>
              <a:ext uri="{FF2B5EF4-FFF2-40B4-BE49-F238E27FC236}">
                <a16:creationId xmlns:a16="http://schemas.microsoft.com/office/drawing/2014/main" id="{3DFF4A4F-BAC0-4B0D-9799-43144A629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6248401"/>
            <a:ext cx="74179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600">
                <a:solidFill>
                  <a:srgbClr val="000000"/>
                </a:solidFill>
                <a:latin typeface="Tahoma" panose="020B0604030504040204" pitchFamily="34" charset="0"/>
              </a:rPr>
              <a:t>Note: Rétroaction n’est pas automatique; elle est contextuelle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539FDD73-93B1-40C6-AAFF-30C6922FC04B}"/>
              </a:ext>
            </a:extLst>
          </p:cNvPr>
          <p:cNvCxnSpPr>
            <a:stCxn id="7171" idx="2"/>
            <a:endCxn id="7172" idx="0"/>
          </p:cNvCxnSpPr>
          <p:nvPr/>
        </p:nvCxnSpPr>
        <p:spPr>
          <a:xfrm>
            <a:off x="3460750" y="3048000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05314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050">
            <a:extLst>
              <a:ext uri="{FF2B5EF4-FFF2-40B4-BE49-F238E27FC236}">
                <a16:creationId xmlns:a16="http://schemas.microsoft.com/office/drawing/2014/main" id="{8617B91F-72FB-439A-8A25-9098127A3D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377" eaLnBrk="1" hangingPunct="1">
              <a:lnSpc>
                <a:spcPts val="4400"/>
              </a:lnSpc>
            </a:pPr>
            <a:r>
              <a:rPr lang="fr-CA" altLang="fr-FR" sz="4000" kern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Indissociabilité de la planification et du contrôle</a:t>
            </a:r>
          </a:p>
        </p:txBody>
      </p:sp>
      <p:sp>
        <p:nvSpPr>
          <p:cNvPr id="7171" name="Rectangle 2051">
            <a:extLst>
              <a:ext uri="{FF2B5EF4-FFF2-40B4-BE49-F238E27FC236}">
                <a16:creationId xmlns:a16="http://schemas.microsoft.com/office/drawing/2014/main" id="{F919D71D-DBD1-44CD-B149-FC7F211B7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057400"/>
            <a:ext cx="1587500" cy="990600"/>
          </a:xfrm>
          <a:prstGeom prst="rect">
            <a:avLst/>
          </a:prstGeom>
          <a:solidFill>
            <a:srgbClr val="87E004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Plan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stratégique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(programmes)</a:t>
            </a:r>
          </a:p>
        </p:txBody>
      </p:sp>
      <p:sp>
        <p:nvSpPr>
          <p:cNvPr id="7172" name="Rectangle 2052">
            <a:extLst>
              <a:ext uri="{FF2B5EF4-FFF2-40B4-BE49-F238E27FC236}">
                <a16:creationId xmlns:a16="http://schemas.microsoft.com/office/drawing/2014/main" id="{F4DAE7E6-186C-4433-AE20-97985F082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657600"/>
            <a:ext cx="1587500" cy="990600"/>
          </a:xfrm>
          <a:prstGeom prst="rect">
            <a:avLst/>
          </a:prstGeom>
          <a:solidFill>
            <a:srgbClr val="98F2FE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>
                <a:solidFill>
                  <a:srgbClr val="000000"/>
                </a:solidFill>
              </a:rPr>
              <a:t>Budget</a:t>
            </a:r>
          </a:p>
        </p:txBody>
      </p:sp>
      <p:sp>
        <p:nvSpPr>
          <p:cNvPr id="7175" name="Rectangle 2055">
            <a:extLst>
              <a:ext uri="{FF2B5EF4-FFF2-40B4-BE49-F238E27FC236}">
                <a16:creationId xmlns:a16="http://schemas.microsoft.com/office/drawing/2014/main" id="{885A59C6-78E5-41B8-9D09-101BA9A9B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657600"/>
            <a:ext cx="1587500" cy="9906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Calcul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 des écarts</a:t>
            </a:r>
          </a:p>
        </p:txBody>
      </p:sp>
      <p:sp>
        <p:nvSpPr>
          <p:cNvPr id="7176" name="Rectangle 2056">
            <a:extLst>
              <a:ext uri="{FF2B5EF4-FFF2-40B4-BE49-F238E27FC236}">
                <a16:creationId xmlns:a16="http://schemas.microsoft.com/office/drawing/2014/main" id="{C5BB6808-B568-4482-9D0B-EB824B18A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3657600"/>
            <a:ext cx="1587500" cy="990600"/>
          </a:xfrm>
          <a:prstGeom prst="rect">
            <a:avLst/>
          </a:prstGeom>
          <a:solidFill>
            <a:srgbClr val="98F2FE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>
                <a:solidFill>
                  <a:srgbClr val="000000"/>
                </a:solidFill>
              </a:rPr>
              <a:t>Résultats</a:t>
            </a:r>
          </a:p>
        </p:txBody>
      </p:sp>
      <p:sp>
        <p:nvSpPr>
          <p:cNvPr id="7177" name="Rectangle 2057">
            <a:extLst>
              <a:ext uri="{FF2B5EF4-FFF2-40B4-BE49-F238E27FC236}">
                <a16:creationId xmlns:a16="http://schemas.microsoft.com/office/drawing/2014/main" id="{3240A9CA-20C8-42A8-9E47-6FF7A0426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2057400"/>
            <a:ext cx="1587500" cy="9906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Transactions</a:t>
            </a:r>
          </a:p>
        </p:txBody>
      </p:sp>
      <p:sp>
        <p:nvSpPr>
          <p:cNvPr id="7178" name="Line 2058">
            <a:extLst>
              <a:ext uri="{FF2B5EF4-FFF2-40B4-BE49-F238E27FC236}">
                <a16:creationId xmlns:a16="http://schemas.microsoft.com/office/drawing/2014/main" id="{77D81BC7-D5CC-4BF8-82F6-891A398BE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3048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CA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9" name="Line 2059">
            <a:extLst>
              <a:ext uri="{FF2B5EF4-FFF2-40B4-BE49-F238E27FC236}">
                <a16:creationId xmlns:a16="http://schemas.microsoft.com/office/drawing/2014/main" id="{0FF7BF1C-46AC-4DFE-8288-02C79AC6C0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4200" y="4191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CA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86" name="Line 2066">
            <a:extLst>
              <a:ext uri="{FF2B5EF4-FFF2-40B4-BE49-F238E27FC236}">
                <a16:creationId xmlns:a16="http://schemas.microsoft.com/office/drawing/2014/main" id="{4070C1BE-1565-4203-AF68-F6F6A7815A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00" y="4191000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CA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89" name="Text Box 2070">
            <a:extLst>
              <a:ext uri="{FF2B5EF4-FFF2-40B4-BE49-F238E27FC236}">
                <a16:creationId xmlns:a16="http://schemas.microsoft.com/office/drawing/2014/main" id="{3DFF4A4F-BAC0-4B0D-9799-43144A629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6248401"/>
            <a:ext cx="689871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600" dirty="0">
                <a:solidFill>
                  <a:srgbClr val="000000"/>
                </a:solidFill>
                <a:latin typeface="Tahoma" panose="020B0604030504040204" pitchFamily="34" charset="0"/>
              </a:rPr>
              <a:t>Note: Rétroaction n’est pas automatique; elle est contextuelle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9BB53D76-5D4F-14EC-96D8-CBB716E2DB76}"/>
              </a:ext>
            </a:extLst>
          </p:cNvPr>
          <p:cNvCxnSpPr>
            <a:stCxn id="7171" idx="2"/>
            <a:endCxn id="7172" idx="0"/>
          </p:cNvCxnSpPr>
          <p:nvPr/>
        </p:nvCxnSpPr>
        <p:spPr>
          <a:xfrm>
            <a:off x="3460750" y="3048000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04572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050">
            <a:extLst>
              <a:ext uri="{FF2B5EF4-FFF2-40B4-BE49-F238E27FC236}">
                <a16:creationId xmlns:a16="http://schemas.microsoft.com/office/drawing/2014/main" id="{8617B91F-72FB-439A-8A25-9098127A3D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377" eaLnBrk="1" hangingPunct="1">
              <a:lnSpc>
                <a:spcPts val="4400"/>
              </a:lnSpc>
            </a:pPr>
            <a:r>
              <a:rPr lang="fr-CA" altLang="fr-FR" sz="4000" kern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Indissociabilité de la planification et du contrôle</a:t>
            </a:r>
          </a:p>
        </p:txBody>
      </p:sp>
      <p:sp>
        <p:nvSpPr>
          <p:cNvPr id="7171" name="Rectangle 2051">
            <a:extLst>
              <a:ext uri="{FF2B5EF4-FFF2-40B4-BE49-F238E27FC236}">
                <a16:creationId xmlns:a16="http://schemas.microsoft.com/office/drawing/2014/main" id="{F919D71D-DBD1-44CD-B149-FC7F211B7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057400"/>
            <a:ext cx="1587500" cy="990600"/>
          </a:xfrm>
          <a:prstGeom prst="rect">
            <a:avLst/>
          </a:prstGeom>
          <a:solidFill>
            <a:srgbClr val="87E004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Plan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stratégique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(programmes)</a:t>
            </a:r>
          </a:p>
        </p:txBody>
      </p:sp>
      <p:sp>
        <p:nvSpPr>
          <p:cNvPr id="7172" name="Rectangle 2052">
            <a:extLst>
              <a:ext uri="{FF2B5EF4-FFF2-40B4-BE49-F238E27FC236}">
                <a16:creationId xmlns:a16="http://schemas.microsoft.com/office/drawing/2014/main" id="{F4DAE7E6-186C-4433-AE20-97985F082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657600"/>
            <a:ext cx="1587500" cy="990600"/>
          </a:xfrm>
          <a:prstGeom prst="rect">
            <a:avLst/>
          </a:prstGeom>
          <a:solidFill>
            <a:srgbClr val="98F2FE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>
                <a:solidFill>
                  <a:srgbClr val="000000"/>
                </a:solidFill>
              </a:rPr>
              <a:t>Budget</a:t>
            </a:r>
          </a:p>
        </p:txBody>
      </p:sp>
      <p:sp>
        <p:nvSpPr>
          <p:cNvPr id="7173" name="Rectangle 2053">
            <a:extLst>
              <a:ext uri="{FF2B5EF4-FFF2-40B4-BE49-F238E27FC236}">
                <a16:creationId xmlns:a16="http://schemas.microsoft.com/office/drawing/2014/main" id="{26BC2416-0BD2-414F-9068-9852F0417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105400"/>
            <a:ext cx="1587500" cy="990600"/>
          </a:xfrm>
          <a:prstGeom prst="rect">
            <a:avLst/>
          </a:prstGeom>
          <a:solidFill>
            <a:srgbClr val="CCFF3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Écart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 significatif?</a:t>
            </a:r>
          </a:p>
        </p:txBody>
      </p:sp>
      <p:sp>
        <p:nvSpPr>
          <p:cNvPr id="7175" name="Rectangle 2055">
            <a:extLst>
              <a:ext uri="{FF2B5EF4-FFF2-40B4-BE49-F238E27FC236}">
                <a16:creationId xmlns:a16="http://schemas.microsoft.com/office/drawing/2014/main" id="{885A59C6-78E5-41B8-9D09-101BA9A9B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657600"/>
            <a:ext cx="1587500" cy="9906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Calcul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 des écarts</a:t>
            </a:r>
          </a:p>
        </p:txBody>
      </p:sp>
      <p:sp>
        <p:nvSpPr>
          <p:cNvPr id="7176" name="Rectangle 2056">
            <a:extLst>
              <a:ext uri="{FF2B5EF4-FFF2-40B4-BE49-F238E27FC236}">
                <a16:creationId xmlns:a16="http://schemas.microsoft.com/office/drawing/2014/main" id="{C5BB6808-B568-4482-9D0B-EB824B18A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3657600"/>
            <a:ext cx="1587500" cy="990600"/>
          </a:xfrm>
          <a:prstGeom prst="rect">
            <a:avLst/>
          </a:prstGeom>
          <a:solidFill>
            <a:srgbClr val="98F2FE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>
                <a:solidFill>
                  <a:srgbClr val="000000"/>
                </a:solidFill>
              </a:rPr>
              <a:t>Résultats</a:t>
            </a:r>
          </a:p>
        </p:txBody>
      </p:sp>
      <p:sp>
        <p:nvSpPr>
          <p:cNvPr id="7177" name="Rectangle 2057">
            <a:extLst>
              <a:ext uri="{FF2B5EF4-FFF2-40B4-BE49-F238E27FC236}">
                <a16:creationId xmlns:a16="http://schemas.microsoft.com/office/drawing/2014/main" id="{3240A9CA-20C8-42A8-9E47-6FF7A0426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2057400"/>
            <a:ext cx="1587500" cy="9906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Transactions</a:t>
            </a:r>
          </a:p>
        </p:txBody>
      </p:sp>
      <p:sp>
        <p:nvSpPr>
          <p:cNvPr id="7178" name="Line 2058">
            <a:extLst>
              <a:ext uri="{FF2B5EF4-FFF2-40B4-BE49-F238E27FC236}">
                <a16:creationId xmlns:a16="http://schemas.microsoft.com/office/drawing/2014/main" id="{77D81BC7-D5CC-4BF8-82F6-891A398BE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3048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CA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9" name="Line 2059">
            <a:extLst>
              <a:ext uri="{FF2B5EF4-FFF2-40B4-BE49-F238E27FC236}">
                <a16:creationId xmlns:a16="http://schemas.microsoft.com/office/drawing/2014/main" id="{0FF7BF1C-46AC-4DFE-8288-02C79AC6C0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4200" y="4191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CA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80" name="Line 2060">
            <a:extLst>
              <a:ext uri="{FF2B5EF4-FFF2-40B4-BE49-F238E27FC236}">
                <a16:creationId xmlns:a16="http://schemas.microsoft.com/office/drawing/2014/main" id="{07BBBEC1-72E4-4155-AE7F-497A098B88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64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CA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86" name="Line 2066">
            <a:extLst>
              <a:ext uri="{FF2B5EF4-FFF2-40B4-BE49-F238E27FC236}">
                <a16:creationId xmlns:a16="http://schemas.microsoft.com/office/drawing/2014/main" id="{4070C1BE-1565-4203-AF68-F6F6A7815A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191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CA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89" name="Text Box 2070">
            <a:extLst>
              <a:ext uri="{FF2B5EF4-FFF2-40B4-BE49-F238E27FC236}">
                <a16:creationId xmlns:a16="http://schemas.microsoft.com/office/drawing/2014/main" id="{3DFF4A4F-BAC0-4B0D-9799-43144A629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6248401"/>
            <a:ext cx="689871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600" dirty="0">
                <a:solidFill>
                  <a:srgbClr val="000000"/>
                </a:solidFill>
                <a:latin typeface="Tahoma" panose="020B0604030504040204" pitchFamily="34" charset="0"/>
              </a:rPr>
              <a:t>Note: Rétroaction n’est pas automatique; elle est contextuelle</a:t>
            </a: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23E86E13-380E-6AD4-7B74-72226968EAE5}"/>
              </a:ext>
            </a:extLst>
          </p:cNvPr>
          <p:cNvCxnSpPr>
            <a:stCxn id="7171" idx="2"/>
            <a:endCxn id="7172" idx="0"/>
          </p:cNvCxnSpPr>
          <p:nvPr/>
        </p:nvCxnSpPr>
        <p:spPr>
          <a:xfrm>
            <a:off x="3460750" y="3048000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050">
            <a:extLst>
              <a:ext uri="{FF2B5EF4-FFF2-40B4-BE49-F238E27FC236}">
                <a16:creationId xmlns:a16="http://schemas.microsoft.com/office/drawing/2014/main" id="{8617B91F-72FB-439A-8A25-9098127A3D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377" eaLnBrk="1" hangingPunct="1">
              <a:lnSpc>
                <a:spcPts val="4400"/>
              </a:lnSpc>
            </a:pPr>
            <a:r>
              <a:rPr lang="fr-CA" altLang="fr-FR" sz="4000" kern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Indissociabilité de la planification et du contrôle</a:t>
            </a:r>
          </a:p>
        </p:txBody>
      </p:sp>
      <p:sp>
        <p:nvSpPr>
          <p:cNvPr id="7171" name="Rectangle 2051">
            <a:extLst>
              <a:ext uri="{FF2B5EF4-FFF2-40B4-BE49-F238E27FC236}">
                <a16:creationId xmlns:a16="http://schemas.microsoft.com/office/drawing/2014/main" id="{F919D71D-DBD1-44CD-B149-FC7F211B7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057400"/>
            <a:ext cx="1587500" cy="990600"/>
          </a:xfrm>
          <a:prstGeom prst="rect">
            <a:avLst/>
          </a:prstGeom>
          <a:solidFill>
            <a:srgbClr val="87E004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Plan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stratégique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(programmes)</a:t>
            </a:r>
          </a:p>
        </p:txBody>
      </p:sp>
      <p:sp>
        <p:nvSpPr>
          <p:cNvPr id="7172" name="Rectangle 2052">
            <a:extLst>
              <a:ext uri="{FF2B5EF4-FFF2-40B4-BE49-F238E27FC236}">
                <a16:creationId xmlns:a16="http://schemas.microsoft.com/office/drawing/2014/main" id="{F4DAE7E6-186C-4433-AE20-97985F082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657600"/>
            <a:ext cx="1587500" cy="990600"/>
          </a:xfrm>
          <a:prstGeom prst="rect">
            <a:avLst/>
          </a:prstGeom>
          <a:solidFill>
            <a:srgbClr val="98F2FE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>
                <a:solidFill>
                  <a:srgbClr val="000000"/>
                </a:solidFill>
              </a:rPr>
              <a:t>Budget</a:t>
            </a:r>
          </a:p>
        </p:txBody>
      </p:sp>
      <p:sp>
        <p:nvSpPr>
          <p:cNvPr id="7173" name="Rectangle 2053">
            <a:extLst>
              <a:ext uri="{FF2B5EF4-FFF2-40B4-BE49-F238E27FC236}">
                <a16:creationId xmlns:a16="http://schemas.microsoft.com/office/drawing/2014/main" id="{26BC2416-0BD2-414F-9068-9852F0417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105400"/>
            <a:ext cx="1587500" cy="990600"/>
          </a:xfrm>
          <a:prstGeom prst="rect">
            <a:avLst/>
          </a:prstGeom>
          <a:solidFill>
            <a:srgbClr val="CCFF3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Écart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 significatif?</a:t>
            </a:r>
          </a:p>
        </p:txBody>
      </p:sp>
      <p:sp>
        <p:nvSpPr>
          <p:cNvPr id="7174" name="Rectangle 2054">
            <a:extLst>
              <a:ext uri="{FF2B5EF4-FFF2-40B4-BE49-F238E27FC236}">
                <a16:creationId xmlns:a16="http://schemas.microsoft.com/office/drawing/2014/main" id="{0EC50612-1249-4885-A695-5EA7367A0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105400"/>
            <a:ext cx="1587500" cy="990600"/>
          </a:xfrm>
          <a:prstGeom prst="rect">
            <a:avLst/>
          </a:prstGeom>
          <a:solidFill>
            <a:srgbClr val="CCFF3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CA" altLang="fr-FR" sz="1800">
              <a:solidFill>
                <a:srgbClr val="000000"/>
              </a:solidFill>
            </a:endParaRP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>
                <a:solidFill>
                  <a:srgbClr val="000000"/>
                </a:solidFill>
              </a:rPr>
              <a:t>Analyse et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>
                <a:solidFill>
                  <a:srgbClr val="000000"/>
                </a:solidFill>
              </a:rPr>
              <a:t>correction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CA" altLang="fr-FR" sz="1800">
              <a:solidFill>
                <a:srgbClr val="000000"/>
              </a:solidFill>
            </a:endParaRP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CA" altLang="fr-FR" sz="1800">
              <a:solidFill>
                <a:srgbClr val="000000"/>
              </a:solidFill>
            </a:endParaRPr>
          </a:p>
        </p:txBody>
      </p:sp>
      <p:sp>
        <p:nvSpPr>
          <p:cNvPr id="7175" name="Rectangle 2055">
            <a:extLst>
              <a:ext uri="{FF2B5EF4-FFF2-40B4-BE49-F238E27FC236}">
                <a16:creationId xmlns:a16="http://schemas.microsoft.com/office/drawing/2014/main" id="{885A59C6-78E5-41B8-9D09-101BA9A9B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657600"/>
            <a:ext cx="1587500" cy="99060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Calcul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 des écarts</a:t>
            </a:r>
          </a:p>
        </p:txBody>
      </p:sp>
      <p:sp>
        <p:nvSpPr>
          <p:cNvPr id="7176" name="Rectangle 2056">
            <a:extLst>
              <a:ext uri="{FF2B5EF4-FFF2-40B4-BE49-F238E27FC236}">
                <a16:creationId xmlns:a16="http://schemas.microsoft.com/office/drawing/2014/main" id="{C5BB6808-B568-4482-9D0B-EB824B18A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3657600"/>
            <a:ext cx="1587500" cy="990600"/>
          </a:xfrm>
          <a:prstGeom prst="rect">
            <a:avLst/>
          </a:prstGeom>
          <a:solidFill>
            <a:srgbClr val="98F2FE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>
                <a:solidFill>
                  <a:srgbClr val="000000"/>
                </a:solidFill>
              </a:rPr>
              <a:t>Résultats</a:t>
            </a:r>
          </a:p>
        </p:txBody>
      </p:sp>
      <p:sp>
        <p:nvSpPr>
          <p:cNvPr id="7177" name="Rectangle 2057">
            <a:extLst>
              <a:ext uri="{FF2B5EF4-FFF2-40B4-BE49-F238E27FC236}">
                <a16:creationId xmlns:a16="http://schemas.microsoft.com/office/drawing/2014/main" id="{3240A9CA-20C8-42A8-9E47-6FF7A0426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2057400"/>
            <a:ext cx="1587500" cy="9906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800" dirty="0">
                <a:solidFill>
                  <a:srgbClr val="000000"/>
                </a:solidFill>
              </a:rPr>
              <a:t>Transactions</a:t>
            </a:r>
          </a:p>
        </p:txBody>
      </p:sp>
      <p:sp>
        <p:nvSpPr>
          <p:cNvPr id="7178" name="Line 2058">
            <a:extLst>
              <a:ext uri="{FF2B5EF4-FFF2-40B4-BE49-F238E27FC236}">
                <a16:creationId xmlns:a16="http://schemas.microsoft.com/office/drawing/2014/main" id="{77D81BC7-D5CC-4BF8-82F6-891A398BE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3048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CA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9" name="Line 2059">
            <a:extLst>
              <a:ext uri="{FF2B5EF4-FFF2-40B4-BE49-F238E27FC236}">
                <a16:creationId xmlns:a16="http://schemas.microsoft.com/office/drawing/2014/main" id="{0FF7BF1C-46AC-4DFE-8288-02C79AC6C0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4200" y="4191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CA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80" name="Line 2060">
            <a:extLst>
              <a:ext uri="{FF2B5EF4-FFF2-40B4-BE49-F238E27FC236}">
                <a16:creationId xmlns:a16="http://schemas.microsoft.com/office/drawing/2014/main" id="{07BBBEC1-72E4-4155-AE7F-497A098B88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64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CA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81" name="Line 2061">
            <a:extLst>
              <a:ext uri="{FF2B5EF4-FFF2-40B4-BE49-F238E27FC236}">
                <a16:creationId xmlns:a16="http://schemas.microsoft.com/office/drawing/2014/main" id="{D76E838C-EF06-4C06-883F-89806740877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30700" y="5638800"/>
            <a:ext cx="10033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CA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82" name="Text Box 2062">
            <a:extLst>
              <a:ext uri="{FF2B5EF4-FFF2-40B4-BE49-F238E27FC236}">
                <a16:creationId xmlns:a16="http://schemas.microsoft.com/office/drawing/2014/main" id="{A1E05EE6-E481-4C04-9BA1-608986E2C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2326" y="5062538"/>
            <a:ext cx="588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2400">
                <a:solidFill>
                  <a:srgbClr val="000000"/>
                </a:solidFill>
                <a:latin typeface="Tahoma" panose="020B0604030504040204" pitchFamily="34" charset="0"/>
              </a:rPr>
              <a:t>oui</a:t>
            </a:r>
          </a:p>
        </p:txBody>
      </p:sp>
      <p:sp>
        <p:nvSpPr>
          <p:cNvPr id="7186" name="Line 2066">
            <a:extLst>
              <a:ext uri="{FF2B5EF4-FFF2-40B4-BE49-F238E27FC236}">
                <a16:creationId xmlns:a16="http://schemas.microsoft.com/office/drawing/2014/main" id="{4070C1BE-1565-4203-AF68-F6F6A7815A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183696"/>
            <a:ext cx="1066800" cy="7304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CA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89" name="Text Box 2070">
            <a:extLst>
              <a:ext uri="{FF2B5EF4-FFF2-40B4-BE49-F238E27FC236}">
                <a16:creationId xmlns:a16="http://schemas.microsoft.com/office/drawing/2014/main" id="{3DFF4A4F-BAC0-4B0D-9799-43144A629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6248401"/>
            <a:ext cx="689871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fr-CA" altLang="fr-FR" sz="1600" dirty="0">
                <a:solidFill>
                  <a:srgbClr val="000000"/>
                </a:solidFill>
                <a:latin typeface="Tahoma" panose="020B0604030504040204" pitchFamily="34" charset="0"/>
              </a:rPr>
              <a:t>Note: Rétroaction n’est pas automatique; elle est contextuelle</a:t>
            </a:r>
          </a:p>
        </p:txBody>
      </p:sp>
      <p:cxnSp>
        <p:nvCxnSpPr>
          <p:cNvPr id="17" name="Connecteur : en angle 16">
            <a:extLst>
              <a:ext uri="{FF2B5EF4-FFF2-40B4-BE49-F238E27FC236}">
                <a16:creationId xmlns:a16="http://schemas.microsoft.com/office/drawing/2014/main" id="{D1903A68-2638-B0DC-6867-CA3817F01484}"/>
              </a:ext>
            </a:extLst>
          </p:cNvPr>
          <p:cNvCxnSpPr>
            <a:stCxn id="7174" idx="1"/>
            <a:endCxn id="7171" idx="1"/>
          </p:cNvCxnSpPr>
          <p:nvPr/>
        </p:nvCxnSpPr>
        <p:spPr>
          <a:xfrm rot="10800000">
            <a:off x="2667000" y="2552700"/>
            <a:ext cx="76200" cy="3048000"/>
          </a:xfrm>
          <a:prstGeom prst="bentConnector3">
            <a:avLst>
              <a:gd name="adj1" fmla="val 116744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 : en angle 19">
            <a:extLst>
              <a:ext uri="{FF2B5EF4-FFF2-40B4-BE49-F238E27FC236}">
                <a16:creationId xmlns:a16="http://schemas.microsoft.com/office/drawing/2014/main" id="{7F6CB8F7-4BE8-1144-520F-78C53C71EC54}"/>
              </a:ext>
            </a:extLst>
          </p:cNvPr>
          <p:cNvCxnSpPr>
            <a:stCxn id="7174" idx="1"/>
            <a:endCxn id="7172" idx="1"/>
          </p:cNvCxnSpPr>
          <p:nvPr/>
        </p:nvCxnSpPr>
        <p:spPr>
          <a:xfrm rot="10800000">
            <a:off x="2667000" y="4152900"/>
            <a:ext cx="76200" cy="1447800"/>
          </a:xfrm>
          <a:prstGeom prst="bentConnector3">
            <a:avLst>
              <a:gd name="adj1" fmla="val 4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2C7D0108-8914-434C-B1BC-741A929305B5}"/>
              </a:ext>
            </a:extLst>
          </p:cNvPr>
          <p:cNvCxnSpPr>
            <a:stCxn id="7171" idx="2"/>
            <a:endCxn id="7172" idx="0"/>
          </p:cNvCxnSpPr>
          <p:nvPr/>
        </p:nvCxnSpPr>
        <p:spPr>
          <a:xfrm>
            <a:off x="3460750" y="3048000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17932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5574AF-EBC0-4FF3-9E4D-4F70738B3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Contrôle budgétaire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8D950E-6B39-4C02-8785-F6A7F36A7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44809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dirty="0"/>
              <a:t>Le budget constitue une traduction des objectifs de l’organisation en termes financiers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dirty="0"/>
              <a:t>Si on souhaite faire de la gestion par objectifs, il est impératif de comprendre pourquoi les objectifs ont été outrepassés ou non atteints</a:t>
            </a:r>
          </a:p>
          <a:p>
            <a:pPr marL="0" marR="0" lvl="0" indent="0" algn="l" defTabSz="914377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fr-CA" sz="26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357707" lvl="1" indent="0">
              <a:buNone/>
            </a:pPr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2A9E09-253B-4CCD-A4BE-ECD413AD3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B25B09-B9A6-4811-8700-6D36B9CE20D1}" type="slidenum">
              <a:rPr kumimoji="0" lang="fr-CA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fr-CA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AD36F7AC-74AF-4442-3085-D9DF490CFBEE}"/>
              </a:ext>
            </a:extLst>
          </p:cNvPr>
          <p:cNvSpPr/>
          <p:nvPr/>
        </p:nvSpPr>
        <p:spPr>
          <a:xfrm>
            <a:off x="1310326" y="4572000"/>
            <a:ext cx="9417377" cy="150828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fr-CA" sz="18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Contrôle budgétaire:</a:t>
            </a:r>
          </a:p>
          <a:p>
            <a:pPr marL="0" marR="0" lvl="0" indent="0" algn="ctr" defTabSz="914377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fr-CA" sz="18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Mécanisme de surveillance et d’évaluation reposant sur l’analyse d’écarts budgétaires</a:t>
            </a:r>
          </a:p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71252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49713A-AAEF-4F94-94EE-148E65211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Écarts budgétaires de premier niveau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2ADB5D-7595-4C9A-991B-CF0B170AA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/>
              <a:t>Imaginons une entreprise ayant un produit un budget d’exploitation prévoyant des ventes de 25 000 unités, mais qui a outrepassé son objectif en fin d’année, atteignant des ventes de 27 000 unités</a:t>
            </a:r>
          </a:p>
          <a:p>
            <a:pPr marL="0" indent="0">
              <a:buNone/>
            </a:pPr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1C1438-6906-4AF4-9475-BDDA21A3E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19</a:t>
            </a:fld>
            <a:endParaRPr lang="fr-CA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E31B3E0-7C3B-419E-8A74-FDD00652B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811" y="3164191"/>
            <a:ext cx="9053345" cy="336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197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D92AC6-6170-4AD3-8EBE-867494A33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Limite de l’analyse de premier niveau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013FC1-7DAB-422F-8263-F7B6B984A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1800"/>
              </a:spcAft>
              <a:buNone/>
            </a:pPr>
            <a:r>
              <a:rPr lang="fr-CA" dirty="0"/>
              <a:t>Il existe deux sources principales de variation des résultats par rapport au budget:</a:t>
            </a:r>
          </a:p>
          <a:p>
            <a:pPr marL="872057" lvl="1" indent="-514350">
              <a:buFont typeface="+mj-lt"/>
              <a:buAutoNum type="arabicPeriod"/>
            </a:pPr>
            <a:r>
              <a:rPr lang="fr-CA" dirty="0"/>
              <a:t>Le volume de vente n’est pas celui qui avait été prévu</a:t>
            </a:r>
          </a:p>
          <a:p>
            <a:pPr marL="872057" lvl="1" indent="-514350">
              <a:spcAft>
                <a:spcPts val="1800"/>
              </a:spcAft>
              <a:buFont typeface="+mj-lt"/>
              <a:buAutoNum type="arabicPeriod"/>
            </a:pPr>
            <a:r>
              <a:rPr lang="fr-CA" dirty="0"/>
              <a:t>Les paramètres financiers (prix de vente, coût </a:t>
            </a:r>
            <a:r>
              <a:rPr lang="fr-CA"/>
              <a:t>des ressources) </a:t>
            </a:r>
            <a:r>
              <a:rPr lang="fr-CA" dirty="0"/>
              <a:t>et de consommation de ressources (quantité de MP, heures MOD, heures machines, …) ne correspondent pas à ceux qui avaient été budgétés</a:t>
            </a:r>
          </a:p>
          <a:p>
            <a:pPr marL="0" indent="0">
              <a:buNone/>
            </a:pPr>
            <a:r>
              <a:rPr lang="fr-CA" dirty="0"/>
              <a:t>En ne comportant qu’une seule dimension, l’analyse de premier niveau ne nous permet pas de distinguer l’impact spécifique à chacune de ces deux sources de variation</a:t>
            </a:r>
          </a:p>
          <a:p>
            <a:pPr marL="357707" lvl="1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441C0F-913F-4331-A5A0-669657634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22658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926F37-B18A-49AF-B6B3-41816F48D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6693"/>
            <a:ext cx="10515600" cy="1128514"/>
          </a:xfrm>
        </p:spPr>
        <p:txBody>
          <a:bodyPr/>
          <a:lstStyle/>
          <a:p>
            <a:r>
              <a:rPr lang="fr-CA" dirty="0"/>
              <a:t>Analyse de second niveau à l’aide du budget flexible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9B171D-2304-4520-B131-00A7CDB17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>
                <a:highlight>
                  <a:srgbClr val="FFFF00"/>
                </a:highlight>
              </a:rPr>
              <a:t>Insérons</a:t>
            </a:r>
            <a:r>
              <a:rPr lang="fr-CA" dirty="0"/>
              <a:t> la colonne supplémentaire, soit celle incluant </a:t>
            </a:r>
            <a:r>
              <a:rPr lang="fr-CA" dirty="0">
                <a:highlight>
                  <a:srgbClr val="FFFF00"/>
                </a:highlight>
              </a:rPr>
              <a:t>budget révisé </a:t>
            </a:r>
            <a:r>
              <a:rPr lang="fr-CA" dirty="0"/>
              <a:t>en fonction du </a:t>
            </a:r>
            <a:r>
              <a:rPr lang="fr-CA" dirty="0">
                <a:highlight>
                  <a:srgbClr val="FFFF00"/>
                </a:highlight>
              </a:rPr>
              <a:t>volume</a:t>
            </a:r>
            <a:r>
              <a:rPr lang="fr-CA" dirty="0"/>
              <a:t> de ventes </a:t>
            </a:r>
            <a:r>
              <a:rPr lang="fr-CA" dirty="0">
                <a:highlight>
                  <a:srgbClr val="FFFF00"/>
                </a:highlight>
              </a:rPr>
              <a:t>réellement</a:t>
            </a:r>
            <a:r>
              <a:rPr lang="fr-CA" dirty="0"/>
              <a:t> atteint </a:t>
            </a:r>
          </a:p>
          <a:p>
            <a:pPr marL="0" indent="0">
              <a:buNone/>
            </a:pPr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4AD030B-D0D1-4416-93B4-6201CD870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21</a:t>
            </a:fld>
            <a:endParaRPr lang="fr-CA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831B8B3-41C5-463F-A5C1-E2391E16F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931" y="2760727"/>
            <a:ext cx="8908552" cy="411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09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4B5C01-2848-45C4-A903-A343D242C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 budget flexible (ou budget révisé)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148BEB-1C33-4118-8209-0C2256850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1800"/>
              </a:spcAft>
              <a:buNone/>
            </a:pPr>
            <a:r>
              <a:rPr lang="fr-CA" dirty="0"/>
              <a:t>En ajoutant une dimension à notre processus d’analyse budgétaire, le budget flexible nous permet donc de bien identifier l’impact de chacune des deux principales sources de variation </a:t>
            </a:r>
          </a:p>
          <a:p>
            <a:pPr marL="0" indent="0">
              <a:spcAft>
                <a:spcPts val="1800"/>
              </a:spcAft>
              <a:buNone/>
            </a:pPr>
            <a:endParaRPr lang="fr-CA" dirty="0"/>
          </a:p>
          <a:p>
            <a:pPr marL="0" indent="0">
              <a:buNone/>
            </a:pPr>
            <a:r>
              <a:rPr lang="fr-CA" dirty="0"/>
              <a:t>Dans notre exemple, on constate que le résultat brut n’a pas augmenté autant qu’on l’aurait souhaité, principalement parce que</a:t>
            </a:r>
          </a:p>
          <a:p>
            <a:pPr lvl="1"/>
            <a:r>
              <a:rPr lang="fr-CA" dirty="0"/>
              <a:t>Le prix de vente unitaire a été réduit</a:t>
            </a:r>
          </a:p>
          <a:p>
            <a:pPr lvl="1"/>
            <a:r>
              <a:rPr lang="fr-CA" dirty="0"/>
              <a:t>Certains coûts de fabrication (la MOD et les FGF fixes) ont été plus élevés que prévus</a:t>
            </a:r>
          </a:p>
          <a:p>
            <a:pPr marL="0" indent="0">
              <a:buNone/>
            </a:pPr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FCC07EF-E1AA-4091-9B59-2F19382C1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54070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045826-BD80-4DC6-804C-42913DBA1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Analyse d’écarts – niveaux subséquents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7CDE3D-E32F-4A93-BC46-5050F1616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En appliquant la logique de la décomposition des éléments de quantité (volume) et de prix, on peut poursuivre le développement des écarts en ajoutant des niveaux d’analyse</a:t>
            </a:r>
          </a:p>
          <a:p>
            <a:r>
              <a:rPr lang="fr-CA" dirty="0"/>
              <a:t>Prenons l’exemple de la matière première:</a:t>
            </a:r>
          </a:p>
          <a:p>
            <a:pPr lvl="2"/>
            <a:r>
              <a:rPr lang="fr-CA" dirty="0"/>
              <a:t>Écart de quantité:(28 350 – 27 000) x 85 $	= 114 750 $ défavorable</a:t>
            </a:r>
          </a:p>
          <a:p>
            <a:pPr lvl="2"/>
            <a:r>
              <a:rPr lang="fr-CA" dirty="0"/>
              <a:t>Écart de prix : 	 (79 $ - 85 $) x 28 350 	= 170 100 $ favorable </a:t>
            </a:r>
          </a:p>
          <a:p>
            <a:pPr lvl="2"/>
            <a:endParaRPr lang="fr-CA" dirty="0"/>
          </a:p>
          <a:p>
            <a:pPr marL="0" indent="0">
              <a:buNone/>
            </a:pPr>
            <a:r>
              <a:rPr lang="fr-CA" dirty="0"/>
              <a:t>Ce type d’analyse, basé sur de simples opérations arithmétiques, peuvent constituer un exercice de contrôle budgétaire complet et fort instructif pour l’organisation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EFB1B5-D6B8-4091-B7CA-CFFABB0A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735768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8DAA4C7-F51F-4AB7-BAA7-2BCFCF9E6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E2B84E-4C6E-4A99-8104-C80351DEF369}" type="slidenum">
              <a:rPr kumimoji="0" lang="fr-CA" altLang="fr-FR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fr-CA" altLang="fr-FR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41378A8-3ECA-4332-9FC0-4B3CB2559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347" y="-5787"/>
            <a:ext cx="6264998" cy="68580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F9F0162-68CB-4B1B-9F32-6B28F277F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700" y="3587943"/>
            <a:ext cx="4858371" cy="108223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32EFD6F-BF55-4247-9548-BBEC7C5EDF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8902" y="559108"/>
            <a:ext cx="4751896" cy="2169833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0765315B-44CC-4326-B484-D7A9C953749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382706" y="6375383"/>
            <a:ext cx="4691540" cy="46703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rtlCol="0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FDF"/>
              </a:buClr>
              <a:buSzPct val="125000"/>
              <a:buFontTx/>
              <a:buNone/>
              <a:tabLst/>
              <a:defRPr/>
            </a:pPr>
            <a:r>
              <a:rPr kumimoji="0" lang="fr-CA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Source: Boisvert H., Vézina M., (2017) </a:t>
            </a:r>
            <a:r>
              <a:rPr kumimoji="0" lang="fr-CA" sz="11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Outils de contrôle stratégiques, Ed. JFD</a:t>
            </a:r>
            <a:endParaRPr kumimoji="0" lang="fr-CA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0766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653644-652C-419A-9CCF-D571A8B38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6693"/>
            <a:ext cx="10515600" cy="1128514"/>
          </a:xfrm>
        </p:spPr>
        <p:txBody>
          <a:bodyPr/>
          <a:lstStyle/>
          <a:p>
            <a:r>
              <a:rPr lang="fr-CA" dirty="0"/>
              <a:t>Contrôle budgétaire et analyse d’écarts – quelques éléments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F1B609-582F-4D72-A362-E02862B99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Le contrôle budgétaire est un exercice arithmétique visant à expliquer pourquoi les résultats réels diffèrent des prévisions</a:t>
            </a:r>
          </a:p>
          <a:p>
            <a:pPr lvl="1"/>
            <a:r>
              <a:rPr lang="fr-CA" dirty="0"/>
              <a:t>Il s’agit en fait d’un exercice de </a:t>
            </a:r>
            <a:r>
              <a:rPr lang="fr-CA" b="1" i="1" u="sng" dirty="0">
                <a:highlight>
                  <a:srgbClr val="FFFF00"/>
                </a:highlight>
              </a:rPr>
              <a:t>conciliation</a:t>
            </a:r>
          </a:p>
          <a:p>
            <a:endParaRPr lang="fr-CA" dirty="0"/>
          </a:p>
          <a:p>
            <a:r>
              <a:rPr lang="fr-CA" dirty="0"/>
              <a:t>L’utilisation d’un système de </a:t>
            </a:r>
            <a:r>
              <a:rPr lang="fr-CA" i="1" dirty="0"/>
              <a:t>coût standard </a:t>
            </a:r>
            <a:r>
              <a:rPr lang="fr-CA" dirty="0"/>
              <a:t>facilite le contrôle</a:t>
            </a:r>
          </a:p>
          <a:p>
            <a:endParaRPr lang="fr-CA" dirty="0"/>
          </a:p>
          <a:p>
            <a:r>
              <a:rPr lang="fr-CA" dirty="0"/>
              <a:t>L’exercice quantitatif de conciliation </a:t>
            </a:r>
            <a:r>
              <a:rPr lang="fr-CA" b="1" i="1" u="sng" dirty="0"/>
              <a:t>doit être complété </a:t>
            </a:r>
            <a:r>
              <a:rPr lang="fr-CA" dirty="0"/>
              <a:t>par une analyse </a:t>
            </a:r>
            <a:r>
              <a:rPr lang="fr-CA" dirty="0">
                <a:highlight>
                  <a:srgbClr val="FFFF00"/>
                </a:highlight>
              </a:rPr>
              <a:t>qualitative</a:t>
            </a:r>
            <a:r>
              <a:rPr lang="fr-CA" dirty="0"/>
              <a:t> des résultats</a:t>
            </a:r>
          </a:p>
          <a:p>
            <a:endParaRPr lang="fr-CA" dirty="0"/>
          </a:p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ABF6557-4BAE-4AAB-BB85-57292C271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062307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0CD56D-581D-498D-B924-A1D52B5D9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3392" y="998821"/>
            <a:ext cx="9430407" cy="564257"/>
          </a:xfrm>
        </p:spPr>
        <p:txBody>
          <a:bodyPr/>
          <a:lstStyle/>
          <a:p>
            <a:r>
              <a:rPr lang="fr-CA" dirty="0"/>
              <a:t>Les étapes de l’analyse des écarts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3F0535-0D05-4D21-AA4C-6993C66BD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26</a:t>
            </a:fld>
            <a:endParaRPr lang="fr-CA"/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4D0F7C8D-92D5-4CB0-95A0-D9078892D4D6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9135901"/>
              </p:ext>
            </p:extLst>
          </p:nvPr>
        </p:nvGraphicFramePr>
        <p:xfrm>
          <a:off x="838200" y="1825625"/>
          <a:ext cx="10515600" cy="42910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73456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290944" y="682336"/>
            <a:ext cx="11461174" cy="1941594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buClr>
                <a:schemeClr val="accent2"/>
              </a:buClr>
              <a:buFont typeface="Symbol" panose="05050102010706020507" pitchFamily="18" charset="2"/>
              <a:buNone/>
            </a:pPr>
            <a:r>
              <a:rPr kumimoji="1" lang="fr-CA" altLang="fr-FR" sz="2800" dirty="0">
                <a:solidFill>
                  <a:srgbClr val="FF0000"/>
                </a:solidFill>
                <a:latin typeface="Arial Black" panose="020B0A04020102020204" pitchFamily="34" charset="0"/>
              </a:rPr>
              <a:t>Volet 3: </a:t>
            </a:r>
          </a:p>
          <a:p>
            <a:r>
              <a:rPr lang="fr-CA" sz="2800" dirty="0">
                <a:solidFill>
                  <a:schemeClr val="tx1"/>
                </a:solidFill>
                <a:latin typeface="Arial Black" panose="020B0A04020102020204" pitchFamily="34" charset="0"/>
              </a:rPr>
              <a:t>Processus budgétaire: enjeux spécifiques</a:t>
            </a:r>
            <a:endParaRPr lang="fr-CA" sz="2800" b="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73B90A62-6D41-41F7-B122-D18519B9449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B25B09-B9A6-4811-8700-6D36B9CE20D1}" type="slidenum">
              <a:rPr kumimoji="0" lang="fr-CA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fr-CA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ZoneTexte 5">
            <a:extLst>
              <a:ext uri="{FF2B5EF4-FFF2-40B4-BE49-F238E27FC236}">
                <a16:creationId xmlns:a16="http://schemas.microsoft.com/office/drawing/2014/main" id="{481F9457-50CB-45AB-8899-C68C9CC6FF55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0611" y="3213670"/>
            <a:ext cx="533399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84" charset="-128"/>
              </a:defRPr>
            </a:lvl9pPr>
          </a:lstStyle>
          <a:p>
            <a:pPr marL="0" marR="0" lvl="0" indent="0" algn="l" defTabSz="6858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alt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larendon" pitchFamily="18" charset="0"/>
                <a:ea typeface="ヒラギノ角ゴ Pro W3" pitchFamily="84" charset="-128"/>
                <a:cs typeface="+mn-cs"/>
              </a:rPr>
              <a:t>Objectif d’apprentissage</a:t>
            </a:r>
            <a:r>
              <a:rPr kumimoji="0" lang="fr-CA" alt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larendon" pitchFamily="18" charset="0"/>
                <a:ea typeface="ヒラギノ角ゴ Pro W3" pitchFamily="84" charset="-128"/>
                <a:cs typeface="+mn-cs"/>
              </a:rPr>
              <a:t>:</a:t>
            </a:r>
          </a:p>
          <a:p>
            <a:pPr marL="0" marR="0" lvl="0" indent="0" algn="l" defTabSz="6858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alt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larendon" pitchFamily="18" charset="0"/>
                <a:ea typeface="ヒラギノ角ゴ Pro W3" pitchFamily="84" charset="-128"/>
                <a:cs typeface="+mn-cs"/>
              </a:rPr>
              <a:t>Comprendre les apports du processus budgétaires dans divers contexte, ainsi que les défis associés au processus budgétaire</a:t>
            </a:r>
          </a:p>
        </p:txBody>
      </p:sp>
    </p:spTree>
    <p:extLst>
      <p:ext uri="{BB962C8B-B14F-4D97-AF65-F5344CB8AC3E}">
        <p14:creationId xmlns:p14="http://schemas.microsoft.com/office/powerpoint/2010/main" val="23935343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653644-652C-419A-9CCF-D571A8B38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821"/>
            <a:ext cx="10515600" cy="564257"/>
          </a:xfrm>
        </p:spPr>
        <p:txBody>
          <a:bodyPr wrap="square" anchor="ctr">
            <a:normAutofit/>
          </a:bodyPr>
          <a:lstStyle/>
          <a:p>
            <a:r>
              <a:rPr lang="fr-CA" dirty="0"/>
              <a:t>Processus décisionnel dans les OBNL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ABF6557-4BAE-4AAB-BB85-57292C271C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</p:spPr>
        <p:txBody>
          <a:bodyPr anchor="ctr">
            <a:normAutofit/>
          </a:bodyPr>
          <a:lstStyle/>
          <a:p>
            <a:pPr marL="0" marR="0" lvl="0" indent="0" defTabSz="6858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EB25B09-B9A6-4811-8700-6D36B9CE20D1}" type="slidenum">
              <a:rPr kumimoji="0" lang="fr-CA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L="0" marR="0" lvl="0" indent="0" defTabSz="6858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fr-CA" b="1" i="0" u="none" strike="noStrike" kern="120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graphicFrame>
        <p:nvGraphicFramePr>
          <p:cNvPr id="6" name="Espace réservé du contenu 2">
            <a:extLst>
              <a:ext uri="{FF2B5EF4-FFF2-40B4-BE49-F238E27FC236}">
                <a16:creationId xmlns:a16="http://schemas.microsoft.com/office/drawing/2014/main" id="{5EEB8E28-C424-9727-80A1-B118C5FF9F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7510716"/>
              </p:ext>
            </p:extLst>
          </p:nvPr>
        </p:nvGraphicFramePr>
        <p:xfrm>
          <a:off x="838200" y="2204000"/>
          <a:ext cx="10515600" cy="39131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97008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653644-652C-419A-9CCF-D571A8B38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821"/>
            <a:ext cx="10515600" cy="564257"/>
          </a:xfrm>
        </p:spPr>
        <p:txBody>
          <a:bodyPr/>
          <a:lstStyle/>
          <a:p>
            <a:r>
              <a:rPr lang="fr-CA" dirty="0"/>
              <a:t>Le cas du Secteur public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F1B609-582F-4D72-A362-E02862B99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dirty="0"/>
              <a:t>Dans le secteur public, le budget constitue en fait le principal outil de reddition de comptes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dirty="0"/>
              <a:t>L’importance du budget implique hiérarchisation du processus d’allocation des ressources</a:t>
            </a:r>
          </a:p>
          <a:p>
            <a:pPr lvl="1"/>
            <a:r>
              <a:rPr lang="fr-CA" dirty="0"/>
              <a:t>Cette hiérarchisation peut avoir des effets pervers associés à la trop grande fragmentation des budgets</a:t>
            </a:r>
          </a:p>
          <a:p>
            <a:pPr lvl="1"/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ABF6557-4BAE-4AAB-BB85-57292C271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B25B09-B9A6-4811-8700-6D36B9CE20D1}" type="slidenum">
              <a:rPr kumimoji="0" lang="fr-CA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fr-CA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8231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E5FA1F-AA34-4C05-B9A0-1875E3198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6693"/>
            <a:ext cx="10515600" cy="1128514"/>
          </a:xfrm>
        </p:spPr>
        <p:txBody>
          <a:bodyPr/>
          <a:lstStyle/>
          <a:p>
            <a:r>
              <a:rPr lang="fr-CA" dirty="0"/>
              <a:t>Les défis associés au processus budgétaire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45F2FD-0313-4146-ACDB-E2F252124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/>
              <a:t>Au-delà de son coût, qui peut s’avérer élevé pour tous types d’organisations, le processus budgétaires comporte plusieurs défis, dont voici les principaux</a:t>
            </a:r>
          </a:p>
          <a:p>
            <a:pPr marL="0" indent="0">
              <a:buNone/>
            </a:pPr>
            <a:endParaRPr lang="fr-CA" dirty="0"/>
          </a:p>
          <a:p>
            <a:pPr lvl="1"/>
            <a:r>
              <a:rPr lang="fr-CA" dirty="0"/>
              <a:t>Les approches de révision des budgets</a:t>
            </a:r>
          </a:p>
          <a:p>
            <a:pPr lvl="1"/>
            <a:r>
              <a:rPr lang="fr-CA" dirty="0"/>
              <a:t>La participation des gestionnaires au processus budgétaires, i.e. approche ascendante (</a:t>
            </a:r>
            <a:r>
              <a:rPr lang="fr-CA" i="1" dirty="0" err="1"/>
              <a:t>bottom</a:t>
            </a:r>
            <a:r>
              <a:rPr lang="fr-CA" i="1" dirty="0"/>
              <a:t> up</a:t>
            </a:r>
            <a:r>
              <a:rPr lang="fr-CA" dirty="0"/>
              <a:t>) ou descendante (</a:t>
            </a:r>
            <a:r>
              <a:rPr lang="fr-CA" i="1" dirty="0"/>
              <a:t>top down</a:t>
            </a:r>
            <a:r>
              <a:rPr lang="fr-CA" dirty="0"/>
              <a:t>)</a:t>
            </a:r>
          </a:p>
          <a:p>
            <a:pPr lvl="1"/>
            <a:r>
              <a:rPr lang="fr-CA" dirty="0"/>
              <a:t>La manipulation des données</a:t>
            </a:r>
          </a:p>
          <a:p>
            <a:pPr lvl="1"/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5DD92D4-1F42-4F23-8951-D8FEE62F5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30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60406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itre 1">
            <a:extLst>
              <a:ext uri="{FF2B5EF4-FFF2-40B4-BE49-F238E27FC236}">
                <a16:creationId xmlns:a16="http://schemas.microsoft.com/office/drawing/2014/main" id="{B3344D10-0B9C-4009-933D-4D8FEF20C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8214" y="356682"/>
            <a:ext cx="7343775" cy="848735"/>
          </a:xfrm>
        </p:spPr>
        <p:txBody>
          <a:bodyPr>
            <a:normAutofit/>
          </a:bodyPr>
          <a:lstStyle/>
          <a:p>
            <a:r>
              <a:rPr lang="fr-CA" altLang="fr-FR" dirty="0"/>
              <a:t>Révisions budgétaires</a:t>
            </a:r>
          </a:p>
        </p:txBody>
      </p:sp>
      <p:sp>
        <p:nvSpPr>
          <p:cNvPr id="27652" name="Espace réservé du contenu 3">
            <a:extLst>
              <a:ext uri="{FF2B5EF4-FFF2-40B4-BE49-F238E27FC236}">
                <a16:creationId xmlns:a16="http://schemas.microsoft.com/office/drawing/2014/main" id="{4ADB013B-6D05-4E4C-839F-16B4173DF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8214" y="1619251"/>
            <a:ext cx="8135937" cy="4537075"/>
          </a:xfrm>
        </p:spPr>
        <p:txBody>
          <a:bodyPr/>
          <a:lstStyle/>
          <a:p>
            <a:r>
              <a:rPr lang="fr-CA" altLang="fr-FR" sz="2400" dirty="0"/>
              <a:t>Budget fixe</a:t>
            </a:r>
          </a:p>
          <a:p>
            <a:endParaRPr lang="fr-CA" altLang="fr-FR" sz="2400" dirty="0"/>
          </a:p>
          <a:p>
            <a:endParaRPr lang="fr-CA" altLang="fr-FR" sz="2400" dirty="0"/>
          </a:p>
          <a:p>
            <a:r>
              <a:rPr lang="fr-CA" altLang="fr-FR" sz="2400" dirty="0"/>
              <a:t>Budget évolutif (avec reprojection)</a:t>
            </a:r>
          </a:p>
          <a:p>
            <a:endParaRPr lang="fr-CA" altLang="fr-FR" sz="2400" dirty="0"/>
          </a:p>
          <a:p>
            <a:pPr>
              <a:buFontTx/>
              <a:buNone/>
            </a:pPr>
            <a:endParaRPr lang="fr-CA" altLang="fr-FR" sz="2400" dirty="0"/>
          </a:p>
          <a:p>
            <a:r>
              <a:rPr lang="fr-CA" altLang="fr-FR" sz="2400" dirty="0"/>
              <a:t>Budget en continu (avec reprojection et prévisions)</a:t>
            </a:r>
          </a:p>
          <a:p>
            <a:endParaRPr lang="fr-CA" altLang="fr-FR" sz="2400" dirty="0"/>
          </a:p>
        </p:txBody>
      </p:sp>
      <p:sp>
        <p:nvSpPr>
          <p:cNvPr id="27650" name="Rectangle 6">
            <a:extLst>
              <a:ext uri="{FF2B5EF4-FFF2-40B4-BE49-F238E27FC236}">
                <a16:creationId xmlns:a16="http://schemas.microsoft.com/office/drawing/2014/main" id="{CDFDB290-FD2D-4F72-BF70-C6D703F973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379413" y="6238517"/>
            <a:ext cx="462249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F09B2519-D33D-4B3D-AFFD-8A068359D311}" type="slidenum">
              <a:rPr lang="fr-FR" altLang="fr-FR" sz="120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fr-FR" altLang="fr-FR" sz="1200" dirty="0"/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296281E2-E842-4CA7-B2B4-1B47C2DB8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913" y="2060576"/>
            <a:ext cx="1223962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fr-CA" sz="2000" dirty="0"/>
              <a:t>Trim. 1</a:t>
            </a: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64CC710F-4190-4798-918A-1579B6C9F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2726" y="4076701"/>
            <a:ext cx="1223963" cy="3603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fr-CA" sz="2000" dirty="0" err="1"/>
              <a:t>Trim</a:t>
            </a:r>
            <a:r>
              <a:rPr lang="fr-CA" sz="2000" dirty="0"/>
              <a:t> 4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5BB1A7DF-E81A-46D4-AC01-9647A9D7D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549651"/>
            <a:ext cx="1223962" cy="3603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fr-CA" sz="2000" dirty="0"/>
              <a:t>Trim. 1</a:t>
            </a: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032706C0-811D-4F7C-914D-FC52BC42A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1" y="3549651"/>
            <a:ext cx="1223963" cy="3603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fr-CA" sz="2000" dirty="0" err="1"/>
              <a:t>Trim</a:t>
            </a:r>
            <a:r>
              <a:rPr lang="fr-CA" sz="2000" dirty="0"/>
              <a:t> 2</a:t>
            </a: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C2F47FE6-395E-4AA7-91A8-CEE5E484E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8763" y="3549651"/>
            <a:ext cx="1223962" cy="3603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fr-CA" sz="2000" dirty="0" err="1"/>
              <a:t>Trim</a:t>
            </a:r>
            <a:r>
              <a:rPr lang="fr-CA" sz="2000" dirty="0"/>
              <a:t> 3</a:t>
            </a:r>
          </a:p>
        </p:txBody>
      </p:sp>
      <p:sp>
        <p:nvSpPr>
          <p:cNvPr id="25" name="Rectangle 5">
            <a:extLst>
              <a:ext uri="{FF2B5EF4-FFF2-40B4-BE49-F238E27FC236}">
                <a16:creationId xmlns:a16="http://schemas.microsoft.com/office/drawing/2014/main" id="{1DD60064-FEAA-4728-806C-0DCEB570E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5263" y="3549651"/>
            <a:ext cx="1223962" cy="3603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fr-CA" sz="2000" dirty="0" err="1"/>
              <a:t>Trim</a:t>
            </a:r>
            <a:r>
              <a:rPr lang="fr-CA" sz="2000" dirty="0"/>
              <a:t> 4</a:t>
            </a:r>
          </a:p>
        </p:txBody>
      </p:sp>
      <p:sp>
        <p:nvSpPr>
          <p:cNvPr id="26" name="Rectangle 4">
            <a:extLst>
              <a:ext uri="{FF2B5EF4-FFF2-40B4-BE49-F238E27FC236}">
                <a16:creationId xmlns:a16="http://schemas.microsoft.com/office/drawing/2014/main" id="{E0010A8D-88DC-4C80-B68F-9D0F352FE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1" y="4076701"/>
            <a:ext cx="1223963" cy="3603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fr-CA" sz="2000" dirty="0" err="1"/>
              <a:t>Trim</a:t>
            </a:r>
            <a:r>
              <a:rPr lang="fr-CA" sz="2000" dirty="0"/>
              <a:t> 2</a:t>
            </a:r>
          </a:p>
        </p:txBody>
      </p:sp>
      <p:sp>
        <p:nvSpPr>
          <p:cNvPr id="27" name="Rectangle 5">
            <a:extLst>
              <a:ext uri="{FF2B5EF4-FFF2-40B4-BE49-F238E27FC236}">
                <a16:creationId xmlns:a16="http://schemas.microsoft.com/office/drawing/2014/main" id="{61ED645E-5A92-4A1F-9BED-53DF54DDC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8763" y="4076701"/>
            <a:ext cx="1223962" cy="3603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fr-CA" sz="2000" dirty="0" err="1"/>
              <a:t>Trim</a:t>
            </a:r>
            <a:r>
              <a:rPr lang="fr-CA" sz="2000" dirty="0"/>
              <a:t> 3</a:t>
            </a:r>
          </a:p>
        </p:txBody>
      </p:sp>
      <p:sp>
        <p:nvSpPr>
          <p:cNvPr id="28" name="Rectangle 5">
            <a:extLst>
              <a:ext uri="{FF2B5EF4-FFF2-40B4-BE49-F238E27FC236}">
                <a16:creationId xmlns:a16="http://schemas.microsoft.com/office/drawing/2014/main" id="{97DB4006-A155-4DC7-83B3-0EFA528AF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1" y="2060576"/>
            <a:ext cx="12239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fr-CA" sz="2000" dirty="0" err="1"/>
              <a:t>Trim</a:t>
            </a:r>
            <a:r>
              <a:rPr lang="fr-CA" sz="2000" dirty="0"/>
              <a:t> 4</a:t>
            </a:r>
          </a:p>
        </p:txBody>
      </p:sp>
      <p:sp>
        <p:nvSpPr>
          <p:cNvPr id="29" name="Rectangle 4">
            <a:extLst>
              <a:ext uri="{FF2B5EF4-FFF2-40B4-BE49-F238E27FC236}">
                <a16:creationId xmlns:a16="http://schemas.microsoft.com/office/drawing/2014/main" id="{3E1B4743-5FF8-4449-867E-4C6D035E4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2413" y="2060576"/>
            <a:ext cx="1223962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fr-CA" sz="2000" dirty="0" err="1"/>
              <a:t>Trim</a:t>
            </a:r>
            <a:r>
              <a:rPr lang="fr-CA" sz="2000" dirty="0"/>
              <a:t> 2</a:t>
            </a:r>
          </a:p>
        </p:txBody>
      </p:sp>
      <p:sp>
        <p:nvSpPr>
          <p:cNvPr id="30" name="Rectangle 5">
            <a:extLst>
              <a:ext uri="{FF2B5EF4-FFF2-40B4-BE49-F238E27FC236}">
                <a16:creationId xmlns:a16="http://schemas.microsoft.com/office/drawing/2014/main" id="{DEC55000-5123-4BF2-A993-2CA6B0564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76" y="2060576"/>
            <a:ext cx="12239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fr-CA" sz="2000" dirty="0" err="1"/>
              <a:t>Trim</a:t>
            </a:r>
            <a:r>
              <a:rPr lang="fr-CA" sz="2000" dirty="0"/>
              <a:t> 3</a:t>
            </a:r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C2E16AFB-9598-4BCD-8CB0-330BB8D61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7188" y="5715001"/>
            <a:ext cx="1223962" cy="3603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fr-CA" sz="2000" dirty="0" err="1"/>
              <a:t>Trim</a:t>
            </a:r>
            <a:r>
              <a:rPr lang="fr-CA" sz="2000" dirty="0"/>
              <a:t> 4</a:t>
            </a: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D88902F3-85A3-421D-B806-68C1F727D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301" y="5189539"/>
            <a:ext cx="12239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fr-CA" sz="2000" dirty="0"/>
              <a:t>Trim. 1</a:t>
            </a:r>
          </a:p>
        </p:txBody>
      </p:sp>
      <p:sp>
        <p:nvSpPr>
          <p:cNvPr id="33" name="Rectangle 4">
            <a:extLst>
              <a:ext uri="{FF2B5EF4-FFF2-40B4-BE49-F238E27FC236}">
                <a16:creationId xmlns:a16="http://schemas.microsoft.com/office/drawing/2014/main" id="{C922B32F-A9EC-4A1D-9E28-D4FE10CC9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9263" y="5189539"/>
            <a:ext cx="1223962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fr-CA" sz="2000" dirty="0" err="1"/>
              <a:t>Trim</a:t>
            </a:r>
            <a:r>
              <a:rPr lang="fr-CA" sz="2000" dirty="0"/>
              <a:t> 2</a:t>
            </a:r>
          </a:p>
        </p:txBody>
      </p:sp>
      <p:sp>
        <p:nvSpPr>
          <p:cNvPr id="34" name="Rectangle 5">
            <a:extLst>
              <a:ext uri="{FF2B5EF4-FFF2-40B4-BE49-F238E27FC236}">
                <a16:creationId xmlns:a16="http://schemas.microsoft.com/office/drawing/2014/main" id="{E2AAFBDE-126E-437D-962C-BF9A90033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3226" y="5189539"/>
            <a:ext cx="12239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fr-CA" sz="2000" dirty="0" err="1"/>
              <a:t>Trim</a:t>
            </a:r>
            <a:r>
              <a:rPr lang="fr-CA" sz="2000" dirty="0"/>
              <a:t> 3</a:t>
            </a:r>
          </a:p>
        </p:txBody>
      </p:sp>
      <p:sp>
        <p:nvSpPr>
          <p:cNvPr id="35" name="Rectangle 5">
            <a:extLst>
              <a:ext uri="{FF2B5EF4-FFF2-40B4-BE49-F238E27FC236}">
                <a16:creationId xmlns:a16="http://schemas.microsoft.com/office/drawing/2014/main" id="{C5F1D9A1-54E9-4148-8A21-84233AE49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26" y="5189539"/>
            <a:ext cx="12239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fr-CA" sz="2000" dirty="0" err="1"/>
              <a:t>Trim</a:t>
            </a:r>
            <a:r>
              <a:rPr lang="fr-CA" sz="2000" dirty="0"/>
              <a:t> 4</a:t>
            </a:r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64F45671-5D0D-4FC3-AD63-7602438FD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9263" y="5715001"/>
            <a:ext cx="1223962" cy="3603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fr-CA" sz="2000" dirty="0" err="1"/>
              <a:t>Trim</a:t>
            </a:r>
            <a:r>
              <a:rPr lang="fr-CA" sz="2000" dirty="0"/>
              <a:t> 2</a:t>
            </a:r>
          </a:p>
        </p:txBody>
      </p:sp>
      <p:sp>
        <p:nvSpPr>
          <p:cNvPr id="37" name="Rectangle 5">
            <a:extLst>
              <a:ext uri="{FF2B5EF4-FFF2-40B4-BE49-F238E27FC236}">
                <a16:creationId xmlns:a16="http://schemas.microsoft.com/office/drawing/2014/main" id="{41FB049D-4EA9-47FC-8F78-41BA7BEF8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3226" y="5715001"/>
            <a:ext cx="1223963" cy="3603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fr-CA" sz="2000" dirty="0" err="1"/>
              <a:t>Trim</a:t>
            </a:r>
            <a:r>
              <a:rPr lang="fr-CA" sz="2000" dirty="0"/>
              <a:t> 3</a:t>
            </a:r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ECBC8134-BD79-4FB8-A843-694259A5F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5913" y="5715001"/>
            <a:ext cx="1223962" cy="3603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fr-CA" sz="2000" dirty="0" err="1"/>
              <a:t>Trim</a:t>
            </a:r>
            <a:r>
              <a:rPr lang="fr-CA" sz="2000" dirty="0"/>
              <a:t> 5</a:t>
            </a:r>
          </a:p>
        </p:txBody>
      </p:sp>
    </p:spTree>
    <p:extLst>
      <p:ext uri="{BB962C8B-B14F-4D97-AF65-F5344CB8AC3E}">
        <p14:creationId xmlns:p14="http://schemas.microsoft.com/office/powerpoint/2010/main" val="30281826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0AF15E7-0A3E-41D1-A4CD-6574463C5A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38704"/>
            <a:ext cx="10515600" cy="564257"/>
          </a:xfrm>
        </p:spPr>
        <p:txBody>
          <a:bodyPr>
            <a:normAutofit/>
          </a:bodyPr>
          <a:lstStyle/>
          <a:p>
            <a:pPr eaLnBrk="1" hangingPunct="1"/>
            <a:r>
              <a:rPr lang="fr-FR" altLang="fr-FR" b="1" dirty="0">
                <a:cs typeface="Times New Roman" panose="02020603050405020304" pitchFamily="18" charset="0"/>
              </a:rPr>
              <a:t>La philosophie du processus budgétaire </a:t>
            </a:r>
            <a:endParaRPr lang="fr-CA" altLang="fr-FR" b="1" dirty="0">
              <a:cs typeface="Times New Roman" panose="02020603050405020304" pitchFamily="18" charset="0"/>
            </a:endParaRPr>
          </a:p>
        </p:txBody>
      </p:sp>
      <p:graphicFrame>
        <p:nvGraphicFramePr>
          <p:cNvPr id="34" name="Espace réservé du contenu 33">
            <a:extLst>
              <a:ext uri="{FF2B5EF4-FFF2-40B4-BE49-F238E27FC236}">
                <a16:creationId xmlns:a16="http://schemas.microsoft.com/office/drawing/2014/main" id="{160C158E-06CF-40FD-AFB3-8F03F7624C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9864719"/>
              </p:ext>
            </p:extLst>
          </p:nvPr>
        </p:nvGraphicFramePr>
        <p:xfrm>
          <a:off x="2784764" y="2305485"/>
          <a:ext cx="7453745" cy="2377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5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7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5939">
                <a:tc>
                  <a:txBody>
                    <a:bodyPr/>
                    <a:lstStyle/>
                    <a:p>
                      <a:r>
                        <a:rPr lang="fr-CA" sz="1800" b="0" dirty="0">
                          <a:solidFill>
                            <a:schemeClr val="bg2"/>
                          </a:solidFill>
                        </a:rPr>
                        <a:t>Rapide et systématique, cette approche permet d’orienter clairement les gestionnaires vers les objectifs visés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A" sz="1800" b="0" dirty="0">
                          <a:solidFill>
                            <a:schemeClr val="bg2"/>
                          </a:solidFill>
                        </a:rPr>
                        <a:t>Participative, permet aux gestionnaires de comprendre et de s’approprier le budget. Améliore grandement l’imputabilité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842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800" b="0" dirty="0">
                          <a:solidFill>
                            <a:schemeClr val="bg2"/>
                          </a:solidFill>
                        </a:rPr>
                        <a:t>Imposée, ne permet aux gestionnaires de comprendre et de s’approprier le budget. Il se sente généralement peu imputables</a:t>
                      </a: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A" sz="1800" b="0" dirty="0">
                          <a:solidFill>
                            <a:schemeClr val="bg2"/>
                          </a:solidFill>
                        </a:rPr>
                        <a:t>Prend temps et</a:t>
                      </a:r>
                      <a:r>
                        <a:rPr lang="fr-CA" sz="1800" b="0" baseline="0" dirty="0">
                          <a:solidFill>
                            <a:schemeClr val="bg2"/>
                          </a:solidFill>
                        </a:rPr>
                        <a:t> énergie et nécessite souvent beaucoup de négociation avant d’arriver à un consensus</a:t>
                      </a:r>
                      <a:endParaRPr lang="fr-CA" sz="1800" b="0" dirty="0">
                        <a:solidFill>
                          <a:schemeClr val="bg2"/>
                        </a:solidFill>
                      </a:endParaRPr>
                    </a:p>
                  </a:txBody>
                  <a:tcPr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425" name="AutoShape 25">
            <a:extLst>
              <a:ext uri="{FF2B5EF4-FFF2-40B4-BE49-F238E27FC236}">
                <a16:creationId xmlns:a16="http://schemas.microsoft.com/office/drawing/2014/main" id="{E6840B86-2A7D-48D9-A921-E8C083E43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9830" y="1233921"/>
            <a:ext cx="2081212" cy="762000"/>
          </a:xfrm>
          <a:prstGeom prst="downArrowCallout">
            <a:avLst>
              <a:gd name="adj1" fmla="val 92362"/>
              <a:gd name="adj2" fmla="val 75812"/>
              <a:gd name="adj3" fmla="val 17949"/>
              <a:gd name="adj4" fmla="val 66667"/>
            </a:avLst>
          </a:prstGeom>
          <a:solidFill>
            <a:srgbClr val="FFCC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2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MÉTHODE DESCENDANTE</a:t>
            </a:r>
            <a:endParaRPr lang="fr-FR" altLang="fr-FR" sz="1400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3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26" name="AutoShape 26">
            <a:extLst>
              <a:ext uri="{FF2B5EF4-FFF2-40B4-BE49-F238E27FC236}">
                <a16:creationId xmlns:a16="http://schemas.microsoft.com/office/drawing/2014/main" id="{0B6AA249-B405-4B77-A0C2-1F58EB4DB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0047" y="1157721"/>
            <a:ext cx="2081212" cy="838200"/>
          </a:xfrm>
          <a:prstGeom prst="downArrowCallout">
            <a:avLst>
              <a:gd name="adj1" fmla="val 68281"/>
              <a:gd name="adj2" fmla="val 68281"/>
              <a:gd name="adj3" fmla="val 16667"/>
              <a:gd name="adj4" fmla="val 66667"/>
            </a:avLst>
          </a:prstGeom>
          <a:solidFill>
            <a:srgbClr val="FFCC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200" b="1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MÉTHODE ASCENDANTE</a:t>
            </a:r>
            <a:endParaRPr lang="fr-FR" altLang="fr-FR" sz="1400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3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897348-3FE7-4B6D-934F-0FCE38BC55E7}"/>
              </a:ext>
            </a:extLst>
          </p:cNvPr>
          <p:cNvSpPr/>
          <p:nvPr/>
        </p:nvSpPr>
        <p:spPr>
          <a:xfrm>
            <a:off x="675409" y="3731925"/>
            <a:ext cx="1714500" cy="71437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fr-CA" sz="2000" b="1" dirty="0">
                <a:solidFill>
                  <a:schemeClr val="bg1"/>
                </a:solidFill>
              </a:rPr>
              <a:t>Désavantages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AE4300-8DEC-4620-9BB0-3410741954BD}"/>
              </a:ext>
            </a:extLst>
          </p:cNvPr>
          <p:cNvSpPr/>
          <p:nvPr/>
        </p:nvSpPr>
        <p:spPr>
          <a:xfrm>
            <a:off x="675409" y="2531485"/>
            <a:ext cx="1714500" cy="71437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fr-CA" sz="2000" b="1" dirty="0">
                <a:solidFill>
                  <a:schemeClr val="bg1"/>
                </a:solidFill>
              </a:rPr>
              <a:t>Avantages</a:t>
            </a:r>
          </a:p>
        </p:txBody>
      </p:sp>
      <p:graphicFrame>
        <p:nvGraphicFramePr>
          <p:cNvPr id="2" name="Tableau 2">
            <a:extLst>
              <a:ext uri="{FF2B5EF4-FFF2-40B4-BE49-F238E27FC236}">
                <a16:creationId xmlns:a16="http://schemas.microsoft.com/office/drawing/2014/main" id="{117B4AC0-277F-4A73-B9D1-D97682DA03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725364"/>
              </p:ext>
            </p:extLst>
          </p:nvPr>
        </p:nvGraphicFramePr>
        <p:xfrm>
          <a:off x="2784764" y="5162621"/>
          <a:ext cx="7453744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2458">
                  <a:extLst>
                    <a:ext uri="{9D8B030D-6E8A-4147-A177-3AD203B41FA5}">
                      <a16:colId xmlns:a16="http://schemas.microsoft.com/office/drawing/2014/main" val="575480877"/>
                    </a:ext>
                  </a:extLst>
                </a:gridCol>
                <a:gridCol w="3901286">
                  <a:extLst>
                    <a:ext uri="{9D8B030D-6E8A-4147-A177-3AD203B41FA5}">
                      <a16:colId xmlns:a16="http://schemas.microsoft.com/office/drawing/2014/main" val="40196658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A" sz="1600" b="0" dirty="0">
                          <a:solidFill>
                            <a:schemeClr val="tx1"/>
                          </a:solidFill>
                        </a:rPr>
                        <a:t>Les gestionnaires sont responsables d’exécuter la stratégie.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 dirty="0">
                          <a:solidFill>
                            <a:schemeClr val="tx1"/>
                          </a:solidFill>
                        </a:rPr>
                        <a:t>Les gestionnaires ont la capacité d’orienter les actions de leur unité administrative afin d’atteindre les objectifs stratégiques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7381415"/>
                  </a:ext>
                </a:extLst>
              </a:tr>
            </a:tbl>
          </a:graphicData>
        </a:graphic>
      </p:graphicFrame>
      <p:sp>
        <p:nvSpPr>
          <p:cNvPr id="3" name="Flèche : bas 2">
            <a:extLst>
              <a:ext uri="{FF2B5EF4-FFF2-40B4-BE49-F238E27FC236}">
                <a16:creationId xmlns:a16="http://schemas.microsoft.com/office/drawing/2014/main" id="{17292FEC-E3DC-4E7D-B4CC-9032054E8190}"/>
              </a:ext>
            </a:extLst>
          </p:cNvPr>
          <p:cNvSpPr/>
          <p:nvPr/>
        </p:nvSpPr>
        <p:spPr>
          <a:xfrm>
            <a:off x="4530436" y="4768597"/>
            <a:ext cx="373639" cy="3844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0" name="Flèche : bas 9">
            <a:extLst>
              <a:ext uri="{FF2B5EF4-FFF2-40B4-BE49-F238E27FC236}">
                <a16:creationId xmlns:a16="http://schemas.microsoft.com/office/drawing/2014/main" id="{A77B67E4-0B67-40E4-AAD8-F6F6D9160B5F}"/>
              </a:ext>
            </a:extLst>
          </p:cNvPr>
          <p:cNvSpPr/>
          <p:nvPr/>
        </p:nvSpPr>
        <p:spPr>
          <a:xfrm>
            <a:off x="7845136" y="4730607"/>
            <a:ext cx="373639" cy="3844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64A6765B-889E-40F9-A757-2A12D0B7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2" y="6524902"/>
            <a:ext cx="167999" cy="167999"/>
          </a:xfrm>
        </p:spPr>
        <p:txBody>
          <a:bodyPr/>
          <a:lstStyle/>
          <a:p>
            <a:fld id="{EEB25B09-B9A6-4811-8700-6D36B9CE20D1}" type="slidenum">
              <a:rPr lang="fr-CA" smtClean="0"/>
              <a:t>32</a:t>
            </a:fld>
            <a:endParaRPr lang="fr-CA" dirty="0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A3B18E-95B6-4A82-87F8-AF844F569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Manipulation des données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DC06A2-5AA8-4DC8-B910-0BCF6A5B2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dirty="0"/>
              <a:t>Anticipant que les écarts budgétaires pourraient être utilisés pour évaluer leurs performances, les gestionnaires participant au processus budgétaire peuvent:</a:t>
            </a:r>
          </a:p>
          <a:p>
            <a:r>
              <a:rPr lang="fr-CA" dirty="0"/>
              <a:t>Profiter de leur connaissance du terrain pour émettre des prévisions exagérément conservatrice (</a:t>
            </a:r>
            <a:r>
              <a:rPr lang="fr-CA" i="1" dirty="0" err="1"/>
              <a:t>slack</a:t>
            </a:r>
            <a:r>
              <a:rPr lang="fr-CA" dirty="0"/>
              <a:t> budgétaire) </a:t>
            </a:r>
          </a:p>
          <a:p>
            <a:r>
              <a:rPr lang="fr-CA" dirty="0"/>
              <a:t>Manipuler les transactions ou les opérations, affectant ainsi les résultats réels (lissage)</a:t>
            </a:r>
          </a:p>
          <a:p>
            <a:pPr marL="0" indent="0">
              <a:buNone/>
            </a:pPr>
            <a:r>
              <a:rPr lang="fr-CA" dirty="0"/>
              <a:t>Il incombe à la direction de mettre en place les conditions minimisant les possibilités de manipulation (voir les conditions de succès)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F780332-10E4-4012-A2E3-CEB0D41BA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25B09-B9A6-4811-8700-6D36B9CE20D1}" type="slidenum">
              <a:rPr lang="fr-CA" smtClean="0"/>
              <a:t>33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665752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13509" y="408709"/>
            <a:ext cx="10515600" cy="564257"/>
          </a:xfrm>
        </p:spPr>
        <p:txBody>
          <a:bodyPr/>
          <a:lstStyle/>
          <a:p>
            <a:r>
              <a:rPr lang="fr-CA" dirty="0"/>
              <a:t>Conclusion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5C8E014-8C89-8ED8-26E3-82B5279DB19E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(c) Michel Vézina adapté par Claude Laurin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D84451-BB67-4C0F-BDD0-7BAC02C6F33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B25B09-B9A6-4811-8700-6D36B9CE20D1}" type="slidenum">
              <a:rPr kumimoji="0" lang="fr-CA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fr-CA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AutoShape 6" descr="Procurement | GEP">
            <a:extLst>
              <a:ext uri="{FF2B5EF4-FFF2-40B4-BE49-F238E27FC236}">
                <a16:creationId xmlns:a16="http://schemas.microsoft.com/office/drawing/2014/main" id="{9C90DDF1-00E5-491D-984C-D83EEC0A13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F90AA62-1BFF-4C33-B815-E78D20060E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3989" y="1116106"/>
            <a:ext cx="8417858" cy="516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2693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26">
            <a:extLst>
              <a:ext uri="{FF2B5EF4-FFF2-40B4-BE49-F238E27FC236}">
                <a16:creationId xmlns:a16="http://schemas.microsoft.com/office/drawing/2014/main" id="{9EBE3219-3928-43AA-9007-4006514CCC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998401"/>
            <a:ext cx="10515600" cy="564257"/>
          </a:xfrm>
        </p:spPr>
        <p:txBody>
          <a:bodyPr wrap="square" anchor="ctr">
            <a:normAutofit/>
          </a:bodyPr>
          <a:lstStyle/>
          <a:p>
            <a:r>
              <a:rPr lang="fr-CA" altLang="fr-FR" sz="3700"/>
              <a:t>Facteurs de réussite du processus budgétaire</a:t>
            </a:r>
          </a:p>
        </p:txBody>
      </p:sp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A34F08E9-FDCC-47EB-A079-56724C1F3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</p:spPr>
        <p:txBody>
          <a:bodyPr anchor="ctr">
            <a:normAutofit/>
          </a:bodyPr>
          <a:lstStyle/>
          <a:p>
            <a:pPr marL="0" marR="0" lvl="0" indent="0" defTabSz="6858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EB25B09-B9A6-4811-8700-6D36B9CE20D1}" type="slidenum">
              <a:rPr kumimoji="0" lang="fr-CA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L="0" marR="0" lvl="0" indent="0" defTabSz="6858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fr-CA" b="1" i="0" u="none" strike="noStrike" kern="120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graphicFrame>
        <p:nvGraphicFramePr>
          <p:cNvPr id="48133" name="Rectangle 1027">
            <a:extLst>
              <a:ext uri="{FF2B5EF4-FFF2-40B4-BE49-F238E27FC236}">
                <a16:creationId xmlns:a16="http://schemas.microsoft.com/office/drawing/2014/main" id="{377E40BC-E09B-BDD0-889B-E1EBBD4A85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6459271"/>
              </p:ext>
            </p:extLst>
          </p:nvPr>
        </p:nvGraphicFramePr>
        <p:xfrm>
          <a:off x="838200" y="2204000"/>
          <a:ext cx="10515600" cy="39131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109403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Thème FCD_F">
  <a:themeElements>
    <a:clrScheme name="HEC ED">
      <a:dk1>
        <a:srgbClr val="000000"/>
      </a:dk1>
      <a:lt1>
        <a:srgbClr val="FFFFFF"/>
      </a:lt1>
      <a:dk2>
        <a:srgbClr val="003C71"/>
      </a:dk2>
      <a:lt2>
        <a:srgbClr val="003C71"/>
      </a:lt2>
      <a:accent1>
        <a:srgbClr val="009FDF"/>
      </a:accent1>
      <a:accent2>
        <a:srgbClr val="009FDF"/>
      </a:accent2>
      <a:accent3>
        <a:srgbClr val="97999B"/>
      </a:accent3>
      <a:accent4>
        <a:srgbClr val="97999B"/>
      </a:accent4>
      <a:accent5>
        <a:srgbClr val="3CB5E6"/>
      </a:accent5>
      <a:accent6>
        <a:srgbClr val="3CB5E6"/>
      </a:accent6>
      <a:hlink>
        <a:srgbClr val="009FDF"/>
      </a:hlink>
      <a:folHlink>
        <a:srgbClr val="009FDF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 FCD_F" id="{08654BEC-F64F-473F-AF2B-36F3D2CE5BC3}" vid="{8917B93F-FFD9-4619-9788-391FA70B431E}"/>
    </a:ext>
  </a:extLst>
</a:theme>
</file>

<file path=ppt/theme/theme2.xml><?xml version="1.0" encoding="utf-8"?>
<a:theme xmlns:a="http://schemas.openxmlformats.org/drawingml/2006/main" name="1_Thème FCD_F">
  <a:themeElements>
    <a:clrScheme name="HEC ED">
      <a:dk1>
        <a:srgbClr val="000000"/>
      </a:dk1>
      <a:lt1>
        <a:srgbClr val="FFFFFF"/>
      </a:lt1>
      <a:dk2>
        <a:srgbClr val="003C71"/>
      </a:dk2>
      <a:lt2>
        <a:srgbClr val="003C71"/>
      </a:lt2>
      <a:accent1>
        <a:srgbClr val="009FDF"/>
      </a:accent1>
      <a:accent2>
        <a:srgbClr val="009FDF"/>
      </a:accent2>
      <a:accent3>
        <a:srgbClr val="97999B"/>
      </a:accent3>
      <a:accent4>
        <a:srgbClr val="97999B"/>
      </a:accent4>
      <a:accent5>
        <a:srgbClr val="3CB5E6"/>
      </a:accent5>
      <a:accent6>
        <a:srgbClr val="3CB5E6"/>
      </a:accent6>
      <a:hlink>
        <a:srgbClr val="009FDF"/>
      </a:hlink>
      <a:folHlink>
        <a:srgbClr val="009FDF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 FCD_F" id="{08654BEC-F64F-473F-AF2B-36F3D2CE5BC3}" vid="{8917B93F-FFD9-4619-9788-391FA70B431E}"/>
    </a:ext>
  </a:extLst>
</a:theme>
</file>

<file path=ppt/theme/theme3.xml><?xml version="1.0" encoding="utf-8"?>
<a:theme xmlns:a="http://schemas.openxmlformats.org/drawingml/2006/main" name="Réseau">
  <a:themeElements>
    <a:clrScheme name="Réseau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Rése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éseau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éseau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éseau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éseau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éseau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éseau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éseau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éseau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éseau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éseau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Thème FCD_F">
  <a:themeElements>
    <a:clrScheme name="HEC ED">
      <a:dk1>
        <a:srgbClr val="000000"/>
      </a:dk1>
      <a:lt1>
        <a:srgbClr val="FFFFFF"/>
      </a:lt1>
      <a:dk2>
        <a:srgbClr val="003C71"/>
      </a:dk2>
      <a:lt2>
        <a:srgbClr val="003C71"/>
      </a:lt2>
      <a:accent1>
        <a:srgbClr val="009FDF"/>
      </a:accent1>
      <a:accent2>
        <a:srgbClr val="009FDF"/>
      </a:accent2>
      <a:accent3>
        <a:srgbClr val="97999B"/>
      </a:accent3>
      <a:accent4>
        <a:srgbClr val="97999B"/>
      </a:accent4>
      <a:accent5>
        <a:srgbClr val="3CB5E6"/>
      </a:accent5>
      <a:accent6>
        <a:srgbClr val="3CB5E6"/>
      </a:accent6>
      <a:hlink>
        <a:srgbClr val="009FDF"/>
      </a:hlink>
      <a:folHlink>
        <a:srgbClr val="009FDF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 FCD_F" id="{08654BEC-F64F-473F-AF2B-36F3D2CE5BC3}" vid="{8917B93F-FFD9-4619-9788-391FA70B431E}"/>
    </a:ext>
  </a:extLst>
</a:theme>
</file>

<file path=ppt/theme/theme5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 FCD_F</Template>
  <TotalTime>5090</TotalTime>
  <Words>1944</Words>
  <Application>Microsoft Office PowerPoint</Application>
  <PresentationFormat>Grand écran</PresentationFormat>
  <Paragraphs>332</Paragraphs>
  <Slides>35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5</vt:i4>
      </vt:variant>
      <vt:variant>
        <vt:lpstr>Titres des diapositives</vt:lpstr>
      </vt:variant>
      <vt:variant>
        <vt:i4>35</vt:i4>
      </vt:variant>
    </vt:vector>
  </HeadingPairs>
  <TitlesOfParts>
    <vt:vector size="51" baseType="lpstr">
      <vt:lpstr>Arial</vt:lpstr>
      <vt:lpstr>Arial Black</vt:lpstr>
      <vt:lpstr>Calibri</vt:lpstr>
      <vt:lpstr>Calibri Light</vt:lpstr>
      <vt:lpstr>Candara</vt:lpstr>
      <vt:lpstr>Clarendon</vt:lpstr>
      <vt:lpstr>Comic Sans MS</vt:lpstr>
      <vt:lpstr>Symbol</vt:lpstr>
      <vt:lpstr>Tahoma</vt:lpstr>
      <vt:lpstr>Times New Roman</vt:lpstr>
      <vt:lpstr>Wingdings</vt:lpstr>
      <vt:lpstr>Thème FCD_F</vt:lpstr>
      <vt:lpstr>1_Thème FCD_F</vt:lpstr>
      <vt:lpstr>Réseau</vt:lpstr>
      <vt:lpstr>3_Thème FCD_F</vt:lpstr>
      <vt:lpstr>Rétrospective</vt:lpstr>
      <vt:lpstr>Contrôle de gestion stratégique </vt:lpstr>
      <vt:lpstr>Plan du module gestion budgétaire </vt:lpstr>
      <vt:lpstr>Présentation PowerPoint</vt:lpstr>
      <vt:lpstr>La place du budget dans la planification stratégique</vt:lpstr>
      <vt:lpstr>Présentation PowerPoint</vt:lpstr>
      <vt:lpstr>Les composantes et rôles du budget – Importantes mises en garde!</vt:lpstr>
      <vt:lpstr>Le budget des investissements</vt:lpstr>
      <vt:lpstr>Présentation PowerPoint</vt:lpstr>
      <vt:lpstr>Le budget de caisse </vt:lpstr>
      <vt:lpstr>États financiers pro forma </vt:lpstr>
      <vt:lpstr>Présentation PowerPoint</vt:lpstr>
      <vt:lpstr>Présentation PowerPoint</vt:lpstr>
      <vt:lpstr>Indissociabilité de la planification et du contrôle</vt:lpstr>
      <vt:lpstr>Indissociabilité de la planification et du contrôle</vt:lpstr>
      <vt:lpstr>Indissociabilité de la planification et du contrôle</vt:lpstr>
      <vt:lpstr>Indissociabilité de la planification et du contrôle</vt:lpstr>
      <vt:lpstr>Indissociabilité de la planification et du contrôle</vt:lpstr>
      <vt:lpstr>Contrôle budgétaire </vt:lpstr>
      <vt:lpstr>Écarts budgétaires de premier niveau</vt:lpstr>
      <vt:lpstr>Limite de l’analyse de premier niveau</vt:lpstr>
      <vt:lpstr>Analyse de second niveau à l’aide du budget flexible</vt:lpstr>
      <vt:lpstr>Le budget flexible (ou budget révisé)</vt:lpstr>
      <vt:lpstr>Analyse d’écarts – niveaux subséquents</vt:lpstr>
      <vt:lpstr>Présentation PowerPoint</vt:lpstr>
      <vt:lpstr>Contrôle budgétaire et analyse d’écarts – quelques éléments </vt:lpstr>
      <vt:lpstr>Les étapes de l’analyse des écarts</vt:lpstr>
      <vt:lpstr>Présentation PowerPoint</vt:lpstr>
      <vt:lpstr>Processus décisionnel dans les OBNL</vt:lpstr>
      <vt:lpstr>Le cas du Secteur public</vt:lpstr>
      <vt:lpstr>Les défis associés au processus budgétaire</vt:lpstr>
      <vt:lpstr>Révisions budgétaires</vt:lpstr>
      <vt:lpstr>La philosophie du processus budgétaire </vt:lpstr>
      <vt:lpstr>Manipulation des données </vt:lpstr>
      <vt:lpstr>Conclusion</vt:lpstr>
      <vt:lpstr>Facteurs de réussite du processus budgétaire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SOKRI Marzouk</cp:lastModifiedBy>
  <cp:revision>3</cp:revision>
  <dcterms:created xsi:type="dcterms:W3CDTF">2015-04-27T19:21:52Z</dcterms:created>
  <dcterms:modified xsi:type="dcterms:W3CDTF">2025-04-07T01:45:45Z</dcterms:modified>
</cp:coreProperties>
</file>