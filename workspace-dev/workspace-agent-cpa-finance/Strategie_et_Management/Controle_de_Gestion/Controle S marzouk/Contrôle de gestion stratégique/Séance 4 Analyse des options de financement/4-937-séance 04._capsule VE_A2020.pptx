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3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5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6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7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8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9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0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12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13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14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15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16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17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18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034" r:id="rId1"/>
  </p:sldMasterIdLst>
  <p:notesMasterIdLst>
    <p:notesMasterId r:id="rId26"/>
  </p:notesMasterIdLst>
  <p:sldIdLst>
    <p:sldId id="261" r:id="rId2"/>
    <p:sldId id="310" r:id="rId3"/>
    <p:sldId id="328" r:id="rId4"/>
    <p:sldId id="293" r:id="rId5"/>
    <p:sldId id="308" r:id="rId6"/>
    <p:sldId id="309" r:id="rId7"/>
    <p:sldId id="329" r:id="rId8"/>
    <p:sldId id="292" r:id="rId9"/>
    <p:sldId id="330" r:id="rId10"/>
    <p:sldId id="294" r:id="rId11"/>
    <p:sldId id="331" r:id="rId12"/>
    <p:sldId id="317" r:id="rId13"/>
    <p:sldId id="295" r:id="rId14"/>
    <p:sldId id="296" r:id="rId15"/>
    <p:sldId id="327" r:id="rId16"/>
    <p:sldId id="322" r:id="rId17"/>
    <p:sldId id="319" r:id="rId18"/>
    <p:sldId id="320" r:id="rId19"/>
    <p:sldId id="321" r:id="rId20"/>
    <p:sldId id="324" r:id="rId21"/>
    <p:sldId id="323" r:id="rId22"/>
    <p:sldId id="325" r:id="rId23"/>
    <p:sldId id="326" r:id="rId24"/>
    <p:sldId id="290" r:id="rId25"/>
  </p:sldIdLst>
  <p:sldSz cx="12192000" cy="6858000"/>
  <p:notesSz cx="7077075" cy="93694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0595" autoAdjust="0"/>
  </p:normalViewPr>
  <p:slideViewPr>
    <p:cSldViewPr snapToGrid="0">
      <p:cViewPr varScale="1">
        <p:scale>
          <a:sx n="64" d="100"/>
          <a:sy n="64" d="100"/>
        </p:scale>
        <p:origin x="1426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1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24CC5C-4237-4AC9-A80D-E169AA1F398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016D00A5-37BE-463E-B60A-68816145CC94}">
      <dgm:prSet phldrT="[Texte]"/>
      <dgm:spPr/>
      <dgm:t>
        <a:bodyPr/>
        <a:lstStyle/>
        <a:p>
          <a:r>
            <a:rPr lang="fr-CA" dirty="0"/>
            <a:t>Fonds générés par l’entreprise</a:t>
          </a:r>
        </a:p>
      </dgm:t>
    </dgm:pt>
    <dgm:pt modelId="{99AE3679-0B52-4EAA-BE90-1D35611EFA59}" type="parTrans" cxnId="{2CEF7115-78E5-4338-A36E-03F9FC20A184}">
      <dgm:prSet/>
      <dgm:spPr/>
      <dgm:t>
        <a:bodyPr/>
        <a:lstStyle/>
        <a:p>
          <a:endParaRPr lang="fr-CA"/>
        </a:p>
      </dgm:t>
    </dgm:pt>
    <dgm:pt modelId="{4473E0AD-C840-402F-A9E9-1009AAB28912}" type="sibTrans" cxnId="{2CEF7115-78E5-4338-A36E-03F9FC20A184}">
      <dgm:prSet/>
      <dgm:spPr/>
      <dgm:t>
        <a:bodyPr/>
        <a:lstStyle/>
        <a:p>
          <a:endParaRPr lang="fr-CA"/>
        </a:p>
      </dgm:t>
    </dgm:pt>
    <dgm:pt modelId="{5AC97824-30BB-4A0C-999E-B3A52E8C947A}">
      <dgm:prSet phldrT="[Texte]"/>
      <dgm:spPr/>
      <dgm:t>
        <a:bodyPr/>
        <a:lstStyle/>
        <a:p>
          <a:r>
            <a:rPr lang="fr-CA" dirty="0"/>
            <a:t>Réinvestissement des bénéfices</a:t>
          </a:r>
        </a:p>
      </dgm:t>
    </dgm:pt>
    <dgm:pt modelId="{5CE5D02D-A709-4742-B253-E5DE73546C1D}" type="parTrans" cxnId="{BC4EC3E6-908E-4205-819D-256004B57F26}">
      <dgm:prSet/>
      <dgm:spPr/>
      <dgm:t>
        <a:bodyPr/>
        <a:lstStyle/>
        <a:p>
          <a:endParaRPr lang="fr-CA"/>
        </a:p>
      </dgm:t>
    </dgm:pt>
    <dgm:pt modelId="{4C7D1A07-7B8C-4B23-9119-0D5D4EF1805F}" type="sibTrans" cxnId="{BC4EC3E6-908E-4205-819D-256004B57F26}">
      <dgm:prSet/>
      <dgm:spPr/>
      <dgm:t>
        <a:bodyPr/>
        <a:lstStyle/>
        <a:p>
          <a:endParaRPr lang="fr-CA"/>
        </a:p>
      </dgm:t>
    </dgm:pt>
    <dgm:pt modelId="{8EEF79A0-8C53-4599-AC3F-C660F2EB03C2}">
      <dgm:prSet phldrT="[Texte]"/>
      <dgm:spPr/>
      <dgm:t>
        <a:bodyPr/>
        <a:lstStyle/>
        <a:p>
          <a:r>
            <a:rPr lang="fr-CA" dirty="0"/>
            <a:t>Emprunts</a:t>
          </a:r>
        </a:p>
      </dgm:t>
    </dgm:pt>
    <dgm:pt modelId="{B666226B-3DF4-4B12-9FCD-136B56BA5528}" type="parTrans" cxnId="{7E86260F-E4AB-4EB0-BD7E-7A95B9DA5A59}">
      <dgm:prSet/>
      <dgm:spPr/>
      <dgm:t>
        <a:bodyPr/>
        <a:lstStyle/>
        <a:p>
          <a:endParaRPr lang="fr-CA"/>
        </a:p>
      </dgm:t>
    </dgm:pt>
    <dgm:pt modelId="{5D41C700-7CEF-4E35-9CA2-614E2F7E7647}" type="sibTrans" cxnId="{7E86260F-E4AB-4EB0-BD7E-7A95B9DA5A59}">
      <dgm:prSet/>
      <dgm:spPr/>
      <dgm:t>
        <a:bodyPr/>
        <a:lstStyle/>
        <a:p>
          <a:endParaRPr lang="fr-CA"/>
        </a:p>
      </dgm:t>
    </dgm:pt>
    <dgm:pt modelId="{BB29782E-FA01-4321-841C-F716DAB67F6F}">
      <dgm:prSet phldrT="[Texte]"/>
      <dgm:spPr/>
      <dgm:t>
        <a:bodyPr/>
        <a:lstStyle/>
        <a:p>
          <a:r>
            <a:rPr lang="fr-CA" dirty="0"/>
            <a:t>Ligne de crédit</a:t>
          </a:r>
        </a:p>
      </dgm:t>
    </dgm:pt>
    <dgm:pt modelId="{8FD9A9C6-9520-47C8-9D5C-C61AF35D9D67}" type="parTrans" cxnId="{3058D893-C314-4AA8-A461-3E9C6BD18045}">
      <dgm:prSet/>
      <dgm:spPr/>
      <dgm:t>
        <a:bodyPr/>
        <a:lstStyle/>
        <a:p>
          <a:endParaRPr lang="fr-CA"/>
        </a:p>
      </dgm:t>
    </dgm:pt>
    <dgm:pt modelId="{01D522ED-D2E6-430A-BBCE-F60D23FE7782}" type="sibTrans" cxnId="{3058D893-C314-4AA8-A461-3E9C6BD18045}">
      <dgm:prSet/>
      <dgm:spPr/>
      <dgm:t>
        <a:bodyPr/>
        <a:lstStyle/>
        <a:p>
          <a:endParaRPr lang="fr-CA"/>
        </a:p>
      </dgm:t>
    </dgm:pt>
    <dgm:pt modelId="{FD0511E3-44B2-460C-88E2-3D53A80A2B60}">
      <dgm:prSet phldrT="[Texte]"/>
      <dgm:spPr/>
      <dgm:t>
        <a:bodyPr/>
        <a:lstStyle/>
        <a:p>
          <a:r>
            <a:rPr lang="fr-CA" dirty="0"/>
            <a:t>Instruments financiers complexes</a:t>
          </a:r>
        </a:p>
      </dgm:t>
    </dgm:pt>
    <dgm:pt modelId="{AAECC01E-BBEF-4B72-AEA1-F95ACE3C5B78}" type="parTrans" cxnId="{B3BFD90D-5E8F-4572-ABED-E6984F74D417}">
      <dgm:prSet/>
      <dgm:spPr/>
      <dgm:t>
        <a:bodyPr/>
        <a:lstStyle/>
        <a:p>
          <a:endParaRPr lang="fr-CA"/>
        </a:p>
      </dgm:t>
    </dgm:pt>
    <dgm:pt modelId="{663AB9EC-70C6-4730-B6EB-149D7F20E032}" type="sibTrans" cxnId="{B3BFD90D-5E8F-4572-ABED-E6984F74D417}">
      <dgm:prSet/>
      <dgm:spPr/>
      <dgm:t>
        <a:bodyPr/>
        <a:lstStyle/>
        <a:p>
          <a:endParaRPr lang="fr-CA"/>
        </a:p>
      </dgm:t>
    </dgm:pt>
    <dgm:pt modelId="{79DA86FD-F8DD-4C1A-AC87-21C1894F9C52}">
      <dgm:prSet phldrT="[Texte]"/>
      <dgm:spPr/>
      <dgm:t>
        <a:bodyPr/>
        <a:lstStyle/>
        <a:p>
          <a:r>
            <a:rPr lang="fr-CA" dirty="0"/>
            <a:t>Obligations à bons de souscriptions </a:t>
          </a:r>
        </a:p>
      </dgm:t>
    </dgm:pt>
    <dgm:pt modelId="{6AD9E027-3694-4082-8001-D74B7917FAAD}" type="parTrans" cxnId="{32BFFA86-55DD-4490-8C3F-42D7189F5C67}">
      <dgm:prSet/>
      <dgm:spPr/>
      <dgm:t>
        <a:bodyPr/>
        <a:lstStyle/>
        <a:p>
          <a:endParaRPr lang="fr-CA"/>
        </a:p>
      </dgm:t>
    </dgm:pt>
    <dgm:pt modelId="{8EBD1D7F-0482-41BE-B535-3099ABF85E4C}" type="sibTrans" cxnId="{32BFFA86-55DD-4490-8C3F-42D7189F5C67}">
      <dgm:prSet/>
      <dgm:spPr/>
      <dgm:t>
        <a:bodyPr/>
        <a:lstStyle/>
        <a:p>
          <a:endParaRPr lang="fr-CA"/>
        </a:p>
      </dgm:t>
    </dgm:pt>
    <dgm:pt modelId="{7CDC95D5-FC30-4E83-94EC-0567B9D5F86D}">
      <dgm:prSet phldrT="[Texte]"/>
      <dgm:spPr/>
      <dgm:t>
        <a:bodyPr/>
        <a:lstStyle/>
        <a:p>
          <a:r>
            <a:rPr lang="fr-CA" dirty="0"/>
            <a:t>Emprunt à terme</a:t>
          </a:r>
        </a:p>
      </dgm:t>
    </dgm:pt>
    <dgm:pt modelId="{1408652B-8D9E-471F-BE5E-9CA5561E3AAB}" type="parTrans" cxnId="{CEB3F9FA-9F4C-4194-BFDF-D9933612CEDB}">
      <dgm:prSet/>
      <dgm:spPr/>
    </dgm:pt>
    <dgm:pt modelId="{8B9A36E9-9AC0-4868-9BC9-4422CD64658A}" type="sibTrans" cxnId="{CEB3F9FA-9F4C-4194-BFDF-D9933612CEDB}">
      <dgm:prSet/>
      <dgm:spPr/>
    </dgm:pt>
    <dgm:pt modelId="{9DFAA702-40FE-4FD6-AF8D-CF5FC992DCEE}">
      <dgm:prSet phldrT="[Texte]"/>
      <dgm:spPr/>
      <dgm:t>
        <a:bodyPr/>
        <a:lstStyle/>
        <a:p>
          <a:r>
            <a:rPr lang="fr-CA" dirty="0"/>
            <a:t>Emprunt hypothécaire</a:t>
          </a:r>
        </a:p>
      </dgm:t>
    </dgm:pt>
    <dgm:pt modelId="{E19F8F01-CB99-4E2E-B3D4-44F6F4410F96}" type="parTrans" cxnId="{FD59EAD4-F8E7-40BE-86EE-B3AB77086ADD}">
      <dgm:prSet/>
      <dgm:spPr/>
    </dgm:pt>
    <dgm:pt modelId="{BD456A87-531A-4433-8370-BC17A82B4931}" type="sibTrans" cxnId="{FD59EAD4-F8E7-40BE-86EE-B3AB77086ADD}">
      <dgm:prSet/>
      <dgm:spPr/>
    </dgm:pt>
    <dgm:pt modelId="{B65A24CA-A0BA-495F-B7B0-61C35363400A}">
      <dgm:prSet phldrT="[Texte]"/>
      <dgm:spPr/>
      <dgm:t>
        <a:bodyPr/>
        <a:lstStyle/>
        <a:p>
          <a:r>
            <a:rPr lang="fr-CA" dirty="0"/>
            <a:t>Obligations</a:t>
          </a:r>
        </a:p>
      </dgm:t>
    </dgm:pt>
    <dgm:pt modelId="{4B20825E-89F3-42BF-B291-165D6518E808}" type="parTrans" cxnId="{DAB95A51-C12C-4C8F-AD57-B45D364B157C}">
      <dgm:prSet/>
      <dgm:spPr/>
    </dgm:pt>
    <dgm:pt modelId="{13F74677-2BBA-43E6-B9F6-93F33E04B671}" type="sibTrans" cxnId="{DAB95A51-C12C-4C8F-AD57-B45D364B157C}">
      <dgm:prSet/>
      <dgm:spPr/>
    </dgm:pt>
    <dgm:pt modelId="{D175CB9C-2E77-4028-BB28-4A396566D465}">
      <dgm:prSet phldrT="[Texte]"/>
      <dgm:spPr/>
      <dgm:t>
        <a:bodyPr/>
        <a:lstStyle/>
        <a:p>
          <a:r>
            <a:rPr lang="fr-CA" dirty="0"/>
            <a:t>Affacturage </a:t>
          </a:r>
        </a:p>
      </dgm:t>
    </dgm:pt>
    <dgm:pt modelId="{BAB887C7-41EC-455B-A2E8-A8E164455073}" type="parTrans" cxnId="{3A120895-68CE-4F35-8153-1DE0F8AC34E7}">
      <dgm:prSet/>
      <dgm:spPr/>
    </dgm:pt>
    <dgm:pt modelId="{5B24E3E6-CEF0-4962-8A37-0B9054FAFF23}" type="sibTrans" cxnId="{3A120895-68CE-4F35-8153-1DE0F8AC34E7}">
      <dgm:prSet/>
      <dgm:spPr/>
    </dgm:pt>
    <dgm:pt modelId="{6A3C6751-58AF-4A04-BCB1-D1B429FB7142}">
      <dgm:prSet phldrT="[Texte]"/>
      <dgm:spPr/>
      <dgm:t>
        <a:bodyPr/>
        <a:lstStyle/>
        <a:p>
          <a:r>
            <a:rPr lang="fr-CA" dirty="0"/>
            <a:t>Titrisation</a:t>
          </a:r>
        </a:p>
      </dgm:t>
    </dgm:pt>
    <dgm:pt modelId="{2DC24612-197F-44C5-A214-01CC5CE0E01C}" type="parTrans" cxnId="{81EB629B-6BC4-4AC8-8284-85BDF6C73A44}">
      <dgm:prSet/>
      <dgm:spPr/>
    </dgm:pt>
    <dgm:pt modelId="{124BFB60-C186-4340-8570-B11E02C924C6}" type="sibTrans" cxnId="{81EB629B-6BC4-4AC8-8284-85BDF6C73A44}">
      <dgm:prSet/>
      <dgm:spPr/>
    </dgm:pt>
    <dgm:pt modelId="{BC2FD14C-4F02-450C-A2AF-6DB61125F6AB}">
      <dgm:prSet phldrT="[Texte]"/>
      <dgm:spPr/>
      <dgm:t>
        <a:bodyPr/>
        <a:lstStyle/>
        <a:p>
          <a:r>
            <a:rPr lang="fr-CA" dirty="0"/>
            <a:t>Crédit-bail</a:t>
          </a:r>
        </a:p>
      </dgm:t>
    </dgm:pt>
    <dgm:pt modelId="{B198EC4F-7FC7-4F5F-85F7-C1C3EBE75E7E}" type="parTrans" cxnId="{BCA67EC1-EC72-4FD6-B33A-088B6C51805B}">
      <dgm:prSet/>
      <dgm:spPr/>
    </dgm:pt>
    <dgm:pt modelId="{79E95D0A-CAF6-408A-9E08-32CB9AA38640}" type="sibTrans" cxnId="{BCA67EC1-EC72-4FD6-B33A-088B6C51805B}">
      <dgm:prSet/>
      <dgm:spPr/>
    </dgm:pt>
    <dgm:pt modelId="{A17F450F-22AC-43C3-BC1B-E645AD321AC6}">
      <dgm:prSet phldrT="[Texte]"/>
      <dgm:spPr/>
      <dgm:t>
        <a:bodyPr/>
        <a:lstStyle/>
        <a:p>
          <a:r>
            <a:rPr lang="fr-CA" dirty="0"/>
            <a:t>Obligations convertibles</a:t>
          </a:r>
        </a:p>
      </dgm:t>
    </dgm:pt>
    <dgm:pt modelId="{70DE3669-E1CB-4138-892F-35E599AB9351}" type="parTrans" cxnId="{5CBE6662-BBA7-485E-AD85-7F7B65D7948F}">
      <dgm:prSet/>
      <dgm:spPr/>
    </dgm:pt>
    <dgm:pt modelId="{53CF5309-1D38-4A4C-950F-E85DFFA8F2FE}" type="sibTrans" cxnId="{5CBE6662-BBA7-485E-AD85-7F7B65D7948F}">
      <dgm:prSet/>
      <dgm:spPr/>
    </dgm:pt>
    <dgm:pt modelId="{E585922E-E954-49C0-B05D-357E6964E9BA}">
      <dgm:prSet phldrT="[Texte]"/>
      <dgm:spPr/>
      <dgm:t>
        <a:bodyPr/>
        <a:lstStyle/>
        <a:p>
          <a:r>
            <a:rPr lang="fr-CA" dirty="0"/>
            <a:t>Actions privilégiées convertibles </a:t>
          </a:r>
        </a:p>
      </dgm:t>
    </dgm:pt>
    <dgm:pt modelId="{29569B7B-125B-46D0-BB9F-977D83F089F7}" type="parTrans" cxnId="{BB5E1586-A2AB-4798-B288-A14E2D86C7F6}">
      <dgm:prSet/>
      <dgm:spPr/>
    </dgm:pt>
    <dgm:pt modelId="{6A633300-C729-4511-8B50-DB69E5AA8AE9}" type="sibTrans" cxnId="{BB5E1586-A2AB-4798-B288-A14E2D86C7F6}">
      <dgm:prSet/>
      <dgm:spPr/>
    </dgm:pt>
    <dgm:pt modelId="{49062553-48A8-4058-B703-9C7A18392C4A}">
      <dgm:prSet phldrT="[Texte]"/>
      <dgm:spPr/>
      <dgm:t>
        <a:bodyPr/>
        <a:lstStyle/>
        <a:p>
          <a:r>
            <a:rPr lang="fr-CA" dirty="0"/>
            <a:t>Instruments de capitaux propres</a:t>
          </a:r>
        </a:p>
      </dgm:t>
    </dgm:pt>
    <dgm:pt modelId="{33F83FDA-DF7C-4949-9DD0-38077FD5D3C2}" type="parTrans" cxnId="{27B5F25E-7813-4433-AC4C-5A4ACF125869}">
      <dgm:prSet/>
      <dgm:spPr/>
    </dgm:pt>
    <dgm:pt modelId="{5A9C19F6-B7F1-4644-A3C0-764E03A1BBA4}" type="sibTrans" cxnId="{27B5F25E-7813-4433-AC4C-5A4ACF125869}">
      <dgm:prSet/>
      <dgm:spPr/>
    </dgm:pt>
    <dgm:pt modelId="{805A6693-BD7E-43A4-AFCB-03F34C31ED12}">
      <dgm:prSet phldrT="[Texte]"/>
      <dgm:spPr/>
      <dgm:t>
        <a:bodyPr/>
        <a:lstStyle/>
        <a:p>
          <a:r>
            <a:rPr lang="fr-CA" dirty="0"/>
            <a:t>Actions ordinaires</a:t>
          </a:r>
        </a:p>
      </dgm:t>
    </dgm:pt>
    <dgm:pt modelId="{372A3202-B30C-4ECC-84ED-19A8A9F74447}" type="parTrans" cxnId="{A363A389-2B5E-46DB-A446-02E5B0549EEC}">
      <dgm:prSet/>
      <dgm:spPr/>
    </dgm:pt>
    <dgm:pt modelId="{CD86FAE0-19D1-4AA1-9036-0BFC7930C423}" type="sibTrans" cxnId="{A363A389-2B5E-46DB-A446-02E5B0549EEC}">
      <dgm:prSet/>
      <dgm:spPr/>
    </dgm:pt>
    <dgm:pt modelId="{3C09AA2B-975C-4268-BF5A-F29408C42F62}">
      <dgm:prSet phldrT="[Texte]"/>
      <dgm:spPr/>
      <dgm:t>
        <a:bodyPr/>
        <a:lstStyle/>
        <a:p>
          <a:endParaRPr lang="fr-CA" dirty="0"/>
        </a:p>
      </dgm:t>
    </dgm:pt>
    <dgm:pt modelId="{992FD3F4-7B9E-4CA0-8A3E-47F194B1B4BB}" type="parTrans" cxnId="{5A29D281-4742-4B37-B026-A91D9339B5FB}">
      <dgm:prSet/>
      <dgm:spPr/>
    </dgm:pt>
    <dgm:pt modelId="{FC280546-A6FD-4BFF-A483-353B8890EAC1}" type="sibTrans" cxnId="{5A29D281-4742-4B37-B026-A91D9339B5FB}">
      <dgm:prSet/>
      <dgm:spPr/>
    </dgm:pt>
    <dgm:pt modelId="{04E33BCF-7119-4B7E-9C49-176A7DB1C9F9}">
      <dgm:prSet phldrT="[Texte]"/>
      <dgm:spPr/>
      <dgm:t>
        <a:bodyPr/>
        <a:lstStyle/>
        <a:p>
          <a:r>
            <a:rPr lang="fr-CA" dirty="0"/>
            <a:t>Actions privilégiées  </a:t>
          </a:r>
        </a:p>
      </dgm:t>
    </dgm:pt>
    <dgm:pt modelId="{8770EBB8-4354-46A5-9AA6-8C21FA7A09D6}" type="parTrans" cxnId="{18A35949-8927-4AA6-AA87-105D761A14A9}">
      <dgm:prSet/>
      <dgm:spPr/>
    </dgm:pt>
    <dgm:pt modelId="{41D9B0A6-5338-4042-ADF0-21C05AE118ED}" type="sibTrans" cxnId="{18A35949-8927-4AA6-AA87-105D761A14A9}">
      <dgm:prSet/>
      <dgm:spPr/>
    </dgm:pt>
    <dgm:pt modelId="{0BE34869-479E-484C-BB9C-82B625E8DB40}">
      <dgm:prSet phldrT="[Texte]"/>
      <dgm:spPr/>
      <dgm:t>
        <a:bodyPr/>
        <a:lstStyle/>
        <a:p>
          <a:r>
            <a:rPr lang="fr-CA" dirty="0"/>
            <a:t>Actifs en surplus</a:t>
          </a:r>
        </a:p>
      </dgm:t>
    </dgm:pt>
    <dgm:pt modelId="{7DC0ABC3-6D35-43EE-B921-6B9C4330CE2A}" type="parTrans" cxnId="{AE525535-F9B6-410C-828F-27BC66708615}">
      <dgm:prSet/>
      <dgm:spPr/>
    </dgm:pt>
    <dgm:pt modelId="{1D24DECA-45ED-48DF-8AE6-4C3F12049729}" type="sibTrans" cxnId="{AE525535-F9B6-410C-828F-27BC66708615}">
      <dgm:prSet/>
      <dgm:spPr/>
    </dgm:pt>
    <dgm:pt modelId="{52E52DB4-D5BB-4C40-960F-9674A6647CB7}" type="pres">
      <dgm:prSet presAssocID="{DC24CC5C-4237-4AC9-A80D-E169AA1F3988}" presName="Name0" presStyleCnt="0">
        <dgm:presLayoutVars>
          <dgm:dir/>
          <dgm:animLvl val="lvl"/>
          <dgm:resizeHandles val="exact"/>
        </dgm:presLayoutVars>
      </dgm:prSet>
      <dgm:spPr/>
    </dgm:pt>
    <dgm:pt modelId="{A3BC1649-9FEF-400C-A225-58F95196F44A}" type="pres">
      <dgm:prSet presAssocID="{016D00A5-37BE-463E-B60A-68816145CC94}" presName="composite" presStyleCnt="0"/>
      <dgm:spPr/>
    </dgm:pt>
    <dgm:pt modelId="{76D3346B-9878-42DF-B6CE-E2262D8E3163}" type="pres">
      <dgm:prSet presAssocID="{016D00A5-37BE-463E-B60A-68816145CC9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7B4A2FF-0103-460F-9BB9-1C97F11F4A03}" type="pres">
      <dgm:prSet presAssocID="{016D00A5-37BE-463E-B60A-68816145CC94}" presName="desTx" presStyleLbl="alignAccFollowNode1" presStyleIdx="0" presStyleCnt="4">
        <dgm:presLayoutVars>
          <dgm:bulletEnabled val="1"/>
        </dgm:presLayoutVars>
      </dgm:prSet>
      <dgm:spPr/>
    </dgm:pt>
    <dgm:pt modelId="{905B147A-5C9D-40EA-AC7E-CD6336CA494C}" type="pres">
      <dgm:prSet presAssocID="{4473E0AD-C840-402F-A9E9-1009AAB28912}" presName="space" presStyleCnt="0"/>
      <dgm:spPr/>
    </dgm:pt>
    <dgm:pt modelId="{59F418BB-C6D7-46C9-818B-F14B61984C7A}" type="pres">
      <dgm:prSet presAssocID="{8EEF79A0-8C53-4599-AC3F-C660F2EB03C2}" presName="composite" presStyleCnt="0"/>
      <dgm:spPr/>
    </dgm:pt>
    <dgm:pt modelId="{EC973B1E-291B-4221-9473-0D77FC48B383}" type="pres">
      <dgm:prSet presAssocID="{8EEF79A0-8C53-4599-AC3F-C660F2EB03C2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89513B1B-C762-4E5E-8193-74D54696B2FD}" type="pres">
      <dgm:prSet presAssocID="{8EEF79A0-8C53-4599-AC3F-C660F2EB03C2}" presName="desTx" presStyleLbl="alignAccFollowNode1" presStyleIdx="1" presStyleCnt="4">
        <dgm:presLayoutVars>
          <dgm:bulletEnabled val="1"/>
        </dgm:presLayoutVars>
      </dgm:prSet>
      <dgm:spPr/>
    </dgm:pt>
    <dgm:pt modelId="{8D6AD227-59BF-4E73-AFE2-0DFA029AB288}" type="pres">
      <dgm:prSet presAssocID="{5D41C700-7CEF-4E35-9CA2-614E2F7E7647}" presName="space" presStyleCnt="0"/>
      <dgm:spPr/>
    </dgm:pt>
    <dgm:pt modelId="{389CC7C0-35C6-4ECB-949E-574EDC50C801}" type="pres">
      <dgm:prSet presAssocID="{49062553-48A8-4058-B703-9C7A18392C4A}" presName="composite" presStyleCnt="0"/>
      <dgm:spPr/>
    </dgm:pt>
    <dgm:pt modelId="{411A14E2-96EF-4A03-A1B0-315636C885C3}" type="pres">
      <dgm:prSet presAssocID="{49062553-48A8-4058-B703-9C7A18392C4A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2FBF9565-C62F-46FC-AC7E-D69907BCE669}" type="pres">
      <dgm:prSet presAssocID="{49062553-48A8-4058-B703-9C7A18392C4A}" presName="desTx" presStyleLbl="alignAccFollowNode1" presStyleIdx="2" presStyleCnt="4">
        <dgm:presLayoutVars>
          <dgm:bulletEnabled val="1"/>
        </dgm:presLayoutVars>
      </dgm:prSet>
      <dgm:spPr/>
    </dgm:pt>
    <dgm:pt modelId="{BAE96F45-0A14-4C90-8FBA-F25309ACD80E}" type="pres">
      <dgm:prSet presAssocID="{5A9C19F6-B7F1-4644-A3C0-764E03A1BBA4}" presName="space" presStyleCnt="0"/>
      <dgm:spPr/>
    </dgm:pt>
    <dgm:pt modelId="{2E849E3F-88F0-4B69-9C6D-A39DB92E7B5C}" type="pres">
      <dgm:prSet presAssocID="{FD0511E3-44B2-460C-88E2-3D53A80A2B60}" presName="composite" presStyleCnt="0"/>
      <dgm:spPr/>
    </dgm:pt>
    <dgm:pt modelId="{B37D510F-092A-41BF-911D-80412FF7B637}" type="pres">
      <dgm:prSet presAssocID="{FD0511E3-44B2-460C-88E2-3D53A80A2B60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647CB88-2A73-4B0B-9093-BE49E1421715}" type="pres">
      <dgm:prSet presAssocID="{FD0511E3-44B2-460C-88E2-3D53A80A2B60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EC1EB005-C06E-41E2-B2E2-9013F0B2AC9B}" type="presOf" srcId="{5AC97824-30BB-4A0C-999E-B3A52E8C947A}" destId="{F7B4A2FF-0103-460F-9BB9-1C97F11F4A03}" srcOrd="0" destOrd="0" presId="urn:microsoft.com/office/officeart/2005/8/layout/hList1"/>
    <dgm:cxn modelId="{FC86AB09-90DF-4F39-96FE-71251F4396E3}" type="presOf" srcId="{6A3C6751-58AF-4A04-BCB1-D1B429FB7142}" destId="{89513B1B-C762-4E5E-8193-74D54696B2FD}" srcOrd="0" destOrd="5" presId="urn:microsoft.com/office/officeart/2005/8/layout/hList1"/>
    <dgm:cxn modelId="{F9E78E0B-9305-4C35-AEF5-43699900C064}" type="presOf" srcId="{3C09AA2B-975C-4268-BF5A-F29408C42F62}" destId="{2FBF9565-C62F-46FC-AC7E-D69907BCE669}" srcOrd="0" destOrd="2" presId="urn:microsoft.com/office/officeart/2005/8/layout/hList1"/>
    <dgm:cxn modelId="{B3BFD90D-5E8F-4572-ABED-E6984F74D417}" srcId="{DC24CC5C-4237-4AC9-A80D-E169AA1F3988}" destId="{FD0511E3-44B2-460C-88E2-3D53A80A2B60}" srcOrd="3" destOrd="0" parTransId="{AAECC01E-BBEF-4B72-AEA1-F95ACE3C5B78}" sibTransId="{663AB9EC-70C6-4730-B6EB-149D7F20E032}"/>
    <dgm:cxn modelId="{7E86260F-E4AB-4EB0-BD7E-7A95B9DA5A59}" srcId="{DC24CC5C-4237-4AC9-A80D-E169AA1F3988}" destId="{8EEF79A0-8C53-4599-AC3F-C660F2EB03C2}" srcOrd="1" destOrd="0" parTransId="{B666226B-3DF4-4B12-9FCD-136B56BA5528}" sibTransId="{5D41C700-7CEF-4E35-9CA2-614E2F7E7647}"/>
    <dgm:cxn modelId="{DCCE5E11-59CB-4BF6-8D19-23E5AC33A41F}" type="presOf" srcId="{8EEF79A0-8C53-4599-AC3F-C660F2EB03C2}" destId="{EC973B1E-291B-4221-9473-0D77FC48B383}" srcOrd="0" destOrd="0" presId="urn:microsoft.com/office/officeart/2005/8/layout/hList1"/>
    <dgm:cxn modelId="{60C32E13-BCD7-46A7-844A-F288FD690717}" type="presOf" srcId="{A17F450F-22AC-43C3-BC1B-E645AD321AC6}" destId="{7647CB88-2A73-4B0B-9093-BE49E1421715}" srcOrd="0" destOrd="1" presId="urn:microsoft.com/office/officeart/2005/8/layout/hList1"/>
    <dgm:cxn modelId="{735BC513-F790-43CD-9038-664078E60A92}" type="presOf" srcId="{FD0511E3-44B2-460C-88E2-3D53A80A2B60}" destId="{B37D510F-092A-41BF-911D-80412FF7B637}" srcOrd="0" destOrd="0" presId="urn:microsoft.com/office/officeart/2005/8/layout/hList1"/>
    <dgm:cxn modelId="{2CEF7115-78E5-4338-A36E-03F9FC20A184}" srcId="{DC24CC5C-4237-4AC9-A80D-E169AA1F3988}" destId="{016D00A5-37BE-463E-B60A-68816145CC94}" srcOrd="0" destOrd="0" parTransId="{99AE3679-0B52-4EAA-BE90-1D35611EFA59}" sibTransId="{4473E0AD-C840-402F-A9E9-1009AAB28912}"/>
    <dgm:cxn modelId="{AE525535-F9B6-410C-828F-27BC66708615}" srcId="{016D00A5-37BE-463E-B60A-68816145CC94}" destId="{0BE34869-479E-484C-BB9C-82B625E8DB40}" srcOrd="1" destOrd="0" parTransId="{7DC0ABC3-6D35-43EE-B921-6B9C4330CE2A}" sibTransId="{1D24DECA-45ED-48DF-8AE6-4C3F12049729}"/>
    <dgm:cxn modelId="{27B5F25E-7813-4433-AC4C-5A4ACF125869}" srcId="{DC24CC5C-4237-4AC9-A80D-E169AA1F3988}" destId="{49062553-48A8-4058-B703-9C7A18392C4A}" srcOrd="2" destOrd="0" parTransId="{33F83FDA-DF7C-4949-9DD0-38077FD5D3C2}" sibTransId="{5A9C19F6-B7F1-4644-A3C0-764E03A1BBA4}"/>
    <dgm:cxn modelId="{3220CE60-1C98-4A48-9789-BF64578FDAD2}" type="presOf" srcId="{016D00A5-37BE-463E-B60A-68816145CC94}" destId="{76D3346B-9878-42DF-B6CE-E2262D8E3163}" srcOrd="0" destOrd="0" presId="urn:microsoft.com/office/officeart/2005/8/layout/hList1"/>
    <dgm:cxn modelId="{5CBE6662-BBA7-485E-AD85-7F7B65D7948F}" srcId="{FD0511E3-44B2-460C-88E2-3D53A80A2B60}" destId="{A17F450F-22AC-43C3-BC1B-E645AD321AC6}" srcOrd="1" destOrd="0" parTransId="{70DE3669-E1CB-4138-892F-35E599AB9351}" sibTransId="{53CF5309-1D38-4A4C-950F-E85DFFA8F2FE}"/>
    <dgm:cxn modelId="{18A35949-8927-4AA6-AA87-105D761A14A9}" srcId="{49062553-48A8-4058-B703-9C7A18392C4A}" destId="{04E33BCF-7119-4B7E-9C49-176A7DB1C9F9}" srcOrd="1" destOrd="0" parTransId="{8770EBB8-4354-46A5-9AA6-8C21FA7A09D6}" sibTransId="{41D9B0A6-5338-4042-ADF0-21C05AE118ED}"/>
    <dgm:cxn modelId="{DAB95A51-C12C-4C8F-AD57-B45D364B157C}" srcId="{8EEF79A0-8C53-4599-AC3F-C660F2EB03C2}" destId="{B65A24CA-A0BA-495F-B7B0-61C35363400A}" srcOrd="4" destOrd="0" parTransId="{4B20825E-89F3-42BF-B291-165D6518E808}" sibTransId="{13F74677-2BBA-43E6-B9F6-93F33E04B671}"/>
    <dgm:cxn modelId="{5A29D281-4742-4B37-B026-A91D9339B5FB}" srcId="{49062553-48A8-4058-B703-9C7A18392C4A}" destId="{3C09AA2B-975C-4268-BF5A-F29408C42F62}" srcOrd="2" destOrd="0" parTransId="{992FD3F4-7B9E-4CA0-8A3E-47F194B1B4BB}" sibTransId="{FC280546-A6FD-4BFF-A483-353B8890EAC1}"/>
    <dgm:cxn modelId="{BB5E1586-A2AB-4798-B288-A14E2D86C7F6}" srcId="{FD0511E3-44B2-460C-88E2-3D53A80A2B60}" destId="{E585922E-E954-49C0-B05D-357E6964E9BA}" srcOrd="2" destOrd="0" parTransId="{29569B7B-125B-46D0-BB9F-977D83F089F7}" sibTransId="{6A633300-C729-4511-8B50-DB69E5AA8AE9}"/>
    <dgm:cxn modelId="{60171B86-5C40-445C-99ED-99125751E470}" type="presOf" srcId="{805A6693-BD7E-43A4-AFCB-03F34C31ED12}" destId="{2FBF9565-C62F-46FC-AC7E-D69907BCE669}" srcOrd="0" destOrd="0" presId="urn:microsoft.com/office/officeart/2005/8/layout/hList1"/>
    <dgm:cxn modelId="{32BFFA86-55DD-4490-8C3F-42D7189F5C67}" srcId="{FD0511E3-44B2-460C-88E2-3D53A80A2B60}" destId="{79DA86FD-F8DD-4C1A-AC87-21C1894F9C52}" srcOrd="0" destOrd="0" parTransId="{6AD9E027-3694-4082-8001-D74B7917FAAD}" sibTransId="{8EBD1D7F-0482-41BE-B535-3099ABF85E4C}"/>
    <dgm:cxn modelId="{A363A389-2B5E-46DB-A446-02E5B0549EEC}" srcId="{49062553-48A8-4058-B703-9C7A18392C4A}" destId="{805A6693-BD7E-43A4-AFCB-03F34C31ED12}" srcOrd="0" destOrd="0" parTransId="{372A3202-B30C-4ECC-84ED-19A8A9F74447}" sibTransId="{CD86FAE0-19D1-4AA1-9036-0BFC7930C423}"/>
    <dgm:cxn modelId="{D0FAE78F-1465-4842-8E87-3A8849D728B1}" type="presOf" srcId="{49062553-48A8-4058-B703-9C7A18392C4A}" destId="{411A14E2-96EF-4A03-A1B0-315636C885C3}" srcOrd="0" destOrd="0" presId="urn:microsoft.com/office/officeart/2005/8/layout/hList1"/>
    <dgm:cxn modelId="{3058D893-C314-4AA8-A461-3E9C6BD18045}" srcId="{8EEF79A0-8C53-4599-AC3F-C660F2EB03C2}" destId="{BB29782E-FA01-4321-841C-F716DAB67F6F}" srcOrd="0" destOrd="0" parTransId="{8FD9A9C6-9520-47C8-9D5C-C61AF35D9D67}" sibTransId="{01D522ED-D2E6-430A-BBCE-F60D23FE7782}"/>
    <dgm:cxn modelId="{3A120895-68CE-4F35-8153-1DE0F8AC34E7}" srcId="{8EEF79A0-8C53-4599-AC3F-C660F2EB03C2}" destId="{D175CB9C-2E77-4028-BB28-4A396566D465}" srcOrd="1" destOrd="0" parTransId="{BAB887C7-41EC-455B-A2E8-A8E164455073}" sibTransId="{5B24E3E6-CEF0-4962-8A37-0B9054FAFF23}"/>
    <dgm:cxn modelId="{79398E97-87E2-4E94-B400-F0B6B8326532}" type="presOf" srcId="{0BE34869-479E-484C-BB9C-82B625E8DB40}" destId="{F7B4A2FF-0103-460F-9BB9-1C97F11F4A03}" srcOrd="0" destOrd="1" presId="urn:microsoft.com/office/officeart/2005/8/layout/hList1"/>
    <dgm:cxn modelId="{81EB629B-6BC4-4AC8-8284-85BDF6C73A44}" srcId="{8EEF79A0-8C53-4599-AC3F-C660F2EB03C2}" destId="{6A3C6751-58AF-4A04-BCB1-D1B429FB7142}" srcOrd="5" destOrd="0" parTransId="{2DC24612-197F-44C5-A214-01CC5CE0E01C}" sibTransId="{124BFB60-C186-4340-8570-B11E02C924C6}"/>
    <dgm:cxn modelId="{139C8CAA-786A-488D-B0A2-7D7C7E0D5623}" type="presOf" srcId="{DC24CC5C-4237-4AC9-A80D-E169AA1F3988}" destId="{52E52DB4-D5BB-4C40-960F-9674A6647CB7}" srcOrd="0" destOrd="0" presId="urn:microsoft.com/office/officeart/2005/8/layout/hList1"/>
    <dgm:cxn modelId="{BCA67EC1-EC72-4FD6-B33A-088B6C51805B}" srcId="{8EEF79A0-8C53-4599-AC3F-C660F2EB03C2}" destId="{BC2FD14C-4F02-450C-A2AF-6DB61125F6AB}" srcOrd="6" destOrd="0" parTransId="{B198EC4F-7FC7-4F5F-85F7-C1C3EBE75E7E}" sibTransId="{79E95D0A-CAF6-408A-9E08-32CB9AA38640}"/>
    <dgm:cxn modelId="{8B4796CD-41C0-45DE-A68A-D99D257CA401}" type="presOf" srcId="{D175CB9C-2E77-4028-BB28-4A396566D465}" destId="{89513B1B-C762-4E5E-8193-74D54696B2FD}" srcOrd="0" destOrd="1" presId="urn:microsoft.com/office/officeart/2005/8/layout/hList1"/>
    <dgm:cxn modelId="{FD59EAD4-F8E7-40BE-86EE-B3AB77086ADD}" srcId="{8EEF79A0-8C53-4599-AC3F-C660F2EB03C2}" destId="{9DFAA702-40FE-4FD6-AF8D-CF5FC992DCEE}" srcOrd="3" destOrd="0" parTransId="{E19F8F01-CB99-4E2E-B3D4-44F6F4410F96}" sibTransId="{BD456A87-531A-4433-8370-BC17A82B4931}"/>
    <dgm:cxn modelId="{808CC4D6-57C9-42B3-930A-E876C966A3F3}" type="presOf" srcId="{BB29782E-FA01-4321-841C-F716DAB67F6F}" destId="{89513B1B-C762-4E5E-8193-74D54696B2FD}" srcOrd="0" destOrd="0" presId="urn:microsoft.com/office/officeart/2005/8/layout/hList1"/>
    <dgm:cxn modelId="{DAC743E4-4CE6-4C02-B639-9A5634C4357A}" type="presOf" srcId="{04E33BCF-7119-4B7E-9C49-176A7DB1C9F9}" destId="{2FBF9565-C62F-46FC-AC7E-D69907BCE669}" srcOrd="0" destOrd="1" presId="urn:microsoft.com/office/officeart/2005/8/layout/hList1"/>
    <dgm:cxn modelId="{643D63E6-3949-4350-BC17-04BB7EC0D46D}" type="presOf" srcId="{79DA86FD-F8DD-4C1A-AC87-21C1894F9C52}" destId="{7647CB88-2A73-4B0B-9093-BE49E1421715}" srcOrd="0" destOrd="0" presId="urn:microsoft.com/office/officeart/2005/8/layout/hList1"/>
    <dgm:cxn modelId="{BC4EC3E6-908E-4205-819D-256004B57F26}" srcId="{016D00A5-37BE-463E-B60A-68816145CC94}" destId="{5AC97824-30BB-4A0C-999E-B3A52E8C947A}" srcOrd="0" destOrd="0" parTransId="{5CE5D02D-A709-4742-B253-E5DE73546C1D}" sibTransId="{4C7D1A07-7B8C-4B23-9119-0D5D4EF1805F}"/>
    <dgm:cxn modelId="{364C97EA-3F1A-4688-9953-A92E85D110C6}" type="presOf" srcId="{BC2FD14C-4F02-450C-A2AF-6DB61125F6AB}" destId="{89513B1B-C762-4E5E-8193-74D54696B2FD}" srcOrd="0" destOrd="6" presId="urn:microsoft.com/office/officeart/2005/8/layout/hList1"/>
    <dgm:cxn modelId="{A3F464F7-37A3-46C1-9567-B5DD0A340E53}" type="presOf" srcId="{B65A24CA-A0BA-495F-B7B0-61C35363400A}" destId="{89513B1B-C762-4E5E-8193-74D54696B2FD}" srcOrd="0" destOrd="4" presId="urn:microsoft.com/office/officeart/2005/8/layout/hList1"/>
    <dgm:cxn modelId="{CEB3F9FA-9F4C-4194-BFDF-D9933612CEDB}" srcId="{8EEF79A0-8C53-4599-AC3F-C660F2EB03C2}" destId="{7CDC95D5-FC30-4E83-94EC-0567B9D5F86D}" srcOrd="2" destOrd="0" parTransId="{1408652B-8D9E-471F-BE5E-9CA5561E3AAB}" sibTransId="{8B9A36E9-9AC0-4868-9BC9-4422CD64658A}"/>
    <dgm:cxn modelId="{6B461FFC-89A3-489A-9B95-5CAF26CDA46F}" type="presOf" srcId="{9DFAA702-40FE-4FD6-AF8D-CF5FC992DCEE}" destId="{89513B1B-C762-4E5E-8193-74D54696B2FD}" srcOrd="0" destOrd="3" presId="urn:microsoft.com/office/officeart/2005/8/layout/hList1"/>
    <dgm:cxn modelId="{8A50BFFF-F229-4692-A5F8-3A14A77E8CA7}" type="presOf" srcId="{7CDC95D5-FC30-4E83-94EC-0567B9D5F86D}" destId="{89513B1B-C762-4E5E-8193-74D54696B2FD}" srcOrd="0" destOrd="2" presId="urn:microsoft.com/office/officeart/2005/8/layout/hList1"/>
    <dgm:cxn modelId="{530BEAFF-9124-42EE-82C8-9C07D46BFEDF}" type="presOf" srcId="{E585922E-E954-49C0-B05D-357E6964E9BA}" destId="{7647CB88-2A73-4B0B-9093-BE49E1421715}" srcOrd="0" destOrd="2" presId="urn:microsoft.com/office/officeart/2005/8/layout/hList1"/>
    <dgm:cxn modelId="{4E1A1441-88EE-4D68-BB93-0EE8A8FE0DBF}" type="presParOf" srcId="{52E52DB4-D5BB-4C40-960F-9674A6647CB7}" destId="{A3BC1649-9FEF-400C-A225-58F95196F44A}" srcOrd="0" destOrd="0" presId="urn:microsoft.com/office/officeart/2005/8/layout/hList1"/>
    <dgm:cxn modelId="{E0C9E57E-FE22-4D9D-BA6A-A5E752FFB8B7}" type="presParOf" srcId="{A3BC1649-9FEF-400C-A225-58F95196F44A}" destId="{76D3346B-9878-42DF-B6CE-E2262D8E3163}" srcOrd="0" destOrd="0" presId="urn:microsoft.com/office/officeart/2005/8/layout/hList1"/>
    <dgm:cxn modelId="{53F6FE97-123A-4D72-BE0C-8E4B47EA02CE}" type="presParOf" srcId="{A3BC1649-9FEF-400C-A225-58F95196F44A}" destId="{F7B4A2FF-0103-460F-9BB9-1C97F11F4A03}" srcOrd="1" destOrd="0" presId="urn:microsoft.com/office/officeart/2005/8/layout/hList1"/>
    <dgm:cxn modelId="{36B23116-19D4-44FB-A18D-41CFD9A1982F}" type="presParOf" srcId="{52E52DB4-D5BB-4C40-960F-9674A6647CB7}" destId="{905B147A-5C9D-40EA-AC7E-CD6336CA494C}" srcOrd="1" destOrd="0" presId="urn:microsoft.com/office/officeart/2005/8/layout/hList1"/>
    <dgm:cxn modelId="{74345C07-F026-4BD2-AB85-8C1AC1ABA581}" type="presParOf" srcId="{52E52DB4-D5BB-4C40-960F-9674A6647CB7}" destId="{59F418BB-C6D7-46C9-818B-F14B61984C7A}" srcOrd="2" destOrd="0" presId="urn:microsoft.com/office/officeart/2005/8/layout/hList1"/>
    <dgm:cxn modelId="{ECC9836F-4B7F-439F-8606-1C5FAF76C14B}" type="presParOf" srcId="{59F418BB-C6D7-46C9-818B-F14B61984C7A}" destId="{EC973B1E-291B-4221-9473-0D77FC48B383}" srcOrd="0" destOrd="0" presId="urn:microsoft.com/office/officeart/2005/8/layout/hList1"/>
    <dgm:cxn modelId="{3021101D-6A5F-42DF-BF7A-21563A818FE2}" type="presParOf" srcId="{59F418BB-C6D7-46C9-818B-F14B61984C7A}" destId="{89513B1B-C762-4E5E-8193-74D54696B2FD}" srcOrd="1" destOrd="0" presId="urn:microsoft.com/office/officeart/2005/8/layout/hList1"/>
    <dgm:cxn modelId="{1D52D48B-BFA4-4C72-AD6A-B01E01B2F9EB}" type="presParOf" srcId="{52E52DB4-D5BB-4C40-960F-9674A6647CB7}" destId="{8D6AD227-59BF-4E73-AFE2-0DFA029AB288}" srcOrd="3" destOrd="0" presId="urn:microsoft.com/office/officeart/2005/8/layout/hList1"/>
    <dgm:cxn modelId="{F72CEB45-8E37-4BFA-A2BB-9CADEB328DA2}" type="presParOf" srcId="{52E52DB4-D5BB-4C40-960F-9674A6647CB7}" destId="{389CC7C0-35C6-4ECB-949E-574EDC50C801}" srcOrd="4" destOrd="0" presId="urn:microsoft.com/office/officeart/2005/8/layout/hList1"/>
    <dgm:cxn modelId="{2E34E9AF-36C2-44A8-8E74-2CB15F3C4CC9}" type="presParOf" srcId="{389CC7C0-35C6-4ECB-949E-574EDC50C801}" destId="{411A14E2-96EF-4A03-A1B0-315636C885C3}" srcOrd="0" destOrd="0" presId="urn:microsoft.com/office/officeart/2005/8/layout/hList1"/>
    <dgm:cxn modelId="{C26B246F-E437-4EAD-AF26-FF15FD69AA79}" type="presParOf" srcId="{389CC7C0-35C6-4ECB-949E-574EDC50C801}" destId="{2FBF9565-C62F-46FC-AC7E-D69907BCE669}" srcOrd="1" destOrd="0" presId="urn:microsoft.com/office/officeart/2005/8/layout/hList1"/>
    <dgm:cxn modelId="{21FD5009-DF79-4489-8B71-EA23DD86401F}" type="presParOf" srcId="{52E52DB4-D5BB-4C40-960F-9674A6647CB7}" destId="{BAE96F45-0A14-4C90-8FBA-F25309ACD80E}" srcOrd="5" destOrd="0" presId="urn:microsoft.com/office/officeart/2005/8/layout/hList1"/>
    <dgm:cxn modelId="{D591D20E-B7A9-46A3-B24F-B3624FD580D5}" type="presParOf" srcId="{52E52DB4-D5BB-4C40-960F-9674A6647CB7}" destId="{2E849E3F-88F0-4B69-9C6D-A39DB92E7B5C}" srcOrd="6" destOrd="0" presId="urn:microsoft.com/office/officeart/2005/8/layout/hList1"/>
    <dgm:cxn modelId="{EC280687-5487-463D-B9E2-B373A6379937}" type="presParOf" srcId="{2E849E3F-88F0-4B69-9C6D-A39DB92E7B5C}" destId="{B37D510F-092A-41BF-911D-80412FF7B637}" srcOrd="0" destOrd="0" presId="urn:microsoft.com/office/officeart/2005/8/layout/hList1"/>
    <dgm:cxn modelId="{FB0BE7D5-3D76-4E73-AEBF-BBDB7D4CE724}" type="presParOf" srcId="{2E849E3F-88F0-4B69-9C6D-A39DB92E7B5C}" destId="{7647CB88-2A73-4B0B-9093-BE49E142171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3346B-9878-42DF-B6CE-E2262D8E3163}">
      <dsp:nvSpPr>
        <dsp:cNvPr id="0" name=""/>
        <dsp:cNvSpPr/>
      </dsp:nvSpPr>
      <dsp:spPr>
        <a:xfrm>
          <a:off x="4104" y="190186"/>
          <a:ext cx="2467747" cy="904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Fonds générés par l’entreprise</a:t>
          </a:r>
        </a:p>
      </dsp:txBody>
      <dsp:txXfrm>
        <a:off x="4104" y="190186"/>
        <a:ext cx="2467747" cy="904617"/>
      </dsp:txXfrm>
    </dsp:sp>
    <dsp:sp modelId="{F7B4A2FF-0103-460F-9BB9-1C97F11F4A03}">
      <dsp:nvSpPr>
        <dsp:cNvPr id="0" name=""/>
        <dsp:cNvSpPr/>
      </dsp:nvSpPr>
      <dsp:spPr>
        <a:xfrm>
          <a:off x="4104" y="1094804"/>
          <a:ext cx="2467747" cy="2539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Réinvestissement des bénéfices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Actifs en surplus</a:t>
          </a:r>
        </a:p>
      </dsp:txBody>
      <dsp:txXfrm>
        <a:off x="4104" y="1094804"/>
        <a:ext cx="2467747" cy="2539296"/>
      </dsp:txXfrm>
    </dsp:sp>
    <dsp:sp modelId="{EC973B1E-291B-4221-9473-0D77FC48B383}">
      <dsp:nvSpPr>
        <dsp:cNvPr id="0" name=""/>
        <dsp:cNvSpPr/>
      </dsp:nvSpPr>
      <dsp:spPr>
        <a:xfrm>
          <a:off x="2817335" y="190186"/>
          <a:ext cx="2467747" cy="904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Emprunts</a:t>
          </a:r>
        </a:p>
      </dsp:txBody>
      <dsp:txXfrm>
        <a:off x="2817335" y="190186"/>
        <a:ext cx="2467747" cy="904617"/>
      </dsp:txXfrm>
    </dsp:sp>
    <dsp:sp modelId="{89513B1B-C762-4E5E-8193-74D54696B2FD}">
      <dsp:nvSpPr>
        <dsp:cNvPr id="0" name=""/>
        <dsp:cNvSpPr/>
      </dsp:nvSpPr>
      <dsp:spPr>
        <a:xfrm>
          <a:off x="2817335" y="1094804"/>
          <a:ext cx="2467747" cy="2539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Ligne de crédit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Affacturage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Emprunt à terme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Emprunt hypothécaire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Obligations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Titrisation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Crédit-bail</a:t>
          </a:r>
        </a:p>
      </dsp:txBody>
      <dsp:txXfrm>
        <a:off x="2817335" y="1094804"/>
        <a:ext cx="2467747" cy="2539296"/>
      </dsp:txXfrm>
    </dsp:sp>
    <dsp:sp modelId="{411A14E2-96EF-4A03-A1B0-315636C885C3}">
      <dsp:nvSpPr>
        <dsp:cNvPr id="0" name=""/>
        <dsp:cNvSpPr/>
      </dsp:nvSpPr>
      <dsp:spPr>
        <a:xfrm>
          <a:off x="5630567" y="190186"/>
          <a:ext cx="2467747" cy="904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Instruments de capitaux propres</a:t>
          </a:r>
        </a:p>
      </dsp:txBody>
      <dsp:txXfrm>
        <a:off x="5630567" y="190186"/>
        <a:ext cx="2467747" cy="904617"/>
      </dsp:txXfrm>
    </dsp:sp>
    <dsp:sp modelId="{2FBF9565-C62F-46FC-AC7E-D69907BCE669}">
      <dsp:nvSpPr>
        <dsp:cNvPr id="0" name=""/>
        <dsp:cNvSpPr/>
      </dsp:nvSpPr>
      <dsp:spPr>
        <a:xfrm>
          <a:off x="5630567" y="1094804"/>
          <a:ext cx="2467747" cy="2539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Actions ordinaires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Actions privilégiées 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CA" sz="1900" kern="1200" dirty="0"/>
        </a:p>
      </dsp:txBody>
      <dsp:txXfrm>
        <a:off x="5630567" y="1094804"/>
        <a:ext cx="2467747" cy="2539296"/>
      </dsp:txXfrm>
    </dsp:sp>
    <dsp:sp modelId="{B37D510F-092A-41BF-911D-80412FF7B637}">
      <dsp:nvSpPr>
        <dsp:cNvPr id="0" name=""/>
        <dsp:cNvSpPr/>
      </dsp:nvSpPr>
      <dsp:spPr>
        <a:xfrm>
          <a:off x="8443798" y="190186"/>
          <a:ext cx="2467747" cy="9046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Instruments financiers complexes</a:t>
          </a:r>
        </a:p>
      </dsp:txBody>
      <dsp:txXfrm>
        <a:off x="8443798" y="190186"/>
        <a:ext cx="2467747" cy="904617"/>
      </dsp:txXfrm>
    </dsp:sp>
    <dsp:sp modelId="{7647CB88-2A73-4B0B-9093-BE49E1421715}">
      <dsp:nvSpPr>
        <dsp:cNvPr id="0" name=""/>
        <dsp:cNvSpPr/>
      </dsp:nvSpPr>
      <dsp:spPr>
        <a:xfrm>
          <a:off x="8443798" y="1094804"/>
          <a:ext cx="2467747" cy="2539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Obligations à bons de souscriptions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Obligations convertibles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dirty="0"/>
            <a:t>Actions privilégiées convertibles </a:t>
          </a:r>
        </a:p>
      </dsp:txBody>
      <dsp:txXfrm>
        <a:off x="8443798" y="1094804"/>
        <a:ext cx="2467747" cy="2539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70098"/>
          </a:xfrm>
          <a:prstGeom prst="rect">
            <a:avLst/>
          </a:prstGeom>
        </p:spPr>
        <p:txBody>
          <a:bodyPr vert="horz" lIns="93969" tIns="46985" rIns="93969" bIns="46985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70098"/>
          </a:xfrm>
          <a:prstGeom prst="rect">
            <a:avLst/>
          </a:prstGeom>
        </p:spPr>
        <p:txBody>
          <a:bodyPr vert="horz" lIns="93969" tIns="46985" rIns="93969" bIns="46985" rtlCol="0"/>
          <a:lstStyle>
            <a:lvl1pPr algn="r">
              <a:defRPr sz="1200"/>
            </a:lvl1pPr>
          </a:lstStyle>
          <a:p>
            <a:fld id="{14ACF90F-8CD0-48D0-B214-EE61CF43C26A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71575"/>
            <a:ext cx="5619750" cy="31607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69" tIns="46985" rIns="93969" bIns="46985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7708" y="4509035"/>
            <a:ext cx="5661660" cy="3689212"/>
          </a:xfrm>
          <a:prstGeom prst="rect">
            <a:avLst/>
          </a:prstGeom>
        </p:spPr>
        <p:txBody>
          <a:bodyPr vert="horz" lIns="93969" tIns="46985" rIns="93969" bIns="46985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99329"/>
            <a:ext cx="3066733" cy="470097"/>
          </a:xfrm>
          <a:prstGeom prst="rect">
            <a:avLst/>
          </a:prstGeom>
        </p:spPr>
        <p:txBody>
          <a:bodyPr vert="horz" lIns="93969" tIns="46985" rIns="93969" bIns="46985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08705" y="8899329"/>
            <a:ext cx="3066733" cy="470097"/>
          </a:xfrm>
          <a:prstGeom prst="rect">
            <a:avLst/>
          </a:prstGeom>
        </p:spPr>
        <p:txBody>
          <a:bodyPr vert="horz" lIns="93969" tIns="46985" rIns="93969" bIns="46985" rtlCol="0" anchor="b"/>
          <a:lstStyle>
            <a:lvl1pPr algn="r">
              <a:defRPr sz="1200"/>
            </a:lvl1pPr>
          </a:lstStyle>
          <a:p>
            <a:fld id="{1F1F2D47-FF76-4FB8-96DA-10C04CB97B9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9267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5650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8F12F-71BA-4C6C-BEB4-9AA581BF4BE9}" type="slidenum">
              <a:rPr lang="fr-CA" smtClean="0"/>
              <a:t>2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278397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38605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6946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80547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73753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0876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02679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68193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67327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9429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Fond auto généré emprunt  ligne de crédit fond propres (actions ordinaires ou bien actions privilégiés ) et après on peut aussi parler capitaux propres complexes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23003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28566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0532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47406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439056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64704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60533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38" y="1719405"/>
            <a:ext cx="10916125" cy="4554308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38400" y="1715040"/>
            <a:ext cx="7032000" cy="1749600"/>
          </a:xfrm>
          <a:solidFill>
            <a:schemeClr val="accent5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4320">
                <a:solidFill>
                  <a:schemeClr val="accent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38400" y="3555187"/>
            <a:ext cx="7022400" cy="482803"/>
          </a:xfrm>
          <a:solidFill>
            <a:schemeClr val="accent5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934400" y="6462720"/>
            <a:ext cx="619200" cy="164160"/>
          </a:xfrm>
        </p:spPr>
        <p:txBody>
          <a:bodyPr vert="horz" lIns="91440" tIns="45720" rIns="91440" bIns="45720" rtlCol="0" anchor="ctr"/>
          <a:lstStyle>
            <a:lvl1pPr marL="0" algn="r" defTabSz="1097280" rtl="0" eaLnBrk="1" latinLnBrk="0" hangingPunct="1">
              <a:defRPr lang="fr-CA" sz="804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92" y="280875"/>
            <a:ext cx="7043697" cy="978868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637938" y="6033953"/>
            <a:ext cx="2865599" cy="240066"/>
          </a:xfrm>
          <a:solidFill>
            <a:schemeClr val="accent5"/>
          </a:solidFill>
        </p:spPr>
        <p:txBody>
          <a:bodyPr/>
          <a:lstStyle>
            <a:lvl1pPr algn="l">
              <a:defRPr sz="1560" cap="all" baseline="0">
                <a:solidFill>
                  <a:schemeClr val="bg1"/>
                </a:solidFill>
              </a:defRPr>
            </a:lvl1pPr>
          </a:lstStyle>
          <a:p>
            <a:r>
              <a:rPr lang="fr-CA"/>
              <a:t>(C) HEC montréal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5A58C0-08F0-4A50-B07B-6D1C5C48A4F1}" type="datetime1">
              <a:rPr lang="fr-CA" smtClean="0"/>
              <a:t>2025-04-13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70037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38400" y="575623"/>
            <a:ext cx="10915200" cy="987552"/>
          </a:xfrm>
        </p:spPr>
        <p:txBody>
          <a:bodyPr/>
          <a:lstStyle/>
          <a:p>
            <a:r>
              <a:rPr lang="fr-CA" noProof="0" dirty="0"/>
              <a:t>Click to </a:t>
            </a:r>
            <a:r>
              <a:rPr lang="fr-CA" noProof="0" dirty="0" err="1"/>
              <a:t>edit</a:t>
            </a:r>
            <a:r>
              <a:rPr lang="fr-CA" noProof="0" dirty="0"/>
              <a:t> </a:t>
            </a:r>
            <a:r>
              <a:rPr lang="fr-CA" noProof="0" dirty="0" err="1"/>
              <a:t>title</a:t>
            </a:r>
            <a:r>
              <a:rPr lang="fr-CA" noProof="0" dirty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38400" y="1893224"/>
            <a:ext cx="10915200" cy="3825587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CC53-9834-49DE-99C7-7F6AD1C4BD1F}" type="datetime1">
              <a:rPr lang="fr-CA" smtClean="0"/>
              <a:t>2025-04-13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461433" y="5718810"/>
            <a:ext cx="1219200" cy="1097280"/>
          </a:xfrm>
          <a:prstGeom prst="rect">
            <a:avLst/>
          </a:prstGeom>
        </p:spPr>
        <p:txBody>
          <a:bodyPr vert="horz" wrap="none" lIns="109728" tIns="54864" rIns="109728" bIns="54864" rtlCol="0">
            <a:normAutofit/>
          </a:bodyPr>
          <a:lstStyle/>
          <a:p>
            <a:pPr marL="185760" indent="-18576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004" noProof="0" dirty="0"/>
          </a:p>
        </p:txBody>
      </p:sp>
    </p:spTree>
    <p:extLst>
      <p:ext uri="{BB962C8B-B14F-4D97-AF65-F5344CB8AC3E}">
        <p14:creationId xmlns:p14="http://schemas.microsoft.com/office/powerpoint/2010/main" val="2735606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49419" y="4143768"/>
            <a:ext cx="8804180" cy="17337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160" noProof="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14"/>
          <a:stretch/>
        </p:blipFill>
        <p:spPr>
          <a:xfrm>
            <a:off x="7787951" y="1685399"/>
            <a:ext cx="3766109" cy="236782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1715039"/>
            <a:ext cx="7032000" cy="1749600"/>
          </a:xfrm>
          <a:solidFill>
            <a:schemeClr val="accent5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1097280" rtl="0" eaLnBrk="1" latinLnBrk="0" hangingPunct="1">
              <a:spcBef>
                <a:spcPct val="0"/>
              </a:spcBef>
              <a:buNone/>
              <a:defRPr lang="fr-CA" sz="432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3555187"/>
            <a:ext cx="7022400" cy="482803"/>
          </a:xfrm>
          <a:solidFill>
            <a:schemeClr val="accent5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109728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4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1CC4052-1310-45CC-AB2F-03ABCF62E9FF}" type="datetime1">
              <a:rPr lang="fr-CA" smtClean="0"/>
              <a:t>2025-04-13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5511" y="1719405"/>
            <a:ext cx="3778552" cy="23338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400" y="4143767"/>
            <a:ext cx="2023936" cy="17448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160" noProof="0" dirty="0"/>
          </a:p>
        </p:txBody>
      </p:sp>
      <p:pic>
        <p:nvPicPr>
          <p:cNvPr id="12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805" y="6038593"/>
            <a:ext cx="2053463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8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7216"/>
            <a:ext cx="10915200" cy="988033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21282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821282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4CD-DF54-4297-AB04-B1C5A2A1A70B}" type="datetime1">
              <a:rPr lang="fr-CA" smtClean="0"/>
              <a:t>2025-04-13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340636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4442"/>
            <a:ext cx="10915200" cy="9845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13561"/>
            <a:ext cx="5386917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453323"/>
            <a:ext cx="5386917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813561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453323"/>
            <a:ext cx="5389033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85161-F226-49B3-8311-95D08D34E590}" type="datetime1">
              <a:rPr lang="fr-CA" smtClean="0"/>
              <a:t>2025-04-13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60264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7216"/>
            <a:ext cx="10915200" cy="983730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AC9E8-FE15-4A03-A806-7F73DF5A5F85}" type="datetime1">
              <a:rPr lang="fr-CA" smtClean="0"/>
              <a:t>2025-04-13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08380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3B74F-FFDA-44B0-B1C6-B75437B2865C}" type="datetime1">
              <a:rPr lang="fr-CA" smtClean="0"/>
              <a:t>2025-04-13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68936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2631"/>
            <a:ext cx="10915200" cy="986410"/>
          </a:xfrm>
        </p:spPr>
        <p:txBody>
          <a:bodyPr anchor="ctr" anchorCtr="0"/>
          <a:lstStyle>
            <a:lvl1pPr algn="l">
              <a:defRPr sz="312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47200" y="1805281"/>
            <a:ext cx="6796800" cy="3913530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8400" y="1805281"/>
            <a:ext cx="3984000" cy="3913530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8C76-5CD6-4C9C-B832-4C8504C5995D}" type="datetime1">
              <a:rPr lang="fr-CA" smtClean="0"/>
              <a:t>2025-04-13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5147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87672"/>
            <a:ext cx="10915200" cy="987540"/>
          </a:xfrm>
        </p:spPr>
        <p:txBody>
          <a:bodyPr anchor="ctr" anchorCtr="0"/>
          <a:lstStyle>
            <a:lvl1pPr algn="l">
              <a:defRPr sz="312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38400" y="2478092"/>
            <a:ext cx="10905600" cy="3240718"/>
          </a:xfrm>
        </p:spPr>
        <p:txBody>
          <a:bodyPr>
            <a:normAutofit/>
          </a:bodyPr>
          <a:lstStyle>
            <a:lvl1pPr marL="0" indent="0">
              <a:buNone/>
              <a:defRPr sz="2004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fr-FR" noProof="0"/>
              <a:t>Cliquez sur l'icône pour ajouter une image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8400" y="1821452"/>
            <a:ext cx="10905600" cy="626400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F18B9-9E5D-4B74-AD2E-A338EC337F5C}" type="datetime1">
              <a:rPr lang="fr-CA" smtClean="0"/>
              <a:t>2025-04-13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365648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38400" y="582231"/>
            <a:ext cx="10915200" cy="99298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1821452"/>
            <a:ext cx="10915200" cy="3897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 dirty="0"/>
              <a:t>Cliquez pour modifier les styles du texte du masque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52800" y="6461995"/>
            <a:ext cx="28448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accent2"/>
                </a:solidFill>
              </a:defRPr>
            </a:lvl1pPr>
          </a:lstStyle>
          <a:p>
            <a:fld id="{8B9F18B9-9E5D-4B74-AD2E-A338EC337F5C}" type="datetime1">
              <a:rPr lang="fr-CA" smtClean="0"/>
              <a:t>2025-04-13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461995"/>
            <a:ext cx="38608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accent2"/>
                </a:solidFill>
              </a:defRPr>
            </a:lvl1pPr>
          </a:lstStyle>
          <a:p>
            <a:r>
              <a:rPr lang="fr-CA"/>
              <a:t>(C)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934400" y="6461995"/>
            <a:ext cx="6192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accent2"/>
                </a:solidFill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805" y="6038593"/>
            <a:ext cx="2053463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34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</p:sldLayoutIdLst>
  <p:hf hdr="0" dt="0"/>
  <p:txStyles>
    <p:titleStyle>
      <a:lvl1pPr algn="l" defTabSz="1097280" rtl="0" eaLnBrk="1" latinLnBrk="0" hangingPunct="1">
        <a:spcBef>
          <a:spcPct val="0"/>
        </a:spcBef>
        <a:buNone/>
        <a:defRPr sz="312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576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1pPr>
      <a:lvl2pPr marL="54432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2pPr>
      <a:lvl3pPr marL="90288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3pPr>
      <a:lvl4pPr marL="125712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4pPr>
      <a:lvl5pPr marL="1615680" indent="-185760" algn="l" defTabSz="109728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9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3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4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5" Type="http://schemas.openxmlformats.org/officeDocument/2006/relationships/tags" Target="../tags/tag45.xml"/><Relationship Id="rId15" Type="http://schemas.openxmlformats.org/officeDocument/2006/relationships/notesSlide" Target="../notesSlides/notesSlide6.xml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6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8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tags" Target="../tags/tag84.xml"/><Relationship Id="rId7" Type="http://schemas.openxmlformats.org/officeDocument/2006/relationships/diagramData" Target="../diagrams/data1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notesSlide" Target="../notesSlides/notesSlide11.xml"/><Relationship Id="rId11" Type="http://schemas.microsoft.com/office/2007/relationships/diagramDrawing" Target="../diagrams/drawing1.xml"/><Relationship Id="rId5" Type="http://schemas.openxmlformats.org/officeDocument/2006/relationships/slideLayout" Target="../slideLayouts/slideLayout2.xml"/><Relationship Id="rId10" Type="http://schemas.openxmlformats.org/officeDocument/2006/relationships/diagramColors" Target="../diagrams/colors1.xml"/><Relationship Id="rId4" Type="http://schemas.openxmlformats.org/officeDocument/2006/relationships/tags" Target="../tags/tag85.xml"/><Relationship Id="rId9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Contrôle de gestion stratégique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CA" dirty="0"/>
              <a:t>Séance 4 : Évaluer et analyser les besoins de financement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</p:spTree>
    <p:extLst>
      <p:ext uri="{BB962C8B-B14F-4D97-AF65-F5344CB8AC3E}">
        <p14:creationId xmlns:p14="http://schemas.microsoft.com/office/powerpoint/2010/main" val="4159150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0DA834F-95F6-4E37-944B-0EE86ECAB58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C73EB41D-849B-4C0C-8BB4-E1DF9CA5FEE5}" type="slidenum">
              <a:rPr lang="fr-CA" smtClean="0"/>
              <a:t>2</a:t>
            </a:fld>
            <a:endParaRPr lang="fr-CA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CF306FC-6EE0-4710-9E8D-B536E2BF4F7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00663" y="1695268"/>
            <a:ext cx="5811252" cy="122722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/>
              <a:t>Identification des facteurs clés de succès de l’industrie</a:t>
            </a:r>
          </a:p>
          <a:p>
            <a:pPr algn="ctr"/>
            <a:r>
              <a:rPr lang="fr-CA" b="1" dirty="0"/>
              <a:t>Analyse de l’environnement interne et externe</a:t>
            </a:r>
          </a:p>
          <a:p>
            <a:pPr algn="ctr"/>
            <a:r>
              <a:rPr lang="fr-CA" b="1" dirty="0"/>
              <a:t>Analyse de la situation financière 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614C307-079F-464B-B8D5-DD35E3DA698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44253" y="136525"/>
            <a:ext cx="6031831" cy="122722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/>
              <a:t>Vision/Mission/Valeurs </a:t>
            </a:r>
          </a:p>
          <a:p>
            <a:pPr algn="ctr"/>
            <a:r>
              <a:rPr lang="fr-CA" b="1" dirty="0"/>
              <a:t>Stratégie</a:t>
            </a:r>
          </a:p>
          <a:p>
            <a:pPr algn="ctr"/>
            <a:r>
              <a:rPr lang="fr-CA" b="1" dirty="0"/>
              <a:t>Contraintes et limites, objectifs stratégiques </a:t>
            </a:r>
          </a:p>
          <a:p>
            <a:pPr algn="ctr"/>
            <a:r>
              <a:rPr lang="fr-CA" b="1" dirty="0"/>
              <a:t>Préférences des parties prenantes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C135706-776B-4E0A-97DF-5A7BF0478E1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18936" y="3717761"/>
            <a:ext cx="3084574" cy="256020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/>
              <a:t>Options stratégiques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Analyse quantitative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Analyse qualitative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Recommandations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Mise en œuvre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Financement </a:t>
            </a:r>
          </a:p>
          <a:p>
            <a:pPr algn="ctr"/>
            <a:endParaRPr lang="fr-CA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2149227-46FB-4400-80DF-9EECC8B230E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 flipH="1">
            <a:off x="3043989" y="2755230"/>
            <a:ext cx="757989" cy="962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B7E5824F-5170-499D-BB5C-19E07B6578D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06315" y="3087926"/>
            <a:ext cx="242499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/>
        </p:spPr>
        <p:txBody>
          <a:bodyPr wrap="square" rtlCol="0">
            <a:spAutoFit/>
          </a:bodyPr>
          <a:lstStyle/>
          <a:p>
            <a:r>
              <a:rPr lang="fr-CA" dirty="0"/>
              <a:t>Forces + Possibilités 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560BD74-5B17-4FA2-8270-4B9B7D3CFF2D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8610600" y="2781130"/>
            <a:ext cx="1016666" cy="866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8B60383-9932-4F37-9076-CD79C744D7AB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274257" y="3673307"/>
            <a:ext cx="3937169" cy="2952848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/>
              <a:t>Enjeux opérationnels et analyse des systèmes de contrôle stratégique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Gestion des risques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Mesure de la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Rémunération incitative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Gouvernance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Structure organisationnelle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Processus budgétaire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Contrôle stratégique des coûts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728611D-8D8E-47F5-952B-DB4B4EABF97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151428" y="3017570"/>
            <a:ext cx="304934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/>
        </p:spPr>
        <p:txBody>
          <a:bodyPr wrap="square" rtlCol="0">
            <a:spAutoFit/>
          </a:bodyPr>
          <a:lstStyle/>
          <a:p>
            <a:r>
              <a:rPr lang="fr-CA" dirty="0"/>
              <a:t>Faiblesses et Menaces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D72452-10A8-43E9-A359-9C4EDD876C2E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283848" y="5409723"/>
            <a:ext cx="1860405" cy="369332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1441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EB6926-1970-4FF5-A487-90A2535154B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Approche CPA et l’analyse du financement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E923D4-72A0-4605-A49A-688BB4D1D446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5A70B2-3510-4321-AB5E-33FF9CE9C22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4B77A-FA8A-47C8-BA23-DBC29EF16B8B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</p:spTree>
    <p:extLst>
      <p:ext uri="{BB962C8B-B14F-4D97-AF65-F5344CB8AC3E}">
        <p14:creationId xmlns:p14="http://schemas.microsoft.com/office/powerpoint/2010/main" val="2231142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Le financement et l’approche CPA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151299" y="1893888"/>
            <a:ext cx="5889401" cy="3824287"/>
          </a:xfrm>
          <a:prstGeom prst="rect">
            <a:avLst/>
          </a:prstGeom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4</a:t>
            </a:fld>
            <a:endParaRPr lang="fr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93941F-8479-4175-AD77-88AFA2E8C97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49422" y="4121625"/>
            <a:ext cx="1121990" cy="967733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F41727C-36DE-4DC8-A792-5DA1FA41AF1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960189" y="4613181"/>
            <a:ext cx="3766782" cy="696036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r>
              <a:rPr lang="fr-CA" sz="1670" dirty="0"/>
              <a:t>Besoin de financement</a:t>
            </a:r>
          </a:p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r>
              <a:rPr lang="fr-CA" sz="1670" dirty="0"/>
              <a:t>Structure de financement actuelle </a:t>
            </a:r>
          </a:p>
        </p:txBody>
      </p:sp>
    </p:spTree>
    <p:extLst>
      <p:ext uri="{BB962C8B-B14F-4D97-AF65-F5344CB8AC3E}">
        <p14:creationId xmlns:p14="http://schemas.microsoft.com/office/powerpoint/2010/main" val="50720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Le financement et l’approche CPA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151299" y="1893888"/>
            <a:ext cx="5889401" cy="3824287"/>
          </a:xfrm>
          <a:prstGeom prst="rect">
            <a:avLst/>
          </a:prstGeom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5</a:t>
            </a:fld>
            <a:endParaRPr lang="fr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93941F-8479-4175-AD77-88AFA2E8C97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502321" y="3111691"/>
            <a:ext cx="1199268" cy="967014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F792347-B740-491B-A8DB-5B718855369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921470" y="3458013"/>
            <a:ext cx="3766782" cy="696036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r>
              <a:rPr lang="fr-CA" sz="1670" dirty="0"/>
              <a:t>Analyse des sources de financement</a:t>
            </a:r>
          </a:p>
        </p:txBody>
      </p:sp>
    </p:spTree>
    <p:extLst>
      <p:ext uri="{BB962C8B-B14F-4D97-AF65-F5344CB8AC3E}">
        <p14:creationId xmlns:p14="http://schemas.microsoft.com/office/powerpoint/2010/main" val="609574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Le financement et l’approche CPA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151299" y="1893888"/>
            <a:ext cx="5889401" cy="3824287"/>
          </a:xfrm>
          <a:prstGeom prst="rect">
            <a:avLst/>
          </a:prstGeom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6</a:t>
            </a:fld>
            <a:endParaRPr lang="fr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93941F-8479-4175-AD77-88AFA2E8C97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594142" y="2306994"/>
            <a:ext cx="1190290" cy="1302479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1DC7C1B-B57A-4F3C-B5FF-F26C40C5ABE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917757" y="2913436"/>
            <a:ext cx="3766782" cy="987551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r>
              <a:rPr lang="fr-CA" sz="1670" dirty="0"/>
              <a:t>Recommandation du financement le plus approprié</a:t>
            </a:r>
          </a:p>
        </p:txBody>
      </p:sp>
    </p:spTree>
    <p:extLst>
      <p:ext uri="{BB962C8B-B14F-4D97-AF65-F5344CB8AC3E}">
        <p14:creationId xmlns:p14="http://schemas.microsoft.com/office/powerpoint/2010/main" val="323773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2A9BC-7EBE-40CD-A089-29C97F1B33A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Cycle de vie de l’entreprise et le financement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FE14BD-D360-4AD5-AC16-7EDE51584EC7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9B9CE1-0215-4818-8B9D-A635D4D63B5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F10FDB-D10B-4F0C-976B-DEA14AEF6E97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</p:spTree>
    <p:extLst>
      <p:ext uri="{BB962C8B-B14F-4D97-AF65-F5344CB8AC3E}">
        <p14:creationId xmlns:p14="http://schemas.microsoft.com/office/powerpoint/2010/main" val="867508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Cycle de vie du financement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8</a:t>
            </a:fld>
            <a:endParaRPr lang="fr-CA"/>
          </a:p>
        </p:txBody>
      </p:sp>
      <p:cxnSp>
        <p:nvCxnSpPr>
          <p:cNvPr id="15" name="Connecteur droit 14"/>
          <p:cNvCxnSpPr/>
          <p:nvPr>
            <p:custDataLst>
              <p:tags r:id="rId4"/>
            </p:custDataLst>
          </p:nvPr>
        </p:nvCxnSpPr>
        <p:spPr>
          <a:xfrm>
            <a:off x="1988019" y="2601310"/>
            <a:ext cx="0" cy="26486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>
            <p:custDataLst>
              <p:tags r:id="rId5"/>
            </p:custDataLst>
          </p:nvPr>
        </p:nvCxnSpPr>
        <p:spPr>
          <a:xfrm>
            <a:off x="1988019" y="5236234"/>
            <a:ext cx="7376698" cy="609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>
            <p:custDataLst>
              <p:tags r:id="rId6"/>
            </p:custDataLst>
          </p:nvPr>
        </p:nvSpPr>
        <p:spPr>
          <a:xfrm>
            <a:off x="837136" y="2799447"/>
            <a:ext cx="11508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Chiffre d’affaires</a:t>
            </a:r>
          </a:p>
          <a:p>
            <a:endParaRPr lang="fr-CA" dirty="0"/>
          </a:p>
        </p:txBody>
      </p:sp>
      <p:sp>
        <p:nvSpPr>
          <p:cNvPr id="19" name="ZoneTexte 18"/>
          <p:cNvSpPr txBox="1"/>
          <p:nvPr>
            <p:custDataLst>
              <p:tags r:id="rId7"/>
            </p:custDataLst>
          </p:nvPr>
        </p:nvSpPr>
        <p:spPr>
          <a:xfrm>
            <a:off x="9354828" y="5065251"/>
            <a:ext cx="1797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Temps </a:t>
            </a:r>
          </a:p>
        </p:txBody>
      </p:sp>
      <p:sp>
        <p:nvSpPr>
          <p:cNvPr id="21" name="Forme libre 20"/>
          <p:cNvSpPr/>
          <p:nvPr>
            <p:custDataLst>
              <p:tags r:id="rId8"/>
            </p:custDataLst>
          </p:nvPr>
        </p:nvSpPr>
        <p:spPr>
          <a:xfrm>
            <a:off x="2875280" y="3138669"/>
            <a:ext cx="6208786" cy="2111248"/>
          </a:xfrm>
          <a:custGeom>
            <a:avLst/>
            <a:gdLst>
              <a:gd name="connsiteX0" fmla="*/ 0 w 5615652"/>
              <a:gd name="connsiteY0" fmla="*/ 1512159 h 1512159"/>
              <a:gd name="connsiteX1" fmla="*/ 2995448 w 5615652"/>
              <a:gd name="connsiteY1" fmla="*/ 14434 h 1512159"/>
              <a:gd name="connsiteX2" fmla="*/ 5376041 w 5615652"/>
              <a:gd name="connsiteY2" fmla="*/ 755414 h 1512159"/>
              <a:gd name="connsiteX3" fmla="*/ 5407572 w 5615652"/>
              <a:gd name="connsiteY3" fmla="*/ 786945 h 1512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5652" h="1512159">
                <a:moveTo>
                  <a:pt x="0" y="1512159"/>
                </a:moveTo>
                <a:cubicBezTo>
                  <a:pt x="1049720" y="826358"/>
                  <a:pt x="2099441" y="140558"/>
                  <a:pt x="2995448" y="14434"/>
                </a:cubicBezTo>
                <a:cubicBezTo>
                  <a:pt x="3891455" y="-111690"/>
                  <a:pt x="4974021" y="626662"/>
                  <a:pt x="5376041" y="755414"/>
                </a:cubicBezTo>
                <a:cubicBezTo>
                  <a:pt x="5778061" y="884166"/>
                  <a:pt x="5592816" y="835555"/>
                  <a:pt x="5407572" y="78694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2" name="ZoneTexte 21"/>
          <p:cNvSpPr txBox="1"/>
          <p:nvPr>
            <p:custDataLst>
              <p:tags r:id="rId9"/>
            </p:custDataLst>
          </p:nvPr>
        </p:nvSpPr>
        <p:spPr>
          <a:xfrm>
            <a:off x="3148940" y="4904234"/>
            <a:ext cx="252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Introduction</a:t>
            </a:r>
          </a:p>
        </p:txBody>
      </p:sp>
      <p:sp>
        <p:nvSpPr>
          <p:cNvPr id="23" name="ZoneTexte 22"/>
          <p:cNvSpPr txBox="1"/>
          <p:nvPr>
            <p:custDataLst>
              <p:tags r:id="rId10"/>
            </p:custDataLst>
          </p:nvPr>
        </p:nvSpPr>
        <p:spPr>
          <a:xfrm>
            <a:off x="3603997" y="3488082"/>
            <a:ext cx="252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Croissance</a:t>
            </a:r>
          </a:p>
        </p:txBody>
      </p:sp>
      <p:sp>
        <p:nvSpPr>
          <p:cNvPr id="24" name="ZoneTexte 23"/>
          <p:cNvSpPr txBox="1"/>
          <p:nvPr>
            <p:custDataLst>
              <p:tags r:id="rId11"/>
            </p:custDataLst>
          </p:nvPr>
        </p:nvSpPr>
        <p:spPr>
          <a:xfrm>
            <a:off x="5874232" y="2660963"/>
            <a:ext cx="252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Maturité</a:t>
            </a:r>
          </a:p>
        </p:txBody>
      </p:sp>
      <p:sp>
        <p:nvSpPr>
          <p:cNvPr id="25" name="ZoneTexte 24"/>
          <p:cNvSpPr txBox="1"/>
          <p:nvPr>
            <p:custDataLst>
              <p:tags r:id="rId12"/>
            </p:custDataLst>
          </p:nvPr>
        </p:nvSpPr>
        <p:spPr>
          <a:xfrm>
            <a:off x="7731123" y="3832558"/>
            <a:ext cx="252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Déclin</a:t>
            </a:r>
          </a:p>
        </p:txBody>
      </p:sp>
      <p:sp>
        <p:nvSpPr>
          <p:cNvPr id="6" name="ZoneTexte 5"/>
          <p:cNvSpPr txBox="1"/>
          <p:nvPr>
            <p:custDataLst>
              <p:tags r:id="rId13"/>
            </p:custDataLst>
          </p:nvPr>
        </p:nvSpPr>
        <p:spPr>
          <a:xfrm>
            <a:off x="1412577" y="5283531"/>
            <a:ext cx="2106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Développement</a:t>
            </a:r>
          </a:p>
        </p:txBody>
      </p:sp>
    </p:spTree>
    <p:extLst>
      <p:ext uri="{BB962C8B-B14F-4D97-AF65-F5344CB8AC3E}">
        <p14:creationId xmlns:p14="http://schemas.microsoft.com/office/powerpoint/2010/main" val="791330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9AE9C8-57D1-4319-82A8-CA432940FC6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Démarche de financement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EFAB8B-65B0-400E-9793-C24212C65A63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425923-97AC-4C57-804B-57E78958134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500F33-CE97-43E6-99A0-C86496F19817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</p:spTree>
    <p:extLst>
      <p:ext uri="{BB962C8B-B14F-4D97-AF65-F5344CB8AC3E}">
        <p14:creationId xmlns:p14="http://schemas.microsoft.com/office/powerpoint/2010/main" val="2330584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Démarche de financement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r-CA" dirty="0"/>
              <a:t>Analyse des projets d’investissement</a:t>
            </a:r>
          </a:p>
          <a:p>
            <a:pPr marL="457200" indent="-457200">
              <a:buFont typeface="+mj-lt"/>
              <a:buAutoNum type="arabicPeriod"/>
            </a:pPr>
            <a:r>
              <a:rPr lang="fr-CA" dirty="0"/>
              <a:t>Identification des besoins de financement</a:t>
            </a:r>
          </a:p>
          <a:p>
            <a:pPr marL="457200" indent="-457200">
              <a:buFont typeface="+mj-lt"/>
              <a:buAutoNum type="arabicPeriod"/>
            </a:pPr>
            <a:r>
              <a:rPr lang="fr-CA" dirty="0"/>
              <a:t>Identification des sources de financement possibles </a:t>
            </a:r>
          </a:p>
          <a:p>
            <a:pPr marL="457200" indent="-457200">
              <a:buFont typeface="+mj-lt"/>
              <a:buAutoNum type="arabicPeriod"/>
            </a:pPr>
            <a:r>
              <a:rPr lang="fr-CA" dirty="0"/>
              <a:t>Analyse des options de financement</a:t>
            </a:r>
          </a:p>
          <a:p>
            <a:pPr marL="457200" indent="-457200">
              <a:buFont typeface="+mj-lt"/>
              <a:buAutoNum type="arabicPeriod"/>
            </a:pPr>
            <a:r>
              <a:rPr lang="fr-CA" dirty="0"/>
              <a:t>Recommandation et mise en œuvre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7324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E5E990-E7A9-428E-9A44-46A9C925AEE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Identification des besoins de financement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7AE0DA-31FA-4E7F-AD63-D523FB1A4D05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4398BF-3A38-436A-A581-FD6D143CC68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27E33E-76B7-409C-967A-0DE24CD435FD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</p:spTree>
    <p:extLst>
      <p:ext uri="{BB962C8B-B14F-4D97-AF65-F5344CB8AC3E}">
        <p14:creationId xmlns:p14="http://schemas.microsoft.com/office/powerpoint/2010/main" val="2666681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Identification des besoins de financement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b="1" dirty="0"/>
              <a:t>Budget de caisse</a:t>
            </a:r>
          </a:p>
          <a:p>
            <a:r>
              <a:rPr lang="fr-CA" dirty="0"/>
              <a:t>Outil permettant d’identifier et de surveiller l’évolution des flux de trésorerie</a:t>
            </a:r>
          </a:p>
          <a:p>
            <a:r>
              <a:rPr lang="fr-CA" dirty="0"/>
              <a:t>Établi sur une base </a:t>
            </a:r>
            <a:r>
              <a:rPr lang="fr-CA" dirty="0">
                <a:highlight>
                  <a:srgbClr val="FFFF00"/>
                </a:highlight>
              </a:rPr>
              <a:t>mensuelle</a:t>
            </a:r>
            <a:r>
              <a:rPr lang="fr-CA" dirty="0"/>
              <a:t> </a:t>
            </a:r>
          </a:p>
          <a:p>
            <a:r>
              <a:rPr lang="fr-CA" dirty="0"/>
              <a:t>Entrées et sorties de fonds</a:t>
            </a:r>
          </a:p>
          <a:p>
            <a:r>
              <a:rPr lang="fr-CA" dirty="0"/>
              <a:t>Distinction entre les flux engagés et discrétionnaires</a:t>
            </a:r>
          </a:p>
          <a:p>
            <a:r>
              <a:rPr lang="fr-CA" dirty="0"/>
              <a:t>Permets de suivre l’évolution des emprunts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Principal outil de planification de la trésorerie, le budget de caisse </a:t>
            </a:r>
            <a:r>
              <a:rPr lang="fr-CA" dirty="0">
                <a:highlight>
                  <a:srgbClr val="FFFF00"/>
                </a:highlight>
              </a:rPr>
              <a:t>doit être régulièrement comparé aux résultats réels</a:t>
            </a:r>
            <a:r>
              <a:rPr lang="fr-CA" dirty="0"/>
              <a:t> </a:t>
            </a:r>
            <a:r>
              <a:rPr lang="fr-CA" dirty="0">
                <a:highlight>
                  <a:srgbClr val="FFFF00"/>
                </a:highlight>
              </a:rPr>
              <a:t>et d’ajuster les prévisions. 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6173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Identification des besoins de financement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b="1" u="sng" dirty="0"/>
              <a:t>Flux liés à la situation actuelle de l’entreprise </a:t>
            </a:r>
          </a:p>
          <a:p>
            <a:pPr lvl="1"/>
            <a:r>
              <a:rPr lang="fr-CA" dirty="0"/>
              <a:t>Encaisse</a:t>
            </a:r>
          </a:p>
          <a:p>
            <a:pPr lvl="1"/>
            <a:r>
              <a:rPr lang="fr-CA" dirty="0"/>
              <a:t>Fonds </a:t>
            </a:r>
            <a:r>
              <a:rPr lang="fr-CA" dirty="0" err="1"/>
              <a:t>autogénérés</a:t>
            </a:r>
            <a:r>
              <a:rPr lang="fr-CA" dirty="0"/>
              <a:t> actuels (excluant les intérêts)</a:t>
            </a:r>
          </a:p>
          <a:p>
            <a:pPr lvl="1"/>
            <a:r>
              <a:rPr lang="fr-CA" dirty="0"/>
              <a:t>Remboursement de la dette actuelle (capital et intérêts)</a:t>
            </a:r>
          </a:p>
          <a:p>
            <a:pPr lvl="1"/>
            <a:r>
              <a:rPr lang="fr-CA" dirty="0"/>
              <a:t>Autres paiements requis (dividendes, avances, remplacement d’immobilisations)</a:t>
            </a:r>
          </a:p>
          <a:p>
            <a:pPr marL="0" indent="0">
              <a:buNone/>
            </a:pPr>
            <a:r>
              <a:rPr lang="fr-CA" b="1" u="sng" dirty="0"/>
              <a:t>Flux liés au projet d’investissement</a:t>
            </a:r>
          </a:p>
          <a:p>
            <a:pPr lvl="1"/>
            <a:r>
              <a:rPr lang="fr-CA" dirty="0"/>
              <a:t>Investissement requis (actif, fonds de roulement)</a:t>
            </a:r>
          </a:p>
          <a:p>
            <a:pPr lvl="1"/>
            <a:r>
              <a:rPr lang="fr-CA" dirty="0"/>
              <a:t>Flux monétaires liés au projet </a:t>
            </a:r>
          </a:p>
          <a:p>
            <a:pPr lvl="1"/>
            <a:r>
              <a:rPr lang="fr-CA" dirty="0"/>
              <a:t>Remboursement de la dette nécessaire pour réaliser le projet (capital et intérêts)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7598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Identification des besoins de financement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b="1" u="sng" dirty="0"/>
              <a:t>Quelques éléments à prendre en considération:</a:t>
            </a:r>
          </a:p>
          <a:p>
            <a:r>
              <a:rPr lang="fr-CA" dirty="0"/>
              <a:t>Incertitudes liées aux coûts du projet</a:t>
            </a:r>
          </a:p>
          <a:p>
            <a:r>
              <a:rPr lang="fr-CA" dirty="0"/>
              <a:t>Clause restrictive sur une dette actuelle</a:t>
            </a:r>
          </a:p>
          <a:p>
            <a:r>
              <a:rPr lang="fr-CA" dirty="0"/>
              <a:t>Analyse de la structure financière actuelle </a:t>
            </a:r>
          </a:p>
          <a:p>
            <a:r>
              <a:rPr lang="fr-CA" dirty="0"/>
              <a:t>Risque financier</a:t>
            </a:r>
          </a:p>
          <a:p>
            <a:r>
              <a:rPr lang="fr-CA" dirty="0"/>
              <a:t>Actifs donnés en garantie</a:t>
            </a:r>
          </a:p>
          <a:p>
            <a:r>
              <a:rPr lang="fr-CA" dirty="0"/>
              <a:t>Engagements hors bilan </a:t>
            </a:r>
          </a:p>
          <a:p>
            <a:endParaRPr lang="fr-CA" b="1" u="sng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8931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8136B4-2D78-439C-A186-03DC7256F6E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Modèle d’analyse des options de financement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6AF52E-E89D-4A5A-88E2-3EED6D9FB59D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F3B2BB-1297-4945-B057-E0CEE1A2F99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427261-2A96-4196-8E73-0516A78F160E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</p:spTree>
    <p:extLst>
      <p:ext uri="{BB962C8B-B14F-4D97-AF65-F5344CB8AC3E}">
        <p14:creationId xmlns:p14="http://schemas.microsoft.com/office/powerpoint/2010/main" val="3611999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6A5D11-E81E-459D-8EE1-ADF35AB5F0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Options de financement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CFD80614-F35B-4581-9ECB-D0A83DC94E1F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98881651"/>
              </p:ext>
            </p:extLst>
          </p:nvPr>
        </p:nvGraphicFramePr>
        <p:xfrm>
          <a:off x="638175" y="1893888"/>
          <a:ext cx="10915650" cy="3824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014ACA-AEED-41A5-86D6-F587DF10FB1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/>
              <a:t>(C) HEC Montréal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B3CAD0-AB7A-48C3-85A9-918607CA3EE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3339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Modèle d’analyse des options de financement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fr-CA" b="1" dirty="0">
                <a:solidFill>
                  <a:srgbClr val="0070C0"/>
                </a:solidFill>
              </a:rPr>
              <a:t>Montant disponible</a:t>
            </a:r>
          </a:p>
          <a:p>
            <a:pPr marL="358560" lvl="1" indent="0">
              <a:lnSpc>
                <a:spcPct val="90000"/>
              </a:lnSpc>
              <a:buNone/>
            </a:pPr>
            <a:endParaRPr lang="fr-CA" dirty="0">
              <a:ea typeface="Arial Unicode MS" pitchFamily="34" charset="-128"/>
              <a:cs typeface="Arial Unicode MS" pitchFamily="34" charset="-128"/>
            </a:endParaRPr>
          </a:p>
          <a:p>
            <a:pPr lvl="1">
              <a:lnSpc>
                <a:spcPct val="90000"/>
              </a:lnSpc>
            </a:pPr>
            <a:endParaRPr lang="fr-CA" sz="2100" dirty="0">
              <a:ea typeface="Arial Unicode MS" pitchFamily="34" charset="-128"/>
              <a:cs typeface="Arial Unicode MS" pitchFamily="34" charset="-128"/>
            </a:endParaRPr>
          </a:p>
          <a:p>
            <a:pPr>
              <a:spcAft>
                <a:spcPts val="600"/>
              </a:spcAft>
            </a:pPr>
            <a:endParaRPr lang="fr-CA" sz="24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 fontScale="62500" lnSpcReduction="20000"/>
          </a:bodyPr>
          <a:lstStyle/>
          <a:p>
            <a:fld id="{4BB3A394-422F-45DB-83C7-CD17904A67E9}" type="slidenum">
              <a:rPr lang="fr-CA"/>
              <a:pPr/>
              <a:t>17</a:t>
            </a:fld>
            <a:endParaRPr lang="fr-C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9F72D74-06EB-4AE2-9794-7D3C8EFCC28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271210" y="1893223"/>
            <a:ext cx="6663189" cy="429100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sz="2000" b="1" dirty="0"/>
              <a:t>Identifier le montant disponible en fonction des caractéristiques de l’option:</a:t>
            </a:r>
          </a:p>
          <a:p>
            <a:endParaRPr lang="fr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Montant disponible en fonction des biens qui peuvent être donnés en garantie (emprunt)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Montant net reçu suite à l’émission d’instruments financiers ou d’instruments de capitaux propres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Montant offert par un investisseur potentiel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Montant maximal offert dans le cadre  programme de subvention ou du prêt gouvernemental </a:t>
            </a:r>
          </a:p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6851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Modèle d’analyse des options de financement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</a:rPr>
              <a:t>Montant disponible</a:t>
            </a:r>
          </a:p>
          <a:p>
            <a:pPr>
              <a:spcBef>
                <a:spcPct val="50000"/>
              </a:spcBef>
            </a:pPr>
            <a:r>
              <a:rPr lang="fr-CA" b="1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Coût avant/après impôt</a:t>
            </a:r>
          </a:p>
          <a:p>
            <a:pPr marL="0" indent="0">
              <a:spcBef>
                <a:spcPct val="50000"/>
              </a:spcBef>
              <a:buNone/>
            </a:pPr>
            <a:endParaRPr lang="fr-CA" dirty="0">
              <a:solidFill>
                <a:srgbClr val="0070C0"/>
              </a:solidFill>
            </a:endParaRPr>
          </a:p>
          <a:p>
            <a:pPr marL="358560" lvl="1" indent="0">
              <a:lnSpc>
                <a:spcPct val="90000"/>
              </a:lnSpc>
              <a:buNone/>
            </a:pPr>
            <a:endParaRPr lang="fr-CA" dirty="0">
              <a:ea typeface="Arial Unicode MS" pitchFamily="34" charset="-128"/>
              <a:cs typeface="Arial Unicode MS" pitchFamily="34" charset="-128"/>
            </a:endParaRPr>
          </a:p>
          <a:p>
            <a:pPr lvl="1">
              <a:lnSpc>
                <a:spcPct val="90000"/>
              </a:lnSpc>
            </a:pPr>
            <a:endParaRPr lang="fr-CA" sz="2100" dirty="0">
              <a:ea typeface="Arial Unicode MS" pitchFamily="34" charset="-128"/>
              <a:cs typeface="Arial Unicode MS" pitchFamily="34" charset="-128"/>
            </a:endParaRPr>
          </a:p>
          <a:p>
            <a:pPr>
              <a:spcAft>
                <a:spcPts val="600"/>
              </a:spcAft>
            </a:pPr>
            <a:endParaRPr lang="fr-CA" sz="24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 fontScale="62500" lnSpcReduction="20000"/>
          </a:bodyPr>
          <a:lstStyle/>
          <a:p>
            <a:fld id="{4BB3A394-422F-45DB-83C7-CD17904A67E9}" type="slidenum">
              <a:rPr lang="fr-CA"/>
              <a:pPr/>
              <a:t>18</a:t>
            </a:fld>
            <a:endParaRPr lang="fr-C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9F72D74-06EB-4AE2-9794-7D3C8EFCC28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271211" y="1893223"/>
            <a:ext cx="6169326" cy="246041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Pourcentage d’intérêts à payer avant et après impôt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Montant à verser en intérêts dans les prochains exercices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Dividendes à verser (non déductible d’impôt)</a:t>
            </a:r>
          </a:p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34104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Modèle d’analyse des options de financement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</a:rPr>
              <a:t>Montant disponible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Coût avant/après impôt</a:t>
            </a:r>
          </a:p>
          <a:p>
            <a:pPr>
              <a:spcBef>
                <a:spcPct val="50000"/>
              </a:spcBef>
            </a:pPr>
            <a:r>
              <a:rPr lang="fr-CA" b="1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Durée</a:t>
            </a:r>
          </a:p>
          <a:p>
            <a:pPr>
              <a:spcBef>
                <a:spcPct val="50000"/>
              </a:spcBef>
            </a:pPr>
            <a:endParaRPr lang="fr-CA" dirty="0">
              <a:solidFill>
                <a:srgbClr val="0070C0"/>
              </a:solidFill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spcBef>
                <a:spcPct val="50000"/>
              </a:spcBef>
              <a:buNone/>
            </a:pPr>
            <a:endParaRPr lang="fr-CA" dirty="0">
              <a:solidFill>
                <a:srgbClr val="0070C0"/>
              </a:solidFill>
            </a:endParaRPr>
          </a:p>
          <a:p>
            <a:pPr marL="358560" lvl="1" indent="0">
              <a:lnSpc>
                <a:spcPct val="90000"/>
              </a:lnSpc>
              <a:buNone/>
            </a:pPr>
            <a:endParaRPr lang="fr-CA" dirty="0">
              <a:ea typeface="Arial Unicode MS" pitchFamily="34" charset="-128"/>
              <a:cs typeface="Arial Unicode MS" pitchFamily="34" charset="-128"/>
            </a:endParaRPr>
          </a:p>
          <a:p>
            <a:pPr lvl="1">
              <a:lnSpc>
                <a:spcPct val="90000"/>
              </a:lnSpc>
            </a:pPr>
            <a:endParaRPr lang="fr-CA" sz="2100" dirty="0">
              <a:ea typeface="Arial Unicode MS" pitchFamily="34" charset="-128"/>
              <a:cs typeface="Arial Unicode MS" pitchFamily="34" charset="-128"/>
            </a:endParaRPr>
          </a:p>
          <a:p>
            <a:pPr>
              <a:spcAft>
                <a:spcPts val="600"/>
              </a:spcAft>
            </a:pPr>
            <a:endParaRPr lang="fr-CA" sz="24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 fontScale="62500" lnSpcReduction="20000"/>
          </a:bodyPr>
          <a:lstStyle/>
          <a:p>
            <a:fld id="{4BB3A394-422F-45DB-83C7-CD17904A67E9}" type="slidenum">
              <a:rPr lang="fr-CA"/>
              <a:pPr/>
              <a:t>19</a:t>
            </a:fld>
            <a:endParaRPr lang="fr-C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9F72D74-06EB-4AE2-9794-7D3C8EFCC28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271210" y="1893222"/>
            <a:ext cx="6128383" cy="321104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Échéance des emprunts à termes ou obligataires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Date de rachat obligatoire pour les actions privilégiées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Date d’échéance des bons de souscription ou des droits de conversion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Rachat au gré du porteur</a:t>
            </a:r>
          </a:p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14654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Modèle d’analyse des options de financement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</a:rPr>
              <a:t>Montant disponible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Coût avant/après impôt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Durée</a:t>
            </a:r>
          </a:p>
          <a:p>
            <a:pPr>
              <a:spcBef>
                <a:spcPct val="50000"/>
              </a:spcBef>
            </a:pPr>
            <a:r>
              <a:rPr lang="fr-CA" b="1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Versements obligatoires</a:t>
            </a:r>
          </a:p>
          <a:p>
            <a:pPr>
              <a:spcBef>
                <a:spcPct val="50000"/>
              </a:spcBef>
            </a:pPr>
            <a:endParaRPr lang="fr-CA" dirty="0">
              <a:solidFill>
                <a:srgbClr val="0070C0"/>
              </a:solidFill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spcBef>
                <a:spcPct val="50000"/>
              </a:spcBef>
              <a:buNone/>
            </a:pPr>
            <a:endParaRPr lang="fr-CA" dirty="0">
              <a:solidFill>
                <a:srgbClr val="0070C0"/>
              </a:solidFill>
            </a:endParaRPr>
          </a:p>
          <a:p>
            <a:pPr marL="358560" lvl="1" indent="0">
              <a:lnSpc>
                <a:spcPct val="90000"/>
              </a:lnSpc>
              <a:buNone/>
            </a:pPr>
            <a:endParaRPr lang="fr-CA" dirty="0">
              <a:ea typeface="Arial Unicode MS" pitchFamily="34" charset="-128"/>
              <a:cs typeface="Arial Unicode MS" pitchFamily="34" charset="-128"/>
            </a:endParaRPr>
          </a:p>
          <a:p>
            <a:pPr lvl="1">
              <a:lnSpc>
                <a:spcPct val="90000"/>
              </a:lnSpc>
            </a:pPr>
            <a:endParaRPr lang="fr-CA" sz="2100" dirty="0">
              <a:ea typeface="Arial Unicode MS" pitchFamily="34" charset="-128"/>
              <a:cs typeface="Arial Unicode MS" pitchFamily="34" charset="-128"/>
            </a:endParaRPr>
          </a:p>
          <a:p>
            <a:pPr>
              <a:spcAft>
                <a:spcPts val="600"/>
              </a:spcAft>
            </a:pPr>
            <a:endParaRPr lang="fr-CA" sz="24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 fontScale="62500" lnSpcReduction="20000"/>
          </a:bodyPr>
          <a:lstStyle/>
          <a:p>
            <a:fld id="{4BB3A394-422F-45DB-83C7-CD17904A67E9}" type="slidenum">
              <a:rPr lang="fr-CA"/>
              <a:pPr/>
              <a:t>20</a:t>
            </a:fld>
            <a:endParaRPr lang="fr-C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9F72D74-06EB-4AE2-9794-7D3C8EFCC28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271211" y="1893222"/>
            <a:ext cx="5883442" cy="278795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Montant du versement du capital et des intérêts pour les emprunts bancaires ou obligataires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 Montant du versement pour un crédit-bail</a:t>
            </a:r>
          </a:p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141460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Modèle d’analyse des options de financement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</a:rPr>
              <a:t>Montant disponible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Coût avant/après impôt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Durée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Versements obligatoires</a:t>
            </a:r>
          </a:p>
          <a:p>
            <a:pPr>
              <a:spcBef>
                <a:spcPct val="50000"/>
              </a:spcBef>
            </a:pPr>
            <a:r>
              <a:rPr lang="fr-CA" b="1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Conditions</a:t>
            </a:r>
          </a:p>
          <a:p>
            <a:pPr>
              <a:spcBef>
                <a:spcPct val="50000"/>
              </a:spcBef>
            </a:pPr>
            <a:endParaRPr lang="fr-CA" dirty="0">
              <a:solidFill>
                <a:srgbClr val="0070C0"/>
              </a:solidFill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spcBef>
                <a:spcPct val="50000"/>
              </a:spcBef>
              <a:buNone/>
            </a:pPr>
            <a:endParaRPr lang="fr-CA" dirty="0">
              <a:solidFill>
                <a:srgbClr val="0070C0"/>
              </a:solidFill>
            </a:endParaRPr>
          </a:p>
          <a:p>
            <a:pPr marL="358560" lvl="1" indent="0">
              <a:lnSpc>
                <a:spcPct val="90000"/>
              </a:lnSpc>
              <a:buNone/>
            </a:pPr>
            <a:endParaRPr lang="fr-CA" dirty="0">
              <a:ea typeface="Arial Unicode MS" pitchFamily="34" charset="-128"/>
              <a:cs typeface="Arial Unicode MS" pitchFamily="34" charset="-128"/>
            </a:endParaRPr>
          </a:p>
          <a:p>
            <a:pPr lvl="1">
              <a:lnSpc>
                <a:spcPct val="90000"/>
              </a:lnSpc>
            </a:pPr>
            <a:endParaRPr lang="fr-CA" sz="2100" dirty="0">
              <a:ea typeface="Arial Unicode MS" pitchFamily="34" charset="-128"/>
              <a:cs typeface="Arial Unicode MS" pitchFamily="34" charset="-128"/>
            </a:endParaRPr>
          </a:p>
          <a:p>
            <a:pPr>
              <a:spcAft>
                <a:spcPts val="600"/>
              </a:spcAft>
            </a:pPr>
            <a:endParaRPr lang="fr-CA" sz="24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 fontScale="62500" lnSpcReduction="20000"/>
          </a:bodyPr>
          <a:lstStyle/>
          <a:p>
            <a:fld id="{4BB3A394-422F-45DB-83C7-CD17904A67E9}" type="slidenum">
              <a:rPr lang="fr-CA"/>
              <a:pPr/>
              <a:t>21</a:t>
            </a:fld>
            <a:endParaRPr lang="fr-C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9F72D74-06EB-4AE2-9794-7D3C8EFCC28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271211" y="1893222"/>
            <a:ext cx="5883442" cy="37160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Identifier les conditions particulières qui doivent être respectées, par exemple: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2000" b="1" dirty="0"/>
              <a:t>Clause restrictive exprimée sous forme de ratio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2000" b="1" dirty="0"/>
              <a:t>Solde minimal d’encaisse à maintenir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2000" b="1" dirty="0"/>
              <a:t>Conditions particulières variées à analyser selon le contexte spécifique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b="1" dirty="0"/>
          </a:p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58630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Modèle d’analyse des options de financement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</a:rPr>
              <a:t>Montant disponible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Coût avant/après impôt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Durée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Versements obligatoires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Conditions</a:t>
            </a:r>
          </a:p>
          <a:p>
            <a:pPr>
              <a:spcBef>
                <a:spcPct val="50000"/>
              </a:spcBef>
            </a:pPr>
            <a:r>
              <a:rPr lang="fr-CA" b="1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Incidence sur les états financiers</a:t>
            </a:r>
          </a:p>
          <a:p>
            <a:pPr>
              <a:spcBef>
                <a:spcPct val="50000"/>
              </a:spcBef>
            </a:pPr>
            <a:endParaRPr lang="fr-CA" dirty="0">
              <a:solidFill>
                <a:srgbClr val="0070C0"/>
              </a:solidFill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spcBef>
                <a:spcPct val="50000"/>
              </a:spcBef>
              <a:buNone/>
            </a:pPr>
            <a:endParaRPr lang="fr-CA" dirty="0">
              <a:solidFill>
                <a:srgbClr val="0070C0"/>
              </a:solidFill>
            </a:endParaRPr>
          </a:p>
          <a:p>
            <a:pPr marL="358560" lvl="1" indent="0">
              <a:lnSpc>
                <a:spcPct val="90000"/>
              </a:lnSpc>
              <a:buNone/>
            </a:pPr>
            <a:endParaRPr lang="fr-CA" dirty="0">
              <a:ea typeface="Arial Unicode MS" pitchFamily="34" charset="-128"/>
              <a:cs typeface="Arial Unicode MS" pitchFamily="34" charset="-128"/>
            </a:endParaRPr>
          </a:p>
          <a:p>
            <a:pPr lvl="1">
              <a:lnSpc>
                <a:spcPct val="90000"/>
              </a:lnSpc>
            </a:pPr>
            <a:endParaRPr lang="fr-CA" sz="2100" dirty="0">
              <a:ea typeface="Arial Unicode MS" pitchFamily="34" charset="-128"/>
              <a:cs typeface="Arial Unicode MS" pitchFamily="34" charset="-128"/>
            </a:endParaRPr>
          </a:p>
          <a:p>
            <a:pPr>
              <a:spcAft>
                <a:spcPts val="600"/>
              </a:spcAft>
            </a:pPr>
            <a:endParaRPr lang="fr-CA" sz="24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 fontScale="62500" lnSpcReduction="20000"/>
          </a:bodyPr>
          <a:lstStyle/>
          <a:p>
            <a:fld id="{4BB3A394-422F-45DB-83C7-CD17904A67E9}" type="slidenum">
              <a:rPr lang="fr-CA"/>
              <a:pPr/>
              <a:t>22</a:t>
            </a:fld>
            <a:endParaRPr lang="fr-C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9F72D74-06EB-4AE2-9794-7D3C8EFCC28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50958" y="1743097"/>
            <a:ext cx="5883442" cy="433015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Identifier de quelle façon l’option de financement sera comptabilisée dans les états financiers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sz="2000" b="1" dirty="0"/>
              <a:t>Particulièrement important dans le cas des instruments financiers complexes et du crédit bail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A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sz="2000" b="1" dirty="0"/>
              <a:t>Calculer l’impact sur les clauses restrictives actuelles et sur les objectifs stratégiques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b="1" dirty="0"/>
          </a:p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12818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Modèle d’analyse des options de financement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</a:rPr>
              <a:t>Montant disponible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Coût avant/après impôt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Durée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Versements obligatoires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Conditions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Incidence sur les états financiers</a:t>
            </a:r>
          </a:p>
          <a:p>
            <a:pPr>
              <a:spcBef>
                <a:spcPct val="50000"/>
              </a:spcBef>
            </a:pPr>
            <a:r>
              <a:rPr lang="fr-CA" b="1" dirty="0">
                <a:solidFill>
                  <a:srgbClr val="0070C0"/>
                </a:solidFill>
                <a:ea typeface="Arial Unicode MS" pitchFamily="34" charset="-128"/>
                <a:cs typeface="Arial Unicode MS" pitchFamily="34" charset="-128"/>
              </a:rPr>
              <a:t>Objectifs des parties prenantes </a:t>
            </a:r>
            <a:endParaRPr lang="fr-CA" b="1" dirty="0">
              <a:ea typeface="Arial Unicode MS" pitchFamily="34" charset="-128"/>
              <a:cs typeface="Arial Unicode MS" pitchFamily="34" charset="-128"/>
            </a:endParaRPr>
          </a:p>
          <a:p>
            <a:pPr>
              <a:spcBef>
                <a:spcPct val="50000"/>
              </a:spcBef>
            </a:pPr>
            <a:endParaRPr lang="fr-CA" dirty="0">
              <a:solidFill>
                <a:srgbClr val="0070C0"/>
              </a:solidFill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spcBef>
                <a:spcPct val="50000"/>
              </a:spcBef>
              <a:buNone/>
            </a:pPr>
            <a:endParaRPr lang="fr-CA" dirty="0">
              <a:solidFill>
                <a:srgbClr val="0070C0"/>
              </a:solidFill>
            </a:endParaRPr>
          </a:p>
          <a:p>
            <a:pPr marL="358560" lvl="1" indent="0">
              <a:lnSpc>
                <a:spcPct val="90000"/>
              </a:lnSpc>
              <a:buNone/>
            </a:pPr>
            <a:endParaRPr lang="fr-CA" dirty="0">
              <a:ea typeface="Arial Unicode MS" pitchFamily="34" charset="-128"/>
              <a:cs typeface="Arial Unicode MS" pitchFamily="34" charset="-128"/>
            </a:endParaRPr>
          </a:p>
          <a:p>
            <a:pPr lvl="1">
              <a:lnSpc>
                <a:spcPct val="90000"/>
              </a:lnSpc>
            </a:pPr>
            <a:endParaRPr lang="fr-CA" sz="2100" dirty="0">
              <a:ea typeface="Arial Unicode MS" pitchFamily="34" charset="-128"/>
              <a:cs typeface="Arial Unicode MS" pitchFamily="34" charset="-128"/>
            </a:endParaRPr>
          </a:p>
          <a:p>
            <a:pPr>
              <a:spcAft>
                <a:spcPts val="600"/>
              </a:spcAft>
            </a:pPr>
            <a:endParaRPr lang="fr-CA" sz="24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 fontScale="62500" lnSpcReduction="20000"/>
          </a:bodyPr>
          <a:lstStyle/>
          <a:p>
            <a:fld id="{4BB3A394-422F-45DB-83C7-CD17904A67E9}" type="slidenum">
              <a:rPr lang="fr-CA"/>
              <a:pPr/>
              <a:t>23</a:t>
            </a:fld>
            <a:endParaRPr lang="fr-CA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9F72D74-06EB-4AE2-9794-7D3C8EFCC28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50958" y="1743097"/>
            <a:ext cx="5883442" cy="318374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Impact sur les propriétaires actuels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2000" b="1" dirty="0"/>
              <a:t>Tolérance au risque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2000" b="1" dirty="0"/>
              <a:t>% de participation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Impact sur la rémunération incitative de la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b="1" dirty="0"/>
              <a:t>Stratégie de l’entreprise</a:t>
            </a:r>
          </a:p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60189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Recommandations - financement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97280" y="1737360"/>
            <a:ext cx="10058400" cy="4023360"/>
          </a:xfrm>
        </p:spPr>
        <p:txBody>
          <a:bodyPr>
            <a:normAutofit/>
          </a:bodyPr>
          <a:lstStyle/>
          <a:p>
            <a:r>
              <a:rPr lang="fr-CA" b="1" dirty="0">
                <a:ea typeface="Arial Unicode MS" pitchFamily="34" charset="-128"/>
                <a:cs typeface="Arial Unicode MS" pitchFamily="34" charset="-128"/>
              </a:rPr>
              <a:t>Identifier clairement l’option de financement retenue en revenant brièvement sur les raisons qui motivent votre choix</a:t>
            </a:r>
          </a:p>
          <a:p>
            <a:endParaRPr lang="fr-CA" b="1" dirty="0">
              <a:ea typeface="Arial Unicode MS" pitchFamily="34" charset="-128"/>
              <a:cs typeface="Arial Unicode MS" pitchFamily="34" charset="-128"/>
            </a:endParaRPr>
          </a:p>
          <a:p>
            <a:r>
              <a:rPr lang="fr-CA" b="1" dirty="0">
                <a:ea typeface="Arial Unicode MS" pitchFamily="34" charset="-128"/>
                <a:cs typeface="Arial Unicode MS" pitchFamily="34" charset="-128"/>
              </a:rPr>
              <a:t>Assurez-vous que votre recommandation couvre les besoins de financement initialement identifiés</a:t>
            </a:r>
            <a:endParaRPr lang="fr-CA" dirty="0">
              <a:ea typeface="Arial Unicode MS" pitchFamily="34" charset="-128"/>
              <a:cs typeface="Arial Unicode MS" pitchFamily="34" charset="-128"/>
            </a:endParaRPr>
          </a:p>
          <a:p>
            <a:pPr>
              <a:spcAft>
                <a:spcPts val="600"/>
              </a:spcAft>
            </a:pPr>
            <a:endParaRPr lang="fr-CA" sz="24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 fontScale="62500" lnSpcReduction="20000"/>
          </a:bodyPr>
          <a:lstStyle/>
          <a:p>
            <a:fld id="{4BB3A394-422F-45DB-83C7-CD17904A67E9}" type="slidenum">
              <a:rPr lang="fr-CA"/>
              <a:pPr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48589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674E6988-9F81-9C4F-A395-617E099076A1}" vid="{7BA8343F-A308-F34A-AE1C-33F4B935B6F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PrésentationB</Template>
  <TotalTime>0</TotalTime>
  <Words>940</Words>
  <Application>Microsoft Office PowerPoint</Application>
  <PresentationFormat>Grand écran</PresentationFormat>
  <Paragraphs>241</Paragraphs>
  <Slides>24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Arial Unicode MS</vt:lpstr>
      <vt:lpstr>Calibri</vt:lpstr>
      <vt:lpstr>Thème HEC</vt:lpstr>
      <vt:lpstr>Contrôle de gestion stratégique </vt:lpstr>
      <vt:lpstr>Présentation PowerPoint</vt:lpstr>
      <vt:lpstr>Approche CPA et l’analyse du financement</vt:lpstr>
      <vt:lpstr>Le financement et l’approche CPA</vt:lpstr>
      <vt:lpstr>Le financement et l’approche CPA</vt:lpstr>
      <vt:lpstr>Le financement et l’approche CPA</vt:lpstr>
      <vt:lpstr>Cycle de vie de l’entreprise et le financement</vt:lpstr>
      <vt:lpstr>Cycle de vie du financement</vt:lpstr>
      <vt:lpstr>Démarche de financement</vt:lpstr>
      <vt:lpstr>Démarche de financement </vt:lpstr>
      <vt:lpstr>Identification des besoins de financement</vt:lpstr>
      <vt:lpstr>Identification des besoins de financement</vt:lpstr>
      <vt:lpstr>Identification des besoins de financement</vt:lpstr>
      <vt:lpstr>Identification des besoins de financement</vt:lpstr>
      <vt:lpstr>Modèle d’analyse des options de financement</vt:lpstr>
      <vt:lpstr>Options de financement</vt:lpstr>
      <vt:lpstr>Modèle d’analyse des options de financement</vt:lpstr>
      <vt:lpstr>Modèle d’analyse des options de financement</vt:lpstr>
      <vt:lpstr>Modèle d’analyse des options de financement</vt:lpstr>
      <vt:lpstr>Modèle d’analyse des options de financement</vt:lpstr>
      <vt:lpstr>Modèle d’analyse des options de financement</vt:lpstr>
      <vt:lpstr>Modèle d’analyse des options de financement</vt:lpstr>
      <vt:lpstr>Modèle d’analyse des options de financement</vt:lpstr>
      <vt:lpstr>Recommandations - financement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2020-09-18T14:15:10Z</dcterms:created>
  <dcterms:modified xsi:type="dcterms:W3CDTF">2025-04-13T23:56:38Z</dcterms:modified>
</cp:coreProperties>
</file>