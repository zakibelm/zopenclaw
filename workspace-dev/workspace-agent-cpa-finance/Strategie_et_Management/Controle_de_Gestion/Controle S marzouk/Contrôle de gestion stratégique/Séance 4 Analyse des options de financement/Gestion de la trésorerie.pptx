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3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7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notesSlides/notesSlide8.xml" ContentType="application/vnd.openxmlformats-officedocument.presentationml.notesSlide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9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0.xml" ContentType="application/vnd.openxmlformats-officedocument.presentationml.notesSlide+xml"/>
  <Override PartName="/ppt/tags/tag91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6"/>
  </p:notesMasterIdLst>
  <p:sldIdLst>
    <p:sldId id="631" r:id="rId5"/>
    <p:sldId id="648" r:id="rId6"/>
    <p:sldId id="640" r:id="rId7"/>
    <p:sldId id="641" r:id="rId8"/>
    <p:sldId id="642" r:id="rId9"/>
    <p:sldId id="683" r:id="rId10"/>
    <p:sldId id="643" r:id="rId11"/>
    <p:sldId id="644" r:id="rId12"/>
    <p:sldId id="645" r:id="rId13"/>
    <p:sldId id="646" r:id="rId14"/>
    <p:sldId id="647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198581-2F73-4FAB-8CEC-EE21CAF10B46}" v="28" dt="2022-09-15T17:11:24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Ève Quenneville" userId="1834e381-f276-462b-ad40-56932688273f" providerId="ADAL" clId="{3B198581-2F73-4FAB-8CEC-EE21CAF10B46}"/>
    <pc:docChg chg="custSel modSld">
      <pc:chgData name="Marie-Ève Quenneville" userId="1834e381-f276-462b-ad40-56932688273f" providerId="ADAL" clId="{3B198581-2F73-4FAB-8CEC-EE21CAF10B46}" dt="2022-09-15T17:11:58.702" v="53" actId="2085"/>
      <pc:docMkLst>
        <pc:docMk/>
      </pc:docMkLst>
      <pc:sldChg chg="addSp delSp modSp mod">
        <pc:chgData name="Marie-Ève Quenneville" userId="1834e381-f276-462b-ad40-56932688273f" providerId="ADAL" clId="{3B198581-2F73-4FAB-8CEC-EE21CAF10B46}" dt="2022-09-15T17:10:50.278" v="41" actId="14100"/>
        <pc:sldMkLst>
          <pc:docMk/>
          <pc:sldMk cId="2921177413" sldId="631"/>
        </pc:sldMkLst>
        <pc:spChg chg="del">
          <ac:chgData name="Marie-Ève Quenneville" userId="1834e381-f276-462b-ad40-56932688273f" providerId="ADAL" clId="{3B198581-2F73-4FAB-8CEC-EE21CAF10B46}" dt="2022-09-15T17:07:44.938" v="17" actId="478"/>
          <ac:spMkLst>
            <pc:docMk/>
            <pc:sldMk cId="2921177413" sldId="631"/>
            <ac:spMk id="2" creationId="{00000000-0000-0000-0000-000000000000}"/>
          </ac:spMkLst>
        </pc:spChg>
        <pc:spChg chg="del">
          <ac:chgData name="Marie-Ève Quenneville" userId="1834e381-f276-462b-ad40-56932688273f" providerId="ADAL" clId="{3B198581-2F73-4FAB-8CEC-EE21CAF10B46}" dt="2022-09-15T17:01:43.307" v="5" actId="478"/>
          <ac:spMkLst>
            <pc:docMk/>
            <pc:sldMk cId="2921177413" sldId="631"/>
            <ac:spMk id="4" creationId="{00000000-0000-0000-0000-000000000000}"/>
          </ac:spMkLst>
        </pc:spChg>
        <pc:spChg chg="del">
          <ac:chgData name="Marie-Ève Quenneville" userId="1834e381-f276-462b-ad40-56932688273f" providerId="ADAL" clId="{3B198581-2F73-4FAB-8CEC-EE21CAF10B46}" dt="2022-09-15T17:01:36.397" v="3" actId="478"/>
          <ac:spMkLst>
            <pc:docMk/>
            <pc:sldMk cId="2921177413" sldId="631"/>
            <ac:spMk id="5" creationId="{00000000-0000-0000-0000-000000000000}"/>
          </ac:spMkLst>
        </pc:spChg>
        <pc:spChg chg="add del mod">
          <ac:chgData name="Marie-Ève Quenneville" userId="1834e381-f276-462b-ad40-56932688273f" providerId="ADAL" clId="{3B198581-2F73-4FAB-8CEC-EE21CAF10B46}" dt="2022-09-15T17:01:41.225" v="4" actId="478"/>
          <ac:spMkLst>
            <pc:docMk/>
            <pc:sldMk cId="2921177413" sldId="631"/>
            <ac:spMk id="7" creationId="{3418897C-89F0-259D-47BB-4F8EC3E47DD1}"/>
          </ac:spMkLst>
        </pc:spChg>
        <pc:spChg chg="add mod">
          <ac:chgData name="Marie-Ève Quenneville" userId="1834e381-f276-462b-ad40-56932688273f" providerId="ADAL" clId="{3B198581-2F73-4FAB-8CEC-EE21CAF10B46}" dt="2022-09-15T17:10:35.063" v="38" actId="14100"/>
          <ac:spMkLst>
            <pc:docMk/>
            <pc:sldMk cId="2921177413" sldId="631"/>
            <ac:spMk id="9" creationId="{F83F516C-8581-465D-B609-E8AAA2157069}"/>
          </ac:spMkLst>
        </pc:spChg>
        <pc:spChg chg="add mod ord">
          <ac:chgData name="Marie-Ève Quenneville" userId="1834e381-f276-462b-ad40-56932688273f" providerId="ADAL" clId="{3B198581-2F73-4FAB-8CEC-EE21CAF10B46}" dt="2022-09-15T17:10:50.278" v="41" actId="14100"/>
          <ac:spMkLst>
            <pc:docMk/>
            <pc:sldMk cId="2921177413" sldId="631"/>
            <ac:spMk id="10" creationId="{F628D3E3-335F-FF9C-FA15-253617968636}"/>
          </ac:spMkLst>
        </pc:spChg>
      </pc:sldChg>
      <pc:sldChg chg="addSp delSp modSp mod">
        <pc:chgData name="Marie-Ève Quenneville" userId="1834e381-f276-462b-ad40-56932688273f" providerId="ADAL" clId="{3B198581-2F73-4FAB-8CEC-EE21CAF10B46}" dt="2022-09-15T17:11:04.350" v="43"/>
        <pc:sldMkLst>
          <pc:docMk/>
          <pc:sldMk cId="1852118001" sldId="640"/>
        </pc:sldMkLst>
        <pc:spChg chg="add mod">
          <ac:chgData name="Marie-Ève Quenneville" userId="1834e381-f276-462b-ad40-56932688273f" providerId="ADAL" clId="{3B198581-2F73-4FAB-8CEC-EE21CAF10B46}" dt="2022-09-15T17:11:04.350" v="43"/>
          <ac:spMkLst>
            <pc:docMk/>
            <pc:sldMk cId="1852118001" sldId="640"/>
            <ac:spMk id="14" creationId="{2D207614-E887-8901-9544-3251379DF150}"/>
          </ac:spMkLst>
        </pc:spChg>
        <pc:picChg chg="del">
          <ac:chgData name="Marie-Ève Quenneville" userId="1834e381-f276-462b-ad40-56932688273f" providerId="ADAL" clId="{3B198581-2F73-4FAB-8CEC-EE21CAF10B46}" dt="2022-09-15T16:56:21.654" v="0" actId="478"/>
          <ac:picMkLst>
            <pc:docMk/>
            <pc:sldMk cId="1852118001" sldId="640"/>
            <ac:picMk id="15" creationId="{00000000-0000-0000-0000-000000000000}"/>
          </ac:picMkLst>
        </pc:picChg>
      </pc:sldChg>
      <pc:sldChg chg="addSp delSp modSp mod">
        <pc:chgData name="Marie-Ève Quenneville" userId="1834e381-f276-462b-ad40-56932688273f" providerId="ADAL" clId="{3B198581-2F73-4FAB-8CEC-EE21CAF10B46}" dt="2022-09-15T17:11:06.335" v="44"/>
        <pc:sldMkLst>
          <pc:docMk/>
          <pc:sldMk cId="4219970296" sldId="641"/>
        </pc:sldMkLst>
        <pc:spChg chg="add mod">
          <ac:chgData name="Marie-Ève Quenneville" userId="1834e381-f276-462b-ad40-56932688273f" providerId="ADAL" clId="{3B198581-2F73-4FAB-8CEC-EE21CAF10B46}" dt="2022-09-15T17:11:06.335" v="44"/>
          <ac:spMkLst>
            <pc:docMk/>
            <pc:sldMk cId="4219970296" sldId="641"/>
            <ac:spMk id="12" creationId="{0FDE6FB8-5539-11BA-A6A2-EDB351F5D107}"/>
          </ac:spMkLst>
        </pc:spChg>
        <pc:graphicFrameChg chg="mod">
          <ac:chgData name="Marie-Ève Quenneville" userId="1834e381-f276-462b-ad40-56932688273f" providerId="ADAL" clId="{3B198581-2F73-4FAB-8CEC-EE21CAF10B46}" dt="2022-09-15T17:06:19.035" v="16" actId="20577"/>
          <ac:graphicFrameMkLst>
            <pc:docMk/>
            <pc:sldMk cId="4219970296" sldId="641"/>
            <ac:graphicFrameMk id="7" creationId="{00000000-0000-0000-0000-000000000000}"/>
          </ac:graphicFrameMkLst>
        </pc:graphicFrameChg>
        <pc:picChg chg="del">
          <ac:chgData name="Marie-Ève Quenneville" userId="1834e381-f276-462b-ad40-56932688273f" providerId="ADAL" clId="{3B198581-2F73-4FAB-8CEC-EE21CAF10B46}" dt="2022-09-15T16:56:26.122" v="1" actId="478"/>
          <ac:picMkLst>
            <pc:docMk/>
            <pc:sldMk cId="4219970296" sldId="641"/>
            <ac:picMk id="11" creationId="{00000000-0000-0000-0000-000000000000}"/>
          </ac:picMkLst>
        </pc:picChg>
      </pc:sldChg>
      <pc:sldChg chg="addSp modSp">
        <pc:chgData name="Marie-Ève Quenneville" userId="1834e381-f276-462b-ad40-56932688273f" providerId="ADAL" clId="{3B198581-2F73-4FAB-8CEC-EE21CAF10B46}" dt="2022-09-15T17:11:08.884" v="45"/>
        <pc:sldMkLst>
          <pc:docMk/>
          <pc:sldMk cId="1302798751" sldId="642"/>
        </pc:sldMkLst>
        <pc:spChg chg="add mod">
          <ac:chgData name="Marie-Ève Quenneville" userId="1834e381-f276-462b-ad40-56932688273f" providerId="ADAL" clId="{3B198581-2F73-4FAB-8CEC-EE21CAF10B46}" dt="2022-09-15T17:11:08.884" v="45"/>
          <ac:spMkLst>
            <pc:docMk/>
            <pc:sldMk cId="1302798751" sldId="642"/>
            <ac:spMk id="4" creationId="{AC12AA5D-6AA1-8689-61E5-E94082C9C763}"/>
          </ac:spMkLst>
        </pc:spChg>
      </pc:sldChg>
      <pc:sldChg chg="addSp modSp">
        <pc:chgData name="Marie-Ève Quenneville" userId="1834e381-f276-462b-ad40-56932688273f" providerId="ADAL" clId="{3B198581-2F73-4FAB-8CEC-EE21CAF10B46}" dt="2022-09-15T17:11:14.230" v="47"/>
        <pc:sldMkLst>
          <pc:docMk/>
          <pc:sldMk cId="1375089716" sldId="643"/>
        </pc:sldMkLst>
        <pc:spChg chg="add mod">
          <ac:chgData name="Marie-Ève Quenneville" userId="1834e381-f276-462b-ad40-56932688273f" providerId="ADAL" clId="{3B198581-2F73-4FAB-8CEC-EE21CAF10B46}" dt="2022-09-15T17:11:14.230" v="47"/>
          <ac:spMkLst>
            <pc:docMk/>
            <pc:sldMk cId="1375089716" sldId="643"/>
            <ac:spMk id="12" creationId="{C9651704-89BF-DCD4-03A1-15C7053DEC6E}"/>
          </ac:spMkLst>
        </pc:spChg>
      </pc:sldChg>
      <pc:sldChg chg="addSp modSp">
        <pc:chgData name="Marie-Ève Quenneville" userId="1834e381-f276-462b-ad40-56932688273f" providerId="ADAL" clId="{3B198581-2F73-4FAB-8CEC-EE21CAF10B46}" dt="2022-09-15T17:11:17.854" v="48"/>
        <pc:sldMkLst>
          <pc:docMk/>
          <pc:sldMk cId="1349307877" sldId="644"/>
        </pc:sldMkLst>
        <pc:spChg chg="add mod">
          <ac:chgData name="Marie-Ève Quenneville" userId="1834e381-f276-462b-ad40-56932688273f" providerId="ADAL" clId="{3B198581-2F73-4FAB-8CEC-EE21CAF10B46}" dt="2022-09-15T17:11:17.854" v="48"/>
          <ac:spMkLst>
            <pc:docMk/>
            <pc:sldMk cId="1349307877" sldId="644"/>
            <ac:spMk id="14" creationId="{4D7D524F-397F-92E7-9C75-8FE9307C5D89}"/>
          </ac:spMkLst>
        </pc:spChg>
      </pc:sldChg>
      <pc:sldChg chg="addSp modSp">
        <pc:chgData name="Marie-Ève Quenneville" userId="1834e381-f276-462b-ad40-56932688273f" providerId="ADAL" clId="{3B198581-2F73-4FAB-8CEC-EE21CAF10B46}" dt="2022-09-15T17:11:19.955" v="49"/>
        <pc:sldMkLst>
          <pc:docMk/>
          <pc:sldMk cId="2890923219" sldId="645"/>
        </pc:sldMkLst>
        <pc:spChg chg="add mod">
          <ac:chgData name="Marie-Ève Quenneville" userId="1834e381-f276-462b-ad40-56932688273f" providerId="ADAL" clId="{3B198581-2F73-4FAB-8CEC-EE21CAF10B46}" dt="2022-09-15T17:11:19.955" v="49"/>
          <ac:spMkLst>
            <pc:docMk/>
            <pc:sldMk cId="2890923219" sldId="645"/>
            <ac:spMk id="5" creationId="{5D333CEB-BF5A-2824-DE0A-E767708D6740}"/>
          </ac:spMkLst>
        </pc:spChg>
      </pc:sldChg>
      <pc:sldChg chg="addSp modSp">
        <pc:chgData name="Marie-Ève Quenneville" userId="1834e381-f276-462b-ad40-56932688273f" providerId="ADAL" clId="{3B198581-2F73-4FAB-8CEC-EE21CAF10B46}" dt="2022-09-15T17:11:24.712" v="50"/>
        <pc:sldMkLst>
          <pc:docMk/>
          <pc:sldMk cId="3788844139" sldId="646"/>
        </pc:sldMkLst>
        <pc:spChg chg="add mod">
          <ac:chgData name="Marie-Ève Quenneville" userId="1834e381-f276-462b-ad40-56932688273f" providerId="ADAL" clId="{3B198581-2F73-4FAB-8CEC-EE21CAF10B46}" dt="2022-09-15T17:11:24.712" v="50"/>
          <ac:spMkLst>
            <pc:docMk/>
            <pc:sldMk cId="3788844139" sldId="646"/>
            <ac:spMk id="4" creationId="{A7B0A311-C0F6-CBA3-6768-2B89A64E0E29}"/>
          </ac:spMkLst>
        </pc:spChg>
      </pc:sldChg>
      <pc:sldChg chg="addSp modSp mod">
        <pc:chgData name="Marie-Ève Quenneville" userId="1834e381-f276-462b-ad40-56932688273f" providerId="ADAL" clId="{3B198581-2F73-4FAB-8CEC-EE21CAF10B46}" dt="2022-09-15T17:11:58.702" v="53" actId="2085"/>
        <pc:sldMkLst>
          <pc:docMk/>
          <pc:sldMk cId="2952155542" sldId="647"/>
        </pc:sldMkLst>
        <pc:spChg chg="add mod">
          <ac:chgData name="Marie-Ève Quenneville" userId="1834e381-f276-462b-ad40-56932688273f" providerId="ADAL" clId="{3B198581-2F73-4FAB-8CEC-EE21CAF10B46}" dt="2022-09-15T17:11:58.702" v="53" actId="2085"/>
          <ac:spMkLst>
            <pc:docMk/>
            <pc:sldMk cId="2952155542" sldId="647"/>
            <ac:spMk id="2" creationId="{938E3564-3881-86EE-5DD8-429A2AFD6A7B}"/>
          </ac:spMkLst>
        </pc:spChg>
        <pc:picChg chg="mod">
          <ac:chgData name="Marie-Ève Quenneville" userId="1834e381-f276-462b-ad40-56932688273f" providerId="ADAL" clId="{3B198581-2F73-4FAB-8CEC-EE21CAF10B46}" dt="2022-09-15T16:56:40.200" v="2" actId="1076"/>
          <ac:picMkLst>
            <pc:docMk/>
            <pc:sldMk cId="2952155542" sldId="647"/>
            <ac:picMk id="4" creationId="{00000000-0000-0000-0000-000000000000}"/>
          </ac:picMkLst>
        </pc:picChg>
      </pc:sldChg>
      <pc:sldChg chg="addSp modSp">
        <pc:chgData name="Marie-Ève Quenneville" userId="1834e381-f276-462b-ad40-56932688273f" providerId="ADAL" clId="{3B198581-2F73-4FAB-8CEC-EE21CAF10B46}" dt="2022-09-15T17:11:01.929" v="42"/>
        <pc:sldMkLst>
          <pc:docMk/>
          <pc:sldMk cId="2852163644" sldId="648"/>
        </pc:sldMkLst>
        <pc:spChg chg="add mod">
          <ac:chgData name="Marie-Ève Quenneville" userId="1834e381-f276-462b-ad40-56932688273f" providerId="ADAL" clId="{3B198581-2F73-4FAB-8CEC-EE21CAF10B46}" dt="2022-09-15T17:11:01.929" v="42"/>
          <ac:spMkLst>
            <pc:docMk/>
            <pc:sldMk cId="2852163644" sldId="648"/>
            <ac:spMk id="40" creationId="{968FBFCE-A29A-82FA-5DEF-AB77969E9BB4}"/>
          </ac:spMkLst>
        </pc:spChg>
      </pc:sldChg>
      <pc:sldChg chg="addSp modSp">
        <pc:chgData name="Marie-Ève Quenneville" userId="1834e381-f276-462b-ad40-56932688273f" providerId="ADAL" clId="{3B198581-2F73-4FAB-8CEC-EE21CAF10B46}" dt="2022-09-15T17:11:11.264" v="46"/>
        <pc:sldMkLst>
          <pc:docMk/>
          <pc:sldMk cId="3078917165" sldId="683"/>
        </pc:sldMkLst>
        <pc:spChg chg="add mod">
          <ac:chgData name="Marie-Ève Quenneville" userId="1834e381-f276-462b-ad40-56932688273f" providerId="ADAL" clId="{3B198581-2F73-4FAB-8CEC-EE21CAF10B46}" dt="2022-09-15T17:11:11.264" v="46"/>
          <ac:spMkLst>
            <pc:docMk/>
            <pc:sldMk cId="3078917165" sldId="683"/>
            <ac:spMk id="5" creationId="{084AEC30-3F78-9FB3-E04A-58F9FBCCD6B4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B22A396-8CAC-49B5-9FCC-1CCA58FC7D6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CA"/>
        </a:p>
      </dgm:t>
    </dgm:pt>
    <dgm:pt modelId="{F74FA61F-4FBC-49DB-8456-DD353A7D8243}">
      <dgm:prSet phldrT="[Texte]" custT="1"/>
      <dgm:spPr/>
      <dgm:t>
        <a:bodyPr/>
        <a:lstStyle/>
        <a:p>
          <a:r>
            <a:rPr lang="fr-CA" sz="1800" dirty="0"/>
            <a:t>Prévision des rentrées et sorties de fonds</a:t>
          </a:r>
        </a:p>
      </dgm:t>
    </dgm:pt>
    <dgm:pt modelId="{D1A458BB-AF02-40F8-9108-9287E25F6FF3}" type="parTrans" cxnId="{EA3F6590-7717-4F5E-8075-B61F091E9C73}">
      <dgm:prSet/>
      <dgm:spPr/>
      <dgm:t>
        <a:bodyPr/>
        <a:lstStyle/>
        <a:p>
          <a:endParaRPr lang="fr-CA" sz="2000"/>
        </a:p>
      </dgm:t>
    </dgm:pt>
    <dgm:pt modelId="{09BD736A-2FFE-4750-808B-CADE8123E69F}" type="sibTrans" cxnId="{EA3F6590-7717-4F5E-8075-B61F091E9C73}">
      <dgm:prSet/>
      <dgm:spPr/>
      <dgm:t>
        <a:bodyPr/>
        <a:lstStyle/>
        <a:p>
          <a:endParaRPr lang="fr-CA" sz="2000"/>
        </a:p>
      </dgm:t>
    </dgm:pt>
    <dgm:pt modelId="{6995A097-DD90-432B-AF34-D2DD4888FD92}">
      <dgm:prSet phldrT="[Texte]" custT="1"/>
      <dgm:spPr/>
      <dgm:t>
        <a:bodyPr/>
        <a:lstStyle/>
        <a:p>
          <a:r>
            <a:rPr lang="fr-CA" sz="1400" dirty="0"/>
            <a:t>Assurer la solvabilité de L’entreprise à court terme</a:t>
          </a:r>
        </a:p>
      </dgm:t>
    </dgm:pt>
    <dgm:pt modelId="{7907025A-ECD2-4CE5-90FE-966D7310BC3A}" type="parTrans" cxnId="{80E52BB5-9E7D-498F-B56B-80DE75A4B902}">
      <dgm:prSet/>
      <dgm:spPr/>
      <dgm:t>
        <a:bodyPr/>
        <a:lstStyle/>
        <a:p>
          <a:endParaRPr lang="fr-CA" sz="2000"/>
        </a:p>
      </dgm:t>
    </dgm:pt>
    <dgm:pt modelId="{6EC87CD2-B542-4092-AB63-2BCC2C59D29B}" type="sibTrans" cxnId="{80E52BB5-9E7D-498F-B56B-80DE75A4B902}">
      <dgm:prSet/>
      <dgm:spPr/>
      <dgm:t>
        <a:bodyPr/>
        <a:lstStyle/>
        <a:p>
          <a:endParaRPr lang="fr-CA" sz="2000"/>
        </a:p>
      </dgm:t>
    </dgm:pt>
    <dgm:pt modelId="{C09087EA-9B52-45F6-B5D7-931BA5020831}">
      <dgm:prSet phldrT="[Texte]" custT="1"/>
      <dgm:spPr/>
      <dgm:t>
        <a:bodyPr/>
        <a:lstStyle/>
        <a:p>
          <a:r>
            <a:rPr lang="fr-CA" sz="1800" dirty="0"/>
            <a:t>Étude de l’impact des politiques sur les flux monétaires</a:t>
          </a:r>
        </a:p>
      </dgm:t>
    </dgm:pt>
    <dgm:pt modelId="{6E890C7B-C11B-46B1-A91B-1F4EE31CCD0A}" type="parTrans" cxnId="{87B4CE46-A9B5-44CB-98FA-25A90064F878}">
      <dgm:prSet/>
      <dgm:spPr/>
      <dgm:t>
        <a:bodyPr/>
        <a:lstStyle/>
        <a:p>
          <a:endParaRPr lang="fr-CA" sz="2000"/>
        </a:p>
      </dgm:t>
    </dgm:pt>
    <dgm:pt modelId="{FEB58AAF-E6F0-4550-A981-212E39DAC8B1}" type="sibTrans" cxnId="{87B4CE46-A9B5-44CB-98FA-25A90064F878}">
      <dgm:prSet/>
      <dgm:spPr/>
      <dgm:t>
        <a:bodyPr/>
        <a:lstStyle/>
        <a:p>
          <a:endParaRPr lang="fr-CA" sz="2000"/>
        </a:p>
      </dgm:t>
    </dgm:pt>
    <dgm:pt modelId="{B8E87F1C-1320-400B-BF48-03B18734192C}">
      <dgm:prSet phldrT="[Texte]" custT="1"/>
      <dgm:spPr/>
      <dgm:t>
        <a:bodyPr/>
        <a:lstStyle/>
        <a:p>
          <a:endParaRPr lang="fr-CA" sz="1400" dirty="0"/>
        </a:p>
      </dgm:t>
    </dgm:pt>
    <dgm:pt modelId="{C3581CAA-095C-4EF0-968D-CE2B676415D6}" type="parTrans" cxnId="{9BD1201B-D078-40F5-BFC1-A6DDCCF3874E}">
      <dgm:prSet/>
      <dgm:spPr/>
      <dgm:t>
        <a:bodyPr/>
        <a:lstStyle/>
        <a:p>
          <a:endParaRPr lang="fr-CA" sz="2000"/>
        </a:p>
      </dgm:t>
    </dgm:pt>
    <dgm:pt modelId="{A74FB5C5-4D0A-450C-8F3D-18FCDE26DF17}" type="sibTrans" cxnId="{9BD1201B-D078-40F5-BFC1-A6DDCCF3874E}">
      <dgm:prSet/>
      <dgm:spPr/>
      <dgm:t>
        <a:bodyPr/>
        <a:lstStyle/>
        <a:p>
          <a:endParaRPr lang="fr-CA" sz="2000"/>
        </a:p>
      </dgm:t>
    </dgm:pt>
    <dgm:pt modelId="{54849C22-F2E6-4230-ABA7-D023BA0F75BA}">
      <dgm:prSet phldrT="[Texte]" custT="1"/>
      <dgm:spPr/>
      <dgm:t>
        <a:bodyPr/>
        <a:lstStyle/>
        <a:p>
          <a:r>
            <a:rPr lang="fr-CA" sz="1800" dirty="0"/>
            <a:t>Décisions de placements et emprunts à court terme</a:t>
          </a:r>
        </a:p>
      </dgm:t>
    </dgm:pt>
    <dgm:pt modelId="{A480F6E9-FDD2-4994-9E38-FFEEE772AA4C}" type="parTrans" cxnId="{6B68C81F-370B-4647-9FFA-F22DAEA94E6E}">
      <dgm:prSet/>
      <dgm:spPr/>
      <dgm:t>
        <a:bodyPr/>
        <a:lstStyle/>
        <a:p>
          <a:endParaRPr lang="fr-CA" sz="2000"/>
        </a:p>
      </dgm:t>
    </dgm:pt>
    <dgm:pt modelId="{570108AE-BAFA-4F65-AD2C-FB6694ACA009}" type="sibTrans" cxnId="{6B68C81F-370B-4647-9FFA-F22DAEA94E6E}">
      <dgm:prSet/>
      <dgm:spPr/>
      <dgm:t>
        <a:bodyPr/>
        <a:lstStyle/>
        <a:p>
          <a:endParaRPr lang="fr-CA" sz="2000"/>
        </a:p>
      </dgm:t>
    </dgm:pt>
    <dgm:pt modelId="{EC3765D0-E95D-4DF2-83CF-D4F3643A6BBC}">
      <dgm:prSet phldrT="[Texte]" custT="1"/>
      <dgm:spPr/>
      <dgm:t>
        <a:bodyPr/>
        <a:lstStyle/>
        <a:p>
          <a:r>
            <a:rPr lang="fr-CA" sz="1800" dirty="0"/>
            <a:t>Principal outil : Budget de caisse</a:t>
          </a:r>
        </a:p>
      </dgm:t>
    </dgm:pt>
    <dgm:pt modelId="{38356E64-E835-4682-A8B8-C830A19A0D4F}" type="parTrans" cxnId="{9AAA43A1-282B-4399-98E8-3C4545653A11}">
      <dgm:prSet/>
      <dgm:spPr/>
      <dgm:t>
        <a:bodyPr/>
        <a:lstStyle/>
        <a:p>
          <a:endParaRPr lang="fr-CA" sz="2000"/>
        </a:p>
      </dgm:t>
    </dgm:pt>
    <dgm:pt modelId="{D52F242B-DB7F-4891-A4B1-A11509BC4E69}" type="sibTrans" cxnId="{9AAA43A1-282B-4399-98E8-3C4545653A11}">
      <dgm:prSet/>
      <dgm:spPr/>
      <dgm:t>
        <a:bodyPr/>
        <a:lstStyle/>
        <a:p>
          <a:endParaRPr lang="fr-CA" sz="2000"/>
        </a:p>
      </dgm:t>
    </dgm:pt>
    <dgm:pt modelId="{D6057AB9-4D15-401B-9EDD-D1650F2EA071}">
      <dgm:prSet phldrT="[Texte]" custT="1"/>
      <dgm:spPr/>
      <dgm:t>
        <a:bodyPr/>
        <a:lstStyle/>
        <a:p>
          <a:r>
            <a:rPr lang="fr-CA" sz="1400" dirty="0"/>
            <a:t>Utilisation optimale de l’encaisse (faire fructifier $)</a:t>
          </a:r>
        </a:p>
      </dgm:t>
    </dgm:pt>
    <dgm:pt modelId="{E2812797-B877-4B9A-A20C-BE248B53A2FE}" type="parTrans" cxnId="{61C69FC2-136D-462F-8E1D-0CF96C1264FA}">
      <dgm:prSet/>
      <dgm:spPr/>
      <dgm:t>
        <a:bodyPr/>
        <a:lstStyle/>
        <a:p>
          <a:endParaRPr lang="fr-CA" sz="2000"/>
        </a:p>
      </dgm:t>
    </dgm:pt>
    <dgm:pt modelId="{5A78547E-61D1-49A9-B5F6-519D30D3E635}" type="sibTrans" cxnId="{61C69FC2-136D-462F-8E1D-0CF96C1264FA}">
      <dgm:prSet/>
      <dgm:spPr/>
      <dgm:t>
        <a:bodyPr/>
        <a:lstStyle/>
        <a:p>
          <a:endParaRPr lang="fr-CA" sz="2000"/>
        </a:p>
      </dgm:t>
    </dgm:pt>
    <dgm:pt modelId="{A9BB3E3C-8D16-4477-97F7-4649084DACAB}">
      <dgm:prSet phldrT="[Texte]" custT="1"/>
      <dgm:spPr/>
      <dgm:t>
        <a:bodyPr/>
        <a:lstStyle/>
        <a:p>
          <a:r>
            <a:rPr lang="fr-CA" sz="1400" dirty="0"/>
            <a:t>Politique d’achat et paiement des fournisseurs (C/F), Politique de crédit envers les comptes clients (C/C), Politique de gestion des stocks</a:t>
          </a:r>
        </a:p>
      </dgm:t>
    </dgm:pt>
    <dgm:pt modelId="{B2ED6AD6-AB8E-48C1-90E8-95D031A2E6AE}" type="parTrans" cxnId="{927B6603-8F2A-40E4-AA25-7166A6FF39C3}">
      <dgm:prSet/>
      <dgm:spPr/>
      <dgm:t>
        <a:bodyPr/>
        <a:lstStyle/>
        <a:p>
          <a:endParaRPr lang="fr-CA" sz="2000"/>
        </a:p>
      </dgm:t>
    </dgm:pt>
    <dgm:pt modelId="{C62B127C-80CB-4FA0-9CD8-BFF2690C6A05}" type="sibTrans" cxnId="{927B6603-8F2A-40E4-AA25-7166A6FF39C3}">
      <dgm:prSet/>
      <dgm:spPr/>
      <dgm:t>
        <a:bodyPr/>
        <a:lstStyle/>
        <a:p>
          <a:endParaRPr lang="fr-CA" sz="2000"/>
        </a:p>
      </dgm:t>
    </dgm:pt>
    <dgm:pt modelId="{12A26584-DEB0-43B3-A70B-48F1C57A69A7}">
      <dgm:prSet phldrT="[Texte]" custT="1"/>
      <dgm:spPr/>
      <dgm:t>
        <a:bodyPr/>
        <a:lstStyle/>
        <a:p>
          <a:endParaRPr lang="fr-CA" sz="1400" dirty="0"/>
        </a:p>
      </dgm:t>
    </dgm:pt>
    <dgm:pt modelId="{0221C04D-2201-4F36-BF38-8CFBF748DAEE}" type="parTrans" cxnId="{2E05524C-1E50-46A8-8D9B-EC619E94DA75}">
      <dgm:prSet/>
      <dgm:spPr/>
      <dgm:t>
        <a:bodyPr/>
        <a:lstStyle/>
        <a:p>
          <a:endParaRPr lang="fr-CA"/>
        </a:p>
      </dgm:t>
    </dgm:pt>
    <dgm:pt modelId="{13FD5BF2-E3EC-4E78-AEC6-839E0FA9F556}" type="sibTrans" cxnId="{2E05524C-1E50-46A8-8D9B-EC619E94DA75}">
      <dgm:prSet/>
      <dgm:spPr/>
      <dgm:t>
        <a:bodyPr/>
        <a:lstStyle/>
        <a:p>
          <a:endParaRPr lang="fr-CA"/>
        </a:p>
      </dgm:t>
    </dgm:pt>
    <dgm:pt modelId="{2E98791A-651E-48F6-B695-0AC32BDCD41A}">
      <dgm:prSet phldrT="[Texte]" custT="1"/>
      <dgm:spPr/>
      <dgm:t>
        <a:bodyPr/>
        <a:lstStyle/>
        <a:p>
          <a:endParaRPr lang="fr-CA" sz="1400" dirty="0"/>
        </a:p>
      </dgm:t>
    </dgm:pt>
    <dgm:pt modelId="{CB917106-391B-4BC4-8F5B-7A4D9EEB5336}" type="parTrans" cxnId="{C5C0312E-8B33-44FE-AB3C-9A06637CD78C}">
      <dgm:prSet/>
      <dgm:spPr/>
      <dgm:t>
        <a:bodyPr/>
        <a:lstStyle/>
        <a:p>
          <a:endParaRPr lang="fr-CA"/>
        </a:p>
      </dgm:t>
    </dgm:pt>
    <dgm:pt modelId="{1450376E-9AF7-492B-A35E-9E32E0EF3674}" type="sibTrans" cxnId="{C5C0312E-8B33-44FE-AB3C-9A06637CD78C}">
      <dgm:prSet/>
      <dgm:spPr/>
      <dgm:t>
        <a:bodyPr/>
        <a:lstStyle/>
        <a:p>
          <a:endParaRPr lang="fr-CA"/>
        </a:p>
      </dgm:t>
    </dgm:pt>
    <dgm:pt modelId="{780B85E0-4844-46EF-8627-71470484097D}">
      <dgm:prSet phldrT="[Texte]" custT="1"/>
      <dgm:spPr/>
      <dgm:t>
        <a:bodyPr/>
        <a:lstStyle/>
        <a:p>
          <a:endParaRPr lang="fr-CA" sz="1400" dirty="0"/>
        </a:p>
      </dgm:t>
    </dgm:pt>
    <dgm:pt modelId="{93AE3DBD-B797-423B-9C2F-3E6B9A30697C}" type="parTrans" cxnId="{4DAB0AD3-1580-45A1-86AE-5EFC6ABC3A5C}">
      <dgm:prSet/>
      <dgm:spPr/>
      <dgm:t>
        <a:bodyPr/>
        <a:lstStyle/>
        <a:p>
          <a:endParaRPr lang="fr-CA"/>
        </a:p>
      </dgm:t>
    </dgm:pt>
    <dgm:pt modelId="{96F20C1F-35CC-4E0A-8B9D-DD45BD6FE8CE}" type="sibTrans" cxnId="{4DAB0AD3-1580-45A1-86AE-5EFC6ABC3A5C}">
      <dgm:prSet/>
      <dgm:spPr/>
      <dgm:t>
        <a:bodyPr/>
        <a:lstStyle/>
        <a:p>
          <a:endParaRPr lang="fr-CA"/>
        </a:p>
      </dgm:t>
    </dgm:pt>
    <dgm:pt modelId="{4E64F4D2-2103-4364-B858-52203ED99F4A}" type="pres">
      <dgm:prSet presAssocID="{6B22A396-8CAC-49B5-9FCC-1CCA58FC7D61}" presName="linear" presStyleCnt="0">
        <dgm:presLayoutVars>
          <dgm:animLvl val="lvl"/>
          <dgm:resizeHandles val="exact"/>
        </dgm:presLayoutVars>
      </dgm:prSet>
      <dgm:spPr/>
    </dgm:pt>
    <dgm:pt modelId="{CEAF6A44-E076-486B-816C-6269C5EBCA21}" type="pres">
      <dgm:prSet presAssocID="{F74FA61F-4FBC-49DB-8456-DD353A7D8243}" presName="parentText" presStyleLbl="node1" presStyleIdx="0" presStyleCnt="4" custScaleY="55217">
        <dgm:presLayoutVars>
          <dgm:chMax val="0"/>
          <dgm:bulletEnabled val="1"/>
        </dgm:presLayoutVars>
      </dgm:prSet>
      <dgm:spPr/>
    </dgm:pt>
    <dgm:pt modelId="{73E7D981-A7AD-43A0-88C0-51D1E8B0E301}" type="pres">
      <dgm:prSet presAssocID="{F74FA61F-4FBC-49DB-8456-DD353A7D8243}" presName="childText" presStyleLbl="revTx" presStyleIdx="0" presStyleCnt="4" custScaleY="55217">
        <dgm:presLayoutVars>
          <dgm:bulletEnabled val="1"/>
        </dgm:presLayoutVars>
      </dgm:prSet>
      <dgm:spPr/>
    </dgm:pt>
    <dgm:pt modelId="{EC03600A-CFA8-45A9-B011-4A5256E4EC9A}" type="pres">
      <dgm:prSet presAssocID="{C09087EA-9B52-45F6-B5D7-931BA5020831}" presName="parentText" presStyleLbl="node1" presStyleIdx="1" presStyleCnt="4" custScaleY="55217">
        <dgm:presLayoutVars>
          <dgm:chMax val="0"/>
          <dgm:bulletEnabled val="1"/>
        </dgm:presLayoutVars>
      </dgm:prSet>
      <dgm:spPr/>
    </dgm:pt>
    <dgm:pt modelId="{37210FB3-AB8C-41D2-9156-4030C951F6B7}" type="pres">
      <dgm:prSet presAssocID="{C09087EA-9B52-45F6-B5D7-931BA5020831}" presName="childText" presStyleLbl="revTx" presStyleIdx="1" presStyleCnt="4" custScaleY="55217">
        <dgm:presLayoutVars>
          <dgm:bulletEnabled val="1"/>
        </dgm:presLayoutVars>
      </dgm:prSet>
      <dgm:spPr/>
    </dgm:pt>
    <dgm:pt modelId="{7B22EEF2-F73C-41F0-8ED2-D276D1A8764F}" type="pres">
      <dgm:prSet presAssocID="{54849C22-F2E6-4230-ABA7-D023BA0F75BA}" presName="parentText" presStyleLbl="node1" presStyleIdx="2" presStyleCnt="4" custScaleY="55217">
        <dgm:presLayoutVars>
          <dgm:chMax val="0"/>
          <dgm:bulletEnabled val="1"/>
        </dgm:presLayoutVars>
      </dgm:prSet>
      <dgm:spPr/>
    </dgm:pt>
    <dgm:pt modelId="{40187E6B-314F-4670-9A9A-EF91A2B6148A}" type="pres">
      <dgm:prSet presAssocID="{54849C22-F2E6-4230-ABA7-D023BA0F75BA}" presName="childText" presStyleLbl="revTx" presStyleIdx="2" presStyleCnt="4" custScaleY="55217">
        <dgm:presLayoutVars>
          <dgm:bulletEnabled val="1"/>
        </dgm:presLayoutVars>
      </dgm:prSet>
      <dgm:spPr/>
    </dgm:pt>
    <dgm:pt modelId="{333D134A-483D-4911-8AD6-C47D072FE552}" type="pres">
      <dgm:prSet presAssocID="{EC3765D0-E95D-4DF2-83CF-D4F3643A6BBC}" presName="parentText" presStyleLbl="node1" presStyleIdx="3" presStyleCnt="4" custScaleY="55217">
        <dgm:presLayoutVars>
          <dgm:chMax val="0"/>
          <dgm:bulletEnabled val="1"/>
        </dgm:presLayoutVars>
      </dgm:prSet>
      <dgm:spPr/>
    </dgm:pt>
    <dgm:pt modelId="{B4A8240A-B957-4A04-B74D-39D4F0D865F6}" type="pres">
      <dgm:prSet presAssocID="{EC3765D0-E95D-4DF2-83CF-D4F3643A6BBC}" presName="childText" presStyleLbl="revTx" presStyleIdx="3" presStyleCnt="4" custScaleY="55217">
        <dgm:presLayoutVars>
          <dgm:bulletEnabled val="1"/>
        </dgm:presLayoutVars>
      </dgm:prSet>
      <dgm:spPr/>
    </dgm:pt>
  </dgm:ptLst>
  <dgm:cxnLst>
    <dgm:cxn modelId="{927B6603-8F2A-40E4-AA25-7166A6FF39C3}" srcId="{C09087EA-9B52-45F6-B5D7-931BA5020831}" destId="{A9BB3E3C-8D16-4477-97F7-4649084DACAB}" srcOrd="0" destOrd="0" parTransId="{B2ED6AD6-AB8E-48C1-90E8-95D031A2E6AE}" sibTransId="{C62B127C-80CB-4FA0-9CD8-BFF2690C6A05}"/>
    <dgm:cxn modelId="{6C7A1A05-93D2-4E4F-826A-082CA72B941A}" type="presOf" srcId="{2E98791A-651E-48F6-B695-0AC32BDCD41A}" destId="{73E7D981-A7AD-43A0-88C0-51D1E8B0E301}" srcOrd="0" destOrd="1" presId="urn:microsoft.com/office/officeart/2005/8/layout/vList2"/>
    <dgm:cxn modelId="{837E7A14-4EF7-4812-9741-CB936B1B76FE}" type="presOf" srcId="{780B85E0-4844-46EF-8627-71470484097D}" destId="{40187E6B-314F-4670-9A9A-EF91A2B6148A}" srcOrd="0" destOrd="1" presId="urn:microsoft.com/office/officeart/2005/8/layout/vList2"/>
    <dgm:cxn modelId="{9BD1201B-D078-40F5-BFC1-A6DDCCF3874E}" srcId="{EC3765D0-E95D-4DF2-83CF-D4F3643A6BBC}" destId="{B8E87F1C-1320-400B-BF48-03B18734192C}" srcOrd="0" destOrd="0" parTransId="{C3581CAA-095C-4EF0-968D-CE2B676415D6}" sibTransId="{A74FB5C5-4D0A-450C-8F3D-18FCDE26DF17}"/>
    <dgm:cxn modelId="{6B68C81F-370B-4647-9FFA-F22DAEA94E6E}" srcId="{6B22A396-8CAC-49B5-9FCC-1CCA58FC7D61}" destId="{54849C22-F2E6-4230-ABA7-D023BA0F75BA}" srcOrd="2" destOrd="0" parTransId="{A480F6E9-FDD2-4994-9E38-FFEEE772AA4C}" sibTransId="{570108AE-BAFA-4F65-AD2C-FB6694ACA009}"/>
    <dgm:cxn modelId="{C5C0312E-8B33-44FE-AB3C-9A06637CD78C}" srcId="{F74FA61F-4FBC-49DB-8456-DD353A7D8243}" destId="{2E98791A-651E-48F6-B695-0AC32BDCD41A}" srcOrd="1" destOrd="0" parTransId="{CB917106-391B-4BC4-8F5B-7A4D9EEB5336}" sibTransId="{1450376E-9AF7-492B-A35E-9E32E0EF3674}"/>
    <dgm:cxn modelId="{4852D43E-C27B-4672-A420-D5E486885EED}" type="presOf" srcId="{6995A097-DD90-432B-AF34-D2DD4888FD92}" destId="{73E7D981-A7AD-43A0-88C0-51D1E8B0E301}" srcOrd="0" destOrd="0" presId="urn:microsoft.com/office/officeart/2005/8/layout/vList2"/>
    <dgm:cxn modelId="{CEE15945-53B5-4B81-8C88-B562BC0D7CFF}" type="presOf" srcId="{EC3765D0-E95D-4DF2-83CF-D4F3643A6BBC}" destId="{333D134A-483D-4911-8AD6-C47D072FE552}" srcOrd="0" destOrd="0" presId="urn:microsoft.com/office/officeart/2005/8/layout/vList2"/>
    <dgm:cxn modelId="{87B4CE46-A9B5-44CB-98FA-25A90064F878}" srcId="{6B22A396-8CAC-49B5-9FCC-1CCA58FC7D61}" destId="{C09087EA-9B52-45F6-B5D7-931BA5020831}" srcOrd="1" destOrd="0" parTransId="{6E890C7B-C11B-46B1-A91B-1F4EE31CCD0A}" sibTransId="{FEB58AAF-E6F0-4550-A981-212E39DAC8B1}"/>
    <dgm:cxn modelId="{9541D548-F9FE-4AC8-8203-AC0309BEFF70}" type="presOf" srcId="{D6057AB9-4D15-401B-9EDD-D1650F2EA071}" destId="{40187E6B-314F-4670-9A9A-EF91A2B6148A}" srcOrd="0" destOrd="0" presId="urn:microsoft.com/office/officeart/2005/8/layout/vList2"/>
    <dgm:cxn modelId="{98FA5E6B-FC36-417C-9A91-B5879A21D74A}" type="presOf" srcId="{B8E87F1C-1320-400B-BF48-03B18734192C}" destId="{B4A8240A-B957-4A04-B74D-39D4F0D865F6}" srcOrd="0" destOrd="0" presId="urn:microsoft.com/office/officeart/2005/8/layout/vList2"/>
    <dgm:cxn modelId="{2E05524C-1E50-46A8-8D9B-EC619E94DA75}" srcId="{C09087EA-9B52-45F6-B5D7-931BA5020831}" destId="{12A26584-DEB0-43B3-A70B-48F1C57A69A7}" srcOrd="1" destOrd="0" parTransId="{0221C04D-2201-4F36-BF38-8CFBF748DAEE}" sibTransId="{13FD5BF2-E3EC-4E78-AEC6-839E0FA9F556}"/>
    <dgm:cxn modelId="{2D5D8074-9829-4EC2-990F-10B9516BD569}" type="presOf" srcId="{A9BB3E3C-8D16-4477-97F7-4649084DACAB}" destId="{37210FB3-AB8C-41D2-9156-4030C951F6B7}" srcOrd="0" destOrd="0" presId="urn:microsoft.com/office/officeart/2005/8/layout/vList2"/>
    <dgm:cxn modelId="{6E2AB982-72D1-4273-9447-8FDFDB0C4395}" type="presOf" srcId="{C09087EA-9B52-45F6-B5D7-931BA5020831}" destId="{EC03600A-CFA8-45A9-B011-4A5256E4EC9A}" srcOrd="0" destOrd="0" presId="urn:microsoft.com/office/officeart/2005/8/layout/vList2"/>
    <dgm:cxn modelId="{EA3F6590-7717-4F5E-8075-B61F091E9C73}" srcId="{6B22A396-8CAC-49B5-9FCC-1CCA58FC7D61}" destId="{F74FA61F-4FBC-49DB-8456-DD353A7D8243}" srcOrd="0" destOrd="0" parTransId="{D1A458BB-AF02-40F8-9108-9287E25F6FF3}" sibTransId="{09BD736A-2FFE-4750-808B-CADE8123E69F}"/>
    <dgm:cxn modelId="{A43EBA9C-1C3B-44D0-BDDA-390A05F26678}" type="presOf" srcId="{54849C22-F2E6-4230-ABA7-D023BA0F75BA}" destId="{7B22EEF2-F73C-41F0-8ED2-D276D1A8764F}" srcOrd="0" destOrd="0" presId="urn:microsoft.com/office/officeart/2005/8/layout/vList2"/>
    <dgm:cxn modelId="{9AAA43A1-282B-4399-98E8-3C4545653A11}" srcId="{6B22A396-8CAC-49B5-9FCC-1CCA58FC7D61}" destId="{EC3765D0-E95D-4DF2-83CF-D4F3643A6BBC}" srcOrd="3" destOrd="0" parTransId="{38356E64-E835-4682-A8B8-C830A19A0D4F}" sibTransId="{D52F242B-DB7F-4891-A4B1-A11509BC4E69}"/>
    <dgm:cxn modelId="{80E52BB5-9E7D-498F-B56B-80DE75A4B902}" srcId="{F74FA61F-4FBC-49DB-8456-DD353A7D8243}" destId="{6995A097-DD90-432B-AF34-D2DD4888FD92}" srcOrd="0" destOrd="0" parTransId="{7907025A-ECD2-4CE5-90FE-966D7310BC3A}" sibTransId="{6EC87CD2-B542-4092-AB63-2BCC2C59D29B}"/>
    <dgm:cxn modelId="{431BCFBE-0495-40A3-B932-ED835F4AA623}" type="presOf" srcId="{12A26584-DEB0-43B3-A70B-48F1C57A69A7}" destId="{37210FB3-AB8C-41D2-9156-4030C951F6B7}" srcOrd="0" destOrd="1" presId="urn:microsoft.com/office/officeart/2005/8/layout/vList2"/>
    <dgm:cxn modelId="{98DA23C1-E8A0-462D-AD02-A74DD3498114}" type="presOf" srcId="{F74FA61F-4FBC-49DB-8456-DD353A7D8243}" destId="{CEAF6A44-E076-486B-816C-6269C5EBCA21}" srcOrd="0" destOrd="0" presId="urn:microsoft.com/office/officeart/2005/8/layout/vList2"/>
    <dgm:cxn modelId="{61C69FC2-136D-462F-8E1D-0CF96C1264FA}" srcId="{54849C22-F2E6-4230-ABA7-D023BA0F75BA}" destId="{D6057AB9-4D15-401B-9EDD-D1650F2EA071}" srcOrd="0" destOrd="0" parTransId="{E2812797-B877-4B9A-A20C-BE248B53A2FE}" sibTransId="{5A78547E-61D1-49A9-B5F6-519D30D3E635}"/>
    <dgm:cxn modelId="{4DAB0AD3-1580-45A1-86AE-5EFC6ABC3A5C}" srcId="{54849C22-F2E6-4230-ABA7-D023BA0F75BA}" destId="{780B85E0-4844-46EF-8627-71470484097D}" srcOrd="1" destOrd="0" parTransId="{93AE3DBD-B797-423B-9C2F-3E6B9A30697C}" sibTransId="{96F20C1F-35CC-4E0A-8B9D-DD45BD6FE8CE}"/>
    <dgm:cxn modelId="{99DCDBEC-F41C-4F3B-866C-C9308FE13794}" type="presOf" srcId="{6B22A396-8CAC-49B5-9FCC-1CCA58FC7D61}" destId="{4E64F4D2-2103-4364-B858-52203ED99F4A}" srcOrd="0" destOrd="0" presId="urn:microsoft.com/office/officeart/2005/8/layout/vList2"/>
    <dgm:cxn modelId="{B9F3D660-9E6D-4085-A31D-CC8221697873}" type="presParOf" srcId="{4E64F4D2-2103-4364-B858-52203ED99F4A}" destId="{CEAF6A44-E076-486B-816C-6269C5EBCA21}" srcOrd="0" destOrd="0" presId="urn:microsoft.com/office/officeart/2005/8/layout/vList2"/>
    <dgm:cxn modelId="{B9501B7D-E481-4958-BBD5-C91532D7E1BC}" type="presParOf" srcId="{4E64F4D2-2103-4364-B858-52203ED99F4A}" destId="{73E7D981-A7AD-43A0-88C0-51D1E8B0E301}" srcOrd="1" destOrd="0" presId="urn:microsoft.com/office/officeart/2005/8/layout/vList2"/>
    <dgm:cxn modelId="{AE72029B-52BB-42AB-87E0-82803F9853FB}" type="presParOf" srcId="{4E64F4D2-2103-4364-B858-52203ED99F4A}" destId="{EC03600A-CFA8-45A9-B011-4A5256E4EC9A}" srcOrd="2" destOrd="0" presId="urn:microsoft.com/office/officeart/2005/8/layout/vList2"/>
    <dgm:cxn modelId="{09C9F782-D80C-4F2C-9BE3-979DA0A2058E}" type="presParOf" srcId="{4E64F4D2-2103-4364-B858-52203ED99F4A}" destId="{37210FB3-AB8C-41D2-9156-4030C951F6B7}" srcOrd="3" destOrd="0" presId="urn:microsoft.com/office/officeart/2005/8/layout/vList2"/>
    <dgm:cxn modelId="{E05F07D3-1E3C-4CF7-8915-BC4AB08A29E9}" type="presParOf" srcId="{4E64F4D2-2103-4364-B858-52203ED99F4A}" destId="{7B22EEF2-F73C-41F0-8ED2-D276D1A8764F}" srcOrd="4" destOrd="0" presId="urn:microsoft.com/office/officeart/2005/8/layout/vList2"/>
    <dgm:cxn modelId="{C3C140F7-9BC6-4CC8-84BC-214D111F6CBE}" type="presParOf" srcId="{4E64F4D2-2103-4364-B858-52203ED99F4A}" destId="{40187E6B-314F-4670-9A9A-EF91A2B6148A}" srcOrd="5" destOrd="0" presId="urn:microsoft.com/office/officeart/2005/8/layout/vList2"/>
    <dgm:cxn modelId="{461740F7-3641-409E-8FF7-84B891B9CA01}" type="presParOf" srcId="{4E64F4D2-2103-4364-B858-52203ED99F4A}" destId="{333D134A-483D-4911-8AD6-C47D072FE552}" srcOrd="6" destOrd="0" presId="urn:microsoft.com/office/officeart/2005/8/layout/vList2"/>
    <dgm:cxn modelId="{4D0FE876-7366-4999-8D86-6944A7C53426}" type="presParOf" srcId="{4E64F4D2-2103-4364-B858-52203ED99F4A}" destId="{B4A8240A-B957-4A04-B74D-39D4F0D865F6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22A396-8CAC-49B5-9FCC-1CCA58FC7D61}" type="doc">
      <dgm:prSet loTypeId="urn:microsoft.com/office/officeart/2005/8/layout/vList2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fr-CA"/>
        </a:p>
      </dgm:t>
    </dgm:pt>
    <dgm:pt modelId="{B8E87F1C-1320-400B-BF48-03B18734192C}">
      <dgm:prSet phldrT="[Texte]" custT="1"/>
      <dgm:spPr/>
      <dgm:t>
        <a:bodyPr/>
        <a:lstStyle/>
        <a:p>
          <a:r>
            <a:rPr lang="fr-CA" sz="2000" dirty="0"/>
            <a:t>Préciser les besoins en liquidités</a:t>
          </a:r>
        </a:p>
      </dgm:t>
    </dgm:pt>
    <dgm:pt modelId="{C3581CAA-095C-4EF0-968D-CE2B676415D6}" type="parTrans" cxnId="{9BD1201B-D078-40F5-BFC1-A6DDCCF3874E}">
      <dgm:prSet/>
      <dgm:spPr/>
      <dgm:t>
        <a:bodyPr/>
        <a:lstStyle/>
        <a:p>
          <a:endParaRPr lang="fr-CA" sz="2800"/>
        </a:p>
      </dgm:t>
    </dgm:pt>
    <dgm:pt modelId="{A74FB5C5-4D0A-450C-8F3D-18FCDE26DF17}" type="sibTrans" cxnId="{9BD1201B-D078-40F5-BFC1-A6DDCCF3874E}">
      <dgm:prSet/>
      <dgm:spPr/>
      <dgm:t>
        <a:bodyPr/>
        <a:lstStyle/>
        <a:p>
          <a:endParaRPr lang="fr-CA" sz="2800"/>
        </a:p>
      </dgm:t>
    </dgm:pt>
    <dgm:pt modelId="{EC3765D0-E95D-4DF2-83CF-D4F3643A6BBC}">
      <dgm:prSet phldrT="[Texte]" custT="1"/>
      <dgm:spPr/>
      <dgm:t>
        <a:bodyPr/>
        <a:lstStyle/>
        <a:p>
          <a:r>
            <a:rPr lang="fr-CA" sz="2800" dirty="0"/>
            <a:t>Utilité</a:t>
          </a:r>
        </a:p>
      </dgm:t>
    </dgm:pt>
    <dgm:pt modelId="{38356E64-E835-4682-A8B8-C830A19A0D4F}" type="parTrans" cxnId="{9AAA43A1-282B-4399-98E8-3C4545653A11}">
      <dgm:prSet/>
      <dgm:spPr/>
      <dgm:t>
        <a:bodyPr/>
        <a:lstStyle/>
        <a:p>
          <a:endParaRPr lang="fr-CA" sz="2800"/>
        </a:p>
      </dgm:t>
    </dgm:pt>
    <dgm:pt modelId="{D52F242B-DB7F-4891-A4B1-A11509BC4E69}" type="sibTrans" cxnId="{9AAA43A1-282B-4399-98E8-3C4545653A11}">
      <dgm:prSet/>
      <dgm:spPr/>
      <dgm:t>
        <a:bodyPr/>
        <a:lstStyle/>
        <a:p>
          <a:endParaRPr lang="fr-CA" sz="2800"/>
        </a:p>
      </dgm:t>
    </dgm:pt>
    <dgm:pt modelId="{D6057AB9-4D15-401B-9EDD-D1650F2EA071}">
      <dgm:prSet phldrT="[Texte]" custT="1"/>
      <dgm:spPr/>
      <dgm:t>
        <a:bodyPr/>
        <a:lstStyle/>
        <a:p>
          <a:r>
            <a:rPr lang="fr-CA" sz="2000" dirty="0"/>
            <a:t>Il comprend les prévisions de rentrées et de sorties de fonds</a:t>
          </a:r>
        </a:p>
      </dgm:t>
    </dgm:pt>
    <dgm:pt modelId="{E2812797-B877-4B9A-A20C-BE248B53A2FE}" type="parTrans" cxnId="{61C69FC2-136D-462F-8E1D-0CF96C1264FA}">
      <dgm:prSet/>
      <dgm:spPr/>
      <dgm:t>
        <a:bodyPr/>
        <a:lstStyle/>
        <a:p>
          <a:endParaRPr lang="fr-CA" sz="2800"/>
        </a:p>
      </dgm:t>
    </dgm:pt>
    <dgm:pt modelId="{5A78547E-61D1-49A9-B5F6-519D30D3E635}" type="sibTrans" cxnId="{61C69FC2-136D-462F-8E1D-0CF96C1264FA}">
      <dgm:prSet/>
      <dgm:spPr/>
      <dgm:t>
        <a:bodyPr/>
        <a:lstStyle/>
        <a:p>
          <a:endParaRPr lang="fr-CA" sz="2800"/>
        </a:p>
      </dgm:t>
    </dgm:pt>
    <dgm:pt modelId="{A2BCA468-C4FA-4045-B14C-3259A0EB419D}">
      <dgm:prSet phldrT="[Texte]" custT="1"/>
      <dgm:spPr/>
      <dgm:t>
        <a:bodyPr/>
        <a:lstStyle/>
        <a:p>
          <a:r>
            <a:rPr lang="fr-CA" sz="2800" dirty="0"/>
            <a:t>Définition</a:t>
          </a:r>
          <a:endParaRPr lang="fr-CA" sz="2000" dirty="0"/>
        </a:p>
      </dgm:t>
    </dgm:pt>
    <dgm:pt modelId="{46270091-82F0-4899-9654-7D2B3F0C2E01}" type="parTrans" cxnId="{058CD6B9-09D9-4F70-920E-DDFEC6C78D9E}">
      <dgm:prSet/>
      <dgm:spPr/>
      <dgm:t>
        <a:bodyPr/>
        <a:lstStyle/>
        <a:p>
          <a:endParaRPr lang="fr-CA" sz="2800"/>
        </a:p>
      </dgm:t>
    </dgm:pt>
    <dgm:pt modelId="{16F6C0B5-8D90-4215-A6D8-147A189440F4}" type="sibTrans" cxnId="{058CD6B9-09D9-4F70-920E-DDFEC6C78D9E}">
      <dgm:prSet/>
      <dgm:spPr/>
      <dgm:t>
        <a:bodyPr/>
        <a:lstStyle/>
        <a:p>
          <a:endParaRPr lang="fr-CA" sz="2800"/>
        </a:p>
      </dgm:t>
    </dgm:pt>
    <dgm:pt modelId="{E25715C6-5283-4738-BD1D-EA5CB06B8787}">
      <dgm:prSet phldrT="[Texte]" custT="1"/>
      <dgm:spPr/>
      <dgm:t>
        <a:bodyPr/>
        <a:lstStyle/>
        <a:p>
          <a:r>
            <a:rPr lang="fr-CA" sz="2000" dirty="0"/>
            <a:t>Représente les mouvements $</a:t>
          </a:r>
        </a:p>
      </dgm:t>
    </dgm:pt>
    <dgm:pt modelId="{1B65F897-39DE-4F02-A453-6454C49E786D}" type="parTrans" cxnId="{AD55AE6E-5051-4D66-946C-CE34B074717E}">
      <dgm:prSet/>
      <dgm:spPr/>
      <dgm:t>
        <a:bodyPr/>
        <a:lstStyle/>
        <a:p>
          <a:endParaRPr lang="fr-CA" sz="2400"/>
        </a:p>
      </dgm:t>
    </dgm:pt>
    <dgm:pt modelId="{1FCEA522-55D1-4A18-98C3-A7C3C1E67084}" type="sibTrans" cxnId="{AD55AE6E-5051-4D66-946C-CE34B074717E}">
      <dgm:prSet/>
      <dgm:spPr/>
      <dgm:t>
        <a:bodyPr/>
        <a:lstStyle/>
        <a:p>
          <a:endParaRPr lang="fr-CA" sz="2400"/>
        </a:p>
      </dgm:t>
    </dgm:pt>
    <dgm:pt modelId="{B0E80EB4-A4D5-4DD0-8BC2-8D4C7045DFA7}">
      <dgm:prSet custT="1"/>
      <dgm:spPr/>
      <dgm:t>
        <a:bodyPr/>
        <a:lstStyle/>
        <a:p>
          <a:r>
            <a:rPr lang="fr-CA" sz="2000" dirty="0"/>
            <a:t>Planifier les débours importants en tenant compte des recettes</a:t>
          </a:r>
        </a:p>
      </dgm:t>
    </dgm:pt>
    <dgm:pt modelId="{61FD24FA-48BA-47E4-941E-3A2973CFF3EA}" type="parTrans" cxnId="{DA5A6D27-0626-44F6-BC8A-4ED2BC2DA20C}">
      <dgm:prSet/>
      <dgm:spPr/>
      <dgm:t>
        <a:bodyPr/>
        <a:lstStyle/>
        <a:p>
          <a:endParaRPr lang="fr-CA" sz="2400"/>
        </a:p>
      </dgm:t>
    </dgm:pt>
    <dgm:pt modelId="{9A245390-8891-4FD4-AC8C-0344C7772079}" type="sibTrans" cxnId="{DA5A6D27-0626-44F6-BC8A-4ED2BC2DA20C}">
      <dgm:prSet/>
      <dgm:spPr/>
      <dgm:t>
        <a:bodyPr/>
        <a:lstStyle/>
        <a:p>
          <a:endParaRPr lang="fr-CA" sz="2400"/>
        </a:p>
      </dgm:t>
    </dgm:pt>
    <dgm:pt modelId="{53A6EDFF-A06D-487A-9C52-9C725AFD75F0}">
      <dgm:prSet custT="1"/>
      <dgm:spPr/>
      <dgm:t>
        <a:bodyPr/>
        <a:lstStyle/>
        <a:p>
          <a:r>
            <a:rPr lang="fr-CA" sz="2000" dirty="0"/>
            <a:t>Prévoir les modes de financement de l’entreprise</a:t>
          </a:r>
        </a:p>
      </dgm:t>
    </dgm:pt>
    <dgm:pt modelId="{3083698B-6506-4F68-A3D7-E5C4337EFD04}" type="parTrans" cxnId="{A81AC8F9-D1B7-4913-B8F5-278E023D5381}">
      <dgm:prSet/>
      <dgm:spPr/>
      <dgm:t>
        <a:bodyPr/>
        <a:lstStyle/>
        <a:p>
          <a:endParaRPr lang="fr-CA" sz="2400"/>
        </a:p>
      </dgm:t>
    </dgm:pt>
    <dgm:pt modelId="{089E0B04-F4B5-46D4-B6C8-313A6BC22487}" type="sibTrans" cxnId="{A81AC8F9-D1B7-4913-B8F5-278E023D5381}">
      <dgm:prSet/>
      <dgm:spPr/>
      <dgm:t>
        <a:bodyPr/>
        <a:lstStyle/>
        <a:p>
          <a:endParaRPr lang="fr-CA" sz="2400"/>
        </a:p>
      </dgm:t>
    </dgm:pt>
    <dgm:pt modelId="{04D30D8E-D0CF-45CA-A2A7-F920C421CF19}">
      <dgm:prSet custT="1"/>
      <dgm:spPr/>
      <dgm:t>
        <a:bodyPr/>
        <a:lstStyle/>
        <a:p>
          <a:r>
            <a:rPr lang="fr-CA" sz="2000" dirty="0"/>
            <a:t>Fournir des informations nécessaires à la préparation de l’état de la situation financière et des résultats prévisionnels (charge d’intérêt, montant de l’emprunt)</a:t>
          </a:r>
        </a:p>
      </dgm:t>
    </dgm:pt>
    <dgm:pt modelId="{97A8EAF1-EB44-4473-96CF-946D4145A91A}" type="parTrans" cxnId="{9D17D2C9-3D78-410A-9903-DDE0256EF21D}">
      <dgm:prSet/>
      <dgm:spPr/>
      <dgm:t>
        <a:bodyPr/>
        <a:lstStyle/>
        <a:p>
          <a:endParaRPr lang="fr-CA" sz="2400"/>
        </a:p>
      </dgm:t>
    </dgm:pt>
    <dgm:pt modelId="{1003D186-38CC-4805-BC81-5ECB0BE420AA}" type="sibTrans" cxnId="{9D17D2C9-3D78-410A-9903-DDE0256EF21D}">
      <dgm:prSet/>
      <dgm:spPr/>
      <dgm:t>
        <a:bodyPr/>
        <a:lstStyle/>
        <a:p>
          <a:endParaRPr lang="fr-CA" sz="2400"/>
        </a:p>
      </dgm:t>
    </dgm:pt>
    <dgm:pt modelId="{4E64F4D2-2103-4364-B858-52203ED99F4A}" type="pres">
      <dgm:prSet presAssocID="{6B22A396-8CAC-49B5-9FCC-1CCA58FC7D61}" presName="linear" presStyleCnt="0">
        <dgm:presLayoutVars>
          <dgm:animLvl val="lvl"/>
          <dgm:resizeHandles val="exact"/>
        </dgm:presLayoutVars>
      </dgm:prSet>
      <dgm:spPr/>
    </dgm:pt>
    <dgm:pt modelId="{2BF36366-74CE-4A78-B94F-541A87D1E2A7}" type="pres">
      <dgm:prSet presAssocID="{A2BCA468-C4FA-4045-B14C-3259A0EB419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52F6060-EB07-48AF-AF67-D2795DC813DF}" type="pres">
      <dgm:prSet presAssocID="{A2BCA468-C4FA-4045-B14C-3259A0EB419D}" presName="childText" presStyleLbl="revTx" presStyleIdx="0" presStyleCnt="2">
        <dgm:presLayoutVars>
          <dgm:bulletEnabled val="1"/>
        </dgm:presLayoutVars>
      </dgm:prSet>
      <dgm:spPr/>
    </dgm:pt>
    <dgm:pt modelId="{333D134A-483D-4911-8AD6-C47D072FE552}" type="pres">
      <dgm:prSet presAssocID="{EC3765D0-E95D-4DF2-83CF-D4F3643A6BB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4A8240A-B957-4A04-B74D-39D4F0D865F6}" type="pres">
      <dgm:prSet presAssocID="{EC3765D0-E95D-4DF2-83CF-D4F3643A6BB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9BD1201B-D078-40F5-BFC1-A6DDCCF3874E}" srcId="{EC3765D0-E95D-4DF2-83CF-D4F3643A6BBC}" destId="{B8E87F1C-1320-400B-BF48-03B18734192C}" srcOrd="0" destOrd="0" parTransId="{C3581CAA-095C-4EF0-968D-CE2B676415D6}" sibTransId="{A74FB5C5-4D0A-450C-8F3D-18FCDE26DF17}"/>
    <dgm:cxn modelId="{DA5A6D27-0626-44F6-BC8A-4ED2BC2DA20C}" srcId="{EC3765D0-E95D-4DF2-83CF-D4F3643A6BBC}" destId="{B0E80EB4-A4D5-4DD0-8BC2-8D4C7045DFA7}" srcOrd="1" destOrd="0" parTransId="{61FD24FA-48BA-47E4-941E-3A2973CFF3EA}" sibTransId="{9A245390-8891-4FD4-AC8C-0344C7772079}"/>
    <dgm:cxn modelId="{7E12DB29-B02B-4544-BD36-144B22E06958}" type="presOf" srcId="{EC3765D0-E95D-4DF2-83CF-D4F3643A6BBC}" destId="{333D134A-483D-4911-8AD6-C47D072FE552}" srcOrd="0" destOrd="0" presId="urn:microsoft.com/office/officeart/2005/8/layout/vList2"/>
    <dgm:cxn modelId="{590F2F32-FA75-4535-8417-A5C543FE84CF}" type="presOf" srcId="{B8E87F1C-1320-400B-BF48-03B18734192C}" destId="{B4A8240A-B957-4A04-B74D-39D4F0D865F6}" srcOrd="0" destOrd="0" presId="urn:microsoft.com/office/officeart/2005/8/layout/vList2"/>
    <dgm:cxn modelId="{E695465E-C9F6-439F-98C2-5C7F14B2F3A4}" type="presOf" srcId="{A2BCA468-C4FA-4045-B14C-3259A0EB419D}" destId="{2BF36366-74CE-4A78-B94F-541A87D1E2A7}" srcOrd="0" destOrd="0" presId="urn:microsoft.com/office/officeart/2005/8/layout/vList2"/>
    <dgm:cxn modelId="{B65D9D4C-F3B2-4632-8285-E2325A3B0268}" type="presOf" srcId="{04D30D8E-D0CF-45CA-A2A7-F920C421CF19}" destId="{B4A8240A-B957-4A04-B74D-39D4F0D865F6}" srcOrd="0" destOrd="3" presId="urn:microsoft.com/office/officeart/2005/8/layout/vList2"/>
    <dgm:cxn modelId="{AD55AE6E-5051-4D66-946C-CE34B074717E}" srcId="{D6057AB9-4D15-401B-9EDD-D1650F2EA071}" destId="{E25715C6-5283-4738-BD1D-EA5CB06B8787}" srcOrd="0" destOrd="0" parTransId="{1B65F897-39DE-4F02-A453-6454C49E786D}" sibTransId="{1FCEA522-55D1-4A18-98C3-A7C3C1E67084}"/>
    <dgm:cxn modelId="{2A21CF70-1B05-4D10-BD78-EE57F3BAF66E}" type="presOf" srcId="{D6057AB9-4D15-401B-9EDD-D1650F2EA071}" destId="{152F6060-EB07-48AF-AF67-D2795DC813DF}" srcOrd="0" destOrd="0" presId="urn:microsoft.com/office/officeart/2005/8/layout/vList2"/>
    <dgm:cxn modelId="{85A64E80-CDAF-4298-AB9F-EBC61FEAB89E}" type="presOf" srcId="{B0E80EB4-A4D5-4DD0-8BC2-8D4C7045DFA7}" destId="{B4A8240A-B957-4A04-B74D-39D4F0D865F6}" srcOrd="0" destOrd="1" presId="urn:microsoft.com/office/officeart/2005/8/layout/vList2"/>
    <dgm:cxn modelId="{DA1CAD86-FCBB-4557-8900-F12D69296F43}" type="presOf" srcId="{6B22A396-8CAC-49B5-9FCC-1CCA58FC7D61}" destId="{4E64F4D2-2103-4364-B858-52203ED99F4A}" srcOrd="0" destOrd="0" presId="urn:microsoft.com/office/officeart/2005/8/layout/vList2"/>
    <dgm:cxn modelId="{9AAA43A1-282B-4399-98E8-3C4545653A11}" srcId="{6B22A396-8CAC-49B5-9FCC-1CCA58FC7D61}" destId="{EC3765D0-E95D-4DF2-83CF-D4F3643A6BBC}" srcOrd="1" destOrd="0" parTransId="{38356E64-E835-4682-A8B8-C830A19A0D4F}" sibTransId="{D52F242B-DB7F-4891-A4B1-A11509BC4E69}"/>
    <dgm:cxn modelId="{ED993DA4-446E-4A27-BF47-8151163A7B75}" type="presOf" srcId="{53A6EDFF-A06D-487A-9C52-9C725AFD75F0}" destId="{B4A8240A-B957-4A04-B74D-39D4F0D865F6}" srcOrd="0" destOrd="2" presId="urn:microsoft.com/office/officeart/2005/8/layout/vList2"/>
    <dgm:cxn modelId="{16B53AA5-935F-4863-8BFE-B23C02CBB7A4}" type="presOf" srcId="{E25715C6-5283-4738-BD1D-EA5CB06B8787}" destId="{152F6060-EB07-48AF-AF67-D2795DC813DF}" srcOrd="0" destOrd="1" presId="urn:microsoft.com/office/officeart/2005/8/layout/vList2"/>
    <dgm:cxn modelId="{058CD6B9-09D9-4F70-920E-DDFEC6C78D9E}" srcId="{6B22A396-8CAC-49B5-9FCC-1CCA58FC7D61}" destId="{A2BCA468-C4FA-4045-B14C-3259A0EB419D}" srcOrd="0" destOrd="0" parTransId="{46270091-82F0-4899-9654-7D2B3F0C2E01}" sibTransId="{16F6C0B5-8D90-4215-A6D8-147A189440F4}"/>
    <dgm:cxn modelId="{61C69FC2-136D-462F-8E1D-0CF96C1264FA}" srcId="{A2BCA468-C4FA-4045-B14C-3259A0EB419D}" destId="{D6057AB9-4D15-401B-9EDD-D1650F2EA071}" srcOrd="0" destOrd="0" parTransId="{E2812797-B877-4B9A-A20C-BE248B53A2FE}" sibTransId="{5A78547E-61D1-49A9-B5F6-519D30D3E635}"/>
    <dgm:cxn modelId="{9D17D2C9-3D78-410A-9903-DDE0256EF21D}" srcId="{EC3765D0-E95D-4DF2-83CF-D4F3643A6BBC}" destId="{04D30D8E-D0CF-45CA-A2A7-F920C421CF19}" srcOrd="3" destOrd="0" parTransId="{97A8EAF1-EB44-4473-96CF-946D4145A91A}" sibTransId="{1003D186-38CC-4805-BC81-5ECB0BE420AA}"/>
    <dgm:cxn modelId="{A81AC8F9-D1B7-4913-B8F5-278E023D5381}" srcId="{EC3765D0-E95D-4DF2-83CF-D4F3643A6BBC}" destId="{53A6EDFF-A06D-487A-9C52-9C725AFD75F0}" srcOrd="2" destOrd="0" parTransId="{3083698B-6506-4F68-A3D7-E5C4337EFD04}" sibTransId="{089E0B04-F4B5-46D4-B6C8-313A6BC22487}"/>
    <dgm:cxn modelId="{9FFAC602-1195-4DB6-B1DE-83194F11D970}" type="presParOf" srcId="{4E64F4D2-2103-4364-B858-52203ED99F4A}" destId="{2BF36366-74CE-4A78-B94F-541A87D1E2A7}" srcOrd="0" destOrd="0" presId="urn:microsoft.com/office/officeart/2005/8/layout/vList2"/>
    <dgm:cxn modelId="{83CC3FCD-D33E-4D05-8D1B-1922F4AC3032}" type="presParOf" srcId="{4E64F4D2-2103-4364-B858-52203ED99F4A}" destId="{152F6060-EB07-48AF-AF67-D2795DC813DF}" srcOrd="1" destOrd="0" presId="urn:microsoft.com/office/officeart/2005/8/layout/vList2"/>
    <dgm:cxn modelId="{FB4575C2-DA9A-4B20-B450-838469D8EF67}" type="presParOf" srcId="{4E64F4D2-2103-4364-B858-52203ED99F4A}" destId="{333D134A-483D-4911-8AD6-C47D072FE552}" srcOrd="2" destOrd="0" presId="urn:microsoft.com/office/officeart/2005/8/layout/vList2"/>
    <dgm:cxn modelId="{ADAD33D3-0659-4F1F-BE62-69EDF4A5B4AA}" type="presParOf" srcId="{4E64F4D2-2103-4364-B858-52203ED99F4A}" destId="{B4A8240A-B957-4A04-B74D-39D4F0D865F6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59B3D0-E821-42D4-8327-0AE4C65A4A84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FE38413F-5C14-4A68-A629-F6988FD9D65A}">
      <dgm:prSet phldrT="[Texte]" custT="1"/>
      <dgm:spPr/>
      <dgm:t>
        <a:bodyPr/>
        <a:lstStyle/>
        <a:p>
          <a:r>
            <a:rPr lang="fr-CA" sz="1400" b="1" dirty="0"/>
            <a:t>Ventes à crédit</a:t>
          </a:r>
        </a:p>
      </dgm:t>
    </dgm:pt>
    <dgm:pt modelId="{117BEFA0-3C32-4F6D-B128-AB7FC55F53D2}" type="parTrans" cxnId="{F9853354-4925-4C05-9AE6-508A21D6F41F}">
      <dgm:prSet/>
      <dgm:spPr/>
      <dgm:t>
        <a:bodyPr/>
        <a:lstStyle/>
        <a:p>
          <a:endParaRPr lang="fr-CA"/>
        </a:p>
      </dgm:t>
    </dgm:pt>
    <dgm:pt modelId="{E2270204-8DC1-4800-AF03-D1DF90D26FAB}" type="sibTrans" cxnId="{F9853354-4925-4C05-9AE6-508A21D6F41F}">
      <dgm:prSet/>
      <dgm:spPr/>
      <dgm:t>
        <a:bodyPr/>
        <a:lstStyle/>
        <a:p>
          <a:endParaRPr lang="fr-CA"/>
        </a:p>
      </dgm:t>
    </dgm:pt>
    <dgm:pt modelId="{A1B78383-FD0C-46F1-A400-A4404A37CAC6}">
      <dgm:prSet phldrT="[Texte]" custT="1"/>
      <dgm:spPr/>
      <dgm:t>
        <a:bodyPr/>
        <a:lstStyle/>
        <a:p>
          <a:r>
            <a:rPr lang="fr-CA" sz="1400" b="1" dirty="0"/>
            <a:t>Recouvrement des comptes clients</a:t>
          </a:r>
        </a:p>
      </dgm:t>
    </dgm:pt>
    <dgm:pt modelId="{D531F798-551E-4EF4-A7F5-DDEBDF778371}" type="parTrans" cxnId="{E1D9CEC6-5803-44B9-90EC-7D3D503357BD}">
      <dgm:prSet/>
      <dgm:spPr/>
      <dgm:t>
        <a:bodyPr/>
        <a:lstStyle/>
        <a:p>
          <a:endParaRPr lang="fr-CA"/>
        </a:p>
      </dgm:t>
    </dgm:pt>
    <dgm:pt modelId="{53B129F6-9CCB-41CE-A390-E543DECBC73F}" type="sibTrans" cxnId="{E1D9CEC6-5803-44B9-90EC-7D3D503357BD}">
      <dgm:prSet/>
      <dgm:spPr/>
      <dgm:t>
        <a:bodyPr/>
        <a:lstStyle/>
        <a:p>
          <a:endParaRPr lang="fr-CA"/>
        </a:p>
      </dgm:t>
    </dgm:pt>
    <dgm:pt modelId="{9E37DD29-A80A-4CBB-9923-B6CBE6112A1B}">
      <dgm:prSet phldrT="[Texte]" custT="1"/>
      <dgm:spPr/>
      <dgm:t>
        <a:bodyPr/>
        <a:lstStyle/>
        <a:p>
          <a:r>
            <a:rPr lang="fr-CA" sz="1400" b="1" dirty="0"/>
            <a:t>Achats à crédit</a:t>
          </a:r>
        </a:p>
      </dgm:t>
    </dgm:pt>
    <dgm:pt modelId="{1FDFBF77-8D6A-49C7-AB4B-9147B051F30E}" type="parTrans" cxnId="{EE557F11-FCBF-4884-9815-214B6426386F}">
      <dgm:prSet/>
      <dgm:spPr/>
      <dgm:t>
        <a:bodyPr/>
        <a:lstStyle/>
        <a:p>
          <a:endParaRPr lang="fr-CA"/>
        </a:p>
      </dgm:t>
    </dgm:pt>
    <dgm:pt modelId="{45EE8CA9-5164-48B7-BDE1-3E99595C4BD1}" type="sibTrans" cxnId="{EE557F11-FCBF-4884-9815-214B6426386F}">
      <dgm:prSet/>
      <dgm:spPr/>
      <dgm:t>
        <a:bodyPr/>
        <a:lstStyle/>
        <a:p>
          <a:endParaRPr lang="fr-CA"/>
        </a:p>
      </dgm:t>
    </dgm:pt>
    <dgm:pt modelId="{F590F6BA-2E30-47E8-ABEB-91D5737F5359}">
      <dgm:prSet phldrT="[Texte]" custT="1"/>
      <dgm:spPr/>
      <dgm:t>
        <a:bodyPr/>
        <a:lstStyle/>
        <a:p>
          <a:r>
            <a:rPr lang="fr-CA" sz="1400" b="1" dirty="0"/>
            <a:t>Paiement des fournisseurs</a:t>
          </a:r>
        </a:p>
      </dgm:t>
    </dgm:pt>
    <dgm:pt modelId="{B450CFAA-6741-413D-89BF-AF3E1A26D5EB}" type="parTrans" cxnId="{030012A4-5574-4FBF-8858-F43F71D2D096}">
      <dgm:prSet/>
      <dgm:spPr/>
      <dgm:t>
        <a:bodyPr/>
        <a:lstStyle/>
        <a:p>
          <a:endParaRPr lang="fr-CA"/>
        </a:p>
      </dgm:t>
    </dgm:pt>
    <dgm:pt modelId="{3D063127-241F-41EF-9190-CF3D86C619E9}" type="sibTrans" cxnId="{030012A4-5574-4FBF-8858-F43F71D2D096}">
      <dgm:prSet/>
      <dgm:spPr/>
      <dgm:t>
        <a:bodyPr/>
        <a:lstStyle/>
        <a:p>
          <a:endParaRPr lang="fr-CA"/>
        </a:p>
      </dgm:t>
    </dgm:pt>
    <dgm:pt modelId="{8EDF8E7C-1AB5-46C2-8D9F-9CC5CD9AF823}">
      <dgm:prSet phldrT="[Texte]" custT="1"/>
      <dgm:spPr/>
      <dgm:t>
        <a:bodyPr/>
        <a:lstStyle/>
        <a:p>
          <a:r>
            <a:rPr lang="fr-CA" sz="1400" b="1" dirty="0"/>
            <a:t>Paiement des salaires</a:t>
          </a:r>
        </a:p>
      </dgm:t>
    </dgm:pt>
    <dgm:pt modelId="{DCC495B5-CCF6-476A-854D-8FA24509AA0B}" type="parTrans" cxnId="{FA966EB4-E1CF-4EE9-9D5C-49D9A590B865}">
      <dgm:prSet/>
      <dgm:spPr/>
      <dgm:t>
        <a:bodyPr/>
        <a:lstStyle/>
        <a:p>
          <a:endParaRPr lang="fr-CA"/>
        </a:p>
      </dgm:t>
    </dgm:pt>
    <dgm:pt modelId="{7A6E9B9C-3AC9-4175-B645-D4EB0A76D6D9}" type="sibTrans" cxnId="{FA966EB4-E1CF-4EE9-9D5C-49D9A590B865}">
      <dgm:prSet/>
      <dgm:spPr/>
      <dgm:t>
        <a:bodyPr/>
        <a:lstStyle/>
        <a:p>
          <a:endParaRPr lang="fr-CA"/>
        </a:p>
      </dgm:t>
    </dgm:pt>
    <dgm:pt modelId="{2B314DF6-3026-4D2A-A616-56FF9C718B43}" type="pres">
      <dgm:prSet presAssocID="{8959B3D0-E821-42D4-8327-0AE4C65A4A84}" presName="cycle" presStyleCnt="0">
        <dgm:presLayoutVars>
          <dgm:dir/>
          <dgm:resizeHandles val="exact"/>
        </dgm:presLayoutVars>
      </dgm:prSet>
      <dgm:spPr/>
    </dgm:pt>
    <dgm:pt modelId="{1A215C86-5850-4D2D-8410-6CDAA10A4D8C}" type="pres">
      <dgm:prSet presAssocID="{FE38413F-5C14-4A68-A629-F6988FD9D65A}" presName="node" presStyleLbl="node1" presStyleIdx="0" presStyleCnt="5" custScaleX="143501" custScaleY="109397">
        <dgm:presLayoutVars>
          <dgm:bulletEnabled val="1"/>
        </dgm:presLayoutVars>
      </dgm:prSet>
      <dgm:spPr/>
    </dgm:pt>
    <dgm:pt modelId="{26D311CC-0A90-4D94-B973-AD175C7DEE2A}" type="pres">
      <dgm:prSet presAssocID="{FE38413F-5C14-4A68-A629-F6988FD9D65A}" presName="spNode" presStyleCnt="0"/>
      <dgm:spPr/>
    </dgm:pt>
    <dgm:pt modelId="{C2524CE3-381A-4B75-B3A8-83F91B358A1D}" type="pres">
      <dgm:prSet presAssocID="{E2270204-8DC1-4800-AF03-D1DF90D26FAB}" presName="sibTrans" presStyleLbl="sibTrans1D1" presStyleIdx="0" presStyleCnt="5"/>
      <dgm:spPr/>
    </dgm:pt>
    <dgm:pt modelId="{77BDDB21-E02E-40F0-BCAD-9ADED7E58388}" type="pres">
      <dgm:prSet presAssocID="{A1B78383-FD0C-46F1-A400-A4404A37CAC6}" presName="node" presStyleLbl="node1" presStyleIdx="1" presStyleCnt="5" custScaleX="162342" custScaleY="150625">
        <dgm:presLayoutVars>
          <dgm:bulletEnabled val="1"/>
        </dgm:presLayoutVars>
      </dgm:prSet>
      <dgm:spPr/>
    </dgm:pt>
    <dgm:pt modelId="{5744E6A9-0DD4-4664-8540-30B66DDF3479}" type="pres">
      <dgm:prSet presAssocID="{A1B78383-FD0C-46F1-A400-A4404A37CAC6}" presName="spNode" presStyleCnt="0"/>
      <dgm:spPr/>
    </dgm:pt>
    <dgm:pt modelId="{24A67EC4-E7AB-40B7-A740-FA6F6D9D6AFC}" type="pres">
      <dgm:prSet presAssocID="{53B129F6-9CCB-41CE-A390-E543DECBC73F}" presName="sibTrans" presStyleLbl="sibTrans1D1" presStyleIdx="1" presStyleCnt="5"/>
      <dgm:spPr/>
    </dgm:pt>
    <dgm:pt modelId="{A0FB3C2C-C771-4574-8668-EE60E9248C14}" type="pres">
      <dgm:prSet presAssocID="{9E37DD29-A80A-4CBB-9923-B6CBE6112A1B}" presName="node" presStyleLbl="node1" presStyleIdx="2" presStyleCnt="5" custScaleX="166322" custScaleY="148405" custRadScaleRad="103762" custRadScaleInc="-60975">
        <dgm:presLayoutVars>
          <dgm:bulletEnabled val="1"/>
        </dgm:presLayoutVars>
      </dgm:prSet>
      <dgm:spPr/>
    </dgm:pt>
    <dgm:pt modelId="{11193445-D336-404B-8781-AD1E6D95310E}" type="pres">
      <dgm:prSet presAssocID="{9E37DD29-A80A-4CBB-9923-B6CBE6112A1B}" presName="spNode" presStyleCnt="0"/>
      <dgm:spPr/>
    </dgm:pt>
    <dgm:pt modelId="{81BEE1B8-07A8-408B-BB5A-ADD5F261F684}" type="pres">
      <dgm:prSet presAssocID="{45EE8CA9-5164-48B7-BDE1-3E99595C4BD1}" presName="sibTrans" presStyleLbl="sibTrans1D1" presStyleIdx="2" presStyleCnt="5"/>
      <dgm:spPr/>
    </dgm:pt>
    <dgm:pt modelId="{CF4BB9F0-47B2-4E8F-B69E-821008E2E8FF}" type="pres">
      <dgm:prSet presAssocID="{F590F6BA-2E30-47E8-ABEB-91D5737F5359}" presName="node" presStyleLbl="node1" presStyleIdx="3" presStyleCnt="5" custScaleX="149314" custScaleY="142292" custRadScaleRad="105891" custRadScaleInc="69423">
        <dgm:presLayoutVars>
          <dgm:bulletEnabled val="1"/>
        </dgm:presLayoutVars>
      </dgm:prSet>
      <dgm:spPr/>
    </dgm:pt>
    <dgm:pt modelId="{DB4CCD60-B793-4C39-AB57-AA4E165BD400}" type="pres">
      <dgm:prSet presAssocID="{F590F6BA-2E30-47E8-ABEB-91D5737F5359}" presName="spNode" presStyleCnt="0"/>
      <dgm:spPr/>
    </dgm:pt>
    <dgm:pt modelId="{9A31016F-3732-4268-9B5F-7729623535AE}" type="pres">
      <dgm:prSet presAssocID="{3D063127-241F-41EF-9190-CF3D86C619E9}" presName="sibTrans" presStyleLbl="sibTrans1D1" presStyleIdx="3" presStyleCnt="5"/>
      <dgm:spPr/>
    </dgm:pt>
    <dgm:pt modelId="{A72CD7F1-707F-448E-AD6A-79B7B40D56B8}" type="pres">
      <dgm:prSet presAssocID="{8EDF8E7C-1AB5-46C2-8D9F-9CC5CD9AF823}" presName="node" presStyleLbl="node1" presStyleIdx="4" presStyleCnt="5" custScaleX="165711" custScaleY="142752">
        <dgm:presLayoutVars>
          <dgm:bulletEnabled val="1"/>
        </dgm:presLayoutVars>
      </dgm:prSet>
      <dgm:spPr/>
    </dgm:pt>
    <dgm:pt modelId="{20E20F9E-2DB4-44D8-932C-566076593098}" type="pres">
      <dgm:prSet presAssocID="{8EDF8E7C-1AB5-46C2-8D9F-9CC5CD9AF823}" presName="spNode" presStyleCnt="0"/>
      <dgm:spPr/>
    </dgm:pt>
    <dgm:pt modelId="{315FAA72-DD86-464E-9CD9-0F3172C546D0}" type="pres">
      <dgm:prSet presAssocID="{7A6E9B9C-3AC9-4175-B645-D4EB0A76D6D9}" presName="sibTrans" presStyleLbl="sibTrans1D1" presStyleIdx="4" presStyleCnt="5"/>
      <dgm:spPr/>
    </dgm:pt>
  </dgm:ptLst>
  <dgm:cxnLst>
    <dgm:cxn modelId="{97C7A405-8EAC-4AE6-AF72-07999F61F031}" type="presOf" srcId="{A1B78383-FD0C-46F1-A400-A4404A37CAC6}" destId="{77BDDB21-E02E-40F0-BCAD-9ADED7E58388}" srcOrd="0" destOrd="0" presId="urn:microsoft.com/office/officeart/2005/8/layout/cycle6"/>
    <dgm:cxn modelId="{EE557F11-FCBF-4884-9815-214B6426386F}" srcId="{8959B3D0-E821-42D4-8327-0AE4C65A4A84}" destId="{9E37DD29-A80A-4CBB-9923-B6CBE6112A1B}" srcOrd="2" destOrd="0" parTransId="{1FDFBF77-8D6A-49C7-AB4B-9147B051F30E}" sibTransId="{45EE8CA9-5164-48B7-BDE1-3E99595C4BD1}"/>
    <dgm:cxn modelId="{AF659419-2394-4C47-8002-8FDB9B2D9C2F}" type="presOf" srcId="{FE38413F-5C14-4A68-A629-F6988FD9D65A}" destId="{1A215C86-5850-4D2D-8410-6CDAA10A4D8C}" srcOrd="0" destOrd="0" presId="urn:microsoft.com/office/officeart/2005/8/layout/cycle6"/>
    <dgm:cxn modelId="{03C86F40-11D7-4747-8071-2CEDA0BA6E77}" type="presOf" srcId="{3D063127-241F-41EF-9190-CF3D86C619E9}" destId="{9A31016F-3732-4268-9B5F-7729623535AE}" srcOrd="0" destOrd="0" presId="urn:microsoft.com/office/officeart/2005/8/layout/cycle6"/>
    <dgm:cxn modelId="{5A7B9C49-215B-4EAF-91A1-482611A8F6B2}" type="presOf" srcId="{9E37DD29-A80A-4CBB-9923-B6CBE6112A1B}" destId="{A0FB3C2C-C771-4574-8668-EE60E9248C14}" srcOrd="0" destOrd="0" presId="urn:microsoft.com/office/officeart/2005/8/layout/cycle6"/>
    <dgm:cxn modelId="{F9853354-4925-4C05-9AE6-508A21D6F41F}" srcId="{8959B3D0-E821-42D4-8327-0AE4C65A4A84}" destId="{FE38413F-5C14-4A68-A629-F6988FD9D65A}" srcOrd="0" destOrd="0" parTransId="{117BEFA0-3C32-4F6D-B128-AB7FC55F53D2}" sibTransId="{E2270204-8DC1-4800-AF03-D1DF90D26FAB}"/>
    <dgm:cxn modelId="{26B36883-E200-4D90-BE88-500F346910B5}" type="presOf" srcId="{45EE8CA9-5164-48B7-BDE1-3E99595C4BD1}" destId="{81BEE1B8-07A8-408B-BB5A-ADD5F261F684}" srcOrd="0" destOrd="0" presId="urn:microsoft.com/office/officeart/2005/8/layout/cycle6"/>
    <dgm:cxn modelId="{9A43199C-FF8A-4A66-B581-1E2F07D96825}" type="presOf" srcId="{8959B3D0-E821-42D4-8327-0AE4C65A4A84}" destId="{2B314DF6-3026-4D2A-A616-56FF9C718B43}" srcOrd="0" destOrd="0" presId="urn:microsoft.com/office/officeart/2005/8/layout/cycle6"/>
    <dgm:cxn modelId="{030012A4-5574-4FBF-8858-F43F71D2D096}" srcId="{8959B3D0-E821-42D4-8327-0AE4C65A4A84}" destId="{F590F6BA-2E30-47E8-ABEB-91D5737F5359}" srcOrd="3" destOrd="0" parTransId="{B450CFAA-6741-413D-89BF-AF3E1A26D5EB}" sibTransId="{3D063127-241F-41EF-9190-CF3D86C619E9}"/>
    <dgm:cxn modelId="{FA966EB4-E1CF-4EE9-9D5C-49D9A590B865}" srcId="{8959B3D0-E821-42D4-8327-0AE4C65A4A84}" destId="{8EDF8E7C-1AB5-46C2-8D9F-9CC5CD9AF823}" srcOrd="4" destOrd="0" parTransId="{DCC495B5-CCF6-476A-854D-8FA24509AA0B}" sibTransId="{7A6E9B9C-3AC9-4175-B645-D4EB0A76D6D9}"/>
    <dgm:cxn modelId="{09EBAEC2-8F87-477C-B872-C86C1CB437D1}" type="presOf" srcId="{53B129F6-9CCB-41CE-A390-E543DECBC73F}" destId="{24A67EC4-E7AB-40B7-A740-FA6F6D9D6AFC}" srcOrd="0" destOrd="0" presId="urn:microsoft.com/office/officeart/2005/8/layout/cycle6"/>
    <dgm:cxn modelId="{E1D9CEC6-5803-44B9-90EC-7D3D503357BD}" srcId="{8959B3D0-E821-42D4-8327-0AE4C65A4A84}" destId="{A1B78383-FD0C-46F1-A400-A4404A37CAC6}" srcOrd="1" destOrd="0" parTransId="{D531F798-551E-4EF4-A7F5-DDEBDF778371}" sibTransId="{53B129F6-9CCB-41CE-A390-E543DECBC73F}"/>
    <dgm:cxn modelId="{096FA7CD-4EC8-4266-A61A-C6501186EA3A}" type="presOf" srcId="{8EDF8E7C-1AB5-46C2-8D9F-9CC5CD9AF823}" destId="{A72CD7F1-707F-448E-AD6A-79B7B40D56B8}" srcOrd="0" destOrd="0" presId="urn:microsoft.com/office/officeart/2005/8/layout/cycle6"/>
    <dgm:cxn modelId="{6563C6DC-20E7-416F-B432-A256FBD15118}" type="presOf" srcId="{F590F6BA-2E30-47E8-ABEB-91D5737F5359}" destId="{CF4BB9F0-47B2-4E8F-B69E-821008E2E8FF}" srcOrd="0" destOrd="0" presId="urn:microsoft.com/office/officeart/2005/8/layout/cycle6"/>
    <dgm:cxn modelId="{3968DDED-D8B0-4EA7-8D70-B51841D977F5}" type="presOf" srcId="{7A6E9B9C-3AC9-4175-B645-D4EB0A76D6D9}" destId="{315FAA72-DD86-464E-9CD9-0F3172C546D0}" srcOrd="0" destOrd="0" presId="urn:microsoft.com/office/officeart/2005/8/layout/cycle6"/>
    <dgm:cxn modelId="{B0E31AFD-8AB8-41B5-89D3-F526EF675B2D}" type="presOf" srcId="{E2270204-8DC1-4800-AF03-D1DF90D26FAB}" destId="{C2524CE3-381A-4B75-B3A8-83F91B358A1D}" srcOrd="0" destOrd="0" presId="urn:microsoft.com/office/officeart/2005/8/layout/cycle6"/>
    <dgm:cxn modelId="{A3DDBBAF-6A71-4460-A858-3FF7DA2A26AC}" type="presParOf" srcId="{2B314DF6-3026-4D2A-A616-56FF9C718B43}" destId="{1A215C86-5850-4D2D-8410-6CDAA10A4D8C}" srcOrd="0" destOrd="0" presId="urn:microsoft.com/office/officeart/2005/8/layout/cycle6"/>
    <dgm:cxn modelId="{2475A31E-4B80-4197-8090-CEBE53458315}" type="presParOf" srcId="{2B314DF6-3026-4D2A-A616-56FF9C718B43}" destId="{26D311CC-0A90-4D94-B973-AD175C7DEE2A}" srcOrd="1" destOrd="0" presId="urn:microsoft.com/office/officeart/2005/8/layout/cycle6"/>
    <dgm:cxn modelId="{D6455965-B7E5-4525-94BD-3FE26934A463}" type="presParOf" srcId="{2B314DF6-3026-4D2A-A616-56FF9C718B43}" destId="{C2524CE3-381A-4B75-B3A8-83F91B358A1D}" srcOrd="2" destOrd="0" presId="urn:microsoft.com/office/officeart/2005/8/layout/cycle6"/>
    <dgm:cxn modelId="{F0837B9C-9968-46DB-AAE4-C4E2495EAC0C}" type="presParOf" srcId="{2B314DF6-3026-4D2A-A616-56FF9C718B43}" destId="{77BDDB21-E02E-40F0-BCAD-9ADED7E58388}" srcOrd="3" destOrd="0" presId="urn:microsoft.com/office/officeart/2005/8/layout/cycle6"/>
    <dgm:cxn modelId="{662D5FA5-BAE7-4880-8D38-DE4928909852}" type="presParOf" srcId="{2B314DF6-3026-4D2A-A616-56FF9C718B43}" destId="{5744E6A9-0DD4-4664-8540-30B66DDF3479}" srcOrd="4" destOrd="0" presId="urn:microsoft.com/office/officeart/2005/8/layout/cycle6"/>
    <dgm:cxn modelId="{DEB4BAC6-F6AB-4DA2-AF50-4948490309E1}" type="presParOf" srcId="{2B314DF6-3026-4D2A-A616-56FF9C718B43}" destId="{24A67EC4-E7AB-40B7-A740-FA6F6D9D6AFC}" srcOrd="5" destOrd="0" presId="urn:microsoft.com/office/officeart/2005/8/layout/cycle6"/>
    <dgm:cxn modelId="{0133CF8E-B544-43B3-90C7-FE09601CADC5}" type="presParOf" srcId="{2B314DF6-3026-4D2A-A616-56FF9C718B43}" destId="{A0FB3C2C-C771-4574-8668-EE60E9248C14}" srcOrd="6" destOrd="0" presId="urn:microsoft.com/office/officeart/2005/8/layout/cycle6"/>
    <dgm:cxn modelId="{C4045F7B-5AAA-4A7B-8FBD-73F67B7DDCA9}" type="presParOf" srcId="{2B314DF6-3026-4D2A-A616-56FF9C718B43}" destId="{11193445-D336-404B-8781-AD1E6D95310E}" srcOrd="7" destOrd="0" presId="urn:microsoft.com/office/officeart/2005/8/layout/cycle6"/>
    <dgm:cxn modelId="{3B8FB2EB-B3E9-4629-A9B9-485B98902A9E}" type="presParOf" srcId="{2B314DF6-3026-4D2A-A616-56FF9C718B43}" destId="{81BEE1B8-07A8-408B-BB5A-ADD5F261F684}" srcOrd="8" destOrd="0" presId="urn:microsoft.com/office/officeart/2005/8/layout/cycle6"/>
    <dgm:cxn modelId="{414C93B6-AEF1-4017-8259-87BA96D26219}" type="presParOf" srcId="{2B314DF6-3026-4D2A-A616-56FF9C718B43}" destId="{CF4BB9F0-47B2-4E8F-B69E-821008E2E8FF}" srcOrd="9" destOrd="0" presId="urn:microsoft.com/office/officeart/2005/8/layout/cycle6"/>
    <dgm:cxn modelId="{B948F0BA-EDDF-46A6-BEE6-BE21778C44DB}" type="presParOf" srcId="{2B314DF6-3026-4D2A-A616-56FF9C718B43}" destId="{DB4CCD60-B793-4C39-AB57-AA4E165BD400}" srcOrd="10" destOrd="0" presId="urn:microsoft.com/office/officeart/2005/8/layout/cycle6"/>
    <dgm:cxn modelId="{5F497DC7-5A20-4C56-89B4-1D898C35B84B}" type="presParOf" srcId="{2B314DF6-3026-4D2A-A616-56FF9C718B43}" destId="{9A31016F-3732-4268-9B5F-7729623535AE}" srcOrd="11" destOrd="0" presId="urn:microsoft.com/office/officeart/2005/8/layout/cycle6"/>
    <dgm:cxn modelId="{DEE0AF2E-8B6F-4CC7-BE90-B333B720319A}" type="presParOf" srcId="{2B314DF6-3026-4D2A-A616-56FF9C718B43}" destId="{A72CD7F1-707F-448E-AD6A-79B7B40D56B8}" srcOrd="12" destOrd="0" presId="urn:microsoft.com/office/officeart/2005/8/layout/cycle6"/>
    <dgm:cxn modelId="{9F383E35-455B-49C4-8352-85644F560AAD}" type="presParOf" srcId="{2B314DF6-3026-4D2A-A616-56FF9C718B43}" destId="{20E20F9E-2DB4-44D8-932C-566076593098}" srcOrd="13" destOrd="0" presId="urn:microsoft.com/office/officeart/2005/8/layout/cycle6"/>
    <dgm:cxn modelId="{D980BD7F-D427-4D5C-8FE2-EE6A6A9E7A08}" type="presParOf" srcId="{2B314DF6-3026-4D2A-A616-56FF9C718B43}" destId="{315FAA72-DD86-464E-9CD9-0F3172C546D0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AF6A44-E076-486B-816C-6269C5EBCA21}">
      <dsp:nvSpPr>
        <dsp:cNvPr id="0" name=""/>
        <dsp:cNvSpPr/>
      </dsp:nvSpPr>
      <dsp:spPr>
        <a:xfrm>
          <a:off x="0" y="186124"/>
          <a:ext cx="7566499" cy="6608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Prévision des rentrées et sorties de fonds</a:t>
          </a:r>
        </a:p>
      </dsp:txBody>
      <dsp:txXfrm>
        <a:off x="32262" y="218386"/>
        <a:ext cx="7501975" cy="596373"/>
      </dsp:txXfrm>
    </dsp:sp>
    <dsp:sp modelId="{73E7D981-A7AD-43A0-88C0-51D1E8B0E301}">
      <dsp:nvSpPr>
        <dsp:cNvPr id="0" name=""/>
        <dsp:cNvSpPr/>
      </dsp:nvSpPr>
      <dsp:spPr>
        <a:xfrm>
          <a:off x="0" y="847021"/>
          <a:ext cx="7566499" cy="5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23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400" kern="1200" dirty="0"/>
            <a:t>Assurer la solvabilité de L’entreprise à court terme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CA" sz="1400" kern="1200" dirty="0"/>
        </a:p>
      </dsp:txBody>
      <dsp:txXfrm>
        <a:off x="0" y="847021"/>
        <a:ext cx="7566499" cy="584640"/>
      </dsp:txXfrm>
    </dsp:sp>
    <dsp:sp modelId="{EC03600A-CFA8-45A9-B011-4A5256E4EC9A}">
      <dsp:nvSpPr>
        <dsp:cNvPr id="0" name=""/>
        <dsp:cNvSpPr/>
      </dsp:nvSpPr>
      <dsp:spPr>
        <a:xfrm>
          <a:off x="0" y="1431662"/>
          <a:ext cx="7566499" cy="6608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Étude de l’impact des politiques sur les flux monétaires</a:t>
          </a:r>
        </a:p>
      </dsp:txBody>
      <dsp:txXfrm>
        <a:off x="32262" y="1463924"/>
        <a:ext cx="7501975" cy="596373"/>
      </dsp:txXfrm>
    </dsp:sp>
    <dsp:sp modelId="{37210FB3-AB8C-41D2-9156-4030C951F6B7}">
      <dsp:nvSpPr>
        <dsp:cNvPr id="0" name=""/>
        <dsp:cNvSpPr/>
      </dsp:nvSpPr>
      <dsp:spPr>
        <a:xfrm>
          <a:off x="0" y="2092560"/>
          <a:ext cx="7566499" cy="5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23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400" kern="1200" dirty="0"/>
            <a:t>Politique d’achat et paiement des fournisseurs (C/F), Politique de crédit envers les comptes clients (C/C), Politique de gestion des stocks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CA" sz="1400" kern="1200" dirty="0"/>
        </a:p>
      </dsp:txBody>
      <dsp:txXfrm>
        <a:off x="0" y="2092560"/>
        <a:ext cx="7566499" cy="584640"/>
      </dsp:txXfrm>
    </dsp:sp>
    <dsp:sp modelId="{7B22EEF2-F73C-41F0-8ED2-D276D1A8764F}">
      <dsp:nvSpPr>
        <dsp:cNvPr id="0" name=""/>
        <dsp:cNvSpPr/>
      </dsp:nvSpPr>
      <dsp:spPr>
        <a:xfrm>
          <a:off x="0" y="2677200"/>
          <a:ext cx="7566499" cy="6608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Décisions de placements et emprunts à court terme</a:t>
          </a:r>
        </a:p>
      </dsp:txBody>
      <dsp:txXfrm>
        <a:off x="32262" y="2709462"/>
        <a:ext cx="7501975" cy="596373"/>
      </dsp:txXfrm>
    </dsp:sp>
    <dsp:sp modelId="{40187E6B-314F-4670-9A9A-EF91A2B6148A}">
      <dsp:nvSpPr>
        <dsp:cNvPr id="0" name=""/>
        <dsp:cNvSpPr/>
      </dsp:nvSpPr>
      <dsp:spPr>
        <a:xfrm>
          <a:off x="0" y="3338098"/>
          <a:ext cx="7566499" cy="5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23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400" kern="1200" dirty="0"/>
            <a:t>Utilisation optimale de l’encaisse (faire fructifier $)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CA" sz="1400" kern="1200" dirty="0"/>
        </a:p>
      </dsp:txBody>
      <dsp:txXfrm>
        <a:off x="0" y="3338098"/>
        <a:ext cx="7566499" cy="584640"/>
      </dsp:txXfrm>
    </dsp:sp>
    <dsp:sp modelId="{333D134A-483D-4911-8AD6-C47D072FE552}">
      <dsp:nvSpPr>
        <dsp:cNvPr id="0" name=""/>
        <dsp:cNvSpPr/>
      </dsp:nvSpPr>
      <dsp:spPr>
        <a:xfrm>
          <a:off x="0" y="3922738"/>
          <a:ext cx="7566499" cy="66089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800" kern="1200" dirty="0"/>
            <a:t>Principal outil : Budget de caisse</a:t>
          </a:r>
        </a:p>
      </dsp:txBody>
      <dsp:txXfrm>
        <a:off x="32262" y="3955000"/>
        <a:ext cx="7501975" cy="596373"/>
      </dsp:txXfrm>
    </dsp:sp>
    <dsp:sp modelId="{B4A8240A-B957-4A04-B74D-39D4F0D865F6}">
      <dsp:nvSpPr>
        <dsp:cNvPr id="0" name=""/>
        <dsp:cNvSpPr/>
      </dsp:nvSpPr>
      <dsp:spPr>
        <a:xfrm>
          <a:off x="0" y="4583636"/>
          <a:ext cx="7566499" cy="584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0236" tIns="17780" rIns="99568" bIns="1778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fr-CA" sz="1400" kern="1200" dirty="0"/>
        </a:p>
      </dsp:txBody>
      <dsp:txXfrm>
        <a:off x="0" y="4583636"/>
        <a:ext cx="7566499" cy="584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36366-74CE-4A78-B94F-541A87D1E2A7}">
      <dsp:nvSpPr>
        <dsp:cNvPr id="0" name=""/>
        <dsp:cNvSpPr/>
      </dsp:nvSpPr>
      <dsp:spPr>
        <a:xfrm>
          <a:off x="0" y="18346"/>
          <a:ext cx="9764951" cy="1067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Définition</a:t>
          </a:r>
          <a:endParaRPr lang="fr-CA" sz="2000" kern="1200" dirty="0"/>
        </a:p>
      </dsp:txBody>
      <dsp:txXfrm>
        <a:off x="52089" y="70435"/>
        <a:ext cx="9660773" cy="962862"/>
      </dsp:txXfrm>
    </dsp:sp>
    <dsp:sp modelId="{152F6060-EB07-48AF-AF67-D2795DC813DF}">
      <dsp:nvSpPr>
        <dsp:cNvPr id="0" name=""/>
        <dsp:cNvSpPr/>
      </dsp:nvSpPr>
      <dsp:spPr>
        <a:xfrm>
          <a:off x="0" y="1085386"/>
          <a:ext cx="9764951" cy="943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03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Il comprend les prévisions de rentrées et de sorties de fonds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Représente les mouvements $</a:t>
          </a:r>
        </a:p>
      </dsp:txBody>
      <dsp:txXfrm>
        <a:off x="0" y="1085386"/>
        <a:ext cx="9764951" cy="943920"/>
      </dsp:txXfrm>
    </dsp:sp>
    <dsp:sp modelId="{333D134A-483D-4911-8AD6-C47D072FE552}">
      <dsp:nvSpPr>
        <dsp:cNvPr id="0" name=""/>
        <dsp:cNvSpPr/>
      </dsp:nvSpPr>
      <dsp:spPr>
        <a:xfrm>
          <a:off x="0" y="2029306"/>
          <a:ext cx="9764951" cy="10670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800" kern="1200" dirty="0"/>
            <a:t>Utilité</a:t>
          </a:r>
        </a:p>
      </dsp:txBody>
      <dsp:txXfrm>
        <a:off x="52089" y="2081395"/>
        <a:ext cx="9660773" cy="962862"/>
      </dsp:txXfrm>
    </dsp:sp>
    <dsp:sp modelId="{B4A8240A-B957-4A04-B74D-39D4F0D865F6}">
      <dsp:nvSpPr>
        <dsp:cNvPr id="0" name=""/>
        <dsp:cNvSpPr/>
      </dsp:nvSpPr>
      <dsp:spPr>
        <a:xfrm>
          <a:off x="0" y="3096346"/>
          <a:ext cx="9764951" cy="1651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0037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Préciser les besoins en liquidités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Planifier les débours importants en tenant compte des recettes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Prévoir les modes de financement de l’entreprise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2000" kern="1200" dirty="0"/>
            <a:t>Fournir des informations nécessaires à la préparation de l’état de la situation financière et des résultats prévisionnels (charge d’intérêt, montant de l’emprunt)</a:t>
          </a:r>
        </a:p>
      </dsp:txBody>
      <dsp:txXfrm>
        <a:off x="0" y="3096346"/>
        <a:ext cx="9764951" cy="16518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15C86-5850-4D2D-8410-6CDAA10A4D8C}">
      <dsp:nvSpPr>
        <dsp:cNvPr id="0" name=""/>
        <dsp:cNvSpPr/>
      </dsp:nvSpPr>
      <dsp:spPr>
        <a:xfrm>
          <a:off x="2949246" y="-92791"/>
          <a:ext cx="1884172" cy="9336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Ventes à crédit</a:t>
          </a:r>
        </a:p>
      </dsp:txBody>
      <dsp:txXfrm>
        <a:off x="2994823" y="-47214"/>
        <a:ext cx="1793018" cy="842496"/>
      </dsp:txXfrm>
    </dsp:sp>
    <dsp:sp modelId="{C2524CE3-381A-4B75-B3A8-83F91B358A1D}">
      <dsp:nvSpPr>
        <dsp:cNvPr id="0" name=""/>
        <dsp:cNvSpPr/>
      </dsp:nvSpPr>
      <dsp:spPr>
        <a:xfrm>
          <a:off x="2185447" y="374034"/>
          <a:ext cx="3411769" cy="3411769"/>
        </a:xfrm>
        <a:custGeom>
          <a:avLst/>
          <a:gdLst/>
          <a:ahLst/>
          <a:cxnLst/>
          <a:rect l="0" t="0" r="0" b="0"/>
          <a:pathLst>
            <a:path>
              <a:moveTo>
                <a:pt x="2651232" y="285898"/>
              </a:moveTo>
              <a:arcTo wR="1705884" hR="1705884" stAng="18219207" swAng="774969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BDDB21-E02E-40F0-BCAD-9ADED7E58388}">
      <dsp:nvSpPr>
        <dsp:cNvPr id="0" name=""/>
        <dsp:cNvSpPr/>
      </dsp:nvSpPr>
      <dsp:spPr>
        <a:xfrm>
          <a:off x="4447947" y="910015"/>
          <a:ext cx="2131554" cy="128551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Recouvrement des comptes clients</a:t>
          </a:r>
        </a:p>
      </dsp:txBody>
      <dsp:txXfrm>
        <a:off x="4510700" y="972768"/>
        <a:ext cx="2006048" cy="1160005"/>
      </dsp:txXfrm>
    </dsp:sp>
    <dsp:sp modelId="{24A67EC4-E7AB-40B7-A740-FA6F6D9D6AFC}">
      <dsp:nvSpPr>
        <dsp:cNvPr id="0" name=""/>
        <dsp:cNvSpPr/>
      </dsp:nvSpPr>
      <dsp:spPr>
        <a:xfrm>
          <a:off x="2191345" y="672423"/>
          <a:ext cx="3411769" cy="3411769"/>
        </a:xfrm>
        <a:custGeom>
          <a:avLst/>
          <a:gdLst/>
          <a:ahLst/>
          <a:cxnLst/>
          <a:rect l="0" t="0" r="0" b="0"/>
          <a:pathLst>
            <a:path>
              <a:moveTo>
                <a:pt x="3402345" y="1526821"/>
              </a:moveTo>
              <a:arcTo wR="1705884" hR="1705884" stAng="21238480" swAng="73976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FB3C2C-C771-4574-8668-EE60E9248C14}">
      <dsp:nvSpPr>
        <dsp:cNvPr id="0" name=""/>
        <dsp:cNvSpPr/>
      </dsp:nvSpPr>
      <dsp:spPr>
        <a:xfrm>
          <a:off x="4167877" y="2569335"/>
          <a:ext cx="2183812" cy="126656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Achats à crédit</a:t>
          </a:r>
        </a:p>
      </dsp:txBody>
      <dsp:txXfrm>
        <a:off x="4229706" y="2631164"/>
        <a:ext cx="2060154" cy="1142907"/>
      </dsp:txXfrm>
    </dsp:sp>
    <dsp:sp modelId="{81BEE1B8-07A8-408B-BB5A-ADD5F261F684}">
      <dsp:nvSpPr>
        <dsp:cNvPr id="0" name=""/>
        <dsp:cNvSpPr/>
      </dsp:nvSpPr>
      <dsp:spPr>
        <a:xfrm>
          <a:off x="2107472" y="453717"/>
          <a:ext cx="3411769" cy="3411769"/>
        </a:xfrm>
        <a:custGeom>
          <a:avLst/>
          <a:gdLst/>
          <a:ahLst/>
          <a:cxnLst/>
          <a:rect l="0" t="0" r="0" b="0"/>
          <a:pathLst>
            <a:path>
              <a:moveTo>
                <a:pt x="2051786" y="3376332"/>
              </a:moveTo>
              <a:arcTo wR="1705884" hR="1705884" stAng="4698063" swAng="17594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4BB9F0-47B2-4E8F-B69E-821008E2E8FF}">
      <dsp:nvSpPr>
        <dsp:cNvPr id="0" name=""/>
        <dsp:cNvSpPr/>
      </dsp:nvSpPr>
      <dsp:spPr>
        <a:xfrm>
          <a:off x="1474893" y="2568331"/>
          <a:ext cx="1960496" cy="121439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Paiement des fournisseurs</a:t>
          </a:r>
        </a:p>
      </dsp:txBody>
      <dsp:txXfrm>
        <a:off x="1534175" y="2627613"/>
        <a:ext cx="1841932" cy="1095829"/>
      </dsp:txXfrm>
    </dsp:sp>
    <dsp:sp modelId="{9A31016F-3732-4268-9B5F-7729623535AE}">
      <dsp:nvSpPr>
        <dsp:cNvPr id="0" name=""/>
        <dsp:cNvSpPr/>
      </dsp:nvSpPr>
      <dsp:spPr>
        <a:xfrm>
          <a:off x="2151279" y="805328"/>
          <a:ext cx="3411769" cy="3411769"/>
        </a:xfrm>
        <a:custGeom>
          <a:avLst/>
          <a:gdLst/>
          <a:ahLst/>
          <a:cxnLst/>
          <a:rect l="0" t="0" r="0" b="0"/>
          <a:pathLst>
            <a:path>
              <a:moveTo>
                <a:pt x="824" y="1758926"/>
              </a:moveTo>
              <a:arcTo wR="1705884" hR="1705884" stAng="10693092" swAng="807583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2CD7F1-707F-448E-AD6A-79B7B40D56B8}">
      <dsp:nvSpPr>
        <dsp:cNvPr id="0" name=""/>
        <dsp:cNvSpPr/>
      </dsp:nvSpPr>
      <dsp:spPr>
        <a:xfrm>
          <a:off x="1181044" y="943611"/>
          <a:ext cx="2175789" cy="12183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dirty="0"/>
            <a:t>Paiement des salaires</a:t>
          </a:r>
        </a:p>
      </dsp:txBody>
      <dsp:txXfrm>
        <a:off x="1240517" y="1003084"/>
        <a:ext cx="2056843" cy="1099373"/>
      </dsp:txXfrm>
    </dsp:sp>
    <dsp:sp modelId="{315FAA72-DD86-464E-9CD9-0F3172C546D0}">
      <dsp:nvSpPr>
        <dsp:cNvPr id="0" name=""/>
        <dsp:cNvSpPr/>
      </dsp:nvSpPr>
      <dsp:spPr>
        <a:xfrm>
          <a:off x="2185447" y="374034"/>
          <a:ext cx="3411769" cy="3411769"/>
        </a:xfrm>
        <a:custGeom>
          <a:avLst/>
          <a:gdLst/>
          <a:ahLst/>
          <a:cxnLst/>
          <a:rect l="0" t="0" r="0" b="0"/>
          <a:pathLst>
            <a:path>
              <a:moveTo>
                <a:pt x="436458" y="566323"/>
              </a:moveTo>
              <a:arcTo wR="1705884" hR="1705884" stAng="13314855" swAng="865026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12C96-B694-458C-83D9-4CD8D45E1740}" type="datetimeFigureOut">
              <a:rPr lang="fr-CA" smtClean="0"/>
              <a:t>2022-09-15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486B6-8506-473D-AB60-83A4C04EC158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0276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CEE189-DCB1-1049-9962-7E6F1D83E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191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457200" y="719138"/>
            <a:ext cx="6400800" cy="36004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731521" y="4560570"/>
            <a:ext cx="5852160" cy="4320540"/>
          </a:xfrm>
          <a:prstGeom prst="rect">
            <a:avLst/>
          </a:prstGeom>
        </p:spPr>
        <p:txBody>
          <a:bodyPr lIns="95595" tIns="47798" rIns="95595" bIns="47798">
            <a:normAutofit/>
          </a:bodyPr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870A11-ED4F-46C5-B7EE-5AD4C7A3CD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8626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8C0F72-1F64-4051-B673-D0D3D5916B9B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45840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DA6A8B-D89A-46FD-832A-72A49CB14D7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0274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CEE189-DCB1-1049-9962-7E6F1D83E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9791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Durée du cycle</a:t>
            </a:r>
            <a:r>
              <a:rPr lang="fr-CA" baseline="0" dirty="0"/>
              <a:t> d’exploitation = temps entre le paiement aux fournisseurs et le recouvrement des comptes clients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CEE189-DCB1-1049-9962-7E6F1D83E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5364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7C4D86-81A6-4D81-95D5-98D0A4C21D5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71339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91FF39-8814-449B-B26D-65FA53F0F51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482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CD5195-1902-4767-8C76-8E4AD5278246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11207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82FD63-93D6-4CFD-922A-CCC0C9551F0F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" name="Espace réservé des commentaires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325174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1CEE189-DCB1-1049-9962-7E6F1D83EB3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10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33140D-A897-9E4C-97FA-B6FCD05D16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4456513"/>
            <a:ext cx="10519833" cy="564257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400"/>
              </a:lnSpc>
              <a:defRPr sz="4400" cap="all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071609"/>
            <a:ext cx="10519833" cy="610735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ts val="3333"/>
              </a:lnSpc>
              <a:buNone/>
              <a:defRPr sz="2933" b="1" cap="all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B207E-D0F7-EE4C-A0D7-C138DC5A8C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72000" y="-663847"/>
            <a:ext cx="6648001" cy="454381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7303A3-B2CF-BF44-82D6-123A40E6A9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8" y="6173855"/>
            <a:ext cx="10519835" cy="261964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2000"/>
              </a:lnSpc>
              <a:spcAft>
                <a:spcPts val="0"/>
              </a:spcAft>
              <a:buFontTx/>
              <a:buNone/>
              <a:defRPr sz="2000" b="1" cap="all" baseline="0">
                <a:solidFill>
                  <a:schemeClr val="tx2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INSÉRER DATE ICI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F193782-F7E9-4047-B2C0-EF491FB96043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1127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66C56-658F-6E4F-9A4C-3116BF0B3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F5E7EC10-615D-474D-B5C2-D46DC54D3EF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015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-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401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3236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-T GR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54CF4E9-7517-F244-BFC4-B931479FB9D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3555EF1-C69E-5647-8CB1-45C6C9E5D8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6D8488B-BA5C-0B49-95D3-D24211B71F1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133E1B-9815-7C4E-B057-197DB34136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8CFE0F-93DF-D141-BB17-37693D4AFB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0AF3B66-237E-5D48-9D18-155657C45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068DF36-F76C-4C18-A034-1A903F79096C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1436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-T BLE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E0F111-4F35-4F47-9BE0-A2D6F23AFD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D66412E-A17A-CE4A-BC01-376F482A59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2"/>
            <a:ext cx="10515600" cy="564257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B9FEE11-A085-C446-AB85-92AA7F0674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AF20EC2-0F57-F546-82B6-91B7B8042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587426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/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5CE6688-2DA5-7348-B0A8-267418703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930EC1-1943-3040-8605-A0FFBC74E3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46C28C2-5F95-E24E-9DB0-20B15BEDC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04000"/>
            <a:ext cx="10515600" cy="3913167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FDBF6F5-A7EF-489A-B878-01B5D7E0CB24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8629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-T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1BE7250-1743-6049-B191-A89CE4BCE1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A7120-A7F2-5145-98AE-92CA98DAA0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009AC2A-707B-1D4B-92B9-A334E9B67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A1A4A-A776-CC4D-81BF-BA39E8592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1A282D4-E151-BE47-9965-8DB2B0B814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9395A755-A1C6-5444-8DDD-01A8F25C476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579F7C-4942-2B4A-A5A9-F86D83AF2B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1F49E2A-724E-4264-8CF3-C01F99C7F2EB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96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B3ABAA1-A0DB-BB45-9DA8-754B573383A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F53DF94-7A73-7041-8D6F-AFA3B277EA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693E38-AE8B-DB4C-B7ED-1BB819505D7F}"/>
              </a:ext>
            </a:extLst>
          </p:cNvPr>
          <p:cNvSpPr/>
          <p:nvPr userDrawn="1"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BB38210-680E-CB4D-B399-931BB3F06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3C08F8-ABA6-B04C-AAA6-1B9D8C6D47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676E49E-284F-8646-B4AD-709D54663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5160" y="1892300"/>
            <a:ext cx="9841680" cy="407588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F6FBD5F-DBAE-4CCB-95AF-1939210EC83C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325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S-T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587CC3-B385-2945-A9CA-61470F04804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3EC8EF-7CA8-8741-A183-787F069286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98566"/>
            <a:ext cx="10515600" cy="564257"/>
          </a:xfrm>
          <a:prstGeom prst="rect">
            <a:avLst/>
          </a:prstGeom>
        </p:spPr>
        <p:txBody>
          <a:bodyPr/>
          <a:lstStyle>
            <a:lvl1pPr>
              <a:lnSpc>
                <a:spcPts val="4400"/>
              </a:lnSpc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1E2A1-DD6F-3343-9A70-CA94AF8A8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587427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DB5871F0-3B49-B540-A3C5-A634C1E9113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D376BBE-4142-8A44-B7CF-653D304BB496}"/>
              </a:ext>
            </a:extLst>
          </p:cNvPr>
          <p:cNvSpPr txBox="1">
            <a:spLocks/>
          </p:cNvSpPr>
          <p:nvPr userDrawn="1"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BC598D-28DE-FD47-BB87-8371BC2292C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3D5F411-5439-4304-965D-BDD6781D6991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888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NO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FB326BD-7D0B-F343-AB49-EC6A16EBB5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51F25-6689-5645-B9A7-6B170AF799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E7836A4-2567-554F-9370-6D8EC6ACDA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F9697C0D-E4ED-AC49-B8E4-4815F735EE0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5B2410F-9028-EC49-8C02-72C40E933634}"/>
              </a:ext>
            </a:extLst>
          </p:cNvPr>
          <p:cNvSpPr txBox="1">
            <a:spLocks/>
          </p:cNvSpPr>
          <p:nvPr userDrawn="1"/>
        </p:nvSpPr>
        <p:spPr>
          <a:xfrm>
            <a:off x="838200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defPPr>
              <a:defRPr lang="en-US"/>
            </a:defPPr>
            <a:lvl1pPr marL="0" algn="ctr" defTabSz="685800" rtl="0" eaLnBrk="1" latinLnBrk="0" hangingPunct="1">
              <a:defRPr sz="600" b="1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9CCF2F-7E28-FB4D-B276-4AB2C7C2895F}" type="slidenum">
              <a:rPr lang="en-US" sz="800" smtClean="0"/>
              <a:pPr/>
              <a:t>‹N°›</a:t>
            </a:fld>
            <a:endParaRPr lang="en-CA" sz="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7F969CA-3995-AF49-95E6-B713621780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4"/>
            <a:ext cx="1845289" cy="126122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A308B96-DF7F-0B45-ACE9-2B2C7ECE93B9}"/>
              </a:ext>
            </a:extLst>
          </p:cNvPr>
          <p:cNvSpPr/>
          <p:nvPr userDrawn="1"/>
        </p:nvSpPr>
        <p:spPr>
          <a:xfrm>
            <a:off x="838201" y="1439335"/>
            <a:ext cx="10519833" cy="46676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6406D7-AC5B-E04F-8654-B634E5F7F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4288" y="1892300"/>
            <a:ext cx="10203425" cy="40758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581CB16-AE9C-4487-9D8A-2E90221DEB1A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8777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PARATEUR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64108"/>
            <a:ext cx="10515600" cy="5983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543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PAR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2D8F26-9E03-664C-8AAB-AF0958D64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F241E6-23D7-5648-9D8F-D08E15891FA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FC03651-8682-3F42-A2A7-4262A3A84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9553" y="3146462"/>
            <a:ext cx="8608481" cy="547159"/>
          </a:xfrm>
          <a:prstGeom prst="rect">
            <a:avLst/>
          </a:prstGeom>
        </p:spPr>
        <p:txBody>
          <a:bodyPr anchor="b"/>
          <a:lstStyle>
            <a:lvl1pPr>
              <a:lnSpc>
                <a:spcPts val="4267"/>
              </a:lnSpc>
              <a:defRPr sz="4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49553" y="3720608"/>
            <a:ext cx="8608481" cy="1500187"/>
          </a:xfrm>
        </p:spPr>
        <p:txBody>
          <a:bodyPr/>
          <a:lstStyle>
            <a:lvl1pPr marL="0" indent="0">
              <a:lnSpc>
                <a:spcPts val="2400"/>
              </a:lnSpc>
              <a:buNone/>
              <a:defRPr sz="2400" baseline="0">
                <a:solidFill>
                  <a:schemeClr val="accent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E3357C-4D3F-8244-B7EA-1EBF31E1BA5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9499FB-983B-9C4D-8D46-44FE6804CF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5072" y="2709000"/>
            <a:ext cx="1440000" cy="1440000"/>
          </a:xfrm>
          <a:ln w="127000">
            <a:solidFill>
              <a:schemeClr val="bg2"/>
            </a:solidFill>
            <a:miter lim="800000"/>
          </a:ln>
        </p:spPr>
        <p:txBody>
          <a:bodyPr anchor="ctr" anchorCtr="0"/>
          <a:lstStyle>
            <a:lvl1pPr marL="0" indent="0" algn="ctr">
              <a:lnSpc>
                <a:spcPts val="8000"/>
              </a:lnSpc>
              <a:buFontTx/>
              <a:buNone/>
              <a:defRPr sz="8000" b="1" i="0" cap="all" baseline="0">
                <a:solidFill>
                  <a:schemeClr val="accent1"/>
                </a:solidFill>
              </a:defRPr>
            </a:lvl1pPr>
            <a:lvl2pPr marL="357707" indent="0">
              <a:buFontTx/>
              <a:buNone/>
              <a:defRPr/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BF1D149-3798-4548-99DC-DED04461776F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8198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 err="1"/>
              <a:t>Thème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1"/>
            <a:ext cx="10515600" cy="4224867"/>
          </a:xfrm>
        </p:spPr>
        <p:txBody>
          <a:bodyPr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20283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MATE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E321BE2-EF31-D64A-82BD-0664B1A62019}"/>
              </a:ext>
            </a:extLst>
          </p:cNvPr>
          <p:cNvSpPr/>
          <p:nvPr userDrawn="1"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76312A-B842-134B-A740-6EDAC5FF26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4885" y="1892301"/>
            <a:ext cx="7418915" cy="4224867"/>
          </a:xfrm>
        </p:spPr>
        <p:txBody>
          <a:bodyPr lIns="90000" tIns="90000" rIns="9000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99C79-3B5F-3740-AD53-C50E5B9B20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1" y="4650318"/>
            <a:ext cx="3096684" cy="1466849"/>
          </a:xfrm>
        </p:spPr>
        <p:txBody>
          <a:bodyPr>
            <a:noAutofit/>
          </a:bodyPr>
          <a:lstStyle>
            <a:lvl1pPr marL="0" indent="0">
              <a:lnSpc>
                <a:spcPts val="2133"/>
              </a:lnSpc>
              <a:spcAft>
                <a:spcPts val="0"/>
              </a:spcAft>
              <a:buFontTx/>
              <a:buNone/>
              <a:defRPr sz="1867" b="1" cap="all" baseline="0">
                <a:solidFill>
                  <a:schemeClr val="accent1"/>
                </a:solidFill>
              </a:defRPr>
            </a:lvl1pPr>
            <a:lvl2pPr marL="0" indent="0">
              <a:lnSpc>
                <a:spcPts val="1600"/>
              </a:lnSpc>
              <a:spcAft>
                <a:spcPts val="0"/>
              </a:spcAft>
              <a:buFontTx/>
              <a:buNone/>
              <a:tabLst/>
              <a:defRPr sz="1333" baseline="0">
                <a:solidFill>
                  <a:schemeClr val="accent1"/>
                </a:solidFill>
              </a:defRPr>
            </a:lvl2pPr>
            <a:lvl3pPr marL="715415" indent="0">
              <a:buFontTx/>
              <a:buNone/>
              <a:defRPr/>
            </a:lvl3pPr>
            <a:lvl4pPr marL="954592" indent="0">
              <a:buFontTx/>
              <a:buNone/>
              <a:defRPr/>
            </a:lvl4pPr>
            <a:lvl5pPr marL="1193770" indent="0">
              <a:buFontTx/>
              <a:buNone/>
              <a:defRPr/>
            </a:lvl5pPr>
          </a:lstStyle>
          <a:p>
            <a:pPr lvl="0"/>
            <a:r>
              <a:rPr lang="en-US" dirty="0"/>
              <a:t>Nom du </a:t>
            </a:r>
            <a:r>
              <a:rPr lang="en-US" dirty="0" err="1"/>
              <a:t>formateur</a:t>
            </a:r>
            <a:endParaRPr lang="en-US" dirty="0"/>
          </a:p>
          <a:p>
            <a:pPr lvl="1"/>
            <a:r>
              <a:rPr lang="en-US" dirty="0" err="1"/>
              <a:t>Titre</a:t>
            </a:r>
            <a:r>
              <a:rPr lang="en-US" dirty="0"/>
              <a:t> du </a:t>
            </a:r>
            <a:r>
              <a:rPr lang="en-US" dirty="0" err="1"/>
              <a:t>formateur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01C1062-5879-BD4A-8AFB-140706DA57F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892301"/>
            <a:ext cx="2428940" cy="2428940"/>
          </a:xfrm>
          <a:solidFill>
            <a:schemeClr val="accent4">
              <a:lumMod val="20000"/>
              <a:lumOff val="80000"/>
            </a:schemeClr>
          </a:solidFill>
          <a:ln w="127000">
            <a:noFill/>
            <a:miter lim="800000"/>
          </a:ln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333"/>
            </a:lvl1pPr>
          </a:lstStyle>
          <a:p>
            <a:r>
              <a:rPr lang="en-US" dirty="0"/>
              <a:t>INSÉRER PHOTO ICI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FORMATEUR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0687809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E0E96A-F036-6146-BE04-0600232E3FC0}"/>
              </a:ext>
            </a:extLst>
          </p:cNvPr>
          <p:cNvSpPr/>
          <p:nvPr userDrawn="1"/>
        </p:nvSpPr>
        <p:spPr>
          <a:xfrm>
            <a:off x="0" y="1892302"/>
            <a:ext cx="12192000" cy="4224865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44DF82-E45D-7044-933A-7AF5218BA5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7593" b="10803"/>
          <a:stretch/>
        </p:blipFill>
        <p:spPr>
          <a:xfrm>
            <a:off x="0" y="1892301"/>
            <a:ext cx="12192000" cy="422486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2FC8DF6-AB48-CF49-8356-B76E4D1F0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2302"/>
            <a:ext cx="10515600" cy="4224865"/>
          </a:xfrm>
        </p:spPr>
        <p:txBody>
          <a:bodyPr lIns="0" tIns="90000" rIns="0" bIns="90000" anchor="ctr" anchorCtr="0">
            <a:normAutofit/>
          </a:bodyPr>
          <a:lstStyle>
            <a:lvl1pPr marL="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>
                <a:solidFill>
                  <a:schemeClr val="bg2"/>
                </a:solidFill>
              </a:defRPr>
            </a:lvl1pPr>
            <a:lvl2pPr marL="357707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2pPr>
            <a:lvl3pPr marL="715415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3pPr>
            <a:lvl4pPr marL="954592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4pPr>
            <a:lvl5pPr marL="1193770" indent="0">
              <a:lnSpc>
                <a:spcPts val="2667"/>
              </a:lnSpc>
              <a:spcAft>
                <a:spcPts val="1333"/>
              </a:spcAft>
              <a:buFontTx/>
              <a:buNone/>
              <a:defRPr sz="2133" baseline="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11864B4-FF4D-F74D-AE3F-64E77F448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08977904-AFCB-C14E-8C77-D19C03460B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82601"/>
            <a:ext cx="10515600" cy="4318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400" b="1" i="0" cap="all" baseline="0"/>
            </a:lvl1pPr>
          </a:lstStyle>
          <a:p>
            <a:pPr lvl="0"/>
            <a:r>
              <a:rPr lang="en-US" dirty="0"/>
              <a:t>DESCRIPTION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A5B4CAF-7D56-CC46-8426-C252642A84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806401"/>
            <a:ext cx="10515600" cy="397545"/>
          </a:xfrm>
        </p:spPr>
        <p:txBody>
          <a:bodyPr>
            <a:spAutoFit/>
          </a:bodyPr>
          <a:lstStyle>
            <a:lvl1pPr marL="0" indent="0">
              <a:lnSpc>
                <a:spcPts val="3067"/>
              </a:lnSpc>
              <a:spcAft>
                <a:spcPts val="0"/>
              </a:spcAft>
              <a:buNone/>
              <a:defRPr sz="2667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23770281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D5B8E79-D955-9148-9F3F-039F8FA59E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90041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9BA5AE-588B-FB45-AD5F-33F4C4D7690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7A44F5-E098-DD43-9CBB-82806D082AD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4">
            <a:extLst>
              <a:ext uri="{FF2B5EF4-FFF2-40B4-BE49-F238E27FC236}">
                <a16:creationId xmlns:a16="http://schemas.microsoft.com/office/drawing/2014/main" id="{ADE03F80-98FF-8E41-B9B1-1ED8A52B332E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836084" y="2245865"/>
            <a:ext cx="10519833" cy="1897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11733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hec.ca/</a:t>
            </a:r>
            <a:r>
              <a:rPr lang="fr-CA" sz="11733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ed</a:t>
            </a:r>
            <a:endParaRPr lang="fr-CA" sz="11733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FD7FA95-A771-4899-985E-C75656BB3804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chemeClr val="bg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chemeClr val="bg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6641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1979" y="1213418"/>
            <a:ext cx="10400421" cy="564257"/>
          </a:xfrm>
          <a:prstGeom prst="rect">
            <a:avLst/>
          </a:prstGeom>
        </p:spPr>
        <p:txBody>
          <a:bodyPr/>
          <a:lstStyle/>
          <a:p>
            <a:r>
              <a:rPr lang="fr-CA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93344" y="2125017"/>
            <a:ext cx="10389056" cy="40006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CA"/>
              <a:t>Cliquez pour 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19287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7417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207683" y="1087401"/>
            <a:ext cx="3425451" cy="1057469"/>
          </a:xfrm>
          <a:prstGeom prst="rect">
            <a:avLst/>
          </a:prstGeo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fr-CA" dirty="0"/>
              <a:t>Cliquez et modifiez </a:t>
            </a:r>
            <a:br>
              <a:rPr lang="fr-CA" dirty="0"/>
            </a:br>
            <a:r>
              <a:rPr lang="fr-CA" dirty="0"/>
              <a:t>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1245213"/>
            <a:ext cx="6815667" cy="4880423"/>
          </a:xfrm>
          <a:prstGeom prst="rect">
            <a:avLst/>
          </a:prstGeo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195233" y="2228929"/>
            <a:ext cx="3425451" cy="38967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548626" indent="0">
              <a:buNone/>
              <a:defRPr sz="1440"/>
            </a:lvl2pPr>
            <a:lvl3pPr marL="1097253" indent="0">
              <a:buNone/>
              <a:defRPr sz="1200"/>
            </a:lvl3pPr>
            <a:lvl4pPr marL="1645879" indent="0">
              <a:buNone/>
              <a:defRPr sz="1080"/>
            </a:lvl4pPr>
            <a:lvl5pPr marL="2194505" indent="0">
              <a:buNone/>
              <a:defRPr sz="1080"/>
            </a:lvl5pPr>
            <a:lvl6pPr marL="2743131" indent="0">
              <a:buNone/>
              <a:defRPr sz="1080"/>
            </a:lvl6pPr>
            <a:lvl7pPr marL="3291758" indent="0">
              <a:buNone/>
              <a:defRPr sz="1080"/>
            </a:lvl7pPr>
            <a:lvl8pPr marL="3840384" indent="0">
              <a:buNone/>
              <a:defRPr sz="1080"/>
            </a:lvl8pPr>
            <a:lvl9pPr marL="4389010" indent="0">
              <a:buNone/>
              <a:defRPr sz="108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916160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1979" y="1213418"/>
            <a:ext cx="10400421" cy="564257"/>
          </a:xfrm>
          <a:prstGeom prst="rect">
            <a:avLst/>
          </a:prstGeom>
        </p:spPr>
        <p:txBody>
          <a:bodyPr/>
          <a:lstStyle/>
          <a:p>
            <a:r>
              <a:rPr lang="fr-CA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93345" y="2056833"/>
            <a:ext cx="4721500" cy="4068801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2056833"/>
            <a:ext cx="5384800" cy="4068801"/>
          </a:xfrm>
          <a:prstGeom prst="rect">
            <a:avLst/>
          </a:prstGeom>
        </p:spPr>
        <p:txBody>
          <a:bodyPr/>
          <a:lstStyle>
            <a:lvl1pPr>
              <a:defRPr sz="3360"/>
            </a:lvl1pPr>
            <a:lvl2pPr>
              <a:defRPr sz="2880"/>
            </a:lvl2pPr>
            <a:lvl3pPr>
              <a:defRPr sz="2400"/>
            </a:lvl3pPr>
            <a:lvl4pPr>
              <a:defRPr sz="2160"/>
            </a:lvl4pPr>
            <a:lvl5pPr>
              <a:defRPr sz="2160"/>
            </a:lvl5pPr>
            <a:lvl6pPr>
              <a:defRPr sz="2160"/>
            </a:lvl6pPr>
            <a:lvl7pPr>
              <a:defRPr sz="2160"/>
            </a:lvl7pPr>
            <a:lvl8pPr>
              <a:defRPr sz="2160"/>
            </a:lvl8pPr>
            <a:lvl9pPr>
              <a:defRPr sz="2160"/>
            </a:lvl9pPr>
          </a:lstStyle>
          <a:p>
            <a:pPr lvl="0"/>
            <a:r>
              <a:rPr lang="fr-CA" dirty="0"/>
              <a:t>Cliquez pour modifier les styles du texte du masque</a:t>
            </a:r>
          </a:p>
          <a:p>
            <a:pPr lvl="1"/>
            <a:r>
              <a:rPr lang="fr-CA" dirty="0"/>
              <a:t>Deuxième niveau</a:t>
            </a:r>
          </a:p>
          <a:p>
            <a:pPr lvl="2"/>
            <a:r>
              <a:rPr lang="fr-CA" dirty="0"/>
              <a:t>Troisième niveau</a:t>
            </a:r>
          </a:p>
          <a:p>
            <a:pPr lvl="3"/>
            <a:r>
              <a:rPr lang="fr-CA" dirty="0"/>
              <a:t>Quatrième niveau</a:t>
            </a:r>
          </a:p>
          <a:p>
            <a:pPr lvl="4"/>
            <a:r>
              <a:rPr lang="fr-CA" dirty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567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69767" y="447632"/>
            <a:ext cx="11342519" cy="510717"/>
          </a:xfrm>
          <a:prstGeom prst="rect">
            <a:avLst/>
          </a:prstGeom>
        </p:spPr>
        <p:txBody>
          <a:bodyPr lIns="0" rIns="0" anchor="ctr"/>
          <a:lstStyle>
            <a:lvl1pPr algn="l">
              <a:defRPr sz="3000">
                <a:solidFill>
                  <a:srgbClr val="023771"/>
                </a:solidFill>
                <a:latin typeface="Arial"/>
                <a:cs typeface="Arial"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69765" y="1405981"/>
            <a:ext cx="11342520" cy="4592012"/>
          </a:xfrm>
          <a:prstGeom prst="rect">
            <a:avLst/>
          </a:prstGeom>
        </p:spPr>
        <p:txBody>
          <a:bodyPr lIns="0" tIns="270000" rIns="0" bIns="270000"/>
          <a:lstStyle>
            <a:lvl1pPr marL="0" indent="0" algn="l">
              <a:buNone/>
              <a:defRPr sz="2640">
                <a:solidFill>
                  <a:srgbClr val="023771"/>
                </a:solidFill>
                <a:latin typeface="Arial"/>
                <a:cs typeface="Arial"/>
              </a:defRPr>
            </a:lvl1pPr>
            <a:lvl2pPr marL="5486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3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0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29753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1979" y="1213418"/>
            <a:ext cx="10400421" cy="564257"/>
          </a:xfrm>
          <a:prstGeom prst="rect">
            <a:avLst/>
          </a:prstGeom>
        </p:spPr>
        <p:txBody>
          <a:bodyPr/>
          <a:lstStyle/>
          <a:p>
            <a:r>
              <a:rPr lang="fr-CA"/>
              <a:t>Cliquez et modifiez le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75628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4" y="950565"/>
            <a:ext cx="11137900" cy="564257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527054" y="1827213"/>
            <a:ext cx="54229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53151" y="1827213"/>
            <a:ext cx="5425016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CA"/>
              <a:t>(c) HEC Montréal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80F73BD-D0FE-4FB0-9B8C-89936F9D9913}" type="slidenum">
              <a:rPr lang="fr-CA" altLang="fr-FR"/>
              <a:pPr/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41398944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7051" y="950566"/>
            <a:ext cx="11137900" cy="5642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527051" y="1827213"/>
            <a:ext cx="11051116" cy="4114800"/>
          </a:xfrm>
        </p:spPr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fr-CA" altLang="fr-FR">
              <a:solidFill>
                <a:srgbClr val="000000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fr-CA" altLang="fr-FR">
                <a:solidFill>
                  <a:srgbClr val="000000"/>
                </a:solidFill>
              </a:rPr>
              <a:t>(c) HEC Montréal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737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fld id="{FB8082AF-1A6A-4B11-8193-12E1DC81584A}" type="slidenum">
              <a:rPr lang="fr-CA" altLang="fr-FR">
                <a:solidFill>
                  <a:srgbClr val="000000"/>
                </a:solidFill>
              </a:rPr>
              <a:pPr/>
              <a:t>‹N°›</a:t>
            </a:fld>
            <a:endParaRPr lang="fr-CA" altLang="fr-F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6192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16768" y="1022183"/>
            <a:ext cx="10525432" cy="42454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ts val="3240"/>
              </a:lnSpc>
              <a:defRPr/>
            </a:lvl1pPr>
          </a:lstStyle>
          <a:p>
            <a:r>
              <a:rPr lang="en-US" dirty="0" err="1"/>
              <a:t>Placez</a:t>
            </a:r>
            <a:r>
              <a:rPr lang="en-US" dirty="0"/>
              <a:t> </a:t>
            </a:r>
            <a:r>
              <a:rPr lang="en-US" dirty="0" err="1"/>
              <a:t>votre</a:t>
            </a:r>
            <a:r>
              <a:rPr lang="en-US" dirty="0"/>
              <a:t> TITRE </a:t>
            </a:r>
            <a:r>
              <a:rPr lang="en-US" dirty="0" err="1"/>
              <a:t>ici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 wrap="square"/>
          <a:lstStyle/>
          <a:p>
            <a:pPr lvl="0"/>
            <a:r>
              <a:rPr lang="en-US" dirty="0" err="1"/>
              <a:t>Placez</a:t>
            </a:r>
            <a:r>
              <a:rPr lang="en-US" dirty="0"/>
              <a:t> </a:t>
            </a:r>
            <a:r>
              <a:rPr lang="en-US" dirty="0" err="1"/>
              <a:t>votre</a:t>
            </a:r>
            <a:r>
              <a:rPr lang="en-US" dirty="0"/>
              <a:t> </a:t>
            </a:r>
            <a:r>
              <a:rPr lang="en-US" dirty="0" err="1"/>
              <a:t>texte</a:t>
            </a:r>
            <a:r>
              <a:rPr lang="en-US" dirty="0"/>
              <a:t> </a:t>
            </a:r>
            <a:r>
              <a:rPr lang="en-US" dirty="0" err="1"/>
              <a:t>ici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291" y="5733249"/>
            <a:ext cx="2083301" cy="692665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1016770" y="1282300"/>
            <a:ext cx="10530417" cy="303616"/>
          </a:xfrm>
        </p:spPr>
        <p:txBody>
          <a:bodyPr wrap="square">
            <a:no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FontTx/>
              <a:buNone/>
              <a:defRPr sz="2400" b="1" i="0" cap="all" baseline="0"/>
            </a:lvl1pPr>
            <a:lvl2pPr marL="325748" indent="0">
              <a:buFontTx/>
              <a:buNone/>
              <a:defRPr/>
            </a:lvl2pPr>
            <a:lvl3pPr marL="641968" indent="0">
              <a:buFontTx/>
              <a:buNone/>
              <a:defRPr/>
            </a:lvl3pPr>
            <a:lvl4pPr marL="960096" indent="0">
              <a:buFontTx/>
              <a:buNone/>
              <a:defRPr/>
            </a:lvl4pPr>
            <a:lvl5pPr marL="1285844" indent="0">
              <a:buFontTx/>
              <a:buNone/>
              <a:defRPr/>
            </a:lvl5pPr>
          </a:lstStyle>
          <a:p>
            <a:pPr lvl="0"/>
            <a:r>
              <a:rPr lang="en-US" dirty="0" err="1"/>
              <a:t>Placez</a:t>
            </a:r>
            <a:r>
              <a:rPr lang="en-US" dirty="0"/>
              <a:t> </a:t>
            </a:r>
            <a:r>
              <a:rPr lang="en-US" dirty="0" err="1"/>
              <a:t>votre</a:t>
            </a:r>
            <a:r>
              <a:rPr lang="en-US" dirty="0"/>
              <a:t> SOUS-TITRE </a:t>
            </a:r>
            <a:r>
              <a:rPr lang="en-US" dirty="0" err="1"/>
              <a:t>ici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646200" y="560497"/>
            <a:ext cx="10896000" cy="0"/>
          </a:xfrm>
          <a:prstGeom prst="line">
            <a:avLst/>
          </a:prstGeom>
          <a:ln w="12700">
            <a:solidFill>
              <a:srgbClr val="00B5E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8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6F06D-0BD1-6D4F-AAE3-6DD4CE5C8A3C}"/>
              </a:ext>
            </a:extLst>
          </p:cNvPr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9955033" y="5861725"/>
            <a:ext cx="1845289" cy="126123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29154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1AD6E3AE-1EBA-B342-A01B-F73CD682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8821"/>
            <a:ext cx="10515600" cy="56425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85CD68C-8915-4841-ACD2-3630A27F5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2" y="6524902"/>
            <a:ext cx="167999" cy="167999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txBody>
          <a:bodyPr vert="horz" lIns="0" tIns="0" rIns="0" bIns="0" rtlCol="0" anchor="ctr" anchorCtr="1"/>
          <a:lstStyle>
            <a:lvl1pPr algn="ctr">
              <a:defRPr sz="8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89CCF2F-7E28-FB4D-B276-4AB2C7C2895F}" type="slidenum">
              <a:rPr lang="en-US" smtClean="0"/>
              <a:pPr/>
              <a:t>‹N°›</a:t>
            </a:fld>
            <a:endParaRPr lang="en-CA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17A3F9-320C-4017-A986-0FDD20C08303}"/>
              </a:ext>
            </a:extLst>
          </p:cNvPr>
          <p:cNvSpPr txBox="1"/>
          <p:nvPr userDrawn="1"/>
        </p:nvSpPr>
        <p:spPr>
          <a:xfrm>
            <a:off x="2969957" y="6401791"/>
            <a:ext cx="6252087" cy="440096"/>
          </a:xfrm>
          <a:prstGeom prst="rect">
            <a:avLst/>
          </a:prstGeom>
          <a:noFill/>
        </p:spPr>
        <p:txBody>
          <a:bodyPr wrap="square" lIns="0" tIns="0" rIns="240000" bIns="192000" rtlCol="0" anchor="b" anchorCtr="0">
            <a:spAutoFit/>
          </a:bodyPr>
          <a:lstStyle>
            <a:defPPr>
              <a:defRPr lang="en-US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Copyright© 2019, HEC Montréal.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droits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réservés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Toute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traduction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ou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reproduction sous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quelque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forme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que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ce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soit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est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 </a:t>
            </a:r>
            <a:r>
              <a:rPr lang="en-US" sz="800" baseline="0" dirty="0" err="1">
                <a:solidFill>
                  <a:srgbClr val="003C71"/>
                </a:solidFill>
                <a:latin typeface="Arial"/>
                <a:cs typeface="Arial"/>
              </a:rPr>
              <a:t>interdite</a:t>
            </a:r>
            <a:r>
              <a:rPr lang="en-US" sz="800" baseline="0" dirty="0">
                <a:solidFill>
                  <a:srgbClr val="003C71"/>
                </a:solidFill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259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sldNum="0" hdr="0" dt="0"/>
  <p:txStyles>
    <p:titleStyle>
      <a:lvl1pPr algn="l" defTabSz="914377" rtl="0" eaLnBrk="1" latinLnBrk="0" hangingPunct="1">
        <a:lnSpc>
          <a:spcPts val="4400"/>
        </a:lnSpc>
        <a:spcBef>
          <a:spcPct val="0"/>
        </a:spcBef>
        <a:buNone/>
        <a:defRPr sz="4000" b="1" i="0" kern="1200" cap="none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57708" indent="-357708" algn="l" defTabSz="914377" rtl="0" eaLnBrk="1" latinLnBrk="0" hangingPunct="1">
        <a:lnSpc>
          <a:spcPts val="3200"/>
        </a:lnSpc>
        <a:spcBef>
          <a:spcPts val="0"/>
        </a:spcBef>
        <a:spcAft>
          <a:spcPts val="800"/>
        </a:spcAft>
        <a:buFont typeface="Wingdings" pitchFamily="2" charset="2"/>
        <a:buChar char="§"/>
        <a:tabLst/>
        <a:defRPr sz="26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15415" indent="-357708" algn="l" defTabSz="914377" rtl="0" eaLnBrk="1" latinLnBrk="0" hangingPunct="1">
        <a:lnSpc>
          <a:spcPts val="2800"/>
        </a:lnSpc>
        <a:spcBef>
          <a:spcPts val="0"/>
        </a:spcBef>
        <a:spcAft>
          <a:spcPts val="700"/>
        </a:spcAft>
        <a:buFont typeface="Wingdings" pitchFamily="2" charset="2"/>
        <a:buChar char="§"/>
        <a:tabLst/>
        <a:defRPr sz="22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54593" indent="-239178" algn="l" defTabSz="914377" rtl="0" eaLnBrk="1" latinLnBrk="0" hangingPunct="1">
        <a:lnSpc>
          <a:spcPts val="24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8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193770" indent="-239178" algn="l" defTabSz="914377" rtl="0" eaLnBrk="1" latinLnBrk="0" hangingPunct="1">
        <a:lnSpc>
          <a:spcPts val="2000"/>
        </a:lnSpc>
        <a:spcBef>
          <a:spcPts val="0"/>
        </a:spcBef>
        <a:spcAft>
          <a:spcPts val="500"/>
        </a:spcAft>
        <a:buFont typeface="Wingdings" pitchFamily="2" charset="2"/>
        <a:buChar char="§"/>
        <a:tabLst/>
        <a:defRPr sz="14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430831" indent="-237061" algn="l" defTabSz="914377" rtl="0" eaLnBrk="1" latinLnBrk="0" hangingPunct="1">
        <a:lnSpc>
          <a:spcPts val="1600"/>
        </a:lnSpc>
        <a:spcBef>
          <a:spcPts val="0"/>
        </a:spcBef>
        <a:spcAft>
          <a:spcPts val="400"/>
        </a:spcAft>
        <a:buFont typeface="Wingdings" pitchFamily="2" charset="2"/>
        <a:buChar char="§"/>
        <a:tabLst/>
        <a:defRPr sz="1067" b="0" i="0" kern="1200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orient="horz" pos="3162">
          <p15:clr>
            <a:srgbClr val="F26B43"/>
          </p15:clr>
        </p15:guide>
        <p15:guide id="4" pos="396">
          <p15:clr>
            <a:srgbClr val="F26B43"/>
          </p15:clr>
        </p15:guide>
        <p15:guide id="5" pos="5366">
          <p15:clr>
            <a:srgbClr val="F26B43"/>
          </p15:clr>
        </p15:guide>
        <p15:guide id="6" orient="horz" pos="237">
          <p15:clr>
            <a:srgbClr val="F26B43"/>
          </p15:clr>
        </p15:guide>
        <p15:guide id="7" orient="horz" pos="680">
          <p15:clr>
            <a:srgbClr val="F26B43"/>
          </p15:clr>
        </p15:guide>
        <p15:guide id="8" orient="horz" pos="1038">
          <p15:clr>
            <a:srgbClr val="F26B43"/>
          </p15:clr>
        </p15:guide>
        <p15:guide id="9" orient="horz" pos="338">
          <p15:clr>
            <a:srgbClr val="F26B43"/>
          </p15:clr>
        </p15:guide>
        <p15:guide id="10" orient="horz" pos="894">
          <p15:clr>
            <a:srgbClr val="F26B43"/>
          </p15:clr>
        </p15:guide>
        <p15:guide id="11" orient="horz" pos="2890">
          <p15:clr>
            <a:srgbClr val="F26B43"/>
          </p15:clr>
        </p15:guide>
        <p15:guide id="12" pos="618">
          <p15:clr>
            <a:srgbClr val="F26B43"/>
          </p15:clr>
        </p15:guide>
        <p15:guide id="13" pos="1859">
          <p15:clr>
            <a:srgbClr val="F26B43"/>
          </p15:clr>
        </p15:guide>
        <p15:guide id="14" pos="190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slideLayout" Target="../slideLayouts/slideLayout20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tags" Target="../tags/tag22.xml"/><Relationship Id="rId29" Type="http://schemas.openxmlformats.org/officeDocument/2006/relationships/tags" Target="../tags/tag31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notesSlide" Target="../notesSlides/notesSlide2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8" Type="http://schemas.openxmlformats.org/officeDocument/2006/relationships/tags" Target="../tags/tag10.xml"/><Relationship Id="rId3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slideLayout" Target="../slideLayouts/slideLayout18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tags" Target="../tags/tag51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diagramColors" Target="../diagrams/colors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diagramQuickStyle" Target="../diagrams/quickStyle1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diagramLayout" Target="../diagrams/layout1.xml"/><Relationship Id="rId5" Type="http://schemas.openxmlformats.org/officeDocument/2006/relationships/tags" Target="../tags/tag56.xml"/><Relationship Id="rId10" Type="http://schemas.openxmlformats.org/officeDocument/2006/relationships/diagramData" Target="../diagrams/data1.xml"/><Relationship Id="rId4" Type="http://schemas.openxmlformats.org/officeDocument/2006/relationships/tags" Target="../tags/tag55.xml"/><Relationship Id="rId9" Type="http://schemas.openxmlformats.org/officeDocument/2006/relationships/notesSlide" Target="../notesSlides/notesSlide4.xml"/><Relationship Id="rId14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17.xml"/><Relationship Id="rId7" Type="http://schemas.openxmlformats.org/officeDocument/2006/relationships/diagramQuickStyle" Target="../diagrams/quickStyle2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notesSlide" Target="../notesSlides/notesSlide5.xml"/><Relationship Id="rId9" Type="http://schemas.microsoft.com/office/2007/relationships/diagramDrawing" Target="../diagrams/drawing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3.xml"/><Relationship Id="rId3" Type="http://schemas.openxmlformats.org/officeDocument/2006/relationships/tags" Target="../tags/tag63.xml"/><Relationship Id="rId7" Type="http://schemas.openxmlformats.org/officeDocument/2006/relationships/diagramLayout" Target="../diagrams/layout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diagramData" Target="../diagrams/data3.xml"/><Relationship Id="rId5" Type="http://schemas.openxmlformats.org/officeDocument/2006/relationships/notesSlide" Target="../notesSlides/notesSlide6.xml"/><Relationship Id="rId10" Type="http://schemas.microsoft.com/office/2007/relationships/diagramDrawing" Target="../diagrams/drawing3.xml"/><Relationship Id="rId4" Type="http://schemas.openxmlformats.org/officeDocument/2006/relationships/slideLayout" Target="../slideLayouts/slideLayout17.xml"/><Relationship Id="rId9" Type="http://schemas.openxmlformats.org/officeDocument/2006/relationships/diagramColors" Target="../diagrams/colors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slideLayout" Target="../slideLayouts/slideLayout17.xml"/><Relationship Id="rId5" Type="http://schemas.openxmlformats.org/officeDocument/2006/relationships/tags" Target="../tags/tag68.xml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slideLayout" Target="../slideLayouts/slideLayout17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5" Type="http://schemas.openxmlformats.org/officeDocument/2006/relationships/tags" Target="../tags/tag78.xml"/><Relationship Id="rId10" Type="http://schemas.openxmlformats.org/officeDocument/2006/relationships/tags" Target="../tags/tag83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9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628D3E3-335F-FF9C-FA15-253617968636}"/>
              </a:ext>
            </a:extLst>
          </p:cNvPr>
          <p:cNvSpPr/>
          <p:nvPr/>
        </p:nvSpPr>
        <p:spPr>
          <a:xfrm>
            <a:off x="2137026" y="2198670"/>
            <a:ext cx="8147406" cy="219866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Titre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La gestion de la trésorerie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40B2BBF-9C8F-41E6-21DC-F066A8127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89CCF2F-7E28-FB4D-B276-4AB2C7C2895F}" type="slidenum">
              <a:rPr lang="en-US" smtClean="0"/>
              <a:pPr/>
              <a:t>1</a:t>
            </a:fld>
            <a:endParaRPr lang="en-CA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83F516C-8581-465D-B609-E8AAA2157069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92117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69" name="Rectangle 3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36116" y="4422925"/>
            <a:ext cx="10287072" cy="141447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algn="ctr">
            <a:solidFill>
              <a:schemeClr val="accent2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914377"/>
            <a:endParaRPr lang="fr-FR" sz="162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051" name="Rectangle 19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36122" y="697866"/>
            <a:ext cx="10287071" cy="353618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accent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defTabSz="914377"/>
            <a:endParaRPr lang="fr-FR" sz="1620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034" name="Text Box 2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193690" y="168579"/>
            <a:ext cx="3716655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Planification stratégique</a:t>
            </a:r>
          </a:p>
        </p:txBody>
      </p:sp>
      <p:sp>
        <p:nvSpPr>
          <p:cNvPr id="44035" name="Text Box 3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4885208" y="989624"/>
            <a:ext cx="2333624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Budget des ventes</a:t>
            </a:r>
          </a:p>
        </p:txBody>
      </p:sp>
      <p:sp>
        <p:nvSpPr>
          <p:cNvPr id="44037" name="Text Box 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755665" y="1641497"/>
            <a:ext cx="2592705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Budget de production</a:t>
            </a:r>
          </a:p>
        </p:txBody>
      </p:sp>
      <p:sp>
        <p:nvSpPr>
          <p:cNvPr id="44038" name="Text Box 6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279022" y="1677670"/>
            <a:ext cx="2505076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Budget des Inventaires</a:t>
            </a:r>
          </a:p>
        </p:txBody>
      </p:sp>
      <p:sp>
        <p:nvSpPr>
          <p:cNvPr id="44039" name="Text Box 7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965617" y="1364883"/>
            <a:ext cx="3000396" cy="127419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/>
            <a:r>
              <a:rPr lang="fr-CA" sz="1920" u="sng" dirty="0">
                <a:solidFill>
                  <a:srgbClr val="000000"/>
                </a:solidFill>
                <a:latin typeface="Calibri" panose="020F0502020204030204"/>
              </a:rPr>
              <a:t>Budget départements support </a:t>
            </a:r>
            <a:r>
              <a:rPr lang="fr-CA" sz="1920" dirty="0">
                <a:solidFill>
                  <a:srgbClr val="000000"/>
                </a:solidFill>
                <a:latin typeface="Calibri" panose="020F0502020204030204"/>
              </a:rPr>
              <a:t>:</a:t>
            </a:r>
          </a:p>
          <a:p>
            <a:pPr algn="ctr" defTabSz="914377" eaLnBrk="0" hangingPunct="0"/>
            <a:r>
              <a:rPr lang="fr-CA" sz="1920" dirty="0">
                <a:solidFill>
                  <a:srgbClr val="000000"/>
                </a:solidFill>
                <a:latin typeface="Calibri" panose="020F0502020204030204"/>
              </a:rPr>
              <a:t>Administration, R&amp;D, Marketing, TI, Distribution</a:t>
            </a:r>
          </a:p>
        </p:txBody>
      </p:sp>
      <p:sp>
        <p:nvSpPr>
          <p:cNvPr id="44040" name="Text Box 8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079256" y="2755283"/>
            <a:ext cx="1727835" cy="59093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Matières premières</a:t>
            </a:r>
          </a:p>
        </p:txBody>
      </p:sp>
      <p:sp>
        <p:nvSpPr>
          <p:cNvPr id="44041" name="Text Box 9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066173" y="2756710"/>
            <a:ext cx="1971689" cy="590931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Main-d’œuvre directe</a:t>
            </a:r>
          </a:p>
        </p:txBody>
      </p:sp>
      <p:sp>
        <p:nvSpPr>
          <p:cNvPr id="44042" name="Text Box 10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7194087" y="2756710"/>
            <a:ext cx="1727836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Frais généraux</a:t>
            </a:r>
          </a:p>
        </p:txBody>
      </p:sp>
      <p:sp>
        <p:nvSpPr>
          <p:cNvPr id="44043" name="Text Box 11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4885205" y="3762840"/>
            <a:ext cx="2333625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Budget CPV</a:t>
            </a:r>
          </a:p>
        </p:txBody>
      </p:sp>
      <p:sp>
        <p:nvSpPr>
          <p:cNvPr id="44044" name="Text Box 12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551822" y="4551512"/>
            <a:ext cx="3000397" cy="34163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20" dirty="0">
                <a:solidFill>
                  <a:srgbClr val="000000"/>
                </a:solidFill>
                <a:latin typeface="Calibri" panose="020F0502020204030204"/>
              </a:rPr>
              <a:t>É/R Prévisionnels</a:t>
            </a:r>
          </a:p>
        </p:txBody>
      </p:sp>
      <p:sp>
        <p:nvSpPr>
          <p:cNvPr id="44045" name="Text Box 13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092341" y="5092436"/>
            <a:ext cx="1815465" cy="60939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80" dirty="0">
                <a:solidFill>
                  <a:srgbClr val="000000"/>
                </a:solidFill>
                <a:latin typeface="Calibri" panose="020F0502020204030204"/>
              </a:rPr>
              <a:t> Budget des Investissements</a:t>
            </a:r>
          </a:p>
        </p:txBody>
      </p:sp>
      <p:sp>
        <p:nvSpPr>
          <p:cNvPr id="44047" name="Text Box 15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5126659" y="5213012"/>
            <a:ext cx="1850715" cy="350865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80" b="1" dirty="0">
                <a:solidFill>
                  <a:srgbClr val="000000"/>
                </a:solidFill>
                <a:latin typeface="Calibri" panose="020F0502020204030204"/>
              </a:rPr>
              <a:t>Budget de Caisse </a:t>
            </a:r>
          </a:p>
        </p:txBody>
      </p:sp>
      <p:sp>
        <p:nvSpPr>
          <p:cNvPr id="44048" name="Text Box 1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194086" y="5213012"/>
            <a:ext cx="1729740" cy="3508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80" dirty="0">
                <a:solidFill>
                  <a:srgbClr val="000000"/>
                </a:solidFill>
                <a:latin typeface="Calibri" panose="020F0502020204030204"/>
              </a:rPr>
              <a:t>Bilan Pro Forma</a:t>
            </a:r>
          </a:p>
        </p:txBody>
      </p:sp>
      <p:sp>
        <p:nvSpPr>
          <p:cNvPr id="44049" name="Text Box 17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9165775" y="5213012"/>
            <a:ext cx="1729740" cy="35086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1680" dirty="0">
                <a:solidFill>
                  <a:srgbClr val="000000"/>
                </a:solidFill>
                <a:latin typeface="Calibri" panose="020F0502020204030204"/>
              </a:rPr>
              <a:t>EFT Prévisionnels</a:t>
            </a:r>
          </a:p>
        </p:txBody>
      </p:sp>
      <p:sp>
        <p:nvSpPr>
          <p:cNvPr id="44052" name="Line 20"/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678979" y="5407321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/>
          <a:lstStyle/>
          <a:p>
            <a:pPr defTabSz="914377"/>
            <a:endParaRPr lang="fr-FR" sz="162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44075" name="Text Box 43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936119" y="822449"/>
            <a:ext cx="2764156" cy="4205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2133" b="1" u="sng" dirty="0">
                <a:solidFill>
                  <a:srgbClr val="009FDF">
                    <a:lumMod val="50000"/>
                  </a:srgbClr>
                </a:solidFill>
                <a:latin typeface="Calibri" panose="020F0502020204030204"/>
              </a:rPr>
              <a:t>Budget</a:t>
            </a:r>
            <a:r>
              <a:rPr lang="fr-CA" sz="1620" b="1" u="sng" dirty="0">
                <a:solidFill>
                  <a:srgbClr val="009FDF">
                    <a:lumMod val="50000"/>
                  </a:srgbClr>
                </a:solidFill>
                <a:latin typeface="Calibri" panose="020F0502020204030204"/>
              </a:rPr>
              <a:t> </a:t>
            </a:r>
            <a:r>
              <a:rPr lang="fr-CA" sz="2133" b="1" u="sng" dirty="0">
                <a:solidFill>
                  <a:srgbClr val="009FDF">
                    <a:lumMod val="50000"/>
                  </a:srgbClr>
                </a:solidFill>
                <a:latin typeface="Calibri" panose="020F0502020204030204"/>
              </a:rPr>
              <a:t>d’exploitation</a:t>
            </a:r>
            <a:endParaRPr lang="fr-CA" sz="1620" b="1" u="sng" dirty="0">
              <a:solidFill>
                <a:srgbClr val="009FDF">
                  <a:lumMod val="50000"/>
                </a:srgbClr>
              </a:solidFill>
              <a:latin typeface="Calibri" panose="020F0502020204030204"/>
            </a:endParaRPr>
          </a:p>
        </p:txBody>
      </p:sp>
      <p:cxnSp>
        <p:nvCxnSpPr>
          <p:cNvPr id="46" name="Connecteur droit avec flèche 45"/>
          <p:cNvCxnSpPr>
            <a:stCxn id="44034" idx="2"/>
            <a:endCxn id="44035" idx="0"/>
          </p:cNvCxnSpPr>
          <p:nvPr>
            <p:custDataLst>
              <p:tags r:id="rId19"/>
            </p:custDataLst>
          </p:nvPr>
        </p:nvCxnSpPr>
        <p:spPr>
          <a:xfrm>
            <a:off x="6052018" y="510211"/>
            <a:ext cx="2" cy="4794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/>
          <p:cNvCxnSpPr>
            <a:stCxn id="44035" idx="2"/>
            <a:endCxn id="44037" idx="0"/>
          </p:cNvCxnSpPr>
          <p:nvPr>
            <p:custDataLst>
              <p:tags r:id="rId20"/>
            </p:custDataLst>
          </p:nvPr>
        </p:nvCxnSpPr>
        <p:spPr>
          <a:xfrm flipH="1">
            <a:off x="6052018" y="1331256"/>
            <a:ext cx="2" cy="31024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/>
          <p:cNvCxnSpPr>
            <a:stCxn id="44037" idx="2"/>
            <a:endCxn id="44040" idx="0"/>
          </p:cNvCxnSpPr>
          <p:nvPr>
            <p:custDataLst>
              <p:tags r:id="rId21"/>
            </p:custDataLst>
          </p:nvPr>
        </p:nvCxnSpPr>
        <p:spPr>
          <a:xfrm flipH="1">
            <a:off x="3943174" y="1983129"/>
            <a:ext cx="2108844" cy="77215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>
            <a:stCxn id="44037" idx="2"/>
            <a:endCxn id="44041" idx="0"/>
          </p:cNvCxnSpPr>
          <p:nvPr>
            <p:custDataLst>
              <p:tags r:id="rId22"/>
            </p:custDataLst>
          </p:nvPr>
        </p:nvCxnSpPr>
        <p:spPr>
          <a:xfrm>
            <a:off x="6052018" y="1983129"/>
            <a:ext cx="0" cy="77358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/>
          <p:cNvCxnSpPr>
            <a:stCxn id="44037" idx="2"/>
            <a:endCxn id="44042" idx="0"/>
          </p:cNvCxnSpPr>
          <p:nvPr>
            <p:custDataLst>
              <p:tags r:id="rId23"/>
            </p:custDataLst>
          </p:nvPr>
        </p:nvCxnSpPr>
        <p:spPr>
          <a:xfrm>
            <a:off x="6052018" y="1983129"/>
            <a:ext cx="2005987" cy="77358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avec flèche 55"/>
          <p:cNvCxnSpPr>
            <a:stCxn id="44038" idx="3"/>
            <a:endCxn id="44037" idx="1"/>
          </p:cNvCxnSpPr>
          <p:nvPr>
            <p:custDataLst>
              <p:tags r:id="rId24"/>
            </p:custDataLst>
          </p:nvPr>
        </p:nvCxnSpPr>
        <p:spPr>
          <a:xfrm flipV="1">
            <a:off x="3784098" y="1812313"/>
            <a:ext cx="971567" cy="3617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avec flèche 58"/>
          <p:cNvCxnSpPr>
            <a:stCxn id="44040" idx="2"/>
            <a:endCxn id="44043" idx="0"/>
          </p:cNvCxnSpPr>
          <p:nvPr>
            <p:custDataLst>
              <p:tags r:id="rId25"/>
            </p:custDataLst>
          </p:nvPr>
        </p:nvCxnSpPr>
        <p:spPr>
          <a:xfrm>
            <a:off x="3943174" y="3346214"/>
            <a:ext cx="2108844" cy="41662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/>
          <p:cNvCxnSpPr>
            <a:stCxn id="44041" idx="2"/>
            <a:endCxn id="44043" idx="0"/>
          </p:cNvCxnSpPr>
          <p:nvPr>
            <p:custDataLst>
              <p:tags r:id="rId26"/>
            </p:custDataLst>
          </p:nvPr>
        </p:nvCxnSpPr>
        <p:spPr>
          <a:xfrm>
            <a:off x="6052018" y="3347641"/>
            <a:ext cx="0" cy="4151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eur droit avec flèche 62"/>
          <p:cNvCxnSpPr>
            <a:stCxn id="44042" idx="2"/>
            <a:endCxn id="44043" idx="0"/>
          </p:cNvCxnSpPr>
          <p:nvPr>
            <p:custDataLst>
              <p:tags r:id="rId27"/>
            </p:custDataLst>
          </p:nvPr>
        </p:nvCxnSpPr>
        <p:spPr>
          <a:xfrm flipH="1">
            <a:off x="6052018" y="3098342"/>
            <a:ext cx="2005987" cy="66449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en angle 64"/>
          <p:cNvCxnSpPr/>
          <p:nvPr>
            <p:custDataLst>
              <p:tags r:id="rId28"/>
            </p:custDataLst>
          </p:nvPr>
        </p:nvCxnSpPr>
        <p:spPr>
          <a:xfrm rot="10800000" flipV="1">
            <a:off x="1107568" y="372390"/>
            <a:ext cx="3101349" cy="5113684"/>
          </a:xfrm>
          <a:prstGeom prst="bentConnector3">
            <a:avLst>
              <a:gd name="adj1" fmla="val 113598"/>
            </a:avLst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Forme 66"/>
          <p:cNvCxnSpPr>
            <a:stCxn id="44035" idx="3"/>
            <a:endCxn id="44039" idx="0"/>
          </p:cNvCxnSpPr>
          <p:nvPr>
            <p:custDataLst>
              <p:tags r:id="rId29"/>
            </p:custDataLst>
          </p:nvPr>
        </p:nvCxnSpPr>
        <p:spPr>
          <a:xfrm>
            <a:off x="7218832" y="1160440"/>
            <a:ext cx="2246983" cy="20444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/>
          <p:cNvCxnSpPr>
            <a:stCxn id="44043" idx="2"/>
            <a:endCxn id="44044" idx="0"/>
          </p:cNvCxnSpPr>
          <p:nvPr>
            <p:custDataLst>
              <p:tags r:id="rId30"/>
            </p:custDataLst>
          </p:nvPr>
        </p:nvCxnSpPr>
        <p:spPr>
          <a:xfrm>
            <a:off x="6052018" y="4104472"/>
            <a:ext cx="3" cy="44704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Forme 79"/>
          <p:cNvCxnSpPr>
            <a:stCxn id="44039" idx="2"/>
            <a:endCxn id="44044" idx="3"/>
          </p:cNvCxnSpPr>
          <p:nvPr>
            <p:custDataLst>
              <p:tags r:id="rId31"/>
            </p:custDataLst>
          </p:nvPr>
        </p:nvCxnSpPr>
        <p:spPr>
          <a:xfrm rot="5400000">
            <a:off x="7467392" y="2723905"/>
            <a:ext cx="2083250" cy="191359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Forme 81"/>
          <p:cNvCxnSpPr>
            <a:stCxn id="44039" idx="2"/>
            <a:endCxn id="44042" idx="3"/>
          </p:cNvCxnSpPr>
          <p:nvPr>
            <p:custDataLst>
              <p:tags r:id="rId32"/>
            </p:custDataLst>
          </p:nvPr>
        </p:nvCxnSpPr>
        <p:spPr>
          <a:xfrm rot="5400000">
            <a:off x="9049645" y="2511356"/>
            <a:ext cx="288448" cy="543892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necteur droit avec flèche 83"/>
          <p:cNvCxnSpPr>
            <a:stCxn id="44044" idx="2"/>
            <a:endCxn id="44047" idx="0"/>
          </p:cNvCxnSpPr>
          <p:nvPr>
            <p:custDataLst>
              <p:tags r:id="rId33"/>
            </p:custDataLst>
          </p:nvPr>
        </p:nvCxnSpPr>
        <p:spPr>
          <a:xfrm flipH="1">
            <a:off x="6052017" y="4893144"/>
            <a:ext cx="4" cy="31986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/>
          <p:cNvCxnSpPr>
            <a:stCxn id="44045" idx="3"/>
            <a:endCxn id="44047" idx="1"/>
          </p:cNvCxnSpPr>
          <p:nvPr>
            <p:custDataLst>
              <p:tags r:id="rId34"/>
            </p:custDataLst>
          </p:nvPr>
        </p:nvCxnSpPr>
        <p:spPr>
          <a:xfrm flipV="1">
            <a:off x="2907806" y="5388445"/>
            <a:ext cx="2218853" cy="869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avec flèche 96"/>
          <p:cNvCxnSpPr>
            <a:stCxn id="44047" idx="3"/>
            <a:endCxn id="44048" idx="1"/>
          </p:cNvCxnSpPr>
          <p:nvPr>
            <p:custDataLst>
              <p:tags r:id="rId35"/>
            </p:custDataLst>
          </p:nvPr>
        </p:nvCxnSpPr>
        <p:spPr>
          <a:xfrm>
            <a:off x="6977374" y="5388445"/>
            <a:ext cx="216712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avec flèche 98"/>
          <p:cNvCxnSpPr>
            <a:stCxn id="44048" idx="3"/>
            <a:endCxn id="44049" idx="1"/>
          </p:cNvCxnSpPr>
          <p:nvPr>
            <p:custDataLst>
              <p:tags r:id="rId36"/>
            </p:custDataLst>
          </p:nvPr>
        </p:nvCxnSpPr>
        <p:spPr>
          <a:xfrm>
            <a:off x="8923826" y="5388445"/>
            <a:ext cx="241949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 Box 43"/>
          <p:cNvSpPr txBox="1">
            <a:spLocks noChangeArrowheads="1"/>
          </p:cNvSpPr>
          <p:nvPr>
            <p:custDataLst>
              <p:tags r:id="rId37"/>
            </p:custDataLst>
          </p:nvPr>
        </p:nvSpPr>
        <p:spPr bwMode="auto">
          <a:xfrm>
            <a:off x="1021846" y="4422924"/>
            <a:ext cx="2764156" cy="42056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 eaLnBrk="0" hangingPunct="0">
              <a:spcBef>
                <a:spcPct val="50000"/>
              </a:spcBef>
            </a:pPr>
            <a:r>
              <a:rPr lang="fr-CA" sz="2133" b="1" u="sng" dirty="0">
                <a:solidFill>
                  <a:srgbClr val="009FDF">
                    <a:lumMod val="50000"/>
                  </a:srgbClr>
                </a:solidFill>
                <a:latin typeface="Calibri" panose="020F0502020204030204"/>
              </a:rPr>
              <a:t>Budget financier</a:t>
            </a:r>
          </a:p>
        </p:txBody>
      </p:sp>
      <p:cxnSp>
        <p:nvCxnSpPr>
          <p:cNvPr id="44" name="Connecteur en angle 43"/>
          <p:cNvCxnSpPr>
            <a:stCxn id="44038" idx="2"/>
            <a:endCxn id="44043" idx="1"/>
          </p:cNvCxnSpPr>
          <p:nvPr>
            <p:custDataLst>
              <p:tags r:id="rId38"/>
            </p:custDataLst>
          </p:nvPr>
        </p:nvCxnSpPr>
        <p:spPr>
          <a:xfrm rot="16200000" flipH="1">
            <a:off x="2751205" y="1799656"/>
            <a:ext cx="1914354" cy="235364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968FBFCE-A29A-82FA-5DEF-AB77969E9BB4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85216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9" grpId="0" animBg="1"/>
      <p:bldP spid="44051" grpId="0" animBg="1"/>
      <p:bldP spid="44075" grpId="0"/>
      <p:bldP spid="1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>
            <p:custDataLst>
              <p:tags r:id="rId1"/>
            </p:custDataLst>
          </p:nvPr>
        </p:nvGrpSpPr>
        <p:grpSpPr>
          <a:xfrm>
            <a:off x="368267" y="599933"/>
            <a:ext cx="11363291" cy="5353395"/>
            <a:chOff x="747646" y="1319780"/>
            <a:chExt cx="9505306" cy="4537183"/>
          </a:xfrm>
        </p:grpSpPr>
        <p:sp>
          <p:nvSpPr>
            <p:cNvPr id="9219" name="Text Box 3"/>
            <p:cNvSpPr txBox="1"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758758" y="1319780"/>
              <a:ext cx="9494194" cy="16955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914377" eaLnBrk="0" hangingPunct="0"/>
              <a:r>
                <a:rPr lang="fr-CA" sz="32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Gestion de la trésorerie</a:t>
              </a:r>
            </a:p>
            <a:p>
              <a:pPr algn="ctr" defTabSz="914377" eaLnBrk="0" hangingPunct="0">
                <a:spcBef>
                  <a:spcPct val="20000"/>
                </a:spcBef>
              </a:pPr>
              <a:r>
                <a:rPr lang="fr-FR" sz="20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Équilibrer </a:t>
              </a: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les</a:t>
              </a:r>
              <a:r>
                <a:rPr lang="fr-FR" sz="20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rentrées</a:t>
              </a: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et </a:t>
              </a:r>
              <a:r>
                <a:rPr lang="fr-FR" sz="20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sorties de fonds</a:t>
              </a: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de telle manière que l’entreprise puisse</a:t>
              </a:r>
              <a:r>
                <a:rPr lang="fr-FR" sz="20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s’acquitter de ses dettes à temps</a:t>
              </a: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et que tout </a:t>
              </a:r>
              <a:r>
                <a:rPr lang="fr-FR" sz="20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surplus de fonds</a:t>
              </a: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 soit placé de façon à générer des revenus.</a:t>
              </a:r>
            </a:p>
            <a:p>
              <a:pPr algn="ctr" defTabSz="914377" eaLnBrk="0" hangingPunct="0">
                <a:spcBef>
                  <a:spcPct val="20000"/>
                </a:spcBef>
              </a:pPr>
              <a:endParaRPr lang="fr-FR" sz="20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  <a:p>
              <a:pPr algn="ctr" defTabSz="914377" eaLnBrk="0" hangingPunct="0">
                <a:spcBef>
                  <a:spcPct val="20000"/>
                </a:spcBef>
              </a:pPr>
              <a:r>
                <a:rPr lang="fr-FR" sz="2000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Partie intégrante de la gestion du fonds de roulement.</a:t>
              </a:r>
              <a:endParaRPr lang="fr-CA" sz="135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0" name="Text Box 4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747646" y="4086883"/>
              <a:ext cx="2491667" cy="795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914377" eaLnBrk="0" hangingPunct="0"/>
              <a:r>
                <a:rPr lang="fr-CA" sz="28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Planification</a:t>
              </a:r>
            </a:p>
            <a:p>
              <a:pPr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Principal outil :</a:t>
              </a:r>
            </a:p>
            <a:p>
              <a:pPr marL="457189" lvl="1"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Budget de caisse</a:t>
              </a:r>
            </a:p>
          </p:txBody>
        </p:sp>
        <p:sp>
          <p:nvSpPr>
            <p:cNvPr id="9221" name="Text Box 5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52338" y="4063188"/>
              <a:ext cx="2351088" cy="114817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defTabSz="914377" eaLnBrk="0" hangingPunct="0"/>
              <a:r>
                <a:rPr lang="fr-CA" sz="28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Exécution</a:t>
              </a:r>
            </a:p>
            <a:p>
              <a:pPr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Perception des C/C</a:t>
              </a:r>
            </a:p>
            <a:p>
              <a:pPr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Paiement des C/F</a:t>
              </a:r>
            </a:p>
            <a:p>
              <a:pPr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Rotation des stocks</a:t>
              </a:r>
            </a:p>
            <a:p>
              <a:pPr defTabSz="914377" eaLnBrk="0" hangingPunct="0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Placement, etc.</a:t>
              </a:r>
            </a:p>
          </p:txBody>
        </p:sp>
        <p:sp>
          <p:nvSpPr>
            <p:cNvPr id="9222" name="Text Box 6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7805709" y="4052871"/>
              <a:ext cx="2447243" cy="795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 defTabSz="914377" eaLnBrk="0" hangingPunct="0"/>
              <a:r>
                <a:rPr lang="fr-CA" sz="2800" b="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Contrôle</a:t>
              </a:r>
            </a:p>
            <a:p>
              <a:pPr defTabSz="914377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Suivis et vérifications</a:t>
              </a:r>
            </a:p>
            <a:p>
              <a:pPr defTabSz="914377">
                <a:buFontTx/>
                <a:buChar char="•"/>
              </a:pPr>
              <a:r>
                <a:rPr lang="fr-CA" sz="1351" dirty="0">
                  <a:solidFill>
                    <a:srgbClr val="000000"/>
                  </a:solidFill>
                  <a:latin typeface="Arial" pitchFamily="34" charset="0"/>
                  <a:cs typeface="Arial" pitchFamily="34" charset="0"/>
                </a:rPr>
                <a:t>Ratios</a:t>
              </a:r>
            </a:p>
          </p:txBody>
        </p:sp>
        <p:sp>
          <p:nvSpPr>
            <p:cNvPr id="9223" name="Line 7"/>
            <p:cNvSpPr>
              <a:spLocks noChangeShapeType="1"/>
            </p:cNvSpPr>
            <p:nvPr>
              <p:custDataLst>
                <p:tags r:id="rId6"/>
              </p:custDataLst>
            </p:nvPr>
          </p:nvSpPr>
          <p:spPr bwMode="auto">
            <a:xfrm flipH="1">
              <a:off x="1906620" y="3280550"/>
              <a:ext cx="3638145" cy="80633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4" name="Line 8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5672109" y="3280550"/>
              <a:ext cx="1" cy="7826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5" name="Line 9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>
              <a:off x="5799454" y="3280550"/>
              <a:ext cx="3225456" cy="77232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6" name="Line 10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>
              <a:off x="3236215" y="4586270"/>
              <a:ext cx="131612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7" name="Line 11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>
              <a:off x="6903426" y="4586270"/>
              <a:ext cx="9022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228" name="Line 12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>
              <a:off x="758758" y="5856963"/>
              <a:ext cx="949419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/>
            <a:lstStyle/>
            <a:p>
              <a:pPr defTabSz="914377"/>
              <a:endParaRPr lang="en-CA" sz="1351">
                <a:solidFill>
                  <a:srgbClr val="000000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2D207614-E887-8901-9544-3251379DF150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852118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90728" y="199757"/>
            <a:ext cx="10515600" cy="666007"/>
          </a:xfrm>
        </p:spPr>
        <p:txBody>
          <a:bodyPr>
            <a:normAutofit/>
          </a:bodyPr>
          <a:lstStyle/>
          <a:p>
            <a:r>
              <a:rPr lang="fr-CA" b="1" dirty="0"/>
              <a:t>Planification de la trésorerie</a:t>
            </a:r>
          </a:p>
        </p:txBody>
      </p:sp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57868135"/>
              </p:ext>
            </p:extLst>
          </p:nvPr>
        </p:nvGraphicFramePr>
        <p:xfrm>
          <a:off x="838200" y="1001950"/>
          <a:ext cx="7566499" cy="5354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sp>
        <p:nvSpPr>
          <p:cNvPr id="4" name="Espace réservé du pied de page 3"/>
          <p:cNvSpPr>
            <a:spLocks noGrp="1"/>
          </p:cNvSpPr>
          <p:nvPr>
            <p:ph type="ftr" sz="quarter" idx="4294967295"/>
            <p:custDataLst>
              <p:tags r:id="rId3"/>
            </p:custDataLst>
          </p:nvPr>
        </p:nvSpPr>
        <p:spPr>
          <a:xfrm>
            <a:off x="0" y="6356351"/>
            <a:ext cx="4114800" cy="366183"/>
          </a:xfrm>
          <a:prstGeom prst="rect">
            <a:avLst/>
          </a:prstGeom>
        </p:spPr>
        <p:txBody>
          <a:bodyPr/>
          <a:lstStyle/>
          <a:p>
            <a:pPr defTabSz="914377"/>
            <a:r>
              <a:rPr lang="en-US">
                <a:solidFill>
                  <a:srgbClr val="000000"/>
                </a:solidFill>
                <a:latin typeface="Calibri" panose="020F0502020204030204"/>
              </a:rPr>
              <a:t>(c) HEC Montréal</a:t>
            </a:r>
            <a:endParaRPr lang="en-US" dirty="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" name="Rectangle à coins arrondis 2"/>
          <p:cNvSpPr/>
          <p:nvPr>
            <p:custDataLst>
              <p:tags r:id="rId4"/>
            </p:custDataLst>
          </p:nvPr>
        </p:nvSpPr>
        <p:spPr>
          <a:xfrm>
            <a:off x="9169760" y="1017433"/>
            <a:ext cx="2086377" cy="5280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fr-CA" sz="2400" b="1" dirty="0">
                <a:solidFill>
                  <a:srgbClr val="000000"/>
                </a:solidFill>
                <a:latin typeface="Calibri" panose="020F0502020204030204"/>
              </a:rPr>
              <a:t>Objectif</a:t>
            </a:r>
          </a:p>
        </p:txBody>
      </p:sp>
      <p:sp>
        <p:nvSpPr>
          <p:cNvPr id="8" name="Rectangle à coins arrondis 7"/>
          <p:cNvSpPr/>
          <p:nvPr>
            <p:custDataLst>
              <p:tags r:id="rId5"/>
            </p:custDataLst>
          </p:nvPr>
        </p:nvSpPr>
        <p:spPr>
          <a:xfrm>
            <a:off x="9169757" y="2195821"/>
            <a:ext cx="2086377" cy="5280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fr-CA" sz="2400" b="1" dirty="0">
                <a:solidFill>
                  <a:srgbClr val="000000"/>
                </a:solidFill>
                <a:latin typeface="Calibri" panose="020F0502020204030204"/>
              </a:rPr>
              <a:t>Analyse</a:t>
            </a:r>
          </a:p>
        </p:txBody>
      </p:sp>
      <p:sp>
        <p:nvSpPr>
          <p:cNvPr id="9" name="Rectangle à coins arrondis 8"/>
          <p:cNvSpPr/>
          <p:nvPr>
            <p:custDataLst>
              <p:tags r:id="rId6"/>
            </p:custDataLst>
          </p:nvPr>
        </p:nvSpPr>
        <p:spPr>
          <a:xfrm>
            <a:off x="9169758" y="3995250"/>
            <a:ext cx="2086377" cy="5280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fr-CA" sz="2400" b="1" dirty="0">
                <a:solidFill>
                  <a:srgbClr val="000000"/>
                </a:solidFill>
                <a:latin typeface="Calibri" panose="020F0502020204030204"/>
              </a:rPr>
              <a:t>Favorise</a:t>
            </a:r>
          </a:p>
        </p:txBody>
      </p:sp>
      <p:sp>
        <p:nvSpPr>
          <p:cNvPr id="10" name="Rectangle à coins arrondis 9"/>
          <p:cNvSpPr/>
          <p:nvPr>
            <p:custDataLst>
              <p:tags r:id="rId7"/>
            </p:custDataLst>
          </p:nvPr>
        </p:nvSpPr>
        <p:spPr>
          <a:xfrm>
            <a:off x="9169758" y="5148617"/>
            <a:ext cx="2086377" cy="52803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fr-CA" sz="2400" b="1" dirty="0">
                <a:solidFill>
                  <a:srgbClr val="000000"/>
                </a:solidFill>
                <a:latin typeface="Calibri" panose="020F0502020204030204"/>
              </a:rPr>
              <a:t>Support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FDE6FB8-5539-11BA-A6A2-EDB351F5D107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421997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390728" y="199757"/>
            <a:ext cx="10515600" cy="1171844"/>
          </a:xfrm>
        </p:spPr>
        <p:txBody>
          <a:bodyPr>
            <a:normAutofit/>
          </a:bodyPr>
          <a:lstStyle/>
          <a:p>
            <a:r>
              <a:rPr lang="fr-CA" sz="4800" dirty="0">
                <a:solidFill>
                  <a:schemeClr val="accent1">
                    <a:lumMod val="50000"/>
                  </a:schemeClr>
                </a:solidFill>
              </a:rPr>
              <a:t>Utilité du budget de caisse</a:t>
            </a:r>
          </a:p>
        </p:txBody>
      </p:sp>
      <p:graphicFrame>
        <p:nvGraphicFramePr>
          <p:cNvPr id="7" name="Espace réservé du contenu 6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1334310" y="1371601"/>
          <a:ext cx="9764951" cy="4766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AC12AA5D-6AA1-8689-61E5-E94082C9C763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302798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Cycle d’exploitation 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2"/>
            </p:custDataLst>
          </p:nvPr>
        </p:nvGraphicFramePr>
        <p:xfrm>
          <a:off x="1193800" y="2125134"/>
          <a:ext cx="7760547" cy="4000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6" name="Rectangle à coins arrondis 5"/>
          <p:cNvSpPr/>
          <p:nvPr>
            <p:custDataLst>
              <p:tags r:id="rId3"/>
            </p:custDataLst>
          </p:nvPr>
        </p:nvSpPr>
        <p:spPr>
          <a:xfrm>
            <a:off x="8954347" y="2302935"/>
            <a:ext cx="2871893" cy="3822699"/>
          </a:xfrm>
          <a:prstGeom prst="roundRect">
            <a:avLst/>
          </a:prstGeom>
          <a:gradFill>
            <a:gsLst>
              <a:gs pos="0">
                <a:schemeClr val="bg1">
                  <a:lumMod val="65000"/>
                </a:schemeClr>
              </a:gs>
              <a:gs pos="72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7"/>
            <a:r>
              <a:rPr lang="fr-CA" sz="2400" b="1" dirty="0">
                <a:solidFill>
                  <a:srgbClr val="000000"/>
                </a:solidFill>
                <a:latin typeface="Calibri" panose="020F0502020204030204"/>
              </a:rPr>
              <a:t>Durée du cycle d’exploitation: temps écoulé  entre le paiement des fournisseurs et le recouvrement des comptes clients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84AEC30-3F78-9FB3-E04A-58F9FBCCD6B4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078917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anchor="ctr">
            <a:noAutofit/>
          </a:bodyPr>
          <a:lstStyle/>
          <a:p>
            <a:r>
              <a:rPr lang="fr-FR" sz="4800" dirty="0">
                <a:solidFill>
                  <a:schemeClr val="accent1">
                    <a:lumMod val="50000"/>
                  </a:schemeClr>
                </a:solidFill>
              </a:rPr>
              <a:t>Contenu du budget de caisse - Les recettes</a:t>
            </a:r>
          </a:p>
        </p:txBody>
      </p:sp>
      <p:sp>
        <p:nvSpPr>
          <p:cNvPr id="49167" name="Rectangle 1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32402" y="3213128"/>
            <a:ext cx="2232025" cy="1368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914377"/>
            <a:r>
              <a:rPr lang="fr-CA" sz="2000" b="1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Trésorerie</a:t>
            </a:r>
          </a:p>
        </p:txBody>
      </p:sp>
      <p:sp>
        <p:nvSpPr>
          <p:cNvPr id="49168" name="Rectangle 1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809984" y="1628801"/>
            <a:ext cx="5072099" cy="7159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defTabSz="914377"/>
            <a:r>
              <a:rPr lang="fr-FR" sz="1351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Activités normales (opérations courantes)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Ventes au comptant</a:t>
            </a:r>
          </a:p>
          <a:p>
            <a:pPr marL="457189" lvl="1"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Encaissements des comptes clients</a:t>
            </a:r>
            <a:endParaRPr lang="fr-CA" sz="1351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49169" name="AutoShape 17"/>
          <p:cNvCxnSpPr>
            <a:cxnSpLocks noChangeShapeType="1"/>
            <a:stCxn id="49168" idx="2"/>
            <a:endCxn id="49167" idx="0"/>
          </p:cNvCxnSpPr>
          <p:nvPr>
            <p:custDataLst>
              <p:tags r:id="rId4"/>
            </p:custDataLst>
          </p:nvPr>
        </p:nvCxnSpPr>
        <p:spPr bwMode="auto">
          <a:xfrm>
            <a:off x="6346034" y="2344766"/>
            <a:ext cx="2381" cy="8683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9170" name="AutoShape 18"/>
          <p:cNvCxnSpPr>
            <a:cxnSpLocks noChangeShapeType="1"/>
            <a:stCxn id="49175" idx="3"/>
            <a:endCxn id="49167" idx="1"/>
          </p:cNvCxnSpPr>
          <p:nvPr>
            <p:custDataLst>
              <p:tags r:id="rId5"/>
            </p:custDataLst>
          </p:nvPr>
        </p:nvCxnSpPr>
        <p:spPr bwMode="auto">
          <a:xfrm>
            <a:off x="4583113" y="3759187"/>
            <a:ext cx="649289" cy="1381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9171" name="Rectangle 19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7967663" y="3297265"/>
            <a:ext cx="2411412" cy="9238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351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Autres sources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Ventes d’actif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Royautés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Revenus de location</a:t>
            </a:r>
            <a:endParaRPr lang="fr-CA" sz="1351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172" name="Rectangle 20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4945066" y="4940327"/>
            <a:ext cx="2808287" cy="9238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351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Financement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Emprunt C.T.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Dette</a:t>
            </a:r>
            <a:r>
              <a:rPr lang="fr-CA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 L.T.</a:t>
            </a:r>
          </a:p>
          <a:p>
            <a:pPr algn="ctr" defTabSz="914377"/>
            <a:r>
              <a:rPr lang="fr-CA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Émission d’actions</a:t>
            </a:r>
          </a:p>
        </p:txBody>
      </p:sp>
      <p:cxnSp>
        <p:nvCxnSpPr>
          <p:cNvPr id="49173" name="AutoShape 21"/>
          <p:cNvCxnSpPr>
            <a:cxnSpLocks noChangeShapeType="1"/>
            <a:stCxn id="49172" idx="0"/>
            <a:endCxn id="49167" idx="2"/>
          </p:cNvCxnSpPr>
          <p:nvPr>
            <p:custDataLst>
              <p:tags r:id="rId8"/>
            </p:custDataLst>
          </p:nvPr>
        </p:nvCxnSpPr>
        <p:spPr bwMode="auto">
          <a:xfrm flipH="1" flipV="1">
            <a:off x="6348415" y="4581553"/>
            <a:ext cx="795" cy="35877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9174" name="AutoShape 22"/>
          <p:cNvCxnSpPr>
            <a:cxnSpLocks noChangeShapeType="1"/>
            <a:stCxn id="49171" idx="1"/>
            <a:endCxn id="49167" idx="3"/>
          </p:cNvCxnSpPr>
          <p:nvPr>
            <p:custDataLst>
              <p:tags r:id="rId9"/>
            </p:custDataLst>
          </p:nvPr>
        </p:nvCxnSpPr>
        <p:spPr bwMode="auto">
          <a:xfrm flipH="1">
            <a:off x="7464427" y="3759187"/>
            <a:ext cx="503236" cy="138154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49175" name="Rectangle 23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1774825" y="3297265"/>
            <a:ext cx="2808288" cy="9238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351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Placement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Intérêts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Dividendes</a:t>
            </a:r>
          </a:p>
          <a:p>
            <a:pPr algn="ctr" defTabSz="914377"/>
            <a:r>
              <a:rPr lang="fr-FR" sz="1351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Échéance de placement</a:t>
            </a:r>
            <a:endParaRPr lang="fr-CA" sz="1351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9651704-89BF-DCD4-03A1-15C7053DEC6E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375089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350188" y="917614"/>
            <a:ext cx="10400421" cy="564257"/>
          </a:xfrm>
        </p:spPr>
        <p:txBody>
          <a:bodyPr vert="horz" anchor="ctr">
            <a:noAutofit/>
          </a:bodyPr>
          <a:lstStyle/>
          <a:p>
            <a:r>
              <a:rPr lang="fr-FR" sz="4800" dirty="0">
                <a:solidFill>
                  <a:schemeClr val="accent1">
                    <a:lumMod val="50000"/>
                  </a:schemeClr>
                </a:solidFill>
              </a:rPr>
              <a:t>Contenu du budget de caisse - Les débours</a:t>
            </a:r>
          </a:p>
        </p:txBody>
      </p:sp>
      <p:sp>
        <p:nvSpPr>
          <p:cNvPr id="51214" name="Rectangl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232402" y="3338516"/>
            <a:ext cx="2232025" cy="1368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defTabSz="914377"/>
            <a:r>
              <a:rPr lang="fr-CA" sz="2000" b="1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Trésorerie</a:t>
            </a:r>
          </a:p>
        </p:txBody>
      </p:sp>
      <p:sp>
        <p:nvSpPr>
          <p:cNvPr id="51215" name="Rectangle 1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423593" y="1773239"/>
            <a:ext cx="3816351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600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Activités normales (courantes)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Achats au comptant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Paiements des comptes fournisseurs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Paiements des salaires</a:t>
            </a:r>
            <a:endParaRPr lang="fr-CA" sz="1600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216" name="AutoShape 16"/>
          <p:cNvCxnSpPr>
            <a:cxnSpLocks noChangeShapeType="1"/>
            <a:stCxn id="51215" idx="2"/>
            <a:endCxn id="51214" idx="0"/>
          </p:cNvCxnSpPr>
          <p:nvPr>
            <p:custDataLst>
              <p:tags r:id="rId4"/>
            </p:custDataLst>
          </p:nvPr>
        </p:nvCxnSpPr>
        <p:spPr bwMode="auto">
          <a:xfrm>
            <a:off x="4331769" y="2850457"/>
            <a:ext cx="2016646" cy="488059"/>
          </a:xfrm>
          <a:prstGeom prst="straightConnector1">
            <a:avLst/>
          </a:prstGeom>
          <a:noFill/>
          <a:ln w="9525">
            <a:solidFill>
              <a:srgbClr val="F32503"/>
            </a:solidFill>
            <a:round/>
            <a:headEnd type="triangle" w="med" len="med"/>
            <a:tailEnd/>
          </a:ln>
          <a:effectLst/>
        </p:spPr>
      </p:cxnSp>
      <p:sp>
        <p:nvSpPr>
          <p:cNvPr id="51217" name="Rectangle 17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668463" y="3356993"/>
            <a:ext cx="3059112" cy="1323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600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Financement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Intérêts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Dividendes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Remboursement de dette L.T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Rachat d’actions</a:t>
            </a:r>
            <a:endParaRPr lang="fr-CA" sz="1600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218" name="AutoShape 18"/>
          <p:cNvCxnSpPr>
            <a:cxnSpLocks noChangeShapeType="1"/>
            <a:stCxn id="51217" idx="3"/>
            <a:endCxn id="51214" idx="1"/>
          </p:cNvCxnSpPr>
          <p:nvPr>
            <p:custDataLst>
              <p:tags r:id="rId6"/>
            </p:custDataLst>
          </p:nvPr>
        </p:nvCxnSpPr>
        <p:spPr bwMode="auto">
          <a:xfrm>
            <a:off x="4727575" y="4018713"/>
            <a:ext cx="504827" cy="4016"/>
          </a:xfrm>
          <a:prstGeom prst="straightConnector1">
            <a:avLst/>
          </a:prstGeom>
          <a:noFill/>
          <a:ln w="9525">
            <a:solidFill>
              <a:srgbClr val="F32503"/>
            </a:solidFill>
            <a:round/>
            <a:headEnd type="triangle" w="med" len="med"/>
            <a:tailEnd/>
          </a:ln>
          <a:effectLst/>
        </p:spPr>
      </p:cxnSp>
      <p:sp>
        <p:nvSpPr>
          <p:cNvPr id="51219" name="Rectangle 19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7967663" y="3606118"/>
            <a:ext cx="2411412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600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Autres sources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Achats d’actifs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Royautés</a:t>
            </a:r>
          </a:p>
        </p:txBody>
      </p:sp>
      <p:sp>
        <p:nvSpPr>
          <p:cNvPr id="51220" name="Rectangle 20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4945066" y="5084766"/>
            <a:ext cx="280828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600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Placement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Placement C.T.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Placement</a:t>
            </a:r>
            <a:r>
              <a:rPr lang="fr-CA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 L.T.</a:t>
            </a:r>
          </a:p>
        </p:txBody>
      </p:sp>
      <p:cxnSp>
        <p:nvCxnSpPr>
          <p:cNvPr id="51221" name="AutoShape 21"/>
          <p:cNvCxnSpPr>
            <a:cxnSpLocks noChangeShapeType="1"/>
            <a:stCxn id="51220" idx="0"/>
            <a:endCxn id="51214" idx="2"/>
          </p:cNvCxnSpPr>
          <p:nvPr>
            <p:custDataLst>
              <p:tags r:id="rId9"/>
            </p:custDataLst>
          </p:nvPr>
        </p:nvCxnSpPr>
        <p:spPr bwMode="auto">
          <a:xfrm flipH="1" flipV="1">
            <a:off x="6348415" y="4706941"/>
            <a:ext cx="795" cy="377825"/>
          </a:xfrm>
          <a:prstGeom prst="straightConnector1">
            <a:avLst/>
          </a:prstGeom>
          <a:noFill/>
          <a:ln w="9525">
            <a:solidFill>
              <a:srgbClr val="F32503"/>
            </a:solidFill>
            <a:round/>
            <a:headEnd type="triangle" w="med" len="med"/>
            <a:tailEnd/>
          </a:ln>
          <a:effectLst/>
        </p:spPr>
      </p:cxnSp>
      <p:cxnSp>
        <p:nvCxnSpPr>
          <p:cNvPr id="51222" name="AutoShape 22"/>
          <p:cNvCxnSpPr>
            <a:cxnSpLocks noChangeShapeType="1"/>
            <a:stCxn id="51219" idx="1"/>
            <a:endCxn id="51214" idx="3"/>
          </p:cNvCxnSpPr>
          <p:nvPr>
            <p:custDataLst>
              <p:tags r:id="rId10"/>
            </p:custDataLst>
          </p:nvPr>
        </p:nvCxnSpPr>
        <p:spPr bwMode="auto">
          <a:xfrm flipH="1">
            <a:off x="7464427" y="4021617"/>
            <a:ext cx="503236" cy="1112"/>
          </a:xfrm>
          <a:prstGeom prst="straightConnector1">
            <a:avLst/>
          </a:prstGeom>
          <a:noFill/>
          <a:ln w="9525">
            <a:solidFill>
              <a:srgbClr val="F32503"/>
            </a:solidFill>
            <a:round/>
            <a:headEnd type="triangle" w="med" len="med"/>
            <a:tailEnd/>
          </a:ln>
          <a:effectLst/>
        </p:spPr>
      </p:cxnSp>
      <p:sp>
        <p:nvSpPr>
          <p:cNvPr id="51223" name="Rectangle 23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456363" y="1773239"/>
            <a:ext cx="3816351" cy="107721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defTabSz="914377"/>
            <a:r>
              <a:rPr lang="fr-FR" sz="1600" b="1" u="sng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Activités normales d’administration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Achats au comptant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Paiements des comptes fournisseurs</a:t>
            </a:r>
          </a:p>
          <a:p>
            <a:pPr algn="ctr" defTabSz="914377"/>
            <a:r>
              <a:rPr lang="fr-FR" sz="1600" dirty="0">
                <a:solidFill>
                  <a:srgbClr val="003C71"/>
                </a:solidFill>
                <a:latin typeface="Arial" pitchFamily="34" charset="0"/>
                <a:cs typeface="Arial" pitchFamily="34" charset="0"/>
              </a:rPr>
              <a:t>Paiements des salaires</a:t>
            </a:r>
            <a:endParaRPr lang="fr-CA" sz="1600" dirty="0">
              <a:solidFill>
                <a:srgbClr val="003C71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51224" name="AutoShape 24"/>
          <p:cNvCxnSpPr>
            <a:cxnSpLocks noChangeShapeType="1"/>
            <a:stCxn id="51223" idx="2"/>
            <a:endCxn id="51214" idx="0"/>
          </p:cNvCxnSpPr>
          <p:nvPr>
            <p:custDataLst>
              <p:tags r:id="rId12"/>
            </p:custDataLst>
          </p:nvPr>
        </p:nvCxnSpPr>
        <p:spPr bwMode="auto">
          <a:xfrm flipH="1">
            <a:off x="6348415" y="2850457"/>
            <a:ext cx="2016124" cy="488059"/>
          </a:xfrm>
          <a:prstGeom prst="straightConnector1">
            <a:avLst/>
          </a:prstGeom>
          <a:noFill/>
          <a:ln w="9525">
            <a:solidFill>
              <a:srgbClr val="F32503"/>
            </a:solidFill>
            <a:round/>
            <a:headEnd type="triangle" w="med" len="med"/>
            <a:tailEnd/>
          </a:ln>
          <a:effectLst/>
        </p:spPr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4D7D524F-397F-92E7-9C75-8FE9307C5D89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349307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98315" y="863038"/>
            <a:ext cx="10400421" cy="564257"/>
          </a:xfrm>
        </p:spPr>
        <p:txBody>
          <a:bodyPr vert="horz" anchor="ctr">
            <a:noAutofit/>
          </a:bodyPr>
          <a:lstStyle/>
          <a:p>
            <a:r>
              <a:rPr lang="fr-FR" sz="32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fr-FR" sz="4800" dirty="0">
                <a:solidFill>
                  <a:schemeClr val="accent1">
                    <a:lumMod val="50000"/>
                  </a:schemeClr>
                </a:solidFill>
              </a:rPr>
              <a:t>Budget de caisse - Les exclusions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6"/>
            <a:ext cx="5181600" cy="3485677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720707" algn="l"/>
              </a:tabLst>
            </a:pPr>
            <a:r>
              <a:rPr lang="fr-FR" sz="2400" dirty="0"/>
              <a:t>Mauvaises créances et provisions pour mauvaises créances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Charges d’amortissement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Gain ou perte sur dispositions d’actifs (immobilisations ou placements)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Provision pour désuétude des stocks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Dividendes déclarés (mais non versés)</a:t>
            </a:r>
          </a:p>
          <a:p>
            <a:pPr>
              <a:buFont typeface="Wingdings" pitchFamily="2" charset="2"/>
              <a:buChar char="Ø"/>
              <a:tabLst>
                <a:tab pos="720707" algn="l"/>
              </a:tabLst>
            </a:pPr>
            <a:endParaRPr lang="fr-FR" sz="24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867728" y="1825626"/>
            <a:ext cx="4486072" cy="3485677"/>
          </a:xfr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>
            <a:normAutofit fontScale="77500" lnSpcReduction="20000"/>
          </a:bodyPr>
          <a:lstStyle/>
          <a:p>
            <a:pPr>
              <a:buNone/>
              <a:tabLst>
                <a:tab pos="720707" algn="l"/>
              </a:tabLst>
            </a:pPr>
            <a:r>
              <a:rPr lang="fr-FR" sz="2400" b="1" dirty="0"/>
              <a:t>Notes : 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Tous les revenus et les dépenses qui ne représentent pas un mouvement de $ doivent être exclus.</a:t>
            </a:r>
          </a:p>
          <a:p>
            <a:pPr>
              <a:tabLst>
                <a:tab pos="720707" algn="l"/>
              </a:tabLst>
            </a:pPr>
            <a:r>
              <a:rPr lang="fr-FR" sz="2400" dirty="0"/>
              <a:t>Le budget de caisse doit inclure </a:t>
            </a:r>
            <a:r>
              <a:rPr lang="fr-FR" sz="2400" i="1" u="sng" dirty="0"/>
              <a:t>les mouvements d’argent</a:t>
            </a:r>
            <a:r>
              <a:rPr lang="fr-FR" sz="2400" u="sng" dirty="0"/>
              <a:t> </a:t>
            </a:r>
            <a:r>
              <a:rPr lang="fr-FR" sz="2400" dirty="0"/>
              <a:t>au moment où ils se produisent.</a:t>
            </a:r>
          </a:p>
          <a:p>
            <a:endParaRPr lang="fr-CA" sz="3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D333CEB-BF5A-2824-DE0A-E767708D6740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890923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418555" y="853338"/>
            <a:ext cx="10400421" cy="564257"/>
          </a:xfrm>
        </p:spPr>
        <p:txBody>
          <a:bodyPr vert="horz" anchor="ctr">
            <a:noAutofit/>
          </a:bodyPr>
          <a:lstStyle/>
          <a:p>
            <a:r>
              <a:rPr lang="fr-CA" sz="4800" dirty="0">
                <a:solidFill>
                  <a:schemeClr val="accent1">
                    <a:lumMod val="50000"/>
                  </a:schemeClr>
                </a:solidFill>
              </a:rPr>
              <a:t>Budget de caisse - Les règles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838200" y="1596982"/>
            <a:ext cx="10515600" cy="457998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Être établi tous les mois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Être continu (préparé pour les 12 mois à venir, tous les mois)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Distinguer les activités d’exploitation normales des autres activités commerciales (revenus de placements)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Distinguer les postes engagés des postes discrétionnaires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Se concentrer sur les postes susceptibles d’avoir des répercussions sur le solde en caisse (importance matérielle élevée, caractère saisonnier, etc.)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Établir, pour chaque poste, les facteurs expliquant les grandes variations de recettes/débours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fr-CA" dirty="0"/>
              <a:t>Préciser les scénarios de volume prévisionnel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7B0A311-C0F6-CBA3-6768-2B89A64E0E29}"/>
              </a:ext>
            </a:extLst>
          </p:cNvPr>
          <p:cNvSpPr txBox="1"/>
          <p:nvPr/>
        </p:nvSpPr>
        <p:spPr>
          <a:xfrm>
            <a:off x="5363110" y="6340236"/>
            <a:ext cx="177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©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78884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290057" y="283919"/>
            <a:ext cx="9953625" cy="6038851"/>
          </a:xfrm>
          <a:prstGeom prst="rect">
            <a:avLst/>
          </a:prstGeom>
        </p:spPr>
      </p:pic>
      <p:sp>
        <p:nvSpPr>
          <p:cNvPr id="2" name="Rectangle : coins arrondis 1">
            <a:extLst>
              <a:ext uri="{FF2B5EF4-FFF2-40B4-BE49-F238E27FC236}">
                <a16:creationId xmlns:a16="http://schemas.microsoft.com/office/drawing/2014/main" id="{938E3564-3881-86EE-5DD8-429A2AFD6A7B}"/>
              </a:ext>
            </a:extLst>
          </p:cNvPr>
          <p:cNvSpPr/>
          <p:nvPr/>
        </p:nvSpPr>
        <p:spPr>
          <a:xfrm>
            <a:off x="1290057" y="143838"/>
            <a:ext cx="1823013" cy="30822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52155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8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heme/theme1.xml><?xml version="1.0" encoding="utf-8"?>
<a:theme xmlns:a="http://schemas.openxmlformats.org/drawingml/2006/main" name="1_Office Theme">
  <a:themeElements>
    <a:clrScheme name="HEC ED">
      <a:dk1>
        <a:srgbClr val="000000"/>
      </a:dk1>
      <a:lt1>
        <a:srgbClr val="FFFFFF"/>
      </a:lt1>
      <a:dk2>
        <a:srgbClr val="003C71"/>
      </a:dk2>
      <a:lt2>
        <a:srgbClr val="003C71"/>
      </a:lt2>
      <a:accent1>
        <a:srgbClr val="009FDF"/>
      </a:accent1>
      <a:accent2>
        <a:srgbClr val="009FDF"/>
      </a:accent2>
      <a:accent3>
        <a:srgbClr val="97999B"/>
      </a:accent3>
      <a:accent4>
        <a:srgbClr val="97999B"/>
      </a:accent4>
      <a:accent5>
        <a:srgbClr val="3CB5E6"/>
      </a:accent5>
      <a:accent6>
        <a:srgbClr val="3CB5E6"/>
      </a:accent6>
      <a:hlink>
        <a:srgbClr val="009FDF"/>
      </a:hlink>
      <a:folHlink>
        <a:srgbClr val="009FD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88C45F76CCDB43A86359868621ABBF" ma:contentTypeVersion="8" ma:contentTypeDescription="Create a new document." ma:contentTypeScope="" ma:versionID="88cce1ec5845f43c654261a9a871cf16">
  <xsd:schema xmlns:xsd="http://www.w3.org/2001/XMLSchema" xmlns:xs="http://www.w3.org/2001/XMLSchema" xmlns:p="http://schemas.microsoft.com/office/2006/metadata/properties" xmlns:ns3="65806708-f9f3-41fb-896d-8a4e9be62363" xmlns:ns4="e46d8f65-c35b-4982-94a2-35659ae4d67c" targetNamespace="http://schemas.microsoft.com/office/2006/metadata/properties" ma:root="true" ma:fieldsID="3e37f8128cf5b1c0bfdcad3bb89caa08" ns3:_="" ns4:_="">
    <xsd:import namespace="65806708-f9f3-41fb-896d-8a4e9be62363"/>
    <xsd:import namespace="e46d8f65-c35b-4982-94a2-35659ae4d67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806708-f9f3-41fb-896d-8a4e9be623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6d8f65-c35b-4982-94a2-35659ae4d67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4D6747-A03D-43E5-A778-C5F212E02405}">
  <ds:schemaRefs>
    <ds:schemaRef ds:uri="e46d8f65-c35b-4982-94a2-35659ae4d67c"/>
    <ds:schemaRef ds:uri="http://purl.org/dc/dcmitype/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purl.org/dc/terms/"/>
    <ds:schemaRef ds:uri="65806708-f9f3-41fb-896d-8a4e9be62363"/>
    <ds:schemaRef ds:uri="http://schemas.microsoft.com/office/2006/documentManagement/types"/>
    <ds:schemaRef ds:uri="http://purl.org/dc/elements/1.1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6C5FCB5-58C8-4055-AB54-66D82BA0BE9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ED2433-B17B-4489-A42A-12DFCF8A1D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806708-f9f3-41fb-896d-8a4e9be62363"/>
    <ds:schemaRef ds:uri="e46d8f65-c35b-4982-94a2-35659ae4d6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668</Words>
  <Application>Microsoft Office PowerPoint</Application>
  <PresentationFormat>Grand écran</PresentationFormat>
  <Paragraphs>140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1_Office Theme</vt:lpstr>
      <vt:lpstr>La gestion de la trésorerie</vt:lpstr>
      <vt:lpstr>Présentation PowerPoint</vt:lpstr>
      <vt:lpstr>Présentation PowerPoint</vt:lpstr>
      <vt:lpstr>Planification de la trésorerie</vt:lpstr>
      <vt:lpstr>Utilité du budget de caisse</vt:lpstr>
      <vt:lpstr>Cycle d’exploitation </vt:lpstr>
      <vt:lpstr>Contenu du budget de caisse - Les recettes</vt:lpstr>
      <vt:lpstr>Contenu du budget de caisse - Les débours</vt:lpstr>
      <vt:lpstr> Budget de caisse - Les exclusions</vt:lpstr>
      <vt:lpstr>Budget de caisse - Les règles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gestion de la trésorerie</dc:title>
  <dc:creator>marie-eve quenneville</dc:creator>
  <cp:lastModifiedBy>Marie-Ève Quenneville</cp:lastModifiedBy>
  <cp:revision>1</cp:revision>
  <dcterms:created xsi:type="dcterms:W3CDTF">2020-11-19T14:31:14Z</dcterms:created>
  <dcterms:modified xsi:type="dcterms:W3CDTF">2022-09-15T17:11:58Z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0x010100CF88C45F76CCDB43A86359868621ABBF</vt:lpwstr>
  </property>
</Properties>
</file>