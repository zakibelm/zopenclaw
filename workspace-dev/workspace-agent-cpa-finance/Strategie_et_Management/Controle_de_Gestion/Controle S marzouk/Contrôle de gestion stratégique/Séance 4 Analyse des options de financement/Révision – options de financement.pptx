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sldIdLst>
    <p:sldId id="256" r:id="rId5"/>
    <p:sldId id="320" r:id="rId6"/>
    <p:sldId id="297" r:id="rId7"/>
    <p:sldId id="323" r:id="rId8"/>
    <p:sldId id="321" r:id="rId9"/>
    <p:sldId id="301" r:id="rId10"/>
    <p:sldId id="299" r:id="rId11"/>
    <p:sldId id="300" r:id="rId12"/>
    <p:sldId id="322" r:id="rId13"/>
    <p:sldId id="302" r:id="rId14"/>
    <p:sldId id="303" r:id="rId15"/>
    <p:sldId id="304" r:id="rId16"/>
    <p:sldId id="305" r:id="rId17"/>
    <p:sldId id="30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1751" autoAdjust="0"/>
  </p:normalViewPr>
  <p:slideViewPr>
    <p:cSldViewPr snapToGrid="0">
      <p:cViewPr varScale="1">
        <p:scale>
          <a:sx n="68" d="100"/>
          <a:sy n="68" d="100"/>
        </p:scale>
        <p:origin x="12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BD53A2-02B4-471F-933A-4695D41E6844}" type="datetimeFigureOut">
              <a:rPr lang="fr-CA" smtClean="0"/>
              <a:t>2025-04-13</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30B01E-2329-4DA8-B54D-506A432B814C}" type="slidenum">
              <a:rPr lang="fr-CA" smtClean="0"/>
              <a:t>‹N°›</a:t>
            </a:fld>
            <a:endParaRPr lang="fr-CA"/>
          </a:p>
        </p:txBody>
      </p:sp>
    </p:spTree>
    <p:extLst>
      <p:ext uri="{BB962C8B-B14F-4D97-AF65-F5344CB8AC3E}">
        <p14:creationId xmlns:p14="http://schemas.microsoft.com/office/powerpoint/2010/main" val="624323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La communication en cas les attentes des parties prenante c’est sera pour tous les  cours </a:t>
            </a:r>
          </a:p>
          <a:p>
            <a:r>
              <a:rPr lang="fr-CA" dirty="0"/>
              <a:t>Plan de réponse toujours QCQR </a:t>
            </a:r>
          </a:p>
          <a:p>
            <a:r>
              <a:rPr lang="fr-CA" dirty="0"/>
              <a:t>Pour une van le minimum quantitatif (Résultat  a un taux de 10% l’</a:t>
            </a:r>
            <a:r>
              <a:rPr lang="fr-CA" dirty="0" err="1"/>
              <a:t>inv</a:t>
            </a:r>
            <a:r>
              <a:rPr lang="fr-CA" dirty="0"/>
              <a:t> de 12M donne un van de 2M le projet est intéressant de point de vue quantitatif) les 4 éléments</a:t>
            </a:r>
          </a:p>
          <a:p>
            <a:r>
              <a:rPr lang="fr-CA" dirty="0"/>
              <a:t>Hypothèses et couts manquants:(des fois ils nous donne le Q C donc des fois c’est nous qui va faire les hypothèse et couts manquants) cela relatif au variable donc regarder les couts manquant et aussi la qualité de l’</a:t>
            </a:r>
            <a:r>
              <a:rPr lang="fr-CA" dirty="0" err="1"/>
              <a:t>inforamation</a:t>
            </a:r>
            <a:r>
              <a:rPr lang="fr-CA" dirty="0"/>
              <a:t> on va critiquer ce que est donné</a:t>
            </a:r>
          </a:p>
          <a:p>
            <a:r>
              <a:rPr lang="fr-CA" dirty="0"/>
              <a:t>Les impacts sur les objectifs:</a:t>
            </a:r>
          </a:p>
          <a:p>
            <a:r>
              <a:rPr lang="fr-CA" dirty="0" err="1"/>
              <a:t>Qualitatif:impact</a:t>
            </a:r>
            <a:r>
              <a:rPr lang="fr-CA" dirty="0"/>
              <a:t> sur la </a:t>
            </a:r>
            <a:r>
              <a:rPr lang="fr-CA" dirty="0" err="1"/>
              <a:t>Vision,mission</a:t>
            </a:r>
            <a:r>
              <a:rPr lang="fr-CA" dirty="0"/>
              <a:t> et valeur </a:t>
            </a:r>
          </a:p>
          <a:p>
            <a:r>
              <a:rPr lang="fr-CA" dirty="0" err="1"/>
              <a:t>Inconvinients</a:t>
            </a:r>
            <a:r>
              <a:rPr lang="fr-CA" dirty="0"/>
              <a:t> toujours lié au cas dire c’est pour quoi est un </a:t>
            </a:r>
            <a:r>
              <a:rPr lang="fr-CA" dirty="0" err="1"/>
              <a:t>inconvienet</a:t>
            </a:r>
            <a:r>
              <a:rPr lang="fr-CA" dirty="0"/>
              <a:t> </a:t>
            </a:r>
          </a:p>
          <a:p>
            <a:r>
              <a:rPr lang="fr-CA" dirty="0"/>
              <a:t>Avantages toujours lié au cas dire pour quoi est un avantage pour les deux on appelle ca l’</a:t>
            </a:r>
            <a:r>
              <a:rPr lang="fr-CA" dirty="0" err="1"/>
              <a:t>intégaration</a:t>
            </a:r>
            <a:r>
              <a:rPr lang="fr-CA" dirty="0"/>
              <a:t> des faits (conséquences sur les objectif)</a:t>
            </a:r>
          </a:p>
          <a:p>
            <a:r>
              <a:rPr lang="fr-CA" dirty="0"/>
              <a:t>Il faut 6-8 arguments complets et valides </a:t>
            </a:r>
          </a:p>
          <a:p>
            <a:r>
              <a:rPr lang="fr-CA" dirty="0"/>
              <a:t>Pour 2025 on applique les 75% de capital a année 0 (Catégorie 43 et 53)</a:t>
            </a:r>
          </a:p>
          <a:p>
            <a:r>
              <a:rPr lang="fr-CA" dirty="0"/>
              <a:t>Et pour les 25% restant de C on va appliquer la formule a année 1 et puis  sera calculer avec la formule de la VAN il est a l’</a:t>
            </a:r>
            <a:r>
              <a:rPr lang="fr-CA" dirty="0" err="1"/>
              <a:t>interieur</a:t>
            </a:r>
            <a:r>
              <a:rPr lang="fr-CA" dirty="0"/>
              <a:t> </a:t>
            </a:r>
          </a:p>
          <a:p>
            <a:r>
              <a:rPr lang="fr-CA" dirty="0"/>
              <a:t>Pour les autres catégorie on applique la formule a l’année 0 </a:t>
            </a:r>
          </a:p>
          <a:p>
            <a:endParaRPr lang="fr-CA" dirty="0"/>
          </a:p>
          <a:p>
            <a:endParaRPr lang="fr-CA" dirty="0"/>
          </a:p>
        </p:txBody>
      </p:sp>
      <p:sp>
        <p:nvSpPr>
          <p:cNvPr id="4" name="Espace réservé du numéro de diapositive 3"/>
          <p:cNvSpPr>
            <a:spLocks noGrp="1"/>
          </p:cNvSpPr>
          <p:nvPr>
            <p:ph type="sldNum" sz="quarter" idx="5"/>
          </p:nvPr>
        </p:nvSpPr>
        <p:spPr/>
        <p:txBody>
          <a:bodyPr/>
          <a:lstStyle/>
          <a:p>
            <a:fld id="{1230B01E-2329-4DA8-B54D-506A432B814C}" type="slidenum">
              <a:rPr lang="fr-CA" smtClean="0"/>
              <a:t>1</a:t>
            </a:fld>
            <a:endParaRPr lang="fr-CA"/>
          </a:p>
        </p:txBody>
      </p:sp>
    </p:spTree>
    <p:extLst>
      <p:ext uri="{BB962C8B-B14F-4D97-AF65-F5344CB8AC3E}">
        <p14:creationId xmlns:p14="http://schemas.microsoft.com/office/powerpoint/2010/main" val="872899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Analyse de rentabilité et analyse de flux de trésorerie (donc attention y’a une grande entre les deux analyse) analyse de liquidité et analyse de </a:t>
            </a:r>
            <a:r>
              <a:rPr lang="fr-CA" dirty="0" err="1"/>
              <a:t>rentanbilité</a:t>
            </a:r>
            <a:r>
              <a:rPr lang="fr-CA" dirty="0"/>
              <a:t> </a:t>
            </a:r>
          </a:p>
        </p:txBody>
      </p:sp>
      <p:sp>
        <p:nvSpPr>
          <p:cNvPr id="4" name="Espace réservé du numéro de diapositive 3"/>
          <p:cNvSpPr>
            <a:spLocks noGrp="1"/>
          </p:cNvSpPr>
          <p:nvPr>
            <p:ph type="sldNum" sz="quarter" idx="5"/>
          </p:nvPr>
        </p:nvSpPr>
        <p:spPr/>
        <p:txBody>
          <a:bodyPr/>
          <a:lstStyle/>
          <a:p>
            <a:fld id="{1230B01E-2329-4DA8-B54D-506A432B814C}" type="slidenum">
              <a:rPr lang="fr-CA" smtClean="0"/>
              <a:t>2</a:t>
            </a:fld>
            <a:endParaRPr lang="fr-CA"/>
          </a:p>
        </p:txBody>
      </p:sp>
    </p:spTree>
    <p:extLst>
      <p:ext uri="{BB962C8B-B14F-4D97-AF65-F5344CB8AC3E}">
        <p14:creationId xmlns:p14="http://schemas.microsoft.com/office/powerpoint/2010/main" val="3169982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Fermer  ou</a:t>
            </a:r>
          </a:p>
          <a:p>
            <a:r>
              <a:rPr lang="fr-CA" dirty="0"/>
              <a:t>Rester ouvert et changer le mix de produit ,,,,,,,,Rester sans </a:t>
            </a:r>
            <a:r>
              <a:rPr lang="fr-CA" dirty="0" err="1"/>
              <a:t>investissment</a:t>
            </a:r>
            <a:r>
              <a:rPr lang="fr-CA" dirty="0"/>
              <a:t>  ,,,,,,, ou bien avec investissement  ALU ou bien le plastique </a:t>
            </a:r>
          </a:p>
          <a:p>
            <a:r>
              <a:rPr lang="fr-CA" dirty="0"/>
              <a:t>Donc 4 options qui sont devant nous a analyser </a:t>
            </a:r>
          </a:p>
          <a:p>
            <a:r>
              <a:rPr lang="fr-CA" dirty="0"/>
              <a:t>Donc les </a:t>
            </a:r>
            <a:r>
              <a:rPr lang="fr-CA" dirty="0" err="1"/>
              <a:t>inconvients</a:t>
            </a:r>
            <a:r>
              <a:rPr lang="fr-CA" dirty="0"/>
              <a:t> d’une option sont les avantage de l’autre option </a:t>
            </a:r>
          </a:p>
          <a:p>
            <a:r>
              <a:rPr lang="fr-CA" dirty="0"/>
              <a:t>Pour les calculs fais les en </a:t>
            </a:r>
            <a:r>
              <a:rPr lang="fr-CA" dirty="0" err="1"/>
              <a:t>déatail</a:t>
            </a:r>
            <a:r>
              <a:rPr lang="fr-CA" dirty="0"/>
              <a:t> (ici on parle de différentiel on doit dire c’est quoi la </a:t>
            </a:r>
            <a:r>
              <a:rPr lang="fr-CA" dirty="0" err="1"/>
              <a:t>diffénce</a:t>
            </a:r>
            <a:r>
              <a:rPr lang="fr-CA" dirty="0"/>
              <a:t> entre une option et une autre)</a:t>
            </a:r>
          </a:p>
          <a:p>
            <a:r>
              <a:rPr lang="fr-CA" dirty="0"/>
              <a:t>Fermer</a:t>
            </a:r>
            <a:r>
              <a:rPr lang="fr-CA" dirty="0">
                <a:sym typeface="Wingdings" panose="05000000000000000000" pitchFamily="2" charset="2"/>
              </a:rPr>
              <a:t> (CT)</a:t>
            </a:r>
          </a:p>
          <a:p>
            <a:r>
              <a:rPr lang="fr-CA" dirty="0">
                <a:sym typeface="Wingdings" panose="05000000000000000000" pitchFamily="2" charset="2"/>
              </a:rPr>
              <a:t>Impact sur vision et mission et valeur et puis la réputation </a:t>
            </a:r>
          </a:p>
          <a:p>
            <a:r>
              <a:rPr lang="fr-CA" dirty="0">
                <a:sym typeface="Wingdings" panose="05000000000000000000" pitchFamily="2" charset="2"/>
              </a:rPr>
              <a:t>Dans un cas lorsque on a une donnée flou fait une </a:t>
            </a:r>
            <a:r>
              <a:rPr lang="fr-CA" dirty="0" err="1">
                <a:sym typeface="Wingdings" panose="05000000000000000000" pitchFamily="2" charset="2"/>
              </a:rPr>
              <a:t>hypothese</a:t>
            </a:r>
            <a:r>
              <a:rPr lang="fr-CA" dirty="0">
                <a:sym typeface="Wingdings" panose="05000000000000000000" pitchFamily="2" charset="2"/>
              </a:rPr>
              <a:t> puis avance le correcteur </a:t>
            </a:r>
            <a:r>
              <a:rPr lang="fr-CA" dirty="0" err="1">
                <a:sym typeface="Wingdings" panose="05000000000000000000" pitchFamily="2" charset="2"/>
              </a:rPr>
              <a:t>coprend</a:t>
            </a:r>
            <a:r>
              <a:rPr lang="fr-CA" dirty="0">
                <a:sym typeface="Wingdings" panose="05000000000000000000" pitchFamily="2" charset="2"/>
              </a:rPr>
              <a:t> ce que tu a fait donc l’</a:t>
            </a:r>
            <a:r>
              <a:rPr lang="fr-CA" dirty="0" err="1">
                <a:sym typeface="Wingdings" panose="05000000000000000000" pitchFamily="2" charset="2"/>
              </a:rPr>
              <a:t>éssentiel</a:t>
            </a:r>
            <a:r>
              <a:rPr lang="fr-CA" dirty="0">
                <a:sym typeface="Wingdings" panose="05000000000000000000" pitchFamily="2" charset="2"/>
              </a:rPr>
              <a:t> est la méthode </a:t>
            </a:r>
          </a:p>
          <a:p>
            <a:r>
              <a:rPr lang="fr-CA" dirty="0">
                <a:sym typeface="Wingdings" panose="05000000000000000000" pitchFamily="2" charset="2"/>
              </a:rPr>
              <a:t>Pour les éléments </a:t>
            </a:r>
            <a:r>
              <a:rPr lang="fr-CA" dirty="0" err="1">
                <a:sym typeface="Wingdings" panose="05000000000000000000" pitchFamily="2" charset="2"/>
              </a:rPr>
              <a:t>qulaitatifs</a:t>
            </a:r>
            <a:r>
              <a:rPr lang="fr-CA" dirty="0">
                <a:sym typeface="Wingdings" panose="05000000000000000000" pitchFamily="2" charset="2"/>
              </a:rPr>
              <a:t> si on investi:</a:t>
            </a:r>
          </a:p>
          <a:p>
            <a:r>
              <a:rPr lang="fr-CA" dirty="0">
                <a:sym typeface="Wingdings" panose="05000000000000000000" pitchFamily="2" charset="2"/>
              </a:rPr>
              <a:t>Nouvelle catégorie clients</a:t>
            </a:r>
          </a:p>
          <a:p>
            <a:r>
              <a:rPr lang="fr-CA" dirty="0" err="1">
                <a:sym typeface="Wingdings" panose="05000000000000000000" pitchFamily="2" charset="2"/>
              </a:rPr>
              <a:t>Deverisfiaction</a:t>
            </a:r>
            <a:r>
              <a:rPr lang="fr-CA" dirty="0">
                <a:sym typeface="Wingdings" panose="05000000000000000000" pitchFamily="2" charset="2"/>
              </a:rPr>
              <a:t> de l’offre de service </a:t>
            </a:r>
          </a:p>
          <a:p>
            <a:r>
              <a:rPr lang="fr-CA" dirty="0" err="1">
                <a:sym typeface="Wingdings" panose="05000000000000000000" pitchFamily="2" charset="2"/>
              </a:rPr>
              <a:t>Augmantartion</a:t>
            </a:r>
            <a:r>
              <a:rPr lang="fr-CA" dirty="0">
                <a:sym typeface="Wingdings" panose="05000000000000000000" pitchFamily="2" charset="2"/>
              </a:rPr>
              <a:t> de tech qui était une faiblesse </a:t>
            </a:r>
          </a:p>
          <a:p>
            <a:r>
              <a:rPr lang="fr-CA" dirty="0">
                <a:sym typeface="Wingdings" panose="05000000000000000000" pitchFamily="2" charset="2"/>
              </a:rPr>
              <a:t>Nouvelle catégorie de </a:t>
            </a:r>
            <a:r>
              <a:rPr lang="fr-CA" dirty="0" err="1">
                <a:sym typeface="Wingdings" panose="05000000000000000000" pitchFamily="2" charset="2"/>
              </a:rPr>
              <a:t>clientele</a:t>
            </a:r>
            <a:r>
              <a:rPr lang="fr-CA" dirty="0">
                <a:sym typeface="Wingdings" panose="05000000000000000000" pitchFamily="2" charset="2"/>
              </a:rPr>
              <a:t> </a:t>
            </a:r>
          </a:p>
          <a:p>
            <a:r>
              <a:rPr lang="fr-CA" dirty="0">
                <a:sym typeface="Wingdings" panose="05000000000000000000" pitchFamily="2" charset="2"/>
              </a:rPr>
              <a:t>Si il opte pas pour l’investissement </a:t>
            </a:r>
          </a:p>
          <a:p>
            <a:r>
              <a:rPr lang="fr-CA" dirty="0">
                <a:sym typeface="Wingdings" panose="05000000000000000000" pitchFamily="2" charset="2"/>
              </a:rPr>
              <a:t>Prêt de </a:t>
            </a:r>
            <a:r>
              <a:rPr lang="fr-CA" dirty="0" err="1">
                <a:sym typeface="Wingdings" panose="05000000000000000000" pitchFamily="2" charset="2"/>
              </a:rPr>
              <a:t>kingsley</a:t>
            </a:r>
            <a:endParaRPr lang="fr-CA" dirty="0">
              <a:sym typeface="Wingdings" panose="05000000000000000000" pitchFamily="2" charset="2"/>
            </a:endParaRPr>
          </a:p>
          <a:p>
            <a:r>
              <a:rPr lang="fr-CA" dirty="0">
                <a:sym typeface="Wingdings" panose="05000000000000000000" pitchFamily="2" charset="2"/>
              </a:rPr>
              <a:t>Diminue le risque d’</a:t>
            </a:r>
            <a:r>
              <a:rPr lang="fr-CA" dirty="0" err="1">
                <a:sym typeface="Wingdings" panose="05000000000000000000" pitchFamily="2" charset="2"/>
              </a:rPr>
              <a:t>éxpoitation</a:t>
            </a:r>
            <a:r>
              <a:rPr lang="fr-CA" dirty="0">
                <a:sym typeface="Wingdings" panose="05000000000000000000" pitchFamily="2" charset="2"/>
              </a:rPr>
              <a:t> </a:t>
            </a:r>
          </a:p>
          <a:p>
            <a:r>
              <a:rPr lang="fr-CA" dirty="0">
                <a:sym typeface="Wingdings" panose="05000000000000000000" pitchFamily="2" charset="2"/>
              </a:rPr>
              <a:t>Maintien le niveau d’</a:t>
            </a:r>
            <a:r>
              <a:rPr lang="fr-CA" dirty="0" err="1">
                <a:sym typeface="Wingdings" panose="05000000000000000000" pitchFamily="2" charset="2"/>
              </a:rPr>
              <a:t>Acativité</a:t>
            </a:r>
            <a:r>
              <a:rPr lang="fr-CA" dirty="0">
                <a:sym typeface="Wingdings" panose="05000000000000000000" pitchFamily="2" charset="2"/>
              </a:rPr>
              <a:t> </a:t>
            </a:r>
          </a:p>
          <a:p>
            <a:endParaRPr lang="fr-CA" dirty="0"/>
          </a:p>
        </p:txBody>
      </p:sp>
      <p:sp>
        <p:nvSpPr>
          <p:cNvPr id="4" name="Espace réservé du numéro de diapositive 3"/>
          <p:cNvSpPr>
            <a:spLocks noGrp="1"/>
          </p:cNvSpPr>
          <p:nvPr>
            <p:ph type="sldNum" sz="quarter" idx="5"/>
          </p:nvPr>
        </p:nvSpPr>
        <p:spPr/>
        <p:txBody>
          <a:bodyPr/>
          <a:lstStyle/>
          <a:p>
            <a:fld id="{1230B01E-2329-4DA8-B54D-506A432B814C}" type="slidenum">
              <a:rPr lang="fr-CA" smtClean="0"/>
              <a:t>3</a:t>
            </a:fld>
            <a:endParaRPr lang="fr-CA"/>
          </a:p>
        </p:txBody>
      </p:sp>
    </p:spTree>
    <p:extLst>
      <p:ext uri="{BB962C8B-B14F-4D97-AF65-F5344CB8AC3E}">
        <p14:creationId xmlns:p14="http://schemas.microsoft.com/office/powerpoint/2010/main" val="3914043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Jour 1 le A et B WDI sur zone cours </a:t>
            </a:r>
          </a:p>
        </p:txBody>
      </p:sp>
      <p:sp>
        <p:nvSpPr>
          <p:cNvPr id="4" name="Espace réservé du numéro de diapositive 3"/>
          <p:cNvSpPr>
            <a:spLocks noGrp="1"/>
          </p:cNvSpPr>
          <p:nvPr>
            <p:ph type="sldNum" sz="quarter" idx="5"/>
          </p:nvPr>
        </p:nvSpPr>
        <p:spPr/>
        <p:txBody>
          <a:bodyPr/>
          <a:lstStyle/>
          <a:p>
            <a:fld id="{1230B01E-2329-4DA8-B54D-506A432B814C}" type="slidenum">
              <a:rPr lang="fr-CA" smtClean="0"/>
              <a:t>4</a:t>
            </a:fld>
            <a:endParaRPr lang="fr-CA"/>
          </a:p>
        </p:txBody>
      </p:sp>
    </p:spTree>
    <p:extLst>
      <p:ext uri="{BB962C8B-B14F-4D97-AF65-F5344CB8AC3E}">
        <p14:creationId xmlns:p14="http://schemas.microsoft.com/office/powerpoint/2010/main" val="3107548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Identifier un besoin de financement </a:t>
            </a:r>
          </a:p>
          <a:p>
            <a:r>
              <a:rPr lang="fr-CA" dirty="0"/>
              <a:t>Les sources de financement (tu dois choisir les source)</a:t>
            </a:r>
          </a:p>
          <a:p>
            <a:r>
              <a:rPr lang="fr-CA" dirty="0"/>
              <a:t>Cout calcul les </a:t>
            </a:r>
            <a:r>
              <a:rPr lang="fr-CA" dirty="0" err="1"/>
              <a:t>quantitaifs</a:t>
            </a:r>
            <a:r>
              <a:rPr lang="fr-CA" dirty="0"/>
              <a:t> (on peut le faire sur </a:t>
            </a:r>
            <a:r>
              <a:rPr lang="fr-CA" dirty="0" err="1"/>
              <a:t>worl</a:t>
            </a:r>
            <a:r>
              <a:rPr lang="fr-CA" dirty="0"/>
              <a:t>) puis faire le qualitatif (avantages et </a:t>
            </a:r>
            <a:r>
              <a:rPr lang="fr-CA" dirty="0" err="1"/>
              <a:t>inconvinients</a:t>
            </a:r>
            <a:r>
              <a:rPr lang="fr-CA" dirty="0"/>
              <a:t>) </a:t>
            </a:r>
          </a:p>
          <a:p>
            <a:r>
              <a:rPr lang="fr-CA" dirty="0"/>
              <a:t>Le montant disponible </a:t>
            </a:r>
          </a:p>
          <a:p>
            <a:r>
              <a:rPr lang="fr-CA" dirty="0"/>
              <a:t>Donc pour la profondeur </a:t>
            </a:r>
            <a:r>
              <a:rPr lang="fr-CA" dirty="0" err="1"/>
              <a:t>conceranat</a:t>
            </a:r>
            <a:r>
              <a:rPr lang="fr-CA" dirty="0"/>
              <a:t> l’IF il faut vraiment comprendre ton rôle dans ce cours attention (mais toujours selon ton mandat ce que il t’on demander a faire) </a:t>
            </a:r>
          </a:p>
          <a:p>
            <a:r>
              <a:rPr lang="fr-CA" dirty="0"/>
              <a:t>Il faut choisir un financement qui </a:t>
            </a:r>
            <a:r>
              <a:rPr lang="fr-CA" dirty="0" err="1"/>
              <a:t>alligne</a:t>
            </a:r>
            <a:r>
              <a:rPr lang="fr-CA" dirty="0"/>
              <a:t> avec la durée de projet (donc la durée de projet </a:t>
            </a:r>
            <a:r>
              <a:rPr lang="fr-CA"/>
              <a:t>est important) </a:t>
            </a:r>
          </a:p>
          <a:p>
            <a:endParaRPr lang="fr-CA" dirty="0"/>
          </a:p>
          <a:p>
            <a:endParaRPr lang="fr-CA" dirty="0"/>
          </a:p>
        </p:txBody>
      </p:sp>
      <p:sp>
        <p:nvSpPr>
          <p:cNvPr id="4" name="Espace réservé du numéro de diapositive 3"/>
          <p:cNvSpPr>
            <a:spLocks noGrp="1"/>
          </p:cNvSpPr>
          <p:nvPr>
            <p:ph type="sldNum" sz="quarter" idx="5"/>
          </p:nvPr>
        </p:nvSpPr>
        <p:spPr/>
        <p:txBody>
          <a:bodyPr/>
          <a:lstStyle/>
          <a:p>
            <a:fld id="{1230B01E-2329-4DA8-B54D-506A432B814C}" type="slidenum">
              <a:rPr lang="fr-CA" smtClean="0"/>
              <a:t>5</a:t>
            </a:fld>
            <a:endParaRPr lang="fr-CA"/>
          </a:p>
        </p:txBody>
      </p:sp>
    </p:spTree>
    <p:extLst>
      <p:ext uri="{BB962C8B-B14F-4D97-AF65-F5344CB8AC3E}">
        <p14:creationId xmlns:p14="http://schemas.microsoft.com/office/powerpoint/2010/main" val="14077593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1230B01E-2329-4DA8-B54D-506A432B814C}" type="slidenum">
              <a:rPr lang="fr-CA" smtClean="0"/>
              <a:t>6</a:t>
            </a:fld>
            <a:endParaRPr lang="fr-CA"/>
          </a:p>
        </p:txBody>
      </p:sp>
    </p:spTree>
    <p:extLst>
      <p:ext uri="{BB962C8B-B14F-4D97-AF65-F5344CB8AC3E}">
        <p14:creationId xmlns:p14="http://schemas.microsoft.com/office/powerpoint/2010/main" val="284170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9" name="Imag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938" y="1715289"/>
            <a:ext cx="10916125" cy="4562540"/>
          </a:xfrm>
          <a:prstGeom prst="rect">
            <a:avLst/>
          </a:prstGeom>
        </p:spPr>
      </p:pic>
      <p:sp>
        <p:nvSpPr>
          <p:cNvPr id="2" name="Titre 1"/>
          <p:cNvSpPr>
            <a:spLocks noGrp="1"/>
          </p:cNvSpPr>
          <p:nvPr>
            <p:ph type="ctrTitle"/>
          </p:nvPr>
        </p:nvSpPr>
        <p:spPr>
          <a:xfrm>
            <a:off x="638400" y="1715040"/>
            <a:ext cx="7032000" cy="1749600"/>
          </a:xfrm>
          <a:solidFill>
            <a:schemeClr val="accent1">
              <a:alpha val="80000"/>
            </a:schemeClr>
          </a:solidFill>
        </p:spPr>
        <p:txBody>
          <a:bodyPr bIns="72000">
            <a:normAutofit/>
          </a:bodyPr>
          <a:lstStyle>
            <a:lvl1pPr>
              <a:defRPr sz="4320">
                <a:solidFill>
                  <a:schemeClr val="accent2"/>
                </a:solidFill>
              </a:defRPr>
            </a:lvl1pPr>
          </a:lstStyle>
          <a:p>
            <a:r>
              <a:rPr lang="fr-FR" noProof="0"/>
              <a:t>Modifiez le style du titre</a:t>
            </a:r>
            <a:endParaRPr lang="fr-CA" noProof="0" dirty="0"/>
          </a:p>
        </p:txBody>
      </p:sp>
      <p:sp>
        <p:nvSpPr>
          <p:cNvPr id="3" name="Sous-titre 2"/>
          <p:cNvSpPr>
            <a:spLocks noGrp="1"/>
          </p:cNvSpPr>
          <p:nvPr>
            <p:ph type="subTitle" idx="1"/>
          </p:nvPr>
        </p:nvSpPr>
        <p:spPr>
          <a:xfrm>
            <a:off x="638400" y="3555187"/>
            <a:ext cx="7022400" cy="482803"/>
          </a:xfrm>
          <a:solidFill>
            <a:schemeClr val="accent1">
              <a:alpha val="80000"/>
            </a:schemeClr>
          </a:solidFill>
        </p:spPr>
        <p:txBody>
          <a:bodyPr anchor="ctr" anchorCtr="0">
            <a:normAutofit/>
          </a:bodyPr>
          <a:lstStyle>
            <a:lvl1pPr marL="0" indent="0" algn="l">
              <a:buNone/>
              <a:defRPr sz="2400">
                <a:solidFill>
                  <a:schemeClr val="accent2"/>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fr-FR" noProof="0"/>
              <a:t>Modifiez le style des sous-titres du masque</a:t>
            </a:r>
            <a:endParaRPr lang="fr-CA" noProof="0" dirty="0"/>
          </a:p>
        </p:txBody>
      </p:sp>
      <p:sp>
        <p:nvSpPr>
          <p:cNvPr id="6" name="Espace réservé du numéro de diapositive 5"/>
          <p:cNvSpPr>
            <a:spLocks noGrp="1"/>
          </p:cNvSpPr>
          <p:nvPr>
            <p:ph type="sldNum" sz="quarter" idx="12"/>
          </p:nvPr>
        </p:nvSpPr>
        <p:spPr>
          <a:xfrm>
            <a:off x="10934400" y="6462720"/>
            <a:ext cx="619200" cy="164160"/>
          </a:xfrm>
        </p:spPr>
        <p:txBody>
          <a:bodyPr vert="horz" lIns="91440" tIns="45720" rIns="91440" bIns="45720" rtlCol="0" anchor="ctr"/>
          <a:lstStyle>
            <a:lvl1pPr marL="0" algn="r" defTabSz="1097280" rtl="0" eaLnBrk="1" latinLnBrk="0" hangingPunct="1">
              <a:defRPr lang="fr-CA" sz="804" kern="1200" smtClean="0">
                <a:solidFill>
                  <a:schemeClr val="accent2"/>
                </a:solidFill>
                <a:latin typeface="+mn-lt"/>
                <a:ea typeface="+mn-ea"/>
                <a:cs typeface="+mn-cs"/>
              </a:defRPr>
            </a:lvl1pPr>
          </a:lstStyle>
          <a:p>
            <a:fld id="{CFF13336-8544-485A-AE9A-AD39C2F307D8}" type="slidenum">
              <a:rPr lang="fr-CA" smtClean="0"/>
              <a:t>‹N°›</a:t>
            </a:fld>
            <a:endParaRPr lang="fr-CA"/>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892" y="280875"/>
            <a:ext cx="7043697" cy="978868"/>
          </a:xfrm>
          <a:prstGeom prst="rect">
            <a:avLst/>
          </a:prstGeom>
        </p:spPr>
      </p:pic>
      <p:sp>
        <p:nvSpPr>
          <p:cNvPr id="11" name="Espace réservé du pied de page 10"/>
          <p:cNvSpPr>
            <a:spLocks noGrp="1"/>
          </p:cNvSpPr>
          <p:nvPr>
            <p:ph type="ftr" sz="quarter" idx="14"/>
          </p:nvPr>
        </p:nvSpPr>
        <p:spPr>
          <a:xfrm>
            <a:off x="637938" y="6033953"/>
            <a:ext cx="2865599" cy="240066"/>
          </a:xfrm>
          <a:solidFill>
            <a:schemeClr val="accent1"/>
          </a:solidFill>
        </p:spPr>
        <p:txBody>
          <a:bodyPr/>
          <a:lstStyle>
            <a:lvl1pPr algn="l">
              <a:defRPr sz="1560" cap="all" baseline="0">
                <a:solidFill>
                  <a:schemeClr val="bg1"/>
                </a:solidFill>
              </a:defRPr>
            </a:lvl1pPr>
          </a:lstStyle>
          <a:p>
            <a:endParaRPr lang="fr-CA"/>
          </a:p>
        </p:txBody>
      </p:sp>
      <p:sp>
        <p:nvSpPr>
          <p:cNvPr id="13" name="Espace réservé de la date 12"/>
          <p:cNvSpPr>
            <a:spLocks noGrp="1"/>
          </p:cNvSpPr>
          <p:nvPr>
            <p:ph type="dt" sz="half" idx="15"/>
          </p:nvPr>
        </p:nvSpPr>
        <p:spPr/>
        <p:txBody>
          <a:bodyPr/>
          <a:lstStyle/>
          <a:p>
            <a:fld id="{54F6E1C6-0362-4101-A501-6865B0F4F5D9}" type="datetimeFigureOut">
              <a:rPr lang="fr-CA" smtClean="0"/>
              <a:t>2025-04-13</a:t>
            </a:fld>
            <a:endParaRPr lang="fr-CA"/>
          </a:p>
        </p:txBody>
      </p:sp>
    </p:spTree>
    <p:extLst>
      <p:ext uri="{BB962C8B-B14F-4D97-AF65-F5344CB8AC3E}">
        <p14:creationId xmlns:p14="http://schemas.microsoft.com/office/powerpoint/2010/main" val="3207776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638400" y="575623"/>
            <a:ext cx="10915200" cy="987552"/>
          </a:xfrm>
        </p:spPr>
        <p:txBody>
          <a:bodyPr/>
          <a:lstStyle/>
          <a:p>
            <a:r>
              <a:rPr lang="fr-CA" noProof="0" dirty="0"/>
              <a:t>Click to </a:t>
            </a:r>
            <a:r>
              <a:rPr lang="fr-CA" noProof="0" dirty="0" err="1"/>
              <a:t>edit</a:t>
            </a:r>
            <a:r>
              <a:rPr lang="fr-CA" noProof="0" dirty="0"/>
              <a:t> </a:t>
            </a:r>
            <a:r>
              <a:rPr lang="fr-CA" noProof="0" dirty="0" err="1"/>
              <a:t>title</a:t>
            </a:r>
            <a:r>
              <a:rPr lang="fr-CA" noProof="0" dirty="0"/>
              <a:t> style</a:t>
            </a:r>
          </a:p>
        </p:txBody>
      </p:sp>
      <p:sp>
        <p:nvSpPr>
          <p:cNvPr id="3" name="Espace réservé du contenu 2"/>
          <p:cNvSpPr>
            <a:spLocks noGrp="1"/>
          </p:cNvSpPr>
          <p:nvPr>
            <p:ph idx="1"/>
          </p:nvPr>
        </p:nvSpPr>
        <p:spPr>
          <a:xfrm>
            <a:off x="638400" y="1893224"/>
            <a:ext cx="10915200" cy="3825587"/>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e la date 3"/>
          <p:cNvSpPr>
            <a:spLocks noGrp="1"/>
          </p:cNvSpPr>
          <p:nvPr>
            <p:ph type="dt" sz="half" idx="10"/>
          </p:nvPr>
        </p:nvSpPr>
        <p:spPr/>
        <p:txBody>
          <a:bodyPr/>
          <a:lstStyle/>
          <a:p>
            <a:fld id="{54F6E1C6-0362-4101-A501-6865B0F4F5D9}" type="datetimeFigureOut">
              <a:rPr lang="fr-CA" smtClean="0"/>
              <a:t>2025-04-13</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CFF13336-8544-485A-AE9A-AD39C2F307D8}" type="slidenum">
              <a:rPr lang="fr-CA" smtClean="0"/>
              <a:t>‹N°›</a:t>
            </a:fld>
            <a:endParaRPr lang="fr-CA"/>
          </a:p>
        </p:txBody>
      </p:sp>
      <p:sp>
        <p:nvSpPr>
          <p:cNvPr id="7" name="TextBox 6"/>
          <p:cNvSpPr txBox="1"/>
          <p:nvPr/>
        </p:nvSpPr>
        <p:spPr>
          <a:xfrm>
            <a:off x="461433" y="5718810"/>
            <a:ext cx="1219200" cy="1097280"/>
          </a:xfrm>
          <a:prstGeom prst="rect">
            <a:avLst/>
          </a:prstGeom>
        </p:spPr>
        <p:txBody>
          <a:bodyPr vert="horz" wrap="none" lIns="109728" tIns="54864" rIns="109728" bIns="54864" rtlCol="0">
            <a:normAutofit/>
          </a:bodyPr>
          <a:lstStyle/>
          <a:p>
            <a:pPr marL="185760" indent="-185760">
              <a:buClr>
                <a:schemeClr val="accent2"/>
              </a:buClr>
              <a:buSzPct val="125000"/>
              <a:buFont typeface="Arial" panose="020B0604020202020204" pitchFamily="34" charset="0"/>
              <a:buChar char="•"/>
            </a:pPr>
            <a:endParaRPr lang="fr-CA" sz="2004" noProof="0" dirty="0"/>
          </a:p>
        </p:txBody>
      </p:sp>
    </p:spTree>
    <p:extLst>
      <p:ext uri="{BB962C8B-B14F-4D97-AF65-F5344CB8AC3E}">
        <p14:creationId xmlns:p14="http://schemas.microsoft.com/office/powerpoint/2010/main" val="143765302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4" name="Rectangle 3"/>
          <p:cNvSpPr/>
          <p:nvPr/>
        </p:nvSpPr>
        <p:spPr>
          <a:xfrm>
            <a:off x="2749419" y="4143767"/>
            <a:ext cx="8804180" cy="17337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160" noProof="0" dirty="0"/>
          </a:p>
        </p:txBody>
      </p:sp>
      <p:pic>
        <p:nvPicPr>
          <p:cNvPr id="8" name="Image 7"/>
          <p:cNvPicPr>
            <a:picLocks noChangeAspect="1"/>
          </p:cNvPicPr>
          <p:nvPr/>
        </p:nvPicPr>
        <p:blipFill rotWithShape="1">
          <a:blip r:embed="rId2" cstate="print">
            <a:extLst>
              <a:ext uri="{28A0092B-C50C-407E-A947-70E740481C1C}">
                <a14:useLocalDpi xmlns:a14="http://schemas.microsoft.com/office/drawing/2010/main" val="0"/>
              </a:ext>
            </a:extLst>
          </a:blip>
          <a:srcRect l="33863" t="-901" b="1413"/>
          <a:stretch/>
        </p:blipFill>
        <p:spPr>
          <a:xfrm>
            <a:off x="7787951" y="1685399"/>
            <a:ext cx="3766109" cy="2367820"/>
          </a:xfrm>
          <a:prstGeom prst="rect">
            <a:avLst/>
          </a:prstGeom>
        </p:spPr>
      </p:pic>
      <p:sp>
        <p:nvSpPr>
          <p:cNvPr id="2" name="Titre 1"/>
          <p:cNvSpPr>
            <a:spLocks noGrp="1"/>
          </p:cNvSpPr>
          <p:nvPr>
            <p:ph type="title"/>
          </p:nvPr>
        </p:nvSpPr>
        <p:spPr>
          <a:xfrm>
            <a:off x="638400" y="1715039"/>
            <a:ext cx="7032000" cy="1749600"/>
          </a:xfrm>
          <a:solidFill>
            <a:schemeClr val="accent1"/>
          </a:solidFill>
        </p:spPr>
        <p:txBody>
          <a:bodyPr vert="horz" lIns="91440" tIns="45720" rIns="91440" bIns="72000" rtlCol="0" anchor="ctr">
            <a:normAutofit/>
          </a:bodyPr>
          <a:lstStyle>
            <a:lvl1pPr algn="l" defTabSz="1097280" rtl="0" eaLnBrk="1" latinLnBrk="0" hangingPunct="1">
              <a:spcBef>
                <a:spcPct val="0"/>
              </a:spcBef>
              <a:buNone/>
              <a:defRPr lang="fr-CA" sz="4320" b="1" kern="1200" dirty="0">
                <a:solidFill>
                  <a:schemeClr val="accent2"/>
                </a:solidFill>
                <a:latin typeface="+mj-lt"/>
                <a:ea typeface="+mj-ea"/>
                <a:cs typeface="+mj-cs"/>
              </a:defRPr>
            </a:lvl1pPr>
          </a:lstStyle>
          <a:p>
            <a:r>
              <a:rPr lang="fr-FR" noProof="0"/>
              <a:t>Modifiez le style du titre</a:t>
            </a:r>
            <a:endParaRPr lang="fr-CA" noProof="0" dirty="0"/>
          </a:p>
        </p:txBody>
      </p:sp>
      <p:sp>
        <p:nvSpPr>
          <p:cNvPr id="3" name="Espace réservé du texte 2"/>
          <p:cNvSpPr>
            <a:spLocks noGrp="1"/>
          </p:cNvSpPr>
          <p:nvPr>
            <p:ph type="body" idx="1"/>
          </p:nvPr>
        </p:nvSpPr>
        <p:spPr>
          <a:xfrm>
            <a:off x="638400" y="3555187"/>
            <a:ext cx="7022400" cy="482803"/>
          </a:xfrm>
          <a:solidFill>
            <a:schemeClr val="accent1"/>
          </a:solidFill>
        </p:spPr>
        <p:txBody>
          <a:bodyPr vert="horz" lIns="91440" tIns="45720" rIns="91440" bIns="45720" rtlCol="0" anchor="ctr" anchorCtr="0">
            <a:normAutofit/>
          </a:bodyPr>
          <a:lstStyle>
            <a:lvl1pPr marL="0" indent="0" algn="l" defTabSz="1097280" rtl="0" eaLnBrk="1" latinLnBrk="0" hangingPunct="1">
              <a:spcBef>
                <a:spcPct val="20000"/>
              </a:spcBef>
              <a:buClr>
                <a:schemeClr val="accent2"/>
              </a:buClr>
              <a:buSzPct val="125000"/>
              <a:buFont typeface="Arial" pitchFamily="34" charset="0"/>
              <a:buNone/>
              <a:defRPr lang="fr-FR" sz="2400" kern="1200" smtClean="0">
                <a:solidFill>
                  <a:schemeClr val="accent2"/>
                </a:solidFill>
                <a:latin typeface="+mn-lt"/>
                <a:ea typeface="+mn-ea"/>
                <a:cs typeface="+mn-cs"/>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fr-FR" noProof="0"/>
              <a:t>Cliquez pour modifier les styles du texte du masque</a:t>
            </a:r>
          </a:p>
        </p:txBody>
      </p:sp>
      <p:sp>
        <p:nvSpPr>
          <p:cNvPr id="6" name="Espace réservé du numéro de diapositive 5"/>
          <p:cNvSpPr>
            <a:spLocks noGrp="1"/>
          </p:cNvSpPr>
          <p:nvPr>
            <p:ph type="sldNum" sz="quarter" idx="12"/>
          </p:nvPr>
        </p:nvSpPr>
        <p:spPr/>
        <p:txBody>
          <a:bodyPr/>
          <a:lstStyle/>
          <a:p>
            <a:fld id="{CFF13336-8544-485A-AE9A-AD39C2F307D8}" type="slidenum">
              <a:rPr lang="fr-CA" smtClean="0"/>
              <a:t>‹N°›</a:t>
            </a:fld>
            <a:endParaRPr lang="fr-CA"/>
          </a:p>
        </p:txBody>
      </p:sp>
      <p:sp>
        <p:nvSpPr>
          <p:cNvPr id="10" name="Espace réservé de la date 9"/>
          <p:cNvSpPr>
            <a:spLocks noGrp="1"/>
          </p:cNvSpPr>
          <p:nvPr>
            <p:ph type="dt" sz="half" idx="13"/>
          </p:nvPr>
        </p:nvSpPr>
        <p:spPr/>
        <p:txBody>
          <a:bodyPr/>
          <a:lstStyle/>
          <a:p>
            <a:fld id="{54F6E1C6-0362-4101-A501-6865B0F4F5D9}" type="datetimeFigureOut">
              <a:rPr lang="fr-CA" smtClean="0"/>
              <a:t>2025-04-13</a:t>
            </a:fld>
            <a:endParaRPr lang="fr-CA"/>
          </a:p>
        </p:txBody>
      </p:sp>
      <p:sp>
        <p:nvSpPr>
          <p:cNvPr id="11" name="Espace réservé du pied de page 10"/>
          <p:cNvSpPr>
            <a:spLocks noGrp="1"/>
          </p:cNvSpPr>
          <p:nvPr>
            <p:ph type="ftr" sz="quarter" idx="14"/>
          </p:nvPr>
        </p:nvSpPr>
        <p:spPr/>
        <p:txBody>
          <a:bodyPr/>
          <a:lstStyle/>
          <a:p>
            <a:endParaRPr lang="fr-CA"/>
          </a:p>
        </p:txBody>
      </p:sp>
      <p:pic>
        <p:nvPicPr>
          <p:cNvPr id="12" name="Image 7"/>
          <p:cNvPicPr>
            <a:picLocks noChangeAspect="1"/>
          </p:cNvPicPr>
          <p:nvPr/>
        </p:nvPicPr>
        <p:blipFill rotWithShape="1">
          <a:blip r:embed="rId2" cstate="print">
            <a:extLst>
              <a:ext uri="{28A0092B-C50C-407E-A947-70E740481C1C}">
                <a14:useLocalDpi xmlns:a14="http://schemas.microsoft.com/office/drawing/2010/main" val="0"/>
              </a:ext>
            </a:extLst>
          </a:blip>
          <a:srcRect l="2624" t="27926" r="63211" b="1117"/>
          <a:stretch/>
        </p:blipFill>
        <p:spPr>
          <a:xfrm>
            <a:off x="652800" y="4142793"/>
            <a:ext cx="1997093" cy="1733702"/>
          </a:xfrm>
          <a:prstGeom prst="rect">
            <a:avLst/>
          </a:prstGeom>
        </p:spPr>
      </p:pic>
      <p:pic>
        <p:nvPicPr>
          <p:cNvPr id="13" name="Imag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89805" y="6038593"/>
            <a:ext cx="2053463" cy="255431"/>
          </a:xfrm>
          <a:prstGeom prst="rect">
            <a:avLst/>
          </a:prstGeom>
        </p:spPr>
      </p:pic>
    </p:spTree>
    <p:extLst>
      <p:ext uri="{BB962C8B-B14F-4D97-AF65-F5344CB8AC3E}">
        <p14:creationId xmlns:p14="http://schemas.microsoft.com/office/powerpoint/2010/main" val="3924229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638400" y="577216"/>
            <a:ext cx="10915200" cy="988033"/>
          </a:xfrm>
        </p:spPr>
        <p:txBody>
          <a:bodyPr/>
          <a:lstStyle/>
          <a:p>
            <a:r>
              <a:rPr lang="fr-FR" noProof="0"/>
              <a:t>Modifiez le style du titre</a:t>
            </a:r>
            <a:endParaRPr lang="fr-CA" noProof="0" dirty="0"/>
          </a:p>
        </p:txBody>
      </p:sp>
      <p:sp>
        <p:nvSpPr>
          <p:cNvPr id="3" name="Espace réservé du contenu 2"/>
          <p:cNvSpPr>
            <a:spLocks noGrp="1"/>
          </p:cNvSpPr>
          <p:nvPr>
            <p:ph sz="half" idx="1"/>
          </p:nvPr>
        </p:nvSpPr>
        <p:spPr>
          <a:xfrm>
            <a:off x="609600" y="1821282"/>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contenu 3"/>
          <p:cNvSpPr>
            <a:spLocks noGrp="1"/>
          </p:cNvSpPr>
          <p:nvPr>
            <p:ph sz="half" idx="2"/>
          </p:nvPr>
        </p:nvSpPr>
        <p:spPr>
          <a:xfrm>
            <a:off x="6197600" y="1821282"/>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e la date 4"/>
          <p:cNvSpPr>
            <a:spLocks noGrp="1"/>
          </p:cNvSpPr>
          <p:nvPr>
            <p:ph type="dt" sz="half" idx="10"/>
          </p:nvPr>
        </p:nvSpPr>
        <p:spPr/>
        <p:txBody>
          <a:bodyPr/>
          <a:lstStyle/>
          <a:p>
            <a:fld id="{54F6E1C6-0362-4101-A501-6865B0F4F5D9}" type="datetimeFigureOut">
              <a:rPr lang="fr-CA" smtClean="0"/>
              <a:t>2025-04-13</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CFF13336-8544-485A-AE9A-AD39C2F307D8}" type="slidenum">
              <a:rPr lang="fr-CA" smtClean="0"/>
              <a:t>‹N°›</a:t>
            </a:fld>
            <a:endParaRPr lang="fr-CA"/>
          </a:p>
        </p:txBody>
      </p:sp>
    </p:spTree>
    <p:extLst>
      <p:ext uri="{BB962C8B-B14F-4D97-AF65-F5344CB8AC3E}">
        <p14:creationId xmlns:p14="http://schemas.microsoft.com/office/powerpoint/2010/main" val="376631385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38400" y="574442"/>
            <a:ext cx="10915200" cy="984599"/>
          </a:xfrm>
        </p:spPr>
        <p:txBody>
          <a:bodyPr/>
          <a:lstStyle>
            <a:lvl1pPr>
              <a:defRPr/>
            </a:lvl1pPr>
          </a:lstStyle>
          <a:p>
            <a:r>
              <a:rPr lang="fr-FR" noProof="0"/>
              <a:t>Modifiez le style du titre</a:t>
            </a:r>
            <a:endParaRPr lang="fr-CA" noProof="0" dirty="0"/>
          </a:p>
        </p:txBody>
      </p:sp>
      <p:sp>
        <p:nvSpPr>
          <p:cNvPr id="3" name="Espace réservé du texte 2"/>
          <p:cNvSpPr>
            <a:spLocks noGrp="1"/>
          </p:cNvSpPr>
          <p:nvPr>
            <p:ph type="body" idx="1"/>
          </p:nvPr>
        </p:nvSpPr>
        <p:spPr>
          <a:xfrm>
            <a:off x="609600" y="1813561"/>
            <a:ext cx="5386917" cy="639762"/>
          </a:xfrm>
        </p:spPr>
        <p:txBody>
          <a:bodyPr anchor="b">
            <a:noAutofit/>
          </a:bodyPr>
          <a:lstStyle>
            <a:lvl1pPr marL="0" indent="0">
              <a:buNone/>
              <a:defRPr sz="1800" b="1" cap="all" baseline="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fr-FR" noProof="0"/>
              <a:t>Cliquez pour modifier les styles du texte du masque</a:t>
            </a:r>
          </a:p>
        </p:txBody>
      </p:sp>
      <p:sp>
        <p:nvSpPr>
          <p:cNvPr id="4" name="Espace réservé du contenu 3"/>
          <p:cNvSpPr>
            <a:spLocks noGrp="1"/>
          </p:cNvSpPr>
          <p:nvPr>
            <p:ph sz="half" idx="2"/>
          </p:nvPr>
        </p:nvSpPr>
        <p:spPr>
          <a:xfrm>
            <a:off x="609600" y="2453323"/>
            <a:ext cx="5386917"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u texte 4"/>
          <p:cNvSpPr>
            <a:spLocks noGrp="1"/>
          </p:cNvSpPr>
          <p:nvPr>
            <p:ph type="body" sz="quarter" idx="3"/>
          </p:nvPr>
        </p:nvSpPr>
        <p:spPr>
          <a:xfrm>
            <a:off x="6193369" y="1813561"/>
            <a:ext cx="5389033" cy="639762"/>
          </a:xfrm>
        </p:spPr>
        <p:txBody>
          <a:bodyPr anchor="b">
            <a:noAutofit/>
          </a:bodyPr>
          <a:lstStyle>
            <a:lvl1pPr marL="0" indent="0">
              <a:buNone/>
              <a:defRPr sz="1800" b="1" cap="all" baseline="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fr-FR" noProof="0"/>
              <a:t>Cliquez pour modifier les styles du texte du masque</a:t>
            </a:r>
          </a:p>
        </p:txBody>
      </p:sp>
      <p:sp>
        <p:nvSpPr>
          <p:cNvPr id="6" name="Espace réservé du contenu 5"/>
          <p:cNvSpPr>
            <a:spLocks noGrp="1"/>
          </p:cNvSpPr>
          <p:nvPr>
            <p:ph sz="quarter" idx="4"/>
          </p:nvPr>
        </p:nvSpPr>
        <p:spPr>
          <a:xfrm>
            <a:off x="6193369" y="2453323"/>
            <a:ext cx="5389033"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7" name="Espace réservé de la date 6"/>
          <p:cNvSpPr>
            <a:spLocks noGrp="1"/>
          </p:cNvSpPr>
          <p:nvPr>
            <p:ph type="dt" sz="half" idx="10"/>
          </p:nvPr>
        </p:nvSpPr>
        <p:spPr/>
        <p:txBody>
          <a:bodyPr/>
          <a:lstStyle/>
          <a:p>
            <a:fld id="{54F6E1C6-0362-4101-A501-6865B0F4F5D9}" type="datetimeFigureOut">
              <a:rPr lang="fr-CA" smtClean="0"/>
              <a:t>2025-04-13</a:t>
            </a:fld>
            <a:endParaRPr lang="fr-CA"/>
          </a:p>
        </p:txBody>
      </p:sp>
      <p:sp>
        <p:nvSpPr>
          <p:cNvPr id="8" name="Espace réservé du pied de page 7"/>
          <p:cNvSpPr>
            <a:spLocks noGrp="1"/>
          </p:cNvSpPr>
          <p:nvPr>
            <p:ph type="ftr" sz="quarter" idx="11"/>
          </p:nvPr>
        </p:nvSpPr>
        <p:spPr/>
        <p:txBody>
          <a:bodyPr/>
          <a:lstStyle/>
          <a:p>
            <a:endParaRPr lang="fr-CA"/>
          </a:p>
        </p:txBody>
      </p:sp>
      <p:sp>
        <p:nvSpPr>
          <p:cNvPr id="9" name="Espace réservé du numéro de diapositive 8"/>
          <p:cNvSpPr>
            <a:spLocks noGrp="1"/>
          </p:cNvSpPr>
          <p:nvPr>
            <p:ph type="sldNum" sz="quarter" idx="12"/>
          </p:nvPr>
        </p:nvSpPr>
        <p:spPr/>
        <p:txBody>
          <a:bodyPr/>
          <a:lstStyle/>
          <a:p>
            <a:fld id="{CFF13336-8544-485A-AE9A-AD39C2F307D8}" type="slidenum">
              <a:rPr lang="fr-CA" smtClean="0"/>
              <a:t>‹N°›</a:t>
            </a:fld>
            <a:endParaRPr lang="fr-CA"/>
          </a:p>
        </p:txBody>
      </p:sp>
    </p:spTree>
    <p:extLst>
      <p:ext uri="{BB962C8B-B14F-4D97-AF65-F5344CB8AC3E}">
        <p14:creationId xmlns:p14="http://schemas.microsoft.com/office/powerpoint/2010/main" val="89838590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638400" y="577216"/>
            <a:ext cx="10915200" cy="983730"/>
          </a:xfrm>
        </p:spPr>
        <p:txBody>
          <a:bodyPr/>
          <a:lstStyle/>
          <a:p>
            <a:r>
              <a:rPr lang="fr-FR" noProof="0"/>
              <a:t>Modifiez le style du titre</a:t>
            </a:r>
            <a:endParaRPr lang="fr-CA" noProof="0" dirty="0"/>
          </a:p>
        </p:txBody>
      </p:sp>
      <p:sp>
        <p:nvSpPr>
          <p:cNvPr id="3" name="Espace réservé de la date 2"/>
          <p:cNvSpPr>
            <a:spLocks noGrp="1"/>
          </p:cNvSpPr>
          <p:nvPr>
            <p:ph type="dt" sz="half" idx="10"/>
          </p:nvPr>
        </p:nvSpPr>
        <p:spPr/>
        <p:txBody>
          <a:bodyPr/>
          <a:lstStyle/>
          <a:p>
            <a:fld id="{54F6E1C6-0362-4101-A501-6865B0F4F5D9}" type="datetimeFigureOut">
              <a:rPr lang="fr-CA" smtClean="0"/>
              <a:t>2025-04-13</a:t>
            </a:fld>
            <a:endParaRPr lang="fr-CA"/>
          </a:p>
        </p:txBody>
      </p:sp>
      <p:sp>
        <p:nvSpPr>
          <p:cNvPr id="4" name="Espace réservé du pied de page 3"/>
          <p:cNvSpPr>
            <a:spLocks noGrp="1"/>
          </p:cNvSpPr>
          <p:nvPr>
            <p:ph type="ftr" sz="quarter" idx="11"/>
          </p:nvPr>
        </p:nvSpPr>
        <p:spPr/>
        <p:txBody>
          <a:bodyPr/>
          <a:lstStyle/>
          <a:p>
            <a:endParaRPr lang="fr-CA"/>
          </a:p>
        </p:txBody>
      </p:sp>
      <p:sp>
        <p:nvSpPr>
          <p:cNvPr id="5" name="Espace réservé du numéro de diapositive 4"/>
          <p:cNvSpPr>
            <a:spLocks noGrp="1"/>
          </p:cNvSpPr>
          <p:nvPr>
            <p:ph type="sldNum" sz="quarter" idx="12"/>
          </p:nvPr>
        </p:nvSpPr>
        <p:spPr/>
        <p:txBody>
          <a:bodyPr/>
          <a:lstStyle/>
          <a:p>
            <a:fld id="{CFF13336-8544-485A-AE9A-AD39C2F307D8}" type="slidenum">
              <a:rPr lang="fr-CA" smtClean="0"/>
              <a:t>‹N°›</a:t>
            </a:fld>
            <a:endParaRPr lang="fr-CA"/>
          </a:p>
        </p:txBody>
      </p:sp>
    </p:spTree>
    <p:extLst>
      <p:ext uri="{BB962C8B-B14F-4D97-AF65-F5344CB8AC3E}">
        <p14:creationId xmlns:p14="http://schemas.microsoft.com/office/powerpoint/2010/main" val="288204791"/>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54F6E1C6-0362-4101-A501-6865B0F4F5D9}" type="datetimeFigureOut">
              <a:rPr lang="fr-CA" smtClean="0"/>
              <a:t>2025-04-13</a:t>
            </a:fld>
            <a:endParaRPr lang="fr-CA"/>
          </a:p>
        </p:txBody>
      </p:sp>
      <p:sp>
        <p:nvSpPr>
          <p:cNvPr id="3" name="Espace réservé du pied de page 2"/>
          <p:cNvSpPr>
            <a:spLocks noGrp="1"/>
          </p:cNvSpPr>
          <p:nvPr>
            <p:ph type="ftr" sz="quarter" idx="1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CFF13336-8544-485A-AE9A-AD39C2F307D8}" type="slidenum">
              <a:rPr lang="fr-CA" smtClean="0"/>
              <a:t>‹N°›</a:t>
            </a:fld>
            <a:endParaRPr lang="fr-CA"/>
          </a:p>
        </p:txBody>
      </p:sp>
    </p:spTree>
    <p:extLst>
      <p:ext uri="{BB962C8B-B14F-4D97-AF65-F5344CB8AC3E}">
        <p14:creationId xmlns:p14="http://schemas.microsoft.com/office/powerpoint/2010/main" val="3477145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8400" y="572631"/>
            <a:ext cx="10915200" cy="986410"/>
          </a:xfrm>
        </p:spPr>
        <p:txBody>
          <a:bodyPr anchor="ctr" anchorCtr="0"/>
          <a:lstStyle>
            <a:lvl1pPr algn="l">
              <a:defRPr sz="3120" b="1"/>
            </a:lvl1pPr>
          </a:lstStyle>
          <a:p>
            <a:r>
              <a:rPr lang="fr-FR" noProof="0"/>
              <a:t>Modifiez le style du titre</a:t>
            </a:r>
            <a:endParaRPr lang="fr-CA" noProof="0" dirty="0"/>
          </a:p>
        </p:txBody>
      </p:sp>
      <p:sp>
        <p:nvSpPr>
          <p:cNvPr id="3" name="Espace réservé du contenu 2"/>
          <p:cNvSpPr>
            <a:spLocks noGrp="1"/>
          </p:cNvSpPr>
          <p:nvPr>
            <p:ph idx="1"/>
          </p:nvPr>
        </p:nvSpPr>
        <p:spPr>
          <a:xfrm>
            <a:off x="4747200" y="1805281"/>
            <a:ext cx="6796800" cy="3913530"/>
          </a:xfrm>
        </p:spPr>
        <p:txBody>
          <a:bodyPr>
            <a:normAutofit/>
          </a:bodyPr>
          <a:lstStyle>
            <a:lvl1pPr>
              <a:defRPr sz="2004"/>
            </a:lvl1pPr>
            <a:lvl2pPr>
              <a:defRPr sz="2004"/>
            </a:lvl2pPr>
            <a:lvl3pPr>
              <a:defRPr sz="2004"/>
            </a:lvl3pPr>
            <a:lvl4pPr>
              <a:defRPr sz="2004"/>
            </a:lvl4pPr>
            <a:lvl5pPr>
              <a:defRPr sz="2004"/>
            </a:lvl5pPr>
            <a:lvl6pPr>
              <a:defRPr sz="2400"/>
            </a:lvl6pPr>
            <a:lvl7pPr>
              <a:defRPr sz="2400"/>
            </a:lvl7pPr>
            <a:lvl8pPr>
              <a:defRPr sz="2400"/>
            </a:lvl8pPr>
            <a:lvl9pPr>
              <a:defRPr sz="24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texte 3"/>
          <p:cNvSpPr>
            <a:spLocks noGrp="1"/>
          </p:cNvSpPr>
          <p:nvPr>
            <p:ph type="body" sz="half" idx="2"/>
          </p:nvPr>
        </p:nvSpPr>
        <p:spPr>
          <a:xfrm>
            <a:off x="638400" y="1805281"/>
            <a:ext cx="3984000" cy="3913530"/>
          </a:xfrm>
        </p:spPr>
        <p:txBody>
          <a:bodyPr>
            <a:normAutofit/>
          </a:bodyPr>
          <a:lstStyle>
            <a:lvl1pPr marL="0" indent="0">
              <a:buNone/>
              <a:defRPr sz="1800" b="1" cap="all" baseline="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54F6E1C6-0362-4101-A501-6865B0F4F5D9}" type="datetimeFigureOut">
              <a:rPr lang="fr-CA" smtClean="0"/>
              <a:t>2025-04-13</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CFF13336-8544-485A-AE9A-AD39C2F307D8}" type="slidenum">
              <a:rPr lang="fr-CA" smtClean="0"/>
              <a:t>‹N°›</a:t>
            </a:fld>
            <a:endParaRPr lang="fr-CA"/>
          </a:p>
        </p:txBody>
      </p:sp>
    </p:spTree>
    <p:extLst>
      <p:ext uri="{BB962C8B-B14F-4D97-AF65-F5344CB8AC3E}">
        <p14:creationId xmlns:p14="http://schemas.microsoft.com/office/powerpoint/2010/main" val="184243717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sous-titre">
    <p:spTree>
      <p:nvGrpSpPr>
        <p:cNvPr id="1" name=""/>
        <p:cNvGrpSpPr/>
        <p:nvPr/>
      </p:nvGrpSpPr>
      <p:grpSpPr>
        <a:xfrm>
          <a:off x="0" y="0"/>
          <a:ext cx="0" cy="0"/>
          <a:chOff x="0" y="0"/>
          <a:chExt cx="0" cy="0"/>
        </a:xfrm>
      </p:grpSpPr>
      <p:sp>
        <p:nvSpPr>
          <p:cNvPr id="2" name="Titre 1"/>
          <p:cNvSpPr>
            <a:spLocks noGrp="1"/>
          </p:cNvSpPr>
          <p:nvPr>
            <p:ph type="title"/>
          </p:nvPr>
        </p:nvSpPr>
        <p:spPr>
          <a:xfrm>
            <a:off x="638400" y="587672"/>
            <a:ext cx="10915200" cy="987540"/>
          </a:xfrm>
        </p:spPr>
        <p:txBody>
          <a:bodyPr anchor="ctr" anchorCtr="0"/>
          <a:lstStyle>
            <a:lvl1pPr algn="l">
              <a:defRPr sz="3120" b="1"/>
            </a:lvl1pPr>
          </a:lstStyle>
          <a:p>
            <a:r>
              <a:rPr lang="fr-FR" noProof="0"/>
              <a:t>Modifiez le style du titre</a:t>
            </a:r>
            <a:endParaRPr lang="fr-CA" noProof="0" dirty="0"/>
          </a:p>
        </p:txBody>
      </p:sp>
      <p:sp>
        <p:nvSpPr>
          <p:cNvPr id="3" name="Espace réservé pour une image  2"/>
          <p:cNvSpPr>
            <a:spLocks noGrp="1"/>
          </p:cNvSpPr>
          <p:nvPr>
            <p:ph type="pic" idx="1"/>
          </p:nvPr>
        </p:nvSpPr>
        <p:spPr>
          <a:xfrm>
            <a:off x="638400" y="2478092"/>
            <a:ext cx="10905600" cy="3240718"/>
          </a:xfrm>
        </p:spPr>
        <p:txBody>
          <a:bodyPr>
            <a:normAutofit/>
          </a:bodyPr>
          <a:lstStyle>
            <a:lvl1pPr marL="0" indent="0">
              <a:buNone/>
              <a:defRPr sz="2004"/>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fr-FR" noProof="0"/>
              <a:t>Cliquez sur l'icône pour ajouter une image</a:t>
            </a:r>
            <a:endParaRPr lang="fr-CA" noProof="0" dirty="0"/>
          </a:p>
        </p:txBody>
      </p:sp>
      <p:sp>
        <p:nvSpPr>
          <p:cNvPr id="4" name="Espace réservé du texte 3"/>
          <p:cNvSpPr>
            <a:spLocks noGrp="1"/>
          </p:cNvSpPr>
          <p:nvPr>
            <p:ph type="body" sz="half" idx="2"/>
          </p:nvPr>
        </p:nvSpPr>
        <p:spPr>
          <a:xfrm>
            <a:off x="638400" y="1821452"/>
            <a:ext cx="10905600" cy="626400"/>
          </a:xfrm>
        </p:spPr>
        <p:txBody>
          <a:bodyPr>
            <a:normAutofit/>
          </a:bodyPr>
          <a:lstStyle>
            <a:lvl1pPr marL="0" indent="0">
              <a:buNone/>
              <a:defRPr sz="1800" b="1" cap="all" baseline="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54F6E1C6-0362-4101-A501-6865B0F4F5D9}" type="datetimeFigureOut">
              <a:rPr lang="fr-CA" smtClean="0"/>
              <a:t>2025-04-13</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CFF13336-8544-485A-AE9A-AD39C2F307D8}" type="slidenum">
              <a:rPr lang="fr-CA" smtClean="0"/>
              <a:t>‹N°›</a:t>
            </a:fld>
            <a:endParaRPr lang="fr-CA"/>
          </a:p>
        </p:txBody>
      </p:sp>
    </p:spTree>
    <p:extLst>
      <p:ext uri="{BB962C8B-B14F-4D97-AF65-F5344CB8AC3E}">
        <p14:creationId xmlns:p14="http://schemas.microsoft.com/office/powerpoint/2010/main" val="198130686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38400" y="582231"/>
            <a:ext cx="10915200" cy="992983"/>
          </a:xfrm>
          <a:prstGeom prst="rect">
            <a:avLst/>
          </a:prstGeom>
          <a:solidFill>
            <a:schemeClr val="accent1"/>
          </a:solidFill>
        </p:spPr>
        <p:txBody>
          <a:bodyPr vert="horz" lIns="91440" tIns="45720" rIns="91440" bIns="45720" rtlCol="0" anchor="ctr">
            <a:noAutofit/>
          </a:bodyPr>
          <a:lstStyle/>
          <a:p>
            <a:r>
              <a:rPr lang="fr-CA" noProof="0" dirty="0"/>
              <a:t>Cliquez pour modifier le style du titre</a:t>
            </a:r>
          </a:p>
        </p:txBody>
      </p:sp>
      <p:sp>
        <p:nvSpPr>
          <p:cNvPr id="3" name="Espace réservé du texte 2"/>
          <p:cNvSpPr>
            <a:spLocks noGrp="1"/>
          </p:cNvSpPr>
          <p:nvPr>
            <p:ph type="body" idx="1"/>
          </p:nvPr>
        </p:nvSpPr>
        <p:spPr>
          <a:xfrm>
            <a:off x="638400" y="1821452"/>
            <a:ext cx="10915200" cy="3897358"/>
          </a:xfrm>
          <a:prstGeom prst="rect">
            <a:avLst/>
          </a:prstGeom>
        </p:spPr>
        <p:txBody>
          <a:bodyPr vert="horz" lIns="91440" tIns="45720" rIns="91440" bIns="45720" rtlCol="0">
            <a:normAutofit/>
          </a:bodyPr>
          <a:lstStyle/>
          <a:p>
            <a:pPr lvl="0"/>
            <a:r>
              <a:rPr lang="fr-CA" noProof="0" dirty="0"/>
              <a:t>Cliquez pour modifier les styles du texte du masque</a:t>
            </a:r>
          </a:p>
          <a:p>
            <a:pPr lvl="1"/>
            <a:r>
              <a:rPr lang="fr-CA" noProof="0" dirty="0"/>
              <a:t>Deuxième niveau</a:t>
            </a:r>
          </a:p>
          <a:p>
            <a:pPr lvl="2"/>
            <a:r>
              <a:rPr lang="fr-CA" noProof="0" dirty="0"/>
              <a:t>Troisième niveau</a:t>
            </a:r>
          </a:p>
          <a:p>
            <a:pPr lvl="3"/>
            <a:r>
              <a:rPr lang="fr-CA" noProof="0" dirty="0"/>
              <a:t>Quatrième niveau</a:t>
            </a:r>
          </a:p>
          <a:p>
            <a:pPr lvl="4"/>
            <a:r>
              <a:rPr lang="fr-CA" noProof="0" dirty="0"/>
              <a:t>Cinquième niveau</a:t>
            </a:r>
          </a:p>
        </p:txBody>
      </p:sp>
      <p:sp>
        <p:nvSpPr>
          <p:cNvPr id="4" name="Espace réservé de la date 3"/>
          <p:cNvSpPr>
            <a:spLocks noGrp="1"/>
          </p:cNvSpPr>
          <p:nvPr>
            <p:ph type="dt" sz="half" idx="2"/>
          </p:nvPr>
        </p:nvSpPr>
        <p:spPr>
          <a:xfrm>
            <a:off x="652800" y="6461995"/>
            <a:ext cx="2844800" cy="164160"/>
          </a:xfrm>
          <a:prstGeom prst="rect">
            <a:avLst/>
          </a:prstGeom>
        </p:spPr>
        <p:txBody>
          <a:bodyPr vert="horz" lIns="91440" tIns="45720" rIns="91440" bIns="45720" rtlCol="0" anchor="ctr"/>
          <a:lstStyle>
            <a:lvl1pPr algn="l">
              <a:defRPr sz="804">
                <a:solidFill>
                  <a:schemeClr val="accent2"/>
                </a:solidFill>
              </a:defRPr>
            </a:lvl1pPr>
          </a:lstStyle>
          <a:p>
            <a:fld id="{54F6E1C6-0362-4101-A501-6865B0F4F5D9}" type="datetimeFigureOut">
              <a:rPr lang="fr-CA" smtClean="0"/>
              <a:t>2025-04-13</a:t>
            </a:fld>
            <a:endParaRPr lang="fr-CA"/>
          </a:p>
        </p:txBody>
      </p:sp>
      <p:sp>
        <p:nvSpPr>
          <p:cNvPr id="5" name="Espace réservé du pied de page 4"/>
          <p:cNvSpPr>
            <a:spLocks noGrp="1"/>
          </p:cNvSpPr>
          <p:nvPr>
            <p:ph type="ftr" sz="quarter" idx="3"/>
          </p:nvPr>
        </p:nvSpPr>
        <p:spPr>
          <a:xfrm>
            <a:off x="4165600" y="6461995"/>
            <a:ext cx="3860800" cy="164160"/>
          </a:xfrm>
          <a:prstGeom prst="rect">
            <a:avLst/>
          </a:prstGeom>
        </p:spPr>
        <p:txBody>
          <a:bodyPr vert="horz" lIns="91440" tIns="45720" rIns="91440" bIns="45720" rtlCol="0" anchor="ctr"/>
          <a:lstStyle>
            <a:lvl1pPr algn="ctr">
              <a:defRPr sz="804">
                <a:solidFill>
                  <a:schemeClr val="accent2"/>
                </a:solidFill>
              </a:defRPr>
            </a:lvl1pPr>
          </a:lstStyle>
          <a:p>
            <a:endParaRPr lang="fr-CA"/>
          </a:p>
        </p:txBody>
      </p:sp>
      <p:sp>
        <p:nvSpPr>
          <p:cNvPr id="6" name="Espace réservé du numéro de diapositive 5"/>
          <p:cNvSpPr>
            <a:spLocks noGrp="1"/>
          </p:cNvSpPr>
          <p:nvPr>
            <p:ph type="sldNum" sz="quarter" idx="4"/>
          </p:nvPr>
        </p:nvSpPr>
        <p:spPr>
          <a:xfrm>
            <a:off x="10934400" y="6461995"/>
            <a:ext cx="619200" cy="164160"/>
          </a:xfrm>
          <a:prstGeom prst="rect">
            <a:avLst/>
          </a:prstGeom>
        </p:spPr>
        <p:txBody>
          <a:bodyPr vert="horz" lIns="91440" tIns="45720" rIns="91440" bIns="45720" rtlCol="0" anchor="ctr"/>
          <a:lstStyle>
            <a:lvl1pPr algn="r">
              <a:defRPr sz="804">
                <a:solidFill>
                  <a:schemeClr val="accent2"/>
                </a:solidFill>
              </a:defRPr>
            </a:lvl1pPr>
          </a:lstStyle>
          <a:p>
            <a:fld id="{CFF13336-8544-485A-AE9A-AD39C2F307D8}" type="slidenum">
              <a:rPr lang="fr-CA" smtClean="0"/>
              <a:t>‹N°›</a:t>
            </a:fld>
            <a:endParaRPr lang="fr-CA"/>
          </a:p>
        </p:txBody>
      </p:sp>
      <p:pic>
        <p:nvPicPr>
          <p:cNvPr id="7" name="Image 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589805" y="6038593"/>
            <a:ext cx="2053463" cy="255431"/>
          </a:xfrm>
          <a:prstGeom prst="rect">
            <a:avLst/>
          </a:prstGeom>
        </p:spPr>
      </p:pic>
    </p:spTree>
    <p:extLst>
      <p:ext uri="{BB962C8B-B14F-4D97-AF65-F5344CB8AC3E}">
        <p14:creationId xmlns:p14="http://schemas.microsoft.com/office/powerpoint/2010/main" val="40051735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l" defTabSz="1097280" rtl="0" eaLnBrk="1" latinLnBrk="0" hangingPunct="1">
        <a:spcBef>
          <a:spcPct val="0"/>
        </a:spcBef>
        <a:buNone/>
        <a:defRPr sz="3120" b="1" kern="1200">
          <a:solidFill>
            <a:schemeClr val="bg1"/>
          </a:solidFill>
          <a:latin typeface="+mj-lt"/>
          <a:ea typeface="+mj-ea"/>
          <a:cs typeface="+mj-cs"/>
        </a:defRPr>
      </a:lvl1pPr>
    </p:titleStyle>
    <p:bodyStyle>
      <a:lvl1pPr marL="18576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1pPr>
      <a:lvl2pPr marL="54432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2pPr>
      <a:lvl3pPr marL="90288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3pPr>
      <a:lvl4pPr marL="125712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4pPr>
      <a:lvl5pPr marL="161568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5pPr>
      <a:lvl6pPr marL="301752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16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80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44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8.xml"/></Relationships>
</file>

<file path=ppt/slides/_rels/slide7.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slideLayout" Target="../slideLayouts/slideLayout2.xml"/><Relationship Id="rId4" Type="http://schemas.openxmlformats.org/officeDocument/2006/relationships/tags" Target="../tags/tag12.xml"/></Relationships>
</file>

<file path=ppt/slides/_rels/slide8.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slideLayout" Target="../slideLayouts/slideLayout2.xml"/><Relationship Id="rId4" Type="http://schemas.openxmlformats.org/officeDocument/2006/relationships/tags" Target="../tags/tag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slideLayout" Target="../slideLayouts/slideLayout2.xml"/><Relationship Id="rId4" Type="http://schemas.openxmlformats.org/officeDocument/2006/relationships/tags" Target="../tags/tag20.xml"/></Relationships>
</file>

<file path=ppt/slides/_rels/slide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slideLayout" Target="../slideLayouts/slideLayout2.xml"/><Relationship Id="rId4" Type="http://schemas.openxmlformats.org/officeDocument/2006/relationships/tags" Target="../tags/tag24.xml"/></Relationships>
</file>

<file path=ppt/slides/_rels/slide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slideLayout" Target="../slideLayouts/slideLayout2.xml"/><Relationship Id="rId4" Type="http://schemas.openxmlformats.org/officeDocument/2006/relationships/tags" Target="../tags/tag28.xml"/></Relationships>
</file>

<file path=ppt/slides/_rels/slide13.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slideLayout" Target="../slideLayouts/slideLayout2.xml"/><Relationship Id="rId3" Type="http://schemas.openxmlformats.org/officeDocument/2006/relationships/tags" Target="../tags/tag31.xml"/><Relationship Id="rId7" Type="http://schemas.openxmlformats.org/officeDocument/2006/relationships/tags" Target="../tags/tag35.xml"/><Relationship Id="rId12" Type="http://schemas.openxmlformats.org/officeDocument/2006/relationships/tags" Target="../tags/tag40.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5" Type="http://schemas.openxmlformats.org/officeDocument/2006/relationships/tags" Target="../tags/tag33.xml"/><Relationship Id="rId10" Type="http://schemas.openxmlformats.org/officeDocument/2006/relationships/tags" Target="../tags/tag38.xml"/><Relationship Id="rId4" Type="http://schemas.openxmlformats.org/officeDocument/2006/relationships/tags" Target="../tags/tag32.xml"/><Relationship Id="rId9" Type="http://schemas.openxmlformats.org/officeDocument/2006/relationships/tags" Target="../tags/tag37.xml"/></Relationships>
</file>

<file path=ppt/slides/_rels/slide14.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slideLayout" Target="../slideLayouts/slideLayout2.xml"/><Relationship Id="rId4" Type="http://schemas.openxmlformats.org/officeDocument/2006/relationships/tags" Target="../tags/tag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6BB02D-AF7E-4B0F-ACA0-37AE0482220C}"/>
              </a:ext>
            </a:extLst>
          </p:cNvPr>
          <p:cNvSpPr>
            <a:spLocks noGrp="1"/>
          </p:cNvSpPr>
          <p:nvPr>
            <p:ph type="ctrTitle"/>
          </p:nvPr>
        </p:nvSpPr>
        <p:spPr/>
        <p:txBody>
          <a:bodyPr/>
          <a:lstStyle/>
          <a:p>
            <a:r>
              <a:rPr lang="fr-CA" dirty="0"/>
              <a:t>Révision – options de financement</a:t>
            </a:r>
          </a:p>
        </p:txBody>
      </p:sp>
      <p:sp>
        <p:nvSpPr>
          <p:cNvPr id="3" name="Sous-titre 2">
            <a:extLst>
              <a:ext uri="{FF2B5EF4-FFF2-40B4-BE49-F238E27FC236}">
                <a16:creationId xmlns:a16="http://schemas.microsoft.com/office/drawing/2014/main" id="{6DFC8589-0A6D-4411-916A-FCD26A81BAF0}"/>
              </a:ext>
            </a:extLst>
          </p:cNvPr>
          <p:cNvSpPr>
            <a:spLocks noGrp="1"/>
          </p:cNvSpPr>
          <p:nvPr>
            <p:ph type="subTitle" idx="1"/>
          </p:nvPr>
        </p:nvSpPr>
        <p:spPr/>
        <p:txBody>
          <a:bodyPr/>
          <a:lstStyle/>
          <a:p>
            <a:r>
              <a:rPr lang="fr-CA" dirty="0"/>
              <a:t>Par Chan-Sitha Meas </a:t>
            </a:r>
          </a:p>
        </p:txBody>
      </p:sp>
    </p:spTree>
    <p:extLst>
      <p:ext uri="{BB962C8B-B14F-4D97-AF65-F5344CB8AC3E}">
        <p14:creationId xmlns:p14="http://schemas.microsoft.com/office/powerpoint/2010/main" val="2139057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5D5BFE-C8A8-43A6-A43B-A8E5A2FF49CB}"/>
              </a:ext>
            </a:extLst>
          </p:cNvPr>
          <p:cNvSpPr>
            <a:spLocks noGrp="1"/>
          </p:cNvSpPr>
          <p:nvPr>
            <p:ph type="title"/>
          </p:nvPr>
        </p:nvSpPr>
        <p:spPr/>
        <p:txBody>
          <a:bodyPr/>
          <a:lstStyle/>
          <a:p>
            <a:r>
              <a:rPr lang="fr-CA" dirty="0"/>
              <a:t>Financement interne </a:t>
            </a:r>
          </a:p>
        </p:txBody>
      </p:sp>
      <p:sp>
        <p:nvSpPr>
          <p:cNvPr id="3" name="Espace réservé du texte 2">
            <a:extLst>
              <a:ext uri="{FF2B5EF4-FFF2-40B4-BE49-F238E27FC236}">
                <a16:creationId xmlns:a16="http://schemas.microsoft.com/office/drawing/2014/main" id="{D86F82E6-AF13-4972-B7DA-A6B3084B0E4C}"/>
              </a:ext>
            </a:extLst>
          </p:cNvPr>
          <p:cNvSpPr>
            <a:spLocks noGrp="1"/>
          </p:cNvSpPr>
          <p:nvPr>
            <p:ph type="body" idx="1"/>
          </p:nvPr>
        </p:nvSpPr>
        <p:spPr/>
        <p:txBody>
          <a:bodyPr/>
          <a:lstStyle/>
          <a:p>
            <a:endParaRPr lang="fr-CA"/>
          </a:p>
        </p:txBody>
      </p:sp>
    </p:spTree>
    <p:extLst>
      <p:ext uri="{BB962C8B-B14F-4D97-AF65-F5344CB8AC3E}">
        <p14:creationId xmlns:p14="http://schemas.microsoft.com/office/powerpoint/2010/main" val="3399551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p:txBody>
          <a:bodyPr/>
          <a:lstStyle/>
          <a:p>
            <a:r>
              <a:rPr lang="fr-CA" dirty="0"/>
              <a:t>Les fonds </a:t>
            </a:r>
            <a:r>
              <a:rPr lang="fr-CA" dirty="0" err="1"/>
              <a:t>autogénérés</a:t>
            </a:r>
            <a:r>
              <a:rPr lang="fr-CA" dirty="0"/>
              <a:t> </a:t>
            </a:r>
          </a:p>
        </p:txBody>
      </p:sp>
      <p:sp>
        <p:nvSpPr>
          <p:cNvPr id="3" name="Espace réservé du contenu 2"/>
          <p:cNvSpPr>
            <a:spLocks noGrp="1"/>
          </p:cNvSpPr>
          <p:nvPr>
            <p:ph idx="1"/>
            <p:custDataLst>
              <p:tags r:id="rId2"/>
            </p:custDataLst>
          </p:nvPr>
        </p:nvSpPr>
        <p:spPr/>
        <p:txBody>
          <a:bodyPr/>
          <a:lstStyle/>
          <a:p>
            <a:r>
              <a:rPr lang="fr-CA" sz="2400" dirty="0"/>
              <a:t>Les fonds </a:t>
            </a:r>
            <a:r>
              <a:rPr lang="fr-CA" sz="2400" dirty="0" err="1"/>
              <a:t>autogénérés</a:t>
            </a:r>
            <a:r>
              <a:rPr lang="fr-CA" sz="2400" dirty="0"/>
              <a:t> ne requièrent l’intervention d’aucune tierce partie. </a:t>
            </a:r>
          </a:p>
          <a:p>
            <a:endParaRPr lang="fr-CA" sz="2400" dirty="0"/>
          </a:p>
          <a:p>
            <a:r>
              <a:rPr lang="fr-CA" sz="2400" dirty="0"/>
              <a:t>Il faut toutefois être prudent dans les projections: </a:t>
            </a:r>
          </a:p>
          <a:p>
            <a:pPr lvl="2"/>
            <a:r>
              <a:rPr lang="fr-CA" sz="2400" dirty="0"/>
              <a:t>Plusieurs scénarios doivent être envisagés pour éviter un déficit</a:t>
            </a:r>
          </a:p>
          <a:p>
            <a:pPr lvl="2"/>
            <a:r>
              <a:rPr lang="fr-CA" sz="2400" dirty="0"/>
              <a:t>Le degré de précision est important lorsque vient le temps d’estimer les entrées et les sorties de fonds</a:t>
            </a:r>
          </a:p>
          <a:p>
            <a:endParaRPr lang="fr-CA" dirty="0"/>
          </a:p>
        </p:txBody>
      </p:sp>
      <p:sp>
        <p:nvSpPr>
          <p:cNvPr id="4" name="Espace réservé du pied de page 3"/>
          <p:cNvSpPr>
            <a:spLocks noGrp="1"/>
          </p:cNvSpPr>
          <p:nvPr>
            <p:ph type="ftr" sz="quarter" idx="11"/>
            <p:custDataLst>
              <p:tags r:id="rId3"/>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4"/>
            </p:custDataLst>
          </p:nvPr>
        </p:nvSpPr>
        <p:spPr/>
        <p:txBody>
          <a:bodyPr/>
          <a:lstStyle/>
          <a:p>
            <a:fld id="{EEB25B09-B9A6-4811-8700-6D36B9CE20D1}" type="slidenum">
              <a:rPr lang="fr-CA" smtClean="0"/>
              <a:t>3</a:t>
            </a:fld>
            <a:endParaRPr lang="fr-CA"/>
          </a:p>
        </p:txBody>
      </p:sp>
    </p:spTree>
    <p:extLst>
      <p:ext uri="{BB962C8B-B14F-4D97-AF65-F5344CB8AC3E}">
        <p14:creationId xmlns:p14="http://schemas.microsoft.com/office/powerpoint/2010/main" val="2663220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8ACDB6-5D7E-4052-B6EC-3A963C545EA4}"/>
              </a:ext>
            </a:extLst>
          </p:cNvPr>
          <p:cNvSpPr>
            <a:spLocks noGrp="1"/>
          </p:cNvSpPr>
          <p:nvPr>
            <p:ph type="title"/>
          </p:nvPr>
        </p:nvSpPr>
        <p:spPr/>
        <p:txBody>
          <a:bodyPr/>
          <a:lstStyle/>
          <a:p>
            <a:r>
              <a:rPr lang="fr-CA" dirty="0"/>
              <a:t>Actifs en surplus </a:t>
            </a:r>
          </a:p>
        </p:txBody>
      </p:sp>
      <p:sp>
        <p:nvSpPr>
          <p:cNvPr id="3" name="Espace réservé du contenu 2">
            <a:extLst>
              <a:ext uri="{FF2B5EF4-FFF2-40B4-BE49-F238E27FC236}">
                <a16:creationId xmlns:a16="http://schemas.microsoft.com/office/drawing/2014/main" id="{6D93DAEA-158D-4F63-ABD0-98A98B1643B5}"/>
              </a:ext>
            </a:extLst>
          </p:cNvPr>
          <p:cNvSpPr>
            <a:spLocks noGrp="1"/>
          </p:cNvSpPr>
          <p:nvPr>
            <p:ph idx="1"/>
          </p:nvPr>
        </p:nvSpPr>
        <p:spPr/>
        <p:txBody>
          <a:bodyPr/>
          <a:lstStyle/>
          <a:p>
            <a:pPr marL="0" indent="0">
              <a:buNone/>
            </a:pPr>
            <a:r>
              <a:rPr lang="fr-CA" dirty="0"/>
              <a:t>Actifs qui peuvent être vendus sans nuire à l’exploitation courante de l’entreprise</a:t>
            </a:r>
          </a:p>
          <a:p>
            <a:endParaRPr lang="fr-CA" dirty="0"/>
          </a:p>
          <a:p>
            <a:r>
              <a:rPr lang="fr-CA" dirty="0"/>
              <a:t>Placements </a:t>
            </a:r>
          </a:p>
          <a:p>
            <a:r>
              <a:rPr lang="fr-CA" dirty="0"/>
              <a:t>Terrains vacants </a:t>
            </a:r>
          </a:p>
          <a:p>
            <a:r>
              <a:rPr lang="fr-CA" dirty="0"/>
              <a:t>Équipements non utilisés</a:t>
            </a:r>
          </a:p>
          <a:p>
            <a:r>
              <a:rPr lang="fr-CA" dirty="0"/>
              <a:t>Stocks excédentaires</a:t>
            </a:r>
          </a:p>
          <a:p>
            <a:pPr marL="0" indent="0">
              <a:buNone/>
            </a:pPr>
            <a:endParaRPr lang="fr-CA" dirty="0"/>
          </a:p>
          <a:p>
            <a:pPr marL="0" indent="0">
              <a:buNone/>
            </a:pPr>
            <a:endParaRPr lang="fr-CA" dirty="0"/>
          </a:p>
        </p:txBody>
      </p:sp>
    </p:spTree>
    <p:extLst>
      <p:ext uri="{BB962C8B-B14F-4D97-AF65-F5344CB8AC3E}">
        <p14:creationId xmlns:p14="http://schemas.microsoft.com/office/powerpoint/2010/main" val="3339691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2521B8-D831-4B3A-BF9D-91FEC3FC188F}"/>
              </a:ext>
            </a:extLst>
          </p:cNvPr>
          <p:cNvSpPr>
            <a:spLocks noGrp="1"/>
          </p:cNvSpPr>
          <p:nvPr>
            <p:ph type="title"/>
          </p:nvPr>
        </p:nvSpPr>
        <p:spPr/>
        <p:txBody>
          <a:bodyPr/>
          <a:lstStyle/>
          <a:p>
            <a:r>
              <a:rPr lang="fr-CA" dirty="0"/>
              <a:t>Emprunts</a:t>
            </a:r>
          </a:p>
        </p:txBody>
      </p:sp>
      <p:sp>
        <p:nvSpPr>
          <p:cNvPr id="3" name="Espace réservé du texte 2">
            <a:extLst>
              <a:ext uri="{FF2B5EF4-FFF2-40B4-BE49-F238E27FC236}">
                <a16:creationId xmlns:a16="http://schemas.microsoft.com/office/drawing/2014/main" id="{4399EACF-043C-42C0-8EAF-DE836934D1C0}"/>
              </a:ext>
            </a:extLst>
          </p:cNvPr>
          <p:cNvSpPr>
            <a:spLocks noGrp="1"/>
          </p:cNvSpPr>
          <p:nvPr>
            <p:ph type="body" idx="1"/>
          </p:nvPr>
        </p:nvSpPr>
        <p:spPr/>
        <p:txBody>
          <a:bodyPr/>
          <a:lstStyle/>
          <a:p>
            <a:endParaRPr lang="fr-CA"/>
          </a:p>
        </p:txBody>
      </p:sp>
    </p:spTree>
    <p:extLst>
      <p:ext uri="{BB962C8B-B14F-4D97-AF65-F5344CB8AC3E}">
        <p14:creationId xmlns:p14="http://schemas.microsoft.com/office/powerpoint/2010/main" val="3889418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p:txBody>
          <a:bodyPr/>
          <a:lstStyle/>
          <a:p>
            <a:r>
              <a:rPr lang="fr-CA" dirty="0"/>
              <a:t>Les emprunts </a:t>
            </a:r>
          </a:p>
        </p:txBody>
      </p:sp>
      <p:sp>
        <p:nvSpPr>
          <p:cNvPr id="3" name="Espace réservé du contenu 2"/>
          <p:cNvSpPr>
            <a:spLocks noGrp="1"/>
          </p:cNvSpPr>
          <p:nvPr>
            <p:ph idx="1"/>
            <p:custDataLst>
              <p:tags r:id="rId2"/>
            </p:custDataLst>
          </p:nvPr>
        </p:nvSpPr>
        <p:spPr/>
        <p:txBody>
          <a:bodyPr>
            <a:normAutofit fontScale="77500" lnSpcReduction="20000"/>
          </a:bodyPr>
          <a:lstStyle/>
          <a:p>
            <a:r>
              <a:rPr lang="fr-CA" sz="2200" b="1" dirty="0"/>
              <a:t>Avantages</a:t>
            </a:r>
          </a:p>
          <a:p>
            <a:pPr lvl="2"/>
            <a:r>
              <a:rPr lang="fr-CA" sz="2200" dirty="0"/>
              <a:t>Effet de levier</a:t>
            </a:r>
          </a:p>
          <a:p>
            <a:pPr lvl="2"/>
            <a:r>
              <a:rPr lang="fr-CA" sz="2200" dirty="0"/>
              <a:t>Coûts de financement </a:t>
            </a:r>
            <a:r>
              <a:rPr lang="fr-CA" sz="2200" dirty="0">
                <a:highlight>
                  <a:srgbClr val="FFFF00"/>
                </a:highlight>
              </a:rPr>
              <a:t>moins élevé </a:t>
            </a:r>
            <a:r>
              <a:rPr lang="fr-CA" sz="2200" dirty="0"/>
              <a:t>que les fonds propres</a:t>
            </a:r>
          </a:p>
          <a:p>
            <a:pPr lvl="2"/>
            <a:r>
              <a:rPr lang="fr-CA" sz="2200" dirty="0"/>
              <a:t>Déductibilité des intérêts (avantage fiscal)</a:t>
            </a:r>
          </a:p>
          <a:p>
            <a:pPr lvl="2"/>
            <a:r>
              <a:rPr lang="fr-CA" sz="2200" dirty="0"/>
              <a:t>Permet de discipliner les dirigeants (sorties de fonds régulières qui doivent être prévues par les dirigeants)</a:t>
            </a:r>
          </a:p>
          <a:p>
            <a:pPr lvl="2"/>
            <a:r>
              <a:rPr lang="fr-CA" sz="2200" dirty="0"/>
              <a:t>Coût de la dette </a:t>
            </a:r>
            <a:r>
              <a:rPr lang="fr-CA" sz="2200" dirty="0">
                <a:highlight>
                  <a:srgbClr val="FFFF00"/>
                </a:highlight>
              </a:rPr>
              <a:t>limité</a:t>
            </a:r>
            <a:r>
              <a:rPr lang="fr-CA" sz="2200" dirty="0"/>
              <a:t>, car les créanciers ne participent pas aux bénéfices supplémentaires </a:t>
            </a:r>
          </a:p>
          <a:p>
            <a:pPr marL="717120" lvl="2" indent="0">
              <a:buNone/>
            </a:pPr>
            <a:endParaRPr lang="fr-CA" sz="2200" dirty="0"/>
          </a:p>
          <a:p>
            <a:endParaRPr lang="fr-CA" sz="2200" dirty="0"/>
          </a:p>
          <a:p>
            <a:r>
              <a:rPr lang="fr-CA" sz="2200" b="1" dirty="0"/>
              <a:t>Inconvénients</a:t>
            </a:r>
          </a:p>
          <a:p>
            <a:pPr lvl="2"/>
            <a:r>
              <a:rPr lang="fr-CA" sz="2200" dirty="0"/>
              <a:t>Risques financiers peuvent être importants en raison de l’augmentation des sorties de fonds associées au paiement du capital et des intérêts </a:t>
            </a:r>
          </a:p>
          <a:p>
            <a:pPr lvl="2"/>
            <a:r>
              <a:rPr lang="fr-CA" sz="2200" dirty="0"/>
              <a:t>Clauses restrictives peuvent être contraignantes</a:t>
            </a:r>
          </a:p>
          <a:p>
            <a:pPr lvl="2"/>
            <a:r>
              <a:rPr lang="fr-CA" sz="2200" dirty="0"/>
              <a:t>Parfois peu de flexibilité (versements peuvent être réguliers)</a:t>
            </a:r>
          </a:p>
          <a:p>
            <a:pPr lvl="2"/>
            <a:r>
              <a:rPr lang="fr-CA" sz="2200" dirty="0"/>
              <a:t>Obligations : intérêts peuvent être élevés si les fonds ne sont pas nécessaires/utilisés au début </a:t>
            </a:r>
          </a:p>
          <a:p>
            <a:pPr lvl="2"/>
            <a:endParaRPr lang="fr-CA" sz="2200" dirty="0"/>
          </a:p>
          <a:p>
            <a:endParaRPr lang="fr-CA" dirty="0"/>
          </a:p>
        </p:txBody>
      </p:sp>
      <p:sp>
        <p:nvSpPr>
          <p:cNvPr id="4" name="Espace réservé du pied de page 3"/>
          <p:cNvSpPr>
            <a:spLocks noGrp="1"/>
          </p:cNvSpPr>
          <p:nvPr>
            <p:ph type="ftr" sz="quarter" idx="11"/>
            <p:custDataLst>
              <p:tags r:id="rId3"/>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4"/>
            </p:custDataLst>
          </p:nvPr>
        </p:nvSpPr>
        <p:spPr/>
        <p:txBody>
          <a:bodyPr/>
          <a:lstStyle/>
          <a:p>
            <a:fld id="{EEB25B09-B9A6-4811-8700-6D36B9CE20D1}" type="slidenum">
              <a:rPr lang="fr-CA" smtClean="0"/>
              <a:t>6</a:t>
            </a:fld>
            <a:endParaRPr lang="fr-CA"/>
          </a:p>
        </p:txBody>
      </p:sp>
    </p:spTree>
    <p:extLst>
      <p:ext uri="{BB962C8B-B14F-4D97-AF65-F5344CB8AC3E}">
        <p14:creationId xmlns:p14="http://schemas.microsoft.com/office/powerpoint/2010/main" val="389701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p:txBody>
          <a:bodyPr/>
          <a:lstStyle/>
          <a:p>
            <a:r>
              <a:rPr lang="fr-CA" dirty="0"/>
              <a:t>Les emprunts </a:t>
            </a:r>
          </a:p>
        </p:txBody>
      </p:sp>
      <p:sp>
        <p:nvSpPr>
          <p:cNvPr id="3" name="Espace réservé du contenu 2"/>
          <p:cNvSpPr>
            <a:spLocks noGrp="1"/>
          </p:cNvSpPr>
          <p:nvPr>
            <p:ph idx="1"/>
            <p:custDataLst>
              <p:tags r:id="rId2"/>
            </p:custDataLst>
          </p:nvPr>
        </p:nvSpPr>
        <p:spPr/>
        <p:txBody>
          <a:bodyPr>
            <a:normAutofit fontScale="85000" lnSpcReduction="10000"/>
          </a:bodyPr>
          <a:lstStyle/>
          <a:p>
            <a:r>
              <a:rPr lang="fr-CA" sz="2400" b="1" dirty="0"/>
              <a:t>Marge de crédit (prêt d’exploitation, ligne de crédit)</a:t>
            </a:r>
          </a:p>
          <a:p>
            <a:pPr lvl="2"/>
            <a:r>
              <a:rPr lang="fr-CA" sz="2400" dirty="0"/>
              <a:t>Généralement pour une période d’un an et revus annuellement</a:t>
            </a:r>
          </a:p>
          <a:p>
            <a:pPr lvl="2"/>
            <a:r>
              <a:rPr lang="fr-CA" sz="2400" dirty="0"/>
              <a:t>Prêts habituellement garantis par des charges sur les créances et les stocks:</a:t>
            </a:r>
          </a:p>
          <a:p>
            <a:pPr lvl="3"/>
            <a:r>
              <a:rPr lang="fr-CA" sz="2400" dirty="0"/>
              <a:t>Créances: 65 à 85 % des bonnes créances</a:t>
            </a:r>
          </a:p>
          <a:p>
            <a:pPr lvl="3"/>
            <a:r>
              <a:rPr lang="fr-CA" sz="2400" dirty="0"/>
              <a:t>Stocks: 40 à 50% des stocks de produits finis</a:t>
            </a:r>
          </a:p>
          <a:p>
            <a:endParaRPr lang="fr-CA" sz="2400" dirty="0"/>
          </a:p>
          <a:p>
            <a:r>
              <a:rPr lang="fr-CA" sz="2400" b="1" dirty="0"/>
              <a:t>Lettre de crédit</a:t>
            </a:r>
          </a:p>
          <a:p>
            <a:pPr lvl="2"/>
            <a:r>
              <a:rPr lang="fr-CA" sz="2400" dirty="0"/>
              <a:t>Une lettre de crédit représente un engagement pris par une banque d’effectuer un paiement pour le compte d’un client relativement à une opération particulière.</a:t>
            </a:r>
          </a:p>
          <a:p>
            <a:pPr lvl="2"/>
            <a:r>
              <a:rPr lang="fr-CA" sz="2400" dirty="0"/>
              <a:t>Une lettre de crédit représente un prêt bancaire et son recours réduit généralement la marge de crédit disponible</a:t>
            </a:r>
          </a:p>
          <a:p>
            <a:endParaRPr lang="fr-CA" dirty="0"/>
          </a:p>
        </p:txBody>
      </p:sp>
      <p:sp>
        <p:nvSpPr>
          <p:cNvPr id="4" name="Espace réservé du pied de page 3"/>
          <p:cNvSpPr>
            <a:spLocks noGrp="1"/>
          </p:cNvSpPr>
          <p:nvPr>
            <p:ph type="ftr" sz="quarter" idx="11"/>
            <p:custDataLst>
              <p:tags r:id="rId3"/>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4"/>
            </p:custDataLst>
          </p:nvPr>
        </p:nvSpPr>
        <p:spPr/>
        <p:txBody>
          <a:bodyPr/>
          <a:lstStyle/>
          <a:p>
            <a:fld id="{EEB25B09-B9A6-4811-8700-6D36B9CE20D1}" type="slidenum">
              <a:rPr lang="fr-CA" smtClean="0"/>
              <a:t>7</a:t>
            </a:fld>
            <a:endParaRPr lang="fr-CA"/>
          </a:p>
        </p:txBody>
      </p:sp>
    </p:spTree>
    <p:extLst>
      <p:ext uri="{BB962C8B-B14F-4D97-AF65-F5344CB8AC3E}">
        <p14:creationId xmlns:p14="http://schemas.microsoft.com/office/powerpoint/2010/main" val="1308729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p:txBody>
          <a:bodyPr/>
          <a:lstStyle/>
          <a:p>
            <a:r>
              <a:rPr lang="fr-CA" dirty="0"/>
              <a:t>Les emprunts </a:t>
            </a:r>
          </a:p>
        </p:txBody>
      </p:sp>
      <p:sp>
        <p:nvSpPr>
          <p:cNvPr id="3" name="Espace réservé du contenu 2"/>
          <p:cNvSpPr>
            <a:spLocks noGrp="1"/>
          </p:cNvSpPr>
          <p:nvPr>
            <p:ph idx="1"/>
            <p:custDataLst>
              <p:tags r:id="rId2"/>
            </p:custDataLst>
          </p:nvPr>
        </p:nvSpPr>
        <p:spPr/>
        <p:txBody>
          <a:bodyPr>
            <a:normAutofit fontScale="77500" lnSpcReduction="20000"/>
          </a:bodyPr>
          <a:lstStyle/>
          <a:p>
            <a:r>
              <a:rPr lang="fr-CA" sz="2400" b="1" dirty="0"/>
              <a:t>Emprunt à terme</a:t>
            </a:r>
          </a:p>
          <a:p>
            <a:pPr lvl="2"/>
            <a:r>
              <a:rPr lang="fr-CA" sz="2400" dirty="0"/>
              <a:t>Terme général utilisé pour parler de toute dette dont Ces prêts sont généralement offerts pour financer l’acquisition d’actifs à moyen ou long terme (expansion ou acquisition)</a:t>
            </a:r>
          </a:p>
          <a:p>
            <a:pPr lvl="2"/>
            <a:r>
              <a:rPr lang="fr-CA" sz="2400" dirty="0"/>
              <a:t>Similaire à un prêt hypothécaire, car le terme est défini (entre 5 et 10 ans) et peut être garanti avec des immobilisations</a:t>
            </a:r>
          </a:p>
          <a:p>
            <a:pPr lvl="2"/>
            <a:r>
              <a:rPr lang="fr-CA" sz="2400" dirty="0"/>
              <a:t>Les modalités de paiement flexibles</a:t>
            </a:r>
          </a:p>
          <a:p>
            <a:pPr lvl="2"/>
            <a:r>
              <a:rPr lang="fr-CA" sz="2400" dirty="0"/>
              <a:t>Taux d’intérêt fixe, variable ou option de conversion</a:t>
            </a:r>
          </a:p>
          <a:p>
            <a:pPr lvl="2"/>
            <a:r>
              <a:rPr lang="fr-CA" sz="2400" dirty="0"/>
              <a:t>Clauses restrictives importantes (ratios, acquisitions, dividendes, etc.)</a:t>
            </a:r>
          </a:p>
          <a:p>
            <a:endParaRPr lang="fr-CA" sz="2400" dirty="0"/>
          </a:p>
          <a:p>
            <a:r>
              <a:rPr lang="fr-CA" sz="2400" b="1" dirty="0"/>
              <a:t>Obligations</a:t>
            </a:r>
          </a:p>
          <a:p>
            <a:pPr lvl="2"/>
            <a:r>
              <a:rPr lang="fr-CA" sz="2400" dirty="0"/>
              <a:t>Titre d'emprunt par lequel l'émetteur paye au porteur des intérêts (coupons) pendant une période déterminée et de rembourser le prêt à l'échéance </a:t>
            </a:r>
          </a:p>
          <a:p>
            <a:pPr lvl="2"/>
            <a:r>
              <a:rPr lang="fr-CA" sz="2400" dirty="0"/>
              <a:t>Notation de la cote de crédit obligatoire</a:t>
            </a:r>
          </a:p>
          <a:p>
            <a:endParaRPr lang="fr-CA" dirty="0"/>
          </a:p>
        </p:txBody>
      </p:sp>
      <p:sp>
        <p:nvSpPr>
          <p:cNvPr id="4" name="Espace réservé du pied de page 3"/>
          <p:cNvSpPr>
            <a:spLocks noGrp="1"/>
          </p:cNvSpPr>
          <p:nvPr>
            <p:ph type="ftr" sz="quarter" idx="11"/>
            <p:custDataLst>
              <p:tags r:id="rId3"/>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4"/>
            </p:custDataLst>
          </p:nvPr>
        </p:nvSpPr>
        <p:spPr/>
        <p:txBody>
          <a:bodyPr/>
          <a:lstStyle/>
          <a:p>
            <a:fld id="{EEB25B09-B9A6-4811-8700-6D36B9CE20D1}" type="slidenum">
              <a:rPr lang="fr-CA" smtClean="0"/>
              <a:t>8</a:t>
            </a:fld>
            <a:endParaRPr lang="fr-CA"/>
          </a:p>
        </p:txBody>
      </p:sp>
    </p:spTree>
    <p:extLst>
      <p:ext uri="{BB962C8B-B14F-4D97-AF65-F5344CB8AC3E}">
        <p14:creationId xmlns:p14="http://schemas.microsoft.com/office/powerpoint/2010/main" val="2879010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32EEB4-037E-4C97-A986-63FE1533E4E1}"/>
              </a:ext>
            </a:extLst>
          </p:cNvPr>
          <p:cNvSpPr>
            <a:spLocks noGrp="1"/>
          </p:cNvSpPr>
          <p:nvPr>
            <p:ph type="title"/>
          </p:nvPr>
        </p:nvSpPr>
        <p:spPr/>
        <p:txBody>
          <a:bodyPr/>
          <a:lstStyle/>
          <a:p>
            <a:r>
              <a:rPr lang="fr-CA" dirty="0"/>
              <a:t>Capitaux propres</a:t>
            </a:r>
          </a:p>
        </p:txBody>
      </p:sp>
      <p:sp>
        <p:nvSpPr>
          <p:cNvPr id="3" name="Espace réservé du texte 2">
            <a:extLst>
              <a:ext uri="{FF2B5EF4-FFF2-40B4-BE49-F238E27FC236}">
                <a16:creationId xmlns:a16="http://schemas.microsoft.com/office/drawing/2014/main" id="{75414B36-E919-4EAA-BBAC-D41DDFF91755}"/>
              </a:ext>
            </a:extLst>
          </p:cNvPr>
          <p:cNvSpPr>
            <a:spLocks noGrp="1"/>
          </p:cNvSpPr>
          <p:nvPr>
            <p:ph type="body" idx="1"/>
          </p:nvPr>
        </p:nvSpPr>
        <p:spPr/>
        <p:txBody>
          <a:bodyPr/>
          <a:lstStyle/>
          <a:p>
            <a:endParaRPr lang="fr-CA"/>
          </a:p>
        </p:txBody>
      </p:sp>
    </p:spTree>
    <p:extLst>
      <p:ext uri="{BB962C8B-B14F-4D97-AF65-F5344CB8AC3E}">
        <p14:creationId xmlns:p14="http://schemas.microsoft.com/office/powerpoint/2010/main" val="2519221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p:txBody>
          <a:bodyPr/>
          <a:lstStyle/>
          <a:p>
            <a:r>
              <a:rPr lang="fr-CA" dirty="0"/>
              <a:t>Les capitaux propres </a:t>
            </a:r>
          </a:p>
        </p:txBody>
      </p:sp>
      <p:sp>
        <p:nvSpPr>
          <p:cNvPr id="3" name="Espace réservé du contenu 2"/>
          <p:cNvSpPr>
            <a:spLocks noGrp="1"/>
          </p:cNvSpPr>
          <p:nvPr>
            <p:ph idx="1"/>
            <p:custDataLst>
              <p:tags r:id="rId2"/>
            </p:custDataLst>
          </p:nvPr>
        </p:nvSpPr>
        <p:spPr/>
        <p:txBody>
          <a:bodyPr/>
          <a:lstStyle/>
          <a:p>
            <a:r>
              <a:rPr lang="fr-CA" sz="2400" dirty="0"/>
              <a:t>Les capitaux propres représentent le risque d’entreprise ultime: </a:t>
            </a:r>
          </a:p>
          <a:p>
            <a:pPr lvl="2"/>
            <a:r>
              <a:rPr lang="fr-CA" sz="2400" dirty="0"/>
              <a:t>Ils présentent le plus grand risque et ils méritent donc le meilleur rendement</a:t>
            </a:r>
          </a:p>
          <a:p>
            <a:pPr lvl="2"/>
            <a:r>
              <a:rPr lang="fr-CA" sz="2400" dirty="0"/>
              <a:t>C’est pourquoi on dit souvent que les capitaux propres sont très coûteux</a:t>
            </a:r>
          </a:p>
          <a:p>
            <a:endParaRPr lang="fr-CA" dirty="0"/>
          </a:p>
        </p:txBody>
      </p:sp>
      <p:sp>
        <p:nvSpPr>
          <p:cNvPr id="4" name="Espace réservé du pied de page 3"/>
          <p:cNvSpPr>
            <a:spLocks noGrp="1"/>
          </p:cNvSpPr>
          <p:nvPr>
            <p:ph type="ftr" sz="quarter" idx="11"/>
            <p:custDataLst>
              <p:tags r:id="rId3"/>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4"/>
            </p:custDataLst>
          </p:nvPr>
        </p:nvSpPr>
        <p:spPr/>
        <p:txBody>
          <a:bodyPr/>
          <a:lstStyle/>
          <a:p>
            <a:fld id="{EEB25B09-B9A6-4811-8700-6D36B9CE20D1}" type="slidenum">
              <a:rPr lang="fr-CA" smtClean="0"/>
              <a:t>10</a:t>
            </a:fld>
            <a:endParaRPr lang="fr-CA"/>
          </a:p>
        </p:txBody>
      </p:sp>
    </p:spTree>
    <p:extLst>
      <p:ext uri="{BB962C8B-B14F-4D97-AF65-F5344CB8AC3E}">
        <p14:creationId xmlns:p14="http://schemas.microsoft.com/office/powerpoint/2010/main" val="1772586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p:txBody>
          <a:bodyPr/>
          <a:lstStyle/>
          <a:p>
            <a:r>
              <a:rPr lang="fr-CA" dirty="0"/>
              <a:t>Les capitaux propres </a:t>
            </a:r>
          </a:p>
        </p:txBody>
      </p:sp>
      <p:sp>
        <p:nvSpPr>
          <p:cNvPr id="3" name="Espace réservé du contenu 2"/>
          <p:cNvSpPr>
            <a:spLocks noGrp="1"/>
          </p:cNvSpPr>
          <p:nvPr>
            <p:ph idx="1"/>
            <p:custDataLst>
              <p:tags r:id="rId2"/>
            </p:custDataLst>
          </p:nvPr>
        </p:nvSpPr>
        <p:spPr/>
        <p:txBody>
          <a:bodyPr>
            <a:normAutofit fontScale="92500" lnSpcReduction="20000"/>
          </a:bodyPr>
          <a:lstStyle/>
          <a:p>
            <a:pPr marL="0" indent="0">
              <a:buNone/>
            </a:pPr>
            <a:r>
              <a:rPr lang="fr-CA" sz="2400" b="1" dirty="0"/>
              <a:t>Quand l’entreprise a-t-elle besoin d’accroître ses capitaux propres? </a:t>
            </a:r>
          </a:p>
          <a:p>
            <a:pPr lvl="2"/>
            <a:r>
              <a:rPr lang="fr-CA" sz="2400" dirty="0"/>
              <a:t>L’entreprise traverse une phase de croissance et a donc de plus grands besoins en fonds de roulement, lesquels ne peuvent être comblés par les bénéfices</a:t>
            </a:r>
          </a:p>
          <a:p>
            <a:pPr lvl="2"/>
            <a:r>
              <a:rPr lang="fr-CA" sz="2400" dirty="0"/>
              <a:t>L’entreprise planifie un projet important d’expansion des installations ou de modernisation de la technologie</a:t>
            </a:r>
          </a:p>
          <a:p>
            <a:pPr lvl="2"/>
            <a:r>
              <a:rPr lang="fr-CA" sz="2400" dirty="0"/>
              <a:t>L’entreprise souhaite développer d’autres marchés en lançant de nouveaux produits et services; </a:t>
            </a:r>
          </a:p>
          <a:p>
            <a:pPr lvl="2"/>
            <a:r>
              <a:rPr lang="fr-CA" sz="2400" dirty="0"/>
              <a:t>L’entreprise procède à une acquisition</a:t>
            </a:r>
          </a:p>
          <a:p>
            <a:pPr lvl="2"/>
            <a:r>
              <a:rPr lang="fr-CA" sz="2400" dirty="0"/>
              <a:t>L’entreprise planifie des projets importants de recherche et développement</a:t>
            </a:r>
          </a:p>
          <a:p>
            <a:pPr lvl="2"/>
            <a:r>
              <a:rPr lang="fr-CA" sz="2400" dirty="0"/>
              <a:t>L’entreprise subit une restructuration ou un refinancement après une période de récession</a:t>
            </a:r>
          </a:p>
          <a:p>
            <a:endParaRPr lang="fr-CA" dirty="0"/>
          </a:p>
        </p:txBody>
      </p:sp>
      <p:sp>
        <p:nvSpPr>
          <p:cNvPr id="4" name="Espace réservé du pied de page 3"/>
          <p:cNvSpPr>
            <a:spLocks noGrp="1"/>
          </p:cNvSpPr>
          <p:nvPr>
            <p:ph type="ftr" sz="quarter" idx="11"/>
            <p:custDataLst>
              <p:tags r:id="rId3"/>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4"/>
            </p:custDataLst>
          </p:nvPr>
        </p:nvSpPr>
        <p:spPr/>
        <p:txBody>
          <a:bodyPr/>
          <a:lstStyle/>
          <a:p>
            <a:fld id="{EEB25B09-B9A6-4811-8700-6D36B9CE20D1}" type="slidenum">
              <a:rPr lang="fr-CA" smtClean="0"/>
              <a:t>11</a:t>
            </a:fld>
            <a:endParaRPr lang="fr-CA"/>
          </a:p>
        </p:txBody>
      </p:sp>
    </p:spTree>
    <p:extLst>
      <p:ext uri="{BB962C8B-B14F-4D97-AF65-F5344CB8AC3E}">
        <p14:creationId xmlns:p14="http://schemas.microsoft.com/office/powerpoint/2010/main" val="3039980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p:txBody>
          <a:bodyPr/>
          <a:lstStyle/>
          <a:p>
            <a:r>
              <a:rPr lang="fr-CA" dirty="0"/>
              <a:t>Les capitaux propres </a:t>
            </a:r>
          </a:p>
        </p:txBody>
      </p:sp>
      <p:sp>
        <p:nvSpPr>
          <p:cNvPr id="3" name="Espace réservé du contenu 2"/>
          <p:cNvSpPr>
            <a:spLocks noGrp="1"/>
          </p:cNvSpPr>
          <p:nvPr>
            <p:ph idx="1"/>
            <p:custDataLst>
              <p:tags r:id="rId2"/>
            </p:custDataLst>
          </p:nvPr>
        </p:nvSpPr>
        <p:spPr/>
        <p:txBody>
          <a:bodyPr>
            <a:normAutofit/>
          </a:bodyPr>
          <a:lstStyle/>
          <a:p>
            <a:r>
              <a:rPr lang="fr-CA" sz="2400" dirty="0"/>
              <a:t>Déterminer le bon ratio emprunt / capitaux propres:</a:t>
            </a:r>
          </a:p>
          <a:p>
            <a:pPr lvl="2">
              <a:spcBef>
                <a:spcPts val="1200"/>
              </a:spcBef>
              <a:spcAft>
                <a:spcPts val="1200"/>
              </a:spcAft>
            </a:pPr>
            <a:r>
              <a:rPr lang="fr-CA" sz="2400" dirty="0"/>
              <a:t>Les entreprises hautement capitalistiques (fabrication, ressources, transformation) ont besoin d’une plus grande quantité de capitaux fixes que les entreprises de services parce qu’elles doivent porter le lourd fardeau que présente le financement à long terme des immobilisations</a:t>
            </a:r>
          </a:p>
          <a:p>
            <a:pPr lvl="2">
              <a:spcBef>
                <a:spcPts val="1200"/>
              </a:spcBef>
              <a:spcAft>
                <a:spcPts val="1200"/>
              </a:spcAft>
            </a:pPr>
            <a:r>
              <a:rPr lang="fr-CA" sz="2400" dirty="0"/>
              <a:t>Des ratios emprunts/capitaux propres peu élevés permettent aux entreprises cycliques de contribuer à s’acquitter de leurs obligations au creux des cycles</a:t>
            </a:r>
          </a:p>
          <a:p>
            <a:endParaRPr lang="fr-CA" dirty="0"/>
          </a:p>
        </p:txBody>
      </p:sp>
      <p:sp>
        <p:nvSpPr>
          <p:cNvPr id="4" name="Espace réservé du pied de page 3"/>
          <p:cNvSpPr>
            <a:spLocks noGrp="1"/>
          </p:cNvSpPr>
          <p:nvPr>
            <p:ph type="ftr" sz="quarter" idx="11"/>
            <p:custDataLst>
              <p:tags r:id="rId3"/>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4"/>
            </p:custDataLst>
          </p:nvPr>
        </p:nvSpPr>
        <p:spPr/>
        <p:txBody>
          <a:bodyPr/>
          <a:lstStyle/>
          <a:p>
            <a:fld id="{EEB25B09-B9A6-4811-8700-6D36B9CE20D1}" type="slidenum">
              <a:rPr lang="fr-CA" smtClean="0"/>
              <a:t>12</a:t>
            </a:fld>
            <a:endParaRPr lang="fr-CA"/>
          </a:p>
        </p:txBody>
      </p:sp>
    </p:spTree>
    <p:extLst>
      <p:ext uri="{BB962C8B-B14F-4D97-AF65-F5344CB8AC3E}">
        <p14:creationId xmlns:p14="http://schemas.microsoft.com/office/powerpoint/2010/main" val="1257629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p:txBody>
          <a:bodyPr/>
          <a:lstStyle/>
          <a:p>
            <a:r>
              <a:rPr lang="fr-CA" dirty="0"/>
              <a:t>Les capitaux propres </a:t>
            </a:r>
          </a:p>
        </p:txBody>
      </p:sp>
      <p:sp>
        <p:nvSpPr>
          <p:cNvPr id="3" name="Espace réservé du contenu 2"/>
          <p:cNvSpPr>
            <a:spLocks noGrp="1"/>
          </p:cNvSpPr>
          <p:nvPr>
            <p:ph idx="1"/>
            <p:custDataLst>
              <p:tags r:id="rId2"/>
            </p:custDataLst>
          </p:nvPr>
        </p:nvSpPr>
        <p:spPr/>
        <p:txBody>
          <a:bodyPr>
            <a:normAutofit/>
          </a:bodyPr>
          <a:lstStyle/>
          <a:p>
            <a:r>
              <a:rPr lang="fr-CA" b="1" dirty="0"/>
              <a:t>De qui peut provenir le financement par capitaux propres ?</a:t>
            </a:r>
          </a:p>
          <a:p>
            <a:endParaRPr lang="fr-CA" dirty="0"/>
          </a:p>
          <a:p>
            <a:endParaRPr lang="fr-CA" dirty="0"/>
          </a:p>
          <a:p>
            <a:endParaRPr lang="fr-CA" dirty="0"/>
          </a:p>
          <a:p>
            <a:endParaRPr lang="fr-CA" dirty="0"/>
          </a:p>
          <a:p>
            <a:endParaRPr lang="fr-CA" dirty="0"/>
          </a:p>
          <a:p>
            <a:endParaRPr lang="fr-CA" dirty="0"/>
          </a:p>
        </p:txBody>
      </p:sp>
      <p:sp>
        <p:nvSpPr>
          <p:cNvPr id="4" name="Espace réservé du pied de page 3"/>
          <p:cNvSpPr>
            <a:spLocks noGrp="1"/>
          </p:cNvSpPr>
          <p:nvPr>
            <p:ph type="ftr" sz="quarter" idx="11"/>
            <p:custDataLst>
              <p:tags r:id="rId3"/>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4"/>
            </p:custDataLst>
          </p:nvPr>
        </p:nvSpPr>
        <p:spPr/>
        <p:txBody>
          <a:bodyPr/>
          <a:lstStyle/>
          <a:p>
            <a:fld id="{EEB25B09-B9A6-4811-8700-6D36B9CE20D1}" type="slidenum">
              <a:rPr lang="fr-CA" smtClean="0"/>
              <a:t>13</a:t>
            </a:fld>
            <a:endParaRPr lang="fr-CA"/>
          </a:p>
        </p:txBody>
      </p:sp>
      <p:grpSp>
        <p:nvGrpSpPr>
          <p:cNvPr id="6" name="Groupe 5"/>
          <p:cNvGrpSpPr/>
          <p:nvPr>
            <p:custDataLst>
              <p:tags r:id="rId5"/>
            </p:custDataLst>
          </p:nvPr>
        </p:nvGrpSpPr>
        <p:grpSpPr>
          <a:xfrm>
            <a:off x="1451431" y="2190691"/>
            <a:ext cx="8542478" cy="4184862"/>
            <a:chOff x="90982" y="2268749"/>
            <a:chExt cx="8542478" cy="4184862"/>
          </a:xfrm>
        </p:grpSpPr>
        <p:sp>
          <p:nvSpPr>
            <p:cNvPr id="7" name="Rectangle 3"/>
            <p:cNvSpPr>
              <a:spLocks noChangeArrowheads="1"/>
            </p:cNvSpPr>
            <p:nvPr>
              <p:custDataLst>
                <p:tags r:id="rId7"/>
              </p:custDataLst>
            </p:nvPr>
          </p:nvSpPr>
          <p:spPr bwMode="auto">
            <a:xfrm>
              <a:off x="6370320" y="2331720"/>
              <a:ext cx="2263140" cy="4058920"/>
            </a:xfrm>
            <a:prstGeom prst="rect">
              <a:avLst/>
            </a:prstGeom>
            <a:solidFill>
              <a:srgbClr val="00B0F0"/>
            </a:solidFill>
            <a:ln w="6350" algn="ctr">
              <a:solidFill>
                <a:schemeClr val="accent3"/>
              </a:solidFill>
              <a:miter lim="800000"/>
              <a:headEnd/>
              <a:tailEnd/>
            </a:ln>
            <a:effectLst/>
          </p:spPr>
          <p:txBody>
            <a:bodyPr wrap="none" lIns="0" tIns="0" rIns="0" bIns="0" anchor="ctr"/>
            <a:lstStyle/>
            <a:p>
              <a:pPr algn="ctr">
                <a:spcAft>
                  <a:spcPts val="334"/>
                </a:spcAft>
              </a:pPr>
              <a:r>
                <a:rPr lang="en-CA" b="1" dirty="0"/>
                <a:t>CROISSANCE </a:t>
              </a:r>
            </a:p>
            <a:p>
              <a:pPr algn="ctr">
                <a:spcAft>
                  <a:spcPts val="334"/>
                </a:spcAft>
              </a:pPr>
              <a:r>
                <a:rPr lang="en-CA" b="1" dirty="0"/>
                <a:t>DE </a:t>
              </a:r>
            </a:p>
            <a:p>
              <a:pPr algn="ctr">
                <a:spcAft>
                  <a:spcPts val="334"/>
                </a:spcAft>
              </a:pPr>
              <a:r>
                <a:rPr lang="en-CA" b="1" dirty="0"/>
                <a:t>L’ENTREPRISE </a:t>
              </a:r>
            </a:p>
            <a:p>
              <a:pPr algn="ctr">
                <a:spcAft>
                  <a:spcPts val="334"/>
                </a:spcAft>
              </a:pPr>
              <a:r>
                <a:rPr lang="en-CA" b="1" dirty="0"/>
                <a:t>ET</a:t>
              </a:r>
            </a:p>
            <a:p>
              <a:pPr algn="ctr">
                <a:spcAft>
                  <a:spcPts val="334"/>
                </a:spcAft>
              </a:pPr>
              <a:r>
                <a:rPr lang="en-CA" b="1" dirty="0"/>
                <a:t>SOURCES DE</a:t>
              </a:r>
            </a:p>
            <a:p>
              <a:pPr algn="ctr">
                <a:spcAft>
                  <a:spcPts val="334"/>
                </a:spcAft>
              </a:pPr>
              <a:r>
                <a:rPr lang="en-CA" b="1" dirty="0"/>
                <a:t>CAPITAUX</a:t>
              </a:r>
            </a:p>
          </p:txBody>
        </p:sp>
        <p:sp>
          <p:nvSpPr>
            <p:cNvPr id="8" name="AutoShape 6"/>
            <p:cNvSpPr>
              <a:spLocks noChangeArrowheads="1"/>
            </p:cNvSpPr>
            <p:nvPr>
              <p:custDataLst>
                <p:tags r:id="rId8"/>
              </p:custDataLst>
            </p:nvPr>
          </p:nvSpPr>
          <p:spPr bwMode="auto">
            <a:xfrm>
              <a:off x="729430" y="2331720"/>
              <a:ext cx="5867400" cy="618376"/>
            </a:xfrm>
            <a:prstGeom prst="homePlate">
              <a:avLst>
                <a:gd name="adj" fmla="val 57047"/>
              </a:avLst>
            </a:prstGeom>
            <a:solidFill>
              <a:srgbClr val="FFFFFF"/>
            </a:solidFill>
            <a:ln w="12700" algn="ctr">
              <a:solidFill>
                <a:schemeClr val="accent3"/>
              </a:solidFill>
              <a:miter lim="800000"/>
              <a:headEnd/>
              <a:tailEnd/>
            </a:ln>
            <a:effectLst/>
          </p:spPr>
          <p:txBody>
            <a:bodyPr lIns="81506" tIns="40753" rIns="81506" bIns="40753" anchor="ctr"/>
            <a:lstStyle/>
            <a:p>
              <a:pPr marL="1769" eaLnBrk="0" hangingPunct="0">
                <a:spcBef>
                  <a:spcPct val="0"/>
                </a:spcBef>
                <a:spcAft>
                  <a:spcPts val="334"/>
                </a:spcAft>
              </a:pPr>
              <a:r>
                <a:rPr lang="fr-CA" b="1" dirty="0"/>
                <a:t>Actionnaires actuels, amis proches, parents </a:t>
              </a:r>
            </a:p>
          </p:txBody>
        </p:sp>
        <p:sp>
          <p:nvSpPr>
            <p:cNvPr id="9" name="AutoShape 8"/>
            <p:cNvSpPr>
              <a:spLocks noChangeArrowheads="1"/>
            </p:cNvSpPr>
            <p:nvPr>
              <p:custDataLst>
                <p:tags r:id="rId9"/>
              </p:custDataLst>
            </p:nvPr>
          </p:nvSpPr>
          <p:spPr bwMode="auto">
            <a:xfrm>
              <a:off x="754380" y="4080035"/>
              <a:ext cx="5867400" cy="562290"/>
            </a:xfrm>
            <a:prstGeom prst="homePlate">
              <a:avLst>
                <a:gd name="adj" fmla="val 57047"/>
              </a:avLst>
            </a:prstGeom>
            <a:solidFill>
              <a:srgbClr val="FFFFFF"/>
            </a:solidFill>
            <a:ln w="12700" algn="ctr">
              <a:solidFill>
                <a:schemeClr val="accent3"/>
              </a:solidFill>
              <a:miter lim="800000"/>
              <a:headEnd/>
              <a:tailEnd/>
            </a:ln>
            <a:effectLst/>
          </p:spPr>
          <p:txBody>
            <a:bodyPr lIns="81506" tIns="40753" rIns="81506" bIns="40753" anchor="ctr"/>
            <a:lstStyle/>
            <a:p>
              <a:pPr marL="1769" eaLnBrk="0" hangingPunct="0">
                <a:spcBef>
                  <a:spcPct val="0"/>
                </a:spcBef>
                <a:spcAft>
                  <a:spcPts val="334"/>
                </a:spcAft>
              </a:pPr>
              <a:r>
                <a:rPr lang="fr-CA" b="1" dirty="0"/>
                <a:t>Capital de risque</a:t>
              </a:r>
            </a:p>
          </p:txBody>
        </p:sp>
        <p:sp>
          <p:nvSpPr>
            <p:cNvPr id="10" name="AutoShape 9"/>
            <p:cNvSpPr>
              <a:spLocks noChangeArrowheads="1"/>
            </p:cNvSpPr>
            <p:nvPr>
              <p:custDataLst>
                <p:tags r:id="rId10"/>
              </p:custDataLst>
            </p:nvPr>
          </p:nvSpPr>
          <p:spPr bwMode="auto">
            <a:xfrm>
              <a:off x="729430" y="5741901"/>
              <a:ext cx="5867400" cy="591408"/>
            </a:xfrm>
            <a:prstGeom prst="homePlate">
              <a:avLst>
                <a:gd name="adj" fmla="val 57047"/>
              </a:avLst>
            </a:prstGeom>
            <a:solidFill>
              <a:srgbClr val="FFFFFF"/>
            </a:solidFill>
            <a:ln w="12700" algn="ctr">
              <a:solidFill>
                <a:schemeClr val="accent3"/>
              </a:solidFill>
              <a:miter lim="800000"/>
              <a:headEnd/>
              <a:tailEnd/>
            </a:ln>
            <a:effectLst/>
          </p:spPr>
          <p:txBody>
            <a:bodyPr lIns="81506" tIns="40753" rIns="81506" bIns="40753" anchor="ctr"/>
            <a:lstStyle/>
            <a:p>
              <a:pPr marL="1769" eaLnBrk="0" hangingPunct="0">
                <a:spcBef>
                  <a:spcPct val="0"/>
                </a:spcBef>
                <a:spcAft>
                  <a:spcPts val="334"/>
                </a:spcAft>
              </a:pPr>
              <a:r>
                <a:rPr lang="fr-CA" b="1" dirty="0"/>
                <a:t>Premier appel public à l’épargne</a:t>
              </a:r>
            </a:p>
          </p:txBody>
        </p:sp>
        <p:sp>
          <p:nvSpPr>
            <p:cNvPr id="11" name="Flèche vers le bas 10"/>
            <p:cNvSpPr/>
            <p:nvPr>
              <p:custDataLst>
                <p:tags r:id="rId11"/>
              </p:custDataLst>
            </p:nvPr>
          </p:nvSpPr>
          <p:spPr>
            <a:xfrm>
              <a:off x="90982" y="2268749"/>
              <a:ext cx="638447" cy="4184862"/>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fr-CA" sz="2400" b="1" dirty="0"/>
                <a:t>Croissance</a:t>
              </a:r>
            </a:p>
          </p:txBody>
        </p:sp>
        <p:sp>
          <p:nvSpPr>
            <p:cNvPr id="12" name="AutoShape 9"/>
            <p:cNvSpPr>
              <a:spLocks noChangeArrowheads="1"/>
            </p:cNvSpPr>
            <p:nvPr>
              <p:custDataLst>
                <p:tags r:id="rId12"/>
              </p:custDataLst>
            </p:nvPr>
          </p:nvSpPr>
          <p:spPr bwMode="auto">
            <a:xfrm>
              <a:off x="731255" y="4894312"/>
              <a:ext cx="5867400" cy="591408"/>
            </a:xfrm>
            <a:prstGeom prst="homePlate">
              <a:avLst>
                <a:gd name="adj" fmla="val 57047"/>
              </a:avLst>
            </a:prstGeom>
            <a:solidFill>
              <a:srgbClr val="FFFFFF"/>
            </a:solidFill>
            <a:ln w="12700" algn="ctr">
              <a:solidFill>
                <a:schemeClr val="accent3"/>
              </a:solidFill>
              <a:miter lim="800000"/>
              <a:headEnd/>
              <a:tailEnd/>
            </a:ln>
            <a:effectLst/>
          </p:spPr>
          <p:txBody>
            <a:bodyPr lIns="81506" tIns="40753" rIns="81506" bIns="40753" anchor="ctr"/>
            <a:lstStyle/>
            <a:p>
              <a:pPr marL="1769" eaLnBrk="0" hangingPunct="0">
                <a:spcBef>
                  <a:spcPct val="0"/>
                </a:spcBef>
                <a:spcAft>
                  <a:spcPts val="334"/>
                </a:spcAft>
              </a:pPr>
              <a:r>
                <a:rPr lang="fr-CA" b="1" dirty="0"/>
                <a:t>Partenariat stratégique</a:t>
              </a:r>
            </a:p>
          </p:txBody>
        </p:sp>
      </p:grpSp>
      <p:sp>
        <p:nvSpPr>
          <p:cNvPr id="14" name="AutoShape 7"/>
          <p:cNvSpPr>
            <a:spLocks noChangeArrowheads="1"/>
          </p:cNvSpPr>
          <p:nvPr>
            <p:custDataLst>
              <p:tags r:id="rId6"/>
            </p:custDataLst>
          </p:nvPr>
        </p:nvSpPr>
        <p:spPr bwMode="auto">
          <a:xfrm>
            <a:off x="2089878" y="3076572"/>
            <a:ext cx="5867400" cy="662991"/>
          </a:xfrm>
          <a:prstGeom prst="homePlate">
            <a:avLst>
              <a:gd name="adj" fmla="val 57047"/>
            </a:avLst>
          </a:prstGeom>
          <a:solidFill>
            <a:srgbClr val="FFFFFF"/>
          </a:solidFill>
          <a:ln w="12700" algn="ctr">
            <a:solidFill>
              <a:schemeClr val="accent3"/>
            </a:solidFill>
            <a:miter lim="800000"/>
            <a:headEnd/>
            <a:tailEnd/>
          </a:ln>
          <a:effectLst/>
        </p:spPr>
        <p:txBody>
          <a:bodyPr lIns="81506" tIns="40753" rIns="81506" bIns="40753" anchor="ctr"/>
          <a:lstStyle/>
          <a:p>
            <a:pPr marL="1769" eaLnBrk="0" hangingPunct="0">
              <a:spcBef>
                <a:spcPct val="0"/>
              </a:spcBef>
              <a:spcAft>
                <a:spcPts val="334"/>
              </a:spcAft>
            </a:pPr>
            <a:r>
              <a:rPr lang="fr-CA" b="1" dirty="0"/>
              <a:t>Investisseurs</a:t>
            </a:r>
          </a:p>
        </p:txBody>
      </p:sp>
    </p:spTree>
    <p:extLst>
      <p:ext uri="{BB962C8B-B14F-4D97-AF65-F5344CB8AC3E}">
        <p14:creationId xmlns:p14="http://schemas.microsoft.com/office/powerpoint/2010/main" val="3085030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p:txBody>
          <a:bodyPr/>
          <a:lstStyle/>
          <a:p>
            <a:r>
              <a:rPr lang="fr-CA" dirty="0"/>
              <a:t>Les capitaux propres </a:t>
            </a:r>
          </a:p>
        </p:txBody>
      </p:sp>
      <p:sp>
        <p:nvSpPr>
          <p:cNvPr id="3" name="Espace réservé du contenu 2"/>
          <p:cNvSpPr>
            <a:spLocks noGrp="1"/>
          </p:cNvSpPr>
          <p:nvPr>
            <p:ph idx="1"/>
            <p:custDataLst>
              <p:tags r:id="rId2"/>
            </p:custDataLst>
          </p:nvPr>
        </p:nvSpPr>
        <p:spPr/>
        <p:txBody>
          <a:bodyPr>
            <a:normAutofit fontScale="70000" lnSpcReduction="20000"/>
          </a:bodyPr>
          <a:lstStyle/>
          <a:p>
            <a:pPr marL="0" indent="0">
              <a:spcAft>
                <a:spcPts val="1200"/>
              </a:spcAft>
              <a:buNone/>
            </a:pPr>
            <a:r>
              <a:rPr lang="fr-CA" sz="2400" b="1" dirty="0"/>
              <a:t>Ajout d’un ou de plusieurs actionnaires additionnels</a:t>
            </a:r>
          </a:p>
          <a:p>
            <a:r>
              <a:rPr lang="fr-CA" sz="2400" b="1" dirty="0"/>
              <a:t>Avantages: </a:t>
            </a:r>
          </a:p>
          <a:p>
            <a:pPr lvl="2"/>
            <a:r>
              <a:rPr lang="fr-CA" sz="2400" dirty="0"/>
              <a:t>Vision à long terme pour l’entreprise</a:t>
            </a:r>
          </a:p>
          <a:p>
            <a:pPr lvl="2"/>
            <a:r>
              <a:rPr lang="fr-CA" sz="2400" dirty="0"/>
              <a:t>Connaissance du secteur ou des affaires</a:t>
            </a:r>
          </a:p>
          <a:p>
            <a:pPr lvl="2"/>
            <a:r>
              <a:rPr lang="fr-CA" sz="2400" dirty="0"/>
              <a:t>Relations avec d’autres parties prenantes</a:t>
            </a:r>
          </a:p>
          <a:p>
            <a:pPr lvl="2"/>
            <a:r>
              <a:rPr lang="fr-CA" sz="2400" dirty="0"/>
              <a:t>Diminue le risque financier</a:t>
            </a:r>
          </a:p>
          <a:p>
            <a:pPr lvl="2"/>
            <a:r>
              <a:rPr lang="fr-CA" sz="2400" dirty="0"/>
              <a:t>Source de fonds supplémentaires avec plus de flexibilité</a:t>
            </a:r>
          </a:p>
          <a:p>
            <a:pPr lvl="1"/>
            <a:endParaRPr lang="fr-CA" sz="2400" b="1" dirty="0"/>
          </a:p>
          <a:p>
            <a:pPr lvl="1"/>
            <a:r>
              <a:rPr lang="fr-CA" sz="2400" b="1" dirty="0"/>
              <a:t>Inconvénients: </a:t>
            </a:r>
          </a:p>
          <a:p>
            <a:pPr lvl="2"/>
            <a:r>
              <a:rPr lang="fr-CA" sz="2400" dirty="0"/>
              <a:t>Partage des bénéfices </a:t>
            </a:r>
          </a:p>
          <a:p>
            <a:pPr lvl="2"/>
            <a:r>
              <a:rPr lang="fr-CA" sz="2400" dirty="0"/>
              <a:t>Rendement exigé élevé</a:t>
            </a:r>
          </a:p>
          <a:p>
            <a:pPr lvl="2"/>
            <a:r>
              <a:rPr lang="fr-CA" sz="2400" dirty="0"/>
              <a:t>Fin de la gestion discrétionnaire par les propriétaires actuels</a:t>
            </a:r>
          </a:p>
          <a:p>
            <a:pPr lvl="2"/>
            <a:r>
              <a:rPr lang="fr-CA" sz="2400" dirty="0"/>
              <a:t>Convention d’actionnaire plus stricte</a:t>
            </a:r>
          </a:p>
          <a:p>
            <a:pPr lvl="2"/>
            <a:r>
              <a:rPr lang="fr-CA" sz="2400" dirty="0"/>
              <a:t>Documentation et processus plus strict</a:t>
            </a:r>
          </a:p>
          <a:p>
            <a:endParaRPr lang="fr-CA" dirty="0"/>
          </a:p>
        </p:txBody>
      </p:sp>
      <p:sp>
        <p:nvSpPr>
          <p:cNvPr id="4" name="Espace réservé du pied de page 3"/>
          <p:cNvSpPr>
            <a:spLocks noGrp="1"/>
          </p:cNvSpPr>
          <p:nvPr>
            <p:ph type="ftr" sz="quarter" idx="11"/>
            <p:custDataLst>
              <p:tags r:id="rId3"/>
            </p:custDataLst>
          </p:nvPr>
        </p:nvSpPr>
        <p:spPr/>
        <p:txBody>
          <a:bodyPr/>
          <a:lstStyle/>
          <a:p>
            <a:r>
              <a:rPr lang="fr-CA" dirty="0"/>
              <a:t>(C) HEC Montréal</a:t>
            </a:r>
          </a:p>
        </p:txBody>
      </p:sp>
      <p:sp>
        <p:nvSpPr>
          <p:cNvPr id="5" name="Espace réservé du numéro de diapositive 4"/>
          <p:cNvSpPr>
            <a:spLocks noGrp="1"/>
          </p:cNvSpPr>
          <p:nvPr>
            <p:ph type="sldNum" sz="quarter" idx="12"/>
            <p:custDataLst>
              <p:tags r:id="rId4"/>
            </p:custDataLst>
          </p:nvPr>
        </p:nvSpPr>
        <p:spPr/>
        <p:txBody>
          <a:bodyPr/>
          <a:lstStyle/>
          <a:p>
            <a:fld id="{EEB25B09-B9A6-4811-8700-6D36B9CE20D1}" type="slidenum">
              <a:rPr lang="fr-CA" smtClean="0"/>
              <a:t>14</a:t>
            </a:fld>
            <a:endParaRPr lang="fr-CA"/>
          </a:p>
        </p:txBody>
      </p:sp>
    </p:spTree>
    <p:extLst>
      <p:ext uri="{BB962C8B-B14F-4D97-AF65-F5344CB8AC3E}">
        <p14:creationId xmlns:p14="http://schemas.microsoft.com/office/powerpoint/2010/main" val="32907471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3"/>
</p:tagLst>
</file>

<file path=ppt/tags/tag8.xml><?xml version="1.0" encoding="utf-8"?>
<p:tagLst xmlns:a="http://schemas.openxmlformats.org/drawingml/2006/main" xmlns:r="http://schemas.openxmlformats.org/officeDocument/2006/relationships" xmlns:p="http://schemas.openxmlformats.org/presentationml/2006/main">
  <p:tag name="NUM" val="4"/>
</p:tagLst>
</file>

<file path=ppt/tags/tag9.xml><?xml version="1.0" encoding="utf-8"?>
<p:tagLst xmlns:a="http://schemas.openxmlformats.org/drawingml/2006/main" xmlns:r="http://schemas.openxmlformats.org/officeDocument/2006/relationships" xmlns:p="http://schemas.openxmlformats.org/presentationml/2006/main">
  <p:tag name="NUM" val="1"/>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3"/>
</p:tagLst>
</file>

<file path=ppt/tags/tag12.xml><?xml version="1.0" encoding="utf-8"?>
<p:tagLst xmlns:a="http://schemas.openxmlformats.org/drawingml/2006/main" xmlns:r="http://schemas.openxmlformats.org/officeDocument/2006/relationships" xmlns:p="http://schemas.openxmlformats.org/presentationml/2006/main">
  <p:tag name="NUM" val="4"/>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3"/>
</p:tagLst>
</file>

<file path=ppt/tags/tag16.xml><?xml version="1.0" encoding="utf-8"?>
<p:tagLst xmlns:a="http://schemas.openxmlformats.org/drawingml/2006/main" xmlns:r="http://schemas.openxmlformats.org/officeDocument/2006/relationships" xmlns:p="http://schemas.openxmlformats.org/presentationml/2006/main">
  <p:tag name="NUM" val="4"/>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3"/>
</p:tagLst>
</file>

<file path=ppt/tags/tag20.xml><?xml version="1.0" encoding="utf-8"?>
<p:tagLst xmlns:a="http://schemas.openxmlformats.org/drawingml/2006/main" xmlns:r="http://schemas.openxmlformats.org/officeDocument/2006/relationships" xmlns:p="http://schemas.openxmlformats.org/presentationml/2006/main">
  <p:tag name="NUM" val="4"/>
</p:tagLst>
</file>

<file path=ppt/tags/tag21.xml><?xml version="1.0" encoding="utf-8"?>
<p:tagLst xmlns:a="http://schemas.openxmlformats.org/drawingml/2006/main" xmlns:r="http://schemas.openxmlformats.org/officeDocument/2006/relationships" xmlns:p="http://schemas.openxmlformats.org/presentationml/2006/main">
  <p:tag name="NUM" val="1"/>
</p:tagLst>
</file>

<file path=ppt/tags/tag22.xml><?xml version="1.0" encoding="utf-8"?>
<p:tagLst xmlns:a="http://schemas.openxmlformats.org/drawingml/2006/main" xmlns:r="http://schemas.openxmlformats.org/officeDocument/2006/relationships" xmlns:p="http://schemas.openxmlformats.org/presentationml/2006/main">
  <p:tag name="NUM" val="2"/>
</p:tagLst>
</file>

<file path=ppt/tags/tag23.xml><?xml version="1.0" encoding="utf-8"?>
<p:tagLst xmlns:a="http://schemas.openxmlformats.org/drawingml/2006/main" xmlns:r="http://schemas.openxmlformats.org/officeDocument/2006/relationships" xmlns:p="http://schemas.openxmlformats.org/presentationml/2006/main">
  <p:tag name="NUM" val="3"/>
</p:tagLst>
</file>

<file path=ppt/tags/tag24.xml><?xml version="1.0" encoding="utf-8"?>
<p:tagLst xmlns:a="http://schemas.openxmlformats.org/drawingml/2006/main" xmlns:r="http://schemas.openxmlformats.org/officeDocument/2006/relationships" xmlns:p="http://schemas.openxmlformats.org/presentationml/2006/main">
  <p:tag name="NUM" val="4"/>
</p:tagLst>
</file>

<file path=ppt/tags/tag25.xml><?xml version="1.0" encoding="utf-8"?>
<p:tagLst xmlns:a="http://schemas.openxmlformats.org/drawingml/2006/main" xmlns:r="http://schemas.openxmlformats.org/officeDocument/2006/relationships" xmlns:p="http://schemas.openxmlformats.org/presentationml/2006/main">
  <p:tag name="NUM" val="1"/>
</p:tagLst>
</file>

<file path=ppt/tags/tag26.xml><?xml version="1.0" encoding="utf-8"?>
<p:tagLst xmlns:a="http://schemas.openxmlformats.org/drawingml/2006/main" xmlns:r="http://schemas.openxmlformats.org/officeDocument/2006/relationships" xmlns:p="http://schemas.openxmlformats.org/presentationml/2006/main">
  <p:tag name="NUM" val="2"/>
</p:tagLst>
</file>

<file path=ppt/tags/tag27.xml><?xml version="1.0" encoding="utf-8"?>
<p:tagLst xmlns:a="http://schemas.openxmlformats.org/drawingml/2006/main" xmlns:r="http://schemas.openxmlformats.org/officeDocument/2006/relationships" xmlns:p="http://schemas.openxmlformats.org/presentationml/2006/main">
  <p:tag name="NUM" val="3"/>
</p:tagLst>
</file>

<file path=ppt/tags/tag28.xml><?xml version="1.0" encoding="utf-8"?>
<p:tagLst xmlns:a="http://schemas.openxmlformats.org/drawingml/2006/main" xmlns:r="http://schemas.openxmlformats.org/officeDocument/2006/relationships" xmlns:p="http://schemas.openxmlformats.org/presentationml/2006/main">
  <p:tag name="NUM" val="4"/>
</p:tagLst>
</file>

<file path=ppt/tags/tag29.xml><?xml version="1.0" encoding="utf-8"?>
<p:tagLst xmlns:a="http://schemas.openxmlformats.org/drawingml/2006/main" xmlns:r="http://schemas.openxmlformats.org/officeDocument/2006/relationships" xmlns:p="http://schemas.openxmlformats.org/presentationml/2006/main">
  <p:tag name="NUM" val="1"/>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3"/>
</p:tagLst>
</file>

<file path=ppt/tags/tag32.xml><?xml version="1.0" encoding="utf-8"?>
<p:tagLst xmlns:a="http://schemas.openxmlformats.org/drawingml/2006/main" xmlns:r="http://schemas.openxmlformats.org/officeDocument/2006/relationships" xmlns:p="http://schemas.openxmlformats.org/presentationml/2006/main">
  <p:tag name="NUM" val="4"/>
</p:tagLst>
</file>

<file path=ppt/tags/tag33.xml><?xml version="1.0" encoding="utf-8"?>
<p:tagLst xmlns:a="http://schemas.openxmlformats.org/drawingml/2006/main" xmlns:r="http://schemas.openxmlformats.org/officeDocument/2006/relationships" xmlns:p="http://schemas.openxmlformats.org/presentationml/2006/main">
  <p:tag name="NUM" val="5"/>
</p:tagLst>
</file>

<file path=ppt/tags/tag34.xml><?xml version="1.0" encoding="utf-8"?>
<p:tagLst xmlns:a="http://schemas.openxmlformats.org/drawingml/2006/main" xmlns:r="http://schemas.openxmlformats.org/officeDocument/2006/relationships" xmlns:p="http://schemas.openxmlformats.org/presentationml/2006/main">
  <p:tag name="NUM" val="6"/>
</p:tagLst>
</file>

<file path=ppt/tags/tag35.xml><?xml version="1.0" encoding="utf-8"?>
<p:tagLst xmlns:a="http://schemas.openxmlformats.org/drawingml/2006/main" xmlns:r="http://schemas.openxmlformats.org/officeDocument/2006/relationships" xmlns:p="http://schemas.openxmlformats.org/presentationml/2006/main">
  <p:tag name="NUM" val="3"/>
</p:tagLst>
</file>

<file path=ppt/tags/tag36.xml><?xml version="1.0" encoding="utf-8"?>
<p:tagLst xmlns:a="http://schemas.openxmlformats.org/drawingml/2006/main" xmlns:r="http://schemas.openxmlformats.org/officeDocument/2006/relationships" xmlns:p="http://schemas.openxmlformats.org/presentationml/2006/main">
  <p:tag name="NUM" val="5"/>
</p:tagLst>
</file>

<file path=ppt/tags/tag37.xml><?xml version="1.0" encoding="utf-8"?>
<p:tagLst xmlns:a="http://schemas.openxmlformats.org/drawingml/2006/main" xmlns:r="http://schemas.openxmlformats.org/officeDocument/2006/relationships" xmlns:p="http://schemas.openxmlformats.org/presentationml/2006/main">
  <p:tag name="NUM" val="7"/>
</p:tagLst>
</file>

<file path=ppt/tags/tag38.xml><?xml version="1.0" encoding="utf-8"?>
<p:tagLst xmlns:a="http://schemas.openxmlformats.org/drawingml/2006/main" xmlns:r="http://schemas.openxmlformats.org/officeDocument/2006/relationships" xmlns:p="http://schemas.openxmlformats.org/presentationml/2006/main">
  <p:tag name="NUM" val="8"/>
</p:tagLst>
</file>

<file path=ppt/tags/tag39.xml><?xml version="1.0" encoding="utf-8"?>
<p:tagLst xmlns:a="http://schemas.openxmlformats.org/drawingml/2006/main" xmlns:r="http://schemas.openxmlformats.org/officeDocument/2006/relationships" xmlns:p="http://schemas.openxmlformats.org/presentationml/2006/main">
  <p:tag name="NUM" val="9"/>
</p:tagLst>
</file>

<file path=ppt/tags/tag40.xml><?xml version="1.0" encoding="utf-8"?>
<p:tagLst xmlns:a="http://schemas.openxmlformats.org/drawingml/2006/main" xmlns:r="http://schemas.openxmlformats.org/officeDocument/2006/relationships" xmlns:p="http://schemas.openxmlformats.org/presentationml/2006/main">
  <p:tag name="NUM" val="10"/>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2"/>
</p:tagLst>
</file>

<file path=ppt/tags/tag43.xml><?xml version="1.0" encoding="utf-8"?>
<p:tagLst xmlns:a="http://schemas.openxmlformats.org/drawingml/2006/main" xmlns:r="http://schemas.openxmlformats.org/officeDocument/2006/relationships" xmlns:p="http://schemas.openxmlformats.org/presentationml/2006/main">
  <p:tag name="NUM" val="3"/>
</p:tagLst>
</file>

<file path=ppt/tags/tag44.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Thème HEC">
  <a:themeElements>
    <a:clrScheme name="HEC2">
      <a:dk1>
        <a:srgbClr val="000000"/>
      </a:dk1>
      <a:lt1>
        <a:srgbClr val="FFFFFF"/>
      </a:lt1>
      <a:dk2>
        <a:srgbClr val="97999B"/>
      </a:dk2>
      <a:lt2>
        <a:srgbClr val="EFF0F0"/>
      </a:lt2>
      <a:accent1>
        <a:srgbClr val="009FDF"/>
      </a:accent1>
      <a:accent2>
        <a:srgbClr val="003C71"/>
      </a:accent2>
      <a:accent3>
        <a:srgbClr val="D40F7D"/>
      </a:accent3>
      <a:accent4>
        <a:srgbClr val="FE5000"/>
      </a:accent4>
      <a:accent5>
        <a:srgbClr val="00C1D5"/>
      </a:accent5>
      <a:accent6>
        <a:srgbClr val="005EB8"/>
      </a:accent6>
      <a:hlink>
        <a:srgbClr val="003C71"/>
      </a:hlink>
      <a:folHlink>
        <a:srgbClr val="9678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Presentation4" id="{749738AF-2EB5-5C4A-8D68-2085B3322EC2}" vid="{E6667002-824B-604B-B5DE-D77202227FB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88C45F76CCDB43A86359868621ABBF" ma:contentTypeVersion="8" ma:contentTypeDescription="Create a new document." ma:contentTypeScope="" ma:versionID="88cce1ec5845f43c654261a9a871cf16">
  <xsd:schema xmlns:xsd="http://www.w3.org/2001/XMLSchema" xmlns:xs="http://www.w3.org/2001/XMLSchema" xmlns:p="http://schemas.microsoft.com/office/2006/metadata/properties" xmlns:ns3="65806708-f9f3-41fb-896d-8a4e9be62363" xmlns:ns4="e46d8f65-c35b-4982-94a2-35659ae4d67c" targetNamespace="http://schemas.microsoft.com/office/2006/metadata/properties" ma:root="true" ma:fieldsID="3e37f8128cf5b1c0bfdcad3bb89caa08" ns3:_="" ns4:_="">
    <xsd:import namespace="65806708-f9f3-41fb-896d-8a4e9be62363"/>
    <xsd:import namespace="e46d8f65-c35b-4982-94a2-35659ae4d67c"/>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806708-f9f3-41fb-896d-8a4e9be623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46d8f65-c35b-4982-94a2-35659ae4d67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416250A-D944-4AB5-85B9-DEDDEB7922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5806708-f9f3-41fb-896d-8a4e9be62363"/>
    <ds:schemaRef ds:uri="e46d8f65-c35b-4982-94a2-35659ae4d67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B7D5522-0821-4C3C-9542-E8AEC189980F}">
  <ds:schemaRefs>
    <ds:schemaRef ds:uri="http://schemas.microsoft.com/sharepoint/v3/contenttype/forms"/>
  </ds:schemaRefs>
</ds:datastoreItem>
</file>

<file path=customXml/itemProps3.xml><?xml version="1.0" encoding="utf-8"?>
<ds:datastoreItem xmlns:ds="http://schemas.openxmlformats.org/officeDocument/2006/customXml" ds:itemID="{F5E29B8B-9E3C-4A91-843E-864D5E76CEC1}">
  <ds:schemaRefs>
    <ds:schemaRef ds:uri="http://schemas.microsoft.com/office/2006/documentManagement/types"/>
    <ds:schemaRef ds:uri="http://purl.org/dc/elements/1.1/"/>
    <ds:schemaRef ds:uri="65806708-f9f3-41fb-896d-8a4e9be62363"/>
    <ds:schemaRef ds:uri="e46d8f65-c35b-4982-94a2-35659ae4d67c"/>
    <ds:schemaRef ds:uri="http://schemas.microsoft.com/office/infopath/2007/PartnerControls"/>
    <ds:schemaRef ds:uri="http://purl.org/dc/terms/"/>
    <ds:schemaRef ds:uri="http://www.w3.org/XML/1998/namespace"/>
    <ds:schemaRef ds:uri="http://schemas.microsoft.com/office/2006/metadata/propertie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PresentationA</Template>
  <TotalTime>1649</TotalTime>
  <Words>1290</Words>
  <Application>Microsoft Office PowerPoint</Application>
  <PresentationFormat>Grand écran</PresentationFormat>
  <Paragraphs>163</Paragraphs>
  <Slides>14</Slides>
  <Notes>6</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14</vt:i4>
      </vt:variant>
    </vt:vector>
  </HeadingPairs>
  <TitlesOfParts>
    <vt:vector size="18" baseType="lpstr">
      <vt:lpstr>Aptos</vt:lpstr>
      <vt:lpstr>Arial</vt:lpstr>
      <vt:lpstr>Wingdings</vt:lpstr>
      <vt:lpstr>Thème HEC</vt:lpstr>
      <vt:lpstr>Révision – options de financement</vt:lpstr>
      <vt:lpstr>Financement interne </vt:lpstr>
      <vt:lpstr>Les fonds autogénérés </vt:lpstr>
      <vt:lpstr>Actifs en surplus </vt:lpstr>
      <vt:lpstr>Emprunts</vt:lpstr>
      <vt:lpstr>Les emprunts </vt:lpstr>
      <vt:lpstr>Les emprunts </vt:lpstr>
      <vt:lpstr>Les emprunts </vt:lpstr>
      <vt:lpstr>Capitaux propres</vt:lpstr>
      <vt:lpstr>Les capitaux propres </vt:lpstr>
      <vt:lpstr>Les capitaux propres </vt:lpstr>
      <vt:lpstr>Les capitaux propres </vt:lpstr>
      <vt:lpstr>Les capitaux propres </vt:lpstr>
      <vt:lpstr>Les capitaux propres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Révision – options de financement</dc:title>
  <dc:creator>marie-eve quenneville</dc:creator>
  <cp:lastModifiedBy>SOKRI Marzouk</cp:lastModifiedBy>
  <cp:revision>14</cp:revision>
  <dcterms:created xsi:type="dcterms:W3CDTF">2020-09-17T17:20:21Z</dcterms:created>
  <dcterms:modified xsi:type="dcterms:W3CDTF">2025-04-14T00:23:57Z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0x010100CF88C45F76CCDB43A86359868621ABBF</vt:lpwstr>
  </property>
</Properties>
</file>