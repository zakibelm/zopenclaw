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2.xml" ContentType="application/vnd.openxmlformats-officedocument.presentationml.tags+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ppt/tags/tag18.xml" ContentType="application/vnd.openxmlformats-officedocument.presentationml.tags+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5.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1"/>
  </p:notesMasterIdLst>
  <p:sldIdLst>
    <p:sldId id="258" r:id="rId5"/>
    <p:sldId id="273" r:id="rId6"/>
    <p:sldId id="320" r:id="rId7"/>
    <p:sldId id="330" r:id="rId8"/>
    <p:sldId id="332" r:id="rId9"/>
    <p:sldId id="333" r:id="rId10"/>
    <p:sldId id="331" r:id="rId11"/>
    <p:sldId id="256" r:id="rId12"/>
    <p:sldId id="257" r:id="rId13"/>
    <p:sldId id="326" r:id="rId14"/>
    <p:sldId id="259" r:id="rId15"/>
    <p:sldId id="315" r:id="rId16"/>
    <p:sldId id="322" r:id="rId17"/>
    <p:sldId id="323" r:id="rId18"/>
    <p:sldId id="325" r:id="rId19"/>
    <p:sldId id="327" r:id="rId20"/>
    <p:sldId id="328" r:id="rId21"/>
    <p:sldId id="329" r:id="rId22"/>
    <p:sldId id="313" r:id="rId23"/>
    <p:sldId id="314" r:id="rId24"/>
    <p:sldId id="316" r:id="rId25"/>
    <p:sldId id="317" r:id="rId26"/>
    <p:sldId id="318" r:id="rId27"/>
    <p:sldId id="319" r:id="rId28"/>
    <p:sldId id="312" r:id="rId29"/>
    <p:sldId id="295" r:id="rId3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E9EBB6-0989-40EA-DFE6-0E403569B38F}" v="1" dt="2025-01-28T17:26:05.7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209" autoAdjust="0"/>
  </p:normalViewPr>
  <p:slideViewPr>
    <p:cSldViewPr snapToGrid="0">
      <p:cViewPr varScale="1">
        <p:scale>
          <a:sx n="75" d="100"/>
          <a:sy n="75" d="100"/>
        </p:scale>
        <p:origin x="946" y="4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C32B05-62EA-407A-B21C-2310C7945705}" type="doc">
      <dgm:prSet loTypeId="urn:microsoft.com/office/officeart/2005/8/layout/venn3" loCatId="relationship"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pPr algn="ctr"/>
          <a:r>
            <a:rPr lang="en-US"/>
            <a:t>1 </a:t>
          </a:r>
        </a:p>
        <a:p>
          <a:pPr algn="ctr"/>
          <a:r>
            <a:rPr lang="en-US" err="1"/>
            <a:t>Analyse</a:t>
          </a:r>
          <a:r>
            <a:rPr lang="en-US"/>
            <a:t> financière</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54A10F5D-C417-4F97-8612-CE684295DDDD}">
      <dgm:prSet phldrT="[Text]"/>
      <dgm:spPr/>
      <dgm:t>
        <a:bodyPr/>
        <a:lstStyle/>
        <a:p>
          <a:pPr algn="ctr"/>
          <a:r>
            <a:rPr lang="en-US"/>
            <a:t>3</a:t>
          </a:r>
        </a:p>
        <a:p>
          <a:pPr algn="ctr"/>
          <a:r>
            <a:rPr lang="en-US" err="1"/>
            <a:t>Analyse</a:t>
          </a:r>
          <a:r>
            <a:rPr lang="en-US"/>
            <a:t> qualitative</a:t>
          </a:r>
        </a:p>
      </dgm:t>
    </dgm:pt>
    <dgm:pt modelId="{8ABDAA28-1E03-411B-BC21-8D931DE3C43E}" type="parTrans" cxnId="{517AFA30-BB19-43D1-84E3-E6B4C9B9E30A}">
      <dgm:prSet/>
      <dgm:spPr/>
      <dgm:t>
        <a:bodyPr/>
        <a:lstStyle/>
        <a:p>
          <a:endParaRPr lang="en-US">
            <a:solidFill>
              <a:schemeClr val="tx2"/>
            </a:solidFill>
          </a:endParaRPr>
        </a:p>
      </dgm:t>
    </dgm:pt>
    <dgm:pt modelId="{60811977-1F2E-41FC-8E06-EBD37DD18733}" type="sibTrans" cxnId="{517AFA30-BB19-43D1-84E3-E6B4C9B9E30A}">
      <dgm:prSet/>
      <dgm:spPr/>
      <dgm:t>
        <a:bodyPr/>
        <a:lstStyle/>
        <a:p>
          <a:endParaRPr lang="en-US">
            <a:solidFill>
              <a:schemeClr val="tx2"/>
            </a:solidFill>
          </a:endParaRPr>
        </a:p>
      </dgm:t>
    </dgm:pt>
    <dgm:pt modelId="{5FF5A482-EAE7-4008-BA83-2E5BC19EE232}">
      <dgm:prSet phldrT="[Text]"/>
      <dgm:spPr/>
      <dgm:t>
        <a:bodyPr/>
        <a:lstStyle/>
        <a:p>
          <a:pPr algn="ctr"/>
          <a:r>
            <a:rPr lang="en-US"/>
            <a:t> 2</a:t>
          </a:r>
          <a:br>
            <a:rPr lang="en-US"/>
          </a:br>
          <a:r>
            <a:rPr lang="en-US" err="1"/>
            <a:t>Analyse</a:t>
          </a:r>
          <a:r>
            <a:rPr lang="en-US"/>
            <a:t> quantitative de </a:t>
          </a:r>
          <a:r>
            <a:rPr lang="en-US" err="1"/>
            <a:t>l’option</a:t>
          </a:r>
          <a:r>
            <a:rPr lang="en-US"/>
            <a:t> </a:t>
          </a:r>
          <a:r>
            <a:rPr lang="en-US" err="1"/>
            <a:t>ppp</a:t>
          </a:r>
          <a:r>
            <a:rPr lang="en-US"/>
            <a:t> </a:t>
          </a:r>
          <a:r>
            <a:rPr lang="en-US" err="1"/>
            <a:t>déchets</a:t>
          </a:r>
          <a:r>
            <a:rPr lang="en-US"/>
            <a:t> </a:t>
          </a:r>
          <a:r>
            <a:rPr lang="en-US" err="1"/>
            <a:t>organiques</a:t>
          </a:r>
          <a:endParaRPr lang="en-US"/>
        </a:p>
      </dgm:t>
    </dgm:pt>
    <dgm:pt modelId="{13A41A7C-8C4A-4B6F-BDA9-001A8CD6A3EF}" type="parTrans" cxnId="{8BB54F4D-65C7-4C1E-B38E-1C68AC40B646}">
      <dgm:prSet/>
      <dgm:spPr/>
    </dgm:pt>
    <dgm:pt modelId="{BBD8919C-0E7B-40EB-A1E7-664AF7ED8E26}" type="sibTrans" cxnId="{8BB54F4D-65C7-4C1E-B38E-1C68AC40B646}">
      <dgm:prSet/>
      <dgm:spPr/>
    </dgm:pt>
    <dgm:pt modelId="{719B2C69-D882-4492-90EE-598E869D8D2D}">
      <dgm:prSet phldrT="[Text]"/>
      <dgm:spPr/>
      <dgm:t>
        <a:bodyPr/>
        <a:lstStyle/>
        <a:p>
          <a:pPr algn="ctr"/>
          <a:r>
            <a:rPr lang="en-US"/>
            <a:t>4 </a:t>
          </a:r>
          <a:br>
            <a:rPr lang="en-US"/>
          </a:br>
          <a:r>
            <a:rPr lang="en-US" err="1"/>
            <a:t>Recommandation</a:t>
          </a:r>
          <a:r>
            <a:rPr lang="en-US"/>
            <a:t> sur </a:t>
          </a:r>
          <a:r>
            <a:rPr lang="en-US" err="1"/>
            <a:t>l’option</a:t>
          </a:r>
          <a:endParaRPr lang="en-US"/>
        </a:p>
      </dgm:t>
    </dgm:pt>
    <dgm:pt modelId="{C5CDDEDC-F0E5-4D5C-825F-D9A42D130ACC}" type="parTrans" cxnId="{4B3C2CAD-0725-427B-8408-A4A608014E89}">
      <dgm:prSet/>
      <dgm:spPr/>
    </dgm:pt>
    <dgm:pt modelId="{F5D1878C-6522-4EF2-8FE7-3DD448DBA543}" type="sibTrans" cxnId="{4B3C2CAD-0725-427B-8408-A4A608014E89}">
      <dgm:prSet/>
      <dgm:spPr/>
    </dgm:pt>
    <dgm:pt modelId="{BB2E7D61-FAE1-4189-8B45-9FB5BB1C6D16}" type="pres">
      <dgm:prSet presAssocID="{B9C32B05-62EA-407A-B21C-2310C7945705}" presName="Name0" presStyleCnt="0">
        <dgm:presLayoutVars>
          <dgm:dir/>
          <dgm:resizeHandles val="exact"/>
        </dgm:presLayoutVars>
      </dgm:prSet>
      <dgm:spPr/>
    </dgm:pt>
    <dgm:pt modelId="{5841E8E3-F2DC-48FE-B8DB-BABB55C4BAF1}" type="pres">
      <dgm:prSet presAssocID="{8EA7219F-BDB2-48EB-9EEB-3133522D132E}" presName="Name5" presStyleLbl="vennNode1" presStyleIdx="0" presStyleCnt="4" custLinFactNeighborX="22905" custLinFactNeighborY="232">
        <dgm:presLayoutVars>
          <dgm:bulletEnabled val="1"/>
        </dgm:presLayoutVars>
      </dgm:prSet>
      <dgm:spPr/>
    </dgm:pt>
    <dgm:pt modelId="{27A579DC-FC4A-4F31-8918-6103F62FC75D}" type="pres">
      <dgm:prSet presAssocID="{C94B7947-85DC-4B21-BB99-DF8438356F98}" presName="space" presStyleCnt="0"/>
      <dgm:spPr/>
    </dgm:pt>
    <dgm:pt modelId="{33DBD6BB-86A1-43F1-83DE-D3B264E5AF3B}" type="pres">
      <dgm:prSet presAssocID="{5FF5A482-EAE7-4008-BA83-2E5BC19EE232}" presName="Name5" presStyleLbl="vennNode1" presStyleIdx="1" presStyleCnt="4">
        <dgm:presLayoutVars>
          <dgm:bulletEnabled val="1"/>
        </dgm:presLayoutVars>
      </dgm:prSet>
      <dgm:spPr/>
    </dgm:pt>
    <dgm:pt modelId="{4F05F501-3EE3-4029-B8FB-C1057B71C8EB}" type="pres">
      <dgm:prSet presAssocID="{BBD8919C-0E7B-40EB-A1E7-664AF7ED8E26}" presName="space" presStyleCnt="0"/>
      <dgm:spPr/>
    </dgm:pt>
    <dgm:pt modelId="{E8C547DD-E668-4A3C-829E-AF9075B83A2E}" type="pres">
      <dgm:prSet presAssocID="{54A10F5D-C417-4F97-8612-CE684295DDDD}" presName="Name5" presStyleLbl="vennNode1" presStyleIdx="2" presStyleCnt="4" custLinFactNeighborX="-10832" custLinFactNeighborY="-735">
        <dgm:presLayoutVars>
          <dgm:bulletEnabled val="1"/>
        </dgm:presLayoutVars>
      </dgm:prSet>
      <dgm:spPr/>
    </dgm:pt>
    <dgm:pt modelId="{41AB9807-F43E-4101-8F6F-430032BBB059}" type="pres">
      <dgm:prSet presAssocID="{60811977-1F2E-41FC-8E06-EBD37DD18733}" presName="space" presStyleCnt="0"/>
      <dgm:spPr/>
    </dgm:pt>
    <dgm:pt modelId="{3BB575B8-3736-4137-85B7-BEE4CA0D5803}" type="pres">
      <dgm:prSet presAssocID="{719B2C69-D882-4492-90EE-598E869D8D2D}" presName="Name5" presStyleLbl="vennNode1" presStyleIdx="3" presStyleCnt="4">
        <dgm:presLayoutVars>
          <dgm:bulletEnabled val="1"/>
        </dgm:presLayoutVars>
      </dgm:prSet>
      <dgm:spPr/>
    </dgm:pt>
  </dgm:ptLst>
  <dgm:cxnLst>
    <dgm:cxn modelId="{05EB0818-6CF3-4712-A9E3-D20AAF839DFD}" type="presOf" srcId="{B9C32B05-62EA-407A-B21C-2310C7945705}" destId="{BB2E7D61-FAE1-4189-8B45-9FB5BB1C6D16}" srcOrd="0" destOrd="0" presId="urn:microsoft.com/office/officeart/2005/8/layout/venn3"/>
    <dgm:cxn modelId="{517AFA30-BB19-43D1-84E3-E6B4C9B9E30A}" srcId="{B9C32B05-62EA-407A-B21C-2310C7945705}" destId="{54A10F5D-C417-4F97-8612-CE684295DDDD}" srcOrd="2" destOrd="0" parTransId="{8ABDAA28-1E03-411B-BC21-8D931DE3C43E}" sibTransId="{60811977-1F2E-41FC-8E06-EBD37DD18733}"/>
    <dgm:cxn modelId="{8BB54F4D-65C7-4C1E-B38E-1C68AC40B646}" srcId="{B9C32B05-62EA-407A-B21C-2310C7945705}" destId="{5FF5A482-EAE7-4008-BA83-2E5BC19EE232}" srcOrd="1" destOrd="0" parTransId="{13A41A7C-8C4A-4B6F-BDA9-001A8CD6A3EF}" sibTransId="{BBD8919C-0E7B-40EB-A1E7-664AF7ED8E26}"/>
    <dgm:cxn modelId="{E2E446A9-F8E1-4889-B49C-590CBE6972B5}" type="presOf" srcId="{719B2C69-D882-4492-90EE-598E869D8D2D}" destId="{3BB575B8-3736-4137-85B7-BEE4CA0D5803}" srcOrd="0" destOrd="0" presId="urn:microsoft.com/office/officeart/2005/8/layout/venn3"/>
    <dgm:cxn modelId="{4B3C2CAD-0725-427B-8408-A4A608014E89}" srcId="{B9C32B05-62EA-407A-B21C-2310C7945705}" destId="{719B2C69-D882-4492-90EE-598E869D8D2D}" srcOrd="3" destOrd="0" parTransId="{C5CDDEDC-F0E5-4D5C-825F-D9A42D130ACC}" sibTransId="{F5D1878C-6522-4EF2-8FE7-3DD448DBA543}"/>
    <dgm:cxn modelId="{006F74B2-DF76-47DD-AA73-B6CA7D265052}" type="presOf" srcId="{8EA7219F-BDB2-48EB-9EEB-3133522D132E}" destId="{5841E8E3-F2DC-48FE-B8DB-BABB55C4BAF1}" srcOrd="0" destOrd="0" presId="urn:microsoft.com/office/officeart/2005/8/layout/venn3"/>
    <dgm:cxn modelId="{CA740CDA-3122-4476-B9A7-24E66F8FA082}" type="presOf" srcId="{54A10F5D-C417-4F97-8612-CE684295DDDD}" destId="{E8C547DD-E668-4A3C-829E-AF9075B83A2E}" srcOrd="0" destOrd="0" presId="urn:microsoft.com/office/officeart/2005/8/layout/venn3"/>
    <dgm:cxn modelId="{002197DA-D44D-4432-BDE6-E446A456CF67}" type="presOf" srcId="{5FF5A482-EAE7-4008-BA83-2E5BC19EE232}" destId="{33DBD6BB-86A1-43F1-83DE-D3B264E5AF3B}" srcOrd="0" destOrd="0" presId="urn:microsoft.com/office/officeart/2005/8/layout/venn3"/>
    <dgm:cxn modelId="{58AD7EEF-D408-406B-87EE-4691D4C30668}" srcId="{B9C32B05-62EA-407A-B21C-2310C7945705}" destId="{8EA7219F-BDB2-48EB-9EEB-3133522D132E}" srcOrd="0" destOrd="0" parTransId="{3EE8403A-CB7C-4815-85BD-AEBCAEB71B37}" sibTransId="{C94B7947-85DC-4B21-BB99-DF8438356F98}"/>
    <dgm:cxn modelId="{CC461550-37C2-4836-9BEF-7AD62237DF21}" type="presParOf" srcId="{BB2E7D61-FAE1-4189-8B45-9FB5BB1C6D16}" destId="{5841E8E3-F2DC-48FE-B8DB-BABB55C4BAF1}" srcOrd="0" destOrd="0" presId="urn:microsoft.com/office/officeart/2005/8/layout/venn3"/>
    <dgm:cxn modelId="{E2599144-3339-4D32-82AC-42BEB1A74E19}" type="presParOf" srcId="{BB2E7D61-FAE1-4189-8B45-9FB5BB1C6D16}" destId="{27A579DC-FC4A-4F31-8918-6103F62FC75D}" srcOrd="1" destOrd="0" presId="urn:microsoft.com/office/officeart/2005/8/layout/venn3"/>
    <dgm:cxn modelId="{103609CF-CC34-413A-B2E4-6E393C6C4EC9}" type="presParOf" srcId="{BB2E7D61-FAE1-4189-8B45-9FB5BB1C6D16}" destId="{33DBD6BB-86A1-43F1-83DE-D3B264E5AF3B}" srcOrd="2" destOrd="0" presId="urn:microsoft.com/office/officeart/2005/8/layout/venn3"/>
    <dgm:cxn modelId="{211C86FC-AFC7-49B7-B4A0-AC868ADBD7E8}" type="presParOf" srcId="{BB2E7D61-FAE1-4189-8B45-9FB5BB1C6D16}" destId="{4F05F501-3EE3-4029-B8FB-C1057B71C8EB}" srcOrd="3" destOrd="0" presId="urn:microsoft.com/office/officeart/2005/8/layout/venn3"/>
    <dgm:cxn modelId="{B86149BC-8D56-43CC-8533-C7BD15F561CC}" type="presParOf" srcId="{BB2E7D61-FAE1-4189-8B45-9FB5BB1C6D16}" destId="{E8C547DD-E668-4A3C-829E-AF9075B83A2E}" srcOrd="4" destOrd="0" presId="urn:microsoft.com/office/officeart/2005/8/layout/venn3"/>
    <dgm:cxn modelId="{FB0F4662-24A1-4E5D-961A-8EB00314232E}" type="presParOf" srcId="{BB2E7D61-FAE1-4189-8B45-9FB5BB1C6D16}" destId="{41AB9807-F43E-4101-8F6F-430032BBB059}" srcOrd="5" destOrd="0" presId="urn:microsoft.com/office/officeart/2005/8/layout/venn3"/>
    <dgm:cxn modelId="{45925169-E712-454A-80E9-0CCB288B5682}" type="presParOf" srcId="{BB2E7D61-FAE1-4189-8B45-9FB5BB1C6D16}" destId="{3BB575B8-3736-4137-85B7-BEE4CA0D5803}" srcOrd="6" destOrd="0" presId="urn:microsoft.com/office/officeart/2005/8/layout/venn3"/>
  </dgm:cxnLst>
  <dgm:bg>
    <a:noFill/>
  </dgm:bg>
  <dgm:whole/>
  <dgm:extLst>
    <a:ext uri="http://schemas.microsoft.com/office/drawing/2008/diagram">
      <dsp:dataModelExt xmlns:dsp="http://schemas.microsoft.com/office/drawing/2008/diagram" relId="rId12"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DAC09867-6AB3-45F0-B78B-9578A48F4552}"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3433533E-CCDD-4084-A3F6-101B1C0BA2C7}">
      <dgm:prSet/>
      <dgm:spPr/>
      <dgm:t>
        <a:bodyPr/>
        <a:lstStyle/>
        <a:p>
          <a:r>
            <a:rPr lang="fr-CA"/>
            <a:t>Récupération d’investissement</a:t>
          </a:r>
          <a:endParaRPr lang="en-US"/>
        </a:p>
      </dgm:t>
    </dgm:pt>
    <dgm:pt modelId="{49AB15BF-B913-49D2-A652-FD1E061B29B1}" type="parTrans" cxnId="{19FF4082-F53B-4440-B400-48F050D6393D}">
      <dgm:prSet/>
      <dgm:spPr/>
      <dgm:t>
        <a:bodyPr/>
        <a:lstStyle/>
        <a:p>
          <a:endParaRPr lang="en-US"/>
        </a:p>
      </dgm:t>
    </dgm:pt>
    <dgm:pt modelId="{AE1488B0-F30C-4F6C-837B-755D61A95A8B}" type="sibTrans" cxnId="{19FF4082-F53B-4440-B400-48F050D6393D}">
      <dgm:prSet/>
      <dgm:spPr/>
      <dgm:t>
        <a:bodyPr/>
        <a:lstStyle/>
        <a:p>
          <a:endParaRPr lang="en-US"/>
        </a:p>
      </dgm:t>
    </dgm:pt>
    <dgm:pt modelId="{164150C0-CD45-438C-9572-2BEDA99556D9}">
      <dgm:prSet/>
      <dgm:spPr/>
      <dgm:t>
        <a:bodyPr/>
        <a:lstStyle/>
        <a:p>
          <a:r>
            <a:rPr lang="fr-CA"/>
            <a:t>Certains investissements sont récupérés en fin de projet</a:t>
          </a:r>
          <a:endParaRPr lang="en-US"/>
        </a:p>
      </dgm:t>
    </dgm:pt>
    <dgm:pt modelId="{967F48E1-A175-486E-AA8A-681701219FEC}" type="parTrans" cxnId="{2FFD53F8-4D4D-4655-9614-04EFE7482352}">
      <dgm:prSet/>
      <dgm:spPr/>
      <dgm:t>
        <a:bodyPr/>
        <a:lstStyle/>
        <a:p>
          <a:endParaRPr lang="en-US"/>
        </a:p>
      </dgm:t>
    </dgm:pt>
    <dgm:pt modelId="{CA47478B-9A97-4159-8710-944B484BDFDB}" type="sibTrans" cxnId="{2FFD53F8-4D4D-4655-9614-04EFE7482352}">
      <dgm:prSet/>
      <dgm:spPr/>
      <dgm:t>
        <a:bodyPr/>
        <a:lstStyle/>
        <a:p>
          <a:endParaRPr lang="en-US"/>
        </a:p>
      </dgm:t>
    </dgm:pt>
    <dgm:pt modelId="{0DB13A9C-757C-452E-96BC-CB9CE15C6D7A}">
      <dgm:prSet/>
      <dgm:spPr/>
      <dgm:t>
        <a:bodyPr/>
        <a:lstStyle/>
        <a:p>
          <a:r>
            <a:rPr lang="fr-CA" i="1"/>
            <a:t>Exemple: augmentation du fonds de roulement pour la durée du projet.</a:t>
          </a:r>
          <a:endParaRPr lang="en-US"/>
        </a:p>
      </dgm:t>
    </dgm:pt>
    <dgm:pt modelId="{F8639ABA-A00A-4A46-9957-A719C75887EE}" type="parTrans" cxnId="{3BBC4086-797D-4976-9E16-BDD273C41E91}">
      <dgm:prSet/>
      <dgm:spPr/>
      <dgm:t>
        <a:bodyPr/>
        <a:lstStyle/>
        <a:p>
          <a:endParaRPr lang="en-US"/>
        </a:p>
      </dgm:t>
    </dgm:pt>
    <dgm:pt modelId="{C838E23F-CE5D-4BF2-9F1B-FA09E5695F4C}" type="sibTrans" cxnId="{3BBC4086-797D-4976-9E16-BDD273C41E91}">
      <dgm:prSet/>
      <dgm:spPr/>
      <dgm:t>
        <a:bodyPr/>
        <a:lstStyle/>
        <a:p>
          <a:endParaRPr lang="en-US"/>
        </a:p>
      </dgm:t>
    </dgm:pt>
    <dgm:pt modelId="{907A65E5-B98E-4DC2-A67C-CCF324026558}">
      <dgm:prSet/>
      <dgm:spPr/>
      <dgm:t>
        <a:bodyPr/>
        <a:lstStyle/>
        <a:p>
          <a:r>
            <a:rPr lang="fr-CA"/>
            <a:t>Nécessite souvent de faire certaines hypothèses :</a:t>
          </a:r>
          <a:endParaRPr lang="en-US"/>
        </a:p>
      </dgm:t>
    </dgm:pt>
    <dgm:pt modelId="{52ED8E31-C572-4E5D-B602-380D6116E473}" type="parTrans" cxnId="{61CC616E-A968-4DC4-9191-D81FDFBD5CEB}">
      <dgm:prSet/>
      <dgm:spPr/>
      <dgm:t>
        <a:bodyPr/>
        <a:lstStyle/>
        <a:p>
          <a:endParaRPr lang="en-US"/>
        </a:p>
      </dgm:t>
    </dgm:pt>
    <dgm:pt modelId="{546210F5-C770-4E35-84A8-FB620230DADC}" type="sibTrans" cxnId="{61CC616E-A968-4DC4-9191-D81FDFBD5CEB}">
      <dgm:prSet/>
      <dgm:spPr/>
      <dgm:t>
        <a:bodyPr/>
        <a:lstStyle/>
        <a:p>
          <a:endParaRPr lang="en-US"/>
        </a:p>
      </dgm:t>
    </dgm:pt>
    <dgm:pt modelId="{C249065E-5552-4A86-B319-6D86C9B6CE1E}">
      <dgm:prSet/>
      <dgm:spPr/>
      <dgm:t>
        <a:bodyPr/>
        <a:lstStyle/>
        <a:p>
          <a:r>
            <a:rPr lang="fr-CA"/>
            <a:t>Taux d’actualisation (CMPC + prime de risque)</a:t>
          </a:r>
          <a:endParaRPr lang="en-US"/>
        </a:p>
      </dgm:t>
    </dgm:pt>
    <dgm:pt modelId="{FEA51097-3824-41BB-B266-8F58110088B3}" type="parTrans" cxnId="{8FE2E454-5D77-44A9-B83B-9BF9C3E9D83C}">
      <dgm:prSet/>
      <dgm:spPr/>
      <dgm:t>
        <a:bodyPr/>
        <a:lstStyle/>
        <a:p>
          <a:endParaRPr lang="en-US"/>
        </a:p>
      </dgm:t>
    </dgm:pt>
    <dgm:pt modelId="{75468A7B-92FA-4494-BE42-B935138940FF}" type="sibTrans" cxnId="{8FE2E454-5D77-44A9-B83B-9BF9C3E9D83C}">
      <dgm:prSet/>
      <dgm:spPr/>
      <dgm:t>
        <a:bodyPr/>
        <a:lstStyle/>
        <a:p>
          <a:endParaRPr lang="en-US"/>
        </a:p>
      </dgm:t>
    </dgm:pt>
    <dgm:pt modelId="{A10A6BF4-C171-4802-9B46-D695FA5D69BA}">
      <dgm:prSet/>
      <dgm:spPr/>
      <dgm:t>
        <a:bodyPr/>
        <a:lstStyle/>
        <a:p>
          <a:r>
            <a:rPr lang="fr-CA"/>
            <a:t>Valeur résiduelle</a:t>
          </a:r>
          <a:endParaRPr lang="en-US"/>
        </a:p>
      </dgm:t>
    </dgm:pt>
    <dgm:pt modelId="{4FA1A900-8A0B-4163-8790-5958658315DF}" type="parTrans" cxnId="{FC58EDAA-8BA2-4EC3-9FFE-E8FE0685F5A0}">
      <dgm:prSet/>
      <dgm:spPr/>
      <dgm:t>
        <a:bodyPr/>
        <a:lstStyle/>
        <a:p>
          <a:endParaRPr lang="en-US"/>
        </a:p>
      </dgm:t>
    </dgm:pt>
    <dgm:pt modelId="{3C6BA07D-D8CA-4AC2-8074-3FF9CF44E731}" type="sibTrans" cxnId="{FC58EDAA-8BA2-4EC3-9FFE-E8FE0685F5A0}">
      <dgm:prSet/>
      <dgm:spPr/>
      <dgm:t>
        <a:bodyPr/>
        <a:lstStyle/>
        <a:p>
          <a:endParaRPr lang="en-US"/>
        </a:p>
      </dgm:t>
    </dgm:pt>
    <dgm:pt modelId="{195445DB-5266-4313-A6DA-FF6A52338C63}">
      <dgm:prSet/>
      <dgm:spPr/>
      <dgm:t>
        <a:bodyPr/>
        <a:lstStyle/>
        <a:p>
          <a:r>
            <a:rPr lang="fr-CA"/>
            <a:t>Taux d’impôt</a:t>
          </a:r>
          <a:endParaRPr lang="en-US"/>
        </a:p>
      </dgm:t>
    </dgm:pt>
    <dgm:pt modelId="{06A61573-1C80-4626-8BB8-A38DF9FFC5FD}" type="parTrans" cxnId="{87FC09DA-9767-4130-8BE8-C8618133ACC6}">
      <dgm:prSet/>
      <dgm:spPr/>
      <dgm:t>
        <a:bodyPr/>
        <a:lstStyle/>
        <a:p>
          <a:endParaRPr lang="en-US"/>
        </a:p>
      </dgm:t>
    </dgm:pt>
    <dgm:pt modelId="{73F1CCC0-D194-4A8D-9E9F-E234EC2DEDD0}" type="sibTrans" cxnId="{87FC09DA-9767-4130-8BE8-C8618133ACC6}">
      <dgm:prSet/>
      <dgm:spPr/>
      <dgm:t>
        <a:bodyPr/>
        <a:lstStyle/>
        <a:p>
          <a:endParaRPr lang="en-US"/>
        </a:p>
      </dgm:t>
    </dgm:pt>
    <dgm:pt modelId="{B8868E0A-4C00-41BF-B828-7E8C38DF8E64}" type="pres">
      <dgm:prSet presAssocID="{DAC09867-6AB3-45F0-B78B-9578A48F4552}" presName="Name0" presStyleCnt="0">
        <dgm:presLayoutVars>
          <dgm:dir/>
          <dgm:animLvl val="lvl"/>
          <dgm:resizeHandles val="exact"/>
        </dgm:presLayoutVars>
      </dgm:prSet>
      <dgm:spPr/>
    </dgm:pt>
    <dgm:pt modelId="{56F4887A-5B1E-4190-81A2-3EE41DE6FD15}" type="pres">
      <dgm:prSet presAssocID="{3433533E-CCDD-4084-A3F6-101B1C0BA2C7}" presName="linNode" presStyleCnt="0"/>
      <dgm:spPr/>
    </dgm:pt>
    <dgm:pt modelId="{338665DA-CB21-47C4-864E-9A76C025BBB3}" type="pres">
      <dgm:prSet presAssocID="{3433533E-CCDD-4084-A3F6-101B1C0BA2C7}" presName="parentText" presStyleLbl="node1" presStyleIdx="0" presStyleCnt="2">
        <dgm:presLayoutVars>
          <dgm:chMax val="1"/>
          <dgm:bulletEnabled val="1"/>
        </dgm:presLayoutVars>
      </dgm:prSet>
      <dgm:spPr/>
    </dgm:pt>
    <dgm:pt modelId="{A2F2E0E6-56A5-4996-818F-CF864117C20C}" type="pres">
      <dgm:prSet presAssocID="{3433533E-CCDD-4084-A3F6-101B1C0BA2C7}" presName="descendantText" presStyleLbl="alignAccFollowNode1" presStyleIdx="0" presStyleCnt="2">
        <dgm:presLayoutVars>
          <dgm:bulletEnabled val="1"/>
        </dgm:presLayoutVars>
      </dgm:prSet>
      <dgm:spPr/>
    </dgm:pt>
    <dgm:pt modelId="{5D0E4BE0-DBEB-44F1-AB32-C0D9F46597A0}" type="pres">
      <dgm:prSet presAssocID="{AE1488B0-F30C-4F6C-837B-755D61A95A8B}" presName="sp" presStyleCnt="0"/>
      <dgm:spPr/>
    </dgm:pt>
    <dgm:pt modelId="{B16E45DA-6FB6-4C4F-BC33-5F87BFA6658E}" type="pres">
      <dgm:prSet presAssocID="{907A65E5-B98E-4DC2-A67C-CCF324026558}" presName="linNode" presStyleCnt="0"/>
      <dgm:spPr/>
    </dgm:pt>
    <dgm:pt modelId="{A5176E63-2609-4DA5-B47A-2D3D7C2F8573}" type="pres">
      <dgm:prSet presAssocID="{907A65E5-B98E-4DC2-A67C-CCF324026558}" presName="parentText" presStyleLbl="node1" presStyleIdx="1" presStyleCnt="2">
        <dgm:presLayoutVars>
          <dgm:chMax val="1"/>
          <dgm:bulletEnabled val="1"/>
        </dgm:presLayoutVars>
      </dgm:prSet>
      <dgm:spPr/>
    </dgm:pt>
    <dgm:pt modelId="{D3E44C3D-B0F4-4FF8-8C02-FA80BD618867}" type="pres">
      <dgm:prSet presAssocID="{907A65E5-B98E-4DC2-A67C-CCF324026558}" presName="descendantText" presStyleLbl="alignAccFollowNode1" presStyleIdx="1" presStyleCnt="2">
        <dgm:presLayoutVars>
          <dgm:bulletEnabled val="1"/>
        </dgm:presLayoutVars>
      </dgm:prSet>
      <dgm:spPr/>
    </dgm:pt>
  </dgm:ptLst>
  <dgm:cxnLst>
    <dgm:cxn modelId="{825E9E63-FF90-4232-A25F-D7164FF05334}" type="presOf" srcId="{DAC09867-6AB3-45F0-B78B-9578A48F4552}" destId="{B8868E0A-4C00-41BF-B828-7E8C38DF8E64}" srcOrd="0" destOrd="0" presId="urn:microsoft.com/office/officeart/2005/8/layout/vList5"/>
    <dgm:cxn modelId="{61CC616E-A968-4DC4-9191-D81FDFBD5CEB}" srcId="{DAC09867-6AB3-45F0-B78B-9578A48F4552}" destId="{907A65E5-B98E-4DC2-A67C-CCF324026558}" srcOrd="1" destOrd="0" parTransId="{52ED8E31-C572-4E5D-B602-380D6116E473}" sibTransId="{546210F5-C770-4E35-84A8-FB620230DADC}"/>
    <dgm:cxn modelId="{3EAEA950-D13C-4207-9A42-4A31AA3BB900}" type="presOf" srcId="{A10A6BF4-C171-4802-9B46-D695FA5D69BA}" destId="{D3E44C3D-B0F4-4FF8-8C02-FA80BD618867}" srcOrd="0" destOrd="1" presId="urn:microsoft.com/office/officeart/2005/8/layout/vList5"/>
    <dgm:cxn modelId="{8FE2E454-5D77-44A9-B83B-9BF9C3E9D83C}" srcId="{907A65E5-B98E-4DC2-A67C-CCF324026558}" destId="{C249065E-5552-4A86-B319-6D86C9B6CE1E}" srcOrd="0" destOrd="0" parTransId="{FEA51097-3824-41BB-B266-8F58110088B3}" sibTransId="{75468A7B-92FA-4494-BE42-B935138940FF}"/>
    <dgm:cxn modelId="{48C00D56-ED5C-436D-8359-00E23D98D79A}" type="presOf" srcId="{0DB13A9C-757C-452E-96BC-CB9CE15C6D7A}" destId="{A2F2E0E6-56A5-4996-818F-CF864117C20C}" srcOrd="0" destOrd="1" presId="urn:microsoft.com/office/officeart/2005/8/layout/vList5"/>
    <dgm:cxn modelId="{19FF4082-F53B-4440-B400-48F050D6393D}" srcId="{DAC09867-6AB3-45F0-B78B-9578A48F4552}" destId="{3433533E-CCDD-4084-A3F6-101B1C0BA2C7}" srcOrd="0" destOrd="0" parTransId="{49AB15BF-B913-49D2-A652-FD1E061B29B1}" sibTransId="{AE1488B0-F30C-4F6C-837B-755D61A95A8B}"/>
    <dgm:cxn modelId="{3BBC4086-797D-4976-9E16-BDD273C41E91}" srcId="{164150C0-CD45-438C-9572-2BEDA99556D9}" destId="{0DB13A9C-757C-452E-96BC-CB9CE15C6D7A}" srcOrd="0" destOrd="0" parTransId="{F8639ABA-A00A-4A46-9957-A719C75887EE}" sibTransId="{C838E23F-CE5D-4BF2-9F1B-FA09E5695F4C}"/>
    <dgm:cxn modelId="{FC58EDAA-8BA2-4EC3-9FFE-E8FE0685F5A0}" srcId="{907A65E5-B98E-4DC2-A67C-CCF324026558}" destId="{A10A6BF4-C171-4802-9B46-D695FA5D69BA}" srcOrd="1" destOrd="0" parTransId="{4FA1A900-8A0B-4163-8790-5958658315DF}" sibTransId="{3C6BA07D-D8CA-4AC2-8074-3FF9CF44E731}"/>
    <dgm:cxn modelId="{3A72EEAB-2006-47DB-8B1F-7F70D7AC7421}" type="presOf" srcId="{3433533E-CCDD-4084-A3F6-101B1C0BA2C7}" destId="{338665DA-CB21-47C4-864E-9A76C025BBB3}" srcOrd="0" destOrd="0" presId="urn:microsoft.com/office/officeart/2005/8/layout/vList5"/>
    <dgm:cxn modelId="{CF086CAC-BA0C-4A1B-BC9D-125835F80733}" type="presOf" srcId="{195445DB-5266-4313-A6DA-FF6A52338C63}" destId="{D3E44C3D-B0F4-4FF8-8C02-FA80BD618867}" srcOrd="0" destOrd="2" presId="urn:microsoft.com/office/officeart/2005/8/layout/vList5"/>
    <dgm:cxn modelId="{95FA80D7-BAE0-4597-BEA3-E3D9D5D1F529}" type="presOf" srcId="{907A65E5-B98E-4DC2-A67C-CCF324026558}" destId="{A5176E63-2609-4DA5-B47A-2D3D7C2F8573}" srcOrd="0" destOrd="0" presId="urn:microsoft.com/office/officeart/2005/8/layout/vList5"/>
    <dgm:cxn modelId="{87FC09DA-9767-4130-8BE8-C8618133ACC6}" srcId="{907A65E5-B98E-4DC2-A67C-CCF324026558}" destId="{195445DB-5266-4313-A6DA-FF6A52338C63}" srcOrd="2" destOrd="0" parTransId="{06A61573-1C80-4626-8BB8-A38DF9FFC5FD}" sibTransId="{73F1CCC0-D194-4A8D-9E9F-E234EC2DEDD0}"/>
    <dgm:cxn modelId="{660F08EC-1D9B-4497-9E38-A7681D4356B1}" type="presOf" srcId="{C249065E-5552-4A86-B319-6D86C9B6CE1E}" destId="{D3E44C3D-B0F4-4FF8-8C02-FA80BD618867}" srcOrd="0" destOrd="0" presId="urn:microsoft.com/office/officeart/2005/8/layout/vList5"/>
    <dgm:cxn modelId="{6FB73CF4-ED47-4424-9F8B-3708CC0CA9F2}" type="presOf" srcId="{164150C0-CD45-438C-9572-2BEDA99556D9}" destId="{A2F2E0E6-56A5-4996-818F-CF864117C20C}" srcOrd="0" destOrd="0" presId="urn:microsoft.com/office/officeart/2005/8/layout/vList5"/>
    <dgm:cxn modelId="{2FFD53F8-4D4D-4655-9614-04EFE7482352}" srcId="{3433533E-CCDD-4084-A3F6-101B1C0BA2C7}" destId="{164150C0-CD45-438C-9572-2BEDA99556D9}" srcOrd="0" destOrd="0" parTransId="{967F48E1-A175-486E-AA8A-681701219FEC}" sibTransId="{CA47478B-9A97-4159-8710-944B484BDFDB}"/>
    <dgm:cxn modelId="{391F662F-1F07-472C-A478-F154FAB357EC}" type="presParOf" srcId="{B8868E0A-4C00-41BF-B828-7E8C38DF8E64}" destId="{56F4887A-5B1E-4190-81A2-3EE41DE6FD15}" srcOrd="0" destOrd="0" presId="urn:microsoft.com/office/officeart/2005/8/layout/vList5"/>
    <dgm:cxn modelId="{CD3E2524-9DAF-4DED-858E-326764E5FD71}" type="presParOf" srcId="{56F4887A-5B1E-4190-81A2-3EE41DE6FD15}" destId="{338665DA-CB21-47C4-864E-9A76C025BBB3}" srcOrd="0" destOrd="0" presId="urn:microsoft.com/office/officeart/2005/8/layout/vList5"/>
    <dgm:cxn modelId="{E66199E6-15C2-444C-9775-046B195A7B57}" type="presParOf" srcId="{56F4887A-5B1E-4190-81A2-3EE41DE6FD15}" destId="{A2F2E0E6-56A5-4996-818F-CF864117C20C}" srcOrd="1" destOrd="0" presId="urn:microsoft.com/office/officeart/2005/8/layout/vList5"/>
    <dgm:cxn modelId="{CDEE1CD8-B6EB-4E16-871B-EEE1E8CED847}" type="presParOf" srcId="{B8868E0A-4C00-41BF-B828-7E8C38DF8E64}" destId="{5D0E4BE0-DBEB-44F1-AB32-C0D9F46597A0}" srcOrd="1" destOrd="0" presId="urn:microsoft.com/office/officeart/2005/8/layout/vList5"/>
    <dgm:cxn modelId="{B77745B4-3C1A-4F32-B2A3-EBB3C5DD1F76}" type="presParOf" srcId="{B8868E0A-4C00-41BF-B828-7E8C38DF8E64}" destId="{B16E45DA-6FB6-4C4F-BC33-5F87BFA6658E}" srcOrd="2" destOrd="0" presId="urn:microsoft.com/office/officeart/2005/8/layout/vList5"/>
    <dgm:cxn modelId="{E163A175-58EE-4C72-8367-BC5003F28EED}" type="presParOf" srcId="{B16E45DA-6FB6-4C4F-BC33-5F87BFA6658E}" destId="{A5176E63-2609-4DA5-B47A-2D3D7C2F8573}" srcOrd="0" destOrd="0" presId="urn:microsoft.com/office/officeart/2005/8/layout/vList5"/>
    <dgm:cxn modelId="{46D75FF6-2DD4-422D-AB7F-231FD353DF12}" type="presParOf" srcId="{B16E45DA-6FB6-4C4F-BC33-5F87BFA6658E}" destId="{D3E44C3D-B0F4-4FF8-8C02-FA80BD618867}" srcOrd="1"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94CD6E3-4D5F-42D1-84D8-A83E7630FDC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E8F960A-A870-4B9A-A73B-C4F1D271D1CC}">
      <dgm:prSet/>
      <dgm:spPr/>
      <dgm:t>
        <a:bodyPr/>
        <a:lstStyle/>
        <a:p>
          <a:r>
            <a:rPr lang="fr-CA" dirty="0"/>
            <a:t>Les charges qui n’entraîne pas d’entrée ou de sortie de fonds </a:t>
          </a:r>
          <a:endParaRPr lang="en-US" dirty="0"/>
        </a:p>
      </dgm:t>
    </dgm:pt>
    <dgm:pt modelId="{C2D31851-94F7-42CD-A40E-EE42D9A11275}" type="parTrans" cxnId="{4C2B2992-4530-40A5-B24A-BECCF5E1E6B3}">
      <dgm:prSet/>
      <dgm:spPr/>
      <dgm:t>
        <a:bodyPr/>
        <a:lstStyle/>
        <a:p>
          <a:endParaRPr lang="en-US"/>
        </a:p>
      </dgm:t>
    </dgm:pt>
    <dgm:pt modelId="{216117CC-131D-4DC8-8509-07A2247721A5}" type="sibTrans" cxnId="{4C2B2992-4530-40A5-B24A-BECCF5E1E6B3}">
      <dgm:prSet/>
      <dgm:spPr/>
      <dgm:t>
        <a:bodyPr/>
        <a:lstStyle/>
        <a:p>
          <a:endParaRPr lang="en-US"/>
        </a:p>
      </dgm:t>
    </dgm:pt>
    <dgm:pt modelId="{3EBAEED4-7141-4B5B-ADE2-305AA361773E}">
      <dgm:prSet/>
      <dgm:spPr/>
      <dgm:t>
        <a:bodyPr/>
        <a:lstStyle/>
        <a:p>
          <a:r>
            <a:rPr lang="fr-CA"/>
            <a:t>Amortissement</a:t>
          </a:r>
          <a:endParaRPr lang="en-US"/>
        </a:p>
      </dgm:t>
    </dgm:pt>
    <dgm:pt modelId="{A8184333-E362-4710-B2C6-FAFA802A30D7}" type="parTrans" cxnId="{0FC2DB4E-838E-4693-ACCF-D8D252E345F4}">
      <dgm:prSet/>
      <dgm:spPr/>
      <dgm:t>
        <a:bodyPr/>
        <a:lstStyle/>
        <a:p>
          <a:endParaRPr lang="en-US"/>
        </a:p>
      </dgm:t>
    </dgm:pt>
    <dgm:pt modelId="{732366DE-A3F5-44A3-BF7C-7F0D28AE3830}" type="sibTrans" cxnId="{0FC2DB4E-838E-4693-ACCF-D8D252E345F4}">
      <dgm:prSet/>
      <dgm:spPr/>
      <dgm:t>
        <a:bodyPr/>
        <a:lstStyle/>
        <a:p>
          <a:endParaRPr lang="en-US"/>
        </a:p>
      </dgm:t>
    </dgm:pt>
    <dgm:pt modelId="{04EA2965-D2BD-4B0B-ABB5-2CB72EB42A7F}">
      <dgm:prSet/>
      <dgm:spPr/>
      <dgm:t>
        <a:bodyPr/>
        <a:lstStyle/>
        <a:p>
          <a:r>
            <a:rPr lang="fr-CA"/>
            <a:t>Charge pour mauvaises créances</a:t>
          </a:r>
          <a:endParaRPr lang="en-US"/>
        </a:p>
      </dgm:t>
    </dgm:pt>
    <dgm:pt modelId="{D55269CA-F969-4686-AD97-14A43817A526}" type="parTrans" cxnId="{486A3217-E8EC-4039-9DC8-5FFDCDE89367}">
      <dgm:prSet/>
      <dgm:spPr/>
      <dgm:t>
        <a:bodyPr/>
        <a:lstStyle/>
        <a:p>
          <a:endParaRPr lang="en-US"/>
        </a:p>
      </dgm:t>
    </dgm:pt>
    <dgm:pt modelId="{0579D3EE-6751-4468-BA58-1724D2E9F75B}" type="sibTrans" cxnId="{486A3217-E8EC-4039-9DC8-5FFDCDE89367}">
      <dgm:prSet/>
      <dgm:spPr/>
      <dgm:t>
        <a:bodyPr/>
        <a:lstStyle/>
        <a:p>
          <a:endParaRPr lang="en-US"/>
        </a:p>
      </dgm:t>
    </dgm:pt>
    <dgm:pt modelId="{3002106C-3A68-4549-8B31-0DA8489E4FDB}">
      <dgm:prSet/>
      <dgm:spPr/>
      <dgm:t>
        <a:bodyPr/>
        <a:lstStyle/>
        <a:p>
          <a:r>
            <a:rPr lang="fr-CA"/>
            <a:t>Gain/perte sur cession d’immobilisation</a:t>
          </a:r>
          <a:endParaRPr lang="en-US"/>
        </a:p>
      </dgm:t>
    </dgm:pt>
    <dgm:pt modelId="{D02EA214-2CC8-4E75-89E8-D56499910137}" type="parTrans" cxnId="{AF094447-DEFD-4088-939D-812CA0F39F94}">
      <dgm:prSet/>
      <dgm:spPr/>
      <dgm:t>
        <a:bodyPr/>
        <a:lstStyle/>
        <a:p>
          <a:endParaRPr lang="en-US"/>
        </a:p>
      </dgm:t>
    </dgm:pt>
    <dgm:pt modelId="{02240848-0470-479B-A454-AF63153B8B7A}" type="sibTrans" cxnId="{AF094447-DEFD-4088-939D-812CA0F39F94}">
      <dgm:prSet/>
      <dgm:spPr/>
      <dgm:t>
        <a:bodyPr/>
        <a:lstStyle/>
        <a:p>
          <a:endParaRPr lang="en-US"/>
        </a:p>
      </dgm:t>
    </dgm:pt>
    <dgm:pt modelId="{EFB1E78D-E004-43E7-B888-B2E2A6AC5292}">
      <dgm:prSet/>
      <dgm:spPr/>
      <dgm:t>
        <a:bodyPr/>
        <a:lstStyle/>
        <a:p>
          <a:r>
            <a:rPr lang="fr-CA"/>
            <a:t>Les coûts reliés au financement du projet</a:t>
          </a:r>
          <a:endParaRPr lang="en-US"/>
        </a:p>
      </dgm:t>
    </dgm:pt>
    <dgm:pt modelId="{B127AF19-2E10-48A7-82CC-71867B5B2083}" type="parTrans" cxnId="{3187CEFB-6996-4447-9C19-46879BDF5AFA}">
      <dgm:prSet/>
      <dgm:spPr/>
      <dgm:t>
        <a:bodyPr/>
        <a:lstStyle/>
        <a:p>
          <a:endParaRPr lang="en-US"/>
        </a:p>
      </dgm:t>
    </dgm:pt>
    <dgm:pt modelId="{4F454888-B7B9-439C-BC80-FED2FB89BF67}" type="sibTrans" cxnId="{3187CEFB-6996-4447-9C19-46879BDF5AFA}">
      <dgm:prSet/>
      <dgm:spPr/>
      <dgm:t>
        <a:bodyPr/>
        <a:lstStyle/>
        <a:p>
          <a:endParaRPr lang="en-US"/>
        </a:p>
      </dgm:t>
    </dgm:pt>
    <dgm:pt modelId="{78F1BC64-C3DE-4521-A1D4-465A6A77283F}">
      <dgm:prSet/>
      <dgm:spPr/>
      <dgm:t>
        <a:bodyPr/>
        <a:lstStyle/>
        <a:p>
          <a:r>
            <a:rPr lang="fr-CA"/>
            <a:t>Tous les flux de trésoreries qui ne sont pas liés au projet analysé</a:t>
          </a:r>
          <a:endParaRPr lang="en-US"/>
        </a:p>
      </dgm:t>
    </dgm:pt>
    <dgm:pt modelId="{354DFF64-8CFD-4A45-AA44-1EF6EAE80051}" type="parTrans" cxnId="{86CA6DC9-54CF-42DC-9471-F1699E78E9A5}">
      <dgm:prSet/>
      <dgm:spPr/>
      <dgm:t>
        <a:bodyPr/>
        <a:lstStyle/>
        <a:p>
          <a:endParaRPr lang="en-US"/>
        </a:p>
      </dgm:t>
    </dgm:pt>
    <dgm:pt modelId="{08E6537B-1F56-4CE6-BCAD-E5D844E10B81}" type="sibTrans" cxnId="{86CA6DC9-54CF-42DC-9471-F1699E78E9A5}">
      <dgm:prSet/>
      <dgm:spPr/>
      <dgm:t>
        <a:bodyPr/>
        <a:lstStyle/>
        <a:p>
          <a:endParaRPr lang="en-US"/>
        </a:p>
      </dgm:t>
    </dgm:pt>
    <dgm:pt modelId="{220DEE6D-32A2-4892-909F-C4F01C265063}">
      <dgm:prSet/>
      <dgm:spPr/>
      <dgm:t>
        <a:bodyPr/>
        <a:lstStyle/>
        <a:p>
          <a:r>
            <a:rPr lang="fr-CA"/>
            <a:t>Seuls les flux qui sont générés ou évité par le projet sont des coûts pertinents à l’analyse</a:t>
          </a:r>
          <a:endParaRPr lang="en-US"/>
        </a:p>
      </dgm:t>
    </dgm:pt>
    <dgm:pt modelId="{2BA6DA9B-EF44-4E91-A89D-D4135A6D6047}" type="parTrans" cxnId="{BC3BB3A7-CC16-4EE5-B1C8-D691B1320542}">
      <dgm:prSet/>
      <dgm:spPr/>
      <dgm:t>
        <a:bodyPr/>
        <a:lstStyle/>
        <a:p>
          <a:endParaRPr lang="en-US"/>
        </a:p>
      </dgm:t>
    </dgm:pt>
    <dgm:pt modelId="{083194E4-BB32-409D-A611-EBEA053B1B65}" type="sibTrans" cxnId="{BC3BB3A7-CC16-4EE5-B1C8-D691B1320542}">
      <dgm:prSet/>
      <dgm:spPr/>
      <dgm:t>
        <a:bodyPr/>
        <a:lstStyle/>
        <a:p>
          <a:endParaRPr lang="en-US"/>
        </a:p>
      </dgm:t>
    </dgm:pt>
    <dgm:pt modelId="{7CFE760A-49F6-4CE5-9DBC-5552C1575B6E}" type="pres">
      <dgm:prSet presAssocID="{494CD6E3-4D5F-42D1-84D8-A83E7630FDCF}" presName="linear" presStyleCnt="0">
        <dgm:presLayoutVars>
          <dgm:animLvl val="lvl"/>
          <dgm:resizeHandles val="exact"/>
        </dgm:presLayoutVars>
      </dgm:prSet>
      <dgm:spPr/>
    </dgm:pt>
    <dgm:pt modelId="{D9222925-6FC5-48ED-8EE5-DAFF8AFA6CAE}" type="pres">
      <dgm:prSet presAssocID="{1E8F960A-A870-4B9A-A73B-C4F1D271D1CC}" presName="parentText" presStyleLbl="node1" presStyleIdx="0" presStyleCnt="3">
        <dgm:presLayoutVars>
          <dgm:chMax val="0"/>
          <dgm:bulletEnabled val="1"/>
        </dgm:presLayoutVars>
      </dgm:prSet>
      <dgm:spPr/>
    </dgm:pt>
    <dgm:pt modelId="{FCF2B44F-5F81-47B4-B3C1-956AE523752A}" type="pres">
      <dgm:prSet presAssocID="{1E8F960A-A870-4B9A-A73B-C4F1D271D1CC}" presName="childText" presStyleLbl="revTx" presStyleIdx="0" presStyleCnt="2">
        <dgm:presLayoutVars>
          <dgm:bulletEnabled val="1"/>
        </dgm:presLayoutVars>
      </dgm:prSet>
      <dgm:spPr/>
    </dgm:pt>
    <dgm:pt modelId="{533E1ECB-082D-45AC-9B76-9C5A1565C4EF}" type="pres">
      <dgm:prSet presAssocID="{EFB1E78D-E004-43E7-B888-B2E2A6AC5292}" presName="parentText" presStyleLbl="node1" presStyleIdx="1" presStyleCnt="3">
        <dgm:presLayoutVars>
          <dgm:chMax val="0"/>
          <dgm:bulletEnabled val="1"/>
        </dgm:presLayoutVars>
      </dgm:prSet>
      <dgm:spPr/>
    </dgm:pt>
    <dgm:pt modelId="{E0108A7A-3B21-4DD5-9BEE-9662306E22E5}" type="pres">
      <dgm:prSet presAssocID="{4F454888-B7B9-439C-BC80-FED2FB89BF67}" presName="spacer" presStyleCnt="0"/>
      <dgm:spPr/>
    </dgm:pt>
    <dgm:pt modelId="{1C113977-21F9-45C5-9F42-8AED75048AE9}" type="pres">
      <dgm:prSet presAssocID="{78F1BC64-C3DE-4521-A1D4-465A6A77283F}" presName="parentText" presStyleLbl="node1" presStyleIdx="2" presStyleCnt="3">
        <dgm:presLayoutVars>
          <dgm:chMax val="0"/>
          <dgm:bulletEnabled val="1"/>
        </dgm:presLayoutVars>
      </dgm:prSet>
      <dgm:spPr/>
    </dgm:pt>
    <dgm:pt modelId="{E0F002E2-8853-4FC2-B279-78AC8618960E}" type="pres">
      <dgm:prSet presAssocID="{78F1BC64-C3DE-4521-A1D4-465A6A77283F}" presName="childText" presStyleLbl="revTx" presStyleIdx="1" presStyleCnt="2">
        <dgm:presLayoutVars>
          <dgm:bulletEnabled val="1"/>
        </dgm:presLayoutVars>
      </dgm:prSet>
      <dgm:spPr/>
    </dgm:pt>
  </dgm:ptLst>
  <dgm:cxnLst>
    <dgm:cxn modelId="{C7F37403-4C9A-4216-8203-5D4D10C75008}" type="presOf" srcId="{494CD6E3-4D5F-42D1-84D8-A83E7630FDCF}" destId="{7CFE760A-49F6-4CE5-9DBC-5552C1575B6E}" srcOrd="0" destOrd="0" presId="urn:microsoft.com/office/officeart/2005/8/layout/vList2"/>
    <dgm:cxn modelId="{0414A809-F498-42A7-B0E8-C2E3F3B2AC1D}" type="presOf" srcId="{3EBAEED4-7141-4B5B-ADE2-305AA361773E}" destId="{FCF2B44F-5F81-47B4-B3C1-956AE523752A}" srcOrd="0" destOrd="0" presId="urn:microsoft.com/office/officeart/2005/8/layout/vList2"/>
    <dgm:cxn modelId="{486A3217-E8EC-4039-9DC8-5FFDCDE89367}" srcId="{1E8F960A-A870-4B9A-A73B-C4F1D271D1CC}" destId="{04EA2965-D2BD-4B0B-ABB5-2CB72EB42A7F}" srcOrd="1" destOrd="0" parTransId="{D55269CA-F969-4686-AD97-14A43817A526}" sibTransId="{0579D3EE-6751-4468-BA58-1724D2E9F75B}"/>
    <dgm:cxn modelId="{1E1C8E2C-579B-447B-ADF5-7B60E0E0901E}" type="presOf" srcId="{78F1BC64-C3DE-4521-A1D4-465A6A77283F}" destId="{1C113977-21F9-45C5-9F42-8AED75048AE9}" srcOrd="0" destOrd="0" presId="urn:microsoft.com/office/officeart/2005/8/layout/vList2"/>
    <dgm:cxn modelId="{AF094447-DEFD-4088-939D-812CA0F39F94}" srcId="{1E8F960A-A870-4B9A-A73B-C4F1D271D1CC}" destId="{3002106C-3A68-4549-8B31-0DA8489E4FDB}" srcOrd="2" destOrd="0" parTransId="{D02EA214-2CC8-4E75-89E8-D56499910137}" sibTransId="{02240848-0470-479B-A454-AF63153B8B7A}"/>
    <dgm:cxn modelId="{0FC2DB4E-838E-4693-ACCF-D8D252E345F4}" srcId="{1E8F960A-A870-4B9A-A73B-C4F1D271D1CC}" destId="{3EBAEED4-7141-4B5B-ADE2-305AA361773E}" srcOrd="0" destOrd="0" parTransId="{A8184333-E362-4710-B2C6-FAFA802A30D7}" sibTransId="{732366DE-A3F5-44A3-BF7C-7F0D28AE3830}"/>
    <dgm:cxn modelId="{AD9E298A-B61C-4343-85CF-55FA8FDFBB97}" type="presOf" srcId="{04EA2965-D2BD-4B0B-ABB5-2CB72EB42A7F}" destId="{FCF2B44F-5F81-47B4-B3C1-956AE523752A}" srcOrd="0" destOrd="1" presId="urn:microsoft.com/office/officeart/2005/8/layout/vList2"/>
    <dgm:cxn modelId="{4C2B2992-4530-40A5-B24A-BECCF5E1E6B3}" srcId="{494CD6E3-4D5F-42D1-84D8-A83E7630FDCF}" destId="{1E8F960A-A870-4B9A-A73B-C4F1D271D1CC}" srcOrd="0" destOrd="0" parTransId="{C2D31851-94F7-42CD-A40E-EE42D9A11275}" sibTransId="{216117CC-131D-4DC8-8509-07A2247721A5}"/>
    <dgm:cxn modelId="{BC3BB3A7-CC16-4EE5-B1C8-D691B1320542}" srcId="{78F1BC64-C3DE-4521-A1D4-465A6A77283F}" destId="{220DEE6D-32A2-4892-909F-C4F01C265063}" srcOrd="0" destOrd="0" parTransId="{2BA6DA9B-EF44-4E91-A89D-D4135A6D6047}" sibTransId="{083194E4-BB32-409D-A611-EBEA053B1B65}"/>
    <dgm:cxn modelId="{70F715C6-3085-4E01-B82F-05B84DB938C2}" type="presOf" srcId="{3002106C-3A68-4549-8B31-0DA8489E4FDB}" destId="{FCF2B44F-5F81-47B4-B3C1-956AE523752A}" srcOrd="0" destOrd="2" presId="urn:microsoft.com/office/officeart/2005/8/layout/vList2"/>
    <dgm:cxn modelId="{E0C1DCC6-BA3C-453C-A8C5-5CF9727912C7}" type="presOf" srcId="{EFB1E78D-E004-43E7-B888-B2E2A6AC5292}" destId="{533E1ECB-082D-45AC-9B76-9C5A1565C4EF}" srcOrd="0" destOrd="0" presId="urn:microsoft.com/office/officeart/2005/8/layout/vList2"/>
    <dgm:cxn modelId="{86CA6DC9-54CF-42DC-9471-F1699E78E9A5}" srcId="{494CD6E3-4D5F-42D1-84D8-A83E7630FDCF}" destId="{78F1BC64-C3DE-4521-A1D4-465A6A77283F}" srcOrd="2" destOrd="0" parTransId="{354DFF64-8CFD-4A45-AA44-1EF6EAE80051}" sibTransId="{08E6537B-1F56-4CE6-BCAD-E5D844E10B81}"/>
    <dgm:cxn modelId="{607A47DD-8D8F-430E-9C1B-7F42ED3161A2}" type="presOf" srcId="{1E8F960A-A870-4B9A-A73B-C4F1D271D1CC}" destId="{D9222925-6FC5-48ED-8EE5-DAFF8AFA6CAE}" srcOrd="0" destOrd="0" presId="urn:microsoft.com/office/officeart/2005/8/layout/vList2"/>
    <dgm:cxn modelId="{03137AEE-A052-49F7-A6AC-018D7702FE45}" type="presOf" srcId="{220DEE6D-32A2-4892-909F-C4F01C265063}" destId="{E0F002E2-8853-4FC2-B279-78AC8618960E}" srcOrd="0" destOrd="0" presId="urn:microsoft.com/office/officeart/2005/8/layout/vList2"/>
    <dgm:cxn modelId="{3187CEFB-6996-4447-9C19-46879BDF5AFA}" srcId="{494CD6E3-4D5F-42D1-84D8-A83E7630FDCF}" destId="{EFB1E78D-E004-43E7-B888-B2E2A6AC5292}" srcOrd="1" destOrd="0" parTransId="{B127AF19-2E10-48A7-82CC-71867B5B2083}" sibTransId="{4F454888-B7B9-439C-BC80-FED2FB89BF67}"/>
    <dgm:cxn modelId="{77BB2CB1-FB33-487B-A999-C8ACE2EB8D3F}" type="presParOf" srcId="{7CFE760A-49F6-4CE5-9DBC-5552C1575B6E}" destId="{D9222925-6FC5-48ED-8EE5-DAFF8AFA6CAE}" srcOrd="0" destOrd="0" presId="urn:microsoft.com/office/officeart/2005/8/layout/vList2"/>
    <dgm:cxn modelId="{375829D8-346C-46E1-8346-BB922536D3E5}" type="presParOf" srcId="{7CFE760A-49F6-4CE5-9DBC-5552C1575B6E}" destId="{FCF2B44F-5F81-47B4-B3C1-956AE523752A}" srcOrd="1" destOrd="0" presId="urn:microsoft.com/office/officeart/2005/8/layout/vList2"/>
    <dgm:cxn modelId="{BC7F6055-10EE-41D4-8634-3E7026A04E7F}" type="presParOf" srcId="{7CFE760A-49F6-4CE5-9DBC-5552C1575B6E}" destId="{533E1ECB-082D-45AC-9B76-9C5A1565C4EF}" srcOrd="2" destOrd="0" presId="urn:microsoft.com/office/officeart/2005/8/layout/vList2"/>
    <dgm:cxn modelId="{BB5E27C9-8004-42D3-BC5D-18996D8BC2F1}" type="presParOf" srcId="{7CFE760A-49F6-4CE5-9DBC-5552C1575B6E}" destId="{E0108A7A-3B21-4DD5-9BEE-9662306E22E5}" srcOrd="3" destOrd="0" presId="urn:microsoft.com/office/officeart/2005/8/layout/vList2"/>
    <dgm:cxn modelId="{E5340045-78DF-40DF-8DCC-4F14E9F1C1A6}" type="presParOf" srcId="{7CFE760A-49F6-4CE5-9DBC-5552C1575B6E}" destId="{1C113977-21F9-45C5-9F42-8AED75048AE9}" srcOrd="4" destOrd="0" presId="urn:microsoft.com/office/officeart/2005/8/layout/vList2"/>
    <dgm:cxn modelId="{8A462098-BCC3-4FE4-AF9B-3C7B07B5749C}" type="presParOf" srcId="{7CFE760A-49F6-4CE5-9DBC-5552C1575B6E}" destId="{E0F002E2-8853-4FC2-B279-78AC8618960E}" srcOrd="5"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5AA0CDD-CF0B-40F5-AEAE-485F32B3CE16}" type="doc">
      <dgm:prSet loTypeId="urn:microsoft.com/office/officeart/2005/8/layout/hList1" loCatId="list" qsTypeId="urn:microsoft.com/office/officeart/2005/8/quickstyle/simple2" qsCatId="simple" csTypeId="urn:microsoft.com/office/officeart/2005/8/colors/colorful4" csCatId="colorful" phldr="1"/>
      <dgm:spPr/>
      <dgm:t>
        <a:bodyPr/>
        <a:lstStyle/>
        <a:p>
          <a:endParaRPr lang="fr-CA"/>
        </a:p>
      </dgm:t>
    </dgm:pt>
    <dgm:pt modelId="{684874A4-4186-4DE6-8F4A-D246D91D6376}">
      <dgm:prSet phldrT="[Texte]" custT="1"/>
      <dgm:spPr/>
      <dgm:t>
        <a:bodyPr/>
        <a:lstStyle/>
        <a:p>
          <a:r>
            <a:rPr lang="fr-CA" sz="4000" b="1"/>
            <a:t>Option unique</a:t>
          </a:r>
        </a:p>
      </dgm:t>
    </dgm:pt>
    <dgm:pt modelId="{4F570EC6-C740-4585-8ED8-FBCF716540A3}" type="parTrans" cxnId="{60F44E32-4318-427C-95CE-B1A17CAC66B7}">
      <dgm:prSet/>
      <dgm:spPr/>
      <dgm:t>
        <a:bodyPr/>
        <a:lstStyle/>
        <a:p>
          <a:endParaRPr lang="fr-CA"/>
        </a:p>
      </dgm:t>
    </dgm:pt>
    <dgm:pt modelId="{45EDE3B4-F944-4119-9ADA-16CE38167A67}" type="sibTrans" cxnId="{60F44E32-4318-427C-95CE-B1A17CAC66B7}">
      <dgm:prSet/>
      <dgm:spPr/>
      <dgm:t>
        <a:bodyPr/>
        <a:lstStyle/>
        <a:p>
          <a:endParaRPr lang="fr-CA"/>
        </a:p>
      </dgm:t>
    </dgm:pt>
    <dgm:pt modelId="{BA3E741F-9943-4379-814C-7CCF29A5EA78}">
      <dgm:prSet phldrT="[Texte]"/>
      <dgm:spPr/>
      <dgm:t>
        <a:bodyPr/>
        <a:lstStyle/>
        <a:p>
          <a:r>
            <a:rPr lang="fr-CA"/>
            <a:t>Justification de l’acceptation ou le rejet du projet</a:t>
          </a:r>
        </a:p>
      </dgm:t>
    </dgm:pt>
    <dgm:pt modelId="{74D3FEB4-57EF-4FD8-8F18-AD96477D2CDC}" type="parTrans" cxnId="{D980E329-57BF-4227-8494-22AE155CC1EA}">
      <dgm:prSet/>
      <dgm:spPr/>
      <dgm:t>
        <a:bodyPr/>
        <a:lstStyle/>
        <a:p>
          <a:endParaRPr lang="fr-CA"/>
        </a:p>
      </dgm:t>
    </dgm:pt>
    <dgm:pt modelId="{00057AD3-F719-473A-B343-04FD38832397}" type="sibTrans" cxnId="{D980E329-57BF-4227-8494-22AE155CC1EA}">
      <dgm:prSet/>
      <dgm:spPr/>
      <dgm:t>
        <a:bodyPr/>
        <a:lstStyle/>
        <a:p>
          <a:endParaRPr lang="fr-CA"/>
        </a:p>
      </dgm:t>
    </dgm:pt>
    <dgm:pt modelId="{5F18BF7D-AEB4-4DAB-AA50-4F4B7CD0CF4C}">
      <dgm:prSet phldrT="[Texte]"/>
      <dgm:spPr/>
      <dgm:t>
        <a:bodyPr/>
        <a:lstStyle/>
        <a:p>
          <a:r>
            <a:rPr lang="fr-CA"/>
            <a:t>Recommandations claires et étayées</a:t>
          </a:r>
        </a:p>
      </dgm:t>
    </dgm:pt>
    <dgm:pt modelId="{F5513D64-33FE-4D55-9DF9-0DDB47309A2E}" type="parTrans" cxnId="{762A5DF8-C6F9-4777-87B6-2B32C617A4D3}">
      <dgm:prSet/>
      <dgm:spPr/>
      <dgm:t>
        <a:bodyPr/>
        <a:lstStyle/>
        <a:p>
          <a:endParaRPr lang="fr-CA"/>
        </a:p>
      </dgm:t>
    </dgm:pt>
    <dgm:pt modelId="{2B449773-9314-444B-B7B4-B779AF63DB32}" type="sibTrans" cxnId="{762A5DF8-C6F9-4777-87B6-2B32C617A4D3}">
      <dgm:prSet/>
      <dgm:spPr/>
      <dgm:t>
        <a:bodyPr/>
        <a:lstStyle/>
        <a:p>
          <a:endParaRPr lang="fr-CA"/>
        </a:p>
      </dgm:t>
    </dgm:pt>
    <dgm:pt modelId="{DC728C47-6DCA-4A43-B432-DA2FED3574F2}">
      <dgm:prSet phldrT="[Texte]" custT="1"/>
      <dgm:spPr/>
      <dgm:t>
        <a:bodyPr/>
        <a:lstStyle/>
        <a:p>
          <a:r>
            <a:rPr lang="fr-CA" sz="3600"/>
            <a:t>Options mutuellement exclusives</a:t>
          </a:r>
        </a:p>
      </dgm:t>
    </dgm:pt>
    <dgm:pt modelId="{42FEBFA6-AC3A-49B5-9D18-EA930E206ADF}" type="parTrans" cxnId="{F713589E-479D-492C-B956-BB582E0CD02C}">
      <dgm:prSet/>
      <dgm:spPr/>
      <dgm:t>
        <a:bodyPr/>
        <a:lstStyle/>
        <a:p>
          <a:endParaRPr lang="fr-CA"/>
        </a:p>
      </dgm:t>
    </dgm:pt>
    <dgm:pt modelId="{88CA0002-E0AB-4E9A-AABD-918C5CB1E50D}" type="sibTrans" cxnId="{F713589E-479D-492C-B956-BB582E0CD02C}">
      <dgm:prSet/>
      <dgm:spPr/>
      <dgm:t>
        <a:bodyPr/>
        <a:lstStyle/>
        <a:p>
          <a:endParaRPr lang="fr-CA"/>
        </a:p>
      </dgm:t>
    </dgm:pt>
    <dgm:pt modelId="{1209ECE9-EBC3-4B26-B33B-3981811EA19A}">
      <dgm:prSet phldrT="[Texte]"/>
      <dgm:spPr/>
      <dgm:t>
        <a:bodyPr/>
        <a:lstStyle/>
        <a:p>
          <a:r>
            <a:rPr lang="fr-CA"/>
            <a:t>Matrice décisionnelle (non requise à l’intra)</a:t>
          </a:r>
        </a:p>
      </dgm:t>
    </dgm:pt>
    <dgm:pt modelId="{27727550-40B1-4A1A-A412-33285F90D7AD}" type="parTrans" cxnId="{424F0C9B-68C9-49EB-9543-DEF6C879EC2E}">
      <dgm:prSet/>
      <dgm:spPr/>
      <dgm:t>
        <a:bodyPr/>
        <a:lstStyle/>
        <a:p>
          <a:endParaRPr lang="fr-CA"/>
        </a:p>
      </dgm:t>
    </dgm:pt>
    <dgm:pt modelId="{37370FA1-B8DD-4117-A60B-AFED0A4DE61B}" type="sibTrans" cxnId="{424F0C9B-68C9-49EB-9543-DEF6C879EC2E}">
      <dgm:prSet/>
      <dgm:spPr/>
      <dgm:t>
        <a:bodyPr/>
        <a:lstStyle/>
        <a:p>
          <a:endParaRPr lang="fr-CA"/>
        </a:p>
      </dgm:t>
    </dgm:pt>
    <dgm:pt modelId="{299697C5-3892-4768-BB0D-CC7FF1DF5BAF}">
      <dgm:prSet phldrT="[Texte]"/>
      <dgm:spPr/>
      <dgm:t>
        <a:bodyPr/>
        <a:lstStyle/>
        <a:p>
          <a:r>
            <a:rPr lang="fr-CA"/>
            <a:t>Mise en œuvre ou mitigation d’un inconvénient</a:t>
          </a:r>
        </a:p>
      </dgm:t>
    </dgm:pt>
    <dgm:pt modelId="{A08FBF8F-FF35-4DA9-B883-28DDBF1AAE13}" type="parTrans" cxnId="{B147C44A-0448-42C9-85E4-0FB35C8BCFEF}">
      <dgm:prSet/>
      <dgm:spPr/>
      <dgm:t>
        <a:bodyPr/>
        <a:lstStyle/>
        <a:p>
          <a:endParaRPr lang="fr-CA"/>
        </a:p>
      </dgm:t>
    </dgm:pt>
    <dgm:pt modelId="{ECD19D76-07E3-411A-B959-59F716EB3F43}" type="sibTrans" cxnId="{B147C44A-0448-42C9-85E4-0FB35C8BCFEF}">
      <dgm:prSet/>
      <dgm:spPr/>
      <dgm:t>
        <a:bodyPr/>
        <a:lstStyle/>
        <a:p>
          <a:endParaRPr lang="fr-CA"/>
        </a:p>
      </dgm:t>
    </dgm:pt>
    <dgm:pt modelId="{63F670BA-D06C-48A1-A2F5-F703B35EB7E9}">
      <dgm:prSet phldrT="[Texte]"/>
      <dgm:spPr/>
      <dgm:t>
        <a:bodyPr/>
        <a:lstStyle/>
        <a:p>
          <a:r>
            <a:rPr lang="fr-CA"/>
            <a:t>Mise en œuvre ou mitigation d’un inconvénient</a:t>
          </a:r>
        </a:p>
      </dgm:t>
    </dgm:pt>
    <dgm:pt modelId="{5CD795A5-5065-4D0D-967C-267D0762B461}" type="parTrans" cxnId="{4E133AA6-FB95-4B3E-A404-5E8841C9B51E}">
      <dgm:prSet/>
      <dgm:spPr/>
      <dgm:t>
        <a:bodyPr/>
        <a:lstStyle/>
        <a:p>
          <a:endParaRPr lang="fr-CA"/>
        </a:p>
      </dgm:t>
    </dgm:pt>
    <dgm:pt modelId="{269E3205-137B-4E08-A2E4-08E7FD0F91BC}" type="sibTrans" cxnId="{4E133AA6-FB95-4B3E-A404-5E8841C9B51E}">
      <dgm:prSet/>
      <dgm:spPr/>
      <dgm:t>
        <a:bodyPr/>
        <a:lstStyle/>
        <a:p>
          <a:endParaRPr lang="fr-CA"/>
        </a:p>
      </dgm:t>
    </dgm:pt>
    <dgm:pt modelId="{569B03AA-7E3A-46B5-8186-7C1D05158433}">
      <dgm:prSet phldrT="[Texte]"/>
      <dgm:spPr/>
      <dgm:t>
        <a:bodyPr/>
        <a:lstStyle/>
        <a:p>
          <a:r>
            <a:rPr lang="fr-CA"/>
            <a:t>Critères décisionnels (non requis à l’intra)</a:t>
          </a:r>
        </a:p>
      </dgm:t>
    </dgm:pt>
    <dgm:pt modelId="{CA3C996D-4BD3-4FF8-B780-FB8879A5FFEE}" type="parTrans" cxnId="{610B1755-FC47-48B9-960B-DB21F668401B}">
      <dgm:prSet/>
      <dgm:spPr/>
      <dgm:t>
        <a:bodyPr/>
        <a:lstStyle/>
        <a:p>
          <a:endParaRPr lang="fr-CA"/>
        </a:p>
      </dgm:t>
    </dgm:pt>
    <dgm:pt modelId="{FE30C2A9-4DD7-4FFD-9F16-911D88E76E1B}" type="sibTrans" cxnId="{610B1755-FC47-48B9-960B-DB21F668401B}">
      <dgm:prSet/>
      <dgm:spPr/>
      <dgm:t>
        <a:bodyPr/>
        <a:lstStyle/>
        <a:p>
          <a:endParaRPr lang="fr-CA"/>
        </a:p>
      </dgm:t>
    </dgm:pt>
    <dgm:pt modelId="{098F52D2-D695-4E2E-932A-13A29A63138C}">
      <dgm:prSet phldrT="[Texte]"/>
      <dgm:spPr/>
      <dgm:t>
        <a:bodyPr/>
        <a:lstStyle/>
        <a:p>
          <a:r>
            <a:rPr lang="fr-CA"/>
            <a:t>Justification de l’acceptation ou du rejet </a:t>
          </a:r>
          <a:r>
            <a:rPr lang="fr-CA" b="1"/>
            <a:t>de chaque option</a:t>
          </a:r>
        </a:p>
      </dgm:t>
    </dgm:pt>
    <dgm:pt modelId="{CB489C68-2F9E-41C4-8EDF-9C3E4783E6D4}" type="parTrans" cxnId="{D0CB700C-322B-4377-B624-2504BBA112D1}">
      <dgm:prSet/>
      <dgm:spPr/>
      <dgm:t>
        <a:bodyPr/>
        <a:lstStyle/>
        <a:p>
          <a:endParaRPr lang="fr-CA"/>
        </a:p>
      </dgm:t>
    </dgm:pt>
    <dgm:pt modelId="{807870C6-17A7-4B59-AEA7-08C9119815DF}" type="sibTrans" cxnId="{D0CB700C-322B-4377-B624-2504BBA112D1}">
      <dgm:prSet/>
      <dgm:spPr/>
      <dgm:t>
        <a:bodyPr/>
        <a:lstStyle/>
        <a:p>
          <a:endParaRPr lang="fr-CA"/>
        </a:p>
      </dgm:t>
    </dgm:pt>
    <dgm:pt modelId="{DF491D29-0BB8-4F2B-864C-56EAFD1E8A5F}" type="pres">
      <dgm:prSet presAssocID="{C5AA0CDD-CF0B-40F5-AEAE-485F32B3CE16}" presName="Name0" presStyleCnt="0">
        <dgm:presLayoutVars>
          <dgm:dir/>
          <dgm:animLvl val="lvl"/>
          <dgm:resizeHandles val="exact"/>
        </dgm:presLayoutVars>
      </dgm:prSet>
      <dgm:spPr/>
    </dgm:pt>
    <dgm:pt modelId="{21222314-ED32-447F-9FB8-8A2B7C5067FD}" type="pres">
      <dgm:prSet presAssocID="{684874A4-4186-4DE6-8F4A-D246D91D6376}" presName="composite" presStyleCnt="0"/>
      <dgm:spPr/>
    </dgm:pt>
    <dgm:pt modelId="{5B145AC3-F7DC-483A-A883-028ED15395EE}" type="pres">
      <dgm:prSet presAssocID="{684874A4-4186-4DE6-8F4A-D246D91D6376}" presName="parTx" presStyleLbl="alignNode1" presStyleIdx="0" presStyleCnt="2">
        <dgm:presLayoutVars>
          <dgm:chMax val="0"/>
          <dgm:chPref val="0"/>
          <dgm:bulletEnabled val="1"/>
        </dgm:presLayoutVars>
      </dgm:prSet>
      <dgm:spPr/>
    </dgm:pt>
    <dgm:pt modelId="{323C5598-FB50-4123-BFDB-A5323AEAA37F}" type="pres">
      <dgm:prSet presAssocID="{684874A4-4186-4DE6-8F4A-D246D91D6376}" presName="desTx" presStyleLbl="alignAccFollowNode1" presStyleIdx="0" presStyleCnt="2">
        <dgm:presLayoutVars>
          <dgm:bulletEnabled val="1"/>
        </dgm:presLayoutVars>
      </dgm:prSet>
      <dgm:spPr/>
    </dgm:pt>
    <dgm:pt modelId="{0E7BB101-3AAB-4418-BC70-F3199BAB64DC}" type="pres">
      <dgm:prSet presAssocID="{45EDE3B4-F944-4119-9ADA-16CE38167A67}" presName="space" presStyleCnt="0"/>
      <dgm:spPr/>
    </dgm:pt>
    <dgm:pt modelId="{E6B9BCD3-E990-4E74-ABBE-F3C7D31DB5C6}" type="pres">
      <dgm:prSet presAssocID="{DC728C47-6DCA-4A43-B432-DA2FED3574F2}" presName="composite" presStyleCnt="0"/>
      <dgm:spPr/>
    </dgm:pt>
    <dgm:pt modelId="{8E13762A-9BAA-4B9D-A25F-DC80B6DCF954}" type="pres">
      <dgm:prSet presAssocID="{DC728C47-6DCA-4A43-B432-DA2FED3574F2}" presName="parTx" presStyleLbl="alignNode1" presStyleIdx="1" presStyleCnt="2">
        <dgm:presLayoutVars>
          <dgm:chMax val="0"/>
          <dgm:chPref val="0"/>
          <dgm:bulletEnabled val="1"/>
        </dgm:presLayoutVars>
      </dgm:prSet>
      <dgm:spPr/>
    </dgm:pt>
    <dgm:pt modelId="{0072B562-0B41-4E7F-9CD6-CE9BD83E9A5F}" type="pres">
      <dgm:prSet presAssocID="{DC728C47-6DCA-4A43-B432-DA2FED3574F2}" presName="desTx" presStyleLbl="alignAccFollowNode1" presStyleIdx="1" presStyleCnt="2">
        <dgm:presLayoutVars>
          <dgm:bulletEnabled val="1"/>
        </dgm:presLayoutVars>
      </dgm:prSet>
      <dgm:spPr/>
    </dgm:pt>
  </dgm:ptLst>
  <dgm:cxnLst>
    <dgm:cxn modelId="{D9061600-782D-412A-9D54-E85C72682649}" type="presOf" srcId="{DC728C47-6DCA-4A43-B432-DA2FED3574F2}" destId="{8E13762A-9BAA-4B9D-A25F-DC80B6DCF954}" srcOrd="0" destOrd="0" presId="urn:microsoft.com/office/officeart/2005/8/layout/hList1"/>
    <dgm:cxn modelId="{0A4E8203-9EAB-40A8-AF23-C32C31D812BF}" type="presOf" srcId="{BA3E741F-9943-4379-814C-7CCF29A5EA78}" destId="{323C5598-FB50-4123-BFDB-A5323AEAA37F}" srcOrd="0" destOrd="0" presId="urn:microsoft.com/office/officeart/2005/8/layout/hList1"/>
    <dgm:cxn modelId="{D0CB700C-322B-4377-B624-2504BBA112D1}" srcId="{DC728C47-6DCA-4A43-B432-DA2FED3574F2}" destId="{098F52D2-D695-4E2E-932A-13A29A63138C}" srcOrd="2" destOrd="0" parTransId="{CB489C68-2F9E-41C4-8EDF-9C3E4783E6D4}" sibTransId="{807870C6-17A7-4B59-AEA7-08C9119815DF}"/>
    <dgm:cxn modelId="{D980E329-57BF-4227-8494-22AE155CC1EA}" srcId="{684874A4-4186-4DE6-8F4A-D246D91D6376}" destId="{BA3E741F-9943-4379-814C-7CCF29A5EA78}" srcOrd="0" destOrd="0" parTransId="{74D3FEB4-57EF-4FD8-8F18-AD96477D2CDC}" sibTransId="{00057AD3-F719-473A-B343-04FD38832397}"/>
    <dgm:cxn modelId="{C525752E-4823-4BE1-BC70-16A0D3B11B0A}" type="presOf" srcId="{C5AA0CDD-CF0B-40F5-AEAE-485F32B3CE16}" destId="{DF491D29-0BB8-4F2B-864C-56EAFD1E8A5F}" srcOrd="0" destOrd="0" presId="urn:microsoft.com/office/officeart/2005/8/layout/hList1"/>
    <dgm:cxn modelId="{60F44E32-4318-427C-95CE-B1A17CAC66B7}" srcId="{C5AA0CDD-CF0B-40F5-AEAE-485F32B3CE16}" destId="{684874A4-4186-4DE6-8F4A-D246D91D6376}" srcOrd="0" destOrd="0" parTransId="{4F570EC6-C740-4585-8ED8-FBCF716540A3}" sibTransId="{45EDE3B4-F944-4119-9ADA-16CE38167A67}"/>
    <dgm:cxn modelId="{D64A5C38-290C-45E0-9A07-AA8407A4A3E2}" type="presOf" srcId="{098F52D2-D695-4E2E-932A-13A29A63138C}" destId="{0072B562-0B41-4E7F-9CD6-CE9BD83E9A5F}" srcOrd="0" destOrd="2" presId="urn:microsoft.com/office/officeart/2005/8/layout/hList1"/>
    <dgm:cxn modelId="{B147C44A-0448-42C9-85E4-0FB35C8BCFEF}" srcId="{DC728C47-6DCA-4A43-B432-DA2FED3574F2}" destId="{299697C5-3892-4768-BB0D-CC7FF1DF5BAF}" srcOrd="3" destOrd="0" parTransId="{A08FBF8F-FF35-4DA9-B883-28DDBF1AAE13}" sibTransId="{ECD19D76-07E3-411A-B959-59F716EB3F43}"/>
    <dgm:cxn modelId="{5A88F171-55DB-4EF9-876D-020936040205}" type="presOf" srcId="{569B03AA-7E3A-46B5-8186-7C1D05158433}" destId="{0072B562-0B41-4E7F-9CD6-CE9BD83E9A5F}" srcOrd="0" destOrd="1" presId="urn:microsoft.com/office/officeart/2005/8/layout/hList1"/>
    <dgm:cxn modelId="{610B1755-FC47-48B9-960B-DB21F668401B}" srcId="{DC728C47-6DCA-4A43-B432-DA2FED3574F2}" destId="{569B03AA-7E3A-46B5-8186-7C1D05158433}" srcOrd="1" destOrd="0" parTransId="{CA3C996D-4BD3-4FF8-B780-FB8879A5FFEE}" sibTransId="{FE30C2A9-4DD7-4FFD-9F16-911D88E76E1B}"/>
    <dgm:cxn modelId="{75314780-3106-491E-BED5-186B0812CA31}" type="presOf" srcId="{63F670BA-D06C-48A1-A2F5-F703B35EB7E9}" destId="{323C5598-FB50-4123-BFDB-A5323AEAA37F}" srcOrd="0" destOrd="2" presId="urn:microsoft.com/office/officeart/2005/8/layout/hList1"/>
    <dgm:cxn modelId="{424F0C9B-68C9-49EB-9543-DEF6C879EC2E}" srcId="{DC728C47-6DCA-4A43-B432-DA2FED3574F2}" destId="{1209ECE9-EBC3-4B26-B33B-3981811EA19A}" srcOrd="0" destOrd="0" parTransId="{27727550-40B1-4A1A-A412-33285F90D7AD}" sibTransId="{37370FA1-B8DD-4117-A60B-AFED0A4DE61B}"/>
    <dgm:cxn modelId="{F713589E-479D-492C-B956-BB582E0CD02C}" srcId="{C5AA0CDD-CF0B-40F5-AEAE-485F32B3CE16}" destId="{DC728C47-6DCA-4A43-B432-DA2FED3574F2}" srcOrd="1" destOrd="0" parTransId="{42FEBFA6-AC3A-49B5-9D18-EA930E206ADF}" sibTransId="{88CA0002-E0AB-4E9A-AABD-918C5CB1E50D}"/>
    <dgm:cxn modelId="{4E133AA6-FB95-4B3E-A404-5E8841C9B51E}" srcId="{684874A4-4186-4DE6-8F4A-D246D91D6376}" destId="{63F670BA-D06C-48A1-A2F5-F703B35EB7E9}" srcOrd="2" destOrd="0" parTransId="{5CD795A5-5065-4D0D-967C-267D0762B461}" sibTransId="{269E3205-137B-4E08-A2E4-08E7FD0F91BC}"/>
    <dgm:cxn modelId="{90C5B3B4-2529-49BA-9712-816F31A8F26A}" type="presOf" srcId="{684874A4-4186-4DE6-8F4A-D246D91D6376}" destId="{5B145AC3-F7DC-483A-A883-028ED15395EE}" srcOrd="0" destOrd="0" presId="urn:microsoft.com/office/officeart/2005/8/layout/hList1"/>
    <dgm:cxn modelId="{D3D504B8-12AD-4771-BC5E-A0B198AB2C44}" type="presOf" srcId="{1209ECE9-EBC3-4B26-B33B-3981811EA19A}" destId="{0072B562-0B41-4E7F-9CD6-CE9BD83E9A5F}" srcOrd="0" destOrd="0" presId="urn:microsoft.com/office/officeart/2005/8/layout/hList1"/>
    <dgm:cxn modelId="{BADD99D5-257D-4786-BA0F-BCCB85EBEFC2}" type="presOf" srcId="{299697C5-3892-4768-BB0D-CC7FF1DF5BAF}" destId="{0072B562-0B41-4E7F-9CD6-CE9BD83E9A5F}" srcOrd="0" destOrd="3" presId="urn:microsoft.com/office/officeart/2005/8/layout/hList1"/>
    <dgm:cxn modelId="{9F55BBF7-21BD-4AB1-A551-746AB51012D8}" type="presOf" srcId="{5F18BF7D-AEB4-4DAB-AA50-4F4B7CD0CF4C}" destId="{323C5598-FB50-4123-BFDB-A5323AEAA37F}" srcOrd="0" destOrd="1" presId="urn:microsoft.com/office/officeart/2005/8/layout/hList1"/>
    <dgm:cxn modelId="{762A5DF8-C6F9-4777-87B6-2B32C617A4D3}" srcId="{684874A4-4186-4DE6-8F4A-D246D91D6376}" destId="{5F18BF7D-AEB4-4DAB-AA50-4F4B7CD0CF4C}" srcOrd="1" destOrd="0" parTransId="{F5513D64-33FE-4D55-9DF9-0DDB47309A2E}" sibTransId="{2B449773-9314-444B-B7B4-B779AF63DB32}"/>
    <dgm:cxn modelId="{1D83FEFF-DC3E-4220-8317-B1E7A006C530}" type="presParOf" srcId="{DF491D29-0BB8-4F2B-864C-56EAFD1E8A5F}" destId="{21222314-ED32-447F-9FB8-8A2B7C5067FD}" srcOrd="0" destOrd="0" presId="urn:microsoft.com/office/officeart/2005/8/layout/hList1"/>
    <dgm:cxn modelId="{116B4F21-CE2E-40AF-92C5-F3E6B53B8961}" type="presParOf" srcId="{21222314-ED32-447F-9FB8-8A2B7C5067FD}" destId="{5B145AC3-F7DC-483A-A883-028ED15395EE}" srcOrd="0" destOrd="0" presId="urn:microsoft.com/office/officeart/2005/8/layout/hList1"/>
    <dgm:cxn modelId="{E847C396-05B6-42EB-A95E-5ACA63265047}" type="presParOf" srcId="{21222314-ED32-447F-9FB8-8A2B7C5067FD}" destId="{323C5598-FB50-4123-BFDB-A5323AEAA37F}" srcOrd="1" destOrd="0" presId="urn:microsoft.com/office/officeart/2005/8/layout/hList1"/>
    <dgm:cxn modelId="{368C1E55-D85F-40E1-B109-681CF6CEAC58}" type="presParOf" srcId="{DF491D29-0BB8-4F2B-864C-56EAFD1E8A5F}" destId="{0E7BB101-3AAB-4418-BC70-F3199BAB64DC}" srcOrd="1" destOrd="0" presId="urn:microsoft.com/office/officeart/2005/8/layout/hList1"/>
    <dgm:cxn modelId="{990F8E4A-749A-4F31-894E-04A838F49FEF}" type="presParOf" srcId="{DF491D29-0BB8-4F2B-864C-56EAFD1E8A5F}" destId="{E6B9BCD3-E990-4E74-ABBE-F3C7D31DB5C6}" srcOrd="2" destOrd="0" presId="urn:microsoft.com/office/officeart/2005/8/layout/hList1"/>
    <dgm:cxn modelId="{6E63CC93-CA36-45E2-BB18-F978482FC563}" type="presParOf" srcId="{E6B9BCD3-E990-4E74-ABBE-F3C7D31DB5C6}" destId="{8E13762A-9BAA-4B9D-A25F-DC80B6DCF954}" srcOrd="0" destOrd="0" presId="urn:microsoft.com/office/officeart/2005/8/layout/hList1"/>
    <dgm:cxn modelId="{CFE7804A-F6AE-4FAE-A837-30BD811EB12A}" type="presParOf" srcId="{E6B9BCD3-E990-4E74-ABBE-F3C7D31DB5C6}" destId="{0072B562-0B41-4E7F-9CD6-CE9BD83E9A5F}"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41E8E3-F2DC-48FE-B8DB-BABB55C4BAF1}">
      <dsp:nvSpPr>
        <dsp:cNvPr id="0" name=""/>
        <dsp:cNvSpPr/>
      </dsp:nvSpPr>
      <dsp:spPr>
        <a:xfrm>
          <a:off x="138589" y="659421"/>
          <a:ext cx="2960886" cy="2960886"/>
        </a:xfrm>
        <a:prstGeom prst="ellipse">
          <a:avLst/>
        </a:prstGeom>
        <a:gradFill rotWithShape="0">
          <a:gsLst>
            <a:gs pos="0">
              <a:schemeClr val="accent2">
                <a:alpha val="50000"/>
                <a:hueOff val="0"/>
                <a:satOff val="0"/>
                <a:lumOff val="0"/>
                <a:alphaOff val="0"/>
                <a:satMod val="103000"/>
                <a:lumMod val="102000"/>
                <a:tint val="94000"/>
              </a:schemeClr>
            </a:gs>
            <a:gs pos="50000">
              <a:schemeClr val="accent2">
                <a:alpha val="50000"/>
                <a:hueOff val="0"/>
                <a:satOff val="0"/>
                <a:lumOff val="0"/>
                <a:alphaOff val="0"/>
                <a:satMod val="110000"/>
                <a:lumMod val="100000"/>
                <a:shade val="100000"/>
              </a:schemeClr>
            </a:gs>
            <a:gs pos="100000">
              <a:schemeClr val="accent2">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62947" tIns="24130" rIns="162947" bIns="24130" numCol="1" spcCol="1270" anchor="ctr" anchorCtr="0">
          <a:noAutofit/>
        </a:bodyPr>
        <a:lstStyle/>
        <a:p>
          <a:pPr marL="0" lvl="0" indent="0" algn="ctr" defTabSz="844550">
            <a:lnSpc>
              <a:spcPct val="90000"/>
            </a:lnSpc>
            <a:spcBef>
              <a:spcPct val="0"/>
            </a:spcBef>
            <a:spcAft>
              <a:spcPct val="35000"/>
            </a:spcAft>
            <a:buNone/>
          </a:pPr>
          <a:r>
            <a:rPr lang="en-US" sz="1900" kern="1200"/>
            <a:t>1 </a:t>
          </a:r>
        </a:p>
        <a:p>
          <a:pPr marL="0" lvl="0" indent="0" algn="ctr" defTabSz="844550">
            <a:lnSpc>
              <a:spcPct val="90000"/>
            </a:lnSpc>
            <a:spcBef>
              <a:spcPct val="0"/>
            </a:spcBef>
            <a:spcAft>
              <a:spcPct val="35000"/>
            </a:spcAft>
            <a:buNone/>
          </a:pPr>
          <a:r>
            <a:rPr lang="en-US" sz="1900" kern="1200" err="1"/>
            <a:t>Analyse</a:t>
          </a:r>
          <a:r>
            <a:rPr lang="en-US" sz="1900" kern="1200"/>
            <a:t> financière</a:t>
          </a:r>
        </a:p>
      </dsp:txBody>
      <dsp:txXfrm>
        <a:off x="572201" y="1093033"/>
        <a:ext cx="2093662" cy="2093662"/>
      </dsp:txXfrm>
    </dsp:sp>
    <dsp:sp modelId="{33DBD6BB-86A1-43F1-83DE-D3B264E5AF3B}">
      <dsp:nvSpPr>
        <dsp:cNvPr id="0" name=""/>
        <dsp:cNvSpPr/>
      </dsp:nvSpPr>
      <dsp:spPr>
        <a:xfrm>
          <a:off x="2371660" y="652551"/>
          <a:ext cx="2960886" cy="2960886"/>
        </a:xfrm>
        <a:prstGeom prst="ellipse">
          <a:avLst/>
        </a:prstGeom>
        <a:gradFill rotWithShape="0">
          <a:gsLst>
            <a:gs pos="0">
              <a:schemeClr val="accent3">
                <a:alpha val="50000"/>
                <a:hueOff val="0"/>
                <a:satOff val="0"/>
                <a:lumOff val="0"/>
                <a:alphaOff val="0"/>
                <a:satMod val="103000"/>
                <a:lumMod val="102000"/>
                <a:tint val="94000"/>
              </a:schemeClr>
            </a:gs>
            <a:gs pos="50000">
              <a:schemeClr val="accent3">
                <a:alpha val="50000"/>
                <a:hueOff val="0"/>
                <a:satOff val="0"/>
                <a:lumOff val="0"/>
                <a:alphaOff val="0"/>
                <a:satMod val="110000"/>
                <a:lumMod val="100000"/>
                <a:shade val="100000"/>
              </a:schemeClr>
            </a:gs>
            <a:gs pos="100000">
              <a:schemeClr val="accent3">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62947" tIns="24130" rIns="162947" bIns="24130" numCol="1" spcCol="1270" anchor="ctr" anchorCtr="0">
          <a:noAutofit/>
        </a:bodyPr>
        <a:lstStyle/>
        <a:p>
          <a:pPr marL="0" lvl="0" indent="0" algn="ctr" defTabSz="844550">
            <a:lnSpc>
              <a:spcPct val="90000"/>
            </a:lnSpc>
            <a:spcBef>
              <a:spcPct val="0"/>
            </a:spcBef>
            <a:spcAft>
              <a:spcPct val="35000"/>
            </a:spcAft>
            <a:buNone/>
          </a:pPr>
          <a:r>
            <a:rPr lang="en-US" sz="1900" kern="1200"/>
            <a:t> 2</a:t>
          </a:r>
          <a:br>
            <a:rPr lang="en-US" sz="1900" kern="1200"/>
          </a:br>
          <a:r>
            <a:rPr lang="en-US" sz="1900" kern="1200" err="1"/>
            <a:t>Analyse</a:t>
          </a:r>
          <a:r>
            <a:rPr lang="en-US" sz="1900" kern="1200"/>
            <a:t> quantitative de </a:t>
          </a:r>
          <a:r>
            <a:rPr lang="en-US" sz="1900" kern="1200" err="1"/>
            <a:t>l’option</a:t>
          </a:r>
          <a:r>
            <a:rPr lang="en-US" sz="1900" kern="1200"/>
            <a:t> </a:t>
          </a:r>
          <a:r>
            <a:rPr lang="en-US" sz="1900" kern="1200" err="1"/>
            <a:t>ppp</a:t>
          </a:r>
          <a:r>
            <a:rPr lang="en-US" sz="1900" kern="1200"/>
            <a:t> </a:t>
          </a:r>
          <a:r>
            <a:rPr lang="en-US" sz="1900" kern="1200" err="1"/>
            <a:t>déchets</a:t>
          </a:r>
          <a:r>
            <a:rPr lang="en-US" sz="1900" kern="1200"/>
            <a:t> </a:t>
          </a:r>
          <a:r>
            <a:rPr lang="en-US" sz="1900" kern="1200" err="1"/>
            <a:t>organiques</a:t>
          </a:r>
          <a:endParaRPr lang="en-US" sz="1900" kern="1200"/>
        </a:p>
      </dsp:txBody>
      <dsp:txXfrm>
        <a:off x="2805272" y="1086163"/>
        <a:ext cx="2093662" cy="2093662"/>
      </dsp:txXfrm>
    </dsp:sp>
    <dsp:sp modelId="{E8C547DD-E668-4A3C-829E-AF9075B83A2E}">
      <dsp:nvSpPr>
        <dsp:cNvPr id="0" name=""/>
        <dsp:cNvSpPr/>
      </dsp:nvSpPr>
      <dsp:spPr>
        <a:xfrm>
          <a:off x="4676224" y="630789"/>
          <a:ext cx="2960886" cy="2960886"/>
        </a:xfrm>
        <a:prstGeom prst="ellipse">
          <a:avLst/>
        </a:prstGeom>
        <a:gradFill rotWithShape="0">
          <a:gsLst>
            <a:gs pos="0">
              <a:schemeClr val="accent4">
                <a:alpha val="50000"/>
                <a:hueOff val="0"/>
                <a:satOff val="0"/>
                <a:lumOff val="0"/>
                <a:alphaOff val="0"/>
                <a:satMod val="103000"/>
                <a:lumMod val="102000"/>
                <a:tint val="94000"/>
              </a:schemeClr>
            </a:gs>
            <a:gs pos="50000">
              <a:schemeClr val="accent4">
                <a:alpha val="50000"/>
                <a:hueOff val="0"/>
                <a:satOff val="0"/>
                <a:lumOff val="0"/>
                <a:alphaOff val="0"/>
                <a:satMod val="110000"/>
                <a:lumMod val="100000"/>
                <a:shade val="100000"/>
              </a:schemeClr>
            </a:gs>
            <a:gs pos="100000">
              <a:schemeClr val="accent4">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62947" tIns="24130" rIns="162947" bIns="24130" numCol="1" spcCol="1270" anchor="ctr" anchorCtr="0">
          <a:noAutofit/>
        </a:bodyPr>
        <a:lstStyle/>
        <a:p>
          <a:pPr marL="0" lvl="0" indent="0" algn="ctr" defTabSz="844550">
            <a:lnSpc>
              <a:spcPct val="90000"/>
            </a:lnSpc>
            <a:spcBef>
              <a:spcPct val="0"/>
            </a:spcBef>
            <a:spcAft>
              <a:spcPct val="35000"/>
            </a:spcAft>
            <a:buNone/>
          </a:pPr>
          <a:r>
            <a:rPr lang="en-US" sz="1900" kern="1200"/>
            <a:t>3</a:t>
          </a:r>
        </a:p>
        <a:p>
          <a:pPr marL="0" lvl="0" indent="0" algn="ctr" defTabSz="844550">
            <a:lnSpc>
              <a:spcPct val="90000"/>
            </a:lnSpc>
            <a:spcBef>
              <a:spcPct val="0"/>
            </a:spcBef>
            <a:spcAft>
              <a:spcPct val="35000"/>
            </a:spcAft>
            <a:buNone/>
          </a:pPr>
          <a:r>
            <a:rPr lang="en-US" sz="1900" kern="1200" err="1"/>
            <a:t>Analyse</a:t>
          </a:r>
          <a:r>
            <a:rPr lang="en-US" sz="1900" kern="1200"/>
            <a:t> qualitative</a:t>
          </a:r>
        </a:p>
      </dsp:txBody>
      <dsp:txXfrm>
        <a:off x="5109836" y="1064401"/>
        <a:ext cx="2093662" cy="2093662"/>
      </dsp:txXfrm>
    </dsp:sp>
    <dsp:sp modelId="{3BB575B8-3736-4137-85B7-BEE4CA0D5803}">
      <dsp:nvSpPr>
        <dsp:cNvPr id="0" name=""/>
        <dsp:cNvSpPr/>
      </dsp:nvSpPr>
      <dsp:spPr>
        <a:xfrm>
          <a:off x="7109078" y="652551"/>
          <a:ext cx="2960886" cy="2960886"/>
        </a:xfrm>
        <a:prstGeom prst="ellipse">
          <a:avLst/>
        </a:prstGeom>
        <a:gradFill rotWithShape="0">
          <a:gsLst>
            <a:gs pos="0">
              <a:schemeClr val="accent5">
                <a:alpha val="50000"/>
                <a:hueOff val="0"/>
                <a:satOff val="0"/>
                <a:lumOff val="0"/>
                <a:alphaOff val="0"/>
                <a:satMod val="103000"/>
                <a:lumMod val="102000"/>
                <a:tint val="94000"/>
              </a:schemeClr>
            </a:gs>
            <a:gs pos="50000">
              <a:schemeClr val="accent5">
                <a:alpha val="50000"/>
                <a:hueOff val="0"/>
                <a:satOff val="0"/>
                <a:lumOff val="0"/>
                <a:alphaOff val="0"/>
                <a:satMod val="110000"/>
                <a:lumMod val="100000"/>
                <a:shade val="100000"/>
              </a:schemeClr>
            </a:gs>
            <a:gs pos="100000">
              <a:schemeClr val="accent5">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62947" tIns="24130" rIns="162947" bIns="24130" numCol="1" spcCol="1270" anchor="ctr" anchorCtr="0">
          <a:noAutofit/>
        </a:bodyPr>
        <a:lstStyle/>
        <a:p>
          <a:pPr marL="0" lvl="0" indent="0" algn="ctr" defTabSz="844550">
            <a:lnSpc>
              <a:spcPct val="90000"/>
            </a:lnSpc>
            <a:spcBef>
              <a:spcPct val="0"/>
            </a:spcBef>
            <a:spcAft>
              <a:spcPct val="35000"/>
            </a:spcAft>
            <a:buNone/>
          </a:pPr>
          <a:r>
            <a:rPr lang="en-US" sz="1900" kern="1200"/>
            <a:t>4 </a:t>
          </a:r>
          <a:br>
            <a:rPr lang="en-US" sz="1900" kern="1200"/>
          </a:br>
          <a:r>
            <a:rPr lang="en-US" sz="1900" kern="1200" err="1"/>
            <a:t>Recommandation</a:t>
          </a:r>
          <a:r>
            <a:rPr lang="en-US" sz="1900" kern="1200"/>
            <a:t> sur </a:t>
          </a:r>
          <a:r>
            <a:rPr lang="en-US" sz="1900" kern="1200" err="1"/>
            <a:t>l’option</a:t>
          </a:r>
          <a:endParaRPr lang="en-US" sz="1900" kern="1200"/>
        </a:p>
      </dsp:txBody>
      <dsp:txXfrm>
        <a:off x="7542690" y="1086163"/>
        <a:ext cx="2093662" cy="20936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F2E0E6-56A5-4996-818F-CF864117C20C}">
      <dsp:nvSpPr>
        <dsp:cNvPr id="0" name=""/>
        <dsp:cNvSpPr/>
      </dsp:nvSpPr>
      <dsp:spPr>
        <a:xfrm rot="5400000">
          <a:off x="6301587" y="-2303662"/>
          <a:ext cx="1698041"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fr-CA" sz="2400" kern="1200"/>
            <a:t>Certains investissements sont récupérés en fin de projet</a:t>
          </a:r>
          <a:endParaRPr lang="en-US" sz="2400" kern="1200"/>
        </a:p>
        <a:p>
          <a:pPr marL="457200" lvl="2" indent="-228600" algn="l" defTabSz="1066800">
            <a:lnSpc>
              <a:spcPct val="90000"/>
            </a:lnSpc>
            <a:spcBef>
              <a:spcPct val="0"/>
            </a:spcBef>
            <a:spcAft>
              <a:spcPct val="15000"/>
            </a:spcAft>
            <a:buChar char="•"/>
          </a:pPr>
          <a:r>
            <a:rPr lang="fr-CA" sz="2400" i="1" kern="1200"/>
            <a:t>Exemple: augmentation du fonds de roulement pour la durée du projet.</a:t>
          </a:r>
          <a:endParaRPr lang="en-US" sz="2400" kern="1200"/>
        </a:p>
      </dsp:txBody>
      <dsp:txXfrm rot="-5400000">
        <a:off x="3785616" y="295201"/>
        <a:ext cx="6647092" cy="1532257"/>
      </dsp:txXfrm>
    </dsp:sp>
    <dsp:sp modelId="{338665DA-CB21-47C4-864E-9A76C025BBB3}">
      <dsp:nvSpPr>
        <dsp:cNvPr id="0" name=""/>
        <dsp:cNvSpPr/>
      </dsp:nvSpPr>
      <dsp:spPr>
        <a:xfrm>
          <a:off x="0" y="53"/>
          <a:ext cx="3785616" cy="21225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66675" rIns="133350" bIns="66675" numCol="1" spcCol="1270" anchor="ctr" anchorCtr="0">
          <a:noAutofit/>
        </a:bodyPr>
        <a:lstStyle/>
        <a:p>
          <a:pPr marL="0" lvl="0" indent="0" algn="ctr" defTabSz="1555750">
            <a:lnSpc>
              <a:spcPct val="90000"/>
            </a:lnSpc>
            <a:spcBef>
              <a:spcPct val="0"/>
            </a:spcBef>
            <a:spcAft>
              <a:spcPct val="35000"/>
            </a:spcAft>
            <a:buNone/>
          </a:pPr>
          <a:r>
            <a:rPr lang="fr-CA" sz="3500" kern="1200"/>
            <a:t>Récupération d’investissement</a:t>
          </a:r>
          <a:endParaRPr lang="en-US" sz="3500" kern="1200"/>
        </a:p>
      </dsp:txBody>
      <dsp:txXfrm>
        <a:off x="103614" y="103667"/>
        <a:ext cx="3578388" cy="1915324"/>
      </dsp:txXfrm>
    </dsp:sp>
    <dsp:sp modelId="{D3E44C3D-B0F4-4FF8-8C02-FA80BD618867}">
      <dsp:nvSpPr>
        <dsp:cNvPr id="0" name=""/>
        <dsp:cNvSpPr/>
      </dsp:nvSpPr>
      <dsp:spPr>
        <a:xfrm rot="5400000">
          <a:off x="6301587" y="-74983"/>
          <a:ext cx="1698041"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fr-CA" sz="2400" kern="1200"/>
            <a:t>Taux d’actualisation (CMPC + prime de risque)</a:t>
          </a:r>
          <a:endParaRPr lang="en-US" sz="2400" kern="1200"/>
        </a:p>
        <a:p>
          <a:pPr marL="228600" lvl="1" indent="-228600" algn="l" defTabSz="1066800">
            <a:lnSpc>
              <a:spcPct val="90000"/>
            </a:lnSpc>
            <a:spcBef>
              <a:spcPct val="0"/>
            </a:spcBef>
            <a:spcAft>
              <a:spcPct val="15000"/>
            </a:spcAft>
            <a:buChar char="•"/>
          </a:pPr>
          <a:r>
            <a:rPr lang="fr-CA" sz="2400" kern="1200"/>
            <a:t>Valeur résiduelle</a:t>
          </a:r>
          <a:endParaRPr lang="en-US" sz="2400" kern="1200"/>
        </a:p>
        <a:p>
          <a:pPr marL="228600" lvl="1" indent="-228600" algn="l" defTabSz="1066800">
            <a:lnSpc>
              <a:spcPct val="90000"/>
            </a:lnSpc>
            <a:spcBef>
              <a:spcPct val="0"/>
            </a:spcBef>
            <a:spcAft>
              <a:spcPct val="15000"/>
            </a:spcAft>
            <a:buChar char="•"/>
          </a:pPr>
          <a:r>
            <a:rPr lang="fr-CA" sz="2400" kern="1200"/>
            <a:t>Taux d’impôt</a:t>
          </a:r>
          <a:endParaRPr lang="en-US" sz="2400" kern="1200"/>
        </a:p>
      </dsp:txBody>
      <dsp:txXfrm rot="-5400000">
        <a:off x="3785616" y="2523880"/>
        <a:ext cx="6647092" cy="1532257"/>
      </dsp:txXfrm>
    </dsp:sp>
    <dsp:sp modelId="{A5176E63-2609-4DA5-B47A-2D3D7C2F8573}">
      <dsp:nvSpPr>
        <dsp:cNvPr id="0" name=""/>
        <dsp:cNvSpPr/>
      </dsp:nvSpPr>
      <dsp:spPr>
        <a:xfrm>
          <a:off x="0" y="2228732"/>
          <a:ext cx="3785616" cy="21225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66675" rIns="133350" bIns="66675" numCol="1" spcCol="1270" anchor="ctr" anchorCtr="0">
          <a:noAutofit/>
        </a:bodyPr>
        <a:lstStyle/>
        <a:p>
          <a:pPr marL="0" lvl="0" indent="0" algn="ctr" defTabSz="1555750">
            <a:lnSpc>
              <a:spcPct val="90000"/>
            </a:lnSpc>
            <a:spcBef>
              <a:spcPct val="0"/>
            </a:spcBef>
            <a:spcAft>
              <a:spcPct val="35000"/>
            </a:spcAft>
            <a:buNone/>
          </a:pPr>
          <a:r>
            <a:rPr lang="fr-CA" sz="3500" kern="1200"/>
            <a:t>Nécessite souvent de faire certaines hypothèses :</a:t>
          </a:r>
          <a:endParaRPr lang="en-US" sz="3500" kern="1200"/>
        </a:p>
      </dsp:txBody>
      <dsp:txXfrm>
        <a:off x="103614" y="2332346"/>
        <a:ext cx="3578388" cy="19153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222925-6FC5-48ED-8EE5-DAFF8AFA6CAE}">
      <dsp:nvSpPr>
        <dsp:cNvPr id="0" name=""/>
        <dsp:cNvSpPr/>
      </dsp:nvSpPr>
      <dsp:spPr>
        <a:xfrm>
          <a:off x="0" y="24246"/>
          <a:ext cx="6364224" cy="11536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fr-CA" sz="2900" kern="1200" dirty="0"/>
            <a:t>Les charges qui n’entraîne pas d’entrée ou de sortie de fonds </a:t>
          </a:r>
          <a:endParaRPr lang="en-US" sz="2900" kern="1200" dirty="0"/>
        </a:p>
      </dsp:txBody>
      <dsp:txXfrm>
        <a:off x="56315" y="80561"/>
        <a:ext cx="6251594" cy="1040990"/>
      </dsp:txXfrm>
    </dsp:sp>
    <dsp:sp modelId="{FCF2B44F-5F81-47B4-B3C1-956AE523752A}">
      <dsp:nvSpPr>
        <dsp:cNvPr id="0" name=""/>
        <dsp:cNvSpPr/>
      </dsp:nvSpPr>
      <dsp:spPr>
        <a:xfrm>
          <a:off x="0" y="1177866"/>
          <a:ext cx="6364224" cy="1200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064"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fr-CA" sz="2300" kern="1200"/>
            <a:t>Amortissement</a:t>
          </a:r>
          <a:endParaRPr lang="en-US" sz="2300" kern="1200"/>
        </a:p>
        <a:p>
          <a:pPr marL="228600" lvl="1" indent="-228600" algn="l" defTabSz="1022350">
            <a:lnSpc>
              <a:spcPct val="90000"/>
            </a:lnSpc>
            <a:spcBef>
              <a:spcPct val="0"/>
            </a:spcBef>
            <a:spcAft>
              <a:spcPct val="20000"/>
            </a:spcAft>
            <a:buChar char="•"/>
          </a:pPr>
          <a:r>
            <a:rPr lang="fr-CA" sz="2300" kern="1200"/>
            <a:t>Charge pour mauvaises créances</a:t>
          </a:r>
          <a:endParaRPr lang="en-US" sz="2300" kern="1200"/>
        </a:p>
        <a:p>
          <a:pPr marL="228600" lvl="1" indent="-228600" algn="l" defTabSz="1022350">
            <a:lnSpc>
              <a:spcPct val="90000"/>
            </a:lnSpc>
            <a:spcBef>
              <a:spcPct val="0"/>
            </a:spcBef>
            <a:spcAft>
              <a:spcPct val="20000"/>
            </a:spcAft>
            <a:buChar char="•"/>
          </a:pPr>
          <a:r>
            <a:rPr lang="fr-CA" sz="2300" kern="1200"/>
            <a:t>Gain/perte sur cession d’immobilisation</a:t>
          </a:r>
          <a:endParaRPr lang="en-US" sz="2300" kern="1200"/>
        </a:p>
      </dsp:txBody>
      <dsp:txXfrm>
        <a:off x="0" y="1177866"/>
        <a:ext cx="6364224" cy="1200599"/>
      </dsp:txXfrm>
    </dsp:sp>
    <dsp:sp modelId="{533E1ECB-082D-45AC-9B76-9C5A1565C4EF}">
      <dsp:nvSpPr>
        <dsp:cNvPr id="0" name=""/>
        <dsp:cNvSpPr/>
      </dsp:nvSpPr>
      <dsp:spPr>
        <a:xfrm>
          <a:off x="0" y="2378466"/>
          <a:ext cx="6364224" cy="1153620"/>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fr-CA" sz="2900" kern="1200"/>
            <a:t>Les coûts reliés au financement du projet</a:t>
          </a:r>
          <a:endParaRPr lang="en-US" sz="2900" kern="1200"/>
        </a:p>
      </dsp:txBody>
      <dsp:txXfrm>
        <a:off x="56315" y="2434781"/>
        <a:ext cx="6251594" cy="1040990"/>
      </dsp:txXfrm>
    </dsp:sp>
    <dsp:sp modelId="{1C113977-21F9-45C5-9F42-8AED75048AE9}">
      <dsp:nvSpPr>
        <dsp:cNvPr id="0" name=""/>
        <dsp:cNvSpPr/>
      </dsp:nvSpPr>
      <dsp:spPr>
        <a:xfrm>
          <a:off x="0" y="3615606"/>
          <a:ext cx="6364224" cy="115362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fr-CA" sz="2900" kern="1200"/>
            <a:t>Tous les flux de trésoreries qui ne sont pas liés au projet analysé</a:t>
          </a:r>
          <a:endParaRPr lang="en-US" sz="2900" kern="1200"/>
        </a:p>
      </dsp:txBody>
      <dsp:txXfrm>
        <a:off x="56315" y="3671921"/>
        <a:ext cx="6251594" cy="1040990"/>
      </dsp:txXfrm>
    </dsp:sp>
    <dsp:sp modelId="{E0F002E2-8853-4FC2-B279-78AC8618960E}">
      <dsp:nvSpPr>
        <dsp:cNvPr id="0" name=""/>
        <dsp:cNvSpPr/>
      </dsp:nvSpPr>
      <dsp:spPr>
        <a:xfrm>
          <a:off x="0" y="4769226"/>
          <a:ext cx="6364224" cy="720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064"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fr-CA" sz="2300" kern="1200"/>
            <a:t>Seuls les flux qui sont générés ou évité par le projet sont des coûts pertinents à l’analyse</a:t>
          </a:r>
          <a:endParaRPr lang="en-US" sz="2300" kern="1200"/>
        </a:p>
      </dsp:txBody>
      <dsp:txXfrm>
        <a:off x="0" y="4769226"/>
        <a:ext cx="6364224" cy="7203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145AC3-F7DC-483A-A883-028ED15395EE}">
      <dsp:nvSpPr>
        <dsp:cNvPr id="0" name=""/>
        <dsp:cNvSpPr/>
      </dsp:nvSpPr>
      <dsp:spPr>
        <a:xfrm>
          <a:off x="49" y="255128"/>
          <a:ext cx="4771016" cy="1299935"/>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84480" tIns="162560" rIns="284480" bIns="162560" numCol="1" spcCol="1270" anchor="ctr" anchorCtr="0">
          <a:noAutofit/>
        </a:bodyPr>
        <a:lstStyle/>
        <a:p>
          <a:pPr marL="0" lvl="0" indent="0" algn="ctr" defTabSz="1778000">
            <a:lnSpc>
              <a:spcPct val="90000"/>
            </a:lnSpc>
            <a:spcBef>
              <a:spcPct val="0"/>
            </a:spcBef>
            <a:spcAft>
              <a:spcPct val="35000"/>
            </a:spcAft>
            <a:buNone/>
          </a:pPr>
          <a:r>
            <a:rPr lang="fr-CA" sz="4000" b="1" kern="1200"/>
            <a:t>Option unique</a:t>
          </a:r>
        </a:p>
      </dsp:txBody>
      <dsp:txXfrm>
        <a:off x="49" y="255128"/>
        <a:ext cx="4771016" cy="1299935"/>
      </dsp:txXfrm>
    </dsp:sp>
    <dsp:sp modelId="{323C5598-FB50-4123-BFDB-A5323AEAA37F}">
      <dsp:nvSpPr>
        <dsp:cNvPr id="0" name=""/>
        <dsp:cNvSpPr/>
      </dsp:nvSpPr>
      <dsp:spPr>
        <a:xfrm>
          <a:off x="49" y="1555064"/>
          <a:ext cx="4771016" cy="3608474"/>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r>
            <a:rPr lang="fr-CA" sz="2700" kern="1200"/>
            <a:t>Justification de l’acceptation ou le rejet du projet</a:t>
          </a:r>
        </a:p>
        <a:p>
          <a:pPr marL="228600" lvl="1" indent="-228600" algn="l" defTabSz="1200150">
            <a:lnSpc>
              <a:spcPct val="90000"/>
            </a:lnSpc>
            <a:spcBef>
              <a:spcPct val="0"/>
            </a:spcBef>
            <a:spcAft>
              <a:spcPct val="15000"/>
            </a:spcAft>
            <a:buChar char="•"/>
          </a:pPr>
          <a:r>
            <a:rPr lang="fr-CA" sz="2700" kern="1200"/>
            <a:t>Recommandations claires et étayées</a:t>
          </a:r>
        </a:p>
        <a:p>
          <a:pPr marL="228600" lvl="1" indent="-228600" algn="l" defTabSz="1200150">
            <a:lnSpc>
              <a:spcPct val="90000"/>
            </a:lnSpc>
            <a:spcBef>
              <a:spcPct val="0"/>
            </a:spcBef>
            <a:spcAft>
              <a:spcPct val="15000"/>
            </a:spcAft>
            <a:buChar char="•"/>
          </a:pPr>
          <a:r>
            <a:rPr lang="fr-CA" sz="2700" kern="1200"/>
            <a:t>Mise en œuvre ou mitigation d’un inconvénient</a:t>
          </a:r>
        </a:p>
      </dsp:txBody>
      <dsp:txXfrm>
        <a:off x="49" y="1555064"/>
        <a:ext cx="4771016" cy="3608474"/>
      </dsp:txXfrm>
    </dsp:sp>
    <dsp:sp modelId="{8E13762A-9BAA-4B9D-A25F-DC80B6DCF954}">
      <dsp:nvSpPr>
        <dsp:cNvPr id="0" name=""/>
        <dsp:cNvSpPr/>
      </dsp:nvSpPr>
      <dsp:spPr>
        <a:xfrm>
          <a:off x="5439008" y="255128"/>
          <a:ext cx="4771016" cy="1299935"/>
        </a:xfrm>
        <a:prstGeom prst="rect">
          <a:avLst/>
        </a:prstGeom>
        <a:solidFill>
          <a:schemeClr val="accent4">
            <a:hueOff val="10395692"/>
            <a:satOff val="-47968"/>
            <a:lumOff val="1765"/>
            <a:alphaOff val="0"/>
          </a:schemeClr>
        </a:solidFill>
        <a:ln w="12700" cap="flat" cmpd="sng" algn="ctr">
          <a:solidFill>
            <a:schemeClr val="accent4">
              <a:hueOff val="10395692"/>
              <a:satOff val="-47968"/>
              <a:lumOff val="1765"/>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None/>
          </a:pPr>
          <a:r>
            <a:rPr lang="fr-CA" sz="3600" kern="1200"/>
            <a:t>Options mutuellement exclusives</a:t>
          </a:r>
        </a:p>
      </dsp:txBody>
      <dsp:txXfrm>
        <a:off x="5439008" y="255128"/>
        <a:ext cx="4771016" cy="1299935"/>
      </dsp:txXfrm>
    </dsp:sp>
    <dsp:sp modelId="{0072B562-0B41-4E7F-9CD6-CE9BD83E9A5F}">
      <dsp:nvSpPr>
        <dsp:cNvPr id="0" name=""/>
        <dsp:cNvSpPr/>
      </dsp:nvSpPr>
      <dsp:spPr>
        <a:xfrm>
          <a:off x="5439008" y="1555064"/>
          <a:ext cx="4771016" cy="3608474"/>
        </a:xfrm>
        <a:prstGeom prst="rect">
          <a:avLst/>
        </a:prstGeom>
        <a:solidFill>
          <a:schemeClr val="accent4">
            <a:tint val="40000"/>
            <a:alpha val="90000"/>
            <a:hueOff val="11513918"/>
            <a:satOff val="-61261"/>
            <a:lumOff val="-3490"/>
            <a:alphaOff val="0"/>
          </a:schemeClr>
        </a:solidFill>
        <a:ln w="12700" cap="flat" cmpd="sng" algn="ctr">
          <a:solidFill>
            <a:schemeClr val="accent4">
              <a:tint val="40000"/>
              <a:alpha val="90000"/>
              <a:hueOff val="11513918"/>
              <a:satOff val="-61261"/>
              <a:lumOff val="-349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r>
            <a:rPr lang="fr-CA" sz="2700" kern="1200"/>
            <a:t>Matrice décisionnelle (non requise à l’intra)</a:t>
          </a:r>
        </a:p>
        <a:p>
          <a:pPr marL="228600" lvl="1" indent="-228600" algn="l" defTabSz="1200150">
            <a:lnSpc>
              <a:spcPct val="90000"/>
            </a:lnSpc>
            <a:spcBef>
              <a:spcPct val="0"/>
            </a:spcBef>
            <a:spcAft>
              <a:spcPct val="15000"/>
            </a:spcAft>
            <a:buChar char="•"/>
          </a:pPr>
          <a:r>
            <a:rPr lang="fr-CA" sz="2700" kern="1200"/>
            <a:t>Critères décisionnels (non requis à l’intra)</a:t>
          </a:r>
        </a:p>
        <a:p>
          <a:pPr marL="228600" lvl="1" indent="-228600" algn="l" defTabSz="1200150">
            <a:lnSpc>
              <a:spcPct val="90000"/>
            </a:lnSpc>
            <a:spcBef>
              <a:spcPct val="0"/>
            </a:spcBef>
            <a:spcAft>
              <a:spcPct val="15000"/>
            </a:spcAft>
            <a:buChar char="•"/>
          </a:pPr>
          <a:r>
            <a:rPr lang="fr-CA" sz="2700" kern="1200"/>
            <a:t>Justification de l’acceptation ou du rejet </a:t>
          </a:r>
          <a:r>
            <a:rPr lang="fr-CA" sz="2700" b="1" kern="1200"/>
            <a:t>de chaque option</a:t>
          </a:r>
        </a:p>
        <a:p>
          <a:pPr marL="228600" lvl="1" indent="-228600" algn="l" defTabSz="1200150">
            <a:lnSpc>
              <a:spcPct val="90000"/>
            </a:lnSpc>
            <a:spcBef>
              <a:spcPct val="0"/>
            </a:spcBef>
            <a:spcAft>
              <a:spcPct val="15000"/>
            </a:spcAft>
            <a:buChar char="•"/>
          </a:pPr>
          <a:r>
            <a:rPr lang="fr-CA" sz="2700" kern="1200"/>
            <a:t>Mise en œuvre ou mitigation d’un inconvénient</a:t>
          </a:r>
        </a:p>
      </dsp:txBody>
      <dsp:txXfrm>
        <a:off x="5439008" y="1555064"/>
        <a:ext cx="4771016" cy="3608474"/>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C45314-8565-41AA-9283-405EC012823C}" type="datetimeFigureOut">
              <a:rPr lang="fr-CA" smtClean="0"/>
              <a:t>2025-04-11</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38F12F-71BA-4C6C-BEB4-9AA581BF4BE9}" type="slidenum">
              <a:rPr lang="fr-CA" smtClean="0"/>
              <a:t>‹N°›</a:t>
            </a:fld>
            <a:endParaRPr lang="fr-CA"/>
          </a:p>
        </p:txBody>
      </p:sp>
    </p:spTree>
    <p:extLst>
      <p:ext uri="{BB962C8B-B14F-4D97-AF65-F5344CB8AC3E}">
        <p14:creationId xmlns:p14="http://schemas.microsoft.com/office/powerpoint/2010/main" val="37613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1</a:t>
            </a:fld>
            <a:endParaRPr lang="fr-CA"/>
          </a:p>
        </p:txBody>
      </p:sp>
    </p:spTree>
    <p:extLst>
      <p:ext uri="{BB962C8B-B14F-4D97-AF65-F5344CB8AC3E}">
        <p14:creationId xmlns:p14="http://schemas.microsoft.com/office/powerpoint/2010/main" val="4125272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6F38F12F-71BA-4C6C-BEB4-9AA581BF4BE9}" type="slidenum">
              <a:rPr lang="fr-CA" smtClean="0"/>
              <a:t>2</a:t>
            </a:fld>
            <a:endParaRPr lang="fr-CA"/>
          </a:p>
        </p:txBody>
      </p:sp>
    </p:spTree>
    <p:extLst>
      <p:ext uri="{BB962C8B-B14F-4D97-AF65-F5344CB8AC3E}">
        <p14:creationId xmlns:p14="http://schemas.microsoft.com/office/powerpoint/2010/main" val="1717904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Les deux premières sections représentent le fondement ou l’assises de toutes les analyses qui seront faites dans le cadre du cours. Que ce soit pour l’analyse d’un projet stratégiques d’envergure ou de problématiques liées aux systèmes de contrôle stratégique, toute problématique doit toujours reposer sur la compréhension de la raison d’être, de la vision et de l’environnement de l’organisation. Une recommandation pourrait permettre à une entreprise de devenir un leader dans son industrie alors que la même recommandation pourrait mettre une autre entreprise dans une situation financière difficile (manque de liquidité, projet contraire aux valeurs de parties prenantes, processus défaillant qui devait être corrigé avant d’entamer le projet, </a:t>
            </a:r>
            <a:r>
              <a:rPr lang="fr-CA" err="1"/>
              <a:t>etc</a:t>
            </a:r>
            <a:r>
              <a:rPr lang="fr-CA"/>
              <a:t>) </a:t>
            </a:r>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3</a:t>
            </a:fld>
            <a:endParaRPr lang="fr-CA"/>
          </a:p>
        </p:txBody>
      </p:sp>
    </p:spTree>
    <p:extLst>
      <p:ext uri="{BB962C8B-B14F-4D97-AF65-F5344CB8AC3E}">
        <p14:creationId xmlns:p14="http://schemas.microsoft.com/office/powerpoint/2010/main" val="2278397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64A4C3C-709F-4A3D-8421-C56949B0CA39}" type="slidenum">
              <a:rPr lang="fr-CA" smtClean="0"/>
              <a:pPr fontAlgn="base">
                <a:spcBef>
                  <a:spcPct val="0"/>
                </a:spcBef>
                <a:spcAft>
                  <a:spcPct val="0"/>
                </a:spcAft>
                <a:defRPr/>
              </a:pPr>
              <a:t>12</a:t>
            </a:fld>
            <a:endParaRPr lang="fr-CA"/>
          </a:p>
        </p:txBody>
      </p:sp>
      <p:sp>
        <p:nvSpPr>
          <p:cNvPr id="46083" name="Rectangle 2"/>
          <p:cNvSpPr>
            <a:spLocks noGrp="1" noRot="1" noChangeAspect="1" noChangeArrowheads="1" noTextEdit="1"/>
          </p:cNvSpPr>
          <p:nvPr>
            <p:ph type="sldImg"/>
          </p:nvPr>
        </p:nvSpPr>
        <p:spPr bwMode="auto">
          <a:xfrm>
            <a:off x="457200" y="719138"/>
            <a:ext cx="6400800" cy="3600450"/>
          </a:xfrm>
          <a:noFill/>
          <a:ln>
            <a:solidFill>
              <a:srgbClr val="000000"/>
            </a:solidFill>
            <a:miter lim="800000"/>
            <a:headEnd/>
            <a:tailEnd/>
          </a:ln>
        </p:spPr>
      </p:sp>
      <p:sp>
        <p:nvSpPr>
          <p:cNvPr id="46084" name="Espace réservé des commentaires 4"/>
          <p:cNvSpPr>
            <a:spLocks noGrp="1"/>
          </p:cNvSpPr>
          <p:nvPr/>
        </p:nvSpPr>
        <p:spPr bwMode="auto">
          <a:xfrm>
            <a:off x="732184" y="4561228"/>
            <a:ext cx="5850835" cy="4320213"/>
          </a:xfrm>
          <a:prstGeom prst="rect">
            <a:avLst/>
          </a:prstGeom>
        </p:spPr>
        <p:txBody>
          <a:bodyPr lIns="97407" tIns="48704" rIns="97407" bIns="48704"/>
          <a:lstStyle/>
          <a:p>
            <a:pPr eaLnBrk="0" hangingPunct="0">
              <a:spcBef>
                <a:spcPct val="30000"/>
              </a:spcBef>
            </a:pPr>
            <a:endParaRPr lang="fr-CA" sz="1300">
              <a:latin typeface="Calibri" pitchFamily="34" charset="0"/>
            </a:endParaRPr>
          </a:p>
        </p:txBody>
      </p:sp>
    </p:spTree>
    <p:extLst>
      <p:ext uri="{BB962C8B-B14F-4D97-AF65-F5344CB8AC3E}">
        <p14:creationId xmlns:p14="http://schemas.microsoft.com/office/powerpoint/2010/main" val="3641840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bwMode="auto">
          <a:xfrm>
            <a:off x="457200" y="719138"/>
            <a:ext cx="6400800" cy="3600450"/>
          </a:xfrm>
          <a:noFill/>
          <a:ln>
            <a:solidFill>
              <a:srgbClr val="000000"/>
            </a:solidFill>
            <a:miter lim="800000"/>
            <a:headEnd/>
            <a:tailEnd/>
          </a:ln>
        </p:spPr>
      </p:sp>
      <p:sp>
        <p:nvSpPr>
          <p:cNvPr id="45060" name="Espace réservé du numéro de diapositive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D1001D5-CC02-462C-A4D8-C9678C09465F}" type="slidenum">
              <a:rPr lang="fr-CA" smtClean="0"/>
              <a:pPr fontAlgn="base">
                <a:spcBef>
                  <a:spcPct val="0"/>
                </a:spcBef>
                <a:spcAft>
                  <a:spcPct val="0"/>
                </a:spcAft>
                <a:defRPr/>
              </a:pPr>
              <a:t>13</a:t>
            </a:fld>
            <a:endParaRPr lang="fr-CA"/>
          </a:p>
        </p:txBody>
      </p:sp>
      <p:sp>
        <p:nvSpPr>
          <p:cNvPr id="47108" name="Espace réservé des commentaires 4"/>
          <p:cNvSpPr>
            <a:spLocks noGrp="1"/>
          </p:cNvSpPr>
          <p:nvPr/>
        </p:nvSpPr>
        <p:spPr bwMode="auto">
          <a:xfrm>
            <a:off x="732184" y="4561228"/>
            <a:ext cx="5850835" cy="4320213"/>
          </a:xfrm>
          <a:prstGeom prst="rect">
            <a:avLst/>
          </a:prstGeom>
        </p:spPr>
        <p:txBody>
          <a:bodyPr lIns="97407" tIns="48704" rIns="97407" bIns="48704"/>
          <a:lstStyle/>
          <a:p>
            <a:pPr eaLnBrk="0" hangingPunct="0">
              <a:spcBef>
                <a:spcPct val="30000"/>
              </a:spcBef>
            </a:pPr>
            <a:endParaRPr lang="fr-CA" sz="1300">
              <a:latin typeface="Calibri" pitchFamily="34" charset="0"/>
            </a:endParaRPr>
          </a:p>
        </p:txBody>
      </p:sp>
    </p:spTree>
    <p:extLst>
      <p:ext uri="{BB962C8B-B14F-4D97-AF65-F5344CB8AC3E}">
        <p14:creationId xmlns:p14="http://schemas.microsoft.com/office/powerpoint/2010/main" val="1489631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bwMode="auto">
          <a:xfrm>
            <a:off x="457200" y="719138"/>
            <a:ext cx="6400800" cy="3600450"/>
          </a:xfrm>
          <a:noFill/>
          <a:ln>
            <a:solidFill>
              <a:srgbClr val="000000"/>
            </a:solidFill>
            <a:miter lim="800000"/>
            <a:headEnd/>
            <a:tailEnd/>
          </a:ln>
        </p:spPr>
      </p:sp>
      <p:sp>
        <p:nvSpPr>
          <p:cNvPr id="45060" name="Espace réservé du numéro de diapositive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D1001D5-CC02-462C-A4D8-C9678C09465F}" type="slidenum">
              <a:rPr lang="fr-CA" smtClean="0"/>
              <a:pPr fontAlgn="base">
                <a:spcBef>
                  <a:spcPct val="0"/>
                </a:spcBef>
                <a:spcAft>
                  <a:spcPct val="0"/>
                </a:spcAft>
                <a:defRPr/>
              </a:pPr>
              <a:t>14</a:t>
            </a:fld>
            <a:endParaRPr lang="fr-CA"/>
          </a:p>
        </p:txBody>
      </p:sp>
      <p:sp>
        <p:nvSpPr>
          <p:cNvPr id="47108" name="Espace réservé des commentaires 4"/>
          <p:cNvSpPr>
            <a:spLocks noGrp="1"/>
          </p:cNvSpPr>
          <p:nvPr/>
        </p:nvSpPr>
        <p:spPr bwMode="auto">
          <a:xfrm>
            <a:off x="732184" y="4561228"/>
            <a:ext cx="5850835" cy="4320213"/>
          </a:xfrm>
          <a:prstGeom prst="rect">
            <a:avLst/>
          </a:prstGeom>
        </p:spPr>
        <p:txBody>
          <a:bodyPr lIns="97407" tIns="48704" rIns="97407" bIns="48704"/>
          <a:lstStyle/>
          <a:p>
            <a:pPr eaLnBrk="0" hangingPunct="0">
              <a:spcBef>
                <a:spcPct val="30000"/>
              </a:spcBef>
            </a:pPr>
            <a:endParaRPr lang="fr-CA" sz="1300">
              <a:latin typeface="Calibri" pitchFamily="34" charset="0"/>
            </a:endParaRPr>
          </a:p>
        </p:txBody>
      </p:sp>
      <p:sp>
        <p:nvSpPr>
          <p:cNvPr id="2" name="Espace réservé des notes 1">
            <a:extLst>
              <a:ext uri="{FF2B5EF4-FFF2-40B4-BE49-F238E27FC236}">
                <a16:creationId xmlns:a16="http://schemas.microsoft.com/office/drawing/2014/main" id="{9C44D847-6A39-C960-9654-E76C9A0E59BE}"/>
              </a:ext>
            </a:extLst>
          </p:cNvPr>
          <p:cNvSpPr>
            <a:spLocks noGrp="1"/>
          </p:cNvSpPr>
          <p:nvPr>
            <p:ph type="body" idx="1"/>
          </p:nvPr>
        </p:nvSpPr>
        <p:spPr/>
        <p:txBody>
          <a:bodyPr/>
          <a:lstStyle/>
          <a:p>
            <a:r>
              <a:rPr lang="fr-CA" dirty="0"/>
              <a:t>VAN c’est des flux  autres cout trésorerie net d’</a:t>
            </a:r>
            <a:r>
              <a:rPr lang="fr-CA" dirty="0" err="1"/>
              <a:t>impot</a:t>
            </a:r>
            <a:r>
              <a:rPr lang="fr-CA" dirty="0"/>
              <a:t> et actualisé (attention a la notion de flux de trésorerie donc pas d’opération qui n’ont pas d’impact sut la trésorerie) et aussi les couts liés au financement et les autres cout non pertinents non récupérables </a:t>
            </a:r>
          </a:p>
        </p:txBody>
      </p:sp>
    </p:spTree>
    <p:extLst>
      <p:ext uri="{BB962C8B-B14F-4D97-AF65-F5344CB8AC3E}">
        <p14:creationId xmlns:p14="http://schemas.microsoft.com/office/powerpoint/2010/main" val="4063434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17</a:t>
            </a:fld>
            <a:endParaRPr lang="fr-CA"/>
          </a:p>
        </p:txBody>
      </p:sp>
    </p:spTree>
    <p:extLst>
      <p:ext uri="{BB962C8B-B14F-4D97-AF65-F5344CB8AC3E}">
        <p14:creationId xmlns:p14="http://schemas.microsoft.com/office/powerpoint/2010/main" val="1366637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La formule magique se fait la première année </a:t>
            </a:r>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18</a:t>
            </a:fld>
            <a:endParaRPr lang="fr-CA"/>
          </a:p>
        </p:txBody>
      </p:sp>
    </p:spTree>
    <p:extLst>
      <p:ext uri="{BB962C8B-B14F-4D97-AF65-F5344CB8AC3E}">
        <p14:creationId xmlns:p14="http://schemas.microsoft.com/office/powerpoint/2010/main" val="2125254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19</a:t>
            </a:fld>
            <a:endParaRPr lang="fr-CA"/>
          </a:p>
        </p:txBody>
      </p:sp>
    </p:spTree>
    <p:extLst>
      <p:ext uri="{BB962C8B-B14F-4D97-AF65-F5344CB8AC3E}">
        <p14:creationId xmlns:p14="http://schemas.microsoft.com/office/powerpoint/2010/main" val="3286873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20</a:t>
            </a:fld>
            <a:endParaRPr lang="fr-CA"/>
          </a:p>
        </p:txBody>
      </p:sp>
    </p:spTree>
    <p:extLst>
      <p:ext uri="{BB962C8B-B14F-4D97-AF65-F5344CB8AC3E}">
        <p14:creationId xmlns:p14="http://schemas.microsoft.com/office/powerpoint/2010/main" val="3114174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Toujours impact sur les objectifs stratégiques </a:t>
            </a:r>
          </a:p>
          <a:p>
            <a:r>
              <a:rPr lang="fr-CA" dirty="0"/>
              <a:t>Les objectifs stratégiques c’est le nerf de guerre </a:t>
            </a:r>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21</a:t>
            </a:fld>
            <a:endParaRPr lang="fr-CA"/>
          </a:p>
        </p:txBody>
      </p:sp>
    </p:spTree>
    <p:extLst>
      <p:ext uri="{BB962C8B-B14F-4D97-AF65-F5344CB8AC3E}">
        <p14:creationId xmlns:p14="http://schemas.microsoft.com/office/powerpoint/2010/main" val="926510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22</a:t>
            </a:fld>
            <a:endParaRPr lang="fr-CA"/>
          </a:p>
        </p:txBody>
      </p:sp>
    </p:spTree>
    <p:extLst>
      <p:ext uri="{BB962C8B-B14F-4D97-AF65-F5344CB8AC3E}">
        <p14:creationId xmlns:p14="http://schemas.microsoft.com/office/powerpoint/2010/main" val="2773989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Lors de la conclusion ou de la recommandation, il est très important de revenir sur les arguments quantitatifs ET qualitatifs pour étayer votre recommandation</a:t>
            </a:r>
          </a:p>
          <a:p>
            <a:endParaRPr lang="fr-CA"/>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23</a:t>
            </a:fld>
            <a:endParaRPr lang="fr-CA"/>
          </a:p>
        </p:txBody>
      </p:sp>
    </p:spTree>
    <p:extLst>
      <p:ext uri="{BB962C8B-B14F-4D97-AF65-F5344CB8AC3E}">
        <p14:creationId xmlns:p14="http://schemas.microsoft.com/office/powerpoint/2010/main" val="10555187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24</a:t>
            </a:fld>
            <a:endParaRPr lang="fr-CA"/>
          </a:p>
        </p:txBody>
      </p:sp>
    </p:spTree>
    <p:extLst>
      <p:ext uri="{BB962C8B-B14F-4D97-AF65-F5344CB8AC3E}">
        <p14:creationId xmlns:p14="http://schemas.microsoft.com/office/powerpoint/2010/main" val="11758068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6F38F12F-71BA-4C6C-BEB4-9AA581BF4BE9}" type="slidenum">
              <a:rPr lang="fr-CA" smtClean="0"/>
              <a:t>25</a:t>
            </a:fld>
            <a:endParaRPr lang="fr-CA"/>
          </a:p>
        </p:txBody>
      </p:sp>
    </p:spTree>
    <p:extLst>
      <p:ext uri="{BB962C8B-B14F-4D97-AF65-F5344CB8AC3E}">
        <p14:creationId xmlns:p14="http://schemas.microsoft.com/office/powerpoint/2010/main" val="916034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94F074CF-D5A1-4ECA-815A-506CC95D42B4}" type="datetime1">
              <a:rPr lang="fr-CA" smtClean="0"/>
              <a:t>2025-04-11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1238641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E5BF96D4-927D-4A77-A176-934F46F9C2D3}" type="datetime1">
              <a:rPr lang="fr-CA" smtClean="0"/>
              <a:t>2025-04-11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572281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6DF0D1B3-E63E-47D7-A8C6-B14D268C2D9C}" type="datetime1">
              <a:rPr lang="fr-CA" smtClean="0"/>
              <a:t>2025-04-11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1506057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7621C6DF-9400-4874-B8D1-E312246B67E4}" type="datetime1">
              <a:rPr lang="fr-CA" smtClean="0"/>
              <a:t>2025-04-11</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1900794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EEE13F7D-22FD-4667-AE8E-9CEA1C9A6AD0}" type="datetime1">
              <a:rPr lang="fr-CA" smtClean="0"/>
              <a:t>2025-04-11</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2595562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A75B4557-E0FB-48D2-B847-E150D54C2C24}" type="datetime1">
              <a:rPr lang="fr-CA" smtClean="0"/>
              <a:t>2025-04-11</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1556713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695083-5551-4294-93CF-C44497872D53}" type="datetime1">
              <a:rPr lang="fr-CA" smtClean="0"/>
              <a:t>2025-04-11</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1900585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15447269-29F5-40E6-A763-0FA9862AFB45}" type="datetime1">
              <a:rPr lang="fr-CA" smtClean="0"/>
              <a:t>2025-04-11</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3669472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534FD2AB-D8F3-4D00-8CC6-1229A2D991D0}" type="datetime1">
              <a:rPr lang="fr-CA" smtClean="0"/>
              <a:t>2025-04-11</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2416285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C32BACCA-EC75-486B-9539-EA8016B721F1}" type="datetime1">
              <a:rPr lang="fr-CA" smtClean="0"/>
              <a:t>2025-04-11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3417998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59BC0EBE-77FB-402A-B034-B4225D2937BB}" type="datetime1">
              <a:rPr lang="fr-CA" smtClean="0"/>
              <a:t>2025-04-11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3493970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A69CAC-56EF-47B7-88BF-A24454C71550}" type="datetime1">
              <a:rPr lang="fr-CA" smtClean="0"/>
              <a:t>2025-04-11</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3EB41D-849B-4C0C-8BB4-E1DF9CA5FEE5}" type="slidenum">
              <a:rPr lang="fr-CA" smtClean="0"/>
              <a:t>‹N°›</a:t>
            </a:fld>
            <a:endParaRPr lang="fr-CA"/>
          </a:p>
        </p:txBody>
      </p:sp>
    </p:spTree>
    <p:extLst>
      <p:ext uri="{BB962C8B-B14F-4D97-AF65-F5344CB8AC3E}">
        <p14:creationId xmlns:p14="http://schemas.microsoft.com/office/powerpoint/2010/main" val="42617392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tags" Target="../tags/tag3.xml"/><Relationship Id="rId7" Type="http://schemas.openxmlformats.org/officeDocument/2006/relationships/notesSlide" Target="../notesSlides/notesSlide1.xml"/><Relationship Id="rId12" Type="http://schemas.microsoft.com/office/2007/relationships/diagramDrawing" Target="../diagrams/drawing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7.xml"/><Relationship Id="rId11" Type="http://schemas.openxmlformats.org/officeDocument/2006/relationships/diagramColors" Target="../diagrams/colors1.xml"/><Relationship Id="rId5" Type="http://schemas.openxmlformats.org/officeDocument/2006/relationships/tags" Target="../tags/tag5.xml"/><Relationship Id="rId10" Type="http://schemas.openxmlformats.org/officeDocument/2006/relationships/diagramQuickStyle" Target="../diagrams/quickStyle1.xml"/><Relationship Id="rId4" Type="http://schemas.openxmlformats.org/officeDocument/2006/relationships/tags" Target="../tags/tag4.xml"/><Relationship Id="rId9"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notesSlide" Target="../notesSlides/notesSlide2.xml"/><Relationship Id="rId4"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notesSlide" Target="../notesSlides/notesSlide5.xml"/><Relationship Id="rId7" Type="http://schemas.openxmlformats.org/officeDocument/2006/relationships/diagramQuickStyle" Target="../diagrams/quickStyle2.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jpeg"/><Relationship Id="rId9" Type="http://schemas.microsoft.com/office/2007/relationships/diagramDrawing" Target="../diagrams/drawing2.xml"/></Relationships>
</file>

<file path=ppt/slides/_rels/slide1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6.xml"/><Relationship Id="rId7" Type="http://schemas.openxmlformats.org/officeDocument/2006/relationships/diagramColors" Target="../diagrams/colors3.xm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24.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14.xml"/><Relationship Id="rId7" Type="http://schemas.openxmlformats.org/officeDocument/2006/relationships/diagramColors" Target="../diagrams/colors4.xml"/><Relationship Id="rId2" Type="http://schemas.openxmlformats.org/officeDocument/2006/relationships/slideLayout" Target="../slideLayouts/slideLayout7.xml"/><Relationship Id="rId1" Type="http://schemas.openxmlformats.org/officeDocument/2006/relationships/tags" Target="../tags/tag18.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5.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notesSlide" Target="../notesSlides/notesSlide15.xml"/><Relationship Id="rId4"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à coins arrondis 5"/>
          <p:cNvSpPr/>
          <p:nvPr>
            <p:custDataLst>
              <p:tags r:id="rId1"/>
            </p:custDataLst>
          </p:nvPr>
        </p:nvSpPr>
        <p:spPr>
          <a:xfrm>
            <a:off x="854820" y="491490"/>
            <a:ext cx="10849500" cy="12001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 name="TextBox 39">
            <a:extLst>
              <a:ext uri="{FF2B5EF4-FFF2-40B4-BE49-F238E27FC236}">
                <a16:creationId xmlns:a16="http://schemas.microsoft.com/office/drawing/2014/main" id="{4F7C04F3-7CCE-184B-8FEF-62BA96BA43D7}"/>
              </a:ext>
            </a:extLst>
          </p:cNvPr>
          <p:cNvSpPr txBox="1"/>
          <p:nvPr>
            <p:custDataLst>
              <p:tags r:id="rId2"/>
            </p:custDataLst>
          </p:nvPr>
        </p:nvSpPr>
        <p:spPr>
          <a:xfrm>
            <a:off x="2675048" y="583359"/>
            <a:ext cx="6841938" cy="461665"/>
          </a:xfrm>
          <a:prstGeom prst="rect">
            <a:avLst/>
          </a:prstGeom>
          <a:noFill/>
        </p:spPr>
        <p:txBody>
          <a:bodyPr wrap="none" rtlCol="0">
            <a:spAutoFit/>
          </a:bodyPr>
          <a:lstStyle/>
          <a:p>
            <a:pPr algn="ctr"/>
            <a:r>
              <a:rPr lang="en-US" sz="2400" b="1">
                <a:solidFill>
                  <a:schemeClr val="bg1"/>
                </a:solidFill>
                <a:latin typeface="Century Gothic" panose="020B0502020202020204" pitchFamily="34" charset="0"/>
                <a:cs typeface="Poppins" pitchFamily="2" charset="77"/>
              </a:rPr>
              <a:t>SÉANCE 3 – </a:t>
            </a:r>
            <a:r>
              <a:rPr lang="en-US" sz="2400" b="1" err="1">
                <a:solidFill>
                  <a:schemeClr val="bg1"/>
                </a:solidFill>
                <a:latin typeface="Century Gothic" panose="020B0502020202020204" pitchFamily="34" charset="0"/>
                <a:cs typeface="Poppins" pitchFamily="2" charset="77"/>
              </a:rPr>
              <a:t>Analyse</a:t>
            </a:r>
            <a:r>
              <a:rPr lang="en-US" sz="2400" b="1">
                <a:solidFill>
                  <a:schemeClr val="bg1"/>
                </a:solidFill>
                <a:latin typeface="Century Gothic" panose="020B0502020202020204" pitchFamily="34" charset="0"/>
                <a:cs typeface="Poppins" pitchFamily="2" charset="77"/>
              </a:rPr>
              <a:t> des options </a:t>
            </a:r>
            <a:r>
              <a:rPr lang="en-US" sz="2400" b="1" err="1">
                <a:solidFill>
                  <a:schemeClr val="bg1"/>
                </a:solidFill>
                <a:latin typeface="Century Gothic" panose="020B0502020202020204" pitchFamily="34" charset="0"/>
                <a:cs typeface="Poppins" pitchFamily="2" charset="77"/>
              </a:rPr>
              <a:t>stratégiques</a:t>
            </a:r>
            <a:endParaRPr lang="en-US" sz="2400" b="1">
              <a:solidFill>
                <a:schemeClr val="bg1"/>
              </a:solidFill>
              <a:latin typeface="Century Gothic" panose="020B0502020202020204" pitchFamily="34" charset="0"/>
              <a:cs typeface="Poppins" pitchFamily="2" charset="77"/>
            </a:endParaRPr>
          </a:p>
        </p:txBody>
      </p:sp>
      <p:sp>
        <p:nvSpPr>
          <p:cNvPr id="4" name="ZoneTexte 3"/>
          <p:cNvSpPr txBox="1"/>
          <p:nvPr>
            <p:custDataLst>
              <p:tags r:id="rId3"/>
            </p:custDataLst>
          </p:nvPr>
        </p:nvSpPr>
        <p:spPr>
          <a:xfrm>
            <a:off x="4577541" y="1045024"/>
            <a:ext cx="3036917" cy="461665"/>
          </a:xfrm>
          <a:prstGeom prst="rect">
            <a:avLst/>
          </a:prstGeom>
          <a:noFill/>
        </p:spPr>
        <p:txBody>
          <a:bodyPr wrap="square" rtlCol="0">
            <a:spAutoFit/>
          </a:bodyPr>
          <a:lstStyle/>
          <a:p>
            <a:r>
              <a:rPr lang="fr-CA" sz="2400">
                <a:solidFill>
                  <a:schemeClr val="bg1"/>
                </a:solidFill>
              </a:rPr>
              <a:t>Objectifs de la séance </a:t>
            </a:r>
          </a:p>
        </p:txBody>
      </p:sp>
      <p:graphicFrame>
        <p:nvGraphicFramePr>
          <p:cNvPr id="7" name="Diagram 5"/>
          <p:cNvGraphicFramePr/>
          <p:nvPr>
            <p:custDataLst>
              <p:tags r:id="rId4"/>
            </p:custDataLst>
            <p:extLst>
              <p:ext uri="{D42A27DB-BD31-4B8C-83A1-F6EECF244321}">
                <p14:modId xmlns:p14="http://schemas.microsoft.com/office/powerpoint/2010/main" val="3258767905"/>
              </p:ext>
            </p:extLst>
          </p:nvPr>
        </p:nvGraphicFramePr>
        <p:xfrm>
          <a:off x="1436913" y="1738690"/>
          <a:ext cx="10072916" cy="426599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 name="Espace réservé du numéro de diapositive 4"/>
          <p:cNvSpPr>
            <a:spLocks noGrp="1"/>
          </p:cNvSpPr>
          <p:nvPr>
            <p:ph type="sldNum" sz="quarter" idx="12"/>
            <p:custDataLst>
              <p:tags r:id="rId5"/>
            </p:custDataLst>
          </p:nvPr>
        </p:nvSpPr>
        <p:spPr/>
        <p:txBody>
          <a:bodyPr/>
          <a:lstStyle/>
          <a:p>
            <a:fld id="{C73EB41D-849B-4C0C-8BB4-E1DF9CA5FEE5}" type="slidenum">
              <a:rPr lang="fr-CA" smtClean="0"/>
              <a:t>1</a:t>
            </a:fld>
            <a:endParaRPr lang="fr-CA"/>
          </a:p>
        </p:txBody>
      </p:sp>
    </p:spTree>
    <p:extLst>
      <p:ext uri="{BB962C8B-B14F-4D97-AF65-F5344CB8AC3E}">
        <p14:creationId xmlns:p14="http://schemas.microsoft.com/office/powerpoint/2010/main" val="647496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à coins arrondis 5"/>
          <p:cNvSpPr/>
          <p:nvPr>
            <p:custDataLst>
              <p:tags r:id="rId1"/>
            </p:custDataLst>
          </p:nvPr>
        </p:nvSpPr>
        <p:spPr>
          <a:xfrm>
            <a:off x="708660" y="2361883"/>
            <a:ext cx="10332720" cy="30975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 name="Titre 1"/>
          <p:cNvSpPr>
            <a:spLocks noGrp="1"/>
          </p:cNvSpPr>
          <p:nvPr>
            <p:ph type="title"/>
            <p:custDataLst>
              <p:tags r:id="rId2"/>
            </p:custDataLst>
          </p:nvPr>
        </p:nvSpPr>
        <p:spPr>
          <a:xfrm>
            <a:off x="708660" y="2586789"/>
            <a:ext cx="10515600" cy="1908016"/>
          </a:xfrm>
        </p:spPr>
        <p:txBody>
          <a:bodyPr>
            <a:normAutofit/>
          </a:bodyPr>
          <a:lstStyle/>
          <a:p>
            <a:pPr algn="ctr"/>
            <a:r>
              <a:rPr lang="fr-CA" b="1">
                <a:solidFill>
                  <a:schemeClr val="bg1"/>
                </a:solidFill>
              </a:rPr>
              <a:t> Analyse des options stratégiques Structure de réponse </a:t>
            </a:r>
          </a:p>
        </p:txBody>
      </p:sp>
      <p:sp>
        <p:nvSpPr>
          <p:cNvPr id="5" name="Espace réservé du numéro de diapositive 4"/>
          <p:cNvSpPr>
            <a:spLocks noGrp="1"/>
          </p:cNvSpPr>
          <p:nvPr>
            <p:ph type="sldNum" sz="quarter" idx="12"/>
            <p:custDataLst>
              <p:tags r:id="rId3"/>
            </p:custDataLst>
          </p:nvPr>
        </p:nvSpPr>
        <p:spPr/>
        <p:txBody>
          <a:bodyPr/>
          <a:lstStyle/>
          <a:p>
            <a:fld id="{EEB25B09-B9A6-4811-8700-6D36B9CE20D1}" type="slidenum">
              <a:rPr lang="fr-CA" smtClean="0"/>
              <a:t>2</a:t>
            </a:fld>
            <a:endParaRPr lang="fr-CA"/>
          </a:p>
        </p:txBody>
      </p:sp>
    </p:spTree>
    <p:extLst>
      <p:ext uri="{BB962C8B-B14F-4D97-AF65-F5344CB8AC3E}">
        <p14:creationId xmlns:p14="http://schemas.microsoft.com/office/powerpoint/2010/main" val="2652384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0DA834F-95F6-4E37-944B-0EE86ECAB589}"/>
              </a:ext>
            </a:extLst>
          </p:cNvPr>
          <p:cNvSpPr>
            <a:spLocks noGrp="1"/>
          </p:cNvSpPr>
          <p:nvPr>
            <p:ph type="sldNum" sz="quarter" idx="12"/>
          </p:nvPr>
        </p:nvSpPr>
        <p:spPr/>
        <p:txBody>
          <a:bodyPr/>
          <a:lstStyle/>
          <a:p>
            <a:fld id="{C73EB41D-849B-4C0C-8BB4-E1DF9CA5FEE5}" type="slidenum">
              <a:rPr lang="fr-CA" smtClean="0"/>
              <a:t>3</a:t>
            </a:fld>
            <a:endParaRPr lang="fr-CA"/>
          </a:p>
        </p:txBody>
      </p:sp>
      <p:sp>
        <p:nvSpPr>
          <p:cNvPr id="4" name="Rectangle : coins arrondis 3">
            <a:extLst>
              <a:ext uri="{FF2B5EF4-FFF2-40B4-BE49-F238E27FC236}">
                <a16:creationId xmlns:a16="http://schemas.microsoft.com/office/drawing/2014/main" id="{4CF306FC-6EE0-4710-9E8D-B536E2BF4F73}"/>
              </a:ext>
            </a:extLst>
          </p:cNvPr>
          <p:cNvSpPr/>
          <p:nvPr/>
        </p:nvSpPr>
        <p:spPr>
          <a:xfrm>
            <a:off x="3254542" y="1528009"/>
            <a:ext cx="5811252" cy="150455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r-CA" b="1"/>
              <a:t>Identification des facteurs clés de succès de l’industrie</a:t>
            </a:r>
          </a:p>
          <a:p>
            <a:pPr algn="ctr"/>
            <a:r>
              <a:rPr lang="fr-CA" b="1"/>
              <a:t>Analyse de l’environnement interne et externe</a:t>
            </a:r>
          </a:p>
          <a:p>
            <a:pPr algn="ctr"/>
            <a:r>
              <a:rPr lang="fr-CA" b="1"/>
              <a:t>Analyse de la situation financière</a:t>
            </a:r>
          </a:p>
          <a:p>
            <a:pPr algn="ctr"/>
            <a:r>
              <a:rPr lang="fr-CA" b="1"/>
              <a:t>FFPM </a:t>
            </a:r>
          </a:p>
        </p:txBody>
      </p:sp>
      <p:sp>
        <p:nvSpPr>
          <p:cNvPr id="5" name="Rectangle : coins arrondis 4">
            <a:extLst>
              <a:ext uri="{FF2B5EF4-FFF2-40B4-BE49-F238E27FC236}">
                <a16:creationId xmlns:a16="http://schemas.microsoft.com/office/drawing/2014/main" id="{F614C307-079F-464B-B8D5-DD35E3DA698C}"/>
              </a:ext>
            </a:extLst>
          </p:cNvPr>
          <p:cNvSpPr/>
          <p:nvPr/>
        </p:nvSpPr>
        <p:spPr>
          <a:xfrm>
            <a:off x="3144253" y="136525"/>
            <a:ext cx="6031831" cy="122722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CA" b="1"/>
              <a:t>Vision/Mission/Valeurs </a:t>
            </a:r>
          </a:p>
          <a:p>
            <a:pPr algn="ctr"/>
            <a:r>
              <a:rPr lang="fr-CA" b="1"/>
              <a:t>Stratégie</a:t>
            </a:r>
          </a:p>
          <a:p>
            <a:pPr algn="ctr"/>
            <a:r>
              <a:rPr lang="fr-CA" b="1"/>
              <a:t>Contraintes et limites </a:t>
            </a:r>
          </a:p>
        </p:txBody>
      </p:sp>
      <p:sp>
        <p:nvSpPr>
          <p:cNvPr id="6" name="Rectangle : coins arrondis 5">
            <a:extLst>
              <a:ext uri="{FF2B5EF4-FFF2-40B4-BE49-F238E27FC236}">
                <a16:creationId xmlns:a16="http://schemas.microsoft.com/office/drawing/2014/main" id="{6C135706-776B-4E0A-97DF-5A7BF0478E1F}"/>
              </a:ext>
            </a:extLst>
          </p:cNvPr>
          <p:cNvSpPr/>
          <p:nvPr/>
        </p:nvSpPr>
        <p:spPr>
          <a:xfrm>
            <a:off x="1049488" y="3720049"/>
            <a:ext cx="2430379" cy="2638589"/>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CA" b="1"/>
              <a:t>Analyse options stratégiques</a:t>
            </a:r>
          </a:p>
          <a:p>
            <a:pPr marL="285750" indent="-285750">
              <a:buFont typeface="Arial" panose="020B0604020202020204" pitchFamily="34" charset="0"/>
              <a:buChar char="•"/>
            </a:pPr>
            <a:r>
              <a:rPr lang="fr-CA"/>
              <a:t>Analyse quantitative</a:t>
            </a:r>
          </a:p>
          <a:p>
            <a:pPr marL="285750" indent="-285750">
              <a:buFont typeface="Arial" panose="020B0604020202020204" pitchFamily="34" charset="0"/>
              <a:buChar char="•"/>
            </a:pPr>
            <a:r>
              <a:rPr lang="fr-CA"/>
              <a:t>Analyse qualitative</a:t>
            </a:r>
          </a:p>
          <a:p>
            <a:pPr marL="285750" indent="-285750">
              <a:buFont typeface="Arial" panose="020B0604020202020204" pitchFamily="34" charset="0"/>
              <a:buChar char="•"/>
            </a:pPr>
            <a:r>
              <a:rPr lang="fr-CA"/>
              <a:t>Conclusions </a:t>
            </a:r>
          </a:p>
          <a:p>
            <a:pPr algn="ctr"/>
            <a:endParaRPr lang="fr-CA"/>
          </a:p>
        </p:txBody>
      </p:sp>
      <p:cxnSp>
        <p:nvCxnSpPr>
          <p:cNvPr id="8" name="Connecteur droit avec flèche 7">
            <a:extLst>
              <a:ext uri="{FF2B5EF4-FFF2-40B4-BE49-F238E27FC236}">
                <a16:creationId xmlns:a16="http://schemas.microsoft.com/office/drawing/2014/main" id="{92149227-46FB-4400-80DF-9EECC8B230E1}"/>
              </a:ext>
            </a:extLst>
          </p:cNvPr>
          <p:cNvCxnSpPr>
            <a:cxnSpLocks/>
          </p:cNvCxnSpPr>
          <p:nvPr/>
        </p:nvCxnSpPr>
        <p:spPr>
          <a:xfrm flipH="1">
            <a:off x="3043989" y="3032567"/>
            <a:ext cx="590462" cy="6851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necteur droit avec flèche 9">
            <a:extLst>
              <a:ext uri="{FF2B5EF4-FFF2-40B4-BE49-F238E27FC236}">
                <a16:creationId xmlns:a16="http://schemas.microsoft.com/office/drawing/2014/main" id="{B560BD74-5B17-4FA2-8270-4B9B7D3CFF2D}"/>
              </a:ext>
            </a:extLst>
          </p:cNvPr>
          <p:cNvCxnSpPr>
            <a:cxnSpLocks/>
          </p:cNvCxnSpPr>
          <p:nvPr/>
        </p:nvCxnSpPr>
        <p:spPr>
          <a:xfrm>
            <a:off x="8958805" y="3032567"/>
            <a:ext cx="668461" cy="6148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 coins arrondis 11">
            <a:extLst>
              <a:ext uri="{FF2B5EF4-FFF2-40B4-BE49-F238E27FC236}">
                <a16:creationId xmlns:a16="http://schemas.microsoft.com/office/drawing/2014/main" id="{48B60383-9932-4F37-9076-CD79C744D7AB}"/>
              </a:ext>
            </a:extLst>
          </p:cNvPr>
          <p:cNvSpPr/>
          <p:nvPr/>
        </p:nvSpPr>
        <p:spPr>
          <a:xfrm>
            <a:off x="9118933" y="3668425"/>
            <a:ext cx="2438611" cy="268792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CA" b="1"/>
              <a:t>Enjeux opérationnels et de contrôle</a:t>
            </a:r>
          </a:p>
          <a:p>
            <a:pPr marL="285750" indent="-285750">
              <a:buFont typeface="Arial" panose="020B0604020202020204" pitchFamily="34" charset="0"/>
              <a:buChar char="•"/>
            </a:pPr>
            <a:r>
              <a:rPr lang="fr-CA"/>
              <a:t>Gestion des risques </a:t>
            </a:r>
          </a:p>
          <a:p>
            <a:pPr marL="285750" indent="-285750">
              <a:buFont typeface="Arial" panose="020B0604020202020204" pitchFamily="34" charset="0"/>
              <a:buChar char="•"/>
            </a:pPr>
            <a:r>
              <a:rPr lang="fr-CA"/>
              <a:t>Performance</a:t>
            </a:r>
          </a:p>
          <a:p>
            <a:pPr marL="285750" indent="-285750">
              <a:buFont typeface="Arial" panose="020B0604020202020204" pitchFamily="34" charset="0"/>
              <a:buChar char="•"/>
            </a:pPr>
            <a:r>
              <a:rPr lang="fr-CA"/>
              <a:t>Éthique d’affaires</a:t>
            </a:r>
          </a:p>
          <a:p>
            <a:pPr marL="285750" indent="-285750">
              <a:buFont typeface="Arial" panose="020B0604020202020204" pitchFamily="34" charset="0"/>
              <a:buChar char="•"/>
            </a:pPr>
            <a:r>
              <a:rPr lang="fr-CA"/>
              <a:t>Gouvernance</a:t>
            </a:r>
          </a:p>
          <a:p>
            <a:pPr marL="285750" indent="-285750">
              <a:buFont typeface="Arial" panose="020B0604020202020204" pitchFamily="34" charset="0"/>
              <a:buChar char="•"/>
            </a:pPr>
            <a:r>
              <a:rPr lang="fr-CA"/>
              <a:t>Contrôle de gestion</a:t>
            </a:r>
          </a:p>
        </p:txBody>
      </p:sp>
      <p:sp>
        <p:nvSpPr>
          <p:cNvPr id="19" name="Rectangle : coins arrondis 18">
            <a:extLst>
              <a:ext uri="{FF2B5EF4-FFF2-40B4-BE49-F238E27FC236}">
                <a16:creationId xmlns:a16="http://schemas.microsoft.com/office/drawing/2014/main" id="{375D7C13-2742-DE05-35F9-3B4EC5B523EF}"/>
              </a:ext>
            </a:extLst>
          </p:cNvPr>
          <p:cNvSpPr/>
          <p:nvPr/>
        </p:nvSpPr>
        <p:spPr>
          <a:xfrm>
            <a:off x="4883956" y="3693093"/>
            <a:ext cx="2430379" cy="2638589"/>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spcAft>
                <a:spcPts val="1200"/>
              </a:spcAft>
            </a:pPr>
            <a:r>
              <a:rPr lang="fr-CA" b="1"/>
              <a:t>Recommandations / choix stratégiques </a:t>
            </a:r>
          </a:p>
          <a:p>
            <a:pPr marL="285750" indent="-285750">
              <a:buFont typeface="Arial" panose="020B0604020202020204" pitchFamily="34" charset="0"/>
              <a:buChar char="•"/>
            </a:pPr>
            <a:r>
              <a:rPr lang="fr-FR" err="1"/>
              <a:t>Recommandationstratégique</a:t>
            </a:r>
            <a:endParaRPr lang="fr-FR"/>
          </a:p>
          <a:p>
            <a:pPr marL="285750" indent="-285750">
              <a:buFont typeface="Arial" panose="020B0604020202020204" pitchFamily="34" charset="0"/>
              <a:buChar char="•"/>
            </a:pPr>
            <a:r>
              <a:rPr lang="fr-CA"/>
              <a:t>Financement</a:t>
            </a:r>
          </a:p>
          <a:p>
            <a:pPr marL="285750" indent="-285750">
              <a:buFont typeface="Arial" panose="020B0604020202020204" pitchFamily="34" charset="0"/>
              <a:buChar char="•"/>
            </a:pPr>
            <a:r>
              <a:rPr lang="fr-CA"/>
              <a:t>Mise en œuvre </a:t>
            </a:r>
          </a:p>
          <a:p>
            <a:pPr algn="ctr"/>
            <a:endParaRPr lang="fr-CA"/>
          </a:p>
        </p:txBody>
      </p:sp>
      <p:cxnSp>
        <p:nvCxnSpPr>
          <p:cNvPr id="20" name="Connecteur droit avec flèche 19">
            <a:extLst>
              <a:ext uri="{FF2B5EF4-FFF2-40B4-BE49-F238E27FC236}">
                <a16:creationId xmlns:a16="http://schemas.microsoft.com/office/drawing/2014/main" id="{C6434881-9D64-C38F-B83C-48DAC42B4709}"/>
              </a:ext>
            </a:extLst>
          </p:cNvPr>
          <p:cNvCxnSpPr>
            <a:cxnSpLocks/>
          </p:cNvCxnSpPr>
          <p:nvPr/>
        </p:nvCxnSpPr>
        <p:spPr>
          <a:xfrm>
            <a:off x="6160168" y="3067743"/>
            <a:ext cx="0" cy="579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572D7376-DDEB-CC8E-3006-2D8DE6586AF2}"/>
              </a:ext>
            </a:extLst>
          </p:cNvPr>
          <p:cNvCxnSpPr>
            <a:cxnSpLocks/>
          </p:cNvCxnSpPr>
          <p:nvPr/>
        </p:nvCxnSpPr>
        <p:spPr>
          <a:xfrm>
            <a:off x="3479867" y="4795231"/>
            <a:ext cx="1404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a:extLst>
              <a:ext uri="{FF2B5EF4-FFF2-40B4-BE49-F238E27FC236}">
                <a16:creationId xmlns:a16="http://schemas.microsoft.com/office/drawing/2014/main" id="{E697505E-EB43-1003-4D9B-5925BBFE1CA5}"/>
              </a:ext>
            </a:extLst>
          </p:cNvPr>
          <p:cNvCxnSpPr>
            <a:cxnSpLocks/>
          </p:cNvCxnSpPr>
          <p:nvPr/>
        </p:nvCxnSpPr>
        <p:spPr>
          <a:xfrm flipV="1">
            <a:off x="7314335" y="4799587"/>
            <a:ext cx="175145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5519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6596CCC4-F9FC-5702-BE88-46DC85CA1F0B}"/>
              </a:ext>
            </a:extLst>
          </p:cNvPr>
          <p:cNvSpPr>
            <a:spLocks noGrp="1"/>
          </p:cNvSpPr>
          <p:nvPr>
            <p:ph type="ctrTitle"/>
          </p:nvPr>
        </p:nvSpPr>
        <p:spPr>
          <a:xfrm>
            <a:off x="1524003" y="1999615"/>
            <a:ext cx="9144000" cy="2764028"/>
          </a:xfrm>
        </p:spPr>
        <p:txBody>
          <a:bodyPr anchor="ctr">
            <a:normAutofit/>
          </a:bodyPr>
          <a:lstStyle/>
          <a:p>
            <a:r>
              <a:rPr lang="fr-CA" sz="7200"/>
              <a:t>Analyse financière</a:t>
            </a:r>
          </a:p>
        </p:txBody>
      </p:sp>
      <p:sp>
        <p:nvSpPr>
          <p:cNvPr id="3" name="Sous-titre 2">
            <a:extLst>
              <a:ext uri="{FF2B5EF4-FFF2-40B4-BE49-F238E27FC236}">
                <a16:creationId xmlns:a16="http://schemas.microsoft.com/office/drawing/2014/main" id="{DD7D75A4-87BA-6EC1-5BBE-CD7C46A041B9}"/>
              </a:ext>
            </a:extLst>
          </p:cNvPr>
          <p:cNvSpPr>
            <a:spLocks noGrp="1"/>
          </p:cNvSpPr>
          <p:nvPr>
            <p:ph type="subTitle" idx="1"/>
          </p:nvPr>
        </p:nvSpPr>
        <p:spPr>
          <a:xfrm>
            <a:off x="1966912" y="5645150"/>
            <a:ext cx="8258176" cy="631825"/>
          </a:xfrm>
        </p:spPr>
        <p:txBody>
          <a:bodyPr anchor="ctr">
            <a:normAutofit/>
          </a:bodyPr>
          <a:lstStyle/>
          <a:p>
            <a:r>
              <a:rPr lang="fr-CA" sz="2800"/>
              <a:t>Guide pour l’analyse quantitative</a:t>
            </a:r>
          </a:p>
        </p:txBody>
      </p:sp>
      <p:sp>
        <p:nvSpPr>
          <p:cNvPr id="21" name="Rectangle 20">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7306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73ACB75-F1CF-B1F9-ECB7-18A3A3805EAC}"/>
              </a:ext>
            </a:extLst>
          </p:cNvPr>
          <p:cNvSpPr>
            <a:spLocks noGrp="1"/>
          </p:cNvSpPr>
          <p:nvPr>
            <p:ph type="title"/>
          </p:nvPr>
        </p:nvSpPr>
        <p:spPr>
          <a:xfrm>
            <a:off x="841248" y="426720"/>
            <a:ext cx="10506456" cy="1919141"/>
          </a:xfrm>
        </p:spPr>
        <p:txBody>
          <a:bodyPr anchor="b">
            <a:normAutofit/>
          </a:bodyPr>
          <a:lstStyle/>
          <a:p>
            <a:r>
              <a:rPr lang="fr-CA" sz="6000"/>
              <a:t>Type de demandes fréquentes</a:t>
            </a:r>
          </a:p>
        </p:txBody>
      </p:sp>
      <p:sp>
        <p:nvSpPr>
          <p:cNvPr id="22" name="Rectangle 2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4" name="Espace réservé du contenu 2">
            <a:extLst>
              <a:ext uri="{FF2B5EF4-FFF2-40B4-BE49-F238E27FC236}">
                <a16:creationId xmlns:a16="http://schemas.microsoft.com/office/drawing/2014/main" id="{1E5E592F-1D9E-72B7-9CAD-6452844BA4E5}"/>
              </a:ext>
            </a:extLst>
          </p:cNvPr>
          <p:cNvSpPr>
            <a:spLocks noGrp="1"/>
          </p:cNvSpPr>
          <p:nvPr>
            <p:ph idx="1"/>
          </p:nvPr>
        </p:nvSpPr>
        <p:spPr>
          <a:xfrm>
            <a:off x="841248" y="3337269"/>
            <a:ext cx="10509504" cy="2905686"/>
          </a:xfrm>
        </p:spPr>
        <p:txBody>
          <a:bodyPr>
            <a:normAutofit/>
          </a:bodyPr>
          <a:lstStyle/>
          <a:p>
            <a:r>
              <a:rPr lang="fr-CA" sz="2200"/>
              <a:t>Identifier des problématiques spécifiques et faire des recommandations pour améliorer la situation (jour 3)</a:t>
            </a:r>
          </a:p>
          <a:p>
            <a:pPr lvl="1"/>
            <a:r>
              <a:rPr lang="fr-CA" sz="2200"/>
              <a:t>Enjeux de liquidité</a:t>
            </a:r>
          </a:p>
          <a:p>
            <a:pPr lvl="1"/>
            <a:r>
              <a:rPr lang="fr-CA" sz="2200"/>
              <a:t>Enjeux de rentabilité</a:t>
            </a:r>
          </a:p>
          <a:p>
            <a:pPr lvl="1"/>
            <a:endParaRPr lang="fr-CA" sz="2200"/>
          </a:p>
          <a:p>
            <a:r>
              <a:rPr lang="fr-CA" sz="2200"/>
              <a:t>Analyser la situation financière d’un client en vue d’une planification stratégique (jour 1 – intra contrôle stratégique)</a:t>
            </a:r>
          </a:p>
          <a:p>
            <a:pPr lvl="1"/>
            <a:r>
              <a:rPr lang="fr-CA" sz="2200"/>
              <a:t>Évaluation globale de la santé financière selon les 4 grandes catégories</a:t>
            </a:r>
          </a:p>
        </p:txBody>
      </p:sp>
      <p:sp>
        <p:nvSpPr>
          <p:cNvPr id="4" name="Espace réservé du numéro de diapositive 3">
            <a:extLst>
              <a:ext uri="{FF2B5EF4-FFF2-40B4-BE49-F238E27FC236}">
                <a16:creationId xmlns:a16="http://schemas.microsoft.com/office/drawing/2014/main" id="{23448700-901C-BEE4-F2EA-3B80233EFE2A}"/>
              </a:ext>
            </a:extLst>
          </p:cNvPr>
          <p:cNvSpPr>
            <a:spLocks noGrp="1"/>
          </p:cNvSpPr>
          <p:nvPr>
            <p:ph type="sldNum" sz="quarter" idx="12"/>
          </p:nvPr>
        </p:nvSpPr>
        <p:spPr>
          <a:xfrm>
            <a:off x="8873254" y="6356350"/>
            <a:ext cx="2477498" cy="365125"/>
          </a:xfrm>
        </p:spPr>
        <p:txBody>
          <a:bodyPr>
            <a:normAutofit/>
          </a:bodyPr>
          <a:lstStyle/>
          <a:p>
            <a:pPr>
              <a:spcAft>
                <a:spcPts val="600"/>
              </a:spcAft>
            </a:pPr>
            <a:fld id="{C73EB41D-849B-4C0C-8BB4-E1DF9CA5FEE5}" type="slidenum">
              <a:rPr lang="fr-CA">
                <a:solidFill>
                  <a:schemeClr val="tx1">
                    <a:lumMod val="50000"/>
                    <a:lumOff val="50000"/>
                  </a:schemeClr>
                </a:solidFill>
              </a:rPr>
              <a:pPr>
                <a:spcAft>
                  <a:spcPts val="600"/>
                </a:spcAft>
              </a:pPr>
              <a:t>5</a:t>
            </a:fld>
            <a:endParaRPr lang="fr-CA">
              <a:solidFill>
                <a:schemeClr val="tx1">
                  <a:lumMod val="50000"/>
                  <a:lumOff val="50000"/>
                </a:schemeClr>
              </a:solidFill>
            </a:endParaRPr>
          </a:p>
        </p:txBody>
      </p:sp>
    </p:spTree>
    <p:extLst>
      <p:ext uri="{BB962C8B-B14F-4D97-AF65-F5344CB8AC3E}">
        <p14:creationId xmlns:p14="http://schemas.microsoft.com/office/powerpoint/2010/main" val="3156376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011A97D-646F-73F4-ADE9-AC887796B108}"/>
              </a:ext>
            </a:extLst>
          </p:cNvPr>
          <p:cNvSpPr>
            <a:spLocks noGrp="1"/>
          </p:cNvSpPr>
          <p:nvPr>
            <p:ph type="title"/>
          </p:nvPr>
        </p:nvSpPr>
        <p:spPr>
          <a:xfrm>
            <a:off x="686834" y="1153572"/>
            <a:ext cx="3200400" cy="4461163"/>
          </a:xfrm>
        </p:spPr>
        <p:txBody>
          <a:bodyPr>
            <a:normAutofit/>
          </a:bodyPr>
          <a:lstStyle/>
          <a:p>
            <a:r>
              <a:rPr lang="fr-CA" sz="3400">
                <a:solidFill>
                  <a:srgbClr val="FFFFFF"/>
                </a:solidFill>
              </a:rPr>
              <a:t>Analyse – Les incontournables</a:t>
            </a:r>
          </a:p>
        </p:txBody>
      </p:sp>
      <p:sp>
        <p:nvSpPr>
          <p:cNvPr id="24" name="Arc 2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Espace réservé du contenu 2">
            <a:extLst>
              <a:ext uri="{FF2B5EF4-FFF2-40B4-BE49-F238E27FC236}">
                <a16:creationId xmlns:a16="http://schemas.microsoft.com/office/drawing/2014/main" id="{660B7381-8048-526A-9E88-71A97322C24F}"/>
              </a:ext>
            </a:extLst>
          </p:cNvPr>
          <p:cNvSpPr>
            <a:spLocks noGrp="1"/>
          </p:cNvSpPr>
          <p:nvPr>
            <p:ph idx="1"/>
          </p:nvPr>
        </p:nvSpPr>
        <p:spPr>
          <a:xfrm>
            <a:off x="4447308" y="591344"/>
            <a:ext cx="6906491" cy="5585619"/>
          </a:xfrm>
        </p:spPr>
        <p:txBody>
          <a:bodyPr anchor="ctr">
            <a:normAutofit lnSpcReduction="10000"/>
          </a:bodyPr>
          <a:lstStyle/>
          <a:p>
            <a:pPr marL="342900" lvl="0" indent="-342900">
              <a:spcBef>
                <a:spcPts val="575"/>
              </a:spcBef>
              <a:buFont typeface="Symbol" panose="05050102010706020507" pitchFamily="18" charset="2"/>
              <a:buChar char=""/>
            </a:pPr>
            <a:r>
              <a:rPr lang="fr-FR" sz="2200">
                <a:effectLst/>
                <a:latin typeface="Arial" panose="020B0604020202020204" pitchFamily="34" charset="0"/>
                <a:ea typeface="Arial" panose="020B0604020202020204" pitchFamily="34" charset="0"/>
                <a:cs typeface="Arial" panose="020B0604020202020204" pitchFamily="34" charset="0"/>
              </a:rPr>
              <a:t>Calculer les ratios dans un fichier Excel</a:t>
            </a:r>
            <a:endParaRPr lang="fr-CA" sz="2200">
              <a:effectLst/>
              <a:latin typeface="Aptos" panose="020B0004020202020204" pitchFamily="34" charset="0"/>
              <a:ea typeface="Aptos" panose="020B0004020202020204" pitchFamily="34" charset="0"/>
              <a:cs typeface="Arial" panose="020B0604020202020204" pitchFamily="34" charset="0"/>
            </a:endParaRPr>
          </a:p>
          <a:p>
            <a:pPr marL="342900" lvl="0" indent="-342900">
              <a:spcBef>
                <a:spcPts val="575"/>
              </a:spcBef>
              <a:buFont typeface="Symbol" panose="05050102010706020507" pitchFamily="18" charset="2"/>
              <a:buChar char=""/>
            </a:pPr>
            <a:r>
              <a:rPr lang="fr-FR" sz="2200">
                <a:effectLst/>
                <a:latin typeface="Arial" panose="020B0604020202020204" pitchFamily="34" charset="0"/>
                <a:ea typeface="Arial" panose="020B0604020202020204" pitchFamily="34" charset="0"/>
                <a:cs typeface="Arial" panose="020B0604020202020204" pitchFamily="34" charset="0"/>
              </a:rPr>
              <a:t>Faire des regroupements de ratios (rentabilité, liquidité, activité, solvabilité)</a:t>
            </a:r>
            <a:endParaRPr lang="fr-CA" sz="2200">
              <a:effectLst/>
              <a:latin typeface="Aptos" panose="020B0004020202020204" pitchFamily="34" charset="0"/>
              <a:ea typeface="Aptos" panose="020B0004020202020204" pitchFamily="34" charset="0"/>
              <a:cs typeface="Arial" panose="020B0604020202020204" pitchFamily="34" charset="0"/>
            </a:endParaRPr>
          </a:p>
          <a:p>
            <a:pPr marL="342900" lvl="0" indent="-342900">
              <a:spcBef>
                <a:spcPts val="575"/>
              </a:spcBef>
              <a:buFont typeface="Symbol" panose="05050102010706020507" pitchFamily="18" charset="2"/>
              <a:buChar char=""/>
            </a:pPr>
            <a:r>
              <a:rPr lang="fr-FR" sz="2200">
                <a:effectLst/>
                <a:latin typeface="Arial" panose="020B0604020202020204" pitchFamily="34" charset="0"/>
                <a:ea typeface="Arial" panose="020B0604020202020204" pitchFamily="34" charset="0"/>
                <a:cs typeface="Arial" panose="020B0604020202020204" pitchFamily="34" charset="0"/>
              </a:rPr>
              <a:t>Poser un </a:t>
            </a:r>
            <a:r>
              <a:rPr lang="fr-FR" sz="2200" b="1">
                <a:effectLst/>
                <a:latin typeface="Arial" panose="020B0604020202020204" pitchFamily="34" charset="0"/>
                <a:ea typeface="Arial" panose="020B0604020202020204" pitchFamily="34" charset="0"/>
                <a:cs typeface="Arial" panose="020B0604020202020204" pitchFamily="34" charset="0"/>
              </a:rPr>
              <a:t>diagnostic</a:t>
            </a:r>
            <a:r>
              <a:rPr lang="fr-FR" sz="2200">
                <a:effectLst/>
                <a:latin typeface="Arial" panose="020B0604020202020204" pitchFamily="34" charset="0"/>
                <a:ea typeface="Arial" panose="020B0604020202020204" pitchFamily="34" charset="0"/>
                <a:cs typeface="Arial" panose="020B0604020202020204" pitchFamily="34" charset="0"/>
              </a:rPr>
              <a:t> pour chacun des regroupements en utilisant les ratios</a:t>
            </a:r>
            <a:endParaRPr lang="fr-CA" sz="2200">
              <a:effectLst/>
              <a:latin typeface="Aptos" panose="020B0004020202020204" pitchFamily="34" charset="0"/>
              <a:ea typeface="Aptos" panose="020B0004020202020204" pitchFamily="34" charset="0"/>
              <a:cs typeface="Arial" panose="020B0604020202020204" pitchFamily="34" charset="0"/>
            </a:endParaRPr>
          </a:p>
          <a:p>
            <a:pPr marL="342900" lvl="0" indent="-342900">
              <a:spcBef>
                <a:spcPts val="575"/>
              </a:spcBef>
              <a:buFont typeface="Symbol" panose="05050102010706020507" pitchFamily="18" charset="2"/>
              <a:buChar char=""/>
            </a:pPr>
            <a:r>
              <a:rPr lang="fr-FR" sz="2200">
                <a:effectLst/>
                <a:latin typeface="Arial" panose="020B0604020202020204" pitchFamily="34" charset="0"/>
                <a:ea typeface="Arial" panose="020B0604020202020204" pitchFamily="34" charset="0"/>
                <a:cs typeface="Arial" panose="020B0604020202020204" pitchFamily="34" charset="0"/>
              </a:rPr>
              <a:t>Avoir au moins un élément de comparaison pour chaque ratio (industrie, année précédente, objectif stratégique, contrainte)</a:t>
            </a:r>
            <a:endParaRPr lang="fr-CA" sz="2200">
              <a:effectLst/>
              <a:latin typeface="Aptos" panose="020B0004020202020204" pitchFamily="34" charset="0"/>
              <a:ea typeface="Aptos" panose="020B0004020202020204" pitchFamily="34" charset="0"/>
              <a:cs typeface="Arial" panose="020B0604020202020204" pitchFamily="34" charset="0"/>
            </a:endParaRPr>
          </a:p>
          <a:p>
            <a:pPr marL="342900" lvl="0" indent="-342900">
              <a:spcBef>
                <a:spcPts val="575"/>
              </a:spcBef>
              <a:buFont typeface="Symbol" panose="05050102010706020507" pitchFamily="18" charset="2"/>
              <a:buChar char=""/>
            </a:pPr>
            <a:r>
              <a:rPr lang="fr-FR" sz="2200">
                <a:effectLst/>
                <a:latin typeface="Arial" panose="020B0604020202020204" pitchFamily="34" charset="0"/>
                <a:ea typeface="Arial" panose="020B0604020202020204" pitchFamily="34" charset="0"/>
                <a:cs typeface="Arial" panose="020B0604020202020204" pitchFamily="34" charset="0"/>
              </a:rPr>
              <a:t>Toujours </a:t>
            </a:r>
            <a:r>
              <a:rPr lang="fr-FR" sz="2200" b="1">
                <a:effectLst/>
                <a:latin typeface="Arial" panose="020B0604020202020204" pitchFamily="34" charset="0"/>
                <a:ea typeface="Arial" panose="020B0604020202020204" pitchFamily="34" charset="0"/>
                <a:cs typeface="Arial" panose="020B0604020202020204" pitchFamily="34" charset="0"/>
              </a:rPr>
              <a:t>chiffrer</a:t>
            </a:r>
            <a:r>
              <a:rPr lang="fr-FR" sz="2200">
                <a:effectLst/>
                <a:latin typeface="Arial" panose="020B0604020202020204" pitchFamily="34" charset="0"/>
                <a:ea typeface="Arial" panose="020B0604020202020204" pitchFamily="34" charset="0"/>
                <a:cs typeface="Arial" panose="020B0604020202020204" pitchFamily="34" charset="0"/>
              </a:rPr>
              <a:t> les ratios lors de l’analyse dans le corps du texte pour que le lecteur comprenne bien votre analyse</a:t>
            </a:r>
            <a:endParaRPr lang="fr-CA" sz="2200">
              <a:effectLst/>
              <a:latin typeface="Aptos" panose="020B0004020202020204" pitchFamily="34" charset="0"/>
              <a:ea typeface="Aptos" panose="020B0004020202020204" pitchFamily="34" charset="0"/>
              <a:cs typeface="Arial" panose="020B0604020202020204" pitchFamily="34" charset="0"/>
            </a:endParaRPr>
          </a:p>
          <a:p>
            <a:pPr marL="342900" lvl="0" indent="-342900">
              <a:spcBef>
                <a:spcPts val="575"/>
              </a:spcBef>
              <a:spcAft>
                <a:spcPts val="800"/>
              </a:spcAft>
              <a:buFont typeface="Symbol" panose="05050102010706020507" pitchFamily="18" charset="2"/>
              <a:buChar char=""/>
            </a:pPr>
            <a:r>
              <a:rPr lang="fr-FR" sz="2200">
                <a:effectLst/>
                <a:latin typeface="Arial" panose="020B0604020202020204" pitchFamily="34" charset="0"/>
                <a:ea typeface="Arial" panose="020B0604020202020204" pitchFamily="34" charset="0"/>
                <a:cs typeface="Arial" panose="020B0604020202020204" pitchFamily="34" charset="0"/>
              </a:rPr>
              <a:t>Il n’est pas obligatoire de faire des recommandations à la fin de votre analyse, mais dans certaines situations, cela peut s’avérer pertinent  – Ex. redressement des liquidités ou de la rentabilité avant de s’attaquer à de nouveaux défis</a:t>
            </a:r>
            <a:endParaRPr lang="fr-CA" sz="2200">
              <a:effectLst/>
              <a:latin typeface="Aptos" panose="020B0004020202020204" pitchFamily="34" charset="0"/>
              <a:ea typeface="Aptos" panose="020B0004020202020204" pitchFamily="34" charset="0"/>
              <a:cs typeface="Arial" panose="020B0604020202020204" pitchFamily="34" charset="0"/>
            </a:endParaRPr>
          </a:p>
          <a:p>
            <a:endParaRPr lang="fr-CA" sz="2200"/>
          </a:p>
        </p:txBody>
      </p:sp>
      <p:sp>
        <p:nvSpPr>
          <p:cNvPr id="4" name="Espace réservé du numéro de diapositive 3">
            <a:extLst>
              <a:ext uri="{FF2B5EF4-FFF2-40B4-BE49-F238E27FC236}">
                <a16:creationId xmlns:a16="http://schemas.microsoft.com/office/drawing/2014/main" id="{13348897-58BB-5D9E-3C4A-84ACA0B0644D}"/>
              </a:ext>
            </a:extLst>
          </p:cNvPr>
          <p:cNvSpPr>
            <a:spLocks noGrp="1"/>
          </p:cNvSpPr>
          <p:nvPr>
            <p:ph type="sldNum" sz="quarter" idx="12"/>
          </p:nvPr>
        </p:nvSpPr>
        <p:spPr>
          <a:xfrm>
            <a:off x="9541564" y="6356350"/>
            <a:ext cx="1812235" cy="365125"/>
          </a:xfrm>
        </p:spPr>
        <p:txBody>
          <a:bodyPr>
            <a:normAutofit/>
          </a:bodyPr>
          <a:lstStyle/>
          <a:p>
            <a:pPr>
              <a:spcAft>
                <a:spcPts val="600"/>
              </a:spcAft>
            </a:pPr>
            <a:fld id="{C73EB41D-849B-4C0C-8BB4-E1DF9CA5FEE5}" type="slidenum">
              <a:rPr lang="fr-CA" smtClean="0"/>
              <a:pPr>
                <a:spcAft>
                  <a:spcPts val="600"/>
                </a:spcAft>
              </a:pPr>
              <a:t>6</a:t>
            </a:fld>
            <a:endParaRPr lang="fr-CA"/>
          </a:p>
        </p:txBody>
      </p:sp>
    </p:spTree>
    <p:extLst>
      <p:ext uri="{BB962C8B-B14F-4D97-AF65-F5344CB8AC3E}">
        <p14:creationId xmlns:p14="http://schemas.microsoft.com/office/powerpoint/2010/main" val="2153621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79FE1D-21C2-4E2B-2F79-47E5062D2AB5}"/>
              </a:ext>
            </a:extLst>
          </p:cNvPr>
          <p:cNvSpPr>
            <a:spLocks noGrp="1"/>
          </p:cNvSpPr>
          <p:nvPr>
            <p:ph type="title"/>
          </p:nvPr>
        </p:nvSpPr>
        <p:spPr/>
        <p:txBody>
          <a:bodyPr/>
          <a:lstStyle/>
          <a:p>
            <a:r>
              <a:rPr lang="fr-CA"/>
              <a:t>Auto-Évaluation du travail préparatoire</a:t>
            </a:r>
          </a:p>
        </p:txBody>
      </p:sp>
      <p:sp>
        <p:nvSpPr>
          <p:cNvPr id="3" name="Espace réservé du contenu 2">
            <a:extLst>
              <a:ext uri="{FF2B5EF4-FFF2-40B4-BE49-F238E27FC236}">
                <a16:creationId xmlns:a16="http://schemas.microsoft.com/office/drawing/2014/main" id="{ABC678A8-4A82-12F2-4913-AC83F3C840DC}"/>
              </a:ext>
            </a:extLst>
          </p:cNvPr>
          <p:cNvSpPr>
            <a:spLocks noGrp="1"/>
          </p:cNvSpPr>
          <p:nvPr>
            <p:ph idx="1"/>
          </p:nvPr>
        </p:nvSpPr>
        <p:spPr/>
        <p:txBody>
          <a:bodyPr/>
          <a:lstStyle/>
          <a:p>
            <a:pPr algn="just"/>
            <a:r>
              <a:rPr lang="fr-CA" sz="1800" b="1" dirty="0">
                <a:solidFill>
                  <a:srgbClr val="275317"/>
                </a:solidFill>
                <a:effectLst/>
                <a:latin typeface="Aptos" panose="020B0004020202020204" pitchFamily="34" charset="0"/>
                <a:ea typeface="Times New Roman" panose="02020603050405020304" pitchFamily="18" charset="0"/>
                <a:cs typeface="Aptos" panose="020B0004020202020204" pitchFamily="34" charset="0"/>
              </a:rPr>
              <a:t>Pour EVC</a:t>
            </a:r>
            <a:r>
              <a:rPr lang="fr-CA" sz="1800" dirty="0">
                <a:solidFill>
                  <a:srgbClr val="275317"/>
                </a:solidFill>
                <a:effectLst/>
                <a:latin typeface="Aptos" panose="020B0004020202020204" pitchFamily="34" charset="0"/>
                <a:ea typeface="Times New Roman" panose="02020603050405020304" pitchFamily="18" charset="0"/>
                <a:cs typeface="Aptos" panose="020B0004020202020204" pitchFamily="34" charset="0"/>
              </a:rPr>
              <a:t> : Analyse chiffrée des ratios pour plusieurs catégories (rentabilité, activité, solvabilité, liquidité). Comparaison avec l'année précédente et/ou indus/contrainte/objectif. </a:t>
            </a:r>
            <a:endParaRPr lang="fr-CA" sz="1800" dirty="0">
              <a:effectLst/>
              <a:latin typeface="Times New Roman" panose="02020603050405020304" pitchFamily="18" charset="0"/>
              <a:ea typeface="Times New Roman" panose="02020603050405020304" pitchFamily="18" charset="0"/>
            </a:endParaRPr>
          </a:p>
          <a:p>
            <a:pPr marL="450215" marR="1082675" indent="-635" algn="just">
              <a:spcBef>
                <a:spcPts val="500"/>
              </a:spcBef>
              <a:spcAft>
                <a:spcPts val="500"/>
              </a:spcAft>
            </a:pPr>
            <a:r>
              <a:rPr lang="fr-CA" sz="1800" dirty="0">
                <a:solidFill>
                  <a:srgbClr val="275317"/>
                </a:solidFill>
                <a:effectLst/>
                <a:latin typeface="Aptos" panose="020B0004020202020204" pitchFamily="34" charset="0"/>
                <a:ea typeface="Times New Roman" panose="02020603050405020304" pitchFamily="18" charset="0"/>
                <a:cs typeface="Aptos" panose="020B0004020202020204" pitchFamily="34" charset="0"/>
              </a:rPr>
              <a:t>Ex. La marge nette est passée de 5% à 4% et est plus basse que l’industrie qui se situe à 5,5%, l’entreprise génère moins de dollar de bénéfice par dollar de vente que ses concurrents.</a:t>
            </a:r>
            <a:endParaRPr lang="fr-CA" sz="1800" dirty="0">
              <a:effectLst/>
              <a:latin typeface="Times New Roman" panose="02020603050405020304" pitchFamily="18" charset="0"/>
              <a:ea typeface="Times New Roman" panose="02020603050405020304" pitchFamily="18" charset="0"/>
            </a:endParaRPr>
          </a:p>
          <a:p>
            <a:pPr algn="just"/>
            <a:r>
              <a:rPr lang="fr-CA" sz="1800" b="1" dirty="0">
                <a:solidFill>
                  <a:srgbClr val="275317"/>
                </a:solidFill>
                <a:effectLst/>
                <a:latin typeface="Aptos" panose="020B0004020202020204" pitchFamily="34" charset="0"/>
                <a:ea typeface="Times New Roman" panose="02020603050405020304" pitchFamily="18" charset="0"/>
                <a:cs typeface="Aptos" panose="020B0004020202020204" pitchFamily="34" charset="0"/>
              </a:rPr>
              <a:t>Pour C</a:t>
            </a:r>
            <a:r>
              <a:rPr lang="fr-CA" sz="1800" dirty="0">
                <a:solidFill>
                  <a:srgbClr val="275317"/>
                </a:solidFill>
                <a:effectLst/>
                <a:latin typeface="Aptos" panose="020B0004020202020204" pitchFamily="34" charset="0"/>
                <a:ea typeface="Times New Roman" panose="02020603050405020304" pitchFamily="18" charset="0"/>
                <a:cs typeface="Aptos" panose="020B0004020202020204" pitchFamily="34" charset="0"/>
              </a:rPr>
              <a:t> : Utilisation des faits du cas pour justifier les variations des ratios, poser un diagnostic ou indiquer comment la situation pourrait affecter les projets stratégiques analysés dans le mandat. </a:t>
            </a:r>
            <a:endParaRPr lang="fr-CA" sz="1800" dirty="0">
              <a:effectLst/>
              <a:latin typeface="Times New Roman" panose="02020603050405020304" pitchFamily="18" charset="0"/>
              <a:ea typeface="Times New Roman" panose="02020603050405020304" pitchFamily="18" charset="0"/>
            </a:endParaRPr>
          </a:p>
          <a:p>
            <a:pPr marL="450215" marR="1082675" indent="-635" algn="just">
              <a:spcBef>
                <a:spcPts val="500"/>
              </a:spcBef>
              <a:spcAft>
                <a:spcPts val="500"/>
              </a:spcAft>
            </a:pPr>
            <a:r>
              <a:rPr lang="fr-CA" sz="1800" dirty="0">
                <a:solidFill>
                  <a:srgbClr val="275317"/>
                </a:solidFill>
                <a:effectLst/>
                <a:latin typeface="Aptos" panose="020B0004020202020204" pitchFamily="34" charset="0"/>
                <a:ea typeface="Times New Roman" panose="02020603050405020304" pitchFamily="18" charset="0"/>
                <a:cs typeface="Aptos" panose="020B0004020202020204" pitchFamily="34" charset="0"/>
              </a:rPr>
              <a:t>Ex.  La marge nette est passée de 5% à 4% et est plus basse que l’industrie qui se situe à 5,5%, l’entreprise génère une marge plus faible que ses concurrents en raison de l’augmentation des coûts des matières premières liées au défaut de fonctionnement de ses fours au cours de l’exercice. L’entreprise doit rétablir sa rentabilité si elle souhaite aller de l’avant avec l’agrandissement de ses cuisines.</a:t>
            </a:r>
            <a:endParaRPr lang="fr-CA" sz="1800" dirty="0">
              <a:effectLst/>
              <a:latin typeface="Times New Roman" panose="02020603050405020304" pitchFamily="18" charset="0"/>
              <a:ea typeface="Times New Roman" panose="02020603050405020304" pitchFamily="18" charset="0"/>
            </a:endParaRPr>
          </a:p>
          <a:p>
            <a:pPr algn="just"/>
            <a:r>
              <a:rPr lang="fr-CA" sz="1800" b="1" dirty="0">
                <a:solidFill>
                  <a:srgbClr val="275317"/>
                </a:solidFill>
                <a:effectLst/>
                <a:latin typeface="Aptos" panose="020B0004020202020204" pitchFamily="34" charset="0"/>
                <a:ea typeface="Times New Roman" panose="02020603050405020304" pitchFamily="18" charset="0"/>
                <a:cs typeface="Aptos" panose="020B0004020202020204" pitchFamily="34" charset="0"/>
              </a:rPr>
              <a:t>Pour CD</a:t>
            </a:r>
            <a:r>
              <a:rPr lang="fr-CA" sz="1800" dirty="0">
                <a:solidFill>
                  <a:srgbClr val="275317"/>
                </a:solidFill>
                <a:effectLst/>
                <a:latin typeface="Aptos" panose="020B0004020202020204" pitchFamily="34" charset="0"/>
                <a:ea typeface="Times New Roman" panose="02020603050405020304" pitchFamily="18" charset="0"/>
                <a:cs typeface="Aptos" panose="020B0004020202020204" pitchFamily="34" charset="0"/>
              </a:rPr>
              <a:t> : conclusion qui fait ressortir les éléments fondamentaux du diagnostic</a:t>
            </a:r>
            <a:endParaRPr lang="fr-CA" sz="1800" dirty="0">
              <a:effectLst/>
              <a:latin typeface="Times New Roman" panose="02020603050405020304" pitchFamily="18" charset="0"/>
              <a:ea typeface="Times New Roman" panose="02020603050405020304" pitchFamily="18" charset="0"/>
            </a:endParaRPr>
          </a:p>
          <a:p>
            <a:endParaRPr lang="fr-CA" dirty="0"/>
          </a:p>
        </p:txBody>
      </p:sp>
      <p:sp>
        <p:nvSpPr>
          <p:cNvPr id="4" name="Espace réservé du numéro de diapositive 3">
            <a:extLst>
              <a:ext uri="{FF2B5EF4-FFF2-40B4-BE49-F238E27FC236}">
                <a16:creationId xmlns:a16="http://schemas.microsoft.com/office/drawing/2014/main" id="{B9EA6833-E7B3-E439-3898-15E88F4457DF}"/>
              </a:ext>
            </a:extLst>
          </p:cNvPr>
          <p:cNvSpPr>
            <a:spLocks noGrp="1"/>
          </p:cNvSpPr>
          <p:nvPr>
            <p:ph type="sldNum" sz="quarter" idx="12"/>
          </p:nvPr>
        </p:nvSpPr>
        <p:spPr/>
        <p:txBody>
          <a:bodyPr/>
          <a:lstStyle/>
          <a:p>
            <a:fld id="{C73EB41D-849B-4C0C-8BB4-E1DF9CA5FEE5}" type="slidenum">
              <a:rPr lang="fr-CA" smtClean="0"/>
              <a:t>7</a:t>
            </a:fld>
            <a:endParaRPr lang="fr-CA"/>
          </a:p>
        </p:txBody>
      </p:sp>
    </p:spTree>
    <p:extLst>
      <p:ext uri="{BB962C8B-B14F-4D97-AF65-F5344CB8AC3E}">
        <p14:creationId xmlns:p14="http://schemas.microsoft.com/office/powerpoint/2010/main" val="3628384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ACA2EA0-FFD3-42EC-9406-B595015ED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D5288BCE-665C-472A-8C43-664BCFA31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solidFill>
            <a:schemeClr val="bg1"/>
          </a:solidFill>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re 1">
            <a:extLst>
              <a:ext uri="{FF2B5EF4-FFF2-40B4-BE49-F238E27FC236}">
                <a16:creationId xmlns:a16="http://schemas.microsoft.com/office/drawing/2014/main" id="{6596CCC4-F9FC-5702-BE88-46DC85CA1F0B}"/>
              </a:ext>
            </a:extLst>
          </p:cNvPr>
          <p:cNvSpPr>
            <a:spLocks noGrp="1"/>
          </p:cNvSpPr>
          <p:nvPr>
            <p:ph type="ctrTitle"/>
          </p:nvPr>
        </p:nvSpPr>
        <p:spPr>
          <a:xfrm>
            <a:off x="1804988" y="1442172"/>
            <a:ext cx="8582025" cy="2177328"/>
          </a:xfrm>
        </p:spPr>
        <p:txBody>
          <a:bodyPr anchor="ctr">
            <a:normAutofit/>
          </a:bodyPr>
          <a:lstStyle/>
          <a:p>
            <a:r>
              <a:rPr lang="fr-CA" sz="6600"/>
              <a:t>Options stratégiques</a:t>
            </a:r>
          </a:p>
        </p:txBody>
      </p:sp>
      <p:sp>
        <p:nvSpPr>
          <p:cNvPr id="12" name="Rectangle: Rounded Corners 11">
            <a:extLst>
              <a:ext uri="{FF2B5EF4-FFF2-40B4-BE49-F238E27FC236}">
                <a16:creationId xmlns:a16="http://schemas.microsoft.com/office/drawing/2014/main" id="{46C57131-53A7-4C1A-BEA8-25F06A06A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ous-titre 2">
            <a:extLst>
              <a:ext uri="{FF2B5EF4-FFF2-40B4-BE49-F238E27FC236}">
                <a16:creationId xmlns:a16="http://schemas.microsoft.com/office/drawing/2014/main" id="{DD7D75A4-87BA-6EC1-5BBE-CD7C46A041B9}"/>
              </a:ext>
            </a:extLst>
          </p:cNvPr>
          <p:cNvSpPr>
            <a:spLocks noGrp="1"/>
          </p:cNvSpPr>
          <p:nvPr>
            <p:ph type="subTitle" idx="1"/>
          </p:nvPr>
        </p:nvSpPr>
        <p:spPr>
          <a:xfrm>
            <a:off x="2566988" y="3962400"/>
            <a:ext cx="7058025" cy="581025"/>
          </a:xfrm>
        </p:spPr>
        <p:txBody>
          <a:bodyPr anchor="ctr">
            <a:normAutofit/>
          </a:bodyPr>
          <a:lstStyle/>
          <a:p>
            <a:r>
              <a:rPr lang="fr-CA" sz="2800">
                <a:solidFill>
                  <a:srgbClr val="FFFFFF"/>
                </a:solidFill>
              </a:rPr>
              <a:t>Guide pour l’analyse quantitative</a:t>
            </a:r>
          </a:p>
        </p:txBody>
      </p:sp>
    </p:spTree>
    <p:extLst>
      <p:ext uri="{BB962C8B-B14F-4D97-AF65-F5344CB8AC3E}">
        <p14:creationId xmlns:p14="http://schemas.microsoft.com/office/powerpoint/2010/main" val="421308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6540F6-9B55-4F7B-B20E-975E95CAAAD4}"/>
              </a:ext>
            </a:extLst>
          </p:cNvPr>
          <p:cNvSpPr>
            <a:spLocks noGrp="1"/>
          </p:cNvSpPr>
          <p:nvPr>
            <p:ph type="title"/>
          </p:nvPr>
        </p:nvSpPr>
        <p:spPr/>
        <p:txBody>
          <a:bodyPr/>
          <a:lstStyle/>
          <a:p>
            <a:r>
              <a:rPr lang="fr-CA"/>
              <a:t>Outils d’analyse de performance financière</a:t>
            </a:r>
          </a:p>
        </p:txBody>
      </p:sp>
      <p:sp>
        <p:nvSpPr>
          <p:cNvPr id="3" name="Espace réservé du contenu 2">
            <a:extLst>
              <a:ext uri="{FF2B5EF4-FFF2-40B4-BE49-F238E27FC236}">
                <a16:creationId xmlns:a16="http://schemas.microsoft.com/office/drawing/2014/main" id="{D51DE935-D555-44A1-8521-B398BADBCC00}"/>
              </a:ext>
            </a:extLst>
          </p:cNvPr>
          <p:cNvSpPr>
            <a:spLocks noGrp="1"/>
          </p:cNvSpPr>
          <p:nvPr>
            <p:ph idx="1"/>
          </p:nvPr>
        </p:nvSpPr>
        <p:spPr>
          <a:xfrm>
            <a:off x="838200" y="1543574"/>
            <a:ext cx="10515600" cy="4949301"/>
          </a:xfrm>
        </p:spPr>
        <p:txBody>
          <a:bodyPr>
            <a:normAutofit fontScale="92500" lnSpcReduction="20000"/>
          </a:bodyPr>
          <a:lstStyle/>
          <a:p>
            <a:pPr marL="0" indent="0">
              <a:buNone/>
            </a:pPr>
            <a:r>
              <a:rPr lang="fr-CA"/>
              <a:t>Marge sur coût variable unitaire </a:t>
            </a:r>
            <a:r>
              <a:rPr lang="fr-CA" i="1"/>
              <a:t>(</a:t>
            </a:r>
            <a:r>
              <a:rPr lang="fr-CA" i="1" err="1"/>
              <a:t>MCVu</a:t>
            </a:r>
            <a:r>
              <a:rPr lang="fr-CA" i="1"/>
              <a:t>)</a:t>
            </a:r>
          </a:p>
          <a:p>
            <a:pPr lvl="1"/>
            <a:r>
              <a:rPr lang="fr-CA"/>
              <a:t>calculée en fonction de mesures volumétriques, qui s’expriment soit en unités produites ou en unités établies en fonction de facteurs contraignants</a:t>
            </a:r>
          </a:p>
          <a:p>
            <a:pPr marL="0" indent="0">
              <a:buNone/>
            </a:pPr>
            <a:r>
              <a:rPr lang="fr-CA"/>
              <a:t>Marge sur coût variable totale </a:t>
            </a:r>
            <a:r>
              <a:rPr lang="fr-CA" i="1"/>
              <a:t>(</a:t>
            </a:r>
            <a:r>
              <a:rPr lang="fr-CA" i="1" err="1"/>
              <a:t>MCVt</a:t>
            </a:r>
            <a:r>
              <a:rPr lang="fr-CA" i="1"/>
              <a:t> = </a:t>
            </a:r>
            <a:r>
              <a:rPr lang="fr-CA" i="1" err="1"/>
              <a:t>MCVu</a:t>
            </a:r>
            <a:r>
              <a:rPr lang="fr-CA" i="1"/>
              <a:t> x # d’unités)</a:t>
            </a:r>
          </a:p>
          <a:p>
            <a:pPr lvl="1"/>
            <a:r>
              <a:rPr lang="fr-CA"/>
              <a:t>constitue une première approximation des flux monétaires, mais qui ne tient pas compte des coûts fixes</a:t>
            </a:r>
          </a:p>
          <a:p>
            <a:pPr marL="0" indent="0">
              <a:buNone/>
            </a:pPr>
            <a:r>
              <a:rPr lang="fr-CA"/>
              <a:t>Marge brute</a:t>
            </a:r>
          </a:p>
          <a:p>
            <a:pPr lvl="1"/>
            <a:r>
              <a:rPr lang="fr-CA"/>
              <a:t>Revenus (ventes) moins les coûts de fabrication</a:t>
            </a:r>
          </a:p>
          <a:p>
            <a:pPr lvl="1"/>
            <a:r>
              <a:rPr lang="fr-CA"/>
              <a:t>i.e. incorporation des coûts fixes de fabrication, incluant l’amortissement des actifs long terme liés aux processus de fabrication</a:t>
            </a:r>
          </a:p>
          <a:p>
            <a:pPr marL="0" indent="0">
              <a:buNone/>
            </a:pPr>
            <a:r>
              <a:rPr lang="fr-CA"/>
              <a:t>Marge (ou bénéfice) d’exploitation</a:t>
            </a:r>
          </a:p>
          <a:p>
            <a:pPr lvl="1"/>
            <a:r>
              <a:rPr lang="fr-CA"/>
              <a:t>Revenus (ventes) moins tous les coûts d’exploitation</a:t>
            </a:r>
          </a:p>
          <a:p>
            <a:pPr lvl="1"/>
            <a:r>
              <a:rPr lang="fr-CA"/>
              <a:t>i.e. incorporation de tous les coûts d’exploitation (incluant l’amortissement des actifs long terme non liés aux processus de fabrication), mais excluant les coûts de financement et l’impôt</a:t>
            </a:r>
          </a:p>
        </p:txBody>
      </p:sp>
    </p:spTree>
    <p:extLst>
      <p:ext uri="{BB962C8B-B14F-4D97-AF65-F5344CB8AC3E}">
        <p14:creationId xmlns:p14="http://schemas.microsoft.com/office/powerpoint/2010/main" val="4286538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B18E1B-354A-66D7-7DC6-3A30C7C78288}"/>
              </a:ext>
            </a:extLst>
          </p:cNvPr>
          <p:cNvSpPr>
            <a:spLocks noGrp="1"/>
          </p:cNvSpPr>
          <p:nvPr>
            <p:ph type="title"/>
          </p:nvPr>
        </p:nvSpPr>
        <p:spPr/>
        <p:txBody>
          <a:bodyPr/>
          <a:lstStyle/>
          <a:p>
            <a:r>
              <a:rPr lang="fr-CA"/>
              <a:t>Outils d’analyse de performance financière – incluant l’impact fiscal</a:t>
            </a:r>
          </a:p>
        </p:txBody>
      </p:sp>
      <p:sp>
        <p:nvSpPr>
          <p:cNvPr id="3" name="Espace réservé du contenu 2">
            <a:extLst>
              <a:ext uri="{FF2B5EF4-FFF2-40B4-BE49-F238E27FC236}">
                <a16:creationId xmlns:a16="http://schemas.microsoft.com/office/drawing/2014/main" id="{698EBFEF-17BE-8004-5B30-1761B9A8D31D}"/>
              </a:ext>
            </a:extLst>
          </p:cNvPr>
          <p:cNvSpPr>
            <a:spLocks noGrp="1"/>
          </p:cNvSpPr>
          <p:nvPr>
            <p:ph idx="1"/>
          </p:nvPr>
        </p:nvSpPr>
        <p:spPr/>
        <p:txBody>
          <a:bodyPr>
            <a:normAutofit fontScale="92500" lnSpcReduction="20000"/>
          </a:bodyPr>
          <a:lstStyle/>
          <a:p>
            <a:pPr marL="0" indent="0">
              <a:buNone/>
            </a:pPr>
            <a:r>
              <a:rPr lang="fr-CA" dirty="0"/>
              <a:t>Bénéfice net</a:t>
            </a:r>
          </a:p>
          <a:p>
            <a:pPr lvl="1"/>
            <a:r>
              <a:rPr lang="fr-CA" dirty="0"/>
              <a:t>Revenus nets de tous les coûts, incluant les coûts de financements et l’impôt</a:t>
            </a:r>
          </a:p>
          <a:p>
            <a:pPr lvl="1"/>
            <a:endParaRPr lang="fr-CA" dirty="0"/>
          </a:p>
          <a:p>
            <a:pPr marL="0" indent="0">
              <a:buNone/>
            </a:pPr>
            <a:r>
              <a:rPr lang="fr-CA" dirty="0"/>
              <a:t>Flux monétaires nets</a:t>
            </a:r>
          </a:p>
          <a:p>
            <a:pPr lvl="1"/>
            <a:r>
              <a:rPr lang="fr-CA" dirty="0"/>
              <a:t>Calcul des entrées de fonds moins les sorties de fonds</a:t>
            </a:r>
          </a:p>
          <a:p>
            <a:pPr lvl="1"/>
            <a:r>
              <a:rPr lang="fr-CA" dirty="0"/>
              <a:t>On peut les estimer à partir des mesures de bénéfices</a:t>
            </a:r>
          </a:p>
          <a:p>
            <a:pPr lvl="2"/>
            <a:r>
              <a:rPr lang="fr-CA" dirty="0"/>
              <a:t>Exemple: FMN = Bénéfice d’exploitation, auquel on rajoute les items qui n’affectent pas l’encaisse (l’amortissement étant le meilleur exemple)</a:t>
            </a:r>
          </a:p>
          <a:p>
            <a:pPr lvl="1"/>
            <a:r>
              <a:rPr lang="fr-CA" dirty="0"/>
              <a:t>Pour </a:t>
            </a:r>
            <a:r>
              <a:rPr lang="fr-CA" b="1" i="1" u="sng" dirty="0"/>
              <a:t>planifier</a:t>
            </a:r>
            <a:r>
              <a:rPr lang="fr-CA" dirty="0"/>
              <a:t> les variations de trésorerie (budget de caisse) – on tiendra compte de toutes les sorties de fonds, incluant le remboursement de la dette et les paiements d’intérêts</a:t>
            </a:r>
          </a:p>
          <a:p>
            <a:pPr lvl="1"/>
            <a:r>
              <a:rPr lang="fr-CA" dirty="0"/>
              <a:t>Pour </a:t>
            </a:r>
            <a:r>
              <a:rPr lang="fr-CA" b="1" i="1" u="sng" dirty="0"/>
              <a:t>prendre une décision</a:t>
            </a:r>
            <a:r>
              <a:rPr lang="fr-CA" dirty="0"/>
              <a:t> d’exploitation, on séparera la décision d’exploitation de la décision de financement – on ne tiendra pas compte des remboursements de dette et des paiements d’intérêts</a:t>
            </a:r>
          </a:p>
        </p:txBody>
      </p:sp>
    </p:spTree>
    <p:extLst>
      <p:ext uri="{BB962C8B-B14F-4D97-AF65-F5344CB8AC3E}">
        <p14:creationId xmlns:p14="http://schemas.microsoft.com/office/powerpoint/2010/main" val="2568298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68ED51-D4AE-9534-2488-68A0B08086D1}"/>
              </a:ext>
            </a:extLst>
          </p:cNvPr>
          <p:cNvSpPr>
            <a:spLocks noGrp="1"/>
          </p:cNvSpPr>
          <p:nvPr>
            <p:ph type="title"/>
          </p:nvPr>
        </p:nvSpPr>
        <p:spPr/>
        <p:txBody>
          <a:bodyPr/>
          <a:lstStyle/>
          <a:p>
            <a:r>
              <a:rPr lang="fr-CA"/>
              <a:t>Analyse d’une option stratégique</a:t>
            </a:r>
          </a:p>
        </p:txBody>
      </p:sp>
      <p:sp>
        <p:nvSpPr>
          <p:cNvPr id="3" name="Espace réservé du contenu 2">
            <a:extLst>
              <a:ext uri="{FF2B5EF4-FFF2-40B4-BE49-F238E27FC236}">
                <a16:creationId xmlns:a16="http://schemas.microsoft.com/office/drawing/2014/main" id="{92219A8F-97FF-8CAB-20FA-5E5E6A17538D}"/>
              </a:ext>
            </a:extLst>
          </p:cNvPr>
          <p:cNvSpPr>
            <a:spLocks noGrp="1"/>
          </p:cNvSpPr>
          <p:nvPr>
            <p:ph idx="1"/>
          </p:nvPr>
        </p:nvSpPr>
        <p:spPr>
          <a:xfrm>
            <a:off x="838200" y="1493240"/>
            <a:ext cx="10515600" cy="4999635"/>
          </a:xfrm>
        </p:spPr>
        <p:txBody>
          <a:bodyPr>
            <a:normAutofit fontScale="77500" lnSpcReduction="20000"/>
          </a:bodyPr>
          <a:lstStyle/>
          <a:p>
            <a:pPr marL="0" indent="0">
              <a:buNone/>
            </a:pPr>
            <a:r>
              <a:rPr lang="fr-CA" sz="3500"/>
              <a:t>Voici quelques conseils pour analyser un projet long terme:</a:t>
            </a:r>
          </a:p>
          <a:p>
            <a:pPr marL="514350" indent="-514350">
              <a:buFont typeface="+mj-lt"/>
              <a:buAutoNum type="arabicPeriod"/>
            </a:pPr>
            <a:r>
              <a:rPr lang="fr-CA"/>
              <a:t>Déterminer les flux monétaires associés au projet</a:t>
            </a:r>
          </a:p>
          <a:p>
            <a:pPr lvl="1"/>
            <a:r>
              <a:rPr lang="fr-CA"/>
              <a:t>La MCV (unitaire ou totale) constitue souvent la première étape (voir analyse du recyclage dans WDI)</a:t>
            </a:r>
          </a:p>
          <a:p>
            <a:pPr lvl="1"/>
            <a:r>
              <a:rPr lang="fr-CA"/>
              <a:t>Le critère de pertinence des éléments incorporés à l’analyse est important – attention notamment aux coûts de renonciation (voir redevance perdus – projet de traitement des déchets organiques)</a:t>
            </a:r>
          </a:p>
          <a:p>
            <a:pPr lvl="1"/>
            <a:r>
              <a:rPr lang="fr-CA"/>
              <a:t>Les flux monétaires considérés doivent généralement être nets d’impôts </a:t>
            </a:r>
          </a:p>
          <a:p>
            <a:pPr marL="514350" indent="-514350">
              <a:buFont typeface="+mj-lt"/>
              <a:buAutoNum type="arabicPeriod"/>
            </a:pPr>
            <a:r>
              <a:rPr lang="fr-CA"/>
              <a:t>Choix de l’outil d’analyse</a:t>
            </a:r>
          </a:p>
          <a:p>
            <a:pPr lvl="1"/>
            <a:r>
              <a:rPr lang="fr-CA"/>
              <a:t>On utilisera la VAN si un investissement important est requis en début de projet </a:t>
            </a:r>
          </a:p>
          <a:p>
            <a:pPr lvl="1"/>
            <a:r>
              <a:rPr lang="fr-CA"/>
              <a:t>Sinon, les analyses de marges pourraient s’avérer suffisantes (voir analyse de l’option « Services conseils »)</a:t>
            </a:r>
          </a:p>
          <a:p>
            <a:pPr lvl="1"/>
            <a:r>
              <a:rPr lang="fr-CA"/>
              <a:t>Des outils complémentaires (point mort, délai de récupération) peuvent aussi être éclairants pour la prise de décision</a:t>
            </a:r>
          </a:p>
          <a:p>
            <a:pPr marL="514350" indent="-514350">
              <a:buFont typeface="+mj-lt"/>
              <a:buAutoNum type="arabicPeriod"/>
            </a:pPr>
            <a:r>
              <a:rPr lang="fr-CA"/>
              <a:t>Appui à la prise de décision</a:t>
            </a:r>
          </a:p>
          <a:p>
            <a:pPr lvl="1"/>
            <a:r>
              <a:rPr lang="fr-CA"/>
              <a:t>L’impact d’un projet sur les objectifs stratégiques doit être analysé</a:t>
            </a:r>
          </a:p>
          <a:p>
            <a:pPr lvl="1"/>
            <a:r>
              <a:rPr lang="fr-CA"/>
              <a:t>Ces objectifs sont souvent exprimés en termes de bénéfice net et/ou d’exploitation; l’habilité de convertir des FM en mesure de bénéfice (ou inversement) devient alors importante</a:t>
            </a:r>
          </a:p>
          <a:p>
            <a:pPr marL="514350" indent="-514350">
              <a:buFont typeface="+mj-lt"/>
              <a:buAutoNum type="arabicPeriod"/>
            </a:pPr>
            <a:endParaRPr lang="fr-CA"/>
          </a:p>
        </p:txBody>
      </p:sp>
    </p:spTree>
    <p:extLst>
      <p:ext uri="{BB962C8B-B14F-4D97-AF65-F5344CB8AC3E}">
        <p14:creationId xmlns:p14="http://schemas.microsoft.com/office/powerpoint/2010/main" val="1074214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custDataLst>
              <p:tags r:id="rId1"/>
            </p:custDataLst>
          </p:nvPr>
        </p:nvSpPr>
        <p:spPr>
          <a:xfrm>
            <a:off x="653144" y="0"/>
            <a:ext cx="8730864" cy="891540"/>
          </a:xfrm>
        </p:spPr>
        <p:txBody>
          <a:bodyPr>
            <a:normAutofit/>
          </a:bodyPr>
          <a:lstStyle/>
          <a:p>
            <a:pPr eaLnBrk="1" hangingPunct="1"/>
            <a:r>
              <a:rPr lang="fr-CA">
                <a:latin typeface="+mn-lt"/>
                <a:cs typeface="Times New Roman" pitchFamily="18" charset="0"/>
              </a:rPr>
              <a:t>VAN</a:t>
            </a:r>
          </a:p>
        </p:txBody>
      </p:sp>
      <p:sp>
        <p:nvSpPr>
          <p:cNvPr id="16388" name="Rectangle 3"/>
          <p:cNvSpPr>
            <a:spLocks noGrp="1" noChangeArrowheads="1"/>
          </p:cNvSpPr>
          <p:nvPr>
            <p:ph idx="1"/>
            <p:custDataLst>
              <p:tags r:id="rId2"/>
            </p:custDataLst>
          </p:nvPr>
        </p:nvSpPr>
        <p:spPr>
          <a:xfrm>
            <a:off x="1205659" y="2075058"/>
            <a:ext cx="9791648" cy="4221239"/>
          </a:xfrm>
        </p:spPr>
        <p:txBody>
          <a:bodyPr>
            <a:normAutofit fontScale="92500" lnSpcReduction="20000"/>
          </a:bodyPr>
          <a:lstStyle/>
          <a:p>
            <a:pPr marL="640080" indent="-640080">
              <a:spcAft>
                <a:spcPts val="720"/>
              </a:spcAft>
              <a:buSzPct val="100000"/>
              <a:buFontTx/>
              <a:buAutoNum type="arabicPeriod"/>
            </a:pPr>
            <a:r>
              <a:rPr lang="fr-CA" sz="2400">
                <a:cs typeface="Times New Roman" pitchFamily="18" charset="0"/>
              </a:rPr>
              <a:t>Investissement initial					</a:t>
            </a:r>
            <a:r>
              <a:rPr lang="fr-CA" sz="2400">
                <a:solidFill>
                  <a:srgbClr val="FF0000"/>
                </a:solidFill>
                <a:cs typeface="Times New Roman" pitchFamily="18" charset="0"/>
              </a:rPr>
              <a:t>            (-)</a:t>
            </a:r>
          </a:p>
          <a:p>
            <a:pPr lvl="2">
              <a:spcAft>
                <a:spcPts val="720"/>
              </a:spcAft>
              <a:buSzPct val="100000"/>
            </a:pPr>
            <a:r>
              <a:rPr lang="fr-CA" sz="1900">
                <a:cs typeface="Times New Roman" pitchFamily="18" charset="0"/>
              </a:rPr>
              <a:t>Incluant les besoins en fonds de roulement</a:t>
            </a:r>
          </a:p>
          <a:p>
            <a:pPr marL="0" indent="0">
              <a:spcAft>
                <a:spcPts val="720"/>
              </a:spcAft>
              <a:buSzPct val="100000"/>
              <a:buNone/>
            </a:pPr>
            <a:r>
              <a:rPr lang="fr-CA" sz="2400">
                <a:cs typeface="Times New Roman" pitchFamily="18" charset="0"/>
              </a:rPr>
              <a:t>2. Économie d’impôts reliée à la DPA 				           (+)</a:t>
            </a:r>
          </a:p>
          <a:p>
            <a:pPr lvl="1">
              <a:spcAft>
                <a:spcPts val="720"/>
              </a:spcAft>
              <a:buSzPct val="100000"/>
            </a:pPr>
            <a:endParaRPr lang="fr-CA" sz="1600">
              <a:solidFill>
                <a:srgbClr val="FF0000"/>
              </a:solidFill>
              <a:cs typeface="Times New Roman" pitchFamily="18" charset="0"/>
            </a:endParaRPr>
          </a:p>
          <a:p>
            <a:pPr marL="0" indent="0">
              <a:buSzPct val="100000"/>
              <a:buNone/>
            </a:pPr>
            <a:r>
              <a:rPr lang="fr-CA" sz="2400">
                <a:cs typeface="Times New Roman" pitchFamily="18" charset="0"/>
              </a:rPr>
              <a:t>3.  Flux monétaires nets périodiques				             (+)</a:t>
            </a:r>
          </a:p>
          <a:p>
            <a:pPr marL="1447800" lvl="2" indent="-571500"/>
            <a:r>
              <a:rPr lang="fr-CA" sz="2200">
                <a:cs typeface="Times New Roman" pitchFamily="18" charset="0"/>
              </a:rPr>
              <a:t>Revenus moins dépenses pour chaque période</a:t>
            </a:r>
          </a:p>
          <a:p>
            <a:pPr marL="1447800" lvl="2" indent="-571500"/>
            <a:r>
              <a:rPr lang="fr-CA" sz="2200">
                <a:cs typeface="Times New Roman" pitchFamily="18" charset="0"/>
              </a:rPr>
              <a:t>Coûts d’opportunités entraînés par le projet</a:t>
            </a:r>
          </a:p>
          <a:p>
            <a:pPr marL="1447800" lvl="2" indent="-571500">
              <a:spcAft>
                <a:spcPts val="720"/>
              </a:spcAft>
            </a:pPr>
            <a:r>
              <a:rPr lang="fr-CA" sz="2200">
                <a:cs typeface="Times New Roman" pitchFamily="18" charset="0"/>
              </a:rPr>
              <a:t>Montants nets d’impôts</a:t>
            </a:r>
          </a:p>
          <a:p>
            <a:pPr marL="1447800" lvl="2" indent="-571500">
              <a:spcAft>
                <a:spcPts val="720"/>
              </a:spcAft>
            </a:pPr>
            <a:endParaRPr lang="fr-CA" sz="1600">
              <a:cs typeface="Times New Roman" pitchFamily="18" charset="0"/>
            </a:endParaRPr>
          </a:p>
          <a:p>
            <a:pPr marL="0" indent="0">
              <a:spcAft>
                <a:spcPts val="720"/>
              </a:spcAft>
              <a:buSzPct val="100000"/>
              <a:buNone/>
            </a:pPr>
            <a:r>
              <a:rPr lang="fr-CA" sz="2400">
                <a:cs typeface="Times New Roman" pitchFamily="18" charset="0"/>
              </a:rPr>
              <a:t>4. Valeur résiduelle						             (+)</a:t>
            </a:r>
          </a:p>
          <a:p>
            <a:pPr marL="0" indent="0">
              <a:buSzPct val="100000"/>
              <a:buNone/>
            </a:pPr>
            <a:r>
              <a:rPr lang="fr-CA" sz="2400">
                <a:cs typeface="Times New Roman" pitchFamily="18" charset="0"/>
              </a:rPr>
              <a:t>5. Perte d’économie d’impôts afférente			                            </a:t>
            </a:r>
            <a:r>
              <a:rPr lang="fr-CA" sz="2400">
                <a:solidFill>
                  <a:srgbClr val="FF0000"/>
                </a:solidFill>
                <a:cs typeface="Times New Roman" pitchFamily="18" charset="0"/>
              </a:rPr>
              <a:t>(-)</a:t>
            </a:r>
          </a:p>
        </p:txBody>
      </p:sp>
      <p:sp>
        <p:nvSpPr>
          <p:cNvPr id="16390" name="Rectangle 7"/>
          <p:cNvSpPr>
            <a:spLocks noChangeArrowheads="1"/>
          </p:cNvSpPr>
          <p:nvPr/>
        </p:nvSpPr>
        <p:spPr bwMode="auto">
          <a:xfrm>
            <a:off x="378823" y="1118514"/>
            <a:ext cx="11626450" cy="956544"/>
          </a:xfrm>
          <a:prstGeom prst="rect">
            <a:avLst/>
          </a:prstGeom>
          <a:noFill/>
          <a:ln w="9525">
            <a:noFill/>
            <a:miter lim="800000"/>
            <a:headEnd/>
            <a:tailEnd/>
          </a:ln>
        </p:spPr>
        <p:txBody>
          <a:bodyPr wrap="square">
            <a:spAutoFit/>
          </a:bodyPr>
          <a:lstStyle/>
          <a:p>
            <a:pPr>
              <a:lnSpc>
                <a:spcPct val="90000"/>
              </a:lnSpc>
              <a:spcAft>
                <a:spcPts val="720"/>
              </a:spcAft>
            </a:pPr>
            <a:r>
              <a:rPr lang="fr-CA" sz="3120" b="1">
                <a:ea typeface="Arial Unicode MS" pitchFamily="34" charset="-128"/>
                <a:cs typeface="Times New Roman" pitchFamily="18" charset="0"/>
              </a:rPr>
              <a:t>Méthode en 5 étapes qui permet de prendre en considération tous les aspects fiscaux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415" name="Picture 17414">
            <a:extLst>
              <a:ext uri="{FF2B5EF4-FFF2-40B4-BE49-F238E27FC236}">
                <a16:creationId xmlns:a16="http://schemas.microsoft.com/office/drawing/2014/main" id="{95CE608C-E21F-1605-B236-97B9BF87FE0B}"/>
              </a:ext>
            </a:extLst>
          </p:cNvPr>
          <p:cNvPicPr>
            <a:picLocks noChangeAspect="1"/>
          </p:cNvPicPr>
          <p:nvPr/>
        </p:nvPicPr>
        <p:blipFill>
          <a:blip r:embed="rId4">
            <a:duotone>
              <a:schemeClr val="bg2">
                <a:shade val="45000"/>
                <a:satMod val="135000"/>
              </a:schemeClr>
              <a:prstClr val="white"/>
            </a:duotone>
          </a:blip>
          <a:srcRect t="6250"/>
          <a:stretch/>
        </p:blipFill>
        <p:spPr>
          <a:xfrm>
            <a:off x="20" y="10"/>
            <a:ext cx="12191980" cy="6857990"/>
          </a:xfrm>
          <a:prstGeom prst="rect">
            <a:avLst/>
          </a:prstGeom>
        </p:spPr>
      </p:pic>
      <p:sp>
        <p:nvSpPr>
          <p:cNvPr id="17419" name="Rectangle 17418">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1" name="Rectangle 2"/>
          <p:cNvSpPr>
            <a:spLocks noGrp="1" noChangeArrowheads="1"/>
          </p:cNvSpPr>
          <p:nvPr>
            <p:ph type="title"/>
            <p:custDataLst>
              <p:tags r:id="rId1"/>
            </p:custDataLst>
          </p:nvPr>
        </p:nvSpPr>
        <p:spPr>
          <a:xfrm>
            <a:off x="838200" y="365125"/>
            <a:ext cx="10515600" cy="1325563"/>
          </a:xfrm>
        </p:spPr>
        <p:txBody>
          <a:bodyPr>
            <a:normAutofit/>
          </a:bodyPr>
          <a:lstStyle/>
          <a:p>
            <a:pPr eaLnBrk="1" hangingPunct="1"/>
            <a:r>
              <a:rPr lang="fr-CA">
                <a:latin typeface="+mn-lt"/>
                <a:cs typeface="Times New Roman" pitchFamily="18" charset="0"/>
              </a:rPr>
              <a:t>VAN Autres aspects à considérer</a:t>
            </a:r>
          </a:p>
        </p:txBody>
      </p:sp>
      <p:graphicFrame>
        <p:nvGraphicFramePr>
          <p:cNvPr id="17414" name="Rectangle 3">
            <a:extLst>
              <a:ext uri="{FF2B5EF4-FFF2-40B4-BE49-F238E27FC236}">
                <a16:creationId xmlns:a16="http://schemas.microsoft.com/office/drawing/2014/main" id="{333DBBDC-A106-B737-63CC-D62FB5DC7917}"/>
              </a:ext>
            </a:extLst>
          </p:cNvPr>
          <p:cNvGraphicFramePr>
            <a:graphicFrameLocks noGrp="1"/>
          </p:cNvGraphicFramePr>
          <p:nvPr>
            <p:ph idx="1"/>
            <p:extLst>
              <p:ext uri="{D42A27DB-BD31-4B8C-83A1-F6EECF244321}">
                <p14:modId xmlns:p14="http://schemas.microsoft.com/office/powerpoint/2010/main" val="132166187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15" name="Rectangle 17414">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416" name="Freeform: Shape 17419">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417" name="Freeform: Shape 17421">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11" name="Rectangle 2"/>
          <p:cNvSpPr>
            <a:spLocks noGrp="1" noChangeArrowheads="1"/>
          </p:cNvSpPr>
          <p:nvPr>
            <p:ph type="title"/>
            <p:custDataLst>
              <p:tags r:id="rId1"/>
            </p:custDataLst>
          </p:nvPr>
        </p:nvSpPr>
        <p:spPr>
          <a:xfrm>
            <a:off x="621792" y="1161288"/>
            <a:ext cx="3602736" cy="4526280"/>
          </a:xfrm>
        </p:spPr>
        <p:txBody>
          <a:bodyPr>
            <a:normAutofit/>
          </a:bodyPr>
          <a:lstStyle/>
          <a:p>
            <a:pPr eaLnBrk="1" hangingPunct="1"/>
            <a:r>
              <a:rPr lang="fr-CA" sz="4000">
                <a:latin typeface="+mn-lt"/>
                <a:cs typeface="Times New Roman" pitchFamily="18" charset="0"/>
              </a:rPr>
              <a:t>VAN – Ce qu’on ne devrait jamais y trouver</a:t>
            </a:r>
          </a:p>
        </p:txBody>
      </p:sp>
      <p:sp>
        <p:nvSpPr>
          <p:cNvPr id="17419" name="Rectangle 17418">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7421" name="Rectangle 3">
            <a:extLst>
              <a:ext uri="{FF2B5EF4-FFF2-40B4-BE49-F238E27FC236}">
                <a16:creationId xmlns:a16="http://schemas.microsoft.com/office/drawing/2014/main" id="{651ED248-391C-C465-D444-EBFE67190AD0}"/>
              </a:ext>
            </a:extLst>
          </p:cNvPr>
          <p:cNvGraphicFramePr>
            <a:graphicFrameLocks noGrp="1"/>
          </p:cNvGraphicFramePr>
          <p:nvPr>
            <p:ph idx="1"/>
            <p:extLst>
              <p:ext uri="{D42A27DB-BD31-4B8C-83A1-F6EECF244321}">
                <p14:modId xmlns:p14="http://schemas.microsoft.com/office/powerpoint/2010/main" val="2863869483"/>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12854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Espace réservé du numéro de diapositive 1">
            <a:extLst>
              <a:ext uri="{FF2B5EF4-FFF2-40B4-BE49-F238E27FC236}">
                <a16:creationId xmlns:a16="http://schemas.microsoft.com/office/drawing/2014/main" id="{3D572431-4D21-1034-65A4-016828185286}"/>
              </a:ext>
            </a:extLst>
          </p:cNvPr>
          <p:cNvSpPr>
            <a:spLocks noGrp="1"/>
          </p:cNvSpPr>
          <p:nvPr>
            <p:ph type="sldNum" sz="quarter" idx="12"/>
          </p:nvPr>
        </p:nvSpPr>
        <p:spPr>
          <a:xfrm>
            <a:off x="8610600" y="6356350"/>
            <a:ext cx="2743200" cy="365125"/>
          </a:xfrm>
        </p:spPr>
        <p:txBody>
          <a:bodyPr>
            <a:normAutofit/>
          </a:bodyPr>
          <a:lstStyle/>
          <a:p>
            <a:pPr>
              <a:spcAft>
                <a:spcPts val="600"/>
              </a:spcAft>
            </a:pPr>
            <a:fld id="{C73EB41D-849B-4C0C-8BB4-E1DF9CA5FEE5}" type="slidenum">
              <a:rPr lang="fr-CA">
                <a:solidFill>
                  <a:srgbClr val="FFFFFF"/>
                </a:solidFill>
              </a:rPr>
              <a:pPr>
                <a:spcAft>
                  <a:spcPts val="600"/>
                </a:spcAft>
              </a:pPr>
              <a:t>15</a:t>
            </a:fld>
            <a:endParaRPr lang="fr-CA">
              <a:solidFill>
                <a:srgbClr val="FFFFFF"/>
              </a:solidFill>
            </a:endParaRPr>
          </a:p>
        </p:txBody>
      </p:sp>
      <p:pic>
        <p:nvPicPr>
          <p:cNvPr id="7" name="Image 6">
            <a:extLst>
              <a:ext uri="{FF2B5EF4-FFF2-40B4-BE49-F238E27FC236}">
                <a16:creationId xmlns:a16="http://schemas.microsoft.com/office/drawing/2014/main" id="{D87E7385-C2B0-741C-72E3-7E0EED4EB32A}"/>
              </a:ext>
            </a:extLst>
          </p:cNvPr>
          <p:cNvPicPr>
            <a:picLocks noChangeAspect="1"/>
          </p:cNvPicPr>
          <p:nvPr/>
        </p:nvPicPr>
        <p:blipFill>
          <a:blip r:embed="rId2"/>
          <a:stretch>
            <a:fillRect/>
          </a:stretch>
        </p:blipFill>
        <p:spPr>
          <a:xfrm>
            <a:off x="179798" y="1393877"/>
            <a:ext cx="11240542" cy="26390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Image 7">
            <a:extLst>
              <a:ext uri="{FF2B5EF4-FFF2-40B4-BE49-F238E27FC236}">
                <a16:creationId xmlns:a16="http://schemas.microsoft.com/office/drawing/2014/main" id="{D3771616-BD6F-F204-710A-D5F3AE9ACE4C}"/>
              </a:ext>
            </a:extLst>
          </p:cNvPr>
          <p:cNvPicPr>
            <a:picLocks noChangeAspect="1"/>
          </p:cNvPicPr>
          <p:nvPr/>
        </p:nvPicPr>
        <p:blipFill>
          <a:blip r:embed="rId3"/>
          <a:stretch>
            <a:fillRect/>
          </a:stretch>
        </p:blipFill>
        <p:spPr>
          <a:xfrm>
            <a:off x="179798" y="4588111"/>
            <a:ext cx="8430802" cy="171473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Rectangle : coins arrondis 9">
            <a:extLst>
              <a:ext uri="{FF2B5EF4-FFF2-40B4-BE49-F238E27FC236}">
                <a16:creationId xmlns:a16="http://schemas.microsoft.com/office/drawing/2014/main" id="{7F6D99CD-8B18-7A5E-1D36-A260BD58D4B4}"/>
              </a:ext>
            </a:extLst>
          </p:cNvPr>
          <p:cNvSpPr/>
          <p:nvPr/>
        </p:nvSpPr>
        <p:spPr>
          <a:xfrm>
            <a:off x="8580699" y="4588111"/>
            <a:ext cx="3611301" cy="2077475"/>
          </a:xfrm>
          <a:prstGeom prst="round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fr-CA"/>
              <a:t>Règle du </a:t>
            </a:r>
            <a:r>
              <a:rPr lang="fr-CA" err="1"/>
              <a:t>demi-taux</a:t>
            </a:r>
            <a:r>
              <a:rPr lang="fr-CA"/>
              <a:t>  qui sera de retour en 2028 – Cette formule </a:t>
            </a:r>
            <a:r>
              <a:rPr lang="fr-CA" b="1"/>
              <a:t>n’est pas disponible </a:t>
            </a:r>
            <a:r>
              <a:rPr lang="fr-CA"/>
              <a:t>dans le supplément de formule de l’EFC. Il est très peu probable que vous en ayez besoin</a:t>
            </a:r>
          </a:p>
          <a:p>
            <a:pPr algn="ctr"/>
            <a:endParaRPr lang="fr-CA"/>
          </a:p>
        </p:txBody>
      </p:sp>
      <p:sp>
        <p:nvSpPr>
          <p:cNvPr id="11" name="Rectangle : coins arrondis 10">
            <a:extLst>
              <a:ext uri="{FF2B5EF4-FFF2-40B4-BE49-F238E27FC236}">
                <a16:creationId xmlns:a16="http://schemas.microsoft.com/office/drawing/2014/main" id="{C1B72800-468D-24B1-49CA-26317C0DB208}"/>
              </a:ext>
            </a:extLst>
          </p:cNvPr>
          <p:cNvSpPr/>
          <p:nvPr/>
        </p:nvSpPr>
        <p:spPr>
          <a:xfrm>
            <a:off x="3460153" y="3081610"/>
            <a:ext cx="3611301" cy="625032"/>
          </a:xfrm>
          <a:prstGeom prst="round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fr-CA"/>
              <a:t>S’applique à la majorité des actifs d’ici 2028</a:t>
            </a:r>
          </a:p>
        </p:txBody>
      </p:sp>
      <p:sp>
        <p:nvSpPr>
          <p:cNvPr id="12" name="Rectangle : coins arrondis 11">
            <a:extLst>
              <a:ext uri="{FF2B5EF4-FFF2-40B4-BE49-F238E27FC236}">
                <a16:creationId xmlns:a16="http://schemas.microsoft.com/office/drawing/2014/main" id="{A7A38D4D-3532-831E-D9BA-E96618264528}"/>
              </a:ext>
            </a:extLst>
          </p:cNvPr>
          <p:cNvSpPr/>
          <p:nvPr/>
        </p:nvSpPr>
        <p:spPr>
          <a:xfrm>
            <a:off x="393539" y="73380"/>
            <a:ext cx="10428790" cy="10429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sz="2800" b="1"/>
          </a:p>
          <a:p>
            <a:pPr algn="ctr"/>
            <a:r>
              <a:rPr lang="fr-CA" sz="2800" b="1"/>
              <a:t>Calcul de la valeur actualisée des économies d’impôts pour les actif amortissable</a:t>
            </a:r>
          </a:p>
          <a:p>
            <a:pPr algn="ctr"/>
            <a:endParaRPr lang="fr-CA" sz="2800" b="1"/>
          </a:p>
        </p:txBody>
      </p:sp>
    </p:spTree>
    <p:extLst>
      <p:ext uri="{BB962C8B-B14F-4D97-AF65-F5344CB8AC3E}">
        <p14:creationId xmlns:p14="http://schemas.microsoft.com/office/powerpoint/2010/main" val="1384870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58A40015-5661-D06E-6328-2FA0279690DF}"/>
              </a:ext>
            </a:extLst>
          </p:cNvPr>
          <p:cNvSpPr>
            <a:spLocks noGrp="1"/>
          </p:cNvSpPr>
          <p:nvPr>
            <p:ph type="sldNum" sz="quarter" idx="12"/>
          </p:nvPr>
        </p:nvSpPr>
        <p:spPr/>
        <p:txBody>
          <a:bodyPr/>
          <a:lstStyle/>
          <a:p>
            <a:fld id="{C73EB41D-849B-4C0C-8BB4-E1DF9CA5FEE5}" type="slidenum">
              <a:rPr lang="fr-CA" smtClean="0"/>
              <a:t>16</a:t>
            </a:fld>
            <a:endParaRPr lang="fr-CA"/>
          </a:p>
        </p:txBody>
      </p:sp>
      <p:sp>
        <p:nvSpPr>
          <p:cNvPr id="6" name="Rectangle : coins arrondis 5">
            <a:extLst>
              <a:ext uri="{FF2B5EF4-FFF2-40B4-BE49-F238E27FC236}">
                <a16:creationId xmlns:a16="http://schemas.microsoft.com/office/drawing/2014/main" id="{4B27F14C-930D-338A-56E7-93E9AEBCF885}"/>
              </a:ext>
            </a:extLst>
          </p:cNvPr>
          <p:cNvSpPr/>
          <p:nvPr/>
        </p:nvSpPr>
        <p:spPr>
          <a:xfrm>
            <a:off x="717630" y="381965"/>
            <a:ext cx="10428790" cy="10429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2800" b="1"/>
              <a:t>Autres formules disponibles dans le supplément de formule</a:t>
            </a:r>
          </a:p>
          <a:p>
            <a:pPr algn="ctr"/>
            <a:endParaRPr lang="fr-CA" sz="2800" b="1"/>
          </a:p>
        </p:txBody>
      </p:sp>
      <p:pic>
        <p:nvPicPr>
          <p:cNvPr id="7" name="Image 6">
            <a:extLst>
              <a:ext uri="{FF2B5EF4-FFF2-40B4-BE49-F238E27FC236}">
                <a16:creationId xmlns:a16="http://schemas.microsoft.com/office/drawing/2014/main" id="{13448843-12A9-CE32-9DBF-8B2EA1B89060}"/>
              </a:ext>
            </a:extLst>
          </p:cNvPr>
          <p:cNvPicPr>
            <a:picLocks noChangeAspect="1"/>
          </p:cNvPicPr>
          <p:nvPr/>
        </p:nvPicPr>
        <p:blipFill>
          <a:blip r:embed="rId2"/>
          <a:stretch>
            <a:fillRect/>
          </a:stretch>
        </p:blipFill>
        <p:spPr>
          <a:xfrm>
            <a:off x="0" y="1918771"/>
            <a:ext cx="12192000" cy="3020458"/>
          </a:xfrm>
          <a:prstGeom prst="rect">
            <a:avLst/>
          </a:prstGeom>
        </p:spPr>
      </p:pic>
      <p:sp>
        <p:nvSpPr>
          <p:cNvPr id="8" name="Rectangle : coins arrondis 7">
            <a:extLst>
              <a:ext uri="{FF2B5EF4-FFF2-40B4-BE49-F238E27FC236}">
                <a16:creationId xmlns:a16="http://schemas.microsoft.com/office/drawing/2014/main" id="{39696F4E-74B9-41B4-6A60-4018E4542269}"/>
              </a:ext>
            </a:extLst>
          </p:cNvPr>
          <p:cNvSpPr/>
          <p:nvPr/>
        </p:nvSpPr>
        <p:spPr>
          <a:xfrm>
            <a:off x="5943600" y="3917631"/>
            <a:ext cx="5094514" cy="1346699"/>
          </a:xfrm>
          <a:prstGeom prst="round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fr-CA" sz="2400"/>
              <a:t>S’applique à très peu d’actifs (catégorie 12)</a:t>
            </a:r>
          </a:p>
        </p:txBody>
      </p:sp>
    </p:spTree>
    <p:extLst>
      <p:ext uri="{BB962C8B-B14F-4D97-AF65-F5344CB8AC3E}">
        <p14:creationId xmlns:p14="http://schemas.microsoft.com/office/powerpoint/2010/main" val="998674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04BF14DD-ABAA-297C-B310-D47DE8AB2D33}"/>
              </a:ext>
            </a:extLst>
          </p:cNvPr>
          <p:cNvSpPr>
            <a:spLocks noGrp="1"/>
          </p:cNvSpPr>
          <p:nvPr>
            <p:ph type="sldNum" sz="quarter" idx="12"/>
          </p:nvPr>
        </p:nvSpPr>
        <p:spPr/>
        <p:txBody>
          <a:bodyPr/>
          <a:lstStyle/>
          <a:p>
            <a:fld id="{C73EB41D-849B-4C0C-8BB4-E1DF9CA5FEE5}" type="slidenum">
              <a:rPr lang="fr-CA" smtClean="0"/>
              <a:t>17</a:t>
            </a:fld>
            <a:endParaRPr lang="fr-CA"/>
          </a:p>
        </p:txBody>
      </p:sp>
      <p:pic>
        <p:nvPicPr>
          <p:cNvPr id="11" name="Image 10">
            <a:extLst>
              <a:ext uri="{FF2B5EF4-FFF2-40B4-BE49-F238E27FC236}">
                <a16:creationId xmlns:a16="http://schemas.microsoft.com/office/drawing/2014/main" id="{059C8E71-61DD-54E1-317E-5F7509675778}"/>
              </a:ext>
            </a:extLst>
          </p:cNvPr>
          <p:cNvPicPr>
            <a:picLocks noChangeAspect="1"/>
          </p:cNvPicPr>
          <p:nvPr/>
        </p:nvPicPr>
        <p:blipFill>
          <a:blip r:embed="rId3"/>
          <a:stretch>
            <a:fillRect/>
          </a:stretch>
        </p:blipFill>
        <p:spPr>
          <a:xfrm>
            <a:off x="787896" y="2409394"/>
            <a:ext cx="8834524" cy="3276594"/>
          </a:xfrm>
          <a:prstGeom prst="rect">
            <a:avLst/>
          </a:prstGeom>
        </p:spPr>
      </p:pic>
      <p:sp>
        <p:nvSpPr>
          <p:cNvPr id="9" name="Rectangle : coins arrondis 8">
            <a:extLst>
              <a:ext uri="{FF2B5EF4-FFF2-40B4-BE49-F238E27FC236}">
                <a16:creationId xmlns:a16="http://schemas.microsoft.com/office/drawing/2014/main" id="{0E27F70E-3CF8-D4DB-74BC-BE1FCC8267BF}"/>
              </a:ext>
            </a:extLst>
          </p:cNvPr>
          <p:cNvSpPr/>
          <p:nvPr/>
        </p:nvSpPr>
        <p:spPr>
          <a:xfrm>
            <a:off x="3379807" y="3613732"/>
            <a:ext cx="7973993" cy="625032"/>
          </a:xfrm>
          <a:prstGeom prst="round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fr-CA" sz="2000"/>
              <a:t>Avant 2024, majorité des actifs autres que la catégorie 43 et 53</a:t>
            </a:r>
          </a:p>
        </p:txBody>
      </p:sp>
      <p:sp>
        <p:nvSpPr>
          <p:cNvPr id="12" name="Rectangle : coins arrondis 11">
            <a:extLst>
              <a:ext uri="{FF2B5EF4-FFF2-40B4-BE49-F238E27FC236}">
                <a16:creationId xmlns:a16="http://schemas.microsoft.com/office/drawing/2014/main" id="{9F59FEDA-A5D7-856E-BC7F-584C33AACF8B}"/>
              </a:ext>
            </a:extLst>
          </p:cNvPr>
          <p:cNvSpPr/>
          <p:nvPr/>
        </p:nvSpPr>
        <p:spPr>
          <a:xfrm>
            <a:off x="717630" y="381965"/>
            <a:ext cx="10428790" cy="10429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2800" b="1"/>
              <a:t>Autres formules disponibles dans le supplément de formule</a:t>
            </a:r>
          </a:p>
          <a:p>
            <a:pPr algn="ctr"/>
            <a:endParaRPr lang="fr-CA" sz="2800" b="1"/>
          </a:p>
        </p:txBody>
      </p:sp>
    </p:spTree>
    <p:extLst>
      <p:ext uri="{BB962C8B-B14F-4D97-AF65-F5344CB8AC3E}">
        <p14:creationId xmlns:p14="http://schemas.microsoft.com/office/powerpoint/2010/main" val="1802257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EF1606BD-1231-4DF3-59B5-05911E5D2A2B}"/>
              </a:ext>
            </a:extLst>
          </p:cNvPr>
          <p:cNvSpPr>
            <a:spLocks noGrp="1"/>
          </p:cNvSpPr>
          <p:nvPr>
            <p:ph type="sldNum" sz="quarter" idx="12"/>
          </p:nvPr>
        </p:nvSpPr>
        <p:spPr/>
        <p:txBody>
          <a:bodyPr/>
          <a:lstStyle/>
          <a:p>
            <a:fld id="{C73EB41D-849B-4C0C-8BB4-E1DF9CA5FEE5}" type="slidenum">
              <a:rPr lang="fr-CA" smtClean="0"/>
              <a:t>18</a:t>
            </a:fld>
            <a:endParaRPr lang="fr-CA"/>
          </a:p>
        </p:txBody>
      </p:sp>
      <p:sp>
        <p:nvSpPr>
          <p:cNvPr id="3" name="Rectangle : coins arrondis 2">
            <a:extLst>
              <a:ext uri="{FF2B5EF4-FFF2-40B4-BE49-F238E27FC236}">
                <a16:creationId xmlns:a16="http://schemas.microsoft.com/office/drawing/2014/main" id="{EC7EF716-75FD-38AA-0EA7-B33C1E85767C}"/>
              </a:ext>
            </a:extLst>
          </p:cNvPr>
          <p:cNvSpPr/>
          <p:nvPr/>
        </p:nvSpPr>
        <p:spPr>
          <a:xfrm>
            <a:off x="717630" y="381964"/>
            <a:ext cx="10428790" cy="13773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2800" b="1"/>
              <a:t>Calcul de la DPA pour les actifs  admis à la passation en charge intégrale – machinerie et équipement de fabrication –</a:t>
            </a:r>
          </a:p>
          <a:p>
            <a:pPr algn="ctr"/>
            <a:r>
              <a:rPr lang="fr-CA" sz="2800" b="1"/>
              <a:t> Catégorie 43 et 53 </a:t>
            </a:r>
          </a:p>
        </p:txBody>
      </p:sp>
      <p:pic>
        <p:nvPicPr>
          <p:cNvPr id="4" name="Image 3">
            <a:extLst>
              <a:ext uri="{FF2B5EF4-FFF2-40B4-BE49-F238E27FC236}">
                <a16:creationId xmlns:a16="http://schemas.microsoft.com/office/drawing/2014/main" id="{E7B34AB4-E683-CE5D-D533-72ADA73EF11A}"/>
              </a:ext>
            </a:extLst>
          </p:cNvPr>
          <p:cNvPicPr>
            <a:picLocks noChangeAspect="1"/>
          </p:cNvPicPr>
          <p:nvPr/>
        </p:nvPicPr>
        <p:blipFill>
          <a:blip r:embed="rId3"/>
          <a:stretch>
            <a:fillRect/>
          </a:stretch>
        </p:blipFill>
        <p:spPr>
          <a:xfrm>
            <a:off x="287714" y="2708797"/>
            <a:ext cx="11616572" cy="2140995"/>
          </a:xfrm>
          <a:prstGeom prst="rect">
            <a:avLst/>
          </a:prstGeom>
        </p:spPr>
      </p:pic>
      <p:sp>
        <p:nvSpPr>
          <p:cNvPr id="5" name="Rectangle : coins arrondis 4">
            <a:extLst>
              <a:ext uri="{FF2B5EF4-FFF2-40B4-BE49-F238E27FC236}">
                <a16:creationId xmlns:a16="http://schemas.microsoft.com/office/drawing/2014/main" id="{00149A2A-FDA9-3F34-B768-F3883E6BD38B}"/>
              </a:ext>
            </a:extLst>
          </p:cNvPr>
          <p:cNvSpPr/>
          <p:nvPr/>
        </p:nvSpPr>
        <p:spPr>
          <a:xfrm>
            <a:off x="2476983" y="5290555"/>
            <a:ext cx="7973993" cy="625032"/>
          </a:xfrm>
          <a:prstGeom prst="round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fr-CA"/>
              <a:t>Ces informations ne seront pas fournies à l’EFC, mais pourraient vous être utiles lors du cours 40912 </a:t>
            </a:r>
          </a:p>
        </p:txBody>
      </p:sp>
    </p:spTree>
    <p:extLst>
      <p:ext uri="{BB962C8B-B14F-4D97-AF65-F5344CB8AC3E}">
        <p14:creationId xmlns:p14="http://schemas.microsoft.com/office/powerpoint/2010/main" val="2422514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9D503FA-007C-42A8-996A-65BC578035C1}"/>
              </a:ext>
            </a:extLst>
          </p:cNvPr>
          <p:cNvSpPr>
            <a:spLocks noGrp="1"/>
          </p:cNvSpPr>
          <p:nvPr>
            <p:ph type="sldNum" sz="quarter" idx="12"/>
          </p:nvPr>
        </p:nvSpPr>
        <p:spPr/>
        <p:txBody>
          <a:bodyPr/>
          <a:lstStyle/>
          <a:p>
            <a:fld id="{C73EB41D-849B-4C0C-8BB4-E1DF9CA5FEE5}" type="slidenum">
              <a:rPr lang="fr-CA" smtClean="0"/>
              <a:t>19</a:t>
            </a:fld>
            <a:endParaRPr lang="fr-CA"/>
          </a:p>
        </p:txBody>
      </p:sp>
      <p:sp>
        <p:nvSpPr>
          <p:cNvPr id="3" name="Rectangle à coins arrondis 5">
            <a:extLst>
              <a:ext uri="{FF2B5EF4-FFF2-40B4-BE49-F238E27FC236}">
                <a16:creationId xmlns:a16="http://schemas.microsoft.com/office/drawing/2014/main" id="{5F1A6280-51E9-45E4-A54A-29CDBEF68A7D}"/>
              </a:ext>
            </a:extLst>
          </p:cNvPr>
          <p:cNvSpPr/>
          <p:nvPr>
            <p:custDataLst>
              <p:tags r:id="rId1"/>
            </p:custDataLst>
          </p:nvPr>
        </p:nvSpPr>
        <p:spPr>
          <a:xfrm>
            <a:off x="929640" y="402454"/>
            <a:ext cx="10332720" cy="10671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b="1"/>
              <a:t>Structure d’analyse </a:t>
            </a:r>
          </a:p>
        </p:txBody>
      </p:sp>
      <p:sp>
        <p:nvSpPr>
          <p:cNvPr id="5" name="Rectangle : coins arrondis 4">
            <a:extLst>
              <a:ext uri="{FF2B5EF4-FFF2-40B4-BE49-F238E27FC236}">
                <a16:creationId xmlns:a16="http://schemas.microsoft.com/office/drawing/2014/main" id="{2D1F9379-9579-43CF-8AAC-E9A6039F6827}"/>
              </a:ext>
            </a:extLst>
          </p:cNvPr>
          <p:cNvSpPr/>
          <p:nvPr/>
        </p:nvSpPr>
        <p:spPr>
          <a:xfrm>
            <a:off x="929639" y="1867988"/>
            <a:ext cx="1212669" cy="914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Q</a:t>
            </a:r>
          </a:p>
        </p:txBody>
      </p:sp>
      <p:sp>
        <p:nvSpPr>
          <p:cNvPr id="6" name="Rectangle : coins arrondis 5">
            <a:extLst>
              <a:ext uri="{FF2B5EF4-FFF2-40B4-BE49-F238E27FC236}">
                <a16:creationId xmlns:a16="http://schemas.microsoft.com/office/drawing/2014/main" id="{63D15B47-67CD-474C-8238-0A575EA95CB7}"/>
              </a:ext>
            </a:extLst>
          </p:cNvPr>
          <p:cNvSpPr/>
          <p:nvPr/>
        </p:nvSpPr>
        <p:spPr>
          <a:xfrm>
            <a:off x="929640" y="2971800"/>
            <a:ext cx="1212669" cy="914400"/>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C</a:t>
            </a:r>
          </a:p>
        </p:txBody>
      </p:sp>
      <p:sp>
        <p:nvSpPr>
          <p:cNvPr id="7" name="Rectangle : coins arrondis 6">
            <a:extLst>
              <a:ext uri="{FF2B5EF4-FFF2-40B4-BE49-F238E27FC236}">
                <a16:creationId xmlns:a16="http://schemas.microsoft.com/office/drawing/2014/main" id="{D95818C6-5273-4D39-9A85-E4D1294A29A9}"/>
              </a:ext>
            </a:extLst>
          </p:cNvPr>
          <p:cNvSpPr/>
          <p:nvPr/>
        </p:nvSpPr>
        <p:spPr>
          <a:xfrm>
            <a:off x="929638" y="4075612"/>
            <a:ext cx="1212669" cy="9144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Q</a:t>
            </a:r>
          </a:p>
        </p:txBody>
      </p:sp>
      <p:sp>
        <p:nvSpPr>
          <p:cNvPr id="8" name="Rectangle : coins arrondis 7">
            <a:extLst>
              <a:ext uri="{FF2B5EF4-FFF2-40B4-BE49-F238E27FC236}">
                <a16:creationId xmlns:a16="http://schemas.microsoft.com/office/drawing/2014/main" id="{71A7D6D9-3712-4AE6-989E-A914351311D9}"/>
              </a:ext>
            </a:extLst>
          </p:cNvPr>
          <p:cNvSpPr/>
          <p:nvPr/>
        </p:nvSpPr>
        <p:spPr>
          <a:xfrm>
            <a:off x="929638" y="5179424"/>
            <a:ext cx="1212669" cy="914400"/>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R</a:t>
            </a:r>
          </a:p>
        </p:txBody>
      </p:sp>
      <p:sp>
        <p:nvSpPr>
          <p:cNvPr id="9" name="Rectangle : coins arrondis 8">
            <a:extLst>
              <a:ext uri="{FF2B5EF4-FFF2-40B4-BE49-F238E27FC236}">
                <a16:creationId xmlns:a16="http://schemas.microsoft.com/office/drawing/2014/main" id="{804F7106-C1C5-4985-9D03-BFA9EA0BC225}"/>
              </a:ext>
            </a:extLst>
          </p:cNvPr>
          <p:cNvSpPr/>
          <p:nvPr/>
        </p:nvSpPr>
        <p:spPr>
          <a:xfrm>
            <a:off x="2388325" y="1867988"/>
            <a:ext cx="8874035" cy="914398"/>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Quantitatif</a:t>
            </a:r>
          </a:p>
        </p:txBody>
      </p:sp>
      <p:sp>
        <p:nvSpPr>
          <p:cNvPr id="10" name="Rectangle : coins arrondis 9">
            <a:extLst>
              <a:ext uri="{FF2B5EF4-FFF2-40B4-BE49-F238E27FC236}">
                <a16:creationId xmlns:a16="http://schemas.microsoft.com/office/drawing/2014/main" id="{7B217802-7713-458D-B74B-D237F4AE12B9}"/>
              </a:ext>
            </a:extLst>
          </p:cNvPr>
          <p:cNvSpPr/>
          <p:nvPr/>
        </p:nvSpPr>
        <p:spPr>
          <a:xfrm>
            <a:off x="2388325" y="2971800"/>
            <a:ext cx="8874035" cy="914398"/>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Conclusion quantitative</a:t>
            </a:r>
          </a:p>
        </p:txBody>
      </p:sp>
      <p:sp>
        <p:nvSpPr>
          <p:cNvPr id="11" name="Rectangle : coins arrondis 10">
            <a:extLst>
              <a:ext uri="{FF2B5EF4-FFF2-40B4-BE49-F238E27FC236}">
                <a16:creationId xmlns:a16="http://schemas.microsoft.com/office/drawing/2014/main" id="{3E2A32F7-45B2-418D-9D83-4F61AE5319EB}"/>
              </a:ext>
            </a:extLst>
          </p:cNvPr>
          <p:cNvSpPr/>
          <p:nvPr/>
        </p:nvSpPr>
        <p:spPr>
          <a:xfrm>
            <a:off x="2388326" y="4075612"/>
            <a:ext cx="8965474" cy="914398"/>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Qualitatif </a:t>
            </a:r>
          </a:p>
        </p:txBody>
      </p:sp>
      <p:sp>
        <p:nvSpPr>
          <p:cNvPr id="12" name="Rectangle : coins arrondis 11">
            <a:extLst>
              <a:ext uri="{FF2B5EF4-FFF2-40B4-BE49-F238E27FC236}">
                <a16:creationId xmlns:a16="http://schemas.microsoft.com/office/drawing/2014/main" id="{310480CF-15A0-44B6-954C-04BD54B26CDB}"/>
              </a:ext>
            </a:extLst>
          </p:cNvPr>
          <p:cNvSpPr/>
          <p:nvPr/>
        </p:nvSpPr>
        <p:spPr>
          <a:xfrm>
            <a:off x="2388326" y="5179423"/>
            <a:ext cx="8965474" cy="914399"/>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Recommandation </a:t>
            </a:r>
          </a:p>
        </p:txBody>
      </p:sp>
    </p:spTree>
    <p:extLst>
      <p:ext uri="{BB962C8B-B14F-4D97-AF65-F5344CB8AC3E}">
        <p14:creationId xmlns:p14="http://schemas.microsoft.com/office/powerpoint/2010/main" val="397312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9D503FA-007C-42A8-996A-65BC578035C1}"/>
              </a:ext>
            </a:extLst>
          </p:cNvPr>
          <p:cNvSpPr>
            <a:spLocks noGrp="1"/>
          </p:cNvSpPr>
          <p:nvPr>
            <p:ph type="sldNum" sz="quarter" idx="12"/>
          </p:nvPr>
        </p:nvSpPr>
        <p:spPr/>
        <p:txBody>
          <a:bodyPr/>
          <a:lstStyle/>
          <a:p>
            <a:fld id="{C73EB41D-849B-4C0C-8BB4-E1DF9CA5FEE5}" type="slidenum">
              <a:rPr lang="fr-CA" smtClean="0"/>
              <a:t>20</a:t>
            </a:fld>
            <a:endParaRPr lang="fr-CA"/>
          </a:p>
        </p:txBody>
      </p:sp>
      <p:sp>
        <p:nvSpPr>
          <p:cNvPr id="3" name="Rectangle à coins arrondis 5">
            <a:extLst>
              <a:ext uri="{FF2B5EF4-FFF2-40B4-BE49-F238E27FC236}">
                <a16:creationId xmlns:a16="http://schemas.microsoft.com/office/drawing/2014/main" id="{5F1A6280-51E9-45E4-A54A-29CDBEF68A7D}"/>
              </a:ext>
            </a:extLst>
          </p:cNvPr>
          <p:cNvSpPr/>
          <p:nvPr>
            <p:custDataLst>
              <p:tags r:id="rId1"/>
            </p:custDataLst>
          </p:nvPr>
        </p:nvSpPr>
        <p:spPr>
          <a:xfrm>
            <a:off x="929640" y="402454"/>
            <a:ext cx="10332720" cy="10671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b="1"/>
              <a:t>Structure d’analyse </a:t>
            </a:r>
          </a:p>
        </p:txBody>
      </p:sp>
      <p:sp>
        <p:nvSpPr>
          <p:cNvPr id="5" name="Rectangle : coins arrondis 4">
            <a:extLst>
              <a:ext uri="{FF2B5EF4-FFF2-40B4-BE49-F238E27FC236}">
                <a16:creationId xmlns:a16="http://schemas.microsoft.com/office/drawing/2014/main" id="{2D1F9379-9579-43CF-8AAC-E9A6039F6827}"/>
              </a:ext>
            </a:extLst>
          </p:cNvPr>
          <p:cNvSpPr/>
          <p:nvPr/>
        </p:nvSpPr>
        <p:spPr>
          <a:xfrm>
            <a:off x="929640" y="1867987"/>
            <a:ext cx="1212669" cy="914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Q</a:t>
            </a:r>
          </a:p>
        </p:txBody>
      </p:sp>
      <p:sp>
        <p:nvSpPr>
          <p:cNvPr id="9" name="Rectangle : coins arrondis 8">
            <a:extLst>
              <a:ext uri="{FF2B5EF4-FFF2-40B4-BE49-F238E27FC236}">
                <a16:creationId xmlns:a16="http://schemas.microsoft.com/office/drawing/2014/main" id="{804F7106-C1C5-4985-9D03-BFA9EA0BC225}"/>
              </a:ext>
            </a:extLst>
          </p:cNvPr>
          <p:cNvSpPr/>
          <p:nvPr/>
        </p:nvSpPr>
        <p:spPr>
          <a:xfrm>
            <a:off x="2388325" y="1867987"/>
            <a:ext cx="8874035" cy="4389122"/>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CA" sz="5400">
                <a:ln w="0"/>
                <a:solidFill>
                  <a:schemeClr val="tx1"/>
                </a:solidFill>
                <a:effectLst>
                  <a:outerShdw blurRad="38100" dist="19050" dir="2700000" algn="tl" rotWithShape="0">
                    <a:schemeClr val="dk1">
                      <a:alpha val="40000"/>
                    </a:schemeClr>
                  </a:outerShdw>
                </a:effectLst>
              </a:rPr>
              <a:t>Quantitatif: </a:t>
            </a:r>
          </a:p>
          <a:p>
            <a:pPr marL="571500" indent="-571500">
              <a:buFont typeface="Arial" panose="020B0604020202020204" pitchFamily="34" charset="0"/>
              <a:buChar char="•"/>
            </a:pPr>
            <a:r>
              <a:rPr lang="fr-CA" sz="4000">
                <a:ln w="0"/>
                <a:solidFill>
                  <a:schemeClr val="tx1"/>
                </a:solidFill>
                <a:effectLst>
                  <a:outerShdw blurRad="38100" dist="19050" dir="2700000" algn="tl" rotWithShape="0">
                    <a:schemeClr val="dk1">
                      <a:alpha val="40000"/>
                    </a:schemeClr>
                  </a:outerShdw>
                </a:effectLst>
              </a:rPr>
              <a:t>Analyses quantitatives complétées dans Excel </a:t>
            </a:r>
          </a:p>
          <a:p>
            <a:pPr marL="571500" indent="-571500">
              <a:buFont typeface="Arial" panose="020B0604020202020204" pitchFamily="34" charset="0"/>
              <a:buChar char="•"/>
            </a:pPr>
            <a:r>
              <a:rPr lang="fr-CA" sz="4000">
                <a:ln w="0"/>
                <a:solidFill>
                  <a:schemeClr val="tx1"/>
                </a:solidFill>
                <a:effectLst>
                  <a:outerShdw blurRad="38100" dist="19050" dir="2700000" algn="tl" rotWithShape="0">
                    <a:schemeClr val="dk1">
                      <a:alpha val="40000"/>
                    </a:schemeClr>
                  </a:outerShdw>
                </a:effectLst>
              </a:rPr>
              <a:t>Utilisation des outils appropriés</a:t>
            </a:r>
          </a:p>
          <a:p>
            <a:pPr marL="571500" indent="-571500">
              <a:buFont typeface="Arial" panose="020B0604020202020204" pitchFamily="34" charset="0"/>
              <a:buChar char="•"/>
            </a:pPr>
            <a:r>
              <a:rPr lang="fr-CA" sz="4000">
                <a:ln w="0"/>
                <a:solidFill>
                  <a:schemeClr val="tx1"/>
                </a:solidFill>
                <a:effectLst>
                  <a:outerShdw blurRad="38100" dist="19050" dir="2700000" algn="tl" rotWithShape="0">
                    <a:schemeClr val="dk1">
                      <a:alpha val="40000"/>
                    </a:schemeClr>
                  </a:outerShdw>
                </a:effectLst>
              </a:rPr>
              <a:t>Justification des hypothèses</a:t>
            </a:r>
          </a:p>
          <a:p>
            <a:endParaRPr lang="fr-CA" sz="540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622008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9D503FA-007C-42A8-996A-65BC578035C1}"/>
              </a:ext>
            </a:extLst>
          </p:cNvPr>
          <p:cNvSpPr>
            <a:spLocks noGrp="1"/>
          </p:cNvSpPr>
          <p:nvPr>
            <p:ph type="sldNum" sz="quarter" idx="12"/>
          </p:nvPr>
        </p:nvSpPr>
        <p:spPr/>
        <p:txBody>
          <a:bodyPr/>
          <a:lstStyle/>
          <a:p>
            <a:fld id="{C73EB41D-849B-4C0C-8BB4-E1DF9CA5FEE5}" type="slidenum">
              <a:rPr lang="fr-CA" smtClean="0"/>
              <a:t>21</a:t>
            </a:fld>
            <a:endParaRPr lang="fr-CA"/>
          </a:p>
        </p:txBody>
      </p:sp>
      <p:sp>
        <p:nvSpPr>
          <p:cNvPr id="3" name="Rectangle à coins arrondis 5">
            <a:extLst>
              <a:ext uri="{FF2B5EF4-FFF2-40B4-BE49-F238E27FC236}">
                <a16:creationId xmlns:a16="http://schemas.microsoft.com/office/drawing/2014/main" id="{5F1A6280-51E9-45E4-A54A-29CDBEF68A7D}"/>
              </a:ext>
            </a:extLst>
          </p:cNvPr>
          <p:cNvSpPr/>
          <p:nvPr>
            <p:custDataLst>
              <p:tags r:id="rId1"/>
            </p:custDataLst>
          </p:nvPr>
        </p:nvSpPr>
        <p:spPr>
          <a:xfrm>
            <a:off x="929640" y="402454"/>
            <a:ext cx="10332720" cy="10671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b="1"/>
              <a:t>Structure d’analyse </a:t>
            </a:r>
          </a:p>
        </p:txBody>
      </p:sp>
      <p:sp>
        <p:nvSpPr>
          <p:cNvPr id="5" name="Rectangle : coins arrondis 4">
            <a:extLst>
              <a:ext uri="{FF2B5EF4-FFF2-40B4-BE49-F238E27FC236}">
                <a16:creationId xmlns:a16="http://schemas.microsoft.com/office/drawing/2014/main" id="{2D1F9379-9579-43CF-8AAC-E9A6039F6827}"/>
              </a:ext>
            </a:extLst>
          </p:cNvPr>
          <p:cNvSpPr/>
          <p:nvPr/>
        </p:nvSpPr>
        <p:spPr>
          <a:xfrm>
            <a:off x="929639" y="1867988"/>
            <a:ext cx="1212669" cy="914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Q</a:t>
            </a:r>
          </a:p>
        </p:txBody>
      </p:sp>
      <p:sp>
        <p:nvSpPr>
          <p:cNvPr id="6" name="Rectangle : coins arrondis 5">
            <a:extLst>
              <a:ext uri="{FF2B5EF4-FFF2-40B4-BE49-F238E27FC236}">
                <a16:creationId xmlns:a16="http://schemas.microsoft.com/office/drawing/2014/main" id="{63D15B47-67CD-474C-8238-0A575EA95CB7}"/>
              </a:ext>
            </a:extLst>
          </p:cNvPr>
          <p:cNvSpPr/>
          <p:nvPr/>
        </p:nvSpPr>
        <p:spPr>
          <a:xfrm>
            <a:off x="929640" y="2971800"/>
            <a:ext cx="1212669" cy="914400"/>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C</a:t>
            </a:r>
          </a:p>
        </p:txBody>
      </p:sp>
      <p:sp>
        <p:nvSpPr>
          <p:cNvPr id="9" name="Rectangle : coins arrondis 8">
            <a:extLst>
              <a:ext uri="{FF2B5EF4-FFF2-40B4-BE49-F238E27FC236}">
                <a16:creationId xmlns:a16="http://schemas.microsoft.com/office/drawing/2014/main" id="{804F7106-C1C5-4985-9D03-BFA9EA0BC225}"/>
              </a:ext>
            </a:extLst>
          </p:cNvPr>
          <p:cNvSpPr/>
          <p:nvPr/>
        </p:nvSpPr>
        <p:spPr>
          <a:xfrm>
            <a:off x="2388325" y="1867988"/>
            <a:ext cx="8874035" cy="914398"/>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Quantitatif</a:t>
            </a:r>
          </a:p>
        </p:txBody>
      </p:sp>
      <p:sp>
        <p:nvSpPr>
          <p:cNvPr id="10" name="Rectangle : coins arrondis 9">
            <a:extLst>
              <a:ext uri="{FF2B5EF4-FFF2-40B4-BE49-F238E27FC236}">
                <a16:creationId xmlns:a16="http://schemas.microsoft.com/office/drawing/2014/main" id="{7B217802-7713-458D-B74B-D237F4AE12B9}"/>
              </a:ext>
            </a:extLst>
          </p:cNvPr>
          <p:cNvSpPr/>
          <p:nvPr/>
        </p:nvSpPr>
        <p:spPr>
          <a:xfrm>
            <a:off x="2388325" y="2971799"/>
            <a:ext cx="8874035" cy="3886201"/>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CA" sz="4800">
                <a:ln w="0"/>
                <a:solidFill>
                  <a:schemeClr val="tx1"/>
                </a:solidFill>
                <a:effectLst>
                  <a:outerShdw blurRad="38100" dist="19050" dir="2700000" algn="tl" rotWithShape="0">
                    <a:schemeClr val="dk1">
                      <a:alpha val="40000"/>
                    </a:schemeClr>
                  </a:outerShdw>
                </a:effectLst>
              </a:rPr>
              <a:t>Conclusion quantitative</a:t>
            </a:r>
          </a:p>
          <a:p>
            <a:pPr marL="685800" indent="-685800">
              <a:buFont typeface="Arial" panose="020B0604020202020204" pitchFamily="34" charset="0"/>
              <a:buChar char="•"/>
            </a:pPr>
            <a:r>
              <a:rPr lang="fr-CA" sz="4000">
                <a:ln w="0"/>
                <a:solidFill>
                  <a:schemeClr val="tx1"/>
                </a:solidFill>
                <a:effectLst>
                  <a:outerShdw blurRad="38100" dist="19050" dir="2700000" algn="tl" rotWithShape="0">
                    <a:schemeClr val="dk1">
                      <a:alpha val="40000"/>
                    </a:schemeClr>
                  </a:outerShdw>
                </a:effectLst>
              </a:rPr>
              <a:t>Résultats de l’analyse (quantifiés)</a:t>
            </a:r>
          </a:p>
          <a:p>
            <a:pPr marL="685800" indent="-685800">
              <a:buFont typeface="Arial" panose="020B0604020202020204" pitchFamily="34" charset="0"/>
              <a:buChar char="•"/>
            </a:pPr>
            <a:r>
              <a:rPr lang="fr-CA" sz="4000">
                <a:ln w="0"/>
                <a:solidFill>
                  <a:schemeClr val="tx1"/>
                </a:solidFill>
                <a:effectLst>
                  <a:outerShdw blurRad="38100" dist="19050" dir="2700000" algn="tl" rotWithShape="0">
                    <a:schemeClr val="dk1">
                      <a:alpha val="40000"/>
                    </a:schemeClr>
                  </a:outerShdw>
                </a:effectLst>
              </a:rPr>
              <a:t>Identification des hypothèses critiques </a:t>
            </a:r>
          </a:p>
          <a:p>
            <a:pPr marL="685800" indent="-685800">
              <a:buFont typeface="Arial" panose="020B0604020202020204" pitchFamily="34" charset="0"/>
              <a:buChar char="•"/>
            </a:pPr>
            <a:r>
              <a:rPr lang="fr-CA" sz="4000">
                <a:ln w="0"/>
                <a:solidFill>
                  <a:schemeClr val="tx1"/>
                </a:solidFill>
                <a:effectLst>
                  <a:outerShdw blurRad="38100" dist="19050" dir="2700000" algn="tl" rotWithShape="0">
                    <a:schemeClr val="dk1">
                      <a:alpha val="40000"/>
                    </a:schemeClr>
                  </a:outerShdw>
                </a:effectLst>
              </a:rPr>
              <a:t>Coûts manquants</a:t>
            </a:r>
          </a:p>
          <a:p>
            <a:pPr marL="685800" indent="-685800">
              <a:buFont typeface="Arial" panose="020B0604020202020204" pitchFamily="34" charset="0"/>
              <a:buChar char="•"/>
            </a:pPr>
            <a:r>
              <a:rPr lang="fr-CA" sz="4000">
                <a:ln w="0"/>
                <a:solidFill>
                  <a:schemeClr val="tx1"/>
                </a:solidFill>
                <a:effectLst>
                  <a:outerShdw blurRad="38100" dist="19050" dir="2700000" algn="tl" rotWithShape="0">
                    <a:schemeClr val="dk1">
                      <a:alpha val="40000"/>
                    </a:schemeClr>
                  </a:outerShdw>
                </a:effectLst>
              </a:rPr>
              <a:t>Impact sur les objectifs stratégiques</a:t>
            </a:r>
          </a:p>
        </p:txBody>
      </p:sp>
    </p:spTree>
    <p:extLst>
      <p:ext uri="{BB962C8B-B14F-4D97-AF65-F5344CB8AC3E}">
        <p14:creationId xmlns:p14="http://schemas.microsoft.com/office/powerpoint/2010/main" val="2424473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9D503FA-007C-42A8-996A-65BC578035C1}"/>
              </a:ext>
            </a:extLst>
          </p:cNvPr>
          <p:cNvSpPr>
            <a:spLocks noGrp="1"/>
          </p:cNvSpPr>
          <p:nvPr>
            <p:ph type="sldNum" sz="quarter" idx="12"/>
          </p:nvPr>
        </p:nvSpPr>
        <p:spPr/>
        <p:txBody>
          <a:bodyPr/>
          <a:lstStyle/>
          <a:p>
            <a:fld id="{C73EB41D-849B-4C0C-8BB4-E1DF9CA5FEE5}" type="slidenum">
              <a:rPr lang="fr-CA" smtClean="0"/>
              <a:t>22</a:t>
            </a:fld>
            <a:endParaRPr lang="fr-CA"/>
          </a:p>
        </p:txBody>
      </p:sp>
      <p:sp>
        <p:nvSpPr>
          <p:cNvPr id="3" name="Rectangle à coins arrondis 5">
            <a:extLst>
              <a:ext uri="{FF2B5EF4-FFF2-40B4-BE49-F238E27FC236}">
                <a16:creationId xmlns:a16="http://schemas.microsoft.com/office/drawing/2014/main" id="{5F1A6280-51E9-45E4-A54A-29CDBEF68A7D}"/>
              </a:ext>
            </a:extLst>
          </p:cNvPr>
          <p:cNvSpPr/>
          <p:nvPr>
            <p:custDataLst>
              <p:tags r:id="rId1"/>
            </p:custDataLst>
          </p:nvPr>
        </p:nvSpPr>
        <p:spPr>
          <a:xfrm>
            <a:off x="929640" y="402454"/>
            <a:ext cx="10332720" cy="10671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b="1"/>
              <a:t>Structure d’analyse </a:t>
            </a:r>
          </a:p>
        </p:txBody>
      </p:sp>
      <p:sp>
        <p:nvSpPr>
          <p:cNvPr id="5" name="Rectangle : coins arrondis 4">
            <a:extLst>
              <a:ext uri="{FF2B5EF4-FFF2-40B4-BE49-F238E27FC236}">
                <a16:creationId xmlns:a16="http://schemas.microsoft.com/office/drawing/2014/main" id="{2D1F9379-9579-43CF-8AAC-E9A6039F6827}"/>
              </a:ext>
            </a:extLst>
          </p:cNvPr>
          <p:cNvSpPr/>
          <p:nvPr/>
        </p:nvSpPr>
        <p:spPr>
          <a:xfrm>
            <a:off x="929639" y="1867988"/>
            <a:ext cx="1212669" cy="914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Q</a:t>
            </a:r>
          </a:p>
        </p:txBody>
      </p:sp>
      <p:sp>
        <p:nvSpPr>
          <p:cNvPr id="6" name="Rectangle : coins arrondis 5">
            <a:extLst>
              <a:ext uri="{FF2B5EF4-FFF2-40B4-BE49-F238E27FC236}">
                <a16:creationId xmlns:a16="http://schemas.microsoft.com/office/drawing/2014/main" id="{63D15B47-67CD-474C-8238-0A575EA95CB7}"/>
              </a:ext>
            </a:extLst>
          </p:cNvPr>
          <p:cNvSpPr/>
          <p:nvPr/>
        </p:nvSpPr>
        <p:spPr>
          <a:xfrm>
            <a:off x="929640" y="2971800"/>
            <a:ext cx="1212669" cy="914400"/>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C</a:t>
            </a:r>
          </a:p>
        </p:txBody>
      </p:sp>
      <p:sp>
        <p:nvSpPr>
          <p:cNvPr id="7" name="Rectangle : coins arrondis 6">
            <a:extLst>
              <a:ext uri="{FF2B5EF4-FFF2-40B4-BE49-F238E27FC236}">
                <a16:creationId xmlns:a16="http://schemas.microsoft.com/office/drawing/2014/main" id="{D95818C6-5273-4D39-9A85-E4D1294A29A9}"/>
              </a:ext>
            </a:extLst>
          </p:cNvPr>
          <p:cNvSpPr/>
          <p:nvPr/>
        </p:nvSpPr>
        <p:spPr>
          <a:xfrm>
            <a:off x="929638" y="4075612"/>
            <a:ext cx="1212669" cy="9144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Q</a:t>
            </a:r>
          </a:p>
        </p:txBody>
      </p:sp>
      <p:sp>
        <p:nvSpPr>
          <p:cNvPr id="9" name="Rectangle : coins arrondis 8">
            <a:extLst>
              <a:ext uri="{FF2B5EF4-FFF2-40B4-BE49-F238E27FC236}">
                <a16:creationId xmlns:a16="http://schemas.microsoft.com/office/drawing/2014/main" id="{804F7106-C1C5-4985-9D03-BFA9EA0BC225}"/>
              </a:ext>
            </a:extLst>
          </p:cNvPr>
          <p:cNvSpPr/>
          <p:nvPr/>
        </p:nvSpPr>
        <p:spPr>
          <a:xfrm>
            <a:off x="2388325" y="1867988"/>
            <a:ext cx="8874035" cy="914398"/>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Quantitatif</a:t>
            </a:r>
          </a:p>
        </p:txBody>
      </p:sp>
      <p:sp>
        <p:nvSpPr>
          <p:cNvPr id="10" name="Rectangle : coins arrondis 9">
            <a:extLst>
              <a:ext uri="{FF2B5EF4-FFF2-40B4-BE49-F238E27FC236}">
                <a16:creationId xmlns:a16="http://schemas.microsoft.com/office/drawing/2014/main" id="{7B217802-7713-458D-B74B-D237F4AE12B9}"/>
              </a:ext>
            </a:extLst>
          </p:cNvPr>
          <p:cNvSpPr/>
          <p:nvPr/>
        </p:nvSpPr>
        <p:spPr>
          <a:xfrm>
            <a:off x="2388325" y="2971800"/>
            <a:ext cx="8874035" cy="914398"/>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Conclusion quantitative</a:t>
            </a:r>
          </a:p>
        </p:txBody>
      </p:sp>
      <p:sp>
        <p:nvSpPr>
          <p:cNvPr id="11" name="Rectangle : coins arrondis 10">
            <a:extLst>
              <a:ext uri="{FF2B5EF4-FFF2-40B4-BE49-F238E27FC236}">
                <a16:creationId xmlns:a16="http://schemas.microsoft.com/office/drawing/2014/main" id="{3E2A32F7-45B2-418D-9D83-4F61AE5319EB}"/>
              </a:ext>
            </a:extLst>
          </p:cNvPr>
          <p:cNvSpPr/>
          <p:nvPr/>
        </p:nvSpPr>
        <p:spPr>
          <a:xfrm>
            <a:off x="2388326" y="4075611"/>
            <a:ext cx="8965474" cy="2645863"/>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CA" sz="5400" dirty="0">
                <a:ln w="0"/>
                <a:solidFill>
                  <a:schemeClr val="tx1"/>
                </a:solidFill>
                <a:effectLst>
                  <a:outerShdw blurRad="38100" dist="19050" dir="2700000" algn="tl" rotWithShape="0">
                    <a:schemeClr val="dk1">
                      <a:alpha val="40000"/>
                    </a:schemeClr>
                  </a:outerShdw>
                </a:effectLst>
              </a:rPr>
              <a:t>Qualitatif </a:t>
            </a:r>
          </a:p>
          <a:p>
            <a:r>
              <a:rPr lang="fr-CA" sz="3200" dirty="0">
                <a:ln w="0"/>
                <a:solidFill>
                  <a:schemeClr val="tx1"/>
                </a:solidFill>
                <a:effectLst>
                  <a:outerShdw blurRad="38100" dist="19050" dir="2700000" algn="tl" rotWithShape="0">
                    <a:schemeClr val="dk1">
                      <a:alpha val="40000"/>
                    </a:schemeClr>
                  </a:outerShdw>
                </a:effectLst>
              </a:rPr>
              <a:t>Compatibilité vision/mission/valeurs</a:t>
            </a:r>
          </a:p>
          <a:p>
            <a:r>
              <a:rPr lang="fr-CA" sz="3200" dirty="0">
                <a:ln w="0"/>
                <a:solidFill>
                  <a:schemeClr val="tx1"/>
                </a:solidFill>
                <a:effectLst>
                  <a:outerShdw blurRad="38100" dist="19050" dir="2700000" algn="tl" rotWithShape="0">
                    <a:schemeClr val="dk1">
                      <a:alpha val="40000"/>
                    </a:schemeClr>
                  </a:outerShdw>
                </a:effectLst>
              </a:rPr>
              <a:t>Avantages/inconvénients</a:t>
            </a:r>
          </a:p>
          <a:p>
            <a:r>
              <a:rPr lang="fr-CA" sz="3200" dirty="0">
                <a:ln w="0"/>
                <a:solidFill>
                  <a:schemeClr val="tx1"/>
                </a:solidFill>
                <a:effectLst>
                  <a:outerShdw blurRad="38100" dist="19050" dir="2700000" algn="tl" rotWithShape="0">
                    <a:schemeClr val="dk1">
                      <a:alpha val="40000"/>
                    </a:schemeClr>
                  </a:outerShdw>
                </a:effectLst>
              </a:rPr>
              <a:t>Liens avec les éléments de l’analyse stratégique</a:t>
            </a:r>
            <a:endParaRPr lang="fr-CA" sz="54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0090021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9D503FA-007C-42A8-996A-65BC578035C1}"/>
              </a:ext>
            </a:extLst>
          </p:cNvPr>
          <p:cNvSpPr>
            <a:spLocks noGrp="1"/>
          </p:cNvSpPr>
          <p:nvPr>
            <p:ph type="sldNum" sz="quarter" idx="12"/>
          </p:nvPr>
        </p:nvSpPr>
        <p:spPr/>
        <p:txBody>
          <a:bodyPr/>
          <a:lstStyle/>
          <a:p>
            <a:fld id="{C73EB41D-849B-4C0C-8BB4-E1DF9CA5FEE5}" type="slidenum">
              <a:rPr lang="fr-CA" smtClean="0"/>
              <a:t>23</a:t>
            </a:fld>
            <a:endParaRPr lang="fr-CA"/>
          </a:p>
        </p:txBody>
      </p:sp>
      <p:sp>
        <p:nvSpPr>
          <p:cNvPr id="3" name="Rectangle à coins arrondis 5">
            <a:extLst>
              <a:ext uri="{FF2B5EF4-FFF2-40B4-BE49-F238E27FC236}">
                <a16:creationId xmlns:a16="http://schemas.microsoft.com/office/drawing/2014/main" id="{5F1A6280-51E9-45E4-A54A-29CDBEF68A7D}"/>
              </a:ext>
            </a:extLst>
          </p:cNvPr>
          <p:cNvSpPr/>
          <p:nvPr>
            <p:custDataLst>
              <p:tags r:id="rId1"/>
            </p:custDataLst>
          </p:nvPr>
        </p:nvSpPr>
        <p:spPr>
          <a:xfrm>
            <a:off x="929640" y="402454"/>
            <a:ext cx="10332720" cy="10671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b="1"/>
              <a:t>Structure d’analyse </a:t>
            </a:r>
          </a:p>
        </p:txBody>
      </p:sp>
      <p:sp>
        <p:nvSpPr>
          <p:cNvPr id="5" name="Rectangle : coins arrondis 4">
            <a:extLst>
              <a:ext uri="{FF2B5EF4-FFF2-40B4-BE49-F238E27FC236}">
                <a16:creationId xmlns:a16="http://schemas.microsoft.com/office/drawing/2014/main" id="{2D1F9379-9579-43CF-8AAC-E9A6039F6827}"/>
              </a:ext>
            </a:extLst>
          </p:cNvPr>
          <p:cNvSpPr/>
          <p:nvPr/>
        </p:nvSpPr>
        <p:spPr>
          <a:xfrm>
            <a:off x="929639" y="1867988"/>
            <a:ext cx="1212669" cy="914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Q</a:t>
            </a:r>
          </a:p>
        </p:txBody>
      </p:sp>
      <p:sp>
        <p:nvSpPr>
          <p:cNvPr id="6" name="Rectangle : coins arrondis 5">
            <a:extLst>
              <a:ext uri="{FF2B5EF4-FFF2-40B4-BE49-F238E27FC236}">
                <a16:creationId xmlns:a16="http://schemas.microsoft.com/office/drawing/2014/main" id="{63D15B47-67CD-474C-8238-0A575EA95CB7}"/>
              </a:ext>
            </a:extLst>
          </p:cNvPr>
          <p:cNvSpPr/>
          <p:nvPr/>
        </p:nvSpPr>
        <p:spPr>
          <a:xfrm>
            <a:off x="929640" y="2971800"/>
            <a:ext cx="1212669" cy="914400"/>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C</a:t>
            </a:r>
          </a:p>
        </p:txBody>
      </p:sp>
      <p:sp>
        <p:nvSpPr>
          <p:cNvPr id="7" name="Rectangle : coins arrondis 6">
            <a:extLst>
              <a:ext uri="{FF2B5EF4-FFF2-40B4-BE49-F238E27FC236}">
                <a16:creationId xmlns:a16="http://schemas.microsoft.com/office/drawing/2014/main" id="{D95818C6-5273-4D39-9A85-E4D1294A29A9}"/>
              </a:ext>
            </a:extLst>
          </p:cNvPr>
          <p:cNvSpPr/>
          <p:nvPr/>
        </p:nvSpPr>
        <p:spPr>
          <a:xfrm>
            <a:off x="929638" y="4075612"/>
            <a:ext cx="1212669" cy="9144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Q</a:t>
            </a:r>
          </a:p>
        </p:txBody>
      </p:sp>
      <p:sp>
        <p:nvSpPr>
          <p:cNvPr id="8" name="Rectangle : coins arrondis 7">
            <a:extLst>
              <a:ext uri="{FF2B5EF4-FFF2-40B4-BE49-F238E27FC236}">
                <a16:creationId xmlns:a16="http://schemas.microsoft.com/office/drawing/2014/main" id="{71A7D6D9-3712-4AE6-989E-A914351311D9}"/>
              </a:ext>
            </a:extLst>
          </p:cNvPr>
          <p:cNvSpPr/>
          <p:nvPr/>
        </p:nvSpPr>
        <p:spPr>
          <a:xfrm>
            <a:off x="929638" y="5179424"/>
            <a:ext cx="1212669" cy="1276122"/>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R</a:t>
            </a:r>
          </a:p>
        </p:txBody>
      </p:sp>
      <p:sp>
        <p:nvSpPr>
          <p:cNvPr id="9" name="Rectangle : coins arrondis 8">
            <a:extLst>
              <a:ext uri="{FF2B5EF4-FFF2-40B4-BE49-F238E27FC236}">
                <a16:creationId xmlns:a16="http://schemas.microsoft.com/office/drawing/2014/main" id="{804F7106-C1C5-4985-9D03-BFA9EA0BC225}"/>
              </a:ext>
            </a:extLst>
          </p:cNvPr>
          <p:cNvSpPr/>
          <p:nvPr/>
        </p:nvSpPr>
        <p:spPr>
          <a:xfrm>
            <a:off x="2388325" y="1867988"/>
            <a:ext cx="8874035" cy="914398"/>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Quantitatif</a:t>
            </a:r>
          </a:p>
        </p:txBody>
      </p:sp>
      <p:sp>
        <p:nvSpPr>
          <p:cNvPr id="10" name="Rectangle : coins arrondis 9">
            <a:extLst>
              <a:ext uri="{FF2B5EF4-FFF2-40B4-BE49-F238E27FC236}">
                <a16:creationId xmlns:a16="http://schemas.microsoft.com/office/drawing/2014/main" id="{7B217802-7713-458D-B74B-D237F4AE12B9}"/>
              </a:ext>
            </a:extLst>
          </p:cNvPr>
          <p:cNvSpPr/>
          <p:nvPr/>
        </p:nvSpPr>
        <p:spPr>
          <a:xfrm>
            <a:off x="2388325" y="2971800"/>
            <a:ext cx="8874035" cy="914398"/>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Conclusion quantitative</a:t>
            </a:r>
          </a:p>
        </p:txBody>
      </p:sp>
      <p:sp>
        <p:nvSpPr>
          <p:cNvPr id="11" name="Rectangle : coins arrondis 10">
            <a:extLst>
              <a:ext uri="{FF2B5EF4-FFF2-40B4-BE49-F238E27FC236}">
                <a16:creationId xmlns:a16="http://schemas.microsoft.com/office/drawing/2014/main" id="{3E2A32F7-45B2-418D-9D83-4F61AE5319EB}"/>
              </a:ext>
            </a:extLst>
          </p:cNvPr>
          <p:cNvSpPr/>
          <p:nvPr/>
        </p:nvSpPr>
        <p:spPr>
          <a:xfrm>
            <a:off x="2388326" y="4075612"/>
            <a:ext cx="8965474" cy="914398"/>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Qualitatif </a:t>
            </a:r>
          </a:p>
        </p:txBody>
      </p:sp>
      <p:sp>
        <p:nvSpPr>
          <p:cNvPr id="12" name="Rectangle : coins arrondis 11">
            <a:extLst>
              <a:ext uri="{FF2B5EF4-FFF2-40B4-BE49-F238E27FC236}">
                <a16:creationId xmlns:a16="http://schemas.microsoft.com/office/drawing/2014/main" id="{310480CF-15A0-44B6-954C-04BD54B26CDB}"/>
              </a:ext>
            </a:extLst>
          </p:cNvPr>
          <p:cNvSpPr/>
          <p:nvPr/>
        </p:nvSpPr>
        <p:spPr>
          <a:xfrm>
            <a:off x="2388326" y="5179423"/>
            <a:ext cx="8965474" cy="1312816"/>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a:ln w="0"/>
                <a:solidFill>
                  <a:schemeClr val="tx1"/>
                </a:solidFill>
                <a:effectLst>
                  <a:outerShdw blurRad="38100" dist="19050" dir="2700000" algn="tl" rotWithShape="0">
                    <a:schemeClr val="dk1">
                      <a:alpha val="40000"/>
                    </a:schemeClr>
                  </a:outerShdw>
                </a:effectLst>
              </a:rPr>
              <a:t>Recommandation </a:t>
            </a:r>
            <a:r>
              <a:rPr lang="fr-CA" sz="3600">
                <a:ln w="0"/>
                <a:solidFill>
                  <a:schemeClr val="tx1"/>
                </a:solidFill>
                <a:effectLst>
                  <a:outerShdw blurRad="38100" dist="19050" dir="2700000" algn="tl" rotWithShape="0">
                    <a:schemeClr val="dk1">
                      <a:alpha val="40000"/>
                    </a:schemeClr>
                  </a:outerShdw>
                </a:effectLst>
              </a:rPr>
              <a:t>(conclusion dans le cas d’options mutuellement exclusives) </a:t>
            </a:r>
            <a:endParaRPr lang="fr-CA" sz="540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737545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9D503FA-007C-42A8-996A-65BC578035C1}"/>
              </a:ext>
            </a:extLst>
          </p:cNvPr>
          <p:cNvSpPr>
            <a:spLocks noGrp="1"/>
          </p:cNvSpPr>
          <p:nvPr>
            <p:ph type="sldNum" sz="quarter" idx="12"/>
          </p:nvPr>
        </p:nvSpPr>
        <p:spPr/>
        <p:txBody>
          <a:bodyPr/>
          <a:lstStyle/>
          <a:p>
            <a:fld id="{C73EB41D-849B-4C0C-8BB4-E1DF9CA5FEE5}" type="slidenum">
              <a:rPr lang="fr-CA" smtClean="0"/>
              <a:t>24</a:t>
            </a:fld>
            <a:endParaRPr lang="fr-CA"/>
          </a:p>
        </p:txBody>
      </p:sp>
      <p:sp>
        <p:nvSpPr>
          <p:cNvPr id="3" name="Rectangle à coins arrondis 5">
            <a:extLst>
              <a:ext uri="{FF2B5EF4-FFF2-40B4-BE49-F238E27FC236}">
                <a16:creationId xmlns:a16="http://schemas.microsoft.com/office/drawing/2014/main" id="{5F1A6280-51E9-45E4-A54A-29CDBEF68A7D}"/>
              </a:ext>
            </a:extLst>
          </p:cNvPr>
          <p:cNvSpPr/>
          <p:nvPr>
            <p:custDataLst>
              <p:tags r:id="rId1"/>
            </p:custDataLst>
          </p:nvPr>
        </p:nvSpPr>
        <p:spPr>
          <a:xfrm>
            <a:off x="929640" y="235691"/>
            <a:ext cx="10332720" cy="10671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5400" b="1"/>
              <a:t>Recommandations</a:t>
            </a:r>
          </a:p>
        </p:txBody>
      </p:sp>
      <p:graphicFrame>
        <p:nvGraphicFramePr>
          <p:cNvPr id="16" name="Diagramme 15">
            <a:extLst>
              <a:ext uri="{FF2B5EF4-FFF2-40B4-BE49-F238E27FC236}">
                <a16:creationId xmlns:a16="http://schemas.microsoft.com/office/drawing/2014/main" id="{13444A65-3A04-4D35-A4EF-C7AC7A89CB5E}"/>
              </a:ext>
            </a:extLst>
          </p:cNvPr>
          <p:cNvGraphicFramePr/>
          <p:nvPr>
            <p:extLst>
              <p:ext uri="{D42A27DB-BD31-4B8C-83A1-F6EECF244321}">
                <p14:modId xmlns:p14="http://schemas.microsoft.com/office/powerpoint/2010/main" val="3269158047"/>
              </p:ext>
            </p:extLst>
          </p:nvPr>
        </p:nvGraphicFramePr>
        <p:xfrm>
          <a:off x="1052286" y="1439333"/>
          <a:ext cx="10210074"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95150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à coins arrondis 5"/>
          <p:cNvSpPr/>
          <p:nvPr>
            <p:custDataLst>
              <p:tags r:id="rId1"/>
            </p:custDataLst>
          </p:nvPr>
        </p:nvSpPr>
        <p:spPr>
          <a:xfrm>
            <a:off x="708660" y="2361883"/>
            <a:ext cx="10332720" cy="30975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 name="Titre 1"/>
          <p:cNvSpPr>
            <a:spLocks noGrp="1"/>
          </p:cNvSpPr>
          <p:nvPr>
            <p:ph type="title"/>
            <p:custDataLst>
              <p:tags r:id="rId2"/>
            </p:custDataLst>
          </p:nvPr>
        </p:nvSpPr>
        <p:spPr>
          <a:xfrm>
            <a:off x="708660" y="2586789"/>
            <a:ext cx="10515600" cy="1908016"/>
          </a:xfrm>
        </p:spPr>
        <p:txBody>
          <a:bodyPr/>
          <a:lstStyle/>
          <a:p>
            <a:pPr algn="ctr"/>
            <a:r>
              <a:rPr lang="fr-CA" b="1">
                <a:solidFill>
                  <a:schemeClr val="bg1"/>
                </a:solidFill>
              </a:rPr>
              <a:t>Analyse stratégique option PPP déchets organiques</a:t>
            </a:r>
          </a:p>
        </p:txBody>
      </p:sp>
      <p:sp>
        <p:nvSpPr>
          <p:cNvPr id="5" name="Espace réservé du numéro de diapositive 4"/>
          <p:cNvSpPr>
            <a:spLocks noGrp="1"/>
          </p:cNvSpPr>
          <p:nvPr>
            <p:ph type="sldNum" sz="quarter" idx="12"/>
            <p:custDataLst>
              <p:tags r:id="rId3"/>
            </p:custDataLst>
          </p:nvPr>
        </p:nvSpPr>
        <p:spPr/>
        <p:txBody>
          <a:bodyPr/>
          <a:lstStyle/>
          <a:p>
            <a:fld id="{EEB25B09-B9A6-4811-8700-6D36B9CE20D1}" type="slidenum">
              <a:rPr lang="fr-CA" smtClean="0"/>
              <a:t>25</a:t>
            </a:fld>
            <a:endParaRPr lang="fr-CA"/>
          </a:p>
        </p:txBody>
      </p:sp>
    </p:spTree>
    <p:extLst>
      <p:ext uri="{BB962C8B-B14F-4D97-AF65-F5344CB8AC3E}">
        <p14:creationId xmlns:p14="http://schemas.microsoft.com/office/powerpoint/2010/main" val="22659047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p:cNvSpPr>
            <a:spLocks noGrp="1"/>
          </p:cNvSpPr>
          <p:nvPr>
            <p:ph type="sldNum" sz="quarter" idx="12"/>
            <p:custDataLst>
              <p:tags r:id="rId1"/>
            </p:custDataLst>
          </p:nvPr>
        </p:nvSpPr>
        <p:spPr/>
        <p:txBody>
          <a:bodyPr/>
          <a:lstStyle/>
          <a:p>
            <a:fld id="{C73EB41D-849B-4C0C-8BB4-E1DF9CA5FEE5}" type="slidenum">
              <a:rPr lang="fr-CA" smtClean="0"/>
              <a:t>26</a:t>
            </a:fld>
            <a:endParaRPr lang="fr-CA"/>
          </a:p>
        </p:txBody>
      </p:sp>
      <p:grpSp>
        <p:nvGrpSpPr>
          <p:cNvPr id="6" name="Group 138">
            <a:extLst>
              <a:ext uri="{FF2B5EF4-FFF2-40B4-BE49-F238E27FC236}">
                <a16:creationId xmlns:a16="http://schemas.microsoft.com/office/drawing/2014/main" id="{4BEAD8A0-4C53-A445-9566-12D9871030FF}"/>
              </a:ext>
            </a:extLst>
          </p:cNvPr>
          <p:cNvGrpSpPr/>
          <p:nvPr>
            <p:custDataLst>
              <p:tags r:id="rId2"/>
            </p:custDataLst>
          </p:nvPr>
        </p:nvGrpSpPr>
        <p:grpSpPr>
          <a:xfrm>
            <a:off x="4583022" y="1485786"/>
            <a:ext cx="2636283" cy="3895654"/>
            <a:chOff x="8704441" y="2571694"/>
            <a:chExt cx="7028256" cy="10385705"/>
          </a:xfrm>
        </p:grpSpPr>
        <p:sp>
          <p:nvSpPr>
            <p:cNvPr id="7" name="Shape 34173">
              <a:extLst>
                <a:ext uri="{FF2B5EF4-FFF2-40B4-BE49-F238E27FC236}">
                  <a16:creationId xmlns:a16="http://schemas.microsoft.com/office/drawing/2014/main" id="{7C2ABBD9-BBC5-C744-A88A-B0FB6D066E4D}"/>
                </a:ext>
              </a:extLst>
            </p:cNvPr>
            <p:cNvSpPr/>
            <p:nvPr/>
          </p:nvSpPr>
          <p:spPr>
            <a:xfrm>
              <a:off x="8704441" y="4977041"/>
              <a:ext cx="795138" cy="696056"/>
            </a:xfrm>
            <a:custGeom>
              <a:avLst/>
              <a:gdLst/>
              <a:ahLst/>
              <a:cxnLst>
                <a:cxn ang="0">
                  <a:pos x="wd2" y="hd2"/>
                </a:cxn>
                <a:cxn ang="5400000">
                  <a:pos x="wd2" y="hd2"/>
                </a:cxn>
                <a:cxn ang="10800000">
                  <a:pos x="wd2" y="hd2"/>
                </a:cxn>
                <a:cxn ang="16200000">
                  <a:pos x="wd2" y="hd2"/>
                </a:cxn>
              </a:cxnLst>
              <a:rect l="0" t="0" r="r" b="b"/>
              <a:pathLst>
                <a:path w="20856" h="21029" extrusionOk="0">
                  <a:moveTo>
                    <a:pt x="20115" y="12466"/>
                  </a:moveTo>
                  <a:cubicBezTo>
                    <a:pt x="19732" y="10390"/>
                    <a:pt x="17957" y="9059"/>
                    <a:pt x="16157" y="9500"/>
                  </a:cubicBezTo>
                  <a:cubicBezTo>
                    <a:pt x="15676" y="9618"/>
                    <a:pt x="15243" y="9853"/>
                    <a:pt x="14872" y="10171"/>
                  </a:cubicBezTo>
                  <a:lnTo>
                    <a:pt x="17218" y="12800"/>
                  </a:lnTo>
                  <a:cubicBezTo>
                    <a:pt x="17383" y="12986"/>
                    <a:pt x="17387" y="13290"/>
                    <a:pt x="17227" y="13481"/>
                  </a:cubicBezTo>
                  <a:cubicBezTo>
                    <a:pt x="17066" y="13671"/>
                    <a:pt x="16803" y="13676"/>
                    <a:pt x="16637" y="13490"/>
                  </a:cubicBezTo>
                  <a:lnTo>
                    <a:pt x="14268" y="10834"/>
                  </a:lnTo>
                  <a:cubicBezTo>
                    <a:pt x="13652" y="11707"/>
                    <a:pt x="13371" y="12880"/>
                    <a:pt x="13589" y="14063"/>
                  </a:cubicBezTo>
                  <a:cubicBezTo>
                    <a:pt x="13972" y="16139"/>
                    <a:pt x="15747" y="17470"/>
                    <a:pt x="17547" y="17029"/>
                  </a:cubicBezTo>
                  <a:cubicBezTo>
                    <a:pt x="19346" y="16589"/>
                    <a:pt x="20498" y="14541"/>
                    <a:pt x="20115" y="12466"/>
                  </a:cubicBezTo>
                  <a:close/>
                  <a:moveTo>
                    <a:pt x="12445" y="7390"/>
                  </a:moveTo>
                  <a:lnTo>
                    <a:pt x="10862" y="7777"/>
                  </a:lnTo>
                  <a:cubicBezTo>
                    <a:pt x="10683" y="7821"/>
                    <a:pt x="10443" y="7721"/>
                    <a:pt x="10330" y="7554"/>
                  </a:cubicBezTo>
                  <a:lnTo>
                    <a:pt x="9382" y="6156"/>
                  </a:lnTo>
                  <a:lnTo>
                    <a:pt x="7858" y="9354"/>
                  </a:lnTo>
                  <a:cubicBezTo>
                    <a:pt x="7858" y="9354"/>
                    <a:pt x="8237" y="9436"/>
                    <a:pt x="8700" y="9536"/>
                  </a:cubicBezTo>
                  <a:lnTo>
                    <a:pt x="12662" y="8566"/>
                  </a:lnTo>
                  <a:cubicBezTo>
                    <a:pt x="12662" y="8566"/>
                    <a:pt x="12445" y="7390"/>
                    <a:pt x="12445" y="7390"/>
                  </a:cubicBezTo>
                  <a:close/>
                  <a:moveTo>
                    <a:pt x="12276" y="9645"/>
                  </a:moveTo>
                  <a:lnTo>
                    <a:pt x="10649" y="10043"/>
                  </a:lnTo>
                  <a:cubicBezTo>
                    <a:pt x="10837" y="10188"/>
                    <a:pt x="10975" y="10413"/>
                    <a:pt x="11024" y="10676"/>
                  </a:cubicBezTo>
                  <a:lnTo>
                    <a:pt x="11025" y="10675"/>
                  </a:lnTo>
                  <a:cubicBezTo>
                    <a:pt x="11025" y="10675"/>
                    <a:pt x="11166" y="11451"/>
                    <a:pt x="11342" y="12416"/>
                  </a:cubicBezTo>
                  <a:cubicBezTo>
                    <a:pt x="11342" y="12416"/>
                    <a:pt x="12276" y="9645"/>
                    <a:pt x="12276" y="9645"/>
                  </a:cubicBezTo>
                  <a:close/>
                  <a:moveTo>
                    <a:pt x="9392" y="11587"/>
                  </a:moveTo>
                  <a:cubicBezTo>
                    <a:pt x="9392" y="11587"/>
                    <a:pt x="7390" y="11287"/>
                    <a:pt x="6435" y="11138"/>
                  </a:cubicBezTo>
                  <a:lnTo>
                    <a:pt x="5956" y="12381"/>
                  </a:lnTo>
                  <a:cubicBezTo>
                    <a:pt x="6790" y="12920"/>
                    <a:pt x="7454" y="13798"/>
                    <a:pt x="7783" y="14892"/>
                  </a:cubicBezTo>
                  <a:lnTo>
                    <a:pt x="9906" y="14373"/>
                  </a:lnTo>
                  <a:cubicBezTo>
                    <a:pt x="9906" y="14373"/>
                    <a:pt x="9392" y="11587"/>
                    <a:pt x="9392" y="11587"/>
                  </a:cubicBezTo>
                  <a:close/>
                  <a:moveTo>
                    <a:pt x="7320" y="15990"/>
                  </a:moveTo>
                  <a:lnTo>
                    <a:pt x="4073" y="16785"/>
                  </a:lnTo>
                  <a:cubicBezTo>
                    <a:pt x="3848" y="16840"/>
                    <a:pt x="3626" y="16674"/>
                    <a:pt x="3578" y="16414"/>
                  </a:cubicBezTo>
                  <a:cubicBezTo>
                    <a:pt x="3557" y="16296"/>
                    <a:pt x="3576" y="16181"/>
                    <a:pt x="3622" y="16083"/>
                  </a:cubicBezTo>
                  <a:lnTo>
                    <a:pt x="3621" y="16082"/>
                  </a:lnTo>
                  <a:lnTo>
                    <a:pt x="4917" y="12711"/>
                  </a:lnTo>
                  <a:cubicBezTo>
                    <a:pt x="4410" y="12543"/>
                    <a:pt x="3861" y="12510"/>
                    <a:pt x="3309" y="12645"/>
                  </a:cubicBezTo>
                  <a:cubicBezTo>
                    <a:pt x="1510" y="13086"/>
                    <a:pt x="358" y="15133"/>
                    <a:pt x="741" y="17209"/>
                  </a:cubicBezTo>
                  <a:cubicBezTo>
                    <a:pt x="1124" y="19285"/>
                    <a:pt x="2899" y="20615"/>
                    <a:pt x="4699" y="20175"/>
                  </a:cubicBezTo>
                  <a:cubicBezTo>
                    <a:pt x="6388" y="19761"/>
                    <a:pt x="7507" y="17930"/>
                    <a:pt x="7320" y="15990"/>
                  </a:cubicBezTo>
                  <a:close/>
                  <a:moveTo>
                    <a:pt x="4700" y="15647"/>
                  </a:moveTo>
                  <a:lnTo>
                    <a:pt x="7121" y="15055"/>
                  </a:lnTo>
                  <a:cubicBezTo>
                    <a:pt x="6845" y="14210"/>
                    <a:pt x="6329" y="13528"/>
                    <a:pt x="5683" y="13093"/>
                  </a:cubicBezTo>
                  <a:cubicBezTo>
                    <a:pt x="5683" y="13093"/>
                    <a:pt x="4700" y="15647"/>
                    <a:pt x="4700" y="15647"/>
                  </a:cubicBezTo>
                  <a:close/>
                  <a:moveTo>
                    <a:pt x="20768" y="12306"/>
                  </a:moveTo>
                  <a:cubicBezTo>
                    <a:pt x="21228" y="14801"/>
                    <a:pt x="19848" y="17253"/>
                    <a:pt x="17686" y="17782"/>
                  </a:cubicBezTo>
                  <a:cubicBezTo>
                    <a:pt x="15523" y="18311"/>
                    <a:pt x="13397" y="16718"/>
                    <a:pt x="12936" y="14223"/>
                  </a:cubicBezTo>
                  <a:cubicBezTo>
                    <a:pt x="12670" y="12777"/>
                    <a:pt x="13022" y="11346"/>
                    <a:pt x="13786" y="10295"/>
                  </a:cubicBezTo>
                  <a:lnTo>
                    <a:pt x="13180" y="9616"/>
                  </a:lnTo>
                  <a:lnTo>
                    <a:pt x="11655" y="14141"/>
                  </a:lnTo>
                  <a:cubicBezTo>
                    <a:pt x="11845" y="15192"/>
                    <a:pt x="12003" y="16082"/>
                    <a:pt x="12002" y="16116"/>
                  </a:cubicBezTo>
                  <a:cubicBezTo>
                    <a:pt x="11988" y="16676"/>
                    <a:pt x="11582" y="17117"/>
                    <a:pt x="11096" y="17100"/>
                  </a:cubicBezTo>
                  <a:cubicBezTo>
                    <a:pt x="10682" y="17085"/>
                    <a:pt x="10344" y="16743"/>
                    <a:pt x="10261" y="16295"/>
                  </a:cubicBezTo>
                  <a:lnTo>
                    <a:pt x="10260" y="16295"/>
                  </a:lnTo>
                  <a:lnTo>
                    <a:pt x="10079" y="15314"/>
                  </a:lnTo>
                  <a:lnTo>
                    <a:pt x="7974" y="15829"/>
                  </a:lnTo>
                  <a:cubicBezTo>
                    <a:pt x="8237" y="18189"/>
                    <a:pt x="6891" y="20425"/>
                    <a:pt x="4838" y="20928"/>
                  </a:cubicBezTo>
                  <a:cubicBezTo>
                    <a:pt x="2675" y="21457"/>
                    <a:pt x="549" y="19863"/>
                    <a:pt x="88" y="17369"/>
                  </a:cubicBezTo>
                  <a:cubicBezTo>
                    <a:pt x="-372" y="14874"/>
                    <a:pt x="1008" y="12422"/>
                    <a:pt x="3170" y="11892"/>
                  </a:cubicBezTo>
                  <a:cubicBezTo>
                    <a:pt x="3866" y="11722"/>
                    <a:pt x="4557" y="11772"/>
                    <a:pt x="5191" y="12001"/>
                  </a:cubicBezTo>
                  <a:lnTo>
                    <a:pt x="5611" y="10908"/>
                  </a:lnTo>
                  <a:cubicBezTo>
                    <a:pt x="5188" y="10637"/>
                    <a:pt x="4908" y="10111"/>
                    <a:pt x="4924" y="9516"/>
                  </a:cubicBezTo>
                  <a:cubicBezTo>
                    <a:pt x="4931" y="9235"/>
                    <a:pt x="5004" y="8976"/>
                    <a:pt x="5123" y="8753"/>
                  </a:cubicBezTo>
                  <a:lnTo>
                    <a:pt x="5122" y="8753"/>
                  </a:lnTo>
                  <a:lnTo>
                    <a:pt x="7375" y="4249"/>
                  </a:lnTo>
                  <a:lnTo>
                    <a:pt x="7375" y="4250"/>
                  </a:lnTo>
                  <a:cubicBezTo>
                    <a:pt x="7591" y="3700"/>
                    <a:pt x="8076" y="3326"/>
                    <a:pt x="8631" y="3346"/>
                  </a:cubicBezTo>
                  <a:cubicBezTo>
                    <a:pt x="9070" y="3361"/>
                    <a:pt x="9452" y="3620"/>
                    <a:pt x="9685" y="4006"/>
                  </a:cubicBezTo>
                  <a:lnTo>
                    <a:pt x="9686" y="4006"/>
                  </a:lnTo>
                  <a:lnTo>
                    <a:pt x="11018" y="6165"/>
                  </a:lnTo>
                  <a:lnTo>
                    <a:pt x="12915" y="5701"/>
                  </a:lnTo>
                  <a:cubicBezTo>
                    <a:pt x="13275" y="5613"/>
                    <a:pt x="13630" y="5878"/>
                    <a:pt x="13706" y="6294"/>
                  </a:cubicBezTo>
                  <a:cubicBezTo>
                    <a:pt x="13778" y="6683"/>
                    <a:pt x="13580" y="7062"/>
                    <a:pt x="13259" y="7182"/>
                  </a:cubicBezTo>
                  <a:lnTo>
                    <a:pt x="13534" y="8671"/>
                  </a:lnTo>
                  <a:lnTo>
                    <a:pt x="14385" y="9625"/>
                  </a:lnTo>
                  <a:cubicBezTo>
                    <a:pt x="14850" y="9205"/>
                    <a:pt x="15402" y="8898"/>
                    <a:pt x="16018" y="8747"/>
                  </a:cubicBezTo>
                  <a:cubicBezTo>
                    <a:pt x="18181" y="8217"/>
                    <a:pt x="20307" y="9811"/>
                    <a:pt x="20768" y="12306"/>
                  </a:cubicBezTo>
                  <a:close/>
                  <a:moveTo>
                    <a:pt x="8795" y="1859"/>
                  </a:moveTo>
                  <a:cubicBezTo>
                    <a:pt x="8642" y="1027"/>
                    <a:pt x="9102" y="210"/>
                    <a:pt x="9823" y="34"/>
                  </a:cubicBezTo>
                  <a:cubicBezTo>
                    <a:pt x="10543" y="-143"/>
                    <a:pt x="11252" y="388"/>
                    <a:pt x="11406" y="1220"/>
                  </a:cubicBezTo>
                  <a:cubicBezTo>
                    <a:pt x="11559" y="2051"/>
                    <a:pt x="11099" y="2869"/>
                    <a:pt x="10378" y="3045"/>
                  </a:cubicBezTo>
                  <a:cubicBezTo>
                    <a:pt x="9658" y="3222"/>
                    <a:pt x="8949" y="2690"/>
                    <a:pt x="8795" y="1859"/>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899">
                <a:latin typeface="Lato Light" panose="020F0502020204030203" pitchFamily="34" charset="0"/>
              </a:endParaRPr>
            </a:p>
          </p:txBody>
        </p:sp>
        <p:sp>
          <p:nvSpPr>
            <p:cNvPr id="8" name="Shape 34174">
              <a:extLst>
                <a:ext uri="{FF2B5EF4-FFF2-40B4-BE49-F238E27FC236}">
                  <a16:creationId xmlns:a16="http://schemas.microsoft.com/office/drawing/2014/main" id="{B89D6FCE-8A07-2F4B-BC7C-28593783ECCF}"/>
                </a:ext>
              </a:extLst>
            </p:cNvPr>
            <p:cNvSpPr/>
            <p:nvPr/>
          </p:nvSpPr>
          <p:spPr>
            <a:xfrm>
              <a:off x="13207711" y="5129396"/>
              <a:ext cx="316260" cy="632520"/>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 name="Shape 34175">
              <a:extLst>
                <a:ext uri="{FF2B5EF4-FFF2-40B4-BE49-F238E27FC236}">
                  <a16:creationId xmlns:a16="http://schemas.microsoft.com/office/drawing/2014/main" id="{128F6F9B-F7C8-1845-9B4C-0EC0496EC080}"/>
                </a:ext>
              </a:extLst>
            </p:cNvPr>
            <p:cNvSpPr/>
            <p:nvPr/>
          </p:nvSpPr>
          <p:spPr>
            <a:xfrm>
              <a:off x="13346915" y="6245061"/>
              <a:ext cx="528722" cy="466192"/>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10" name="Shape 34176">
              <a:extLst>
                <a:ext uri="{FF2B5EF4-FFF2-40B4-BE49-F238E27FC236}">
                  <a16:creationId xmlns:a16="http://schemas.microsoft.com/office/drawing/2014/main" id="{9C64BCDC-E2F0-E146-88D7-41FFB1673416}"/>
                </a:ext>
              </a:extLst>
            </p:cNvPr>
            <p:cNvSpPr/>
            <p:nvPr/>
          </p:nvSpPr>
          <p:spPr>
            <a:xfrm>
              <a:off x="10903238" y="7779831"/>
              <a:ext cx="984814" cy="88519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11" name="Shape 34177">
              <a:extLst>
                <a:ext uri="{FF2B5EF4-FFF2-40B4-BE49-F238E27FC236}">
                  <a16:creationId xmlns:a16="http://schemas.microsoft.com/office/drawing/2014/main" id="{1C408270-55D1-804D-82D7-1476B5E43978}"/>
                </a:ext>
              </a:extLst>
            </p:cNvPr>
            <p:cNvSpPr/>
            <p:nvPr/>
          </p:nvSpPr>
          <p:spPr>
            <a:xfrm>
              <a:off x="11708307" y="11472461"/>
              <a:ext cx="584792" cy="503796"/>
            </a:xfrm>
            <a:custGeom>
              <a:avLst/>
              <a:gdLst/>
              <a:ahLst/>
              <a:cxnLst>
                <a:cxn ang="0">
                  <a:pos x="wd2" y="hd2"/>
                </a:cxn>
                <a:cxn ang="5400000">
                  <a:pos x="wd2" y="hd2"/>
                </a:cxn>
                <a:cxn ang="10800000">
                  <a:pos x="wd2" y="hd2"/>
                </a:cxn>
                <a:cxn ang="16200000">
                  <a:pos x="wd2" y="hd2"/>
                </a:cxn>
              </a:cxnLst>
              <a:rect l="0" t="0" r="r" b="b"/>
              <a:pathLst>
                <a:path w="21600" h="21600" extrusionOk="0">
                  <a:moveTo>
                    <a:pt x="4937" y="21600"/>
                  </a:moveTo>
                  <a:cubicBezTo>
                    <a:pt x="7087" y="19915"/>
                    <a:pt x="7254" y="17403"/>
                    <a:pt x="7225" y="15022"/>
                  </a:cubicBezTo>
                  <a:cubicBezTo>
                    <a:pt x="9087" y="15916"/>
                    <a:pt x="11129" y="16612"/>
                    <a:pt x="13235" y="14961"/>
                  </a:cubicBezTo>
                  <a:cubicBezTo>
                    <a:pt x="15319" y="13326"/>
                    <a:pt x="15547" y="10891"/>
                    <a:pt x="15533" y="8574"/>
                  </a:cubicBezTo>
                  <a:cubicBezTo>
                    <a:pt x="17412" y="9482"/>
                    <a:pt x="19470" y="10214"/>
                    <a:pt x="21600" y="8543"/>
                  </a:cubicBezTo>
                  <a:lnTo>
                    <a:pt x="20969" y="7441"/>
                  </a:lnTo>
                  <a:cubicBezTo>
                    <a:pt x="19165" y="8855"/>
                    <a:pt x="17455" y="8115"/>
                    <a:pt x="15526" y="7147"/>
                  </a:cubicBezTo>
                  <a:cubicBezTo>
                    <a:pt x="15470" y="4670"/>
                    <a:pt x="15489" y="2522"/>
                    <a:pt x="17315" y="1092"/>
                  </a:cubicBezTo>
                  <a:lnTo>
                    <a:pt x="16670" y="0"/>
                  </a:lnTo>
                  <a:cubicBezTo>
                    <a:pt x="14521" y="1685"/>
                    <a:pt x="14346" y="4208"/>
                    <a:pt x="14375" y="6589"/>
                  </a:cubicBezTo>
                  <a:cubicBezTo>
                    <a:pt x="12514" y="5696"/>
                    <a:pt x="10476" y="5018"/>
                    <a:pt x="8371" y="6668"/>
                  </a:cubicBezTo>
                  <a:cubicBezTo>
                    <a:pt x="6282" y="8306"/>
                    <a:pt x="6070" y="10724"/>
                    <a:pt x="6085" y="13045"/>
                  </a:cubicBezTo>
                  <a:cubicBezTo>
                    <a:pt x="4204" y="12134"/>
                    <a:pt x="2134" y="11396"/>
                    <a:pt x="0" y="13068"/>
                  </a:cubicBezTo>
                  <a:cubicBezTo>
                    <a:pt x="0" y="13068"/>
                    <a:pt x="641" y="14162"/>
                    <a:pt x="641" y="14162"/>
                  </a:cubicBezTo>
                  <a:cubicBezTo>
                    <a:pt x="2449" y="12745"/>
                    <a:pt x="4156" y="13499"/>
                    <a:pt x="6093" y="14471"/>
                  </a:cubicBezTo>
                  <a:cubicBezTo>
                    <a:pt x="6148" y="16943"/>
                    <a:pt x="6117" y="19084"/>
                    <a:pt x="4295" y="20512"/>
                  </a:cubicBezTo>
                  <a:lnTo>
                    <a:pt x="4937" y="21600"/>
                  </a:lnTo>
                  <a:close/>
                  <a:moveTo>
                    <a:pt x="4054" y="19679"/>
                  </a:moveTo>
                  <a:cubicBezTo>
                    <a:pt x="4369" y="19426"/>
                    <a:pt x="4614" y="19148"/>
                    <a:pt x="4809" y="18844"/>
                  </a:cubicBezTo>
                  <a:cubicBezTo>
                    <a:pt x="4809" y="18844"/>
                    <a:pt x="2134" y="14221"/>
                    <a:pt x="2134" y="14221"/>
                  </a:cubicBezTo>
                  <a:cubicBezTo>
                    <a:pt x="1820" y="14319"/>
                    <a:pt x="1507" y="14483"/>
                    <a:pt x="1188" y="14730"/>
                  </a:cubicBezTo>
                  <a:lnTo>
                    <a:pt x="4054" y="19679"/>
                  </a:lnTo>
                  <a:close/>
                  <a:moveTo>
                    <a:pt x="5303" y="17641"/>
                  </a:moveTo>
                  <a:cubicBezTo>
                    <a:pt x="5447" y="17150"/>
                    <a:pt x="5511" y="16611"/>
                    <a:pt x="5534" y="16026"/>
                  </a:cubicBezTo>
                  <a:lnTo>
                    <a:pt x="4636" y="14466"/>
                  </a:lnTo>
                  <a:cubicBezTo>
                    <a:pt x="4164" y="14273"/>
                    <a:pt x="3712" y="14138"/>
                    <a:pt x="3269" y="14112"/>
                  </a:cubicBezTo>
                  <a:lnTo>
                    <a:pt x="5303" y="17641"/>
                  </a:lnTo>
                  <a:close/>
                  <a:moveTo>
                    <a:pt x="7218" y="13596"/>
                  </a:moveTo>
                  <a:cubicBezTo>
                    <a:pt x="7170" y="11212"/>
                    <a:pt x="7244" y="9148"/>
                    <a:pt x="9015" y="7760"/>
                  </a:cubicBezTo>
                  <a:cubicBezTo>
                    <a:pt x="10800" y="6360"/>
                    <a:pt x="12484" y="7073"/>
                    <a:pt x="14389" y="8027"/>
                  </a:cubicBezTo>
                  <a:cubicBezTo>
                    <a:pt x="14437" y="10403"/>
                    <a:pt x="14371" y="12473"/>
                    <a:pt x="12604" y="13859"/>
                  </a:cubicBezTo>
                  <a:cubicBezTo>
                    <a:pt x="10819" y="15258"/>
                    <a:pt x="9123" y="14549"/>
                    <a:pt x="7218" y="13596"/>
                  </a:cubicBezTo>
                  <a:close/>
                  <a:moveTo>
                    <a:pt x="9128" y="13531"/>
                  </a:moveTo>
                  <a:cubicBezTo>
                    <a:pt x="9683" y="13753"/>
                    <a:pt x="10215" y="13899"/>
                    <a:pt x="10736" y="13922"/>
                  </a:cubicBezTo>
                  <a:lnTo>
                    <a:pt x="8270" y="9693"/>
                  </a:lnTo>
                  <a:cubicBezTo>
                    <a:pt x="8094" y="10262"/>
                    <a:pt x="8018" y="10890"/>
                    <a:pt x="7988" y="11570"/>
                  </a:cubicBezTo>
                  <a:lnTo>
                    <a:pt x="9128" y="13531"/>
                  </a:lnTo>
                  <a:close/>
                  <a:moveTo>
                    <a:pt x="11711" y="13445"/>
                  </a:moveTo>
                  <a:cubicBezTo>
                    <a:pt x="11906" y="13348"/>
                    <a:pt x="12100" y="13226"/>
                    <a:pt x="12298" y="13067"/>
                  </a:cubicBezTo>
                  <a:cubicBezTo>
                    <a:pt x="12398" y="12988"/>
                    <a:pt x="12489" y="12904"/>
                    <a:pt x="12577" y="12819"/>
                  </a:cubicBezTo>
                  <a:lnTo>
                    <a:pt x="9787" y="7934"/>
                  </a:lnTo>
                  <a:cubicBezTo>
                    <a:pt x="9688" y="7998"/>
                    <a:pt x="9589" y="8069"/>
                    <a:pt x="9488" y="8149"/>
                  </a:cubicBezTo>
                  <a:cubicBezTo>
                    <a:pt x="9290" y="8307"/>
                    <a:pt x="9121" y="8474"/>
                    <a:pt x="8972" y="8652"/>
                  </a:cubicBezTo>
                  <a:lnTo>
                    <a:pt x="11711" y="13445"/>
                  </a:lnTo>
                  <a:close/>
                  <a:moveTo>
                    <a:pt x="13407" y="12000"/>
                  </a:moveTo>
                  <a:cubicBezTo>
                    <a:pt x="13611" y="11527"/>
                    <a:pt x="13723" y="11008"/>
                    <a:pt x="13784" y="10444"/>
                  </a:cubicBezTo>
                  <a:lnTo>
                    <a:pt x="12283" y="7830"/>
                  </a:lnTo>
                  <a:cubicBezTo>
                    <a:pt x="11815" y="7685"/>
                    <a:pt x="11363" y="7615"/>
                    <a:pt x="10913" y="7660"/>
                  </a:cubicBezTo>
                  <a:lnTo>
                    <a:pt x="13407" y="12000"/>
                  </a:lnTo>
                  <a:close/>
                  <a:moveTo>
                    <a:pt x="16965" y="7123"/>
                  </a:moveTo>
                  <a:cubicBezTo>
                    <a:pt x="17421" y="7289"/>
                    <a:pt x="17855" y="7394"/>
                    <a:pt x="18279" y="7398"/>
                  </a:cubicBezTo>
                  <a:lnTo>
                    <a:pt x="16261" y="4044"/>
                  </a:lnTo>
                  <a:cubicBezTo>
                    <a:pt x="16133" y="4533"/>
                    <a:pt x="16081" y="5067"/>
                    <a:pt x="16071" y="5642"/>
                  </a:cubicBezTo>
                  <a:lnTo>
                    <a:pt x="16965" y="7123"/>
                  </a:lnTo>
                  <a:close/>
                  <a:moveTo>
                    <a:pt x="19610" y="7085"/>
                  </a:moveTo>
                  <a:cubicBezTo>
                    <a:pt x="19909" y="6982"/>
                    <a:pt x="20208" y="6817"/>
                    <a:pt x="20510" y="6570"/>
                  </a:cubicBezTo>
                  <a:lnTo>
                    <a:pt x="17721" y="1845"/>
                  </a:lnTo>
                  <a:cubicBezTo>
                    <a:pt x="17423" y="2098"/>
                    <a:pt x="17191" y="2376"/>
                    <a:pt x="17007" y="2675"/>
                  </a:cubicBezTo>
                  <a:cubicBezTo>
                    <a:pt x="17007" y="2675"/>
                    <a:pt x="19610" y="7085"/>
                    <a:pt x="19610" y="7085"/>
                  </a:cubicBezTo>
                  <a:close/>
                </a:path>
              </a:pathLst>
            </a:custGeom>
            <a:solidFill>
              <a:schemeClr val="accent1"/>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12" name="Shape 34178">
              <a:extLst>
                <a:ext uri="{FF2B5EF4-FFF2-40B4-BE49-F238E27FC236}">
                  <a16:creationId xmlns:a16="http://schemas.microsoft.com/office/drawing/2014/main" id="{EB390F12-B40C-7A45-8BC8-5810AB9255C2}"/>
                </a:ext>
              </a:extLst>
            </p:cNvPr>
            <p:cNvSpPr/>
            <p:nvPr/>
          </p:nvSpPr>
          <p:spPr>
            <a:xfrm>
              <a:off x="14474664" y="3452446"/>
              <a:ext cx="701272" cy="992744"/>
            </a:xfrm>
            <a:custGeom>
              <a:avLst/>
              <a:gdLst/>
              <a:ahLst/>
              <a:cxnLst>
                <a:cxn ang="0">
                  <a:pos x="wd2" y="hd2"/>
                </a:cxn>
                <a:cxn ang="5400000">
                  <a:pos x="wd2" y="hd2"/>
                </a:cxn>
                <a:cxn ang="10800000">
                  <a:pos x="wd2" y="hd2"/>
                </a:cxn>
                <a:cxn ang="16200000">
                  <a:pos x="wd2" y="hd2"/>
                </a:cxn>
              </a:cxnLst>
              <a:rect l="0" t="0" r="r" b="b"/>
              <a:pathLst>
                <a:path w="21183" h="21600" extrusionOk="0">
                  <a:moveTo>
                    <a:pt x="6837" y="0"/>
                  </a:moveTo>
                  <a:lnTo>
                    <a:pt x="6304" y="11896"/>
                  </a:lnTo>
                  <a:lnTo>
                    <a:pt x="10115" y="11984"/>
                  </a:lnTo>
                  <a:lnTo>
                    <a:pt x="10387" y="5819"/>
                  </a:lnTo>
                  <a:cubicBezTo>
                    <a:pt x="10807" y="5990"/>
                    <a:pt x="11286" y="6091"/>
                    <a:pt x="11799" y="6080"/>
                  </a:cubicBezTo>
                  <a:cubicBezTo>
                    <a:pt x="12816" y="6059"/>
                    <a:pt x="13721" y="5638"/>
                    <a:pt x="14293" y="5029"/>
                  </a:cubicBezTo>
                  <a:cubicBezTo>
                    <a:pt x="14344" y="4975"/>
                    <a:pt x="14392" y="4920"/>
                    <a:pt x="14437" y="4864"/>
                  </a:cubicBezTo>
                  <a:cubicBezTo>
                    <a:pt x="15870" y="5413"/>
                    <a:pt x="17048" y="6141"/>
                    <a:pt x="17879" y="7040"/>
                  </a:cubicBezTo>
                  <a:cubicBezTo>
                    <a:pt x="19250" y="8523"/>
                    <a:pt x="19623" y="10355"/>
                    <a:pt x="18956" y="12341"/>
                  </a:cubicBezTo>
                  <a:cubicBezTo>
                    <a:pt x="17917" y="15436"/>
                    <a:pt x="14349" y="17736"/>
                    <a:pt x="10109" y="18168"/>
                  </a:cubicBezTo>
                  <a:lnTo>
                    <a:pt x="10109" y="16337"/>
                  </a:lnTo>
                  <a:lnTo>
                    <a:pt x="12811" y="16337"/>
                  </a:lnTo>
                  <a:lnTo>
                    <a:pt x="12811" y="15424"/>
                  </a:lnTo>
                  <a:lnTo>
                    <a:pt x="2958" y="15424"/>
                  </a:lnTo>
                  <a:lnTo>
                    <a:pt x="2958" y="16337"/>
                  </a:lnTo>
                  <a:lnTo>
                    <a:pt x="5665" y="16337"/>
                  </a:lnTo>
                  <a:lnTo>
                    <a:pt x="5665" y="19312"/>
                  </a:lnTo>
                  <a:lnTo>
                    <a:pt x="0" y="19312"/>
                  </a:lnTo>
                  <a:lnTo>
                    <a:pt x="0" y="21600"/>
                  </a:lnTo>
                  <a:lnTo>
                    <a:pt x="15769" y="21600"/>
                  </a:lnTo>
                  <a:lnTo>
                    <a:pt x="15769" y="19312"/>
                  </a:lnTo>
                  <a:lnTo>
                    <a:pt x="11820" y="19312"/>
                  </a:lnTo>
                  <a:cubicBezTo>
                    <a:pt x="16159" y="18468"/>
                    <a:pt x="19703" y="15947"/>
                    <a:pt x="20805" y="12664"/>
                  </a:cubicBezTo>
                  <a:cubicBezTo>
                    <a:pt x="21600" y="10296"/>
                    <a:pt x="21135" y="8089"/>
                    <a:pt x="19462" y="6280"/>
                  </a:cubicBezTo>
                  <a:cubicBezTo>
                    <a:pt x="18352" y="5079"/>
                    <a:pt x="16769" y="4131"/>
                    <a:pt x="14820" y="3462"/>
                  </a:cubicBezTo>
                  <a:cubicBezTo>
                    <a:pt x="14558" y="2431"/>
                    <a:pt x="13305" y="1647"/>
                    <a:pt x="11799" y="1647"/>
                  </a:cubicBezTo>
                  <a:cubicBezTo>
                    <a:pt x="11359" y="1647"/>
                    <a:pt x="10947" y="1715"/>
                    <a:pt x="10568" y="1835"/>
                  </a:cubicBezTo>
                  <a:lnTo>
                    <a:pt x="10642" y="88"/>
                  </a:lnTo>
                  <a:lnTo>
                    <a:pt x="6837" y="0"/>
                  </a:lnTo>
                  <a:close/>
                  <a:moveTo>
                    <a:pt x="11799" y="3017"/>
                  </a:moveTo>
                  <a:cubicBezTo>
                    <a:pt x="12376" y="3012"/>
                    <a:pt x="12879" y="3300"/>
                    <a:pt x="12982" y="3708"/>
                  </a:cubicBezTo>
                  <a:cubicBezTo>
                    <a:pt x="13088" y="4130"/>
                    <a:pt x="12736" y="4539"/>
                    <a:pt x="12167" y="4660"/>
                  </a:cubicBezTo>
                  <a:cubicBezTo>
                    <a:pt x="12051" y="4688"/>
                    <a:pt x="11928" y="4706"/>
                    <a:pt x="11799" y="4706"/>
                  </a:cubicBezTo>
                  <a:cubicBezTo>
                    <a:pt x="11152" y="4706"/>
                    <a:pt x="10625" y="4326"/>
                    <a:pt x="10626" y="3862"/>
                  </a:cubicBezTo>
                  <a:cubicBezTo>
                    <a:pt x="10628" y="3397"/>
                    <a:pt x="11153" y="3023"/>
                    <a:pt x="11799" y="3017"/>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899">
                <a:latin typeface="Lato Light" panose="020F0502020204030203" pitchFamily="34" charset="0"/>
              </a:endParaRPr>
            </a:p>
          </p:txBody>
        </p:sp>
        <p:sp>
          <p:nvSpPr>
            <p:cNvPr id="13" name="Shape 34179">
              <a:extLst>
                <a:ext uri="{FF2B5EF4-FFF2-40B4-BE49-F238E27FC236}">
                  <a16:creationId xmlns:a16="http://schemas.microsoft.com/office/drawing/2014/main" id="{3C5FD7B8-4C3B-B940-A6D7-C03BE6F4C89D}"/>
                </a:ext>
              </a:extLst>
            </p:cNvPr>
            <p:cNvSpPr/>
            <p:nvPr/>
          </p:nvSpPr>
          <p:spPr>
            <a:xfrm>
              <a:off x="13573878" y="4409128"/>
              <a:ext cx="1096094" cy="1213368"/>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14" name="Shape 34180">
              <a:extLst>
                <a:ext uri="{FF2B5EF4-FFF2-40B4-BE49-F238E27FC236}">
                  <a16:creationId xmlns:a16="http://schemas.microsoft.com/office/drawing/2014/main" id="{32AE572C-09D2-B149-95D6-B62DDD4AB5AD}"/>
                </a:ext>
              </a:extLst>
            </p:cNvPr>
            <p:cNvSpPr/>
            <p:nvPr/>
          </p:nvSpPr>
          <p:spPr>
            <a:xfrm>
              <a:off x="12366664" y="11330119"/>
              <a:ext cx="843804" cy="99274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899">
                <a:latin typeface="Lato Light" panose="020F0502020204030203" pitchFamily="34" charset="0"/>
              </a:endParaRPr>
            </a:p>
          </p:txBody>
        </p:sp>
        <p:sp>
          <p:nvSpPr>
            <p:cNvPr id="15" name="Shape 34181">
              <a:extLst>
                <a:ext uri="{FF2B5EF4-FFF2-40B4-BE49-F238E27FC236}">
                  <a16:creationId xmlns:a16="http://schemas.microsoft.com/office/drawing/2014/main" id="{2C5DEF8C-B19E-9346-8BB7-7935ACC483D8}"/>
                </a:ext>
              </a:extLst>
            </p:cNvPr>
            <p:cNvSpPr/>
            <p:nvPr/>
          </p:nvSpPr>
          <p:spPr>
            <a:xfrm>
              <a:off x="14244181" y="7303221"/>
              <a:ext cx="622050" cy="54107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097" y="15438"/>
                  </a:lnTo>
                  <a:lnTo>
                    <a:pt x="5592" y="20234"/>
                  </a:lnTo>
                  <a:cubicBezTo>
                    <a:pt x="5592" y="20234"/>
                    <a:pt x="0" y="21600"/>
                    <a:pt x="0" y="21600"/>
                  </a:cubicBezTo>
                  <a:close/>
                  <a:moveTo>
                    <a:pt x="6275" y="19576"/>
                  </a:moveTo>
                  <a:lnTo>
                    <a:pt x="2779" y="14780"/>
                  </a:lnTo>
                  <a:lnTo>
                    <a:pt x="14944" y="3046"/>
                  </a:lnTo>
                  <a:lnTo>
                    <a:pt x="18443" y="7840"/>
                  </a:lnTo>
                  <a:cubicBezTo>
                    <a:pt x="18443" y="7840"/>
                    <a:pt x="6275" y="19576"/>
                    <a:pt x="6275" y="19576"/>
                  </a:cubicBezTo>
                  <a:close/>
                  <a:moveTo>
                    <a:pt x="19138" y="7167"/>
                  </a:moveTo>
                  <a:lnTo>
                    <a:pt x="15640" y="2373"/>
                  </a:lnTo>
                  <a:lnTo>
                    <a:pt x="18101" y="0"/>
                  </a:lnTo>
                  <a:lnTo>
                    <a:pt x="21600" y="4794"/>
                  </a:lnTo>
                  <a:cubicBezTo>
                    <a:pt x="21600" y="4794"/>
                    <a:pt x="19138" y="7167"/>
                    <a:pt x="19138" y="716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16" name="Shape 34182">
              <a:extLst>
                <a:ext uri="{FF2B5EF4-FFF2-40B4-BE49-F238E27FC236}">
                  <a16:creationId xmlns:a16="http://schemas.microsoft.com/office/drawing/2014/main" id="{268030AB-902E-4048-96C9-C613F7151002}"/>
                </a:ext>
              </a:extLst>
            </p:cNvPr>
            <p:cNvSpPr/>
            <p:nvPr/>
          </p:nvSpPr>
          <p:spPr>
            <a:xfrm>
              <a:off x="13576635" y="6759701"/>
              <a:ext cx="580114" cy="809692"/>
            </a:xfrm>
            <a:custGeom>
              <a:avLst/>
              <a:gdLst/>
              <a:ahLst/>
              <a:cxnLst>
                <a:cxn ang="0">
                  <a:pos x="wd2" y="hd2"/>
                </a:cxn>
                <a:cxn ang="5400000">
                  <a:pos x="wd2" y="hd2"/>
                </a:cxn>
                <a:cxn ang="10800000">
                  <a:pos x="wd2" y="hd2"/>
                </a:cxn>
                <a:cxn ang="16200000">
                  <a:pos x="wd2" y="hd2"/>
                </a:cxn>
              </a:cxnLst>
              <a:rect l="0" t="0" r="r" b="b"/>
              <a:pathLst>
                <a:path w="19206" h="21363" extrusionOk="0">
                  <a:moveTo>
                    <a:pt x="10609" y="43"/>
                  </a:moveTo>
                  <a:cubicBezTo>
                    <a:pt x="8165" y="-162"/>
                    <a:pt x="5621" y="372"/>
                    <a:pt x="3560" y="1702"/>
                  </a:cubicBezTo>
                  <a:cubicBezTo>
                    <a:pt x="-561" y="4362"/>
                    <a:pt x="-1197" y="9181"/>
                    <a:pt x="2140" y="12465"/>
                  </a:cubicBezTo>
                  <a:cubicBezTo>
                    <a:pt x="4853" y="15135"/>
                    <a:pt x="9359" y="15971"/>
                    <a:pt x="13163" y="14762"/>
                  </a:cubicBezTo>
                  <a:cubicBezTo>
                    <a:pt x="13165" y="14832"/>
                    <a:pt x="13187" y="14904"/>
                    <a:pt x="13225" y="14972"/>
                  </a:cubicBezTo>
                  <a:lnTo>
                    <a:pt x="16612" y="21039"/>
                  </a:lnTo>
                  <a:cubicBezTo>
                    <a:pt x="16765" y="21313"/>
                    <a:pt x="17169" y="21438"/>
                    <a:pt x="17513" y="21316"/>
                  </a:cubicBezTo>
                  <a:lnTo>
                    <a:pt x="17878" y="21186"/>
                  </a:lnTo>
                  <a:cubicBezTo>
                    <a:pt x="18222" y="21064"/>
                    <a:pt x="18373" y="20741"/>
                    <a:pt x="18220" y="20467"/>
                  </a:cubicBezTo>
                  <a:lnTo>
                    <a:pt x="14832" y="14405"/>
                  </a:lnTo>
                  <a:cubicBezTo>
                    <a:pt x="14778" y="14307"/>
                    <a:pt x="14685" y="14238"/>
                    <a:pt x="14581" y="14183"/>
                  </a:cubicBezTo>
                  <a:cubicBezTo>
                    <a:pt x="14946" y="14006"/>
                    <a:pt x="15305" y="13816"/>
                    <a:pt x="15646" y="13596"/>
                  </a:cubicBezTo>
                  <a:cubicBezTo>
                    <a:pt x="19767" y="10937"/>
                    <a:pt x="20403" y="6118"/>
                    <a:pt x="17066" y="2833"/>
                  </a:cubicBezTo>
                  <a:cubicBezTo>
                    <a:pt x="15397" y="1191"/>
                    <a:pt x="13053" y="247"/>
                    <a:pt x="10609" y="43"/>
                  </a:cubicBezTo>
                  <a:close/>
                  <a:moveTo>
                    <a:pt x="10451" y="1237"/>
                  </a:moveTo>
                  <a:cubicBezTo>
                    <a:pt x="12511" y="1410"/>
                    <a:pt x="14487" y="2210"/>
                    <a:pt x="15893" y="3594"/>
                  </a:cubicBezTo>
                  <a:cubicBezTo>
                    <a:pt x="18705" y="6361"/>
                    <a:pt x="18170" y="10422"/>
                    <a:pt x="14697" y="12663"/>
                  </a:cubicBezTo>
                  <a:cubicBezTo>
                    <a:pt x="11225" y="14903"/>
                    <a:pt x="6130" y="14477"/>
                    <a:pt x="3318" y="11709"/>
                  </a:cubicBezTo>
                  <a:cubicBezTo>
                    <a:pt x="506" y="8942"/>
                    <a:pt x="1041" y="4882"/>
                    <a:pt x="4514" y="2641"/>
                  </a:cubicBezTo>
                  <a:cubicBezTo>
                    <a:pt x="6250" y="1520"/>
                    <a:pt x="8392" y="1065"/>
                    <a:pt x="10451" y="123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17" name="Shape 34183">
              <a:extLst>
                <a:ext uri="{FF2B5EF4-FFF2-40B4-BE49-F238E27FC236}">
                  <a16:creationId xmlns:a16="http://schemas.microsoft.com/office/drawing/2014/main" id="{C17EC142-064E-184B-8C15-51D983B8F46A}"/>
                </a:ext>
              </a:extLst>
            </p:cNvPr>
            <p:cNvSpPr/>
            <p:nvPr/>
          </p:nvSpPr>
          <p:spPr>
            <a:xfrm>
              <a:off x="11615391" y="7089790"/>
              <a:ext cx="617918" cy="68403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18" name="Shape 34184">
              <a:extLst>
                <a:ext uri="{FF2B5EF4-FFF2-40B4-BE49-F238E27FC236}">
                  <a16:creationId xmlns:a16="http://schemas.microsoft.com/office/drawing/2014/main" id="{3D61E7B3-2989-8049-83F7-8359EB03AEE9}"/>
                </a:ext>
              </a:extLst>
            </p:cNvPr>
            <p:cNvSpPr/>
            <p:nvPr/>
          </p:nvSpPr>
          <p:spPr>
            <a:xfrm>
              <a:off x="13088735" y="3291417"/>
              <a:ext cx="651942" cy="595766"/>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19" name="Shape 34185">
              <a:extLst>
                <a:ext uri="{FF2B5EF4-FFF2-40B4-BE49-F238E27FC236}">
                  <a16:creationId xmlns:a16="http://schemas.microsoft.com/office/drawing/2014/main" id="{DD580A0D-D476-6F4F-A8CB-69B1C6426354}"/>
                </a:ext>
              </a:extLst>
            </p:cNvPr>
            <p:cNvSpPr/>
            <p:nvPr/>
          </p:nvSpPr>
          <p:spPr>
            <a:xfrm>
              <a:off x="12303465" y="7118398"/>
              <a:ext cx="457434" cy="615446"/>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0" name="Shape 34186">
              <a:extLst>
                <a:ext uri="{FF2B5EF4-FFF2-40B4-BE49-F238E27FC236}">
                  <a16:creationId xmlns:a16="http://schemas.microsoft.com/office/drawing/2014/main" id="{BC835B70-B4D7-1546-898F-8E925436C5F8}"/>
                </a:ext>
              </a:extLst>
            </p:cNvPr>
            <p:cNvSpPr/>
            <p:nvPr/>
          </p:nvSpPr>
          <p:spPr>
            <a:xfrm>
              <a:off x="10902474" y="3745209"/>
              <a:ext cx="602468" cy="782846"/>
            </a:xfrm>
            <a:custGeom>
              <a:avLst/>
              <a:gdLst/>
              <a:ahLst/>
              <a:cxnLst>
                <a:cxn ang="0">
                  <a:pos x="wd2" y="hd2"/>
                </a:cxn>
                <a:cxn ang="5400000">
                  <a:pos x="wd2" y="hd2"/>
                </a:cxn>
                <a:cxn ang="10800000">
                  <a:pos x="wd2" y="hd2"/>
                </a:cxn>
                <a:cxn ang="16200000">
                  <a:pos x="wd2" y="hd2"/>
                </a:cxn>
              </a:cxnLst>
              <a:rect l="0" t="0" r="r" b="b"/>
              <a:pathLst>
                <a:path w="20438" h="21519" extrusionOk="0">
                  <a:moveTo>
                    <a:pt x="9842" y="0"/>
                  </a:moveTo>
                  <a:cubicBezTo>
                    <a:pt x="7324" y="0"/>
                    <a:pt x="4803" y="774"/>
                    <a:pt x="2881" y="2331"/>
                  </a:cubicBezTo>
                  <a:cubicBezTo>
                    <a:pt x="-961" y="5445"/>
                    <a:pt x="-961" y="10493"/>
                    <a:pt x="2881" y="13607"/>
                  </a:cubicBezTo>
                  <a:cubicBezTo>
                    <a:pt x="6005" y="16138"/>
                    <a:pt x="10709" y="16613"/>
                    <a:pt x="14423" y="15030"/>
                  </a:cubicBezTo>
                  <a:cubicBezTo>
                    <a:pt x="14434" y="15103"/>
                    <a:pt x="14466" y="15175"/>
                    <a:pt x="14515" y="15243"/>
                  </a:cubicBezTo>
                  <a:lnTo>
                    <a:pt x="18781" y="21235"/>
                  </a:lnTo>
                  <a:cubicBezTo>
                    <a:pt x="18974" y="21506"/>
                    <a:pt x="19402" y="21600"/>
                    <a:pt x="19736" y="21444"/>
                  </a:cubicBezTo>
                  <a:lnTo>
                    <a:pt x="20091" y="21277"/>
                  </a:lnTo>
                  <a:cubicBezTo>
                    <a:pt x="20425" y="21121"/>
                    <a:pt x="20535" y="20774"/>
                    <a:pt x="20343" y="20503"/>
                  </a:cubicBezTo>
                  <a:lnTo>
                    <a:pt x="16076" y="14515"/>
                  </a:lnTo>
                  <a:cubicBezTo>
                    <a:pt x="16007" y="14419"/>
                    <a:pt x="15903" y="14355"/>
                    <a:pt x="15790" y="14307"/>
                  </a:cubicBezTo>
                  <a:cubicBezTo>
                    <a:pt x="16138" y="14092"/>
                    <a:pt x="16479" y="13864"/>
                    <a:pt x="16797" y="13607"/>
                  </a:cubicBezTo>
                  <a:cubicBezTo>
                    <a:pt x="20639" y="10493"/>
                    <a:pt x="20639" y="5445"/>
                    <a:pt x="16797" y="2331"/>
                  </a:cubicBezTo>
                  <a:cubicBezTo>
                    <a:pt x="14875" y="774"/>
                    <a:pt x="12360" y="0"/>
                    <a:pt x="9842" y="0"/>
                  </a:cubicBezTo>
                  <a:close/>
                  <a:moveTo>
                    <a:pt x="9842" y="1251"/>
                  </a:moveTo>
                  <a:cubicBezTo>
                    <a:pt x="11963" y="1251"/>
                    <a:pt x="14085" y="1909"/>
                    <a:pt x="15704" y="3221"/>
                  </a:cubicBezTo>
                  <a:cubicBezTo>
                    <a:pt x="18942" y="5844"/>
                    <a:pt x="18942" y="10098"/>
                    <a:pt x="15704" y="12722"/>
                  </a:cubicBezTo>
                  <a:cubicBezTo>
                    <a:pt x="12467" y="15345"/>
                    <a:pt x="7217" y="15345"/>
                    <a:pt x="3980" y="12722"/>
                  </a:cubicBezTo>
                  <a:cubicBezTo>
                    <a:pt x="742" y="10098"/>
                    <a:pt x="742" y="5844"/>
                    <a:pt x="3980" y="3221"/>
                  </a:cubicBezTo>
                  <a:cubicBezTo>
                    <a:pt x="5598" y="1909"/>
                    <a:pt x="7720" y="1251"/>
                    <a:pt x="9842" y="12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1" name="Shape 34187">
              <a:extLst>
                <a:ext uri="{FF2B5EF4-FFF2-40B4-BE49-F238E27FC236}">
                  <a16:creationId xmlns:a16="http://schemas.microsoft.com/office/drawing/2014/main" id="{A5C4F64E-F8AE-364B-9B84-12A692B41AC3}"/>
                </a:ext>
              </a:extLst>
            </p:cNvPr>
            <p:cNvSpPr/>
            <p:nvPr/>
          </p:nvSpPr>
          <p:spPr>
            <a:xfrm>
              <a:off x="9646332" y="5299667"/>
              <a:ext cx="648460" cy="459644"/>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2" name="Shape 34188">
              <a:extLst>
                <a:ext uri="{FF2B5EF4-FFF2-40B4-BE49-F238E27FC236}">
                  <a16:creationId xmlns:a16="http://schemas.microsoft.com/office/drawing/2014/main" id="{7036E97A-E538-DB4D-9DAE-381CFDACB2B0}"/>
                </a:ext>
              </a:extLst>
            </p:cNvPr>
            <p:cNvSpPr/>
            <p:nvPr/>
          </p:nvSpPr>
          <p:spPr>
            <a:xfrm>
              <a:off x="14782759" y="5213711"/>
              <a:ext cx="949938" cy="458576"/>
            </a:xfrm>
            <a:custGeom>
              <a:avLst/>
              <a:gdLst/>
              <a:ahLst/>
              <a:cxnLst>
                <a:cxn ang="0">
                  <a:pos x="wd2" y="hd2"/>
                </a:cxn>
                <a:cxn ang="5400000">
                  <a:pos x="wd2" y="hd2"/>
                </a:cxn>
                <a:cxn ang="10800000">
                  <a:pos x="wd2" y="hd2"/>
                </a:cxn>
                <a:cxn ang="16200000">
                  <a:pos x="wd2" y="hd2"/>
                </a:cxn>
              </a:cxnLst>
              <a:rect l="0" t="0" r="r" b="b"/>
              <a:pathLst>
                <a:path w="21600" h="21600" extrusionOk="0">
                  <a:moveTo>
                    <a:pt x="470" y="21600"/>
                  </a:moveTo>
                  <a:cubicBezTo>
                    <a:pt x="3196" y="21301"/>
                    <a:pt x="4520" y="17446"/>
                    <a:pt x="5606" y="13579"/>
                  </a:cubicBezTo>
                  <a:cubicBezTo>
                    <a:pt x="6868" y="17109"/>
                    <a:pt x="8385" y="20522"/>
                    <a:pt x="11056" y="20229"/>
                  </a:cubicBezTo>
                  <a:cubicBezTo>
                    <a:pt x="13700" y="19938"/>
                    <a:pt x="15043" y="16273"/>
                    <a:pt x="16113" y="12527"/>
                  </a:cubicBezTo>
                  <a:cubicBezTo>
                    <a:pt x="17383" y="16099"/>
                    <a:pt x="18898" y="19587"/>
                    <a:pt x="21600" y="19290"/>
                  </a:cubicBezTo>
                  <a:lnTo>
                    <a:pt x="21545" y="16807"/>
                  </a:lnTo>
                  <a:cubicBezTo>
                    <a:pt x="19258" y="17058"/>
                    <a:pt x="18061" y="13947"/>
                    <a:pt x="16772" y="10222"/>
                  </a:cubicBezTo>
                  <a:cubicBezTo>
                    <a:pt x="17878" y="6171"/>
                    <a:pt x="18899" y="2735"/>
                    <a:pt x="21214" y="2481"/>
                  </a:cubicBezTo>
                  <a:lnTo>
                    <a:pt x="21142" y="0"/>
                  </a:lnTo>
                  <a:cubicBezTo>
                    <a:pt x="18416" y="300"/>
                    <a:pt x="17080" y="4165"/>
                    <a:pt x="15994" y="8031"/>
                  </a:cubicBezTo>
                  <a:cubicBezTo>
                    <a:pt x="14732" y="4504"/>
                    <a:pt x="13210" y="1123"/>
                    <a:pt x="10541" y="1416"/>
                  </a:cubicBezTo>
                  <a:cubicBezTo>
                    <a:pt x="7892" y="1708"/>
                    <a:pt x="6571" y="5362"/>
                    <a:pt x="5501" y="9116"/>
                  </a:cubicBezTo>
                  <a:cubicBezTo>
                    <a:pt x="4229" y="5537"/>
                    <a:pt x="2706" y="2023"/>
                    <a:pt x="0" y="2320"/>
                  </a:cubicBezTo>
                  <a:cubicBezTo>
                    <a:pt x="0" y="2320"/>
                    <a:pt x="67" y="4802"/>
                    <a:pt x="67" y="4802"/>
                  </a:cubicBezTo>
                  <a:cubicBezTo>
                    <a:pt x="2361" y="4550"/>
                    <a:pt x="3548" y="7681"/>
                    <a:pt x="4841" y="11421"/>
                  </a:cubicBezTo>
                  <a:cubicBezTo>
                    <a:pt x="3737" y="15462"/>
                    <a:pt x="2709" y="18874"/>
                    <a:pt x="399" y="19128"/>
                  </a:cubicBezTo>
                  <a:lnTo>
                    <a:pt x="470" y="21600"/>
                  </a:lnTo>
                  <a:close/>
                  <a:moveTo>
                    <a:pt x="571" y="17516"/>
                  </a:moveTo>
                  <a:cubicBezTo>
                    <a:pt x="973" y="17463"/>
                    <a:pt x="1323" y="17289"/>
                    <a:pt x="1641" y="17020"/>
                  </a:cubicBezTo>
                  <a:cubicBezTo>
                    <a:pt x="1641" y="17020"/>
                    <a:pt x="1387" y="6572"/>
                    <a:pt x="1387" y="6572"/>
                  </a:cubicBezTo>
                  <a:cubicBezTo>
                    <a:pt x="1058" y="6378"/>
                    <a:pt x="699" y="6290"/>
                    <a:pt x="296" y="6330"/>
                  </a:cubicBezTo>
                  <a:lnTo>
                    <a:pt x="571" y="17516"/>
                  </a:lnTo>
                  <a:close/>
                  <a:moveTo>
                    <a:pt x="2649" y="15637"/>
                  </a:moveTo>
                  <a:cubicBezTo>
                    <a:pt x="3008" y="15009"/>
                    <a:pt x="3317" y="14212"/>
                    <a:pt x="3611" y="13297"/>
                  </a:cubicBezTo>
                  <a:lnTo>
                    <a:pt x="3530" y="9777"/>
                  </a:lnTo>
                  <a:cubicBezTo>
                    <a:pt x="3194" y="8935"/>
                    <a:pt x="2849" y="8211"/>
                    <a:pt x="2462" y="7671"/>
                  </a:cubicBezTo>
                  <a:lnTo>
                    <a:pt x="2649" y="15637"/>
                  </a:lnTo>
                  <a:close/>
                  <a:moveTo>
                    <a:pt x="6265" y="11274"/>
                  </a:moveTo>
                  <a:cubicBezTo>
                    <a:pt x="7335" y="7383"/>
                    <a:pt x="8366" y="4144"/>
                    <a:pt x="10612" y="3897"/>
                  </a:cubicBezTo>
                  <a:cubicBezTo>
                    <a:pt x="12876" y="3648"/>
                    <a:pt x="14062" y="6687"/>
                    <a:pt x="15336" y="10361"/>
                  </a:cubicBezTo>
                  <a:cubicBezTo>
                    <a:pt x="14269" y="14240"/>
                    <a:pt x="13242" y="17500"/>
                    <a:pt x="11001" y="17746"/>
                  </a:cubicBezTo>
                  <a:cubicBezTo>
                    <a:pt x="8738" y="17995"/>
                    <a:pt x="7539" y="14948"/>
                    <a:pt x="6265" y="11274"/>
                  </a:cubicBezTo>
                  <a:close/>
                  <a:moveTo>
                    <a:pt x="8019" y="13315"/>
                  </a:moveTo>
                  <a:cubicBezTo>
                    <a:pt x="8416" y="14295"/>
                    <a:pt x="8827" y="15128"/>
                    <a:pt x="9287" y="15750"/>
                  </a:cubicBezTo>
                  <a:lnTo>
                    <a:pt x="9038" y="6172"/>
                  </a:lnTo>
                  <a:cubicBezTo>
                    <a:pt x="8613" y="6892"/>
                    <a:pt x="8251" y="7817"/>
                    <a:pt x="7906" y="8878"/>
                  </a:cubicBezTo>
                  <a:lnTo>
                    <a:pt x="8019" y="13315"/>
                  </a:lnTo>
                  <a:close/>
                  <a:moveTo>
                    <a:pt x="10389" y="16077"/>
                  </a:moveTo>
                  <a:cubicBezTo>
                    <a:pt x="10611" y="16140"/>
                    <a:pt x="10842" y="16161"/>
                    <a:pt x="11095" y="16128"/>
                  </a:cubicBezTo>
                  <a:cubicBezTo>
                    <a:pt x="11223" y="16112"/>
                    <a:pt x="11344" y="16080"/>
                    <a:pt x="11463" y="16041"/>
                  </a:cubicBezTo>
                  <a:lnTo>
                    <a:pt x="11227" y="5045"/>
                  </a:lnTo>
                  <a:cubicBezTo>
                    <a:pt x="11108" y="5036"/>
                    <a:pt x="10985" y="5039"/>
                    <a:pt x="10857" y="5056"/>
                  </a:cubicBezTo>
                  <a:cubicBezTo>
                    <a:pt x="10605" y="5088"/>
                    <a:pt x="10374" y="5166"/>
                    <a:pt x="10157" y="5285"/>
                  </a:cubicBezTo>
                  <a:lnTo>
                    <a:pt x="10389" y="16077"/>
                  </a:lnTo>
                  <a:close/>
                  <a:moveTo>
                    <a:pt x="12594" y="15655"/>
                  </a:moveTo>
                  <a:cubicBezTo>
                    <a:pt x="12999" y="15123"/>
                    <a:pt x="13343" y="14414"/>
                    <a:pt x="13661" y="13573"/>
                  </a:cubicBezTo>
                  <a:lnTo>
                    <a:pt x="13528" y="7680"/>
                  </a:lnTo>
                  <a:cubicBezTo>
                    <a:pt x="13173" y="6920"/>
                    <a:pt x="12798" y="6300"/>
                    <a:pt x="12371" y="5869"/>
                  </a:cubicBezTo>
                  <a:lnTo>
                    <a:pt x="12594" y="15655"/>
                  </a:lnTo>
                  <a:close/>
                  <a:moveTo>
                    <a:pt x="18081" y="11798"/>
                  </a:moveTo>
                  <a:cubicBezTo>
                    <a:pt x="18416" y="12578"/>
                    <a:pt x="18758" y="13235"/>
                    <a:pt x="19139" y="13718"/>
                  </a:cubicBezTo>
                  <a:lnTo>
                    <a:pt x="18884" y="6051"/>
                  </a:lnTo>
                  <a:cubicBezTo>
                    <a:pt x="18541" y="6694"/>
                    <a:pt x="18245" y="7495"/>
                    <a:pt x="17967" y="8411"/>
                  </a:cubicBezTo>
                  <a:lnTo>
                    <a:pt x="18081" y="11798"/>
                  </a:lnTo>
                  <a:close/>
                  <a:moveTo>
                    <a:pt x="20486" y="14708"/>
                  </a:moveTo>
                  <a:cubicBezTo>
                    <a:pt x="20804" y="14878"/>
                    <a:pt x="21150" y="14947"/>
                    <a:pt x="21538" y="14889"/>
                  </a:cubicBezTo>
                  <a:lnTo>
                    <a:pt x="21229" y="4150"/>
                  </a:lnTo>
                  <a:cubicBezTo>
                    <a:pt x="20842" y="4223"/>
                    <a:pt x="20502" y="4409"/>
                    <a:pt x="20197" y="4684"/>
                  </a:cubicBezTo>
                  <a:cubicBezTo>
                    <a:pt x="20197" y="4684"/>
                    <a:pt x="20486" y="14708"/>
                    <a:pt x="20486" y="147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3" name="Shape 34189">
              <a:extLst>
                <a:ext uri="{FF2B5EF4-FFF2-40B4-BE49-F238E27FC236}">
                  <a16:creationId xmlns:a16="http://schemas.microsoft.com/office/drawing/2014/main" id="{3E502D09-5E8E-034A-BA71-FA7562E6BAEB}"/>
                </a:ext>
              </a:extLst>
            </p:cNvPr>
            <p:cNvSpPr/>
            <p:nvPr/>
          </p:nvSpPr>
          <p:spPr>
            <a:xfrm>
              <a:off x="12966315" y="3935732"/>
              <a:ext cx="606684"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4" name="Shape 34190">
              <a:extLst>
                <a:ext uri="{FF2B5EF4-FFF2-40B4-BE49-F238E27FC236}">
                  <a16:creationId xmlns:a16="http://schemas.microsoft.com/office/drawing/2014/main" id="{80F26035-6389-2F4A-919A-7597AB01122D}"/>
                </a:ext>
              </a:extLst>
            </p:cNvPr>
            <p:cNvSpPr/>
            <p:nvPr/>
          </p:nvSpPr>
          <p:spPr>
            <a:xfrm>
              <a:off x="8736613" y="4207504"/>
              <a:ext cx="967678" cy="820704"/>
            </a:xfrm>
            <a:custGeom>
              <a:avLst/>
              <a:gdLst/>
              <a:ahLst/>
              <a:cxnLst>
                <a:cxn ang="0">
                  <a:pos x="wd2" y="hd2"/>
                </a:cxn>
                <a:cxn ang="5400000">
                  <a:pos x="wd2" y="hd2"/>
                </a:cxn>
                <a:cxn ang="10800000">
                  <a:pos x="wd2" y="hd2"/>
                </a:cxn>
                <a:cxn ang="16200000">
                  <a:pos x="wd2" y="hd2"/>
                </a:cxn>
              </a:cxnLst>
              <a:rect l="0" t="0" r="r" b="b"/>
              <a:pathLst>
                <a:path w="21275" h="21218" extrusionOk="0">
                  <a:moveTo>
                    <a:pt x="17160" y="16531"/>
                  </a:moveTo>
                  <a:lnTo>
                    <a:pt x="3281" y="10266"/>
                  </a:lnTo>
                  <a:lnTo>
                    <a:pt x="6158" y="1453"/>
                  </a:lnTo>
                  <a:lnTo>
                    <a:pt x="20037" y="7718"/>
                  </a:lnTo>
                  <a:cubicBezTo>
                    <a:pt x="20037" y="7718"/>
                    <a:pt x="17160" y="16531"/>
                    <a:pt x="17160" y="16531"/>
                  </a:cubicBezTo>
                  <a:close/>
                  <a:moveTo>
                    <a:pt x="20480" y="6363"/>
                  </a:moveTo>
                  <a:lnTo>
                    <a:pt x="6600" y="98"/>
                  </a:lnTo>
                  <a:cubicBezTo>
                    <a:pt x="5961" y="-191"/>
                    <a:pt x="5246" y="183"/>
                    <a:pt x="5001" y="931"/>
                  </a:cubicBezTo>
                  <a:cubicBezTo>
                    <a:pt x="5001" y="931"/>
                    <a:pt x="1682" y="11100"/>
                    <a:pt x="1694" y="11105"/>
                  </a:cubicBezTo>
                  <a:lnTo>
                    <a:pt x="17862" y="18403"/>
                  </a:lnTo>
                  <a:cubicBezTo>
                    <a:pt x="17874" y="18409"/>
                    <a:pt x="21194" y="8240"/>
                    <a:pt x="21194" y="8240"/>
                  </a:cubicBezTo>
                  <a:cubicBezTo>
                    <a:pt x="21438" y="7492"/>
                    <a:pt x="21118" y="6651"/>
                    <a:pt x="20480" y="6363"/>
                  </a:cubicBezTo>
                  <a:close/>
                  <a:moveTo>
                    <a:pt x="16989" y="21121"/>
                  </a:moveTo>
                  <a:lnTo>
                    <a:pt x="797" y="13812"/>
                  </a:lnTo>
                  <a:cubicBezTo>
                    <a:pt x="157" y="13523"/>
                    <a:pt x="-162" y="12683"/>
                    <a:pt x="83" y="11934"/>
                  </a:cubicBezTo>
                  <a:lnTo>
                    <a:pt x="304" y="11256"/>
                  </a:lnTo>
                  <a:lnTo>
                    <a:pt x="7822" y="14649"/>
                  </a:lnTo>
                  <a:lnTo>
                    <a:pt x="7600" y="15327"/>
                  </a:lnTo>
                  <a:lnTo>
                    <a:pt x="11070" y="16893"/>
                  </a:lnTo>
                  <a:lnTo>
                    <a:pt x="11291" y="16216"/>
                  </a:lnTo>
                  <a:lnTo>
                    <a:pt x="18810" y="19609"/>
                  </a:lnTo>
                  <a:lnTo>
                    <a:pt x="18588" y="20287"/>
                  </a:lnTo>
                  <a:cubicBezTo>
                    <a:pt x="18344" y="21036"/>
                    <a:pt x="17627" y="21409"/>
                    <a:pt x="16989" y="21121"/>
                  </a:cubicBezTo>
                  <a:cubicBezTo>
                    <a:pt x="16989" y="21121"/>
                    <a:pt x="16989" y="21121"/>
                    <a:pt x="16989" y="2112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5" name="Shape 34191">
              <a:extLst>
                <a:ext uri="{FF2B5EF4-FFF2-40B4-BE49-F238E27FC236}">
                  <a16:creationId xmlns:a16="http://schemas.microsoft.com/office/drawing/2014/main" id="{15E90CFB-1E2C-EF4A-B1ED-6FD69DBDD9C3}"/>
                </a:ext>
              </a:extLst>
            </p:cNvPr>
            <p:cNvSpPr/>
            <p:nvPr/>
          </p:nvSpPr>
          <p:spPr>
            <a:xfrm>
              <a:off x="12884222" y="7775447"/>
              <a:ext cx="606686"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6" name="Shape 34192">
              <a:extLst>
                <a:ext uri="{FF2B5EF4-FFF2-40B4-BE49-F238E27FC236}">
                  <a16:creationId xmlns:a16="http://schemas.microsoft.com/office/drawing/2014/main" id="{B2400A31-1671-BB45-9745-8F05DAFCA9B5}"/>
                </a:ext>
              </a:extLst>
            </p:cNvPr>
            <p:cNvSpPr/>
            <p:nvPr/>
          </p:nvSpPr>
          <p:spPr>
            <a:xfrm>
              <a:off x="9950402" y="3061775"/>
              <a:ext cx="885232" cy="104148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7" name="Shape 34193">
              <a:extLst>
                <a:ext uri="{FF2B5EF4-FFF2-40B4-BE49-F238E27FC236}">
                  <a16:creationId xmlns:a16="http://schemas.microsoft.com/office/drawing/2014/main" id="{9CCB2114-7721-7C48-90EE-8BF98BE7201F}"/>
                </a:ext>
              </a:extLst>
            </p:cNvPr>
            <p:cNvSpPr/>
            <p:nvPr/>
          </p:nvSpPr>
          <p:spPr>
            <a:xfrm>
              <a:off x="11615551" y="3334957"/>
              <a:ext cx="818520" cy="818520"/>
            </a:xfrm>
            <a:custGeom>
              <a:avLst/>
              <a:gdLst/>
              <a:ahLst/>
              <a:cxnLst>
                <a:cxn ang="0">
                  <a:pos x="wd2" y="hd2"/>
                </a:cxn>
                <a:cxn ang="5400000">
                  <a:pos x="wd2" y="hd2"/>
                </a:cxn>
                <a:cxn ang="10800000">
                  <a:pos x="wd2" y="hd2"/>
                </a:cxn>
                <a:cxn ang="16200000">
                  <a:pos x="wd2" y="hd2"/>
                </a:cxn>
              </a:cxnLst>
              <a:rect l="0" t="0" r="r" b="b"/>
              <a:pathLst>
                <a:path w="20113" h="20113" extrusionOk="0">
                  <a:moveTo>
                    <a:pt x="8483" y="125"/>
                  </a:moveTo>
                  <a:cubicBezTo>
                    <a:pt x="2996" y="994"/>
                    <a:pt x="-744" y="6142"/>
                    <a:pt x="125" y="11629"/>
                  </a:cubicBezTo>
                  <a:cubicBezTo>
                    <a:pt x="994" y="17116"/>
                    <a:pt x="6142" y="20856"/>
                    <a:pt x="11629" y="19987"/>
                  </a:cubicBezTo>
                  <a:cubicBezTo>
                    <a:pt x="17116" y="19118"/>
                    <a:pt x="20856" y="13970"/>
                    <a:pt x="19987" y="8483"/>
                  </a:cubicBezTo>
                  <a:cubicBezTo>
                    <a:pt x="19118" y="2996"/>
                    <a:pt x="13970" y="-744"/>
                    <a:pt x="8483" y="125"/>
                  </a:cubicBezTo>
                  <a:close/>
                  <a:moveTo>
                    <a:pt x="8760" y="1873"/>
                  </a:moveTo>
                  <a:cubicBezTo>
                    <a:pt x="8956" y="1842"/>
                    <a:pt x="9163" y="1878"/>
                    <a:pt x="9336" y="2004"/>
                  </a:cubicBezTo>
                  <a:cubicBezTo>
                    <a:pt x="9681" y="2255"/>
                    <a:pt x="9758" y="2741"/>
                    <a:pt x="9507" y="3087"/>
                  </a:cubicBezTo>
                  <a:cubicBezTo>
                    <a:pt x="9256" y="3432"/>
                    <a:pt x="8770" y="3509"/>
                    <a:pt x="8424" y="3258"/>
                  </a:cubicBezTo>
                  <a:cubicBezTo>
                    <a:pt x="8079" y="3007"/>
                    <a:pt x="8002" y="2521"/>
                    <a:pt x="8253" y="2175"/>
                  </a:cubicBezTo>
                  <a:cubicBezTo>
                    <a:pt x="8378" y="2002"/>
                    <a:pt x="8564" y="1904"/>
                    <a:pt x="8760" y="1873"/>
                  </a:cubicBezTo>
                  <a:close/>
                  <a:moveTo>
                    <a:pt x="9098" y="4008"/>
                  </a:moveTo>
                  <a:cubicBezTo>
                    <a:pt x="9327" y="3971"/>
                    <a:pt x="9546" y="4130"/>
                    <a:pt x="9582" y="4359"/>
                  </a:cubicBezTo>
                  <a:lnTo>
                    <a:pt x="10314" y="8984"/>
                  </a:lnTo>
                  <a:cubicBezTo>
                    <a:pt x="10465" y="9019"/>
                    <a:pt x="10626" y="8992"/>
                    <a:pt x="10759" y="9088"/>
                  </a:cubicBezTo>
                  <a:cubicBezTo>
                    <a:pt x="10893" y="9186"/>
                    <a:pt x="10931" y="9343"/>
                    <a:pt x="11011" y="9477"/>
                  </a:cubicBezTo>
                  <a:lnTo>
                    <a:pt x="14460" y="8930"/>
                  </a:lnTo>
                  <a:cubicBezTo>
                    <a:pt x="14689" y="8894"/>
                    <a:pt x="14908" y="9053"/>
                    <a:pt x="14944" y="9282"/>
                  </a:cubicBezTo>
                  <a:cubicBezTo>
                    <a:pt x="14980" y="9511"/>
                    <a:pt x="14822" y="9729"/>
                    <a:pt x="14593" y="9766"/>
                  </a:cubicBezTo>
                  <a:lnTo>
                    <a:pt x="11143" y="10312"/>
                  </a:lnTo>
                  <a:cubicBezTo>
                    <a:pt x="11108" y="10464"/>
                    <a:pt x="11121" y="10625"/>
                    <a:pt x="11024" y="10759"/>
                  </a:cubicBezTo>
                  <a:cubicBezTo>
                    <a:pt x="10636" y="11292"/>
                    <a:pt x="9886" y="11411"/>
                    <a:pt x="9353" y="11024"/>
                  </a:cubicBezTo>
                  <a:cubicBezTo>
                    <a:pt x="8820" y="10636"/>
                    <a:pt x="8701" y="9886"/>
                    <a:pt x="9088" y="9353"/>
                  </a:cubicBezTo>
                  <a:cubicBezTo>
                    <a:pt x="9188" y="9215"/>
                    <a:pt x="9357" y="9195"/>
                    <a:pt x="9495" y="9114"/>
                  </a:cubicBezTo>
                  <a:lnTo>
                    <a:pt x="8762" y="4489"/>
                  </a:lnTo>
                  <a:cubicBezTo>
                    <a:pt x="8726" y="4260"/>
                    <a:pt x="8869" y="4044"/>
                    <a:pt x="9098" y="4008"/>
                  </a:cubicBezTo>
                  <a:close/>
                  <a:moveTo>
                    <a:pt x="2495" y="10476"/>
                  </a:moveTo>
                  <a:cubicBezTo>
                    <a:pt x="2691" y="10446"/>
                    <a:pt x="2898" y="10482"/>
                    <a:pt x="3071" y="10607"/>
                  </a:cubicBezTo>
                  <a:cubicBezTo>
                    <a:pt x="3417" y="10859"/>
                    <a:pt x="3494" y="11345"/>
                    <a:pt x="3243" y="11690"/>
                  </a:cubicBezTo>
                  <a:cubicBezTo>
                    <a:pt x="2992" y="12035"/>
                    <a:pt x="2505" y="12113"/>
                    <a:pt x="2160" y="11862"/>
                  </a:cubicBezTo>
                  <a:cubicBezTo>
                    <a:pt x="1814" y="11610"/>
                    <a:pt x="1737" y="11124"/>
                    <a:pt x="1988" y="10779"/>
                  </a:cubicBezTo>
                  <a:cubicBezTo>
                    <a:pt x="2114" y="10606"/>
                    <a:pt x="2300" y="10507"/>
                    <a:pt x="2495" y="10476"/>
                  </a:cubicBezTo>
                  <a:close/>
                  <a:moveTo>
                    <a:pt x="17392" y="8117"/>
                  </a:moveTo>
                  <a:cubicBezTo>
                    <a:pt x="17587" y="8086"/>
                    <a:pt x="17779" y="8125"/>
                    <a:pt x="17952" y="8250"/>
                  </a:cubicBezTo>
                  <a:cubicBezTo>
                    <a:pt x="18298" y="8502"/>
                    <a:pt x="18375" y="8988"/>
                    <a:pt x="18124" y="9333"/>
                  </a:cubicBezTo>
                  <a:cubicBezTo>
                    <a:pt x="17872" y="9678"/>
                    <a:pt x="17402" y="9753"/>
                    <a:pt x="17056" y="9502"/>
                  </a:cubicBezTo>
                  <a:cubicBezTo>
                    <a:pt x="16711" y="9251"/>
                    <a:pt x="16634" y="8765"/>
                    <a:pt x="16885" y="8419"/>
                  </a:cubicBezTo>
                  <a:cubicBezTo>
                    <a:pt x="17010" y="8247"/>
                    <a:pt x="17196" y="8148"/>
                    <a:pt x="17392" y="8117"/>
                  </a:cubicBezTo>
                  <a:close/>
                  <a:moveTo>
                    <a:pt x="11112" y="16723"/>
                  </a:moveTo>
                  <a:cubicBezTo>
                    <a:pt x="11308" y="16692"/>
                    <a:pt x="11515" y="16728"/>
                    <a:pt x="11688" y="16854"/>
                  </a:cubicBezTo>
                  <a:cubicBezTo>
                    <a:pt x="12033" y="17105"/>
                    <a:pt x="12110" y="17591"/>
                    <a:pt x="11859" y="17937"/>
                  </a:cubicBezTo>
                  <a:cubicBezTo>
                    <a:pt x="11608" y="18282"/>
                    <a:pt x="11122" y="18359"/>
                    <a:pt x="10776" y="18108"/>
                  </a:cubicBezTo>
                  <a:cubicBezTo>
                    <a:pt x="10431" y="17857"/>
                    <a:pt x="10354" y="17371"/>
                    <a:pt x="10605" y="17025"/>
                  </a:cubicBezTo>
                  <a:cubicBezTo>
                    <a:pt x="10730" y="16853"/>
                    <a:pt x="10916" y="16754"/>
                    <a:pt x="11112" y="1672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899">
                <a:latin typeface="Lato Light" panose="020F0502020204030203" pitchFamily="34" charset="0"/>
              </a:endParaRPr>
            </a:p>
          </p:txBody>
        </p:sp>
        <p:sp>
          <p:nvSpPr>
            <p:cNvPr id="28" name="Shape 34194">
              <a:extLst>
                <a:ext uri="{FF2B5EF4-FFF2-40B4-BE49-F238E27FC236}">
                  <a16:creationId xmlns:a16="http://schemas.microsoft.com/office/drawing/2014/main" id="{08AB7CCF-CC82-4E41-9BD4-ACF711191AE9}"/>
                </a:ext>
              </a:extLst>
            </p:cNvPr>
            <p:cNvSpPr/>
            <p:nvPr/>
          </p:nvSpPr>
          <p:spPr>
            <a:xfrm>
              <a:off x="14592598" y="6234099"/>
              <a:ext cx="850388" cy="976334"/>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9" name="Shape 34195">
              <a:extLst>
                <a:ext uri="{FF2B5EF4-FFF2-40B4-BE49-F238E27FC236}">
                  <a16:creationId xmlns:a16="http://schemas.microsoft.com/office/drawing/2014/main" id="{60F1FCA0-0B55-DA42-AA15-76394CCF7CE8}"/>
                </a:ext>
              </a:extLst>
            </p:cNvPr>
            <p:cNvSpPr/>
            <p:nvPr/>
          </p:nvSpPr>
          <p:spPr>
            <a:xfrm>
              <a:off x="13429434" y="7344882"/>
              <a:ext cx="433382" cy="47975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0" name="Shape 34196">
              <a:extLst>
                <a:ext uri="{FF2B5EF4-FFF2-40B4-BE49-F238E27FC236}">
                  <a16:creationId xmlns:a16="http://schemas.microsoft.com/office/drawing/2014/main" id="{36E9D02B-3D7D-A54F-BC3A-460483287FD4}"/>
                </a:ext>
              </a:extLst>
            </p:cNvPr>
            <p:cNvSpPr/>
            <p:nvPr/>
          </p:nvSpPr>
          <p:spPr>
            <a:xfrm>
              <a:off x="12395982" y="2571694"/>
              <a:ext cx="1203272" cy="672004"/>
            </a:xfrm>
            <a:custGeom>
              <a:avLst/>
              <a:gdLst/>
              <a:ahLst/>
              <a:cxnLst>
                <a:cxn ang="0">
                  <a:pos x="wd2" y="hd2"/>
                </a:cxn>
                <a:cxn ang="5400000">
                  <a:pos x="wd2" y="hd2"/>
                </a:cxn>
                <a:cxn ang="10800000">
                  <a:pos x="wd2" y="hd2"/>
                </a:cxn>
                <a:cxn ang="16200000">
                  <a:pos x="wd2" y="hd2"/>
                </a:cxn>
              </a:cxnLst>
              <a:rect l="0" t="0" r="r" b="b"/>
              <a:pathLst>
                <a:path w="21600" h="21600" extrusionOk="0">
                  <a:moveTo>
                    <a:pt x="0" y="15895"/>
                  </a:moveTo>
                  <a:cubicBezTo>
                    <a:pt x="2602" y="16630"/>
                    <a:pt x="4225" y="13961"/>
                    <a:pt x="5624" y="11197"/>
                  </a:cubicBezTo>
                  <a:cubicBezTo>
                    <a:pt x="6473" y="14530"/>
                    <a:pt x="7574" y="17859"/>
                    <a:pt x="10123" y="18579"/>
                  </a:cubicBezTo>
                  <a:cubicBezTo>
                    <a:pt x="12646" y="19291"/>
                    <a:pt x="14269" y="16784"/>
                    <a:pt x="15641" y="14112"/>
                  </a:cubicBezTo>
                  <a:cubicBezTo>
                    <a:pt x="16494" y="17483"/>
                    <a:pt x="17585" y="20872"/>
                    <a:pt x="20164" y="21600"/>
                  </a:cubicBezTo>
                  <a:lnTo>
                    <a:pt x="20353" y="19555"/>
                  </a:lnTo>
                  <a:cubicBezTo>
                    <a:pt x="18170" y="18939"/>
                    <a:pt x="17341" y="15971"/>
                    <a:pt x="16486" y="12469"/>
                  </a:cubicBezTo>
                  <a:cubicBezTo>
                    <a:pt x="17922" y="9562"/>
                    <a:pt x="19218" y="7126"/>
                    <a:pt x="21427" y="7750"/>
                  </a:cubicBezTo>
                  <a:lnTo>
                    <a:pt x="21600" y="5701"/>
                  </a:lnTo>
                  <a:cubicBezTo>
                    <a:pt x="18998" y="4966"/>
                    <a:pt x="17363" y="7639"/>
                    <a:pt x="15964" y="10403"/>
                  </a:cubicBezTo>
                  <a:cubicBezTo>
                    <a:pt x="15115" y="7072"/>
                    <a:pt x="14006" y="3768"/>
                    <a:pt x="11458" y="3048"/>
                  </a:cubicBezTo>
                  <a:cubicBezTo>
                    <a:pt x="8930" y="2335"/>
                    <a:pt x="7330" y="4841"/>
                    <a:pt x="5956" y="7519"/>
                  </a:cubicBezTo>
                  <a:cubicBezTo>
                    <a:pt x="5103" y="4143"/>
                    <a:pt x="4006" y="730"/>
                    <a:pt x="1424" y="0"/>
                  </a:cubicBezTo>
                  <a:cubicBezTo>
                    <a:pt x="1424" y="0"/>
                    <a:pt x="1247" y="2048"/>
                    <a:pt x="1247" y="2048"/>
                  </a:cubicBezTo>
                  <a:cubicBezTo>
                    <a:pt x="3436" y="2666"/>
                    <a:pt x="4253" y="5647"/>
                    <a:pt x="5111" y="9162"/>
                  </a:cubicBezTo>
                  <a:cubicBezTo>
                    <a:pt x="3678" y="12062"/>
                    <a:pt x="2378" y="14476"/>
                    <a:pt x="172" y="13853"/>
                  </a:cubicBezTo>
                  <a:lnTo>
                    <a:pt x="0" y="15895"/>
                  </a:lnTo>
                  <a:close/>
                  <a:moveTo>
                    <a:pt x="491" y="12600"/>
                  </a:moveTo>
                  <a:cubicBezTo>
                    <a:pt x="875" y="12701"/>
                    <a:pt x="1223" y="12685"/>
                    <a:pt x="1549" y="12580"/>
                  </a:cubicBezTo>
                  <a:cubicBezTo>
                    <a:pt x="1549" y="12580"/>
                    <a:pt x="2321" y="3967"/>
                    <a:pt x="2321" y="3967"/>
                  </a:cubicBezTo>
                  <a:cubicBezTo>
                    <a:pt x="2030" y="3690"/>
                    <a:pt x="1699" y="3489"/>
                    <a:pt x="1315" y="3377"/>
                  </a:cubicBezTo>
                  <a:lnTo>
                    <a:pt x="491" y="12600"/>
                  </a:lnTo>
                  <a:close/>
                  <a:moveTo>
                    <a:pt x="2634" y="11814"/>
                  </a:moveTo>
                  <a:cubicBezTo>
                    <a:pt x="3034" y="11431"/>
                    <a:pt x="3403" y="10892"/>
                    <a:pt x="3769" y="10250"/>
                  </a:cubicBezTo>
                  <a:lnTo>
                    <a:pt x="4033" y="7350"/>
                  </a:lnTo>
                  <a:cubicBezTo>
                    <a:pt x="3797" y="6543"/>
                    <a:pt x="3542" y="5828"/>
                    <a:pt x="3229" y="5249"/>
                  </a:cubicBezTo>
                  <a:lnTo>
                    <a:pt x="2634" y="11814"/>
                  </a:lnTo>
                  <a:close/>
                  <a:moveTo>
                    <a:pt x="6469" y="9554"/>
                  </a:moveTo>
                  <a:cubicBezTo>
                    <a:pt x="7855" y="6764"/>
                    <a:pt x="9142" y="4492"/>
                    <a:pt x="11285" y="5097"/>
                  </a:cubicBezTo>
                  <a:cubicBezTo>
                    <a:pt x="13446" y="5708"/>
                    <a:pt x="14271" y="8612"/>
                    <a:pt x="15117" y="12067"/>
                  </a:cubicBezTo>
                  <a:cubicBezTo>
                    <a:pt x="13735" y="14848"/>
                    <a:pt x="12450" y="17138"/>
                    <a:pt x="10312" y="16534"/>
                  </a:cubicBezTo>
                  <a:cubicBezTo>
                    <a:pt x="8151" y="15924"/>
                    <a:pt x="7315" y="13008"/>
                    <a:pt x="6469" y="9554"/>
                  </a:cubicBezTo>
                  <a:close/>
                  <a:moveTo>
                    <a:pt x="7926" y="11848"/>
                  </a:moveTo>
                  <a:cubicBezTo>
                    <a:pt x="8206" y="12791"/>
                    <a:pt x="8514" y="13618"/>
                    <a:pt x="8887" y="14290"/>
                  </a:cubicBezTo>
                  <a:lnTo>
                    <a:pt x="9579" y="6388"/>
                  </a:lnTo>
                  <a:cubicBezTo>
                    <a:pt x="9109" y="6822"/>
                    <a:pt x="8677" y="7447"/>
                    <a:pt x="8249" y="8189"/>
                  </a:cubicBezTo>
                  <a:lnTo>
                    <a:pt x="7926" y="11848"/>
                  </a:lnTo>
                  <a:close/>
                  <a:moveTo>
                    <a:pt x="9896" y="14953"/>
                  </a:moveTo>
                  <a:cubicBezTo>
                    <a:pt x="10099" y="15084"/>
                    <a:pt x="10315" y="15184"/>
                    <a:pt x="10557" y="15248"/>
                  </a:cubicBezTo>
                  <a:cubicBezTo>
                    <a:pt x="10679" y="15281"/>
                    <a:pt x="10797" y="15298"/>
                    <a:pt x="10912" y="15309"/>
                  </a:cubicBezTo>
                  <a:lnTo>
                    <a:pt x="11755" y="6255"/>
                  </a:lnTo>
                  <a:cubicBezTo>
                    <a:pt x="11643" y="6205"/>
                    <a:pt x="11527" y="6163"/>
                    <a:pt x="11404" y="6131"/>
                  </a:cubicBezTo>
                  <a:cubicBezTo>
                    <a:pt x="11163" y="6066"/>
                    <a:pt x="10938" y="6048"/>
                    <a:pt x="10721" y="6066"/>
                  </a:cubicBezTo>
                  <a:lnTo>
                    <a:pt x="9896" y="14953"/>
                  </a:lnTo>
                  <a:close/>
                  <a:moveTo>
                    <a:pt x="12018" y="15401"/>
                  </a:moveTo>
                  <a:cubicBezTo>
                    <a:pt x="12451" y="15112"/>
                    <a:pt x="12844" y="14657"/>
                    <a:pt x="13226" y="14085"/>
                  </a:cubicBezTo>
                  <a:lnTo>
                    <a:pt x="13671" y="9231"/>
                  </a:lnTo>
                  <a:cubicBezTo>
                    <a:pt x="13409" y="8483"/>
                    <a:pt x="13115" y="7842"/>
                    <a:pt x="12755" y="7338"/>
                  </a:cubicBezTo>
                  <a:lnTo>
                    <a:pt x="12018" y="15401"/>
                  </a:lnTo>
                  <a:close/>
                  <a:moveTo>
                    <a:pt x="17569" y="14225"/>
                  </a:moveTo>
                  <a:cubicBezTo>
                    <a:pt x="17809" y="14981"/>
                    <a:pt x="18068" y="15640"/>
                    <a:pt x="18381" y="16171"/>
                  </a:cubicBezTo>
                  <a:lnTo>
                    <a:pt x="18883" y="9826"/>
                  </a:lnTo>
                  <a:cubicBezTo>
                    <a:pt x="18496" y="10227"/>
                    <a:pt x="18140" y="10774"/>
                    <a:pt x="17789" y="11421"/>
                  </a:cubicBezTo>
                  <a:lnTo>
                    <a:pt x="17569" y="14225"/>
                  </a:lnTo>
                  <a:close/>
                  <a:moveTo>
                    <a:pt x="19556" y="17463"/>
                  </a:moveTo>
                  <a:cubicBezTo>
                    <a:pt x="19840" y="17716"/>
                    <a:pt x="20160" y="17896"/>
                    <a:pt x="20532" y="17987"/>
                  </a:cubicBezTo>
                  <a:lnTo>
                    <a:pt x="21280" y="9117"/>
                  </a:lnTo>
                  <a:cubicBezTo>
                    <a:pt x="20907" y="9037"/>
                    <a:pt x="20569" y="9067"/>
                    <a:pt x="20254" y="9182"/>
                  </a:cubicBezTo>
                  <a:cubicBezTo>
                    <a:pt x="20254" y="9182"/>
                    <a:pt x="19556" y="17463"/>
                    <a:pt x="19556" y="1746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899">
                <a:latin typeface="Lato Light" panose="020F0502020204030203" pitchFamily="34" charset="0"/>
              </a:endParaRPr>
            </a:p>
          </p:txBody>
        </p:sp>
        <p:sp>
          <p:nvSpPr>
            <p:cNvPr id="31" name="Shape 34197">
              <a:extLst>
                <a:ext uri="{FF2B5EF4-FFF2-40B4-BE49-F238E27FC236}">
                  <a16:creationId xmlns:a16="http://schemas.microsoft.com/office/drawing/2014/main" id="{1ABAD993-1B69-BE43-9F7C-3D6B462DA21E}"/>
                </a:ext>
              </a:extLst>
            </p:cNvPr>
            <p:cNvSpPr/>
            <p:nvPr/>
          </p:nvSpPr>
          <p:spPr>
            <a:xfrm>
              <a:off x="13886540" y="2993820"/>
              <a:ext cx="578410" cy="610580"/>
            </a:xfrm>
            <a:custGeom>
              <a:avLst/>
              <a:gdLst/>
              <a:ahLst/>
              <a:cxnLst>
                <a:cxn ang="0">
                  <a:pos x="wd2" y="hd2"/>
                </a:cxn>
                <a:cxn ang="5400000">
                  <a:pos x="wd2" y="hd2"/>
                </a:cxn>
                <a:cxn ang="10800000">
                  <a:pos x="wd2" y="hd2"/>
                </a:cxn>
                <a:cxn ang="16200000">
                  <a:pos x="wd2" y="hd2"/>
                </a:cxn>
              </a:cxnLst>
              <a:rect l="0" t="0" r="r" b="b"/>
              <a:pathLst>
                <a:path w="21272" h="21285" extrusionOk="0">
                  <a:moveTo>
                    <a:pt x="7646" y="529"/>
                  </a:moveTo>
                  <a:cubicBezTo>
                    <a:pt x="7990" y="7"/>
                    <a:pt x="8716" y="-158"/>
                    <a:pt x="9266" y="168"/>
                  </a:cubicBezTo>
                  <a:lnTo>
                    <a:pt x="20724" y="6954"/>
                  </a:lnTo>
                  <a:cubicBezTo>
                    <a:pt x="21274" y="7280"/>
                    <a:pt x="21435" y="7971"/>
                    <a:pt x="21091" y="8493"/>
                  </a:cubicBezTo>
                  <a:lnTo>
                    <a:pt x="13003" y="20763"/>
                  </a:lnTo>
                  <a:cubicBezTo>
                    <a:pt x="12659" y="21284"/>
                    <a:pt x="11938" y="21442"/>
                    <a:pt x="11388" y="21116"/>
                  </a:cubicBezTo>
                  <a:lnTo>
                    <a:pt x="8398" y="19345"/>
                  </a:lnTo>
                  <a:lnTo>
                    <a:pt x="10574" y="16044"/>
                  </a:lnTo>
                  <a:cubicBezTo>
                    <a:pt x="10918" y="15523"/>
                    <a:pt x="10752" y="14839"/>
                    <a:pt x="10202" y="14513"/>
                  </a:cubicBezTo>
                  <a:lnTo>
                    <a:pt x="8206" y="13331"/>
                  </a:lnTo>
                  <a:cubicBezTo>
                    <a:pt x="7656" y="13006"/>
                    <a:pt x="6935" y="13163"/>
                    <a:pt x="6591" y="13685"/>
                  </a:cubicBezTo>
                  <a:lnTo>
                    <a:pt x="4415" y="16986"/>
                  </a:lnTo>
                  <a:lnTo>
                    <a:pt x="1926" y="15512"/>
                  </a:lnTo>
                  <a:cubicBezTo>
                    <a:pt x="1376" y="15186"/>
                    <a:pt x="1202" y="14498"/>
                    <a:pt x="1545" y="13976"/>
                  </a:cubicBezTo>
                  <a:lnTo>
                    <a:pt x="552" y="13387"/>
                  </a:lnTo>
                  <a:cubicBezTo>
                    <a:pt x="2" y="13062"/>
                    <a:pt x="-165" y="12378"/>
                    <a:pt x="179" y="11857"/>
                  </a:cubicBezTo>
                  <a:lnTo>
                    <a:pt x="7646" y="529"/>
                  </a:lnTo>
                  <a:close/>
                  <a:moveTo>
                    <a:pt x="8332" y="1585"/>
                  </a:moveTo>
                  <a:lnTo>
                    <a:pt x="1799" y="11496"/>
                  </a:lnTo>
                  <a:cubicBezTo>
                    <a:pt x="1799" y="11496"/>
                    <a:pt x="1170" y="12444"/>
                    <a:pt x="2166" y="13034"/>
                  </a:cubicBezTo>
                  <a:lnTo>
                    <a:pt x="9326" y="2173"/>
                  </a:lnTo>
                  <a:cubicBezTo>
                    <a:pt x="9498" y="1913"/>
                    <a:pt x="9416" y="1577"/>
                    <a:pt x="9141" y="1414"/>
                  </a:cubicBezTo>
                  <a:cubicBezTo>
                    <a:pt x="8866" y="1251"/>
                    <a:pt x="8504" y="1324"/>
                    <a:pt x="8332" y="1585"/>
                  </a:cubicBezTo>
                  <a:close/>
                  <a:moveTo>
                    <a:pt x="6784" y="14449"/>
                  </a:moveTo>
                  <a:cubicBezTo>
                    <a:pt x="7128" y="13927"/>
                    <a:pt x="7849" y="13769"/>
                    <a:pt x="8399" y="14095"/>
                  </a:cubicBezTo>
                  <a:lnTo>
                    <a:pt x="9393" y="14684"/>
                  </a:lnTo>
                  <a:cubicBezTo>
                    <a:pt x="9943" y="15010"/>
                    <a:pt x="10109" y="15693"/>
                    <a:pt x="9766" y="16215"/>
                  </a:cubicBezTo>
                  <a:lnTo>
                    <a:pt x="7897" y="19049"/>
                  </a:lnTo>
                  <a:cubicBezTo>
                    <a:pt x="7554" y="19570"/>
                    <a:pt x="6827" y="19735"/>
                    <a:pt x="6277" y="19410"/>
                  </a:cubicBezTo>
                  <a:lnTo>
                    <a:pt x="5284" y="18821"/>
                  </a:lnTo>
                  <a:cubicBezTo>
                    <a:pt x="4733" y="18495"/>
                    <a:pt x="4572" y="17804"/>
                    <a:pt x="4916" y="17283"/>
                  </a:cubicBezTo>
                  <a:lnTo>
                    <a:pt x="6784" y="14449"/>
                  </a:lnTo>
                  <a:close/>
                  <a:moveTo>
                    <a:pt x="7465" y="15512"/>
                  </a:moveTo>
                  <a:cubicBezTo>
                    <a:pt x="7293" y="15773"/>
                    <a:pt x="7369" y="16116"/>
                    <a:pt x="7645" y="16279"/>
                  </a:cubicBezTo>
                  <a:cubicBezTo>
                    <a:pt x="7920" y="16442"/>
                    <a:pt x="8287" y="16362"/>
                    <a:pt x="8459" y="16101"/>
                  </a:cubicBezTo>
                  <a:cubicBezTo>
                    <a:pt x="8630" y="15840"/>
                    <a:pt x="8546" y="15492"/>
                    <a:pt x="8271" y="15329"/>
                  </a:cubicBezTo>
                  <a:cubicBezTo>
                    <a:pt x="7995" y="15166"/>
                    <a:pt x="7637" y="15251"/>
                    <a:pt x="7465" y="1551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2" name="Shape 34198">
              <a:extLst>
                <a:ext uri="{FF2B5EF4-FFF2-40B4-BE49-F238E27FC236}">
                  <a16:creationId xmlns:a16="http://schemas.microsoft.com/office/drawing/2014/main" id="{D4260BC1-65B0-0246-B08D-3F1827008025}"/>
                </a:ext>
              </a:extLst>
            </p:cNvPr>
            <p:cNvSpPr/>
            <p:nvPr/>
          </p:nvSpPr>
          <p:spPr>
            <a:xfrm>
              <a:off x="10894630" y="2650276"/>
              <a:ext cx="621486" cy="960340"/>
            </a:xfrm>
            <a:custGeom>
              <a:avLst/>
              <a:gdLst/>
              <a:ahLst/>
              <a:cxnLst>
                <a:cxn ang="0">
                  <a:pos x="wd2" y="hd2"/>
                </a:cxn>
                <a:cxn ang="5400000">
                  <a:pos x="wd2" y="hd2"/>
                </a:cxn>
                <a:cxn ang="10800000">
                  <a:pos x="wd2" y="hd2"/>
                </a:cxn>
                <a:cxn ang="16200000">
                  <a:pos x="wd2" y="hd2"/>
                </a:cxn>
              </a:cxnLst>
              <a:rect l="0" t="0" r="r" b="b"/>
              <a:pathLst>
                <a:path w="21220" h="21353" extrusionOk="0">
                  <a:moveTo>
                    <a:pt x="15021" y="3564"/>
                  </a:moveTo>
                  <a:lnTo>
                    <a:pt x="1858" y="5543"/>
                  </a:lnTo>
                  <a:lnTo>
                    <a:pt x="6199" y="17788"/>
                  </a:lnTo>
                  <a:lnTo>
                    <a:pt x="19362" y="15809"/>
                  </a:lnTo>
                  <a:cubicBezTo>
                    <a:pt x="19362" y="15809"/>
                    <a:pt x="15021" y="3564"/>
                    <a:pt x="15021" y="3564"/>
                  </a:cubicBezTo>
                  <a:close/>
                  <a:moveTo>
                    <a:pt x="10139" y="2364"/>
                  </a:moveTo>
                  <a:lnTo>
                    <a:pt x="5438" y="3070"/>
                  </a:lnTo>
                  <a:cubicBezTo>
                    <a:pt x="5178" y="3109"/>
                    <a:pt x="5016" y="3278"/>
                    <a:pt x="5076" y="3447"/>
                  </a:cubicBezTo>
                  <a:cubicBezTo>
                    <a:pt x="5136" y="3616"/>
                    <a:pt x="5395" y="3722"/>
                    <a:pt x="5655" y="3683"/>
                  </a:cubicBezTo>
                  <a:lnTo>
                    <a:pt x="10356" y="2976"/>
                  </a:lnTo>
                  <a:cubicBezTo>
                    <a:pt x="10615" y="2937"/>
                    <a:pt x="10777" y="2768"/>
                    <a:pt x="10717" y="2599"/>
                  </a:cubicBezTo>
                  <a:cubicBezTo>
                    <a:pt x="10657" y="2430"/>
                    <a:pt x="10398" y="2325"/>
                    <a:pt x="10139" y="2364"/>
                  </a:cubicBezTo>
                  <a:close/>
                  <a:moveTo>
                    <a:pt x="14119" y="19177"/>
                  </a:moveTo>
                  <a:cubicBezTo>
                    <a:pt x="14897" y="19060"/>
                    <a:pt x="15383" y="18554"/>
                    <a:pt x="15204" y="18046"/>
                  </a:cubicBezTo>
                  <a:cubicBezTo>
                    <a:pt x="15024" y="17539"/>
                    <a:pt x="14246" y="17223"/>
                    <a:pt x="13468" y="17340"/>
                  </a:cubicBezTo>
                  <a:cubicBezTo>
                    <a:pt x="12689" y="17457"/>
                    <a:pt x="12203" y="17963"/>
                    <a:pt x="12383" y="18470"/>
                  </a:cubicBezTo>
                  <a:cubicBezTo>
                    <a:pt x="12563" y="18978"/>
                    <a:pt x="13340" y="19294"/>
                    <a:pt x="14119" y="19177"/>
                  </a:cubicBezTo>
                  <a:close/>
                  <a:moveTo>
                    <a:pt x="19724" y="19624"/>
                  </a:moveTo>
                  <a:lnTo>
                    <a:pt x="8442" y="21320"/>
                  </a:lnTo>
                  <a:cubicBezTo>
                    <a:pt x="7403" y="21476"/>
                    <a:pt x="6367" y="21054"/>
                    <a:pt x="6127" y="20378"/>
                  </a:cubicBezTo>
                  <a:lnTo>
                    <a:pt x="50" y="3235"/>
                  </a:lnTo>
                  <a:cubicBezTo>
                    <a:pt x="-190" y="2559"/>
                    <a:pt x="458" y="1884"/>
                    <a:pt x="1496" y="1728"/>
                  </a:cubicBezTo>
                  <a:lnTo>
                    <a:pt x="12778" y="32"/>
                  </a:lnTo>
                  <a:cubicBezTo>
                    <a:pt x="13817" y="-124"/>
                    <a:pt x="14853" y="298"/>
                    <a:pt x="15093" y="974"/>
                  </a:cubicBezTo>
                  <a:lnTo>
                    <a:pt x="21170" y="18117"/>
                  </a:lnTo>
                  <a:cubicBezTo>
                    <a:pt x="21410" y="18793"/>
                    <a:pt x="20762" y="19468"/>
                    <a:pt x="19724" y="1962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3" name="Shape 34199">
              <a:extLst>
                <a:ext uri="{FF2B5EF4-FFF2-40B4-BE49-F238E27FC236}">
                  <a16:creationId xmlns:a16="http://schemas.microsoft.com/office/drawing/2014/main" id="{EF07CAC8-6A35-DB44-BD69-BD5D91A2E37C}"/>
                </a:ext>
              </a:extLst>
            </p:cNvPr>
            <p:cNvSpPr/>
            <p:nvPr/>
          </p:nvSpPr>
          <p:spPr>
            <a:xfrm>
              <a:off x="11662409" y="2578131"/>
              <a:ext cx="539930" cy="685716"/>
            </a:xfrm>
            <a:custGeom>
              <a:avLst/>
              <a:gdLst/>
              <a:ahLst/>
              <a:cxnLst>
                <a:cxn ang="0">
                  <a:pos x="wd2" y="hd2"/>
                </a:cxn>
                <a:cxn ang="5400000">
                  <a:pos x="wd2" y="hd2"/>
                </a:cxn>
                <a:cxn ang="10800000">
                  <a:pos x="wd2" y="hd2"/>
                </a:cxn>
                <a:cxn ang="16200000">
                  <a:pos x="wd2" y="hd2"/>
                </a:cxn>
              </a:cxnLst>
              <a:rect l="0" t="0" r="r" b="b"/>
              <a:pathLst>
                <a:path w="21600" h="21600" extrusionOk="0">
                  <a:moveTo>
                    <a:pt x="0" y="837"/>
                  </a:moveTo>
                  <a:lnTo>
                    <a:pt x="1844" y="21600"/>
                  </a:lnTo>
                  <a:lnTo>
                    <a:pt x="21600" y="20512"/>
                  </a:lnTo>
                  <a:lnTo>
                    <a:pt x="20076" y="3352"/>
                  </a:lnTo>
                  <a:lnTo>
                    <a:pt x="15202" y="0"/>
                  </a:lnTo>
                  <a:lnTo>
                    <a:pt x="0" y="837"/>
                  </a:lnTo>
                  <a:close/>
                  <a:moveTo>
                    <a:pt x="6705" y="5273"/>
                  </a:moveTo>
                  <a:lnTo>
                    <a:pt x="13900" y="4876"/>
                  </a:lnTo>
                  <a:lnTo>
                    <a:pt x="13951" y="5450"/>
                  </a:lnTo>
                  <a:lnTo>
                    <a:pt x="6756" y="5846"/>
                  </a:lnTo>
                  <a:lnTo>
                    <a:pt x="6705" y="5273"/>
                  </a:lnTo>
                  <a:close/>
                  <a:moveTo>
                    <a:pt x="3609" y="11120"/>
                  </a:moveTo>
                  <a:lnTo>
                    <a:pt x="18000" y="10328"/>
                  </a:lnTo>
                  <a:lnTo>
                    <a:pt x="18049" y="10884"/>
                  </a:lnTo>
                  <a:lnTo>
                    <a:pt x="3658" y="11677"/>
                  </a:lnTo>
                  <a:lnTo>
                    <a:pt x="3609" y="11120"/>
                  </a:lnTo>
                  <a:close/>
                  <a:moveTo>
                    <a:pt x="3859" y="13936"/>
                  </a:moveTo>
                  <a:lnTo>
                    <a:pt x="18250" y="13144"/>
                  </a:lnTo>
                  <a:lnTo>
                    <a:pt x="18301" y="13717"/>
                  </a:lnTo>
                  <a:lnTo>
                    <a:pt x="3910" y="14509"/>
                  </a:lnTo>
                  <a:lnTo>
                    <a:pt x="3859" y="13936"/>
                  </a:lnTo>
                  <a:close/>
                  <a:moveTo>
                    <a:pt x="4109" y="16753"/>
                  </a:moveTo>
                  <a:lnTo>
                    <a:pt x="11305" y="16357"/>
                  </a:lnTo>
                  <a:lnTo>
                    <a:pt x="11356" y="16930"/>
                  </a:lnTo>
                  <a:lnTo>
                    <a:pt x="4160" y="17326"/>
                  </a:lnTo>
                  <a:lnTo>
                    <a:pt x="4109" y="16753"/>
                  </a:lnTo>
                  <a:close/>
                </a:path>
              </a:pathLst>
            </a:custGeom>
            <a:solidFill>
              <a:schemeClr val="accent1"/>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4" name="Shape 34200">
              <a:extLst>
                <a:ext uri="{FF2B5EF4-FFF2-40B4-BE49-F238E27FC236}">
                  <a16:creationId xmlns:a16="http://schemas.microsoft.com/office/drawing/2014/main" id="{0EF52984-C20C-9447-8DD3-28FAB8F93312}"/>
                </a:ext>
              </a:extLst>
            </p:cNvPr>
            <p:cNvSpPr/>
            <p:nvPr/>
          </p:nvSpPr>
          <p:spPr>
            <a:xfrm>
              <a:off x="12531620" y="6289836"/>
              <a:ext cx="641868" cy="650244"/>
            </a:xfrm>
            <a:custGeom>
              <a:avLst/>
              <a:gdLst/>
              <a:ahLst/>
              <a:cxnLst>
                <a:cxn ang="0">
                  <a:pos x="wd2" y="hd2"/>
                </a:cxn>
                <a:cxn ang="5400000">
                  <a:pos x="wd2" y="hd2"/>
                </a:cxn>
                <a:cxn ang="10800000">
                  <a:pos x="wd2" y="hd2"/>
                </a:cxn>
                <a:cxn ang="16200000">
                  <a:pos x="wd2" y="hd2"/>
                </a:cxn>
              </a:cxnLst>
              <a:rect l="0" t="0" r="r" b="b"/>
              <a:pathLst>
                <a:path w="21273" h="21600" extrusionOk="0">
                  <a:moveTo>
                    <a:pt x="0" y="8656"/>
                  </a:moveTo>
                  <a:lnTo>
                    <a:pt x="3891" y="13472"/>
                  </a:lnTo>
                  <a:cubicBezTo>
                    <a:pt x="3891" y="13472"/>
                    <a:pt x="5113" y="13644"/>
                    <a:pt x="5432" y="12623"/>
                  </a:cubicBezTo>
                  <a:cubicBezTo>
                    <a:pt x="5784" y="11492"/>
                    <a:pt x="7687" y="9934"/>
                    <a:pt x="9148" y="11824"/>
                  </a:cubicBezTo>
                  <a:cubicBezTo>
                    <a:pt x="10609" y="13713"/>
                    <a:pt x="9118" y="15051"/>
                    <a:pt x="7911" y="15308"/>
                  </a:cubicBezTo>
                  <a:cubicBezTo>
                    <a:pt x="6818" y="15541"/>
                    <a:pt x="6446" y="16635"/>
                    <a:pt x="6446" y="16635"/>
                  </a:cubicBezTo>
                  <a:lnTo>
                    <a:pt x="10458" y="21600"/>
                  </a:lnTo>
                  <a:lnTo>
                    <a:pt x="14739" y="18125"/>
                  </a:lnTo>
                  <a:cubicBezTo>
                    <a:pt x="14739" y="18125"/>
                    <a:pt x="14656" y="17235"/>
                    <a:pt x="13766" y="16921"/>
                  </a:cubicBezTo>
                  <a:cubicBezTo>
                    <a:pt x="12685" y="16541"/>
                    <a:pt x="11239" y="14858"/>
                    <a:pt x="13261" y="13217"/>
                  </a:cubicBezTo>
                  <a:cubicBezTo>
                    <a:pt x="15282" y="11577"/>
                    <a:pt x="16620" y="13268"/>
                    <a:pt x="16756" y="14619"/>
                  </a:cubicBezTo>
                  <a:cubicBezTo>
                    <a:pt x="16858" y="15631"/>
                    <a:pt x="17668" y="15748"/>
                    <a:pt x="17668" y="15748"/>
                  </a:cubicBezTo>
                  <a:lnTo>
                    <a:pt x="21273" y="12822"/>
                  </a:lnTo>
                  <a:cubicBezTo>
                    <a:pt x="21273" y="12822"/>
                    <a:pt x="18291" y="9357"/>
                    <a:pt x="17693" y="8295"/>
                  </a:cubicBezTo>
                  <a:cubicBezTo>
                    <a:pt x="17052" y="7158"/>
                    <a:pt x="18759" y="6911"/>
                    <a:pt x="19060" y="6845"/>
                  </a:cubicBezTo>
                  <a:cubicBezTo>
                    <a:pt x="20796" y="6467"/>
                    <a:pt x="21600" y="4760"/>
                    <a:pt x="20175" y="2996"/>
                  </a:cubicBezTo>
                  <a:cubicBezTo>
                    <a:pt x="18749" y="1232"/>
                    <a:pt x="16519" y="2306"/>
                    <a:pt x="16165" y="3733"/>
                  </a:cubicBezTo>
                  <a:cubicBezTo>
                    <a:pt x="15902" y="4793"/>
                    <a:pt x="15415" y="5326"/>
                    <a:pt x="14915" y="4919"/>
                  </a:cubicBezTo>
                  <a:cubicBezTo>
                    <a:pt x="13746" y="3966"/>
                    <a:pt x="10665" y="0"/>
                    <a:pt x="10665" y="0"/>
                  </a:cubicBezTo>
                  <a:lnTo>
                    <a:pt x="7285" y="2743"/>
                  </a:lnTo>
                  <a:cubicBezTo>
                    <a:pt x="7285" y="2743"/>
                    <a:pt x="7256" y="4048"/>
                    <a:pt x="8291" y="4295"/>
                  </a:cubicBezTo>
                  <a:cubicBezTo>
                    <a:pt x="9849" y="4668"/>
                    <a:pt x="10626" y="6514"/>
                    <a:pt x="9021" y="7816"/>
                  </a:cubicBezTo>
                  <a:cubicBezTo>
                    <a:pt x="7417" y="9118"/>
                    <a:pt x="5847" y="8156"/>
                    <a:pt x="5733" y="6515"/>
                  </a:cubicBezTo>
                  <a:cubicBezTo>
                    <a:pt x="5669" y="5595"/>
                    <a:pt x="4421" y="5079"/>
                    <a:pt x="4421" y="5079"/>
                  </a:cubicBezTo>
                  <a:cubicBezTo>
                    <a:pt x="4421" y="5079"/>
                    <a:pt x="0" y="8656"/>
                    <a:pt x="0" y="865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5" name="Shape 34201">
              <a:extLst>
                <a:ext uri="{FF2B5EF4-FFF2-40B4-BE49-F238E27FC236}">
                  <a16:creationId xmlns:a16="http://schemas.microsoft.com/office/drawing/2014/main" id="{D66540D1-4BAC-5142-9894-F08B20D57EF1}"/>
                </a:ext>
              </a:extLst>
            </p:cNvPr>
            <p:cNvSpPr/>
            <p:nvPr/>
          </p:nvSpPr>
          <p:spPr>
            <a:xfrm>
              <a:off x="11981887" y="4201963"/>
              <a:ext cx="441404" cy="383974"/>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6" name="Shape 34202">
              <a:extLst>
                <a:ext uri="{FF2B5EF4-FFF2-40B4-BE49-F238E27FC236}">
                  <a16:creationId xmlns:a16="http://schemas.microsoft.com/office/drawing/2014/main" id="{5737805B-54E0-4A47-AC01-0D1BDA267497}"/>
                </a:ext>
              </a:extLst>
            </p:cNvPr>
            <p:cNvSpPr/>
            <p:nvPr/>
          </p:nvSpPr>
          <p:spPr>
            <a:xfrm>
              <a:off x="11678186" y="10413681"/>
              <a:ext cx="681752" cy="446008"/>
            </a:xfrm>
            <a:custGeom>
              <a:avLst/>
              <a:gdLst/>
              <a:ahLst/>
              <a:cxnLst>
                <a:cxn ang="0">
                  <a:pos x="wd2" y="hd2"/>
                </a:cxn>
                <a:cxn ang="5400000">
                  <a:pos x="wd2" y="hd2"/>
                </a:cxn>
                <a:cxn ang="10800000">
                  <a:pos x="wd2" y="hd2"/>
                </a:cxn>
                <a:cxn ang="16200000">
                  <a:pos x="wd2" y="hd2"/>
                </a:cxn>
              </a:cxnLst>
              <a:rect l="0" t="0" r="r" b="b"/>
              <a:pathLst>
                <a:path w="21600" h="21600" extrusionOk="0">
                  <a:moveTo>
                    <a:pt x="18900" y="15429"/>
                  </a:moveTo>
                  <a:lnTo>
                    <a:pt x="2700" y="15429"/>
                  </a:lnTo>
                  <a:lnTo>
                    <a:pt x="2700" y="2057"/>
                  </a:lnTo>
                  <a:lnTo>
                    <a:pt x="18900" y="2057"/>
                  </a:lnTo>
                  <a:cubicBezTo>
                    <a:pt x="18900" y="2057"/>
                    <a:pt x="18900" y="15429"/>
                    <a:pt x="18900" y="15429"/>
                  </a:cubicBezTo>
                  <a:close/>
                  <a:moveTo>
                    <a:pt x="18900" y="0"/>
                  </a:moveTo>
                  <a:lnTo>
                    <a:pt x="2700" y="0"/>
                  </a:lnTo>
                  <a:cubicBezTo>
                    <a:pt x="1954" y="0"/>
                    <a:pt x="1350" y="922"/>
                    <a:pt x="1350" y="2057"/>
                  </a:cubicBezTo>
                  <a:cubicBezTo>
                    <a:pt x="1350" y="2057"/>
                    <a:pt x="1350" y="17486"/>
                    <a:pt x="1364" y="17486"/>
                  </a:cubicBezTo>
                  <a:lnTo>
                    <a:pt x="20235" y="17486"/>
                  </a:lnTo>
                  <a:cubicBezTo>
                    <a:pt x="20250" y="17486"/>
                    <a:pt x="20250" y="2057"/>
                    <a:pt x="20250" y="2057"/>
                  </a:cubicBezTo>
                  <a:cubicBezTo>
                    <a:pt x="20250" y="922"/>
                    <a:pt x="19646" y="0"/>
                    <a:pt x="18900" y="0"/>
                  </a:cubicBezTo>
                  <a:close/>
                  <a:moveTo>
                    <a:pt x="20250" y="21600"/>
                  </a:moveTo>
                  <a:lnTo>
                    <a:pt x="1350" y="21600"/>
                  </a:lnTo>
                  <a:cubicBezTo>
                    <a:pt x="604" y="21600"/>
                    <a:pt x="0" y="20679"/>
                    <a:pt x="0" y="19543"/>
                  </a:cubicBezTo>
                  <a:lnTo>
                    <a:pt x="0" y="18514"/>
                  </a:lnTo>
                  <a:lnTo>
                    <a:pt x="8775" y="18514"/>
                  </a:lnTo>
                  <a:lnTo>
                    <a:pt x="8775" y="19543"/>
                  </a:lnTo>
                  <a:lnTo>
                    <a:pt x="12825" y="19543"/>
                  </a:lnTo>
                  <a:lnTo>
                    <a:pt x="12825" y="18514"/>
                  </a:lnTo>
                  <a:lnTo>
                    <a:pt x="21600" y="18514"/>
                  </a:lnTo>
                  <a:lnTo>
                    <a:pt x="21600" y="19543"/>
                  </a:lnTo>
                  <a:cubicBezTo>
                    <a:pt x="21600" y="20679"/>
                    <a:pt x="20995" y="21600"/>
                    <a:pt x="20250" y="21600"/>
                  </a:cubicBezTo>
                  <a:cubicBezTo>
                    <a:pt x="20250" y="21600"/>
                    <a:pt x="20250" y="21600"/>
                    <a:pt x="2025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7" name="Shape 34203">
              <a:extLst>
                <a:ext uri="{FF2B5EF4-FFF2-40B4-BE49-F238E27FC236}">
                  <a16:creationId xmlns:a16="http://schemas.microsoft.com/office/drawing/2014/main" id="{91DC43D2-97F8-1C4D-B8DA-A62FF50701D4}"/>
                </a:ext>
              </a:extLst>
            </p:cNvPr>
            <p:cNvSpPr/>
            <p:nvPr/>
          </p:nvSpPr>
          <p:spPr>
            <a:xfrm>
              <a:off x="13517964" y="3878275"/>
              <a:ext cx="745620" cy="528512"/>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8" name="Shape 34204">
              <a:extLst>
                <a:ext uri="{FF2B5EF4-FFF2-40B4-BE49-F238E27FC236}">
                  <a16:creationId xmlns:a16="http://schemas.microsoft.com/office/drawing/2014/main" id="{ECFCF262-74DE-F84F-887D-99629AD08806}"/>
                </a:ext>
              </a:extLst>
            </p:cNvPr>
            <p:cNvSpPr/>
            <p:nvPr/>
          </p:nvSpPr>
          <p:spPr>
            <a:xfrm>
              <a:off x="10622816" y="11265327"/>
              <a:ext cx="446006" cy="446008"/>
            </a:xfrm>
            <a:custGeom>
              <a:avLst/>
              <a:gdLst/>
              <a:ahLst/>
              <a:cxnLst>
                <a:cxn ang="0">
                  <a:pos x="wd2" y="hd2"/>
                </a:cxn>
                <a:cxn ang="5400000">
                  <a:pos x="wd2" y="hd2"/>
                </a:cxn>
                <a:cxn ang="10800000">
                  <a:pos x="wd2" y="hd2"/>
                </a:cxn>
                <a:cxn ang="16200000">
                  <a:pos x="wd2" y="hd2"/>
                </a:cxn>
              </a:cxnLst>
              <a:rect l="0" t="0" r="r" b="b"/>
              <a:pathLst>
                <a:path w="18957" h="18957" extrusionOk="0">
                  <a:moveTo>
                    <a:pt x="5474" y="890"/>
                  </a:moveTo>
                  <a:cubicBezTo>
                    <a:pt x="729" y="3103"/>
                    <a:pt x="-1322" y="8738"/>
                    <a:pt x="890" y="13482"/>
                  </a:cubicBezTo>
                  <a:cubicBezTo>
                    <a:pt x="3103" y="18227"/>
                    <a:pt x="8738" y="20278"/>
                    <a:pt x="13482" y="18066"/>
                  </a:cubicBezTo>
                  <a:cubicBezTo>
                    <a:pt x="18227" y="15853"/>
                    <a:pt x="20278" y="10218"/>
                    <a:pt x="18066" y="5474"/>
                  </a:cubicBezTo>
                  <a:cubicBezTo>
                    <a:pt x="15853" y="729"/>
                    <a:pt x="10218" y="-1322"/>
                    <a:pt x="5474" y="890"/>
                  </a:cubicBezTo>
                  <a:close/>
                  <a:moveTo>
                    <a:pt x="6178" y="2402"/>
                  </a:moveTo>
                  <a:cubicBezTo>
                    <a:pt x="6348" y="2323"/>
                    <a:pt x="6545" y="2302"/>
                    <a:pt x="6734" y="2371"/>
                  </a:cubicBezTo>
                  <a:cubicBezTo>
                    <a:pt x="7112" y="2509"/>
                    <a:pt x="7308" y="2929"/>
                    <a:pt x="7170" y="3307"/>
                  </a:cubicBezTo>
                  <a:cubicBezTo>
                    <a:pt x="7033" y="3685"/>
                    <a:pt x="6612" y="3882"/>
                    <a:pt x="6234" y="3744"/>
                  </a:cubicBezTo>
                  <a:cubicBezTo>
                    <a:pt x="5856" y="3606"/>
                    <a:pt x="5660" y="3186"/>
                    <a:pt x="5798" y="2808"/>
                  </a:cubicBezTo>
                  <a:cubicBezTo>
                    <a:pt x="5866" y="2618"/>
                    <a:pt x="6009" y="2481"/>
                    <a:pt x="6178" y="2402"/>
                  </a:cubicBezTo>
                  <a:close/>
                  <a:moveTo>
                    <a:pt x="7039" y="4248"/>
                  </a:moveTo>
                  <a:cubicBezTo>
                    <a:pt x="7237" y="4156"/>
                    <a:pt x="7476" y="4242"/>
                    <a:pt x="7569" y="4441"/>
                  </a:cubicBezTo>
                  <a:lnTo>
                    <a:pt x="9434" y="8440"/>
                  </a:lnTo>
                  <a:cubicBezTo>
                    <a:pt x="9580" y="8433"/>
                    <a:pt x="9718" y="8366"/>
                    <a:pt x="9863" y="8419"/>
                  </a:cubicBezTo>
                  <a:cubicBezTo>
                    <a:pt x="10010" y="8472"/>
                    <a:pt x="10085" y="8605"/>
                    <a:pt x="10192" y="8705"/>
                  </a:cubicBezTo>
                  <a:lnTo>
                    <a:pt x="13175" y="7314"/>
                  </a:lnTo>
                  <a:cubicBezTo>
                    <a:pt x="13373" y="7222"/>
                    <a:pt x="13612" y="7309"/>
                    <a:pt x="13705" y="7507"/>
                  </a:cubicBezTo>
                  <a:cubicBezTo>
                    <a:pt x="13797" y="7705"/>
                    <a:pt x="13710" y="7944"/>
                    <a:pt x="13512" y="8037"/>
                  </a:cubicBezTo>
                  <a:lnTo>
                    <a:pt x="10529" y="9427"/>
                  </a:lnTo>
                  <a:cubicBezTo>
                    <a:pt x="10537" y="9574"/>
                    <a:pt x="10591" y="9717"/>
                    <a:pt x="10537" y="9863"/>
                  </a:cubicBezTo>
                  <a:cubicBezTo>
                    <a:pt x="10325" y="10447"/>
                    <a:pt x="9676" y="10750"/>
                    <a:pt x="9092" y="10537"/>
                  </a:cubicBezTo>
                  <a:cubicBezTo>
                    <a:pt x="8509" y="10325"/>
                    <a:pt x="8206" y="9676"/>
                    <a:pt x="8419" y="9092"/>
                  </a:cubicBezTo>
                  <a:cubicBezTo>
                    <a:pt x="8474" y="8942"/>
                    <a:pt x="8621" y="8880"/>
                    <a:pt x="8725" y="8771"/>
                  </a:cubicBezTo>
                  <a:lnTo>
                    <a:pt x="6860" y="4771"/>
                  </a:lnTo>
                  <a:cubicBezTo>
                    <a:pt x="6767" y="4573"/>
                    <a:pt x="6841" y="4340"/>
                    <a:pt x="7039" y="4248"/>
                  </a:cubicBezTo>
                  <a:close/>
                  <a:moveTo>
                    <a:pt x="2738" y="11823"/>
                  </a:moveTo>
                  <a:cubicBezTo>
                    <a:pt x="2908" y="11744"/>
                    <a:pt x="3105" y="11723"/>
                    <a:pt x="3294" y="11792"/>
                  </a:cubicBezTo>
                  <a:cubicBezTo>
                    <a:pt x="3672" y="11930"/>
                    <a:pt x="3868" y="12350"/>
                    <a:pt x="3730" y="12728"/>
                  </a:cubicBezTo>
                  <a:cubicBezTo>
                    <a:pt x="3593" y="13106"/>
                    <a:pt x="3172" y="13302"/>
                    <a:pt x="2794" y="13165"/>
                  </a:cubicBezTo>
                  <a:cubicBezTo>
                    <a:pt x="2416" y="13027"/>
                    <a:pt x="2220" y="12607"/>
                    <a:pt x="2358" y="12228"/>
                  </a:cubicBezTo>
                  <a:cubicBezTo>
                    <a:pt x="2426" y="12039"/>
                    <a:pt x="2569" y="11902"/>
                    <a:pt x="2738" y="11823"/>
                  </a:cubicBezTo>
                  <a:close/>
                  <a:moveTo>
                    <a:pt x="15620" y="5816"/>
                  </a:moveTo>
                  <a:cubicBezTo>
                    <a:pt x="15789" y="5737"/>
                    <a:pt x="15973" y="5722"/>
                    <a:pt x="16162" y="5791"/>
                  </a:cubicBezTo>
                  <a:cubicBezTo>
                    <a:pt x="16540" y="5929"/>
                    <a:pt x="16736" y="6349"/>
                    <a:pt x="16598" y="6728"/>
                  </a:cubicBezTo>
                  <a:cubicBezTo>
                    <a:pt x="16461" y="7106"/>
                    <a:pt x="16054" y="7296"/>
                    <a:pt x="15675" y="7158"/>
                  </a:cubicBezTo>
                  <a:cubicBezTo>
                    <a:pt x="15297" y="7020"/>
                    <a:pt x="15101" y="6600"/>
                    <a:pt x="15239" y="6222"/>
                  </a:cubicBezTo>
                  <a:cubicBezTo>
                    <a:pt x="15308" y="6033"/>
                    <a:pt x="15451" y="5895"/>
                    <a:pt x="15620" y="5816"/>
                  </a:cubicBezTo>
                  <a:close/>
                  <a:moveTo>
                    <a:pt x="12166" y="15243"/>
                  </a:moveTo>
                  <a:cubicBezTo>
                    <a:pt x="12335" y="15164"/>
                    <a:pt x="12533" y="15143"/>
                    <a:pt x="12722" y="15212"/>
                  </a:cubicBezTo>
                  <a:cubicBezTo>
                    <a:pt x="13100" y="15350"/>
                    <a:pt x="13296" y="15770"/>
                    <a:pt x="13158" y="16148"/>
                  </a:cubicBezTo>
                  <a:cubicBezTo>
                    <a:pt x="13021" y="16526"/>
                    <a:pt x="12600" y="16723"/>
                    <a:pt x="12222" y="16585"/>
                  </a:cubicBezTo>
                  <a:cubicBezTo>
                    <a:pt x="11844" y="16447"/>
                    <a:pt x="11648" y="16027"/>
                    <a:pt x="11785" y="15649"/>
                  </a:cubicBezTo>
                  <a:cubicBezTo>
                    <a:pt x="11854" y="15460"/>
                    <a:pt x="11997" y="15322"/>
                    <a:pt x="12166" y="1524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9" name="Shape 34205">
              <a:extLst>
                <a:ext uri="{FF2B5EF4-FFF2-40B4-BE49-F238E27FC236}">
                  <a16:creationId xmlns:a16="http://schemas.microsoft.com/office/drawing/2014/main" id="{C467DFE2-0020-9048-A6E0-E7CC380CDE65}"/>
                </a:ext>
              </a:extLst>
            </p:cNvPr>
            <p:cNvSpPr/>
            <p:nvPr/>
          </p:nvSpPr>
          <p:spPr>
            <a:xfrm>
              <a:off x="11074336" y="12293991"/>
              <a:ext cx="529370" cy="550146"/>
            </a:xfrm>
            <a:custGeom>
              <a:avLst/>
              <a:gdLst/>
              <a:ahLst/>
              <a:cxnLst>
                <a:cxn ang="0">
                  <a:pos x="wd2" y="hd2"/>
                </a:cxn>
                <a:cxn ang="5400000">
                  <a:pos x="wd2" y="hd2"/>
                </a:cxn>
                <a:cxn ang="10800000">
                  <a:pos x="wd2" y="hd2"/>
                </a:cxn>
                <a:cxn ang="16200000">
                  <a:pos x="wd2" y="hd2"/>
                </a:cxn>
              </a:cxnLst>
              <a:rect l="0" t="0" r="r" b="b"/>
              <a:pathLst>
                <a:path w="21367" h="21369" extrusionOk="0">
                  <a:moveTo>
                    <a:pt x="9892" y="341"/>
                  </a:moveTo>
                  <a:cubicBezTo>
                    <a:pt x="10333" y="-98"/>
                    <a:pt x="11063" y="-117"/>
                    <a:pt x="11519" y="307"/>
                  </a:cubicBezTo>
                  <a:lnTo>
                    <a:pt x="21020" y="9136"/>
                  </a:lnTo>
                  <a:cubicBezTo>
                    <a:pt x="21476" y="9561"/>
                    <a:pt x="21482" y="10263"/>
                    <a:pt x="21042" y="10702"/>
                  </a:cubicBezTo>
                  <a:lnTo>
                    <a:pt x="10676" y="21032"/>
                  </a:lnTo>
                  <a:cubicBezTo>
                    <a:pt x="10236" y="21471"/>
                    <a:pt x="9512" y="21483"/>
                    <a:pt x="9056" y="21059"/>
                  </a:cubicBezTo>
                  <a:lnTo>
                    <a:pt x="6577" y="18755"/>
                  </a:lnTo>
                  <a:lnTo>
                    <a:pt x="9366" y="15976"/>
                  </a:lnTo>
                  <a:cubicBezTo>
                    <a:pt x="9806" y="15537"/>
                    <a:pt x="9793" y="14841"/>
                    <a:pt x="9337" y="14417"/>
                  </a:cubicBezTo>
                  <a:lnTo>
                    <a:pt x="7682" y="12879"/>
                  </a:lnTo>
                  <a:cubicBezTo>
                    <a:pt x="7226" y="12455"/>
                    <a:pt x="6503" y="12467"/>
                    <a:pt x="6062" y="12906"/>
                  </a:cubicBezTo>
                  <a:lnTo>
                    <a:pt x="3274" y="15685"/>
                  </a:lnTo>
                  <a:lnTo>
                    <a:pt x="1210" y="13767"/>
                  </a:lnTo>
                  <a:cubicBezTo>
                    <a:pt x="754" y="13343"/>
                    <a:pt x="734" y="12641"/>
                    <a:pt x="1175" y="12202"/>
                  </a:cubicBezTo>
                  <a:lnTo>
                    <a:pt x="351" y="11436"/>
                  </a:lnTo>
                  <a:cubicBezTo>
                    <a:pt x="-105" y="11012"/>
                    <a:pt x="-118" y="10316"/>
                    <a:pt x="322" y="9877"/>
                  </a:cubicBezTo>
                  <a:lnTo>
                    <a:pt x="9892" y="341"/>
                  </a:lnTo>
                  <a:close/>
                  <a:moveTo>
                    <a:pt x="10322" y="1500"/>
                  </a:moveTo>
                  <a:lnTo>
                    <a:pt x="1949" y="9844"/>
                  </a:lnTo>
                  <a:cubicBezTo>
                    <a:pt x="1949" y="9844"/>
                    <a:pt x="1145" y="10641"/>
                    <a:pt x="1971" y="11409"/>
                  </a:cubicBezTo>
                  <a:lnTo>
                    <a:pt x="11146" y="2266"/>
                  </a:lnTo>
                  <a:cubicBezTo>
                    <a:pt x="11366" y="2046"/>
                    <a:pt x="11360" y="1705"/>
                    <a:pt x="11132" y="1492"/>
                  </a:cubicBezTo>
                  <a:cubicBezTo>
                    <a:pt x="10904" y="1281"/>
                    <a:pt x="10542" y="1280"/>
                    <a:pt x="10322" y="1500"/>
                  </a:cubicBezTo>
                  <a:close/>
                  <a:moveTo>
                    <a:pt x="6083" y="13685"/>
                  </a:moveTo>
                  <a:cubicBezTo>
                    <a:pt x="6523" y="13247"/>
                    <a:pt x="7247" y="13234"/>
                    <a:pt x="7703" y="13658"/>
                  </a:cubicBezTo>
                  <a:lnTo>
                    <a:pt x="8527" y="14424"/>
                  </a:lnTo>
                  <a:cubicBezTo>
                    <a:pt x="8983" y="14848"/>
                    <a:pt x="8996" y="15544"/>
                    <a:pt x="8555" y="15983"/>
                  </a:cubicBezTo>
                  <a:lnTo>
                    <a:pt x="6161" y="18369"/>
                  </a:lnTo>
                  <a:cubicBezTo>
                    <a:pt x="5721" y="18808"/>
                    <a:pt x="4991" y="18826"/>
                    <a:pt x="4535" y="18403"/>
                  </a:cubicBezTo>
                  <a:lnTo>
                    <a:pt x="3711" y="17637"/>
                  </a:lnTo>
                  <a:cubicBezTo>
                    <a:pt x="3254" y="17213"/>
                    <a:pt x="3249" y="16510"/>
                    <a:pt x="3689" y="16071"/>
                  </a:cubicBezTo>
                  <a:lnTo>
                    <a:pt x="6083" y="13685"/>
                  </a:lnTo>
                  <a:close/>
                  <a:moveTo>
                    <a:pt x="6506" y="14851"/>
                  </a:moveTo>
                  <a:cubicBezTo>
                    <a:pt x="6286" y="15071"/>
                    <a:pt x="6285" y="15419"/>
                    <a:pt x="6514" y="15631"/>
                  </a:cubicBezTo>
                  <a:cubicBezTo>
                    <a:pt x="6742" y="15843"/>
                    <a:pt x="7110" y="15837"/>
                    <a:pt x="7330" y="15617"/>
                  </a:cubicBezTo>
                  <a:cubicBezTo>
                    <a:pt x="7550" y="15398"/>
                    <a:pt x="7544" y="15043"/>
                    <a:pt x="7316" y="14831"/>
                  </a:cubicBezTo>
                  <a:cubicBezTo>
                    <a:pt x="7088" y="14619"/>
                    <a:pt x="6726" y="14632"/>
                    <a:pt x="6506" y="148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40" name="Shape 34206">
              <a:extLst>
                <a:ext uri="{FF2B5EF4-FFF2-40B4-BE49-F238E27FC236}">
                  <a16:creationId xmlns:a16="http://schemas.microsoft.com/office/drawing/2014/main" id="{85432AD6-14B3-124D-9ABB-1521DEBE7E52}"/>
                </a:ext>
              </a:extLst>
            </p:cNvPr>
            <p:cNvSpPr/>
            <p:nvPr/>
          </p:nvSpPr>
          <p:spPr>
            <a:xfrm>
              <a:off x="10836598" y="8678073"/>
              <a:ext cx="776072" cy="459642"/>
            </a:xfrm>
            <a:custGeom>
              <a:avLst/>
              <a:gdLst/>
              <a:ahLst/>
              <a:cxnLst>
                <a:cxn ang="0">
                  <a:pos x="wd2" y="hd2"/>
                </a:cxn>
                <a:cxn ang="5400000">
                  <a:pos x="wd2" y="hd2"/>
                </a:cxn>
                <a:cxn ang="10800000">
                  <a:pos x="wd2" y="hd2"/>
                </a:cxn>
                <a:cxn ang="16200000">
                  <a:pos x="wd2" y="hd2"/>
                </a:cxn>
              </a:cxnLst>
              <a:rect l="0" t="0" r="r" b="b"/>
              <a:pathLst>
                <a:path w="21428" h="21311" extrusionOk="0">
                  <a:moveTo>
                    <a:pt x="3736" y="4687"/>
                  </a:moveTo>
                  <a:lnTo>
                    <a:pt x="4986" y="19624"/>
                  </a:lnTo>
                  <a:lnTo>
                    <a:pt x="17693" y="16625"/>
                  </a:lnTo>
                  <a:lnTo>
                    <a:pt x="16443" y="1688"/>
                  </a:lnTo>
                  <a:cubicBezTo>
                    <a:pt x="16443" y="1688"/>
                    <a:pt x="3736" y="4687"/>
                    <a:pt x="3736" y="4687"/>
                  </a:cubicBezTo>
                  <a:close/>
                  <a:moveTo>
                    <a:pt x="2231" y="9938"/>
                  </a:moveTo>
                  <a:lnTo>
                    <a:pt x="2678" y="15273"/>
                  </a:lnTo>
                  <a:cubicBezTo>
                    <a:pt x="2702" y="15567"/>
                    <a:pt x="2864" y="15772"/>
                    <a:pt x="3040" y="15731"/>
                  </a:cubicBezTo>
                  <a:cubicBezTo>
                    <a:pt x="3215" y="15690"/>
                    <a:pt x="3338" y="15417"/>
                    <a:pt x="3313" y="15123"/>
                  </a:cubicBezTo>
                  <a:lnTo>
                    <a:pt x="2867" y="9788"/>
                  </a:lnTo>
                  <a:cubicBezTo>
                    <a:pt x="2842" y="9494"/>
                    <a:pt x="2680" y="9288"/>
                    <a:pt x="2504" y="9330"/>
                  </a:cubicBezTo>
                  <a:cubicBezTo>
                    <a:pt x="2329" y="9371"/>
                    <a:pt x="2207" y="9644"/>
                    <a:pt x="2231" y="9938"/>
                  </a:cubicBezTo>
                  <a:close/>
                  <a:moveTo>
                    <a:pt x="19564" y="8023"/>
                  </a:moveTo>
                  <a:cubicBezTo>
                    <a:pt x="19490" y="7140"/>
                    <a:pt x="19004" y="6524"/>
                    <a:pt x="18477" y="6648"/>
                  </a:cubicBezTo>
                  <a:cubicBezTo>
                    <a:pt x="17951" y="6772"/>
                    <a:pt x="17584" y="7590"/>
                    <a:pt x="17658" y="8473"/>
                  </a:cubicBezTo>
                  <a:cubicBezTo>
                    <a:pt x="17732" y="9357"/>
                    <a:pt x="18219" y="9973"/>
                    <a:pt x="18745" y="9849"/>
                  </a:cubicBezTo>
                  <a:cubicBezTo>
                    <a:pt x="19272" y="9724"/>
                    <a:pt x="19638" y="8907"/>
                    <a:pt x="19564" y="8023"/>
                  </a:cubicBezTo>
                  <a:close/>
                  <a:moveTo>
                    <a:pt x="20344" y="1856"/>
                  </a:moveTo>
                  <a:lnTo>
                    <a:pt x="21415" y="14658"/>
                  </a:lnTo>
                  <a:cubicBezTo>
                    <a:pt x="21514" y="15837"/>
                    <a:pt x="21025" y="16926"/>
                    <a:pt x="20323" y="17092"/>
                  </a:cubicBezTo>
                  <a:lnTo>
                    <a:pt x="2533" y="21290"/>
                  </a:lnTo>
                  <a:cubicBezTo>
                    <a:pt x="1832" y="21456"/>
                    <a:pt x="1183" y="20635"/>
                    <a:pt x="1084" y="19456"/>
                  </a:cubicBezTo>
                  <a:lnTo>
                    <a:pt x="13" y="6654"/>
                  </a:lnTo>
                  <a:cubicBezTo>
                    <a:pt x="-86" y="5475"/>
                    <a:pt x="403" y="4386"/>
                    <a:pt x="1105" y="4220"/>
                  </a:cubicBezTo>
                  <a:lnTo>
                    <a:pt x="18895" y="22"/>
                  </a:lnTo>
                  <a:cubicBezTo>
                    <a:pt x="19596" y="-144"/>
                    <a:pt x="20245" y="677"/>
                    <a:pt x="20344" y="1856"/>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899">
                <a:latin typeface="Lato Light" panose="020F0502020204030203" pitchFamily="34" charset="0"/>
              </a:endParaRPr>
            </a:p>
          </p:txBody>
        </p:sp>
        <p:sp>
          <p:nvSpPr>
            <p:cNvPr id="41" name="Shape 34207">
              <a:extLst>
                <a:ext uri="{FF2B5EF4-FFF2-40B4-BE49-F238E27FC236}">
                  <a16:creationId xmlns:a16="http://schemas.microsoft.com/office/drawing/2014/main" id="{E3C4B98A-7F6F-754E-907A-ACCA2379A358}"/>
                </a:ext>
              </a:extLst>
            </p:cNvPr>
            <p:cNvSpPr/>
            <p:nvPr/>
          </p:nvSpPr>
          <p:spPr>
            <a:xfrm>
              <a:off x="12300451" y="8958670"/>
              <a:ext cx="694132" cy="637746"/>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42" name="Shape 34208">
              <a:extLst>
                <a:ext uri="{FF2B5EF4-FFF2-40B4-BE49-F238E27FC236}">
                  <a16:creationId xmlns:a16="http://schemas.microsoft.com/office/drawing/2014/main" id="{9AE29768-EC06-7B46-9B89-62A20DF54B8B}"/>
                </a:ext>
              </a:extLst>
            </p:cNvPr>
            <p:cNvSpPr/>
            <p:nvPr/>
          </p:nvSpPr>
          <p:spPr>
            <a:xfrm>
              <a:off x="11569660" y="9038623"/>
              <a:ext cx="297614" cy="32945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43" name="Shape 34209">
              <a:extLst>
                <a:ext uri="{FF2B5EF4-FFF2-40B4-BE49-F238E27FC236}">
                  <a16:creationId xmlns:a16="http://schemas.microsoft.com/office/drawing/2014/main" id="{7338D6DD-D1DA-FC4E-B5E4-0EA239F43804}"/>
                </a:ext>
              </a:extLst>
            </p:cNvPr>
            <p:cNvSpPr/>
            <p:nvPr/>
          </p:nvSpPr>
          <p:spPr>
            <a:xfrm>
              <a:off x="13028438" y="8411802"/>
              <a:ext cx="415194" cy="47975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44" name="Shape 34210">
              <a:extLst>
                <a:ext uri="{FF2B5EF4-FFF2-40B4-BE49-F238E27FC236}">
                  <a16:creationId xmlns:a16="http://schemas.microsoft.com/office/drawing/2014/main" id="{8DE914EC-0B60-D44B-808F-B925A9443E0E}"/>
                </a:ext>
              </a:extLst>
            </p:cNvPr>
            <p:cNvSpPr/>
            <p:nvPr/>
          </p:nvSpPr>
          <p:spPr>
            <a:xfrm>
              <a:off x="9694005" y="5957329"/>
              <a:ext cx="377264" cy="351174"/>
            </a:xfrm>
            <a:custGeom>
              <a:avLst/>
              <a:gdLst/>
              <a:ahLst/>
              <a:cxnLst>
                <a:cxn ang="0">
                  <a:pos x="wd2" y="hd2"/>
                </a:cxn>
                <a:cxn ang="5400000">
                  <a:pos x="wd2" y="hd2"/>
                </a:cxn>
                <a:cxn ang="10800000">
                  <a:pos x="wd2" y="hd2"/>
                </a:cxn>
                <a:cxn ang="16200000">
                  <a:pos x="wd2" y="hd2"/>
                </a:cxn>
              </a:cxnLst>
              <a:rect l="0" t="0" r="r" b="b"/>
              <a:pathLst>
                <a:path w="21184" h="21600" extrusionOk="0">
                  <a:moveTo>
                    <a:pt x="0" y="3459"/>
                  </a:moveTo>
                  <a:lnTo>
                    <a:pt x="1422" y="10208"/>
                  </a:lnTo>
                  <a:cubicBezTo>
                    <a:pt x="1422" y="10208"/>
                    <a:pt x="2469" y="10982"/>
                    <a:pt x="3219" y="10113"/>
                  </a:cubicBezTo>
                  <a:cubicBezTo>
                    <a:pt x="4049" y="9149"/>
                    <a:pt x="6494" y="8518"/>
                    <a:pt x="6992" y="11134"/>
                  </a:cubicBezTo>
                  <a:cubicBezTo>
                    <a:pt x="7491" y="13750"/>
                    <a:pt x="5522" y="14362"/>
                    <a:pt x="4296" y="14027"/>
                  </a:cubicBezTo>
                  <a:cubicBezTo>
                    <a:pt x="3187" y="13725"/>
                    <a:pt x="2357" y="14641"/>
                    <a:pt x="2357" y="14641"/>
                  </a:cubicBezTo>
                  <a:lnTo>
                    <a:pt x="3823" y="21600"/>
                  </a:lnTo>
                  <a:lnTo>
                    <a:pt x="9313" y="20212"/>
                  </a:lnTo>
                  <a:cubicBezTo>
                    <a:pt x="9313" y="20212"/>
                    <a:pt x="9635" y="19276"/>
                    <a:pt x="8958" y="18523"/>
                  </a:cubicBezTo>
                  <a:cubicBezTo>
                    <a:pt x="8134" y="17611"/>
                    <a:pt x="7558" y="15210"/>
                    <a:pt x="10150" y="14555"/>
                  </a:cubicBezTo>
                  <a:cubicBezTo>
                    <a:pt x="12743" y="13899"/>
                    <a:pt x="13216" y="16255"/>
                    <a:pt x="12736" y="17679"/>
                  </a:cubicBezTo>
                  <a:cubicBezTo>
                    <a:pt x="12378" y="18747"/>
                    <a:pt x="13070" y="19262"/>
                    <a:pt x="13070" y="19262"/>
                  </a:cubicBezTo>
                  <a:lnTo>
                    <a:pt x="17693" y="18092"/>
                  </a:lnTo>
                  <a:cubicBezTo>
                    <a:pt x="17693" y="18092"/>
                    <a:pt x="16501" y="13146"/>
                    <a:pt x="16426" y="11786"/>
                  </a:cubicBezTo>
                  <a:cubicBezTo>
                    <a:pt x="16346" y="10328"/>
                    <a:pt x="18026" y="10919"/>
                    <a:pt x="18332" y="11000"/>
                  </a:cubicBezTo>
                  <a:cubicBezTo>
                    <a:pt x="20097" y="11473"/>
                    <a:pt x="21600" y="10153"/>
                    <a:pt x="21079" y="7680"/>
                  </a:cubicBezTo>
                  <a:cubicBezTo>
                    <a:pt x="20558" y="5208"/>
                    <a:pt x="18027" y="5192"/>
                    <a:pt x="17063" y="6452"/>
                  </a:cubicBezTo>
                  <a:cubicBezTo>
                    <a:pt x="16347" y="7388"/>
                    <a:pt x="15661" y="7684"/>
                    <a:pt x="15383" y="7029"/>
                  </a:cubicBezTo>
                  <a:cubicBezTo>
                    <a:pt x="14735" y="5498"/>
                    <a:pt x="13677" y="0"/>
                    <a:pt x="13677" y="0"/>
                  </a:cubicBezTo>
                  <a:lnTo>
                    <a:pt x="9343" y="1096"/>
                  </a:lnTo>
                  <a:cubicBezTo>
                    <a:pt x="9343" y="1096"/>
                    <a:pt x="8732" y="2392"/>
                    <a:pt x="9572" y="3149"/>
                  </a:cubicBezTo>
                  <a:cubicBezTo>
                    <a:pt x="10838" y="4289"/>
                    <a:pt x="10727" y="6525"/>
                    <a:pt x="8669" y="7045"/>
                  </a:cubicBezTo>
                  <a:cubicBezTo>
                    <a:pt x="6612" y="7566"/>
                    <a:pt x="5599" y="5828"/>
                    <a:pt x="6228" y="4123"/>
                  </a:cubicBezTo>
                  <a:cubicBezTo>
                    <a:pt x="6581" y="3168"/>
                    <a:pt x="5664" y="2036"/>
                    <a:pt x="5664" y="2036"/>
                  </a:cubicBezTo>
                  <a:cubicBezTo>
                    <a:pt x="5664" y="2036"/>
                    <a:pt x="0" y="3459"/>
                    <a:pt x="0" y="34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45" name="Shape 34211">
              <a:extLst>
                <a:ext uri="{FF2B5EF4-FFF2-40B4-BE49-F238E27FC236}">
                  <a16:creationId xmlns:a16="http://schemas.microsoft.com/office/drawing/2014/main" id="{4FDE9662-0645-FA4A-BB62-535E4CB21134}"/>
                </a:ext>
              </a:extLst>
            </p:cNvPr>
            <p:cNvSpPr/>
            <p:nvPr/>
          </p:nvSpPr>
          <p:spPr>
            <a:xfrm>
              <a:off x="10312910" y="3971892"/>
              <a:ext cx="478390" cy="684028"/>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46" name="Shape 34212">
              <a:extLst>
                <a:ext uri="{FF2B5EF4-FFF2-40B4-BE49-F238E27FC236}">
                  <a16:creationId xmlns:a16="http://schemas.microsoft.com/office/drawing/2014/main" id="{8633A179-86D5-1240-B4C7-1D2A8D873E6B}"/>
                </a:ext>
              </a:extLst>
            </p:cNvPr>
            <p:cNvSpPr/>
            <p:nvPr/>
          </p:nvSpPr>
          <p:spPr>
            <a:xfrm>
              <a:off x="9175496" y="3615262"/>
              <a:ext cx="674788" cy="478306"/>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899">
                <a:latin typeface="Lato Light" panose="020F0502020204030203" pitchFamily="34" charset="0"/>
              </a:endParaRPr>
            </a:p>
          </p:txBody>
        </p:sp>
        <p:sp>
          <p:nvSpPr>
            <p:cNvPr id="47" name="Shape 34213">
              <a:extLst>
                <a:ext uri="{FF2B5EF4-FFF2-40B4-BE49-F238E27FC236}">
                  <a16:creationId xmlns:a16="http://schemas.microsoft.com/office/drawing/2014/main" id="{0E71C735-E5FF-2841-A4F2-DA28CAF7CB51}"/>
                </a:ext>
              </a:extLst>
            </p:cNvPr>
            <p:cNvSpPr/>
            <p:nvPr/>
          </p:nvSpPr>
          <p:spPr>
            <a:xfrm>
              <a:off x="14822081" y="4439957"/>
              <a:ext cx="756136" cy="659706"/>
            </a:xfrm>
            <a:custGeom>
              <a:avLst/>
              <a:gdLst/>
              <a:ahLst/>
              <a:cxnLst>
                <a:cxn ang="0">
                  <a:pos x="wd2" y="hd2"/>
                </a:cxn>
                <a:cxn ang="5400000">
                  <a:pos x="wd2" y="hd2"/>
                </a:cxn>
                <a:cxn ang="10800000">
                  <a:pos x="wd2" y="hd2"/>
                </a:cxn>
                <a:cxn ang="16200000">
                  <a:pos x="wd2" y="hd2"/>
                </a:cxn>
              </a:cxnLst>
              <a:rect l="0" t="0" r="r" b="b"/>
              <a:pathLst>
                <a:path w="21600" h="21600" extrusionOk="0">
                  <a:moveTo>
                    <a:pt x="6294" y="3457"/>
                  </a:moveTo>
                  <a:lnTo>
                    <a:pt x="148" y="16086"/>
                  </a:lnTo>
                  <a:lnTo>
                    <a:pt x="0" y="16165"/>
                  </a:lnTo>
                  <a:lnTo>
                    <a:pt x="1008" y="21600"/>
                  </a:lnTo>
                  <a:lnTo>
                    <a:pt x="10415" y="19280"/>
                  </a:lnTo>
                  <a:lnTo>
                    <a:pt x="10816" y="21443"/>
                  </a:lnTo>
                  <a:lnTo>
                    <a:pt x="12402" y="20369"/>
                  </a:lnTo>
                  <a:lnTo>
                    <a:pt x="14220" y="20613"/>
                  </a:lnTo>
                  <a:lnTo>
                    <a:pt x="13819" y="18450"/>
                  </a:lnTo>
                  <a:lnTo>
                    <a:pt x="17113" y="17634"/>
                  </a:lnTo>
                  <a:lnTo>
                    <a:pt x="17471" y="17546"/>
                  </a:lnTo>
                  <a:lnTo>
                    <a:pt x="21600" y="5952"/>
                  </a:lnTo>
                  <a:lnTo>
                    <a:pt x="20486" y="14"/>
                  </a:lnTo>
                  <a:cubicBezTo>
                    <a:pt x="20486" y="14"/>
                    <a:pt x="20484" y="0"/>
                    <a:pt x="20484" y="0"/>
                  </a:cubicBezTo>
                  <a:lnTo>
                    <a:pt x="6294" y="3457"/>
                  </a:lnTo>
                  <a:close/>
                  <a:moveTo>
                    <a:pt x="19860" y="1754"/>
                  </a:moveTo>
                  <a:cubicBezTo>
                    <a:pt x="19941" y="2188"/>
                    <a:pt x="20020" y="2621"/>
                    <a:pt x="20101" y="3055"/>
                  </a:cubicBezTo>
                  <a:cubicBezTo>
                    <a:pt x="20278" y="3996"/>
                    <a:pt x="20448" y="4934"/>
                    <a:pt x="20624" y="5875"/>
                  </a:cubicBezTo>
                  <a:lnTo>
                    <a:pt x="16762" y="16617"/>
                  </a:lnTo>
                  <a:lnTo>
                    <a:pt x="13623" y="17396"/>
                  </a:lnTo>
                  <a:lnTo>
                    <a:pt x="13219" y="15220"/>
                  </a:lnTo>
                  <a:cubicBezTo>
                    <a:pt x="13219" y="15220"/>
                    <a:pt x="9815" y="16049"/>
                    <a:pt x="9815" y="16049"/>
                  </a:cubicBezTo>
                  <a:lnTo>
                    <a:pt x="10222" y="18239"/>
                  </a:lnTo>
                  <a:lnTo>
                    <a:pt x="1723" y="20338"/>
                  </a:lnTo>
                  <a:lnTo>
                    <a:pt x="908" y="15944"/>
                  </a:lnTo>
                  <a:lnTo>
                    <a:pt x="16076" y="12248"/>
                  </a:lnTo>
                  <a:cubicBezTo>
                    <a:pt x="16076" y="12249"/>
                    <a:pt x="18931" y="4332"/>
                    <a:pt x="19860" y="1754"/>
                  </a:cubicBezTo>
                  <a:close/>
                </a:path>
              </a:pathLst>
            </a:custGeom>
            <a:solidFill>
              <a:schemeClr val="accent1"/>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48" name="Shape 34214">
              <a:extLst>
                <a:ext uri="{FF2B5EF4-FFF2-40B4-BE49-F238E27FC236}">
                  <a16:creationId xmlns:a16="http://schemas.microsoft.com/office/drawing/2014/main" id="{3AF6A3E9-D867-BE49-8EE5-A92EB529DE34}"/>
                </a:ext>
              </a:extLst>
            </p:cNvPr>
            <p:cNvSpPr/>
            <p:nvPr/>
          </p:nvSpPr>
          <p:spPr>
            <a:xfrm>
              <a:off x="12406836" y="10620127"/>
              <a:ext cx="516758" cy="57204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899">
                <a:latin typeface="Lato Light" panose="020F0502020204030203" pitchFamily="34" charset="0"/>
              </a:endParaRPr>
            </a:p>
          </p:txBody>
        </p:sp>
        <p:sp>
          <p:nvSpPr>
            <p:cNvPr id="49" name="Shape 34215">
              <a:extLst>
                <a:ext uri="{FF2B5EF4-FFF2-40B4-BE49-F238E27FC236}">
                  <a16:creationId xmlns:a16="http://schemas.microsoft.com/office/drawing/2014/main" id="{44B4041E-E60E-834C-8F6C-8AE79507638C}"/>
                </a:ext>
              </a:extLst>
            </p:cNvPr>
            <p:cNvSpPr/>
            <p:nvPr/>
          </p:nvSpPr>
          <p:spPr>
            <a:xfrm>
              <a:off x="15192453" y="5780593"/>
              <a:ext cx="475406" cy="475406"/>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0097" tIns="20097" rIns="20097" bIns="20097" numCol="1" anchor="ctr">
              <a:noAutofit/>
            </a:bodyPr>
            <a:lstStyle/>
            <a:p>
              <a:endParaRPr sz="1899">
                <a:latin typeface="Lato Light" panose="020F0502020204030203" pitchFamily="34" charset="0"/>
              </a:endParaRPr>
            </a:p>
          </p:txBody>
        </p:sp>
        <p:sp>
          <p:nvSpPr>
            <p:cNvPr id="50" name="Shape 34216">
              <a:extLst>
                <a:ext uri="{FF2B5EF4-FFF2-40B4-BE49-F238E27FC236}">
                  <a16:creationId xmlns:a16="http://schemas.microsoft.com/office/drawing/2014/main" id="{A94B01C4-5558-D74D-A544-6C63C5850FA4}"/>
                </a:ext>
              </a:extLst>
            </p:cNvPr>
            <p:cNvSpPr/>
            <p:nvPr/>
          </p:nvSpPr>
          <p:spPr>
            <a:xfrm>
              <a:off x="11916931" y="8191128"/>
              <a:ext cx="792292" cy="544702"/>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0097" tIns="20097" rIns="20097" bIns="20097" numCol="1" anchor="b">
              <a:noAutofit/>
            </a:bodyPr>
            <a:lstStyle/>
            <a:p>
              <a:endParaRPr sz="1899">
                <a:latin typeface="Lato Light" panose="020F0502020204030203" pitchFamily="34" charset="0"/>
              </a:endParaRPr>
            </a:p>
          </p:txBody>
        </p:sp>
        <p:sp>
          <p:nvSpPr>
            <p:cNvPr id="51" name="Shape 34217">
              <a:extLst>
                <a:ext uri="{FF2B5EF4-FFF2-40B4-BE49-F238E27FC236}">
                  <a16:creationId xmlns:a16="http://schemas.microsoft.com/office/drawing/2014/main" id="{DDEB1FED-9BCB-3A41-B96E-167815D582F8}"/>
                </a:ext>
              </a:extLst>
            </p:cNvPr>
            <p:cNvSpPr/>
            <p:nvPr/>
          </p:nvSpPr>
          <p:spPr>
            <a:xfrm>
              <a:off x="12395335" y="3740451"/>
              <a:ext cx="693544" cy="915782"/>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accent1"/>
            </a:solidFill>
            <a:ln w="12700" cap="flat">
              <a:noFill/>
              <a:miter lim="400000"/>
            </a:ln>
            <a:effectLst/>
          </p:spPr>
          <p:txBody>
            <a:bodyPr wrap="square" lIns="0" tIns="0" rIns="0" bIns="0" numCol="1" anchor="b">
              <a:noAutofit/>
            </a:bodyPr>
            <a:lstStyle/>
            <a:p>
              <a:endParaRPr sz="1899">
                <a:latin typeface="Lato Light" panose="020F0502020204030203" pitchFamily="34" charset="0"/>
              </a:endParaRPr>
            </a:p>
          </p:txBody>
        </p:sp>
        <p:sp>
          <p:nvSpPr>
            <p:cNvPr id="52" name="Shape 34218">
              <a:extLst>
                <a:ext uri="{FF2B5EF4-FFF2-40B4-BE49-F238E27FC236}">
                  <a16:creationId xmlns:a16="http://schemas.microsoft.com/office/drawing/2014/main" id="{71FCB7E2-4AD4-5440-A1AD-AF10DC8C55EE}"/>
                </a:ext>
              </a:extLst>
            </p:cNvPr>
            <p:cNvSpPr/>
            <p:nvPr/>
          </p:nvSpPr>
          <p:spPr>
            <a:xfrm>
              <a:off x="11932702" y="12638103"/>
              <a:ext cx="408708" cy="303434"/>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837" y="8637"/>
                  </a:lnTo>
                  <a:lnTo>
                    <a:pt x="17837" y="12781"/>
                  </a:lnTo>
                  <a:cubicBezTo>
                    <a:pt x="17837" y="13798"/>
                    <a:pt x="17539" y="14723"/>
                    <a:pt x="17049" y="15392"/>
                  </a:cubicBezTo>
                  <a:cubicBezTo>
                    <a:pt x="16550" y="16075"/>
                    <a:pt x="15855" y="16492"/>
                    <a:pt x="15079" y="16478"/>
                  </a:cubicBezTo>
                  <a:lnTo>
                    <a:pt x="9158" y="16478"/>
                  </a:lnTo>
                  <a:lnTo>
                    <a:pt x="9158" y="17810"/>
                  </a:lnTo>
                  <a:cubicBezTo>
                    <a:pt x="9158" y="18368"/>
                    <a:pt x="9328" y="18874"/>
                    <a:pt x="9602" y="19240"/>
                  </a:cubicBezTo>
                  <a:cubicBezTo>
                    <a:pt x="9876" y="19606"/>
                    <a:pt x="10255" y="19832"/>
                    <a:pt x="10673" y="19832"/>
                  </a:cubicBezTo>
                  <a:lnTo>
                    <a:pt x="16728" y="19832"/>
                  </a:lnTo>
                  <a:lnTo>
                    <a:pt x="19181" y="21600"/>
                  </a:lnTo>
                  <a:lnTo>
                    <a:pt x="19181" y="19832"/>
                  </a:lnTo>
                  <a:lnTo>
                    <a:pt x="20085" y="19832"/>
                  </a:lnTo>
                  <a:cubicBezTo>
                    <a:pt x="20503" y="19832"/>
                    <a:pt x="20882" y="19606"/>
                    <a:pt x="21156" y="19240"/>
                  </a:cubicBezTo>
                  <a:cubicBezTo>
                    <a:pt x="21430" y="18874"/>
                    <a:pt x="21600" y="18368"/>
                    <a:pt x="21600" y="17810"/>
                  </a:cubicBezTo>
                  <a:lnTo>
                    <a:pt x="21600" y="10554"/>
                  </a:lnTo>
                  <a:cubicBezTo>
                    <a:pt x="21600" y="9996"/>
                    <a:pt x="21430" y="9490"/>
                    <a:pt x="21156" y="9125"/>
                  </a:cubicBezTo>
                  <a:cubicBezTo>
                    <a:pt x="20882" y="8759"/>
                    <a:pt x="20503" y="8532"/>
                    <a:pt x="20085" y="8532"/>
                  </a:cubicBezTo>
                  <a:close/>
                  <a:moveTo>
                    <a:pt x="6912" y="15450"/>
                  </a:moveTo>
                  <a:lnTo>
                    <a:pt x="6689" y="15450"/>
                  </a:lnTo>
                  <a:lnTo>
                    <a:pt x="2592" y="18372"/>
                  </a:lnTo>
                  <a:lnTo>
                    <a:pt x="2592" y="15450"/>
                  </a:lnTo>
                  <a:lnTo>
                    <a:pt x="2074" y="15450"/>
                  </a:lnTo>
                  <a:cubicBezTo>
                    <a:pt x="1501" y="15450"/>
                    <a:pt x="983" y="15141"/>
                    <a:pt x="607" y="14640"/>
                  </a:cubicBezTo>
                  <a:cubicBezTo>
                    <a:pt x="232" y="14139"/>
                    <a:pt x="0" y="13447"/>
                    <a:pt x="0" y="12683"/>
                  </a:cubicBezTo>
                  <a:lnTo>
                    <a:pt x="0" y="2767"/>
                  </a:lnTo>
                  <a:cubicBezTo>
                    <a:pt x="0" y="2003"/>
                    <a:pt x="232" y="1311"/>
                    <a:pt x="607" y="811"/>
                  </a:cubicBezTo>
                  <a:cubicBezTo>
                    <a:pt x="983" y="310"/>
                    <a:pt x="1501" y="0"/>
                    <a:pt x="2074" y="0"/>
                  </a:cubicBezTo>
                  <a:lnTo>
                    <a:pt x="15034" y="0"/>
                  </a:lnTo>
                  <a:cubicBezTo>
                    <a:pt x="15606" y="0"/>
                    <a:pt x="16125" y="310"/>
                    <a:pt x="16500" y="811"/>
                  </a:cubicBezTo>
                  <a:cubicBezTo>
                    <a:pt x="16875" y="1311"/>
                    <a:pt x="17107" y="2003"/>
                    <a:pt x="17107" y="2767"/>
                  </a:cubicBezTo>
                  <a:lnTo>
                    <a:pt x="17107" y="4381"/>
                  </a:lnTo>
                  <a:lnTo>
                    <a:pt x="17107" y="8532"/>
                  </a:lnTo>
                  <a:lnTo>
                    <a:pt x="17107" y="12676"/>
                  </a:lnTo>
                  <a:cubicBezTo>
                    <a:pt x="17107" y="13441"/>
                    <a:pt x="16886" y="14134"/>
                    <a:pt x="16522" y="14637"/>
                  </a:cubicBezTo>
                  <a:cubicBezTo>
                    <a:pt x="16159" y="15139"/>
                    <a:pt x="15651" y="15450"/>
                    <a:pt x="15079" y="15450"/>
                  </a:cubicBezTo>
                  <a:lnTo>
                    <a:pt x="9158" y="15450"/>
                  </a:lnTo>
                  <a:lnTo>
                    <a:pt x="6912" y="15450"/>
                  </a:ln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899">
                <a:latin typeface="Lato Light" panose="020F0502020204030203" pitchFamily="34" charset="0"/>
              </a:endParaRPr>
            </a:p>
          </p:txBody>
        </p:sp>
        <p:sp>
          <p:nvSpPr>
            <p:cNvPr id="53" name="Shape 34219">
              <a:extLst>
                <a:ext uri="{FF2B5EF4-FFF2-40B4-BE49-F238E27FC236}">
                  <a16:creationId xmlns:a16="http://schemas.microsoft.com/office/drawing/2014/main" id="{03092F4B-28A4-5F44-AA62-47C3BFDAA49D}"/>
                </a:ext>
              </a:extLst>
            </p:cNvPr>
            <p:cNvSpPr/>
            <p:nvPr/>
          </p:nvSpPr>
          <p:spPr>
            <a:xfrm>
              <a:off x="11196245" y="10659511"/>
              <a:ext cx="389798" cy="479750"/>
            </a:xfrm>
            <a:custGeom>
              <a:avLst/>
              <a:gdLst/>
              <a:ahLst/>
              <a:cxnLst>
                <a:cxn ang="0">
                  <a:pos x="wd2" y="hd2"/>
                </a:cxn>
                <a:cxn ang="5400000">
                  <a:pos x="wd2" y="hd2"/>
                </a:cxn>
                <a:cxn ang="10800000">
                  <a:pos x="wd2" y="hd2"/>
                </a:cxn>
                <a:cxn ang="16200000">
                  <a:pos x="wd2" y="hd2"/>
                </a:cxn>
              </a:cxnLst>
              <a:rect l="0" t="0" r="r" b="b"/>
              <a:pathLst>
                <a:path w="21600" h="21600" extrusionOk="0">
                  <a:moveTo>
                    <a:pt x="831" y="0"/>
                  </a:moveTo>
                  <a:cubicBezTo>
                    <a:pt x="372" y="0"/>
                    <a:pt x="0" y="302"/>
                    <a:pt x="0" y="675"/>
                  </a:cubicBezTo>
                  <a:cubicBezTo>
                    <a:pt x="0" y="1048"/>
                    <a:pt x="372" y="1350"/>
                    <a:pt x="831" y="1350"/>
                  </a:cubicBezTo>
                  <a:lnTo>
                    <a:pt x="20769" y="1350"/>
                  </a:lnTo>
                  <a:cubicBezTo>
                    <a:pt x="21228" y="1350"/>
                    <a:pt x="21600" y="1048"/>
                    <a:pt x="21600" y="675"/>
                  </a:cubicBezTo>
                  <a:cubicBezTo>
                    <a:pt x="21600" y="302"/>
                    <a:pt x="21228" y="0"/>
                    <a:pt x="20769" y="0"/>
                  </a:cubicBezTo>
                  <a:lnTo>
                    <a:pt x="831" y="0"/>
                  </a:lnTo>
                  <a:close/>
                  <a:moveTo>
                    <a:pt x="831" y="2025"/>
                  </a:moveTo>
                  <a:lnTo>
                    <a:pt x="831" y="15525"/>
                  </a:lnTo>
                  <a:cubicBezTo>
                    <a:pt x="831" y="15525"/>
                    <a:pt x="20769" y="15525"/>
                    <a:pt x="20769" y="15525"/>
                  </a:cubicBezTo>
                  <a:lnTo>
                    <a:pt x="20769" y="2025"/>
                  </a:lnTo>
                  <a:lnTo>
                    <a:pt x="831" y="2025"/>
                  </a:lnTo>
                  <a:close/>
                  <a:moveTo>
                    <a:pt x="15785" y="4050"/>
                  </a:moveTo>
                  <a:lnTo>
                    <a:pt x="18277" y="4050"/>
                  </a:lnTo>
                  <a:cubicBezTo>
                    <a:pt x="18277" y="4050"/>
                    <a:pt x="18277" y="13500"/>
                    <a:pt x="18277" y="13500"/>
                  </a:cubicBezTo>
                  <a:lnTo>
                    <a:pt x="15785" y="13500"/>
                  </a:lnTo>
                  <a:lnTo>
                    <a:pt x="15785" y="4050"/>
                  </a:lnTo>
                  <a:close/>
                  <a:moveTo>
                    <a:pt x="7477" y="6750"/>
                  </a:moveTo>
                  <a:lnTo>
                    <a:pt x="9969" y="6750"/>
                  </a:lnTo>
                  <a:cubicBezTo>
                    <a:pt x="9969" y="6750"/>
                    <a:pt x="9969" y="13500"/>
                    <a:pt x="9969" y="13500"/>
                  </a:cubicBezTo>
                  <a:lnTo>
                    <a:pt x="7477" y="13500"/>
                  </a:lnTo>
                  <a:lnTo>
                    <a:pt x="7477" y="6750"/>
                  </a:lnTo>
                  <a:close/>
                  <a:moveTo>
                    <a:pt x="11631" y="8775"/>
                  </a:moveTo>
                  <a:lnTo>
                    <a:pt x="14123" y="8775"/>
                  </a:lnTo>
                  <a:cubicBezTo>
                    <a:pt x="14123" y="8775"/>
                    <a:pt x="14123" y="13500"/>
                    <a:pt x="14123" y="13500"/>
                  </a:cubicBezTo>
                  <a:lnTo>
                    <a:pt x="11631" y="13500"/>
                  </a:lnTo>
                  <a:lnTo>
                    <a:pt x="11631" y="8775"/>
                  </a:lnTo>
                  <a:close/>
                  <a:moveTo>
                    <a:pt x="3323" y="10800"/>
                  </a:moveTo>
                  <a:lnTo>
                    <a:pt x="5815" y="10800"/>
                  </a:lnTo>
                  <a:cubicBezTo>
                    <a:pt x="5815" y="10800"/>
                    <a:pt x="5815" y="13500"/>
                    <a:pt x="5815" y="13500"/>
                  </a:cubicBezTo>
                  <a:lnTo>
                    <a:pt x="3323" y="13500"/>
                  </a:lnTo>
                  <a:lnTo>
                    <a:pt x="3323" y="10800"/>
                  </a:lnTo>
                  <a:close/>
                  <a:moveTo>
                    <a:pt x="3323" y="16200"/>
                  </a:moveTo>
                  <a:lnTo>
                    <a:pt x="1662" y="21600"/>
                  </a:lnTo>
                  <a:lnTo>
                    <a:pt x="3323" y="21600"/>
                  </a:lnTo>
                  <a:lnTo>
                    <a:pt x="4985" y="16200"/>
                  </a:lnTo>
                  <a:cubicBezTo>
                    <a:pt x="4985" y="16200"/>
                    <a:pt x="3323" y="16200"/>
                    <a:pt x="3323" y="16200"/>
                  </a:cubicBezTo>
                  <a:close/>
                  <a:moveTo>
                    <a:pt x="9969" y="16200"/>
                  </a:moveTo>
                  <a:lnTo>
                    <a:pt x="9969" y="21600"/>
                  </a:lnTo>
                  <a:lnTo>
                    <a:pt x="11615" y="21600"/>
                  </a:lnTo>
                  <a:cubicBezTo>
                    <a:pt x="11615" y="21600"/>
                    <a:pt x="11631" y="16200"/>
                    <a:pt x="11631" y="16200"/>
                  </a:cubicBezTo>
                  <a:lnTo>
                    <a:pt x="9969" y="16200"/>
                  </a:lnTo>
                  <a:close/>
                  <a:moveTo>
                    <a:pt x="16615" y="16200"/>
                  </a:moveTo>
                  <a:lnTo>
                    <a:pt x="18277" y="21600"/>
                  </a:lnTo>
                  <a:lnTo>
                    <a:pt x="19938" y="21600"/>
                  </a:lnTo>
                  <a:cubicBezTo>
                    <a:pt x="19938" y="21600"/>
                    <a:pt x="18277" y="16200"/>
                    <a:pt x="18277" y="16200"/>
                  </a:cubicBezTo>
                  <a:lnTo>
                    <a:pt x="16615" y="1620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54" name="Shape 34220">
              <a:extLst>
                <a:ext uri="{FF2B5EF4-FFF2-40B4-BE49-F238E27FC236}">
                  <a16:creationId xmlns:a16="http://schemas.microsoft.com/office/drawing/2014/main" id="{A4F14B7E-1422-594A-AE01-C415B94A483B}"/>
                </a:ext>
              </a:extLst>
            </p:cNvPr>
            <p:cNvSpPr/>
            <p:nvPr/>
          </p:nvSpPr>
          <p:spPr>
            <a:xfrm>
              <a:off x="12966575" y="6806559"/>
              <a:ext cx="589416" cy="778290"/>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899">
                <a:latin typeface="Lato Light" panose="020F0502020204030203" pitchFamily="34" charset="0"/>
              </a:endParaRPr>
            </a:p>
          </p:txBody>
        </p:sp>
        <p:sp>
          <p:nvSpPr>
            <p:cNvPr id="55" name="Shape 34221">
              <a:extLst>
                <a:ext uri="{FF2B5EF4-FFF2-40B4-BE49-F238E27FC236}">
                  <a16:creationId xmlns:a16="http://schemas.microsoft.com/office/drawing/2014/main" id="{D374A494-085B-D54C-A785-1BA3AAE979E4}"/>
                </a:ext>
              </a:extLst>
            </p:cNvPr>
            <p:cNvSpPr/>
            <p:nvPr/>
          </p:nvSpPr>
          <p:spPr>
            <a:xfrm>
              <a:off x="11922329" y="9268053"/>
              <a:ext cx="476450" cy="629124"/>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899">
                <a:latin typeface="Lato Light" panose="020F0502020204030203" pitchFamily="34" charset="0"/>
              </a:endParaRPr>
            </a:p>
          </p:txBody>
        </p:sp>
        <p:sp>
          <p:nvSpPr>
            <p:cNvPr id="56" name="Shape 34222">
              <a:extLst>
                <a:ext uri="{FF2B5EF4-FFF2-40B4-BE49-F238E27FC236}">
                  <a16:creationId xmlns:a16="http://schemas.microsoft.com/office/drawing/2014/main" id="{537BE61C-FC5B-454E-A03E-3C19A9A3D7B2}"/>
                </a:ext>
              </a:extLst>
            </p:cNvPr>
            <p:cNvSpPr/>
            <p:nvPr/>
          </p:nvSpPr>
          <p:spPr>
            <a:xfrm>
              <a:off x="11993787" y="10946019"/>
              <a:ext cx="447534" cy="447468"/>
            </a:xfrm>
            <a:custGeom>
              <a:avLst/>
              <a:gdLst/>
              <a:ahLst/>
              <a:cxnLst>
                <a:cxn ang="0">
                  <a:pos x="wd2" y="hd2"/>
                </a:cxn>
                <a:cxn ang="5400000">
                  <a:pos x="wd2" y="hd2"/>
                </a:cxn>
                <a:cxn ang="10800000">
                  <a:pos x="wd2" y="hd2"/>
                </a:cxn>
                <a:cxn ang="16200000">
                  <a:pos x="wd2" y="hd2"/>
                </a:cxn>
              </a:cxnLst>
              <a:rect l="0" t="0" r="r" b="b"/>
              <a:pathLst>
                <a:path w="21317" h="21317" extrusionOk="0">
                  <a:moveTo>
                    <a:pt x="7792" y="27"/>
                  </a:moveTo>
                  <a:cubicBezTo>
                    <a:pt x="7372" y="141"/>
                    <a:pt x="7122" y="573"/>
                    <a:pt x="7234" y="993"/>
                  </a:cubicBezTo>
                  <a:lnTo>
                    <a:pt x="7836" y="3244"/>
                  </a:lnTo>
                  <a:cubicBezTo>
                    <a:pt x="8357" y="3022"/>
                    <a:pt x="8864" y="2878"/>
                    <a:pt x="9346" y="2789"/>
                  </a:cubicBezTo>
                  <a:lnTo>
                    <a:pt x="8758" y="585"/>
                  </a:lnTo>
                  <a:cubicBezTo>
                    <a:pt x="8645" y="164"/>
                    <a:pt x="8213" y="-85"/>
                    <a:pt x="7792" y="27"/>
                  </a:cubicBezTo>
                  <a:close/>
                  <a:moveTo>
                    <a:pt x="13442" y="41"/>
                  </a:moveTo>
                  <a:cubicBezTo>
                    <a:pt x="13020" y="-71"/>
                    <a:pt x="12588" y="179"/>
                    <a:pt x="12475" y="600"/>
                  </a:cubicBezTo>
                  <a:lnTo>
                    <a:pt x="11888" y="2784"/>
                  </a:lnTo>
                  <a:cubicBezTo>
                    <a:pt x="12441" y="2878"/>
                    <a:pt x="12949" y="3027"/>
                    <a:pt x="13408" y="3203"/>
                  </a:cubicBezTo>
                  <a:lnTo>
                    <a:pt x="13998" y="1007"/>
                  </a:lnTo>
                  <a:cubicBezTo>
                    <a:pt x="14110" y="585"/>
                    <a:pt x="13862" y="154"/>
                    <a:pt x="13442" y="41"/>
                  </a:cubicBezTo>
                  <a:close/>
                  <a:moveTo>
                    <a:pt x="585" y="12411"/>
                  </a:moveTo>
                  <a:cubicBezTo>
                    <a:pt x="164" y="12524"/>
                    <a:pt x="-86" y="12956"/>
                    <a:pt x="27" y="13377"/>
                  </a:cubicBezTo>
                  <a:cubicBezTo>
                    <a:pt x="139" y="13798"/>
                    <a:pt x="571" y="14047"/>
                    <a:pt x="992" y="13934"/>
                  </a:cubicBezTo>
                  <a:lnTo>
                    <a:pt x="3181" y="13347"/>
                  </a:lnTo>
                  <a:cubicBezTo>
                    <a:pt x="3009" y="12885"/>
                    <a:pt x="2865" y="12376"/>
                    <a:pt x="2775" y="11823"/>
                  </a:cubicBezTo>
                  <a:cubicBezTo>
                    <a:pt x="2775" y="11823"/>
                    <a:pt x="585" y="12411"/>
                    <a:pt x="585" y="12411"/>
                  </a:cubicBezTo>
                  <a:close/>
                  <a:moveTo>
                    <a:pt x="1013" y="7169"/>
                  </a:moveTo>
                  <a:cubicBezTo>
                    <a:pt x="592" y="7056"/>
                    <a:pt x="160" y="7306"/>
                    <a:pt x="47" y="7727"/>
                  </a:cubicBezTo>
                  <a:cubicBezTo>
                    <a:pt x="-66" y="8148"/>
                    <a:pt x="184" y="8580"/>
                    <a:pt x="604" y="8692"/>
                  </a:cubicBezTo>
                  <a:lnTo>
                    <a:pt x="2805" y="9281"/>
                  </a:lnTo>
                  <a:cubicBezTo>
                    <a:pt x="2896" y="8799"/>
                    <a:pt x="3046" y="8293"/>
                    <a:pt x="3273" y="7773"/>
                  </a:cubicBezTo>
                  <a:cubicBezTo>
                    <a:pt x="3273" y="7773"/>
                    <a:pt x="1013" y="7169"/>
                    <a:pt x="1013" y="7169"/>
                  </a:cubicBezTo>
                  <a:close/>
                  <a:moveTo>
                    <a:pt x="2889" y="2841"/>
                  </a:moveTo>
                  <a:cubicBezTo>
                    <a:pt x="2581" y="3148"/>
                    <a:pt x="2580" y="3648"/>
                    <a:pt x="2888" y="3956"/>
                  </a:cubicBezTo>
                  <a:lnTo>
                    <a:pt x="4607" y="5675"/>
                  </a:lnTo>
                  <a:cubicBezTo>
                    <a:pt x="4732" y="5529"/>
                    <a:pt x="5572" y="4695"/>
                    <a:pt x="5727" y="4563"/>
                  </a:cubicBezTo>
                  <a:lnTo>
                    <a:pt x="4004" y="2840"/>
                  </a:lnTo>
                  <a:cubicBezTo>
                    <a:pt x="3696" y="2532"/>
                    <a:pt x="3197" y="2533"/>
                    <a:pt x="2889" y="2841"/>
                  </a:cubicBezTo>
                  <a:close/>
                  <a:moveTo>
                    <a:pt x="15285" y="5439"/>
                  </a:moveTo>
                  <a:cubicBezTo>
                    <a:pt x="13524" y="3930"/>
                    <a:pt x="9472" y="2164"/>
                    <a:pt x="5822" y="5814"/>
                  </a:cubicBezTo>
                  <a:cubicBezTo>
                    <a:pt x="5821" y="5815"/>
                    <a:pt x="5821" y="5815"/>
                    <a:pt x="5821" y="5816"/>
                  </a:cubicBezTo>
                  <a:cubicBezTo>
                    <a:pt x="5820" y="5816"/>
                    <a:pt x="5819" y="5817"/>
                    <a:pt x="5819" y="5817"/>
                  </a:cubicBezTo>
                  <a:cubicBezTo>
                    <a:pt x="5819" y="5818"/>
                    <a:pt x="5818" y="5818"/>
                    <a:pt x="5818" y="5819"/>
                  </a:cubicBezTo>
                  <a:cubicBezTo>
                    <a:pt x="5817" y="5819"/>
                    <a:pt x="5817" y="5820"/>
                    <a:pt x="5816" y="5820"/>
                  </a:cubicBezTo>
                  <a:cubicBezTo>
                    <a:pt x="2166" y="9471"/>
                    <a:pt x="3932" y="13524"/>
                    <a:pt x="5440" y="15285"/>
                  </a:cubicBezTo>
                  <a:cubicBezTo>
                    <a:pt x="6807" y="16868"/>
                    <a:pt x="9202" y="17222"/>
                    <a:pt x="9535" y="17322"/>
                  </a:cubicBezTo>
                  <a:cubicBezTo>
                    <a:pt x="10076" y="17484"/>
                    <a:pt x="12612" y="17632"/>
                    <a:pt x="13467" y="18402"/>
                  </a:cubicBezTo>
                  <a:cubicBezTo>
                    <a:pt x="14644" y="19461"/>
                    <a:pt x="14810" y="19354"/>
                    <a:pt x="15487" y="18942"/>
                  </a:cubicBezTo>
                  <a:cubicBezTo>
                    <a:pt x="16178" y="18522"/>
                    <a:pt x="18522" y="16178"/>
                    <a:pt x="18942" y="15487"/>
                  </a:cubicBezTo>
                  <a:cubicBezTo>
                    <a:pt x="19354" y="14810"/>
                    <a:pt x="19461" y="14644"/>
                    <a:pt x="18401" y="13467"/>
                  </a:cubicBezTo>
                  <a:cubicBezTo>
                    <a:pt x="17632" y="12612"/>
                    <a:pt x="17484" y="10075"/>
                    <a:pt x="17321" y="9534"/>
                  </a:cubicBezTo>
                  <a:cubicBezTo>
                    <a:pt x="17222" y="9201"/>
                    <a:pt x="16868" y="6805"/>
                    <a:pt x="15285" y="5439"/>
                  </a:cubicBezTo>
                  <a:close/>
                  <a:moveTo>
                    <a:pt x="20706" y="16780"/>
                  </a:moveTo>
                  <a:cubicBezTo>
                    <a:pt x="20530" y="16603"/>
                    <a:pt x="20243" y="16603"/>
                    <a:pt x="20066" y="16780"/>
                  </a:cubicBezTo>
                  <a:lnTo>
                    <a:pt x="16780" y="20067"/>
                  </a:lnTo>
                  <a:cubicBezTo>
                    <a:pt x="16603" y="20244"/>
                    <a:pt x="16603" y="20531"/>
                    <a:pt x="16780" y="20707"/>
                  </a:cubicBezTo>
                  <a:lnTo>
                    <a:pt x="16780" y="20707"/>
                  </a:lnTo>
                  <a:cubicBezTo>
                    <a:pt x="16956" y="20884"/>
                    <a:pt x="17243" y="20884"/>
                    <a:pt x="17419" y="20707"/>
                  </a:cubicBezTo>
                  <a:lnTo>
                    <a:pt x="20706" y="17420"/>
                  </a:lnTo>
                  <a:cubicBezTo>
                    <a:pt x="20883" y="17243"/>
                    <a:pt x="20883" y="16956"/>
                    <a:pt x="20706" y="16780"/>
                  </a:cubicBezTo>
                  <a:cubicBezTo>
                    <a:pt x="20706" y="16780"/>
                    <a:pt x="20706" y="16780"/>
                    <a:pt x="20706" y="16780"/>
                  </a:cubicBezTo>
                  <a:close/>
                  <a:moveTo>
                    <a:pt x="19833" y="15906"/>
                  </a:moveTo>
                  <a:cubicBezTo>
                    <a:pt x="19656" y="15729"/>
                    <a:pt x="19370" y="15730"/>
                    <a:pt x="19193" y="15906"/>
                  </a:cubicBezTo>
                  <a:lnTo>
                    <a:pt x="15906" y="19194"/>
                  </a:lnTo>
                  <a:cubicBezTo>
                    <a:pt x="15729" y="19370"/>
                    <a:pt x="15729" y="19657"/>
                    <a:pt x="15906" y="19833"/>
                  </a:cubicBezTo>
                  <a:lnTo>
                    <a:pt x="15906" y="19833"/>
                  </a:lnTo>
                  <a:cubicBezTo>
                    <a:pt x="16082" y="20010"/>
                    <a:pt x="16369" y="20010"/>
                    <a:pt x="16546" y="19833"/>
                  </a:cubicBezTo>
                  <a:lnTo>
                    <a:pt x="19833" y="16546"/>
                  </a:lnTo>
                  <a:cubicBezTo>
                    <a:pt x="20009" y="16369"/>
                    <a:pt x="20009" y="16083"/>
                    <a:pt x="19833" y="15906"/>
                  </a:cubicBezTo>
                  <a:cubicBezTo>
                    <a:pt x="19833" y="15906"/>
                    <a:pt x="19833" y="15906"/>
                    <a:pt x="19833" y="15906"/>
                  </a:cubicBezTo>
                  <a:close/>
                  <a:moveTo>
                    <a:pt x="17867" y="20727"/>
                  </a:moveTo>
                  <a:lnTo>
                    <a:pt x="20726" y="17867"/>
                  </a:lnTo>
                  <a:cubicBezTo>
                    <a:pt x="21514" y="18656"/>
                    <a:pt x="21513" y="19935"/>
                    <a:pt x="20724" y="20724"/>
                  </a:cubicBezTo>
                  <a:cubicBezTo>
                    <a:pt x="19934" y="21514"/>
                    <a:pt x="18655" y="21515"/>
                    <a:pt x="17867" y="20727"/>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899">
                <a:latin typeface="Lato Light" panose="020F0502020204030203" pitchFamily="34" charset="0"/>
              </a:endParaRPr>
            </a:p>
          </p:txBody>
        </p:sp>
        <p:sp>
          <p:nvSpPr>
            <p:cNvPr id="57" name="Shape 34223">
              <a:extLst>
                <a:ext uri="{FF2B5EF4-FFF2-40B4-BE49-F238E27FC236}">
                  <a16:creationId xmlns:a16="http://schemas.microsoft.com/office/drawing/2014/main" id="{2776F88E-D7CB-C848-8BA4-8B18FA098F28}"/>
                </a:ext>
              </a:extLst>
            </p:cNvPr>
            <p:cNvSpPr/>
            <p:nvPr/>
          </p:nvSpPr>
          <p:spPr>
            <a:xfrm>
              <a:off x="11828592" y="12064076"/>
              <a:ext cx="446404" cy="410140"/>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58" name="Shape 34224">
              <a:extLst>
                <a:ext uri="{FF2B5EF4-FFF2-40B4-BE49-F238E27FC236}">
                  <a16:creationId xmlns:a16="http://schemas.microsoft.com/office/drawing/2014/main" id="{A1203C35-6689-D54B-BB47-599FEE0703BA}"/>
                </a:ext>
              </a:extLst>
            </p:cNvPr>
            <p:cNvSpPr/>
            <p:nvPr/>
          </p:nvSpPr>
          <p:spPr>
            <a:xfrm>
              <a:off x="11467012" y="10972393"/>
              <a:ext cx="358632" cy="692850"/>
            </a:xfrm>
            <a:custGeom>
              <a:avLst/>
              <a:gdLst/>
              <a:ahLst/>
              <a:cxnLst>
                <a:cxn ang="0">
                  <a:pos x="wd2" y="hd2"/>
                </a:cxn>
                <a:cxn ang="5400000">
                  <a:pos x="wd2" y="hd2"/>
                </a:cxn>
                <a:cxn ang="10800000">
                  <a:pos x="wd2" y="hd2"/>
                </a:cxn>
                <a:cxn ang="16200000">
                  <a:pos x="wd2" y="hd2"/>
                </a:cxn>
              </a:cxnLst>
              <a:rect l="0" t="0" r="r" b="b"/>
              <a:pathLst>
                <a:path w="21436" h="21532" extrusionOk="0">
                  <a:moveTo>
                    <a:pt x="17698" y="0"/>
                  </a:moveTo>
                  <a:lnTo>
                    <a:pt x="16138" y="1685"/>
                  </a:lnTo>
                  <a:cubicBezTo>
                    <a:pt x="16052" y="1663"/>
                    <a:pt x="15626" y="1553"/>
                    <a:pt x="15626" y="1553"/>
                  </a:cubicBezTo>
                  <a:lnTo>
                    <a:pt x="14403" y="2878"/>
                  </a:lnTo>
                  <a:lnTo>
                    <a:pt x="14914" y="3010"/>
                  </a:lnTo>
                  <a:lnTo>
                    <a:pt x="14546" y="3408"/>
                  </a:lnTo>
                  <a:lnTo>
                    <a:pt x="2184" y="16751"/>
                  </a:lnTo>
                  <a:cubicBezTo>
                    <a:pt x="1744" y="17225"/>
                    <a:pt x="202" y="19746"/>
                    <a:pt x="516" y="20547"/>
                  </a:cubicBezTo>
                  <a:cubicBezTo>
                    <a:pt x="560" y="20662"/>
                    <a:pt x="644" y="20742"/>
                    <a:pt x="773" y="20775"/>
                  </a:cubicBezTo>
                  <a:cubicBezTo>
                    <a:pt x="1807" y="21040"/>
                    <a:pt x="5426" y="18252"/>
                    <a:pt x="5928" y="17710"/>
                  </a:cubicBezTo>
                  <a:lnTo>
                    <a:pt x="18283" y="4367"/>
                  </a:lnTo>
                  <a:lnTo>
                    <a:pt x="18652" y="3969"/>
                  </a:lnTo>
                  <a:lnTo>
                    <a:pt x="19186" y="4106"/>
                  </a:lnTo>
                  <a:lnTo>
                    <a:pt x="14380" y="9291"/>
                  </a:lnTo>
                  <a:lnTo>
                    <a:pt x="15147" y="9488"/>
                  </a:lnTo>
                  <a:lnTo>
                    <a:pt x="21176" y="2979"/>
                  </a:lnTo>
                  <a:cubicBezTo>
                    <a:pt x="21176" y="2979"/>
                    <a:pt x="20341" y="2767"/>
                    <a:pt x="19876" y="2647"/>
                  </a:cubicBezTo>
                  <a:lnTo>
                    <a:pt x="21436" y="963"/>
                  </a:lnTo>
                  <a:cubicBezTo>
                    <a:pt x="21436" y="963"/>
                    <a:pt x="17698" y="0"/>
                    <a:pt x="17698" y="0"/>
                  </a:cubicBezTo>
                  <a:close/>
                  <a:moveTo>
                    <a:pt x="516" y="20547"/>
                  </a:moveTo>
                  <a:cubicBezTo>
                    <a:pt x="504" y="20509"/>
                    <a:pt x="483" y="20481"/>
                    <a:pt x="479" y="20436"/>
                  </a:cubicBezTo>
                  <a:lnTo>
                    <a:pt x="223" y="20708"/>
                  </a:lnTo>
                  <a:cubicBezTo>
                    <a:pt x="120" y="20820"/>
                    <a:pt x="-164" y="21449"/>
                    <a:pt x="129" y="21525"/>
                  </a:cubicBezTo>
                  <a:cubicBezTo>
                    <a:pt x="423" y="21600"/>
                    <a:pt x="1188" y="21095"/>
                    <a:pt x="1291" y="20984"/>
                  </a:cubicBezTo>
                  <a:lnTo>
                    <a:pt x="1546" y="20707"/>
                  </a:lnTo>
                  <a:cubicBezTo>
                    <a:pt x="1228" y="20825"/>
                    <a:pt x="959" y="20878"/>
                    <a:pt x="774" y="20830"/>
                  </a:cubicBezTo>
                  <a:cubicBezTo>
                    <a:pt x="630" y="20793"/>
                    <a:pt x="555" y="20685"/>
                    <a:pt x="516" y="20547"/>
                  </a:cubicBezTo>
                  <a:close/>
                </a:path>
              </a:pathLst>
            </a:custGeom>
            <a:solidFill>
              <a:schemeClr val="accent1"/>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59" name="Shape 34225">
              <a:extLst>
                <a:ext uri="{FF2B5EF4-FFF2-40B4-BE49-F238E27FC236}">
                  <a16:creationId xmlns:a16="http://schemas.microsoft.com/office/drawing/2014/main" id="{B2C2093B-2903-7645-924E-AE557A1B4E2F}"/>
                </a:ext>
              </a:extLst>
            </p:cNvPr>
            <p:cNvSpPr/>
            <p:nvPr/>
          </p:nvSpPr>
          <p:spPr>
            <a:xfrm>
              <a:off x="12788908" y="11202698"/>
              <a:ext cx="425116" cy="118066"/>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0" name="Shape 34226">
              <a:extLst>
                <a:ext uri="{FF2B5EF4-FFF2-40B4-BE49-F238E27FC236}">
                  <a16:creationId xmlns:a16="http://schemas.microsoft.com/office/drawing/2014/main" id="{F8DC914E-206B-1540-9682-DF732C1AABA2}"/>
                </a:ext>
              </a:extLst>
            </p:cNvPr>
            <p:cNvSpPr/>
            <p:nvPr/>
          </p:nvSpPr>
          <p:spPr>
            <a:xfrm>
              <a:off x="12691600" y="7661988"/>
              <a:ext cx="463732" cy="545588"/>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accent1"/>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1" name="Shape 34227">
              <a:extLst>
                <a:ext uri="{FF2B5EF4-FFF2-40B4-BE49-F238E27FC236}">
                  <a16:creationId xmlns:a16="http://schemas.microsoft.com/office/drawing/2014/main" id="{B6FFCBE8-A60F-AB44-9F2B-B5E525F85DED}"/>
                </a:ext>
              </a:extLst>
            </p:cNvPr>
            <p:cNvSpPr/>
            <p:nvPr/>
          </p:nvSpPr>
          <p:spPr>
            <a:xfrm>
              <a:off x="11861838" y="8796062"/>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0097" tIns="20097" rIns="20097" bIns="20097" numCol="1" anchor="ctr">
              <a:noAutofit/>
            </a:bodyPr>
            <a:lstStyle/>
            <a:p>
              <a:endParaRPr sz="1899">
                <a:latin typeface="Lato Light" panose="020F0502020204030203" pitchFamily="34" charset="0"/>
              </a:endParaRPr>
            </a:p>
          </p:txBody>
        </p:sp>
        <p:sp>
          <p:nvSpPr>
            <p:cNvPr id="62" name="Shape 34228">
              <a:extLst>
                <a:ext uri="{FF2B5EF4-FFF2-40B4-BE49-F238E27FC236}">
                  <a16:creationId xmlns:a16="http://schemas.microsoft.com/office/drawing/2014/main" id="{ABCC7F82-E81C-AC46-9958-E758BE253B70}"/>
                </a:ext>
              </a:extLst>
            </p:cNvPr>
            <p:cNvSpPr/>
            <p:nvPr/>
          </p:nvSpPr>
          <p:spPr>
            <a:xfrm>
              <a:off x="9057539" y="5652197"/>
              <a:ext cx="565072" cy="648758"/>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3" name="Shape 34229">
              <a:extLst>
                <a:ext uri="{FF2B5EF4-FFF2-40B4-BE49-F238E27FC236}">
                  <a16:creationId xmlns:a16="http://schemas.microsoft.com/office/drawing/2014/main" id="{27E886E0-3179-EB48-8E9B-5A434C9B72ED}"/>
                </a:ext>
              </a:extLst>
            </p:cNvPr>
            <p:cNvSpPr/>
            <p:nvPr/>
          </p:nvSpPr>
          <p:spPr>
            <a:xfrm>
              <a:off x="14430703" y="5653180"/>
              <a:ext cx="678286" cy="60967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4" name="Shape 34230">
              <a:extLst>
                <a:ext uri="{FF2B5EF4-FFF2-40B4-BE49-F238E27FC236}">
                  <a16:creationId xmlns:a16="http://schemas.microsoft.com/office/drawing/2014/main" id="{518DA637-C217-2040-8860-A6D82835697C}"/>
                </a:ext>
              </a:extLst>
            </p:cNvPr>
            <p:cNvSpPr/>
            <p:nvPr/>
          </p:nvSpPr>
          <p:spPr>
            <a:xfrm>
              <a:off x="14217720" y="6775957"/>
              <a:ext cx="333440" cy="666878"/>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5" name="Shape 34231">
              <a:extLst>
                <a:ext uri="{FF2B5EF4-FFF2-40B4-BE49-F238E27FC236}">
                  <a16:creationId xmlns:a16="http://schemas.microsoft.com/office/drawing/2014/main" id="{2D80DB7A-3D73-544A-9B3B-1736A79F99EC}"/>
                </a:ext>
              </a:extLst>
            </p:cNvPr>
            <p:cNvSpPr/>
            <p:nvPr/>
          </p:nvSpPr>
          <p:spPr>
            <a:xfrm>
              <a:off x="12484545" y="3228311"/>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6" name="Shape 34232">
              <a:extLst>
                <a:ext uri="{FF2B5EF4-FFF2-40B4-BE49-F238E27FC236}">
                  <a16:creationId xmlns:a16="http://schemas.microsoft.com/office/drawing/2014/main" id="{C007FB6C-BFDF-0949-ABE0-D03402E90863}"/>
                </a:ext>
              </a:extLst>
            </p:cNvPr>
            <p:cNvSpPr/>
            <p:nvPr/>
          </p:nvSpPr>
          <p:spPr>
            <a:xfrm>
              <a:off x="11791096" y="11232556"/>
              <a:ext cx="130464" cy="279620"/>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7" name="Shape 34233">
              <a:extLst>
                <a:ext uri="{FF2B5EF4-FFF2-40B4-BE49-F238E27FC236}">
                  <a16:creationId xmlns:a16="http://schemas.microsoft.com/office/drawing/2014/main" id="{60D384DC-794B-9144-BA29-4A8A38D10665}"/>
                </a:ext>
              </a:extLst>
            </p:cNvPr>
            <p:cNvSpPr/>
            <p:nvPr/>
          </p:nvSpPr>
          <p:spPr>
            <a:xfrm>
              <a:off x="11084739" y="4570184"/>
              <a:ext cx="304442" cy="392838"/>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8" name="Shape 34234">
              <a:extLst>
                <a:ext uri="{FF2B5EF4-FFF2-40B4-BE49-F238E27FC236}">
                  <a16:creationId xmlns:a16="http://schemas.microsoft.com/office/drawing/2014/main" id="{C98463EB-5F76-F043-BCEE-2B5BE2C56B58}"/>
                </a:ext>
              </a:extLst>
            </p:cNvPr>
            <p:cNvSpPr/>
            <p:nvPr/>
          </p:nvSpPr>
          <p:spPr>
            <a:xfrm>
              <a:off x="10710090" y="4258444"/>
              <a:ext cx="419088" cy="39283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9" name="Shape 34235">
              <a:extLst>
                <a:ext uri="{FF2B5EF4-FFF2-40B4-BE49-F238E27FC236}">
                  <a16:creationId xmlns:a16="http://schemas.microsoft.com/office/drawing/2014/main" id="{AEF8A314-7446-3E4F-8E0B-288049BCE97C}"/>
                </a:ext>
              </a:extLst>
            </p:cNvPr>
            <p:cNvSpPr/>
            <p:nvPr/>
          </p:nvSpPr>
          <p:spPr>
            <a:xfrm>
              <a:off x="9790862" y="4363012"/>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0" name="Shape 34236">
              <a:extLst>
                <a:ext uri="{FF2B5EF4-FFF2-40B4-BE49-F238E27FC236}">
                  <a16:creationId xmlns:a16="http://schemas.microsoft.com/office/drawing/2014/main" id="{B0CAC1F7-C823-3549-8632-8D57E8493972}"/>
                </a:ext>
              </a:extLst>
            </p:cNvPr>
            <p:cNvSpPr/>
            <p:nvPr/>
          </p:nvSpPr>
          <p:spPr>
            <a:xfrm>
              <a:off x="12210021" y="7840631"/>
              <a:ext cx="346528" cy="281582"/>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1" name="Shape 34237">
              <a:extLst>
                <a:ext uri="{FF2B5EF4-FFF2-40B4-BE49-F238E27FC236}">
                  <a16:creationId xmlns:a16="http://schemas.microsoft.com/office/drawing/2014/main" id="{60CE57F0-9E16-6B42-986C-2BB9440960D7}"/>
                </a:ext>
              </a:extLst>
            </p:cNvPr>
            <p:cNvSpPr/>
            <p:nvPr/>
          </p:nvSpPr>
          <p:spPr>
            <a:xfrm>
              <a:off x="11135547" y="921478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2" name="Shape 34238">
              <a:extLst>
                <a:ext uri="{FF2B5EF4-FFF2-40B4-BE49-F238E27FC236}">
                  <a16:creationId xmlns:a16="http://schemas.microsoft.com/office/drawing/2014/main" id="{E15769EC-3CE4-4540-8A3A-0B5A4863E915}"/>
                </a:ext>
              </a:extLst>
            </p:cNvPr>
            <p:cNvSpPr/>
            <p:nvPr/>
          </p:nvSpPr>
          <p:spPr>
            <a:xfrm>
              <a:off x="13971261" y="772106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3" name="Shape 34239">
              <a:extLst>
                <a:ext uri="{FF2B5EF4-FFF2-40B4-BE49-F238E27FC236}">
                  <a16:creationId xmlns:a16="http://schemas.microsoft.com/office/drawing/2014/main" id="{2318D5A1-8E4F-FD4D-A072-E437369ED7C4}"/>
                </a:ext>
              </a:extLst>
            </p:cNvPr>
            <p:cNvSpPr/>
            <p:nvPr/>
          </p:nvSpPr>
          <p:spPr>
            <a:xfrm>
              <a:off x="13086555" y="5888971"/>
              <a:ext cx="304442" cy="392840"/>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4" name="Shape 34240">
              <a:extLst>
                <a:ext uri="{FF2B5EF4-FFF2-40B4-BE49-F238E27FC236}">
                  <a16:creationId xmlns:a16="http://schemas.microsoft.com/office/drawing/2014/main" id="{5761DB39-B4CB-D04B-A85D-E5A9018DA36B}"/>
                </a:ext>
              </a:extLst>
            </p:cNvPr>
            <p:cNvSpPr/>
            <p:nvPr/>
          </p:nvSpPr>
          <p:spPr>
            <a:xfrm>
              <a:off x="12718729" y="8725244"/>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5" name="Shape 34241">
              <a:extLst>
                <a:ext uri="{FF2B5EF4-FFF2-40B4-BE49-F238E27FC236}">
                  <a16:creationId xmlns:a16="http://schemas.microsoft.com/office/drawing/2014/main" id="{7120EF9B-E117-674C-9431-46B618401F72}"/>
                </a:ext>
              </a:extLst>
            </p:cNvPr>
            <p:cNvSpPr/>
            <p:nvPr/>
          </p:nvSpPr>
          <p:spPr>
            <a:xfrm>
              <a:off x="11342014" y="7513407"/>
              <a:ext cx="272208" cy="366146"/>
            </a:xfrm>
            <a:custGeom>
              <a:avLst/>
              <a:gdLst/>
              <a:ahLst/>
              <a:cxnLst>
                <a:cxn ang="0">
                  <a:pos x="wd2" y="hd2"/>
                </a:cxn>
                <a:cxn ang="5400000">
                  <a:pos x="wd2" y="hd2"/>
                </a:cxn>
                <a:cxn ang="10800000">
                  <a:pos x="wd2" y="hd2"/>
                </a:cxn>
                <a:cxn ang="16200000">
                  <a:pos x="wd2" y="hd2"/>
                </a:cxn>
              </a:cxnLst>
              <a:rect l="0" t="0" r="r" b="b"/>
              <a:pathLst>
                <a:path w="19711" h="20821" extrusionOk="0">
                  <a:moveTo>
                    <a:pt x="12499" y="13303"/>
                  </a:moveTo>
                  <a:cubicBezTo>
                    <a:pt x="13474" y="15282"/>
                    <a:pt x="14406" y="17194"/>
                    <a:pt x="14461" y="19063"/>
                  </a:cubicBezTo>
                  <a:cubicBezTo>
                    <a:pt x="14479" y="19633"/>
                    <a:pt x="14582" y="20311"/>
                    <a:pt x="14210" y="20821"/>
                  </a:cubicBezTo>
                  <a:cubicBezTo>
                    <a:pt x="10525" y="17927"/>
                    <a:pt x="9838" y="14212"/>
                    <a:pt x="8115" y="11051"/>
                  </a:cubicBezTo>
                  <a:cubicBezTo>
                    <a:pt x="6053" y="10122"/>
                    <a:pt x="4570" y="7480"/>
                    <a:pt x="6196" y="6231"/>
                  </a:cubicBezTo>
                  <a:cubicBezTo>
                    <a:pt x="8553" y="4419"/>
                    <a:pt x="10035" y="7345"/>
                    <a:pt x="10598" y="8773"/>
                  </a:cubicBezTo>
                  <a:cubicBezTo>
                    <a:pt x="10906" y="9555"/>
                    <a:pt x="10989" y="10416"/>
                    <a:pt x="11671" y="11094"/>
                  </a:cubicBezTo>
                  <a:cubicBezTo>
                    <a:pt x="13112" y="12518"/>
                    <a:pt x="15601" y="11340"/>
                    <a:pt x="16169" y="9915"/>
                  </a:cubicBezTo>
                  <a:cubicBezTo>
                    <a:pt x="16983" y="7871"/>
                    <a:pt x="15656" y="5461"/>
                    <a:pt x="13976" y="3794"/>
                  </a:cubicBezTo>
                  <a:cubicBezTo>
                    <a:pt x="11415" y="1258"/>
                    <a:pt x="6416" y="1969"/>
                    <a:pt x="3932" y="4842"/>
                  </a:cubicBezTo>
                  <a:cubicBezTo>
                    <a:pt x="2652" y="6323"/>
                    <a:pt x="2147" y="8434"/>
                    <a:pt x="3515" y="10418"/>
                  </a:cubicBezTo>
                  <a:cubicBezTo>
                    <a:pt x="4236" y="11464"/>
                    <a:pt x="5170" y="12108"/>
                    <a:pt x="6136" y="12400"/>
                  </a:cubicBezTo>
                  <a:cubicBezTo>
                    <a:pt x="6282" y="12445"/>
                    <a:pt x="6666" y="12458"/>
                    <a:pt x="6895" y="12661"/>
                  </a:cubicBezTo>
                  <a:cubicBezTo>
                    <a:pt x="7361" y="13074"/>
                    <a:pt x="7439" y="13745"/>
                    <a:pt x="7417" y="14249"/>
                  </a:cubicBezTo>
                  <a:cubicBezTo>
                    <a:pt x="5334" y="14777"/>
                    <a:pt x="3377" y="14023"/>
                    <a:pt x="1894" y="12542"/>
                  </a:cubicBezTo>
                  <a:cubicBezTo>
                    <a:pt x="-1478" y="9170"/>
                    <a:pt x="-94" y="4513"/>
                    <a:pt x="4049" y="1953"/>
                  </a:cubicBezTo>
                  <a:cubicBezTo>
                    <a:pt x="8469" y="-779"/>
                    <a:pt x="13971" y="-622"/>
                    <a:pt x="16956" y="2276"/>
                  </a:cubicBezTo>
                  <a:cubicBezTo>
                    <a:pt x="19176" y="4430"/>
                    <a:pt x="20122" y="7281"/>
                    <a:pt x="19546" y="9389"/>
                  </a:cubicBezTo>
                  <a:cubicBezTo>
                    <a:pt x="19112" y="10973"/>
                    <a:pt x="17273" y="13272"/>
                    <a:pt x="14367" y="13517"/>
                  </a:cubicBezTo>
                  <a:cubicBezTo>
                    <a:pt x="13720" y="13571"/>
                    <a:pt x="13303" y="13441"/>
                    <a:pt x="12499" y="1330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6" name="Shape 34242">
              <a:extLst>
                <a:ext uri="{FF2B5EF4-FFF2-40B4-BE49-F238E27FC236}">
                  <a16:creationId xmlns:a16="http://schemas.microsoft.com/office/drawing/2014/main" id="{79667B63-8A24-5C4F-84B0-559E7AF48A1F}"/>
                </a:ext>
              </a:extLst>
            </p:cNvPr>
            <p:cNvSpPr/>
            <p:nvPr/>
          </p:nvSpPr>
          <p:spPr>
            <a:xfrm>
              <a:off x="14349166" y="3565132"/>
              <a:ext cx="272152" cy="351174"/>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7" name="Shape 34243">
              <a:extLst>
                <a:ext uri="{FF2B5EF4-FFF2-40B4-BE49-F238E27FC236}">
                  <a16:creationId xmlns:a16="http://schemas.microsoft.com/office/drawing/2014/main" id="{746A0077-B4EF-CD48-8438-75C7C93D92FE}"/>
                </a:ext>
              </a:extLst>
            </p:cNvPr>
            <p:cNvSpPr/>
            <p:nvPr/>
          </p:nvSpPr>
          <p:spPr>
            <a:xfrm>
              <a:off x="10163109" y="5879849"/>
              <a:ext cx="373972" cy="35054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8" name="Shape 34244">
              <a:extLst>
                <a:ext uri="{FF2B5EF4-FFF2-40B4-BE49-F238E27FC236}">
                  <a16:creationId xmlns:a16="http://schemas.microsoft.com/office/drawing/2014/main" id="{F6303F22-24FA-7B4B-949C-2985C272BEB4}"/>
                </a:ext>
              </a:extLst>
            </p:cNvPr>
            <p:cNvSpPr/>
            <p:nvPr/>
          </p:nvSpPr>
          <p:spPr>
            <a:xfrm>
              <a:off x="14467934" y="6264695"/>
              <a:ext cx="347528" cy="3257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9" name="Shape 34245">
              <a:extLst>
                <a:ext uri="{FF2B5EF4-FFF2-40B4-BE49-F238E27FC236}">
                  <a16:creationId xmlns:a16="http://schemas.microsoft.com/office/drawing/2014/main" id="{AECAC8E2-9D6D-B34D-B179-6DE5D6D08150}"/>
                </a:ext>
              </a:extLst>
            </p:cNvPr>
            <p:cNvSpPr/>
            <p:nvPr/>
          </p:nvSpPr>
          <p:spPr>
            <a:xfrm>
              <a:off x="12353445" y="9604415"/>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80" name="Shape 34246">
              <a:extLst>
                <a:ext uri="{FF2B5EF4-FFF2-40B4-BE49-F238E27FC236}">
                  <a16:creationId xmlns:a16="http://schemas.microsoft.com/office/drawing/2014/main" id="{68DB749F-8E6E-894D-AF7D-C679B012C47B}"/>
                </a:ext>
              </a:extLst>
            </p:cNvPr>
            <p:cNvSpPr/>
            <p:nvPr/>
          </p:nvSpPr>
          <p:spPr>
            <a:xfrm>
              <a:off x="11817349" y="7826120"/>
              <a:ext cx="266022"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81" name="Shape 34247">
              <a:extLst>
                <a:ext uri="{FF2B5EF4-FFF2-40B4-BE49-F238E27FC236}">
                  <a16:creationId xmlns:a16="http://schemas.microsoft.com/office/drawing/2014/main" id="{1ABFF129-E80C-F247-A754-2125E18173ED}"/>
                </a:ext>
              </a:extLst>
            </p:cNvPr>
            <p:cNvSpPr/>
            <p:nvPr/>
          </p:nvSpPr>
          <p:spPr>
            <a:xfrm>
              <a:off x="10728159" y="11858687"/>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0097" tIns="20097" rIns="20097" bIns="20097" numCol="1" anchor="ctr">
              <a:noAutofit/>
            </a:bodyPr>
            <a:lstStyle/>
            <a:p>
              <a:endParaRPr sz="1899">
                <a:latin typeface="Lato Light" panose="020F0502020204030203" pitchFamily="34" charset="0"/>
              </a:endParaRPr>
            </a:p>
          </p:txBody>
        </p:sp>
        <p:sp>
          <p:nvSpPr>
            <p:cNvPr id="82" name="Shape 34248">
              <a:extLst>
                <a:ext uri="{FF2B5EF4-FFF2-40B4-BE49-F238E27FC236}">
                  <a16:creationId xmlns:a16="http://schemas.microsoft.com/office/drawing/2014/main" id="{7EA4D8CC-C1B2-A14A-9C66-409A714C6357}"/>
                </a:ext>
              </a:extLst>
            </p:cNvPr>
            <p:cNvSpPr/>
            <p:nvPr/>
          </p:nvSpPr>
          <p:spPr>
            <a:xfrm>
              <a:off x="11187068" y="11262359"/>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83" name="Shape 34249">
              <a:extLst>
                <a:ext uri="{FF2B5EF4-FFF2-40B4-BE49-F238E27FC236}">
                  <a16:creationId xmlns:a16="http://schemas.microsoft.com/office/drawing/2014/main" id="{A49387FC-C1C9-8640-8B35-6D58A8D1920C}"/>
                </a:ext>
              </a:extLst>
            </p:cNvPr>
            <p:cNvSpPr/>
            <p:nvPr/>
          </p:nvSpPr>
          <p:spPr>
            <a:xfrm>
              <a:off x="11097651" y="11556529"/>
              <a:ext cx="363722" cy="489364"/>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84" name="Shape 34250">
              <a:extLst>
                <a:ext uri="{FF2B5EF4-FFF2-40B4-BE49-F238E27FC236}">
                  <a16:creationId xmlns:a16="http://schemas.microsoft.com/office/drawing/2014/main" id="{929D6D8D-C30E-1E44-9447-2159C55BBC73}"/>
                </a:ext>
              </a:extLst>
            </p:cNvPr>
            <p:cNvSpPr/>
            <p:nvPr/>
          </p:nvSpPr>
          <p:spPr>
            <a:xfrm>
              <a:off x="11475026" y="12061751"/>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85" name="Shape 34251">
              <a:extLst>
                <a:ext uri="{FF2B5EF4-FFF2-40B4-BE49-F238E27FC236}">
                  <a16:creationId xmlns:a16="http://schemas.microsoft.com/office/drawing/2014/main" id="{AA59C61D-8D16-4F45-82E5-8A19584579B4}"/>
                </a:ext>
              </a:extLst>
            </p:cNvPr>
            <p:cNvSpPr/>
            <p:nvPr/>
          </p:nvSpPr>
          <p:spPr>
            <a:xfrm>
              <a:off x="11001064" y="12147982"/>
              <a:ext cx="241994" cy="27962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86" name="Shape 34252">
              <a:extLst>
                <a:ext uri="{FF2B5EF4-FFF2-40B4-BE49-F238E27FC236}">
                  <a16:creationId xmlns:a16="http://schemas.microsoft.com/office/drawing/2014/main" id="{532D4F21-EDC3-5A43-BEE7-D7F38D49BCF1}"/>
                </a:ext>
              </a:extLst>
            </p:cNvPr>
            <p:cNvSpPr/>
            <p:nvPr/>
          </p:nvSpPr>
          <p:spPr>
            <a:xfrm>
              <a:off x="11499317" y="12714275"/>
              <a:ext cx="353634" cy="243124"/>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0097" tIns="20097" rIns="20097" bIns="20097" numCol="1" anchor="b">
              <a:noAutofit/>
            </a:bodyPr>
            <a:lstStyle/>
            <a:p>
              <a:endParaRPr sz="1899">
                <a:latin typeface="Lato Light" panose="020F0502020204030203" pitchFamily="34" charset="0"/>
              </a:endParaRPr>
            </a:p>
          </p:txBody>
        </p:sp>
        <p:sp>
          <p:nvSpPr>
            <p:cNvPr id="87" name="Shape 34253">
              <a:extLst>
                <a:ext uri="{FF2B5EF4-FFF2-40B4-BE49-F238E27FC236}">
                  <a16:creationId xmlns:a16="http://schemas.microsoft.com/office/drawing/2014/main" id="{F78AB9E7-9FBD-3D4F-9F6B-430237196299}"/>
                </a:ext>
              </a:extLst>
            </p:cNvPr>
            <p:cNvSpPr/>
            <p:nvPr/>
          </p:nvSpPr>
          <p:spPr>
            <a:xfrm rot="1920000">
              <a:off x="12259440" y="12552699"/>
              <a:ext cx="459460" cy="127604"/>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88" name="Shape 34254">
              <a:extLst>
                <a:ext uri="{FF2B5EF4-FFF2-40B4-BE49-F238E27FC236}">
                  <a16:creationId xmlns:a16="http://schemas.microsoft.com/office/drawing/2014/main" id="{D6B4C8F8-34FF-BB45-A84F-10FC705BF7EC}"/>
                </a:ext>
              </a:extLst>
            </p:cNvPr>
            <p:cNvSpPr/>
            <p:nvPr/>
          </p:nvSpPr>
          <p:spPr>
            <a:xfrm>
              <a:off x="10340903" y="5125500"/>
              <a:ext cx="609452" cy="544702"/>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accent1"/>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89" name="Shape 34255">
              <a:extLst>
                <a:ext uri="{FF2B5EF4-FFF2-40B4-BE49-F238E27FC236}">
                  <a16:creationId xmlns:a16="http://schemas.microsoft.com/office/drawing/2014/main" id="{535F2128-52E3-7043-86CD-F3523629279F}"/>
                </a:ext>
              </a:extLst>
            </p:cNvPr>
            <p:cNvSpPr/>
            <p:nvPr/>
          </p:nvSpPr>
          <p:spPr>
            <a:xfrm>
              <a:off x="9854702" y="4803941"/>
              <a:ext cx="502982" cy="459644"/>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0" name="Shape 34256">
              <a:extLst>
                <a:ext uri="{FF2B5EF4-FFF2-40B4-BE49-F238E27FC236}">
                  <a16:creationId xmlns:a16="http://schemas.microsoft.com/office/drawing/2014/main" id="{71402C4C-7E53-A840-8C21-BF78B8BF7C4B}"/>
                </a:ext>
              </a:extLst>
            </p:cNvPr>
            <p:cNvSpPr/>
            <p:nvPr/>
          </p:nvSpPr>
          <p:spPr>
            <a:xfrm>
              <a:off x="10882778" y="5040627"/>
              <a:ext cx="347554" cy="302336"/>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1" name="Shape 34257">
              <a:extLst>
                <a:ext uri="{FF2B5EF4-FFF2-40B4-BE49-F238E27FC236}">
                  <a16:creationId xmlns:a16="http://schemas.microsoft.com/office/drawing/2014/main" id="{451E88F3-2CAC-3347-A71D-660C63FE9B62}"/>
                </a:ext>
              </a:extLst>
            </p:cNvPr>
            <p:cNvSpPr/>
            <p:nvPr/>
          </p:nvSpPr>
          <p:spPr>
            <a:xfrm>
              <a:off x="10466323" y="4715507"/>
              <a:ext cx="342888" cy="302336"/>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2" name="Shape 34258">
              <a:extLst>
                <a:ext uri="{FF2B5EF4-FFF2-40B4-BE49-F238E27FC236}">
                  <a16:creationId xmlns:a16="http://schemas.microsoft.com/office/drawing/2014/main" id="{4600B15C-B1CE-8C43-A001-F032A47E79C9}"/>
                </a:ext>
              </a:extLst>
            </p:cNvPr>
            <p:cNvSpPr/>
            <p:nvPr/>
          </p:nvSpPr>
          <p:spPr>
            <a:xfrm>
              <a:off x="13456598" y="7929263"/>
              <a:ext cx="368866" cy="3296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3" name="Shape 34259">
              <a:extLst>
                <a:ext uri="{FF2B5EF4-FFF2-40B4-BE49-F238E27FC236}">
                  <a16:creationId xmlns:a16="http://schemas.microsoft.com/office/drawing/2014/main" id="{6648563B-76C8-C44E-AAF1-EE68B74541F2}"/>
                </a:ext>
              </a:extLst>
            </p:cNvPr>
            <p:cNvSpPr/>
            <p:nvPr/>
          </p:nvSpPr>
          <p:spPr>
            <a:xfrm>
              <a:off x="12160172" y="6699066"/>
              <a:ext cx="392924" cy="3511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4" name="Shape 34260">
              <a:extLst>
                <a:ext uri="{FF2B5EF4-FFF2-40B4-BE49-F238E27FC236}">
                  <a16:creationId xmlns:a16="http://schemas.microsoft.com/office/drawing/2014/main" id="{1FAF234E-B86A-2C42-90C2-949CAFF6C11B}"/>
                </a:ext>
              </a:extLst>
            </p:cNvPr>
            <p:cNvSpPr/>
            <p:nvPr/>
          </p:nvSpPr>
          <p:spPr>
            <a:xfrm>
              <a:off x="10867845" y="10886425"/>
              <a:ext cx="279004" cy="249360"/>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5" name="Shape 34261">
              <a:extLst>
                <a:ext uri="{FF2B5EF4-FFF2-40B4-BE49-F238E27FC236}">
                  <a16:creationId xmlns:a16="http://schemas.microsoft.com/office/drawing/2014/main" id="{3DDFE104-BAB9-4144-9FAF-758887D423E1}"/>
                </a:ext>
              </a:extLst>
            </p:cNvPr>
            <p:cNvSpPr/>
            <p:nvPr/>
          </p:nvSpPr>
          <p:spPr>
            <a:xfrm>
              <a:off x="12725585" y="12289966"/>
              <a:ext cx="373054" cy="303140"/>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6" name="Shape 34262">
              <a:extLst>
                <a:ext uri="{FF2B5EF4-FFF2-40B4-BE49-F238E27FC236}">
                  <a16:creationId xmlns:a16="http://schemas.microsoft.com/office/drawing/2014/main" id="{48EC4AD8-1743-6549-8790-CF4EBEE8AC66}"/>
                </a:ext>
              </a:extLst>
            </p:cNvPr>
            <p:cNvSpPr/>
            <p:nvPr/>
          </p:nvSpPr>
          <p:spPr>
            <a:xfrm>
              <a:off x="13639147" y="5652275"/>
              <a:ext cx="728794" cy="541076"/>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7" name="Shape 34263">
              <a:extLst>
                <a:ext uri="{FF2B5EF4-FFF2-40B4-BE49-F238E27FC236}">
                  <a16:creationId xmlns:a16="http://schemas.microsoft.com/office/drawing/2014/main" id="{3BFF5DC1-F4BF-4440-8FFA-5BC15586B5AB}"/>
                </a:ext>
              </a:extLst>
            </p:cNvPr>
            <p:cNvSpPr/>
            <p:nvPr/>
          </p:nvSpPr>
          <p:spPr>
            <a:xfrm>
              <a:off x="14075163" y="6302567"/>
              <a:ext cx="163854" cy="351178"/>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8" name="Shape 34264">
              <a:extLst>
                <a:ext uri="{FF2B5EF4-FFF2-40B4-BE49-F238E27FC236}">
                  <a16:creationId xmlns:a16="http://schemas.microsoft.com/office/drawing/2014/main" id="{53D2F0B9-19F7-4645-8207-B4C0D67B09CE}"/>
                </a:ext>
              </a:extLst>
            </p:cNvPr>
            <p:cNvSpPr/>
            <p:nvPr/>
          </p:nvSpPr>
          <p:spPr>
            <a:xfrm>
              <a:off x="11378351" y="9431234"/>
              <a:ext cx="527920" cy="391942"/>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9" name="Shape 34265">
              <a:extLst>
                <a:ext uri="{FF2B5EF4-FFF2-40B4-BE49-F238E27FC236}">
                  <a16:creationId xmlns:a16="http://schemas.microsoft.com/office/drawing/2014/main" id="{9DCA91D0-7436-AB44-AED2-7206D8E249E7}"/>
                </a:ext>
              </a:extLst>
            </p:cNvPr>
            <p:cNvSpPr/>
            <p:nvPr/>
          </p:nvSpPr>
          <p:spPr>
            <a:xfrm>
              <a:off x="13182794" y="4769147"/>
              <a:ext cx="316260" cy="234800"/>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grpSp>
    </p:spTree>
    <p:extLst>
      <p:ext uri="{BB962C8B-B14F-4D97-AF65-F5344CB8AC3E}">
        <p14:creationId xmlns:p14="http://schemas.microsoft.com/office/powerpoint/2010/main" val="42825768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5"/>
</p:tagLst>
</file>

<file path=ppt/tags/tag6.xml><?xml version="1.0" encoding="utf-8"?>
<p:tagLst xmlns:a="http://schemas.openxmlformats.org/drawingml/2006/main" xmlns:r="http://schemas.openxmlformats.org/officeDocument/2006/relationships" xmlns:p="http://schemas.openxmlformats.org/presentationml/2006/main">
  <p:tag name="NUM" val="1"/>
</p:tagLst>
</file>

<file path=ppt/tags/tag7.xml><?xml version="1.0" encoding="utf-8"?>
<p:tagLst xmlns:a="http://schemas.openxmlformats.org/drawingml/2006/main" xmlns:r="http://schemas.openxmlformats.org/officeDocument/2006/relationships" xmlns:p="http://schemas.openxmlformats.org/presentationml/2006/main">
  <p:tag name="NUM" val="2"/>
</p:tagLst>
</file>

<file path=ppt/tags/tag8.xml><?xml version="1.0" encoding="utf-8"?>
<p:tagLst xmlns:a="http://schemas.openxmlformats.org/drawingml/2006/main" xmlns:r="http://schemas.openxmlformats.org/officeDocument/2006/relationships" xmlns:p="http://schemas.openxmlformats.org/presentationml/2006/main">
  <p:tag name="NUM" val="4"/>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3"/>
</p:tagLst>
</file>

<file path=ppt/tags/tag11.xml><?xml version="1.0" encoding="utf-8"?>
<p:tagLst xmlns:a="http://schemas.openxmlformats.org/drawingml/2006/main" xmlns:r="http://schemas.openxmlformats.org/officeDocument/2006/relationships" xmlns:p="http://schemas.openxmlformats.org/presentationml/2006/main">
  <p:tag name="NUM" val="2"/>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1"/>
</p:tagLst>
</file>

<file path=ppt/tags/tag15.xml><?xml version="1.0" encoding="utf-8"?>
<p:tagLst xmlns:a="http://schemas.openxmlformats.org/drawingml/2006/main" xmlns:r="http://schemas.openxmlformats.org/officeDocument/2006/relationships" xmlns:p="http://schemas.openxmlformats.org/presentationml/2006/main">
  <p:tag name="NUM" val="1"/>
</p:tagLst>
</file>

<file path=ppt/tags/tag16.xml><?xml version="1.0" encoding="utf-8"?>
<p:tagLst xmlns:a="http://schemas.openxmlformats.org/drawingml/2006/main" xmlns:r="http://schemas.openxmlformats.org/officeDocument/2006/relationships" xmlns:p="http://schemas.openxmlformats.org/presentationml/2006/main">
  <p:tag name="NUM" val="1"/>
</p:tagLst>
</file>

<file path=ppt/tags/tag17.xml><?xml version="1.0" encoding="utf-8"?>
<p:tagLst xmlns:a="http://schemas.openxmlformats.org/drawingml/2006/main" xmlns:r="http://schemas.openxmlformats.org/officeDocument/2006/relationships" xmlns:p="http://schemas.openxmlformats.org/presentationml/2006/main">
  <p:tag name="NUM" val="1"/>
</p:tagLst>
</file>

<file path=ppt/tags/tag18.xml><?xml version="1.0" encoding="utf-8"?>
<p:tagLst xmlns:a="http://schemas.openxmlformats.org/drawingml/2006/main" xmlns:r="http://schemas.openxmlformats.org/officeDocument/2006/relationships" xmlns:p="http://schemas.openxmlformats.org/presentationml/2006/main">
  <p:tag name="NUM" val="1"/>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2"/>
</p:tagLst>
</file>

<file path=ppt/tags/tag21.xml><?xml version="1.0" encoding="utf-8"?>
<p:tagLst xmlns:a="http://schemas.openxmlformats.org/drawingml/2006/main" xmlns:r="http://schemas.openxmlformats.org/officeDocument/2006/relationships" xmlns:p="http://schemas.openxmlformats.org/presentationml/2006/main">
  <p:tag name="NUM" val="4"/>
</p:tagLst>
</file>

<file path=ppt/tags/tag22.xml><?xml version="1.0" encoding="utf-8"?>
<p:tagLst xmlns:a="http://schemas.openxmlformats.org/drawingml/2006/main" xmlns:r="http://schemas.openxmlformats.org/officeDocument/2006/relationships" xmlns:p="http://schemas.openxmlformats.org/presentationml/2006/main">
  <p:tag name="NUM" val="1"/>
</p:tagLst>
</file>

<file path=ppt/tags/tag23.xml><?xml version="1.0" encoding="utf-8"?>
<p:tagLst xmlns:a="http://schemas.openxmlformats.org/drawingml/2006/main" xmlns:r="http://schemas.openxmlformats.org/officeDocument/2006/relationships" xmlns:p="http://schemas.openxmlformats.org/presentationml/2006/main">
  <p:tag name="NUM" val="2"/>
</p:tagLst>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F4B283919F7A04E9CDC443BFD166F77" ma:contentTypeVersion="4" ma:contentTypeDescription="Create a new document." ma:contentTypeScope="" ma:versionID="12ec5126627feb4d615406ac977e398d">
  <xsd:schema xmlns:xsd="http://www.w3.org/2001/XMLSchema" xmlns:xs="http://www.w3.org/2001/XMLSchema" xmlns:p="http://schemas.microsoft.com/office/2006/metadata/properties" xmlns:ns2="5674f0a4-3645-4119-81c3-d28b34f876e3" targetNamespace="http://schemas.microsoft.com/office/2006/metadata/properties" ma:root="true" ma:fieldsID="2766d383dfafd6154fd78088492871af" ns2:_="">
    <xsd:import namespace="5674f0a4-3645-4119-81c3-d28b34f876e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674f0a4-3645-4119-81c3-d28b34f876e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842FDCE-1F61-41AE-A409-F82100AA2BF4}">
  <ds:schemaRefs>
    <ds:schemaRef ds:uri="http://schemas.microsoft.com/sharepoint/v3/contenttype/forms"/>
  </ds:schemaRefs>
</ds:datastoreItem>
</file>

<file path=customXml/itemProps2.xml><?xml version="1.0" encoding="utf-8"?>
<ds:datastoreItem xmlns:ds="http://schemas.openxmlformats.org/officeDocument/2006/customXml" ds:itemID="{AF4B5EDA-AEC7-49A8-84D4-7DAD1B6F9885}">
  <ds:schemaRefs>
    <ds:schemaRef ds:uri="5674f0a4-3645-4119-81c3-d28b34f876e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6D1EC8D-BB48-48BB-86E5-ED24F0CB79C6}">
  <ds:schemaRefs>
    <ds:schemaRef ds:uri="5674f0a4-3645-4119-81c3-d28b34f876e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875</TotalTime>
  <Words>1693</Words>
  <Application>Microsoft Office PowerPoint</Application>
  <PresentationFormat>Grand écran</PresentationFormat>
  <Paragraphs>221</Paragraphs>
  <Slides>26</Slides>
  <Notes>15</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26</vt:i4>
      </vt:variant>
    </vt:vector>
  </HeadingPairs>
  <TitlesOfParts>
    <vt:vector size="36" baseType="lpstr">
      <vt:lpstr>Aptos</vt:lpstr>
      <vt:lpstr>Arial</vt:lpstr>
      <vt:lpstr>Arial Unicode MS</vt:lpstr>
      <vt:lpstr>Calibri</vt:lpstr>
      <vt:lpstr>Calibri Light</vt:lpstr>
      <vt:lpstr>Century Gothic</vt:lpstr>
      <vt:lpstr>Lato Light</vt:lpstr>
      <vt:lpstr>Symbol</vt:lpstr>
      <vt:lpstr>Times New Roman</vt:lpstr>
      <vt:lpstr>Office Theme</vt:lpstr>
      <vt:lpstr>Présentation PowerPoint</vt:lpstr>
      <vt:lpstr> Analyse des options stratégiques Structure de réponse </vt:lpstr>
      <vt:lpstr>Présentation PowerPoint</vt:lpstr>
      <vt:lpstr>Analyse financière</vt:lpstr>
      <vt:lpstr>Type de demandes fréquentes</vt:lpstr>
      <vt:lpstr>Analyse – Les incontournables</vt:lpstr>
      <vt:lpstr>Auto-Évaluation du travail préparatoire</vt:lpstr>
      <vt:lpstr>Options stratégiques</vt:lpstr>
      <vt:lpstr>Outils d’analyse de performance financière</vt:lpstr>
      <vt:lpstr>Outils d’analyse de performance financière – incluant l’impact fiscal</vt:lpstr>
      <vt:lpstr>Analyse d’une option stratégique</vt:lpstr>
      <vt:lpstr>VAN</vt:lpstr>
      <vt:lpstr>VAN Autres aspects à considérer</vt:lpstr>
      <vt:lpstr>VAN – Ce qu’on ne devrait jamais y trouver</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Analyse stratégique option PPP déchets organiques</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SOKRI Marzouk</cp:lastModifiedBy>
  <cp:revision>5</cp:revision>
  <dcterms:created xsi:type="dcterms:W3CDTF">2020-09-07T21:15:01Z</dcterms:created>
  <dcterms:modified xsi:type="dcterms:W3CDTF">2025-04-12T14:14:40Z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0x010100DF4B283919F7A04E9CDC443BFD166F77</vt:lpwstr>
  </property>
</Properties>
</file>