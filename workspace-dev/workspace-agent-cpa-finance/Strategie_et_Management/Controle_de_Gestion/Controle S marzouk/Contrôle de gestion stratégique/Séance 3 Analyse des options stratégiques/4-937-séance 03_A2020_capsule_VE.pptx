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6.xml" ContentType="application/vnd.openxmlformats-officedocument.presentationml.notesSlide+xml"/>
  <Override PartName="/ppt/comments/modernComment_13A_CC35C26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048" r:id="rId1"/>
  </p:sldMasterIdLst>
  <p:notesMasterIdLst>
    <p:notesMasterId r:id="rId21"/>
  </p:notesMasterIdLst>
  <p:sldIdLst>
    <p:sldId id="261" r:id="rId2"/>
    <p:sldId id="274" r:id="rId3"/>
    <p:sldId id="304" r:id="rId4"/>
    <p:sldId id="305" r:id="rId5"/>
    <p:sldId id="307" r:id="rId6"/>
    <p:sldId id="284" r:id="rId7"/>
    <p:sldId id="306" r:id="rId8"/>
    <p:sldId id="277" r:id="rId9"/>
    <p:sldId id="287" r:id="rId10"/>
    <p:sldId id="308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317" r:id="rId19"/>
    <p:sldId id="314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eur" initials="M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82" autoAdjust="0"/>
    <p:restoredTop sz="70557" autoAdjust="0"/>
  </p:normalViewPr>
  <p:slideViewPr>
    <p:cSldViewPr snapToGrid="0">
      <p:cViewPr varScale="1">
        <p:scale>
          <a:sx n="67" d="100"/>
          <a:sy n="67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comments/modernComment_13A_CC35C2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0E45D56-F338-4B86-821B-0332FFC5FCFD}" authorId="{00000000-0000-0000-0000-000000000000}" created="2025-01-18T18:53:51.6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26075234" sldId="314"/>
      <ac:spMk id="3" creationId="{00000000-0000-0000-0000-000000000000}"/>
      <ac:txMk cp="261" len="12">
        <ac:context len="377" hash="3072654158"/>
      </ac:txMk>
    </ac:txMkLst>
    <p188:pos x="7695372" y="2366260"/>
    <p188:txBody>
      <a:bodyPr/>
      <a:lstStyle/>
      <a:p>
        <a:r>
          <a:rPr lang="fr-CA"/>
          <a:t>Donner solution pour mitiger les risque liés ou projet choisi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/>
        </p228:taskDetail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42FD34-4DEA-43F5-998D-87F14721F911}">
      <dgm:prSet/>
      <dgm:spPr/>
      <dgm:t>
        <a:bodyPr/>
        <a:lstStyle/>
        <a:p>
          <a:r>
            <a:rPr lang="fr-CA" dirty="0"/>
            <a:t>Analyse quantitative</a:t>
          </a:r>
          <a:endParaRPr lang="en-US" dirty="0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/>
      <dgm:t>
        <a:bodyPr/>
        <a:lstStyle/>
        <a:p>
          <a:r>
            <a:rPr lang="fr-CA" dirty="0"/>
            <a:t>Conclusion quantitative</a:t>
          </a:r>
          <a:endParaRPr lang="en-US" dirty="0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/>
      <dgm:t>
        <a:bodyPr/>
        <a:lstStyle/>
        <a:p>
          <a:r>
            <a:rPr lang="fr-CA" dirty="0"/>
            <a:t>Analyse qualitative </a:t>
          </a:r>
          <a:endParaRPr lang="en-US" dirty="0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/>
      <dgm:t>
        <a:bodyPr/>
        <a:lstStyle/>
        <a:p>
          <a:r>
            <a:rPr lang="fr-CA" dirty="0"/>
            <a:t>Recommandation</a:t>
          </a:r>
          <a:endParaRPr lang="en-US" dirty="0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4"/>
      <dgm:spPr/>
    </dgm:pt>
    <dgm:pt modelId="{B53B66F6-8C78-4E21-BD0C-A557DCC1A9C7}" type="pres">
      <dgm:prSet presAssocID="{D642FD34-4DEA-43F5-998D-87F14721F911}" presName="text" presStyleLbl="fgAcc0" presStyleIdx="0" presStyleCnt="4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4"/>
      <dgm:spPr/>
    </dgm:pt>
    <dgm:pt modelId="{7D415E06-F334-4FBD-8088-2B363F89B148}" type="pres">
      <dgm:prSet presAssocID="{5E594787-8357-4218-B750-1FF11826CF4C}" presName="text" presStyleLbl="fgAcc0" presStyleIdx="1" presStyleCnt="4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4"/>
      <dgm:spPr/>
    </dgm:pt>
    <dgm:pt modelId="{2174EFED-DD1B-45E8-88EC-8E0E48F070CE}" type="pres">
      <dgm:prSet presAssocID="{E33FDE28-09B4-4AF8-BF1B-56595B7EFE71}" presName="text" presStyleLbl="fgAcc0" presStyleIdx="2" presStyleCnt="4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4"/>
      <dgm:spPr/>
    </dgm:pt>
    <dgm:pt modelId="{5B3A2A17-32F4-4E4B-9099-860B9EAC0658}" type="pres">
      <dgm:prSet presAssocID="{981CF89F-D0C6-4414-8D4A-50EF652B7DF7}" presName="text" presStyleLbl="fgAcc0" presStyleIdx="3" presStyleCnt="4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2FD34-4DEA-43F5-998D-87F14721F911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 dirty="0"/>
            <a:t>Analyse quantitative</a:t>
          </a:r>
          <a:endParaRPr lang="en-US" dirty="0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/>
      <dgm:t>
        <a:bodyPr/>
        <a:lstStyle/>
        <a:p>
          <a:r>
            <a:rPr lang="fr-CA" dirty="0"/>
            <a:t>Conclusion quantitative</a:t>
          </a:r>
          <a:endParaRPr lang="en-US" dirty="0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/>
      <dgm:t>
        <a:bodyPr/>
        <a:lstStyle/>
        <a:p>
          <a:r>
            <a:rPr lang="fr-CA" dirty="0"/>
            <a:t>Analyse qualitative </a:t>
          </a:r>
          <a:endParaRPr lang="en-US" dirty="0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/>
      <dgm:t>
        <a:bodyPr/>
        <a:lstStyle/>
        <a:p>
          <a:r>
            <a:rPr lang="fr-CA" dirty="0"/>
            <a:t>Recommandation</a:t>
          </a:r>
          <a:endParaRPr lang="en-US" dirty="0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4"/>
      <dgm:spPr/>
    </dgm:pt>
    <dgm:pt modelId="{B53B66F6-8C78-4E21-BD0C-A557DCC1A9C7}" type="pres">
      <dgm:prSet presAssocID="{D642FD34-4DEA-43F5-998D-87F14721F911}" presName="text" presStyleLbl="fgAcc0" presStyleIdx="0" presStyleCnt="4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4"/>
      <dgm:spPr/>
    </dgm:pt>
    <dgm:pt modelId="{7D415E06-F334-4FBD-8088-2B363F89B148}" type="pres">
      <dgm:prSet presAssocID="{5E594787-8357-4218-B750-1FF11826CF4C}" presName="text" presStyleLbl="fgAcc0" presStyleIdx="1" presStyleCnt="4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4"/>
      <dgm:spPr/>
    </dgm:pt>
    <dgm:pt modelId="{2174EFED-DD1B-45E8-88EC-8E0E48F070CE}" type="pres">
      <dgm:prSet presAssocID="{E33FDE28-09B4-4AF8-BF1B-56595B7EFE71}" presName="text" presStyleLbl="fgAcc0" presStyleIdx="2" presStyleCnt="4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4"/>
      <dgm:spPr/>
    </dgm:pt>
    <dgm:pt modelId="{5B3A2A17-32F4-4E4B-9099-860B9EAC0658}" type="pres">
      <dgm:prSet presAssocID="{981CF89F-D0C6-4414-8D4A-50EF652B7DF7}" presName="text" presStyleLbl="fgAcc0" presStyleIdx="3" presStyleCnt="4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E5F842-1996-4F12-8016-5021F9A78D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EB77E64E-A855-48E2-BC26-8DC82164E128}">
      <dgm:prSet phldrT="[Texte]" custT="1"/>
      <dgm:spPr>
        <a:solidFill>
          <a:srgbClr val="009FD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>
            <a:buFontTx/>
            <a:buAutoNum type="arabicPeriod"/>
          </a:pPr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Investissement</a:t>
          </a:r>
          <a:r>
            <a:rPr lang="fr-CA" sz="2400" kern="1200" dirty="0"/>
            <a:t> initial				</a:t>
          </a:r>
        </a:p>
      </dgm:t>
    </dgm:pt>
    <dgm:pt modelId="{9E8693B7-0A60-4A07-BF14-906C96A08DCB}" type="parTrans" cxnId="{7836C611-1A9C-4642-995D-ED5B014C76C6}">
      <dgm:prSet/>
      <dgm:spPr/>
      <dgm:t>
        <a:bodyPr/>
        <a:lstStyle/>
        <a:p>
          <a:endParaRPr lang="fr-CA" sz="1600"/>
        </a:p>
      </dgm:t>
    </dgm:pt>
    <dgm:pt modelId="{919476AE-0695-4F12-9F47-A80E3F7CE461}" type="sibTrans" cxnId="{7836C611-1A9C-4642-995D-ED5B014C76C6}">
      <dgm:prSet/>
      <dgm:spPr/>
      <dgm:t>
        <a:bodyPr/>
        <a:lstStyle/>
        <a:p>
          <a:endParaRPr lang="fr-CA" sz="1600"/>
        </a:p>
      </dgm:t>
    </dgm:pt>
    <dgm:pt modelId="{33348AD4-E56E-48F2-B88E-EA6786F38877}">
      <dgm:prSet custT="1"/>
      <dgm:spPr/>
      <dgm:t>
        <a:bodyPr/>
        <a:lstStyle/>
        <a:p>
          <a:r>
            <a:rPr lang="fr-CA" sz="2400" dirty="0"/>
            <a:t>Flux monétaires différentiels </a:t>
          </a:r>
          <a:r>
            <a:rPr lang="fr-CA" sz="2400" b="1" dirty="0"/>
            <a:t>nets</a:t>
          </a:r>
          <a:r>
            <a:rPr lang="fr-CA" sz="2400" dirty="0"/>
            <a:t> périodiques			</a:t>
          </a:r>
        </a:p>
      </dgm:t>
    </dgm:pt>
    <dgm:pt modelId="{55E72E48-D142-4AF0-82FE-1633D9A0F9C4}" type="parTrans" cxnId="{281D7E8F-E5F9-4BA0-AFF4-F22BBCE3D9A9}">
      <dgm:prSet/>
      <dgm:spPr/>
      <dgm:t>
        <a:bodyPr/>
        <a:lstStyle/>
        <a:p>
          <a:endParaRPr lang="fr-CA" sz="1600"/>
        </a:p>
      </dgm:t>
    </dgm:pt>
    <dgm:pt modelId="{6EEC4462-BEE3-4287-A44C-855EBDD9E40D}" type="sibTrans" cxnId="{281D7E8F-E5F9-4BA0-AFF4-F22BBCE3D9A9}">
      <dgm:prSet/>
      <dgm:spPr/>
      <dgm:t>
        <a:bodyPr/>
        <a:lstStyle/>
        <a:p>
          <a:endParaRPr lang="fr-CA" sz="1600"/>
        </a:p>
      </dgm:t>
    </dgm:pt>
    <dgm:pt modelId="{3A753D79-CDB1-41D4-A60F-905F0715AE4F}">
      <dgm:prSet custT="1"/>
      <dgm:spPr/>
      <dgm:t>
        <a:bodyPr/>
        <a:lstStyle/>
        <a:p>
          <a:r>
            <a:rPr lang="fr-CA" sz="2400" dirty="0"/>
            <a:t>Économie d’</a:t>
          </a:r>
          <a:r>
            <a:rPr lang="fr-CA" sz="2400" b="1" dirty="0"/>
            <a:t>impôts</a:t>
          </a:r>
          <a:r>
            <a:rPr lang="fr-CA" sz="2400" dirty="0"/>
            <a:t> liée à la DPA 			</a:t>
          </a:r>
        </a:p>
      </dgm:t>
    </dgm:pt>
    <dgm:pt modelId="{F650D0B2-AA97-48EE-BEFB-0F4FFCBE1C19}" type="parTrans" cxnId="{36F0203F-FA2C-4084-B69C-0A43E4B2C692}">
      <dgm:prSet/>
      <dgm:spPr/>
      <dgm:t>
        <a:bodyPr/>
        <a:lstStyle/>
        <a:p>
          <a:endParaRPr lang="fr-CA" sz="1600"/>
        </a:p>
      </dgm:t>
    </dgm:pt>
    <dgm:pt modelId="{9A5191DA-D86F-413C-953F-63BB209AF6EF}" type="sibTrans" cxnId="{36F0203F-FA2C-4084-B69C-0A43E4B2C692}">
      <dgm:prSet/>
      <dgm:spPr/>
      <dgm:t>
        <a:bodyPr/>
        <a:lstStyle/>
        <a:p>
          <a:endParaRPr lang="fr-CA" sz="1600"/>
        </a:p>
      </dgm:t>
    </dgm:pt>
    <dgm:pt modelId="{600DF673-2928-49EF-A47B-DAB9C491D284}">
      <dgm:prSet custT="1"/>
      <dgm:spPr/>
      <dgm:t>
        <a:bodyPr/>
        <a:lstStyle/>
        <a:p>
          <a:r>
            <a:rPr lang="fr-CA" sz="2400" dirty="0"/>
            <a:t>Valeur résiduelle					</a:t>
          </a:r>
        </a:p>
      </dgm:t>
    </dgm:pt>
    <dgm:pt modelId="{6281CF50-15F8-4833-8B17-659D8C3BB5E3}" type="parTrans" cxnId="{84A3B185-ED3D-40CB-A6DA-3EFBDD02AE25}">
      <dgm:prSet/>
      <dgm:spPr/>
      <dgm:t>
        <a:bodyPr/>
        <a:lstStyle/>
        <a:p>
          <a:endParaRPr lang="fr-CA" sz="1600"/>
        </a:p>
      </dgm:t>
    </dgm:pt>
    <dgm:pt modelId="{31C6FB1F-761F-437E-8686-3D09268B7671}" type="sibTrans" cxnId="{84A3B185-ED3D-40CB-A6DA-3EFBDD02AE25}">
      <dgm:prSet/>
      <dgm:spPr/>
      <dgm:t>
        <a:bodyPr/>
        <a:lstStyle/>
        <a:p>
          <a:endParaRPr lang="fr-CA" sz="1600"/>
        </a:p>
      </dgm:t>
    </dgm:pt>
    <dgm:pt modelId="{7A60805F-11CC-421B-8D65-E1063BAE0947}">
      <dgm:prSet custT="1"/>
      <dgm:spPr>
        <a:solidFill>
          <a:srgbClr val="009FD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Perte</a:t>
          </a:r>
          <a:r>
            <a:rPr lang="fr-CA" sz="2400" kern="1200" dirty="0"/>
            <a:t> d’économie </a:t>
          </a:r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d’</a:t>
          </a:r>
          <a:r>
            <a:rPr lang="fr-CA" sz="2400" b="1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impôts</a:t>
          </a:r>
          <a:r>
            <a:rPr lang="fr-CA" sz="2400" kern="1200" dirty="0"/>
            <a:t> liée à la DPA</a:t>
          </a:r>
        </a:p>
      </dgm:t>
    </dgm:pt>
    <dgm:pt modelId="{007469A5-818B-471D-9F4E-04E39DD7F892}" type="parTrans" cxnId="{11D1B2AC-0D92-4969-970B-0E0689159EF1}">
      <dgm:prSet/>
      <dgm:spPr/>
      <dgm:t>
        <a:bodyPr/>
        <a:lstStyle/>
        <a:p>
          <a:endParaRPr lang="fr-CA" sz="1600"/>
        </a:p>
      </dgm:t>
    </dgm:pt>
    <dgm:pt modelId="{CF9E1E95-17A8-451B-8611-9C770FD52786}" type="sibTrans" cxnId="{11D1B2AC-0D92-4969-970B-0E0689159EF1}">
      <dgm:prSet/>
      <dgm:spPr/>
      <dgm:t>
        <a:bodyPr/>
        <a:lstStyle/>
        <a:p>
          <a:endParaRPr lang="fr-CA" sz="1600"/>
        </a:p>
      </dgm:t>
    </dgm:pt>
    <dgm:pt modelId="{7CDA3C18-9CDD-443D-9FAE-04F242049653}" type="pres">
      <dgm:prSet presAssocID="{50E5F842-1996-4F12-8016-5021F9A78D9D}" presName="linear" presStyleCnt="0">
        <dgm:presLayoutVars>
          <dgm:animLvl val="lvl"/>
          <dgm:resizeHandles val="exact"/>
        </dgm:presLayoutVars>
      </dgm:prSet>
      <dgm:spPr/>
    </dgm:pt>
    <dgm:pt modelId="{1877D9AF-FA01-4485-A08C-A0B57A48E88F}" type="pres">
      <dgm:prSet presAssocID="{EB77E64E-A855-48E2-BC26-8DC82164E128}" presName="parentText" presStyleLbl="node1" presStyleIdx="0" presStyleCnt="5">
        <dgm:presLayoutVars>
          <dgm:chMax val="0"/>
          <dgm:bulletEnabled val="1"/>
        </dgm:presLayoutVars>
      </dgm:prSet>
      <dgm:spPr>
        <a:xfrm>
          <a:off x="0" y="403253"/>
          <a:ext cx="9280478" cy="655200"/>
        </a:xfrm>
        <a:prstGeom prst="roundRect">
          <a:avLst/>
        </a:prstGeom>
      </dgm:spPr>
    </dgm:pt>
    <dgm:pt modelId="{A47BD7CD-0B0E-49CA-BDA7-530C88D6EEA8}" type="pres">
      <dgm:prSet presAssocID="{919476AE-0695-4F12-9F47-A80E3F7CE461}" presName="spacer" presStyleCnt="0"/>
      <dgm:spPr/>
    </dgm:pt>
    <dgm:pt modelId="{22456DEE-A69E-41D1-9AC5-9615E16A092A}" type="pres">
      <dgm:prSet presAssocID="{33348AD4-E56E-48F2-B88E-EA6786F3887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C48C0B1-6132-4170-A86F-36491DE15DC4}" type="pres">
      <dgm:prSet presAssocID="{6EEC4462-BEE3-4287-A44C-855EBDD9E40D}" presName="spacer" presStyleCnt="0"/>
      <dgm:spPr/>
    </dgm:pt>
    <dgm:pt modelId="{C9353CB6-6AAD-4641-9F26-1252CE869865}" type="pres">
      <dgm:prSet presAssocID="{3A753D79-CDB1-41D4-A60F-905F0715AE4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0EEDD32-771F-4E67-9E5F-00A3CB08C7C9}" type="pres">
      <dgm:prSet presAssocID="{9A5191DA-D86F-413C-953F-63BB209AF6EF}" presName="spacer" presStyleCnt="0"/>
      <dgm:spPr/>
    </dgm:pt>
    <dgm:pt modelId="{0D35F44E-907F-451B-A2AB-D9B6C2F0290A}" type="pres">
      <dgm:prSet presAssocID="{600DF673-2928-49EF-A47B-DAB9C491D2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DCB33D-2029-4354-9306-B9F0A8787E9D}" type="pres">
      <dgm:prSet presAssocID="{31C6FB1F-761F-437E-8686-3D09268B7671}" presName="spacer" presStyleCnt="0"/>
      <dgm:spPr/>
    </dgm:pt>
    <dgm:pt modelId="{72784650-D643-43CA-943C-3328B172F5BD}" type="pres">
      <dgm:prSet presAssocID="{7A60805F-11CC-421B-8D65-E1063BAE0947}" presName="parentText" presStyleLbl="node1" presStyleIdx="4" presStyleCnt="5">
        <dgm:presLayoutVars>
          <dgm:chMax val="0"/>
          <dgm:bulletEnabled val="1"/>
        </dgm:presLayoutVars>
      </dgm:prSet>
      <dgm:spPr>
        <a:xfrm>
          <a:off x="0" y="3346613"/>
          <a:ext cx="9280478" cy="655200"/>
        </a:xfrm>
        <a:prstGeom prst="roundRect">
          <a:avLst/>
        </a:prstGeom>
      </dgm:spPr>
    </dgm:pt>
  </dgm:ptLst>
  <dgm:cxnLst>
    <dgm:cxn modelId="{7836C611-1A9C-4642-995D-ED5B014C76C6}" srcId="{50E5F842-1996-4F12-8016-5021F9A78D9D}" destId="{EB77E64E-A855-48E2-BC26-8DC82164E128}" srcOrd="0" destOrd="0" parTransId="{9E8693B7-0A60-4A07-BF14-906C96A08DCB}" sibTransId="{919476AE-0695-4F12-9F47-A80E3F7CE461}"/>
    <dgm:cxn modelId="{B1EB5E29-FEAE-4C5D-B4F9-F86B56B4BD50}" type="presOf" srcId="{600DF673-2928-49EF-A47B-DAB9C491D284}" destId="{0D35F44E-907F-451B-A2AB-D9B6C2F0290A}" srcOrd="0" destOrd="0" presId="urn:microsoft.com/office/officeart/2005/8/layout/vList2"/>
    <dgm:cxn modelId="{36F0203F-FA2C-4084-B69C-0A43E4B2C692}" srcId="{50E5F842-1996-4F12-8016-5021F9A78D9D}" destId="{3A753D79-CDB1-41D4-A60F-905F0715AE4F}" srcOrd="2" destOrd="0" parTransId="{F650D0B2-AA97-48EE-BEFB-0F4FFCBE1C19}" sibTransId="{9A5191DA-D86F-413C-953F-63BB209AF6EF}"/>
    <dgm:cxn modelId="{AB8D3E7E-E1BC-4D52-BE87-A0F8036074EA}" type="presOf" srcId="{EB77E64E-A855-48E2-BC26-8DC82164E128}" destId="{1877D9AF-FA01-4485-A08C-A0B57A48E88F}" srcOrd="0" destOrd="0" presId="urn:microsoft.com/office/officeart/2005/8/layout/vList2"/>
    <dgm:cxn modelId="{84A3B185-ED3D-40CB-A6DA-3EFBDD02AE25}" srcId="{50E5F842-1996-4F12-8016-5021F9A78D9D}" destId="{600DF673-2928-49EF-A47B-DAB9C491D284}" srcOrd="3" destOrd="0" parTransId="{6281CF50-15F8-4833-8B17-659D8C3BB5E3}" sibTransId="{31C6FB1F-761F-437E-8686-3D09268B7671}"/>
    <dgm:cxn modelId="{281D7E8F-E5F9-4BA0-AFF4-F22BBCE3D9A9}" srcId="{50E5F842-1996-4F12-8016-5021F9A78D9D}" destId="{33348AD4-E56E-48F2-B88E-EA6786F38877}" srcOrd="1" destOrd="0" parTransId="{55E72E48-D142-4AF0-82FE-1633D9A0F9C4}" sibTransId="{6EEC4462-BEE3-4287-A44C-855EBDD9E40D}"/>
    <dgm:cxn modelId="{4F5FD69C-8596-4E65-8D15-313B8B1860A0}" type="presOf" srcId="{33348AD4-E56E-48F2-B88E-EA6786F38877}" destId="{22456DEE-A69E-41D1-9AC5-9615E16A092A}" srcOrd="0" destOrd="0" presId="urn:microsoft.com/office/officeart/2005/8/layout/vList2"/>
    <dgm:cxn modelId="{0F0122A7-AF25-41E4-B502-9BC0BDECA220}" type="presOf" srcId="{3A753D79-CDB1-41D4-A60F-905F0715AE4F}" destId="{C9353CB6-6AAD-4641-9F26-1252CE869865}" srcOrd="0" destOrd="0" presId="urn:microsoft.com/office/officeart/2005/8/layout/vList2"/>
    <dgm:cxn modelId="{11D1B2AC-0D92-4969-970B-0E0689159EF1}" srcId="{50E5F842-1996-4F12-8016-5021F9A78D9D}" destId="{7A60805F-11CC-421B-8D65-E1063BAE0947}" srcOrd="4" destOrd="0" parTransId="{007469A5-818B-471D-9F4E-04E39DD7F892}" sibTransId="{CF9E1E95-17A8-451B-8611-9C770FD52786}"/>
    <dgm:cxn modelId="{AC84A3D8-7D02-4911-BB62-21775135C413}" type="presOf" srcId="{50E5F842-1996-4F12-8016-5021F9A78D9D}" destId="{7CDA3C18-9CDD-443D-9FAE-04F242049653}" srcOrd="0" destOrd="0" presId="urn:microsoft.com/office/officeart/2005/8/layout/vList2"/>
    <dgm:cxn modelId="{7B7C86F4-D5D3-40F4-84E0-66048B4F5FB4}" type="presOf" srcId="{7A60805F-11CC-421B-8D65-E1063BAE0947}" destId="{72784650-D643-43CA-943C-3328B172F5BD}" srcOrd="0" destOrd="0" presId="urn:microsoft.com/office/officeart/2005/8/layout/vList2"/>
    <dgm:cxn modelId="{DB051340-F045-4533-AC38-66A626F89884}" type="presParOf" srcId="{7CDA3C18-9CDD-443D-9FAE-04F242049653}" destId="{1877D9AF-FA01-4485-A08C-A0B57A48E88F}" srcOrd="0" destOrd="0" presId="urn:microsoft.com/office/officeart/2005/8/layout/vList2"/>
    <dgm:cxn modelId="{5238D974-1D2F-4D3E-A2D1-BCC613A3FE07}" type="presParOf" srcId="{7CDA3C18-9CDD-443D-9FAE-04F242049653}" destId="{A47BD7CD-0B0E-49CA-BDA7-530C88D6EEA8}" srcOrd="1" destOrd="0" presId="urn:microsoft.com/office/officeart/2005/8/layout/vList2"/>
    <dgm:cxn modelId="{1B9F0B31-4FA5-4A0E-9FD2-2FF420716255}" type="presParOf" srcId="{7CDA3C18-9CDD-443D-9FAE-04F242049653}" destId="{22456DEE-A69E-41D1-9AC5-9615E16A092A}" srcOrd="2" destOrd="0" presId="urn:microsoft.com/office/officeart/2005/8/layout/vList2"/>
    <dgm:cxn modelId="{E7F27B4E-FF39-4B95-9EE6-2048AD92FBA2}" type="presParOf" srcId="{7CDA3C18-9CDD-443D-9FAE-04F242049653}" destId="{6C48C0B1-6132-4170-A86F-36491DE15DC4}" srcOrd="3" destOrd="0" presId="urn:microsoft.com/office/officeart/2005/8/layout/vList2"/>
    <dgm:cxn modelId="{EC7B3B21-B4E3-4BAD-A4BD-DEC90E463FB9}" type="presParOf" srcId="{7CDA3C18-9CDD-443D-9FAE-04F242049653}" destId="{C9353CB6-6AAD-4641-9F26-1252CE869865}" srcOrd="4" destOrd="0" presId="urn:microsoft.com/office/officeart/2005/8/layout/vList2"/>
    <dgm:cxn modelId="{C05AB58C-7D12-4963-AA8C-F7EB6C55BC99}" type="presParOf" srcId="{7CDA3C18-9CDD-443D-9FAE-04F242049653}" destId="{E0EEDD32-771F-4E67-9E5F-00A3CB08C7C9}" srcOrd="5" destOrd="0" presId="urn:microsoft.com/office/officeart/2005/8/layout/vList2"/>
    <dgm:cxn modelId="{AA8E9A53-CA9A-4962-A21D-75B76C0316C9}" type="presParOf" srcId="{7CDA3C18-9CDD-443D-9FAE-04F242049653}" destId="{0D35F44E-907F-451B-A2AB-D9B6C2F0290A}" srcOrd="6" destOrd="0" presId="urn:microsoft.com/office/officeart/2005/8/layout/vList2"/>
    <dgm:cxn modelId="{0CD8A397-78DC-41FA-8383-390620F3D6B9}" type="presParOf" srcId="{7CDA3C18-9CDD-443D-9FAE-04F242049653}" destId="{59DCB33D-2029-4354-9306-B9F0A8787E9D}" srcOrd="7" destOrd="0" presId="urn:microsoft.com/office/officeart/2005/8/layout/vList2"/>
    <dgm:cxn modelId="{8CF79D9D-E001-4962-B6C5-FD9C6BAEAC75}" type="presParOf" srcId="{7CDA3C18-9CDD-443D-9FAE-04F242049653}" destId="{72784650-D643-43CA-943C-3328B172F5B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2FD34-4DEA-43F5-998D-87F14721F911}">
      <dgm:prSet/>
      <dgm:spPr/>
      <dgm:t>
        <a:bodyPr/>
        <a:lstStyle/>
        <a:p>
          <a:r>
            <a:rPr lang="fr-CA"/>
            <a:t>Analyse quantitative</a:t>
          </a:r>
          <a:endParaRPr lang="en-US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/>
            <a:t>Conclusion quantitative</a:t>
          </a:r>
          <a:endParaRPr lang="en-US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/>
      <dgm:t>
        <a:bodyPr/>
        <a:lstStyle/>
        <a:p>
          <a:r>
            <a:rPr lang="fr-CA"/>
            <a:t>Analyse qualitative </a:t>
          </a:r>
          <a:endParaRPr lang="en-US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/>
      <dgm:t>
        <a:bodyPr/>
        <a:lstStyle/>
        <a:p>
          <a:r>
            <a:rPr lang="fr-CA"/>
            <a:t>Recommandation</a:t>
          </a:r>
          <a:endParaRPr lang="en-US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4"/>
      <dgm:spPr/>
    </dgm:pt>
    <dgm:pt modelId="{B53B66F6-8C78-4E21-BD0C-A557DCC1A9C7}" type="pres">
      <dgm:prSet presAssocID="{D642FD34-4DEA-43F5-998D-87F14721F911}" presName="text" presStyleLbl="fgAcc0" presStyleIdx="0" presStyleCnt="4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4"/>
      <dgm:spPr/>
    </dgm:pt>
    <dgm:pt modelId="{7D415E06-F334-4FBD-8088-2B363F89B148}" type="pres">
      <dgm:prSet presAssocID="{5E594787-8357-4218-B750-1FF11826CF4C}" presName="text" presStyleLbl="fgAcc0" presStyleIdx="1" presStyleCnt="4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4"/>
      <dgm:spPr/>
    </dgm:pt>
    <dgm:pt modelId="{2174EFED-DD1B-45E8-88EC-8E0E48F070CE}" type="pres">
      <dgm:prSet presAssocID="{E33FDE28-09B4-4AF8-BF1B-56595B7EFE71}" presName="text" presStyleLbl="fgAcc0" presStyleIdx="2" presStyleCnt="4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4"/>
      <dgm:spPr/>
    </dgm:pt>
    <dgm:pt modelId="{5B3A2A17-32F4-4E4B-9099-860B9EAC0658}" type="pres">
      <dgm:prSet presAssocID="{981CF89F-D0C6-4414-8D4A-50EF652B7DF7}" presName="text" presStyleLbl="fgAcc0" presStyleIdx="3" presStyleCnt="4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2FD34-4DEA-43F5-998D-87F14721F911}">
      <dgm:prSet/>
      <dgm:spPr/>
      <dgm:t>
        <a:bodyPr/>
        <a:lstStyle/>
        <a:p>
          <a:r>
            <a:rPr lang="fr-CA"/>
            <a:t>Analyse quantitative</a:t>
          </a:r>
          <a:endParaRPr lang="en-US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/>
      <dgm:t>
        <a:bodyPr/>
        <a:lstStyle/>
        <a:p>
          <a:r>
            <a:rPr lang="fr-CA"/>
            <a:t>Conclusion quantitative</a:t>
          </a:r>
          <a:endParaRPr lang="en-US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/>
            <a:t>Analyse qualitative </a:t>
          </a:r>
          <a:endParaRPr lang="en-US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/>
      <dgm:t>
        <a:bodyPr/>
        <a:lstStyle/>
        <a:p>
          <a:r>
            <a:rPr lang="fr-CA"/>
            <a:t>Recommandation</a:t>
          </a:r>
          <a:endParaRPr lang="en-US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4"/>
      <dgm:spPr/>
    </dgm:pt>
    <dgm:pt modelId="{B53B66F6-8C78-4E21-BD0C-A557DCC1A9C7}" type="pres">
      <dgm:prSet presAssocID="{D642FD34-4DEA-43F5-998D-87F14721F911}" presName="text" presStyleLbl="fgAcc0" presStyleIdx="0" presStyleCnt="4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4"/>
      <dgm:spPr/>
    </dgm:pt>
    <dgm:pt modelId="{7D415E06-F334-4FBD-8088-2B363F89B148}" type="pres">
      <dgm:prSet presAssocID="{5E594787-8357-4218-B750-1FF11826CF4C}" presName="text" presStyleLbl="fgAcc0" presStyleIdx="1" presStyleCnt="4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4"/>
      <dgm:spPr/>
    </dgm:pt>
    <dgm:pt modelId="{2174EFED-DD1B-45E8-88EC-8E0E48F070CE}" type="pres">
      <dgm:prSet presAssocID="{E33FDE28-09B4-4AF8-BF1B-56595B7EFE71}" presName="text" presStyleLbl="fgAcc0" presStyleIdx="2" presStyleCnt="4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4"/>
      <dgm:spPr/>
    </dgm:pt>
    <dgm:pt modelId="{5B3A2A17-32F4-4E4B-9099-860B9EAC0658}" type="pres">
      <dgm:prSet presAssocID="{981CF89F-D0C6-4414-8D4A-50EF652B7DF7}" presName="text" presStyleLbl="fgAcc0" presStyleIdx="3" presStyleCnt="4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B4553F-A317-43F9-B4AD-32913F8C6133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3316963-A2C6-45EB-B81A-A9C9D4D6A86A}">
      <dgm:prSet/>
      <dgm:spPr/>
      <dgm:t>
        <a:bodyPr/>
        <a:lstStyle/>
        <a:p>
          <a:r>
            <a:rPr lang="fr-CA" dirty="0"/>
            <a:t>Compatibilité Vision/Mission/Valeur </a:t>
          </a:r>
          <a:endParaRPr lang="en-US" dirty="0"/>
        </a:p>
      </dgm:t>
    </dgm:pt>
    <dgm:pt modelId="{B823F9C9-DA23-4800-B77C-F9C8346F92EB}" type="parTrans" cxnId="{0539FE88-28A6-4BBF-8DE4-15EF53E3E749}">
      <dgm:prSet/>
      <dgm:spPr/>
      <dgm:t>
        <a:bodyPr/>
        <a:lstStyle/>
        <a:p>
          <a:endParaRPr lang="en-US"/>
        </a:p>
      </dgm:t>
    </dgm:pt>
    <dgm:pt modelId="{D6AE14E6-E161-4840-9785-0B98FFE2C207}" type="sibTrans" cxnId="{0539FE88-28A6-4BBF-8DE4-15EF53E3E749}">
      <dgm:prSet/>
      <dgm:spPr/>
      <dgm:t>
        <a:bodyPr/>
        <a:lstStyle/>
        <a:p>
          <a:endParaRPr lang="en-US"/>
        </a:p>
      </dgm:t>
    </dgm:pt>
    <dgm:pt modelId="{4CBA56FF-F88E-4040-B42D-1596DF505902}">
      <dgm:prSet/>
      <dgm:spPr/>
      <dgm:t>
        <a:bodyPr/>
        <a:lstStyle/>
        <a:p>
          <a:r>
            <a:rPr lang="fr-CA" dirty="0"/>
            <a:t>Avantages </a:t>
          </a:r>
          <a:endParaRPr lang="en-US" dirty="0"/>
        </a:p>
      </dgm:t>
    </dgm:pt>
    <dgm:pt modelId="{66086C9D-086C-4028-B1C2-F8D3FA70D719}" type="parTrans" cxnId="{30F0CF76-4A10-4D30-9EB7-7EC660C41C1A}">
      <dgm:prSet/>
      <dgm:spPr/>
      <dgm:t>
        <a:bodyPr/>
        <a:lstStyle/>
        <a:p>
          <a:endParaRPr lang="en-US"/>
        </a:p>
      </dgm:t>
    </dgm:pt>
    <dgm:pt modelId="{59D9EAD9-7DD3-496E-8848-6531088AE783}" type="sibTrans" cxnId="{30F0CF76-4A10-4D30-9EB7-7EC660C41C1A}">
      <dgm:prSet/>
      <dgm:spPr/>
      <dgm:t>
        <a:bodyPr/>
        <a:lstStyle/>
        <a:p>
          <a:endParaRPr lang="en-US"/>
        </a:p>
      </dgm:t>
    </dgm:pt>
    <dgm:pt modelId="{766A2CEE-2698-42B9-984C-6291238B9C65}">
      <dgm:prSet/>
      <dgm:spPr/>
      <dgm:t>
        <a:bodyPr/>
        <a:lstStyle/>
        <a:p>
          <a:r>
            <a:rPr lang="fr-CA" dirty="0"/>
            <a:t>Inconvénients </a:t>
          </a:r>
          <a:endParaRPr lang="en-US" dirty="0"/>
        </a:p>
      </dgm:t>
    </dgm:pt>
    <dgm:pt modelId="{7577D33B-E846-45B4-AF8B-712ED60B6022}" type="parTrans" cxnId="{79F104C5-5437-4B67-82BC-D8E79476819C}">
      <dgm:prSet/>
      <dgm:spPr/>
      <dgm:t>
        <a:bodyPr/>
        <a:lstStyle/>
        <a:p>
          <a:endParaRPr lang="en-US"/>
        </a:p>
      </dgm:t>
    </dgm:pt>
    <dgm:pt modelId="{41DC270F-C3A6-4192-8306-F90A1911D388}" type="sibTrans" cxnId="{79F104C5-5437-4B67-82BC-D8E79476819C}">
      <dgm:prSet/>
      <dgm:spPr/>
      <dgm:t>
        <a:bodyPr/>
        <a:lstStyle/>
        <a:p>
          <a:endParaRPr lang="en-US"/>
        </a:p>
      </dgm:t>
    </dgm:pt>
    <dgm:pt modelId="{D19C09FF-CC4B-465C-81CE-B64B211C6429}" type="pres">
      <dgm:prSet presAssocID="{FEB4553F-A317-43F9-B4AD-32913F8C6133}" presName="linear" presStyleCnt="0">
        <dgm:presLayoutVars>
          <dgm:animLvl val="lvl"/>
          <dgm:resizeHandles val="exact"/>
        </dgm:presLayoutVars>
      </dgm:prSet>
      <dgm:spPr/>
    </dgm:pt>
    <dgm:pt modelId="{EF9A812E-EF48-4829-941B-CF91D886DD7C}" type="pres">
      <dgm:prSet presAssocID="{B3316963-A2C6-45EB-B81A-A9C9D4D6A86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E65E61-1B36-4131-9AB6-7EEEE32C5962}" type="pres">
      <dgm:prSet presAssocID="{D6AE14E6-E161-4840-9785-0B98FFE2C207}" presName="spacer" presStyleCnt="0"/>
      <dgm:spPr/>
    </dgm:pt>
    <dgm:pt modelId="{AD0A217E-88F1-4A9A-BB93-8E451AAC2E19}" type="pres">
      <dgm:prSet presAssocID="{4CBA56FF-F88E-4040-B42D-1596DF5059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7D2759-A459-453A-9DDE-A3789587281E}" type="pres">
      <dgm:prSet presAssocID="{59D9EAD9-7DD3-496E-8848-6531088AE783}" presName="spacer" presStyleCnt="0"/>
      <dgm:spPr/>
    </dgm:pt>
    <dgm:pt modelId="{9DC23841-C8A5-4711-A4F1-80B4FE022FD9}" type="pres">
      <dgm:prSet presAssocID="{766A2CEE-2698-42B9-984C-6291238B9C6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584701C-9A3C-44CF-B3BE-471DB03AD796}" type="presOf" srcId="{FEB4553F-A317-43F9-B4AD-32913F8C6133}" destId="{D19C09FF-CC4B-465C-81CE-B64B211C6429}" srcOrd="0" destOrd="0" presId="urn:microsoft.com/office/officeart/2005/8/layout/vList2"/>
    <dgm:cxn modelId="{30F0CF76-4A10-4D30-9EB7-7EC660C41C1A}" srcId="{FEB4553F-A317-43F9-B4AD-32913F8C6133}" destId="{4CBA56FF-F88E-4040-B42D-1596DF505902}" srcOrd="1" destOrd="0" parTransId="{66086C9D-086C-4028-B1C2-F8D3FA70D719}" sibTransId="{59D9EAD9-7DD3-496E-8848-6531088AE783}"/>
    <dgm:cxn modelId="{0539FE88-28A6-4BBF-8DE4-15EF53E3E749}" srcId="{FEB4553F-A317-43F9-B4AD-32913F8C6133}" destId="{B3316963-A2C6-45EB-B81A-A9C9D4D6A86A}" srcOrd="0" destOrd="0" parTransId="{B823F9C9-DA23-4800-B77C-F9C8346F92EB}" sibTransId="{D6AE14E6-E161-4840-9785-0B98FFE2C207}"/>
    <dgm:cxn modelId="{1C5183BC-17CB-4AF0-9B59-62E5E90419EE}" type="presOf" srcId="{B3316963-A2C6-45EB-B81A-A9C9D4D6A86A}" destId="{EF9A812E-EF48-4829-941B-CF91D886DD7C}" srcOrd="0" destOrd="0" presId="urn:microsoft.com/office/officeart/2005/8/layout/vList2"/>
    <dgm:cxn modelId="{B53054C4-1A70-4CDB-AD03-A82A8744472A}" type="presOf" srcId="{766A2CEE-2698-42B9-984C-6291238B9C65}" destId="{9DC23841-C8A5-4711-A4F1-80B4FE022FD9}" srcOrd="0" destOrd="0" presId="urn:microsoft.com/office/officeart/2005/8/layout/vList2"/>
    <dgm:cxn modelId="{79F104C5-5437-4B67-82BC-D8E79476819C}" srcId="{FEB4553F-A317-43F9-B4AD-32913F8C6133}" destId="{766A2CEE-2698-42B9-984C-6291238B9C65}" srcOrd="2" destOrd="0" parTransId="{7577D33B-E846-45B4-AF8B-712ED60B6022}" sibTransId="{41DC270F-C3A6-4192-8306-F90A1911D388}"/>
    <dgm:cxn modelId="{085BDBFF-C4CA-4812-A01F-D1BEBCD47856}" type="presOf" srcId="{4CBA56FF-F88E-4040-B42D-1596DF505902}" destId="{AD0A217E-88F1-4A9A-BB93-8E451AAC2E19}" srcOrd="0" destOrd="0" presId="urn:microsoft.com/office/officeart/2005/8/layout/vList2"/>
    <dgm:cxn modelId="{7DAD240C-3093-4A30-8C47-D5BDFC1394E7}" type="presParOf" srcId="{D19C09FF-CC4B-465C-81CE-B64B211C6429}" destId="{EF9A812E-EF48-4829-941B-CF91D886DD7C}" srcOrd="0" destOrd="0" presId="urn:microsoft.com/office/officeart/2005/8/layout/vList2"/>
    <dgm:cxn modelId="{21CFA72E-5A59-4FCD-8DC0-00A66EF9F8EC}" type="presParOf" srcId="{D19C09FF-CC4B-465C-81CE-B64B211C6429}" destId="{17E65E61-1B36-4131-9AB6-7EEEE32C5962}" srcOrd="1" destOrd="0" presId="urn:microsoft.com/office/officeart/2005/8/layout/vList2"/>
    <dgm:cxn modelId="{08D4B94C-BE99-4AF5-9B84-730E9B571786}" type="presParOf" srcId="{D19C09FF-CC4B-465C-81CE-B64B211C6429}" destId="{AD0A217E-88F1-4A9A-BB93-8E451AAC2E19}" srcOrd="2" destOrd="0" presId="urn:microsoft.com/office/officeart/2005/8/layout/vList2"/>
    <dgm:cxn modelId="{64C3CA14-B172-496B-AEBB-5C9BB32E811F}" type="presParOf" srcId="{D19C09FF-CC4B-465C-81CE-B64B211C6429}" destId="{7C7D2759-A459-453A-9DDE-A3789587281E}" srcOrd="3" destOrd="0" presId="urn:microsoft.com/office/officeart/2005/8/layout/vList2"/>
    <dgm:cxn modelId="{4A523E9B-FA5D-4D04-816D-A08C11DFF10C}" type="presParOf" srcId="{D19C09FF-CC4B-465C-81CE-B64B211C6429}" destId="{9DC23841-C8A5-4711-A4F1-80B4FE022FD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2FD34-4DEA-43F5-998D-87F14721F911}">
      <dgm:prSet/>
      <dgm:spPr/>
      <dgm:t>
        <a:bodyPr/>
        <a:lstStyle/>
        <a:p>
          <a:r>
            <a:rPr lang="fr-CA" dirty="0"/>
            <a:t>Analyse quantitative</a:t>
          </a:r>
          <a:endParaRPr lang="en-US" dirty="0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/>
      <dgm:t>
        <a:bodyPr/>
        <a:lstStyle/>
        <a:p>
          <a:r>
            <a:rPr lang="fr-CA" dirty="0"/>
            <a:t>Conclusion quantitative</a:t>
          </a:r>
          <a:endParaRPr lang="en-US" dirty="0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/>
      <dgm:t>
        <a:bodyPr/>
        <a:lstStyle/>
        <a:p>
          <a:r>
            <a:rPr lang="fr-CA" dirty="0"/>
            <a:t>Analyse qualitative </a:t>
          </a:r>
          <a:endParaRPr lang="en-US" dirty="0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 dirty="0"/>
            <a:t>Recommandation</a:t>
          </a:r>
          <a:endParaRPr lang="en-US" dirty="0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4"/>
      <dgm:spPr/>
    </dgm:pt>
    <dgm:pt modelId="{B53B66F6-8C78-4E21-BD0C-A557DCC1A9C7}" type="pres">
      <dgm:prSet presAssocID="{D642FD34-4DEA-43F5-998D-87F14721F911}" presName="text" presStyleLbl="fgAcc0" presStyleIdx="0" presStyleCnt="4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4"/>
      <dgm:spPr/>
    </dgm:pt>
    <dgm:pt modelId="{7D415E06-F334-4FBD-8088-2B363F89B148}" type="pres">
      <dgm:prSet presAssocID="{5E594787-8357-4218-B750-1FF11826CF4C}" presName="text" presStyleLbl="fgAcc0" presStyleIdx="1" presStyleCnt="4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4"/>
      <dgm:spPr/>
    </dgm:pt>
    <dgm:pt modelId="{2174EFED-DD1B-45E8-88EC-8E0E48F070CE}" type="pres">
      <dgm:prSet presAssocID="{E33FDE28-09B4-4AF8-BF1B-56595B7EFE71}" presName="text" presStyleLbl="fgAcc0" presStyleIdx="2" presStyleCnt="4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4"/>
      <dgm:spPr/>
    </dgm:pt>
    <dgm:pt modelId="{5B3A2A17-32F4-4E4B-9099-860B9EAC0658}" type="pres">
      <dgm:prSet presAssocID="{981CF89F-D0C6-4414-8D4A-50EF652B7DF7}" presName="text" presStyleLbl="fgAcc0" presStyleIdx="3" presStyleCnt="4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7F4B59-B38D-4579-854E-C7A0276C396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2FD34-4DEA-43F5-998D-87F14721F911}">
      <dgm:prSet/>
      <dgm:spPr/>
      <dgm:t>
        <a:bodyPr/>
        <a:lstStyle/>
        <a:p>
          <a:r>
            <a:rPr lang="fr-CA" dirty="0"/>
            <a:t>Analyse quantitative</a:t>
          </a:r>
          <a:endParaRPr lang="en-US" dirty="0"/>
        </a:p>
      </dgm:t>
    </dgm:pt>
    <dgm:pt modelId="{12F821F7-6F7A-4339-AF75-41DA185948D0}" type="parTrans" cxnId="{692F14AF-A7F4-4818-A870-85F8B65C5551}">
      <dgm:prSet/>
      <dgm:spPr/>
      <dgm:t>
        <a:bodyPr/>
        <a:lstStyle/>
        <a:p>
          <a:endParaRPr lang="en-US"/>
        </a:p>
      </dgm:t>
    </dgm:pt>
    <dgm:pt modelId="{93540E35-4D01-4FC4-9095-729C3A1C7563}" type="sibTrans" cxnId="{692F14AF-A7F4-4818-A870-85F8B65C5551}">
      <dgm:prSet/>
      <dgm:spPr/>
      <dgm:t>
        <a:bodyPr/>
        <a:lstStyle/>
        <a:p>
          <a:endParaRPr lang="en-US"/>
        </a:p>
      </dgm:t>
    </dgm:pt>
    <dgm:pt modelId="{5E594787-8357-4218-B750-1FF11826CF4C}">
      <dgm:prSet/>
      <dgm:spPr/>
      <dgm:t>
        <a:bodyPr/>
        <a:lstStyle/>
        <a:p>
          <a:r>
            <a:rPr lang="fr-CA" dirty="0"/>
            <a:t>Conclusion quantitative</a:t>
          </a:r>
          <a:endParaRPr lang="en-US" dirty="0"/>
        </a:p>
      </dgm:t>
    </dgm:pt>
    <dgm:pt modelId="{03F323E3-2781-423A-A217-D832277E653D}" type="parTrans" cxnId="{DABFF097-826A-4019-85F0-193D8D0D32E6}">
      <dgm:prSet/>
      <dgm:spPr/>
      <dgm:t>
        <a:bodyPr/>
        <a:lstStyle/>
        <a:p>
          <a:endParaRPr lang="en-US"/>
        </a:p>
      </dgm:t>
    </dgm:pt>
    <dgm:pt modelId="{D4D28453-804E-4060-8CDB-B487C1C1EE7B}" type="sibTrans" cxnId="{DABFF097-826A-4019-85F0-193D8D0D32E6}">
      <dgm:prSet/>
      <dgm:spPr/>
      <dgm:t>
        <a:bodyPr/>
        <a:lstStyle/>
        <a:p>
          <a:endParaRPr lang="en-US"/>
        </a:p>
      </dgm:t>
    </dgm:pt>
    <dgm:pt modelId="{E33FDE28-09B4-4AF8-BF1B-56595B7EFE71}">
      <dgm:prSet/>
      <dgm:spPr/>
      <dgm:t>
        <a:bodyPr/>
        <a:lstStyle/>
        <a:p>
          <a:r>
            <a:rPr lang="fr-CA" dirty="0"/>
            <a:t>Analyse qualitative </a:t>
          </a:r>
          <a:endParaRPr lang="en-US" dirty="0"/>
        </a:p>
      </dgm:t>
    </dgm:pt>
    <dgm:pt modelId="{FD371C95-0BA1-4370-9C06-326FA28792D7}" type="parTrans" cxnId="{F72CDB79-26E5-4FFF-9020-5DCE44408FE6}">
      <dgm:prSet/>
      <dgm:spPr/>
      <dgm:t>
        <a:bodyPr/>
        <a:lstStyle/>
        <a:p>
          <a:endParaRPr lang="en-US"/>
        </a:p>
      </dgm:t>
    </dgm:pt>
    <dgm:pt modelId="{541365CE-D1CB-4BD4-AEAC-FA5FD888CED2}" type="sibTrans" cxnId="{F72CDB79-26E5-4FFF-9020-5DCE44408FE6}">
      <dgm:prSet/>
      <dgm:spPr/>
      <dgm:t>
        <a:bodyPr/>
        <a:lstStyle/>
        <a:p>
          <a:endParaRPr lang="en-US"/>
        </a:p>
      </dgm:t>
    </dgm:pt>
    <dgm:pt modelId="{981CF89F-D0C6-4414-8D4A-50EF652B7DF7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 dirty="0"/>
            <a:t>Recommandation</a:t>
          </a:r>
          <a:endParaRPr lang="en-US" dirty="0"/>
        </a:p>
      </dgm:t>
    </dgm:pt>
    <dgm:pt modelId="{EC77E9A0-00C9-468F-BE1E-2BD664959162}" type="parTrans" cxnId="{D02CD111-4AF7-4E76-9690-EBC8C3F49DDF}">
      <dgm:prSet/>
      <dgm:spPr/>
      <dgm:t>
        <a:bodyPr/>
        <a:lstStyle/>
        <a:p>
          <a:endParaRPr lang="en-US"/>
        </a:p>
      </dgm:t>
    </dgm:pt>
    <dgm:pt modelId="{EEB26DC5-A31A-4BBF-8429-C07E14ABCB86}" type="sibTrans" cxnId="{D02CD111-4AF7-4E76-9690-EBC8C3F49DDF}">
      <dgm:prSet/>
      <dgm:spPr/>
      <dgm:t>
        <a:bodyPr/>
        <a:lstStyle/>
        <a:p>
          <a:endParaRPr lang="en-US"/>
        </a:p>
      </dgm:t>
    </dgm:pt>
    <dgm:pt modelId="{071C8717-A35B-4333-91AC-CBF417590454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8668002C-F401-430E-87E3-E6A6F1D48D1A}" type="parTrans" cxnId="{DD20F474-8C66-4E72-95AB-3DF6131EB368}">
      <dgm:prSet/>
      <dgm:spPr/>
      <dgm:t>
        <a:bodyPr/>
        <a:lstStyle/>
        <a:p>
          <a:endParaRPr lang="fr-CA"/>
        </a:p>
      </dgm:t>
    </dgm:pt>
    <dgm:pt modelId="{C8334A3C-52F0-4999-824D-C9A1048E958C}" type="sibTrans" cxnId="{DD20F474-8C66-4E72-95AB-3DF6131EB368}">
      <dgm:prSet/>
      <dgm:spPr/>
      <dgm:t>
        <a:bodyPr/>
        <a:lstStyle/>
        <a:p>
          <a:endParaRPr lang="fr-CA"/>
        </a:p>
      </dgm:t>
    </dgm:pt>
    <dgm:pt modelId="{5CF9F005-2B45-4F46-AEF8-4EA63E33A2D8}" type="pres">
      <dgm:prSet presAssocID="{257F4B59-B38D-4579-854E-C7A0276C39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808968-D2F7-41D9-977D-7442169E69A7}" type="pres">
      <dgm:prSet presAssocID="{D642FD34-4DEA-43F5-998D-87F14721F911}" presName="hierRoot1" presStyleCnt="0"/>
      <dgm:spPr/>
    </dgm:pt>
    <dgm:pt modelId="{974CD667-8AAD-4E08-B61E-251A8388E36A}" type="pres">
      <dgm:prSet presAssocID="{D642FD34-4DEA-43F5-998D-87F14721F911}" presName="composite" presStyleCnt="0"/>
      <dgm:spPr/>
    </dgm:pt>
    <dgm:pt modelId="{E8E931CA-8C07-482E-B340-07B0C2370016}" type="pres">
      <dgm:prSet presAssocID="{D642FD34-4DEA-43F5-998D-87F14721F911}" presName="background" presStyleLbl="node0" presStyleIdx="0" presStyleCnt="5"/>
      <dgm:spPr/>
    </dgm:pt>
    <dgm:pt modelId="{B53B66F6-8C78-4E21-BD0C-A557DCC1A9C7}" type="pres">
      <dgm:prSet presAssocID="{D642FD34-4DEA-43F5-998D-87F14721F911}" presName="text" presStyleLbl="fgAcc0" presStyleIdx="0" presStyleCnt="5">
        <dgm:presLayoutVars>
          <dgm:chPref val="3"/>
        </dgm:presLayoutVars>
      </dgm:prSet>
      <dgm:spPr/>
    </dgm:pt>
    <dgm:pt modelId="{2C26A3E8-7FBC-430A-B903-98A912330697}" type="pres">
      <dgm:prSet presAssocID="{D642FD34-4DEA-43F5-998D-87F14721F911}" presName="hierChild2" presStyleCnt="0"/>
      <dgm:spPr/>
    </dgm:pt>
    <dgm:pt modelId="{B0B32094-70F3-4F61-87B8-B97C1324F84A}" type="pres">
      <dgm:prSet presAssocID="{5E594787-8357-4218-B750-1FF11826CF4C}" presName="hierRoot1" presStyleCnt="0"/>
      <dgm:spPr/>
    </dgm:pt>
    <dgm:pt modelId="{AAB36E1C-A8E8-4309-BFC4-BB69E220321D}" type="pres">
      <dgm:prSet presAssocID="{5E594787-8357-4218-B750-1FF11826CF4C}" presName="composite" presStyleCnt="0"/>
      <dgm:spPr/>
    </dgm:pt>
    <dgm:pt modelId="{7885C2D3-62C3-493C-ABE9-88CD6B5471D1}" type="pres">
      <dgm:prSet presAssocID="{5E594787-8357-4218-B750-1FF11826CF4C}" presName="background" presStyleLbl="node0" presStyleIdx="1" presStyleCnt="5"/>
      <dgm:spPr/>
    </dgm:pt>
    <dgm:pt modelId="{7D415E06-F334-4FBD-8088-2B363F89B148}" type="pres">
      <dgm:prSet presAssocID="{5E594787-8357-4218-B750-1FF11826CF4C}" presName="text" presStyleLbl="fgAcc0" presStyleIdx="1" presStyleCnt="5">
        <dgm:presLayoutVars>
          <dgm:chPref val="3"/>
        </dgm:presLayoutVars>
      </dgm:prSet>
      <dgm:spPr/>
    </dgm:pt>
    <dgm:pt modelId="{F143E06A-B07E-47E3-843D-E7D595081080}" type="pres">
      <dgm:prSet presAssocID="{5E594787-8357-4218-B750-1FF11826CF4C}" presName="hierChild2" presStyleCnt="0"/>
      <dgm:spPr/>
    </dgm:pt>
    <dgm:pt modelId="{52297FE9-19F7-4C3B-A19C-85B4CF2D1625}" type="pres">
      <dgm:prSet presAssocID="{E33FDE28-09B4-4AF8-BF1B-56595B7EFE71}" presName="hierRoot1" presStyleCnt="0"/>
      <dgm:spPr/>
    </dgm:pt>
    <dgm:pt modelId="{41AD8FB6-1F9A-4250-94E0-F0500B8DFDDC}" type="pres">
      <dgm:prSet presAssocID="{E33FDE28-09B4-4AF8-BF1B-56595B7EFE71}" presName="composite" presStyleCnt="0"/>
      <dgm:spPr/>
    </dgm:pt>
    <dgm:pt modelId="{8F3B6A54-E43E-456B-937D-A25056651B7D}" type="pres">
      <dgm:prSet presAssocID="{E33FDE28-09B4-4AF8-BF1B-56595B7EFE71}" presName="background" presStyleLbl="node0" presStyleIdx="2" presStyleCnt="5"/>
      <dgm:spPr/>
    </dgm:pt>
    <dgm:pt modelId="{2174EFED-DD1B-45E8-88EC-8E0E48F070CE}" type="pres">
      <dgm:prSet presAssocID="{E33FDE28-09B4-4AF8-BF1B-56595B7EFE71}" presName="text" presStyleLbl="fgAcc0" presStyleIdx="2" presStyleCnt="5">
        <dgm:presLayoutVars>
          <dgm:chPref val="3"/>
        </dgm:presLayoutVars>
      </dgm:prSet>
      <dgm:spPr/>
    </dgm:pt>
    <dgm:pt modelId="{7B1B8C3A-0C8D-4AFC-88B4-2A7AD64C027A}" type="pres">
      <dgm:prSet presAssocID="{E33FDE28-09B4-4AF8-BF1B-56595B7EFE71}" presName="hierChild2" presStyleCnt="0"/>
      <dgm:spPr/>
    </dgm:pt>
    <dgm:pt modelId="{AB8C5EE0-AC03-4B39-B7BC-471A1F34B02D}" type="pres">
      <dgm:prSet presAssocID="{981CF89F-D0C6-4414-8D4A-50EF652B7DF7}" presName="hierRoot1" presStyleCnt="0"/>
      <dgm:spPr/>
    </dgm:pt>
    <dgm:pt modelId="{5B111530-E2AB-4881-A3C0-F5D23C605504}" type="pres">
      <dgm:prSet presAssocID="{981CF89F-D0C6-4414-8D4A-50EF652B7DF7}" presName="composite" presStyleCnt="0"/>
      <dgm:spPr/>
    </dgm:pt>
    <dgm:pt modelId="{76BBB3B3-2BED-4961-9D6A-DC0678F36E79}" type="pres">
      <dgm:prSet presAssocID="{981CF89F-D0C6-4414-8D4A-50EF652B7DF7}" presName="background" presStyleLbl="node0" presStyleIdx="3" presStyleCnt="5"/>
      <dgm:spPr/>
    </dgm:pt>
    <dgm:pt modelId="{5B3A2A17-32F4-4E4B-9099-860B9EAC0658}" type="pres">
      <dgm:prSet presAssocID="{981CF89F-D0C6-4414-8D4A-50EF652B7DF7}" presName="text" presStyleLbl="fgAcc0" presStyleIdx="3" presStyleCnt="5">
        <dgm:presLayoutVars>
          <dgm:chPref val="3"/>
        </dgm:presLayoutVars>
      </dgm:prSet>
      <dgm:spPr/>
    </dgm:pt>
    <dgm:pt modelId="{1B241EC9-47AE-458F-8483-E180D0978C01}" type="pres">
      <dgm:prSet presAssocID="{981CF89F-D0C6-4414-8D4A-50EF652B7DF7}" presName="hierChild2" presStyleCnt="0"/>
      <dgm:spPr/>
    </dgm:pt>
    <dgm:pt modelId="{C038606F-54FA-4559-A7CC-B81A29BBF34D}" type="pres">
      <dgm:prSet presAssocID="{071C8717-A35B-4333-91AC-CBF417590454}" presName="hierRoot1" presStyleCnt="0"/>
      <dgm:spPr/>
    </dgm:pt>
    <dgm:pt modelId="{EB36F2E8-72BA-40CB-99FD-A4959843CC51}" type="pres">
      <dgm:prSet presAssocID="{071C8717-A35B-4333-91AC-CBF417590454}" presName="composite" presStyleCnt="0"/>
      <dgm:spPr/>
    </dgm:pt>
    <dgm:pt modelId="{63AD0E79-1D70-42E1-BAD9-B25A42CE3834}" type="pres">
      <dgm:prSet presAssocID="{071C8717-A35B-4333-91AC-CBF417590454}" presName="background" presStyleLbl="node0" presStyleIdx="4" presStyleCnt="5"/>
      <dgm:spPr/>
    </dgm:pt>
    <dgm:pt modelId="{C0F22D1D-3321-4A43-8D29-7FB32DA2B8D3}" type="pres">
      <dgm:prSet presAssocID="{071C8717-A35B-4333-91AC-CBF417590454}" presName="text" presStyleLbl="fgAcc0" presStyleIdx="4" presStyleCnt="5" custLinFactX="-17864" custLinFactY="44183" custLinFactNeighborX="-100000" custLinFactNeighborY="100000">
        <dgm:presLayoutVars>
          <dgm:chPref val="3"/>
        </dgm:presLayoutVars>
      </dgm:prSet>
      <dgm:spPr/>
    </dgm:pt>
    <dgm:pt modelId="{B2FE550C-62F3-4ED8-B194-770832E5FA13}" type="pres">
      <dgm:prSet presAssocID="{071C8717-A35B-4333-91AC-CBF417590454}" presName="hierChild2" presStyleCnt="0"/>
      <dgm:spPr/>
    </dgm:pt>
  </dgm:ptLst>
  <dgm:cxnLst>
    <dgm:cxn modelId="{C7355300-069E-4F3F-88EC-3A623CE21E3C}" type="presOf" srcId="{E33FDE28-09B4-4AF8-BF1B-56595B7EFE71}" destId="{2174EFED-DD1B-45E8-88EC-8E0E48F070CE}" srcOrd="0" destOrd="0" presId="urn:microsoft.com/office/officeart/2005/8/layout/hierarchy1"/>
    <dgm:cxn modelId="{D02CD111-4AF7-4E76-9690-EBC8C3F49DDF}" srcId="{257F4B59-B38D-4579-854E-C7A0276C3967}" destId="{981CF89F-D0C6-4414-8D4A-50EF652B7DF7}" srcOrd="3" destOrd="0" parTransId="{EC77E9A0-00C9-468F-BE1E-2BD664959162}" sibTransId="{EEB26DC5-A31A-4BBF-8429-C07E14ABCB86}"/>
    <dgm:cxn modelId="{5C34A32C-76E6-4214-91E0-B0E13C056516}" type="presOf" srcId="{5E594787-8357-4218-B750-1FF11826CF4C}" destId="{7D415E06-F334-4FBD-8088-2B363F89B148}" srcOrd="0" destOrd="0" presId="urn:microsoft.com/office/officeart/2005/8/layout/hierarchy1"/>
    <dgm:cxn modelId="{269E8F6C-5F61-4379-B7B7-D901F23644C3}" type="presOf" srcId="{071C8717-A35B-4333-91AC-CBF417590454}" destId="{C0F22D1D-3321-4A43-8D29-7FB32DA2B8D3}" srcOrd="0" destOrd="0" presId="urn:microsoft.com/office/officeart/2005/8/layout/hierarchy1"/>
    <dgm:cxn modelId="{DD20F474-8C66-4E72-95AB-3DF6131EB368}" srcId="{257F4B59-B38D-4579-854E-C7A0276C3967}" destId="{071C8717-A35B-4333-91AC-CBF417590454}" srcOrd="4" destOrd="0" parTransId="{8668002C-F401-430E-87E3-E6A6F1D48D1A}" sibTransId="{C8334A3C-52F0-4999-824D-C9A1048E958C}"/>
    <dgm:cxn modelId="{F72CDB79-26E5-4FFF-9020-5DCE44408FE6}" srcId="{257F4B59-B38D-4579-854E-C7A0276C3967}" destId="{E33FDE28-09B4-4AF8-BF1B-56595B7EFE71}" srcOrd="2" destOrd="0" parTransId="{FD371C95-0BA1-4370-9C06-326FA28792D7}" sibTransId="{541365CE-D1CB-4BD4-AEAC-FA5FD888CED2}"/>
    <dgm:cxn modelId="{DABFF097-826A-4019-85F0-193D8D0D32E6}" srcId="{257F4B59-B38D-4579-854E-C7A0276C3967}" destId="{5E594787-8357-4218-B750-1FF11826CF4C}" srcOrd="1" destOrd="0" parTransId="{03F323E3-2781-423A-A217-D832277E653D}" sibTransId="{D4D28453-804E-4060-8CDB-B487C1C1EE7B}"/>
    <dgm:cxn modelId="{692F14AF-A7F4-4818-A870-85F8B65C5551}" srcId="{257F4B59-B38D-4579-854E-C7A0276C3967}" destId="{D642FD34-4DEA-43F5-998D-87F14721F911}" srcOrd="0" destOrd="0" parTransId="{12F821F7-6F7A-4339-AF75-41DA185948D0}" sibTransId="{93540E35-4D01-4FC4-9095-729C3A1C7563}"/>
    <dgm:cxn modelId="{C646E4EE-E11C-4ED2-8B1E-A3EA0A04C702}" type="presOf" srcId="{D642FD34-4DEA-43F5-998D-87F14721F911}" destId="{B53B66F6-8C78-4E21-BD0C-A557DCC1A9C7}" srcOrd="0" destOrd="0" presId="urn:microsoft.com/office/officeart/2005/8/layout/hierarchy1"/>
    <dgm:cxn modelId="{70A91EF5-1F3D-41B6-92EC-45A6C40AD28B}" type="presOf" srcId="{981CF89F-D0C6-4414-8D4A-50EF652B7DF7}" destId="{5B3A2A17-32F4-4E4B-9099-860B9EAC0658}" srcOrd="0" destOrd="0" presId="urn:microsoft.com/office/officeart/2005/8/layout/hierarchy1"/>
    <dgm:cxn modelId="{D61D78F7-B848-4126-AF36-3152DF23653F}" type="presOf" srcId="{257F4B59-B38D-4579-854E-C7A0276C3967}" destId="{5CF9F005-2B45-4F46-AEF8-4EA63E33A2D8}" srcOrd="0" destOrd="0" presId="urn:microsoft.com/office/officeart/2005/8/layout/hierarchy1"/>
    <dgm:cxn modelId="{0198A089-CD0B-46AA-819E-B455B75CF846}" type="presParOf" srcId="{5CF9F005-2B45-4F46-AEF8-4EA63E33A2D8}" destId="{99808968-D2F7-41D9-977D-7442169E69A7}" srcOrd="0" destOrd="0" presId="urn:microsoft.com/office/officeart/2005/8/layout/hierarchy1"/>
    <dgm:cxn modelId="{159FAAEC-2384-4608-8FC2-09E5BE095AF2}" type="presParOf" srcId="{99808968-D2F7-41D9-977D-7442169E69A7}" destId="{974CD667-8AAD-4E08-B61E-251A8388E36A}" srcOrd="0" destOrd="0" presId="urn:microsoft.com/office/officeart/2005/8/layout/hierarchy1"/>
    <dgm:cxn modelId="{F1A130C3-B2CE-4BFD-9D59-9458E7F2A816}" type="presParOf" srcId="{974CD667-8AAD-4E08-B61E-251A8388E36A}" destId="{E8E931CA-8C07-482E-B340-07B0C2370016}" srcOrd="0" destOrd="0" presId="urn:microsoft.com/office/officeart/2005/8/layout/hierarchy1"/>
    <dgm:cxn modelId="{3289EA3F-D4AC-40E4-9BA1-B609948725CC}" type="presParOf" srcId="{974CD667-8AAD-4E08-B61E-251A8388E36A}" destId="{B53B66F6-8C78-4E21-BD0C-A557DCC1A9C7}" srcOrd="1" destOrd="0" presId="urn:microsoft.com/office/officeart/2005/8/layout/hierarchy1"/>
    <dgm:cxn modelId="{C5FA993C-1B36-4D9F-9A58-85814CB5C6EB}" type="presParOf" srcId="{99808968-D2F7-41D9-977D-7442169E69A7}" destId="{2C26A3E8-7FBC-430A-B903-98A912330697}" srcOrd="1" destOrd="0" presId="urn:microsoft.com/office/officeart/2005/8/layout/hierarchy1"/>
    <dgm:cxn modelId="{078E1B16-D19E-4354-BAA4-8DE23F25EC12}" type="presParOf" srcId="{5CF9F005-2B45-4F46-AEF8-4EA63E33A2D8}" destId="{B0B32094-70F3-4F61-87B8-B97C1324F84A}" srcOrd="1" destOrd="0" presId="urn:microsoft.com/office/officeart/2005/8/layout/hierarchy1"/>
    <dgm:cxn modelId="{97CCE1A3-949C-48BB-9280-5B21D5020B49}" type="presParOf" srcId="{B0B32094-70F3-4F61-87B8-B97C1324F84A}" destId="{AAB36E1C-A8E8-4309-BFC4-BB69E220321D}" srcOrd="0" destOrd="0" presId="urn:microsoft.com/office/officeart/2005/8/layout/hierarchy1"/>
    <dgm:cxn modelId="{C68458E8-1054-427C-B157-7DC33DDBB465}" type="presParOf" srcId="{AAB36E1C-A8E8-4309-BFC4-BB69E220321D}" destId="{7885C2D3-62C3-493C-ABE9-88CD6B5471D1}" srcOrd="0" destOrd="0" presId="urn:microsoft.com/office/officeart/2005/8/layout/hierarchy1"/>
    <dgm:cxn modelId="{CDBB45B3-7113-4C07-A8D0-26B7A610E126}" type="presParOf" srcId="{AAB36E1C-A8E8-4309-BFC4-BB69E220321D}" destId="{7D415E06-F334-4FBD-8088-2B363F89B148}" srcOrd="1" destOrd="0" presId="urn:microsoft.com/office/officeart/2005/8/layout/hierarchy1"/>
    <dgm:cxn modelId="{7FAECBD3-A46A-404C-B72D-366D86470B54}" type="presParOf" srcId="{B0B32094-70F3-4F61-87B8-B97C1324F84A}" destId="{F143E06A-B07E-47E3-843D-E7D595081080}" srcOrd="1" destOrd="0" presId="urn:microsoft.com/office/officeart/2005/8/layout/hierarchy1"/>
    <dgm:cxn modelId="{06F4DB07-4CAA-4348-9CF4-B25746CE8D7D}" type="presParOf" srcId="{5CF9F005-2B45-4F46-AEF8-4EA63E33A2D8}" destId="{52297FE9-19F7-4C3B-A19C-85B4CF2D1625}" srcOrd="2" destOrd="0" presId="urn:microsoft.com/office/officeart/2005/8/layout/hierarchy1"/>
    <dgm:cxn modelId="{29A7AAB2-A1C6-4DA3-B086-9DFFA4106C98}" type="presParOf" srcId="{52297FE9-19F7-4C3B-A19C-85B4CF2D1625}" destId="{41AD8FB6-1F9A-4250-94E0-F0500B8DFDDC}" srcOrd="0" destOrd="0" presId="urn:microsoft.com/office/officeart/2005/8/layout/hierarchy1"/>
    <dgm:cxn modelId="{63B02FDF-3EE3-4964-9903-80C9272DD558}" type="presParOf" srcId="{41AD8FB6-1F9A-4250-94E0-F0500B8DFDDC}" destId="{8F3B6A54-E43E-456B-937D-A25056651B7D}" srcOrd="0" destOrd="0" presId="urn:microsoft.com/office/officeart/2005/8/layout/hierarchy1"/>
    <dgm:cxn modelId="{51D1BC8B-6002-4E03-A92E-361FA8A313CD}" type="presParOf" srcId="{41AD8FB6-1F9A-4250-94E0-F0500B8DFDDC}" destId="{2174EFED-DD1B-45E8-88EC-8E0E48F070CE}" srcOrd="1" destOrd="0" presId="urn:microsoft.com/office/officeart/2005/8/layout/hierarchy1"/>
    <dgm:cxn modelId="{71F4E4CA-7219-41EE-ADAE-B675A233D63F}" type="presParOf" srcId="{52297FE9-19F7-4C3B-A19C-85B4CF2D1625}" destId="{7B1B8C3A-0C8D-4AFC-88B4-2A7AD64C027A}" srcOrd="1" destOrd="0" presId="urn:microsoft.com/office/officeart/2005/8/layout/hierarchy1"/>
    <dgm:cxn modelId="{C228AD69-6754-49B7-828C-4BBDEFFDFCCB}" type="presParOf" srcId="{5CF9F005-2B45-4F46-AEF8-4EA63E33A2D8}" destId="{AB8C5EE0-AC03-4B39-B7BC-471A1F34B02D}" srcOrd="3" destOrd="0" presId="urn:microsoft.com/office/officeart/2005/8/layout/hierarchy1"/>
    <dgm:cxn modelId="{E484473A-A12A-4D61-BC52-E1D7F2BD3CAA}" type="presParOf" srcId="{AB8C5EE0-AC03-4B39-B7BC-471A1F34B02D}" destId="{5B111530-E2AB-4881-A3C0-F5D23C605504}" srcOrd="0" destOrd="0" presId="urn:microsoft.com/office/officeart/2005/8/layout/hierarchy1"/>
    <dgm:cxn modelId="{2E0154BA-7B02-4672-AD51-E556EA0A6C4D}" type="presParOf" srcId="{5B111530-E2AB-4881-A3C0-F5D23C605504}" destId="{76BBB3B3-2BED-4961-9D6A-DC0678F36E79}" srcOrd="0" destOrd="0" presId="urn:microsoft.com/office/officeart/2005/8/layout/hierarchy1"/>
    <dgm:cxn modelId="{E18BF6FD-0625-4B84-9FA9-E16549B4B422}" type="presParOf" srcId="{5B111530-E2AB-4881-A3C0-F5D23C605504}" destId="{5B3A2A17-32F4-4E4B-9099-860B9EAC0658}" srcOrd="1" destOrd="0" presId="urn:microsoft.com/office/officeart/2005/8/layout/hierarchy1"/>
    <dgm:cxn modelId="{AE8645F8-9D6F-49F9-BACA-BB6BF5224598}" type="presParOf" srcId="{AB8C5EE0-AC03-4B39-B7BC-471A1F34B02D}" destId="{1B241EC9-47AE-458F-8483-E180D0978C01}" srcOrd="1" destOrd="0" presId="urn:microsoft.com/office/officeart/2005/8/layout/hierarchy1"/>
    <dgm:cxn modelId="{54D329F5-3883-4C24-88F4-BA6752B6A305}" type="presParOf" srcId="{5CF9F005-2B45-4F46-AEF8-4EA63E33A2D8}" destId="{C038606F-54FA-4559-A7CC-B81A29BBF34D}" srcOrd="4" destOrd="0" presId="urn:microsoft.com/office/officeart/2005/8/layout/hierarchy1"/>
    <dgm:cxn modelId="{13617E7C-C691-4BDA-9657-B8F678135B4A}" type="presParOf" srcId="{C038606F-54FA-4559-A7CC-B81A29BBF34D}" destId="{EB36F2E8-72BA-40CB-99FD-A4959843CC51}" srcOrd="0" destOrd="0" presId="urn:microsoft.com/office/officeart/2005/8/layout/hierarchy1"/>
    <dgm:cxn modelId="{F647A635-8FC2-4633-8086-740A8229983B}" type="presParOf" srcId="{EB36F2E8-72BA-40CB-99FD-A4959843CC51}" destId="{63AD0E79-1D70-42E1-BAD9-B25A42CE3834}" srcOrd="0" destOrd="0" presId="urn:microsoft.com/office/officeart/2005/8/layout/hierarchy1"/>
    <dgm:cxn modelId="{DB8BDCC5-DCBF-40E9-9433-97DB9BAB461D}" type="presParOf" srcId="{EB36F2E8-72BA-40CB-99FD-A4959843CC51}" destId="{C0F22D1D-3321-4A43-8D29-7FB32DA2B8D3}" srcOrd="1" destOrd="0" presId="urn:microsoft.com/office/officeart/2005/8/layout/hierarchy1"/>
    <dgm:cxn modelId="{31109D50-58AB-4E32-AE60-0459214FE2F3}" type="presParOf" srcId="{C038606F-54FA-4559-A7CC-B81A29BBF34D}" destId="{B2FE550C-62F3-4ED8-B194-770832E5FA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3197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56890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quantitative</a:t>
          </a:r>
          <a:endParaRPr lang="en-US" sz="2000" kern="1200" dirty="0"/>
        </a:p>
      </dsp:txBody>
      <dsp:txXfrm>
        <a:off x="299355" y="1350834"/>
        <a:ext cx="2198308" cy="1364926"/>
      </dsp:txXfrm>
    </dsp:sp>
    <dsp:sp modelId="{7885C2D3-62C3-493C-ABE9-88CD6B5471D1}">
      <dsp:nvSpPr>
        <dsp:cNvPr id="0" name=""/>
        <dsp:cNvSpPr/>
      </dsp:nvSpPr>
      <dsp:spPr>
        <a:xfrm>
          <a:off x="2793822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3047515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Conclusion quantitative</a:t>
          </a:r>
          <a:endParaRPr lang="en-US" sz="2000" kern="1200" dirty="0"/>
        </a:p>
      </dsp:txBody>
      <dsp:txXfrm>
        <a:off x="3089980" y="1350834"/>
        <a:ext cx="2198308" cy="1364926"/>
      </dsp:txXfrm>
    </dsp:sp>
    <dsp:sp modelId="{8F3B6A54-E43E-456B-937D-A25056651B7D}">
      <dsp:nvSpPr>
        <dsp:cNvPr id="0" name=""/>
        <dsp:cNvSpPr/>
      </dsp:nvSpPr>
      <dsp:spPr>
        <a:xfrm>
          <a:off x="5584446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838139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qualitative </a:t>
          </a:r>
          <a:endParaRPr lang="en-US" sz="2000" kern="1200" dirty="0"/>
        </a:p>
      </dsp:txBody>
      <dsp:txXfrm>
        <a:off x="5880604" y="1350834"/>
        <a:ext cx="2198308" cy="1364926"/>
      </dsp:txXfrm>
    </dsp:sp>
    <dsp:sp modelId="{76BBB3B3-2BED-4961-9D6A-DC0678F36E79}">
      <dsp:nvSpPr>
        <dsp:cNvPr id="0" name=""/>
        <dsp:cNvSpPr/>
      </dsp:nvSpPr>
      <dsp:spPr>
        <a:xfrm>
          <a:off x="8375070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628764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Recommandation</a:t>
          </a:r>
          <a:endParaRPr lang="en-US" sz="2000" kern="1200" dirty="0"/>
        </a:p>
      </dsp:txBody>
      <dsp:txXfrm>
        <a:off x="8671229" y="1350834"/>
        <a:ext cx="2198308" cy="13649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3197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56890" y="1308369"/>
          <a:ext cx="2283238" cy="144985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quantitative</a:t>
          </a:r>
          <a:endParaRPr lang="en-US" sz="2000" kern="1200" dirty="0"/>
        </a:p>
      </dsp:txBody>
      <dsp:txXfrm>
        <a:off x="299355" y="1350834"/>
        <a:ext cx="2198308" cy="1364926"/>
      </dsp:txXfrm>
    </dsp:sp>
    <dsp:sp modelId="{7885C2D3-62C3-493C-ABE9-88CD6B5471D1}">
      <dsp:nvSpPr>
        <dsp:cNvPr id="0" name=""/>
        <dsp:cNvSpPr/>
      </dsp:nvSpPr>
      <dsp:spPr>
        <a:xfrm>
          <a:off x="2793822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3047515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Conclusion quantitative</a:t>
          </a:r>
          <a:endParaRPr lang="en-US" sz="2000" kern="1200" dirty="0"/>
        </a:p>
      </dsp:txBody>
      <dsp:txXfrm>
        <a:off x="3089980" y="1350834"/>
        <a:ext cx="2198308" cy="1364926"/>
      </dsp:txXfrm>
    </dsp:sp>
    <dsp:sp modelId="{8F3B6A54-E43E-456B-937D-A25056651B7D}">
      <dsp:nvSpPr>
        <dsp:cNvPr id="0" name=""/>
        <dsp:cNvSpPr/>
      </dsp:nvSpPr>
      <dsp:spPr>
        <a:xfrm>
          <a:off x="5584446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838139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qualitative </a:t>
          </a:r>
          <a:endParaRPr lang="en-US" sz="2000" kern="1200" dirty="0"/>
        </a:p>
      </dsp:txBody>
      <dsp:txXfrm>
        <a:off x="5880604" y="1350834"/>
        <a:ext cx="2198308" cy="1364926"/>
      </dsp:txXfrm>
    </dsp:sp>
    <dsp:sp modelId="{76BBB3B3-2BED-4961-9D6A-DC0678F36E79}">
      <dsp:nvSpPr>
        <dsp:cNvPr id="0" name=""/>
        <dsp:cNvSpPr/>
      </dsp:nvSpPr>
      <dsp:spPr>
        <a:xfrm>
          <a:off x="8375070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628764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Recommandation</a:t>
          </a:r>
          <a:endParaRPr lang="en-US" sz="2000" kern="1200" dirty="0"/>
        </a:p>
      </dsp:txBody>
      <dsp:txXfrm>
        <a:off x="8671229" y="1350834"/>
        <a:ext cx="2198308" cy="13649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7D9AF-FA01-4485-A08C-A0B57A48E88F}">
      <dsp:nvSpPr>
        <dsp:cNvPr id="0" name=""/>
        <dsp:cNvSpPr/>
      </dsp:nvSpPr>
      <dsp:spPr>
        <a:xfrm>
          <a:off x="0" y="47573"/>
          <a:ext cx="9280478" cy="767520"/>
        </a:xfrm>
        <a:prstGeom prst="roundRect">
          <a:avLst/>
        </a:prstGeom>
        <a:solidFill>
          <a:srgbClr val="009FD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Investissement</a:t>
          </a:r>
          <a:r>
            <a:rPr lang="fr-CA" sz="2400" kern="1200" dirty="0"/>
            <a:t> initial				</a:t>
          </a:r>
        </a:p>
      </dsp:txBody>
      <dsp:txXfrm>
        <a:off x="37467" y="85040"/>
        <a:ext cx="9205544" cy="692586"/>
      </dsp:txXfrm>
    </dsp:sp>
    <dsp:sp modelId="{22456DEE-A69E-41D1-9AC5-9615E16A092A}">
      <dsp:nvSpPr>
        <dsp:cNvPr id="0" name=""/>
        <dsp:cNvSpPr/>
      </dsp:nvSpPr>
      <dsp:spPr>
        <a:xfrm>
          <a:off x="0" y="933173"/>
          <a:ext cx="928047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Flux monétaires différentiels </a:t>
          </a:r>
          <a:r>
            <a:rPr lang="fr-CA" sz="2400" b="1" kern="1200" dirty="0"/>
            <a:t>nets</a:t>
          </a:r>
          <a:r>
            <a:rPr lang="fr-CA" sz="2400" kern="1200" dirty="0"/>
            <a:t> périodiques			</a:t>
          </a:r>
        </a:p>
      </dsp:txBody>
      <dsp:txXfrm>
        <a:off x="37467" y="970640"/>
        <a:ext cx="9205544" cy="692586"/>
      </dsp:txXfrm>
    </dsp:sp>
    <dsp:sp modelId="{C9353CB6-6AAD-4641-9F26-1252CE869865}">
      <dsp:nvSpPr>
        <dsp:cNvPr id="0" name=""/>
        <dsp:cNvSpPr/>
      </dsp:nvSpPr>
      <dsp:spPr>
        <a:xfrm>
          <a:off x="0" y="1818773"/>
          <a:ext cx="928047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Économie d’</a:t>
          </a:r>
          <a:r>
            <a:rPr lang="fr-CA" sz="2400" b="1" kern="1200" dirty="0"/>
            <a:t>impôts</a:t>
          </a:r>
          <a:r>
            <a:rPr lang="fr-CA" sz="2400" kern="1200" dirty="0"/>
            <a:t> liée à la DPA 			</a:t>
          </a:r>
        </a:p>
      </dsp:txBody>
      <dsp:txXfrm>
        <a:off x="37467" y="1856240"/>
        <a:ext cx="9205544" cy="692586"/>
      </dsp:txXfrm>
    </dsp:sp>
    <dsp:sp modelId="{0D35F44E-907F-451B-A2AB-D9B6C2F0290A}">
      <dsp:nvSpPr>
        <dsp:cNvPr id="0" name=""/>
        <dsp:cNvSpPr/>
      </dsp:nvSpPr>
      <dsp:spPr>
        <a:xfrm>
          <a:off x="0" y="2704373"/>
          <a:ext cx="928047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Valeur résiduelle					</a:t>
          </a:r>
        </a:p>
      </dsp:txBody>
      <dsp:txXfrm>
        <a:off x="37467" y="2741840"/>
        <a:ext cx="9205544" cy="692586"/>
      </dsp:txXfrm>
    </dsp:sp>
    <dsp:sp modelId="{72784650-D643-43CA-943C-3328B172F5BD}">
      <dsp:nvSpPr>
        <dsp:cNvPr id="0" name=""/>
        <dsp:cNvSpPr/>
      </dsp:nvSpPr>
      <dsp:spPr>
        <a:xfrm>
          <a:off x="0" y="3589973"/>
          <a:ext cx="9280478" cy="767520"/>
        </a:xfrm>
        <a:prstGeom prst="roundRect">
          <a:avLst/>
        </a:prstGeom>
        <a:solidFill>
          <a:srgbClr val="009FD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Perte</a:t>
          </a:r>
          <a:r>
            <a:rPr lang="fr-CA" sz="2400" kern="1200" dirty="0"/>
            <a:t> d’économie </a:t>
          </a:r>
          <a:r>
            <a:rPr lang="fr-CA" sz="24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d’</a:t>
          </a:r>
          <a:r>
            <a:rPr lang="fr-CA" sz="2400" b="1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impôts</a:t>
          </a:r>
          <a:r>
            <a:rPr lang="fr-CA" sz="2400" kern="1200" dirty="0"/>
            <a:t> liée à la DPA</a:t>
          </a:r>
        </a:p>
      </dsp:txBody>
      <dsp:txXfrm>
        <a:off x="37467" y="3627440"/>
        <a:ext cx="9205544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3197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56890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Analyse quantitative</a:t>
          </a:r>
          <a:endParaRPr lang="en-US" sz="2000" kern="1200"/>
        </a:p>
      </dsp:txBody>
      <dsp:txXfrm>
        <a:off x="299355" y="1350834"/>
        <a:ext cx="2198308" cy="1364926"/>
      </dsp:txXfrm>
    </dsp:sp>
    <dsp:sp modelId="{7885C2D3-62C3-493C-ABE9-88CD6B5471D1}">
      <dsp:nvSpPr>
        <dsp:cNvPr id="0" name=""/>
        <dsp:cNvSpPr/>
      </dsp:nvSpPr>
      <dsp:spPr>
        <a:xfrm>
          <a:off x="2793822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3047515" y="1308369"/>
          <a:ext cx="2283238" cy="144985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Conclusion quantitative</a:t>
          </a:r>
          <a:endParaRPr lang="en-US" sz="2000" kern="1200"/>
        </a:p>
      </dsp:txBody>
      <dsp:txXfrm>
        <a:off x="3089980" y="1350834"/>
        <a:ext cx="2198308" cy="1364926"/>
      </dsp:txXfrm>
    </dsp:sp>
    <dsp:sp modelId="{8F3B6A54-E43E-456B-937D-A25056651B7D}">
      <dsp:nvSpPr>
        <dsp:cNvPr id="0" name=""/>
        <dsp:cNvSpPr/>
      </dsp:nvSpPr>
      <dsp:spPr>
        <a:xfrm>
          <a:off x="5584446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838139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Analyse qualitative </a:t>
          </a:r>
          <a:endParaRPr lang="en-US" sz="2000" kern="1200"/>
        </a:p>
      </dsp:txBody>
      <dsp:txXfrm>
        <a:off x="5880604" y="1350834"/>
        <a:ext cx="2198308" cy="1364926"/>
      </dsp:txXfrm>
    </dsp:sp>
    <dsp:sp modelId="{76BBB3B3-2BED-4961-9D6A-DC0678F36E79}">
      <dsp:nvSpPr>
        <dsp:cNvPr id="0" name=""/>
        <dsp:cNvSpPr/>
      </dsp:nvSpPr>
      <dsp:spPr>
        <a:xfrm>
          <a:off x="8375070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628764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Recommandation</a:t>
          </a:r>
          <a:endParaRPr lang="en-US" sz="2000" kern="1200"/>
        </a:p>
      </dsp:txBody>
      <dsp:txXfrm>
        <a:off x="8671229" y="1350834"/>
        <a:ext cx="2198308" cy="13649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3197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56890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Analyse quantitative</a:t>
          </a:r>
          <a:endParaRPr lang="en-US" sz="2000" kern="1200"/>
        </a:p>
      </dsp:txBody>
      <dsp:txXfrm>
        <a:off x="299355" y="1350834"/>
        <a:ext cx="2198308" cy="1364926"/>
      </dsp:txXfrm>
    </dsp:sp>
    <dsp:sp modelId="{7885C2D3-62C3-493C-ABE9-88CD6B5471D1}">
      <dsp:nvSpPr>
        <dsp:cNvPr id="0" name=""/>
        <dsp:cNvSpPr/>
      </dsp:nvSpPr>
      <dsp:spPr>
        <a:xfrm>
          <a:off x="2793822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3047515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Conclusion quantitative</a:t>
          </a:r>
          <a:endParaRPr lang="en-US" sz="2000" kern="1200"/>
        </a:p>
      </dsp:txBody>
      <dsp:txXfrm>
        <a:off x="3089980" y="1350834"/>
        <a:ext cx="2198308" cy="1364926"/>
      </dsp:txXfrm>
    </dsp:sp>
    <dsp:sp modelId="{8F3B6A54-E43E-456B-937D-A25056651B7D}">
      <dsp:nvSpPr>
        <dsp:cNvPr id="0" name=""/>
        <dsp:cNvSpPr/>
      </dsp:nvSpPr>
      <dsp:spPr>
        <a:xfrm>
          <a:off x="5584446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838139" y="1308369"/>
          <a:ext cx="2283238" cy="144985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Analyse qualitative </a:t>
          </a:r>
          <a:endParaRPr lang="en-US" sz="2000" kern="1200"/>
        </a:p>
      </dsp:txBody>
      <dsp:txXfrm>
        <a:off x="5880604" y="1350834"/>
        <a:ext cx="2198308" cy="1364926"/>
      </dsp:txXfrm>
    </dsp:sp>
    <dsp:sp modelId="{76BBB3B3-2BED-4961-9D6A-DC0678F36E79}">
      <dsp:nvSpPr>
        <dsp:cNvPr id="0" name=""/>
        <dsp:cNvSpPr/>
      </dsp:nvSpPr>
      <dsp:spPr>
        <a:xfrm>
          <a:off x="8375070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628764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Recommandation</a:t>
          </a:r>
          <a:endParaRPr lang="en-US" sz="2000" kern="1200"/>
        </a:p>
      </dsp:txBody>
      <dsp:txXfrm>
        <a:off x="8671229" y="1350834"/>
        <a:ext cx="2198308" cy="13649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A812E-EF48-4829-941B-CF91D886DD7C}">
      <dsp:nvSpPr>
        <dsp:cNvPr id="0" name=""/>
        <dsp:cNvSpPr/>
      </dsp:nvSpPr>
      <dsp:spPr>
        <a:xfrm>
          <a:off x="0" y="3324"/>
          <a:ext cx="5384800" cy="1235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Compatibilité Vision/Mission/Valeur </a:t>
          </a:r>
          <a:endParaRPr lang="en-US" sz="3200" kern="1200" dirty="0"/>
        </a:p>
      </dsp:txBody>
      <dsp:txXfrm>
        <a:off x="60313" y="63637"/>
        <a:ext cx="5264174" cy="1114894"/>
      </dsp:txXfrm>
    </dsp:sp>
    <dsp:sp modelId="{AD0A217E-88F1-4A9A-BB93-8E451AAC2E19}">
      <dsp:nvSpPr>
        <dsp:cNvPr id="0" name=""/>
        <dsp:cNvSpPr/>
      </dsp:nvSpPr>
      <dsp:spPr>
        <a:xfrm>
          <a:off x="0" y="1331004"/>
          <a:ext cx="5384800" cy="1235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Avantages </a:t>
          </a:r>
          <a:endParaRPr lang="en-US" sz="3200" kern="1200" dirty="0"/>
        </a:p>
      </dsp:txBody>
      <dsp:txXfrm>
        <a:off x="60313" y="1391317"/>
        <a:ext cx="5264174" cy="1114894"/>
      </dsp:txXfrm>
    </dsp:sp>
    <dsp:sp modelId="{9DC23841-C8A5-4711-A4F1-80B4FE022FD9}">
      <dsp:nvSpPr>
        <dsp:cNvPr id="0" name=""/>
        <dsp:cNvSpPr/>
      </dsp:nvSpPr>
      <dsp:spPr>
        <a:xfrm>
          <a:off x="0" y="2658684"/>
          <a:ext cx="5384800" cy="1235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Inconvénients </a:t>
          </a:r>
          <a:endParaRPr lang="en-US" sz="3200" kern="1200" dirty="0"/>
        </a:p>
      </dsp:txBody>
      <dsp:txXfrm>
        <a:off x="60313" y="2718997"/>
        <a:ext cx="5264174" cy="11148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3197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56890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quantitative</a:t>
          </a:r>
          <a:endParaRPr lang="en-US" sz="2000" kern="1200" dirty="0"/>
        </a:p>
      </dsp:txBody>
      <dsp:txXfrm>
        <a:off x="299355" y="1350834"/>
        <a:ext cx="2198308" cy="1364926"/>
      </dsp:txXfrm>
    </dsp:sp>
    <dsp:sp modelId="{7885C2D3-62C3-493C-ABE9-88CD6B5471D1}">
      <dsp:nvSpPr>
        <dsp:cNvPr id="0" name=""/>
        <dsp:cNvSpPr/>
      </dsp:nvSpPr>
      <dsp:spPr>
        <a:xfrm>
          <a:off x="2793822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3047515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Conclusion quantitative</a:t>
          </a:r>
          <a:endParaRPr lang="en-US" sz="2000" kern="1200" dirty="0"/>
        </a:p>
      </dsp:txBody>
      <dsp:txXfrm>
        <a:off x="3089980" y="1350834"/>
        <a:ext cx="2198308" cy="1364926"/>
      </dsp:txXfrm>
    </dsp:sp>
    <dsp:sp modelId="{8F3B6A54-E43E-456B-937D-A25056651B7D}">
      <dsp:nvSpPr>
        <dsp:cNvPr id="0" name=""/>
        <dsp:cNvSpPr/>
      </dsp:nvSpPr>
      <dsp:spPr>
        <a:xfrm>
          <a:off x="5584446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838139" y="1308369"/>
          <a:ext cx="2283238" cy="1449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Analyse qualitative </a:t>
          </a:r>
          <a:endParaRPr lang="en-US" sz="2000" kern="1200" dirty="0"/>
        </a:p>
      </dsp:txBody>
      <dsp:txXfrm>
        <a:off x="5880604" y="1350834"/>
        <a:ext cx="2198308" cy="1364926"/>
      </dsp:txXfrm>
    </dsp:sp>
    <dsp:sp modelId="{76BBB3B3-2BED-4961-9D6A-DC0678F36E79}">
      <dsp:nvSpPr>
        <dsp:cNvPr id="0" name=""/>
        <dsp:cNvSpPr/>
      </dsp:nvSpPr>
      <dsp:spPr>
        <a:xfrm>
          <a:off x="8375070" y="1067361"/>
          <a:ext cx="2283238" cy="1449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628764" y="1308369"/>
          <a:ext cx="2283238" cy="144985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Recommandation</a:t>
          </a:r>
          <a:endParaRPr lang="en-US" sz="2000" kern="1200" dirty="0"/>
        </a:p>
      </dsp:txBody>
      <dsp:txXfrm>
        <a:off x="8671229" y="1350834"/>
        <a:ext cx="2198308" cy="13649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1CA-8C07-482E-B340-07B0C2370016}">
      <dsp:nvSpPr>
        <dsp:cNvPr id="0" name=""/>
        <dsp:cNvSpPr/>
      </dsp:nvSpPr>
      <dsp:spPr>
        <a:xfrm>
          <a:off x="4478" y="1598139"/>
          <a:ext cx="2182277" cy="1385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B66F6-8C78-4E21-BD0C-A557DCC1A9C7}">
      <dsp:nvSpPr>
        <dsp:cNvPr id="0" name=""/>
        <dsp:cNvSpPr/>
      </dsp:nvSpPr>
      <dsp:spPr>
        <a:xfrm>
          <a:off x="246953" y="1828490"/>
          <a:ext cx="2182277" cy="1385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Analyse quantitative</a:t>
          </a:r>
          <a:endParaRPr lang="en-US" sz="1900" kern="1200" dirty="0"/>
        </a:p>
      </dsp:txBody>
      <dsp:txXfrm>
        <a:off x="287540" y="1869077"/>
        <a:ext cx="2101103" cy="1304572"/>
      </dsp:txXfrm>
    </dsp:sp>
    <dsp:sp modelId="{7885C2D3-62C3-493C-ABE9-88CD6B5471D1}">
      <dsp:nvSpPr>
        <dsp:cNvPr id="0" name=""/>
        <dsp:cNvSpPr/>
      </dsp:nvSpPr>
      <dsp:spPr>
        <a:xfrm>
          <a:off x="2671706" y="1598139"/>
          <a:ext cx="2182277" cy="1385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5E06-F334-4FBD-8088-2B363F89B148}">
      <dsp:nvSpPr>
        <dsp:cNvPr id="0" name=""/>
        <dsp:cNvSpPr/>
      </dsp:nvSpPr>
      <dsp:spPr>
        <a:xfrm>
          <a:off x="2914181" y="1828490"/>
          <a:ext cx="2182277" cy="1385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Conclusion quantitative</a:t>
          </a:r>
          <a:endParaRPr lang="en-US" sz="1900" kern="1200" dirty="0"/>
        </a:p>
      </dsp:txBody>
      <dsp:txXfrm>
        <a:off x="2954768" y="1869077"/>
        <a:ext cx="2101103" cy="1304572"/>
      </dsp:txXfrm>
    </dsp:sp>
    <dsp:sp modelId="{8F3B6A54-E43E-456B-937D-A25056651B7D}">
      <dsp:nvSpPr>
        <dsp:cNvPr id="0" name=""/>
        <dsp:cNvSpPr/>
      </dsp:nvSpPr>
      <dsp:spPr>
        <a:xfrm>
          <a:off x="5338934" y="1598139"/>
          <a:ext cx="2182277" cy="1385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EFED-DD1B-45E8-88EC-8E0E48F070CE}">
      <dsp:nvSpPr>
        <dsp:cNvPr id="0" name=""/>
        <dsp:cNvSpPr/>
      </dsp:nvSpPr>
      <dsp:spPr>
        <a:xfrm>
          <a:off x="5581409" y="1828490"/>
          <a:ext cx="2182277" cy="1385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Analyse qualitative </a:t>
          </a:r>
          <a:endParaRPr lang="en-US" sz="1900" kern="1200" dirty="0"/>
        </a:p>
      </dsp:txBody>
      <dsp:txXfrm>
        <a:off x="5621996" y="1869077"/>
        <a:ext cx="2101103" cy="1304572"/>
      </dsp:txXfrm>
    </dsp:sp>
    <dsp:sp modelId="{76BBB3B3-2BED-4961-9D6A-DC0678F36E79}">
      <dsp:nvSpPr>
        <dsp:cNvPr id="0" name=""/>
        <dsp:cNvSpPr/>
      </dsp:nvSpPr>
      <dsp:spPr>
        <a:xfrm>
          <a:off x="8006162" y="1598139"/>
          <a:ext cx="2182277" cy="1385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A2A17-32F4-4E4B-9099-860B9EAC0658}">
      <dsp:nvSpPr>
        <dsp:cNvPr id="0" name=""/>
        <dsp:cNvSpPr/>
      </dsp:nvSpPr>
      <dsp:spPr>
        <a:xfrm>
          <a:off x="8248637" y="1828490"/>
          <a:ext cx="2182277" cy="138574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Recommandation</a:t>
          </a:r>
          <a:endParaRPr lang="en-US" sz="1900" kern="1200" dirty="0"/>
        </a:p>
      </dsp:txBody>
      <dsp:txXfrm>
        <a:off x="8289224" y="1869077"/>
        <a:ext cx="2101103" cy="1304572"/>
      </dsp:txXfrm>
    </dsp:sp>
    <dsp:sp modelId="{63AD0E79-1D70-42E1-BAD9-B25A42CE3834}">
      <dsp:nvSpPr>
        <dsp:cNvPr id="0" name=""/>
        <dsp:cNvSpPr/>
      </dsp:nvSpPr>
      <dsp:spPr>
        <a:xfrm>
          <a:off x="8101270" y="3196278"/>
          <a:ext cx="2182277" cy="1385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22D1D-3321-4A43-8D29-7FB32DA2B8D3}">
      <dsp:nvSpPr>
        <dsp:cNvPr id="0" name=""/>
        <dsp:cNvSpPr/>
      </dsp:nvSpPr>
      <dsp:spPr>
        <a:xfrm>
          <a:off x="8343745" y="3426629"/>
          <a:ext cx="2182277" cy="1385746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Conclusion</a:t>
          </a:r>
        </a:p>
      </dsp:txBody>
      <dsp:txXfrm>
        <a:off x="8384332" y="3467216"/>
        <a:ext cx="2101103" cy="1304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6434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14ACF90F-8CD0-48D0-B214-EE61CF43C26A}" type="datetimeFigureOut">
              <a:rPr lang="fr-CA" smtClean="0"/>
              <a:t>2025-02-13</a:t>
            </a:fld>
            <a:endParaRPr lang="fr-CA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fr-CA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8829968"/>
            <a:ext cx="3037840" cy="466433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1F2D47-FF76-4FB8-96DA-10C04CB97B9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926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Outil de prise de décision a long terme  </a:t>
            </a:r>
          </a:p>
          <a:p>
            <a:r>
              <a:rPr lang="fr-CA" dirty="0"/>
              <a:t>QCQR quantitative conclusion puis qualitative et recommandation </a:t>
            </a:r>
          </a:p>
          <a:p>
            <a:endParaRPr lang="fr-CA" dirty="0"/>
          </a:p>
          <a:p>
            <a:r>
              <a:rPr lang="fr-CA" dirty="0"/>
              <a:t>Les projets d’</a:t>
            </a:r>
            <a:r>
              <a:rPr lang="fr-CA" dirty="0" err="1"/>
              <a:t>investissment</a:t>
            </a:r>
            <a:r>
              <a:rPr lang="fr-CA" dirty="0"/>
              <a:t> sont sur et certain a l’EFC </a:t>
            </a:r>
          </a:p>
          <a:p>
            <a:r>
              <a:rPr lang="fr-CA" dirty="0"/>
              <a:t>Jour 1 l’impact des décision sur les EF de cette entreprise (relever l’impact des décisions sur les EF) </a:t>
            </a:r>
          </a:p>
          <a:p>
            <a:r>
              <a:rPr lang="fr-CA" dirty="0"/>
              <a:t>Les </a:t>
            </a:r>
            <a:r>
              <a:rPr lang="fr-CA" dirty="0" err="1"/>
              <a:t>decision</a:t>
            </a:r>
            <a:r>
              <a:rPr lang="fr-CA" dirty="0"/>
              <a:t> sont a CT et a LT attention a cela </a:t>
            </a:r>
          </a:p>
          <a:p>
            <a:r>
              <a:rPr lang="fr-CA" dirty="0"/>
              <a:t>Analyse des ratios est très importante attention il faut bien comprendre faire un excellent résumé une fois pour tous </a:t>
            </a:r>
          </a:p>
          <a:p>
            <a:r>
              <a:rPr lang="fr-CA" dirty="0"/>
              <a:t>Ration de l’</a:t>
            </a:r>
            <a:r>
              <a:rPr lang="fr-CA" dirty="0" err="1"/>
              <a:t>activité:délais</a:t>
            </a:r>
            <a:r>
              <a:rPr lang="fr-CA" dirty="0"/>
              <a:t> de </a:t>
            </a:r>
            <a:r>
              <a:rPr lang="fr-CA" dirty="0" err="1"/>
              <a:t>stocks,délais</a:t>
            </a:r>
            <a:r>
              <a:rPr lang="fr-CA" dirty="0"/>
              <a:t> des </a:t>
            </a:r>
            <a:r>
              <a:rPr lang="fr-CA" dirty="0" err="1"/>
              <a:t>clienté,délais</a:t>
            </a:r>
            <a:r>
              <a:rPr lang="fr-CA" dirty="0"/>
              <a:t> des fournisseur (donc combien de l’argent immobilisé donc votre argent est réparti comment) </a:t>
            </a:r>
          </a:p>
          <a:p>
            <a:r>
              <a:rPr lang="fr-CA" dirty="0"/>
              <a:t>Analyse </a:t>
            </a:r>
            <a:r>
              <a:rPr lang="fr-CA" dirty="0" err="1"/>
              <a:t>financiere</a:t>
            </a:r>
            <a:r>
              <a:rPr lang="fr-CA" dirty="0"/>
              <a:t> (environnement interne) pour voir ou se situe ton client </a:t>
            </a:r>
          </a:p>
          <a:p>
            <a:r>
              <a:rPr lang="fr-CA" dirty="0"/>
              <a:t>Poser un diagnostic pour ton client sur la base des trois famille (faire la comparaison par rapport a l’activité) utiliser les faits de cas donc c’est pas seulement de calcul et de comparaison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256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Rentabilité                              liquidité                              activité                                    solvabilité </a:t>
            </a:r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Il faut utiliser le mot diagnostique (est que c’est bien ou pas bien donc comme un médecin) il faut que sera comparer a une année ou bien a l’industrie toujours chiffrer le ratio et aussi la variation (chiffrer)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7888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Plus les flux sont </a:t>
            </a:r>
            <a:r>
              <a:rPr lang="fr-CA" dirty="0" err="1"/>
              <a:t>loins</a:t>
            </a:r>
            <a:r>
              <a:rPr lang="fr-CA" dirty="0"/>
              <a:t> dans le temps plus l’incertitude est grande 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8F12F-71BA-4C6C-BEB4-9AA581BF4BE9}" type="slidenum">
              <a:rPr lang="fr-CA" smtClean="0"/>
              <a:t>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78397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Lorsque on parle de la rentabilité on regarde premièrement le résultat puis les vente et les CMV soir le ratio de résultat brute </a:t>
            </a:r>
          </a:p>
          <a:p>
            <a:r>
              <a:rPr lang="fr-CA" dirty="0"/>
              <a:t>Analyse de rentabilité on parle de bénéfice </a:t>
            </a:r>
          </a:p>
          <a:p>
            <a:r>
              <a:rPr lang="fr-CA" dirty="0"/>
              <a:t>Pour l’actualisation sera actualisé en année 0</a:t>
            </a:r>
          </a:p>
          <a:p>
            <a:r>
              <a:rPr lang="fr-CA" dirty="0"/>
              <a:t>Soit pour les 75% de C qui sont passer en charge a 100% </a:t>
            </a:r>
          </a:p>
          <a:p>
            <a:r>
              <a:rPr lang="fr-CA" dirty="0"/>
              <a:t>Et aussi pour les 25% de C restant aussi on utilise la formule a l’année 0 </a:t>
            </a:r>
          </a:p>
          <a:p>
            <a:r>
              <a:rPr lang="fr-CA" dirty="0"/>
              <a:t>Attention il faut utiliser les résultats trouvés il faut les lier aux objectifs stratégique (donne lier FDT aux Rentabilité)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53715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Rentabilité                                                                    liquidité (argent disponible)                             Activité                                                      Solvabilité</a:t>
            </a:r>
          </a:p>
          <a:p>
            <a:r>
              <a:rPr lang="fr-CA" dirty="0"/>
              <a:t>Marge nette                                                                 FDR (comparer avec </a:t>
            </a:r>
            <a:r>
              <a:rPr lang="fr-CA" dirty="0" err="1"/>
              <a:t>industirie</a:t>
            </a:r>
            <a:r>
              <a:rPr lang="fr-CA" dirty="0"/>
              <a:t>)                         C/C                                                            P/A</a:t>
            </a:r>
          </a:p>
          <a:p>
            <a:r>
              <a:rPr lang="fr-CA" dirty="0"/>
              <a:t>Marge d’exploitation                                                    </a:t>
            </a:r>
          </a:p>
          <a:p>
            <a:r>
              <a:rPr lang="fr-CA" dirty="0"/>
              <a:t>Produit (Augmente)                                                     Flux de trésorerie                                               C/F                                                            Emprunt/CP</a:t>
            </a:r>
          </a:p>
          <a:p>
            <a:r>
              <a:rPr lang="fr-CA" dirty="0"/>
              <a:t>Charges en % des produit (structure des couts          (frais d’exploitation)                                            Stocks  tous ca avec la comparaison       Contrainte de la banque)</a:t>
            </a:r>
          </a:p>
          <a:p>
            <a:r>
              <a:rPr lang="fr-CA" dirty="0"/>
              <a:t>de l’</a:t>
            </a:r>
            <a:r>
              <a:rPr lang="fr-CA" dirty="0" err="1"/>
              <a:t>enteprise</a:t>
            </a:r>
            <a:r>
              <a:rPr lang="fr-CA" dirty="0"/>
              <a:t>)                                                                                                                                         avec l’industrie </a:t>
            </a:r>
          </a:p>
          <a:p>
            <a:r>
              <a:rPr lang="fr-CA" dirty="0"/>
              <a:t>Donc on se focalise sur le cout </a:t>
            </a:r>
          </a:p>
          <a:p>
            <a:r>
              <a:rPr lang="fr-CA" dirty="0"/>
              <a:t>Je vais prioriser les premier si je n’ai pas de </a:t>
            </a:r>
          </a:p>
          <a:p>
            <a:r>
              <a:rPr lang="fr-CA" dirty="0"/>
              <a:t>Temps ici on utilise marge d’</a:t>
            </a:r>
            <a:r>
              <a:rPr lang="fr-CA" dirty="0" err="1"/>
              <a:t>éxploitation</a:t>
            </a:r>
            <a:r>
              <a:rPr lang="fr-CA" dirty="0"/>
              <a:t> </a:t>
            </a:r>
          </a:p>
          <a:p>
            <a:r>
              <a:rPr lang="fr-CA" dirty="0"/>
              <a:t>Car y’a un objectif stratégique </a:t>
            </a:r>
          </a:p>
          <a:p>
            <a:endParaRPr lang="fr-CA" dirty="0"/>
          </a:p>
          <a:p>
            <a:r>
              <a:rPr lang="fr-CA" dirty="0"/>
              <a:t>Le TFT est L’EF le plus parlant </a:t>
            </a:r>
          </a:p>
          <a:p>
            <a:r>
              <a:rPr lang="fr-CA" dirty="0"/>
              <a:t>Faire toujours les comparaisons </a:t>
            </a:r>
          </a:p>
          <a:p>
            <a:r>
              <a:rPr lang="fr-CA" dirty="0"/>
              <a:t>Les flux liés aux activités d’</a:t>
            </a:r>
            <a:r>
              <a:rPr lang="fr-CA" dirty="0" err="1"/>
              <a:t>invistissement</a:t>
            </a:r>
            <a:r>
              <a:rPr lang="fr-CA" dirty="0"/>
              <a:t> </a:t>
            </a:r>
          </a:p>
          <a:p>
            <a:r>
              <a:rPr lang="fr-CA" dirty="0"/>
              <a:t>Activité de financement (utiliser les EF pour raconter ce qui est dans le cas) </a:t>
            </a:r>
          </a:p>
          <a:p>
            <a:r>
              <a:rPr lang="fr-CA" dirty="0"/>
              <a:t>Pour les FFOM il faut utiliser des phrase courtes mais C’est quoi leurs impact </a:t>
            </a:r>
          </a:p>
          <a:p>
            <a:r>
              <a:rPr lang="fr-CA" dirty="0"/>
              <a:t>Qu’est que nous rend mois beau que les autres joueurs 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01665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76C4CD-0A47-4F30-805F-7438E6D1EB3A}" type="slidenum">
              <a:rPr lang="fr-CA"/>
              <a:pPr/>
              <a:t>6</a:t>
            </a:fld>
            <a:endParaRPr lang="fr-CA" dirty="0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</a:t>
            </a:r>
            <a:r>
              <a:rPr lang="en-US" dirty="0" err="1"/>
              <a:t>utilise</a:t>
            </a:r>
            <a:r>
              <a:rPr lang="en-US" dirty="0"/>
              <a:t> la VAN pour les options </a:t>
            </a:r>
            <a:r>
              <a:rPr lang="en-US" dirty="0" err="1"/>
              <a:t>stratégique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39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0FE8A0-EE5C-402D-AD84-FA7B09E6F9FE}" type="slidenum">
              <a:rPr lang="fr-CA"/>
              <a:pPr/>
              <a:t>7</a:t>
            </a:fld>
            <a:endParaRPr lang="fr-CA" dirty="0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08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0FE8A0-EE5C-402D-AD84-FA7B09E6F9FE}" type="slidenum">
              <a:rPr lang="fr-CA"/>
              <a:pPr/>
              <a:t>8</a:t>
            </a:fld>
            <a:endParaRPr lang="fr-CA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Résultat</a:t>
            </a:r>
            <a:r>
              <a:rPr lang="en-US" dirty="0"/>
              <a:t> </a:t>
            </a:r>
            <a:r>
              <a:rPr lang="en-US" dirty="0" err="1"/>
              <a:t>ésperer</a:t>
            </a:r>
            <a:r>
              <a:rPr lang="en-US" dirty="0"/>
              <a:t> avec les </a:t>
            </a:r>
            <a:r>
              <a:rPr lang="en-US" dirty="0" err="1"/>
              <a:t>probabilité</a:t>
            </a:r>
            <a:endParaRPr lang="en-US" dirty="0"/>
          </a:p>
          <a:p>
            <a:r>
              <a:rPr lang="en-US" dirty="0" err="1"/>
              <a:t>Analyse</a:t>
            </a:r>
            <a:r>
              <a:rPr lang="en-US" dirty="0"/>
              <a:t> de </a:t>
            </a:r>
            <a:r>
              <a:rPr lang="en-US" dirty="0" err="1"/>
              <a:t>sensibilité</a:t>
            </a:r>
            <a:r>
              <a:rPr lang="en-US" dirty="0"/>
              <a:t> avec le </a:t>
            </a:r>
            <a:r>
              <a:rPr lang="en-US" dirty="0" err="1"/>
              <a:t>changament</a:t>
            </a:r>
            <a:r>
              <a:rPr lang="en-US" dirty="0"/>
              <a:t> des variables </a:t>
            </a:r>
            <a:r>
              <a:rPr lang="en-US" dirty="0" err="1"/>
              <a:t>puis</a:t>
            </a:r>
            <a:r>
              <a:rPr lang="en-US" dirty="0"/>
              <a:t> on verra </a:t>
            </a:r>
            <a:r>
              <a:rPr lang="en-US" dirty="0" err="1"/>
              <a:t>l’impact</a:t>
            </a:r>
            <a:r>
              <a:rPr lang="en-US" dirty="0"/>
              <a:t> sur le </a:t>
            </a:r>
            <a:r>
              <a:rPr lang="en-US" dirty="0" err="1"/>
              <a:t>résultat</a:t>
            </a:r>
            <a:r>
              <a:rPr lang="en-US" dirty="0"/>
              <a:t> final (PV </a:t>
            </a:r>
            <a:r>
              <a:rPr lang="en-US" dirty="0" err="1"/>
              <a:t>niveau</a:t>
            </a:r>
            <a:r>
              <a:rPr lang="en-US" dirty="0"/>
              <a:t> de production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c’est</a:t>
            </a:r>
            <a:r>
              <a:rPr lang="en-US" dirty="0"/>
              <a:t> facile avec Excel </a:t>
            </a:r>
            <a:r>
              <a:rPr lang="en-US" dirty="0" err="1"/>
              <a:t>donc</a:t>
            </a:r>
            <a:r>
              <a:rPr lang="en-US" dirty="0"/>
              <a:t> on fait la manipulation </a:t>
            </a:r>
            <a:r>
              <a:rPr lang="en-US" dirty="0" err="1"/>
              <a:t>afin</a:t>
            </a:r>
            <a:r>
              <a:rPr lang="en-US" dirty="0"/>
              <a:t> </a:t>
            </a:r>
            <a:r>
              <a:rPr lang="en-US" dirty="0" err="1"/>
              <a:t>d’avoir</a:t>
            </a:r>
            <a:r>
              <a:rPr lang="en-US" dirty="0"/>
              <a:t> un </a:t>
            </a:r>
            <a:r>
              <a:rPr lang="en-US" dirty="0" err="1"/>
              <a:t>montant</a:t>
            </a:r>
            <a:r>
              <a:rPr lang="en-US" dirty="0"/>
              <a:t> </a:t>
            </a:r>
            <a:r>
              <a:rPr lang="en-US" dirty="0" err="1"/>
              <a:t>souhaité</a:t>
            </a:r>
            <a:r>
              <a:rPr lang="en-US" dirty="0"/>
              <a:t> de la VAN </a:t>
            </a:r>
          </a:p>
          <a:p>
            <a:r>
              <a:rPr lang="en-US" dirty="0" err="1"/>
              <a:t>Analyse</a:t>
            </a:r>
            <a:r>
              <a:rPr lang="en-US" dirty="0"/>
              <a:t> par </a:t>
            </a:r>
            <a:r>
              <a:rPr lang="en-US" dirty="0" err="1"/>
              <a:t>scenario:Sénario</a:t>
            </a:r>
            <a:r>
              <a:rPr lang="en-US" dirty="0"/>
              <a:t> 1 et scenario 2 avec des variables </a:t>
            </a:r>
            <a:r>
              <a:rPr lang="en-US" dirty="0" err="1"/>
              <a:t>différentes</a:t>
            </a:r>
            <a:r>
              <a:rPr lang="en-US" dirty="0"/>
              <a:t> </a:t>
            </a:r>
          </a:p>
          <a:p>
            <a:r>
              <a:rPr lang="en-US" dirty="0" err="1"/>
              <a:t>Analyse</a:t>
            </a:r>
            <a:r>
              <a:rPr lang="en-US" dirty="0"/>
              <a:t> de </a:t>
            </a:r>
            <a:r>
              <a:rPr lang="en-US" dirty="0" err="1"/>
              <a:t>seuil</a:t>
            </a:r>
            <a:r>
              <a:rPr lang="en-US" dirty="0"/>
              <a:t> de </a:t>
            </a:r>
            <a:r>
              <a:rPr lang="en-US" dirty="0" err="1"/>
              <a:t>rentabilité</a:t>
            </a:r>
            <a:r>
              <a:rPr lang="en-US" dirty="0"/>
              <a:t> et de la marge de </a:t>
            </a:r>
            <a:r>
              <a:rPr lang="en-US" dirty="0" err="1"/>
              <a:t>sécurité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371248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Indice de rentabilité est le plus utilisé soit VAN/Io  </a:t>
            </a:r>
          </a:p>
          <a:p>
            <a:r>
              <a:rPr lang="fr-CA" dirty="0"/>
              <a:t>Les délais de récupération attention est largement dans les exercices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9354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Conclusion Quantitative toujours chiffrer les résultats </a:t>
            </a:r>
          </a:p>
          <a:p>
            <a:r>
              <a:rPr lang="fr-CA" dirty="0"/>
              <a:t>Auditoire n’est pas un quelqu’un qui comprend vraiment les chiffres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55013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59584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26795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51311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99451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18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10506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564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64" y="1719405"/>
            <a:ext cx="10914073" cy="455430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6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432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87"/>
            <a:ext cx="7022400" cy="482803"/>
          </a:xfrm>
          <a:solidFill>
            <a:schemeClr val="accent6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1097280" rtl="0" eaLnBrk="1" latinLnBrk="0" hangingPunct="1">
              <a:defRPr lang="fr-CA" sz="804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2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8" y="6033953"/>
            <a:ext cx="2865599" cy="240066"/>
          </a:xfrm>
          <a:solidFill>
            <a:schemeClr val="accent6"/>
          </a:solidFill>
        </p:spPr>
        <p:txBody>
          <a:bodyPr/>
          <a:lstStyle>
            <a:lvl1pPr algn="l">
              <a:defRPr sz="1560" cap="all" baseline="0">
                <a:solidFill>
                  <a:schemeClr val="bg1"/>
                </a:solidFill>
              </a:defRPr>
            </a:lvl1pPr>
          </a:lstStyle>
          <a:p>
            <a:r>
              <a:rPr lang="fr-CA" dirty="0"/>
              <a:t>(C) HEC Montréal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F209ACA-7BBF-4EC0-BF7D-E731B9F2AA44}" type="datetime1">
              <a:rPr lang="fr-CA" smtClean="0"/>
              <a:t>2025-02-13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3975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8400" y="1893224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D08F-A634-4356-AF25-51BD30523E2C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0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60" indent="-18576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 dirty="0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</p:spTree>
    <p:extLst>
      <p:ext uri="{BB962C8B-B14F-4D97-AF65-F5344CB8AC3E}">
        <p14:creationId xmlns:p14="http://schemas.microsoft.com/office/powerpoint/2010/main" val="1308908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19" y="4143767"/>
            <a:ext cx="8804180" cy="17337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6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1097280" rtl="0" eaLnBrk="1" latinLnBrk="0" hangingPunct="1">
              <a:spcBef>
                <a:spcPct val="0"/>
              </a:spcBef>
              <a:buNone/>
              <a:defRPr lang="fr-CA" sz="432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87"/>
            <a:ext cx="7022400" cy="482803"/>
          </a:xfrm>
          <a:solidFill>
            <a:schemeClr val="accent6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109728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220C085-1508-4614-B0F1-1F18AC82EAEC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pic>
        <p:nvPicPr>
          <p:cNvPr id="15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  <p:pic>
        <p:nvPicPr>
          <p:cNvPr id="14" name="Imag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5449" y="1723108"/>
            <a:ext cx="3787588" cy="2336672"/>
          </a:xfrm>
          <a:prstGeom prst="rect">
            <a:avLst/>
          </a:prstGeom>
        </p:spPr>
      </p:pic>
      <p:pic>
        <p:nvPicPr>
          <p:cNvPr id="16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01" y="4153967"/>
            <a:ext cx="2005807" cy="17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7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4D4E9-1560-446A-9A79-0A4BFE25B737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79896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2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1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813561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453323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E6A3E-1486-4570-AFA1-52D14D11BF81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3869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3730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14DC-C1E4-4FBF-A1ED-B6C8547424CD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70593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6414-2A4B-4245-B6D6-C1B3C088AFC9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3388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1"/>
            <a:ext cx="10915200" cy="98641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1"/>
            <a:ext cx="6796800" cy="3913530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1"/>
            <a:ext cx="3984000" cy="391353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231C-5718-4908-BBC3-D3934E4B9D9F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65209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2"/>
            <a:ext cx="10915200" cy="98754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2"/>
            <a:ext cx="10905600" cy="3240718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 noProof="0" dirty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4AE34-B18D-4DA6-B45B-3B6309A1F6A4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6497499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1928803"/>
            <a:ext cx="103632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3025AC-E68A-461D-B727-BBCD5B36C54C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A" dirty="0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FD35B-5A9C-4BB9-8A66-8D094A0AAEAC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4609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accent2"/>
                </a:solidFill>
              </a:defRPr>
            </a:lvl1pPr>
          </a:lstStyle>
          <a:p>
            <a:fld id="{0E64AE34-B18D-4DA6-B45B-3B6309A1F6A4}" type="datetime1">
              <a:rPr lang="fr-CA" smtClean="0"/>
              <a:t>2025-02-13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accent2"/>
                </a:solidFill>
              </a:defRPr>
            </a:lvl1pPr>
          </a:lstStyle>
          <a:p>
            <a:r>
              <a:rPr lang="fr-CA" dirty="0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accent2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</p:sldLayoutIdLst>
  <p:hf hdr="0" dt="0"/>
  <p:txStyles>
    <p:titleStyle>
      <a:lvl1pPr algn="l" defTabSz="1097280" rtl="0" eaLnBrk="1" latinLnBrk="0" hangingPunct="1">
        <a:spcBef>
          <a:spcPct val="0"/>
        </a:spcBef>
        <a:buNone/>
        <a:defRPr sz="312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576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1pPr>
      <a:lvl2pPr marL="5443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2pPr>
      <a:lvl3pPr marL="9028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3pPr>
      <a:lvl4pPr marL="12571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4pPr>
      <a:lvl5pPr marL="16156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1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19.xml"/><Relationship Id="rId7" Type="http://schemas.openxmlformats.org/officeDocument/2006/relationships/diagramData" Target="../diagrams/data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4.xml"/><Relationship Id="rId11" Type="http://schemas.microsoft.com/office/2007/relationships/diagramDrawing" Target="../diagrams/drawing1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1.xml"/><Relationship Id="rId4" Type="http://schemas.openxmlformats.org/officeDocument/2006/relationships/tags" Target="../tags/tag20.xml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tags" Target="../tags/tag23.xml"/><Relationship Id="rId7" Type="http://schemas.openxmlformats.org/officeDocument/2006/relationships/diagramData" Target="../diagrams/data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5.xml"/><Relationship Id="rId11" Type="http://schemas.microsoft.com/office/2007/relationships/diagramDrawing" Target="../diagrams/drawing2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2.xml"/><Relationship Id="rId4" Type="http://schemas.openxmlformats.org/officeDocument/2006/relationships/tags" Target="../tags/tag24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tags" Target="../tags/tag27.xml"/><Relationship Id="rId7" Type="http://schemas.openxmlformats.org/officeDocument/2006/relationships/notesSlide" Target="../notesSlides/notesSlide6.xml"/><Relationship Id="rId12" Type="http://schemas.microsoft.com/office/2007/relationships/diagramDrawing" Target="../diagrams/drawing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Layout" Target="../slideLayouts/slideLayout2.xml"/><Relationship Id="rId11" Type="http://schemas.openxmlformats.org/officeDocument/2006/relationships/diagramColors" Target="../diagrams/colors3.xml"/><Relationship Id="rId5" Type="http://schemas.openxmlformats.org/officeDocument/2006/relationships/tags" Target="../tags/tag29.xml"/><Relationship Id="rId10" Type="http://schemas.openxmlformats.org/officeDocument/2006/relationships/diagramQuickStyle" Target="../diagrams/quickStyle3.xml"/><Relationship Id="rId4" Type="http://schemas.openxmlformats.org/officeDocument/2006/relationships/tags" Target="../tags/tag28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tags" Target="../tags/tag44.xml"/><Relationship Id="rId7" Type="http://schemas.openxmlformats.org/officeDocument/2006/relationships/diagramData" Target="../diagrams/data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0.xml"/><Relationship Id="rId11" Type="http://schemas.microsoft.com/office/2007/relationships/diagramDrawing" Target="../diagrams/drawing4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4.xml"/><Relationship Id="rId4" Type="http://schemas.openxmlformats.org/officeDocument/2006/relationships/tags" Target="../tags/tag45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tags" Target="../tags/tag52.xml"/><Relationship Id="rId7" Type="http://schemas.openxmlformats.org/officeDocument/2006/relationships/diagramLayout" Target="../diagrams/layout5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diagramData" Target="../diagrams/data5.xml"/><Relationship Id="rId5" Type="http://schemas.openxmlformats.org/officeDocument/2006/relationships/slideLayout" Target="../slideLayouts/slideLayout2.xml"/><Relationship Id="rId10" Type="http://schemas.microsoft.com/office/2007/relationships/diagramDrawing" Target="../diagrams/drawing5.xml"/><Relationship Id="rId4" Type="http://schemas.openxmlformats.org/officeDocument/2006/relationships/tags" Target="../tags/tag53.xml"/><Relationship Id="rId9" Type="http://schemas.openxmlformats.org/officeDocument/2006/relationships/diagramColors" Target="../diagrams/colors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tags" Target="../tags/tag56.xml"/><Relationship Id="rId7" Type="http://schemas.openxmlformats.org/officeDocument/2006/relationships/notesSlide" Target="../notesSlides/notesSlide12.xml"/><Relationship Id="rId12" Type="http://schemas.microsoft.com/office/2007/relationships/diagramDrawing" Target="../diagrams/drawing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4.xml"/><Relationship Id="rId11" Type="http://schemas.openxmlformats.org/officeDocument/2006/relationships/diagramColors" Target="../diagrams/colors6.xml"/><Relationship Id="rId5" Type="http://schemas.openxmlformats.org/officeDocument/2006/relationships/tags" Target="../tags/tag58.xml"/><Relationship Id="rId10" Type="http://schemas.openxmlformats.org/officeDocument/2006/relationships/diagramQuickStyle" Target="../diagrams/quickStyle6.xml"/><Relationship Id="rId4" Type="http://schemas.openxmlformats.org/officeDocument/2006/relationships/tags" Target="../tags/tag57.xml"/><Relationship Id="rId9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tags" Target="../tags/tag61.xml"/><Relationship Id="rId7" Type="http://schemas.openxmlformats.org/officeDocument/2006/relationships/diagramData" Target="../diagrams/data7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13.xml"/><Relationship Id="rId11" Type="http://schemas.microsoft.com/office/2007/relationships/diagramDrawing" Target="../diagrams/drawing7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7.xml"/><Relationship Id="rId4" Type="http://schemas.openxmlformats.org/officeDocument/2006/relationships/tags" Target="../tags/tag62.xml"/><Relationship Id="rId9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microsoft.com/office/2007/relationships/diagramDrawing" Target="../diagrams/drawing8.xml"/><Relationship Id="rId3" Type="http://schemas.openxmlformats.org/officeDocument/2006/relationships/tags" Target="../tags/tag65.xml"/><Relationship Id="rId7" Type="http://schemas.openxmlformats.org/officeDocument/2006/relationships/slideLayout" Target="../slideLayouts/slideLayout2.xml"/><Relationship Id="rId12" Type="http://schemas.openxmlformats.org/officeDocument/2006/relationships/diagramColors" Target="../diagrams/colors8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diagramQuickStyle" Target="../diagrams/quickStyle8.xml"/><Relationship Id="rId5" Type="http://schemas.openxmlformats.org/officeDocument/2006/relationships/tags" Target="../tags/tag67.xml"/><Relationship Id="rId10" Type="http://schemas.openxmlformats.org/officeDocument/2006/relationships/diagramLayout" Target="../diagrams/layout8.xml"/><Relationship Id="rId4" Type="http://schemas.openxmlformats.org/officeDocument/2006/relationships/tags" Target="../tags/tag66.xml"/><Relationship Id="rId9" Type="http://schemas.openxmlformats.org/officeDocument/2006/relationships/diagramData" Target="../diagrams/data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microsoft.com/office/2018/10/relationships/comments" Target="../comments/modernComment_13A_CC35C26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Contrôle de gestion stratégique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Séance 3 : Analyser les options stratégiques</a:t>
            </a:r>
          </a:p>
          <a:p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</a:t>
            </a:fld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41591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Les outils d’aide à la prise de décision – Projets Long terme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AEFD35B-5A9C-4BB9-8A66-8D094A0AAEAC}" type="slidenum">
              <a:rPr lang="fr-CA" smtClean="0"/>
              <a:pPr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1261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0DA834F-95F6-4E37-944B-0EE86ECAB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C73EB41D-849B-4C0C-8BB4-E1DF9CA5FEE5}" type="slidenum">
              <a:rPr lang="fr-CA" smtClean="0"/>
              <a:t>3</a:t>
            </a:fld>
            <a:endParaRPr lang="fr-CA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CF306FC-6EE0-4710-9E8D-B536E2BF4F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00663" y="1695268"/>
            <a:ext cx="5811252" cy="122722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Identification des facteurs clés de succès de l’industrie</a:t>
            </a:r>
          </a:p>
          <a:p>
            <a:pPr algn="ctr"/>
            <a:r>
              <a:rPr lang="fr-CA" b="1" dirty="0"/>
              <a:t>Analyse de l’environnement interne et externe</a:t>
            </a:r>
          </a:p>
          <a:p>
            <a:pPr algn="ctr"/>
            <a:r>
              <a:rPr lang="fr-CA" b="1" dirty="0"/>
              <a:t>Analyse de la situation financière 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614C307-079F-464B-B8D5-DD35E3DA69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44253" y="136525"/>
            <a:ext cx="6031831" cy="12272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Vision/Mission/Valeurs </a:t>
            </a:r>
          </a:p>
          <a:p>
            <a:pPr algn="ctr"/>
            <a:r>
              <a:rPr lang="fr-CA" b="1" dirty="0"/>
              <a:t>Stratégie</a:t>
            </a:r>
          </a:p>
          <a:p>
            <a:pPr algn="ctr"/>
            <a:r>
              <a:rPr lang="fr-CA" b="1" dirty="0"/>
              <a:t>Contraintes et limites, objectifs stratégiques </a:t>
            </a:r>
          </a:p>
          <a:p>
            <a:pPr algn="ctr"/>
            <a:r>
              <a:rPr lang="fr-CA" b="1" dirty="0"/>
              <a:t>Préférences des parties prenantes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C135706-776B-4E0A-97DF-5A7BF0478E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18936" y="3717761"/>
            <a:ext cx="3084574" cy="256020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Options stratégiques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Analyse quantitative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Analyse qualitative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Recommandations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Mise en œuvre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Financement </a:t>
            </a:r>
          </a:p>
          <a:p>
            <a:pPr algn="ctr"/>
            <a:endParaRPr lang="fr-CA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2149227-46FB-4400-80DF-9EECC8B230E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 flipH="1">
            <a:off x="3043989" y="2755230"/>
            <a:ext cx="757989" cy="96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B7E5824F-5170-499D-BB5C-19E07B6578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06315" y="3087926"/>
            <a:ext cx="242499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fr-CA" dirty="0"/>
              <a:t>Forces + Possibilités 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560BD74-5B17-4FA2-8270-4B9B7D3CFF2D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8610600" y="2781130"/>
            <a:ext cx="1016666" cy="866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8B60383-9932-4F37-9076-CD79C744D7A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274257" y="3673307"/>
            <a:ext cx="3937169" cy="295284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Enjeux opérationnels et analyse des systèmes de contrôle stratégique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Gestion des risques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Mesure de la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Rémunération incitative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Gouvernance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Structure organisationnelle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Processus budgétaire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Contrôle stratégique des coûts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28611D-8D8E-47F5-952B-DB4B4EABF97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151428" y="3017570"/>
            <a:ext cx="30493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fr-CA" dirty="0"/>
              <a:t>Faiblesses et Menaces</a:t>
            </a:r>
          </a:p>
        </p:txBody>
      </p:sp>
    </p:spTree>
    <p:extLst>
      <p:ext uri="{BB962C8B-B14F-4D97-AF65-F5344CB8AC3E}">
        <p14:creationId xmlns:p14="http://schemas.microsoft.com/office/powerpoint/2010/main" val="321441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F32B11-4368-4939-9EC8-80E8A263A07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 dirty="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5F167-A121-4764-95E7-D5240A32F45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fr-CA" sz="500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74D236F-AD3A-484D-8F74-896B1913D2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de l’analyse </a:t>
            </a:r>
          </a:p>
        </p:txBody>
      </p:sp>
      <p:graphicFrame>
        <p:nvGraphicFramePr>
          <p:cNvPr id="7" name="Espace réservé du contenu 1">
            <a:extLst>
              <a:ext uri="{FF2B5EF4-FFF2-40B4-BE49-F238E27FC236}">
                <a16:creationId xmlns:a16="http://schemas.microsoft.com/office/drawing/2014/main" id="{30D98527-C350-4490-A62E-31078E98B95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4786247"/>
              </p:ext>
            </p:extLst>
          </p:nvPr>
        </p:nvGraphicFramePr>
        <p:xfrm>
          <a:off x="638400" y="1893224"/>
          <a:ext cx="10915200" cy="382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6011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F32B11-4368-4939-9EC8-80E8A263A07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 dirty="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5F167-A121-4764-95E7-D5240A32F45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fr-CA" sz="500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74D236F-AD3A-484D-8F74-896B1913D2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de l’analyse </a:t>
            </a:r>
          </a:p>
        </p:txBody>
      </p:sp>
      <p:graphicFrame>
        <p:nvGraphicFramePr>
          <p:cNvPr id="7" name="Espace réservé du contenu 1">
            <a:extLst>
              <a:ext uri="{FF2B5EF4-FFF2-40B4-BE49-F238E27FC236}">
                <a16:creationId xmlns:a16="http://schemas.microsoft.com/office/drawing/2014/main" id="{30D98527-C350-4490-A62E-31078E98B95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20898973"/>
              </p:ext>
            </p:extLst>
          </p:nvPr>
        </p:nvGraphicFramePr>
        <p:xfrm>
          <a:off x="638400" y="1893224"/>
          <a:ext cx="10915200" cy="382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1237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fr-CA" sz="2400" dirty="0"/>
              <a:t>		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298291"/>
            <a:ext cx="3860800" cy="164160"/>
          </a:xfrm>
        </p:spPr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934400" y="6461995"/>
            <a:ext cx="619200" cy="164160"/>
          </a:xfrm>
        </p:spPr>
        <p:txBody>
          <a:bodyPr>
            <a:normAutofit fontScale="62500" lnSpcReduction="20000"/>
          </a:bodyPr>
          <a:lstStyle/>
          <a:p>
            <a:fld id="{F2FC323E-E04A-4B60-8DBF-679F0551BEAB}" type="slidenum">
              <a:rPr lang="fr-CA" smtClean="0"/>
              <a:pPr/>
              <a:t>6</a:t>
            </a:fld>
            <a:endParaRPr lang="fr-CA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638400" y="577216"/>
            <a:ext cx="10915200" cy="988033"/>
          </a:xfrm>
        </p:spPr>
        <p:txBody>
          <a:bodyPr>
            <a:normAutofit/>
          </a:bodyPr>
          <a:lstStyle/>
          <a:p>
            <a:r>
              <a:rPr lang="fr-CA" dirty="0"/>
              <a:t>Calcul de la VAN d’un investissement 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DBC460B5-7323-4F99-ADDB-8B03A9F92F72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207845878"/>
              </p:ext>
            </p:extLst>
          </p:nvPr>
        </p:nvGraphicFramePr>
        <p:xfrm>
          <a:off x="1653922" y="1685336"/>
          <a:ext cx="9280478" cy="4405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17780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873457" y="1785926"/>
            <a:ext cx="10060943" cy="4757758"/>
          </a:xfrm>
        </p:spPr>
        <p:txBody>
          <a:bodyPr>
            <a:normAutofit/>
          </a:bodyPr>
          <a:lstStyle/>
          <a:p>
            <a:pPr marL="355600" indent="-355600"/>
            <a:r>
              <a:rPr lang="fr-CA" sz="2800" dirty="0"/>
              <a:t>Incertitude : la probabilité de se tromper dans les prévisions </a:t>
            </a:r>
          </a:p>
          <a:p>
            <a:pPr marL="355600" indent="-355600"/>
            <a:endParaRPr lang="fr-CA" sz="2800" dirty="0"/>
          </a:p>
          <a:p>
            <a:pPr marL="714160" lvl="1" indent="-355600"/>
            <a:r>
              <a:rPr lang="fr-CA" sz="2800" dirty="0"/>
              <a:t>Les décisions d’investissement ont souvent des impacts profonds sur les opérations de l’entreprise</a:t>
            </a:r>
          </a:p>
          <a:p>
            <a:pPr marL="714160" lvl="1" indent="-355600"/>
            <a:r>
              <a:rPr lang="fr-CA" sz="2800" dirty="0"/>
              <a:t>Certaines décisions ont un caractère irréversible</a:t>
            </a:r>
          </a:p>
          <a:p>
            <a:pPr marL="714160" lvl="1" indent="-355600"/>
            <a:r>
              <a:rPr lang="fr-CA" sz="2800" dirty="0"/>
              <a:t>L’aspect long terme augmente le niveau d’incertitude</a:t>
            </a:r>
          </a:p>
          <a:p>
            <a:pPr marL="355600" indent="-355600"/>
            <a:endParaRPr lang="fr-CA" sz="2800" dirty="0"/>
          </a:p>
          <a:p>
            <a:pPr>
              <a:buFontTx/>
              <a:buNone/>
            </a:pPr>
            <a:endParaRPr lang="fr-CA" sz="32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354D4E00-8D7D-4869-8FC3-78A329CD7791}" type="slidenum">
              <a:rPr lang="fr-CA"/>
              <a:pPr/>
              <a:t>7</a:t>
            </a:fld>
            <a:endParaRPr lang="fr-CA" dirty="0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CA" dirty="0"/>
              <a:t>La prise de décision en contexte d’incertitude</a:t>
            </a:r>
          </a:p>
        </p:txBody>
      </p:sp>
    </p:spTree>
    <p:extLst>
      <p:ext uri="{BB962C8B-B14F-4D97-AF65-F5344CB8AC3E}">
        <p14:creationId xmlns:p14="http://schemas.microsoft.com/office/powerpoint/2010/main" val="302662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873457" y="1785926"/>
            <a:ext cx="9223071" cy="4757758"/>
          </a:xfrm>
        </p:spPr>
        <p:txBody>
          <a:bodyPr>
            <a:normAutofit/>
          </a:bodyPr>
          <a:lstStyle/>
          <a:p>
            <a:pPr marL="355600" indent="-355600"/>
            <a:r>
              <a:rPr lang="fr-CA" sz="2800" dirty="0"/>
              <a:t>Comment prendre en considération l’incertitude dans la prise de décision?</a:t>
            </a:r>
          </a:p>
          <a:p>
            <a:pPr marL="714160" lvl="1" indent="-355600"/>
            <a:r>
              <a:rPr lang="fr-CA" sz="2800" dirty="0"/>
              <a:t>Résultat espéré </a:t>
            </a:r>
          </a:p>
          <a:p>
            <a:pPr marL="714160" lvl="1" indent="-355600"/>
            <a:r>
              <a:rPr lang="fr-CA" sz="2800" dirty="0"/>
              <a:t>Analyse de sensibilité </a:t>
            </a:r>
          </a:p>
          <a:p>
            <a:pPr marL="714160" lvl="1" indent="-355600"/>
            <a:r>
              <a:rPr lang="fr-CA" sz="2800" dirty="0">
                <a:highlight>
                  <a:srgbClr val="FFFF00"/>
                </a:highlight>
              </a:rPr>
              <a:t>Analyse par scénario </a:t>
            </a:r>
          </a:p>
          <a:p>
            <a:pPr marL="714160" lvl="1" indent="-355600"/>
            <a:r>
              <a:rPr lang="fr-CA" sz="2800" dirty="0"/>
              <a:t>Analyse du seuil de rentabilité et de la marge de sécurité</a:t>
            </a:r>
          </a:p>
          <a:p>
            <a:pPr>
              <a:buNone/>
            </a:pPr>
            <a:endParaRPr lang="fr-CA" sz="2800" dirty="0"/>
          </a:p>
          <a:p>
            <a:pPr>
              <a:buNone/>
            </a:pPr>
            <a:endParaRPr lang="fr-CA" sz="3200" b="1" dirty="0">
              <a:solidFill>
                <a:schemeClr val="tx2"/>
              </a:solidFill>
            </a:endParaRPr>
          </a:p>
          <a:p>
            <a:pPr>
              <a:buNone/>
            </a:pPr>
            <a:endParaRPr lang="fr-CA" sz="3200" b="1" dirty="0">
              <a:solidFill>
                <a:schemeClr val="tx2"/>
              </a:solidFill>
            </a:endParaRPr>
          </a:p>
          <a:p>
            <a:pPr>
              <a:buNone/>
            </a:pPr>
            <a:endParaRPr lang="fr-CA" sz="3200" b="1" dirty="0">
              <a:solidFill>
                <a:schemeClr val="tx2"/>
              </a:solidFill>
            </a:endParaRPr>
          </a:p>
          <a:p>
            <a:pPr>
              <a:buNone/>
            </a:pPr>
            <a:endParaRPr lang="fr-CA" sz="3200" b="1" dirty="0">
              <a:solidFill>
                <a:schemeClr val="tx2"/>
              </a:solidFill>
            </a:endParaRPr>
          </a:p>
          <a:p>
            <a:pPr>
              <a:buNone/>
            </a:pPr>
            <a:endParaRPr lang="fr-CA" sz="3200" b="1" dirty="0">
              <a:solidFill>
                <a:schemeClr val="tx2"/>
              </a:solidFill>
            </a:endParaRPr>
          </a:p>
          <a:p>
            <a:pPr>
              <a:buFontTx/>
              <a:buNone/>
            </a:pPr>
            <a:endParaRPr lang="fr-CA" sz="32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354D4E00-8D7D-4869-8FC3-78A329CD7791}" type="slidenum">
              <a:rPr lang="fr-CA"/>
              <a:pPr/>
              <a:t>8</a:t>
            </a:fld>
            <a:endParaRPr lang="fr-CA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CA" dirty="0"/>
              <a:t>La prise de décision en contexte </a:t>
            </a:r>
            <a:r>
              <a:rPr lang="fr-CA" dirty="0">
                <a:solidFill>
                  <a:srgbClr val="FF0000"/>
                </a:solidFill>
                <a:highlight>
                  <a:srgbClr val="FFFF00"/>
                </a:highlight>
              </a:rPr>
              <a:t>d’incertitude</a:t>
            </a:r>
          </a:p>
        </p:txBody>
      </p:sp>
    </p:spTree>
    <p:extLst>
      <p:ext uri="{BB962C8B-B14F-4D97-AF65-F5344CB8AC3E}">
        <p14:creationId xmlns:p14="http://schemas.microsoft.com/office/powerpoint/2010/main" val="93181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38400" y="1893224"/>
            <a:ext cx="10915200" cy="4207325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Le taux de rendement interne (TRI)</a:t>
            </a:r>
          </a:p>
          <a:p>
            <a:pPr lvl="1">
              <a:lnSpc>
                <a:spcPct val="90000"/>
              </a:lnSpc>
            </a:pPr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Taux de rendement du projet </a:t>
            </a:r>
          </a:p>
          <a:p>
            <a:pPr lvl="1">
              <a:lnSpc>
                <a:spcPct val="90000"/>
              </a:lnSpc>
            </a:pPr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Ne remplace pas la VAN mais peut amener une information supplémentaire pertinente lors de la comparaison de deux projets ayant des VAN positives. </a:t>
            </a:r>
          </a:p>
          <a:p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Indice de rentabilité (Flux monétaires actualisés/investissements) </a:t>
            </a:r>
          </a:p>
          <a:p>
            <a:pPr lvl="1"/>
            <a:r>
              <a:rPr lang="fr-CA" sz="2400" dirty="0">
                <a:ea typeface="Arial Unicode MS" pitchFamily="34" charset="-128"/>
              </a:rPr>
              <a:t>Permet</a:t>
            </a:r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 de comparer deux projets dont les montants d’investissement requis sont différents </a:t>
            </a:r>
          </a:p>
          <a:p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Le délai de récupération</a:t>
            </a:r>
          </a:p>
          <a:p>
            <a:pPr lvl="1"/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Temps requis pour récupérer l’investissement initial</a:t>
            </a:r>
          </a:p>
          <a:p>
            <a:pPr lvl="1"/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Peut être calculé à partir des flux actualisés ou non actualisés</a:t>
            </a:r>
          </a:p>
          <a:p>
            <a:pPr lvl="1">
              <a:lnSpc>
                <a:spcPct val="90000"/>
              </a:lnSpc>
            </a:pPr>
            <a:r>
              <a:rPr lang="fr-CA" sz="2400" dirty="0">
                <a:ea typeface="Arial Unicode MS" pitchFamily="34" charset="-128"/>
                <a:cs typeface="Arial Unicode MS" pitchFamily="34" charset="-128"/>
              </a:rPr>
              <a:t>Cet outil nous renseigne sur une facette du risque.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9</a:t>
            </a:fld>
            <a:endParaRPr lang="fr-CA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Autres outils complémentaires </a:t>
            </a:r>
          </a:p>
        </p:txBody>
      </p:sp>
    </p:spTree>
    <p:extLst>
      <p:ext uri="{BB962C8B-B14F-4D97-AF65-F5344CB8AC3E}">
        <p14:creationId xmlns:p14="http://schemas.microsoft.com/office/powerpoint/2010/main" val="330087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F32B11-4368-4939-9EC8-80E8A263A07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5F167-A121-4764-95E7-D5240A32F45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fr-CA" sz="50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74D236F-AD3A-484D-8F74-896B1913D2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de l’analyse </a:t>
            </a:r>
          </a:p>
        </p:txBody>
      </p:sp>
      <p:graphicFrame>
        <p:nvGraphicFramePr>
          <p:cNvPr id="7" name="Espace réservé du contenu 1">
            <a:extLst>
              <a:ext uri="{FF2B5EF4-FFF2-40B4-BE49-F238E27FC236}">
                <a16:creationId xmlns:a16="http://schemas.microsoft.com/office/drawing/2014/main" id="{30D98527-C350-4490-A62E-31078E98B95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32911034"/>
              </p:ext>
            </p:extLst>
          </p:nvPr>
        </p:nvGraphicFramePr>
        <p:xfrm>
          <a:off x="638400" y="1893224"/>
          <a:ext cx="10915200" cy="382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9852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FC939B3-3A56-47C6-B0A2-09CA7AF3BD4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38400" y="1947815"/>
            <a:ext cx="10915200" cy="3825587"/>
          </a:xfrm>
        </p:spPr>
        <p:txBody>
          <a:bodyPr>
            <a:normAutofit lnSpcReduction="10000"/>
          </a:bodyPr>
          <a:lstStyle/>
          <a:p>
            <a:r>
              <a:rPr lang="fr-CA" dirty="0"/>
              <a:t>Expliquer le résultat obtenu dans l’analyse quantitative</a:t>
            </a:r>
          </a:p>
          <a:p>
            <a:r>
              <a:rPr lang="fr-CA" dirty="0"/>
              <a:t>Préférablement dans le fichier Word</a:t>
            </a:r>
          </a:p>
          <a:p>
            <a:r>
              <a:rPr lang="fr-CA" dirty="0"/>
              <a:t>Toujours chiffrer le résultat</a:t>
            </a:r>
          </a:p>
          <a:p>
            <a:r>
              <a:rPr lang="fr-CA" dirty="0"/>
              <a:t>Ne pas se limiter au résultat de la VAN</a:t>
            </a:r>
          </a:p>
          <a:p>
            <a:r>
              <a:rPr lang="fr-CA" dirty="0"/>
              <a:t>Identifier les montants qui risquent d’intéresser l’auditoire</a:t>
            </a:r>
          </a:p>
          <a:p>
            <a:pPr lvl="1"/>
            <a:r>
              <a:rPr lang="fr-CA" dirty="0"/>
              <a:t>Variation de la MCV unitaire</a:t>
            </a:r>
          </a:p>
          <a:p>
            <a:pPr lvl="1"/>
            <a:r>
              <a:rPr lang="fr-CA" dirty="0"/>
              <a:t>Montant d’investissement total </a:t>
            </a:r>
          </a:p>
          <a:p>
            <a:pPr lvl="1"/>
            <a:r>
              <a:rPr lang="fr-CA" dirty="0"/>
              <a:t>Périodes où les flux sont importants (+ ou -)</a:t>
            </a:r>
          </a:p>
          <a:p>
            <a:r>
              <a:rPr lang="fr-CA" dirty="0"/>
              <a:t>Identifier les coûts manquants ou les hypothèses que nécessitent des recherches supplémentaires </a:t>
            </a:r>
          </a:p>
          <a:p>
            <a:r>
              <a:rPr lang="fr-CA" dirty="0"/>
              <a:t>Conclure en indiquant si le projet est intéressant ou non d’un point de vue financier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7BED5B5-92E1-44BD-9C8C-2C194979138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293FF9-543D-4C29-80EF-2426BACE265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11</a:t>
            </a:fld>
            <a:endParaRPr lang="fr-CA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DEDF1BB-49C4-47A0-B756-0ED45AFD11C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Conclusion quantitative	</a:t>
            </a:r>
          </a:p>
        </p:txBody>
      </p:sp>
    </p:spTree>
    <p:extLst>
      <p:ext uri="{BB962C8B-B14F-4D97-AF65-F5344CB8AC3E}">
        <p14:creationId xmlns:p14="http://schemas.microsoft.com/office/powerpoint/2010/main" val="276463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F32B11-4368-4939-9EC8-80E8A263A07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5F167-A121-4764-95E7-D5240A32F45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fr-CA" sz="50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74D236F-AD3A-484D-8F74-896B1913D2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de l’analyse </a:t>
            </a:r>
          </a:p>
        </p:txBody>
      </p:sp>
      <p:graphicFrame>
        <p:nvGraphicFramePr>
          <p:cNvPr id="7" name="Espace réservé du contenu 1">
            <a:extLst>
              <a:ext uri="{FF2B5EF4-FFF2-40B4-BE49-F238E27FC236}">
                <a16:creationId xmlns:a16="http://schemas.microsoft.com/office/drawing/2014/main" id="{30D98527-C350-4490-A62E-31078E98B95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67508718"/>
              </p:ext>
            </p:extLst>
          </p:nvPr>
        </p:nvGraphicFramePr>
        <p:xfrm>
          <a:off x="638400" y="1893224"/>
          <a:ext cx="10915200" cy="382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82106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5F5436B-5501-4098-9E53-314C0BC901E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recommandée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ADC2D02-CEE8-4174-B1B4-9FAEAE27D840}"/>
              </a:ext>
            </a:extLst>
          </p:cNvPr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97600" y="1821282"/>
            <a:ext cx="5384800" cy="3897529"/>
          </a:xfrm>
        </p:spPr>
        <p:txBody>
          <a:bodyPr>
            <a:normAutofit fontScale="92500"/>
          </a:bodyPr>
          <a:lstStyle/>
          <a:p>
            <a:r>
              <a:rPr lang="fr-CA" sz="2800" dirty="0"/>
              <a:t>Objectif: </a:t>
            </a:r>
            <a:r>
              <a:rPr lang="fr-CA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transformer les faits en arguments</a:t>
            </a:r>
          </a:p>
          <a:p>
            <a:r>
              <a:rPr lang="fr-CA" sz="2800" dirty="0"/>
              <a:t>Comment? En expliquant l’impact pour l’entreprise.</a:t>
            </a:r>
          </a:p>
          <a:p>
            <a:r>
              <a:rPr lang="fr-CA" sz="2800" dirty="0"/>
              <a:t>Maximiser l’utilisation des éléments de l’analyse stratégique  pour expliquer l’impact (liens)</a:t>
            </a:r>
          </a:p>
          <a:p>
            <a:r>
              <a:rPr lang="fr-CA" sz="2800" dirty="0"/>
              <a:t>Équilibre avantages/inconvénients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4FF46D-6621-48B5-8985-DCDEF45F47B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 dirty="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21BE99-FE5B-415D-8811-0E9A364FCC7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fr-CA" sz="500" dirty="0"/>
          </a:p>
        </p:txBody>
      </p:sp>
      <p:graphicFrame>
        <p:nvGraphicFramePr>
          <p:cNvPr id="8" name="Espace réservé du contenu 1">
            <a:extLst>
              <a:ext uri="{FF2B5EF4-FFF2-40B4-BE49-F238E27FC236}">
                <a16:creationId xmlns:a16="http://schemas.microsoft.com/office/drawing/2014/main" id="{5E1D6393-CC6C-461E-A3AC-BAC1D4CCB43B}"/>
              </a:ext>
            </a:extLst>
          </p:cNvPr>
          <p:cNvGraphicFramePr>
            <a:graphicFrameLocks noGrp="1"/>
          </p:cNvGraphicFramePr>
          <p:nvPr>
            <p:ph sz="half" idx="1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21938533"/>
              </p:ext>
            </p:extLst>
          </p:nvPr>
        </p:nvGraphicFramePr>
        <p:xfrm>
          <a:off x="609600" y="1821282"/>
          <a:ext cx="5384800" cy="389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75043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F32B11-4368-4939-9EC8-80E8A263A07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4165600" y="6461995"/>
            <a:ext cx="38608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CA" sz="500" dirty="0"/>
              <a:t>(C) HEC Montréal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5F167-A121-4764-95E7-D5240A32F45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934400" y="6461995"/>
            <a:ext cx="619200" cy="164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EB25B09-B9A6-4811-8700-6D36B9CE20D1}" type="slidenum">
              <a:rPr lang="fr-CA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fr-CA" sz="500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74D236F-AD3A-484D-8F74-896B1913D2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8400" y="577216"/>
            <a:ext cx="10915200" cy="988033"/>
          </a:xfrm>
        </p:spPr>
        <p:txBody>
          <a:bodyPr anchor="ctr">
            <a:normAutofit/>
          </a:bodyPr>
          <a:lstStyle/>
          <a:p>
            <a:r>
              <a:rPr lang="fr-CA" dirty="0"/>
              <a:t>Structure de l’analyse </a:t>
            </a:r>
          </a:p>
        </p:txBody>
      </p:sp>
      <p:graphicFrame>
        <p:nvGraphicFramePr>
          <p:cNvPr id="7" name="Espace réservé du contenu 1">
            <a:extLst>
              <a:ext uri="{FF2B5EF4-FFF2-40B4-BE49-F238E27FC236}">
                <a16:creationId xmlns:a16="http://schemas.microsoft.com/office/drawing/2014/main" id="{30D98527-C350-4490-A62E-31078E98B95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6878801"/>
              </p:ext>
            </p:extLst>
          </p:nvPr>
        </p:nvGraphicFramePr>
        <p:xfrm>
          <a:off x="638400" y="1893224"/>
          <a:ext cx="10915200" cy="382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483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EF53926-57B6-4DC7-B4E1-BEC17435DFA6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0CC56-3AB7-467C-AA1B-B8A48B7FA6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27C85C-DA44-404B-A4F8-6094202923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15</a:t>
            </a:fld>
            <a:endParaRPr lang="fr-CA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70ECD31-3B0C-4599-87E3-BC0B77EE2485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Recommandation lors de l’analyse de projets mutuellement exclusifs </a:t>
            </a:r>
          </a:p>
        </p:txBody>
      </p:sp>
      <p:graphicFrame>
        <p:nvGraphicFramePr>
          <p:cNvPr id="6" name="Espace réservé du contenu 1">
            <a:extLst>
              <a:ext uri="{FF2B5EF4-FFF2-40B4-BE49-F238E27FC236}">
                <a16:creationId xmlns:a16="http://schemas.microsoft.com/office/drawing/2014/main" id="{192B179A-0907-4D89-935F-13BE5EB18C87}"/>
              </a:ext>
            </a:extLst>
          </p:cNvPr>
          <p:cNvGraphicFramePr>
            <a:graphicFrameLocks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96141160"/>
              </p:ext>
            </p:extLst>
          </p:nvPr>
        </p:nvGraphicFramePr>
        <p:xfrm>
          <a:off x="806349" y="906435"/>
          <a:ext cx="13102621" cy="481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7" name="Signe de multiplication 6">
            <a:extLst>
              <a:ext uri="{FF2B5EF4-FFF2-40B4-BE49-F238E27FC236}">
                <a16:creationId xmlns:a16="http://schemas.microsoft.com/office/drawing/2014/main" id="{C30B3CEE-C91F-4264-BD8E-C3E3AC904D1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094344" y="2330355"/>
            <a:ext cx="2291307" cy="2197290"/>
          </a:xfrm>
          <a:prstGeom prst="mathMultiply">
            <a:avLst/>
          </a:prstGeom>
          <a:solidFill>
            <a:schemeClr val="accent4">
              <a:tint val="66000"/>
              <a:satMod val="1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131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1BB361B-9627-4568-A73A-0EC8B9EBD79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2170310"/>
              </p:ext>
            </p:extLst>
          </p:nvPr>
        </p:nvGraphicFramePr>
        <p:xfrm>
          <a:off x="638175" y="1893888"/>
          <a:ext cx="1091565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130">
                  <a:extLst>
                    <a:ext uri="{9D8B030D-6E8A-4147-A177-3AD203B41FA5}">
                      <a16:colId xmlns:a16="http://schemas.microsoft.com/office/drawing/2014/main" val="1269707199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3717677883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104345015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46309110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091085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9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4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01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4780"/>
                  </a:ext>
                </a:extLst>
              </a:tr>
            </a:tbl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CF60D-5AF1-4101-B141-21FEA4CCEA5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291A1A-7E9E-4802-BFD4-EB0C286040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16</a:t>
            </a:fld>
            <a:endParaRPr lang="fr-CA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24F58F5-AB9D-407B-99A7-0C775EC80BE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Matrice décisionnelle </a:t>
            </a:r>
          </a:p>
        </p:txBody>
      </p:sp>
    </p:spTree>
    <p:extLst>
      <p:ext uri="{BB962C8B-B14F-4D97-AF65-F5344CB8AC3E}">
        <p14:creationId xmlns:p14="http://schemas.microsoft.com/office/powerpoint/2010/main" val="4264014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1BB361B-9627-4568-A73A-0EC8B9EBD79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38175" y="1893888"/>
          <a:ext cx="1091565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130">
                  <a:extLst>
                    <a:ext uri="{9D8B030D-6E8A-4147-A177-3AD203B41FA5}">
                      <a16:colId xmlns:a16="http://schemas.microsoft.com/office/drawing/2014/main" val="1269707199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3717677883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104345015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46309110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091085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Critère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Critère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Critère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Critère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9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4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01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4780"/>
                  </a:ext>
                </a:extLst>
              </a:tr>
            </a:tbl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CF60D-5AF1-4101-B141-21FEA4CCEA5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291A1A-7E9E-4802-BFD4-EB0C286040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17</a:t>
            </a:fld>
            <a:endParaRPr lang="fr-CA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24F58F5-AB9D-407B-99A7-0C775EC80BE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Matrice décisionnelle </a:t>
            </a:r>
          </a:p>
        </p:txBody>
      </p:sp>
    </p:spTree>
    <p:extLst>
      <p:ext uri="{BB962C8B-B14F-4D97-AF65-F5344CB8AC3E}">
        <p14:creationId xmlns:p14="http://schemas.microsoft.com/office/powerpoint/2010/main" val="132070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1BB361B-9627-4568-A73A-0EC8B9EBD79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914143"/>
              </p:ext>
            </p:extLst>
          </p:nvPr>
        </p:nvGraphicFramePr>
        <p:xfrm>
          <a:off x="638175" y="1893888"/>
          <a:ext cx="1091565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130">
                  <a:extLst>
                    <a:ext uri="{9D8B030D-6E8A-4147-A177-3AD203B41FA5}">
                      <a16:colId xmlns:a16="http://schemas.microsoft.com/office/drawing/2014/main" val="1269707199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3717677883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104345015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46309110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2091085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Critère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Critère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Critère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Critère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9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4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01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Projet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4780"/>
                  </a:ext>
                </a:extLst>
              </a:tr>
            </a:tbl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CF60D-5AF1-4101-B141-21FEA4CCEA5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291A1A-7E9E-4802-BFD4-EB0C286040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18</a:t>
            </a:fld>
            <a:endParaRPr lang="fr-CA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24F58F5-AB9D-407B-99A7-0C775EC80BE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Matrice décisionnelle </a:t>
            </a:r>
          </a:p>
        </p:txBody>
      </p:sp>
    </p:spTree>
    <p:extLst>
      <p:ext uri="{BB962C8B-B14F-4D97-AF65-F5344CB8AC3E}">
        <p14:creationId xmlns:p14="http://schemas.microsoft.com/office/powerpoint/2010/main" val="2979757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Recommandations 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CA" sz="2400" dirty="0"/>
              <a:t>Conclure sur chaque option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CA" sz="2400" dirty="0"/>
              <a:t>Utiliser les éléments de l’analyse quantitative et qualitative pour justifier l’acceptation ou le rejet de l’option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CA" sz="2400" dirty="0"/>
              <a:t>Utiliser les critères décisionnels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400" dirty="0"/>
              <a:t>Mise en œuvre de(s) option(s) recommandées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CA" sz="2400" dirty="0"/>
              <a:t>Mitiger les inconvénients de l’option recommandée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CA" sz="2400" dirty="0"/>
              <a:t>Expliquer les grandes étapes de la mise en œuvre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400" dirty="0"/>
              <a:t>Analyse du financement de(s) projet(s) recommandé(s)</a:t>
            </a:r>
          </a:p>
          <a:p>
            <a:pPr>
              <a:buFont typeface="Wingdings" panose="05000000000000000000" pitchFamily="2" charset="2"/>
              <a:buChar char="§"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60752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4863E41-9886-E74E-BA4E-5B0B3ACD5F10}" vid="{CC6B7765-3A3F-ED44-8CE4-4C448F946F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Grand écran</PresentationFormat>
  <Paragraphs>250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Calibri</vt:lpstr>
      <vt:lpstr>Wingdings</vt:lpstr>
      <vt:lpstr>Thème HEC</vt:lpstr>
      <vt:lpstr>Contrôle de gestion stratégique </vt:lpstr>
      <vt:lpstr>Les outils d’aide à la prise de décision – Projets Long terme</vt:lpstr>
      <vt:lpstr>Présentation PowerPoint</vt:lpstr>
      <vt:lpstr>Structure de l’analyse </vt:lpstr>
      <vt:lpstr>Structure de l’analyse </vt:lpstr>
      <vt:lpstr>Calcul de la VAN d’un investissement </vt:lpstr>
      <vt:lpstr>La prise de décision en contexte d’incertitude</vt:lpstr>
      <vt:lpstr>La prise de décision en contexte d’incertitude</vt:lpstr>
      <vt:lpstr>Autres outils complémentaires </vt:lpstr>
      <vt:lpstr>Structure de l’analyse </vt:lpstr>
      <vt:lpstr>Conclusion quantitative </vt:lpstr>
      <vt:lpstr>Structure de l’analyse </vt:lpstr>
      <vt:lpstr>Structure recommandée </vt:lpstr>
      <vt:lpstr>Structure de l’analyse </vt:lpstr>
      <vt:lpstr>Recommandation lors de l’analyse de projets mutuellement exclusifs </vt:lpstr>
      <vt:lpstr>Matrice décisionnelle </vt:lpstr>
      <vt:lpstr>Matrice décisionnelle </vt:lpstr>
      <vt:lpstr>Matrice décisionnelle </vt:lpstr>
      <vt:lpstr>Recommandations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2020-09-10T21:00:41Z</dcterms:created>
  <dcterms:modified xsi:type="dcterms:W3CDTF">2025-02-13T20:03:58Z</dcterms:modified>
</cp:coreProperties>
</file>