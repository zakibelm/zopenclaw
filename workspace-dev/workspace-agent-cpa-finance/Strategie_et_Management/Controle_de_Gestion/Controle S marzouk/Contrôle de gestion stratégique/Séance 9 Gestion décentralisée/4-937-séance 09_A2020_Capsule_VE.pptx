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3.xml" ContentType="application/vnd.openxmlformats-officedocument.presentationml.notesSlide+xml"/>
  <Override PartName="/ppt/comments/modernComment_138_C5F8BE2B.xml" ContentType="application/vnd.ms-powerpoint.comment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4.xml" ContentType="application/vnd.openxmlformats-officedocument.presentationml.notesSlide+xml"/>
  <Override PartName="/ppt/comments/modernComment_139_72137F2A.xml" ContentType="application/vnd.ms-powerpoint.comment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5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6.xml" ContentType="application/vnd.openxmlformats-officedocument.presentationml.notesSlide+xml"/>
  <Override PartName="/ppt/comments/modernComment_13A_B0FA18E3.xml" ContentType="application/vnd.ms-powerpoint.comment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8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10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1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1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13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14.xml" ContentType="application/vnd.openxmlformats-officedocument.presentationml.notesSlid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15.xml" ContentType="application/vnd.openxmlformats-officedocument.presentationml.notesSl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16.xml" ContentType="application/vnd.openxmlformats-officedocument.presentationml.notesSlid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notesSlides/notesSlide17.xml" ContentType="application/vnd.openxmlformats-officedocument.presentationml.notesSlide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notesSlides/notesSlide18.xml" ContentType="application/vnd.openxmlformats-officedocument.presentationml.notesSlide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notesSlides/notesSlide19.xml" ContentType="application/vnd.openxmlformats-officedocument.presentationml.notesSlide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notesSlides/notesSlide20.xml" ContentType="application/vnd.openxmlformats-officedocument.presentationml.notesSlide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notesSlides/notesSlide21.xml" ContentType="application/vnd.openxmlformats-officedocument.presentationml.notesSlide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notesSlides/notesSlide22.xml" ContentType="application/vnd.openxmlformats-officedocument.presentationml.notesSlide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notesSlides/notesSlide23.xml" ContentType="application/vnd.openxmlformats-officedocument.presentationml.notesSlide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notesSlides/notesSlide24.xml" ContentType="application/vnd.openxmlformats-officedocument.presentationml.notesSlide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notesSlides/notesSlide25.xml" ContentType="application/vnd.openxmlformats-officedocument.presentationml.notesSlide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notesSlides/notesSlide26.xml" ContentType="application/vnd.openxmlformats-officedocument.presentationml.notesSlide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notesSlides/notesSlide27.xml" ContentType="application/vnd.openxmlformats-officedocument.presentationml.notesSlide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notesSlides/notesSlide28.xml" ContentType="application/vnd.openxmlformats-officedocument.presentationml.notesSlide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notesSlides/notesSlide29.xml" ContentType="application/vnd.openxmlformats-officedocument.presentationml.notesSlide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notesSlides/notesSlide30.xml" ContentType="application/vnd.openxmlformats-officedocument.presentationml.notesSlide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notesSlides/notesSlide31.xml" ContentType="application/vnd.openxmlformats-officedocument.presentationml.notesSlide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notesSlides/notesSlide32.xml" ContentType="application/vnd.openxmlformats-officedocument.presentationml.notesSlide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notesSlides/notesSlide33.xml" ContentType="application/vnd.openxmlformats-officedocument.presentationml.notesSlide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notesSlides/notesSlide34.xml" ContentType="application/vnd.openxmlformats-officedocument.presentationml.notesSlide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notesSlides/notesSlide35.xml" ContentType="application/vnd.openxmlformats-officedocument.presentationml.notesSlide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notesSlides/notesSlide36.xml" ContentType="application/vnd.openxmlformats-officedocument.presentationml.notesSlide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notesSlides/notesSlide37.xml" ContentType="application/vnd.openxmlformats-officedocument.presentationml.notesSlide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notesSlides/notesSlide38.xml" ContentType="application/vnd.openxmlformats-officedocument.presentationml.notesSlide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notesSlides/notesSlide39.xml" ContentType="application/vnd.openxmlformats-officedocument.presentationml.notesSlide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notesSlides/notesSlide40.xml" ContentType="application/vnd.openxmlformats-officedocument.presentationml.notesSlide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notesSlides/notesSlide41.xml" ContentType="application/vnd.openxmlformats-officedocument.presentationml.notesSlide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notesSlides/notesSlide42.xml" ContentType="application/vnd.openxmlformats-officedocument.presentationml.notesSlide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notesSlides/notesSlide43.xml" ContentType="application/vnd.openxmlformats-officedocument.presentationml.notesSlide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notesSlides/notesSlide44.xml" ContentType="application/vnd.openxmlformats-officedocument.presentationml.notesSlide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notesSlides/notesSlide45.xml" ContentType="application/vnd.openxmlformats-officedocument.presentationml.notesSlide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notesSlides/notesSlide4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4" r:id="rId1"/>
  </p:sldMasterIdLst>
  <p:notesMasterIdLst>
    <p:notesMasterId r:id="rId52"/>
  </p:notesMasterIdLst>
  <p:sldIdLst>
    <p:sldId id="261" r:id="rId2"/>
    <p:sldId id="266" r:id="rId3"/>
    <p:sldId id="312" r:id="rId4"/>
    <p:sldId id="313" r:id="rId5"/>
    <p:sldId id="371" r:id="rId6"/>
    <p:sldId id="314" r:id="rId7"/>
    <p:sldId id="351" r:id="rId8"/>
    <p:sldId id="319" r:id="rId9"/>
    <p:sldId id="352" r:id="rId10"/>
    <p:sldId id="315" r:id="rId11"/>
    <p:sldId id="353" r:id="rId12"/>
    <p:sldId id="355" r:id="rId13"/>
    <p:sldId id="354" r:id="rId14"/>
    <p:sldId id="316" r:id="rId15"/>
    <p:sldId id="317" r:id="rId16"/>
    <p:sldId id="346" r:id="rId17"/>
    <p:sldId id="356" r:id="rId18"/>
    <p:sldId id="320" r:id="rId19"/>
    <p:sldId id="321" r:id="rId20"/>
    <p:sldId id="335" r:id="rId21"/>
    <p:sldId id="347" r:id="rId22"/>
    <p:sldId id="348" r:id="rId23"/>
    <p:sldId id="372" r:id="rId24"/>
    <p:sldId id="349" r:id="rId25"/>
    <p:sldId id="357" r:id="rId26"/>
    <p:sldId id="337" r:id="rId27"/>
    <p:sldId id="323" r:id="rId28"/>
    <p:sldId id="338" r:id="rId29"/>
    <p:sldId id="326" r:id="rId30"/>
    <p:sldId id="358" r:id="rId31"/>
    <p:sldId id="340" r:id="rId32"/>
    <p:sldId id="343" r:id="rId33"/>
    <p:sldId id="359" r:id="rId34"/>
    <p:sldId id="362" r:id="rId35"/>
    <p:sldId id="363" r:id="rId36"/>
    <p:sldId id="361" r:id="rId37"/>
    <p:sldId id="364" r:id="rId38"/>
    <p:sldId id="327" r:id="rId39"/>
    <p:sldId id="342" r:id="rId40"/>
    <p:sldId id="360" r:id="rId41"/>
    <p:sldId id="365" r:id="rId42"/>
    <p:sldId id="373" r:id="rId43"/>
    <p:sldId id="366" r:id="rId44"/>
    <p:sldId id="368" r:id="rId45"/>
    <p:sldId id="367" r:id="rId46"/>
    <p:sldId id="369" r:id="rId47"/>
    <p:sldId id="370" r:id="rId48"/>
    <p:sldId id="341" r:id="rId49"/>
    <p:sldId id="344" r:id="rId50"/>
    <p:sldId id="345" r:id="rId51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8FB975C-4C1D-EA33-8340-77B3D970F02F}" name="SOKRI Marzouk" initials="SM" userId="bca8937e5be247ac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35" autoAdjust="0"/>
    <p:restoredTop sz="80947" autoAdjust="0"/>
  </p:normalViewPr>
  <p:slideViewPr>
    <p:cSldViewPr snapToGrid="0">
      <p:cViewPr varScale="1">
        <p:scale>
          <a:sx n="77" d="100"/>
          <a:sy n="77" d="100"/>
        </p:scale>
        <p:origin x="869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0" d="100"/>
          <a:sy n="90" d="100"/>
        </p:scale>
        <p:origin x="371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8/10/relationships/authors" Target="author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comments/modernComment_13A_B0FA18E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5F3839E-C48C-445C-AD29-78ECF74F3540}" authorId="{28FB975C-4C1D-EA33-8340-77B3D970F02F}" created="2025-03-16T15:13:17.11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969180387" sldId="314"/>
      <ac:graphicFrameMk id="6" creationId="{00000000-0000-0000-0000-000000000000}"/>
      <ac:tblMk/>
      <ac:tcMk rowId="10002" colId="20001"/>
      <ac:txMk cp="0" len="33">
        <ac:context len="34" hash="2453118185"/>
      </ac:txMk>
    </ac:txMkLst>
    <p188:pos x="9976816" y="1445660"/>
    <p188:txBody>
      <a:bodyPr/>
      <a:lstStyle/>
      <a:p>
        <a:r>
          <a:rPr lang="fr-CA"/>
          <a:t>Donc on aura plusieurs doublons </a:t>
        </a:r>
      </a:p>
    </p188:txBody>
  </p188:cm>
</p188:cmLst>
</file>

<file path=ppt/comments/modernComment_138_C5F8BE2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F578D3A-185E-45DF-9880-3BB616B8CCF8}" authorId="{28FB975C-4C1D-EA33-8340-77B3D970F02F}" created="2025-03-16T16:28:39.03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321413163" sldId="312"/>
      <ac:graphicFrameMk id="6" creationId="{00000000-0000-0000-0000-000000000000}"/>
    </ac:deMkLst>
    <p188:txBody>
      <a:bodyPr/>
      <a:lstStyle/>
      <a:p>
        <a:r>
          <a:rPr lang="fr-CA"/>
          <a:t>Généralement y’a un centre de cout puis un centre de revenu pense a dollarama ou bien a MacDonald </a:t>
        </a:r>
      </a:p>
    </p188:txBody>
  </p188:cm>
  <p188:cm id="{501744BF-54DC-4494-A502-9DBF4AD7A309}" authorId="{28FB975C-4C1D-EA33-8340-77B3D970F02F}" created="2025-03-16T16:32:13.78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321413163" sldId="312"/>
      <ac:graphicFrameMk id="6" creationId="{00000000-0000-0000-0000-000000000000}"/>
      <ac:tblMk/>
      <ac:tcMk rowId="10004" colId="20002"/>
      <ac:txMk cp="0" len="18">
        <ac:context len="19" hash="2735755981"/>
      </ac:txMk>
    </ac:txMkLst>
    <p188:pos x="8100391" y="1651883"/>
    <p188:txBody>
      <a:bodyPr/>
      <a:lstStyle/>
      <a:p>
        <a:r>
          <a:rPr lang="fr-CA"/>
          <a:t>S’approcher de marché </a:t>
        </a:r>
      </a:p>
    </p188:txBody>
  </p188:cm>
</p188:cmLst>
</file>

<file path=ppt/comments/modernComment_139_72137F2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E498ED2-D052-443C-AA8B-52A2A1ACF6CA}" authorId="{28FB975C-4C1D-EA33-8340-77B3D970F02F}" created="2025-03-16T16:38:19.81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913880362" sldId="313"/>
      <ac:spMk id="3" creationId="{00000000-0000-0000-0000-000000000000}"/>
      <ac:txMk cp="218" len="30">
        <ac:context len="323" hash="3322472910"/>
      </ac:txMk>
    </ac:txMkLst>
    <p188:pos x="6863963" y="3014502"/>
    <p188:txBody>
      <a:bodyPr/>
      <a:lstStyle/>
      <a:p>
        <a:r>
          <a:rPr lang="fr-CA"/>
          <a:t>Car les résponsables des centres des couts sont loins de la prise de decision 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88D364-903E-46FA-BB85-07756699654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4C78B014-B6DE-46B4-8F7B-3E9DAFCFF05E}">
      <dgm:prSet phldrT="[Texte]"/>
      <dgm:spPr/>
      <dgm:t>
        <a:bodyPr/>
        <a:lstStyle/>
        <a:p>
          <a:r>
            <a:rPr lang="fr-CA"/>
            <a:t>Niveau d’autonomie des gestionnaires</a:t>
          </a:r>
        </a:p>
      </dgm:t>
    </dgm:pt>
    <dgm:pt modelId="{F674EBBF-B021-4EDC-BAF2-A71478D84DA7}" type="parTrans" cxnId="{72E6012C-DD65-4DB8-B94A-83AB48A86B33}">
      <dgm:prSet/>
      <dgm:spPr/>
      <dgm:t>
        <a:bodyPr/>
        <a:lstStyle/>
        <a:p>
          <a:endParaRPr lang="fr-CA"/>
        </a:p>
      </dgm:t>
    </dgm:pt>
    <dgm:pt modelId="{D8283231-5446-4E7C-B79C-8A7505E8FBE9}" type="sibTrans" cxnId="{72E6012C-DD65-4DB8-B94A-83AB48A86B33}">
      <dgm:prSet/>
      <dgm:spPr/>
      <dgm:t>
        <a:bodyPr/>
        <a:lstStyle/>
        <a:p>
          <a:endParaRPr lang="fr-CA"/>
        </a:p>
      </dgm:t>
    </dgm:pt>
    <dgm:pt modelId="{CF03FA13-92B3-42C2-980D-85EA8E103048}">
      <dgm:prSet/>
      <dgm:spPr/>
      <dgm:t>
        <a:bodyPr/>
        <a:lstStyle/>
        <a:p>
          <a:r>
            <a:rPr lang="fr-CA"/>
            <a:t>Cohérence organisationnelle</a:t>
          </a:r>
          <a:endParaRPr lang="fr-CA" dirty="0"/>
        </a:p>
      </dgm:t>
    </dgm:pt>
    <dgm:pt modelId="{0F853256-07A2-43C6-809A-8CB148E6EC85}" type="parTrans" cxnId="{0A42F316-5239-465D-A08F-EDAD1EE8A683}">
      <dgm:prSet/>
      <dgm:spPr/>
      <dgm:t>
        <a:bodyPr/>
        <a:lstStyle/>
        <a:p>
          <a:endParaRPr lang="fr-CA"/>
        </a:p>
      </dgm:t>
    </dgm:pt>
    <dgm:pt modelId="{1C7D079A-496D-452C-9AB1-79E4448CF971}" type="sibTrans" cxnId="{0A42F316-5239-465D-A08F-EDAD1EE8A683}">
      <dgm:prSet/>
      <dgm:spPr/>
      <dgm:t>
        <a:bodyPr/>
        <a:lstStyle/>
        <a:p>
          <a:endParaRPr lang="fr-CA"/>
        </a:p>
      </dgm:t>
    </dgm:pt>
    <dgm:pt modelId="{903E8F27-D7D0-4F7A-9654-419F29735CB5}" type="pres">
      <dgm:prSet presAssocID="{9A88D364-903E-46FA-BB85-07756699654D}" presName="diagram" presStyleCnt="0">
        <dgm:presLayoutVars>
          <dgm:dir/>
          <dgm:resizeHandles val="exact"/>
        </dgm:presLayoutVars>
      </dgm:prSet>
      <dgm:spPr/>
    </dgm:pt>
    <dgm:pt modelId="{8401BA18-1A5E-4F21-A8D7-78B0621D7A79}" type="pres">
      <dgm:prSet presAssocID="{4C78B014-B6DE-46B4-8F7B-3E9DAFCFF05E}" presName="node" presStyleLbl="node1" presStyleIdx="0" presStyleCnt="2">
        <dgm:presLayoutVars>
          <dgm:bulletEnabled val="1"/>
        </dgm:presLayoutVars>
      </dgm:prSet>
      <dgm:spPr/>
    </dgm:pt>
    <dgm:pt modelId="{A827BE48-3CB1-48A7-98DF-F963A85250BF}" type="pres">
      <dgm:prSet presAssocID="{D8283231-5446-4E7C-B79C-8A7505E8FBE9}" presName="sibTrans" presStyleCnt="0"/>
      <dgm:spPr/>
    </dgm:pt>
    <dgm:pt modelId="{B826633C-2026-4083-B10B-12B1616B86A5}" type="pres">
      <dgm:prSet presAssocID="{CF03FA13-92B3-42C2-980D-85EA8E103048}" presName="node" presStyleLbl="node1" presStyleIdx="1" presStyleCnt="2">
        <dgm:presLayoutVars>
          <dgm:bulletEnabled val="1"/>
        </dgm:presLayoutVars>
      </dgm:prSet>
      <dgm:spPr/>
    </dgm:pt>
  </dgm:ptLst>
  <dgm:cxnLst>
    <dgm:cxn modelId="{0A42F316-5239-465D-A08F-EDAD1EE8A683}" srcId="{9A88D364-903E-46FA-BB85-07756699654D}" destId="{CF03FA13-92B3-42C2-980D-85EA8E103048}" srcOrd="1" destOrd="0" parTransId="{0F853256-07A2-43C6-809A-8CB148E6EC85}" sibTransId="{1C7D079A-496D-452C-9AB1-79E4448CF971}"/>
    <dgm:cxn modelId="{CEACCC1C-4440-4E47-97B2-5BDD7566007F}" type="presOf" srcId="{4C78B014-B6DE-46B4-8F7B-3E9DAFCFF05E}" destId="{8401BA18-1A5E-4F21-A8D7-78B0621D7A79}" srcOrd="0" destOrd="0" presId="urn:microsoft.com/office/officeart/2005/8/layout/default"/>
    <dgm:cxn modelId="{72E6012C-DD65-4DB8-B94A-83AB48A86B33}" srcId="{9A88D364-903E-46FA-BB85-07756699654D}" destId="{4C78B014-B6DE-46B4-8F7B-3E9DAFCFF05E}" srcOrd="0" destOrd="0" parTransId="{F674EBBF-B021-4EDC-BAF2-A71478D84DA7}" sibTransId="{D8283231-5446-4E7C-B79C-8A7505E8FBE9}"/>
    <dgm:cxn modelId="{CC87F886-07BA-49DA-806A-2AD6ABB86252}" type="presOf" srcId="{9A88D364-903E-46FA-BB85-07756699654D}" destId="{903E8F27-D7D0-4F7A-9654-419F29735CB5}" srcOrd="0" destOrd="0" presId="urn:microsoft.com/office/officeart/2005/8/layout/default"/>
    <dgm:cxn modelId="{9B896EC8-F27C-4927-A741-2B12F72B22F6}" type="presOf" srcId="{CF03FA13-92B3-42C2-980D-85EA8E103048}" destId="{B826633C-2026-4083-B10B-12B1616B86A5}" srcOrd="0" destOrd="0" presId="urn:microsoft.com/office/officeart/2005/8/layout/default"/>
    <dgm:cxn modelId="{8E5B37FB-5B77-4447-9F7B-BF1A7F72E6E0}" type="presParOf" srcId="{903E8F27-D7D0-4F7A-9654-419F29735CB5}" destId="{8401BA18-1A5E-4F21-A8D7-78B0621D7A79}" srcOrd="0" destOrd="0" presId="urn:microsoft.com/office/officeart/2005/8/layout/default"/>
    <dgm:cxn modelId="{19ED0821-4A45-4A59-80B4-41D61851BE52}" type="presParOf" srcId="{903E8F27-D7D0-4F7A-9654-419F29735CB5}" destId="{A827BE48-3CB1-48A7-98DF-F963A85250BF}" srcOrd="1" destOrd="0" presId="urn:microsoft.com/office/officeart/2005/8/layout/default"/>
    <dgm:cxn modelId="{C5DCAE67-1742-4291-B9BB-D8C0C6BF0DB0}" type="presParOf" srcId="{903E8F27-D7D0-4F7A-9654-419F29735CB5}" destId="{B826633C-2026-4083-B10B-12B1616B86A5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E22945F-B689-45E7-9F3E-164E860D5C7F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B9357478-C97A-4493-B44F-1C7920D6C2CA}">
      <dgm:prSet phldrT="[Texte]" custT="1"/>
      <dgm:spPr/>
      <dgm:t>
        <a:bodyPr/>
        <a:lstStyle/>
        <a:p>
          <a:r>
            <a:rPr lang="fr-CA" sz="1600" b="1" dirty="0"/>
            <a:t>Centre de responsabilité</a:t>
          </a:r>
        </a:p>
      </dgm:t>
    </dgm:pt>
    <dgm:pt modelId="{DB270049-11AB-4657-A469-65F3F071FA40}" type="parTrans" cxnId="{E9CEC7AA-D615-4C1E-8E85-883D4BEF91AC}">
      <dgm:prSet/>
      <dgm:spPr/>
      <dgm:t>
        <a:bodyPr/>
        <a:lstStyle/>
        <a:p>
          <a:endParaRPr lang="fr-CA"/>
        </a:p>
      </dgm:t>
    </dgm:pt>
    <dgm:pt modelId="{E58F24F3-B0E5-4178-B403-396B402A35E9}" type="sibTrans" cxnId="{E9CEC7AA-D615-4C1E-8E85-883D4BEF91AC}">
      <dgm:prSet/>
      <dgm:spPr/>
      <dgm:t>
        <a:bodyPr/>
        <a:lstStyle/>
        <a:p>
          <a:endParaRPr lang="fr-CA"/>
        </a:p>
      </dgm:t>
    </dgm:pt>
    <dgm:pt modelId="{31C62764-FAD8-4642-A341-1133A329D359}">
      <dgm:prSet phldrT="[Texte]" custT="1"/>
      <dgm:spPr/>
      <dgm:t>
        <a:bodyPr/>
        <a:lstStyle/>
        <a:p>
          <a:r>
            <a:rPr lang="fr-CA" sz="1800" b="1" dirty="0"/>
            <a:t>Mesure de la performance</a:t>
          </a:r>
        </a:p>
      </dgm:t>
    </dgm:pt>
    <dgm:pt modelId="{266B238F-D6A0-412B-9269-18883980C677}" type="parTrans" cxnId="{27BC7106-DE2A-4640-8603-9146403509FF}">
      <dgm:prSet/>
      <dgm:spPr/>
      <dgm:t>
        <a:bodyPr/>
        <a:lstStyle/>
        <a:p>
          <a:endParaRPr lang="fr-CA"/>
        </a:p>
      </dgm:t>
    </dgm:pt>
    <dgm:pt modelId="{DA55B3D1-E425-4951-BEC7-5BE0A32B972A}" type="sibTrans" cxnId="{27BC7106-DE2A-4640-8603-9146403509FF}">
      <dgm:prSet/>
      <dgm:spPr/>
      <dgm:t>
        <a:bodyPr/>
        <a:lstStyle/>
        <a:p>
          <a:endParaRPr lang="fr-CA"/>
        </a:p>
      </dgm:t>
    </dgm:pt>
    <dgm:pt modelId="{59C08BEA-C0B9-44DF-9E1B-89BF1B395E4C}">
      <dgm:prSet phldrT="[Texte]" custT="1"/>
      <dgm:spPr/>
      <dgm:t>
        <a:bodyPr/>
        <a:lstStyle/>
        <a:p>
          <a:r>
            <a:rPr lang="fr-CA" sz="1800" b="1" dirty="0"/>
            <a:t>PCI</a:t>
          </a:r>
          <a:endParaRPr lang="fr-CA" sz="2400" b="1" dirty="0"/>
        </a:p>
      </dgm:t>
    </dgm:pt>
    <dgm:pt modelId="{5ACAC649-B317-4A90-9B74-DB3B94108CBF}" type="parTrans" cxnId="{A0AE7C0F-BA2E-4805-965C-AF454027137F}">
      <dgm:prSet/>
      <dgm:spPr/>
      <dgm:t>
        <a:bodyPr/>
        <a:lstStyle/>
        <a:p>
          <a:endParaRPr lang="fr-CA"/>
        </a:p>
      </dgm:t>
    </dgm:pt>
    <dgm:pt modelId="{F7F3446C-0F60-478B-8220-7F8C7195F355}" type="sibTrans" cxnId="{A0AE7C0F-BA2E-4805-965C-AF454027137F}">
      <dgm:prSet/>
      <dgm:spPr/>
      <dgm:t>
        <a:bodyPr/>
        <a:lstStyle/>
        <a:p>
          <a:endParaRPr lang="fr-CA"/>
        </a:p>
      </dgm:t>
    </dgm:pt>
    <dgm:pt modelId="{940A974E-AA11-4162-894A-4911C7FF39CD}" type="pres">
      <dgm:prSet presAssocID="{3E22945F-B689-45E7-9F3E-164E860D5C7F}" presName="cycle" presStyleCnt="0">
        <dgm:presLayoutVars>
          <dgm:dir/>
          <dgm:resizeHandles val="exact"/>
        </dgm:presLayoutVars>
      </dgm:prSet>
      <dgm:spPr/>
    </dgm:pt>
    <dgm:pt modelId="{BE3EEAED-A5A0-4C58-A3D7-6B9F38AA9947}" type="pres">
      <dgm:prSet presAssocID="{B9357478-C97A-4493-B44F-1C7920D6C2CA}" presName="node" presStyleLbl="node1" presStyleIdx="0" presStyleCnt="3">
        <dgm:presLayoutVars>
          <dgm:bulletEnabled val="1"/>
        </dgm:presLayoutVars>
      </dgm:prSet>
      <dgm:spPr/>
    </dgm:pt>
    <dgm:pt modelId="{E7FC2CE9-5A77-4311-A81C-32E4C5B854C6}" type="pres">
      <dgm:prSet presAssocID="{E58F24F3-B0E5-4178-B403-396B402A35E9}" presName="sibTrans" presStyleLbl="sibTrans2D1" presStyleIdx="0" presStyleCnt="3"/>
      <dgm:spPr/>
    </dgm:pt>
    <dgm:pt modelId="{280C8E71-6EDC-48B0-B89F-F7ED138F7800}" type="pres">
      <dgm:prSet presAssocID="{E58F24F3-B0E5-4178-B403-396B402A35E9}" presName="connectorText" presStyleLbl="sibTrans2D1" presStyleIdx="0" presStyleCnt="3"/>
      <dgm:spPr/>
    </dgm:pt>
    <dgm:pt modelId="{235391BD-D69C-4382-B63E-FDCDA01FB0B2}" type="pres">
      <dgm:prSet presAssocID="{31C62764-FAD8-4642-A341-1133A329D359}" presName="node" presStyleLbl="node1" presStyleIdx="1" presStyleCnt="3">
        <dgm:presLayoutVars>
          <dgm:bulletEnabled val="1"/>
        </dgm:presLayoutVars>
      </dgm:prSet>
      <dgm:spPr/>
    </dgm:pt>
    <dgm:pt modelId="{010EC887-52A4-4EA7-851C-6A7000C36C2A}" type="pres">
      <dgm:prSet presAssocID="{DA55B3D1-E425-4951-BEC7-5BE0A32B972A}" presName="sibTrans" presStyleLbl="sibTrans2D1" presStyleIdx="1" presStyleCnt="3"/>
      <dgm:spPr/>
    </dgm:pt>
    <dgm:pt modelId="{4F7A5820-4876-44AB-B545-104C21DB970D}" type="pres">
      <dgm:prSet presAssocID="{DA55B3D1-E425-4951-BEC7-5BE0A32B972A}" presName="connectorText" presStyleLbl="sibTrans2D1" presStyleIdx="1" presStyleCnt="3"/>
      <dgm:spPr/>
    </dgm:pt>
    <dgm:pt modelId="{4365C74A-043F-4F05-AECB-858D31E438B7}" type="pres">
      <dgm:prSet presAssocID="{59C08BEA-C0B9-44DF-9E1B-89BF1B395E4C}" presName="node" presStyleLbl="node1" presStyleIdx="2" presStyleCnt="3">
        <dgm:presLayoutVars>
          <dgm:bulletEnabled val="1"/>
        </dgm:presLayoutVars>
      </dgm:prSet>
      <dgm:spPr/>
    </dgm:pt>
    <dgm:pt modelId="{A0C70EC8-5F37-4945-8D02-21EC5FC60D09}" type="pres">
      <dgm:prSet presAssocID="{F7F3446C-0F60-478B-8220-7F8C7195F355}" presName="sibTrans" presStyleLbl="sibTrans2D1" presStyleIdx="2" presStyleCnt="3"/>
      <dgm:spPr/>
    </dgm:pt>
    <dgm:pt modelId="{728CD426-C49A-4279-A4F9-0F81F05B64C7}" type="pres">
      <dgm:prSet presAssocID="{F7F3446C-0F60-478B-8220-7F8C7195F355}" presName="connectorText" presStyleLbl="sibTrans2D1" presStyleIdx="2" presStyleCnt="3"/>
      <dgm:spPr/>
    </dgm:pt>
  </dgm:ptLst>
  <dgm:cxnLst>
    <dgm:cxn modelId="{5B2D9300-26E9-4FD3-AC89-49287A3972E3}" type="presOf" srcId="{DA55B3D1-E425-4951-BEC7-5BE0A32B972A}" destId="{010EC887-52A4-4EA7-851C-6A7000C36C2A}" srcOrd="0" destOrd="0" presId="urn:microsoft.com/office/officeart/2005/8/layout/cycle2"/>
    <dgm:cxn modelId="{27BC7106-DE2A-4640-8603-9146403509FF}" srcId="{3E22945F-B689-45E7-9F3E-164E860D5C7F}" destId="{31C62764-FAD8-4642-A341-1133A329D359}" srcOrd="1" destOrd="0" parTransId="{266B238F-D6A0-412B-9269-18883980C677}" sibTransId="{DA55B3D1-E425-4951-BEC7-5BE0A32B972A}"/>
    <dgm:cxn modelId="{A0AE7C0F-BA2E-4805-965C-AF454027137F}" srcId="{3E22945F-B689-45E7-9F3E-164E860D5C7F}" destId="{59C08BEA-C0B9-44DF-9E1B-89BF1B395E4C}" srcOrd="2" destOrd="0" parTransId="{5ACAC649-B317-4A90-9B74-DB3B94108CBF}" sibTransId="{F7F3446C-0F60-478B-8220-7F8C7195F355}"/>
    <dgm:cxn modelId="{BDD7951E-4590-4402-A95F-5CB92F5FA222}" type="presOf" srcId="{E58F24F3-B0E5-4178-B403-396B402A35E9}" destId="{E7FC2CE9-5A77-4311-A81C-32E4C5B854C6}" srcOrd="0" destOrd="0" presId="urn:microsoft.com/office/officeart/2005/8/layout/cycle2"/>
    <dgm:cxn modelId="{4D03855D-ABA5-4960-B703-7785F362B017}" type="presOf" srcId="{3E22945F-B689-45E7-9F3E-164E860D5C7F}" destId="{940A974E-AA11-4162-894A-4911C7FF39CD}" srcOrd="0" destOrd="0" presId="urn:microsoft.com/office/officeart/2005/8/layout/cycle2"/>
    <dgm:cxn modelId="{2ADDD847-A55E-4A2D-AA29-C6A85429B3D5}" type="presOf" srcId="{B9357478-C97A-4493-B44F-1C7920D6C2CA}" destId="{BE3EEAED-A5A0-4C58-A3D7-6B9F38AA9947}" srcOrd="0" destOrd="0" presId="urn:microsoft.com/office/officeart/2005/8/layout/cycle2"/>
    <dgm:cxn modelId="{7CF84397-CE1A-4B4B-93DE-EF1E45E78EC3}" type="presOf" srcId="{F7F3446C-0F60-478B-8220-7F8C7195F355}" destId="{728CD426-C49A-4279-A4F9-0F81F05B64C7}" srcOrd="1" destOrd="0" presId="urn:microsoft.com/office/officeart/2005/8/layout/cycle2"/>
    <dgm:cxn modelId="{0DF5FAA2-57E2-488F-B3E6-ED66C9F2AA72}" type="presOf" srcId="{31C62764-FAD8-4642-A341-1133A329D359}" destId="{235391BD-D69C-4382-B63E-FDCDA01FB0B2}" srcOrd="0" destOrd="0" presId="urn:microsoft.com/office/officeart/2005/8/layout/cycle2"/>
    <dgm:cxn modelId="{E9CEC7AA-D615-4C1E-8E85-883D4BEF91AC}" srcId="{3E22945F-B689-45E7-9F3E-164E860D5C7F}" destId="{B9357478-C97A-4493-B44F-1C7920D6C2CA}" srcOrd="0" destOrd="0" parTransId="{DB270049-11AB-4657-A469-65F3F071FA40}" sibTransId="{E58F24F3-B0E5-4178-B403-396B402A35E9}"/>
    <dgm:cxn modelId="{52AA00C0-6C9C-41C9-BD82-626388C852A9}" type="presOf" srcId="{F7F3446C-0F60-478B-8220-7F8C7195F355}" destId="{A0C70EC8-5F37-4945-8D02-21EC5FC60D09}" srcOrd="0" destOrd="0" presId="urn:microsoft.com/office/officeart/2005/8/layout/cycle2"/>
    <dgm:cxn modelId="{162B24DE-184C-489B-A4D6-B60998A4C7D0}" type="presOf" srcId="{DA55B3D1-E425-4951-BEC7-5BE0A32B972A}" destId="{4F7A5820-4876-44AB-B545-104C21DB970D}" srcOrd="1" destOrd="0" presId="urn:microsoft.com/office/officeart/2005/8/layout/cycle2"/>
    <dgm:cxn modelId="{3BD029E2-B384-476E-B2FC-B4F60BC73A07}" type="presOf" srcId="{59C08BEA-C0B9-44DF-9E1B-89BF1B395E4C}" destId="{4365C74A-043F-4F05-AECB-858D31E438B7}" srcOrd="0" destOrd="0" presId="urn:microsoft.com/office/officeart/2005/8/layout/cycle2"/>
    <dgm:cxn modelId="{A72A4BF4-2B84-4DA7-ACAE-1CCDC0AE76D8}" type="presOf" srcId="{E58F24F3-B0E5-4178-B403-396B402A35E9}" destId="{280C8E71-6EDC-48B0-B89F-F7ED138F7800}" srcOrd="1" destOrd="0" presId="urn:microsoft.com/office/officeart/2005/8/layout/cycle2"/>
    <dgm:cxn modelId="{D2C9395C-1585-4587-9701-991BBAE05693}" type="presParOf" srcId="{940A974E-AA11-4162-894A-4911C7FF39CD}" destId="{BE3EEAED-A5A0-4C58-A3D7-6B9F38AA9947}" srcOrd="0" destOrd="0" presId="urn:microsoft.com/office/officeart/2005/8/layout/cycle2"/>
    <dgm:cxn modelId="{8711594E-0ED1-4F42-8026-A26FD4A05B57}" type="presParOf" srcId="{940A974E-AA11-4162-894A-4911C7FF39CD}" destId="{E7FC2CE9-5A77-4311-A81C-32E4C5B854C6}" srcOrd="1" destOrd="0" presId="urn:microsoft.com/office/officeart/2005/8/layout/cycle2"/>
    <dgm:cxn modelId="{DEF4E661-443D-4EE8-9302-146966C56D31}" type="presParOf" srcId="{E7FC2CE9-5A77-4311-A81C-32E4C5B854C6}" destId="{280C8E71-6EDC-48B0-B89F-F7ED138F7800}" srcOrd="0" destOrd="0" presId="urn:microsoft.com/office/officeart/2005/8/layout/cycle2"/>
    <dgm:cxn modelId="{7614ABA0-6EEF-45CD-931F-3BD685073452}" type="presParOf" srcId="{940A974E-AA11-4162-894A-4911C7FF39CD}" destId="{235391BD-D69C-4382-B63E-FDCDA01FB0B2}" srcOrd="2" destOrd="0" presId="urn:microsoft.com/office/officeart/2005/8/layout/cycle2"/>
    <dgm:cxn modelId="{F269F700-02CC-44B4-833A-2ADA851F6168}" type="presParOf" srcId="{940A974E-AA11-4162-894A-4911C7FF39CD}" destId="{010EC887-52A4-4EA7-851C-6A7000C36C2A}" srcOrd="3" destOrd="0" presId="urn:microsoft.com/office/officeart/2005/8/layout/cycle2"/>
    <dgm:cxn modelId="{2F686942-CF7D-46B6-AE7B-339436D3FD6A}" type="presParOf" srcId="{010EC887-52A4-4EA7-851C-6A7000C36C2A}" destId="{4F7A5820-4876-44AB-B545-104C21DB970D}" srcOrd="0" destOrd="0" presId="urn:microsoft.com/office/officeart/2005/8/layout/cycle2"/>
    <dgm:cxn modelId="{80A30A7F-53FE-48B9-AD9B-DBCA068F33BA}" type="presParOf" srcId="{940A974E-AA11-4162-894A-4911C7FF39CD}" destId="{4365C74A-043F-4F05-AECB-858D31E438B7}" srcOrd="4" destOrd="0" presId="urn:microsoft.com/office/officeart/2005/8/layout/cycle2"/>
    <dgm:cxn modelId="{BDC7B80C-DA0A-4B72-8BF8-9A388AC2D45D}" type="presParOf" srcId="{940A974E-AA11-4162-894A-4911C7FF39CD}" destId="{A0C70EC8-5F37-4945-8D02-21EC5FC60D09}" srcOrd="5" destOrd="0" presId="urn:microsoft.com/office/officeart/2005/8/layout/cycle2"/>
    <dgm:cxn modelId="{56D3A863-4323-426B-9A77-8F1D13DAFB51}" type="presParOf" srcId="{A0C70EC8-5F37-4945-8D02-21EC5FC60D09}" destId="{728CD426-C49A-4279-A4F9-0F81F05B64C7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E22945F-B689-45E7-9F3E-164E860D5C7F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B9357478-C97A-4493-B44F-1C7920D6C2CA}">
      <dgm:prSet phldrT="[Texte]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fr-CA" dirty="0"/>
            <a:t>Centre de responsabilité</a:t>
          </a:r>
        </a:p>
      </dgm:t>
    </dgm:pt>
    <dgm:pt modelId="{DB270049-11AB-4657-A469-65F3F071FA40}" type="parTrans" cxnId="{E9CEC7AA-D615-4C1E-8E85-883D4BEF91AC}">
      <dgm:prSet/>
      <dgm:spPr/>
      <dgm:t>
        <a:bodyPr/>
        <a:lstStyle/>
        <a:p>
          <a:endParaRPr lang="fr-CA"/>
        </a:p>
      </dgm:t>
    </dgm:pt>
    <dgm:pt modelId="{E58F24F3-B0E5-4178-B403-396B402A35E9}" type="sibTrans" cxnId="{E9CEC7AA-D615-4C1E-8E85-883D4BEF91AC}">
      <dgm:prSet/>
      <dgm:spPr/>
      <dgm:t>
        <a:bodyPr/>
        <a:lstStyle/>
        <a:p>
          <a:endParaRPr lang="fr-CA"/>
        </a:p>
      </dgm:t>
    </dgm:pt>
    <dgm:pt modelId="{31C62764-FAD8-4642-A341-1133A329D359}">
      <dgm:prSet phldrT="[Texte]"/>
      <dgm:spPr/>
      <dgm:t>
        <a:bodyPr/>
        <a:lstStyle/>
        <a:p>
          <a:r>
            <a:rPr lang="fr-CA" dirty="0"/>
            <a:t>Mesure de la performance</a:t>
          </a:r>
        </a:p>
      </dgm:t>
    </dgm:pt>
    <dgm:pt modelId="{266B238F-D6A0-412B-9269-18883980C677}" type="parTrans" cxnId="{27BC7106-DE2A-4640-8603-9146403509FF}">
      <dgm:prSet/>
      <dgm:spPr/>
      <dgm:t>
        <a:bodyPr/>
        <a:lstStyle/>
        <a:p>
          <a:endParaRPr lang="fr-CA"/>
        </a:p>
      </dgm:t>
    </dgm:pt>
    <dgm:pt modelId="{DA55B3D1-E425-4951-BEC7-5BE0A32B972A}" type="sibTrans" cxnId="{27BC7106-DE2A-4640-8603-9146403509FF}">
      <dgm:prSet/>
      <dgm:spPr/>
      <dgm:t>
        <a:bodyPr/>
        <a:lstStyle/>
        <a:p>
          <a:endParaRPr lang="fr-CA"/>
        </a:p>
      </dgm:t>
    </dgm:pt>
    <dgm:pt modelId="{59C08BEA-C0B9-44DF-9E1B-89BF1B395E4C}">
      <dgm:prSet phldrT="[Texte]"/>
      <dgm:spPr/>
      <dgm:t>
        <a:bodyPr/>
        <a:lstStyle/>
        <a:p>
          <a:r>
            <a:rPr lang="fr-CA" dirty="0"/>
            <a:t>PCI</a:t>
          </a:r>
        </a:p>
      </dgm:t>
    </dgm:pt>
    <dgm:pt modelId="{5ACAC649-B317-4A90-9B74-DB3B94108CBF}" type="parTrans" cxnId="{A0AE7C0F-BA2E-4805-965C-AF454027137F}">
      <dgm:prSet/>
      <dgm:spPr/>
      <dgm:t>
        <a:bodyPr/>
        <a:lstStyle/>
        <a:p>
          <a:endParaRPr lang="fr-CA"/>
        </a:p>
      </dgm:t>
    </dgm:pt>
    <dgm:pt modelId="{F7F3446C-0F60-478B-8220-7F8C7195F355}" type="sibTrans" cxnId="{A0AE7C0F-BA2E-4805-965C-AF454027137F}">
      <dgm:prSet/>
      <dgm:spPr/>
      <dgm:t>
        <a:bodyPr/>
        <a:lstStyle/>
        <a:p>
          <a:endParaRPr lang="fr-CA"/>
        </a:p>
      </dgm:t>
    </dgm:pt>
    <dgm:pt modelId="{940A974E-AA11-4162-894A-4911C7FF39CD}" type="pres">
      <dgm:prSet presAssocID="{3E22945F-B689-45E7-9F3E-164E860D5C7F}" presName="cycle" presStyleCnt="0">
        <dgm:presLayoutVars>
          <dgm:dir/>
          <dgm:resizeHandles val="exact"/>
        </dgm:presLayoutVars>
      </dgm:prSet>
      <dgm:spPr/>
    </dgm:pt>
    <dgm:pt modelId="{BE3EEAED-A5A0-4C58-A3D7-6B9F38AA9947}" type="pres">
      <dgm:prSet presAssocID="{B9357478-C97A-4493-B44F-1C7920D6C2CA}" presName="node" presStyleLbl="node1" presStyleIdx="0" presStyleCnt="3">
        <dgm:presLayoutVars>
          <dgm:bulletEnabled val="1"/>
        </dgm:presLayoutVars>
      </dgm:prSet>
      <dgm:spPr/>
    </dgm:pt>
    <dgm:pt modelId="{E7FC2CE9-5A77-4311-A81C-32E4C5B854C6}" type="pres">
      <dgm:prSet presAssocID="{E58F24F3-B0E5-4178-B403-396B402A35E9}" presName="sibTrans" presStyleLbl="sibTrans2D1" presStyleIdx="0" presStyleCnt="3"/>
      <dgm:spPr/>
    </dgm:pt>
    <dgm:pt modelId="{280C8E71-6EDC-48B0-B89F-F7ED138F7800}" type="pres">
      <dgm:prSet presAssocID="{E58F24F3-B0E5-4178-B403-396B402A35E9}" presName="connectorText" presStyleLbl="sibTrans2D1" presStyleIdx="0" presStyleCnt="3"/>
      <dgm:spPr/>
    </dgm:pt>
    <dgm:pt modelId="{235391BD-D69C-4382-B63E-FDCDA01FB0B2}" type="pres">
      <dgm:prSet presAssocID="{31C62764-FAD8-4642-A341-1133A329D359}" presName="node" presStyleLbl="node1" presStyleIdx="1" presStyleCnt="3">
        <dgm:presLayoutVars>
          <dgm:bulletEnabled val="1"/>
        </dgm:presLayoutVars>
      </dgm:prSet>
      <dgm:spPr/>
    </dgm:pt>
    <dgm:pt modelId="{010EC887-52A4-4EA7-851C-6A7000C36C2A}" type="pres">
      <dgm:prSet presAssocID="{DA55B3D1-E425-4951-BEC7-5BE0A32B972A}" presName="sibTrans" presStyleLbl="sibTrans2D1" presStyleIdx="1" presStyleCnt="3"/>
      <dgm:spPr/>
    </dgm:pt>
    <dgm:pt modelId="{4F7A5820-4876-44AB-B545-104C21DB970D}" type="pres">
      <dgm:prSet presAssocID="{DA55B3D1-E425-4951-BEC7-5BE0A32B972A}" presName="connectorText" presStyleLbl="sibTrans2D1" presStyleIdx="1" presStyleCnt="3"/>
      <dgm:spPr/>
    </dgm:pt>
    <dgm:pt modelId="{4365C74A-043F-4F05-AECB-858D31E438B7}" type="pres">
      <dgm:prSet presAssocID="{59C08BEA-C0B9-44DF-9E1B-89BF1B395E4C}" presName="node" presStyleLbl="node1" presStyleIdx="2" presStyleCnt="3">
        <dgm:presLayoutVars>
          <dgm:bulletEnabled val="1"/>
        </dgm:presLayoutVars>
      </dgm:prSet>
      <dgm:spPr/>
    </dgm:pt>
    <dgm:pt modelId="{A0C70EC8-5F37-4945-8D02-21EC5FC60D09}" type="pres">
      <dgm:prSet presAssocID="{F7F3446C-0F60-478B-8220-7F8C7195F355}" presName="sibTrans" presStyleLbl="sibTrans2D1" presStyleIdx="2" presStyleCnt="3"/>
      <dgm:spPr/>
    </dgm:pt>
    <dgm:pt modelId="{728CD426-C49A-4279-A4F9-0F81F05B64C7}" type="pres">
      <dgm:prSet presAssocID="{F7F3446C-0F60-478B-8220-7F8C7195F355}" presName="connectorText" presStyleLbl="sibTrans2D1" presStyleIdx="2" presStyleCnt="3"/>
      <dgm:spPr/>
    </dgm:pt>
  </dgm:ptLst>
  <dgm:cxnLst>
    <dgm:cxn modelId="{5B2D9300-26E9-4FD3-AC89-49287A3972E3}" type="presOf" srcId="{DA55B3D1-E425-4951-BEC7-5BE0A32B972A}" destId="{010EC887-52A4-4EA7-851C-6A7000C36C2A}" srcOrd="0" destOrd="0" presId="urn:microsoft.com/office/officeart/2005/8/layout/cycle2"/>
    <dgm:cxn modelId="{27BC7106-DE2A-4640-8603-9146403509FF}" srcId="{3E22945F-B689-45E7-9F3E-164E860D5C7F}" destId="{31C62764-FAD8-4642-A341-1133A329D359}" srcOrd="1" destOrd="0" parTransId="{266B238F-D6A0-412B-9269-18883980C677}" sibTransId="{DA55B3D1-E425-4951-BEC7-5BE0A32B972A}"/>
    <dgm:cxn modelId="{A0AE7C0F-BA2E-4805-965C-AF454027137F}" srcId="{3E22945F-B689-45E7-9F3E-164E860D5C7F}" destId="{59C08BEA-C0B9-44DF-9E1B-89BF1B395E4C}" srcOrd="2" destOrd="0" parTransId="{5ACAC649-B317-4A90-9B74-DB3B94108CBF}" sibTransId="{F7F3446C-0F60-478B-8220-7F8C7195F355}"/>
    <dgm:cxn modelId="{BDD7951E-4590-4402-A95F-5CB92F5FA222}" type="presOf" srcId="{E58F24F3-B0E5-4178-B403-396B402A35E9}" destId="{E7FC2CE9-5A77-4311-A81C-32E4C5B854C6}" srcOrd="0" destOrd="0" presId="urn:microsoft.com/office/officeart/2005/8/layout/cycle2"/>
    <dgm:cxn modelId="{4D03855D-ABA5-4960-B703-7785F362B017}" type="presOf" srcId="{3E22945F-B689-45E7-9F3E-164E860D5C7F}" destId="{940A974E-AA11-4162-894A-4911C7FF39CD}" srcOrd="0" destOrd="0" presId="urn:microsoft.com/office/officeart/2005/8/layout/cycle2"/>
    <dgm:cxn modelId="{2ADDD847-A55E-4A2D-AA29-C6A85429B3D5}" type="presOf" srcId="{B9357478-C97A-4493-B44F-1C7920D6C2CA}" destId="{BE3EEAED-A5A0-4C58-A3D7-6B9F38AA9947}" srcOrd="0" destOrd="0" presId="urn:microsoft.com/office/officeart/2005/8/layout/cycle2"/>
    <dgm:cxn modelId="{7CF84397-CE1A-4B4B-93DE-EF1E45E78EC3}" type="presOf" srcId="{F7F3446C-0F60-478B-8220-7F8C7195F355}" destId="{728CD426-C49A-4279-A4F9-0F81F05B64C7}" srcOrd="1" destOrd="0" presId="urn:microsoft.com/office/officeart/2005/8/layout/cycle2"/>
    <dgm:cxn modelId="{0DF5FAA2-57E2-488F-B3E6-ED66C9F2AA72}" type="presOf" srcId="{31C62764-FAD8-4642-A341-1133A329D359}" destId="{235391BD-D69C-4382-B63E-FDCDA01FB0B2}" srcOrd="0" destOrd="0" presId="urn:microsoft.com/office/officeart/2005/8/layout/cycle2"/>
    <dgm:cxn modelId="{E9CEC7AA-D615-4C1E-8E85-883D4BEF91AC}" srcId="{3E22945F-B689-45E7-9F3E-164E860D5C7F}" destId="{B9357478-C97A-4493-B44F-1C7920D6C2CA}" srcOrd="0" destOrd="0" parTransId="{DB270049-11AB-4657-A469-65F3F071FA40}" sibTransId="{E58F24F3-B0E5-4178-B403-396B402A35E9}"/>
    <dgm:cxn modelId="{52AA00C0-6C9C-41C9-BD82-626388C852A9}" type="presOf" srcId="{F7F3446C-0F60-478B-8220-7F8C7195F355}" destId="{A0C70EC8-5F37-4945-8D02-21EC5FC60D09}" srcOrd="0" destOrd="0" presId="urn:microsoft.com/office/officeart/2005/8/layout/cycle2"/>
    <dgm:cxn modelId="{162B24DE-184C-489B-A4D6-B60998A4C7D0}" type="presOf" srcId="{DA55B3D1-E425-4951-BEC7-5BE0A32B972A}" destId="{4F7A5820-4876-44AB-B545-104C21DB970D}" srcOrd="1" destOrd="0" presId="urn:microsoft.com/office/officeart/2005/8/layout/cycle2"/>
    <dgm:cxn modelId="{3BD029E2-B384-476E-B2FC-B4F60BC73A07}" type="presOf" srcId="{59C08BEA-C0B9-44DF-9E1B-89BF1B395E4C}" destId="{4365C74A-043F-4F05-AECB-858D31E438B7}" srcOrd="0" destOrd="0" presId="urn:microsoft.com/office/officeart/2005/8/layout/cycle2"/>
    <dgm:cxn modelId="{A72A4BF4-2B84-4DA7-ACAE-1CCDC0AE76D8}" type="presOf" srcId="{E58F24F3-B0E5-4178-B403-396B402A35E9}" destId="{280C8E71-6EDC-48B0-B89F-F7ED138F7800}" srcOrd="1" destOrd="0" presId="urn:microsoft.com/office/officeart/2005/8/layout/cycle2"/>
    <dgm:cxn modelId="{D2C9395C-1585-4587-9701-991BBAE05693}" type="presParOf" srcId="{940A974E-AA11-4162-894A-4911C7FF39CD}" destId="{BE3EEAED-A5A0-4C58-A3D7-6B9F38AA9947}" srcOrd="0" destOrd="0" presId="urn:microsoft.com/office/officeart/2005/8/layout/cycle2"/>
    <dgm:cxn modelId="{8711594E-0ED1-4F42-8026-A26FD4A05B57}" type="presParOf" srcId="{940A974E-AA11-4162-894A-4911C7FF39CD}" destId="{E7FC2CE9-5A77-4311-A81C-32E4C5B854C6}" srcOrd="1" destOrd="0" presId="urn:microsoft.com/office/officeart/2005/8/layout/cycle2"/>
    <dgm:cxn modelId="{DEF4E661-443D-4EE8-9302-146966C56D31}" type="presParOf" srcId="{E7FC2CE9-5A77-4311-A81C-32E4C5B854C6}" destId="{280C8E71-6EDC-48B0-B89F-F7ED138F7800}" srcOrd="0" destOrd="0" presId="urn:microsoft.com/office/officeart/2005/8/layout/cycle2"/>
    <dgm:cxn modelId="{7614ABA0-6EEF-45CD-931F-3BD685073452}" type="presParOf" srcId="{940A974E-AA11-4162-894A-4911C7FF39CD}" destId="{235391BD-D69C-4382-B63E-FDCDA01FB0B2}" srcOrd="2" destOrd="0" presId="urn:microsoft.com/office/officeart/2005/8/layout/cycle2"/>
    <dgm:cxn modelId="{F269F700-02CC-44B4-833A-2ADA851F6168}" type="presParOf" srcId="{940A974E-AA11-4162-894A-4911C7FF39CD}" destId="{010EC887-52A4-4EA7-851C-6A7000C36C2A}" srcOrd="3" destOrd="0" presId="urn:microsoft.com/office/officeart/2005/8/layout/cycle2"/>
    <dgm:cxn modelId="{2F686942-CF7D-46B6-AE7B-339436D3FD6A}" type="presParOf" srcId="{010EC887-52A4-4EA7-851C-6A7000C36C2A}" destId="{4F7A5820-4876-44AB-B545-104C21DB970D}" srcOrd="0" destOrd="0" presId="urn:microsoft.com/office/officeart/2005/8/layout/cycle2"/>
    <dgm:cxn modelId="{80A30A7F-53FE-48B9-AD9B-DBCA068F33BA}" type="presParOf" srcId="{940A974E-AA11-4162-894A-4911C7FF39CD}" destId="{4365C74A-043F-4F05-AECB-858D31E438B7}" srcOrd="4" destOrd="0" presId="urn:microsoft.com/office/officeart/2005/8/layout/cycle2"/>
    <dgm:cxn modelId="{BDC7B80C-DA0A-4B72-8BF8-9A388AC2D45D}" type="presParOf" srcId="{940A974E-AA11-4162-894A-4911C7FF39CD}" destId="{A0C70EC8-5F37-4945-8D02-21EC5FC60D09}" srcOrd="5" destOrd="0" presId="urn:microsoft.com/office/officeart/2005/8/layout/cycle2"/>
    <dgm:cxn modelId="{56D3A863-4323-426B-9A77-8F1D13DAFB51}" type="presParOf" srcId="{A0C70EC8-5F37-4945-8D02-21EC5FC60D09}" destId="{728CD426-C49A-4279-A4F9-0F81F05B64C7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E22945F-B689-45E7-9F3E-164E860D5C7F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B9357478-C97A-4493-B44F-1C7920D6C2CA}">
      <dgm:prSet phldrT="[Texte]"/>
      <dgm:spPr/>
      <dgm:t>
        <a:bodyPr/>
        <a:lstStyle/>
        <a:p>
          <a:r>
            <a:rPr lang="fr-CA" dirty="0"/>
            <a:t>Centre de responsabilité</a:t>
          </a:r>
        </a:p>
      </dgm:t>
    </dgm:pt>
    <dgm:pt modelId="{DB270049-11AB-4657-A469-65F3F071FA40}" type="parTrans" cxnId="{E9CEC7AA-D615-4C1E-8E85-883D4BEF91AC}">
      <dgm:prSet/>
      <dgm:spPr/>
      <dgm:t>
        <a:bodyPr/>
        <a:lstStyle/>
        <a:p>
          <a:endParaRPr lang="fr-CA"/>
        </a:p>
      </dgm:t>
    </dgm:pt>
    <dgm:pt modelId="{E58F24F3-B0E5-4178-B403-396B402A35E9}" type="sibTrans" cxnId="{E9CEC7AA-D615-4C1E-8E85-883D4BEF91AC}">
      <dgm:prSet/>
      <dgm:spPr/>
      <dgm:t>
        <a:bodyPr/>
        <a:lstStyle/>
        <a:p>
          <a:endParaRPr lang="fr-CA"/>
        </a:p>
      </dgm:t>
    </dgm:pt>
    <dgm:pt modelId="{31C62764-FAD8-4642-A341-1133A329D359}">
      <dgm:prSet phldrT="[Texte]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fr-CA" dirty="0"/>
            <a:t>Mesure de la performance</a:t>
          </a:r>
        </a:p>
      </dgm:t>
    </dgm:pt>
    <dgm:pt modelId="{266B238F-D6A0-412B-9269-18883980C677}" type="parTrans" cxnId="{27BC7106-DE2A-4640-8603-9146403509FF}">
      <dgm:prSet/>
      <dgm:spPr/>
      <dgm:t>
        <a:bodyPr/>
        <a:lstStyle/>
        <a:p>
          <a:endParaRPr lang="fr-CA"/>
        </a:p>
      </dgm:t>
    </dgm:pt>
    <dgm:pt modelId="{DA55B3D1-E425-4951-BEC7-5BE0A32B972A}" type="sibTrans" cxnId="{27BC7106-DE2A-4640-8603-9146403509FF}">
      <dgm:prSet/>
      <dgm:spPr/>
      <dgm:t>
        <a:bodyPr/>
        <a:lstStyle/>
        <a:p>
          <a:endParaRPr lang="fr-CA"/>
        </a:p>
      </dgm:t>
    </dgm:pt>
    <dgm:pt modelId="{59C08BEA-C0B9-44DF-9E1B-89BF1B395E4C}">
      <dgm:prSet phldrT="[Texte]"/>
      <dgm:spPr/>
      <dgm:t>
        <a:bodyPr/>
        <a:lstStyle/>
        <a:p>
          <a:r>
            <a:rPr lang="fr-CA" dirty="0"/>
            <a:t>PCI</a:t>
          </a:r>
        </a:p>
      </dgm:t>
    </dgm:pt>
    <dgm:pt modelId="{5ACAC649-B317-4A90-9B74-DB3B94108CBF}" type="parTrans" cxnId="{A0AE7C0F-BA2E-4805-965C-AF454027137F}">
      <dgm:prSet/>
      <dgm:spPr/>
      <dgm:t>
        <a:bodyPr/>
        <a:lstStyle/>
        <a:p>
          <a:endParaRPr lang="fr-CA"/>
        </a:p>
      </dgm:t>
    </dgm:pt>
    <dgm:pt modelId="{F7F3446C-0F60-478B-8220-7F8C7195F355}" type="sibTrans" cxnId="{A0AE7C0F-BA2E-4805-965C-AF454027137F}">
      <dgm:prSet/>
      <dgm:spPr/>
      <dgm:t>
        <a:bodyPr/>
        <a:lstStyle/>
        <a:p>
          <a:endParaRPr lang="fr-CA"/>
        </a:p>
      </dgm:t>
    </dgm:pt>
    <dgm:pt modelId="{940A974E-AA11-4162-894A-4911C7FF39CD}" type="pres">
      <dgm:prSet presAssocID="{3E22945F-B689-45E7-9F3E-164E860D5C7F}" presName="cycle" presStyleCnt="0">
        <dgm:presLayoutVars>
          <dgm:dir/>
          <dgm:resizeHandles val="exact"/>
        </dgm:presLayoutVars>
      </dgm:prSet>
      <dgm:spPr/>
    </dgm:pt>
    <dgm:pt modelId="{BE3EEAED-A5A0-4C58-A3D7-6B9F38AA9947}" type="pres">
      <dgm:prSet presAssocID="{B9357478-C97A-4493-B44F-1C7920D6C2CA}" presName="node" presStyleLbl="node1" presStyleIdx="0" presStyleCnt="3">
        <dgm:presLayoutVars>
          <dgm:bulletEnabled val="1"/>
        </dgm:presLayoutVars>
      </dgm:prSet>
      <dgm:spPr/>
    </dgm:pt>
    <dgm:pt modelId="{E7FC2CE9-5A77-4311-A81C-32E4C5B854C6}" type="pres">
      <dgm:prSet presAssocID="{E58F24F3-B0E5-4178-B403-396B402A35E9}" presName="sibTrans" presStyleLbl="sibTrans2D1" presStyleIdx="0" presStyleCnt="3"/>
      <dgm:spPr/>
    </dgm:pt>
    <dgm:pt modelId="{280C8E71-6EDC-48B0-B89F-F7ED138F7800}" type="pres">
      <dgm:prSet presAssocID="{E58F24F3-B0E5-4178-B403-396B402A35E9}" presName="connectorText" presStyleLbl="sibTrans2D1" presStyleIdx="0" presStyleCnt="3"/>
      <dgm:spPr/>
    </dgm:pt>
    <dgm:pt modelId="{235391BD-D69C-4382-B63E-FDCDA01FB0B2}" type="pres">
      <dgm:prSet presAssocID="{31C62764-FAD8-4642-A341-1133A329D359}" presName="node" presStyleLbl="node1" presStyleIdx="1" presStyleCnt="3">
        <dgm:presLayoutVars>
          <dgm:bulletEnabled val="1"/>
        </dgm:presLayoutVars>
      </dgm:prSet>
      <dgm:spPr/>
    </dgm:pt>
    <dgm:pt modelId="{010EC887-52A4-4EA7-851C-6A7000C36C2A}" type="pres">
      <dgm:prSet presAssocID="{DA55B3D1-E425-4951-BEC7-5BE0A32B972A}" presName="sibTrans" presStyleLbl="sibTrans2D1" presStyleIdx="1" presStyleCnt="3"/>
      <dgm:spPr/>
    </dgm:pt>
    <dgm:pt modelId="{4F7A5820-4876-44AB-B545-104C21DB970D}" type="pres">
      <dgm:prSet presAssocID="{DA55B3D1-E425-4951-BEC7-5BE0A32B972A}" presName="connectorText" presStyleLbl="sibTrans2D1" presStyleIdx="1" presStyleCnt="3"/>
      <dgm:spPr/>
    </dgm:pt>
    <dgm:pt modelId="{4365C74A-043F-4F05-AECB-858D31E438B7}" type="pres">
      <dgm:prSet presAssocID="{59C08BEA-C0B9-44DF-9E1B-89BF1B395E4C}" presName="node" presStyleLbl="node1" presStyleIdx="2" presStyleCnt="3">
        <dgm:presLayoutVars>
          <dgm:bulletEnabled val="1"/>
        </dgm:presLayoutVars>
      </dgm:prSet>
      <dgm:spPr/>
    </dgm:pt>
    <dgm:pt modelId="{A0C70EC8-5F37-4945-8D02-21EC5FC60D09}" type="pres">
      <dgm:prSet presAssocID="{F7F3446C-0F60-478B-8220-7F8C7195F355}" presName="sibTrans" presStyleLbl="sibTrans2D1" presStyleIdx="2" presStyleCnt="3"/>
      <dgm:spPr/>
    </dgm:pt>
    <dgm:pt modelId="{728CD426-C49A-4279-A4F9-0F81F05B64C7}" type="pres">
      <dgm:prSet presAssocID="{F7F3446C-0F60-478B-8220-7F8C7195F355}" presName="connectorText" presStyleLbl="sibTrans2D1" presStyleIdx="2" presStyleCnt="3"/>
      <dgm:spPr/>
    </dgm:pt>
  </dgm:ptLst>
  <dgm:cxnLst>
    <dgm:cxn modelId="{5B2D9300-26E9-4FD3-AC89-49287A3972E3}" type="presOf" srcId="{DA55B3D1-E425-4951-BEC7-5BE0A32B972A}" destId="{010EC887-52A4-4EA7-851C-6A7000C36C2A}" srcOrd="0" destOrd="0" presId="urn:microsoft.com/office/officeart/2005/8/layout/cycle2"/>
    <dgm:cxn modelId="{27BC7106-DE2A-4640-8603-9146403509FF}" srcId="{3E22945F-B689-45E7-9F3E-164E860D5C7F}" destId="{31C62764-FAD8-4642-A341-1133A329D359}" srcOrd="1" destOrd="0" parTransId="{266B238F-D6A0-412B-9269-18883980C677}" sibTransId="{DA55B3D1-E425-4951-BEC7-5BE0A32B972A}"/>
    <dgm:cxn modelId="{A0AE7C0F-BA2E-4805-965C-AF454027137F}" srcId="{3E22945F-B689-45E7-9F3E-164E860D5C7F}" destId="{59C08BEA-C0B9-44DF-9E1B-89BF1B395E4C}" srcOrd="2" destOrd="0" parTransId="{5ACAC649-B317-4A90-9B74-DB3B94108CBF}" sibTransId="{F7F3446C-0F60-478B-8220-7F8C7195F355}"/>
    <dgm:cxn modelId="{BDD7951E-4590-4402-A95F-5CB92F5FA222}" type="presOf" srcId="{E58F24F3-B0E5-4178-B403-396B402A35E9}" destId="{E7FC2CE9-5A77-4311-A81C-32E4C5B854C6}" srcOrd="0" destOrd="0" presId="urn:microsoft.com/office/officeart/2005/8/layout/cycle2"/>
    <dgm:cxn modelId="{4D03855D-ABA5-4960-B703-7785F362B017}" type="presOf" srcId="{3E22945F-B689-45E7-9F3E-164E860D5C7F}" destId="{940A974E-AA11-4162-894A-4911C7FF39CD}" srcOrd="0" destOrd="0" presId="urn:microsoft.com/office/officeart/2005/8/layout/cycle2"/>
    <dgm:cxn modelId="{2ADDD847-A55E-4A2D-AA29-C6A85429B3D5}" type="presOf" srcId="{B9357478-C97A-4493-B44F-1C7920D6C2CA}" destId="{BE3EEAED-A5A0-4C58-A3D7-6B9F38AA9947}" srcOrd="0" destOrd="0" presId="urn:microsoft.com/office/officeart/2005/8/layout/cycle2"/>
    <dgm:cxn modelId="{7CF84397-CE1A-4B4B-93DE-EF1E45E78EC3}" type="presOf" srcId="{F7F3446C-0F60-478B-8220-7F8C7195F355}" destId="{728CD426-C49A-4279-A4F9-0F81F05B64C7}" srcOrd="1" destOrd="0" presId="urn:microsoft.com/office/officeart/2005/8/layout/cycle2"/>
    <dgm:cxn modelId="{0DF5FAA2-57E2-488F-B3E6-ED66C9F2AA72}" type="presOf" srcId="{31C62764-FAD8-4642-A341-1133A329D359}" destId="{235391BD-D69C-4382-B63E-FDCDA01FB0B2}" srcOrd="0" destOrd="0" presId="urn:microsoft.com/office/officeart/2005/8/layout/cycle2"/>
    <dgm:cxn modelId="{E9CEC7AA-D615-4C1E-8E85-883D4BEF91AC}" srcId="{3E22945F-B689-45E7-9F3E-164E860D5C7F}" destId="{B9357478-C97A-4493-B44F-1C7920D6C2CA}" srcOrd="0" destOrd="0" parTransId="{DB270049-11AB-4657-A469-65F3F071FA40}" sibTransId="{E58F24F3-B0E5-4178-B403-396B402A35E9}"/>
    <dgm:cxn modelId="{52AA00C0-6C9C-41C9-BD82-626388C852A9}" type="presOf" srcId="{F7F3446C-0F60-478B-8220-7F8C7195F355}" destId="{A0C70EC8-5F37-4945-8D02-21EC5FC60D09}" srcOrd="0" destOrd="0" presId="urn:microsoft.com/office/officeart/2005/8/layout/cycle2"/>
    <dgm:cxn modelId="{162B24DE-184C-489B-A4D6-B60998A4C7D0}" type="presOf" srcId="{DA55B3D1-E425-4951-BEC7-5BE0A32B972A}" destId="{4F7A5820-4876-44AB-B545-104C21DB970D}" srcOrd="1" destOrd="0" presId="urn:microsoft.com/office/officeart/2005/8/layout/cycle2"/>
    <dgm:cxn modelId="{3BD029E2-B384-476E-B2FC-B4F60BC73A07}" type="presOf" srcId="{59C08BEA-C0B9-44DF-9E1B-89BF1B395E4C}" destId="{4365C74A-043F-4F05-AECB-858D31E438B7}" srcOrd="0" destOrd="0" presId="urn:microsoft.com/office/officeart/2005/8/layout/cycle2"/>
    <dgm:cxn modelId="{A72A4BF4-2B84-4DA7-ACAE-1CCDC0AE76D8}" type="presOf" srcId="{E58F24F3-B0E5-4178-B403-396B402A35E9}" destId="{280C8E71-6EDC-48B0-B89F-F7ED138F7800}" srcOrd="1" destOrd="0" presId="urn:microsoft.com/office/officeart/2005/8/layout/cycle2"/>
    <dgm:cxn modelId="{D2C9395C-1585-4587-9701-991BBAE05693}" type="presParOf" srcId="{940A974E-AA11-4162-894A-4911C7FF39CD}" destId="{BE3EEAED-A5A0-4C58-A3D7-6B9F38AA9947}" srcOrd="0" destOrd="0" presId="urn:microsoft.com/office/officeart/2005/8/layout/cycle2"/>
    <dgm:cxn modelId="{8711594E-0ED1-4F42-8026-A26FD4A05B57}" type="presParOf" srcId="{940A974E-AA11-4162-894A-4911C7FF39CD}" destId="{E7FC2CE9-5A77-4311-A81C-32E4C5B854C6}" srcOrd="1" destOrd="0" presId="urn:microsoft.com/office/officeart/2005/8/layout/cycle2"/>
    <dgm:cxn modelId="{DEF4E661-443D-4EE8-9302-146966C56D31}" type="presParOf" srcId="{E7FC2CE9-5A77-4311-A81C-32E4C5B854C6}" destId="{280C8E71-6EDC-48B0-B89F-F7ED138F7800}" srcOrd="0" destOrd="0" presId="urn:microsoft.com/office/officeart/2005/8/layout/cycle2"/>
    <dgm:cxn modelId="{7614ABA0-6EEF-45CD-931F-3BD685073452}" type="presParOf" srcId="{940A974E-AA11-4162-894A-4911C7FF39CD}" destId="{235391BD-D69C-4382-B63E-FDCDA01FB0B2}" srcOrd="2" destOrd="0" presId="urn:microsoft.com/office/officeart/2005/8/layout/cycle2"/>
    <dgm:cxn modelId="{F269F700-02CC-44B4-833A-2ADA851F6168}" type="presParOf" srcId="{940A974E-AA11-4162-894A-4911C7FF39CD}" destId="{010EC887-52A4-4EA7-851C-6A7000C36C2A}" srcOrd="3" destOrd="0" presId="urn:microsoft.com/office/officeart/2005/8/layout/cycle2"/>
    <dgm:cxn modelId="{2F686942-CF7D-46B6-AE7B-339436D3FD6A}" type="presParOf" srcId="{010EC887-52A4-4EA7-851C-6A7000C36C2A}" destId="{4F7A5820-4876-44AB-B545-104C21DB970D}" srcOrd="0" destOrd="0" presId="urn:microsoft.com/office/officeart/2005/8/layout/cycle2"/>
    <dgm:cxn modelId="{80A30A7F-53FE-48B9-AD9B-DBCA068F33BA}" type="presParOf" srcId="{940A974E-AA11-4162-894A-4911C7FF39CD}" destId="{4365C74A-043F-4F05-AECB-858D31E438B7}" srcOrd="4" destOrd="0" presId="urn:microsoft.com/office/officeart/2005/8/layout/cycle2"/>
    <dgm:cxn modelId="{BDC7B80C-DA0A-4B72-8BF8-9A388AC2D45D}" type="presParOf" srcId="{940A974E-AA11-4162-894A-4911C7FF39CD}" destId="{A0C70EC8-5F37-4945-8D02-21EC5FC60D09}" srcOrd="5" destOrd="0" presId="urn:microsoft.com/office/officeart/2005/8/layout/cycle2"/>
    <dgm:cxn modelId="{56D3A863-4323-426B-9A77-8F1D13DAFB51}" type="presParOf" srcId="{A0C70EC8-5F37-4945-8D02-21EC5FC60D09}" destId="{728CD426-C49A-4279-A4F9-0F81F05B64C7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E22945F-B689-45E7-9F3E-164E860D5C7F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B9357478-C97A-4493-B44F-1C7920D6C2CA}">
      <dgm:prSet phldrT="[Texte]"/>
      <dgm:spPr/>
      <dgm:t>
        <a:bodyPr/>
        <a:lstStyle/>
        <a:p>
          <a:r>
            <a:rPr lang="fr-CA" dirty="0"/>
            <a:t>Centre de responsabilité</a:t>
          </a:r>
        </a:p>
      </dgm:t>
    </dgm:pt>
    <dgm:pt modelId="{DB270049-11AB-4657-A469-65F3F071FA40}" type="parTrans" cxnId="{E9CEC7AA-D615-4C1E-8E85-883D4BEF91AC}">
      <dgm:prSet/>
      <dgm:spPr/>
      <dgm:t>
        <a:bodyPr/>
        <a:lstStyle/>
        <a:p>
          <a:endParaRPr lang="fr-CA"/>
        </a:p>
      </dgm:t>
    </dgm:pt>
    <dgm:pt modelId="{E58F24F3-B0E5-4178-B403-396B402A35E9}" type="sibTrans" cxnId="{E9CEC7AA-D615-4C1E-8E85-883D4BEF91AC}">
      <dgm:prSet/>
      <dgm:spPr/>
      <dgm:t>
        <a:bodyPr/>
        <a:lstStyle/>
        <a:p>
          <a:endParaRPr lang="fr-CA"/>
        </a:p>
      </dgm:t>
    </dgm:pt>
    <dgm:pt modelId="{31C62764-FAD8-4642-A341-1133A329D359}">
      <dgm:prSet phldrT="[Texte]"/>
      <dgm:spPr>
        <a:solidFill>
          <a:srgbClr val="00B0F0"/>
        </a:solidFill>
      </dgm:spPr>
      <dgm:t>
        <a:bodyPr/>
        <a:lstStyle/>
        <a:p>
          <a:r>
            <a:rPr lang="fr-CA" dirty="0"/>
            <a:t>Mesure de la performance</a:t>
          </a:r>
        </a:p>
      </dgm:t>
    </dgm:pt>
    <dgm:pt modelId="{266B238F-D6A0-412B-9269-18883980C677}" type="parTrans" cxnId="{27BC7106-DE2A-4640-8603-9146403509FF}">
      <dgm:prSet/>
      <dgm:spPr/>
      <dgm:t>
        <a:bodyPr/>
        <a:lstStyle/>
        <a:p>
          <a:endParaRPr lang="fr-CA"/>
        </a:p>
      </dgm:t>
    </dgm:pt>
    <dgm:pt modelId="{DA55B3D1-E425-4951-BEC7-5BE0A32B972A}" type="sibTrans" cxnId="{27BC7106-DE2A-4640-8603-9146403509FF}">
      <dgm:prSet/>
      <dgm:spPr/>
      <dgm:t>
        <a:bodyPr/>
        <a:lstStyle/>
        <a:p>
          <a:endParaRPr lang="fr-CA"/>
        </a:p>
      </dgm:t>
    </dgm:pt>
    <dgm:pt modelId="{59C08BEA-C0B9-44DF-9E1B-89BF1B395E4C}">
      <dgm:prSet phldrT="[Texte]"/>
      <dgm:spPr>
        <a:solidFill>
          <a:srgbClr val="C00000"/>
        </a:solidFill>
      </dgm:spPr>
      <dgm:t>
        <a:bodyPr/>
        <a:lstStyle/>
        <a:p>
          <a:r>
            <a:rPr lang="fr-CA" dirty="0"/>
            <a:t>PCI</a:t>
          </a:r>
        </a:p>
      </dgm:t>
    </dgm:pt>
    <dgm:pt modelId="{5ACAC649-B317-4A90-9B74-DB3B94108CBF}" type="parTrans" cxnId="{A0AE7C0F-BA2E-4805-965C-AF454027137F}">
      <dgm:prSet/>
      <dgm:spPr/>
      <dgm:t>
        <a:bodyPr/>
        <a:lstStyle/>
        <a:p>
          <a:endParaRPr lang="fr-CA"/>
        </a:p>
      </dgm:t>
    </dgm:pt>
    <dgm:pt modelId="{F7F3446C-0F60-478B-8220-7F8C7195F355}" type="sibTrans" cxnId="{A0AE7C0F-BA2E-4805-965C-AF454027137F}">
      <dgm:prSet/>
      <dgm:spPr/>
      <dgm:t>
        <a:bodyPr/>
        <a:lstStyle/>
        <a:p>
          <a:endParaRPr lang="fr-CA"/>
        </a:p>
      </dgm:t>
    </dgm:pt>
    <dgm:pt modelId="{940A974E-AA11-4162-894A-4911C7FF39CD}" type="pres">
      <dgm:prSet presAssocID="{3E22945F-B689-45E7-9F3E-164E860D5C7F}" presName="cycle" presStyleCnt="0">
        <dgm:presLayoutVars>
          <dgm:dir/>
          <dgm:resizeHandles val="exact"/>
        </dgm:presLayoutVars>
      </dgm:prSet>
      <dgm:spPr/>
    </dgm:pt>
    <dgm:pt modelId="{BE3EEAED-A5A0-4C58-A3D7-6B9F38AA9947}" type="pres">
      <dgm:prSet presAssocID="{B9357478-C97A-4493-B44F-1C7920D6C2CA}" presName="node" presStyleLbl="node1" presStyleIdx="0" presStyleCnt="3">
        <dgm:presLayoutVars>
          <dgm:bulletEnabled val="1"/>
        </dgm:presLayoutVars>
      </dgm:prSet>
      <dgm:spPr/>
    </dgm:pt>
    <dgm:pt modelId="{E7FC2CE9-5A77-4311-A81C-32E4C5B854C6}" type="pres">
      <dgm:prSet presAssocID="{E58F24F3-B0E5-4178-B403-396B402A35E9}" presName="sibTrans" presStyleLbl="sibTrans2D1" presStyleIdx="0" presStyleCnt="3"/>
      <dgm:spPr/>
    </dgm:pt>
    <dgm:pt modelId="{280C8E71-6EDC-48B0-B89F-F7ED138F7800}" type="pres">
      <dgm:prSet presAssocID="{E58F24F3-B0E5-4178-B403-396B402A35E9}" presName="connectorText" presStyleLbl="sibTrans2D1" presStyleIdx="0" presStyleCnt="3"/>
      <dgm:spPr/>
    </dgm:pt>
    <dgm:pt modelId="{235391BD-D69C-4382-B63E-FDCDA01FB0B2}" type="pres">
      <dgm:prSet presAssocID="{31C62764-FAD8-4642-A341-1133A329D359}" presName="node" presStyleLbl="node1" presStyleIdx="1" presStyleCnt="3">
        <dgm:presLayoutVars>
          <dgm:bulletEnabled val="1"/>
        </dgm:presLayoutVars>
      </dgm:prSet>
      <dgm:spPr/>
    </dgm:pt>
    <dgm:pt modelId="{010EC887-52A4-4EA7-851C-6A7000C36C2A}" type="pres">
      <dgm:prSet presAssocID="{DA55B3D1-E425-4951-BEC7-5BE0A32B972A}" presName="sibTrans" presStyleLbl="sibTrans2D1" presStyleIdx="1" presStyleCnt="3"/>
      <dgm:spPr/>
    </dgm:pt>
    <dgm:pt modelId="{4F7A5820-4876-44AB-B545-104C21DB970D}" type="pres">
      <dgm:prSet presAssocID="{DA55B3D1-E425-4951-BEC7-5BE0A32B972A}" presName="connectorText" presStyleLbl="sibTrans2D1" presStyleIdx="1" presStyleCnt="3"/>
      <dgm:spPr/>
    </dgm:pt>
    <dgm:pt modelId="{4365C74A-043F-4F05-AECB-858D31E438B7}" type="pres">
      <dgm:prSet presAssocID="{59C08BEA-C0B9-44DF-9E1B-89BF1B395E4C}" presName="node" presStyleLbl="node1" presStyleIdx="2" presStyleCnt="3">
        <dgm:presLayoutVars>
          <dgm:bulletEnabled val="1"/>
        </dgm:presLayoutVars>
      </dgm:prSet>
      <dgm:spPr/>
    </dgm:pt>
    <dgm:pt modelId="{A0C70EC8-5F37-4945-8D02-21EC5FC60D09}" type="pres">
      <dgm:prSet presAssocID="{F7F3446C-0F60-478B-8220-7F8C7195F355}" presName="sibTrans" presStyleLbl="sibTrans2D1" presStyleIdx="2" presStyleCnt="3"/>
      <dgm:spPr/>
    </dgm:pt>
    <dgm:pt modelId="{728CD426-C49A-4279-A4F9-0F81F05B64C7}" type="pres">
      <dgm:prSet presAssocID="{F7F3446C-0F60-478B-8220-7F8C7195F355}" presName="connectorText" presStyleLbl="sibTrans2D1" presStyleIdx="2" presStyleCnt="3"/>
      <dgm:spPr/>
    </dgm:pt>
  </dgm:ptLst>
  <dgm:cxnLst>
    <dgm:cxn modelId="{5B2D9300-26E9-4FD3-AC89-49287A3972E3}" type="presOf" srcId="{DA55B3D1-E425-4951-BEC7-5BE0A32B972A}" destId="{010EC887-52A4-4EA7-851C-6A7000C36C2A}" srcOrd="0" destOrd="0" presId="urn:microsoft.com/office/officeart/2005/8/layout/cycle2"/>
    <dgm:cxn modelId="{27BC7106-DE2A-4640-8603-9146403509FF}" srcId="{3E22945F-B689-45E7-9F3E-164E860D5C7F}" destId="{31C62764-FAD8-4642-A341-1133A329D359}" srcOrd="1" destOrd="0" parTransId="{266B238F-D6A0-412B-9269-18883980C677}" sibTransId="{DA55B3D1-E425-4951-BEC7-5BE0A32B972A}"/>
    <dgm:cxn modelId="{A0AE7C0F-BA2E-4805-965C-AF454027137F}" srcId="{3E22945F-B689-45E7-9F3E-164E860D5C7F}" destId="{59C08BEA-C0B9-44DF-9E1B-89BF1B395E4C}" srcOrd="2" destOrd="0" parTransId="{5ACAC649-B317-4A90-9B74-DB3B94108CBF}" sibTransId="{F7F3446C-0F60-478B-8220-7F8C7195F355}"/>
    <dgm:cxn modelId="{BDD7951E-4590-4402-A95F-5CB92F5FA222}" type="presOf" srcId="{E58F24F3-B0E5-4178-B403-396B402A35E9}" destId="{E7FC2CE9-5A77-4311-A81C-32E4C5B854C6}" srcOrd="0" destOrd="0" presId="urn:microsoft.com/office/officeart/2005/8/layout/cycle2"/>
    <dgm:cxn modelId="{4D03855D-ABA5-4960-B703-7785F362B017}" type="presOf" srcId="{3E22945F-B689-45E7-9F3E-164E860D5C7F}" destId="{940A974E-AA11-4162-894A-4911C7FF39CD}" srcOrd="0" destOrd="0" presId="urn:microsoft.com/office/officeart/2005/8/layout/cycle2"/>
    <dgm:cxn modelId="{2ADDD847-A55E-4A2D-AA29-C6A85429B3D5}" type="presOf" srcId="{B9357478-C97A-4493-B44F-1C7920D6C2CA}" destId="{BE3EEAED-A5A0-4C58-A3D7-6B9F38AA9947}" srcOrd="0" destOrd="0" presId="urn:microsoft.com/office/officeart/2005/8/layout/cycle2"/>
    <dgm:cxn modelId="{7CF84397-CE1A-4B4B-93DE-EF1E45E78EC3}" type="presOf" srcId="{F7F3446C-0F60-478B-8220-7F8C7195F355}" destId="{728CD426-C49A-4279-A4F9-0F81F05B64C7}" srcOrd="1" destOrd="0" presId="urn:microsoft.com/office/officeart/2005/8/layout/cycle2"/>
    <dgm:cxn modelId="{0DF5FAA2-57E2-488F-B3E6-ED66C9F2AA72}" type="presOf" srcId="{31C62764-FAD8-4642-A341-1133A329D359}" destId="{235391BD-D69C-4382-B63E-FDCDA01FB0B2}" srcOrd="0" destOrd="0" presId="urn:microsoft.com/office/officeart/2005/8/layout/cycle2"/>
    <dgm:cxn modelId="{E9CEC7AA-D615-4C1E-8E85-883D4BEF91AC}" srcId="{3E22945F-B689-45E7-9F3E-164E860D5C7F}" destId="{B9357478-C97A-4493-B44F-1C7920D6C2CA}" srcOrd="0" destOrd="0" parTransId="{DB270049-11AB-4657-A469-65F3F071FA40}" sibTransId="{E58F24F3-B0E5-4178-B403-396B402A35E9}"/>
    <dgm:cxn modelId="{52AA00C0-6C9C-41C9-BD82-626388C852A9}" type="presOf" srcId="{F7F3446C-0F60-478B-8220-7F8C7195F355}" destId="{A0C70EC8-5F37-4945-8D02-21EC5FC60D09}" srcOrd="0" destOrd="0" presId="urn:microsoft.com/office/officeart/2005/8/layout/cycle2"/>
    <dgm:cxn modelId="{162B24DE-184C-489B-A4D6-B60998A4C7D0}" type="presOf" srcId="{DA55B3D1-E425-4951-BEC7-5BE0A32B972A}" destId="{4F7A5820-4876-44AB-B545-104C21DB970D}" srcOrd="1" destOrd="0" presId="urn:microsoft.com/office/officeart/2005/8/layout/cycle2"/>
    <dgm:cxn modelId="{3BD029E2-B384-476E-B2FC-B4F60BC73A07}" type="presOf" srcId="{59C08BEA-C0B9-44DF-9E1B-89BF1B395E4C}" destId="{4365C74A-043F-4F05-AECB-858D31E438B7}" srcOrd="0" destOrd="0" presId="urn:microsoft.com/office/officeart/2005/8/layout/cycle2"/>
    <dgm:cxn modelId="{A72A4BF4-2B84-4DA7-ACAE-1CCDC0AE76D8}" type="presOf" srcId="{E58F24F3-B0E5-4178-B403-396B402A35E9}" destId="{280C8E71-6EDC-48B0-B89F-F7ED138F7800}" srcOrd="1" destOrd="0" presId="urn:microsoft.com/office/officeart/2005/8/layout/cycle2"/>
    <dgm:cxn modelId="{D2C9395C-1585-4587-9701-991BBAE05693}" type="presParOf" srcId="{940A974E-AA11-4162-894A-4911C7FF39CD}" destId="{BE3EEAED-A5A0-4C58-A3D7-6B9F38AA9947}" srcOrd="0" destOrd="0" presId="urn:microsoft.com/office/officeart/2005/8/layout/cycle2"/>
    <dgm:cxn modelId="{8711594E-0ED1-4F42-8026-A26FD4A05B57}" type="presParOf" srcId="{940A974E-AA11-4162-894A-4911C7FF39CD}" destId="{E7FC2CE9-5A77-4311-A81C-32E4C5B854C6}" srcOrd="1" destOrd="0" presId="urn:microsoft.com/office/officeart/2005/8/layout/cycle2"/>
    <dgm:cxn modelId="{DEF4E661-443D-4EE8-9302-146966C56D31}" type="presParOf" srcId="{E7FC2CE9-5A77-4311-A81C-32E4C5B854C6}" destId="{280C8E71-6EDC-48B0-B89F-F7ED138F7800}" srcOrd="0" destOrd="0" presId="urn:microsoft.com/office/officeart/2005/8/layout/cycle2"/>
    <dgm:cxn modelId="{7614ABA0-6EEF-45CD-931F-3BD685073452}" type="presParOf" srcId="{940A974E-AA11-4162-894A-4911C7FF39CD}" destId="{235391BD-D69C-4382-B63E-FDCDA01FB0B2}" srcOrd="2" destOrd="0" presId="urn:microsoft.com/office/officeart/2005/8/layout/cycle2"/>
    <dgm:cxn modelId="{F269F700-02CC-44B4-833A-2ADA851F6168}" type="presParOf" srcId="{940A974E-AA11-4162-894A-4911C7FF39CD}" destId="{010EC887-52A4-4EA7-851C-6A7000C36C2A}" srcOrd="3" destOrd="0" presId="urn:microsoft.com/office/officeart/2005/8/layout/cycle2"/>
    <dgm:cxn modelId="{2F686942-CF7D-46B6-AE7B-339436D3FD6A}" type="presParOf" srcId="{010EC887-52A4-4EA7-851C-6A7000C36C2A}" destId="{4F7A5820-4876-44AB-B545-104C21DB970D}" srcOrd="0" destOrd="0" presId="urn:microsoft.com/office/officeart/2005/8/layout/cycle2"/>
    <dgm:cxn modelId="{80A30A7F-53FE-48B9-AD9B-DBCA068F33BA}" type="presParOf" srcId="{940A974E-AA11-4162-894A-4911C7FF39CD}" destId="{4365C74A-043F-4F05-AECB-858D31E438B7}" srcOrd="4" destOrd="0" presId="urn:microsoft.com/office/officeart/2005/8/layout/cycle2"/>
    <dgm:cxn modelId="{BDC7B80C-DA0A-4B72-8BF8-9A388AC2D45D}" type="presParOf" srcId="{940A974E-AA11-4162-894A-4911C7FF39CD}" destId="{A0C70EC8-5F37-4945-8D02-21EC5FC60D09}" srcOrd="5" destOrd="0" presId="urn:microsoft.com/office/officeart/2005/8/layout/cycle2"/>
    <dgm:cxn modelId="{56D3A863-4323-426B-9A77-8F1D13DAFB51}" type="presParOf" srcId="{A0C70EC8-5F37-4945-8D02-21EC5FC60D09}" destId="{728CD426-C49A-4279-A4F9-0F81F05B64C7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E22945F-B689-45E7-9F3E-164E860D5C7F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B9357478-C97A-4493-B44F-1C7920D6C2CA}">
      <dgm:prSet phldrT="[Texte]"/>
      <dgm:spPr/>
      <dgm:t>
        <a:bodyPr/>
        <a:lstStyle/>
        <a:p>
          <a:r>
            <a:rPr lang="fr-CA" dirty="0"/>
            <a:t>Centre de responsabilité</a:t>
          </a:r>
        </a:p>
      </dgm:t>
    </dgm:pt>
    <dgm:pt modelId="{DB270049-11AB-4657-A469-65F3F071FA40}" type="parTrans" cxnId="{E9CEC7AA-D615-4C1E-8E85-883D4BEF91AC}">
      <dgm:prSet/>
      <dgm:spPr/>
      <dgm:t>
        <a:bodyPr/>
        <a:lstStyle/>
        <a:p>
          <a:endParaRPr lang="fr-CA"/>
        </a:p>
      </dgm:t>
    </dgm:pt>
    <dgm:pt modelId="{E58F24F3-B0E5-4178-B403-396B402A35E9}" type="sibTrans" cxnId="{E9CEC7AA-D615-4C1E-8E85-883D4BEF91AC}">
      <dgm:prSet/>
      <dgm:spPr/>
      <dgm:t>
        <a:bodyPr/>
        <a:lstStyle/>
        <a:p>
          <a:endParaRPr lang="fr-CA"/>
        </a:p>
      </dgm:t>
    </dgm:pt>
    <dgm:pt modelId="{31C62764-FAD8-4642-A341-1133A329D359}">
      <dgm:prSet phldrT="[Texte]"/>
      <dgm:spPr>
        <a:solidFill>
          <a:srgbClr val="00B0F0"/>
        </a:solidFill>
      </dgm:spPr>
      <dgm:t>
        <a:bodyPr/>
        <a:lstStyle/>
        <a:p>
          <a:r>
            <a:rPr lang="fr-CA" dirty="0"/>
            <a:t>Mesure de la performance</a:t>
          </a:r>
        </a:p>
      </dgm:t>
    </dgm:pt>
    <dgm:pt modelId="{266B238F-D6A0-412B-9269-18883980C677}" type="parTrans" cxnId="{27BC7106-DE2A-4640-8603-9146403509FF}">
      <dgm:prSet/>
      <dgm:spPr/>
      <dgm:t>
        <a:bodyPr/>
        <a:lstStyle/>
        <a:p>
          <a:endParaRPr lang="fr-CA"/>
        </a:p>
      </dgm:t>
    </dgm:pt>
    <dgm:pt modelId="{DA55B3D1-E425-4951-BEC7-5BE0A32B972A}" type="sibTrans" cxnId="{27BC7106-DE2A-4640-8603-9146403509FF}">
      <dgm:prSet/>
      <dgm:spPr/>
      <dgm:t>
        <a:bodyPr/>
        <a:lstStyle/>
        <a:p>
          <a:endParaRPr lang="fr-CA"/>
        </a:p>
      </dgm:t>
    </dgm:pt>
    <dgm:pt modelId="{59C08BEA-C0B9-44DF-9E1B-89BF1B395E4C}">
      <dgm:prSet phldrT="[Texte]"/>
      <dgm:spPr>
        <a:solidFill>
          <a:srgbClr val="C00000"/>
        </a:solidFill>
      </dgm:spPr>
      <dgm:t>
        <a:bodyPr/>
        <a:lstStyle/>
        <a:p>
          <a:r>
            <a:rPr lang="fr-CA" dirty="0"/>
            <a:t>PCI</a:t>
          </a:r>
        </a:p>
      </dgm:t>
    </dgm:pt>
    <dgm:pt modelId="{5ACAC649-B317-4A90-9B74-DB3B94108CBF}" type="parTrans" cxnId="{A0AE7C0F-BA2E-4805-965C-AF454027137F}">
      <dgm:prSet/>
      <dgm:spPr/>
      <dgm:t>
        <a:bodyPr/>
        <a:lstStyle/>
        <a:p>
          <a:endParaRPr lang="fr-CA"/>
        </a:p>
      </dgm:t>
    </dgm:pt>
    <dgm:pt modelId="{F7F3446C-0F60-478B-8220-7F8C7195F355}" type="sibTrans" cxnId="{A0AE7C0F-BA2E-4805-965C-AF454027137F}">
      <dgm:prSet/>
      <dgm:spPr/>
      <dgm:t>
        <a:bodyPr/>
        <a:lstStyle/>
        <a:p>
          <a:endParaRPr lang="fr-CA"/>
        </a:p>
      </dgm:t>
    </dgm:pt>
    <dgm:pt modelId="{940A974E-AA11-4162-894A-4911C7FF39CD}" type="pres">
      <dgm:prSet presAssocID="{3E22945F-B689-45E7-9F3E-164E860D5C7F}" presName="cycle" presStyleCnt="0">
        <dgm:presLayoutVars>
          <dgm:dir/>
          <dgm:resizeHandles val="exact"/>
        </dgm:presLayoutVars>
      </dgm:prSet>
      <dgm:spPr/>
    </dgm:pt>
    <dgm:pt modelId="{BE3EEAED-A5A0-4C58-A3D7-6B9F38AA9947}" type="pres">
      <dgm:prSet presAssocID="{B9357478-C97A-4493-B44F-1C7920D6C2CA}" presName="node" presStyleLbl="node1" presStyleIdx="0" presStyleCnt="3">
        <dgm:presLayoutVars>
          <dgm:bulletEnabled val="1"/>
        </dgm:presLayoutVars>
      </dgm:prSet>
      <dgm:spPr/>
    </dgm:pt>
    <dgm:pt modelId="{E7FC2CE9-5A77-4311-A81C-32E4C5B854C6}" type="pres">
      <dgm:prSet presAssocID="{E58F24F3-B0E5-4178-B403-396B402A35E9}" presName="sibTrans" presStyleLbl="sibTrans2D1" presStyleIdx="0" presStyleCnt="3"/>
      <dgm:spPr/>
    </dgm:pt>
    <dgm:pt modelId="{280C8E71-6EDC-48B0-B89F-F7ED138F7800}" type="pres">
      <dgm:prSet presAssocID="{E58F24F3-B0E5-4178-B403-396B402A35E9}" presName="connectorText" presStyleLbl="sibTrans2D1" presStyleIdx="0" presStyleCnt="3"/>
      <dgm:spPr/>
    </dgm:pt>
    <dgm:pt modelId="{235391BD-D69C-4382-B63E-FDCDA01FB0B2}" type="pres">
      <dgm:prSet presAssocID="{31C62764-FAD8-4642-A341-1133A329D359}" presName="node" presStyleLbl="node1" presStyleIdx="1" presStyleCnt="3">
        <dgm:presLayoutVars>
          <dgm:bulletEnabled val="1"/>
        </dgm:presLayoutVars>
      </dgm:prSet>
      <dgm:spPr/>
    </dgm:pt>
    <dgm:pt modelId="{010EC887-52A4-4EA7-851C-6A7000C36C2A}" type="pres">
      <dgm:prSet presAssocID="{DA55B3D1-E425-4951-BEC7-5BE0A32B972A}" presName="sibTrans" presStyleLbl="sibTrans2D1" presStyleIdx="1" presStyleCnt="3"/>
      <dgm:spPr/>
    </dgm:pt>
    <dgm:pt modelId="{4F7A5820-4876-44AB-B545-104C21DB970D}" type="pres">
      <dgm:prSet presAssocID="{DA55B3D1-E425-4951-BEC7-5BE0A32B972A}" presName="connectorText" presStyleLbl="sibTrans2D1" presStyleIdx="1" presStyleCnt="3"/>
      <dgm:spPr/>
    </dgm:pt>
    <dgm:pt modelId="{4365C74A-043F-4F05-AECB-858D31E438B7}" type="pres">
      <dgm:prSet presAssocID="{59C08BEA-C0B9-44DF-9E1B-89BF1B395E4C}" presName="node" presStyleLbl="node1" presStyleIdx="2" presStyleCnt="3">
        <dgm:presLayoutVars>
          <dgm:bulletEnabled val="1"/>
        </dgm:presLayoutVars>
      </dgm:prSet>
      <dgm:spPr/>
    </dgm:pt>
    <dgm:pt modelId="{A0C70EC8-5F37-4945-8D02-21EC5FC60D09}" type="pres">
      <dgm:prSet presAssocID="{F7F3446C-0F60-478B-8220-7F8C7195F355}" presName="sibTrans" presStyleLbl="sibTrans2D1" presStyleIdx="2" presStyleCnt="3"/>
      <dgm:spPr/>
    </dgm:pt>
    <dgm:pt modelId="{728CD426-C49A-4279-A4F9-0F81F05B64C7}" type="pres">
      <dgm:prSet presAssocID="{F7F3446C-0F60-478B-8220-7F8C7195F355}" presName="connectorText" presStyleLbl="sibTrans2D1" presStyleIdx="2" presStyleCnt="3"/>
      <dgm:spPr/>
    </dgm:pt>
  </dgm:ptLst>
  <dgm:cxnLst>
    <dgm:cxn modelId="{5B2D9300-26E9-4FD3-AC89-49287A3972E3}" type="presOf" srcId="{DA55B3D1-E425-4951-BEC7-5BE0A32B972A}" destId="{010EC887-52A4-4EA7-851C-6A7000C36C2A}" srcOrd="0" destOrd="0" presId="urn:microsoft.com/office/officeart/2005/8/layout/cycle2"/>
    <dgm:cxn modelId="{27BC7106-DE2A-4640-8603-9146403509FF}" srcId="{3E22945F-B689-45E7-9F3E-164E860D5C7F}" destId="{31C62764-FAD8-4642-A341-1133A329D359}" srcOrd="1" destOrd="0" parTransId="{266B238F-D6A0-412B-9269-18883980C677}" sibTransId="{DA55B3D1-E425-4951-BEC7-5BE0A32B972A}"/>
    <dgm:cxn modelId="{A0AE7C0F-BA2E-4805-965C-AF454027137F}" srcId="{3E22945F-B689-45E7-9F3E-164E860D5C7F}" destId="{59C08BEA-C0B9-44DF-9E1B-89BF1B395E4C}" srcOrd="2" destOrd="0" parTransId="{5ACAC649-B317-4A90-9B74-DB3B94108CBF}" sibTransId="{F7F3446C-0F60-478B-8220-7F8C7195F355}"/>
    <dgm:cxn modelId="{BDD7951E-4590-4402-A95F-5CB92F5FA222}" type="presOf" srcId="{E58F24F3-B0E5-4178-B403-396B402A35E9}" destId="{E7FC2CE9-5A77-4311-A81C-32E4C5B854C6}" srcOrd="0" destOrd="0" presId="urn:microsoft.com/office/officeart/2005/8/layout/cycle2"/>
    <dgm:cxn modelId="{4D03855D-ABA5-4960-B703-7785F362B017}" type="presOf" srcId="{3E22945F-B689-45E7-9F3E-164E860D5C7F}" destId="{940A974E-AA11-4162-894A-4911C7FF39CD}" srcOrd="0" destOrd="0" presId="urn:microsoft.com/office/officeart/2005/8/layout/cycle2"/>
    <dgm:cxn modelId="{2ADDD847-A55E-4A2D-AA29-C6A85429B3D5}" type="presOf" srcId="{B9357478-C97A-4493-B44F-1C7920D6C2CA}" destId="{BE3EEAED-A5A0-4C58-A3D7-6B9F38AA9947}" srcOrd="0" destOrd="0" presId="urn:microsoft.com/office/officeart/2005/8/layout/cycle2"/>
    <dgm:cxn modelId="{7CF84397-CE1A-4B4B-93DE-EF1E45E78EC3}" type="presOf" srcId="{F7F3446C-0F60-478B-8220-7F8C7195F355}" destId="{728CD426-C49A-4279-A4F9-0F81F05B64C7}" srcOrd="1" destOrd="0" presId="urn:microsoft.com/office/officeart/2005/8/layout/cycle2"/>
    <dgm:cxn modelId="{0DF5FAA2-57E2-488F-B3E6-ED66C9F2AA72}" type="presOf" srcId="{31C62764-FAD8-4642-A341-1133A329D359}" destId="{235391BD-D69C-4382-B63E-FDCDA01FB0B2}" srcOrd="0" destOrd="0" presId="urn:microsoft.com/office/officeart/2005/8/layout/cycle2"/>
    <dgm:cxn modelId="{E9CEC7AA-D615-4C1E-8E85-883D4BEF91AC}" srcId="{3E22945F-B689-45E7-9F3E-164E860D5C7F}" destId="{B9357478-C97A-4493-B44F-1C7920D6C2CA}" srcOrd="0" destOrd="0" parTransId="{DB270049-11AB-4657-A469-65F3F071FA40}" sibTransId="{E58F24F3-B0E5-4178-B403-396B402A35E9}"/>
    <dgm:cxn modelId="{52AA00C0-6C9C-41C9-BD82-626388C852A9}" type="presOf" srcId="{F7F3446C-0F60-478B-8220-7F8C7195F355}" destId="{A0C70EC8-5F37-4945-8D02-21EC5FC60D09}" srcOrd="0" destOrd="0" presId="urn:microsoft.com/office/officeart/2005/8/layout/cycle2"/>
    <dgm:cxn modelId="{162B24DE-184C-489B-A4D6-B60998A4C7D0}" type="presOf" srcId="{DA55B3D1-E425-4951-BEC7-5BE0A32B972A}" destId="{4F7A5820-4876-44AB-B545-104C21DB970D}" srcOrd="1" destOrd="0" presId="urn:microsoft.com/office/officeart/2005/8/layout/cycle2"/>
    <dgm:cxn modelId="{3BD029E2-B384-476E-B2FC-B4F60BC73A07}" type="presOf" srcId="{59C08BEA-C0B9-44DF-9E1B-89BF1B395E4C}" destId="{4365C74A-043F-4F05-AECB-858D31E438B7}" srcOrd="0" destOrd="0" presId="urn:microsoft.com/office/officeart/2005/8/layout/cycle2"/>
    <dgm:cxn modelId="{A72A4BF4-2B84-4DA7-ACAE-1CCDC0AE76D8}" type="presOf" srcId="{E58F24F3-B0E5-4178-B403-396B402A35E9}" destId="{280C8E71-6EDC-48B0-B89F-F7ED138F7800}" srcOrd="1" destOrd="0" presId="urn:microsoft.com/office/officeart/2005/8/layout/cycle2"/>
    <dgm:cxn modelId="{D2C9395C-1585-4587-9701-991BBAE05693}" type="presParOf" srcId="{940A974E-AA11-4162-894A-4911C7FF39CD}" destId="{BE3EEAED-A5A0-4C58-A3D7-6B9F38AA9947}" srcOrd="0" destOrd="0" presId="urn:microsoft.com/office/officeart/2005/8/layout/cycle2"/>
    <dgm:cxn modelId="{8711594E-0ED1-4F42-8026-A26FD4A05B57}" type="presParOf" srcId="{940A974E-AA11-4162-894A-4911C7FF39CD}" destId="{E7FC2CE9-5A77-4311-A81C-32E4C5B854C6}" srcOrd="1" destOrd="0" presId="urn:microsoft.com/office/officeart/2005/8/layout/cycle2"/>
    <dgm:cxn modelId="{DEF4E661-443D-4EE8-9302-146966C56D31}" type="presParOf" srcId="{E7FC2CE9-5A77-4311-A81C-32E4C5B854C6}" destId="{280C8E71-6EDC-48B0-B89F-F7ED138F7800}" srcOrd="0" destOrd="0" presId="urn:microsoft.com/office/officeart/2005/8/layout/cycle2"/>
    <dgm:cxn modelId="{7614ABA0-6EEF-45CD-931F-3BD685073452}" type="presParOf" srcId="{940A974E-AA11-4162-894A-4911C7FF39CD}" destId="{235391BD-D69C-4382-B63E-FDCDA01FB0B2}" srcOrd="2" destOrd="0" presId="urn:microsoft.com/office/officeart/2005/8/layout/cycle2"/>
    <dgm:cxn modelId="{F269F700-02CC-44B4-833A-2ADA851F6168}" type="presParOf" srcId="{940A974E-AA11-4162-894A-4911C7FF39CD}" destId="{010EC887-52A4-4EA7-851C-6A7000C36C2A}" srcOrd="3" destOrd="0" presId="urn:microsoft.com/office/officeart/2005/8/layout/cycle2"/>
    <dgm:cxn modelId="{2F686942-CF7D-46B6-AE7B-339436D3FD6A}" type="presParOf" srcId="{010EC887-52A4-4EA7-851C-6A7000C36C2A}" destId="{4F7A5820-4876-44AB-B545-104C21DB970D}" srcOrd="0" destOrd="0" presId="urn:microsoft.com/office/officeart/2005/8/layout/cycle2"/>
    <dgm:cxn modelId="{80A30A7F-53FE-48B9-AD9B-DBCA068F33BA}" type="presParOf" srcId="{940A974E-AA11-4162-894A-4911C7FF39CD}" destId="{4365C74A-043F-4F05-AECB-858D31E438B7}" srcOrd="4" destOrd="0" presId="urn:microsoft.com/office/officeart/2005/8/layout/cycle2"/>
    <dgm:cxn modelId="{BDC7B80C-DA0A-4B72-8BF8-9A388AC2D45D}" type="presParOf" srcId="{940A974E-AA11-4162-894A-4911C7FF39CD}" destId="{A0C70EC8-5F37-4945-8D02-21EC5FC60D09}" srcOrd="5" destOrd="0" presId="urn:microsoft.com/office/officeart/2005/8/layout/cycle2"/>
    <dgm:cxn modelId="{56D3A863-4323-426B-9A77-8F1D13DAFB51}" type="presParOf" srcId="{A0C70EC8-5F37-4945-8D02-21EC5FC60D09}" destId="{728CD426-C49A-4279-A4F9-0F81F05B64C7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01BA18-1A5E-4F21-A8D7-78B0621D7A79}">
      <dsp:nvSpPr>
        <dsp:cNvPr id="0" name=""/>
        <dsp:cNvSpPr/>
      </dsp:nvSpPr>
      <dsp:spPr>
        <a:xfrm>
          <a:off x="1193700" y="347"/>
          <a:ext cx="2997398" cy="17984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800" kern="1200"/>
            <a:t>Niveau d’autonomie des gestionnaires</a:t>
          </a:r>
        </a:p>
      </dsp:txBody>
      <dsp:txXfrm>
        <a:off x="1193700" y="347"/>
        <a:ext cx="2997398" cy="1798439"/>
      </dsp:txXfrm>
    </dsp:sp>
    <dsp:sp modelId="{B826633C-2026-4083-B10B-12B1616B86A5}">
      <dsp:nvSpPr>
        <dsp:cNvPr id="0" name=""/>
        <dsp:cNvSpPr/>
      </dsp:nvSpPr>
      <dsp:spPr>
        <a:xfrm>
          <a:off x="1193700" y="2098525"/>
          <a:ext cx="2997398" cy="17984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800" kern="1200"/>
            <a:t>Cohérence organisationnelle</a:t>
          </a:r>
          <a:endParaRPr lang="fr-CA" sz="2800" kern="1200" dirty="0"/>
        </a:p>
      </dsp:txBody>
      <dsp:txXfrm>
        <a:off x="1193700" y="2098525"/>
        <a:ext cx="2997398" cy="17984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3EEAED-A5A0-4C58-A3D7-6B9F38AA9947}">
      <dsp:nvSpPr>
        <dsp:cNvPr id="0" name=""/>
        <dsp:cNvSpPr/>
      </dsp:nvSpPr>
      <dsp:spPr>
        <a:xfrm>
          <a:off x="4455138" y="919"/>
          <a:ext cx="2125857" cy="212585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b="1" kern="1200" dirty="0"/>
            <a:t>Centre de responsabilité</a:t>
          </a:r>
        </a:p>
      </dsp:txBody>
      <dsp:txXfrm>
        <a:off x="4766463" y="312244"/>
        <a:ext cx="1503207" cy="1503207"/>
      </dsp:txXfrm>
    </dsp:sp>
    <dsp:sp modelId="{E7FC2CE9-5A77-4311-A81C-32E4C5B854C6}">
      <dsp:nvSpPr>
        <dsp:cNvPr id="0" name=""/>
        <dsp:cNvSpPr/>
      </dsp:nvSpPr>
      <dsp:spPr>
        <a:xfrm rot="3600000">
          <a:off x="6025535" y="2073585"/>
          <a:ext cx="565244" cy="7174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A" sz="3200" kern="1200"/>
        </a:p>
      </dsp:txBody>
      <dsp:txXfrm>
        <a:off x="6067928" y="2143653"/>
        <a:ext cx="395671" cy="430486"/>
      </dsp:txXfrm>
    </dsp:sp>
    <dsp:sp modelId="{235391BD-D69C-4382-B63E-FDCDA01FB0B2}">
      <dsp:nvSpPr>
        <dsp:cNvPr id="0" name=""/>
        <dsp:cNvSpPr/>
      </dsp:nvSpPr>
      <dsp:spPr>
        <a:xfrm>
          <a:off x="6051316" y="2765580"/>
          <a:ext cx="2125857" cy="212585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800" b="1" kern="1200" dirty="0"/>
            <a:t>Mesure de la performance</a:t>
          </a:r>
        </a:p>
      </dsp:txBody>
      <dsp:txXfrm>
        <a:off x="6362641" y="3076905"/>
        <a:ext cx="1503207" cy="1503207"/>
      </dsp:txXfrm>
    </dsp:sp>
    <dsp:sp modelId="{010EC887-52A4-4EA7-851C-6A7000C36C2A}">
      <dsp:nvSpPr>
        <dsp:cNvPr id="0" name=""/>
        <dsp:cNvSpPr/>
      </dsp:nvSpPr>
      <dsp:spPr>
        <a:xfrm rot="10800000">
          <a:off x="5251442" y="3469770"/>
          <a:ext cx="565244" cy="7174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A" sz="3200" kern="1200"/>
        </a:p>
      </dsp:txBody>
      <dsp:txXfrm rot="10800000">
        <a:off x="5421015" y="3613265"/>
        <a:ext cx="395671" cy="430486"/>
      </dsp:txXfrm>
    </dsp:sp>
    <dsp:sp modelId="{4365C74A-043F-4F05-AECB-858D31E438B7}">
      <dsp:nvSpPr>
        <dsp:cNvPr id="0" name=""/>
        <dsp:cNvSpPr/>
      </dsp:nvSpPr>
      <dsp:spPr>
        <a:xfrm>
          <a:off x="2858961" y="2765580"/>
          <a:ext cx="2125857" cy="212585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800" b="1" kern="1200" dirty="0"/>
            <a:t>PCI</a:t>
          </a:r>
          <a:endParaRPr lang="fr-CA" sz="2400" b="1" kern="1200" dirty="0"/>
        </a:p>
      </dsp:txBody>
      <dsp:txXfrm>
        <a:off x="3170286" y="3076905"/>
        <a:ext cx="1503207" cy="1503207"/>
      </dsp:txXfrm>
    </dsp:sp>
    <dsp:sp modelId="{A0C70EC8-5F37-4945-8D02-21EC5FC60D09}">
      <dsp:nvSpPr>
        <dsp:cNvPr id="0" name=""/>
        <dsp:cNvSpPr/>
      </dsp:nvSpPr>
      <dsp:spPr>
        <a:xfrm rot="18000000">
          <a:off x="4429357" y="2101294"/>
          <a:ext cx="565244" cy="7174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A" sz="3200" kern="1200"/>
        </a:p>
      </dsp:txBody>
      <dsp:txXfrm>
        <a:off x="4471750" y="2318216"/>
        <a:ext cx="395671" cy="43048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3EEAED-A5A0-4C58-A3D7-6B9F38AA9947}">
      <dsp:nvSpPr>
        <dsp:cNvPr id="0" name=""/>
        <dsp:cNvSpPr/>
      </dsp:nvSpPr>
      <dsp:spPr>
        <a:xfrm>
          <a:off x="1845766" y="976"/>
          <a:ext cx="1693267" cy="1693267"/>
        </a:xfrm>
        <a:prstGeom prst="ellipse">
          <a:avLst/>
        </a:prstGeom>
        <a:solidFill>
          <a:schemeClr val="accent4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400" kern="1200" dirty="0"/>
            <a:t>Centre de responsabilité</a:t>
          </a:r>
        </a:p>
      </dsp:txBody>
      <dsp:txXfrm>
        <a:off x="2093739" y="248949"/>
        <a:ext cx="1197321" cy="1197321"/>
      </dsp:txXfrm>
    </dsp:sp>
    <dsp:sp modelId="{E7FC2CE9-5A77-4311-A81C-32E4C5B854C6}">
      <dsp:nvSpPr>
        <dsp:cNvPr id="0" name=""/>
        <dsp:cNvSpPr/>
      </dsp:nvSpPr>
      <dsp:spPr>
        <a:xfrm rot="3600000">
          <a:off x="3096597" y="1651987"/>
          <a:ext cx="450361" cy="5714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A" sz="1100" kern="1200"/>
        </a:p>
      </dsp:txBody>
      <dsp:txXfrm>
        <a:off x="3130374" y="1707779"/>
        <a:ext cx="315253" cy="342887"/>
      </dsp:txXfrm>
    </dsp:sp>
    <dsp:sp modelId="{235391BD-D69C-4382-B63E-FDCDA01FB0B2}">
      <dsp:nvSpPr>
        <dsp:cNvPr id="0" name=""/>
        <dsp:cNvSpPr/>
      </dsp:nvSpPr>
      <dsp:spPr>
        <a:xfrm>
          <a:off x="3117269" y="2203285"/>
          <a:ext cx="1693267" cy="169326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400" kern="1200" dirty="0"/>
            <a:t>Mesure de la performance</a:t>
          </a:r>
        </a:p>
      </dsp:txBody>
      <dsp:txXfrm>
        <a:off x="3365242" y="2451258"/>
        <a:ext cx="1197321" cy="1197321"/>
      </dsp:txXfrm>
    </dsp:sp>
    <dsp:sp modelId="{010EC887-52A4-4EA7-851C-6A7000C36C2A}">
      <dsp:nvSpPr>
        <dsp:cNvPr id="0" name=""/>
        <dsp:cNvSpPr/>
      </dsp:nvSpPr>
      <dsp:spPr>
        <a:xfrm rot="10800000">
          <a:off x="2479965" y="2764179"/>
          <a:ext cx="450361" cy="5714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A" sz="1100" kern="1200"/>
        </a:p>
      </dsp:txBody>
      <dsp:txXfrm rot="10800000">
        <a:off x="2615073" y="2878474"/>
        <a:ext cx="315253" cy="342887"/>
      </dsp:txXfrm>
    </dsp:sp>
    <dsp:sp modelId="{4365C74A-043F-4F05-AECB-858D31E438B7}">
      <dsp:nvSpPr>
        <dsp:cNvPr id="0" name=""/>
        <dsp:cNvSpPr/>
      </dsp:nvSpPr>
      <dsp:spPr>
        <a:xfrm>
          <a:off x="574263" y="2203285"/>
          <a:ext cx="1693267" cy="169326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400" kern="1200" dirty="0"/>
            <a:t>PCI</a:t>
          </a:r>
        </a:p>
      </dsp:txBody>
      <dsp:txXfrm>
        <a:off x="822236" y="2451258"/>
        <a:ext cx="1197321" cy="1197321"/>
      </dsp:txXfrm>
    </dsp:sp>
    <dsp:sp modelId="{A0C70EC8-5F37-4945-8D02-21EC5FC60D09}">
      <dsp:nvSpPr>
        <dsp:cNvPr id="0" name=""/>
        <dsp:cNvSpPr/>
      </dsp:nvSpPr>
      <dsp:spPr>
        <a:xfrm rot="18000000">
          <a:off x="1825094" y="1674064"/>
          <a:ext cx="450361" cy="5714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A" sz="1100" kern="1200"/>
        </a:p>
      </dsp:txBody>
      <dsp:txXfrm>
        <a:off x="1858871" y="1846862"/>
        <a:ext cx="315253" cy="34288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3EEAED-A5A0-4C58-A3D7-6B9F38AA9947}">
      <dsp:nvSpPr>
        <dsp:cNvPr id="0" name=""/>
        <dsp:cNvSpPr/>
      </dsp:nvSpPr>
      <dsp:spPr>
        <a:xfrm>
          <a:off x="1845766" y="976"/>
          <a:ext cx="1693267" cy="169326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400" kern="1200" dirty="0"/>
            <a:t>Centre de responsabilité</a:t>
          </a:r>
        </a:p>
      </dsp:txBody>
      <dsp:txXfrm>
        <a:off x="2093739" y="248949"/>
        <a:ext cx="1197321" cy="1197321"/>
      </dsp:txXfrm>
    </dsp:sp>
    <dsp:sp modelId="{E7FC2CE9-5A77-4311-A81C-32E4C5B854C6}">
      <dsp:nvSpPr>
        <dsp:cNvPr id="0" name=""/>
        <dsp:cNvSpPr/>
      </dsp:nvSpPr>
      <dsp:spPr>
        <a:xfrm rot="3600000">
          <a:off x="3096597" y="1651987"/>
          <a:ext cx="450361" cy="5714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A" sz="1100" kern="1200"/>
        </a:p>
      </dsp:txBody>
      <dsp:txXfrm>
        <a:off x="3130374" y="1707779"/>
        <a:ext cx="315253" cy="342887"/>
      </dsp:txXfrm>
    </dsp:sp>
    <dsp:sp modelId="{235391BD-D69C-4382-B63E-FDCDA01FB0B2}">
      <dsp:nvSpPr>
        <dsp:cNvPr id="0" name=""/>
        <dsp:cNvSpPr/>
      </dsp:nvSpPr>
      <dsp:spPr>
        <a:xfrm>
          <a:off x="3117269" y="2203285"/>
          <a:ext cx="1693267" cy="1693267"/>
        </a:xfrm>
        <a:prstGeom prst="ellipse">
          <a:avLst/>
        </a:prstGeom>
        <a:solidFill>
          <a:schemeClr val="accent4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400" kern="1200" dirty="0"/>
            <a:t>Mesure de la performance</a:t>
          </a:r>
        </a:p>
      </dsp:txBody>
      <dsp:txXfrm>
        <a:off x="3365242" y="2451258"/>
        <a:ext cx="1197321" cy="1197321"/>
      </dsp:txXfrm>
    </dsp:sp>
    <dsp:sp modelId="{010EC887-52A4-4EA7-851C-6A7000C36C2A}">
      <dsp:nvSpPr>
        <dsp:cNvPr id="0" name=""/>
        <dsp:cNvSpPr/>
      </dsp:nvSpPr>
      <dsp:spPr>
        <a:xfrm rot="10800000">
          <a:off x="2479965" y="2764179"/>
          <a:ext cx="450361" cy="5714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A" sz="1100" kern="1200"/>
        </a:p>
      </dsp:txBody>
      <dsp:txXfrm rot="10800000">
        <a:off x="2615073" y="2878474"/>
        <a:ext cx="315253" cy="342887"/>
      </dsp:txXfrm>
    </dsp:sp>
    <dsp:sp modelId="{4365C74A-043F-4F05-AECB-858D31E438B7}">
      <dsp:nvSpPr>
        <dsp:cNvPr id="0" name=""/>
        <dsp:cNvSpPr/>
      </dsp:nvSpPr>
      <dsp:spPr>
        <a:xfrm>
          <a:off x="574263" y="2203285"/>
          <a:ext cx="1693267" cy="169326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400" kern="1200" dirty="0"/>
            <a:t>PCI</a:t>
          </a:r>
        </a:p>
      </dsp:txBody>
      <dsp:txXfrm>
        <a:off x="822236" y="2451258"/>
        <a:ext cx="1197321" cy="1197321"/>
      </dsp:txXfrm>
    </dsp:sp>
    <dsp:sp modelId="{A0C70EC8-5F37-4945-8D02-21EC5FC60D09}">
      <dsp:nvSpPr>
        <dsp:cNvPr id="0" name=""/>
        <dsp:cNvSpPr/>
      </dsp:nvSpPr>
      <dsp:spPr>
        <a:xfrm rot="18000000">
          <a:off x="1825094" y="1674064"/>
          <a:ext cx="450361" cy="5714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A" sz="1100" kern="1200"/>
        </a:p>
      </dsp:txBody>
      <dsp:txXfrm>
        <a:off x="1858871" y="1846862"/>
        <a:ext cx="315253" cy="34288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3EEAED-A5A0-4C58-A3D7-6B9F38AA9947}">
      <dsp:nvSpPr>
        <dsp:cNvPr id="0" name=""/>
        <dsp:cNvSpPr/>
      </dsp:nvSpPr>
      <dsp:spPr>
        <a:xfrm>
          <a:off x="1845766" y="976"/>
          <a:ext cx="1693267" cy="169326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400" kern="1200" dirty="0"/>
            <a:t>Centre de responsabilité</a:t>
          </a:r>
        </a:p>
      </dsp:txBody>
      <dsp:txXfrm>
        <a:off x="2093739" y="248949"/>
        <a:ext cx="1197321" cy="1197321"/>
      </dsp:txXfrm>
    </dsp:sp>
    <dsp:sp modelId="{E7FC2CE9-5A77-4311-A81C-32E4C5B854C6}">
      <dsp:nvSpPr>
        <dsp:cNvPr id="0" name=""/>
        <dsp:cNvSpPr/>
      </dsp:nvSpPr>
      <dsp:spPr>
        <a:xfrm rot="3600000">
          <a:off x="3096597" y="1651987"/>
          <a:ext cx="450361" cy="5714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A" sz="1100" kern="1200"/>
        </a:p>
      </dsp:txBody>
      <dsp:txXfrm>
        <a:off x="3130374" y="1707779"/>
        <a:ext cx="315253" cy="342887"/>
      </dsp:txXfrm>
    </dsp:sp>
    <dsp:sp modelId="{235391BD-D69C-4382-B63E-FDCDA01FB0B2}">
      <dsp:nvSpPr>
        <dsp:cNvPr id="0" name=""/>
        <dsp:cNvSpPr/>
      </dsp:nvSpPr>
      <dsp:spPr>
        <a:xfrm>
          <a:off x="3117269" y="2203285"/>
          <a:ext cx="1693267" cy="1693267"/>
        </a:xfrm>
        <a:prstGeom prst="ellipse">
          <a:avLst/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400" kern="1200" dirty="0"/>
            <a:t>Mesure de la performance</a:t>
          </a:r>
        </a:p>
      </dsp:txBody>
      <dsp:txXfrm>
        <a:off x="3365242" y="2451258"/>
        <a:ext cx="1197321" cy="1197321"/>
      </dsp:txXfrm>
    </dsp:sp>
    <dsp:sp modelId="{010EC887-52A4-4EA7-851C-6A7000C36C2A}">
      <dsp:nvSpPr>
        <dsp:cNvPr id="0" name=""/>
        <dsp:cNvSpPr/>
      </dsp:nvSpPr>
      <dsp:spPr>
        <a:xfrm rot="10800000">
          <a:off x="2479965" y="2764179"/>
          <a:ext cx="450361" cy="5714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A" sz="1100" kern="1200"/>
        </a:p>
      </dsp:txBody>
      <dsp:txXfrm rot="10800000">
        <a:off x="2615073" y="2878474"/>
        <a:ext cx="315253" cy="342887"/>
      </dsp:txXfrm>
    </dsp:sp>
    <dsp:sp modelId="{4365C74A-043F-4F05-AECB-858D31E438B7}">
      <dsp:nvSpPr>
        <dsp:cNvPr id="0" name=""/>
        <dsp:cNvSpPr/>
      </dsp:nvSpPr>
      <dsp:spPr>
        <a:xfrm>
          <a:off x="574263" y="2203285"/>
          <a:ext cx="1693267" cy="1693267"/>
        </a:xfrm>
        <a:prstGeom prst="ellipse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400" kern="1200" dirty="0"/>
            <a:t>PCI</a:t>
          </a:r>
        </a:p>
      </dsp:txBody>
      <dsp:txXfrm>
        <a:off x="822236" y="2451258"/>
        <a:ext cx="1197321" cy="1197321"/>
      </dsp:txXfrm>
    </dsp:sp>
    <dsp:sp modelId="{A0C70EC8-5F37-4945-8D02-21EC5FC60D09}">
      <dsp:nvSpPr>
        <dsp:cNvPr id="0" name=""/>
        <dsp:cNvSpPr/>
      </dsp:nvSpPr>
      <dsp:spPr>
        <a:xfrm rot="18000000">
          <a:off x="1825094" y="1674064"/>
          <a:ext cx="450361" cy="5714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A" sz="1100" kern="1200"/>
        </a:p>
      </dsp:txBody>
      <dsp:txXfrm>
        <a:off x="1858871" y="1846862"/>
        <a:ext cx="315253" cy="34288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3EEAED-A5A0-4C58-A3D7-6B9F38AA9947}">
      <dsp:nvSpPr>
        <dsp:cNvPr id="0" name=""/>
        <dsp:cNvSpPr/>
      </dsp:nvSpPr>
      <dsp:spPr>
        <a:xfrm>
          <a:off x="1845766" y="976"/>
          <a:ext cx="1693267" cy="169326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400" kern="1200" dirty="0"/>
            <a:t>Centre de responsabilité</a:t>
          </a:r>
        </a:p>
      </dsp:txBody>
      <dsp:txXfrm>
        <a:off x="2093739" y="248949"/>
        <a:ext cx="1197321" cy="1197321"/>
      </dsp:txXfrm>
    </dsp:sp>
    <dsp:sp modelId="{E7FC2CE9-5A77-4311-A81C-32E4C5B854C6}">
      <dsp:nvSpPr>
        <dsp:cNvPr id="0" name=""/>
        <dsp:cNvSpPr/>
      </dsp:nvSpPr>
      <dsp:spPr>
        <a:xfrm rot="3600000">
          <a:off x="3096597" y="1651987"/>
          <a:ext cx="450361" cy="5714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A" sz="1100" kern="1200"/>
        </a:p>
      </dsp:txBody>
      <dsp:txXfrm>
        <a:off x="3130374" y="1707779"/>
        <a:ext cx="315253" cy="342887"/>
      </dsp:txXfrm>
    </dsp:sp>
    <dsp:sp modelId="{235391BD-D69C-4382-B63E-FDCDA01FB0B2}">
      <dsp:nvSpPr>
        <dsp:cNvPr id="0" name=""/>
        <dsp:cNvSpPr/>
      </dsp:nvSpPr>
      <dsp:spPr>
        <a:xfrm>
          <a:off x="3117269" y="2203285"/>
          <a:ext cx="1693267" cy="1693267"/>
        </a:xfrm>
        <a:prstGeom prst="ellipse">
          <a:avLst/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400" kern="1200" dirty="0"/>
            <a:t>Mesure de la performance</a:t>
          </a:r>
        </a:p>
      </dsp:txBody>
      <dsp:txXfrm>
        <a:off x="3365242" y="2451258"/>
        <a:ext cx="1197321" cy="1197321"/>
      </dsp:txXfrm>
    </dsp:sp>
    <dsp:sp modelId="{010EC887-52A4-4EA7-851C-6A7000C36C2A}">
      <dsp:nvSpPr>
        <dsp:cNvPr id="0" name=""/>
        <dsp:cNvSpPr/>
      </dsp:nvSpPr>
      <dsp:spPr>
        <a:xfrm rot="10800000">
          <a:off x="2479965" y="2764179"/>
          <a:ext cx="450361" cy="5714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A" sz="1100" kern="1200"/>
        </a:p>
      </dsp:txBody>
      <dsp:txXfrm rot="10800000">
        <a:off x="2615073" y="2878474"/>
        <a:ext cx="315253" cy="342887"/>
      </dsp:txXfrm>
    </dsp:sp>
    <dsp:sp modelId="{4365C74A-043F-4F05-AECB-858D31E438B7}">
      <dsp:nvSpPr>
        <dsp:cNvPr id="0" name=""/>
        <dsp:cNvSpPr/>
      </dsp:nvSpPr>
      <dsp:spPr>
        <a:xfrm>
          <a:off x="574263" y="2203285"/>
          <a:ext cx="1693267" cy="1693267"/>
        </a:xfrm>
        <a:prstGeom prst="ellipse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400" kern="1200" dirty="0"/>
            <a:t>PCI</a:t>
          </a:r>
        </a:p>
      </dsp:txBody>
      <dsp:txXfrm>
        <a:off x="822236" y="2451258"/>
        <a:ext cx="1197321" cy="1197321"/>
      </dsp:txXfrm>
    </dsp:sp>
    <dsp:sp modelId="{A0C70EC8-5F37-4945-8D02-21EC5FC60D09}">
      <dsp:nvSpPr>
        <dsp:cNvPr id="0" name=""/>
        <dsp:cNvSpPr/>
      </dsp:nvSpPr>
      <dsp:spPr>
        <a:xfrm rot="18000000">
          <a:off x="1825094" y="1674064"/>
          <a:ext cx="450361" cy="5714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A" sz="1100" kern="1200"/>
        </a:p>
      </dsp:txBody>
      <dsp:txXfrm>
        <a:off x="1858871" y="1846862"/>
        <a:ext cx="315253" cy="3428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6434"/>
          </a:xfrm>
          <a:prstGeom prst="rect">
            <a:avLst/>
          </a:prstGeom>
        </p:spPr>
        <p:txBody>
          <a:bodyPr vert="horz" lIns="93170" tIns="46586" rIns="93170" bIns="46586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70939" y="0"/>
            <a:ext cx="3037840" cy="466434"/>
          </a:xfrm>
          <a:prstGeom prst="rect">
            <a:avLst/>
          </a:prstGeom>
        </p:spPr>
        <p:txBody>
          <a:bodyPr vert="horz" lIns="93170" tIns="46586" rIns="93170" bIns="46586" rtlCol="0"/>
          <a:lstStyle>
            <a:lvl1pPr algn="r">
              <a:defRPr sz="1200"/>
            </a:lvl1pPr>
          </a:lstStyle>
          <a:p>
            <a:fld id="{14ACF90F-8CD0-48D0-B214-EE61CF43C26A}" type="datetimeFigureOut">
              <a:rPr lang="fr-CA" smtClean="0"/>
              <a:t>2025-03-16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0" tIns="46586" rIns="93170" bIns="46586" rtlCol="0" anchor="ctr"/>
          <a:lstStyle/>
          <a:p>
            <a:endParaRPr lang="fr-CA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0" tIns="46586" rIns="93170" bIns="46586" rtlCol="0"/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fr-CA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8829968"/>
            <a:ext cx="3037840" cy="466433"/>
          </a:xfrm>
          <a:prstGeom prst="rect">
            <a:avLst/>
          </a:prstGeom>
        </p:spPr>
        <p:txBody>
          <a:bodyPr vert="horz" lIns="93170" tIns="46586" rIns="93170" bIns="46586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70939" y="8829968"/>
            <a:ext cx="3037840" cy="466433"/>
          </a:xfrm>
          <a:prstGeom prst="rect">
            <a:avLst/>
          </a:prstGeom>
        </p:spPr>
        <p:txBody>
          <a:bodyPr vert="horz" lIns="93170" tIns="46586" rIns="93170" bIns="46586" rtlCol="0" anchor="b"/>
          <a:lstStyle>
            <a:lvl1pPr algn="r">
              <a:defRPr sz="1200"/>
            </a:lvl1pPr>
          </a:lstStyle>
          <a:p>
            <a:fld id="{1F1F2D47-FF76-4FB8-96DA-10C04CB97B9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92673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25650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454936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1" fontAlgn="t" latinLnBrk="0" hangingPunct="1"/>
            <a:r>
              <a:rPr lang="fr-CA" dirty="0"/>
              <a:t>Déléguer de pouvoirs et des responsabilités aux délégués (personnes) suit que la société a atteints une certaine taille dont le fondateur principal ne peut pas contrôler tous ,et en général l’objectif principale de toutes les entreprises est la croissance </a:t>
            </a:r>
          </a:p>
          <a:p>
            <a:pPr rtl="0" eaLnBrk="1" fontAlgn="t" latinLnBrk="0" hangingPunct="1"/>
            <a:r>
              <a:rPr lang="fr-CA" dirty="0"/>
              <a:t>Plu y’a de décentralisation ca sera plus difficile a l’entreprise d’atteindre sa vision mission et valeur suite a divergences des intérêts des responsable des devisions </a:t>
            </a:r>
          </a:p>
          <a:p>
            <a:pPr rtl="0" eaLnBrk="1" fontAlgn="t" latinLnBrk="0" hangingPunct="1"/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028522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1" fontAlgn="t" latinLnBrk="0" hangingPunct="1"/>
            <a:r>
              <a:rPr lang="fr-CA" dirty="0"/>
              <a:t>Imagine toujours que y’a plusieurs centres de couts  donc ne pense pas a une PME Stp donc avec un seul domaine d’activité a vrais dire on opte pour la stratégie de domination par les couts </a:t>
            </a:r>
          </a:p>
          <a:p>
            <a:pPr rtl="0" eaLnBrk="1" fontAlgn="t" latinLnBrk="0" hangingPunct="1"/>
            <a:r>
              <a:rPr lang="fr-CA" dirty="0"/>
              <a:t>Ou bien connaissance parfaite de client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159989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1" fontAlgn="t" latinLnBrk="0" hangingPunct="1"/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136486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1" fontAlgn="t" latinLnBrk="0" hangingPunct="1"/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939975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175922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911119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Déléguer a un groupe des gestionnaires des responsabilités puis les mesures puis PCI prix de session interne </a:t>
            </a:r>
          </a:p>
          <a:p>
            <a:r>
              <a:rPr lang="fr-CA" dirty="0"/>
              <a:t>On doit choisir les centres de responsabilités puis choix de mesures de </a:t>
            </a:r>
            <a:r>
              <a:rPr lang="fr-CA" dirty="0" err="1"/>
              <a:t>pérformance</a:t>
            </a:r>
            <a:r>
              <a:rPr lang="fr-CA" dirty="0"/>
              <a:t> et puis a la fin </a:t>
            </a:r>
            <a:r>
              <a:rPr lang="fr-CA" dirty="0" err="1"/>
              <a:t>caclul</a:t>
            </a:r>
            <a:r>
              <a:rPr lang="fr-CA" dirty="0"/>
              <a:t> de PCI qui n’affecte négativement le rendement des gestionnaires </a:t>
            </a:r>
          </a:p>
          <a:p>
            <a:r>
              <a:rPr lang="fr-CA" dirty="0"/>
              <a:t>Attention le PCI vient au dernier lieu </a:t>
            </a:r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678843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Centre de responsabilité soit le centre de cout centre de profit ou bien un centre d’investissement </a:t>
            </a:r>
          </a:p>
          <a:p>
            <a:r>
              <a:rPr lang="fr-CA" dirty="0"/>
              <a:t>On doit le choisir le centre mieux adapté a la stratégie de l’entreprise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10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705484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11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755876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12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28662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13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531712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14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849103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1" fontAlgn="t" latinLnBrk="0" hangingPunct="1"/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15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329484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16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974473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17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321626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18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893167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19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342490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20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436643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21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743562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22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60583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23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26520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24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263911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25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570498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Le plus difficile dans une analyse </a:t>
            </a:r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26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7811508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E1C796-676E-4B22-B106-462FAAF67AEB}" type="slidenum">
              <a:rPr lang="fr-CA" smtClean="0"/>
              <a:t>27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3660761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28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0195877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fr-CA"/>
              <a:t>Michel Vézina- École des HÉC</a:t>
            </a:r>
          </a:p>
        </p:txBody>
      </p:sp>
      <p:sp>
        <p:nvSpPr>
          <p:cNvPr id="3891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9C54A88-59DA-4DEF-A728-26F67797FEC4}" type="slidenum">
              <a:rPr lang="fr-CA" smtClean="0"/>
              <a:pPr/>
              <a:t>29</a:t>
            </a:fld>
            <a:endParaRPr lang="fr-CA"/>
          </a:p>
        </p:txBody>
      </p:sp>
      <p:sp>
        <p:nvSpPr>
          <p:cNvPr id="3891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noFill/>
          <a:ln/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512990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fr-CA"/>
              <a:t>Michel Vézina- École des HÉC</a:t>
            </a:r>
          </a:p>
        </p:txBody>
      </p:sp>
      <p:sp>
        <p:nvSpPr>
          <p:cNvPr id="3891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9C54A88-59DA-4DEF-A728-26F67797FEC4}" type="slidenum">
              <a:rPr lang="fr-CA" smtClean="0"/>
              <a:pPr/>
              <a:t>30</a:t>
            </a:fld>
            <a:endParaRPr lang="fr-CA"/>
          </a:p>
        </p:txBody>
      </p:sp>
      <p:sp>
        <p:nvSpPr>
          <p:cNvPr id="3891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noFill/>
          <a:ln/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234338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31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2398414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32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7602619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fr-CA"/>
              <a:t>Michel Vézina- École des HÉC</a:t>
            </a:r>
          </a:p>
        </p:txBody>
      </p:sp>
      <p:sp>
        <p:nvSpPr>
          <p:cNvPr id="3891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9C54A88-59DA-4DEF-A728-26F67797FEC4}" type="slidenum">
              <a:rPr lang="fr-CA" smtClean="0"/>
              <a:pPr/>
              <a:t>33</a:t>
            </a:fld>
            <a:endParaRPr lang="fr-CA"/>
          </a:p>
        </p:txBody>
      </p:sp>
      <p:sp>
        <p:nvSpPr>
          <p:cNvPr id="3891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noFill/>
          <a:ln/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374445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fr-CA"/>
              <a:t>Michel Vézina- École des HÉC</a:t>
            </a:r>
          </a:p>
        </p:txBody>
      </p:sp>
      <p:sp>
        <p:nvSpPr>
          <p:cNvPr id="5837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FCAAF38-1BFB-41FD-8303-B6C8607AE206}" type="slidenum">
              <a:rPr lang="fr-CA" smtClean="0"/>
              <a:pPr/>
              <a:t>34</a:t>
            </a:fld>
            <a:endParaRPr lang="fr-CA"/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040" y="4416425"/>
            <a:ext cx="5608320" cy="4183063"/>
          </a:xfrm>
          <a:noFill/>
          <a:ln/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725148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fr-CA"/>
              <a:t>Michel Vézina- École des HÉC</a:t>
            </a:r>
          </a:p>
        </p:txBody>
      </p:sp>
      <p:sp>
        <p:nvSpPr>
          <p:cNvPr id="5837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FCAAF38-1BFB-41FD-8303-B6C8607AE206}" type="slidenum">
              <a:rPr lang="fr-CA" smtClean="0"/>
              <a:pPr/>
              <a:t>35</a:t>
            </a:fld>
            <a:endParaRPr lang="fr-CA"/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040" y="4416425"/>
            <a:ext cx="5608320" cy="4183063"/>
          </a:xfrm>
          <a:noFill/>
          <a:ln/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246090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fr-CA"/>
              <a:t>Michel Vézina- École des HÉC</a:t>
            </a:r>
          </a:p>
        </p:txBody>
      </p:sp>
      <p:sp>
        <p:nvSpPr>
          <p:cNvPr id="5837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FCAAF38-1BFB-41FD-8303-B6C8607AE206}" type="slidenum">
              <a:rPr lang="fr-CA" smtClean="0"/>
              <a:pPr/>
              <a:t>36</a:t>
            </a:fld>
            <a:endParaRPr lang="fr-CA"/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040" y="4416425"/>
            <a:ext cx="5608320" cy="4183063"/>
          </a:xfrm>
          <a:noFill/>
          <a:ln/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198030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fr-CA"/>
              <a:t>Michel Vézina- École des HÉC</a:t>
            </a:r>
          </a:p>
        </p:txBody>
      </p:sp>
      <p:sp>
        <p:nvSpPr>
          <p:cNvPr id="5837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FCAAF38-1BFB-41FD-8303-B6C8607AE206}" type="slidenum">
              <a:rPr lang="fr-CA" smtClean="0"/>
              <a:pPr/>
              <a:t>37</a:t>
            </a:fld>
            <a:endParaRPr lang="fr-CA"/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040" y="4416425"/>
            <a:ext cx="5608320" cy="4183063"/>
          </a:xfrm>
          <a:noFill/>
          <a:ln/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114173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fr-CA"/>
              <a:t>Michel Vézina- École des HÉC</a:t>
            </a:r>
          </a:p>
        </p:txBody>
      </p:sp>
      <p:sp>
        <p:nvSpPr>
          <p:cNvPr id="5837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FCAAF38-1BFB-41FD-8303-B6C8607AE206}" type="slidenum">
              <a:rPr lang="fr-CA" smtClean="0"/>
              <a:pPr/>
              <a:t>38</a:t>
            </a:fld>
            <a:endParaRPr lang="fr-CA"/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040" y="4416425"/>
            <a:ext cx="5608320" cy="4183063"/>
          </a:xfrm>
          <a:noFill/>
          <a:ln/>
        </p:spPr>
        <p:txBody>
          <a:bodyPr/>
          <a:lstStyle/>
          <a:p>
            <a:r>
              <a:rPr lang="fr-FR" dirty="0"/>
              <a:t>Avec le cout réel y’a un transfert des </a:t>
            </a:r>
            <a:r>
              <a:rPr lang="fr-FR" dirty="0" err="1"/>
              <a:t>innéficacité</a:t>
            </a:r>
            <a:r>
              <a:rPr lang="fr-FR" dirty="0"/>
              <a:t> entre les divisions donc aucune pression sur la division vendeuse </a:t>
            </a:r>
          </a:p>
        </p:txBody>
      </p:sp>
    </p:spTree>
    <p:extLst>
      <p:ext uri="{BB962C8B-B14F-4D97-AF65-F5344CB8AC3E}">
        <p14:creationId xmlns:p14="http://schemas.microsoft.com/office/powerpoint/2010/main" val="306193989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39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1309534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fr-CA"/>
              <a:t>Michel Vézina- École des HÉC</a:t>
            </a:r>
          </a:p>
        </p:txBody>
      </p:sp>
      <p:sp>
        <p:nvSpPr>
          <p:cNvPr id="3891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9C54A88-59DA-4DEF-A728-26F67797FEC4}" type="slidenum">
              <a:rPr lang="fr-CA" smtClean="0"/>
              <a:pPr/>
              <a:t>40</a:t>
            </a:fld>
            <a:endParaRPr lang="fr-CA"/>
          </a:p>
        </p:txBody>
      </p:sp>
      <p:sp>
        <p:nvSpPr>
          <p:cNvPr id="3891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noFill/>
          <a:ln/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449709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fr-CA"/>
              <a:t>Michel Vézina- École des HÉC</a:t>
            </a:r>
          </a:p>
        </p:txBody>
      </p:sp>
      <p:sp>
        <p:nvSpPr>
          <p:cNvPr id="6041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5B7F5CC-6210-48FC-841D-86A3E15E1786}" type="slidenum">
              <a:rPr lang="fr-CA" smtClean="0"/>
              <a:pPr/>
              <a:t>41</a:t>
            </a:fld>
            <a:endParaRPr lang="fr-CA"/>
          </a:p>
        </p:txBody>
      </p:sp>
      <p:sp>
        <p:nvSpPr>
          <p:cNvPr id="604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040" y="4416425"/>
            <a:ext cx="5608320" cy="4183063"/>
          </a:xfrm>
          <a:noFill/>
          <a:ln/>
        </p:spPr>
        <p:txBody>
          <a:bodyPr/>
          <a:lstStyle/>
          <a:p>
            <a:r>
              <a:rPr lang="fr-FR" dirty="0"/>
              <a:t>Frais fixes unitaires diminuent </a:t>
            </a:r>
          </a:p>
        </p:txBody>
      </p:sp>
    </p:spTree>
    <p:extLst>
      <p:ext uri="{BB962C8B-B14F-4D97-AF65-F5344CB8AC3E}">
        <p14:creationId xmlns:p14="http://schemas.microsoft.com/office/powerpoint/2010/main" val="185202765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fr-CA"/>
              <a:t>Michel Vézina- École des HÉC</a:t>
            </a:r>
          </a:p>
        </p:txBody>
      </p:sp>
      <p:sp>
        <p:nvSpPr>
          <p:cNvPr id="6041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5B7F5CC-6210-48FC-841D-86A3E15E1786}" type="slidenum">
              <a:rPr lang="fr-CA" smtClean="0"/>
              <a:pPr/>
              <a:t>42</a:t>
            </a:fld>
            <a:endParaRPr lang="fr-CA"/>
          </a:p>
        </p:txBody>
      </p:sp>
      <p:sp>
        <p:nvSpPr>
          <p:cNvPr id="604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040" y="4416425"/>
            <a:ext cx="5608320" cy="4183063"/>
          </a:xfrm>
          <a:noFill/>
          <a:ln/>
        </p:spPr>
        <p:txBody>
          <a:bodyPr/>
          <a:lstStyle/>
          <a:p>
            <a:r>
              <a:rPr lang="fr-FR" dirty="0"/>
              <a:t>Cout complet =PCI variable </a:t>
            </a:r>
          </a:p>
          <a:p>
            <a:r>
              <a:rPr lang="fr-FR" dirty="0"/>
              <a:t>Cout variable=PCI fixe  </a:t>
            </a:r>
          </a:p>
        </p:txBody>
      </p:sp>
    </p:spTree>
    <p:extLst>
      <p:ext uri="{BB962C8B-B14F-4D97-AF65-F5344CB8AC3E}">
        <p14:creationId xmlns:p14="http://schemas.microsoft.com/office/powerpoint/2010/main" val="162970258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fr-CA"/>
              <a:t>Michel Vézina- École des HÉC</a:t>
            </a:r>
          </a:p>
        </p:txBody>
      </p:sp>
      <p:sp>
        <p:nvSpPr>
          <p:cNvPr id="6041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5B7F5CC-6210-48FC-841D-86A3E15E1786}" type="slidenum">
              <a:rPr lang="fr-CA" smtClean="0"/>
              <a:pPr/>
              <a:t>47</a:t>
            </a:fld>
            <a:endParaRPr lang="fr-CA"/>
          </a:p>
        </p:txBody>
      </p:sp>
      <p:sp>
        <p:nvSpPr>
          <p:cNvPr id="604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040" y="4416425"/>
            <a:ext cx="5608320" cy="4183063"/>
          </a:xfrm>
          <a:noFill/>
          <a:ln/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131127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48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3737427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49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4315727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50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35871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938" y="1715289"/>
            <a:ext cx="10916125" cy="4562540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38400" y="1715040"/>
            <a:ext cx="7032000" cy="1749600"/>
          </a:xfrm>
          <a:solidFill>
            <a:schemeClr val="accent1">
              <a:alpha val="80000"/>
            </a:schemeClr>
          </a:solidFill>
        </p:spPr>
        <p:txBody>
          <a:bodyPr bIns="72000">
            <a:normAutofit/>
          </a:bodyPr>
          <a:lstStyle>
            <a:lvl1pPr>
              <a:defRPr sz="4320">
                <a:solidFill>
                  <a:schemeClr val="accent2"/>
                </a:solidFill>
              </a:defRPr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38400" y="3555187"/>
            <a:ext cx="7022400" cy="482803"/>
          </a:xfrm>
          <a:solidFill>
            <a:schemeClr val="accent1">
              <a:alpha val="80000"/>
            </a:schemeClr>
          </a:solidFill>
        </p:spPr>
        <p:txBody>
          <a:bodyPr anchor="ctr" anchorCtr="0">
            <a:normAutofit/>
          </a:bodyPr>
          <a:lstStyle>
            <a:lvl1pPr marL="0" indent="0" algn="l">
              <a:buNone/>
              <a:defRPr sz="2400">
                <a:solidFill>
                  <a:schemeClr val="accent2"/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noProof="0"/>
              <a:t>Modifiez le style des sous-titres du masque</a:t>
            </a:r>
            <a:endParaRPr lang="fr-CA" noProof="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934400" y="6462720"/>
            <a:ext cx="619200" cy="164160"/>
          </a:xfrm>
        </p:spPr>
        <p:txBody>
          <a:bodyPr vert="horz" lIns="91440" tIns="45720" rIns="91440" bIns="45720" rtlCol="0" anchor="ctr"/>
          <a:lstStyle>
            <a:lvl1pPr marL="0" algn="r" defTabSz="1097280" rtl="0" eaLnBrk="1" latinLnBrk="0" hangingPunct="1">
              <a:defRPr lang="fr-CA" sz="804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pic>
        <p:nvPicPr>
          <p:cNvPr id="7" name="Imag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892" y="280875"/>
            <a:ext cx="7043697" cy="978868"/>
          </a:xfrm>
          <a:prstGeom prst="rect">
            <a:avLst/>
          </a:prstGeom>
        </p:spPr>
      </p:pic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>
          <a:xfrm>
            <a:off x="637938" y="6033953"/>
            <a:ext cx="2865599" cy="240066"/>
          </a:xfrm>
          <a:solidFill>
            <a:schemeClr val="accent1"/>
          </a:solidFill>
        </p:spPr>
        <p:txBody>
          <a:bodyPr/>
          <a:lstStyle>
            <a:lvl1pPr algn="l">
              <a:defRPr sz="1560" cap="all" baseline="0">
                <a:solidFill>
                  <a:schemeClr val="bg1"/>
                </a:solidFill>
              </a:defRPr>
            </a:lvl1pPr>
          </a:lstStyle>
          <a:p>
            <a:r>
              <a:rPr lang="fr-CA"/>
              <a:t>(C) Préparé par Chan Sitha Méas, Marie-Eve Quenneville et Michel Vézina</a:t>
            </a:r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0C037B-296C-4CAF-BFA2-381039CB936A}" type="datetime1">
              <a:rPr lang="fr-CA" smtClean="0"/>
              <a:t>2025-03-16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95433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638400" y="575623"/>
            <a:ext cx="10915200" cy="987552"/>
          </a:xfrm>
        </p:spPr>
        <p:txBody>
          <a:bodyPr/>
          <a:lstStyle/>
          <a:p>
            <a:r>
              <a:rPr lang="fr-CA" noProof="0" dirty="0"/>
              <a:t>Click to </a:t>
            </a:r>
            <a:r>
              <a:rPr lang="fr-CA" noProof="0" dirty="0" err="1"/>
              <a:t>edit</a:t>
            </a:r>
            <a:r>
              <a:rPr lang="fr-CA" noProof="0" dirty="0"/>
              <a:t> </a:t>
            </a:r>
            <a:r>
              <a:rPr lang="fr-CA" noProof="0" dirty="0" err="1"/>
              <a:t>title</a:t>
            </a:r>
            <a:r>
              <a:rPr lang="fr-CA" noProof="0" dirty="0"/>
              <a:t> style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38400" y="1893224"/>
            <a:ext cx="10915200" cy="3825587"/>
          </a:xfrm>
        </p:spPr>
        <p:txBody>
          <a:bodyPr/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C7306-5374-4453-955C-708F5D18DD83}" type="datetime1">
              <a:rPr lang="fr-CA" smtClean="0"/>
              <a:t>2025-03-16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(C) Préparé par Chan Sitha Méas, Marie-Eve Quenneville et Michel Vézina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sp>
        <p:nvSpPr>
          <p:cNvPr id="7" name="TextBox 6"/>
          <p:cNvSpPr txBox="1"/>
          <p:nvPr/>
        </p:nvSpPr>
        <p:spPr>
          <a:xfrm>
            <a:off x="461433" y="5718810"/>
            <a:ext cx="1219200" cy="1097280"/>
          </a:xfrm>
          <a:prstGeom prst="rect">
            <a:avLst/>
          </a:prstGeom>
        </p:spPr>
        <p:txBody>
          <a:bodyPr vert="horz" wrap="none" lIns="109728" tIns="54864" rIns="109728" bIns="54864" rtlCol="0">
            <a:normAutofit/>
          </a:bodyPr>
          <a:lstStyle/>
          <a:p>
            <a:pPr marL="185760" indent="-185760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004" noProof="0" dirty="0"/>
          </a:p>
        </p:txBody>
      </p:sp>
    </p:spTree>
    <p:extLst>
      <p:ext uri="{BB962C8B-B14F-4D97-AF65-F5344CB8AC3E}">
        <p14:creationId xmlns:p14="http://schemas.microsoft.com/office/powerpoint/2010/main" val="41585358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749419" y="4143767"/>
            <a:ext cx="8804180" cy="17337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160" noProof="0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914"/>
          <a:stretch/>
        </p:blipFill>
        <p:spPr>
          <a:xfrm>
            <a:off x="7787951" y="1685399"/>
            <a:ext cx="3766109" cy="2367820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8400" y="1715039"/>
            <a:ext cx="7032000" cy="1749600"/>
          </a:xfrm>
          <a:solidFill>
            <a:schemeClr val="accent1"/>
          </a:solidFill>
        </p:spPr>
        <p:txBody>
          <a:bodyPr vert="horz" lIns="91440" tIns="45720" rIns="91440" bIns="72000" rtlCol="0" anchor="ctr">
            <a:normAutofit/>
          </a:bodyPr>
          <a:lstStyle>
            <a:lvl1pPr algn="l" defTabSz="1097280" rtl="0" eaLnBrk="1" latinLnBrk="0" hangingPunct="1">
              <a:spcBef>
                <a:spcPct val="0"/>
              </a:spcBef>
              <a:buNone/>
              <a:defRPr lang="fr-CA" sz="432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38400" y="3555187"/>
            <a:ext cx="7022400" cy="482803"/>
          </a:xfrm>
          <a:solidFill>
            <a:schemeClr val="accent1"/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l" defTabSz="109728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None/>
              <a:defRPr lang="fr-FR" sz="2400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04DCDE75-679F-4029-913C-61B0097C9B7D}" type="datetime1">
              <a:rPr lang="fr-CA" smtClean="0"/>
              <a:t>2025-03-16</a:t>
            </a:fld>
            <a:endParaRPr lang="fr-CA"/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fr-CA"/>
              <a:t>(C) Préparé par Chan Sitha Méas, Marie-Eve Quenneville et Michel Vézina</a:t>
            </a:r>
          </a:p>
        </p:txBody>
      </p:sp>
      <p:pic>
        <p:nvPicPr>
          <p:cNvPr id="12" name="Image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00" y="4142793"/>
            <a:ext cx="1997093" cy="1733702"/>
          </a:xfrm>
          <a:prstGeom prst="rect">
            <a:avLst/>
          </a:prstGeom>
        </p:spPr>
      </p:pic>
      <p:pic>
        <p:nvPicPr>
          <p:cNvPr id="13" name="Imag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9805" y="6038593"/>
            <a:ext cx="2053463" cy="255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501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8400" y="577216"/>
            <a:ext cx="10915200" cy="988033"/>
          </a:xfrm>
        </p:spPr>
        <p:txBody>
          <a:bodyPr/>
          <a:lstStyle/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821282"/>
            <a:ext cx="5384800" cy="3897529"/>
          </a:xfrm>
        </p:spPr>
        <p:txBody>
          <a:bodyPr>
            <a:normAutofit/>
          </a:bodyPr>
          <a:lstStyle>
            <a:lvl1pPr>
              <a:defRPr sz="2004"/>
            </a:lvl1pPr>
            <a:lvl2pPr>
              <a:defRPr sz="2004"/>
            </a:lvl2pPr>
            <a:lvl3pPr>
              <a:defRPr sz="2004"/>
            </a:lvl3pPr>
            <a:lvl4pPr>
              <a:defRPr sz="2004"/>
            </a:lvl4pPr>
            <a:lvl5pPr>
              <a:defRPr sz="2004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821282"/>
            <a:ext cx="5384800" cy="3897529"/>
          </a:xfrm>
        </p:spPr>
        <p:txBody>
          <a:bodyPr>
            <a:normAutofit/>
          </a:bodyPr>
          <a:lstStyle>
            <a:lvl1pPr>
              <a:defRPr sz="2004"/>
            </a:lvl1pPr>
            <a:lvl2pPr>
              <a:defRPr sz="2004"/>
            </a:lvl2pPr>
            <a:lvl3pPr>
              <a:defRPr sz="2004"/>
            </a:lvl3pPr>
            <a:lvl4pPr>
              <a:defRPr sz="2004"/>
            </a:lvl4pPr>
            <a:lvl5pPr>
              <a:defRPr sz="2004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D48DE-5C89-43A3-8811-4DC2CA6C030C}" type="datetime1">
              <a:rPr lang="fr-CA" smtClean="0"/>
              <a:t>2025-03-16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(C) Préparé par Chan Sitha Méas, Marie-Eve Quenneville et Michel Vézina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705589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8400" y="574442"/>
            <a:ext cx="10915200" cy="984599"/>
          </a:xfrm>
        </p:spPr>
        <p:txBody>
          <a:bodyPr/>
          <a:lstStyle>
            <a:lvl1pPr>
              <a:defRPr/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813561"/>
            <a:ext cx="5386917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baseline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453323"/>
            <a:ext cx="5386917" cy="3265488"/>
          </a:xfrm>
        </p:spPr>
        <p:txBody>
          <a:bodyPr>
            <a:normAutofit/>
          </a:bodyPr>
          <a:lstStyle>
            <a:lvl1pPr>
              <a:defRPr sz="2004"/>
            </a:lvl1pPr>
            <a:lvl2pPr>
              <a:defRPr sz="2004"/>
            </a:lvl2pPr>
            <a:lvl3pPr>
              <a:defRPr sz="2004"/>
            </a:lvl3pPr>
            <a:lvl4pPr>
              <a:defRPr sz="2004"/>
            </a:lvl4pPr>
            <a:lvl5pPr>
              <a:defRPr sz="2004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813561"/>
            <a:ext cx="5389033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baseline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453323"/>
            <a:ext cx="5389033" cy="3265488"/>
          </a:xfrm>
        </p:spPr>
        <p:txBody>
          <a:bodyPr>
            <a:normAutofit/>
          </a:bodyPr>
          <a:lstStyle>
            <a:lvl1pPr>
              <a:defRPr sz="2004"/>
            </a:lvl1pPr>
            <a:lvl2pPr>
              <a:defRPr sz="2004"/>
            </a:lvl2pPr>
            <a:lvl3pPr>
              <a:defRPr sz="2004"/>
            </a:lvl3pPr>
            <a:lvl4pPr>
              <a:defRPr sz="2004"/>
            </a:lvl4pPr>
            <a:lvl5pPr>
              <a:defRPr sz="2004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35657-8F17-409C-8EFD-0021DD262C96}" type="datetime1">
              <a:rPr lang="fr-CA" smtClean="0"/>
              <a:t>2025-03-16</a:t>
            </a:fld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(C) Préparé par Chan Sitha Méas, Marie-Eve Quenneville et Michel Vézina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016238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8400" y="577216"/>
            <a:ext cx="10915200" cy="983730"/>
          </a:xfrm>
        </p:spPr>
        <p:txBody>
          <a:bodyPr/>
          <a:lstStyle/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3F89C-EE4E-45B6-8CC7-C286A69183C0}" type="datetime1">
              <a:rPr lang="fr-CA" smtClean="0"/>
              <a:t>2025-03-16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(C) Préparé par Chan Sitha Méas, Marie-Eve Quenneville et Michel Vézina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537570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486BA-4515-49C7-9FB0-C19D89504058}" type="datetime1">
              <a:rPr lang="fr-CA" smtClean="0"/>
              <a:t>2025-03-16</a:t>
            </a:fld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(C) Préparé par Chan Sitha Méas, Marie-Eve Quenneville et Michel Vézina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37576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8400" y="572631"/>
            <a:ext cx="10915200" cy="986410"/>
          </a:xfrm>
        </p:spPr>
        <p:txBody>
          <a:bodyPr anchor="ctr" anchorCtr="0"/>
          <a:lstStyle>
            <a:lvl1pPr algn="l">
              <a:defRPr sz="3120" b="1"/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47200" y="1805281"/>
            <a:ext cx="6796800" cy="3913530"/>
          </a:xfrm>
        </p:spPr>
        <p:txBody>
          <a:bodyPr>
            <a:normAutofit/>
          </a:bodyPr>
          <a:lstStyle>
            <a:lvl1pPr>
              <a:defRPr sz="2004"/>
            </a:lvl1pPr>
            <a:lvl2pPr>
              <a:defRPr sz="2004"/>
            </a:lvl2pPr>
            <a:lvl3pPr>
              <a:defRPr sz="2004"/>
            </a:lvl3pPr>
            <a:lvl4pPr>
              <a:defRPr sz="2004"/>
            </a:lvl4pPr>
            <a:lvl5pPr>
              <a:defRPr sz="2004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38400" y="1805281"/>
            <a:ext cx="3984000" cy="3913530"/>
          </a:xfrm>
        </p:spPr>
        <p:txBody>
          <a:bodyPr>
            <a:normAutofit/>
          </a:bodyPr>
          <a:lstStyle>
            <a:lvl1pPr marL="0" indent="0">
              <a:buNone/>
              <a:defRPr sz="1800" b="1" cap="all" baseline="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F0E66-6432-4041-B8D4-542F3E9BDEF3}" type="datetime1">
              <a:rPr lang="fr-CA" smtClean="0"/>
              <a:t>2025-03-16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(C) Préparé par Chan Sitha Méas, Marie-Eve Quenneville et Michel Vézina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128007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8400" y="587672"/>
            <a:ext cx="10915200" cy="987540"/>
          </a:xfrm>
        </p:spPr>
        <p:txBody>
          <a:bodyPr anchor="ctr" anchorCtr="0"/>
          <a:lstStyle>
            <a:lvl1pPr algn="l">
              <a:defRPr sz="3120" b="1"/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638400" y="2478092"/>
            <a:ext cx="10905600" cy="3240718"/>
          </a:xfrm>
        </p:spPr>
        <p:txBody>
          <a:bodyPr>
            <a:normAutofit/>
          </a:bodyPr>
          <a:lstStyle>
            <a:lvl1pPr marL="0" indent="0">
              <a:buNone/>
              <a:defRPr sz="2004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fr-FR" noProof="0"/>
              <a:t>Cliquez sur l'icône pour ajouter une image</a:t>
            </a:r>
            <a:endParaRPr lang="fr-CA" noProof="0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38400" y="1821452"/>
            <a:ext cx="10905600" cy="626400"/>
          </a:xfrm>
        </p:spPr>
        <p:txBody>
          <a:bodyPr>
            <a:normAutofit/>
          </a:bodyPr>
          <a:lstStyle>
            <a:lvl1pPr marL="0" indent="0">
              <a:buNone/>
              <a:defRPr sz="1800" b="1" cap="all" baseline="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5D6DF-655F-4476-A499-E702C34DDD8F}" type="datetime1">
              <a:rPr lang="fr-CA" smtClean="0"/>
              <a:t>2025-03-16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(C) Préparé par Chan Sitha Méas, Marie-Eve Quenneville et Michel Vézina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07868258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38400" y="582231"/>
            <a:ext cx="10915200" cy="992983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CA" noProof="0" dirty="0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38400" y="1821452"/>
            <a:ext cx="10915200" cy="38973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 noProof="0" dirty="0"/>
              <a:t>Cliquez pour modifier les styles du texte du masque</a:t>
            </a:r>
          </a:p>
          <a:p>
            <a:pPr lvl="1"/>
            <a:r>
              <a:rPr lang="fr-CA" noProof="0" dirty="0"/>
              <a:t>Deuxième niveau</a:t>
            </a:r>
          </a:p>
          <a:p>
            <a:pPr lvl="2"/>
            <a:r>
              <a:rPr lang="fr-CA" noProof="0" dirty="0"/>
              <a:t>Troisième niveau</a:t>
            </a:r>
          </a:p>
          <a:p>
            <a:pPr lvl="3"/>
            <a:r>
              <a:rPr lang="fr-CA" noProof="0" dirty="0"/>
              <a:t>Quatrième niveau</a:t>
            </a:r>
          </a:p>
          <a:p>
            <a:pPr lvl="4"/>
            <a:r>
              <a:rPr lang="fr-CA" noProof="0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52800" y="6461995"/>
            <a:ext cx="2844800" cy="1641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4">
                <a:solidFill>
                  <a:schemeClr val="accent2"/>
                </a:solidFill>
              </a:defRPr>
            </a:lvl1pPr>
          </a:lstStyle>
          <a:p>
            <a:fld id="{3905D6DF-655F-4476-A499-E702C34DDD8F}" type="datetime1">
              <a:rPr lang="fr-CA" smtClean="0"/>
              <a:t>2025-03-16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165600" y="6461995"/>
            <a:ext cx="3860800" cy="1641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4">
                <a:solidFill>
                  <a:schemeClr val="accent2"/>
                </a:solidFill>
              </a:defRPr>
            </a:lvl1pPr>
          </a:lstStyle>
          <a:p>
            <a:r>
              <a:rPr lang="fr-CA"/>
              <a:t>(C) Préparé par Chan Sitha Méas, Marie-Eve Quenneville et Michel Vézina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934400" y="6461995"/>
            <a:ext cx="619200" cy="1641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4">
                <a:solidFill>
                  <a:schemeClr val="accent2"/>
                </a:solidFill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9805" y="6038593"/>
            <a:ext cx="2053463" cy="255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445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5" r:id="rId1"/>
    <p:sldLayoutId id="2147484036" r:id="rId2"/>
    <p:sldLayoutId id="2147484037" r:id="rId3"/>
    <p:sldLayoutId id="2147484038" r:id="rId4"/>
    <p:sldLayoutId id="2147484039" r:id="rId5"/>
    <p:sldLayoutId id="2147484040" r:id="rId6"/>
    <p:sldLayoutId id="2147484041" r:id="rId7"/>
    <p:sldLayoutId id="2147484042" r:id="rId8"/>
    <p:sldLayoutId id="2147484043" r:id="rId9"/>
  </p:sldLayoutIdLst>
  <p:hf hdr="0" dt="0"/>
  <p:txStyles>
    <p:titleStyle>
      <a:lvl1pPr algn="l" defTabSz="1097280" rtl="0" eaLnBrk="1" latinLnBrk="0" hangingPunct="1">
        <a:spcBef>
          <a:spcPct val="0"/>
        </a:spcBef>
        <a:buNone/>
        <a:defRPr sz="312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85760" indent="-185760" algn="l" defTabSz="109728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2004" kern="1200">
          <a:solidFill>
            <a:schemeClr val="tx1"/>
          </a:solidFill>
          <a:latin typeface="+mn-lt"/>
          <a:ea typeface="+mn-ea"/>
          <a:cs typeface="+mn-cs"/>
        </a:defRPr>
      </a:lvl1pPr>
      <a:lvl2pPr marL="544320" indent="-185760" algn="l" defTabSz="109728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2004" kern="1200">
          <a:solidFill>
            <a:schemeClr val="tx1"/>
          </a:solidFill>
          <a:latin typeface="+mn-lt"/>
          <a:ea typeface="+mn-ea"/>
          <a:cs typeface="+mn-cs"/>
        </a:defRPr>
      </a:lvl2pPr>
      <a:lvl3pPr marL="902880" indent="-185760" algn="l" defTabSz="109728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2004" kern="1200">
          <a:solidFill>
            <a:schemeClr val="tx1"/>
          </a:solidFill>
          <a:latin typeface="+mn-lt"/>
          <a:ea typeface="+mn-ea"/>
          <a:cs typeface="+mn-cs"/>
        </a:defRPr>
      </a:lvl3pPr>
      <a:lvl4pPr marL="1257120" indent="-185760" algn="l" defTabSz="109728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2004" kern="1200">
          <a:solidFill>
            <a:schemeClr val="tx1"/>
          </a:solidFill>
          <a:latin typeface="+mn-lt"/>
          <a:ea typeface="+mn-ea"/>
          <a:cs typeface="+mn-cs"/>
        </a:defRPr>
      </a:lvl4pPr>
      <a:lvl5pPr marL="1615680" indent="-185760" algn="l" defTabSz="109728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2004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18/10/relationships/comments" Target="../comments/modernComment_138_C5F8BE2B.xml"/><Relationship Id="rId3" Type="http://schemas.openxmlformats.org/officeDocument/2006/relationships/tags" Target="../tags/tag10.xml"/><Relationship Id="rId7" Type="http://schemas.openxmlformats.org/officeDocument/2006/relationships/notesSlide" Target="../notesSlides/notesSlide3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7" Type="http://schemas.microsoft.com/office/2018/10/relationships/comments" Target="../comments/modernComment_139_72137F2A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7" Type="http://schemas.microsoft.com/office/2018/10/relationships/comments" Target="../comments/modernComment_13A_B0FA18E3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.xml"/><Relationship Id="rId13" Type="http://schemas.openxmlformats.org/officeDocument/2006/relationships/image" Target="../media/image6.jpeg"/><Relationship Id="rId3" Type="http://schemas.openxmlformats.org/officeDocument/2006/relationships/tags" Target="../tags/tag27.xml"/><Relationship Id="rId7" Type="http://schemas.openxmlformats.org/officeDocument/2006/relationships/notesSlide" Target="../notesSlides/notesSlide7.xml"/><Relationship Id="rId12" Type="http://schemas.microsoft.com/office/2007/relationships/diagramDrawing" Target="../diagrams/drawing1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slideLayout" Target="../slideLayouts/slideLayout4.xml"/><Relationship Id="rId11" Type="http://schemas.openxmlformats.org/officeDocument/2006/relationships/diagramColors" Target="../diagrams/colors1.xml"/><Relationship Id="rId5" Type="http://schemas.openxmlformats.org/officeDocument/2006/relationships/tags" Target="../tags/tag29.xml"/><Relationship Id="rId10" Type="http://schemas.openxmlformats.org/officeDocument/2006/relationships/diagramQuickStyle" Target="../diagrams/quickStyle1.xml"/><Relationship Id="rId4" Type="http://schemas.openxmlformats.org/officeDocument/2006/relationships/tags" Target="../tags/tag28.xml"/><Relationship Id="rId9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tags" Target="../tags/tag32.xml"/><Relationship Id="rId7" Type="http://schemas.openxmlformats.org/officeDocument/2006/relationships/notesSlide" Target="../notesSlides/notesSlide8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4.xml"/><Relationship Id="rId4" Type="http://schemas.openxmlformats.org/officeDocument/2006/relationships/tags" Target="../tags/tag3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tags" Target="../tags/tag37.xml"/><Relationship Id="rId7" Type="http://schemas.openxmlformats.org/officeDocument/2006/relationships/diagramData" Target="../diagrams/data2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notesSlide" Target="../notesSlides/notesSlide9.xml"/><Relationship Id="rId11" Type="http://schemas.microsoft.com/office/2007/relationships/diagramDrawing" Target="../diagrams/drawing2.xml"/><Relationship Id="rId5" Type="http://schemas.openxmlformats.org/officeDocument/2006/relationships/slideLayout" Target="../slideLayouts/slideLayout4.xml"/><Relationship Id="rId10" Type="http://schemas.openxmlformats.org/officeDocument/2006/relationships/diagramColors" Target="../diagrams/colors2.xml"/><Relationship Id="rId4" Type="http://schemas.openxmlformats.org/officeDocument/2006/relationships/tags" Target="../tags/tag38.xml"/><Relationship Id="rId9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tags" Target="../tags/tag41.xml"/><Relationship Id="rId7" Type="http://schemas.openxmlformats.org/officeDocument/2006/relationships/notesSlide" Target="../notesSlides/notesSlide10.xml"/><Relationship Id="rId12" Type="http://schemas.microsoft.com/office/2007/relationships/diagramDrawing" Target="../diagrams/drawing3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slideLayout" Target="../slideLayouts/slideLayout4.xml"/><Relationship Id="rId11" Type="http://schemas.openxmlformats.org/officeDocument/2006/relationships/diagramColors" Target="../diagrams/colors3.xml"/><Relationship Id="rId5" Type="http://schemas.openxmlformats.org/officeDocument/2006/relationships/tags" Target="../tags/tag43.xml"/><Relationship Id="rId10" Type="http://schemas.openxmlformats.org/officeDocument/2006/relationships/diagramQuickStyle" Target="../diagrams/quickStyle3.xml"/><Relationship Id="rId4" Type="http://schemas.openxmlformats.org/officeDocument/2006/relationships/tags" Target="../tags/tag42.xml"/><Relationship Id="rId9" Type="http://schemas.openxmlformats.org/officeDocument/2006/relationships/diagramLayout" Target="../diagrams/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3" Type="http://schemas.openxmlformats.org/officeDocument/2006/relationships/tags" Target="../tags/tag46.xml"/><Relationship Id="rId7" Type="http://schemas.openxmlformats.org/officeDocument/2006/relationships/notesSlide" Target="../notesSlides/notesSlide11.xml"/><Relationship Id="rId12" Type="http://schemas.microsoft.com/office/2007/relationships/diagramDrawing" Target="../diagrams/drawing4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slideLayout" Target="../slideLayouts/slideLayout4.xml"/><Relationship Id="rId11" Type="http://schemas.openxmlformats.org/officeDocument/2006/relationships/diagramColors" Target="../diagrams/colors4.xml"/><Relationship Id="rId5" Type="http://schemas.openxmlformats.org/officeDocument/2006/relationships/tags" Target="../tags/tag48.xml"/><Relationship Id="rId10" Type="http://schemas.openxmlformats.org/officeDocument/2006/relationships/diagramQuickStyle" Target="../diagrams/quickStyle4.xml"/><Relationship Id="rId4" Type="http://schemas.openxmlformats.org/officeDocument/2006/relationships/tags" Target="../tags/tag47.xml"/><Relationship Id="rId9" Type="http://schemas.openxmlformats.org/officeDocument/2006/relationships/diagramLayout" Target="../diagrams/layout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5.xml"/><Relationship Id="rId3" Type="http://schemas.openxmlformats.org/officeDocument/2006/relationships/tags" Target="../tags/tag51.xml"/><Relationship Id="rId7" Type="http://schemas.openxmlformats.org/officeDocument/2006/relationships/notesSlide" Target="../notesSlides/notesSlide12.xml"/><Relationship Id="rId12" Type="http://schemas.microsoft.com/office/2007/relationships/diagramDrawing" Target="../diagrams/drawing5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Layout" Target="../slideLayouts/slideLayout4.xml"/><Relationship Id="rId11" Type="http://schemas.openxmlformats.org/officeDocument/2006/relationships/diagramColors" Target="../diagrams/colors5.xml"/><Relationship Id="rId5" Type="http://schemas.openxmlformats.org/officeDocument/2006/relationships/tags" Target="../tags/tag53.xml"/><Relationship Id="rId10" Type="http://schemas.openxmlformats.org/officeDocument/2006/relationships/diagramQuickStyle" Target="../diagrams/quickStyle5.xml"/><Relationship Id="rId4" Type="http://schemas.openxmlformats.org/officeDocument/2006/relationships/tags" Target="../tags/tag52.xml"/><Relationship Id="rId9" Type="http://schemas.openxmlformats.org/officeDocument/2006/relationships/diagramLayout" Target="../diagrams/layout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6.xml"/><Relationship Id="rId3" Type="http://schemas.openxmlformats.org/officeDocument/2006/relationships/tags" Target="../tags/tag56.xml"/><Relationship Id="rId7" Type="http://schemas.openxmlformats.org/officeDocument/2006/relationships/notesSlide" Target="../notesSlides/notesSlide13.xml"/><Relationship Id="rId12" Type="http://schemas.microsoft.com/office/2007/relationships/diagramDrawing" Target="../diagrams/drawing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slideLayout" Target="../slideLayouts/slideLayout4.xml"/><Relationship Id="rId11" Type="http://schemas.openxmlformats.org/officeDocument/2006/relationships/diagramColors" Target="../diagrams/colors6.xml"/><Relationship Id="rId5" Type="http://schemas.openxmlformats.org/officeDocument/2006/relationships/tags" Target="../tags/tag58.xml"/><Relationship Id="rId10" Type="http://schemas.openxmlformats.org/officeDocument/2006/relationships/diagramQuickStyle" Target="../diagrams/quickStyle6.xml"/><Relationship Id="rId4" Type="http://schemas.openxmlformats.org/officeDocument/2006/relationships/tags" Target="../tags/tag57.xml"/><Relationship Id="rId9" Type="http://schemas.openxmlformats.org/officeDocument/2006/relationships/diagramLayout" Target="../diagrams/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84.xml"/><Relationship Id="rId7" Type="http://schemas.openxmlformats.org/officeDocument/2006/relationships/notesSlide" Target="../notesSlides/notesSlide20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86.xml"/><Relationship Id="rId4" Type="http://schemas.openxmlformats.org/officeDocument/2006/relationships/tags" Target="../tags/tag8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6" Type="http://schemas.openxmlformats.org/officeDocument/2006/relationships/notesSlide" Target="../notesSlides/notesSlide2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" Type="http://schemas.openxmlformats.org/officeDocument/2006/relationships/tags" Target="../tags/tag107.xml"/><Relationship Id="rId6" Type="http://schemas.openxmlformats.org/officeDocument/2006/relationships/notesSlide" Target="../notesSlides/notesSlide26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110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118.xml"/><Relationship Id="rId13" Type="http://schemas.openxmlformats.org/officeDocument/2006/relationships/tags" Target="../tags/tag123.xml"/><Relationship Id="rId3" Type="http://schemas.openxmlformats.org/officeDocument/2006/relationships/tags" Target="../tags/tag113.xml"/><Relationship Id="rId7" Type="http://schemas.openxmlformats.org/officeDocument/2006/relationships/tags" Target="../tags/tag117.xml"/><Relationship Id="rId12" Type="http://schemas.openxmlformats.org/officeDocument/2006/relationships/tags" Target="../tags/tag122.xml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6" Type="http://schemas.openxmlformats.org/officeDocument/2006/relationships/tags" Target="../tags/tag116.xml"/><Relationship Id="rId11" Type="http://schemas.openxmlformats.org/officeDocument/2006/relationships/tags" Target="../tags/tag121.xml"/><Relationship Id="rId5" Type="http://schemas.openxmlformats.org/officeDocument/2006/relationships/tags" Target="../tags/tag115.xml"/><Relationship Id="rId15" Type="http://schemas.openxmlformats.org/officeDocument/2006/relationships/notesSlide" Target="../notesSlides/notesSlide27.xml"/><Relationship Id="rId10" Type="http://schemas.openxmlformats.org/officeDocument/2006/relationships/tags" Target="../tags/tag120.xml"/><Relationship Id="rId4" Type="http://schemas.openxmlformats.org/officeDocument/2006/relationships/tags" Target="../tags/tag114.xml"/><Relationship Id="rId9" Type="http://schemas.openxmlformats.org/officeDocument/2006/relationships/tags" Target="../tags/tag119.xml"/><Relationship Id="rId14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6" Type="http://schemas.openxmlformats.org/officeDocument/2006/relationships/notesSlide" Target="../notesSlides/notesSlide2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135.xml"/><Relationship Id="rId13" Type="http://schemas.openxmlformats.org/officeDocument/2006/relationships/tags" Target="../tags/tag140.xml"/><Relationship Id="rId18" Type="http://schemas.openxmlformats.org/officeDocument/2006/relationships/tags" Target="../tags/tag145.xml"/><Relationship Id="rId26" Type="http://schemas.openxmlformats.org/officeDocument/2006/relationships/notesSlide" Target="../notesSlides/notesSlide29.xml"/><Relationship Id="rId3" Type="http://schemas.openxmlformats.org/officeDocument/2006/relationships/tags" Target="../tags/tag130.xml"/><Relationship Id="rId21" Type="http://schemas.openxmlformats.org/officeDocument/2006/relationships/tags" Target="../tags/tag148.xml"/><Relationship Id="rId7" Type="http://schemas.openxmlformats.org/officeDocument/2006/relationships/tags" Target="../tags/tag134.xml"/><Relationship Id="rId12" Type="http://schemas.openxmlformats.org/officeDocument/2006/relationships/tags" Target="../tags/tag139.xml"/><Relationship Id="rId17" Type="http://schemas.openxmlformats.org/officeDocument/2006/relationships/tags" Target="../tags/tag144.xml"/><Relationship Id="rId25" Type="http://schemas.openxmlformats.org/officeDocument/2006/relationships/slideLayout" Target="../slideLayouts/slideLayout6.xml"/><Relationship Id="rId2" Type="http://schemas.openxmlformats.org/officeDocument/2006/relationships/tags" Target="../tags/tag129.xml"/><Relationship Id="rId16" Type="http://schemas.openxmlformats.org/officeDocument/2006/relationships/tags" Target="../tags/tag143.xml"/><Relationship Id="rId20" Type="http://schemas.openxmlformats.org/officeDocument/2006/relationships/tags" Target="../tags/tag147.xml"/><Relationship Id="rId1" Type="http://schemas.openxmlformats.org/officeDocument/2006/relationships/tags" Target="../tags/tag128.xml"/><Relationship Id="rId6" Type="http://schemas.openxmlformats.org/officeDocument/2006/relationships/tags" Target="../tags/tag133.xml"/><Relationship Id="rId11" Type="http://schemas.openxmlformats.org/officeDocument/2006/relationships/tags" Target="../tags/tag138.xml"/><Relationship Id="rId24" Type="http://schemas.openxmlformats.org/officeDocument/2006/relationships/tags" Target="../tags/tag151.xml"/><Relationship Id="rId5" Type="http://schemas.openxmlformats.org/officeDocument/2006/relationships/tags" Target="../tags/tag132.xml"/><Relationship Id="rId15" Type="http://schemas.openxmlformats.org/officeDocument/2006/relationships/tags" Target="../tags/tag142.xml"/><Relationship Id="rId23" Type="http://schemas.openxmlformats.org/officeDocument/2006/relationships/tags" Target="../tags/tag150.xml"/><Relationship Id="rId10" Type="http://schemas.openxmlformats.org/officeDocument/2006/relationships/tags" Target="../tags/tag137.xml"/><Relationship Id="rId19" Type="http://schemas.openxmlformats.org/officeDocument/2006/relationships/tags" Target="../tags/tag146.xml"/><Relationship Id="rId4" Type="http://schemas.openxmlformats.org/officeDocument/2006/relationships/tags" Target="../tags/tag131.xml"/><Relationship Id="rId9" Type="http://schemas.openxmlformats.org/officeDocument/2006/relationships/tags" Target="../tags/tag136.xml"/><Relationship Id="rId14" Type="http://schemas.openxmlformats.org/officeDocument/2006/relationships/tags" Target="../tags/tag141.xml"/><Relationship Id="rId22" Type="http://schemas.openxmlformats.org/officeDocument/2006/relationships/tags" Target="../tags/tag149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159.xml"/><Relationship Id="rId13" Type="http://schemas.openxmlformats.org/officeDocument/2006/relationships/tags" Target="../tags/tag164.xml"/><Relationship Id="rId18" Type="http://schemas.openxmlformats.org/officeDocument/2006/relationships/tags" Target="../tags/tag169.xml"/><Relationship Id="rId26" Type="http://schemas.openxmlformats.org/officeDocument/2006/relationships/notesSlide" Target="../notesSlides/notesSlide30.xml"/><Relationship Id="rId3" Type="http://schemas.openxmlformats.org/officeDocument/2006/relationships/tags" Target="../tags/tag154.xml"/><Relationship Id="rId21" Type="http://schemas.openxmlformats.org/officeDocument/2006/relationships/tags" Target="../tags/tag172.xml"/><Relationship Id="rId7" Type="http://schemas.openxmlformats.org/officeDocument/2006/relationships/tags" Target="../tags/tag158.xml"/><Relationship Id="rId12" Type="http://schemas.openxmlformats.org/officeDocument/2006/relationships/tags" Target="../tags/tag163.xml"/><Relationship Id="rId17" Type="http://schemas.openxmlformats.org/officeDocument/2006/relationships/tags" Target="../tags/tag168.xml"/><Relationship Id="rId25" Type="http://schemas.openxmlformats.org/officeDocument/2006/relationships/slideLayout" Target="../slideLayouts/slideLayout6.xml"/><Relationship Id="rId2" Type="http://schemas.openxmlformats.org/officeDocument/2006/relationships/tags" Target="../tags/tag153.xml"/><Relationship Id="rId16" Type="http://schemas.openxmlformats.org/officeDocument/2006/relationships/tags" Target="../tags/tag167.xml"/><Relationship Id="rId20" Type="http://schemas.openxmlformats.org/officeDocument/2006/relationships/tags" Target="../tags/tag171.xml"/><Relationship Id="rId1" Type="http://schemas.openxmlformats.org/officeDocument/2006/relationships/tags" Target="../tags/tag152.xml"/><Relationship Id="rId6" Type="http://schemas.openxmlformats.org/officeDocument/2006/relationships/tags" Target="../tags/tag157.xml"/><Relationship Id="rId11" Type="http://schemas.openxmlformats.org/officeDocument/2006/relationships/tags" Target="../tags/tag162.xml"/><Relationship Id="rId24" Type="http://schemas.openxmlformats.org/officeDocument/2006/relationships/tags" Target="../tags/tag175.xml"/><Relationship Id="rId5" Type="http://schemas.openxmlformats.org/officeDocument/2006/relationships/tags" Target="../tags/tag156.xml"/><Relationship Id="rId15" Type="http://schemas.openxmlformats.org/officeDocument/2006/relationships/tags" Target="../tags/tag166.xml"/><Relationship Id="rId23" Type="http://schemas.openxmlformats.org/officeDocument/2006/relationships/tags" Target="../tags/tag174.xml"/><Relationship Id="rId10" Type="http://schemas.openxmlformats.org/officeDocument/2006/relationships/tags" Target="../tags/tag161.xml"/><Relationship Id="rId19" Type="http://schemas.openxmlformats.org/officeDocument/2006/relationships/tags" Target="../tags/tag170.xml"/><Relationship Id="rId4" Type="http://schemas.openxmlformats.org/officeDocument/2006/relationships/tags" Target="../tags/tag155.xml"/><Relationship Id="rId9" Type="http://schemas.openxmlformats.org/officeDocument/2006/relationships/tags" Target="../tags/tag160.xml"/><Relationship Id="rId14" Type="http://schemas.openxmlformats.org/officeDocument/2006/relationships/tags" Target="../tags/tag165.xml"/><Relationship Id="rId22" Type="http://schemas.openxmlformats.org/officeDocument/2006/relationships/tags" Target="../tags/tag17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tags" Target="../tags/tag178.xml"/><Relationship Id="rId2" Type="http://schemas.openxmlformats.org/officeDocument/2006/relationships/tags" Target="../tags/tag177.xml"/><Relationship Id="rId1" Type="http://schemas.openxmlformats.org/officeDocument/2006/relationships/tags" Target="../tags/tag176.xml"/><Relationship Id="rId6" Type="http://schemas.openxmlformats.org/officeDocument/2006/relationships/notesSlide" Target="../notesSlides/notesSlide3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tags" Target="../tags/tag182.xml"/><Relationship Id="rId2" Type="http://schemas.openxmlformats.org/officeDocument/2006/relationships/tags" Target="../tags/tag181.xml"/><Relationship Id="rId1" Type="http://schemas.openxmlformats.org/officeDocument/2006/relationships/tags" Target="../tags/tag180.xml"/><Relationship Id="rId6" Type="http://schemas.openxmlformats.org/officeDocument/2006/relationships/notesSlide" Target="../notesSlides/notesSlide3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83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tags" Target="../tags/tag191.xml"/><Relationship Id="rId13" Type="http://schemas.openxmlformats.org/officeDocument/2006/relationships/tags" Target="../tags/tag196.xml"/><Relationship Id="rId18" Type="http://schemas.openxmlformats.org/officeDocument/2006/relationships/tags" Target="../tags/tag201.xml"/><Relationship Id="rId26" Type="http://schemas.openxmlformats.org/officeDocument/2006/relationships/notesSlide" Target="../notesSlides/notesSlide33.xml"/><Relationship Id="rId3" Type="http://schemas.openxmlformats.org/officeDocument/2006/relationships/tags" Target="../tags/tag186.xml"/><Relationship Id="rId21" Type="http://schemas.openxmlformats.org/officeDocument/2006/relationships/tags" Target="../tags/tag204.xml"/><Relationship Id="rId7" Type="http://schemas.openxmlformats.org/officeDocument/2006/relationships/tags" Target="../tags/tag190.xml"/><Relationship Id="rId12" Type="http://schemas.openxmlformats.org/officeDocument/2006/relationships/tags" Target="../tags/tag195.xml"/><Relationship Id="rId17" Type="http://schemas.openxmlformats.org/officeDocument/2006/relationships/tags" Target="../tags/tag200.xml"/><Relationship Id="rId25" Type="http://schemas.openxmlformats.org/officeDocument/2006/relationships/slideLayout" Target="../slideLayouts/slideLayout6.xml"/><Relationship Id="rId2" Type="http://schemas.openxmlformats.org/officeDocument/2006/relationships/tags" Target="../tags/tag185.xml"/><Relationship Id="rId16" Type="http://schemas.openxmlformats.org/officeDocument/2006/relationships/tags" Target="../tags/tag199.xml"/><Relationship Id="rId20" Type="http://schemas.openxmlformats.org/officeDocument/2006/relationships/tags" Target="../tags/tag203.xml"/><Relationship Id="rId1" Type="http://schemas.openxmlformats.org/officeDocument/2006/relationships/tags" Target="../tags/tag184.xml"/><Relationship Id="rId6" Type="http://schemas.openxmlformats.org/officeDocument/2006/relationships/tags" Target="../tags/tag189.xml"/><Relationship Id="rId11" Type="http://schemas.openxmlformats.org/officeDocument/2006/relationships/tags" Target="../tags/tag194.xml"/><Relationship Id="rId24" Type="http://schemas.openxmlformats.org/officeDocument/2006/relationships/tags" Target="../tags/tag207.xml"/><Relationship Id="rId5" Type="http://schemas.openxmlformats.org/officeDocument/2006/relationships/tags" Target="../tags/tag188.xml"/><Relationship Id="rId15" Type="http://schemas.openxmlformats.org/officeDocument/2006/relationships/tags" Target="../tags/tag198.xml"/><Relationship Id="rId23" Type="http://schemas.openxmlformats.org/officeDocument/2006/relationships/tags" Target="../tags/tag206.xml"/><Relationship Id="rId10" Type="http://schemas.openxmlformats.org/officeDocument/2006/relationships/tags" Target="../tags/tag193.xml"/><Relationship Id="rId19" Type="http://schemas.openxmlformats.org/officeDocument/2006/relationships/tags" Target="../tags/tag202.xml"/><Relationship Id="rId4" Type="http://schemas.openxmlformats.org/officeDocument/2006/relationships/tags" Target="../tags/tag187.xml"/><Relationship Id="rId9" Type="http://schemas.openxmlformats.org/officeDocument/2006/relationships/tags" Target="../tags/tag192.xml"/><Relationship Id="rId14" Type="http://schemas.openxmlformats.org/officeDocument/2006/relationships/tags" Target="../tags/tag197.xml"/><Relationship Id="rId22" Type="http://schemas.openxmlformats.org/officeDocument/2006/relationships/tags" Target="../tags/tag205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tags" Target="../tags/tag215.xml"/><Relationship Id="rId3" Type="http://schemas.openxmlformats.org/officeDocument/2006/relationships/tags" Target="../tags/tag210.xml"/><Relationship Id="rId7" Type="http://schemas.openxmlformats.org/officeDocument/2006/relationships/tags" Target="../tags/tag214.xml"/><Relationship Id="rId12" Type="http://schemas.openxmlformats.org/officeDocument/2006/relationships/notesSlide" Target="../notesSlides/notesSlide34.xml"/><Relationship Id="rId2" Type="http://schemas.openxmlformats.org/officeDocument/2006/relationships/tags" Target="../tags/tag209.xml"/><Relationship Id="rId1" Type="http://schemas.openxmlformats.org/officeDocument/2006/relationships/tags" Target="../tags/tag208.xml"/><Relationship Id="rId6" Type="http://schemas.openxmlformats.org/officeDocument/2006/relationships/tags" Target="../tags/tag213.xml"/><Relationship Id="rId11" Type="http://schemas.openxmlformats.org/officeDocument/2006/relationships/slideLayout" Target="../slideLayouts/slideLayout6.xml"/><Relationship Id="rId5" Type="http://schemas.openxmlformats.org/officeDocument/2006/relationships/tags" Target="../tags/tag212.xml"/><Relationship Id="rId10" Type="http://schemas.openxmlformats.org/officeDocument/2006/relationships/tags" Target="../tags/tag217.xml"/><Relationship Id="rId4" Type="http://schemas.openxmlformats.org/officeDocument/2006/relationships/tags" Target="../tags/tag211.xml"/><Relationship Id="rId9" Type="http://schemas.openxmlformats.org/officeDocument/2006/relationships/tags" Target="../tags/tag216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tags" Target="../tags/tag225.xml"/><Relationship Id="rId13" Type="http://schemas.openxmlformats.org/officeDocument/2006/relationships/notesSlide" Target="../notesSlides/notesSlide35.xml"/><Relationship Id="rId3" Type="http://schemas.openxmlformats.org/officeDocument/2006/relationships/tags" Target="../tags/tag220.xml"/><Relationship Id="rId7" Type="http://schemas.openxmlformats.org/officeDocument/2006/relationships/tags" Target="../tags/tag224.xml"/><Relationship Id="rId12" Type="http://schemas.openxmlformats.org/officeDocument/2006/relationships/slideLayout" Target="../slideLayouts/slideLayout6.xml"/><Relationship Id="rId2" Type="http://schemas.openxmlformats.org/officeDocument/2006/relationships/tags" Target="../tags/tag219.xml"/><Relationship Id="rId1" Type="http://schemas.openxmlformats.org/officeDocument/2006/relationships/tags" Target="../tags/tag218.xml"/><Relationship Id="rId6" Type="http://schemas.openxmlformats.org/officeDocument/2006/relationships/tags" Target="../tags/tag223.xml"/><Relationship Id="rId11" Type="http://schemas.openxmlformats.org/officeDocument/2006/relationships/tags" Target="../tags/tag228.xml"/><Relationship Id="rId5" Type="http://schemas.openxmlformats.org/officeDocument/2006/relationships/tags" Target="../tags/tag222.xml"/><Relationship Id="rId10" Type="http://schemas.openxmlformats.org/officeDocument/2006/relationships/tags" Target="../tags/tag227.xml"/><Relationship Id="rId4" Type="http://schemas.openxmlformats.org/officeDocument/2006/relationships/tags" Target="../tags/tag221.xml"/><Relationship Id="rId9" Type="http://schemas.openxmlformats.org/officeDocument/2006/relationships/tags" Target="../tags/tag226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tags" Target="../tags/tag236.xml"/><Relationship Id="rId13" Type="http://schemas.openxmlformats.org/officeDocument/2006/relationships/notesSlide" Target="../notesSlides/notesSlide36.xml"/><Relationship Id="rId3" Type="http://schemas.openxmlformats.org/officeDocument/2006/relationships/tags" Target="../tags/tag231.xml"/><Relationship Id="rId7" Type="http://schemas.openxmlformats.org/officeDocument/2006/relationships/tags" Target="../tags/tag235.xml"/><Relationship Id="rId12" Type="http://schemas.openxmlformats.org/officeDocument/2006/relationships/slideLayout" Target="../slideLayouts/slideLayout6.xml"/><Relationship Id="rId2" Type="http://schemas.openxmlformats.org/officeDocument/2006/relationships/tags" Target="../tags/tag230.xml"/><Relationship Id="rId1" Type="http://schemas.openxmlformats.org/officeDocument/2006/relationships/tags" Target="../tags/tag229.xml"/><Relationship Id="rId6" Type="http://schemas.openxmlformats.org/officeDocument/2006/relationships/tags" Target="../tags/tag234.xml"/><Relationship Id="rId11" Type="http://schemas.openxmlformats.org/officeDocument/2006/relationships/tags" Target="../tags/tag239.xml"/><Relationship Id="rId5" Type="http://schemas.openxmlformats.org/officeDocument/2006/relationships/tags" Target="../tags/tag233.xml"/><Relationship Id="rId10" Type="http://schemas.openxmlformats.org/officeDocument/2006/relationships/tags" Target="../tags/tag238.xml"/><Relationship Id="rId4" Type="http://schemas.openxmlformats.org/officeDocument/2006/relationships/tags" Target="../tags/tag232.xml"/><Relationship Id="rId9" Type="http://schemas.openxmlformats.org/officeDocument/2006/relationships/tags" Target="../tags/tag237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tags" Target="../tags/tag247.xml"/><Relationship Id="rId13" Type="http://schemas.openxmlformats.org/officeDocument/2006/relationships/tags" Target="../tags/tag252.xml"/><Relationship Id="rId18" Type="http://schemas.openxmlformats.org/officeDocument/2006/relationships/notesSlide" Target="../notesSlides/notesSlide37.xml"/><Relationship Id="rId3" Type="http://schemas.openxmlformats.org/officeDocument/2006/relationships/tags" Target="../tags/tag242.xml"/><Relationship Id="rId7" Type="http://schemas.openxmlformats.org/officeDocument/2006/relationships/tags" Target="../tags/tag246.xml"/><Relationship Id="rId12" Type="http://schemas.openxmlformats.org/officeDocument/2006/relationships/tags" Target="../tags/tag251.xml"/><Relationship Id="rId17" Type="http://schemas.openxmlformats.org/officeDocument/2006/relationships/slideLayout" Target="../slideLayouts/slideLayout6.xml"/><Relationship Id="rId2" Type="http://schemas.openxmlformats.org/officeDocument/2006/relationships/tags" Target="../tags/tag241.xml"/><Relationship Id="rId16" Type="http://schemas.openxmlformats.org/officeDocument/2006/relationships/tags" Target="../tags/tag255.xml"/><Relationship Id="rId20" Type="http://schemas.openxmlformats.org/officeDocument/2006/relationships/image" Target="../media/image8.emf"/><Relationship Id="rId1" Type="http://schemas.openxmlformats.org/officeDocument/2006/relationships/tags" Target="../tags/tag240.xml"/><Relationship Id="rId6" Type="http://schemas.openxmlformats.org/officeDocument/2006/relationships/tags" Target="../tags/tag245.xml"/><Relationship Id="rId11" Type="http://schemas.openxmlformats.org/officeDocument/2006/relationships/tags" Target="../tags/tag250.xml"/><Relationship Id="rId5" Type="http://schemas.openxmlformats.org/officeDocument/2006/relationships/tags" Target="../tags/tag244.xml"/><Relationship Id="rId15" Type="http://schemas.openxmlformats.org/officeDocument/2006/relationships/tags" Target="../tags/tag254.xml"/><Relationship Id="rId10" Type="http://schemas.openxmlformats.org/officeDocument/2006/relationships/tags" Target="../tags/tag249.xml"/><Relationship Id="rId19" Type="http://schemas.openxmlformats.org/officeDocument/2006/relationships/oleObject" Target="../embeddings/oleObject1.bin"/><Relationship Id="rId4" Type="http://schemas.openxmlformats.org/officeDocument/2006/relationships/tags" Target="../tags/tag243.xml"/><Relationship Id="rId9" Type="http://schemas.openxmlformats.org/officeDocument/2006/relationships/tags" Target="../tags/tag248.xml"/><Relationship Id="rId14" Type="http://schemas.openxmlformats.org/officeDocument/2006/relationships/tags" Target="../tags/tag253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tags" Target="../tags/tag263.xml"/><Relationship Id="rId13" Type="http://schemas.openxmlformats.org/officeDocument/2006/relationships/tags" Target="../tags/tag268.xml"/><Relationship Id="rId18" Type="http://schemas.openxmlformats.org/officeDocument/2006/relationships/tags" Target="../tags/tag273.xml"/><Relationship Id="rId3" Type="http://schemas.openxmlformats.org/officeDocument/2006/relationships/tags" Target="../tags/tag258.xml"/><Relationship Id="rId21" Type="http://schemas.openxmlformats.org/officeDocument/2006/relationships/notesSlide" Target="../notesSlides/notesSlide38.xml"/><Relationship Id="rId7" Type="http://schemas.openxmlformats.org/officeDocument/2006/relationships/tags" Target="../tags/tag262.xml"/><Relationship Id="rId12" Type="http://schemas.openxmlformats.org/officeDocument/2006/relationships/tags" Target="../tags/tag267.xml"/><Relationship Id="rId17" Type="http://schemas.openxmlformats.org/officeDocument/2006/relationships/tags" Target="../tags/tag272.xml"/><Relationship Id="rId2" Type="http://schemas.openxmlformats.org/officeDocument/2006/relationships/tags" Target="../tags/tag257.xml"/><Relationship Id="rId16" Type="http://schemas.openxmlformats.org/officeDocument/2006/relationships/tags" Target="../tags/tag271.xml"/><Relationship Id="rId20" Type="http://schemas.openxmlformats.org/officeDocument/2006/relationships/slideLayout" Target="../slideLayouts/slideLayout6.xml"/><Relationship Id="rId1" Type="http://schemas.openxmlformats.org/officeDocument/2006/relationships/tags" Target="../tags/tag256.xml"/><Relationship Id="rId6" Type="http://schemas.openxmlformats.org/officeDocument/2006/relationships/tags" Target="../tags/tag261.xml"/><Relationship Id="rId11" Type="http://schemas.openxmlformats.org/officeDocument/2006/relationships/tags" Target="../tags/tag266.xml"/><Relationship Id="rId5" Type="http://schemas.openxmlformats.org/officeDocument/2006/relationships/tags" Target="../tags/tag260.xml"/><Relationship Id="rId15" Type="http://schemas.openxmlformats.org/officeDocument/2006/relationships/tags" Target="../tags/tag270.xml"/><Relationship Id="rId23" Type="http://schemas.openxmlformats.org/officeDocument/2006/relationships/image" Target="../media/image9.emf"/><Relationship Id="rId10" Type="http://schemas.openxmlformats.org/officeDocument/2006/relationships/tags" Target="../tags/tag265.xml"/><Relationship Id="rId19" Type="http://schemas.openxmlformats.org/officeDocument/2006/relationships/tags" Target="../tags/tag274.xml"/><Relationship Id="rId4" Type="http://schemas.openxmlformats.org/officeDocument/2006/relationships/tags" Target="../tags/tag259.xml"/><Relationship Id="rId9" Type="http://schemas.openxmlformats.org/officeDocument/2006/relationships/tags" Target="../tags/tag264.xml"/><Relationship Id="rId14" Type="http://schemas.openxmlformats.org/officeDocument/2006/relationships/tags" Target="../tags/tag269.xml"/><Relationship Id="rId22" Type="http://schemas.openxmlformats.org/officeDocument/2006/relationships/oleObject" Target="../embeddings/oleObject2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tags" Target="../tags/tag277.xml"/><Relationship Id="rId2" Type="http://schemas.openxmlformats.org/officeDocument/2006/relationships/tags" Target="../tags/tag276.xml"/><Relationship Id="rId1" Type="http://schemas.openxmlformats.org/officeDocument/2006/relationships/tags" Target="../tags/tag275.xml"/><Relationship Id="rId6" Type="http://schemas.openxmlformats.org/officeDocument/2006/relationships/notesSlide" Target="../notesSlides/notesSlide3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78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tags" Target="../tags/tag286.xml"/><Relationship Id="rId13" Type="http://schemas.openxmlformats.org/officeDocument/2006/relationships/tags" Target="../tags/tag291.xml"/><Relationship Id="rId18" Type="http://schemas.openxmlformats.org/officeDocument/2006/relationships/tags" Target="../tags/tag296.xml"/><Relationship Id="rId26" Type="http://schemas.openxmlformats.org/officeDocument/2006/relationships/notesSlide" Target="../notesSlides/notesSlide40.xml"/><Relationship Id="rId3" Type="http://schemas.openxmlformats.org/officeDocument/2006/relationships/tags" Target="../tags/tag281.xml"/><Relationship Id="rId21" Type="http://schemas.openxmlformats.org/officeDocument/2006/relationships/tags" Target="../tags/tag299.xml"/><Relationship Id="rId7" Type="http://schemas.openxmlformats.org/officeDocument/2006/relationships/tags" Target="../tags/tag285.xml"/><Relationship Id="rId12" Type="http://schemas.openxmlformats.org/officeDocument/2006/relationships/tags" Target="../tags/tag290.xml"/><Relationship Id="rId17" Type="http://schemas.openxmlformats.org/officeDocument/2006/relationships/tags" Target="../tags/tag295.xml"/><Relationship Id="rId25" Type="http://schemas.openxmlformats.org/officeDocument/2006/relationships/slideLayout" Target="../slideLayouts/slideLayout6.xml"/><Relationship Id="rId2" Type="http://schemas.openxmlformats.org/officeDocument/2006/relationships/tags" Target="../tags/tag280.xml"/><Relationship Id="rId16" Type="http://schemas.openxmlformats.org/officeDocument/2006/relationships/tags" Target="../tags/tag294.xml"/><Relationship Id="rId20" Type="http://schemas.openxmlformats.org/officeDocument/2006/relationships/tags" Target="../tags/tag298.xml"/><Relationship Id="rId1" Type="http://schemas.openxmlformats.org/officeDocument/2006/relationships/tags" Target="../tags/tag279.xml"/><Relationship Id="rId6" Type="http://schemas.openxmlformats.org/officeDocument/2006/relationships/tags" Target="../tags/tag284.xml"/><Relationship Id="rId11" Type="http://schemas.openxmlformats.org/officeDocument/2006/relationships/tags" Target="../tags/tag289.xml"/><Relationship Id="rId24" Type="http://schemas.openxmlformats.org/officeDocument/2006/relationships/tags" Target="../tags/tag302.xml"/><Relationship Id="rId5" Type="http://schemas.openxmlformats.org/officeDocument/2006/relationships/tags" Target="../tags/tag283.xml"/><Relationship Id="rId15" Type="http://schemas.openxmlformats.org/officeDocument/2006/relationships/tags" Target="../tags/tag293.xml"/><Relationship Id="rId23" Type="http://schemas.openxmlformats.org/officeDocument/2006/relationships/tags" Target="../tags/tag301.xml"/><Relationship Id="rId10" Type="http://schemas.openxmlformats.org/officeDocument/2006/relationships/tags" Target="../tags/tag288.xml"/><Relationship Id="rId19" Type="http://schemas.openxmlformats.org/officeDocument/2006/relationships/tags" Target="../tags/tag297.xml"/><Relationship Id="rId4" Type="http://schemas.openxmlformats.org/officeDocument/2006/relationships/tags" Target="../tags/tag282.xml"/><Relationship Id="rId9" Type="http://schemas.openxmlformats.org/officeDocument/2006/relationships/tags" Target="../tags/tag287.xml"/><Relationship Id="rId14" Type="http://schemas.openxmlformats.org/officeDocument/2006/relationships/tags" Target="../tags/tag292.xml"/><Relationship Id="rId22" Type="http://schemas.openxmlformats.org/officeDocument/2006/relationships/tags" Target="../tags/tag300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tags" Target="../tags/tag310.xml"/><Relationship Id="rId13" Type="http://schemas.openxmlformats.org/officeDocument/2006/relationships/notesSlide" Target="../notesSlides/notesSlide41.xml"/><Relationship Id="rId3" Type="http://schemas.openxmlformats.org/officeDocument/2006/relationships/tags" Target="../tags/tag305.xml"/><Relationship Id="rId7" Type="http://schemas.openxmlformats.org/officeDocument/2006/relationships/tags" Target="../tags/tag309.xml"/><Relationship Id="rId12" Type="http://schemas.openxmlformats.org/officeDocument/2006/relationships/slideLayout" Target="../slideLayouts/slideLayout6.xml"/><Relationship Id="rId2" Type="http://schemas.openxmlformats.org/officeDocument/2006/relationships/tags" Target="../tags/tag304.xml"/><Relationship Id="rId1" Type="http://schemas.openxmlformats.org/officeDocument/2006/relationships/tags" Target="../tags/tag303.xml"/><Relationship Id="rId6" Type="http://schemas.openxmlformats.org/officeDocument/2006/relationships/tags" Target="../tags/tag308.xml"/><Relationship Id="rId11" Type="http://schemas.openxmlformats.org/officeDocument/2006/relationships/tags" Target="../tags/tag313.xml"/><Relationship Id="rId5" Type="http://schemas.openxmlformats.org/officeDocument/2006/relationships/tags" Target="../tags/tag307.xml"/><Relationship Id="rId15" Type="http://schemas.openxmlformats.org/officeDocument/2006/relationships/image" Target="../media/image10.emf"/><Relationship Id="rId10" Type="http://schemas.openxmlformats.org/officeDocument/2006/relationships/tags" Target="../tags/tag312.xml"/><Relationship Id="rId4" Type="http://schemas.openxmlformats.org/officeDocument/2006/relationships/tags" Target="../tags/tag306.xml"/><Relationship Id="rId9" Type="http://schemas.openxmlformats.org/officeDocument/2006/relationships/tags" Target="../tags/tag311.xml"/><Relationship Id="rId14" Type="http://schemas.openxmlformats.org/officeDocument/2006/relationships/oleObject" Target="../embeddings/oleObject3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tags" Target="../tags/tag321.xml"/><Relationship Id="rId13" Type="http://schemas.openxmlformats.org/officeDocument/2006/relationships/tags" Target="../tags/tag326.xml"/><Relationship Id="rId18" Type="http://schemas.openxmlformats.org/officeDocument/2006/relationships/tags" Target="../tags/tag331.xml"/><Relationship Id="rId3" Type="http://schemas.openxmlformats.org/officeDocument/2006/relationships/tags" Target="../tags/tag316.xml"/><Relationship Id="rId21" Type="http://schemas.openxmlformats.org/officeDocument/2006/relationships/notesSlide" Target="../notesSlides/notesSlide42.xml"/><Relationship Id="rId7" Type="http://schemas.openxmlformats.org/officeDocument/2006/relationships/tags" Target="../tags/tag320.xml"/><Relationship Id="rId12" Type="http://schemas.openxmlformats.org/officeDocument/2006/relationships/tags" Target="../tags/tag325.xml"/><Relationship Id="rId17" Type="http://schemas.openxmlformats.org/officeDocument/2006/relationships/tags" Target="../tags/tag330.xml"/><Relationship Id="rId25" Type="http://schemas.openxmlformats.org/officeDocument/2006/relationships/image" Target="../media/image11.wmf"/><Relationship Id="rId2" Type="http://schemas.openxmlformats.org/officeDocument/2006/relationships/tags" Target="../tags/tag315.xml"/><Relationship Id="rId16" Type="http://schemas.openxmlformats.org/officeDocument/2006/relationships/tags" Target="../tags/tag329.xml"/><Relationship Id="rId20" Type="http://schemas.openxmlformats.org/officeDocument/2006/relationships/slideLayout" Target="../slideLayouts/slideLayout6.xml"/><Relationship Id="rId1" Type="http://schemas.openxmlformats.org/officeDocument/2006/relationships/tags" Target="../tags/tag314.xml"/><Relationship Id="rId6" Type="http://schemas.openxmlformats.org/officeDocument/2006/relationships/tags" Target="../tags/tag319.xml"/><Relationship Id="rId11" Type="http://schemas.openxmlformats.org/officeDocument/2006/relationships/tags" Target="../tags/tag324.xml"/><Relationship Id="rId24" Type="http://schemas.openxmlformats.org/officeDocument/2006/relationships/oleObject" Target="../embeddings/oleObject4.bin"/><Relationship Id="rId5" Type="http://schemas.openxmlformats.org/officeDocument/2006/relationships/tags" Target="../tags/tag318.xml"/><Relationship Id="rId15" Type="http://schemas.openxmlformats.org/officeDocument/2006/relationships/tags" Target="../tags/tag328.xml"/><Relationship Id="rId23" Type="http://schemas.openxmlformats.org/officeDocument/2006/relationships/image" Target="../media/image10.emf"/><Relationship Id="rId10" Type="http://schemas.openxmlformats.org/officeDocument/2006/relationships/tags" Target="../tags/tag323.xml"/><Relationship Id="rId19" Type="http://schemas.openxmlformats.org/officeDocument/2006/relationships/tags" Target="../tags/tag332.xml"/><Relationship Id="rId4" Type="http://schemas.openxmlformats.org/officeDocument/2006/relationships/tags" Target="../tags/tag317.xml"/><Relationship Id="rId9" Type="http://schemas.openxmlformats.org/officeDocument/2006/relationships/tags" Target="../tags/tag322.xml"/><Relationship Id="rId14" Type="http://schemas.openxmlformats.org/officeDocument/2006/relationships/tags" Target="../tags/tag327.xml"/><Relationship Id="rId22" Type="http://schemas.openxmlformats.org/officeDocument/2006/relationships/oleObject" Target="../embeddings/oleObject3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tags" Target="../tags/tag340.xml"/><Relationship Id="rId3" Type="http://schemas.openxmlformats.org/officeDocument/2006/relationships/tags" Target="../tags/tag335.xml"/><Relationship Id="rId7" Type="http://schemas.openxmlformats.org/officeDocument/2006/relationships/tags" Target="../tags/tag339.xml"/><Relationship Id="rId2" Type="http://schemas.openxmlformats.org/officeDocument/2006/relationships/tags" Target="../tags/tag334.xml"/><Relationship Id="rId1" Type="http://schemas.openxmlformats.org/officeDocument/2006/relationships/tags" Target="../tags/tag333.xml"/><Relationship Id="rId6" Type="http://schemas.openxmlformats.org/officeDocument/2006/relationships/tags" Target="../tags/tag338.xml"/><Relationship Id="rId11" Type="http://schemas.openxmlformats.org/officeDocument/2006/relationships/slideLayout" Target="../slideLayouts/slideLayout6.xml"/><Relationship Id="rId5" Type="http://schemas.openxmlformats.org/officeDocument/2006/relationships/tags" Target="../tags/tag337.xml"/><Relationship Id="rId10" Type="http://schemas.openxmlformats.org/officeDocument/2006/relationships/tags" Target="../tags/tag342.xml"/><Relationship Id="rId4" Type="http://schemas.openxmlformats.org/officeDocument/2006/relationships/tags" Target="../tags/tag336.xml"/><Relationship Id="rId9" Type="http://schemas.openxmlformats.org/officeDocument/2006/relationships/tags" Target="../tags/tag341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tags" Target="../tags/tag350.xml"/><Relationship Id="rId3" Type="http://schemas.openxmlformats.org/officeDocument/2006/relationships/tags" Target="../tags/tag345.xml"/><Relationship Id="rId7" Type="http://schemas.openxmlformats.org/officeDocument/2006/relationships/tags" Target="../tags/tag349.xml"/><Relationship Id="rId12" Type="http://schemas.openxmlformats.org/officeDocument/2006/relationships/slideLayout" Target="../slideLayouts/slideLayout6.xml"/><Relationship Id="rId2" Type="http://schemas.openxmlformats.org/officeDocument/2006/relationships/tags" Target="../tags/tag344.xml"/><Relationship Id="rId1" Type="http://schemas.openxmlformats.org/officeDocument/2006/relationships/tags" Target="../tags/tag343.xml"/><Relationship Id="rId6" Type="http://schemas.openxmlformats.org/officeDocument/2006/relationships/tags" Target="../tags/tag348.xml"/><Relationship Id="rId11" Type="http://schemas.openxmlformats.org/officeDocument/2006/relationships/tags" Target="../tags/tag353.xml"/><Relationship Id="rId5" Type="http://schemas.openxmlformats.org/officeDocument/2006/relationships/tags" Target="../tags/tag347.xml"/><Relationship Id="rId10" Type="http://schemas.openxmlformats.org/officeDocument/2006/relationships/tags" Target="../tags/tag352.xml"/><Relationship Id="rId4" Type="http://schemas.openxmlformats.org/officeDocument/2006/relationships/tags" Target="../tags/tag346.xml"/><Relationship Id="rId9" Type="http://schemas.openxmlformats.org/officeDocument/2006/relationships/tags" Target="../tags/tag351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tags" Target="../tags/tag361.xml"/><Relationship Id="rId3" Type="http://schemas.openxmlformats.org/officeDocument/2006/relationships/tags" Target="../tags/tag356.xml"/><Relationship Id="rId7" Type="http://schemas.openxmlformats.org/officeDocument/2006/relationships/tags" Target="../tags/tag360.xml"/><Relationship Id="rId2" Type="http://schemas.openxmlformats.org/officeDocument/2006/relationships/tags" Target="../tags/tag355.xml"/><Relationship Id="rId1" Type="http://schemas.openxmlformats.org/officeDocument/2006/relationships/tags" Target="../tags/tag354.xml"/><Relationship Id="rId6" Type="http://schemas.openxmlformats.org/officeDocument/2006/relationships/tags" Target="../tags/tag359.xml"/><Relationship Id="rId11" Type="http://schemas.openxmlformats.org/officeDocument/2006/relationships/slideLayout" Target="../slideLayouts/slideLayout6.xml"/><Relationship Id="rId5" Type="http://schemas.openxmlformats.org/officeDocument/2006/relationships/tags" Target="../tags/tag358.xml"/><Relationship Id="rId10" Type="http://schemas.openxmlformats.org/officeDocument/2006/relationships/tags" Target="../tags/tag363.xml"/><Relationship Id="rId4" Type="http://schemas.openxmlformats.org/officeDocument/2006/relationships/tags" Target="../tags/tag357.xml"/><Relationship Id="rId9" Type="http://schemas.openxmlformats.org/officeDocument/2006/relationships/tags" Target="../tags/tag36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tags" Target="../tags/tag371.xml"/><Relationship Id="rId3" Type="http://schemas.openxmlformats.org/officeDocument/2006/relationships/tags" Target="../tags/tag366.xml"/><Relationship Id="rId7" Type="http://schemas.openxmlformats.org/officeDocument/2006/relationships/tags" Target="../tags/tag370.xml"/><Relationship Id="rId12" Type="http://schemas.openxmlformats.org/officeDocument/2006/relationships/slideLayout" Target="../slideLayouts/slideLayout6.xml"/><Relationship Id="rId2" Type="http://schemas.openxmlformats.org/officeDocument/2006/relationships/tags" Target="../tags/tag365.xml"/><Relationship Id="rId1" Type="http://schemas.openxmlformats.org/officeDocument/2006/relationships/tags" Target="../tags/tag364.xml"/><Relationship Id="rId6" Type="http://schemas.openxmlformats.org/officeDocument/2006/relationships/tags" Target="../tags/tag369.xml"/><Relationship Id="rId11" Type="http://schemas.openxmlformats.org/officeDocument/2006/relationships/tags" Target="../tags/tag374.xml"/><Relationship Id="rId5" Type="http://schemas.openxmlformats.org/officeDocument/2006/relationships/tags" Target="../tags/tag368.xml"/><Relationship Id="rId10" Type="http://schemas.openxmlformats.org/officeDocument/2006/relationships/tags" Target="../tags/tag373.xml"/><Relationship Id="rId4" Type="http://schemas.openxmlformats.org/officeDocument/2006/relationships/tags" Target="../tags/tag367.xml"/><Relationship Id="rId9" Type="http://schemas.openxmlformats.org/officeDocument/2006/relationships/tags" Target="../tags/tag37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tags" Target="../tags/tag382.xml"/><Relationship Id="rId13" Type="http://schemas.openxmlformats.org/officeDocument/2006/relationships/tags" Target="../tags/tag387.xml"/><Relationship Id="rId18" Type="http://schemas.openxmlformats.org/officeDocument/2006/relationships/tags" Target="../tags/tag392.xml"/><Relationship Id="rId3" Type="http://schemas.openxmlformats.org/officeDocument/2006/relationships/tags" Target="../tags/tag377.xml"/><Relationship Id="rId21" Type="http://schemas.openxmlformats.org/officeDocument/2006/relationships/notesSlide" Target="../notesSlides/notesSlide43.xml"/><Relationship Id="rId7" Type="http://schemas.openxmlformats.org/officeDocument/2006/relationships/tags" Target="../tags/tag381.xml"/><Relationship Id="rId12" Type="http://schemas.openxmlformats.org/officeDocument/2006/relationships/tags" Target="../tags/tag386.xml"/><Relationship Id="rId17" Type="http://schemas.openxmlformats.org/officeDocument/2006/relationships/tags" Target="../tags/tag391.xml"/><Relationship Id="rId25" Type="http://schemas.openxmlformats.org/officeDocument/2006/relationships/image" Target="../media/image11.wmf"/><Relationship Id="rId2" Type="http://schemas.openxmlformats.org/officeDocument/2006/relationships/tags" Target="../tags/tag376.xml"/><Relationship Id="rId16" Type="http://schemas.openxmlformats.org/officeDocument/2006/relationships/tags" Target="../tags/tag390.xml"/><Relationship Id="rId20" Type="http://schemas.openxmlformats.org/officeDocument/2006/relationships/slideLayout" Target="../slideLayouts/slideLayout6.xml"/><Relationship Id="rId1" Type="http://schemas.openxmlformats.org/officeDocument/2006/relationships/tags" Target="../tags/tag375.xml"/><Relationship Id="rId6" Type="http://schemas.openxmlformats.org/officeDocument/2006/relationships/tags" Target="../tags/tag380.xml"/><Relationship Id="rId11" Type="http://schemas.openxmlformats.org/officeDocument/2006/relationships/tags" Target="../tags/tag385.xml"/><Relationship Id="rId24" Type="http://schemas.openxmlformats.org/officeDocument/2006/relationships/oleObject" Target="../embeddings/oleObject4.bin"/><Relationship Id="rId5" Type="http://schemas.openxmlformats.org/officeDocument/2006/relationships/tags" Target="../tags/tag379.xml"/><Relationship Id="rId15" Type="http://schemas.openxmlformats.org/officeDocument/2006/relationships/tags" Target="../tags/tag389.xml"/><Relationship Id="rId23" Type="http://schemas.openxmlformats.org/officeDocument/2006/relationships/image" Target="../media/image10.emf"/><Relationship Id="rId10" Type="http://schemas.openxmlformats.org/officeDocument/2006/relationships/tags" Target="../tags/tag384.xml"/><Relationship Id="rId19" Type="http://schemas.openxmlformats.org/officeDocument/2006/relationships/tags" Target="../tags/tag393.xml"/><Relationship Id="rId4" Type="http://schemas.openxmlformats.org/officeDocument/2006/relationships/tags" Target="../tags/tag378.xml"/><Relationship Id="rId9" Type="http://schemas.openxmlformats.org/officeDocument/2006/relationships/tags" Target="../tags/tag383.xml"/><Relationship Id="rId14" Type="http://schemas.openxmlformats.org/officeDocument/2006/relationships/tags" Target="../tags/tag388.xml"/><Relationship Id="rId22" Type="http://schemas.openxmlformats.org/officeDocument/2006/relationships/oleObject" Target="../embeddings/oleObject3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tags" Target="../tags/tag396.xml"/><Relationship Id="rId2" Type="http://schemas.openxmlformats.org/officeDocument/2006/relationships/tags" Target="../tags/tag395.xml"/><Relationship Id="rId1" Type="http://schemas.openxmlformats.org/officeDocument/2006/relationships/tags" Target="../tags/tag394.xml"/><Relationship Id="rId6" Type="http://schemas.openxmlformats.org/officeDocument/2006/relationships/notesSlide" Target="../notesSlides/notesSlide4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9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tags" Target="../tags/tag400.xml"/><Relationship Id="rId2" Type="http://schemas.openxmlformats.org/officeDocument/2006/relationships/tags" Target="../tags/tag399.xml"/><Relationship Id="rId1" Type="http://schemas.openxmlformats.org/officeDocument/2006/relationships/tags" Target="../tags/tag398.xml"/><Relationship Id="rId6" Type="http://schemas.openxmlformats.org/officeDocument/2006/relationships/notesSlide" Target="../notesSlides/notesSlide4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0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tags" Target="../tags/tag404.xml"/><Relationship Id="rId2" Type="http://schemas.openxmlformats.org/officeDocument/2006/relationships/tags" Target="../tags/tag403.xml"/><Relationship Id="rId1" Type="http://schemas.openxmlformats.org/officeDocument/2006/relationships/tags" Target="../tags/tag402.xml"/><Relationship Id="rId6" Type="http://schemas.openxmlformats.org/officeDocument/2006/relationships/notesSlide" Target="../notesSlides/notesSlide4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0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dirty="0"/>
              <a:t>Contrôle de gestion stratégique 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>
            <a:normAutofit fontScale="62500" lnSpcReduction="20000"/>
          </a:bodyPr>
          <a:lstStyle/>
          <a:p>
            <a:r>
              <a:rPr lang="fr-CA" dirty="0"/>
              <a:t>Séance 9: Structure opérationnelle en contexte de gestion décentralisée</a:t>
            </a:r>
          </a:p>
          <a:p>
            <a:endParaRPr lang="fr-CA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1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4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fr-CA" dirty="0"/>
              <a:t>(C) Préparé par Chan </a:t>
            </a:r>
            <a:r>
              <a:rPr lang="fr-CA" dirty="0" err="1"/>
              <a:t>Sitha</a:t>
            </a:r>
            <a:r>
              <a:rPr lang="fr-CA" dirty="0"/>
              <a:t> </a:t>
            </a:r>
            <a:r>
              <a:rPr lang="fr-CA" dirty="0" err="1"/>
              <a:t>Méas</a:t>
            </a:r>
            <a:r>
              <a:rPr lang="fr-CA" dirty="0"/>
              <a:t>, Marie-Eve Quenneville et Michel Vézina</a:t>
            </a:r>
          </a:p>
        </p:txBody>
      </p:sp>
    </p:spTree>
    <p:extLst>
      <p:ext uri="{BB962C8B-B14F-4D97-AF65-F5344CB8AC3E}">
        <p14:creationId xmlns:p14="http://schemas.microsoft.com/office/powerpoint/2010/main" val="4159150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1. Gestion décentralisée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2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4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CA"/>
              <a:t>(C) Préparé par Chan Sitha Méas, Marie-Eve Quenneville et Michel Vézina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31919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Caractéristiques principales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1097280" y="1845733"/>
            <a:ext cx="10058400" cy="4614051"/>
          </a:xfrm>
        </p:spPr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CA"/>
              <a:t>(C) Préparé par Chan Sitha Méas, Marie-Eve Quenneville et Michel Vézina</a:t>
            </a:r>
            <a:endParaRPr lang="fr-CA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3</a:t>
            </a:fld>
            <a:endParaRPr lang="fr-CA"/>
          </a:p>
        </p:txBody>
      </p:sp>
      <p:graphicFrame>
        <p:nvGraphicFramePr>
          <p:cNvPr id="6" name="Tableau 5"/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623549297"/>
              </p:ext>
            </p:extLst>
          </p:nvPr>
        </p:nvGraphicFramePr>
        <p:xfrm>
          <a:off x="536713" y="1737360"/>
          <a:ext cx="11179533" cy="44907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49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3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914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9247">
                <a:tc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Centralisation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Décentralisation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247">
                <a:tc>
                  <a:txBody>
                    <a:bodyPr/>
                    <a:lstStyle/>
                    <a:p>
                      <a:r>
                        <a:rPr lang="fr-CA" sz="1600" dirty="0"/>
                        <a:t>Responsabilité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600" dirty="0"/>
                        <a:t>Haut</a:t>
                      </a:r>
                      <a:r>
                        <a:rPr lang="fr-CA" sz="1600" baseline="0" dirty="0"/>
                        <a:t> de la hiérarchie</a:t>
                      </a:r>
                      <a:endParaRPr lang="fr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600" dirty="0"/>
                        <a:t>Descend</a:t>
                      </a:r>
                      <a:r>
                        <a:rPr lang="fr-CA" sz="1600" baseline="0" dirty="0"/>
                        <a:t> vers le bas </a:t>
                      </a:r>
                      <a:endParaRPr lang="fr-CA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247">
                <a:tc>
                  <a:txBody>
                    <a:bodyPr/>
                    <a:lstStyle/>
                    <a:p>
                      <a:r>
                        <a:rPr lang="fr-CA" sz="1600" dirty="0"/>
                        <a:t>Produits/services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600" dirty="0"/>
                        <a:t>Similaire ou complémentaires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600" dirty="0"/>
                        <a:t>Différents et indépendants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9247">
                <a:tc>
                  <a:txBody>
                    <a:bodyPr/>
                    <a:lstStyle/>
                    <a:p>
                      <a:r>
                        <a:rPr lang="fr-CA" sz="1600" dirty="0"/>
                        <a:t>Orientation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600" dirty="0"/>
                        <a:t>Orientation fonctionnelle</a:t>
                      </a:r>
                      <a:endParaRPr lang="fr-CA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600" dirty="0"/>
                        <a:t>Orientation marché</a:t>
                      </a:r>
                      <a:endParaRPr lang="fr-CA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9247">
                <a:tc>
                  <a:txBody>
                    <a:bodyPr/>
                    <a:lstStyle/>
                    <a:p>
                      <a:r>
                        <a:rPr lang="fr-CA" sz="1600" dirty="0"/>
                        <a:t>Structure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600" dirty="0"/>
                        <a:t>Pyramidale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600" dirty="0"/>
                        <a:t>Cellulaire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9247">
                <a:tc>
                  <a:txBody>
                    <a:bodyPr/>
                    <a:lstStyle/>
                    <a:p>
                      <a:r>
                        <a:rPr lang="fr-CA" sz="1800" dirty="0"/>
                        <a:t>Interdépendance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800" dirty="0"/>
                        <a:t>Ressources</a:t>
                      </a:r>
                      <a:r>
                        <a:rPr lang="fr-CA" sz="1800" baseline="0" dirty="0"/>
                        <a:t> similaires, échanges importants</a:t>
                      </a:r>
                      <a:endParaRPr lang="fr-CA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800" dirty="0"/>
                        <a:t>Ressources différentes,</a:t>
                      </a:r>
                      <a:r>
                        <a:rPr lang="fr-CA" sz="1800" baseline="0" dirty="0"/>
                        <a:t> peu d’échanges </a:t>
                      </a:r>
                      <a:endParaRPr lang="fr-CA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9247">
                <a:tc>
                  <a:txBody>
                    <a:bodyPr/>
                    <a:lstStyle/>
                    <a:p>
                      <a:r>
                        <a:rPr lang="fr-CA" sz="1800" dirty="0"/>
                        <a:t>Stratégie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CA" sz="1800" dirty="0"/>
                        <a:t>Un produit, un marché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CA" sz="1800" dirty="0"/>
                        <a:t>Avantage</a:t>
                      </a:r>
                      <a:r>
                        <a:rPr lang="fr-CA" sz="1800" baseline="0" dirty="0"/>
                        <a:t> par les coûts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CA" sz="1800" baseline="0" dirty="0"/>
                        <a:t>Spécialisation</a:t>
                      </a:r>
                      <a:endParaRPr lang="fr-CA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CA" sz="1800" dirty="0"/>
                        <a:t>Plusieurs produits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CA" sz="1800" dirty="0"/>
                        <a:t>Différenciation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CA" sz="1800" dirty="0"/>
                        <a:t>Anticipation des besoins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9247">
                <a:tc>
                  <a:txBody>
                    <a:bodyPr/>
                    <a:lstStyle/>
                    <a:p>
                      <a:r>
                        <a:rPr lang="fr-CA" sz="1800" dirty="0"/>
                        <a:t>Centre</a:t>
                      </a:r>
                      <a:r>
                        <a:rPr lang="fr-CA" sz="1800" baseline="0" dirty="0"/>
                        <a:t> de responsabilité</a:t>
                      </a:r>
                      <a:endParaRPr lang="fr-CA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800" dirty="0">
                          <a:highlight>
                            <a:srgbClr val="FFFF00"/>
                          </a:highlight>
                        </a:rPr>
                        <a:t>Centre de coûts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800" dirty="0"/>
                        <a:t>Profits ou investissement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141316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8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Centralisation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1097280" y="1845733"/>
            <a:ext cx="10058400" cy="461405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CA" sz="2800" dirty="0"/>
              <a:t>La structure centralisée convient mieux lorsque :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CA" sz="2800" dirty="0">
                <a:solidFill>
                  <a:schemeClr val="tx1"/>
                </a:solidFill>
              </a:rPr>
              <a:t>L’entreprise est de petite taille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CA" sz="2800" dirty="0">
                <a:solidFill>
                  <a:schemeClr val="tx1"/>
                </a:solidFill>
              </a:rPr>
              <a:t>Il y a peu de dirigeants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CA" sz="2800" dirty="0">
                <a:solidFill>
                  <a:schemeClr val="tx1"/>
                </a:solidFill>
              </a:rPr>
              <a:t>Les activités, les produits et les marchés sont peu nombreux</a:t>
            </a:r>
          </a:p>
          <a:p>
            <a:pPr marL="0" indent="0">
              <a:buNone/>
            </a:pPr>
            <a:r>
              <a:rPr lang="fr-CA" sz="2800" u="sng" dirty="0">
                <a:solidFill>
                  <a:schemeClr val="tx1"/>
                </a:solidFill>
              </a:rPr>
              <a:t>Désavantages: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CA" sz="2800" dirty="0">
                <a:solidFill>
                  <a:schemeClr val="tx1"/>
                </a:solidFill>
              </a:rPr>
              <a:t>Lourdeur décisionnelle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CA" sz="2800" dirty="0">
                <a:solidFill>
                  <a:schemeClr val="tx1"/>
                </a:solidFill>
              </a:rPr>
              <a:t>Risque de perte d’information importante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CA" sz="2800" dirty="0">
                <a:solidFill>
                  <a:schemeClr val="tx1"/>
                </a:solidFill>
              </a:rPr>
              <a:t>Manque de réactivité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CA" sz="2800" dirty="0">
                <a:solidFill>
                  <a:schemeClr val="tx1"/>
                </a:solidFill>
              </a:rPr>
              <a:t>Diminution de la motivation aux échelons inférieurs</a:t>
            </a:r>
          </a:p>
          <a:p>
            <a:pPr marL="0" indent="0">
              <a:buNone/>
            </a:pPr>
            <a:endParaRPr lang="fr-CA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CA"/>
              <a:t>(C) Préparé par Chan Sitha Méas, Marie-Eve Quenneville et Michel Vézina</a:t>
            </a:r>
            <a:endParaRPr lang="fr-CA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13880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7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Décentralisation </a:t>
            </a:r>
          </a:p>
        </p:txBody>
      </p:sp>
      <p:graphicFrame>
        <p:nvGraphicFramePr>
          <p:cNvPr id="6" name="Espace réservé du contenu 5"/>
          <p:cNvGraphicFramePr>
            <a:graphicFrameLocks noGrp="1"/>
          </p:cNvGraphicFramePr>
          <p:nvPr>
            <p:ph idx="1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97740213"/>
              </p:ext>
            </p:extLst>
          </p:nvPr>
        </p:nvGraphicFramePr>
        <p:xfrm>
          <a:off x="638175" y="1893888"/>
          <a:ext cx="545782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CA" dirty="0"/>
                        <a:t>Avantages</a:t>
                      </a:r>
                    </a:p>
                  </a:txBody>
                  <a:tcPr marL="99233" marR="992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dirty="0"/>
                        <a:t>Favorise</a:t>
                      </a:r>
                      <a:r>
                        <a:rPr lang="fr-CA" baseline="0" dirty="0"/>
                        <a:t> l’autonomie des gestionnaires, augmente la motivation</a:t>
                      </a:r>
                      <a:endParaRPr lang="fr-CA" dirty="0"/>
                    </a:p>
                  </a:txBody>
                  <a:tcPr marL="99233" marR="992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dirty="0"/>
                        <a:t>Rapidité</a:t>
                      </a:r>
                      <a:r>
                        <a:rPr lang="fr-CA" baseline="0" dirty="0"/>
                        <a:t> à prendre des décisions </a:t>
                      </a:r>
                    </a:p>
                    <a:p>
                      <a:endParaRPr lang="fr-CA" dirty="0"/>
                    </a:p>
                  </a:txBody>
                  <a:tcPr marL="99233" marR="992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dirty="0"/>
                        <a:t>Libère</a:t>
                      </a:r>
                      <a:r>
                        <a:rPr lang="fr-CA" baseline="0" dirty="0"/>
                        <a:t> la haute direction des questions opérationnelles</a:t>
                      </a:r>
                      <a:endParaRPr lang="fr-CA" dirty="0"/>
                    </a:p>
                  </a:txBody>
                  <a:tcPr marL="99233" marR="9923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dirty="0"/>
                        <a:t>Développement</a:t>
                      </a:r>
                      <a:r>
                        <a:rPr lang="fr-CA" baseline="0" dirty="0"/>
                        <a:t> de gestionnaires compétents</a:t>
                      </a:r>
                    </a:p>
                  </a:txBody>
                  <a:tcPr marL="99233" marR="9923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CA" baseline="0" dirty="0"/>
                    </a:p>
                  </a:txBody>
                  <a:tcPr marL="99233" marR="9923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CA"/>
              <a:t>(C) Préparé par Chan Sitha Méas, Marie-Eve Quenneville et Michel Vézina</a:t>
            </a:r>
            <a:endParaRPr lang="fr-CA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14054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Décentralisation </a:t>
            </a:r>
          </a:p>
        </p:txBody>
      </p:sp>
      <p:graphicFrame>
        <p:nvGraphicFramePr>
          <p:cNvPr id="6" name="Espace réservé du contenu 5"/>
          <p:cNvGraphicFramePr>
            <a:graphicFrameLocks noGrp="1"/>
          </p:cNvGraphicFramePr>
          <p:nvPr>
            <p:ph idx="1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94623164"/>
              </p:ext>
            </p:extLst>
          </p:nvPr>
        </p:nvGraphicFramePr>
        <p:xfrm>
          <a:off x="638175" y="1893888"/>
          <a:ext cx="1091565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CA" dirty="0"/>
                        <a:t>Avantages</a:t>
                      </a:r>
                    </a:p>
                  </a:txBody>
                  <a:tcPr marL="99233" marR="99233"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Inconvénients</a:t>
                      </a:r>
                    </a:p>
                  </a:txBody>
                  <a:tcPr marL="99233" marR="992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dirty="0"/>
                        <a:t>Favorise</a:t>
                      </a:r>
                      <a:r>
                        <a:rPr lang="fr-CA" baseline="0" dirty="0"/>
                        <a:t> l’autonomie des gestionnaires, augmente la motivation</a:t>
                      </a:r>
                      <a:endParaRPr lang="fr-CA" dirty="0"/>
                    </a:p>
                  </a:txBody>
                  <a:tcPr marL="99233" marR="99233"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Difficultés de coordination entr</a:t>
                      </a:r>
                      <a:r>
                        <a:rPr lang="fr-CA" baseline="0" dirty="0"/>
                        <a:t>e les divisions</a:t>
                      </a:r>
                      <a:endParaRPr lang="fr-CA" dirty="0"/>
                    </a:p>
                  </a:txBody>
                  <a:tcPr marL="99233" marR="992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dirty="0"/>
                        <a:t>Rapidité</a:t>
                      </a:r>
                      <a:r>
                        <a:rPr lang="fr-CA" baseline="0" dirty="0"/>
                        <a:t> à prendre des décisions </a:t>
                      </a:r>
                    </a:p>
                    <a:p>
                      <a:endParaRPr lang="fr-CA" dirty="0"/>
                    </a:p>
                  </a:txBody>
                  <a:tcPr marL="99233" marR="99233"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Dédoublement de certaines tâches</a:t>
                      </a:r>
                      <a:r>
                        <a:rPr lang="fr-CA" baseline="0" dirty="0"/>
                        <a:t> </a:t>
                      </a:r>
                      <a:endParaRPr lang="fr-CA" dirty="0"/>
                    </a:p>
                  </a:txBody>
                  <a:tcPr marL="99233" marR="992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dirty="0"/>
                        <a:t>Libère</a:t>
                      </a:r>
                      <a:r>
                        <a:rPr lang="fr-CA" baseline="0" dirty="0"/>
                        <a:t> la haute direction des questions opérationnelles</a:t>
                      </a:r>
                      <a:endParaRPr lang="fr-CA" dirty="0"/>
                    </a:p>
                  </a:txBody>
                  <a:tcPr marL="99233" marR="99233"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Perte d’économies</a:t>
                      </a:r>
                      <a:r>
                        <a:rPr lang="fr-CA" baseline="0" dirty="0"/>
                        <a:t> d’échelle </a:t>
                      </a:r>
                      <a:endParaRPr lang="fr-CA" dirty="0"/>
                    </a:p>
                  </a:txBody>
                  <a:tcPr marL="99233" marR="9923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dirty="0"/>
                        <a:t>Développement</a:t>
                      </a:r>
                      <a:r>
                        <a:rPr lang="fr-CA" baseline="0" dirty="0"/>
                        <a:t> de gestionnaires compétents</a:t>
                      </a:r>
                    </a:p>
                  </a:txBody>
                  <a:tcPr marL="99233" marR="99233"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Prise de décision dysfonctionnelle</a:t>
                      </a:r>
                      <a:r>
                        <a:rPr lang="fr-CA" baseline="0" dirty="0"/>
                        <a:t> engendrée par la politique de PCI</a:t>
                      </a:r>
                      <a:endParaRPr lang="fr-CA" dirty="0"/>
                    </a:p>
                  </a:txBody>
                  <a:tcPr marL="99233" marR="9923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CA" baseline="0" dirty="0"/>
                    </a:p>
                  </a:txBody>
                  <a:tcPr marL="99233" marR="99233"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Perte du sentiment</a:t>
                      </a:r>
                      <a:r>
                        <a:rPr lang="fr-CA" baseline="0" dirty="0"/>
                        <a:t> d’appartenance</a:t>
                      </a:r>
                      <a:endParaRPr lang="fr-CA" dirty="0"/>
                    </a:p>
                  </a:txBody>
                  <a:tcPr marL="99233" marR="9923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CA"/>
              <a:t>(C) Préparé par Chan Sitha Méas, Marie-Eve Quenneville et Michel Vézina</a:t>
            </a:r>
            <a:endParaRPr lang="fr-CA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6918038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7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FDAE36-77E1-4C17-8E12-7004EBAFDC05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38400" y="577216"/>
            <a:ext cx="10915200" cy="988033"/>
          </a:xfrm>
        </p:spPr>
        <p:txBody>
          <a:bodyPr anchor="ctr">
            <a:normAutofit/>
          </a:bodyPr>
          <a:lstStyle/>
          <a:p>
            <a:r>
              <a:rPr lang="fr-CA" dirty="0"/>
              <a:t>Défi de la décentralisation </a:t>
            </a:r>
          </a:p>
        </p:txBody>
      </p:sp>
      <p:graphicFrame>
        <p:nvGraphicFramePr>
          <p:cNvPr id="6" name="Espace réservé du contenu 5">
            <a:extLst>
              <a:ext uri="{FF2B5EF4-FFF2-40B4-BE49-F238E27FC236}">
                <a16:creationId xmlns:a16="http://schemas.microsoft.com/office/drawing/2014/main" id="{0998F493-CCB3-4F75-A401-46ECCD8AF351}"/>
              </a:ext>
            </a:extLst>
          </p:cNvPr>
          <p:cNvGraphicFramePr>
            <a:graphicFrameLocks noGrp="1"/>
          </p:cNvGraphicFramePr>
          <p:nvPr>
            <p:ph sz="half" idx="1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53590325"/>
              </p:ext>
            </p:extLst>
          </p:nvPr>
        </p:nvGraphicFramePr>
        <p:xfrm>
          <a:off x="609600" y="1820863"/>
          <a:ext cx="5384800" cy="38973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pic>
        <p:nvPicPr>
          <p:cNvPr id="4098" name="Picture 2" descr="Une image contenant texte&#10;&#10;Description générée automatiquement">
            <a:extLst>
              <a:ext uri="{FF2B5EF4-FFF2-40B4-BE49-F238E27FC236}">
                <a16:creationId xmlns:a16="http://schemas.microsoft.com/office/drawing/2014/main" id="{2FF7528D-3FA7-49EE-ACBC-C50BBC167F43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2"/>
          <a:stretch/>
        </p:blipFill>
        <p:spPr bwMode="auto">
          <a:xfrm>
            <a:off x="6197600" y="1821282"/>
            <a:ext cx="5384800" cy="3897529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12ECCC8-6C42-425D-A49F-33D26778271B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65600" y="6461995"/>
            <a:ext cx="3860800" cy="16416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fr-CA" sz="500"/>
              <a:t>(C) Préparé par Chan Sitha Méas, Marie-Eve Quenneville et Michel Vézina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8184EF9-576D-405C-8A05-A31FAF6BFFF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10934400" y="6461995"/>
            <a:ext cx="619200" cy="16416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EB25B09-B9A6-4811-8700-6D36B9CE20D1}" type="slidenum">
              <a:rPr lang="fr-CA" sz="500" smtClean="0"/>
              <a:pPr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fr-CA" sz="500"/>
          </a:p>
        </p:txBody>
      </p:sp>
    </p:spTree>
    <p:extLst>
      <p:ext uri="{BB962C8B-B14F-4D97-AF65-F5344CB8AC3E}">
        <p14:creationId xmlns:p14="http://schemas.microsoft.com/office/powerpoint/2010/main" val="908646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38400" y="575623"/>
            <a:ext cx="10915200" cy="987552"/>
          </a:xfrm>
        </p:spPr>
        <p:txBody>
          <a:bodyPr anchor="ctr">
            <a:normAutofit/>
          </a:bodyPr>
          <a:lstStyle/>
          <a:p>
            <a:r>
              <a:rPr lang="fr-CA" dirty="0"/>
              <a:t>Objectif à ne jamais perdre de vue</a:t>
            </a:r>
            <a:endParaRPr lang="fr-CA"/>
          </a:p>
        </p:txBody>
      </p:sp>
      <p:pic>
        <p:nvPicPr>
          <p:cNvPr id="5122" name="Picture 2" descr="Affaires, Succès, Courbe, Main, Tirage">
            <a:extLst>
              <a:ext uri="{FF2B5EF4-FFF2-40B4-BE49-F238E27FC236}">
                <a16:creationId xmlns:a16="http://schemas.microsoft.com/office/drawing/2014/main" id="{F0DFDF85-11F0-4228-9EB5-16C75E56360F}"/>
              </a:ext>
            </a:extLst>
          </p:cNvPr>
          <p:cNvPicPr>
            <a:picLocks noGrp="1" noChangeAspect="1" noChangeArrowheads="1"/>
          </p:cNvPicPr>
          <p:nvPr>
            <p:ph idx="1"/>
            <p:custDataLst>
              <p:tags r:id="rId2"/>
            </p:custDataLst>
          </p:nvPr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38400" y="1893224"/>
            <a:ext cx="10915200" cy="3825587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65600" y="6461995"/>
            <a:ext cx="3860800" cy="16416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fr-CA" sz="500"/>
              <a:t>(C) Préparé par Chan Sitha Méas, Marie-Eve Quenneville et Michel Vézina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10934400" y="6461995"/>
            <a:ext cx="619200" cy="16416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EB25B09-B9A6-4811-8700-6D36B9CE20D1}" type="slidenum">
              <a:rPr lang="fr-CA" sz="500" smtClean="0"/>
              <a:pPr>
                <a:lnSpc>
                  <a:spcPct val="90000"/>
                </a:lnSpc>
                <a:spcAft>
                  <a:spcPts val="600"/>
                </a:spcAft>
              </a:pPr>
              <a:t>8</a:t>
            </a:fld>
            <a:endParaRPr lang="fr-CA" sz="50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CE0F66E-00E7-4173-B07F-077D8D9C6D63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757153" y="1893224"/>
            <a:ext cx="6273039" cy="3040083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/>
          <a:p>
            <a:pPr>
              <a:buClr>
                <a:schemeClr val="accent2"/>
              </a:buClr>
              <a:buSzPct val="125000"/>
            </a:pPr>
            <a:r>
              <a:rPr lang="fr-CA" sz="4800" b="1" dirty="0">
                <a:solidFill>
                  <a:schemeClr val="accent1">
                    <a:lumMod val="75000"/>
                  </a:schemeClr>
                </a:solidFill>
              </a:rPr>
              <a:t>Maximiser la rentabilité de l’organisation de l’entreprise</a:t>
            </a:r>
          </a:p>
          <a:p>
            <a:pPr>
              <a:buClr>
                <a:schemeClr val="accent2"/>
              </a:buClr>
              <a:buSzPct val="125000"/>
            </a:pPr>
            <a:endParaRPr lang="fr-CA" sz="1670" dirty="0"/>
          </a:p>
        </p:txBody>
      </p:sp>
    </p:spTree>
    <p:extLst>
      <p:ext uri="{BB962C8B-B14F-4D97-AF65-F5344CB8AC3E}">
        <p14:creationId xmlns:p14="http://schemas.microsoft.com/office/powerpoint/2010/main" val="2609704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DF9672B-1549-487B-B70C-76E508FB1582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38400" y="577216"/>
            <a:ext cx="10915200" cy="988033"/>
          </a:xfrm>
        </p:spPr>
        <p:txBody>
          <a:bodyPr/>
          <a:lstStyle/>
          <a:p>
            <a:r>
              <a:rPr lang="en-US" dirty="0"/>
              <a:t>Triade de la </a:t>
            </a:r>
            <a:r>
              <a:rPr lang="en-US" dirty="0" err="1"/>
              <a:t>décentralisation</a:t>
            </a:r>
            <a:r>
              <a:rPr lang="en-US" dirty="0"/>
              <a:t> 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65600" y="6461995"/>
            <a:ext cx="3860800" cy="16416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fr-CA" sz="500"/>
              <a:t>(C) Préparé par Chan Sitha Méas, Marie-Eve Quenneville et Michel Vézina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10934400" y="6461995"/>
            <a:ext cx="619200" cy="16416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EB25B09-B9A6-4811-8700-6D36B9CE20D1}" type="slidenum">
              <a:rPr lang="fr-CA" sz="500" smtClean="0"/>
              <a:pPr>
                <a:lnSpc>
                  <a:spcPct val="90000"/>
                </a:lnSpc>
                <a:spcAft>
                  <a:spcPts val="600"/>
                </a:spcAft>
              </a:pPr>
              <a:t>9</a:t>
            </a:fld>
            <a:endParaRPr lang="fr-CA" sz="500"/>
          </a:p>
        </p:txBody>
      </p:sp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005FEA6D-E733-4646-8126-BD0E4E31EDFF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495475448"/>
              </p:ext>
            </p:extLst>
          </p:nvPr>
        </p:nvGraphicFramePr>
        <p:xfrm>
          <a:off x="546265" y="1733797"/>
          <a:ext cx="11036135" cy="48923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14414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DF9672B-1549-487B-B70C-76E508FB1582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38400" y="577216"/>
            <a:ext cx="10915200" cy="988033"/>
          </a:xfrm>
        </p:spPr>
        <p:txBody>
          <a:bodyPr/>
          <a:lstStyle/>
          <a:p>
            <a:r>
              <a:rPr lang="en-US" dirty="0"/>
              <a:t>Triade de la </a:t>
            </a:r>
            <a:r>
              <a:rPr lang="en-US" dirty="0" err="1"/>
              <a:t>décentralisation</a:t>
            </a:r>
            <a:r>
              <a:rPr lang="en-US" dirty="0"/>
              <a:t> 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AB40353-75BF-4686-9A70-7153C6D6D128}"/>
              </a:ext>
            </a:extLst>
          </p:cNvPr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9600" y="1821282"/>
            <a:ext cx="5384800" cy="3897529"/>
          </a:xfrm>
        </p:spPr>
        <p:txBody>
          <a:bodyPr/>
          <a:lstStyle/>
          <a:p>
            <a:pPr marL="0" indent="0">
              <a:buNone/>
            </a:pPr>
            <a:endParaRPr lang="fr-CA" dirty="0"/>
          </a:p>
          <a:p>
            <a:r>
              <a:rPr lang="fr-CA" dirty="0"/>
              <a:t>Stratégie de l’entreprise</a:t>
            </a:r>
          </a:p>
          <a:p>
            <a:r>
              <a:rPr lang="fr-CA" dirty="0"/>
              <a:t>Niveau souhaité de décentralisation</a:t>
            </a:r>
          </a:p>
          <a:p>
            <a:r>
              <a:rPr lang="fr-CA" dirty="0"/>
              <a:t>Nature des opérations effectuées</a:t>
            </a:r>
          </a:p>
          <a:p>
            <a:r>
              <a:rPr lang="fr-CA" dirty="0"/>
              <a:t>Niveau d’intégration de l’entreprise </a:t>
            </a:r>
          </a:p>
          <a:p>
            <a:r>
              <a:rPr lang="fr-CA" dirty="0"/>
              <a:t>Présence d’un marché externe et volonté de développer ce marché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65600" y="6461995"/>
            <a:ext cx="3860800" cy="16416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fr-CA" sz="500"/>
              <a:t>(C) Préparé par Chan Sitha Méas, Marie-Eve Quenneville et Michel Vézina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10934400" y="6461995"/>
            <a:ext cx="619200" cy="16416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EB25B09-B9A6-4811-8700-6D36B9CE20D1}" type="slidenum">
              <a:rPr lang="fr-CA" sz="500" smtClean="0"/>
              <a:pPr>
                <a:lnSpc>
                  <a:spcPct val="90000"/>
                </a:lnSpc>
                <a:spcAft>
                  <a:spcPts val="600"/>
                </a:spcAft>
              </a:pPr>
              <a:t>10</a:t>
            </a:fld>
            <a:endParaRPr lang="fr-CA" sz="500"/>
          </a:p>
        </p:txBody>
      </p:sp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005FEA6D-E733-4646-8126-BD0E4E31EDFF}"/>
              </a:ext>
            </a:extLst>
          </p:cNvPr>
          <p:cNvGraphicFramePr/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949163123"/>
              </p:ext>
            </p:extLst>
          </p:nvPr>
        </p:nvGraphicFramePr>
        <p:xfrm>
          <a:off x="6197600" y="1821282"/>
          <a:ext cx="5384800" cy="38975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34885102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DF9672B-1549-487B-B70C-76E508FB1582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38400" y="577216"/>
            <a:ext cx="10915200" cy="988033"/>
          </a:xfrm>
        </p:spPr>
        <p:txBody>
          <a:bodyPr/>
          <a:lstStyle/>
          <a:p>
            <a:r>
              <a:rPr lang="en-US" dirty="0"/>
              <a:t>Triade de la </a:t>
            </a:r>
            <a:r>
              <a:rPr lang="en-US" dirty="0" err="1"/>
              <a:t>décentralisation</a:t>
            </a:r>
            <a:r>
              <a:rPr lang="en-US" dirty="0"/>
              <a:t> 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AB40353-75BF-4686-9A70-7153C6D6D128}"/>
              </a:ext>
            </a:extLst>
          </p:cNvPr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9600" y="1821282"/>
            <a:ext cx="5384800" cy="3897529"/>
          </a:xfrm>
        </p:spPr>
        <p:txBody>
          <a:bodyPr/>
          <a:lstStyle/>
          <a:p>
            <a:pPr marL="0" indent="0">
              <a:buNone/>
            </a:pPr>
            <a:r>
              <a:rPr lang="fr-CA" dirty="0"/>
              <a:t>Identifier les mesures de performance qui permettent d’évaluer correctement le résultat du centre de responsabilité:</a:t>
            </a:r>
          </a:p>
          <a:p>
            <a:pPr marL="0" indent="0">
              <a:buNone/>
            </a:pPr>
            <a:endParaRPr lang="fr-CA" dirty="0"/>
          </a:p>
          <a:p>
            <a:r>
              <a:rPr lang="fr-CA" dirty="0"/>
              <a:t>Éléments contrôlables par le gestionnaire</a:t>
            </a:r>
          </a:p>
          <a:p>
            <a:r>
              <a:rPr lang="fr-CA" dirty="0"/>
              <a:t>Responsabilités clairement définies</a:t>
            </a:r>
          </a:p>
          <a:p>
            <a:r>
              <a:rPr lang="fr-CA" dirty="0"/>
              <a:t>Gestionnaire participe à l’élaboration des cibles</a:t>
            </a:r>
          </a:p>
          <a:p>
            <a:r>
              <a:rPr lang="fr-CA" dirty="0"/>
              <a:t>Rémunération incitative cohérente avec l’imputabilité</a:t>
            </a:r>
          </a:p>
          <a:p>
            <a:pPr marL="0" indent="0">
              <a:buNone/>
            </a:pPr>
            <a:endParaRPr lang="fr-CA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65600" y="6461995"/>
            <a:ext cx="3860800" cy="16416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fr-CA" sz="500"/>
              <a:t>(C) Préparé par Chan Sitha Méas, Marie-Eve Quenneville et Michel Vézina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10934400" y="6461995"/>
            <a:ext cx="619200" cy="16416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EB25B09-B9A6-4811-8700-6D36B9CE20D1}" type="slidenum">
              <a:rPr lang="fr-CA" sz="500" smtClean="0"/>
              <a:pPr>
                <a:lnSpc>
                  <a:spcPct val="90000"/>
                </a:lnSpc>
                <a:spcAft>
                  <a:spcPts val="600"/>
                </a:spcAft>
              </a:pPr>
              <a:t>11</a:t>
            </a:fld>
            <a:endParaRPr lang="fr-CA" sz="500"/>
          </a:p>
        </p:txBody>
      </p:sp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005FEA6D-E733-4646-8126-BD0E4E31EDFF}"/>
              </a:ext>
            </a:extLst>
          </p:cNvPr>
          <p:cNvGraphicFramePr/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2044032360"/>
              </p:ext>
            </p:extLst>
          </p:nvPr>
        </p:nvGraphicFramePr>
        <p:xfrm>
          <a:off x="6197600" y="1821282"/>
          <a:ext cx="5384800" cy="38975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219447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DF9672B-1549-487B-B70C-76E508FB1582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38400" y="577216"/>
            <a:ext cx="10915200" cy="988033"/>
          </a:xfrm>
        </p:spPr>
        <p:txBody>
          <a:bodyPr/>
          <a:lstStyle/>
          <a:p>
            <a:r>
              <a:rPr lang="en-US" dirty="0"/>
              <a:t>Triade de la </a:t>
            </a:r>
            <a:r>
              <a:rPr lang="en-US" dirty="0" err="1"/>
              <a:t>décentralisation</a:t>
            </a:r>
            <a:r>
              <a:rPr lang="en-US" dirty="0"/>
              <a:t> 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AB40353-75BF-4686-9A70-7153C6D6D128}"/>
              </a:ext>
            </a:extLst>
          </p:cNvPr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9600" y="1821282"/>
            <a:ext cx="5384800" cy="3897529"/>
          </a:xfrm>
        </p:spPr>
        <p:txBody>
          <a:bodyPr/>
          <a:lstStyle/>
          <a:p>
            <a:pPr marL="0" indent="0">
              <a:buNone/>
            </a:pPr>
            <a:r>
              <a:rPr lang="fr-CA" b="1" dirty="0"/>
              <a:t>Utilité </a:t>
            </a:r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r>
              <a:rPr lang="fr-CA" dirty="0"/>
              <a:t>Mesurer le rendement du centre </a:t>
            </a:r>
          </a:p>
          <a:p>
            <a:r>
              <a:rPr lang="fr-CA" dirty="0"/>
              <a:t>Prendre des décisions conformes aux intérêts de l’entreprise</a:t>
            </a:r>
          </a:p>
          <a:p>
            <a:endParaRPr lang="fr-CA" dirty="0"/>
          </a:p>
          <a:p>
            <a:pPr marL="0" indent="0">
              <a:buNone/>
            </a:pPr>
            <a:endParaRPr lang="fr-CA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65600" y="6461995"/>
            <a:ext cx="3860800" cy="16416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fr-CA" sz="500"/>
              <a:t>(C) Préparé par Chan Sitha Méas, Marie-Eve Quenneville et Michel Vézina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10934400" y="6461995"/>
            <a:ext cx="619200" cy="16416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EB25B09-B9A6-4811-8700-6D36B9CE20D1}" type="slidenum">
              <a:rPr lang="fr-CA" sz="500" smtClean="0"/>
              <a:pPr>
                <a:lnSpc>
                  <a:spcPct val="90000"/>
                </a:lnSpc>
                <a:spcAft>
                  <a:spcPts val="600"/>
                </a:spcAft>
              </a:pPr>
              <a:t>12</a:t>
            </a:fld>
            <a:endParaRPr lang="fr-CA" sz="500"/>
          </a:p>
        </p:txBody>
      </p:sp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005FEA6D-E733-4646-8126-BD0E4E31EDFF}"/>
              </a:ext>
            </a:extLst>
          </p:cNvPr>
          <p:cNvGraphicFramePr/>
          <p:nvPr>
            <p:custDataLst>
              <p:tags r:id="rId5"/>
            </p:custDataLst>
          </p:nvPr>
        </p:nvGraphicFramePr>
        <p:xfrm>
          <a:off x="6197600" y="1821282"/>
          <a:ext cx="5384800" cy="38975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3003508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DF9672B-1549-487B-B70C-76E508FB1582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38400" y="577216"/>
            <a:ext cx="10915200" cy="988033"/>
          </a:xfrm>
        </p:spPr>
        <p:txBody>
          <a:bodyPr/>
          <a:lstStyle/>
          <a:p>
            <a:r>
              <a:rPr lang="en-US" dirty="0"/>
              <a:t>Triade de la </a:t>
            </a:r>
            <a:r>
              <a:rPr lang="en-US" dirty="0" err="1"/>
              <a:t>décentralisation</a:t>
            </a:r>
            <a:r>
              <a:rPr lang="en-US" dirty="0"/>
              <a:t> 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AB40353-75BF-4686-9A70-7153C6D6D128}"/>
              </a:ext>
            </a:extLst>
          </p:cNvPr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9600" y="1821282"/>
            <a:ext cx="5384800" cy="3897529"/>
          </a:xfrm>
        </p:spPr>
        <p:txBody>
          <a:bodyPr/>
          <a:lstStyle/>
          <a:p>
            <a:pPr marL="0" indent="0">
              <a:buNone/>
            </a:pPr>
            <a:r>
              <a:rPr lang="fr-CA" dirty="0"/>
              <a:t>Choix de la politique de PCI:</a:t>
            </a:r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r>
              <a:rPr lang="fr-CA" dirty="0"/>
              <a:t>Prise en compte de la capacité disponible</a:t>
            </a:r>
          </a:p>
          <a:p>
            <a:r>
              <a:rPr lang="fr-CA" dirty="0"/>
              <a:t>Présence d’un marché externe</a:t>
            </a:r>
          </a:p>
          <a:p>
            <a:r>
              <a:rPr lang="fr-CA" dirty="0"/>
              <a:t>En lien avec les objectifs stratégiques </a:t>
            </a:r>
          </a:p>
          <a:p>
            <a:pPr marL="0" indent="0">
              <a:buNone/>
            </a:pPr>
            <a:endParaRPr lang="fr-CA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65600" y="6461995"/>
            <a:ext cx="3860800" cy="16416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fr-CA" sz="500"/>
              <a:t>(C) Préparé par Chan Sitha Méas, Marie-Eve Quenneville et Michel Vézina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10934400" y="6461995"/>
            <a:ext cx="619200" cy="16416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EB25B09-B9A6-4811-8700-6D36B9CE20D1}" type="slidenum">
              <a:rPr lang="fr-CA" sz="500" smtClean="0"/>
              <a:pPr>
                <a:lnSpc>
                  <a:spcPct val="90000"/>
                </a:lnSpc>
                <a:spcAft>
                  <a:spcPts val="600"/>
                </a:spcAft>
              </a:pPr>
              <a:t>13</a:t>
            </a:fld>
            <a:endParaRPr lang="fr-CA" sz="500"/>
          </a:p>
        </p:txBody>
      </p:sp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005FEA6D-E733-4646-8126-BD0E4E31EDFF}"/>
              </a:ext>
            </a:extLst>
          </p:cNvPr>
          <p:cNvGraphicFramePr/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837422624"/>
              </p:ext>
            </p:extLst>
          </p:nvPr>
        </p:nvGraphicFramePr>
        <p:xfrm>
          <a:off x="6197600" y="1821282"/>
          <a:ext cx="5384800" cy="38975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3528826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Centre de responsabilité et mesure de la performance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14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4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CA"/>
              <a:t>(C) Préparé par Chan Sitha Méas, Marie-Eve Quenneville et Michel Vézina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4214393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Centre de responsabilité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1097280" y="1845733"/>
            <a:ext cx="10058400" cy="4614051"/>
          </a:xfrm>
        </p:spPr>
        <p:txBody>
          <a:bodyPr>
            <a:normAutofit/>
          </a:bodyPr>
          <a:lstStyle/>
          <a:p>
            <a:pPr marL="0" lvl="2" indent="0">
              <a:buNone/>
            </a:pPr>
            <a:r>
              <a:rPr lang="fr-CA" sz="2800" dirty="0"/>
              <a:t>Sous-ensemble d’une entreprise pour lequel un gestionnaire est tenu responsable d’un ensemble d’activités. Pour y arriver, on devra définir: </a:t>
            </a:r>
          </a:p>
          <a:p>
            <a:pPr marL="0" lvl="2" indent="0">
              <a:buNone/>
            </a:pPr>
            <a:endParaRPr lang="fr-CA" sz="3600" dirty="0"/>
          </a:p>
          <a:p>
            <a:pPr marL="478847" lvl="3" indent="-224141"/>
            <a:r>
              <a:rPr lang="fr-CA" sz="2800" dirty="0"/>
              <a:t>Les objectifs spécifiques du centre</a:t>
            </a:r>
          </a:p>
          <a:p>
            <a:pPr marL="478847" lvl="3" indent="-224141"/>
            <a:r>
              <a:rPr lang="fr-CA" sz="2800" dirty="0"/>
              <a:t>Les moyens d’atteindre ces objectifs</a:t>
            </a:r>
          </a:p>
          <a:p>
            <a:pPr marL="478847" lvl="3" indent="-224141"/>
            <a:r>
              <a:rPr lang="fr-CA" sz="2800" dirty="0"/>
              <a:t>Le degré de liberté et d’imputabilité des gestionnaires </a:t>
            </a:r>
          </a:p>
          <a:p>
            <a:pPr>
              <a:buFont typeface="Wingdings" panose="05000000000000000000" pitchFamily="2" charset="2"/>
              <a:buChar char="§"/>
            </a:pPr>
            <a:endParaRPr lang="fr-CA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CA"/>
              <a:t>(C) Préparé par Chan Sitha Méas, Marie-Eve Quenneville et Michel Vézina</a:t>
            </a:r>
            <a:endParaRPr lang="fr-CA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15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165111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Centre de revenus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38400" y="1893224"/>
            <a:ext cx="10915200" cy="4568771"/>
          </a:xfrm>
        </p:spPr>
        <p:txBody>
          <a:bodyPr>
            <a:normAutofit fontScale="92500" lnSpcReduction="10000"/>
          </a:bodyPr>
          <a:lstStyle/>
          <a:p>
            <a:pPr marL="0" lvl="2" indent="0">
              <a:buNone/>
            </a:pPr>
            <a:r>
              <a:rPr lang="fr-CA" sz="2400" b="1" dirty="0"/>
              <a:t>Objectif: Maximiser le chiffre d’affaires de l’entreprise</a:t>
            </a:r>
          </a:p>
          <a:p>
            <a:pPr marL="0" lvl="2" indent="0">
              <a:buNone/>
            </a:pPr>
            <a:r>
              <a:rPr lang="fr-CA" sz="2600" dirty="0"/>
              <a:t>Caractéristiques:</a:t>
            </a:r>
          </a:p>
          <a:p>
            <a:pPr marL="733553" lvl="4" indent="-224141"/>
            <a:r>
              <a:rPr lang="fr-CA" sz="2300" dirty="0"/>
              <a:t>Coûts peu élevés et aucun contrôle sur les investissements</a:t>
            </a:r>
          </a:p>
          <a:p>
            <a:pPr marL="733553" lvl="4" indent="-224141"/>
            <a:r>
              <a:rPr lang="fr-CA" sz="2300" dirty="0"/>
              <a:t>Orientée vers la maximisation du chiffre d’affaires</a:t>
            </a:r>
          </a:p>
          <a:p>
            <a:pPr marL="733553" lvl="4" indent="-224141"/>
            <a:r>
              <a:rPr lang="fr-CA" sz="2300" dirty="0"/>
              <a:t>Fonction essentiellement orientée vers la distribution de produits et de services sur le marché</a:t>
            </a:r>
          </a:p>
          <a:p>
            <a:pPr marL="0" lvl="2" indent="0">
              <a:buNone/>
            </a:pPr>
            <a:r>
              <a:rPr lang="fr-CA" sz="2600" dirty="0"/>
              <a:t>Exemple:</a:t>
            </a:r>
          </a:p>
          <a:p>
            <a:pPr marL="733553" lvl="4" indent="-224141"/>
            <a:r>
              <a:rPr lang="fr-CA" sz="2300" dirty="0"/>
              <a:t>Département de ventes </a:t>
            </a:r>
          </a:p>
          <a:p>
            <a:pPr marL="0" lvl="2" indent="0">
              <a:buNone/>
            </a:pPr>
            <a:r>
              <a:rPr lang="fr-CA" sz="2600" dirty="0"/>
              <a:t>Responsabilités: </a:t>
            </a:r>
          </a:p>
          <a:p>
            <a:pPr marL="757213" lvl="5" indent="-224141">
              <a:buFont typeface="Arial" pitchFamily="34" charset="0"/>
              <a:buChar char="•"/>
            </a:pPr>
            <a:r>
              <a:rPr lang="fr-CA" sz="2600" dirty="0"/>
              <a:t>Fixer les prix de vente et les escomptes sur quantité</a:t>
            </a:r>
          </a:p>
          <a:p>
            <a:pPr marL="757213" lvl="5" indent="-224141">
              <a:buFont typeface="Arial" pitchFamily="34" charset="0"/>
              <a:buChar char="•"/>
            </a:pPr>
            <a:r>
              <a:rPr lang="fr-CA" sz="2600" dirty="0"/>
              <a:t>Définir les promotions et rabais</a:t>
            </a:r>
          </a:p>
          <a:p>
            <a:pPr marL="757213" lvl="5" indent="-224141">
              <a:buFont typeface="Arial" pitchFamily="34" charset="0"/>
              <a:buChar char="•"/>
            </a:pPr>
            <a:r>
              <a:rPr lang="fr-CA" sz="2600" dirty="0"/>
              <a:t>Politique de crédit </a:t>
            </a:r>
          </a:p>
          <a:p>
            <a:pPr marL="509412" lvl="4" indent="0">
              <a:buNone/>
            </a:pPr>
            <a:endParaRPr lang="fr-CA" sz="2200" dirty="0"/>
          </a:p>
          <a:p>
            <a:endParaRPr lang="fr-CA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CA"/>
              <a:t>(C) Préparé par Chan Sitha Méas, Marie-Eve Quenneville et Michel Vézina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16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63736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Centre de revenus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38400" y="1893224"/>
            <a:ext cx="10915200" cy="4568771"/>
          </a:xfrm>
        </p:spPr>
        <p:txBody>
          <a:bodyPr>
            <a:normAutofit/>
          </a:bodyPr>
          <a:lstStyle/>
          <a:p>
            <a:pPr marL="0" lvl="2" indent="0">
              <a:buNone/>
            </a:pPr>
            <a:r>
              <a:rPr lang="fr-CA" sz="2600" dirty="0"/>
              <a:t>Mode d’évaluation:</a:t>
            </a:r>
          </a:p>
          <a:p>
            <a:pPr marL="733553" lvl="4" indent="-224141"/>
            <a:r>
              <a:rPr lang="fr-CA" sz="2300" dirty="0"/>
              <a:t>Ventes ($ en volume)</a:t>
            </a:r>
          </a:p>
          <a:p>
            <a:pPr marL="733553" lvl="4" indent="-224141"/>
            <a:r>
              <a:rPr lang="fr-CA" sz="2300" dirty="0"/>
              <a:t>Part de marchés</a:t>
            </a:r>
          </a:p>
          <a:p>
            <a:pPr marL="0" lvl="1" indent="0">
              <a:buNone/>
            </a:pPr>
            <a:r>
              <a:rPr lang="fr-CA" sz="2900" dirty="0"/>
              <a:t>Écueils à éviter: </a:t>
            </a:r>
          </a:p>
          <a:p>
            <a:pPr marL="733553" lvl="4" indent="-224141"/>
            <a:r>
              <a:rPr lang="fr-CA" sz="2300" dirty="0"/>
              <a:t>Si les coûts de fonctionnement ne sont pas considérés dans l’évaluation (ex. coûts de promotion, mauvaises créances) risque de faire des dépenses qui dépassent les revenus qu’elles génèrent</a:t>
            </a:r>
          </a:p>
          <a:p>
            <a:pPr marL="509412" lvl="4" indent="0">
              <a:buNone/>
            </a:pPr>
            <a:endParaRPr lang="fr-CA" sz="2200" dirty="0"/>
          </a:p>
          <a:p>
            <a:endParaRPr lang="fr-CA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CA"/>
              <a:t>(C) Préparé par Chan Sitha Méas, Marie-Eve Quenneville et Michel Vézina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17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4143144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Centre de coûts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lstStyle/>
          <a:p>
            <a:pPr marL="224141" lvl="2" indent="-224141">
              <a:buFont typeface="Arial" pitchFamily="34" charset="0"/>
              <a:buChar char="•"/>
            </a:pPr>
            <a:r>
              <a:rPr lang="fr-CA" sz="2400" b="1" dirty="0"/>
              <a:t>Objectifs: Minimiser les coûts tout en assurant un certain niveau de qualité</a:t>
            </a:r>
          </a:p>
          <a:p>
            <a:pPr marL="224141" lvl="2" indent="-224141">
              <a:buFont typeface="Arial" pitchFamily="34" charset="0"/>
              <a:buChar char="•"/>
            </a:pPr>
            <a:r>
              <a:rPr lang="fr-CA" sz="2400" dirty="0"/>
              <a:t>Caractéristiques:</a:t>
            </a:r>
          </a:p>
          <a:p>
            <a:pPr marL="733553" lvl="4" indent="-224141"/>
            <a:r>
              <a:rPr lang="fr-CA" sz="2200" dirty="0"/>
              <a:t>Aucun contrôle sur les revenus et les investissements</a:t>
            </a:r>
          </a:p>
          <a:p>
            <a:pPr marL="733553" lvl="4" indent="-224141"/>
            <a:r>
              <a:rPr lang="fr-CA" sz="2200" dirty="0"/>
              <a:t>Fonction limitée à la production de produits et services à l’interne</a:t>
            </a:r>
          </a:p>
          <a:p>
            <a:pPr marL="733553" lvl="4" indent="-224141"/>
            <a:r>
              <a:rPr lang="fr-CA" sz="2200" dirty="0"/>
              <a:t>Pas ou peu de marché extérieur</a:t>
            </a:r>
          </a:p>
          <a:p>
            <a:pPr marL="224141" lvl="2" indent="-224141">
              <a:buFont typeface="Arial" pitchFamily="34" charset="0"/>
              <a:buChar char="•"/>
            </a:pPr>
            <a:r>
              <a:rPr lang="fr-CA" sz="2400" dirty="0"/>
              <a:t>Exemples:</a:t>
            </a:r>
          </a:p>
          <a:p>
            <a:pPr marL="733553" lvl="4" indent="-224141"/>
            <a:r>
              <a:rPr lang="fr-CA" sz="2200" dirty="0"/>
              <a:t>Fabrication de composants pour lesquels il n’existe pas de marché</a:t>
            </a:r>
          </a:p>
          <a:p>
            <a:pPr marL="733553" lvl="4" indent="-224141"/>
            <a:r>
              <a:rPr lang="fr-CA" sz="2200" dirty="0"/>
              <a:t>Services (gestion des ressources humaines, informatique, R&amp;D, entretien et réparation, etc.)</a:t>
            </a:r>
          </a:p>
          <a:p>
            <a:pPr marL="733553" lvl="4" indent="-224141"/>
            <a:endParaRPr lang="fr-CA" sz="2200" dirty="0"/>
          </a:p>
          <a:p>
            <a:endParaRPr lang="fr-CA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CA"/>
              <a:t>(C) Préparé par Chan Sitha Méas, Marie-Eve Quenneville et Michel Vézina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18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737459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Centre de coûts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lstStyle/>
          <a:p>
            <a:pPr marL="224141" lvl="2" indent="-224141">
              <a:buFont typeface="Arial" pitchFamily="34" charset="0"/>
              <a:buChar char="•"/>
            </a:pPr>
            <a:r>
              <a:rPr lang="fr-CA" sz="2400" dirty="0"/>
              <a:t>Mode d’évaluation:</a:t>
            </a:r>
          </a:p>
          <a:p>
            <a:pPr marL="733553" lvl="4" indent="-224141"/>
            <a:r>
              <a:rPr lang="fr-CA" sz="2200" dirty="0"/>
              <a:t>Taux de rebuts</a:t>
            </a:r>
          </a:p>
          <a:p>
            <a:pPr marL="733553" lvl="4" indent="-224141"/>
            <a:r>
              <a:rPr lang="fr-CA" sz="2200" dirty="0"/>
              <a:t>Standard de qualité</a:t>
            </a:r>
          </a:p>
          <a:p>
            <a:pPr marL="733553" lvl="4" indent="-224141"/>
            <a:r>
              <a:rPr lang="fr-CA" sz="2200" dirty="0"/>
              <a:t>Délais de livraison</a:t>
            </a:r>
          </a:p>
          <a:p>
            <a:pPr marL="733553" lvl="4" indent="-224141"/>
            <a:r>
              <a:rPr lang="fr-CA" sz="2200" dirty="0"/>
              <a:t>Analyse des écarts</a:t>
            </a:r>
          </a:p>
          <a:p>
            <a:pPr marL="509412" lvl="4" indent="0">
              <a:buNone/>
            </a:pPr>
            <a:endParaRPr lang="fr-CA" sz="2200" dirty="0"/>
          </a:p>
          <a:p>
            <a:pPr marL="733553" lvl="4" indent="-224141"/>
            <a:endParaRPr lang="fr-CA" sz="2200" dirty="0"/>
          </a:p>
          <a:p>
            <a:pPr marL="184913" lvl="1" indent="-224141"/>
            <a:r>
              <a:rPr lang="fr-CA" sz="2600" dirty="0"/>
              <a:t>Écueils à éviter: </a:t>
            </a:r>
          </a:p>
          <a:p>
            <a:pPr marL="733553" lvl="4" indent="-224141"/>
            <a:r>
              <a:rPr lang="fr-CA" sz="2200" dirty="0"/>
              <a:t>Trop d’accent sur les coûts au détriment de la qualité</a:t>
            </a:r>
          </a:p>
          <a:p>
            <a:pPr marL="733553" lvl="4" indent="-224141"/>
            <a:r>
              <a:rPr lang="fr-CA" sz="2200" dirty="0"/>
              <a:t>Possibilité de manquer des occasions sur le marché</a:t>
            </a:r>
          </a:p>
          <a:p>
            <a:pPr marL="509412" lvl="4" indent="0">
              <a:buNone/>
            </a:pPr>
            <a:endParaRPr lang="fr-CA" sz="2200" dirty="0"/>
          </a:p>
          <a:p>
            <a:pPr marL="326532" lvl="3" indent="0">
              <a:buNone/>
            </a:pPr>
            <a:endParaRPr lang="fr-CA" sz="2200" dirty="0"/>
          </a:p>
          <a:p>
            <a:endParaRPr lang="fr-CA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CA"/>
              <a:t>(C) Préparé par Chan Sitha Méas, Marie-Eve Quenneville et Michel Vézina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19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75406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Centre de coûts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marL="509412" lvl="4" indent="0">
              <a:buNone/>
            </a:pPr>
            <a:endParaRPr lang="fr-CA" sz="2200" dirty="0"/>
          </a:p>
          <a:p>
            <a:pPr marL="326532" lvl="3" indent="0">
              <a:buNone/>
            </a:pPr>
            <a:endParaRPr lang="fr-CA" sz="2200" dirty="0"/>
          </a:p>
          <a:p>
            <a:endParaRPr lang="fr-CA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CA"/>
              <a:t>(C) Préparé par Chan Sitha Méas, Marie-Eve Quenneville et Michel Vézina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20</a:t>
            </a:fld>
            <a:endParaRPr lang="fr-CA"/>
          </a:p>
        </p:txBody>
      </p:sp>
      <p:graphicFrame>
        <p:nvGraphicFramePr>
          <p:cNvPr id="6" name="Tableau 5"/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2203103255"/>
              </p:ext>
            </p:extLst>
          </p:nvPr>
        </p:nvGraphicFramePr>
        <p:xfrm>
          <a:off x="638402" y="1659776"/>
          <a:ext cx="10915198" cy="46226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13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813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509">
                <a:tc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Coût liés à la demande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Coût discrétionnaire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880">
                <a:tc>
                  <a:txBody>
                    <a:bodyPr/>
                    <a:lstStyle/>
                    <a:p>
                      <a:r>
                        <a:rPr lang="fr-CA" dirty="0"/>
                        <a:t>Intrants</a:t>
                      </a:r>
                      <a:endParaRPr lang="fr-C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Ressources humaines ou</a:t>
                      </a:r>
                      <a:r>
                        <a:rPr lang="fr-CA" baseline="0" dirty="0"/>
                        <a:t> physique</a:t>
                      </a:r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Ressources humaines (ex: temps d’un chercheur)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4880">
                <a:tc>
                  <a:txBody>
                    <a:bodyPr/>
                    <a:lstStyle/>
                    <a:p>
                      <a:r>
                        <a:rPr lang="fr-CA" dirty="0"/>
                        <a:t>Processus</a:t>
                      </a:r>
                      <a:endParaRPr lang="fr-C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fr-CA" dirty="0"/>
                        <a:t>Détaillé et observable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fr-CA" dirty="0"/>
                        <a:t>Répétitif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fr-CA" dirty="0"/>
                        <a:t>Boîte noire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fr-CA" dirty="0"/>
                        <a:t>Souvent non répétitif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5452">
                <a:tc>
                  <a:txBody>
                    <a:bodyPr/>
                    <a:lstStyle/>
                    <a:p>
                      <a:r>
                        <a:rPr lang="fr-CA" dirty="0"/>
                        <a:t>Extrants</a:t>
                      </a:r>
                      <a:endParaRPr lang="fr-C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fr-CA" dirty="0"/>
                        <a:t>Produit</a:t>
                      </a:r>
                      <a:r>
                        <a:rPr lang="fr-CA" baseline="0" dirty="0"/>
                        <a:t> ou services quantifiables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fr-CA" baseline="0" dirty="0"/>
                        <a:t>Valeur déterminable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fr-CA" baseline="0" dirty="0"/>
                        <a:t>Qualité facile à déterminer</a:t>
                      </a:r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fr-CA" dirty="0"/>
                        <a:t>Information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fr-CA" dirty="0"/>
                        <a:t>Valeur difficile à déterminer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fr-CA" dirty="0"/>
                        <a:t>Qualité</a:t>
                      </a:r>
                      <a:r>
                        <a:rPr lang="fr-CA" baseline="0" dirty="0"/>
                        <a:t> difficile à déterminer</a:t>
                      </a:r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4880">
                <a:tc>
                  <a:txBody>
                    <a:bodyPr/>
                    <a:lstStyle/>
                    <a:p>
                      <a:r>
                        <a:rPr lang="fr-CA" dirty="0"/>
                        <a:t>Niveau d’incertitude</a:t>
                      </a:r>
                      <a:endParaRPr lang="fr-C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Modéré ou faible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Élevé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95759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Centre de profits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38400" y="1893224"/>
            <a:ext cx="10915200" cy="4210693"/>
          </a:xfrm>
        </p:spPr>
        <p:txBody>
          <a:bodyPr>
            <a:normAutofit fontScale="85000" lnSpcReduction="20000"/>
          </a:bodyPr>
          <a:lstStyle/>
          <a:p>
            <a:pPr marL="0" lvl="2" indent="0">
              <a:buNone/>
            </a:pPr>
            <a:r>
              <a:rPr lang="fr-CA" sz="2400" b="1" dirty="0"/>
              <a:t>Objectif: Maximiser le résultat net</a:t>
            </a:r>
            <a:endParaRPr lang="fr-CA" sz="2200" b="1" dirty="0"/>
          </a:p>
          <a:p>
            <a:pPr marL="0" lvl="2" indent="0">
              <a:buNone/>
            </a:pPr>
            <a:r>
              <a:rPr lang="fr-CA" sz="2400" dirty="0"/>
              <a:t>Caractéristiques:</a:t>
            </a:r>
          </a:p>
          <a:p>
            <a:pPr marL="733553" lvl="4" indent="-224141"/>
            <a:r>
              <a:rPr lang="fr-CA" sz="2200" dirty="0"/>
              <a:t>Principalement orientée vers le contrôle des coûts et des revenus</a:t>
            </a:r>
          </a:p>
          <a:p>
            <a:pPr marL="733553" lvl="4" indent="-224141"/>
            <a:r>
              <a:rPr lang="fr-CA" sz="2200" dirty="0"/>
              <a:t>Ne contrôle pas ses investissements</a:t>
            </a:r>
          </a:p>
          <a:p>
            <a:pPr marL="733553" lvl="4" indent="-224141"/>
            <a:r>
              <a:rPr lang="fr-CA" sz="2200" dirty="0"/>
              <a:t>Habituellement administrée par un gérant ou un directeur salarié</a:t>
            </a:r>
          </a:p>
          <a:p>
            <a:pPr marL="733553" lvl="4" indent="-224141"/>
            <a:r>
              <a:rPr lang="fr-CA" sz="2200" dirty="0"/>
              <a:t>Fonctions essentiellement orientées vers la production et la vente de produits et services sur le marché</a:t>
            </a:r>
          </a:p>
          <a:p>
            <a:pPr marL="0" lvl="2" indent="0">
              <a:buNone/>
            </a:pPr>
            <a:r>
              <a:rPr lang="fr-CA" sz="2400" dirty="0"/>
              <a:t>Exemple:</a:t>
            </a:r>
          </a:p>
          <a:p>
            <a:pPr marL="733553" lvl="4" indent="-224141"/>
            <a:r>
              <a:rPr lang="fr-CA" sz="2200" dirty="0"/>
              <a:t>Chaînes de magasins ou de restaurants appartenant à un groupe d’investisseurs</a:t>
            </a:r>
          </a:p>
          <a:p>
            <a:pPr marL="733553" lvl="4" indent="-224141"/>
            <a:r>
              <a:rPr lang="fr-CA" sz="2200" dirty="0"/>
              <a:t>Stations-service appartenant aux grandes chaînes pétrolières</a:t>
            </a:r>
          </a:p>
          <a:p>
            <a:pPr marL="0" lvl="2" indent="0">
              <a:buNone/>
            </a:pPr>
            <a:r>
              <a:rPr lang="fr-CA" sz="2400" dirty="0"/>
              <a:t>Mode d’évaluation:</a:t>
            </a:r>
          </a:p>
          <a:p>
            <a:pPr marL="733553" lvl="4" indent="-224141"/>
            <a:r>
              <a:rPr lang="fr-CA" sz="2200" dirty="0"/>
              <a:t>Marge brute</a:t>
            </a:r>
          </a:p>
          <a:p>
            <a:pPr marL="733553" lvl="4" indent="-224141"/>
            <a:r>
              <a:rPr lang="fr-CA" sz="2200" dirty="0"/>
              <a:t>BAIIA</a:t>
            </a:r>
          </a:p>
          <a:p>
            <a:pPr marL="733553" lvl="4" indent="-224141"/>
            <a:r>
              <a:rPr lang="fr-CA" sz="2200" dirty="0"/>
              <a:t>Profit en $ ou %</a:t>
            </a:r>
          </a:p>
          <a:p>
            <a:endParaRPr lang="fr-CA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CA"/>
              <a:t>(C) Préparé par Chan Sitha Méas, Marie-Eve Quenneville et Michel Vézina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21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41962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Centre de profits</a:t>
            </a:r>
          </a:p>
        </p:txBody>
      </p:sp>
      <p:graphicFrame>
        <p:nvGraphicFramePr>
          <p:cNvPr id="6" name="Espace réservé du contenu 5"/>
          <p:cNvGraphicFramePr>
            <a:graphicFrameLocks noGrp="1"/>
          </p:cNvGraphicFramePr>
          <p:nvPr>
            <p:ph idx="1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63889873"/>
              </p:ext>
            </p:extLst>
          </p:nvPr>
        </p:nvGraphicFramePr>
        <p:xfrm>
          <a:off x="638175" y="1893888"/>
          <a:ext cx="5473956" cy="2615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3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CA" dirty="0"/>
                        <a:t>Avantages</a:t>
                      </a:r>
                      <a:r>
                        <a:rPr lang="fr-CA" baseline="0" dirty="0"/>
                        <a:t> </a:t>
                      </a:r>
                      <a:endParaRPr lang="fr-CA" dirty="0"/>
                    </a:p>
                  </a:txBody>
                  <a:tcPr marL="99233" marR="992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3" indent="0" algn="l" defTabSz="914400" rtl="0" eaLnBrk="1" latinLnBrk="0" hangingPunct="1"/>
                      <a:r>
                        <a:rPr lang="fr-CA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Facilite la prise de décision</a:t>
                      </a:r>
                    </a:p>
                    <a:p>
                      <a:pPr marL="0" lvl="3" indent="0" algn="l" defTabSz="914400" rtl="0" eaLnBrk="1" latinLnBrk="0" hangingPunct="1"/>
                      <a:endParaRPr lang="fr-CA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9233" marR="992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3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Sensibilise les gestionnaires aux impératifs de la rentabilité et facilite l’évaluation de la rentabilité</a:t>
                      </a:r>
                    </a:p>
                    <a:p>
                      <a:pPr marL="0" lvl="3" indent="0" algn="l" defTabSz="914400" rtl="0" eaLnBrk="1" latinLnBrk="0" hangingPunct="1"/>
                      <a:endParaRPr lang="fr-CA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9233" marR="992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3" indent="0" algn="l" defTabSz="914400" rtl="0" eaLnBrk="1" latinLnBrk="0" hangingPunct="1"/>
                      <a:r>
                        <a:rPr lang="fr-CA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Motive les gestionnaires (objectifs/récompense)</a:t>
                      </a:r>
                    </a:p>
                    <a:p>
                      <a:pPr marL="0" lvl="3" indent="0" algn="l" defTabSz="914400" rtl="0" eaLnBrk="1" latinLnBrk="0" hangingPunct="1"/>
                      <a:endParaRPr lang="fr-CA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9233" marR="9923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CA"/>
              <a:t>(C) Préparé par Chan Sitha Méas, Marie-Eve Quenneville et Michel Vézina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22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259234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Centre de profits</a:t>
            </a:r>
          </a:p>
        </p:txBody>
      </p:sp>
      <p:graphicFrame>
        <p:nvGraphicFramePr>
          <p:cNvPr id="6" name="Espace réservé du contenu 5"/>
          <p:cNvGraphicFramePr>
            <a:graphicFrameLocks noGrp="1"/>
          </p:cNvGraphicFramePr>
          <p:nvPr>
            <p:ph idx="1"/>
            <p:custDataLst>
              <p:tags r:id="rId2"/>
            </p:custDataLst>
          </p:nvPr>
        </p:nvGraphicFramePr>
        <p:xfrm>
          <a:off x="638175" y="1893888"/>
          <a:ext cx="10915650" cy="2615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3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1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CA" dirty="0"/>
                        <a:t>Avantages</a:t>
                      </a:r>
                      <a:r>
                        <a:rPr lang="fr-CA" baseline="0" dirty="0"/>
                        <a:t> </a:t>
                      </a:r>
                      <a:endParaRPr lang="fr-CA" dirty="0"/>
                    </a:p>
                  </a:txBody>
                  <a:tcPr marL="99233" marR="99233"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Écueils à éviter</a:t>
                      </a:r>
                    </a:p>
                  </a:txBody>
                  <a:tcPr marL="99233" marR="992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3" indent="0" algn="l" defTabSz="914400" rtl="0" eaLnBrk="1" latinLnBrk="0" hangingPunct="1"/>
                      <a:r>
                        <a:rPr lang="fr-CA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Facilite la prise de décision</a:t>
                      </a:r>
                    </a:p>
                    <a:p>
                      <a:pPr marL="0" lvl="3" indent="0" algn="l" defTabSz="914400" rtl="0" eaLnBrk="1" latinLnBrk="0" hangingPunct="1"/>
                      <a:endParaRPr lang="fr-CA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9233" marR="99233"/>
                </a:tc>
                <a:tc>
                  <a:txBody>
                    <a:bodyPr/>
                    <a:lstStyle/>
                    <a:p>
                      <a:pPr marL="0" lvl="3" indent="0" algn="l" defTabSz="914400" rtl="0" eaLnBrk="1" latinLnBrk="0" hangingPunct="1"/>
                      <a:r>
                        <a:rPr lang="fr-CA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Non-conformité entre les objectifs de l’organisation et ceux des unités administratives</a:t>
                      </a:r>
                    </a:p>
                  </a:txBody>
                  <a:tcPr marL="99233" marR="992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3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Sensibilise les gestionnaires aux impératifs de la rentabilité et facilite l’évaluation de la rentabilité</a:t>
                      </a:r>
                    </a:p>
                    <a:p>
                      <a:pPr marL="0" lvl="3" indent="0" algn="l" defTabSz="914400" rtl="0" eaLnBrk="1" latinLnBrk="0" hangingPunct="1"/>
                      <a:endParaRPr lang="fr-CA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9233" marR="99233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CA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Lorsque les divisions transigent beaucoup à l’interne, </a:t>
                      </a:r>
                      <a:r>
                        <a:rPr lang="fr-CA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risque de friction </a:t>
                      </a:r>
                      <a:r>
                        <a:rPr lang="fr-CA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entre les divisions</a:t>
                      </a:r>
                    </a:p>
                  </a:txBody>
                  <a:tcPr marL="99233" marR="992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3" indent="0" algn="l" defTabSz="914400" rtl="0" eaLnBrk="1" latinLnBrk="0" hangingPunct="1"/>
                      <a:r>
                        <a:rPr lang="fr-CA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Motive les gestionnaires (objectifs/récompense)</a:t>
                      </a:r>
                    </a:p>
                    <a:p>
                      <a:pPr marL="0" lvl="3" indent="0" algn="l" defTabSz="914400" rtl="0" eaLnBrk="1" latinLnBrk="0" hangingPunct="1"/>
                      <a:endParaRPr lang="fr-CA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9233" marR="99233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CA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Report des dépenses qui amènent des résultats à moyen terme </a:t>
                      </a:r>
                    </a:p>
                  </a:txBody>
                  <a:tcPr marL="99233" marR="9923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CA"/>
              <a:t>(C) Préparé par Chan Sitha Méas, Marie-Eve Quenneville et Michel Vézina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23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129540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Centre d’investissement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77500" lnSpcReduction="20000"/>
          </a:bodyPr>
          <a:lstStyle/>
          <a:p>
            <a:pPr marL="0" lvl="2" indent="0">
              <a:buNone/>
            </a:pPr>
            <a:r>
              <a:rPr lang="fr-CA" sz="2400" b="1" dirty="0"/>
              <a:t>Objectif:  Maximiser le rendement sur capital investi</a:t>
            </a:r>
          </a:p>
          <a:p>
            <a:pPr marL="0" lvl="2" indent="0">
              <a:buNone/>
            </a:pPr>
            <a:r>
              <a:rPr lang="fr-CA" sz="2400" dirty="0"/>
              <a:t>Caractéristiques:</a:t>
            </a:r>
          </a:p>
          <a:p>
            <a:pPr marL="733553" lvl="4" indent="-224141"/>
            <a:r>
              <a:rPr lang="fr-CA" sz="2200" dirty="0"/>
              <a:t>Responsabilité des coûts, des revenus et des investissements</a:t>
            </a:r>
          </a:p>
          <a:p>
            <a:pPr marL="733553" lvl="4" indent="-224141"/>
            <a:r>
              <a:rPr lang="fr-CA" sz="2200" dirty="0"/>
              <a:t>Possède habituellement un C.A indépendant </a:t>
            </a:r>
            <a:r>
              <a:rPr lang="fr-CA" sz="2200" u="sng" dirty="0"/>
              <a:t>qui sanctionne les investissements</a:t>
            </a:r>
          </a:p>
          <a:p>
            <a:pPr marL="733553" lvl="4" indent="-224141"/>
            <a:r>
              <a:rPr lang="fr-CA" sz="2200" dirty="0"/>
              <a:t>Fonctionne comme une entreprise indépendante</a:t>
            </a:r>
          </a:p>
          <a:p>
            <a:pPr marL="0" lvl="2" indent="0">
              <a:buNone/>
            </a:pPr>
            <a:r>
              <a:rPr lang="fr-CA" sz="2400" dirty="0"/>
              <a:t>Exemple:</a:t>
            </a:r>
          </a:p>
          <a:p>
            <a:pPr marL="733553" lvl="4" indent="-224141"/>
            <a:r>
              <a:rPr lang="fr-CA" sz="2200" dirty="0"/>
              <a:t>Caisse populaire</a:t>
            </a:r>
          </a:p>
          <a:p>
            <a:pPr marL="733553" lvl="4" indent="-224141"/>
            <a:r>
              <a:rPr lang="fr-CA" sz="2200" dirty="0"/>
              <a:t>Franchises</a:t>
            </a:r>
          </a:p>
          <a:p>
            <a:pPr marL="733553" lvl="4" indent="-224141"/>
            <a:r>
              <a:rPr lang="fr-CA" sz="2200" dirty="0"/>
              <a:t>Filiales </a:t>
            </a:r>
          </a:p>
          <a:p>
            <a:pPr marL="0" lvl="2" indent="0">
              <a:buNone/>
            </a:pPr>
            <a:r>
              <a:rPr lang="fr-CA" sz="2400" dirty="0"/>
              <a:t>Mode d’évaluation:</a:t>
            </a:r>
          </a:p>
          <a:p>
            <a:pPr marL="733553" lvl="4" indent="-224141"/>
            <a:r>
              <a:rPr lang="fr-CA" sz="2200" dirty="0"/>
              <a:t>RCI</a:t>
            </a:r>
          </a:p>
          <a:p>
            <a:pPr marL="733553" lvl="4" indent="-224141"/>
            <a:r>
              <a:rPr lang="fr-CA" sz="2200" dirty="0"/>
              <a:t>Bénéfice résiduel</a:t>
            </a:r>
          </a:p>
          <a:p>
            <a:pPr marL="733553" lvl="4" indent="-224141"/>
            <a:r>
              <a:rPr lang="fr-CA" sz="2200" dirty="0"/>
              <a:t>Valeur économique ajoutée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CA"/>
              <a:t>(C) Préparé par Chan Sitha Méas, Marie-Eve Quenneville et Michel Vézina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24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2558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38175" y="563748"/>
            <a:ext cx="10915200" cy="987552"/>
          </a:xfrm>
        </p:spPr>
        <p:txBody>
          <a:bodyPr/>
          <a:lstStyle/>
          <a:p>
            <a:r>
              <a:rPr lang="fr-CA" dirty="0"/>
              <a:t>Centre d’investissement</a:t>
            </a:r>
          </a:p>
        </p:txBody>
      </p:sp>
      <p:graphicFrame>
        <p:nvGraphicFramePr>
          <p:cNvPr id="6" name="Espace réservé du contenu 5"/>
          <p:cNvGraphicFramePr>
            <a:graphicFrameLocks noGrp="1"/>
          </p:cNvGraphicFramePr>
          <p:nvPr>
            <p:ph idx="1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2476022"/>
              </p:ext>
            </p:extLst>
          </p:nvPr>
        </p:nvGraphicFramePr>
        <p:xfrm>
          <a:off x="638175" y="1893888"/>
          <a:ext cx="10915650" cy="3255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3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1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CA" dirty="0"/>
                        <a:t>Avantages</a:t>
                      </a:r>
                      <a:r>
                        <a:rPr lang="fr-CA" baseline="0" dirty="0"/>
                        <a:t> </a:t>
                      </a:r>
                      <a:endParaRPr lang="fr-CA" dirty="0"/>
                    </a:p>
                  </a:txBody>
                  <a:tcPr marL="99233" marR="99233"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Écueils à éviter</a:t>
                      </a:r>
                    </a:p>
                  </a:txBody>
                  <a:tcPr marL="99233" marR="992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3" indent="0" algn="l" defTabSz="914400" rtl="0" eaLnBrk="1" latinLnBrk="0" hangingPunct="1"/>
                      <a:r>
                        <a:rPr lang="fr-CA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Facilite la prise de décision</a:t>
                      </a:r>
                    </a:p>
                    <a:p>
                      <a:pPr marL="0" lvl="3" indent="0" algn="l" defTabSz="914400" rtl="0" eaLnBrk="1" latinLnBrk="0" hangingPunct="1"/>
                      <a:endParaRPr lang="fr-CA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9233" marR="99233"/>
                </a:tc>
                <a:tc>
                  <a:txBody>
                    <a:bodyPr/>
                    <a:lstStyle/>
                    <a:p>
                      <a:pPr marL="0" lvl="3" indent="0" algn="l" defTabSz="914400" rtl="0" eaLnBrk="1" latinLnBrk="0" hangingPunct="1"/>
                      <a:r>
                        <a:rPr lang="fr-CA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Non-conformité entre les objectifs de l’organisation et ceux des unités administratives</a:t>
                      </a:r>
                    </a:p>
                  </a:txBody>
                  <a:tcPr marL="99233" marR="992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3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Sensibilise les gestionnaires aux impératifs de la rentabilité et facilite l’évaluation de la rentabilité</a:t>
                      </a:r>
                    </a:p>
                    <a:p>
                      <a:pPr marL="0" lvl="3" indent="0" algn="l" defTabSz="914400" rtl="0" eaLnBrk="1" latinLnBrk="0" hangingPunct="1"/>
                      <a:endParaRPr lang="fr-CA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9233" marR="99233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CA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Lorsque les divisions transigent beaucoup à l’interne, </a:t>
                      </a:r>
                      <a:r>
                        <a:rPr lang="fr-CA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risque de friction </a:t>
                      </a:r>
                      <a:r>
                        <a:rPr lang="fr-CA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entre les divisions</a:t>
                      </a:r>
                    </a:p>
                  </a:txBody>
                  <a:tcPr marL="99233" marR="992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3" indent="0" algn="l" defTabSz="914400" rtl="0" eaLnBrk="1" latinLnBrk="0" hangingPunct="1"/>
                      <a:r>
                        <a:rPr lang="fr-CA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Motive les gestionnaires (objectifs/récompense)</a:t>
                      </a:r>
                    </a:p>
                    <a:p>
                      <a:pPr marL="0" lvl="3" indent="0" algn="l" defTabSz="914400" rtl="0" eaLnBrk="1" latinLnBrk="0" hangingPunct="1"/>
                      <a:endParaRPr lang="fr-CA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9233" marR="99233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CA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Report des dépenses qui amènent des résultats à moyen terme </a:t>
                      </a:r>
                    </a:p>
                  </a:txBody>
                  <a:tcPr marL="99233" marR="9923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3" indent="0" algn="l" defTabSz="914400" rtl="0" eaLnBrk="1" latinLnBrk="0" hangingPunct="1"/>
                      <a:r>
                        <a:rPr lang="fr-CA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Rapproche la décision d’investissement du marché</a:t>
                      </a:r>
                    </a:p>
                  </a:txBody>
                  <a:tcPr marL="99233" marR="99233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CA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9233" marR="99233"/>
                </a:tc>
                <a:extLst>
                  <a:ext uri="{0D108BD9-81ED-4DB2-BD59-A6C34878D82A}">
                    <a16:rowId xmlns:a16="http://schemas.microsoft.com/office/drawing/2014/main" val="45831787"/>
                  </a:ext>
                </a:extLst>
              </a:tr>
            </a:tbl>
          </a:graphicData>
        </a:graphic>
      </p:graphicFrame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CA"/>
              <a:t>(C) Préparé par Chan Sitha Méas, Marie-Eve Quenneville et Michel Vézina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25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456290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/>
              <a:t>Prix de cession interne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26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4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fr-CA"/>
              <a:t>(C) Préparé par Chan Sitha Méas, Marie-Eve Quenneville et Michel Vézina</a:t>
            </a:r>
          </a:p>
        </p:txBody>
      </p:sp>
    </p:spTree>
    <p:extLst>
      <p:ext uri="{BB962C8B-B14F-4D97-AF65-F5344CB8AC3E}">
        <p14:creationId xmlns:p14="http://schemas.microsoft.com/office/powerpoint/2010/main" val="6709929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Prix de cession interne</a:t>
            </a:r>
          </a:p>
        </p:txBody>
      </p:sp>
      <p:sp>
        <p:nvSpPr>
          <p:cNvPr id="16387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1231322" y="1938531"/>
            <a:ext cx="10425290" cy="4231682"/>
          </a:xfrm>
          <a:noFill/>
        </p:spPr>
        <p:txBody>
          <a:bodyPr/>
          <a:lstStyle/>
          <a:p>
            <a:pPr marL="197782" lvl="2" indent="-197782">
              <a:buFont typeface="Arial" pitchFamily="34" charset="0"/>
              <a:buChar char="•"/>
            </a:pPr>
            <a:r>
              <a:rPr lang="fr-CA" sz="2118" dirty="0"/>
              <a:t>Prix demandé par une division d’une entreprise à une autre division </a:t>
            </a:r>
            <a:r>
              <a:rPr lang="fr-CA" sz="2118" b="1" dirty="0"/>
              <a:t>de la même organisation </a:t>
            </a:r>
            <a:r>
              <a:rPr lang="fr-CA" sz="2118" dirty="0"/>
              <a:t>pour un bien ou un service qu’elle lui fournit</a:t>
            </a:r>
          </a:p>
          <a:p>
            <a:pPr lvl="2"/>
            <a:endParaRPr lang="fr-CA" sz="2118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CA"/>
              <a:t>(C) Préparé par Chan Sitha Méas, Marie-Eve Quenneville et Michel Vézina</a:t>
            </a:r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27</a:t>
            </a:fld>
            <a:endParaRPr lang="fr-CA"/>
          </a:p>
        </p:txBody>
      </p:sp>
      <p:graphicFrame>
        <p:nvGraphicFramePr>
          <p:cNvPr id="3" name="Tableau 2"/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044746684"/>
              </p:ext>
            </p:extLst>
          </p:nvPr>
        </p:nvGraphicFramePr>
        <p:xfrm>
          <a:off x="2569726" y="3523675"/>
          <a:ext cx="7878522" cy="2104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61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6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61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9675"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Division A</a:t>
                      </a:r>
                      <a:endParaRPr lang="fr-CA" sz="1600" b="1" dirty="0"/>
                    </a:p>
                  </a:txBody>
                  <a:tcPr marL="80682" marR="80682" marT="40341" marB="403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Division B</a:t>
                      </a:r>
                      <a:endParaRPr lang="fr-CA" sz="1600" b="1" dirty="0"/>
                    </a:p>
                  </a:txBody>
                  <a:tcPr marL="80682" marR="80682" marT="40341" marB="403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Division C</a:t>
                      </a:r>
                      <a:endParaRPr lang="fr-CA" sz="1600" b="1" dirty="0"/>
                    </a:p>
                  </a:txBody>
                  <a:tcPr marL="80682" marR="80682" marT="40341" marB="4034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4988">
                <a:tc>
                  <a:txBody>
                    <a:bodyPr/>
                    <a:lstStyle/>
                    <a:p>
                      <a:r>
                        <a:rPr lang="fr-CA" sz="1600" dirty="0"/>
                        <a:t>États des résultats</a:t>
                      </a:r>
                    </a:p>
                    <a:p>
                      <a:endParaRPr lang="fr-CA" sz="1600" dirty="0"/>
                    </a:p>
                    <a:p>
                      <a:r>
                        <a:rPr lang="fr-CA" sz="1600" dirty="0"/>
                        <a:t>Revenus</a:t>
                      </a:r>
                    </a:p>
                    <a:p>
                      <a:r>
                        <a:rPr lang="fr-CA" sz="1600" u="sng" dirty="0"/>
                        <a:t>Charges</a:t>
                      </a:r>
                    </a:p>
                    <a:p>
                      <a:r>
                        <a:rPr lang="fr-CA" sz="1600" dirty="0"/>
                        <a:t>Bénéfices</a:t>
                      </a:r>
                      <a:r>
                        <a:rPr lang="fr-CA" sz="1600" baseline="0" dirty="0"/>
                        <a:t> net</a:t>
                      </a:r>
                      <a:endParaRPr lang="fr-CA" sz="1600" dirty="0"/>
                    </a:p>
                  </a:txBody>
                  <a:tcPr marL="80682" marR="80682" marT="40341" marB="40341"/>
                </a:tc>
                <a:tc>
                  <a:txBody>
                    <a:bodyPr/>
                    <a:lstStyle/>
                    <a:p>
                      <a:r>
                        <a:rPr lang="fr-CA" sz="1600" dirty="0"/>
                        <a:t>États des résultats</a:t>
                      </a:r>
                    </a:p>
                    <a:p>
                      <a:endParaRPr lang="fr-CA" sz="1600" dirty="0"/>
                    </a:p>
                    <a:p>
                      <a:r>
                        <a:rPr lang="fr-CA" sz="1600" dirty="0"/>
                        <a:t>Revenus</a:t>
                      </a:r>
                    </a:p>
                    <a:p>
                      <a:r>
                        <a:rPr lang="fr-CA" sz="1600" u="sng" dirty="0"/>
                        <a:t>Charges</a:t>
                      </a:r>
                    </a:p>
                    <a:p>
                      <a:r>
                        <a:rPr lang="fr-CA" sz="1600" dirty="0"/>
                        <a:t>Bénéfices</a:t>
                      </a:r>
                      <a:r>
                        <a:rPr lang="fr-CA" sz="1600" baseline="0" dirty="0"/>
                        <a:t> net</a:t>
                      </a:r>
                      <a:endParaRPr lang="fr-CA" sz="1600" dirty="0"/>
                    </a:p>
                  </a:txBody>
                  <a:tcPr marL="80682" marR="80682" marT="40341" marB="40341"/>
                </a:tc>
                <a:tc>
                  <a:txBody>
                    <a:bodyPr/>
                    <a:lstStyle/>
                    <a:p>
                      <a:r>
                        <a:rPr lang="fr-CA" sz="1600" dirty="0"/>
                        <a:t>États des résultats</a:t>
                      </a:r>
                    </a:p>
                    <a:p>
                      <a:endParaRPr lang="fr-CA" sz="1600" dirty="0"/>
                    </a:p>
                    <a:p>
                      <a:r>
                        <a:rPr lang="fr-CA" sz="1600" dirty="0"/>
                        <a:t>Revenus</a:t>
                      </a:r>
                    </a:p>
                    <a:p>
                      <a:r>
                        <a:rPr lang="fr-CA" sz="1600" u="sng" dirty="0"/>
                        <a:t>Charges</a:t>
                      </a:r>
                    </a:p>
                    <a:p>
                      <a:r>
                        <a:rPr lang="fr-CA" sz="1600" dirty="0"/>
                        <a:t>Bénéfices</a:t>
                      </a:r>
                      <a:r>
                        <a:rPr lang="fr-CA" sz="1600" baseline="0" dirty="0"/>
                        <a:t> net</a:t>
                      </a:r>
                      <a:endParaRPr lang="fr-CA" sz="1600" dirty="0"/>
                    </a:p>
                  </a:txBody>
                  <a:tcPr marL="80682" marR="80682" marT="40341" marB="4034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5" name="Connecteur droit avec flèche 4"/>
          <p:cNvCxnSpPr/>
          <p:nvPr>
            <p:custDataLst>
              <p:tags r:id="rId6"/>
            </p:custDataLst>
          </p:nvPr>
        </p:nvCxnSpPr>
        <p:spPr>
          <a:xfrm>
            <a:off x="3647777" y="4649428"/>
            <a:ext cx="1461339" cy="25414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avec flèche 6"/>
          <p:cNvCxnSpPr/>
          <p:nvPr>
            <p:custDataLst>
              <p:tags r:id="rId7"/>
            </p:custDataLst>
          </p:nvPr>
        </p:nvCxnSpPr>
        <p:spPr>
          <a:xfrm>
            <a:off x="6262413" y="4646547"/>
            <a:ext cx="1461339" cy="25414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/>
          <p:cNvSpPr txBox="1"/>
          <p:nvPr>
            <p:custDataLst>
              <p:tags r:id="rId8"/>
            </p:custDataLst>
          </p:nvPr>
        </p:nvSpPr>
        <p:spPr>
          <a:xfrm>
            <a:off x="5014592" y="2597311"/>
            <a:ext cx="2223776" cy="336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588" b="1" dirty="0"/>
              <a:t>Clients externes</a:t>
            </a:r>
          </a:p>
        </p:txBody>
      </p:sp>
      <p:sp>
        <p:nvSpPr>
          <p:cNvPr id="9" name="ZoneTexte 8"/>
          <p:cNvSpPr txBox="1"/>
          <p:nvPr>
            <p:custDataLst>
              <p:tags r:id="rId9"/>
            </p:custDataLst>
          </p:nvPr>
        </p:nvSpPr>
        <p:spPr>
          <a:xfrm>
            <a:off x="7945566" y="2597311"/>
            <a:ext cx="2223776" cy="336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588" b="1" dirty="0"/>
              <a:t>Clients externes</a:t>
            </a:r>
          </a:p>
        </p:txBody>
      </p:sp>
      <p:cxnSp>
        <p:nvCxnSpPr>
          <p:cNvPr id="10" name="Connecteur droit avec flèche 9"/>
          <p:cNvCxnSpPr/>
          <p:nvPr>
            <p:custDataLst>
              <p:tags r:id="rId10"/>
            </p:custDataLst>
          </p:nvPr>
        </p:nvCxnSpPr>
        <p:spPr>
          <a:xfrm flipV="1">
            <a:off x="4556903" y="2962905"/>
            <a:ext cx="953047" cy="762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/>
          <p:cNvCxnSpPr/>
          <p:nvPr>
            <p:custDataLst>
              <p:tags r:id="rId11"/>
            </p:custDataLst>
          </p:nvPr>
        </p:nvCxnSpPr>
        <p:spPr>
          <a:xfrm flipV="1">
            <a:off x="7065393" y="2922136"/>
            <a:ext cx="953047" cy="762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/>
          <p:cNvCxnSpPr/>
          <p:nvPr>
            <p:custDataLst>
              <p:tags r:id="rId12"/>
            </p:custDataLst>
          </p:nvPr>
        </p:nvCxnSpPr>
        <p:spPr>
          <a:xfrm>
            <a:off x="4556902" y="3734347"/>
            <a:ext cx="1316719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/>
          <p:cNvCxnSpPr/>
          <p:nvPr>
            <p:custDataLst>
              <p:tags r:id="rId13"/>
            </p:custDataLst>
          </p:nvPr>
        </p:nvCxnSpPr>
        <p:spPr>
          <a:xfrm>
            <a:off x="7065393" y="3722577"/>
            <a:ext cx="1316719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73215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60912" y="291798"/>
            <a:ext cx="10058400" cy="1450757"/>
          </a:xfrm>
        </p:spPr>
        <p:txBody>
          <a:bodyPr/>
          <a:lstStyle/>
          <a:p>
            <a:r>
              <a:rPr lang="fr-CA" dirty="0"/>
              <a:t>Prix de cession interne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1060912" y="1893224"/>
            <a:ext cx="10492688" cy="3825587"/>
          </a:xfrm>
        </p:spPr>
        <p:txBody>
          <a:bodyPr/>
          <a:lstStyle/>
          <a:p>
            <a:pPr marL="197782" lvl="2" indent="-197782">
              <a:buFont typeface="Arial" pitchFamily="34" charset="0"/>
              <a:buChar char="•"/>
            </a:pPr>
            <a:r>
              <a:rPr lang="fr-CA" sz="2118" dirty="0"/>
              <a:t>Objectifs: </a:t>
            </a:r>
          </a:p>
          <a:p>
            <a:pPr marL="647287" lvl="4" indent="-197782"/>
            <a:r>
              <a:rPr lang="fr-CA" sz="1941" dirty="0"/>
              <a:t>S’assurer de l’arrimage des décisions des centres de profits avec celle de l’entreprise</a:t>
            </a:r>
          </a:p>
          <a:p>
            <a:pPr marL="647287" lvl="4" indent="-197782"/>
            <a:r>
              <a:rPr lang="fr-CA" sz="1941" dirty="0"/>
              <a:t>Mesurer la performance économique des divisions</a:t>
            </a:r>
          </a:p>
          <a:p>
            <a:pPr lvl="2"/>
            <a:endParaRPr lang="fr-CA" sz="2118" dirty="0"/>
          </a:p>
          <a:p>
            <a:pPr marL="197782" lvl="2" indent="-197782">
              <a:buFont typeface="Arial" pitchFamily="34" charset="0"/>
              <a:buChar char="•"/>
            </a:pPr>
            <a:r>
              <a:rPr lang="fr-CA" sz="2118" dirty="0"/>
              <a:t>Défis et impacts: </a:t>
            </a:r>
          </a:p>
          <a:p>
            <a:pPr marL="647287" lvl="4" indent="-197782"/>
            <a:r>
              <a:rPr lang="fr-CA" sz="1941" dirty="0"/>
              <a:t>Sur la performance des divisions et des gestionnaires</a:t>
            </a:r>
          </a:p>
          <a:p>
            <a:pPr marL="647287" lvl="4" indent="-197782"/>
            <a:r>
              <a:rPr lang="fr-CA" sz="1941" dirty="0"/>
              <a:t>Sur l’autonomie des gestionnaires de la division</a:t>
            </a:r>
          </a:p>
          <a:p>
            <a:pPr marL="647287" lvl="4" indent="-197782"/>
            <a:r>
              <a:rPr lang="fr-CA" sz="1941" dirty="0"/>
              <a:t>Sur les profits de l’entité corporative</a:t>
            </a:r>
          </a:p>
          <a:p>
            <a:endParaRPr lang="fr-CA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CA"/>
              <a:t>(C) Préparé par Chan Sitha Méas, Marie-Eve Quenneville et Michel Vézina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28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405550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034428" y="3287245"/>
            <a:ext cx="1023097" cy="801221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pPr algn="ctr"/>
            <a:r>
              <a:rPr lang="fr-CA" sz="1941"/>
              <a:t>PCI</a:t>
            </a:r>
          </a:p>
        </p:txBody>
      </p:sp>
      <p:sp>
        <p:nvSpPr>
          <p:cNvPr id="13318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587563" y="2177863"/>
            <a:ext cx="1023097" cy="801221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pPr algn="ctr"/>
            <a:r>
              <a:rPr lang="fr-CA" sz="1941" dirty="0"/>
              <a:t>Prix</a:t>
            </a:r>
          </a:p>
        </p:txBody>
      </p:sp>
      <p:sp>
        <p:nvSpPr>
          <p:cNvPr id="13319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587563" y="4692463"/>
            <a:ext cx="1023097" cy="801221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pPr algn="ctr"/>
            <a:r>
              <a:rPr lang="fr-CA" sz="1941"/>
              <a:t>Coût</a:t>
            </a:r>
          </a:p>
        </p:txBody>
      </p:sp>
      <p:sp>
        <p:nvSpPr>
          <p:cNvPr id="13320" name="Rectangl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954246" y="2029946"/>
            <a:ext cx="2280397" cy="431426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pPr algn="ctr"/>
            <a:r>
              <a:rPr lang="fr-CA" sz="1941"/>
              <a:t>Prix du marché</a:t>
            </a:r>
          </a:p>
        </p:txBody>
      </p:sp>
      <p:sp>
        <p:nvSpPr>
          <p:cNvPr id="13321" name="Rectangle 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954246" y="2917452"/>
            <a:ext cx="2280397" cy="431426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pPr algn="ctr"/>
            <a:r>
              <a:rPr lang="fr-CA" sz="1941"/>
              <a:t>Prix négocié</a:t>
            </a:r>
          </a:p>
        </p:txBody>
      </p:sp>
      <p:sp>
        <p:nvSpPr>
          <p:cNvPr id="13322" name="Rectangle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510492" y="4026834"/>
            <a:ext cx="1244974" cy="727262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pPr algn="ctr"/>
            <a:r>
              <a:rPr lang="fr-CA" sz="1941" dirty="0"/>
              <a:t>Coût</a:t>
            </a:r>
          </a:p>
          <a:p>
            <a:pPr algn="ctr"/>
            <a:r>
              <a:rPr lang="fr-CA" sz="1941" dirty="0"/>
              <a:t>budgétisé</a:t>
            </a:r>
          </a:p>
        </p:txBody>
      </p:sp>
      <p:sp>
        <p:nvSpPr>
          <p:cNvPr id="13323" name="Rectangle 9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584451" y="5432051"/>
            <a:ext cx="1244974" cy="727262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pPr algn="ctr"/>
            <a:r>
              <a:rPr lang="fr-CA" sz="1941" dirty="0"/>
              <a:t>Coût</a:t>
            </a:r>
          </a:p>
          <a:p>
            <a:pPr algn="ctr"/>
            <a:r>
              <a:rPr lang="fr-CA" sz="1941" dirty="0"/>
              <a:t>réel</a:t>
            </a:r>
          </a:p>
        </p:txBody>
      </p:sp>
      <p:sp>
        <p:nvSpPr>
          <p:cNvPr id="13324" name="Rectangle 10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7433422" y="3730999"/>
            <a:ext cx="2280397" cy="431426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pPr algn="ctr"/>
            <a:r>
              <a:rPr lang="fr-CA" sz="1941" dirty="0"/>
              <a:t>Coût variable</a:t>
            </a:r>
          </a:p>
        </p:txBody>
      </p:sp>
      <p:sp>
        <p:nvSpPr>
          <p:cNvPr id="13325" name="Rectangle 11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7433422" y="4470587"/>
            <a:ext cx="2280397" cy="431426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pPr algn="ctr"/>
            <a:r>
              <a:rPr lang="fr-CA" sz="1941" dirty="0"/>
              <a:t>Coût complet</a:t>
            </a:r>
          </a:p>
        </p:txBody>
      </p:sp>
      <p:sp>
        <p:nvSpPr>
          <p:cNvPr id="13326" name="Rectangle 12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7507381" y="5875805"/>
            <a:ext cx="2280397" cy="431426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pPr algn="ctr"/>
            <a:r>
              <a:rPr lang="fr-CA" sz="1941" dirty="0"/>
              <a:t>Coût complet</a:t>
            </a:r>
          </a:p>
        </p:txBody>
      </p:sp>
      <p:sp>
        <p:nvSpPr>
          <p:cNvPr id="13327" name="Rectangle 13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7507381" y="5136216"/>
            <a:ext cx="2280397" cy="431426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pPr algn="ctr"/>
            <a:r>
              <a:rPr lang="fr-CA" sz="1941" dirty="0"/>
              <a:t>Coût variable</a:t>
            </a:r>
          </a:p>
        </p:txBody>
      </p:sp>
      <p:sp>
        <p:nvSpPr>
          <p:cNvPr id="13328" name="Line 14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 flipV="1">
            <a:off x="2619935" y="2615453"/>
            <a:ext cx="961465" cy="665629"/>
          </a:xfrm>
          <a:prstGeom prst="line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fr-CA" sz="1941"/>
          </a:p>
        </p:txBody>
      </p:sp>
      <p:sp>
        <p:nvSpPr>
          <p:cNvPr id="13329" name="Line 15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2545976" y="4094629"/>
            <a:ext cx="1035424" cy="1035424"/>
          </a:xfrm>
          <a:prstGeom prst="line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fr-CA" sz="1941"/>
          </a:p>
        </p:txBody>
      </p:sp>
      <p:sp>
        <p:nvSpPr>
          <p:cNvPr id="13330" name="Line 16"/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 flipV="1">
            <a:off x="4616823" y="2245659"/>
            <a:ext cx="1331259" cy="369794"/>
          </a:xfrm>
          <a:prstGeom prst="line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fr-CA" sz="1941"/>
          </a:p>
        </p:txBody>
      </p:sp>
      <p:sp>
        <p:nvSpPr>
          <p:cNvPr id="13331" name="Line 17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>
            <a:off x="4616823" y="2763371"/>
            <a:ext cx="1331259" cy="443753"/>
          </a:xfrm>
          <a:prstGeom prst="line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fr-CA" sz="1941"/>
          </a:p>
        </p:txBody>
      </p:sp>
      <p:sp>
        <p:nvSpPr>
          <p:cNvPr id="13332" name="Line 18"/>
          <p:cNvSpPr>
            <a:spLocks noChangeShapeType="1"/>
          </p:cNvSpPr>
          <p:nvPr>
            <p:custDataLst>
              <p:tags r:id="rId16"/>
            </p:custDataLst>
          </p:nvPr>
        </p:nvSpPr>
        <p:spPr bwMode="auto">
          <a:xfrm flipV="1">
            <a:off x="4616823" y="4316506"/>
            <a:ext cx="887506" cy="665629"/>
          </a:xfrm>
          <a:prstGeom prst="line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fr-CA" sz="1941"/>
          </a:p>
        </p:txBody>
      </p:sp>
      <p:sp>
        <p:nvSpPr>
          <p:cNvPr id="13333" name="Line 19"/>
          <p:cNvSpPr>
            <a:spLocks noChangeShapeType="1"/>
          </p:cNvSpPr>
          <p:nvPr>
            <p:custDataLst>
              <p:tags r:id="rId17"/>
            </p:custDataLst>
          </p:nvPr>
        </p:nvSpPr>
        <p:spPr bwMode="auto">
          <a:xfrm>
            <a:off x="4616823" y="5277970"/>
            <a:ext cx="961465" cy="591671"/>
          </a:xfrm>
          <a:prstGeom prst="line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fr-CA" sz="1941"/>
          </a:p>
        </p:txBody>
      </p:sp>
      <p:sp>
        <p:nvSpPr>
          <p:cNvPr id="13334" name="Line 20"/>
          <p:cNvSpPr>
            <a:spLocks noChangeShapeType="1"/>
          </p:cNvSpPr>
          <p:nvPr>
            <p:custDataLst>
              <p:tags r:id="rId18"/>
            </p:custDataLst>
          </p:nvPr>
        </p:nvSpPr>
        <p:spPr bwMode="auto">
          <a:xfrm flipV="1">
            <a:off x="6761630" y="4020671"/>
            <a:ext cx="665629" cy="295835"/>
          </a:xfrm>
          <a:prstGeom prst="line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fr-CA" sz="1941"/>
          </a:p>
        </p:txBody>
      </p:sp>
      <p:sp>
        <p:nvSpPr>
          <p:cNvPr id="13335" name="Line 21"/>
          <p:cNvSpPr>
            <a:spLocks noChangeShapeType="1"/>
          </p:cNvSpPr>
          <p:nvPr>
            <p:custDataLst>
              <p:tags r:id="rId19"/>
            </p:custDataLst>
          </p:nvPr>
        </p:nvSpPr>
        <p:spPr bwMode="auto">
          <a:xfrm flipV="1">
            <a:off x="6835588" y="5351929"/>
            <a:ext cx="665629" cy="369794"/>
          </a:xfrm>
          <a:prstGeom prst="line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fr-CA" sz="1941"/>
          </a:p>
        </p:txBody>
      </p:sp>
      <p:sp>
        <p:nvSpPr>
          <p:cNvPr id="13336" name="Line 22"/>
          <p:cNvSpPr>
            <a:spLocks noChangeShapeType="1"/>
          </p:cNvSpPr>
          <p:nvPr>
            <p:custDataLst>
              <p:tags r:id="rId20"/>
            </p:custDataLst>
          </p:nvPr>
        </p:nvSpPr>
        <p:spPr bwMode="auto">
          <a:xfrm>
            <a:off x="6835588" y="5795683"/>
            <a:ext cx="665629" cy="295835"/>
          </a:xfrm>
          <a:prstGeom prst="line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fr-CA" sz="1941"/>
          </a:p>
        </p:txBody>
      </p:sp>
      <p:sp>
        <p:nvSpPr>
          <p:cNvPr id="13337" name="Line 23"/>
          <p:cNvSpPr>
            <a:spLocks noChangeShapeType="1"/>
          </p:cNvSpPr>
          <p:nvPr>
            <p:custDataLst>
              <p:tags r:id="rId21"/>
            </p:custDataLst>
          </p:nvPr>
        </p:nvSpPr>
        <p:spPr bwMode="auto">
          <a:xfrm>
            <a:off x="6761630" y="4464424"/>
            <a:ext cx="665629" cy="221876"/>
          </a:xfrm>
          <a:prstGeom prst="line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fr-CA" sz="1941"/>
          </a:p>
        </p:txBody>
      </p:sp>
      <p:sp>
        <p:nvSpPr>
          <p:cNvPr id="25" name="Titre 1"/>
          <p:cNvSpPr txBox="1">
            <a:spLocks/>
          </p:cNvSpPr>
          <p:nvPr>
            <p:custDataLst>
              <p:tags r:id="rId22"/>
            </p:custDataLst>
          </p:nvPr>
        </p:nvSpPr>
        <p:spPr>
          <a:xfrm>
            <a:off x="2102224" y="367414"/>
            <a:ext cx="7987553" cy="405762"/>
          </a:xfrm>
          <a:prstGeom prst="rect">
            <a:avLst/>
          </a:prstGeom>
        </p:spPr>
        <p:txBody>
          <a:bodyPr vert="horz" lIns="88751" tIns="44375" rIns="88751" bIns="44375" rtlCol="0" anchor="ctr">
            <a:noAutofit/>
          </a:bodyPr>
          <a:lstStyle/>
          <a:p>
            <a:pPr algn="r" defTabSz="887553">
              <a:spcBef>
                <a:spcPct val="0"/>
              </a:spcBef>
              <a:defRPr/>
            </a:pPr>
            <a:r>
              <a:rPr lang="fr-CA" sz="3494" b="1" dirty="0">
                <a:latin typeface="+mj-lt"/>
                <a:ea typeface="+mj-ea"/>
                <a:cs typeface="+mj-cs"/>
              </a:rPr>
              <a:t>Fiche 8.5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/>
          <a:lstStyle/>
          <a:p>
            <a:r>
              <a:rPr lang="fr-CA"/>
              <a:t>(C) Préparé par Chan Sitha Méas, Marie-Eve Quenneville et Michel Vézina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29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1261858"/>
      </p:ext>
    </p:extLst>
  </p:cSld>
  <p:clrMapOvr>
    <a:masterClrMapping/>
  </p:clrMapOvr>
  <p:transition>
    <p:rand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034428" y="3287245"/>
            <a:ext cx="1023097" cy="801221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pPr algn="ctr"/>
            <a:r>
              <a:rPr lang="fr-CA" sz="1941"/>
              <a:t>PCI</a:t>
            </a:r>
          </a:p>
        </p:txBody>
      </p:sp>
      <p:sp>
        <p:nvSpPr>
          <p:cNvPr id="13318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587563" y="2177863"/>
            <a:ext cx="1023097" cy="8012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pPr algn="ctr"/>
            <a:r>
              <a:rPr lang="fr-CA" sz="1941" dirty="0"/>
              <a:t>Prix</a:t>
            </a:r>
          </a:p>
        </p:txBody>
      </p:sp>
      <p:sp>
        <p:nvSpPr>
          <p:cNvPr id="13319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587563" y="4692463"/>
            <a:ext cx="1023097" cy="801221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pPr algn="ctr"/>
            <a:r>
              <a:rPr lang="fr-CA" sz="1941"/>
              <a:t>Coût</a:t>
            </a:r>
          </a:p>
        </p:txBody>
      </p:sp>
      <p:sp>
        <p:nvSpPr>
          <p:cNvPr id="13320" name="Rectangl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954246" y="2029946"/>
            <a:ext cx="2280397" cy="4314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pPr algn="ctr"/>
            <a:r>
              <a:rPr lang="fr-CA" sz="1941" dirty="0"/>
              <a:t>Prix du marché</a:t>
            </a:r>
          </a:p>
        </p:txBody>
      </p:sp>
      <p:sp>
        <p:nvSpPr>
          <p:cNvPr id="13321" name="Rectangle 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954246" y="2917452"/>
            <a:ext cx="2280397" cy="4314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pPr algn="ctr"/>
            <a:r>
              <a:rPr lang="fr-CA" sz="1941"/>
              <a:t>Prix négocié</a:t>
            </a:r>
          </a:p>
        </p:txBody>
      </p:sp>
      <p:sp>
        <p:nvSpPr>
          <p:cNvPr id="13322" name="Rectangle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510492" y="4026834"/>
            <a:ext cx="1244974" cy="727262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pPr algn="ctr"/>
            <a:r>
              <a:rPr lang="fr-CA" sz="1941" dirty="0"/>
              <a:t>Coût</a:t>
            </a:r>
          </a:p>
          <a:p>
            <a:pPr algn="ctr"/>
            <a:r>
              <a:rPr lang="fr-CA" sz="1941" dirty="0"/>
              <a:t>budgétisé</a:t>
            </a:r>
          </a:p>
        </p:txBody>
      </p:sp>
      <p:sp>
        <p:nvSpPr>
          <p:cNvPr id="13323" name="Rectangle 9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584451" y="5432051"/>
            <a:ext cx="1244974" cy="727262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pPr algn="ctr"/>
            <a:r>
              <a:rPr lang="fr-CA" sz="1941" dirty="0"/>
              <a:t>Coût</a:t>
            </a:r>
          </a:p>
          <a:p>
            <a:pPr algn="ctr"/>
            <a:r>
              <a:rPr lang="fr-CA" sz="1941" dirty="0"/>
              <a:t>réel</a:t>
            </a:r>
          </a:p>
        </p:txBody>
      </p:sp>
      <p:sp>
        <p:nvSpPr>
          <p:cNvPr id="13324" name="Rectangle 10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7433422" y="3730999"/>
            <a:ext cx="2280397" cy="431426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pPr algn="ctr"/>
            <a:r>
              <a:rPr lang="fr-CA" sz="1941" dirty="0"/>
              <a:t>Coût variable</a:t>
            </a:r>
          </a:p>
        </p:txBody>
      </p:sp>
      <p:sp>
        <p:nvSpPr>
          <p:cNvPr id="13325" name="Rectangle 11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7433422" y="4470587"/>
            <a:ext cx="2280397" cy="431426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pPr algn="ctr"/>
            <a:r>
              <a:rPr lang="fr-CA" sz="1941" dirty="0"/>
              <a:t>Coût complet</a:t>
            </a:r>
          </a:p>
        </p:txBody>
      </p:sp>
      <p:sp>
        <p:nvSpPr>
          <p:cNvPr id="13326" name="Rectangle 12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7507381" y="5875805"/>
            <a:ext cx="2280397" cy="431426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pPr algn="ctr"/>
            <a:r>
              <a:rPr lang="fr-CA" sz="1941" dirty="0"/>
              <a:t>Coût complet</a:t>
            </a:r>
          </a:p>
        </p:txBody>
      </p:sp>
      <p:sp>
        <p:nvSpPr>
          <p:cNvPr id="13327" name="Rectangle 13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7507381" y="5136216"/>
            <a:ext cx="2280397" cy="431426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pPr algn="ctr"/>
            <a:r>
              <a:rPr lang="fr-CA" sz="1941" dirty="0"/>
              <a:t>Coût variable</a:t>
            </a:r>
          </a:p>
        </p:txBody>
      </p:sp>
      <p:sp>
        <p:nvSpPr>
          <p:cNvPr id="13328" name="Line 14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 flipV="1">
            <a:off x="2619935" y="2615453"/>
            <a:ext cx="961465" cy="665629"/>
          </a:xfrm>
          <a:prstGeom prst="line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fr-CA" sz="1941"/>
          </a:p>
        </p:txBody>
      </p:sp>
      <p:sp>
        <p:nvSpPr>
          <p:cNvPr id="13329" name="Line 15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2545976" y="4094629"/>
            <a:ext cx="1035424" cy="1035424"/>
          </a:xfrm>
          <a:prstGeom prst="line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fr-CA" sz="1941"/>
          </a:p>
        </p:txBody>
      </p:sp>
      <p:sp>
        <p:nvSpPr>
          <p:cNvPr id="13330" name="Line 16"/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 flipV="1">
            <a:off x="4616823" y="2245659"/>
            <a:ext cx="1331259" cy="369794"/>
          </a:xfrm>
          <a:prstGeom prst="line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fr-CA" sz="1941"/>
          </a:p>
        </p:txBody>
      </p:sp>
      <p:sp>
        <p:nvSpPr>
          <p:cNvPr id="13331" name="Line 17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>
            <a:off x="4616823" y="2763371"/>
            <a:ext cx="1331259" cy="443753"/>
          </a:xfrm>
          <a:prstGeom prst="line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fr-CA" sz="1941"/>
          </a:p>
        </p:txBody>
      </p:sp>
      <p:sp>
        <p:nvSpPr>
          <p:cNvPr id="13332" name="Line 18"/>
          <p:cNvSpPr>
            <a:spLocks noChangeShapeType="1"/>
          </p:cNvSpPr>
          <p:nvPr>
            <p:custDataLst>
              <p:tags r:id="rId16"/>
            </p:custDataLst>
          </p:nvPr>
        </p:nvSpPr>
        <p:spPr bwMode="auto">
          <a:xfrm flipV="1">
            <a:off x="4616823" y="4316506"/>
            <a:ext cx="887506" cy="665629"/>
          </a:xfrm>
          <a:prstGeom prst="line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fr-CA" sz="1941"/>
          </a:p>
        </p:txBody>
      </p:sp>
      <p:sp>
        <p:nvSpPr>
          <p:cNvPr id="13333" name="Line 19"/>
          <p:cNvSpPr>
            <a:spLocks noChangeShapeType="1"/>
          </p:cNvSpPr>
          <p:nvPr>
            <p:custDataLst>
              <p:tags r:id="rId17"/>
            </p:custDataLst>
          </p:nvPr>
        </p:nvSpPr>
        <p:spPr bwMode="auto">
          <a:xfrm>
            <a:off x="4616823" y="5277970"/>
            <a:ext cx="961465" cy="591671"/>
          </a:xfrm>
          <a:prstGeom prst="line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fr-CA" sz="1941"/>
          </a:p>
        </p:txBody>
      </p:sp>
      <p:sp>
        <p:nvSpPr>
          <p:cNvPr id="13334" name="Line 20"/>
          <p:cNvSpPr>
            <a:spLocks noChangeShapeType="1"/>
          </p:cNvSpPr>
          <p:nvPr>
            <p:custDataLst>
              <p:tags r:id="rId18"/>
            </p:custDataLst>
          </p:nvPr>
        </p:nvSpPr>
        <p:spPr bwMode="auto">
          <a:xfrm flipV="1">
            <a:off x="6761630" y="4020671"/>
            <a:ext cx="665629" cy="295835"/>
          </a:xfrm>
          <a:prstGeom prst="line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fr-CA" sz="1941"/>
          </a:p>
        </p:txBody>
      </p:sp>
      <p:sp>
        <p:nvSpPr>
          <p:cNvPr id="13335" name="Line 21"/>
          <p:cNvSpPr>
            <a:spLocks noChangeShapeType="1"/>
          </p:cNvSpPr>
          <p:nvPr>
            <p:custDataLst>
              <p:tags r:id="rId19"/>
            </p:custDataLst>
          </p:nvPr>
        </p:nvSpPr>
        <p:spPr bwMode="auto">
          <a:xfrm flipV="1">
            <a:off x="6835588" y="5351929"/>
            <a:ext cx="665629" cy="369794"/>
          </a:xfrm>
          <a:prstGeom prst="line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fr-CA" sz="1941"/>
          </a:p>
        </p:txBody>
      </p:sp>
      <p:sp>
        <p:nvSpPr>
          <p:cNvPr id="13336" name="Line 22"/>
          <p:cNvSpPr>
            <a:spLocks noChangeShapeType="1"/>
          </p:cNvSpPr>
          <p:nvPr>
            <p:custDataLst>
              <p:tags r:id="rId20"/>
            </p:custDataLst>
          </p:nvPr>
        </p:nvSpPr>
        <p:spPr bwMode="auto">
          <a:xfrm>
            <a:off x="6835588" y="5795683"/>
            <a:ext cx="665629" cy="295835"/>
          </a:xfrm>
          <a:prstGeom prst="line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fr-CA" sz="1941"/>
          </a:p>
        </p:txBody>
      </p:sp>
      <p:sp>
        <p:nvSpPr>
          <p:cNvPr id="13337" name="Line 23"/>
          <p:cNvSpPr>
            <a:spLocks noChangeShapeType="1"/>
          </p:cNvSpPr>
          <p:nvPr>
            <p:custDataLst>
              <p:tags r:id="rId21"/>
            </p:custDataLst>
          </p:nvPr>
        </p:nvSpPr>
        <p:spPr bwMode="auto">
          <a:xfrm>
            <a:off x="6761630" y="4464424"/>
            <a:ext cx="665629" cy="221876"/>
          </a:xfrm>
          <a:prstGeom prst="line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fr-CA" sz="1941"/>
          </a:p>
        </p:txBody>
      </p:sp>
      <p:sp>
        <p:nvSpPr>
          <p:cNvPr id="25" name="Titre 1"/>
          <p:cNvSpPr txBox="1">
            <a:spLocks/>
          </p:cNvSpPr>
          <p:nvPr>
            <p:custDataLst>
              <p:tags r:id="rId22"/>
            </p:custDataLst>
          </p:nvPr>
        </p:nvSpPr>
        <p:spPr>
          <a:xfrm>
            <a:off x="2102224" y="367414"/>
            <a:ext cx="7987553" cy="405762"/>
          </a:xfrm>
          <a:prstGeom prst="rect">
            <a:avLst/>
          </a:prstGeom>
        </p:spPr>
        <p:txBody>
          <a:bodyPr vert="horz" lIns="88751" tIns="44375" rIns="88751" bIns="44375" rtlCol="0" anchor="ctr">
            <a:noAutofit/>
          </a:bodyPr>
          <a:lstStyle/>
          <a:p>
            <a:pPr algn="r" defTabSz="887553">
              <a:spcBef>
                <a:spcPct val="0"/>
              </a:spcBef>
              <a:defRPr/>
            </a:pPr>
            <a:r>
              <a:rPr lang="fr-CA" sz="3494" b="1" dirty="0">
                <a:latin typeface="+mj-lt"/>
                <a:ea typeface="+mj-ea"/>
                <a:cs typeface="+mj-cs"/>
              </a:rPr>
              <a:t>Fiche 8.5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/>
          <a:lstStyle/>
          <a:p>
            <a:r>
              <a:rPr lang="fr-CA"/>
              <a:t>(C) Préparé par Chan Sitha Méas, Marie-Eve Quenneville et Michel Vézina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30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83272008"/>
      </p:ext>
    </p:extLst>
  </p:cSld>
  <p:clrMapOvr>
    <a:masterClrMapping/>
  </p:clrMapOvr>
  <p:transition>
    <p:rand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PCI basé sur le prix du marché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85000" lnSpcReduction="20000"/>
          </a:bodyPr>
          <a:lstStyle/>
          <a:p>
            <a:pPr marL="0" lvl="2" indent="0">
              <a:buNone/>
            </a:pPr>
            <a:r>
              <a:rPr lang="fr-CA" sz="2118" dirty="0"/>
              <a:t>Le PCI doit être similaire au prix qui serait facturé si le prix était vendu à des clients extérieurs ou acheté à des vendeurs extérieurs</a:t>
            </a:r>
          </a:p>
          <a:p>
            <a:pPr marL="197782" lvl="2" indent="-197782">
              <a:buFont typeface="Arial" pitchFamily="34" charset="0"/>
              <a:buChar char="•"/>
            </a:pPr>
            <a:endParaRPr lang="fr-CA" sz="2118" dirty="0"/>
          </a:p>
          <a:p>
            <a:pPr marL="0" lvl="2" indent="0">
              <a:buNone/>
            </a:pPr>
            <a:r>
              <a:rPr lang="fr-CA" sz="2118" dirty="0"/>
              <a:t>Caractéristiques:</a:t>
            </a:r>
          </a:p>
          <a:p>
            <a:pPr marL="647287" lvl="4" indent="-197782"/>
            <a:r>
              <a:rPr lang="fr-CA" sz="1941" dirty="0"/>
              <a:t>Environnement concurrentiel</a:t>
            </a:r>
          </a:p>
          <a:p>
            <a:pPr marL="647287" lvl="4" indent="-197782"/>
            <a:r>
              <a:rPr lang="fr-CA" sz="1941" dirty="0"/>
              <a:t>Liberté de s’approvisionner</a:t>
            </a:r>
            <a:endParaRPr lang="fr-CA" sz="2118" dirty="0"/>
          </a:p>
          <a:p>
            <a:pPr marL="0" lvl="2" indent="0">
              <a:buNone/>
            </a:pPr>
            <a:r>
              <a:rPr lang="fr-CA" sz="2118" dirty="0"/>
              <a:t>Avantages:</a:t>
            </a:r>
          </a:p>
          <a:p>
            <a:pPr marL="647287" lvl="4" indent="-197782"/>
            <a:r>
              <a:rPr lang="fr-CA" sz="1941" dirty="0"/>
              <a:t>Favorise l’autonomie</a:t>
            </a:r>
          </a:p>
          <a:p>
            <a:pPr marL="647287" lvl="4" indent="-197782"/>
            <a:r>
              <a:rPr lang="fr-CA" sz="1941" dirty="0"/>
              <a:t>Meilleure évaluation de la performance et une meilleure allocation des ressources </a:t>
            </a:r>
          </a:p>
          <a:p>
            <a:pPr marL="647287" lvl="4" indent="-197782"/>
            <a:r>
              <a:rPr lang="fr-CA" sz="1941" dirty="0"/>
              <a:t>Simple et objectif</a:t>
            </a:r>
          </a:p>
          <a:p>
            <a:pPr marL="647287" lvl="4" indent="-197782"/>
            <a:r>
              <a:rPr lang="fr-CA" sz="1941" dirty="0"/>
              <a:t>Motivant et perception d’équité</a:t>
            </a:r>
          </a:p>
          <a:p>
            <a:pPr marL="90945" lvl="3" indent="0">
              <a:buNone/>
            </a:pPr>
            <a:endParaRPr lang="fr-CA" sz="1941" dirty="0"/>
          </a:p>
          <a:p>
            <a:pPr marL="90945" lvl="3" indent="0">
              <a:buNone/>
            </a:pPr>
            <a:r>
              <a:rPr lang="fr-CA" sz="2300" dirty="0"/>
              <a:t>Inconvénient: </a:t>
            </a:r>
          </a:p>
          <a:p>
            <a:pPr marL="792405" lvl="4" indent="-342900"/>
            <a:r>
              <a:rPr lang="fr-CA" sz="1941" dirty="0"/>
              <a:t>Ne tient pas compte des exigences spécifiques qui pourraient être liées à la vente à l’interne (caractéristiques ou délai différent des clients externes</a:t>
            </a:r>
          </a:p>
          <a:p>
            <a:pPr marL="90945" lvl="3" indent="0">
              <a:buNone/>
            </a:pPr>
            <a:endParaRPr lang="fr-CA" sz="1941" dirty="0"/>
          </a:p>
          <a:p>
            <a:endParaRPr lang="fr-CA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CA"/>
              <a:t>(C) Préparé par Chan Sitha Méas, Marie-Eve Quenneville et Michel Vézina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31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89642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PCI négocié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marL="0" lvl="2" indent="0">
              <a:buNone/>
            </a:pPr>
            <a:r>
              <a:rPr lang="fr-CA" sz="2118" dirty="0"/>
              <a:t>Prix négocié entre les parties</a:t>
            </a:r>
          </a:p>
          <a:p>
            <a:pPr marL="422535" lvl="3" indent="-197782"/>
            <a:r>
              <a:rPr lang="fr-CA" sz="1941" dirty="0"/>
              <a:t>Encourage la communication entre les divisions ce qui encourage les transferts dans l’intérêt de la société</a:t>
            </a:r>
          </a:p>
          <a:p>
            <a:pPr marL="422535" lvl="3" indent="-197782"/>
            <a:r>
              <a:rPr lang="fr-CA" sz="1941" dirty="0"/>
              <a:t>Sentiment d’équité</a:t>
            </a:r>
          </a:p>
          <a:p>
            <a:pPr marL="422535" lvl="3" indent="-197782"/>
            <a:r>
              <a:rPr lang="fr-CA" sz="1941" dirty="0"/>
              <a:t>Lourdeur administrative</a:t>
            </a:r>
          </a:p>
          <a:p>
            <a:pPr marL="422535" lvl="3" indent="-197782"/>
            <a:r>
              <a:rPr lang="fr-CA" sz="1941" dirty="0"/>
              <a:t>Résultat de la négociation souvent très près du prix du marché</a:t>
            </a:r>
          </a:p>
          <a:p>
            <a:endParaRPr lang="fr-CA" dirty="0"/>
          </a:p>
          <a:p>
            <a:r>
              <a:rPr lang="fr-CA" dirty="0"/>
              <a:t>Prix plancher : Coût variable </a:t>
            </a:r>
          </a:p>
          <a:p>
            <a:r>
              <a:rPr lang="fr-CA" dirty="0"/>
              <a:t>Prix plafond : Coût variable + coût d’opportunité (en situation de pleine capacité = prix du marché)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CA"/>
              <a:t>(C) Préparé par Chan Sitha Méas, Marie-Eve Quenneville et Michel Vézina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32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83788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034428" y="3287245"/>
            <a:ext cx="1023097" cy="801221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pPr algn="ctr"/>
            <a:r>
              <a:rPr lang="fr-CA" sz="1941"/>
              <a:t>PCI</a:t>
            </a:r>
          </a:p>
        </p:txBody>
      </p:sp>
      <p:sp>
        <p:nvSpPr>
          <p:cNvPr id="13318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587563" y="2177863"/>
            <a:ext cx="1023097" cy="801221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pPr algn="ctr"/>
            <a:r>
              <a:rPr lang="fr-CA" sz="1941" dirty="0"/>
              <a:t>Prix</a:t>
            </a:r>
          </a:p>
        </p:txBody>
      </p:sp>
      <p:sp>
        <p:nvSpPr>
          <p:cNvPr id="13319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587563" y="4692463"/>
            <a:ext cx="1023097" cy="80122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pPr algn="ctr"/>
            <a:r>
              <a:rPr lang="fr-CA" sz="1941"/>
              <a:t>Coût</a:t>
            </a:r>
          </a:p>
        </p:txBody>
      </p:sp>
      <p:sp>
        <p:nvSpPr>
          <p:cNvPr id="13320" name="Rectangl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954246" y="2029946"/>
            <a:ext cx="2280397" cy="431426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pPr algn="ctr"/>
            <a:r>
              <a:rPr lang="fr-CA" sz="1941"/>
              <a:t>Prix du marché</a:t>
            </a:r>
          </a:p>
        </p:txBody>
      </p:sp>
      <p:sp>
        <p:nvSpPr>
          <p:cNvPr id="13321" name="Rectangle 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954246" y="2917452"/>
            <a:ext cx="2280397" cy="431426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pPr algn="ctr"/>
            <a:r>
              <a:rPr lang="fr-CA" sz="1941"/>
              <a:t>Prix négocié</a:t>
            </a:r>
          </a:p>
        </p:txBody>
      </p:sp>
      <p:sp>
        <p:nvSpPr>
          <p:cNvPr id="13322" name="Rectangle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510492" y="4026834"/>
            <a:ext cx="1244974" cy="72726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pPr algn="ctr"/>
            <a:r>
              <a:rPr lang="fr-CA" sz="1941" dirty="0"/>
              <a:t>Coût</a:t>
            </a:r>
          </a:p>
          <a:p>
            <a:pPr algn="ctr"/>
            <a:r>
              <a:rPr lang="fr-CA" sz="1941" dirty="0"/>
              <a:t>budgétisé</a:t>
            </a:r>
          </a:p>
        </p:txBody>
      </p:sp>
      <p:sp>
        <p:nvSpPr>
          <p:cNvPr id="13323" name="Rectangle 9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584451" y="5432051"/>
            <a:ext cx="1244974" cy="72726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pPr algn="ctr"/>
            <a:r>
              <a:rPr lang="fr-CA" sz="1941" dirty="0"/>
              <a:t>Coût</a:t>
            </a:r>
          </a:p>
          <a:p>
            <a:pPr algn="ctr"/>
            <a:r>
              <a:rPr lang="fr-CA" sz="1941" dirty="0"/>
              <a:t>réel</a:t>
            </a:r>
          </a:p>
        </p:txBody>
      </p:sp>
      <p:sp>
        <p:nvSpPr>
          <p:cNvPr id="13324" name="Rectangle 10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7433422" y="3730999"/>
            <a:ext cx="2280397" cy="431426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pPr algn="ctr"/>
            <a:r>
              <a:rPr lang="fr-CA" sz="1941" dirty="0"/>
              <a:t>Coût variable</a:t>
            </a:r>
          </a:p>
        </p:txBody>
      </p:sp>
      <p:sp>
        <p:nvSpPr>
          <p:cNvPr id="13325" name="Rectangle 11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7433422" y="4470587"/>
            <a:ext cx="2280397" cy="431426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pPr algn="ctr"/>
            <a:r>
              <a:rPr lang="fr-CA" sz="1941" dirty="0"/>
              <a:t>Coût complet</a:t>
            </a:r>
          </a:p>
        </p:txBody>
      </p:sp>
      <p:sp>
        <p:nvSpPr>
          <p:cNvPr id="13326" name="Rectangle 12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7507381" y="5875805"/>
            <a:ext cx="2280397" cy="431426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pPr algn="ctr"/>
            <a:r>
              <a:rPr lang="fr-CA" sz="1941" dirty="0"/>
              <a:t>Coût complet</a:t>
            </a:r>
          </a:p>
        </p:txBody>
      </p:sp>
      <p:sp>
        <p:nvSpPr>
          <p:cNvPr id="13327" name="Rectangle 13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7507381" y="5136216"/>
            <a:ext cx="2280397" cy="431426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pPr algn="ctr"/>
            <a:r>
              <a:rPr lang="fr-CA" sz="1941" dirty="0"/>
              <a:t>Coût variable</a:t>
            </a:r>
          </a:p>
        </p:txBody>
      </p:sp>
      <p:sp>
        <p:nvSpPr>
          <p:cNvPr id="13328" name="Line 14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 flipV="1">
            <a:off x="2619935" y="2615453"/>
            <a:ext cx="961465" cy="665629"/>
          </a:xfrm>
          <a:prstGeom prst="line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fr-CA" sz="1941"/>
          </a:p>
        </p:txBody>
      </p:sp>
      <p:sp>
        <p:nvSpPr>
          <p:cNvPr id="13329" name="Line 15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2545976" y="4094629"/>
            <a:ext cx="1035424" cy="1035424"/>
          </a:xfrm>
          <a:prstGeom prst="line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fr-CA" sz="1941"/>
          </a:p>
        </p:txBody>
      </p:sp>
      <p:sp>
        <p:nvSpPr>
          <p:cNvPr id="13330" name="Line 16"/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 flipV="1">
            <a:off x="4616823" y="2245659"/>
            <a:ext cx="1331259" cy="369794"/>
          </a:xfrm>
          <a:prstGeom prst="line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fr-CA" sz="1941"/>
          </a:p>
        </p:txBody>
      </p:sp>
      <p:sp>
        <p:nvSpPr>
          <p:cNvPr id="13331" name="Line 17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>
            <a:off x="4616823" y="2763371"/>
            <a:ext cx="1331259" cy="443753"/>
          </a:xfrm>
          <a:prstGeom prst="line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fr-CA" sz="1941"/>
          </a:p>
        </p:txBody>
      </p:sp>
      <p:sp>
        <p:nvSpPr>
          <p:cNvPr id="13332" name="Line 18"/>
          <p:cNvSpPr>
            <a:spLocks noChangeShapeType="1"/>
          </p:cNvSpPr>
          <p:nvPr>
            <p:custDataLst>
              <p:tags r:id="rId16"/>
            </p:custDataLst>
          </p:nvPr>
        </p:nvSpPr>
        <p:spPr bwMode="auto">
          <a:xfrm flipV="1">
            <a:off x="4616823" y="4316506"/>
            <a:ext cx="887506" cy="665629"/>
          </a:xfrm>
          <a:prstGeom prst="line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fr-CA" sz="1941"/>
          </a:p>
        </p:txBody>
      </p:sp>
      <p:sp>
        <p:nvSpPr>
          <p:cNvPr id="13333" name="Line 19"/>
          <p:cNvSpPr>
            <a:spLocks noChangeShapeType="1"/>
          </p:cNvSpPr>
          <p:nvPr>
            <p:custDataLst>
              <p:tags r:id="rId17"/>
            </p:custDataLst>
          </p:nvPr>
        </p:nvSpPr>
        <p:spPr bwMode="auto">
          <a:xfrm>
            <a:off x="4616823" y="5277970"/>
            <a:ext cx="961465" cy="591671"/>
          </a:xfrm>
          <a:prstGeom prst="line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fr-CA" sz="1941"/>
          </a:p>
        </p:txBody>
      </p:sp>
      <p:sp>
        <p:nvSpPr>
          <p:cNvPr id="13334" name="Line 20"/>
          <p:cNvSpPr>
            <a:spLocks noChangeShapeType="1"/>
          </p:cNvSpPr>
          <p:nvPr>
            <p:custDataLst>
              <p:tags r:id="rId18"/>
            </p:custDataLst>
          </p:nvPr>
        </p:nvSpPr>
        <p:spPr bwMode="auto">
          <a:xfrm flipV="1">
            <a:off x="6761630" y="4020671"/>
            <a:ext cx="665629" cy="295835"/>
          </a:xfrm>
          <a:prstGeom prst="line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fr-CA" sz="1941"/>
          </a:p>
        </p:txBody>
      </p:sp>
      <p:sp>
        <p:nvSpPr>
          <p:cNvPr id="13335" name="Line 21"/>
          <p:cNvSpPr>
            <a:spLocks noChangeShapeType="1"/>
          </p:cNvSpPr>
          <p:nvPr>
            <p:custDataLst>
              <p:tags r:id="rId19"/>
            </p:custDataLst>
          </p:nvPr>
        </p:nvSpPr>
        <p:spPr bwMode="auto">
          <a:xfrm flipV="1">
            <a:off x="6835588" y="5351929"/>
            <a:ext cx="665629" cy="369794"/>
          </a:xfrm>
          <a:prstGeom prst="line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fr-CA" sz="1941"/>
          </a:p>
        </p:txBody>
      </p:sp>
      <p:sp>
        <p:nvSpPr>
          <p:cNvPr id="13336" name="Line 22"/>
          <p:cNvSpPr>
            <a:spLocks noChangeShapeType="1"/>
          </p:cNvSpPr>
          <p:nvPr>
            <p:custDataLst>
              <p:tags r:id="rId20"/>
            </p:custDataLst>
          </p:nvPr>
        </p:nvSpPr>
        <p:spPr bwMode="auto">
          <a:xfrm>
            <a:off x="6835588" y="5795683"/>
            <a:ext cx="665629" cy="295835"/>
          </a:xfrm>
          <a:prstGeom prst="line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fr-CA" sz="1941"/>
          </a:p>
        </p:txBody>
      </p:sp>
      <p:sp>
        <p:nvSpPr>
          <p:cNvPr id="13337" name="Line 23"/>
          <p:cNvSpPr>
            <a:spLocks noChangeShapeType="1"/>
          </p:cNvSpPr>
          <p:nvPr>
            <p:custDataLst>
              <p:tags r:id="rId21"/>
            </p:custDataLst>
          </p:nvPr>
        </p:nvSpPr>
        <p:spPr bwMode="auto">
          <a:xfrm>
            <a:off x="6761630" y="4464424"/>
            <a:ext cx="665629" cy="221876"/>
          </a:xfrm>
          <a:prstGeom prst="line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fr-CA" sz="1941"/>
          </a:p>
        </p:txBody>
      </p:sp>
      <p:sp>
        <p:nvSpPr>
          <p:cNvPr id="25" name="Titre 1"/>
          <p:cNvSpPr txBox="1">
            <a:spLocks/>
          </p:cNvSpPr>
          <p:nvPr>
            <p:custDataLst>
              <p:tags r:id="rId22"/>
            </p:custDataLst>
          </p:nvPr>
        </p:nvSpPr>
        <p:spPr>
          <a:xfrm>
            <a:off x="2102224" y="367414"/>
            <a:ext cx="7987553" cy="405762"/>
          </a:xfrm>
          <a:prstGeom prst="rect">
            <a:avLst/>
          </a:prstGeom>
        </p:spPr>
        <p:txBody>
          <a:bodyPr vert="horz" lIns="88751" tIns="44375" rIns="88751" bIns="44375" rtlCol="0" anchor="ctr">
            <a:noAutofit/>
          </a:bodyPr>
          <a:lstStyle/>
          <a:p>
            <a:pPr algn="r" defTabSz="887553">
              <a:spcBef>
                <a:spcPct val="0"/>
              </a:spcBef>
              <a:defRPr/>
            </a:pPr>
            <a:r>
              <a:rPr lang="fr-CA" sz="3494" b="1" dirty="0">
                <a:latin typeface="+mj-lt"/>
                <a:ea typeface="+mj-ea"/>
                <a:cs typeface="+mj-cs"/>
              </a:rPr>
              <a:t>Fiche 8.5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/>
          <a:lstStyle/>
          <a:p>
            <a:r>
              <a:rPr lang="fr-CA"/>
              <a:t>(C) Préparé par Chan Sitha Méas, Marie-Eve Quenneville et Michel Vézina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33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16380435"/>
      </p:ext>
    </p:extLst>
  </p:cSld>
  <p:clrMapOvr>
    <a:masterClrMapping/>
  </p:clrMapOvr>
  <p:transition>
    <p:rand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Espace réservé du pied de page 3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>
          <a:xfrm>
            <a:off x="8018929" y="6165476"/>
            <a:ext cx="2070847" cy="443753"/>
          </a:xfrm>
          <a:noFill/>
        </p:spPr>
        <p:txBody>
          <a:bodyPr/>
          <a:lstStyle/>
          <a:p>
            <a:pPr algn="r"/>
            <a:r>
              <a:rPr lang="fr-CA"/>
              <a:t>(C) Préparé par Chan Sitha Méas, Marie-Eve Quenneville et Michel Vézina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34</a:t>
            </a:fld>
            <a:endParaRPr lang="fr-CA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77B8C74D-030A-4CDA-A842-335FF60AAB17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1425038" y="899562"/>
            <a:ext cx="8918369" cy="1303728"/>
            <a:chOff x="5954246" y="2251822"/>
            <a:chExt cx="4357407" cy="914158"/>
          </a:xfrm>
        </p:grpSpPr>
        <p:sp>
          <p:nvSpPr>
            <p:cNvPr id="44036" name="Rectangle 4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5954246" y="2251822"/>
              <a:ext cx="949138" cy="57934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lIns="89367" tIns="44684" rIns="89367" bIns="44684" anchor="ctr"/>
            <a:lstStyle/>
            <a:p>
              <a:pPr algn="ctr">
                <a:defRPr/>
              </a:pPr>
              <a:r>
                <a:rPr lang="fr-CA" sz="1941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Division</a:t>
              </a:r>
            </a:p>
            <a:p>
              <a:pPr algn="ctr">
                <a:defRPr/>
              </a:pPr>
              <a:r>
                <a:rPr lang="fr-CA" sz="1941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</a:t>
              </a:r>
            </a:p>
          </p:txBody>
        </p:sp>
        <p:sp>
          <p:nvSpPr>
            <p:cNvPr id="44037" name="Rectangle 5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7729257" y="2251822"/>
              <a:ext cx="949138" cy="57934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lIns="89367" tIns="44684" rIns="89367" bIns="44684" anchor="ctr"/>
            <a:lstStyle/>
            <a:p>
              <a:pPr algn="ctr">
                <a:defRPr/>
              </a:pPr>
              <a:r>
                <a:rPr lang="fr-CA" sz="194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Division</a:t>
              </a:r>
            </a:p>
            <a:p>
              <a:pPr algn="ctr">
                <a:defRPr/>
              </a:pPr>
              <a:r>
                <a:rPr lang="fr-CA" sz="194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B</a:t>
              </a:r>
            </a:p>
          </p:txBody>
        </p:sp>
        <p:sp>
          <p:nvSpPr>
            <p:cNvPr id="44038" name="Rectangle 6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9498106" y="2319618"/>
              <a:ext cx="813547" cy="38891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89367" tIns="44684" rIns="89367" bIns="44684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fr-CA" sz="194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Client</a:t>
              </a:r>
            </a:p>
          </p:txBody>
        </p:sp>
        <p:sp>
          <p:nvSpPr>
            <p:cNvPr id="2058" name="Line 7"/>
            <p:cNvSpPr>
              <a:spLocks noChangeShapeType="1"/>
            </p:cNvSpPr>
            <p:nvPr>
              <p:custDataLst>
                <p:tags r:id="rId7"/>
              </p:custDataLst>
            </p:nvPr>
          </p:nvSpPr>
          <p:spPr bwMode="auto">
            <a:xfrm>
              <a:off x="6909547" y="2541494"/>
              <a:ext cx="813547" cy="0"/>
            </a:xfrm>
            <a:prstGeom prst="line">
              <a:avLst/>
            </a:prstGeom>
            <a:ln>
              <a:headEnd type="none" w="sm" len="sm"/>
              <a:tailEnd type="stealth" w="med" len="lg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fr-CA" sz="1941"/>
            </a:p>
          </p:txBody>
        </p:sp>
        <p:sp>
          <p:nvSpPr>
            <p:cNvPr id="2059" name="Line 8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>
              <a:off x="8684559" y="2541494"/>
              <a:ext cx="813547" cy="0"/>
            </a:xfrm>
            <a:prstGeom prst="line">
              <a:avLst/>
            </a:prstGeom>
            <a:ln>
              <a:headEnd type="none" w="sm" len="sm"/>
              <a:tailEnd type="stealth" w="med" len="lg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fr-CA" sz="1941"/>
            </a:p>
          </p:txBody>
        </p:sp>
        <p:sp>
          <p:nvSpPr>
            <p:cNvPr id="44041" name="Rectangle 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7025932" y="2681647"/>
              <a:ext cx="574615" cy="32701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lIns="89367" tIns="44684" rIns="89367" bIns="44684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fr-CA" sz="1941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PCI</a:t>
              </a:r>
            </a:p>
          </p:txBody>
        </p:sp>
        <p:sp>
          <p:nvSpPr>
            <p:cNvPr id="44042" name="Rectangle 1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9498106" y="2839227"/>
              <a:ext cx="813547" cy="32675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lIns="89367" tIns="44684" rIns="89367" bIns="44684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fr-CA" sz="1941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PV:15$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38571699"/>
      </p:ext>
    </p:extLst>
  </p:cSld>
  <p:clrMapOvr>
    <a:masterClrMapping/>
  </p:clrMapOvr>
  <p:transition>
    <p:rand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Espace réservé du pied de page 3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>
          <a:xfrm>
            <a:off x="8018929" y="6165476"/>
            <a:ext cx="2070847" cy="443753"/>
          </a:xfrm>
          <a:noFill/>
        </p:spPr>
        <p:txBody>
          <a:bodyPr/>
          <a:lstStyle/>
          <a:p>
            <a:pPr algn="r"/>
            <a:r>
              <a:rPr lang="fr-CA"/>
              <a:t>(C) Préparé par Chan Sitha Méas, Marie-Eve Quenneville et Michel Vézina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35</a:t>
            </a:fld>
            <a:endParaRPr lang="fr-CA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77B8C74D-030A-4CDA-A842-335FF60AAB17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1425038" y="899562"/>
            <a:ext cx="8918369" cy="1303728"/>
            <a:chOff x="5954246" y="2251822"/>
            <a:chExt cx="4357407" cy="914158"/>
          </a:xfrm>
        </p:grpSpPr>
        <p:sp>
          <p:nvSpPr>
            <p:cNvPr id="44036" name="Rectangle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954246" y="2251822"/>
              <a:ext cx="949138" cy="57934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lIns="89367" tIns="44684" rIns="89367" bIns="44684" anchor="ctr"/>
            <a:lstStyle/>
            <a:p>
              <a:pPr algn="ctr">
                <a:defRPr/>
              </a:pPr>
              <a:r>
                <a:rPr lang="fr-CA" sz="1941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Division</a:t>
              </a:r>
            </a:p>
            <a:p>
              <a:pPr algn="ctr">
                <a:defRPr/>
              </a:pPr>
              <a:r>
                <a:rPr lang="fr-CA" sz="1941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</a:t>
              </a:r>
            </a:p>
          </p:txBody>
        </p:sp>
        <p:sp>
          <p:nvSpPr>
            <p:cNvPr id="44037" name="Rectangle 5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7729257" y="2251822"/>
              <a:ext cx="949138" cy="57934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lIns="89367" tIns="44684" rIns="89367" bIns="44684" anchor="ctr"/>
            <a:lstStyle/>
            <a:p>
              <a:pPr algn="ctr">
                <a:defRPr/>
              </a:pPr>
              <a:r>
                <a:rPr lang="fr-CA" sz="194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Division</a:t>
              </a:r>
            </a:p>
            <a:p>
              <a:pPr algn="ctr">
                <a:defRPr/>
              </a:pPr>
              <a:r>
                <a:rPr lang="fr-CA" sz="194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B</a:t>
              </a:r>
            </a:p>
          </p:txBody>
        </p:sp>
        <p:sp>
          <p:nvSpPr>
            <p:cNvPr id="44038" name="Rectangle 6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9498106" y="2319618"/>
              <a:ext cx="813547" cy="38891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89367" tIns="44684" rIns="89367" bIns="44684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fr-CA" sz="194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Client</a:t>
              </a:r>
            </a:p>
          </p:txBody>
        </p:sp>
        <p:sp>
          <p:nvSpPr>
            <p:cNvPr id="2058" name="Line 7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>
              <a:off x="6909547" y="2541494"/>
              <a:ext cx="813547" cy="0"/>
            </a:xfrm>
            <a:prstGeom prst="line">
              <a:avLst/>
            </a:prstGeom>
            <a:ln>
              <a:headEnd type="none" w="sm" len="sm"/>
              <a:tailEnd type="stealth" w="med" len="lg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fr-CA" sz="1941"/>
            </a:p>
          </p:txBody>
        </p:sp>
        <p:sp>
          <p:nvSpPr>
            <p:cNvPr id="2059" name="Line 8"/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>
              <a:off x="8684559" y="2541494"/>
              <a:ext cx="813547" cy="0"/>
            </a:xfrm>
            <a:prstGeom prst="line">
              <a:avLst/>
            </a:prstGeom>
            <a:ln>
              <a:headEnd type="none" w="sm" len="sm"/>
              <a:tailEnd type="stealth" w="med" len="lg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fr-CA" sz="1941"/>
            </a:p>
          </p:txBody>
        </p:sp>
        <p:sp>
          <p:nvSpPr>
            <p:cNvPr id="44041" name="Rectangle 9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025932" y="2681647"/>
              <a:ext cx="574615" cy="32701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lIns="89367" tIns="44684" rIns="89367" bIns="44684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fr-CA" sz="1941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PCI</a:t>
              </a:r>
            </a:p>
          </p:txBody>
        </p:sp>
        <p:sp>
          <p:nvSpPr>
            <p:cNvPr id="44042" name="Rectangle 10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9498106" y="2839227"/>
              <a:ext cx="813547" cy="32675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lIns="89367" tIns="44684" rIns="89367" bIns="44684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fr-CA" sz="1941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PV:15$</a:t>
              </a:r>
            </a:p>
          </p:txBody>
        </p:sp>
      </p:grpSp>
      <p:graphicFrame>
        <p:nvGraphicFramePr>
          <p:cNvPr id="22" name="Tableau 21">
            <a:extLst>
              <a:ext uri="{FF2B5EF4-FFF2-40B4-BE49-F238E27FC236}">
                <a16:creationId xmlns:a16="http://schemas.microsoft.com/office/drawing/2014/main" id="{C93C1BC7-C1CD-4669-B434-F5F281566D7E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710023612"/>
              </p:ext>
            </p:extLst>
          </p:nvPr>
        </p:nvGraphicFramePr>
        <p:xfrm>
          <a:off x="1087993" y="2117436"/>
          <a:ext cx="1778000" cy="1625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1450947793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1327317476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l" fontAlgn="b"/>
                      <a:r>
                        <a:rPr lang="fr-CA" sz="2000" u="none" strike="noStrike">
                          <a:effectLst/>
                        </a:rPr>
                        <a:t>Div.A</a:t>
                      </a:r>
                      <a:endParaRPr lang="fr-CA" sz="2000" b="1" i="0" u="none" strike="noStrike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2000" u="none" strike="noStrike" dirty="0">
                          <a:effectLst/>
                        </a:rPr>
                        <a:t>Budget</a:t>
                      </a:r>
                      <a:endParaRPr lang="fr-CA" sz="2000" b="0" i="0" u="none" strike="noStrike" dirty="0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60653139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 fontAlgn="b"/>
                      <a:r>
                        <a:rPr lang="fr-CA" sz="2000" u="none" strike="noStrike">
                          <a:effectLst/>
                        </a:rPr>
                        <a:t>C.V.</a:t>
                      </a:r>
                      <a:endParaRPr lang="fr-CA" sz="2000" b="0" i="0" u="none" strike="noStrike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2000" u="none" strike="noStrike">
                          <a:effectLst/>
                        </a:rPr>
                        <a:t>8 $</a:t>
                      </a:r>
                      <a:endParaRPr lang="fr-CA" sz="2000" b="0" i="0" u="none" strike="noStrike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54247865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 fontAlgn="b"/>
                      <a:r>
                        <a:rPr lang="fr-CA" sz="2000" u="none" strike="noStrike">
                          <a:effectLst/>
                        </a:rPr>
                        <a:t>F.F.</a:t>
                      </a:r>
                      <a:endParaRPr lang="fr-CA" sz="2000" b="0" i="0" u="none" strike="noStrike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2000" u="none" strike="noStrike" dirty="0">
                          <a:effectLst/>
                        </a:rPr>
                        <a:t>2 $</a:t>
                      </a:r>
                      <a:endParaRPr lang="fr-CA" sz="2000" b="0" i="0" u="none" strike="noStrike" dirty="0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93971399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 fontAlgn="b"/>
                      <a:r>
                        <a:rPr lang="fr-CA" sz="2000" u="none" strike="noStrike">
                          <a:effectLst/>
                        </a:rPr>
                        <a:t>Bén.</a:t>
                      </a:r>
                      <a:endParaRPr lang="fr-CA" sz="2000" b="0" i="0" u="none" strike="noStrike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2000" u="none" strike="noStrike" dirty="0">
                          <a:effectLst/>
                        </a:rPr>
                        <a:t>3 $</a:t>
                      </a:r>
                      <a:endParaRPr lang="fr-CA" sz="2000" b="0" i="0" u="none" strike="noStrike" dirty="0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766461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"/>
                      <a:r>
                        <a:rPr lang="fr-CA" sz="2000" u="none" strike="noStrike" dirty="0">
                          <a:effectLst/>
                        </a:rPr>
                        <a:t>PCI</a:t>
                      </a:r>
                      <a:endParaRPr lang="fr-CA" sz="2000" b="0" i="0" u="none" strike="noStrike" dirty="0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2000" u="none" strike="noStrike" dirty="0">
                          <a:effectLst/>
                        </a:rPr>
                        <a:t>13 $</a:t>
                      </a:r>
                      <a:endParaRPr lang="fr-CA" sz="2000" b="0" i="0" u="none" strike="noStrike" dirty="0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4816066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7552374"/>
      </p:ext>
    </p:extLst>
  </p:cSld>
  <p:clrMapOvr>
    <a:masterClrMapping/>
  </p:clrMapOvr>
  <p:transition>
    <p:rand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Espace réservé du pied de page 3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>
          <a:xfrm>
            <a:off x="8018929" y="6165476"/>
            <a:ext cx="2070847" cy="443753"/>
          </a:xfrm>
          <a:noFill/>
        </p:spPr>
        <p:txBody>
          <a:bodyPr/>
          <a:lstStyle/>
          <a:p>
            <a:pPr algn="r"/>
            <a:r>
              <a:rPr lang="fr-CA"/>
              <a:t>(C) Préparé par Chan Sitha Méas, Marie-Eve Quenneville et Michel Vézina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36</a:t>
            </a:fld>
            <a:endParaRPr lang="fr-CA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77B8C74D-030A-4CDA-A842-335FF60AAB17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1425038" y="899562"/>
            <a:ext cx="8918369" cy="1303728"/>
            <a:chOff x="5954246" y="2251822"/>
            <a:chExt cx="4357407" cy="914158"/>
          </a:xfrm>
        </p:grpSpPr>
        <p:sp>
          <p:nvSpPr>
            <p:cNvPr id="44036" name="Rectangle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954246" y="2251822"/>
              <a:ext cx="949138" cy="57934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lIns="89367" tIns="44684" rIns="89367" bIns="44684" anchor="ctr"/>
            <a:lstStyle/>
            <a:p>
              <a:pPr algn="ctr">
                <a:defRPr/>
              </a:pPr>
              <a:r>
                <a:rPr lang="fr-CA" sz="1941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Division</a:t>
              </a:r>
            </a:p>
            <a:p>
              <a:pPr algn="ctr">
                <a:defRPr/>
              </a:pPr>
              <a:r>
                <a:rPr lang="fr-CA" sz="1941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</a:t>
              </a:r>
            </a:p>
          </p:txBody>
        </p:sp>
        <p:sp>
          <p:nvSpPr>
            <p:cNvPr id="44037" name="Rectangle 5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7729257" y="2251822"/>
              <a:ext cx="949138" cy="57934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lIns="89367" tIns="44684" rIns="89367" bIns="44684" anchor="ctr"/>
            <a:lstStyle/>
            <a:p>
              <a:pPr algn="ctr">
                <a:defRPr/>
              </a:pPr>
              <a:r>
                <a:rPr lang="fr-CA" sz="194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Division</a:t>
              </a:r>
            </a:p>
            <a:p>
              <a:pPr algn="ctr">
                <a:defRPr/>
              </a:pPr>
              <a:r>
                <a:rPr lang="fr-CA" sz="194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B</a:t>
              </a:r>
            </a:p>
          </p:txBody>
        </p:sp>
        <p:sp>
          <p:nvSpPr>
            <p:cNvPr id="44038" name="Rectangle 6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9498106" y="2319618"/>
              <a:ext cx="813547" cy="38891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89367" tIns="44684" rIns="89367" bIns="44684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fr-CA" sz="194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Client</a:t>
              </a:r>
            </a:p>
          </p:txBody>
        </p:sp>
        <p:sp>
          <p:nvSpPr>
            <p:cNvPr id="2058" name="Line 7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>
              <a:off x="6909547" y="2541494"/>
              <a:ext cx="813547" cy="0"/>
            </a:xfrm>
            <a:prstGeom prst="line">
              <a:avLst/>
            </a:prstGeom>
            <a:ln>
              <a:headEnd type="none" w="sm" len="sm"/>
              <a:tailEnd type="stealth" w="med" len="lg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fr-CA" sz="1941"/>
            </a:p>
          </p:txBody>
        </p:sp>
        <p:sp>
          <p:nvSpPr>
            <p:cNvPr id="2059" name="Line 8"/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>
              <a:off x="8684559" y="2541494"/>
              <a:ext cx="813547" cy="0"/>
            </a:xfrm>
            <a:prstGeom prst="line">
              <a:avLst/>
            </a:prstGeom>
            <a:ln>
              <a:headEnd type="none" w="sm" len="sm"/>
              <a:tailEnd type="stealth" w="med" len="lg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fr-CA" sz="1941"/>
            </a:p>
          </p:txBody>
        </p:sp>
        <p:sp>
          <p:nvSpPr>
            <p:cNvPr id="44041" name="Rectangle 9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025932" y="2681647"/>
              <a:ext cx="574615" cy="32701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lIns="89367" tIns="44684" rIns="89367" bIns="44684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fr-CA" sz="1941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PCI</a:t>
              </a:r>
            </a:p>
          </p:txBody>
        </p:sp>
        <p:sp>
          <p:nvSpPr>
            <p:cNvPr id="44042" name="Rectangle 10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9498106" y="2839227"/>
              <a:ext cx="813547" cy="32675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lIns="89367" tIns="44684" rIns="89367" bIns="44684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fr-CA" sz="1941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PV:15$</a:t>
              </a:r>
            </a:p>
          </p:txBody>
        </p:sp>
      </p:grpSp>
      <p:graphicFrame>
        <p:nvGraphicFramePr>
          <p:cNvPr id="22" name="Tableau 21">
            <a:extLst>
              <a:ext uri="{FF2B5EF4-FFF2-40B4-BE49-F238E27FC236}">
                <a16:creationId xmlns:a16="http://schemas.microsoft.com/office/drawing/2014/main" id="{C93C1BC7-C1CD-4669-B434-F5F281566D7E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1087993" y="2117436"/>
          <a:ext cx="2425700" cy="1625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1450947793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1327317476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1918791295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l" fontAlgn="b"/>
                      <a:r>
                        <a:rPr lang="fr-CA" sz="2000" u="none" strike="noStrike">
                          <a:effectLst/>
                        </a:rPr>
                        <a:t>Div.A</a:t>
                      </a:r>
                      <a:endParaRPr lang="fr-CA" sz="2000" b="1" i="0" u="none" strike="noStrike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2000" u="none" strike="noStrike" dirty="0">
                          <a:effectLst/>
                        </a:rPr>
                        <a:t>Budget</a:t>
                      </a:r>
                      <a:endParaRPr lang="fr-CA" sz="2000" b="0" i="0" u="none" strike="noStrike" dirty="0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2000" u="none" strike="noStrike">
                          <a:effectLst/>
                        </a:rPr>
                        <a:t>Réel</a:t>
                      </a:r>
                      <a:endParaRPr lang="fr-CA" sz="2000" b="0" i="0" u="none" strike="noStrike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60653139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 fontAlgn="b"/>
                      <a:r>
                        <a:rPr lang="fr-CA" sz="2000" u="none" strike="noStrike">
                          <a:effectLst/>
                        </a:rPr>
                        <a:t>C.V.</a:t>
                      </a:r>
                      <a:endParaRPr lang="fr-CA" sz="2000" b="0" i="0" u="none" strike="noStrike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2000" u="none" strike="noStrike">
                          <a:effectLst/>
                        </a:rPr>
                        <a:t>8 $</a:t>
                      </a:r>
                      <a:endParaRPr lang="fr-CA" sz="2000" b="0" i="0" u="none" strike="noStrike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2000" u="none" strike="noStrike">
                          <a:effectLst/>
                        </a:rPr>
                        <a:t>8 $</a:t>
                      </a:r>
                      <a:endParaRPr lang="fr-CA" sz="2000" b="0" i="0" u="none" strike="noStrike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54247865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 fontAlgn="b"/>
                      <a:r>
                        <a:rPr lang="fr-CA" sz="2000" u="none" strike="noStrike">
                          <a:effectLst/>
                        </a:rPr>
                        <a:t>F.F.</a:t>
                      </a:r>
                      <a:endParaRPr lang="fr-CA" sz="2000" b="0" i="0" u="none" strike="noStrike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2000" u="none" strike="noStrike" dirty="0">
                          <a:effectLst/>
                        </a:rPr>
                        <a:t>2 $</a:t>
                      </a:r>
                      <a:endParaRPr lang="fr-CA" sz="2000" b="0" i="0" u="none" strike="noStrike" dirty="0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2000" u="none" strike="noStrike">
                          <a:effectLst/>
                        </a:rPr>
                        <a:t>4 $</a:t>
                      </a:r>
                      <a:endParaRPr lang="fr-CA" sz="2000" b="0" i="0" u="none" strike="noStrike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93971399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 fontAlgn="b"/>
                      <a:r>
                        <a:rPr lang="fr-CA" sz="2000" u="none" strike="noStrike">
                          <a:effectLst/>
                        </a:rPr>
                        <a:t>Bén.</a:t>
                      </a:r>
                      <a:endParaRPr lang="fr-CA" sz="2000" b="0" i="0" u="none" strike="noStrike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2000" u="none" strike="noStrike" dirty="0">
                          <a:effectLst/>
                        </a:rPr>
                        <a:t>3 $</a:t>
                      </a:r>
                      <a:endParaRPr lang="fr-CA" sz="2000" b="0" i="0" u="none" strike="noStrike" dirty="0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2000" u="none" strike="noStrike">
                          <a:effectLst/>
                        </a:rPr>
                        <a:t>3 $</a:t>
                      </a:r>
                      <a:endParaRPr lang="fr-CA" sz="2000" b="0" i="0" u="none" strike="noStrike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766461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"/>
                      <a:r>
                        <a:rPr lang="fr-CA" sz="2000" u="none" strike="noStrike" dirty="0">
                          <a:effectLst/>
                        </a:rPr>
                        <a:t>PCI</a:t>
                      </a:r>
                      <a:endParaRPr lang="fr-CA" sz="2000" b="0" i="0" u="none" strike="noStrike" dirty="0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2000" u="none" strike="noStrike" dirty="0">
                          <a:effectLst/>
                        </a:rPr>
                        <a:t>13 $</a:t>
                      </a:r>
                      <a:endParaRPr lang="fr-CA" sz="2000" b="0" i="0" u="none" strike="noStrike" dirty="0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2000" u="none" strike="noStrike" dirty="0">
                          <a:effectLst/>
                        </a:rPr>
                        <a:t>15 $</a:t>
                      </a:r>
                      <a:endParaRPr lang="fr-CA" sz="2000" b="0" i="0" u="none" strike="noStrike" dirty="0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4816066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1878461"/>
      </p:ext>
    </p:extLst>
  </p:cSld>
  <p:clrMapOvr>
    <a:masterClrMapping/>
  </p:clrMapOvr>
  <p:transition>
    <p:rand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Espace réservé du pied de page 3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>
          <a:xfrm>
            <a:off x="8018929" y="6165476"/>
            <a:ext cx="2070847" cy="443753"/>
          </a:xfrm>
          <a:noFill/>
        </p:spPr>
        <p:txBody>
          <a:bodyPr/>
          <a:lstStyle/>
          <a:p>
            <a:pPr algn="r"/>
            <a:r>
              <a:rPr lang="fr-CA"/>
              <a:t>(C) Préparé par Chan Sitha Méas, Marie-Eve Quenneville et Michel Vézina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37</a:t>
            </a:fld>
            <a:endParaRPr lang="fr-CA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77B8C74D-030A-4CDA-A842-335FF60AAB17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1425038" y="899562"/>
            <a:ext cx="8918369" cy="1303728"/>
            <a:chOff x="5954246" y="2251822"/>
            <a:chExt cx="4357407" cy="914158"/>
          </a:xfrm>
        </p:grpSpPr>
        <p:sp>
          <p:nvSpPr>
            <p:cNvPr id="44036" name="Rectangle 4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5954246" y="2251822"/>
              <a:ext cx="949138" cy="57934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lIns="89367" tIns="44684" rIns="89367" bIns="44684" anchor="ctr"/>
            <a:lstStyle/>
            <a:p>
              <a:pPr algn="ctr">
                <a:defRPr/>
              </a:pPr>
              <a:r>
                <a:rPr lang="fr-CA" sz="1941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Division</a:t>
              </a:r>
            </a:p>
            <a:p>
              <a:pPr algn="ctr">
                <a:defRPr/>
              </a:pPr>
              <a:r>
                <a:rPr lang="fr-CA" sz="1941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</a:t>
              </a:r>
            </a:p>
          </p:txBody>
        </p:sp>
        <p:sp>
          <p:nvSpPr>
            <p:cNvPr id="44037" name="Rectangle 5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7729257" y="2251822"/>
              <a:ext cx="949138" cy="57934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lIns="89367" tIns="44684" rIns="89367" bIns="44684" anchor="ctr"/>
            <a:lstStyle/>
            <a:p>
              <a:pPr algn="ctr">
                <a:defRPr/>
              </a:pPr>
              <a:r>
                <a:rPr lang="fr-CA" sz="194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Division</a:t>
              </a:r>
            </a:p>
            <a:p>
              <a:pPr algn="ctr">
                <a:defRPr/>
              </a:pPr>
              <a:r>
                <a:rPr lang="fr-CA" sz="194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B</a:t>
              </a:r>
            </a:p>
          </p:txBody>
        </p:sp>
        <p:sp>
          <p:nvSpPr>
            <p:cNvPr id="44038" name="Rectangle 6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9498106" y="2319618"/>
              <a:ext cx="813547" cy="38891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89367" tIns="44684" rIns="89367" bIns="44684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fr-CA" sz="194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Client</a:t>
              </a:r>
            </a:p>
          </p:txBody>
        </p:sp>
        <p:sp>
          <p:nvSpPr>
            <p:cNvPr id="2058" name="Line 7"/>
            <p:cNvSpPr>
              <a:spLocks noChangeShapeType="1"/>
            </p:cNvSpPr>
            <p:nvPr>
              <p:custDataLst>
                <p:tags r:id="rId13"/>
              </p:custDataLst>
            </p:nvPr>
          </p:nvSpPr>
          <p:spPr bwMode="auto">
            <a:xfrm>
              <a:off x="6909547" y="2541494"/>
              <a:ext cx="813547" cy="0"/>
            </a:xfrm>
            <a:prstGeom prst="line">
              <a:avLst/>
            </a:prstGeom>
            <a:ln>
              <a:headEnd type="none" w="sm" len="sm"/>
              <a:tailEnd type="stealth" w="med" len="lg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fr-CA" sz="1941"/>
            </a:p>
          </p:txBody>
        </p:sp>
        <p:sp>
          <p:nvSpPr>
            <p:cNvPr id="2059" name="Line 8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>
              <a:off x="8684559" y="2541494"/>
              <a:ext cx="813547" cy="0"/>
            </a:xfrm>
            <a:prstGeom prst="line">
              <a:avLst/>
            </a:prstGeom>
            <a:ln>
              <a:headEnd type="none" w="sm" len="sm"/>
              <a:tailEnd type="stealth" w="med" len="lg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fr-CA" sz="1941"/>
            </a:p>
          </p:txBody>
        </p:sp>
        <p:sp>
          <p:nvSpPr>
            <p:cNvPr id="44041" name="Rectangle 9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7025932" y="2681647"/>
              <a:ext cx="574615" cy="32701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lIns="89367" tIns="44684" rIns="89367" bIns="44684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fr-CA" sz="1941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PCI</a:t>
              </a:r>
            </a:p>
          </p:txBody>
        </p:sp>
        <p:sp>
          <p:nvSpPr>
            <p:cNvPr id="44042" name="Rectangle 10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9498106" y="2839227"/>
              <a:ext cx="813547" cy="32675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lIns="89367" tIns="44684" rIns="89367" bIns="44684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fr-CA" sz="1941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PV:15$</a:t>
              </a:r>
            </a:p>
          </p:txBody>
        </p:sp>
      </p:grpSp>
      <p:graphicFrame>
        <p:nvGraphicFramePr>
          <p:cNvPr id="22" name="Tableau 21">
            <a:extLst>
              <a:ext uri="{FF2B5EF4-FFF2-40B4-BE49-F238E27FC236}">
                <a16:creationId xmlns:a16="http://schemas.microsoft.com/office/drawing/2014/main" id="{C93C1BC7-C1CD-4669-B434-F5F281566D7E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1087993" y="2117436"/>
          <a:ext cx="2425700" cy="1625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1450947793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1327317476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1918791295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l" fontAlgn="b"/>
                      <a:r>
                        <a:rPr lang="fr-CA" sz="2000" u="none" strike="noStrike">
                          <a:effectLst/>
                        </a:rPr>
                        <a:t>Div.A</a:t>
                      </a:r>
                      <a:endParaRPr lang="fr-CA" sz="2000" b="1" i="0" u="none" strike="noStrike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2000" u="none" strike="noStrike">
                          <a:effectLst/>
                        </a:rPr>
                        <a:t>Budget</a:t>
                      </a:r>
                      <a:endParaRPr lang="fr-CA" sz="2000" b="0" i="0" u="none" strike="noStrike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2000" u="none" strike="noStrike" dirty="0">
                          <a:effectLst/>
                        </a:rPr>
                        <a:t>Réel</a:t>
                      </a:r>
                      <a:endParaRPr lang="fr-CA" sz="2000" b="0" i="0" u="none" strike="noStrike" dirty="0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60653139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 fontAlgn="b"/>
                      <a:r>
                        <a:rPr lang="fr-CA" sz="2000" u="none" strike="noStrike">
                          <a:effectLst/>
                        </a:rPr>
                        <a:t>C.V.</a:t>
                      </a:r>
                      <a:endParaRPr lang="fr-CA" sz="2000" b="0" i="0" u="none" strike="noStrike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2000" u="none" strike="noStrike">
                          <a:effectLst/>
                        </a:rPr>
                        <a:t>8 $</a:t>
                      </a:r>
                      <a:endParaRPr lang="fr-CA" sz="2000" b="0" i="0" u="none" strike="noStrike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2000" u="none" strike="noStrike" dirty="0">
                          <a:effectLst/>
                        </a:rPr>
                        <a:t>8 $</a:t>
                      </a:r>
                      <a:endParaRPr lang="fr-CA" sz="2000" b="0" i="0" u="none" strike="noStrike" dirty="0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54247865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 fontAlgn="b"/>
                      <a:r>
                        <a:rPr lang="fr-CA" sz="2000" u="none" strike="noStrike">
                          <a:effectLst/>
                        </a:rPr>
                        <a:t>F.F.</a:t>
                      </a:r>
                      <a:endParaRPr lang="fr-CA" sz="2000" b="0" i="0" u="none" strike="noStrike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2000" u="none" strike="noStrike" dirty="0">
                          <a:effectLst/>
                        </a:rPr>
                        <a:t>2 $</a:t>
                      </a:r>
                      <a:endParaRPr lang="fr-CA" sz="2000" b="0" i="0" u="none" strike="noStrike" dirty="0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2000" u="none" strike="noStrike" dirty="0">
                          <a:effectLst/>
                        </a:rPr>
                        <a:t>4 $</a:t>
                      </a:r>
                      <a:endParaRPr lang="fr-CA" sz="2000" b="0" i="0" u="none" strike="noStrike" dirty="0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93971399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 fontAlgn="b"/>
                      <a:r>
                        <a:rPr lang="fr-CA" sz="2000" u="none" strike="noStrike">
                          <a:effectLst/>
                        </a:rPr>
                        <a:t>Bén.</a:t>
                      </a:r>
                      <a:endParaRPr lang="fr-CA" sz="2000" b="0" i="0" u="none" strike="noStrike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2000" u="none" strike="noStrike" dirty="0">
                          <a:effectLst/>
                        </a:rPr>
                        <a:t>3 $</a:t>
                      </a:r>
                      <a:endParaRPr lang="fr-CA" sz="2000" b="0" i="0" u="none" strike="noStrike" dirty="0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2000" u="none" strike="noStrike" dirty="0">
                          <a:effectLst/>
                        </a:rPr>
                        <a:t>3 $</a:t>
                      </a:r>
                      <a:endParaRPr lang="fr-CA" sz="2000" b="0" i="0" u="none" strike="noStrike" dirty="0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766461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"/>
                      <a:r>
                        <a:rPr lang="fr-CA" sz="2000" u="none" strike="noStrike" dirty="0">
                          <a:effectLst/>
                        </a:rPr>
                        <a:t>PCI</a:t>
                      </a:r>
                      <a:endParaRPr lang="fr-CA" sz="2000" b="0" i="0" u="none" strike="noStrike" dirty="0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2000" u="none" strike="noStrike" dirty="0">
                          <a:effectLst/>
                        </a:rPr>
                        <a:t>13 $</a:t>
                      </a:r>
                      <a:endParaRPr lang="fr-CA" sz="2000" b="0" i="0" u="none" strike="noStrike" dirty="0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2000" u="none" strike="noStrike" dirty="0">
                          <a:effectLst/>
                        </a:rPr>
                        <a:t>15 $</a:t>
                      </a:r>
                      <a:endParaRPr lang="fr-CA" sz="2000" b="0" i="0" u="none" strike="noStrike" dirty="0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481606656"/>
                  </a:ext>
                </a:extLst>
              </a:tr>
            </a:tbl>
          </a:graphicData>
        </a:graphic>
      </p:graphicFrame>
      <p:grpSp>
        <p:nvGrpSpPr>
          <p:cNvPr id="25" name="Groupe 24">
            <a:extLst>
              <a:ext uri="{FF2B5EF4-FFF2-40B4-BE49-F238E27FC236}">
                <a16:creationId xmlns:a16="http://schemas.microsoft.com/office/drawing/2014/main" id="{1AE28DC0-A8A0-464D-B555-BF6DF08A61AA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3824146" y="3227388"/>
            <a:ext cx="6707329" cy="2439987"/>
            <a:chOff x="2552140" y="3607872"/>
            <a:chExt cx="6707329" cy="2439987"/>
          </a:xfrm>
        </p:grpSpPr>
        <p:graphicFrame>
          <p:nvGraphicFramePr>
            <p:cNvPr id="26" name="Object 3">
              <a:extLst>
                <a:ext uri="{FF2B5EF4-FFF2-40B4-BE49-F238E27FC236}">
                  <a16:creationId xmlns:a16="http://schemas.microsoft.com/office/drawing/2014/main" id="{FEDBEBC9-C44A-444E-8961-8DBCEEF31E6D}"/>
                </a:ext>
              </a:extLst>
            </p:cNvPr>
            <p:cNvGraphicFramePr>
              <a:graphicFrameLocks/>
            </p:cNvGraphicFramePr>
            <p:nvPr>
              <p:custDataLst>
                <p:tags r:id="rId6"/>
              </p:custDataLst>
              <p:extLst>
                <p:ext uri="{D42A27DB-BD31-4B8C-83A1-F6EECF244321}">
                  <p14:modId xmlns:p14="http://schemas.microsoft.com/office/powerpoint/2010/main" val="3763906818"/>
                </p:ext>
              </p:extLst>
            </p:nvPr>
          </p:nvGraphicFramePr>
          <p:xfrm>
            <a:off x="5554244" y="3607872"/>
            <a:ext cx="3705225" cy="24399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Worksheet" r:id="rId19" imgW="3962608" imgH="2609781" progId="Excel.Sheet.8">
                    <p:embed/>
                  </p:oleObj>
                </mc:Choice>
                <mc:Fallback>
                  <p:oleObj name="Worksheet" r:id="rId19" imgW="3962608" imgH="2609781" progId="Excel.Sheet.8">
                    <p:embed/>
                    <p:pic>
                      <p:nvPicPr>
                        <p:cNvPr id="26" name="Object 3">
                          <a:extLst>
                            <a:ext uri="{FF2B5EF4-FFF2-40B4-BE49-F238E27FC236}">
                              <a16:creationId xmlns:a16="http://schemas.microsoft.com/office/drawing/2014/main" id="{FEDBEBC9-C44A-444E-8961-8DBCEEF31E6D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54244" y="3607872"/>
                          <a:ext cx="3705225" cy="24399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Rectangle 12">
              <a:extLst>
                <a:ext uri="{FF2B5EF4-FFF2-40B4-BE49-F238E27FC236}">
                  <a16:creationId xmlns:a16="http://schemas.microsoft.com/office/drawing/2014/main" id="{04CFBA30-49BA-47A7-9782-AF058BF1AB94}"/>
                </a:ext>
              </a:extLst>
            </p:cNvPr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552140" y="4026834"/>
              <a:ext cx="2058521" cy="80122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89367" tIns="44684" rIns="89367" bIns="44684" anchor="ctr"/>
            <a:lstStyle/>
            <a:p>
              <a:r>
                <a:rPr lang="fr-CA" sz="1941" dirty="0"/>
                <a:t>PCI = Coût</a:t>
              </a:r>
            </a:p>
            <a:p>
              <a:r>
                <a:rPr lang="fr-CA" sz="1941" dirty="0"/>
                <a:t>          Budgétisé</a:t>
              </a:r>
            </a:p>
          </p:txBody>
        </p:sp>
        <p:sp>
          <p:nvSpPr>
            <p:cNvPr id="28" name="Line 13">
              <a:extLst>
                <a:ext uri="{FF2B5EF4-FFF2-40B4-BE49-F238E27FC236}">
                  <a16:creationId xmlns:a16="http://schemas.microsoft.com/office/drawing/2014/main" id="{93F3ECC8-12E4-4CF1-860E-A4EC29965B3C}"/>
                </a:ext>
              </a:extLst>
            </p:cNvPr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>
              <a:off x="4616824" y="4316506"/>
              <a:ext cx="813547" cy="0"/>
            </a:xfrm>
            <a:prstGeom prst="line">
              <a:avLst/>
            </a:prstGeom>
            <a:ln>
              <a:headEnd type="none" w="sm" len="sm"/>
              <a:tailEnd type="stealth" w="med" len="lg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fr-CA" sz="1941"/>
            </a:p>
          </p:txBody>
        </p:sp>
        <p:sp>
          <p:nvSpPr>
            <p:cNvPr id="29" name="Rectangle 14">
              <a:extLst>
                <a:ext uri="{FF2B5EF4-FFF2-40B4-BE49-F238E27FC236}">
                  <a16:creationId xmlns:a16="http://schemas.microsoft.com/office/drawing/2014/main" id="{391785AD-2ED6-4534-83C9-1C61CA34B860}"/>
                </a:ext>
              </a:extLst>
            </p:cNvPr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5507895" y="3817822"/>
              <a:ext cx="3241862" cy="1023097"/>
            </a:xfrm>
            <a:prstGeom prst="rect">
              <a:avLst/>
            </a:prstGeom>
            <a:noFill/>
            <a:ln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fr-CA" sz="1941"/>
            </a:p>
          </p:txBody>
        </p:sp>
      </p:grpSp>
    </p:spTree>
    <p:extLst>
      <p:ext uri="{BB962C8B-B14F-4D97-AF65-F5344CB8AC3E}">
        <p14:creationId xmlns:p14="http://schemas.microsoft.com/office/powerpoint/2010/main" val="1246517701"/>
      </p:ext>
    </p:extLst>
  </p:cSld>
  <p:clrMapOvr>
    <a:masterClrMapping/>
  </p:clrMapOvr>
  <p:transition>
    <p:rand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Espace réservé du pied de page 3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>
          <a:xfrm>
            <a:off x="8018929" y="6165476"/>
            <a:ext cx="2070847" cy="443753"/>
          </a:xfrm>
          <a:noFill/>
        </p:spPr>
        <p:txBody>
          <a:bodyPr/>
          <a:lstStyle/>
          <a:p>
            <a:pPr algn="r"/>
            <a:r>
              <a:rPr lang="fr-CA"/>
              <a:t>(C) Préparé par Chan Sitha Méas, Marie-Eve Quenneville et Michel Vézina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38</a:t>
            </a:fld>
            <a:endParaRPr lang="fr-CA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77B8C74D-030A-4CDA-A842-335FF60AAB17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1425038" y="899562"/>
            <a:ext cx="8918369" cy="1303728"/>
            <a:chOff x="5954246" y="2251822"/>
            <a:chExt cx="4357407" cy="914158"/>
          </a:xfrm>
        </p:grpSpPr>
        <p:sp>
          <p:nvSpPr>
            <p:cNvPr id="44036" name="Rectangle 4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5954246" y="2251822"/>
              <a:ext cx="949138" cy="57934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lIns="89367" tIns="44684" rIns="89367" bIns="44684" anchor="ctr"/>
            <a:lstStyle/>
            <a:p>
              <a:pPr algn="ctr">
                <a:defRPr/>
              </a:pPr>
              <a:r>
                <a:rPr lang="fr-CA" sz="1941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Division</a:t>
              </a:r>
            </a:p>
            <a:p>
              <a:pPr algn="ctr">
                <a:defRPr/>
              </a:pPr>
              <a:r>
                <a:rPr lang="fr-CA" sz="1941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</a:t>
              </a:r>
            </a:p>
          </p:txBody>
        </p:sp>
        <p:sp>
          <p:nvSpPr>
            <p:cNvPr id="44037" name="Rectangle 5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7729257" y="2251822"/>
              <a:ext cx="949138" cy="57934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lIns="89367" tIns="44684" rIns="89367" bIns="44684" anchor="ctr"/>
            <a:lstStyle/>
            <a:p>
              <a:pPr algn="ctr">
                <a:defRPr/>
              </a:pPr>
              <a:r>
                <a:rPr lang="fr-CA" sz="194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Division</a:t>
              </a:r>
            </a:p>
            <a:p>
              <a:pPr algn="ctr">
                <a:defRPr/>
              </a:pPr>
              <a:r>
                <a:rPr lang="fr-CA" sz="194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B</a:t>
              </a:r>
            </a:p>
          </p:txBody>
        </p:sp>
        <p:sp>
          <p:nvSpPr>
            <p:cNvPr id="44038" name="Rectangle 6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9498106" y="2319618"/>
              <a:ext cx="813547" cy="38891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89367" tIns="44684" rIns="89367" bIns="44684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fr-CA" sz="194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Client</a:t>
              </a:r>
            </a:p>
          </p:txBody>
        </p:sp>
        <p:sp>
          <p:nvSpPr>
            <p:cNvPr id="2058" name="Line 7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>
              <a:off x="6909547" y="2541494"/>
              <a:ext cx="813547" cy="0"/>
            </a:xfrm>
            <a:prstGeom prst="line">
              <a:avLst/>
            </a:prstGeom>
            <a:ln>
              <a:headEnd type="none" w="sm" len="sm"/>
              <a:tailEnd type="stealth" w="med" len="lg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fr-CA" sz="1941"/>
            </a:p>
          </p:txBody>
        </p:sp>
        <p:sp>
          <p:nvSpPr>
            <p:cNvPr id="2059" name="Line 8"/>
            <p:cNvSpPr>
              <a:spLocks noChangeShapeType="1"/>
            </p:cNvSpPr>
            <p:nvPr>
              <p:custDataLst>
                <p:tags r:id="rId17"/>
              </p:custDataLst>
            </p:nvPr>
          </p:nvSpPr>
          <p:spPr bwMode="auto">
            <a:xfrm>
              <a:off x="8684559" y="2541494"/>
              <a:ext cx="813547" cy="0"/>
            </a:xfrm>
            <a:prstGeom prst="line">
              <a:avLst/>
            </a:prstGeom>
            <a:ln>
              <a:headEnd type="none" w="sm" len="sm"/>
              <a:tailEnd type="stealth" w="med" len="lg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fr-CA" sz="1941"/>
            </a:p>
          </p:txBody>
        </p:sp>
        <p:sp>
          <p:nvSpPr>
            <p:cNvPr id="44041" name="Rectangle 9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7025932" y="2681647"/>
              <a:ext cx="574615" cy="32701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lIns="89367" tIns="44684" rIns="89367" bIns="44684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fr-CA" sz="1941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PCI</a:t>
              </a:r>
            </a:p>
          </p:txBody>
        </p:sp>
        <p:sp>
          <p:nvSpPr>
            <p:cNvPr id="44042" name="Rectangle 10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9498106" y="2839227"/>
              <a:ext cx="813547" cy="32675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lIns="89367" tIns="44684" rIns="89367" bIns="44684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fr-CA" sz="1941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PV:15$</a:t>
              </a:r>
            </a:p>
          </p:txBody>
        </p:sp>
      </p:grpSp>
      <p:graphicFrame>
        <p:nvGraphicFramePr>
          <p:cNvPr id="22" name="Tableau 21">
            <a:extLst>
              <a:ext uri="{FF2B5EF4-FFF2-40B4-BE49-F238E27FC236}">
                <a16:creationId xmlns:a16="http://schemas.microsoft.com/office/drawing/2014/main" id="{C93C1BC7-C1CD-4669-B434-F5F281566D7E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492594291"/>
              </p:ext>
            </p:extLst>
          </p:nvPr>
        </p:nvGraphicFramePr>
        <p:xfrm>
          <a:off x="1087993" y="2117436"/>
          <a:ext cx="2425700" cy="1625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1450947793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1327317476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1918791295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l" fontAlgn="b"/>
                      <a:r>
                        <a:rPr lang="fr-CA" sz="2000" u="none" strike="noStrike">
                          <a:effectLst/>
                        </a:rPr>
                        <a:t>Div.A</a:t>
                      </a:r>
                      <a:endParaRPr lang="fr-CA" sz="2000" b="1" i="0" u="none" strike="noStrike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2000" u="none" strike="noStrike">
                          <a:effectLst/>
                        </a:rPr>
                        <a:t>Budget</a:t>
                      </a:r>
                      <a:endParaRPr lang="fr-CA" sz="2000" b="0" i="0" u="none" strike="noStrike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2000" u="none" strike="noStrike" dirty="0">
                          <a:effectLst/>
                        </a:rPr>
                        <a:t>Réel</a:t>
                      </a:r>
                      <a:endParaRPr lang="fr-CA" sz="2000" b="0" i="0" u="none" strike="noStrike" dirty="0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60653139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 fontAlgn="b"/>
                      <a:r>
                        <a:rPr lang="fr-CA" sz="2000" u="none" strike="noStrike">
                          <a:effectLst/>
                        </a:rPr>
                        <a:t>C.V.</a:t>
                      </a:r>
                      <a:endParaRPr lang="fr-CA" sz="2000" b="0" i="0" u="none" strike="noStrike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2000" u="none" strike="noStrike">
                          <a:effectLst/>
                        </a:rPr>
                        <a:t>8 $</a:t>
                      </a:r>
                      <a:endParaRPr lang="fr-CA" sz="2000" b="0" i="0" u="none" strike="noStrike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2000" u="none" strike="noStrike" dirty="0">
                          <a:effectLst/>
                        </a:rPr>
                        <a:t>8 $</a:t>
                      </a:r>
                      <a:endParaRPr lang="fr-CA" sz="2000" b="0" i="0" u="none" strike="noStrike" dirty="0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54247865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 fontAlgn="b"/>
                      <a:r>
                        <a:rPr lang="fr-CA" sz="2000" u="none" strike="noStrike">
                          <a:effectLst/>
                        </a:rPr>
                        <a:t>F.F.</a:t>
                      </a:r>
                      <a:endParaRPr lang="fr-CA" sz="2000" b="0" i="0" u="none" strike="noStrike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2000" u="none" strike="noStrike" dirty="0">
                          <a:effectLst/>
                        </a:rPr>
                        <a:t>2 $</a:t>
                      </a:r>
                      <a:endParaRPr lang="fr-CA" sz="2000" b="0" i="0" u="none" strike="noStrike" dirty="0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2000" u="none" strike="noStrike" dirty="0">
                          <a:effectLst/>
                        </a:rPr>
                        <a:t>4 $</a:t>
                      </a:r>
                      <a:endParaRPr lang="fr-CA" sz="2000" b="0" i="0" u="none" strike="noStrike" dirty="0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93971399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 fontAlgn="b"/>
                      <a:r>
                        <a:rPr lang="fr-CA" sz="2000" u="none" strike="noStrike">
                          <a:effectLst/>
                        </a:rPr>
                        <a:t>Bén.</a:t>
                      </a:r>
                      <a:endParaRPr lang="fr-CA" sz="2000" b="0" i="0" u="none" strike="noStrike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2000" u="none" strike="noStrike" dirty="0">
                          <a:effectLst/>
                        </a:rPr>
                        <a:t>3 $</a:t>
                      </a:r>
                      <a:endParaRPr lang="fr-CA" sz="2000" b="0" i="0" u="none" strike="noStrike" dirty="0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2000" u="none" strike="noStrike" dirty="0">
                          <a:effectLst/>
                        </a:rPr>
                        <a:t>3 $</a:t>
                      </a:r>
                      <a:endParaRPr lang="fr-CA" sz="2000" b="0" i="0" u="none" strike="noStrike" dirty="0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766461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"/>
                      <a:r>
                        <a:rPr lang="fr-CA" sz="2000" u="none" strike="noStrike" dirty="0">
                          <a:effectLst/>
                        </a:rPr>
                        <a:t>PCI</a:t>
                      </a:r>
                      <a:endParaRPr lang="fr-CA" sz="2000" b="0" i="0" u="none" strike="noStrike" dirty="0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2000" u="none" strike="noStrike" dirty="0">
                          <a:effectLst/>
                        </a:rPr>
                        <a:t>13 $</a:t>
                      </a:r>
                      <a:endParaRPr lang="fr-CA" sz="2000" b="0" i="0" u="none" strike="noStrike" dirty="0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2000" u="none" strike="noStrike" dirty="0">
                          <a:effectLst/>
                        </a:rPr>
                        <a:t>15 $</a:t>
                      </a:r>
                      <a:endParaRPr lang="fr-CA" sz="2000" b="0" i="0" u="none" strike="noStrike" dirty="0">
                        <a:effectLst/>
                        <a:latin typeface="CG Times (W1)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481606656"/>
                  </a:ext>
                </a:extLst>
              </a:tr>
            </a:tbl>
          </a:graphicData>
        </a:graphic>
      </p:graphicFrame>
      <p:grpSp>
        <p:nvGrpSpPr>
          <p:cNvPr id="25" name="Groupe 24">
            <a:extLst>
              <a:ext uri="{FF2B5EF4-FFF2-40B4-BE49-F238E27FC236}">
                <a16:creationId xmlns:a16="http://schemas.microsoft.com/office/drawing/2014/main" id="{1AE28DC0-A8A0-464D-B555-BF6DF08A61AA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3824146" y="3336465"/>
            <a:ext cx="6706774" cy="2468218"/>
            <a:chOff x="2552140" y="3543178"/>
            <a:chExt cx="6706774" cy="2468218"/>
          </a:xfrm>
        </p:grpSpPr>
        <p:graphicFrame>
          <p:nvGraphicFramePr>
            <p:cNvPr id="26" name="Object 3">
              <a:extLst>
                <a:ext uri="{FF2B5EF4-FFF2-40B4-BE49-F238E27FC236}">
                  <a16:creationId xmlns:a16="http://schemas.microsoft.com/office/drawing/2014/main" id="{FEDBEBC9-C44A-444E-8961-8DBCEEF31E6D}"/>
                </a:ext>
              </a:extLst>
            </p:cNvPr>
            <p:cNvGraphicFramePr>
              <a:graphicFrameLocks/>
            </p:cNvGraphicFramePr>
            <p:nvPr>
              <p:custDataLst>
                <p:tags r:id="rId6"/>
              </p:custDataLst>
              <p:extLst>
                <p:ext uri="{D42A27DB-BD31-4B8C-83A1-F6EECF244321}">
                  <p14:modId xmlns:p14="http://schemas.microsoft.com/office/powerpoint/2010/main" val="2096683532"/>
                </p:ext>
              </p:extLst>
            </p:nvPr>
          </p:nvGraphicFramePr>
          <p:xfrm>
            <a:off x="5553689" y="3543178"/>
            <a:ext cx="3705225" cy="2446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Worksheet" r:id="rId22" imgW="3962608" imgH="2616015" progId="Excel.Sheet.8">
                    <p:embed/>
                  </p:oleObj>
                </mc:Choice>
                <mc:Fallback>
                  <p:oleObj name="Worksheet" r:id="rId22" imgW="3962608" imgH="2616015" progId="Excel.Sheet.8">
                    <p:embed/>
                    <p:pic>
                      <p:nvPicPr>
                        <p:cNvPr id="26" name="Object 3">
                          <a:extLst>
                            <a:ext uri="{FF2B5EF4-FFF2-40B4-BE49-F238E27FC236}">
                              <a16:creationId xmlns:a16="http://schemas.microsoft.com/office/drawing/2014/main" id="{FEDBEBC9-C44A-444E-8961-8DBCEEF31E6D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53689" y="3543178"/>
                          <a:ext cx="3705225" cy="2446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Rectangle 12">
              <a:extLst>
                <a:ext uri="{FF2B5EF4-FFF2-40B4-BE49-F238E27FC236}">
                  <a16:creationId xmlns:a16="http://schemas.microsoft.com/office/drawing/2014/main" id="{04CFBA30-49BA-47A7-9782-AF058BF1AB94}"/>
                </a:ext>
              </a:extLst>
            </p:cNvPr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552140" y="4026834"/>
              <a:ext cx="2058521" cy="80122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89367" tIns="44684" rIns="89367" bIns="44684" anchor="ctr"/>
            <a:lstStyle/>
            <a:p>
              <a:r>
                <a:rPr lang="fr-CA" sz="1941" dirty="0"/>
                <a:t>PCI = Coût</a:t>
              </a:r>
            </a:p>
            <a:p>
              <a:r>
                <a:rPr lang="fr-CA" sz="1941" dirty="0"/>
                <a:t>          Budgétisé</a:t>
              </a:r>
            </a:p>
          </p:txBody>
        </p:sp>
        <p:sp>
          <p:nvSpPr>
            <p:cNvPr id="28" name="Line 13">
              <a:extLst>
                <a:ext uri="{FF2B5EF4-FFF2-40B4-BE49-F238E27FC236}">
                  <a16:creationId xmlns:a16="http://schemas.microsoft.com/office/drawing/2014/main" id="{93F3ECC8-12E4-4CF1-860E-A4EC29965B3C}"/>
                </a:ext>
              </a:extLst>
            </p:cNvPr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>
              <a:off x="4616824" y="4316506"/>
              <a:ext cx="813547" cy="0"/>
            </a:xfrm>
            <a:prstGeom prst="line">
              <a:avLst/>
            </a:prstGeom>
            <a:ln>
              <a:headEnd type="none" w="sm" len="sm"/>
              <a:tailEnd type="stealth" w="med" len="lg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fr-CA" sz="1941"/>
            </a:p>
          </p:txBody>
        </p:sp>
        <p:sp>
          <p:nvSpPr>
            <p:cNvPr id="29" name="Rectangle 14">
              <a:extLst>
                <a:ext uri="{FF2B5EF4-FFF2-40B4-BE49-F238E27FC236}">
                  <a16:creationId xmlns:a16="http://schemas.microsoft.com/office/drawing/2014/main" id="{391785AD-2ED6-4534-83C9-1C61CA34B860}"/>
                </a:ext>
              </a:extLst>
            </p:cNvPr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5507895" y="3817822"/>
              <a:ext cx="3241862" cy="1023097"/>
            </a:xfrm>
            <a:prstGeom prst="rect">
              <a:avLst/>
            </a:prstGeom>
            <a:noFill/>
            <a:ln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fr-CA" sz="1941"/>
            </a:p>
          </p:txBody>
        </p:sp>
        <p:sp>
          <p:nvSpPr>
            <p:cNvPr id="30" name="Rectangle 15">
              <a:extLst>
                <a:ext uri="{FF2B5EF4-FFF2-40B4-BE49-F238E27FC236}">
                  <a16:creationId xmlns:a16="http://schemas.microsoft.com/office/drawing/2014/main" id="{C0406CA6-0520-4913-82EA-384B6DF5C4E8}"/>
                </a:ext>
              </a:extLst>
            </p:cNvPr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2552140" y="5284134"/>
              <a:ext cx="2058521" cy="727262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89367" tIns="44684" rIns="89367" bIns="44684" anchor="ctr"/>
            <a:lstStyle/>
            <a:p>
              <a:r>
                <a:rPr lang="fr-CA" sz="1941"/>
                <a:t>PCI = Coût</a:t>
              </a:r>
            </a:p>
            <a:p>
              <a:r>
                <a:rPr lang="fr-CA" sz="1941"/>
                <a:t>          réel</a:t>
              </a:r>
            </a:p>
          </p:txBody>
        </p:sp>
        <p:sp>
          <p:nvSpPr>
            <p:cNvPr id="31" name="Line 16">
              <a:extLst>
                <a:ext uri="{FF2B5EF4-FFF2-40B4-BE49-F238E27FC236}">
                  <a16:creationId xmlns:a16="http://schemas.microsoft.com/office/drawing/2014/main" id="{7175E4BE-5AFE-485B-AF68-846AC20161A2}"/>
                </a:ext>
              </a:extLst>
            </p:cNvPr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>
              <a:off x="4616824" y="5573806"/>
              <a:ext cx="813547" cy="0"/>
            </a:xfrm>
            <a:prstGeom prst="line">
              <a:avLst/>
            </a:prstGeom>
            <a:ln>
              <a:headEnd type="none" w="sm" len="sm"/>
              <a:tailEnd type="stealth" w="med" len="lg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fr-CA" sz="1941"/>
            </a:p>
          </p:txBody>
        </p:sp>
        <p:sp>
          <p:nvSpPr>
            <p:cNvPr id="32" name="Rectangle 17">
              <a:extLst>
                <a:ext uri="{FF2B5EF4-FFF2-40B4-BE49-F238E27FC236}">
                  <a16:creationId xmlns:a16="http://schemas.microsoft.com/office/drawing/2014/main" id="{A963D4AB-DC54-4501-AC4F-167AA0BB5689}"/>
                </a:ext>
              </a:extLst>
            </p:cNvPr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5566429" y="4940515"/>
              <a:ext cx="3241862" cy="1023097"/>
            </a:xfrm>
            <a:prstGeom prst="rect">
              <a:avLst/>
            </a:prstGeom>
            <a:noFill/>
            <a:ln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fr-CA" sz="1941"/>
            </a:p>
          </p:txBody>
        </p:sp>
      </p:grpSp>
    </p:spTree>
    <p:extLst>
      <p:ext uri="{BB962C8B-B14F-4D97-AF65-F5344CB8AC3E}">
        <p14:creationId xmlns:p14="http://schemas.microsoft.com/office/powerpoint/2010/main" val="1588375988"/>
      </p:ext>
    </p:extLst>
  </p:cSld>
  <p:clrMapOvr>
    <a:masterClrMapping/>
  </p:clrMapOvr>
  <p:transition>
    <p:rand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PCI basé sur les coûts budgétisés vs réel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marL="197782" lvl="2" indent="-197782">
              <a:buFont typeface="Arial" pitchFamily="34" charset="0"/>
              <a:buChar char="•"/>
            </a:pPr>
            <a:r>
              <a:rPr lang="fr-CA" sz="2118" dirty="0"/>
              <a:t>Coûts réels avec ou sans marge bénéficiaire</a:t>
            </a:r>
          </a:p>
          <a:p>
            <a:pPr marL="422535" lvl="3" indent="-197782"/>
            <a:r>
              <a:rPr lang="fr-CA" sz="1941" dirty="0"/>
              <a:t>Facile à appliquer</a:t>
            </a:r>
          </a:p>
          <a:p>
            <a:pPr marL="422535" lvl="3" indent="-197782"/>
            <a:r>
              <a:rPr lang="fr-CA" sz="1941" dirty="0"/>
              <a:t>Transfert d’inefficacités</a:t>
            </a:r>
          </a:p>
          <a:p>
            <a:pPr marL="422535" lvl="3" indent="-197782"/>
            <a:r>
              <a:rPr lang="fr-CA" sz="1941" dirty="0"/>
              <a:t>Aucune incitation à la productivité</a:t>
            </a:r>
          </a:p>
          <a:p>
            <a:pPr marL="422535" lvl="3" indent="-197782"/>
            <a:endParaRPr lang="fr-CA" sz="1941" dirty="0"/>
          </a:p>
          <a:p>
            <a:pPr marL="302575" lvl="2" indent="-302575">
              <a:buFont typeface="Arial" panose="020B0604020202020204" pitchFamily="34" charset="0"/>
              <a:buChar char="•"/>
            </a:pPr>
            <a:r>
              <a:rPr lang="fr-CA" sz="2118" dirty="0"/>
              <a:t>Coûts standards ou budgétisés avec ou sans marge bénéficiaire:</a:t>
            </a:r>
          </a:p>
          <a:p>
            <a:pPr marL="527328" lvl="3" indent="-302575"/>
            <a:r>
              <a:rPr lang="fr-CA" sz="1941" dirty="0"/>
              <a:t>Indépendants de la performance de la division</a:t>
            </a:r>
          </a:p>
          <a:p>
            <a:endParaRPr lang="fr-CA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CA"/>
              <a:t>(C) Préparé par Chan Sitha Méas, Marie-Eve Quenneville et Michel Vézina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39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99595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034428" y="3287245"/>
            <a:ext cx="1023097" cy="801221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pPr algn="ctr"/>
            <a:r>
              <a:rPr lang="fr-CA" sz="1941"/>
              <a:t>PCI</a:t>
            </a:r>
          </a:p>
        </p:txBody>
      </p:sp>
      <p:sp>
        <p:nvSpPr>
          <p:cNvPr id="13318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587563" y="2177863"/>
            <a:ext cx="1023097" cy="801221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pPr algn="ctr"/>
            <a:r>
              <a:rPr lang="fr-CA" sz="1941" dirty="0"/>
              <a:t>Prix</a:t>
            </a:r>
          </a:p>
        </p:txBody>
      </p:sp>
      <p:sp>
        <p:nvSpPr>
          <p:cNvPr id="13319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587563" y="4692463"/>
            <a:ext cx="1023097" cy="801221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pPr algn="ctr"/>
            <a:r>
              <a:rPr lang="fr-CA" sz="1941"/>
              <a:t>Coût</a:t>
            </a:r>
          </a:p>
        </p:txBody>
      </p:sp>
      <p:sp>
        <p:nvSpPr>
          <p:cNvPr id="13320" name="Rectangl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954246" y="2029946"/>
            <a:ext cx="2280397" cy="431426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pPr algn="ctr"/>
            <a:r>
              <a:rPr lang="fr-CA" sz="1941"/>
              <a:t>Prix du marché</a:t>
            </a:r>
          </a:p>
        </p:txBody>
      </p:sp>
      <p:sp>
        <p:nvSpPr>
          <p:cNvPr id="13321" name="Rectangle 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954246" y="2917452"/>
            <a:ext cx="2280397" cy="431426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pPr algn="ctr"/>
            <a:r>
              <a:rPr lang="fr-CA" sz="1941"/>
              <a:t>Prix négocié</a:t>
            </a:r>
          </a:p>
        </p:txBody>
      </p:sp>
      <p:sp>
        <p:nvSpPr>
          <p:cNvPr id="13322" name="Rectangle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510492" y="4026834"/>
            <a:ext cx="1244974" cy="727262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pPr algn="ctr"/>
            <a:r>
              <a:rPr lang="fr-CA" sz="1941" dirty="0"/>
              <a:t>Coût</a:t>
            </a:r>
          </a:p>
          <a:p>
            <a:pPr algn="ctr"/>
            <a:r>
              <a:rPr lang="fr-CA" sz="1941" dirty="0"/>
              <a:t>budgétisé</a:t>
            </a:r>
          </a:p>
        </p:txBody>
      </p:sp>
      <p:sp>
        <p:nvSpPr>
          <p:cNvPr id="13323" name="Rectangle 9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584451" y="5432051"/>
            <a:ext cx="1244974" cy="727262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pPr algn="ctr"/>
            <a:r>
              <a:rPr lang="fr-CA" sz="1941" dirty="0"/>
              <a:t>Coût</a:t>
            </a:r>
          </a:p>
          <a:p>
            <a:pPr algn="ctr"/>
            <a:r>
              <a:rPr lang="fr-CA" sz="1941" dirty="0"/>
              <a:t>réel</a:t>
            </a:r>
          </a:p>
        </p:txBody>
      </p:sp>
      <p:sp>
        <p:nvSpPr>
          <p:cNvPr id="13324" name="Rectangle 10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7433422" y="3730999"/>
            <a:ext cx="2280397" cy="4314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pPr algn="ctr"/>
            <a:r>
              <a:rPr lang="fr-CA" sz="1941" dirty="0"/>
              <a:t>Coût variable</a:t>
            </a:r>
          </a:p>
        </p:txBody>
      </p:sp>
      <p:sp>
        <p:nvSpPr>
          <p:cNvPr id="13325" name="Rectangle 11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7433422" y="4470587"/>
            <a:ext cx="2280397" cy="4314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pPr algn="ctr"/>
            <a:r>
              <a:rPr lang="fr-CA" sz="1941" dirty="0"/>
              <a:t>Coût complet</a:t>
            </a:r>
          </a:p>
        </p:txBody>
      </p:sp>
      <p:sp>
        <p:nvSpPr>
          <p:cNvPr id="13326" name="Rectangle 12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7507381" y="5875805"/>
            <a:ext cx="2280397" cy="4314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pPr algn="ctr"/>
            <a:r>
              <a:rPr lang="fr-CA" sz="1941" dirty="0"/>
              <a:t>Coût complet</a:t>
            </a:r>
          </a:p>
        </p:txBody>
      </p:sp>
      <p:sp>
        <p:nvSpPr>
          <p:cNvPr id="13327" name="Rectangle 13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7507381" y="5136216"/>
            <a:ext cx="2280397" cy="4314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pPr algn="ctr"/>
            <a:r>
              <a:rPr lang="fr-CA" sz="1941" dirty="0"/>
              <a:t>Coût variable</a:t>
            </a:r>
          </a:p>
        </p:txBody>
      </p:sp>
      <p:sp>
        <p:nvSpPr>
          <p:cNvPr id="13328" name="Line 14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 flipV="1">
            <a:off x="2619935" y="2615453"/>
            <a:ext cx="961465" cy="665629"/>
          </a:xfrm>
          <a:prstGeom prst="line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fr-CA" sz="1941"/>
          </a:p>
        </p:txBody>
      </p:sp>
      <p:sp>
        <p:nvSpPr>
          <p:cNvPr id="13329" name="Line 15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2545976" y="4094629"/>
            <a:ext cx="1035424" cy="1035424"/>
          </a:xfrm>
          <a:prstGeom prst="line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fr-CA" sz="1941"/>
          </a:p>
        </p:txBody>
      </p:sp>
      <p:sp>
        <p:nvSpPr>
          <p:cNvPr id="13330" name="Line 16"/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 flipV="1">
            <a:off x="4616823" y="2245659"/>
            <a:ext cx="1331259" cy="369794"/>
          </a:xfrm>
          <a:prstGeom prst="line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fr-CA" sz="1941"/>
          </a:p>
        </p:txBody>
      </p:sp>
      <p:sp>
        <p:nvSpPr>
          <p:cNvPr id="13331" name="Line 17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>
            <a:off x="4616823" y="2763371"/>
            <a:ext cx="1331259" cy="443753"/>
          </a:xfrm>
          <a:prstGeom prst="line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fr-CA" sz="1941"/>
          </a:p>
        </p:txBody>
      </p:sp>
      <p:sp>
        <p:nvSpPr>
          <p:cNvPr id="13332" name="Line 18"/>
          <p:cNvSpPr>
            <a:spLocks noChangeShapeType="1"/>
          </p:cNvSpPr>
          <p:nvPr>
            <p:custDataLst>
              <p:tags r:id="rId16"/>
            </p:custDataLst>
          </p:nvPr>
        </p:nvSpPr>
        <p:spPr bwMode="auto">
          <a:xfrm flipV="1">
            <a:off x="4616823" y="4316506"/>
            <a:ext cx="887506" cy="665629"/>
          </a:xfrm>
          <a:prstGeom prst="line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fr-CA" sz="1941"/>
          </a:p>
        </p:txBody>
      </p:sp>
      <p:sp>
        <p:nvSpPr>
          <p:cNvPr id="13333" name="Line 19"/>
          <p:cNvSpPr>
            <a:spLocks noChangeShapeType="1"/>
          </p:cNvSpPr>
          <p:nvPr>
            <p:custDataLst>
              <p:tags r:id="rId17"/>
            </p:custDataLst>
          </p:nvPr>
        </p:nvSpPr>
        <p:spPr bwMode="auto">
          <a:xfrm>
            <a:off x="4616823" y="5277970"/>
            <a:ext cx="961465" cy="591671"/>
          </a:xfrm>
          <a:prstGeom prst="line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fr-CA" sz="1941"/>
          </a:p>
        </p:txBody>
      </p:sp>
      <p:sp>
        <p:nvSpPr>
          <p:cNvPr id="13334" name="Line 20"/>
          <p:cNvSpPr>
            <a:spLocks noChangeShapeType="1"/>
          </p:cNvSpPr>
          <p:nvPr>
            <p:custDataLst>
              <p:tags r:id="rId18"/>
            </p:custDataLst>
          </p:nvPr>
        </p:nvSpPr>
        <p:spPr bwMode="auto">
          <a:xfrm flipV="1">
            <a:off x="6761630" y="4020671"/>
            <a:ext cx="665629" cy="295835"/>
          </a:xfrm>
          <a:prstGeom prst="line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fr-CA" sz="1941"/>
          </a:p>
        </p:txBody>
      </p:sp>
      <p:sp>
        <p:nvSpPr>
          <p:cNvPr id="13335" name="Line 21"/>
          <p:cNvSpPr>
            <a:spLocks noChangeShapeType="1"/>
          </p:cNvSpPr>
          <p:nvPr>
            <p:custDataLst>
              <p:tags r:id="rId19"/>
            </p:custDataLst>
          </p:nvPr>
        </p:nvSpPr>
        <p:spPr bwMode="auto">
          <a:xfrm flipV="1">
            <a:off x="6835588" y="5351929"/>
            <a:ext cx="665629" cy="369794"/>
          </a:xfrm>
          <a:prstGeom prst="line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fr-CA" sz="1941"/>
          </a:p>
        </p:txBody>
      </p:sp>
      <p:sp>
        <p:nvSpPr>
          <p:cNvPr id="13336" name="Line 22"/>
          <p:cNvSpPr>
            <a:spLocks noChangeShapeType="1"/>
          </p:cNvSpPr>
          <p:nvPr>
            <p:custDataLst>
              <p:tags r:id="rId20"/>
            </p:custDataLst>
          </p:nvPr>
        </p:nvSpPr>
        <p:spPr bwMode="auto">
          <a:xfrm>
            <a:off x="6835588" y="5795683"/>
            <a:ext cx="665629" cy="295835"/>
          </a:xfrm>
          <a:prstGeom prst="line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fr-CA" sz="1941"/>
          </a:p>
        </p:txBody>
      </p:sp>
      <p:sp>
        <p:nvSpPr>
          <p:cNvPr id="13337" name="Line 23"/>
          <p:cNvSpPr>
            <a:spLocks noChangeShapeType="1"/>
          </p:cNvSpPr>
          <p:nvPr>
            <p:custDataLst>
              <p:tags r:id="rId21"/>
            </p:custDataLst>
          </p:nvPr>
        </p:nvSpPr>
        <p:spPr bwMode="auto">
          <a:xfrm>
            <a:off x="6761630" y="4464424"/>
            <a:ext cx="665629" cy="221876"/>
          </a:xfrm>
          <a:prstGeom prst="line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fr-CA" sz="1941"/>
          </a:p>
        </p:txBody>
      </p:sp>
      <p:sp>
        <p:nvSpPr>
          <p:cNvPr id="25" name="Titre 1"/>
          <p:cNvSpPr txBox="1">
            <a:spLocks/>
          </p:cNvSpPr>
          <p:nvPr>
            <p:custDataLst>
              <p:tags r:id="rId22"/>
            </p:custDataLst>
          </p:nvPr>
        </p:nvSpPr>
        <p:spPr>
          <a:xfrm>
            <a:off x="2102224" y="367414"/>
            <a:ext cx="7987553" cy="405762"/>
          </a:xfrm>
          <a:prstGeom prst="rect">
            <a:avLst/>
          </a:prstGeom>
        </p:spPr>
        <p:txBody>
          <a:bodyPr vert="horz" lIns="88751" tIns="44375" rIns="88751" bIns="44375" rtlCol="0" anchor="ctr">
            <a:noAutofit/>
          </a:bodyPr>
          <a:lstStyle/>
          <a:p>
            <a:pPr algn="r" defTabSz="887553">
              <a:spcBef>
                <a:spcPct val="0"/>
              </a:spcBef>
              <a:defRPr/>
            </a:pPr>
            <a:r>
              <a:rPr lang="fr-CA" sz="3494" b="1" dirty="0">
                <a:latin typeface="+mj-lt"/>
                <a:ea typeface="+mj-ea"/>
                <a:cs typeface="+mj-cs"/>
              </a:rPr>
              <a:t>Fiche 8.5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/>
          <a:lstStyle/>
          <a:p>
            <a:r>
              <a:rPr lang="fr-CA"/>
              <a:t>(C) Préparé par Chan Sitha Méas, Marie-Eve Quenneville et Michel Vézina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40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83480199"/>
      </p:ext>
    </p:extLst>
  </p:cSld>
  <p:clrMapOvr>
    <a:masterClrMapping/>
  </p:clrMapOvr>
  <p:transition>
    <p:rand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Espace réservé du pied de page 3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>
          <a:xfrm>
            <a:off x="8018929" y="6165476"/>
            <a:ext cx="2070847" cy="443753"/>
          </a:xfrm>
          <a:noFill/>
        </p:spPr>
        <p:txBody>
          <a:bodyPr/>
          <a:lstStyle/>
          <a:p>
            <a:pPr algn="r"/>
            <a:r>
              <a:rPr lang="fr-CA"/>
              <a:t>(C) Préparé par Chan Sitha Méas, Marie-Eve Quenneville et Michel Vézina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41</a:t>
            </a:fld>
            <a:endParaRPr lang="fr-CA"/>
          </a:p>
        </p:txBody>
      </p:sp>
      <p:graphicFrame>
        <p:nvGraphicFramePr>
          <p:cNvPr id="3074" name="Object 2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449030" y="1978931"/>
          <a:ext cx="2905966" cy="24468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4" imgW="2790825" imgH="2362200" progId="Excel.Sheet.8">
                  <p:embed/>
                </p:oleObj>
              </mc:Choice>
              <mc:Fallback>
                <p:oleObj name="Worksheet" r:id="rId14" imgW="2790825" imgH="2362200" progId="Excel.Sheet.8">
                  <p:embed/>
                  <p:pic>
                    <p:nvPicPr>
                      <p:cNvPr id="3074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030" y="1978931"/>
                        <a:ext cx="2905966" cy="24468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Groupe 21">
            <a:extLst>
              <a:ext uri="{FF2B5EF4-FFF2-40B4-BE49-F238E27FC236}">
                <a16:creationId xmlns:a16="http://schemas.microsoft.com/office/drawing/2014/main" id="{B99A1F58-A87A-45FC-8A82-E850C51A0377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1425038" y="899562"/>
            <a:ext cx="8918369" cy="1303728"/>
            <a:chOff x="5954246" y="2251822"/>
            <a:chExt cx="4357407" cy="914158"/>
          </a:xfrm>
        </p:grpSpPr>
        <p:sp>
          <p:nvSpPr>
            <p:cNvPr id="23" name="Rectangle 4">
              <a:extLst>
                <a:ext uri="{FF2B5EF4-FFF2-40B4-BE49-F238E27FC236}">
                  <a16:creationId xmlns:a16="http://schemas.microsoft.com/office/drawing/2014/main" id="{A12AE1C9-1C70-4813-B049-EE6896E37229}"/>
                </a:ext>
              </a:extLst>
            </p:cNvPr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954246" y="2251822"/>
              <a:ext cx="949138" cy="57934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lIns="89367" tIns="44684" rIns="89367" bIns="44684" anchor="ctr"/>
            <a:lstStyle/>
            <a:p>
              <a:pPr algn="ctr">
                <a:defRPr/>
              </a:pPr>
              <a:r>
                <a:rPr lang="fr-CA" sz="1941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Division</a:t>
              </a:r>
            </a:p>
            <a:p>
              <a:pPr algn="ctr">
                <a:defRPr/>
              </a:pPr>
              <a:r>
                <a:rPr lang="fr-CA" sz="1941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</a:t>
              </a:r>
            </a:p>
          </p:txBody>
        </p:sp>
        <p:sp>
          <p:nvSpPr>
            <p:cNvPr id="24" name="Rectangle 5">
              <a:extLst>
                <a:ext uri="{FF2B5EF4-FFF2-40B4-BE49-F238E27FC236}">
                  <a16:creationId xmlns:a16="http://schemas.microsoft.com/office/drawing/2014/main" id="{705DAEDB-3003-4072-B223-EA5B2285BDA3}"/>
                </a:ext>
              </a:extLst>
            </p:cNvPr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7729257" y="2251822"/>
              <a:ext cx="949138" cy="57934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lIns="89367" tIns="44684" rIns="89367" bIns="44684" anchor="ctr"/>
            <a:lstStyle/>
            <a:p>
              <a:pPr algn="ctr">
                <a:defRPr/>
              </a:pPr>
              <a:r>
                <a:rPr lang="fr-CA" sz="194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Division</a:t>
              </a:r>
            </a:p>
            <a:p>
              <a:pPr algn="ctr">
                <a:defRPr/>
              </a:pPr>
              <a:r>
                <a:rPr lang="fr-CA" sz="194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B</a:t>
              </a:r>
            </a:p>
          </p:txBody>
        </p:sp>
        <p:sp>
          <p:nvSpPr>
            <p:cNvPr id="25" name="Rectangle 6">
              <a:extLst>
                <a:ext uri="{FF2B5EF4-FFF2-40B4-BE49-F238E27FC236}">
                  <a16:creationId xmlns:a16="http://schemas.microsoft.com/office/drawing/2014/main" id="{F586877A-50FC-4EC0-B574-86648CC019AF}"/>
                </a:ext>
              </a:extLst>
            </p:cNvPr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9498106" y="2319618"/>
              <a:ext cx="813547" cy="38891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89367" tIns="44684" rIns="89367" bIns="44684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fr-CA" sz="194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Client</a:t>
              </a:r>
            </a:p>
          </p:txBody>
        </p:sp>
        <p:sp>
          <p:nvSpPr>
            <p:cNvPr id="26" name="Line 7">
              <a:extLst>
                <a:ext uri="{FF2B5EF4-FFF2-40B4-BE49-F238E27FC236}">
                  <a16:creationId xmlns:a16="http://schemas.microsoft.com/office/drawing/2014/main" id="{835254CB-BEFB-489D-B6BC-1FBAED113006}"/>
                </a:ext>
              </a:extLst>
            </p:cNvPr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>
              <a:off x="6909547" y="2541494"/>
              <a:ext cx="813547" cy="0"/>
            </a:xfrm>
            <a:prstGeom prst="line">
              <a:avLst/>
            </a:prstGeom>
            <a:ln>
              <a:headEnd type="none" w="sm" len="sm"/>
              <a:tailEnd type="stealth" w="med" len="lg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fr-CA" sz="1941"/>
            </a:p>
          </p:txBody>
        </p:sp>
        <p:sp>
          <p:nvSpPr>
            <p:cNvPr id="27" name="Line 8">
              <a:extLst>
                <a:ext uri="{FF2B5EF4-FFF2-40B4-BE49-F238E27FC236}">
                  <a16:creationId xmlns:a16="http://schemas.microsoft.com/office/drawing/2014/main" id="{DD5355BC-50DD-431C-A013-3CA7C032DCEB}"/>
                </a:ext>
              </a:extLst>
            </p:cNvPr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>
              <a:off x="8684559" y="2541494"/>
              <a:ext cx="813547" cy="0"/>
            </a:xfrm>
            <a:prstGeom prst="line">
              <a:avLst/>
            </a:prstGeom>
            <a:ln>
              <a:headEnd type="none" w="sm" len="sm"/>
              <a:tailEnd type="stealth" w="med" len="lg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fr-CA" sz="1941"/>
            </a:p>
          </p:txBody>
        </p:sp>
        <p:sp>
          <p:nvSpPr>
            <p:cNvPr id="28" name="Rectangle 9">
              <a:extLst>
                <a:ext uri="{FF2B5EF4-FFF2-40B4-BE49-F238E27FC236}">
                  <a16:creationId xmlns:a16="http://schemas.microsoft.com/office/drawing/2014/main" id="{10674863-E913-409D-A4A8-2D8AF8104F1C}"/>
                </a:ext>
              </a:extLst>
            </p:cNvPr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025932" y="2681647"/>
              <a:ext cx="574615" cy="32701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lIns="89367" tIns="44684" rIns="89367" bIns="44684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fr-CA" sz="1941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PCI</a:t>
              </a:r>
            </a:p>
          </p:txBody>
        </p:sp>
        <p:sp>
          <p:nvSpPr>
            <p:cNvPr id="29" name="Rectangle 10">
              <a:extLst>
                <a:ext uri="{FF2B5EF4-FFF2-40B4-BE49-F238E27FC236}">
                  <a16:creationId xmlns:a16="http://schemas.microsoft.com/office/drawing/2014/main" id="{4B6CB66A-EF75-4063-A178-8C01D43695F2}"/>
                </a:ext>
              </a:extLst>
            </p:cNvPr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9498106" y="2839227"/>
              <a:ext cx="813547" cy="32675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lIns="89367" tIns="44684" rIns="89367" bIns="44684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fr-CA" sz="1941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PV:15$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1852330"/>
      </p:ext>
    </p:extLst>
  </p:cSld>
  <p:clrMapOvr>
    <a:masterClrMapping/>
  </p:clrMapOvr>
  <p:transition>
    <p:rand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Espace réservé du pied de page 3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>
          <a:xfrm>
            <a:off x="8018929" y="6165476"/>
            <a:ext cx="2070847" cy="443753"/>
          </a:xfrm>
          <a:noFill/>
        </p:spPr>
        <p:txBody>
          <a:bodyPr/>
          <a:lstStyle/>
          <a:p>
            <a:pPr algn="r"/>
            <a:r>
              <a:rPr lang="fr-CA"/>
              <a:t>(C) Préparé par Chan Sitha Méas, Marie-Eve Quenneville et Michel Vézina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42</a:t>
            </a:fld>
            <a:endParaRPr lang="fr-CA"/>
          </a:p>
        </p:txBody>
      </p:sp>
      <p:graphicFrame>
        <p:nvGraphicFramePr>
          <p:cNvPr id="3074" name="Object 2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449030" y="1978931"/>
          <a:ext cx="2905966" cy="24468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2" imgW="2790825" imgH="2362200" progId="Excel.Sheet.8">
                  <p:embed/>
                </p:oleObj>
              </mc:Choice>
              <mc:Fallback>
                <p:oleObj name="Worksheet" r:id="rId22" imgW="2790825" imgH="2362200" progId="Excel.Sheet.8">
                  <p:embed/>
                  <p:pic>
                    <p:nvPicPr>
                      <p:cNvPr id="3074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030" y="1978931"/>
                        <a:ext cx="2905966" cy="24468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6" name="Rectangle 10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758518" y="2689413"/>
            <a:ext cx="1109382" cy="3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9367" tIns="44684" rIns="89367" bIns="44684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fr-CA" sz="1941" b="1">
                <a:effectLst>
                  <a:outerShdw blurRad="38100" dist="38100" dir="2700000" algn="tl">
                    <a:srgbClr val="FFFFFF"/>
                  </a:outerShdw>
                </a:effectLst>
              </a:rPr>
              <a:t>PV:15$</a:t>
            </a:r>
          </a:p>
        </p:txBody>
      </p:sp>
      <p:graphicFrame>
        <p:nvGraphicFramePr>
          <p:cNvPr id="3075" name="Object 3"/>
          <p:cNvGraphicFramePr>
            <a:graphicFrameLocks/>
          </p:cNvGraphicFramePr>
          <p:nvPr>
            <p:custDataLst>
              <p:tags r:id="rId5"/>
            </p:custDataLst>
          </p:nvPr>
        </p:nvGraphicFramePr>
        <p:xfrm>
          <a:off x="5903400" y="3180931"/>
          <a:ext cx="4064654" cy="28443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euille Microsoft Excel" r:id="rId24" imgW="4705200" imgH="3038400" progId="Excel.Sheet.5">
                  <p:embed/>
                </p:oleObj>
              </mc:Choice>
              <mc:Fallback>
                <p:oleObj name="Feuille Microsoft Excel" r:id="rId24" imgW="4705200" imgH="3038400" progId="Excel.Sheet.5">
                  <p:embed/>
                  <p:pic>
                    <p:nvPicPr>
                      <p:cNvPr id="3075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3400" y="3180931"/>
                        <a:ext cx="4064654" cy="28443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6" name="Rectangle 12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995893" y="4174751"/>
            <a:ext cx="1910603" cy="727262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r>
              <a:rPr lang="fr-CA" sz="1941"/>
              <a:t>PCI = Coût</a:t>
            </a:r>
          </a:p>
          <a:p>
            <a:r>
              <a:rPr lang="fr-CA" sz="1941"/>
              <a:t>          complet</a:t>
            </a:r>
          </a:p>
        </p:txBody>
      </p:sp>
      <p:sp>
        <p:nvSpPr>
          <p:cNvPr id="3087" name="Line 13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4912659" y="4464424"/>
            <a:ext cx="81354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fr-CA" sz="1941"/>
          </a:p>
        </p:txBody>
      </p:sp>
      <p:sp>
        <p:nvSpPr>
          <p:cNvPr id="3088" name="Rectangle 14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5732369" y="3804957"/>
            <a:ext cx="4499162" cy="117101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CA" sz="1941"/>
          </a:p>
        </p:txBody>
      </p:sp>
      <p:sp>
        <p:nvSpPr>
          <p:cNvPr id="3089" name="Rectangle 15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2995893" y="5432051"/>
            <a:ext cx="1910603" cy="801221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r>
              <a:rPr lang="fr-CA" sz="1941"/>
              <a:t>PCI = Coût</a:t>
            </a:r>
          </a:p>
          <a:p>
            <a:r>
              <a:rPr lang="fr-CA" sz="1941"/>
              <a:t>          variable</a:t>
            </a:r>
          </a:p>
        </p:txBody>
      </p:sp>
      <p:sp>
        <p:nvSpPr>
          <p:cNvPr id="3090" name="Line 16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4912659" y="5721724"/>
            <a:ext cx="81354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fr-CA" sz="1941"/>
          </a:p>
        </p:txBody>
      </p:sp>
      <p:sp>
        <p:nvSpPr>
          <p:cNvPr id="3091" name="Rectangle 17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5732369" y="5062257"/>
            <a:ext cx="4499162" cy="117101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CA" sz="1941"/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B99A1F58-A87A-45FC-8A82-E850C51A0377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1425038" y="899562"/>
            <a:ext cx="8918369" cy="1303728"/>
            <a:chOff x="5954246" y="2251822"/>
            <a:chExt cx="4357407" cy="914158"/>
          </a:xfrm>
        </p:grpSpPr>
        <p:sp>
          <p:nvSpPr>
            <p:cNvPr id="23" name="Rectangle 4">
              <a:extLst>
                <a:ext uri="{FF2B5EF4-FFF2-40B4-BE49-F238E27FC236}">
                  <a16:creationId xmlns:a16="http://schemas.microsoft.com/office/drawing/2014/main" id="{A12AE1C9-1C70-4813-B049-EE6896E37229}"/>
                </a:ext>
              </a:extLst>
            </p:cNvPr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5954246" y="2251822"/>
              <a:ext cx="949138" cy="57934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lIns="89367" tIns="44684" rIns="89367" bIns="44684" anchor="ctr"/>
            <a:lstStyle/>
            <a:p>
              <a:pPr algn="ctr">
                <a:defRPr/>
              </a:pPr>
              <a:r>
                <a:rPr lang="fr-CA" sz="1941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Division</a:t>
              </a:r>
            </a:p>
            <a:p>
              <a:pPr algn="ctr">
                <a:defRPr/>
              </a:pPr>
              <a:r>
                <a:rPr lang="fr-CA" sz="1941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</a:t>
              </a:r>
            </a:p>
          </p:txBody>
        </p:sp>
        <p:sp>
          <p:nvSpPr>
            <p:cNvPr id="24" name="Rectangle 5">
              <a:extLst>
                <a:ext uri="{FF2B5EF4-FFF2-40B4-BE49-F238E27FC236}">
                  <a16:creationId xmlns:a16="http://schemas.microsoft.com/office/drawing/2014/main" id="{705DAEDB-3003-4072-B223-EA5B2285BDA3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7729257" y="2251822"/>
              <a:ext cx="949138" cy="57934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lIns="89367" tIns="44684" rIns="89367" bIns="44684" anchor="ctr"/>
            <a:lstStyle/>
            <a:p>
              <a:pPr algn="ctr">
                <a:defRPr/>
              </a:pPr>
              <a:r>
                <a:rPr lang="fr-CA" sz="194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Division</a:t>
              </a:r>
            </a:p>
            <a:p>
              <a:pPr algn="ctr">
                <a:defRPr/>
              </a:pPr>
              <a:r>
                <a:rPr lang="fr-CA" sz="194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B</a:t>
              </a:r>
            </a:p>
          </p:txBody>
        </p:sp>
        <p:sp>
          <p:nvSpPr>
            <p:cNvPr id="25" name="Rectangle 6">
              <a:extLst>
                <a:ext uri="{FF2B5EF4-FFF2-40B4-BE49-F238E27FC236}">
                  <a16:creationId xmlns:a16="http://schemas.microsoft.com/office/drawing/2014/main" id="{F586877A-50FC-4EC0-B574-86648CC019AF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9498106" y="2319618"/>
              <a:ext cx="813547" cy="38891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89367" tIns="44684" rIns="89367" bIns="44684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fr-CA" sz="194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Client</a:t>
              </a:r>
            </a:p>
          </p:txBody>
        </p:sp>
        <p:sp>
          <p:nvSpPr>
            <p:cNvPr id="26" name="Line 7">
              <a:extLst>
                <a:ext uri="{FF2B5EF4-FFF2-40B4-BE49-F238E27FC236}">
                  <a16:creationId xmlns:a16="http://schemas.microsoft.com/office/drawing/2014/main" id="{835254CB-BEFB-489D-B6BC-1FBAED113006}"/>
                </a:ext>
              </a:extLst>
            </p:cNvPr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>
              <a:off x="6909547" y="2541494"/>
              <a:ext cx="813547" cy="0"/>
            </a:xfrm>
            <a:prstGeom prst="line">
              <a:avLst/>
            </a:prstGeom>
            <a:ln>
              <a:headEnd type="none" w="sm" len="sm"/>
              <a:tailEnd type="stealth" w="med" len="lg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fr-CA" sz="1941"/>
            </a:p>
          </p:txBody>
        </p:sp>
        <p:sp>
          <p:nvSpPr>
            <p:cNvPr id="27" name="Line 8">
              <a:extLst>
                <a:ext uri="{FF2B5EF4-FFF2-40B4-BE49-F238E27FC236}">
                  <a16:creationId xmlns:a16="http://schemas.microsoft.com/office/drawing/2014/main" id="{DD5355BC-50DD-431C-A013-3CA7C032DCEB}"/>
                </a:ext>
              </a:extLst>
            </p:cNvPr>
            <p:cNvSpPr>
              <a:spLocks noChangeShapeType="1"/>
            </p:cNvSpPr>
            <p:nvPr>
              <p:custDataLst>
                <p:tags r:id="rId17"/>
              </p:custDataLst>
            </p:nvPr>
          </p:nvSpPr>
          <p:spPr bwMode="auto">
            <a:xfrm>
              <a:off x="8684559" y="2541494"/>
              <a:ext cx="813547" cy="0"/>
            </a:xfrm>
            <a:prstGeom prst="line">
              <a:avLst/>
            </a:prstGeom>
            <a:ln>
              <a:headEnd type="none" w="sm" len="sm"/>
              <a:tailEnd type="stealth" w="med" len="lg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fr-CA" sz="1941"/>
            </a:p>
          </p:txBody>
        </p:sp>
        <p:sp>
          <p:nvSpPr>
            <p:cNvPr id="28" name="Rectangle 9">
              <a:extLst>
                <a:ext uri="{FF2B5EF4-FFF2-40B4-BE49-F238E27FC236}">
                  <a16:creationId xmlns:a16="http://schemas.microsoft.com/office/drawing/2014/main" id="{10674863-E913-409D-A4A8-2D8AF8104F1C}"/>
                </a:ext>
              </a:extLst>
            </p:cNvPr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7025932" y="2681647"/>
              <a:ext cx="574615" cy="32701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lIns="89367" tIns="44684" rIns="89367" bIns="44684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fr-CA" sz="1941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PCI</a:t>
              </a:r>
            </a:p>
          </p:txBody>
        </p:sp>
        <p:sp>
          <p:nvSpPr>
            <p:cNvPr id="29" name="Rectangle 10">
              <a:extLst>
                <a:ext uri="{FF2B5EF4-FFF2-40B4-BE49-F238E27FC236}">
                  <a16:creationId xmlns:a16="http://schemas.microsoft.com/office/drawing/2014/main" id="{4B6CB66A-EF75-4063-A178-8C01D43695F2}"/>
                </a:ext>
              </a:extLst>
            </p:cNvPr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9498106" y="2839227"/>
              <a:ext cx="813547" cy="32675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lIns="89367" tIns="44684" rIns="89367" bIns="44684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fr-CA" sz="1941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PV:15$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03536218"/>
      </p:ext>
    </p:extLst>
  </p:cSld>
  <p:clrMapOvr>
    <a:masterClrMapping/>
  </p:clrMapOvr>
  <p:transition>
    <p:rand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0C4E05-4557-4AB4-9F7B-8B8188A70CD1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Qui devrait profiter des économies?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D5A128D-4B6C-48B4-9002-C5DB83DDDE2B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/>
              <a:t>(C) Préparé par Chan Sitha Méas, Marie-Eve Quenneville et Michel Vézina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405B610-4A3C-4B1E-85F9-5C6C98EF5D3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43</a:t>
            </a:fld>
            <a:endParaRPr lang="fr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EBCBCF-B939-46C4-ACB1-59B0DB96CD99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425038" y="2279564"/>
            <a:ext cx="3040083" cy="130628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Division A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91637D-1A41-4963-BB3C-D93E32880200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394199" y="2256062"/>
            <a:ext cx="3040083" cy="130628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Division B</a:t>
            </a: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F614603B-5227-4377-AF7E-CD5243280495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4486232" y="2909205"/>
            <a:ext cx="188685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DF7CAA71-498B-408D-9D9C-AEA8FE12EC1F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5091874" y="2489037"/>
            <a:ext cx="942109" cy="561103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/>
          <a:p>
            <a:pPr>
              <a:buClr>
                <a:schemeClr val="accent2"/>
              </a:buClr>
              <a:buSzPct val="125000"/>
            </a:pPr>
            <a:r>
              <a:rPr lang="fr-CA" sz="1670" dirty="0"/>
              <a:t>80% 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38294947-F91D-4FDE-B96F-D3421F3A8613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2945079" y="3673228"/>
            <a:ext cx="0" cy="679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C602D06-8B44-4938-BF82-492B21AEEEF1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425038" y="4353091"/>
            <a:ext cx="3040083" cy="130628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Clients externes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1AB76EE-0F43-42E8-A4C0-D8426F217D96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3294739" y="3791988"/>
            <a:ext cx="942109" cy="561103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/>
          <a:p>
            <a:pPr>
              <a:buClr>
                <a:schemeClr val="accent2"/>
              </a:buClr>
              <a:buSzPct val="125000"/>
            </a:pPr>
            <a:r>
              <a:rPr lang="fr-CA" sz="1670" dirty="0"/>
              <a:t>20% </a:t>
            </a:r>
          </a:p>
        </p:txBody>
      </p:sp>
    </p:spTree>
    <p:extLst>
      <p:ext uri="{BB962C8B-B14F-4D97-AF65-F5344CB8AC3E}">
        <p14:creationId xmlns:p14="http://schemas.microsoft.com/office/powerpoint/2010/main" val="4160154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0C4E05-4557-4AB4-9F7B-8B8188A70CD1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Qui devrait profiter des économies?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D5A128D-4B6C-48B4-9002-C5DB83DDDE2B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/>
              <a:t>(C) Préparé par Chan Sitha Méas, Marie-Eve Quenneville et Michel Vézina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405B610-4A3C-4B1E-85F9-5C6C98EF5D3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44</a:t>
            </a:fld>
            <a:endParaRPr lang="fr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EBCBCF-B939-46C4-ACB1-59B0DB96CD99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425038" y="2279564"/>
            <a:ext cx="3040083" cy="130628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Division A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91637D-1A41-4963-BB3C-D93E32880200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394199" y="2256062"/>
            <a:ext cx="3040083" cy="130628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Division B</a:t>
            </a: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F614603B-5227-4377-AF7E-CD5243280495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4486232" y="2909205"/>
            <a:ext cx="188685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DF7CAA71-498B-408D-9D9C-AEA8FE12EC1F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5091874" y="2489037"/>
            <a:ext cx="942109" cy="561103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/>
          <a:p>
            <a:pPr>
              <a:buClr>
                <a:schemeClr val="accent2"/>
              </a:buClr>
              <a:buSzPct val="125000"/>
            </a:pPr>
            <a:r>
              <a:rPr lang="fr-CA" sz="1670" dirty="0"/>
              <a:t>80% 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38294947-F91D-4FDE-B96F-D3421F3A8613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2945079" y="3673228"/>
            <a:ext cx="0" cy="679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C602D06-8B44-4938-BF82-492B21AEEEF1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425038" y="4353091"/>
            <a:ext cx="3040083" cy="130628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Clients externes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1AB76EE-0F43-42E8-A4C0-D8426F217D96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3294739" y="3791988"/>
            <a:ext cx="942109" cy="561103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/>
          <a:p>
            <a:pPr>
              <a:buClr>
                <a:schemeClr val="accent2"/>
              </a:buClr>
              <a:buSzPct val="125000"/>
            </a:pPr>
            <a:r>
              <a:rPr lang="fr-CA" sz="1670" dirty="0"/>
              <a:t>20%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27702E-D50C-46E9-94F6-46755470D117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5091875" y="4120737"/>
            <a:ext cx="5842526" cy="2097023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dirty="0"/>
              <a:t>A existe principalement pour pourvoir aux besoins de B. C’est donc B qui devrait bénéficier de la diminution des coûts créée par l’augmentation de l’occupation de la capacité. Plus la demande de B augmente, plus le PCI diminuera. </a:t>
            </a:r>
          </a:p>
        </p:txBody>
      </p:sp>
    </p:spTree>
    <p:extLst>
      <p:ext uri="{BB962C8B-B14F-4D97-AF65-F5344CB8AC3E}">
        <p14:creationId xmlns:p14="http://schemas.microsoft.com/office/powerpoint/2010/main" val="23883572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0C4E05-4557-4AB4-9F7B-8B8188A70CD1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Qui devrait profiter des économies?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D5A128D-4B6C-48B4-9002-C5DB83DDDE2B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/>
              <a:t>(C) Préparé par Chan Sitha Méas, Marie-Eve Quenneville et Michel Vézina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405B610-4A3C-4B1E-85F9-5C6C98EF5D3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45</a:t>
            </a:fld>
            <a:endParaRPr lang="fr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EBCBCF-B939-46C4-ACB1-59B0DB96CD99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425038" y="2279564"/>
            <a:ext cx="3040083" cy="130628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Division A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91637D-1A41-4963-BB3C-D93E32880200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394199" y="2256062"/>
            <a:ext cx="3040083" cy="130628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Division B</a:t>
            </a: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F614603B-5227-4377-AF7E-CD5243280495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4486232" y="2909205"/>
            <a:ext cx="188685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DF7CAA71-498B-408D-9D9C-AEA8FE12EC1F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945079" y="3743364"/>
            <a:ext cx="1638792" cy="561103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/>
          <a:p>
            <a:pPr>
              <a:buClr>
                <a:schemeClr val="accent2"/>
              </a:buClr>
              <a:buSzPct val="125000"/>
            </a:pPr>
            <a:r>
              <a:rPr lang="fr-CA" sz="1670" dirty="0"/>
              <a:t>80%  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38294947-F91D-4FDE-B96F-D3421F3A8613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2945079" y="3673228"/>
            <a:ext cx="0" cy="679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C602D06-8B44-4938-BF82-492B21AEEEF1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425038" y="4353091"/>
            <a:ext cx="3040083" cy="130628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Clients externes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1AB76EE-0F43-42E8-A4C0-D8426F217D96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4970481" y="2628652"/>
            <a:ext cx="1228438" cy="561103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/>
          <a:p>
            <a:pPr>
              <a:buClr>
                <a:schemeClr val="accent2"/>
              </a:buClr>
              <a:buSzPct val="125000"/>
            </a:pPr>
            <a:r>
              <a:rPr lang="fr-CA" sz="1670" dirty="0"/>
              <a:t>20% </a:t>
            </a:r>
          </a:p>
        </p:txBody>
      </p:sp>
    </p:spTree>
    <p:extLst>
      <p:ext uri="{BB962C8B-B14F-4D97-AF65-F5344CB8AC3E}">
        <p14:creationId xmlns:p14="http://schemas.microsoft.com/office/powerpoint/2010/main" val="31787852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0C4E05-4557-4AB4-9F7B-8B8188A70CD1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Qui devrait profiter des économies?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D5A128D-4B6C-48B4-9002-C5DB83DDDE2B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/>
              <a:t>(C) Préparé par Chan Sitha Méas, Marie-Eve Quenneville et Michel Vézina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405B610-4A3C-4B1E-85F9-5C6C98EF5D3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46</a:t>
            </a:fld>
            <a:endParaRPr lang="fr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EBCBCF-B939-46C4-ACB1-59B0DB96CD99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425038" y="2279564"/>
            <a:ext cx="3040083" cy="130628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Division A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91637D-1A41-4963-BB3C-D93E32880200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394199" y="2256062"/>
            <a:ext cx="3040083" cy="130628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Division B</a:t>
            </a: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F614603B-5227-4377-AF7E-CD5243280495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4486232" y="2909205"/>
            <a:ext cx="188685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DF7CAA71-498B-408D-9D9C-AEA8FE12EC1F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945079" y="3743364"/>
            <a:ext cx="1638792" cy="561103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/>
          <a:p>
            <a:pPr>
              <a:buClr>
                <a:schemeClr val="accent2"/>
              </a:buClr>
              <a:buSzPct val="125000"/>
            </a:pPr>
            <a:r>
              <a:rPr lang="fr-CA" sz="1670" dirty="0"/>
              <a:t>90%  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38294947-F91D-4FDE-B96F-D3421F3A8613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2945079" y="3673228"/>
            <a:ext cx="0" cy="679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C602D06-8B44-4938-BF82-492B21AEEEF1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425038" y="4353091"/>
            <a:ext cx="3040083" cy="130628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Clients externes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1AB76EE-0F43-42E8-A4C0-D8426F217D96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4970481" y="2628652"/>
            <a:ext cx="1228438" cy="561103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/>
          <a:p>
            <a:pPr>
              <a:buClr>
                <a:schemeClr val="accent2"/>
              </a:buClr>
              <a:buSzPct val="125000"/>
            </a:pPr>
            <a:r>
              <a:rPr lang="fr-CA" sz="1670" dirty="0"/>
              <a:t>10%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F29577-FAB6-4654-AD76-AB6C2B6807CD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5091875" y="4120737"/>
            <a:ext cx="5842526" cy="2097023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dirty="0"/>
              <a:t>A vend majoritairement ses produits sur le marché externe. B utilise une petite partie de la capacité de A. Si A réussi à vendre davantage de produits sur le marché, c’est elle qui a fait les efforts pour développer ce marché et doit donc en recevoir le résultat. Il serait injuste que le PCI à B soit diminué en raison de l’augmentation des ventes externes de A. </a:t>
            </a:r>
          </a:p>
        </p:txBody>
      </p:sp>
    </p:spTree>
    <p:extLst>
      <p:ext uri="{BB962C8B-B14F-4D97-AF65-F5344CB8AC3E}">
        <p14:creationId xmlns:p14="http://schemas.microsoft.com/office/powerpoint/2010/main" val="35976261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Espace réservé du pied de page 3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>
          <a:xfrm>
            <a:off x="8018929" y="6165476"/>
            <a:ext cx="2070847" cy="443753"/>
          </a:xfrm>
          <a:noFill/>
        </p:spPr>
        <p:txBody>
          <a:bodyPr/>
          <a:lstStyle/>
          <a:p>
            <a:pPr algn="r"/>
            <a:r>
              <a:rPr lang="fr-CA"/>
              <a:t>(C) Préparé par Chan Sitha Méas, Marie-Eve Quenneville et Michel Vézina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47</a:t>
            </a:fld>
            <a:endParaRPr lang="fr-CA"/>
          </a:p>
        </p:txBody>
      </p:sp>
      <p:graphicFrame>
        <p:nvGraphicFramePr>
          <p:cNvPr id="3074" name="Object 2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449030" y="1978931"/>
          <a:ext cx="2905966" cy="24468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2" imgW="2790825" imgH="2362200" progId="Excel.Sheet.8">
                  <p:embed/>
                </p:oleObj>
              </mc:Choice>
              <mc:Fallback>
                <p:oleObj name="Worksheet" r:id="rId22" imgW="2790825" imgH="2362200" progId="Excel.Sheet.8">
                  <p:embed/>
                  <p:pic>
                    <p:nvPicPr>
                      <p:cNvPr id="3074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030" y="1978931"/>
                        <a:ext cx="2905966" cy="24468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6" name="Rectangle 10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758518" y="2689413"/>
            <a:ext cx="1109382" cy="3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9367" tIns="44684" rIns="89367" bIns="44684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fr-CA" sz="1941" b="1">
                <a:effectLst>
                  <a:outerShdw blurRad="38100" dist="38100" dir="2700000" algn="tl">
                    <a:srgbClr val="FFFFFF"/>
                  </a:outerShdw>
                </a:effectLst>
              </a:rPr>
              <a:t>PV:15$</a:t>
            </a:r>
          </a:p>
        </p:txBody>
      </p:sp>
      <p:graphicFrame>
        <p:nvGraphicFramePr>
          <p:cNvPr id="3075" name="Object 3"/>
          <p:cNvGraphicFramePr>
            <a:graphicFrameLocks/>
          </p:cNvGraphicFramePr>
          <p:nvPr>
            <p:custDataLst>
              <p:tags r:id="rId5"/>
            </p:custDataLst>
          </p:nvPr>
        </p:nvGraphicFramePr>
        <p:xfrm>
          <a:off x="5903400" y="3180931"/>
          <a:ext cx="4064654" cy="28443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euille Microsoft Excel" r:id="rId24" imgW="4705200" imgH="3038400" progId="Excel.Sheet.5">
                  <p:embed/>
                </p:oleObj>
              </mc:Choice>
              <mc:Fallback>
                <p:oleObj name="Feuille Microsoft Excel" r:id="rId24" imgW="4705200" imgH="3038400" progId="Excel.Sheet.5">
                  <p:embed/>
                  <p:pic>
                    <p:nvPicPr>
                      <p:cNvPr id="3075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3400" y="3180931"/>
                        <a:ext cx="4064654" cy="28443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6" name="Rectangle 12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995893" y="4174751"/>
            <a:ext cx="1910603" cy="727262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r>
              <a:rPr lang="fr-CA" sz="1941"/>
              <a:t>PCI = Coût</a:t>
            </a:r>
          </a:p>
          <a:p>
            <a:r>
              <a:rPr lang="fr-CA" sz="1941"/>
              <a:t>          complet</a:t>
            </a:r>
          </a:p>
        </p:txBody>
      </p:sp>
      <p:sp>
        <p:nvSpPr>
          <p:cNvPr id="3087" name="Line 13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4912659" y="4464424"/>
            <a:ext cx="81354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fr-CA" sz="1941"/>
          </a:p>
        </p:txBody>
      </p:sp>
      <p:sp>
        <p:nvSpPr>
          <p:cNvPr id="3088" name="Rectangle 14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5732369" y="3804957"/>
            <a:ext cx="4499162" cy="117101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CA" sz="1941"/>
          </a:p>
        </p:txBody>
      </p:sp>
      <p:sp>
        <p:nvSpPr>
          <p:cNvPr id="3089" name="Rectangle 15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2995893" y="5432051"/>
            <a:ext cx="1910603" cy="801221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r>
              <a:rPr lang="fr-CA" sz="1941"/>
              <a:t>PCI = Coût</a:t>
            </a:r>
          </a:p>
          <a:p>
            <a:r>
              <a:rPr lang="fr-CA" sz="1941"/>
              <a:t>          variable</a:t>
            </a:r>
          </a:p>
        </p:txBody>
      </p:sp>
      <p:sp>
        <p:nvSpPr>
          <p:cNvPr id="3090" name="Line 16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4912659" y="5721724"/>
            <a:ext cx="81354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fr-CA" sz="1941"/>
          </a:p>
        </p:txBody>
      </p:sp>
      <p:sp>
        <p:nvSpPr>
          <p:cNvPr id="3091" name="Rectangle 17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5732369" y="5062257"/>
            <a:ext cx="4499162" cy="117101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CA" sz="1941"/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B99A1F58-A87A-45FC-8A82-E850C51A0377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1425038" y="899562"/>
            <a:ext cx="8918369" cy="1303728"/>
            <a:chOff x="5954246" y="2251822"/>
            <a:chExt cx="4357407" cy="914158"/>
          </a:xfrm>
        </p:grpSpPr>
        <p:sp>
          <p:nvSpPr>
            <p:cNvPr id="23" name="Rectangle 4">
              <a:extLst>
                <a:ext uri="{FF2B5EF4-FFF2-40B4-BE49-F238E27FC236}">
                  <a16:creationId xmlns:a16="http://schemas.microsoft.com/office/drawing/2014/main" id="{A12AE1C9-1C70-4813-B049-EE6896E37229}"/>
                </a:ext>
              </a:extLst>
            </p:cNvPr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5954246" y="2251822"/>
              <a:ext cx="949138" cy="57934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lIns="89367" tIns="44684" rIns="89367" bIns="44684" anchor="ctr"/>
            <a:lstStyle/>
            <a:p>
              <a:pPr algn="ctr">
                <a:defRPr/>
              </a:pPr>
              <a:r>
                <a:rPr lang="fr-CA" sz="1941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Division</a:t>
              </a:r>
            </a:p>
            <a:p>
              <a:pPr algn="ctr">
                <a:defRPr/>
              </a:pPr>
              <a:r>
                <a:rPr lang="fr-CA" sz="1941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</a:t>
              </a:r>
            </a:p>
          </p:txBody>
        </p:sp>
        <p:sp>
          <p:nvSpPr>
            <p:cNvPr id="24" name="Rectangle 5">
              <a:extLst>
                <a:ext uri="{FF2B5EF4-FFF2-40B4-BE49-F238E27FC236}">
                  <a16:creationId xmlns:a16="http://schemas.microsoft.com/office/drawing/2014/main" id="{705DAEDB-3003-4072-B223-EA5B2285BDA3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7729257" y="2251822"/>
              <a:ext cx="949138" cy="57934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lIns="89367" tIns="44684" rIns="89367" bIns="44684" anchor="ctr"/>
            <a:lstStyle/>
            <a:p>
              <a:pPr algn="ctr">
                <a:defRPr/>
              </a:pPr>
              <a:r>
                <a:rPr lang="fr-CA" sz="194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Division</a:t>
              </a:r>
            </a:p>
            <a:p>
              <a:pPr algn="ctr">
                <a:defRPr/>
              </a:pPr>
              <a:r>
                <a:rPr lang="fr-CA" sz="194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B</a:t>
              </a:r>
            </a:p>
          </p:txBody>
        </p:sp>
        <p:sp>
          <p:nvSpPr>
            <p:cNvPr id="25" name="Rectangle 6">
              <a:extLst>
                <a:ext uri="{FF2B5EF4-FFF2-40B4-BE49-F238E27FC236}">
                  <a16:creationId xmlns:a16="http://schemas.microsoft.com/office/drawing/2014/main" id="{F586877A-50FC-4EC0-B574-86648CC019AF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9498106" y="2319618"/>
              <a:ext cx="813547" cy="38891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89367" tIns="44684" rIns="89367" bIns="44684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fr-CA" sz="194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Client</a:t>
              </a:r>
            </a:p>
          </p:txBody>
        </p:sp>
        <p:sp>
          <p:nvSpPr>
            <p:cNvPr id="26" name="Line 7">
              <a:extLst>
                <a:ext uri="{FF2B5EF4-FFF2-40B4-BE49-F238E27FC236}">
                  <a16:creationId xmlns:a16="http://schemas.microsoft.com/office/drawing/2014/main" id="{835254CB-BEFB-489D-B6BC-1FBAED113006}"/>
                </a:ext>
              </a:extLst>
            </p:cNvPr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>
              <a:off x="6909547" y="2541494"/>
              <a:ext cx="813547" cy="0"/>
            </a:xfrm>
            <a:prstGeom prst="line">
              <a:avLst/>
            </a:prstGeom>
            <a:ln>
              <a:headEnd type="none" w="sm" len="sm"/>
              <a:tailEnd type="stealth" w="med" len="lg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fr-CA" sz="1941"/>
            </a:p>
          </p:txBody>
        </p:sp>
        <p:sp>
          <p:nvSpPr>
            <p:cNvPr id="27" name="Line 8">
              <a:extLst>
                <a:ext uri="{FF2B5EF4-FFF2-40B4-BE49-F238E27FC236}">
                  <a16:creationId xmlns:a16="http://schemas.microsoft.com/office/drawing/2014/main" id="{DD5355BC-50DD-431C-A013-3CA7C032DCEB}"/>
                </a:ext>
              </a:extLst>
            </p:cNvPr>
            <p:cNvSpPr>
              <a:spLocks noChangeShapeType="1"/>
            </p:cNvSpPr>
            <p:nvPr>
              <p:custDataLst>
                <p:tags r:id="rId17"/>
              </p:custDataLst>
            </p:nvPr>
          </p:nvSpPr>
          <p:spPr bwMode="auto">
            <a:xfrm>
              <a:off x="8684559" y="2541494"/>
              <a:ext cx="813547" cy="0"/>
            </a:xfrm>
            <a:prstGeom prst="line">
              <a:avLst/>
            </a:prstGeom>
            <a:ln>
              <a:headEnd type="none" w="sm" len="sm"/>
              <a:tailEnd type="stealth" w="med" len="lg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fr-CA" sz="1941"/>
            </a:p>
          </p:txBody>
        </p:sp>
        <p:sp>
          <p:nvSpPr>
            <p:cNvPr id="28" name="Rectangle 9">
              <a:extLst>
                <a:ext uri="{FF2B5EF4-FFF2-40B4-BE49-F238E27FC236}">
                  <a16:creationId xmlns:a16="http://schemas.microsoft.com/office/drawing/2014/main" id="{10674863-E913-409D-A4A8-2D8AF8104F1C}"/>
                </a:ext>
              </a:extLst>
            </p:cNvPr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7025932" y="2681647"/>
              <a:ext cx="574615" cy="32701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lIns="89367" tIns="44684" rIns="89367" bIns="44684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fr-CA" sz="1941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PCI</a:t>
              </a:r>
            </a:p>
          </p:txBody>
        </p:sp>
        <p:sp>
          <p:nvSpPr>
            <p:cNvPr id="29" name="Rectangle 10">
              <a:extLst>
                <a:ext uri="{FF2B5EF4-FFF2-40B4-BE49-F238E27FC236}">
                  <a16:creationId xmlns:a16="http://schemas.microsoft.com/office/drawing/2014/main" id="{4B6CB66A-EF75-4063-A178-8C01D43695F2}"/>
                </a:ext>
              </a:extLst>
            </p:cNvPr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9498106" y="2839227"/>
              <a:ext cx="813547" cy="32675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lIns="89367" tIns="44684" rIns="89367" bIns="44684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fr-CA" sz="1941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PV:15$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98636156"/>
      </p:ext>
    </p:extLst>
  </p:cSld>
  <p:clrMapOvr>
    <a:masterClrMapping/>
  </p:clrMapOvr>
  <p:transition>
    <p:rand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PCI basé sur les coûts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marL="197782" lvl="2" indent="-197782">
              <a:buFont typeface="Arial" pitchFamily="34" charset="0"/>
              <a:buChar char="•"/>
            </a:pPr>
            <a:r>
              <a:rPr lang="fr-CA" sz="2118" dirty="0"/>
              <a:t>Coûts complets avec ou sans marge bénéficiaire</a:t>
            </a:r>
          </a:p>
          <a:p>
            <a:pPr marL="422535" lvl="3" indent="-197782"/>
            <a:r>
              <a:rPr lang="fr-CA" sz="1941" dirty="0"/>
              <a:t>Permet à la division vendeuse de récupérer tous ces coûts</a:t>
            </a:r>
          </a:p>
          <a:p>
            <a:pPr marL="422535" lvl="3" indent="-197782"/>
            <a:r>
              <a:rPr lang="fr-CA" sz="1941" dirty="0"/>
              <a:t>Tient compte de la capacité</a:t>
            </a:r>
          </a:p>
          <a:p>
            <a:pPr marL="422535" lvl="3" indent="-197782"/>
            <a:endParaRPr lang="fr-CA" sz="1941" dirty="0"/>
          </a:p>
          <a:p>
            <a:pPr marL="302575" lvl="2" indent="-302575">
              <a:buFont typeface="Arial" panose="020B0604020202020204" pitchFamily="34" charset="0"/>
              <a:buChar char="•"/>
            </a:pPr>
            <a:r>
              <a:rPr lang="fr-CA" sz="2118" dirty="0"/>
              <a:t>Coûts variables avec ou sans montant forfaitaire additionnel:</a:t>
            </a:r>
          </a:p>
          <a:p>
            <a:pPr marL="527328" lvl="3" indent="-302575"/>
            <a:r>
              <a:rPr lang="fr-CA" sz="1941" dirty="0"/>
              <a:t>Représente le coût additionnel de production d’une unité supplémentaire</a:t>
            </a:r>
          </a:p>
          <a:p>
            <a:pPr marL="527328" lvl="3" indent="-302575"/>
            <a:r>
              <a:rPr lang="fr-CA" sz="1941" dirty="0"/>
              <a:t>Évite d’avoir à répartir les frais fixes</a:t>
            </a:r>
          </a:p>
          <a:p>
            <a:endParaRPr lang="fr-CA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CA"/>
              <a:t>(C) Préparé par Chan Sitha Méas, Marie-Eve Quenneville et Michel Vézina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48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0026185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PCI imposé par le siège  social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marL="197782" lvl="2" indent="-197782">
              <a:buFont typeface="Arial" pitchFamily="34" charset="0"/>
              <a:buChar char="•"/>
            </a:pPr>
            <a:r>
              <a:rPr lang="fr-CA" sz="2118" dirty="0"/>
              <a:t>Entreprise fortement centralisée</a:t>
            </a:r>
          </a:p>
          <a:p>
            <a:pPr marL="197782" lvl="2" indent="-197782">
              <a:buFont typeface="Arial" pitchFamily="34" charset="0"/>
              <a:buChar char="•"/>
            </a:pPr>
            <a:r>
              <a:rPr lang="fr-CA" sz="2118" dirty="0"/>
              <a:t>Pas de marché externe pour le service ou la composante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CA"/>
              <a:t>(C) Préparé par Chan Sitha Méas, Marie-Eve Quenneville et Michel Vézina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49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781772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PCI – facteurs importants à considérer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marL="197782" lvl="2" indent="-197782">
              <a:buFont typeface="Arial" pitchFamily="34" charset="0"/>
              <a:buChar char="•"/>
            </a:pPr>
            <a:r>
              <a:rPr lang="fr-CA" sz="2118" dirty="0"/>
              <a:t>Stratégie de l’entreprise</a:t>
            </a:r>
          </a:p>
          <a:p>
            <a:pPr marL="197782" lvl="2" indent="-197782">
              <a:buFont typeface="Arial" pitchFamily="34" charset="0"/>
              <a:buChar char="•"/>
            </a:pPr>
            <a:r>
              <a:rPr lang="fr-CA" sz="2118" dirty="0"/>
              <a:t>Les coûts fixes d’une unité deviennent les coûts variables pour l’autre</a:t>
            </a:r>
          </a:p>
          <a:p>
            <a:pPr marL="197782" lvl="2" indent="-197782">
              <a:buFont typeface="Arial" pitchFamily="34" charset="0"/>
              <a:buChar char="•"/>
            </a:pPr>
            <a:r>
              <a:rPr lang="fr-CA" sz="2118" dirty="0"/>
              <a:t>Les marges d’une unité deviennent des coûts pour le client interne</a:t>
            </a:r>
          </a:p>
          <a:p>
            <a:pPr marL="197782" lvl="2" indent="-197782">
              <a:buFont typeface="Arial" pitchFamily="34" charset="0"/>
              <a:buChar char="•"/>
            </a:pPr>
            <a:r>
              <a:rPr lang="fr-CA" sz="2118" dirty="0"/>
              <a:t>Excédent ou non de capacité</a:t>
            </a:r>
          </a:p>
          <a:p>
            <a:pPr marL="197782" lvl="2" indent="-197782">
              <a:buFont typeface="Arial" pitchFamily="34" charset="0"/>
              <a:buChar char="•"/>
            </a:pPr>
            <a:r>
              <a:rPr lang="fr-CA" sz="2118" dirty="0"/>
              <a:t>Les marchés externes peuvent être difficiles à identifier a priori</a:t>
            </a:r>
          </a:p>
          <a:p>
            <a:pPr marL="197782" lvl="2" indent="-197782">
              <a:buFont typeface="Arial" pitchFamily="34" charset="0"/>
              <a:buChar char="•"/>
            </a:pPr>
            <a:r>
              <a:rPr lang="fr-CA" sz="2118" dirty="0"/>
              <a:t>Transfert d’inefficience</a:t>
            </a:r>
          </a:p>
          <a:p>
            <a:pPr marL="197782" lvl="2" indent="-197782">
              <a:buFont typeface="Arial" pitchFamily="34" charset="0"/>
              <a:buChar char="•"/>
            </a:pPr>
            <a:r>
              <a:rPr lang="fr-CA" sz="2118" dirty="0"/>
              <a:t>Conflits entre les préoccupations fiscales et comportementales</a:t>
            </a:r>
          </a:p>
          <a:p>
            <a:pPr marL="197782" lvl="2" indent="-197782">
              <a:buFont typeface="Arial" pitchFamily="34" charset="0"/>
              <a:buChar char="•"/>
            </a:pPr>
            <a:r>
              <a:rPr lang="fr-CA" sz="2118" dirty="0"/>
              <a:t>Frais évitables si la transaction se fait à l’interne</a:t>
            </a:r>
          </a:p>
          <a:p>
            <a:endParaRPr lang="fr-CA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CA"/>
              <a:t>(C) Préparé par Chan Sitha Méas, Marie-Eve Quenneville et Michel Vézina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50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3278958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heme/theme1.xml><?xml version="1.0" encoding="utf-8"?>
<a:theme xmlns:a="http://schemas.openxmlformats.org/drawingml/2006/main" name="Thème HEC">
  <a:themeElements>
    <a:clrScheme name="HEC2">
      <a:dk1>
        <a:srgbClr val="000000"/>
      </a:dk1>
      <a:lt1>
        <a:srgbClr val="FFFFFF"/>
      </a:lt1>
      <a:dk2>
        <a:srgbClr val="97999B"/>
      </a:dk2>
      <a:lt2>
        <a:srgbClr val="EFF0F0"/>
      </a:lt2>
      <a:accent1>
        <a:srgbClr val="009FDF"/>
      </a:accent1>
      <a:accent2>
        <a:srgbClr val="003C71"/>
      </a:accent2>
      <a:accent3>
        <a:srgbClr val="D40F7D"/>
      </a:accent3>
      <a:accent4>
        <a:srgbClr val="FE5000"/>
      </a:accent4>
      <a:accent5>
        <a:srgbClr val="00C1D5"/>
      </a:accent5>
      <a:accent6>
        <a:srgbClr val="005EB8"/>
      </a:accent6>
      <a:hlink>
        <a:srgbClr val="003C71"/>
      </a:hlink>
      <a:folHlink>
        <a:srgbClr val="9678D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91440" tIns="45720" rIns="91440" bIns="45720" rtlCol="0">
        <a:normAutofit/>
      </a:bodyPr>
      <a:lstStyle>
        <a:defPPr marL="154800" indent="-154800">
          <a:buClr>
            <a:schemeClr val="accent2"/>
          </a:buClr>
          <a:buSzPct val="125000"/>
          <a:buFont typeface="Arial" panose="020B0604020202020204" pitchFamily="34" charset="0"/>
          <a:buChar char="•"/>
          <a:defRPr sz="167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4" id="{749738AF-2EB5-5C4A-8D68-2085B3322EC2}" vid="{E6667002-824B-604B-B5DE-D77202227FBF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1906</TotalTime>
  <Words>3077</Words>
  <Application>Microsoft Office PowerPoint</Application>
  <PresentationFormat>Grand écran</PresentationFormat>
  <Paragraphs>691</Paragraphs>
  <Slides>50</Slides>
  <Notes>46</Notes>
  <HiddenSlides>0</HiddenSlides>
  <MMClips>0</MMClips>
  <ScaleCrop>false</ScaleCrop>
  <HeadingPairs>
    <vt:vector size="8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2</vt:i4>
      </vt:variant>
      <vt:variant>
        <vt:lpstr>Titres des diapositives</vt:lpstr>
      </vt:variant>
      <vt:variant>
        <vt:i4>50</vt:i4>
      </vt:variant>
    </vt:vector>
  </HeadingPairs>
  <TitlesOfParts>
    <vt:vector size="57" baseType="lpstr">
      <vt:lpstr>Arial</vt:lpstr>
      <vt:lpstr>Calibri</vt:lpstr>
      <vt:lpstr>CG Times (W1)</vt:lpstr>
      <vt:lpstr>Wingdings</vt:lpstr>
      <vt:lpstr>Thème HEC</vt:lpstr>
      <vt:lpstr>Worksheet</vt:lpstr>
      <vt:lpstr>Feuille Microsoft Excel</vt:lpstr>
      <vt:lpstr>Contrôle de gestion stratégique </vt:lpstr>
      <vt:lpstr>1. Gestion décentralisée</vt:lpstr>
      <vt:lpstr>Caractéristiques principales</vt:lpstr>
      <vt:lpstr>Centralisation </vt:lpstr>
      <vt:lpstr>Décentralisation </vt:lpstr>
      <vt:lpstr>Décentralisation </vt:lpstr>
      <vt:lpstr>Défi de la décentralisation </vt:lpstr>
      <vt:lpstr>Objectif à ne jamais perdre de vue</vt:lpstr>
      <vt:lpstr>Triade de la décentralisation </vt:lpstr>
      <vt:lpstr>Triade de la décentralisation </vt:lpstr>
      <vt:lpstr>Triade de la décentralisation </vt:lpstr>
      <vt:lpstr>Triade de la décentralisation </vt:lpstr>
      <vt:lpstr>Triade de la décentralisation </vt:lpstr>
      <vt:lpstr>Centre de responsabilité et mesure de la performance</vt:lpstr>
      <vt:lpstr>Centre de responsabilité</vt:lpstr>
      <vt:lpstr>Centre de revenus</vt:lpstr>
      <vt:lpstr>Centre de revenus</vt:lpstr>
      <vt:lpstr>Centre de coûts</vt:lpstr>
      <vt:lpstr>Centre de coûts</vt:lpstr>
      <vt:lpstr>Centre de coûts</vt:lpstr>
      <vt:lpstr>Centre de profits</vt:lpstr>
      <vt:lpstr>Centre de profits</vt:lpstr>
      <vt:lpstr>Centre de profits</vt:lpstr>
      <vt:lpstr>Centre d’investissement</vt:lpstr>
      <vt:lpstr>Centre d’investissement</vt:lpstr>
      <vt:lpstr>Prix de cession interne</vt:lpstr>
      <vt:lpstr>Prix de cession interne</vt:lpstr>
      <vt:lpstr>Prix de cession interne</vt:lpstr>
      <vt:lpstr>Présentation PowerPoint</vt:lpstr>
      <vt:lpstr>Présentation PowerPoint</vt:lpstr>
      <vt:lpstr>PCI basé sur le prix du marché</vt:lpstr>
      <vt:lpstr>PCI négocié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PCI basé sur les coûts budgétisés vs réel</vt:lpstr>
      <vt:lpstr>Présentation PowerPoint</vt:lpstr>
      <vt:lpstr>Présentation PowerPoint</vt:lpstr>
      <vt:lpstr>Présentation PowerPoint</vt:lpstr>
      <vt:lpstr>Qui devrait profiter des économies?</vt:lpstr>
      <vt:lpstr>Qui devrait profiter des économies?</vt:lpstr>
      <vt:lpstr>Qui devrait profiter des économies?</vt:lpstr>
      <vt:lpstr>Qui devrait profiter des économies?</vt:lpstr>
      <vt:lpstr>Présentation PowerPoint</vt:lpstr>
      <vt:lpstr>PCI basé sur les coûts </vt:lpstr>
      <vt:lpstr>PCI imposé par le siège  social</vt:lpstr>
      <vt:lpstr>PCI – facteurs importants à considérer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SOKRI Marzouk</cp:lastModifiedBy>
  <cp:revision>9</cp:revision>
  <dcterms:created xsi:type="dcterms:W3CDTF">2020-11-06T17:14:33Z</dcterms:created>
  <dcterms:modified xsi:type="dcterms:W3CDTF">2025-03-17T22:51:11Z</dcterms:modified>
</cp:coreProperties>
</file>