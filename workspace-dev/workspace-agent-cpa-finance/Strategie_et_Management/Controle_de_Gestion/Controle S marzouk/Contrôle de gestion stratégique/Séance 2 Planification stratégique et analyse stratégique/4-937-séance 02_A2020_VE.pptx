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47" r:id="rId1"/>
  </p:sldMasterIdLst>
  <p:notesMasterIdLst>
    <p:notesMasterId r:id="rId32"/>
  </p:notesMasterIdLst>
  <p:sldIdLst>
    <p:sldId id="261" r:id="rId2"/>
    <p:sldId id="318" r:id="rId3"/>
    <p:sldId id="319" r:id="rId4"/>
    <p:sldId id="297" r:id="rId5"/>
    <p:sldId id="301" r:id="rId6"/>
    <p:sldId id="320" r:id="rId7"/>
    <p:sldId id="312" r:id="rId8"/>
    <p:sldId id="298" r:id="rId9"/>
    <p:sldId id="299" r:id="rId10"/>
    <p:sldId id="300" r:id="rId11"/>
    <p:sldId id="313" r:id="rId12"/>
    <p:sldId id="315" r:id="rId13"/>
    <p:sldId id="314" r:id="rId14"/>
    <p:sldId id="303" r:id="rId15"/>
    <p:sldId id="316" r:id="rId16"/>
    <p:sldId id="321" r:id="rId17"/>
    <p:sldId id="302" r:id="rId18"/>
    <p:sldId id="308" r:id="rId19"/>
    <p:sldId id="304" r:id="rId20"/>
    <p:sldId id="305" r:id="rId21"/>
    <p:sldId id="280" r:id="rId22"/>
    <p:sldId id="311" r:id="rId23"/>
    <p:sldId id="294" r:id="rId24"/>
    <p:sldId id="310" r:id="rId25"/>
    <p:sldId id="317" r:id="rId26"/>
    <p:sldId id="288" r:id="rId27"/>
    <p:sldId id="323" r:id="rId28"/>
    <p:sldId id="282" r:id="rId29"/>
    <p:sldId id="322" r:id="rId30"/>
    <p:sldId id="324" r:id="rId31"/>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482" autoAdjust="0"/>
    <p:restoredTop sz="75480" autoAdjust="0"/>
  </p:normalViewPr>
  <p:slideViewPr>
    <p:cSldViewPr snapToGrid="0">
      <p:cViewPr varScale="1">
        <p:scale>
          <a:sx n="72" d="100"/>
          <a:sy n="72" d="100"/>
        </p:scale>
        <p:origin x="52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iagrams/_rels/data5.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ata7.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rawing5.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7.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64A89E6-5AAC-4698-AB09-ACAFEAB66A76}" type="doc">
      <dgm:prSet loTypeId="urn:microsoft.com/office/officeart/2005/8/layout/cycle3" loCatId="cycle" qsTypeId="urn:microsoft.com/office/officeart/2005/8/quickstyle/simple1" qsCatId="simple" csTypeId="urn:microsoft.com/office/officeart/2005/8/colors/colorful2" csCatId="colorful" phldr="1"/>
      <dgm:spPr/>
      <dgm:t>
        <a:bodyPr/>
        <a:lstStyle/>
        <a:p>
          <a:endParaRPr lang="fr-CA"/>
        </a:p>
      </dgm:t>
    </dgm:pt>
    <dgm:pt modelId="{499D59E3-8CBE-4F1D-93BF-4E123CEE0313}">
      <dgm:prSet phldrT="[Texte]"/>
      <dgm:spPr/>
      <dgm:t>
        <a:bodyPr/>
        <a:lstStyle/>
        <a:p>
          <a:r>
            <a:rPr lang="fr-CA" dirty="0"/>
            <a:t>Vision Mission Valeurs</a:t>
          </a:r>
        </a:p>
      </dgm:t>
    </dgm:pt>
    <dgm:pt modelId="{4E1673E8-BD48-4F59-8F85-501EE5D238B4}" type="parTrans" cxnId="{612BFB1F-EB8E-4B43-ACCA-07786B225A3B}">
      <dgm:prSet/>
      <dgm:spPr/>
      <dgm:t>
        <a:bodyPr/>
        <a:lstStyle/>
        <a:p>
          <a:endParaRPr lang="fr-CA"/>
        </a:p>
      </dgm:t>
    </dgm:pt>
    <dgm:pt modelId="{F3F6B197-6307-48C9-86B3-374F4F7FB9F0}" type="sibTrans" cxnId="{612BFB1F-EB8E-4B43-ACCA-07786B225A3B}">
      <dgm:prSet/>
      <dgm:spPr/>
      <dgm:t>
        <a:bodyPr/>
        <a:lstStyle/>
        <a:p>
          <a:endParaRPr lang="fr-CA"/>
        </a:p>
      </dgm:t>
    </dgm:pt>
    <dgm:pt modelId="{B291A471-F1D1-4003-82AB-B065DF1D3DD0}">
      <dgm:prSet phldrT="[Texte]"/>
      <dgm:spPr/>
      <dgm:t>
        <a:bodyPr/>
        <a:lstStyle/>
        <a:p>
          <a:r>
            <a:rPr lang="fr-CA" dirty="0"/>
            <a:t>Analyse de l’environnement</a:t>
          </a:r>
        </a:p>
      </dgm:t>
    </dgm:pt>
    <dgm:pt modelId="{2674492F-2426-4E9A-AF0E-ABB9B01C7691}" type="parTrans" cxnId="{3F9720F8-4353-4D77-9E4A-994A5F99615A}">
      <dgm:prSet/>
      <dgm:spPr/>
      <dgm:t>
        <a:bodyPr/>
        <a:lstStyle/>
        <a:p>
          <a:endParaRPr lang="fr-CA"/>
        </a:p>
      </dgm:t>
    </dgm:pt>
    <dgm:pt modelId="{083A5DA6-179D-4966-A011-7BB5849B0387}" type="sibTrans" cxnId="{3F9720F8-4353-4D77-9E4A-994A5F99615A}">
      <dgm:prSet/>
      <dgm:spPr/>
      <dgm:t>
        <a:bodyPr/>
        <a:lstStyle/>
        <a:p>
          <a:endParaRPr lang="fr-CA"/>
        </a:p>
      </dgm:t>
    </dgm:pt>
    <dgm:pt modelId="{1725620A-2DA3-45BD-B367-42D50AA0BE3E}">
      <dgm:prSet phldrT="[Texte]"/>
      <dgm:spPr/>
      <dgm:t>
        <a:bodyPr/>
        <a:lstStyle/>
        <a:p>
          <a:r>
            <a:rPr lang="fr-CA" dirty="0"/>
            <a:t>Formulation de la stratégie</a:t>
          </a:r>
        </a:p>
      </dgm:t>
    </dgm:pt>
    <dgm:pt modelId="{ABE80DC4-E4ED-4DB0-81A3-65C9DD20B980}" type="parTrans" cxnId="{6143A740-CFAD-44D9-9D9A-0B1A9D91D152}">
      <dgm:prSet/>
      <dgm:spPr/>
      <dgm:t>
        <a:bodyPr/>
        <a:lstStyle/>
        <a:p>
          <a:endParaRPr lang="fr-CA"/>
        </a:p>
      </dgm:t>
    </dgm:pt>
    <dgm:pt modelId="{57593822-53AA-4106-BF06-DD63B8FF8AB0}" type="sibTrans" cxnId="{6143A740-CFAD-44D9-9D9A-0B1A9D91D152}">
      <dgm:prSet/>
      <dgm:spPr/>
      <dgm:t>
        <a:bodyPr/>
        <a:lstStyle/>
        <a:p>
          <a:endParaRPr lang="fr-CA"/>
        </a:p>
      </dgm:t>
    </dgm:pt>
    <dgm:pt modelId="{DD51F4BC-BBFD-49ED-B8CF-77AF1AAB351B}">
      <dgm:prSet phldrT="[Texte]"/>
      <dgm:spPr/>
      <dgm:t>
        <a:bodyPr/>
        <a:lstStyle/>
        <a:p>
          <a:r>
            <a:rPr lang="fr-CA" dirty="0"/>
            <a:t>Mise en œuvre</a:t>
          </a:r>
        </a:p>
      </dgm:t>
    </dgm:pt>
    <dgm:pt modelId="{1E513146-DE1A-4AE7-B6D6-6A5980EEDEAE}" type="parTrans" cxnId="{34574A90-1246-481E-B1B1-8A898F2A3D78}">
      <dgm:prSet/>
      <dgm:spPr/>
      <dgm:t>
        <a:bodyPr/>
        <a:lstStyle/>
        <a:p>
          <a:endParaRPr lang="fr-CA"/>
        </a:p>
      </dgm:t>
    </dgm:pt>
    <dgm:pt modelId="{294B876D-D5EE-403F-AE06-8DD23EF52660}" type="sibTrans" cxnId="{34574A90-1246-481E-B1B1-8A898F2A3D78}">
      <dgm:prSet/>
      <dgm:spPr/>
      <dgm:t>
        <a:bodyPr/>
        <a:lstStyle/>
        <a:p>
          <a:endParaRPr lang="fr-CA"/>
        </a:p>
      </dgm:t>
    </dgm:pt>
    <dgm:pt modelId="{8C19F8BA-847A-44BD-B426-D0CD5A4075FC}">
      <dgm:prSet phldrT="[Texte]"/>
      <dgm:spPr/>
      <dgm:t>
        <a:bodyPr/>
        <a:lstStyle/>
        <a:p>
          <a:r>
            <a:rPr lang="fr-CA" dirty="0"/>
            <a:t>Évaluation et contrôle </a:t>
          </a:r>
        </a:p>
      </dgm:t>
    </dgm:pt>
    <dgm:pt modelId="{AB5178E6-2744-4F60-834D-35F1550F6D64}" type="parTrans" cxnId="{4C3E2DE9-081B-42B9-9065-1D87795C7F1B}">
      <dgm:prSet/>
      <dgm:spPr/>
      <dgm:t>
        <a:bodyPr/>
        <a:lstStyle/>
        <a:p>
          <a:endParaRPr lang="fr-CA"/>
        </a:p>
      </dgm:t>
    </dgm:pt>
    <dgm:pt modelId="{44144A62-587F-4CC1-8C26-89A8ADF3A244}" type="sibTrans" cxnId="{4C3E2DE9-081B-42B9-9065-1D87795C7F1B}">
      <dgm:prSet/>
      <dgm:spPr/>
      <dgm:t>
        <a:bodyPr/>
        <a:lstStyle/>
        <a:p>
          <a:endParaRPr lang="fr-CA"/>
        </a:p>
      </dgm:t>
    </dgm:pt>
    <dgm:pt modelId="{9F1DA8A9-A89E-4AD2-9C56-D14B941D9036}" type="pres">
      <dgm:prSet presAssocID="{F64A89E6-5AAC-4698-AB09-ACAFEAB66A76}" presName="Name0" presStyleCnt="0">
        <dgm:presLayoutVars>
          <dgm:dir/>
          <dgm:resizeHandles val="exact"/>
        </dgm:presLayoutVars>
      </dgm:prSet>
      <dgm:spPr/>
    </dgm:pt>
    <dgm:pt modelId="{B41F6829-C951-4B1A-BA9C-A047636A7CD1}" type="pres">
      <dgm:prSet presAssocID="{F64A89E6-5AAC-4698-AB09-ACAFEAB66A76}" presName="cycle" presStyleCnt="0"/>
      <dgm:spPr/>
    </dgm:pt>
    <dgm:pt modelId="{88EC848C-EF6F-4987-BD94-156784D663E9}" type="pres">
      <dgm:prSet presAssocID="{499D59E3-8CBE-4F1D-93BF-4E123CEE0313}" presName="nodeFirstNode" presStyleLbl="node1" presStyleIdx="0" presStyleCnt="5">
        <dgm:presLayoutVars>
          <dgm:bulletEnabled val="1"/>
        </dgm:presLayoutVars>
      </dgm:prSet>
      <dgm:spPr/>
    </dgm:pt>
    <dgm:pt modelId="{2D283BA9-CE16-4AFA-BC43-72AE2D21030B}" type="pres">
      <dgm:prSet presAssocID="{F3F6B197-6307-48C9-86B3-374F4F7FB9F0}" presName="sibTransFirstNode" presStyleLbl="bgShp" presStyleIdx="0" presStyleCnt="1"/>
      <dgm:spPr/>
    </dgm:pt>
    <dgm:pt modelId="{0727ADB9-D84C-4294-BB8F-4FFE070E3894}" type="pres">
      <dgm:prSet presAssocID="{B291A471-F1D1-4003-82AB-B065DF1D3DD0}" presName="nodeFollowingNodes" presStyleLbl="node1" presStyleIdx="1" presStyleCnt="5">
        <dgm:presLayoutVars>
          <dgm:bulletEnabled val="1"/>
        </dgm:presLayoutVars>
      </dgm:prSet>
      <dgm:spPr/>
    </dgm:pt>
    <dgm:pt modelId="{893E9389-B40E-47B8-8FC8-054C0FC5D3F1}" type="pres">
      <dgm:prSet presAssocID="{1725620A-2DA3-45BD-B367-42D50AA0BE3E}" presName="nodeFollowingNodes" presStyleLbl="node1" presStyleIdx="2" presStyleCnt="5">
        <dgm:presLayoutVars>
          <dgm:bulletEnabled val="1"/>
        </dgm:presLayoutVars>
      </dgm:prSet>
      <dgm:spPr/>
    </dgm:pt>
    <dgm:pt modelId="{B15FA4CC-16ED-4EE9-9B8B-D6BD283C09C8}" type="pres">
      <dgm:prSet presAssocID="{DD51F4BC-BBFD-49ED-B8CF-77AF1AAB351B}" presName="nodeFollowingNodes" presStyleLbl="node1" presStyleIdx="3" presStyleCnt="5">
        <dgm:presLayoutVars>
          <dgm:bulletEnabled val="1"/>
        </dgm:presLayoutVars>
      </dgm:prSet>
      <dgm:spPr/>
    </dgm:pt>
    <dgm:pt modelId="{6FA365F8-20A2-46BA-89E9-A1119A51BF3B}" type="pres">
      <dgm:prSet presAssocID="{8C19F8BA-847A-44BD-B426-D0CD5A4075FC}" presName="nodeFollowingNodes" presStyleLbl="node1" presStyleIdx="4" presStyleCnt="5">
        <dgm:presLayoutVars>
          <dgm:bulletEnabled val="1"/>
        </dgm:presLayoutVars>
      </dgm:prSet>
      <dgm:spPr/>
    </dgm:pt>
  </dgm:ptLst>
  <dgm:cxnLst>
    <dgm:cxn modelId="{612BFB1F-EB8E-4B43-ACCA-07786B225A3B}" srcId="{F64A89E6-5AAC-4698-AB09-ACAFEAB66A76}" destId="{499D59E3-8CBE-4F1D-93BF-4E123CEE0313}" srcOrd="0" destOrd="0" parTransId="{4E1673E8-BD48-4F59-8F85-501EE5D238B4}" sibTransId="{F3F6B197-6307-48C9-86B3-374F4F7FB9F0}"/>
    <dgm:cxn modelId="{BEA8F135-9850-49BE-9AEB-092DA51A8404}" type="presOf" srcId="{8C19F8BA-847A-44BD-B426-D0CD5A4075FC}" destId="{6FA365F8-20A2-46BA-89E9-A1119A51BF3B}" srcOrd="0" destOrd="0" presId="urn:microsoft.com/office/officeart/2005/8/layout/cycle3"/>
    <dgm:cxn modelId="{6143A740-CFAD-44D9-9D9A-0B1A9D91D152}" srcId="{F64A89E6-5AAC-4698-AB09-ACAFEAB66A76}" destId="{1725620A-2DA3-45BD-B367-42D50AA0BE3E}" srcOrd="2" destOrd="0" parTransId="{ABE80DC4-E4ED-4DB0-81A3-65C9DD20B980}" sibTransId="{57593822-53AA-4106-BF06-DD63B8FF8AB0}"/>
    <dgm:cxn modelId="{6BC14F5F-282C-4051-9941-0EBCBA37DE31}" type="presOf" srcId="{499D59E3-8CBE-4F1D-93BF-4E123CEE0313}" destId="{88EC848C-EF6F-4987-BD94-156784D663E9}" srcOrd="0" destOrd="0" presId="urn:microsoft.com/office/officeart/2005/8/layout/cycle3"/>
    <dgm:cxn modelId="{3D36476F-8B69-4FF8-8CFF-522B38BAA9A6}" type="presOf" srcId="{1725620A-2DA3-45BD-B367-42D50AA0BE3E}" destId="{893E9389-B40E-47B8-8FC8-054C0FC5D3F1}" srcOrd="0" destOrd="0" presId="urn:microsoft.com/office/officeart/2005/8/layout/cycle3"/>
    <dgm:cxn modelId="{FF52BB58-1F72-4679-A63D-DACFD8CDE32C}" type="presOf" srcId="{F3F6B197-6307-48C9-86B3-374F4F7FB9F0}" destId="{2D283BA9-CE16-4AFA-BC43-72AE2D21030B}" srcOrd="0" destOrd="0" presId="urn:microsoft.com/office/officeart/2005/8/layout/cycle3"/>
    <dgm:cxn modelId="{34574A90-1246-481E-B1B1-8A898F2A3D78}" srcId="{F64A89E6-5AAC-4698-AB09-ACAFEAB66A76}" destId="{DD51F4BC-BBFD-49ED-B8CF-77AF1AAB351B}" srcOrd="3" destOrd="0" parTransId="{1E513146-DE1A-4AE7-B6D6-6A5980EEDEAE}" sibTransId="{294B876D-D5EE-403F-AE06-8DD23EF52660}"/>
    <dgm:cxn modelId="{FD923DBD-C2A3-45F5-84AB-D492D0AED895}" type="presOf" srcId="{B291A471-F1D1-4003-82AB-B065DF1D3DD0}" destId="{0727ADB9-D84C-4294-BB8F-4FFE070E3894}" srcOrd="0" destOrd="0" presId="urn:microsoft.com/office/officeart/2005/8/layout/cycle3"/>
    <dgm:cxn modelId="{83D894BF-5BB6-4F6C-9DD5-F2E2420ADF74}" type="presOf" srcId="{DD51F4BC-BBFD-49ED-B8CF-77AF1AAB351B}" destId="{B15FA4CC-16ED-4EE9-9B8B-D6BD283C09C8}" srcOrd="0" destOrd="0" presId="urn:microsoft.com/office/officeart/2005/8/layout/cycle3"/>
    <dgm:cxn modelId="{045252D2-98F7-4499-81E8-13D0ED21A05C}" type="presOf" srcId="{F64A89E6-5AAC-4698-AB09-ACAFEAB66A76}" destId="{9F1DA8A9-A89E-4AD2-9C56-D14B941D9036}" srcOrd="0" destOrd="0" presId="urn:microsoft.com/office/officeart/2005/8/layout/cycle3"/>
    <dgm:cxn modelId="{4C3E2DE9-081B-42B9-9065-1D87795C7F1B}" srcId="{F64A89E6-5AAC-4698-AB09-ACAFEAB66A76}" destId="{8C19F8BA-847A-44BD-B426-D0CD5A4075FC}" srcOrd="4" destOrd="0" parTransId="{AB5178E6-2744-4F60-834D-35F1550F6D64}" sibTransId="{44144A62-587F-4CC1-8C26-89A8ADF3A244}"/>
    <dgm:cxn modelId="{3F9720F8-4353-4D77-9E4A-994A5F99615A}" srcId="{F64A89E6-5AAC-4698-AB09-ACAFEAB66A76}" destId="{B291A471-F1D1-4003-82AB-B065DF1D3DD0}" srcOrd="1" destOrd="0" parTransId="{2674492F-2426-4E9A-AF0E-ABB9B01C7691}" sibTransId="{083A5DA6-179D-4966-A011-7BB5849B0387}"/>
    <dgm:cxn modelId="{81EA80AD-3356-4C59-93FE-274E0DA0A6EC}" type="presParOf" srcId="{9F1DA8A9-A89E-4AD2-9C56-D14B941D9036}" destId="{B41F6829-C951-4B1A-BA9C-A047636A7CD1}" srcOrd="0" destOrd="0" presId="urn:microsoft.com/office/officeart/2005/8/layout/cycle3"/>
    <dgm:cxn modelId="{97C8BFCB-3FB2-48F4-854C-1591A87EA1FE}" type="presParOf" srcId="{B41F6829-C951-4B1A-BA9C-A047636A7CD1}" destId="{88EC848C-EF6F-4987-BD94-156784D663E9}" srcOrd="0" destOrd="0" presId="urn:microsoft.com/office/officeart/2005/8/layout/cycle3"/>
    <dgm:cxn modelId="{BCB92453-F9F1-422B-9474-DD1C63468187}" type="presParOf" srcId="{B41F6829-C951-4B1A-BA9C-A047636A7CD1}" destId="{2D283BA9-CE16-4AFA-BC43-72AE2D21030B}" srcOrd="1" destOrd="0" presId="urn:microsoft.com/office/officeart/2005/8/layout/cycle3"/>
    <dgm:cxn modelId="{15FA504C-B339-4C1A-A490-02F931B0F231}" type="presParOf" srcId="{B41F6829-C951-4B1A-BA9C-A047636A7CD1}" destId="{0727ADB9-D84C-4294-BB8F-4FFE070E3894}" srcOrd="2" destOrd="0" presId="urn:microsoft.com/office/officeart/2005/8/layout/cycle3"/>
    <dgm:cxn modelId="{FC9B0502-D2B9-47C9-AC03-8A650E9062A9}" type="presParOf" srcId="{B41F6829-C951-4B1A-BA9C-A047636A7CD1}" destId="{893E9389-B40E-47B8-8FC8-054C0FC5D3F1}" srcOrd="3" destOrd="0" presId="urn:microsoft.com/office/officeart/2005/8/layout/cycle3"/>
    <dgm:cxn modelId="{C6C78A47-C2E7-492C-A76C-E869A819BAD8}" type="presParOf" srcId="{B41F6829-C951-4B1A-BA9C-A047636A7CD1}" destId="{B15FA4CC-16ED-4EE9-9B8B-D6BD283C09C8}" srcOrd="4" destOrd="0" presId="urn:microsoft.com/office/officeart/2005/8/layout/cycle3"/>
    <dgm:cxn modelId="{C98AADF1-4C8C-4027-9A31-CDCCBD2C2B0F}" type="presParOf" srcId="{B41F6829-C951-4B1A-BA9C-A047636A7CD1}" destId="{6FA365F8-20A2-46BA-89E9-A1119A51BF3B}" srcOrd="5" destOrd="0" presId="urn:microsoft.com/office/officeart/2005/8/layout/cycle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9E9B1B5-4C38-467C-8768-3151F2FF20F6}"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fr-CA"/>
        </a:p>
      </dgm:t>
    </dgm:pt>
    <dgm:pt modelId="{415BCB1B-A15C-4B44-9C86-BC057AF3EC75}">
      <dgm:prSet phldrT="[Texte]"/>
      <dgm:spPr/>
      <dgm:t>
        <a:bodyPr/>
        <a:lstStyle/>
        <a:p>
          <a:r>
            <a:rPr lang="fr-CA" dirty="0"/>
            <a:t>Stratégie d’entreprise</a:t>
          </a:r>
        </a:p>
      </dgm:t>
    </dgm:pt>
    <dgm:pt modelId="{884333C4-F83D-428E-AA1F-ED3EF6A2C741}" type="parTrans" cxnId="{35C8D22A-12CE-446E-9D1D-C9AD6B5F91AD}">
      <dgm:prSet/>
      <dgm:spPr/>
      <dgm:t>
        <a:bodyPr/>
        <a:lstStyle/>
        <a:p>
          <a:endParaRPr lang="fr-CA"/>
        </a:p>
      </dgm:t>
    </dgm:pt>
    <dgm:pt modelId="{4CB492A1-DC74-458A-B32D-389B2D9023BC}" type="sibTrans" cxnId="{35C8D22A-12CE-446E-9D1D-C9AD6B5F91AD}">
      <dgm:prSet/>
      <dgm:spPr/>
      <dgm:t>
        <a:bodyPr/>
        <a:lstStyle/>
        <a:p>
          <a:endParaRPr lang="fr-CA"/>
        </a:p>
      </dgm:t>
    </dgm:pt>
    <dgm:pt modelId="{50F75DD7-09A3-4BA5-A928-AE19948418D7}">
      <dgm:prSet phldrT="[Texte]"/>
      <dgm:spPr/>
      <dgm:t>
        <a:bodyPr/>
        <a:lstStyle/>
        <a:p>
          <a:r>
            <a:rPr lang="fr-CA" dirty="0"/>
            <a:t>Structure organisationnelle </a:t>
          </a:r>
        </a:p>
      </dgm:t>
    </dgm:pt>
    <dgm:pt modelId="{ECAED2F2-E79D-4C66-9D0F-C5F5DD49F6ED}" type="parTrans" cxnId="{69C89876-C7FE-441B-87CD-C3D9170B531D}">
      <dgm:prSet/>
      <dgm:spPr/>
      <dgm:t>
        <a:bodyPr/>
        <a:lstStyle/>
        <a:p>
          <a:endParaRPr lang="fr-CA"/>
        </a:p>
      </dgm:t>
    </dgm:pt>
    <dgm:pt modelId="{246277BE-FE93-4311-8305-D7BD4DE0339B}" type="sibTrans" cxnId="{69C89876-C7FE-441B-87CD-C3D9170B531D}">
      <dgm:prSet/>
      <dgm:spPr/>
      <dgm:t>
        <a:bodyPr/>
        <a:lstStyle/>
        <a:p>
          <a:endParaRPr lang="fr-CA"/>
        </a:p>
      </dgm:t>
    </dgm:pt>
    <dgm:pt modelId="{E5F47CAA-269B-41BE-ADF0-A145F1C4C5BC}">
      <dgm:prSet phldrT="[Texte]"/>
      <dgm:spPr/>
      <dgm:t>
        <a:bodyPr/>
        <a:lstStyle/>
        <a:p>
          <a:r>
            <a:rPr lang="fr-CA" dirty="0"/>
            <a:t>Niveau de diversification et d’intégration des activités</a:t>
          </a:r>
        </a:p>
      </dgm:t>
    </dgm:pt>
    <dgm:pt modelId="{D5D1902F-8459-46F9-8E1C-7D71D8069C7F}" type="parTrans" cxnId="{FD9F49C1-045E-4CF4-BB78-4CC672B1F958}">
      <dgm:prSet/>
      <dgm:spPr/>
      <dgm:t>
        <a:bodyPr/>
        <a:lstStyle/>
        <a:p>
          <a:endParaRPr lang="fr-CA"/>
        </a:p>
      </dgm:t>
    </dgm:pt>
    <dgm:pt modelId="{EA3C19F6-2269-4EBD-A4CA-4115247C2DAE}" type="sibTrans" cxnId="{FD9F49C1-045E-4CF4-BB78-4CC672B1F958}">
      <dgm:prSet/>
      <dgm:spPr/>
      <dgm:t>
        <a:bodyPr/>
        <a:lstStyle/>
        <a:p>
          <a:endParaRPr lang="fr-CA"/>
        </a:p>
      </dgm:t>
    </dgm:pt>
    <dgm:pt modelId="{E3CBCA7A-327D-4ED5-8EA6-D2541D1AA9E8}">
      <dgm:prSet phldrT="[Texte]"/>
      <dgm:spPr/>
      <dgm:t>
        <a:bodyPr/>
        <a:lstStyle/>
        <a:p>
          <a:r>
            <a:rPr lang="fr-CA" dirty="0"/>
            <a:t>Stratégie concurrentielle</a:t>
          </a:r>
        </a:p>
      </dgm:t>
    </dgm:pt>
    <dgm:pt modelId="{FA7F7D8D-57B5-4A7A-9759-BCC300CB2E73}" type="parTrans" cxnId="{D4B0C978-9B6C-45A1-9C41-DC780196753C}">
      <dgm:prSet/>
      <dgm:spPr/>
      <dgm:t>
        <a:bodyPr/>
        <a:lstStyle/>
        <a:p>
          <a:endParaRPr lang="fr-CA"/>
        </a:p>
      </dgm:t>
    </dgm:pt>
    <dgm:pt modelId="{33FE1C4F-8AF6-493E-BBCF-2A7D7D70EA93}" type="sibTrans" cxnId="{D4B0C978-9B6C-45A1-9C41-DC780196753C}">
      <dgm:prSet/>
      <dgm:spPr/>
      <dgm:t>
        <a:bodyPr/>
        <a:lstStyle/>
        <a:p>
          <a:endParaRPr lang="fr-CA"/>
        </a:p>
      </dgm:t>
    </dgm:pt>
    <dgm:pt modelId="{40B8F988-754D-4B86-A316-F8E48E936173}">
      <dgm:prSet phldrT="[Texte]"/>
      <dgm:spPr/>
      <dgm:t>
        <a:bodyPr/>
        <a:lstStyle/>
        <a:p>
          <a:r>
            <a:rPr lang="fr-CA" dirty="0"/>
            <a:t>Manière d’affronter la concurrence</a:t>
          </a:r>
        </a:p>
      </dgm:t>
    </dgm:pt>
    <dgm:pt modelId="{034B15D3-1A22-4421-BC60-2CC9450A0DD3}" type="parTrans" cxnId="{5FC06A5B-B305-4C80-8FBB-54984C359400}">
      <dgm:prSet/>
      <dgm:spPr/>
      <dgm:t>
        <a:bodyPr/>
        <a:lstStyle/>
        <a:p>
          <a:endParaRPr lang="fr-CA"/>
        </a:p>
      </dgm:t>
    </dgm:pt>
    <dgm:pt modelId="{3DFC20DB-20EE-4475-8DA2-85FD8D47DBE2}" type="sibTrans" cxnId="{5FC06A5B-B305-4C80-8FBB-54984C359400}">
      <dgm:prSet/>
      <dgm:spPr/>
      <dgm:t>
        <a:bodyPr/>
        <a:lstStyle/>
        <a:p>
          <a:endParaRPr lang="fr-CA"/>
        </a:p>
      </dgm:t>
    </dgm:pt>
    <dgm:pt modelId="{069F3989-9688-4B77-B941-5345BD5B183D}">
      <dgm:prSet phldrT="[Texte]"/>
      <dgm:spPr/>
      <dgm:t>
        <a:bodyPr/>
        <a:lstStyle/>
        <a:p>
          <a:r>
            <a:rPr lang="fr-CA" dirty="0"/>
            <a:t>Par unités d’affaires et/ou gamme de produits</a:t>
          </a:r>
        </a:p>
      </dgm:t>
    </dgm:pt>
    <dgm:pt modelId="{4F8610EB-D541-4C0A-9A2B-C70FB7BAEB6C}" type="parTrans" cxnId="{B92C2B4D-1B3E-46E5-9F49-24D1623884E3}">
      <dgm:prSet/>
      <dgm:spPr/>
      <dgm:t>
        <a:bodyPr/>
        <a:lstStyle/>
        <a:p>
          <a:endParaRPr lang="fr-CA"/>
        </a:p>
      </dgm:t>
    </dgm:pt>
    <dgm:pt modelId="{2594AE84-3857-4E45-AE6B-C9B9DAE24833}" type="sibTrans" cxnId="{B92C2B4D-1B3E-46E5-9F49-24D1623884E3}">
      <dgm:prSet/>
      <dgm:spPr/>
      <dgm:t>
        <a:bodyPr/>
        <a:lstStyle/>
        <a:p>
          <a:endParaRPr lang="fr-CA"/>
        </a:p>
      </dgm:t>
    </dgm:pt>
    <dgm:pt modelId="{56B933C2-D68D-4831-9397-55930371885E}">
      <dgm:prSet phldrT="[Texte]"/>
      <dgm:spPr/>
      <dgm:t>
        <a:bodyPr/>
        <a:lstStyle/>
        <a:p>
          <a:r>
            <a:rPr lang="fr-CA" dirty="0"/>
            <a:t>Stratégies fonctionnelles</a:t>
          </a:r>
        </a:p>
      </dgm:t>
    </dgm:pt>
    <dgm:pt modelId="{F3F1409A-CBDA-43DE-9225-C5E6098AF6A0}" type="parTrans" cxnId="{E568F4BF-A712-4E69-9503-A52CF3EC1B8D}">
      <dgm:prSet/>
      <dgm:spPr/>
      <dgm:t>
        <a:bodyPr/>
        <a:lstStyle/>
        <a:p>
          <a:endParaRPr lang="fr-CA"/>
        </a:p>
      </dgm:t>
    </dgm:pt>
    <dgm:pt modelId="{8BBCFE83-CF87-47F6-80F7-E54BDF4517BB}" type="sibTrans" cxnId="{E568F4BF-A712-4E69-9503-A52CF3EC1B8D}">
      <dgm:prSet/>
      <dgm:spPr/>
      <dgm:t>
        <a:bodyPr/>
        <a:lstStyle/>
        <a:p>
          <a:endParaRPr lang="fr-CA"/>
        </a:p>
      </dgm:t>
    </dgm:pt>
    <dgm:pt modelId="{D193C6D9-7C1E-4A8F-8A9D-0B0484FAD67F}">
      <dgm:prSet phldrT="[Texte]"/>
      <dgm:spPr/>
      <dgm:t>
        <a:bodyPr/>
        <a:lstStyle/>
        <a:p>
          <a:r>
            <a:rPr lang="fr-CA" dirty="0"/>
            <a:t>Application de la stratégie concurrentielle aux fonctions de l’entreprise</a:t>
          </a:r>
        </a:p>
      </dgm:t>
    </dgm:pt>
    <dgm:pt modelId="{0AA20695-F7D6-499C-B6C0-BD6E66635590}" type="parTrans" cxnId="{2AF9F7FA-B502-456A-89A8-4B07FD425F9E}">
      <dgm:prSet/>
      <dgm:spPr/>
      <dgm:t>
        <a:bodyPr/>
        <a:lstStyle/>
        <a:p>
          <a:endParaRPr lang="fr-CA"/>
        </a:p>
      </dgm:t>
    </dgm:pt>
    <dgm:pt modelId="{6DE67058-FDEE-4812-8218-320FABAA1D77}" type="sibTrans" cxnId="{2AF9F7FA-B502-456A-89A8-4B07FD425F9E}">
      <dgm:prSet/>
      <dgm:spPr/>
      <dgm:t>
        <a:bodyPr/>
        <a:lstStyle/>
        <a:p>
          <a:endParaRPr lang="fr-CA"/>
        </a:p>
      </dgm:t>
    </dgm:pt>
    <dgm:pt modelId="{80556E81-E150-404C-8E90-129CF2B29FB9}">
      <dgm:prSet phldrT="[Texte]"/>
      <dgm:spPr/>
      <dgm:t>
        <a:bodyPr/>
        <a:lstStyle/>
        <a:p>
          <a:r>
            <a:rPr lang="fr-CA" dirty="0"/>
            <a:t>Recherche et développement, Marketing</a:t>
          </a:r>
        </a:p>
      </dgm:t>
    </dgm:pt>
    <dgm:pt modelId="{105DA05F-D720-4A0D-8903-2211A171DE7C}" type="parTrans" cxnId="{860EFAF9-1710-4B4C-AB74-04A641941F80}">
      <dgm:prSet/>
      <dgm:spPr/>
      <dgm:t>
        <a:bodyPr/>
        <a:lstStyle/>
        <a:p>
          <a:endParaRPr lang="fr-CA"/>
        </a:p>
      </dgm:t>
    </dgm:pt>
    <dgm:pt modelId="{2217C874-6E31-4E27-BDDF-85E902F44482}" type="sibTrans" cxnId="{860EFAF9-1710-4B4C-AB74-04A641941F80}">
      <dgm:prSet/>
      <dgm:spPr/>
      <dgm:t>
        <a:bodyPr/>
        <a:lstStyle/>
        <a:p>
          <a:endParaRPr lang="fr-CA"/>
        </a:p>
      </dgm:t>
    </dgm:pt>
    <dgm:pt modelId="{B87EF0FE-6958-4E52-84E7-DC7BB7DD9971}" type="pres">
      <dgm:prSet presAssocID="{29E9B1B5-4C38-467C-8768-3151F2FF20F6}" presName="linearFlow" presStyleCnt="0">
        <dgm:presLayoutVars>
          <dgm:dir/>
          <dgm:animLvl val="lvl"/>
          <dgm:resizeHandles val="exact"/>
        </dgm:presLayoutVars>
      </dgm:prSet>
      <dgm:spPr/>
    </dgm:pt>
    <dgm:pt modelId="{A78C5C89-1F51-4438-BDDE-D90D76BB470D}" type="pres">
      <dgm:prSet presAssocID="{415BCB1B-A15C-4B44-9C86-BC057AF3EC75}" presName="composite" presStyleCnt="0"/>
      <dgm:spPr/>
    </dgm:pt>
    <dgm:pt modelId="{6B3C26D3-F842-49C6-BC78-0442F311C63E}" type="pres">
      <dgm:prSet presAssocID="{415BCB1B-A15C-4B44-9C86-BC057AF3EC75}" presName="parentText" presStyleLbl="alignNode1" presStyleIdx="0" presStyleCnt="3">
        <dgm:presLayoutVars>
          <dgm:chMax val="1"/>
          <dgm:bulletEnabled val="1"/>
        </dgm:presLayoutVars>
      </dgm:prSet>
      <dgm:spPr/>
    </dgm:pt>
    <dgm:pt modelId="{CF331241-AF9E-4001-B9A5-36E89676EABF}" type="pres">
      <dgm:prSet presAssocID="{415BCB1B-A15C-4B44-9C86-BC057AF3EC75}" presName="descendantText" presStyleLbl="alignAcc1" presStyleIdx="0" presStyleCnt="3">
        <dgm:presLayoutVars>
          <dgm:bulletEnabled val="1"/>
        </dgm:presLayoutVars>
      </dgm:prSet>
      <dgm:spPr/>
    </dgm:pt>
    <dgm:pt modelId="{2741CBEC-8E10-42AA-A3C2-C6E9EE38D3C9}" type="pres">
      <dgm:prSet presAssocID="{4CB492A1-DC74-458A-B32D-389B2D9023BC}" presName="sp" presStyleCnt="0"/>
      <dgm:spPr/>
    </dgm:pt>
    <dgm:pt modelId="{E49CAF10-4A37-4462-9F47-E18A31E3D014}" type="pres">
      <dgm:prSet presAssocID="{E3CBCA7A-327D-4ED5-8EA6-D2541D1AA9E8}" presName="composite" presStyleCnt="0"/>
      <dgm:spPr/>
    </dgm:pt>
    <dgm:pt modelId="{E5071AB6-949B-41F5-9825-280E44F51861}" type="pres">
      <dgm:prSet presAssocID="{E3CBCA7A-327D-4ED5-8EA6-D2541D1AA9E8}" presName="parentText" presStyleLbl="alignNode1" presStyleIdx="1" presStyleCnt="3">
        <dgm:presLayoutVars>
          <dgm:chMax val="1"/>
          <dgm:bulletEnabled val="1"/>
        </dgm:presLayoutVars>
      </dgm:prSet>
      <dgm:spPr/>
    </dgm:pt>
    <dgm:pt modelId="{96C029E6-560C-475A-B2FE-29D36B3EDDAE}" type="pres">
      <dgm:prSet presAssocID="{E3CBCA7A-327D-4ED5-8EA6-D2541D1AA9E8}" presName="descendantText" presStyleLbl="alignAcc1" presStyleIdx="1" presStyleCnt="3">
        <dgm:presLayoutVars>
          <dgm:bulletEnabled val="1"/>
        </dgm:presLayoutVars>
      </dgm:prSet>
      <dgm:spPr/>
    </dgm:pt>
    <dgm:pt modelId="{8431737D-EA53-4C29-B50E-3E369DDDF3FB}" type="pres">
      <dgm:prSet presAssocID="{33FE1C4F-8AF6-493E-BBCF-2A7D7D70EA93}" presName="sp" presStyleCnt="0"/>
      <dgm:spPr/>
    </dgm:pt>
    <dgm:pt modelId="{14AB7F9A-C8BD-4520-AF98-F8C62B51BFED}" type="pres">
      <dgm:prSet presAssocID="{56B933C2-D68D-4831-9397-55930371885E}" presName="composite" presStyleCnt="0"/>
      <dgm:spPr/>
    </dgm:pt>
    <dgm:pt modelId="{64242748-E8D7-4648-994B-C25F8DA29F1E}" type="pres">
      <dgm:prSet presAssocID="{56B933C2-D68D-4831-9397-55930371885E}" presName="parentText" presStyleLbl="alignNode1" presStyleIdx="2" presStyleCnt="3">
        <dgm:presLayoutVars>
          <dgm:chMax val="1"/>
          <dgm:bulletEnabled val="1"/>
        </dgm:presLayoutVars>
      </dgm:prSet>
      <dgm:spPr/>
    </dgm:pt>
    <dgm:pt modelId="{492BC9C9-6E7C-480A-8963-31812CE197A8}" type="pres">
      <dgm:prSet presAssocID="{56B933C2-D68D-4831-9397-55930371885E}" presName="descendantText" presStyleLbl="alignAcc1" presStyleIdx="2" presStyleCnt="3">
        <dgm:presLayoutVars>
          <dgm:bulletEnabled val="1"/>
        </dgm:presLayoutVars>
      </dgm:prSet>
      <dgm:spPr/>
    </dgm:pt>
  </dgm:ptLst>
  <dgm:cxnLst>
    <dgm:cxn modelId="{C8182C04-40D8-4FD8-A8E8-AB05B575EEB9}" type="presOf" srcId="{56B933C2-D68D-4831-9397-55930371885E}" destId="{64242748-E8D7-4648-994B-C25F8DA29F1E}" srcOrd="0" destOrd="0" presId="urn:microsoft.com/office/officeart/2005/8/layout/chevron2"/>
    <dgm:cxn modelId="{35C8D22A-12CE-446E-9D1D-C9AD6B5F91AD}" srcId="{29E9B1B5-4C38-467C-8768-3151F2FF20F6}" destId="{415BCB1B-A15C-4B44-9C86-BC057AF3EC75}" srcOrd="0" destOrd="0" parTransId="{884333C4-F83D-428E-AA1F-ED3EF6A2C741}" sibTransId="{4CB492A1-DC74-458A-B32D-389B2D9023BC}"/>
    <dgm:cxn modelId="{B4529D3F-511C-4814-909F-B29361F64160}" type="presOf" srcId="{29E9B1B5-4C38-467C-8768-3151F2FF20F6}" destId="{B87EF0FE-6958-4E52-84E7-DC7BB7DD9971}" srcOrd="0" destOrd="0" presId="urn:microsoft.com/office/officeart/2005/8/layout/chevron2"/>
    <dgm:cxn modelId="{5FC06A5B-B305-4C80-8FBB-54984C359400}" srcId="{E3CBCA7A-327D-4ED5-8EA6-D2541D1AA9E8}" destId="{40B8F988-754D-4B86-A316-F8E48E936173}" srcOrd="0" destOrd="0" parTransId="{034B15D3-1A22-4421-BC60-2CC9450A0DD3}" sibTransId="{3DFC20DB-20EE-4475-8DA2-85FD8D47DBE2}"/>
    <dgm:cxn modelId="{C3CC9E41-A3A1-4F10-8B9E-3771540C9193}" type="presOf" srcId="{80556E81-E150-404C-8E90-129CF2B29FB9}" destId="{492BC9C9-6E7C-480A-8963-31812CE197A8}" srcOrd="0" destOrd="1" presId="urn:microsoft.com/office/officeart/2005/8/layout/chevron2"/>
    <dgm:cxn modelId="{9F151242-2E5A-47EC-8D0D-454C30447145}" type="presOf" srcId="{50F75DD7-09A3-4BA5-A928-AE19948418D7}" destId="{CF331241-AF9E-4001-B9A5-36E89676EABF}" srcOrd="0" destOrd="0" presId="urn:microsoft.com/office/officeart/2005/8/layout/chevron2"/>
    <dgm:cxn modelId="{B92C2B4D-1B3E-46E5-9F49-24D1623884E3}" srcId="{E3CBCA7A-327D-4ED5-8EA6-D2541D1AA9E8}" destId="{069F3989-9688-4B77-B941-5345BD5B183D}" srcOrd="1" destOrd="0" parTransId="{4F8610EB-D541-4C0A-9A2B-C70FB7BAEB6C}" sibTransId="{2594AE84-3857-4E45-AE6B-C9B9DAE24833}"/>
    <dgm:cxn modelId="{EE08FF6D-E8B8-42F0-AE98-C41B01A8F6C3}" type="presOf" srcId="{40B8F988-754D-4B86-A316-F8E48E936173}" destId="{96C029E6-560C-475A-B2FE-29D36B3EDDAE}" srcOrd="0" destOrd="0" presId="urn:microsoft.com/office/officeart/2005/8/layout/chevron2"/>
    <dgm:cxn modelId="{69C89876-C7FE-441B-87CD-C3D9170B531D}" srcId="{415BCB1B-A15C-4B44-9C86-BC057AF3EC75}" destId="{50F75DD7-09A3-4BA5-A928-AE19948418D7}" srcOrd="0" destOrd="0" parTransId="{ECAED2F2-E79D-4C66-9D0F-C5F5DD49F6ED}" sibTransId="{246277BE-FE93-4311-8305-D7BD4DE0339B}"/>
    <dgm:cxn modelId="{D4B0C978-9B6C-45A1-9C41-DC780196753C}" srcId="{29E9B1B5-4C38-467C-8768-3151F2FF20F6}" destId="{E3CBCA7A-327D-4ED5-8EA6-D2541D1AA9E8}" srcOrd="1" destOrd="0" parTransId="{FA7F7D8D-57B5-4A7A-9759-BCC300CB2E73}" sibTransId="{33FE1C4F-8AF6-493E-BBCF-2A7D7D70EA93}"/>
    <dgm:cxn modelId="{476C3F84-3E05-494F-A1E7-0CFA0FDE31FA}" type="presOf" srcId="{E3CBCA7A-327D-4ED5-8EA6-D2541D1AA9E8}" destId="{E5071AB6-949B-41F5-9825-280E44F51861}" srcOrd="0" destOrd="0" presId="urn:microsoft.com/office/officeart/2005/8/layout/chevron2"/>
    <dgm:cxn modelId="{246DACA1-A748-424A-8F87-57B8E8801A0B}" type="presOf" srcId="{415BCB1B-A15C-4B44-9C86-BC057AF3EC75}" destId="{6B3C26D3-F842-49C6-BC78-0442F311C63E}" srcOrd="0" destOrd="0" presId="urn:microsoft.com/office/officeart/2005/8/layout/chevron2"/>
    <dgm:cxn modelId="{64BF68B3-5F66-4962-AFF1-F4D7D705CC12}" type="presOf" srcId="{069F3989-9688-4B77-B941-5345BD5B183D}" destId="{96C029E6-560C-475A-B2FE-29D36B3EDDAE}" srcOrd="0" destOrd="1" presId="urn:microsoft.com/office/officeart/2005/8/layout/chevron2"/>
    <dgm:cxn modelId="{E568F4BF-A712-4E69-9503-A52CF3EC1B8D}" srcId="{29E9B1B5-4C38-467C-8768-3151F2FF20F6}" destId="{56B933C2-D68D-4831-9397-55930371885E}" srcOrd="2" destOrd="0" parTransId="{F3F1409A-CBDA-43DE-9225-C5E6098AF6A0}" sibTransId="{8BBCFE83-CF87-47F6-80F7-E54BDF4517BB}"/>
    <dgm:cxn modelId="{FD9F49C1-045E-4CF4-BB78-4CC672B1F958}" srcId="{415BCB1B-A15C-4B44-9C86-BC057AF3EC75}" destId="{E5F47CAA-269B-41BE-ADF0-A145F1C4C5BC}" srcOrd="1" destOrd="0" parTransId="{D5D1902F-8459-46F9-8E1C-7D71D8069C7F}" sibTransId="{EA3C19F6-2269-4EBD-A4CA-4115247C2DAE}"/>
    <dgm:cxn modelId="{01BFA4CC-6B8C-4FE8-B8B5-674B11CB4C87}" type="presOf" srcId="{D193C6D9-7C1E-4A8F-8A9D-0B0484FAD67F}" destId="{492BC9C9-6E7C-480A-8963-31812CE197A8}" srcOrd="0" destOrd="0" presId="urn:microsoft.com/office/officeart/2005/8/layout/chevron2"/>
    <dgm:cxn modelId="{E9CB66E4-D100-472B-BBA2-F8CB9D6FB2D8}" type="presOf" srcId="{E5F47CAA-269B-41BE-ADF0-A145F1C4C5BC}" destId="{CF331241-AF9E-4001-B9A5-36E89676EABF}" srcOrd="0" destOrd="1" presId="urn:microsoft.com/office/officeart/2005/8/layout/chevron2"/>
    <dgm:cxn modelId="{860EFAF9-1710-4B4C-AB74-04A641941F80}" srcId="{56B933C2-D68D-4831-9397-55930371885E}" destId="{80556E81-E150-404C-8E90-129CF2B29FB9}" srcOrd="1" destOrd="0" parTransId="{105DA05F-D720-4A0D-8903-2211A171DE7C}" sibTransId="{2217C874-6E31-4E27-BDDF-85E902F44482}"/>
    <dgm:cxn modelId="{2AF9F7FA-B502-456A-89A8-4B07FD425F9E}" srcId="{56B933C2-D68D-4831-9397-55930371885E}" destId="{D193C6D9-7C1E-4A8F-8A9D-0B0484FAD67F}" srcOrd="0" destOrd="0" parTransId="{0AA20695-F7D6-499C-B6C0-BD6E66635590}" sibTransId="{6DE67058-FDEE-4812-8218-320FABAA1D77}"/>
    <dgm:cxn modelId="{B72C02E3-561B-484C-9DE4-35967361E593}" type="presParOf" srcId="{B87EF0FE-6958-4E52-84E7-DC7BB7DD9971}" destId="{A78C5C89-1F51-4438-BDDE-D90D76BB470D}" srcOrd="0" destOrd="0" presId="urn:microsoft.com/office/officeart/2005/8/layout/chevron2"/>
    <dgm:cxn modelId="{C8A40479-FADF-4CEF-98A3-374D590EE194}" type="presParOf" srcId="{A78C5C89-1F51-4438-BDDE-D90D76BB470D}" destId="{6B3C26D3-F842-49C6-BC78-0442F311C63E}" srcOrd="0" destOrd="0" presId="urn:microsoft.com/office/officeart/2005/8/layout/chevron2"/>
    <dgm:cxn modelId="{3C4E4F0B-579E-49DE-8C14-3A95C5FF86E8}" type="presParOf" srcId="{A78C5C89-1F51-4438-BDDE-D90D76BB470D}" destId="{CF331241-AF9E-4001-B9A5-36E89676EABF}" srcOrd="1" destOrd="0" presId="urn:microsoft.com/office/officeart/2005/8/layout/chevron2"/>
    <dgm:cxn modelId="{A59E407B-0BBA-4E2D-8E9B-BB4B835B0851}" type="presParOf" srcId="{B87EF0FE-6958-4E52-84E7-DC7BB7DD9971}" destId="{2741CBEC-8E10-42AA-A3C2-C6E9EE38D3C9}" srcOrd="1" destOrd="0" presId="urn:microsoft.com/office/officeart/2005/8/layout/chevron2"/>
    <dgm:cxn modelId="{B699E2A5-E4B0-4F41-BA92-649B11BE5442}" type="presParOf" srcId="{B87EF0FE-6958-4E52-84E7-DC7BB7DD9971}" destId="{E49CAF10-4A37-4462-9F47-E18A31E3D014}" srcOrd="2" destOrd="0" presId="urn:microsoft.com/office/officeart/2005/8/layout/chevron2"/>
    <dgm:cxn modelId="{FEB5803B-D049-4DFB-9C8B-E7ABDEE5AB3C}" type="presParOf" srcId="{E49CAF10-4A37-4462-9F47-E18A31E3D014}" destId="{E5071AB6-949B-41F5-9825-280E44F51861}" srcOrd="0" destOrd="0" presId="urn:microsoft.com/office/officeart/2005/8/layout/chevron2"/>
    <dgm:cxn modelId="{D01B0EA6-A837-47C6-9C05-776C27A88918}" type="presParOf" srcId="{E49CAF10-4A37-4462-9F47-E18A31E3D014}" destId="{96C029E6-560C-475A-B2FE-29D36B3EDDAE}" srcOrd="1" destOrd="0" presId="urn:microsoft.com/office/officeart/2005/8/layout/chevron2"/>
    <dgm:cxn modelId="{134396BE-28DC-45A3-892D-2A9CFA62B532}" type="presParOf" srcId="{B87EF0FE-6958-4E52-84E7-DC7BB7DD9971}" destId="{8431737D-EA53-4C29-B50E-3E369DDDF3FB}" srcOrd="3" destOrd="0" presId="urn:microsoft.com/office/officeart/2005/8/layout/chevron2"/>
    <dgm:cxn modelId="{E1A16ACA-D4F4-4D17-84BE-2ECFF692B0A8}" type="presParOf" srcId="{B87EF0FE-6958-4E52-84E7-DC7BB7DD9971}" destId="{14AB7F9A-C8BD-4520-AF98-F8C62B51BFED}" srcOrd="4" destOrd="0" presId="urn:microsoft.com/office/officeart/2005/8/layout/chevron2"/>
    <dgm:cxn modelId="{B9EED546-3067-4342-B71B-5DFAFA43F791}" type="presParOf" srcId="{14AB7F9A-C8BD-4520-AF98-F8C62B51BFED}" destId="{64242748-E8D7-4648-994B-C25F8DA29F1E}" srcOrd="0" destOrd="0" presId="urn:microsoft.com/office/officeart/2005/8/layout/chevron2"/>
    <dgm:cxn modelId="{0ACB2E96-EE33-4C36-984E-B0EEF2E2E0D1}" type="presParOf" srcId="{14AB7F9A-C8BD-4520-AF98-F8C62B51BFED}" destId="{492BC9C9-6E7C-480A-8963-31812CE197A8}"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FDD76C7-7F18-4147-8F26-18F74CD90D57}"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fr-CA"/>
        </a:p>
      </dgm:t>
    </dgm:pt>
    <dgm:pt modelId="{66CFBCC8-6F17-4120-978E-94F25146A80D}">
      <dgm:prSet phldrT="[Texte]" custT="1"/>
      <dgm:spPr/>
      <dgm:t>
        <a:bodyPr/>
        <a:lstStyle/>
        <a:p>
          <a:r>
            <a:rPr lang="fr-CA" sz="2400" b="1" dirty="0"/>
            <a:t>Excellence opérationnelle</a:t>
          </a:r>
        </a:p>
      </dgm:t>
    </dgm:pt>
    <dgm:pt modelId="{7C9412CD-8ECC-49F4-8054-E5BE864D0FBD}" type="parTrans" cxnId="{3674F8E0-76D8-4162-B6F6-CF49AE2E6957}">
      <dgm:prSet/>
      <dgm:spPr/>
      <dgm:t>
        <a:bodyPr/>
        <a:lstStyle/>
        <a:p>
          <a:endParaRPr lang="fr-CA" sz="1400"/>
        </a:p>
      </dgm:t>
    </dgm:pt>
    <dgm:pt modelId="{AE0C2DA2-863D-4C3D-B29D-2D91E20D69F6}" type="sibTrans" cxnId="{3674F8E0-76D8-4162-B6F6-CF49AE2E6957}">
      <dgm:prSet/>
      <dgm:spPr/>
      <dgm:t>
        <a:bodyPr/>
        <a:lstStyle/>
        <a:p>
          <a:endParaRPr lang="fr-CA" sz="1400"/>
        </a:p>
      </dgm:t>
    </dgm:pt>
    <dgm:pt modelId="{30A57883-35AE-42D1-B7D3-4CD6D9A2EF9B}">
      <dgm:prSet phldrT="[Texte]" custT="1"/>
      <dgm:spPr/>
      <dgm:t>
        <a:bodyPr/>
        <a:lstStyle/>
        <a:p>
          <a:r>
            <a:rPr lang="fr-CA" sz="2400" dirty="0"/>
            <a:t>Produits ou service à un prix inférieur à la concurrence</a:t>
          </a:r>
        </a:p>
      </dgm:t>
    </dgm:pt>
    <dgm:pt modelId="{09AE89E3-D133-420D-8CFA-3189D77CF4C5}" type="parTrans" cxnId="{9E9357D8-1571-4F37-93D9-6445D3CE28DC}">
      <dgm:prSet/>
      <dgm:spPr/>
      <dgm:t>
        <a:bodyPr/>
        <a:lstStyle/>
        <a:p>
          <a:endParaRPr lang="fr-CA" sz="1400"/>
        </a:p>
      </dgm:t>
    </dgm:pt>
    <dgm:pt modelId="{0B800CC3-C7F0-4D55-8435-F9723D761916}" type="sibTrans" cxnId="{9E9357D8-1571-4F37-93D9-6445D3CE28DC}">
      <dgm:prSet/>
      <dgm:spPr/>
      <dgm:t>
        <a:bodyPr/>
        <a:lstStyle/>
        <a:p>
          <a:endParaRPr lang="fr-CA" sz="1400"/>
        </a:p>
      </dgm:t>
    </dgm:pt>
    <dgm:pt modelId="{AFB2630A-7C35-4DD7-90C3-B19B7493E017}">
      <dgm:prSet phldrT="[Texte]" custT="1"/>
      <dgm:spPr/>
      <dgm:t>
        <a:bodyPr/>
        <a:lstStyle/>
        <a:p>
          <a:r>
            <a:rPr lang="fr-CA" sz="2400" b="1" dirty="0"/>
            <a:t>Leadership produit</a:t>
          </a:r>
        </a:p>
      </dgm:t>
    </dgm:pt>
    <dgm:pt modelId="{2C22A7B8-43D2-4600-945D-3AB85B488EAF}" type="parTrans" cxnId="{76DE598E-F23F-42BD-B42E-9CCA1D99A0BF}">
      <dgm:prSet/>
      <dgm:spPr/>
      <dgm:t>
        <a:bodyPr/>
        <a:lstStyle/>
        <a:p>
          <a:endParaRPr lang="fr-CA" sz="1400"/>
        </a:p>
      </dgm:t>
    </dgm:pt>
    <dgm:pt modelId="{0BC5B4C2-2A8C-4A75-9A9A-1E3DF9EEA7CC}" type="sibTrans" cxnId="{76DE598E-F23F-42BD-B42E-9CCA1D99A0BF}">
      <dgm:prSet/>
      <dgm:spPr/>
      <dgm:t>
        <a:bodyPr/>
        <a:lstStyle/>
        <a:p>
          <a:endParaRPr lang="fr-CA" sz="1400"/>
        </a:p>
      </dgm:t>
    </dgm:pt>
    <dgm:pt modelId="{44A134C8-CF34-4510-B0A8-7B0953A3D0BF}">
      <dgm:prSet phldrT="[Texte]" custT="1"/>
      <dgm:spPr/>
      <dgm:t>
        <a:bodyPr/>
        <a:lstStyle/>
        <a:p>
          <a:r>
            <a:rPr lang="fr-CA" sz="2400" dirty="0"/>
            <a:t>Produits de qualité supérieur</a:t>
          </a:r>
        </a:p>
      </dgm:t>
    </dgm:pt>
    <dgm:pt modelId="{F8F4CD05-8401-42C5-B9B8-2737B7C33ECA}" type="parTrans" cxnId="{52C51728-AA37-4CC0-AF26-8FB5DBE44A7A}">
      <dgm:prSet/>
      <dgm:spPr/>
      <dgm:t>
        <a:bodyPr/>
        <a:lstStyle/>
        <a:p>
          <a:endParaRPr lang="fr-CA" sz="1400"/>
        </a:p>
      </dgm:t>
    </dgm:pt>
    <dgm:pt modelId="{9A86CEAE-7063-4F6F-8A86-AF5B887C6D74}" type="sibTrans" cxnId="{52C51728-AA37-4CC0-AF26-8FB5DBE44A7A}">
      <dgm:prSet/>
      <dgm:spPr/>
      <dgm:t>
        <a:bodyPr/>
        <a:lstStyle/>
        <a:p>
          <a:endParaRPr lang="fr-CA" sz="1400"/>
        </a:p>
      </dgm:t>
    </dgm:pt>
    <dgm:pt modelId="{4B32E356-2AB9-4DE1-A70C-02A66781285F}">
      <dgm:prSet phldrT="[Texte]" custT="1"/>
      <dgm:spPr/>
      <dgm:t>
        <a:bodyPr/>
        <a:lstStyle/>
        <a:p>
          <a:r>
            <a:rPr lang="fr-CA" sz="2400" b="1" dirty="0"/>
            <a:t>Connaissance intime du client</a:t>
          </a:r>
        </a:p>
      </dgm:t>
    </dgm:pt>
    <dgm:pt modelId="{7BFB5ECE-82C9-41BB-841C-DEEA6C845312}" type="parTrans" cxnId="{7D63B9F5-5BD7-4B11-895F-5E09C9CECF6F}">
      <dgm:prSet/>
      <dgm:spPr/>
      <dgm:t>
        <a:bodyPr/>
        <a:lstStyle/>
        <a:p>
          <a:endParaRPr lang="fr-CA" sz="1400"/>
        </a:p>
      </dgm:t>
    </dgm:pt>
    <dgm:pt modelId="{C70B5F4E-E8D0-4E94-AD8C-97B9AE4716CC}" type="sibTrans" cxnId="{7D63B9F5-5BD7-4B11-895F-5E09C9CECF6F}">
      <dgm:prSet/>
      <dgm:spPr/>
      <dgm:t>
        <a:bodyPr/>
        <a:lstStyle/>
        <a:p>
          <a:endParaRPr lang="fr-CA" sz="1400"/>
        </a:p>
      </dgm:t>
    </dgm:pt>
    <dgm:pt modelId="{BBFC0B91-6069-4E69-9D55-2F293401E799}">
      <dgm:prSet phldrT="[Texte]" custT="1"/>
      <dgm:spPr/>
      <dgm:t>
        <a:bodyPr/>
        <a:lstStyle/>
        <a:p>
          <a:r>
            <a:rPr lang="fr-CA" sz="2400" dirty="0"/>
            <a:t>Compréhension des besoins du clients et adaptation du produit</a:t>
          </a:r>
        </a:p>
      </dgm:t>
    </dgm:pt>
    <dgm:pt modelId="{2598213B-263A-4804-B767-8AD4540E3D66}" type="parTrans" cxnId="{F3EDFFB6-6B6C-45A0-8E76-2787A6F34CDD}">
      <dgm:prSet/>
      <dgm:spPr/>
      <dgm:t>
        <a:bodyPr/>
        <a:lstStyle/>
        <a:p>
          <a:endParaRPr lang="fr-CA" sz="1400"/>
        </a:p>
      </dgm:t>
    </dgm:pt>
    <dgm:pt modelId="{A6D73F87-329C-4A4F-B414-597121D3A2FC}" type="sibTrans" cxnId="{F3EDFFB6-6B6C-45A0-8E76-2787A6F34CDD}">
      <dgm:prSet/>
      <dgm:spPr/>
      <dgm:t>
        <a:bodyPr/>
        <a:lstStyle/>
        <a:p>
          <a:endParaRPr lang="fr-CA" sz="1400"/>
        </a:p>
      </dgm:t>
    </dgm:pt>
    <dgm:pt modelId="{8BF7E13C-AD47-457B-8FA9-C5A18E49576E}">
      <dgm:prSet phldrT="[Texte]" custT="1"/>
      <dgm:spPr/>
      <dgm:t>
        <a:bodyPr/>
        <a:lstStyle/>
        <a:p>
          <a:r>
            <a:rPr lang="fr-CA" sz="2400" dirty="0"/>
            <a:t>Approche sur mesure</a:t>
          </a:r>
        </a:p>
      </dgm:t>
    </dgm:pt>
    <dgm:pt modelId="{F48D3CF9-2836-424E-BF6C-373EC35560D8}" type="parTrans" cxnId="{03E5CC31-1A98-454F-9748-52D482D63AC2}">
      <dgm:prSet/>
      <dgm:spPr/>
      <dgm:t>
        <a:bodyPr/>
        <a:lstStyle/>
        <a:p>
          <a:endParaRPr lang="fr-CA" sz="1400"/>
        </a:p>
      </dgm:t>
    </dgm:pt>
    <dgm:pt modelId="{8550F60C-4EF4-46DA-B042-F1947F9B0E6E}" type="sibTrans" cxnId="{03E5CC31-1A98-454F-9748-52D482D63AC2}">
      <dgm:prSet/>
      <dgm:spPr/>
      <dgm:t>
        <a:bodyPr/>
        <a:lstStyle/>
        <a:p>
          <a:endParaRPr lang="fr-CA" sz="1400"/>
        </a:p>
      </dgm:t>
    </dgm:pt>
    <dgm:pt modelId="{C63EC9D9-CB93-40DD-ACAD-AF0300756B6A}">
      <dgm:prSet phldrT="[Texte]" custT="1"/>
      <dgm:spPr/>
      <dgm:t>
        <a:bodyPr/>
        <a:lstStyle/>
        <a:p>
          <a:r>
            <a:rPr lang="fr-CA" sz="2400" dirty="0"/>
            <a:t>Produits innovants</a:t>
          </a:r>
        </a:p>
      </dgm:t>
    </dgm:pt>
    <dgm:pt modelId="{71E51E51-A9AE-4050-86B0-E77FF15BA1B5}" type="parTrans" cxnId="{3CD80E1F-8B55-4FCE-871D-6BD8AB57C0FC}">
      <dgm:prSet/>
      <dgm:spPr/>
      <dgm:t>
        <a:bodyPr/>
        <a:lstStyle/>
        <a:p>
          <a:endParaRPr lang="fr-CA"/>
        </a:p>
      </dgm:t>
    </dgm:pt>
    <dgm:pt modelId="{4FE8EECD-4D9D-44BF-A4DE-4F6D8F17C4D5}" type="sibTrans" cxnId="{3CD80E1F-8B55-4FCE-871D-6BD8AB57C0FC}">
      <dgm:prSet/>
      <dgm:spPr/>
      <dgm:t>
        <a:bodyPr/>
        <a:lstStyle/>
        <a:p>
          <a:endParaRPr lang="fr-CA"/>
        </a:p>
      </dgm:t>
    </dgm:pt>
    <dgm:pt modelId="{CBCAA0FD-557D-4327-99C0-E7EBEA1D78B9}" type="pres">
      <dgm:prSet presAssocID="{0FDD76C7-7F18-4147-8F26-18F74CD90D57}" presName="Name0" presStyleCnt="0">
        <dgm:presLayoutVars>
          <dgm:dir/>
          <dgm:animLvl val="lvl"/>
          <dgm:resizeHandles val="exact"/>
        </dgm:presLayoutVars>
      </dgm:prSet>
      <dgm:spPr/>
    </dgm:pt>
    <dgm:pt modelId="{4C6337FB-5B13-445B-8377-43210F7CD6F3}" type="pres">
      <dgm:prSet presAssocID="{66CFBCC8-6F17-4120-978E-94F25146A80D}" presName="composite" presStyleCnt="0"/>
      <dgm:spPr/>
    </dgm:pt>
    <dgm:pt modelId="{498D13E4-7372-4207-9196-068383D27AC3}" type="pres">
      <dgm:prSet presAssocID="{66CFBCC8-6F17-4120-978E-94F25146A80D}" presName="parTx" presStyleLbl="alignNode1" presStyleIdx="0" presStyleCnt="3">
        <dgm:presLayoutVars>
          <dgm:chMax val="0"/>
          <dgm:chPref val="0"/>
          <dgm:bulletEnabled val="1"/>
        </dgm:presLayoutVars>
      </dgm:prSet>
      <dgm:spPr/>
    </dgm:pt>
    <dgm:pt modelId="{4181D57F-2832-4DC1-A25B-AEA745E51898}" type="pres">
      <dgm:prSet presAssocID="{66CFBCC8-6F17-4120-978E-94F25146A80D}" presName="desTx" presStyleLbl="alignAccFollowNode1" presStyleIdx="0" presStyleCnt="3">
        <dgm:presLayoutVars>
          <dgm:bulletEnabled val="1"/>
        </dgm:presLayoutVars>
      </dgm:prSet>
      <dgm:spPr/>
    </dgm:pt>
    <dgm:pt modelId="{794749C8-2B4C-4818-8956-36E37D32E25B}" type="pres">
      <dgm:prSet presAssocID="{AE0C2DA2-863D-4C3D-B29D-2D91E20D69F6}" presName="space" presStyleCnt="0"/>
      <dgm:spPr/>
    </dgm:pt>
    <dgm:pt modelId="{DF15695C-DBE1-4C3B-9BF3-FA0C0D8688C2}" type="pres">
      <dgm:prSet presAssocID="{AFB2630A-7C35-4DD7-90C3-B19B7493E017}" presName="composite" presStyleCnt="0"/>
      <dgm:spPr/>
    </dgm:pt>
    <dgm:pt modelId="{35058660-0EC5-469F-99D6-7632925130FB}" type="pres">
      <dgm:prSet presAssocID="{AFB2630A-7C35-4DD7-90C3-B19B7493E017}" presName="parTx" presStyleLbl="alignNode1" presStyleIdx="1" presStyleCnt="3">
        <dgm:presLayoutVars>
          <dgm:chMax val="0"/>
          <dgm:chPref val="0"/>
          <dgm:bulletEnabled val="1"/>
        </dgm:presLayoutVars>
      </dgm:prSet>
      <dgm:spPr/>
    </dgm:pt>
    <dgm:pt modelId="{06DC0DA4-1AB6-4A93-8ECB-67693291F554}" type="pres">
      <dgm:prSet presAssocID="{AFB2630A-7C35-4DD7-90C3-B19B7493E017}" presName="desTx" presStyleLbl="alignAccFollowNode1" presStyleIdx="1" presStyleCnt="3">
        <dgm:presLayoutVars>
          <dgm:bulletEnabled val="1"/>
        </dgm:presLayoutVars>
      </dgm:prSet>
      <dgm:spPr/>
    </dgm:pt>
    <dgm:pt modelId="{81DBC9B0-D1A9-4265-9EDD-C21147068B77}" type="pres">
      <dgm:prSet presAssocID="{0BC5B4C2-2A8C-4A75-9A9A-1E3DF9EEA7CC}" presName="space" presStyleCnt="0"/>
      <dgm:spPr/>
    </dgm:pt>
    <dgm:pt modelId="{A33853B7-E4BB-4A42-A785-8A1570779BD6}" type="pres">
      <dgm:prSet presAssocID="{4B32E356-2AB9-4DE1-A70C-02A66781285F}" presName="composite" presStyleCnt="0"/>
      <dgm:spPr/>
    </dgm:pt>
    <dgm:pt modelId="{7AB8B0FF-AE90-4F69-AAF2-8FE430FA0D65}" type="pres">
      <dgm:prSet presAssocID="{4B32E356-2AB9-4DE1-A70C-02A66781285F}" presName="parTx" presStyleLbl="alignNode1" presStyleIdx="2" presStyleCnt="3">
        <dgm:presLayoutVars>
          <dgm:chMax val="0"/>
          <dgm:chPref val="0"/>
          <dgm:bulletEnabled val="1"/>
        </dgm:presLayoutVars>
      </dgm:prSet>
      <dgm:spPr/>
    </dgm:pt>
    <dgm:pt modelId="{F1327FA7-933F-40DA-A893-CA984FF871B4}" type="pres">
      <dgm:prSet presAssocID="{4B32E356-2AB9-4DE1-A70C-02A66781285F}" presName="desTx" presStyleLbl="alignAccFollowNode1" presStyleIdx="2" presStyleCnt="3">
        <dgm:presLayoutVars>
          <dgm:bulletEnabled val="1"/>
        </dgm:presLayoutVars>
      </dgm:prSet>
      <dgm:spPr/>
    </dgm:pt>
  </dgm:ptLst>
  <dgm:cxnLst>
    <dgm:cxn modelId="{36078E16-B2D4-430B-8699-25FC587BA609}" type="presOf" srcId="{8BF7E13C-AD47-457B-8FA9-C5A18E49576E}" destId="{F1327FA7-933F-40DA-A893-CA984FF871B4}" srcOrd="0" destOrd="1" presId="urn:microsoft.com/office/officeart/2005/8/layout/hList1"/>
    <dgm:cxn modelId="{3CD80E1F-8B55-4FCE-871D-6BD8AB57C0FC}" srcId="{AFB2630A-7C35-4DD7-90C3-B19B7493E017}" destId="{C63EC9D9-CB93-40DD-ACAD-AF0300756B6A}" srcOrd="1" destOrd="0" parTransId="{71E51E51-A9AE-4050-86B0-E77FF15BA1B5}" sibTransId="{4FE8EECD-4D9D-44BF-A4DE-4F6D8F17C4D5}"/>
    <dgm:cxn modelId="{52C51728-AA37-4CC0-AF26-8FB5DBE44A7A}" srcId="{AFB2630A-7C35-4DD7-90C3-B19B7493E017}" destId="{44A134C8-CF34-4510-B0A8-7B0953A3D0BF}" srcOrd="0" destOrd="0" parTransId="{F8F4CD05-8401-42C5-B9B8-2737B7C33ECA}" sibTransId="{9A86CEAE-7063-4F6F-8A86-AF5B887C6D74}"/>
    <dgm:cxn modelId="{03E5CC31-1A98-454F-9748-52D482D63AC2}" srcId="{4B32E356-2AB9-4DE1-A70C-02A66781285F}" destId="{8BF7E13C-AD47-457B-8FA9-C5A18E49576E}" srcOrd="1" destOrd="0" parTransId="{F48D3CF9-2836-424E-BF6C-373EC35560D8}" sibTransId="{8550F60C-4EF4-46DA-B042-F1947F9B0E6E}"/>
    <dgm:cxn modelId="{5E926843-DE49-4866-8EE8-546D83FE6A26}" type="presOf" srcId="{4B32E356-2AB9-4DE1-A70C-02A66781285F}" destId="{7AB8B0FF-AE90-4F69-AAF2-8FE430FA0D65}" srcOrd="0" destOrd="0" presId="urn:microsoft.com/office/officeart/2005/8/layout/hList1"/>
    <dgm:cxn modelId="{68AE3746-70C2-4A87-9172-B6F9C95FE77C}" type="presOf" srcId="{0FDD76C7-7F18-4147-8F26-18F74CD90D57}" destId="{CBCAA0FD-557D-4327-99C0-E7EBEA1D78B9}" srcOrd="0" destOrd="0" presId="urn:microsoft.com/office/officeart/2005/8/layout/hList1"/>
    <dgm:cxn modelId="{DE2E856D-2D3B-45EB-85DA-3DA122EDA959}" type="presOf" srcId="{AFB2630A-7C35-4DD7-90C3-B19B7493E017}" destId="{35058660-0EC5-469F-99D6-7632925130FB}" srcOrd="0" destOrd="0" presId="urn:microsoft.com/office/officeart/2005/8/layout/hList1"/>
    <dgm:cxn modelId="{9BC9F952-7E86-412B-96C0-752D9BC210F5}" type="presOf" srcId="{C63EC9D9-CB93-40DD-ACAD-AF0300756B6A}" destId="{06DC0DA4-1AB6-4A93-8ECB-67693291F554}" srcOrd="0" destOrd="1" presId="urn:microsoft.com/office/officeart/2005/8/layout/hList1"/>
    <dgm:cxn modelId="{308AC55A-0D3D-4E33-89FB-736FBAA6B8F4}" type="presOf" srcId="{30A57883-35AE-42D1-B7D3-4CD6D9A2EF9B}" destId="{4181D57F-2832-4DC1-A25B-AEA745E51898}" srcOrd="0" destOrd="0" presId="urn:microsoft.com/office/officeart/2005/8/layout/hList1"/>
    <dgm:cxn modelId="{76DE598E-F23F-42BD-B42E-9CCA1D99A0BF}" srcId="{0FDD76C7-7F18-4147-8F26-18F74CD90D57}" destId="{AFB2630A-7C35-4DD7-90C3-B19B7493E017}" srcOrd="1" destOrd="0" parTransId="{2C22A7B8-43D2-4600-945D-3AB85B488EAF}" sibTransId="{0BC5B4C2-2A8C-4A75-9A9A-1E3DF9EEA7CC}"/>
    <dgm:cxn modelId="{41490E99-C32B-4965-AEE7-E5170D59D150}" type="presOf" srcId="{44A134C8-CF34-4510-B0A8-7B0953A3D0BF}" destId="{06DC0DA4-1AB6-4A93-8ECB-67693291F554}" srcOrd="0" destOrd="0" presId="urn:microsoft.com/office/officeart/2005/8/layout/hList1"/>
    <dgm:cxn modelId="{F3EDFFB6-6B6C-45A0-8E76-2787A6F34CDD}" srcId="{4B32E356-2AB9-4DE1-A70C-02A66781285F}" destId="{BBFC0B91-6069-4E69-9D55-2F293401E799}" srcOrd="0" destOrd="0" parTransId="{2598213B-263A-4804-B767-8AD4540E3D66}" sibTransId="{A6D73F87-329C-4A4F-B414-597121D3A2FC}"/>
    <dgm:cxn modelId="{D2DDC2BD-BD1C-41EB-AECE-6CA09E423E56}" type="presOf" srcId="{BBFC0B91-6069-4E69-9D55-2F293401E799}" destId="{F1327FA7-933F-40DA-A893-CA984FF871B4}" srcOrd="0" destOrd="0" presId="urn:microsoft.com/office/officeart/2005/8/layout/hList1"/>
    <dgm:cxn modelId="{9E9357D8-1571-4F37-93D9-6445D3CE28DC}" srcId="{66CFBCC8-6F17-4120-978E-94F25146A80D}" destId="{30A57883-35AE-42D1-B7D3-4CD6D9A2EF9B}" srcOrd="0" destOrd="0" parTransId="{09AE89E3-D133-420D-8CFA-3189D77CF4C5}" sibTransId="{0B800CC3-C7F0-4D55-8435-F9723D761916}"/>
    <dgm:cxn modelId="{D1F33BDF-4F8F-4413-9B00-98F75B5ACC1C}" type="presOf" srcId="{66CFBCC8-6F17-4120-978E-94F25146A80D}" destId="{498D13E4-7372-4207-9196-068383D27AC3}" srcOrd="0" destOrd="0" presId="urn:microsoft.com/office/officeart/2005/8/layout/hList1"/>
    <dgm:cxn modelId="{3674F8E0-76D8-4162-B6F6-CF49AE2E6957}" srcId="{0FDD76C7-7F18-4147-8F26-18F74CD90D57}" destId="{66CFBCC8-6F17-4120-978E-94F25146A80D}" srcOrd="0" destOrd="0" parTransId="{7C9412CD-8ECC-49F4-8054-E5BE864D0FBD}" sibTransId="{AE0C2DA2-863D-4C3D-B29D-2D91E20D69F6}"/>
    <dgm:cxn modelId="{7D63B9F5-5BD7-4B11-895F-5E09C9CECF6F}" srcId="{0FDD76C7-7F18-4147-8F26-18F74CD90D57}" destId="{4B32E356-2AB9-4DE1-A70C-02A66781285F}" srcOrd="2" destOrd="0" parTransId="{7BFB5ECE-82C9-41BB-841C-DEEA6C845312}" sibTransId="{C70B5F4E-E8D0-4E94-AD8C-97B9AE4716CC}"/>
    <dgm:cxn modelId="{0FA102BB-E68B-4E99-AB1D-2BEBDCBECB2E}" type="presParOf" srcId="{CBCAA0FD-557D-4327-99C0-E7EBEA1D78B9}" destId="{4C6337FB-5B13-445B-8377-43210F7CD6F3}" srcOrd="0" destOrd="0" presId="urn:microsoft.com/office/officeart/2005/8/layout/hList1"/>
    <dgm:cxn modelId="{EDFD11DA-CB37-4317-9734-3FBC56BE903E}" type="presParOf" srcId="{4C6337FB-5B13-445B-8377-43210F7CD6F3}" destId="{498D13E4-7372-4207-9196-068383D27AC3}" srcOrd="0" destOrd="0" presId="urn:microsoft.com/office/officeart/2005/8/layout/hList1"/>
    <dgm:cxn modelId="{ED414110-4005-4700-BE14-924EA4EFCAA2}" type="presParOf" srcId="{4C6337FB-5B13-445B-8377-43210F7CD6F3}" destId="{4181D57F-2832-4DC1-A25B-AEA745E51898}" srcOrd="1" destOrd="0" presId="urn:microsoft.com/office/officeart/2005/8/layout/hList1"/>
    <dgm:cxn modelId="{D3523B66-5547-48F5-B45E-C15C5F826B72}" type="presParOf" srcId="{CBCAA0FD-557D-4327-99C0-E7EBEA1D78B9}" destId="{794749C8-2B4C-4818-8956-36E37D32E25B}" srcOrd="1" destOrd="0" presId="urn:microsoft.com/office/officeart/2005/8/layout/hList1"/>
    <dgm:cxn modelId="{B2225EAA-E99E-40EF-A506-36B2B4A12E85}" type="presParOf" srcId="{CBCAA0FD-557D-4327-99C0-E7EBEA1D78B9}" destId="{DF15695C-DBE1-4C3B-9BF3-FA0C0D8688C2}" srcOrd="2" destOrd="0" presId="urn:microsoft.com/office/officeart/2005/8/layout/hList1"/>
    <dgm:cxn modelId="{0DAE42DD-4BB1-4907-900E-E713D1C3F5B0}" type="presParOf" srcId="{DF15695C-DBE1-4C3B-9BF3-FA0C0D8688C2}" destId="{35058660-0EC5-469F-99D6-7632925130FB}" srcOrd="0" destOrd="0" presId="urn:microsoft.com/office/officeart/2005/8/layout/hList1"/>
    <dgm:cxn modelId="{941DDF07-4B95-4630-9B0A-9ECDE25C25A9}" type="presParOf" srcId="{DF15695C-DBE1-4C3B-9BF3-FA0C0D8688C2}" destId="{06DC0DA4-1AB6-4A93-8ECB-67693291F554}" srcOrd="1" destOrd="0" presId="urn:microsoft.com/office/officeart/2005/8/layout/hList1"/>
    <dgm:cxn modelId="{8FAFCC10-1699-4EA7-B2CA-179194FE5091}" type="presParOf" srcId="{CBCAA0FD-557D-4327-99C0-E7EBEA1D78B9}" destId="{81DBC9B0-D1A9-4265-9EDD-C21147068B77}" srcOrd="3" destOrd="0" presId="urn:microsoft.com/office/officeart/2005/8/layout/hList1"/>
    <dgm:cxn modelId="{8C1C93A5-DE7D-444B-9CF0-EDF445FCF190}" type="presParOf" srcId="{CBCAA0FD-557D-4327-99C0-E7EBEA1D78B9}" destId="{A33853B7-E4BB-4A42-A785-8A1570779BD6}" srcOrd="4" destOrd="0" presId="urn:microsoft.com/office/officeart/2005/8/layout/hList1"/>
    <dgm:cxn modelId="{5AD5CE99-62B6-4E54-850D-7E64F5368D08}" type="presParOf" srcId="{A33853B7-E4BB-4A42-A785-8A1570779BD6}" destId="{7AB8B0FF-AE90-4F69-AAF2-8FE430FA0D65}" srcOrd="0" destOrd="0" presId="urn:microsoft.com/office/officeart/2005/8/layout/hList1"/>
    <dgm:cxn modelId="{DA2359D0-900C-4B39-9A4D-7B7E43FE64E4}" type="presParOf" srcId="{A33853B7-E4BB-4A42-A785-8A1570779BD6}" destId="{F1327FA7-933F-40DA-A893-CA984FF871B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4BA0AA3-FCAA-4DAB-AF89-E1BA2FB44B87}" type="doc">
      <dgm:prSet loTypeId="urn:microsoft.com/office/officeart/2008/layout/VerticalCurvedList" loCatId="list" qsTypeId="urn:microsoft.com/office/officeart/2005/8/quickstyle/simple1" qsCatId="simple" csTypeId="urn:microsoft.com/office/officeart/2005/8/colors/colorful5" csCatId="colorful" phldr="1"/>
      <dgm:spPr/>
      <dgm:t>
        <a:bodyPr/>
        <a:lstStyle/>
        <a:p>
          <a:endParaRPr lang="fr-CA"/>
        </a:p>
      </dgm:t>
    </dgm:pt>
    <dgm:pt modelId="{C0B9E27C-60E4-4309-BD47-B9318C79703C}">
      <dgm:prSet phldrT="[Texte]"/>
      <dgm:spPr/>
      <dgm:t>
        <a:bodyPr/>
        <a:lstStyle/>
        <a:p>
          <a:r>
            <a:rPr lang="fr-CA" dirty="0"/>
            <a:t>Analyse des facteurs clés de succès </a:t>
          </a:r>
        </a:p>
      </dgm:t>
    </dgm:pt>
    <dgm:pt modelId="{EC4332C4-26F6-4708-943D-3CDA4CDA9876}" type="parTrans" cxnId="{9ECEEB2B-D60D-400A-9393-BA0DA9AD1280}">
      <dgm:prSet/>
      <dgm:spPr/>
      <dgm:t>
        <a:bodyPr/>
        <a:lstStyle/>
        <a:p>
          <a:endParaRPr lang="fr-CA"/>
        </a:p>
      </dgm:t>
    </dgm:pt>
    <dgm:pt modelId="{8F8432D0-BE62-4915-81D3-44C4405F3310}" type="sibTrans" cxnId="{9ECEEB2B-D60D-400A-9393-BA0DA9AD1280}">
      <dgm:prSet/>
      <dgm:spPr/>
      <dgm:t>
        <a:bodyPr/>
        <a:lstStyle/>
        <a:p>
          <a:endParaRPr lang="fr-CA"/>
        </a:p>
      </dgm:t>
    </dgm:pt>
    <dgm:pt modelId="{C878B159-8CD0-482D-BC70-9E55A3BCB08D}">
      <dgm:prSet phldrT="[Texte]"/>
      <dgm:spPr/>
      <dgm:t>
        <a:bodyPr/>
        <a:lstStyle/>
        <a:p>
          <a:r>
            <a:rPr lang="fr-CA" dirty="0"/>
            <a:t>Analyse de l’environnement interne</a:t>
          </a:r>
        </a:p>
      </dgm:t>
    </dgm:pt>
    <dgm:pt modelId="{0AE679BA-F165-4D8B-BE0B-78EEEDF13767}" type="parTrans" cxnId="{FD57E539-D852-4B33-9A5F-77F49F6E4D67}">
      <dgm:prSet/>
      <dgm:spPr/>
      <dgm:t>
        <a:bodyPr/>
        <a:lstStyle/>
        <a:p>
          <a:endParaRPr lang="fr-CA"/>
        </a:p>
      </dgm:t>
    </dgm:pt>
    <dgm:pt modelId="{8CEBBF09-BEB4-4FF9-8F32-980EA5FE7FC5}" type="sibTrans" cxnId="{FD57E539-D852-4B33-9A5F-77F49F6E4D67}">
      <dgm:prSet/>
      <dgm:spPr/>
      <dgm:t>
        <a:bodyPr/>
        <a:lstStyle/>
        <a:p>
          <a:endParaRPr lang="fr-CA"/>
        </a:p>
      </dgm:t>
    </dgm:pt>
    <dgm:pt modelId="{E3C7CAC7-F872-4EF8-A2BB-898546F2331D}">
      <dgm:prSet phldrT="[Texte]"/>
      <dgm:spPr/>
      <dgm:t>
        <a:bodyPr/>
        <a:lstStyle/>
        <a:p>
          <a:r>
            <a:rPr lang="fr-CA" dirty="0"/>
            <a:t>Analyse de l’environnement externe </a:t>
          </a:r>
        </a:p>
      </dgm:t>
    </dgm:pt>
    <dgm:pt modelId="{8D15275B-2A74-4FFA-8B65-2ED899B91A53}" type="parTrans" cxnId="{7B44F0B1-55C6-47D6-BA22-CA1C4B479DF3}">
      <dgm:prSet/>
      <dgm:spPr/>
      <dgm:t>
        <a:bodyPr/>
        <a:lstStyle/>
        <a:p>
          <a:endParaRPr lang="fr-CA"/>
        </a:p>
      </dgm:t>
    </dgm:pt>
    <dgm:pt modelId="{C50CFBF5-F595-42FB-B5CD-C228C9B39DF8}" type="sibTrans" cxnId="{7B44F0B1-55C6-47D6-BA22-CA1C4B479DF3}">
      <dgm:prSet/>
      <dgm:spPr/>
      <dgm:t>
        <a:bodyPr/>
        <a:lstStyle/>
        <a:p>
          <a:endParaRPr lang="fr-CA"/>
        </a:p>
      </dgm:t>
    </dgm:pt>
    <dgm:pt modelId="{B327ADAA-25D1-4E67-B995-D72617D1DC6A}">
      <dgm:prSet phldrT="[Texte]"/>
      <dgm:spPr/>
      <dgm:t>
        <a:bodyPr/>
        <a:lstStyle/>
        <a:p>
          <a:r>
            <a:rPr lang="fr-CA" dirty="0"/>
            <a:t>Analyse financière</a:t>
          </a:r>
        </a:p>
      </dgm:t>
    </dgm:pt>
    <dgm:pt modelId="{01BA7634-0857-4C51-8311-0035357B8F65}" type="parTrans" cxnId="{5C20BF88-CFE4-4B75-A871-C5A0AC071E58}">
      <dgm:prSet/>
      <dgm:spPr/>
    </dgm:pt>
    <dgm:pt modelId="{D526AB3C-68BF-425B-99D6-435A7956300A}" type="sibTrans" cxnId="{5C20BF88-CFE4-4B75-A871-C5A0AC071E58}">
      <dgm:prSet/>
      <dgm:spPr/>
    </dgm:pt>
    <dgm:pt modelId="{B565C7AA-3C88-4B13-B80D-7A07EC8FE8C5}" type="pres">
      <dgm:prSet presAssocID="{B4BA0AA3-FCAA-4DAB-AF89-E1BA2FB44B87}" presName="Name0" presStyleCnt="0">
        <dgm:presLayoutVars>
          <dgm:chMax val="7"/>
          <dgm:chPref val="7"/>
          <dgm:dir/>
        </dgm:presLayoutVars>
      </dgm:prSet>
      <dgm:spPr/>
    </dgm:pt>
    <dgm:pt modelId="{8679372E-8C57-4C50-8A58-F05F26F0F622}" type="pres">
      <dgm:prSet presAssocID="{B4BA0AA3-FCAA-4DAB-AF89-E1BA2FB44B87}" presName="Name1" presStyleCnt="0"/>
      <dgm:spPr/>
    </dgm:pt>
    <dgm:pt modelId="{BE88F729-E41A-432A-A184-4B31D4BD04F7}" type="pres">
      <dgm:prSet presAssocID="{B4BA0AA3-FCAA-4DAB-AF89-E1BA2FB44B87}" presName="cycle" presStyleCnt="0"/>
      <dgm:spPr/>
    </dgm:pt>
    <dgm:pt modelId="{F36622BE-69F0-4878-8FD9-748534557616}" type="pres">
      <dgm:prSet presAssocID="{B4BA0AA3-FCAA-4DAB-AF89-E1BA2FB44B87}" presName="srcNode" presStyleLbl="node1" presStyleIdx="0" presStyleCnt="4"/>
      <dgm:spPr/>
    </dgm:pt>
    <dgm:pt modelId="{F97EB05B-ACFD-48E2-A971-1CE5DA3507C1}" type="pres">
      <dgm:prSet presAssocID="{B4BA0AA3-FCAA-4DAB-AF89-E1BA2FB44B87}" presName="conn" presStyleLbl="parChTrans1D2" presStyleIdx="0" presStyleCnt="1"/>
      <dgm:spPr/>
    </dgm:pt>
    <dgm:pt modelId="{D732BA08-3937-4B29-9BFC-60FE89B61E69}" type="pres">
      <dgm:prSet presAssocID="{B4BA0AA3-FCAA-4DAB-AF89-E1BA2FB44B87}" presName="extraNode" presStyleLbl="node1" presStyleIdx="0" presStyleCnt="4"/>
      <dgm:spPr/>
    </dgm:pt>
    <dgm:pt modelId="{08F31504-6EE1-48C3-BEF3-2F042378806C}" type="pres">
      <dgm:prSet presAssocID="{B4BA0AA3-FCAA-4DAB-AF89-E1BA2FB44B87}" presName="dstNode" presStyleLbl="node1" presStyleIdx="0" presStyleCnt="4"/>
      <dgm:spPr/>
    </dgm:pt>
    <dgm:pt modelId="{A85424B7-2BA5-40B5-8D79-1CB111997A6B}" type="pres">
      <dgm:prSet presAssocID="{C0B9E27C-60E4-4309-BD47-B9318C79703C}" presName="text_1" presStyleLbl="node1" presStyleIdx="0" presStyleCnt="4">
        <dgm:presLayoutVars>
          <dgm:bulletEnabled val="1"/>
        </dgm:presLayoutVars>
      </dgm:prSet>
      <dgm:spPr/>
    </dgm:pt>
    <dgm:pt modelId="{37EA342E-6AB7-456B-A5A1-B47A66E02BEA}" type="pres">
      <dgm:prSet presAssocID="{C0B9E27C-60E4-4309-BD47-B9318C79703C}" presName="accent_1" presStyleCnt="0"/>
      <dgm:spPr/>
    </dgm:pt>
    <dgm:pt modelId="{EA042A75-79C7-4D2B-803D-B040AAFAE43D}" type="pres">
      <dgm:prSet presAssocID="{C0B9E27C-60E4-4309-BD47-B9318C79703C}" presName="accentRepeatNode" presStyleLbl="solidFgAcc1" presStyleIdx="0" presStyleCnt="4"/>
      <dgm:spPr/>
    </dgm:pt>
    <dgm:pt modelId="{AFEF69B9-7605-41ED-BC4B-608F80858C6E}" type="pres">
      <dgm:prSet presAssocID="{C878B159-8CD0-482D-BC70-9E55A3BCB08D}" presName="text_2" presStyleLbl="node1" presStyleIdx="1" presStyleCnt="4">
        <dgm:presLayoutVars>
          <dgm:bulletEnabled val="1"/>
        </dgm:presLayoutVars>
      </dgm:prSet>
      <dgm:spPr/>
    </dgm:pt>
    <dgm:pt modelId="{08968BBA-F203-4723-B419-118630B1E689}" type="pres">
      <dgm:prSet presAssocID="{C878B159-8CD0-482D-BC70-9E55A3BCB08D}" presName="accent_2" presStyleCnt="0"/>
      <dgm:spPr/>
    </dgm:pt>
    <dgm:pt modelId="{8337092D-8EA1-40E4-906D-57BECD92FA6E}" type="pres">
      <dgm:prSet presAssocID="{C878B159-8CD0-482D-BC70-9E55A3BCB08D}" presName="accentRepeatNode" presStyleLbl="solidFgAcc1" presStyleIdx="1" presStyleCnt="4"/>
      <dgm:spPr/>
    </dgm:pt>
    <dgm:pt modelId="{8B17AF25-5E89-4444-B83E-DF3A1B7BEBA2}" type="pres">
      <dgm:prSet presAssocID="{E3C7CAC7-F872-4EF8-A2BB-898546F2331D}" presName="text_3" presStyleLbl="node1" presStyleIdx="2" presStyleCnt="4" custLinFactNeighborX="581" custLinFactNeighborY="-5089">
        <dgm:presLayoutVars>
          <dgm:bulletEnabled val="1"/>
        </dgm:presLayoutVars>
      </dgm:prSet>
      <dgm:spPr/>
    </dgm:pt>
    <dgm:pt modelId="{FEACE511-6C6A-424C-AD1B-22ECEE3C3470}" type="pres">
      <dgm:prSet presAssocID="{E3C7CAC7-F872-4EF8-A2BB-898546F2331D}" presName="accent_3" presStyleCnt="0"/>
      <dgm:spPr/>
    </dgm:pt>
    <dgm:pt modelId="{97AE15D7-E20A-4443-8DA4-C7511AB73199}" type="pres">
      <dgm:prSet presAssocID="{E3C7CAC7-F872-4EF8-A2BB-898546F2331D}" presName="accentRepeatNode" presStyleLbl="solidFgAcc1" presStyleIdx="2" presStyleCnt="4"/>
      <dgm:spPr/>
    </dgm:pt>
    <dgm:pt modelId="{558B1742-C106-4AFF-85AC-86AA0D732C7E}" type="pres">
      <dgm:prSet presAssocID="{B327ADAA-25D1-4E67-B995-D72617D1DC6A}" presName="text_4" presStyleLbl="node1" presStyleIdx="3" presStyleCnt="4">
        <dgm:presLayoutVars>
          <dgm:bulletEnabled val="1"/>
        </dgm:presLayoutVars>
      </dgm:prSet>
      <dgm:spPr/>
    </dgm:pt>
    <dgm:pt modelId="{D06921DF-D3C9-44A1-B4AF-7B85368D8BF3}" type="pres">
      <dgm:prSet presAssocID="{B327ADAA-25D1-4E67-B995-D72617D1DC6A}" presName="accent_4" presStyleCnt="0"/>
      <dgm:spPr/>
    </dgm:pt>
    <dgm:pt modelId="{93682A9D-00E5-43F4-A62D-974537D2E784}" type="pres">
      <dgm:prSet presAssocID="{B327ADAA-25D1-4E67-B995-D72617D1DC6A}" presName="accentRepeatNode" presStyleLbl="solidFgAcc1" presStyleIdx="3" presStyleCnt="4"/>
      <dgm:spPr/>
    </dgm:pt>
  </dgm:ptLst>
  <dgm:cxnLst>
    <dgm:cxn modelId="{EE7CB70B-D446-4690-90F3-F3CF295D9F7C}" type="presOf" srcId="{C0B9E27C-60E4-4309-BD47-B9318C79703C}" destId="{A85424B7-2BA5-40B5-8D79-1CB111997A6B}" srcOrd="0" destOrd="0" presId="urn:microsoft.com/office/officeart/2008/layout/VerticalCurvedList"/>
    <dgm:cxn modelId="{5A91D20F-11A0-4B6B-AC9B-3065BA2E2994}" type="presOf" srcId="{B4BA0AA3-FCAA-4DAB-AF89-E1BA2FB44B87}" destId="{B565C7AA-3C88-4B13-B80D-7A07EC8FE8C5}" srcOrd="0" destOrd="0" presId="urn:microsoft.com/office/officeart/2008/layout/VerticalCurvedList"/>
    <dgm:cxn modelId="{AA44961C-647D-4BBA-9113-F3482A136733}" type="presOf" srcId="{E3C7CAC7-F872-4EF8-A2BB-898546F2331D}" destId="{8B17AF25-5E89-4444-B83E-DF3A1B7BEBA2}" srcOrd="0" destOrd="0" presId="urn:microsoft.com/office/officeart/2008/layout/VerticalCurvedList"/>
    <dgm:cxn modelId="{9ECEEB2B-D60D-400A-9393-BA0DA9AD1280}" srcId="{B4BA0AA3-FCAA-4DAB-AF89-E1BA2FB44B87}" destId="{C0B9E27C-60E4-4309-BD47-B9318C79703C}" srcOrd="0" destOrd="0" parTransId="{EC4332C4-26F6-4708-943D-3CDA4CDA9876}" sibTransId="{8F8432D0-BE62-4915-81D3-44C4405F3310}"/>
    <dgm:cxn modelId="{FD57E539-D852-4B33-9A5F-77F49F6E4D67}" srcId="{B4BA0AA3-FCAA-4DAB-AF89-E1BA2FB44B87}" destId="{C878B159-8CD0-482D-BC70-9E55A3BCB08D}" srcOrd="1" destOrd="0" parTransId="{0AE679BA-F165-4D8B-BE0B-78EEEDF13767}" sibTransId="{8CEBBF09-BEB4-4FF9-8F32-980EA5FE7FC5}"/>
    <dgm:cxn modelId="{9FB8E348-6EBB-4199-BF6A-0D996D2D746F}" type="presOf" srcId="{8F8432D0-BE62-4915-81D3-44C4405F3310}" destId="{F97EB05B-ACFD-48E2-A971-1CE5DA3507C1}" srcOrd="0" destOrd="0" presId="urn:microsoft.com/office/officeart/2008/layout/VerticalCurvedList"/>
    <dgm:cxn modelId="{115EAB82-89DC-4A2A-8AD4-9CED5EBFE2CB}" type="presOf" srcId="{B327ADAA-25D1-4E67-B995-D72617D1DC6A}" destId="{558B1742-C106-4AFF-85AC-86AA0D732C7E}" srcOrd="0" destOrd="0" presId="urn:microsoft.com/office/officeart/2008/layout/VerticalCurvedList"/>
    <dgm:cxn modelId="{5C20BF88-CFE4-4B75-A871-C5A0AC071E58}" srcId="{B4BA0AA3-FCAA-4DAB-AF89-E1BA2FB44B87}" destId="{B327ADAA-25D1-4E67-B995-D72617D1DC6A}" srcOrd="3" destOrd="0" parTransId="{01BA7634-0857-4C51-8311-0035357B8F65}" sibTransId="{D526AB3C-68BF-425B-99D6-435A7956300A}"/>
    <dgm:cxn modelId="{045B86A9-C0E6-469F-94C0-C761358A6BB7}" type="presOf" srcId="{C878B159-8CD0-482D-BC70-9E55A3BCB08D}" destId="{AFEF69B9-7605-41ED-BC4B-608F80858C6E}" srcOrd="0" destOrd="0" presId="urn:microsoft.com/office/officeart/2008/layout/VerticalCurvedList"/>
    <dgm:cxn modelId="{7B44F0B1-55C6-47D6-BA22-CA1C4B479DF3}" srcId="{B4BA0AA3-FCAA-4DAB-AF89-E1BA2FB44B87}" destId="{E3C7CAC7-F872-4EF8-A2BB-898546F2331D}" srcOrd="2" destOrd="0" parTransId="{8D15275B-2A74-4FFA-8B65-2ED899B91A53}" sibTransId="{C50CFBF5-F595-42FB-B5CD-C228C9B39DF8}"/>
    <dgm:cxn modelId="{01EE87A2-8560-40A8-BE3B-FAA2A6C5FD70}" type="presParOf" srcId="{B565C7AA-3C88-4B13-B80D-7A07EC8FE8C5}" destId="{8679372E-8C57-4C50-8A58-F05F26F0F622}" srcOrd="0" destOrd="0" presId="urn:microsoft.com/office/officeart/2008/layout/VerticalCurvedList"/>
    <dgm:cxn modelId="{231584E6-A9EA-43DE-BEF8-92DB474323CC}" type="presParOf" srcId="{8679372E-8C57-4C50-8A58-F05F26F0F622}" destId="{BE88F729-E41A-432A-A184-4B31D4BD04F7}" srcOrd="0" destOrd="0" presId="urn:microsoft.com/office/officeart/2008/layout/VerticalCurvedList"/>
    <dgm:cxn modelId="{AF03DD31-FD11-4449-8624-49315BD440E5}" type="presParOf" srcId="{BE88F729-E41A-432A-A184-4B31D4BD04F7}" destId="{F36622BE-69F0-4878-8FD9-748534557616}" srcOrd="0" destOrd="0" presId="urn:microsoft.com/office/officeart/2008/layout/VerticalCurvedList"/>
    <dgm:cxn modelId="{584DCFCB-E044-4EA7-8FF4-4A3B4C1D5095}" type="presParOf" srcId="{BE88F729-E41A-432A-A184-4B31D4BD04F7}" destId="{F97EB05B-ACFD-48E2-A971-1CE5DA3507C1}" srcOrd="1" destOrd="0" presId="urn:microsoft.com/office/officeart/2008/layout/VerticalCurvedList"/>
    <dgm:cxn modelId="{12B898DB-EDD8-4900-BF70-53FAC158FE90}" type="presParOf" srcId="{BE88F729-E41A-432A-A184-4B31D4BD04F7}" destId="{D732BA08-3937-4B29-9BFC-60FE89B61E69}" srcOrd="2" destOrd="0" presId="urn:microsoft.com/office/officeart/2008/layout/VerticalCurvedList"/>
    <dgm:cxn modelId="{09F80666-8AEA-4D92-978C-F50CF2C97AEB}" type="presParOf" srcId="{BE88F729-E41A-432A-A184-4B31D4BD04F7}" destId="{08F31504-6EE1-48C3-BEF3-2F042378806C}" srcOrd="3" destOrd="0" presId="urn:microsoft.com/office/officeart/2008/layout/VerticalCurvedList"/>
    <dgm:cxn modelId="{5887DB95-EC39-4624-B936-DB0743F153CE}" type="presParOf" srcId="{8679372E-8C57-4C50-8A58-F05F26F0F622}" destId="{A85424B7-2BA5-40B5-8D79-1CB111997A6B}" srcOrd="1" destOrd="0" presId="urn:microsoft.com/office/officeart/2008/layout/VerticalCurvedList"/>
    <dgm:cxn modelId="{5FD13740-3DAE-4B77-805A-820BB5A250C1}" type="presParOf" srcId="{8679372E-8C57-4C50-8A58-F05F26F0F622}" destId="{37EA342E-6AB7-456B-A5A1-B47A66E02BEA}" srcOrd="2" destOrd="0" presId="urn:microsoft.com/office/officeart/2008/layout/VerticalCurvedList"/>
    <dgm:cxn modelId="{7DF02266-D446-4D9D-BB90-06E7A7B8EC35}" type="presParOf" srcId="{37EA342E-6AB7-456B-A5A1-B47A66E02BEA}" destId="{EA042A75-79C7-4D2B-803D-B040AAFAE43D}" srcOrd="0" destOrd="0" presId="urn:microsoft.com/office/officeart/2008/layout/VerticalCurvedList"/>
    <dgm:cxn modelId="{FC373C2F-FA89-4541-928F-4991646960F1}" type="presParOf" srcId="{8679372E-8C57-4C50-8A58-F05F26F0F622}" destId="{AFEF69B9-7605-41ED-BC4B-608F80858C6E}" srcOrd="3" destOrd="0" presId="urn:microsoft.com/office/officeart/2008/layout/VerticalCurvedList"/>
    <dgm:cxn modelId="{B733323E-3AD4-45B3-95A7-9DE44BA93370}" type="presParOf" srcId="{8679372E-8C57-4C50-8A58-F05F26F0F622}" destId="{08968BBA-F203-4723-B419-118630B1E689}" srcOrd="4" destOrd="0" presId="urn:microsoft.com/office/officeart/2008/layout/VerticalCurvedList"/>
    <dgm:cxn modelId="{07507368-20BE-44C6-B615-E24227BD4F38}" type="presParOf" srcId="{08968BBA-F203-4723-B419-118630B1E689}" destId="{8337092D-8EA1-40E4-906D-57BECD92FA6E}" srcOrd="0" destOrd="0" presId="urn:microsoft.com/office/officeart/2008/layout/VerticalCurvedList"/>
    <dgm:cxn modelId="{FABB8124-A857-448D-98B5-435B3093A016}" type="presParOf" srcId="{8679372E-8C57-4C50-8A58-F05F26F0F622}" destId="{8B17AF25-5E89-4444-B83E-DF3A1B7BEBA2}" srcOrd="5" destOrd="0" presId="urn:microsoft.com/office/officeart/2008/layout/VerticalCurvedList"/>
    <dgm:cxn modelId="{268A7C0D-48EE-4D9C-BFCD-2B876F55AABC}" type="presParOf" srcId="{8679372E-8C57-4C50-8A58-F05F26F0F622}" destId="{FEACE511-6C6A-424C-AD1B-22ECEE3C3470}" srcOrd="6" destOrd="0" presId="urn:microsoft.com/office/officeart/2008/layout/VerticalCurvedList"/>
    <dgm:cxn modelId="{11B0766D-F390-4466-95BF-17407CB22F24}" type="presParOf" srcId="{FEACE511-6C6A-424C-AD1B-22ECEE3C3470}" destId="{97AE15D7-E20A-4443-8DA4-C7511AB73199}" srcOrd="0" destOrd="0" presId="urn:microsoft.com/office/officeart/2008/layout/VerticalCurvedList"/>
    <dgm:cxn modelId="{7A4A453C-1FCF-4792-9E87-7B0B5AD51E29}" type="presParOf" srcId="{8679372E-8C57-4C50-8A58-F05F26F0F622}" destId="{558B1742-C106-4AFF-85AC-86AA0D732C7E}" srcOrd="7" destOrd="0" presId="urn:microsoft.com/office/officeart/2008/layout/VerticalCurvedList"/>
    <dgm:cxn modelId="{C7485FDB-FD57-4915-8DDC-AA6C5CF668A4}" type="presParOf" srcId="{8679372E-8C57-4C50-8A58-F05F26F0F622}" destId="{D06921DF-D3C9-44A1-B4AF-7B85368D8BF3}" srcOrd="8" destOrd="0" presId="urn:microsoft.com/office/officeart/2008/layout/VerticalCurvedList"/>
    <dgm:cxn modelId="{F7BA366D-1171-426E-9199-530606D553C6}" type="presParOf" srcId="{D06921DF-D3C9-44A1-B4AF-7B85368D8BF3}" destId="{93682A9D-00E5-43F4-A62D-974537D2E784}"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A20A8F7-BFA9-4433-B8C6-5262ADAF6760}"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fr-CA"/>
        </a:p>
      </dgm:t>
    </dgm:pt>
    <dgm:pt modelId="{1BD6A2DA-F710-4033-AD6E-726BEDA925CD}">
      <dgm:prSet phldrT="[Texte]"/>
      <dgm:spPr/>
      <dgm:t>
        <a:bodyPr/>
        <a:lstStyle/>
        <a:p>
          <a:pPr>
            <a:defRPr cap="all"/>
          </a:pPr>
          <a:r>
            <a:rPr lang="fr-CA"/>
            <a:t>Forces </a:t>
          </a:r>
        </a:p>
      </dgm:t>
    </dgm:pt>
    <dgm:pt modelId="{8091BD1A-3062-41C7-BD8E-DEEBFA45F492}" type="parTrans" cxnId="{6EC89AC7-DD3A-4940-BF58-C2C61DA83001}">
      <dgm:prSet/>
      <dgm:spPr/>
      <dgm:t>
        <a:bodyPr/>
        <a:lstStyle/>
        <a:p>
          <a:endParaRPr lang="fr-CA"/>
        </a:p>
      </dgm:t>
    </dgm:pt>
    <dgm:pt modelId="{71748358-93DF-43BF-BC1D-FBD4584E80C1}" type="sibTrans" cxnId="{6EC89AC7-DD3A-4940-BF58-C2C61DA83001}">
      <dgm:prSet/>
      <dgm:spPr/>
      <dgm:t>
        <a:bodyPr/>
        <a:lstStyle/>
        <a:p>
          <a:endParaRPr lang="fr-CA"/>
        </a:p>
      </dgm:t>
    </dgm:pt>
    <dgm:pt modelId="{D500F35C-5F1C-4776-BB46-F84F4A4F6B4E}">
      <dgm:prSet phldrT="[Texte]"/>
      <dgm:spPr/>
      <dgm:t>
        <a:bodyPr/>
        <a:lstStyle/>
        <a:p>
          <a:pPr>
            <a:defRPr cap="all"/>
          </a:pPr>
          <a:r>
            <a:rPr lang="fr-CA"/>
            <a:t>Faiblesses</a:t>
          </a:r>
        </a:p>
      </dgm:t>
    </dgm:pt>
    <dgm:pt modelId="{2001ABA8-5FB2-4177-A4E4-07C1EC31D993}" type="parTrans" cxnId="{965AA639-95A2-4A77-9BEB-08B8D5769DA3}">
      <dgm:prSet/>
      <dgm:spPr/>
      <dgm:t>
        <a:bodyPr/>
        <a:lstStyle/>
        <a:p>
          <a:endParaRPr lang="fr-CA"/>
        </a:p>
      </dgm:t>
    </dgm:pt>
    <dgm:pt modelId="{6B75A34C-3BCB-4AEF-B752-3A799DC26887}" type="sibTrans" cxnId="{965AA639-95A2-4A77-9BEB-08B8D5769DA3}">
      <dgm:prSet/>
      <dgm:spPr/>
      <dgm:t>
        <a:bodyPr/>
        <a:lstStyle/>
        <a:p>
          <a:endParaRPr lang="en-US"/>
        </a:p>
      </dgm:t>
    </dgm:pt>
    <dgm:pt modelId="{FB6460E1-23DF-4297-B6DD-AA19B6EA0CEF}">
      <dgm:prSet phldrT="[Texte]"/>
      <dgm:spPr/>
      <dgm:t>
        <a:bodyPr/>
        <a:lstStyle/>
        <a:p>
          <a:pPr>
            <a:defRPr cap="all"/>
          </a:pPr>
          <a:r>
            <a:rPr lang="fr-CA"/>
            <a:t>Possibilités</a:t>
          </a:r>
        </a:p>
      </dgm:t>
    </dgm:pt>
    <dgm:pt modelId="{504441FB-5B49-438B-81D3-20D6E790BCFA}" type="parTrans" cxnId="{CCFCE6D8-AD6E-40C3-988C-A641FD436EDD}">
      <dgm:prSet/>
      <dgm:spPr/>
      <dgm:t>
        <a:bodyPr/>
        <a:lstStyle/>
        <a:p>
          <a:endParaRPr lang="fr-CA"/>
        </a:p>
      </dgm:t>
    </dgm:pt>
    <dgm:pt modelId="{2426DF84-520C-4AB3-B580-E8A6E04A01CD}" type="sibTrans" cxnId="{CCFCE6D8-AD6E-40C3-988C-A641FD436EDD}">
      <dgm:prSet/>
      <dgm:spPr/>
      <dgm:t>
        <a:bodyPr/>
        <a:lstStyle/>
        <a:p>
          <a:endParaRPr lang="en-US"/>
        </a:p>
      </dgm:t>
    </dgm:pt>
    <dgm:pt modelId="{DB9447C2-8F77-41A5-9F35-0730686DAA03}">
      <dgm:prSet phldrT="[Texte]"/>
      <dgm:spPr/>
      <dgm:t>
        <a:bodyPr/>
        <a:lstStyle/>
        <a:p>
          <a:pPr>
            <a:defRPr cap="all"/>
          </a:pPr>
          <a:r>
            <a:rPr lang="fr-CA" dirty="0"/>
            <a:t>Menaces</a:t>
          </a:r>
        </a:p>
      </dgm:t>
    </dgm:pt>
    <dgm:pt modelId="{6D29E76F-8E5C-418E-8C6B-D1EE6B70029A}" type="parTrans" cxnId="{6F5C9DEA-4065-45C0-95CC-FC69BD2C1766}">
      <dgm:prSet/>
      <dgm:spPr/>
      <dgm:t>
        <a:bodyPr/>
        <a:lstStyle/>
        <a:p>
          <a:endParaRPr lang="fr-CA"/>
        </a:p>
      </dgm:t>
    </dgm:pt>
    <dgm:pt modelId="{050B6DE7-7FC6-4E14-B49F-E011477BE246}" type="sibTrans" cxnId="{6F5C9DEA-4065-45C0-95CC-FC69BD2C1766}">
      <dgm:prSet/>
      <dgm:spPr/>
      <dgm:t>
        <a:bodyPr/>
        <a:lstStyle/>
        <a:p>
          <a:endParaRPr lang="en-US"/>
        </a:p>
      </dgm:t>
    </dgm:pt>
    <dgm:pt modelId="{6D9F0777-D3D2-4A37-8137-CAED193337FD}" type="pres">
      <dgm:prSet presAssocID="{EA20A8F7-BFA9-4433-B8C6-5262ADAF6760}" presName="root" presStyleCnt="0">
        <dgm:presLayoutVars>
          <dgm:dir/>
          <dgm:resizeHandles val="exact"/>
        </dgm:presLayoutVars>
      </dgm:prSet>
      <dgm:spPr/>
    </dgm:pt>
    <dgm:pt modelId="{CCF4FDC0-5325-42DB-B9ED-01B8B82E0F18}" type="pres">
      <dgm:prSet presAssocID="{1BD6A2DA-F710-4033-AD6E-726BEDA925CD}" presName="compNode" presStyleCnt="0"/>
      <dgm:spPr/>
    </dgm:pt>
    <dgm:pt modelId="{776C47A2-B3DF-4A54-89CD-358E7161E36C}" type="pres">
      <dgm:prSet presAssocID="{1BD6A2DA-F710-4033-AD6E-726BEDA925CD}" presName="iconBgRect" presStyleLbl="bgShp" presStyleIdx="0" presStyleCnt="4"/>
      <dgm:spPr/>
    </dgm:pt>
    <dgm:pt modelId="{C95DFD5E-08FA-4E7E-82DB-3AF699F3FEC2}" type="pres">
      <dgm:prSet presAssocID="{1BD6A2DA-F710-4033-AD6E-726BEDA925CD}"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che"/>
        </a:ext>
      </dgm:extLst>
    </dgm:pt>
    <dgm:pt modelId="{6880D89A-EC5E-4CC7-9BE6-061D04CADDA3}" type="pres">
      <dgm:prSet presAssocID="{1BD6A2DA-F710-4033-AD6E-726BEDA925CD}" presName="spaceRect" presStyleCnt="0"/>
      <dgm:spPr/>
    </dgm:pt>
    <dgm:pt modelId="{53F8608C-8BAC-4B76-8438-278C2DADBBFB}" type="pres">
      <dgm:prSet presAssocID="{1BD6A2DA-F710-4033-AD6E-726BEDA925CD}" presName="textRect" presStyleLbl="revTx" presStyleIdx="0" presStyleCnt="4">
        <dgm:presLayoutVars>
          <dgm:chMax val="1"/>
          <dgm:chPref val="1"/>
        </dgm:presLayoutVars>
      </dgm:prSet>
      <dgm:spPr/>
    </dgm:pt>
    <dgm:pt modelId="{E929F7E0-DE46-4827-96A1-A65A61ADCC8A}" type="pres">
      <dgm:prSet presAssocID="{71748358-93DF-43BF-BC1D-FBD4584E80C1}" presName="sibTrans" presStyleCnt="0"/>
      <dgm:spPr/>
    </dgm:pt>
    <dgm:pt modelId="{7BF5C264-47F7-4503-AFB3-8CEAA29D5F39}" type="pres">
      <dgm:prSet presAssocID="{D500F35C-5F1C-4776-BB46-F84F4A4F6B4E}" presName="compNode" presStyleCnt="0"/>
      <dgm:spPr/>
    </dgm:pt>
    <dgm:pt modelId="{A6439513-019C-409B-9B17-A69C4FDD2074}" type="pres">
      <dgm:prSet presAssocID="{D500F35C-5F1C-4776-BB46-F84F4A4F6B4E}" presName="iconBgRect" presStyleLbl="bgShp" presStyleIdx="1" presStyleCnt="4"/>
      <dgm:spPr/>
    </dgm:pt>
    <dgm:pt modelId="{55E33DD8-57D7-45C0-A5FA-8DB219243017}" type="pres">
      <dgm:prSet presAssocID="{D500F35C-5F1C-4776-BB46-F84F4A4F6B4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Avertissement"/>
        </a:ext>
      </dgm:extLst>
    </dgm:pt>
    <dgm:pt modelId="{50316B23-0916-4C32-81B2-CC517A49340D}" type="pres">
      <dgm:prSet presAssocID="{D500F35C-5F1C-4776-BB46-F84F4A4F6B4E}" presName="spaceRect" presStyleCnt="0"/>
      <dgm:spPr/>
    </dgm:pt>
    <dgm:pt modelId="{D46125DF-259F-4D56-A104-BF3D8A7D6DFB}" type="pres">
      <dgm:prSet presAssocID="{D500F35C-5F1C-4776-BB46-F84F4A4F6B4E}" presName="textRect" presStyleLbl="revTx" presStyleIdx="1" presStyleCnt="4">
        <dgm:presLayoutVars>
          <dgm:chMax val="1"/>
          <dgm:chPref val="1"/>
        </dgm:presLayoutVars>
      </dgm:prSet>
      <dgm:spPr/>
    </dgm:pt>
    <dgm:pt modelId="{C45921D6-9C02-456E-86F3-26CE875DD85F}" type="pres">
      <dgm:prSet presAssocID="{6B75A34C-3BCB-4AEF-B752-3A799DC26887}" presName="sibTrans" presStyleCnt="0"/>
      <dgm:spPr/>
    </dgm:pt>
    <dgm:pt modelId="{03573BA4-DCFB-4E0F-8C66-31DF501DD87D}" type="pres">
      <dgm:prSet presAssocID="{FB6460E1-23DF-4297-B6DD-AA19B6EA0CEF}" presName="compNode" presStyleCnt="0"/>
      <dgm:spPr/>
    </dgm:pt>
    <dgm:pt modelId="{5BE0A21A-D235-49CB-B551-4B93466CAC6C}" type="pres">
      <dgm:prSet presAssocID="{FB6460E1-23DF-4297-B6DD-AA19B6EA0CEF}" presName="iconBgRect" presStyleLbl="bgShp" presStyleIdx="2" presStyleCnt="4"/>
      <dgm:spPr/>
    </dgm:pt>
    <dgm:pt modelId="{4D7CE112-5BD5-4AB4-8A25-7FD95851DDA8}" type="pres">
      <dgm:prSet presAssocID="{FB6460E1-23DF-4297-B6DD-AA19B6EA0CEF}"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Ampoule"/>
        </a:ext>
      </dgm:extLst>
    </dgm:pt>
    <dgm:pt modelId="{9D086416-3E61-4036-9697-7BDC06C8E567}" type="pres">
      <dgm:prSet presAssocID="{FB6460E1-23DF-4297-B6DD-AA19B6EA0CEF}" presName="spaceRect" presStyleCnt="0"/>
      <dgm:spPr/>
    </dgm:pt>
    <dgm:pt modelId="{E09570ED-983B-44B7-A8A5-C88F44B8260D}" type="pres">
      <dgm:prSet presAssocID="{FB6460E1-23DF-4297-B6DD-AA19B6EA0CEF}" presName="textRect" presStyleLbl="revTx" presStyleIdx="2" presStyleCnt="4">
        <dgm:presLayoutVars>
          <dgm:chMax val="1"/>
          <dgm:chPref val="1"/>
        </dgm:presLayoutVars>
      </dgm:prSet>
      <dgm:spPr/>
    </dgm:pt>
    <dgm:pt modelId="{1401F734-20F5-4267-AC2D-8287308C1B00}" type="pres">
      <dgm:prSet presAssocID="{2426DF84-520C-4AB3-B580-E8A6E04A01CD}" presName="sibTrans" presStyleCnt="0"/>
      <dgm:spPr/>
    </dgm:pt>
    <dgm:pt modelId="{1152D741-7097-459B-AE48-0CA679F918A6}" type="pres">
      <dgm:prSet presAssocID="{DB9447C2-8F77-41A5-9F35-0730686DAA03}" presName="compNode" presStyleCnt="0"/>
      <dgm:spPr/>
    </dgm:pt>
    <dgm:pt modelId="{9DD88212-C8B3-4144-9B77-F79457E155D8}" type="pres">
      <dgm:prSet presAssocID="{DB9447C2-8F77-41A5-9F35-0730686DAA03}" presName="iconBgRect" presStyleLbl="bgShp" presStyleIdx="3" presStyleCnt="4"/>
      <dgm:spPr/>
    </dgm:pt>
    <dgm:pt modelId="{A4A1C901-C54F-45AC-82DC-F5C258ED0EAF}" type="pres">
      <dgm:prSet presAssocID="{DB9447C2-8F77-41A5-9F35-0730686DAA0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Radioactif"/>
        </a:ext>
      </dgm:extLst>
    </dgm:pt>
    <dgm:pt modelId="{CE7947C4-F217-418D-8619-B26DC9344335}" type="pres">
      <dgm:prSet presAssocID="{DB9447C2-8F77-41A5-9F35-0730686DAA03}" presName="spaceRect" presStyleCnt="0"/>
      <dgm:spPr/>
    </dgm:pt>
    <dgm:pt modelId="{631BB6B7-F332-4AB7-97F0-19B002A54DD4}" type="pres">
      <dgm:prSet presAssocID="{DB9447C2-8F77-41A5-9F35-0730686DAA03}" presName="textRect" presStyleLbl="revTx" presStyleIdx="3" presStyleCnt="4">
        <dgm:presLayoutVars>
          <dgm:chMax val="1"/>
          <dgm:chPref val="1"/>
        </dgm:presLayoutVars>
      </dgm:prSet>
      <dgm:spPr/>
    </dgm:pt>
  </dgm:ptLst>
  <dgm:cxnLst>
    <dgm:cxn modelId="{48C1A30D-1C69-493B-9D97-F167B97F0570}" type="presOf" srcId="{DB9447C2-8F77-41A5-9F35-0730686DAA03}" destId="{631BB6B7-F332-4AB7-97F0-19B002A54DD4}" srcOrd="0" destOrd="0" presId="urn:microsoft.com/office/officeart/2018/5/layout/IconCircleLabelList"/>
    <dgm:cxn modelId="{90883810-E55F-4BB1-A75B-77C01AEE0DF3}" type="presOf" srcId="{FB6460E1-23DF-4297-B6DD-AA19B6EA0CEF}" destId="{E09570ED-983B-44B7-A8A5-C88F44B8260D}" srcOrd="0" destOrd="0" presId="urn:microsoft.com/office/officeart/2018/5/layout/IconCircleLabelList"/>
    <dgm:cxn modelId="{0C41091D-C33C-4FED-B6F6-F10F9D4D6060}" type="presOf" srcId="{1BD6A2DA-F710-4033-AD6E-726BEDA925CD}" destId="{53F8608C-8BAC-4B76-8438-278C2DADBBFB}" srcOrd="0" destOrd="0" presId="urn:microsoft.com/office/officeart/2018/5/layout/IconCircleLabelList"/>
    <dgm:cxn modelId="{965AA639-95A2-4A77-9BEB-08B8D5769DA3}" srcId="{EA20A8F7-BFA9-4433-B8C6-5262ADAF6760}" destId="{D500F35C-5F1C-4776-BB46-F84F4A4F6B4E}" srcOrd="1" destOrd="0" parTransId="{2001ABA8-5FB2-4177-A4E4-07C1EC31D993}" sibTransId="{6B75A34C-3BCB-4AEF-B752-3A799DC26887}"/>
    <dgm:cxn modelId="{96678F7B-E122-4BC0-BDD3-B5048C922D31}" type="presOf" srcId="{D500F35C-5F1C-4776-BB46-F84F4A4F6B4E}" destId="{D46125DF-259F-4D56-A104-BF3D8A7D6DFB}" srcOrd="0" destOrd="0" presId="urn:microsoft.com/office/officeart/2018/5/layout/IconCircleLabelList"/>
    <dgm:cxn modelId="{6EC89AC7-DD3A-4940-BF58-C2C61DA83001}" srcId="{EA20A8F7-BFA9-4433-B8C6-5262ADAF6760}" destId="{1BD6A2DA-F710-4033-AD6E-726BEDA925CD}" srcOrd="0" destOrd="0" parTransId="{8091BD1A-3062-41C7-BD8E-DEEBFA45F492}" sibTransId="{71748358-93DF-43BF-BC1D-FBD4584E80C1}"/>
    <dgm:cxn modelId="{CCFCE6D8-AD6E-40C3-988C-A641FD436EDD}" srcId="{EA20A8F7-BFA9-4433-B8C6-5262ADAF6760}" destId="{FB6460E1-23DF-4297-B6DD-AA19B6EA0CEF}" srcOrd="2" destOrd="0" parTransId="{504441FB-5B49-438B-81D3-20D6E790BCFA}" sibTransId="{2426DF84-520C-4AB3-B580-E8A6E04A01CD}"/>
    <dgm:cxn modelId="{6F5C9DEA-4065-45C0-95CC-FC69BD2C1766}" srcId="{EA20A8F7-BFA9-4433-B8C6-5262ADAF6760}" destId="{DB9447C2-8F77-41A5-9F35-0730686DAA03}" srcOrd="3" destOrd="0" parTransId="{6D29E76F-8E5C-418E-8C6B-D1EE6B70029A}" sibTransId="{050B6DE7-7FC6-4E14-B49F-E011477BE246}"/>
    <dgm:cxn modelId="{E12CE5F0-E4CE-4765-9272-7C8B8EB778F4}" type="presOf" srcId="{EA20A8F7-BFA9-4433-B8C6-5262ADAF6760}" destId="{6D9F0777-D3D2-4A37-8137-CAED193337FD}" srcOrd="0" destOrd="0" presId="urn:microsoft.com/office/officeart/2018/5/layout/IconCircleLabelList"/>
    <dgm:cxn modelId="{B6FEBB71-F7C1-4155-A4EA-7831039D4F17}" type="presParOf" srcId="{6D9F0777-D3D2-4A37-8137-CAED193337FD}" destId="{CCF4FDC0-5325-42DB-B9ED-01B8B82E0F18}" srcOrd="0" destOrd="0" presId="urn:microsoft.com/office/officeart/2018/5/layout/IconCircleLabelList"/>
    <dgm:cxn modelId="{F8900A29-1B75-441C-A0E1-F1CC2E6040FF}" type="presParOf" srcId="{CCF4FDC0-5325-42DB-B9ED-01B8B82E0F18}" destId="{776C47A2-B3DF-4A54-89CD-358E7161E36C}" srcOrd="0" destOrd="0" presId="urn:microsoft.com/office/officeart/2018/5/layout/IconCircleLabelList"/>
    <dgm:cxn modelId="{C371DC34-AB77-42AB-8E66-74FA6F0247B6}" type="presParOf" srcId="{CCF4FDC0-5325-42DB-B9ED-01B8B82E0F18}" destId="{C95DFD5E-08FA-4E7E-82DB-3AF699F3FEC2}" srcOrd="1" destOrd="0" presId="urn:microsoft.com/office/officeart/2018/5/layout/IconCircleLabelList"/>
    <dgm:cxn modelId="{595BBE33-80C3-48FC-862C-0CC8310CCF58}" type="presParOf" srcId="{CCF4FDC0-5325-42DB-B9ED-01B8B82E0F18}" destId="{6880D89A-EC5E-4CC7-9BE6-061D04CADDA3}" srcOrd="2" destOrd="0" presId="urn:microsoft.com/office/officeart/2018/5/layout/IconCircleLabelList"/>
    <dgm:cxn modelId="{6F679682-D06C-4C68-954C-9BD9A347242B}" type="presParOf" srcId="{CCF4FDC0-5325-42DB-B9ED-01B8B82E0F18}" destId="{53F8608C-8BAC-4B76-8438-278C2DADBBFB}" srcOrd="3" destOrd="0" presId="urn:microsoft.com/office/officeart/2018/5/layout/IconCircleLabelList"/>
    <dgm:cxn modelId="{6242AABD-7649-40AA-9526-7309A3DC83CC}" type="presParOf" srcId="{6D9F0777-D3D2-4A37-8137-CAED193337FD}" destId="{E929F7E0-DE46-4827-96A1-A65A61ADCC8A}" srcOrd="1" destOrd="0" presId="urn:microsoft.com/office/officeart/2018/5/layout/IconCircleLabelList"/>
    <dgm:cxn modelId="{8A46E580-7FCD-4C43-8709-A107FA8F705F}" type="presParOf" srcId="{6D9F0777-D3D2-4A37-8137-CAED193337FD}" destId="{7BF5C264-47F7-4503-AFB3-8CEAA29D5F39}" srcOrd="2" destOrd="0" presId="urn:microsoft.com/office/officeart/2018/5/layout/IconCircleLabelList"/>
    <dgm:cxn modelId="{30A8A0DC-5F72-457D-9653-0EE561158582}" type="presParOf" srcId="{7BF5C264-47F7-4503-AFB3-8CEAA29D5F39}" destId="{A6439513-019C-409B-9B17-A69C4FDD2074}" srcOrd="0" destOrd="0" presId="urn:microsoft.com/office/officeart/2018/5/layout/IconCircleLabelList"/>
    <dgm:cxn modelId="{1D8C10C4-0607-4633-BA3C-D1811BD1840E}" type="presParOf" srcId="{7BF5C264-47F7-4503-AFB3-8CEAA29D5F39}" destId="{55E33DD8-57D7-45C0-A5FA-8DB219243017}" srcOrd="1" destOrd="0" presId="urn:microsoft.com/office/officeart/2018/5/layout/IconCircleLabelList"/>
    <dgm:cxn modelId="{2F022A09-AC92-429E-8BC3-EC485EA6F6B7}" type="presParOf" srcId="{7BF5C264-47F7-4503-AFB3-8CEAA29D5F39}" destId="{50316B23-0916-4C32-81B2-CC517A49340D}" srcOrd="2" destOrd="0" presId="urn:microsoft.com/office/officeart/2018/5/layout/IconCircleLabelList"/>
    <dgm:cxn modelId="{0958CE01-F7EA-4069-A703-B76F301DCCD8}" type="presParOf" srcId="{7BF5C264-47F7-4503-AFB3-8CEAA29D5F39}" destId="{D46125DF-259F-4D56-A104-BF3D8A7D6DFB}" srcOrd="3" destOrd="0" presId="urn:microsoft.com/office/officeart/2018/5/layout/IconCircleLabelList"/>
    <dgm:cxn modelId="{B2864211-A9EF-4D46-B82D-7B0AD5DE6025}" type="presParOf" srcId="{6D9F0777-D3D2-4A37-8137-CAED193337FD}" destId="{C45921D6-9C02-456E-86F3-26CE875DD85F}" srcOrd="3" destOrd="0" presId="urn:microsoft.com/office/officeart/2018/5/layout/IconCircleLabelList"/>
    <dgm:cxn modelId="{6C3BFF2B-5CA4-4915-8F64-F6D6149A7925}" type="presParOf" srcId="{6D9F0777-D3D2-4A37-8137-CAED193337FD}" destId="{03573BA4-DCFB-4E0F-8C66-31DF501DD87D}" srcOrd="4" destOrd="0" presId="urn:microsoft.com/office/officeart/2018/5/layout/IconCircleLabelList"/>
    <dgm:cxn modelId="{1B8821A4-398A-44C4-8478-E45B532807F9}" type="presParOf" srcId="{03573BA4-DCFB-4E0F-8C66-31DF501DD87D}" destId="{5BE0A21A-D235-49CB-B551-4B93466CAC6C}" srcOrd="0" destOrd="0" presId="urn:microsoft.com/office/officeart/2018/5/layout/IconCircleLabelList"/>
    <dgm:cxn modelId="{97302D98-FEEA-46FA-B97F-D1D8EE82C430}" type="presParOf" srcId="{03573BA4-DCFB-4E0F-8C66-31DF501DD87D}" destId="{4D7CE112-5BD5-4AB4-8A25-7FD95851DDA8}" srcOrd="1" destOrd="0" presId="urn:microsoft.com/office/officeart/2018/5/layout/IconCircleLabelList"/>
    <dgm:cxn modelId="{B895F76D-88AF-4484-8BB1-5DBCB74BDF56}" type="presParOf" srcId="{03573BA4-DCFB-4E0F-8C66-31DF501DD87D}" destId="{9D086416-3E61-4036-9697-7BDC06C8E567}" srcOrd="2" destOrd="0" presId="urn:microsoft.com/office/officeart/2018/5/layout/IconCircleLabelList"/>
    <dgm:cxn modelId="{3AFABD4C-0F8C-4420-BD52-8BA38CE39E2F}" type="presParOf" srcId="{03573BA4-DCFB-4E0F-8C66-31DF501DD87D}" destId="{E09570ED-983B-44B7-A8A5-C88F44B8260D}" srcOrd="3" destOrd="0" presId="urn:microsoft.com/office/officeart/2018/5/layout/IconCircleLabelList"/>
    <dgm:cxn modelId="{81B6A28E-FB46-4550-B3D7-6D000D18E8D5}" type="presParOf" srcId="{6D9F0777-D3D2-4A37-8137-CAED193337FD}" destId="{1401F734-20F5-4267-AC2D-8287308C1B00}" srcOrd="5" destOrd="0" presId="urn:microsoft.com/office/officeart/2018/5/layout/IconCircleLabelList"/>
    <dgm:cxn modelId="{FB96C4FC-E38F-4C2A-AF92-EB8B08EC6732}" type="presParOf" srcId="{6D9F0777-D3D2-4A37-8137-CAED193337FD}" destId="{1152D741-7097-459B-AE48-0CA679F918A6}" srcOrd="6" destOrd="0" presId="urn:microsoft.com/office/officeart/2018/5/layout/IconCircleLabelList"/>
    <dgm:cxn modelId="{E3626347-414B-4112-BBA2-7D4BBF2EC031}" type="presParOf" srcId="{1152D741-7097-459B-AE48-0CA679F918A6}" destId="{9DD88212-C8B3-4144-9B77-F79457E155D8}" srcOrd="0" destOrd="0" presId="urn:microsoft.com/office/officeart/2018/5/layout/IconCircleLabelList"/>
    <dgm:cxn modelId="{70815D06-9FAD-4DFB-8293-EE0D4EEAC054}" type="presParOf" srcId="{1152D741-7097-459B-AE48-0CA679F918A6}" destId="{A4A1C901-C54F-45AC-82DC-F5C258ED0EAF}" srcOrd="1" destOrd="0" presId="urn:microsoft.com/office/officeart/2018/5/layout/IconCircleLabelList"/>
    <dgm:cxn modelId="{9BBD5BE7-7875-448B-A12A-9FCEDE5CC78E}" type="presParOf" srcId="{1152D741-7097-459B-AE48-0CA679F918A6}" destId="{CE7947C4-F217-418D-8619-B26DC9344335}" srcOrd="2" destOrd="0" presId="urn:microsoft.com/office/officeart/2018/5/layout/IconCircleLabelList"/>
    <dgm:cxn modelId="{E7984ECF-2297-4A8F-9F42-945C43BBE176}" type="presParOf" srcId="{1152D741-7097-459B-AE48-0CA679F918A6}" destId="{631BB6B7-F332-4AB7-97F0-19B002A54DD4}"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F55847F-A497-48B4-99D4-8C3EF826A262}" type="doc">
      <dgm:prSet loTypeId="urn:microsoft.com/office/officeart/2005/8/layout/radial4" loCatId="relationship" qsTypeId="urn:microsoft.com/office/officeart/2005/8/quickstyle/simple1" qsCatId="simple" csTypeId="urn:microsoft.com/office/officeart/2005/8/colors/accent1_2" csCatId="accent1" phldr="1"/>
      <dgm:spPr/>
      <dgm:t>
        <a:bodyPr/>
        <a:lstStyle/>
        <a:p>
          <a:endParaRPr lang="fr-CA"/>
        </a:p>
      </dgm:t>
    </dgm:pt>
    <dgm:pt modelId="{447479E4-0E5D-4EBF-92DC-7A9EAE8233EE}">
      <dgm:prSet phldrT="[Texte]"/>
      <dgm:spPr/>
      <dgm:t>
        <a:bodyPr/>
        <a:lstStyle/>
        <a:p>
          <a:r>
            <a:rPr lang="fr-CA" dirty="0"/>
            <a:t>Intensité de la concurrence </a:t>
          </a:r>
        </a:p>
      </dgm:t>
    </dgm:pt>
    <dgm:pt modelId="{FDC1B171-B6FE-43CE-A707-8C3089B553EE}" type="parTrans" cxnId="{511E813C-C17E-4E3C-856E-DB535993EF22}">
      <dgm:prSet/>
      <dgm:spPr/>
      <dgm:t>
        <a:bodyPr/>
        <a:lstStyle/>
        <a:p>
          <a:endParaRPr lang="fr-CA"/>
        </a:p>
      </dgm:t>
    </dgm:pt>
    <dgm:pt modelId="{839C3E50-588E-4E2B-9854-9AADB8A48826}" type="sibTrans" cxnId="{511E813C-C17E-4E3C-856E-DB535993EF22}">
      <dgm:prSet/>
      <dgm:spPr/>
      <dgm:t>
        <a:bodyPr/>
        <a:lstStyle/>
        <a:p>
          <a:endParaRPr lang="fr-CA"/>
        </a:p>
      </dgm:t>
    </dgm:pt>
    <dgm:pt modelId="{2894D456-71F2-4D07-80C9-7D5E92F58F3A}">
      <dgm:prSet phldrT="[Texte]"/>
      <dgm:spPr/>
      <dgm:t>
        <a:bodyPr/>
        <a:lstStyle/>
        <a:p>
          <a:r>
            <a:rPr lang="fr-CA" dirty="0"/>
            <a:t>Nouveaux entrants</a:t>
          </a:r>
        </a:p>
      </dgm:t>
    </dgm:pt>
    <dgm:pt modelId="{B766AE49-A167-4EDD-8F47-D97FA59A1CEB}" type="parTrans" cxnId="{167F844D-5756-40D8-ADAD-9FE5570A9C8D}">
      <dgm:prSet/>
      <dgm:spPr/>
      <dgm:t>
        <a:bodyPr/>
        <a:lstStyle/>
        <a:p>
          <a:endParaRPr lang="fr-CA"/>
        </a:p>
      </dgm:t>
    </dgm:pt>
    <dgm:pt modelId="{E11E7EA3-AFCE-4784-AA4E-28C9EBC363AF}" type="sibTrans" cxnId="{167F844D-5756-40D8-ADAD-9FE5570A9C8D}">
      <dgm:prSet/>
      <dgm:spPr/>
      <dgm:t>
        <a:bodyPr/>
        <a:lstStyle/>
        <a:p>
          <a:endParaRPr lang="fr-CA"/>
        </a:p>
      </dgm:t>
    </dgm:pt>
    <dgm:pt modelId="{14E95DD3-E627-4FF2-A8F6-CC691C6ADED6}">
      <dgm:prSet phldrT="[Texte]"/>
      <dgm:spPr/>
      <dgm:t>
        <a:bodyPr/>
        <a:lstStyle/>
        <a:p>
          <a:r>
            <a:rPr lang="fr-CA" dirty="0"/>
            <a:t>Pouvoir de négociation des fournisseurs</a:t>
          </a:r>
        </a:p>
      </dgm:t>
    </dgm:pt>
    <dgm:pt modelId="{DDCC4384-4C5B-4309-928D-50B0E78D593D}" type="parTrans" cxnId="{6D76792A-DF77-46EA-8B86-2AFC872C546E}">
      <dgm:prSet/>
      <dgm:spPr/>
      <dgm:t>
        <a:bodyPr/>
        <a:lstStyle/>
        <a:p>
          <a:endParaRPr lang="fr-CA"/>
        </a:p>
      </dgm:t>
    </dgm:pt>
    <dgm:pt modelId="{CE602215-BF61-42ED-8590-2541CD8E7AB8}" type="sibTrans" cxnId="{6D76792A-DF77-46EA-8B86-2AFC872C546E}">
      <dgm:prSet/>
      <dgm:spPr/>
      <dgm:t>
        <a:bodyPr/>
        <a:lstStyle/>
        <a:p>
          <a:endParaRPr lang="fr-CA"/>
        </a:p>
      </dgm:t>
    </dgm:pt>
    <dgm:pt modelId="{4E498A68-74F8-49CE-92E5-8216C1000191}">
      <dgm:prSet phldrT="[Texte]"/>
      <dgm:spPr/>
      <dgm:t>
        <a:bodyPr/>
        <a:lstStyle/>
        <a:p>
          <a:r>
            <a:rPr lang="fr-CA" dirty="0"/>
            <a:t>Pouvoir de négociation des clients</a:t>
          </a:r>
        </a:p>
      </dgm:t>
    </dgm:pt>
    <dgm:pt modelId="{4977C66A-A80F-4051-AD5F-AB6B642A4B54}" type="parTrans" cxnId="{0725EC3F-1E9E-4A76-A905-254C658C1DD8}">
      <dgm:prSet/>
      <dgm:spPr/>
      <dgm:t>
        <a:bodyPr/>
        <a:lstStyle/>
        <a:p>
          <a:endParaRPr lang="fr-CA"/>
        </a:p>
      </dgm:t>
    </dgm:pt>
    <dgm:pt modelId="{95BB626C-C273-4E15-867C-82EDFA73FA2F}" type="sibTrans" cxnId="{0725EC3F-1E9E-4A76-A905-254C658C1DD8}">
      <dgm:prSet/>
      <dgm:spPr/>
      <dgm:t>
        <a:bodyPr/>
        <a:lstStyle/>
        <a:p>
          <a:endParaRPr lang="fr-CA"/>
        </a:p>
      </dgm:t>
    </dgm:pt>
    <dgm:pt modelId="{430C3DF0-95FB-4563-86A0-D7FB5DB837D5}">
      <dgm:prSet phldrT="[Texte]"/>
      <dgm:spPr/>
      <dgm:t>
        <a:bodyPr/>
        <a:lstStyle/>
        <a:p>
          <a:r>
            <a:rPr lang="fr-CA" dirty="0"/>
            <a:t>Produits de substitution </a:t>
          </a:r>
        </a:p>
      </dgm:t>
    </dgm:pt>
    <dgm:pt modelId="{9DBC3F52-E7C8-474C-90F2-4D9FE2AEF749}" type="parTrans" cxnId="{26760BA8-8904-421E-A142-4E32B260D437}">
      <dgm:prSet/>
      <dgm:spPr/>
      <dgm:t>
        <a:bodyPr/>
        <a:lstStyle/>
        <a:p>
          <a:endParaRPr lang="fr-CA"/>
        </a:p>
      </dgm:t>
    </dgm:pt>
    <dgm:pt modelId="{04C49A94-3083-49F8-9E80-AB26BF9F69E6}" type="sibTrans" cxnId="{26760BA8-8904-421E-A142-4E32B260D437}">
      <dgm:prSet/>
      <dgm:spPr/>
      <dgm:t>
        <a:bodyPr/>
        <a:lstStyle/>
        <a:p>
          <a:endParaRPr lang="fr-CA"/>
        </a:p>
      </dgm:t>
    </dgm:pt>
    <dgm:pt modelId="{45BBB3A8-549D-489C-A4AB-26F9DBD3A5CF}" type="pres">
      <dgm:prSet presAssocID="{3F55847F-A497-48B4-99D4-8C3EF826A262}" presName="cycle" presStyleCnt="0">
        <dgm:presLayoutVars>
          <dgm:chMax val="1"/>
          <dgm:dir/>
          <dgm:animLvl val="ctr"/>
          <dgm:resizeHandles val="exact"/>
        </dgm:presLayoutVars>
      </dgm:prSet>
      <dgm:spPr/>
    </dgm:pt>
    <dgm:pt modelId="{D4C617E5-710C-4755-A7F9-BE4D2B779506}" type="pres">
      <dgm:prSet presAssocID="{447479E4-0E5D-4EBF-92DC-7A9EAE8233EE}" presName="centerShape" presStyleLbl="node0" presStyleIdx="0" presStyleCnt="1" custLinFactNeighborX="-3598" custLinFactNeighborY="-20875"/>
      <dgm:spPr/>
    </dgm:pt>
    <dgm:pt modelId="{15A0C236-2D8A-4F40-BD3E-E228E3F0EA2C}" type="pres">
      <dgm:prSet presAssocID="{B766AE49-A167-4EDD-8F47-D97FA59A1CEB}" presName="parTrans" presStyleLbl="bgSibTrans2D1" presStyleIdx="0" presStyleCnt="4"/>
      <dgm:spPr/>
    </dgm:pt>
    <dgm:pt modelId="{CF9CA977-DF5D-4AF7-8C49-A301099FCD68}" type="pres">
      <dgm:prSet presAssocID="{2894D456-71F2-4D07-80C9-7D5E92F58F3A}" presName="node" presStyleLbl="node1" presStyleIdx="0" presStyleCnt="4" custScaleX="224777" custScaleY="36905" custRadScaleRad="109966" custRadScaleInc="159699">
        <dgm:presLayoutVars>
          <dgm:bulletEnabled val="1"/>
        </dgm:presLayoutVars>
      </dgm:prSet>
      <dgm:spPr/>
    </dgm:pt>
    <dgm:pt modelId="{48A9639B-CC51-4523-8FCA-849A21EA3BB2}" type="pres">
      <dgm:prSet presAssocID="{DDCC4384-4C5B-4309-928D-50B0E78D593D}" presName="parTrans" presStyleLbl="bgSibTrans2D1" presStyleIdx="1" presStyleCnt="4" custAng="21532076" custScaleX="96128" custLinFactNeighborX="9029" custLinFactNeighborY="-3911"/>
      <dgm:spPr/>
    </dgm:pt>
    <dgm:pt modelId="{9BDB8CA6-42AE-4B3E-82E4-3A3EC4BD4F81}" type="pres">
      <dgm:prSet presAssocID="{14E95DD3-E627-4FF2-A8F6-CC691C6ADED6}" presName="node" presStyleLbl="node1" presStyleIdx="1" presStyleCnt="4" custScaleX="114937" custScaleY="124048" custRadScaleRad="139314" custRadScaleInc="-104141">
        <dgm:presLayoutVars>
          <dgm:bulletEnabled val="1"/>
        </dgm:presLayoutVars>
      </dgm:prSet>
      <dgm:spPr/>
    </dgm:pt>
    <dgm:pt modelId="{97C53EAD-6096-4820-A0AB-B0FFB3E6BC62}" type="pres">
      <dgm:prSet presAssocID="{4977C66A-A80F-4051-AD5F-AB6B642A4B54}" presName="parTrans" presStyleLbl="bgSibTrans2D1" presStyleIdx="2" presStyleCnt="4" custAng="125713" custScaleX="130066" custScaleY="93216" custLinFactNeighborX="6801" custLinFactNeighborY="-3912"/>
      <dgm:spPr/>
    </dgm:pt>
    <dgm:pt modelId="{04CEEE08-0CC0-46B5-98F1-A6FB19B4B946}" type="pres">
      <dgm:prSet presAssocID="{4E498A68-74F8-49CE-92E5-8216C1000191}" presName="node" presStyleLbl="node1" presStyleIdx="2" presStyleCnt="4" custScaleX="134726" custScaleY="114055" custRadScaleRad="124145" custRadScaleInc="94318">
        <dgm:presLayoutVars>
          <dgm:bulletEnabled val="1"/>
        </dgm:presLayoutVars>
      </dgm:prSet>
      <dgm:spPr/>
    </dgm:pt>
    <dgm:pt modelId="{FA7D4EBC-C2D3-49B6-A936-91D76147D34A}" type="pres">
      <dgm:prSet presAssocID="{9DBC3F52-E7C8-474C-90F2-4D9FE2AEF749}" presName="parTrans" presStyleLbl="bgSibTrans2D1" presStyleIdx="3" presStyleCnt="4" custLinFactNeighborX="-1923" custLinFactNeighborY="-2813"/>
      <dgm:spPr/>
    </dgm:pt>
    <dgm:pt modelId="{2A7A15B3-24FD-40E9-A137-C2222925DF5E}" type="pres">
      <dgm:prSet presAssocID="{430C3DF0-95FB-4563-86A0-D7FB5DB837D5}" presName="node" presStyleLbl="node1" presStyleIdx="3" presStyleCnt="4" custScaleX="213037" custScaleY="35549" custRadScaleRad="27009" custRadScaleInc="261879">
        <dgm:presLayoutVars>
          <dgm:bulletEnabled val="1"/>
        </dgm:presLayoutVars>
      </dgm:prSet>
      <dgm:spPr/>
    </dgm:pt>
  </dgm:ptLst>
  <dgm:cxnLst>
    <dgm:cxn modelId="{E01F1005-224E-45A4-843E-97ABD97BCE8B}" type="presOf" srcId="{B766AE49-A167-4EDD-8F47-D97FA59A1CEB}" destId="{15A0C236-2D8A-4F40-BD3E-E228E3F0EA2C}" srcOrd="0" destOrd="0" presId="urn:microsoft.com/office/officeart/2005/8/layout/radial4"/>
    <dgm:cxn modelId="{6D76792A-DF77-46EA-8B86-2AFC872C546E}" srcId="{447479E4-0E5D-4EBF-92DC-7A9EAE8233EE}" destId="{14E95DD3-E627-4FF2-A8F6-CC691C6ADED6}" srcOrd="1" destOrd="0" parTransId="{DDCC4384-4C5B-4309-928D-50B0E78D593D}" sibTransId="{CE602215-BF61-42ED-8590-2541CD8E7AB8}"/>
    <dgm:cxn modelId="{511E813C-C17E-4E3C-856E-DB535993EF22}" srcId="{3F55847F-A497-48B4-99D4-8C3EF826A262}" destId="{447479E4-0E5D-4EBF-92DC-7A9EAE8233EE}" srcOrd="0" destOrd="0" parTransId="{FDC1B171-B6FE-43CE-A707-8C3089B553EE}" sibTransId="{839C3E50-588E-4E2B-9854-9AADB8A48826}"/>
    <dgm:cxn modelId="{0725EC3F-1E9E-4A76-A905-254C658C1DD8}" srcId="{447479E4-0E5D-4EBF-92DC-7A9EAE8233EE}" destId="{4E498A68-74F8-49CE-92E5-8216C1000191}" srcOrd="2" destOrd="0" parTransId="{4977C66A-A80F-4051-AD5F-AB6B642A4B54}" sibTransId="{95BB626C-C273-4E15-867C-82EDFA73FA2F}"/>
    <dgm:cxn modelId="{EF937762-112F-49DD-9EA2-E383F0101482}" type="presOf" srcId="{430C3DF0-95FB-4563-86A0-D7FB5DB837D5}" destId="{2A7A15B3-24FD-40E9-A137-C2222925DF5E}" srcOrd="0" destOrd="0" presId="urn:microsoft.com/office/officeart/2005/8/layout/radial4"/>
    <dgm:cxn modelId="{167F844D-5756-40D8-ADAD-9FE5570A9C8D}" srcId="{447479E4-0E5D-4EBF-92DC-7A9EAE8233EE}" destId="{2894D456-71F2-4D07-80C9-7D5E92F58F3A}" srcOrd="0" destOrd="0" parTransId="{B766AE49-A167-4EDD-8F47-D97FA59A1CEB}" sibTransId="{E11E7EA3-AFCE-4784-AA4E-28C9EBC363AF}"/>
    <dgm:cxn modelId="{B7B60F71-F4D4-40DF-9176-5E3D16569C23}" type="presOf" srcId="{447479E4-0E5D-4EBF-92DC-7A9EAE8233EE}" destId="{D4C617E5-710C-4755-A7F9-BE4D2B779506}" srcOrd="0" destOrd="0" presId="urn:microsoft.com/office/officeart/2005/8/layout/radial4"/>
    <dgm:cxn modelId="{18426787-EB8B-4BA5-9120-3233C7B80F9A}" type="presOf" srcId="{4E498A68-74F8-49CE-92E5-8216C1000191}" destId="{04CEEE08-0CC0-46B5-98F1-A6FB19B4B946}" srcOrd="0" destOrd="0" presId="urn:microsoft.com/office/officeart/2005/8/layout/radial4"/>
    <dgm:cxn modelId="{92E4D5A1-343B-4014-A980-B2AC6926FDCB}" type="presOf" srcId="{4977C66A-A80F-4051-AD5F-AB6B642A4B54}" destId="{97C53EAD-6096-4820-A0AB-B0FFB3E6BC62}" srcOrd="0" destOrd="0" presId="urn:microsoft.com/office/officeart/2005/8/layout/radial4"/>
    <dgm:cxn modelId="{26760BA8-8904-421E-A142-4E32B260D437}" srcId="{447479E4-0E5D-4EBF-92DC-7A9EAE8233EE}" destId="{430C3DF0-95FB-4563-86A0-D7FB5DB837D5}" srcOrd="3" destOrd="0" parTransId="{9DBC3F52-E7C8-474C-90F2-4D9FE2AEF749}" sibTransId="{04C49A94-3083-49F8-9E80-AB26BF9F69E6}"/>
    <dgm:cxn modelId="{E71AA4A8-DCFD-4EC7-88BA-5A48E9604253}" type="presOf" srcId="{9DBC3F52-E7C8-474C-90F2-4D9FE2AEF749}" destId="{FA7D4EBC-C2D3-49B6-A936-91D76147D34A}" srcOrd="0" destOrd="0" presId="urn:microsoft.com/office/officeart/2005/8/layout/radial4"/>
    <dgm:cxn modelId="{C9D4ADC8-050C-4213-A0CE-8682712ADA61}" type="presOf" srcId="{3F55847F-A497-48B4-99D4-8C3EF826A262}" destId="{45BBB3A8-549D-489C-A4AB-26F9DBD3A5CF}" srcOrd="0" destOrd="0" presId="urn:microsoft.com/office/officeart/2005/8/layout/radial4"/>
    <dgm:cxn modelId="{EC3D44CB-0ED1-4C16-8BE9-5FAFDB247E6B}" type="presOf" srcId="{DDCC4384-4C5B-4309-928D-50B0E78D593D}" destId="{48A9639B-CC51-4523-8FCA-849A21EA3BB2}" srcOrd="0" destOrd="0" presId="urn:microsoft.com/office/officeart/2005/8/layout/radial4"/>
    <dgm:cxn modelId="{D465A9DF-8772-4492-B579-ED6059FA89FF}" type="presOf" srcId="{2894D456-71F2-4D07-80C9-7D5E92F58F3A}" destId="{CF9CA977-DF5D-4AF7-8C49-A301099FCD68}" srcOrd="0" destOrd="0" presId="urn:microsoft.com/office/officeart/2005/8/layout/radial4"/>
    <dgm:cxn modelId="{2D6A48FF-F014-4014-8B33-C2658594C8C6}" type="presOf" srcId="{14E95DD3-E627-4FF2-A8F6-CC691C6ADED6}" destId="{9BDB8CA6-42AE-4B3E-82E4-3A3EC4BD4F81}" srcOrd="0" destOrd="0" presId="urn:microsoft.com/office/officeart/2005/8/layout/radial4"/>
    <dgm:cxn modelId="{76E11EA5-25C9-4935-890F-F4CAE8496387}" type="presParOf" srcId="{45BBB3A8-549D-489C-A4AB-26F9DBD3A5CF}" destId="{D4C617E5-710C-4755-A7F9-BE4D2B779506}" srcOrd="0" destOrd="0" presId="urn:microsoft.com/office/officeart/2005/8/layout/radial4"/>
    <dgm:cxn modelId="{BD7EEF17-B45D-4526-890A-797923550FAD}" type="presParOf" srcId="{45BBB3A8-549D-489C-A4AB-26F9DBD3A5CF}" destId="{15A0C236-2D8A-4F40-BD3E-E228E3F0EA2C}" srcOrd="1" destOrd="0" presId="urn:microsoft.com/office/officeart/2005/8/layout/radial4"/>
    <dgm:cxn modelId="{84CCA262-A6A3-4BB6-9CB5-F8C8D71E5030}" type="presParOf" srcId="{45BBB3A8-549D-489C-A4AB-26F9DBD3A5CF}" destId="{CF9CA977-DF5D-4AF7-8C49-A301099FCD68}" srcOrd="2" destOrd="0" presId="urn:microsoft.com/office/officeart/2005/8/layout/radial4"/>
    <dgm:cxn modelId="{86FAD4DD-7E9C-40D5-A3AA-FCF6C475D9C2}" type="presParOf" srcId="{45BBB3A8-549D-489C-A4AB-26F9DBD3A5CF}" destId="{48A9639B-CC51-4523-8FCA-849A21EA3BB2}" srcOrd="3" destOrd="0" presId="urn:microsoft.com/office/officeart/2005/8/layout/radial4"/>
    <dgm:cxn modelId="{975582E9-E63D-4634-8D51-8F64DE77A9A3}" type="presParOf" srcId="{45BBB3A8-549D-489C-A4AB-26F9DBD3A5CF}" destId="{9BDB8CA6-42AE-4B3E-82E4-3A3EC4BD4F81}" srcOrd="4" destOrd="0" presId="urn:microsoft.com/office/officeart/2005/8/layout/radial4"/>
    <dgm:cxn modelId="{6794AD9D-B921-4126-8C0C-42C355BF1257}" type="presParOf" srcId="{45BBB3A8-549D-489C-A4AB-26F9DBD3A5CF}" destId="{97C53EAD-6096-4820-A0AB-B0FFB3E6BC62}" srcOrd="5" destOrd="0" presId="urn:microsoft.com/office/officeart/2005/8/layout/radial4"/>
    <dgm:cxn modelId="{CD5AA9D0-FC30-4166-9C9C-CDADFB193861}" type="presParOf" srcId="{45BBB3A8-549D-489C-A4AB-26F9DBD3A5CF}" destId="{04CEEE08-0CC0-46B5-98F1-A6FB19B4B946}" srcOrd="6" destOrd="0" presId="urn:microsoft.com/office/officeart/2005/8/layout/radial4"/>
    <dgm:cxn modelId="{A643E07B-E99B-4DB1-AE99-000DBD4412AB}" type="presParOf" srcId="{45BBB3A8-549D-489C-A4AB-26F9DBD3A5CF}" destId="{FA7D4EBC-C2D3-49B6-A936-91D76147D34A}" srcOrd="7" destOrd="0" presId="urn:microsoft.com/office/officeart/2005/8/layout/radial4"/>
    <dgm:cxn modelId="{D7C93E2D-BEB5-4C48-83A7-041EC9C53B02}" type="presParOf" srcId="{45BBB3A8-549D-489C-A4AB-26F9DBD3A5CF}" destId="{2A7A15B3-24FD-40E9-A137-C2222925DF5E}" srcOrd="8" destOrd="0" presId="urn:microsoft.com/office/officeart/2005/8/layout/radial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C19E416-F9EC-40BD-A951-B2C9E007D8D0}" type="doc">
      <dgm:prSet loTypeId="urn:microsoft.com/office/officeart/2018/2/layout/IconLabelDescriptionList" loCatId="icon" qsTypeId="urn:microsoft.com/office/officeart/2005/8/quickstyle/simple1" qsCatId="simple" csTypeId="urn:microsoft.com/office/officeart/2005/8/colors/accent3_2" csCatId="accent3" phldr="1"/>
      <dgm:spPr/>
      <dgm:t>
        <a:bodyPr/>
        <a:lstStyle/>
        <a:p>
          <a:endParaRPr lang="en-US"/>
        </a:p>
      </dgm:t>
    </dgm:pt>
    <dgm:pt modelId="{03FE4952-3EB9-416F-B5E0-0265DD575645}">
      <dgm:prSet/>
      <dgm:spPr/>
      <dgm:t>
        <a:bodyPr/>
        <a:lstStyle/>
        <a:p>
          <a:pPr>
            <a:lnSpc>
              <a:spcPct val="100000"/>
            </a:lnSpc>
            <a:defRPr b="1"/>
          </a:pPr>
          <a:r>
            <a:rPr lang="fr-CA"/>
            <a:t>Rentabilité </a:t>
          </a:r>
          <a:endParaRPr lang="en-US"/>
        </a:p>
      </dgm:t>
    </dgm:pt>
    <dgm:pt modelId="{83B74646-696D-4482-9063-DAB3D20B610B}" type="parTrans" cxnId="{9F452928-D677-4B27-8418-8777D5E760E2}">
      <dgm:prSet/>
      <dgm:spPr/>
      <dgm:t>
        <a:bodyPr/>
        <a:lstStyle/>
        <a:p>
          <a:endParaRPr lang="en-US"/>
        </a:p>
      </dgm:t>
    </dgm:pt>
    <dgm:pt modelId="{378415C2-5FCB-471D-939A-FBDB4A44D0D1}" type="sibTrans" cxnId="{9F452928-D677-4B27-8418-8777D5E760E2}">
      <dgm:prSet/>
      <dgm:spPr/>
      <dgm:t>
        <a:bodyPr/>
        <a:lstStyle/>
        <a:p>
          <a:endParaRPr lang="en-US"/>
        </a:p>
      </dgm:t>
    </dgm:pt>
    <dgm:pt modelId="{9A175985-2BE4-414A-8FF4-569DAC76CB3F}">
      <dgm:prSet/>
      <dgm:spPr/>
      <dgm:t>
        <a:bodyPr/>
        <a:lstStyle/>
        <a:p>
          <a:pPr>
            <a:lnSpc>
              <a:spcPct val="100000"/>
            </a:lnSpc>
          </a:pPr>
          <a:r>
            <a:rPr lang="fr-CA" dirty="0"/>
            <a:t>Marges</a:t>
          </a:r>
          <a:endParaRPr lang="en-US" dirty="0"/>
        </a:p>
      </dgm:t>
    </dgm:pt>
    <dgm:pt modelId="{49F2996E-3E38-4D9A-911E-CB3A649AE294}" type="parTrans" cxnId="{5D9ACF12-9B2E-4A87-B105-2BBD04A1EC7F}">
      <dgm:prSet/>
      <dgm:spPr/>
      <dgm:t>
        <a:bodyPr/>
        <a:lstStyle/>
        <a:p>
          <a:endParaRPr lang="en-US"/>
        </a:p>
      </dgm:t>
    </dgm:pt>
    <dgm:pt modelId="{041052BD-F7D8-405B-A0A3-03BA4DC18E7E}" type="sibTrans" cxnId="{5D9ACF12-9B2E-4A87-B105-2BBD04A1EC7F}">
      <dgm:prSet/>
      <dgm:spPr/>
      <dgm:t>
        <a:bodyPr/>
        <a:lstStyle/>
        <a:p>
          <a:endParaRPr lang="en-US"/>
        </a:p>
      </dgm:t>
    </dgm:pt>
    <dgm:pt modelId="{5F8E2E59-B137-474B-B33A-48D0EADFEAB7}">
      <dgm:prSet/>
      <dgm:spPr/>
      <dgm:t>
        <a:bodyPr/>
        <a:lstStyle/>
        <a:p>
          <a:pPr>
            <a:lnSpc>
              <a:spcPct val="100000"/>
            </a:lnSpc>
            <a:defRPr b="1"/>
          </a:pPr>
          <a:r>
            <a:rPr lang="fr-CA"/>
            <a:t>Liquidité </a:t>
          </a:r>
          <a:endParaRPr lang="en-US"/>
        </a:p>
      </dgm:t>
    </dgm:pt>
    <dgm:pt modelId="{8923DF85-F1D6-4473-AF21-777D4AB180D4}" type="parTrans" cxnId="{2A15743F-E62D-43E8-9F58-0A160083CB2B}">
      <dgm:prSet/>
      <dgm:spPr/>
      <dgm:t>
        <a:bodyPr/>
        <a:lstStyle/>
        <a:p>
          <a:endParaRPr lang="en-US"/>
        </a:p>
      </dgm:t>
    </dgm:pt>
    <dgm:pt modelId="{32BD6324-6F07-4D76-B364-B9BE6CE2F0DD}" type="sibTrans" cxnId="{2A15743F-E62D-43E8-9F58-0A160083CB2B}">
      <dgm:prSet/>
      <dgm:spPr/>
      <dgm:t>
        <a:bodyPr/>
        <a:lstStyle/>
        <a:p>
          <a:endParaRPr lang="en-US"/>
        </a:p>
      </dgm:t>
    </dgm:pt>
    <dgm:pt modelId="{4438ECF0-87B6-4A05-98B1-69C36B584770}">
      <dgm:prSet/>
      <dgm:spPr/>
      <dgm:t>
        <a:bodyPr/>
        <a:lstStyle/>
        <a:p>
          <a:pPr>
            <a:lnSpc>
              <a:spcPct val="100000"/>
            </a:lnSpc>
          </a:pPr>
          <a:r>
            <a:rPr lang="fr-CA"/>
            <a:t>Fonds de roulement</a:t>
          </a:r>
          <a:endParaRPr lang="en-US"/>
        </a:p>
      </dgm:t>
    </dgm:pt>
    <dgm:pt modelId="{2DA37F31-264D-476A-B0AB-4FD1F9BFF027}" type="parTrans" cxnId="{DC5B3591-5142-4EAD-9E2F-EC576638E7DE}">
      <dgm:prSet/>
      <dgm:spPr/>
      <dgm:t>
        <a:bodyPr/>
        <a:lstStyle/>
        <a:p>
          <a:endParaRPr lang="en-US"/>
        </a:p>
      </dgm:t>
    </dgm:pt>
    <dgm:pt modelId="{920020D4-9EFF-4DDC-B891-7EDA7F208F37}" type="sibTrans" cxnId="{DC5B3591-5142-4EAD-9E2F-EC576638E7DE}">
      <dgm:prSet/>
      <dgm:spPr/>
      <dgm:t>
        <a:bodyPr/>
        <a:lstStyle/>
        <a:p>
          <a:endParaRPr lang="en-US"/>
        </a:p>
      </dgm:t>
    </dgm:pt>
    <dgm:pt modelId="{CD703BF3-29E6-44C1-BF40-7254965B191B}">
      <dgm:prSet/>
      <dgm:spPr/>
      <dgm:t>
        <a:bodyPr/>
        <a:lstStyle/>
        <a:p>
          <a:pPr>
            <a:lnSpc>
              <a:spcPct val="100000"/>
            </a:lnSpc>
          </a:pPr>
          <a:r>
            <a:rPr lang="fr-CA"/>
            <a:t>Flux générés par les opérations</a:t>
          </a:r>
          <a:endParaRPr lang="en-US"/>
        </a:p>
      </dgm:t>
    </dgm:pt>
    <dgm:pt modelId="{DB9DCBA5-8880-4C2B-86AE-9E347BD04F85}" type="parTrans" cxnId="{B96A10DC-2FD6-4D20-8B03-DB426F9AA37C}">
      <dgm:prSet/>
      <dgm:spPr/>
      <dgm:t>
        <a:bodyPr/>
        <a:lstStyle/>
        <a:p>
          <a:endParaRPr lang="en-US"/>
        </a:p>
      </dgm:t>
    </dgm:pt>
    <dgm:pt modelId="{8388FB62-4866-4D19-ADC6-383B9301D561}" type="sibTrans" cxnId="{B96A10DC-2FD6-4D20-8B03-DB426F9AA37C}">
      <dgm:prSet/>
      <dgm:spPr/>
      <dgm:t>
        <a:bodyPr/>
        <a:lstStyle/>
        <a:p>
          <a:endParaRPr lang="en-US"/>
        </a:p>
      </dgm:t>
    </dgm:pt>
    <dgm:pt modelId="{7BAF0A26-6061-4758-91E4-396AF5A5988C}">
      <dgm:prSet/>
      <dgm:spPr/>
      <dgm:t>
        <a:bodyPr/>
        <a:lstStyle/>
        <a:p>
          <a:pPr>
            <a:lnSpc>
              <a:spcPct val="100000"/>
            </a:lnSpc>
          </a:pPr>
          <a:r>
            <a:rPr lang="fr-CA"/>
            <a:t>Liquidités</a:t>
          </a:r>
          <a:endParaRPr lang="en-US"/>
        </a:p>
      </dgm:t>
    </dgm:pt>
    <dgm:pt modelId="{160C2E41-044B-4EBA-989C-8D797D8B86B9}" type="parTrans" cxnId="{F080AD10-BE3F-4CCF-9276-AD121B31E947}">
      <dgm:prSet/>
      <dgm:spPr/>
      <dgm:t>
        <a:bodyPr/>
        <a:lstStyle/>
        <a:p>
          <a:endParaRPr lang="en-US"/>
        </a:p>
      </dgm:t>
    </dgm:pt>
    <dgm:pt modelId="{80B9C908-A07D-4A06-BF34-9A26176E70D0}" type="sibTrans" cxnId="{F080AD10-BE3F-4CCF-9276-AD121B31E947}">
      <dgm:prSet/>
      <dgm:spPr/>
      <dgm:t>
        <a:bodyPr/>
        <a:lstStyle/>
        <a:p>
          <a:endParaRPr lang="en-US"/>
        </a:p>
      </dgm:t>
    </dgm:pt>
    <dgm:pt modelId="{6B2D23A7-F869-45F6-9141-0E787280DEF9}">
      <dgm:prSet/>
      <dgm:spPr/>
      <dgm:t>
        <a:bodyPr/>
        <a:lstStyle/>
        <a:p>
          <a:pPr>
            <a:lnSpc>
              <a:spcPct val="100000"/>
            </a:lnSpc>
            <a:defRPr b="1"/>
          </a:pPr>
          <a:r>
            <a:rPr lang="fr-CA"/>
            <a:t>Activité </a:t>
          </a:r>
          <a:endParaRPr lang="en-US"/>
        </a:p>
      </dgm:t>
    </dgm:pt>
    <dgm:pt modelId="{7790B57D-5C06-47B9-AE0E-0A2244CF7135}" type="parTrans" cxnId="{EFC30A9D-5662-4ED2-BF00-1BD487B25ABA}">
      <dgm:prSet/>
      <dgm:spPr/>
      <dgm:t>
        <a:bodyPr/>
        <a:lstStyle/>
        <a:p>
          <a:endParaRPr lang="en-US"/>
        </a:p>
      </dgm:t>
    </dgm:pt>
    <dgm:pt modelId="{F54EADC4-5145-4CF2-B908-EB1454C5EC4A}" type="sibTrans" cxnId="{EFC30A9D-5662-4ED2-BF00-1BD487B25ABA}">
      <dgm:prSet/>
      <dgm:spPr/>
      <dgm:t>
        <a:bodyPr/>
        <a:lstStyle/>
        <a:p>
          <a:endParaRPr lang="en-US"/>
        </a:p>
      </dgm:t>
    </dgm:pt>
    <dgm:pt modelId="{98DDEA67-4C7E-4D8B-8683-D3E0CC11D811}">
      <dgm:prSet/>
      <dgm:spPr/>
      <dgm:t>
        <a:bodyPr/>
        <a:lstStyle/>
        <a:p>
          <a:pPr>
            <a:lnSpc>
              <a:spcPct val="100000"/>
            </a:lnSpc>
          </a:pPr>
          <a:r>
            <a:rPr lang="fr-CA"/>
            <a:t>Rotation </a:t>
          </a:r>
          <a:endParaRPr lang="en-US"/>
        </a:p>
      </dgm:t>
    </dgm:pt>
    <dgm:pt modelId="{6852EA9E-E89C-4277-8849-5D32A6BDEAD6}" type="parTrans" cxnId="{A5C73A16-C051-453F-B05D-B6421F6B08B8}">
      <dgm:prSet/>
      <dgm:spPr/>
      <dgm:t>
        <a:bodyPr/>
        <a:lstStyle/>
        <a:p>
          <a:endParaRPr lang="en-US"/>
        </a:p>
      </dgm:t>
    </dgm:pt>
    <dgm:pt modelId="{754209AB-4BE5-42C2-AF52-E037BEDBBF69}" type="sibTrans" cxnId="{A5C73A16-C051-453F-B05D-B6421F6B08B8}">
      <dgm:prSet/>
      <dgm:spPr/>
      <dgm:t>
        <a:bodyPr/>
        <a:lstStyle/>
        <a:p>
          <a:endParaRPr lang="en-US"/>
        </a:p>
      </dgm:t>
    </dgm:pt>
    <dgm:pt modelId="{CCAA8745-E4B9-4D42-BC23-364C29AEA83C}">
      <dgm:prSet/>
      <dgm:spPr/>
      <dgm:t>
        <a:bodyPr/>
        <a:lstStyle/>
        <a:p>
          <a:pPr>
            <a:lnSpc>
              <a:spcPct val="100000"/>
            </a:lnSpc>
          </a:pPr>
          <a:r>
            <a:rPr lang="fr-CA"/>
            <a:t>Délai</a:t>
          </a:r>
          <a:endParaRPr lang="en-US"/>
        </a:p>
      </dgm:t>
    </dgm:pt>
    <dgm:pt modelId="{B801B70D-4763-4624-B2C7-2AFE10163B00}" type="parTrans" cxnId="{3AC12EC1-6CB2-41E7-A3CB-E3943445D79D}">
      <dgm:prSet/>
      <dgm:spPr/>
      <dgm:t>
        <a:bodyPr/>
        <a:lstStyle/>
        <a:p>
          <a:endParaRPr lang="en-US"/>
        </a:p>
      </dgm:t>
    </dgm:pt>
    <dgm:pt modelId="{8D6BFA29-2139-4C19-B162-DF20EC37DDD3}" type="sibTrans" cxnId="{3AC12EC1-6CB2-41E7-A3CB-E3943445D79D}">
      <dgm:prSet/>
      <dgm:spPr/>
      <dgm:t>
        <a:bodyPr/>
        <a:lstStyle/>
        <a:p>
          <a:endParaRPr lang="en-US"/>
        </a:p>
      </dgm:t>
    </dgm:pt>
    <dgm:pt modelId="{97500656-C663-4ACD-A533-56FBD73C2B77}">
      <dgm:prSet/>
      <dgm:spPr/>
      <dgm:t>
        <a:bodyPr/>
        <a:lstStyle/>
        <a:p>
          <a:pPr>
            <a:lnSpc>
              <a:spcPct val="100000"/>
            </a:lnSpc>
            <a:defRPr b="1"/>
          </a:pPr>
          <a:r>
            <a:rPr lang="fr-CA"/>
            <a:t>Solvabilité 	</a:t>
          </a:r>
          <a:endParaRPr lang="en-US"/>
        </a:p>
      </dgm:t>
    </dgm:pt>
    <dgm:pt modelId="{D4EA4018-9865-4110-B311-1EA76A0734DF}" type="parTrans" cxnId="{2DB079C6-4F7E-45A2-A93A-C8DB5853ADE8}">
      <dgm:prSet/>
      <dgm:spPr/>
      <dgm:t>
        <a:bodyPr/>
        <a:lstStyle/>
        <a:p>
          <a:endParaRPr lang="en-US"/>
        </a:p>
      </dgm:t>
    </dgm:pt>
    <dgm:pt modelId="{F24FCF85-57A5-4156-8F4A-442C812BEC4A}" type="sibTrans" cxnId="{2DB079C6-4F7E-45A2-A93A-C8DB5853ADE8}">
      <dgm:prSet/>
      <dgm:spPr/>
      <dgm:t>
        <a:bodyPr/>
        <a:lstStyle/>
        <a:p>
          <a:endParaRPr lang="en-US"/>
        </a:p>
      </dgm:t>
    </dgm:pt>
    <dgm:pt modelId="{C4A2904C-168B-46CF-8946-855FA4E018F3}">
      <dgm:prSet/>
      <dgm:spPr/>
      <dgm:t>
        <a:bodyPr/>
        <a:lstStyle/>
        <a:p>
          <a:pPr>
            <a:lnSpc>
              <a:spcPct val="100000"/>
            </a:lnSpc>
          </a:pPr>
          <a:r>
            <a:rPr lang="fr-CA"/>
            <a:t>Structure de financement</a:t>
          </a:r>
          <a:endParaRPr lang="en-US"/>
        </a:p>
      </dgm:t>
    </dgm:pt>
    <dgm:pt modelId="{BD6ADCBC-F300-45E4-870E-E0C0C00A7468}" type="parTrans" cxnId="{C6352FF9-564F-458A-81E8-B81D5F0DF8CE}">
      <dgm:prSet/>
      <dgm:spPr/>
      <dgm:t>
        <a:bodyPr/>
        <a:lstStyle/>
        <a:p>
          <a:endParaRPr lang="en-US"/>
        </a:p>
      </dgm:t>
    </dgm:pt>
    <dgm:pt modelId="{6220CE89-59D2-4170-A347-F482653A8236}" type="sibTrans" cxnId="{C6352FF9-564F-458A-81E8-B81D5F0DF8CE}">
      <dgm:prSet/>
      <dgm:spPr/>
      <dgm:t>
        <a:bodyPr/>
        <a:lstStyle/>
        <a:p>
          <a:endParaRPr lang="en-US"/>
        </a:p>
      </dgm:t>
    </dgm:pt>
    <dgm:pt modelId="{A01E749A-9254-4B89-AEA5-4A347C1AA306}">
      <dgm:prSet/>
      <dgm:spPr/>
      <dgm:t>
        <a:bodyPr/>
        <a:lstStyle/>
        <a:p>
          <a:pPr>
            <a:lnSpc>
              <a:spcPct val="100000"/>
            </a:lnSpc>
          </a:pPr>
          <a:r>
            <a:rPr lang="fr-CA"/>
            <a:t>Capacité à rembourser la dette </a:t>
          </a:r>
          <a:endParaRPr lang="en-US"/>
        </a:p>
      </dgm:t>
    </dgm:pt>
    <dgm:pt modelId="{2B7543F5-AFF9-459A-87A8-C3BB1A3B9480}" type="parTrans" cxnId="{D7A5777C-B335-4FC0-BD10-EF28EAD49F88}">
      <dgm:prSet/>
      <dgm:spPr/>
      <dgm:t>
        <a:bodyPr/>
        <a:lstStyle/>
        <a:p>
          <a:endParaRPr lang="en-US"/>
        </a:p>
      </dgm:t>
    </dgm:pt>
    <dgm:pt modelId="{4227A1D7-C863-48A6-84AD-01372FF6C953}" type="sibTrans" cxnId="{D7A5777C-B335-4FC0-BD10-EF28EAD49F88}">
      <dgm:prSet/>
      <dgm:spPr/>
      <dgm:t>
        <a:bodyPr/>
        <a:lstStyle/>
        <a:p>
          <a:endParaRPr lang="en-US"/>
        </a:p>
      </dgm:t>
    </dgm:pt>
    <dgm:pt modelId="{9F86C41E-8226-4E67-B4B7-6E9FB7B55DCE}">
      <dgm:prSet/>
      <dgm:spPr/>
      <dgm:t>
        <a:bodyPr/>
        <a:lstStyle/>
        <a:p>
          <a:pPr>
            <a:lnSpc>
              <a:spcPct val="100000"/>
            </a:lnSpc>
          </a:pPr>
          <a:r>
            <a:rPr lang="en-US" dirty="0" err="1"/>
            <a:t>Rendement</a:t>
          </a:r>
          <a:r>
            <a:rPr lang="en-US" dirty="0"/>
            <a:t> des CP</a:t>
          </a:r>
        </a:p>
      </dgm:t>
    </dgm:pt>
    <dgm:pt modelId="{61D4339B-C018-448C-9432-78768DD591E8}" type="parTrans" cxnId="{563C3D5F-8887-46BE-90A6-4D015987AB44}">
      <dgm:prSet/>
      <dgm:spPr/>
      <dgm:t>
        <a:bodyPr/>
        <a:lstStyle/>
        <a:p>
          <a:endParaRPr lang="fr-CA"/>
        </a:p>
      </dgm:t>
    </dgm:pt>
    <dgm:pt modelId="{9B9154DA-18A4-466D-B947-304379D607F2}" type="sibTrans" cxnId="{563C3D5F-8887-46BE-90A6-4D015987AB44}">
      <dgm:prSet/>
      <dgm:spPr/>
      <dgm:t>
        <a:bodyPr/>
        <a:lstStyle/>
        <a:p>
          <a:endParaRPr lang="fr-CA"/>
        </a:p>
      </dgm:t>
    </dgm:pt>
    <dgm:pt modelId="{6B78EB0E-BC2A-4587-A2F9-17DDA90428A4}" type="pres">
      <dgm:prSet presAssocID="{CC19E416-F9EC-40BD-A951-B2C9E007D8D0}" presName="root" presStyleCnt="0">
        <dgm:presLayoutVars>
          <dgm:dir/>
          <dgm:resizeHandles val="exact"/>
        </dgm:presLayoutVars>
      </dgm:prSet>
      <dgm:spPr/>
    </dgm:pt>
    <dgm:pt modelId="{B8CD8916-7C5F-4119-B0EF-12FCCD962594}" type="pres">
      <dgm:prSet presAssocID="{03FE4952-3EB9-416F-B5E0-0265DD575645}" presName="compNode" presStyleCnt="0"/>
      <dgm:spPr/>
    </dgm:pt>
    <dgm:pt modelId="{E822A373-02F2-492A-8C79-5A96AE30837F}" type="pres">
      <dgm:prSet presAssocID="{03FE4952-3EB9-416F-B5E0-0265DD575645}"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pward trend"/>
        </a:ext>
      </dgm:extLst>
    </dgm:pt>
    <dgm:pt modelId="{FDAB38AB-2796-4119-998D-56AB1A8ECA54}" type="pres">
      <dgm:prSet presAssocID="{03FE4952-3EB9-416F-B5E0-0265DD575645}" presName="iconSpace" presStyleCnt="0"/>
      <dgm:spPr/>
    </dgm:pt>
    <dgm:pt modelId="{0E4A6DCE-F77F-4CDD-8B4F-867F2FCCF212}" type="pres">
      <dgm:prSet presAssocID="{03FE4952-3EB9-416F-B5E0-0265DD575645}" presName="parTx" presStyleLbl="revTx" presStyleIdx="0" presStyleCnt="8">
        <dgm:presLayoutVars>
          <dgm:chMax val="0"/>
          <dgm:chPref val="0"/>
        </dgm:presLayoutVars>
      </dgm:prSet>
      <dgm:spPr/>
    </dgm:pt>
    <dgm:pt modelId="{EBC26938-4E54-49A7-A778-D622D589BD45}" type="pres">
      <dgm:prSet presAssocID="{03FE4952-3EB9-416F-B5E0-0265DD575645}" presName="txSpace" presStyleCnt="0"/>
      <dgm:spPr/>
    </dgm:pt>
    <dgm:pt modelId="{5EB1E0D8-04D4-42EB-A4FD-D6F3C81968FF}" type="pres">
      <dgm:prSet presAssocID="{03FE4952-3EB9-416F-B5E0-0265DD575645}" presName="desTx" presStyleLbl="revTx" presStyleIdx="1" presStyleCnt="8">
        <dgm:presLayoutVars/>
      </dgm:prSet>
      <dgm:spPr/>
    </dgm:pt>
    <dgm:pt modelId="{573FB744-7151-4FB6-B912-6D5D5FF0F100}" type="pres">
      <dgm:prSet presAssocID="{378415C2-5FCB-471D-939A-FBDB4A44D0D1}" presName="sibTrans" presStyleCnt="0"/>
      <dgm:spPr/>
    </dgm:pt>
    <dgm:pt modelId="{5AC0A807-D686-4BFD-9C19-D032E2E32A68}" type="pres">
      <dgm:prSet presAssocID="{5F8E2E59-B137-474B-B33A-48D0EADFEAB7}" presName="compNode" presStyleCnt="0"/>
      <dgm:spPr/>
    </dgm:pt>
    <dgm:pt modelId="{5FC33A2A-783F-4BF7-AE26-1C396B67B7B6}" type="pres">
      <dgm:prSet presAssocID="{5F8E2E59-B137-474B-B33A-48D0EADFEAB7}"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Argent"/>
        </a:ext>
      </dgm:extLst>
    </dgm:pt>
    <dgm:pt modelId="{D0E0CE22-DCC5-443B-BC83-EB48F434A78F}" type="pres">
      <dgm:prSet presAssocID="{5F8E2E59-B137-474B-B33A-48D0EADFEAB7}" presName="iconSpace" presStyleCnt="0"/>
      <dgm:spPr/>
    </dgm:pt>
    <dgm:pt modelId="{FA265D79-5435-4131-9F12-560D260E47CC}" type="pres">
      <dgm:prSet presAssocID="{5F8E2E59-B137-474B-B33A-48D0EADFEAB7}" presName="parTx" presStyleLbl="revTx" presStyleIdx="2" presStyleCnt="8">
        <dgm:presLayoutVars>
          <dgm:chMax val="0"/>
          <dgm:chPref val="0"/>
        </dgm:presLayoutVars>
      </dgm:prSet>
      <dgm:spPr/>
    </dgm:pt>
    <dgm:pt modelId="{F21CFBE4-5AA8-456B-A3AF-CA89B4BD4E07}" type="pres">
      <dgm:prSet presAssocID="{5F8E2E59-B137-474B-B33A-48D0EADFEAB7}" presName="txSpace" presStyleCnt="0"/>
      <dgm:spPr/>
    </dgm:pt>
    <dgm:pt modelId="{839D9981-52DE-4C17-BA5B-D0344BD66E91}" type="pres">
      <dgm:prSet presAssocID="{5F8E2E59-B137-474B-B33A-48D0EADFEAB7}" presName="desTx" presStyleLbl="revTx" presStyleIdx="3" presStyleCnt="8">
        <dgm:presLayoutVars/>
      </dgm:prSet>
      <dgm:spPr/>
    </dgm:pt>
    <dgm:pt modelId="{EE785162-A7D1-461E-8AB2-A1578B6FD5CD}" type="pres">
      <dgm:prSet presAssocID="{32BD6324-6F07-4D76-B364-B9BE6CE2F0DD}" presName="sibTrans" presStyleCnt="0"/>
      <dgm:spPr/>
    </dgm:pt>
    <dgm:pt modelId="{76DE5134-D3D7-43D1-A45B-D1106CEACEA8}" type="pres">
      <dgm:prSet presAssocID="{6B2D23A7-F869-45F6-9141-0E787280DEF9}" presName="compNode" presStyleCnt="0"/>
      <dgm:spPr/>
    </dgm:pt>
    <dgm:pt modelId="{2CEBBE4D-888F-4F7C-A797-65DEB843C016}" type="pres">
      <dgm:prSet presAssocID="{6B2D23A7-F869-45F6-9141-0E787280DEF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ronomètre"/>
        </a:ext>
      </dgm:extLst>
    </dgm:pt>
    <dgm:pt modelId="{3166E28F-705E-49F9-AFF8-64B381CF41DE}" type="pres">
      <dgm:prSet presAssocID="{6B2D23A7-F869-45F6-9141-0E787280DEF9}" presName="iconSpace" presStyleCnt="0"/>
      <dgm:spPr/>
    </dgm:pt>
    <dgm:pt modelId="{36506446-95A2-4F97-AFE0-0AD13A89B12F}" type="pres">
      <dgm:prSet presAssocID="{6B2D23A7-F869-45F6-9141-0E787280DEF9}" presName="parTx" presStyleLbl="revTx" presStyleIdx="4" presStyleCnt="8">
        <dgm:presLayoutVars>
          <dgm:chMax val="0"/>
          <dgm:chPref val="0"/>
        </dgm:presLayoutVars>
      </dgm:prSet>
      <dgm:spPr/>
    </dgm:pt>
    <dgm:pt modelId="{9B08175E-8379-437C-9DF3-BF3688232F52}" type="pres">
      <dgm:prSet presAssocID="{6B2D23A7-F869-45F6-9141-0E787280DEF9}" presName="txSpace" presStyleCnt="0"/>
      <dgm:spPr/>
    </dgm:pt>
    <dgm:pt modelId="{656D9589-C582-4C0E-895A-229F62648EE1}" type="pres">
      <dgm:prSet presAssocID="{6B2D23A7-F869-45F6-9141-0E787280DEF9}" presName="desTx" presStyleLbl="revTx" presStyleIdx="5" presStyleCnt="8">
        <dgm:presLayoutVars/>
      </dgm:prSet>
      <dgm:spPr/>
    </dgm:pt>
    <dgm:pt modelId="{0806D4EB-E864-4C5D-BF8A-B005B2A188D1}" type="pres">
      <dgm:prSet presAssocID="{F54EADC4-5145-4CF2-B908-EB1454C5EC4A}" presName="sibTrans" presStyleCnt="0"/>
      <dgm:spPr/>
    </dgm:pt>
    <dgm:pt modelId="{FF05A36D-EFF0-4366-B5B6-ED2799480D52}" type="pres">
      <dgm:prSet presAssocID="{97500656-C663-4ACD-A533-56FBD73C2B77}" presName="compNode" presStyleCnt="0"/>
      <dgm:spPr/>
    </dgm:pt>
    <dgm:pt modelId="{B0E55E8C-102A-42B2-857F-B0054F86FD57}" type="pres">
      <dgm:prSet presAssocID="{97500656-C663-4ACD-A533-56FBD73C2B77}"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ièces"/>
        </a:ext>
      </dgm:extLst>
    </dgm:pt>
    <dgm:pt modelId="{A5F5AA0D-8A10-4E04-952D-51FAF3637B29}" type="pres">
      <dgm:prSet presAssocID="{97500656-C663-4ACD-A533-56FBD73C2B77}" presName="iconSpace" presStyleCnt="0"/>
      <dgm:spPr/>
    </dgm:pt>
    <dgm:pt modelId="{97C8318F-2C28-431B-81CF-A8CF2B986C79}" type="pres">
      <dgm:prSet presAssocID="{97500656-C663-4ACD-A533-56FBD73C2B77}" presName="parTx" presStyleLbl="revTx" presStyleIdx="6" presStyleCnt="8">
        <dgm:presLayoutVars>
          <dgm:chMax val="0"/>
          <dgm:chPref val="0"/>
        </dgm:presLayoutVars>
      </dgm:prSet>
      <dgm:spPr/>
    </dgm:pt>
    <dgm:pt modelId="{71786511-2368-4DA1-A4BB-C8DA7028B5D2}" type="pres">
      <dgm:prSet presAssocID="{97500656-C663-4ACD-A533-56FBD73C2B77}" presName="txSpace" presStyleCnt="0"/>
      <dgm:spPr/>
    </dgm:pt>
    <dgm:pt modelId="{4AF2D68B-E695-4D90-ABD3-F53BA9F7E271}" type="pres">
      <dgm:prSet presAssocID="{97500656-C663-4ACD-A533-56FBD73C2B77}" presName="desTx" presStyleLbl="revTx" presStyleIdx="7" presStyleCnt="8">
        <dgm:presLayoutVars/>
      </dgm:prSet>
      <dgm:spPr/>
    </dgm:pt>
  </dgm:ptLst>
  <dgm:cxnLst>
    <dgm:cxn modelId="{84D30A0A-2FF3-45A2-A063-2D3280BECEB0}" type="presOf" srcId="{03FE4952-3EB9-416F-B5E0-0265DD575645}" destId="{0E4A6DCE-F77F-4CDD-8B4F-867F2FCCF212}" srcOrd="0" destOrd="0" presId="urn:microsoft.com/office/officeart/2018/2/layout/IconLabelDescriptionList"/>
    <dgm:cxn modelId="{F080AD10-BE3F-4CCF-9276-AD121B31E947}" srcId="{5F8E2E59-B137-474B-B33A-48D0EADFEAB7}" destId="{7BAF0A26-6061-4758-91E4-396AF5A5988C}" srcOrd="2" destOrd="0" parTransId="{160C2E41-044B-4EBA-989C-8D797D8B86B9}" sibTransId="{80B9C908-A07D-4A06-BF34-9A26176E70D0}"/>
    <dgm:cxn modelId="{5D9ACF12-9B2E-4A87-B105-2BBD04A1EC7F}" srcId="{03FE4952-3EB9-416F-B5E0-0265DD575645}" destId="{9A175985-2BE4-414A-8FF4-569DAC76CB3F}" srcOrd="0" destOrd="0" parTransId="{49F2996E-3E38-4D9A-911E-CB3A649AE294}" sibTransId="{041052BD-F7D8-405B-A0A3-03BA4DC18E7E}"/>
    <dgm:cxn modelId="{01DA7114-809E-4F87-B6E0-A0B4235EB0DA}" type="presOf" srcId="{7BAF0A26-6061-4758-91E4-396AF5A5988C}" destId="{839D9981-52DE-4C17-BA5B-D0344BD66E91}" srcOrd="0" destOrd="2" presId="urn:microsoft.com/office/officeart/2018/2/layout/IconLabelDescriptionList"/>
    <dgm:cxn modelId="{A5C73A16-C051-453F-B05D-B6421F6B08B8}" srcId="{6B2D23A7-F869-45F6-9141-0E787280DEF9}" destId="{98DDEA67-4C7E-4D8B-8683-D3E0CC11D811}" srcOrd="0" destOrd="0" parTransId="{6852EA9E-E89C-4277-8849-5D32A6BDEAD6}" sibTransId="{754209AB-4BE5-42C2-AF52-E037BEDBBF69}"/>
    <dgm:cxn modelId="{9F452928-D677-4B27-8418-8777D5E760E2}" srcId="{CC19E416-F9EC-40BD-A951-B2C9E007D8D0}" destId="{03FE4952-3EB9-416F-B5E0-0265DD575645}" srcOrd="0" destOrd="0" parTransId="{83B74646-696D-4482-9063-DAB3D20B610B}" sibTransId="{378415C2-5FCB-471D-939A-FBDB4A44D0D1}"/>
    <dgm:cxn modelId="{2A15743F-E62D-43E8-9F58-0A160083CB2B}" srcId="{CC19E416-F9EC-40BD-A951-B2C9E007D8D0}" destId="{5F8E2E59-B137-474B-B33A-48D0EADFEAB7}" srcOrd="1" destOrd="0" parTransId="{8923DF85-F1D6-4473-AF21-777D4AB180D4}" sibTransId="{32BD6324-6F07-4D76-B364-B9BE6CE2F0DD}"/>
    <dgm:cxn modelId="{563C3D5F-8887-46BE-90A6-4D015987AB44}" srcId="{03FE4952-3EB9-416F-B5E0-0265DD575645}" destId="{9F86C41E-8226-4E67-B4B7-6E9FB7B55DCE}" srcOrd="1" destOrd="0" parTransId="{61D4339B-C018-448C-9432-78768DD591E8}" sibTransId="{9B9154DA-18A4-466D-B947-304379D607F2}"/>
    <dgm:cxn modelId="{932B7661-7977-46D2-9CB7-0B1A40553A98}" type="presOf" srcId="{CD703BF3-29E6-44C1-BF40-7254965B191B}" destId="{839D9981-52DE-4C17-BA5B-D0344BD66E91}" srcOrd="0" destOrd="1" presId="urn:microsoft.com/office/officeart/2018/2/layout/IconLabelDescriptionList"/>
    <dgm:cxn modelId="{8EAABB43-D2EF-404C-854A-BA91E9A198A4}" type="presOf" srcId="{9A175985-2BE4-414A-8FF4-569DAC76CB3F}" destId="{5EB1E0D8-04D4-42EB-A4FD-D6F3C81968FF}" srcOrd="0" destOrd="0" presId="urn:microsoft.com/office/officeart/2018/2/layout/IconLabelDescriptionList"/>
    <dgm:cxn modelId="{20283F72-CCDE-4A20-9069-161BD7571EC8}" type="presOf" srcId="{9F86C41E-8226-4E67-B4B7-6E9FB7B55DCE}" destId="{5EB1E0D8-04D4-42EB-A4FD-D6F3C81968FF}" srcOrd="0" destOrd="1" presId="urn:microsoft.com/office/officeart/2018/2/layout/IconLabelDescriptionList"/>
    <dgm:cxn modelId="{E381A774-22BE-405B-846A-C5ACA8CE64BF}" type="presOf" srcId="{98DDEA67-4C7E-4D8B-8683-D3E0CC11D811}" destId="{656D9589-C582-4C0E-895A-229F62648EE1}" srcOrd="0" destOrd="0" presId="urn:microsoft.com/office/officeart/2018/2/layout/IconLabelDescriptionList"/>
    <dgm:cxn modelId="{D7A5777C-B335-4FC0-BD10-EF28EAD49F88}" srcId="{97500656-C663-4ACD-A533-56FBD73C2B77}" destId="{A01E749A-9254-4B89-AEA5-4A347C1AA306}" srcOrd="1" destOrd="0" parTransId="{2B7543F5-AFF9-459A-87A8-C3BB1A3B9480}" sibTransId="{4227A1D7-C863-48A6-84AD-01372FF6C953}"/>
    <dgm:cxn modelId="{5BEA9E8A-F7E1-403D-A48C-4FDE7650714C}" type="presOf" srcId="{CC19E416-F9EC-40BD-A951-B2C9E007D8D0}" destId="{6B78EB0E-BC2A-4587-A2F9-17DDA90428A4}" srcOrd="0" destOrd="0" presId="urn:microsoft.com/office/officeart/2018/2/layout/IconLabelDescriptionList"/>
    <dgm:cxn modelId="{DC5B3591-5142-4EAD-9E2F-EC576638E7DE}" srcId="{5F8E2E59-B137-474B-B33A-48D0EADFEAB7}" destId="{4438ECF0-87B6-4A05-98B1-69C36B584770}" srcOrd="0" destOrd="0" parTransId="{2DA37F31-264D-476A-B0AB-4FD1F9BFF027}" sibTransId="{920020D4-9EFF-4DDC-B891-7EDA7F208F37}"/>
    <dgm:cxn modelId="{56D6D095-9803-4C1D-883D-1AFB9B5EA21D}" type="presOf" srcId="{6B2D23A7-F869-45F6-9141-0E787280DEF9}" destId="{36506446-95A2-4F97-AFE0-0AD13A89B12F}" srcOrd="0" destOrd="0" presId="urn:microsoft.com/office/officeart/2018/2/layout/IconLabelDescriptionList"/>
    <dgm:cxn modelId="{EFC30A9D-5662-4ED2-BF00-1BD487B25ABA}" srcId="{CC19E416-F9EC-40BD-A951-B2C9E007D8D0}" destId="{6B2D23A7-F869-45F6-9141-0E787280DEF9}" srcOrd="2" destOrd="0" parTransId="{7790B57D-5C06-47B9-AE0E-0A2244CF7135}" sibTransId="{F54EADC4-5145-4CF2-B908-EB1454C5EC4A}"/>
    <dgm:cxn modelId="{EFDB29B7-A6A9-4440-8164-E38E5B38FBB1}" type="presOf" srcId="{A01E749A-9254-4B89-AEA5-4A347C1AA306}" destId="{4AF2D68B-E695-4D90-ABD3-F53BA9F7E271}" srcOrd="0" destOrd="1" presId="urn:microsoft.com/office/officeart/2018/2/layout/IconLabelDescriptionList"/>
    <dgm:cxn modelId="{F24B9FBD-B9B8-468F-BF46-7E672252B950}" type="presOf" srcId="{5F8E2E59-B137-474B-B33A-48D0EADFEAB7}" destId="{FA265D79-5435-4131-9F12-560D260E47CC}" srcOrd="0" destOrd="0" presId="urn:microsoft.com/office/officeart/2018/2/layout/IconLabelDescriptionList"/>
    <dgm:cxn modelId="{3E0F9CBE-A9EC-4EB6-98C8-62497671CD1B}" type="presOf" srcId="{C4A2904C-168B-46CF-8946-855FA4E018F3}" destId="{4AF2D68B-E695-4D90-ABD3-F53BA9F7E271}" srcOrd="0" destOrd="0" presId="urn:microsoft.com/office/officeart/2018/2/layout/IconLabelDescriptionList"/>
    <dgm:cxn modelId="{14B3E9BF-89D2-41E8-A6E6-9472E5B9B354}" type="presOf" srcId="{4438ECF0-87B6-4A05-98B1-69C36B584770}" destId="{839D9981-52DE-4C17-BA5B-D0344BD66E91}" srcOrd="0" destOrd="0" presId="urn:microsoft.com/office/officeart/2018/2/layout/IconLabelDescriptionList"/>
    <dgm:cxn modelId="{3AC12EC1-6CB2-41E7-A3CB-E3943445D79D}" srcId="{6B2D23A7-F869-45F6-9141-0E787280DEF9}" destId="{CCAA8745-E4B9-4D42-BC23-364C29AEA83C}" srcOrd="1" destOrd="0" parTransId="{B801B70D-4763-4624-B2C7-2AFE10163B00}" sibTransId="{8D6BFA29-2139-4C19-B162-DF20EC37DDD3}"/>
    <dgm:cxn modelId="{2DB079C6-4F7E-45A2-A93A-C8DB5853ADE8}" srcId="{CC19E416-F9EC-40BD-A951-B2C9E007D8D0}" destId="{97500656-C663-4ACD-A533-56FBD73C2B77}" srcOrd="3" destOrd="0" parTransId="{D4EA4018-9865-4110-B311-1EA76A0734DF}" sibTransId="{F24FCF85-57A5-4156-8F4A-442C812BEC4A}"/>
    <dgm:cxn modelId="{D0920ACA-CB88-4EBE-92CD-1A823F955126}" type="presOf" srcId="{97500656-C663-4ACD-A533-56FBD73C2B77}" destId="{97C8318F-2C28-431B-81CF-A8CF2B986C79}" srcOrd="0" destOrd="0" presId="urn:microsoft.com/office/officeart/2018/2/layout/IconLabelDescriptionList"/>
    <dgm:cxn modelId="{B96A10DC-2FD6-4D20-8B03-DB426F9AA37C}" srcId="{5F8E2E59-B137-474B-B33A-48D0EADFEAB7}" destId="{CD703BF3-29E6-44C1-BF40-7254965B191B}" srcOrd="1" destOrd="0" parTransId="{DB9DCBA5-8880-4C2B-86AE-9E347BD04F85}" sibTransId="{8388FB62-4866-4D19-ADC6-383B9301D561}"/>
    <dgm:cxn modelId="{E09236E3-8379-4FD5-94AF-3EFD05AEC8D2}" type="presOf" srcId="{CCAA8745-E4B9-4D42-BC23-364C29AEA83C}" destId="{656D9589-C582-4C0E-895A-229F62648EE1}" srcOrd="0" destOrd="1" presId="urn:microsoft.com/office/officeart/2018/2/layout/IconLabelDescriptionList"/>
    <dgm:cxn modelId="{C6352FF9-564F-458A-81E8-B81D5F0DF8CE}" srcId="{97500656-C663-4ACD-A533-56FBD73C2B77}" destId="{C4A2904C-168B-46CF-8946-855FA4E018F3}" srcOrd="0" destOrd="0" parTransId="{BD6ADCBC-F300-45E4-870E-E0C0C00A7468}" sibTransId="{6220CE89-59D2-4170-A347-F482653A8236}"/>
    <dgm:cxn modelId="{8B610D7F-D3ED-4F7C-903E-981D8570754F}" type="presParOf" srcId="{6B78EB0E-BC2A-4587-A2F9-17DDA90428A4}" destId="{B8CD8916-7C5F-4119-B0EF-12FCCD962594}" srcOrd="0" destOrd="0" presId="urn:microsoft.com/office/officeart/2018/2/layout/IconLabelDescriptionList"/>
    <dgm:cxn modelId="{2B5ACCF3-1445-47E0-B2AA-01FBF7454CEC}" type="presParOf" srcId="{B8CD8916-7C5F-4119-B0EF-12FCCD962594}" destId="{E822A373-02F2-492A-8C79-5A96AE30837F}" srcOrd="0" destOrd="0" presId="urn:microsoft.com/office/officeart/2018/2/layout/IconLabelDescriptionList"/>
    <dgm:cxn modelId="{C40ED2EB-8ED3-4E56-8E8F-BF331A81589D}" type="presParOf" srcId="{B8CD8916-7C5F-4119-B0EF-12FCCD962594}" destId="{FDAB38AB-2796-4119-998D-56AB1A8ECA54}" srcOrd="1" destOrd="0" presId="urn:microsoft.com/office/officeart/2018/2/layout/IconLabelDescriptionList"/>
    <dgm:cxn modelId="{F5EE2322-ACE1-4476-B4B4-0B1C533AF865}" type="presParOf" srcId="{B8CD8916-7C5F-4119-B0EF-12FCCD962594}" destId="{0E4A6DCE-F77F-4CDD-8B4F-867F2FCCF212}" srcOrd="2" destOrd="0" presId="urn:microsoft.com/office/officeart/2018/2/layout/IconLabelDescriptionList"/>
    <dgm:cxn modelId="{3073F393-A3C7-4A90-9A30-074913E819BB}" type="presParOf" srcId="{B8CD8916-7C5F-4119-B0EF-12FCCD962594}" destId="{EBC26938-4E54-49A7-A778-D622D589BD45}" srcOrd="3" destOrd="0" presId="urn:microsoft.com/office/officeart/2018/2/layout/IconLabelDescriptionList"/>
    <dgm:cxn modelId="{98F1A711-1226-4DCA-B1A1-2CEC208AF18B}" type="presParOf" srcId="{B8CD8916-7C5F-4119-B0EF-12FCCD962594}" destId="{5EB1E0D8-04D4-42EB-A4FD-D6F3C81968FF}" srcOrd="4" destOrd="0" presId="urn:microsoft.com/office/officeart/2018/2/layout/IconLabelDescriptionList"/>
    <dgm:cxn modelId="{CE393D34-EDC2-4444-8863-77AA472DCBA9}" type="presParOf" srcId="{6B78EB0E-BC2A-4587-A2F9-17DDA90428A4}" destId="{573FB744-7151-4FB6-B912-6D5D5FF0F100}" srcOrd="1" destOrd="0" presId="urn:microsoft.com/office/officeart/2018/2/layout/IconLabelDescriptionList"/>
    <dgm:cxn modelId="{E85629A9-0C8E-4067-9222-13A9C7EFD1AC}" type="presParOf" srcId="{6B78EB0E-BC2A-4587-A2F9-17DDA90428A4}" destId="{5AC0A807-D686-4BFD-9C19-D032E2E32A68}" srcOrd="2" destOrd="0" presId="urn:microsoft.com/office/officeart/2018/2/layout/IconLabelDescriptionList"/>
    <dgm:cxn modelId="{E714D0D4-E84C-4DEA-AF66-18204AF51304}" type="presParOf" srcId="{5AC0A807-D686-4BFD-9C19-D032E2E32A68}" destId="{5FC33A2A-783F-4BF7-AE26-1C396B67B7B6}" srcOrd="0" destOrd="0" presId="urn:microsoft.com/office/officeart/2018/2/layout/IconLabelDescriptionList"/>
    <dgm:cxn modelId="{5BFEBEBE-C1D7-4BFE-A631-9C7A2CA28EE0}" type="presParOf" srcId="{5AC0A807-D686-4BFD-9C19-D032E2E32A68}" destId="{D0E0CE22-DCC5-443B-BC83-EB48F434A78F}" srcOrd="1" destOrd="0" presId="urn:microsoft.com/office/officeart/2018/2/layout/IconLabelDescriptionList"/>
    <dgm:cxn modelId="{586A2EC9-1454-4C90-972F-877301D14DEA}" type="presParOf" srcId="{5AC0A807-D686-4BFD-9C19-D032E2E32A68}" destId="{FA265D79-5435-4131-9F12-560D260E47CC}" srcOrd="2" destOrd="0" presId="urn:microsoft.com/office/officeart/2018/2/layout/IconLabelDescriptionList"/>
    <dgm:cxn modelId="{7D5559B6-AAF1-437F-9616-D87FC0EF528C}" type="presParOf" srcId="{5AC0A807-D686-4BFD-9C19-D032E2E32A68}" destId="{F21CFBE4-5AA8-456B-A3AF-CA89B4BD4E07}" srcOrd="3" destOrd="0" presId="urn:microsoft.com/office/officeart/2018/2/layout/IconLabelDescriptionList"/>
    <dgm:cxn modelId="{901B428F-FD34-4B8F-BEF7-AF9D746A350F}" type="presParOf" srcId="{5AC0A807-D686-4BFD-9C19-D032E2E32A68}" destId="{839D9981-52DE-4C17-BA5B-D0344BD66E91}" srcOrd="4" destOrd="0" presId="urn:microsoft.com/office/officeart/2018/2/layout/IconLabelDescriptionList"/>
    <dgm:cxn modelId="{3C9FDEC5-CFBB-468D-932E-50C92C870B20}" type="presParOf" srcId="{6B78EB0E-BC2A-4587-A2F9-17DDA90428A4}" destId="{EE785162-A7D1-461E-8AB2-A1578B6FD5CD}" srcOrd="3" destOrd="0" presId="urn:microsoft.com/office/officeart/2018/2/layout/IconLabelDescriptionList"/>
    <dgm:cxn modelId="{382F726D-BB2B-455A-82DB-2E7BEE9AB0C4}" type="presParOf" srcId="{6B78EB0E-BC2A-4587-A2F9-17DDA90428A4}" destId="{76DE5134-D3D7-43D1-A45B-D1106CEACEA8}" srcOrd="4" destOrd="0" presId="urn:microsoft.com/office/officeart/2018/2/layout/IconLabelDescriptionList"/>
    <dgm:cxn modelId="{01F04641-7C1B-48EA-A126-6A679008BADD}" type="presParOf" srcId="{76DE5134-D3D7-43D1-A45B-D1106CEACEA8}" destId="{2CEBBE4D-888F-4F7C-A797-65DEB843C016}" srcOrd="0" destOrd="0" presId="urn:microsoft.com/office/officeart/2018/2/layout/IconLabelDescriptionList"/>
    <dgm:cxn modelId="{40F9A542-271E-472D-9CD4-249387750FBF}" type="presParOf" srcId="{76DE5134-D3D7-43D1-A45B-D1106CEACEA8}" destId="{3166E28F-705E-49F9-AFF8-64B381CF41DE}" srcOrd="1" destOrd="0" presId="urn:microsoft.com/office/officeart/2018/2/layout/IconLabelDescriptionList"/>
    <dgm:cxn modelId="{E91C24EB-D296-4061-BB0A-802BBCAE0138}" type="presParOf" srcId="{76DE5134-D3D7-43D1-A45B-D1106CEACEA8}" destId="{36506446-95A2-4F97-AFE0-0AD13A89B12F}" srcOrd="2" destOrd="0" presId="urn:microsoft.com/office/officeart/2018/2/layout/IconLabelDescriptionList"/>
    <dgm:cxn modelId="{8C6B15CB-A977-4D7F-9320-37D3C38A4161}" type="presParOf" srcId="{76DE5134-D3D7-43D1-A45B-D1106CEACEA8}" destId="{9B08175E-8379-437C-9DF3-BF3688232F52}" srcOrd="3" destOrd="0" presId="urn:microsoft.com/office/officeart/2018/2/layout/IconLabelDescriptionList"/>
    <dgm:cxn modelId="{2D939B10-7EE8-4CC4-9317-299903B338D9}" type="presParOf" srcId="{76DE5134-D3D7-43D1-A45B-D1106CEACEA8}" destId="{656D9589-C582-4C0E-895A-229F62648EE1}" srcOrd="4" destOrd="0" presId="urn:microsoft.com/office/officeart/2018/2/layout/IconLabelDescriptionList"/>
    <dgm:cxn modelId="{FF6F81E1-8291-4531-8E12-1DC96A82C65D}" type="presParOf" srcId="{6B78EB0E-BC2A-4587-A2F9-17DDA90428A4}" destId="{0806D4EB-E864-4C5D-BF8A-B005B2A188D1}" srcOrd="5" destOrd="0" presId="urn:microsoft.com/office/officeart/2018/2/layout/IconLabelDescriptionList"/>
    <dgm:cxn modelId="{1FF6368C-803B-4E78-B7E1-2993143B61C4}" type="presParOf" srcId="{6B78EB0E-BC2A-4587-A2F9-17DDA90428A4}" destId="{FF05A36D-EFF0-4366-B5B6-ED2799480D52}" srcOrd="6" destOrd="0" presId="urn:microsoft.com/office/officeart/2018/2/layout/IconLabelDescriptionList"/>
    <dgm:cxn modelId="{2988C36C-8638-43E3-B3EB-B550B536E7B5}" type="presParOf" srcId="{FF05A36D-EFF0-4366-B5B6-ED2799480D52}" destId="{B0E55E8C-102A-42B2-857F-B0054F86FD57}" srcOrd="0" destOrd="0" presId="urn:microsoft.com/office/officeart/2018/2/layout/IconLabelDescriptionList"/>
    <dgm:cxn modelId="{8BAFCBBE-3781-4F18-8A32-5E58C22D601A}" type="presParOf" srcId="{FF05A36D-EFF0-4366-B5B6-ED2799480D52}" destId="{A5F5AA0D-8A10-4E04-952D-51FAF3637B29}" srcOrd="1" destOrd="0" presId="urn:microsoft.com/office/officeart/2018/2/layout/IconLabelDescriptionList"/>
    <dgm:cxn modelId="{6D16883A-9CF3-45C4-95BC-A26A11AE3A77}" type="presParOf" srcId="{FF05A36D-EFF0-4366-B5B6-ED2799480D52}" destId="{97C8318F-2C28-431B-81CF-A8CF2B986C79}" srcOrd="2" destOrd="0" presId="urn:microsoft.com/office/officeart/2018/2/layout/IconLabelDescriptionList"/>
    <dgm:cxn modelId="{62A5ADA0-A2A8-413B-B9CE-939A3F89C2EC}" type="presParOf" srcId="{FF05A36D-EFF0-4366-B5B6-ED2799480D52}" destId="{71786511-2368-4DA1-A4BB-C8DA7028B5D2}" srcOrd="3" destOrd="0" presId="urn:microsoft.com/office/officeart/2018/2/layout/IconLabelDescriptionList"/>
    <dgm:cxn modelId="{8A79953C-5DB7-4D78-B93A-2DF16AF8EA17}" type="presParOf" srcId="{FF05A36D-EFF0-4366-B5B6-ED2799480D52}" destId="{4AF2D68B-E695-4D90-ABD3-F53BA9F7E271}"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283BA9-CE16-4AFA-BC43-72AE2D21030B}">
      <dsp:nvSpPr>
        <dsp:cNvPr id="0" name=""/>
        <dsp:cNvSpPr/>
      </dsp:nvSpPr>
      <dsp:spPr>
        <a:xfrm>
          <a:off x="3564896" y="-25810"/>
          <a:ext cx="3785857" cy="3785857"/>
        </a:xfrm>
        <a:prstGeom prst="circularArrow">
          <a:avLst>
            <a:gd name="adj1" fmla="val 5544"/>
            <a:gd name="adj2" fmla="val 330680"/>
            <a:gd name="adj3" fmla="val 13731227"/>
            <a:gd name="adj4" fmla="val 17413228"/>
            <a:gd name="adj5" fmla="val 5757"/>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8EC848C-EF6F-4987-BD94-156784D663E9}">
      <dsp:nvSpPr>
        <dsp:cNvPr id="0" name=""/>
        <dsp:cNvSpPr/>
      </dsp:nvSpPr>
      <dsp:spPr>
        <a:xfrm>
          <a:off x="4554405" y="160"/>
          <a:ext cx="1806838" cy="903419"/>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fr-CA" sz="1700" kern="1200" dirty="0"/>
            <a:t>Vision Mission Valeurs</a:t>
          </a:r>
        </a:p>
      </dsp:txBody>
      <dsp:txXfrm>
        <a:off x="4598506" y="44261"/>
        <a:ext cx="1718636" cy="815217"/>
      </dsp:txXfrm>
    </dsp:sp>
    <dsp:sp modelId="{0727ADB9-D84C-4294-BB8F-4FFE070E3894}">
      <dsp:nvSpPr>
        <dsp:cNvPr id="0" name=""/>
        <dsp:cNvSpPr/>
      </dsp:nvSpPr>
      <dsp:spPr>
        <a:xfrm>
          <a:off x="6089827" y="1115710"/>
          <a:ext cx="1806838" cy="903419"/>
        </a:xfrm>
        <a:prstGeom prst="roundRect">
          <a:avLst/>
        </a:prstGeom>
        <a:solidFill>
          <a:schemeClr val="accent2">
            <a:hueOff val="1775374"/>
            <a:satOff val="-3305"/>
            <a:lumOff val="558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fr-CA" sz="1700" kern="1200" dirty="0"/>
            <a:t>Analyse de l’environnement</a:t>
          </a:r>
        </a:p>
      </dsp:txBody>
      <dsp:txXfrm>
        <a:off x="6133928" y="1159811"/>
        <a:ext cx="1718636" cy="815217"/>
      </dsp:txXfrm>
    </dsp:sp>
    <dsp:sp modelId="{893E9389-B40E-47B8-8FC8-054C0FC5D3F1}">
      <dsp:nvSpPr>
        <dsp:cNvPr id="0" name=""/>
        <dsp:cNvSpPr/>
      </dsp:nvSpPr>
      <dsp:spPr>
        <a:xfrm>
          <a:off x="5503348" y="2920706"/>
          <a:ext cx="1806838" cy="903419"/>
        </a:xfrm>
        <a:prstGeom prst="roundRect">
          <a:avLst/>
        </a:prstGeom>
        <a:solidFill>
          <a:schemeClr val="accent2">
            <a:hueOff val="3550747"/>
            <a:satOff val="-6611"/>
            <a:lumOff val="111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fr-CA" sz="1700" kern="1200" dirty="0"/>
            <a:t>Formulation de la stratégie</a:t>
          </a:r>
        </a:p>
      </dsp:txBody>
      <dsp:txXfrm>
        <a:off x="5547449" y="2964807"/>
        <a:ext cx="1718636" cy="815217"/>
      </dsp:txXfrm>
    </dsp:sp>
    <dsp:sp modelId="{B15FA4CC-16ED-4EE9-9B8B-D6BD283C09C8}">
      <dsp:nvSpPr>
        <dsp:cNvPr id="0" name=""/>
        <dsp:cNvSpPr/>
      </dsp:nvSpPr>
      <dsp:spPr>
        <a:xfrm>
          <a:off x="3605462" y="2920706"/>
          <a:ext cx="1806838" cy="903419"/>
        </a:xfrm>
        <a:prstGeom prst="roundRect">
          <a:avLst/>
        </a:prstGeom>
        <a:solidFill>
          <a:schemeClr val="accent2">
            <a:hueOff val="5326121"/>
            <a:satOff val="-9916"/>
            <a:lumOff val="1676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fr-CA" sz="1700" kern="1200" dirty="0"/>
            <a:t>Mise en œuvre</a:t>
          </a:r>
        </a:p>
      </dsp:txBody>
      <dsp:txXfrm>
        <a:off x="3649563" y="2964807"/>
        <a:ext cx="1718636" cy="815217"/>
      </dsp:txXfrm>
    </dsp:sp>
    <dsp:sp modelId="{6FA365F8-20A2-46BA-89E9-A1119A51BF3B}">
      <dsp:nvSpPr>
        <dsp:cNvPr id="0" name=""/>
        <dsp:cNvSpPr/>
      </dsp:nvSpPr>
      <dsp:spPr>
        <a:xfrm>
          <a:off x="3018983" y="1115710"/>
          <a:ext cx="1806838" cy="903419"/>
        </a:xfrm>
        <a:prstGeom prst="roundRect">
          <a:avLst/>
        </a:prstGeom>
        <a:solidFill>
          <a:schemeClr val="accent2">
            <a:hueOff val="7101495"/>
            <a:satOff val="-13222"/>
            <a:lumOff val="2235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fr-CA" sz="1700" kern="1200" dirty="0"/>
            <a:t>Évaluation et contrôle </a:t>
          </a:r>
        </a:p>
      </dsp:txBody>
      <dsp:txXfrm>
        <a:off x="3063084" y="1159811"/>
        <a:ext cx="1718636" cy="81521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3C26D3-F842-49C6-BC78-0442F311C63E}">
      <dsp:nvSpPr>
        <dsp:cNvPr id="0" name=""/>
        <dsp:cNvSpPr/>
      </dsp:nvSpPr>
      <dsp:spPr>
        <a:xfrm rot="5400000">
          <a:off x="-210634" y="213127"/>
          <a:ext cx="1404230" cy="982961"/>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fr-CA" sz="1100" kern="1200" dirty="0"/>
            <a:t>Stratégie d’entreprise</a:t>
          </a:r>
        </a:p>
      </dsp:txBody>
      <dsp:txXfrm rot="-5400000">
        <a:off x="1" y="493974"/>
        <a:ext cx="982961" cy="421269"/>
      </dsp:txXfrm>
    </dsp:sp>
    <dsp:sp modelId="{CF331241-AF9E-4001-B9A5-36E89676EABF}">
      <dsp:nvSpPr>
        <dsp:cNvPr id="0" name=""/>
        <dsp:cNvSpPr/>
      </dsp:nvSpPr>
      <dsp:spPr>
        <a:xfrm rot="5400000">
          <a:off x="5492930" y="-4507476"/>
          <a:ext cx="912749" cy="9932688"/>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l" defTabSz="1066800">
            <a:lnSpc>
              <a:spcPct val="90000"/>
            </a:lnSpc>
            <a:spcBef>
              <a:spcPct val="0"/>
            </a:spcBef>
            <a:spcAft>
              <a:spcPct val="15000"/>
            </a:spcAft>
            <a:buChar char="•"/>
          </a:pPr>
          <a:r>
            <a:rPr lang="fr-CA" sz="2400" kern="1200" dirty="0"/>
            <a:t>Structure organisationnelle </a:t>
          </a:r>
        </a:p>
        <a:p>
          <a:pPr marL="228600" lvl="1" indent="-228600" algn="l" defTabSz="1066800">
            <a:lnSpc>
              <a:spcPct val="90000"/>
            </a:lnSpc>
            <a:spcBef>
              <a:spcPct val="0"/>
            </a:spcBef>
            <a:spcAft>
              <a:spcPct val="15000"/>
            </a:spcAft>
            <a:buChar char="•"/>
          </a:pPr>
          <a:r>
            <a:rPr lang="fr-CA" sz="2400" kern="1200" dirty="0"/>
            <a:t>Niveau de diversification et d’intégration des activités</a:t>
          </a:r>
        </a:p>
      </dsp:txBody>
      <dsp:txXfrm rot="-5400000">
        <a:off x="982961" y="47050"/>
        <a:ext cx="9888131" cy="823635"/>
      </dsp:txXfrm>
    </dsp:sp>
    <dsp:sp modelId="{E5071AB6-949B-41F5-9825-280E44F51861}">
      <dsp:nvSpPr>
        <dsp:cNvPr id="0" name=""/>
        <dsp:cNvSpPr/>
      </dsp:nvSpPr>
      <dsp:spPr>
        <a:xfrm rot="5400000">
          <a:off x="-210634" y="1420662"/>
          <a:ext cx="1404230" cy="982961"/>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fr-CA" sz="1100" kern="1200" dirty="0"/>
            <a:t>Stratégie concurrentielle</a:t>
          </a:r>
        </a:p>
      </dsp:txBody>
      <dsp:txXfrm rot="-5400000">
        <a:off x="1" y="1701509"/>
        <a:ext cx="982961" cy="421269"/>
      </dsp:txXfrm>
    </dsp:sp>
    <dsp:sp modelId="{96C029E6-560C-475A-B2FE-29D36B3EDDAE}">
      <dsp:nvSpPr>
        <dsp:cNvPr id="0" name=""/>
        <dsp:cNvSpPr/>
      </dsp:nvSpPr>
      <dsp:spPr>
        <a:xfrm rot="5400000">
          <a:off x="5492930" y="-3299941"/>
          <a:ext cx="912749" cy="9932688"/>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l" defTabSz="1066800">
            <a:lnSpc>
              <a:spcPct val="90000"/>
            </a:lnSpc>
            <a:spcBef>
              <a:spcPct val="0"/>
            </a:spcBef>
            <a:spcAft>
              <a:spcPct val="15000"/>
            </a:spcAft>
            <a:buChar char="•"/>
          </a:pPr>
          <a:r>
            <a:rPr lang="fr-CA" sz="2400" kern="1200" dirty="0"/>
            <a:t>Manière d’affronter la concurrence</a:t>
          </a:r>
        </a:p>
        <a:p>
          <a:pPr marL="228600" lvl="1" indent="-228600" algn="l" defTabSz="1066800">
            <a:lnSpc>
              <a:spcPct val="90000"/>
            </a:lnSpc>
            <a:spcBef>
              <a:spcPct val="0"/>
            </a:spcBef>
            <a:spcAft>
              <a:spcPct val="15000"/>
            </a:spcAft>
            <a:buChar char="•"/>
          </a:pPr>
          <a:r>
            <a:rPr lang="fr-CA" sz="2400" kern="1200" dirty="0"/>
            <a:t>Par unités d’affaires et/ou gamme de produits</a:t>
          </a:r>
        </a:p>
      </dsp:txBody>
      <dsp:txXfrm rot="-5400000">
        <a:off x="982961" y="1254585"/>
        <a:ext cx="9888131" cy="823635"/>
      </dsp:txXfrm>
    </dsp:sp>
    <dsp:sp modelId="{64242748-E8D7-4648-994B-C25F8DA29F1E}">
      <dsp:nvSpPr>
        <dsp:cNvPr id="0" name=""/>
        <dsp:cNvSpPr/>
      </dsp:nvSpPr>
      <dsp:spPr>
        <a:xfrm rot="5400000">
          <a:off x="-210634" y="2628198"/>
          <a:ext cx="1404230" cy="982961"/>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fr-CA" sz="1100" kern="1200" dirty="0"/>
            <a:t>Stratégies fonctionnelles</a:t>
          </a:r>
        </a:p>
      </dsp:txBody>
      <dsp:txXfrm rot="-5400000">
        <a:off x="1" y="2909045"/>
        <a:ext cx="982961" cy="421269"/>
      </dsp:txXfrm>
    </dsp:sp>
    <dsp:sp modelId="{492BC9C9-6E7C-480A-8963-31812CE197A8}">
      <dsp:nvSpPr>
        <dsp:cNvPr id="0" name=""/>
        <dsp:cNvSpPr/>
      </dsp:nvSpPr>
      <dsp:spPr>
        <a:xfrm rot="5400000">
          <a:off x="5492930" y="-2092405"/>
          <a:ext cx="912749" cy="9932688"/>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l" defTabSz="1066800">
            <a:lnSpc>
              <a:spcPct val="90000"/>
            </a:lnSpc>
            <a:spcBef>
              <a:spcPct val="0"/>
            </a:spcBef>
            <a:spcAft>
              <a:spcPct val="15000"/>
            </a:spcAft>
            <a:buChar char="•"/>
          </a:pPr>
          <a:r>
            <a:rPr lang="fr-CA" sz="2400" kern="1200" dirty="0"/>
            <a:t>Application de la stratégie concurrentielle aux fonctions de l’entreprise</a:t>
          </a:r>
        </a:p>
        <a:p>
          <a:pPr marL="228600" lvl="1" indent="-228600" algn="l" defTabSz="1066800">
            <a:lnSpc>
              <a:spcPct val="90000"/>
            </a:lnSpc>
            <a:spcBef>
              <a:spcPct val="0"/>
            </a:spcBef>
            <a:spcAft>
              <a:spcPct val="15000"/>
            </a:spcAft>
            <a:buChar char="•"/>
          </a:pPr>
          <a:r>
            <a:rPr lang="fr-CA" sz="2400" kern="1200" dirty="0"/>
            <a:t>Recherche et développement, Marketing</a:t>
          </a:r>
        </a:p>
      </dsp:txBody>
      <dsp:txXfrm rot="-5400000">
        <a:off x="982961" y="2462121"/>
        <a:ext cx="9888131" cy="82363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8D13E4-7372-4207-9196-068383D27AC3}">
      <dsp:nvSpPr>
        <dsp:cNvPr id="0" name=""/>
        <dsp:cNvSpPr/>
      </dsp:nvSpPr>
      <dsp:spPr>
        <a:xfrm>
          <a:off x="3411" y="17211"/>
          <a:ext cx="3325862" cy="1330344"/>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fr-CA" sz="2400" b="1" kern="1200" dirty="0"/>
            <a:t>Excellence opérationnelle</a:t>
          </a:r>
        </a:p>
      </dsp:txBody>
      <dsp:txXfrm>
        <a:off x="3411" y="17211"/>
        <a:ext cx="3325862" cy="1330344"/>
      </dsp:txXfrm>
    </dsp:sp>
    <dsp:sp modelId="{4181D57F-2832-4DC1-A25B-AEA745E51898}">
      <dsp:nvSpPr>
        <dsp:cNvPr id="0" name=""/>
        <dsp:cNvSpPr/>
      </dsp:nvSpPr>
      <dsp:spPr>
        <a:xfrm>
          <a:off x="3411" y="1347555"/>
          <a:ext cx="3325862" cy="2459519"/>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fr-CA" sz="2400" kern="1200" dirty="0"/>
            <a:t>Produits ou service à un prix inférieur à la concurrence</a:t>
          </a:r>
        </a:p>
      </dsp:txBody>
      <dsp:txXfrm>
        <a:off x="3411" y="1347555"/>
        <a:ext cx="3325862" cy="2459519"/>
      </dsp:txXfrm>
    </dsp:sp>
    <dsp:sp modelId="{35058660-0EC5-469F-99D6-7632925130FB}">
      <dsp:nvSpPr>
        <dsp:cNvPr id="0" name=""/>
        <dsp:cNvSpPr/>
      </dsp:nvSpPr>
      <dsp:spPr>
        <a:xfrm>
          <a:off x="3794893" y="17211"/>
          <a:ext cx="3325862" cy="1330344"/>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fr-CA" sz="2400" b="1" kern="1200" dirty="0"/>
            <a:t>Leadership produit</a:t>
          </a:r>
        </a:p>
      </dsp:txBody>
      <dsp:txXfrm>
        <a:off x="3794893" y="17211"/>
        <a:ext cx="3325862" cy="1330344"/>
      </dsp:txXfrm>
    </dsp:sp>
    <dsp:sp modelId="{06DC0DA4-1AB6-4A93-8ECB-67693291F554}">
      <dsp:nvSpPr>
        <dsp:cNvPr id="0" name=""/>
        <dsp:cNvSpPr/>
      </dsp:nvSpPr>
      <dsp:spPr>
        <a:xfrm>
          <a:off x="3794893" y="1347555"/>
          <a:ext cx="3325862" cy="2459519"/>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fr-CA" sz="2400" kern="1200" dirty="0"/>
            <a:t>Produits de qualité supérieur</a:t>
          </a:r>
        </a:p>
        <a:p>
          <a:pPr marL="228600" lvl="1" indent="-228600" algn="l" defTabSz="1066800">
            <a:lnSpc>
              <a:spcPct val="90000"/>
            </a:lnSpc>
            <a:spcBef>
              <a:spcPct val="0"/>
            </a:spcBef>
            <a:spcAft>
              <a:spcPct val="15000"/>
            </a:spcAft>
            <a:buChar char="•"/>
          </a:pPr>
          <a:r>
            <a:rPr lang="fr-CA" sz="2400" kern="1200" dirty="0"/>
            <a:t>Produits innovants</a:t>
          </a:r>
        </a:p>
      </dsp:txBody>
      <dsp:txXfrm>
        <a:off x="3794893" y="1347555"/>
        <a:ext cx="3325862" cy="2459519"/>
      </dsp:txXfrm>
    </dsp:sp>
    <dsp:sp modelId="{7AB8B0FF-AE90-4F69-AAF2-8FE430FA0D65}">
      <dsp:nvSpPr>
        <dsp:cNvPr id="0" name=""/>
        <dsp:cNvSpPr/>
      </dsp:nvSpPr>
      <dsp:spPr>
        <a:xfrm>
          <a:off x="7586376" y="17211"/>
          <a:ext cx="3325862" cy="1330344"/>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fr-CA" sz="2400" b="1" kern="1200" dirty="0"/>
            <a:t>Connaissance intime du client</a:t>
          </a:r>
        </a:p>
      </dsp:txBody>
      <dsp:txXfrm>
        <a:off x="7586376" y="17211"/>
        <a:ext cx="3325862" cy="1330344"/>
      </dsp:txXfrm>
    </dsp:sp>
    <dsp:sp modelId="{F1327FA7-933F-40DA-A893-CA984FF871B4}">
      <dsp:nvSpPr>
        <dsp:cNvPr id="0" name=""/>
        <dsp:cNvSpPr/>
      </dsp:nvSpPr>
      <dsp:spPr>
        <a:xfrm>
          <a:off x="7586376" y="1347555"/>
          <a:ext cx="3325862" cy="2459519"/>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fr-CA" sz="2400" kern="1200" dirty="0"/>
            <a:t>Compréhension des besoins du clients et adaptation du produit</a:t>
          </a:r>
        </a:p>
        <a:p>
          <a:pPr marL="228600" lvl="1" indent="-228600" algn="l" defTabSz="1066800">
            <a:lnSpc>
              <a:spcPct val="90000"/>
            </a:lnSpc>
            <a:spcBef>
              <a:spcPct val="0"/>
            </a:spcBef>
            <a:spcAft>
              <a:spcPct val="15000"/>
            </a:spcAft>
            <a:buChar char="•"/>
          </a:pPr>
          <a:r>
            <a:rPr lang="fr-CA" sz="2400" kern="1200" dirty="0"/>
            <a:t>Approche sur mesure</a:t>
          </a:r>
        </a:p>
      </dsp:txBody>
      <dsp:txXfrm>
        <a:off x="7586376" y="1347555"/>
        <a:ext cx="3325862" cy="245951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7EB05B-ACFD-48E2-A971-1CE5DA3507C1}">
      <dsp:nvSpPr>
        <dsp:cNvPr id="0" name=""/>
        <dsp:cNvSpPr/>
      </dsp:nvSpPr>
      <dsp:spPr>
        <a:xfrm>
          <a:off x="-4323128" y="-663177"/>
          <a:ext cx="5150641" cy="5150641"/>
        </a:xfrm>
        <a:prstGeom prst="blockArc">
          <a:avLst>
            <a:gd name="adj1" fmla="val 18900000"/>
            <a:gd name="adj2" fmla="val 2700000"/>
            <a:gd name="adj3" fmla="val 419"/>
          </a:avLst>
        </a:pr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85424B7-2BA5-40B5-8D79-1CB111997A6B}">
      <dsp:nvSpPr>
        <dsp:cNvPr id="0" name=""/>
        <dsp:cNvSpPr/>
      </dsp:nvSpPr>
      <dsp:spPr>
        <a:xfrm>
          <a:off x="433519" y="294011"/>
          <a:ext cx="10430730" cy="588328"/>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66986" tIns="81280" rIns="81280" bIns="81280" numCol="1" spcCol="1270" anchor="ctr" anchorCtr="0">
          <a:noAutofit/>
        </a:bodyPr>
        <a:lstStyle/>
        <a:p>
          <a:pPr marL="0" lvl="0" indent="0" algn="l" defTabSz="1422400">
            <a:lnSpc>
              <a:spcPct val="90000"/>
            </a:lnSpc>
            <a:spcBef>
              <a:spcPct val="0"/>
            </a:spcBef>
            <a:spcAft>
              <a:spcPct val="35000"/>
            </a:spcAft>
            <a:buNone/>
          </a:pPr>
          <a:r>
            <a:rPr lang="fr-CA" sz="3200" kern="1200" dirty="0"/>
            <a:t>Analyse des facteurs clés de succès </a:t>
          </a:r>
        </a:p>
      </dsp:txBody>
      <dsp:txXfrm>
        <a:off x="433519" y="294011"/>
        <a:ext cx="10430730" cy="588328"/>
      </dsp:txXfrm>
    </dsp:sp>
    <dsp:sp modelId="{EA042A75-79C7-4D2B-803D-B040AAFAE43D}">
      <dsp:nvSpPr>
        <dsp:cNvPr id="0" name=""/>
        <dsp:cNvSpPr/>
      </dsp:nvSpPr>
      <dsp:spPr>
        <a:xfrm>
          <a:off x="65813" y="220470"/>
          <a:ext cx="735410" cy="735410"/>
        </a:xfrm>
        <a:prstGeom prst="ellipse">
          <a:avLst/>
        </a:prstGeom>
        <a:solidFill>
          <a:schemeClr val="lt1">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FEF69B9-7605-41ED-BC4B-608F80858C6E}">
      <dsp:nvSpPr>
        <dsp:cNvPr id="0" name=""/>
        <dsp:cNvSpPr/>
      </dsp:nvSpPr>
      <dsp:spPr>
        <a:xfrm>
          <a:off x="770821" y="1176656"/>
          <a:ext cx="10093428" cy="588328"/>
        </a:xfrm>
        <a:prstGeom prst="rect">
          <a:avLst/>
        </a:prstGeom>
        <a:solidFill>
          <a:schemeClr val="accent5">
            <a:hueOff val="474288"/>
            <a:satOff val="0"/>
            <a:lumOff val="-189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66986" tIns="81280" rIns="81280" bIns="81280" numCol="1" spcCol="1270" anchor="ctr" anchorCtr="0">
          <a:noAutofit/>
        </a:bodyPr>
        <a:lstStyle/>
        <a:p>
          <a:pPr marL="0" lvl="0" indent="0" algn="l" defTabSz="1422400">
            <a:lnSpc>
              <a:spcPct val="90000"/>
            </a:lnSpc>
            <a:spcBef>
              <a:spcPct val="0"/>
            </a:spcBef>
            <a:spcAft>
              <a:spcPct val="35000"/>
            </a:spcAft>
            <a:buNone/>
          </a:pPr>
          <a:r>
            <a:rPr lang="fr-CA" sz="3200" kern="1200" dirty="0"/>
            <a:t>Analyse de l’environnement interne</a:t>
          </a:r>
        </a:p>
      </dsp:txBody>
      <dsp:txXfrm>
        <a:off x="770821" y="1176656"/>
        <a:ext cx="10093428" cy="588328"/>
      </dsp:txXfrm>
    </dsp:sp>
    <dsp:sp modelId="{8337092D-8EA1-40E4-906D-57BECD92FA6E}">
      <dsp:nvSpPr>
        <dsp:cNvPr id="0" name=""/>
        <dsp:cNvSpPr/>
      </dsp:nvSpPr>
      <dsp:spPr>
        <a:xfrm>
          <a:off x="403115" y="1103115"/>
          <a:ext cx="735410" cy="735410"/>
        </a:xfrm>
        <a:prstGeom prst="ellipse">
          <a:avLst/>
        </a:prstGeom>
        <a:solidFill>
          <a:schemeClr val="lt1">
            <a:hueOff val="0"/>
            <a:satOff val="0"/>
            <a:lumOff val="0"/>
            <a:alphaOff val="0"/>
          </a:schemeClr>
        </a:solidFill>
        <a:ln w="25400" cap="flat" cmpd="sng" algn="ctr">
          <a:solidFill>
            <a:schemeClr val="accent5">
              <a:hueOff val="474288"/>
              <a:satOff val="0"/>
              <a:lumOff val="-1896"/>
              <a:alphaOff val="0"/>
            </a:schemeClr>
          </a:solidFill>
          <a:prstDash val="solid"/>
        </a:ln>
        <a:effectLst/>
      </dsp:spPr>
      <dsp:style>
        <a:lnRef idx="2">
          <a:scrgbClr r="0" g="0" b="0"/>
        </a:lnRef>
        <a:fillRef idx="1">
          <a:scrgbClr r="0" g="0" b="0"/>
        </a:fillRef>
        <a:effectRef idx="0">
          <a:scrgbClr r="0" g="0" b="0"/>
        </a:effectRef>
        <a:fontRef idx="minor"/>
      </dsp:style>
    </dsp:sp>
    <dsp:sp modelId="{8B17AF25-5E89-4444-B83E-DF3A1B7BEBA2}">
      <dsp:nvSpPr>
        <dsp:cNvPr id="0" name=""/>
        <dsp:cNvSpPr/>
      </dsp:nvSpPr>
      <dsp:spPr>
        <a:xfrm>
          <a:off x="822221" y="2029362"/>
          <a:ext cx="10093428" cy="588328"/>
        </a:xfrm>
        <a:prstGeom prst="rect">
          <a:avLst/>
        </a:prstGeom>
        <a:solidFill>
          <a:schemeClr val="accent5">
            <a:hueOff val="948576"/>
            <a:satOff val="0"/>
            <a:lumOff val="-379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66986" tIns="81280" rIns="81280" bIns="81280" numCol="1" spcCol="1270" anchor="ctr" anchorCtr="0">
          <a:noAutofit/>
        </a:bodyPr>
        <a:lstStyle/>
        <a:p>
          <a:pPr marL="0" lvl="0" indent="0" algn="l" defTabSz="1422400">
            <a:lnSpc>
              <a:spcPct val="90000"/>
            </a:lnSpc>
            <a:spcBef>
              <a:spcPct val="0"/>
            </a:spcBef>
            <a:spcAft>
              <a:spcPct val="35000"/>
            </a:spcAft>
            <a:buNone/>
          </a:pPr>
          <a:r>
            <a:rPr lang="fr-CA" sz="3200" kern="1200" dirty="0"/>
            <a:t>Analyse de l’environnement externe </a:t>
          </a:r>
        </a:p>
      </dsp:txBody>
      <dsp:txXfrm>
        <a:off x="822221" y="2029362"/>
        <a:ext cx="10093428" cy="588328"/>
      </dsp:txXfrm>
    </dsp:sp>
    <dsp:sp modelId="{97AE15D7-E20A-4443-8DA4-C7511AB73199}">
      <dsp:nvSpPr>
        <dsp:cNvPr id="0" name=""/>
        <dsp:cNvSpPr/>
      </dsp:nvSpPr>
      <dsp:spPr>
        <a:xfrm>
          <a:off x="403115" y="1985761"/>
          <a:ext cx="735410" cy="735410"/>
        </a:xfrm>
        <a:prstGeom prst="ellipse">
          <a:avLst/>
        </a:prstGeom>
        <a:solidFill>
          <a:schemeClr val="lt1">
            <a:hueOff val="0"/>
            <a:satOff val="0"/>
            <a:lumOff val="0"/>
            <a:alphaOff val="0"/>
          </a:schemeClr>
        </a:solidFill>
        <a:ln w="25400" cap="flat" cmpd="sng" algn="ctr">
          <a:solidFill>
            <a:schemeClr val="accent5">
              <a:hueOff val="948576"/>
              <a:satOff val="0"/>
              <a:lumOff val="-3791"/>
              <a:alphaOff val="0"/>
            </a:schemeClr>
          </a:solidFill>
          <a:prstDash val="solid"/>
        </a:ln>
        <a:effectLst/>
      </dsp:spPr>
      <dsp:style>
        <a:lnRef idx="2">
          <a:scrgbClr r="0" g="0" b="0"/>
        </a:lnRef>
        <a:fillRef idx="1">
          <a:scrgbClr r="0" g="0" b="0"/>
        </a:fillRef>
        <a:effectRef idx="0">
          <a:scrgbClr r="0" g="0" b="0"/>
        </a:effectRef>
        <a:fontRef idx="minor"/>
      </dsp:style>
    </dsp:sp>
    <dsp:sp modelId="{558B1742-C106-4AFF-85AC-86AA0D732C7E}">
      <dsp:nvSpPr>
        <dsp:cNvPr id="0" name=""/>
        <dsp:cNvSpPr/>
      </dsp:nvSpPr>
      <dsp:spPr>
        <a:xfrm>
          <a:off x="433519" y="2941947"/>
          <a:ext cx="10430730" cy="588328"/>
        </a:xfrm>
        <a:prstGeom prst="rect">
          <a:avLst/>
        </a:prstGeom>
        <a:solidFill>
          <a:schemeClr val="accent5">
            <a:hueOff val="1422864"/>
            <a:satOff val="0"/>
            <a:lumOff val="-568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66986" tIns="81280" rIns="81280" bIns="81280" numCol="1" spcCol="1270" anchor="ctr" anchorCtr="0">
          <a:noAutofit/>
        </a:bodyPr>
        <a:lstStyle/>
        <a:p>
          <a:pPr marL="0" lvl="0" indent="0" algn="l" defTabSz="1422400">
            <a:lnSpc>
              <a:spcPct val="90000"/>
            </a:lnSpc>
            <a:spcBef>
              <a:spcPct val="0"/>
            </a:spcBef>
            <a:spcAft>
              <a:spcPct val="35000"/>
            </a:spcAft>
            <a:buNone/>
          </a:pPr>
          <a:r>
            <a:rPr lang="fr-CA" sz="3200" kern="1200" dirty="0"/>
            <a:t>Analyse financière</a:t>
          </a:r>
        </a:p>
      </dsp:txBody>
      <dsp:txXfrm>
        <a:off x="433519" y="2941947"/>
        <a:ext cx="10430730" cy="588328"/>
      </dsp:txXfrm>
    </dsp:sp>
    <dsp:sp modelId="{93682A9D-00E5-43F4-A62D-974537D2E784}">
      <dsp:nvSpPr>
        <dsp:cNvPr id="0" name=""/>
        <dsp:cNvSpPr/>
      </dsp:nvSpPr>
      <dsp:spPr>
        <a:xfrm>
          <a:off x="65813" y="2868406"/>
          <a:ext cx="735410" cy="735410"/>
        </a:xfrm>
        <a:prstGeom prst="ellipse">
          <a:avLst/>
        </a:prstGeom>
        <a:solidFill>
          <a:schemeClr val="lt1">
            <a:hueOff val="0"/>
            <a:satOff val="0"/>
            <a:lumOff val="0"/>
            <a:alphaOff val="0"/>
          </a:schemeClr>
        </a:solidFill>
        <a:ln w="25400" cap="flat" cmpd="sng" algn="ctr">
          <a:solidFill>
            <a:schemeClr val="accent5">
              <a:hueOff val="1422864"/>
              <a:satOff val="0"/>
              <a:lumOff val="-5687"/>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6C47A2-B3DF-4A54-89CD-358E7161E36C}">
      <dsp:nvSpPr>
        <dsp:cNvPr id="0" name=""/>
        <dsp:cNvSpPr/>
      </dsp:nvSpPr>
      <dsp:spPr>
        <a:xfrm>
          <a:off x="558245" y="604913"/>
          <a:ext cx="1445517" cy="144551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95DFD5E-08FA-4E7E-82DB-3AF699F3FEC2}">
      <dsp:nvSpPr>
        <dsp:cNvPr id="0" name=""/>
        <dsp:cNvSpPr/>
      </dsp:nvSpPr>
      <dsp:spPr>
        <a:xfrm>
          <a:off x="866306" y="912974"/>
          <a:ext cx="829395" cy="82939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3F8608C-8BAC-4B76-8438-278C2DADBBFB}">
      <dsp:nvSpPr>
        <dsp:cNvPr id="0" name=""/>
        <dsp:cNvSpPr/>
      </dsp:nvSpPr>
      <dsp:spPr>
        <a:xfrm>
          <a:off x="96153" y="2500673"/>
          <a:ext cx="23697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90000"/>
            </a:lnSpc>
            <a:spcBef>
              <a:spcPct val="0"/>
            </a:spcBef>
            <a:spcAft>
              <a:spcPct val="35000"/>
            </a:spcAft>
            <a:buNone/>
            <a:defRPr cap="all"/>
          </a:pPr>
          <a:r>
            <a:rPr lang="fr-CA" sz="2700" kern="1200"/>
            <a:t>Forces </a:t>
          </a:r>
        </a:p>
      </dsp:txBody>
      <dsp:txXfrm>
        <a:off x="96153" y="2500673"/>
        <a:ext cx="2369700" cy="720000"/>
      </dsp:txXfrm>
    </dsp:sp>
    <dsp:sp modelId="{A6439513-019C-409B-9B17-A69C4FDD2074}">
      <dsp:nvSpPr>
        <dsp:cNvPr id="0" name=""/>
        <dsp:cNvSpPr/>
      </dsp:nvSpPr>
      <dsp:spPr>
        <a:xfrm>
          <a:off x="3342642" y="604913"/>
          <a:ext cx="1445517" cy="144551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5E33DD8-57D7-45C0-A5FA-8DB219243017}">
      <dsp:nvSpPr>
        <dsp:cNvPr id="0" name=""/>
        <dsp:cNvSpPr/>
      </dsp:nvSpPr>
      <dsp:spPr>
        <a:xfrm>
          <a:off x="3650703" y="912974"/>
          <a:ext cx="829395" cy="82939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46125DF-259F-4D56-A104-BF3D8A7D6DFB}">
      <dsp:nvSpPr>
        <dsp:cNvPr id="0" name=""/>
        <dsp:cNvSpPr/>
      </dsp:nvSpPr>
      <dsp:spPr>
        <a:xfrm>
          <a:off x="2880551" y="2500673"/>
          <a:ext cx="23697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90000"/>
            </a:lnSpc>
            <a:spcBef>
              <a:spcPct val="0"/>
            </a:spcBef>
            <a:spcAft>
              <a:spcPct val="35000"/>
            </a:spcAft>
            <a:buNone/>
            <a:defRPr cap="all"/>
          </a:pPr>
          <a:r>
            <a:rPr lang="fr-CA" sz="2700" kern="1200"/>
            <a:t>Faiblesses</a:t>
          </a:r>
        </a:p>
      </dsp:txBody>
      <dsp:txXfrm>
        <a:off x="2880551" y="2500673"/>
        <a:ext cx="2369700" cy="720000"/>
      </dsp:txXfrm>
    </dsp:sp>
    <dsp:sp modelId="{5BE0A21A-D235-49CB-B551-4B93466CAC6C}">
      <dsp:nvSpPr>
        <dsp:cNvPr id="0" name=""/>
        <dsp:cNvSpPr/>
      </dsp:nvSpPr>
      <dsp:spPr>
        <a:xfrm>
          <a:off x="6127040" y="604913"/>
          <a:ext cx="1445517" cy="144551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7CE112-5BD5-4AB4-8A25-7FD95851DDA8}">
      <dsp:nvSpPr>
        <dsp:cNvPr id="0" name=""/>
        <dsp:cNvSpPr/>
      </dsp:nvSpPr>
      <dsp:spPr>
        <a:xfrm>
          <a:off x="6435101" y="912974"/>
          <a:ext cx="829395" cy="82939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09570ED-983B-44B7-A8A5-C88F44B8260D}">
      <dsp:nvSpPr>
        <dsp:cNvPr id="0" name=""/>
        <dsp:cNvSpPr/>
      </dsp:nvSpPr>
      <dsp:spPr>
        <a:xfrm>
          <a:off x="5664948" y="2500673"/>
          <a:ext cx="23697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90000"/>
            </a:lnSpc>
            <a:spcBef>
              <a:spcPct val="0"/>
            </a:spcBef>
            <a:spcAft>
              <a:spcPct val="35000"/>
            </a:spcAft>
            <a:buNone/>
            <a:defRPr cap="all"/>
          </a:pPr>
          <a:r>
            <a:rPr lang="fr-CA" sz="2700" kern="1200"/>
            <a:t>Possibilités</a:t>
          </a:r>
        </a:p>
      </dsp:txBody>
      <dsp:txXfrm>
        <a:off x="5664948" y="2500673"/>
        <a:ext cx="2369700" cy="720000"/>
      </dsp:txXfrm>
    </dsp:sp>
    <dsp:sp modelId="{9DD88212-C8B3-4144-9B77-F79457E155D8}">
      <dsp:nvSpPr>
        <dsp:cNvPr id="0" name=""/>
        <dsp:cNvSpPr/>
      </dsp:nvSpPr>
      <dsp:spPr>
        <a:xfrm>
          <a:off x="8911437" y="604913"/>
          <a:ext cx="1445517" cy="144551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A1C901-C54F-45AC-82DC-F5C258ED0EAF}">
      <dsp:nvSpPr>
        <dsp:cNvPr id="0" name=""/>
        <dsp:cNvSpPr/>
      </dsp:nvSpPr>
      <dsp:spPr>
        <a:xfrm>
          <a:off x="9219498" y="912974"/>
          <a:ext cx="829395" cy="82939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31BB6B7-F332-4AB7-97F0-19B002A54DD4}">
      <dsp:nvSpPr>
        <dsp:cNvPr id="0" name=""/>
        <dsp:cNvSpPr/>
      </dsp:nvSpPr>
      <dsp:spPr>
        <a:xfrm>
          <a:off x="8449346" y="2500673"/>
          <a:ext cx="23697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90000"/>
            </a:lnSpc>
            <a:spcBef>
              <a:spcPct val="0"/>
            </a:spcBef>
            <a:spcAft>
              <a:spcPct val="35000"/>
            </a:spcAft>
            <a:buNone/>
            <a:defRPr cap="all"/>
          </a:pPr>
          <a:r>
            <a:rPr lang="fr-CA" sz="2700" kern="1200" dirty="0"/>
            <a:t>Menaces</a:t>
          </a:r>
        </a:p>
      </dsp:txBody>
      <dsp:txXfrm>
        <a:off x="8449346" y="2500673"/>
        <a:ext cx="2369700" cy="7200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C617E5-710C-4755-A7F9-BE4D2B779506}">
      <dsp:nvSpPr>
        <dsp:cNvPr id="0" name=""/>
        <dsp:cNvSpPr/>
      </dsp:nvSpPr>
      <dsp:spPr>
        <a:xfrm>
          <a:off x="4164846" y="1358826"/>
          <a:ext cx="2448600" cy="244860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fr-CA" sz="2400" kern="1200" dirty="0"/>
            <a:t>Intensité de la concurrence </a:t>
          </a:r>
        </a:p>
      </dsp:txBody>
      <dsp:txXfrm>
        <a:off x="4523435" y="1717415"/>
        <a:ext cx="1731422" cy="1731422"/>
      </dsp:txXfrm>
    </dsp:sp>
    <dsp:sp modelId="{15A0C236-2D8A-4F40-BD3E-E228E3F0EA2C}">
      <dsp:nvSpPr>
        <dsp:cNvPr id="0" name=""/>
        <dsp:cNvSpPr/>
      </dsp:nvSpPr>
      <dsp:spPr>
        <a:xfrm rot="16259666">
          <a:off x="4984410" y="525192"/>
          <a:ext cx="868801" cy="697851"/>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F9CA977-DF5D-4AF7-8C49-A301099FCD68}">
      <dsp:nvSpPr>
        <dsp:cNvPr id="0" name=""/>
        <dsp:cNvSpPr/>
      </dsp:nvSpPr>
      <dsp:spPr>
        <a:xfrm>
          <a:off x="2812001" y="96393"/>
          <a:ext cx="5228697" cy="68677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1511300">
            <a:lnSpc>
              <a:spcPct val="90000"/>
            </a:lnSpc>
            <a:spcBef>
              <a:spcPct val="0"/>
            </a:spcBef>
            <a:spcAft>
              <a:spcPct val="35000"/>
            </a:spcAft>
            <a:buNone/>
          </a:pPr>
          <a:r>
            <a:rPr lang="fr-CA" sz="3400" kern="1200" dirty="0"/>
            <a:t>Nouveaux entrants</a:t>
          </a:r>
        </a:p>
      </dsp:txBody>
      <dsp:txXfrm>
        <a:off x="2832116" y="116508"/>
        <a:ext cx="5188467" cy="646548"/>
      </dsp:txXfrm>
    </dsp:sp>
    <dsp:sp modelId="{48A9639B-CC51-4523-8FCA-849A21EA3BB2}">
      <dsp:nvSpPr>
        <dsp:cNvPr id="0" name=""/>
        <dsp:cNvSpPr/>
      </dsp:nvSpPr>
      <dsp:spPr>
        <a:xfrm rot="10776448">
          <a:off x="1727616" y="2172593"/>
          <a:ext cx="2470160" cy="697851"/>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BDB8CA6-42AE-4B3E-82E4-3A3EC4BD4F81}">
      <dsp:nvSpPr>
        <dsp:cNvPr id="0" name=""/>
        <dsp:cNvSpPr/>
      </dsp:nvSpPr>
      <dsp:spPr>
        <a:xfrm>
          <a:off x="109144" y="1378001"/>
          <a:ext cx="2673631" cy="230845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1511300">
            <a:lnSpc>
              <a:spcPct val="90000"/>
            </a:lnSpc>
            <a:spcBef>
              <a:spcPct val="0"/>
            </a:spcBef>
            <a:spcAft>
              <a:spcPct val="35000"/>
            </a:spcAft>
            <a:buNone/>
          </a:pPr>
          <a:r>
            <a:rPr lang="fr-CA" sz="3400" kern="1200" dirty="0"/>
            <a:t>Pouvoir de négociation des fournisseurs</a:t>
          </a:r>
        </a:p>
      </dsp:txBody>
      <dsp:txXfrm>
        <a:off x="176756" y="1445613"/>
        <a:ext cx="2538407" cy="2173230"/>
      </dsp:txXfrm>
    </dsp:sp>
    <dsp:sp modelId="{97C53EAD-6096-4820-A0AB-B0FFB3E6BC62}">
      <dsp:nvSpPr>
        <dsp:cNvPr id="0" name=""/>
        <dsp:cNvSpPr/>
      </dsp:nvSpPr>
      <dsp:spPr>
        <a:xfrm rot="21560163">
          <a:off x="6550762" y="2105165"/>
          <a:ext cx="3217529" cy="650509"/>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4CEEE08-0CC0-46B5-98F1-A6FB19B4B946}">
      <dsp:nvSpPr>
        <dsp:cNvPr id="0" name=""/>
        <dsp:cNvSpPr/>
      </dsp:nvSpPr>
      <dsp:spPr>
        <a:xfrm>
          <a:off x="7659757" y="1336933"/>
          <a:ext cx="3133957" cy="212249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1511300">
            <a:lnSpc>
              <a:spcPct val="90000"/>
            </a:lnSpc>
            <a:spcBef>
              <a:spcPct val="0"/>
            </a:spcBef>
            <a:spcAft>
              <a:spcPct val="35000"/>
            </a:spcAft>
            <a:buNone/>
          </a:pPr>
          <a:r>
            <a:rPr lang="fr-CA" sz="3400" kern="1200" dirty="0"/>
            <a:t>Pouvoir de négociation des clients</a:t>
          </a:r>
        </a:p>
      </dsp:txBody>
      <dsp:txXfrm>
        <a:off x="7721923" y="1399099"/>
        <a:ext cx="3009625" cy="1998159"/>
      </dsp:txXfrm>
    </dsp:sp>
    <dsp:sp modelId="{FA7D4EBC-C2D3-49B6-A936-91D76147D34A}">
      <dsp:nvSpPr>
        <dsp:cNvPr id="0" name=""/>
        <dsp:cNvSpPr/>
      </dsp:nvSpPr>
      <dsp:spPr>
        <a:xfrm rot="5338522">
          <a:off x="4990497" y="3899569"/>
          <a:ext cx="825809" cy="697851"/>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A7A15B3-24FD-40E9-A137-C2222925DF5E}">
      <dsp:nvSpPr>
        <dsp:cNvPr id="0" name=""/>
        <dsp:cNvSpPr/>
      </dsp:nvSpPr>
      <dsp:spPr>
        <a:xfrm>
          <a:off x="2948864" y="4350192"/>
          <a:ext cx="4955604" cy="66154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1511300">
            <a:lnSpc>
              <a:spcPct val="90000"/>
            </a:lnSpc>
            <a:spcBef>
              <a:spcPct val="0"/>
            </a:spcBef>
            <a:spcAft>
              <a:spcPct val="35000"/>
            </a:spcAft>
            <a:buNone/>
          </a:pPr>
          <a:r>
            <a:rPr lang="fr-CA" sz="3400" kern="1200" dirty="0"/>
            <a:t>Produits de substitution </a:t>
          </a:r>
        </a:p>
      </dsp:txBody>
      <dsp:txXfrm>
        <a:off x="2968240" y="4369568"/>
        <a:ext cx="4916852" cy="62279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22A373-02F2-492A-8C79-5A96AE30837F}">
      <dsp:nvSpPr>
        <dsp:cNvPr id="0" name=""/>
        <dsp:cNvSpPr/>
      </dsp:nvSpPr>
      <dsp:spPr>
        <a:xfrm>
          <a:off x="7449" y="630453"/>
          <a:ext cx="843117" cy="84311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E4A6DCE-F77F-4CDD-8B4F-867F2FCCF212}">
      <dsp:nvSpPr>
        <dsp:cNvPr id="0" name=""/>
        <dsp:cNvSpPr/>
      </dsp:nvSpPr>
      <dsp:spPr>
        <a:xfrm>
          <a:off x="7449" y="1583851"/>
          <a:ext cx="2408906" cy="361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100000"/>
            </a:lnSpc>
            <a:spcBef>
              <a:spcPct val="0"/>
            </a:spcBef>
            <a:spcAft>
              <a:spcPct val="35000"/>
            </a:spcAft>
            <a:buNone/>
            <a:defRPr b="1"/>
          </a:pPr>
          <a:r>
            <a:rPr lang="fr-CA" sz="2400" kern="1200"/>
            <a:t>Rentabilité </a:t>
          </a:r>
          <a:endParaRPr lang="en-US" sz="2400" kern="1200"/>
        </a:p>
      </dsp:txBody>
      <dsp:txXfrm>
        <a:off x="7449" y="1583851"/>
        <a:ext cx="2408906" cy="361335"/>
      </dsp:txXfrm>
    </dsp:sp>
    <dsp:sp modelId="{5EB1E0D8-04D4-42EB-A4FD-D6F3C81968FF}">
      <dsp:nvSpPr>
        <dsp:cNvPr id="0" name=""/>
        <dsp:cNvSpPr/>
      </dsp:nvSpPr>
      <dsp:spPr>
        <a:xfrm>
          <a:off x="7449" y="1996481"/>
          <a:ext cx="2408906" cy="11986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fr-CA" sz="1700" kern="1200" dirty="0"/>
            <a:t>Marges</a:t>
          </a:r>
          <a:endParaRPr lang="en-US" sz="1700" kern="1200" dirty="0"/>
        </a:p>
        <a:p>
          <a:pPr marL="0" lvl="0" indent="0" algn="l" defTabSz="755650">
            <a:lnSpc>
              <a:spcPct val="100000"/>
            </a:lnSpc>
            <a:spcBef>
              <a:spcPct val="0"/>
            </a:spcBef>
            <a:spcAft>
              <a:spcPct val="35000"/>
            </a:spcAft>
            <a:buNone/>
          </a:pPr>
          <a:r>
            <a:rPr lang="en-US" sz="1700" kern="1200" dirty="0" err="1"/>
            <a:t>Rendement</a:t>
          </a:r>
          <a:r>
            <a:rPr lang="en-US" sz="1700" kern="1200" dirty="0"/>
            <a:t> des CP</a:t>
          </a:r>
        </a:p>
      </dsp:txBody>
      <dsp:txXfrm>
        <a:off x="7449" y="1996481"/>
        <a:ext cx="2408906" cy="1198652"/>
      </dsp:txXfrm>
    </dsp:sp>
    <dsp:sp modelId="{5FC33A2A-783F-4BF7-AE26-1C396B67B7B6}">
      <dsp:nvSpPr>
        <dsp:cNvPr id="0" name=""/>
        <dsp:cNvSpPr/>
      </dsp:nvSpPr>
      <dsp:spPr>
        <a:xfrm>
          <a:off x="2837914" y="630453"/>
          <a:ext cx="843117" cy="84311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A265D79-5435-4131-9F12-560D260E47CC}">
      <dsp:nvSpPr>
        <dsp:cNvPr id="0" name=""/>
        <dsp:cNvSpPr/>
      </dsp:nvSpPr>
      <dsp:spPr>
        <a:xfrm>
          <a:off x="2837914" y="1583851"/>
          <a:ext cx="2408906" cy="361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100000"/>
            </a:lnSpc>
            <a:spcBef>
              <a:spcPct val="0"/>
            </a:spcBef>
            <a:spcAft>
              <a:spcPct val="35000"/>
            </a:spcAft>
            <a:buNone/>
            <a:defRPr b="1"/>
          </a:pPr>
          <a:r>
            <a:rPr lang="fr-CA" sz="2400" kern="1200"/>
            <a:t>Liquidité </a:t>
          </a:r>
          <a:endParaRPr lang="en-US" sz="2400" kern="1200"/>
        </a:p>
      </dsp:txBody>
      <dsp:txXfrm>
        <a:off x="2837914" y="1583851"/>
        <a:ext cx="2408906" cy="361335"/>
      </dsp:txXfrm>
    </dsp:sp>
    <dsp:sp modelId="{839D9981-52DE-4C17-BA5B-D0344BD66E91}">
      <dsp:nvSpPr>
        <dsp:cNvPr id="0" name=""/>
        <dsp:cNvSpPr/>
      </dsp:nvSpPr>
      <dsp:spPr>
        <a:xfrm>
          <a:off x="2837914" y="1996481"/>
          <a:ext cx="2408906" cy="11986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fr-CA" sz="1700" kern="1200"/>
            <a:t>Fonds de roulement</a:t>
          </a:r>
          <a:endParaRPr lang="en-US" sz="1700" kern="1200"/>
        </a:p>
        <a:p>
          <a:pPr marL="0" lvl="0" indent="0" algn="l" defTabSz="755650">
            <a:lnSpc>
              <a:spcPct val="100000"/>
            </a:lnSpc>
            <a:spcBef>
              <a:spcPct val="0"/>
            </a:spcBef>
            <a:spcAft>
              <a:spcPct val="35000"/>
            </a:spcAft>
            <a:buNone/>
          </a:pPr>
          <a:r>
            <a:rPr lang="fr-CA" sz="1700" kern="1200"/>
            <a:t>Flux générés par les opérations</a:t>
          </a:r>
          <a:endParaRPr lang="en-US" sz="1700" kern="1200"/>
        </a:p>
        <a:p>
          <a:pPr marL="0" lvl="0" indent="0" algn="l" defTabSz="755650">
            <a:lnSpc>
              <a:spcPct val="100000"/>
            </a:lnSpc>
            <a:spcBef>
              <a:spcPct val="0"/>
            </a:spcBef>
            <a:spcAft>
              <a:spcPct val="35000"/>
            </a:spcAft>
            <a:buNone/>
          </a:pPr>
          <a:r>
            <a:rPr lang="fr-CA" sz="1700" kern="1200"/>
            <a:t>Liquidités</a:t>
          </a:r>
          <a:endParaRPr lang="en-US" sz="1700" kern="1200"/>
        </a:p>
      </dsp:txBody>
      <dsp:txXfrm>
        <a:off x="2837914" y="1996481"/>
        <a:ext cx="2408906" cy="1198652"/>
      </dsp:txXfrm>
    </dsp:sp>
    <dsp:sp modelId="{2CEBBE4D-888F-4F7C-A797-65DEB843C016}">
      <dsp:nvSpPr>
        <dsp:cNvPr id="0" name=""/>
        <dsp:cNvSpPr/>
      </dsp:nvSpPr>
      <dsp:spPr>
        <a:xfrm>
          <a:off x="5668379" y="630453"/>
          <a:ext cx="843117" cy="84311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6506446-95A2-4F97-AFE0-0AD13A89B12F}">
      <dsp:nvSpPr>
        <dsp:cNvPr id="0" name=""/>
        <dsp:cNvSpPr/>
      </dsp:nvSpPr>
      <dsp:spPr>
        <a:xfrm>
          <a:off x="5668379" y="1583851"/>
          <a:ext cx="2408906" cy="361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100000"/>
            </a:lnSpc>
            <a:spcBef>
              <a:spcPct val="0"/>
            </a:spcBef>
            <a:spcAft>
              <a:spcPct val="35000"/>
            </a:spcAft>
            <a:buNone/>
            <a:defRPr b="1"/>
          </a:pPr>
          <a:r>
            <a:rPr lang="fr-CA" sz="2400" kern="1200"/>
            <a:t>Activité </a:t>
          </a:r>
          <a:endParaRPr lang="en-US" sz="2400" kern="1200"/>
        </a:p>
      </dsp:txBody>
      <dsp:txXfrm>
        <a:off x="5668379" y="1583851"/>
        <a:ext cx="2408906" cy="361335"/>
      </dsp:txXfrm>
    </dsp:sp>
    <dsp:sp modelId="{656D9589-C582-4C0E-895A-229F62648EE1}">
      <dsp:nvSpPr>
        <dsp:cNvPr id="0" name=""/>
        <dsp:cNvSpPr/>
      </dsp:nvSpPr>
      <dsp:spPr>
        <a:xfrm>
          <a:off x="5668379" y="1996481"/>
          <a:ext cx="2408906" cy="11986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fr-CA" sz="1700" kern="1200"/>
            <a:t>Rotation </a:t>
          </a:r>
          <a:endParaRPr lang="en-US" sz="1700" kern="1200"/>
        </a:p>
        <a:p>
          <a:pPr marL="0" lvl="0" indent="0" algn="l" defTabSz="755650">
            <a:lnSpc>
              <a:spcPct val="100000"/>
            </a:lnSpc>
            <a:spcBef>
              <a:spcPct val="0"/>
            </a:spcBef>
            <a:spcAft>
              <a:spcPct val="35000"/>
            </a:spcAft>
            <a:buNone/>
          </a:pPr>
          <a:r>
            <a:rPr lang="fr-CA" sz="1700" kern="1200"/>
            <a:t>Délai</a:t>
          </a:r>
          <a:endParaRPr lang="en-US" sz="1700" kern="1200"/>
        </a:p>
      </dsp:txBody>
      <dsp:txXfrm>
        <a:off x="5668379" y="1996481"/>
        <a:ext cx="2408906" cy="1198652"/>
      </dsp:txXfrm>
    </dsp:sp>
    <dsp:sp modelId="{B0E55E8C-102A-42B2-857F-B0054F86FD57}">
      <dsp:nvSpPr>
        <dsp:cNvPr id="0" name=""/>
        <dsp:cNvSpPr/>
      </dsp:nvSpPr>
      <dsp:spPr>
        <a:xfrm>
          <a:off x="8498844" y="630453"/>
          <a:ext cx="843117" cy="84311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7C8318F-2C28-431B-81CF-A8CF2B986C79}">
      <dsp:nvSpPr>
        <dsp:cNvPr id="0" name=""/>
        <dsp:cNvSpPr/>
      </dsp:nvSpPr>
      <dsp:spPr>
        <a:xfrm>
          <a:off x="8498844" y="1583851"/>
          <a:ext cx="2408906" cy="361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100000"/>
            </a:lnSpc>
            <a:spcBef>
              <a:spcPct val="0"/>
            </a:spcBef>
            <a:spcAft>
              <a:spcPct val="35000"/>
            </a:spcAft>
            <a:buNone/>
            <a:defRPr b="1"/>
          </a:pPr>
          <a:r>
            <a:rPr lang="fr-CA" sz="2400" kern="1200"/>
            <a:t>Solvabilité 	</a:t>
          </a:r>
          <a:endParaRPr lang="en-US" sz="2400" kern="1200"/>
        </a:p>
      </dsp:txBody>
      <dsp:txXfrm>
        <a:off x="8498844" y="1583851"/>
        <a:ext cx="2408906" cy="361335"/>
      </dsp:txXfrm>
    </dsp:sp>
    <dsp:sp modelId="{4AF2D68B-E695-4D90-ABD3-F53BA9F7E271}">
      <dsp:nvSpPr>
        <dsp:cNvPr id="0" name=""/>
        <dsp:cNvSpPr/>
      </dsp:nvSpPr>
      <dsp:spPr>
        <a:xfrm>
          <a:off x="8498844" y="1996481"/>
          <a:ext cx="2408906" cy="11986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fr-CA" sz="1700" kern="1200"/>
            <a:t>Structure de financement</a:t>
          </a:r>
          <a:endParaRPr lang="en-US" sz="1700" kern="1200"/>
        </a:p>
        <a:p>
          <a:pPr marL="0" lvl="0" indent="0" algn="l" defTabSz="755650">
            <a:lnSpc>
              <a:spcPct val="100000"/>
            </a:lnSpc>
            <a:spcBef>
              <a:spcPct val="0"/>
            </a:spcBef>
            <a:spcAft>
              <a:spcPct val="35000"/>
            </a:spcAft>
            <a:buNone/>
          </a:pPr>
          <a:r>
            <a:rPr lang="fr-CA" sz="1700" kern="1200"/>
            <a:t>Capacité à rembourser la dette </a:t>
          </a:r>
          <a:endParaRPr lang="en-US" sz="1700" kern="1200"/>
        </a:p>
      </dsp:txBody>
      <dsp:txXfrm>
        <a:off x="8498844" y="1996481"/>
        <a:ext cx="2408906" cy="1198652"/>
      </dsp:txXfrm>
    </dsp:sp>
  </dsp:spTree>
</dsp:drawing>
</file>

<file path=ppt/diagrams/layout1.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5.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7.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1" y="0"/>
            <a:ext cx="3037840" cy="466434"/>
          </a:xfrm>
          <a:prstGeom prst="rect">
            <a:avLst/>
          </a:prstGeom>
        </p:spPr>
        <p:txBody>
          <a:bodyPr vert="horz" lIns="93170" tIns="46586" rIns="93170" bIns="46586" rtlCol="0"/>
          <a:lstStyle>
            <a:lvl1pPr algn="l">
              <a:defRPr sz="1200"/>
            </a:lvl1pPr>
          </a:lstStyle>
          <a:p>
            <a:endParaRPr lang="fr-CA"/>
          </a:p>
        </p:txBody>
      </p:sp>
      <p:sp>
        <p:nvSpPr>
          <p:cNvPr id="3" name="Espace réservé de la date 2"/>
          <p:cNvSpPr>
            <a:spLocks noGrp="1"/>
          </p:cNvSpPr>
          <p:nvPr>
            <p:ph type="dt" idx="1"/>
          </p:nvPr>
        </p:nvSpPr>
        <p:spPr>
          <a:xfrm>
            <a:off x="3970939" y="0"/>
            <a:ext cx="3037840" cy="466434"/>
          </a:xfrm>
          <a:prstGeom prst="rect">
            <a:avLst/>
          </a:prstGeom>
        </p:spPr>
        <p:txBody>
          <a:bodyPr vert="horz" lIns="93170" tIns="46586" rIns="93170" bIns="46586" rtlCol="0"/>
          <a:lstStyle>
            <a:lvl1pPr algn="r">
              <a:defRPr sz="1200"/>
            </a:lvl1pPr>
          </a:lstStyle>
          <a:p>
            <a:fld id="{14ACF90F-8CD0-48D0-B214-EE61CF43C26A}" type="datetimeFigureOut">
              <a:rPr lang="fr-CA" smtClean="0"/>
              <a:t>2025-04-11</a:t>
            </a:fld>
            <a:endParaRPr lang="fr-CA"/>
          </a:p>
        </p:txBody>
      </p:sp>
      <p:sp>
        <p:nvSpPr>
          <p:cNvPr id="4" name="Espace réservé de l'image des diapositives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0" tIns="46586" rIns="93170" bIns="46586" rtlCol="0" anchor="ctr"/>
          <a:lstStyle/>
          <a:p>
            <a:endParaRPr lang="fr-CA"/>
          </a:p>
        </p:txBody>
      </p:sp>
      <p:sp>
        <p:nvSpPr>
          <p:cNvPr id="5" name="Espace réservé des commentaires 4"/>
          <p:cNvSpPr>
            <a:spLocks noGrp="1"/>
          </p:cNvSpPr>
          <p:nvPr>
            <p:ph type="body" sz="quarter" idx="3"/>
          </p:nvPr>
        </p:nvSpPr>
        <p:spPr>
          <a:xfrm>
            <a:off x="701040" y="4473892"/>
            <a:ext cx="5608320" cy="3660458"/>
          </a:xfrm>
          <a:prstGeom prst="rect">
            <a:avLst/>
          </a:prstGeom>
        </p:spPr>
        <p:txBody>
          <a:bodyPr vert="horz" lIns="93170" tIns="46586" rIns="93170" bIns="46586"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1" y="8829968"/>
            <a:ext cx="3037840" cy="466433"/>
          </a:xfrm>
          <a:prstGeom prst="rect">
            <a:avLst/>
          </a:prstGeom>
        </p:spPr>
        <p:txBody>
          <a:bodyPr vert="horz" lIns="93170" tIns="46586" rIns="93170" bIns="46586"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970939" y="8829968"/>
            <a:ext cx="3037840" cy="466433"/>
          </a:xfrm>
          <a:prstGeom prst="rect">
            <a:avLst/>
          </a:prstGeom>
        </p:spPr>
        <p:txBody>
          <a:bodyPr vert="horz" lIns="93170" tIns="46586" rIns="93170" bIns="46586" rtlCol="0" anchor="b"/>
          <a:lstStyle>
            <a:lvl1pPr algn="r">
              <a:defRPr sz="1200"/>
            </a:lvl1pPr>
          </a:lstStyle>
          <a:p>
            <a:fld id="{1F1F2D47-FF76-4FB8-96DA-10C04CB97B90}" type="slidenum">
              <a:rPr lang="fr-CA" smtClean="0"/>
              <a:t>‹N°›</a:t>
            </a:fld>
            <a:endParaRPr lang="fr-CA"/>
          </a:p>
        </p:txBody>
      </p:sp>
    </p:spTree>
    <p:extLst>
      <p:ext uri="{BB962C8B-B14F-4D97-AF65-F5344CB8AC3E}">
        <p14:creationId xmlns:p14="http://schemas.microsoft.com/office/powerpoint/2010/main" val="34926732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1F1F2D47-FF76-4FB8-96DA-10C04CB97B90}" type="slidenum">
              <a:rPr lang="fr-CA" smtClean="0"/>
              <a:t>1</a:t>
            </a:fld>
            <a:endParaRPr lang="fr-CA"/>
          </a:p>
        </p:txBody>
      </p:sp>
    </p:spTree>
    <p:extLst>
      <p:ext uri="{BB962C8B-B14F-4D97-AF65-F5344CB8AC3E}">
        <p14:creationId xmlns:p14="http://schemas.microsoft.com/office/powerpoint/2010/main" val="19256501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EVC ca passe </a:t>
            </a:r>
          </a:p>
          <a:p>
            <a:r>
              <a:rPr lang="fr-CA" dirty="0"/>
              <a:t>Il faut donner a chaque fois un avantage et inconvénient donc créer un équilibre </a:t>
            </a:r>
          </a:p>
        </p:txBody>
      </p:sp>
      <p:sp>
        <p:nvSpPr>
          <p:cNvPr id="4" name="Espace réservé du numéro de diapositive 3"/>
          <p:cNvSpPr>
            <a:spLocks noGrp="1"/>
          </p:cNvSpPr>
          <p:nvPr>
            <p:ph type="sldNum" sz="quarter" idx="5"/>
          </p:nvPr>
        </p:nvSpPr>
        <p:spPr/>
        <p:txBody>
          <a:bodyPr/>
          <a:lstStyle/>
          <a:p>
            <a:fld id="{1F1F2D47-FF76-4FB8-96DA-10C04CB97B90}" type="slidenum">
              <a:rPr lang="fr-CA" smtClean="0"/>
              <a:t>2</a:t>
            </a:fld>
            <a:endParaRPr lang="fr-CA"/>
          </a:p>
        </p:txBody>
      </p:sp>
    </p:spTree>
    <p:extLst>
      <p:ext uri="{BB962C8B-B14F-4D97-AF65-F5344CB8AC3E}">
        <p14:creationId xmlns:p14="http://schemas.microsoft.com/office/powerpoint/2010/main" val="6935481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Le modèle de réponse QCQR </a:t>
            </a:r>
          </a:p>
          <a:p>
            <a:r>
              <a:rPr lang="fr-CA" dirty="0"/>
              <a:t>Quantitatif  (Pas de calcul au World obligatoirement EXCEL même un petit calcul) imagine toi que est un rapport pour le client donc soit professionnel </a:t>
            </a:r>
          </a:p>
          <a:p>
            <a:r>
              <a:rPr lang="fr-CA" dirty="0"/>
              <a:t>Conclusion Word (EFC 5 heures d’examen) la conclusion : 1résultat de calcul(intéressant ou non ,chiffrer le réponse) 2-hypothèse critique +Couts marquants </a:t>
            </a:r>
          </a:p>
          <a:p>
            <a:r>
              <a:rPr lang="fr-CA" dirty="0"/>
              <a:t>Qualitatif Avantage /Inconvénient </a:t>
            </a:r>
          </a:p>
          <a:p>
            <a:r>
              <a:rPr lang="fr-CA" dirty="0"/>
              <a:t>Recommandation :retour sur le Quanti et le </a:t>
            </a:r>
            <a:r>
              <a:rPr lang="fr-CA" dirty="0" err="1"/>
              <a:t>quali</a:t>
            </a:r>
            <a:r>
              <a:rPr lang="fr-CA" dirty="0"/>
              <a:t>,,,,,décision a prendre donc la recommandation soit directe et justificative </a:t>
            </a:r>
          </a:p>
          <a:p>
            <a:r>
              <a:rPr lang="fr-CA" dirty="0"/>
              <a:t>Donc traite chaque occasion d’évaluation donc fournir l’information utiles pour les utilisateurs occasions </a:t>
            </a:r>
          </a:p>
          <a:p>
            <a:endParaRPr lang="fr-CA" dirty="0"/>
          </a:p>
          <a:p>
            <a:r>
              <a:rPr lang="fr-CA" dirty="0"/>
              <a:t>Sans conclusion et recommandation pas de compétent il faut traiter tous les OE donc au minimum tu dois tu concentrer 5 heures sans arrêt chaque jour </a:t>
            </a:r>
          </a:p>
        </p:txBody>
      </p:sp>
      <p:sp>
        <p:nvSpPr>
          <p:cNvPr id="4" name="Espace réservé du numéro de diapositive 3"/>
          <p:cNvSpPr>
            <a:spLocks noGrp="1"/>
          </p:cNvSpPr>
          <p:nvPr>
            <p:ph type="sldNum" sz="quarter" idx="5"/>
          </p:nvPr>
        </p:nvSpPr>
        <p:spPr/>
        <p:txBody>
          <a:bodyPr/>
          <a:lstStyle/>
          <a:p>
            <a:fld id="{1F1F2D47-FF76-4FB8-96DA-10C04CB97B90}" type="slidenum">
              <a:rPr lang="fr-CA" smtClean="0"/>
              <a:t>3</a:t>
            </a:fld>
            <a:endParaRPr lang="fr-CA"/>
          </a:p>
        </p:txBody>
      </p:sp>
    </p:spTree>
    <p:extLst>
      <p:ext uri="{BB962C8B-B14F-4D97-AF65-F5344CB8AC3E}">
        <p14:creationId xmlns:p14="http://schemas.microsoft.com/office/powerpoint/2010/main" val="19622834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Peut être fais par la première fois par l’entité ou bien on va faire une mise a jours (si l’</a:t>
            </a:r>
            <a:r>
              <a:rPr lang="fr-CA" dirty="0" err="1"/>
              <a:t>Entreprsie</a:t>
            </a:r>
            <a:r>
              <a:rPr lang="fr-CA" dirty="0"/>
              <a:t> fais une nouvelle acquisition ou bien </a:t>
            </a:r>
          </a:p>
          <a:p>
            <a:r>
              <a:rPr lang="fr-CA" dirty="0"/>
              <a:t>Objectif ou on va aller et comment se rendre objectif principal est être actifs ou changement et aux stratégie des concurrents </a:t>
            </a:r>
          </a:p>
          <a:p>
            <a:r>
              <a:rPr lang="fr-CA" dirty="0"/>
              <a:t>Analyse environnement est comprendre son environnement </a:t>
            </a:r>
          </a:p>
          <a:p>
            <a:r>
              <a:rPr lang="fr-CA" dirty="0"/>
              <a:t>Analyse environnement le résultat pour ajuster la stratégie actuelle soit (vision, mission et valeur) </a:t>
            </a:r>
          </a:p>
          <a:p>
            <a:r>
              <a:rPr lang="fr-CA" dirty="0"/>
              <a:t>Étape de l’évaluation et contrôle </a:t>
            </a:r>
            <a:r>
              <a:rPr lang="fr-CA" dirty="0" err="1"/>
              <a:t>mésure</a:t>
            </a:r>
            <a:r>
              <a:rPr lang="fr-CA" dirty="0"/>
              <a:t> les résultats réels </a:t>
            </a:r>
          </a:p>
          <a:p>
            <a:endParaRPr lang="fr-CA" dirty="0"/>
          </a:p>
          <a:p>
            <a:endParaRPr lang="fr-CA" dirty="0"/>
          </a:p>
        </p:txBody>
      </p:sp>
      <p:sp>
        <p:nvSpPr>
          <p:cNvPr id="4" name="Espace réservé du numéro de diapositive 3"/>
          <p:cNvSpPr>
            <a:spLocks noGrp="1"/>
          </p:cNvSpPr>
          <p:nvPr>
            <p:ph type="sldNum" sz="quarter" idx="5"/>
          </p:nvPr>
        </p:nvSpPr>
        <p:spPr/>
        <p:txBody>
          <a:bodyPr/>
          <a:lstStyle/>
          <a:p>
            <a:fld id="{1F1F2D47-FF76-4FB8-96DA-10C04CB97B90}" type="slidenum">
              <a:rPr lang="fr-CA" smtClean="0"/>
              <a:t>4</a:t>
            </a:fld>
            <a:endParaRPr lang="fr-CA"/>
          </a:p>
        </p:txBody>
      </p:sp>
    </p:spTree>
    <p:extLst>
      <p:ext uri="{BB962C8B-B14F-4D97-AF65-F5344CB8AC3E}">
        <p14:creationId xmlns:p14="http://schemas.microsoft.com/office/powerpoint/2010/main" val="2381012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1F1F2D47-FF76-4FB8-96DA-10C04CB97B90}" type="slidenum">
              <a:rPr lang="fr-CA" smtClean="0"/>
              <a:t>5</a:t>
            </a:fld>
            <a:endParaRPr lang="fr-CA"/>
          </a:p>
        </p:txBody>
      </p:sp>
    </p:spTree>
    <p:extLst>
      <p:ext uri="{BB962C8B-B14F-4D97-AF65-F5344CB8AC3E}">
        <p14:creationId xmlns:p14="http://schemas.microsoft.com/office/powerpoint/2010/main" val="39594731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Notre rôle est conseiller (interne) ou bien consultant (externe)</a:t>
            </a:r>
          </a:p>
          <a:p>
            <a:r>
              <a:rPr lang="fr-CA" dirty="0"/>
              <a:t>La mise en œuvre de la stratégie </a:t>
            </a:r>
          </a:p>
          <a:p>
            <a:r>
              <a:rPr lang="fr-CA" dirty="0"/>
              <a:t>PPS de 3ans a 5ans </a:t>
            </a:r>
          </a:p>
          <a:p>
            <a:r>
              <a:rPr lang="fr-CA" dirty="0"/>
              <a:t>Mise a jour de L’E et de la stratégie chaque année mais pas en profondeur </a:t>
            </a:r>
          </a:p>
        </p:txBody>
      </p:sp>
      <p:sp>
        <p:nvSpPr>
          <p:cNvPr id="4" name="Espace réservé du numéro de diapositive 3"/>
          <p:cNvSpPr>
            <a:spLocks noGrp="1"/>
          </p:cNvSpPr>
          <p:nvPr>
            <p:ph type="sldNum" sz="quarter" idx="5"/>
          </p:nvPr>
        </p:nvSpPr>
        <p:spPr/>
        <p:txBody>
          <a:bodyPr/>
          <a:lstStyle/>
          <a:p>
            <a:fld id="{1F1F2D47-FF76-4FB8-96DA-10C04CB97B90}" type="slidenum">
              <a:rPr lang="fr-CA" smtClean="0"/>
              <a:t>6</a:t>
            </a:fld>
            <a:endParaRPr lang="fr-CA"/>
          </a:p>
        </p:txBody>
      </p:sp>
    </p:spTree>
    <p:extLst>
      <p:ext uri="{BB962C8B-B14F-4D97-AF65-F5344CB8AC3E}">
        <p14:creationId xmlns:p14="http://schemas.microsoft.com/office/powerpoint/2010/main" val="7840238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Attention ne reviens jamais au cours de stratégie ni a la matière de </a:t>
            </a:r>
            <a:r>
              <a:rPr lang="fr-CA" dirty="0" err="1"/>
              <a:t>hec</a:t>
            </a:r>
            <a:r>
              <a:rPr lang="fr-CA" dirty="0"/>
              <a:t> attention ne perd pas ton temps </a:t>
            </a:r>
          </a:p>
          <a:p>
            <a:r>
              <a:rPr lang="fr-CA" dirty="0"/>
              <a:t>On  lit on annote puis on fait notre plan et a la fin on rédige </a:t>
            </a:r>
          </a:p>
          <a:p>
            <a:r>
              <a:rPr lang="fr-CA" dirty="0"/>
              <a:t>4P OM </a:t>
            </a:r>
          </a:p>
          <a:p>
            <a:r>
              <a:rPr lang="fr-CA" dirty="0"/>
              <a:t>Périmètre géographique, produit et service, Position concurrentielle, Marché cible, objectif principal,</a:t>
            </a:r>
          </a:p>
          <a:p>
            <a:r>
              <a:rPr lang="fr-CA" dirty="0"/>
              <a:t>Produits et nos </a:t>
            </a:r>
            <a:r>
              <a:rPr lang="fr-CA" dirty="0" err="1"/>
              <a:t>service:location</a:t>
            </a:r>
            <a:r>
              <a:rPr lang="fr-CA" dirty="0"/>
              <a:t> de appartements</a:t>
            </a:r>
          </a:p>
          <a:p>
            <a:r>
              <a:rPr lang="fr-CA" dirty="0"/>
              <a:t>Périmètres géographique :il de Montréal et Laval </a:t>
            </a:r>
          </a:p>
          <a:p>
            <a:r>
              <a:rPr lang="fr-CA" dirty="0"/>
              <a:t>Positon </a:t>
            </a:r>
            <a:r>
              <a:rPr lang="fr-CA" dirty="0" err="1"/>
              <a:t>concurrentil:suiveur</a:t>
            </a:r>
            <a:r>
              <a:rPr lang="fr-CA" dirty="0"/>
              <a:t> </a:t>
            </a:r>
          </a:p>
          <a:p>
            <a:r>
              <a:rPr lang="fr-CA" dirty="0"/>
              <a:t>Marché </a:t>
            </a:r>
            <a:r>
              <a:rPr lang="fr-CA" dirty="0" err="1"/>
              <a:t>cible:des</a:t>
            </a:r>
            <a:r>
              <a:rPr lang="fr-CA" dirty="0"/>
              <a:t> familles de bas revenus et étudiants </a:t>
            </a:r>
          </a:p>
          <a:p>
            <a:r>
              <a:rPr lang="fr-CA" dirty="0"/>
              <a:t>Objectif </a:t>
            </a:r>
            <a:r>
              <a:rPr lang="fr-CA" dirty="0" err="1"/>
              <a:t>principale:offre</a:t>
            </a:r>
            <a:r>
              <a:rPr lang="fr-CA" dirty="0"/>
              <a:t> un </a:t>
            </a:r>
            <a:r>
              <a:rPr lang="fr-CA" dirty="0" err="1"/>
              <a:t>sevice</a:t>
            </a:r>
            <a:r>
              <a:rPr lang="fr-CA" dirty="0"/>
              <a:t> de qualité avec un prix raisonnable </a:t>
            </a:r>
          </a:p>
          <a:p>
            <a:r>
              <a:rPr lang="fr-CA" dirty="0" err="1"/>
              <a:t>Vision:consis,claire,insprirant</a:t>
            </a:r>
            <a:r>
              <a:rPr lang="fr-CA" dirty="0"/>
              <a:t> réalisable </a:t>
            </a:r>
          </a:p>
          <a:p>
            <a:r>
              <a:rPr lang="fr-CA" dirty="0" err="1"/>
              <a:t>Valeur:ce</a:t>
            </a:r>
            <a:r>
              <a:rPr lang="fr-CA" dirty="0"/>
              <a:t> que nous conduits et ce que nous voulons que les autres nous vois comment les nous voulons que les autres nous vois soit les parties prenante </a:t>
            </a:r>
          </a:p>
          <a:p>
            <a:endParaRPr lang="fr-CA" dirty="0"/>
          </a:p>
        </p:txBody>
      </p:sp>
      <p:sp>
        <p:nvSpPr>
          <p:cNvPr id="4" name="Espace réservé du numéro de diapositive 3"/>
          <p:cNvSpPr>
            <a:spLocks noGrp="1"/>
          </p:cNvSpPr>
          <p:nvPr>
            <p:ph type="sldNum" sz="quarter" idx="5"/>
          </p:nvPr>
        </p:nvSpPr>
        <p:spPr/>
        <p:txBody>
          <a:bodyPr/>
          <a:lstStyle/>
          <a:p>
            <a:fld id="{6F38F12F-71BA-4C6C-BEB4-9AA581BF4BE9}" type="slidenum">
              <a:rPr lang="fr-CA" smtClean="0"/>
              <a:t>7</a:t>
            </a:fld>
            <a:endParaRPr lang="fr-CA"/>
          </a:p>
        </p:txBody>
      </p:sp>
    </p:spTree>
    <p:extLst>
      <p:ext uri="{BB962C8B-B14F-4D97-AF65-F5344CB8AC3E}">
        <p14:creationId xmlns:p14="http://schemas.microsoft.com/office/powerpoint/2010/main" val="22783974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L’entreprise se voit dans 3 a 5 ans une phrase courte </a:t>
            </a:r>
          </a:p>
          <a:p>
            <a:r>
              <a:rPr lang="fr-CA" dirty="0"/>
              <a:t>Faire la critique (</a:t>
            </a:r>
            <a:r>
              <a:rPr lang="fr-CA" dirty="0" err="1"/>
              <a:t>consis,claire,réalisite</a:t>
            </a:r>
            <a:r>
              <a:rPr lang="fr-CA" dirty="0"/>
              <a:t> et inspirant) </a:t>
            </a:r>
          </a:p>
          <a:p>
            <a:r>
              <a:rPr lang="fr-CA" dirty="0" err="1"/>
              <a:t>Concis,claire</a:t>
            </a:r>
            <a:r>
              <a:rPr lang="fr-CA" dirty="0"/>
              <a:t> réaliste et inspirant </a:t>
            </a:r>
          </a:p>
        </p:txBody>
      </p:sp>
      <p:sp>
        <p:nvSpPr>
          <p:cNvPr id="4" name="Espace réservé du numéro de diapositive 3"/>
          <p:cNvSpPr>
            <a:spLocks noGrp="1"/>
          </p:cNvSpPr>
          <p:nvPr>
            <p:ph type="sldNum" sz="quarter" idx="5"/>
          </p:nvPr>
        </p:nvSpPr>
        <p:spPr/>
        <p:txBody>
          <a:bodyPr/>
          <a:lstStyle/>
          <a:p>
            <a:fld id="{1F1F2D47-FF76-4FB8-96DA-10C04CB97B90}" type="slidenum">
              <a:rPr lang="fr-CA" smtClean="0"/>
              <a:t>8</a:t>
            </a:fld>
            <a:endParaRPr lang="fr-CA"/>
          </a:p>
        </p:txBody>
      </p:sp>
    </p:spTree>
    <p:extLst>
      <p:ext uri="{BB962C8B-B14F-4D97-AF65-F5344CB8AC3E}">
        <p14:creationId xmlns:p14="http://schemas.microsoft.com/office/powerpoint/2010/main" val="40017369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Raison d’être a quelle type entreprise a qui on fait affaire </a:t>
            </a:r>
          </a:p>
          <a:p>
            <a:r>
              <a:rPr lang="fr-CA" dirty="0"/>
              <a:t>Toujours faire la critique </a:t>
            </a:r>
          </a:p>
          <a:p>
            <a:r>
              <a:rPr lang="fr-CA" dirty="0"/>
              <a:t>Faire des recommandation sera </a:t>
            </a:r>
            <a:r>
              <a:rPr lang="fr-CA" dirty="0" err="1"/>
              <a:t>comptible</a:t>
            </a:r>
            <a:r>
              <a:rPr lang="fr-CA" dirty="0"/>
              <a:t> avec les valeurs et </a:t>
            </a:r>
          </a:p>
          <a:p>
            <a:r>
              <a:rPr lang="fr-CA" dirty="0"/>
              <a:t>Proposition de valeur pourquoi le client vont a cette entité et pas a une autre </a:t>
            </a:r>
          </a:p>
          <a:p>
            <a:r>
              <a:rPr lang="fr-CA" dirty="0"/>
              <a:t>Critiquer l’énoncé de mission </a:t>
            </a:r>
          </a:p>
        </p:txBody>
      </p:sp>
      <p:sp>
        <p:nvSpPr>
          <p:cNvPr id="4" name="Espace réservé du numéro de diapositive 3"/>
          <p:cNvSpPr>
            <a:spLocks noGrp="1"/>
          </p:cNvSpPr>
          <p:nvPr>
            <p:ph type="sldNum" sz="quarter" idx="5"/>
          </p:nvPr>
        </p:nvSpPr>
        <p:spPr/>
        <p:txBody>
          <a:bodyPr/>
          <a:lstStyle/>
          <a:p>
            <a:fld id="{1F1F2D47-FF76-4FB8-96DA-10C04CB97B90}" type="slidenum">
              <a:rPr lang="fr-CA" smtClean="0"/>
              <a:t>9</a:t>
            </a:fld>
            <a:endParaRPr lang="fr-CA"/>
          </a:p>
        </p:txBody>
      </p:sp>
    </p:spTree>
    <p:extLst>
      <p:ext uri="{BB962C8B-B14F-4D97-AF65-F5344CB8AC3E}">
        <p14:creationId xmlns:p14="http://schemas.microsoft.com/office/powerpoint/2010/main" val="41772442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Faire des recommandations qui seront compatible avec la mission et vision </a:t>
            </a:r>
          </a:p>
        </p:txBody>
      </p:sp>
      <p:sp>
        <p:nvSpPr>
          <p:cNvPr id="4" name="Espace réservé du numéro de diapositive 3"/>
          <p:cNvSpPr>
            <a:spLocks noGrp="1"/>
          </p:cNvSpPr>
          <p:nvPr>
            <p:ph type="sldNum" sz="quarter" idx="5"/>
          </p:nvPr>
        </p:nvSpPr>
        <p:spPr/>
        <p:txBody>
          <a:bodyPr/>
          <a:lstStyle/>
          <a:p>
            <a:fld id="{1F1F2D47-FF76-4FB8-96DA-10C04CB97B90}" type="slidenum">
              <a:rPr lang="fr-CA" smtClean="0"/>
              <a:t>10</a:t>
            </a:fld>
            <a:endParaRPr lang="fr-CA"/>
          </a:p>
        </p:txBody>
      </p:sp>
    </p:spTree>
    <p:extLst>
      <p:ext uri="{BB962C8B-B14F-4D97-AF65-F5344CB8AC3E}">
        <p14:creationId xmlns:p14="http://schemas.microsoft.com/office/powerpoint/2010/main" val="11619556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Stratégie fonctionnelle va venir la stratégie concurrentielle puis la stratégie fonctionnelle qui vient appliquer la stratégie concurrentielle sur les fonctions de l’entreprise </a:t>
            </a:r>
          </a:p>
        </p:txBody>
      </p:sp>
      <p:sp>
        <p:nvSpPr>
          <p:cNvPr id="4" name="Espace réservé du numéro de diapositive 3"/>
          <p:cNvSpPr>
            <a:spLocks noGrp="1"/>
          </p:cNvSpPr>
          <p:nvPr>
            <p:ph type="sldNum" sz="quarter" idx="5"/>
          </p:nvPr>
        </p:nvSpPr>
        <p:spPr/>
        <p:txBody>
          <a:bodyPr/>
          <a:lstStyle/>
          <a:p>
            <a:fld id="{1F1F2D47-FF76-4FB8-96DA-10C04CB97B90}" type="slidenum">
              <a:rPr lang="fr-CA" smtClean="0"/>
              <a:t>11</a:t>
            </a:fld>
            <a:endParaRPr lang="fr-CA"/>
          </a:p>
        </p:txBody>
      </p:sp>
    </p:spTree>
    <p:extLst>
      <p:ext uri="{BB962C8B-B14F-4D97-AF65-F5344CB8AC3E}">
        <p14:creationId xmlns:p14="http://schemas.microsoft.com/office/powerpoint/2010/main" val="28492114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Unité d’affaire on parle ici de source de revenu </a:t>
            </a:r>
          </a:p>
          <a:p>
            <a:endParaRPr lang="fr-CA" dirty="0"/>
          </a:p>
        </p:txBody>
      </p:sp>
      <p:sp>
        <p:nvSpPr>
          <p:cNvPr id="4" name="Espace réservé du numéro de diapositive 3"/>
          <p:cNvSpPr>
            <a:spLocks noGrp="1"/>
          </p:cNvSpPr>
          <p:nvPr>
            <p:ph type="sldNum" sz="quarter" idx="5"/>
          </p:nvPr>
        </p:nvSpPr>
        <p:spPr/>
        <p:txBody>
          <a:bodyPr/>
          <a:lstStyle/>
          <a:p>
            <a:fld id="{1F1F2D47-FF76-4FB8-96DA-10C04CB97B90}" type="slidenum">
              <a:rPr lang="fr-CA" smtClean="0"/>
              <a:t>12</a:t>
            </a:fld>
            <a:endParaRPr lang="fr-CA"/>
          </a:p>
        </p:txBody>
      </p:sp>
    </p:spTree>
    <p:extLst>
      <p:ext uri="{BB962C8B-B14F-4D97-AF65-F5344CB8AC3E}">
        <p14:creationId xmlns:p14="http://schemas.microsoft.com/office/powerpoint/2010/main" val="6011074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1F1F2D47-FF76-4FB8-96DA-10C04CB97B90}" type="slidenum">
              <a:rPr lang="fr-CA" smtClean="0"/>
              <a:t>13</a:t>
            </a:fld>
            <a:endParaRPr lang="fr-CA"/>
          </a:p>
        </p:txBody>
      </p:sp>
    </p:spTree>
    <p:extLst>
      <p:ext uri="{BB962C8B-B14F-4D97-AF65-F5344CB8AC3E}">
        <p14:creationId xmlns:p14="http://schemas.microsoft.com/office/powerpoint/2010/main" val="12363009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Une seule catégorie de client ici on parle de secteur unique </a:t>
            </a:r>
          </a:p>
          <a:p>
            <a:r>
              <a:rPr lang="fr-CA" dirty="0"/>
              <a:t>Diversification de mes sources de revenus afin de minimiser le risque </a:t>
            </a:r>
          </a:p>
        </p:txBody>
      </p:sp>
      <p:sp>
        <p:nvSpPr>
          <p:cNvPr id="4" name="Espace réservé du numéro de diapositive 3"/>
          <p:cNvSpPr>
            <a:spLocks noGrp="1"/>
          </p:cNvSpPr>
          <p:nvPr>
            <p:ph type="sldNum" sz="quarter" idx="5"/>
          </p:nvPr>
        </p:nvSpPr>
        <p:spPr/>
        <p:txBody>
          <a:bodyPr/>
          <a:lstStyle/>
          <a:p>
            <a:fld id="{1F1F2D47-FF76-4FB8-96DA-10C04CB97B90}" type="slidenum">
              <a:rPr lang="fr-CA" smtClean="0"/>
              <a:t>14</a:t>
            </a:fld>
            <a:endParaRPr lang="fr-CA"/>
          </a:p>
        </p:txBody>
      </p:sp>
    </p:spTree>
    <p:extLst>
      <p:ext uri="{BB962C8B-B14F-4D97-AF65-F5344CB8AC3E}">
        <p14:creationId xmlns:p14="http://schemas.microsoft.com/office/powerpoint/2010/main" val="2044548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Analyse de client un produit sur </a:t>
            </a:r>
            <a:r>
              <a:rPr lang="fr-CA" dirty="0" err="1"/>
              <a:t>mésure</a:t>
            </a:r>
            <a:r>
              <a:rPr lang="fr-CA" dirty="0"/>
              <a:t> service a la </a:t>
            </a:r>
            <a:r>
              <a:rPr lang="fr-CA" dirty="0" err="1"/>
              <a:t>clientele</a:t>
            </a:r>
            <a:r>
              <a:rPr lang="fr-CA" dirty="0"/>
              <a:t> </a:t>
            </a:r>
          </a:p>
          <a:p>
            <a:r>
              <a:rPr lang="fr-CA" dirty="0"/>
              <a:t>Donc la stratégie </a:t>
            </a:r>
            <a:r>
              <a:rPr lang="fr-CA" dirty="0" err="1"/>
              <a:t>concurrentille</a:t>
            </a:r>
            <a:r>
              <a:rPr lang="fr-CA" dirty="0"/>
              <a:t> peut être </a:t>
            </a:r>
            <a:r>
              <a:rPr lang="fr-CA" dirty="0" err="1"/>
              <a:t>differente</a:t>
            </a:r>
            <a:r>
              <a:rPr lang="fr-CA" dirty="0"/>
              <a:t> pour 2 produits pour une seule entreprise </a:t>
            </a:r>
          </a:p>
          <a:p>
            <a:r>
              <a:rPr lang="fr-CA" dirty="0"/>
              <a:t>Suprématie </a:t>
            </a:r>
          </a:p>
          <a:p>
            <a:r>
              <a:rPr lang="fr-CA" dirty="0"/>
              <a:t>C’est la proposition de la valeur pour le client </a:t>
            </a:r>
          </a:p>
          <a:p>
            <a:endParaRPr lang="fr-CA" dirty="0"/>
          </a:p>
        </p:txBody>
      </p:sp>
      <p:sp>
        <p:nvSpPr>
          <p:cNvPr id="4" name="Espace réservé du numéro de diapositive 3"/>
          <p:cNvSpPr>
            <a:spLocks noGrp="1"/>
          </p:cNvSpPr>
          <p:nvPr>
            <p:ph type="sldNum" sz="quarter" idx="5"/>
          </p:nvPr>
        </p:nvSpPr>
        <p:spPr/>
        <p:txBody>
          <a:bodyPr/>
          <a:lstStyle/>
          <a:p>
            <a:fld id="{1F1F2D47-FF76-4FB8-96DA-10C04CB97B90}" type="slidenum">
              <a:rPr lang="fr-CA" smtClean="0"/>
              <a:t>15</a:t>
            </a:fld>
            <a:endParaRPr lang="fr-CA"/>
          </a:p>
        </p:txBody>
      </p:sp>
    </p:spTree>
    <p:extLst>
      <p:ext uri="{BB962C8B-B14F-4D97-AF65-F5344CB8AC3E}">
        <p14:creationId xmlns:p14="http://schemas.microsoft.com/office/powerpoint/2010/main" val="24532455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Application de la stratégie concurrentielle sut les fonctions de l’entreprise </a:t>
            </a:r>
          </a:p>
        </p:txBody>
      </p:sp>
      <p:sp>
        <p:nvSpPr>
          <p:cNvPr id="4" name="Espace réservé du numéro de diapositive 3"/>
          <p:cNvSpPr>
            <a:spLocks noGrp="1"/>
          </p:cNvSpPr>
          <p:nvPr>
            <p:ph type="sldNum" sz="quarter" idx="5"/>
          </p:nvPr>
        </p:nvSpPr>
        <p:spPr/>
        <p:txBody>
          <a:bodyPr/>
          <a:lstStyle/>
          <a:p>
            <a:fld id="{1F1F2D47-FF76-4FB8-96DA-10C04CB97B90}" type="slidenum">
              <a:rPr lang="fr-CA" smtClean="0"/>
              <a:t>16</a:t>
            </a:fld>
            <a:endParaRPr lang="fr-CA"/>
          </a:p>
        </p:txBody>
      </p:sp>
    </p:spTree>
    <p:extLst>
      <p:ext uri="{BB962C8B-B14F-4D97-AF65-F5344CB8AC3E}">
        <p14:creationId xmlns:p14="http://schemas.microsoft.com/office/powerpoint/2010/main" val="19120462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Pourquoi c’est une force ou bien c’est une faiblesse </a:t>
            </a:r>
          </a:p>
          <a:p>
            <a:r>
              <a:rPr lang="fr-CA" dirty="0"/>
              <a:t>Identification des FCS dans les FFPM pour avoir un CD </a:t>
            </a:r>
          </a:p>
        </p:txBody>
      </p:sp>
      <p:sp>
        <p:nvSpPr>
          <p:cNvPr id="4" name="Espace réservé du numéro de diapositive 3"/>
          <p:cNvSpPr>
            <a:spLocks noGrp="1"/>
          </p:cNvSpPr>
          <p:nvPr>
            <p:ph type="sldNum" sz="quarter" idx="5"/>
          </p:nvPr>
        </p:nvSpPr>
        <p:spPr/>
        <p:txBody>
          <a:bodyPr/>
          <a:lstStyle/>
          <a:p>
            <a:fld id="{1F1F2D47-FF76-4FB8-96DA-10C04CB97B90}" type="slidenum">
              <a:rPr lang="fr-CA" smtClean="0"/>
              <a:t>17</a:t>
            </a:fld>
            <a:endParaRPr lang="fr-CA"/>
          </a:p>
        </p:txBody>
      </p:sp>
    </p:spTree>
    <p:extLst>
      <p:ext uri="{BB962C8B-B14F-4D97-AF65-F5344CB8AC3E}">
        <p14:creationId xmlns:p14="http://schemas.microsoft.com/office/powerpoint/2010/main" val="4536677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Aucune critique donc seulement des recommandations importantes pour l’EFC </a:t>
            </a:r>
          </a:p>
          <a:p>
            <a:r>
              <a:rPr lang="fr-FR" dirty="0"/>
              <a:t>Capacité de production à court terme (car il pourrait nécessiter des investissements dans ce cas on sort de notre analyse) </a:t>
            </a:r>
          </a:p>
          <a:p>
            <a:endParaRPr lang="fr-CA" dirty="0"/>
          </a:p>
        </p:txBody>
      </p:sp>
      <p:sp>
        <p:nvSpPr>
          <p:cNvPr id="4" name="Espace réservé du numéro de diapositive 3"/>
          <p:cNvSpPr>
            <a:spLocks noGrp="1"/>
          </p:cNvSpPr>
          <p:nvPr>
            <p:ph type="sldNum" sz="quarter" idx="5"/>
          </p:nvPr>
        </p:nvSpPr>
        <p:spPr/>
        <p:txBody>
          <a:bodyPr/>
          <a:lstStyle/>
          <a:p>
            <a:fld id="{1F1F2D47-FF76-4FB8-96DA-10C04CB97B90}" type="slidenum">
              <a:rPr lang="fr-CA" smtClean="0"/>
              <a:t>18</a:t>
            </a:fld>
            <a:endParaRPr lang="fr-CA"/>
          </a:p>
        </p:txBody>
      </p:sp>
    </p:spTree>
    <p:extLst>
      <p:ext uri="{BB962C8B-B14F-4D97-AF65-F5344CB8AC3E}">
        <p14:creationId xmlns:p14="http://schemas.microsoft.com/office/powerpoint/2010/main" val="17102761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Les actionnaires sont des parties prenantes ,un employé clé donc on doit les analyser dans un tableau préférence en matière de projet  </a:t>
            </a:r>
          </a:p>
          <a:p>
            <a:r>
              <a:rPr lang="fr-CA" dirty="0"/>
              <a:t>La carte graphique en bas on contrôle en a haut on a les résultats soit en premier on commence avec la perspective innovation et apprentissage puis perspective </a:t>
            </a:r>
            <a:r>
              <a:rPr lang="fr-CA" dirty="0" err="1"/>
              <a:t>prossus</a:t>
            </a:r>
            <a:r>
              <a:rPr lang="fr-CA" dirty="0"/>
              <a:t> interne puis client enfin perspective </a:t>
            </a:r>
            <a:r>
              <a:rPr lang="fr-CA" dirty="0" err="1"/>
              <a:t>financiere</a:t>
            </a:r>
            <a:r>
              <a:rPr lang="fr-CA" dirty="0"/>
              <a:t> en </a:t>
            </a:r>
            <a:r>
              <a:rPr lang="fr-CA" dirty="0" err="1"/>
              <a:t>tete</a:t>
            </a:r>
            <a:r>
              <a:rPr lang="fr-CA" dirty="0"/>
              <a:t> </a:t>
            </a:r>
          </a:p>
          <a:p>
            <a:r>
              <a:rPr lang="fr-CA" dirty="0"/>
              <a:t>Confondre un objectif avec un projet (projet de faire et de ne pas faire) cependant l’objectif tu doit l’atteindre </a:t>
            </a:r>
          </a:p>
          <a:p>
            <a:r>
              <a:rPr lang="fr-CA" dirty="0"/>
              <a:t>Mauvaise perspective </a:t>
            </a:r>
          </a:p>
          <a:p>
            <a:r>
              <a:rPr lang="fr-CA" dirty="0"/>
              <a:t>Formulation utiliser un verbe d’action je veut </a:t>
            </a:r>
            <a:r>
              <a:rPr lang="fr-CA" dirty="0" err="1"/>
              <a:t>réduire,améliorer,engager</a:t>
            </a:r>
            <a:r>
              <a:rPr lang="fr-CA" dirty="0"/>
              <a:t> </a:t>
            </a:r>
          </a:p>
          <a:p>
            <a:r>
              <a:rPr lang="fr-CA" dirty="0"/>
              <a:t>La carte stratégique n’est pas demander a l’EFC </a:t>
            </a:r>
          </a:p>
          <a:p>
            <a:r>
              <a:rPr lang="fr-CA" dirty="0"/>
              <a:t>Deux éléments par axes pour un tableau de bord (répartition de temps) penses a joran Belfort tu connais le secret putain </a:t>
            </a:r>
          </a:p>
          <a:p>
            <a:endParaRPr lang="fr-CA" dirty="0"/>
          </a:p>
        </p:txBody>
      </p:sp>
      <p:sp>
        <p:nvSpPr>
          <p:cNvPr id="4" name="Espace réservé du numéro de diapositive 3"/>
          <p:cNvSpPr>
            <a:spLocks noGrp="1"/>
          </p:cNvSpPr>
          <p:nvPr>
            <p:ph type="sldNum" sz="quarter" idx="5"/>
          </p:nvPr>
        </p:nvSpPr>
        <p:spPr/>
        <p:txBody>
          <a:bodyPr/>
          <a:lstStyle/>
          <a:p>
            <a:fld id="{1F1F2D47-FF76-4FB8-96DA-10C04CB97B90}" type="slidenum">
              <a:rPr lang="fr-CA" smtClean="0"/>
              <a:t>19</a:t>
            </a:fld>
            <a:endParaRPr lang="fr-CA"/>
          </a:p>
        </p:txBody>
      </p:sp>
    </p:spTree>
    <p:extLst>
      <p:ext uri="{BB962C8B-B14F-4D97-AF65-F5344CB8AC3E}">
        <p14:creationId xmlns:p14="http://schemas.microsoft.com/office/powerpoint/2010/main" val="41357273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Analyse des facteurs clés de succès de l’industrie </a:t>
            </a:r>
          </a:p>
          <a:p>
            <a:r>
              <a:rPr lang="fr-CA" dirty="0"/>
              <a:t>Ces outils sont complémentaires pour l’analyse de l’environnement </a:t>
            </a:r>
          </a:p>
          <a:p>
            <a:r>
              <a:rPr lang="fr-CA" dirty="0"/>
              <a:t>Prendre un virage vert on utilisant les voitures électriques pour la livraison </a:t>
            </a:r>
          </a:p>
          <a:p>
            <a:r>
              <a:rPr lang="fr-CA" dirty="0"/>
              <a:t>Dans les examens a utiliser la FFPM car il regroupe les 6 outils soit (PESTEL,AF,FCS,5 forces de porter, chaine de valeurs, cycle de vie de produit)</a:t>
            </a:r>
          </a:p>
        </p:txBody>
      </p:sp>
      <p:sp>
        <p:nvSpPr>
          <p:cNvPr id="4" name="Espace réservé du numéro de diapositive 3"/>
          <p:cNvSpPr>
            <a:spLocks noGrp="1"/>
          </p:cNvSpPr>
          <p:nvPr>
            <p:ph type="sldNum" sz="quarter" idx="5"/>
          </p:nvPr>
        </p:nvSpPr>
        <p:spPr/>
        <p:txBody>
          <a:bodyPr/>
          <a:lstStyle/>
          <a:p>
            <a:fld id="{1F1F2D47-FF76-4FB8-96DA-10C04CB97B90}" type="slidenum">
              <a:rPr lang="fr-CA" smtClean="0"/>
              <a:t>20</a:t>
            </a:fld>
            <a:endParaRPr lang="fr-CA"/>
          </a:p>
        </p:txBody>
      </p:sp>
    </p:spTree>
    <p:extLst>
      <p:ext uri="{BB962C8B-B14F-4D97-AF65-F5344CB8AC3E}">
        <p14:creationId xmlns:p14="http://schemas.microsoft.com/office/powerpoint/2010/main" val="42702923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CA" dirty="0"/>
              <a:t>Toujours FCS doit maitriser en industrie </a:t>
            </a:r>
          </a:p>
          <a:p>
            <a:r>
              <a:rPr lang="fr-CA" dirty="0"/>
              <a:t>FCS attention c’est important pour le Jour 1 </a:t>
            </a:r>
          </a:p>
          <a:p>
            <a:r>
              <a:rPr lang="fr-CA" dirty="0"/>
              <a:t>Expliquer pourquoi est un FCS </a:t>
            </a:r>
          </a:p>
          <a:p>
            <a:r>
              <a:rPr lang="fr-CA" dirty="0"/>
              <a:t>Attention aux réseaux sociaux sont devenus un grand facteur de succès pour les industries de vente en ligne </a:t>
            </a:r>
          </a:p>
          <a:p>
            <a:r>
              <a:rPr lang="fr-CA" dirty="0"/>
              <a:t>Responsabilité sociale est un FCS pour de nombreuses industries </a:t>
            </a:r>
          </a:p>
        </p:txBody>
      </p:sp>
      <p:sp>
        <p:nvSpPr>
          <p:cNvPr id="4" name="Espace réservé du numéro de diapositive 3"/>
          <p:cNvSpPr>
            <a:spLocks noGrp="1"/>
          </p:cNvSpPr>
          <p:nvPr>
            <p:ph type="sldNum" sz="quarter" idx="10"/>
          </p:nvPr>
        </p:nvSpPr>
        <p:spPr/>
        <p:txBody>
          <a:bodyPr/>
          <a:lstStyle/>
          <a:p>
            <a:fld id="{1F1F2D47-FF76-4FB8-96DA-10C04CB97B90}" type="slidenum">
              <a:rPr lang="fr-CA" smtClean="0"/>
              <a:t>21</a:t>
            </a:fld>
            <a:endParaRPr lang="fr-CA"/>
          </a:p>
        </p:txBody>
      </p:sp>
    </p:spTree>
    <p:extLst>
      <p:ext uri="{BB962C8B-B14F-4D97-AF65-F5344CB8AC3E}">
        <p14:creationId xmlns:p14="http://schemas.microsoft.com/office/powerpoint/2010/main" val="24068006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FF en interne     PM en externe </a:t>
            </a:r>
          </a:p>
          <a:p>
            <a:r>
              <a:rPr lang="fr-CA" dirty="0"/>
              <a:t>Possibilité est toujours disponible pour tous les joueurs </a:t>
            </a:r>
          </a:p>
          <a:p>
            <a:r>
              <a:rPr lang="fr-CA" dirty="0"/>
              <a:t>Possibilité est un facteur positif par, contre une option stratégique (est un choix au bien en aller de l’avant avec la possibilité) </a:t>
            </a:r>
          </a:p>
          <a:p>
            <a:r>
              <a:rPr lang="fr-CA" dirty="0"/>
              <a:t>Menace  </a:t>
            </a:r>
          </a:p>
          <a:p>
            <a:r>
              <a:rPr lang="fr-CA" dirty="0"/>
              <a:t>Donc ici on parle de l’impact sur l’entreprise de FFPM </a:t>
            </a:r>
          </a:p>
          <a:p>
            <a:r>
              <a:rPr lang="fr-CA" dirty="0"/>
              <a:t>On cherche l’impact des ces 4 éléments sur l’entreprise  </a:t>
            </a:r>
          </a:p>
        </p:txBody>
      </p:sp>
      <p:sp>
        <p:nvSpPr>
          <p:cNvPr id="4" name="Espace réservé du numéro de diapositive 3"/>
          <p:cNvSpPr>
            <a:spLocks noGrp="1"/>
          </p:cNvSpPr>
          <p:nvPr>
            <p:ph type="sldNum" sz="quarter" idx="5"/>
          </p:nvPr>
        </p:nvSpPr>
        <p:spPr/>
        <p:txBody>
          <a:bodyPr/>
          <a:lstStyle/>
          <a:p>
            <a:fld id="{1F1F2D47-FF76-4FB8-96DA-10C04CB97B90}" type="slidenum">
              <a:rPr lang="fr-CA" smtClean="0"/>
              <a:t>22</a:t>
            </a:fld>
            <a:endParaRPr lang="fr-CA"/>
          </a:p>
        </p:txBody>
      </p:sp>
    </p:spTree>
    <p:extLst>
      <p:ext uri="{BB962C8B-B14F-4D97-AF65-F5344CB8AC3E}">
        <p14:creationId xmlns:p14="http://schemas.microsoft.com/office/powerpoint/2010/main" val="8923238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CA" dirty="0"/>
              <a:t>Faire votre lecture avant de rédiger </a:t>
            </a:r>
          </a:p>
          <a:p>
            <a:r>
              <a:rPr lang="fr-CA" dirty="0"/>
              <a:t>Sert a identifier les forces et les faiblesses d’une organisation soit l’activité d’approvisionnement puis la production et la distribution et vente et marketing et service après vente </a:t>
            </a:r>
          </a:p>
        </p:txBody>
      </p:sp>
      <p:sp>
        <p:nvSpPr>
          <p:cNvPr id="4" name="Espace réservé du numéro de diapositive 3"/>
          <p:cNvSpPr>
            <a:spLocks noGrp="1"/>
          </p:cNvSpPr>
          <p:nvPr>
            <p:ph type="sldNum" sz="quarter" idx="10"/>
          </p:nvPr>
        </p:nvSpPr>
        <p:spPr/>
        <p:txBody>
          <a:bodyPr/>
          <a:lstStyle/>
          <a:p>
            <a:fld id="{1F1F2D47-FF76-4FB8-96DA-10C04CB97B90}" type="slidenum">
              <a:rPr lang="fr-CA" smtClean="0"/>
              <a:t>23</a:t>
            </a:fld>
            <a:endParaRPr lang="fr-CA"/>
          </a:p>
        </p:txBody>
      </p:sp>
    </p:spTree>
    <p:extLst>
      <p:ext uri="{BB962C8B-B14F-4D97-AF65-F5344CB8AC3E}">
        <p14:creationId xmlns:p14="http://schemas.microsoft.com/office/powerpoint/2010/main" val="35797022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Intensité de la concurrence ici on parle de clients leurs menace fais réduire aux barrières de marché et nos marges </a:t>
            </a:r>
          </a:p>
          <a:p>
            <a:r>
              <a:rPr lang="fr-CA" dirty="0"/>
              <a:t>Nouveaux entrants cela est relatif aux barrières d’entrée a l’industrie lorsque les barrières sont faibles plus la menace d’entrée des nouveaux joueurs est grande </a:t>
            </a:r>
          </a:p>
          <a:p>
            <a:r>
              <a:rPr lang="fr-CA" dirty="0"/>
              <a:t>Produit de substitution ici on parle de remplacements de nos produits par des autres produits qui répondent aux mêmes besoins comme (café et thé) </a:t>
            </a:r>
          </a:p>
          <a:p>
            <a:r>
              <a:rPr lang="fr-CA" dirty="0"/>
              <a:t>Pouvoir de </a:t>
            </a:r>
            <a:r>
              <a:rPr lang="fr-CA" dirty="0" err="1"/>
              <a:t>négocciation</a:t>
            </a:r>
            <a:r>
              <a:rPr lang="fr-CA" dirty="0"/>
              <a:t> des client a bien comprendre cette force attention au nombre a chaque fois que il est petit il aura de grand pouvoir pense a </a:t>
            </a:r>
            <a:r>
              <a:rPr lang="fr-CA" dirty="0" err="1"/>
              <a:t>boing</a:t>
            </a:r>
            <a:r>
              <a:rPr lang="fr-CA" dirty="0"/>
              <a:t> </a:t>
            </a:r>
          </a:p>
          <a:p>
            <a:endParaRPr lang="fr-CA" dirty="0"/>
          </a:p>
        </p:txBody>
      </p:sp>
      <p:sp>
        <p:nvSpPr>
          <p:cNvPr id="4" name="Espace réservé du numéro de diapositive 3"/>
          <p:cNvSpPr>
            <a:spLocks noGrp="1"/>
          </p:cNvSpPr>
          <p:nvPr>
            <p:ph type="sldNum" sz="quarter" idx="5"/>
          </p:nvPr>
        </p:nvSpPr>
        <p:spPr/>
        <p:txBody>
          <a:bodyPr/>
          <a:lstStyle/>
          <a:p>
            <a:fld id="{1F1F2D47-FF76-4FB8-96DA-10C04CB97B90}" type="slidenum">
              <a:rPr lang="fr-CA" smtClean="0"/>
              <a:t>24</a:t>
            </a:fld>
            <a:endParaRPr lang="fr-CA"/>
          </a:p>
        </p:txBody>
      </p:sp>
    </p:spTree>
    <p:extLst>
      <p:ext uri="{BB962C8B-B14F-4D97-AF65-F5344CB8AC3E}">
        <p14:creationId xmlns:p14="http://schemas.microsoft.com/office/powerpoint/2010/main" val="12187278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1F1F2D47-FF76-4FB8-96DA-10C04CB97B90}" type="slidenum">
              <a:rPr lang="fr-CA" smtClean="0"/>
              <a:t>26</a:t>
            </a:fld>
            <a:endParaRPr lang="fr-CA"/>
          </a:p>
        </p:txBody>
      </p:sp>
    </p:spTree>
    <p:extLst>
      <p:ext uri="{BB962C8B-B14F-4D97-AF65-F5344CB8AC3E}">
        <p14:creationId xmlns:p14="http://schemas.microsoft.com/office/powerpoint/2010/main" val="27245240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Il faut savoir les ratios ne sont pas fournis a l’EFC </a:t>
            </a:r>
          </a:p>
        </p:txBody>
      </p:sp>
      <p:sp>
        <p:nvSpPr>
          <p:cNvPr id="4" name="Espace réservé du numéro de diapositive 3"/>
          <p:cNvSpPr>
            <a:spLocks noGrp="1"/>
          </p:cNvSpPr>
          <p:nvPr>
            <p:ph type="sldNum" sz="quarter" idx="5"/>
          </p:nvPr>
        </p:nvSpPr>
        <p:spPr/>
        <p:txBody>
          <a:bodyPr/>
          <a:lstStyle/>
          <a:p>
            <a:fld id="{1F1F2D47-FF76-4FB8-96DA-10C04CB97B90}" type="slidenum">
              <a:rPr lang="fr-CA" smtClean="0"/>
              <a:t>27</a:t>
            </a:fld>
            <a:endParaRPr lang="fr-CA"/>
          </a:p>
        </p:txBody>
      </p:sp>
    </p:spTree>
    <p:extLst>
      <p:ext uri="{BB962C8B-B14F-4D97-AF65-F5344CB8AC3E}">
        <p14:creationId xmlns:p14="http://schemas.microsoft.com/office/powerpoint/2010/main" val="35680559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CA" dirty="0"/>
              <a:t>C’est important pour l’EFC cette slide </a:t>
            </a:r>
          </a:p>
        </p:txBody>
      </p:sp>
      <p:sp>
        <p:nvSpPr>
          <p:cNvPr id="4" name="Espace réservé du numéro de diapositive 3"/>
          <p:cNvSpPr>
            <a:spLocks noGrp="1"/>
          </p:cNvSpPr>
          <p:nvPr>
            <p:ph type="sldNum" sz="quarter" idx="10"/>
          </p:nvPr>
        </p:nvSpPr>
        <p:spPr/>
        <p:txBody>
          <a:bodyPr/>
          <a:lstStyle/>
          <a:p>
            <a:fld id="{1F1F2D47-FF76-4FB8-96DA-10C04CB97B90}" type="slidenum">
              <a:rPr lang="fr-CA" smtClean="0"/>
              <a:t>28</a:t>
            </a:fld>
            <a:endParaRPr lang="fr-CA"/>
          </a:p>
        </p:txBody>
      </p:sp>
    </p:spTree>
    <p:extLst>
      <p:ext uri="{BB962C8B-B14F-4D97-AF65-F5344CB8AC3E}">
        <p14:creationId xmlns:p14="http://schemas.microsoft.com/office/powerpoint/2010/main" val="36331149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Voila la catégorie des ratios qui doivent </a:t>
            </a:r>
            <a:r>
              <a:rPr lang="fr-CA"/>
              <a:t>être maitrisé </a:t>
            </a:r>
            <a:endParaRPr lang="fr-CA" dirty="0"/>
          </a:p>
        </p:txBody>
      </p:sp>
      <p:sp>
        <p:nvSpPr>
          <p:cNvPr id="4" name="Espace réservé du numéro de diapositive 3"/>
          <p:cNvSpPr>
            <a:spLocks noGrp="1"/>
          </p:cNvSpPr>
          <p:nvPr>
            <p:ph type="sldNum" sz="quarter" idx="5"/>
          </p:nvPr>
        </p:nvSpPr>
        <p:spPr/>
        <p:txBody>
          <a:bodyPr/>
          <a:lstStyle/>
          <a:p>
            <a:fld id="{1F1F2D47-FF76-4FB8-96DA-10C04CB97B90}" type="slidenum">
              <a:rPr lang="fr-CA" smtClean="0"/>
              <a:t>29</a:t>
            </a:fld>
            <a:endParaRPr lang="fr-CA"/>
          </a:p>
        </p:txBody>
      </p:sp>
    </p:spTree>
    <p:extLst>
      <p:ext uri="{BB962C8B-B14F-4D97-AF65-F5344CB8AC3E}">
        <p14:creationId xmlns:p14="http://schemas.microsoft.com/office/powerpoint/2010/main" val="26412892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Outils d’analyse qui alimente la prise de décision analyse comparative entre concurrents par l’achat de produit de clients et puis le démonter pour savoir ses composantes car les entreprises trouvent vraiment des empêchements pour connaitre les activités de ses concurrents afin de faire une comparaison et améliorer son processus (a cause de l’</a:t>
            </a:r>
            <a:r>
              <a:rPr lang="fr-CA" dirty="0" err="1"/>
              <a:t>acces</a:t>
            </a:r>
            <a:r>
              <a:rPr lang="fr-CA" dirty="0"/>
              <a:t> aux données) </a:t>
            </a:r>
          </a:p>
          <a:p>
            <a:r>
              <a:rPr lang="fr-CA" dirty="0"/>
              <a:t>Analyse comparative générique et de comparer les opérations des deux entreprises qui opèrent dans 2 différents industries mais qui répondent a un besoin particulier pour le client </a:t>
            </a:r>
          </a:p>
          <a:p>
            <a:r>
              <a:rPr lang="fr-CA" dirty="0"/>
              <a:t>CPA je vais le voir ce soir </a:t>
            </a:r>
          </a:p>
          <a:p>
            <a:endParaRPr lang="fr-CA" dirty="0"/>
          </a:p>
        </p:txBody>
      </p:sp>
      <p:sp>
        <p:nvSpPr>
          <p:cNvPr id="4" name="Espace réservé du numéro de diapositive 3"/>
          <p:cNvSpPr>
            <a:spLocks noGrp="1"/>
          </p:cNvSpPr>
          <p:nvPr>
            <p:ph type="sldNum" sz="quarter" idx="5"/>
          </p:nvPr>
        </p:nvSpPr>
        <p:spPr/>
        <p:txBody>
          <a:bodyPr/>
          <a:lstStyle/>
          <a:p>
            <a:fld id="{1F1F2D47-FF76-4FB8-96DA-10C04CB97B90}" type="slidenum">
              <a:rPr lang="fr-CA" smtClean="0"/>
              <a:t>30</a:t>
            </a:fld>
            <a:endParaRPr lang="fr-CA"/>
          </a:p>
        </p:txBody>
      </p:sp>
    </p:spTree>
    <p:extLst>
      <p:ext uri="{BB962C8B-B14F-4D97-AF65-F5344CB8AC3E}">
        <p14:creationId xmlns:p14="http://schemas.microsoft.com/office/powerpoint/2010/main" val="210821026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pic>
        <p:nvPicPr>
          <p:cNvPr id="9" name="Imag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7938" y="1715289"/>
            <a:ext cx="10916125" cy="4562540"/>
          </a:xfrm>
          <a:prstGeom prst="rect">
            <a:avLst/>
          </a:prstGeom>
        </p:spPr>
      </p:pic>
      <p:sp>
        <p:nvSpPr>
          <p:cNvPr id="2" name="Titre 1"/>
          <p:cNvSpPr>
            <a:spLocks noGrp="1"/>
          </p:cNvSpPr>
          <p:nvPr>
            <p:ph type="ctrTitle"/>
          </p:nvPr>
        </p:nvSpPr>
        <p:spPr>
          <a:xfrm>
            <a:off x="638400" y="1715040"/>
            <a:ext cx="7032000" cy="1749600"/>
          </a:xfrm>
          <a:solidFill>
            <a:schemeClr val="accent1">
              <a:alpha val="80000"/>
            </a:schemeClr>
          </a:solidFill>
        </p:spPr>
        <p:txBody>
          <a:bodyPr bIns="72000">
            <a:normAutofit/>
          </a:bodyPr>
          <a:lstStyle>
            <a:lvl1pPr>
              <a:defRPr sz="4320">
                <a:solidFill>
                  <a:schemeClr val="accent2"/>
                </a:solidFill>
              </a:defRPr>
            </a:lvl1pPr>
          </a:lstStyle>
          <a:p>
            <a:r>
              <a:rPr lang="fr-FR" noProof="0"/>
              <a:t>Modifiez le style du titre</a:t>
            </a:r>
            <a:endParaRPr lang="fr-CA" noProof="0" dirty="0"/>
          </a:p>
        </p:txBody>
      </p:sp>
      <p:sp>
        <p:nvSpPr>
          <p:cNvPr id="3" name="Sous-titre 2"/>
          <p:cNvSpPr>
            <a:spLocks noGrp="1"/>
          </p:cNvSpPr>
          <p:nvPr>
            <p:ph type="subTitle" idx="1"/>
          </p:nvPr>
        </p:nvSpPr>
        <p:spPr>
          <a:xfrm>
            <a:off x="638400" y="3555187"/>
            <a:ext cx="7022400" cy="482803"/>
          </a:xfrm>
          <a:solidFill>
            <a:schemeClr val="accent1">
              <a:alpha val="80000"/>
            </a:schemeClr>
          </a:solidFill>
        </p:spPr>
        <p:txBody>
          <a:bodyPr anchor="ctr" anchorCtr="0">
            <a:normAutofit/>
          </a:bodyPr>
          <a:lstStyle>
            <a:lvl1pPr marL="0" indent="0" algn="l">
              <a:buNone/>
              <a:defRPr sz="2400">
                <a:solidFill>
                  <a:schemeClr val="accent2"/>
                </a:solidFill>
              </a:defRPr>
            </a:lvl1pPr>
            <a:lvl2pPr marL="548640" indent="0" algn="ctr">
              <a:buNone/>
              <a:defRPr>
                <a:solidFill>
                  <a:schemeClr val="tx1">
                    <a:tint val="75000"/>
                  </a:schemeClr>
                </a:solidFill>
              </a:defRPr>
            </a:lvl2pPr>
            <a:lvl3pPr marL="1097280" indent="0" algn="ctr">
              <a:buNone/>
              <a:defRPr>
                <a:solidFill>
                  <a:schemeClr val="tx1">
                    <a:tint val="75000"/>
                  </a:schemeClr>
                </a:solidFill>
              </a:defRPr>
            </a:lvl3pPr>
            <a:lvl4pPr marL="1645920" indent="0" algn="ctr">
              <a:buNone/>
              <a:defRPr>
                <a:solidFill>
                  <a:schemeClr val="tx1">
                    <a:tint val="75000"/>
                  </a:schemeClr>
                </a:solidFill>
              </a:defRPr>
            </a:lvl4pPr>
            <a:lvl5pPr marL="2194560" indent="0" algn="ctr">
              <a:buNone/>
              <a:defRPr>
                <a:solidFill>
                  <a:schemeClr val="tx1">
                    <a:tint val="75000"/>
                  </a:schemeClr>
                </a:solidFill>
              </a:defRPr>
            </a:lvl5pPr>
            <a:lvl6pPr marL="2743200" indent="0" algn="ctr">
              <a:buNone/>
              <a:defRPr>
                <a:solidFill>
                  <a:schemeClr val="tx1">
                    <a:tint val="75000"/>
                  </a:schemeClr>
                </a:solidFill>
              </a:defRPr>
            </a:lvl6pPr>
            <a:lvl7pPr marL="3291840" indent="0" algn="ctr">
              <a:buNone/>
              <a:defRPr>
                <a:solidFill>
                  <a:schemeClr val="tx1">
                    <a:tint val="75000"/>
                  </a:schemeClr>
                </a:solidFill>
              </a:defRPr>
            </a:lvl7pPr>
            <a:lvl8pPr marL="3840480" indent="0" algn="ctr">
              <a:buNone/>
              <a:defRPr>
                <a:solidFill>
                  <a:schemeClr val="tx1">
                    <a:tint val="75000"/>
                  </a:schemeClr>
                </a:solidFill>
              </a:defRPr>
            </a:lvl8pPr>
            <a:lvl9pPr marL="4389120" indent="0" algn="ctr">
              <a:buNone/>
              <a:defRPr>
                <a:solidFill>
                  <a:schemeClr val="tx1">
                    <a:tint val="75000"/>
                  </a:schemeClr>
                </a:solidFill>
              </a:defRPr>
            </a:lvl9pPr>
          </a:lstStyle>
          <a:p>
            <a:r>
              <a:rPr lang="fr-FR" noProof="0"/>
              <a:t>Modifiez le style des sous-titres du masque</a:t>
            </a:r>
            <a:endParaRPr lang="fr-CA" noProof="0" dirty="0"/>
          </a:p>
        </p:txBody>
      </p:sp>
      <p:sp>
        <p:nvSpPr>
          <p:cNvPr id="6" name="Espace réservé du numéro de diapositive 5"/>
          <p:cNvSpPr>
            <a:spLocks noGrp="1"/>
          </p:cNvSpPr>
          <p:nvPr>
            <p:ph type="sldNum" sz="quarter" idx="12"/>
          </p:nvPr>
        </p:nvSpPr>
        <p:spPr>
          <a:xfrm>
            <a:off x="10934400" y="6462720"/>
            <a:ext cx="619200" cy="164160"/>
          </a:xfrm>
        </p:spPr>
        <p:txBody>
          <a:bodyPr vert="horz" lIns="91440" tIns="45720" rIns="91440" bIns="45720" rtlCol="0" anchor="ctr"/>
          <a:lstStyle>
            <a:lvl1pPr marL="0" algn="r" defTabSz="1097280" rtl="0" eaLnBrk="1" latinLnBrk="0" hangingPunct="1">
              <a:defRPr lang="fr-CA" sz="804" kern="1200" smtClean="0">
                <a:solidFill>
                  <a:schemeClr val="accent2"/>
                </a:solidFill>
                <a:latin typeface="+mn-lt"/>
                <a:ea typeface="+mn-ea"/>
                <a:cs typeface="+mn-cs"/>
              </a:defRPr>
            </a:lvl1pPr>
          </a:lstStyle>
          <a:p>
            <a:fld id="{EEB25B09-B9A6-4811-8700-6D36B9CE20D1}" type="slidenum">
              <a:rPr lang="fr-CA" smtClean="0"/>
              <a:t>‹N°›</a:t>
            </a:fld>
            <a:endParaRPr lang="fr-CA"/>
          </a:p>
        </p:txBody>
      </p:sp>
      <p:pic>
        <p:nvPicPr>
          <p:cNvPr id="7" name="Imag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9892" y="280875"/>
            <a:ext cx="7043697" cy="978868"/>
          </a:xfrm>
          <a:prstGeom prst="rect">
            <a:avLst/>
          </a:prstGeom>
        </p:spPr>
      </p:pic>
      <p:sp>
        <p:nvSpPr>
          <p:cNvPr id="11" name="Espace réservé du pied de page 10"/>
          <p:cNvSpPr>
            <a:spLocks noGrp="1"/>
          </p:cNvSpPr>
          <p:nvPr>
            <p:ph type="ftr" sz="quarter" idx="14"/>
          </p:nvPr>
        </p:nvSpPr>
        <p:spPr>
          <a:xfrm>
            <a:off x="637938" y="6033953"/>
            <a:ext cx="2865599" cy="240066"/>
          </a:xfrm>
          <a:solidFill>
            <a:schemeClr val="accent1"/>
          </a:solidFill>
        </p:spPr>
        <p:txBody>
          <a:bodyPr/>
          <a:lstStyle>
            <a:lvl1pPr algn="l">
              <a:defRPr sz="1560" cap="all" baseline="0">
                <a:solidFill>
                  <a:schemeClr val="bg1"/>
                </a:solidFill>
              </a:defRPr>
            </a:lvl1pPr>
          </a:lstStyle>
          <a:p>
            <a:r>
              <a:rPr lang="fr-CA"/>
              <a:t>(C) HEC Montréal</a:t>
            </a:r>
          </a:p>
        </p:txBody>
      </p:sp>
      <p:sp>
        <p:nvSpPr>
          <p:cNvPr id="13" name="Espace réservé de la date 12"/>
          <p:cNvSpPr>
            <a:spLocks noGrp="1"/>
          </p:cNvSpPr>
          <p:nvPr>
            <p:ph type="dt" sz="half" idx="15"/>
          </p:nvPr>
        </p:nvSpPr>
        <p:spPr/>
        <p:txBody>
          <a:bodyPr/>
          <a:lstStyle/>
          <a:p>
            <a:fld id="{6F209ACA-7BBF-4EC0-BF7D-E731B9F2AA44}" type="datetime1">
              <a:rPr lang="fr-CA" smtClean="0"/>
              <a:t>2025-04-11</a:t>
            </a:fld>
            <a:endParaRPr lang="fr-CA"/>
          </a:p>
        </p:txBody>
      </p:sp>
    </p:spTree>
    <p:extLst>
      <p:ext uri="{BB962C8B-B14F-4D97-AF65-F5344CB8AC3E}">
        <p14:creationId xmlns:p14="http://schemas.microsoft.com/office/powerpoint/2010/main" val="34073480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638400" y="575623"/>
            <a:ext cx="10915200" cy="987552"/>
          </a:xfrm>
        </p:spPr>
        <p:txBody>
          <a:bodyPr/>
          <a:lstStyle/>
          <a:p>
            <a:r>
              <a:rPr lang="fr-CA" noProof="0" dirty="0"/>
              <a:t>Click to </a:t>
            </a:r>
            <a:r>
              <a:rPr lang="fr-CA" noProof="0" dirty="0" err="1"/>
              <a:t>edit</a:t>
            </a:r>
            <a:r>
              <a:rPr lang="fr-CA" noProof="0" dirty="0"/>
              <a:t> </a:t>
            </a:r>
            <a:r>
              <a:rPr lang="fr-CA" noProof="0" dirty="0" err="1"/>
              <a:t>title</a:t>
            </a:r>
            <a:r>
              <a:rPr lang="fr-CA" noProof="0" dirty="0"/>
              <a:t> style</a:t>
            </a:r>
          </a:p>
        </p:txBody>
      </p:sp>
      <p:sp>
        <p:nvSpPr>
          <p:cNvPr id="3" name="Espace réservé du contenu 2"/>
          <p:cNvSpPr>
            <a:spLocks noGrp="1"/>
          </p:cNvSpPr>
          <p:nvPr>
            <p:ph idx="1"/>
          </p:nvPr>
        </p:nvSpPr>
        <p:spPr>
          <a:xfrm>
            <a:off x="638400" y="1893224"/>
            <a:ext cx="10915200" cy="3825587"/>
          </a:xfrm>
        </p:spPr>
        <p:txBody>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4" name="Espace réservé de la date 3"/>
          <p:cNvSpPr>
            <a:spLocks noGrp="1"/>
          </p:cNvSpPr>
          <p:nvPr>
            <p:ph type="dt" sz="half" idx="10"/>
          </p:nvPr>
        </p:nvSpPr>
        <p:spPr/>
        <p:txBody>
          <a:bodyPr/>
          <a:lstStyle/>
          <a:p>
            <a:fld id="{1FCFD08F-A634-4356-AF25-51BD30523E2C}" type="datetime1">
              <a:rPr lang="fr-CA" smtClean="0"/>
              <a:t>2025-04-11</a:t>
            </a:fld>
            <a:endParaRPr lang="fr-CA"/>
          </a:p>
        </p:txBody>
      </p:sp>
      <p:sp>
        <p:nvSpPr>
          <p:cNvPr id="5" name="Espace réservé du pied de page 4"/>
          <p:cNvSpPr>
            <a:spLocks noGrp="1"/>
          </p:cNvSpPr>
          <p:nvPr>
            <p:ph type="ftr" sz="quarter" idx="11"/>
          </p:nvPr>
        </p:nvSpPr>
        <p:spPr/>
        <p:txBody>
          <a:bodyPr/>
          <a:lstStyle/>
          <a:p>
            <a:r>
              <a:rPr lang="fr-CA"/>
              <a:t>(C) HEC Montréal</a:t>
            </a:r>
          </a:p>
        </p:txBody>
      </p:sp>
      <p:sp>
        <p:nvSpPr>
          <p:cNvPr id="6" name="Espace réservé du numéro de diapositive 5"/>
          <p:cNvSpPr>
            <a:spLocks noGrp="1"/>
          </p:cNvSpPr>
          <p:nvPr>
            <p:ph type="sldNum" sz="quarter" idx="12"/>
          </p:nvPr>
        </p:nvSpPr>
        <p:spPr/>
        <p:txBody>
          <a:bodyPr/>
          <a:lstStyle/>
          <a:p>
            <a:fld id="{EEB25B09-B9A6-4811-8700-6D36B9CE20D1}" type="slidenum">
              <a:rPr lang="fr-CA" smtClean="0"/>
              <a:t>‹N°›</a:t>
            </a:fld>
            <a:endParaRPr lang="fr-CA"/>
          </a:p>
        </p:txBody>
      </p:sp>
      <p:sp>
        <p:nvSpPr>
          <p:cNvPr id="7" name="TextBox 6"/>
          <p:cNvSpPr txBox="1"/>
          <p:nvPr/>
        </p:nvSpPr>
        <p:spPr>
          <a:xfrm>
            <a:off x="461433" y="5718810"/>
            <a:ext cx="1219200" cy="1097280"/>
          </a:xfrm>
          <a:prstGeom prst="rect">
            <a:avLst/>
          </a:prstGeom>
        </p:spPr>
        <p:txBody>
          <a:bodyPr vert="horz" wrap="none" lIns="109728" tIns="54864" rIns="109728" bIns="54864" rtlCol="0">
            <a:normAutofit/>
          </a:bodyPr>
          <a:lstStyle/>
          <a:p>
            <a:pPr marL="185760" indent="-185760">
              <a:buClr>
                <a:schemeClr val="accent2"/>
              </a:buClr>
              <a:buSzPct val="125000"/>
              <a:buFont typeface="Arial" panose="020B0604020202020204" pitchFamily="34" charset="0"/>
              <a:buChar char="•"/>
            </a:pPr>
            <a:endParaRPr lang="fr-CA" sz="2004" noProof="0" dirty="0"/>
          </a:p>
        </p:txBody>
      </p:sp>
    </p:spTree>
    <p:extLst>
      <p:ext uri="{BB962C8B-B14F-4D97-AF65-F5344CB8AC3E}">
        <p14:creationId xmlns:p14="http://schemas.microsoft.com/office/powerpoint/2010/main" val="3464124062"/>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4" name="Rectangle 3"/>
          <p:cNvSpPr/>
          <p:nvPr/>
        </p:nvSpPr>
        <p:spPr>
          <a:xfrm>
            <a:off x="2749419" y="4143767"/>
            <a:ext cx="8804180" cy="17337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160" noProof="0" dirty="0"/>
          </a:p>
        </p:txBody>
      </p:sp>
      <p:pic>
        <p:nvPicPr>
          <p:cNvPr id="8" name="Image 7"/>
          <p:cNvPicPr>
            <a:picLocks noChangeAspect="1"/>
          </p:cNvPicPr>
          <p:nvPr/>
        </p:nvPicPr>
        <p:blipFill rotWithShape="1">
          <a:blip r:embed="rId2" cstate="print">
            <a:extLst>
              <a:ext uri="{28A0092B-C50C-407E-A947-70E740481C1C}">
                <a14:useLocalDpi xmlns:a14="http://schemas.microsoft.com/office/drawing/2010/main" val="0"/>
              </a:ext>
            </a:extLst>
          </a:blip>
          <a:srcRect t="-914"/>
          <a:stretch/>
        </p:blipFill>
        <p:spPr>
          <a:xfrm>
            <a:off x="7787951" y="1685399"/>
            <a:ext cx="3766109" cy="2367820"/>
          </a:xfrm>
          <a:prstGeom prst="rect">
            <a:avLst/>
          </a:prstGeom>
        </p:spPr>
      </p:pic>
      <p:sp>
        <p:nvSpPr>
          <p:cNvPr id="2" name="Titre 1"/>
          <p:cNvSpPr>
            <a:spLocks noGrp="1"/>
          </p:cNvSpPr>
          <p:nvPr>
            <p:ph type="title"/>
          </p:nvPr>
        </p:nvSpPr>
        <p:spPr>
          <a:xfrm>
            <a:off x="638400" y="1715039"/>
            <a:ext cx="7032000" cy="1749600"/>
          </a:xfrm>
          <a:solidFill>
            <a:schemeClr val="accent1"/>
          </a:solidFill>
        </p:spPr>
        <p:txBody>
          <a:bodyPr vert="horz" lIns="91440" tIns="45720" rIns="91440" bIns="72000" rtlCol="0" anchor="ctr">
            <a:normAutofit/>
          </a:bodyPr>
          <a:lstStyle>
            <a:lvl1pPr algn="l" defTabSz="1097280" rtl="0" eaLnBrk="1" latinLnBrk="0" hangingPunct="1">
              <a:spcBef>
                <a:spcPct val="0"/>
              </a:spcBef>
              <a:buNone/>
              <a:defRPr lang="fr-CA" sz="4320" b="1" kern="1200" dirty="0">
                <a:solidFill>
                  <a:schemeClr val="accent2"/>
                </a:solidFill>
                <a:latin typeface="+mj-lt"/>
                <a:ea typeface="+mj-ea"/>
                <a:cs typeface="+mj-cs"/>
              </a:defRPr>
            </a:lvl1pPr>
          </a:lstStyle>
          <a:p>
            <a:r>
              <a:rPr lang="fr-FR" noProof="0"/>
              <a:t>Modifiez le style du titre</a:t>
            </a:r>
            <a:endParaRPr lang="fr-CA" noProof="0" dirty="0"/>
          </a:p>
        </p:txBody>
      </p:sp>
      <p:sp>
        <p:nvSpPr>
          <p:cNvPr id="3" name="Espace réservé du texte 2"/>
          <p:cNvSpPr>
            <a:spLocks noGrp="1"/>
          </p:cNvSpPr>
          <p:nvPr>
            <p:ph type="body" idx="1"/>
          </p:nvPr>
        </p:nvSpPr>
        <p:spPr>
          <a:xfrm>
            <a:off x="638400" y="3555187"/>
            <a:ext cx="7022400" cy="482803"/>
          </a:xfrm>
          <a:solidFill>
            <a:schemeClr val="accent1"/>
          </a:solidFill>
        </p:spPr>
        <p:txBody>
          <a:bodyPr vert="horz" lIns="91440" tIns="45720" rIns="91440" bIns="45720" rtlCol="0" anchor="ctr" anchorCtr="0">
            <a:normAutofit/>
          </a:bodyPr>
          <a:lstStyle>
            <a:lvl1pPr marL="0" indent="0" algn="l" defTabSz="1097280" rtl="0" eaLnBrk="1" latinLnBrk="0" hangingPunct="1">
              <a:spcBef>
                <a:spcPct val="20000"/>
              </a:spcBef>
              <a:buClr>
                <a:schemeClr val="accent2"/>
              </a:buClr>
              <a:buSzPct val="125000"/>
              <a:buFont typeface="Arial" pitchFamily="34" charset="0"/>
              <a:buNone/>
              <a:defRPr lang="fr-FR" sz="2400" kern="1200" smtClean="0">
                <a:solidFill>
                  <a:schemeClr val="accent2"/>
                </a:solidFill>
                <a:latin typeface="+mn-lt"/>
                <a:ea typeface="+mn-ea"/>
                <a:cs typeface="+mn-cs"/>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fr-FR" noProof="0"/>
              <a:t>Cliquez pour modifier les styles du texte du masque</a:t>
            </a:r>
          </a:p>
        </p:txBody>
      </p:sp>
      <p:sp>
        <p:nvSpPr>
          <p:cNvPr id="6" name="Espace réservé du numéro de diapositive 5"/>
          <p:cNvSpPr>
            <a:spLocks noGrp="1"/>
          </p:cNvSpPr>
          <p:nvPr>
            <p:ph type="sldNum" sz="quarter" idx="12"/>
          </p:nvPr>
        </p:nvSpPr>
        <p:spPr/>
        <p:txBody>
          <a:bodyPr/>
          <a:lstStyle/>
          <a:p>
            <a:fld id="{EEB25B09-B9A6-4811-8700-6D36B9CE20D1}" type="slidenum">
              <a:rPr lang="fr-CA" smtClean="0"/>
              <a:t>‹N°›</a:t>
            </a:fld>
            <a:endParaRPr lang="fr-CA"/>
          </a:p>
        </p:txBody>
      </p:sp>
      <p:sp>
        <p:nvSpPr>
          <p:cNvPr id="10" name="Espace réservé de la date 9"/>
          <p:cNvSpPr>
            <a:spLocks noGrp="1"/>
          </p:cNvSpPr>
          <p:nvPr>
            <p:ph type="dt" sz="half" idx="13"/>
          </p:nvPr>
        </p:nvSpPr>
        <p:spPr/>
        <p:txBody>
          <a:bodyPr/>
          <a:lstStyle/>
          <a:p>
            <a:fld id="{8220C085-1508-4614-B0F1-1F18AC82EAEC}" type="datetime1">
              <a:rPr lang="fr-CA" smtClean="0"/>
              <a:t>2025-04-11</a:t>
            </a:fld>
            <a:endParaRPr lang="fr-CA"/>
          </a:p>
        </p:txBody>
      </p:sp>
      <p:sp>
        <p:nvSpPr>
          <p:cNvPr id="11" name="Espace réservé du pied de page 10"/>
          <p:cNvSpPr>
            <a:spLocks noGrp="1"/>
          </p:cNvSpPr>
          <p:nvPr>
            <p:ph type="ftr" sz="quarter" idx="14"/>
          </p:nvPr>
        </p:nvSpPr>
        <p:spPr/>
        <p:txBody>
          <a:bodyPr/>
          <a:lstStyle/>
          <a:p>
            <a:r>
              <a:rPr lang="fr-CA"/>
              <a:t>(C) HEC Montréal</a:t>
            </a:r>
          </a:p>
        </p:txBody>
      </p:sp>
      <p:pic>
        <p:nvPicPr>
          <p:cNvPr id="12" name="Image 7"/>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652800" y="4142793"/>
            <a:ext cx="1997093" cy="1733702"/>
          </a:xfrm>
          <a:prstGeom prst="rect">
            <a:avLst/>
          </a:prstGeom>
        </p:spPr>
      </p:pic>
      <p:pic>
        <p:nvPicPr>
          <p:cNvPr id="13" name="Imag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89805" y="6038593"/>
            <a:ext cx="2053463" cy="255431"/>
          </a:xfrm>
          <a:prstGeom prst="rect">
            <a:avLst/>
          </a:prstGeom>
        </p:spPr>
      </p:pic>
    </p:spTree>
    <p:extLst>
      <p:ext uri="{BB962C8B-B14F-4D97-AF65-F5344CB8AC3E}">
        <p14:creationId xmlns:p14="http://schemas.microsoft.com/office/powerpoint/2010/main" val="4964440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638400" y="577216"/>
            <a:ext cx="10915200" cy="988033"/>
          </a:xfrm>
        </p:spPr>
        <p:txBody>
          <a:bodyPr/>
          <a:lstStyle/>
          <a:p>
            <a:r>
              <a:rPr lang="fr-FR" noProof="0"/>
              <a:t>Modifiez le style du titre</a:t>
            </a:r>
            <a:endParaRPr lang="fr-CA" noProof="0" dirty="0"/>
          </a:p>
        </p:txBody>
      </p:sp>
      <p:sp>
        <p:nvSpPr>
          <p:cNvPr id="3" name="Espace réservé du contenu 2"/>
          <p:cNvSpPr>
            <a:spLocks noGrp="1"/>
          </p:cNvSpPr>
          <p:nvPr>
            <p:ph sz="half" idx="1"/>
          </p:nvPr>
        </p:nvSpPr>
        <p:spPr>
          <a:xfrm>
            <a:off x="609600" y="1821282"/>
            <a:ext cx="5384800" cy="3897529"/>
          </a:xfrm>
        </p:spPr>
        <p:txBody>
          <a:bodyPr>
            <a:normAutofit/>
          </a:bodyPr>
          <a:lstStyle>
            <a:lvl1pPr>
              <a:defRPr sz="2004"/>
            </a:lvl1pPr>
            <a:lvl2pPr>
              <a:defRPr sz="2004"/>
            </a:lvl2pPr>
            <a:lvl3pPr>
              <a:defRPr sz="2004"/>
            </a:lvl3pPr>
            <a:lvl4pPr>
              <a:defRPr sz="2004"/>
            </a:lvl4pPr>
            <a:lvl5pPr>
              <a:defRPr sz="2004"/>
            </a:lvl5pPr>
            <a:lvl6pPr>
              <a:defRPr sz="2160"/>
            </a:lvl6pPr>
            <a:lvl7pPr>
              <a:defRPr sz="2160"/>
            </a:lvl7pPr>
            <a:lvl8pPr>
              <a:defRPr sz="2160"/>
            </a:lvl8pPr>
            <a:lvl9pPr>
              <a:defRPr sz="216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4" name="Espace réservé du contenu 3"/>
          <p:cNvSpPr>
            <a:spLocks noGrp="1"/>
          </p:cNvSpPr>
          <p:nvPr>
            <p:ph sz="half" idx="2"/>
          </p:nvPr>
        </p:nvSpPr>
        <p:spPr>
          <a:xfrm>
            <a:off x="6197600" y="1821282"/>
            <a:ext cx="5384800" cy="3897529"/>
          </a:xfrm>
        </p:spPr>
        <p:txBody>
          <a:bodyPr>
            <a:normAutofit/>
          </a:bodyPr>
          <a:lstStyle>
            <a:lvl1pPr>
              <a:defRPr sz="2004"/>
            </a:lvl1pPr>
            <a:lvl2pPr>
              <a:defRPr sz="2004"/>
            </a:lvl2pPr>
            <a:lvl3pPr>
              <a:defRPr sz="2004"/>
            </a:lvl3pPr>
            <a:lvl4pPr>
              <a:defRPr sz="2004"/>
            </a:lvl4pPr>
            <a:lvl5pPr>
              <a:defRPr sz="2004"/>
            </a:lvl5pPr>
            <a:lvl6pPr>
              <a:defRPr sz="2160"/>
            </a:lvl6pPr>
            <a:lvl7pPr>
              <a:defRPr sz="2160"/>
            </a:lvl7pPr>
            <a:lvl8pPr>
              <a:defRPr sz="2160"/>
            </a:lvl8pPr>
            <a:lvl9pPr>
              <a:defRPr sz="216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5" name="Espace réservé de la date 4"/>
          <p:cNvSpPr>
            <a:spLocks noGrp="1"/>
          </p:cNvSpPr>
          <p:nvPr>
            <p:ph type="dt" sz="half" idx="10"/>
          </p:nvPr>
        </p:nvSpPr>
        <p:spPr/>
        <p:txBody>
          <a:bodyPr/>
          <a:lstStyle/>
          <a:p>
            <a:fld id="{D754D4E9-1560-446A-9A79-0A4BFE25B737}" type="datetime1">
              <a:rPr lang="fr-CA" smtClean="0"/>
              <a:t>2025-04-11</a:t>
            </a:fld>
            <a:endParaRPr lang="fr-CA"/>
          </a:p>
        </p:txBody>
      </p:sp>
      <p:sp>
        <p:nvSpPr>
          <p:cNvPr id="6" name="Espace réservé du pied de page 5"/>
          <p:cNvSpPr>
            <a:spLocks noGrp="1"/>
          </p:cNvSpPr>
          <p:nvPr>
            <p:ph type="ftr" sz="quarter" idx="11"/>
          </p:nvPr>
        </p:nvSpPr>
        <p:spPr/>
        <p:txBody>
          <a:bodyPr/>
          <a:lstStyle/>
          <a:p>
            <a:r>
              <a:rPr lang="fr-CA"/>
              <a:t>(C) HEC Montréal</a:t>
            </a:r>
          </a:p>
        </p:txBody>
      </p:sp>
      <p:sp>
        <p:nvSpPr>
          <p:cNvPr id="7" name="Espace réservé du numéro de diapositive 6"/>
          <p:cNvSpPr>
            <a:spLocks noGrp="1"/>
          </p:cNvSpPr>
          <p:nvPr>
            <p:ph type="sldNum" sz="quarter" idx="12"/>
          </p:nvPr>
        </p:nvSpPr>
        <p:spPr/>
        <p:txBody>
          <a:bodyPr/>
          <a:lstStyle/>
          <a:p>
            <a:fld id="{EEB25B09-B9A6-4811-8700-6D36B9CE20D1}" type="slidenum">
              <a:rPr lang="fr-CA" smtClean="0"/>
              <a:t>‹N°›</a:t>
            </a:fld>
            <a:endParaRPr lang="fr-CA"/>
          </a:p>
        </p:txBody>
      </p:sp>
    </p:spTree>
    <p:extLst>
      <p:ext uri="{BB962C8B-B14F-4D97-AF65-F5344CB8AC3E}">
        <p14:creationId xmlns:p14="http://schemas.microsoft.com/office/powerpoint/2010/main" val="1924749977"/>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638400" y="574442"/>
            <a:ext cx="10915200" cy="984599"/>
          </a:xfrm>
        </p:spPr>
        <p:txBody>
          <a:bodyPr/>
          <a:lstStyle>
            <a:lvl1pPr>
              <a:defRPr/>
            </a:lvl1pPr>
          </a:lstStyle>
          <a:p>
            <a:r>
              <a:rPr lang="fr-FR" noProof="0"/>
              <a:t>Modifiez le style du titre</a:t>
            </a:r>
            <a:endParaRPr lang="fr-CA" noProof="0" dirty="0"/>
          </a:p>
        </p:txBody>
      </p:sp>
      <p:sp>
        <p:nvSpPr>
          <p:cNvPr id="3" name="Espace réservé du texte 2"/>
          <p:cNvSpPr>
            <a:spLocks noGrp="1"/>
          </p:cNvSpPr>
          <p:nvPr>
            <p:ph type="body" idx="1"/>
          </p:nvPr>
        </p:nvSpPr>
        <p:spPr>
          <a:xfrm>
            <a:off x="609600" y="1813561"/>
            <a:ext cx="5386917" cy="639762"/>
          </a:xfrm>
        </p:spPr>
        <p:txBody>
          <a:bodyPr anchor="b">
            <a:noAutofit/>
          </a:bodyPr>
          <a:lstStyle>
            <a:lvl1pPr marL="0" indent="0">
              <a:buNone/>
              <a:defRPr sz="1800" b="1" cap="all" baseline="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fr-FR" noProof="0"/>
              <a:t>Cliquez pour modifier les styles du texte du masque</a:t>
            </a:r>
          </a:p>
        </p:txBody>
      </p:sp>
      <p:sp>
        <p:nvSpPr>
          <p:cNvPr id="4" name="Espace réservé du contenu 3"/>
          <p:cNvSpPr>
            <a:spLocks noGrp="1"/>
          </p:cNvSpPr>
          <p:nvPr>
            <p:ph sz="half" idx="2"/>
          </p:nvPr>
        </p:nvSpPr>
        <p:spPr>
          <a:xfrm>
            <a:off x="609600" y="2453323"/>
            <a:ext cx="5386917" cy="3265488"/>
          </a:xfrm>
        </p:spPr>
        <p:txBody>
          <a:bodyPr>
            <a:normAutofit/>
          </a:bodyPr>
          <a:lstStyle>
            <a:lvl1pPr>
              <a:defRPr sz="2004"/>
            </a:lvl1pPr>
            <a:lvl2pPr>
              <a:defRPr sz="2004"/>
            </a:lvl2pPr>
            <a:lvl3pPr>
              <a:defRPr sz="2004"/>
            </a:lvl3pPr>
            <a:lvl4pPr>
              <a:defRPr sz="2004"/>
            </a:lvl4pPr>
            <a:lvl5pPr>
              <a:defRPr sz="2004"/>
            </a:lvl5pPr>
            <a:lvl6pPr>
              <a:defRPr sz="1920"/>
            </a:lvl6pPr>
            <a:lvl7pPr>
              <a:defRPr sz="1920"/>
            </a:lvl7pPr>
            <a:lvl8pPr>
              <a:defRPr sz="1920"/>
            </a:lvl8pPr>
            <a:lvl9pPr>
              <a:defRPr sz="192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5" name="Espace réservé du texte 4"/>
          <p:cNvSpPr>
            <a:spLocks noGrp="1"/>
          </p:cNvSpPr>
          <p:nvPr>
            <p:ph type="body" sz="quarter" idx="3"/>
          </p:nvPr>
        </p:nvSpPr>
        <p:spPr>
          <a:xfrm>
            <a:off x="6193369" y="1813561"/>
            <a:ext cx="5389033" cy="639762"/>
          </a:xfrm>
        </p:spPr>
        <p:txBody>
          <a:bodyPr anchor="b">
            <a:noAutofit/>
          </a:bodyPr>
          <a:lstStyle>
            <a:lvl1pPr marL="0" indent="0">
              <a:buNone/>
              <a:defRPr sz="1800" b="1" cap="all" baseline="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fr-FR" noProof="0"/>
              <a:t>Cliquez pour modifier les styles du texte du masque</a:t>
            </a:r>
          </a:p>
        </p:txBody>
      </p:sp>
      <p:sp>
        <p:nvSpPr>
          <p:cNvPr id="6" name="Espace réservé du contenu 5"/>
          <p:cNvSpPr>
            <a:spLocks noGrp="1"/>
          </p:cNvSpPr>
          <p:nvPr>
            <p:ph sz="quarter" idx="4"/>
          </p:nvPr>
        </p:nvSpPr>
        <p:spPr>
          <a:xfrm>
            <a:off x="6193369" y="2453323"/>
            <a:ext cx="5389033" cy="3265488"/>
          </a:xfrm>
        </p:spPr>
        <p:txBody>
          <a:bodyPr>
            <a:normAutofit/>
          </a:bodyPr>
          <a:lstStyle>
            <a:lvl1pPr>
              <a:defRPr sz="2004"/>
            </a:lvl1pPr>
            <a:lvl2pPr>
              <a:defRPr sz="2004"/>
            </a:lvl2pPr>
            <a:lvl3pPr>
              <a:defRPr sz="2004"/>
            </a:lvl3pPr>
            <a:lvl4pPr>
              <a:defRPr sz="2004"/>
            </a:lvl4pPr>
            <a:lvl5pPr>
              <a:defRPr sz="2004"/>
            </a:lvl5pPr>
            <a:lvl6pPr>
              <a:defRPr sz="1920"/>
            </a:lvl6pPr>
            <a:lvl7pPr>
              <a:defRPr sz="1920"/>
            </a:lvl7pPr>
            <a:lvl8pPr>
              <a:defRPr sz="1920"/>
            </a:lvl8pPr>
            <a:lvl9pPr>
              <a:defRPr sz="192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7" name="Espace réservé de la date 6"/>
          <p:cNvSpPr>
            <a:spLocks noGrp="1"/>
          </p:cNvSpPr>
          <p:nvPr>
            <p:ph type="dt" sz="half" idx="10"/>
          </p:nvPr>
        </p:nvSpPr>
        <p:spPr/>
        <p:txBody>
          <a:bodyPr/>
          <a:lstStyle/>
          <a:p>
            <a:fld id="{194E6A3E-1486-4570-AFA1-52D14D11BF81}" type="datetime1">
              <a:rPr lang="fr-CA" smtClean="0"/>
              <a:t>2025-04-11</a:t>
            </a:fld>
            <a:endParaRPr lang="fr-CA"/>
          </a:p>
        </p:txBody>
      </p:sp>
      <p:sp>
        <p:nvSpPr>
          <p:cNvPr id="8" name="Espace réservé du pied de page 7"/>
          <p:cNvSpPr>
            <a:spLocks noGrp="1"/>
          </p:cNvSpPr>
          <p:nvPr>
            <p:ph type="ftr" sz="quarter" idx="11"/>
          </p:nvPr>
        </p:nvSpPr>
        <p:spPr/>
        <p:txBody>
          <a:bodyPr/>
          <a:lstStyle/>
          <a:p>
            <a:r>
              <a:rPr lang="fr-CA"/>
              <a:t>(C) HEC Montréal</a:t>
            </a:r>
          </a:p>
        </p:txBody>
      </p:sp>
      <p:sp>
        <p:nvSpPr>
          <p:cNvPr id="9" name="Espace réservé du numéro de diapositive 8"/>
          <p:cNvSpPr>
            <a:spLocks noGrp="1"/>
          </p:cNvSpPr>
          <p:nvPr>
            <p:ph type="sldNum" sz="quarter" idx="12"/>
          </p:nvPr>
        </p:nvSpPr>
        <p:spPr/>
        <p:txBody>
          <a:bodyPr/>
          <a:lstStyle/>
          <a:p>
            <a:fld id="{EEB25B09-B9A6-4811-8700-6D36B9CE20D1}" type="slidenum">
              <a:rPr lang="fr-CA" smtClean="0"/>
              <a:t>‹N°›</a:t>
            </a:fld>
            <a:endParaRPr lang="fr-CA"/>
          </a:p>
        </p:txBody>
      </p:sp>
    </p:spTree>
    <p:extLst>
      <p:ext uri="{BB962C8B-B14F-4D97-AF65-F5344CB8AC3E}">
        <p14:creationId xmlns:p14="http://schemas.microsoft.com/office/powerpoint/2010/main" val="160874445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638400" y="577216"/>
            <a:ext cx="10915200" cy="983730"/>
          </a:xfrm>
        </p:spPr>
        <p:txBody>
          <a:bodyPr/>
          <a:lstStyle/>
          <a:p>
            <a:r>
              <a:rPr lang="fr-FR" noProof="0"/>
              <a:t>Modifiez le style du titre</a:t>
            </a:r>
            <a:endParaRPr lang="fr-CA" noProof="0" dirty="0"/>
          </a:p>
        </p:txBody>
      </p:sp>
      <p:sp>
        <p:nvSpPr>
          <p:cNvPr id="3" name="Espace réservé de la date 2"/>
          <p:cNvSpPr>
            <a:spLocks noGrp="1"/>
          </p:cNvSpPr>
          <p:nvPr>
            <p:ph type="dt" sz="half" idx="10"/>
          </p:nvPr>
        </p:nvSpPr>
        <p:spPr/>
        <p:txBody>
          <a:bodyPr/>
          <a:lstStyle/>
          <a:p>
            <a:fld id="{D53614DC-C1E4-4FBF-A1ED-B6C8547424CD}" type="datetime1">
              <a:rPr lang="fr-CA" smtClean="0"/>
              <a:t>2025-04-11</a:t>
            </a:fld>
            <a:endParaRPr lang="fr-CA"/>
          </a:p>
        </p:txBody>
      </p:sp>
      <p:sp>
        <p:nvSpPr>
          <p:cNvPr id="4" name="Espace réservé du pied de page 3"/>
          <p:cNvSpPr>
            <a:spLocks noGrp="1"/>
          </p:cNvSpPr>
          <p:nvPr>
            <p:ph type="ftr" sz="quarter" idx="11"/>
          </p:nvPr>
        </p:nvSpPr>
        <p:spPr/>
        <p:txBody>
          <a:bodyPr/>
          <a:lstStyle/>
          <a:p>
            <a:r>
              <a:rPr lang="fr-CA"/>
              <a:t>(C) HEC Montréal</a:t>
            </a:r>
          </a:p>
        </p:txBody>
      </p:sp>
      <p:sp>
        <p:nvSpPr>
          <p:cNvPr id="5" name="Espace réservé du numéro de diapositive 4"/>
          <p:cNvSpPr>
            <a:spLocks noGrp="1"/>
          </p:cNvSpPr>
          <p:nvPr>
            <p:ph type="sldNum" sz="quarter" idx="12"/>
          </p:nvPr>
        </p:nvSpPr>
        <p:spPr/>
        <p:txBody>
          <a:bodyPr/>
          <a:lstStyle/>
          <a:p>
            <a:fld id="{EEB25B09-B9A6-4811-8700-6D36B9CE20D1}" type="slidenum">
              <a:rPr lang="fr-CA" smtClean="0"/>
              <a:t>‹N°›</a:t>
            </a:fld>
            <a:endParaRPr lang="fr-CA"/>
          </a:p>
        </p:txBody>
      </p:sp>
    </p:spTree>
    <p:extLst>
      <p:ext uri="{BB962C8B-B14F-4D97-AF65-F5344CB8AC3E}">
        <p14:creationId xmlns:p14="http://schemas.microsoft.com/office/powerpoint/2010/main" val="2178933048"/>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8DBB6414-2A4B-4245-B6D6-C1B3C088AFC9}" type="datetime1">
              <a:rPr lang="fr-CA" smtClean="0"/>
              <a:t>2025-04-11</a:t>
            </a:fld>
            <a:endParaRPr lang="fr-CA"/>
          </a:p>
        </p:txBody>
      </p:sp>
      <p:sp>
        <p:nvSpPr>
          <p:cNvPr id="3" name="Espace réservé du pied de page 2"/>
          <p:cNvSpPr>
            <a:spLocks noGrp="1"/>
          </p:cNvSpPr>
          <p:nvPr>
            <p:ph type="ftr" sz="quarter" idx="11"/>
          </p:nvPr>
        </p:nvSpPr>
        <p:spPr/>
        <p:txBody>
          <a:bodyPr/>
          <a:lstStyle/>
          <a:p>
            <a:r>
              <a:rPr lang="fr-CA"/>
              <a:t>(C) HEC Montréal</a:t>
            </a:r>
          </a:p>
        </p:txBody>
      </p:sp>
      <p:sp>
        <p:nvSpPr>
          <p:cNvPr id="4" name="Espace réservé du numéro de diapositive 3"/>
          <p:cNvSpPr>
            <a:spLocks noGrp="1"/>
          </p:cNvSpPr>
          <p:nvPr>
            <p:ph type="sldNum" sz="quarter" idx="12"/>
          </p:nvPr>
        </p:nvSpPr>
        <p:spPr/>
        <p:txBody>
          <a:bodyPr/>
          <a:lstStyle/>
          <a:p>
            <a:fld id="{EEB25B09-B9A6-4811-8700-6D36B9CE20D1}" type="slidenum">
              <a:rPr lang="fr-CA" smtClean="0"/>
              <a:t>‹N°›</a:t>
            </a:fld>
            <a:endParaRPr lang="fr-CA"/>
          </a:p>
        </p:txBody>
      </p:sp>
    </p:spTree>
    <p:extLst>
      <p:ext uri="{BB962C8B-B14F-4D97-AF65-F5344CB8AC3E}">
        <p14:creationId xmlns:p14="http://schemas.microsoft.com/office/powerpoint/2010/main" val="28863202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38400" y="572631"/>
            <a:ext cx="10915200" cy="986410"/>
          </a:xfrm>
        </p:spPr>
        <p:txBody>
          <a:bodyPr anchor="ctr" anchorCtr="0"/>
          <a:lstStyle>
            <a:lvl1pPr algn="l">
              <a:defRPr sz="3120" b="1"/>
            </a:lvl1pPr>
          </a:lstStyle>
          <a:p>
            <a:r>
              <a:rPr lang="fr-FR" noProof="0"/>
              <a:t>Modifiez le style du titre</a:t>
            </a:r>
            <a:endParaRPr lang="fr-CA" noProof="0" dirty="0"/>
          </a:p>
        </p:txBody>
      </p:sp>
      <p:sp>
        <p:nvSpPr>
          <p:cNvPr id="3" name="Espace réservé du contenu 2"/>
          <p:cNvSpPr>
            <a:spLocks noGrp="1"/>
          </p:cNvSpPr>
          <p:nvPr>
            <p:ph idx="1"/>
          </p:nvPr>
        </p:nvSpPr>
        <p:spPr>
          <a:xfrm>
            <a:off x="4747200" y="1805281"/>
            <a:ext cx="6796800" cy="3913530"/>
          </a:xfrm>
        </p:spPr>
        <p:txBody>
          <a:bodyPr>
            <a:normAutofit/>
          </a:bodyPr>
          <a:lstStyle>
            <a:lvl1pPr>
              <a:defRPr sz="2004"/>
            </a:lvl1pPr>
            <a:lvl2pPr>
              <a:defRPr sz="2004"/>
            </a:lvl2pPr>
            <a:lvl3pPr>
              <a:defRPr sz="2004"/>
            </a:lvl3pPr>
            <a:lvl4pPr>
              <a:defRPr sz="2004"/>
            </a:lvl4pPr>
            <a:lvl5pPr>
              <a:defRPr sz="2004"/>
            </a:lvl5pPr>
            <a:lvl6pPr>
              <a:defRPr sz="2400"/>
            </a:lvl6pPr>
            <a:lvl7pPr>
              <a:defRPr sz="2400"/>
            </a:lvl7pPr>
            <a:lvl8pPr>
              <a:defRPr sz="2400"/>
            </a:lvl8pPr>
            <a:lvl9pPr>
              <a:defRPr sz="24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4" name="Espace réservé du texte 3"/>
          <p:cNvSpPr>
            <a:spLocks noGrp="1"/>
          </p:cNvSpPr>
          <p:nvPr>
            <p:ph type="body" sz="half" idx="2"/>
          </p:nvPr>
        </p:nvSpPr>
        <p:spPr>
          <a:xfrm>
            <a:off x="638400" y="1805281"/>
            <a:ext cx="3984000" cy="3913530"/>
          </a:xfrm>
        </p:spPr>
        <p:txBody>
          <a:bodyPr>
            <a:normAutofit/>
          </a:bodyPr>
          <a:lstStyle>
            <a:lvl1pPr marL="0" indent="0">
              <a:buNone/>
              <a:defRPr sz="1800" b="1" cap="all" baseline="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fr-FR" noProof="0"/>
              <a:t>Cliquez pour modifier les styles du texte du masque</a:t>
            </a:r>
          </a:p>
        </p:txBody>
      </p:sp>
      <p:sp>
        <p:nvSpPr>
          <p:cNvPr id="5" name="Espace réservé de la date 4"/>
          <p:cNvSpPr>
            <a:spLocks noGrp="1"/>
          </p:cNvSpPr>
          <p:nvPr>
            <p:ph type="dt" sz="half" idx="10"/>
          </p:nvPr>
        </p:nvSpPr>
        <p:spPr/>
        <p:txBody>
          <a:bodyPr/>
          <a:lstStyle/>
          <a:p>
            <a:fld id="{2B9C231C-5718-4908-BBC3-D3934E4B9D9F}" type="datetime1">
              <a:rPr lang="fr-CA" smtClean="0"/>
              <a:t>2025-04-11</a:t>
            </a:fld>
            <a:endParaRPr lang="fr-CA"/>
          </a:p>
        </p:txBody>
      </p:sp>
      <p:sp>
        <p:nvSpPr>
          <p:cNvPr id="6" name="Espace réservé du pied de page 5"/>
          <p:cNvSpPr>
            <a:spLocks noGrp="1"/>
          </p:cNvSpPr>
          <p:nvPr>
            <p:ph type="ftr" sz="quarter" idx="11"/>
          </p:nvPr>
        </p:nvSpPr>
        <p:spPr/>
        <p:txBody>
          <a:bodyPr/>
          <a:lstStyle/>
          <a:p>
            <a:r>
              <a:rPr lang="fr-CA"/>
              <a:t>(C) HEC Montréal</a:t>
            </a:r>
          </a:p>
        </p:txBody>
      </p:sp>
      <p:sp>
        <p:nvSpPr>
          <p:cNvPr id="7" name="Espace réservé du numéro de diapositive 6"/>
          <p:cNvSpPr>
            <a:spLocks noGrp="1"/>
          </p:cNvSpPr>
          <p:nvPr>
            <p:ph type="sldNum" sz="quarter" idx="12"/>
          </p:nvPr>
        </p:nvSpPr>
        <p:spPr/>
        <p:txBody>
          <a:bodyPr/>
          <a:lstStyle/>
          <a:p>
            <a:fld id="{EEB25B09-B9A6-4811-8700-6D36B9CE20D1}" type="slidenum">
              <a:rPr lang="fr-CA" smtClean="0"/>
              <a:t>‹N°›</a:t>
            </a:fld>
            <a:endParaRPr lang="fr-CA"/>
          </a:p>
        </p:txBody>
      </p:sp>
    </p:spTree>
    <p:extLst>
      <p:ext uri="{BB962C8B-B14F-4D97-AF65-F5344CB8AC3E}">
        <p14:creationId xmlns:p14="http://schemas.microsoft.com/office/powerpoint/2010/main" val="355656731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sous-titre">
    <p:spTree>
      <p:nvGrpSpPr>
        <p:cNvPr id="1" name=""/>
        <p:cNvGrpSpPr/>
        <p:nvPr/>
      </p:nvGrpSpPr>
      <p:grpSpPr>
        <a:xfrm>
          <a:off x="0" y="0"/>
          <a:ext cx="0" cy="0"/>
          <a:chOff x="0" y="0"/>
          <a:chExt cx="0" cy="0"/>
        </a:xfrm>
      </p:grpSpPr>
      <p:sp>
        <p:nvSpPr>
          <p:cNvPr id="2" name="Titre 1"/>
          <p:cNvSpPr>
            <a:spLocks noGrp="1"/>
          </p:cNvSpPr>
          <p:nvPr>
            <p:ph type="title"/>
          </p:nvPr>
        </p:nvSpPr>
        <p:spPr>
          <a:xfrm>
            <a:off x="638400" y="587672"/>
            <a:ext cx="10915200" cy="987540"/>
          </a:xfrm>
        </p:spPr>
        <p:txBody>
          <a:bodyPr anchor="ctr" anchorCtr="0"/>
          <a:lstStyle>
            <a:lvl1pPr algn="l">
              <a:defRPr sz="3120" b="1"/>
            </a:lvl1pPr>
          </a:lstStyle>
          <a:p>
            <a:r>
              <a:rPr lang="fr-FR" noProof="0"/>
              <a:t>Modifiez le style du titre</a:t>
            </a:r>
            <a:endParaRPr lang="fr-CA" noProof="0" dirty="0"/>
          </a:p>
        </p:txBody>
      </p:sp>
      <p:sp>
        <p:nvSpPr>
          <p:cNvPr id="3" name="Espace réservé pour une image  2"/>
          <p:cNvSpPr>
            <a:spLocks noGrp="1"/>
          </p:cNvSpPr>
          <p:nvPr>
            <p:ph type="pic" idx="1"/>
          </p:nvPr>
        </p:nvSpPr>
        <p:spPr>
          <a:xfrm>
            <a:off x="638400" y="2478092"/>
            <a:ext cx="10905600" cy="3240718"/>
          </a:xfrm>
        </p:spPr>
        <p:txBody>
          <a:bodyPr>
            <a:normAutofit/>
          </a:bodyPr>
          <a:lstStyle>
            <a:lvl1pPr marL="0" indent="0">
              <a:buNone/>
              <a:defRPr sz="2004"/>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fr-FR" noProof="0"/>
              <a:t>Cliquez sur l'icône pour ajouter une image</a:t>
            </a:r>
            <a:endParaRPr lang="fr-CA" noProof="0" dirty="0"/>
          </a:p>
        </p:txBody>
      </p:sp>
      <p:sp>
        <p:nvSpPr>
          <p:cNvPr id="4" name="Espace réservé du texte 3"/>
          <p:cNvSpPr>
            <a:spLocks noGrp="1"/>
          </p:cNvSpPr>
          <p:nvPr>
            <p:ph type="body" sz="half" idx="2"/>
          </p:nvPr>
        </p:nvSpPr>
        <p:spPr>
          <a:xfrm>
            <a:off x="638400" y="1821452"/>
            <a:ext cx="10905600" cy="626400"/>
          </a:xfrm>
        </p:spPr>
        <p:txBody>
          <a:bodyPr>
            <a:normAutofit/>
          </a:bodyPr>
          <a:lstStyle>
            <a:lvl1pPr marL="0" indent="0">
              <a:buNone/>
              <a:defRPr sz="1800" b="1" cap="all" baseline="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fr-FR" noProof="0"/>
              <a:t>Cliquez pour modifier les styles du texte du masque</a:t>
            </a:r>
          </a:p>
        </p:txBody>
      </p:sp>
      <p:sp>
        <p:nvSpPr>
          <p:cNvPr id="5" name="Espace réservé de la date 4"/>
          <p:cNvSpPr>
            <a:spLocks noGrp="1"/>
          </p:cNvSpPr>
          <p:nvPr>
            <p:ph type="dt" sz="half" idx="10"/>
          </p:nvPr>
        </p:nvSpPr>
        <p:spPr/>
        <p:txBody>
          <a:bodyPr/>
          <a:lstStyle/>
          <a:p>
            <a:fld id="{0E64AE34-B18D-4DA6-B45B-3B6309A1F6A4}" type="datetime1">
              <a:rPr lang="fr-CA" smtClean="0"/>
              <a:t>2025-04-11</a:t>
            </a:fld>
            <a:endParaRPr lang="fr-CA"/>
          </a:p>
        </p:txBody>
      </p:sp>
      <p:sp>
        <p:nvSpPr>
          <p:cNvPr id="6" name="Espace réservé du pied de page 5"/>
          <p:cNvSpPr>
            <a:spLocks noGrp="1"/>
          </p:cNvSpPr>
          <p:nvPr>
            <p:ph type="ftr" sz="quarter" idx="11"/>
          </p:nvPr>
        </p:nvSpPr>
        <p:spPr/>
        <p:txBody>
          <a:bodyPr/>
          <a:lstStyle/>
          <a:p>
            <a:r>
              <a:rPr lang="fr-CA"/>
              <a:t>(C) HEC Montréal</a:t>
            </a:r>
          </a:p>
        </p:txBody>
      </p:sp>
      <p:sp>
        <p:nvSpPr>
          <p:cNvPr id="7" name="Espace réservé du numéro de diapositive 6"/>
          <p:cNvSpPr>
            <a:spLocks noGrp="1"/>
          </p:cNvSpPr>
          <p:nvPr>
            <p:ph type="sldNum" sz="quarter" idx="12"/>
          </p:nvPr>
        </p:nvSpPr>
        <p:spPr/>
        <p:txBody>
          <a:bodyPr/>
          <a:lstStyle/>
          <a:p>
            <a:fld id="{EEB25B09-B9A6-4811-8700-6D36B9CE20D1}" type="slidenum">
              <a:rPr lang="fr-CA" smtClean="0"/>
              <a:t>‹N°›</a:t>
            </a:fld>
            <a:endParaRPr lang="fr-CA"/>
          </a:p>
        </p:txBody>
      </p:sp>
    </p:spTree>
    <p:extLst>
      <p:ext uri="{BB962C8B-B14F-4D97-AF65-F5344CB8AC3E}">
        <p14:creationId xmlns:p14="http://schemas.microsoft.com/office/powerpoint/2010/main" val="535927350"/>
      </p:ext>
    </p:extLst>
  </p:cSld>
  <p:clrMapOvr>
    <a:masterClrMapping/>
  </p:clrMapOvr>
  <p:hf hdr="0" dt="0"/>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emf"/><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638400" y="582231"/>
            <a:ext cx="10915200" cy="992983"/>
          </a:xfrm>
          <a:prstGeom prst="rect">
            <a:avLst/>
          </a:prstGeom>
          <a:solidFill>
            <a:schemeClr val="accent1"/>
          </a:solidFill>
        </p:spPr>
        <p:txBody>
          <a:bodyPr vert="horz" lIns="91440" tIns="45720" rIns="91440" bIns="45720" rtlCol="0" anchor="ctr">
            <a:noAutofit/>
          </a:bodyPr>
          <a:lstStyle/>
          <a:p>
            <a:r>
              <a:rPr lang="fr-CA" noProof="0" dirty="0"/>
              <a:t>Cliquez pour modifier le style du titre</a:t>
            </a:r>
          </a:p>
        </p:txBody>
      </p:sp>
      <p:sp>
        <p:nvSpPr>
          <p:cNvPr id="3" name="Espace réservé du texte 2"/>
          <p:cNvSpPr>
            <a:spLocks noGrp="1"/>
          </p:cNvSpPr>
          <p:nvPr>
            <p:ph type="body" idx="1"/>
          </p:nvPr>
        </p:nvSpPr>
        <p:spPr>
          <a:xfrm>
            <a:off x="638400" y="1821452"/>
            <a:ext cx="10915200" cy="3897358"/>
          </a:xfrm>
          <a:prstGeom prst="rect">
            <a:avLst/>
          </a:prstGeom>
        </p:spPr>
        <p:txBody>
          <a:bodyPr vert="horz" lIns="91440" tIns="45720" rIns="91440" bIns="45720" rtlCol="0">
            <a:normAutofit/>
          </a:bodyPr>
          <a:lstStyle/>
          <a:p>
            <a:pPr lvl="0"/>
            <a:r>
              <a:rPr lang="fr-CA" noProof="0" dirty="0"/>
              <a:t>Cliquez pour modifier les styles du texte du masque</a:t>
            </a:r>
          </a:p>
          <a:p>
            <a:pPr lvl="1"/>
            <a:r>
              <a:rPr lang="fr-CA" noProof="0" dirty="0"/>
              <a:t>Deuxième niveau</a:t>
            </a:r>
          </a:p>
          <a:p>
            <a:pPr lvl="2"/>
            <a:r>
              <a:rPr lang="fr-CA" noProof="0" dirty="0"/>
              <a:t>Troisième niveau</a:t>
            </a:r>
          </a:p>
          <a:p>
            <a:pPr lvl="3"/>
            <a:r>
              <a:rPr lang="fr-CA" noProof="0" dirty="0"/>
              <a:t>Quatrième niveau</a:t>
            </a:r>
          </a:p>
          <a:p>
            <a:pPr lvl="4"/>
            <a:r>
              <a:rPr lang="fr-CA" noProof="0" dirty="0"/>
              <a:t>Cinquième niveau</a:t>
            </a:r>
          </a:p>
        </p:txBody>
      </p:sp>
      <p:sp>
        <p:nvSpPr>
          <p:cNvPr id="4" name="Espace réservé de la date 3"/>
          <p:cNvSpPr>
            <a:spLocks noGrp="1"/>
          </p:cNvSpPr>
          <p:nvPr>
            <p:ph type="dt" sz="half" idx="2"/>
          </p:nvPr>
        </p:nvSpPr>
        <p:spPr>
          <a:xfrm>
            <a:off x="652800" y="6461995"/>
            <a:ext cx="2844800" cy="164160"/>
          </a:xfrm>
          <a:prstGeom prst="rect">
            <a:avLst/>
          </a:prstGeom>
        </p:spPr>
        <p:txBody>
          <a:bodyPr vert="horz" lIns="91440" tIns="45720" rIns="91440" bIns="45720" rtlCol="0" anchor="ctr"/>
          <a:lstStyle>
            <a:lvl1pPr algn="l">
              <a:defRPr sz="804">
                <a:solidFill>
                  <a:schemeClr val="accent2"/>
                </a:solidFill>
              </a:defRPr>
            </a:lvl1pPr>
          </a:lstStyle>
          <a:p>
            <a:fld id="{0E64AE34-B18D-4DA6-B45B-3B6309A1F6A4}" type="datetime1">
              <a:rPr lang="fr-CA" smtClean="0"/>
              <a:t>2025-04-11</a:t>
            </a:fld>
            <a:endParaRPr lang="fr-CA"/>
          </a:p>
        </p:txBody>
      </p:sp>
      <p:sp>
        <p:nvSpPr>
          <p:cNvPr id="5" name="Espace réservé du pied de page 4"/>
          <p:cNvSpPr>
            <a:spLocks noGrp="1"/>
          </p:cNvSpPr>
          <p:nvPr>
            <p:ph type="ftr" sz="quarter" idx="3"/>
          </p:nvPr>
        </p:nvSpPr>
        <p:spPr>
          <a:xfrm>
            <a:off x="4165600" y="6461995"/>
            <a:ext cx="3860800" cy="164160"/>
          </a:xfrm>
          <a:prstGeom prst="rect">
            <a:avLst/>
          </a:prstGeom>
        </p:spPr>
        <p:txBody>
          <a:bodyPr vert="horz" lIns="91440" tIns="45720" rIns="91440" bIns="45720" rtlCol="0" anchor="ctr"/>
          <a:lstStyle>
            <a:lvl1pPr algn="ctr">
              <a:defRPr sz="804">
                <a:solidFill>
                  <a:schemeClr val="accent2"/>
                </a:solidFill>
              </a:defRPr>
            </a:lvl1pPr>
          </a:lstStyle>
          <a:p>
            <a:r>
              <a:rPr lang="fr-CA"/>
              <a:t>(C) HEC Montréal</a:t>
            </a:r>
          </a:p>
        </p:txBody>
      </p:sp>
      <p:sp>
        <p:nvSpPr>
          <p:cNvPr id="6" name="Espace réservé du numéro de diapositive 5"/>
          <p:cNvSpPr>
            <a:spLocks noGrp="1"/>
          </p:cNvSpPr>
          <p:nvPr>
            <p:ph type="sldNum" sz="quarter" idx="4"/>
          </p:nvPr>
        </p:nvSpPr>
        <p:spPr>
          <a:xfrm>
            <a:off x="10934400" y="6461995"/>
            <a:ext cx="619200" cy="164160"/>
          </a:xfrm>
          <a:prstGeom prst="rect">
            <a:avLst/>
          </a:prstGeom>
        </p:spPr>
        <p:txBody>
          <a:bodyPr vert="horz" lIns="91440" tIns="45720" rIns="91440" bIns="45720" rtlCol="0" anchor="ctr"/>
          <a:lstStyle>
            <a:lvl1pPr algn="r">
              <a:defRPr sz="804">
                <a:solidFill>
                  <a:schemeClr val="accent2"/>
                </a:solidFill>
              </a:defRPr>
            </a:lvl1pPr>
          </a:lstStyle>
          <a:p>
            <a:fld id="{EEB25B09-B9A6-4811-8700-6D36B9CE20D1}" type="slidenum">
              <a:rPr lang="fr-CA" smtClean="0"/>
              <a:t>‹N°›</a:t>
            </a:fld>
            <a:endParaRPr lang="fr-CA"/>
          </a:p>
        </p:txBody>
      </p:sp>
      <p:pic>
        <p:nvPicPr>
          <p:cNvPr id="7" name="Image 6"/>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9589805" y="6038593"/>
            <a:ext cx="2053463" cy="255431"/>
          </a:xfrm>
          <a:prstGeom prst="rect">
            <a:avLst/>
          </a:prstGeom>
        </p:spPr>
      </p:pic>
    </p:spTree>
    <p:extLst>
      <p:ext uri="{BB962C8B-B14F-4D97-AF65-F5344CB8AC3E}">
        <p14:creationId xmlns:p14="http://schemas.microsoft.com/office/powerpoint/2010/main" val="666052752"/>
      </p:ext>
    </p:extLst>
  </p:cSld>
  <p:clrMap bg1="lt1" tx1="dk1" bg2="lt2" tx2="dk2" accent1="accent1" accent2="accent2" accent3="accent3" accent4="accent4" accent5="accent5" accent6="accent6" hlink="hlink" folHlink="folHlink"/>
  <p:sldLayoutIdLst>
    <p:sldLayoutId id="2147484048" r:id="rId1"/>
    <p:sldLayoutId id="2147484049" r:id="rId2"/>
    <p:sldLayoutId id="2147484050" r:id="rId3"/>
    <p:sldLayoutId id="2147484051" r:id="rId4"/>
    <p:sldLayoutId id="2147484052" r:id="rId5"/>
    <p:sldLayoutId id="2147484053" r:id="rId6"/>
    <p:sldLayoutId id="2147484054" r:id="rId7"/>
    <p:sldLayoutId id="2147484055" r:id="rId8"/>
    <p:sldLayoutId id="2147484056" r:id="rId9"/>
  </p:sldLayoutIdLst>
  <p:hf hdr="0" dt="0"/>
  <p:txStyles>
    <p:titleStyle>
      <a:lvl1pPr algn="l" defTabSz="1097280" rtl="0" eaLnBrk="1" latinLnBrk="0" hangingPunct="1">
        <a:spcBef>
          <a:spcPct val="0"/>
        </a:spcBef>
        <a:buNone/>
        <a:defRPr sz="3120" b="1" kern="1200">
          <a:solidFill>
            <a:schemeClr val="bg1"/>
          </a:solidFill>
          <a:latin typeface="+mj-lt"/>
          <a:ea typeface="+mj-ea"/>
          <a:cs typeface="+mj-cs"/>
        </a:defRPr>
      </a:lvl1pPr>
    </p:titleStyle>
    <p:bodyStyle>
      <a:lvl1pPr marL="185760" indent="-185760" algn="l" defTabSz="1097280" rtl="0" eaLnBrk="1" latinLnBrk="0" hangingPunct="1">
        <a:spcBef>
          <a:spcPct val="20000"/>
        </a:spcBef>
        <a:buClr>
          <a:schemeClr val="accent2"/>
        </a:buClr>
        <a:buSzPct val="125000"/>
        <a:buFont typeface="Arial" pitchFamily="34" charset="0"/>
        <a:buChar char="•"/>
        <a:defRPr sz="2004" kern="1200">
          <a:solidFill>
            <a:schemeClr val="tx1"/>
          </a:solidFill>
          <a:latin typeface="+mn-lt"/>
          <a:ea typeface="+mn-ea"/>
          <a:cs typeface="+mn-cs"/>
        </a:defRPr>
      </a:lvl1pPr>
      <a:lvl2pPr marL="544320" indent="-185760" algn="l" defTabSz="1097280" rtl="0" eaLnBrk="1" latinLnBrk="0" hangingPunct="1">
        <a:spcBef>
          <a:spcPct val="20000"/>
        </a:spcBef>
        <a:buClr>
          <a:schemeClr val="accent2"/>
        </a:buClr>
        <a:buSzPct val="125000"/>
        <a:buFont typeface="Arial" pitchFamily="34" charset="0"/>
        <a:buChar char="•"/>
        <a:defRPr sz="2004" kern="1200">
          <a:solidFill>
            <a:schemeClr val="tx1"/>
          </a:solidFill>
          <a:latin typeface="+mn-lt"/>
          <a:ea typeface="+mn-ea"/>
          <a:cs typeface="+mn-cs"/>
        </a:defRPr>
      </a:lvl2pPr>
      <a:lvl3pPr marL="902880" indent="-185760" algn="l" defTabSz="1097280" rtl="0" eaLnBrk="1" latinLnBrk="0" hangingPunct="1">
        <a:spcBef>
          <a:spcPct val="20000"/>
        </a:spcBef>
        <a:buClr>
          <a:schemeClr val="accent2"/>
        </a:buClr>
        <a:buSzPct val="125000"/>
        <a:buFont typeface="Arial" pitchFamily="34" charset="0"/>
        <a:buChar char="•"/>
        <a:defRPr sz="2004" kern="1200">
          <a:solidFill>
            <a:schemeClr val="tx1"/>
          </a:solidFill>
          <a:latin typeface="+mn-lt"/>
          <a:ea typeface="+mn-ea"/>
          <a:cs typeface="+mn-cs"/>
        </a:defRPr>
      </a:lvl3pPr>
      <a:lvl4pPr marL="1257120" indent="-185760" algn="l" defTabSz="1097280" rtl="0" eaLnBrk="1" latinLnBrk="0" hangingPunct="1">
        <a:spcBef>
          <a:spcPct val="20000"/>
        </a:spcBef>
        <a:buClr>
          <a:schemeClr val="accent2"/>
        </a:buClr>
        <a:buSzPct val="125000"/>
        <a:buFont typeface="Arial" pitchFamily="34" charset="0"/>
        <a:buChar char="•"/>
        <a:defRPr sz="2004" kern="1200">
          <a:solidFill>
            <a:schemeClr val="tx1"/>
          </a:solidFill>
          <a:latin typeface="+mn-lt"/>
          <a:ea typeface="+mn-ea"/>
          <a:cs typeface="+mn-cs"/>
        </a:defRPr>
      </a:lvl4pPr>
      <a:lvl5pPr marL="1615680" indent="-185760" algn="l" defTabSz="1097280" rtl="0" eaLnBrk="1" latinLnBrk="0" hangingPunct="1">
        <a:spcBef>
          <a:spcPct val="20000"/>
        </a:spcBef>
        <a:buClr>
          <a:schemeClr val="accent2"/>
        </a:buClr>
        <a:buSzPct val="125000"/>
        <a:buFont typeface="Arial" pitchFamily="34" charset="0"/>
        <a:buChar char="•"/>
        <a:defRPr sz="2004" kern="1200">
          <a:solidFill>
            <a:schemeClr val="tx1"/>
          </a:solidFill>
          <a:latin typeface="+mn-lt"/>
          <a:ea typeface="+mn-ea"/>
          <a:cs typeface="+mn-cs"/>
        </a:defRPr>
      </a:lvl5pPr>
      <a:lvl6pPr marL="3017520" indent="-274320" algn="l" defTabSz="1097280"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66160" indent="-274320" algn="l" defTabSz="1097280"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114800" indent="-274320" algn="l" defTabSz="1097280"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63440" indent="-274320" algn="l" defTabSz="1097280"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tags" Target="../tags/tag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www.hec.ca/a-propos/choisir-hec-montreal/mission-vision-et-valeurs-de-hec-montreal.html"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hyperlink" Target="https://www.bdc.ca/fr/articles-outils/boite-outils-entrepreneur/gabarits-documents-guides-affaires/glossaire/pages/valeurs.aspx" TargetMode="Externa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1.xml.rels><?xml version="1.0" encoding="UTF-8" standalone="yes"?>
<Relationships xmlns="http://schemas.openxmlformats.org/package/2006/relationships"><Relationship Id="rId3" Type="http://schemas.openxmlformats.org/officeDocument/2006/relationships/hyperlink" Target="http://www.socialbusinessmodels.ch/fr/content/facteurs-cles-de-succes"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3.xml.rels><?xml version="1.0" encoding="UTF-8" standalone="yes"?>
<Relationships xmlns="http://schemas.openxmlformats.org/package/2006/relationships"><Relationship Id="rId3" Type="http://schemas.openxmlformats.org/officeDocument/2006/relationships/tags" Target="../tags/tag7.xml"/><Relationship Id="rId7" Type="http://schemas.openxmlformats.org/officeDocument/2006/relationships/image" Target="../media/image17.png"/><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notesSlide" Target="../notesSlides/notesSlide23.xml"/><Relationship Id="rId5" Type="http://schemas.openxmlformats.org/officeDocument/2006/relationships/slideLayout" Target="../slideLayouts/slideLayout2.xml"/><Relationship Id="rId4" Type="http://schemas.openxmlformats.org/officeDocument/2006/relationships/tags" Target="../tags/tag8.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custDataLst>
              <p:tags r:id="rId1"/>
            </p:custDataLst>
          </p:nvPr>
        </p:nvSpPr>
        <p:spPr/>
        <p:txBody>
          <a:bodyPr>
            <a:normAutofit/>
          </a:bodyPr>
          <a:lstStyle/>
          <a:p>
            <a:r>
              <a:rPr lang="fr-CA" dirty="0"/>
              <a:t>Contrôle de gestion stratégique </a:t>
            </a:r>
          </a:p>
        </p:txBody>
      </p:sp>
      <p:sp>
        <p:nvSpPr>
          <p:cNvPr id="3" name="Sous-titre 2"/>
          <p:cNvSpPr>
            <a:spLocks noGrp="1"/>
          </p:cNvSpPr>
          <p:nvPr>
            <p:ph type="subTitle" idx="1"/>
            <p:custDataLst>
              <p:tags r:id="rId2"/>
            </p:custDataLst>
          </p:nvPr>
        </p:nvSpPr>
        <p:spPr/>
        <p:txBody>
          <a:bodyPr>
            <a:normAutofit fontScale="85000" lnSpcReduction="10000"/>
          </a:bodyPr>
          <a:lstStyle/>
          <a:p>
            <a:r>
              <a:rPr lang="fr-CA" dirty="0"/>
              <a:t>Séance 2 : Planification stratégique et analyse stratégique</a:t>
            </a:r>
          </a:p>
        </p:txBody>
      </p:sp>
      <p:sp>
        <p:nvSpPr>
          <p:cNvPr id="5" name="Espace réservé du numéro de diapositive 4"/>
          <p:cNvSpPr>
            <a:spLocks noGrp="1"/>
          </p:cNvSpPr>
          <p:nvPr>
            <p:ph type="sldNum" sz="quarter" idx="12"/>
            <p:custDataLst>
              <p:tags r:id="rId3"/>
            </p:custDataLst>
          </p:nvPr>
        </p:nvSpPr>
        <p:spPr/>
        <p:txBody>
          <a:bodyPr/>
          <a:lstStyle/>
          <a:p>
            <a:fld id="{EEB25B09-B9A6-4811-8700-6D36B9CE20D1}" type="slidenum">
              <a:rPr lang="fr-CA" smtClean="0"/>
              <a:t>1</a:t>
            </a:fld>
            <a:endParaRPr lang="fr-CA"/>
          </a:p>
        </p:txBody>
      </p:sp>
      <p:sp>
        <p:nvSpPr>
          <p:cNvPr id="4" name="Espace réservé du pied de page 3"/>
          <p:cNvSpPr>
            <a:spLocks noGrp="1"/>
          </p:cNvSpPr>
          <p:nvPr>
            <p:ph type="ftr" sz="quarter" idx="14"/>
            <p:custDataLst>
              <p:tags r:id="rId4"/>
            </p:custDataLst>
          </p:nvPr>
        </p:nvSpPr>
        <p:spPr/>
        <p:txBody>
          <a:bodyPr/>
          <a:lstStyle/>
          <a:p>
            <a:r>
              <a:rPr lang="fr-CA"/>
              <a:t>(C) HEC Montréal</a:t>
            </a:r>
            <a:endParaRPr lang="fr-CA" dirty="0"/>
          </a:p>
        </p:txBody>
      </p:sp>
    </p:spTree>
    <p:extLst>
      <p:ext uri="{BB962C8B-B14F-4D97-AF65-F5344CB8AC3E}">
        <p14:creationId xmlns:p14="http://schemas.microsoft.com/office/powerpoint/2010/main" val="4159150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155915-6E6C-4FB6-8EA4-BCB9AA5F88B7}"/>
              </a:ext>
            </a:extLst>
          </p:cNvPr>
          <p:cNvSpPr>
            <a:spLocks noGrp="1"/>
          </p:cNvSpPr>
          <p:nvPr>
            <p:ph type="title"/>
          </p:nvPr>
        </p:nvSpPr>
        <p:spPr/>
        <p:txBody>
          <a:bodyPr/>
          <a:lstStyle/>
          <a:p>
            <a:r>
              <a:rPr lang="fr-CA" dirty="0"/>
              <a:t>Contenu de la capsule</a:t>
            </a:r>
          </a:p>
        </p:txBody>
      </p:sp>
      <p:sp>
        <p:nvSpPr>
          <p:cNvPr id="3" name="Espace réservé du contenu 2">
            <a:extLst>
              <a:ext uri="{FF2B5EF4-FFF2-40B4-BE49-F238E27FC236}">
                <a16:creationId xmlns:a16="http://schemas.microsoft.com/office/drawing/2014/main" id="{472B12AB-43D0-47CC-827A-75276A650B96}"/>
              </a:ext>
            </a:extLst>
          </p:cNvPr>
          <p:cNvSpPr>
            <a:spLocks noGrp="1"/>
          </p:cNvSpPr>
          <p:nvPr>
            <p:ph idx="1"/>
          </p:nvPr>
        </p:nvSpPr>
        <p:spPr/>
        <p:txBody>
          <a:bodyPr>
            <a:normAutofit/>
          </a:bodyPr>
          <a:lstStyle/>
          <a:p>
            <a:r>
              <a:rPr lang="fr-CA" sz="2800" dirty="0"/>
              <a:t>Planification stratégique</a:t>
            </a:r>
          </a:p>
          <a:p>
            <a:r>
              <a:rPr lang="fr-CA" sz="2800" dirty="0"/>
              <a:t>Analyse de l’environnement interne et externe de l’entreprise</a:t>
            </a:r>
          </a:p>
          <a:p>
            <a:r>
              <a:rPr lang="fr-CA" sz="2800" dirty="0"/>
              <a:t>Analyse financière</a:t>
            </a:r>
          </a:p>
        </p:txBody>
      </p:sp>
      <p:sp>
        <p:nvSpPr>
          <p:cNvPr id="4" name="Espace réservé du pied de page 3">
            <a:extLst>
              <a:ext uri="{FF2B5EF4-FFF2-40B4-BE49-F238E27FC236}">
                <a16:creationId xmlns:a16="http://schemas.microsoft.com/office/drawing/2014/main" id="{2D034E9A-86E2-4183-8265-BA06A53EFB9E}"/>
              </a:ext>
            </a:extLst>
          </p:cNvPr>
          <p:cNvSpPr>
            <a:spLocks noGrp="1"/>
          </p:cNvSpPr>
          <p:nvPr>
            <p:ph type="ftr" sz="quarter" idx="11"/>
          </p:nvPr>
        </p:nvSpPr>
        <p:spPr/>
        <p:txBody>
          <a:bodyPr/>
          <a:lstStyle/>
          <a:p>
            <a:r>
              <a:rPr lang="fr-CA"/>
              <a:t>(C) HEC Montréal</a:t>
            </a:r>
          </a:p>
        </p:txBody>
      </p:sp>
      <p:sp>
        <p:nvSpPr>
          <p:cNvPr id="5" name="Espace réservé du numéro de diapositive 4">
            <a:extLst>
              <a:ext uri="{FF2B5EF4-FFF2-40B4-BE49-F238E27FC236}">
                <a16:creationId xmlns:a16="http://schemas.microsoft.com/office/drawing/2014/main" id="{EB81BBE9-CF64-4858-AABB-EB829FB3496F}"/>
              </a:ext>
            </a:extLst>
          </p:cNvPr>
          <p:cNvSpPr>
            <a:spLocks noGrp="1"/>
          </p:cNvSpPr>
          <p:nvPr>
            <p:ph type="sldNum" sz="quarter" idx="12"/>
          </p:nvPr>
        </p:nvSpPr>
        <p:spPr/>
        <p:txBody>
          <a:bodyPr/>
          <a:lstStyle/>
          <a:p>
            <a:fld id="{EEB25B09-B9A6-4811-8700-6D36B9CE20D1}" type="slidenum">
              <a:rPr lang="fr-CA" smtClean="0"/>
              <a:t>2</a:t>
            </a:fld>
            <a:endParaRPr lang="fr-CA"/>
          </a:p>
        </p:txBody>
      </p:sp>
    </p:spTree>
    <p:extLst>
      <p:ext uri="{BB962C8B-B14F-4D97-AF65-F5344CB8AC3E}">
        <p14:creationId xmlns:p14="http://schemas.microsoft.com/office/powerpoint/2010/main" val="21539989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B197E35-50F2-4A82-ACA3-847902E370D2}"/>
              </a:ext>
            </a:extLst>
          </p:cNvPr>
          <p:cNvSpPr>
            <a:spLocks noGrp="1"/>
          </p:cNvSpPr>
          <p:nvPr>
            <p:ph type="title"/>
          </p:nvPr>
        </p:nvSpPr>
        <p:spPr/>
        <p:txBody>
          <a:bodyPr/>
          <a:lstStyle/>
          <a:p>
            <a:r>
              <a:rPr lang="fr-CA" dirty="0"/>
              <a:t>Planification stratégique </a:t>
            </a:r>
          </a:p>
        </p:txBody>
      </p:sp>
      <p:sp>
        <p:nvSpPr>
          <p:cNvPr id="3" name="Espace réservé du texte 2">
            <a:extLst>
              <a:ext uri="{FF2B5EF4-FFF2-40B4-BE49-F238E27FC236}">
                <a16:creationId xmlns:a16="http://schemas.microsoft.com/office/drawing/2014/main" id="{7FC8D0E0-4D08-46AE-964D-3CDC26DC0400}"/>
              </a:ext>
            </a:extLst>
          </p:cNvPr>
          <p:cNvSpPr>
            <a:spLocks noGrp="1"/>
          </p:cNvSpPr>
          <p:nvPr>
            <p:ph type="body" idx="1"/>
          </p:nvPr>
        </p:nvSpPr>
        <p:spPr/>
        <p:txBody>
          <a:bodyPr/>
          <a:lstStyle/>
          <a:p>
            <a:endParaRPr lang="fr-CA"/>
          </a:p>
        </p:txBody>
      </p:sp>
      <p:sp>
        <p:nvSpPr>
          <p:cNvPr id="4" name="Espace réservé du numéro de diapositive 3">
            <a:extLst>
              <a:ext uri="{FF2B5EF4-FFF2-40B4-BE49-F238E27FC236}">
                <a16:creationId xmlns:a16="http://schemas.microsoft.com/office/drawing/2014/main" id="{6AAE97DE-5B2B-4633-8461-8B140FB0A525}"/>
              </a:ext>
            </a:extLst>
          </p:cNvPr>
          <p:cNvSpPr>
            <a:spLocks noGrp="1"/>
          </p:cNvSpPr>
          <p:nvPr>
            <p:ph type="sldNum" sz="quarter" idx="12"/>
          </p:nvPr>
        </p:nvSpPr>
        <p:spPr/>
        <p:txBody>
          <a:bodyPr/>
          <a:lstStyle/>
          <a:p>
            <a:fld id="{EEB25B09-B9A6-4811-8700-6D36B9CE20D1}" type="slidenum">
              <a:rPr lang="fr-CA" smtClean="0"/>
              <a:t>3</a:t>
            </a:fld>
            <a:endParaRPr lang="fr-CA"/>
          </a:p>
        </p:txBody>
      </p:sp>
      <p:sp>
        <p:nvSpPr>
          <p:cNvPr id="5" name="Espace réservé du pied de page 4">
            <a:extLst>
              <a:ext uri="{FF2B5EF4-FFF2-40B4-BE49-F238E27FC236}">
                <a16:creationId xmlns:a16="http://schemas.microsoft.com/office/drawing/2014/main" id="{B8771C9F-9380-44A4-A6CB-B82ED464FD8C}"/>
              </a:ext>
            </a:extLst>
          </p:cNvPr>
          <p:cNvSpPr>
            <a:spLocks noGrp="1"/>
          </p:cNvSpPr>
          <p:nvPr>
            <p:ph type="ftr" sz="quarter" idx="14"/>
          </p:nvPr>
        </p:nvSpPr>
        <p:spPr/>
        <p:txBody>
          <a:bodyPr/>
          <a:lstStyle/>
          <a:p>
            <a:r>
              <a:rPr lang="fr-CA"/>
              <a:t>(C) HEC Montréal</a:t>
            </a:r>
          </a:p>
        </p:txBody>
      </p:sp>
    </p:spTree>
    <p:extLst>
      <p:ext uri="{BB962C8B-B14F-4D97-AF65-F5344CB8AC3E}">
        <p14:creationId xmlns:p14="http://schemas.microsoft.com/office/powerpoint/2010/main" val="41071590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A236F4E-670D-4CD2-9AF8-70CDF2B0D944}"/>
              </a:ext>
            </a:extLst>
          </p:cNvPr>
          <p:cNvSpPr>
            <a:spLocks noGrp="1"/>
          </p:cNvSpPr>
          <p:nvPr>
            <p:ph type="title"/>
          </p:nvPr>
        </p:nvSpPr>
        <p:spPr/>
        <p:txBody>
          <a:bodyPr/>
          <a:lstStyle/>
          <a:p>
            <a:r>
              <a:rPr lang="fr-CA" dirty="0"/>
              <a:t>Processus de planification stratégique </a:t>
            </a:r>
          </a:p>
        </p:txBody>
      </p:sp>
      <p:graphicFrame>
        <p:nvGraphicFramePr>
          <p:cNvPr id="6" name="Espace réservé du contenu 5">
            <a:extLst>
              <a:ext uri="{FF2B5EF4-FFF2-40B4-BE49-F238E27FC236}">
                <a16:creationId xmlns:a16="http://schemas.microsoft.com/office/drawing/2014/main" id="{6DDCE9D6-161C-4538-B234-86EA6FF3D7D7}"/>
              </a:ext>
            </a:extLst>
          </p:cNvPr>
          <p:cNvGraphicFramePr>
            <a:graphicFrameLocks noGrp="1"/>
          </p:cNvGraphicFramePr>
          <p:nvPr>
            <p:ph idx="1"/>
            <p:extLst>
              <p:ext uri="{D42A27DB-BD31-4B8C-83A1-F6EECF244321}">
                <p14:modId xmlns:p14="http://schemas.microsoft.com/office/powerpoint/2010/main" val="1794217883"/>
              </p:ext>
            </p:extLst>
          </p:nvPr>
        </p:nvGraphicFramePr>
        <p:xfrm>
          <a:off x="638175" y="1893888"/>
          <a:ext cx="10915650" cy="38242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Espace réservé du pied de page 3">
            <a:extLst>
              <a:ext uri="{FF2B5EF4-FFF2-40B4-BE49-F238E27FC236}">
                <a16:creationId xmlns:a16="http://schemas.microsoft.com/office/drawing/2014/main" id="{D131229D-FE7C-41E0-8D5A-E92FDA612C8F}"/>
              </a:ext>
            </a:extLst>
          </p:cNvPr>
          <p:cNvSpPr>
            <a:spLocks noGrp="1"/>
          </p:cNvSpPr>
          <p:nvPr>
            <p:ph type="ftr" sz="quarter" idx="11"/>
          </p:nvPr>
        </p:nvSpPr>
        <p:spPr/>
        <p:txBody>
          <a:bodyPr/>
          <a:lstStyle/>
          <a:p>
            <a:r>
              <a:rPr lang="fr-CA"/>
              <a:t>(C) HEC Montréal</a:t>
            </a:r>
          </a:p>
        </p:txBody>
      </p:sp>
      <p:sp>
        <p:nvSpPr>
          <p:cNvPr id="5" name="Espace réservé du numéro de diapositive 4">
            <a:extLst>
              <a:ext uri="{FF2B5EF4-FFF2-40B4-BE49-F238E27FC236}">
                <a16:creationId xmlns:a16="http://schemas.microsoft.com/office/drawing/2014/main" id="{07D7AEA9-02E2-4815-B0A5-9BA417176B12}"/>
              </a:ext>
            </a:extLst>
          </p:cNvPr>
          <p:cNvSpPr>
            <a:spLocks noGrp="1"/>
          </p:cNvSpPr>
          <p:nvPr>
            <p:ph type="sldNum" sz="quarter" idx="12"/>
          </p:nvPr>
        </p:nvSpPr>
        <p:spPr/>
        <p:txBody>
          <a:bodyPr/>
          <a:lstStyle/>
          <a:p>
            <a:fld id="{EEB25B09-B9A6-4811-8700-6D36B9CE20D1}" type="slidenum">
              <a:rPr lang="fr-CA" smtClean="0"/>
              <a:t>4</a:t>
            </a:fld>
            <a:endParaRPr lang="fr-CA"/>
          </a:p>
        </p:txBody>
      </p:sp>
    </p:spTree>
    <p:extLst>
      <p:ext uri="{BB962C8B-B14F-4D97-AF65-F5344CB8AC3E}">
        <p14:creationId xmlns:p14="http://schemas.microsoft.com/office/powerpoint/2010/main" val="25336274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177E02-C6A2-40F0-AC9A-C7DB9E2C3FA3}"/>
              </a:ext>
            </a:extLst>
          </p:cNvPr>
          <p:cNvSpPr>
            <a:spLocks noGrp="1"/>
          </p:cNvSpPr>
          <p:nvPr>
            <p:ph type="title"/>
          </p:nvPr>
        </p:nvSpPr>
        <p:spPr>
          <a:xfrm>
            <a:off x="492370" y="516835"/>
            <a:ext cx="3084844" cy="1994545"/>
          </a:xfrm>
        </p:spPr>
        <p:txBody>
          <a:bodyPr>
            <a:normAutofit fontScale="90000"/>
          </a:bodyPr>
          <a:lstStyle/>
          <a:p>
            <a:r>
              <a:rPr lang="fr-CA" sz="3400">
                <a:solidFill>
                  <a:srgbClr val="FFFFFF"/>
                </a:solidFill>
              </a:rPr>
              <a:t>Processus de planification stratégique à HEC Montréal </a:t>
            </a:r>
          </a:p>
        </p:txBody>
      </p:sp>
      <p:sp>
        <p:nvSpPr>
          <p:cNvPr id="3084" name="Espace réservé du contenu 2">
            <a:extLst>
              <a:ext uri="{FF2B5EF4-FFF2-40B4-BE49-F238E27FC236}">
                <a16:creationId xmlns:a16="http://schemas.microsoft.com/office/drawing/2014/main" id="{788F7F3B-56DB-4872-91ED-1EDEBA5A8776}"/>
              </a:ext>
            </a:extLst>
          </p:cNvPr>
          <p:cNvSpPr>
            <a:spLocks noGrp="1"/>
          </p:cNvSpPr>
          <p:nvPr>
            <p:ph idx="1"/>
          </p:nvPr>
        </p:nvSpPr>
        <p:spPr>
          <a:xfrm>
            <a:off x="492371" y="2653800"/>
            <a:ext cx="3084844" cy="3335519"/>
          </a:xfrm>
        </p:spPr>
        <p:txBody>
          <a:bodyPr>
            <a:normAutofit/>
          </a:bodyPr>
          <a:lstStyle/>
          <a:p>
            <a:r>
              <a:rPr lang="fr-CA" sz="1600" dirty="0">
                <a:hlinkClick r:id="rId3"/>
              </a:rPr>
              <a:t>https://www.hec.ca/a-propos/choisir-hec-montreal/mission-vision-et-valeurs-de-hec-montreal.html</a:t>
            </a:r>
            <a:r>
              <a:rPr lang="fr-CA" sz="1600" dirty="0"/>
              <a:t> </a:t>
            </a:r>
            <a:endParaRPr lang="fr-CA" sz="1600" dirty="0">
              <a:solidFill>
                <a:srgbClr val="FFFFFF"/>
              </a:solidFill>
            </a:endParaRPr>
          </a:p>
        </p:txBody>
      </p:sp>
      <p:sp>
        <p:nvSpPr>
          <p:cNvPr id="4" name="Espace réservé du pied de page 3">
            <a:extLst>
              <a:ext uri="{FF2B5EF4-FFF2-40B4-BE49-F238E27FC236}">
                <a16:creationId xmlns:a16="http://schemas.microsoft.com/office/drawing/2014/main" id="{542C93D6-5ED7-41E8-A281-F0B19BE20DDF}"/>
              </a:ext>
            </a:extLst>
          </p:cNvPr>
          <p:cNvSpPr>
            <a:spLocks noGrp="1"/>
          </p:cNvSpPr>
          <p:nvPr>
            <p:ph type="ftr" sz="quarter" idx="11"/>
          </p:nvPr>
        </p:nvSpPr>
        <p:spPr>
          <a:xfrm>
            <a:off x="492370" y="6459785"/>
            <a:ext cx="3344134" cy="365125"/>
          </a:xfrm>
        </p:spPr>
        <p:txBody>
          <a:bodyPr>
            <a:normAutofit/>
          </a:bodyPr>
          <a:lstStyle/>
          <a:p>
            <a:pPr algn="l">
              <a:spcAft>
                <a:spcPts val="600"/>
              </a:spcAft>
            </a:pPr>
            <a:r>
              <a:rPr lang="fr-CA"/>
              <a:t>(C) HEC Montréal</a:t>
            </a:r>
          </a:p>
        </p:txBody>
      </p:sp>
      <p:sp>
        <p:nvSpPr>
          <p:cNvPr id="5" name="Espace réservé du numéro de diapositive 4">
            <a:extLst>
              <a:ext uri="{FF2B5EF4-FFF2-40B4-BE49-F238E27FC236}">
                <a16:creationId xmlns:a16="http://schemas.microsoft.com/office/drawing/2014/main" id="{3D842E3A-191C-47FB-AE7C-AEF4EE9944F3}"/>
              </a:ext>
            </a:extLst>
          </p:cNvPr>
          <p:cNvSpPr>
            <a:spLocks noGrp="1"/>
          </p:cNvSpPr>
          <p:nvPr>
            <p:ph type="sldNum" sz="quarter" idx="12"/>
          </p:nvPr>
        </p:nvSpPr>
        <p:spPr>
          <a:xfrm>
            <a:off x="10609742" y="6459785"/>
            <a:ext cx="602741" cy="365125"/>
          </a:xfrm>
        </p:spPr>
        <p:txBody>
          <a:bodyPr>
            <a:normAutofit/>
          </a:bodyPr>
          <a:lstStyle/>
          <a:p>
            <a:pPr>
              <a:spcAft>
                <a:spcPts val="600"/>
              </a:spcAft>
            </a:pPr>
            <a:fld id="{EEB25B09-B9A6-4811-8700-6D36B9CE20D1}" type="slidenum">
              <a:rPr lang="fr-CA" smtClean="0"/>
              <a:pPr>
                <a:spcAft>
                  <a:spcPts val="600"/>
                </a:spcAft>
              </a:pPr>
              <a:t>5</a:t>
            </a:fld>
            <a:endParaRPr lang="fr-CA"/>
          </a:p>
        </p:txBody>
      </p:sp>
      <p:pic>
        <p:nvPicPr>
          <p:cNvPr id="3074" name="Picture 2">
            <a:extLst>
              <a:ext uri="{FF2B5EF4-FFF2-40B4-BE49-F238E27FC236}">
                <a16:creationId xmlns:a16="http://schemas.microsoft.com/office/drawing/2014/main" id="{95CF49D7-8E7D-46D8-AE74-69BC67B60FEC}"/>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4075043" y="10"/>
            <a:ext cx="8111272"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351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B197E35-50F2-4A82-ACA3-847902E370D2}"/>
              </a:ext>
            </a:extLst>
          </p:cNvPr>
          <p:cNvSpPr>
            <a:spLocks noGrp="1"/>
          </p:cNvSpPr>
          <p:nvPr>
            <p:ph type="title"/>
          </p:nvPr>
        </p:nvSpPr>
        <p:spPr/>
        <p:txBody>
          <a:bodyPr>
            <a:normAutofit fontScale="90000"/>
          </a:bodyPr>
          <a:lstStyle/>
          <a:p>
            <a:r>
              <a:rPr lang="fr-CA" dirty="0"/>
              <a:t>Analyse de l’environnement interne et externe</a:t>
            </a:r>
          </a:p>
        </p:txBody>
      </p:sp>
      <p:sp>
        <p:nvSpPr>
          <p:cNvPr id="3" name="Espace réservé du texte 2">
            <a:extLst>
              <a:ext uri="{FF2B5EF4-FFF2-40B4-BE49-F238E27FC236}">
                <a16:creationId xmlns:a16="http://schemas.microsoft.com/office/drawing/2014/main" id="{7FC8D0E0-4D08-46AE-964D-3CDC26DC0400}"/>
              </a:ext>
            </a:extLst>
          </p:cNvPr>
          <p:cNvSpPr>
            <a:spLocks noGrp="1"/>
          </p:cNvSpPr>
          <p:nvPr>
            <p:ph type="body" idx="1"/>
          </p:nvPr>
        </p:nvSpPr>
        <p:spPr/>
        <p:txBody>
          <a:bodyPr/>
          <a:lstStyle/>
          <a:p>
            <a:endParaRPr lang="fr-CA"/>
          </a:p>
        </p:txBody>
      </p:sp>
      <p:sp>
        <p:nvSpPr>
          <p:cNvPr id="4" name="Espace réservé du numéro de diapositive 3">
            <a:extLst>
              <a:ext uri="{FF2B5EF4-FFF2-40B4-BE49-F238E27FC236}">
                <a16:creationId xmlns:a16="http://schemas.microsoft.com/office/drawing/2014/main" id="{6AAE97DE-5B2B-4633-8461-8B140FB0A525}"/>
              </a:ext>
            </a:extLst>
          </p:cNvPr>
          <p:cNvSpPr>
            <a:spLocks noGrp="1"/>
          </p:cNvSpPr>
          <p:nvPr>
            <p:ph type="sldNum" sz="quarter" idx="12"/>
          </p:nvPr>
        </p:nvSpPr>
        <p:spPr/>
        <p:txBody>
          <a:bodyPr/>
          <a:lstStyle/>
          <a:p>
            <a:fld id="{EEB25B09-B9A6-4811-8700-6D36B9CE20D1}" type="slidenum">
              <a:rPr lang="fr-CA" smtClean="0"/>
              <a:t>6</a:t>
            </a:fld>
            <a:endParaRPr lang="fr-CA"/>
          </a:p>
        </p:txBody>
      </p:sp>
      <p:sp>
        <p:nvSpPr>
          <p:cNvPr id="5" name="Espace réservé du pied de page 4">
            <a:extLst>
              <a:ext uri="{FF2B5EF4-FFF2-40B4-BE49-F238E27FC236}">
                <a16:creationId xmlns:a16="http://schemas.microsoft.com/office/drawing/2014/main" id="{B8771C9F-9380-44A4-A6CB-B82ED464FD8C}"/>
              </a:ext>
            </a:extLst>
          </p:cNvPr>
          <p:cNvSpPr>
            <a:spLocks noGrp="1"/>
          </p:cNvSpPr>
          <p:nvPr>
            <p:ph type="ftr" sz="quarter" idx="14"/>
          </p:nvPr>
        </p:nvSpPr>
        <p:spPr/>
        <p:txBody>
          <a:bodyPr/>
          <a:lstStyle/>
          <a:p>
            <a:r>
              <a:rPr lang="fr-CA"/>
              <a:t>(C) HEC Montréal</a:t>
            </a:r>
          </a:p>
        </p:txBody>
      </p:sp>
    </p:spTree>
    <p:extLst>
      <p:ext uri="{BB962C8B-B14F-4D97-AF65-F5344CB8AC3E}">
        <p14:creationId xmlns:p14="http://schemas.microsoft.com/office/powerpoint/2010/main" val="4146862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80DA834F-95F6-4E37-944B-0EE86ECAB589}"/>
              </a:ext>
            </a:extLst>
          </p:cNvPr>
          <p:cNvSpPr>
            <a:spLocks noGrp="1"/>
          </p:cNvSpPr>
          <p:nvPr>
            <p:ph type="sldNum" sz="quarter" idx="12"/>
          </p:nvPr>
        </p:nvSpPr>
        <p:spPr/>
        <p:txBody>
          <a:bodyPr/>
          <a:lstStyle/>
          <a:p>
            <a:fld id="{C73EB41D-849B-4C0C-8BB4-E1DF9CA5FEE5}" type="slidenum">
              <a:rPr lang="fr-CA" smtClean="0"/>
              <a:t>7</a:t>
            </a:fld>
            <a:endParaRPr lang="fr-CA"/>
          </a:p>
        </p:txBody>
      </p:sp>
      <p:sp>
        <p:nvSpPr>
          <p:cNvPr id="4" name="Rectangle : coins arrondis 3">
            <a:extLst>
              <a:ext uri="{FF2B5EF4-FFF2-40B4-BE49-F238E27FC236}">
                <a16:creationId xmlns:a16="http://schemas.microsoft.com/office/drawing/2014/main" id="{4CF306FC-6EE0-4710-9E8D-B536E2BF4F73}"/>
              </a:ext>
            </a:extLst>
          </p:cNvPr>
          <p:cNvSpPr/>
          <p:nvPr/>
        </p:nvSpPr>
        <p:spPr>
          <a:xfrm>
            <a:off x="3254542" y="1528009"/>
            <a:ext cx="5811252" cy="1227221"/>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fr-CA" b="1" dirty="0"/>
              <a:t>Identification des facteurs clés de succès de l’industrie</a:t>
            </a:r>
          </a:p>
          <a:p>
            <a:pPr algn="ctr"/>
            <a:r>
              <a:rPr lang="fr-CA" b="1" dirty="0"/>
              <a:t>Analyse de l’environnement interne et externe</a:t>
            </a:r>
          </a:p>
          <a:p>
            <a:pPr algn="ctr"/>
            <a:r>
              <a:rPr lang="fr-CA" b="1" dirty="0"/>
              <a:t>Analyse de la situation financière </a:t>
            </a:r>
          </a:p>
        </p:txBody>
      </p:sp>
      <p:sp>
        <p:nvSpPr>
          <p:cNvPr id="5" name="Rectangle : coins arrondis 4">
            <a:extLst>
              <a:ext uri="{FF2B5EF4-FFF2-40B4-BE49-F238E27FC236}">
                <a16:creationId xmlns:a16="http://schemas.microsoft.com/office/drawing/2014/main" id="{F614C307-079F-464B-B8D5-DD35E3DA698C}"/>
              </a:ext>
            </a:extLst>
          </p:cNvPr>
          <p:cNvSpPr/>
          <p:nvPr/>
        </p:nvSpPr>
        <p:spPr>
          <a:xfrm>
            <a:off x="3144253" y="136525"/>
            <a:ext cx="6031831" cy="1227221"/>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CA" b="1" dirty="0"/>
              <a:t>Vision/Mission/Valeurs </a:t>
            </a:r>
          </a:p>
          <a:p>
            <a:pPr algn="ctr"/>
            <a:r>
              <a:rPr lang="fr-CA" b="1" dirty="0"/>
              <a:t>Stratégie</a:t>
            </a:r>
          </a:p>
          <a:p>
            <a:pPr algn="ctr"/>
            <a:r>
              <a:rPr lang="fr-CA" b="1" dirty="0"/>
              <a:t>Contraintes et limites </a:t>
            </a:r>
          </a:p>
        </p:txBody>
      </p:sp>
      <p:sp>
        <p:nvSpPr>
          <p:cNvPr id="6" name="Rectangle : coins arrondis 5">
            <a:extLst>
              <a:ext uri="{FF2B5EF4-FFF2-40B4-BE49-F238E27FC236}">
                <a16:creationId xmlns:a16="http://schemas.microsoft.com/office/drawing/2014/main" id="{6C135706-776B-4E0A-97DF-5A7BF0478E1F}"/>
              </a:ext>
            </a:extLst>
          </p:cNvPr>
          <p:cNvSpPr/>
          <p:nvPr/>
        </p:nvSpPr>
        <p:spPr>
          <a:xfrm>
            <a:off x="1118936" y="3717761"/>
            <a:ext cx="2430379" cy="2638589"/>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r-CA" b="1" dirty="0"/>
              <a:t>Options stratégiques</a:t>
            </a:r>
          </a:p>
          <a:p>
            <a:pPr marL="285750" indent="-285750">
              <a:buFont typeface="Arial" panose="020B0604020202020204" pitchFamily="34" charset="0"/>
              <a:buChar char="•"/>
            </a:pPr>
            <a:r>
              <a:rPr lang="fr-CA" dirty="0"/>
              <a:t>Analyse quantitative</a:t>
            </a:r>
          </a:p>
          <a:p>
            <a:pPr marL="285750" indent="-285750">
              <a:buFont typeface="Arial" panose="020B0604020202020204" pitchFamily="34" charset="0"/>
              <a:buChar char="•"/>
            </a:pPr>
            <a:r>
              <a:rPr lang="fr-CA" dirty="0"/>
              <a:t>Analyse qualitative </a:t>
            </a:r>
          </a:p>
          <a:p>
            <a:pPr marL="285750" indent="-285750">
              <a:buFont typeface="Arial" panose="020B0604020202020204" pitchFamily="34" charset="0"/>
              <a:buChar char="•"/>
            </a:pPr>
            <a:r>
              <a:rPr lang="fr-CA" dirty="0"/>
              <a:t>Mise en œuvre</a:t>
            </a:r>
          </a:p>
          <a:p>
            <a:pPr marL="285750" indent="-285750">
              <a:buFont typeface="Arial" panose="020B0604020202020204" pitchFamily="34" charset="0"/>
              <a:buChar char="•"/>
            </a:pPr>
            <a:r>
              <a:rPr lang="fr-CA" dirty="0"/>
              <a:t>Financement </a:t>
            </a:r>
          </a:p>
          <a:p>
            <a:pPr algn="ctr"/>
            <a:endParaRPr lang="fr-CA" dirty="0"/>
          </a:p>
        </p:txBody>
      </p:sp>
      <p:cxnSp>
        <p:nvCxnSpPr>
          <p:cNvPr id="8" name="Connecteur droit avec flèche 7">
            <a:extLst>
              <a:ext uri="{FF2B5EF4-FFF2-40B4-BE49-F238E27FC236}">
                <a16:creationId xmlns:a16="http://schemas.microsoft.com/office/drawing/2014/main" id="{92149227-46FB-4400-80DF-9EECC8B230E1}"/>
              </a:ext>
            </a:extLst>
          </p:cNvPr>
          <p:cNvCxnSpPr>
            <a:cxnSpLocks/>
          </p:cNvCxnSpPr>
          <p:nvPr/>
        </p:nvCxnSpPr>
        <p:spPr>
          <a:xfrm flipH="1">
            <a:off x="3043989" y="2755230"/>
            <a:ext cx="757989" cy="9625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ZoneTexte 8">
            <a:extLst>
              <a:ext uri="{FF2B5EF4-FFF2-40B4-BE49-F238E27FC236}">
                <a16:creationId xmlns:a16="http://schemas.microsoft.com/office/drawing/2014/main" id="{B7E5824F-5170-499D-BB5C-19E07B6578DB}"/>
              </a:ext>
            </a:extLst>
          </p:cNvPr>
          <p:cNvSpPr txBox="1"/>
          <p:nvPr/>
        </p:nvSpPr>
        <p:spPr>
          <a:xfrm>
            <a:off x="2406315" y="3087926"/>
            <a:ext cx="2430379" cy="369332"/>
          </a:xfrm>
          <a:prstGeom prst="rect">
            <a:avLst/>
          </a:prstGeom>
          <a:solidFill>
            <a:schemeClr val="accent6">
              <a:lumMod val="40000"/>
              <a:lumOff val="60000"/>
            </a:schemeClr>
          </a:solidFill>
          <a:effectLst/>
        </p:spPr>
        <p:txBody>
          <a:bodyPr wrap="square" rtlCol="0">
            <a:spAutoFit/>
          </a:bodyPr>
          <a:lstStyle/>
          <a:p>
            <a:r>
              <a:rPr lang="fr-CA" dirty="0"/>
              <a:t>Forces + Possibilités </a:t>
            </a:r>
          </a:p>
        </p:txBody>
      </p:sp>
      <p:cxnSp>
        <p:nvCxnSpPr>
          <p:cNvPr id="10" name="Connecteur droit avec flèche 9">
            <a:extLst>
              <a:ext uri="{FF2B5EF4-FFF2-40B4-BE49-F238E27FC236}">
                <a16:creationId xmlns:a16="http://schemas.microsoft.com/office/drawing/2014/main" id="{B560BD74-5B17-4FA2-8270-4B9B7D3CFF2D}"/>
              </a:ext>
            </a:extLst>
          </p:cNvPr>
          <p:cNvCxnSpPr>
            <a:cxnSpLocks/>
          </p:cNvCxnSpPr>
          <p:nvPr/>
        </p:nvCxnSpPr>
        <p:spPr>
          <a:xfrm>
            <a:off x="8610600" y="2781130"/>
            <a:ext cx="1016666" cy="8662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 coins arrondis 11">
            <a:extLst>
              <a:ext uri="{FF2B5EF4-FFF2-40B4-BE49-F238E27FC236}">
                <a16:creationId xmlns:a16="http://schemas.microsoft.com/office/drawing/2014/main" id="{48B60383-9932-4F37-9076-CD79C744D7AB}"/>
              </a:ext>
            </a:extLst>
          </p:cNvPr>
          <p:cNvSpPr/>
          <p:nvPr/>
        </p:nvSpPr>
        <p:spPr>
          <a:xfrm>
            <a:off x="7601952" y="3673307"/>
            <a:ext cx="3609474" cy="2871871"/>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CA" b="1" dirty="0"/>
              <a:t>Enjeux opérationnels et analyse des systèmes de contrôle stratégique</a:t>
            </a:r>
          </a:p>
          <a:p>
            <a:pPr marL="285750" indent="-285750">
              <a:buFont typeface="Arial" panose="020B0604020202020204" pitchFamily="34" charset="0"/>
              <a:buChar char="•"/>
            </a:pPr>
            <a:r>
              <a:rPr lang="fr-CA" dirty="0"/>
              <a:t>Gestion des risques </a:t>
            </a:r>
          </a:p>
          <a:p>
            <a:pPr marL="285750" indent="-285750">
              <a:buFont typeface="Arial" panose="020B0604020202020204" pitchFamily="34" charset="0"/>
              <a:buChar char="•"/>
            </a:pPr>
            <a:r>
              <a:rPr lang="fr-CA" dirty="0"/>
              <a:t>Mesure de la performance</a:t>
            </a:r>
          </a:p>
          <a:p>
            <a:pPr marL="285750" indent="-285750">
              <a:buFont typeface="Arial" panose="020B0604020202020204" pitchFamily="34" charset="0"/>
              <a:buChar char="•"/>
            </a:pPr>
            <a:r>
              <a:rPr lang="fr-CA" dirty="0"/>
              <a:t>Rémunération incitative</a:t>
            </a:r>
          </a:p>
          <a:p>
            <a:pPr marL="285750" indent="-285750">
              <a:buFont typeface="Arial" panose="020B0604020202020204" pitchFamily="34" charset="0"/>
              <a:buChar char="•"/>
            </a:pPr>
            <a:r>
              <a:rPr lang="fr-CA" dirty="0"/>
              <a:t>Gouvernance</a:t>
            </a:r>
          </a:p>
          <a:p>
            <a:pPr marL="285750" indent="-285750">
              <a:buFont typeface="Arial" panose="020B0604020202020204" pitchFamily="34" charset="0"/>
              <a:buChar char="•"/>
            </a:pPr>
            <a:r>
              <a:rPr lang="fr-CA" dirty="0"/>
              <a:t>Structure organisationnelle</a:t>
            </a:r>
          </a:p>
          <a:p>
            <a:pPr marL="285750" indent="-285750">
              <a:buFont typeface="Arial" panose="020B0604020202020204" pitchFamily="34" charset="0"/>
              <a:buChar char="•"/>
            </a:pPr>
            <a:r>
              <a:rPr lang="fr-CA" dirty="0"/>
              <a:t>Processus budgétaire</a:t>
            </a:r>
          </a:p>
          <a:p>
            <a:pPr marL="285750" indent="-285750">
              <a:buFont typeface="Arial" panose="020B0604020202020204" pitchFamily="34" charset="0"/>
              <a:buChar char="•"/>
            </a:pPr>
            <a:r>
              <a:rPr lang="fr-CA" dirty="0"/>
              <a:t>Contrôle stratégique des coûts</a:t>
            </a:r>
          </a:p>
        </p:txBody>
      </p:sp>
      <p:sp>
        <p:nvSpPr>
          <p:cNvPr id="16" name="ZoneTexte 15">
            <a:extLst>
              <a:ext uri="{FF2B5EF4-FFF2-40B4-BE49-F238E27FC236}">
                <a16:creationId xmlns:a16="http://schemas.microsoft.com/office/drawing/2014/main" id="{2728611D-8D8E-47F5-952B-DB4B4EABF976}"/>
              </a:ext>
            </a:extLst>
          </p:cNvPr>
          <p:cNvSpPr txBox="1"/>
          <p:nvPr/>
        </p:nvSpPr>
        <p:spPr>
          <a:xfrm>
            <a:off x="7355308" y="3017570"/>
            <a:ext cx="2845465" cy="369332"/>
          </a:xfrm>
          <a:prstGeom prst="rect">
            <a:avLst/>
          </a:prstGeom>
          <a:solidFill>
            <a:schemeClr val="accent6">
              <a:lumMod val="40000"/>
              <a:lumOff val="60000"/>
            </a:schemeClr>
          </a:solidFill>
          <a:effectLst/>
        </p:spPr>
        <p:txBody>
          <a:bodyPr wrap="square" rtlCol="0">
            <a:spAutoFit/>
          </a:bodyPr>
          <a:lstStyle/>
          <a:p>
            <a:r>
              <a:rPr lang="fr-CA" dirty="0"/>
              <a:t>Faiblesses et Menaces</a:t>
            </a:r>
          </a:p>
        </p:txBody>
      </p:sp>
    </p:spTree>
    <p:extLst>
      <p:ext uri="{BB962C8B-B14F-4D97-AF65-F5344CB8AC3E}">
        <p14:creationId xmlns:p14="http://schemas.microsoft.com/office/powerpoint/2010/main" val="32144132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F451DE-7E0C-4B98-9886-015DA0A57800}"/>
              </a:ext>
            </a:extLst>
          </p:cNvPr>
          <p:cNvSpPr>
            <a:spLocks noGrp="1"/>
          </p:cNvSpPr>
          <p:nvPr>
            <p:ph type="title"/>
          </p:nvPr>
        </p:nvSpPr>
        <p:spPr>
          <a:xfrm>
            <a:off x="477078" y="516836"/>
            <a:ext cx="3100136" cy="1960234"/>
          </a:xfrm>
        </p:spPr>
        <p:txBody>
          <a:bodyPr vert="horz" lIns="91440" tIns="45720" rIns="91440" bIns="45720" rtlCol="0">
            <a:normAutofit/>
          </a:bodyPr>
          <a:lstStyle/>
          <a:p>
            <a:r>
              <a:rPr lang="en-US" sz="4400"/>
              <a:t>Vision </a:t>
            </a:r>
          </a:p>
        </p:txBody>
      </p:sp>
      <p:sp>
        <p:nvSpPr>
          <p:cNvPr id="3" name="Espace réservé du contenu 2">
            <a:extLst>
              <a:ext uri="{FF2B5EF4-FFF2-40B4-BE49-F238E27FC236}">
                <a16:creationId xmlns:a16="http://schemas.microsoft.com/office/drawing/2014/main" id="{79BF8A46-EC90-461B-88AF-55F522F7ED2B}"/>
              </a:ext>
            </a:extLst>
          </p:cNvPr>
          <p:cNvSpPr>
            <a:spLocks noGrp="1"/>
          </p:cNvSpPr>
          <p:nvPr>
            <p:ph idx="1"/>
          </p:nvPr>
        </p:nvSpPr>
        <p:spPr>
          <a:xfrm>
            <a:off x="492371" y="2790855"/>
            <a:ext cx="3084844" cy="3311766"/>
          </a:xfrm>
        </p:spPr>
        <p:txBody>
          <a:bodyPr vert="horz" lIns="91440" tIns="45720" rIns="91440" bIns="45720" rtlCol="0">
            <a:normAutofit/>
          </a:bodyPr>
          <a:lstStyle/>
          <a:p>
            <a:pPr>
              <a:buFont typeface="Wingdings" panose="05000000000000000000" pitchFamily="2" charset="2"/>
              <a:buChar char="§"/>
            </a:pPr>
            <a:r>
              <a:rPr lang="en-US" sz="1600" cap="all" spc="200" dirty="0">
                <a:latin typeface="+mj-lt"/>
              </a:rPr>
              <a:t>Description prospective de </a:t>
            </a:r>
            <a:r>
              <a:rPr lang="en-US" sz="1600" cap="all" spc="200" dirty="0" err="1">
                <a:latin typeface="+mj-lt"/>
              </a:rPr>
              <a:t>l’orientation</a:t>
            </a:r>
            <a:r>
              <a:rPr lang="en-US" sz="1600" cap="all" spc="200" dirty="0">
                <a:latin typeface="+mj-lt"/>
              </a:rPr>
              <a:t> de </a:t>
            </a:r>
            <a:r>
              <a:rPr lang="en-US" sz="1600" cap="all" spc="200" dirty="0" err="1">
                <a:latin typeface="+mj-lt"/>
              </a:rPr>
              <a:t>l’Entreprise</a:t>
            </a:r>
            <a:endParaRPr lang="en-US" sz="1600" cap="all" spc="200" dirty="0">
              <a:latin typeface="+mj-lt"/>
            </a:endParaRPr>
          </a:p>
          <a:p>
            <a:pPr>
              <a:buFont typeface="Wingdings" panose="05000000000000000000" pitchFamily="2" charset="2"/>
              <a:buChar char="§"/>
            </a:pPr>
            <a:r>
              <a:rPr lang="en-US" sz="1600" cap="all" spc="200" dirty="0">
                <a:latin typeface="+mj-lt"/>
              </a:rPr>
              <a:t>Situation </a:t>
            </a:r>
            <a:r>
              <a:rPr lang="en-US" sz="1600" cap="all" spc="200" dirty="0" err="1">
                <a:highlight>
                  <a:srgbClr val="FFFF00"/>
                </a:highlight>
                <a:latin typeface="+mj-lt"/>
              </a:rPr>
              <a:t>idéale</a:t>
            </a:r>
            <a:endParaRPr lang="en-US" sz="1600" cap="all" spc="200" dirty="0">
              <a:highlight>
                <a:srgbClr val="FFFF00"/>
              </a:highlight>
              <a:latin typeface="+mj-lt"/>
            </a:endParaRPr>
          </a:p>
          <a:p>
            <a:pPr>
              <a:buFont typeface="Wingdings" panose="05000000000000000000" pitchFamily="2" charset="2"/>
              <a:buChar char="§"/>
            </a:pPr>
            <a:r>
              <a:rPr lang="en-US" sz="1600" cap="all" spc="200" dirty="0">
                <a:latin typeface="+mj-lt"/>
              </a:rPr>
              <a:t>Guide </a:t>
            </a:r>
            <a:r>
              <a:rPr lang="en-US" sz="1600" cap="all" spc="200" dirty="0" err="1">
                <a:latin typeface="+mj-lt"/>
              </a:rPr>
              <a:t>l’auditoire</a:t>
            </a:r>
            <a:r>
              <a:rPr lang="en-US" sz="1600" cap="all" spc="200" dirty="0">
                <a:latin typeface="+mj-lt"/>
              </a:rPr>
              <a:t> </a:t>
            </a:r>
            <a:r>
              <a:rPr lang="en-US" sz="1600" cap="all" spc="200" dirty="0">
                <a:highlight>
                  <a:srgbClr val="FFFF00"/>
                </a:highlight>
                <a:latin typeface="+mj-lt"/>
              </a:rPr>
              <a:t>interne</a:t>
            </a:r>
            <a:r>
              <a:rPr lang="en-US" sz="1600" cap="all" spc="200" dirty="0">
                <a:latin typeface="+mj-lt"/>
              </a:rPr>
              <a:t> </a:t>
            </a:r>
          </a:p>
          <a:p>
            <a:pPr>
              <a:buFont typeface="Wingdings" panose="05000000000000000000" pitchFamily="2" charset="2"/>
              <a:buChar char="§"/>
            </a:pPr>
            <a:r>
              <a:rPr lang="en-US" sz="1600" cap="all" spc="200" dirty="0">
                <a:latin typeface="+mj-lt"/>
              </a:rPr>
              <a:t>Horizon 3 à 5 </a:t>
            </a:r>
            <a:r>
              <a:rPr lang="en-US" sz="1600" cap="all" spc="200" dirty="0" err="1">
                <a:latin typeface="+mj-lt"/>
              </a:rPr>
              <a:t>ans</a:t>
            </a:r>
            <a:endParaRPr lang="en-US" sz="1600" cap="all" spc="200" dirty="0">
              <a:latin typeface="+mj-lt"/>
            </a:endParaRPr>
          </a:p>
          <a:p>
            <a:pPr>
              <a:buFont typeface="Wingdings" panose="05000000000000000000" pitchFamily="2" charset="2"/>
              <a:buChar char="§"/>
            </a:pPr>
            <a:r>
              <a:rPr lang="en-US" sz="1600" cap="all" spc="200" dirty="0" err="1">
                <a:latin typeface="+mj-lt"/>
              </a:rPr>
              <a:t>Énoncé</a:t>
            </a:r>
            <a:r>
              <a:rPr lang="en-US" sz="1600" cap="all" spc="200" dirty="0">
                <a:latin typeface="+mj-lt"/>
              </a:rPr>
              <a:t> </a:t>
            </a:r>
            <a:r>
              <a:rPr lang="en-US" sz="1600" cap="all" spc="200" dirty="0" err="1">
                <a:latin typeface="+mj-lt"/>
              </a:rPr>
              <a:t>concis</a:t>
            </a:r>
            <a:r>
              <a:rPr lang="en-US" sz="1600" cap="all" spc="200" dirty="0">
                <a:latin typeface="+mj-lt"/>
              </a:rPr>
              <a:t>, </a:t>
            </a:r>
            <a:r>
              <a:rPr lang="en-US" sz="1600" cap="all" spc="200" dirty="0" err="1">
                <a:latin typeface="+mj-lt"/>
              </a:rPr>
              <a:t>clair</a:t>
            </a:r>
            <a:r>
              <a:rPr lang="en-US" sz="1600" cap="all" spc="200" dirty="0">
                <a:latin typeface="+mj-lt"/>
              </a:rPr>
              <a:t>, </a:t>
            </a:r>
            <a:r>
              <a:rPr lang="en-US" sz="1600" cap="all" spc="200" dirty="0" err="1">
                <a:latin typeface="+mj-lt"/>
              </a:rPr>
              <a:t>réaliste</a:t>
            </a:r>
            <a:r>
              <a:rPr lang="en-US" sz="1600" cap="all" spc="200" dirty="0">
                <a:latin typeface="+mj-lt"/>
              </a:rPr>
              <a:t> et </a:t>
            </a:r>
            <a:r>
              <a:rPr lang="en-US" sz="1600" cap="all" spc="200" dirty="0" err="1">
                <a:latin typeface="+mj-lt"/>
              </a:rPr>
              <a:t>inspirant</a:t>
            </a:r>
            <a:endParaRPr lang="en-US" sz="1600" cap="all" spc="200" dirty="0">
              <a:latin typeface="+mj-lt"/>
            </a:endParaRPr>
          </a:p>
          <a:p>
            <a:pPr marL="0" indent="0">
              <a:buNone/>
            </a:pPr>
            <a:endParaRPr lang="en-US" sz="1600" cap="all" spc="200" dirty="0">
              <a:latin typeface="+mj-lt"/>
            </a:endParaRPr>
          </a:p>
          <a:p>
            <a:pPr marL="0" indent="0">
              <a:buNone/>
            </a:pPr>
            <a:endParaRPr lang="en-US" sz="1600" cap="all" spc="200" dirty="0">
              <a:latin typeface="+mj-lt"/>
            </a:endParaRPr>
          </a:p>
          <a:p>
            <a:pPr marL="0" indent="0">
              <a:buNone/>
            </a:pPr>
            <a:endParaRPr lang="en-US" sz="1600" cap="all" spc="200" dirty="0">
              <a:latin typeface="+mj-lt"/>
            </a:endParaRPr>
          </a:p>
          <a:p>
            <a:pPr marL="0" indent="0">
              <a:buNone/>
            </a:pPr>
            <a:endParaRPr lang="en-US" sz="1600" cap="all" spc="200" dirty="0">
              <a:latin typeface="+mj-lt"/>
            </a:endParaRPr>
          </a:p>
        </p:txBody>
      </p:sp>
      <p:sp>
        <p:nvSpPr>
          <p:cNvPr id="4" name="Espace réservé du pied de page 3">
            <a:extLst>
              <a:ext uri="{FF2B5EF4-FFF2-40B4-BE49-F238E27FC236}">
                <a16:creationId xmlns:a16="http://schemas.microsoft.com/office/drawing/2014/main" id="{C798DB79-1CF4-4BCC-B5D0-C1ADC4CA438E}"/>
              </a:ext>
            </a:extLst>
          </p:cNvPr>
          <p:cNvSpPr>
            <a:spLocks noGrp="1"/>
          </p:cNvSpPr>
          <p:nvPr>
            <p:ph type="ftr" sz="quarter" idx="11"/>
          </p:nvPr>
        </p:nvSpPr>
        <p:spPr>
          <a:xfrm>
            <a:off x="435429" y="6459785"/>
            <a:ext cx="3141785" cy="365125"/>
          </a:xfrm>
        </p:spPr>
        <p:txBody>
          <a:bodyPr vert="horz" lIns="91440" tIns="45720" rIns="91440" bIns="45720" rtlCol="0">
            <a:normAutofit/>
          </a:bodyPr>
          <a:lstStyle/>
          <a:p>
            <a:pPr algn="l" defTabSz="914400">
              <a:spcAft>
                <a:spcPts val="600"/>
              </a:spcAft>
            </a:pPr>
            <a:r>
              <a:rPr lang="en-US" kern="1200" cap="all" baseline="0">
                <a:solidFill>
                  <a:schemeClr val="tx1">
                    <a:lumMod val="75000"/>
                    <a:lumOff val="25000"/>
                  </a:schemeClr>
                </a:solidFill>
                <a:latin typeface="+mn-lt"/>
                <a:ea typeface="+mn-ea"/>
                <a:cs typeface="+mn-cs"/>
              </a:rPr>
              <a:t>(C) HEC Montréal</a:t>
            </a:r>
          </a:p>
        </p:txBody>
      </p:sp>
      <p:sp>
        <p:nvSpPr>
          <p:cNvPr id="5" name="Espace réservé du numéro de diapositive 4">
            <a:extLst>
              <a:ext uri="{FF2B5EF4-FFF2-40B4-BE49-F238E27FC236}">
                <a16:creationId xmlns:a16="http://schemas.microsoft.com/office/drawing/2014/main" id="{545396AC-EAEC-4FBE-A2FD-AAA03A7102BE}"/>
              </a:ext>
            </a:extLst>
          </p:cNvPr>
          <p:cNvSpPr>
            <a:spLocks noGrp="1"/>
          </p:cNvSpPr>
          <p:nvPr>
            <p:ph type="sldNum" sz="quarter" idx="12"/>
          </p:nvPr>
        </p:nvSpPr>
        <p:spPr>
          <a:xfrm>
            <a:off x="10609742" y="6459785"/>
            <a:ext cx="602741" cy="365125"/>
          </a:xfrm>
        </p:spPr>
        <p:txBody>
          <a:bodyPr vert="horz" lIns="91440" tIns="45720" rIns="91440" bIns="45720" rtlCol="0">
            <a:normAutofit/>
          </a:bodyPr>
          <a:lstStyle/>
          <a:p>
            <a:pPr defTabSz="914400">
              <a:spcAft>
                <a:spcPts val="600"/>
              </a:spcAft>
            </a:pPr>
            <a:fld id="{EEB25B09-B9A6-4811-8700-6D36B9CE20D1}" type="slidenum">
              <a:rPr lang="en-US"/>
              <a:pPr defTabSz="914400">
                <a:spcAft>
                  <a:spcPts val="600"/>
                </a:spcAft>
              </a:pPr>
              <a:t>8</a:t>
            </a:fld>
            <a:endParaRPr lang="en-US"/>
          </a:p>
        </p:txBody>
      </p:sp>
      <p:pic>
        <p:nvPicPr>
          <p:cNvPr id="2050" name="Picture 2" descr="Plus Tard, Grandir, Avenir, Croissance, Objectifs">
            <a:extLst>
              <a:ext uri="{FF2B5EF4-FFF2-40B4-BE49-F238E27FC236}">
                <a16:creationId xmlns:a16="http://schemas.microsoft.com/office/drawing/2014/main" id="{94320CF5-ECF8-4481-B761-44B5817CB5F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4075043" y="10"/>
            <a:ext cx="8111272"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46386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49F576A-1659-4261-A2C5-FF4B51E6B98A}"/>
              </a:ext>
            </a:extLst>
          </p:cNvPr>
          <p:cNvSpPr>
            <a:spLocks noGrp="1"/>
          </p:cNvSpPr>
          <p:nvPr>
            <p:ph type="title"/>
          </p:nvPr>
        </p:nvSpPr>
        <p:spPr/>
        <p:txBody>
          <a:bodyPr/>
          <a:lstStyle/>
          <a:p>
            <a:r>
              <a:rPr lang="fr-CA" dirty="0"/>
              <a:t>Mission </a:t>
            </a:r>
          </a:p>
        </p:txBody>
      </p:sp>
      <p:sp>
        <p:nvSpPr>
          <p:cNvPr id="3" name="Espace réservé du contenu 2">
            <a:extLst>
              <a:ext uri="{FF2B5EF4-FFF2-40B4-BE49-F238E27FC236}">
                <a16:creationId xmlns:a16="http://schemas.microsoft.com/office/drawing/2014/main" id="{399C75BC-3F69-45FE-855F-B44293A11871}"/>
              </a:ext>
            </a:extLst>
          </p:cNvPr>
          <p:cNvSpPr>
            <a:spLocks noGrp="1"/>
          </p:cNvSpPr>
          <p:nvPr>
            <p:ph idx="1"/>
          </p:nvPr>
        </p:nvSpPr>
        <p:spPr/>
        <p:txBody>
          <a:bodyPr/>
          <a:lstStyle/>
          <a:p>
            <a:pPr>
              <a:buFont typeface="Wingdings" panose="05000000000000000000" pitchFamily="2" charset="2"/>
              <a:buChar char="§"/>
            </a:pPr>
            <a:r>
              <a:rPr lang="fr-CA" sz="2400" dirty="0"/>
              <a:t>Décrit la raison d’être et la manière par laquelle l’organisation entend atteindre sa vision</a:t>
            </a:r>
          </a:p>
          <a:p>
            <a:pPr lvl="1">
              <a:buFont typeface="Wingdings" panose="05000000000000000000" pitchFamily="2" charset="2"/>
              <a:buChar char="§"/>
            </a:pPr>
            <a:r>
              <a:rPr lang="fr-CA" sz="2000" dirty="0"/>
              <a:t>Produits / services</a:t>
            </a:r>
          </a:p>
          <a:p>
            <a:pPr lvl="1">
              <a:buFont typeface="Wingdings" panose="05000000000000000000" pitchFamily="2" charset="2"/>
              <a:buChar char="§"/>
            </a:pPr>
            <a:r>
              <a:rPr lang="fr-CA" sz="2000" dirty="0"/>
              <a:t>Objectif global</a:t>
            </a:r>
          </a:p>
          <a:p>
            <a:pPr lvl="1">
              <a:buFont typeface="Wingdings" panose="05000000000000000000" pitchFamily="2" charset="2"/>
              <a:buChar char="§"/>
            </a:pPr>
            <a:r>
              <a:rPr lang="fr-CA" sz="2000" dirty="0"/>
              <a:t>Marché cible</a:t>
            </a:r>
          </a:p>
          <a:p>
            <a:pPr lvl="1">
              <a:buFont typeface="Wingdings" panose="05000000000000000000" pitchFamily="2" charset="2"/>
              <a:buChar char="§"/>
            </a:pPr>
            <a:r>
              <a:rPr lang="fr-CA" sz="2000" dirty="0"/>
              <a:t>Proposition de valeur </a:t>
            </a:r>
          </a:p>
          <a:p>
            <a:pPr lvl="1">
              <a:buFont typeface="Wingdings" panose="05000000000000000000" pitchFamily="2" charset="2"/>
              <a:buChar char="§"/>
            </a:pPr>
            <a:r>
              <a:rPr lang="fr-CA" sz="2000" dirty="0"/>
              <a:t>Position concurrentielle</a:t>
            </a:r>
          </a:p>
          <a:p>
            <a:pPr lvl="1">
              <a:buFont typeface="Wingdings" panose="05000000000000000000" pitchFamily="2" charset="2"/>
              <a:buChar char="§"/>
            </a:pPr>
            <a:r>
              <a:rPr lang="fr-CA" sz="2000" dirty="0"/>
              <a:t>Portée géographique </a:t>
            </a:r>
          </a:p>
          <a:p>
            <a:pPr>
              <a:buFont typeface="Wingdings" panose="05000000000000000000" pitchFamily="2" charset="2"/>
              <a:buChar char="§"/>
            </a:pPr>
            <a:r>
              <a:rPr lang="fr-CA" sz="2200" dirty="0"/>
              <a:t>Vise l’auditoire interne et externe</a:t>
            </a:r>
          </a:p>
          <a:p>
            <a:endParaRPr lang="fr-CA" dirty="0"/>
          </a:p>
        </p:txBody>
      </p:sp>
      <p:sp>
        <p:nvSpPr>
          <p:cNvPr id="4" name="Espace réservé du pied de page 3">
            <a:extLst>
              <a:ext uri="{FF2B5EF4-FFF2-40B4-BE49-F238E27FC236}">
                <a16:creationId xmlns:a16="http://schemas.microsoft.com/office/drawing/2014/main" id="{A121D0D1-B758-4D2A-9AA7-B51CF078DF4F}"/>
              </a:ext>
            </a:extLst>
          </p:cNvPr>
          <p:cNvSpPr>
            <a:spLocks noGrp="1"/>
          </p:cNvSpPr>
          <p:nvPr>
            <p:ph type="ftr" sz="quarter" idx="11"/>
          </p:nvPr>
        </p:nvSpPr>
        <p:spPr/>
        <p:txBody>
          <a:bodyPr/>
          <a:lstStyle/>
          <a:p>
            <a:r>
              <a:rPr lang="fr-CA"/>
              <a:t>(C) HEC Montréal</a:t>
            </a:r>
          </a:p>
        </p:txBody>
      </p:sp>
      <p:sp>
        <p:nvSpPr>
          <p:cNvPr id="5" name="Espace réservé du numéro de diapositive 4">
            <a:extLst>
              <a:ext uri="{FF2B5EF4-FFF2-40B4-BE49-F238E27FC236}">
                <a16:creationId xmlns:a16="http://schemas.microsoft.com/office/drawing/2014/main" id="{B9B53F7C-A915-4B18-A688-B04AB12A6662}"/>
              </a:ext>
            </a:extLst>
          </p:cNvPr>
          <p:cNvSpPr>
            <a:spLocks noGrp="1"/>
          </p:cNvSpPr>
          <p:nvPr>
            <p:ph type="sldNum" sz="quarter" idx="12"/>
          </p:nvPr>
        </p:nvSpPr>
        <p:spPr/>
        <p:txBody>
          <a:bodyPr/>
          <a:lstStyle/>
          <a:p>
            <a:fld id="{EEB25B09-B9A6-4811-8700-6D36B9CE20D1}" type="slidenum">
              <a:rPr lang="fr-CA" smtClean="0"/>
              <a:t>9</a:t>
            </a:fld>
            <a:endParaRPr lang="fr-CA"/>
          </a:p>
        </p:txBody>
      </p:sp>
    </p:spTree>
    <p:extLst>
      <p:ext uri="{BB962C8B-B14F-4D97-AF65-F5344CB8AC3E}">
        <p14:creationId xmlns:p14="http://schemas.microsoft.com/office/powerpoint/2010/main" val="10775575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72CEB53-E780-4579-AB69-10C50B16A791}"/>
              </a:ext>
            </a:extLst>
          </p:cNvPr>
          <p:cNvSpPr>
            <a:spLocks noGrp="1"/>
          </p:cNvSpPr>
          <p:nvPr>
            <p:ph type="title"/>
          </p:nvPr>
        </p:nvSpPr>
        <p:spPr>
          <a:xfrm>
            <a:off x="638400" y="577216"/>
            <a:ext cx="10915200" cy="988033"/>
          </a:xfrm>
        </p:spPr>
        <p:txBody>
          <a:bodyPr anchor="ctr">
            <a:normAutofit/>
          </a:bodyPr>
          <a:lstStyle/>
          <a:p>
            <a:r>
              <a:rPr lang="fr-CA" dirty="0"/>
              <a:t>Valeurs </a:t>
            </a:r>
          </a:p>
        </p:txBody>
      </p:sp>
      <p:sp>
        <p:nvSpPr>
          <p:cNvPr id="3" name="Espace réservé du contenu 2">
            <a:extLst>
              <a:ext uri="{FF2B5EF4-FFF2-40B4-BE49-F238E27FC236}">
                <a16:creationId xmlns:a16="http://schemas.microsoft.com/office/drawing/2014/main" id="{42F94A37-10F0-4471-994F-5F42BE0D6E98}"/>
              </a:ext>
            </a:extLst>
          </p:cNvPr>
          <p:cNvSpPr>
            <a:spLocks noGrp="1"/>
          </p:cNvSpPr>
          <p:nvPr>
            <p:ph sz="half" idx="1"/>
          </p:nvPr>
        </p:nvSpPr>
        <p:spPr>
          <a:xfrm>
            <a:off x="609600" y="1821282"/>
            <a:ext cx="5384800" cy="3897529"/>
          </a:xfrm>
        </p:spPr>
        <p:txBody>
          <a:bodyPr>
            <a:normAutofit/>
          </a:bodyPr>
          <a:lstStyle/>
          <a:p>
            <a:r>
              <a:rPr lang="fr-CA"/>
              <a:t>« Les valeurs représentent l’entreprise. Il s’agit des croyances qui animent le comportement organisationnel et les caractéristiques qu’elle souhaite se voir attribuer par les clients, les partenaires et les autres. »</a:t>
            </a:r>
          </a:p>
        </p:txBody>
      </p:sp>
      <p:pic>
        <p:nvPicPr>
          <p:cNvPr id="2052" name="Picture 4">
            <a:extLst>
              <a:ext uri="{FF2B5EF4-FFF2-40B4-BE49-F238E27FC236}">
                <a16:creationId xmlns:a16="http://schemas.microsoft.com/office/drawing/2014/main" id="{421B145D-E108-4D4A-AE92-C183B9B9D31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
          <a:stretch/>
        </p:blipFill>
        <p:spPr bwMode="auto">
          <a:xfrm>
            <a:off x="6197600" y="1821282"/>
            <a:ext cx="5384800" cy="3897529"/>
          </a:xfrm>
          <a:prstGeom prst="rect">
            <a:avLst/>
          </a:prstGeom>
          <a:solidFill>
            <a:srgbClr val="FFFFFF"/>
          </a:solidFill>
        </p:spPr>
      </p:pic>
      <p:sp>
        <p:nvSpPr>
          <p:cNvPr id="4" name="Espace réservé du pied de page 3">
            <a:extLst>
              <a:ext uri="{FF2B5EF4-FFF2-40B4-BE49-F238E27FC236}">
                <a16:creationId xmlns:a16="http://schemas.microsoft.com/office/drawing/2014/main" id="{6E64AF78-B197-4C40-9BB2-DA8A9AACABBA}"/>
              </a:ext>
            </a:extLst>
          </p:cNvPr>
          <p:cNvSpPr>
            <a:spLocks noGrp="1"/>
          </p:cNvSpPr>
          <p:nvPr>
            <p:ph type="ftr" sz="quarter" idx="11"/>
          </p:nvPr>
        </p:nvSpPr>
        <p:spPr>
          <a:xfrm>
            <a:off x="4165600" y="6461995"/>
            <a:ext cx="3860800" cy="164160"/>
          </a:xfrm>
        </p:spPr>
        <p:txBody>
          <a:bodyPr anchor="ctr">
            <a:normAutofit/>
          </a:bodyPr>
          <a:lstStyle/>
          <a:p>
            <a:pPr>
              <a:lnSpc>
                <a:spcPct val="90000"/>
              </a:lnSpc>
              <a:spcAft>
                <a:spcPts val="600"/>
              </a:spcAft>
            </a:pPr>
            <a:r>
              <a:rPr lang="fr-CA" sz="500"/>
              <a:t>(C) HEC Montréal</a:t>
            </a:r>
          </a:p>
        </p:txBody>
      </p:sp>
      <p:sp>
        <p:nvSpPr>
          <p:cNvPr id="5" name="Espace réservé du numéro de diapositive 4">
            <a:extLst>
              <a:ext uri="{FF2B5EF4-FFF2-40B4-BE49-F238E27FC236}">
                <a16:creationId xmlns:a16="http://schemas.microsoft.com/office/drawing/2014/main" id="{FCD77430-8FFE-40E7-B11D-9A9FCC60A105}"/>
              </a:ext>
            </a:extLst>
          </p:cNvPr>
          <p:cNvSpPr>
            <a:spLocks noGrp="1"/>
          </p:cNvSpPr>
          <p:nvPr>
            <p:ph type="sldNum" sz="quarter" idx="12"/>
          </p:nvPr>
        </p:nvSpPr>
        <p:spPr>
          <a:xfrm>
            <a:off x="10934400" y="6461995"/>
            <a:ext cx="619200" cy="164160"/>
          </a:xfrm>
        </p:spPr>
        <p:txBody>
          <a:bodyPr anchor="ctr">
            <a:normAutofit/>
          </a:bodyPr>
          <a:lstStyle/>
          <a:p>
            <a:pPr>
              <a:lnSpc>
                <a:spcPct val="90000"/>
              </a:lnSpc>
              <a:spcAft>
                <a:spcPts val="600"/>
              </a:spcAft>
            </a:pPr>
            <a:fld id="{EEB25B09-B9A6-4811-8700-6D36B9CE20D1}" type="slidenum">
              <a:rPr lang="fr-CA" sz="500" smtClean="0"/>
              <a:pPr>
                <a:lnSpc>
                  <a:spcPct val="90000"/>
                </a:lnSpc>
                <a:spcAft>
                  <a:spcPts val="600"/>
                </a:spcAft>
              </a:pPr>
              <a:t>10</a:t>
            </a:fld>
            <a:endParaRPr lang="fr-CA" sz="500"/>
          </a:p>
        </p:txBody>
      </p:sp>
      <p:sp>
        <p:nvSpPr>
          <p:cNvPr id="8" name="Rectangle 7">
            <a:extLst>
              <a:ext uri="{FF2B5EF4-FFF2-40B4-BE49-F238E27FC236}">
                <a16:creationId xmlns:a16="http://schemas.microsoft.com/office/drawing/2014/main" id="{3DA78DF1-E252-483F-A468-A7E5AF48FF3A}"/>
              </a:ext>
            </a:extLst>
          </p:cNvPr>
          <p:cNvSpPr/>
          <p:nvPr/>
        </p:nvSpPr>
        <p:spPr>
          <a:xfrm>
            <a:off x="254000" y="5167073"/>
            <a:ext cx="6096000" cy="923330"/>
          </a:xfrm>
          <a:prstGeom prst="rect">
            <a:avLst/>
          </a:prstGeom>
        </p:spPr>
        <p:txBody>
          <a:bodyPr>
            <a:spAutoFit/>
          </a:bodyPr>
          <a:lstStyle/>
          <a:p>
            <a:pPr lvl="0">
              <a:defRPr/>
            </a:pPr>
            <a:r>
              <a:rPr lang="fr-CA" dirty="0"/>
              <a:t>Source: </a:t>
            </a:r>
            <a:r>
              <a:rPr lang="fr-CA" dirty="0">
                <a:hlinkClick r:id="rId4"/>
              </a:rPr>
              <a:t>https://www.bdc.ca/fr/articles-outils/boite-outils-entrepreneur/gabarits-documents-guides-affaires/glossaire/pages/valeurs.aspx</a:t>
            </a:r>
            <a:endParaRPr lang="fr-CA" dirty="0"/>
          </a:p>
        </p:txBody>
      </p:sp>
    </p:spTree>
    <p:extLst>
      <p:ext uri="{BB962C8B-B14F-4D97-AF65-F5344CB8AC3E}">
        <p14:creationId xmlns:p14="http://schemas.microsoft.com/office/powerpoint/2010/main" val="38384148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F8B9A9-FC75-483F-A8BA-74CBA463E3DB}"/>
              </a:ext>
            </a:extLst>
          </p:cNvPr>
          <p:cNvSpPr>
            <a:spLocks noGrp="1"/>
          </p:cNvSpPr>
          <p:nvPr>
            <p:ph type="title"/>
          </p:nvPr>
        </p:nvSpPr>
        <p:spPr/>
        <p:txBody>
          <a:bodyPr/>
          <a:lstStyle/>
          <a:p>
            <a:r>
              <a:rPr lang="fr-CA" dirty="0"/>
              <a:t>Analyse de la stratégie actuelle</a:t>
            </a:r>
          </a:p>
        </p:txBody>
      </p:sp>
      <p:graphicFrame>
        <p:nvGraphicFramePr>
          <p:cNvPr id="6" name="Espace réservé du contenu 5">
            <a:extLst>
              <a:ext uri="{FF2B5EF4-FFF2-40B4-BE49-F238E27FC236}">
                <a16:creationId xmlns:a16="http://schemas.microsoft.com/office/drawing/2014/main" id="{2A635380-7CA1-432F-AAF1-99102EC32C0A}"/>
              </a:ext>
            </a:extLst>
          </p:cNvPr>
          <p:cNvGraphicFramePr>
            <a:graphicFrameLocks noGrp="1"/>
          </p:cNvGraphicFramePr>
          <p:nvPr>
            <p:ph idx="1"/>
            <p:extLst>
              <p:ext uri="{D42A27DB-BD31-4B8C-83A1-F6EECF244321}">
                <p14:modId xmlns:p14="http://schemas.microsoft.com/office/powerpoint/2010/main" val="3819402616"/>
              </p:ext>
            </p:extLst>
          </p:nvPr>
        </p:nvGraphicFramePr>
        <p:xfrm>
          <a:off x="638175" y="1893888"/>
          <a:ext cx="10915650" cy="38242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Espace réservé du pied de page 3">
            <a:extLst>
              <a:ext uri="{FF2B5EF4-FFF2-40B4-BE49-F238E27FC236}">
                <a16:creationId xmlns:a16="http://schemas.microsoft.com/office/drawing/2014/main" id="{867D2810-A9F0-4388-96FA-2544D3EA13E8}"/>
              </a:ext>
            </a:extLst>
          </p:cNvPr>
          <p:cNvSpPr>
            <a:spLocks noGrp="1"/>
          </p:cNvSpPr>
          <p:nvPr>
            <p:ph type="ftr" sz="quarter" idx="11"/>
          </p:nvPr>
        </p:nvSpPr>
        <p:spPr/>
        <p:txBody>
          <a:bodyPr/>
          <a:lstStyle/>
          <a:p>
            <a:r>
              <a:rPr lang="fr-CA"/>
              <a:t>(C) HEC Montréal</a:t>
            </a:r>
          </a:p>
        </p:txBody>
      </p:sp>
      <p:sp>
        <p:nvSpPr>
          <p:cNvPr id="5" name="Espace réservé du numéro de diapositive 4">
            <a:extLst>
              <a:ext uri="{FF2B5EF4-FFF2-40B4-BE49-F238E27FC236}">
                <a16:creationId xmlns:a16="http://schemas.microsoft.com/office/drawing/2014/main" id="{C4F82999-9DBB-4B4C-8547-DF60CBC72AEC}"/>
              </a:ext>
            </a:extLst>
          </p:cNvPr>
          <p:cNvSpPr>
            <a:spLocks noGrp="1"/>
          </p:cNvSpPr>
          <p:nvPr>
            <p:ph type="sldNum" sz="quarter" idx="12"/>
          </p:nvPr>
        </p:nvSpPr>
        <p:spPr/>
        <p:txBody>
          <a:bodyPr/>
          <a:lstStyle/>
          <a:p>
            <a:fld id="{EEB25B09-B9A6-4811-8700-6D36B9CE20D1}" type="slidenum">
              <a:rPr lang="fr-CA" smtClean="0"/>
              <a:t>11</a:t>
            </a:fld>
            <a:endParaRPr lang="fr-CA"/>
          </a:p>
        </p:txBody>
      </p:sp>
    </p:spTree>
    <p:extLst>
      <p:ext uri="{BB962C8B-B14F-4D97-AF65-F5344CB8AC3E}">
        <p14:creationId xmlns:p14="http://schemas.microsoft.com/office/powerpoint/2010/main" val="35792891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F8B9A9-FC75-483F-A8BA-74CBA463E3DB}"/>
              </a:ext>
            </a:extLst>
          </p:cNvPr>
          <p:cNvSpPr>
            <a:spLocks noGrp="1"/>
          </p:cNvSpPr>
          <p:nvPr>
            <p:ph type="title"/>
          </p:nvPr>
        </p:nvSpPr>
        <p:spPr/>
        <p:txBody>
          <a:bodyPr/>
          <a:lstStyle/>
          <a:p>
            <a:r>
              <a:rPr lang="fr-CA" dirty="0"/>
              <a:t>Analyse de la stratégie actuelle – Stratégie d’entreprise</a:t>
            </a:r>
          </a:p>
        </p:txBody>
      </p:sp>
      <p:sp>
        <p:nvSpPr>
          <p:cNvPr id="4" name="Espace réservé du pied de page 3">
            <a:extLst>
              <a:ext uri="{FF2B5EF4-FFF2-40B4-BE49-F238E27FC236}">
                <a16:creationId xmlns:a16="http://schemas.microsoft.com/office/drawing/2014/main" id="{867D2810-A9F0-4388-96FA-2544D3EA13E8}"/>
              </a:ext>
            </a:extLst>
          </p:cNvPr>
          <p:cNvSpPr>
            <a:spLocks noGrp="1"/>
          </p:cNvSpPr>
          <p:nvPr>
            <p:ph type="ftr" sz="quarter" idx="11"/>
          </p:nvPr>
        </p:nvSpPr>
        <p:spPr/>
        <p:txBody>
          <a:bodyPr/>
          <a:lstStyle/>
          <a:p>
            <a:r>
              <a:rPr lang="fr-CA"/>
              <a:t>(C) HEC Montréal</a:t>
            </a:r>
          </a:p>
        </p:txBody>
      </p:sp>
      <p:sp>
        <p:nvSpPr>
          <p:cNvPr id="5" name="Espace réservé du numéro de diapositive 4">
            <a:extLst>
              <a:ext uri="{FF2B5EF4-FFF2-40B4-BE49-F238E27FC236}">
                <a16:creationId xmlns:a16="http://schemas.microsoft.com/office/drawing/2014/main" id="{C4F82999-9DBB-4B4C-8547-DF60CBC72AEC}"/>
              </a:ext>
            </a:extLst>
          </p:cNvPr>
          <p:cNvSpPr>
            <a:spLocks noGrp="1"/>
          </p:cNvSpPr>
          <p:nvPr>
            <p:ph type="sldNum" sz="quarter" idx="12"/>
          </p:nvPr>
        </p:nvSpPr>
        <p:spPr/>
        <p:txBody>
          <a:bodyPr/>
          <a:lstStyle/>
          <a:p>
            <a:fld id="{EEB25B09-B9A6-4811-8700-6D36B9CE20D1}" type="slidenum">
              <a:rPr lang="fr-CA" smtClean="0"/>
              <a:t>12</a:t>
            </a:fld>
            <a:endParaRPr lang="fr-CA"/>
          </a:p>
        </p:txBody>
      </p:sp>
      <p:grpSp>
        <p:nvGrpSpPr>
          <p:cNvPr id="48" name="Groupe 47">
            <a:extLst>
              <a:ext uri="{FF2B5EF4-FFF2-40B4-BE49-F238E27FC236}">
                <a16:creationId xmlns:a16="http://schemas.microsoft.com/office/drawing/2014/main" id="{EB336CD3-1DA0-49E2-A88B-DEA956A98EB7}"/>
              </a:ext>
            </a:extLst>
          </p:cNvPr>
          <p:cNvGrpSpPr/>
          <p:nvPr/>
        </p:nvGrpSpPr>
        <p:grpSpPr>
          <a:xfrm>
            <a:off x="817106" y="2147430"/>
            <a:ext cx="2919665" cy="3041840"/>
            <a:chOff x="8149388" y="2316079"/>
            <a:chExt cx="2919665" cy="3041840"/>
          </a:xfrm>
        </p:grpSpPr>
        <p:grpSp>
          <p:nvGrpSpPr>
            <p:cNvPr id="23" name="Groupe 22">
              <a:extLst>
                <a:ext uri="{FF2B5EF4-FFF2-40B4-BE49-F238E27FC236}">
                  <a16:creationId xmlns:a16="http://schemas.microsoft.com/office/drawing/2014/main" id="{19FD0241-7D72-41C5-A75A-12FBD82DA2C4}"/>
                </a:ext>
              </a:extLst>
            </p:cNvPr>
            <p:cNvGrpSpPr/>
            <p:nvPr/>
          </p:nvGrpSpPr>
          <p:grpSpPr>
            <a:xfrm>
              <a:off x="8149388" y="2316079"/>
              <a:ext cx="1515981" cy="3041840"/>
              <a:chOff x="1576135" y="2298032"/>
              <a:chExt cx="1515981" cy="3041840"/>
            </a:xfrm>
          </p:grpSpPr>
          <p:sp>
            <p:nvSpPr>
              <p:cNvPr id="24" name="Rectangle 23">
                <a:extLst>
                  <a:ext uri="{FF2B5EF4-FFF2-40B4-BE49-F238E27FC236}">
                    <a16:creationId xmlns:a16="http://schemas.microsoft.com/office/drawing/2014/main" id="{9855B94D-38E9-4E26-80E6-927C7EB334BC}"/>
                  </a:ext>
                </a:extLst>
              </p:cNvPr>
              <p:cNvSpPr/>
              <p:nvPr/>
            </p:nvSpPr>
            <p:spPr>
              <a:xfrm>
                <a:off x="1576137" y="2298032"/>
                <a:ext cx="1515979" cy="7098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t>Unité d’affaires 1</a:t>
                </a:r>
              </a:p>
            </p:txBody>
          </p:sp>
          <p:sp>
            <p:nvSpPr>
              <p:cNvPr id="25" name="Rectangle 24">
                <a:extLst>
                  <a:ext uri="{FF2B5EF4-FFF2-40B4-BE49-F238E27FC236}">
                    <a16:creationId xmlns:a16="http://schemas.microsoft.com/office/drawing/2014/main" id="{78238B9F-FFFB-4E8A-96AA-F9607953078E}"/>
                  </a:ext>
                </a:extLst>
              </p:cNvPr>
              <p:cNvSpPr/>
              <p:nvPr/>
            </p:nvSpPr>
            <p:spPr>
              <a:xfrm>
                <a:off x="1576136" y="3429000"/>
                <a:ext cx="1515979" cy="7098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t>Unité d’affaires 2</a:t>
                </a:r>
              </a:p>
            </p:txBody>
          </p:sp>
          <p:sp>
            <p:nvSpPr>
              <p:cNvPr id="26" name="Rectangle 25">
                <a:extLst>
                  <a:ext uri="{FF2B5EF4-FFF2-40B4-BE49-F238E27FC236}">
                    <a16:creationId xmlns:a16="http://schemas.microsoft.com/office/drawing/2014/main" id="{40E6D364-181E-4A87-A9AC-D8615A5758C4}"/>
                  </a:ext>
                </a:extLst>
              </p:cNvPr>
              <p:cNvSpPr/>
              <p:nvPr/>
            </p:nvSpPr>
            <p:spPr>
              <a:xfrm>
                <a:off x="1576135" y="4630009"/>
                <a:ext cx="1515979" cy="7098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t>Unité d’affaires 3</a:t>
                </a:r>
              </a:p>
            </p:txBody>
          </p:sp>
        </p:grpSp>
        <p:cxnSp>
          <p:nvCxnSpPr>
            <p:cNvPr id="30" name="Connecteur droit avec flèche 29">
              <a:extLst>
                <a:ext uri="{FF2B5EF4-FFF2-40B4-BE49-F238E27FC236}">
                  <a16:creationId xmlns:a16="http://schemas.microsoft.com/office/drawing/2014/main" id="{5DCE7D3B-4CEA-4436-B731-6461015ED64C}"/>
                </a:ext>
              </a:extLst>
            </p:cNvPr>
            <p:cNvCxnSpPr>
              <a:stCxn id="24" idx="3"/>
            </p:cNvCxnSpPr>
            <p:nvPr/>
          </p:nvCxnSpPr>
          <p:spPr>
            <a:xfrm flipV="1">
              <a:off x="9665369" y="2671010"/>
              <a:ext cx="36896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onnecteur droit avec flèche 30">
              <a:extLst>
                <a:ext uri="{FF2B5EF4-FFF2-40B4-BE49-F238E27FC236}">
                  <a16:creationId xmlns:a16="http://schemas.microsoft.com/office/drawing/2014/main" id="{F29714A4-66EA-4EB7-894C-A84B215104F6}"/>
                </a:ext>
              </a:extLst>
            </p:cNvPr>
            <p:cNvCxnSpPr/>
            <p:nvPr/>
          </p:nvCxnSpPr>
          <p:spPr>
            <a:xfrm flipV="1">
              <a:off x="9665369" y="3823033"/>
              <a:ext cx="36896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Connecteur droit avec flèche 31">
              <a:extLst>
                <a:ext uri="{FF2B5EF4-FFF2-40B4-BE49-F238E27FC236}">
                  <a16:creationId xmlns:a16="http://schemas.microsoft.com/office/drawing/2014/main" id="{64DD4D2D-9EFB-454B-B6FF-A55AFCDCD403}"/>
                </a:ext>
              </a:extLst>
            </p:cNvPr>
            <p:cNvCxnSpPr/>
            <p:nvPr/>
          </p:nvCxnSpPr>
          <p:spPr>
            <a:xfrm flipV="1">
              <a:off x="9665369" y="5010504"/>
              <a:ext cx="36896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C9244804-0CEA-4481-AB0E-E0DD0A815123}"/>
                </a:ext>
              </a:extLst>
            </p:cNvPr>
            <p:cNvSpPr/>
            <p:nvPr/>
          </p:nvSpPr>
          <p:spPr>
            <a:xfrm>
              <a:off x="10034337" y="2328568"/>
              <a:ext cx="1034716" cy="600487"/>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t>Client</a:t>
              </a:r>
            </a:p>
          </p:txBody>
        </p:sp>
        <p:sp>
          <p:nvSpPr>
            <p:cNvPr id="34" name="Rectangle 33">
              <a:extLst>
                <a:ext uri="{FF2B5EF4-FFF2-40B4-BE49-F238E27FC236}">
                  <a16:creationId xmlns:a16="http://schemas.microsoft.com/office/drawing/2014/main" id="{D738DB0E-19B4-4A28-A25D-F4CF65AE3ABC}"/>
                </a:ext>
              </a:extLst>
            </p:cNvPr>
            <p:cNvSpPr/>
            <p:nvPr/>
          </p:nvSpPr>
          <p:spPr>
            <a:xfrm>
              <a:off x="10034337" y="3522789"/>
              <a:ext cx="1034716" cy="600487"/>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t>Client</a:t>
              </a:r>
            </a:p>
          </p:txBody>
        </p:sp>
        <p:sp>
          <p:nvSpPr>
            <p:cNvPr id="35" name="Rectangle 34">
              <a:extLst>
                <a:ext uri="{FF2B5EF4-FFF2-40B4-BE49-F238E27FC236}">
                  <a16:creationId xmlns:a16="http://schemas.microsoft.com/office/drawing/2014/main" id="{167E76B9-67F9-4927-A468-52DD2E39BE9F}"/>
                </a:ext>
              </a:extLst>
            </p:cNvPr>
            <p:cNvSpPr/>
            <p:nvPr/>
          </p:nvSpPr>
          <p:spPr>
            <a:xfrm>
              <a:off x="10034337" y="4755374"/>
              <a:ext cx="1034716" cy="600487"/>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t>Client</a:t>
              </a:r>
            </a:p>
          </p:txBody>
        </p:sp>
      </p:grpSp>
      <p:sp>
        <p:nvSpPr>
          <p:cNvPr id="49" name="Rectangle 48">
            <a:extLst>
              <a:ext uri="{FF2B5EF4-FFF2-40B4-BE49-F238E27FC236}">
                <a16:creationId xmlns:a16="http://schemas.microsoft.com/office/drawing/2014/main" id="{37395BD4-57A0-4BEC-989E-E4FFFA04097E}"/>
              </a:ext>
            </a:extLst>
          </p:cNvPr>
          <p:cNvSpPr/>
          <p:nvPr/>
        </p:nvSpPr>
        <p:spPr>
          <a:xfrm>
            <a:off x="902368" y="5442943"/>
            <a:ext cx="2834403" cy="37634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t>Diversification non liée</a:t>
            </a:r>
          </a:p>
        </p:txBody>
      </p:sp>
    </p:spTree>
    <p:extLst>
      <p:ext uri="{BB962C8B-B14F-4D97-AF65-F5344CB8AC3E}">
        <p14:creationId xmlns:p14="http://schemas.microsoft.com/office/powerpoint/2010/main" val="17989608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F8B9A9-FC75-483F-A8BA-74CBA463E3DB}"/>
              </a:ext>
            </a:extLst>
          </p:cNvPr>
          <p:cNvSpPr>
            <a:spLocks noGrp="1"/>
          </p:cNvSpPr>
          <p:nvPr>
            <p:ph type="title"/>
          </p:nvPr>
        </p:nvSpPr>
        <p:spPr/>
        <p:txBody>
          <a:bodyPr/>
          <a:lstStyle/>
          <a:p>
            <a:r>
              <a:rPr lang="fr-CA" dirty="0"/>
              <a:t>Analyse de la stratégie actuelle – Stratégie d’entreprise</a:t>
            </a:r>
          </a:p>
        </p:txBody>
      </p:sp>
      <p:sp>
        <p:nvSpPr>
          <p:cNvPr id="4" name="Espace réservé du pied de page 3">
            <a:extLst>
              <a:ext uri="{FF2B5EF4-FFF2-40B4-BE49-F238E27FC236}">
                <a16:creationId xmlns:a16="http://schemas.microsoft.com/office/drawing/2014/main" id="{867D2810-A9F0-4388-96FA-2544D3EA13E8}"/>
              </a:ext>
            </a:extLst>
          </p:cNvPr>
          <p:cNvSpPr>
            <a:spLocks noGrp="1"/>
          </p:cNvSpPr>
          <p:nvPr>
            <p:ph type="ftr" sz="quarter" idx="11"/>
          </p:nvPr>
        </p:nvSpPr>
        <p:spPr/>
        <p:txBody>
          <a:bodyPr/>
          <a:lstStyle/>
          <a:p>
            <a:r>
              <a:rPr lang="fr-CA"/>
              <a:t>(C) HEC Montréal</a:t>
            </a:r>
          </a:p>
        </p:txBody>
      </p:sp>
      <p:sp>
        <p:nvSpPr>
          <p:cNvPr id="5" name="Espace réservé du numéro de diapositive 4">
            <a:extLst>
              <a:ext uri="{FF2B5EF4-FFF2-40B4-BE49-F238E27FC236}">
                <a16:creationId xmlns:a16="http://schemas.microsoft.com/office/drawing/2014/main" id="{C4F82999-9DBB-4B4C-8547-DF60CBC72AEC}"/>
              </a:ext>
            </a:extLst>
          </p:cNvPr>
          <p:cNvSpPr>
            <a:spLocks noGrp="1"/>
          </p:cNvSpPr>
          <p:nvPr>
            <p:ph type="sldNum" sz="quarter" idx="12"/>
          </p:nvPr>
        </p:nvSpPr>
        <p:spPr/>
        <p:txBody>
          <a:bodyPr/>
          <a:lstStyle/>
          <a:p>
            <a:fld id="{EEB25B09-B9A6-4811-8700-6D36B9CE20D1}" type="slidenum">
              <a:rPr lang="fr-CA" smtClean="0"/>
              <a:t>13</a:t>
            </a:fld>
            <a:endParaRPr lang="fr-CA"/>
          </a:p>
        </p:txBody>
      </p:sp>
      <p:grpSp>
        <p:nvGrpSpPr>
          <p:cNvPr id="48" name="Groupe 47">
            <a:extLst>
              <a:ext uri="{FF2B5EF4-FFF2-40B4-BE49-F238E27FC236}">
                <a16:creationId xmlns:a16="http://schemas.microsoft.com/office/drawing/2014/main" id="{EB336CD3-1DA0-49E2-A88B-DEA956A98EB7}"/>
              </a:ext>
            </a:extLst>
          </p:cNvPr>
          <p:cNvGrpSpPr/>
          <p:nvPr/>
        </p:nvGrpSpPr>
        <p:grpSpPr>
          <a:xfrm>
            <a:off x="817106" y="2147430"/>
            <a:ext cx="2919665" cy="3041840"/>
            <a:chOff x="8149388" y="2316079"/>
            <a:chExt cx="2919665" cy="3041840"/>
          </a:xfrm>
        </p:grpSpPr>
        <p:grpSp>
          <p:nvGrpSpPr>
            <p:cNvPr id="23" name="Groupe 22">
              <a:extLst>
                <a:ext uri="{FF2B5EF4-FFF2-40B4-BE49-F238E27FC236}">
                  <a16:creationId xmlns:a16="http://schemas.microsoft.com/office/drawing/2014/main" id="{19FD0241-7D72-41C5-A75A-12FBD82DA2C4}"/>
                </a:ext>
              </a:extLst>
            </p:cNvPr>
            <p:cNvGrpSpPr/>
            <p:nvPr/>
          </p:nvGrpSpPr>
          <p:grpSpPr>
            <a:xfrm>
              <a:off x="8149388" y="2316079"/>
              <a:ext cx="1515981" cy="3041840"/>
              <a:chOff x="1576135" y="2298032"/>
              <a:chExt cx="1515981" cy="3041840"/>
            </a:xfrm>
          </p:grpSpPr>
          <p:sp>
            <p:nvSpPr>
              <p:cNvPr id="24" name="Rectangle 23">
                <a:extLst>
                  <a:ext uri="{FF2B5EF4-FFF2-40B4-BE49-F238E27FC236}">
                    <a16:creationId xmlns:a16="http://schemas.microsoft.com/office/drawing/2014/main" id="{9855B94D-38E9-4E26-80E6-927C7EB334BC}"/>
                  </a:ext>
                </a:extLst>
              </p:cNvPr>
              <p:cNvSpPr/>
              <p:nvPr/>
            </p:nvSpPr>
            <p:spPr>
              <a:xfrm>
                <a:off x="1576137" y="2298032"/>
                <a:ext cx="1515979" cy="7098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t>Unité d’affaires 1</a:t>
                </a:r>
              </a:p>
            </p:txBody>
          </p:sp>
          <p:sp>
            <p:nvSpPr>
              <p:cNvPr id="25" name="Rectangle 24">
                <a:extLst>
                  <a:ext uri="{FF2B5EF4-FFF2-40B4-BE49-F238E27FC236}">
                    <a16:creationId xmlns:a16="http://schemas.microsoft.com/office/drawing/2014/main" id="{78238B9F-FFFB-4E8A-96AA-F9607953078E}"/>
                  </a:ext>
                </a:extLst>
              </p:cNvPr>
              <p:cNvSpPr/>
              <p:nvPr/>
            </p:nvSpPr>
            <p:spPr>
              <a:xfrm>
                <a:off x="1576136" y="3429000"/>
                <a:ext cx="1515979" cy="7098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t>Unité d’affaires 2</a:t>
                </a:r>
              </a:p>
            </p:txBody>
          </p:sp>
          <p:sp>
            <p:nvSpPr>
              <p:cNvPr id="26" name="Rectangle 25">
                <a:extLst>
                  <a:ext uri="{FF2B5EF4-FFF2-40B4-BE49-F238E27FC236}">
                    <a16:creationId xmlns:a16="http://schemas.microsoft.com/office/drawing/2014/main" id="{40E6D364-181E-4A87-A9AC-D8615A5758C4}"/>
                  </a:ext>
                </a:extLst>
              </p:cNvPr>
              <p:cNvSpPr/>
              <p:nvPr/>
            </p:nvSpPr>
            <p:spPr>
              <a:xfrm>
                <a:off x="1576135" y="4630009"/>
                <a:ext cx="1515979" cy="7098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t>Unité d’affaires 3</a:t>
                </a:r>
              </a:p>
            </p:txBody>
          </p:sp>
        </p:grpSp>
        <p:cxnSp>
          <p:nvCxnSpPr>
            <p:cNvPr id="30" name="Connecteur droit avec flèche 29">
              <a:extLst>
                <a:ext uri="{FF2B5EF4-FFF2-40B4-BE49-F238E27FC236}">
                  <a16:creationId xmlns:a16="http://schemas.microsoft.com/office/drawing/2014/main" id="{5DCE7D3B-4CEA-4436-B731-6461015ED64C}"/>
                </a:ext>
              </a:extLst>
            </p:cNvPr>
            <p:cNvCxnSpPr>
              <a:stCxn id="24" idx="3"/>
            </p:cNvCxnSpPr>
            <p:nvPr/>
          </p:nvCxnSpPr>
          <p:spPr>
            <a:xfrm flipV="1">
              <a:off x="9665369" y="2671010"/>
              <a:ext cx="36896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onnecteur droit avec flèche 30">
              <a:extLst>
                <a:ext uri="{FF2B5EF4-FFF2-40B4-BE49-F238E27FC236}">
                  <a16:creationId xmlns:a16="http://schemas.microsoft.com/office/drawing/2014/main" id="{F29714A4-66EA-4EB7-894C-A84B215104F6}"/>
                </a:ext>
              </a:extLst>
            </p:cNvPr>
            <p:cNvCxnSpPr/>
            <p:nvPr/>
          </p:nvCxnSpPr>
          <p:spPr>
            <a:xfrm flipV="1">
              <a:off x="9665369" y="3823033"/>
              <a:ext cx="36896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Connecteur droit avec flèche 31">
              <a:extLst>
                <a:ext uri="{FF2B5EF4-FFF2-40B4-BE49-F238E27FC236}">
                  <a16:creationId xmlns:a16="http://schemas.microsoft.com/office/drawing/2014/main" id="{64DD4D2D-9EFB-454B-B6FF-A55AFCDCD403}"/>
                </a:ext>
              </a:extLst>
            </p:cNvPr>
            <p:cNvCxnSpPr/>
            <p:nvPr/>
          </p:nvCxnSpPr>
          <p:spPr>
            <a:xfrm flipV="1">
              <a:off x="9665369" y="5010504"/>
              <a:ext cx="36896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C9244804-0CEA-4481-AB0E-E0DD0A815123}"/>
                </a:ext>
              </a:extLst>
            </p:cNvPr>
            <p:cNvSpPr/>
            <p:nvPr/>
          </p:nvSpPr>
          <p:spPr>
            <a:xfrm>
              <a:off x="10034337" y="2328568"/>
              <a:ext cx="1034716" cy="600487"/>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t>Client</a:t>
              </a:r>
            </a:p>
          </p:txBody>
        </p:sp>
        <p:sp>
          <p:nvSpPr>
            <p:cNvPr id="34" name="Rectangle 33">
              <a:extLst>
                <a:ext uri="{FF2B5EF4-FFF2-40B4-BE49-F238E27FC236}">
                  <a16:creationId xmlns:a16="http://schemas.microsoft.com/office/drawing/2014/main" id="{D738DB0E-19B4-4A28-A25D-F4CF65AE3ABC}"/>
                </a:ext>
              </a:extLst>
            </p:cNvPr>
            <p:cNvSpPr/>
            <p:nvPr/>
          </p:nvSpPr>
          <p:spPr>
            <a:xfrm>
              <a:off x="10034337" y="3522789"/>
              <a:ext cx="1034716" cy="600487"/>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t>Client</a:t>
              </a:r>
            </a:p>
          </p:txBody>
        </p:sp>
        <p:sp>
          <p:nvSpPr>
            <p:cNvPr id="35" name="Rectangle 34">
              <a:extLst>
                <a:ext uri="{FF2B5EF4-FFF2-40B4-BE49-F238E27FC236}">
                  <a16:creationId xmlns:a16="http://schemas.microsoft.com/office/drawing/2014/main" id="{167E76B9-67F9-4927-A468-52DD2E39BE9F}"/>
                </a:ext>
              </a:extLst>
            </p:cNvPr>
            <p:cNvSpPr/>
            <p:nvPr/>
          </p:nvSpPr>
          <p:spPr>
            <a:xfrm>
              <a:off x="10034337" y="4755374"/>
              <a:ext cx="1034716" cy="600487"/>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t>Client</a:t>
              </a:r>
            </a:p>
          </p:txBody>
        </p:sp>
      </p:grpSp>
      <p:grpSp>
        <p:nvGrpSpPr>
          <p:cNvPr id="42" name="Groupe 41">
            <a:extLst>
              <a:ext uri="{FF2B5EF4-FFF2-40B4-BE49-F238E27FC236}">
                <a16:creationId xmlns:a16="http://schemas.microsoft.com/office/drawing/2014/main" id="{42D59CC0-04E9-4F31-9F9C-6CCEF741A9B3}"/>
              </a:ext>
            </a:extLst>
          </p:cNvPr>
          <p:cNvGrpSpPr/>
          <p:nvPr/>
        </p:nvGrpSpPr>
        <p:grpSpPr>
          <a:xfrm>
            <a:off x="4892320" y="2159919"/>
            <a:ext cx="2919663" cy="3041840"/>
            <a:chOff x="1576135" y="2298032"/>
            <a:chExt cx="2919663" cy="3041840"/>
          </a:xfrm>
        </p:grpSpPr>
        <p:grpSp>
          <p:nvGrpSpPr>
            <p:cNvPr id="16" name="Groupe 15">
              <a:extLst>
                <a:ext uri="{FF2B5EF4-FFF2-40B4-BE49-F238E27FC236}">
                  <a16:creationId xmlns:a16="http://schemas.microsoft.com/office/drawing/2014/main" id="{F08998CC-1AB0-4CC3-9756-F6BF5FC0B37C}"/>
                </a:ext>
              </a:extLst>
            </p:cNvPr>
            <p:cNvGrpSpPr/>
            <p:nvPr/>
          </p:nvGrpSpPr>
          <p:grpSpPr>
            <a:xfrm>
              <a:off x="1576135" y="2298032"/>
              <a:ext cx="1515981" cy="3041840"/>
              <a:chOff x="1576135" y="2298032"/>
              <a:chExt cx="1515981" cy="3041840"/>
            </a:xfrm>
          </p:grpSpPr>
          <p:sp>
            <p:nvSpPr>
              <p:cNvPr id="6" name="Rectangle 5">
                <a:extLst>
                  <a:ext uri="{FF2B5EF4-FFF2-40B4-BE49-F238E27FC236}">
                    <a16:creationId xmlns:a16="http://schemas.microsoft.com/office/drawing/2014/main" id="{DC1DFF1D-F86E-44CD-94CE-03CFAB66C48E}"/>
                  </a:ext>
                </a:extLst>
              </p:cNvPr>
              <p:cNvSpPr/>
              <p:nvPr/>
            </p:nvSpPr>
            <p:spPr>
              <a:xfrm>
                <a:off x="1576137" y="2298032"/>
                <a:ext cx="1515979" cy="7098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t>Unité d’affaires 1</a:t>
                </a:r>
              </a:p>
            </p:txBody>
          </p:sp>
          <p:sp>
            <p:nvSpPr>
              <p:cNvPr id="9" name="Rectangle 8">
                <a:extLst>
                  <a:ext uri="{FF2B5EF4-FFF2-40B4-BE49-F238E27FC236}">
                    <a16:creationId xmlns:a16="http://schemas.microsoft.com/office/drawing/2014/main" id="{83369137-CC62-463D-B2F4-A4D3A871C63E}"/>
                  </a:ext>
                </a:extLst>
              </p:cNvPr>
              <p:cNvSpPr/>
              <p:nvPr/>
            </p:nvSpPr>
            <p:spPr>
              <a:xfrm>
                <a:off x="1576136" y="3429000"/>
                <a:ext cx="1515979" cy="7098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t>Unité d’affaires 2</a:t>
                </a:r>
              </a:p>
            </p:txBody>
          </p:sp>
          <p:sp>
            <p:nvSpPr>
              <p:cNvPr id="10" name="Rectangle 9">
                <a:extLst>
                  <a:ext uri="{FF2B5EF4-FFF2-40B4-BE49-F238E27FC236}">
                    <a16:creationId xmlns:a16="http://schemas.microsoft.com/office/drawing/2014/main" id="{8ABAC0B6-4889-4227-AB76-0747D028F53E}"/>
                  </a:ext>
                </a:extLst>
              </p:cNvPr>
              <p:cNvSpPr/>
              <p:nvPr/>
            </p:nvSpPr>
            <p:spPr>
              <a:xfrm>
                <a:off x="1576135" y="4630009"/>
                <a:ext cx="1515979" cy="7098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t>Unité d’affaires 3</a:t>
                </a:r>
              </a:p>
            </p:txBody>
          </p:sp>
          <p:cxnSp>
            <p:nvCxnSpPr>
              <p:cNvPr id="12" name="Connecteur droit avec flèche 11">
                <a:extLst>
                  <a:ext uri="{FF2B5EF4-FFF2-40B4-BE49-F238E27FC236}">
                    <a16:creationId xmlns:a16="http://schemas.microsoft.com/office/drawing/2014/main" id="{16216918-1B7F-4828-B6A9-0889FC43B597}"/>
                  </a:ext>
                </a:extLst>
              </p:cNvPr>
              <p:cNvCxnSpPr>
                <a:stCxn id="6" idx="2"/>
                <a:endCxn id="9" idx="0"/>
              </p:cNvCxnSpPr>
              <p:nvPr/>
            </p:nvCxnSpPr>
            <p:spPr>
              <a:xfrm flipH="1">
                <a:off x="2334126" y="3007895"/>
                <a:ext cx="1" cy="4211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Connecteur droit avec flèche 13">
                <a:extLst>
                  <a:ext uri="{FF2B5EF4-FFF2-40B4-BE49-F238E27FC236}">
                    <a16:creationId xmlns:a16="http://schemas.microsoft.com/office/drawing/2014/main" id="{A096DDCD-601D-4878-B1C9-346146E5E038}"/>
                  </a:ext>
                </a:extLst>
              </p:cNvPr>
              <p:cNvCxnSpPr>
                <a:cxnSpLocks/>
                <a:endCxn id="10" idx="0"/>
              </p:cNvCxnSpPr>
              <p:nvPr/>
            </p:nvCxnSpPr>
            <p:spPr>
              <a:xfrm flipH="1">
                <a:off x="2334125" y="4138863"/>
                <a:ext cx="2" cy="4911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cxnSp>
          <p:nvCxnSpPr>
            <p:cNvPr id="36" name="Connecteur droit avec flèche 35">
              <a:extLst>
                <a:ext uri="{FF2B5EF4-FFF2-40B4-BE49-F238E27FC236}">
                  <a16:creationId xmlns:a16="http://schemas.microsoft.com/office/drawing/2014/main" id="{F30CDABB-268D-4054-9B42-B02223818C69}"/>
                </a:ext>
              </a:extLst>
            </p:cNvPr>
            <p:cNvCxnSpPr/>
            <p:nvPr/>
          </p:nvCxnSpPr>
          <p:spPr>
            <a:xfrm flipV="1">
              <a:off x="3056022" y="2671010"/>
              <a:ext cx="36896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Connecteur droit avec flèche 36">
              <a:extLst>
                <a:ext uri="{FF2B5EF4-FFF2-40B4-BE49-F238E27FC236}">
                  <a16:creationId xmlns:a16="http://schemas.microsoft.com/office/drawing/2014/main" id="{31444117-1DC4-4B4B-BF6B-F03F20070BAE}"/>
                </a:ext>
              </a:extLst>
            </p:cNvPr>
            <p:cNvCxnSpPr/>
            <p:nvPr/>
          </p:nvCxnSpPr>
          <p:spPr>
            <a:xfrm flipV="1">
              <a:off x="3092114" y="3818951"/>
              <a:ext cx="36896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Connecteur droit avec flèche 37">
              <a:extLst>
                <a:ext uri="{FF2B5EF4-FFF2-40B4-BE49-F238E27FC236}">
                  <a16:creationId xmlns:a16="http://schemas.microsoft.com/office/drawing/2014/main" id="{C2594D31-F50A-4A92-B0D9-13EF3BA9D834}"/>
                </a:ext>
              </a:extLst>
            </p:cNvPr>
            <p:cNvCxnSpPr/>
            <p:nvPr/>
          </p:nvCxnSpPr>
          <p:spPr>
            <a:xfrm flipV="1">
              <a:off x="3056022" y="4926786"/>
              <a:ext cx="36896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8A6249CA-912B-40B9-8705-4EE7C5880FA1}"/>
                </a:ext>
              </a:extLst>
            </p:cNvPr>
            <p:cNvSpPr/>
            <p:nvPr/>
          </p:nvSpPr>
          <p:spPr>
            <a:xfrm>
              <a:off x="3424990" y="2308029"/>
              <a:ext cx="1034716" cy="600487"/>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t>Client</a:t>
              </a:r>
            </a:p>
          </p:txBody>
        </p:sp>
        <p:sp>
          <p:nvSpPr>
            <p:cNvPr id="40" name="Rectangle 39">
              <a:extLst>
                <a:ext uri="{FF2B5EF4-FFF2-40B4-BE49-F238E27FC236}">
                  <a16:creationId xmlns:a16="http://schemas.microsoft.com/office/drawing/2014/main" id="{55149F5B-E055-4091-A1AF-DDB1CB4C273E}"/>
                </a:ext>
              </a:extLst>
            </p:cNvPr>
            <p:cNvSpPr/>
            <p:nvPr/>
          </p:nvSpPr>
          <p:spPr>
            <a:xfrm>
              <a:off x="3461082" y="3483687"/>
              <a:ext cx="1034716" cy="600487"/>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t>Client</a:t>
              </a:r>
            </a:p>
          </p:txBody>
        </p:sp>
        <p:sp>
          <p:nvSpPr>
            <p:cNvPr id="41" name="Rectangle 40">
              <a:extLst>
                <a:ext uri="{FF2B5EF4-FFF2-40B4-BE49-F238E27FC236}">
                  <a16:creationId xmlns:a16="http://schemas.microsoft.com/office/drawing/2014/main" id="{7DB5D7AC-32A5-499C-8A17-BD5A44C305F2}"/>
                </a:ext>
              </a:extLst>
            </p:cNvPr>
            <p:cNvSpPr/>
            <p:nvPr/>
          </p:nvSpPr>
          <p:spPr>
            <a:xfrm>
              <a:off x="3424990" y="4685602"/>
              <a:ext cx="1034716" cy="600487"/>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t>Client</a:t>
              </a:r>
            </a:p>
          </p:txBody>
        </p:sp>
      </p:grpSp>
      <p:sp>
        <p:nvSpPr>
          <p:cNvPr id="49" name="Rectangle 48">
            <a:extLst>
              <a:ext uri="{FF2B5EF4-FFF2-40B4-BE49-F238E27FC236}">
                <a16:creationId xmlns:a16="http://schemas.microsoft.com/office/drawing/2014/main" id="{37395BD4-57A0-4BEC-989E-E4FFFA04097E}"/>
              </a:ext>
            </a:extLst>
          </p:cNvPr>
          <p:cNvSpPr/>
          <p:nvPr/>
        </p:nvSpPr>
        <p:spPr>
          <a:xfrm>
            <a:off x="902368" y="5442943"/>
            <a:ext cx="2834403" cy="37634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t>Diversification non liée</a:t>
            </a:r>
          </a:p>
        </p:txBody>
      </p:sp>
      <p:sp>
        <p:nvSpPr>
          <p:cNvPr id="50" name="Rectangle 49">
            <a:extLst>
              <a:ext uri="{FF2B5EF4-FFF2-40B4-BE49-F238E27FC236}">
                <a16:creationId xmlns:a16="http://schemas.microsoft.com/office/drawing/2014/main" id="{D6B91DAC-79E0-49B5-BF48-D3CF58631CE1}"/>
              </a:ext>
            </a:extLst>
          </p:cNvPr>
          <p:cNvSpPr/>
          <p:nvPr/>
        </p:nvSpPr>
        <p:spPr>
          <a:xfrm>
            <a:off x="4892320" y="5473896"/>
            <a:ext cx="2834403" cy="37634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t>Diversification liée</a:t>
            </a:r>
          </a:p>
        </p:txBody>
      </p:sp>
    </p:spTree>
    <p:extLst>
      <p:ext uri="{BB962C8B-B14F-4D97-AF65-F5344CB8AC3E}">
        <p14:creationId xmlns:p14="http://schemas.microsoft.com/office/powerpoint/2010/main" val="11591444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F8B9A9-FC75-483F-A8BA-74CBA463E3DB}"/>
              </a:ext>
            </a:extLst>
          </p:cNvPr>
          <p:cNvSpPr>
            <a:spLocks noGrp="1"/>
          </p:cNvSpPr>
          <p:nvPr>
            <p:ph type="title"/>
          </p:nvPr>
        </p:nvSpPr>
        <p:spPr/>
        <p:txBody>
          <a:bodyPr/>
          <a:lstStyle/>
          <a:p>
            <a:r>
              <a:rPr lang="fr-CA" dirty="0"/>
              <a:t>Analyse de la stratégie actuelle – Stratégie d’entreprise</a:t>
            </a:r>
          </a:p>
        </p:txBody>
      </p:sp>
      <p:sp>
        <p:nvSpPr>
          <p:cNvPr id="4" name="Espace réservé du pied de page 3">
            <a:extLst>
              <a:ext uri="{FF2B5EF4-FFF2-40B4-BE49-F238E27FC236}">
                <a16:creationId xmlns:a16="http://schemas.microsoft.com/office/drawing/2014/main" id="{867D2810-A9F0-4388-96FA-2544D3EA13E8}"/>
              </a:ext>
            </a:extLst>
          </p:cNvPr>
          <p:cNvSpPr>
            <a:spLocks noGrp="1"/>
          </p:cNvSpPr>
          <p:nvPr>
            <p:ph type="ftr" sz="quarter" idx="11"/>
          </p:nvPr>
        </p:nvSpPr>
        <p:spPr/>
        <p:txBody>
          <a:bodyPr/>
          <a:lstStyle/>
          <a:p>
            <a:r>
              <a:rPr lang="fr-CA"/>
              <a:t>(C) HEC Montréal</a:t>
            </a:r>
          </a:p>
        </p:txBody>
      </p:sp>
      <p:sp>
        <p:nvSpPr>
          <p:cNvPr id="5" name="Espace réservé du numéro de diapositive 4">
            <a:extLst>
              <a:ext uri="{FF2B5EF4-FFF2-40B4-BE49-F238E27FC236}">
                <a16:creationId xmlns:a16="http://schemas.microsoft.com/office/drawing/2014/main" id="{C4F82999-9DBB-4B4C-8547-DF60CBC72AEC}"/>
              </a:ext>
            </a:extLst>
          </p:cNvPr>
          <p:cNvSpPr>
            <a:spLocks noGrp="1"/>
          </p:cNvSpPr>
          <p:nvPr>
            <p:ph type="sldNum" sz="quarter" idx="12"/>
          </p:nvPr>
        </p:nvSpPr>
        <p:spPr/>
        <p:txBody>
          <a:bodyPr/>
          <a:lstStyle/>
          <a:p>
            <a:fld id="{EEB25B09-B9A6-4811-8700-6D36B9CE20D1}" type="slidenum">
              <a:rPr lang="fr-CA" smtClean="0"/>
              <a:t>14</a:t>
            </a:fld>
            <a:endParaRPr lang="fr-CA"/>
          </a:p>
        </p:txBody>
      </p:sp>
      <p:grpSp>
        <p:nvGrpSpPr>
          <p:cNvPr id="48" name="Groupe 47">
            <a:extLst>
              <a:ext uri="{FF2B5EF4-FFF2-40B4-BE49-F238E27FC236}">
                <a16:creationId xmlns:a16="http://schemas.microsoft.com/office/drawing/2014/main" id="{EB336CD3-1DA0-49E2-A88B-DEA956A98EB7}"/>
              </a:ext>
            </a:extLst>
          </p:cNvPr>
          <p:cNvGrpSpPr/>
          <p:nvPr/>
        </p:nvGrpSpPr>
        <p:grpSpPr>
          <a:xfrm>
            <a:off x="817106" y="2147430"/>
            <a:ext cx="2919665" cy="3041840"/>
            <a:chOff x="8149388" y="2316079"/>
            <a:chExt cx="2919665" cy="3041840"/>
          </a:xfrm>
        </p:grpSpPr>
        <p:grpSp>
          <p:nvGrpSpPr>
            <p:cNvPr id="23" name="Groupe 22">
              <a:extLst>
                <a:ext uri="{FF2B5EF4-FFF2-40B4-BE49-F238E27FC236}">
                  <a16:creationId xmlns:a16="http://schemas.microsoft.com/office/drawing/2014/main" id="{19FD0241-7D72-41C5-A75A-12FBD82DA2C4}"/>
                </a:ext>
              </a:extLst>
            </p:cNvPr>
            <p:cNvGrpSpPr/>
            <p:nvPr/>
          </p:nvGrpSpPr>
          <p:grpSpPr>
            <a:xfrm>
              <a:off x="8149388" y="2316079"/>
              <a:ext cx="1515981" cy="3041840"/>
              <a:chOff x="1576135" y="2298032"/>
              <a:chExt cx="1515981" cy="3041840"/>
            </a:xfrm>
          </p:grpSpPr>
          <p:sp>
            <p:nvSpPr>
              <p:cNvPr id="24" name="Rectangle 23">
                <a:extLst>
                  <a:ext uri="{FF2B5EF4-FFF2-40B4-BE49-F238E27FC236}">
                    <a16:creationId xmlns:a16="http://schemas.microsoft.com/office/drawing/2014/main" id="{9855B94D-38E9-4E26-80E6-927C7EB334BC}"/>
                  </a:ext>
                </a:extLst>
              </p:cNvPr>
              <p:cNvSpPr/>
              <p:nvPr/>
            </p:nvSpPr>
            <p:spPr>
              <a:xfrm>
                <a:off x="1576137" y="2298032"/>
                <a:ext cx="1515979" cy="7098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t>Unité d’affaires 1</a:t>
                </a:r>
              </a:p>
            </p:txBody>
          </p:sp>
          <p:sp>
            <p:nvSpPr>
              <p:cNvPr id="25" name="Rectangle 24">
                <a:extLst>
                  <a:ext uri="{FF2B5EF4-FFF2-40B4-BE49-F238E27FC236}">
                    <a16:creationId xmlns:a16="http://schemas.microsoft.com/office/drawing/2014/main" id="{78238B9F-FFFB-4E8A-96AA-F9607953078E}"/>
                  </a:ext>
                </a:extLst>
              </p:cNvPr>
              <p:cNvSpPr/>
              <p:nvPr/>
            </p:nvSpPr>
            <p:spPr>
              <a:xfrm>
                <a:off x="1576136" y="3429000"/>
                <a:ext cx="1515979" cy="7098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t>Unité d’affaires 2</a:t>
                </a:r>
              </a:p>
            </p:txBody>
          </p:sp>
          <p:sp>
            <p:nvSpPr>
              <p:cNvPr id="26" name="Rectangle 25">
                <a:extLst>
                  <a:ext uri="{FF2B5EF4-FFF2-40B4-BE49-F238E27FC236}">
                    <a16:creationId xmlns:a16="http://schemas.microsoft.com/office/drawing/2014/main" id="{40E6D364-181E-4A87-A9AC-D8615A5758C4}"/>
                  </a:ext>
                </a:extLst>
              </p:cNvPr>
              <p:cNvSpPr/>
              <p:nvPr/>
            </p:nvSpPr>
            <p:spPr>
              <a:xfrm>
                <a:off x="1576135" y="4630009"/>
                <a:ext cx="1515979" cy="7098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t>Unité d’affaires 3</a:t>
                </a:r>
              </a:p>
            </p:txBody>
          </p:sp>
        </p:grpSp>
        <p:cxnSp>
          <p:nvCxnSpPr>
            <p:cNvPr id="30" name="Connecteur droit avec flèche 29">
              <a:extLst>
                <a:ext uri="{FF2B5EF4-FFF2-40B4-BE49-F238E27FC236}">
                  <a16:creationId xmlns:a16="http://schemas.microsoft.com/office/drawing/2014/main" id="{5DCE7D3B-4CEA-4436-B731-6461015ED64C}"/>
                </a:ext>
              </a:extLst>
            </p:cNvPr>
            <p:cNvCxnSpPr>
              <a:stCxn id="24" idx="3"/>
            </p:cNvCxnSpPr>
            <p:nvPr/>
          </p:nvCxnSpPr>
          <p:spPr>
            <a:xfrm flipV="1">
              <a:off x="9665369" y="2671010"/>
              <a:ext cx="36896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onnecteur droit avec flèche 30">
              <a:extLst>
                <a:ext uri="{FF2B5EF4-FFF2-40B4-BE49-F238E27FC236}">
                  <a16:creationId xmlns:a16="http://schemas.microsoft.com/office/drawing/2014/main" id="{F29714A4-66EA-4EB7-894C-A84B215104F6}"/>
                </a:ext>
              </a:extLst>
            </p:cNvPr>
            <p:cNvCxnSpPr/>
            <p:nvPr/>
          </p:nvCxnSpPr>
          <p:spPr>
            <a:xfrm flipV="1">
              <a:off x="9665369" y="3823033"/>
              <a:ext cx="36896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Connecteur droit avec flèche 31">
              <a:extLst>
                <a:ext uri="{FF2B5EF4-FFF2-40B4-BE49-F238E27FC236}">
                  <a16:creationId xmlns:a16="http://schemas.microsoft.com/office/drawing/2014/main" id="{64DD4D2D-9EFB-454B-B6FF-A55AFCDCD403}"/>
                </a:ext>
              </a:extLst>
            </p:cNvPr>
            <p:cNvCxnSpPr/>
            <p:nvPr/>
          </p:nvCxnSpPr>
          <p:spPr>
            <a:xfrm flipV="1">
              <a:off x="9665369" y="5010504"/>
              <a:ext cx="36896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C9244804-0CEA-4481-AB0E-E0DD0A815123}"/>
                </a:ext>
              </a:extLst>
            </p:cNvPr>
            <p:cNvSpPr/>
            <p:nvPr/>
          </p:nvSpPr>
          <p:spPr>
            <a:xfrm>
              <a:off x="10034337" y="2328568"/>
              <a:ext cx="1034716" cy="600487"/>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t>Client</a:t>
              </a:r>
            </a:p>
          </p:txBody>
        </p:sp>
        <p:sp>
          <p:nvSpPr>
            <p:cNvPr id="34" name="Rectangle 33">
              <a:extLst>
                <a:ext uri="{FF2B5EF4-FFF2-40B4-BE49-F238E27FC236}">
                  <a16:creationId xmlns:a16="http://schemas.microsoft.com/office/drawing/2014/main" id="{D738DB0E-19B4-4A28-A25D-F4CF65AE3ABC}"/>
                </a:ext>
              </a:extLst>
            </p:cNvPr>
            <p:cNvSpPr/>
            <p:nvPr/>
          </p:nvSpPr>
          <p:spPr>
            <a:xfrm>
              <a:off x="10034337" y="3522789"/>
              <a:ext cx="1034716" cy="600487"/>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t>Client</a:t>
              </a:r>
            </a:p>
          </p:txBody>
        </p:sp>
        <p:sp>
          <p:nvSpPr>
            <p:cNvPr id="35" name="Rectangle 34">
              <a:extLst>
                <a:ext uri="{FF2B5EF4-FFF2-40B4-BE49-F238E27FC236}">
                  <a16:creationId xmlns:a16="http://schemas.microsoft.com/office/drawing/2014/main" id="{167E76B9-67F9-4927-A468-52DD2E39BE9F}"/>
                </a:ext>
              </a:extLst>
            </p:cNvPr>
            <p:cNvSpPr/>
            <p:nvPr/>
          </p:nvSpPr>
          <p:spPr>
            <a:xfrm>
              <a:off x="10034337" y="4755374"/>
              <a:ext cx="1034716" cy="600487"/>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t>Client</a:t>
              </a:r>
            </a:p>
          </p:txBody>
        </p:sp>
      </p:grpSp>
      <p:grpSp>
        <p:nvGrpSpPr>
          <p:cNvPr id="42" name="Groupe 41">
            <a:extLst>
              <a:ext uri="{FF2B5EF4-FFF2-40B4-BE49-F238E27FC236}">
                <a16:creationId xmlns:a16="http://schemas.microsoft.com/office/drawing/2014/main" id="{42D59CC0-04E9-4F31-9F9C-6CCEF741A9B3}"/>
              </a:ext>
            </a:extLst>
          </p:cNvPr>
          <p:cNvGrpSpPr/>
          <p:nvPr/>
        </p:nvGrpSpPr>
        <p:grpSpPr>
          <a:xfrm>
            <a:off x="4892320" y="2159919"/>
            <a:ext cx="2919663" cy="3041840"/>
            <a:chOff x="1576135" y="2298032"/>
            <a:chExt cx="2919663" cy="3041840"/>
          </a:xfrm>
        </p:grpSpPr>
        <p:grpSp>
          <p:nvGrpSpPr>
            <p:cNvPr id="16" name="Groupe 15">
              <a:extLst>
                <a:ext uri="{FF2B5EF4-FFF2-40B4-BE49-F238E27FC236}">
                  <a16:creationId xmlns:a16="http://schemas.microsoft.com/office/drawing/2014/main" id="{F08998CC-1AB0-4CC3-9756-F6BF5FC0B37C}"/>
                </a:ext>
              </a:extLst>
            </p:cNvPr>
            <p:cNvGrpSpPr/>
            <p:nvPr/>
          </p:nvGrpSpPr>
          <p:grpSpPr>
            <a:xfrm>
              <a:off x="1576135" y="2298032"/>
              <a:ext cx="1515981" cy="3041840"/>
              <a:chOff x="1576135" y="2298032"/>
              <a:chExt cx="1515981" cy="3041840"/>
            </a:xfrm>
          </p:grpSpPr>
          <p:sp>
            <p:nvSpPr>
              <p:cNvPr id="6" name="Rectangle 5">
                <a:extLst>
                  <a:ext uri="{FF2B5EF4-FFF2-40B4-BE49-F238E27FC236}">
                    <a16:creationId xmlns:a16="http://schemas.microsoft.com/office/drawing/2014/main" id="{DC1DFF1D-F86E-44CD-94CE-03CFAB66C48E}"/>
                  </a:ext>
                </a:extLst>
              </p:cNvPr>
              <p:cNvSpPr/>
              <p:nvPr/>
            </p:nvSpPr>
            <p:spPr>
              <a:xfrm>
                <a:off x="1576137" y="2298032"/>
                <a:ext cx="1515979" cy="7098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t>Unité d’affaires 1</a:t>
                </a:r>
              </a:p>
            </p:txBody>
          </p:sp>
          <p:sp>
            <p:nvSpPr>
              <p:cNvPr id="9" name="Rectangle 8">
                <a:extLst>
                  <a:ext uri="{FF2B5EF4-FFF2-40B4-BE49-F238E27FC236}">
                    <a16:creationId xmlns:a16="http://schemas.microsoft.com/office/drawing/2014/main" id="{83369137-CC62-463D-B2F4-A4D3A871C63E}"/>
                  </a:ext>
                </a:extLst>
              </p:cNvPr>
              <p:cNvSpPr/>
              <p:nvPr/>
            </p:nvSpPr>
            <p:spPr>
              <a:xfrm>
                <a:off x="1576136" y="3429000"/>
                <a:ext cx="1515979" cy="7098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t>Unité d’affaires 2</a:t>
                </a:r>
              </a:p>
            </p:txBody>
          </p:sp>
          <p:sp>
            <p:nvSpPr>
              <p:cNvPr id="10" name="Rectangle 9">
                <a:extLst>
                  <a:ext uri="{FF2B5EF4-FFF2-40B4-BE49-F238E27FC236}">
                    <a16:creationId xmlns:a16="http://schemas.microsoft.com/office/drawing/2014/main" id="{8ABAC0B6-4889-4227-AB76-0747D028F53E}"/>
                  </a:ext>
                </a:extLst>
              </p:cNvPr>
              <p:cNvSpPr/>
              <p:nvPr/>
            </p:nvSpPr>
            <p:spPr>
              <a:xfrm>
                <a:off x="1576135" y="4630009"/>
                <a:ext cx="1515979" cy="7098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t>Unité d’affaires 3</a:t>
                </a:r>
              </a:p>
            </p:txBody>
          </p:sp>
          <p:cxnSp>
            <p:nvCxnSpPr>
              <p:cNvPr id="12" name="Connecteur droit avec flèche 11">
                <a:extLst>
                  <a:ext uri="{FF2B5EF4-FFF2-40B4-BE49-F238E27FC236}">
                    <a16:creationId xmlns:a16="http://schemas.microsoft.com/office/drawing/2014/main" id="{16216918-1B7F-4828-B6A9-0889FC43B597}"/>
                  </a:ext>
                </a:extLst>
              </p:cNvPr>
              <p:cNvCxnSpPr>
                <a:stCxn id="6" idx="2"/>
                <a:endCxn id="9" idx="0"/>
              </p:cNvCxnSpPr>
              <p:nvPr/>
            </p:nvCxnSpPr>
            <p:spPr>
              <a:xfrm flipH="1">
                <a:off x="2334126" y="3007895"/>
                <a:ext cx="1" cy="4211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Connecteur droit avec flèche 13">
                <a:extLst>
                  <a:ext uri="{FF2B5EF4-FFF2-40B4-BE49-F238E27FC236}">
                    <a16:creationId xmlns:a16="http://schemas.microsoft.com/office/drawing/2014/main" id="{A096DDCD-601D-4878-B1C9-346146E5E038}"/>
                  </a:ext>
                </a:extLst>
              </p:cNvPr>
              <p:cNvCxnSpPr>
                <a:cxnSpLocks/>
                <a:endCxn id="10" idx="0"/>
              </p:cNvCxnSpPr>
              <p:nvPr/>
            </p:nvCxnSpPr>
            <p:spPr>
              <a:xfrm flipH="1">
                <a:off x="2334125" y="4138863"/>
                <a:ext cx="2" cy="4911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cxnSp>
          <p:nvCxnSpPr>
            <p:cNvPr id="36" name="Connecteur droit avec flèche 35">
              <a:extLst>
                <a:ext uri="{FF2B5EF4-FFF2-40B4-BE49-F238E27FC236}">
                  <a16:creationId xmlns:a16="http://schemas.microsoft.com/office/drawing/2014/main" id="{F30CDABB-268D-4054-9B42-B02223818C69}"/>
                </a:ext>
              </a:extLst>
            </p:cNvPr>
            <p:cNvCxnSpPr/>
            <p:nvPr/>
          </p:nvCxnSpPr>
          <p:spPr>
            <a:xfrm flipV="1">
              <a:off x="3056022" y="2671010"/>
              <a:ext cx="36896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Connecteur droit avec flèche 36">
              <a:extLst>
                <a:ext uri="{FF2B5EF4-FFF2-40B4-BE49-F238E27FC236}">
                  <a16:creationId xmlns:a16="http://schemas.microsoft.com/office/drawing/2014/main" id="{31444117-1DC4-4B4B-BF6B-F03F20070BAE}"/>
                </a:ext>
              </a:extLst>
            </p:cNvPr>
            <p:cNvCxnSpPr/>
            <p:nvPr/>
          </p:nvCxnSpPr>
          <p:spPr>
            <a:xfrm flipV="1">
              <a:off x="3092114" y="3818951"/>
              <a:ext cx="36896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Connecteur droit avec flèche 37">
              <a:extLst>
                <a:ext uri="{FF2B5EF4-FFF2-40B4-BE49-F238E27FC236}">
                  <a16:creationId xmlns:a16="http://schemas.microsoft.com/office/drawing/2014/main" id="{C2594D31-F50A-4A92-B0D9-13EF3BA9D834}"/>
                </a:ext>
              </a:extLst>
            </p:cNvPr>
            <p:cNvCxnSpPr/>
            <p:nvPr/>
          </p:nvCxnSpPr>
          <p:spPr>
            <a:xfrm flipV="1">
              <a:off x="3056022" y="4926786"/>
              <a:ext cx="36896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8A6249CA-912B-40B9-8705-4EE7C5880FA1}"/>
                </a:ext>
              </a:extLst>
            </p:cNvPr>
            <p:cNvSpPr/>
            <p:nvPr/>
          </p:nvSpPr>
          <p:spPr>
            <a:xfrm>
              <a:off x="3424990" y="2308029"/>
              <a:ext cx="1034716" cy="600487"/>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t>Client</a:t>
              </a:r>
            </a:p>
          </p:txBody>
        </p:sp>
        <p:sp>
          <p:nvSpPr>
            <p:cNvPr id="40" name="Rectangle 39">
              <a:extLst>
                <a:ext uri="{FF2B5EF4-FFF2-40B4-BE49-F238E27FC236}">
                  <a16:creationId xmlns:a16="http://schemas.microsoft.com/office/drawing/2014/main" id="{55149F5B-E055-4091-A1AF-DDB1CB4C273E}"/>
                </a:ext>
              </a:extLst>
            </p:cNvPr>
            <p:cNvSpPr/>
            <p:nvPr/>
          </p:nvSpPr>
          <p:spPr>
            <a:xfrm>
              <a:off x="3461082" y="3483687"/>
              <a:ext cx="1034716" cy="600487"/>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t>Client</a:t>
              </a:r>
            </a:p>
          </p:txBody>
        </p:sp>
        <p:sp>
          <p:nvSpPr>
            <p:cNvPr id="41" name="Rectangle 40">
              <a:extLst>
                <a:ext uri="{FF2B5EF4-FFF2-40B4-BE49-F238E27FC236}">
                  <a16:creationId xmlns:a16="http://schemas.microsoft.com/office/drawing/2014/main" id="{7DB5D7AC-32A5-499C-8A17-BD5A44C305F2}"/>
                </a:ext>
              </a:extLst>
            </p:cNvPr>
            <p:cNvSpPr/>
            <p:nvPr/>
          </p:nvSpPr>
          <p:spPr>
            <a:xfrm>
              <a:off x="3424990" y="4685602"/>
              <a:ext cx="1034716" cy="600487"/>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t>Client</a:t>
              </a:r>
            </a:p>
          </p:txBody>
        </p:sp>
      </p:grpSp>
      <p:grpSp>
        <p:nvGrpSpPr>
          <p:cNvPr id="47" name="Groupe 46">
            <a:extLst>
              <a:ext uri="{FF2B5EF4-FFF2-40B4-BE49-F238E27FC236}">
                <a16:creationId xmlns:a16="http://schemas.microsoft.com/office/drawing/2014/main" id="{2F1861A1-ECA2-4C2C-A8AD-5F70D9FBD3C5}"/>
              </a:ext>
            </a:extLst>
          </p:cNvPr>
          <p:cNvGrpSpPr/>
          <p:nvPr/>
        </p:nvGrpSpPr>
        <p:grpSpPr>
          <a:xfrm>
            <a:off x="8767009" y="2169916"/>
            <a:ext cx="2927676" cy="3041840"/>
            <a:chOff x="4724398" y="2316079"/>
            <a:chExt cx="2927676" cy="3041840"/>
          </a:xfrm>
        </p:grpSpPr>
        <p:grpSp>
          <p:nvGrpSpPr>
            <p:cNvPr id="17" name="Groupe 16">
              <a:extLst>
                <a:ext uri="{FF2B5EF4-FFF2-40B4-BE49-F238E27FC236}">
                  <a16:creationId xmlns:a16="http://schemas.microsoft.com/office/drawing/2014/main" id="{CD311BE2-82BE-4DC5-87EB-4C314F587FE7}"/>
                </a:ext>
              </a:extLst>
            </p:cNvPr>
            <p:cNvGrpSpPr/>
            <p:nvPr/>
          </p:nvGrpSpPr>
          <p:grpSpPr>
            <a:xfrm>
              <a:off x="4724398" y="2316079"/>
              <a:ext cx="1515981" cy="3041840"/>
              <a:chOff x="1576135" y="2298032"/>
              <a:chExt cx="1515981" cy="3041840"/>
            </a:xfrm>
          </p:grpSpPr>
          <p:sp>
            <p:nvSpPr>
              <p:cNvPr id="18" name="Rectangle 17">
                <a:extLst>
                  <a:ext uri="{FF2B5EF4-FFF2-40B4-BE49-F238E27FC236}">
                    <a16:creationId xmlns:a16="http://schemas.microsoft.com/office/drawing/2014/main" id="{B751CCAD-9792-43E2-8EEA-8DB51FF0A0C0}"/>
                  </a:ext>
                </a:extLst>
              </p:cNvPr>
              <p:cNvSpPr/>
              <p:nvPr/>
            </p:nvSpPr>
            <p:spPr>
              <a:xfrm>
                <a:off x="1576137" y="2298032"/>
                <a:ext cx="1515979" cy="7098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t>Unité d’affaires 1</a:t>
                </a:r>
              </a:p>
            </p:txBody>
          </p:sp>
          <p:sp>
            <p:nvSpPr>
              <p:cNvPr id="19" name="Rectangle 18">
                <a:extLst>
                  <a:ext uri="{FF2B5EF4-FFF2-40B4-BE49-F238E27FC236}">
                    <a16:creationId xmlns:a16="http://schemas.microsoft.com/office/drawing/2014/main" id="{ED4CFFA0-7DCF-40AE-9B88-A20DE8138748}"/>
                  </a:ext>
                </a:extLst>
              </p:cNvPr>
              <p:cNvSpPr/>
              <p:nvPr/>
            </p:nvSpPr>
            <p:spPr>
              <a:xfrm>
                <a:off x="1576136" y="3429000"/>
                <a:ext cx="1515979" cy="7098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t>Unité d’affaires 2</a:t>
                </a:r>
              </a:p>
            </p:txBody>
          </p:sp>
          <p:sp>
            <p:nvSpPr>
              <p:cNvPr id="20" name="Rectangle 19">
                <a:extLst>
                  <a:ext uri="{FF2B5EF4-FFF2-40B4-BE49-F238E27FC236}">
                    <a16:creationId xmlns:a16="http://schemas.microsoft.com/office/drawing/2014/main" id="{B433C51F-7B88-4457-A9C9-5B2CF051D6ED}"/>
                  </a:ext>
                </a:extLst>
              </p:cNvPr>
              <p:cNvSpPr/>
              <p:nvPr/>
            </p:nvSpPr>
            <p:spPr>
              <a:xfrm>
                <a:off x="1576135" y="4630009"/>
                <a:ext cx="1515979" cy="7098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t>Unité d’affaires 3</a:t>
                </a:r>
              </a:p>
            </p:txBody>
          </p:sp>
          <p:cxnSp>
            <p:nvCxnSpPr>
              <p:cNvPr id="21" name="Connecteur droit avec flèche 20">
                <a:extLst>
                  <a:ext uri="{FF2B5EF4-FFF2-40B4-BE49-F238E27FC236}">
                    <a16:creationId xmlns:a16="http://schemas.microsoft.com/office/drawing/2014/main" id="{30EAFE97-A6CA-4466-B9E2-5409CC13325B}"/>
                  </a:ext>
                </a:extLst>
              </p:cNvPr>
              <p:cNvCxnSpPr>
                <a:stCxn id="18" idx="2"/>
                <a:endCxn id="19" idx="0"/>
              </p:cNvCxnSpPr>
              <p:nvPr/>
            </p:nvCxnSpPr>
            <p:spPr>
              <a:xfrm flipH="1">
                <a:off x="2334126" y="3007895"/>
                <a:ext cx="1" cy="4211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necteur droit avec flèche 21">
                <a:extLst>
                  <a:ext uri="{FF2B5EF4-FFF2-40B4-BE49-F238E27FC236}">
                    <a16:creationId xmlns:a16="http://schemas.microsoft.com/office/drawing/2014/main" id="{CCC859E6-7089-4B9E-AA91-8E556F56A9E4}"/>
                  </a:ext>
                </a:extLst>
              </p:cNvPr>
              <p:cNvCxnSpPr>
                <a:cxnSpLocks/>
                <a:endCxn id="20" idx="0"/>
              </p:cNvCxnSpPr>
              <p:nvPr/>
            </p:nvCxnSpPr>
            <p:spPr>
              <a:xfrm flipH="1">
                <a:off x="2334125" y="4138863"/>
                <a:ext cx="2" cy="4911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43" name="Rectangle 42">
              <a:extLst>
                <a:ext uri="{FF2B5EF4-FFF2-40B4-BE49-F238E27FC236}">
                  <a16:creationId xmlns:a16="http://schemas.microsoft.com/office/drawing/2014/main" id="{A4635AF2-8FA4-4789-BC23-8D79C32910FB}"/>
                </a:ext>
              </a:extLst>
            </p:cNvPr>
            <p:cNvSpPr/>
            <p:nvPr/>
          </p:nvSpPr>
          <p:spPr>
            <a:xfrm>
              <a:off x="6617358" y="4757432"/>
              <a:ext cx="1034716" cy="600487"/>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t>Client</a:t>
              </a:r>
            </a:p>
          </p:txBody>
        </p:sp>
        <p:cxnSp>
          <p:nvCxnSpPr>
            <p:cNvPr id="44" name="Connecteur droit avec flèche 43">
              <a:extLst>
                <a:ext uri="{FF2B5EF4-FFF2-40B4-BE49-F238E27FC236}">
                  <a16:creationId xmlns:a16="http://schemas.microsoft.com/office/drawing/2014/main" id="{88A4941F-1863-4A1D-AAD0-DEF1AB303857}"/>
                </a:ext>
              </a:extLst>
            </p:cNvPr>
            <p:cNvCxnSpPr>
              <a:cxnSpLocks/>
            </p:cNvCxnSpPr>
            <p:nvPr/>
          </p:nvCxnSpPr>
          <p:spPr>
            <a:xfrm>
              <a:off x="6248390" y="5068954"/>
              <a:ext cx="36095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49" name="Rectangle 48">
            <a:extLst>
              <a:ext uri="{FF2B5EF4-FFF2-40B4-BE49-F238E27FC236}">
                <a16:creationId xmlns:a16="http://schemas.microsoft.com/office/drawing/2014/main" id="{37395BD4-57A0-4BEC-989E-E4FFFA04097E}"/>
              </a:ext>
            </a:extLst>
          </p:cNvPr>
          <p:cNvSpPr/>
          <p:nvPr/>
        </p:nvSpPr>
        <p:spPr>
          <a:xfrm>
            <a:off x="902368" y="5442943"/>
            <a:ext cx="2834403" cy="37634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t>Diversification non liée</a:t>
            </a:r>
          </a:p>
        </p:txBody>
      </p:sp>
      <p:sp>
        <p:nvSpPr>
          <p:cNvPr id="50" name="Rectangle 49">
            <a:extLst>
              <a:ext uri="{FF2B5EF4-FFF2-40B4-BE49-F238E27FC236}">
                <a16:creationId xmlns:a16="http://schemas.microsoft.com/office/drawing/2014/main" id="{D6B91DAC-79E0-49B5-BF48-D3CF58631CE1}"/>
              </a:ext>
            </a:extLst>
          </p:cNvPr>
          <p:cNvSpPr/>
          <p:nvPr/>
        </p:nvSpPr>
        <p:spPr>
          <a:xfrm>
            <a:off x="4892320" y="5473896"/>
            <a:ext cx="2834403" cy="37634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t>Diversification liée</a:t>
            </a:r>
          </a:p>
        </p:txBody>
      </p:sp>
      <p:sp>
        <p:nvSpPr>
          <p:cNvPr id="51" name="Rectangle 50">
            <a:extLst>
              <a:ext uri="{FF2B5EF4-FFF2-40B4-BE49-F238E27FC236}">
                <a16:creationId xmlns:a16="http://schemas.microsoft.com/office/drawing/2014/main" id="{BFCCBBFA-997D-4806-93CD-17E83727DF66}"/>
              </a:ext>
            </a:extLst>
          </p:cNvPr>
          <p:cNvSpPr/>
          <p:nvPr/>
        </p:nvSpPr>
        <p:spPr>
          <a:xfrm>
            <a:off x="8719197" y="5440104"/>
            <a:ext cx="2834403" cy="37634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t>Secteur unique</a:t>
            </a:r>
          </a:p>
        </p:txBody>
      </p:sp>
    </p:spTree>
    <p:extLst>
      <p:ext uri="{BB962C8B-B14F-4D97-AF65-F5344CB8AC3E}">
        <p14:creationId xmlns:p14="http://schemas.microsoft.com/office/powerpoint/2010/main" val="9571602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F8B9A9-FC75-483F-A8BA-74CBA463E3DB}"/>
              </a:ext>
            </a:extLst>
          </p:cNvPr>
          <p:cNvSpPr>
            <a:spLocks noGrp="1"/>
          </p:cNvSpPr>
          <p:nvPr>
            <p:ph type="title"/>
          </p:nvPr>
        </p:nvSpPr>
        <p:spPr/>
        <p:txBody>
          <a:bodyPr/>
          <a:lstStyle/>
          <a:p>
            <a:r>
              <a:rPr lang="fr-CA" dirty="0"/>
              <a:t>Analyse de la stratégie actuelle – Stratégie concurrentielle</a:t>
            </a:r>
          </a:p>
        </p:txBody>
      </p:sp>
      <p:sp>
        <p:nvSpPr>
          <p:cNvPr id="4" name="Espace réservé du pied de page 3">
            <a:extLst>
              <a:ext uri="{FF2B5EF4-FFF2-40B4-BE49-F238E27FC236}">
                <a16:creationId xmlns:a16="http://schemas.microsoft.com/office/drawing/2014/main" id="{867D2810-A9F0-4388-96FA-2544D3EA13E8}"/>
              </a:ext>
            </a:extLst>
          </p:cNvPr>
          <p:cNvSpPr>
            <a:spLocks noGrp="1"/>
          </p:cNvSpPr>
          <p:nvPr>
            <p:ph type="ftr" sz="quarter" idx="11"/>
          </p:nvPr>
        </p:nvSpPr>
        <p:spPr/>
        <p:txBody>
          <a:bodyPr/>
          <a:lstStyle/>
          <a:p>
            <a:r>
              <a:rPr lang="fr-CA"/>
              <a:t>(C) HEC Montréal</a:t>
            </a:r>
          </a:p>
        </p:txBody>
      </p:sp>
      <p:sp>
        <p:nvSpPr>
          <p:cNvPr id="5" name="Espace réservé du numéro de diapositive 4">
            <a:extLst>
              <a:ext uri="{FF2B5EF4-FFF2-40B4-BE49-F238E27FC236}">
                <a16:creationId xmlns:a16="http://schemas.microsoft.com/office/drawing/2014/main" id="{C4F82999-9DBB-4B4C-8547-DF60CBC72AEC}"/>
              </a:ext>
            </a:extLst>
          </p:cNvPr>
          <p:cNvSpPr>
            <a:spLocks noGrp="1"/>
          </p:cNvSpPr>
          <p:nvPr>
            <p:ph type="sldNum" sz="quarter" idx="12"/>
          </p:nvPr>
        </p:nvSpPr>
        <p:spPr/>
        <p:txBody>
          <a:bodyPr/>
          <a:lstStyle/>
          <a:p>
            <a:fld id="{EEB25B09-B9A6-4811-8700-6D36B9CE20D1}" type="slidenum">
              <a:rPr lang="fr-CA" smtClean="0"/>
              <a:t>15</a:t>
            </a:fld>
            <a:endParaRPr lang="fr-CA"/>
          </a:p>
        </p:txBody>
      </p:sp>
      <p:graphicFrame>
        <p:nvGraphicFramePr>
          <p:cNvPr id="8" name="Espace réservé du contenu 7">
            <a:extLst>
              <a:ext uri="{FF2B5EF4-FFF2-40B4-BE49-F238E27FC236}">
                <a16:creationId xmlns:a16="http://schemas.microsoft.com/office/drawing/2014/main" id="{CF53D341-71E7-413A-8A5C-1B3C38827EEC}"/>
              </a:ext>
            </a:extLst>
          </p:cNvPr>
          <p:cNvGraphicFramePr>
            <a:graphicFrameLocks noGrp="1"/>
          </p:cNvGraphicFramePr>
          <p:nvPr>
            <p:ph idx="1"/>
            <p:extLst>
              <p:ext uri="{D42A27DB-BD31-4B8C-83A1-F6EECF244321}">
                <p14:modId xmlns:p14="http://schemas.microsoft.com/office/powerpoint/2010/main" val="1495375430"/>
              </p:ext>
            </p:extLst>
          </p:nvPr>
        </p:nvGraphicFramePr>
        <p:xfrm>
          <a:off x="770522" y="2801868"/>
          <a:ext cx="10915650" cy="38242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Rectangle 8">
            <a:extLst>
              <a:ext uri="{FF2B5EF4-FFF2-40B4-BE49-F238E27FC236}">
                <a16:creationId xmlns:a16="http://schemas.microsoft.com/office/drawing/2014/main" id="{FFEF4AE4-6CC9-4DF0-8A11-15A9626B30B8}"/>
              </a:ext>
            </a:extLst>
          </p:cNvPr>
          <p:cNvSpPr/>
          <p:nvPr/>
        </p:nvSpPr>
        <p:spPr>
          <a:xfrm>
            <a:off x="770522" y="2028784"/>
            <a:ext cx="3284621" cy="649705"/>
          </a:xfrm>
          <a:prstGeom prst="rect">
            <a:avLst/>
          </a:prstGeom>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fr-CA" sz="2000" b="1" dirty="0">
                <a:solidFill>
                  <a:srgbClr val="FFFFFF"/>
                </a:solidFill>
                <a:latin typeface="Arial" panose="020B0604020202020204"/>
              </a:rPr>
              <a:t>Domination par les coûts </a:t>
            </a:r>
          </a:p>
        </p:txBody>
      </p:sp>
      <p:sp>
        <p:nvSpPr>
          <p:cNvPr id="10" name="Rectangle 9">
            <a:extLst>
              <a:ext uri="{FF2B5EF4-FFF2-40B4-BE49-F238E27FC236}">
                <a16:creationId xmlns:a16="http://schemas.microsoft.com/office/drawing/2014/main" id="{8EE88213-2E8E-4EE9-9C65-CBE4F7B1A318}"/>
              </a:ext>
            </a:extLst>
          </p:cNvPr>
          <p:cNvSpPr/>
          <p:nvPr/>
        </p:nvSpPr>
        <p:spPr>
          <a:xfrm>
            <a:off x="4544704" y="2036262"/>
            <a:ext cx="7141468" cy="649705"/>
          </a:xfrm>
          <a:prstGeom prst="rect">
            <a:avLst/>
          </a:prstGeom>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fr-CA" sz="2000" b="1" dirty="0">
                <a:solidFill>
                  <a:srgbClr val="FFFFFF"/>
                </a:solidFill>
                <a:latin typeface="Arial" panose="020B0604020202020204"/>
              </a:rPr>
              <a:t>Différenciation</a:t>
            </a:r>
          </a:p>
        </p:txBody>
      </p:sp>
    </p:spTree>
    <p:extLst>
      <p:ext uri="{BB962C8B-B14F-4D97-AF65-F5344CB8AC3E}">
        <p14:creationId xmlns:p14="http://schemas.microsoft.com/office/powerpoint/2010/main" val="24252508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6F16A85-D397-4C29-80F6-8DAC046982D0}"/>
              </a:ext>
            </a:extLst>
          </p:cNvPr>
          <p:cNvSpPr>
            <a:spLocks noGrp="1"/>
          </p:cNvSpPr>
          <p:nvPr>
            <p:ph type="title"/>
          </p:nvPr>
        </p:nvSpPr>
        <p:spPr/>
        <p:txBody>
          <a:bodyPr/>
          <a:lstStyle/>
          <a:p>
            <a:r>
              <a:rPr lang="fr-CA" dirty="0"/>
              <a:t>Analyse de la stratégie actuelle – Stratégies fonctionnelles </a:t>
            </a:r>
          </a:p>
        </p:txBody>
      </p:sp>
      <p:graphicFrame>
        <p:nvGraphicFramePr>
          <p:cNvPr id="6" name="Tableau 6">
            <a:extLst>
              <a:ext uri="{FF2B5EF4-FFF2-40B4-BE49-F238E27FC236}">
                <a16:creationId xmlns:a16="http://schemas.microsoft.com/office/drawing/2014/main" id="{41E94E5E-2550-4E75-8C3B-754E9CAF4488}"/>
              </a:ext>
            </a:extLst>
          </p:cNvPr>
          <p:cNvGraphicFramePr>
            <a:graphicFrameLocks noGrp="1"/>
          </p:cNvGraphicFramePr>
          <p:nvPr>
            <p:ph idx="1"/>
            <p:extLst>
              <p:ext uri="{D42A27DB-BD31-4B8C-83A1-F6EECF244321}">
                <p14:modId xmlns:p14="http://schemas.microsoft.com/office/powerpoint/2010/main" val="2737704633"/>
              </p:ext>
            </p:extLst>
          </p:nvPr>
        </p:nvGraphicFramePr>
        <p:xfrm>
          <a:off x="638175" y="1893888"/>
          <a:ext cx="10915650" cy="4919472"/>
        </p:xfrm>
        <a:graphic>
          <a:graphicData uri="http://schemas.openxmlformats.org/drawingml/2006/table">
            <a:tbl>
              <a:tblPr firstRow="1" bandRow="1">
                <a:tableStyleId>{5C22544A-7EE6-4342-B048-85BDC9FD1C3A}</a:tableStyleId>
              </a:tblPr>
              <a:tblGrid>
                <a:gridCol w="5457825">
                  <a:extLst>
                    <a:ext uri="{9D8B030D-6E8A-4147-A177-3AD203B41FA5}">
                      <a16:colId xmlns:a16="http://schemas.microsoft.com/office/drawing/2014/main" val="3092275358"/>
                    </a:ext>
                  </a:extLst>
                </a:gridCol>
                <a:gridCol w="5457825">
                  <a:extLst>
                    <a:ext uri="{9D8B030D-6E8A-4147-A177-3AD203B41FA5}">
                      <a16:colId xmlns:a16="http://schemas.microsoft.com/office/drawing/2014/main" val="3895222132"/>
                    </a:ext>
                  </a:extLst>
                </a:gridCol>
              </a:tblGrid>
              <a:tr h="370840">
                <a:tc>
                  <a:txBody>
                    <a:bodyPr/>
                    <a:lstStyle/>
                    <a:p>
                      <a:r>
                        <a:rPr lang="fr-CA" dirty="0"/>
                        <a:t>Fonction </a:t>
                      </a:r>
                    </a:p>
                  </a:txBody>
                  <a:tcPr/>
                </a:tc>
                <a:tc>
                  <a:txBody>
                    <a:bodyPr/>
                    <a:lstStyle/>
                    <a:p>
                      <a:endParaRPr lang="fr-CA" dirty="0"/>
                    </a:p>
                  </a:txBody>
                  <a:tcPr/>
                </a:tc>
                <a:extLst>
                  <a:ext uri="{0D108BD9-81ED-4DB2-BD59-A6C34878D82A}">
                    <a16:rowId xmlns:a16="http://schemas.microsoft.com/office/drawing/2014/main" val="3900859217"/>
                  </a:ext>
                </a:extLst>
              </a:tr>
              <a:tr h="370840">
                <a:tc>
                  <a:txBody>
                    <a:bodyPr/>
                    <a:lstStyle/>
                    <a:p>
                      <a:r>
                        <a:rPr lang="fr-CA" dirty="0"/>
                        <a:t>Finance </a:t>
                      </a:r>
                    </a:p>
                  </a:txBody>
                  <a:tcPr/>
                </a:tc>
                <a:tc>
                  <a:txBody>
                    <a:bodyPr/>
                    <a:lstStyle/>
                    <a:p>
                      <a:r>
                        <a:rPr lang="fr-CA" dirty="0"/>
                        <a:t>Stratégie de financement </a:t>
                      </a:r>
                    </a:p>
                  </a:txBody>
                  <a:tcPr/>
                </a:tc>
                <a:extLst>
                  <a:ext uri="{0D108BD9-81ED-4DB2-BD59-A6C34878D82A}">
                    <a16:rowId xmlns:a16="http://schemas.microsoft.com/office/drawing/2014/main" val="1091886829"/>
                  </a:ext>
                </a:extLst>
              </a:tr>
              <a:tr h="370840">
                <a:tc>
                  <a:txBody>
                    <a:bodyPr/>
                    <a:lstStyle/>
                    <a:p>
                      <a:r>
                        <a:rPr lang="fr-CA" dirty="0"/>
                        <a:t>Recherche et développement</a:t>
                      </a:r>
                    </a:p>
                  </a:txBody>
                  <a:tcPr/>
                </a:tc>
                <a:tc>
                  <a:txBody>
                    <a:bodyPr/>
                    <a:lstStyle/>
                    <a:p>
                      <a:r>
                        <a:rPr lang="fr-CA" dirty="0"/>
                        <a:t>Stratégie de développement de produit</a:t>
                      </a:r>
                    </a:p>
                    <a:p>
                      <a:r>
                        <a:rPr lang="fr-CA" dirty="0"/>
                        <a:t>Contrôle de la qualité</a:t>
                      </a:r>
                    </a:p>
                  </a:txBody>
                  <a:tcPr/>
                </a:tc>
                <a:extLst>
                  <a:ext uri="{0D108BD9-81ED-4DB2-BD59-A6C34878D82A}">
                    <a16:rowId xmlns:a16="http://schemas.microsoft.com/office/drawing/2014/main" val="3908346745"/>
                  </a:ext>
                </a:extLst>
              </a:tr>
              <a:tr h="370840">
                <a:tc>
                  <a:txBody>
                    <a:bodyPr/>
                    <a:lstStyle/>
                    <a:p>
                      <a:r>
                        <a:rPr lang="fr-CA" dirty="0"/>
                        <a:t>Approvisionnement</a:t>
                      </a:r>
                    </a:p>
                  </a:txBody>
                  <a:tcPr/>
                </a:tc>
                <a:tc>
                  <a:txBody>
                    <a:bodyPr/>
                    <a:lstStyle/>
                    <a:p>
                      <a:r>
                        <a:rPr lang="fr-CA" dirty="0"/>
                        <a:t>Juste à temps</a:t>
                      </a:r>
                    </a:p>
                    <a:p>
                      <a:r>
                        <a:rPr lang="fr-CA" dirty="0"/>
                        <a:t>Cycle d’approvisionnement</a:t>
                      </a:r>
                    </a:p>
                  </a:txBody>
                  <a:tcPr/>
                </a:tc>
                <a:extLst>
                  <a:ext uri="{0D108BD9-81ED-4DB2-BD59-A6C34878D82A}">
                    <a16:rowId xmlns:a16="http://schemas.microsoft.com/office/drawing/2014/main" val="2845775348"/>
                  </a:ext>
                </a:extLst>
              </a:tr>
              <a:tr h="370840">
                <a:tc>
                  <a:txBody>
                    <a:bodyPr/>
                    <a:lstStyle/>
                    <a:p>
                      <a:r>
                        <a:rPr lang="fr-CA" dirty="0"/>
                        <a:t>Logistique </a:t>
                      </a:r>
                    </a:p>
                  </a:txBody>
                  <a:tcPr/>
                </a:tc>
                <a:tc>
                  <a:txBody>
                    <a:bodyPr/>
                    <a:lstStyle/>
                    <a:p>
                      <a:r>
                        <a:rPr lang="fr-CA" dirty="0"/>
                        <a:t>Distribution</a:t>
                      </a:r>
                    </a:p>
                    <a:p>
                      <a:r>
                        <a:rPr lang="fr-CA" dirty="0"/>
                        <a:t>Entreposage</a:t>
                      </a:r>
                    </a:p>
                  </a:txBody>
                  <a:tcPr/>
                </a:tc>
                <a:extLst>
                  <a:ext uri="{0D108BD9-81ED-4DB2-BD59-A6C34878D82A}">
                    <a16:rowId xmlns:a16="http://schemas.microsoft.com/office/drawing/2014/main" val="1327762450"/>
                  </a:ext>
                </a:extLst>
              </a:tr>
              <a:tr h="370840">
                <a:tc>
                  <a:txBody>
                    <a:bodyPr/>
                    <a:lstStyle/>
                    <a:p>
                      <a:r>
                        <a:rPr lang="fr-CA" dirty="0"/>
                        <a:t>Marketing</a:t>
                      </a:r>
                    </a:p>
                  </a:txBody>
                  <a:tcPr/>
                </a:tc>
                <a:tc>
                  <a:txBody>
                    <a:bodyPr/>
                    <a:lstStyle/>
                    <a:p>
                      <a:r>
                        <a:rPr lang="fr-CA" dirty="0"/>
                        <a:t>Stratégie de fixation des prix</a:t>
                      </a:r>
                    </a:p>
                    <a:p>
                      <a:r>
                        <a:rPr lang="fr-CA" dirty="0"/>
                        <a:t>Publicité</a:t>
                      </a:r>
                    </a:p>
                    <a:p>
                      <a:endParaRPr lang="fr-CA" dirty="0"/>
                    </a:p>
                  </a:txBody>
                  <a:tcPr/>
                </a:tc>
                <a:extLst>
                  <a:ext uri="{0D108BD9-81ED-4DB2-BD59-A6C34878D82A}">
                    <a16:rowId xmlns:a16="http://schemas.microsoft.com/office/drawing/2014/main" val="1360158682"/>
                  </a:ext>
                </a:extLst>
              </a:tr>
              <a:tr h="370840">
                <a:tc>
                  <a:txBody>
                    <a:bodyPr/>
                    <a:lstStyle/>
                    <a:p>
                      <a:r>
                        <a:rPr lang="fr-CA" dirty="0"/>
                        <a:t>Ressources humaines</a:t>
                      </a:r>
                    </a:p>
                  </a:txBody>
                  <a:tcPr/>
                </a:tc>
                <a:tc>
                  <a:txBody>
                    <a:bodyPr/>
                    <a:lstStyle/>
                    <a:p>
                      <a:r>
                        <a:rPr lang="fr-CA" dirty="0"/>
                        <a:t>Rétention des talents</a:t>
                      </a:r>
                    </a:p>
                    <a:p>
                      <a:r>
                        <a:rPr lang="fr-CA" dirty="0"/>
                        <a:t>Recrutement</a:t>
                      </a:r>
                    </a:p>
                  </a:txBody>
                  <a:tcPr/>
                </a:tc>
                <a:extLst>
                  <a:ext uri="{0D108BD9-81ED-4DB2-BD59-A6C34878D82A}">
                    <a16:rowId xmlns:a16="http://schemas.microsoft.com/office/drawing/2014/main" val="1657360389"/>
                  </a:ext>
                </a:extLst>
              </a:tr>
            </a:tbl>
          </a:graphicData>
        </a:graphic>
      </p:graphicFrame>
      <p:sp>
        <p:nvSpPr>
          <p:cNvPr id="4" name="Espace réservé du pied de page 3">
            <a:extLst>
              <a:ext uri="{FF2B5EF4-FFF2-40B4-BE49-F238E27FC236}">
                <a16:creationId xmlns:a16="http://schemas.microsoft.com/office/drawing/2014/main" id="{B34F39B4-8A65-44ED-B6F1-837B49B841B3}"/>
              </a:ext>
            </a:extLst>
          </p:cNvPr>
          <p:cNvSpPr>
            <a:spLocks noGrp="1"/>
          </p:cNvSpPr>
          <p:nvPr>
            <p:ph type="ftr" sz="quarter" idx="11"/>
          </p:nvPr>
        </p:nvSpPr>
        <p:spPr/>
        <p:txBody>
          <a:bodyPr/>
          <a:lstStyle/>
          <a:p>
            <a:r>
              <a:rPr lang="fr-CA"/>
              <a:t>(C) HEC Montréal</a:t>
            </a:r>
          </a:p>
        </p:txBody>
      </p:sp>
      <p:sp>
        <p:nvSpPr>
          <p:cNvPr id="5" name="Espace réservé du numéro de diapositive 4">
            <a:extLst>
              <a:ext uri="{FF2B5EF4-FFF2-40B4-BE49-F238E27FC236}">
                <a16:creationId xmlns:a16="http://schemas.microsoft.com/office/drawing/2014/main" id="{077EAD66-6ACA-4AB9-BF1F-089DA336CCDD}"/>
              </a:ext>
            </a:extLst>
          </p:cNvPr>
          <p:cNvSpPr>
            <a:spLocks noGrp="1"/>
          </p:cNvSpPr>
          <p:nvPr>
            <p:ph type="sldNum" sz="quarter" idx="12"/>
          </p:nvPr>
        </p:nvSpPr>
        <p:spPr/>
        <p:txBody>
          <a:bodyPr/>
          <a:lstStyle/>
          <a:p>
            <a:fld id="{EEB25B09-B9A6-4811-8700-6D36B9CE20D1}" type="slidenum">
              <a:rPr lang="fr-CA" smtClean="0"/>
              <a:t>16</a:t>
            </a:fld>
            <a:endParaRPr lang="fr-CA"/>
          </a:p>
        </p:txBody>
      </p:sp>
    </p:spTree>
    <p:extLst>
      <p:ext uri="{BB962C8B-B14F-4D97-AF65-F5344CB8AC3E}">
        <p14:creationId xmlns:p14="http://schemas.microsoft.com/office/powerpoint/2010/main" val="19310785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A9D58D9-F4A6-4481-ADA1-39259A2AD7B0}"/>
              </a:ext>
            </a:extLst>
          </p:cNvPr>
          <p:cNvSpPr>
            <a:spLocks noGrp="1"/>
          </p:cNvSpPr>
          <p:nvPr>
            <p:ph type="title"/>
          </p:nvPr>
        </p:nvSpPr>
        <p:spPr/>
        <p:txBody>
          <a:bodyPr/>
          <a:lstStyle/>
          <a:p>
            <a:r>
              <a:rPr lang="fr-CA" dirty="0"/>
              <a:t>Objectifs stratégiques </a:t>
            </a:r>
          </a:p>
        </p:txBody>
      </p:sp>
      <p:sp>
        <p:nvSpPr>
          <p:cNvPr id="3" name="Espace réservé du contenu 2">
            <a:extLst>
              <a:ext uri="{FF2B5EF4-FFF2-40B4-BE49-F238E27FC236}">
                <a16:creationId xmlns:a16="http://schemas.microsoft.com/office/drawing/2014/main" id="{00F6BB46-413C-4E5D-9BF4-D0A11F2920F8}"/>
              </a:ext>
            </a:extLst>
          </p:cNvPr>
          <p:cNvSpPr>
            <a:spLocks noGrp="1"/>
          </p:cNvSpPr>
          <p:nvPr>
            <p:ph idx="1"/>
          </p:nvPr>
        </p:nvSpPr>
        <p:spPr/>
        <p:txBody>
          <a:bodyPr/>
          <a:lstStyle/>
          <a:p>
            <a:pPr marL="0" indent="0">
              <a:buNone/>
            </a:pPr>
            <a:r>
              <a:rPr lang="fr-CA" b="1" dirty="0">
                <a:solidFill>
                  <a:srgbClr val="FF0000"/>
                </a:solidFill>
                <a:highlight>
                  <a:srgbClr val="FFFF00"/>
                </a:highlight>
              </a:rPr>
              <a:t>Cibles fixées </a:t>
            </a:r>
            <a:r>
              <a:rPr lang="fr-CA" dirty="0"/>
              <a:t>qui mesureront l’atteinte de la stratégie mise en place</a:t>
            </a:r>
          </a:p>
          <a:p>
            <a:pPr marL="0" indent="0">
              <a:buNone/>
            </a:pPr>
            <a:r>
              <a:rPr lang="fr-CA" dirty="0"/>
              <a:t>- Vise à orienter les priorités et l’allocation des ressources </a:t>
            </a:r>
          </a:p>
        </p:txBody>
      </p:sp>
      <p:sp>
        <p:nvSpPr>
          <p:cNvPr id="4" name="Espace réservé du pied de page 3">
            <a:extLst>
              <a:ext uri="{FF2B5EF4-FFF2-40B4-BE49-F238E27FC236}">
                <a16:creationId xmlns:a16="http://schemas.microsoft.com/office/drawing/2014/main" id="{86775AC6-339D-4890-8A58-4D4C2149BF96}"/>
              </a:ext>
            </a:extLst>
          </p:cNvPr>
          <p:cNvSpPr>
            <a:spLocks noGrp="1"/>
          </p:cNvSpPr>
          <p:nvPr>
            <p:ph type="ftr" sz="quarter" idx="11"/>
          </p:nvPr>
        </p:nvSpPr>
        <p:spPr/>
        <p:txBody>
          <a:bodyPr/>
          <a:lstStyle/>
          <a:p>
            <a:r>
              <a:rPr lang="fr-CA"/>
              <a:t>(C) HEC Montréal</a:t>
            </a:r>
          </a:p>
        </p:txBody>
      </p:sp>
      <p:sp>
        <p:nvSpPr>
          <p:cNvPr id="5" name="Espace réservé du numéro de diapositive 4">
            <a:extLst>
              <a:ext uri="{FF2B5EF4-FFF2-40B4-BE49-F238E27FC236}">
                <a16:creationId xmlns:a16="http://schemas.microsoft.com/office/drawing/2014/main" id="{F92DA5A9-3577-4468-B07C-F12EA1C7BBFB}"/>
              </a:ext>
            </a:extLst>
          </p:cNvPr>
          <p:cNvSpPr>
            <a:spLocks noGrp="1"/>
          </p:cNvSpPr>
          <p:nvPr>
            <p:ph type="sldNum" sz="quarter" idx="12"/>
          </p:nvPr>
        </p:nvSpPr>
        <p:spPr/>
        <p:txBody>
          <a:bodyPr/>
          <a:lstStyle/>
          <a:p>
            <a:fld id="{EEB25B09-B9A6-4811-8700-6D36B9CE20D1}" type="slidenum">
              <a:rPr lang="fr-CA" smtClean="0"/>
              <a:t>17</a:t>
            </a:fld>
            <a:endParaRPr lang="fr-CA"/>
          </a:p>
        </p:txBody>
      </p:sp>
    </p:spTree>
    <p:extLst>
      <p:ext uri="{BB962C8B-B14F-4D97-AF65-F5344CB8AC3E}">
        <p14:creationId xmlns:p14="http://schemas.microsoft.com/office/powerpoint/2010/main" val="15219447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AFFC6C5-E73A-4B6C-A380-60DAE951D30A}"/>
              </a:ext>
            </a:extLst>
          </p:cNvPr>
          <p:cNvSpPr>
            <a:spLocks noGrp="1"/>
          </p:cNvSpPr>
          <p:nvPr>
            <p:ph type="title"/>
          </p:nvPr>
        </p:nvSpPr>
        <p:spPr/>
        <p:txBody>
          <a:bodyPr/>
          <a:lstStyle/>
          <a:p>
            <a:r>
              <a:rPr lang="fr-CA" dirty="0"/>
              <a:t>Contraintes </a:t>
            </a:r>
            <a:r>
              <a:rPr lang="fr-CA"/>
              <a:t>et limites</a:t>
            </a:r>
            <a:endParaRPr lang="fr-CA" dirty="0"/>
          </a:p>
        </p:txBody>
      </p:sp>
      <p:sp>
        <p:nvSpPr>
          <p:cNvPr id="3" name="Espace réservé du contenu 2">
            <a:extLst>
              <a:ext uri="{FF2B5EF4-FFF2-40B4-BE49-F238E27FC236}">
                <a16:creationId xmlns:a16="http://schemas.microsoft.com/office/drawing/2014/main" id="{7E7EA714-63CB-4F55-BABD-B90AA433A0F6}"/>
              </a:ext>
            </a:extLst>
          </p:cNvPr>
          <p:cNvSpPr>
            <a:spLocks noGrp="1"/>
          </p:cNvSpPr>
          <p:nvPr>
            <p:ph idx="1"/>
          </p:nvPr>
        </p:nvSpPr>
        <p:spPr/>
        <p:txBody>
          <a:bodyPr/>
          <a:lstStyle/>
          <a:p>
            <a:r>
              <a:rPr lang="fr-CA" dirty="0"/>
              <a:t>Identification des contraintes et limites fixées par l’organisation ou ses parties prenantes </a:t>
            </a:r>
          </a:p>
          <a:p>
            <a:r>
              <a:rPr lang="fr-CA" dirty="0"/>
              <a:t>Détermine le périmètre de l’analyse</a:t>
            </a:r>
          </a:p>
          <a:p>
            <a:endParaRPr lang="fr-CA" dirty="0"/>
          </a:p>
          <a:p>
            <a:pPr marL="0" indent="0">
              <a:buNone/>
            </a:pPr>
            <a:r>
              <a:rPr lang="fr-CA" dirty="0"/>
              <a:t>Exemples: </a:t>
            </a:r>
          </a:p>
          <a:p>
            <a:r>
              <a:rPr lang="fr-CA" dirty="0"/>
              <a:t>Rendement attendu sur les projets</a:t>
            </a:r>
          </a:p>
          <a:p>
            <a:r>
              <a:rPr lang="fr-CA" dirty="0"/>
              <a:t>Clause restrictive liée à un emprunt</a:t>
            </a:r>
          </a:p>
          <a:p>
            <a:r>
              <a:rPr lang="fr-CA" dirty="0"/>
              <a:t>Montant limite d’investissement</a:t>
            </a:r>
          </a:p>
          <a:p>
            <a:r>
              <a:rPr lang="fr-CA" dirty="0"/>
              <a:t>Capacité de production à court terme</a:t>
            </a:r>
          </a:p>
          <a:p>
            <a:endParaRPr lang="fr-CA" dirty="0"/>
          </a:p>
          <a:p>
            <a:pPr marL="0" indent="0">
              <a:buNone/>
            </a:pPr>
            <a:endParaRPr lang="fr-CA" dirty="0"/>
          </a:p>
        </p:txBody>
      </p:sp>
      <p:sp>
        <p:nvSpPr>
          <p:cNvPr id="4" name="Espace réservé du pied de page 3">
            <a:extLst>
              <a:ext uri="{FF2B5EF4-FFF2-40B4-BE49-F238E27FC236}">
                <a16:creationId xmlns:a16="http://schemas.microsoft.com/office/drawing/2014/main" id="{BED2A83D-C6E6-48AB-BD8A-75720B93A3B0}"/>
              </a:ext>
            </a:extLst>
          </p:cNvPr>
          <p:cNvSpPr>
            <a:spLocks noGrp="1"/>
          </p:cNvSpPr>
          <p:nvPr>
            <p:ph type="ftr" sz="quarter" idx="11"/>
          </p:nvPr>
        </p:nvSpPr>
        <p:spPr/>
        <p:txBody>
          <a:bodyPr/>
          <a:lstStyle/>
          <a:p>
            <a:r>
              <a:rPr lang="fr-CA"/>
              <a:t>(C) HEC Montréal</a:t>
            </a:r>
          </a:p>
        </p:txBody>
      </p:sp>
      <p:sp>
        <p:nvSpPr>
          <p:cNvPr id="5" name="Espace réservé du numéro de diapositive 4">
            <a:extLst>
              <a:ext uri="{FF2B5EF4-FFF2-40B4-BE49-F238E27FC236}">
                <a16:creationId xmlns:a16="http://schemas.microsoft.com/office/drawing/2014/main" id="{38027ADF-17B1-47B7-AD6F-9CF3DD4051F2}"/>
              </a:ext>
            </a:extLst>
          </p:cNvPr>
          <p:cNvSpPr>
            <a:spLocks noGrp="1"/>
          </p:cNvSpPr>
          <p:nvPr>
            <p:ph type="sldNum" sz="quarter" idx="12"/>
          </p:nvPr>
        </p:nvSpPr>
        <p:spPr/>
        <p:txBody>
          <a:bodyPr/>
          <a:lstStyle/>
          <a:p>
            <a:fld id="{EEB25B09-B9A6-4811-8700-6D36B9CE20D1}" type="slidenum">
              <a:rPr lang="fr-CA" smtClean="0"/>
              <a:t>18</a:t>
            </a:fld>
            <a:endParaRPr lang="fr-CA"/>
          </a:p>
        </p:txBody>
      </p:sp>
    </p:spTree>
    <p:extLst>
      <p:ext uri="{BB962C8B-B14F-4D97-AF65-F5344CB8AC3E}">
        <p14:creationId xmlns:p14="http://schemas.microsoft.com/office/powerpoint/2010/main" val="25769433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24CE791-B368-4B80-99C2-14F1DA4CD606}"/>
              </a:ext>
            </a:extLst>
          </p:cNvPr>
          <p:cNvSpPr>
            <a:spLocks noGrp="1"/>
          </p:cNvSpPr>
          <p:nvPr>
            <p:ph type="title"/>
          </p:nvPr>
        </p:nvSpPr>
        <p:spPr/>
        <p:txBody>
          <a:bodyPr/>
          <a:lstStyle/>
          <a:p>
            <a:r>
              <a:rPr lang="fr-CA" dirty="0"/>
              <a:t>Parties prenantes</a:t>
            </a:r>
          </a:p>
        </p:txBody>
      </p:sp>
      <p:sp>
        <p:nvSpPr>
          <p:cNvPr id="3" name="Espace réservé du contenu 2">
            <a:extLst>
              <a:ext uri="{FF2B5EF4-FFF2-40B4-BE49-F238E27FC236}">
                <a16:creationId xmlns:a16="http://schemas.microsoft.com/office/drawing/2014/main" id="{FB2C14FD-ABE5-4A46-A4CB-F738F425A892}"/>
              </a:ext>
            </a:extLst>
          </p:cNvPr>
          <p:cNvSpPr>
            <a:spLocks noGrp="1"/>
          </p:cNvSpPr>
          <p:nvPr>
            <p:ph idx="1"/>
          </p:nvPr>
        </p:nvSpPr>
        <p:spPr/>
        <p:txBody>
          <a:bodyPr/>
          <a:lstStyle/>
          <a:p>
            <a:r>
              <a:rPr lang="fr-CA" dirty="0"/>
              <a:t>Identification des principales parties prenantes de l’organisation et de leurs préférences en termes de d’options stratégiques.</a:t>
            </a:r>
          </a:p>
          <a:p>
            <a:r>
              <a:rPr lang="fr-CA" dirty="0"/>
              <a:t>Présentées sous forme de tableau </a:t>
            </a:r>
          </a:p>
          <a:p>
            <a:pPr marL="0" indent="0">
              <a:buNone/>
            </a:pPr>
            <a:endParaRPr lang="fr-CA" dirty="0"/>
          </a:p>
        </p:txBody>
      </p:sp>
      <p:sp>
        <p:nvSpPr>
          <p:cNvPr id="4" name="Espace réservé du pied de page 3">
            <a:extLst>
              <a:ext uri="{FF2B5EF4-FFF2-40B4-BE49-F238E27FC236}">
                <a16:creationId xmlns:a16="http://schemas.microsoft.com/office/drawing/2014/main" id="{4E77F5DD-7670-4462-A261-B9849C6247A7}"/>
              </a:ext>
            </a:extLst>
          </p:cNvPr>
          <p:cNvSpPr>
            <a:spLocks noGrp="1"/>
          </p:cNvSpPr>
          <p:nvPr>
            <p:ph type="ftr" sz="quarter" idx="11"/>
          </p:nvPr>
        </p:nvSpPr>
        <p:spPr/>
        <p:txBody>
          <a:bodyPr/>
          <a:lstStyle/>
          <a:p>
            <a:r>
              <a:rPr lang="fr-CA"/>
              <a:t>(C) HEC Montréal</a:t>
            </a:r>
          </a:p>
        </p:txBody>
      </p:sp>
      <p:sp>
        <p:nvSpPr>
          <p:cNvPr id="5" name="Espace réservé du numéro de diapositive 4">
            <a:extLst>
              <a:ext uri="{FF2B5EF4-FFF2-40B4-BE49-F238E27FC236}">
                <a16:creationId xmlns:a16="http://schemas.microsoft.com/office/drawing/2014/main" id="{1CAE0794-70E2-44B2-9113-98C8D99D69A3}"/>
              </a:ext>
            </a:extLst>
          </p:cNvPr>
          <p:cNvSpPr>
            <a:spLocks noGrp="1"/>
          </p:cNvSpPr>
          <p:nvPr>
            <p:ph type="sldNum" sz="quarter" idx="12"/>
          </p:nvPr>
        </p:nvSpPr>
        <p:spPr/>
        <p:txBody>
          <a:bodyPr/>
          <a:lstStyle/>
          <a:p>
            <a:fld id="{EEB25B09-B9A6-4811-8700-6D36B9CE20D1}" type="slidenum">
              <a:rPr lang="fr-CA" smtClean="0"/>
              <a:t>19</a:t>
            </a:fld>
            <a:endParaRPr lang="fr-CA"/>
          </a:p>
        </p:txBody>
      </p:sp>
    </p:spTree>
    <p:extLst>
      <p:ext uri="{BB962C8B-B14F-4D97-AF65-F5344CB8AC3E}">
        <p14:creationId xmlns:p14="http://schemas.microsoft.com/office/powerpoint/2010/main" val="21270354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A71F453-4F3F-43C4-BA81-0225C37470A9}"/>
              </a:ext>
            </a:extLst>
          </p:cNvPr>
          <p:cNvSpPr>
            <a:spLocks noGrp="1"/>
          </p:cNvSpPr>
          <p:nvPr>
            <p:ph type="title"/>
          </p:nvPr>
        </p:nvSpPr>
        <p:spPr/>
        <p:txBody>
          <a:bodyPr/>
          <a:lstStyle/>
          <a:p>
            <a:r>
              <a:rPr lang="fr-CA" dirty="0"/>
              <a:t>Analyse de l’environnement</a:t>
            </a:r>
          </a:p>
        </p:txBody>
      </p:sp>
      <p:graphicFrame>
        <p:nvGraphicFramePr>
          <p:cNvPr id="6" name="Espace réservé du contenu 5">
            <a:extLst>
              <a:ext uri="{FF2B5EF4-FFF2-40B4-BE49-F238E27FC236}">
                <a16:creationId xmlns:a16="http://schemas.microsoft.com/office/drawing/2014/main" id="{7AB0251D-221E-467A-A808-A38A9A3F1A5A}"/>
              </a:ext>
            </a:extLst>
          </p:cNvPr>
          <p:cNvGraphicFramePr>
            <a:graphicFrameLocks noGrp="1"/>
          </p:cNvGraphicFramePr>
          <p:nvPr>
            <p:ph idx="1"/>
            <p:extLst>
              <p:ext uri="{D42A27DB-BD31-4B8C-83A1-F6EECF244321}">
                <p14:modId xmlns:p14="http://schemas.microsoft.com/office/powerpoint/2010/main" val="1795213596"/>
              </p:ext>
            </p:extLst>
          </p:nvPr>
        </p:nvGraphicFramePr>
        <p:xfrm>
          <a:off x="638175" y="1893888"/>
          <a:ext cx="10915650" cy="38242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Espace réservé du pied de page 3">
            <a:extLst>
              <a:ext uri="{FF2B5EF4-FFF2-40B4-BE49-F238E27FC236}">
                <a16:creationId xmlns:a16="http://schemas.microsoft.com/office/drawing/2014/main" id="{7F1F6888-18A8-46CF-92E4-78489E45911F}"/>
              </a:ext>
            </a:extLst>
          </p:cNvPr>
          <p:cNvSpPr>
            <a:spLocks noGrp="1"/>
          </p:cNvSpPr>
          <p:nvPr>
            <p:ph type="ftr" sz="quarter" idx="11"/>
          </p:nvPr>
        </p:nvSpPr>
        <p:spPr/>
        <p:txBody>
          <a:bodyPr/>
          <a:lstStyle/>
          <a:p>
            <a:r>
              <a:rPr lang="fr-CA"/>
              <a:t>(C) HEC Montréal</a:t>
            </a:r>
          </a:p>
        </p:txBody>
      </p:sp>
      <p:sp>
        <p:nvSpPr>
          <p:cNvPr id="5" name="Espace réservé du numéro de diapositive 4">
            <a:extLst>
              <a:ext uri="{FF2B5EF4-FFF2-40B4-BE49-F238E27FC236}">
                <a16:creationId xmlns:a16="http://schemas.microsoft.com/office/drawing/2014/main" id="{5A4ECFA0-7BB3-48F7-BE84-360A8FDF7D22}"/>
              </a:ext>
            </a:extLst>
          </p:cNvPr>
          <p:cNvSpPr>
            <a:spLocks noGrp="1"/>
          </p:cNvSpPr>
          <p:nvPr>
            <p:ph type="sldNum" sz="quarter" idx="12"/>
          </p:nvPr>
        </p:nvSpPr>
        <p:spPr/>
        <p:txBody>
          <a:bodyPr/>
          <a:lstStyle/>
          <a:p>
            <a:fld id="{EEB25B09-B9A6-4811-8700-6D36B9CE20D1}" type="slidenum">
              <a:rPr lang="fr-CA" smtClean="0"/>
              <a:t>20</a:t>
            </a:fld>
            <a:endParaRPr lang="fr-CA"/>
          </a:p>
        </p:txBody>
      </p:sp>
    </p:spTree>
    <p:extLst>
      <p:ext uri="{BB962C8B-B14F-4D97-AF65-F5344CB8AC3E}">
        <p14:creationId xmlns:p14="http://schemas.microsoft.com/office/powerpoint/2010/main" val="2433583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Analyser l’environnement et l’industrie- Les facteurs clés de succès</a:t>
            </a:r>
          </a:p>
        </p:txBody>
      </p:sp>
      <p:sp>
        <p:nvSpPr>
          <p:cNvPr id="3" name="Espace réservé du contenu 2"/>
          <p:cNvSpPr>
            <a:spLocks noGrp="1"/>
          </p:cNvSpPr>
          <p:nvPr>
            <p:ph idx="1"/>
          </p:nvPr>
        </p:nvSpPr>
        <p:spPr/>
        <p:txBody>
          <a:bodyPr>
            <a:normAutofit/>
          </a:bodyPr>
          <a:lstStyle/>
          <a:p>
            <a:r>
              <a:rPr lang="fr-CA" sz="2800" dirty="0"/>
              <a:t>Facteurs clés de succès de l’industrie: </a:t>
            </a:r>
          </a:p>
          <a:p>
            <a:r>
              <a:rPr lang="fr-CA" sz="2800" dirty="0"/>
              <a:t>"Les </a:t>
            </a:r>
            <a:r>
              <a:rPr lang="fr-CA" sz="2800" b="1" dirty="0"/>
              <a:t>facteurs clés de succès</a:t>
            </a:r>
            <a:r>
              <a:rPr lang="fr-CA" sz="2800" dirty="0"/>
              <a:t> (FCS) correspondent aux éléments stratégiques qu'une organisation doit </a:t>
            </a:r>
            <a:r>
              <a:rPr lang="fr-CA" sz="2800" dirty="0">
                <a:highlight>
                  <a:srgbClr val="FFFF00"/>
                </a:highlight>
              </a:rPr>
              <a:t>maîtriser </a:t>
            </a:r>
            <a:r>
              <a:rPr lang="fr-CA" sz="2800" dirty="0"/>
              <a:t>pour réussir dans un secteur donné et surpasser la concurrence. » </a:t>
            </a:r>
          </a:p>
          <a:p>
            <a:r>
              <a:rPr lang="fr-CA" sz="1400" dirty="0">
                <a:hlinkClick r:id="rId3"/>
              </a:rPr>
              <a:t>www.socialbusinessmodels.ch/fr/content/</a:t>
            </a:r>
            <a:r>
              <a:rPr lang="fr-CA" sz="1400" b="1" dirty="0">
                <a:hlinkClick r:id="rId3"/>
              </a:rPr>
              <a:t>facteurs</a:t>
            </a:r>
            <a:r>
              <a:rPr lang="fr-CA" sz="1400" dirty="0">
                <a:hlinkClick r:id="rId3"/>
              </a:rPr>
              <a:t>-</a:t>
            </a:r>
            <a:r>
              <a:rPr lang="fr-CA" sz="1400" b="1" dirty="0">
                <a:hlinkClick r:id="rId3"/>
              </a:rPr>
              <a:t>cles-de-succes</a:t>
            </a:r>
            <a:endParaRPr lang="fr-CA" sz="1400" b="1" dirty="0"/>
          </a:p>
          <a:p>
            <a:endParaRPr lang="fr-CA" sz="1400" b="1" dirty="0"/>
          </a:p>
          <a:p>
            <a:pPr marL="0" indent="0">
              <a:buNone/>
            </a:pPr>
            <a:endParaRPr lang="fr-CA" dirty="0"/>
          </a:p>
        </p:txBody>
      </p:sp>
      <p:sp>
        <p:nvSpPr>
          <p:cNvPr id="4" name="Espace réservé du pied de page 3"/>
          <p:cNvSpPr>
            <a:spLocks noGrp="1"/>
          </p:cNvSpPr>
          <p:nvPr>
            <p:ph type="ftr" sz="quarter" idx="11"/>
          </p:nvPr>
        </p:nvSpPr>
        <p:spPr/>
        <p:txBody>
          <a:bodyPr/>
          <a:lstStyle/>
          <a:p>
            <a:r>
              <a:rPr lang="fr-CA"/>
              <a:t>(C) HEC montréal</a:t>
            </a:r>
          </a:p>
        </p:txBody>
      </p:sp>
      <p:sp>
        <p:nvSpPr>
          <p:cNvPr id="5" name="Espace réservé du numéro de diapositive 4"/>
          <p:cNvSpPr>
            <a:spLocks noGrp="1"/>
          </p:cNvSpPr>
          <p:nvPr>
            <p:ph type="sldNum" sz="quarter" idx="12"/>
          </p:nvPr>
        </p:nvSpPr>
        <p:spPr/>
        <p:txBody>
          <a:bodyPr/>
          <a:lstStyle/>
          <a:p>
            <a:fld id="{EEB25B09-B9A6-4811-8700-6D36B9CE20D1}" type="slidenum">
              <a:rPr lang="fr-CA" smtClean="0"/>
              <a:t>21</a:t>
            </a:fld>
            <a:endParaRPr lang="fr-CA"/>
          </a:p>
        </p:txBody>
      </p:sp>
    </p:spTree>
    <p:extLst>
      <p:ext uri="{BB962C8B-B14F-4D97-AF65-F5344CB8AC3E}">
        <p14:creationId xmlns:p14="http://schemas.microsoft.com/office/powerpoint/2010/main" val="13543567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9F74C0-A0E6-483B-A412-38E8BD301C94}"/>
              </a:ext>
            </a:extLst>
          </p:cNvPr>
          <p:cNvSpPr>
            <a:spLocks noGrp="1"/>
          </p:cNvSpPr>
          <p:nvPr>
            <p:ph type="title"/>
          </p:nvPr>
        </p:nvSpPr>
        <p:spPr>
          <a:xfrm>
            <a:off x="638400" y="575623"/>
            <a:ext cx="10915200" cy="987552"/>
          </a:xfrm>
        </p:spPr>
        <p:txBody>
          <a:bodyPr anchor="ctr">
            <a:normAutofit/>
          </a:bodyPr>
          <a:lstStyle/>
          <a:p>
            <a:pPr>
              <a:lnSpc>
                <a:spcPct val="90000"/>
              </a:lnSpc>
            </a:pPr>
            <a:r>
              <a:rPr lang="fr-CA"/>
              <a:t>Analyse de l’environnement interne et externe – Analyse FFPM </a:t>
            </a:r>
          </a:p>
        </p:txBody>
      </p:sp>
      <p:sp>
        <p:nvSpPr>
          <p:cNvPr id="4" name="Espace réservé du pied de page 3">
            <a:extLst>
              <a:ext uri="{FF2B5EF4-FFF2-40B4-BE49-F238E27FC236}">
                <a16:creationId xmlns:a16="http://schemas.microsoft.com/office/drawing/2014/main" id="{AB1CCF09-A268-4080-A743-8D03D0396839}"/>
              </a:ext>
            </a:extLst>
          </p:cNvPr>
          <p:cNvSpPr>
            <a:spLocks noGrp="1"/>
          </p:cNvSpPr>
          <p:nvPr>
            <p:ph type="ftr" sz="quarter" idx="11"/>
          </p:nvPr>
        </p:nvSpPr>
        <p:spPr>
          <a:xfrm>
            <a:off x="4165600" y="6461995"/>
            <a:ext cx="3860800" cy="164160"/>
          </a:xfrm>
        </p:spPr>
        <p:txBody>
          <a:bodyPr anchor="ctr">
            <a:normAutofit/>
          </a:bodyPr>
          <a:lstStyle/>
          <a:p>
            <a:pPr>
              <a:lnSpc>
                <a:spcPct val="90000"/>
              </a:lnSpc>
              <a:spcAft>
                <a:spcPts val="600"/>
              </a:spcAft>
            </a:pPr>
            <a:r>
              <a:rPr lang="fr-CA" sz="500"/>
              <a:t>(C) HEC Montréal</a:t>
            </a:r>
          </a:p>
        </p:txBody>
      </p:sp>
      <p:sp>
        <p:nvSpPr>
          <p:cNvPr id="5" name="Espace réservé du numéro de diapositive 4">
            <a:extLst>
              <a:ext uri="{FF2B5EF4-FFF2-40B4-BE49-F238E27FC236}">
                <a16:creationId xmlns:a16="http://schemas.microsoft.com/office/drawing/2014/main" id="{3C9B94EE-0EA8-49A3-9558-8D05E007835F}"/>
              </a:ext>
            </a:extLst>
          </p:cNvPr>
          <p:cNvSpPr>
            <a:spLocks noGrp="1"/>
          </p:cNvSpPr>
          <p:nvPr>
            <p:ph type="sldNum" sz="quarter" idx="12"/>
          </p:nvPr>
        </p:nvSpPr>
        <p:spPr>
          <a:xfrm>
            <a:off x="10934400" y="6461995"/>
            <a:ext cx="619200" cy="164160"/>
          </a:xfrm>
        </p:spPr>
        <p:txBody>
          <a:bodyPr anchor="ctr">
            <a:normAutofit/>
          </a:bodyPr>
          <a:lstStyle/>
          <a:p>
            <a:pPr>
              <a:lnSpc>
                <a:spcPct val="90000"/>
              </a:lnSpc>
              <a:spcAft>
                <a:spcPts val="600"/>
              </a:spcAft>
            </a:pPr>
            <a:fld id="{EEB25B09-B9A6-4811-8700-6D36B9CE20D1}" type="slidenum">
              <a:rPr lang="fr-CA" sz="500" smtClean="0"/>
              <a:pPr>
                <a:lnSpc>
                  <a:spcPct val="90000"/>
                </a:lnSpc>
                <a:spcAft>
                  <a:spcPts val="600"/>
                </a:spcAft>
              </a:pPr>
              <a:t>22</a:t>
            </a:fld>
            <a:endParaRPr lang="fr-CA" sz="500"/>
          </a:p>
        </p:txBody>
      </p:sp>
      <p:graphicFrame>
        <p:nvGraphicFramePr>
          <p:cNvPr id="15" name="Espace réservé du contenu 14">
            <a:extLst>
              <a:ext uri="{FF2B5EF4-FFF2-40B4-BE49-F238E27FC236}">
                <a16:creationId xmlns:a16="http://schemas.microsoft.com/office/drawing/2014/main" id="{D6581BDA-A3CA-4B94-BBD0-63D09A99EEFD}"/>
              </a:ext>
            </a:extLst>
          </p:cNvPr>
          <p:cNvGraphicFramePr>
            <a:graphicFrameLocks noGrp="1"/>
          </p:cNvGraphicFramePr>
          <p:nvPr>
            <p:ph idx="1"/>
            <p:extLst>
              <p:ext uri="{D42A27DB-BD31-4B8C-83A1-F6EECF244321}">
                <p14:modId xmlns:p14="http://schemas.microsoft.com/office/powerpoint/2010/main" val="1068501383"/>
              </p:ext>
            </p:extLst>
          </p:nvPr>
        </p:nvGraphicFramePr>
        <p:xfrm>
          <a:off x="638400" y="1893224"/>
          <a:ext cx="10915200" cy="38255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485659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custDataLst>
              <p:tags r:id="rId1"/>
            </p:custDataLst>
          </p:nvPr>
        </p:nvSpPr>
        <p:spPr>
          <a:xfrm>
            <a:off x="1068387" y="191601"/>
            <a:ext cx="10058400" cy="1450757"/>
          </a:xfrm>
        </p:spPr>
        <p:txBody>
          <a:bodyPr>
            <a:normAutofit/>
          </a:bodyPr>
          <a:lstStyle/>
          <a:p>
            <a:r>
              <a:rPr lang="fr-CA" dirty="0"/>
              <a:t>Analyse de l’environnement interne et externe  - Chaîne de valeur de l’entreprise </a:t>
            </a:r>
          </a:p>
        </p:txBody>
      </p:sp>
      <p:sp>
        <p:nvSpPr>
          <p:cNvPr id="4" name="Espace réservé du pied de page 3"/>
          <p:cNvSpPr>
            <a:spLocks noGrp="1"/>
          </p:cNvSpPr>
          <p:nvPr>
            <p:ph type="ftr" sz="quarter" idx="11"/>
            <p:custDataLst>
              <p:tags r:id="rId2"/>
            </p:custDataLst>
          </p:nvPr>
        </p:nvSpPr>
        <p:spPr/>
        <p:txBody>
          <a:bodyPr/>
          <a:lstStyle/>
          <a:p>
            <a:r>
              <a:rPr lang="fr-CA"/>
              <a:t>(C) HEC montréal</a:t>
            </a:r>
          </a:p>
        </p:txBody>
      </p:sp>
      <p:sp>
        <p:nvSpPr>
          <p:cNvPr id="5" name="Espace réservé du numéro de diapositive 4"/>
          <p:cNvSpPr>
            <a:spLocks noGrp="1"/>
          </p:cNvSpPr>
          <p:nvPr>
            <p:ph type="sldNum" sz="quarter" idx="12"/>
            <p:custDataLst>
              <p:tags r:id="rId3"/>
            </p:custDataLst>
          </p:nvPr>
        </p:nvSpPr>
        <p:spPr/>
        <p:txBody>
          <a:bodyPr/>
          <a:lstStyle/>
          <a:p>
            <a:fld id="{EEB25B09-B9A6-4811-8700-6D36B9CE20D1}" type="slidenum">
              <a:rPr lang="fr-CA" smtClean="0"/>
              <a:t>23</a:t>
            </a:fld>
            <a:endParaRPr lang="fr-CA"/>
          </a:p>
        </p:txBody>
      </p:sp>
      <p:pic>
        <p:nvPicPr>
          <p:cNvPr id="6" name="Espace réservé du contenu 5"/>
          <p:cNvPicPr>
            <a:picLocks noGrp="1" noChangeAspect="1"/>
          </p:cNvPicPr>
          <p:nvPr>
            <p:ph idx="1"/>
            <p:custDataLst>
              <p:tags r:id="rId4"/>
            </p:custDataLst>
          </p:nvPr>
        </p:nvPicPr>
        <p:blipFill rotWithShape="1">
          <a:blip r:embed="rId7"/>
          <a:srcRect r="3339" b="-48"/>
          <a:stretch/>
        </p:blipFill>
        <p:spPr>
          <a:xfrm>
            <a:off x="1513491" y="1846263"/>
            <a:ext cx="8960546" cy="4615732"/>
          </a:xfrm>
          <a:prstGeom prst="rect">
            <a:avLst/>
          </a:prstGeom>
        </p:spPr>
      </p:pic>
    </p:spTree>
    <p:extLst>
      <p:ext uri="{BB962C8B-B14F-4D97-AF65-F5344CB8AC3E}">
        <p14:creationId xmlns:p14="http://schemas.microsoft.com/office/powerpoint/2010/main" val="201477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9F74C0-A0E6-483B-A412-38E8BD301C94}"/>
              </a:ext>
            </a:extLst>
          </p:cNvPr>
          <p:cNvSpPr>
            <a:spLocks noGrp="1"/>
          </p:cNvSpPr>
          <p:nvPr>
            <p:ph type="title"/>
          </p:nvPr>
        </p:nvSpPr>
        <p:spPr/>
        <p:txBody>
          <a:bodyPr/>
          <a:lstStyle/>
          <a:p>
            <a:r>
              <a:rPr lang="fr-CA" dirty="0"/>
              <a:t>Analyse de l’environnement – 5 forces de Porter</a:t>
            </a:r>
          </a:p>
        </p:txBody>
      </p:sp>
      <p:sp>
        <p:nvSpPr>
          <p:cNvPr id="4" name="Espace réservé du pied de page 3">
            <a:extLst>
              <a:ext uri="{FF2B5EF4-FFF2-40B4-BE49-F238E27FC236}">
                <a16:creationId xmlns:a16="http://schemas.microsoft.com/office/drawing/2014/main" id="{AB1CCF09-A268-4080-A743-8D03D0396839}"/>
              </a:ext>
            </a:extLst>
          </p:cNvPr>
          <p:cNvSpPr>
            <a:spLocks noGrp="1"/>
          </p:cNvSpPr>
          <p:nvPr>
            <p:ph type="ftr" sz="quarter" idx="11"/>
          </p:nvPr>
        </p:nvSpPr>
        <p:spPr/>
        <p:txBody>
          <a:bodyPr/>
          <a:lstStyle/>
          <a:p>
            <a:r>
              <a:rPr lang="fr-CA"/>
              <a:t>(C) HEC Montréal</a:t>
            </a:r>
          </a:p>
        </p:txBody>
      </p:sp>
      <p:sp>
        <p:nvSpPr>
          <p:cNvPr id="5" name="Espace réservé du numéro de diapositive 4">
            <a:extLst>
              <a:ext uri="{FF2B5EF4-FFF2-40B4-BE49-F238E27FC236}">
                <a16:creationId xmlns:a16="http://schemas.microsoft.com/office/drawing/2014/main" id="{3C9B94EE-0EA8-49A3-9558-8D05E007835F}"/>
              </a:ext>
            </a:extLst>
          </p:cNvPr>
          <p:cNvSpPr>
            <a:spLocks noGrp="1"/>
          </p:cNvSpPr>
          <p:nvPr>
            <p:ph type="sldNum" sz="quarter" idx="12"/>
          </p:nvPr>
        </p:nvSpPr>
        <p:spPr/>
        <p:txBody>
          <a:bodyPr/>
          <a:lstStyle/>
          <a:p>
            <a:fld id="{EEB25B09-B9A6-4811-8700-6D36B9CE20D1}" type="slidenum">
              <a:rPr lang="fr-CA" smtClean="0"/>
              <a:t>24</a:t>
            </a:fld>
            <a:endParaRPr lang="fr-CA"/>
          </a:p>
        </p:txBody>
      </p:sp>
      <p:graphicFrame>
        <p:nvGraphicFramePr>
          <p:cNvPr id="12" name="Espace réservé du contenu 5">
            <a:extLst>
              <a:ext uri="{FF2B5EF4-FFF2-40B4-BE49-F238E27FC236}">
                <a16:creationId xmlns:a16="http://schemas.microsoft.com/office/drawing/2014/main" id="{556CDDE6-2BA2-4B74-B7F1-709BB33271BC}"/>
              </a:ext>
            </a:extLst>
          </p:cNvPr>
          <p:cNvGraphicFramePr>
            <a:graphicFrameLocks noGrp="1"/>
          </p:cNvGraphicFramePr>
          <p:nvPr>
            <p:ph idx="1"/>
            <p:extLst>
              <p:ext uri="{D42A27DB-BD31-4B8C-83A1-F6EECF244321}">
                <p14:modId xmlns:p14="http://schemas.microsoft.com/office/powerpoint/2010/main" val="1392086276"/>
              </p:ext>
            </p:extLst>
          </p:nvPr>
        </p:nvGraphicFramePr>
        <p:xfrm>
          <a:off x="882728" y="1614418"/>
          <a:ext cx="11095037" cy="50117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034312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94A5DD-3ECA-4CF4-9135-DE925D4199DF}"/>
              </a:ext>
            </a:extLst>
          </p:cNvPr>
          <p:cNvSpPr>
            <a:spLocks noGrp="1"/>
          </p:cNvSpPr>
          <p:nvPr>
            <p:ph type="title"/>
          </p:nvPr>
        </p:nvSpPr>
        <p:spPr/>
        <p:txBody>
          <a:bodyPr/>
          <a:lstStyle/>
          <a:p>
            <a:r>
              <a:rPr lang="fr-CA" dirty="0"/>
              <a:t>Analyse de l’environnement - PESTEL</a:t>
            </a:r>
          </a:p>
        </p:txBody>
      </p:sp>
      <p:graphicFrame>
        <p:nvGraphicFramePr>
          <p:cNvPr id="6" name="Tableau 6">
            <a:extLst>
              <a:ext uri="{FF2B5EF4-FFF2-40B4-BE49-F238E27FC236}">
                <a16:creationId xmlns:a16="http://schemas.microsoft.com/office/drawing/2014/main" id="{F92B0CEE-3814-493D-8439-A4DD4CD4B0CB}"/>
              </a:ext>
            </a:extLst>
          </p:cNvPr>
          <p:cNvGraphicFramePr>
            <a:graphicFrameLocks noGrp="1"/>
          </p:cNvGraphicFramePr>
          <p:nvPr>
            <p:ph idx="1"/>
            <p:extLst>
              <p:ext uri="{D42A27DB-BD31-4B8C-83A1-F6EECF244321}">
                <p14:modId xmlns:p14="http://schemas.microsoft.com/office/powerpoint/2010/main" val="2721805809"/>
              </p:ext>
            </p:extLst>
          </p:nvPr>
        </p:nvGraphicFramePr>
        <p:xfrm>
          <a:off x="122830" y="1893888"/>
          <a:ext cx="11859905" cy="3614928"/>
        </p:xfrm>
        <a:graphic>
          <a:graphicData uri="http://schemas.openxmlformats.org/drawingml/2006/table">
            <a:tbl>
              <a:tblPr firstRow="1" bandRow="1">
                <a:tableStyleId>{5C22544A-7EE6-4342-B048-85BDC9FD1C3A}</a:tableStyleId>
              </a:tblPr>
              <a:tblGrid>
                <a:gridCol w="1976651">
                  <a:extLst>
                    <a:ext uri="{9D8B030D-6E8A-4147-A177-3AD203B41FA5}">
                      <a16:colId xmlns:a16="http://schemas.microsoft.com/office/drawing/2014/main" val="882523586"/>
                    </a:ext>
                  </a:extLst>
                </a:gridCol>
                <a:gridCol w="1976651">
                  <a:extLst>
                    <a:ext uri="{9D8B030D-6E8A-4147-A177-3AD203B41FA5}">
                      <a16:colId xmlns:a16="http://schemas.microsoft.com/office/drawing/2014/main" val="4105872399"/>
                    </a:ext>
                  </a:extLst>
                </a:gridCol>
                <a:gridCol w="1976651">
                  <a:extLst>
                    <a:ext uri="{9D8B030D-6E8A-4147-A177-3AD203B41FA5}">
                      <a16:colId xmlns:a16="http://schemas.microsoft.com/office/drawing/2014/main" val="2642039574"/>
                    </a:ext>
                  </a:extLst>
                </a:gridCol>
                <a:gridCol w="1976651">
                  <a:extLst>
                    <a:ext uri="{9D8B030D-6E8A-4147-A177-3AD203B41FA5}">
                      <a16:colId xmlns:a16="http://schemas.microsoft.com/office/drawing/2014/main" val="4138167154"/>
                    </a:ext>
                  </a:extLst>
                </a:gridCol>
                <a:gridCol w="2120918">
                  <a:extLst>
                    <a:ext uri="{9D8B030D-6E8A-4147-A177-3AD203B41FA5}">
                      <a16:colId xmlns:a16="http://schemas.microsoft.com/office/drawing/2014/main" val="381880218"/>
                    </a:ext>
                  </a:extLst>
                </a:gridCol>
                <a:gridCol w="1832383">
                  <a:extLst>
                    <a:ext uri="{9D8B030D-6E8A-4147-A177-3AD203B41FA5}">
                      <a16:colId xmlns:a16="http://schemas.microsoft.com/office/drawing/2014/main" val="2057927689"/>
                    </a:ext>
                  </a:extLst>
                </a:gridCol>
              </a:tblGrid>
              <a:tr h="1052531">
                <a:tc>
                  <a:txBody>
                    <a:bodyPr/>
                    <a:lstStyle/>
                    <a:p>
                      <a:pPr algn="ctr"/>
                      <a:r>
                        <a:rPr lang="fr-CA" dirty="0"/>
                        <a:t>P</a:t>
                      </a:r>
                    </a:p>
                    <a:p>
                      <a:pPr algn="ctr"/>
                      <a:r>
                        <a:rPr lang="fr-CA" sz="2000" dirty="0"/>
                        <a:t>Politique</a:t>
                      </a:r>
                    </a:p>
                    <a:p>
                      <a:pPr algn="ctr"/>
                      <a:endParaRPr lang="fr-CA" dirty="0"/>
                    </a:p>
                  </a:txBody>
                  <a:tcPr/>
                </a:tc>
                <a:tc>
                  <a:txBody>
                    <a:bodyPr/>
                    <a:lstStyle/>
                    <a:p>
                      <a:pPr algn="ctr"/>
                      <a:r>
                        <a:rPr lang="fr-CA" dirty="0"/>
                        <a:t>E</a:t>
                      </a:r>
                    </a:p>
                    <a:p>
                      <a:pPr algn="ctr"/>
                      <a:r>
                        <a:rPr lang="fr-CA" sz="2000" dirty="0"/>
                        <a:t>Économique</a:t>
                      </a:r>
                    </a:p>
                  </a:txBody>
                  <a:tcPr/>
                </a:tc>
                <a:tc>
                  <a:txBody>
                    <a:bodyPr/>
                    <a:lstStyle/>
                    <a:p>
                      <a:pPr algn="ctr"/>
                      <a:r>
                        <a:rPr lang="fr-CA" dirty="0"/>
                        <a:t>S</a:t>
                      </a:r>
                    </a:p>
                    <a:p>
                      <a:pPr algn="ctr"/>
                      <a:r>
                        <a:rPr lang="fr-CA" sz="2000" dirty="0"/>
                        <a:t>Social</a:t>
                      </a:r>
                    </a:p>
                  </a:txBody>
                  <a:tcPr/>
                </a:tc>
                <a:tc>
                  <a:txBody>
                    <a:bodyPr/>
                    <a:lstStyle/>
                    <a:p>
                      <a:pPr algn="ctr"/>
                      <a:r>
                        <a:rPr lang="fr-CA" dirty="0"/>
                        <a:t>T</a:t>
                      </a:r>
                    </a:p>
                    <a:p>
                      <a:pPr algn="ctr"/>
                      <a:r>
                        <a:rPr lang="fr-CA" sz="1800" dirty="0"/>
                        <a:t>Technologique</a:t>
                      </a:r>
                    </a:p>
                  </a:txBody>
                  <a:tcPr/>
                </a:tc>
                <a:tc>
                  <a:txBody>
                    <a:bodyPr/>
                    <a:lstStyle/>
                    <a:p>
                      <a:pPr algn="ctr"/>
                      <a:r>
                        <a:rPr lang="fr-CA" dirty="0"/>
                        <a:t>E</a:t>
                      </a:r>
                    </a:p>
                    <a:p>
                      <a:pPr algn="ctr"/>
                      <a:r>
                        <a:rPr lang="fr-CA" sz="1800" dirty="0"/>
                        <a:t>Environnemental</a:t>
                      </a:r>
                      <a:r>
                        <a:rPr lang="fr-CA" sz="2000" dirty="0"/>
                        <a:t> </a:t>
                      </a:r>
                    </a:p>
                  </a:txBody>
                  <a:tcPr/>
                </a:tc>
                <a:tc>
                  <a:txBody>
                    <a:bodyPr/>
                    <a:lstStyle/>
                    <a:p>
                      <a:pPr algn="ctr"/>
                      <a:r>
                        <a:rPr lang="fr-CA" dirty="0"/>
                        <a:t>L</a:t>
                      </a:r>
                    </a:p>
                    <a:p>
                      <a:pPr algn="ctr"/>
                      <a:r>
                        <a:rPr lang="fr-CA" sz="2000" dirty="0"/>
                        <a:t>Légal </a:t>
                      </a:r>
                    </a:p>
                  </a:txBody>
                  <a:tcPr/>
                </a:tc>
                <a:extLst>
                  <a:ext uri="{0D108BD9-81ED-4DB2-BD59-A6C34878D82A}">
                    <a16:rowId xmlns:a16="http://schemas.microsoft.com/office/drawing/2014/main" val="3387187411"/>
                  </a:ext>
                </a:extLst>
              </a:tr>
              <a:tr h="2007718">
                <a:tc>
                  <a:txBody>
                    <a:bodyPr/>
                    <a:lstStyle/>
                    <a:p>
                      <a:r>
                        <a:rPr lang="fr-CA" sz="1800" dirty="0"/>
                        <a:t>Stabilité</a:t>
                      </a:r>
                    </a:p>
                    <a:p>
                      <a:r>
                        <a:rPr lang="fr-CA" sz="1800" dirty="0"/>
                        <a:t>Corruption</a:t>
                      </a:r>
                    </a:p>
                    <a:p>
                      <a:r>
                        <a:rPr lang="fr-CA" sz="1800" dirty="0"/>
                        <a:t>Fiscalité</a:t>
                      </a:r>
                    </a:p>
                    <a:p>
                      <a:r>
                        <a:rPr lang="fr-CA" sz="1800" dirty="0"/>
                        <a:t>Liberté de presse</a:t>
                      </a:r>
                    </a:p>
                    <a:p>
                      <a:r>
                        <a:rPr lang="fr-CA" sz="1800" dirty="0"/>
                        <a:t>Réglementation </a:t>
                      </a:r>
                    </a:p>
                    <a:p>
                      <a:r>
                        <a:rPr lang="fr-CA" sz="1800" dirty="0"/>
                        <a:t>Règles de concurrence</a:t>
                      </a:r>
                    </a:p>
                    <a:p>
                      <a:r>
                        <a:rPr lang="fr-CA" sz="1800" dirty="0"/>
                        <a:t>Budgets publics</a:t>
                      </a:r>
                    </a:p>
                    <a:p>
                      <a:r>
                        <a:rPr lang="fr-CA" sz="1800" dirty="0"/>
                        <a:t>Tarifs douaniers</a:t>
                      </a:r>
                    </a:p>
                  </a:txBody>
                  <a:tcPr/>
                </a:tc>
                <a:tc>
                  <a:txBody>
                    <a:bodyPr/>
                    <a:lstStyle/>
                    <a:p>
                      <a:r>
                        <a:rPr lang="fr-CA" sz="1600" dirty="0"/>
                        <a:t>Taux d’intérêts</a:t>
                      </a:r>
                    </a:p>
                    <a:p>
                      <a:r>
                        <a:rPr lang="fr-CA" sz="1600" dirty="0"/>
                        <a:t>Inflation</a:t>
                      </a:r>
                    </a:p>
                    <a:p>
                      <a:r>
                        <a:rPr lang="fr-CA" sz="1600" dirty="0"/>
                        <a:t>Taux de change</a:t>
                      </a:r>
                    </a:p>
                    <a:p>
                      <a:r>
                        <a:rPr lang="fr-CA" sz="1600" dirty="0"/>
                        <a:t>Taux de croissance</a:t>
                      </a:r>
                    </a:p>
                    <a:p>
                      <a:r>
                        <a:rPr lang="fr-CA" sz="1600" dirty="0"/>
                        <a:t>Fluctuation des prix</a:t>
                      </a:r>
                    </a:p>
                    <a:p>
                      <a:r>
                        <a:rPr lang="fr-CA" sz="1600" dirty="0"/>
                        <a:t>PIB</a:t>
                      </a:r>
                    </a:p>
                    <a:p>
                      <a:r>
                        <a:rPr lang="fr-CA" sz="1600" dirty="0"/>
                        <a:t>Taux de chômage</a:t>
                      </a:r>
                    </a:p>
                  </a:txBody>
                  <a:tcPr/>
                </a:tc>
                <a:tc>
                  <a:txBody>
                    <a:bodyPr/>
                    <a:lstStyle/>
                    <a:p>
                      <a:r>
                        <a:rPr lang="fr-CA" sz="1600" dirty="0"/>
                        <a:t>Éducation</a:t>
                      </a:r>
                    </a:p>
                    <a:p>
                      <a:r>
                        <a:rPr lang="fr-CA" sz="1600" dirty="0"/>
                        <a:t>Immigration</a:t>
                      </a:r>
                    </a:p>
                    <a:p>
                      <a:r>
                        <a:rPr lang="fr-CA" sz="1600" dirty="0"/>
                        <a:t>Natalité</a:t>
                      </a:r>
                    </a:p>
                    <a:p>
                      <a:r>
                        <a:rPr lang="fr-CA" sz="1600" dirty="0"/>
                        <a:t>Démographie</a:t>
                      </a:r>
                    </a:p>
                    <a:p>
                      <a:r>
                        <a:rPr lang="fr-CA" sz="1600" dirty="0"/>
                        <a:t>Habitudes de vie</a:t>
                      </a:r>
                    </a:p>
                    <a:p>
                      <a:r>
                        <a:rPr lang="fr-CA" sz="1600" dirty="0"/>
                        <a:t>Habitudes d’achat</a:t>
                      </a:r>
                    </a:p>
                    <a:p>
                      <a:r>
                        <a:rPr lang="fr-CA" sz="1600" dirty="0"/>
                        <a:t>Répartition de la richesse</a:t>
                      </a:r>
                    </a:p>
                    <a:p>
                      <a:r>
                        <a:rPr lang="fr-CA" sz="1600" dirty="0"/>
                        <a:t>Santé</a:t>
                      </a:r>
                    </a:p>
                    <a:p>
                      <a:r>
                        <a:rPr lang="fr-CA" sz="1600" dirty="0"/>
                        <a:t>Culture</a:t>
                      </a:r>
                    </a:p>
                  </a:txBody>
                  <a:tcPr/>
                </a:tc>
                <a:tc>
                  <a:txBody>
                    <a:bodyPr/>
                    <a:lstStyle/>
                    <a:p>
                      <a:r>
                        <a:rPr lang="fr-CA" sz="1600" dirty="0"/>
                        <a:t>Évolution techno</a:t>
                      </a:r>
                    </a:p>
                    <a:p>
                      <a:r>
                        <a:rPr lang="fr-CA" sz="1600" dirty="0"/>
                        <a:t>Recherche et développement</a:t>
                      </a:r>
                    </a:p>
                    <a:p>
                      <a:r>
                        <a:rPr lang="fr-CA" sz="1600" dirty="0"/>
                        <a:t>Accès aux technologies</a:t>
                      </a:r>
                    </a:p>
                    <a:p>
                      <a:r>
                        <a:rPr lang="fr-CA" sz="1600" dirty="0"/>
                        <a:t>Infrastructures</a:t>
                      </a:r>
                    </a:p>
                    <a:p>
                      <a:r>
                        <a:rPr lang="fr-CA" sz="1600" dirty="0"/>
                        <a:t>Innovation</a:t>
                      </a:r>
                    </a:p>
                  </a:txBody>
                  <a:tcPr/>
                </a:tc>
                <a:tc>
                  <a:txBody>
                    <a:bodyPr/>
                    <a:lstStyle/>
                    <a:p>
                      <a:r>
                        <a:rPr lang="fr-CA" sz="1600" dirty="0"/>
                        <a:t>Politiques environnementales</a:t>
                      </a:r>
                    </a:p>
                    <a:p>
                      <a:r>
                        <a:rPr lang="fr-CA" sz="1600" dirty="0"/>
                        <a:t>Météo</a:t>
                      </a:r>
                    </a:p>
                    <a:p>
                      <a:r>
                        <a:rPr lang="fr-CA" sz="1600" dirty="0"/>
                        <a:t>Climat</a:t>
                      </a:r>
                    </a:p>
                    <a:p>
                      <a:r>
                        <a:rPr lang="fr-CA" sz="1600" dirty="0"/>
                        <a:t>Catastrophe</a:t>
                      </a:r>
                    </a:p>
                    <a:p>
                      <a:r>
                        <a:rPr lang="fr-CA" sz="1600" dirty="0"/>
                        <a:t>Pollution</a:t>
                      </a:r>
                    </a:p>
                    <a:p>
                      <a:r>
                        <a:rPr lang="fr-CA" sz="1600" dirty="0"/>
                        <a:t>Recyclage</a:t>
                      </a:r>
                    </a:p>
                  </a:txBody>
                  <a:tcPr/>
                </a:tc>
                <a:tc>
                  <a:txBody>
                    <a:bodyPr/>
                    <a:lstStyle/>
                    <a:p>
                      <a:r>
                        <a:rPr lang="fr-CA" sz="1600" dirty="0"/>
                        <a:t>Droit du travail</a:t>
                      </a:r>
                    </a:p>
                    <a:p>
                      <a:r>
                        <a:rPr lang="fr-CA" sz="1600" dirty="0"/>
                        <a:t>Lois en vigueur</a:t>
                      </a:r>
                    </a:p>
                    <a:p>
                      <a:r>
                        <a:rPr lang="fr-CA" sz="1600" dirty="0"/>
                        <a:t>Droits d’auteur</a:t>
                      </a:r>
                    </a:p>
                    <a:p>
                      <a:r>
                        <a:rPr lang="fr-CA" sz="1600" dirty="0"/>
                        <a:t>Protection du consommateur</a:t>
                      </a:r>
                    </a:p>
                    <a:p>
                      <a:endParaRPr lang="fr-CA" sz="1600" dirty="0"/>
                    </a:p>
                  </a:txBody>
                  <a:tcPr/>
                </a:tc>
                <a:extLst>
                  <a:ext uri="{0D108BD9-81ED-4DB2-BD59-A6C34878D82A}">
                    <a16:rowId xmlns:a16="http://schemas.microsoft.com/office/drawing/2014/main" val="2141628266"/>
                  </a:ext>
                </a:extLst>
              </a:tr>
            </a:tbl>
          </a:graphicData>
        </a:graphic>
      </p:graphicFrame>
      <p:sp>
        <p:nvSpPr>
          <p:cNvPr id="4" name="Espace réservé du pied de page 3">
            <a:extLst>
              <a:ext uri="{FF2B5EF4-FFF2-40B4-BE49-F238E27FC236}">
                <a16:creationId xmlns:a16="http://schemas.microsoft.com/office/drawing/2014/main" id="{47641448-2AC2-410E-87AB-BC5572125214}"/>
              </a:ext>
            </a:extLst>
          </p:cNvPr>
          <p:cNvSpPr>
            <a:spLocks noGrp="1"/>
          </p:cNvSpPr>
          <p:nvPr>
            <p:ph type="ftr" sz="quarter" idx="11"/>
          </p:nvPr>
        </p:nvSpPr>
        <p:spPr/>
        <p:txBody>
          <a:bodyPr/>
          <a:lstStyle/>
          <a:p>
            <a:r>
              <a:rPr lang="fr-CA"/>
              <a:t>(C) HEC Montréal</a:t>
            </a:r>
          </a:p>
        </p:txBody>
      </p:sp>
      <p:sp>
        <p:nvSpPr>
          <p:cNvPr id="5" name="Espace réservé du numéro de diapositive 4">
            <a:extLst>
              <a:ext uri="{FF2B5EF4-FFF2-40B4-BE49-F238E27FC236}">
                <a16:creationId xmlns:a16="http://schemas.microsoft.com/office/drawing/2014/main" id="{99BAB7EE-9514-46D0-B22F-A43920FF87A6}"/>
              </a:ext>
            </a:extLst>
          </p:cNvPr>
          <p:cNvSpPr>
            <a:spLocks noGrp="1"/>
          </p:cNvSpPr>
          <p:nvPr>
            <p:ph type="sldNum" sz="quarter" idx="12"/>
          </p:nvPr>
        </p:nvSpPr>
        <p:spPr/>
        <p:txBody>
          <a:bodyPr/>
          <a:lstStyle/>
          <a:p>
            <a:fld id="{EEB25B09-B9A6-4811-8700-6D36B9CE20D1}" type="slidenum">
              <a:rPr lang="fr-CA" smtClean="0"/>
              <a:t>25</a:t>
            </a:fld>
            <a:endParaRPr lang="fr-CA"/>
          </a:p>
        </p:txBody>
      </p:sp>
    </p:spTree>
    <p:extLst>
      <p:ext uri="{BB962C8B-B14F-4D97-AF65-F5344CB8AC3E}">
        <p14:creationId xmlns:p14="http://schemas.microsoft.com/office/powerpoint/2010/main" val="42268182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Analyser l’environnement et l’industrie – Le cycle de vie du secteur d’activité</a:t>
            </a:r>
          </a:p>
        </p:txBody>
      </p:sp>
      <p:sp>
        <p:nvSpPr>
          <p:cNvPr id="4" name="Espace réservé du pied de page 3"/>
          <p:cNvSpPr>
            <a:spLocks noGrp="1"/>
          </p:cNvSpPr>
          <p:nvPr>
            <p:ph type="ftr" sz="quarter" idx="11"/>
          </p:nvPr>
        </p:nvSpPr>
        <p:spPr/>
        <p:txBody>
          <a:bodyPr/>
          <a:lstStyle/>
          <a:p>
            <a:r>
              <a:rPr lang="fr-CA"/>
              <a:t>(C) HEC montréal</a:t>
            </a:r>
          </a:p>
        </p:txBody>
      </p:sp>
      <p:sp>
        <p:nvSpPr>
          <p:cNvPr id="5" name="Espace réservé du numéro de diapositive 4"/>
          <p:cNvSpPr>
            <a:spLocks noGrp="1"/>
          </p:cNvSpPr>
          <p:nvPr>
            <p:ph type="sldNum" sz="quarter" idx="12"/>
          </p:nvPr>
        </p:nvSpPr>
        <p:spPr/>
        <p:txBody>
          <a:bodyPr/>
          <a:lstStyle/>
          <a:p>
            <a:fld id="{EEB25B09-B9A6-4811-8700-6D36B9CE20D1}" type="slidenum">
              <a:rPr lang="fr-CA" smtClean="0"/>
              <a:t>26</a:t>
            </a:fld>
            <a:endParaRPr lang="fr-CA"/>
          </a:p>
        </p:txBody>
      </p:sp>
      <p:sp>
        <p:nvSpPr>
          <p:cNvPr id="13" name="Espace réservé du contenu 12"/>
          <p:cNvSpPr>
            <a:spLocks noGrp="1"/>
          </p:cNvSpPr>
          <p:nvPr>
            <p:ph idx="1"/>
          </p:nvPr>
        </p:nvSpPr>
        <p:spPr>
          <a:xfrm>
            <a:off x="1247040" y="1811182"/>
            <a:ext cx="10058400" cy="4023360"/>
          </a:xfrm>
        </p:spPr>
        <p:txBody>
          <a:bodyPr>
            <a:normAutofit/>
          </a:bodyPr>
          <a:lstStyle/>
          <a:p>
            <a:r>
              <a:rPr lang="fr-CA" sz="3200" dirty="0"/>
              <a:t>Cycle de vie du secteur d’activité</a:t>
            </a:r>
          </a:p>
        </p:txBody>
      </p:sp>
      <p:cxnSp>
        <p:nvCxnSpPr>
          <p:cNvPr id="15" name="Connecteur droit 14"/>
          <p:cNvCxnSpPr/>
          <p:nvPr/>
        </p:nvCxnSpPr>
        <p:spPr>
          <a:xfrm>
            <a:off x="3058510" y="2601310"/>
            <a:ext cx="0" cy="2648607"/>
          </a:xfrm>
          <a:prstGeom prst="line">
            <a:avLst/>
          </a:prstGeom>
        </p:spPr>
        <p:style>
          <a:lnRef idx="1">
            <a:schemeClr val="dk1"/>
          </a:lnRef>
          <a:fillRef idx="0">
            <a:schemeClr val="dk1"/>
          </a:fillRef>
          <a:effectRef idx="0">
            <a:schemeClr val="dk1"/>
          </a:effectRef>
          <a:fontRef idx="minor">
            <a:schemeClr val="tx1"/>
          </a:fontRef>
        </p:style>
      </p:cxnSp>
      <p:cxnSp>
        <p:nvCxnSpPr>
          <p:cNvPr id="17" name="Connecteur droit 16"/>
          <p:cNvCxnSpPr/>
          <p:nvPr/>
        </p:nvCxnSpPr>
        <p:spPr>
          <a:xfrm>
            <a:off x="3074276" y="5265683"/>
            <a:ext cx="6290441" cy="31531"/>
          </a:xfrm>
          <a:prstGeom prst="line">
            <a:avLst/>
          </a:prstGeom>
        </p:spPr>
        <p:style>
          <a:lnRef idx="1">
            <a:schemeClr val="dk1"/>
          </a:lnRef>
          <a:fillRef idx="0">
            <a:schemeClr val="dk1"/>
          </a:fillRef>
          <a:effectRef idx="0">
            <a:schemeClr val="dk1"/>
          </a:effectRef>
          <a:fontRef idx="minor">
            <a:schemeClr val="tx1"/>
          </a:fontRef>
        </p:style>
      </p:cxnSp>
      <p:sp>
        <p:nvSpPr>
          <p:cNvPr id="18" name="ZoneTexte 17"/>
          <p:cNvSpPr txBox="1"/>
          <p:nvPr/>
        </p:nvSpPr>
        <p:spPr>
          <a:xfrm>
            <a:off x="1765738" y="2853559"/>
            <a:ext cx="1150883" cy="923330"/>
          </a:xfrm>
          <a:prstGeom prst="rect">
            <a:avLst/>
          </a:prstGeom>
          <a:noFill/>
        </p:spPr>
        <p:txBody>
          <a:bodyPr wrap="square" rtlCol="0">
            <a:spAutoFit/>
          </a:bodyPr>
          <a:lstStyle/>
          <a:p>
            <a:r>
              <a:rPr lang="fr-CA" dirty="0"/>
              <a:t>Chiffre d’affaires</a:t>
            </a:r>
          </a:p>
          <a:p>
            <a:endParaRPr lang="fr-CA" dirty="0"/>
          </a:p>
        </p:txBody>
      </p:sp>
      <p:sp>
        <p:nvSpPr>
          <p:cNvPr id="19" name="ZoneTexte 18"/>
          <p:cNvSpPr txBox="1"/>
          <p:nvPr/>
        </p:nvSpPr>
        <p:spPr>
          <a:xfrm>
            <a:off x="9354828" y="5065251"/>
            <a:ext cx="1797556" cy="369332"/>
          </a:xfrm>
          <a:prstGeom prst="rect">
            <a:avLst/>
          </a:prstGeom>
          <a:noFill/>
        </p:spPr>
        <p:txBody>
          <a:bodyPr wrap="square" rtlCol="0">
            <a:spAutoFit/>
          </a:bodyPr>
          <a:lstStyle/>
          <a:p>
            <a:r>
              <a:rPr lang="fr-CA" dirty="0"/>
              <a:t>Temps </a:t>
            </a:r>
          </a:p>
        </p:txBody>
      </p:sp>
      <p:sp>
        <p:nvSpPr>
          <p:cNvPr id="21" name="Forme libre 20"/>
          <p:cNvSpPr/>
          <p:nvPr/>
        </p:nvSpPr>
        <p:spPr>
          <a:xfrm>
            <a:off x="3468414" y="3138669"/>
            <a:ext cx="5511813" cy="1512159"/>
          </a:xfrm>
          <a:custGeom>
            <a:avLst/>
            <a:gdLst>
              <a:gd name="connsiteX0" fmla="*/ 0 w 5615652"/>
              <a:gd name="connsiteY0" fmla="*/ 1512159 h 1512159"/>
              <a:gd name="connsiteX1" fmla="*/ 2995448 w 5615652"/>
              <a:gd name="connsiteY1" fmla="*/ 14434 h 1512159"/>
              <a:gd name="connsiteX2" fmla="*/ 5376041 w 5615652"/>
              <a:gd name="connsiteY2" fmla="*/ 755414 h 1512159"/>
              <a:gd name="connsiteX3" fmla="*/ 5407572 w 5615652"/>
              <a:gd name="connsiteY3" fmla="*/ 786945 h 1512159"/>
            </a:gdLst>
            <a:ahLst/>
            <a:cxnLst>
              <a:cxn ang="0">
                <a:pos x="connsiteX0" y="connsiteY0"/>
              </a:cxn>
              <a:cxn ang="0">
                <a:pos x="connsiteX1" y="connsiteY1"/>
              </a:cxn>
              <a:cxn ang="0">
                <a:pos x="connsiteX2" y="connsiteY2"/>
              </a:cxn>
              <a:cxn ang="0">
                <a:pos x="connsiteX3" y="connsiteY3"/>
              </a:cxn>
            </a:cxnLst>
            <a:rect l="l" t="t" r="r" b="b"/>
            <a:pathLst>
              <a:path w="5615652" h="1512159">
                <a:moveTo>
                  <a:pt x="0" y="1512159"/>
                </a:moveTo>
                <a:cubicBezTo>
                  <a:pt x="1049720" y="826358"/>
                  <a:pt x="2099441" y="140558"/>
                  <a:pt x="2995448" y="14434"/>
                </a:cubicBezTo>
                <a:cubicBezTo>
                  <a:pt x="3891455" y="-111690"/>
                  <a:pt x="4974021" y="626662"/>
                  <a:pt x="5376041" y="755414"/>
                </a:cubicBezTo>
                <a:cubicBezTo>
                  <a:pt x="5778061" y="884166"/>
                  <a:pt x="5592816" y="835555"/>
                  <a:pt x="5407572" y="78694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22" name="ZoneTexte 21"/>
          <p:cNvSpPr txBox="1"/>
          <p:nvPr/>
        </p:nvSpPr>
        <p:spPr>
          <a:xfrm>
            <a:off x="3058510" y="4657498"/>
            <a:ext cx="2522483" cy="369332"/>
          </a:xfrm>
          <a:prstGeom prst="rect">
            <a:avLst/>
          </a:prstGeom>
          <a:noFill/>
        </p:spPr>
        <p:txBody>
          <a:bodyPr wrap="square" rtlCol="0">
            <a:spAutoFit/>
          </a:bodyPr>
          <a:lstStyle/>
          <a:p>
            <a:r>
              <a:rPr lang="fr-CA" dirty="0"/>
              <a:t>Introduction</a:t>
            </a:r>
          </a:p>
        </p:txBody>
      </p:sp>
      <p:sp>
        <p:nvSpPr>
          <p:cNvPr id="23" name="ZoneTexte 22"/>
          <p:cNvSpPr txBox="1"/>
          <p:nvPr/>
        </p:nvSpPr>
        <p:spPr>
          <a:xfrm>
            <a:off x="3603997" y="3488082"/>
            <a:ext cx="2522483" cy="369332"/>
          </a:xfrm>
          <a:prstGeom prst="rect">
            <a:avLst/>
          </a:prstGeom>
          <a:noFill/>
        </p:spPr>
        <p:txBody>
          <a:bodyPr wrap="square" rtlCol="0">
            <a:spAutoFit/>
          </a:bodyPr>
          <a:lstStyle/>
          <a:p>
            <a:r>
              <a:rPr lang="fr-CA" dirty="0"/>
              <a:t>Croissance</a:t>
            </a:r>
          </a:p>
        </p:txBody>
      </p:sp>
      <p:sp>
        <p:nvSpPr>
          <p:cNvPr id="24" name="ZoneTexte 23"/>
          <p:cNvSpPr txBox="1"/>
          <p:nvPr/>
        </p:nvSpPr>
        <p:spPr>
          <a:xfrm>
            <a:off x="5874232" y="2660963"/>
            <a:ext cx="2522483" cy="369332"/>
          </a:xfrm>
          <a:prstGeom prst="rect">
            <a:avLst/>
          </a:prstGeom>
          <a:noFill/>
        </p:spPr>
        <p:txBody>
          <a:bodyPr wrap="square" rtlCol="0">
            <a:spAutoFit/>
          </a:bodyPr>
          <a:lstStyle/>
          <a:p>
            <a:r>
              <a:rPr lang="fr-CA" dirty="0"/>
              <a:t>Maturité</a:t>
            </a:r>
          </a:p>
        </p:txBody>
      </p:sp>
      <p:sp>
        <p:nvSpPr>
          <p:cNvPr id="25" name="ZoneTexte 24"/>
          <p:cNvSpPr txBox="1"/>
          <p:nvPr/>
        </p:nvSpPr>
        <p:spPr>
          <a:xfrm>
            <a:off x="7731123" y="3832558"/>
            <a:ext cx="2522483" cy="369332"/>
          </a:xfrm>
          <a:prstGeom prst="rect">
            <a:avLst/>
          </a:prstGeom>
          <a:noFill/>
        </p:spPr>
        <p:txBody>
          <a:bodyPr wrap="square" rtlCol="0">
            <a:spAutoFit/>
          </a:bodyPr>
          <a:lstStyle/>
          <a:p>
            <a:r>
              <a:rPr lang="fr-CA" dirty="0"/>
              <a:t>Déclin</a:t>
            </a:r>
          </a:p>
        </p:txBody>
      </p:sp>
      <p:sp>
        <p:nvSpPr>
          <p:cNvPr id="26" name="ZoneTexte 25"/>
          <p:cNvSpPr txBox="1"/>
          <p:nvPr/>
        </p:nvSpPr>
        <p:spPr>
          <a:xfrm>
            <a:off x="3074276" y="5312810"/>
            <a:ext cx="3052204" cy="400110"/>
          </a:xfrm>
          <a:prstGeom prst="rect">
            <a:avLst/>
          </a:prstGeom>
          <a:solidFill>
            <a:schemeClr val="accent1">
              <a:lumMod val="40000"/>
              <a:lumOff val="60000"/>
            </a:schemeClr>
          </a:solidFill>
        </p:spPr>
        <p:txBody>
          <a:bodyPr wrap="square" rtlCol="0">
            <a:spAutoFit/>
          </a:bodyPr>
          <a:lstStyle/>
          <a:p>
            <a:pPr algn="ctr"/>
            <a:r>
              <a:rPr lang="fr-CA" sz="2000" b="1" dirty="0"/>
              <a:t>Fragmenté</a:t>
            </a:r>
            <a:endParaRPr lang="fr-CA" b="1" dirty="0"/>
          </a:p>
        </p:txBody>
      </p:sp>
      <p:sp>
        <p:nvSpPr>
          <p:cNvPr id="27" name="ZoneTexte 26"/>
          <p:cNvSpPr txBox="1"/>
          <p:nvPr/>
        </p:nvSpPr>
        <p:spPr>
          <a:xfrm>
            <a:off x="6128044" y="5316003"/>
            <a:ext cx="3052204" cy="400110"/>
          </a:xfrm>
          <a:prstGeom prst="rect">
            <a:avLst/>
          </a:prstGeom>
          <a:solidFill>
            <a:schemeClr val="accent1">
              <a:lumMod val="75000"/>
            </a:schemeClr>
          </a:solidFill>
        </p:spPr>
        <p:txBody>
          <a:bodyPr wrap="square" rtlCol="0">
            <a:spAutoFit/>
          </a:bodyPr>
          <a:lstStyle/>
          <a:p>
            <a:pPr algn="ctr"/>
            <a:r>
              <a:rPr lang="fr-CA" sz="2000" b="1" dirty="0"/>
              <a:t>Concentré</a:t>
            </a:r>
            <a:endParaRPr lang="fr-CA" b="1" dirty="0"/>
          </a:p>
        </p:txBody>
      </p:sp>
      <p:cxnSp>
        <p:nvCxnSpPr>
          <p:cNvPr id="29" name="Connecteur droit avec flèche 28"/>
          <p:cNvCxnSpPr/>
          <p:nvPr/>
        </p:nvCxnSpPr>
        <p:spPr>
          <a:xfrm>
            <a:off x="3074276" y="5834542"/>
            <a:ext cx="6009790" cy="0"/>
          </a:xfrm>
          <a:prstGeom prst="straightConnector1">
            <a:avLst/>
          </a:prstGeom>
          <a:ln w="57150">
            <a:solidFill>
              <a:schemeClr val="accent1"/>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656206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48C577-85B8-465B-98EB-3BBDED2C018B}"/>
              </a:ext>
            </a:extLst>
          </p:cNvPr>
          <p:cNvSpPr>
            <a:spLocks noGrp="1"/>
          </p:cNvSpPr>
          <p:nvPr>
            <p:ph type="title"/>
          </p:nvPr>
        </p:nvSpPr>
        <p:spPr/>
        <p:txBody>
          <a:bodyPr/>
          <a:lstStyle/>
          <a:p>
            <a:r>
              <a:rPr lang="fr-CA" dirty="0"/>
              <a:t>Analyse financière</a:t>
            </a:r>
          </a:p>
        </p:txBody>
      </p:sp>
      <p:sp>
        <p:nvSpPr>
          <p:cNvPr id="3" name="Espace réservé du texte 2">
            <a:extLst>
              <a:ext uri="{FF2B5EF4-FFF2-40B4-BE49-F238E27FC236}">
                <a16:creationId xmlns:a16="http://schemas.microsoft.com/office/drawing/2014/main" id="{009448EC-74B8-468F-AD75-D29D67157E9A}"/>
              </a:ext>
            </a:extLst>
          </p:cNvPr>
          <p:cNvSpPr>
            <a:spLocks noGrp="1"/>
          </p:cNvSpPr>
          <p:nvPr>
            <p:ph type="body" idx="1"/>
          </p:nvPr>
        </p:nvSpPr>
        <p:spPr/>
        <p:txBody>
          <a:bodyPr/>
          <a:lstStyle/>
          <a:p>
            <a:endParaRPr lang="fr-CA"/>
          </a:p>
        </p:txBody>
      </p:sp>
      <p:sp>
        <p:nvSpPr>
          <p:cNvPr id="4" name="Espace réservé du numéro de diapositive 3">
            <a:extLst>
              <a:ext uri="{FF2B5EF4-FFF2-40B4-BE49-F238E27FC236}">
                <a16:creationId xmlns:a16="http://schemas.microsoft.com/office/drawing/2014/main" id="{CEAE1270-00BD-455D-B566-DE56D6689841}"/>
              </a:ext>
            </a:extLst>
          </p:cNvPr>
          <p:cNvSpPr>
            <a:spLocks noGrp="1"/>
          </p:cNvSpPr>
          <p:nvPr>
            <p:ph type="sldNum" sz="quarter" idx="12"/>
          </p:nvPr>
        </p:nvSpPr>
        <p:spPr/>
        <p:txBody>
          <a:bodyPr/>
          <a:lstStyle/>
          <a:p>
            <a:fld id="{EEB25B09-B9A6-4811-8700-6D36B9CE20D1}" type="slidenum">
              <a:rPr lang="fr-CA" smtClean="0"/>
              <a:t>27</a:t>
            </a:fld>
            <a:endParaRPr lang="fr-CA"/>
          </a:p>
        </p:txBody>
      </p:sp>
      <p:sp>
        <p:nvSpPr>
          <p:cNvPr id="5" name="Espace réservé du pied de page 4">
            <a:extLst>
              <a:ext uri="{FF2B5EF4-FFF2-40B4-BE49-F238E27FC236}">
                <a16:creationId xmlns:a16="http://schemas.microsoft.com/office/drawing/2014/main" id="{03D15A03-5BE3-4F7A-A0BF-FA30E6429C4B}"/>
              </a:ext>
            </a:extLst>
          </p:cNvPr>
          <p:cNvSpPr>
            <a:spLocks noGrp="1"/>
          </p:cNvSpPr>
          <p:nvPr>
            <p:ph type="ftr" sz="quarter" idx="14"/>
          </p:nvPr>
        </p:nvSpPr>
        <p:spPr/>
        <p:txBody>
          <a:bodyPr/>
          <a:lstStyle/>
          <a:p>
            <a:r>
              <a:rPr lang="fr-CA"/>
              <a:t>(C) HEC Montréal</a:t>
            </a:r>
          </a:p>
        </p:txBody>
      </p:sp>
    </p:spTree>
    <p:extLst>
      <p:ext uri="{BB962C8B-B14F-4D97-AF65-F5344CB8AC3E}">
        <p14:creationId xmlns:p14="http://schemas.microsoft.com/office/powerpoint/2010/main" val="25152172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Analyse financière</a:t>
            </a:r>
          </a:p>
        </p:txBody>
      </p:sp>
      <p:sp>
        <p:nvSpPr>
          <p:cNvPr id="3" name="Espace réservé du contenu 2"/>
          <p:cNvSpPr>
            <a:spLocks noGrp="1"/>
          </p:cNvSpPr>
          <p:nvPr>
            <p:ph idx="1"/>
          </p:nvPr>
        </p:nvSpPr>
        <p:spPr/>
        <p:txBody>
          <a:bodyPr>
            <a:noAutofit/>
          </a:bodyPr>
          <a:lstStyle/>
          <a:p>
            <a:pPr>
              <a:buFont typeface="Wingdings" panose="05000000000000000000" pitchFamily="2" charset="2"/>
              <a:buChar char="§"/>
            </a:pPr>
            <a:r>
              <a:rPr lang="fr-CA" sz="2400" b="1" dirty="0"/>
              <a:t>Objectif : </a:t>
            </a:r>
            <a:r>
              <a:rPr lang="fr-CA" sz="2400" dirty="0"/>
              <a:t>Établir un diagnostic financier de l’entreprise. </a:t>
            </a:r>
          </a:p>
          <a:p>
            <a:pPr>
              <a:buFont typeface="Wingdings" panose="05000000000000000000" pitchFamily="2" charset="2"/>
              <a:buChar char="§"/>
            </a:pPr>
            <a:endParaRPr lang="fr-CA" sz="2400" dirty="0"/>
          </a:p>
          <a:p>
            <a:pPr>
              <a:buFont typeface="Wingdings" panose="05000000000000000000" pitchFamily="2" charset="2"/>
              <a:buChar char="§"/>
            </a:pPr>
            <a:r>
              <a:rPr lang="fr-CA" sz="2400" dirty="0"/>
              <a:t>Quels ont été les impacts des décisions passées sur la situation financière de l’organisation?</a:t>
            </a:r>
          </a:p>
          <a:p>
            <a:pPr>
              <a:buFont typeface="Wingdings" panose="05000000000000000000" pitchFamily="2" charset="2"/>
              <a:buChar char="§"/>
            </a:pPr>
            <a:r>
              <a:rPr lang="fr-CA" sz="2400" dirty="0"/>
              <a:t>L’entreprise est-elle dans une situation financière qui lui permettra de mettre en œuvre les projets analysés?</a:t>
            </a:r>
          </a:p>
          <a:p>
            <a:pPr>
              <a:buFont typeface="Wingdings" panose="05000000000000000000" pitchFamily="2" charset="2"/>
              <a:buChar char="§"/>
            </a:pPr>
            <a:r>
              <a:rPr lang="fr-CA" sz="2400" dirty="0"/>
              <a:t>Est-ce que la direction doit porter une attention particulière à une problématique financière?</a:t>
            </a:r>
          </a:p>
          <a:p>
            <a:pPr>
              <a:buFont typeface="Wingdings" panose="05000000000000000000" pitchFamily="2" charset="2"/>
              <a:buChar char="§"/>
            </a:pPr>
            <a:endParaRPr lang="fr-CA" dirty="0"/>
          </a:p>
          <a:p>
            <a:pPr marL="358560" lvl="1" indent="0">
              <a:buNone/>
            </a:pPr>
            <a:endParaRPr lang="fr-CA" sz="1600" dirty="0"/>
          </a:p>
          <a:p>
            <a:pPr marL="0" indent="0">
              <a:buNone/>
            </a:pPr>
            <a:endParaRPr lang="fr-CA" sz="2400" dirty="0"/>
          </a:p>
          <a:p>
            <a:pPr>
              <a:buFont typeface="Wingdings" panose="05000000000000000000" pitchFamily="2" charset="2"/>
              <a:buChar char="§"/>
            </a:pPr>
            <a:endParaRPr lang="fr-CA" sz="2400" dirty="0"/>
          </a:p>
        </p:txBody>
      </p:sp>
      <p:sp>
        <p:nvSpPr>
          <p:cNvPr id="4" name="Espace réservé du pied de page 3"/>
          <p:cNvSpPr>
            <a:spLocks noGrp="1"/>
          </p:cNvSpPr>
          <p:nvPr>
            <p:ph type="ftr" sz="quarter" idx="11"/>
          </p:nvPr>
        </p:nvSpPr>
        <p:spPr/>
        <p:txBody>
          <a:bodyPr/>
          <a:lstStyle/>
          <a:p>
            <a:r>
              <a:rPr lang="fr-CA"/>
              <a:t>(C) HEC montréal</a:t>
            </a:r>
          </a:p>
        </p:txBody>
      </p:sp>
      <p:sp>
        <p:nvSpPr>
          <p:cNvPr id="5" name="Espace réservé du numéro de diapositive 4"/>
          <p:cNvSpPr>
            <a:spLocks noGrp="1"/>
          </p:cNvSpPr>
          <p:nvPr>
            <p:ph type="sldNum" sz="quarter" idx="12"/>
          </p:nvPr>
        </p:nvSpPr>
        <p:spPr/>
        <p:txBody>
          <a:bodyPr/>
          <a:lstStyle/>
          <a:p>
            <a:fld id="{EEB25B09-B9A6-4811-8700-6D36B9CE20D1}" type="slidenum">
              <a:rPr lang="fr-CA" smtClean="0"/>
              <a:t>28</a:t>
            </a:fld>
            <a:endParaRPr lang="fr-CA"/>
          </a:p>
        </p:txBody>
      </p:sp>
    </p:spTree>
    <p:extLst>
      <p:ext uri="{BB962C8B-B14F-4D97-AF65-F5344CB8AC3E}">
        <p14:creationId xmlns:p14="http://schemas.microsoft.com/office/powerpoint/2010/main" val="2417366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D670B0D-06D8-494D-BB61-5131BE5BED8A}"/>
              </a:ext>
            </a:extLst>
          </p:cNvPr>
          <p:cNvSpPr>
            <a:spLocks noGrp="1"/>
          </p:cNvSpPr>
          <p:nvPr>
            <p:ph type="title"/>
          </p:nvPr>
        </p:nvSpPr>
        <p:spPr>
          <a:xfrm>
            <a:off x="638400" y="577216"/>
            <a:ext cx="10915200" cy="988033"/>
          </a:xfrm>
        </p:spPr>
        <p:txBody>
          <a:bodyPr anchor="ctr">
            <a:normAutofit/>
          </a:bodyPr>
          <a:lstStyle/>
          <a:p>
            <a:r>
              <a:rPr lang="fr-CA" dirty="0"/>
              <a:t>Analyse financière</a:t>
            </a:r>
          </a:p>
        </p:txBody>
      </p:sp>
      <p:sp>
        <p:nvSpPr>
          <p:cNvPr id="4" name="Espace réservé du pied de page 3">
            <a:extLst>
              <a:ext uri="{FF2B5EF4-FFF2-40B4-BE49-F238E27FC236}">
                <a16:creationId xmlns:a16="http://schemas.microsoft.com/office/drawing/2014/main" id="{3EB06A7C-2A53-489B-A755-9E5A1DA27C22}"/>
              </a:ext>
            </a:extLst>
          </p:cNvPr>
          <p:cNvSpPr>
            <a:spLocks noGrp="1"/>
          </p:cNvSpPr>
          <p:nvPr>
            <p:ph type="ftr" sz="quarter" idx="11"/>
          </p:nvPr>
        </p:nvSpPr>
        <p:spPr>
          <a:xfrm>
            <a:off x="4165600" y="6461995"/>
            <a:ext cx="3860800" cy="164160"/>
          </a:xfrm>
        </p:spPr>
        <p:txBody>
          <a:bodyPr anchor="ctr">
            <a:normAutofit/>
          </a:bodyPr>
          <a:lstStyle/>
          <a:p>
            <a:pPr>
              <a:lnSpc>
                <a:spcPct val="90000"/>
              </a:lnSpc>
              <a:spcAft>
                <a:spcPts val="600"/>
              </a:spcAft>
            </a:pPr>
            <a:r>
              <a:rPr lang="fr-CA" sz="500"/>
              <a:t>(C) HEC Montréal</a:t>
            </a:r>
          </a:p>
        </p:txBody>
      </p:sp>
      <p:sp>
        <p:nvSpPr>
          <p:cNvPr id="5" name="Espace réservé du numéro de diapositive 4">
            <a:extLst>
              <a:ext uri="{FF2B5EF4-FFF2-40B4-BE49-F238E27FC236}">
                <a16:creationId xmlns:a16="http://schemas.microsoft.com/office/drawing/2014/main" id="{EDDC112A-EB02-47A9-923D-32BB881B85C9}"/>
              </a:ext>
            </a:extLst>
          </p:cNvPr>
          <p:cNvSpPr>
            <a:spLocks noGrp="1"/>
          </p:cNvSpPr>
          <p:nvPr>
            <p:ph type="sldNum" sz="quarter" idx="12"/>
          </p:nvPr>
        </p:nvSpPr>
        <p:spPr>
          <a:xfrm>
            <a:off x="10934400" y="6461995"/>
            <a:ext cx="619200" cy="164160"/>
          </a:xfrm>
        </p:spPr>
        <p:txBody>
          <a:bodyPr anchor="ctr">
            <a:normAutofit/>
          </a:bodyPr>
          <a:lstStyle/>
          <a:p>
            <a:pPr>
              <a:lnSpc>
                <a:spcPct val="90000"/>
              </a:lnSpc>
              <a:spcAft>
                <a:spcPts val="600"/>
              </a:spcAft>
            </a:pPr>
            <a:fld id="{EEB25B09-B9A6-4811-8700-6D36B9CE20D1}" type="slidenum">
              <a:rPr lang="fr-CA" sz="500" smtClean="0"/>
              <a:pPr>
                <a:lnSpc>
                  <a:spcPct val="90000"/>
                </a:lnSpc>
                <a:spcAft>
                  <a:spcPts val="600"/>
                </a:spcAft>
              </a:pPr>
              <a:t>29</a:t>
            </a:fld>
            <a:endParaRPr lang="fr-CA" sz="500"/>
          </a:p>
        </p:txBody>
      </p:sp>
      <p:graphicFrame>
        <p:nvGraphicFramePr>
          <p:cNvPr id="21" name="Espace réservé du contenu 2">
            <a:extLst>
              <a:ext uri="{FF2B5EF4-FFF2-40B4-BE49-F238E27FC236}">
                <a16:creationId xmlns:a16="http://schemas.microsoft.com/office/drawing/2014/main" id="{4753C273-4867-494C-8521-9E54696EBB99}"/>
              </a:ext>
            </a:extLst>
          </p:cNvPr>
          <p:cNvGraphicFramePr>
            <a:graphicFrameLocks noGrp="1"/>
          </p:cNvGraphicFramePr>
          <p:nvPr>
            <p:ph idx="1"/>
            <p:extLst>
              <p:ext uri="{D42A27DB-BD31-4B8C-83A1-F6EECF244321}">
                <p14:modId xmlns:p14="http://schemas.microsoft.com/office/powerpoint/2010/main" val="1652635672"/>
              </p:ext>
            </p:extLst>
          </p:nvPr>
        </p:nvGraphicFramePr>
        <p:xfrm>
          <a:off x="638400" y="1893224"/>
          <a:ext cx="10915200" cy="38255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582745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3CF3D1-9864-45FA-8AD2-D0DF18F65FCE}"/>
              </a:ext>
            </a:extLst>
          </p:cNvPr>
          <p:cNvSpPr>
            <a:spLocks noGrp="1"/>
          </p:cNvSpPr>
          <p:nvPr>
            <p:ph type="title"/>
          </p:nvPr>
        </p:nvSpPr>
        <p:spPr/>
        <p:txBody>
          <a:bodyPr/>
          <a:lstStyle/>
          <a:p>
            <a:r>
              <a:rPr lang="fr-CA" dirty="0"/>
              <a:t>Analyse financière</a:t>
            </a:r>
          </a:p>
        </p:txBody>
      </p:sp>
      <p:sp>
        <p:nvSpPr>
          <p:cNvPr id="3" name="Espace réservé du contenu 2">
            <a:extLst>
              <a:ext uri="{FF2B5EF4-FFF2-40B4-BE49-F238E27FC236}">
                <a16:creationId xmlns:a16="http://schemas.microsoft.com/office/drawing/2014/main" id="{ADF11492-1717-47EA-B409-C3CA5262B5CF}"/>
              </a:ext>
            </a:extLst>
          </p:cNvPr>
          <p:cNvSpPr>
            <a:spLocks noGrp="1"/>
          </p:cNvSpPr>
          <p:nvPr>
            <p:ph idx="1"/>
          </p:nvPr>
        </p:nvSpPr>
        <p:spPr/>
        <p:txBody>
          <a:bodyPr/>
          <a:lstStyle/>
          <a:p>
            <a:pPr lvl="1">
              <a:buFont typeface="Wingdings" panose="05000000000000000000" pitchFamily="2" charset="2"/>
              <a:buChar char="§"/>
            </a:pPr>
            <a:r>
              <a:rPr lang="fr-CA" sz="2400" dirty="0"/>
              <a:t>Faire des regroupements de ratios</a:t>
            </a:r>
          </a:p>
          <a:p>
            <a:pPr lvl="1">
              <a:buFont typeface="Wingdings" panose="05000000000000000000" pitchFamily="2" charset="2"/>
              <a:buChar char="§"/>
            </a:pPr>
            <a:r>
              <a:rPr lang="fr-CA" sz="2400" dirty="0"/>
              <a:t>Poser un diagnostic pour chacun des regroupements</a:t>
            </a:r>
          </a:p>
          <a:p>
            <a:pPr lvl="1">
              <a:buFont typeface="Wingdings" panose="05000000000000000000" pitchFamily="2" charset="2"/>
              <a:buChar char="§"/>
            </a:pPr>
            <a:r>
              <a:rPr lang="fr-CA" sz="2400" dirty="0"/>
              <a:t>Calculer les ratios dans un fichier Excel</a:t>
            </a:r>
          </a:p>
          <a:p>
            <a:pPr lvl="1">
              <a:buFont typeface="Wingdings" panose="05000000000000000000" pitchFamily="2" charset="2"/>
              <a:buChar char="§"/>
            </a:pPr>
            <a:r>
              <a:rPr lang="fr-CA" sz="2400" dirty="0"/>
              <a:t>Avoir au moins un élément de comparaison pour chaque ratio  </a:t>
            </a:r>
          </a:p>
          <a:p>
            <a:pPr lvl="1">
              <a:buFont typeface="Wingdings" panose="05000000000000000000" pitchFamily="2" charset="2"/>
              <a:buChar char="§"/>
            </a:pPr>
            <a:r>
              <a:rPr lang="fr-CA" sz="2400" dirty="0"/>
              <a:t>Il n’est pas obligatoire de faire des recommandations à la fin de votre analyse, mais dans certaines situations, cela peut s’avérer pertinent – Ex. redressement des liquidités ou de la rentabilité avant de s’attaquer à de nouveaux défis</a:t>
            </a:r>
          </a:p>
          <a:p>
            <a:pPr lvl="1">
              <a:buFont typeface="Wingdings" panose="05000000000000000000" pitchFamily="2" charset="2"/>
              <a:buChar char="§"/>
            </a:pPr>
            <a:r>
              <a:rPr lang="fr-CA" sz="2400" dirty="0"/>
              <a:t>Toujours quantifier les ratios lors de l’analyse dans le corps du texte</a:t>
            </a:r>
          </a:p>
          <a:p>
            <a:endParaRPr lang="fr-CA" dirty="0"/>
          </a:p>
        </p:txBody>
      </p:sp>
      <p:sp>
        <p:nvSpPr>
          <p:cNvPr id="4" name="Espace réservé du pied de page 3">
            <a:extLst>
              <a:ext uri="{FF2B5EF4-FFF2-40B4-BE49-F238E27FC236}">
                <a16:creationId xmlns:a16="http://schemas.microsoft.com/office/drawing/2014/main" id="{CB319A18-39E7-42A6-88CA-B24F886AD659}"/>
              </a:ext>
            </a:extLst>
          </p:cNvPr>
          <p:cNvSpPr>
            <a:spLocks noGrp="1"/>
          </p:cNvSpPr>
          <p:nvPr>
            <p:ph type="ftr" sz="quarter" idx="11"/>
          </p:nvPr>
        </p:nvSpPr>
        <p:spPr/>
        <p:txBody>
          <a:bodyPr/>
          <a:lstStyle/>
          <a:p>
            <a:r>
              <a:rPr lang="fr-CA"/>
              <a:t>(C) HEC Montréal</a:t>
            </a:r>
          </a:p>
        </p:txBody>
      </p:sp>
      <p:sp>
        <p:nvSpPr>
          <p:cNvPr id="5" name="Espace réservé du numéro de diapositive 4">
            <a:extLst>
              <a:ext uri="{FF2B5EF4-FFF2-40B4-BE49-F238E27FC236}">
                <a16:creationId xmlns:a16="http://schemas.microsoft.com/office/drawing/2014/main" id="{4A3FD7D6-53BF-4AB8-9004-31C70D32197F}"/>
              </a:ext>
            </a:extLst>
          </p:cNvPr>
          <p:cNvSpPr>
            <a:spLocks noGrp="1"/>
          </p:cNvSpPr>
          <p:nvPr>
            <p:ph type="sldNum" sz="quarter" idx="12"/>
          </p:nvPr>
        </p:nvSpPr>
        <p:spPr/>
        <p:txBody>
          <a:bodyPr/>
          <a:lstStyle/>
          <a:p>
            <a:fld id="{EEB25B09-B9A6-4811-8700-6D36B9CE20D1}" type="slidenum">
              <a:rPr lang="fr-CA" smtClean="0"/>
              <a:t>30</a:t>
            </a:fld>
            <a:endParaRPr lang="fr-CA"/>
          </a:p>
        </p:txBody>
      </p:sp>
    </p:spTree>
    <p:extLst>
      <p:ext uri="{BB962C8B-B14F-4D97-AF65-F5344CB8AC3E}">
        <p14:creationId xmlns:p14="http://schemas.microsoft.com/office/powerpoint/2010/main" val="118381262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2"/>
</p:tagLst>
</file>

<file path=ppt/tags/tag3.xml><?xml version="1.0" encoding="utf-8"?>
<p:tagLst xmlns:a="http://schemas.openxmlformats.org/drawingml/2006/main" xmlns:r="http://schemas.openxmlformats.org/officeDocument/2006/relationships" xmlns:p="http://schemas.openxmlformats.org/presentationml/2006/main">
  <p:tag name="NUM" val="4"/>
</p:tagLst>
</file>

<file path=ppt/tags/tag4.xml><?xml version="1.0" encoding="utf-8"?>
<p:tagLst xmlns:a="http://schemas.openxmlformats.org/drawingml/2006/main" xmlns:r="http://schemas.openxmlformats.org/officeDocument/2006/relationships" xmlns:p="http://schemas.openxmlformats.org/presentationml/2006/main">
  <p:tag name="NUM" val="3"/>
</p:tagLst>
</file>

<file path=ppt/tags/tag5.xml><?xml version="1.0" encoding="utf-8"?>
<p:tagLst xmlns:a="http://schemas.openxmlformats.org/drawingml/2006/main" xmlns:r="http://schemas.openxmlformats.org/officeDocument/2006/relationships" xmlns:p="http://schemas.openxmlformats.org/presentationml/2006/main">
  <p:tag name="NUM" val="1"/>
</p:tagLst>
</file>

<file path=ppt/tags/tag6.xml><?xml version="1.0" encoding="utf-8"?>
<p:tagLst xmlns:a="http://schemas.openxmlformats.org/drawingml/2006/main" xmlns:r="http://schemas.openxmlformats.org/officeDocument/2006/relationships" xmlns:p="http://schemas.openxmlformats.org/presentationml/2006/main">
  <p:tag name="NUM" val="3"/>
</p:tagLst>
</file>

<file path=ppt/tags/tag7.xml><?xml version="1.0" encoding="utf-8"?>
<p:tagLst xmlns:a="http://schemas.openxmlformats.org/drawingml/2006/main" xmlns:r="http://schemas.openxmlformats.org/officeDocument/2006/relationships" xmlns:p="http://schemas.openxmlformats.org/presentationml/2006/main">
  <p:tag name="NUM" val="4"/>
</p:tagLst>
</file>

<file path=ppt/tags/tag8.xml><?xml version="1.0" encoding="utf-8"?>
<p:tagLst xmlns:a="http://schemas.openxmlformats.org/drawingml/2006/main" xmlns:r="http://schemas.openxmlformats.org/officeDocument/2006/relationships" xmlns:p="http://schemas.openxmlformats.org/presentationml/2006/main">
  <p:tag name="NUM" val="2"/>
</p:tagLst>
</file>

<file path=ppt/theme/theme1.xml><?xml version="1.0" encoding="utf-8"?>
<a:theme xmlns:a="http://schemas.openxmlformats.org/drawingml/2006/main" name="Thème HEC">
  <a:themeElements>
    <a:clrScheme name="HEC2">
      <a:dk1>
        <a:srgbClr val="000000"/>
      </a:dk1>
      <a:lt1>
        <a:srgbClr val="FFFFFF"/>
      </a:lt1>
      <a:dk2>
        <a:srgbClr val="97999B"/>
      </a:dk2>
      <a:lt2>
        <a:srgbClr val="EFF0F0"/>
      </a:lt2>
      <a:accent1>
        <a:srgbClr val="009FDF"/>
      </a:accent1>
      <a:accent2>
        <a:srgbClr val="003C71"/>
      </a:accent2>
      <a:accent3>
        <a:srgbClr val="D40F7D"/>
      </a:accent3>
      <a:accent4>
        <a:srgbClr val="FE5000"/>
      </a:accent4>
      <a:accent5>
        <a:srgbClr val="00C1D5"/>
      </a:accent5>
      <a:accent6>
        <a:srgbClr val="005EB8"/>
      </a:accent6>
      <a:hlink>
        <a:srgbClr val="003C71"/>
      </a:hlink>
      <a:folHlink>
        <a:srgbClr val="9678D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square" lIns="91440" tIns="45720" rIns="91440" bIns="45720" rtlCol="0">
        <a:normAutofit/>
      </a:bodyPr>
      <a:lstStyle>
        <a:defPPr marL="154800" indent="-154800">
          <a:buClr>
            <a:schemeClr val="accent2"/>
          </a:buClr>
          <a:buSzPct val="125000"/>
          <a:buFont typeface="Arial" panose="020B0604020202020204" pitchFamily="34" charset="0"/>
          <a:buChar char="•"/>
          <a:defRPr sz="1670" dirty="0" smtClean="0"/>
        </a:defPPr>
      </a:lstStyle>
    </a:txDef>
  </a:objectDefaults>
  <a:extraClrSchemeLst/>
  <a:extLst>
    <a:ext uri="{05A4C25C-085E-4340-85A3-A5531E510DB2}">
      <thm15:themeFamily xmlns:thm15="http://schemas.microsoft.com/office/thememl/2012/main" name="Presentation4" id="{749738AF-2EB5-5C4A-8D68-2085B3322EC2}" vid="{E6667002-824B-604B-B5DE-D77202227FBF}"/>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300</TotalTime>
  <Words>2394</Words>
  <Application>Microsoft Office PowerPoint</Application>
  <PresentationFormat>Grand écran</PresentationFormat>
  <Paragraphs>442</Paragraphs>
  <Slides>30</Slides>
  <Notes>29</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30</vt:i4>
      </vt:variant>
    </vt:vector>
  </HeadingPairs>
  <TitlesOfParts>
    <vt:vector size="34" baseType="lpstr">
      <vt:lpstr>Arial</vt:lpstr>
      <vt:lpstr>Calibri</vt:lpstr>
      <vt:lpstr>Wingdings</vt:lpstr>
      <vt:lpstr>Thème HEC</vt:lpstr>
      <vt:lpstr>Contrôle de gestion stratégique </vt:lpstr>
      <vt:lpstr>Contenu de la capsule</vt:lpstr>
      <vt:lpstr>Planification stratégique </vt:lpstr>
      <vt:lpstr>Processus de planification stratégique </vt:lpstr>
      <vt:lpstr>Processus de planification stratégique à HEC Montréal </vt:lpstr>
      <vt:lpstr>Analyse de l’environnement interne et externe</vt:lpstr>
      <vt:lpstr>Présentation PowerPoint</vt:lpstr>
      <vt:lpstr>Vision </vt:lpstr>
      <vt:lpstr>Mission </vt:lpstr>
      <vt:lpstr>Valeurs </vt:lpstr>
      <vt:lpstr>Analyse de la stratégie actuelle</vt:lpstr>
      <vt:lpstr>Analyse de la stratégie actuelle – Stratégie d’entreprise</vt:lpstr>
      <vt:lpstr>Analyse de la stratégie actuelle – Stratégie d’entreprise</vt:lpstr>
      <vt:lpstr>Analyse de la stratégie actuelle – Stratégie d’entreprise</vt:lpstr>
      <vt:lpstr>Analyse de la stratégie actuelle – Stratégie concurrentielle</vt:lpstr>
      <vt:lpstr>Analyse de la stratégie actuelle – Stratégies fonctionnelles </vt:lpstr>
      <vt:lpstr>Objectifs stratégiques </vt:lpstr>
      <vt:lpstr>Contraintes et limites</vt:lpstr>
      <vt:lpstr>Parties prenantes</vt:lpstr>
      <vt:lpstr>Analyse de l’environnement</vt:lpstr>
      <vt:lpstr>Analyser l’environnement et l’industrie- Les facteurs clés de succès</vt:lpstr>
      <vt:lpstr>Analyse de l’environnement interne et externe – Analyse FFPM </vt:lpstr>
      <vt:lpstr>Analyse de l’environnement interne et externe  - Chaîne de valeur de l’entreprise </vt:lpstr>
      <vt:lpstr>Analyse de l’environnement – 5 forces de Porter</vt:lpstr>
      <vt:lpstr>Analyse de l’environnement - PESTEL</vt:lpstr>
      <vt:lpstr>Analyser l’environnement et l’industrie – Le cycle de vie du secteur d’activité</vt:lpstr>
      <vt:lpstr>Analyse financière</vt:lpstr>
      <vt:lpstr>Analyse financière</vt:lpstr>
      <vt:lpstr>Analyse financière</vt:lpstr>
      <vt:lpstr>Analyse financière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Contrôle de gestion stratégique </dc:title>
  <dc:creator/>
  <cp:lastModifiedBy>SOKRI Marzouk</cp:lastModifiedBy>
  <cp:revision>5</cp:revision>
  <dcterms:created xsi:type="dcterms:W3CDTF">2020-09-04T16:39:56Z</dcterms:created>
  <dcterms:modified xsi:type="dcterms:W3CDTF">2025-04-11T22:17:27Z</dcterms:modified>
</cp:coreProperties>
</file>