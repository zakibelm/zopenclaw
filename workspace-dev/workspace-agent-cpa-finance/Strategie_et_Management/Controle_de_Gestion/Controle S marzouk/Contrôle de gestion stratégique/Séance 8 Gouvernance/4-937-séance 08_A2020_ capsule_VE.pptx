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9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0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2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4.xml" ContentType="application/vnd.openxmlformats-officedocument.presentationml.notesSlide+xml"/>
  <Override PartName="/ppt/comments/modernComment_149_B5AF8275.xml" ContentType="application/vnd.ms-powerpoint.comment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5" r:id="rId4"/>
  </p:sldMasterIdLst>
  <p:notesMasterIdLst>
    <p:notesMasterId r:id="rId33"/>
  </p:notesMasterIdLst>
  <p:sldIdLst>
    <p:sldId id="261" r:id="rId5"/>
    <p:sldId id="266" r:id="rId6"/>
    <p:sldId id="334" r:id="rId7"/>
    <p:sldId id="312" r:id="rId8"/>
    <p:sldId id="335" r:id="rId9"/>
    <p:sldId id="265" r:id="rId10"/>
    <p:sldId id="279" r:id="rId11"/>
    <p:sldId id="269" r:id="rId12"/>
    <p:sldId id="314" r:id="rId13"/>
    <p:sldId id="315" r:id="rId14"/>
    <p:sldId id="274" r:id="rId15"/>
    <p:sldId id="316" r:id="rId16"/>
    <p:sldId id="318" r:id="rId17"/>
    <p:sldId id="319" r:id="rId18"/>
    <p:sldId id="320" r:id="rId19"/>
    <p:sldId id="321" r:id="rId20"/>
    <p:sldId id="322" r:id="rId21"/>
    <p:sldId id="323" r:id="rId22"/>
    <p:sldId id="325" r:id="rId23"/>
    <p:sldId id="324" r:id="rId24"/>
    <p:sldId id="327" r:id="rId25"/>
    <p:sldId id="328" r:id="rId26"/>
    <p:sldId id="326" r:id="rId27"/>
    <p:sldId id="329" r:id="rId28"/>
    <p:sldId id="273" r:id="rId29"/>
    <p:sldId id="332" r:id="rId30"/>
    <p:sldId id="330" r:id="rId31"/>
    <p:sldId id="333" r:id="rId32"/>
  </p:sldIdLst>
  <p:sldSz cx="12192000" cy="6858000"/>
  <p:notesSz cx="7086600" cy="9428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975C-4C1D-EA33-8340-77B3D970F02F}" name="SOKRI Marzouk" initials="SM" userId="bca8937e5be247a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DF"/>
    <a:srgbClr val="99CB38"/>
    <a:srgbClr val="4A7C29"/>
    <a:srgbClr val="3D3FC2"/>
    <a:srgbClr val="E3BCEB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02F7D-D5E6-4675-A76B-A65252B97321}" v="1" dt="2020-10-30T15:34:22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53672" autoAdjust="0"/>
  </p:normalViewPr>
  <p:slideViewPr>
    <p:cSldViewPr snapToGrid="0">
      <p:cViewPr varScale="1">
        <p:scale>
          <a:sx n="51" d="100"/>
          <a:sy n="51" d="100"/>
        </p:scale>
        <p:origin x="19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49_B5AF82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4BFDD2-4DB0-4E64-AA1E-D6F7456D5B41}" authorId="{28FB975C-4C1D-EA33-8340-77B3D970F02F}" created="2025-04-03T12:59:46.6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48178293" sldId="329"/>
      <ac:spMk id="2" creationId="{00000000-0000-0000-0000-000000000000}"/>
    </ac:deMkLst>
    <p188:txBody>
      <a:bodyPr/>
      <a:lstStyle/>
      <a:p>
        <a:r>
          <a:rPr lang="fr-CA"/>
          <a:t>Principes fondamentaux du Conseil d’administration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5C439E-64EA-4AAF-BA64-CF99D7B26AC3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A7B3EBC-8510-4AED-A18D-F4872E5CF754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Intégrité de la direction</a:t>
          </a:r>
        </a:p>
      </dgm:t>
    </dgm:pt>
    <dgm:pt modelId="{6F087352-D74A-4433-A303-EF4D792CD047}" type="parTrans" cxnId="{349653BF-D699-4C41-947C-8E14339CCE7E}">
      <dgm:prSet/>
      <dgm:spPr/>
      <dgm:t>
        <a:bodyPr/>
        <a:lstStyle/>
        <a:p>
          <a:endParaRPr lang="fr-CA"/>
        </a:p>
      </dgm:t>
    </dgm:pt>
    <dgm:pt modelId="{C5F66423-99F1-4260-ABBC-D15994ED4365}" type="sibTrans" cxnId="{349653BF-D699-4C41-947C-8E14339CCE7E}">
      <dgm:prSet/>
      <dgm:spPr/>
      <dgm:t>
        <a:bodyPr/>
        <a:lstStyle/>
        <a:p>
          <a:endParaRPr lang="fr-CA"/>
        </a:p>
      </dgm:t>
    </dgm:pt>
    <dgm:pt modelId="{C2378DE8-A926-4CFF-BB78-51585E9952BD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Planification stratégique</a:t>
          </a:r>
        </a:p>
      </dgm:t>
    </dgm:pt>
    <dgm:pt modelId="{CA151C14-B429-4533-901A-CE34C81B77C4}" type="parTrans" cxnId="{64006B85-5547-4FD3-8F1A-DDEE3F9FB33F}">
      <dgm:prSet/>
      <dgm:spPr/>
      <dgm:t>
        <a:bodyPr/>
        <a:lstStyle/>
        <a:p>
          <a:endParaRPr lang="fr-CA"/>
        </a:p>
      </dgm:t>
    </dgm:pt>
    <dgm:pt modelId="{81EA6921-C3BA-45B1-B05D-1DF5380E0C98}" type="sibTrans" cxnId="{64006B85-5547-4FD3-8F1A-DDEE3F9FB33F}">
      <dgm:prSet/>
      <dgm:spPr/>
      <dgm:t>
        <a:bodyPr/>
        <a:lstStyle/>
        <a:p>
          <a:endParaRPr lang="fr-CA"/>
        </a:p>
      </dgm:t>
    </dgm:pt>
    <dgm:pt modelId="{F7837B01-4F78-49FB-B9C7-C44FE362D5D1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Gestion des risques</a:t>
          </a:r>
        </a:p>
      </dgm:t>
    </dgm:pt>
    <dgm:pt modelId="{DD6FBA77-F16B-4F29-AF3D-00A2E712FAEC}" type="parTrans" cxnId="{4AC967A8-6C72-4BFC-9C71-246D46EFF306}">
      <dgm:prSet/>
      <dgm:spPr/>
      <dgm:t>
        <a:bodyPr/>
        <a:lstStyle/>
        <a:p>
          <a:endParaRPr lang="fr-CA"/>
        </a:p>
      </dgm:t>
    </dgm:pt>
    <dgm:pt modelId="{ADE93003-C96D-46DF-9A04-060FDD892557}" type="sibTrans" cxnId="{4AC967A8-6C72-4BFC-9C71-246D46EFF306}">
      <dgm:prSet/>
      <dgm:spPr/>
      <dgm:t>
        <a:bodyPr/>
        <a:lstStyle/>
        <a:p>
          <a:endParaRPr lang="fr-CA"/>
        </a:p>
      </dgm:t>
    </dgm:pt>
    <dgm:pt modelId="{C2251E80-95EF-49AC-828A-234751D108E9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Relève</a:t>
          </a:r>
        </a:p>
      </dgm:t>
    </dgm:pt>
    <dgm:pt modelId="{91569CEB-306F-46B9-8FFE-69DBFB2F2070}" type="parTrans" cxnId="{201AE3C2-056A-4D78-8A68-D230E00A0E32}">
      <dgm:prSet/>
      <dgm:spPr/>
      <dgm:t>
        <a:bodyPr/>
        <a:lstStyle/>
        <a:p>
          <a:endParaRPr lang="fr-CA"/>
        </a:p>
      </dgm:t>
    </dgm:pt>
    <dgm:pt modelId="{479BF51F-AB65-42FD-BB30-56E3C2B41B72}" type="sibTrans" cxnId="{201AE3C2-056A-4D78-8A68-D230E00A0E32}">
      <dgm:prSet/>
      <dgm:spPr/>
      <dgm:t>
        <a:bodyPr/>
        <a:lstStyle/>
        <a:p>
          <a:endParaRPr lang="fr-CA"/>
        </a:p>
      </dgm:t>
    </dgm:pt>
    <dgm:pt modelId="{E81AE57B-80AD-4629-84BE-0963E2399007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Communication</a:t>
          </a:r>
        </a:p>
      </dgm:t>
    </dgm:pt>
    <dgm:pt modelId="{D75D5A83-1014-432E-89CD-B8494C2ACB26}" type="parTrans" cxnId="{085BAD39-691A-4964-85AA-D7F2FB892EFD}">
      <dgm:prSet/>
      <dgm:spPr/>
      <dgm:t>
        <a:bodyPr/>
        <a:lstStyle/>
        <a:p>
          <a:endParaRPr lang="fr-CA"/>
        </a:p>
      </dgm:t>
    </dgm:pt>
    <dgm:pt modelId="{E5570939-6259-4404-A1BE-858B0737D4D6}" type="sibTrans" cxnId="{085BAD39-691A-4964-85AA-D7F2FB892EFD}">
      <dgm:prSet/>
      <dgm:spPr/>
      <dgm:t>
        <a:bodyPr/>
        <a:lstStyle/>
        <a:p>
          <a:endParaRPr lang="fr-CA"/>
        </a:p>
      </dgm:t>
    </dgm:pt>
    <dgm:pt modelId="{1F8EF110-D614-4CDB-A352-E41FA73910CA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Contrôle interne</a:t>
          </a:r>
        </a:p>
      </dgm:t>
    </dgm:pt>
    <dgm:pt modelId="{4289940C-6300-4E5B-8876-E410EE2F7864}" type="parTrans" cxnId="{C0D34C88-CBA9-468B-A99E-0B517D91C9D4}">
      <dgm:prSet/>
      <dgm:spPr/>
      <dgm:t>
        <a:bodyPr/>
        <a:lstStyle/>
        <a:p>
          <a:endParaRPr lang="fr-CA"/>
        </a:p>
      </dgm:t>
    </dgm:pt>
    <dgm:pt modelId="{579269D1-F0FC-4EC4-8A6D-4EC3FA38AF8E}" type="sibTrans" cxnId="{C0D34C88-CBA9-468B-A99E-0B517D91C9D4}">
      <dgm:prSet/>
      <dgm:spPr/>
      <dgm:t>
        <a:bodyPr/>
        <a:lstStyle/>
        <a:p>
          <a:endParaRPr lang="fr-CA"/>
        </a:p>
      </dgm:t>
    </dgm:pt>
    <dgm:pt modelId="{89D0FC37-3580-4B75-A9D4-5EE85F3CF8E8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dirty="0"/>
            <a:t>Vision gouvernance</a:t>
          </a:r>
        </a:p>
      </dgm:t>
    </dgm:pt>
    <dgm:pt modelId="{D37EE6D2-2F85-455D-A6D1-7C5DA83E38AB}" type="parTrans" cxnId="{7C42C09C-7716-4CE8-B840-3EB40C3810C0}">
      <dgm:prSet/>
      <dgm:spPr/>
      <dgm:t>
        <a:bodyPr/>
        <a:lstStyle/>
        <a:p>
          <a:endParaRPr lang="fr-CA"/>
        </a:p>
      </dgm:t>
    </dgm:pt>
    <dgm:pt modelId="{F1316B1F-DB2A-44A2-9121-E6D5D6E858B3}" type="sibTrans" cxnId="{7C42C09C-7716-4CE8-B840-3EB40C3810C0}">
      <dgm:prSet/>
      <dgm:spPr/>
      <dgm:t>
        <a:bodyPr/>
        <a:lstStyle/>
        <a:p>
          <a:endParaRPr lang="fr-CA"/>
        </a:p>
      </dgm:t>
    </dgm:pt>
    <dgm:pt modelId="{32394584-F119-411A-8BB4-73ABBF537CD0}" type="pres">
      <dgm:prSet presAssocID="{555C439E-64EA-4AAF-BA64-CF99D7B26AC3}" presName="diagram" presStyleCnt="0">
        <dgm:presLayoutVars>
          <dgm:dir/>
          <dgm:resizeHandles val="exact"/>
        </dgm:presLayoutVars>
      </dgm:prSet>
      <dgm:spPr/>
    </dgm:pt>
    <dgm:pt modelId="{E6B15106-E6CB-49BC-A408-0F1AA6AEB6AE}" type="pres">
      <dgm:prSet presAssocID="{2A7B3EBC-8510-4AED-A18D-F4872E5CF754}" presName="node" presStyleLbl="node1" presStyleIdx="0" presStyleCnt="7">
        <dgm:presLayoutVars>
          <dgm:bulletEnabled val="1"/>
        </dgm:presLayoutVars>
      </dgm:prSet>
      <dgm:spPr/>
    </dgm:pt>
    <dgm:pt modelId="{6C94F643-7863-4F20-9924-A7A85AB8C5EF}" type="pres">
      <dgm:prSet presAssocID="{C5F66423-99F1-4260-ABBC-D15994ED4365}" presName="sibTrans" presStyleCnt="0"/>
      <dgm:spPr/>
    </dgm:pt>
    <dgm:pt modelId="{00C7D4FA-0148-436F-833A-19E25CCD0169}" type="pres">
      <dgm:prSet presAssocID="{C2378DE8-A926-4CFF-BB78-51585E9952BD}" presName="node" presStyleLbl="node1" presStyleIdx="1" presStyleCnt="7">
        <dgm:presLayoutVars>
          <dgm:bulletEnabled val="1"/>
        </dgm:presLayoutVars>
      </dgm:prSet>
      <dgm:spPr/>
    </dgm:pt>
    <dgm:pt modelId="{B12F0B31-04AC-418C-95BC-096493294AAF}" type="pres">
      <dgm:prSet presAssocID="{81EA6921-C3BA-45B1-B05D-1DF5380E0C98}" presName="sibTrans" presStyleCnt="0"/>
      <dgm:spPr/>
    </dgm:pt>
    <dgm:pt modelId="{CA4EDBEC-E689-4AE6-ADAC-DCD288793423}" type="pres">
      <dgm:prSet presAssocID="{F7837B01-4F78-49FB-B9C7-C44FE362D5D1}" presName="node" presStyleLbl="node1" presStyleIdx="2" presStyleCnt="7">
        <dgm:presLayoutVars>
          <dgm:bulletEnabled val="1"/>
        </dgm:presLayoutVars>
      </dgm:prSet>
      <dgm:spPr/>
    </dgm:pt>
    <dgm:pt modelId="{656C5EF4-6FF9-40AA-8DDF-6F7D92C00B05}" type="pres">
      <dgm:prSet presAssocID="{ADE93003-C96D-46DF-9A04-060FDD892557}" presName="sibTrans" presStyleCnt="0"/>
      <dgm:spPr/>
    </dgm:pt>
    <dgm:pt modelId="{D1149B2A-5518-4EDA-AF11-F7402CACFE49}" type="pres">
      <dgm:prSet presAssocID="{C2251E80-95EF-49AC-828A-234751D108E9}" presName="node" presStyleLbl="node1" presStyleIdx="3" presStyleCnt="7">
        <dgm:presLayoutVars>
          <dgm:bulletEnabled val="1"/>
        </dgm:presLayoutVars>
      </dgm:prSet>
      <dgm:spPr/>
    </dgm:pt>
    <dgm:pt modelId="{DC48D8D2-6E06-45BE-A460-1C2278DF0C8B}" type="pres">
      <dgm:prSet presAssocID="{479BF51F-AB65-42FD-BB30-56E3C2B41B72}" presName="sibTrans" presStyleCnt="0"/>
      <dgm:spPr/>
    </dgm:pt>
    <dgm:pt modelId="{1C42D401-BD2E-49FD-B444-4AF8807DCD3C}" type="pres">
      <dgm:prSet presAssocID="{E81AE57B-80AD-4629-84BE-0963E2399007}" presName="node" presStyleLbl="node1" presStyleIdx="4" presStyleCnt="7">
        <dgm:presLayoutVars>
          <dgm:bulletEnabled val="1"/>
        </dgm:presLayoutVars>
      </dgm:prSet>
      <dgm:spPr/>
    </dgm:pt>
    <dgm:pt modelId="{CD4167AA-1307-4A81-82D3-2EB02709D9C7}" type="pres">
      <dgm:prSet presAssocID="{E5570939-6259-4404-A1BE-858B0737D4D6}" presName="sibTrans" presStyleCnt="0"/>
      <dgm:spPr/>
    </dgm:pt>
    <dgm:pt modelId="{F149C0C9-960C-4303-8DC2-0944BE0FD0D8}" type="pres">
      <dgm:prSet presAssocID="{1F8EF110-D614-4CDB-A352-E41FA73910CA}" presName="node" presStyleLbl="node1" presStyleIdx="5" presStyleCnt="7">
        <dgm:presLayoutVars>
          <dgm:bulletEnabled val="1"/>
        </dgm:presLayoutVars>
      </dgm:prSet>
      <dgm:spPr/>
    </dgm:pt>
    <dgm:pt modelId="{FC60D8B2-B057-444F-AC21-662AE40FD380}" type="pres">
      <dgm:prSet presAssocID="{579269D1-F0FC-4EC4-8A6D-4EC3FA38AF8E}" presName="sibTrans" presStyleCnt="0"/>
      <dgm:spPr/>
    </dgm:pt>
    <dgm:pt modelId="{9EC510F4-E142-48BB-B652-D3BB08A60237}" type="pres">
      <dgm:prSet presAssocID="{89D0FC37-3580-4B75-A9D4-5EE85F3CF8E8}" presName="node" presStyleLbl="node1" presStyleIdx="6" presStyleCnt="7">
        <dgm:presLayoutVars>
          <dgm:bulletEnabled val="1"/>
        </dgm:presLayoutVars>
      </dgm:prSet>
      <dgm:spPr/>
    </dgm:pt>
  </dgm:ptLst>
  <dgm:cxnLst>
    <dgm:cxn modelId="{C510CF01-9820-4EFC-9B35-FD5D09923A72}" type="presOf" srcId="{C2378DE8-A926-4CFF-BB78-51585E9952BD}" destId="{00C7D4FA-0148-436F-833A-19E25CCD0169}" srcOrd="0" destOrd="0" presId="urn:microsoft.com/office/officeart/2005/8/layout/default"/>
    <dgm:cxn modelId="{B874E420-661C-468F-AB97-F4B244557216}" type="presOf" srcId="{555C439E-64EA-4AAF-BA64-CF99D7B26AC3}" destId="{32394584-F119-411A-8BB4-73ABBF537CD0}" srcOrd="0" destOrd="0" presId="urn:microsoft.com/office/officeart/2005/8/layout/default"/>
    <dgm:cxn modelId="{085BAD39-691A-4964-85AA-D7F2FB892EFD}" srcId="{555C439E-64EA-4AAF-BA64-CF99D7B26AC3}" destId="{E81AE57B-80AD-4629-84BE-0963E2399007}" srcOrd="4" destOrd="0" parTransId="{D75D5A83-1014-432E-89CD-B8494C2ACB26}" sibTransId="{E5570939-6259-4404-A1BE-858B0737D4D6}"/>
    <dgm:cxn modelId="{1701AF3F-50B6-44D9-840B-DD3E2C656611}" type="presOf" srcId="{89D0FC37-3580-4B75-A9D4-5EE85F3CF8E8}" destId="{9EC510F4-E142-48BB-B652-D3BB08A60237}" srcOrd="0" destOrd="0" presId="urn:microsoft.com/office/officeart/2005/8/layout/default"/>
    <dgm:cxn modelId="{4A870154-FAC8-4969-B970-BC7E94CF732B}" type="presOf" srcId="{2A7B3EBC-8510-4AED-A18D-F4872E5CF754}" destId="{E6B15106-E6CB-49BC-A408-0F1AA6AEB6AE}" srcOrd="0" destOrd="0" presId="urn:microsoft.com/office/officeart/2005/8/layout/default"/>
    <dgm:cxn modelId="{0A230876-41B7-45EF-B9F7-ECD3BC4F99B9}" type="presOf" srcId="{F7837B01-4F78-49FB-B9C7-C44FE362D5D1}" destId="{CA4EDBEC-E689-4AE6-ADAC-DCD288793423}" srcOrd="0" destOrd="0" presId="urn:microsoft.com/office/officeart/2005/8/layout/default"/>
    <dgm:cxn modelId="{2C53057A-DD16-4124-9A37-B813E32FCF22}" type="presOf" srcId="{E81AE57B-80AD-4629-84BE-0963E2399007}" destId="{1C42D401-BD2E-49FD-B444-4AF8807DCD3C}" srcOrd="0" destOrd="0" presId="urn:microsoft.com/office/officeart/2005/8/layout/default"/>
    <dgm:cxn modelId="{64006B85-5547-4FD3-8F1A-DDEE3F9FB33F}" srcId="{555C439E-64EA-4AAF-BA64-CF99D7B26AC3}" destId="{C2378DE8-A926-4CFF-BB78-51585E9952BD}" srcOrd="1" destOrd="0" parTransId="{CA151C14-B429-4533-901A-CE34C81B77C4}" sibTransId="{81EA6921-C3BA-45B1-B05D-1DF5380E0C98}"/>
    <dgm:cxn modelId="{C0D34C88-CBA9-468B-A99E-0B517D91C9D4}" srcId="{555C439E-64EA-4AAF-BA64-CF99D7B26AC3}" destId="{1F8EF110-D614-4CDB-A352-E41FA73910CA}" srcOrd="5" destOrd="0" parTransId="{4289940C-6300-4E5B-8876-E410EE2F7864}" sibTransId="{579269D1-F0FC-4EC4-8A6D-4EC3FA38AF8E}"/>
    <dgm:cxn modelId="{039B6C90-867E-4D1C-9C74-D6DF68863EBF}" type="presOf" srcId="{1F8EF110-D614-4CDB-A352-E41FA73910CA}" destId="{F149C0C9-960C-4303-8DC2-0944BE0FD0D8}" srcOrd="0" destOrd="0" presId="urn:microsoft.com/office/officeart/2005/8/layout/default"/>
    <dgm:cxn modelId="{7C42C09C-7716-4CE8-B840-3EB40C3810C0}" srcId="{555C439E-64EA-4AAF-BA64-CF99D7B26AC3}" destId="{89D0FC37-3580-4B75-A9D4-5EE85F3CF8E8}" srcOrd="6" destOrd="0" parTransId="{D37EE6D2-2F85-455D-A6D1-7C5DA83E38AB}" sibTransId="{F1316B1F-DB2A-44A2-9121-E6D5D6E858B3}"/>
    <dgm:cxn modelId="{4AC967A8-6C72-4BFC-9C71-246D46EFF306}" srcId="{555C439E-64EA-4AAF-BA64-CF99D7B26AC3}" destId="{F7837B01-4F78-49FB-B9C7-C44FE362D5D1}" srcOrd="2" destOrd="0" parTransId="{DD6FBA77-F16B-4F29-AF3D-00A2E712FAEC}" sibTransId="{ADE93003-C96D-46DF-9A04-060FDD892557}"/>
    <dgm:cxn modelId="{349653BF-D699-4C41-947C-8E14339CCE7E}" srcId="{555C439E-64EA-4AAF-BA64-CF99D7B26AC3}" destId="{2A7B3EBC-8510-4AED-A18D-F4872E5CF754}" srcOrd="0" destOrd="0" parTransId="{6F087352-D74A-4433-A303-EF4D792CD047}" sibTransId="{C5F66423-99F1-4260-ABBC-D15994ED4365}"/>
    <dgm:cxn modelId="{201AE3C2-056A-4D78-8A68-D230E00A0E32}" srcId="{555C439E-64EA-4AAF-BA64-CF99D7B26AC3}" destId="{C2251E80-95EF-49AC-828A-234751D108E9}" srcOrd="3" destOrd="0" parTransId="{91569CEB-306F-46B9-8FFE-69DBFB2F2070}" sibTransId="{479BF51F-AB65-42FD-BB30-56E3C2B41B72}"/>
    <dgm:cxn modelId="{620ABCF6-0D12-49A3-97CB-427B32445701}" type="presOf" srcId="{C2251E80-95EF-49AC-828A-234751D108E9}" destId="{D1149B2A-5518-4EDA-AF11-F7402CACFE49}" srcOrd="0" destOrd="0" presId="urn:microsoft.com/office/officeart/2005/8/layout/default"/>
    <dgm:cxn modelId="{E181BBE8-F273-4A95-91F1-636C05330BF4}" type="presParOf" srcId="{32394584-F119-411A-8BB4-73ABBF537CD0}" destId="{E6B15106-E6CB-49BC-A408-0F1AA6AEB6AE}" srcOrd="0" destOrd="0" presId="urn:microsoft.com/office/officeart/2005/8/layout/default"/>
    <dgm:cxn modelId="{40E4BD75-6523-4BE4-8B0E-9EEA5C51BE57}" type="presParOf" srcId="{32394584-F119-411A-8BB4-73ABBF537CD0}" destId="{6C94F643-7863-4F20-9924-A7A85AB8C5EF}" srcOrd="1" destOrd="0" presId="urn:microsoft.com/office/officeart/2005/8/layout/default"/>
    <dgm:cxn modelId="{FE4C50E8-3592-4AA1-9169-530DB9FD8EEB}" type="presParOf" srcId="{32394584-F119-411A-8BB4-73ABBF537CD0}" destId="{00C7D4FA-0148-436F-833A-19E25CCD0169}" srcOrd="2" destOrd="0" presId="urn:microsoft.com/office/officeart/2005/8/layout/default"/>
    <dgm:cxn modelId="{8FE0D8AA-9DDC-4E56-AC2B-A5D6EAB5B0A6}" type="presParOf" srcId="{32394584-F119-411A-8BB4-73ABBF537CD0}" destId="{B12F0B31-04AC-418C-95BC-096493294AAF}" srcOrd="3" destOrd="0" presId="urn:microsoft.com/office/officeart/2005/8/layout/default"/>
    <dgm:cxn modelId="{198CB6D7-9B80-4283-99FF-09D99E040D65}" type="presParOf" srcId="{32394584-F119-411A-8BB4-73ABBF537CD0}" destId="{CA4EDBEC-E689-4AE6-ADAC-DCD288793423}" srcOrd="4" destOrd="0" presId="urn:microsoft.com/office/officeart/2005/8/layout/default"/>
    <dgm:cxn modelId="{36478B53-1960-4292-9A77-14F312AC802C}" type="presParOf" srcId="{32394584-F119-411A-8BB4-73ABBF537CD0}" destId="{656C5EF4-6FF9-40AA-8DDF-6F7D92C00B05}" srcOrd="5" destOrd="0" presId="urn:microsoft.com/office/officeart/2005/8/layout/default"/>
    <dgm:cxn modelId="{707874C0-ED2C-4466-897C-845C3BBF48F0}" type="presParOf" srcId="{32394584-F119-411A-8BB4-73ABBF537CD0}" destId="{D1149B2A-5518-4EDA-AF11-F7402CACFE49}" srcOrd="6" destOrd="0" presId="urn:microsoft.com/office/officeart/2005/8/layout/default"/>
    <dgm:cxn modelId="{87F8D23D-E2A3-4BCE-984D-A18A1381A7BE}" type="presParOf" srcId="{32394584-F119-411A-8BB4-73ABBF537CD0}" destId="{DC48D8D2-6E06-45BE-A460-1C2278DF0C8B}" srcOrd="7" destOrd="0" presId="urn:microsoft.com/office/officeart/2005/8/layout/default"/>
    <dgm:cxn modelId="{137919A9-6B0C-47AA-8EDB-46DAC412C439}" type="presParOf" srcId="{32394584-F119-411A-8BB4-73ABBF537CD0}" destId="{1C42D401-BD2E-49FD-B444-4AF8807DCD3C}" srcOrd="8" destOrd="0" presId="urn:microsoft.com/office/officeart/2005/8/layout/default"/>
    <dgm:cxn modelId="{420863D2-1F20-4AC0-ACE2-77D5C6A352FC}" type="presParOf" srcId="{32394584-F119-411A-8BB4-73ABBF537CD0}" destId="{CD4167AA-1307-4A81-82D3-2EB02709D9C7}" srcOrd="9" destOrd="0" presId="urn:microsoft.com/office/officeart/2005/8/layout/default"/>
    <dgm:cxn modelId="{6F31EB23-E428-453D-88E7-FB66140A7C45}" type="presParOf" srcId="{32394584-F119-411A-8BB4-73ABBF537CD0}" destId="{F149C0C9-960C-4303-8DC2-0944BE0FD0D8}" srcOrd="10" destOrd="0" presId="urn:microsoft.com/office/officeart/2005/8/layout/default"/>
    <dgm:cxn modelId="{EE1C4481-C0FE-497F-A619-3D153FD04B32}" type="presParOf" srcId="{32394584-F119-411A-8BB4-73ABBF537CD0}" destId="{FC60D8B2-B057-444F-AC21-662AE40FD380}" srcOrd="11" destOrd="0" presId="urn:microsoft.com/office/officeart/2005/8/layout/default"/>
    <dgm:cxn modelId="{029EB1CA-28F9-4CAB-9E18-961466194CDE}" type="presParOf" srcId="{32394584-F119-411A-8BB4-73ABBF537CD0}" destId="{9EC510F4-E142-48BB-B652-D3BB08A6023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719F84-ECB8-4B34-A097-5B7C8EB3755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CA"/>
        </a:p>
      </dgm:t>
    </dgm:pt>
    <dgm:pt modelId="{E42A85CE-E8B3-4899-891C-1C7739A23819}">
      <dgm:prSet phldrT="[Texte]"/>
      <dgm:spPr/>
      <dgm:t>
        <a:bodyPr/>
        <a:lstStyle/>
        <a:p>
          <a:r>
            <a:rPr lang="fr-CA"/>
            <a:t>Taille du C.A</a:t>
          </a:r>
        </a:p>
      </dgm:t>
    </dgm:pt>
    <dgm:pt modelId="{AB5AA171-E076-4C8F-8EDE-5B0C7BF60E72}" type="parTrans" cxnId="{4CB1E2C0-D287-4FA7-A17F-260AE319A65B}">
      <dgm:prSet/>
      <dgm:spPr/>
      <dgm:t>
        <a:bodyPr/>
        <a:lstStyle/>
        <a:p>
          <a:endParaRPr lang="fr-CA"/>
        </a:p>
      </dgm:t>
    </dgm:pt>
    <dgm:pt modelId="{60DA44CD-C646-4E08-918E-34CAD3E618C5}" type="sibTrans" cxnId="{4CB1E2C0-D287-4FA7-A17F-260AE319A65B}">
      <dgm:prSet/>
      <dgm:spPr/>
      <dgm:t>
        <a:bodyPr/>
        <a:lstStyle/>
        <a:p>
          <a:endParaRPr lang="fr-CA"/>
        </a:p>
      </dgm:t>
    </dgm:pt>
    <dgm:pt modelId="{C58B0A8F-397B-4098-9219-C154760CA71F}">
      <dgm:prSet/>
      <dgm:spPr/>
      <dgm:t>
        <a:bodyPr/>
        <a:lstStyle/>
        <a:p>
          <a:r>
            <a:rPr lang="fr-CA"/>
            <a:t>Comité</a:t>
          </a:r>
          <a:endParaRPr lang="fr-CA" dirty="0"/>
        </a:p>
      </dgm:t>
    </dgm:pt>
    <dgm:pt modelId="{98EB3113-82D6-41BE-A8CE-67E395135459}" type="parTrans" cxnId="{7950AC84-7F51-495E-B68E-30D79BFAA4BC}">
      <dgm:prSet/>
      <dgm:spPr/>
      <dgm:t>
        <a:bodyPr/>
        <a:lstStyle/>
        <a:p>
          <a:endParaRPr lang="fr-CA"/>
        </a:p>
      </dgm:t>
    </dgm:pt>
    <dgm:pt modelId="{AD17988B-4EDD-4E20-AF08-F21E08200525}" type="sibTrans" cxnId="{7950AC84-7F51-495E-B68E-30D79BFAA4BC}">
      <dgm:prSet/>
      <dgm:spPr/>
      <dgm:t>
        <a:bodyPr/>
        <a:lstStyle/>
        <a:p>
          <a:endParaRPr lang="fr-CA"/>
        </a:p>
      </dgm:t>
    </dgm:pt>
    <dgm:pt modelId="{E5DB90CD-5197-40E2-A43C-873263F4B2EF}">
      <dgm:prSet/>
      <dgm:spPr/>
      <dgm:t>
        <a:bodyPr/>
        <a:lstStyle/>
        <a:p>
          <a:r>
            <a:rPr lang="fr-CA" dirty="0"/>
            <a:t>Responsabilité/fonctions/mandats</a:t>
          </a:r>
        </a:p>
      </dgm:t>
    </dgm:pt>
    <dgm:pt modelId="{36A26D2E-A78F-4E82-8783-D7BABDCF64A1}" type="parTrans" cxnId="{2876D00F-B51F-44EE-8B8C-E96B596DA021}">
      <dgm:prSet/>
      <dgm:spPr/>
      <dgm:t>
        <a:bodyPr/>
        <a:lstStyle/>
        <a:p>
          <a:endParaRPr lang="fr-CA"/>
        </a:p>
      </dgm:t>
    </dgm:pt>
    <dgm:pt modelId="{C89CA47E-5FA9-41DF-9DD0-75E2280861DB}" type="sibTrans" cxnId="{2876D00F-B51F-44EE-8B8C-E96B596DA021}">
      <dgm:prSet/>
      <dgm:spPr/>
      <dgm:t>
        <a:bodyPr/>
        <a:lstStyle/>
        <a:p>
          <a:endParaRPr lang="fr-CA"/>
        </a:p>
      </dgm:t>
    </dgm:pt>
    <dgm:pt modelId="{40CF7460-31A1-44AD-8EB7-30F2D33A2EB5}">
      <dgm:prSet/>
      <dgm:spPr/>
      <dgm:t>
        <a:bodyPr/>
        <a:lstStyle/>
        <a:p>
          <a:r>
            <a:rPr lang="fr-CA" dirty="0"/>
            <a:t>Fréquence/nature des réunions</a:t>
          </a:r>
        </a:p>
      </dgm:t>
    </dgm:pt>
    <dgm:pt modelId="{FBC3DC87-F719-42C9-9B89-60DA81FA9B02}" type="parTrans" cxnId="{4AF85FC0-0FCF-480D-AAE4-C545EB4C998D}">
      <dgm:prSet/>
      <dgm:spPr/>
      <dgm:t>
        <a:bodyPr/>
        <a:lstStyle/>
        <a:p>
          <a:endParaRPr lang="fr-CA"/>
        </a:p>
      </dgm:t>
    </dgm:pt>
    <dgm:pt modelId="{B59F6500-830B-45C2-BFC1-57FD3909CB67}" type="sibTrans" cxnId="{4AF85FC0-0FCF-480D-AAE4-C545EB4C998D}">
      <dgm:prSet/>
      <dgm:spPr/>
      <dgm:t>
        <a:bodyPr/>
        <a:lstStyle/>
        <a:p>
          <a:endParaRPr lang="fr-CA"/>
        </a:p>
      </dgm:t>
    </dgm:pt>
    <dgm:pt modelId="{71BDCF14-CAB8-4460-8A09-5B9654A190ED}">
      <dgm:prSet/>
      <dgm:spPr/>
      <dgm:t>
        <a:bodyPr/>
        <a:lstStyle/>
        <a:p>
          <a:r>
            <a:rPr lang="fr-CA" dirty="0"/>
            <a:t>Évaluation du fonctionnement et des administrateurs</a:t>
          </a:r>
        </a:p>
      </dgm:t>
    </dgm:pt>
    <dgm:pt modelId="{3F695B06-0D93-488A-AC07-123B3CB86F60}" type="parTrans" cxnId="{7AB2B448-008A-4C1F-848C-E47DA8F4668A}">
      <dgm:prSet/>
      <dgm:spPr/>
      <dgm:t>
        <a:bodyPr/>
        <a:lstStyle/>
        <a:p>
          <a:endParaRPr lang="fr-CA"/>
        </a:p>
      </dgm:t>
    </dgm:pt>
    <dgm:pt modelId="{EA982C36-E2F5-4290-BEB9-487831C7F177}" type="sibTrans" cxnId="{7AB2B448-008A-4C1F-848C-E47DA8F4668A}">
      <dgm:prSet/>
      <dgm:spPr/>
      <dgm:t>
        <a:bodyPr/>
        <a:lstStyle/>
        <a:p>
          <a:endParaRPr lang="fr-CA"/>
        </a:p>
      </dgm:t>
    </dgm:pt>
    <dgm:pt modelId="{1999D223-35F4-45F9-AE3F-8324733A30B0}" type="pres">
      <dgm:prSet presAssocID="{13719F84-ECB8-4B34-A097-5B7C8EB37551}" presName="linear" presStyleCnt="0">
        <dgm:presLayoutVars>
          <dgm:animLvl val="lvl"/>
          <dgm:resizeHandles val="exact"/>
        </dgm:presLayoutVars>
      </dgm:prSet>
      <dgm:spPr/>
    </dgm:pt>
    <dgm:pt modelId="{8686A1D1-7D21-44DA-87BA-7B219A9BE0D3}" type="pres">
      <dgm:prSet presAssocID="{E42A85CE-E8B3-4899-891C-1C7739A2381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3F8B33-6C27-4B27-A397-2B438CB3DB47}" type="pres">
      <dgm:prSet presAssocID="{60DA44CD-C646-4E08-918E-34CAD3E618C5}" presName="spacer" presStyleCnt="0"/>
      <dgm:spPr/>
    </dgm:pt>
    <dgm:pt modelId="{BA2B4746-E1F9-4984-9247-692A91FDC70B}" type="pres">
      <dgm:prSet presAssocID="{C58B0A8F-397B-4098-9219-C154760CA71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EB93BDA-7C2C-4F6C-9A26-634B5E70AA3E}" type="pres">
      <dgm:prSet presAssocID="{AD17988B-4EDD-4E20-AF08-F21E08200525}" presName="spacer" presStyleCnt="0"/>
      <dgm:spPr/>
    </dgm:pt>
    <dgm:pt modelId="{967F4608-AFDF-400E-9F01-6C0742361044}" type="pres">
      <dgm:prSet presAssocID="{E5DB90CD-5197-40E2-A43C-873263F4B2E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AAE589-82C3-4C72-90DE-038A415F7A8D}" type="pres">
      <dgm:prSet presAssocID="{C89CA47E-5FA9-41DF-9DD0-75E2280861DB}" presName="spacer" presStyleCnt="0"/>
      <dgm:spPr/>
    </dgm:pt>
    <dgm:pt modelId="{9D3516B2-A012-4399-9680-C31622CBEE05}" type="pres">
      <dgm:prSet presAssocID="{40CF7460-31A1-44AD-8EB7-30F2D33A2EB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8CBFE6D-DFBE-412C-AADD-70C4BE4DE407}" type="pres">
      <dgm:prSet presAssocID="{B59F6500-830B-45C2-BFC1-57FD3909CB67}" presName="spacer" presStyleCnt="0"/>
      <dgm:spPr/>
    </dgm:pt>
    <dgm:pt modelId="{F8432D8F-BA3A-4665-AB82-8E663D4B6B2B}" type="pres">
      <dgm:prSet presAssocID="{71BDCF14-CAB8-4460-8A09-5B9654A190E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876D00F-B51F-44EE-8B8C-E96B596DA021}" srcId="{13719F84-ECB8-4B34-A097-5B7C8EB37551}" destId="{E5DB90CD-5197-40E2-A43C-873263F4B2EF}" srcOrd="2" destOrd="0" parTransId="{36A26D2E-A78F-4E82-8783-D7BABDCF64A1}" sibTransId="{C89CA47E-5FA9-41DF-9DD0-75E2280861DB}"/>
    <dgm:cxn modelId="{669C9F39-6A5F-4D65-9431-D9FB47A29713}" type="presOf" srcId="{40CF7460-31A1-44AD-8EB7-30F2D33A2EB5}" destId="{9D3516B2-A012-4399-9680-C31622CBEE05}" srcOrd="0" destOrd="0" presId="urn:microsoft.com/office/officeart/2005/8/layout/vList2"/>
    <dgm:cxn modelId="{7AB2B448-008A-4C1F-848C-E47DA8F4668A}" srcId="{13719F84-ECB8-4B34-A097-5B7C8EB37551}" destId="{71BDCF14-CAB8-4460-8A09-5B9654A190ED}" srcOrd="4" destOrd="0" parTransId="{3F695B06-0D93-488A-AC07-123B3CB86F60}" sibTransId="{EA982C36-E2F5-4290-BEB9-487831C7F177}"/>
    <dgm:cxn modelId="{1929B481-7A2B-409F-A429-21E029F42439}" type="presOf" srcId="{E5DB90CD-5197-40E2-A43C-873263F4B2EF}" destId="{967F4608-AFDF-400E-9F01-6C0742361044}" srcOrd="0" destOrd="0" presId="urn:microsoft.com/office/officeart/2005/8/layout/vList2"/>
    <dgm:cxn modelId="{7950AC84-7F51-495E-B68E-30D79BFAA4BC}" srcId="{13719F84-ECB8-4B34-A097-5B7C8EB37551}" destId="{C58B0A8F-397B-4098-9219-C154760CA71F}" srcOrd="1" destOrd="0" parTransId="{98EB3113-82D6-41BE-A8CE-67E395135459}" sibTransId="{AD17988B-4EDD-4E20-AF08-F21E08200525}"/>
    <dgm:cxn modelId="{5C5560B3-B66A-4B42-9609-C072752AB322}" type="presOf" srcId="{E42A85CE-E8B3-4899-891C-1C7739A23819}" destId="{8686A1D1-7D21-44DA-87BA-7B219A9BE0D3}" srcOrd="0" destOrd="0" presId="urn:microsoft.com/office/officeart/2005/8/layout/vList2"/>
    <dgm:cxn modelId="{4AF85FC0-0FCF-480D-AAE4-C545EB4C998D}" srcId="{13719F84-ECB8-4B34-A097-5B7C8EB37551}" destId="{40CF7460-31A1-44AD-8EB7-30F2D33A2EB5}" srcOrd="3" destOrd="0" parTransId="{FBC3DC87-F719-42C9-9B89-60DA81FA9B02}" sibTransId="{B59F6500-830B-45C2-BFC1-57FD3909CB67}"/>
    <dgm:cxn modelId="{4CB1E2C0-D287-4FA7-A17F-260AE319A65B}" srcId="{13719F84-ECB8-4B34-A097-5B7C8EB37551}" destId="{E42A85CE-E8B3-4899-891C-1C7739A23819}" srcOrd="0" destOrd="0" parTransId="{AB5AA171-E076-4C8F-8EDE-5B0C7BF60E72}" sibTransId="{60DA44CD-C646-4E08-918E-34CAD3E618C5}"/>
    <dgm:cxn modelId="{B25FBAC6-C4AA-4476-BC98-599055D22B0C}" type="presOf" srcId="{71BDCF14-CAB8-4460-8A09-5B9654A190ED}" destId="{F8432D8F-BA3A-4665-AB82-8E663D4B6B2B}" srcOrd="0" destOrd="0" presId="urn:microsoft.com/office/officeart/2005/8/layout/vList2"/>
    <dgm:cxn modelId="{F5A40CD4-3836-4EE1-BC4F-BD624D1877F2}" type="presOf" srcId="{13719F84-ECB8-4B34-A097-5B7C8EB37551}" destId="{1999D223-35F4-45F9-AE3F-8324733A30B0}" srcOrd="0" destOrd="0" presId="urn:microsoft.com/office/officeart/2005/8/layout/vList2"/>
    <dgm:cxn modelId="{B75E7DFD-E124-475A-A53D-B7E93657B0A6}" type="presOf" srcId="{C58B0A8F-397B-4098-9219-C154760CA71F}" destId="{BA2B4746-E1F9-4984-9247-692A91FDC70B}" srcOrd="0" destOrd="0" presId="urn:microsoft.com/office/officeart/2005/8/layout/vList2"/>
    <dgm:cxn modelId="{B5CA66E7-B1EE-4826-95F1-594842D53AD8}" type="presParOf" srcId="{1999D223-35F4-45F9-AE3F-8324733A30B0}" destId="{8686A1D1-7D21-44DA-87BA-7B219A9BE0D3}" srcOrd="0" destOrd="0" presId="urn:microsoft.com/office/officeart/2005/8/layout/vList2"/>
    <dgm:cxn modelId="{237B1671-0368-452D-B711-3B20E7B105E5}" type="presParOf" srcId="{1999D223-35F4-45F9-AE3F-8324733A30B0}" destId="{CE3F8B33-6C27-4B27-A397-2B438CB3DB47}" srcOrd="1" destOrd="0" presId="urn:microsoft.com/office/officeart/2005/8/layout/vList2"/>
    <dgm:cxn modelId="{CE71065E-8FC2-438F-9FD7-88C4603B8CC6}" type="presParOf" srcId="{1999D223-35F4-45F9-AE3F-8324733A30B0}" destId="{BA2B4746-E1F9-4984-9247-692A91FDC70B}" srcOrd="2" destOrd="0" presId="urn:microsoft.com/office/officeart/2005/8/layout/vList2"/>
    <dgm:cxn modelId="{78E578C3-2A61-4673-B861-6074F16FF53B}" type="presParOf" srcId="{1999D223-35F4-45F9-AE3F-8324733A30B0}" destId="{7EB93BDA-7C2C-4F6C-9A26-634B5E70AA3E}" srcOrd="3" destOrd="0" presId="urn:microsoft.com/office/officeart/2005/8/layout/vList2"/>
    <dgm:cxn modelId="{8A74DEA4-8487-4D6B-B534-5426C88C9B82}" type="presParOf" srcId="{1999D223-35F4-45F9-AE3F-8324733A30B0}" destId="{967F4608-AFDF-400E-9F01-6C0742361044}" srcOrd="4" destOrd="0" presId="urn:microsoft.com/office/officeart/2005/8/layout/vList2"/>
    <dgm:cxn modelId="{AFBAB0F4-7710-446F-BCC4-326F0AB7F18B}" type="presParOf" srcId="{1999D223-35F4-45F9-AE3F-8324733A30B0}" destId="{5AAAE589-82C3-4C72-90DE-038A415F7A8D}" srcOrd="5" destOrd="0" presId="urn:microsoft.com/office/officeart/2005/8/layout/vList2"/>
    <dgm:cxn modelId="{611E2363-59D4-4E20-A041-7EF6BA81E094}" type="presParOf" srcId="{1999D223-35F4-45F9-AE3F-8324733A30B0}" destId="{9D3516B2-A012-4399-9680-C31622CBEE05}" srcOrd="6" destOrd="0" presId="urn:microsoft.com/office/officeart/2005/8/layout/vList2"/>
    <dgm:cxn modelId="{388B0042-CCF2-4FB8-8563-A7116B4F691E}" type="presParOf" srcId="{1999D223-35F4-45F9-AE3F-8324733A30B0}" destId="{88CBFE6D-DFBE-412C-AADD-70C4BE4DE407}" srcOrd="7" destOrd="0" presId="urn:microsoft.com/office/officeart/2005/8/layout/vList2"/>
    <dgm:cxn modelId="{47F3527A-FB9F-421B-8917-93D2DBC3E9E1}" type="presParOf" srcId="{1999D223-35F4-45F9-AE3F-8324733A30B0}" destId="{F8432D8F-BA3A-4665-AB82-8E663D4B6B2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8B9407-8BD7-4CD6-905B-A2E14E2A9A7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06121024-EC90-42A3-92E2-8FD29359BD9D}">
      <dgm:prSet phldrT="[Texte]"/>
      <dgm:spPr/>
      <dgm:t>
        <a:bodyPr/>
        <a:lstStyle/>
        <a:p>
          <a:r>
            <a:rPr lang="fr-CA" dirty="0"/>
            <a:t>Candidatures </a:t>
          </a:r>
        </a:p>
      </dgm:t>
    </dgm:pt>
    <dgm:pt modelId="{23B3FB20-6159-4C8D-B596-547C3234A059}" type="parTrans" cxnId="{B6B96516-4706-4B5F-BE84-E4DA4E08EE1D}">
      <dgm:prSet/>
      <dgm:spPr/>
      <dgm:t>
        <a:bodyPr/>
        <a:lstStyle/>
        <a:p>
          <a:endParaRPr lang="fr-CA"/>
        </a:p>
      </dgm:t>
    </dgm:pt>
    <dgm:pt modelId="{A79DEDC0-8902-4D50-95D7-14A8F21E9949}" type="sibTrans" cxnId="{B6B96516-4706-4B5F-BE84-E4DA4E08EE1D}">
      <dgm:prSet/>
      <dgm:spPr/>
      <dgm:t>
        <a:bodyPr/>
        <a:lstStyle/>
        <a:p>
          <a:endParaRPr lang="fr-CA"/>
        </a:p>
      </dgm:t>
    </dgm:pt>
    <dgm:pt modelId="{B0B23FB9-EDA0-4139-B8B7-4689FDF67483}">
      <dgm:prSet phldrT="[Texte]"/>
      <dgm:spPr/>
      <dgm:t>
        <a:bodyPr/>
        <a:lstStyle/>
        <a:p>
          <a:r>
            <a:rPr lang="fr-CA" dirty="0"/>
            <a:t>Rémunération</a:t>
          </a:r>
        </a:p>
      </dgm:t>
    </dgm:pt>
    <dgm:pt modelId="{F066DD6B-C500-4B5C-A067-89C08EE3A79E}" type="parTrans" cxnId="{1923CF56-4D36-4B3E-B9A0-7E4E40B6E303}">
      <dgm:prSet/>
      <dgm:spPr/>
      <dgm:t>
        <a:bodyPr/>
        <a:lstStyle/>
        <a:p>
          <a:endParaRPr lang="fr-CA"/>
        </a:p>
      </dgm:t>
    </dgm:pt>
    <dgm:pt modelId="{4E05EEFC-63EE-4E7C-B8B6-281A25CDC8C8}" type="sibTrans" cxnId="{1923CF56-4D36-4B3E-B9A0-7E4E40B6E303}">
      <dgm:prSet/>
      <dgm:spPr/>
      <dgm:t>
        <a:bodyPr/>
        <a:lstStyle/>
        <a:p>
          <a:endParaRPr lang="fr-CA"/>
        </a:p>
      </dgm:t>
    </dgm:pt>
    <dgm:pt modelId="{99025211-1333-4779-BE0B-35D7F96F3EC0}">
      <dgm:prSet phldrT="[Texte]"/>
      <dgm:spPr/>
      <dgm:t>
        <a:bodyPr/>
        <a:lstStyle/>
        <a:p>
          <a:r>
            <a:rPr lang="fr-CA" dirty="0"/>
            <a:t>Gestion des risques</a:t>
          </a:r>
        </a:p>
      </dgm:t>
    </dgm:pt>
    <dgm:pt modelId="{39F921FA-E56F-45AD-9DC5-797FB1B10B9C}" type="parTrans" cxnId="{F6D3D8D0-A83C-48A5-B63D-6DD6CAF83DBE}">
      <dgm:prSet/>
      <dgm:spPr/>
      <dgm:t>
        <a:bodyPr/>
        <a:lstStyle/>
        <a:p>
          <a:endParaRPr lang="fr-CA"/>
        </a:p>
      </dgm:t>
    </dgm:pt>
    <dgm:pt modelId="{94E55106-27F7-462C-95D2-1919CCD3FFE4}" type="sibTrans" cxnId="{F6D3D8D0-A83C-48A5-B63D-6DD6CAF83DBE}">
      <dgm:prSet/>
      <dgm:spPr/>
      <dgm:t>
        <a:bodyPr/>
        <a:lstStyle/>
        <a:p>
          <a:endParaRPr lang="fr-CA"/>
        </a:p>
      </dgm:t>
    </dgm:pt>
    <dgm:pt modelId="{BAB0061B-31E5-4589-B103-0BDE1BF596E4}">
      <dgm:prSet phldrT="[Texte]"/>
      <dgm:spPr/>
      <dgm:t>
        <a:bodyPr/>
        <a:lstStyle/>
        <a:p>
          <a:r>
            <a:rPr lang="fr-CA" dirty="0"/>
            <a:t>Comité stratégique</a:t>
          </a:r>
        </a:p>
      </dgm:t>
    </dgm:pt>
    <dgm:pt modelId="{E096866E-578A-48F1-8AEF-E18B9A32704C}" type="parTrans" cxnId="{8E3CFE30-3CCF-4E65-ABDA-740EE2FBD503}">
      <dgm:prSet/>
      <dgm:spPr/>
      <dgm:t>
        <a:bodyPr/>
        <a:lstStyle/>
        <a:p>
          <a:endParaRPr lang="fr-CA"/>
        </a:p>
      </dgm:t>
    </dgm:pt>
    <dgm:pt modelId="{0DC5869B-0D1D-4BDF-8EE7-238265041C0E}" type="sibTrans" cxnId="{8E3CFE30-3CCF-4E65-ABDA-740EE2FBD503}">
      <dgm:prSet/>
      <dgm:spPr/>
      <dgm:t>
        <a:bodyPr/>
        <a:lstStyle/>
        <a:p>
          <a:endParaRPr lang="fr-CA"/>
        </a:p>
      </dgm:t>
    </dgm:pt>
    <dgm:pt modelId="{42EE1999-0F69-458B-82D2-DAE05AA3A7D5}" type="pres">
      <dgm:prSet presAssocID="{568B9407-8BD7-4CD6-905B-A2E14E2A9A77}" presName="diagram" presStyleCnt="0">
        <dgm:presLayoutVars>
          <dgm:dir/>
          <dgm:resizeHandles val="exact"/>
        </dgm:presLayoutVars>
      </dgm:prSet>
      <dgm:spPr/>
    </dgm:pt>
    <dgm:pt modelId="{2E86DA4C-72FD-42BC-9BBA-5A2E2B5E5DA4}" type="pres">
      <dgm:prSet presAssocID="{06121024-EC90-42A3-92E2-8FD29359BD9D}" presName="node" presStyleLbl="node1" presStyleIdx="0" presStyleCnt="4">
        <dgm:presLayoutVars>
          <dgm:bulletEnabled val="1"/>
        </dgm:presLayoutVars>
      </dgm:prSet>
      <dgm:spPr/>
    </dgm:pt>
    <dgm:pt modelId="{48B784C7-586F-4E50-A4B5-EDAF5C90E99C}" type="pres">
      <dgm:prSet presAssocID="{A79DEDC0-8902-4D50-95D7-14A8F21E9949}" presName="sibTrans" presStyleCnt="0"/>
      <dgm:spPr/>
    </dgm:pt>
    <dgm:pt modelId="{E6D14FE7-AAA7-4386-86CD-D12182C61C1F}" type="pres">
      <dgm:prSet presAssocID="{B0B23FB9-EDA0-4139-B8B7-4689FDF67483}" presName="node" presStyleLbl="node1" presStyleIdx="1" presStyleCnt="4">
        <dgm:presLayoutVars>
          <dgm:bulletEnabled val="1"/>
        </dgm:presLayoutVars>
      </dgm:prSet>
      <dgm:spPr/>
    </dgm:pt>
    <dgm:pt modelId="{F1441C69-40D9-482D-B300-02FB54E8EF91}" type="pres">
      <dgm:prSet presAssocID="{4E05EEFC-63EE-4E7C-B8B6-281A25CDC8C8}" presName="sibTrans" presStyleCnt="0"/>
      <dgm:spPr/>
    </dgm:pt>
    <dgm:pt modelId="{94A8A399-2BB1-4457-84CA-950FC419CBA1}" type="pres">
      <dgm:prSet presAssocID="{99025211-1333-4779-BE0B-35D7F96F3EC0}" presName="node" presStyleLbl="node1" presStyleIdx="2" presStyleCnt="4">
        <dgm:presLayoutVars>
          <dgm:bulletEnabled val="1"/>
        </dgm:presLayoutVars>
      </dgm:prSet>
      <dgm:spPr/>
    </dgm:pt>
    <dgm:pt modelId="{2F547E3C-0185-4542-BE83-3B0F1A1F0011}" type="pres">
      <dgm:prSet presAssocID="{94E55106-27F7-462C-95D2-1919CCD3FFE4}" presName="sibTrans" presStyleCnt="0"/>
      <dgm:spPr/>
    </dgm:pt>
    <dgm:pt modelId="{0A89B3E5-7D2C-4535-8AE2-66FAA0710D80}" type="pres">
      <dgm:prSet presAssocID="{BAB0061B-31E5-4589-B103-0BDE1BF596E4}" presName="node" presStyleLbl="node1" presStyleIdx="3" presStyleCnt="4">
        <dgm:presLayoutVars>
          <dgm:bulletEnabled val="1"/>
        </dgm:presLayoutVars>
      </dgm:prSet>
      <dgm:spPr/>
    </dgm:pt>
  </dgm:ptLst>
  <dgm:cxnLst>
    <dgm:cxn modelId="{B6B96516-4706-4B5F-BE84-E4DA4E08EE1D}" srcId="{568B9407-8BD7-4CD6-905B-A2E14E2A9A77}" destId="{06121024-EC90-42A3-92E2-8FD29359BD9D}" srcOrd="0" destOrd="0" parTransId="{23B3FB20-6159-4C8D-B596-547C3234A059}" sibTransId="{A79DEDC0-8902-4D50-95D7-14A8F21E9949}"/>
    <dgm:cxn modelId="{8E3CFE30-3CCF-4E65-ABDA-740EE2FBD503}" srcId="{568B9407-8BD7-4CD6-905B-A2E14E2A9A77}" destId="{BAB0061B-31E5-4589-B103-0BDE1BF596E4}" srcOrd="3" destOrd="0" parTransId="{E096866E-578A-48F1-8AEF-E18B9A32704C}" sibTransId="{0DC5869B-0D1D-4BDF-8EE7-238265041C0E}"/>
    <dgm:cxn modelId="{265B5937-4B47-4768-A9CF-C5A5E50CE056}" type="presOf" srcId="{B0B23FB9-EDA0-4139-B8B7-4689FDF67483}" destId="{E6D14FE7-AAA7-4386-86CD-D12182C61C1F}" srcOrd="0" destOrd="0" presId="urn:microsoft.com/office/officeart/2005/8/layout/default"/>
    <dgm:cxn modelId="{681FF275-1BD5-4825-96B6-4694DE01D0E4}" type="presOf" srcId="{99025211-1333-4779-BE0B-35D7F96F3EC0}" destId="{94A8A399-2BB1-4457-84CA-950FC419CBA1}" srcOrd="0" destOrd="0" presId="urn:microsoft.com/office/officeart/2005/8/layout/default"/>
    <dgm:cxn modelId="{1923CF56-4D36-4B3E-B9A0-7E4E40B6E303}" srcId="{568B9407-8BD7-4CD6-905B-A2E14E2A9A77}" destId="{B0B23FB9-EDA0-4139-B8B7-4689FDF67483}" srcOrd="1" destOrd="0" parTransId="{F066DD6B-C500-4B5C-A067-89C08EE3A79E}" sibTransId="{4E05EEFC-63EE-4E7C-B8B6-281A25CDC8C8}"/>
    <dgm:cxn modelId="{396BCF82-41F1-4A58-A9D7-781FDE7E0F3D}" type="presOf" srcId="{06121024-EC90-42A3-92E2-8FD29359BD9D}" destId="{2E86DA4C-72FD-42BC-9BBA-5A2E2B5E5DA4}" srcOrd="0" destOrd="0" presId="urn:microsoft.com/office/officeart/2005/8/layout/default"/>
    <dgm:cxn modelId="{CCCAEFAC-F703-4411-80BC-B733EFFB43A8}" type="presOf" srcId="{BAB0061B-31E5-4589-B103-0BDE1BF596E4}" destId="{0A89B3E5-7D2C-4535-8AE2-66FAA0710D80}" srcOrd="0" destOrd="0" presId="urn:microsoft.com/office/officeart/2005/8/layout/default"/>
    <dgm:cxn modelId="{1E5302BA-39BE-43B7-9F79-818D28F26CD5}" type="presOf" srcId="{568B9407-8BD7-4CD6-905B-A2E14E2A9A77}" destId="{42EE1999-0F69-458B-82D2-DAE05AA3A7D5}" srcOrd="0" destOrd="0" presId="urn:microsoft.com/office/officeart/2005/8/layout/default"/>
    <dgm:cxn modelId="{F6D3D8D0-A83C-48A5-B63D-6DD6CAF83DBE}" srcId="{568B9407-8BD7-4CD6-905B-A2E14E2A9A77}" destId="{99025211-1333-4779-BE0B-35D7F96F3EC0}" srcOrd="2" destOrd="0" parTransId="{39F921FA-E56F-45AD-9DC5-797FB1B10B9C}" sibTransId="{94E55106-27F7-462C-95D2-1919CCD3FFE4}"/>
    <dgm:cxn modelId="{8022745C-3E9C-4F1E-97C8-B6859DCFB056}" type="presParOf" srcId="{42EE1999-0F69-458B-82D2-DAE05AA3A7D5}" destId="{2E86DA4C-72FD-42BC-9BBA-5A2E2B5E5DA4}" srcOrd="0" destOrd="0" presId="urn:microsoft.com/office/officeart/2005/8/layout/default"/>
    <dgm:cxn modelId="{CA890E23-5A47-48EA-870A-D791493A19E2}" type="presParOf" srcId="{42EE1999-0F69-458B-82D2-DAE05AA3A7D5}" destId="{48B784C7-586F-4E50-A4B5-EDAF5C90E99C}" srcOrd="1" destOrd="0" presId="urn:microsoft.com/office/officeart/2005/8/layout/default"/>
    <dgm:cxn modelId="{37B5F2C7-6B5D-490C-A943-D26F37CEDB74}" type="presParOf" srcId="{42EE1999-0F69-458B-82D2-DAE05AA3A7D5}" destId="{E6D14FE7-AAA7-4386-86CD-D12182C61C1F}" srcOrd="2" destOrd="0" presId="urn:microsoft.com/office/officeart/2005/8/layout/default"/>
    <dgm:cxn modelId="{B984BBF4-C08A-46C4-9621-6A054A9B0DDC}" type="presParOf" srcId="{42EE1999-0F69-458B-82D2-DAE05AA3A7D5}" destId="{F1441C69-40D9-482D-B300-02FB54E8EF91}" srcOrd="3" destOrd="0" presId="urn:microsoft.com/office/officeart/2005/8/layout/default"/>
    <dgm:cxn modelId="{A469E82C-E0E4-48F0-8D8F-21780739257A}" type="presParOf" srcId="{42EE1999-0F69-458B-82D2-DAE05AA3A7D5}" destId="{94A8A399-2BB1-4457-84CA-950FC419CBA1}" srcOrd="4" destOrd="0" presId="urn:microsoft.com/office/officeart/2005/8/layout/default"/>
    <dgm:cxn modelId="{101DFC9A-A90B-43BE-8237-0D62D570711C}" type="presParOf" srcId="{42EE1999-0F69-458B-82D2-DAE05AA3A7D5}" destId="{2F547E3C-0185-4542-BE83-3B0F1A1F0011}" srcOrd="5" destOrd="0" presId="urn:microsoft.com/office/officeart/2005/8/layout/default"/>
    <dgm:cxn modelId="{B1859B78-8EDE-42B0-8C93-5D51C714542B}" type="presParOf" srcId="{42EE1999-0F69-458B-82D2-DAE05AA3A7D5}" destId="{0A89B3E5-7D2C-4535-8AE2-66FAA0710D8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15106-E6CB-49BC-A408-0F1AA6AEB6AE}">
      <dsp:nvSpPr>
        <dsp:cNvPr id="0" name=""/>
        <dsp:cNvSpPr/>
      </dsp:nvSpPr>
      <dsp:spPr>
        <a:xfrm>
          <a:off x="319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Intégrité de la direction</a:t>
          </a:r>
        </a:p>
      </dsp:txBody>
      <dsp:txXfrm>
        <a:off x="3197" y="263070"/>
        <a:ext cx="2537035" cy="1522221"/>
      </dsp:txXfrm>
    </dsp:sp>
    <dsp:sp modelId="{00C7D4FA-0148-436F-833A-19E25CCD0169}">
      <dsp:nvSpPr>
        <dsp:cNvPr id="0" name=""/>
        <dsp:cNvSpPr/>
      </dsp:nvSpPr>
      <dsp:spPr>
        <a:xfrm>
          <a:off x="2793937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Planification stratégique</a:t>
          </a:r>
        </a:p>
      </dsp:txBody>
      <dsp:txXfrm>
        <a:off x="2793937" y="263070"/>
        <a:ext cx="2537035" cy="1522221"/>
      </dsp:txXfrm>
    </dsp:sp>
    <dsp:sp modelId="{CA4EDBEC-E689-4AE6-ADAC-DCD288793423}">
      <dsp:nvSpPr>
        <dsp:cNvPr id="0" name=""/>
        <dsp:cNvSpPr/>
      </dsp:nvSpPr>
      <dsp:spPr>
        <a:xfrm>
          <a:off x="558467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Gestion des risques</a:t>
          </a:r>
        </a:p>
      </dsp:txBody>
      <dsp:txXfrm>
        <a:off x="5584676" y="263070"/>
        <a:ext cx="2537035" cy="1522221"/>
      </dsp:txXfrm>
    </dsp:sp>
    <dsp:sp modelId="{D1149B2A-5518-4EDA-AF11-F7402CACFE49}">
      <dsp:nvSpPr>
        <dsp:cNvPr id="0" name=""/>
        <dsp:cNvSpPr/>
      </dsp:nvSpPr>
      <dsp:spPr>
        <a:xfrm>
          <a:off x="8375416" y="263070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Relève</a:t>
          </a:r>
        </a:p>
      </dsp:txBody>
      <dsp:txXfrm>
        <a:off x="8375416" y="263070"/>
        <a:ext cx="2537035" cy="1522221"/>
      </dsp:txXfrm>
    </dsp:sp>
    <dsp:sp modelId="{1C42D401-BD2E-49FD-B444-4AF8807DCD3C}">
      <dsp:nvSpPr>
        <dsp:cNvPr id="0" name=""/>
        <dsp:cNvSpPr/>
      </dsp:nvSpPr>
      <dsp:spPr>
        <a:xfrm>
          <a:off x="1398567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Communication</a:t>
          </a:r>
        </a:p>
      </dsp:txBody>
      <dsp:txXfrm>
        <a:off x="1398567" y="2038995"/>
        <a:ext cx="2537035" cy="1522221"/>
      </dsp:txXfrm>
    </dsp:sp>
    <dsp:sp modelId="{F149C0C9-960C-4303-8DC2-0944BE0FD0D8}">
      <dsp:nvSpPr>
        <dsp:cNvPr id="0" name=""/>
        <dsp:cNvSpPr/>
      </dsp:nvSpPr>
      <dsp:spPr>
        <a:xfrm>
          <a:off x="4189307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Contrôle interne</a:t>
          </a:r>
        </a:p>
      </dsp:txBody>
      <dsp:txXfrm>
        <a:off x="4189307" y="2038995"/>
        <a:ext cx="2537035" cy="1522221"/>
      </dsp:txXfrm>
    </dsp:sp>
    <dsp:sp modelId="{9EC510F4-E142-48BB-B652-D3BB08A60237}">
      <dsp:nvSpPr>
        <dsp:cNvPr id="0" name=""/>
        <dsp:cNvSpPr/>
      </dsp:nvSpPr>
      <dsp:spPr>
        <a:xfrm>
          <a:off x="6980046" y="2038995"/>
          <a:ext cx="2537035" cy="1522221"/>
        </a:xfrm>
        <a:prstGeom prst="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Vision gouvernance</a:t>
          </a:r>
        </a:p>
      </dsp:txBody>
      <dsp:txXfrm>
        <a:off x="6980046" y="2038995"/>
        <a:ext cx="2537035" cy="15222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6A1D1-7D21-44DA-87BA-7B219A9BE0D3}">
      <dsp:nvSpPr>
        <dsp:cNvPr id="0" name=""/>
        <dsp:cNvSpPr/>
      </dsp:nvSpPr>
      <dsp:spPr>
        <a:xfrm>
          <a:off x="0" y="827479"/>
          <a:ext cx="7635164" cy="5615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Taille du C.A</a:t>
          </a:r>
        </a:p>
      </dsp:txBody>
      <dsp:txXfrm>
        <a:off x="27415" y="854894"/>
        <a:ext cx="7580334" cy="506769"/>
      </dsp:txXfrm>
    </dsp:sp>
    <dsp:sp modelId="{BA2B4746-E1F9-4984-9247-692A91FDC70B}">
      <dsp:nvSpPr>
        <dsp:cNvPr id="0" name=""/>
        <dsp:cNvSpPr/>
      </dsp:nvSpPr>
      <dsp:spPr>
        <a:xfrm>
          <a:off x="0" y="1458199"/>
          <a:ext cx="7635164" cy="561599"/>
        </a:xfrm>
        <a:prstGeom prst="roundRect">
          <a:avLst/>
        </a:prstGeom>
        <a:solidFill>
          <a:schemeClr val="accent5">
            <a:hueOff val="355716"/>
            <a:satOff val="0"/>
            <a:lumOff val="-14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Comité</a:t>
          </a:r>
          <a:endParaRPr lang="fr-CA" sz="2400" kern="1200" dirty="0"/>
        </a:p>
      </dsp:txBody>
      <dsp:txXfrm>
        <a:off x="27415" y="1485614"/>
        <a:ext cx="7580334" cy="506769"/>
      </dsp:txXfrm>
    </dsp:sp>
    <dsp:sp modelId="{967F4608-AFDF-400E-9F01-6C0742361044}">
      <dsp:nvSpPr>
        <dsp:cNvPr id="0" name=""/>
        <dsp:cNvSpPr/>
      </dsp:nvSpPr>
      <dsp:spPr>
        <a:xfrm>
          <a:off x="0" y="2088919"/>
          <a:ext cx="7635164" cy="561599"/>
        </a:xfrm>
        <a:prstGeom prst="roundRect">
          <a:avLst/>
        </a:prstGeom>
        <a:solidFill>
          <a:schemeClr val="accent5">
            <a:hueOff val="711432"/>
            <a:satOff val="0"/>
            <a:lumOff val="-2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Responsabilité/fonctions/mandats</a:t>
          </a:r>
        </a:p>
      </dsp:txBody>
      <dsp:txXfrm>
        <a:off x="27415" y="2116334"/>
        <a:ext cx="7580334" cy="506769"/>
      </dsp:txXfrm>
    </dsp:sp>
    <dsp:sp modelId="{9D3516B2-A012-4399-9680-C31622CBEE05}">
      <dsp:nvSpPr>
        <dsp:cNvPr id="0" name=""/>
        <dsp:cNvSpPr/>
      </dsp:nvSpPr>
      <dsp:spPr>
        <a:xfrm>
          <a:off x="0" y="2719639"/>
          <a:ext cx="7635164" cy="561599"/>
        </a:xfrm>
        <a:prstGeom prst="roundRect">
          <a:avLst/>
        </a:prstGeom>
        <a:solidFill>
          <a:schemeClr val="accent5">
            <a:hueOff val="1067148"/>
            <a:satOff val="0"/>
            <a:lumOff val="-42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Fréquence/nature des réunions</a:t>
          </a:r>
        </a:p>
      </dsp:txBody>
      <dsp:txXfrm>
        <a:off x="27415" y="2747054"/>
        <a:ext cx="7580334" cy="506769"/>
      </dsp:txXfrm>
    </dsp:sp>
    <dsp:sp modelId="{F8432D8F-BA3A-4665-AB82-8E663D4B6B2B}">
      <dsp:nvSpPr>
        <dsp:cNvPr id="0" name=""/>
        <dsp:cNvSpPr/>
      </dsp:nvSpPr>
      <dsp:spPr>
        <a:xfrm>
          <a:off x="0" y="3350359"/>
          <a:ext cx="7635164" cy="561599"/>
        </a:xfrm>
        <a:prstGeom prst="roundRect">
          <a:avLst/>
        </a:prstGeom>
        <a:solidFill>
          <a:schemeClr val="accent5">
            <a:hueOff val="1422864"/>
            <a:satOff val="0"/>
            <a:lumOff val="-56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Évaluation du fonctionnement et des administrateurs</a:t>
          </a:r>
        </a:p>
      </dsp:txBody>
      <dsp:txXfrm>
        <a:off x="27415" y="3377774"/>
        <a:ext cx="7580334" cy="5067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6DA4C-72FD-42BC-9BBA-5A2E2B5E5DA4}">
      <dsp:nvSpPr>
        <dsp:cNvPr id="0" name=""/>
        <dsp:cNvSpPr/>
      </dsp:nvSpPr>
      <dsp:spPr>
        <a:xfrm>
          <a:off x="758978" y="3237"/>
          <a:ext cx="2936778" cy="17620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300" kern="1200" dirty="0"/>
            <a:t>Candidatures </a:t>
          </a:r>
        </a:p>
      </dsp:txBody>
      <dsp:txXfrm>
        <a:off x="758978" y="3237"/>
        <a:ext cx="2936778" cy="1762067"/>
      </dsp:txXfrm>
    </dsp:sp>
    <dsp:sp modelId="{E6D14FE7-AAA7-4386-86CD-D12182C61C1F}">
      <dsp:nvSpPr>
        <dsp:cNvPr id="0" name=""/>
        <dsp:cNvSpPr/>
      </dsp:nvSpPr>
      <dsp:spPr>
        <a:xfrm>
          <a:off x="3989435" y="3237"/>
          <a:ext cx="2936778" cy="17620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300" kern="1200" dirty="0"/>
            <a:t>Rémunération</a:t>
          </a:r>
        </a:p>
      </dsp:txBody>
      <dsp:txXfrm>
        <a:off x="3989435" y="3237"/>
        <a:ext cx="2936778" cy="1762067"/>
      </dsp:txXfrm>
    </dsp:sp>
    <dsp:sp modelId="{94A8A399-2BB1-4457-84CA-950FC419CBA1}">
      <dsp:nvSpPr>
        <dsp:cNvPr id="0" name=""/>
        <dsp:cNvSpPr/>
      </dsp:nvSpPr>
      <dsp:spPr>
        <a:xfrm>
          <a:off x="7219892" y="3237"/>
          <a:ext cx="2936778" cy="17620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300" kern="1200" dirty="0"/>
            <a:t>Gestion des risques</a:t>
          </a:r>
        </a:p>
      </dsp:txBody>
      <dsp:txXfrm>
        <a:off x="7219892" y="3237"/>
        <a:ext cx="2936778" cy="1762067"/>
      </dsp:txXfrm>
    </dsp:sp>
    <dsp:sp modelId="{0A89B3E5-7D2C-4535-8AE2-66FAA0710D80}">
      <dsp:nvSpPr>
        <dsp:cNvPr id="0" name=""/>
        <dsp:cNvSpPr/>
      </dsp:nvSpPr>
      <dsp:spPr>
        <a:xfrm>
          <a:off x="3989435" y="2058982"/>
          <a:ext cx="2936778" cy="17620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300" kern="1200" dirty="0"/>
            <a:t>Comité stratégique</a:t>
          </a:r>
        </a:p>
      </dsp:txBody>
      <dsp:txXfrm>
        <a:off x="3989435" y="2058982"/>
        <a:ext cx="2936778" cy="1762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1" cy="473045"/>
          </a:xfrm>
          <a:prstGeom prst="rect">
            <a:avLst/>
          </a:prstGeom>
        </p:spPr>
        <p:txBody>
          <a:bodyPr vert="horz" lIns="94354" tIns="47178" rIns="94354" bIns="47178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14101" y="0"/>
            <a:ext cx="3070861" cy="473045"/>
          </a:xfrm>
          <a:prstGeom prst="rect">
            <a:avLst/>
          </a:prstGeom>
        </p:spPr>
        <p:txBody>
          <a:bodyPr vert="horz" lIns="94354" tIns="47178" rIns="94354" bIns="47178" rtlCol="0"/>
          <a:lstStyle>
            <a:lvl1pPr algn="r">
              <a:defRPr sz="1200"/>
            </a:lvl1pPr>
          </a:lstStyle>
          <a:p>
            <a:fld id="{14ACF90F-8CD0-48D0-B214-EE61CF43C26A}" type="datetimeFigureOut">
              <a:rPr lang="fr-CA" smtClean="0"/>
              <a:t>2025-04-02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79513"/>
            <a:ext cx="5651500" cy="3179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354" tIns="47178" rIns="94354" bIns="47178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8661" y="4537303"/>
            <a:ext cx="5669280" cy="3712340"/>
          </a:xfrm>
          <a:prstGeom prst="rect">
            <a:avLst/>
          </a:prstGeom>
        </p:spPr>
        <p:txBody>
          <a:bodyPr vert="horz" lIns="94354" tIns="47178" rIns="94354" bIns="4717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955120"/>
            <a:ext cx="3070861" cy="473044"/>
          </a:xfrm>
          <a:prstGeom prst="rect">
            <a:avLst/>
          </a:prstGeom>
        </p:spPr>
        <p:txBody>
          <a:bodyPr vert="horz" lIns="94354" tIns="47178" rIns="94354" bIns="47178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14101" y="8955120"/>
            <a:ext cx="3070861" cy="473044"/>
          </a:xfrm>
          <a:prstGeom prst="rect">
            <a:avLst/>
          </a:prstGeom>
        </p:spPr>
        <p:txBody>
          <a:bodyPr vert="horz" lIns="94354" tIns="47178" rIns="94354" bIns="47178" rtlCol="0" anchor="b"/>
          <a:lstStyle>
            <a:lvl1pPr algn="r">
              <a:defRPr sz="1200"/>
            </a:lvl1pPr>
          </a:lstStyle>
          <a:p>
            <a:fld id="{1F1F2D47-FF76-4FB8-96DA-10C04CB97B9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26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56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Parties prenantes qui sont touchés</a:t>
            </a:r>
          </a:p>
          <a:p>
            <a:r>
              <a:rPr lang="fr-CA" dirty="0"/>
              <a:t>Étudiant moyenne pas juste </a:t>
            </a:r>
          </a:p>
          <a:p>
            <a:r>
              <a:rPr lang="fr-CA" dirty="0" err="1"/>
              <a:t>Presilla</a:t>
            </a:r>
            <a:r>
              <a:rPr lang="fr-CA" dirty="0"/>
              <a:t> Exclusion mauvaise </a:t>
            </a:r>
            <a:r>
              <a:rPr lang="fr-CA" dirty="0" err="1"/>
              <a:t>preparation</a:t>
            </a:r>
            <a:r>
              <a:rPr lang="fr-CA" dirty="0"/>
              <a:t> et manque de confiance </a:t>
            </a:r>
          </a:p>
          <a:p>
            <a:r>
              <a:rPr lang="fr-CA" dirty="0"/>
              <a:t>Prof =difficulté a avoir le niveau des étudiant </a:t>
            </a:r>
          </a:p>
          <a:p>
            <a:r>
              <a:rPr lang="fr-CA" dirty="0"/>
              <a:t>HEC impact sur la réputation </a:t>
            </a:r>
          </a:p>
          <a:p>
            <a:r>
              <a:rPr lang="fr-CA" dirty="0"/>
              <a:t>Ici on parle de la mise en situation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5493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C’est important pour l’EFC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8777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Recommandation et directives pour la gouvernance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285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Plan de réponse</a:t>
            </a:r>
          </a:p>
          <a:p>
            <a:r>
              <a:rPr lang="fr-CA" dirty="0"/>
              <a:t>1-Est que c’est légal ou illégal c’est illégal et car est non éthique </a:t>
            </a:r>
          </a:p>
          <a:p>
            <a:r>
              <a:rPr lang="fr-CA" dirty="0"/>
              <a:t>2-Impact sur les parties prenantes </a:t>
            </a:r>
          </a:p>
          <a:p>
            <a:r>
              <a:rPr lang="fr-CA" dirty="0"/>
              <a:t>Entreprise:</a:t>
            </a:r>
          </a:p>
          <a:p>
            <a:r>
              <a:rPr lang="fr-CA" dirty="0"/>
              <a:t>Doug</a:t>
            </a:r>
          </a:p>
          <a:p>
            <a:r>
              <a:rPr lang="fr-CA" dirty="0"/>
              <a:t>La </a:t>
            </a:r>
            <a:r>
              <a:rPr lang="fr-CA" dirty="0" err="1"/>
              <a:t>clientele</a:t>
            </a:r>
            <a:endParaRPr lang="fr-CA" dirty="0"/>
          </a:p>
          <a:p>
            <a:r>
              <a:rPr lang="fr-CA" dirty="0"/>
              <a:t>Trip </a:t>
            </a:r>
            <a:r>
              <a:rPr lang="fr-CA" dirty="0" err="1"/>
              <a:t>advison</a:t>
            </a:r>
            <a:r>
              <a:rPr lang="fr-CA" dirty="0"/>
              <a:t> </a:t>
            </a:r>
          </a:p>
          <a:p>
            <a:r>
              <a:rPr lang="fr-CA" dirty="0"/>
              <a:t>Les actionnaires de la compagnie </a:t>
            </a:r>
          </a:p>
          <a:p>
            <a:r>
              <a:rPr lang="fr-CA" dirty="0"/>
              <a:t>Recommandation a CT</a:t>
            </a:r>
          </a:p>
          <a:p>
            <a:r>
              <a:rPr lang="fr-CA" dirty="0"/>
              <a:t>Quoi faire avec Doug soit la </a:t>
            </a:r>
            <a:r>
              <a:rPr lang="fr-CA" dirty="0" err="1"/>
              <a:t>congidier</a:t>
            </a:r>
            <a:r>
              <a:rPr lang="fr-CA" dirty="0"/>
              <a:t> rien a faire et un </a:t>
            </a:r>
            <a:r>
              <a:rPr lang="fr-CA" dirty="0" err="1"/>
              <a:t>avertissment</a:t>
            </a:r>
            <a:r>
              <a:rPr lang="fr-CA" dirty="0"/>
              <a:t> ou bien une </a:t>
            </a:r>
            <a:r>
              <a:rPr lang="fr-CA" dirty="0" err="1"/>
              <a:t>susspention</a:t>
            </a:r>
            <a:r>
              <a:rPr lang="fr-CA" dirty="0"/>
              <a:t> </a:t>
            </a:r>
          </a:p>
          <a:p>
            <a:r>
              <a:rPr lang="fr-CA" dirty="0"/>
              <a:t>Retirer les commentaires publiés </a:t>
            </a:r>
          </a:p>
          <a:p>
            <a:r>
              <a:rPr lang="fr-CA" dirty="0"/>
              <a:t>Communication de la situation aux employés </a:t>
            </a:r>
          </a:p>
          <a:p>
            <a:endParaRPr lang="fr-CA" dirty="0"/>
          </a:p>
          <a:p>
            <a:r>
              <a:rPr lang="fr-CA" dirty="0"/>
              <a:t>Recommandation pour que la situation ne se reproduise plus :changement de la rémunération incitative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0802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5242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0093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078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Pour protéger les actionnaires et s’assurer que les intérêts des actionnaires sont garanties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0799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Approuve les orientations stratégiques par le conseil d’administration </a:t>
            </a:r>
          </a:p>
          <a:p>
            <a:r>
              <a:rPr lang="fr-CA" dirty="0"/>
              <a:t>Puis le PDG met en ouvre cette stratégie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5113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Adopte un mandat écrit dont il définit explicitement ses responsabilités en matière de gestion </a:t>
            </a:r>
          </a:p>
          <a:p>
            <a:r>
              <a:rPr lang="fr-CA" dirty="0"/>
              <a:t>La vision de gouvernance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6416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Le CA est responsable de code éthiques et l’intégrité de direction </a:t>
            </a:r>
          </a:p>
          <a:p>
            <a:r>
              <a:rPr lang="fr-CA" dirty="0"/>
              <a:t>La planification stratégique approuver une fois par an par le CA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3426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6476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Planification évaluer nommer et assumer le relevé des membres de CA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1899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812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0690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Mandat sera écrit </a:t>
            </a:r>
          </a:p>
          <a:p>
            <a:r>
              <a:rPr lang="fr-CA" dirty="0"/>
              <a:t>I P C </a:t>
            </a:r>
            <a:r>
              <a:rPr lang="fr-CA" dirty="0" err="1"/>
              <a:t>C</a:t>
            </a:r>
            <a:r>
              <a:rPr lang="fr-CA" dirty="0"/>
              <a:t> G V R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73731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 1Intégrité de direction2 planification stratégique 3vision stratégique 4contrôle interne5 gestion de risque puis a la fin on aura 6releve et 7 communication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57353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Est que la relation entre le CA et la direction peut nuire aux décisions stratégiques qui ne va pas au profit des actionnaires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6754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La taille de CA est trop grande impact mal organisation mal de communication et pas d’efficacité</a:t>
            </a:r>
          </a:p>
          <a:p>
            <a:r>
              <a:rPr lang="fr-CA" dirty="0"/>
              <a:t>La taille de CA trop petit engendre moins de contact </a:t>
            </a:r>
          </a:p>
          <a:p>
            <a:r>
              <a:rPr lang="fr-CA" dirty="0"/>
              <a:t>Indépendance: le principe de l’indépendance qui va </a:t>
            </a:r>
            <a:r>
              <a:rPr lang="fr-CA" dirty="0" err="1"/>
              <a:t>surviller</a:t>
            </a:r>
            <a:r>
              <a:rPr lang="fr-CA" dirty="0"/>
              <a:t> qui </a:t>
            </a:r>
          </a:p>
          <a:p>
            <a:r>
              <a:rPr lang="fr-CA" dirty="0"/>
              <a:t>Protéger les intérêts des actionnaires </a:t>
            </a:r>
            <a:r>
              <a:rPr lang="fr-CA" dirty="0" err="1"/>
              <a:t>minotaires</a:t>
            </a:r>
            <a:r>
              <a:rPr lang="fr-CA" dirty="0"/>
              <a:t> </a:t>
            </a:r>
          </a:p>
          <a:p>
            <a:r>
              <a:rPr lang="fr-CA" dirty="0"/>
              <a:t>Pas de </a:t>
            </a:r>
            <a:r>
              <a:rPr lang="fr-CA" dirty="0" err="1"/>
              <a:t>régle</a:t>
            </a:r>
            <a:r>
              <a:rPr lang="fr-CA" dirty="0"/>
              <a:t> sur la durée de mandant mais pour plus 3 mandat ca devient plus indépendant </a:t>
            </a:r>
          </a:p>
          <a:p>
            <a:r>
              <a:rPr lang="fr-CA" dirty="0"/>
              <a:t>Si tu est tombé en faillite tu n’a pas le droit pour être </a:t>
            </a:r>
            <a:r>
              <a:rPr lang="fr-CA" dirty="0" err="1"/>
              <a:t>administateur</a:t>
            </a:r>
            <a:r>
              <a:rPr lang="fr-CA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3407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8728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5407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22518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Les qualités qui doivent êtres dans les administrateurs de CA </a:t>
            </a:r>
          </a:p>
          <a:p>
            <a:r>
              <a:rPr lang="fr-CA" dirty="0" err="1"/>
              <a:t>Idépendance</a:t>
            </a:r>
            <a:r>
              <a:rPr lang="fr-CA" dirty="0"/>
              <a:t> </a:t>
            </a:r>
            <a:r>
              <a:rPr lang="fr-CA" dirty="0" err="1"/>
              <a:t>compétnece</a:t>
            </a:r>
            <a:r>
              <a:rPr lang="fr-CA" dirty="0"/>
              <a:t> présidence intégrité </a:t>
            </a:r>
            <a:r>
              <a:rPr lang="fr-CA" dirty="0" err="1"/>
              <a:t>diposnobilité</a:t>
            </a:r>
            <a:r>
              <a:rPr lang="fr-CA" dirty="0"/>
              <a:t> efficacité et </a:t>
            </a:r>
            <a:r>
              <a:rPr lang="fr-CA" dirty="0" err="1"/>
              <a:t>effecience</a:t>
            </a:r>
            <a:r>
              <a:rPr lang="fr-CA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11152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C.A conseille d’administration 5 a 11 membres (nombre impaires) </a:t>
            </a:r>
          </a:p>
          <a:p>
            <a:r>
              <a:rPr lang="fr-CA" dirty="0"/>
              <a:t>Les réunions une fois 4 fois par années (nombre nominale de réunions par an) </a:t>
            </a:r>
          </a:p>
          <a:p>
            <a:r>
              <a:rPr lang="fr-CA" dirty="0"/>
              <a:t>On engage une firme externe pour évaluer le CA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7468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7967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comité d’audit est un sous-comité du conseil d’administration qui supervise la qualité et l’intégrité</a:t>
            </a:r>
          </a:p>
          <a:p>
            <a:r>
              <a:rPr lang="fr-FR" dirty="0"/>
              <a:t>de la fonction d’information financière de l’organisation. Comme toutes les sociétés cotées en bourse</a:t>
            </a:r>
          </a:p>
          <a:p>
            <a:r>
              <a:rPr lang="fr-FR" dirty="0"/>
              <a:t>au Canada sont tenues d’avoir un comité d’audit, les CPA doivent mieux comprendre l’objectif et le</a:t>
            </a:r>
          </a:p>
          <a:p>
            <a:r>
              <a:rPr lang="fr-FR" dirty="0"/>
              <a:t>rôle d’un tel comité, tel qu’il est décrit ci-après :</a:t>
            </a:r>
          </a:p>
          <a:p>
            <a:r>
              <a:rPr lang="fr-FR" dirty="0"/>
              <a:t>• Il traite directement avec les fonctions d’audit interne et d’audit externe, et s’assure que les</a:t>
            </a:r>
          </a:p>
          <a:p>
            <a:r>
              <a:rPr lang="fr-FR" dirty="0"/>
              <a:t>contrôles internes appropriés sont en place pour prévenir la fraude.</a:t>
            </a:r>
          </a:p>
          <a:p>
            <a:r>
              <a:rPr lang="fr-FR" dirty="0"/>
              <a:t>• Il est responsable de l’évaluation des qualifications et de l’indépendance des auditeurs externes</a:t>
            </a:r>
          </a:p>
          <a:p>
            <a:r>
              <a:rPr lang="fr-FR" dirty="0"/>
              <a:t>ainsi que du suivi de leur performance.</a:t>
            </a:r>
          </a:p>
          <a:p>
            <a:r>
              <a:rPr lang="fr-FR" dirty="0"/>
              <a:t>• Il s’assure que le processus d’information financière répond aux exigences légales et réglementaires.</a:t>
            </a:r>
          </a:p>
          <a:p>
            <a:r>
              <a:rPr lang="fr-FR" dirty="0"/>
              <a:t>• Il surveille les nouvelles normes comptables et examine la pertinence des politiques comptables</a:t>
            </a:r>
          </a:p>
          <a:p>
            <a:r>
              <a:rPr lang="fr-FR" dirty="0"/>
              <a:t>en place.</a:t>
            </a:r>
          </a:p>
          <a:p>
            <a:r>
              <a:rPr lang="fr-FR" dirty="0"/>
              <a:t>• Il examine le processus d’évaluation des risques de l’entreprise.</a:t>
            </a:r>
          </a:p>
          <a:p>
            <a:r>
              <a:rPr lang="fr-FR" dirty="0"/>
              <a:t>• La composition doit respecter les conditions ci-après :</a:t>
            </a:r>
          </a:p>
          <a:p>
            <a:r>
              <a:rPr lang="fr-FR" dirty="0"/>
              <a:t>— Tous les membres doivent être indépendants de l’organisation; un membre ne doit donc pas</a:t>
            </a:r>
          </a:p>
          <a:p>
            <a:r>
              <a:rPr lang="fr-FR" dirty="0"/>
              <a:t>occuper ou avoir occupé un poste en interne.</a:t>
            </a:r>
          </a:p>
          <a:p>
            <a:r>
              <a:rPr lang="fr-FR" dirty="0"/>
              <a:t>— Les membres doivent posséder de bonnes connaissances financières.</a:t>
            </a:r>
          </a:p>
          <a:p>
            <a:r>
              <a:rPr lang="fr-FR" dirty="0"/>
              <a:t>— Le comité d’audit doit compter au moins trois membres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73367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Candidature et gouvernance: évaluer la taille de CA et les nouveaux membres de CA et le code éthique </a:t>
            </a:r>
          </a:p>
          <a:p>
            <a:r>
              <a:rPr lang="fr-CA" dirty="0"/>
              <a:t>Rémunération: évaluer la rémunération  de chef de direction et de la haute de direction (est une recommandation de AMF sur l’indépendance n’est pas une obligation) </a:t>
            </a:r>
          </a:p>
          <a:p>
            <a:r>
              <a:rPr lang="fr-CA" dirty="0"/>
              <a:t>Gestion des risques: risques d’affaire d’ne façon générale </a:t>
            </a:r>
          </a:p>
          <a:p>
            <a:r>
              <a:rPr lang="fr-CA" dirty="0"/>
              <a:t>Sont 4 principaux des comités en plus de comité d’audité qui sont la pour aider le CA </a:t>
            </a:r>
          </a:p>
          <a:p>
            <a:r>
              <a:rPr lang="fr-CA" dirty="0"/>
              <a:t>Donc y’a toute la documentation sur zone cours pour préparer les notes d’études pour la gouvernance pour l’EFC </a:t>
            </a:r>
          </a:p>
          <a:p>
            <a:r>
              <a:rPr lang="fr-CA" dirty="0"/>
              <a:t>C’est a moi le candidat de faire le grand travail le profs sert a me répondre et me guide donc mets ca dans ta tête et ouvre bien tes yeux c’est a toi de bosser et a toi tout seul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089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emf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9" y="1719405"/>
            <a:ext cx="10916123" cy="455430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2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4320">
                <a:solidFill>
                  <a:schemeClr val="accent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87"/>
            <a:ext cx="7022400" cy="482803"/>
          </a:xfrm>
          <a:solidFill>
            <a:schemeClr val="accent2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1097280" rtl="0" eaLnBrk="1" latinLnBrk="0" hangingPunct="1">
              <a:defRPr lang="fr-CA" sz="804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2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8" y="6033953"/>
            <a:ext cx="2865599" cy="240066"/>
          </a:xfrm>
          <a:solidFill>
            <a:schemeClr val="accent2"/>
          </a:solidFill>
        </p:spPr>
        <p:txBody>
          <a:bodyPr/>
          <a:lstStyle>
            <a:lvl1pPr algn="l">
              <a:defRPr sz="156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5A58C0-08F0-4A50-B07B-6D1C5C48A4F1}" type="datetime1">
              <a:rPr lang="fr-CA" smtClean="0"/>
              <a:t>2025-04-02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836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5623"/>
            <a:ext cx="10915200" cy="987552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8400" y="1893224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CC53-9834-49DE-99C7-7F6AD1C4BD1F}" type="datetime1">
              <a:rPr lang="fr-CA" smtClean="0"/>
              <a:t>2025-04-02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0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60" indent="-18576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 dirty="0"/>
          </a:p>
        </p:txBody>
      </p:sp>
    </p:spTree>
    <p:extLst>
      <p:ext uri="{BB962C8B-B14F-4D97-AF65-F5344CB8AC3E}">
        <p14:creationId xmlns:p14="http://schemas.microsoft.com/office/powerpoint/2010/main" val="221519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19" y="4143768"/>
            <a:ext cx="8804180" cy="17337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4"/>
          <a:stretch/>
        </p:blipFill>
        <p:spPr>
          <a:xfrm>
            <a:off x="7787951" y="1685399"/>
            <a:ext cx="3766109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2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1097280" rtl="0" eaLnBrk="1" latinLnBrk="0" hangingPunct="1">
              <a:spcBef>
                <a:spcPct val="0"/>
              </a:spcBef>
              <a:buNone/>
              <a:defRPr lang="fr-CA" sz="432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87"/>
            <a:ext cx="7022400" cy="482803"/>
          </a:xfrm>
          <a:solidFill>
            <a:schemeClr val="accent2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109728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1CC4052-1310-45CC-AB2F-03ABCF62E9FF}" type="datetime1">
              <a:rPr lang="fr-CA" smtClean="0"/>
              <a:t>2025-04-02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5511" y="1719405"/>
            <a:ext cx="3778552" cy="23338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400" y="4143767"/>
            <a:ext cx="2023936" cy="1733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pic>
        <p:nvPicPr>
          <p:cNvPr id="12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5511" y="1719406"/>
            <a:ext cx="3778551" cy="2345009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6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4CD-DF54-4297-AB04-B1C5A2A1A70B}" type="datetime1">
              <a:rPr lang="fr-CA" smtClean="0"/>
              <a:t>2025-04-02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440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2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1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813561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453323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5161-F226-49B3-8311-95D08D34E590}" type="datetime1">
              <a:rPr lang="fr-CA" smtClean="0"/>
              <a:t>2025-04-02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7694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3730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AC9E8-FE15-4A03-A806-7F73DF5A5F85}" type="datetime1">
              <a:rPr lang="fr-CA" smtClean="0"/>
              <a:t>2025-04-02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7439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3B74F-FFDA-44B0-B1C6-B75437B2865C}" type="datetime1">
              <a:rPr lang="fr-CA" smtClean="0"/>
              <a:t>2025-04-02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983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1"/>
            <a:ext cx="10915200" cy="98641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1"/>
            <a:ext cx="6796800" cy="3913530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1"/>
            <a:ext cx="3984000" cy="391353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8C76-5CD6-4C9C-B832-4C8504C5995D}" type="datetime1">
              <a:rPr lang="fr-CA" smtClean="0"/>
              <a:t>2025-04-02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0289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2"/>
            <a:ext cx="10915200" cy="98754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2"/>
            <a:ext cx="10905600" cy="3240718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18B9-9E5D-4B74-AD2E-A338EC337F5C}" type="datetime1">
              <a:rPr lang="fr-CA" smtClean="0"/>
              <a:t>2025-04-02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77352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accent2"/>
                </a:solidFill>
              </a:defRPr>
            </a:lvl1pPr>
          </a:lstStyle>
          <a:p>
            <a:fld id="{8B9F18B9-9E5D-4B74-AD2E-A338EC337F5C}" type="datetime1">
              <a:rPr lang="fr-CA" smtClean="0"/>
              <a:t>2025-04-02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accent2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accent2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0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</p:sldLayoutIdLst>
  <p:hf hdr="0" dt="0"/>
  <p:txStyles>
    <p:titleStyle>
      <a:lvl1pPr algn="l" defTabSz="1097280" rtl="0" eaLnBrk="1" latinLnBrk="0" hangingPunct="1">
        <a:spcBef>
          <a:spcPct val="0"/>
        </a:spcBef>
        <a:buNone/>
        <a:defRPr sz="312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576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1pPr>
      <a:lvl2pPr marL="5443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2pPr>
      <a:lvl3pPr marL="9028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3pPr>
      <a:lvl4pPr marL="12571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4pPr>
      <a:lvl5pPr marL="16156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lautorite.qc.ca/files/pdf/reglementation/valeurs-mobilieres/58-201/2005-06-30/2005juin30-58-201-ig-vadmin-fr.pdf" TargetMode="Externa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hyperlink" Target="https://www.cpacanada.ca/fr/ressources-en-comptabilite-et-en-affaires/strategie-risque-et-gouvernance/gouvernance-dentreprise/publications/constitution-et-maintien-dun-conseil-dadministration-efficace" TargetMode="Externa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lautorite.qc.ca/files/pdf/reglementation/valeurs-mobilieres/58-201/2005-06-30/2005juin30-58-201-ig-vadmin-fr.pdf" TargetMode="Externa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hyperlink" Target="https://www.cpacanada.ca/fr/ressources-en-comptabilite-et-en-affaires/strategie-risque-et-gouvernance/gouvernance-dentreprise/publications/constitution-et-maintien-dun-conseil-dadministration-efficace" TargetMode="Externa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lautorite.qc.ca/files/pdf/reglementation/valeurs-mobilieres/58-201/2005-06-30/2005juin30-58-201-ig-vadmin-fr.pdf" TargetMode="Externa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hyperlink" Target="http://www.oecd.org/fr/gouvernementdentreprise/ae/principesdegouvernementdentreprise/31652074.PDF" TargetMode="Externa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7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7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7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tags" Target="../tags/tag39.xml"/><Relationship Id="rId7" Type="http://schemas.openxmlformats.org/officeDocument/2006/relationships/diagramLayout" Target="../diagrams/layout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diagramData" Target="../diagrams/data1.xml"/><Relationship Id="rId5" Type="http://schemas.openxmlformats.org/officeDocument/2006/relationships/notesSlide" Target="../notesSlides/notesSlide11.xml"/><Relationship Id="rId10" Type="http://schemas.microsoft.com/office/2007/relationships/diagramDrawing" Target="../diagrams/drawing1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tags" Target="../tags/tag42.xml"/><Relationship Id="rId7" Type="http://schemas.openxmlformats.org/officeDocument/2006/relationships/diagramLayout" Target="../diagrams/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diagramData" Target="../diagrams/data2.xml"/><Relationship Id="rId5" Type="http://schemas.openxmlformats.org/officeDocument/2006/relationships/notesSlide" Target="../notesSlides/notesSlide12.xml"/><Relationship Id="rId10" Type="http://schemas.microsoft.com/office/2007/relationships/diagramDrawing" Target="../diagrams/drawing2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tags" Target="../tags/tag45.xml"/><Relationship Id="rId7" Type="http://schemas.openxmlformats.org/officeDocument/2006/relationships/diagramLayout" Target="../diagrams/layout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diagramData" Target="../diagrams/data3.xml"/><Relationship Id="rId5" Type="http://schemas.openxmlformats.org/officeDocument/2006/relationships/notesSlide" Target="../notesSlides/notesSlide13.xml"/><Relationship Id="rId10" Type="http://schemas.microsoft.com/office/2007/relationships/diagramDrawing" Target="../diagrams/drawing3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tags" Target="../tags/tag48.xml"/><Relationship Id="rId7" Type="http://schemas.openxmlformats.org/officeDocument/2006/relationships/diagramLayout" Target="../diagrams/layout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diagramData" Target="../diagrams/data4.xml"/><Relationship Id="rId5" Type="http://schemas.openxmlformats.org/officeDocument/2006/relationships/notesSlide" Target="../notesSlides/notesSlide14.xml"/><Relationship Id="rId10" Type="http://schemas.microsoft.com/office/2007/relationships/diagramDrawing" Target="../diagrams/drawing4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tags" Target="../tags/tag51.xml"/><Relationship Id="rId7" Type="http://schemas.openxmlformats.org/officeDocument/2006/relationships/diagramLayout" Target="../diagrams/layout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diagramData" Target="../diagrams/data5.xml"/><Relationship Id="rId5" Type="http://schemas.openxmlformats.org/officeDocument/2006/relationships/notesSlide" Target="../notesSlides/notesSlide15.xml"/><Relationship Id="rId10" Type="http://schemas.microsoft.com/office/2007/relationships/diagramDrawing" Target="../diagrams/drawing5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tags" Target="../tags/tag54.xml"/><Relationship Id="rId7" Type="http://schemas.openxmlformats.org/officeDocument/2006/relationships/diagramLayout" Target="../diagrams/layout6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diagramData" Target="../diagrams/data6.xml"/><Relationship Id="rId5" Type="http://schemas.openxmlformats.org/officeDocument/2006/relationships/notesSlide" Target="../notesSlides/notesSlide16.xml"/><Relationship Id="rId10" Type="http://schemas.microsoft.com/office/2007/relationships/diagramDrawing" Target="../diagrams/drawing6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tags" Target="../tags/tag57.xml"/><Relationship Id="rId7" Type="http://schemas.openxmlformats.org/officeDocument/2006/relationships/diagramLayout" Target="../diagrams/layout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diagramData" Target="../diagrams/data7.xml"/><Relationship Id="rId5" Type="http://schemas.openxmlformats.org/officeDocument/2006/relationships/notesSlide" Target="../notesSlides/notesSlide17.xml"/><Relationship Id="rId10" Type="http://schemas.microsoft.com/office/2007/relationships/diagramDrawing" Target="../diagrams/drawing7.xml"/><Relationship Id="rId4" Type="http://schemas.openxmlformats.org/officeDocument/2006/relationships/slideLayout" Target="../slideLayouts/slideLayout2.xml"/><Relationship Id="rId9" Type="http://schemas.openxmlformats.org/officeDocument/2006/relationships/diagramColors" Target="../diagrams/colors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microsoft.com/office/2018/10/relationships/comments" Target="../comments/modernComment_149_B5AF8275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tags" Target="../tags/tag82.xml"/><Relationship Id="rId7" Type="http://schemas.openxmlformats.org/officeDocument/2006/relationships/diagramData" Target="../diagrams/data8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notesSlide" Target="../notesSlides/notesSlide25.xml"/><Relationship Id="rId11" Type="http://schemas.microsoft.com/office/2007/relationships/diagramDrawing" Target="../diagrams/drawing8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8.xml"/><Relationship Id="rId4" Type="http://schemas.openxmlformats.org/officeDocument/2006/relationships/tags" Target="../tags/tag83.xml"/><Relationship Id="rId9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Contrôle de gestion stratégique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Séance 8 Gouvernance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41591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cadre de la  gouvernance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191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Quelques références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E2E22C7-6564-44DF-A3AE-ED7A08A99318}"/>
              </a:ext>
            </a:extLst>
          </p:cNvPr>
          <p:cNvGrpSpPr/>
          <p:nvPr/>
        </p:nvGrpSpPr>
        <p:grpSpPr>
          <a:xfrm>
            <a:off x="1096963" y="1848515"/>
            <a:ext cx="10058400" cy="1486699"/>
            <a:chOff x="1096963" y="1848515"/>
            <a:chExt cx="10058400" cy="1486699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260E374B-84B1-4483-B53C-6100B159627B}"/>
                </a:ext>
              </a:extLst>
            </p:cNvPr>
            <p:cNvSpPr/>
            <p:nvPr/>
          </p:nvSpPr>
          <p:spPr>
            <a:xfrm>
              <a:off x="4717986" y="1997186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rId6"/>
                </a:rPr>
                <a:t>Instruction générale 58-201 relative à la gouvernance 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Règlement 52-110 </a:t>
              </a:r>
              <a:r>
                <a:rPr lang="fr-CA" sz="1500" kern="1200" dirty="0"/>
                <a:t>sur le comité d’audit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Instruction générale relative au règlement 52-110 sur le comité d’audit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CA" sz="15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6FD22AC-1B43-448E-BA9D-5AE274D90FBE}"/>
                </a:ext>
              </a:extLst>
            </p:cNvPr>
            <p:cNvSpPr/>
            <p:nvPr/>
          </p:nvSpPr>
          <p:spPr>
            <a:xfrm>
              <a:off x="1096963" y="1848515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AMF</a:t>
              </a:r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547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Quelques références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E2E22C7-6564-44DF-A3AE-ED7A08A99318}"/>
              </a:ext>
            </a:extLst>
          </p:cNvPr>
          <p:cNvGrpSpPr/>
          <p:nvPr/>
        </p:nvGrpSpPr>
        <p:grpSpPr>
          <a:xfrm>
            <a:off x="1096963" y="1848515"/>
            <a:ext cx="10058400" cy="3047734"/>
            <a:chOff x="1096963" y="1848515"/>
            <a:chExt cx="10058400" cy="3047734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260E374B-84B1-4483-B53C-6100B159627B}"/>
                </a:ext>
              </a:extLst>
            </p:cNvPr>
            <p:cNvSpPr/>
            <p:nvPr/>
          </p:nvSpPr>
          <p:spPr>
            <a:xfrm>
              <a:off x="4717986" y="1997186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rId6"/>
                </a:rPr>
                <a:t>Instruction générale 58-201 relative à la gouvernance 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Règlement 52-110 </a:t>
              </a:r>
              <a:r>
                <a:rPr lang="fr-CA" sz="1500" kern="1200" dirty="0"/>
                <a:t>sur le comité d’audit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Instruction générale relative au règlement 52-110 sur le comité d’audit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CA" sz="15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6FD22AC-1B43-448E-BA9D-5AE274D90FBE}"/>
                </a:ext>
              </a:extLst>
            </p:cNvPr>
            <p:cNvSpPr/>
            <p:nvPr/>
          </p:nvSpPr>
          <p:spPr>
            <a:xfrm>
              <a:off x="1096963" y="1848515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AMF</a:t>
              </a: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B190E710-0DC1-48D7-BB2A-8B0D33B72A4F}"/>
                </a:ext>
              </a:extLst>
            </p:cNvPr>
            <p:cNvSpPr/>
            <p:nvPr/>
          </p:nvSpPr>
          <p:spPr>
            <a:xfrm>
              <a:off x="4690683" y="3565476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rId7"/>
                </a:rPr>
                <a:t>Constitution et maintien d’un CA efficace </a:t>
              </a:r>
              <a:endParaRPr lang="fr-CA" sz="1500" kern="1200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A71345A9-A4FF-4BAD-9717-9E4C412C142C}"/>
                </a:ext>
              </a:extLst>
            </p:cNvPr>
            <p:cNvSpPr/>
            <p:nvPr/>
          </p:nvSpPr>
          <p:spPr>
            <a:xfrm>
              <a:off x="1096963" y="3409550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CPA Canada</a:t>
              </a:r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141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Quelques références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E2E22C7-6564-44DF-A3AE-ED7A08A99318}"/>
              </a:ext>
            </a:extLst>
          </p:cNvPr>
          <p:cNvGrpSpPr/>
          <p:nvPr/>
        </p:nvGrpSpPr>
        <p:grpSpPr>
          <a:xfrm>
            <a:off x="1096963" y="1848515"/>
            <a:ext cx="10058400" cy="4608769"/>
            <a:chOff x="1096963" y="1848515"/>
            <a:chExt cx="10058400" cy="4608769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260E374B-84B1-4483-B53C-6100B159627B}"/>
                </a:ext>
              </a:extLst>
            </p:cNvPr>
            <p:cNvSpPr/>
            <p:nvPr/>
          </p:nvSpPr>
          <p:spPr>
            <a:xfrm>
              <a:off x="4717986" y="1997186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rId6"/>
                </a:rPr>
                <a:t>Instruction générale 58-201 relative à la gouvernance 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Règlement 52-110 </a:t>
              </a:r>
              <a:r>
                <a:rPr lang="fr-CA" sz="1500" kern="1200" dirty="0"/>
                <a:t>sur le comité d’audit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" action="ppaction://noaction"/>
                </a:rPr>
                <a:t>Instruction générale relative au règlement 52-110 sur le comité d’audit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CA" sz="15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6FD22AC-1B43-448E-BA9D-5AE274D90FBE}"/>
                </a:ext>
              </a:extLst>
            </p:cNvPr>
            <p:cNvSpPr/>
            <p:nvPr/>
          </p:nvSpPr>
          <p:spPr>
            <a:xfrm>
              <a:off x="1096963" y="1848515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AMF</a:t>
              </a: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B190E710-0DC1-48D7-BB2A-8B0D33B72A4F}"/>
                </a:ext>
              </a:extLst>
            </p:cNvPr>
            <p:cNvSpPr/>
            <p:nvPr/>
          </p:nvSpPr>
          <p:spPr>
            <a:xfrm>
              <a:off x="4690683" y="3565476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kern="1200" dirty="0">
                  <a:hlinkClick r:id="rId7"/>
                </a:rPr>
                <a:t>Constitution et maintien d’un CA efficace </a:t>
              </a:r>
              <a:endParaRPr lang="fr-CA" sz="1500" kern="1200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A71345A9-A4FF-4BAD-9717-9E4C412C142C}"/>
                </a:ext>
              </a:extLst>
            </p:cNvPr>
            <p:cNvSpPr/>
            <p:nvPr/>
          </p:nvSpPr>
          <p:spPr>
            <a:xfrm>
              <a:off x="1096963" y="3409550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CPA Canada</a:t>
              </a: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E0DC8A8A-99BA-4DE3-B3B5-D18D2B0E7AF5}"/>
                </a:ext>
              </a:extLst>
            </p:cNvPr>
            <p:cNvSpPr/>
            <p:nvPr/>
          </p:nvSpPr>
          <p:spPr>
            <a:xfrm>
              <a:off x="4717986" y="5119255"/>
              <a:ext cx="6437377" cy="1189360"/>
            </a:xfrm>
            <a:custGeom>
              <a:avLst/>
              <a:gdLst>
                <a:gd name="connsiteX0" fmla="*/ 198230 w 1189359"/>
                <a:gd name="connsiteY0" fmla="*/ 0 h 6437376"/>
                <a:gd name="connsiteX1" fmla="*/ 991129 w 1189359"/>
                <a:gd name="connsiteY1" fmla="*/ 0 h 6437376"/>
                <a:gd name="connsiteX2" fmla="*/ 1189359 w 1189359"/>
                <a:gd name="connsiteY2" fmla="*/ 198230 h 6437376"/>
                <a:gd name="connsiteX3" fmla="*/ 1189359 w 1189359"/>
                <a:gd name="connsiteY3" fmla="*/ 6437376 h 6437376"/>
                <a:gd name="connsiteX4" fmla="*/ 1189359 w 1189359"/>
                <a:gd name="connsiteY4" fmla="*/ 6437376 h 6437376"/>
                <a:gd name="connsiteX5" fmla="*/ 0 w 1189359"/>
                <a:gd name="connsiteY5" fmla="*/ 6437376 h 6437376"/>
                <a:gd name="connsiteX6" fmla="*/ 0 w 1189359"/>
                <a:gd name="connsiteY6" fmla="*/ 6437376 h 6437376"/>
                <a:gd name="connsiteX7" fmla="*/ 0 w 1189359"/>
                <a:gd name="connsiteY7" fmla="*/ 198230 h 6437376"/>
                <a:gd name="connsiteX8" fmla="*/ 198230 w 1189359"/>
                <a:gd name="connsiteY8" fmla="*/ 0 h 643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359" h="6437376">
                  <a:moveTo>
                    <a:pt x="1189359" y="1072917"/>
                  </a:moveTo>
                  <a:lnTo>
                    <a:pt x="1189359" y="5364459"/>
                  </a:lnTo>
                  <a:cubicBezTo>
                    <a:pt x="1189359" y="5957011"/>
                    <a:pt x="1172961" y="6437373"/>
                    <a:pt x="1152734" y="6437373"/>
                  </a:cubicBezTo>
                  <a:lnTo>
                    <a:pt x="0" y="6437373"/>
                  </a:lnTo>
                  <a:lnTo>
                    <a:pt x="0" y="643737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52734" y="3"/>
                  </a:lnTo>
                  <a:cubicBezTo>
                    <a:pt x="1172961" y="3"/>
                    <a:pt x="1189359" y="480365"/>
                    <a:pt x="1189359" y="1072917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86635" rIns="115210" bIns="86636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CA" sz="1500" i="1" kern="1200" dirty="0"/>
                <a:t>The </a:t>
              </a:r>
              <a:r>
                <a:rPr lang="fr-CA" sz="1500" i="1" kern="1200" dirty="0" err="1"/>
                <a:t>Role</a:t>
              </a:r>
              <a:r>
                <a:rPr lang="fr-CA" sz="1500" i="1" kern="1200" dirty="0"/>
                <a:t> of </a:t>
              </a:r>
              <a:r>
                <a:rPr lang="fr-CA" sz="1500" i="1" kern="1200" dirty="0" err="1"/>
                <a:t>Board</a:t>
              </a:r>
              <a:r>
                <a:rPr lang="fr-CA" sz="1500" i="1" kern="1200" dirty="0"/>
                <a:t> of </a:t>
              </a:r>
              <a:r>
                <a:rPr lang="fr-CA" sz="1500" i="1" kern="1200" dirty="0" err="1"/>
                <a:t>Directors</a:t>
              </a:r>
              <a:r>
                <a:rPr lang="fr-CA" sz="1500" i="1" kern="1200" dirty="0"/>
                <a:t> in Setting </a:t>
              </a:r>
              <a:r>
                <a:rPr lang="fr-CA" sz="1500" i="1" kern="1200" dirty="0" err="1"/>
                <a:t>Strategy</a:t>
              </a:r>
              <a:r>
                <a:rPr lang="fr-CA" sz="1500" i="1" kern="1200" dirty="0"/>
                <a:t> in the </a:t>
              </a:r>
              <a:r>
                <a:rPr lang="fr-CA" sz="1500" i="1" kern="1200" dirty="0" err="1"/>
                <a:t>Smaller</a:t>
              </a:r>
              <a:r>
                <a:rPr lang="fr-CA" sz="1500" i="1" kern="1200" dirty="0"/>
                <a:t> </a:t>
              </a:r>
              <a:r>
                <a:rPr lang="fr-CA" sz="1500" i="1" kern="1200" dirty="0" err="1"/>
                <a:t>Firm</a:t>
              </a:r>
              <a:endParaRPr lang="fr-CA" sz="150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CA" sz="1500" kern="1200" dirty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D424A2F9-9391-404F-8FEF-E9BF0F820218}"/>
                </a:ext>
              </a:extLst>
            </p:cNvPr>
            <p:cNvSpPr/>
            <p:nvPr/>
          </p:nvSpPr>
          <p:spPr>
            <a:xfrm>
              <a:off x="1096963" y="4970585"/>
              <a:ext cx="3621024" cy="1486699"/>
            </a:xfrm>
            <a:custGeom>
              <a:avLst/>
              <a:gdLst>
                <a:gd name="connsiteX0" fmla="*/ 0 w 3621024"/>
                <a:gd name="connsiteY0" fmla="*/ 247788 h 1486699"/>
                <a:gd name="connsiteX1" fmla="*/ 247788 w 3621024"/>
                <a:gd name="connsiteY1" fmla="*/ 0 h 1486699"/>
                <a:gd name="connsiteX2" fmla="*/ 3373236 w 3621024"/>
                <a:gd name="connsiteY2" fmla="*/ 0 h 1486699"/>
                <a:gd name="connsiteX3" fmla="*/ 3621024 w 3621024"/>
                <a:gd name="connsiteY3" fmla="*/ 247788 h 1486699"/>
                <a:gd name="connsiteX4" fmla="*/ 3621024 w 3621024"/>
                <a:gd name="connsiteY4" fmla="*/ 1238911 h 1486699"/>
                <a:gd name="connsiteX5" fmla="*/ 3373236 w 3621024"/>
                <a:gd name="connsiteY5" fmla="*/ 1486699 h 1486699"/>
                <a:gd name="connsiteX6" fmla="*/ 247788 w 3621024"/>
                <a:gd name="connsiteY6" fmla="*/ 1486699 h 1486699"/>
                <a:gd name="connsiteX7" fmla="*/ 0 w 3621024"/>
                <a:gd name="connsiteY7" fmla="*/ 1238911 h 1486699"/>
                <a:gd name="connsiteX8" fmla="*/ 0 w 3621024"/>
                <a:gd name="connsiteY8" fmla="*/ 247788 h 148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024" h="1486699">
                  <a:moveTo>
                    <a:pt x="0" y="247788"/>
                  </a:moveTo>
                  <a:cubicBezTo>
                    <a:pt x="0" y="110938"/>
                    <a:pt x="110938" y="0"/>
                    <a:pt x="247788" y="0"/>
                  </a:cubicBezTo>
                  <a:lnTo>
                    <a:pt x="3373236" y="0"/>
                  </a:lnTo>
                  <a:cubicBezTo>
                    <a:pt x="3510086" y="0"/>
                    <a:pt x="3621024" y="110938"/>
                    <a:pt x="3621024" y="247788"/>
                  </a:cubicBezTo>
                  <a:lnTo>
                    <a:pt x="3621024" y="1238911"/>
                  </a:lnTo>
                  <a:cubicBezTo>
                    <a:pt x="3621024" y="1375761"/>
                    <a:pt x="3510086" y="1486699"/>
                    <a:pt x="3373236" y="1486699"/>
                  </a:cubicBezTo>
                  <a:lnTo>
                    <a:pt x="247788" y="1486699"/>
                  </a:lnTo>
                  <a:cubicBezTo>
                    <a:pt x="110938" y="1486699"/>
                    <a:pt x="0" y="1375761"/>
                    <a:pt x="0" y="1238911"/>
                  </a:cubicBezTo>
                  <a:lnTo>
                    <a:pt x="0" y="2477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215" tIns="156395" rIns="240215" bIns="156395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4400" kern="1200" dirty="0"/>
                <a:t>Article</a:t>
              </a:r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092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Qu’est-ce que la gouvernance?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lvl="2" indent="0">
              <a:buNone/>
            </a:pPr>
            <a:r>
              <a:rPr lang="fr-CA" sz="2118" dirty="0"/>
              <a:t>L'Organisation de coopération et de développement économiques (OCDE) définit la gouvernance d'entreprise comme</a:t>
            </a:r>
          </a:p>
          <a:p>
            <a:pPr marL="0" lvl="2" indent="0">
              <a:buNone/>
            </a:pPr>
            <a:endParaRPr lang="fr-CA" sz="2118" dirty="0"/>
          </a:p>
          <a:p>
            <a:pPr marL="0" lvl="2" indent="0">
              <a:buNone/>
            </a:pPr>
            <a:r>
              <a:rPr lang="fr-CA" sz="2118" dirty="0"/>
              <a:t> « une </a:t>
            </a:r>
            <a:r>
              <a:rPr lang="fr-CA" sz="2118" dirty="0">
                <a:highlight>
                  <a:srgbClr val="FFFF00"/>
                </a:highlight>
              </a:rPr>
              <a:t>série</a:t>
            </a:r>
            <a:r>
              <a:rPr lang="fr-CA" sz="2118" dirty="0"/>
              <a:t> de </a:t>
            </a:r>
            <a:r>
              <a:rPr lang="fr-CA" sz="2118" dirty="0">
                <a:highlight>
                  <a:srgbClr val="FFFF00"/>
                </a:highlight>
              </a:rPr>
              <a:t>relations</a:t>
            </a:r>
            <a:r>
              <a:rPr lang="fr-CA" sz="2118" dirty="0"/>
              <a:t> entre la </a:t>
            </a:r>
            <a:r>
              <a:rPr lang="fr-CA" sz="2118" dirty="0">
                <a:highlight>
                  <a:srgbClr val="FFFF00"/>
                </a:highlight>
              </a:rPr>
              <a:t>direction</a:t>
            </a:r>
            <a:r>
              <a:rPr lang="fr-CA" sz="2118" dirty="0"/>
              <a:t> de l'entreprise, son </a:t>
            </a:r>
            <a:r>
              <a:rPr lang="fr-CA" sz="2118" dirty="0">
                <a:highlight>
                  <a:srgbClr val="FFFF00"/>
                </a:highlight>
              </a:rPr>
              <a:t>conseil</a:t>
            </a:r>
            <a:r>
              <a:rPr lang="fr-CA" sz="2118" dirty="0"/>
              <a:t> d'administration, ses actionnaires et d'autres intervenants. Elle fournit aussi la </a:t>
            </a:r>
            <a:r>
              <a:rPr lang="fr-CA" sz="2118" b="1" dirty="0">
                <a:solidFill>
                  <a:srgbClr val="FF0000"/>
                </a:solidFill>
                <a:highlight>
                  <a:srgbClr val="FFFF00"/>
                </a:highlight>
              </a:rPr>
              <a:t>structure</a:t>
            </a:r>
            <a:r>
              <a:rPr lang="fr-CA" sz="2118" dirty="0"/>
              <a:t> qui permet d'établir les </a:t>
            </a:r>
            <a:r>
              <a:rPr lang="fr-CA" sz="2118" dirty="0">
                <a:highlight>
                  <a:srgbClr val="FFFF00"/>
                </a:highlight>
              </a:rPr>
              <a:t>objectifs </a:t>
            </a:r>
            <a:r>
              <a:rPr lang="fr-CA" sz="2118" dirty="0"/>
              <a:t>de l'entreprise et </a:t>
            </a:r>
            <a:r>
              <a:rPr lang="fr-CA" sz="2118" dirty="0">
                <a:highlight>
                  <a:srgbClr val="FFFF00"/>
                </a:highlight>
              </a:rPr>
              <a:t>les moyens de les atteindre </a:t>
            </a:r>
            <a:r>
              <a:rPr lang="fr-CA" sz="2118" dirty="0"/>
              <a:t>ainsi que d'assurer </a:t>
            </a:r>
            <a:r>
              <a:rPr lang="fr-CA" sz="2118" dirty="0">
                <a:highlight>
                  <a:srgbClr val="FFFF00"/>
                </a:highlight>
              </a:rPr>
              <a:t>le suivi du rendement </a:t>
            </a:r>
            <a:r>
              <a:rPr lang="fr-CA" sz="2118" dirty="0"/>
              <a:t>».</a:t>
            </a:r>
          </a:p>
          <a:p>
            <a:pPr marL="0" lvl="2" indent="0">
              <a:buNone/>
            </a:pPr>
            <a:endParaRPr lang="fr-CA" sz="2118" dirty="0"/>
          </a:p>
          <a:p>
            <a:pPr marL="0" lvl="2" indent="0">
              <a:buNone/>
            </a:pPr>
            <a:r>
              <a:rPr lang="fr-CA" sz="1600" dirty="0"/>
              <a:t>Source: </a:t>
            </a:r>
            <a:r>
              <a:rPr lang="fr-CA" sz="1600" dirty="0">
                <a:hlinkClick r:id="rId7"/>
              </a:rPr>
              <a:t>http://www.oecd.org/fr/gouvernementdentreprise/ae/principesdegouvernementdentreprise/31652074.PDF</a:t>
            </a:r>
            <a:r>
              <a:rPr lang="fr-CA" sz="1600" dirty="0"/>
              <a:t> 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595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conseil d’administration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132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Gouvernance et structure 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61901" y="2305856"/>
            <a:ext cx="7079290" cy="3803114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3218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Gouvernance et structure 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61901" y="2305856"/>
            <a:ext cx="7079290" cy="3803114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9</a:t>
            </a:fld>
            <a:endParaRPr lang="fr-CA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A25D474-CF5C-4242-AFFB-41F7BEEC44ED}"/>
              </a:ext>
            </a:extLst>
          </p:cNvPr>
          <p:cNvSpPr/>
          <p:nvPr/>
        </p:nvSpPr>
        <p:spPr>
          <a:xfrm>
            <a:off x="7954890" y="2456597"/>
            <a:ext cx="3289110" cy="22655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/>
              <a:t>Surveillance</a:t>
            </a:r>
          </a:p>
        </p:txBody>
      </p:sp>
    </p:spTree>
    <p:extLst>
      <p:ext uri="{BB962C8B-B14F-4D97-AF65-F5344CB8AC3E}">
        <p14:creationId xmlns:p14="http://schemas.microsoft.com/office/powerpoint/2010/main" val="312102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Gouvernance et structure 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61901" y="2305856"/>
            <a:ext cx="7079290" cy="3803114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10</a:t>
            </a:fld>
            <a:endParaRPr lang="fr-CA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8898EEA-BEBF-416F-A793-29B7638ADF08}"/>
              </a:ext>
            </a:extLst>
          </p:cNvPr>
          <p:cNvSpPr/>
          <p:nvPr/>
        </p:nvSpPr>
        <p:spPr>
          <a:xfrm>
            <a:off x="532263" y="2456597"/>
            <a:ext cx="3289110" cy="22655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/>
              <a:t>Orientation stratégique</a:t>
            </a:r>
          </a:p>
        </p:txBody>
      </p:sp>
    </p:spTree>
    <p:extLst>
      <p:ext uri="{BB962C8B-B14F-4D97-AF65-F5344CB8AC3E}">
        <p14:creationId xmlns:p14="http://schemas.microsoft.com/office/powerpoint/2010/main" val="61759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de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707590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85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de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284867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073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de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229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952146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4275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616177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0946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9382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8089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Mandat CA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3B041FFF-38F9-438D-B053-A2B57F6DE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43350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919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Indépendance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224141" lvl="2" indent="-224141">
              <a:buFont typeface="Arial" pitchFamily="34" charset="0"/>
              <a:buChar char="•"/>
            </a:pPr>
            <a:r>
              <a:rPr lang="fr-CA" sz="2400" b="1" dirty="0"/>
              <a:t>Définition: </a:t>
            </a:r>
          </a:p>
          <a:p>
            <a:pPr marL="224141" lvl="2" indent="-224141">
              <a:buFont typeface="Arial" pitchFamily="34" charset="0"/>
              <a:buChar char="•"/>
            </a:pPr>
            <a:endParaRPr lang="fr-CA" sz="2400" b="1" dirty="0"/>
          </a:p>
          <a:p>
            <a:pPr marL="457200" lvl="2" indent="-457200">
              <a:buAutoNum type="arabicParenR"/>
            </a:pPr>
            <a:r>
              <a:rPr lang="fr-CA" sz="2400" dirty="0"/>
              <a:t>Un membre du comité d'audit est indépendant s'il n'a pas de relation importante, directe ou indirecte, avec l'émetteur. </a:t>
            </a:r>
          </a:p>
          <a:p>
            <a:pPr marL="457200" lvl="2" indent="-457200">
              <a:buAutoNum type="arabicParenR"/>
            </a:pPr>
            <a:r>
              <a:rPr lang="fr-CA" sz="2400" dirty="0"/>
              <a:t>[…]une relation importante s'entend d'une relation dont le conseil d'administration pourrait raisonnablement s'attendre à ce qu'elle nuise à l'indépendance du jugement d'un membre du comité.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9057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4EAFFAC-9AE0-4D99-9A03-F16938FD7CAC}"/>
              </a:ext>
            </a:extLst>
          </p:cNvPr>
          <p:cNvSpPr/>
          <p:nvPr/>
        </p:nvSpPr>
        <p:spPr>
          <a:xfrm>
            <a:off x="1397153" y="1897125"/>
            <a:ext cx="2936778" cy="1762067"/>
          </a:xfrm>
          <a:custGeom>
            <a:avLst/>
            <a:gdLst>
              <a:gd name="connsiteX0" fmla="*/ 0 w 2936778"/>
              <a:gd name="connsiteY0" fmla="*/ 0 h 1762067"/>
              <a:gd name="connsiteX1" fmla="*/ 2936778 w 2936778"/>
              <a:gd name="connsiteY1" fmla="*/ 0 h 1762067"/>
              <a:gd name="connsiteX2" fmla="*/ 2936778 w 2936778"/>
              <a:gd name="connsiteY2" fmla="*/ 1762067 h 1762067"/>
              <a:gd name="connsiteX3" fmla="*/ 0 w 2936778"/>
              <a:gd name="connsiteY3" fmla="*/ 1762067 h 1762067"/>
              <a:gd name="connsiteX4" fmla="*/ 0 w 2936778"/>
              <a:gd name="connsiteY4" fmla="*/ 0 h 176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778" h="1762067">
                <a:moveTo>
                  <a:pt x="0" y="0"/>
                </a:moveTo>
                <a:lnTo>
                  <a:pt x="2936778" y="0"/>
                </a:lnTo>
                <a:lnTo>
                  <a:pt x="2936778" y="1762067"/>
                </a:lnTo>
                <a:lnTo>
                  <a:pt x="0" y="176206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730" tIns="125730" rIns="125730" bIns="12573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A" sz="3300" kern="1200"/>
              <a:t>Indépendance </a:t>
            </a:r>
            <a:endParaRPr lang="fr-CA" sz="3300" kern="12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19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75B8309-93DA-4D48-9C65-FB6FF917AAA5}"/>
              </a:ext>
            </a:extLst>
          </p:cNvPr>
          <p:cNvSpPr txBox="1"/>
          <p:nvPr/>
        </p:nvSpPr>
        <p:spPr>
          <a:xfrm>
            <a:off x="3464251" y="3918279"/>
            <a:ext cx="5848836" cy="25521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600" b="1" dirty="0"/>
              <a:t>Majoritairement composé de membres indépendants</a:t>
            </a:r>
          </a:p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600" b="1" dirty="0"/>
              <a:t>Réunion des administrateurs indépendants sur une base périodique </a:t>
            </a:r>
          </a:p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dirty="0"/>
          </a:p>
        </p:txBody>
      </p:sp>
    </p:spTree>
    <p:extLst>
      <p:ext uri="{BB962C8B-B14F-4D97-AF65-F5344CB8AC3E}">
        <p14:creationId xmlns:p14="http://schemas.microsoft.com/office/powerpoint/2010/main" val="6398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CCDE757-FDDE-45E0-B052-8BF17CD1CF8D}"/>
              </a:ext>
            </a:extLst>
          </p:cNvPr>
          <p:cNvGrpSpPr/>
          <p:nvPr/>
        </p:nvGrpSpPr>
        <p:grpSpPr>
          <a:xfrm>
            <a:off x="1397153" y="1897125"/>
            <a:ext cx="6167235" cy="1762067"/>
            <a:chOff x="1397153" y="1897125"/>
            <a:chExt cx="6167235" cy="1762067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4EAFFAC-9AE0-4D99-9A03-F16938FD7CAC}"/>
                </a:ext>
              </a:extLst>
            </p:cNvPr>
            <p:cNvSpPr/>
            <p:nvPr/>
          </p:nvSpPr>
          <p:spPr>
            <a:xfrm>
              <a:off x="1397153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Indépendance </a:t>
              </a:r>
              <a:endParaRPr lang="fr-CA" sz="3300" kern="12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520A1D-F1EF-478C-9173-258C1F79BB22}"/>
                </a:ext>
              </a:extLst>
            </p:cNvPr>
            <p:cNvSpPr/>
            <p:nvPr/>
          </p:nvSpPr>
          <p:spPr>
            <a:xfrm>
              <a:off x="4627610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84573"/>
                <a:satOff val="0"/>
                <a:lumOff val="-1137"/>
                <a:alphaOff val="0"/>
              </a:schemeClr>
            </a:fillRef>
            <a:effectRef idx="0">
              <a:schemeClr val="accent5">
                <a:hueOff val="284573"/>
                <a:satOff val="0"/>
                <a:lumOff val="-11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Présidence</a:t>
              </a:r>
              <a:endParaRPr lang="fr-CA" sz="3300" kern="1200" dirty="0"/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20</a:t>
            </a:fld>
            <a:endParaRPr lang="fr-CA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860B95B-7DF6-4484-8B85-F06A90D0FF6E}"/>
              </a:ext>
            </a:extLst>
          </p:cNvPr>
          <p:cNvSpPr txBox="1"/>
          <p:nvPr/>
        </p:nvSpPr>
        <p:spPr>
          <a:xfrm>
            <a:off x="1397153" y="3768374"/>
            <a:ext cx="9862250" cy="3198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u="sng" dirty="0"/>
              <a:t>Devrait</a:t>
            </a:r>
            <a:r>
              <a:rPr lang="fr-CA" sz="2000" b="1" dirty="0"/>
              <a:t> être un membre indépendant </a:t>
            </a:r>
          </a:p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dirty="0"/>
              <a:t>Si ce n’est pas le cas, nommer un administrateur indépendant principal qui jouera le rôle de chef du conseil pour s’acquitter des questions requérant l’indépendance</a:t>
            </a:r>
          </a:p>
          <a:p>
            <a:pPr marL="612000" lvl="1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dirty="0"/>
              <a:t>Convoquer les réunions</a:t>
            </a:r>
          </a:p>
          <a:p>
            <a:pPr marL="612000" lvl="1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dirty="0"/>
              <a:t>Établir l’ordre du jour </a:t>
            </a:r>
          </a:p>
          <a:p>
            <a:pPr marL="612000" lvl="1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dirty="0"/>
              <a:t>Efficacité des réunions </a:t>
            </a:r>
          </a:p>
          <a:p>
            <a:pPr marL="612000" lvl="1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2000" b="1" dirty="0"/>
              <a:t>Rencontre avec le chef de la direction pour établir les questions à soumettre au conseil </a:t>
            </a:r>
          </a:p>
        </p:txBody>
      </p:sp>
    </p:spTree>
    <p:extLst>
      <p:ext uri="{BB962C8B-B14F-4D97-AF65-F5344CB8AC3E}">
        <p14:creationId xmlns:p14="http://schemas.microsoft.com/office/powerpoint/2010/main" val="272252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CCDE757-FDDE-45E0-B052-8BF17CD1CF8D}"/>
              </a:ext>
            </a:extLst>
          </p:cNvPr>
          <p:cNvGrpSpPr/>
          <p:nvPr/>
        </p:nvGrpSpPr>
        <p:grpSpPr>
          <a:xfrm>
            <a:off x="1397153" y="1897125"/>
            <a:ext cx="9397692" cy="1762067"/>
            <a:chOff x="1397153" y="1897125"/>
            <a:chExt cx="9397692" cy="1762067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4EAFFAC-9AE0-4D99-9A03-F16938FD7CAC}"/>
                </a:ext>
              </a:extLst>
            </p:cNvPr>
            <p:cNvSpPr/>
            <p:nvPr/>
          </p:nvSpPr>
          <p:spPr>
            <a:xfrm>
              <a:off x="1397153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Indépendance </a:t>
              </a:r>
              <a:endParaRPr lang="fr-CA" sz="3300" kern="12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520A1D-F1EF-478C-9173-258C1F79BB22}"/>
                </a:ext>
              </a:extLst>
            </p:cNvPr>
            <p:cNvSpPr/>
            <p:nvPr/>
          </p:nvSpPr>
          <p:spPr>
            <a:xfrm>
              <a:off x="4627610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84573"/>
                <a:satOff val="0"/>
                <a:lumOff val="-1137"/>
                <a:alphaOff val="0"/>
              </a:schemeClr>
            </a:fillRef>
            <a:effectRef idx="0">
              <a:schemeClr val="accent5">
                <a:hueOff val="284573"/>
                <a:satOff val="0"/>
                <a:lumOff val="-11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Présidence</a:t>
              </a:r>
              <a:endParaRPr lang="fr-CA" sz="33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3205908-31A4-4DD2-9E89-13B317DD210C}"/>
                </a:ext>
              </a:extLst>
            </p:cNvPr>
            <p:cNvSpPr/>
            <p:nvPr/>
          </p:nvSpPr>
          <p:spPr>
            <a:xfrm>
              <a:off x="7858067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569146"/>
                <a:satOff val="0"/>
                <a:lumOff val="-2275"/>
                <a:alphaOff val="0"/>
              </a:schemeClr>
            </a:fillRef>
            <a:effectRef idx="0">
              <a:schemeClr val="accent5">
                <a:hueOff val="569146"/>
                <a:satOff val="0"/>
                <a:lumOff val="-2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Intégrité</a:t>
              </a:r>
              <a:endParaRPr lang="fr-CA" sz="3300" kern="1200" dirty="0"/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966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CCDE757-FDDE-45E0-B052-8BF17CD1CF8D}"/>
              </a:ext>
            </a:extLst>
          </p:cNvPr>
          <p:cNvGrpSpPr/>
          <p:nvPr/>
        </p:nvGrpSpPr>
        <p:grpSpPr>
          <a:xfrm>
            <a:off x="1397153" y="1897125"/>
            <a:ext cx="9397692" cy="3817812"/>
            <a:chOff x="1397153" y="1897125"/>
            <a:chExt cx="9397692" cy="3817812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4EAFFAC-9AE0-4D99-9A03-F16938FD7CAC}"/>
                </a:ext>
              </a:extLst>
            </p:cNvPr>
            <p:cNvSpPr/>
            <p:nvPr/>
          </p:nvSpPr>
          <p:spPr>
            <a:xfrm>
              <a:off x="1397153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Indépendance </a:t>
              </a:r>
              <a:endParaRPr lang="fr-CA" sz="3300" kern="12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520A1D-F1EF-478C-9173-258C1F79BB22}"/>
                </a:ext>
              </a:extLst>
            </p:cNvPr>
            <p:cNvSpPr/>
            <p:nvPr/>
          </p:nvSpPr>
          <p:spPr>
            <a:xfrm>
              <a:off x="4627610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84573"/>
                <a:satOff val="0"/>
                <a:lumOff val="-1137"/>
                <a:alphaOff val="0"/>
              </a:schemeClr>
            </a:fillRef>
            <a:effectRef idx="0">
              <a:schemeClr val="accent5">
                <a:hueOff val="284573"/>
                <a:satOff val="0"/>
                <a:lumOff val="-11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Présidence</a:t>
              </a:r>
              <a:endParaRPr lang="fr-CA" sz="33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3205908-31A4-4DD2-9E89-13B317DD210C}"/>
                </a:ext>
              </a:extLst>
            </p:cNvPr>
            <p:cNvSpPr/>
            <p:nvPr/>
          </p:nvSpPr>
          <p:spPr>
            <a:xfrm>
              <a:off x="7858067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569146"/>
                <a:satOff val="0"/>
                <a:lumOff val="-2275"/>
                <a:alphaOff val="0"/>
              </a:schemeClr>
            </a:fillRef>
            <a:effectRef idx="0">
              <a:schemeClr val="accent5">
                <a:hueOff val="569146"/>
                <a:satOff val="0"/>
                <a:lumOff val="-2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Intégrité</a:t>
              </a:r>
              <a:endParaRPr lang="fr-CA" sz="3300" kern="1200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2951F2D-03B0-4723-93C9-B5CE0C91EAD2}"/>
                </a:ext>
              </a:extLst>
            </p:cNvPr>
            <p:cNvSpPr/>
            <p:nvPr/>
          </p:nvSpPr>
          <p:spPr>
            <a:xfrm>
              <a:off x="1397153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853718"/>
                <a:satOff val="0"/>
                <a:lumOff val="-3412"/>
                <a:alphaOff val="0"/>
              </a:schemeClr>
            </a:fillRef>
            <a:effectRef idx="0">
              <a:schemeClr val="accent5">
                <a:hueOff val="853718"/>
                <a:satOff val="0"/>
                <a:lumOff val="-341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 dirty="0"/>
                <a:t>Compétence</a:t>
              </a:r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4433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CCDE757-FDDE-45E0-B052-8BF17CD1CF8D}"/>
              </a:ext>
            </a:extLst>
          </p:cNvPr>
          <p:cNvGrpSpPr/>
          <p:nvPr/>
        </p:nvGrpSpPr>
        <p:grpSpPr>
          <a:xfrm>
            <a:off x="1397153" y="1897125"/>
            <a:ext cx="9397692" cy="3817812"/>
            <a:chOff x="1397153" y="1897125"/>
            <a:chExt cx="9397692" cy="3817812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4EAFFAC-9AE0-4D99-9A03-F16938FD7CAC}"/>
                </a:ext>
              </a:extLst>
            </p:cNvPr>
            <p:cNvSpPr/>
            <p:nvPr/>
          </p:nvSpPr>
          <p:spPr>
            <a:xfrm>
              <a:off x="1397153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Indépendance </a:t>
              </a:r>
              <a:endParaRPr lang="fr-CA" sz="3300" kern="12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520A1D-F1EF-478C-9173-258C1F79BB22}"/>
                </a:ext>
              </a:extLst>
            </p:cNvPr>
            <p:cNvSpPr/>
            <p:nvPr/>
          </p:nvSpPr>
          <p:spPr>
            <a:xfrm>
              <a:off x="4627610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84573"/>
                <a:satOff val="0"/>
                <a:lumOff val="-1137"/>
                <a:alphaOff val="0"/>
              </a:schemeClr>
            </a:fillRef>
            <a:effectRef idx="0">
              <a:schemeClr val="accent5">
                <a:hueOff val="284573"/>
                <a:satOff val="0"/>
                <a:lumOff val="-11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Présidence</a:t>
              </a:r>
              <a:endParaRPr lang="fr-CA" sz="33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3205908-31A4-4DD2-9E89-13B317DD210C}"/>
                </a:ext>
              </a:extLst>
            </p:cNvPr>
            <p:cNvSpPr/>
            <p:nvPr/>
          </p:nvSpPr>
          <p:spPr>
            <a:xfrm>
              <a:off x="7858067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569146"/>
                <a:satOff val="0"/>
                <a:lumOff val="-2275"/>
                <a:alphaOff val="0"/>
              </a:schemeClr>
            </a:fillRef>
            <a:effectRef idx="0">
              <a:schemeClr val="accent5">
                <a:hueOff val="569146"/>
                <a:satOff val="0"/>
                <a:lumOff val="-2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Intégrité</a:t>
              </a:r>
              <a:endParaRPr lang="fr-CA" sz="3300" kern="1200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2951F2D-03B0-4723-93C9-B5CE0C91EAD2}"/>
                </a:ext>
              </a:extLst>
            </p:cNvPr>
            <p:cNvSpPr/>
            <p:nvPr/>
          </p:nvSpPr>
          <p:spPr>
            <a:xfrm>
              <a:off x="1397153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853718"/>
                <a:satOff val="0"/>
                <a:lumOff val="-3412"/>
                <a:alphaOff val="0"/>
              </a:schemeClr>
            </a:fillRef>
            <a:effectRef idx="0">
              <a:schemeClr val="accent5">
                <a:hueOff val="853718"/>
                <a:satOff val="0"/>
                <a:lumOff val="-341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 dirty="0"/>
                <a:t>Compétence</a:t>
              </a:r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4B728F39-BD56-4480-B723-21B082E9B5C3}"/>
                </a:ext>
              </a:extLst>
            </p:cNvPr>
            <p:cNvSpPr/>
            <p:nvPr/>
          </p:nvSpPr>
          <p:spPr>
            <a:xfrm>
              <a:off x="4627610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138291"/>
                <a:satOff val="0"/>
                <a:lumOff val="-4550"/>
                <a:alphaOff val="0"/>
              </a:schemeClr>
            </a:fillRef>
            <a:effectRef idx="0">
              <a:schemeClr val="accent5">
                <a:hueOff val="1138291"/>
                <a:satOff val="0"/>
                <a:lumOff val="-45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Disponibilité</a:t>
              </a:r>
              <a:endParaRPr lang="fr-CA" sz="3300" kern="1200" dirty="0"/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6378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52763"/>
            <a:ext cx="10915200" cy="987552"/>
          </a:xfrm>
        </p:spPr>
        <p:txBody>
          <a:bodyPr/>
          <a:lstStyle/>
          <a:p>
            <a:r>
              <a:rPr lang="fr-CA" dirty="0"/>
              <a:t>Composition du Conseil d’administration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CCDE757-FDDE-45E0-B052-8BF17CD1CF8D}"/>
              </a:ext>
            </a:extLst>
          </p:cNvPr>
          <p:cNvGrpSpPr/>
          <p:nvPr/>
        </p:nvGrpSpPr>
        <p:grpSpPr>
          <a:xfrm>
            <a:off x="1397153" y="1897125"/>
            <a:ext cx="9397692" cy="3817812"/>
            <a:chOff x="1397153" y="1897125"/>
            <a:chExt cx="9397692" cy="3817812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4EAFFAC-9AE0-4D99-9A03-F16938FD7CAC}"/>
                </a:ext>
              </a:extLst>
            </p:cNvPr>
            <p:cNvSpPr/>
            <p:nvPr/>
          </p:nvSpPr>
          <p:spPr>
            <a:xfrm>
              <a:off x="1397153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Indépendance </a:t>
              </a:r>
              <a:endParaRPr lang="fr-CA" sz="3300" kern="12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520A1D-F1EF-478C-9173-258C1F79BB22}"/>
                </a:ext>
              </a:extLst>
            </p:cNvPr>
            <p:cNvSpPr/>
            <p:nvPr/>
          </p:nvSpPr>
          <p:spPr>
            <a:xfrm>
              <a:off x="4627610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84573"/>
                <a:satOff val="0"/>
                <a:lumOff val="-1137"/>
                <a:alphaOff val="0"/>
              </a:schemeClr>
            </a:fillRef>
            <a:effectRef idx="0">
              <a:schemeClr val="accent5">
                <a:hueOff val="284573"/>
                <a:satOff val="0"/>
                <a:lumOff val="-11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Présidence</a:t>
              </a:r>
              <a:endParaRPr lang="fr-CA" sz="3300" kern="1200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3205908-31A4-4DD2-9E89-13B317DD210C}"/>
                </a:ext>
              </a:extLst>
            </p:cNvPr>
            <p:cNvSpPr/>
            <p:nvPr/>
          </p:nvSpPr>
          <p:spPr>
            <a:xfrm>
              <a:off x="7858067" y="1897125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569146"/>
                <a:satOff val="0"/>
                <a:lumOff val="-2275"/>
                <a:alphaOff val="0"/>
              </a:schemeClr>
            </a:fillRef>
            <a:effectRef idx="0">
              <a:schemeClr val="accent5">
                <a:hueOff val="569146"/>
                <a:satOff val="0"/>
                <a:lumOff val="-2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Intégrité</a:t>
              </a:r>
              <a:endParaRPr lang="fr-CA" sz="3300" kern="1200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2951F2D-03B0-4723-93C9-B5CE0C91EAD2}"/>
                </a:ext>
              </a:extLst>
            </p:cNvPr>
            <p:cNvSpPr/>
            <p:nvPr/>
          </p:nvSpPr>
          <p:spPr>
            <a:xfrm>
              <a:off x="1397153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853718"/>
                <a:satOff val="0"/>
                <a:lumOff val="-3412"/>
                <a:alphaOff val="0"/>
              </a:schemeClr>
            </a:fillRef>
            <a:effectRef idx="0">
              <a:schemeClr val="accent5">
                <a:hueOff val="853718"/>
                <a:satOff val="0"/>
                <a:lumOff val="-341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 dirty="0"/>
                <a:t>Compétence</a:t>
              </a:r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4B728F39-BD56-4480-B723-21B082E9B5C3}"/>
                </a:ext>
              </a:extLst>
            </p:cNvPr>
            <p:cNvSpPr/>
            <p:nvPr/>
          </p:nvSpPr>
          <p:spPr>
            <a:xfrm>
              <a:off x="4627610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138291"/>
                <a:satOff val="0"/>
                <a:lumOff val="-4550"/>
                <a:alphaOff val="0"/>
              </a:schemeClr>
            </a:fillRef>
            <a:effectRef idx="0">
              <a:schemeClr val="accent5">
                <a:hueOff val="1138291"/>
                <a:satOff val="0"/>
                <a:lumOff val="-45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Disponibilité</a:t>
              </a:r>
              <a:endParaRPr lang="fr-CA" sz="3300" kern="120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6ADC4EE-B2ED-492B-8124-25F41ADAB423}"/>
                </a:ext>
              </a:extLst>
            </p:cNvPr>
            <p:cNvSpPr/>
            <p:nvPr/>
          </p:nvSpPr>
          <p:spPr>
            <a:xfrm>
              <a:off x="7858067" y="3952870"/>
              <a:ext cx="2936778" cy="1762067"/>
            </a:xfrm>
            <a:custGeom>
              <a:avLst/>
              <a:gdLst>
                <a:gd name="connsiteX0" fmla="*/ 0 w 2936778"/>
                <a:gd name="connsiteY0" fmla="*/ 0 h 1762067"/>
                <a:gd name="connsiteX1" fmla="*/ 2936778 w 2936778"/>
                <a:gd name="connsiteY1" fmla="*/ 0 h 1762067"/>
                <a:gd name="connsiteX2" fmla="*/ 2936778 w 2936778"/>
                <a:gd name="connsiteY2" fmla="*/ 1762067 h 1762067"/>
                <a:gd name="connsiteX3" fmla="*/ 0 w 2936778"/>
                <a:gd name="connsiteY3" fmla="*/ 1762067 h 1762067"/>
                <a:gd name="connsiteX4" fmla="*/ 0 w 2936778"/>
                <a:gd name="connsiteY4" fmla="*/ 0 h 17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78" h="1762067">
                  <a:moveTo>
                    <a:pt x="0" y="0"/>
                  </a:moveTo>
                  <a:lnTo>
                    <a:pt x="2936778" y="0"/>
                  </a:lnTo>
                  <a:lnTo>
                    <a:pt x="2936778" y="1762067"/>
                  </a:lnTo>
                  <a:lnTo>
                    <a:pt x="0" y="17620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422864"/>
                <a:satOff val="0"/>
                <a:lumOff val="-5687"/>
                <a:alphaOff val="0"/>
              </a:schemeClr>
            </a:fillRef>
            <a:effectRef idx="0">
              <a:schemeClr val="accent5">
                <a:hueOff val="1422864"/>
                <a:satOff val="0"/>
                <a:lumOff val="-568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3300" kern="1200"/>
                <a:t>Efficience et efficacité</a:t>
              </a:r>
              <a:endParaRPr lang="fr-CA" sz="3300" kern="1200" dirty="0"/>
            </a:p>
          </p:txBody>
        </p:sp>
      </p:grp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81782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Fonctionnement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1071360" lvl="3" indent="0">
              <a:buNone/>
            </a:pPr>
            <a:endParaRPr lang="fr-CA" sz="24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25</a:t>
            </a:fld>
            <a:endParaRPr lang="fr-CA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4225A06E-6F92-496C-8DD5-C776FDF43C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998639"/>
              </p:ext>
            </p:extLst>
          </p:nvPr>
        </p:nvGraphicFramePr>
        <p:xfrm>
          <a:off x="2278418" y="1436298"/>
          <a:ext cx="7635164" cy="4739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56125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9EF46D-1397-4394-917B-4DD25A3B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Comités du conseil d’administration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5EFD64-219A-46B5-A53E-0E3944763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6F69AB-ECA8-4484-A91D-FB109950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836D85-7750-4D77-B50F-F069786688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592748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0B2667-E5C7-45EA-9D23-2CC5FCCA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Comité d’audit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C93B7-5755-4C4E-9BBB-99AC25BA2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Mandat: surveillance de la qualité et de l’intégrité de l’information financière. Le comité d’audit doit s’assurer que les contrôles internes nécessaires sont en place pour prévenir la fraude</a:t>
            </a:r>
          </a:p>
          <a:p>
            <a:r>
              <a:rPr lang="fr-CA" dirty="0"/>
              <a:t>Relation directe avec la fonction d’audit interne et d’audit externe</a:t>
            </a:r>
          </a:p>
          <a:p>
            <a:r>
              <a:rPr lang="fr-CA" dirty="0">
                <a:highlight>
                  <a:srgbClr val="FFFF00"/>
                </a:highlight>
              </a:rPr>
              <a:t>Obligatoire pour les sociétés ouvertes</a:t>
            </a:r>
          </a:p>
          <a:p>
            <a:r>
              <a:rPr lang="fr-CA" dirty="0"/>
              <a:t>Composition : minimum de </a:t>
            </a:r>
            <a:r>
              <a:rPr lang="fr-CA" b="1" dirty="0">
                <a:highlight>
                  <a:srgbClr val="FFFF00"/>
                </a:highlight>
              </a:rPr>
              <a:t>trois</a:t>
            </a:r>
            <a:r>
              <a:rPr lang="fr-CA" b="1" dirty="0"/>
              <a:t> </a:t>
            </a:r>
            <a:r>
              <a:rPr lang="fr-CA" dirty="0"/>
              <a:t>membres</a:t>
            </a:r>
            <a:r>
              <a:rPr lang="fr-CA" b="1" dirty="0"/>
              <a:t> indépendants </a:t>
            </a:r>
            <a:r>
              <a:rPr lang="fr-CA" dirty="0"/>
              <a:t>possédants de bonnes </a:t>
            </a:r>
            <a:r>
              <a:rPr lang="fr-CA" b="1" dirty="0"/>
              <a:t>connaissances financières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EAD37C-1518-4899-9E55-51D8ECDF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5BEBEF-BB4E-424A-84A3-7F953A45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0254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64F82-87BF-41EA-A3FB-D1667CF5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Autres comités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1B30F985-FE0F-44B0-8F52-AD3FF3A33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522485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ACD145-6EAA-46D1-B5A4-CA44BC03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5A5AA-8379-4B15-B826-F3541B55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0776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́sentationC" id="{7B900980-0BE7-DB46-BDD8-B5C57DA3098F}" vid="{284F6D4A-4740-A140-9287-11FBD62823B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88C45F76CCDB43A86359868621ABBF" ma:contentTypeVersion="8" ma:contentTypeDescription="Create a new document." ma:contentTypeScope="" ma:versionID="88cce1ec5845f43c654261a9a871cf16">
  <xsd:schema xmlns:xsd="http://www.w3.org/2001/XMLSchema" xmlns:xs="http://www.w3.org/2001/XMLSchema" xmlns:p="http://schemas.microsoft.com/office/2006/metadata/properties" xmlns:ns3="65806708-f9f3-41fb-896d-8a4e9be62363" xmlns:ns4="e46d8f65-c35b-4982-94a2-35659ae4d67c" targetNamespace="http://schemas.microsoft.com/office/2006/metadata/properties" ma:root="true" ma:fieldsID="3e37f8128cf5b1c0bfdcad3bb89caa08" ns3:_="" ns4:_="">
    <xsd:import namespace="65806708-f9f3-41fb-896d-8a4e9be62363"/>
    <xsd:import namespace="e46d8f65-c35b-4982-94a2-35659ae4d6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806708-f9f3-41fb-896d-8a4e9be623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d8f65-c35b-4982-94a2-35659ae4d6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CD8DB2-F296-4B97-82CC-50BF4EA9A822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65806708-f9f3-41fb-896d-8a4e9be62363"/>
    <ds:schemaRef ds:uri="http://purl.org/dc/terms/"/>
    <ds:schemaRef ds:uri="e46d8f65-c35b-4982-94a2-35659ae4d67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40B43C-62B6-4ECD-AF0C-C9C1CF1A22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0C43AB-AC8F-4A87-9182-DDE3BD0EB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806708-f9f3-41fb-896d-8a4e9be62363"/>
    <ds:schemaRef ds:uri="e46d8f65-c35b-4982-94a2-35659ae4d6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PrésentationC</Template>
  <TotalTime>1163</TotalTime>
  <Words>1532</Words>
  <Application>Microsoft Office PowerPoint</Application>
  <PresentationFormat>Grand écran</PresentationFormat>
  <Paragraphs>301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Thème HEC</vt:lpstr>
      <vt:lpstr>Contrôle de gestion stratégique </vt:lpstr>
      <vt:lpstr>Le cadre de la  gouvernance</vt:lpstr>
      <vt:lpstr>Quelques références</vt:lpstr>
      <vt:lpstr>Quelques références</vt:lpstr>
      <vt:lpstr>Quelques références</vt:lpstr>
      <vt:lpstr>Qu’est-ce que la gouvernance? </vt:lpstr>
      <vt:lpstr>Le conseil d’administration</vt:lpstr>
      <vt:lpstr>Gouvernance et structure </vt:lpstr>
      <vt:lpstr>Gouvernance et structure </vt:lpstr>
      <vt:lpstr>Gouvernance et structure </vt:lpstr>
      <vt:lpstr>Mandat de CA </vt:lpstr>
      <vt:lpstr>Mandat de CA </vt:lpstr>
      <vt:lpstr>Mandat de CA </vt:lpstr>
      <vt:lpstr>Mandat CA </vt:lpstr>
      <vt:lpstr>Mandat CA </vt:lpstr>
      <vt:lpstr>Mandat CA </vt:lpstr>
      <vt:lpstr>Mandat CA </vt:lpstr>
      <vt:lpstr>Indépendance</vt:lpstr>
      <vt:lpstr>Composition du Conseil d’administration</vt:lpstr>
      <vt:lpstr>Composition du Conseil d’administration</vt:lpstr>
      <vt:lpstr>Composition du Conseil d’administration</vt:lpstr>
      <vt:lpstr>Composition du Conseil d’administration</vt:lpstr>
      <vt:lpstr>Composition du Conseil d’administration</vt:lpstr>
      <vt:lpstr>Composition du Conseil d’administration</vt:lpstr>
      <vt:lpstr>Fonctionnement </vt:lpstr>
      <vt:lpstr>Comités du conseil d’administration</vt:lpstr>
      <vt:lpstr>Comité d’audit</vt:lpstr>
      <vt:lpstr>Autres comités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SOKRI Marzouk</cp:lastModifiedBy>
  <cp:revision>9</cp:revision>
  <dcterms:created xsi:type="dcterms:W3CDTF">2020-10-30T15:34:23Z</dcterms:created>
  <dcterms:modified xsi:type="dcterms:W3CDTF">2025-04-03T13:25:46Z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0x010100CF88C45F76CCDB43A86359868621ABBF</vt:lpwstr>
  </property>
</Properties>
</file>