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0"/>
  </p:notesMasterIdLst>
  <p:handoutMasterIdLst>
    <p:handoutMasterId r:id="rId151"/>
  </p:handoutMasterIdLst>
  <p:sldIdLst>
    <p:sldId id="257" r:id="rId2"/>
    <p:sldId id="794" r:id="rId3"/>
    <p:sldId id="258" r:id="rId4"/>
    <p:sldId id="374" r:id="rId5"/>
    <p:sldId id="259" r:id="rId6"/>
    <p:sldId id="260" r:id="rId7"/>
    <p:sldId id="262" r:id="rId8"/>
    <p:sldId id="263" r:id="rId9"/>
    <p:sldId id="264" r:id="rId10"/>
    <p:sldId id="265" r:id="rId11"/>
    <p:sldId id="266" r:id="rId12"/>
    <p:sldId id="267" r:id="rId13"/>
    <p:sldId id="269" r:id="rId14"/>
    <p:sldId id="270" r:id="rId15"/>
    <p:sldId id="272" r:id="rId16"/>
    <p:sldId id="273" r:id="rId17"/>
    <p:sldId id="459" r:id="rId18"/>
    <p:sldId id="274" r:id="rId19"/>
    <p:sldId id="275" r:id="rId20"/>
    <p:sldId id="276" r:id="rId21"/>
    <p:sldId id="277" r:id="rId22"/>
    <p:sldId id="278" r:id="rId23"/>
    <p:sldId id="375" r:id="rId24"/>
    <p:sldId id="279" r:id="rId25"/>
    <p:sldId id="280" r:id="rId26"/>
    <p:sldId id="379" r:id="rId27"/>
    <p:sldId id="281" r:id="rId28"/>
    <p:sldId id="380" r:id="rId29"/>
    <p:sldId id="282" r:id="rId30"/>
    <p:sldId id="795" r:id="rId31"/>
    <p:sldId id="796" r:id="rId32"/>
    <p:sldId id="798" r:id="rId33"/>
    <p:sldId id="799" r:id="rId34"/>
    <p:sldId id="797" r:id="rId35"/>
    <p:sldId id="800" r:id="rId36"/>
    <p:sldId id="801" r:id="rId37"/>
    <p:sldId id="802" r:id="rId38"/>
    <p:sldId id="803" r:id="rId39"/>
    <p:sldId id="804" r:id="rId40"/>
    <p:sldId id="805" r:id="rId41"/>
    <p:sldId id="283" r:id="rId42"/>
    <p:sldId id="284" r:id="rId43"/>
    <p:sldId id="287" r:id="rId44"/>
    <p:sldId id="460" r:id="rId45"/>
    <p:sldId id="288" r:id="rId46"/>
    <p:sldId id="791" r:id="rId47"/>
    <p:sldId id="289" r:id="rId48"/>
    <p:sldId id="290" r:id="rId49"/>
    <p:sldId id="291" r:id="rId50"/>
    <p:sldId id="382" r:id="rId51"/>
    <p:sldId id="292" r:id="rId52"/>
    <p:sldId id="293" r:id="rId53"/>
    <p:sldId id="788" r:id="rId54"/>
    <p:sldId id="304" r:id="rId55"/>
    <p:sldId id="305" r:id="rId56"/>
    <p:sldId id="306" r:id="rId57"/>
    <p:sldId id="376" r:id="rId58"/>
    <p:sldId id="792" r:id="rId59"/>
    <p:sldId id="793" r:id="rId60"/>
    <p:sldId id="377" r:id="rId61"/>
    <p:sldId id="308" r:id="rId62"/>
    <p:sldId id="310" r:id="rId63"/>
    <p:sldId id="315" r:id="rId64"/>
    <p:sldId id="316" r:id="rId65"/>
    <p:sldId id="317" r:id="rId66"/>
    <p:sldId id="318" r:id="rId67"/>
    <p:sldId id="319" r:id="rId68"/>
    <p:sldId id="785" r:id="rId69"/>
    <p:sldId id="786" r:id="rId70"/>
    <p:sldId id="321" r:id="rId71"/>
    <p:sldId id="322" r:id="rId72"/>
    <p:sldId id="323" r:id="rId73"/>
    <p:sldId id="324" r:id="rId74"/>
    <p:sldId id="325" r:id="rId75"/>
    <p:sldId id="326" r:id="rId76"/>
    <p:sldId id="327" r:id="rId77"/>
    <p:sldId id="328" r:id="rId78"/>
    <p:sldId id="329" r:id="rId79"/>
    <p:sldId id="330" r:id="rId80"/>
    <p:sldId id="458" r:id="rId81"/>
    <p:sldId id="385" r:id="rId82"/>
    <p:sldId id="386" r:id="rId83"/>
    <p:sldId id="387" r:id="rId84"/>
    <p:sldId id="388" r:id="rId85"/>
    <p:sldId id="389" r:id="rId86"/>
    <p:sldId id="390" r:id="rId87"/>
    <p:sldId id="391" r:id="rId88"/>
    <p:sldId id="392" r:id="rId89"/>
    <p:sldId id="393" r:id="rId90"/>
    <p:sldId id="395" r:id="rId91"/>
    <p:sldId id="396" r:id="rId92"/>
    <p:sldId id="397" r:id="rId93"/>
    <p:sldId id="398" r:id="rId94"/>
    <p:sldId id="399" r:id="rId95"/>
    <p:sldId id="400" r:id="rId96"/>
    <p:sldId id="401" r:id="rId97"/>
    <p:sldId id="402" r:id="rId98"/>
    <p:sldId id="403" r:id="rId99"/>
    <p:sldId id="406" r:id="rId100"/>
    <p:sldId id="407" r:id="rId101"/>
    <p:sldId id="307" r:id="rId102"/>
    <p:sldId id="408" r:id="rId103"/>
    <p:sldId id="409" r:id="rId104"/>
    <p:sldId id="410" r:id="rId105"/>
    <p:sldId id="411" r:id="rId106"/>
    <p:sldId id="412" r:id="rId107"/>
    <p:sldId id="413" r:id="rId108"/>
    <p:sldId id="421" r:id="rId109"/>
    <p:sldId id="422" r:id="rId110"/>
    <p:sldId id="423" r:id="rId111"/>
    <p:sldId id="320" r:id="rId112"/>
    <p:sldId id="424" r:id="rId113"/>
    <p:sldId id="425" r:id="rId114"/>
    <p:sldId id="428" r:id="rId115"/>
    <p:sldId id="431" r:id="rId116"/>
    <p:sldId id="432" r:id="rId117"/>
    <p:sldId id="441" r:id="rId118"/>
    <p:sldId id="789" r:id="rId119"/>
    <p:sldId id="442" r:id="rId120"/>
    <p:sldId id="443" r:id="rId121"/>
    <p:sldId id="456" r:id="rId122"/>
    <p:sldId id="457" r:id="rId123"/>
    <p:sldId id="339" r:id="rId124"/>
    <p:sldId id="340" r:id="rId125"/>
    <p:sldId id="341" r:id="rId126"/>
    <p:sldId id="342" r:id="rId127"/>
    <p:sldId id="343" r:id="rId128"/>
    <p:sldId id="344" r:id="rId129"/>
    <p:sldId id="345" r:id="rId130"/>
    <p:sldId id="346" r:id="rId131"/>
    <p:sldId id="347" r:id="rId132"/>
    <p:sldId id="348" r:id="rId133"/>
    <p:sldId id="349" r:id="rId134"/>
    <p:sldId id="350" r:id="rId135"/>
    <p:sldId id="351" r:id="rId136"/>
    <p:sldId id="352" r:id="rId137"/>
    <p:sldId id="353" r:id="rId138"/>
    <p:sldId id="354" r:id="rId139"/>
    <p:sldId id="355" r:id="rId140"/>
    <p:sldId id="356" r:id="rId141"/>
    <p:sldId id="357" r:id="rId142"/>
    <p:sldId id="358" r:id="rId143"/>
    <p:sldId id="359" r:id="rId144"/>
    <p:sldId id="360" r:id="rId145"/>
    <p:sldId id="361" r:id="rId146"/>
    <p:sldId id="362" r:id="rId147"/>
    <p:sldId id="363" r:id="rId148"/>
    <p:sldId id="364" r:id="rId149"/>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89E3AB-4518-4A6F-9415-5E0BFC217509}" v="1" dt="2025-02-07T19:08:50.20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68249" autoAdjust="0"/>
  </p:normalViewPr>
  <p:slideViewPr>
    <p:cSldViewPr snapToGrid="0">
      <p:cViewPr varScale="1">
        <p:scale>
          <a:sx n="65" d="100"/>
          <a:sy n="65" d="100"/>
        </p:scale>
        <p:origin x="135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notesMaster" Target="notesMasters/notesMaster1.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handoutMaster" Target="handoutMasters/handoutMaster1.xml"/><Relationship Id="rId156"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2BD90679-B218-4B77-AB7E-83008E5505F9}" type="datetimeFigureOut">
              <a:rPr lang="fr-CA" smtClean="0"/>
              <a:t>2025-02-14</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3D4D2755-AF6B-481D-BF4D-86D4A8477563}" type="slidenum">
              <a:rPr lang="fr-CA" smtClean="0"/>
              <a:t>‹N°›</a:t>
            </a:fld>
            <a:endParaRPr lang="fr-CA"/>
          </a:p>
        </p:txBody>
      </p:sp>
    </p:spTree>
    <p:extLst>
      <p:ext uri="{BB962C8B-B14F-4D97-AF65-F5344CB8AC3E}">
        <p14:creationId xmlns:p14="http://schemas.microsoft.com/office/powerpoint/2010/main" val="27371258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9F907452-4596-4AC5-921A-CDC72DAA979A}" type="datetimeFigureOut">
              <a:rPr lang="fr-CA" smtClean="0"/>
              <a:t>2025-02-14</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fr-CA"/>
          </a:p>
        </p:txBody>
      </p:sp>
      <p:sp>
        <p:nvSpPr>
          <p:cNvPr id="5" name="Espace réservé des commentaires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FDFF8E33-C734-4BA4-9F03-CDAF597606E7}" type="slidenum">
              <a:rPr lang="fr-CA" smtClean="0"/>
              <a:t>‹N°›</a:t>
            </a:fld>
            <a:endParaRPr lang="fr-CA"/>
          </a:p>
        </p:txBody>
      </p:sp>
    </p:spTree>
    <p:extLst>
      <p:ext uri="{BB962C8B-B14F-4D97-AF65-F5344CB8AC3E}">
        <p14:creationId xmlns:p14="http://schemas.microsoft.com/office/powerpoint/2010/main" val="2638024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20% au plus comme des actions ordinaires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6</a:t>
            </a:fld>
            <a:endParaRPr lang="fr-CA"/>
          </a:p>
        </p:txBody>
      </p:sp>
    </p:spTree>
    <p:extLst>
      <p:ext uri="{BB962C8B-B14F-4D97-AF65-F5344CB8AC3E}">
        <p14:creationId xmlns:p14="http://schemas.microsoft.com/office/powerpoint/2010/main" val="1904095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7</a:t>
            </a:fld>
            <a:endParaRPr lang="fr-FR"/>
          </a:p>
        </p:txBody>
      </p:sp>
    </p:spTree>
    <p:extLst>
      <p:ext uri="{BB962C8B-B14F-4D97-AF65-F5344CB8AC3E}">
        <p14:creationId xmlns:p14="http://schemas.microsoft.com/office/powerpoint/2010/main" val="292902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8</a:t>
            </a:fld>
            <a:endParaRPr lang="fr-FR"/>
          </a:p>
        </p:txBody>
      </p:sp>
    </p:spTree>
    <p:extLst>
      <p:ext uri="{BB962C8B-B14F-4D97-AF65-F5344CB8AC3E}">
        <p14:creationId xmlns:p14="http://schemas.microsoft.com/office/powerpoint/2010/main" val="1107809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9</a:t>
            </a:fld>
            <a:endParaRPr lang="fr-FR"/>
          </a:p>
        </p:txBody>
      </p:sp>
    </p:spTree>
    <p:extLst>
      <p:ext uri="{BB962C8B-B14F-4D97-AF65-F5344CB8AC3E}">
        <p14:creationId xmlns:p14="http://schemas.microsoft.com/office/powerpoint/2010/main" val="990724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Contrat à terme sur devise : Obligation d’exécuter à l’échéance – acheter / vendre des devises</a:t>
            </a:r>
            <a:r>
              <a:rPr lang="fr-CA" baseline="0" dirty="0"/>
              <a:t> à un cours de change et à une date déterminés à la signature du contrat.</a:t>
            </a:r>
            <a:r>
              <a:rPr lang="fr-CA" dirty="0"/>
              <a:t> Se règle</a:t>
            </a:r>
            <a:r>
              <a:rPr lang="fr-CA" baseline="0" dirty="0"/>
              <a:t> au net (écart de cours de change entre le taux courant et le taux au contrat à terme)</a:t>
            </a:r>
            <a:endParaRPr lang="fr-CA" dirty="0"/>
          </a:p>
          <a:p>
            <a:r>
              <a:rPr lang="fr-CA" dirty="0"/>
              <a:t>Option: Option (et non obligation) d’acheter ou de vendre (une devise</a:t>
            </a:r>
            <a:r>
              <a:rPr lang="fr-CA" baseline="0" dirty="0"/>
              <a:t>, une action, une devise…)</a:t>
            </a:r>
            <a:r>
              <a:rPr lang="fr-CA" dirty="0"/>
              <a:t> à un certain prix à une date déterminée. Actif ou valeur 0 $. Ne peut être un passif car option, donc pas d’obligation d’exécuter si à perte </a:t>
            </a: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12</a:t>
            </a:fld>
            <a:endParaRPr lang="fr-FR"/>
          </a:p>
        </p:txBody>
      </p:sp>
    </p:spTree>
    <p:extLst>
      <p:ext uri="{BB962C8B-B14F-4D97-AF65-F5344CB8AC3E}">
        <p14:creationId xmlns:p14="http://schemas.microsoft.com/office/powerpoint/2010/main" val="988788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r>
              <a:rPr lang="fr-CA" dirty="0"/>
              <a:t>Les dividendes reçus sont comptabilisée RN </a:t>
            </a:r>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15</a:t>
            </a:fld>
            <a:endParaRPr lang="fr-FR"/>
          </a:p>
        </p:txBody>
      </p:sp>
    </p:spTree>
    <p:extLst>
      <p:ext uri="{BB962C8B-B14F-4D97-AF65-F5344CB8AC3E}">
        <p14:creationId xmlns:p14="http://schemas.microsoft.com/office/powerpoint/2010/main" val="3374494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dirty="0">
                <a:effectLst/>
              </a:rPr>
              <a:t>détenu à des fins de transaction</a:t>
            </a:r>
          </a:p>
          <a:p>
            <a:r>
              <a:rPr lang="fr-CA" dirty="0">
                <a:effectLst/>
              </a:rPr>
              <a:t>Se dit d'un actif financier ou d'un passif financier qui répond à l'une ou l'autre des conditions suivantes :</a:t>
            </a:r>
          </a:p>
          <a:p>
            <a:r>
              <a:rPr lang="fr-CA" dirty="0">
                <a:effectLst/>
              </a:rPr>
              <a:t>(a) il est acquis ou assumé principalement en vue d'une revente prochaine ou d'un rachat prochain ;</a:t>
            </a:r>
          </a:p>
          <a:p>
            <a:r>
              <a:rPr lang="fr-CA" dirty="0">
                <a:effectLst/>
              </a:rPr>
              <a:t>(b) lors de sa comptabilisation initiale, il fait partie d'un portefeuille d'instruments financiers déterminés qui sont gérés ensemble et qui présentent des indications d'un profil récent de prise de profits à court terme ;</a:t>
            </a:r>
          </a:p>
          <a:p>
            <a:r>
              <a:rPr lang="fr-CA" dirty="0">
                <a:effectLst/>
              </a:rPr>
              <a:t>(c) il est un </a:t>
            </a:r>
            <a:r>
              <a:rPr lang="fr-CA" b="1" dirty="0">
                <a:effectLst/>
              </a:rPr>
              <a:t>dérivé</a:t>
            </a:r>
            <a:r>
              <a:rPr lang="fr-CA" dirty="0">
                <a:effectLst/>
              </a:rPr>
              <a:t> (à l'exception d'un dérivé qui est un contrat de garantie financière ou un instrument de couverture désigné et efficace).</a:t>
            </a:r>
          </a:p>
          <a:p>
            <a:endParaRPr lang="fr-CA" dirty="0">
              <a:effectLst/>
            </a:endParaRPr>
          </a:p>
          <a:p>
            <a:endParaRPr lang="fr-CA" dirty="0">
              <a:effectLst/>
            </a:endParaRP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16</a:t>
            </a:fld>
            <a:endParaRPr lang="fr-FR"/>
          </a:p>
        </p:txBody>
      </p:sp>
    </p:spTree>
    <p:extLst>
      <p:ext uri="{BB962C8B-B14F-4D97-AF65-F5344CB8AC3E}">
        <p14:creationId xmlns:p14="http://schemas.microsoft.com/office/powerpoint/2010/main" val="2130114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dirty="0"/>
              <a:t>La caractéristique fondamentale d’un IF s’apprécie en fonction des définitions :</a:t>
            </a:r>
            <a:endParaRPr lang="fr-CA" b="1" i="1" dirty="0"/>
          </a:p>
          <a:p>
            <a:r>
              <a:rPr lang="fr-CA" b="1" dirty="0"/>
              <a:t>PF = relation débiteur/créancier</a:t>
            </a:r>
            <a:endParaRPr lang="fr-CA" dirty="0"/>
          </a:p>
          <a:p>
            <a:pPr lvl="1"/>
            <a:r>
              <a:rPr lang="fr-CA" b="1" dirty="0"/>
              <a:t>Obligation </a:t>
            </a:r>
            <a:r>
              <a:rPr lang="fr-CA" dirty="0"/>
              <a:t>de verser de la trésorerie, etc.</a:t>
            </a:r>
          </a:p>
          <a:p>
            <a:pPr lvl="1"/>
            <a:r>
              <a:rPr lang="fr-CA" dirty="0"/>
              <a:t>Valeur que recevra le détenteur du titre est </a:t>
            </a:r>
            <a:r>
              <a:rPr lang="fr-CA" u="sng" dirty="0"/>
              <a:t>déterminée ou déterminable</a:t>
            </a:r>
            <a:endParaRPr lang="fr-CA" dirty="0"/>
          </a:p>
          <a:p>
            <a:pPr lvl="1"/>
            <a:r>
              <a:rPr lang="fr-CA" dirty="0"/>
              <a:t>Valeur que recevra le détenteur n’est </a:t>
            </a:r>
            <a:r>
              <a:rPr lang="fr-CA" u="sng" dirty="0"/>
              <a:t>pas</a:t>
            </a:r>
            <a:r>
              <a:rPr lang="fr-CA" dirty="0"/>
              <a:t> reliée à la valeur de l’entité ou de ses ICP.</a:t>
            </a:r>
          </a:p>
          <a:p>
            <a:pPr lvl="1"/>
            <a:r>
              <a:rPr lang="fr-CA" dirty="0"/>
              <a:t>Échéance </a:t>
            </a:r>
            <a:r>
              <a:rPr lang="fr-CA" u="sng" dirty="0"/>
              <a:t>déterminée ou déterminable</a:t>
            </a:r>
            <a:endParaRPr lang="fr-CA" dirty="0"/>
          </a:p>
          <a:p>
            <a:r>
              <a:rPr lang="fr-CA" b="1" dirty="0"/>
              <a:t>Conclusion : risque est similaire à celui supporté par un créancier</a:t>
            </a:r>
            <a:endParaRPr lang="fr-CA" dirty="0"/>
          </a:p>
          <a:p>
            <a:r>
              <a:rPr lang="fr-CA" i="1" dirty="0"/>
              <a:t>** Obligation de rembourser peut être </a:t>
            </a:r>
            <a:r>
              <a:rPr lang="fr-CA" i="1" u="sng" dirty="0"/>
              <a:t>explicite</a:t>
            </a:r>
            <a:r>
              <a:rPr lang="fr-CA" i="1" dirty="0"/>
              <a:t> ou </a:t>
            </a:r>
            <a:r>
              <a:rPr lang="fr-CA" i="1" u="sng" dirty="0"/>
              <a:t>implicite</a:t>
            </a:r>
            <a:r>
              <a:rPr lang="fr-CA" i="1" dirty="0"/>
              <a:t> (à cause des conditions prévues au contrat)</a:t>
            </a:r>
            <a:endParaRPr lang="fr-CA" dirty="0"/>
          </a:p>
          <a:p>
            <a:r>
              <a:rPr lang="fr-CA" b="1" dirty="0"/>
              <a:t>ICP = relation AO/entité</a:t>
            </a:r>
            <a:endParaRPr lang="fr-CA" dirty="0"/>
          </a:p>
          <a:p>
            <a:pPr lvl="1"/>
            <a:r>
              <a:rPr lang="fr-CA" b="1" dirty="0"/>
              <a:t>Pas</a:t>
            </a:r>
            <a:r>
              <a:rPr lang="fr-CA" dirty="0"/>
              <a:t> d’obligation de verser de la trésorerie, etc.</a:t>
            </a:r>
          </a:p>
          <a:p>
            <a:pPr lvl="1"/>
            <a:r>
              <a:rPr lang="fr-CA" dirty="0"/>
              <a:t>Valeur que recevra le détenteur du titre est reliée à la valeur de l’entité ou de ses ICP </a:t>
            </a:r>
          </a:p>
          <a:p>
            <a:r>
              <a:rPr lang="fr-CA" i="1" dirty="0"/>
              <a:t>		 (droit résiduel sur l’actif net de l’entité)</a:t>
            </a:r>
            <a:endParaRPr lang="fr-CA" dirty="0"/>
          </a:p>
          <a:p>
            <a:pPr lvl="0"/>
            <a:r>
              <a:rPr lang="fr-CA" dirty="0"/>
              <a:t>Habituellement pas d’échéance</a:t>
            </a:r>
          </a:p>
          <a:p>
            <a:r>
              <a:rPr lang="fr-CA" b="1" dirty="0"/>
              <a:t>Conclusion : risque est similaire à celui supporté par un AO</a:t>
            </a:r>
          </a:p>
          <a:p>
            <a:endParaRPr lang="fr-CA" dirty="0"/>
          </a:p>
          <a:p>
            <a:r>
              <a:rPr lang="fr-CA" i="1" dirty="0"/>
              <a:t>** Pas d’échéance = capital permanent, Valeur à l’échéance FLUCTUE en fct des ICP de l’entité = risque supporté par le porteur</a:t>
            </a:r>
            <a:endParaRPr lang="fr-CA" dirty="0"/>
          </a:p>
          <a:p>
            <a:r>
              <a:rPr lang="fr-CA" b="1" dirty="0"/>
              <a:t>Si Intérêt résiduel = la valeur n’est </a:t>
            </a:r>
            <a:r>
              <a:rPr lang="fr-CA" b="1" u="sng" dirty="0"/>
              <a:t>jamais</a:t>
            </a:r>
            <a:r>
              <a:rPr lang="fr-CA" b="1" dirty="0"/>
              <a:t> déterminée ou déterminable</a:t>
            </a:r>
            <a:endParaRPr lang="fr-CA" dirty="0"/>
          </a:p>
          <a:p>
            <a:r>
              <a:rPr lang="fr-CA" b="1" dirty="0"/>
              <a:t>Si PF = la valeur est déterminée ou déterminable</a:t>
            </a:r>
            <a:endParaRPr lang="fr-CA" dirty="0"/>
          </a:p>
          <a:p>
            <a:r>
              <a:rPr lang="fr-CA" b="1" dirty="0"/>
              <a:t>Si remboursement en nombre fixe d’AO : </a:t>
            </a:r>
            <a:r>
              <a:rPr lang="fr-CA" dirty="0"/>
              <a:t>	La </a:t>
            </a:r>
            <a:r>
              <a:rPr lang="fr-CA" b="1" i="1" u="sng" dirty="0"/>
              <a:t>valeur</a:t>
            </a:r>
            <a:r>
              <a:rPr lang="fr-CA" dirty="0"/>
              <a:t> que recevra le porteur (détenteur)  de l’instrument est déterminée en fonction de l’obligation contractuelle (il ne supporte pas un risque de variation de la valeur  qu’il recevra : nbre d’ICP varie en fct de la valeur).</a:t>
            </a: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43</a:t>
            </a:fld>
            <a:endParaRPr lang="fr-FR"/>
          </a:p>
        </p:txBody>
      </p:sp>
    </p:spTree>
    <p:extLst>
      <p:ext uri="{BB962C8B-B14F-4D97-AF65-F5344CB8AC3E}">
        <p14:creationId xmlns:p14="http://schemas.microsoft.com/office/powerpoint/2010/main" val="3999377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dirty="0"/>
              <a:t>La caractéristique fondamentale d’un IF s’apprécie en fct des définitions :</a:t>
            </a:r>
            <a:endParaRPr lang="fr-CA" b="1" i="1" dirty="0"/>
          </a:p>
          <a:p>
            <a:r>
              <a:rPr lang="fr-CA" b="1" dirty="0"/>
              <a:t>PF = relation débiteur/créancier</a:t>
            </a:r>
            <a:endParaRPr lang="fr-CA" dirty="0"/>
          </a:p>
          <a:p>
            <a:pPr lvl="1"/>
            <a:r>
              <a:rPr lang="fr-CA" b="1" dirty="0"/>
              <a:t>Obligation </a:t>
            </a:r>
            <a:r>
              <a:rPr lang="fr-CA" dirty="0"/>
              <a:t>de verser de la trésorerie, etc.</a:t>
            </a:r>
          </a:p>
          <a:p>
            <a:pPr lvl="1"/>
            <a:r>
              <a:rPr lang="fr-CA" dirty="0"/>
              <a:t>Valeur que recevra le détenteur du titre est </a:t>
            </a:r>
            <a:r>
              <a:rPr lang="fr-CA" u="sng" dirty="0"/>
              <a:t>déterminée ou déterminable</a:t>
            </a:r>
            <a:endParaRPr lang="fr-CA" dirty="0"/>
          </a:p>
          <a:p>
            <a:pPr lvl="1"/>
            <a:r>
              <a:rPr lang="fr-CA" dirty="0"/>
              <a:t>Valeur que recevra le détenteur n’est </a:t>
            </a:r>
            <a:r>
              <a:rPr lang="fr-CA" u="sng" dirty="0"/>
              <a:t>pas</a:t>
            </a:r>
            <a:r>
              <a:rPr lang="fr-CA" dirty="0"/>
              <a:t> reliée à la valeur de l’entité ou de ses ICP.</a:t>
            </a:r>
          </a:p>
          <a:p>
            <a:pPr lvl="1"/>
            <a:r>
              <a:rPr lang="fr-CA" dirty="0"/>
              <a:t>Échéance </a:t>
            </a:r>
            <a:r>
              <a:rPr lang="fr-CA" u="sng" dirty="0"/>
              <a:t>déterminée ou déterminable</a:t>
            </a:r>
            <a:endParaRPr lang="fr-CA" dirty="0"/>
          </a:p>
          <a:p>
            <a:r>
              <a:rPr lang="fr-CA" b="1" dirty="0"/>
              <a:t>Conclusion : risque est similaire à celui supporté par un créancier</a:t>
            </a:r>
            <a:endParaRPr lang="fr-CA" dirty="0"/>
          </a:p>
          <a:p>
            <a:r>
              <a:rPr lang="fr-CA" i="1" dirty="0"/>
              <a:t>** Obligation de rembourser peut être </a:t>
            </a:r>
            <a:r>
              <a:rPr lang="fr-CA" i="1" u="sng" dirty="0"/>
              <a:t>explicite</a:t>
            </a:r>
            <a:r>
              <a:rPr lang="fr-CA" i="1" dirty="0"/>
              <a:t> ou </a:t>
            </a:r>
            <a:r>
              <a:rPr lang="fr-CA" i="1" u="sng" dirty="0"/>
              <a:t>implicite</a:t>
            </a:r>
            <a:r>
              <a:rPr lang="fr-CA" i="1" dirty="0"/>
              <a:t> (à cause des conditions prévues au contrat)</a:t>
            </a:r>
            <a:endParaRPr lang="fr-CA" dirty="0"/>
          </a:p>
          <a:p>
            <a:r>
              <a:rPr lang="fr-CA" b="1" dirty="0"/>
              <a:t>ICP = relation AO/entité</a:t>
            </a:r>
            <a:endParaRPr lang="fr-CA" dirty="0"/>
          </a:p>
          <a:p>
            <a:pPr lvl="1"/>
            <a:r>
              <a:rPr lang="fr-CA" b="1" dirty="0"/>
              <a:t>Pas</a:t>
            </a:r>
            <a:r>
              <a:rPr lang="fr-CA" dirty="0"/>
              <a:t> d’obligation de verser de la trésorerie, etc.</a:t>
            </a:r>
          </a:p>
          <a:p>
            <a:pPr lvl="1"/>
            <a:r>
              <a:rPr lang="fr-CA" dirty="0"/>
              <a:t>Valeur que recevra le détenteur du titre est reliée à la valeur de l’entité ou de ses ICP </a:t>
            </a:r>
          </a:p>
          <a:p>
            <a:r>
              <a:rPr lang="fr-CA" i="1" dirty="0"/>
              <a:t>		 (droit résiduel sur l’actif net de l’entité)</a:t>
            </a:r>
            <a:endParaRPr lang="fr-CA" dirty="0"/>
          </a:p>
          <a:p>
            <a:pPr lvl="0"/>
            <a:r>
              <a:rPr lang="fr-CA" dirty="0"/>
              <a:t>Habituellement pas d’échéance</a:t>
            </a:r>
          </a:p>
          <a:p>
            <a:r>
              <a:rPr lang="fr-CA" b="1" dirty="0"/>
              <a:t>Conclusion : risque est similaire à celui supporté par un AO</a:t>
            </a:r>
          </a:p>
          <a:p>
            <a:endParaRPr lang="fr-CA" dirty="0"/>
          </a:p>
          <a:p>
            <a:r>
              <a:rPr lang="fr-CA" i="1" dirty="0"/>
              <a:t>** Pas d’échéance = capital permanent, Valeur à l’échéance FLUCTUE en fct des ICP de l’entité = risque supporté par le porteur</a:t>
            </a:r>
            <a:endParaRPr lang="fr-CA" dirty="0"/>
          </a:p>
          <a:p>
            <a:r>
              <a:rPr lang="fr-CA" b="1" dirty="0"/>
              <a:t>Si Intérêt résiduel = la valeur n’est </a:t>
            </a:r>
            <a:r>
              <a:rPr lang="fr-CA" b="1" u="sng" dirty="0"/>
              <a:t>jamais</a:t>
            </a:r>
            <a:r>
              <a:rPr lang="fr-CA" b="1" dirty="0"/>
              <a:t> déterminée ou déterminable</a:t>
            </a:r>
            <a:endParaRPr lang="fr-CA" dirty="0"/>
          </a:p>
          <a:p>
            <a:r>
              <a:rPr lang="fr-CA" b="1" dirty="0"/>
              <a:t>Si PF = la valeur est déterminée ou déterminable</a:t>
            </a:r>
            <a:endParaRPr lang="fr-CA" dirty="0"/>
          </a:p>
          <a:p>
            <a:r>
              <a:rPr lang="fr-CA" b="1" dirty="0"/>
              <a:t>Si remboursement en nombre fixe d’AO : </a:t>
            </a:r>
            <a:r>
              <a:rPr lang="fr-CA" dirty="0"/>
              <a:t>	La </a:t>
            </a:r>
            <a:r>
              <a:rPr lang="fr-CA" b="1" i="1" u="sng" dirty="0"/>
              <a:t>valeur</a:t>
            </a:r>
            <a:r>
              <a:rPr lang="fr-CA" dirty="0"/>
              <a:t> que recevra le porteur (détenteur)  de l’instrument est déterminée en fonction de l’obligation contractuelle (il ne supporte pas un risque de variation de la valeur  qu’il recevra : nbre d’ICP varie en fct de la valeur).</a:t>
            </a: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44</a:t>
            </a:fld>
            <a:endParaRPr lang="fr-FR"/>
          </a:p>
        </p:txBody>
      </p:sp>
    </p:spTree>
    <p:extLst>
      <p:ext uri="{BB962C8B-B14F-4D97-AF65-F5344CB8AC3E}">
        <p14:creationId xmlns:p14="http://schemas.microsoft.com/office/powerpoint/2010/main" val="3999377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45</a:t>
            </a:fld>
            <a:endParaRPr lang="fr-FR"/>
          </a:p>
        </p:txBody>
      </p:sp>
    </p:spTree>
    <p:extLst>
      <p:ext uri="{BB962C8B-B14F-4D97-AF65-F5344CB8AC3E}">
        <p14:creationId xmlns:p14="http://schemas.microsoft.com/office/powerpoint/2010/main" val="3551645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46</a:t>
            </a:fld>
            <a:endParaRPr lang="fr-FR"/>
          </a:p>
        </p:txBody>
      </p:sp>
    </p:spTree>
    <p:extLst>
      <p:ext uri="{BB962C8B-B14F-4D97-AF65-F5344CB8AC3E}">
        <p14:creationId xmlns:p14="http://schemas.microsoft.com/office/powerpoint/2010/main" val="2097364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49</a:t>
            </a:fld>
            <a:endParaRPr lang="fr-FR"/>
          </a:p>
        </p:txBody>
      </p:sp>
    </p:spTree>
    <p:extLst>
      <p:ext uri="{BB962C8B-B14F-4D97-AF65-F5344CB8AC3E}">
        <p14:creationId xmlns:p14="http://schemas.microsoft.com/office/powerpoint/2010/main" val="2852070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50</a:t>
            </a:fld>
            <a:endParaRPr lang="fr-FR"/>
          </a:p>
        </p:txBody>
      </p:sp>
    </p:spTree>
    <p:extLst>
      <p:ext uri="{BB962C8B-B14F-4D97-AF65-F5344CB8AC3E}">
        <p14:creationId xmlns:p14="http://schemas.microsoft.com/office/powerpoint/2010/main" val="2063497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defTabSz="465887">
              <a:defRPr/>
            </a:pPr>
            <a:r>
              <a:rPr lang="fr-CA" dirty="0"/>
              <a:t>Une </a:t>
            </a:r>
            <a:r>
              <a:rPr lang="fr-CA" b="1" dirty="0"/>
              <a:t>débenture</a:t>
            </a:r>
            <a:r>
              <a:rPr lang="fr-CA" dirty="0"/>
              <a:t> est un instrument financier qui a les mêmes caractéristiques qu'une obligation, toutefois la </a:t>
            </a:r>
            <a:r>
              <a:rPr lang="fr-CA" b="1" dirty="0"/>
              <a:t>débenture</a:t>
            </a:r>
            <a:r>
              <a:rPr lang="fr-CA" dirty="0"/>
              <a:t> n'offre aucun bien en garantie. Par conséquent, elle offre moins de couverture pour l'acheteur du titre en cas de défaut de paiement.</a:t>
            </a: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51</a:t>
            </a:fld>
            <a:endParaRPr lang="fr-FR"/>
          </a:p>
        </p:txBody>
      </p:sp>
    </p:spTree>
    <p:extLst>
      <p:ext uri="{BB962C8B-B14F-4D97-AF65-F5344CB8AC3E}">
        <p14:creationId xmlns:p14="http://schemas.microsoft.com/office/powerpoint/2010/main" val="3254365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dirty="0"/>
              <a:t>La caractéristique fondamentale d’un IF s’apprécie en fct des définitions :</a:t>
            </a:r>
            <a:endParaRPr lang="fr-CA" b="1" i="1" dirty="0"/>
          </a:p>
          <a:p>
            <a:r>
              <a:rPr lang="fr-CA" b="1" dirty="0"/>
              <a:t>PF = relation débiteur/créancier</a:t>
            </a:r>
            <a:endParaRPr lang="fr-CA" dirty="0"/>
          </a:p>
          <a:p>
            <a:pPr lvl="1"/>
            <a:r>
              <a:rPr lang="fr-CA" b="1" dirty="0"/>
              <a:t>Obligation </a:t>
            </a:r>
            <a:r>
              <a:rPr lang="fr-CA" dirty="0"/>
              <a:t>de verser de la trésorerie, etc.</a:t>
            </a:r>
          </a:p>
          <a:p>
            <a:pPr lvl="1"/>
            <a:r>
              <a:rPr lang="fr-CA" dirty="0"/>
              <a:t>Valeur que recevra le détenteur du titre est </a:t>
            </a:r>
            <a:r>
              <a:rPr lang="fr-CA" u="sng" dirty="0"/>
              <a:t>déterminée ou déterminable</a:t>
            </a:r>
            <a:endParaRPr lang="fr-CA" dirty="0"/>
          </a:p>
          <a:p>
            <a:pPr lvl="1"/>
            <a:r>
              <a:rPr lang="fr-CA" dirty="0"/>
              <a:t>Valeur que recevra le détenteur n’est </a:t>
            </a:r>
            <a:r>
              <a:rPr lang="fr-CA" u="sng" dirty="0"/>
              <a:t>pas</a:t>
            </a:r>
            <a:r>
              <a:rPr lang="fr-CA" dirty="0"/>
              <a:t> reliée à la valeur de l’entité ou de ses ICP.</a:t>
            </a:r>
          </a:p>
          <a:p>
            <a:pPr lvl="1"/>
            <a:r>
              <a:rPr lang="fr-CA" dirty="0"/>
              <a:t>Échéance </a:t>
            </a:r>
            <a:r>
              <a:rPr lang="fr-CA" u="sng" dirty="0"/>
              <a:t>déterminée ou déterminable</a:t>
            </a:r>
            <a:endParaRPr lang="fr-CA" dirty="0"/>
          </a:p>
          <a:p>
            <a:r>
              <a:rPr lang="fr-CA" b="1" dirty="0"/>
              <a:t>Conclusion : risque est similaire à celui supporté par un créancier</a:t>
            </a:r>
            <a:endParaRPr lang="fr-CA" dirty="0"/>
          </a:p>
          <a:p>
            <a:r>
              <a:rPr lang="fr-CA" i="1" dirty="0"/>
              <a:t>** Obligation de rembourser peut être </a:t>
            </a:r>
            <a:r>
              <a:rPr lang="fr-CA" i="1" u="sng" dirty="0"/>
              <a:t>explicite</a:t>
            </a:r>
            <a:r>
              <a:rPr lang="fr-CA" i="1" dirty="0"/>
              <a:t> ou </a:t>
            </a:r>
            <a:r>
              <a:rPr lang="fr-CA" i="1" u="sng" dirty="0"/>
              <a:t>implicite</a:t>
            </a:r>
            <a:r>
              <a:rPr lang="fr-CA" i="1" dirty="0"/>
              <a:t> (à cause des conditions prévues au contrat)</a:t>
            </a:r>
            <a:endParaRPr lang="fr-CA" dirty="0"/>
          </a:p>
          <a:p>
            <a:r>
              <a:rPr lang="fr-CA" b="1" dirty="0"/>
              <a:t>ICP = relation AO/entité</a:t>
            </a:r>
            <a:endParaRPr lang="fr-CA" dirty="0"/>
          </a:p>
          <a:p>
            <a:pPr lvl="1"/>
            <a:r>
              <a:rPr lang="fr-CA" b="1" dirty="0"/>
              <a:t>Pas</a:t>
            </a:r>
            <a:r>
              <a:rPr lang="fr-CA" dirty="0"/>
              <a:t> d’obligation de verser de la trésorerie, etc.</a:t>
            </a:r>
          </a:p>
          <a:p>
            <a:pPr lvl="1"/>
            <a:r>
              <a:rPr lang="fr-CA" dirty="0"/>
              <a:t>Valeur que recevra le détenteur du titre est reliée à la valeur de l’entité ou de ses ICP </a:t>
            </a:r>
          </a:p>
          <a:p>
            <a:r>
              <a:rPr lang="fr-CA" i="1" dirty="0"/>
              <a:t>		 (droit résiduel sur l’actif net de l’entité)</a:t>
            </a:r>
            <a:endParaRPr lang="fr-CA" dirty="0"/>
          </a:p>
          <a:p>
            <a:pPr lvl="0"/>
            <a:r>
              <a:rPr lang="fr-CA" dirty="0"/>
              <a:t>Habituellement pas d’échéance</a:t>
            </a:r>
          </a:p>
          <a:p>
            <a:r>
              <a:rPr lang="fr-CA" b="1" dirty="0"/>
              <a:t>Conclusion : risque est similaire à celui supporté par un AO</a:t>
            </a:r>
          </a:p>
          <a:p>
            <a:endParaRPr lang="fr-CA" dirty="0"/>
          </a:p>
          <a:p>
            <a:r>
              <a:rPr lang="fr-CA" i="1" dirty="0"/>
              <a:t>** Pas d’échéance = capital permanent, Valeur à l’échéance FLUCTUE en fct des ICP de l’entité = risque supporté par le porteur</a:t>
            </a:r>
            <a:endParaRPr lang="fr-CA" dirty="0"/>
          </a:p>
          <a:p>
            <a:r>
              <a:rPr lang="fr-CA" b="1" dirty="0"/>
              <a:t>Si Intérêt résiduel = la valeur n’est </a:t>
            </a:r>
            <a:r>
              <a:rPr lang="fr-CA" b="1" u="sng" dirty="0"/>
              <a:t>jamais</a:t>
            </a:r>
            <a:r>
              <a:rPr lang="fr-CA" b="1" dirty="0"/>
              <a:t> déterminée ou déterminable</a:t>
            </a:r>
            <a:endParaRPr lang="fr-CA" dirty="0"/>
          </a:p>
          <a:p>
            <a:r>
              <a:rPr lang="fr-CA" b="1" dirty="0"/>
              <a:t>Si PF = la valeur est déterminée ou déterminable</a:t>
            </a:r>
            <a:endParaRPr lang="fr-CA" dirty="0"/>
          </a:p>
          <a:p>
            <a:r>
              <a:rPr lang="fr-CA" b="1" dirty="0"/>
              <a:t>Si remboursement en nombre fixe d’AO : </a:t>
            </a:r>
            <a:r>
              <a:rPr lang="fr-CA" dirty="0"/>
              <a:t>	La </a:t>
            </a:r>
            <a:r>
              <a:rPr lang="fr-CA" b="1" i="1" u="sng" dirty="0"/>
              <a:t>valeur</a:t>
            </a:r>
            <a:r>
              <a:rPr lang="fr-CA" dirty="0"/>
              <a:t> que recevra le porteur (détenteur)  de l’instrument est déterminée en fonction de l’obligation contractuelle (il ne supporte pas un risque de variation de la valeur  qu’il recevra : nbre d’ICP varie en fct de la valeur).</a:t>
            </a:r>
          </a:p>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53</a:t>
            </a:fld>
            <a:endParaRPr lang="fr-FR"/>
          </a:p>
        </p:txBody>
      </p:sp>
    </p:spTree>
    <p:extLst>
      <p:ext uri="{BB962C8B-B14F-4D97-AF65-F5344CB8AC3E}">
        <p14:creationId xmlns:p14="http://schemas.microsoft.com/office/powerpoint/2010/main" val="2726219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62</a:t>
            </a:fld>
            <a:endParaRPr lang="fr-FR"/>
          </a:p>
        </p:txBody>
      </p:sp>
    </p:spTree>
    <p:extLst>
      <p:ext uri="{BB962C8B-B14F-4D97-AF65-F5344CB8AC3E}">
        <p14:creationId xmlns:p14="http://schemas.microsoft.com/office/powerpoint/2010/main" val="3907191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Espace réservé de l'image des diapositives 1"/>
          <p:cNvSpPr>
            <a:spLocks noGrp="1" noRot="1" noChangeAspect="1" noTextEdit="1"/>
          </p:cNvSpPr>
          <p:nvPr>
            <p:ph type="sldImg"/>
          </p:nvPr>
        </p:nvSpPr>
        <p:spPr>
          <a:ln/>
        </p:spPr>
      </p:sp>
      <p:sp>
        <p:nvSpPr>
          <p:cNvPr id="86019" name="Espace réservé des commentaires 2"/>
          <p:cNvSpPr>
            <a:spLocks noGrp="1"/>
          </p:cNvSpPr>
          <p:nvPr>
            <p:ph type="body" idx="1"/>
          </p:nvPr>
        </p:nvSpPr>
        <p:spPr/>
        <p:txBody>
          <a:bodyPr/>
          <a:lstStyle/>
          <a:p>
            <a:pPr>
              <a:defRPr/>
            </a:pPr>
            <a:endParaRPr lang="fr-CA" altLang="fr-FR" dirty="0">
              <a:ea typeface="ＭＳ Ｐゴシック" panose="020B0600070205080204" pitchFamily="34" charset="-128"/>
            </a:endParaRPr>
          </a:p>
        </p:txBody>
      </p:sp>
      <p:sp>
        <p:nvSpPr>
          <p:cNvPr id="102404" name="Espace réservé du numéro de diapositive 3"/>
          <p:cNvSpPr>
            <a:spLocks noGrp="1"/>
          </p:cNvSpPr>
          <p:nvPr>
            <p:ph type="sldNum" sz="quarter" idx="5"/>
          </p:nvPr>
        </p:nvSpPr>
        <p:spPr>
          <a:noFill/>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089BE99-A825-493A-9350-02E66E582C58}" type="slidenum">
              <a:rPr lang="fr-CA" altLang="fr-FR">
                <a:latin typeface="Calibri" panose="020F0502020204030204" pitchFamily="34" charset="0"/>
              </a:rPr>
              <a:pPr/>
              <a:t>68</a:t>
            </a:fld>
            <a:endParaRPr lang="fr-CA" altLang="fr-FR">
              <a:latin typeface="Calibri" panose="020F0502020204030204" pitchFamily="34" charset="0"/>
            </a:endParaRPr>
          </a:p>
        </p:txBody>
      </p:sp>
    </p:spTree>
    <p:extLst>
      <p:ext uri="{BB962C8B-B14F-4D97-AF65-F5344CB8AC3E}">
        <p14:creationId xmlns:p14="http://schemas.microsoft.com/office/powerpoint/2010/main" val="2717455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Espace réservé de l'image des diapositives 1"/>
          <p:cNvSpPr>
            <a:spLocks noGrp="1" noRot="1" noChangeAspect="1" noTextEdit="1"/>
          </p:cNvSpPr>
          <p:nvPr>
            <p:ph type="sldImg"/>
          </p:nvPr>
        </p:nvSpPr>
        <p:spPr>
          <a:ln/>
        </p:spPr>
      </p:sp>
      <p:sp>
        <p:nvSpPr>
          <p:cNvPr id="86019" name="Espace réservé des commentaires 2"/>
          <p:cNvSpPr>
            <a:spLocks noGrp="1"/>
          </p:cNvSpPr>
          <p:nvPr>
            <p:ph type="body" idx="1"/>
          </p:nvPr>
        </p:nvSpPr>
        <p:spPr/>
        <p:txBody>
          <a:bodyPr/>
          <a:lstStyle/>
          <a:p>
            <a:pPr>
              <a:defRPr/>
            </a:pPr>
            <a:endParaRPr lang="fr-CA" altLang="fr-FR" dirty="0">
              <a:ea typeface="ＭＳ Ｐゴシック" panose="020B0600070205080204" pitchFamily="34" charset="-128"/>
            </a:endParaRPr>
          </a:p>
        </p:txBody>
      </p:sp>
      <p:sp>
        <p:nvSpPr>
          <p:cNvPr id="102404" name="Espace réservé du numéro de diapositive 3"/>
          <p:cNvSpPr>
            <a:spLocks noGrp="1"/>
          </p:cNvSpPr>
          <p:nvPr>
            <p:ph type="sldNum" sz="quarter" idx="5"/>
          </p:nvPr>
        </p:nvSpPr>
        <p:spPr>
          <a:noFill/>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089BE99-A825-493A-9350-02E66E582C58}" type="slidenum">
              <a:rPr lang="fr-CA" altLang="fr-FR">
                <a:latin typeface="Calibri" panose="020F0502020204030204" pitchFamily="34" charset="0"/>
              </a:rPr>
              <a:pPr/>
              <a:t>69</a:t>
            </a:fld>
            <a:endParaRPr lang="fr-CA" altLang="fr-FR">
              <a:latin typeface="Calibri" panose="020F0502020204030204" pitchFamily="34" charset="0"/>
            </a:endParaRPr>
          </a:p>
        </p:txBody>
      </p:sp>
    </p:spTree>
    <p:extLst>
      <p:ext uri="{BB962C8B-B14F-4D97-AF65-F5344CB8AC3E}">
        <p14:creationId xmlns:p14="http://schemas.microsoft.com/office/powerpoint/2010/main" val="1602202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err="1"/>
              <a:t>Enjeu:montant</a:t>
            </a:r>
            <a:r>
              <a:rPr lang="fr-CA" dirty="0"/>
              <a:t> de PAO relatif a la machine</a:t>
            </a:r>
          </a:p>
          <a:p>
            <a:r>
              <a:rPr lang="fr-CA" dirty="0"/>
              <a:t>Identification de la norme et </a:t>
            </a:r>
            <a:r>
              <a:rPr lang="fr-CA" dirty="0" err="1"/>
              <a:t>analyse:Selon</a:t>
            </a:r>
            <a:r>
              <a:rPr lang="fr-CA" dirty="0"/>
              <a:t> l’IFRS 15 pour constater des obligations on doit satisfaire aux 5 condition</a:t>
            </a:r>
          </a:p>
          <a:p>
            <a:r>
              <a:rPr lang="fr-CA" dirty="0"/>
              <a:t>Identification de contrat (N’est pas enjeu)</a:t>
            </a:r>
          </a:p>
          <a:p>
            <a:r>
              <a:rPr lang="fr-CA" dirty="0"/>
              <a:t>Identification des obligations  de prestation:</a:t>
            </a:r>
            <a:r>
              <a:rPr lang="fr-FR" dirty="0"/>
              <a:t>22    À la passation d'un contrat avec un client, l'entité doit apprécier les biens ou les services promis dans le contrat et identifier comme une obligation de prestation chaque promesse de fournir au client :</a:t>
            </a:r>
          </a:p>
          <a:p>
            <a:endParaRPr lang="fr-FR" dirty="0"/>
          </a:p>
          <a:p>
            <a:pPr marL="228600" indent="-228600">
              <a:buAutoNum type="alphaLcParenBoth"/>
            </a:pPr>
            <a:r>
              <a:rPr lang="fr-FR" dirty="0"/>
              <a:t>soit un bien ou un service (ou un groupe de biens ou services) distinct ;Cette  condition s’applique il existe seulement un seul bien soit la machine et ABC a la promesse de livrer la machine au client </a:t>
            </a:r>
          </a:p>
          <a:p>
            <a:pPr marL="0" indent="0">
              <a:buNone/>
            </a:pPr>
            <a:r>
              <a:rPr lang="fr-FR" dirty="0"/>
              <a:t>Biens ou services distincts</a:t>
            </a:r>
          </a:p>
          <a:p>
            <a:pPr marL="0" indent="0">
              <a:buNone/>
            </a:pPr>
            <a:endParaRPr lang="fr-FR" dirty="0"/>
          </a:p>
          <a:p>
            <a:pPr marL="0" indent="0">
              <a:buNone/>
            </a:pPr>
            <a:r>
              <a:rPr lang="fr-FR" dirty="0"/>
              <a:t>26       Selon le contrat, les biens ou les services promis peuvent comporter ce qui suit, sans s'y limiter :</a:t>
            </a:r>
          </a:p>
          <a:p>
            <a:pPr marL="0" indent="0">
              <a:buNone/>
            </a:pPr>
            <a:endParaRPr lang="fr-FR" dirty="0"/>
          </a:p>
          <a:p>
            <a:pPr marL="228600" indent="-228600">
              <a:buAutoNum type="alphaLcParenBoth"/>
            </a:pPr>
            <a:r>
              <a:rPr lang="fr-FR" dirty="0"/>
              <a:t>la vente de biens produits par une entité (par exemple, stocks d'un fabricant) ;oui cette condition s’applique a la vente de ABC pour la machine qui est considéré un stocks vendus dans le cours normal des activités</a:t>
            </a:r>
          </a:p>
          <a:p>
            <a:pPr marL="0" indent="0">
              <a:buNone/>
            </a:pPr>
            <a:r>
              <a:rPr lang="fr-FR" dirty="0"/>
              <a:t>Obligations de prestation remplies</a:t>
            </a:r>
          </a:p>
          <a:p>
            <a:pPr marL="0" indent="0">
              <a:buNone/>
            </a:pPr>
            <a:endParaRPr lang="fr-FR" dirty="0"/>
          </a:p>
          <a:p>
            <a:pPr marL="228600" indent="-228600">
              <a:buAutoNum type="arabicPlain" startAt="31"/>
            </a:pPr>
            <a:r>
              <a:rPr lang="fr-FR" dirty="0"/>
              <a:t>L'entité doit comptabiliser des produits des activités ordinaires lorsqu'elle a rempli (ou à mesure qu'elle remplit) une obligation de prestation en fournissant au client un bien ou un service (c'est-à-dire en transférant un actif) promis. Un actif est transféré lorsque le client en a obtenu (ou à mesure qu'il en obtient) le </a:t>
            </a:r>
            <a:r>
              <a:rPr lang="fr-FR" dirty="0" err="1"/>
              <a:t>contrôle:cette</a:t>
            </a:r>
            <a:r>
              <a:rPr lang="fr-FR" dirty="0"/>
              <a:t> </a:t>
            </a:r>
            <a:r>
              <a:rPr lang="fr-FR" dirty="0" err="1"/>
              <a:t>condtion</a:t>
            </a:r>
            <a:r>
              <a:rPr lang="fr-FR" dirty="0"/>
              <a:t> s’applique car le client a </a:t>
            </a:r>
            <a:r>
              <a:rPr lang="fr-FR" dirty="0" err="1"/>
              <a:t>recu</a:t>
            </a:r>
            <a:r>
              <a:rPr lang="fr-FR" dirty="0"/>
              <a:t> la </a:t>
            </a:r>
            <a:r>
              <a:rPr lang="fr-FR" dirty="0" err="1"/>
              <a:t>machie</a:t>
            </a:r>
            <a:r>
              <a:rPr lang="fr-FR" dirty="0"/>
              <a:t> de fait que ABC a livrer cette dernière </a:t>
            </a:r>
          </a:p>
          <a:p>
            <a:pPr marL="0" indent="0">
              <a:buNone/>
            </a:pPr>
            <a:r>
              <a:rPr lang="fr-FR" dirty="0"/>
              <a:t>Obligations de prestation remplies à un moment précis</a:t>
            </a:r>
          </a:p>
          <a:p>
            <a:pPr marL="0" indent="0">
              <a:buNone/>
            </a:pPr>
            <a:endParaRPr lang="fr-FR" dirty="0"/>
          </a:p>
          <a:p>
            <a:pPr marL="0" indent="0">
              <a:buNone/>
            </a:pPr>
            <a:r>
              <a:rPr lang="fr-FR" dirty="0"/>
              <a:t>38       Si une obligation de prestation n'est pas remplie progressivement selon les paragraphes 35 à 37, c'est que l'entité la remplit à un moment précis. Pour déterminer le moment précis où le client obtient le contrôle d'un actif promis et où l'entité remplit de ce fait une obligation de prestation, l'entité doit tenir compte des dispositions visant le contrôle énoncées aux paragraphes 31 à 34. De plus, elle doit prendre en compte les éléments indicatifs d'un transfert de contrôle, qui comprennent notamment les suivants.</a:t>
            </a:r>
          </a:p>
          <a:p>
            <a:pPr marL="0" indent="0">
              <a:buNone/>
            </a:pPr>
            <a:endParaRPr lang="fr-FR" dirty="0"/>
          </a:p>
          <a:p>
            <a:pPr marL="0" indent="0">
              <a:buNone/>
            </a:pPr>
            <a:r>
              <a:rPr lang="fr-FR" dirty="0"/>
              <a:t>(c)     L'entité a transféré la possession matérielle de l'actif — Le fait que le client a la possession matérielle de l'actif peut indiquer qu'il a la capacité de décider de l'utilisation de celui-ci et d'en obtenir la quasi-totalité des avantages restants, ou de restreindre l'accès d'autres entités à ces avantages. Cependant, il se peut que la possession matérielle ne coïncide pas avec le contrôle d'un actif. Par exemple, dans le cadre de certains accords de rachat et de certains accords de consignation, il se peut qu'un client ou un consignataire ait la possession matérielle d'un actif dont l'entité a le contrôle. À l'inverse, dans le cadre de certaines ventes à livrer, il se peut que l'entité ait la possession matérielle d'un actif dont le client a le contrôle. Les paragraphes B64 à B76, B77 et B78, et B79 à B82 fournissent, respectivement, des indications sur la comptabilisation des accords de rachat, des accords de consignation et des ventes à livrer.</a:t>
            </a:r>
          </a:p>
          <a:p>
            <a:pPr marL="0" indent="0">
              <a:buNone/>
            </a:pPr>
            <a:r>
              <a:rPr lang="fr-FR" dirty="0"/>
              <a:t>Oui cette condition s’</a:t>
            </a:r>
            <a:r>
              <a:rPr lang="fr-FR" dirty="0" err="1"/>
              <a:t>appliqeu</a:t>
            </a:r>
            <a:r>
              <a:rPr lang="fr-FR" dirty="0"/>
              <a:t> car ABC a transférer la machine au client </a:t>
            </a:r>
          </a:p>
          <a:p>
            <a:pPr marL="0" indent="0">
              <a:buNone/>
            </a:pPr>
            <a:r>
              <a:rPr lang="fr-FR" dirty="0"/>
              <a:t>Prix de transaction:</a:t>
            </a:r>
          </a:p>
          <a:p>
            <a:pPr marL="0" indent="0">
              <a:buNone/>
            </a:pPr>
            <a:r>
              <a:rPr lang="fr-FR" dirty="0"/>
              <a:t>46     Lorsqu'elle a rempli (ou à mesure qu'elle remplit) une obligation de prestation, l'entité doit comptabiliser en produits des activités ordinaires le montant du prix de transaction (dont sont exclues les estimations de la contrepartie variable qui font l'objet d'une limitation conformément aux paragraphes 56 à 58) affecté à cette obligation</a:t>
            </a:r>
          </a:p>
          <a:p>
            <a:pPr marL="228600" indent="-228600">
              <a:buAutoNum type="arabicPlain" startAt="56"/>
            </a:pPr>
            <a:r>
              <a:rPr lang="fr-FR" dirty="0"/>
              <a:t>L'entité doit inclure dans le prix de transaction tout ou partie du montant de contrepartie variable estimé conformément au paragraphe 53 dans la seule mesure où il est hautement probable que le dénouement ultérieur de l'incertitude relative à la contrepartie variable ne donnera pas lieu à un ajustement à la baisse important du montant cumulatif des produits des activités ordinaires </a:t>
            </a:r>
            <a:r>
              <a:rPr lang="fr-FR" dirty="0" err="1"/>
              <a:t>comptabilisé.Cette</a:t>
            </a:r>
            <a:r>
              <a:rPr lang="fr-FR" dirty="0"/>
              <a:t> condition s’applique car y’a une composante de financement importante qui correspond au paiement dans 2 ans soit plus 1 veut dire que le client est IF selon IAS 32 car ABC a le droit de recevoir de trésorerie qui correspond au paiement de principale soit le montant de client et paiement des </a:t>
            </a:r>
            <a:r>
              <a:rPr lang="fr-FR" dirty="0" err="1"/>
              <a:t>des</a:t>
            </a:r>
            <a:r>
              <a:rPr lang="fr-FR" dirty="0"/>
              <a:t> –</a:t>
            </a:r>
            <a:r>
              <a:rPr lang="fr-FR" dirty="0" err="1"/>
              <a:t>intererts</a:t>
            </a:r>
            <a:r>
              <a:rPr lang="fr-FR" dirty="0"/>
              <a:t> sur le </a:t>
            </a:r>
            <a:r>
              <a:rPr lang="fr-FR" dirty="0" err="1"/>
              <a:t>priciaple</a:t>
            </a:r>
            <a:endParaRPr lang="fr-FR" dirty="0"/>
          </a:p>
          <a:p>
            <a:pPr marL="0" indent="0">
              <a:buNone/>
            </a:pPr>
            <a:r>
              <a:rPr lang="fr-FR" dirty="0"/>
              <a:t>Classement :Comme le compte client sera garder par ABC </a:t>
            </a:r>
            <a:r>
              <a:rPr lang="fr-FR" dirty="0" err="1"/>
              <a:t>jusq’au</a:t>
            </a:r>
            <a:r>
              <a:rPr lang="fr-FR" dirty="0"/>
              <a:t> échéance et selon l’IFRS 19 </a:t>
            </a:r>
          </a:p>
          <a:p>
            <a:pPr marL="0" indent="0">
              <a:buNone/>
            </a:pPr>
            <a:r>
              <a:rPr lang="fr-FR" dirty="0"/>
              <a:t>4.1.2   Un actif financier doit être évalué au coût amorti si les deux conditions suivantes sont réunies :</a:t>
            </a:r>
          </a:p>
          <a:p>
            <a:pPr marL="0" indent="0">
              <a:buNone/>
            </a:pPr>
            <a:endParaRPr lang="fr-FR" dirty="0"/>
          </a:p>
          <a:p>
            <a:pPr marL="0" indent="0">
              <a:buNone/>
            </a:pPr>
            <a:r>
              <a:rPr lang="fr-FR" dirty="0"/>
              <a:t>(a)     la détention de l'actif financier s'inscrit dans un modèle économique dont l'objectif est de détenir des actifs financiers afin d'en percevoir les flux de trésorerie contractuels ;cette </a:t>
            </a:r>
            <a:r>
              <a:rPr lang="fr-FR" dirty="0" err="1"/>
              <a:t>coondition</a:t>
            </a:r>
            <a:r>
              <a:rPr lang="fr-FR" dirty="0"/>
              <a:t> s’applique car ABC n’a pas l’intention de vendre son compte client </a:t>
            </a:r>
          </a:p>
          <a:p>
            <a:pPr marL="0" indent="0">
              <a:buNone/>
            </a:pPr>
            <a:endParaRPr lang="fr-FR" dirty="0"/>
          </a:p>
          <a:p>
            <a:pPr marL="228600" indent="-228600">
              <a:buAutoNum type="alphaLcParenBoth" startAt="2"/>
            </a:pPr>
            <a:r>
              <a:rPr lang="fr-FR" dirty="0"/>
              <a:t>les conditions contractuelles de l'actif financier donnent lieu, à des dates spécifiées, à des flux de trésorerie qui correspondent uniquement à des remboursements de principal et à des versements d'intérêts sur le principal restant </a:t>
            </a:r>
            <a:r>
              <a:rPr lang="fr-FR" dirty="0" err="1"/>
              <a:t>dû:oui</a:t>
            </a:r>
            <a:r>
              <a:rPr lang="fr-FR" dirty="0"/>
              <a:t> cette  condition s’applique ABC attend </a:t>
            </a:r>
            <a:r>
              <a:rPr lang="fr-FR" dirty="0" err="1"/>
              <a:t>seullemnt</a:t>
            </a:r>
            <a:r>
              <a:rPr lang="fr-FR" dirty="0"/>
              <a:t> le remboursement de compte a l’échéance qui correspond au remboursement de capital </a:t>
            </a:r>
          </a:p>
          <a:p>
            <a:pPr marL="0" indent="0">
              <a:buNone/>
            </a:pPr>
            <a:r>
              <a:rPr lang="fr-FR" dirty="0"/>
              <a:t>Existence d'une composante financement importante dans le contrat</a:t>
            </a:r>
          </a:p>
          <a:p>
            <a:pPr marL="0" indent="0">
              <a:buNone/>
            </a:pPr>
            <a:endParaRPr lang="fr-FR" dirty="0"/>
          </a:p>
          <a:p>
            <a:pPr marL="228600" indent="-228600">
              <a:buAutoNum type="arabicPlain" startAt="60"/>
            </a:pPr>
            <a:r>
              <a:rPr lang="fr-FR" dirty="0"/>
              <a:t>Lorsqu'elle détermine le prix de transaction, l'entité doit ajuster le montant de contrepartie promis pour tenir compte des effets de la valeur temps de l'argent si le calendrier des paiements convenu par les parties au contrat (de manière explicite ou implicite) procure au client ou à l'entité un avantage important relatif au financement de la fourniture des biens ou des services au client. En pareil cas, le contrat comporte une composante financement importante. Un contrat peut comporter une composante financement importante que la promesse de financement soit explicitement stipulée dans le contrat ou qu'elle soit sous-entendue dans les modalités de paiement convenues par les parties au contrat.</a:t>
            </a:r>
          </a:p>
          <a:p>
            <a:pPr marL="0" indent="0">
              <a:buNone/>
            </a:pPr>
            <a:r>
              <a:rPr lang="fr-FR" dirty="0"/>
              <a:t>FV=20 000,N=2,PMT=0,PV=18 000 I=? 5,4%</a:t>
            </a:r>
          </a:p>
          <a:p>
            <a:pPr marL="0" indent="0">
              <a:buNone/>
            </a:pPr>
            <a:r>
              <a:rPr lang="fr-FR" dirty="0"/>
              <a:t>Répartition des prix de transaction sur les obligation de </a:t>
            </a:r>
            <a:r>
              <a:rPr lang="fr-FR" dirty="0" err="1"/>
              <a:t>préstaion:ici</a:t>
            </a:r>
            <a:r>
              <a:rPr lang="fr-FR" dirty="0"/>
              <a:t> on a seulement une obligation de </a:t>
            </a:r>
            <a:r>
              <a:rPr lang="fr-FR" dirty="0" err="1"/>
              <a:t>présatation</a:t>
            </a:r>
            <a:r>
              <a:rPr lang="fr-FR" dirty="0"/>
              <a:t> donc pas de répartition </a:t>
            </a:r>
          </a:p>
          <a:p>
            <a:pPr marL="0" indent="0">
              <a:buNone/>
            </a:pPr>
            <a:r>
              <a:rPr lang="fr-FR" dirty="0" err="1"/>
              <a:t>Comptabilisaroon</a:t>
            </a:r>
            <a:endParaRPr lang="fr-FR" dirty="0"/>
          </a:p>
          <a:p>
            <a:pPr marL="0" indent="0">
              <a:buNone/>
            </a:pPr>
            <a:r>
              <a:rPr lang="fr-FR" dirty="0"/>
              <a:t>Client CA      18000</a:t>
            </a:r>
          </a:p>
          <a:p>
            <a:pPr marL="0" indent="0">
              <a:buNone/>
            </a:pPr>
            <a:r>
              <a:rPr lang="fr-FR" dirty="0"/>
              <a:t>PAO                                 18000</a:t>
            </a:r>
          </a:p>
          <a:p>
            <a:pPr marL="0" indent="0">
              <a:buNone/>
            </a:pPr>
            <a:r>
              <a:rPr lang="fr-FR" dirty="0"/>
              <a:t>CMV 14000</a:t>
            </a:r>
          </a:p>
          <a:p>
            <a:pPr marL="0" indent="0">
              <a:buNone/>
            </a:pPr>
            <a:r>
              <a:rPr lang="fr-FR" dirty="0"/>
              <a:t>Stock                                 14000 </a:t>
            </a:r>
          </a:p>
          <a:p>
            <a:pPr marL="0" indent="0">
              <a:buNone/>
            </a:pPr>
            <a:endParaRPr lang="fr-FR" dirty="0"/>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72</a:t>
            </a:fld>
            <a:endParaRPr lang="fr-CA"/>
          </a:p>
        </p:txBody>
      </p:sp>
    </p:spTree>
    <p:extLst>
      <p:ext uri="{BB962C8B-B14F-4D97-AF65-F5344CB8AC3E}">
        <p14:creationId xmlns:p14="http://schemas.microsoft.com/office/powerpoint/2010/main" val="1963254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Effet a recevoir </a:t>
            </a:r>
          </a:p>
          <a:p>
            <a:r>
              <a:rPr lang="fr-CA" dirty="0"/>
              <a:t>Produit de vente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74</a:t>
            </a:fld>
            <a:endParaRPr lang="fr-CA"/>
          </a:p>
        </p:txBody>
      </p:sp>
    </p:spTree>
    <p:extLst>
      <p:ext uri="{BB962C8B-B14F-4D97-AF65-F5344CB8AC3E}">
        <p14:creationId xmlns:p14="http://schemas.microsoft.com/office/powerpoint/2010/main" val="923018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75</a:t>
            </a:fld>
            <a:endParaRPr lang="fr-CA"/>
          </a:p>
        </p:txBody>
      </p:sp>
    </p:spTree>
    <p:extLst>
      <p:ext uri="{BB962C8B-B14F-4D97-AF65-F5344CB8AC3E}">
        <p14:creationId xmlns:p14="http://schemas.microsoft.com/office/powerpoint/2010/main" val="22398455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err="1"/>
              <a:t>ACT.veut</a:t>
            </a:r>
            <a:r>
              <a:rPr lang="fr-CA" dirty="0"/>
              <a:t> dire actions </a:t>
            </a:r>
            <a:r>
              <a:rPr lang="fr-CA" dirty="0" err="1"/>
              <a:t>ordianaires</a:t>
            </a:r>
            <a:r>
              <a:rPr lang="fr-CA" dirty="0"/>
              <a:t> </a:t>
            </a:r>
          </a:p>
          <a:p>
            <a:endParaRPr lang="fr-CA" dirty="0"/>
          </a:p>
          <a:p>
            <a:r>
              <a:rPr lang="fr-CA" dirty="0"/>
              <a:t>Capital permanant donc il ne y’a pas d’obligation pour l’entité de remettre de la trésorerie </a:t>
            </a:r>
          </a:p>
          <a:p>
            <a:endParaRPr lang="fr-CA" dirty="0"/>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81</a:t>
            </a:fld>
            <a:endParaRPr lang="fr-CA"/>
          </a:p>
        </p:txBody>
      </p:sp>
    </p:spTree>
    <p:extLst>
      <p:ext uri="{BB962C8B-B14F-4D97-AF65-F5344CB8AC3E}">
        <p14:creationId xmlns:p14="http://schemas.microsoft.com/office/powerpoint/2010/main" val="34185762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Actif/passif soit l’</a:t>
            </a:r>
            <a:r>
              <a:rPr lang="fr-CA" dirty="0" err="1"/>
              <a:t>éffet</a:t>
            </a:r>
            <a:r>
              <a:rPr lang="fr-CA" dirty="0"/>
              <a:t> de levier donc l’entité finance ses actifs par ses actifs cela va diluer le capital action et laisse plus de dividende ou actionnaires </a:t>
            </a:r>
          </a:p>
          <a:p>
            <a:endParaRPr lang="fr-CA" dirty="0"/>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82</a:t>
            </a:fld>
            <a:endParaRPr lang="fr-CA"/>
          </a:p>
        </p:txBody>
      </p:sp>
    </p:spTree>
    <p:extLst>
      <p:ext uri="{BB962C8B-B14F-4D97-AF65-F5344CB8AC3E}">
        <p14:creationId xmlns:p14="http://schemas.microsoft.com/office/powerpoint/2010/main" val="3968702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83</a:t>
            </a:fld>
            <a:endParaRPr lang="fr-CA"/>
          </a:p>
        </p:txBody>
      </p:sp>
    </p:spTree>
    <p:extLst>
      <p:ext uri="{BB962C8B-B14F-4D97-AF65-F5344CB8AC3E}">
        <p14:creationId xmlns:p14="http://schemas.microsoft.com/office/powerpoint/2010/main" val="14275023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86</a:t>
            </a:fld>
            <a:endParaRPr lang="fr-CA"/>
          </a:p>
        </p:txBody>
      </p:sp>
    </p:spTree>
    <p:extLst>
      <p:ext uri="{BB962C8B-B14F-4D97-AF65-F5344CB8AC3E}">
        <p14:creationId xmlns:p14="http://schemas.microsoft.com/office/powerpoint/2010/main" val="40826238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Plus de frais de transaction plus que le </a:t>
            </a:r>
            <a:r>
              <a:rPr lang="fr-CA"/>
              <a:t>taux d’ineteret </a:t>
            </a:r>
            <a:r>
              <a:rPr lang="fr-CA" dirty="0"/>
              <a:t>effectif augmente </a:t>
            </a:r>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103</a:t>
            </a:fld>
            <a:endParaRPr lang="fr-CA"/>
          </a:p>
        </p:txBody>
      </p:sp>
    </p:spTree>
    <p:extLst>
      <p:ext uri="{BB962C8B-B14F-4D97-AF65-F5344CB8AC3E}">
        <p14:creationId xmlns:p14="http://schemas.microsoft.com/office/powerpoint/2010/main" val="19846800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DFF8E33-C734-4BA4-9F03-CDAF597606E7}" type="slidenum">
              <a:rPr lang="fr-CA" smtClean="0"/>
              <a:t>104</a:t>
            </a:fld>
            <a:endParaRPr lang="fr-CA"/>
          </a:p>
        </p:txBody>
      </p:sp>
    </p:spTree>
    <p:extLst>
      <p:ext uri="{BB962C8B-B14F-4D97-AF65-F5344CB8AC3E}">
        <p14:creationId xmlns:p14="http://schemas.microsoft.com/office/powerpoint/2010/main" val="877379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123</a:t>
            </a:fld>
            <a:endParaRPr lang="fr-FR"/>
          </a:p>
        </p:txBody>
      </p:sp>
    </p:spTree>
    <p:extLst>
      <p:ext uri="{BB962C8B-B14F-4D97-AF65-F5344CB8AC3E}">
        <p14:creationId xmlns:p14="http://schemas.microsoft.com/office/powerpoint/2010/main" val="796310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DF733707-1054-4302-9597-751690DE1EA0}" type="datetime1">
              <a:rPr lang="fr-CA" smtClean="0"/>
              <a:t>2025-02-14</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1671751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63B3CF7A-B55C-4F43-8D5A-64CCA4DC17A7}" type="datetime1">
              <a:rPr lang="fr-CA" smtClean="0"/>
              <a:t>2025-02-14</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255811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72FCF0C-650A-4F6D-865D-D57A706B7F60}" type="datetime1">
              <a:rPr lang="fr-CA" smtClean="0"/>
              <a:t>2025-02-14</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3130312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850900A6-5391-46E4-B6FC-5A696F04C63D}" type="datetime1">
              <a:rPr lang="fr-CA" smtClean="0"/>
              <a:t>2025-02-14</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2594435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6D34D617-3430-4FEE-9716-A46DE0DFE593}" type="datetime1">
              <a:rPr lang="fr-CA" smtClean="0"/>
              <a:t>2025-02-14</a:t>
            </a:fld>
            <a:endParaRPr lang="fr-CA"/>
          </a:p>
        </p:txBody>
      </p:sp>
      <p:sp>
        <p:nvSpPr>
          <p:cNvPr id="8" name="Espace réservé du pied de page 7"/>
          <p:cNvSpPr>
            <a:spLocks noGrp="1"/>
          </p:cNvSpPr>
          <p:nvPr>
            <p:ph type="ftr" sz="quarter" idx="11"/>
          </p:nvPr>
        </p:nvSpPr>
        <p:spPr/>
        <p:txBody>
          <a:bodyPr/>
          <a:lstStyle/>
          <a:p>
            <a:r>
              <a:rPr lang="fr-CA"/>
              <a:t>Droits réservés - Louise Overbeek</a:t>
            </a:r>
          </a:p>
        </p:txBody>
      </p:sp>
      <p:sp>
        <p:nvSpPr>
          <p:cNvPr id="9" name="Espace réservé du numéro de diapositive 8"/>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3029854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BE106114-2A46-42A1-B33A-BC570101A8EC}" type="datetime1">
              <a:rPr lang="fr-CA" smtClean="0"/>
              <a:t>2025-02-14</a:t>
            </a:fld>
            <a:endParaRPr lang="fr-CA"/>
          </a:p>
        </p:txBody>
      </p:sp>
      <p:sp>
        <p:nvSpPr>
          <p:cNvPr id="4" name="Espace réservé du pied de page 3"/>
          <p:cNvSpPr>
            <a:spLocks noGrp="1"/>
          </p:cNvSpPr>
          <p:nvPr>
            <p:ph type="ftr" sz="quarter" idx="11"/>
          </p:nvPr>
        </p:nvSpPr>
        <p:spPr/>
        <p:txBody>
          <a:bodyPr/>
          <a:lstStyle/>
          <a:p>
            <a:r>
              <a:rPr lang="fr-CA"/>
              <a:t>Droits réservés - Louise Overbeek</a:t>
            </a:r>
          </a:p>
        </p:txBody>
      </p:sp>
      <p:sp>
        <p:nvSpPr>
          <p:cNvPr id="5" name="Espace réservé du numéro de diapositive 4"/>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3532946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DAB8709-BD73-46BC-BB8B-8C3908793D6E}" type="datetime1">
              <a:rPr lang="fr-CA" smtClean="0"/>
              <a:t>2025-02-14</a:t>
            </a:fld>
            <a:endParaRPr lang="fr-CA"/>
          </a:p>
        </p:txBody>
      </p:sp>
      <p:sp>
        <p:nvSpPr>
          <p:cNvPr id="3" name="Espace réservé du pied de page 2"/>
          <p:cNvSpPr>
            <a:spLocks noGrp="1"/>
          </p:cNvSpPr>
          <p:nvPr>
            <p:ph type="ftr" sz="quarter" idx="11"/>
          </p:nvPr>
        </p:nvSpPr>
        <p:spPr/>
        <p:txBody>
          <a:bodyPr/>
          <a:lstStyle/>
          <a:p>
            <a:r>
              <a:rPr lang="fr-CA"/>
              <a:t>Droits réservés - Louise Overbeek</a:t>
            </a:r>
          </a:p>
        </p:txBody>
      </p:sp>
      <p:sp>
        <p:nvSpPr>
          <p:cNvPr id="4" name="Espace réservé du numéro de diapositive 3"/>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861650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9A80594-8184-4F0D-A64A-DD1136D3A258}" type="datetime1">
              <a:rPr lang="fr-CA" smtClean="0"/>
              <a:t>2025-02-14</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1262631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0B254E88-2B47-4673-9C8C-9B21F4051186}" type="datetime1">
              <a:rPr lang="fr-CA" smtClean="0"/>
              <a:t>2025-02-14</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1379881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D64B81E2-30FE-4D55-8076-01A9A7113927}" type="datetime1">
              <a:rPr lang="fr-CA" smtClean="0"/>
              <a:t>2025-02-14</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3692198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5435C24D-5769-463C-91F3-26D2836A20DC}" type="datetime1">
              <a:rPr lang="fr-CA" smtClean="0"/>
              <a:t>2025-02-14</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D5C8285E-D276-48ED-A38D-FCE3A7D9B93F}" type="slidenum">
              <a:rPr lang="fr-CA" smtClean="0"/>
              <a:t>‹N°›</a:t>
            </a:fld>
            <a:endParaRPr lang="fr-CA"/>
          </a:p>
        </p:txBody>
      </p:sp>
    </p:spTree>
    <p:extLst>
      <p:ext uri="{BB962C8B-B14F-4D97-AF65-F5344CB8AC3E}">
        <p14:creationId xmlns:p14="http://schemas.microsoft.com/office/powerpoint/2010/main" val="1766980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331A7B-2519-4893-AA66-E4FCEE39BCBD}" type="datetime1">
              <a:rPr lang="fr-CA" smtClean="0"/>
              <a:t>2025-02-14</a:t>
            </a:fld>
            <a:endParaRPr lang="fr-C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CA"/>
              <a:t>Droits réservés - Louise Overbeek</a:t>
            </a: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8285E-D276-48ED-A38D-FCE3A7D9B93F}" type="slidenum">
              <a:rPr lang="fr-CA" smtClean="0"/>
              <a:t>‹N°›</a:t>
            </a:fld>
            <a:endParaRPr lang="fr-CA"/>
          </a:p>
        </p:txBody>
      </p:sp>
    </p:spTree>
    <p:extLst>
      <p:ext uri="{BB962C8B-B14F-4D97-AF65-F5344CB8AC3E}">
        <p14:creationId xmlns:p14="http://schemas.microsoft.com/office/powerpoint/2010/main" val="2805465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package" Target="../embeddings/Microsoft_Excel_Worksheet2.xlsx"/><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knotia.ca/Knowledge/Home.aspx?productID=80"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knotia.ca/Knowledge/Home.aspx?productID=80"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knotia.ca/Knowledge/Home.aspx?productID=80"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Excel_Worksheet3.xlsx"/><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knotia.ca/Knowledge/Home.aspx?productID=80"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knotia.ca/Knowledge/Home.aspx?productID=80"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knotia.ca/Knowledge/Home.aspx?productID=80"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edu-knotia-ca.proxy2.hec.ca/Knowledge/Home.aspx?productID=114"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edu-knotia-ca.proxy2.hec.ca/Knowledge/Home.aspx?productID=114"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edu.knotia.ca/Knowledge/Home.aspx?productID=114"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edu.knotia.ca/Knowledge/Home.aspx?productID=114"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edu.knotia.ca/Knowledge/Home.aspx?productID=114"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edu.knotia.ca/Knowledge/Home.aspx?productID=114"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4.xlsx"/><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5.xlsx"/><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package" Target="../embeddings/Microsoft_Excel_Worksheet6.xlsx"/></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package" Target="../embeddings/Microsoft_Excel_Worksheet7.xlsx"/><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package" Target="../embeddings/Microsoft_Excel_Worksheet8.xlsx"/></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emf"/><Relationship Id="rId7" Type="http://schemas.openxmlformats.org/officeDocument/2006/relationships/image" Target="../media/image12.emf"/><Relationship Id="rId2" Type="http://schemas.openxmlformats.org/officeDocument/2006/relationships/package" Target="../embeddings/Microsoft_Excel_Worksheet9.xlsx"/><Relationship Id="rId1" Type="http://schemas.openxmlformats.org/officeDocument/2006/relationships/slideLayout" Target="../slideLayouts/slideLayout2.xml"/><Relationship Id="rId6" Type="http://schemas.openxmlformats.org/officeDocument/2006/relationships/package" Target="../embeddings/Microsoft_Excel_Worksheet11.xlsx"/><Relationship Id="rId5" Type="http://schemas.openxmlformats.org/officeDocument/2006/relationships/image" Target="../media/image11.emf"/><Relationship Id="rId4" Type="http://schemas.openxmlformats.org/officeDocument/2006/relationships/package" Target="../embeddings/Microsoft_Excel_Worksheet10.xlsx"/></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package" Target="../embeddings/Microsoft_Excel_Worksheet12.xlsx"/><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package" Target="../embeddings/Microsoft_Excel_Worksheet13.xlsx"/></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package" Target="../embeddings/Microsoft_Excel_Worksheet14.xlsx"/><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package" Target="../embeddings/Microsoft_Excel_Worksheet15.xlsx"/></Relationships>
</file>

<file path=ppt/slides/_rels/slide1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package" Target="../embeddings/Microsoft_Excel_Worksheet16.xlsx"/><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0.emf"/><Relationship Id="rId2" Type="http://schemas.openxmlformats.org/officeDocument/2006/relationships/package" Target="../embeddings/Microsoft_Excel_Worksheet17.xlsx"/><Relationship Id="rId1" Type="http://schemas.openxmlformats.org/officeDocument/2006/relationships/slideLayout" Target="../slideLayouts/slideLayout2.xml"/><Relationship Id="rId6" Type="http://schemas.openxmlformats.org/officeDocument/2006/relationships/package" Target="../embeddings/Microsoft_Excel_Worksheet19.xlsx"/><Relationship Id="rId5" Type="http://schemas.openxmlformats.org/officeDocument/2006/relationships/image" Target="../media/image19.emf"/><Relationship Id="rId4" Type="http://schemas.openxmlformats.org/officeDocument/2006/relationships/package" Target="../embeddings/Microsoft_Excel_Worksheet18.xlsx"/></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package" Target="../embeddings/Microsoft_Excel_Worksheet20.xlsx"/><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package" Target="../embeddings/Microsoft_Excel_Worksheet21.xlsx"/><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package" Target="../embeddings/Microsoft_Excel_Worksheet22.xlsx"/></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ormAutofit fontScale="90000"/>
          </a:bodyPr>
          <a:lstStyle/>
          <a:p>
            <a:r>
              <a:rPr lang="fr-FR" dirty="0"/>
              <a:t>40938</a:t>
            </a:r>
            <a:br>
              <a:rPr lang="fr-FR" dirty="0"/>
            </a:br>
            <a:r>
              <a:rPr lang="fr-FR" dirty="0"/>
              <a:t>Instruments financiers</a:t>
            </a:r>
            <a:br>
              <a:rPr lang="fr-FR" dirty="0"/>
            </a:br>
            <a:endParaRPr lang="fr-FR" dirty="0"/>
          </a:p>
        </p:txBody>
      </p:sp>
      <p:sp>
        <p:nvSpPr>
          <p:cNvPr id="3" name="Sous-titre 2"/>
          <p:cNvSpPr>
            <a:spLocks noGrp="1"/>
          </p:cNvSpPr>
          <p:nvPr>
            <p:ph type="subTitle" idx="1"/>
          </p:nvPr>
        </p:nvSpPr>
        <p:spPr>
          <a:xfrm>
            <a:off x="1524000" y="3602038"/>
            <a:ext cx="9144000" cy="1655762"/>
          </a:xfrm>
        </p:spPr>
        <p:txBody>
          <a:bodyPr>
            <a:normAutofit lnSpcReduction="10000"/>
          </a:bodyPr>
          <a:lstStyle/>
          <a:p>
            <a:endParaRPr lang="fr-FR" dirty="0"/>
          </a:p>
          <a:p>
            <a:endParaRPr lang="fr-FR" dirty="0"/>
          </a:p>
          <a:p>
            <a:r>
              <a:rPr lang="fr-FR" dirty="0"/>
              <a:t>Louise Overbeek</a:t>
            </a:r>
          </a:p>
          <a:p>
            <a:r>
              <a:rPr lang="fr-FR" dirty="0"/>
              <a:t>Février 2025</a:t>
            </a:r>
          </a:p>
        </p:txBody>
      </p:sp>
    </p:spTree>
    <p:extLst>
      <p:ext uri="{BB962C8B-B14F-4D97-AF65-F5344CB8AC3E}">
        <p14:creationId xmlns:p14="http://schemas.microsoft.com/office/powerpoint/2010/main" val="817512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C45744-CF28-4236-97E6-27FF8EB9BAE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9DE65BA-2FBC-4580-A9D4-3B56F534CCD0}"/>
              </a:ext>
            </a:extLst>
          </p:cNvPr>
          <p:cNvSpPr>
            <a:spLocks noGrp="1"/>
          </p:cNvSpPr>
          <p:nvPr>
            <p:ph idx="1"/>
          </p:nvPr>
        </p:nvSpPr>
        <p:spPr>
          <a:xfrm>
            <a:off x="585952" y="1847850"/>
            <a:ext cx="10515600" cy="4351338"/>
          </a:xfrm>
        </p:spPr>
        <p:txBody>
          <a:bodyPr/>
          <a:lstStyle/>
          <a:p>
            <a:r>
              <a:rPr lang="fr-CA" dirty="0"/>
              <a:t>Pages « bleu foncé » : questions</a:t>
            </a:r>
          </a:p>
          <a:p>
            <a:r>
              <a:rPr lang="fr-CA" dirty="0"/>
              <a:t>Pages « bleu pâle » : réponse</a:t>
            </a:r>
          </a:p>
          <a:p>
            <a:r>
              <a:rPr lang="fr-CA" dirty="0"/>
              <a:t>Pages « vert » : à réviser </a:t>
            </a:r>
            <a:r>
              <a:rPr lang="fr-CA" u="sng" dirty="0"/>
              <a:t>au besoin</a:t>
            </a:r>
          </a:p>
          <a:p>
            <a:r>
              <a:rPr lang="fr-FR" dirty="0"/>
              <a:t>Pages « gris » : non requis</a:t>
            </a:r>
          </a:p>
        </p:txBody>
      </p:sp>
      <p:sp>
        <p:nvSpPr>
          <p:cNvPr id="4" name="Espace réservé du pied de page 3">
            <a:extLst>
              <a:ext uri="{FF2B5EF4-FFF2-40B4-BE49-F238E27FC236}">
                <a16:creationId xmlns:a16="http://schemas.microsoft.com/office/drawing/2014/main" id="{1E3BB1CA-5EDE-4E59-876B-A34DA358DB57}"/>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1A15EF9F-3B86-4645-BC6B-53893494502D}"/>
              </a:ext>
            </a:extLst>
          </p:cNvPr>
          <p:cNvSpPr>
            <a:spLocks noGrp="1"/>
          </p:cNvSpPr>
          <p:nvPr>
            <p:ph type="sldNum" sz="quarter" idx="12"/>
          </p:nvPr>
        </p:nvSpPr>
        <p:spPr/>
        <p:txBody>
          <a:bodyPr/>
          <a:lstStyle/>
          <a:p>
            <a:fld id="{D5C8285E-D276-48ED-A38D-FCE3A7D9B93F}" type="slidenum">
              <a:rPr lang="fr-CA" smtClean="0"/>
              <a:t>2</a:t>
            </a:fld>
            <a:endParaRPr lang="fr-CA"/>
          </a:p>
        </p:txBody>
      </p:sp>
    </p:spTree>
    <p:extLst>
      <p:ext uri="{BB962C8B-B14F-4D97-AF65-F5344CB8AC3E}">
        <p14:creationId xmlns:p14="http://schemas.microsoft.com/office/powerpoint/2010/main" val="150694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marL="0" indent="0" algn="ctr">
              <a:buNone/>
            </a:pPr>
            <a:r>
              <a:rPr lang="fr-CA" sz="6000" b="1" dirty="0">
                <a:solidFill>
                  <a:srgbClr val="FF0000"/>
                </a:solidFill>
              </a:rPr>
              <a:t>Instruments financiers</a:t>
            </a:r>
          </a:p>
          <a:p>
            <a:pPr marL="0" indent="0" algn="ctr">
              <a:buNone/>
            </a:pPr>
            <a:endParaRPr lang="fr-CA" sz="6000" b="1" dirty="0">
              <a:solidFill>
                <a:srgbClr val="FF0000"/>
              </a:solidFill>
            </a:endParaRPr>
          </a:p>
          <a:p>
            <a:pPr marL="0" indent="0" algn="ctr">
              <a:buNone/>
            </a:pPr>
            <a:r>
              <a:rPr lang="fr-CA" b="1" dirty="0">
                <a:solidFill>
                  <a:srgbClr val="FF0000"/>
                </a:solidFill>
              </a:rPr>
              <a:t>IFRS 9</a:t>
            </a:r>
          </a:p>
          <a:p>
            <a:pPr marL="0" indent="0" algn="ctr">
              <a:buNone/>
            </a:pPr>
            <a:r>
              <a:rPr lang="fr-CA" b="1" dirty="0">
                <a:solidFill>
                  <a:srgbClr val="FF0000"/>
                </a:solidFill>
              </a:rPr>
              <a:t>IAS 32 (Présentation)</a:t>
            </a:r>
          </a:p>
          <a:p>
            <a:pPr marL="0" indent="0" algn="ctr">
              <a:buNone/>
            </a:pPr>
            <a:r>
              <a:rPr lang="fr-CA" b="1" dirty="0">
                <a:solidFill>
                  <a:srgbClr val="FF0000"/>
                </a:solidFill>
              </a:rPr>
              <a:t>IFRS 7 (Information à fournir)</a:t>
            </a:r>
          </a:p>
          <a:p>
            <a:pPr marL="0" indent="0" algn="ctr">
              <a:buNone/>
            </a:pPr>
            <a:endParaRPr lang="fr-CA" sz="1200" b="1" dirty="0">
              <a:solidFill>
                <a:srgbClr val="FF0000"/>
              </a:solidFill>
            </a:endParaRPr>
          </a:p>
          <a:p>
            <a:pPr marL="0" indent="0" algn="ctr">
              <a:buNone/>
            </a:pPr>
            <a:r>
              <a:rPr lang="fr-CA" b="1" dirty="0">
                <a:solidFill>
                  <a:srgbClr val="FF0000"/>
                </a:solidFill>
              </a:rPr>
              <a:t>NCECF chap. 3856</a:t>
            </a:r>
            <a:endParaRPr lang="fr-FR"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a:t>
            </a:fld>
            <a:endParaRPr lang="fr-FR"/>
          </a:p>
        </p:txBody>
      </p:sp>
      <p:sp>
        <p:nvSpPr>
          <p:cNvPr id="5" name="Espace réservé du pied de page 4">
            <a:extLst>
              <a:ext uri="{FF2B5EF4-FFF2-40B4-BE49-F238E27FC236}">
                <a16:creationId xmlns:a16="http://schemas.microsoft.com/office/drawing/2014/main" id="{CA192D04-F5E2-4351-BB3B-00D594DA9EF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075808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Instruments financiers</a:t>
            </a:r>
          </a:p>
        </p:txBody>
      </p:sp>
      <p:sp>
        <p:nvSpPr>
          <p:cNvPr id="3" name="Espace réservé du contenu 2"/>
          <p:cNvSpPr>
            <a:spLocks noGrp="1"/>
          </p:cNvSpPr>
          <p:nvPr>
            <p:ph idx="1"/>
          </p:nvPr>
        </p:nvSpPr>
        <p:spPr/>
        <p:txBody>
          <a:bodyPr/>
          <a:lstStyle/>
          <a:p>
            <a:pPr marL="0" indent="0">
              <a:spcBef>
                <a:spcPct val="50000"/>
              </a:spcBef>
              <a:buClr>
                <a:srgbClr val="FFD200"/>
              </a:buClr>
              <a:buSzPct val="75000"/>
              <a:buNone/>
            </a:pPr>
            <a:r>
              <a:rPr lang="fr-CA" dirty="0"/>
              <a:t>Traitement des instruments financiers :</a:t>
            </a:r>
          </a:p>
          <a:p>
            <a:pPr>
              <a:spcBef>
                <a:spcPct val="50000"/>
              </a:spcBef>
              <a:buClr>
                <a:srgbClr val="FFD200"/>
              </a:buClr>
              <a:buSzPct val="75000"/>
            </a:pPr>
            <a:r>
              <a:rPr lang="fr-CA" dirty="0"/>
              <a:t>IFRS 9 définit les règles de comptabilisation et d’évaluation portant sur les instruments financiers.</a:t>
            </a:r>
          </a:p>
          <a:p>
            <a:pPr>
              <a:spcBef>
                <a:spcPct val="50000"/>
              </a:spcBef>
              <a:buClr>
                <a:srgbClr val="FFD200"/>
              </a:buClr>
              <a:buSzPct val="75000"/>
            </a:pPr>
            <a:r>
              <a:rPr lang="fr-CA" dirty="0"/>
              <a:t>IAS 32 définit les règles de présentation.</a:t>
            </a:r>
          </a:p>
          <a:p>
            <a:pPr>
              <a:spcBef>
                <a:spcPct val="50000"/>
              </a:spcBef>
              <a:buClr>
                <a:srgbClr val="FFD200"/>
              </a:buClr>
              <a:buSzPct val="75000"/>
            </a:pPr>
            <a:r>
              <a:rPr lang="fr-CA" dirty="0"/>
              <a:t>IFRS 7 définit les règles sur les informations à fournir portant sur les instruments financiers.</a:t>
            </a:r>
          </a:p>
          <a:p>
            <a:pPr>
              <a:spcBef>
                <a:spcPct val="50000"/>
              </a:spcBef>
              <a:buClr>
                <a:srgbClr val="FFD200"/>
              </a:buClr>
              <a:buSzPct val="75000"/>
            </a:pPr>
            <a:endParaRPr lang="fr-CA" dirty="0"/>
          </a:p>
          <a:p>
            <a:pPr>
              <a:spcBef>
                <a:spcPct val="50000"/>
              </a:spcBef>
              <a:buClr>
                <a:srgbClr val="FFD200"/>
              </a:buClr>
              <a:buSzPct val="75000"/>
            </a:pPr>
            <a:r>
              <a:rPr lang="fr-CA" dirty="0"/>
              <a:t>NCECF : regroupé dans un chapitre – chap. 3856</a:t>
            </a:r>
          </a:p>
        </p:txBody>
      </p:sp>
      <p:sp>
        <p:nvSpPr>
          <p:cNvPr id="4" name="Espace réservé du pied de page 3">
            <a:extLst>
              <a:ext uri="{FF2B5EF4-FFF2-40B4-BE49-F238E27FC236}">
                <a16:creationId xmlns:a16="http://schemas.microsoft.com/office/drawing/2014/main" id="{100D57D4-FE0F-480E-BB3C-C35DB3D23083}"/>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FEEAD24D-794D-4BE4-9F30-847CBA632227}"/>
              </a:ext>
            </a:extLst>
          </p:cNvPr>
          <p:cNvSpPr>
            <a:spLocks noGrp="1"/>
          </p:cNvSpPr>
          <p:nvPr>
            <p:ph type="sldNum" sz="quarter" idx="12"/>
          </p:nvPr>
        </p:nvSpPr>
        <p:spPr/>
        <p:txBody>
          <a:bodyPr/>
          <a:lstStyle/>
          <a:p>
            <a:fld id="{D5C8285E-D276-48ED-A38D-FCE3A7D9B93F}" type="slidenum">
              <a:rPr lang="fr-CA" smtClean="0"/>
              <a:t>4</a:t>
            </a:fld>
            <a:endParaRPr lang="fr-CA"/>
          </a:p>
        </p:txBody>
      </p:sp>
    </p:spTree>
    <p:extLst>
      <p:ext uri="{BB962C8B-B14F-4D97-AF65-F5344CB8AC3E}">
        <p14:creationId xmlns:p14="http://schemas.microsoft.com/office/powerpoint/2010/main" val="2976814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Instruments financiers</a:t>
            </a:r>
          </a:p>
        </p:txBody>
      </p:sp>
      <p:sp>
        <p:nvSpPr>
          <p:cNvPr id="3" name="Espace réservé du contenu 2"/>
          <p:cNvSpPr>
            <a:spLocks noGrp="1"/>
          </p:cNvSpPr>
          <p:nvPr>
            <p:ph idx="1"/>
          </p:nvPr>
        </p:nvSpPr>
        <p:spPr/>
        <p:txBody>
          <a:bodyPr/>
          <a:lstStyle/>
          <a:p>
            <a:r>
              <a:rPr lang="fr-FR" dirty="0"/>
              <a:t>Toutes les entreprises détiennent des instruments financiers</a:t>
            </a:r>
          </a:p>
          <a:p>
            <a:endParaRPr lang="fr-FR" dirty="0"/>
          </a:p>
          <a:p>
            <a:pPr lvl="1"/>
            <a:r>
              <a:rPr lang="fr-FR" dirty="0">
                <a:solidFill>
                  <a:srgbClr val="3366FF"/>
                </a:solidFill>
              </a:rPr>
              <a:t>Actifs financiers (incluant placements non stratégiques)</a:t>
            </a:r>
          </a:p>
          <a:p>
            <a:pPr lvl="1"/>
            <a:r>
              <a:rPr lang="fr-FR" dirty="0">
                <a:solidFill>
                  <a:srgbClr val="3366FF"/>
                </a:solidFill>
              </a:rPr>
              <a:t>Passifs financiers</a:t>
            </a:r>
          </a:p>
          <a:p>
            <a:pPr lvl="1"/>
            <a:r>
              <a:rPr lang="fr-FR" dirty="0">
                <a:solidFill>
                  <a:srgbClr val="3366FF"/>
                </a:solidFill>
              </a:rPr>
              <a:t>Instruments de capitaux propres</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5</a:t>
            </a:fld>
            <a:endParaRPr lang="fr-FR"/>
          </a:p>
        </p:txBody>
      </p:sp>
      <p:sp>
        <p:nvSpPr>
          <p:cNvPr id="5" name="Espace réservé du pied de page 4">
            <a:extLst>
              <a:ext uri="{FF2B5EF4-FFF2-40B4-BE49-F238E27FC236}">
                <a16:creationId xmlns:a16="http://schemas.microsoft.com/office/drawing/2014/main" id="{60BA1B01-A84C-4360-8A2A-C949627E7A9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658216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Champs d’application</a:t>
            </a:r>
          </a:p>
        </p:txBody>
      </p:sp>
      <p:sp>
        <p:nvSpPr>
          <p:cNvPr id="3" name="Espace réservé du contenu 2"/>
          <p:cNvSpPr>
            <a:spLocks noGrp="1"/>
          </p:cNvSpPr>
          <p:nvPr>
            <p:ph idx="1"/>
          </p:nvPr>
        </p:nvSpPr>
        <p:spPr/>
        <p:txBody>
          <a:bodyPr/>
          <a:lstStyle/>
          <a:p>
            <a:r>
              <a:rPr lang="fr-CA" dirty="0"/>
              <a:t>Ne s’applique pas à :</a:t>
            </a:r>
          </a:p>
          <a:p>
            <a:pPr lvl="1"/>
            <a:r>
              <a:rPr lang="fr-CA" dirty="0"/>
              <a:t>Contrats de location</a:t>
            </a:r>
          </a:p>
          <a:p>
            <a:pPr lvl="1"/>
            <a:r>
              <a:rPr lang="fr-CA" dirty="0"/>
              <a:t>Placements stratégiques</a:t>
            </a:r>
          </a:p>
          <a:p>
            <a:pPr lvl="1"/>
            <a:r>
              <a:rPr lang="fr-CA" dirty="0"/>
              <a:t>Rémunération à base d’actions</a:t>
            </a:r>
          </a:p>
          <a:p>
            <a:pPr lvl="1"/>
            <a:endParaRPr lang="fr-CA" dirty="0"/>
          </a:p>
          <a:p>
            <a:pPr lvl="2">
              <a:buFont typeface="Wingdings" panose="05000000000000000000" pitchFamily="2" charset="2"/>
              <a:buChar char="Ø"/>
            </a:pPr>
            <a:r>
              <a:rPr lang="fr-CA" dirty="0"/>
              <a:t>Norme spécifique a préséance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a:t>
            </a:fld>
            <a:endParaRPr lang="fr-FR"/>
          </a:p>
        </p:txBody>
      </p:sp>
      <p:sp>
        <p:nvSpPr>
          <p:cNvPr id="5" name="Espace réservé du pied de page 4">
            <a:extLst>
              <a:ext uri="{FF2B5EF4-FFF2-40B4-BE49-F238E27FC236}">
                <a16:creationId xmlns:a16="http://schemas.microsoft.com/office/drawing/2014/main" id="{FA7DB3BA-34A3-4BE8-B6E1-EA06E638C36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172687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3600" dirty="0"/>
              <a:t>Définition</a:t>
            </a:r>
            <a:r>
              <a:rPr lang="fr-CA" sz="2000" dirty="0"/>
              <a:t> -(IAS 32.11)</a:t>
            </a:r>
            <a:endParaRPr lang="fr-FR" sz="2000" dirty="0"/>
          </a:p>
        </p:txBody>
      </p:sp>
      <p:sp>
        <p:nvSpPr>
          <p:cNvPr id="3" name="Espace réservé du contenu 2"/>
          <p:cNvSpPr>
            <a:spLocks noGrp="1"/>
          </p:cNvSpPr>
          <p:nvPr>
            <p:ph idx="1"/>
          </p:nvPr>
        </p:nvSpPr>
        <p:spPr>
          <a:xfrm>
            <a:off x="838200" y="1729344"/>
            <a:ext cx="10515600" cy="4101440"/>
          </a:xfrm>
        </p:spPr>
        <p:txBody>
          <a:bodyPr>
            <a:normAutofit/>
          </a:bodyPr>
          <a:lstStyle/>
          <a:p>
            <a:pPr marL="0" indent="0">
              <a:buNone/>
            </a:pPr>
            <a:r>
              <a:rPr lang="fr-CA" sz="2400" b="1" dirty="0"/>
              <a:t>Instrument financier : </a:t>
            </a:r>
          </a:p>
          <a:p>
            <a:pPr marL="0" indent="0">
              <a:buNone/>
            </a:pPr>
            <a:endParaRPr lang="fr-CA" sz="1000" dirty="0"/>
          </a:p>
          <a:p>
            <a:pPr marL="0" indent="0">
              <a:buNone/>
            </a:pPr>
            <a:r>
              <a:rPr lang="fr-CA" sz="2400" dirty="0"/>
              <a:t>contrat qui crée un actif financier pour une entité et un passif financier ou un instrument de capitaux propres pour une autre entité </a:t>
            </a:r>
          </a:p>
          <a:p>
            <a:pPr marL="0" indent="0">
              <a:buNone/>
            </a:pPr>
            <a:endParaRPr lang="fr-CA" sz="2400" dirty="0"/>
          </a:p>
          <a:p>
            <a:pPr marL="0" indent="0">
              <a:buNone/>
            </a:pPr>
            <a:r>
              <a:rPr lang="fr-CA" sz="2400" dirty="0"/>
              <a:t>Ex : options, bons de souscription, contrats à terme, swaps</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7</a:t>
            </a:fld>
            <a:endParaRPr lang="fr-FR"/>
          </a:p>
        </p:txBody>
      </p:sp>
      <p:sp>
        <p:nvSpPr>
          <p:cNvPr id="5" name="Espace réservé du pied de page 4">
            <a:extLst>
              <a:ext uri="{FF2B5EF4-FFF2-40B4-BE49-F238E27FC236}">
                <a16:creationId xmlns:a16="http://schemas.microsoft.com/office/drawing/2014/main" id="{63016BCF-803A-4A6E-9B8F-BFFC440C93B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30835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Actif financier </a:t>
            </a:r>
            <a:r>
              <a:rPr lang="fr-CA" sz="2000" dirty="0"/>
              <a:t>(IAS 32.11)</a:t>
            </a:r>
            <a:endParaRPr lang="fr-FR" sz="2000" dirty="0"/>
          </a:p>
        </p:txBody>
      </p:sp>
      <p:sp>
        <p:nvSpPr>
          <p:cNvPr id="3" name="Espace réservé du contenu 2"/>
          <p:cNvSpPr>
            <a:spLocks noGrp="1"/>
          </p:cNvSpPr>
          <p:nvPr>
            <p:ph idx="1"/>
          </p:nvPr>
        </p:nvSpPr>
        <p:spPr>
          <a:xfrm>
            <a:off x="838200" y="1690688"/>
            <a:ext cx="10515600" cy="4990928"/>
          </a:xfrm>
        </p:spPr>
        <p:txBody>
          <a:bodyPr>
            <a:normAutofit fontScale="25000" lnSpcReduction="20000"/>
          </a:bodyPr>
          <a:lstStyle/>
          <a:p>
            <a:pPr lvl="1"/>
            <a:r>
              <a:rPr lang="fr-CA" sz="8800" dirty="0"/>
              <a:t>Trésorerie</a:t>
            </a:r>
          </a:p>
          <a:p>
            <a:pPr lvl="1"/>
            <a:r>
              <a:rPr lang="fr-CA" sz="8800" dirty="0"/>
              <a:t>Placement dans des titres de capitaux propres d’une autre entité (placements en actions ordinaires ou privilégiées)</a:t>
            </a:r>
          </a:p>
          <a:p>
            <a:pPr lvl="1"/>
            <a:r>
              <a:rPr lang="fr-CA" sz="8800" dirty="0"/>
              <a:t>Droit contractuel de recevoir de la trésorerie (comptes clients, prêts, placements en obligations)</a:t>
            </a:r>
          </a:p>
          <a:p>
            <a:pPr lvl="1"/>
            <a:r>
              <a:rPr lang="fr-CA" sz="8800" dirty="0"/>
              <a:t>Droit contractuel d’échanger de la trésorerie à des conditions potentiellement favorables (dérivés – options, contrats à terme, swaps)</a:t>
            </a:r>
          </a:p>
          <a:p>
            <a:pPr lvl="1"/>
            <a:r>
              <a:rPr lang="fr-CA" sz="8800" dirty="0"/>
              <a:t>U</a:t>
            </a:r>
            <a:r>
              <a:rPr lang="ru-RU" sz="8800" dirty="0"/>
              <a:t>n contrat qui sera ou qui peut être réglé en instruments de capitaux propres de l'entité elle-même et qui est :</a:t>
            </a:r>
            <a:endParaRPr lang="fr-CA" sz="8800" dirty="0"/>
          </a:p>
          <a:p>
            <a:pPr lvl="2"/>
            <a:r>
              <a:rPr lang="ru-RU" sz="8800" dirty="0"/>
              <a:t>un instrument non dérivé pour lequel l'entité est ou pourrait être tenue de recevoir un nombre variable d'instruments de capitaux propres de l'entité elle-même, ou</a:t>
            </a:r>
            <a:endParaRPr lang="fr-CA" sz="8800" dirty="0"/>
          </a:p>
          <a:p>
            <a:pPr lvl="2"/>
            <a:r>
              <a:rPr lang="ru-RU" sz="8800" dirty="0"/>
              <a:t>un instrument dérivé qui sera ou qui peut être réglé autrement que par l'échange d'un montant déterminé de trésorerie ou d'un autre actif financier contre un nombre déterminé d'instruments de capitaux propres de l'entité elle-même. </a:t>
            </a:r>
            <a:endParaRPr lang="fr-CA" sz="88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8</a:t>
            </a:fld>
            <a:endParaRPr lang="fr-FR"/>
          </a:p>
        </p:txBody>
      </p:sp>
      <p:sp>
        <p:nvSpPr>
          <p:cNvPr id="5" name="Espace réservé du pied de page 4">
            <a:extLst>
              <a:ext uri="{FF2B5EF4-FFF2-40B4-BE49-F238E27FC236}">
                <a16:creationId xmlns:a16="http://schemas.microsoft.com/office/drawing/2014/main" id="{33D51C73-3316-4CEF-902C-821DA58E461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178975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Passif financier </a:t>
            </a:r>
            <a:r>
              <a:rPr lang="fr-FR" sz="2000" dirty="0"/>
              <a:t>(IAS 32.11)</a:t>
            </a:r>
          </a:p>
        </p:txBody>
      </p:sp>
      <p:sp>
        <p:nvSpPr>
          <p:cNvPr id="3" name="Espace réservé du contenu 2"/>
          <p:cNvSpPr>
            <a:spLocks noGrp="1"/>
          </p:cNvSpPr>
          <p:nvPr>
            <p:ph idx="1"/>
          </p:nvPr>
        </p:nvSpPr>
        <p:spPr>
          <a:xfrm>
            <a:off x="838200" y="1690688"/>
            <a:ext cx="10515600" cy="4848225"/>
          </a:xfrm>
        </p:spPr>
        <p:txBody>
          <a:bodyPr>
            <a:normAutofit/>
          </a:bodyPr>
          <a:lstStyle/>
          <a:p>
            <a:pPr lvl="1"/>
            <a:r>
              <a:rPr lang="fr-CA" dirty="0"/>
              <a:t>Obligation contractuelle de remettre de la trésorerie ou un autre actif financier (comptes fournisseurs, emprunts)</a:t>
            </a:r>
          </a:p>
          <a:p>
            <a:pPr lvl="1"/>
            <a:r>
              <a:rPr lang="fr-CA" dirty="0"/>
              <a:t>Obligation d’échanger des instruments financiers (trésorerie) dans des conditions potentiellement défavorables (</a:t>
            </a:r>
            <a:r>
              <a:rPr lang="fr-CA" dirty="0" err="1"/>
              <a:t>dérivé́s</a:t>
            </a:r>
            <a:r>
              <a:rPr lang="fr-CA" dirty="0"/>
              <a:t> – options, contrats à terme, swaps)</a:t>
            </a:r>
          </a:p>
          <a:p>
            <a:pPr lvl="1"/>
            <a:r>
              <a:rPr lang="fr-CA" dirty="0"/>
              <a:t>un contrat qui sera ou qui peut être réglé en instruments de capitaux propres de l’entité elle-même et qui est :</a:t>
            </a:r>
          </a:p>
          <a:p>
            <a:pPr lvl="2"/>
            <a:r>
              <a:rPr lang="fr-CA" dirty="0"/>
              <a:t>un instrument non dérivé pour lequel l’entité est ou pourrait être réglé autrement tenue de livrer un nombre variable de ses instruments de CP ou</a:t>
            </a:r>
          </a:p>
          <a:p>
            <a:pPr lvl="2"/>
            <a:r>
              <a:rPr lang="fr-CA" dirty="0"/>
              <a:t>un instrument dérivé qui sera ou qui peut être réglé autrement que par l’échange d’un montant déterminé de trésorerie ou d’un autre actif financier contre un nombre déterminé d’ICP de l’entité elle-même. </a:t>
            </a:r>
          </a:p>
          <a:p>
            <a:pPr marL="457200" lvl="1" indent="0">
              <a:buNone/>
            </a:pPr>
            <a:endParaRPr lang="fr-CA" sz="44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9</a:t>
            </a:fld>
            <a:endParaRPr lang="fr-FR" dirty="0"/>
          </a:p>
        </p:txBody>
      </p:sp>
      <p:sp>
        <p:nvSpPr>
          <p:cNvPr id="5" name="Espace réservé du pied de page 4">
            <a:extLst>
              <a:ext uri="{FF2B5EF4-FFF2-40B4-BE49-F238E27FC236}">
                <a16:creationId xmlns:a16="http://schemas.microsoft.com/office/drawing/2014/main" id="{5E2664DF-3D1B-4FF8-A3BC-951BFB160EA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435952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Instruments de capitaux propres </a:t>
            </a:r>
            <a:r>
              <a:rPr lang="fr-FR" sz="2200" dirty="0"/>
              <a:t>(IAS32.11)</a:t>
            </a:r>
          </a:p>
        </p:txBody>
      </p:sp>
      <p:sp>
        <p:nvSpPr>
          <p:cNvPr id="3" name="Espace réservé du contenu 2"/>
          <p:cNvSpPr>
            <a:spLocks noGrp="1"/>
          </p:cNvSpPr>
          <p:nvPr>
            <p:ph idx="1"/>
          </p:nvPr>
        </p:nvSpPr>
        <p:spPr>
          <a:xfrm>
            <a:off x="838200" y="1911927"/>
            <a:ext cx="10515600" cy="1579460"/>
          </a:xfrm>
        </p:spPr>
        <p:txBody>
          <a:bodyPr>
            <a:normAutofit/>
          </a:bodyPr>
          <a:lstStyle/>
          <a:p>
            <a:pPr marL="388938">
              <a:buFontTx/>
              <a:buChar char="-"/>
            </a:pPr>
            <a:r>
              <a:rPr lang="fr-CA" sz="2400" dirty="0"/>
              <a:t>Contrat constatant un droit résiduel sur les actifs d’une entité́ après déduction de tous ses passifs.</a:t>
            </a:r>
          </a:p>
          <a:p>
            <a:pPr marL="788988" lvl="1"/>
            <a:r>
              <a:rPr lang="fr-CA" dirty="0"/>
              <a:t>actions ordinaires et préférentielles</a:t>
            </a:r>
          </a:p>
          <a:p>
            <a:pPr marL="457200" lvl="1" indent="0">
              <a:buNone/>
            </a:pPr>
            <a:endParaRPr lang="fr-CA"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10</a:t>
            </a:fld>
            <a:endParaRPr lang="fr-FR"/>
          </a:p>
        </p:txBody>
      </p:sp>
      <p:sp>
        <p:nvSpPr>
          <p:cNvPr id="5" name="Espace réservé du pied de page 4">
            <a:extLst>
              <a:ext uri="{FF2B5EF4-FFF2-40B4-BE49-F238E27FC236}">
                <a16:creationId xmlns:a16="http://schemas.microsoft.com/office/drawing/2014/main" id="{B657D5C2-DEAB-48EE-8552-D38FB063800A}"/>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383939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Dérivés </a:t>
            </a:r>
            <a:r>
              <a:rPr lang="fr-FR" sz="2000" dirty="0"/>
              <a:t>(IFRS 9 Annexe A)</a:t>
            </a:r>
          </a:p>
        </p:txBody>
      </p:sp>
      <p:sp>
        <p:nvSpPr>
          <p:cNvPr id="3" name="Espace réservé du contenu 2"/>
          <p:cNvSpPr>
            <a:spLocks noGrp="1"/>
          </p:cNvSpPr>
          <p:nvPr>
            <p:ph idx="1"/>
          </p:nvPr>
        </p:nvSpPr>
        <p:spPr/>
        <p:txBody>
          <a:bodyPr>
            <a:normAutofit/>
          </a:bodyPr>
          <a:lstStyle/>
          <a:p>
            <a:r>
              <a:rPr lang="fr-FR" b="1" dirty="0"/>
              <a:t>Dérivé</a:t>
            </a:r>
            <a:r>
              <a:rPr lang="fr-FR" dirty="0"/>
              <a:t> : contrat qui réunit les trois caractéristiques suivantes :</a:t>
            </a:r>
          </a:p>
          <a:p>
            <a:pPr lvl="1"/>
            <a:r>
              <a:rPr lang="fr-FR" b="1" dirty="0"/>
              <a:t>Sa valeur fluctue en fonction de l’évolution</a:t>
            </a:r>
            <a:r>
              <a:rPr lang="fr-FR" dirty="0"/>
              <a:t> d’un taux d’intérêt, du prix d’un instrument financier, du prix d’une marchandise, d’un cours de change, d’un indice de prix ou de cours, d’une notation ou d’un indice de crédit, ou d’une autre variable spécifiée (« sous-jacent ») à condition que, dans le cas d’une variable non financière, la variable ne soit pas spécifique à une des parties au contrat </a:t>
            </a:r>
          </a:p>
          <a:p>
            <a:pPr lvl="1"/>
            <a:r>
              <a:rPr lang="fr-FR" b="1" dirty="0"/>
              <a:t>Il ne requiert aucun placement net initial </a:t>
            </a:r>
            <a:r>
              <a:rPr lang="fr-FR" dirty="0"/>
              <a:t>sinon un placement net initial inférieur à celui qui serait nécessaire pour d’autres types de contrats dont on pourrait attendre des réactions semblables aux évolutions des facteurs de marché</a:t>
            </a:r>
          </a:p>
          <a:p>
            <a:pPr lvl="1"/>
            <a:r>
              <a:rPr lang="fr-FR" dirty="0"/>
              <a:t>Il </a:t>
            </a:r>
            <a:r>
              <a:rPr lang="fr-FR" b="1" dirty="0"/>
              <a:t>sera réglé à une date future</a:t>
            </a:r>
          </a:p>
          <a:p>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11</a:t>
            </a:fld>
            <a:endParaRPr lang="fr-FR"/>
          </a:p>
        </p:txBody>
      </p:sp>
      <p:sp>
        <p:nvSpPr>
          <p:cNvPr id="5" name="Espace réservé du pied de page 4">
            <a:extLst>
              <a:ext uri="{FF2B5EF4-FFF2-40B4-BE49-F238E27FC236}">
                <a16:creationId xmlns:a16="http://schemas.microsoft.com/office/drawing/2014/main" id="{B9EA59D0-87A5-4C13-AF6C-58313250DE3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261761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Dérivés</a:t>
            </a:r>
          </a:p>
        </p:txBody>
      </p:sp>
      <p:sp>
        <p:nvSpPr>
          <p:cNvPr id="3" name="Espace réservé du contenu 2"/>
          <p:cNvSpPr>
            <a:spLocks noGrp="1"/>
          </p:cNvSpPr>
          <p:nvPr>
            <p:ph idx="1"/>
          </p:nvPr>
        </p:nvSpPr>
        <p:spPr>
          <a:xfrm>
            <a:off x="838200" y="1825624"/>
            <a:ext cx="10515600" cy="4530725"/>
          </a:xfrm>
        </p:spPr>
        <p:txBody>
          <a:bodyPr>
            <a:normAutofit fontScale="85000" lnSpcReduction="20000"/>
          </a:bodyPr>
          <a:lstStyle/>
          <a:p>
            <a:r>
              <a:rPr lang="fr-CA" dirty="0"/>
              <a:t>Exemples de dérivés :</a:t>
            </a:r>
          </a:p>
          <a:p>
            <a:pPr lvl="1"/>
            <a:r>
              <a:rPr lang="fr-CA" dirty="0"/>
              <a:t>Contrat à terme (</a:t>
            </a:r>
            <a:r>
              <a:rPr lang="fr-CA" dirty="0" err="1"/>
              <a:t>forward</a:t>
            </a:r>
            <a:r>
              <a:rPr lang="fr-CA" dirty="0"/>
              <a:t>) : entente entre deux parties </a:t>
            </a:r>
          </a:p>
          <a:p>
            <a:pPr lvl="3"/>
            <a:r>
              <a:rPr lang="fr-CA" dirty="0"/>
              <a:t>valeur initiale du contrat 0 $</a:t>
            </a:r>
          </a:p>
          <a:p>
            <a:pPr lvl="3"/>
            <a:r>
              <a:rPr lang="fr-CA" dirty="0"/>
              <a:t>pas de déboursé à la signature </a:t>
            </a:r>
          </a:p>
          <a:p>
            <a:pPr lvl="3"/>
            <a:r>
              <a:rPr lang="fr-CA" dirty="0"/>
              <a:t>règlement à l’échéance</a:t>
            </a:r>
          </a:p>
          <a:p>
            <a:pPr lvl="2"/>
            <a:r>
              <a:rPr lang="fr-CA" dirty="0"/>
              <a:t>Exemple : Contrat à terme sur devises</a:t>
            </a:r>
          </a:p>
          <a:p>
            <a:pPr lvl="1"/>
            <a:r>
              <a:rPr lang="fr-CA" dirty="0"/>
              <a:t>Option</a:t>
            </a:r>
          </a:p>
          <a:p>
            <a:pPr marL="914400" lvl="2" indent="0">
              <a:buNone/>
            </a:pPr>
            <a:endParaRPr lang="fr-CA" dirty="0"/>
          </a:p>
          <a:p>
            <a:pPr lvl="1"/>
            <a:r>
              <a:rPr lang="fr-CA" dirty="0"/>
              <a:t>Swap de taux d’intérêts</a:t>
            </a:r>
          </a:p>
          <a:p>
            <a:pPr lvl="2"/>
            <a:r>
              <a:rPr lang="fr-CA" dirty="0"/>
              <a:t>Taux fixe – taux flottant</a:t>
            </a:r>
          </a:p>
          <a:p>
            <a:pPr lvl="2"/>
            <a:endParaRPr lang="fr-CA" dirty="0"/>
          </a:p>
          <a:p>
            <a:r>
              <a:rPr lang="fr-CA" sz="2600" i="1" dirty="0"/>
              <a:t>Contrat à terme sur devise : Obligation d’exécuter à l’échéance – acheter / vendre des devises</a:t>
            </a:r>
            <a:r>
              <a:rPr lang="fr-CA" sz="2600" i="1" baseline="0" dirty="0"/>
              <a:t> à un cours de change et à une date déterminés à la signature du contrat.</a:t>
            </a:r>
            <a:r>
              <a:rPr lang="fr-CA" sz="2600" i="1" dirty="0"/>
              <a:t> Se règle</a:t>
            </a:r>
            <a:r>
              <a:rPr lang="fr-CA" sz="2600" i="1" baseline="0" dirty="0"/>
              <a:t> au net (écart de cours de change entre le taux courant et le taux au contrat à terme)</a:t>
            </a:r>
            <a:endParaRPr lang="fr-CA" sz="2600" i="1" dirty="0"/>
          </a:p>
          <a:p>
            <a:r>
              <a:rPr lang="fr-CA" sz="2600" i="1" dirty="0"/>
              <a:t>Option : Option (et non obligation) d’acheter ou de vendre (une devise</a:t>
            </a:r>
            <a:r>
              <a:rPr lang="fr-CA" sz="2600" i="1" baseline="0" dirty="0"/>
              <a:t>, une action, une devise…)</a:t>
            </a:r>
            <a:r>
              <a:rPr lang="fr-CA" sz="2600" i="1" dirty="0"/>
              <a:t> à un certain prix à une date déterminée. Actif ou valeur 0 $. Ne peut être un passif car option, donc pas d’obligation d’exécuter si à perte </a:t>
            </a:r>
            <a:endParaRPr lang="fr-CA" i="1" dirty="0"/>
          </a:p>
          <a:p>
            <a:pPr lvl="2"/>
            <a:endParaRPr lang="fr-CA" dirty="0"/>
          </a:p>
          <a:p>
            <a:pPr lvl="2"/>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12</a:t>
            </a:fld>
            <a:endParaRPr lang="fr-FR"/>
          </a:p>
        </p:txBody>
      </p:sp>
      <p:sp>
        <p:nvSpPr>
          <p:cNvPr id="5" name="Espace réservé du pied de page 4">
            <a:extLst>
              <a:ext uri="{FF2B5EF4-FFF2-40B4-BE49-F238E27FC236}">
                <a16:creationId xmlns:a16="http://schemas.microsoft.com/office/drawing/2014/main" id="{EBC4DFD3-768C-4014-923D-9FB71DD4B0C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739164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973084-9707-482B-8995-D4FFA940D516}"/>
              </a:ext>
            </a:extLst>
          </p:cNvPr>
          <p:cNvSpPr>
            <a:spLocks noGrp="1"/>
          </p:cNvSpPr>
          <p:nvPr>
            <p:ph type="title"/>
          </p:nvPr>
        </p:nvSpPr>
        <p:spPr/>
        <p:txBody>
          <a:bodyPr>
            <a:normAutofit/>
          </a:bodyPr>
          <a:lstStyle/>
          <a:p>
            <a:r>
              <a:rPr lang="fr-FR" sz="4800" b="1" dirty="0"/>
              <a:t>Évaluation initiale </a:t>
            </a:r>
            <a:r>
              <a:rPr lang="fr-FR" sz="4800" dirty="0"/>
              <a:t>- actifs financiers</a:t>
            </a:r>
            <a:endParaRPr lang="fr-CA" sz="4800" dirty="0"/>
          </a:p>
        </p:txBody>
      </p:sp>
      <p:sp>
        <p:nvSpPr>
          <p:cNvPr id="4" name="Espace réservé du numéro de diapositive 3">
            <a:extLst>
              <a:ext uri="{FF2B5EF4-FFF2-40B4-BE49-F238E27FC236}">
                <a16:creationId xmlns:a16="http://schemas.microsoft.com/office/drawing/2014/main" id="{CEF11F13-A860-4601-8273-961964B2884F}"/>
              </a:ext>
            </a:extLst>
          </p:cNvPr>
          <p:cNvSpPr>
            <a:spLocks noGrp="1"/>
          </p:cNvSpPr>
          <p:nvPr>
            <p:ph type="sldNum" sz="quarter" idx="12"/>
          </p:nvPr>
        </p:nvSpPr>
        <p:spPr/>
        <p:txBody>
          <a:bodyPr/>
          <a:lstStyle/>
          <a:p>
            <a:fld id="{93CCD850-57C1-B143-82E0-6B89E4215FB0}" type="slidenum">
              <a:rPr lang="fr-FR" smtClean="0"/>
              <a:t>13</a:t>
            </a:fld>
            <a:endParaRPr lang="fr-FR"/>
          </a:p>
        </p:txBody>
      </p:sp>
      <p:sp>
        <p:nvSpPr>
          <p:cNvPr id="6" name="Espace réservé du contenu 5">
            <a:extLst>
              <a:ext uri="{FF2B5EF4-FFF2-40B4-BE49-F238E27FC236}">
                <a16:creationId xmlns:a16="http://schemas.microsoft.com/office/drawing/2014/main" id="{9AF047C9-D415-45BD-9210-D9D226F5F80B}"/>
              </a:ext>
            </a:extLst>
          </p:cNvPr>
          <p:cNvSpPr txBox="1">
            <a:spLocks/>
          </p:cNvSpPr>
          <p:nvPr/>
        </p:nvSpPr>
        <p:spPr>
          <a:xfrm>
            <a:off x="1064871" y="1700808"/>
            <a:ext cx="10185721" cy="465554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3050" lvl="1" indent="-273050">
              <a:spcBef>
                <a:spcPts val="0"/>
              </a:spcBef>
              <a:buNone/>
              <a:defRPr/>
            </a:pPr>
            <a:r>
              <a:rPr lang="fr-FR" sz="2400" b="1" dirty="0"/>
              <a:t>IFRS</a:t>
            </a:r>
          </a:p>
          <a:p>
            <a:pPr marL="617220" lvl="1" indent="-342900">
              <a:spcBef>
                <a:spcPts val="0"/>
              </a:spcBef>
              <a:defRPr/>
            </a:pPr>
            <a:r>
              <a:rPr lang="fr-FR" sz="2400" dirty="0"/>
              <a:t>Comptabilisation initiale à la juste valeur</a:t>
            </a:r>
          </a:p>
          <a:p>
            <a:pPr marL="1017270" lvl="2" indent="-342900">
              <a:spcBef>
                <a:spcPts val="0"/>
              </a:spcBef>
              <a:buFont typeface="Arial" panose="020B0604020202020204" pitchFamily="34" charset="0"/>
              <a:buChar char="•"/>
              <a:defRPr/>
            </a:pPr>
            <a:r>
              <a:rPr lang="fr-FR" sz="2000" dirty="0"/>
              <a:t>Contrepartie versée</a:t>
            </a:r>
          </a:p>
          <a:p>
            <a:pPr marL="1017270" lvl="2" indent="-342900">
              <a:spcBef>
                <a:spcPts val="0"/>
              </a:spcBef>
              <a:buFont typeface="Arial" panose="020B0604020202020204" pitchFamily="34" charset="0"/>
              <a:buChar char="•"/>
              <a:defRPr/>
            </a:pPr>
            <a:endParaRPr lang="fr-FR" sz="2000" dirty="0"/>
          </a:p>
          <a:p>
            <a:pPr marL="617220" lvl="1" indent="-342900">
              <a:spcBef>
                <a:spcPts val="0"/>
              </a:spcBef>
              <a:defRPr/>
            </a:pPr>
            <a:r>
              <a:rPr lang="fr-FR" sz="2400" dirty="0"/>
              <a:t>Coûts de transaction </a:t>
            </a:r>
          </a:p>
          <a:p>
            <a:pPr marL="1349057" lvl="3" indent="-342900">
              <a:spcBef>
                <a:spcPts val="0"/>
              </a:spcBef>
              <a:buFont typeface="Arial" panose="020B0604020202020204" pitchFamily="34" charset="0"/>
              <a:buChar char="•"/>
              <a:defRPr/>
            </a:pPr>
            <a:r>
              <a:rPr lang="fr-FR" dirty="0"/>
              <a:t>Actif financier à la JVBRN : coûts de transaction passés en RN</a:t>
            </a:r>
          </a:p>
          <a:p>
            <a:pPr marL="1349057" lvl="3" indent="-342900">
              <a:spcBef>
                <a:spcPts val="0"/>
              </a:spcBef>
              <a:buFont typeface="Arial" panose="020B0604020202020204" pitchFamily="34" charset="0"/>
              <a:buChar char="•"/>
              <a:defRPr/>
            </a:pPr>
            <a:r>
              <a:rPr lang="fr-FR" dirty="0"/>
              <a:t>Actif financier comptabilisé au coût amorti </a:t>
            </a:r>
            <a:r>
              <a:rPr lang="fr-FR" i="1" dirty="0"/>
              <a:t>(obligations)</a:t>
            </a:r>
            <a:r>
              <a:rPr lang="fr-FR" dirty="0"/>
              <a:t> ou à la JVBRG : Coûts de transaction ajoutés à la JV</a:t>
            </a:r>
          </a:p>
          <a:p>
            <a:pPr marL="548957" lvl="2" indent="0">
              <a:spcBef>
                <a:spcPts val="0"/>
              </a:spcBef>
              <a:buNone/>
              <a:defRPr/>
            </a:pPr>
            <a:endParaRPr lang="fr-FR" sz="1100" b="1" dirty="0"/>
          </a:p>
          <a:p>
            <a:pPr marL="547688" lvl="2" indent="-547688">
              <a:spcBef>
                <a:spcPts val="0"/>
              </a:spcBef>
              <a:buNone/>
              <a:defRPr/>
            </a:pPr>
            <a:r>
              <a:rPr lang="fr-FR" b="1" dirty="0"/>
              <a:t>NCECF </a:t>
            </a:r>
            <a:r>
              <a:rPr lang="fr-FR" sz="1800" b="1" dirty="0"/>
              <a:t>: </a:t>
            </a:r>
          </a:p>
          <a:p>
            <a:pPr marL="1291907" lvl="3" indent="-285750">
              <a:spcBef>
                <a:spcPts val="0"/>
              </a:spcBef>
              <a:buFont typeface="Wingdings" panose="05000000000000000000" pitchFamily="2" charset="2"/>
              <a:buChar char="Ø"/>
              <a:defRPr/>
            </a:pPr>
            <a:r>
              <a:rPr lang="fr-FR" dirty="0"/>
              <a:t>Si</a:t>
            </a:r>
            <a:r>
              <a:rPr lang="fr-FR" b="1" dirty="0"/>
              <a:t> </a:t>
            </a:r>
            <a:r>
              <a:rPr lang="fr-FR" dirty="0"/>
              <a:t>à la juste valeur : frais de transaction au résultat net</a:t>
            </a:r>
          </a:p>
          <a:p>
            <a:pPr marL="1291907" lvl="3" indent="-285750">
              <a:spcBef>
                <a:spcPts val="0"/>
              </a:spcBef>
              <a:buFont typeface="Wingdings" panose="05000000000000000000" pitchFamily="2" charset="2"/>
              <a:buChar char="Ø"/>
              <a:defRPr/>
            </a:pPr>
            <a:r>
              <a:rPr lang="fr-FR" dirty="0"/>
              <a:t>Si au coût : frais de transaction ajoutés à l’actif financier</a:t>
            </a:r>
          </a:p>
        </p:txBody>
      </p:sp>
      <p:sp>
        <p:nvSpPr>
          <p:cNvPr id="3" name="Espace réservé du pied de page 2">
            <a:extLst>
              <a:ext uri="{FF2B5EF4-FFF2-40B4-BE49-F238E27FC236}">
                <a16:creationId xmlns:a16="http://schemas.microsoft.com/office/drawing/2014/main" id="{43DFF243-8C2A-454E-B325-59C8E879D64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561095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973084-9707-482B-8995-D4FFA940D516}"/>
              </a:ext>
            </a:extLst>
          </p:cNvPr>
          <p:cNvSpPr>
            <a:spLocks noGrp="1"/>
          </p:cNvSpPr>
          <p:nvPr>
            <p:ph type="title"/>
          </p:nvPr>
        </p:nvSpPr>
        <p:spPr>
          <a:xfrm>
            <a:off x="903890" y="258892"/>
            <a:ext cx="10449910" cy="1143000"/>
          </a:xfrm>
        </p:spPr>
        <p:txBody>
          <a:bodyPr>
            <a:normAutofit/>
          </a:bodyPr>
          <a:lstStyle/>
          <a:p>
            <a:r>
              <a:rPr lang="fr-FR" sz="4800" dirty="0"/>
              <a:t>Évaluation initiale - passifs financiers</a:t>
            </a:r>
            <a:endParaRPr lang="fr-CA" sz="4800" dirty="0"/>
          </a:p>
        </p:txBody>
      </p:sp>
      <p:sp>
        <p:nvSpPr>
          <p:cNvPr id="4" name="Espace réservé du numéro de diapositive 3">
            <a:extLst>
              <a:ext uri="{FF2B5EF4-FFF2-40B4-BE49-F238E27FC236}">
                <a16:creationId xmlns:a16="http://schemas.microsoft.com/office/drawing/2014/main" id="{CEF11F13-A860-4601-8273-961964B2884F}"/>
              </a:ext>
            </a:extLst>
          </p:cNvPr>
          <p:cNvSpPr>
            <a:spLocks noGrp="1"/>
          </p:cNvSpPr>
          <p:nvPr>
            <p:ph type="sldNum" sz="quarter" idx="12"/>
          </p:nvPr>
        </p:nvSpPr>
        <p:spPr/>
        <p:txBody>
          <a:bodyPr/>
          <a:lstStyle/>
          <a:p>
            <a:fld id="{93CCD850-57C1-B143-82E0-6B89E4215FB0}" type="slidenum">
              <a:rPr lang="fr-FR" smtClean="0"/>
              <a:t>14</a:t>
            </a:fld>
            <a:endParaRPr lang="fr-FR"/>
          </a:p>
        </p:txBody>
      </p:sp>
      <p:sp>
        <p:nvSpPr>
          <p:cNvPr id="6" name="Espace réservé du contenu 5">
            <a:extLst>
              <a:ext uri="{FF2B5EF4-FFF2-40B4-BE49-F238E27FC236}">
                <a16:creationId xmlns:a16="http://schemas.microsoft.com/office/drawing/2014/main" id="{9AF047C9-D415-45BD-9210-D9D226F5F80B}"/>
              </a:ext>
            </a:extLst>
          </p:cNvPr>
          <p:cNvSpPr txBox="1">
            <a:spLocks/>
          </p:cNvSpPr>
          <p:nvPr/>
        </p:nvSpPr>
        <p:spPr>
          <a:xfrm>
            <a:off x="1053295" y="1700808"/>
            <a:ext cx="10000527" cy="445285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3050" lvl="1" indent="-273050">
              <a:spcBef>
                <a:spcPts val="1800"/>
              </a:spcBef>
              <a:buNone/>
              <a:defRPr/>
            </a:pPr>
            <a:r>
              <a:rPr lang="fr-FR" sz="2400" b="1" dirty="0"/>
              <a:t>IFRS</a:t>
            </a:r>
          </a:p>
          <a:p>
            <a:pPr marL="617220" lvl="1" indent="-342900">
              <a:spcBef>
                <a:spcPts val="1800"/>
              </a:spcBef>
              <a:defRPr/>
            </a:pPr>
            <a:r>
              <a:rPr lang="fr-FR" sz="2400" dirty="0"/>
              <a:t>Comptabilisation </a:t>
            </a:r>
            <a:r>
              <a:rPr lang="fr-FR" sz="2400" b="1" dirty="0"/>
              <a:t>initiale</a:t>
            </a:r>
            <a:r>
              <a:rPr lang="fr-FR" sz="2400" dirty="0"/>
              <a:t> à la juste valeur </a:t>
            </a:r>
            <a:r>
              <a:rPr lang="fr-FR" sz="2400" i="1" dirty="0"/>
              <a:t> </a:t>
            </a:r>
            <a:endParaRPr lang="fr-FR" sz="2400" dirty="0"/>
          </a:p>
          <a:p>
            <a:pPr marL="823277" lvl="2" indent="-274320">
              <a:spcBef>
                <a:spcPts val="1800"/>
              </a:spcBef>
              <a:buFont typeface="Wingdings 3"/>
              <a:buChar char=""/>
              <a:defRPr/>
            </a:pPr>
            <a:r>
              <a:rPr lang="fr-FR" sz="2000" dirty="0"/>
              <a:t>Coûts de transaction </a:t>
            </a:r>
            <a:r>
              <a:rPr lang="fr-FR" sz="2000" u="sng" dirty="0">
                <a:highlight>
                  <a:srgbClr val="FFFF00"/>
                </a:highlight>
              </a:rPr>
              <a:t>déduits</a:t>
            </a:r>
            <a:r>
              <a:rPr lang="fr-FR" sz="2000" dirty="0"/>
              <a:t> sauf si évaluation ultérieure à la JV</a:t>
            </a:r>
          </a:p>
          <a:p>
            <a:pPr marL="548957" lvl="2" indent="0">
              <a:spcBef>
                <a:spcPts val="1800"/>
              </a:spcBef>
              <a:buNone/>
              <a:defRPr/>
            </a:pPr>
            <a:endParaRPr lang="fr-FR" sz="1800" b="1" dirty="0"/>
          </a:p>
          <a:p>
            <a:pPr marL="547688" lvl="2" indent="-547688">
              <a:spcBef>
                <a:spcPts val="1800"/>
              </a:spcBef>
              <a:buNone/>
              <a:defRPr/>
            </a:pPr>
            <a:r>
              <a:rPr lang="fr-FR" sz="1800" b="1" dirty="0"/>
              <a:t>NCECF</a:t>
            </a:r>
          </a:p>
          <a:p>
            <a:pPr marL="547688" lvl="2" indent="-547688">
              <a:spcBef>
                <a:spcPts val="1800"/>
              </a:spcBef>
              <a:defRPr/>
            </a:pPr>
            <a:r>
              <a:rPr lang="fr-FR" sz="1800" b="1" dirty="0"/>
              <a:t>idem</a:t>
            </a:r>
            <a:endParaRPr lang="fr-FR" sz="2800" b="1" dirty="0"/>
          </a:p>
        </p:txBody>
      </p:sp>
      <p:sp>
        <p:nvSpPr>
          <p:cNvPr id="3" name="Espace réservé du pied de page 2">
            <a:extLst>
              <a:ext uri="{FF2B5EF4-FFF2-40B4-BE49-F238E27FC236}">
                <a16:creationId xmlns:a16="http://schemas.microsoft.com/office/drawing/2014/main" id="{F66EFA8E-5D90-4F45-A11B-84218CFEE038}"/>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020988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93379" y="336330"/>
            <a:ext cx="10794124" cy="258030"/>
          </a:xfrm>
        </p:spPr>
        <p:txBody>
          <a:bodyPr>
            <a:normAutofit fontScale="90000"/>
          </a:bodyPr>
          <a:lstStyle/>
          <a:p>
            <a:r>
              <a:rPr lang="fr-CA" b="1" dirty="0"/>
              <a:t>Évaluation ultérieure </a:t>
            </a:r>
            <a:r>
              <a:rPr lang="fr-CA" dirty="0"/>
              <a:t>Classement IFRS 9 - ACTIFS</a:t>
            </a:r>
          </a:p>
        </p:txBody>
      </p:sp>
      <p:sp>
        <p:nvSpPr>
          <p:cNvPr id="3" name="Espace réservé du contenu 2"/>
          <p:cNvSpPr>
            <a:spLocks noGrp="1"/>
          </p:cNvSpPr>
          <p:nvPr>
            <p:ph idx="1"/>
          </p:nvPr>
        </p:nvSpPr>
        <p:spPr>
          <a:xfrm>
            <a:off x="729205" y="1600200"/>
            <a:ext cx="10509813" cy="4663440"/>
          </a:xfrm>
        </p:spPr>
        <p:txBody>
          <a:bodyPr>
            <a:normAutofit/>
          </a:bodyPr>
          <a:lstStyle/>
          <a:p>
            <a:pPr marL="0" indent="0" fontAlgn="base">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15</a:t>
            </a:fld>
            <a:endParaRPr lang="fr-FR"/>
          </a:p>
        </p:txBody>
      </p:sp>
      <p:graphicFrame>
        <p:nvGraphicFramePr>
          <p:cNvPr id="5" name="Tableau 4"/>
          <p:cNvGraphicFramePr>
            <a:graphicFrameLocks noGrp="1"/>
          </p:cNvGraphicFramePr>
          <p:nvPr>
            <p:extLst>
              <p:ext uri="{D42A27DB-BD31-4B8C-83A1-F6EECF244321}">
                <p14:modId xmlns:p14="http://schemas.microsoft.com/office/powerpoint/2010/main" val="341906509"/>
              </p:ext>
            </p:extLst>
          </p:nvPr>
        </p:nvGraphicFramePr>
        <p:xfrm>
          <a:off x="219921" y="587127"/>
          <a:ext cx="11748303" cy="6065520"/>
        </p:xfrm>
        <a:graphic>
          <a:graphicData uri="http://schemas.openxmlformats.org/drawingml/2006/table">
            <a:tbl>
              <a:tblPr firstRow="1" bandRow="1">
                <a:tableStyleId>{5C22544A-7EE6-4342-B048-85BDC9FD1C3A}</a:tableStyleId>
              </a:tblPr>
              <a:tblGrid>
                <a:gridCol w="3136737">
                  <a:extLst>
                    <a:ext uri="{9D8B030D-6E8A-4147-A177-3AD203B41FA5}">
                      <a16:colId xmlns:a16="http://schemas.microsoft.com/office/drawing/2014/main" val="20000"/>
                    </a:ext>
                  </a:extLst>
                </a:gridCol>
                <a:gridCol w="4271058">
                  <a:extLst>
                    <a:ext uri="{9D8B030D-6E8A-4147-A177-3AD203B41FA5}">
                      <a16:colId xmlns:a16="http://schemas.microsoft.com/office/drawing/2014/main" val="20001"/>
                    </a:ext>
                  </a:extLst>
                </a:gridCol>
                <a:gridCol w="4340508">
                  <a:extLst>
                    <a:ext uri="{9D8B030D-6E8A-4147-A177-3AD203B41FA5}">
                      <a16:colId xmlns:a16="http://schemas.microsoft.com/office/drawing/2014/main" val="20002"/>
                    </a:ext>
                  </a:extLst>
                </a:gridCol>
              </a:tblGrid>
              <a:tr h="860248">
                <a:tc>
                  <a:txBody>
                    <a:bodyPr/>
                    <a:lstStyle/>
                    <a:p>
                      <a:r>
                        <a:rPr lang="fr-CA" dirty="0"/>
                        <a:t>Actifs financiers évalués au coût amorti </a:t>
                      </a:r>
                      <a:r>
                        <a:rPr lang="fr-CA" sz="1800" dirty="0"/>
                        <a:t>(au taux effectif) </a:t>
                      </a:r>
                      <a:r>
                        <a:rPr lang="fr-CA" sz="1600" dirty="0"/>
                        <a:t>(4.1.2)</a:t>
                      </a:r>
                      <a:endParaRPr lang="fr-CA" dirty="0"/>
                    </a:p>
                  </a:txBody>
                  <a:tcPr/>
                </a:tc>
                <a:tc>
                  <a:txBody>
                    <a:bodyPr/>
                    <a:lstStyle/>
                    <a:p>
                      <a:r>
                        <a:rPr lang="fr-CA" dirty="0"/>
                        <a:t>Actifs financiers évalués à la juste valeur par le biais des autres éléments du résultat global  </a:t>
                      </a:r>
                      <a:r>
                        <a:rPr lang="fr-CA" sz="1600" dirty="0"/>
                        <a:t>(4.1.2A)</a:t>
                      </a:r>
                      <a:endParaRPr lang="fr-CA" dirty="0"/>
                    </a:p>
                  </a:txBody>
                  <a:tcPr/>
                </a:tc>
                <a:tc>
                  <a:txBody>
                    <a:bodyPr/>
                    <a:lstStyle/>
                    <a:p>
                      <a:r>
                        <a:rPr lang="fr-CA" dirty="0"/>
                        <a:t>Actifs financiers évalués à la juste valeur par le biais du résultat net  </a:t>
                      </a:r>
                      <a:r>
                        <a:rPr lang="fr-CA" sz="1600" dirty="0"/>
                        <a:t>(4.1.4)</a:t>
                      </a:r>
                      <a:endParaRPr lang="fr-CA" dirty="0"/>
                    </a:p>
                  </a:txBody>
                  <a:tcPr/>
                </a:tc>
                <a:extLst>
                  <a:ext uri="{0D108BD9-81ED-4DB2-BD59-A6C34878D82A}">
                    <a16:rowId xmlns:a16="http://schemas.microsoft.com/office/drawing/2014/main" val="10000"/>
                  </a:ext>
                </a:extLst>
              </a:tr>
              <a:tr h="1634471">
                <a:tc>
                  <a:txBody>
                    <a:bodyPr/>
                    <a:lstStyle/>
                    <a:p>
                      <a:r>
                        <a:rPr lang="fr-CA" sz="1800" dirty="0"/>
                        <a:t>Modèle économique est de détenir l’AF afin d’en percevoir les flux de trésorerie contractuels (intérêts et principal)</a:t>
                      </a:r>
                      <a:endParaRPr lang="fr-CA" dirty="0"/>
                    </a:p>
                  </a:txBody>
                  <a:tcPr/>
                </a:tc>
                <a:tc>
                  <a:txBody>
                    <a:bodyPr/>
                    <a:lstStyle/>
                    <a:p>
                      <a:pPr marL="0" lvl="2" indent="0">
                        <a:buFont typeface="Wingdings" panose="05000000000000000000" pitchFamily="2" charset="2"/>
                        <a:buNone/>
                      </a:pPr>
                      <a:r>
                        <a:rPr lang="fr-CA" sz="1800" kern="1200" dirty="0">
                          <a:solidFill>
                            <a:schemeClr val="dk1"/>
                          </a:solidFill>
                          <a:latin typeface="+mn-lt"/>
                          <a:ea typeface="+mn-ea"/>
                          <a:cs typeface="+mn-cs"/>
                        </a:rPr>
                        <a:t>Modèle économique est de détenir l’AF afin d’en percevoir les flux de trésorerie contractuels (intérêts et principal) </a:t>
                      </a:r>
                      <a:r>
                        <a:rPr lang="fr-CA" sz="1800" b="1" kern="1200" dirty="0">
                          <a:solidFill>
                            <a:schemeClr val="dk1"/>
                          </a:solidFill>
                          <a:latin typeface="+mn-lt"/>
                          <a:ea typeface="+mn-ea"/>
                          <a:cs typeface="+mn-cs"/>
                        </a:rPr>
                        <a:t>et de le vendre</a:t>
                      </a:r>
                    </a:p>
                  </a:txBody>
                  <a:tcPr/>
                </a:tc>
                <a:tc>
                  <a:txBody>
                    <a:bodyPr/>
                    <a:lstStyle/>
                    <a:p>
                      <a:r>
                        <a:rPr lang="fr-CA" i="1" dirty="0"/>
                        <a:t>« Fins de transactions »</a:t>
                      </a:r>
                      <a:r>
                        <a:rPr lang="fr-CA" dirty="0"/>
                        <a:t> et si les autres catégories non applicables</a:t>
                      </a:r>
                    </a:p>
                    <a:p>
                      <a:pPr fontAlgn="base"/>
                      <a:r>
                        <a:rPr lang="fr-CA" dirty="0"/>
                        <a:t>Objectif : ni percevoir des FT contractuels, ni conserver des AF.</a:t>
                      </a:r>
                    </a:p>
                    <a:p>
                      <a:pPr fontAlgn="base"/>
                      <a:r>
                        <a:rPr lang="fr-CA" dirty="0"/>
                        <a:t>La réception de FT contractuels est accessoire au modèle économique</a:t>
                      </a:r>
                    </a:p>
                  </a:txBody>
                  <a:tcPr/>
                </a:tc>
                <a:extLst>
                  <a:ext uri="{0D108BD9-81ED-4DB2-BD59-A6C34878D82A}">
                    <a16:rowId xmlns:a16="http://schemas.microsoft.com/office/drawing/2014/main" val="10001"/>
                  </a:ext>
                </a:extLst>
              </a:tr>
              <a:tr h="602174">
                <a:tc>
                  <a:txBody>
                    <a:bodyPr/>
                    <a:lstStyle/>
                    <a:p>
                      <a:r>
                        <a:rPr lang="fr-CA" dirty="0"/>
                        <a:t>Les ventes sont possibles, mais elles sont rares</a:t>
                      </a:r>
                    </a:p>
                  </a:txBody>
                  <a:tcPr/>
                </a:tc>
                <a:tc>
                  <a:txBody>
                    <a:bodyPr/>
                    <a:lstStyle/>
                    <a:p>
                      <a:r>
                        <a:rPr lang="fr-CA" dirty="0"/>
                        <a:t>Les ventes sont plus fréquentes</a:t>
                      </a:r>
                    </a:p>
                  </a:txBody>
                  <a:tcPr/>
                </a:tc>
                <a:tc>
                  <a:txBody>
                    <a:bodyPr/>
                    <a:lstStyle/>
                    <a:p>
                      <a:endParaRPr lang="fr-CA"/>
                    </a:p>
                  </a:txBody>
                  <a:tcPr/>
                </a:tc>
                <a:extLst>
                  <a:ext uri="{0D108BD9-81ED-4DB2-BD59-A6C34878D82A}">
                    <a16:rowId xmlns:a16="http://schemas.microsoft.com/office/drawing/2014/main" val="10002"/>
                  </a:ext>
                </a:extLst>
              </a:tr>
              <a:tr h="1376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i="1" dirty="0"/>
                        <a:t>Donc titres de dette</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ea typeface="ＭＳ Ｐゴシック" pitchFamily="34" charset="-128"/>
                        </a:rPr>
                        <a:t>Évaluation au coût amorti en utilisant la méthode du taux d'intérêt effectif.</a:t>
                      </a:r>
                      <a:endParaRPr lang="fr-CA" dirty="0"/>
                    </a:p>
                  </a:txBody>
                  <a:tcPr/>
                </a:tc>
                <a:tc>
                  <a:txBody>
                    <a:bodyPr/>
                    <a:lstStyle/>
                    <a:p>
                      <a:r>
                        <a:rPr lang="en-US" sz="1800" b="0" dirty="0"/>
                        <a:t>Les</a:t>
                      </a:r>
                      <a:r>
                        <a:rPr lang="en-US" sz="1800" b="1" dirty="0"/>
                        <a:t> </a:t>
                      </a:r>
                      <a:r>
                        <a:rPr lang="fr-CA" sz="1800" b="1" dirty="0"/>
                        <a:t>instruments de capitaux propres </a:t>
                      </a:r>
                      <a:r>
                        <a:rPr lang="fr-CA" sz="1800" b="0" dirty="0"/>
                        <a:t>qui ne sont pas détenus à des fins de transaction</a:t>
                      </a:r>
                      <a:r>
                        <a:rPr lang="fr-CA" sz="1800" b="1" dirty="0"/>
                        <a:t> peuvent être désignés de façon </a:t>
                      </a:r>
                      <a:r>
                        <a:rPr lang="fr-CA" sz="1800" b="1" u="sng" dirty="0"/>
                        <a:t>irrévocable</a:t>
                      </a:r>
                      <a:r>
                        <a:rPr lang="fr-CA" sz="1800" b="1" dirty="0"/>
                        <a:t> à la JV par le biais des AÉRG   </a:t>
                      </a:r>
                      <a:r>
                        <a:rPr lang="fr-CA" sz="1800" b="1" i="1" dirty="0"/>
                        <a:t>(note)</a:t>
                      </a:r>
                      <a:endParaRPr lang="fr-CA" sz="1800" b="1" dirty="0"/>
                    </a:p>
                    <a:p>
                      <a:pPr marL="0" indent="0">
                        <a:buClr>
                          <a:srgbClr val="E7BE00"/>
                        </a:buClr>
                        <a:buFont typeface="Wingdings" pitchFamily="2" charset="2"/>
                        <a:buNone/>
                      </a:pPr>
                      <a:endParaRPr lang="fr-CA" b="1" dirty="0">
                        <a:solidFill>
                          <a:srgbClr val="0070C0"/>
                        </a:solidFill>
                      </a:endParaRPr>
                    </a:p>
                  </a:txBody>
                  <a:tcPr/>
                </a:tc>
                <a:tc>
                  <a:txBody>
                    <a:bodyPr/>
                    <a:lstStyle/>
                    <a:p>
                      <a:r>
                        <a:rPr lang="fr-CA" sz="1800" dirty="0"/>
                        <a:t>Cette catégorie</a:t>
                      </a:r>
                      <a:r>
                        <a:rPr lang="fr-CA" sz="1800" baseline="0" dirty="0"/>
                        <a:t> inclut également les d</a:t>
                      </a:r>
                      <a:r>
                        <a:rPr lang="fr-CA" sz="1800" dirty="0"/>
                        <a:t>érivés (à l'exception d</a:t>
                      </a:r>
                      <a:r>
                        <a:rPr lang="fr-CA" altLang="fr-FR" sz="1800" dirty="0"/>
                        <a:t>’</a:t>
                      </a:r>
                      <a:r>
                        <a:rPr lang="fr-CA" sz="1800" dirty="0"/>
                        <a:t>instruments de couverture désignés et efficaces). </a:t>
                      </a:r>
                      <a:endParaRPr lang="fr-CA" dirty="0"/>
                    </a:p>
                  </a:txBody>
                  <a:tcPr/>
                </a:tc>
                <a:extLst>
                  <a:ext uri="{0D108BD9-81ED-4DB2-BD59-A6C34878D82A}">
                    <a16:rowId xmlns:a16="http://schemas.microsoft.com/office/drawing/2014/main" val="10003"/>
                  </a:ext>
                </a:extLst>
              </a:tr>
              <a:tr h="624489">
                <a:tc gridSpan="3">
                  <a:txBody>
                    <a:bodyPr/>
                    <a:lstStyle/>
                    <a:p>
                      <a:pPr marL="0" indent="0">
                        <a:buClr>
                          <a:srgbClr val="E7BE00"/>
                        </a:buClr>
                        <a:buFont typeface="Wingdings" pitchFamily="2" charset="2"/>
                        <a:buNone/>
                      </a:pPr>
                      <a:r>
                        <a:rPr lang="fr-CA" sz="1600" b="1" i="1" dirty="0"/>
                        <a:t>(note)  </a:t>
                      </a:r>
                      <a:r>
                        <a:rPr lang="fr-CA" sz="1600" dirty="0"/>
                        <a:t>Si une entité utilise l’</a:t>
                      </a:r>
                      <a:r>
                        <a:rPr lang="fr-CA" sz="1600" b="1" dirty="0"/>
                        <a:t>option de désignation JV</a:t>
                      </a:r>
                      <a:r>
                        <a:rPr lang="fr-CA" sz="1600" b="1" baseline="0" dirty="0"/>
                        <a:t> par le biais des AÉRG </a:t>
                      </a:r>
                      <a:r>
                        <a:rPr lang="fr-CA" sz="1600" dirty="0"/>
                        <a:t>:</a:t>
                      </a:r>
                    </a:p>
                    <a:p>
                      <a:pPr marL="0" indent="0">
                        <a:buClr>
                          <a:srgbClr val="E7BE00"/>
                        </a:buClr>
                        <a:buFont typeface="Arial" panose="020B0604020202020204" pitchFamily="34" charset="0"/>
                        <a:buNone/>
                      </a:pPr>
                      <a:r>
                        <a:rPr lang="fr-CA" sz="1600" dirty="0"/>
                        <a:t>-Les dividendes reçus seront comptabilisés au résultat net;</a:t>
                      </a:r>
                    </a:p>
                    <a:p>
                      <a:pPr marL="0" indent="0">
                        <a:buClr>
                          <a:srgbClr val="E7BE00"/>
                        </a:buClr>
                        <a:buFont typeface="Arial" panose="020B0604020202020204" pitchFamily="34" charset="0"/>
                        <a:buNone/>
                      </a:pPr>
                      <a:r>
                        <a:rPr lang="fr-CA" sz="1600" dirty="0"/>
                        <a:t>-Toutes les variations de juste valeur (incluant les dépréciations) seront comptabilisées aux autres éléments du résultat global;</a:t>
                      </a:r>
                    </a:p>
                    <a:p>
                      <a:pPr marL="0" indent="0">
                        <a:buClr>
                          <a:srgbClr val="E7BE00"/>
                        </a:buClr>
                        <a:buFont typeface="Arial" panose="020B0604020202020204" pitchFamily="34" charset="0"/>
                        <a:buNone/>
                      </a:pPr>
                      <a:r>
                        <a:rPr lang="fr-CA" sz="1600" dirty="0"/>
                        <a:t>-</a:t>
                      </a:r>
                      <a:r>
                        <a:rPr lang="fr-CA" sz="1600" dirty="0">
                          <a:solidFill>
                            <a:srgbClr val="0070C0"/>
                          </a:solidFill>
                        </a:rPr>
                        <a:t>La différence entre le coût d’acquisition et le produit ultérieur de la vente </a:t>
                      </a:r>
                      <a:r>
                        <a:rPr lang="fr-CA" sz="1600" b="1" dirty="0">
                          <a:solidFill>
                            <a:srgbClr val="0070C0"/>
                          </a:solidFill>
                        </a:rPr>
                        <a:t>ne</a:t>
                      </a:r>
                      <a:r>
                        <a:rPr lang="fr-CA" sz="1600" dirty="0">
                          <a:solidFill>
                            <a:srgbClr val="0070C0"/>
                          </a:solidFill>
                        </a:rPr>
                        <a:t> pourra </a:t>
                      </a:r>
                      <a:r>
                        <a:rPr lang="fr-CA" sz="1600" b="1" dirty="0">
                          <a:solidFill>
                            <a:srgbClr val="0070C0"/>
                          </a:solidFill>
                        </a:rPr>
                        <a:t>pas</a:t>
                      </a:r>
                      <a:r>
                        <a:rPr lang="fr-CA" sz="1600" dirty="0">
                          <a:solidFill>
                            <a:srgbClr val="0070C0"/>
                          </a:solidFill>
                        </a:rPr>
                        <a:t> être comptabilisée au résultat net (les gains ou pertes demeurent dans les capitaux propres)</a:t>
                      </a:r>
                      <a:endParaRPr lang="fr-CA" dirty="0"/>
                    </a:p>
                  </a:txBody>
                  <a:tcPr/>
                </a:tc>
                <a:tc hMerge="1">
                  <a:txBody>
                    <a:bodyPr/>
                    <a:lstStyle/>
                    <a:p>
                      <a:pPr marL="0" indent="0">
                        <a:buClr>
                          <a:srgbClr val="E7BE00"/>
                        </a:buClr>
                        <a:buFont typeface="Wingdings" pitchFamily="2" charset="2"/>
                        <a:buNone/>
                      </a:pPr>
                      <a:endParaRPr lang="fr-CA" dirty="0"/>
                    </a:p>
                  </a:txBody>
                  <a:tcPr/>
                </a:tc>
                <a:tc hMerge="1">
                  <a:txBody>
                    <a:bodyPr/>
                    <a:lstStyle/>
                    <a:p>
                      <a:endParaRPr lang="fr-CA" dirty="0"/>
                    </a:p>
                  </a:txBody>
                  <a:tcPr/>
                </a:tc>
                <a:extLst>
                  <a:ext uri="{0D108BD9-81ED-4DB2-BD59-A6C34878D82A}">
                    <a16:rowId xmlns:a16="http://schemas.microsoft.com/office/drawing/2014/main" val="10004"/>
                  </a:ext>
                </a:extLst>
              </a:tr>
            </a:tbl>
          </a:graphicData>
        </a:graphic>
      </p:graphicFrame>
      <p:sp>
        <p:nvSpPr>
          <p:cNvPr id="6" name="Espace réservé du pied de page 5">
            <a:extLst>
              <a:ext uri="{FF2B5EF4-FFF2-40B4-BE49-F238E27FC236}">
                <a16:creationId xmlns:a16="http://schemas.microsoft.com/office/drawing/2014/main" id="{5EAE354C-816A-4F52-B3E0-DC281CE090D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907697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B7935C9-E15C-48AF-A137-EA6591F19C12}"/>
              </a:ext>
            </a:extLst>
          </p:cNvPr>
          <p:cNvSpPr>
            <a:spLocks noGrp="1"/>
          </p:cNvSpPr>
          <p:nvPr>
            <p:ph type="sldNum" sz="quarter" idx="12"/>
          </p:nvPr>
        </p:nvSpPr>
        <p:spPr/>
        <p:txBody>
          <a:bodyPr/>
          <a:lstStyle/>
          <a:p>
            <a:fld id="{93CCD850-57C1-B143-82E0-6B89E4215FB0}" type="slidenum">
              <a:rPr lang="fr-FR" smtClean="0"/>
              <a:t>16</a:t>
            </a:fld>
            <a:endParaRPr lang="fr-FR"/>
          </a:p>
        </p:txBody>
      </p:sp>
      <p:sp>
        <p:nvSpPr>
          <p:cNvPr id="7" name="Rectangle 6">
            <a:extLst>
              <a:ext uri="{FF2B5EF4-FFF2-40B4-BE49-F238E27FC236}">
                <a16:creationId xmlns:a16="http://schemas.microsoft.com/office/drawing/2014/main" id="{E5E8AB0A-A8EB-4B5A-90CB-54374AF72085}"/>
              </a:ext>
            </a:extLst>
          </p:cNvPr>
          <p:cNvSpPr/>
          <p:nvPr/>
        </p:nvSpPr>
        <p:spPr>
          <a:xfrm>
            <a:off x="8411183" y="1248650"/>
            <a:ext cx="2082113" cy="122907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CA" dirty="0"/>
              <a:t>Choix irrévocable AERG si non détenus à des fins de transaction</a:t>
            </a:r>
          </a:p>
        </p:txBody>
      </p:sp>
      <p:sp>
        <p:nvSpPr>
          <p:cNvPr id="9" name="ZoneTexte 8">
            <a:extLst>
              <a:ext uri="{FF2B5EF4-FFF2-40B4-BE49-F238E27FC236}">
                <a16:creationId xmlns:a16="http://schemas.microsoft.com/office/drawing/2014/main" id="{EBC03363-EE28-412B-9C65-2FB65DB2FE2B}"/>
              </a:ext>
            </a:extLst>
          </p:cNvPr>
          <p:cNvSpPr txBox="1"/>
          <p:nvPr/>
        </p:nvSpPr>
        <p:spPr>
          <a:xfrm>
            <a:off x="2076632" y="1079710"/>
            <a:ext cx="2612386" cy="923330"/>
          </a:xfrm>
          <a:prstGeom prst="rect">
            <a:avLst/>
          </a:prstGeom>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vl1pPr algn="ctr"/>
          </a:lstStyle>
          <a:p>
            <a:r>
              <a:rPr lang="fr-FR" dirty="0"/>
              <a:t>Les FT contractuels = uniquement principal et intérêts ?</a:t>
            </a:r>
          </a:p>
        </p:txBody>
      </p:sp>
      <p:sp>
        <p:nvSpPr>
          <p:cNvPr id="10" name="ZoneTexte 9">
            <a:extLst>
              <a:ext uri="{FF2B5EF4-FFF2-40B4-BE49-F238E27FC236}">
                <a16:creationId xmlns:a16="http://schemas.microsoft.com/office/drawing/2014/main" id="{937A9F7A-320E-4F6C-8178-F51B42CF17EC}"/>
              </a:ext>
            </a:extLst>
          </p:cNvPr>
          <p:cNvSpPr txBox="1"/>
          <p:nvPr/>
        </p:nvSpPr>
        <p:spPr>
          <a:xfrm>
            <a:off x="2005047" y="2818636"/>
            <a:ext cx="2755556" cy="646331"/>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pPr algn="ctr">
              <a:defRPr/>
            </a:pPr>
            <a:r>
              <a:rPr lang="fr-FR" dirty="0"/>
              <a:t>Le modèle de gestion = </a:t>
            </a:r>
            <a:r>
              <a:rPr lang="fr-FR" b="1" dirty="0"/>
              <a:t>percevoir les FT seulement</a:t>
            </a:r>
          </a:p>
        </p:txBody>
      </p:sp>
      <p:sp>
        <p:nvSpPr>
          <p:cNvPr id="18" name="Rectangle 17">
            <a:extLst>
              <a:ext uri="{FF2B5EF4-FFF2-40B4-BE49-F238E27FC236}">
                <a16:creationId xmlns:a16="http://schemas.microsoft.com/office/drawing/2014/main" id="{E9A2C29E-7D2D-4802-BFFC-A6F5A6245E96}"/>
              </a:ext>
            </a:extLst>
          </p:cNvPr>
          <p:cNvSpPr/>
          <p:nvPr/>
        </p:nvSpPr>
        <p:spPr>
          <a:xfrm>
            <a:off x="6837267" y="2994719"/>
            <a:ext cx="1408670" cy="57116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r-CA" dirty="0"/>
              <a:t>Coût amorti</a:t>
            </a:r>
          </a:p>
        </p:txBody>
      </p:sp>
      <p:sp>
        <p:nvSpPr>
          <p:cNvPr id="31" name="Rectangle 30">
            <a:extLst>
              <a:ext uri="{FF2B5EF4-FFF2-40B4-BE49-F238E27FC236}">
                <a16:creationId xmlns:a16="http://schemas.microsoft.com/office/drawing/2014/main" id="{40898652-9044-4C9F-966B-793C28EB36C6}"/>
              </a:ext>
            </a:extLst>
          </p:cNvPr>
          <p:cNvSpPr/>
          <p:nvPr/>
        </p:nvSpPr>
        <p:spPr>
          <a:xfrm>
            <a:off x="6837267" y="4479918"/>
            <a:ext cx="1408670" cy="57116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CA" dirty="0"/>
              <a:t>JVBRG</a:t>
            </a:r>
          </a:p>
        </p:txBody>
      </p:sp>
      <p:sp>
        <p:nvSpPr>
          <p:cNvPr id="32" name="ZoneTexte 31">
            <a:extLst>
              <a:ext uri="{FF2B5EF4-FFF2-40B4-BE49-F238E27FC236}">
                <a16:creationId xmlns:a16="http://schemas.microsoft.com/office/drawing/2014/main" id="{91D3DC0E-A918-4F7C-B231-9942B243F18D}"/>
              </a:ext>
            </a:extLst>
          </p:cNvPr>
          <p:cNvSpPr txBox="1"/>
          <p:nvPr/>
        </p:nvSpPr>
        <p:spPr>
          <a:xfrm>
            <a:off x="2018248" y="4299459"/>
            <a:ext cx="2755556" cy="646331"/>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pPr algn="ctr">
              <a:defRPr/>
            </a:pPr>
            <a:r>
              <a:rPr lang="fr-FR" dirty="0"/>
              <a:t>Le modèle de gestion = </a:t>
            </a:r>
            <a:r>
              <a:rPr lang="fr-FR" b="1" dirty="0"/>
              <a:t>percevoir les FT ET vendre</a:t>
            </a:r>
          </a:p>
        </p:txBody>
      </p:sp>
      <p:cxnSp>
        <p:nvCxnSpPr>
          <p:cNvPr id="38" name="Connecteur droit avec flèche 37">
            <a:extLst>
              <a:ext uri="{FF2B5EF4-FFF2-40B4-BE49-F238E27FC236}">
                <a16:creationId xmlns:a16="http://schemas.microsoft.com/office/drawing/2014/main" id="{70E8BEBA-5D9B-4A18-8073-56E5176AA110}"/>
              </a:ext>
            </a:extLst>
          </p:cNvPr>
          <p:cNvCxnSpPr>
            <a:cxnSpLocks/>
            <a:stCxn id="9" idx="2"/>
            <a:endCxn id="10" idx="0"/>
          </p:cNvCxnSpPr>
          <p:nvPr/>
        </p:nvCxnSpPr>
        <p:spPr>
          <a:xfrm>
            <a:off x="3382825" y="2003041"/>
            <a:ext cx="0" cy="8155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necteur droit avec flèche 39">
            <a:extLst>
              <a:ext uri="{FF2B5EF4-FFF2-40B4-BE49-F238E27FC236}">
                <a16:creationId xmlns:a16="http://schemas.microsoft.com/office/drawing/2014/main" id="{6A002032-FAEC-47E7-8264-07B8606576F4}"/>
              </a:ext>
            </a:extLst>
          </p:cNvPr>
          <p:cNvCxnSpPr>
            <a:stCxn id="10" idx="3"/>
            <a:endCxn id="18" idx="1"/>
          </p:cNvCxnSpPr>
          <p:nvPr/>
        </p:nvCxnSpPr>
        <p:spPr>
          <a:xfrm>
            <a:off x="4760603" y="3141802"/>
            <a:ext cx="2076664" cy="1384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eur droit avec flèche 41">
            <a:extLst>
              <a:ext uri="{FF2B5EF4-FFF2-40B4-BE49-F238E27FC236}">
                <a16:creationId xmlns:a16="http://schemas.microsoft.com/office/drawing/2014/main" id="{4CE37B74-6469-488E-925F-C614DC4E6ACD}"/>
              </a:ext>
            </a:extLst>
          </p:cNvPr>
          <p:cNvCxnSpPr>
            <a:cxnSpLocks/>
            <a:stCxn id="10" idx="2"/>
            <a:endCxn id="32" idx="0"/>
          </p:cNvCxnSpPr>
          <p:nvPr/>
        </p:nvCxnSpPr>
        <p:spPr>
          <a:xfrm>
            <a:off x="3382826" y="3464966"/>
            <a:ext cx="13201" cy="8344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EC1F9347-5F83-4573-AB05-C6AD89297270}"/>
              </a:ext>
            </a:extLst>
          </p:cNvPr>
          <p:cNvCxnSpPr>
            <a:cxnSpLocks/>
            <a:stCxn id="32" idx="3"/>
            <a:endCxn id="31" idx="1"/>
          </p:cNvCxnSpPr>
          <p:nvPr/>
        </p:nvCxnSpPr>
        <p:spPr>
          <a:xfrm>
            <a:off x="4773805" y="4622625"/>
            <a:ext cx="2063463" cy="1428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ZoneTexte 56">
            <a:extLst>
              <a:ext uri="{FF2B5EF4-FFF2-40B4-BE49-F238E27FC236}">
                <a16:creationId xmlns:a16="http://schemas.microsoft.com/office/drawing/2014/main" id="{51EDEBB1-B969-401C-9EE4-B78FDF5D86A0}"/>
              </a:ext>
            </a:extLst>
          </p:cNvPr>
          <p:cNvSpPr txBox="1"/>
          <p:nvPr/>
        </p:nvSpPr>
        <p:spPr>
          <a:xfrm>
            <a:off x="3459673" y="2202338"/>
            <a:ext cx="2653290" cy="369332"/>
          </a:xfrm>
          <a:prstGeom prst="rect">
            <a:avLst/>
          </a:prstGeom>
          <a:noFill/>
        </p:spPr>
        <p:txBody>
          <a:bodyPr wrap="none" rtlCol="0">
            <a:spAutoFit/>
          </a:bodyPr>
          <a:lstStyle/>
          <a:p>
            <a:r>
              <a:rPr lang="fr-CA" dirty="0"/>
              <a:t>OUI (Instrument de Dette)</a:t>
            </a:r>
          </a:p>
        </p:txBody>
      </p:sp>
      <p:sp>
        <p:nvSpPr>
          <p:cNvPr id="59" name="Rectangle 58">
            <a:extLst>
              <a:ext uri="{FF2B5EF4-FFF2-40B4-BE49-F238E27FC236}">
                <a16:creationId xmlns:a16="http://schemas.microsoft.com/office/drawing/2014/main" id="{56B58694-AB78-4F3F-8CD7-33333B772164}"/>
              </a:ext>
            </a:extLst>
          </p:cNvPr>
          <p:cNvSpPr/>
          <p:nvPr/>
        </p:nvSpPr>
        <p:spPr>
          <a:xfrm>
            <a:off x="6837267" y="1263172"/>
            <a:ext cx="1408670" cy="57116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r-CA" dirty="0"/>
              <a:t>JVBRN</a:t>
            </a:r>
          </a:p>
        </p:txBody>
      </p:sp>
      <p:cxnSp>
        <p:nvCxnSpPr>
          <p:cNvPr id="74" name="Connecteur droit avec flèche 73">
            <a:extLst>
              <a:ext uri="{FF2B5EF4-FFF2-40B4-BE49-F238E27FC236}">
                <a16:creationId xmlns:a16="http://schemas.microsoft.com/office/drawing/2014/main" id="{4D6A0B89-F5DD-499B-A993-DBE858798D71}"/>
              </a:ext>
            </a:extLst>
          </p:cNvPr>
          <p:cNvCxnSpPr>
            <a:stCxn id="9" idx="3"/>
            <a:endCxn id="59" idx="1"/>
          </p:cNvCxnSpPr>
          <p:nvPr/>
        </p:nvCxnSpPr>
        <p:spPr>
          <a:xfrm>
            <a:off x="4689019" y="1541375"/>
            <a:ext cx="2148249" cy="73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1" name="ZoneTexte 80">
            <a:extLst>
              <a:ext uri="{FF2B5EF4-FFF2-40B4-BE49-F238E27FC236}">
                <a16:creationId xmlns:a16="http://schemas.microsoft.com/office/drawing/2014/main" id="{2F7D1CA1-94B2-4101-9569-E49EEC7226A0}"/>
              </a:ext>
            </a:extLst>
          </p:cNvPr>
          <p:cNvSpPr txBox="1"/>
          <p:nvPr/>
        </p:nvSpPr>
        <p:spPr>
          <a:xfrm>
            <a:off x="4666481" y="1110225"/>
            <a:ext cx="2170787" cy="369332"/>
          </a:xfrm>
          <a:prstGeom prst="rect">
            <a:avLst/>
          </a:prstGeom>
          <a:noFill/>
        </p:spPr>
        <p:txBody>
          <a:bodyPr wrap="none" rtlCol="0">
            <a:spAutoFit/>
          </a:bodyPr>
          <a:lstStyle/>
          <a:p>
            <a:r>
              <a:rPr lang="fr-CA" dirty="0"/>
              <a:t>NON (Instrument CP)</a:t>
            </a:r>
          </a:p>
        </p:txBody>
      </p:sp>
      <p:sp>
        <p:nvSpPr>
          <p:cNvPr id="92" name="ZoneTexte 91">
            <a:extLst>
              <a:ext uri="{FF2B5EF4-FFF2-40B4-BE49-F238E27FC236}">
                <a16:creationId xmlns:a16="http://schemas.microsoft.com/office/drawing/2014/main" id="{34CD098B-D5F7-4AA3-85E8-CA320320C878}"/>
              </a:ext>
            </a:extLst>
          </p:cNvPr>
          <p:cNvSpPr txBox="1"/>
          <p:nvPr/>
        </p:nvSpPr>
        <p:spPr>
          <a:xfrm>
            <a:off x="4854357" y="2910968"/>
            <a:ext cx="542136" cy="369332"/>
          </a:xfrm>
          <a:prstGeom prst="rect">
            <a:avLst/>
          </a:prstGeom>
          <a:noFill/>
        </p:spPr>
        <p:txBody>
          <a:bodyPr wrap="none" rtlCol="0">
            <a:spAutoFit/>
          </a:bodyPr>
          <a:lstStyle/>
          <a:p>
            <a:r>
              <a:rPr lang="fr-CA" dirty="0"/>
              <a:t>OUI</a:t>
            </a:r>
          </a:p>
        </p:txBody>
      </p:sp>
      <p:sp>
        <p:nvSpPr>
          <p:cNvPr id="93" name="ZoneTexte 92">
            <a:extLst>
              <a:ext uri="{FF2B5EF4-FFF2-40B4-BE49-F238E27FC236}">
                <a16:creationId xmlns:a16="http://schemas.microsoft.com/office/drawing/2014/main" id="{87ED2F9C-D6BC-444F-A91F-BEDEDCED1B91}"/>
              </a:ext>
            </a:extLst>
          </p:cNvPr>
          <p:cNvSpPr txBox="1"/>
          <p:nvPr/>
        </p:nvSpPr>
        <p:spPr>
          <a:xfrm>
            <a:off x="3366699" y="3804264"/>
            <a:ext cx="635110" cy="369332"/>
          </a:xfrm>
          <a:prstGeom prst="rect">
            <a:avLst/>
          </a:prstGeom>
          <a:noFill/>
        </p:spPr>
        <p:txBody>
          <a:bodyPr wrap="none" rtlCol="0">
            <a:spAutoFit/>
          </a:bodyPr>
          <a:lstStyle/>
          <a:p>
            <a:r>
              <a:rPr lang="fr-CA" dirty="0"/>
              <a:t>NON</a:t>
            </a:r>
          </a:p>
        </p:txBody>
      </p:sp>
      <p:sp>
        <p:nvSpPr>
          <p:cNvPr id="96" name="ZoneTexte 95">
            <a:extLst>
              <a:ext uri="{FF2B5EF4-FFF2-40B4-BE49-F238E27FC236}">
                <a16:creationId xmlns:a16="http://schemas.microsoft.com/office/drawing/2014/main" id="{E7DE5A6B-35C1-48A0-B542-6F6ACFBABEE4}"/>
              </a:ext>
            </a:extLst>
          </p:cNvPr>
          <p:cNvSpPr txBox="1"/>
          <p:nvPr/>
        </p:nvSpPr>
        <p:spPr>
          <a:xfrm>
            <a:off x="4854357" y="4345625"/>
            <a:ext cx="542136" cy="369332"/>
          </a:xfrm>
          <a:prstGeom prst="rect">
            <a:avLst/>
          </a:prstGeom>
          <a:noFill/>
        </p:spPr>
        <p:txBody>
          <a:bodyPr wrap="none" rtlCol="0">
            <a:spAutoFit/>
          </a:bodyPr>
          <a:lstStyle/>
          <a:p>
            <a:r>
              <a:rPr lang="fr-CA" dirty="0"/>
              <a:t>OUI</a:t>
            </a:r>
          </a:p>
        </p:txBody>
      </p:sp>
      <p:sp>
        <p:nvSpPr>
          <p:cNvPr id="97" name="ZoneTexte 96">
            <a:extLst>
              <a:ext uri="{FF2B5EF4-FFF2-40B4-BE49-F238E27FC236}">
                <a16:creationId xmlns:a16="http://schemas.microsoft.com/office/drawing/2014/main" id="{1C25CEA0-231E-4CF0-ABD1-351687522B34}"/>
              </a:ext>
            </a:extLst>
          </p:cNvPr>
          <p:cNvSpPr txBox="1"/>
          <p:nvPr/>
        </p:nvSpPr>
        <p:spPr>
          <a:xfrm>
            <a:off x="3389425" y="5495409"/>
            <a:ext cx="3107004" cy="369332"/>
          </a:xfrm>
          <a:prstGeom prst="rect">
            <a:avLst/>
          </a:prstGeom>
          <a:noFill/>
        </p:spPr>
        <p:txBody>
          <a:bodyPr wrap="none" rtlCol="0">
            <a:spAutoFit/>
          </a:bodyPr>
          <a:lstStyle/>
          <a:p>
            <a:r>
              <a:rPr lang="fr-CA" dirty="0"/>
              <a:t>NON (à des fins de transaction)</a:t>
            </a:r>
          </a:p>
        </p:txBody>
      </p:sp>
      <p:sp>
        <p:nvSpPr>
          <p:cNvPr id="98" name="Rectangle 97">
            <a:extLst>
              <a:ext uri="{FF2B5EF4-FFF2-40B4-BE49-F238E27FC236}">
                <a16:creationId xmlns:a16="http://schemas.microsoft.com/office/drawing/2014/main" id="{D23AE2CD-D18E-49F3-BE90-173C8602629A}"/>
              </a:ext>
            </a:extLst>
          </p:cNvPr>
          <p:cNvSpPr/>
          <p:nvPr/>
        </p:nvSpPr>
        <p:spPr>
          <a:xfrm>
            <a:off x="6837267" y="5785188"/>
            <a:ext cx="1408670" cy="57116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r-CA" dirty="0"/>
              <a:t>JVBRN</a:t>
            </a:r>
          </a:p>
        </p:txBody>
      </p:sp>
      <p:cxnSp>
        <p:nvCxnSpPr>
          <p:cNvPr id="102" name="Connecteur : en angle 101">
            <a:extLst>
              <a:ext uri="{FF2B5EF4-FFF2-40B4-BE49-F238E27FC236}">
                <a16:creationId xmlns:a16="http://schemas.microsoft.com/office/drawing/2014/main" id="{E19E6D54-B07C-40EF-8D25-8130C5A0C35D}"/>
              </a:ext>
            </a:extLst>
          </p:cNvPr>
          <p:cNvCxnSpPr>
            <a:stCxn id="32" idx="2"/>
            <a:endCxn id="98" idx="1"/>
          </p:cNvCxnSpPr>
          <p:nvPr/>
        </p:nvCxnSpPr>
        <p:spPr>
          <a:xfrm rot="16200000" flipH="1">
            <a:off x="4554156" y="3787659"/>
            <a:ext cx="1124980" cy="344124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05" name="Titre 1">
            <a:extLst>
              <a:ext uri="{FF2B5EF4-FFF2-40B4-BE49-F238E27FC236}">
                <a16:creationId xmlns:a16="http://schemas.microsoft.com/office/drawing/2014/main" id="{C48B0631-820D-4102-BAC0-6C1301B75959}"/>
              </a:ext>
            </a:extLst>
          </p:cNvPr>
          <p:cNvSpPr>
            <a:spLocks noGrp="1"/>
          </p:cNvSpPr>
          <p:nvPr>
            <p:ph type="title"/>
          </p:nvPr>
        </p:nvSpPr>
        <p:spPr>
          <a:xfrm>
            <a:off x="1981200" y="114475"/>
            <a:ext cx="8229600" cy="891222"/>
          </a:xfrm>
        </p:spPr>
        <p:txBody>
          <a:bodyPr/>
          <a:lstStyle/>
          <a:p>
            <a:r>
              <a:rPr lang="fr-CA" dirty="0"/>
              <a:t>Classement IFRS 9 - ACTIFS</a:t>
            </a:r>
          </a:p>
        </p:txBody>
      </p:sp>
      <p:sp>
        <p:nvSpPr>
          <p:cNvPr id="2" name="ZoneTexte 1"/>
          <p:cNvSpPr txBox="1"/>
          <p:nvPr/>
        </p:nvSpPr>
        <p:spPr>
          <a:xfrm>
            <a:off x="8837733" y="2910968"/>
            <a:ext cx="3055716" cy="3247043"/>
          </a:xfrm>
          <a:prstGeom prst="rect">
            <a:avLst/>
          </a:prstGeom>
          <a:noFill/>
        </p:spPr>
        <p:txBody>
          <a:bodyPr wrap="square" rtlCol="0">
            <a:spAutoFit/>
          </a:bodyPr>
          <a:lstStyle/>
          <a:p>
            <a:pPr marL="92075" lvl="1">
              <a:spcBef>
                <a:spcPts val="600"/>
              </a:spcBef>
              <a:buClr>
                <a:schemeClr val="accent2"/>
              </a:buClr>
              <a:buSzPct val="75000"/>
            </a:pPr>
            <a:r>
              <a:rPr lang="fr-CA" sz="2000" i="1" dirty="0"/>
              <a:t>Doit refléter un mode de gestion et non l’intention relative à un actif financier en particulier</a:t>
            </a:r>
          </a:p>
          <a:p>
            <a:pPr lvl="1">
              <a:spcBef>
                <a:spcPts val="600"/>
              </a:spcBef>
              <a:buClr>
                <a:schemeClr val="accent2"/>
              </a:buClr>
              <a:buSzPct val="75000"/>
              <a:buFont typeface="Arial" pitchFamily="34" charset="0"/>
              <a:buChar char="►"/>
            </a:pPr>
            <a:r>
              <a:rPr lang="fr-CA" sz="2000" i="1" dirty="0"/>
              <a:t>N’a pas besoin d’être unique au niveau de l’entité - le modèle d’affaires peut être spécifié au niveau d’un portefeuille.</a:t>
            </a:r>
            <a:endParaRPr lang="fr-CA" dirty="0"/>
          </a:p>
        </p:txBody>
      </p:sp>
      <p:sp>
        <p:nvSpPr>
          <p:cNvPr id="3" name="Espace réservé du pied de page 2">
            <a:extLst>
              <a:ext uri="{FF2B5EF4-FFF2-40B4-BE49-F238E27FC236}">
                <a16:creationId xmlns:a16="http://schemas.microsoft.com/office/drawing/2014/main" id="{039777C8-1768-4DCC-8357-5D77079CC32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269003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3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DF655B-946E-4BAB-AC40-6007FDB02578}"/>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D6FD9C32-B38F-49F2-AC34-7DCA8B8114C6}"/>
              </a:ext>
            </a:extLst>
          </p:cNvPr>
          <p:cNvSpPr>
            <a:spLocks noGrp="1"/>
          </p:cNvSpPr>
          <p:nvPr>
            <p:ph idx="1"/>
          </p:nvPr>
        </p:nvSpPr>
        <p:spPr/>
        <p:txBody>
          <a:bodyPr/>
          <a:lstStyle/>
          <a:p>
            <a:pPr marL="0" indent="0">
              <a:buNone/>
            </a:pPr>
            <a:r>
              <a:rPr lang="fr-CA" u="sng" dirty="0"/>
              <a:t>Au besoin</a:t>
            </a:r>
            <a:r>
              <a:rPr lang="fr-CA" dirty="0"/>
              <a:t>, débuter avec la revue du passif</a:t>
            </a:r>
          </a:p>
          <a:p>
            <a:pPr marL="0" indent="0">
              <a:buNone/>
            </a:pPr>
            <a:r>
              <a:rPr lang="fr-CA" i="1" dirty="0"/>
              <a:t>(section verte p. 80 et suivantes)</a:t>
            </a:r>
            <a:endParaRPr lang="fr-FR" i="1" dirty="0"/>
          </a:p>
        </p:txBody>
      </p:sp>
      <p:sp>
        <p:nvSpPr>
          <p:cNvPr id="4" name="Espace réservé du pied de page 3">
            <a:extLst>
              <a:ext uri="{FF2B5EF4-FFF2-40B4-BE49-F238E27FC236}">
                <a16:creationId xmlns:a16="http://schemas.microsoft.com/office/drawing/2014/main" id="{B465E1DD-D75F-4482-A889-F6071102AC64}"/>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787DA0FD-4B1C-4FCF-8B8E-7578FC7FF09C}"/>
              </a:ext>
            </a:extLst>
          </p:cNvPr>
          <p:cNvSpPr>
            <a:spLocks noGrp="1"/>
          </p:cNvSpPr>
          <p:nvPr>
            <p:ph type="sldNum" sz="quarter" idx="12"/>
          </p:nvPr>
        </p:nvSpPr>
        <p:spPr/>
        <p:txBody>
          <a:bodyPr/>
          <a:lstStyle/>
          <a:p>
            <a:fld id="{D5C8285E-D276-48ED-A38D-FCE3A7D9B93F}" type="slidenum">
              <a:rPr lang="fr-CA" smtClean="0"/>
              <a:t>17</a:t>
            </a:fld>
            <a:endParaRPr lang="fr-CA"/>
          </a:p>
        </p:txBody>
      </p:sp>
    </p:spTree>
    <p:extLst>
      <p:ext uri="{BB962C8B-B14F-4D97-AF65-F5344CB8AC3E}">
        <p14:creationId xmlns:p14="http://schemas.microsoft.com/office/powerpoint/2010/main" val="3487972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Calcul de coût amorti</a:t>
            </a:r>
          </a:p>
        </p:txBody>
      </p:sp>
      <p:sp>
        <p:nvSpPr>
          <p:cNvPr id="3" name="Espace réservé du contenu 2"/>
          <p:cNvSpPr>
            <a:spLocks noGrp="1"/>
          </p:cNvSpPr>
          <p:nvPr>
            <p:ph idx="1"/>
          </p:nvPr>
        </p:nvSpPr>
        <p:spPr/>
        <p:txBody>
          <a:bodyPr>
            <a:normAutofit/>
          </a:bodyPr>
          <a:lstStyle/>
          <a:p>
            <a:pPr marL="0" indent="0">
              <a:buNone/>
            </a:pPr>
            <a:r>
              <a:rPr lang="fr-CA" dirty="0"/>
              <a:t>ABC acquiert 15 obligations ayant une valeur nominale de 1 000 $ chacune, et paie 900 $ pour chaque obligation.</a:t>
            </a:r>
          </a:p>
          <a:p>
            <a:pPr marL="0" indent="0">
              <a:buNone/>
            </a:pPr>
            <a:r>
              <a:rPr lang="fr-CA" dirty="0"/>
              <a:t>Les obligations donnent droit à un intérêt annuel de 5 %, échéance dans 4 ans</a:t>
            </a:r>
          </a:p>
          <a:p>
            <a:pPr marL="0" indent="0">
              <a:buNone/>
            </a:pPr>
            <a:r>
              <a:rPr lang="fr-CA" i="1" dirty="0"/>
              <a:t>Déterminez la valeur comptable après un an (aux différentes années de détention).</a:t>
            </a:r>
          </a:p>
          <a:p>
            <a:pPr marL="0" indent="0">
              <a:buNone/>
            </a:pPr>
            <a:endParaRPr lang="fr-CA" i="1" dirty="0"/>
          </a:p>
          <a:p>
            <a:pPr>
              <a:buFont typeface="Wingdings" panose="05000000000000000000" pitchFamily="2" charset="2"/>
              <a:buChar char="Ø"/>
            </a:pPr>
            <a:r>
              <a:rPr lang="fr-CA" i="1" dirty="0">
                <a:highlight>
                  <a:srgbClr val="FFFF00"/>
                </a:highlight>
              </a:rPr>
              <a:t>Faire l’exercice sur Excel</a:t>
            </a:r>
          </a:p>
          <a:p>
            <a:pPr>
              <a:buFont typeface="Wingdings" panose="05000000000000000000" pitchFamily="2" charset="2"/>
              <a:buChar char="Ø"/>
            </a:pPr>
            <a:r>
              <a:rPr lang="fr-CA" i="1" dirty="0"/>
              <a:t>Et s’il y avait eu des frais d’émission?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18</a:t>
            </a:fld>
            <a:endParaRPr lang="fr-FR"/>
          </a:p>
        </p:txBody>
      </p:sp>
      <p:sp>
        <p:nvSpPr>
          <p:cNvPr id="5" name="Espace réservé du pied de page 4">
            <a:extLst>
              <a:ext uri="{FF2B5EF4-FFF2-40B4-BE49-F238E27FC236}">
                <a16:creationId xmlns:a16="http://schemas.microsoft.com/office/drawing/2014/main" id="{0441E204-DF54-4A4A-A1E1-AAD658AF0D3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973591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93CCD850-57C1-B143-82E0-6B89E4215FB0}" type="slidenum">
              <a:rPr lang="fr-FR" smtClean="0"/>
              <a:t>19</a:t>
            </a:fld>
            <a:endParaRPr lang="fr-FR"/>
          </a:p>
        </p:txBody>
      </p:sp>
      <p:sp>
        <p:nvSpPr>
          <p:cNvPr id="2" name="Espace réservé du pied de page 1">
            <a:extLst>
              <a:ext uri="{FF2B5EF4-FFF2-40B4-BE49-F238E27FC236}">
                <a16:creationId xmlns:a16="http://schemas.microsoft.com/office/drawing/2014/main" id="{65D4F113-A066-47F6-A2F1-9E7965FEA0FF}"/>
              </a:ext>
            </a:extLst>
          </p:cNvPr>
          <p:cNvSpPr>
            <a:spLocks noGrp="1"/>
          </p:cNvSpPr>
          <p:nvPr>
            <p:ph type="ftr" sz="quarter" idx="11"/>
          </p:nvPr>
        </p:nvSpPr>
        <p:spPr/>
        <p:txBody>
          <a:bodyPr/>
          <a:lstStyle/>
          <a:p>
            <a:r>
              <a:rPr lang="fr-CA"/>
              <a:t>Droits réservés - Louise Overbeek</a:t>
            </a:r>
          </a:p>
        </p:txBody>
      </p:sp>
      <p:sp>
        <p:nvSpPr>
          <p:cNvPr id="6" name="ZoneTexte 5">
            <a:extLst>
              <a:ext uri="{FF2B5EF4-FFF2-40B4-BE49-F238E27FC236}">
                <a16:creationId xmlns:a16="http://schemas.microsoft.com/office/drawing/2014/main" id="{C12D91C3-D1B6-4F7B-87DE-15ACAA4E48CD}"/>
              </a:ext>
            </a:extLst>
          </p:cNvPr>
          <p:cNvSpPr txBox="1"/>
          <p:nvPr/>
        </p:nvSpPr>
        <p:spPr>
          <a:xfrm>
            <a:off x="819807" y="5286703"/>
            <a:ext cx="10815145" cy="769441"/>
          </a:xfrm>
          <a:prstGeom prst="rect">
            <a:avLst/>
          </a:prstGeom>
          <a:noFill/>
        </p:spPr>
        <p:txBody>
          <a:bodyPr wrap="square" rtlCol="0">
            <a:spAutoFit/>
          </a:bodyPr>
          <a:lstStyle/>
          <a:p>
            <a:r>
              <a:rPr lang="fr-CA" sz="2200" i="1" dirty="0"/>
              <a:t>En jaune le solde de l’actif à chaque année</a:t>
            </a:r>
          </a:p>
          <a:p>
            <a:r>
              <a:rPr lang="fr-CA" sz="2200" i="1" dirty="0"/>
              <a:t>Frais d’émission : ajoutés au coût. Il aurait fallu refaire le TRI pour déterminer taux effectif</a:t>
            </a:r>
            <a:endParaRPr lang="fr-FR" sz="2200" i="1" dirty="0"/>
          </a:p>
        </p:txBody>
      </p:sp>
      <p:graphicFrame>
        <p:nvGraphicFramePr>
          <p:cNvPr id="7" name="Objet 6">
            <a:extLst>
              <a:ext uri="{FF2B5EF4-FFF2-40B4-BE49-F238E27FC236}">
                <a16:creationId xmlns:a16="http://schemas.microsoft.com/office/drawing/2014/main" id="{3CCCC0DB-9AA5-4DC4-97FA-7961748BF71D}"/>
              </a:ext>
            </a:extLst>
          </p:cNvPr>
          <p:cNvGraphicFramePr>
            <a:graphicFrameLocks noChangeAspect="1"/>
          </p:cNvGraphicFramePr>
          <p:nvPr>
            <p:extLst>
              <p:ext uri="{D42A27DB-BD31-4B8C-83A1-F6EECF244321}">
                <p14:modId xmlns:p14="http://schemas.microsoft.com/office/powerpoint/2010/main" val="3528293930"/>
              </p:ext>
            </p:extLst>
          </p:nvPr>
        </p:nvGraphicFramePr>
        <p:xfrm>
          <a:off x="709127" y="1986455"/>
          <a:ext cx="10687381" cy="2858814"/>
        </p:xfrm>
        <a:graphic>
          <a:graphicData uri="http://schemas.openxmlformats.org/presentationml/2006/ole">
            <mc:AlternateContent xmlns:mc="http://schemas.openxmlformats.org/markup-compatibility/2006">
              <mc:Choice xmlns:v="urn:schemas-microsoft-com:vml" Requires="v">
                <p:oleObj name="Worksheet" r:id="rId2" imgW="5626075" imgH="1504796" progId="Excel.Sheet.12">
                  <p:embed/>
                </p:oleObj>
              </mc:Choice>
              <mc:Fallback>
                <p:oleObj name="Worksheet" r:id="rId2" imgW="5626075" imgH="1504796" progId="Excel.Sheet.12">
                  <p:embed/>
                  <p:pic>
                    <p:nvPicPr>
                      <p:cNvPr id="7" name="Objet 6">
                        <a:extLst>
                          <a:ext uri="{FF2B5EF4-FFF2-40B4-BE49-F238E27FC236}">
                            <a16:creationId xmlns:a16="http://schemas.microsoft.com/office/drawing/2014/main" id="{3CCCC0DB-9AA5-4DC4-97FA-7961748BF71D}"/>
                          </a:ext>
                        </a:extLst>
                      </p:cNvPr>
                      <p:cNvPicPr/>
                      <p:nvPr/>
                    </p:nvPicPr>
                    <p:blipFill>
                      <a:blip r:embed="rId3"/>
                      <a:stretch>
                        <a:fillRect/>
                      </a:stretch>
                    </p:blipFill>
                    <p:spPr>
                      <a:xfrm>
                        <a:off x="709127" y="1986455"/>
                        <a:ext cx="10687381" cy="2858814"/>
                      </a:xfrm>
                      <a:prstGeom prst="rect">
                        <a:avLst/>
                      </a:prstGeom>
                    </p:spPr>
                  </p:pic>
                </p:oleObj>
              </mc:Fallback>
            </mc:AlternateContent>
          </a:graphicData>
        </a:graphic>
      </p:graphicFrame>
    </p:spTree>
    <p:extLst>
      <p:ext uri="{BB962C8B-B14F-4D97-AF65-F5344CB8AC3E}">
        <p14:creationId xmlns:p14="http://schemas.microsoft.com/office/powerpoint/2010/main" val="3571411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66952" y="274638"/>
            <a:ext cx="10300138" cy="891222"/>
          </a:xfrm>
        </p:spPr>
        <p:txBody>
          <a:bodyPr>
            <a:normAutofit/>
          </a:bodyPr>
          <a:lstStyle/>
          <a:p>
            <a:r>
              <a:rPr lang="fr-CA" dirty="0"/>
              <a:t>NCECF – </a:t>
            </a:r>
            <a:r>
              <a:rPr lang="fr-CA" sz="2400" dirty="0"/>
              <a:t>3856.11</a:t>
            </a:r>
          </a:p>
        </p:txBody>
      </p:sp>
      <p:sp>
        <p:nvSpPr>
          <p:cNvPr id="3" name="Espace réservé du contenu 2"/>
          <p:cNvSpPr>
            <a:spLocks noGrp="1"/>
          </p:cNvSpPr>
          <p:nvPr>
            <p:ph idx="1"/>
          </p:nvPr>
        </p:nvSpPr>
        <p:spPr>
          <a:xfrm>
            <a:off x="893379" y="1776248"/>
            <a:ext cx="10460421" cy="4487392"/>
          </a:xfrm>
        </p:spPr>
        <p:txBody>
          <a:bodyPr>
            <a:normAutofit/>
          </a:bodyPr>
          <a:lstStyle/>
          <a:p>
            <a:pPr marL="0" indent="0">
              <a:buNone/>
            </a:pPr>
            <a:r>
              <a:rPr lang="fr-CA" dirty="0"/>
              <a:t>Actifs financiers : </a:t>
            </a:r>
          </a:p>
          <a:p>
            <a:r>
              <a:rPr lang="fr-CA" dirty="0"/>
              <a:t>À la juste valeur </a:t>
            </a:r>
          </a:p>
          <a:p>
            <a:pPr lvl="1"/>
            <a:r>
              <a:rPr lang="fr-CA" dirty="0"/>
              <a:t>les placements dans des instruments de capitaux propres cotés sur un marché actif </a:t>
            </a:r>
          </a:p>
          <a:p>
            <a:pPr lvl="1"/>
            <a:r>
              <a:rPr lang="fr-CA" dirty="0"/>
              <a:t>les dérivés </a:t>
            </a:r>
          </a:p>
          <a:p>
            <a:pPr lvl="1"/>
            <a:endParaRPr lang="fr-CA" dirty="0"/>
          </a:p>
          <a:p>
            <a:r>
              <a:rPr lang="fr-CA" sz="3600" dirty="0"/>
              <a:t>Sinon</a:t>
            </a:r>
            <a:r>
              <a:rPr lang="fr-CA" dirty="0"/>
              <a:t>, au coût (amorti)</a:t>
            </a:r>
          </a:p>
          <a:p>
            <a:pPr lvl="1"/>
            <a:r>
              <a:rPr lang="fr-CA" dirty="0">
                <a:highlight>
                  <a:srgbClr val="FFFF00"/>
                </a:highlight>
              </a:rPr>
              <a:t>Choix méthode comptable : juste valeur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20</a:t>
            </a:fld>
            <a:endParaRPr lang="fr-FR"/>
          </a:p>
        </p:txBody>
      </p:sp>
      <p:sp>
        <p:nvSpPr>
          <p:cNvPr id="5" name="Espace réservé du pied de page 4">
            <a:extLst>
              <a:ext uri="{FF2B5EF4-FFF2-40B4-BE49-F238E27FC236}">
                <a16:creationId xmlns:a16="http://schemas.microsoft.com/office/drawing/2014/main" id="{FEF3BA8A-72D9-448F-A48B-25A8F582AC0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831408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61848" y="274638"/>
            <a:ext cx="10491952" cy="593407"/>
          </a:xfrm>
        </p:spPr>
        <p:txBody>
          <a:bodyPr>
            <a:noAutofit/>
          </a:bodyPr>
          <a:lstStyle/>
          <a:p>
            <a:r>
              <a:rPr lang="fr-CA" sz="3600" dirty="0"/>
              <a:t>Actifs financiers – IFRS et NCECF</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424414888"/>
              </p:ext>
            </p:extLst>
          </p:nvPr>
        </p:nvGraphicFramePr>
        <p:xfrm>
          <a:off x="851337" y="1581368"/>
          <a:ext cx="10491951" cy="4684446"/>
        </p:xfrm>
        <a:graphic>
          <a:graphicData uri="http://schemas.openxmlformats.org/drawingml/2006/table">
            <a:tbl>
              <a:tblPr firstRow="1" bandRow="1">
                <a:tableStyleId>{5C22544A-7EE6-4342-B048-85BDC9FD1C3A}</a:tableStyleId>
              </a:tblPr>
              <a:tblGrid>
                <a:gridCol w="3497317">
                  <a:extLst>
                    <a:ext uri="{9D8B030D-6E8A-4147-A177-3AD203B41FA5}">
                      <a16:colId xmlns:a16="http://schemas.microsoft.com/office/drawing/2014/main" val="20000"/>
                    </a:ext>
                  </a:extLst>
                </a:gridCol>
                <a:gridCol w="3497317">
                  <a:extLst>
                    <a:ext uri="{9D8B030D-6E8A-4147-A177-3AD203B41FA5}">
                      <a16:colId xmlns:a16="http://schemas.microsoft.com/office/drawing/2014/main" val="20001"/>
                    </a:ext>
                  </a:extLst>
                </a:gridCol>
                <a:gridCol w="3497317">
                  <a:extLst>
                    <a:ext uri="{9D8B030D-6E8A-4147-A177-3AD203B41FA5}">
                      <a16:colId xmlns:a16="http://schemas.microsoft.com/office/drawing/2014/main" val="20002"/>
                    </a:ext>
                  </a:extLst>
                </a:gridCol>
              </a:tblGrid>
              <a:tr h="370840">
                <a:tc>
                  <a:txBody>
                    <a:bodyPr/>
                    <a:lstStyle/>
                    <a:p>
                      <a:endParaRPr lang="fr-CA" dirty="0"/>
                    </a:p>
                  </a:txBody>
                  <a:tcPr/>
                </a:tc>
                <a:tc>
                  <a:txBody>
                    <a:bodyPr/>
                    <a:lstStyle/>
                    <a:p>
                      <a:r>
                        <a:rPr lang="fr-CA" dirty="0"/>
                        <a:t>Coût d’acquisition pendant</a:t>
                      </a:r>
                      <a:r>
                        <a:rPr lang="fr-CA" baseline="0" dirty="0"/>
                        <a:t> l’exercice</a:t>
                      </a:r>
                      <a:endParaRPr lang="fr-CA" dirty="0"/>
                    </a:p>
                  </a:txBody>
                  <a:tcPr/>
                </a:tc>
                <a:tc>
                  <a:txBody>
                    <a:bodyPr/>
                    <a:lstStyle/>
                    <a:p>
                      <a:r>
                        <a:rPr lang="fr-CA" dirty="0"/>
                        <a:t>Juste valeur en fin d’exercice (de période)</a:t>
                      </a:r>
                    </a:p>
                  </a:txBody>
                  <a:tcPr/>
                </a:tc>
                <a:extLst>
                  <a:ext uri="{0D108BD9-81ED-4DB2-BD59-A6C34878D82A}">
                    <a16:rowId xmlns:a16="http://schemas.microsoft.com/office/drawing/2014/main" val="10000"/>
                  </a:ext>
                </a:extLst>
              </a:tr>
              <a:tr h="370840">
                <a:tc>
                  <a:txBody>
                    <a:bodyPr/>
                    <a:lstStyle/>
                    <a:p>
                      <a:r>
                        <a:rPr lang="fr-CA" dirty="0"/>
                        <a:t>Placements boursiers –</a:t>
                      </a:r>
                      <a:r>
                        <a:rPr lang="fr-CA" baseline="0" dirty="0"/>
                        <a:t> pour transiger selon les opportunités de marché</a:t>
                      </a:r>
                      <a:endParaRPr lang="fr-CA" dirty="0"/>
                    </a:p>
                  </a:txBody>
                  <a:tcPr/>
                </a:tc>
                <a:tc>
                  <a:txBody>
                    <a:bodyPr/>
                    <a:lstStyle/>
                    <a:p>
                      <a:r>
                        <a:rPr lang="fr-CA" dirty="0"/>
                        <a:t>100 actions à 40$ / action</a:t>
                      </a:r>
                    </a:p>
                    <a:p>
                      <a:r>
                        <a:rPr lang="fr-CA" dirty="0"/>
                        <a:t>Frais</a:t>
                      </a:r>
                      <a:r>
                        <a:rPr lang="fr-CA" baseline="0" dirty="0"/>
                        <a:t> de transaction de 45 $</a:t>
                      </a:r>
                      <a:endParaRPr lang="fr-CA" dirty="0"/>
                    </a:p>
                  </a:txBody>
                  <a:tcPr/>
                </a:tc>
                <a:tc>
                  <a:txBody>
                    <a:bodyPr/>
                    <a:lstStyle/>
                    <a:p>
                      <a:r>
                        <a:rPr lang="fr-CA" dirty="0"/>
                        <a:t>Cours : 42 $ /action</a:t>
                      </a:r>
                    </a:p>
                  </a:txBody>
                  <a:tcPr/>
                </a:tc>
                <a:extLst>
                  <a:ext uri="{0D108BD9-81ED-4DB2-BD59-A6C34878D82A}">
                    <a16:rowId xmlns:a16="http://schemas.microsoft.com/office/drawing/2014/main" val="100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dirty="0"/>
                        <a:t>Placements boursiers –</a:t>
                      </a:r>
                      <a:r>
                        <a:rPr lang="fr-CA" baseline="0" dirty="0"/>
                        <a:t> pour conserver pour les rendements courants et plus-value</a:t>
                      </a:r>
                      <a:endParaRPr lang="fr-CA" dirty="0"/>
                    </a:p>
                  </a:txBody>
                  <a:tcPr/>
                </a:tc>
                <a:tc>
                  <a:txBody>
                    <a:bodyPr/>
                    <a:lstStyle/>
                    <a:p>
                      <a:r>
                        <a:rPr lang="fr-CA" dirty="0"/>
                        <a:t>100 actions à 60$ / action</a:t>
                      </a:r>
                    </a:p>
                    <a:p>
                      <a:r>
                        <a:rPr lang="fr-CA" dirty="0"/>
                        <a:t>Frais</a:t>
                      </a:r>
                      <a:r>
                        <a:rPr lang="fr-CA" baseline="0" dirty="0"/>
                        <a:t> de transaction de 45 $</a:t>
                      </a:r>
                      <a:endParaRPr lang="fr-CA" dirty="0"/>
                    </a:p>
                  </a:txBody>
                  <a:tcPr/>
                </a:tc>
                <a:tc>
                  <a:txBody>
                    <a:bodyPr/>
                    <a:lstStyle/>
                    <a:p>
                      <a:r>
                        <a:rPr lang="fr-CA" dirty="0"/>
                        <a:t>Cours : 63 $ /action</a:t>
                      </a:r>
                    </a:p>
                  </a:txBody>
                  <a:tcPr/>
                </a:tc>
                <a:extLst>
                  <a:ext uri="{0D108BD9-81ED-4DB2-BD59-A6C34878D82A}">
                    <a16:rowId xmlns:a16="http://schemas.microsoft.com/office/drawing/2014/main" val="10002"/>
                  </a:ext>
                </a:extLst>
              </a:tr>
              <a:tr h="868680">
                <a:tc>
                  <a:txBody>
                    <a:bodyPr/>
                    <a:lstStyle/>
                    <a:p>
                      <a:r>
                        <a:rPr lang="fr-CA" dirty="0"/>
                        <a:t>Obligations</a:t>
                      </a:r>
                    </a:p>
                    <a:p>
                      <a:r>
                        <a:rPr lang="fr-CA" dirty="0"/>
                        <a:t>(intention de conserver jusqu’à l’échéance)</a:t>
                      </a:r>
                    </a:p>
                  </a:txBody>
                  <a:tcPr/>
                </a:tc>
                <a:tc>
                  <a:txBody>
                    <a:bodyPr/>
                    <a:lstStyle/>
                    <a:p>
                      <a:r>
                        <a:rPr lang="fr-CA" dirty="0"/>
                        <a:t>Achat le 1</a:t>
                      </a:r>
                      <a:r>
                        <a:rPr lang="fr-CA" baseline="30000" dirty="0"/>
                        <a:t>er</a:t>
                      </a:r>
                      <a:r>
                        <a:rPr lang="fr-CA" dirty="0"/>
                        <a:t> janvier : 15</a:t>
                      </a:r>
                      <a:r>
                        <a:rPr lang="fr-CA" baseline="0" dirty="0"/>
                        <a:t> obligations de 1000$, donnant droit à un intérêt annuel de 5%, échéance dans 4 ans</a:t>
                      </a:r>
                    </a:p>
                    <a:p>
                      <a:r>
                        <a:rPr lang="fr-CA" baseline="0" dirty="0"/>
                        <a:t>Payés 900 $ par obligation</a:t>
                      </a:r>
                      <a:endParaRPr lang="fr-CA" dirty="0"/>
                    </a:p>
                  </a:txBody>
                  <a:tcPr/>
                </a:tc>
                <a:tc>
                  <a:txBody>
                    <a:bodyPr/>
                    <a:lstStyle/>
                    <a:p>
                      <a:r>
                        <a:rPr lang="fr-CA" dirty="0"/>
                        <a:t>960 $ </a:t>
                      </a:r>
                    </a:p>
                  </a:txBody>
                  <a:tcPr/>
                </a:tc>
                <a:extLst>
                  <a:ext uri="{0D108BD9-81ED-4DB2-BD59-A6C34878D82A}">
                    <a16:rowId xmlns:a16="http://schemas.microsoft.com/office/drawing/2014/main" val="10003"/>
                  </a:ext>
                </a:extLst>
              </a:tr>
              <a:tr h="752526">
                <a:tc>
                  <a:txBody>
                    <a:bodyPr/>
                    <a:lstStyle/>
                    <a:p>
                      <a:r>
                        <a:rPr lang="fr-CA" dirty="0"/>
                        <a:t>Placement 10 % dans une entreprise</a:t>
                      </a:r>
                      <a:r>
                        <a:rPr lang="fr-CA" baseline="0" dirty="0"/>
                        <a:t> à capital fermé </a:t>
                      </a:r>
                      <a:endParaRPr lang="fr-CA" dirty="0"/>
                    </a:p>
                  </a:txBody>
                  <a:tcPr/>
                </a:tc>
                <a:tc>
                  <a:txBody>
                    <a:bodyPr/>
                    <a:lstStyle/>
                    <a:p>
                      <a:r>
                        <a:rPr lang="fr-CA" dirty="0"/>
                        <a:t>1000 actions à 200$ / action</a:t>
                      </a:r>
                    </a:p>
                    <a:p>
                      <a:r>
                        <a:rPr lang="fr-CA" dirty="0"/>
                        <a:t>Frais</a:t>
                      </a:r>
                      <a:r>
                        <a:rPr lang="fr-CA" baseline="0" dirty="0"/>
                        <a:t> de transaction de 45 $</a:t>
                      </a:r>
                      <a:endParaRPr lang="fr-CA" dirty="0"/>
                    </a:p>
                  </a:txBody>
                  <a:tcPr/>
                </a:tc>
                <a:tc>
                  <a:txBody>
                    <a:bodyPr/>
                    <a:lstStyle/>
                    <a:p>
                      <a:r>
                        <a:rPr lang="fr-CA" dirty="0"/>
                        <a:t>Juste valeur établie à 210$ /action</a:t>
                      </a:r>
                    </a:p>
                  </a:txBody>
                  <a:tcPr/>
                </a:tc>
                <a:extLst>
                  <a:ext uri="{0D108BD9-81ED-4DB2-BD59-A6C34878D82A}">
                    <a16:rowId xmlns:a16="http://schemas.microsoft.com/office/drawing/2014/main" val="10004"/>
                  </a:ext>
                </a:extLst>
              </a:tr>
            </a:tbl>
          </a:graphicData>
        </a:graphic>
      </p:graphicFrame>
      <p:sp>
        <p:nvSpPr>
          <p:cNvPr id="4" name="Espace réservé du numéro de diapositive 3"/>
          <p:cNvSpPr>
            <a:spLocks noGrp="1"/>
          </p:cNvSpPr>
          <p:nvPr>
            <p:ph type="sldNum" sz="quarter" idx="12"/>
          </p:nvPr>
        </p:nvSpPr>
        <p:spPr/>
        <p:txBody>
          <a:bodyPr/>
          <a:lstStyle/>
          <a:p>
            <a:fld id="{93CCD850-57C1-B143-82E0-6B89E4215FB0}" type="slidenum">
              <a:rPr lang="fr-FR" smtClean="0"/>
              <a:t>21</a:t>
            </a:fld>
            <a:endParaRPr lang="fr-FR"/>
          </a:p>
        </p:txBody>
      </p:sp>
      <p:sp>
        <p:nvSpPr>
          <p:cNvPr id="6" name="ZoneTexte 5">
            <a:extLst>
              <a:ext uri="{FF2B5EF4-FFF2-40B4-BE49-F238E27FC236}">
                <a16:creationId xmlns:a16="http://schemas.microsoft.com/office/drawing/2014/main" id="{BA26D086-462F-4501-8B1B-5F95F897B1E7}"/>
              </a:ext>
            </a:extLst>
          </p:cNvPr>
          <p:cNvSpPr txBox="1"/>
          <p:nvPr/>
        </p:nvSpPr>
        <p:spPr>
          <a:xfrm>
            <a:off x="861848" y="881331"/>
            <a:ext cx="9632565" cy="461665"/>
          </a:xfrm>
          <a:prstGeom prst="rect">
            <a:avLst/>
          </a:prstGeom>
          <a:noFill/>
        </p:spPr>
        <p:txBody>
          <a:bodyPr wrap="square" rtlCol="0">
            <a:spAutoFit/>
          </a:bodyPr>
          <a:lstStyle/>
          <a:p>
            <a:pPr marL="285750" indent="-285750">
              <a:buFont typeface="Wingdings" panose="05000000000000000000" pitchFamily="2" charset="2"/>
              <a:buChar char="Ø"/>
            </a:pPr>
            <a:r>
              <a:rPr lang="fr-CA" sz="2400" i="1" dirty="0">
                <a:solidFill>
                  <a:srgbClr val="00B0F0"/>
                </a:solidFill>
              </a:rPr>
              <a:t>Déterminer comptabilisation initiale et subséquente</a:t>
            </a:r>
            <a:r>
              <a:rPr lang="fr-CA" sz="2000" i="1" dirty="0">
                <a:solidFill>
                  <a:srgbClr val="00B0F0"/>
                </a:solidFill>
              </a:rPr>
              <a:t>.</a:t>
            </a:r>
            <a:endParaRPr lang="fr-FR" sz="2000" i="1" dirty="0">
              <a:solidFill>
                <a:srgbClr val="00B0F0"/>
              </a:solidFill>
            </a:endParaRPr>
          </a:p>
        </p:txBody>
      </p:sp>
      <p:sp>
        <p:nvSpPr>
          <p:cNvPr id="3" name="Espace réservé du pied de page 2">
            <a:extLst>
              <a:ext uri="{FF2B5EF4-FFF2-40B4-BE49-F238E27FC236}">
                <a16:creationId xmlns:a16="http://schemas.microsoft.com/office/drawing/2014/main" id="{3CAC3256-C69A-4215-AF8F-C5EB1143094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206108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903890" y="274638"/>
            <a:ext cx="10449910" cy="482600"/>
          </a:xfrm>
        </p:spPr>
        <p:txBody>
          <a:bodyPr>
            <a:normAutofit fontScale="90000"/>
          </a:bodyPr>
          <a:lstStyle/>
          <a:p>
            <a:r>
              <a:rPr lang="fr-CA" dirty="0"/>
              <a:t>Actifs financiers – IFRS et NCECF</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2882918685"/>
              </p:ext>
            </p:extLst>
          </p:nvPr>
        </p:nvGraphicFramePr>
        <p:xfrm>
          <a:off x="903890" y="1244888"/>
          <a:ext cx="10449910" cy="5381993"/>
        </p:xfrm>
        <a:graphic>
          <a:graphicData uri="http://schemas.openxmlformats.org/drawingml/2006/table">
            <a:tbl>
              <a:tblPr firstRow="1" bandRow="1">
                <a:tableStyleId>{5C22544A-7EE6-4342-B048-85BDC9FD1C3A}</a:tableStyleId>
              </a:tblPr>
              <a:tblGrid>
                <a:gridCol w="3094650">
                  <a:extLst>
                    <a:ext uri="{9D8B030D-6E8A-4147-A177-3AD203B41FA5}">
                      <a16:colId xmlns:a16="http://schemas.microsoft.com/office/drawing/2014/main" val="20000"/>
                    </a:ext>
                  </a:extLst>
                </a:gridCol>
                <a:gridCol w="4374734">
                  <a:extLst>
                    <a:ext uri="{9D8B030D-6E8A-4147-A177-3AD203B41FA5}">
                      <a16:colId xmlns:a16="http://schemas.microsoft.com/office/drawing/2014/main" val="20001"/>
                    </a:ext>
                  </a:extLst>
                </a:gridCol>
                <a:gridCol w="2980526">
                  <a:extLst>
                    <a:ext uri="{9D8B030D-6E8A-4147-A177-3AD203B41FA5}">
                      <a16:colId xmlns:a16="http://schemas.microsoft.com/office/drawing/2014/main" val="20002"/>
                    </a:ext>
                  </a:extLst>
                </a:gridCol>
              </a:tblGrid>
              <a:tr h="358534">
                <a:tc>
                  <a:txBody>
                    <a:bodyPr/>
                    <a:lstStyle/>
                    <a:p>
                      <a:endParaRPr lang="fr-CA" dirty="0"/>
                    </a:p>
                  </a:txBody>
                  <a:tcPr/>
                </a:tc>
                <a:tc>
                  <a:txBody>
                    <a:bodyPr/>
                    <a:lstStyle/>
                    <a:p>
                      <a:r>
                        <a:rPr lang="fr-CA" dirty="0"/>
                        <a:t>IFRS</a:t>
                      </a:r>
                    </a:p>
                  </a:txBody>
                  <a:tcPr/>
                </a:tc>
                <a:tc>
                  <a:txBody>
                    <a:bodyPr/>
                    <a:lstStyle/>
                    <a:p>
                      <a:r>
                        <a:rPr lang="fr-CA" dirty="0"/>
                        <a:t>NCECF</a:t>
                      </a:r>
                    </a:p>
                  </a:txBody>
                  <a:tcPr/>
                </a:tc>
                <a:extLst>
                  <a:ext uri="{0D108BD9-81ED-4DB2-BD59-A6C34878D82A}">
                    <a16:rowId xmlns:a16="http://schemas.microsoft.com/office/drawing/2014/main" val="10000"/>
                  </a:ext>
                </a:extLst>
              </a:tr>
              <a:tr h="997818">
                <a:tc>
                  <a:txBody>
                    <a:bodyPr/>
                    <a:lstStyle/>
                    <a:p>
                      <a:r>
                        <a:rPr lang="fr-CA" dirty="0"/>
                        <a:t>Placements boursiers –</a:t>
                      </a:r>
                      <a:r>
                        <a:rPr lang="fr-CA" baseline="0" dirty="0"/>
                        <a:t> pour transiger selon les opportunités de marché</a:t>
                      </a:r>
                      <a:endParaRPr lang="fr-CA" dirty="0"/>
                    </a:p>
                  </a:txBody>
                  <a:tcPr/>
                </a:tc>
                <a:tc>
                  <a:txBody>
                    <a:bodyPr/>
                    <a:lstStyle/>
                    <a:p>
                      <a:r>
                        <a:rPr lang="fr-CA" dirty="0"/>
                        <a:t>ICP – JVBRN</a:t>
                      </a:r>
                    </a:p>
                    <a:p>
                      <a:r>
                        <a:rPr lang="fr-CA" dirty="0"/>
                        <a:t>Initial : 4 000 $ (frais en charge)</a:t>
                      </a:r>
                    </a:p>
                    <a:p>
                      <a:r>
                        <a:rPr lang="fr-CA" dirty="0"/>
                        <a:t>Ultérieure : 4 200 $ (JV)</a:t>
                      </a:r>
                    </a:p>
                  </a:txBody>
                  <a:tcPr/>
                </a:tc>
                <a:tc>
                  <a:txBody>
                    <a:bodyPr/>
                    <a:lstStyle/>
                    <a:p>
                      <a:r>
                        <a:rPr lang="fr-CA" dirty="0"/>
                        <a:t>ICP coté sur un marché actif  - JV</a:t>
                      </a:r>
                    </a:p>
                    <a:p>
                      <a:r>
                        <a:rPr lang="fr-CA" dirty="0"/>
                        <a:t>idem</a:t>
                      </a:r>
                    </a:p>
                  </a:txBody>
                  <a:tcPr/>
                </a:tc>
                <a:extLst>
                  <a:ext uri="{0D108BD9-81ED-4DB2-BD59-A6C34878D82A}">
                    <a16:rowId xmlns:a16="http://schemas.microsoft.com/office/drawing/2014/main" val="10001"/>
                  </a:ext>
                </a:extLst>
              </a:tr>
              <a:tr h="143413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dirty="0"/>
                        <a:t>Placements boursiers –</a:t>
                      </a:r>
                      <a:r>
                        <a:rPr lang="fr-CA" baseline="0" dirty="0"/>
                        <a:t> pour conserver pour les rendements courants et plus-value</a:t>
                      </a:r>
                      <a:endParaRPr lang="fr-CA" dirty="0"/>
                    </a:p>
                  </a:txBody>
                  <a:tcPr/>
                </a:tc>
                <a:tc>
                  <a:txBody>
                    <a:bodyPr/>
                    <a:lstStyle/>
                    <a:p>
                      <a:r>
                        <a:rPr lang="fr-CA" dirty="0"/>
                        <a:t>ICP – JVBRN sauf si choix JVBRG</a:t>
                      </a:r>
                    </a:p>
                    <a:p>
                      <a:r>
                        <a:rPr lang="fr-CA" dirty="0"/>
                        <a:t>Initial : 6 000 $ (frais en charge)</a:t>
                      </a:r>
                    </a:p>
                    <a:p>
                      <a:r>
                        <a:rPr lang="fr-CA" dirty="0"/>
                        <a:t>Ultérieure: 6 300 $</a:t>
                      </a:r>
                    </a:p>
                    <a:p>
                      <a:r>
                        <a:rPr lang="fr-CA" i="1" dirty="0"/>
                        <a:t>Si choix </a:t>
                      </a:r>
                      <a:r>
                        <a:rPr lang="fr-CA" dirty="0"/>
                        <a:t>: 6 045</a:t>
                      </a:r>
                      <a:r>
                        <a:rPr lang="fr-CA" baseline="0" dirty="0"/>
                        <a:t> $/ 6 300 $ (ajustement au AERG)</a:t>
                      </a:r>
                      <a:endParaRPr lang="fr-CA" dirty="0"/>
                    </a:p>
                  </a:txBody>
                  <a:tcPr/>
                </a:tc>
                <a:tc>
                  <a:txBody>
                    <a:bodyPr/>
                    <a:lstStyle/>
                    <a:p>
                      <a:r>
                        <a:rPr lang="fr-CA" dirty="0"/>
                        <a:t>ICP coté sur un marché actif  - JV</a:t>
                      </a:r>
                    </a:p>
                    <a:p>
                      <a:r>
                        <a:rPr lang="fr-CA" dirty="0"/>
                        <a:t>idem</a:t>
                      </a:r>
                    </a:p>
                  </a:txBody>
                  <a:tcPr/>
                </a:tc>
                <a:extLst>
                  <a:ext uri="{0D108BD9-81ED-4DB2-BD59-A6C34878D82A}">
                    <a16:rowId xmlns:a16="http://schemas.microsoft.com/office/drawing/2014/main" val="10002"/>
                  </a:ext>
                </a:extLst>
              </a:tr>
              <a:tr h="1165235">
                <a:tc>
                  <a:txBody>
                    <a:bodyPr/>
                    <a:lstStyle/>
                    <a:p>
                      <a:r>
                        <a:rPr lang="fr-CA" dirty="0"/>
                        <a:t>Obligations</a:t>
                      </a:r>
                    </a:p>
                    <a:p>
                      <a:r>
                        <a:rPr lang="fr-CA" dirty="0"/>
                        <a:t>(intention de conserver jusqu’à l’échéance)</a:t>
                      </a:r>
                    </a:p>
                  </a:txBody>
                  <a:tcPr/>
                </a:tc>
                <a:tc>
                  <a:txBody>
                    <a:bodyPr/>
                    <a:lstStyle/>
                    <a:p>
                      <a:r>
                        <a:rPr lang="fr-CA" dirty="0"/>
                        <a:t>FT = principal et intérêt, pour FT – Coût amorti, taux effectif</a:t>
                      </a:r>
                    </a:p>
                    <a:p>
                      <a:r>
                        <a:rPr lang="fr-CA" dirty="0"/>
                        <a:t>Initial: 13 500 $</a:t>
                      </a:r>
                    </a:p>
                    <a:p>
                      <a:r>
                        <a:rPr lang="fr-CA" dirty="0"/>
                        <a:t>Ultérieure : Voir exemple précédent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dirty="0"/>
                        <a:t>idem</a:t>
                      </a:r>
                    </a:p>
                    <a:p>
                      <a:endParaRPr lang="fr-CA" dirty="0"/>
                    </a:p>
                  </a:txBody>
                  <a:tcPr/>
                </a:tc>
                <a:extLst>
                  <a:ext uri="{0D108BD9-81ED-4DB2-BD59-A6C34878D82A}">
                    <a16:rowId xmlns:a16="http://schemas.microsoft.com/office/drawing/2014/main" val="10003"/>
                  </a:ext>
                </a:extLst>
              </a:tr>
              <a:tr h="1366655">
                <a:tc>
                  <a:txBody>
                    <a:bodyPr/>
                    <a:lstStyle/>
                    <a:p>
                      <a:r>
                        <a:rPr lang="fr-CA" dirty="0"/>
                        <a:t>Placement 10 % dans une entreprise</a:t>
                      </a:r>
                      <a:r>
                        <a:rPr lang="fr-CA" baseline="0" dirty="0"/>
                        <a:t> à capital fermé </a:t>
                      </a:r>
                      <a:endParaRPr lang="fr-CA"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dirty="0"/>
                        <a:t>ICP – JVBRN sauf si choix JVBRG</a:t>
                      </a:r>
                    </a:p>
                    <a:p>
                      <a:r>
                        <a:rPr lang="fr-CA" dirty="0"/>
                        <a:t>Initial : 200 000 $ (frais en charge)</a:t>
                      </a:r>
                    </a:p>
                    <a:p>
                      <a:r>
                        <a:rPr lang="fr-CA" dirty="0"/>
                        <a:t>Ultérieure: 210 000 $</a:t>
                      </a:r>
                    </a:p>
                  </a:txBody>
                  <a:tcPr/>
                </a:tc>
                <a:tc>
                  <a:txBody>
                    <a:bodyPr/>
                    <a:lstStyle/>
                    <a:p>
                      <a:r>
                        <a:rPr lang="fr-CA" dirty="0"/>
                        <a:t>Coût, choix JV</a:t>
                      </a:r>
                    </a:p>
                    <a:p>
                      <a:r>
                        <a:rPr lang="fr-CA" dirty="0"/>
                        <a:t>Initial : 200 045 $</a:t>
                      </a:r>
                    </a:p>
                    <a:p>
                      <a:r>
                        <a:rPr lang="fr-CA" dirty="0"/>
                        <a:t>Ultérieure : 200 045 $</a:t>
                      </a:r>
                    </a:p>
                    <a:p>
                      <a:r>
                        <a:rPr lang="fr-CA" i="1" dirty="0"/>
                        <a:t>Choix JV</a:t>
                      </a:r>
                    </a:p>
                  </a:txBody>
                  <a:tcPr/>
                </a:tc>
                <a:extLst>
                  <a:ext uri="{0D108BD9-81ED-4DB2-BD59-A6C34878D82A}">
                    <a16:rowId xmlns:a16="http://schemas.microsoft.com/office/drawing/2014/main" val="10004"/>
                  </a:ext>
                </a:extLst>
              </a:tr>
            </a:tbl>
          </a:graphicData>
        </a:graphic>
      </p:graphicFrame>
      <p:sp>
        <p:nvSpPr>
          <p:cNvPr id="4" name="Espace réservé du numéro de diapositive 3"/>
          <p:cNvSpPr>
            <a:spLocks noGrp="1"/>
          </p:cNvSpPr>
          <p:nvPr>
            <p:ph type="sldNum" sz="quarter" idx="12"/>
          </p:nvPr>
        </p:nvSpPr>
        <p:spPr/>
        <p:txBody>
          <a:bodyPr/>
          <a:lstStyle/>
          <a:p>
            <a:fld id="{93CCD850-57C1-B143-82E0-6B89E4215FB0}" type="slidenum">
              <a:rPr lang="fr-FR" smtClean="0"/>
              <a:t>22</a:t>
            </a:fld>
            <a:endParaRPr lang="fr-FR"/>
          </a:p>
        </p:txBody>
      </p:sp>
      <p:sp>
        <p:nvSpPr>
          <p:cNvPr id="3" name="Espace réservé du pied de page 2">
            <a:extLst>
              <a:ext uri="{FF2B5EF4-FFF2-40B4-BE49-F238E27FC236}">
                <a16:creationId xmlns:a16="http://schemas.microsoft.com/office/drawing/2014/main" id="{6939D575-DC45-4383-AC10-B3C20305D47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259168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D3A4C0-B678-4A4D-AB6E-A6D7AD0CD216}"/>
              </a:ext>
            </a:extLst>
          </p:cNvPr>
          <p:cNvSpPr>
            <a:spLocks noGrp="1"/>
          </p:cNvSpPr>
          <p:nvPr>
            <p:ph type="title"/>
          </p:nvPr>
        </p:nvSpPr>
        <p:spPr/>
        <p:txBody>
          <a:bodyPr/>
          <a:lstStyle/>
          <a:p>
            <a:r>
              <a:rPr lang="fr-CA" dirty="0"/>
              <a:t>EFC</a:t>
            </a:r>
            <a:endParaRPr lang="fr-FR" dirty="0"/>
          </a:p>
        </p:txBody>
      </p:sp>
      <p:sp>
        <p:nvSpPr>
          <p:cNvPr id="3" name="Espace réservé du contenu 2">
            <a:extLst>
              <a:ext uri="{FF2B5EF4-FFF2-40B4-BE49-F238E27FC236}">
                <a16:creationId xmlns:a16="http://schemas.microsoft.com/office/drawing/2014/main" id="{3DB938B7-8A7C-400D-AED5-99D861B274CA}"/>
              </a:ext>
            </a:extLst>
          </p:cNvPr>
          <p:cNvSpPr>
            <a:spLocks noGrp="1"/>
          </p:cNvSpPr>
          <p:nvPr>
            <p:ph idx="1"/>
          </p:nvPr>
        </p:nvSpPr>
        <p:spPr/>
        <p:txBody>
          <a:bodyPr/>
          <a:lstStyle/>
          <a:p>
            <a:r>
              <a:rPr lang="fr-CA" dirty="0"/>
              <a:t>Classement du placement</a:t>
            </a:r>
          </a:p>
          <a:p>
            <a:r>
              <a:rPr lang="fr-CA" dirty="0"/>
              <a:t>Mesure du placement</a:t>
            </a:r>
            <a:endParaRPr lang="fr-FR" dirty="0"/>
          </a:p>
        </p:txBody>
      </p:sp>
      <p:sp>
        <p:nvSpPr>
          <p:cNvPr id="4" name="Espace réservé du pied de page 3">
            <a:extLst>
              <a:ext uri="{FF2B5EF4-FFF2-40B4-BE49-F238E27FC236}">
                <a16:creationId xmlns:a16="http://schemas.microsoft.com/office/drawing/2014/main" id="{1368B8F7-A6E8-4B5E-BE19-63A970FAB116}"/>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42F89170-BBCB-45EB-8C22-2FDAAFAD0EAC}"/>
              </a:ext>
            </a:extLst>
          </p:cNvPr>
          <p:cNvSpPr>
            <a:spLocks noGrp="1"/>
          </p:cNvSpPr>
          <p:nvPr>
            <p:ph type="sldNum" sz="quarter" idx="12"/>
          </p:nvPr>
        </p:nvSpPr>
        <p:spPr/>
        <p:txBody>
          <a:bodyPr/>
          <a:lstStyle/>
          <a:p>
            <a:fld id="{D5C8285E-D276-48ED-A38D-FCE3A7D9B93F}" type="slidenum">
              <a:rPr lang="fr-CA" smtClean="0"/>
              <a:t>23</a:t>
            </a:fld>
            <a:endParaRPr lang="fr-CA"/>
          </a:p>
        </p:txBody>
      </p:sp>
    </p:spTree>
    <p:extLst>
      <p:ext uri="{BB962C8B-B14F-4D97-AF65-F5344CB8AC3E}">
        <p14:creationId xmlns:p14="http://schemas.microsoft.com/office/powerpoint/2010/main" val="2252511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Questions</a:t>
            </a:r>
          </a:p>
        </p:txBody>
      </p:sp>
      <p:sp>
        <p:nvSpPr>
          <p:cNvPr id="3" name="Espace réservé du contenu 2"/>
          <p:cNvSpPr>
            <a:spLocks noGrp="1"/>
          </p:cNvSpPr>
          <p:nvPr>
            <p:ph idx="1"/>
          </p:nvPr>
        </p:nvSpPr>
        <p:spPr/>
        <p:txBody>
          <a:bodyPr>
            <a:normAutofit/>
          </a:bodyPr>
          <a:lstStyle/>
          <a:p>
            <a:pPr marL="0" indent="0">
              <a:buNone/>
            </a:pPr>
            <a:r>
              <a:rPr lang="fr-CA" dirty="0"/>
              <a:t>A) Prêt sans intérêts (faible taux) à un employé</a:t>
            </a:r>
          </a:p>
          <a:p>
            <a:pPr lvl="2"/>
            <a:r>
              <a:rPr lang="fr-CA" dirty="0">
                <a:solidFill>
                  <a:srgbClr val="0000FF"/>
                </a:solidFill>
              </a:rPr>
              <a:t>Prêt 2 000 $, 2 ans, 0 % alors que marché 8 %</a:t>
            </a:r>
          </a:p>
          <a:p>
            <a:pPr marL="457200" lvl="1" indent="0">
              <a:buNone/>
            </a:pPr>
            <a:endParaRPr lang="fr-CA" dirty="0"/>
          </a:p>
          <a:p>
            <a:pPr marL="0" indent="0">
              <a:buNone/>
            </a:pPr>
            <a:r>
              <a:rPr lang="fr-CA" dirty="0"/>
              <a:t>B) Report paiement créance par un client. La société accorde rarement un report de paiement à ses clients.</a:t>
            </a:r>
          </a:p>
          <a:p>
            <a:pPr lvl="2"/>
            <a:r>
              <a:rPr lang="fr-CA" dirty="0">
                <a:solidFill>
                  <a:srgbClr val="0000FF"/>
                </a:solidFill>
              </a:rPr>
              <a:t>Prêt 2 000 $, 2 ans, 3 % alors que marché 8 %</a:t>
            </a:r>
          </a:p>
          <a:p>
            <a:pPr lvl="2"/>
            <a:endParaRPr lang="fr-CA" dirty="0">
              <a:solidFill>
                <a:srgbClr val="0000FF"/>
              </a:solidFill>
            </a:endParaRPr>
          </a:p>
          <a:p>
            <a:pPr lvl="2">
              <a:buFont typeface="Wingdings" panose="05000000000000000000" pitchFamily="2" charset="2"/>
              <a:buChar char="Ø"/>
            </a:pPr>
            <a:r>
              <a:rPr lang="fr-CA" sz="2400" i="1" dirty="0">
                <a:solidFill>
                  <a:srgbClr val="0000FF"/>
                </a:solidFill>
              </a:rPr>
              <a:t>Faire les calculs dans Excel. Préparez les écritures.</a:t>
            </a:r>
          </a:p>
          <a:p>
            <a:pPr marL="457200" lvl="1"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24</a:t>
            </a:fld>
            <a:endParaRPr lang="fr-FR"/>
          </a:p>
        </p:txBody>
      </p:sp>
      <p:sp>
        <p:nvSpPr>
          <p:cNvPr id="5" name="Espace réservé du pied de page 4">
            <a:extLst>
              <a:ext uri="{FF2B5EF4-FFF2-40B4-BE49-F238E27FC236}">
                <a16:creationId xmlns:a16="http://schemas.microsoft.com/office/drawing/2014/main" id="{79563A22-C74D-432F-AD7E-75CD337B4DB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327538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 A</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25</a:t>
            </a:fld>
            <a:endParaRPr lang="fr-FR"/>
          </a:p>
        </p:txBody>
      </p:sp>
      <p:sp>
        <p:nvSpPr>
          <p:cNvPr id="5" name="Espace réservé du pied de page 4">
            <a:extLst>
              <a:ext uri="{FF2B5EF4-FFF2-40B4-BE49-F238E27FC236}">
                <a16:creationId xmlns:a16="http://schemas.microsoft.com/office/drawing/2014/main" id="{9A3A15B1-4DD8-4E2E-B668-6DADCC943B3C}"/>
              </a:ext>
            </a:extLst>
          </p:cNvPr>
          <p:cNvSpPr>
            <a:spLocks noGrp="1"/>
          </p:cNvSpPr>
          <p:nvPr>
            <p:ph type="ftr" sz="quarter" idx="11"/>
          </p:nvPr>
        </p:nvSpPr>
        <p:spPr/>
        <p:txBody>
          <a:bodyPr/>
          <a:lstStyle/>
          <a:p>
            <a:r>
              <a:rPr lang="fr-CA"/>
              <a:t>Droits réservés - Louise Overbeek</a:t>
            </a:r>
          </a:p>
        </p:txBody>
      </p:sp>
      <p:graphicFrame>
        <p:nvGraphicFramePr>
          <p:cNvPr id="6" name="Espace réservé du contenu 5">
            <a:extLst>
              <a:ext uri="{FF2B5EF4-FFF2-40B4-BE49-F238E27FC236}">
                <a16:creationId xmlns:a16="http://schemas.microsoft.com/office/drawing/2014/main" id="{60AB1E90-11A2-476E-B89F-6769BA493C59}"/>
              </a:ext>
            </a:extLst>
          </p:cNvPr>
          <p:cNvGraphicFramePr>
            <a:graphicFrameLocks noGrp="1" noChangeAspect="1"/>
          </p:cNvGraphicFramePr>
          <p:nvPr>
            <p:ph idx="1"/>
            <p:extLst>
              <p:ext uri="{D42A27DB-BD31-4B8C-83A1-F6EECF244321}">
                <p14:modId xmlns:p14="http://schemas.microsoft.com/office/powerpoint/2010/main" val="1907078907"/>
              </p:ext>
            </p:extLst>
          </p:nvPr>
        </p:nvGraphicFramePr>
        <p:xfrm>
          <a:off x="1377035" y="1690688"/>
          <a:ext cx="5865140" cy="2843212"/>
        </p:xfrm>
        <a:graphic>
          <a:graphicData uri="http://schemas.openxmlformats.org/presentationml/2006/ole">
            <mc:AlternateContent xmlns:mc="http://schemas.openxmlformats.org/markup-compatibility/2006">
              <mc:Choice xmlns:v="urn:schemas-microsoft-com:vml" Requires="v">
                <p:oleObj name="Worksheet" r:id="rId2" imgW="2292412" imgH="1111155" progId="Excel.Sheet.12">
                  <p:embed/>
                </p:oleObj>
              </mc:Choice>
              <mc:Fallback>
                <p:oleObj name="Worksheet" r:id="rId2" imgW="2292412" imgH="1111155" progId="Excel.Sheet.12">
                  <p:embed/>
                  <p:pic>
                    <p:nvPicPr>
                      <p:cNvPr id="6" name="Espace réservé du contenu 5">
                        <a:extLst>
                          <a:ext uri="{FF2B5EF4-FFF2-40B4-BE49-F238E27FC236}">
                            <a16:creationId xmlns:a16="http://schemas.microsoft.com/office/drawing/2014/main" id="{60AB1E90-11A2-476E-B89F-6769BA493C59}"/>
                          </a:ext>
                        </a:extLst>
                      </p:cNvPr>
                      <p:cNvPicPr/>
                      <p:nvPr/>
                    </p:nvPicPr>
                    <p:blipFill>
                      <a:blip r:embed="rId3"/>
                      <a:stretch>
                        <a:fillRect/>
                      </a:stretch>
                    </p:blipFill>
                    <p:spPr>
                      <a:xfrm>
                        <a:off x="1377035" y="1690688"/>
                        <a:ext cx="5865140" cy="2843212"/>
                      </a:xfrm>
                      <a:prstGeom prst="rect">
                        <a:avLst/>
                      </a:prstGeom>
                    </p:spPr>
                  </p:pic>
                </p:oleObj>
              </mc:Fallback>
            </mc:AlternateContent>
          </a:graphicData>
        </a:graphic>
      </p:graphicFrame>
    </p:spTree>
    <p:extLst>
      <p:ext uri="{BB962C8B-B14F-4D97-AF65-F5344CB8AC3E}">
        <p14:creationId xmlns:p14="http://schemas.microsoft.com/office/powerpoint/2010/main" val="1233393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 A</a:t>
            </a:r>
          </a:p>
        </p:txBody>
      </p:sp>
      <p:sp>
        <p:nvSpPr>
          <p:cNvPr id="3" name="Espace réservé du contenu 2"/>
          <p:cNvSpPr>
            <a:spLocks noGrp="1"/>
          </p:cNvSpPr>
          <p:nvPr>
            <p:ph idx="1"/>
          </p:nvPr>
        </p:nvSpPr>
        <p:spPr>
          <a:xfrm>
            <a:off x="838199" y="1600200"/>
            <a:ext cx="10515599" cy="4756150"/>
          </a:xfrm>
        </p:spPr>
        <p:txBody>
          <a:bodyPr>
            <a:normAutofit fontScale="77500" lnSpcReduction="20000"/>
          </a:bodyPr>
          <a:lstStyle/>
          <a:p>
            <a:pPr marL="0" indent="0">
              <a:buNone/>
            </a:pPr>
            <a:r>
              <a:rPr lang="fr-CA" dirty="0"/>
              <a:t>Prêt sans intérêts (faible taux) à un employé</a:t>
            </a:r>
          </a:p>
          <a:p>
            <a:pPr lvl="1"/>
            <a:r>
              <a:rPr lang="fr-CA" dirty="0"/>
              <a:t>Actualiser le prêt (et intérêts) – taux marché</a:t>
            </a:r>
          </a:p>
          <a:p>
            <a:pPr lvl="2"/>
            <a:r>
              <a:rPr lang="fr-CA" dirty="0">
                <a:solidFill>
                  <a:srgbClr val="0070C0"/>
                </a:solidFill>
              </a:rPr>
              <a:t>Écart est une charge salariale</a:t>
            </a:r>
          </a:p>
          <a:p>
            <a:pPr marL="914400" lvl="2" indent="0">
              <a:buNone/>
            </a:pPr>
            <a:endParaRPr lang="fr-CA" dirty="0">
              <a:solidFill>
                <a:srgbClr val="0070C0"/>
              </a:solidFill>
            </a:endParaRPr>
          </a:p>
          <a:p>
            <a:pPr marL="914400" lvl="2" indent="0">
              <a:buNone/>
            </a:pPr>
            <a:r>
              <a:rPr lang="fr-CA" sz="2900" dirty="0">
                <a:solidFill>
                  <a:srgbClr val="FF0000"/>
                </a:solidFill>
              </a:rPr>
              <a:t>Prêt à un employé		1715 </a:t>
            </a:r>
          </a:p>
          <a:p>
            <a:pPr marL="914400" lvl="2" indent="0">
              <a:buNone/>
            </a:pPr>
            <a:r>
              <a:rPr lang="fr-CA" sz="2900" dirty="0">
                <a:solidFill>
                  <a:srgbClr val="FF0000"/>
                </a:solidFill>
              </a:rPr>
              <a:t>Charge salariale		  	  285</a:t>
            </a:r>
          </a:p>
          <a:p>
            <a:pPr marL="914400" lvl="2" indent="0">
              <a:buNone/>
            </a:pPr>
            <a:r>
              <a:rPr lang="fr-CA" sz="2900" dirty="0">
                <a:solidFill>
                  <a:srgbClr val="FF0000"/>
                </a:solidFill>
              </a:rPr>
              <a:t>@  Encaisse				2000</a:t>
            </a:r>
          </a:p>
          <a:p>
            <a:pPr marL="914400" lvl="2" indent="0">
              <a:buNone/>
            </a:pPr>
            <a:endParaRPr lang="fr-CA" sz="2900" dirty="0">
              <a:solidFill>
                <a:srgbClr val="FF0000"/>
              </a:solidFill>
            </a:endParaRPr>
          </a:p>
          <a:p>
            <a:pPr marL="914400" lvl="2" indent="0">
              <a:buNone/>
            </a:pPr>
            <a:r>
              <a:rPr lang="fr-CA" sz="2900" dirty="0">
                <a:solidFill>
                  <a:srgbClr val="FF0000"/>
                </a:solidFill>
              </a:rPr>
              <a:t>Prêt à un employé		  137</a:t>
            </a:r>
          </a:p>
          <a:p>
            <a:pPr marL="914400" lvl="2" indent="0">
              <a:buNone/>
            </a:pPr>
            <a:r>
              <a:rPr lang="fr-CA" sz="2900" dirty="0">
                <a:solidFill>
                  <a:srgbClr val="FF0000"/>
                </a:solidFill>
              </a:rPr>
              <a:t>@  Produits d’intérêts			   137</a:t>
            </a:r>
          </a:p>
          <a:p>
            <a:pPr marL="914400" lvl="2" indent="0">
              <a:buNone/>
            </a:pPr>
            <a:endParaRPr lang="fr-CA" sz="2900" dirty="0">
              <a:solidFill>
                <a:srgbClr val="FF0000"/>
              </a:solidFill>
            </a:endParaRPr>
          </a:p>
          <a:p>
            <a:pPr marL="914400" lvl="2" indent="0">
              <a:buNone/>
            </a:pPr>
            <a:r>
              <a:rPr lang="fr-CA" sz="2900" dirty="0">
                <a:solidFill>
                  <a:srgbClr val="FF0000"/>
                </a:solidFill>
              </a:rPr>
              <a:t>Prêt à un employé		  148</a:t>
            </a:r>
          </a:p>
          <a:p>
            <a:pPr marL="914400" lvl="2" indent="0">
              <a:buNone/>
            </a:pPr>
            <a:r>
              <a:rPr lang="fr-CA" sz="2900" dirty="0">
                <a:solidFill>
                  <a:srgbClr val="FF0000"/>
                </a:solidFill>
              </a:rPr>
              <a:t>@  Produits d’intérêts			    148</a:t>
            </a:r>
          </a:p>
          <a:p>
            <a:pPr marL="914400" lvl="2" indent="0">
              <a:buNone/>
            </a:pPr>
            <a:endParaRPr lang="fr-CA" sz="2900" dirty="0">
              <a:solidFill>
                <a:srgbClr val="FF0000"/>
              </a:solidFill>
            </a:endParaRPr>
          </a:p>
          <a:p>
            <a:pPr marL="914400" lvl="2" indent="0">
              <a:buNone/>
            </a:pPr>
            <a:r>
              <a:rPr lang="fr-CA" sz="2900" dirty="0">
                <a:solidFill>
                  <a:srgbClr val="FF0000"/>
                </a:solidFill>
              </a:rPr>
              <a:t>Encaisse			2 000</a:t>
            </a:r>
          </a:p>
          <a:p>
            <a:pPr marL="914400" lvl="2" indent="0">
              <a:buNone/>
            </a:pPr>
            <a:r>
              <a:rPr lang="fr-CA" sz="2900" dirty="0">
                <a:solidFill>
                  <a:srgbClr val="FF0000"/>
                </a:solidFill>
              </a:rPr>
              <a:t>@  Prêt à un employé			2 000</a:t>
            </a:r>
            <a:endParaRPr lang="fr-CA" dirty="0">
              <a:solidFill>
                <a:srgbClr val="0070C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26</a:t>
            </a:fld>
            <a:endParaRPr lang="fr-FR"/>
          </a:p>
        </p:txBody>
      </p:sp>
      <p:sp>
        <p:nvSpPr>
          <p:cNvPr id="5" name="Espace réservé du pied de page 4">
            <a:extLst>
              <a:ext uri="{FF2B5EF4-FFF2-40B4-BE49-F238E27FC236}">
                <a16:creationId xmlns:a16="http://schemas.microsoft.com/office/drawing/2014/main" id="{9A3A15B1-4DD8-4E2E-B668-6DADCC943B3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2496249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 B</a:t>
            </a:r>
          </a:p>
        </p:txBody>
      </p:sp>
      <p:sp>
        <p:nvSpPr>
          <p:cNvPr id="3" name="Espace réservé du contenu 2"/>
          <p:cNvSpPr>
            <a:spLocks noGrp="1"/>
          </p:cNvSpPr>
          <p:nvPr>
            <p:ph idx="1"/>
          </p:nvPr>
        </p:nvSpPr>
        <p:spPr>
          <a:xfrm>
            <a:off x="838200" y="1600200"/>
            <a:ext cx="10515600" cy="4857750"/>
          </a:xfrm>
        </p:spPr>
        <p:txBody>
          <a:bodyPr>
            <a:normAutofit/>
          </a:bodyPr>
          <a:lstStyle/>
          <a:p>
            <a:pPr marL="457200" lvl="1" indent="0">
              <a:buNone/>
            </a:pPr>
            <a:endParaRPr lang="fr-CA" dirty="0">
              <a:solidFill>
                <a:srgbClr val="0070C0"/>
              </a:solidFill>
            </a:endParaRPr>
          </a:p>
          <a:p>
            <a:pPr marL="914400" lvl="2" indent="0">
              <a:buNone/>
            </a:pPr>
            <a:endParaRPr lang="fr-CA" sz="3300"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27</a:t>
            </a:fld>
            <a:endParaRPr lang="fr-FR"/>
          </a:p>
        </p:txBody>
      </p:sp>
      <p:sp>
        <p:nvSpPr>
          <p:cNvPr id="5" name="Espace réservé du pied de page 4">
            <a:extLst>
              <a:ext uri="{FF2B5EF4-FFF2-40B4-BE49-F238E27FC236}">
                <a16:creationId xmlns:a16="http://schemas.microsoft.com/office/drawing/2014/main" id="{CE956C2B-B2B3-4E32-8F1F-F5DA33A6D7B4}"/>
              </a:ext>
            </a:extLst>
          </p:cNvPr>
          <p:cNvSpPr>
            <a:spLocks noGrp="1"/>
          </p:cNvSpPr>
          <p:nvPr>
            <p:ph type="ftr" sz="quarter" idx="11"/>
          </p:nvPr>
        </p:nvSpPr>
        <p:spPr/>
        <p:txBody>
          <a:bodyPr/>
          <a:lstStyle/>
          <a:p>
            <a:r>
              <a:rPr lang="fr-CA"/>
              <a:t>Droits réservés - Louise Overbeek</a:t>
            </a:r>
          </a:p>
        </p:txBody>
      </p:sp>
      <p:graphicFrame>
        <p:nvGraphicFramePr>
          <p:cNvPr id="6" name="Objet 5">
            <a:extLst>
              <a:ext uri="{FF2B5EF4-FFF2-40B4-BE49-F238E27FC236}">
                <a16:creationId xmlns:a16="http://schemas.microsoft.com/office/drawing/2014/main" id="{751A27A4-4873-461E-92C8-D579AB692304}"/>
              </a:ext>
            </a:extLst>
          </p:cNvPr>
          <p:cNvGraphicFramePr>
            <a:graphicFrameLocks noChangeAspect="1"/>
          </p:cNvGraphicFramePr>
          <p:nvPr>
            <p:extLst>
              <p:ext uri="{D42A27DB-BD31-4B8C-83A1-F6EECF244321}">
                <p14:modId xmlns:p14="http://schemas.microsoft.com/office/powerpoint/2010/main" val="2815069330"/>
              </p:ext>
            </p:extLst>
          </p:nvPr>
        </p:nvGraphicFramePr>
        <p:xfrm>
          <a:off x="2513384" y="1690688"/>
          <a:ext cx="5835328" cy="2828760"/>
        </p:xfrm>
        <a:graphic>
          <a:graphicData uri="http://schemas.openxmlformats.org/presentationml/2006/ole">
            <mc:AlternateContent xmlns:mc="http://schemas.openxmlformats.org/markup-compatibility/2006">
              <mc:Choice xmlns:v="urn:schemas-microsoft-com:vml" Requires="v">
                <p:oleObj name="Worksheet" r:id="rId2" imgW="2292412" imgH="1111155" progId="Excel.Sheet.12">
                  <p:embed/>
                </p:oleObj>
              </mc:Choice>
              <mc:Fallback>
                <p:oleObj name="Worksheet" r:id="rId2" imgW="2292412" imgH="1111155" progId="Excel.Sheet.12">
                  <p:embed/>
                  <p:pic>
                    <p:nvPicPr>
                      <p:cNvPr id="6" name="Objet 5">
                        <a:extLst>
                          <a:ext uri="{FF2B5EF4-FFF2-40B4-BE49-F238E27FC236}">
                            <a16:creationId xmlns:a16="http://schemas.microsoft.com/office/drawing/2014/main" id="{751A27A4-4873-461E-92C8-D579AB692304}"/>
                          </a:ext>
                        </a:extLst>
                      </p:cNvPr>
                      <p:cNvPicPr/>
                      <p:nvPr/>
                    </p:nvPicPr>
                    <p:blipFill>
                      <a:blip r:embed="rId3"/>
                      <a:stretch>
                        <a:fillRect/>
                      </a:stretch>
                    </p:blipFill>
                    <p:spPr>
                      <a:xfrm>
                        <a:off x="2513384" y="1690688"/>
                        <a:ext cx="5835328" cy="2828760"/>
                      </a:xfrm>
                      <a:prstGeom prst="rect">
                        <a:avLst/>
                      </a:prstGeom>
                    </p:spPr>
                  </p:pic>
                </p:oleObj>
              </mc:Fallback>
            </mc:AlternateContent>
          </a:graphicData>
        </a:graphic>
      </p:graphicFrame>
    </p:spTree>
    <p:extLst>
      <p:ext uri="{BB962C8B-B14F-4D97-AF65-F5344CB8AC3E}">
        <p14:creationId xmlns:p14="http://schemas.microsoft.com/office/powerpoint/2010/main" val="3971926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 B</a:t>
            </a:r>
          </a:p>
        </p:txBody>
      </p:sp>
      <p:sp>
        <p:nvSpPr>
          <p:cNvPr id="3" name="Espace réservé du contenu 2"/>
          <p:cNvSpPr>
            <a:spLocks noGrp="1"/>
          </p:cNvSpPr>
          <p:nvPr>
            <p:ph idx="1"/>
          </p:nvPr>
        </p:nvSpPr>
        <p:spPr>
          <a:xfrm>
            <a:off x="838200" y="1600200"/>
            <a:ext cx="10515600" cy="4857750"/>
          </a:xfrm>
        </p:spPr>
        <p:txBody>
          <a:bodyPr>
            <a:normAutofit fontScale="55000" lnSpcReduction="20000"/>
          </a:bodyPr>
          <a:lstStyle/>
          <a:p>
            <a:pPr marL="0" indent="0">
              <a:buNone/>
            </a:pPr>
            <a:r>
              <a:rPr lang="fr-CA" dirty="0"/>
              <a:t>Report paiement créance par un client. La société accorde rarement un report de paiement à ses clients.</a:t>
            </a:r>
          </a:p>
          <a:p>
            <a:pPr lvl="1"/>
            <a:r>
              <a:rPr lang="fr-CA" dirty="0"/>
              <a:t>Actualiser le prêt (et intérêts) – taux marché </a:t>
            </a:r>
            <a:r>
              <a:rPr lang="fr-CA" dirty="0">
                <a:solidFill>
                  <a:srgbClr val="FF0000"/>
                </a:solidFill>
              </a:rPr>
              <a:t>Produits au taux du marché 8% - </a:t>
            </a:r>
            <a:r>
              <a:rPr lang="fr-CA" dirty="0" err="1">
                <a:solidFill>
                  <a:srgbClr val="FF0000"/>
                </a:solidFill>
              </a:rPr>
              <a:t>amort</a:t>
            </a:r>
            <a:r>
              <a:rPr lang="fr-CA" dirty="0">
                <a:solidFill>
                  <a:srgbClr val="FF0000"/>
                </a:solidFill>
              </a:rPr>
              <a:t> escompte</a:t>
            </a:r>
            <a:endParaRPr lang="fr-CA" dirty="0"/>
          </a:p>
          <a:p>
            <a:pPr lvl="1"/>
            <a:r>
              <a:rPr lang="fr-CA" dirty="0">
                <a:solidFill>
                  <a:srgbClr val="0070C0"/>
                </a:solidFill>
              </a:rPr>
              <a:t>Écart frais de vente</a:t>
            </a:r>
          </a:p>
          <a:p>
            <a:pPr lvl="1"/>
            <a:endParaRPr lang="fr-CA" dirty="0">
              <a:solidFill>
                <a:srgbClr val="0070C0"/>
              </a:solidFill>
            </a:endParaRPr>
          </a:p>
          <a:p>
            <a:pPr marL="914400" lvl="2" indent="0">
              <a:buNone/>
            </a:pPr>
            <a:r>
              <a:rPr lang="fr-CA" sz="3300" dirty="0">
                <a:solidFill>
                  <a:srgbClr val="FF0000"/>
                </a:solidFill>
              </a:rPr>
              <a:t>Effet à recevoir			1 822</a:t>
            </a:r>
          </a:p>
          <a:p>
            <a:pPr marL="914400" lvl="2" indent="0">
              <a:buNone/>
            </a:pPr>
            <a:r>
              <a:rPr lang="fr-CA" sz="3300" dirty="0">
                <a:solidFill>
                  <a:srgbClr val="FF0000"/>
                </a:solidFill>
              </a:rPr>
              <a:t>Frais de vente			   178</a:t>
            </a:r>
          </a:p>
          <a:p>
            <a:pPr marL="914400" lvl="2" indent="0">
              <a:buNone/>
            </a:pPr>
            <a:r>
              <a:rPr lang="fr-CA" sz="3300" dirty="0">
                <a:solidFill>
                  <a:srgbClr val="FF0000"/>
                </a:solidFill>
              </a:rPr>
              <a:t>@  Clients				2 000</a:t>
            </a:r>
          </a:p>
          <a:p>
            <a:pPr marL="914400" lvl="2" indent="0">
              <a:buNone/>
            </a:pPr>
            <a:endParaRPr lang="fr-CA" sz="3300" dirty="0">
              <a:solidFill>
                <a:srgbClr val="FF0000"/>
              </a:solidFill>
            </a:endParaRPr>
          </a:p>
          <a:p>
            <a:pPr marL="914400" lvl="2" indent="0">
              <a:buNone/>
            </a:pPr>
            <a:r>
              <a:rPr lang="fr-CA" sz="3300" dirty="0">
                <a:solidFill>
                  <a:srgbClr val="FF0000"/>
                </a:solidFill>
              </a:rPr>
              <a:t>Effet à recevoir			     86</a:t>
            </a:r>
          </a:p>
          <a:p>
            <a:pPr marL="914400" lvl="2" indent="0">
              <a:buNone/>
            </a:pPr>
            <a:r>
              <a:rPr lang="fr-CA" sz="3300" dirty="0">
                <a:solidFill>
                  <a:srgbClr val="FF0000"/>
                </a:solidFill>
              </a:rPr>
              <a:t>Encaisse				     60</a:t>
            </a:r>
          </a:p>
          <a:p>
            <a:pPr marL="914400" lvl="2" indent="0">
              <a:buNone/>
            </a:pPr>
            <a:r>
              <a:rPr lang="fr-CA" sz="3300" dirty="0">
                <a:solidFill>
                  <a:srgbClr val="FF0000"/>
                </a:solidFill>
              </a:rPr>
              <a:t>@  Produits d’intérêts			   146</a:t>
            </a:r>
          </a:p>
          <a:p>
            <a:pPr marL="914400" lvl="2" indent="0">
              <a:buNone/>
            </a:pPr>
            <a:endParaRPr lang="fr-CA" sz="3300" dirty="0">
              <a:solidFill>
                <a:srgbClr val="FF0000"/>
              </a:solidFill>
            </a:endParaRPr>
          </a:p>
          <a:p>
            <a:pPr marL="914400" lvl="2" indent="0">
              <a:buNone/>
            </a:pPr>
            <a:r>
              <a:rPr lang="fr-CA" sz="3300" dirty="0">
                <a:solidFill>
                  <a:srgbClr val="FF0000"/>
                </a:solidFill>
              </a:rPr>
              <a:t>Effet à recevoir		   	     92</a:t>
            </a:r>
          </a:p>
          <a:p>
            <a:pPr marL="914400" lvl="2" indent="0">
              <a:buNone/>
            </a:pPr>
            <a:r>
              <a:rPr lang="fr-CA" sz="3300" dirty="0">
                <a:solidFill>
                  <a:srgbClr val="FF0000"/>
                </a:solidFill>
              </a:rPr>
              <a:t>Encaisse				     60</a:t>
            </a:r>
          </a:p>
          <a:p>
            <a:pPr marL="914400" lvl="2" indent="0">
              <a:buNone/>
            </a:pPr>
            <a:r>
              <a:rPr lang="fr-CA" sz="3300" dirty="0">
                <a:solidFill>
                  <a:srgbClr val="FF0000"/>
                </a:solidFill>
              </a:rPr>
              <a:t>@  Produits d’intérêts			   152</a:t>
            </a:r>
          </a:p>
          <a:p>
            <a:pPr marL="914400" lvl="2" indent="0">
              <a:buNone/>
            </a:pPr>
            <a:endParaRPr lang="fr-CA" sz="3300" dirty="0">
              <a:solidFill>
                <a:srgbClr val="FF0000"/>
              </a:solidFill>
            </a:endParaRPr>
          </a:p>
          <a:p>
            <a:pPr marL="914400" lvl="2" indent="0">
              <a:buNone/>
            </a:pPr>
            <a:r>
              <a:rPr lang="fr-CA" sz="3300" dirty="0">
                <a:solidFill>
                  <a:srgbClr val="FF0000"/>
                </a:solidFill>
              </a:rPr>
              <a:t>Encaisse				2 000</a:t>
            </a:r>
          </a:p>
          <a:p>
            <a:pPr marL="914400" lvl="2" indent="0">
              <a:buNone/>
            </a:pPr>
            <a:r>
              <a:rPr lang="fr-CA" sz="3300" dirty="0">
                <a:solidFill>
                  <a:srgbClr val="FF0000"/>
                </a:solidFill>
              </a:rPr>
              <a:t>@  Effet à recevoir				2 000</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28</a:t>
            </a:fld>
            <a:endParaRPr lang="fr-FR"/>
          </a:p>
        </p:txBody>
      </p:sp>
      <p:sp>
        <p:nvSpPr>
          <p:cNvPr id="5" name="Espace réservé du pied de page 4">
            <a:extLst>
              <a:ext uri="{FF2B5EF4-FFF2-40B4-BE49-F238E27FC236}">
                <a16:creationId xmlns:a16="http://schemas.microsoft.com/office/drawing/2014/main" id="{CE956C2B-B2B3-4E32-8F1F-F5DA33A6D7B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610795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Dépréciation</a:t>
            </a:r>
          </a:p>
        </p:txBody>
      </p:sp>
      <p:sp>
        <p:nvSpPr>
          <p:cNvPr id="3" name="Espace réservé du contenu 2"/>
          <p:cNvSpPr>
            <a:spLocks noGrp="1"/>
          </p:cNvSpPr>
          <p:nvPr>
            <p:ph idx="1"/>
          </p:nvPr>
        </p:nvSpPr>
        <p:spPr/>
        <p:txBody>
          <a:bodyPr>
            <a:normAutofit/>
          </a:bodyPr>
          <a:lstStyle/>
          <a:p>
            <a:pPr marL="0" indent="0">
              <a:buNone/>
            </a:pPr>
            <a:r>
              <a:rPr lang="fr-CA" dirty="0"/>
              <a:t>Tous les actifs financiers évalués au coût ou au coût après amortissement doivent être soumis à un test de dépréciation à la fin de chaque période</a:t>
            </a:r>
          </a:p>
          <a:p>
            <a:pPr lvl="1"/>
            <a:r>
              <a:rPr lang="fr-CA" dirty="0"/>
              <a:t>Exemples : prêts à recevoir</a:t>
            </a:r>
          </a:p>
          <a:p>
            <a:pPr lvl="1"/>
            <a:endParaRPr lang="fr-CA" dirty="0"/>
          </a:p>
          <a:p>
            <a:pPr lvl="1">
              <a:buFont typeface="Wingdings" panose="05000000000000000000" pitchFamily="2" charset="2"/>
              <a:buChar char="Ø"/>
            </a:pPr>
            <a:r>
              <a:rPr lang="fr-CA" dirty="0"/>
              <a:t>IFRS 9 : doit </a:t>
            </a:r>
            <a:r>
              <a:rPr lang="fr-CA" b="1" dirty="0"/>
              <a:t>anticiper</a:t>
            </a:r>
            <a:r>
              <a:rPr lang="fr-CA" dirty="0"/>
              <a:t> les pertes (refléter les détériorations - ou les améliorations - du risque de crédit) </a:t>
            </a:r>
            <a:r>
              <a:rPr lang="fr-CA" i="1" dirty="0"/>
              <a:t> (ne pas attendre que les pertes soient encourues, comptabilisation </a:t>
            </a:r>
            <a:r>
              <a:rPr lang="fr-CA" b="1" i="1" dirty="0">
                <a:solidFill>
                  <a:srgbClr val="FF0000"/>
                </a:solidFill>
                <a:highlight>
                  <a:srgbClr val="FFFF00"/>
                </a:highlight>
              </a:rPr>
              <a:t>plus rapide </a:t>
            </a:r>
            <a:r>
              <a:rPr lang="fr-CA" i="1" dirty="0"/>
              <a:t>des pertes)</a:t>
            </a:r>
          </a:p>
          <a:p>
            <a:pPr lvl="1">
              <a:buFont typeface="Wingdings" panose="05000000000000000000" pitchFamily="2" charset="2"/>
              <a:buChar char="Ø"/>
            </a:pPr>
            <a:endParaRPr lang="fr-CA" i="1" dirty="0"/>
          </a:p>
          <a:p>
            <a:pPr lvl="1">
              <a:buFont typeface="Wingdings" panose="05000000000000000000" pitchFamily="2" charset="2"/>
              <a:buChar char="Ø"/>
            </a:pPr>
            <a:r>
              <a:rPr lang="fr-CA" dirty="0"/>
              <a:t>NCECF : Évaluation si présence d’indices</a:t>
            </a:r>
            <a:endParaRPr lang="fr-CA" sz="2400" dirty="0"/>
          </a:p>
          <a:p>
            <a:pPr lvl="1">
              <a:buFont typeface="Wingdings" panose="05000000000000000000" pitchFamily="2" charset="2"/>
              <a:buChar char="Ø"/>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29</a:t>
            </a:fld>
            <a:endParaRPr lang="fr-FR"/>
          </a:p>
        </p:txBody>
      </p:sp>
      <p:sp>
        <p:nvSpPr>
          <p:cNvPr id="5" name="Espace réservé du pied de page 4">
            <a:extLst>
              <a:ext uri="{FF2B5EF4-FFF2-40B4-BE49-F238E27FC236}">
                <a16:creationId xmlns:a16="http://schemas.microsoft.com/office/drawing/2014/main" id="{0CCA8606-26B9-4FCC-85AF-B27BF35F744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871939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29824F-E19B-567F-3E34-CBD477089C87}"/>
              </a:ext>
            </a:extLst>
          </p:cNvPr>
          <p:cNvSpPr>
            <a:spLocks noGrp="1"/>
          </p:cNvSpPr>
          <p:nvPr>
            <p:ph type="title"/>
          </p:nvPr>
        </p:nvSpPr>
        <p:spPr/>
        <p:txBody>
          <a:bodyPr/>
          <a:lstStyle/>
          <a:p>
            <a:r>
              <a:rPr lang="fr-CA" dirty="0"/>
              <a:t>Effet à recevoir</a:t>
            </a:r>
            <a:endParaRPr lang="fr-FR" dirty="0"/>
          </a:p>
        </p:txBody>
      </p:sp>
      <p:sp>
        <p:nvSpPr>
          <p:cNvPr id="3" name="Espace réservé du contenu 2">
            <a:extLst>
              <a:ext uri="{FF2B5EF4-FFF2-40B4-BE49-F238E27FC236}">
                <a16:creationId xmlns:a16="http://schemas.microsoft.com/office/drawing/2014/main" id="{CDA8EA44-C40E-5D25-765B-30B731F73AD7}"/>
              </a:ext>
            </a:extLst>
          </p:cNvPr>
          <p:cNvSpPr>
            <a:spLocks noGrp="1"/>
          </p:cNvSpPr>
          <p:nvPr>
            <p:ph idx="1"/>
          </p:nvPr>
        </p:nvSpPr>
        <p:spPr/>
        <p:txBody>
          <a:bodyPr>
            <a:normAutofit lnSpcReduction="10000"/>
          </a:bodyPr>
          <a:lstStyle/>
          <a:p>
            <a:pPr marL="0" indent="0">
              <a:buNone/>
            </a:pPr>
            <a:r>
              <a:rPr lang="fr-CA" dirty="0"/>
              <a:t>Le 1</a:t>
            </a:r>
            <a:r>
              <a:rPr lang="fr-CA" baseline="30000" dirty="0"/>
              <a:t>er</a:t>
            </a:r>
            <a:r>
              <a:rPr lang="fr-CA" dirty="0"/>
              <a:t> janvier X1, ABC a échangé un terrain, dont la valeur comptable s’élève à 70 000 $, contre un montant de 100 000 $ à recevoir dans trois ans, sans intérêt, alors que le taux du marché est de 5 %.</a:t>
            </a:r>
          </a:p>
          <a:p>
            <a:pPr marL="0" indent="0">
              <a:buNone/>
            </a:pPr>
            <a:r>
              <a:rPr lang="fr-CA" dirty="0"/>
              <a:t>ABC a comptabilisé un gain de 30 000 $ relativement à cette transaction. Apporter un correctif, le cas échéant, pour l’exercice clos le 31 décembre X1.</a:t>
            </a:r>
          </a:p>
          <a:p>
            <a:pPr marL="0" indent="0">
              <a:buNone/>
            </a:pPr>
            <a:endParaRPr lang="fr-CA" dirty="0"/>
          </a:p>
          <a:p>
            <a:pPr marL="0" indent="0">
              <a:buNone/>
            </a:pPr>
            <a:r>
              <a:rPr lang="fr-CA" dirty="0"/>
              <a:t>IFRS et NCECF</a:t>
            </a:r>
          </a:p>
          <a:p>
            <a:pPr>
              <a:buFont typeface="Wingdings" panose="05000000000000000000" pitchFamily="2" charset="2"/>
              <a:buChar char="Ø"/>
            </a:pPr>
            <a:r>
              <a:rPr lang="fr-CA" i="1" dirty="0"/>
              <a:t> à rédiger comme un cas, avec support norme (extraits ou dans vos mots)</a:t>
            </a:r>
            <a:endParaRPr lang="fr-FR" i="1" dirty="0"/>
          </a:p>
        </p:txBody>
      </p:sp>
      <p:sp>
        <p:nvSpPr>
          <p:cNvPr id="4" name="Espace réservé du pied de page 3">
            <a:extLst>
              <a:ext uri="{FF2B5EF4-FFF2-40B4-BE49-F238E27FC236}">
                <a16:creationId xmlns:a16="http://schemas.microsoft.com/office/drawing/2014/main" id="{9C8B3B27-94C9-53C3-F145-03C6C4AAFEA9}"/>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8A66184C-E9D0-B740-F2D3-92ABAA3DC52D}"/>
              </a:ext>
            </a:extLst>
          </p:cNvPr>
          <p:cNvSpPr>
            <a:spLocks noGrp="1"/>
          </p:cNvSpPr>
          <p:nvPr>
            <p:ph type="sldNum" sz="quarter" idx="12"/>
          </p:nvPr>
        </p:nvSpPr>
        <p:spPr/>
        <p:txBody>
          <a:bodyPr/>
          <a:lstStyle/>
          <a:p>
            <a:fld id="{D5C8285E-D276-48ED-A38D-FCE3A7D9B93F}" type="slidenum">
              <a:rPr lang="fr-CA" smtClean="0"/>
              <a:t>30</a:t>
            </a:fld>
            <a:endParaRPr lang="fr-CA"/>
          </a:p>
        </p:txBody>
      </p:sp>
    </p:spTree>
    <p:extLst>
      <p:ext uri="{BB962C8B-B14F-4D97-AF65-F5344CB8AC3E}">
        <p14:creationId xmlns:p14="http://schemas.microsoft.com/office/powerpoint/2010/main" val="3057869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29824F-E19B-567F-3E34-CBD477089C87}"/>
              </a:ext>
            </a:extLst>
          </p:cNvPr>
          <p:cNvSpPr>
            <a:spLocks noGrp="1"/>
          </p:cNvSpPr>
          <p:nvPr>
            <p:ph type="title"/>
          </p:nvPr>
        </p:nvSpPr>
        <p:spPr/>
        <p:txBody>
          <a:bodyPr/>
          <a:lstStyle/>
          <a:p>
            <a:r>
              <a:rPr lang="fr-CA" dirty="0"/>
              <a:t>Effet à recevoir</a:t>
            </a:r>
            <a:endParaRPr lang="fr-FR" dirty="0"/>
          </a:p>
        </p:txBody>
      </p:sp>
      <p:sp>
        <p:nvSpPr>
          <p:cNvPr id="3" name="Espace réservé du contenu 2">
            <a:extLst>
              <a:ext uri="{FF2B5EF4-FFF2-40B4-BE49-F238E27FC236}">
                <a16:creationId xmlns:a16="http://schemas.microsoft.com/office/drawing/2014/main" id="{CDA8EA44-C40E-5D25-765B-30B731F73AD7}"/>
              </a:ext>
            </a:extLst>
          </p:cNvPr>
          <p:cNvSpPr>
            <a:spLocks noGrp="1"/>
          </p:cNvSpPr>
          <p:nvPr>
            <p:ph idx="1"/>
          </p:nvPr>
        </p:nvSpPr>
        <p:spPr/>
        <p:txBody>
          <a:bodyPr>
            <a:normAutofit fontScale="77500" lnSpcReduction="20000"/>
          </a:bodyPr>
          <a:lstStyle/>
          <a:p>
            <a:pPr marL="0" indent="0">
              <a:buNone/>
            </a:pPr>
            <a:r>
              <a:rPr lang="fr-CA" dirty="0"/>
              <a:t>Il s’agit d’un instrument financier. </a:t>
            </a:r>
            <a:r>
              <a:rPr lang="fr-CA" i="1" dirty="0"/>
              <a:t>Pas vraiment d’enjeu nature</a:t>
            </a:r>
          </a:p>
          <a:p>
            <a:pPr marL="0" indent="0">
              <a:buNone/>
            </a:pPr>
            <a:endParaRPr lang="fr-CA" i="1" dirty="0"/>
          </a:p>
          <a:p>
            <a:pPr marL="0" indent="0">
              <a:buNone/>
            </a:pPr>
            <a:r>
              <a:rPr lang="fr-CA" dirty="0"/>
              <a:t>Selon IFRS 9, mesure initiale à la juste valeur et mesure subséquente au coût amorti</a:t>
            </a:r>
          </a:p>
          <a:p>
            <a:pPr marL="0" indent="0" algn="l">
              <a:buNone/>
            </a:pPr>
            <a:r>
              <a:rPr lang="fr-CA" i="0" dirty="0">
                <a:solidFill>
                  <a:srgbClr val="0070C0"/>
                </a:solidFill>
                <a:effectLst/>
                <a:latin typeface="Gotham A"/>
              </a:rPr>
              <a:t>4.1.2   Un actif financier doit être évalué au coût amorti si les deux conditions suivantes sont réunies :</a:t>
            </a:r>
          </a:p>
          <a:p>
            <a:pPr marL="0" indent="0" algn="l">
              <a:buNone/>
            </a:pPr>
            <a:r>
              <a:rPr lang="fr-CA" i="0" dirty="0">
                <a:solidFill>
                  <a:srgbClr val="0070C0"/>
                </a:solidFill>
                <a:effectLst/>
                <a:latin typeface="Gotham A"/>
              </a:rPr>
              <a:t>(a)     la détention de l'actif financier s'inscrit dans un modèle économique dont l'objectif est de détenir des actifs financiers afin d'en percevoir les flux de trésorerie contractuels ;</a:t>
            </a:r>
          </a:p>
          <a:p>
            <a:pPr marL="0" indent="0" algn="l">
              <a:buNone/>
            </a:pPr>
            <a:r>
              <a:rPr lang="fr-CA" i="0" dirty="0">
                <a:solidFill>
                  <a:srgbClr val="0070C0"/>
                </a:solidFill>
                <a:effectLst/>
                <a:latin typeface="Gotham A"/>
              </a:rPr>
              <a:t>(b)     les conditions contractuelles de l'actif financier donnent lieu, à des dates spécifiées, à des flux de trésorerie qui correspondent uniquement à des remboursements de principal et à des versements d'intérêts sur le principal restant dû.</a:t>
            </a:r>
          </a:p>
          <a:p>
            <a:pPr marL="0" indent="0" algn="l">
              <a:buNone/>
            </a:pPr>
            <a:r>
              <a:rPr lang="fr-CA" i="0" dirty="0">
                <a:solidFill>
                  <a:srgbClr val="0070C0"/>
                </a:solidFill>
                <a:effectLst/>
                <a:latin typeface="Gotham A"/>
              </a:rPr>
              <a:t>     Les paragraphes </a:t>
            </a:r>
            <a:r>
              <a:rPr lang="fr-CA"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B4.1.1</a:t>
            </a:r>
            <a:r>
              <a:rPr lang="fr-CA" i="0" dirty="0">
                <a:solidFill>
                  <a:srgbClr val="0070C0"/>
                </a:solidFill>
                <a:effectLst/>
                <a:latin typeface="Gotham A"/>
              </a:rPr>
              <a:t> à B4.1.26 fournissent des précisions sur l'application de ces deux conditions.</a:t>
            </a:r>
          </a:p>
        </p:txBody>
      </p:sp>
      <p:sp>
        <p:nvSpPr>
          <p:cNvPr id="4" name="Espace réservé du pied de page 3">
            <a:extLst>
              <a:ext uri="{FF2B5EF4-FFF2-40B4-BE49-F238E27FC236}">
                <a16:creationId xmlns:a16="http://schemas.microsoft.com/office/drawing/2014/main" id="{9C8B3B27-94C9-53C3-F145-03C6C4AAFEA9}"/>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8A66184C-E9D0-B740-F2D3-92ABAA3DC52D}"/>
              </a:ext>
            </a:extLst>
          </p:cNvPr>
          <p:cNvSpPr>
            <a:spLocks noGrp="1"/>
          </p:cNvSpPr>
          <p:nvPr>
            <p:ph type="sldNum" sz="quarter" idx="12"/>
          </p:nvPr>
        </p:nvSpPr>
        <p:spPr/>
        <p:txBody>
          <a:bodyPr/>
          <a:lstStyle/>
          <a:p>
            <a:fld id="{D5C8285E-D276-48ED-A38D-FCE3A7D9B93F}" type="slidenum">
              <a:rPr lang="fr-CA" smtClean="0"/>
              <a:t>31</a:t>
            </a:fld>
            <a:endParaRPr lang="fr-CA"/>
          </a:p>
        </p:txBody>
      </p:sp>
    </p:spTree>
    <p:extLst>
      <p:ext uri="{BB962C8B-B14F-4D97-AF65-F5344CB8AC3E}">
        <p14:creationId xmlns:p14="http://schemas.microsoft.com/office/powerpoint/2010/main" val="17163511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29824F-E19B-567F-3E34-CBD477089C87}"/>
              </a:ext>
            </a:extLst>
          </p:cNvPr>
          <p:cNvSpPr>
            <a:spLocks noGrp="1"/>
          </p:cNvSpPr>
          <p:nvPr>
            <p:ph type="title"/>
          </p:nvPr>
        </p:nvSpPr>
        <p:spPr/>
        <p:txBody>
          <a:bodyPr/>
          <a:lstStyle/>
          <a:p>
            <a:r>
              <a:rPr lang="fr-CA" dirty="0"/>
              <a:t>Effet à recevoir</a:t>
            </a:r>
            <a:endParaRPr lang="fr-FR" dirty="0"/>
          </a:p>
        </p:txBody>
      </p:sp>
      <p:sp>
        <p:nvSpPr>
          <p:cNvPr id="3" name="Espace réservé du contenu 2">
            <a:extLst>
              <a:ext uri="{FF2B5EF4-FFF2-40B4-BE49-F238E27FC236}">
                <a16:creationId xmlns:a16="http://schemas.microsoft.com/office/drawing/2014/main" id="{CDA8EA44-C40E-5D25-765B-30B731F73AD7}"/>
              </a:ext>
            </a:extLst>
          </p:cNvPr>
          <p:cNvSpPr>
            <a:spLocks noGrp="1"/>
          </p:cNvSpPr>
          <p:nvPr>
            <p:ph idx="1"/>
          </p:nvPr>
        </p:nvSpPr>
        <p:spPr/>
        <p:txBody>
          <a:bodyPr>
            <a:normAutofit fontScale="62500" lnSpcReduction="20000"/>
          </a:bodyPr>
          <a:lstStyle/>
          <a:p>
            <a:pPr marL="0" indent="0">
              <a:buNone/>
            </a:pPr>
            <a:r>
              <a:rPr lang="fr-CA" dirty="0"/>
              <a:t>Il s’agit d’un instrument financier. </a:t>
            </a:r>
            <a:r>
              <a:rPr lang="fr-CA" i="1" dirty="0"/>
              <a:t>Pas vraiment d’enjeu nature</a:t>
            </a:r>
          </a:p>
          <a:p>
            <a:pPr marL="0" indent="0">
              <a:buNone/>
            </a:pPr>
            <a:endParaRPr lang="fr-CA" i="1" dirty="0"/>
          </a:p>
          <a:p>
            <a:pPr marL="0" indent="0">
              <a:buNone/>
            </a:pPr>
            <a:r>
              <a:rPr lang="fr-CA" dirty="0"/>
              <a:t>Selon chap. 3856, mesure initiale à la juste valeur</a:t>
            </a:r>
          </a:p>
          <a:p>
            <a:pPr marL="0" indent="0">
              <a:buNone/>
            </a:pPr>
            <a:r>
              <a:rPr lang="fr-CA" b="0" i="0" dirty="0">
                <a:solidFill>
                  <a:srgbClr val="0070C0"/>
                </a:solidFill>
                <a:effectLst/>
                <a:latin typeface="Gotham A"/>
              </a:rPr>
              <a:t>A8     Si une partie de la contrepartie versée ou reçue dans une opération conclue dans des conditions de pleine concurrence consistant à acquérir ou à émettre un instrument financier concerne un élément autre que l'instrument financier, la juste valeur de l'instrument financier est estimée à l'aide d'une technique d'évaluation. La juste valeur d'un instrument financier dont le taux d'intérêt ne correspond pas aux taux pratiqués sur le marché n'est pas égale à la contrepartie en trésorerie. Elle peut être estimée comme correspondant à la valeur actualisée de l'ensemble des rentrées de trésorerie futures, obtenue en ayant recours aux taux d'intérêt couramment pratiqués sur le marché pour un instrument semblable (quant à l'unité monétaire, à la durée, au type de taux intérêt ou à d'autres facteurs) ayant une notation semblable. Tout écart entre la juste valeur de l'actif financier ou du passif financier et la contrepartie en trésorerie est comptabilisé immédiatement en résultat net, à moins de répondre aux critères de comptabilisation d'un autre type d'actif ou de passif. À titre d'exemple, lorsqu'une entreprise obtient un prêt sans intérêt d'un organisme public, en l'absence d'indication contraire, la différence entre la juste valeur du prêt et la trésorerie reçue est comptabilisée à titre de subvention publique (voir le chapitre </a:t>
            </a:r>
            <a:r>
              <a:rPr lang="fr-CA"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3800</a:t>
            </a:r>
            <a:r>
              <a:rPr lang="fr-CA" b="0" i="0" dirty="0">
                <a:solidFill>
                  <a:srgbClr val="0070C0"/>
                </a:solidFill>
                <a:effectLst/>
                <a:latin typeface="Gotham A"/>
              </a:rPr>
              <a:t>, AIDE GOUVERNEMENTALE). De même, lorsqu'une entreprise consent un prêt sans intérêt à un salarié, en l'absence d'indication contraire, la différence entre la juste valeur du prêt et la trésorerie versée au salarié est comptabilisée à titre de rémunération du salarié.</a:t>
            </a:r>
            <a:endParaRPr lang="fr-CA" dirty="0">
              <a:solidFill>
                <a:srgbClr val="0070C0"/>
              </a:solidFill>
            </a:endParaRPr>
          </a:p>
        </p:txBody>
      </p:sp>
      <p:sp>
        <p:nvSpPr>
          <p:cNvPr id="4" name="Espace réservé du pied de page 3">
            <a:extLst>
              <a:ext uri="{FF2B5EF4-FFF2-40B4-BE49-F238E27FC236}">
                <a16:creationId xmlns:a16="http://schemas.microsoft.com/office/drawing/2014/main" id="{9C8B3B27-94C9-53C3-F145-03C6C4AAFEA9}"/>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8A66184C-E9D0-B740-F2D3-92ABAA3DC52D}"/>
              </a:ext>
            </a:extLst>
          </p:cNvPr>
          <p:cNvSpPr>
            <a:spLocks noGrp="1"/>
          </p:cNvSpPr>
          <p:nvPr>
            <p:ph type="sldNum" sz="quarter" idx="12"/>
          </p:nvPr>
        </p:nvSpPr>
        <p:spPr/>
        <p:txBody>
          <a:bodyPr/>
          <a:lstStyle/>
          <a:p>
            <a:fld id="{D5C8285E-D276-48ED-A38D-FCE3A7D9B93F}" type="slidenum">
              <a:rPr lang="fr-CA" smtClean="0"/>
              <a:t>32</a:t>
            </a:fld>
            <a:endParaRPr lang="fr-CA"/>
          </a:p>
        </p:txBody>
      </p:sp>
    </p:spTree>
    <p:extLst>
      <p:ext uri="{BB962C8B-B14F-4D97-AF65-F5344CB8AC3E}">
        <p14:creationId xmlns:p14="http://schemas.microsoft.com/office/powerpoint/2010/main" val="2713697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29824F-E19B-567F-3E34-CBD477089C87}"/>
              </a:ext>
            </a:extLst>
          </p:cNvPr>
          <p:cNvSpPr>
            <a:spLocks noGrp="1"/>
          </p:cNvSpPr>
          <p:nvPr>
            <p:ph type="title"/>
          </p:nvPr>
        </p:nvSpPr>
        <p:spPr/>
        <p:txBody>
          <a:bodyPr/>
          <a:lstStyle/>
          <a:p>
            <a:r>
              <a:rPr lang="fr-CA" dirty="0"/>
              <a:t>Effet à recevoir</a:t>
            </a:r>
            <a:endParaRPr lang="fr-FR" dirty="0"/>
          </a:p>
        </p:txBody>
      </p:sp>
      <p:sp>
        <p:nvSpPr>
          <p:cNvPr id="3" name="Espace réservé du contenu 2">
            <a:extLst>
              <a:ext uri="{FF2B5EF4-FFF2-40B4-BE49-F238E27FC236}">
                <a16:creationId xmlns:a16="http://schemas.microsoft.com/office/drawing/2014/main" id="{CDA8EA44-C40E-5D25-765B-30B731F73AD7}"/>
              </a:ext>
            </a:extLst>
          </p:cNvPr>
          <p:cNvSpPr>
            <a:spLocks noGrp="1"/>
          </p:cNvSpPr>
          <p:nvPr>
            <p:ph idx="1"/>
          </p:nvPr>
        </p:nvSpPr>
        <p:spPr/>
        <p:txBody>
          <a:bodyPr>
            <a:normAutofit fontScale="55000" lnSpcReduction="20000"/>
          </a:bodyPr>
          <a:lstStyle/>
          <a:p>
            <a:pPr marL="0" indent="0" algn="l">
              <a:buNone/>
            </a:pPr>
            <a:r>
              <a:rPr lang="fr-CA" dirty="0"/>
              <a:t>et mesure subséquente au coût amorti</a:t>
            </a:r>
            <a:endParaRPr lang="fr-CA" b="1" i="0" dirty="0">
              <a:solidFill>
                <a:srgbClr val="0070C0"/>
              </a:solidFill>
              <a:effectLst/>
              <a:latin typeface="Gotham A"/>
            </a:endParaRPr>
          </a:p>
          <a:p>
            <a:pPr marL="0" indent="0" algn="l">
              <a:buNone/>
            </a:pPr>
            <a:r>
              <a:rPr lang="fr-CA" b="1" i="0" dirty="0">
                <a:solidFill>
                  <a:srgbClr val="0070C0"/>
                </a:solidFill>
                <a:effectLst/>
                <a:latin typeface="Gotham A"/>
              </a:rPr>
              <a:t>Évaluation ultérieure et comptabilisation en résultat</a:t>
            </a:r>
          </a:p>
          <a:p>
            <a:pPr marL="0" indent="0" algn="l">
              <a:buNone/>
            </a:pPr>
            <a:r>
              <a:rPr lang="fr-CA" b="0" i="0" dirty="0">
                <a:solidFill>
                  <a:srgbClr val="0070C0"/>
                </a:solidFill>
                <a:effectLst/>
                <a:latin typeface="Gotham A"/>
              </a:rPr>
              <a:t>(Le paragraphe </a:t>
            </a:r>
            <a:r>
              <a:rPr lang="fr-CA" b="0" i="0" u="none" strike="noStrike" dirty="0">
                <a:solidFill>
                  <a:srgbClr val="0070C0"/>
                </a:solidFill>
                <a:effectLst/>
                <a:latin typeface="Gotham A"/>
              </a:rPr>
              <a:t>3856.A13A</a:t>
            </a:r>
            <a:r>
              <a:rPr lang="fr-CA" b="0" i="0" dirty="0">
                <a:solidFill>
                  <a:srgbClr val="0070C0"/>
                </a:solidFill>
                <a:effectLst/>
                <a:latin typeface="Gotham A"/>
              </a:rPr>
              <a:t> fournit des précisions d'application sur le sujet.)</a:t>
            </a:r>
          </a:p>
          <a:p>
            <a:pPr marL="0" indent="0" algn="l">
              <a:buNone/>
            </a:pPr>
            <a:r>
              <a:rPr lang="fr-CA" b="0" i="0" dirty="0">
                <a:solidFill>
                  <a:srgbClr val="0070C0"/>
                </a:solidFill>
                <a:effectLst/>
                <a:latin typeface="Gotham A"/>
              </a:rPr>
              <a:t>.11    </a:t>
            </a:r>
            <a:r>
              <a:rPr lang="fr-CA" b="0" i="1" dirty="0">
                <a:solidFill>
                  <a:srgbClr val="0070C0"/>
                </a:solidFill>
                <a:effectLst/>
                <a:latin typeface="Gotham A"/>
              </a:rPr>
              <a:t>Sauf dans le cas des instruments financiers visés par les paragraphes </a:t>
            </a:r>
            <a:r>
              <a:rPr lang="fr-CA"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3856.14</a:t>
            </a:r>
            <a:r>
              <a:rPr lang="fr-CA" b="0" i="1" dirty="0">
                <a:solidFill>
                  <a:srgbClr val="0070C0"/>
                </a:solidFill>
                <a:effectLst/>
                <a:latin typeface="Gotham A"/>
              </a:rPr>
              <a:t> et .14A ou </a:t>
            </a:r>
            <a:r>
              <a:rPr lang="fr-CA"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15A</a:t>
            </a:r>
            <a:r>
              <a:rPr lang="fr-CA" b="0" i="1" dirty="0">
                <a:solidFill>
                  <a:srgbClr val="0070C0"/>
                </a:solidFill>
                <a:effectLst/>
                <a:latin typeface="Gotham A"/>
              </a:rPr>
              <a:t>, à chaque date de clôture, l'entreprise doit évaluer ultérieurement l'instrument financier en fonction de la méthode utilisée pour l'évaluer initialement. Si l'entreprise a évalué initialement l'instrument financier :</a:t>
            </a:r>
            <a:endParaRPr lang="fr-CA" b="0" i="0" dirty="0">
              <a:solidFill>
                <a:srgbClr val="0070C0"/>
              </a:solidFill>
              <a:effectLst/>
              <a:latin typeface="Gotham A"/>
            </a:endParaRPr>
          </a:p>
          <a:p>
            <a:pPr marL="0" indent="0" algn="l">
              <a:buNone/>
            </a:pPr>
            <a:r>
              <a:rPr lang="fr-CA" b="0" i="1" dirty="0">
                <a:solidFill>
                  <a:srgbClr val="0070C0"/>
                </a:solidFill>
                <a:effectLst/>
                <a:latin typeface="Gotham A"/>
              </a:rPr>
              <a:t>a)     à la juste valeur, elle doit l'évaluer ultérieurement comme suit :</a:t>
            </a:r>
            <a:endParaRPr lang="fr-CA" b="0" i="0" dirty="0">
              <a:solidFill>
                <a:srgbClr val="0070C0"/>
              </a:solidFill>
              <a:effectLst/>
              <a:latin typeface="Gotham A"/>
            </a:endParaRPr>
          </a:p>
          <a:p>
            <a:pPr marL="0" indent="0" algn="l">
              <a:buNone/>
            </a:pPr>
            <a:r>
              <a:rPr lang="fr-CA" b="0" i="1" dirty="0">
                <a:solidFill>
                  <a:srgbClr val="0070C0"/>
                </a:solidFill>
                <a:effectLst/>
                <a:latin typeface="Gotham A"/>
              </a:rPr>
              <a:t>i)     dans le cas de placements dans des instruments de capitaux propres cotés sur un marché actif ou des contrats dérivés, à la juste valeur conformément au paragraphe</a:t>
            </a:r>
            <a:r>
              <a:rPr lang="fr-CA" b="0" i="0" dirty="0">
                <a:solidFill>
                  <a:srgbClr val="0070C0"/>
                </a:solidFill>
                <a:effectLst/>
                <a:latin typeface="Gotham A"/>
              </a:rPr>
              <a:t> </a:t>
            </a:r>
            <a:r>
              <a:rPr lang="fr-CA"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3856.12</a:t>
            </a:r>
            <a:r>
              <a:rPr lang="fr-CA" b="0" i="1" dirty="0">
                <a:solidFill>
                  <a:srgbClr val="0070C0"/>
                </a:solidFill>
                <a:effectLst/>
                <a:latin typeface="Gotham A"/>
              </a:rPr>
              <a:t>,</a:t>
            </a:r>
            <a:endParaRPr lang="fr-CA" b="0" i="0" dirty="0">
              <a:solidFill>
                <a:srgbClr val="0070C0"/>
              </a:solidFill>
              <a:effectLst/>
              <a:latin typeface="Gotham A"/>
            </a:endParaRPr>
          </a:p>
          <a:p>
            <a:pPr marL="0" indent="0" algn="l">
              <a:buNone/>
            </a:pPr>
            <a:r>
              <a:rPr lang="fr-CA" b="0" i="1" dirty="0">
                <a:solidFill>
                  <a:srgbClr val="0070C0"/>
                </a:solidFill>
                <a:effectLst/>
                <a:latin typeface="Gotham A"/>
              </a:rPr>
              <a:t>ii)     dans le cas d'actifs financiers ou des passifs financiers, à la juste valeur, si l'entreprise choisit d'appliquer l'évaluation à la juste valeur conformément au paragraphe</a:t>
            </a:r>
            <a:r>
              <a:rPr lang="fr-CA" b="0" i="0" dirty="0">
                <a:solidFill>
                  <a:srgbClr val="0070C0"/>
                </a:solidFill>
                <a:effectLst/>
                <a:latin typeface="Gotham A"/>
              </a:rPr>
              <a:t> </a:t>
            </a:r>
            <a:r>
              <a:rPr lang="fr-CA"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3856.13</a:t>
            </a:r>
            <a:r>
              <a:rPr lang="fr-CA" b="0" i="0" dirty="0">
                <a:solidFill>
                  <a:srgbClr val="0070C0"/>
                </a:solidFill>
                <a:effectLst/>
                <a:latin typeface="Gotham A"/>
              </a:rPr>
              <a:t> </a:t>
            </a:r>
            <a:r>
              <a:rPr lang="fr-CA" b="0" i="1" dirty="0">
                <a:solidFill>
                  <a:srgbClr val="0070C0"/>
                </a:solidFill>
                <a:effectLst/>
                <a:latin typeface="Gotham A"/>
              </a:rPr>
              <a:t>ou</a:t>
            </a:r>
            <a:r>
              <a:rPr lang="fr-CA" b="0" i="0" dirty="0">
                <a:solidFill>
                  <a:srgbClr val="0070C0"/>
                </a:solidFill>
                <a:effectLst/>
                <a:latin typeface="Gotham A"/>
              </a:rPr>
              <a:t> </a:t>
            </a:r>
            <a:r>
              <a:rPr lang="fr-CA"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3856.13A</a:t>
            </a:r>
            <a:r>
              <a:rPr lang="fr-CA" b="0" i="1" dirty="0">
                <a:solidFill>
                  <a:srgbClr val="0070C0"/>
                </a:solidFill>
                <a:effectLst/>
                <a:latin typeface="Gotham A"/>
              </a:rPr>
              <a:t>,</a:t>
            </a:r>
            <a:endParaRPr lang="fr-CA" b="0" i="0" dirty="0">
              <a:solidFill>
                <a:srgbClr val="0070C0"/>
              </a:solidFill>
              <a:effectLst/>
              <a:latin typeface="Gotham A"/>
            </a:endParaRPr>
          </a:p>
          <a:p>
            <a:pPr marL="0" indent="0" algn="l">
              <a:buNone/>
            </a:pPr>
            <a:r>
              <a:rPr lang="fr-CA" b="0" i="1" dirty="0">
                <a:solidFill>
                  <a:srgbClr val="0070C0"/>
                </a:solidFill>
                <a:effectLst/>
                <a:latin typeface="Gotham A"/>
              </a:rPr>
              <a:t>iii)     dans le cas de placements dans des instruments de capitaux propres non cotés sur un marché actif qui ont été créés ou acquis dans une opération conclue dans des conditions de pleine concurrence, au coût, diminué pour tenir compte de la dépréciation le cas échéant,</a:t>
            </a:r>
            <a:endParaRPr lang="fr-CA" b="0" i="0" dirty="0">
              <a:solidFill>
                <a:srgbClr val="0070C0"/>
              </a:solidFill>
              <a:effectLst/>
              <a:latin typeface="Gotham A"/>
            </a:endParaRPr>
          </a:p>
          <a:p>
            <a:pPr marL="0" indent="0" algn="l">
              <a:buNone/>
            </a:pPr>
            <a:r>
              <a:rPr lang="fr-CA" b="0" i="1" dirty="0">
                <a:solidFill>
                  <a:srgbClr val="0070C0"/>
                </a:solidFill>
                <a:effectLst/>
                <a:latin typeface="Gotham A"/>
              </a:rPr>
              <a:t>iv)     </a:t>
            </a:r>
            <a:r>
              <a:rPr lang="fr-CA" b="0" i="1" dirty="0">
                <a:solidFill>
                  <a:srgbClr val="0070C0"/>
                </a:solidFill>
                <a:effectLst/>
                <a:highlight>
                  <a:srgbClr val="FFFF00"/>
                </a:highlight>
                <a:latin typeface="Gotham A"/>
              </a:rPr>
              <a:t>dans le cas de tous les autres actifs financiers, au coût après amortissement</a:t>
            </a:r>
            <a:r>
              <a:rPr lang="fr-CA" b="0" i="1" dirty="0">
                <a:solidFill>
                  <a:srgbClr val="0070C0"/>
                </a:solidFill>
                <a:effectLst/>
                <a:latin typeface="Gotham A"/>
              </a:rPr>
              <a:t>,</a:t>
            </a:r>
            <a:endParaRPr lang="fr-CA" b="0" i="0" dirty="0">
              <a:solidFill>
                <a:srgbClr val="0070C0"/>
              </a:solidFill>
              <a:effectLst/>
              <a:latin typeface="Gotham A"/>
            </a:endParaRPr>
          </a:p>
          <a:p>
            <a:pPr marL="0" indent="0" algn="l">
              <a:buNone/>
            </a:pPr>
            <a:r>
              <a:rPr lang="fr-CA" b="0" i="1" dirty="0">
                <a:solidFill>
                  <a:srgbClr val="0070C0"/>
                </a:solidFill>
                <a:effectLst/>
                <a:latin typeface="Gotham A"/>
              </a:rPr>
              <a:t>v)     dans le cas de passifs financiers, au coût après amortissement.</a:t>
            </a:r>
            <a:endParaRPr lang="fr-CA" b="0" i="0" dirty="0">
              <a:solidFill>
                <a:srgbClr val="0070C0"/>
              </a:solidFill>
              <a:effectLst/>
              <a:latin typeface="Gotham A"/>
            </a:endParaRPr>
          </a:p>
          <a:p>
            <a:pPr marL="0" indent="0" algn="l">
              <a:buNone/>
            </a:pPr>
            <a:r>
              <a:rPr lang="fr-CA" b="0" i="1" dirty="0">
                <a:solidFill>
                  <a:srgbClr val="0070C0"/>
                </a:solidFill>
                <a:effectLst/>
                <a:latin typeface="Gotham A"/>
              </a:rPr>
              <a:t>b)     au coût, elle doit l'évaluer ultérieurement selon la méthode du coût, diminué pour tenir compte de la dépréciation le cas échéant</a:t>
            </a:r>
            <a:r>
              <a:rPr lang="fr-CA" b="0" i="1" dirty="0">
                <a:solidFill>
                  <a:srgbClr val="444444"/>
                </a:solidFill>
                <a:effectLst/>
                <a:latin typeface="Gotham A"/>
              </a:rPr>
              <a:t>.</a:t>
            </a:r>
            <a:endParaRPr lang="fr-CA" b="0" i="0" dirty="0">
              <a:solidFill>
                <a:srgbClr val="444444"/>
              </a:solidFill>
              <a:effectLst/>
              <a:latin typeface="Gotham A"/>
            </a:endParaRPr>
          </a:p>
        </p:txBody>
      </p:sp>
      <p:sp>
        <p:nvSpPr>
          <p:cNvPr id="4" name="Espace réservé du pied de page 3">
            <a:extLst>
              <a:ext uri="{FF2B5EF4-FFF2-40B4-BE49-F238E27FC236}">
                <a16:creationId xmlns:a16="http://schemas.microsoft.com/office/drawing/2014/main" id="{9C8B3B27-94C9-53C3-F145-03C6C4AAFEA9}"/>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8A66184C-E9D0-B740-F2D3-92ABAA3DC52D}"/>
              </a:ext>
            </a:extLst>
          </p:cNvPr>
          <p:cNvSpPr>
            <a:spLocks noGrp="1"/>
          </p:cNvSpPr>
          <p:nvPr>
            <p:ph type="sldNum" sz="quarter" idx="12"/>
          </p:nvPr>
        </p:nvSpPr>
        <p:spPr/>
        <p:txBody>
          <a:bodyPr/>
          <a:lstStyle/>
          <a:p>
            <a:fld id="{D5C8285E-D276-48ED-A38D-FCE3A7D9B93F}" type="slidenum">
              <a:rPr lang="fr-CA" smtClean="0"/>
              <a:t>33</a:t>
            </a:fld>
            <a:endParaRPr lang="fr-CA"/>
          </a:p>
        </p:txBody>
      </p:sp>
    </p:spTree>
    <p:extLst>
      <p:ext uri="{BB962C8B-B14F-4D97-AF65-F5344CB8AC3E}">
        <p14:creationId xmlns:p14="http://schemas.microsoft.com/office/powerpoint/2010/main" val="2340770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29824F-E19B-567F-3E34-CBD477089C87}"/>
              </a:ext>
            </a:extLst>
          </p:cNvPr>
          <p:cNvSpPr>
            <a:spLocks noGrp="1"/>
          </p:cNvSpPr>
          <p:nvPr>
            <p:ph type="title"/>
          </p:nvPr>
        </p:nvSpPr>
        <p:spPr/>
        <p:txBody>
          <a:bodyPr/>
          <a:lstStyle/>
          <a:p>
            <a:r>
              <a:rPr lang="fr-CA" dirty="0"/>
              <a:t>Effet à recevoir</a:t>
            </a:r>
            <a:endParaRPr lang="fr-FR" dirty="0"/>
          </a:p>
        </p:txBody>
      </p:sp>
      <p:sp>
        <p:nvSpPr>
          <p:cNvPr id="3" name="Espace réservé du contenu 2">
            <a:extLst>
              <a:ext uri="{FF2B5EF4-FFF2-40B4-BE49-F238E27FC236}">
                <a16:creationId xmlns:a16="http://schemas.microsoft.com/office/drawing/2014/main" id="{CDA8EA44-C40E-5D25-765B-30B731F73AD7}"/>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9C8B3B27-94C9-53C3-F145-03C6C4AAFEA9}"/>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8A66184C-E9D0-B740-F2D3-92ABAA3DC52D}"/>
              </a:ext>
            </a:extLst>
          </p:cNvPr>
          <p:cNvSpPr>
            <a:spLocks noGrp="1"/>
          </p:cNvSpPr>
          <p:nvPr>
            <p:ph type="sldNum" sz="quarter" idx="12"/>
          </p:nvPr>
        </p:nvSpPr>
        <p:spPr/>
        <p:txBody>
          <a:bodyPr/>
          <a:lstStyle/>
          <a:p>
            <a:fld id="{D5C8285E-D276-48ED-A38D-FCE3A7D9B93F}" type="slidenum">
              <a:rPr lang="fr-CA" smtClean="0"/>
              <a:t>34</a:t>
            </a:fld>
            <a:endParaRPr lang="fr-CA"/>
          </a:p>
        </p:txBody>
      </p:sp>
      <p:graphicFrame>
        <p:nvGraphicFramePr>
          <p:cNvPr id="6" name="Objet 5">
            <a:extLst>
              <a:ext uri="{FF2B5EF4-FFF2-40B4-BE49-F238E27FC236}">
                <a16:creationId xmlns:a16="http://schemas.microsoft.com/office/drawing/2014/main" id="{E346B3A3-1255-FB92-19DF-50F01A3AA0AF}"/>
              </a:ext>
            </a:extLst>
          </p:cNvPr>
          <p:cNvGraphicFramePr>
            <a:graphicFrameLocks noChangeAspect="1"/>
          </p:cNvGraphicFramePr>
          <p:nvPr/>
        </p:nvGraphicFramePr>
        <p:xfrm>
          <a:off x="876300" y="1646238"/>
          <a:ext cx="10190768" cy="4618476"/>
        </p:xfrm>
        <a:graphic>
          <a:graphicData uri="http://schemas.openxmlformats.org/presentationml/2006/ole">
            <mc:AlternateContent xmlns:mc="http://schemas.openxmlformats.org/markup-compatibility/2006">
              <mc:Choice xmlns:v="urn:schemas-microsoft-com:vml" Requires="v">
                <p:oleObj name="Worksheet" r:id="rId2" imgW="7734226" imgH="3505112" progId="Excel.Sheet.12">
                  <p:embed/>
                </p:oleObj>
              </mc:Choice>
              <mc:Fallback>
                <p:oleObj name="Worksheet" r:id="rId2" imgW="7734226" imgH="3505112" progId="Excel.Sheet.12">
                  <p:embed/>
                  <p:pic>
                    <p:nvPicPr>
                      <p:cNvPr id="6" name="Objet 5">
                        <a:extLst>
                          <a:ext uri="{FF2B5EF4-FFF2-40B4-BE49-F238E27FC236}">
                            <a16:creationId xmlns:a16="http://schemas.microsoft.com/office/drawing/2014/main" id="{E346B3A3-1255-FB92-19DF-50F01A3AA0AF}"/>
                          </a:ext>
                        </a:extLst>
                      </p:cNvPr>
                      <p:cNvPicPr/>
                      <p:nvPr/>
                    </p:nvPicPr>
                    <p:blipFill>
                      <a:blip r:embed="rId3"/>
                      <a:stretch>
                        <a:fillRect/>
                      </a:stretch>
                    </p:blipFill>
                    <p:spPr>
                      <a:xfrm>
                        <a:off x="876300" y="1646238"/>
                        <a:ext cx="10190768" cy="4618476"/>
                      </a:xfrm>
                      <a:prstGeom prst="rect">
                        <a:avLst/>
                      </a:prstGeom>
                    </p:spPr>
                  </p:pic>
                </p:oleObj>
              </mc:Fallback>
            </mc:AlternateContent>
          </a:graphicData>
        </a:graphic>
      </p:graphicFrame>
    </p:spTree>
    <p:extLst>
      <p:ext uri="{BB962C8B-B14F-4D97-AF65-F5344CB8AC3E}">
        <p14:creationId xmlns:p14="http://schemas.microsoft.com/office/powerpoint/2010/main" val="3190236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77BD47-8205-01A7-5320-45E54BCF4452}"/>
              </a:ext>
            </a:extLst>
          </p:cNvPr>
          <p:cNvSpPr>
            <a:spLocks noGrp="1"/>
          </p:cNvSpPr>
          <p:nvPr>
            <p:ph type="title"/>
          </p:nvPr>
        </p:nvSpPr>
        <p:spPr/>
        <p:txBody>
          <a:bodyPr/>
          <a:lstStyle/>
          <a:p>
            <a:r>
              <a:rPr lang="fr-CA" dirty="0"/>
              <a:t>Placement en actions cotées</a:t>
            </a:r>
            <a:endParaRPr lang="fr-FR" dirty="0"/>
          </a:p>
        </p:txBody>
      </p:sp>
      <p:sp>
        <p:nvSpPr>
          <p:cNvPr id="3" name="Espace réservé du contenu 2">
            <a:extLst>
              <a:ext uri="{FF2B5EF4-FFF2-40B4-BE49-F238E27FC236}">
                <a16:creationId xmlns:a16="http://schemas.microsoft.com/office/drawing/2014/main" id="{DBED5D3A-D74B-95CF-2594-F171888A58D9}"/>
              </a:ext>
            </a:extLst>
          </p:cNvPr>
          <p:cNvSpPr>
            <a:spLocks noGrp="1"/>
          </p:cNvSpPr>
          <p:nvPr>
            <p:ph idx="1"/>
          </p:nvPr>
        </p:nvSpPr>
        <p:spPr>
          <a:xfrm>
            <a:off x="838200" y="1825625"/>
            <a:ext cx="10515600" cy="4667250"/>
          </a:xfrm>
        </p:spPr>
        <p:txBody>
          <a:bodyPr>
            <a:normAutofit lnSpcReduction="10000"/>
          </a:bodyPr>
          <a:lstStyle/>
          <a:p>
            <a:pPr marL="0" indent="0">
              <a:buNone/>
            </a:pPr>
            <a:r>
              <a:rPr lang="fr-CA" dirty="0"/>
              <a:t>Le 1</a:t>
            </a:r>
            <a:r>
              <a:rPr lang="fr-CA" baseline="30000" dirty="0"/>
              <a:t>er</a:t>
            </a:r>
            <a:r>
              <a:rPr lang="fr-CA" dirty="0"/>
              <a:t> janvier x1, ABC achète 100 actions de XYZ, qui est une société cotée à la Bourse. Le cours s’élève à 20 $. Son objectif est de faire un gain rapide et de revendre les actions dès que le prix cible sera atteint.</a:t>
            </a:r>
          </a:p>
          <a:p>
            <a:pPr marL="0" indent="0">
              <a:buNone/>
            </a:pPr>
            <a:r>
              <a:rPr lang="fr-CA" dirty="0"/>
              <a:t>Au 31 décembre x1, le cours s’élève à 22 $.</a:t>
            </a:r>
          </a:p>
          <a:p>
            <a:pPr marL="0" indent="0">
              <a:buNone/>
            </a:pPr>
            <a:r>
              <a:rPr lang="fr-CA" dirty="0"/>
              <a:t>ABC présente le placement à 2 000 $ au bilan du 31 décembre x1. Apporter un correctif, le cas échéant, pour l’exercice clos le 31 décembre X1.</a:t>
            </a:r>
          </a:p>
          <a:p>
            <a:pPr marL="0" indent="0">
              <a:buNone/>
            </a:pPr>
            <a:endParaRPr lang="fr-CA" dirty="0"/>
          </a:p>
          <a:p>
            <a:pPr marL="0" indent="0">
              <a:buNone/>
            </a:pPr>
            <a:r>
              <a:rPr lang="fr-CA" dirty="0"/>
              <a:t>IFRS et NCECF</a:t>
            </a:r>
          </a:p>
          <a:p>
            <a:pPr>
              <a:buFont typeface="Wingdings" panose="05000000000000000000" pitchFamily="2" charset="2"/>
              <a:buChar char="Ø"/>
            </a:pPr>
            <a:r>
              <a:rPr lang="fr-CA" i="1" dirty="0"/>
              <a:t> à rédiger comme un cas, avec support norme (extraits ou dans vos mots)</a:t>
            </a:r>
            <a:endParaRPr lang="fr-FR" dirty="0"/>
          </a:p>
          <a:p>
            <a:pPr marL="0" indent="0">
              <a:buNone/>
            </a:pPr>
            <a:endParaRPr lang="fr-FR" dirty="0"/>
          </a:p>
        </p:txBody>
      </p:sp>
      <p:sp>
        <p:nvSpPr>
          <p:cNvPr id="4" name="Espace réservé du pied de page 3">
            <a:extLst>
              <a:ext uri="{FF2B5EF4-FFF2-40B4-BE49-F238E27FC236}">
                <a16:creationId xmlns:a16="http://schemas.microsoft.com/office/drawing/2014/main" id="{132F16D9-5747-89C5-2CCF-9A942F8438D2}"/>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CF258B5C-2595-C649-7BD0-7CF756866F32}"/>
              </a:ext>
            </a:extLst>
          </p:cNvPr>
          <p:cNvSpPr>
            <a:spLocks noGrp="1"/>
          </p:cNvSpPr>
          <p:nvPr>
            <p:ph type="sldNum" sz="quarter" idx="12"/>
          </p:nvPr>
        </p:nvSpPr>
        <p:spPr/>
        <p:txBody>
          <a:bodyPr/>
          <a:lstStyle/>
          <a:p>
            <a:fld id="{D5C8285E-D276-48ED-A38D-FCE3A7D9B93F}" type="slidenum">
              <a:rPr lang="fr-CA" smtClean="0"/>
              <a:t>35</a:t>
            </a:fld>
            <a:endParaRPr lang="fr-CA"/>
          </a:p>
        </p:txBody>
      </p:sp>
    </p:spTree>
    <p:extLst>
      <p:ext uri="{BB962C8B-B14F-4D97-AF65-F5344CB8AC3E}">
        <p14:creationId xmlns:p14="http://schemas.microsoft.com/office/powerpoint/2010/main" val="25632716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668108-0F88-D7EE-049C-668BF575032C}"/>
              </a:ext>
            </a:extLst>
          </p:cNvPr>
          <p:cNvSpPr>
            <a:spLocks noGrp="1"/>
          </p:cNvSpPr>
          <p:nvPr>
            <p:ph type="title"/>
          </p:nvPr>
        </p:nvSpPr>
        <p:spPr/>
        <p:txBody>
          <a:bodyPr/>
          <a:lstStyle/>
          <a:p>
            <a:r>
              <a:rPr lang="fr-CA" dirty="0"/>
              <a:t>IFRS</a:t>
            </a:r>
            <a:endParaRPr lang="fr-FR" dirty="0"/>
          </a:p>
        </p:txBody>
      </p:sp>
      <p:sp>
        <p:nvSpPr>
          <p:cNvPr id="3" name="Espace réservé du contenu 2">
            <a:extLst>
              <a:ext uri="{FF2B5EF4-FFF2-40B4-BE49-F238E27FC236}">
                <a16:creationId xmlns:a16="http://schemas.microsoft.com/office/drawing/2014/main" id="{FDA9A508-C8D5-4195-0AAD-5B6E43629E05}"/>
              </a:ext>
            </a:extLst>
          </p:cNvPr>
          <p:cNvSpPr>
            <a:spLocks noGrp="1"/>
          </p:cNvSpPr>
          <p:nvPr>
            <p:ph idx="1"/>
          </p:nvPr>
        </p:nvSpPr>
        <p:spPr/>
        <p:txBody>
          <a:bodyPr>
            <a:normAutofit/>
          </a:bodyPr>
          <a:lstStyle/>
          <a:p>
            <a:pPr marL="0" indent="0">
              <a:buNone/>
            </a:pPr>
            <a:r>
              <a:rPr lang="fr-CA" sz="2400" i="0" dirty="0">
                <a:solidFill>
                  <a:srgbClr val="0070C0"/>
                </a:solidFill>
                <a:effectLst/>
                <a:latin typeface="Gotham A"/>
              </a:rPr>
              <a:t>4.1.4   Un actif financier doit être évalué à la juste valeur par le biais du résultat net, à moins qu'il ne soit évalué au coût amorti selon le paragraphe </a:t>
            </a:r>
            <a:r>
              <a:rPr lang="fr-CA" sz="240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4.1.2</a:t>
            </a:r>
            <a:r>
              <a:rPr lang="fr-CA" sz="2400" i="0" dirty="0">
                <a:solidFill>
                  <a:srgbClr val="0070C0"/>
                </a:solidFill>
                <a:effectLst/>
                <a:latin typeface="Gotham A"/>
              </a:rPr>
              <a:t> ou à la juste valeur par le biais des autres éléments du résultat global selon le paragraphe </a:t>
            </a:r>
            <a:r>
              <a:rPr lang="fr-CA" sz="2400" i="0" u="none" strike="noStrike" dirty="0">
                <a:solidFill>
                  <a:srgbClr val="0070C0"/>
                </a:solidFill>
                <a:effectLst/>
                <a:latin typeface="Gotham A"/>
              </a:rPr>
              <a:t>4.1.2A</a:t>
            </a:r>
            <a:r>
              <a:rPr lang="fr-CA" sz="2400" i="0" dirty="0">
                <a:solidFill>
                  <a:srgbClr val="0070C0"/>
                </a:solidFill>
                <a:effectLst/>
                <a:latin typeface="Gotham A"/>
              </a:rPr>
              <a:t>. Cependant, l'entité peut faire le choix irrévocable, lors de la comptabilisation initiale, de présenter dans les autres éléments du résultat global les variations futures de la juste valeur d'un placement particulier en</a:t>
            </a:r>
            <a:r>
              <a:rPr lang="fr-CA" sz="2400" i="1" dirty="0">
                <a:solidFill>
                  <a:srgbClr val="0070C0"/>
                </a:solidFill>
                <a:effectLst/>
                <a:latin typeface="Gotham A"/>
              </a:rPr>
              <a:t> instruments de capitaux propres</a:t>
            </a:r>
            <a:r>
              <a:rPr lang="fr-CA" sz="2400" i="0" dirty="0">
                <a:solidFill>
                  <a:srgbClr val="0070C0"/>
                </a:solidFill>
                <a:effectLst/>
                <a:latin typeface="Gotham A"/>
              </a:rPr>
              <a:t> qui serait autrement évalué à la juste valeur par le biais du résultat net (voir paragraphes </a:t>
            </a:r>
            <a:r>
              <a:rPr lang="fr-CA" sz="240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5.7.5</a:t>
            </a:r>
            <a:r>
              <a:rPr lang="fr-CA" sz="2400" i="0" dirty="0">
                <a:solidFill>
                  <a:srgbClr val="0070C0"/>
                </a:solidFill>
                <a:effectLst/>
                <a:latin typeface="Gotham A"/>
              </a:rPr>
              <a:t> et 5.7.6).</a:t>
            </a:r>
            <a:endParaRPr lang="fr-FR" sz="2400" dirty="0">
              <a:solidFill>
                <a:srgbClr val="0070C0"/>
              </a:solidFill>
            </a:endParaRPr>
          </a:p>
        </p:txBody>
      </p:sp>
      <p:sp>
        <p:nvSpPr>
          <p:cNvPr id="4" name="Espace réservé du pied de page 3">
            <a:extLst>
              <a:ext uri="{FF2B5EF4-FFF2-40B4-BE49-F238E27FC236}">
                <a16:creationId xmlns:a16="http://schemas.microsoft.com/office/drawing/2014/main" id="{28FEF980-FE76-49A3-E472-D34C4874B2A9}"/>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B397C25F-1262-A24A-282D-CE728694AD96}"/>
              </a:ext>
            </a:extLst>
          </p:cNvPr>
          <p:cNvSpPr>
            <a:spLocks noGrp="1"/>
          </p:cNvSpPr>
          <p:nvPr>
            <p:ph type="sldNum" sz="quarter" idx="12"/>
          </p:nvPr>
        </p:nvSpPr>
        <p:spPr/>
        <p:txBody>
          <a:bodyPr/>
          <a:lstStyle/>
          <a:p>
            <a:fld id="{D5C8285E-D276-48ED-A38D-FCE3A7D9B93F}" type="slidenum">
              <a:rPr lang="fr-CA" smtClean="0"/>
              <a:t>36</a:t>
            </a:fld>
            <a:endParaRPr lang="fr-CA"/>
          </a:p>
        </p:txBody>
      </p:sp>
    </p:spTree>
    <p:extLst>
      <p:ext uri="{BB962C8B-B14F-4D97-AF65-F5344CB8AC3E}">
        <p14:creationId xmlns:p14="http://schemas.microsoft.com/office/powerpoint/2010/main" val="3249536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668108-0F88-D7EE-049C-668BF575032C}"/>
              </a:ext>
            </a:extLst>
          </p:cNvPr>
          <p:cNvSpPr>
            <a:spLocks noGrp="1"/>
          </p:cNvSpPr>
          <p:nvPr>
            <p:ph type="title"/>
          </p:nvPr>
        </p:nvSpPr>
        <p:spPr/>
        <p:txBody>
          <a:bodyPr/>
          <a:lstStyle/>
          <a:p>
            <a:r>
              <a:rPr lang="fr-CA" dirty="0"/>
              <a:t>IFRS</a:t>
            </a:r>
            <a:endParaRPr lang="fr-FR" dirty="0"/>
          </a:p>
        </p:txBody>
      </p:sp>
      <p:sp>
        <p:nvSpPr>
          <p:cNvPr id="3" name="Espace réservé du contenu 2">
            <a:extLst>
              <a:ext uri="{FF2B5EF4-FFF2-40B4-BE49-F238E27FC236}">
                <a16:creationId xmlns:a16="http://schemas.microsoft.com/office/drawing/2014/main" id="{FDA9A508-C8D5-4195-0AAD-5B6E43629E05}"/>
              </a:ext>
            </a:extLst>
          </p:cNvPr>
          <p:cNvSpPr>
            <a:spLocks noGrp="1"/>
          </p:cNvSpPr>
          <p:nvPr>
            <p:ph idx="1"/>
          </p:nvPr>
        </p:nvSpPr>
        <p:spPr/>
        <p:txBody>
          <a:bodyPr>
            <a:normAutofit lnSpcReduction="10000"/>
          </a:bodyPr>
          <a:lstStyle/>
          <a:p>
            <a:pPr marL="0" indent="0">
              <a:buNone/>
            </a:pPr>
            <a:r>
              <a:rPr lang="fr-CA" i="0" dirty="0">
                <a:effectLst/>
                <a:latin typeface="Gotham A"/>
              </a:rPr>
              <a:t>Annexe A</a:t>
            </a:r>
          </a:p>
          <a:p>
            <a:pPr marL="0" indent="0">
              <a:buNone/>
            </a:pPr>
            <a:r>
              <a:rPr lang="fr-CA" b="1" i="0" dirty="0">
                <a:solidFill>
                  <a:srgbClr val="0070C0"/>
                </a:solidFill>
                <a:effectLst/>
                <a:latin typeface="Gotham A"/>
              </a:rPr>
              <a:t>Détenu à des fins de transaction</a:t>
            </a:r>
          </a:p>
          <a:p>
            <a:pPr marL="0" indent="0" algn="l">
              <a:buNone/>
            </a:pPr>
            <a:r>
              <a:rPr lang="fr-CA" sz="2400" b="0" i="0" dirty="0">
                <a:solidFill>
                  <a:srgbClr val="0070C0"/>
                </a:solidFill>
                <a:effectLst/>
                <a:latin typeface="Gotham A"/>
              </a:rPr>
              <a:t>Se dit d'un actif financier ou d'un passif financier qui répond à l'une ou l'autre des conditions suivantes :</a:t>
            </a:r>
          </a:p>
          <a:p>
            <a:pPr marL="0" indent="0" algn="l">
              <a:buNone/>
            </a:pPr>
            <a:r>
              <a:rPr lang="fr-CA" sz="2400" b="0" i="0" dirty="0">
                <a:solidFill>
                  <a:srgbClr val="0070C0"/>
                </a:solidFill>
                <a:effectLst/>
                <a:latin typeface="Gotham A"/>
              </a:rPr>
              <a:t>(a) il est acquis ou assumé principalement en vue d'une revente prochaine ou d'un rachat prochain ;</a:t>
            </a:r>
          </a:p>
          <a:p>
            <a:pPr marL="0" indent="0" algn="l">
              <a:buNone/>
            </a:pPr>
            <a:r>
              <a:rPr lang="fr-CA" sz="2400" b="0" i="0" dirty="0">
                <a:solidFill>
                  <a:srgbClr val="0070C0"/>
                </a:solidFill>
                <a:effectLst/>
                <a:latin typeface="Gotham A"/>
              </a:rPr>
              <a:t>(b) lors de sa comptabilisation initiale, il fait partie d'un portefeuille d'instruments financiers déterminés qui sont gérés ensemble et qui présentent des indications d'un profil récent de prise de profits à court terme ;</a:t>
            </a:r>
          </a:p>
          <a:p>
            <a:pPr marL="0" indent="0" algn="l">
              <a:buNone/>
            </a:pPr>
            <a:r>
              <a:rPr lang="fr-CA" sz="2400" b="0" i="0" dirty="0">
                <a:solidFill>
                  <a:srgbClr val="0070C0"/>
                </a:solidFill>
                <a:effectLst/>
                <a:latin typeface="Gotham A"/>
              </a:rPr>
              <a:t>(c) il est un </a:t>
            </a:r>
            <a:r>
              <a:rPr lang="fr-CA" sz="2400" b="1" i="0" dirty="0">
                <a:solidFill>
                  <a:srgbClr val="0070C0"/>
                </a:solidFill>
                <a:effectLst/>
                <a:latin typeface="Gotham A"/>
              </a:rPr>
              <a:t>dérivé</a:t>
            </a:r>
            <a:r>
              <a:rPr lang="fr-CA" sz="2400" b="0" i="0" dirty="0">
                <a:solidFill>
                  <a:srgbClr val="0070C0"/>
                </a:solidFill>
                <a:effectLst/>
                <a:latin typeface="Gotham A"/>
              </a:rPr>
              <a:t> (à l'exception d'un dérivé qui est un contrat de garantie financière ou un instrument de couverture désigné et efficace).</a:t>
            </a:r>
            <a:endParaRPr lang="fr-CA" b="0" i="0" dirty="0">
              <a:solidFill>
                <a:srgbClr val="0070C0"/>
              </a:solidFill>
              <a:effectLst/>
              <a:latin typeface="Gotham A"/>
            </a:endParaRPr>
          </a:p>
          <a:p>
            <a:pPr marL="0" indent="0">
              <a:buNone/>
            </a:pPr>
            <a:endParaRPr lang="fr-FR" dirty="0">
              <a:solidFill>
                <a:srgbClr val="0070C0"/>
              </a:solidFill>
            </a:endParaRPr>
          </a:p>
        </p:txBody>
      </p:sp>
      <p:sp>
        <p:nvSpPr>
          <p:cNvPr id="4" name="Espace réservé du pied de page 3">
            <a:extLst>
              <a:ext uri="{FF2B5EF4-FFF2-40B4-BE49-F238E27FC236}">
                <a16:creationId xmlns:a16="http://schemas.microsoft.com/office/drawing/2014/main" id="{28FEF980-FE76-49A3-E472-D34C4874B2A9}"/>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B397C25F-1262-A24A-282D-CE728694AD96}"/>
              </a:ext>
            </a:extLst>
          </p:cNvPr>
          <p:cNvSpPr>
            <a:spLocks noGrp="1"/>
          </p:cNvSpPr>
          <p:nvPr>
            <p:ph type="sldNum" sz="quarter" idx="12"/>
          </p:nvPr>
        </p:nvSpPr>
        <p:spPr/>
        <p:txBody>
          <a:bodyPr/>
          <a:lstStyle/>
          <a:p>
            <a:fld id="{D5C8285E-D276-48ED-A38D-FCE3A7D9B93F}" type="slidenum">
              <a:rPr lang="fr-CA" smtClean="0"/>
              <a:t>37</a:t>
            </a:fld>
            <a:endParaRPr lang="fr-CA"/>
          </a:p>
        </p:txBody>
      </p:sp>
    </p:spTree>
    <p:extLst>
      <p:ext uri="{BB962C8B-B14F-4D97-AF65-F5344CB8AC3E}">
        <p14:creationId xmlns:p14="http://schemas.microsoft.com/office/powerpoint/2010/main" val="39694004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668108-0F88-D7EE-049C-668BF575032C}"/>
              </a:ext>
            </a:extLst>
          </p:cNvPr>
          <p:cNvSpPr>
            <a:spLocks noGrp="1"/>
          </p:cNvSpPr>
          <p:nvPr>
            <p:ph type="title"/>
          </p:nvPr>
        </p:nvSpPr>
        <p:spPr/>
        <p:txBody>
          <a:bodyPr/>
          <a:lstStyle/>
          <a:p>
            <a:r>
              <a:rPr lang="fr-CA" dirty="0"/>
              <a:t>NCECF</a:t>
            </a:r>
            <a:endParaRPr lang="fr-FR" dirty="0"/>
          </a:p>
        </p:txBody>
      </p:sp>
      <p:sp>
        <p:nvSpPr>
          <p:cNvPr id="3" name="Espace réservé du contenu 2">
            <a:extLst>
              <a:ext uri="{FF2B5EF4-FFF2-40B4-BE49-F238E27FC236}">
                <a16:creationId xmlns:a16="http://schemas.microsoft.com/office/drawing/2014/main" id="{FDA9A508-C8D5-4195-0AAD-5B6E43629E05}"/>
              </a:ext>
            </a:extLst>
          </p:cNvPr>
          <p:cNvSpPr>
            <a:spLocks noGrp="1"/>
          </p:cNvSpPr>
          <p:nvPr>
            <p:ph idx="1"/>
          </p:nvPr>
        </p:nvSpPr>
        <p:spPr/>
        <p:txBody>
          <a:bodyPr>
            <a:normAutofit/>
          </a:bodyPr>
          <a:lstStyle/>
          <a:p>
            <a:pPr marL="0" indent="0">
              <a:buNone/>
            </a:pPr>
            <a:r>
              <a:rPr lang="fr-CA" sz="2400" b="1" i="0" dirty="0">
                <a:solidFill>
                  <a:srgbClr val="0070C0"/>
                </a:solidFill>
                <a:effectLst/>
                <a:latin typeface="Gotham A"/>
              </a:rPr>
              <a:t>Opérations conclues dans des conditions de pleine concurrence</a:t>
            </a:r>
          </a:p>
          <a:p>
            <a:pPr marL="0" indent="0">
              <a:buNone/>
            </a:pPr>
            <a:r>
              <a:rPr lang="fr-CA" sz="2400" b="0" i="0" dirty="0">
                <a:solidFill>
                  <a:srgbClr val="0070C0"/>
                </a:solidFill>
                <a:effectLst/>
                <a:latin typeface="Gotham A"/>
              </a:rPr>
              <a:t>.07    </a:t>
            </a:r>
            <a:r>
              <a:rPr lang="fr-CA" sz="2400" b="0" i="1" dirty="0">
                <a:solidFill>
                  <a:srgbClr val="0070C0"/>
                </a:solidFill>
                <a:effectLst/>
                <a:latin typeface="Gotham A"/>
              </a:rPr>
              <a:t>Sauf dans les cas précisés au paragraphe</a:t>
            </a:r>
            <a:r>
              <a:rPr lang="fr-CA" sz="2400" b="0" i="0" dirty="0">
                <a:solidFill>
                  <a:srgbClr val="0070C0"/>
                </a:solidFill>
                <a:effectLst/>
                <a:latin typeface="Gotham A"/>
              </a:rPr>
              <a:t> </a:t>
            </a:r>
            <a:r>
              <a:rPr lang="fr-CA" sz="2400" b="0" i="0" u="none" strike="noStrike" dirty="0">
                <a:solidFill>
                  <a:srgbClr val="0070C0"/>
                </a:solidFill>
                <a:effectLst/>
                <a:latin typeface="Gotham A"/>
              </a:rPr>
              <a:t>3856.09A</a:t>
            </a:r>
            <a:r>
              <a:rPr lang="fr-CA" sz="2400" b="0" i="1" dirty="0">
                <a:solidFill>
                  <a:srgbClr val="0070C0"/>
                </a:solidFill>
                <a:effectLst/>
                <a:latin typeface="Gotham A"/>
              </a:rPr>
              <a:t>, lorsqu'un actif financier est créé ou acquis ou qu'un passif financier est émis ou pris en charge dans une opération conclue dans des conditions de pleine concurrence, l'entreprise doit l'évaluer à sa juste valeur, ajustée, dans le cas d'un actif financier ou d'un passif financier qui ne sera pas évalué ultérieurement à la juste valeur, en fonction du montant des commissions et des coûts de transaction directement attribuables à sa création, à son acquisition, à son émission ou à sa prise en charge.</a:t>
            </a:r>
            <a:r>
              <a:rPr lang="fr-CA" sz="2400" b="0" i="0" dirty="0">
                <a:solidFill>
                  <a:srgbClr val="0070C0"/>
                </a:solidFill>
                <a:effectLst/>
                <a:latin typeface="Gotham A"/>
              </a:rPr>
              <a:t> (Les paragraphes </a:t>
            </a:r>
            <a:r>
              <a:rPr lang="fr-CA" sz="2400"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3856.A8</a:t>
            </a:r>
            <a:r>
              <a:rPr lang="fr-CA" sz="2400" b="0" i="0" dirty="0">
                <a:solidFill>
                  <a:srgbClr val="0070C0"/>
                </a:solidFill>
                <a:effectLst/>
                <a:latin typeface="Gotham A"/>
              </a:rPr>
              <a:t> et </a:t>
            </a:r>
            <a:r>
              <a:rPr lang="fr-CA" sz="2400"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3856.A9</a:t>
            </a:r>
            <a:r>
              <a:rPr lang="fr-CA" sz="2400" b="0" i="0" dirty="0">
                <a:solidFill>
                  <a:srgbClr val="0070C0"/>
                </a:solidFill>
                <a:effectLst/>
                <a:latin typeface="Gotham A"/>
              </a:rPr>
              <a:t> à .A13 fournissent des précisions d'application sur le sujet.) [Le libellé de l'ancien paragraphe </a:t>
            </a:r>
            <a:r>
              <a:rPr lang="fr-CA" sz="2400"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3856.07</a:t>
            </a:r>
            <a:r>
              <a:rPr lang="fr-CA" sz="2400" b="0" i="0" dirty="0">
                <a:solidFill>
                  <a:srgbClr val="0070C0"/>
                </a:solidFill>
                <a:effectLst/>
                <a:latin typeface="Gotham A"/>
              </a:rPr>
              <a:t> se trouve dans les Prises de position archivées.]</a:t>
            </a:r>
          </a:p>
          <a:p>
            <a:pPr marL="0" indent="0">
              <a:buNone/>
            </a:pPr>
            <a:endParaRPr lang="fr-FR" dirty="0">
              <a:solidFill>
                <a:srgbClr val="0070C0"/>
              </a:solidFill>
            </a:endParaRPr>
          </a:p>
        </p:txBody>
      </p:sp>
      <p:sp>
        <p:nvSpPr>
          <p:cNvPr id="4" name="Espace réservé du pied de page 3">
            <a:extLst>
              <a:ext uri="{FF2B5EF4-FFF2-40B4-BE49-F238E27FC236}">
                <a16:creationId xmlns:a16="http://schemas.microsoft.com/office/drawing/2014/main" id="{28FEF980-FE76-49A3-E472-D34C4874B2A9}"/>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B397C25F-1262-A24A-282D-CE728694AD96}"/>
              </a:ext>
            </a:extLst>
          </p:cNvPr>
          <p:cNvSpPr>
            <a:spLocks noGrp="1"/>
          </p:cNvSpPr>
          <p:nvPr>
            <p:ph type="sldNum" sz="quarter" idx="12"/>
          </p:nvPr>
        </p:nvSpPr>
        <p:spPr/>
        <p:txBody>
          <a:bodyPr/>
          <a:lstStyle/>
          <a:p>
            <a:fld id="{D5C8285E-D276-48ED-A38D-FCE3A7D9B93F}" type="slidenum">
              <a:rPr lang="fr-CA" smtClean="0"/>
              <a:t>38</a:t>
            </a:fld>
            <a:endParaRPr lang="fr-CA"/>
          </a:p>
        </p:txBody>
      </p:sp>
    </p:spTree>
    <p:extLst>
      <p:ext uri="{BB962C8B-B14F-4D97-AF65-F5344CB8AC3E}">
        <p14:creationId xmlns:p14="http://schemas.microsoft.com/office/powerpoint/2010/main" val="4197903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668108-0F88-D7EE-049C-668BF575032C}"/>
              </a:ext>
            </a:extLst>
          </p:cNvPr>
          <p:cNvSpPr>
            <a:spLocks noGrp="1"/>
          </p:cNvSpPr>
          <p:nvPr>
            <p:ph type="title"/>
          </p:nvPr>
        </p:nvSpPr>
        <p:spPr/>
        <p:txBody>
          <a:bodyPr/>
          <a:lstStyle/>
          <a:p>
            <a:r>
              <a:rPr lang="fr-CA" dirty="0"/>
              <a:t>NCECF</a:t>
            </a:r>
            <a:endParaRPr lang="fr-FR" dirty="0"/>
          </a:p>
        </p:txBody>
      </p:sp>
      <p:sp>
        <p:nvSpPr>
          <p:cNvPr id="3" name="Espace réservé du contenu 2">
            <a:extLst>
              <a:ext uri="{FF2B5EF4-FFF2-40B4-BE49-F238E27FC236}">
                <a16:creationId xmlns:a16="http://schemas.microsoft.com/office/drawing/2014/main" id="{FDA9A508-C8D5-4195-0AAD-5B6E43629E05}"/>
              </a:ext>
            </a:extLst>
          </p:cNvPr>
          <p:cNvSpPr>
            <a:spLocks noGrp="1"/>
          </p:cNvSpPr>
          <p:nvPr>
            <p:ph idx="1"/>
          </p:nvPr>
        </p:nvSpPr>
        <p:spPr/>
        <p:txBody>
          <a:bodyPr>
            <a:normAutofit lnSpcReduction="10000"/>
          </a:bodyPr>
          <a:lstStyle/>
          <a:p>
            <a:pPr marL="0" indent="0" algn="l">
              <a:buNone/>
            </a:pPr>
            <a:r>
              <a:rPr lang="fr-CA" sz="2000" b="0" i="0" dirty="0">
                <a:effectLst/>
                <a:latin typeface="Gotham A"/>
              </a:rPr>
              <a:t>Mesure subséquente</a:t>
            </a:r>
          </a:p>
          <a:p>
            <a:pPr marL="0" indent="0" algn="l">
              <a:buNone/>
            </a:pPr>
            <a:r>
              <a:rPr lang="fr-CA" sz="2000" b="0" i="0" dirty="0">
                <a:solidFill>
                  <a:srgbClr val="0070C0"/>
                </a:solidFill>
                <a:effectLst/>
                <a:latin typeface="Gotham A"/>
              </a:rPr>
              <a:t>.12    </a:t>
            </a:r>
            <a:r>
              <a:rPr lang="fr-CA" sz="2000" b="0" i="1" dirty="0">
                <a:solidFill>
                  <a:srgbClr val="0070C0"/>
                </a:solidFill>
                <a:effectLst/>
                <a:latin typeface="Gotham A"/>
              </a:rPr>
              <a:t>L'entreprise doit évaluer ultérieurement les instruments financiers suivants à la juste valeur, sans tenir compte des coûts de transaction qu'elle peut engager en cas de vente ou autre sortie :</a:t>
            </a:r>
            <a:endParaRPr lang="fr-CA" sz="2000" b="0" i="0" dirty="0">
              <a:solidFill>
                <a:srgbClr val="0070C0"/>
              </a:solidFill>
              <a:effectLst/>
              <a:latin typeface="Gotham A"/>
            </a:endParaRPr>
          </a:p>
          <a:p>
            <a:pPr marL="0" indent="0" algn="l">
              <a:buNone/>
            </a:pPr>
            <a:r>
              <a:rPr lang="fr-CA" sz="2000" b="0" i="1" dirty="0">
                <a:solidFill>
                  <a:srgbClr val="0070C0"/>
                </a:solidFill>
                <a:effectLst/>
                <a:latin typeface="Gotham A"/>
              </a:rPr>
              <a:t>a)     </a:t>
            </a:r>
            <a:r>
              <a:rPr lang="fr-CA" sz="2000" b="0" i="1" dirty="0">
                <a:solidFill>
                  <a:srgbClr val="0070C0"/>
                </a:solidFill>
                <a:effectLst/>
                <a:highlight>
                  <a:srgbClr val="FFFF00"/>
                </a:highlight>
                <a:latin typeface="Gotham A"/>
              </a:rPr>
              <a:t>les placements dans des instruments de capitaux propres cotés sur un marché actif</a:t>
            </a:r>
            <a:r>
              <a:rPr lang="fr-CA" sz="2000" b="0" i="0" dirty="0">
                <a:solidFill>
                  <a:srgbClr val="0070C0"/>
                </a:solidFill>
                <a:effectLst/>
                <a:highlight>
                  <a:srgbClr val="FFFF00"/>
                </a:highlight>
                <a:latin typeface="Gotham A"/>
              </a:rPr>
              <a:t> </a:t>
            </a:r>
            <a:r>
              <a:rPr lang="fr-CA" sz="2000" b="0" i="0" dirty="0">
                <a:solidFill>
                  <a:srgbClr val="0070C0"/>
                </a:solidFill>
                <a:effectLst/>
                <a:latin typeface="Gotham A"/>
              </a:rPr>
              <a:t>(voir les paragraphes </a:t>
            </a:r>
            <a:r>
              <a:rPr lang="fr-CA" sz="2000"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3856.A9</a:t>
            </a:r>
            <a:r>
              <a:rPr lang="fr-CA" sz="2000" b="0" i="0" dirty="0">
                <a:solidFill>
                  <a:srgbClr val="0070C0"/>
                </a:solidFill>
                <a:effectLst/>
                <a:latin typeface="Gotham A"/>
              </a:rPr>
              <a:t> à .A11)</a:t>
            </a:r>
            <a:r>
              <a:rPr lang="fr-CA" sz="2000" b="0" i="1" dirty="0">
                <a:solidFill>
                  <a:srgbClr val="0070C0"/>
                </a:solidFill>
                <a:effectLst/>
                <a:latin typeface="Gotham A"/>
              </a:rPr>
              <a:t>;</a:t>
            </a:r>
            <a:endParaRPr lang="fr-CA" sz="2000" b="0" i="0" dirty="0">
              <a:solidFill>
                <a:srgbClr val="0070C0"/>
              </a:solidFill>
              <a:effectLst/>
              <a:latin typeface="Gotham A"/>
            </a:endParaRPr>
          </a:p>
          <a:p>
            <a:pPr marL="0" indent="0" algn="l">
              <a:buNone/>
            </a:pPr>
            <a:r>
              <a:rPr lang="fr-CA" sz="2000" b="0" i="1" dirty="0">
                <a:solidFill>
                  <a:srgbClr val="0070C0"/>
                </a:solidFill>
                <a:effectLst/>
                <a:latin typeface="Gotham A"/>
              </a:rPr>
              <a:t>b)     les contrats dérivés autres que :</a:t>
            </a:r>
            <a:endParaRPr lang="fr-CA" sz="2000" b="0" i="0" dirty="0">
              <a:solidFill>
                <a:srgbClr val="0070C0"/>
              </a:solidFill>
              <a:effectLst/>
              <a:latin typeface="Gotham A"/>
            </a:endParaRPr>
          </a:p>
          <a:p>
            <a:pPr marL="0" indent="0" algn="l">
              <a:buNone/>
            </a:pPr>
            <a:r>
              <a:rPr lang="fr-CA" sz="2000" b="0" i="1" dirty="0">
                <a:solidFill>
                  <a:srgbClr val="0070C0"/>
                </a:solidFill>
                <a:effectLst/>
                <a:latin typeface="Gotham A"/>
              </a:rPr>
              <a:t>i)     ceux qui sont désignés comme éléments constitutifs d'une relation de couverture admissible selon les paragraphes </a:t>
            </a:r>
            <a:r>
              <a:rPr lang="fr-CA" sz="2000"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3856.30</a:t>
            </a:r>
            <a:r>
              <a:rPr lang="fr-CA" sz="2000" b="0" i="1" dirty="0">
                <a:solidFill>
                  <a:srgbClr val="0070C0"/>
                </a:solidFill>
                <a:effectLst/>
                <a:latin typeface="Gotham A"/>
              </a:rPr>
              <a:t> à .36 ou le paragraphe </a:t>
            </a:r>
            <a:r>
              <a:rPr lang="fr-CA" sz="2000" b="0" i="0" u="none" strike="noStrike" dirty="0">
                <a:solidFill>
                  <a:srgbClr val="0070C0"/>
                </a:solidFill>
                <a:effectLst/>
                <a:latin typeface="Gotham A"/>
                <a:hlinkClick r:id="rId2">
                  <a:extLst>
                    <a:ext uri="{A12FA001-AC4F-418D-AE19-62706E023703}">
                      <ahyp:hlinkClr xmlns:ahyp="http://schemas.microsoft.com/office/drawing/2018/hyperlinkcolor" val="tx"/>
                    </a:ext>
                  </a:extLst>
                </a:hlinkClick>
              </a:rPr>
              <a:t>.39</a:t>
            </a:r>
            <a:r>
              <a:rPr lang="fr-CA" sz="2000" b="0" i="1" dirty="0">
                <a:solidFill>
                  <a:srgbClr val="0070C0"/>
                </a:solidFill>
                <a:effectLst/>
                <a:latin typeface="Gotham A"/>
              </a:rPr>
              <a:t> du chapitre 1651, CONVERSION DES DEVISES,</a:t>
            </a:r>
            <a:endParaRPr lang="fr-CA" sz="2000" b="0" i="0" dirty="0">
              <a:solidFill>
                <a:srgbClr val="0070C0"/>
              </a:solidFill>
              <a:effectLst/>
              <a:latin typeface="Gotham A"/>
            </a:endParaRPr>
          </a:p>
          <a:p>
            <a:pPr marL="0" indent="0" algn="l">
              <a:buNone/>
            </a:pPr>
            <a:r>
              <a:rPr lang="fr-CA" sz="2000" b="0" i="1" dirty="0">
                <a:solidFill>
                  <a:srgbClr val="0070C0"/>
                </a:solidFill>
                <a:effectLst/>
                <a:latin typeface="Gotham A"/>
              </a:rPr>
              <a:t>ii)     ceux qui sont liés à des instruments de capitaux propres d'une autre entreprise — instruments dont la juste valeur ne peut être déterminée facilement — et qui doivent être réglés par la remise de tels instruments.</a:t>
            </a:r>
            <a:endParaRPr lang="fr-CA" sz="2000" b="0" i="0" dirty="0">
              <a:solidFill>
                <a:srgbClr val="0070C0"/>
              </a:solidFill>
              <a:effectLst/>
              <a:latin typeface="Gotham A"/>
            </a:endParaRPr>
          </a:p>
          <a:p>
            <a:pPr marL="0" indent="0" algn="l">
              <a:buNone/>
            </a:pPr>
            <a:r>
              <a:rPr lang="fr-CA" sz="2000" b="0" i="1" dirty="0">
                <a:solidFill>
                  <a:srgbClr val="0070C0"/>
                </a:solidFill>
                <a:effectLst/>
                <a:latin typeface="Gotham A"/>
              </a:rPr>
              <a:t>Les variations de la juste valeur doivent être comptabilisées dans le résultat net de la période où elles se produisent.</a:t>
            </a:r>
            <a:r>
              <a:rPr lang="fr-CA" sz="2000" b="0" i="0" dirty="0">
                <a:solidFill>
                  <a:srgbClr val="0070C0"/>
                </a:solidFill>
                <a:effectLst/>
                <a:latin typeface="Gotham A"/>
              </a:rPr>
              <a:t> </a:t>
            </a:r>
          </a:p>
          <a:p>
            <a:pPr marL="0" indent="0">
              <a:buNone/>
            </a:pPr>
            <a:endParaRPr lang="fr-FR" dirty="0">
              <a:solidFill>
                <a:srgbClr val="0070C0"/>
              </a:solidFill>
            </a:endParaRPr>
          </a:p>
        </p:txBody>
      </p:sp>
      <p:sp>
        <p:nvSpPr>
          <p:cNvPr id="4" name="Espace réservé du pied de page 3">
            <a:extLst>
              <a:ext uri="{FF2B5EF4-FFF2-40B4-BE49-F238E27FC236}">
                <a16:creationId xmlns:a16="http://schemas.microsoft.com/office/drawing/2014/main" id="{28FEF980-FE76-49A3-E472-D34C4874B2A9}"/>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B397C25F-1262-A24A-282D-CE728694AD96}"/>
              </a:ext>
            </a:extLst>
          </p:cNvPr>
          <p:cNvSpPr>
            <a:spLocks noGrp="1"/>
          </p:cNvSpPr>
          <p:nvPr>
            <p:ph type="sldNum" sz="quarter" idx="12"/>
          </p:nvPr>
        </p:nvSpPr>
        <p:spPr/>
        <p:txBody>
          <a:bodyPr/>
          <a:lstStyle/>
          <a:p>
            <a:fld id="{D5C8285E-D276-48ED-A38D-FCE3A7D9B93F}" type="slidenum">
              <a:rPr lang="fr-CA" smtClean="0"/>
              <a:t>39</a:t>
            </a:fld>
            <a:endParaRPr lang="fr-CA"/>
          </a:p>
        </p:txBody>
      </p:sp>
    </p:spTree>
    <p:extLst>
      <p:ext uri="{BB962C8B-B14F-4D97-AF65-F5344CB8AC3E}">
        <p14:creationId xmlns:p14="http://schemas.microsoft.com/office/powerpoint/2010/main" val="17453853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668108-0F88-D7EE-049C-668BF575032C}"/>
              </a:ext>
            </a:extLst>
          </p:cNvPr>
          <p:cNvSpPr>
            <a:spLocks noGrp="1"/>
          </p:cNvSpPr>
          <p:nvPr>
            <p:ph type="title"/>
          </p:nvPr>
        </p:nvSpPr>
        <p:spPr/>
        <p:txBody>
          <a:bodyPr/>
          <a:lstStyle/>
          <a:p>
            <a:r>
              <a:rPr lang="fr-CA" dirty="0"/>
              <a:t>IFRS et NCECF</a:t>
            </a:r>
            <a:endParaRPr lang="fr-FR" dirty="0"/>
          </a:p>
        </p:txBody>
      </p:sp>
      <p:sp>
        <p:nvSpPr>
          <p:cNvPr id="3" name="Espace réservé du contenu 2">
            <a:extLst>
              <a:ext uri="{FF2B5EF4-FFF2-40B4-BE49-F238E27FC236}">
                <a16:creationId xmlns:a16="http://schemas.microsoft.com/office/drawing/2014/main" id="{FDA9A508-C8D5-4195-0AAD-5B6E43629E05}"/>
              </a:ext>
            </a:extLst>
          </p:cNvPr>
          <p:cNvSpPr>
            <a:spLocks noGrp="1"/>
          </p:cNvSpPr>
          <p:nvPr>
            <p:ph idx="1"/>
          </p:nvPr>
        </p:nvSpPr>
        <p:spPr/>
        <p:txBody>
          <a:bodyPr>
            <a:normAutofit/>
          </a:bodyPr>
          <a:lstStyle/>
          <a:p>
            <a:pPr marL="0" indent="0" algn="l">
              <a:buNone/>
            </a:pPr>
            <a:r>
              <a:rPr lang="fr-CA" sz="2400" b="0" i="0" dirty="0">
                <a:effectLst/>
                <a:latin typeface="Gotham A"/>
              </a:rPr>
              <a:t>Écriture de correction</a:t>
            </a:r>
          </a:p>
          <a:p>
            <a:pPr marL="0" indent="0" algn="l">
              <a:buNone/>
            </a:pPr>
            <a:endParaRPr lang="fr-CA" sz="2400" dirty="0">
              <a:solidFill>
                <a:srgbClr val="0070C0"/>
              </a:solidFill>
              <a:latin typeface="Gotham A"/>
            </a:endParaRPr>
          </a:p>
          <a:p>
            <a:pPr marL="0" indent="0" algn="l">
              <a:buNone/>
            </a:pPr>
            <a:r>
              <a:rPr lang="fr-CA" sz="2400" b="0" i="0" dirty="0">
                <a:effectLst/>
                <a:latin typeface="Gotham A"/>
              </a:rPr>
              <a:t>Placement		200</a:t>
            </a:r>
          </a:p>
          <a:p>
            <a:pPr marL="0" indent="0" algn="l">
              <a:buNone/>
            </a:pPr>
            <a:r>
              <a:rPr lang="fr-CA" sz="2400" dirty="0">
                <a:latin typeface="Gotham A"/>
              </a:rPr>
              <a:t>@  Gain – RN			200</a:t>
            </a:r>
            <a:endParaRPr lang="fr-CA" sz="2000" b="0" i="0" dirty="0">
              <a:effectLst/>
              <a:latin typeface="Gotham A"/>
            </a:endParaRPr>
          </a:p>
          <a:p>
            <a:pPr marL="0" indent="0">
              <a:buNone/>
            </a:pPr>
            <a:endParaRPr lang="fr-FR" dirty="0">
              <a:solidFill>
                <a:srgbClr val="0070C0"/>
              </a:solidFill>
            </a:endParaRPr>
          </a:p>
        </p:txBody>
      </p:sp>
      <p:sp>
        <p:nvSpPr>
          <p:cNvPr id="4" name="Espace réservé du pied de page 3">
            <a:extLst>
              <a:ext uri="{FF2B5EF4-FFF2-40B4-BE49-F238E27FC236}">
                <a16:creationId xmlns:a16="http://schemas.microsoft.com/office/drawing/2014/main" id="{28FEF980-FE76-49A3-E472-D34C4874B2A9}"/>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B397C25F-1262-A24A-282D-CE728694AD96}"/>
              </a:ext>
            </a:extLst>
          </p:cNvPr>
          <p:cNvSpPr>
            <a:spLocks noGrp="1"/>
          </p:cNvSpPr>
          <p:nvPr>
            <p:ph type="sldNum" sz="quarter" idx="12"/>
          </p:nvPr>
        </p:nvSpPr>
        <p:spPr/>
        <p:txBody>
          <a:bodyPr/>
          <a:lstStyle/>
          <a:p>
            <a:fld id="{D5C8285E-D276-48ED-A38D-FCE3A7D9B93F}" type="slidenum">
              <a:rPr lang="fr-CA" smtClean="0"/>
              <a:t>40</a:t>
            </a:fld>
            <a:endParaRPr lang="fr-CA"/>
          </a:p>
        </p:txBody>
      </p:sp>
    </p:spTree>
    <p:extLst>
      <p:ext uri="{BB962C8B-B14F-4D97-AF65-F5344CB8AC3E}">
        <p14:creationId xmlns:p14="http://schemas.microsoft.com/office/powerpoint/2010/main" val="40213767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CDC5B98-5B01-4FD4-8475-A530ACD85DD5}"/>
              </a:ext>
            </a:extLst>
          </p:cNvPr>
          <p:cNvSpPr>
            <a:spLocks noGrp="1"/>
          </p:cNvSpPr>
          <p:nvPr>
            <p:ph type="sldNum" sz="quarter" idx="12"/>
          </p:nvPr>
        </p:nvSpPr>
        <p:spPr/>
        <p:txBody>
          <a:bodyPr/>
          <a:lstStyle/>
          <a:p>
            <a:fld id="{93CCD850-57C1-B143-82E0-6B89E4215FB0}" type="slidenum">
              <a:rPr lang="fr-FR" smtClean="0"/>
              <a:t>41</a:t>
            </a:fld>
            <a:endParaRPr lang="fr-FR"/>
          </a:p>
        </p:txBody>
      </p:sp>
      <p:sp>
        <p:nvSpPr>
          <p:cNvPr id="5" name="Titre 1">
            <a:extLst>
              <a:ext uri="{FF2B5EF4-FFF2-40B4-BE49-F238E27FC236}">
                <a16:creationId xmlns:a16="http://schemas.microsoft.com/office/drawing/2014/main" id="{0FAF1E1A-C2E7-41C7-BF04-75C51BACF06E}"/>
              </a:ext>
            </a:extLst>
          </p:cNvPr>
          <p:cNvSpPr>
            <a:spLocks noGrp="1"/>
          </p:cNvSpPr>
          <p:nvPr>
            <p:ph type="title"/>
          </p:nvPr>
        </p:nvSpPr>
        <p:spPr/>
        <p:txBody>
          <a:bodyPr/>
          <a:lstStyle/>
          <a:p>
            <a:r>
              <a:rPr lang="fr-CA" dirty="0"/>
              <a:t>Classement PASSIFS </a:t>
            </a:r>
            <a:r>
              <a:rPr lang="fr-CA" sz="2000" dirty="0">
                <a:highlight>
                  <a:srgbClr val="FFFF00"/>
                </a:highlight>
              </a:rPr>
              <a:t>(</a:t>
            </a:r>
            <a:r>
              <a:rPr lang="fr-CA" sz="2000" dirty="0">
                <a:solidFill>
                  <a:srgbClr val="FF0000"/>
                </a:solidFill>
                <a:highlight>
                  <a:srgbClr val="FFFF00"/>
                </a:highlight>
              </a:rPr>
              <a:t>IFRS 9</a:t>
            </a:r>
            <a:r>
              <a:rPr lang="fr-CA" sz="2000" dirty="0">
                <a:highlight>
                  <a:srgbClr val="FFFF00"/>
                </a:highlight>
              </a:rPr>
              <a:t>)</a:t>
            </a:r>
          </a:p>
        </p:txBody>
      </p:sp>
      <p:sp>
        <p:nvSpPr>
          <p:cNvPr id="7" name="Espace réservé du contenu 2">
            <a:extLst>
              <a:ext uri="{FF2B5EF4-FFF2-40B4-BE49-F238E27FC236}">
                <a16:creationId xmlns:a16="http://schemas.microsoft.com/office/drawing/2014/main" id="{EB37B7FE-ECED-4356-90AF-6EB19BDB992F}"/>
              </a:ext>
            </a:extLst>
          </p:cNvPr>
          <p:cNvSpPr>
            <a:spLocks noGrp="1"/>
          </p:cNvSpPr>
          <p:nvPr>
            <p:ph idx="1"/>
          </p:nvPr>
        </p:nvSpPr>
        <p:spPr/>
        <p:txBody>
          <a:bodyPr>
            <a:normAutofit/>
          </a:bodyPr>
          <a:lstStyle/>
          <a:p>
            <a:pPr marL="0" indent="0">
              <a:buNone/>
            </a:pPr>
            <a:r>
              <a:rPr lang="fr-CA" dirty="0"/>
              <a:t>Deux catégories </a:t>
            </a:r>
            <a:r>
              <a:rPr lang="fr-CA" b="1" dirty="0"/>
              <a:t>de passifs financiers </a:t>
            </a:r>
            <a:r>
              <a:rPr lang="fr-CA" sz="2000" dirty="0"/>
              <a:t>(4.2)</a:t>
            </a:r>
            <a:r>
              <a:rPr lang="fr-CA" sz="1600" b="1" dirty="0"/>
              <a:t> </a:t>
            </a:r>
            <a:r>
              <a:rPr lang="fr-CA" dirty="0"/>
              <a:t>:</a:t>
            </a:r>
          </a:p>
          <a:p>
            <a:pPr lvl="1"/>
            <a:r>
              <a:rPr lang="fr-CA" dirty="0"/>
              <a:t>Passifs financiers évalués à la juste valeur par le biais du résultat net</a:t>
            </a:r>
          </a:p>
          <a:p>
            <a:pPr lvl="2"/>
            <a:r>
              <a:rPr lang="fr-CA" dirty="0"/>
              <a:t>Détenu à des fins de transaction </a:t>
            </a:r>
            <a:r>
              <a:rPr lang="fr-CA" i="1" dirty="0"/>
              <a:t>(rare)</a:t>
            </a:r>
            <a:endParaRPr lang="fr-CA" dirty="0"/>
          </a:p>
          <a:p>
            <a:pPr lvl="2"/>
            <a:r>
              <a:rPr lang="fr-CA" dirty="0"/>
              <a:t>Dérivés</a:t>
            </a:r>
          </a:p>
          <a:p>
            <a:pPr lvl="1"/>
            <a:r>
              <a:rPr lang="fr-CA" dirty="0"/>
              <a:t>Passifs financiers évalués au coût amorti (au taux effectif)</a:t>
            </a:r>
          </a:p>
          <a:p>
            <a:pPr lvl="2"/>
            <a:r>
              <a:rPr lang="fr-CA" dirty="0"/>
              <a:t>Le reste</a:t>
            </a:r>
            <a:endParaRPr lang="fr-CA" sz="2400" dirty="0"/>
          </a:p>
        </p:txBody>
      </p:sp>
      <p:sp>
        <p:nvSpPr>
          <p:cNvPr id="2" name="Espace réservé du pied de page 1">
            <a:extLst>
              <a:ext uri="{FF2B5EF4-FFF2-40B4-BE49-F238E27FC236}">
                <a16:creationId xmlns:a16="http://schemas.microsoft.com/office/drawing/2014/main" id="{190814E4-2061-4DC7-8D92-674019278EC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980251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93379" y="274637"/>
            <a:ext cx="10342180" cy="1291403"/>
          </a:xfrm>
        </p:spPr>
        <p:txBody>
          <a:bodyPr>
            <a:normAutofit/>
          </a:bodyPr>
          <a:lstStyle/>
          <a:p>
            <a:r>
              <a:rPr lang="fr-CA" dirty="0"/>
              <a:t>Classement PASSIFS </a:t>
            </a:r>
            <a:r>
              <a:rPr lang="fr-CA" sz="2200" dirty="0">
                <a:solidFill>
                  <a:srgbClr val="FF0000"/>
                </a:solidFill>
                <a:highlight>
                  <a:srgbClr val="FFFF00"/>
                </a:highlight>
              </a:rPr>
              <a:t>NCECF</a:t>
            </a:r>
            <a:r>
              <a:rPr lang="fr-CA" sz="2200" dirty="0">
                <a:highlight>
                  <a:srgbClr val="FFFF00"/>
                </a:highlight>
              </a:rPr>
              <a:t> – 3856.11</a:t>
            </a:r>
          </a:p>
        </p:txBody>
      </p:sp>
      <p:sp>
        <p:nvSpPr>
          <p:cNvPr id="3" name="Espace réservé du contenu 2"/>
          <p:cNvSpPr>
            <a:spLocks noGrp="1"/>
          </p:cNvSpPr>
          <p:nvPr>
            <p:ph idx="1"/>
          </p:nvPr>
        </p:nvSpPr>
        <p:spPr>
          <a:xfrm>
            <a:off x="893379" y="1805651"/>
            <a:ext cx="10460421" cy="4210854"/>
          </a:xfrm>
        </p:spPr>
        <p:txBody>
          <a:bodyPr>
            <a:normAutofit/>
          </a:bodyPr>
          <a:lstStyle/>
          <a:p>
            <a:r>
              <a:rPr lang="fr-CA" dirty="0"/>
              <a:t>À la juste valeur </a:t>
            </a:r>
          </a:p>
          <a:p>
            <a:pPr lvl="1"/>
            <a:r>
              <a:rPr lang="fr-CA" dirty="0"/>
              <a:t>les dérivés </a:t>
            </a:r>
          </a:p>
          <a:p>
            <a:pPr lvl="1"/>
            <a:endParaRPr lang="fr-CA" dirty="0"/>
          </a:p>
          <a:p>
            <a:r>
              <a:rPr lang="fr-CA" dirty="0"/>
              <a:t>Sinon, au coût amorti</a:t>
            </a:r>
          </a:p>
          <a:p>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42</a:t>
            </a:fld>
            <a:endParaRPr lang="fr-FR"/>
          </a:p>
        </p:txBody>
      </p:sp>
      <p:sp>
        <p:nvSpPr>
          <p:cNvPr id="5" name="Espace réservé du pied de page 4">
            <a:extLst>
              <a:ext uri="{FF2B5EF4-FFF2-40B4-BE49-F238E27FC236}">
                <a16:creationId xmlns:a16="http://schemas.microsoft.com/office/drawing/2014/main" id="{ED0804D3-05D1-410B-8924-93B971EF4B6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7267446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10498" y="274638"/>
            <a:ext cx="9057503" cy="1143000"/>
          </a:xfrm>
        </p:spPr>
        <p:txBody>
          <a:bodyPr>
            <a:normAutofit/>
          </a:bodyPr>
          <a:lstStyle/>
          <a:p>
            <a:r>
              <a:rPr lang="fr-FR" dirty="0"/>
              <a:t>Classement passif / capitaux propres</a:t>
            </a:r>
          </a:p>
        </p:txBody>
      </p:sp>
      <p:sp>
        <p:nvSpPr>
          <p:cNvPr id="3" name="Espace réservé du contenu 2"/>
          <p:cNvSpPr>
            <a:spLocks noGrp="1"/>
          </p:cNvSpPr>
          <p:nvPr>
            <p:ph idx="1"/>
          </p:nvPr>
        </p:nvSpPr>
        <p:spPr>
          <a:xfrm>
            <a:off x="451414" y="1600201"/>
            <a:ext cx="11227442" cy="4756149"/>
          </a:xfrm>
        </p:spPr>
        <p:txBody>
          <a:bodyPr>
            <a:normAutofit fontScale="32500" lnSpcReduction="20000"/>
          </a:bodyPr>
          <a:lstStyle/>
          <a:p>
            <a:pPr marL="0" indent="0">
              <a:lnSpc>
                <a:spcPct val="170000"/>
              </a:lnSpc>
              <a:buNone/>
            </a:pPr>
            <a:r>
              <a:rPr lang="fr-CA" sz="6200" dirty="0"/>
              <a:t>L’émetteur d’un IF doit, </a:t>
            </a:r>
            <a:r>
              <a:rPr lang="fr-CA" sz="6200" u="sng" dirty="0"/>
              <a:t>lors de sa comptabilisation initiale</a:t>
            </a:r>
            <a:r>
              <a:rPr lang="fr-CA" sz="6200" dirty="0"/>
              <a:t>, classer l’instrument (ou ses composantes) en tant que </a:t>
            </a:r>
            <a:r>
              <a:rPr lang="fr-CA" sz="6200" b="1" dirty="0"/>
              <a:t>PF</a:t>
            </a:r>
            <a:r>
              <a:rPr lang="fr-CA" sz="6200" dirty="0"/>
              <a:t> ou </a:t>
            </a:r>
            <a:r>
              <a:rPr lang="fr-CA" sz="6200" b="1" dirty="0"/>
              <a:t>ICP</a:t>
            </a:r>
            <a:r>
              <a:rPr lang="fr-CA" sz="6200" dirty="0"/>
              <a:t> :</a:t>
            </a:r>
          </a:p>
          <a:p>
            <a:pPr lvl="1">
              <a:lnSpc>
                <a:spcPct val="170000"/>
              </a:lnSpc>
            </a:pPr>
            <a:r>
              <a:rPr lang="fr-CA" sz="6200" dirty="0"/>
              <a:t>selon la </a:t>
            </a:r>
            <a:r>
              <a:rPr lang="fr-CA" sz="6200" b="1" u="sng" dirty="0"/>
              <a:t>substance</a:t>
            </a:r>
            <a:r>
              <a:rPr lang="fr-CA" sz="6200" b="1" dirty="0"/>
              <a:t> du contrat</a:t>
            </a:r>
            <a:r>
              <a:rPr lang="fr-CA" sz="6200" dirty="0"/>
              <a:t> </a:t>
            </a:r>
          </a:p>
          <a:p>
            <a:pPr lvl="1">
              <a:lnSpc>
                <a:spcPct val="170000"/>
              </a:lnSpc>
            </a:pPr>
            <a:r>
              <a:rPr lang="fr-CA" sz="6200" dirty="0"/>
              <a:t>et selon les </a:t>
            </a:r>
            <a:r>
              <a:rPr lang="fr-CA" sz="6200" b="1" u="sng" dirty="0"/>
              <a:t>définitions</a:t>
            </a:r>
            <a:r>
              <a:rPr lang="fr-CA" sz="6200" b="1" dirty="0"/>
              <a:t> d’un PF et d’un ICP.</a:t>
            </a:r>
            <a:r>
              <a:rPr lang="fr-CA" sz="6200" dirty="0"/>
              <a:t>  </a:t>
            </a:r>
            <a:r>
              <a:rPr lang="fr-CA" sz="5500" dirty="0"/>
              <a:t>       (IAS 32.15)</a:t>
            </a:r>
            <a:endParaRPr lang="fr-CA" sz="4300" dirty="0"/>
          </a:p>
          <a:p>
            <a:pPr marL="1084263" lvl="1" indent="-452438">
              <a:lnSpc>
                <a:spcPct val="120000"/>
              </a:lnSpc>
              <a:buClr>
                <a:schemeClr val="accent2"/>
              </a:buClr>
              <a:buSzPct val="115000"/>
              <a:buFont typeface="Wingdings" pitchFamily="2" charset="2"/>
              <a:buChar char="Ø"/>
            </a:pPr>
            <a:r>
              <a:rPr lang="fr-CA" sz="5500" dirty="0"/>
              <a:t>L</a:t>
            </a:r>
            <a:r>
              <a:rPr lang="fr-CA" altLang="fr-FR" sz="5500" dirty="0"/>
              <a:t>‘</a:t>
            </a:r>
            <a:r>
              <a:rPr lang="fr-CA" sz="5500" dirty="0"/>
              <a:t>emphase est mise sur l'existence d'une </a:t>
            </a:r>
            <a:r>
              <a:rPr lang="fr-CA" sz="5500" i="1" dirty="0"/>
              <a:t>obligation contractuelle de remettre de la trésorerie, d</a:t>
            </a:r>
            <a:r>
              <a:rPr lang="fr-CA" altLang="fr-FR" sz="5500" i="1" dirty="0"/>
              <a:t>’</a:t>
            </a:r>
            <a:r>
              <a:rPr lang="fr-CA" sz="5500" i="1" dirty="0"/>
              <a:t>autres actifs ou un nombre variable d'actions propres de l’entité elle-même</a:t>
            </a:r>
            <a:r>
              <a:rPr lang="fr-CA" sz="5500" dirty="0"/>
              <a:t>. Si une telle obligation existe, il existe un passif. Cela s</a:t>
            </a:r>
            <a:r>
              <a:rPr lang="fr-CA" altLang="fr-FR" sz="5500" dirty="0"/>
              <a:t>’</a:t>
            </a:r>
            <a:r>
              <a:rPr lang="fr-CA" sz="5500" dirty="0"/>
              <a:t>applique à tous les instruments, qu'il s</a:t>
            </a:r>
            <a:r>
              <a:rPr lang="fr-CA" altLang="fr-FR" sz="5500" dirty="0"/>
              <a:t>’</a:t>
            </a:r>
            <a:r>
              <a:rPr lang="fr-CA" sz="5500" dirty="0"/>
              <a:t>agisse de prêts / obligations ou d'actions privilégiées ou ordinaires. </a:t>
            </a:r>
          </a:p>
          <a:p>
            <a:pPr marL="1084263" lvl="1" indent="-452438">
              <a:lnSpc>
                <a:spcPct val="120000"/>
              </a:lnSpc>
              <a:buClr>
                <a:schemeClr val="accent2"/>
              </a:buClr>
              <a:buSzPct val="115000"/>
              <a:buFont typeface="Wingdings" pitchFamily="2" charset="2"/>
              <a:buChar char="Ø"/>
            </a:pPr>
            <a:r>
              <a:rPr lang="fr-CA" sz="5500" dirty="0"/>
              <a:t>À moins que l'entité n</a:t>
            </a:r>
            <a:r>
              <a:rPr lang="fr-CA" altLang="fr-FR" sz="5500" dirty="0"/>
              <a:t>’</a:t>
            </a:r>
            <a:r>
              <a:rPr lang="fr-CA" sz="5500" dirty="0"/>
              <a:t>ait un droit</a:t>
            </a:r>
            <a:r>
              <a:rPr lang="fr-CA" sz="5500" i="1" dirty="0"/>
              <a:t> inconditionnel</a:t>
            </a:r>
            <a:r>
              <a:rPr lang="fr-CA" sz="5500" dirty="0"/>
              <a:t> d</a:t>
            </a:r>
            <a:r>
              <a:rPr lang="fr-CA" altLang="fr-FR" sz="5500" dirty="0"/>
              <a:t>’</a:t>
            </a:r>
            <a:r>
              <a:rPr lang="fr-CA" sz="5500" dirty="0"/>
              <a:t>éviter de remettre de la trésorerie ou d'autres actifs financiers, il s</a:t>
            </a:r>
            <a:r>
              <a:rPr lang="fr-CA" altLang="fr-FR" sz="5500" dirty="0"/>
              <a:t>’</a:t>
            </a:r>
            <a:r>
              <a:rPr lang="fr-CA" sz="5500" dirty="0"/>
              <a:t>agit d</a:t>
            </a:r>
            <a:r>
              <a:rPr lang="fr-CA" altLang="fr-FR" sz="5500" dirty="0"/>
              <a:t>’</a:t>
            </a:r>
            <a:r>
              <a:rPr lang="fr-CA" sz="5500" dirty="0"/>
              <a:t>un passif.</a:t>
            </a:r>
            <a:r>
              <a:rPr lang="fr-CA" sz="4900" dirty="0"/>
              <a:t>  </a:t>
            </a:r>
          </a:p>
          <a:p>
            <a:pPr marL="174625" indent="0">
              <a:lnSpc>
                <a:spcPct val="120000"/>
              </a:lnSpc>
              <a:buClr>
                <a:schemeClr val="accent2"/>
              </a:buClr>
              <a:buSzPct val="115000"/>
              <a:buNone/>
            </a:pPr>
            <a:r>
              <a:rPr lang="fr-CA" sz="4000" dirty="0"/>
              <a:t>			(IAS 32.17 à IAS 32.20)</a:t>
            </a:r>
          </a:p>
          <a:p>
            <a:pPr marL="457200" lvl="1" indent="0">
              <a:buNone/>
            </a:pPr>
            <a:endParaRPr lang="fr-CA" dirty="0"/>
          </a:p>
          <a:p>
            <a:pPr marL="457200" lvl="1" indent="-457200">
              <a:buNone/>
            </a:pPr>
            <a:r>
              <a:rPr lang="fr-CA" sz="5500" dirty="0">
                <a:solidFill>
                  <a:srgbClr val="0070C0"/>
                </a:solidFill>
              </a:rPr>
              <a:t>Idem NCECF</a:t>
            </a:r>
            <a:endParaRPr lang="fr-CA" sz="4300" dirty="0">
              <a:solidFill>
                <a:srgbClr val="0070C0"/>
              </a:solidFill>
            </a:endParaRP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43</a:t>
            </a:fld>
            <a:endParaRPr lang="fr-FR"/>
          </a:p>
        </p:txBody>
      </p:sp>
      <p:sp>
        <p:nvSpPr>
          <p:cNvPr id="5" name="Espace réservé du pied de page 4">
            <a:extLst>
              <a:ext uri="{FF2B5EF4-FFF2-40B4-BE49-F238E27FC236}">
                <a16:creationId xmlns:a16="http://schemas.microsoft.com/office/drawing/2014/main" id="{D61BFFCA-FBB0-4596-84EF-7D339BA809E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7027155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2360" y="274638"/>
            <a:ext cx="10481440" cy="1143000"/>
          </a:xfrm>
        </p:spPr>
        <p:txBody>
          <a:bodyPr>
            <a:normAutofit/>
          </a:bodyPr>
          <a:lstStyle/>
          <a:p>
            <a:r>
              <a:rPr lang="fr-FR" dirty="0"/>
              <a:t>Classement passif / capitaux propres - NCECF</a:t>
            </a:r>
          </a:p>
        </p:txBody>
      </p:sp>
      <p:sp>
        <p:nvSpPr>
          <p:cNvPr id="3" name="Espace réservé du contenu 2"/>
          <p:cNvSpPr>
            <a:spLocks noGrp="1"/>
          </p:cNvSpPr>
          <p:nvPr>
            <p:ph idx="1"/>
          </p:nvPr>
        </p:nvSpPr>
        <p:spPr>
          <a:xfrm>
            <a:off x="872360" y="1313793"/>
            <a:ext cx="10481440" cy="5042557"/>
          </a:xfrm>
        </p:spPr>
        <p:txBody>
          <a:bodyPr>
            <a:normAutofit fontScale="85000" lnSpcReduction="20000"/>
          </a:bodyPr>
          <a:lstStyle/>
          <a:p>
            <a:pPr marL="0" indent="0">
              <a:buNone/>
            </a:pPr>
            <a:r>
              <a:rPr lang="fr-CA" b="1" dirty="0"/>
              <a:t>Passifs et capitaux propres</a:t>
            </a:r>
          </a:p>
          <a:p>
            <a:pPr marL="0" indent="0">
              <a:buNone/>
            </a:pPr>
            <a:r>
              <a:rPr lang="fr-CA" dirty="0"/>
              <a:t>.20     </a:t>
            </a:r>
            <a:r>
              <a:rPr lang="fr-CA" i="1" dirty="0"/>
              <a:t>Sauf dans les cas prévus au paragraphe </a:t>
            </a:r>
            <a:r>
              <a:rPr lang="fr-CA" dirty="0">
                <a:hlinkClick r:id="rId3"/>
              </a:rPr>
              <a:t>3856.23</a:t>
            </a:r>
            <a:r>
              <a:rPr lang="fr-CA" i="1" dirty="0"/>
              <a:t> </a:t>
            </a:r>
            <a:r>
              <a:rPr lang="fr-CA" sz="2400" i="1" dirty="0"/>
              <a:t>(</a:t>
            </a:r>
            <a:r>
              <a:rPr lang="fr-CA" sz="2400" i="1" dirty="0" err="1"/>
              <a:t>planif</a:t>
            </a:r>
            <a:r>
              <a:rPr lang="fr-CA" sz="2400" i="1" dirty="0"/>
              <a:t>. fiscale),</a:t>
            </a:r>
            <a:r>
              <a:rPr lang="fr-CA" i="1" dirty="0"/>
              <a:t> l'émetteur d'un instrument financier doit classer l'instrument (ou ses composantes) dans le passif ou les capitaux propres, selon la substance du contrat au moment de la comptabilisation initiale et conformément aux définitions d'un passif financier et d'un instrument de capitaux propres.</a:t>
            </a:r>
            <a:r>
              <a:rPr lang="fr-CA" dirty="0"/>
              <a:t> (Les paragraphes </a:t>
            </a:r>
            <a:r>
              <a:rPr lang="fr-CA" dirty="0">
                <a:hlinkClick r:id="rId3"/>
              </a:rPr>
              <a:t>3856.A22</a:t>
            </a:r>
            <a:r>
              <a:rPr lang="fr-CA" dirty="0"/>
              <a:t> à .A38 fournissent des précisions d'application sur le sujet.)</a:t>
            </a:r>
          </a:p>
          <a:p>
            <a:pPr marL="0" indent="0">
              <a:buNone/>
            </a:pPr>
            <a:endParaRPr lang="fr-CA" dirty="0"/>
          </a:p>
          <a:p>
            <a:pPr marL="0" indent="0">
              <a:buNone/>
            </a:pPr>
            <a:r>
              <a:rPr lang="fr-CA" dirty="0"/>
              <a:t>j)     </a:t>
            </a:r>
            <a:r>
              <a:rPr lang="fr-CA" b="1" dirty="0"/>
              <a:t>Passif financier :</a:t>
            </a:r>
            <a:r>
              <a:rPr lang="fr-CA" dirty="0"/>
              <a:t> tout passif correspondant à une obligation contractuelle :</a:t>
            </a:r>
          </a:p>
          <a:p>
            <a:pPr marL="987425" indent="-450850">
              <a:buNone/>
            </a:pPr>
            <a:r>
              <a:rPr lang="fr-CA" dirty="0"/>
              <a:t>i)     soit de remettre à une autre partie de la trésorerie ou un autre actif financier;</a:t>
            </a:r>
          </a:p>
          <a:p>
            <a:pPr marL="987425" indent="-450850">
              <a:buNone/>
            </a:pPr>
            <a:r>
              <a:rPr lang="fr-CA" dirty="0"/>
              <a:t>ii)     soit d'échanger des instruments financiers avec une autre partie à des conditions potentiellement défavorables pour l'entreprise.</a:t>
            </a:r>
          </a:p>
          <a:p>
            <a:pPr marL="0" indent="0">
              <a:buNone/>
            </a:pPr>
            <a:endParaRPr lang="fr-CA" sz="1200" dirty="0"/>
          </a:p>
          <a:p>
            <a:pPr marL="536575" indent="-536575">
              <a:buNone/>
            </a:pPr>
            <a:r>
              <a:rPr lang="fr-CA" dirty="0"/>
              <a:t>e)     </a:t>
            </a:r>
            <a:r>
              <a:rPr lang="fr-CA" b="1" dirty="0"/>
              <a:t>Instrument de capitaux propres :</a:t>
            </a:r>
            <a:r>
              <a:rPr lang="fr-CA" dirty="0"/>
              <a:t> tout contrat constatant un droit résiduel sur les actifs d'une entreprise après déduction de tous ses passifs.</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44</a:t>
            </a:fld>
            <a:endParaRPr lang="fr-FR"/>
          </a:p>
        </p:txBody>
      </p:sp>
      <p:sp>
        <p:nvSpPr>
          <p:cNvPr id="5" name="Espace réservé du pied de page 4">
            <a:extLst>
              <a:ext uri="{FF2B5EF4-FFF2-40B4-BE49-F238E27FC236}">
                <a16:creationId xmlns:a16="http://schemas.microsoft.com/office/drawing/2014/main" id="{D61BFFCA-FBB0-4596-84EF-7D339BA809E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345533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10498" y="95004"/>
            <a:ext cx="9057503" cy="344384"/>
          </a:xfrm>
        </p:spPr>
        <p:txBody>
          <a:bodyPr>
            <a:normAutofit fontScale="90000"/>
          </a:bodyPr>
          <a:lstStyle/>
          <a:p>
            <a:r>
              <a:rPr lang="fr-FR" dirty="0"/>
              <a:t>Classement passif / capitaux propres</a:t>
            </a:r>
          </a:p>
        </p:txBody>
      </p:sp>
      <p:sp>
        <p:nvSpPr>
          <p:cNvPr id="3" name="Espace réservé du contenu 2"/>
          <p:cNvSpPr>
            <a:spLocks noGrp="1"/>
          </p:cNvSpPr>
          <p:nvPr>
            <p:ph idx="1"/>
          </p:nvPr>
        </p:nvSpPr>
        <p:spPr>
          <a:xfrm>
            <a:off x="486137" y="965200"/>
            <a:ext cx="11111696" cy="5756276"/>
          </a:xfrm>
        </p:spPr>
        <p:txBody>
          <a:bodyPr>
            <a:noAutofit/>
          </a:bodyPr>
          <a:lstStyle/>
          <a:p>
            <a:pPr marL="0" indent="0">
              <a:buNone/>
            </a:pPr>
            <a:r>
              <a:rPr lang="fr-CA" sz="2400" b="1" dirty="0"/>
              <a:t>La caractéristique fondamentale d’un IF s’apprécie en fonction des définitions :</a:t>
            </a:r>
            <a:endParaRPr lang="fr-CA" sz="2400" b="1" i="1" dirty="0"/>
          </a:p>
          <a:p>
            <a:pPr marL="0" indent="0">
              <a:buNone/>
            </a:pPr>
            <a:r>
              <a:rPr lang="fr-CA" sz="2400" b="1" dirty="0"/>
              <a:t>PF = relation débiteur/créancier</a:t>
            </a:r>
            <a:endParaRPr lang="fr-CA" sz="2400" dirty="0"/>
          </a:p>
          <a:p>
            <a:pPr marL="177800" lvl="1" indent="-177800"/>
            <a:r>
              <a:rPr lang="fr-CA" b="1" dirty="0"/>
              <a:t>Obligation </a:t>
            </a:r>
            <a:r>
              <a:rPr lang="fr-CA" dirty="0"/>
              <a:t>de verser de la trésorerie, etc.</a:t>
            </a:r>
          </a:p>
          <a:p>
            <a:pPr marL="177800" lvl="1" indent="-177800"/>
            <a:r>
              <a:rPr lang="fr-CA" dirty="0"/>
              <a:t>Valeur que recevra le détenteur du titre est </a:t>
            </a:r>
            <a:r>
              <a:rPr lang="fr-CA" u="sng" dirty="0"/>
              <a:t>déterminée ou déterminable</a:t>
            </a:r>
            <a:endParaRPr lang="fr-CA" dirty="0"/>
          </a:p>
          <a:p>
            <a:pPr marL="177800" lvl="1" indent="-177800"/>
            <a:r>
              <a:rPr lang="fr-CA" dirty="0"/>
              <a:t>Valeur que recevra le détenteur n’est </a:t>
            </a:r>
            <a:r>
              <a:rPr lang="fr-CA" u="sng" dirty="0"/>
              <a:t>pas</a:t>
            </a:r>
            <a:r>
              <a:rPr lang="fr-CA" dirty="0"/>
              <a:t> reliée à la valeur de l’entité ou de ses ICP.</a:t>
            </a:r>
          </a:p>
          <a:p>
            <a:pPr marL="177800" lvl="1" indent="-177800"/>
            <a:r>
              <a:rPr lang="fr-CA" dirty="0"/>
              <a:t>Échéance </a:t>
            </a:r>
            <a:r>
              <a:rPr lang="fr-CA" u="sng" dirty="0"/>
              <a:t>déterminée ou déterminable</a:t>
            </a:r>
            <a:endParaRPr lang="fr-CA" dirty="0"/>
          </a:p>
          <a:p>
            <a:pPr marL="177800" indent="-177800"/>
            <a:r>
              <a:rPr lang="fr-CA" sz="2400" b="1" dirty="0"/>
              <a:t>Conclusion : risque est similaire à celui supporté par un créancier</a:t>
            </a:r>
            <a:endParaRPr lang="fr-CA" sz="2400" dirty="0"/>
          </a:p>
          <a:p>
            <a:pPr marL="177800" indent="-177800"/>
            <a:r>
              <a:rPr lang="fr-CA" sz="2400" i="1" dirty="0"/>
              <a:t>** Obligation de rembourser peut être </a:t>
            </a:r>
            <a:r>
              <a:rPr lang="fr-CA" sz="2400" i="1" u="sng" dirty="0"/>
              <a:t>explicite</a:t>
            </a:r>
            <a:r>
              <a:rPr lang="fr-CA" sz="2400" i="1" dirty="0"/>
              <a:t> ou </a:t>
            </a:r>
            <a:r>
              <a:rPr lang="fr-CA" sz="2400" i="1" u="sng" dirty="0"/>
              <a:t>implicite</a:t>
            </a:r>
            <a:r>
              <a:rPr lang="fr-CA" sz="2400" i="1" dirty="0"/>
              <a:t> (à cause des conditions prévues au contrat)</a:t>
            </a:r>
          </a:p>
          <a:p>
            <a:pPr marL="177800" indent="-177800"/>
            <a:r>
              <a:rPr lang="fr-CA" sz="2400" b="1" dirty="0"/>
              <a:t>Si remboursement en nombre variable d’AO : </a:t>
            </a:r>
            <a:r>
              <a:rPr lang="fr-CA" sz="2400" dirty="0"/>
              <a:t>La </a:t>
            </a:r>
            <a:r>
              <a:rPr lang="fr-CA" sz="2400" b="1" i="1" u="sng" dirty="0"/>
              <a:t>valeur</a:t>
            </a:r>
            <a:r>
              <a:rPr lang="fr-CA" sz="2400" dirty="0"/>
              <a:t> que recevra le porteur (détenteur)  de l’instrument est déterminée en fonction de l’obligation contractuelle (il ne supporte pas un risque de variation de la valeur qu’il recevra : nombre d’ICP varie en fonction de la valeur).</a:t>
            </a:r>
            <a:endParaRPr lang="fr-CA" sz="2400" i="1" dirty="0"/>
          </a:p>
          <a:p>
            <a:pPr marL="0" indent="0">
              <a:buNone/>
            </a:pPr>
            <a:endParaRPr lang="fr-CA" sz="1050" dirty="0"/>
          </a:p>
          <a:p>
            <a:pPr marL="0" indent="0">
              <a:buNone/>
            </a:pPr>
            <a:endParaRPr lang="fr-CA" sz="16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45</a:t>
            </a:fld>
            <a:endParaRPr lang="fr-FR"/>
          </a:p>
        </p:txBody>
      </p:sp>
      <p:sp>
        <p:nvSpPr>
          <p:cNvPr id="5" name="Espace réservé du pied de page 4">
            <a:extLst>
              <a:ext uri="{FF2B5EF4-FFF2-40B4-BE49-F238E27FC236}">
                <a16:creationId xmlns:a16="http://schemas.microsoft.com/office/drawing/2014/main" id="{D94C241D-99C7-4E72-A93B-03ED54B7CAE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1450848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10498" y="95004"/>
            <a:ext cx="9057503" cy="344384"/>
          </a:xfrm>
        </p:spPr>
        <p:txBody>
          <a:bodyPr>
            <a:normAutofit fontScale="90000"/>
          </a:bodyPr>
          <a:lstStyle/>
          <a:p>
            <a:r>
              <a:rPr lang="fr-FR" dirty="0"/>
              <a:t>Classement passif / capitaux propres</a:t>
            </a:r>
          </a:p>
        </p:txBody>
      </p:sp>
      <p:sp>
        <p:nvSpPr>
          <p:cNvPr id="3" name="Espace réservé du contenu 2"/>
          <p:cNvSpPr>
            <a:spLocks noGrp="1"/>
          </p:cNvSpPr>
          <p:nvPr>
            <p:ph idx="1"/>
          </p:nvPr>
        </p:nvSpPr>
        <p:spPr>
          <a:xfrm>
            <a:off x="486137" y="1026160"/>
            <a:ext cx="11111696" cy="5695316"/>
          </a:xfrm>
        </p:spPr>
        <p:txBody>
          <a:bodyPr>
            <a:noAutofit/>
          </a:bodyPr>
          <a:lstStyle/>
          <a:p>
            <a:pPr marL="0" indent="0">
              <a:buNone/>
            </a:pPr>
            <a:r>
              <a:rPr lang="fr-CA" sz="2400" b="1" dirty="0"/>
              <a:t>La caractéristique fondamentale d’un IF s’apprécie en fonction des définitions :</a:t>
            </a:r>
            <a:endParaRPr lang="fr-CA" sz="2400" b="1" i="1" dirty="0"/>
          </a:p>
          <a:p>
            <a:pPr marL="0" indent="0">
              <a:buNone/>
            </a:pPr>
            <a:endParaRPr lang="fr-CA" sz="1050" dirty="0"/>
          </a:p>
          <a:p>
            <a:pPr marL="0" indent="0">
              <a:buNone/>
            </a:pPr>
            <a:r>
              <a:rPr lang="fr-CA" sz="2400" b="1" dirty="0"/>
              <a:t>ICP = relation AO/entité</a:t>
            </a:r>
            <a:endParaRPr lang="fr-CA" sz="2400" dirty="0"/>
          </a:p>
          <a:p>
            <a:pPr marL="177800" lvl="1" indent="-177800"/>
            <a:r>
              <a:rPr lang="fr-CA" b="1" dirty="0"/>
              <a:t>Pas</a:t>
            </a:r>
            <a:r>
              <a:rPr lang="fr-CA" dirty="0"/>
              <a:t> d’obligation de verser de la trésorerie, etc.</a:t>
            </a:r>
          </a:p>
          <a:p>
            <a:pPr marL="177800" lvl="1" indent="-177800"/>
            <a:r>
              <a:rPr lang="fr-CA" dirty="0"/>
              <a:t>Valeur que recevra le détenteur du titre est reliée à la valeur de l’entité ou de ses ICP </a:t>
            </a:r>
          </a:p>
          <a:p>
            <a:pPr marL="177800" indent="-177800"/>
            <a:r>
              <a:rPr lang="fr-CA" sz="2400" i="1" dirty="0"/>
              <a:t> (droit résiduel sur l’actif net de l’entité)</a:t>
            </a:r>
            <a:endParaRPr lang="fr-CA" sz="2400" dirty="0"/>
          </a:p>
          <a:p>
            <a:pPr marL="177800" indent="-177800"/>
            <a:r>
              <a:rPr lang="fr-CA" sz="2400" dirty="0"/>
              <a:t>Habituellement pas d’échéance</a:t>
            </a:r>
          </a:p>
          <a:p>
            <a:pPr marL="177800" indent="-177800"/>
            <a:r>
              <a:rPr lang="fr-CA" sz="2400" b="1" dirty="0"/>
              <a:t>Conclusion : risque est similaire à celui supporté par un AO</a:t>
            </a:r>
            <a:endParaRPr lang="fr-CA" sz="2400" dirty="0"/>
          </a:p>
          <a:p>
            <a:pPr marL="177800" indent="-177800"/>
            <a:r>
              <a:rPr lang="fr-CA" sz="2400" i="1" dirty="0"/>
              <a:t>** Pas d’échéance = capital permanent, Valeur à l’échéance FLUCTUE en fonction des ICP de l’entité = risque supporté par le porteur</a:t>
            </a:r>
            <a:endParaRPr lang="fr-CA" sz="2400" dirty="0"/>
          </a:p>
          <a:p>
            <a:pPr marL="177800" indent="-177800"/>
            <a:r>
              <a:rPr lang="fr-CA" sz="2400" b="1" dirty="0"/>
              <a:t>Si Intérêt résiduel = la valeur n’est </a:t>
            </a:r>
            <a:r>
              <a:rPr lang="fr-CA" sz="2400" b="1" u="sng" dirty="0"/>
              <a:t>jamais</a:t>
            </a:r>
            <a:r>
              <a:rPr lang="fr-CA" sz="2400" b="1" dirty="0"/>
              <a:t> déterminée ou déterminable</a:t>
            </a:r>
            <a:endParaRPr lang="fr-CA" sz="16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46</a:t>
            </a:fld>
            <a:endParaRPr lang="fr-FR"/>
          </a:p>
        </p:txBody>
      </p:sp>
      <p:sp>
        <p:nvSpPr>
          <p:cNvPr id="5" name="Espace réservé du pied de page 4">
            <a:extLst>
              <a:ext uri="{FF2B5EF4-FFF2-40B4-BE49-F238E27FC236}">
                <a16:creationId xmlns:a16="http://schemas.microsoft.com/office/drawing/2014/main" id="{D94C241D-99C7-4E72-A93B-03ED54B7CAE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298834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1"/>
            <p:extLst>
              <p:ext uri="{D42A27DB-BD31-4B8C-83A1-F6EECF244321}">
                <p14:modId xmlns:p14="http://schemas.microsoft.com/office/powerpoint/2010/main" val="1555872873"/>
              </p:ext>
            </p:extLst>
          </p:nvPr>
        </p:nvGraphicFramePr>
        <p:xfrm>
          <a:off x="883920" y="1789589"/>
          <a:ext cx="10393680" cy="4328160"/>
        </p:xfrm>
        <a:graphic>
          <a:graphicData uri="http://schemas.openxmlformats.org/drawingml/2006/table">
            <a:tbl>
              <a:tblPr firstRow="1" bandRow="1">
                <a:tableStyleId>{5C22544A-7EE6-4342-B048-85BDC9FD1C3A}</a:tableStyleId>
              </a:tblPr>
              <a:tblGrid>
                <a:gridCol w="5196840">
                  <a:extLst>
                    <a:ext uri="{9D8B030D-6E8A-4147-A177-3AD203B41FA5}">
                      <a16:colId xmlns:a16="http://schemas.microsoft.com/office/drawing/2014/main" val="20000"/>
                    </a:ext>
                  </a:extLst>
                </a:gridCol>
                <a:gridCol w="5196840">
                  <a:extLst>
                    <a:ext uri="{9D8B030D-6E8A-4147-A177-3AD203B41FA5}">
                      <a16:colId xmlns:a16="http://schemas.microsoft.com/office/drawing/2014/main" val="20001"/>
                    </a:ext>
                  </a:extLst>
                </a:gridCol>
              </a:tblGrid>
              <a:tr h="370840">
                <a:tc>
                  <a:txBody>
                    <a:bodyPr/>
                    <a:lstStyle/>
                    <a:p>
                      <a:pPr algn="ctr"/>
                      <a:r>
                        <a:rPr lang="fr-CA" sz="2000" dirty="0"/>
                        <a:t>Passif financier</a:t>
                      </a:r>
                    </a:p>
                  </a:txBody>
                  <a:tcPr/>
                </a:tc>
                <a:tc>
                  <a:txBody>
                    <a:bodyPr/>
                    <a:lstStyle/>
                    <a:p>
                      <a:pPr algn="ctr"/>
                      <a:r>
                        <a:rPr lang="fr-CA" sz="2000" dirty="0"/>
                        <a:t>Instrument de capitaux propres</a:t>
                      </a:r>
                    </a:p>
                  </a:txBody>
                  <a:tcPr/>
                </a:tc>
                <a:extLst>
                  <a:ext uri="{0D108BD9-81ED-4DB2-BD59-A6C34878D82A}">
                    <a16:rowId xmlns:a16="http://schemas.microsoft.com/office/drawing/2014/main" val="10000"/>
                  </a:ext>
                </a:extLst>
              </a:tr>
              <a:tr h="370840">
                <a:tc>
                  <a:txBody>
                    <a:bodyPr/>
                    <a:lstStyle/>
                    <a:p>
                      <a:r>
                        <a:rPr lang="fr-CA" sz="2000" dirty="0"/>
                        <a:t>Une entité reçoit 10 000 $</a:t>
                      </a:r>
                      <a:r>
                        <a:rPr lang="fr-CA" sz="2000" baseline="0" dirty="0"/>
                        <a:t> et promet de remettre 3 ans plus tard la somme de 10 000 $ ou des actions ayant une valeur de 10 000 $</a:t>
                      </a:r>
                      <a:endParaRPr lang="fr-CA" sz="20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sz="2000" dirty="0"/>
                        <a:t>Une entité reçoit 10 000 $</a:t>
                      </a:r>
                      <a:r>
                        <a:rPr lang="fr-CA" sz="2000" baseline="0" dirty="0"/>
                        <a:t> et promet de remettre 3 ans plus tard 1000 actions (nombre déterminé d’actions</a:t>
                      </a:r>
                    </a:p>
                    <a:p>
                      <a:pPr marL="0" marR="0" lvl="0" indent="0" algn="l" defTabSz="457200" rtl="0" eaLnBrk="1" fontAlgn="auto" latinLnBrk="0" hangingPunct="1">
                        <a:lnSpc>
                          <a:spcPct val="100000"/>
                        </a:lnSpc>
                        <a:spcBef>
                          <a:spcPts val="0"/>
                        </a:spcBef>
                        <a:spcAft>
                          <a:spcPts val="0"/>
                        </a:spcAft>
                        <a:buClrTx/>
                        <a:buSzTx/>
                        <a:buFontTx/>
                        <a:buNone/>
                        <a:tabLst/>
                        <a:defRPr/>
                      </a:pPr>
                      <a:r>
                        <a:rPr lang="fr-CA" sz="2000" baseline="0" dirty="0"/>
                        <a:t>(= souscription)</a:t>
                      </a:r>
                      <a:endParaRPr lang="fr-CA" sz="2000" dirty="0"/>
                    </a:p>
                    <a:p>
                      <a:endParaRPr lang="fr-CA" sz="2000" dirty="0"/>
                    </a:p>
                  </a:txBody>
                  <a:tcPr/>
                </a:tc>
                <a:extLst>
                  <a:ext uri="{0D108BD9-81ED-4DB2-BD59-A6C34878D82A}">
                    <a16:rowId xmlns:a16="http://schemas.microsoft.com/office/drawing/2014/main" val="10001"/>
                  </a:ext>
                </a:extLst>
              </a:tr>
              <a:tr h="594360">
                <a:tc>
                  <a:txBody>
                    <a:bodyPr/>
                    <a:lstStyle/>
                    <a:p>
                      <a:r>
                        <a:rPr lang="fr-CA" sz="2000" dirty="0"/>
                        <a:t>Actions privilégiées émises</a:t>
                      </a:r>
                      <a:r>
                        <a:rPr lang="fr-CA" sz="2000" baseline="0" dirty="0"/>
                        <a:t> pour 10 000 $, rachetables à une date déterminée à un prix déterminé et assorties de dividendes obligatoires versés à des dates prévues</a:t>
                      </a:r>
                      <a:endParaRPr lang="fr-CA" sz="2000" dirty="0"/>
                    </a:p>
                  </a:txBody>
                  <a:tcPr/>
                </a:tc>
                <a:tc>
                  <a:txBody>
                    <a:bodyPr/>
                    <a:lstStyle/>
                    <a:p>
                      <a:r>
                        <a:rPr lang="fr-CA" sz="2000" dirty="0"/>
                        <a:t>Actions privilégiées émises</a:t>
                      </a:r>
                      <a:r>
                        <a:rPr lang="fr-CA" sz="2000" baseline="0" dirty="0"/>
                        <a:t> pour 10 000 $, sans date de remboursement déterminée, rachetables au gré de l’émetteur, non assorties de dividendes à payer</a:t>
                      </a:r>
                      <a:endParaRPr lang="fr-CA" sz="2000" dirty="0"/>
                    </a:p>
                  </a:txBody>
                  <a:tcPr/>
                </a:tc>
                <a:extLst>
                  <a:ext uri="{0D108BD9-81ED-4DB2-BD59-A6C34878D82A}">
                    <a16:rowId xmlns:a16="http://schemas.microsoft.com/office/drawing/2014/main" val="10002"/>
                  </a:ext>
                </a:extLst>
              </a:tr>
              <a:tr h="594360">
                <a:tc gridSpan="2">
                  <a:txBody>
                    <a:bodyPr/>
                    <a:lstStyle/>
                    <a:p>
                      <a:r>
                        <a:rPr lang="fr-CA" sz="2000" dirty="0"/>
                        <a:t>Actions remboursables</a:t>
                      </a:r>
                      <a:r>
                        <a:rPr lang="fr-CA" sz="2000" baseline="0" dirty="0"/>
                        <a:t> si la valeur nette aux livres est inférieure à xx $?</a:t>
                      </a:r>
                    </a:p>
                    <a:p>
                      <a:r>
                        <a:rPr lang="fr-CA" sz="2000" baseline="0" dirty="0"/>
                        <a:t>Classer comme capitaux propres à moins que la probabilité que la valeur aux livres serait inférieure à xx $ soit « matérielle »</a:t>
                      </a:r>
                      <a:endParaRPr lang="fr-CA" sz="2000" dirty="0"/>
                    </a:p>
                  </a:txBody>
                  <a:tcPr/>
                </a:tc>
                <a:tc hMerge="1">
                  <a:txBody>
                    <a:bodyPr/>
                    <a:lstStyle/>
                    <a:p>
                      <a:endParaRPr lang="fr-CA" dirty="0"/>
                    </a:p>
                  </a:txBody>
                  <a:tcPr/>
                </a:tc>
                <a:extLst>
                  <a:ext uri="{0D108BD9-81ED-4DB2-BD59-A6C34878D82A}">
                    <a16:rowId xmlns:a16="http://schemas.microsoft.com/office/drawing/2014/main" val="10003"/>
                  </a:ext>
                </a:extLst>
              </a:tr>
            </a:tbl>
          </a:graphicData>
        </a:graphic>
      </p:graphicFrame>
      <p:sp>
        <p:nvSpPr>
          <p:cNvPr id="4" name="Espace réservé du numéro de diapositive 3"/>
          <p:cNvSpPr>
            <a:spLocks noGrp="1"/>
          </p:cNvSpPr>
          <p:nvPr>
            <p:ph type="sldNum" sz="quarter" idx="12"/>
          </p:nvPr>
        </p:nvSpPr>
        <p:spPr/>
        <p:txBody>
          <a:bodyPr/>
          <a:lstStyle/>
          <a:p>
            <a:fld id="{93CCD850-57C1-B143-82E0-6B89E4215FB0}" type="slidenum">
              <a:rPr lang="fr-FR" smtClean="0"/>
              <a:t>47</a:t>
            </a:fld>
            <a:endParaRPr lang="fr-FR"/>
          </a:p>
        </p:txBody>
      </p:sp>
      <p:sp>
        <p:nvSpPr>
          <p:cNvPr id="7" name="Titre 1">
            <a:extLst>
              <a:ext uri="{FF2B5EF4-FFF2-40B4-BE49-F238E27FC236}">
                <a16:creationId xmlns:a16="http://schemas.microsoft.com/office/drawing/2014/main" id="{1A961ADD-D8BA-4AAC-9C2E-8C829FC61933}"/>
              </a:ext>
            </a:extLst>
          </p:cNvPr>
          <p:cNvSpPr>
            <a:spLocks noGrp="1"/>
          </p:cNvSpPr>
          <p:nvPr>
            <p:ph type="title"/>
          </p:nvPr>
        </p:nvSpPr>
        <p:spPr>
          <a:xfrm>
            <a:off x="883920" y="274638"/>
            <a:ext cx="10469880" cy="1143000"/>
          </a:xfrm>
        </p:spPr>
        <p:txBody>
          <a:bodyPr>
            <a:normAutofit/>
          </a:bodyPr>
          <a:lstStyle/>
          <a:p>
            <a:r>
              <a:rPr lang="fr-FR" dirty="0"/>
              <a:t>Classement passif / capitaux propres</a:t>
            </a:r>
          </a:p>
        </p:txBody>
      </p:sp>
      <p:sp>
        <p:nvSpPr>
          <p:cNvPr id="2" name="Espace réservé du pied de page 1">
            <a:extLst>
              <a:ext uri="{FF2B5EF4-FFF2-40B4-BE49-F238E27FC236}">
                <a16:creationId xmlns:a16="http://schemas.microsoft.com/office/drawing/2014/main" id="{E38C3C7E-28FA-481A-A063-D18097E92B8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2570169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800" dirty="0"/>
              <a:t>Classement : passifs ou capitaux propres</a:t>
            </a:r>
            <a:br>
              <a:rPr lang="fr-FR" sz="2800" dirty="0"/>
            </a:br>
            <a:r>
              <a:rPr lang="fr-FR" sz="2600" dirty="0"/>
              <a:t>effet sur classement des intérêts, dividendes, pertes / gains</a:t>
            </a:r>
            <a:r>
              <a:rPr lang="fr-FR" sz="2800" dirty="0"/>
              <a:t> </a:t>
            </a:r>
          </a:p>
        </p:txBody>
      </p:sp>
      <p:sp>
        <p:nvSpPr>
          <p:cNvPr id="3" name="Espace réservé du contenu 2"/>
          <p:cNvSpPr>
            <a:spLocks noGrp="1"/>
          </p:cNvSpPr>
          <p:nvPr>
            <p:ph idx="1"/>
          </p:nvPr>
        </p:nvSpPr>
        <p:spPr>
          <a:xfrm>
            <a:off x="838200" y="1767840"/>
            <a:ext cx="10261922" cy="4413041"/>
          </a:xfrm>
        </p:spPr>
        <p:txBody>
          <a:bodyPr>
            <a:normAutofit/>
          </a:bodyPr>
          <a:lstStyle/>
          <a:p>
            <a:pPr marL="0" indent="0">
              <a:buNone/>
            </a:pPr>
            <a:r>
              <a:rPr lang="fr-FR" dirty="0"/>
              <a:t>Le </a:t>
            </a:r>
            <a:r>
              <a:rPr lang="fr-CA" dirty="0"/>
              <a:t>classement d’un instrument financier au bilan détermine si les intérêts, dividendes, pertes et gains qui s’y rattachent sont classés en charges ou en produits et présentés dans l’état des résultats. </a:t>
            </a:r>
          </a:p>
          <a:p>
            <a:pPr lvl="1"/>
            <a:r>
              <a:rPr lang="fr-CA" dirty="0"/>
              <a:t>les dividendes versés sur des actions classées comme passifs sont classés en charges de la même façon que les intérêts sur une obligation, et sont présentés dans l’état des résultats. </a:t>
            </a:r>
          </a:p>
          <a:p>
            <a:pPr lvl="1"/>
            <a:r>
              <a:rPr lang="fr-CA" dirty="0"/>
              <a:t>les gains et les pertes associés au rachat ou au refinancement d’instruments classés comme passifs sont présentés en résultat net, alors que le rachat ou le refinancement d’instruments classés comme capitaux propres sont présentés comme des variations des capitaux propres. Les dividendes passés en charges peuvent être groupés dans l’état des résultats avec les intérêts sur d’autres passifs, ou encore faire l’objet d’un poste distinct. </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48</a:t>
            </a:fld>
            <a:endParaRPr lang="fr-FR"/>
          </a:p>
        </p:txBody>
      </p:sp>
      <p:sp>
        <p:nvSpPr>
          <p:cNvPr id="5" name="Espace réservé du pied de page 4">
            <a:extLst>
              <a:ext uri="{FF2B5EF4-FFF2-40B4-BE49-F238E27FC236}">
                <a16:creationId xmlns:a16="http://schemas.microsoft.com/office/drawing/2014/main" id="{113E3E3C-2020-4DEF-A2CD-94FB9BB299F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8056223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r>
              <a:rPr lang="fr-FR" dirty="0"/>
              <a:t>Actions préférentielles rachetables au gré du détenteur</a:t>
            </a:r>
          </a:p>
          <a:p>
            <a:pPr lvl="1"/>
            <a:r>
              <a:rPr lang="fr-FR" dirty="0"/>
              <a:t>Dette ou capitaux propres?</a:t>
            </a:r>
          </a:p>
          <a:p>
            <a:pPr lvl="1"/>
            <a:r>
              <a:rPr lang="fr-FR" dirty="0"/>
              <a:t>Présentation des dividendes?</a:t>
            </a:r>
          </a:p>
          <a:p>
            <a:pPr marL="457200" lvl="1" indent="0">
              <a:buNone/>
            </a:pPr>
            <a:endParaRPr lang="fr-FR" dirty="0"/>
          </a:p>
          <a:p>
            <a:pPr marL="457200" lvl="1" indent="0">
              <a:buNone/>
            </a:pPr>
            <a:endParaRPr lang="fr-FR" sz="800" dirty="0"/>
          </a:p>
          <a:p>
            <a:r>
              <a:rPr lang="fr-FR" dirty="0"/>
              <a:t>Actions préférentielles rachetables au gré de l’émetteur</a:t>
            </a:r>
          </a:p>
          <a:p>
            <a:pPr lvl="1"/>
            <a:r>
              <a:rPr lang="fr-FR" dirty="0"/>
              <a:t>Dette ou capitaux propres?</a:t>
            </a:r>
          </a:p>
          <a:p>
            <a:pPr lvl="1"/>
            <a:r>
              <a:rPr lang="fr-FR" dirty="0"/>
              <a:t>Présentation des dividendes?</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49</a:t>
            </a:fld>
            <a:endParaRPr lang="fr-FR"/>
          </a:p>
        </p:txBody>
      </p:sp>
      <p:sp>
        <p:nvSpPr>
          <p:cNvPr id="9" name="Titre 1">
            <a:extLst>
              <a:ext uri="{FF2B5EF4-FFF2-40B4-BE49-F238E27FC236}">
                <a16:creationId xmlns:a16="http://schemas.microsoft.com/office/drawing/2014/main" id="{0B38D221-9A89-4FD8-8B10-E30FD5638B35}"/>
              </a:ext>
            </a:extLst>
          </p:cNvPr>
          <p:cNvSpPr>
            <a:spLocks noGrp="1"/>
          </p:cNvSpPr>
          <p:nvPr>
            <p:ph type="title"/>
          </p:nvPr>
        </p:nvSpPr>
        <p:spPr>
          <a:xfrm>
            <a:off x="1610498" y="274638"/>
            <a:ext cx="9057503" cy="1143000"/>
          </a:xfrm>
        </p:spPr>
        <p:txBody>
          <a:bodyPr>
            <a:normAutofit/>
          </a:bodyPr>
          <a:lstStyle/>
          <a:p>
            <a:r>
              <a:rPr lang="fr-FR" dirty="0"/>
              <a:t>Classement passif / capitaux propres</a:t>
            </a:r>
          </a:p>
        </p:txBody>
      </p:sp>
      <p:sp>
        <p:nvSpPr>
          <p:cNvPr id="2" name="Espace réservé du pied de page 1">
            <a:extLst>
              <a:ext uri="{FF2B5EF4-FFF2-40B4-BE49-F238E27FC236}">
                <a16:creationId xmlns:a16="http://schemas.microsoft.com/office/drawing/2014/main" id="{0D7040F5-C9FC-46B5-82A0-1A1DED1E7A8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357812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r>
              <a:rPr lang="fr-FR" dirty="0"/>
              <a:t>Actions préférentielles rachetables au gré du détenteur</a:t>
            </a:r>
          </a:p>
          <a:p>
            <a:pPr lvl="1"/>
            <a:r>
              <a:rPr lang="fr-FR" dirty="0"/>
              <a:t>Dette ou capitaux propres?  </a:t>
            </a:r>
            <a:r>
              <a:rPr lang="fr-FR" dirty="0">
                <a:solidFill>
                  <a:srgbClr val="FF0000"/>
                </a:solidFill>
              </a:rPr>
              <a:t>PASSIF</a:t>
            </a:r>
          </a:p>
          <a:p>
            <a:pPr lvl="1"/>
            <a:r>
              <a:rPr lang="fr-FR" dirty="0"/>
              <a:t>Présentation des dividendes?  </a:t>
            </a:r>
            <a:r>
              <a:rPr lang="fr-FR" dirty="0">
                <a:solidFill>
                  <a:srgbClr val="FF0000"/>
                </a:solidFill>
              </a:rPr>
              <a:t>SUIT CLASSEMENT DE L’INSTRUMENT, DONC PUISQUE PASSIF, VA AU RÉSULTAT NET (FRAIS FINANCIERS)</a:t>
            </a:r>
          </a:p>
          <a:p>
            <a:pPr marL="457200" lvl="1" indent="0">
              <a:buNone/>
            </a:pPr>
            <a:endParaRPr lang="fr-FR" dirty="0"/>
          </a:p>
          <a:p>
            <a:pPr marL="457200" lvl="1" indent="0">
              <a:buNone/>
            </a:pPr>
            <a:endParaRPr lang="fr-FR" sz="800" dirty="0"/>
          </a:p>
          <a:p>
            <a:r>
              <a:rPr lang="fr-FR" dirty="0"/>
              <a:t>Actions préférentielles rachetables au gré de l’émetteur</a:t>
            </a:r>
          </a:p>
          <a:p>
            <a:pPr lvl="1"/>
            <a:r>
              <a:rPr lang="fr-FR" dirty="0"/>
              <a:t>Dette ou capitaux propres?  </a:t>
            </a:r>
            <a:r>
              <a:rPr lang="fr-FR" dirty="0">
                <a:solidFill>
                  <a:srgbClr val="FF0000"/>
                </a:solidFill>
              </a:rPr>
              <a:t>CAPITAUX PROPRES</a:t>
            </a:r>
            <a:endParaRPr lang="fr-FR" dirty="0"/>
          </a:p>
          <a:p>
            <a:pPr lvl="1"/>
            <a:r>
              <a:rPr lang="fr-FR" dirty="0"/>
              <a:t>Présentation des dividendes? </a:t>
            </a:r>
            <a:r>
              <a:rPr lang="fr-FR" dirty="0">
                <a:solidFill>
                  <a:srgbClr val="FF0000"/>
                </a:solidFill>
              </a:rPr>
              <a:t>SUIT CLASSEMENT DE L’INSTRUMENT, DONC PUISQUE CAPITAUX PROPRES, RESTE DANS LES CAPITAUX PROPRES (RND)</a:t>
            </a:r>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50</a:t>
            </a:fld>
            <a:endParaRPr lang="fr-FR"/>
          </a:p>
        </p:txBody>
      </p:sp>
      <p:sp>
        <p:nvSpPr>
          <p:cNvPr id="9" name="Titre 1">
            <a:extLst>
              <a:ext uri="{FF2B5EF4-FFF2-40B4-BE49-F238E27FC236}">
                <a16:creationId xmlns:a16="http://schemas.microsoft.com/office/drawing/2014/main" id="{0B38D221-9A89-4FD8-8B10-E30FD5638B35}"/>
              </a:ext>
            </a:extLst>
          </p:cNvPr>
          <p:cNvSpPr>
            <a:spLocks noGrp="1"/>
          </p:cNvSpPr>
          <p:nvPr>
            <p:ph type="title"/>
          </p:nvPr>
        </p:nvSpPr>
        <p:spPr>
          <a:xfrm>
            <a:off x="1610498" y="274638"/>
            <a:ext cx="9057503" cy="1143000"/>
          </a:xfrm>
        </p:spPr>
        <p:txBody>
          <a:bodyPr>
            <a:normAutofit/>
          </a:bodyPr>
          <a:lstStyle/>
          <a:p>
            <a:r>
              <a:rPr lang="fr-FR" dirty="0"/>
              <a:t>Classement passif / capitaux propres</a:t>
            </a:r>
          </a:p>
        </p:txBody>
      </p:sp>
      <p:sp>
        <p:nvSpPr>
          <p:cNvPr id="2" name="Espace réservé du pied de page 1">
            <a:extLst>
              <a:ext uri="{FF2B5EF4-FFF2-40B4-BE49-F238E27FC236}">
                <a16:creationId xmlns:a16="http://schemas.microsoft.com/office/drawing/2014/main" id="{0D7040F5-C9FC-46B5-82A0-1A1DED1E7A8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8884557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marL="0" indent="0">
              <a:buNone/>
            </a:pPr>
            <a:r>
              <a:rPr lang="fr-FR" b="1" dirty="0"/>
              <a:t>Instrument composé (hybride)- IFRS</a:t>
            </a:r>
          </a:p>
          <a:p>
            <a:r>
              <a:rPr lang="fr-CA" sz="2600" dirty="0"/>
              <a:t>Si contient à la fois une composante de passif et une composante de capitaux propres : ces composantes doivent être classées séparément </a:t>
            </a:r>
            <a:r>
              <a:rPr lang="fr-CA" sz="1600" dirty="0"/>
              <a:t>(IAS 32.28)</a:t>
            </a:r>
          </a:p>
          <a:p>
            <a:pPr marL="0" indent="0">
              <a:buNone/>
            </a:pPr>
            <a:endParaRPr lang="fr-FR" sz="1600" dirty="0"/>
          </a:p>
          <a:p>
            <a:r>
              <a:rPr lang="fr-FR" sz="2400" dirty="0"/>
              <a:t>Ex: Débenture convertible</a:t>
            </a:r>
          </a:p>
          <a:p>
            <a:pPr lvl="1"/>
            <a:r>
              <a:rPr lang="fr-FR" dirty="0"/>
              <a:t>Dette + option de conversion</a:t>
            </a:r>
          </a:p>
          <a:p>
            <a:pPr lvl="1"/>
            <a:endParaRPr lang="fr-FR" dirty="0"/>
          </a:p>
          <a:p>
            <a:pPr marL="457200" lvl="1" indent="0">
              <a:buNone/>
            </a:pPr>
            <a:r>
              <a:rPr lang="fr-CA" sz="2000" i="1" dirty="0"/>
              <a:t>Une </a:t>
            </a:r>
            <a:r>
              <a:rPr lang="fr-CA" sz="2000" b="1" i="1" dirty="0"/>
              <a:t>débenture</a:t>
            </a:r>
            <a:r>
              <a:rPr lang="fr-CA" sz="2000" i="1" dirty="0"/>
              <a:t> est un instrument financier qui a les mêmes caractéristiques qu'une obligation, toutefois la </a:t>
            </a:r>
            <a:r>
              <a:rPr lang="fr-CA" sz="2000" b="1" i="1" dirty="0"/>
              <a:t>débenture</a:t>
            </a:r>
            <a:r>
              <a:rPr lang="fr-CA" sz="2000" i="1" dirty="0"/>
              <a:t> n'offre aucun bien en garantie. Par conséquent, elle offre moins de couverture pour l'acheteur du titre en cas de défaut de paiement.</a:t>
            </a:r>
            <a:endParaRPr lang="fr-FR" i="1"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51</a:t>
            </a:fld>
            <a:endParaRPr lang="fr-FR"/>
          </a:p>
        </p:txBody>
      </p:sp>
      <p:sp>
        <p:nvSpPr>
          <p:cNvPr id="9" name="Titre 1">
            <a:extLst>
              <a:ext uri="{FF2B5EF4-FFF2-40B4-BE49-F238E27FC236}">
                <a16:creationId xmlns:a16="http://schemas.microsoft.com/office/drawing/2014/main" id="{D0CBDF15-59E1-4B59-AD8C-270800B891E7}"/>
              </a:ext>
            </a:extLst>
          </p:cNvPr>
          <p:cNvSpPr>
            <a:spLocks noGrp="1"/>
          </p:cNvSpPr>
          <p:nvPr>
            <p:ph type="title"/>
          </p:nvPr>
        </p:nvSpPr>
        <p:spPr>
          <a:xfrm>
            <a:off x="1610498" y="274638"/>
            <a:ext cx="9057503" cy="1143000"/>
          </a:xfrm>
        </p:spPr>
        <p:txBody>
          <a:bodyPr>
            <a:normAutofit/>
          </a:bodyPr>
          <a:lstStyle/>
          <a:p>
            <a:r>
              <a:rPr lang="fr-FR" dirty="0"/>
              <a:t>Classement passif / capitaux propres</a:t>
            </a:r>
          </a:p>
        </p:txBody>
      </p:sp>
      <p:sp>
        <p:nvSpPr>
          <p:cNvPr id="2" name="Espace réservé du pied de page 1">
            <a:extLst>
              <a:ext uri="{FF2B5EF4-FFF2-40B4-BE49-F238E27FC236}">
                <a16:creationId xmlns:a16="http://schemas.microsoft.com/office/drawing/2014/main" id="{135AC5C2-B820-44EB-BA59-91870E4D7A8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4154921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92500" lnSpcReduction="10000"/>
          </a:bodyPr>
          <a:lstStyle/>
          <a:p>
            <a:pPr marL="0" indent="0">
              <a:buNone/>
            </a:pPr>
            <a:r>
              <a:rPr lang="fr-FR" b="1" dirty="0"/>
              <a:t>Instrument composé (hybride)</a:t>
            </a:r>
          </a:p>
          <a:p>
            <a:r>
              <a:rPr lang="fr-FR" dirty="0"/>
              <a:t>Pour séparer la valeur des deux composantes</a:t>
            </a:r>
          </a:p>
          <a:p>
            <a:pPr lvl="2"/>
            <a:r>
              <a:rPr lang="fr-FR" dirty="0"/>
              <a:t>IFRS (IAS 32.31) : </a:t>
            </a:r>
          </a:p>
          <a:p>
            <a:pPr lvl="3"/>
            <a:r>
              <a:rPr lang="fr-FR" sz="2400" dirty="0"/>
              <a:t>Méthode résiduelle : déterminer la JV de la composante passif, le résidu étant attribué à la composante capitaux propres.</a:t>
            </a:r>
            <a:endParaRPr lang="fr-CA" sz="2400" dirty="0"/>
          </a:p>
          <a:p>
            <a:pPr lvl="2"/>
            <a:r>
              <a:rPr lang="fr-FR" dirty="0"/>
              <a:t>NCECF (3856.22) :</a:t>
            </a:r>
          </a:p>
          <a:p>
            <a:pPr lvl="3"/>
            <a:r>
              <a:rPr lang="fr-CA" sz="2400" dirty="0"/>
              <a:t>Méthode marginale : mesure la composante la plus facile à évaluer et on attribue la valeur à l’autre composante par différence </a:t>
            </a:r>
            <a:r>
              <a:rPr lang="fr-CA" sz="2400" i="1" dirty="0"/>
              <a:t>(= méthode résiduelle)</a:t>
            </a:r>
          </a:p>
          <a:p>
            <a:pPr lvl="3"/>
            <a:r>
              <a:rPr lang="fr-FR" sz="2400" dirty="0">
                <a:solidFill>
                  <a:srgbClr val="FF0000"/>
                </a:solidFill>
              </a:rPr>
              <a:t>Choix</a:t>
            </a:r>
            <a:r>
              <a:rPr lang="fr-FR" sz="2400" dirty="0"/>
              <a:t> : </a:t>
            </a:r>
            <a:r>
              <a:rPr lang="fr-FR" sz="2400" dirty="0">
                <a:solidFill>
                  <a:srgbClr val="FF0000"/>
                </a:solidFill>
              </a:rPr>
              <a:t>Totalité du montant au passif (valeur 0 $ pour capitaux propres) </a:t>
            </a:r>
            <a:r>
              <a:rPr lang="fr-CA" sz="2400" i="1" dirty="0"/>
              <a:t>choix allégé</a:t>
            </a:r>
          </a:p>
          <a:p>
            <a:pPr marL="0" lvl="3" indent="0">
              <a:buNone/>
            </a:pPr>
            <a:endParaRPr lang="fr-CA" sz="2400" i="1" dirty="0">
              <a:solidFill>
                <a:srgbClr val="FF0000"/>
              </a:solidFill>
            </a:endParaRPr>
          </a:p>
          <a:p>
            <a:pPr marL="266700" lvl="3" indent="-266700"/>
            <a:r>
              <a:rPr lang="fr-FR" sz="2400" dirty="0"/>
              <a:t>Les frais d'émission</a:t>
            </a:r>
            <a:r>
              <a:rPr lang="fr-CA" sz="2400" dirty="0"/>
              <a:t> sont également séparés en fonction du pourcentage de la valeur attribuée à chacune des deux composantes – passif et capitaux propres</a:t>
            </a:r>
            <a:endParaRPr lang="fr-FR" sz="2400" i="1" dirty="0">
              <a:solidFill>
                <a:srgbClr val="FF0000"/>
              </a:solidFill>
            </a:endParaRP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52</a:t>
            </a:fld>
            <a:endParaRPr lang="fr-FR"/>
          </a:p>
        </p:txBody>
      </p:sp>
      <p:sp>
        <p:nvSpPr>
          <p:cNvPr id="8" name="Titre 1">
            <a:extLst>
              <a:ext uri="{FF2B5EF4-FFF2-40B4-BE49-F238E27FC236}">
                <a16:creationId xmlns:a16="http://schemas.microsoft.com/office/drawing/2014/main" id="{B3A10D40-06E7-4598-9381-A0D9CF506191}"/>
              </a:ext>
            </a:extLst>
          </p:cNvPr>
          <p:cNvSpPr>
            <a:spLocks noGrp="1"/>
          </p:cNvSpPr>
          <p:nvPr>
            <p:ph type="title"/>
          </p:nvPr>
        </p:nvSpPr>
        <p:spPr>
          <a:xfrm>
            <a:off x="1610498" y="274638"/>
            <a:ext cx="9057503" cy="1143000"/>
          </a:xfrm>
        </p:spPr>
        <p:txBody>
          <a:bodyPr>
            <a:normAutofit/>
          </a:bodyPr>
          <a:lstStyle/>
          <a:p>
            <a:r>
              <a:rPr lang="fr-FR" dirty="0"/>
              <a:t>Classement passif / capitaux propres</a:t>
            </a:r>
          </a:p>
        </p:txBody>
      </p:sp>
      <p:sp>
        <p:nvSpPr>
          <p:cNvPr id="2" name="Espace réservé du pied de page 1">
            <a:extLst>
              <a:ext uri="{FF2B5EF4-FFF2-40B4-BE49-F238E27FC236}">
                <a16:creationId xmlns:a16="http://schemas.microsoft.com/office/drawing/2014/main" id="{D000248A-052D-483E-B3BB-901F0EF23D4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63765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2360" y="274638"/>
            <a:ext cx="10481440" cy="1143000"/>
          </a:xfrm>
        </p:spPr>
        <p:txBody>
          <a:bodyPr>
            <a:normAutofit/>
          </a:bodyPr>
          <a:lstStyle/>
          <a:p>
            <a:r>
              <a:rPr lang="fr-FR" dirty="0"/>
              <a:t>Classement passif / capitaux propres - NCECF</a:t>
            </a:r>
          </a:p>
        </p:txBody>
      </p:sp>
      <p:sp>
        <p:nvSpPr>
          <p:cNvPr id="3" name="Espace réservé du contenu 2"/>
          <p:cNvSpPr>
            <a:spLocks noGrp="1"/>
          </p:cNvSpPr>
          <p:nvPr>
            <p:ph idx="1"/>
          </p:nvPr>
        </p:nvSpPr>
        <p:spPr>
          <a:xfrm>
            <a:off x="872360" y="1313793"/>
            <a:ext cx="10481440" cy="5042557"/>
          </a:xfrm>
        </p:spPr>
        <p:txBody>
          <a:bodyPr>
            <a:normAutofit fontScale="70000" lnSpcReduction="20000"/>
          </a:bodyPr>
          <a:lstStyle/>
          <a:p>
            <a:pPr marL="0" indent="0">
              <a:buNone/>
            </a:pPr>
            <a:r>
              <a:rPr lang="fr-CA" dirty="0"/>
              <a:t>.21     </a:t>
            </a:r>
            <a:r>
              <a:rPr lang="fr-CA" i="1" dirty="0"/>
              <a:t>L'émetteur d'un instrument financier qui contient à la fois une composante passif et une composante capitaux propres, y compris un bon de souscription ou une option émis avec un passif financier mais détachable de celui-ci, doit classer séparément les composantes de l'instrument selon le paragraphe </a:t>
            </a:r>
            <a:r>
              <a:rPr lang="fr-CA" dirty="0">
                <a:hlinkClick r:id="rId3"/>
              </a:rPr>
              <a:t>3856.20</a:t>
            </a:r>
            <a:r>
              <a:rPr lang="fr-CA" i="1" dirty="0"/>
              <a:t>. </a:t>
            </a:r>
            <a:r>
              <a:rPr lang="fr-CA" dirty="0"/>
              <a:t>(Les paragraphes </a:t>
            </a:r>
            <a:r>
              <a:rPr lang="fr-CA" dirty="0">
                <a:hlinkClick r:id="rId3"/>
              </a:rPr>
              <a:t>3856.A30</a:t>
            </a:r>
            <a:r>
              <a:rPr lang="fr-CA" dirty="0"/>
              <a:t> à .A38 fournissent des précisions d'application sur le sujet.)</a:t>
            </a:r>
          </a:p>
          <a:p>
            <a:pPr marL="0" indent="0">
              <a:buNone/>
            </a:pPr>
            <a:endParaRPr lang="fr-CA" dirty="0"/>
          </a:p>
          <a:p>
            <a:pPr marL="0" indent="0">
              <a:buNone/>
            </a:pPr>
            <a:r>
              <a:rPr lang="fr-CA" b="1" dirty="0"/>
              <a:t>Opérations conclues dans des conditions de pleine concurrence</a:t>
            </a:r>
          </a:p>
          <a:p>
            <a:pPr marL="0" indent="0">
              <a:buNone/>
            </a:pPr>
            <a:r>
              <a:rPr lang="fr-CA" dirty="0"/>
              <a:t>.22     Les deux méthodes suivantes sont acceptables aux fins de l'évaluation initiale des composantes passif et capitaux propres distinctes d'un instrument émis dans une opération conclue dans des conditions de pleine concurrence visé par le paragraphe </a:t>
            </a:r>
            <a:r>
              <a:rPr lang="fr-CA" dirty="0">
                <a:hlinkClick r:id="rId3"/>
              </a:rPr>
              <a:t>3856.21</a:t>
            </a:r>
            <a:r>
              <a:rPr lang="fr-CA" dirty="0"/>
              <a:t> :</a:t>
            </a:r>
          </a:p>
          <a:p>
            <a:pPr marL="0" indent="0">
              <a:buNone/>
            </a:pPr>
            <a:r>
              <a:rPr lang="fr-CA" dirty="0"/>
              <a:t>a)     La composante capitaux propres est évaluée à zéro. La totalité du produit de l'émission est attribuée à la composante passif.</a:t>
            </a:r>
          </a:p>
          <a:p>
            <a:pPr marL="0" indent="0">
              <a:buNone/>
            </a:pPr>
            <a:r>
              <a:rPr lang="fr-CA" dirty="0"/>
              <a:t>b)     La valeur de la composante la plus facile à évaluer est déduite du produit total de l'émission. La différence donne la valeur de la composante restante.</a:t>
            </a:r>
          </a:p>
          <a:p>
            <a:pPr marL="0" indent="0">
              <a:buNone/>
            </a:pPr>
            <a:r>
              <a:rPr lang="fr-CA" dirty="0"/>
              <a:t>La somme des valeurs comptables attribuées respectivement aux composantes passif et capitaux propres lors de la comptabilisation initiale est toujours égale à la valeur comptable qui serait attribuée à l'instrument pris dans son ensemble. Le fait de comptabiliser et de présenter séparément les composantes de l'instrument ne peut donner lieu à un gain ou à une perte. [Le libellé de l'ancien paragraphe 3856.22 se trouve dans les Prises de position archivées.]</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53</a:t>
            </a:fld>
            <a:endParaRPr lang="fr-FR"/>
          </a:p>
        </p:txBody>
      </p:sp>
      <p:sp>
        <p:nvSpPr>
          <p:cNvPr id="5" name="Espace réservé du pied de page 4">
            <a:extLst>
              <a:ext uri="{FF2B5EF4-FFF2-40B4-BE49-F238E27FC236}">
                <a16:creationId xmlns:a16="http://schemas.microsoft.com/office/drawing/2014/main" id="{D61BFFCA-FBB0-4596-84EF-7D339BA809E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186053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Risques financiers</a:t>
            </a:r>
          </a:p>
        </p:txBody>
      </p:sp>
      <p:sp>
        <p:nvSpPr>
          <p:cNvPr id="3" name="Espace réservé du contenu 2"/>
          <p:cNvSpPr>
            <a:spLocks noGrp="1"/>
          </p:cNvSpPr>
          <p:nvPr>
            <p:ph idx="1"/>
          </p:nvPr>
        </p:nvSpPr>
        <p:spPr>
          <a:xfrm>
            <a:off x="838200" y="1585732"/>
            <a:ext cx="10515600" cy="4591231"/>
          </a:xfrm>
        </p:spPr>
        <p:txBody>
          <a:bodyPr>
            <a:normAutofit fontScale="62500" lnSpcReduction="20000"/>
          </a:bodyPr>
          <a:lstStyle/>
          <a:p>
            <a:pPr>
              <a:buClr>
                <a:schemeClr val="accent2"/>
              </a:buClr>
            </a:pPr>
            <a:r>
              <a:rPr lang="fr-CA" sz="3200" b="1" dirty="0">
                <a:solidFill>
                  <a:srgbClr val="0070C0"/>
                </a:solidFill>
              </a:rPr>
              <a:t>Risque de crédit</a:t>
            </a:r>
            <a:r>
              <a:rPr lang="fr-CA" sz="3200" dirty="0"/>
              <a:t> : risque qu'une partie à un instrument financier manque à une de ses obligations et amène de ce fait l'autre partie à subir une perte financière</a:t>
            </a:r>
          </a:p>
          <a:p>
            <a:pPr>
              <a:buClr>
                <a:schemeClr val="accent2"/>
              </a:buClr>
            </a:pPr>
            <a:r>
              <a:rPr lang="fr-CA" sz="3200" b="1" dirty="0">
                <a:solidFill>
                  <a:srgbClr val="0070C0"/>
                </a:solidFill>
              </a:rPr>
              <a:t>Risque de liquidité </a:t>
            </a:r>
            <a:r>
              <a:rPr lang="fr-CA" sz="3200" dirty="0"/>
              <a:t>: risque qu'une entité éprouve des difficultés à honorer des engagements liés à des </a:t>
            </a:r>
            <a:r>
              <a:rPr lang="fr-CA" sz="3200" dirty="0">
                <a:highlight>
                  <a:srgbClr val="FFFF00"/>
                </a:highlight>
              </a:rPr>
              <a:t>passifs financiers</a:t>
            </a:r>
          </a:p>
          <a:p>
            <a:pPr>
              <a:buClr>
                <a:schemeClr val="accent2"/>
              </a:buClr>
            </a:pPr>
            <a:r>
              <a:rPr lang="fr-CA" sz="3200" b="1" dirty="0">
                <a:solidFill>
                  <a:srgbClr val="0070C0"/>
                </a:solidFill>
              </a:rPr>
              <a:t>Risque de marché </a:t>
            </a:r>
            <a:r>
              <a:rPr lang="fr-CA" sz="3200" dirty="0"/>
              <a:t>: risque que la juste valeur ou les flux de trésorerie futurs d'un instrument financier fluctuent en raison des variations des </a:t>
            </a:r>
            <a:r>
              <a:rPr lang="fr-CA" sz="3200" dirty="0">
                <a:highlight>
                  <a:srgbClr val="FFFF00"/>
                </a:highlight>
              </a:rPr>
              <a:t>prix</a:t>
            </a:r>
            <a:r>
              <a:rPr lang="fr-CA" sz="3200" dirty="0"/>
              <a:t> du marché</a:t>
            </a:r>
          </a:p>
          <a:p>
            <a:pPr marL="685800" lvl="2">
              <a:spcBef>
                <a:spcPts val="1000"/>
              </a:spcBef>
              <a:buClr>
                <a:schemeClr val="accent2"/>
              </a:buClr>
            </a:pPr>
            <a:r>
              <a:rPr lang="fr-CA" sz="3300" dirty="0"/>
              <a:t>Le risque de marché inclut trois types de risque: le </a:t>
            </a:r>
            <a:r>
              <a:rPr lang="fr-CA" sz="3300" dirty="0">
                <a:solidFill>
                  <a:srgbClr val="0070C0"/>
                </a:solidFill>
              </a:rPr>
              <a:t>risque de taux d'intérêt</a:t>
            </a:r>
            <a:r>
              <a:rPr lang="fr-CA" sz="3300" dirty="0"/>
              <a:t>, le </a:t>
            </a:r>
            <a:r>
              <a:rPr lang="fr-CA" sz="3300" dirty="0">
                <a:solidFill>
                  <a:srgbClr val="0070C0"/>
                </a:solidFill>
              </a:rPr>
              <a:t>risque de change </a:t>
            </a:r>
            <a:r>
              <a:rPr lang="fr-CA" sz="3300" dirty="0"/>
              <a:t>et les </a:t>
            </a:r>
            <a:r>
              <a:rPr lang="fr-CA" sz="3300" dirty="0">
                <a:solidFill>
                  <a:srgbClr val="0070C0"/>
                </a:solidFill>
              </a:rPr>
              <a:t>autres risques de prix</a:t>
            </a:r>
            <a:r>
              <a:rPr lang="fr-CA" sz="3300" dirty="0"/>
              <a:t>.</a:t>
            </a:r>
            <a:endParaRPr lang="fr-CA" sz="2800" dirty="0"/>
          </a:p>
          <a:p>
            <a:pPr marL="0" indent="0">
              <a:buNone/>
            </a:pPr>
            <a:endParaRPr lang="fr-CA" dirty="0"/>
          </a:p>
          <a:p>
            <a:pPr marL="0" indent="0">
              <a:buNone/>
            </a:pPr>
            <a:r>
              <a:rPr lang="fr-CA" dirty="0"/>
              <a:t>Couvrir le risque en tout ou en partie</a:t>
            </a:r>
          </a:p>
          <a:p>
            <a:r>
              <a:rPr lang="fr-CA" dirty="0"/>
              <a:t>Risque de prix : fixer le prix</a:t>
            </a:r>
          </a:p>
          <a:p>
            <a:r>
              <a:rPr lang="fr-CA" dirty="0"/>
              <a:t>Risque de taux d’intérêt : variation taux d’intérêt</a:t>
            </a:r>
          </a:p>
          <a:p>
            <a:r>
              <a:rPr lang="fr-CA" dirty="0"/>
              <a:t>Risque de change : variation taux de change</a:t>
            </a:r>
          </a:p>
          <a:p>
            <a:r>
              <a:rPr lang="fr-CA" dirty="0"/>
              <a:t>Risque de crédit (de contrepartie) : assurance</a:t>
            </a:r>
          </a:p>
          <a:p>
            <a:r>
              <a:rPr lang="fr-CA" dirty="0"/>
              <a:t>Risque de liquidité (ou de financement) : prévenir…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54</a:t>
            </a:fld>
            <a:endParaRPr lang="fr-FR"/>
          </a:p>
        </p:txBody>
      </p:sp>
      <p:sp>
        <p:nvSpPr>
          <p:cNvPr id="5" name="Espace réservé du pied de page 4">
            <a:extLst>
              <a:ext uri="{FF2B5EF4-FFF2-40B4-BE49-F238E27FC236}">
                <a16:creationId xmlns:a16="http://schemas.microsoft.com/office/drawing/2014/main" id="{50EAFDB5-1AF9-46F8-9C6C-0AB3A7416BA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0539089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Dérivés</a:t>
            </a:r>
          </a:p>
        </p:txBody>
      </p:sp>
      <p:sp>
        <p:nvSpPr>
          <p:cNvPr id="3" name="Espace réservé du contenu 2"/>
          <p:cNvSpPr>
            <a:spLocks noGrp="1"/>
          </p:cNvSpPr>
          <p:nvPr>
            <p:ph idx="1"/>
          </p:nvPr>
        </p:nvSpPr>
        <p:spPr/>
        <p:txBody>
          <a:bodyPr>
            <a:normAutofit/>
          </a:bodyPr>
          <a:lstStyle/>
          <a:p>
            <a:pPr marL="0" indent="0">
              <a:buNone/>
            </a:pPr>
            <a:endParaRPr lang="fr-FR" dirty="0"/>
          </a:p>
          <a:p>
            <a:r>
              <a:rPr lang="fr-FR" dirty="0"/>
              <a:t>Dérivés : utilisés pour </a:t>
            </a:r>
            <a:r>
              <a:rPr lang="fr-FR" dirty="0">
                <a:highlight>
                  <a:srgbClr val="FFFF00"/>
                </a:highlight>
              </a:rPr>
              <a:t>fixer</a:t>
            </a:r>
            <a:r>
              <a:rPr lang="fr-FR" dirty="0"/>
              <a:t> </a:t>
            </a:r>
            <a:r>
              <a:rPr lang="fr-FR" dirty="0">
                <a:highlight>
                  <a:srgbClr val="FFFF00"/>
                </a:highlight>
              </a:rPr>
              <a:t>revenus</a:t>
            </a:r>
            <a:r>
              <a:rPr lang="fr-FR" dirty="0"/>
              <a:t> ou </a:t>
            </a:r>
            <a:r>
              <a:rPr lang="fr-FR" dirty="0">
                <a:highlight>
                  <a:srgbClr val="FFFF00"/>
                </a:highlight>
              </a:rPr>
              <a:t>coûts</a:t>
            </a:r>
            <a:r>
              <a:rPr lang="fr-FR" dirty="0"/>
              <a:t> et pour « gérer » la volatilité́ du taux d’</a:t>
            </a:r>
            <a:r>
              <a:rPr lang="fr-FR" dirty="0">
                <a:highlight>
                  <a:srgbClr val="FFFF00"/>
                </a:highlight>
              </a:rPr>
              <a:t>intérêt</a:t>
            </a:r>
            <a:r>
              <a:rPr lang="fr-FR" dirty="0"/>
              <a:t> ou le taux de </a:t>
            </a:r>
            <a:r>
              <a:rPr lang="fr-FR" dirty="0">
                <a:highlight>
                  <a:srgbClr val="FFFF00"/>
                </a:highlight>
              </a:rPr>
              <a:t>change</a:t>
            </a:r>
            <a:r>
              <a:rPr lang="fr-FR" dirty="0"/>
              <a:t> </a:t>
            </a:r>
          </a:p>
          <a:p>
            <a:pPr lvl="1"/>
            <a:r>
              <a:rPr lang="fr-FR" dirty="0"/>
              <a:t>pour fixer revenus ou coûts</a:t>
            </a:r>
          </a:p>
          <a:p>
            <a:pPr lvl="2"/>
            <a:r>
              <a:rPr lang="fr-CA" dirty="0"/>
              <a:t>Contrats fixant prix vente/achat</a:t>
            </a:r>
          </a:p>
          <a:p>
            <a:pPr lvl="3"/>
            <a:r>
              <a:rPr lang="fr-CA" dirty="0"/>
              <a:t>Sinon, contrats à terme sur élément avec même profil de risque</a:t>
            </a:r>
            <a:endParaRPr lang="fr-FR" dirty="0"/>
          </a:p>
          <a:p>
            <a:pPr lvl="1"/>
            <a:r>
              <a:rPr lang="fr-FR" dirty="0"/>
              <a:t>pour « gérer » la volatilité́ du taux d’intérêt ou le taux de change </a:t>
            </a:r>
          </a:p>
          <a:p>
            <a:pPr lvl="2"/>
            <a:r>
              <a:rPr lang="fr-FR" dirty="0"/>
              <a:t>Swap taux d’intérêts, contrats à terme devises</a:t>
            </a:r>
            <a:endParaRPr lang="fr-FR" sz="1400" dirty="0"/>
          </a:p>
          <a:p>
            <a:endParaRPr lang="fr-FR" dirty="0"/>
          </a:p>
          <a:p>
            <a:pPr marL="457200" lvl="1" indent="0">
              <a:buNone/>
            </a:pPr>
            <a:endParaRPr lang="fr-FR" dirty="0">
              <a:solidFill>
                <a:srgbClr val="3366FF"/>
              </a:solidFill>
            </a:endParaRPr>
          </a:p>
          <a:p>
            <a:pPr marL="457200" lvl="1" indent="0">
              <a:buNone/>
            </a:pPr>
            <a:endParaRPr lang="fr-FR" dirty="0">
              <a:solidFill>
                <a:srgbClr val="3366FF"/>
              </a:solidFill>
            </a:endParaRPr>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55</a:t>
            </a:fld>
            <a:endParaRPr lang="fr-FR"/>
          </a:p>
        </p:txBody>
      </p:sp>
      <p:sp>
        <p:nvSpPr>
          <p:cNvPr id="5" name="Espace réservé du pied de page 4">
            <a:extLst>
              <a:ext uri="{FF2B5EF4-FFF2-40B4-BE49-F238E27FC236}">
                <a16:creationId xmlns:a16="http://schemas.microsoft.com/office/drawing/2014/main" id="{9FE3E859-7674-483B-ABA3-C0E099FBCF2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8410320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Dérivés</a:t>
            </a:r>
          </a:p>
        </p:txBody>
      </p:sp>
      <p:sp>
        <p:nvSpPr>
          <p:cNvPr id="3" name="Espace réservé du contenu 2"/>
          <p:cNvSpPr>
            <a:spLocks noGrp="1"/>
          </p:cNvSpPr>
          <p:nvPr>
            <p:ph idx="1"/>
          </p:nvPr>
        </p:nvSpPr>
        <p:spPr/>
        <p:txBody>
          <a:bodyPr>
            <a:normAutofit/>
          </a:bodyPr>
          <a:lstStyle/>
          <a:p>
            <a:r>
              <a:rPr lang="fr-CA" dirty="0"/>
              <a:t>Dérivés autonomes</a:t>
            </a:r>
          </a:p>
          <a:p>
            <a:r>
              <a:rPr lang="fr-CA" dirty="0"/>
              <a:t>Dérivés incorporés (intégrés, composés) dans d’autres instruments ou contrats</a:t>
            </a:r>
          </a:p>
          <a:p>
            <a:pPr lvl="1"/>
            <a:r>
              <a:rPr lang="fr-CA" dirty="0"/>
              <a:t>Ex : placement convertible </a:t>
            </a:r>
          </a:p>
          <a:p>
            <a:pPr marL="457200" lvl="1" indent="0">
              <a:buNone/>
            </a:pPr>
            <a:endParaRPr lang="fr-CA" dirty="0"/>
          </a:p>
          <a:p>
            <a:pPr marL="457200" lvl="1" indent="0">
              <a:buNone/>
            </a:pPr>
            <a:endParaRPr lang="fr-CA" dirty="0"/>
          </a:p>
          <a:p>
            <a:pPr lvl="1">
              <a:buFont typeface="Wingdings" panose="05000000000000000000" pitchFamily="2" charset="2"/>
              <a:buChar char="Ø"/>
            </a:pPr>
            <a:r>
              <a:rPr lang="fr-CA" dirty="0"/>
              <a:t>Évaluation à la juste valeur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56</a:t>
            </a:fld>
            <a:endParaRPr lang="fr-FR"/>
          </a:p>
        </p:txBody>
      </p:sp>
      <p:sp>
        <p:nvSpPr>
          <p:cNvPr id="5" name="Espace réservé du pied de page 4">
            <a:extLst>
              <a:ext uri="{FF2B5EF4-FFF2-40B4-BE49-F238E27FC236}">
                <a16:creationId xmlns:a16="http://schemas.microsoft.com/office/drawing/2014/main" id="{B43D4988-600E-4E4F-B998-C9EFA4A2103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3535348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94EA5-3082-420F-9090-AF1845731A19}"/>
              </a:ext>
            </a:extLst>
          </p:cNvPr>
          <p:cNvSpPr>
            <a:spLocks noGrp="1"/>
          </p:cNvSpPr>
          <p:nvPr>
            <p:ph type="title"/>
          </p:nvPr>
        </p:nvSpPr>
        <p:spPr>
          <a:xfrm>
            <a:off x="838200" y="365126"/>
            <a:ext cx="10515600" cy="511568"/>
          </a:xfrm>
        </p:spPr>
        <p:txBody>
          <a:bodyPr>
            <a:noAutofit/>
          </a:bodyPr>
          <a:lstStyle/>
          <a:p>
            <a:r>
              <a:rPr lang="fr-CA" sz="3600" dirty="0"/>
              <a:t>IFRS 9 - </a:t>
            </a:r>
            <a:r>
              <a:rPr lang="fr-CA" sz="2800" dirty="0"/>
              <a:t>contrats d’achat ou de vente d’un élément non financier</a:t>
            </a:r>
            <a:endParaRPr lang="fr-FR" sz="3600" dirty="0"/>
          </a:p>
        </p:txBody>
      </p:sp>
      <p:sp>
        <p:nvSpPr>
          <p:cNvPr id="3" name="Espace réservé du contenu 2">
            <a:extLst>
              <a:ext uri="{FF2B5EF4-FFF2-40B4-BE49-F238E27FC236}">
                <a16:creationId xmlns:a16="http://schemas.microsoft.com/office/drawing/2014/main" id="{856B754F-5A7E-474C-9E3F-34BA2B1D02B9}"/>
              </a:ext>
            </a:extLst>
          </p:cNvPr>
          <p:cNvSpPr>
            <a:spLocks noGrp="1"/>
          </p:cNvSpPr>
          <p:nvPr>
            <p:ph idx="1"/>
          </p:nvPr>
        </p:nvSpPr>
        <p:spPr>
          <a:xfrm>
            <a:off x="838200" y="1121790"/>
            <a:ext cx="10515600" cy="5175315"/>
          </a:xfrm>
        </p:spPr>
        <p:txBody>
          <a:bodyPr>
            <a:normAutofit fontScale="92500" lnSpcReduction="20000"/>
          </a:bodyPr>
          <a:lstStyle/>
          <a:p>
            <a:pPr marL="0" indent="0">
              <a:buNone/>
            </a:pPr>
            <a:r>
              <a:rPr lang="fr-CA" sz="2500" dirty="0"/>
              <a:t>2.4     </a:t>
            </a:r>
            <a:r>
              <a:rPr lang="fr-CA" sz="2500" u="sng" dirty="0"/>
              <a:t>La présente norme doit être appliquée </a:t>
            </a:r>
            <a:r>
              <a:rPr lang="fr-CA" sz="2500" dirty="0"/>
              <a:t>aux contrats d'achat ou de vente d'un élément non financier </a:t>
            </a:r>
            <a:r>
              <a:rPr lang="fr-CA" sz="2500" u="sng" dirty="0"/>
              <a:t>qui peuvent faire l'objet d'un règlement net en trésorerie</a:t>
            </a:r>
            <a:r>
              <a:rPr lang="fr-CA" sz="2500" dirty="0"/>
              <a:t>, en un autre instrument financier ou par l'échange d'instruments financiers, comme si ces contrats étaient des instruments financiers, </a:t>
            </a:r>
            <a:r>
              <a:rPr lang="fr-CA" sz="2500" u="sng" dirty="0"/>
              <a:t>à l'exception des contrats conclus et maintenus en vue de la réception ou de la livraison d'un élément non financier selon les besoins prévus de l'entité en matière d'achat, de vente ou d'utilisation</a:t>
            </a:r>
            <a:r>
              <a:rPr lang="fr-CA" sz="2500" dirty="0"/>
              <a:t>. La présente norme doit toutefois être appliquée aux contrats que l'entité désigne comme étant évalués à la juste valeur par le biais du résultat net selon le paragraphe </a:t>
            </a:r>
            <a:r>
              <a:rPr lang="fr-CA" sz="2500" dirty="0">
                <a:hlinkClick r:id="rId2"/>
              </a:rPr>
              <a:t>2.5</a:t>
            </a:r>
            <a:r>
              <a:rPr lang="fr-CA" sz="2500" dirty="0"/>
              <a:t>.</a:t>
            </a:r>
          </a:p>
          <a:p>
            <a:pPr marL="0" indent="0">
              <a:buNone/>
            </a:pPr>
            <a:r>
              <a:rPr lang="fr-CA" sz="2500" dirty="0"/>
              <a:t>2.5     Un contrat d'achat ou de vente d'un élément non financier qui peut faire l'objet d'un règlement net en trésorerie ou en un autre instrument financier, ou par l'échange d'instruments financiers, comme si ce contrat était un instrument financier, peut être désigné irrévocablement comme étant évalué à la juste valeur par le biais du résultat net même s'il a été conclu en vue de la réception ou de la livraison d'un élément non financier selon les besoins prévus de l'entité en matière d'achat, de vente ou d'utilisation. Cette désignation n'est possible qu'au moment de la passation du contrat et seulement si elle élimine ou réduit de façon importante une incohérence dans la comptabilisation (parfois appelée « non-concordance comptable ») qui, autrement, découlerait de la non-comptabilisation de ce contrat au motif qu'il est exclu du champ d'application de la présente norme (voir paragraphe </a:t>
            </a:r>
            <a:r>
              <a:rPr lang="fr-CA" sz="2500" dirty="0">
                <a:hlinkClick r:id="rId2"/>
              </a:rPr>
              <a:t>2.4</a:t>
            </a:r>
            <a:r>
              <a:rPr lang="fr-CA" sz="2500" dirty="0"/>
              <a:t>).</a:t>
            </a:r>
          </a:p>
          <a:p>
            <a:pPr marL="0" indent="0">
              <a:buNone/>
            </a:pPr>
            <a:endParaRPr lang="fr-FR" dirty="0"/>
          </a:p>
        </p:txBody>
      </p:sp>
      <p:sp>
        <p:nvSpPr>
          <p:cNvPr id="4" name="Espace réservé du pied de page 3">
            <a:extLst>
              <a:ext uri="{FF2B5EF4-FFF2-40B4-BE49-F238E27FC236}">
                <a16:creationId xmlns:a16="http://schemas.microsoft.com/office/drawing/2014/main" id="{4C95F3F9-1B4F-4149-AE70-D8C98D35D47D}"/>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C42E1D59-8C67-4446-82A2-4B0BC9029DA8}"/>
              </a:ext>
            </a:extLst>
          </p:cNvPr>
          <p:cNvSpPr>
            <a:spLocks noGrp="1"/>
          </p:cNvSpPr>
          <p:nvPr>
            <p:ph type="sldNum" sz="quarter" idx="12"/>
          </p:nvPr>
        </p:nvSpPr>
        <p:spPr/>
        <p:txBody>
          <a:bodyPr/>
          <a:lstStyle/>
          <a:p>
            <a:fld id="{D5C8285E-D276-48ED-A38D-FCE3A7D9B93F}" type="slidenum">
              <a:rPr lang="fr-CA" smtClean="0"/>
              <a:t>57</a:t>
            </a:fld>
            <a:endParaRPr lang="fr-CA"/>
          </a:p>
        </p:txBody>
      </p:sp>
    </p:spTree>
    <p:extLst>
      <p:ext uri="{BB962C8B-B14F-4D97-AF65-F5344CB8AC3E}">
        <p14:creationId xmlns:p14="http://schemas.microsoft.com/office/powerpoint/2010/main" val="2871869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94EA5-3082-420F-9090-AF1845731A19}"/>
              </a:ext>
            </a:extLst>
          </p:cNvPr>
          <p:cNvSpPr>
            <a:spLocks noGrp="1"/>
          </p:cNvSpPr>
          <p:nvPr>
            <p:ph type="title"/>
          </p:nvPr>
        </p:nvSpPr>
        <p:spPr>
          <a:xfrm>
            <a:off x="838200" y="365126"/>
            <a:ext cx="10515600" cy="511568"/>
          </a:xfrm>
        </p:spPr>
        <p:txBody>
          <a:bodyPr>
            <a:noAutofit/>
          </a:bodyPr>
          <a:lstStyle/>
          <a:p>
            <a:r>
              <a:rPr lang="fr-CA" sz="3600" dirty="0"/>
              <a:t>IFRS 9 - </a:t>
            </a:r>
            <a:r>
              <a:rPr lang="fr-CA" sz="2800" dirty="0"/>
              <a:t>contrats d’achat ou de vente d’un élément non financier</a:t>
            </a:r>
            <a:endParaRPr lang="fr-FR" sz="3600" dirty="0"/>
          </a:p>
        </p:txBody>
      </p:sp>
      <p:sp>
        <p:nvSpPr>
          <p:cNvPr id="3" name="Espace réservé du contenu 2">
            <a:extLst>
              <a:ext uri="{FF2B5EF4-FFF2-40B4-BE49-F238E27FC236}">
                <a16:creationId xmlns:a16="http://schemas.microsoft.com/office/drawing/2014/main" id="{856B754F-5A7E-474C-9E3F-34BA2B1D02B9}"/>
              </a:ext>
            </a:extLst>
          </p:cNvPr>
          <p:cNvSpPr>
            <a:spLocks noGrp="1"/>
          </p:cNvSpPr>
          <p:nvPr>
            <p:ph idx="1"/>
          </p:nvPr>
        </p:nvSpPr>
        <p:spPr>
          <a:xfrm>
            <a:off x="838200" y="985520"/>
            <a:ext cx="10515600" cy="5507354"/>
          </a:xfrm>
        </p:spPr>
        <p:txBody>
          <a:bodyPr>
            <a:normAutofit fontScale="77500" lnSpcReduction="20000"/>
          </a:bodyPr>
          <a:lstStyle/>
          <a:p>
            <a:pPr marL="0" indent="0">
              <a:buNone/>
            </a:pPr>
            <a:r>
              <a:rPr lang="fr-CA" sz="2500" dirty="0"/>
              <a:t>2.6     Il existe plusieurs façons, pour un contrat d'achat ou de vente d'un élément non financier, de pouvoir faire l'objet d'un règlement net en trésorerie, en un autre instrument financier ou par l'échange d'instruments financiers. C'est le cas dans les situations suivantes :</a:t>
            </a:r>
          </a:p>
          <a:p>
            <a:pPr marL="0" indent="0">
              <a:buNone/>
            </a:pPr>
            <a:r>
              <a:rPr lang="fr-CA" sz="2500" dirty="0"/>
              <a:t>(a)     lorsque les conditions du contrat permettent à l'une ou l'autre partie de procéder à un règlement net en trésorerie, en un autre instrument financier ou par l'échange d'instruments financiers ;</a:t>
            </a:r>
          </a:p>
          <a:p>
            <a:pPr marL="0" indent="0">
              <a:buNone/>
            </a:pPr>
            <a:r>
              <a:rPr lang="fr-CA" sz="2500" dirty="0"/>
              <a:t>(b)     lorsque la possibilité de procéder à un règlement net en trésorerie, en un autre instrument financier ou par l'échange d'instruments financiers n'est pas explicite dans les conditions du contrat, mais que, pour des contrats similaires, l'entité a pour pratique de procéder à leur règlement net en trésorerie, en un autre instrument financier ou par l'échange d'instruments financiers (que ce soit avec la contrepartie, au moyen de contrats de compensation ou par la vente du contrat avant son exercice ou son échéance) ;</a:t>
            </a:r>
          </a:p>
          <a:p>
            <a:pPr marL="0" indent="0">
              <a:buNone/>
            </a:pPr>
            <a:r>
              <a:rPr lang="fr-CA" sz="2500" dirty="0"/>
              <a:t>(c)     lorsque, pour des contrats similaires, l'entité a pour pratique de prendre livraison du sous-jacent et de le vendre dans un bref délai après la livraison, dans le but de dégager un bénéfice des fluctuations à court terme du prix ou de la marge du contrepartiste ;</a:t>
            </a:r>
          </a:p>
          <a:p>
            <a:pPr marL="0" indent="0">
              <a:buNone/>
            </a:pPr>
            <a:r>
              <a:rPr lang="fr-CA" sz="2500" dirty="0"/>
              <a:t>(d)     lorsque l'élément non financier qui constitue l'objet du contrat est immédiatement convertible en trésorerie.</a:t>
            </a:r>
          </a:p>
          <a:p>
            <a:pPr marL="0" indent="0">
              <a:buNone/>
            </a:pPr>
            <a:r>
              <a:rPr lang="fr-CA" sz="2500" dirty="0"/>
              <a:t>     Un contrat auquel s'appliquent les points (b) ou (c) n'est pas conclu en vue de la réception ou de la livraison de l'élément non financier selon les besoins prévus de l'entité en matière d'achat, de vente ou d'utilisation et, par conséquent, entre dans le champ d'application de la présente norme. On évalue les autres contrats auxquels s'applique le paragraphe </a:t>
            </a:r>
            <a:r>
              <a:rPr lang="fr-CA" sz="2500" dirty="0">
                <a:hlinkClick r:id="rId2"/>
              </a:rPr>
              <a:t>2.4</a:t>
            </a:r>
            <a:r>
              <a:rPr lang="fr-CA" sz="2500" dirty="0"/>
              <a:t> pour déterminer s'ils ont été conclus et s'ils sont maintenus en vue de la réception ou de la livraison de l'élément non financier selon les besoins prévus de l'entité en matière d'achat, de vente ou d'utilisation et, par conséquent, s'ils entrent dans le champ d'application de la présente norme.</a:t>
            </a:r>
          </a:p>
        </p:txBody>
      </p:sp>
      <p:sp>
        <p:nvSpPr>
          <p:cNvPr id="4" name="Espace réservé du pied de page 3">
            <a:extLst>
              <a:ext uri="{FF2B5EF4-FFF2-40B4-BE49-F238E27FC236}">
                <a16:creationId xmlns:a16="http://schemas.microsoft.com/office/drawing/2014/main" id="{4C95F3F9-1B4F-4149-AE70-D8C98D35D47D}"/>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C42E1D59-8C67-4446-82A2-4B0BC9029DA8}"/>
              </a:ext>
            </a:extLst>
          </p:cNvPr>
          <p:cNvSpPr>
            <a:spLocks noGrp="1"/>
          </p:cNvSpPr>
          <p:nvPr>
            <p:ph type="sldNum" sz="quarter" idx="12"/>
          </p:nvPr>
        </p:nvSpPr>
        <p:spPr/>
        <p:txBody>
          <a:bodyPr/>
          <a:lstStyle/>
          <a:p>
            <a:fld id="{D5C8285E-D276-48ED-A38D-FCE3A7D9B93F}" type="slidenum">
              <a:rPr lang="fr-CA" smtClean="0"/>
              <a:t>58</a:t>
            </a:fld>
            <a:endParaRPr lang="fr-CA"/>
          </a:p>
        </p:txBody>
      </p:sp>
    </p:spTree>
    <p:extLst>
      <p:ext uri="{BB962C8B-B14F-4D97-AF65-F5344CB8AC3E}">
        <p14:creationId xmlns:p14="http://schemas.microsoft.com/office/powerpoint/2010/main" val="2065471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94EA5-3082-420F-9090-AF1845731A19}"/>
              </a:ext>
            </a:extLst>
          </p:cNvPr>
          <p:cNvSpPr>
            <a:spLocks noGrp="1"/>
          </p:cNvSpPr>
          <p:nvPr>
            <p:ph type="title"/>
          </p:nvPr>
        </p:nvSpPr>
        <p:spPr>
          <a:xfrm>
            <a:off x="838200" y="365126"/>
            <a:ext cx="10515600" cy="511568"/>
          </a:xfrm>
        </p:spPr>
        <p:txBody>
          <a:bodyPr>
            <a:noAutofit/>
          </a:bodyPr>
          <a:lstStyle/>
          <a:p>
            <a:r>
              <a:rPr lang="fr-CA" sz="3600" dirty="0"/>
              <a:t>IFRS 9 - </a:t>
            </a:r>
            <a:r>
              <a:rPr lang="fr-CA" sz="2800" dirty="0"/>
              <a:t>contrats d’achat ou de vente d’un élément non financier</a:t>
            </a:r>
            <a:endParaRPr lang="fr-FR" sz="3600" dirty="0"/>
          </a:p>
        </p:txBody>
      </p:sp>
      <p:sp>
        <p:nvSpPr>
          <p:cNvPr id="3" name="Espace réservé du contenu 2">
            <a:extLst>
              <a:ext uri="{FF2B5EF4-FFF2-40B4-BE49-F238E27FC236}">
                <a16:creationId xmlns:a16="http://schemas.microsoft.com/office/drawing/2014/main" id="{856B754F-5A7E-474C-9E3F-34BA2B1D02B9}"/>
              </a:ext>
            </a:extLst>
          </p:cNvPr>
          <p:cNvSpPr>
            <a:spLocks noGrp="1"/>
          </p:cNvSpPr>
          <p:nvPr>
            <p:ph idx="1"/>
          </p:nvPr>
        </p:nvSpPr>
        <p:spPr>
          <a:xfrm>
            <a:off x="838200" y="1121790"/>
            <a:ext cx="10515600" cy="5175315"/>
          </a:xfrm>
        </p:spPr>
        <p:txBody>
          <a:bodyPr>
            <a:normAutofit/>
          </a:bodyPr>
          <a:lstStyle/>
          <a:p>
            <a:pPr marL="0" indent="0">
              <a:buNone/>
            </a:pPr>
            <a:r>
              <a:rPr lang="fr-CA" sz="2500" dirty="0"/>
              <a:t>2.7     Une option vendue d'achat ou de vente d'un élément non financier </a:t>
            </a:r>
            <a:r>
              <a:rPr lang="fr-CA" sz="2500" u="sng" dirty="0"/>
              <a:t>pouvant faire l'objet d'un règlement net en trésorerie</a:t>
            </a:r>
            <a:r>
              <a:rPr lang="fr-CA" sz="2500" dirty="0"/>
              <a:t>, en un autre instrument financier ou par l'échange d'instruments financiers selon le paragraphe </a:t>
            </a:r>
            <a:r>
              <a:rPr lang="fr-CA" sz="2500" dirty="0">
                <a:hlinkClick r:id="rId2"/>
              </a:rPr>
              <a:t>2.6</a:t>
            </a:r>
            <a:r>
              <a:rPr lang="fr-CA" sz="2500" dirty="0"/>
              <a:t>(a) ou (d) </a:t>
            </a:r>
            <a:r>
              <a:rPr lang="fr-CA" sz="2500" u="sng" dirty="0"/>
              <a:t>entre dans le champ d'application de la présente norme</a:t>
            </a:r>
            <a:r>
              <a:rPr lang="fr-CA" sz="2500" dirty="0"/>
              <a:t>. Un tel contrat ne peut être conclu en vue de la réception ou de la livraison de l'élément non financier selon les besoins prévus de l'entité en matière d'achat, de vente ou d'utilisation.</a:t>
            </a:r>
          </a:p>
          <a:p>
            <a:pPr marL="0" indent="0">
              <a:buNone/>
            </a:pPr>
            <a:endParaRPr lang="fr-FR" dirty="0"/>
          </a:p>
        </p:txBody>
      </p:sp>
      <p:sp>
        <p:nvSpPr>
          <p:cNvPr id="4" name="Espace réservé du pied de page 3">
            <a:extLst>
              <a:ext uri="{FF2B5EF4-FFF2-40B4-BE49-F238E27FC236}">
                <a16:creationId xmlns:a16="http://schemas.microsoft.com/office/drawing/2014/main" id="{4C95F3F9-1B4F-4149-AE70-D8C98D35D47D}"/>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C42E1D59-8C67-4446-82A2-4B0BC9029DA8}"/>
              </a:ext>
            </a:extLst>
          </p:cNvPr>
          <p:cNvSpPr>
            <a:spLocks noGrp="1"/>
          </p:cNvSpPr>
          <p:nvPr>
            <p:ph type="sldNum" sz="quarter" idx="12"/>
          </p:nvPr>
        </p:nvSpPr>
        <p:spPr/>
        <p:txBody>
          <a:bodyPr/>
          <a:lstStyle/>
          <a:p>
            <a:fld id="{D5C8285E-D276-48ED-A38D-FCE3A7D9B93F}" type="slidenum">
              <a:rPr lang="fr-CA" smtClean="0"/>
              <a:t>59</a:t>
            </a:fld>
            <a:endParaRPr lang="fr-CA"/>
          </a:p>
        </p:txBody>
      </p:sp>
    </p:spTree>
    <p:extLst>
      <p:ext uri="{BB962C8B-B14F-4D97-AF65-F5344CB8AC3E}">
        <p14:creationId xmlns:p14="http://schemas.microsoft.com/office/powerpoint/2010/main" val="38914782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94EA5-3082-420F-9090-AF1845731A19}"/>
              </a:ext>
            </a:extLst>
          </p:cNvPr>
          <p:cNvSpPr>
            <a:spLocks noGrp="1"/>
          </p:cNvSpPr>
          <p:nvPr>
            <p:ph type="title"/>
          </p:nvPr>
        </p:nvSpPr>
        <p:spPr>
          <a:xfrm>
            <a:off x="838200" y="365126"/>
            <a:ext cx="10515600" cy="511568"/>
          </a:xfrm>
        </p:spPr>
        <p:txBody>
          <a:bodyPr>
            <a:noAutofit/>
          </a:bodyPr>
          <a:lstStyle/>
          <a:p>
            <a:r>
              <a:rPr lang="fr-CA" sz="3600" dirty="0" err="1"/>
              <a:t>Chap</a:t>
            </a:r>
            <a:r>
              <a:rPr lang="fr-CA" sz="3600" dirty="0"/>
              <a:t> 3856 - </a:t>
            </a:r>
            <a:r>
              <a:rPr lang="fr-CA" sz="2800" dirty="0"/>
              <a:t>contrats d’achat ou de vente d’un élément non financier</a:t>
            </a:r>
            <a:endParaRPr lang="fr-FR" sz="3600" dirty="0"/>
          </a:p>
        </p:txBody>
      </p:sp>
      <p:sp>
        <p:nvSpPr>
          <p:cNvPr id="3" name="Espace réservé du contenu 2">
            <a:extLst>
              <a:ext uri="{FF2B5EF4-FFF2-40B4-BE49-F238E27FC236}">
                <a16:creationId xmlns:a16="http://schemas.microsoft.com/office/drawing/2014/main" id="{856B754F-5A7E-474C-9E3F-34BA2B1D02B9}"/>
              </a:ext>
            </a:extLst>
          </p:cNvPr>
          <p:cNvSpPr>
            <a:spLocks noGrp="1"/>
          </p:cNvSpPr>
          <p:nvPr>
            <p:ph idx="1"/>
          </p:nvPr>
        </p:nvSpPr>
        <p:spPr>
          <a:xfrm>
            <a:off x="838200" y="1121790"/>
            <a:ext cx="10515600" cy="5175315"/>
          </a:xfrm>
        </p:spPr>
        <p:txBody>
          <a:bodyPr>
            <a:normAutofit/>
          </a:bodyPr>
          <a:lstStyle/>
          <a:p>
            <a:pPr marL="0" indent="0">
              <a:buNone/>
            </a:pPr>
            <a:r>
              <a:rPr lang="fr-CA" b="1" dirty="0"/>
              <a:t>OBJET ET CHAMP D'APPLICATION</a:t>
            </a:r>
          </a:p>
          <a:p>
            <a:pPr marL="0" indent="0">
              <a:buNone/>
            </a:pPr>
            <a:r>
              <a:rPr lang="fr-CA" sz="2000" dirty="0"/>
              <a:t>.04     Le présent chapitre ne s'applique pas :</a:t>
            </a:r>
          </a:p>
          <a:p>
            <a:pPr marL="0" indent="0">
              <a:buNone/>
            </a:pPr>
            <a:r>
              <a:rPr lang="fr-CA" sz="2000" dirty="0"/>
              <a:t>a)     aux contrats d'achat ou de vente d'éléments non financiers, à moins que ce soit :</a:t>
            </a:r>
          </a:p>
          <a:p>
            <a:pPr marL="895350" indent="-452438">
              <a:buNone/>
            </a:pPr>
            <a:r>
              <a:rPr lang="fr-CA" sz="2000" dirty="0"/>
              <a:t>i)     des contrats à terme boursiers,</a:t>
            </a:r>
          </a:p>
          <a:p>
            <a:pPr marL="895350" indent="-452438">
              <a:buNone/>
            </a:pPr>
            <a:r>
              <a:rPr lang="fr-CA" sz="2000" dirty="0"/>
              <a:t>ii)     des contrats désignés comme éléments constitutifs d'une relation de couverture admissible selon les paragraphes </a:t>
            </a:r>
            <a:r>
              <a:rPr lang="fr-CA" sz="2000" dirty="0">
                <a:hlinkClick r:id="rId2"/>
              </a:rPr>
              <a:t>3856.30</a:t>
            </a:r>
            <a:r>
              <a:rPr lang="fr-CA" sz="2000" dirty="0"/>
              <a:t> à .36;</a:t>
            </a:r>
          </a:p>
          <a:p>
            <a:pPr marL="0" indent="0">
              <a:buNone/>
            </a:pPr>
            <a:r>
              <a:rPr lang="fr-CA" sz="2000" dirty="0"/>
              <a:t>b)     aux actifs non financiers et aux passifs non financiers.</a:t>
            </a:r>
          </a:p>
          <a:p>
            <a:pPr marL="0" indent="0">
              <a:buNone/>
            </a:pPr>
            <a:endParaRPr lang="fr-FR" dirty="0"/>
          </a:p>
        </p:txBody>
      </p:sp>
      <p:sp>
        <p:nvSpPr>
          <p:cNvPr id="4" name="Espace réservé du pied de page 3">
            <a:extLst>
              <a:ext uri="{FF2B5EF4-FFF2-40B4-BE49-F238E27FC236}">
                <a16:creationId xmlns:a16="http://schemas.microsoft.com/office/drawing/2014/main" id="{616CECE3-390B-45D0-BB6D-377595502FF4}"/>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1AB8EC68-A901-45E8-B26C-DCF17767321C}"/>
              </a:ext>
            </a:extLst>
          </p:cNvPr>
          <p:cNvSpPr>
            <a:spLocks noGrp="1"/>
          </p:cNvSpPr>
          <p:nvPr>
            <p:ph type="sldNum" sz="quarter" idx="12"/>
          </p:nvPr>
        </p:nvSpPr>
        <p:spPr/>
        <p:txBody>
          <a:bodyPr/>
          <a:lstStyle/>
          <a:p>
            <a:fld id="{D5C8285E-D276-48ED-A38D-FCE3A7D9B93F}" type="slidenum">
              <a:rPr lang="fr-CA" smtClean="0"/>
              <a:t>60</a:t>
            </a:fld>
            <a:endParaRPr lang="fr-CA"/>
          </a:p>
        </p:txBody>
      </p:sp>
    </p:spTree>
    <p:extLst>
      <p:ext uri="{BB962C8B-B14F-4D97-AF65-F5344CB8AC3E}">
        <p14:creationId xmlns:p14="http://schemas.microsoft.com/office/powerpoint/2010/main" val="25885448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61848" y="274638"/>
            <a:ext cx="10491952" cy="461632"/>
          </a:xfrm>
        </p:spPr>
        <p:txBody>
          <a:bodyPr>
            <a:normAutofit fontScale="90000"/>
          </a:bodyPr>
          <a:lstStyle/>
          <a:p>
            <a:r>
              <a:rPr lang="fr-FR" sz="4900" b="1" dirty="0" err="1"/>
              <a:t>Décomptabilisation</a:t>
            </a:r>
            <a:r>
              <a:rPr lang="fr-FR" dirty="0"/>
              <a:t> - actif</a:t>
            </a:r>
          </a:p>
        </p:txBody>
      </p:sp>
      <p:sp>
        <p:nvSpPr>
          <p:cNvPr id="3" name="Espace réservé du contenu 2"/>
          <p:cNvSpPr>
            <a:spLocks noGrp="1"/>
          </p:cNvSpPr>
          <p:nvPr>
            <p:ph idx="1"/>
          </p:nvPr>
        </p:nvSpPr>
        <p:spPr>
          <a:xfrm>
            <a:off x="717630" y="975360"/>
            <a:ext cx="10636170" cy="5380990"/>
          </a:xfrm>
        </p:spPr>
        <p:txBody>
          <a:bodyPr>
            <a:normAutofit fontScale="40000" lnSpcReduction="20000"/>
          </a:bodyPr>
          <a:lstStyle/>
          <a:p>
            <a:pPr marL="0" indent="0">
              <a:buNone/>
            </a:pPr>
            <a:r>
              <a:rPr lang="fr-CA" sz="6000" dirty="0"/>
              <a:t>L'entité ne doit </a:t>
            </a:r>
            <a:r>
              <a:rPr lang="fr-CA" sz="6000" dirty="0" err="1"/>
              <a:t>décomptabiliser</a:t>
            </a:r>
            <a:r>
              <a:rPr lang="fr-CA" sz="6000" dirty="0"/>
              <a:t> un actif financier que dans l'un ou l'autre des cas suivants :</a:t>
            </a:r>
          </a:p>
          <a:p>
            <a:pPr marL="457200" indent="-457200">
              <a:buNone/>
            </a:pPr>
            <a:r>
              <a:rPr lang="fr-CA" sz="6000" dirty="0"/>
              <a:t>(a)   les droits contractuels sur les flux de trésorerie de l'actif financier arrivent à expiration ;</a:t>
            </a:r>
          </a:p>
          <a:p>
            <a:pPr marL="457200" lvl="1" indent="-457200">
              <a:buNone/>
            </a:pPr>
            <a:r>
              <a:rPr lang="fr-CA" sz="6000" dirty="0"/>
              <a:t>(b)   l'entité transfère l'actif financier et cela répond à certaines conditions</a:t>
            </a:r>
          </a:p>
          <a:p>
            <a:pPr marL="450850" lvl="2" indent="-450850">
              <a:buNone/>
            </a:pPr>
            <a:r>
              <a:rPr lang="fr-CA" sz="2500" dirty="0"/>
              <a:t>	</a:t>
            </a:r>
            <a:r>
              <a:rPr lang="fr-CA" sz="5500" dirty="0"/>
              <a:t>L'entité qui transfère un actif financier doit </a:t>
            </a:r>
            <a:r>
              <a:rPr lang="fr-CA" sz="5500" b="1" dirty="0"/>
              <a:t>apprécier la mesure dans laquelle elle conserve les risques et avantages inhérents à la propriété de l'actif financier</a:t>
            </a:r>
            <a:r>
              <a:rPr lang="fr-CA" sz="4500" dirty="0"/>
              <a:t>. Selon le cas :</a:t>
            </a:r>
          </a:p>
          <a:p>
            <a:pPr marL="450850" lvl="3" indent="-450850">
              <a:buNone/>
            </a:pPr>
            <a:r>
              <a:rPr lang="fr-CA" sz="4500" dirty="0"/>
              <a:t>	(a)  si l'entité transfère la quasi-totalité des risques et avantages inhérents à la propriété de l'actif financier, elle doit </a:t>
            </a:r>
            <a:r>
              <a:rPr lang="fr-CA" sz="4500" dirty="0" err="1"/>
              <a:t>décomptabiliser</a:t>
            </a:r>
            <a:r>
              <a:rPr lang="fr-CA" sz="4500" dirty="0"/>
              <a:t> l'actif financier et comptabiliser séparément en tant qu'actifs ou en tant que passifs tous les droits et obligations créés ou conservés lors du transfert ;</a:t>
            </a:r>
          </a:p>
          <a:p>
            <a:pPr marL="450850" indent="-450850">
              <a:buNone/>
            </a:pPr>
            <a:r>
              <a:rPr lang="fr-CA" sz="4500" dirty="0"/>
              <a:t>	(b)  si l'entité conserve la quasi-totalité des risques et des avantages inhérents à la propriété de l'actif financier, elle doit laisser l'actif financier comptabilisé ;</a:t>
            </a:r>
          </a:p>
          <a:p>
            <a:pPr marL="450850" indent="-450850">
              <a:buNone/>
            </a:pPr>
            <a:r>
              <a:rPr lang="fr-CA" sz="4500" dirty="0"/>
              <a:t>	(c) si l'entité ne transfère ni ne conserve la quasi-totalité des risques et avantages inhérents à la propriété de l'actif financier, elle doit déterminer si elle conserve le contrôle de l'actif financier. Selon le cas :</a:t>
            </a:r>
          </a:p>
          <a:p>
            <a:pPr marL="903288" indent="-903288">
              <a:buNone/>
            </a:pPr>
            <a:r>
              <a:rPr lang="fr-CA" sz="4500" dirty="0"/>
              <a:t>		(i) si elle n'a plus le contrôle, elle doit </a:t>
            </a:r>
            <a:r>
              <a:rPr lang="fr-CA" sz="4500" dirty="0" err="1"/>
              <a:t>décomptabiliser</a:t>
            </a:r>
            <a:r>
              <a:rPr lang="fr-CA" sz="4500" dirty="0"/>
              <a:t> l'actif financier et comptabiliser séparément en tant qu'actifs ﻿ou en tant que passifs tous les droits et obligations créés ou conservés lors du transfert,</a:t>
            </a:r>
          </a:p>
          <a:p>
            <a:pPr marL="903288" indent="-903288">
              <a:buNone/>
            </a:pPr>
            <a:r>
              <a:rPr lang="fr-CA" sz="4500" dirty="0"/>
              <a:t>		(ii) si elle a encore le contrôle, elle doit laisser l'actif financier comptabilisé dans la mesure du lien qu'elle conserve avec celui-ci (voir paragraphe 3.2.16).</a:t>
            </a:r>
            <a:endParaRPr lang="fr-CA" sz="2500" dirty="0"/>
          </a:p>
          <a:p>
            <a:pPr marL="0" indent="0">
              <a:buNone/>
            </a:pPr>
            <a:r>
              <a:rPr lang="fr-CA" sz="4000" dirty="0"/>
              <a:t>(IFRS 9.3.2.3)</a:t>
            </a:r>
            <a:endParaRPr lang="fr-CA" sz="38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61</a:t>
            </a:fld>
            <a:endParaRPr lang="fr-FR"/>
          </a:p>
        </p:txBody>
      </p:sp>
      <p:sp>
        <p:nvSpPr>
          <p:cNvPr id="5" name="Espace réservé du pied de page 4">
            <a:extLst>
              <a:ext uri="{FF2B5EF4-FFF2-40B4-BE49-F238E27FC236}">
                <a16:creationId xmlns:a16="http://schemas.microsoft.com/office/drawing/2014/main" id="{1C94DE41-B84E-477B-B059-862DDAA781B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8833824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actif</a:t>
            </a:r>
          </a:p>
        </p:txBody>
      </p:sp>
      <p:sp>
        <p:nvSpPr>
          <p:cNvPr id="3" name="Espace réservé du contenu 2"/>
          <p:cNvSpPr>
            <a:spLocks noGrp="1"/>
          </p:cNvSpPr>
          <p:nvPr>
            <p:ph idx="1"/>
          </p:nvPr>
        </p:nvSpPr>
        <p:spPr/>
        <p:txBody>
          <a:bodyPr>
            <a:normAutofit/>
          </a:bodyPr>
          <a:lstStyle/>
          <a:p>
            <a:r>
              <a:rPr lang="fr-FR" dirty="0"/>
              <a:t>Une entité́ doit </a:t>
            </a:r>
            <a:r>
              <a:rPr lang="fr-FR" dirty="0" err="1"/>
              <a:t>décomptabiliser</a:t>
            </a:r>
            <a:r>
              <a:rPr lang="fr-FR" dirty="0"/>
              <a:t> des créances cédées à une autre entité́ (affacturage) seulement lorsqu’elle en abandonne les risques et avantages ainsi que le contrôle</a:t>
            </a:r>
          </a:p>
          <a:p>
            <a:pPr lvl="1"/>
            <a:r>
              <a:rPr lang="fr-FR" dirty="0"/>
              <a:t>Problème : déterminer si l’opération doit être traitée comme une vente ou un emprunt avec nantissement. </a:t>
            </a:r>
          </a:p>
          <a:p>
            <a:pPr lvl="2"/>
            <a:endParaRPr lang="fr-FR" dirty="0"/>
          </a:p>
          <a:p>
            <a:pPr lvl="2"/>
            <a:r>
              <a:rPr lang="fr-FR" i="1" dirty="0"/>
              <a:t>Actif/passif pour les honoraires de gestion si rémunération inadéquate</a:t>
            </a:r>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62</a:t>
            </a:fld>
            <a:endParaRPr lang="fr-FR"/>
          </a:p>
        </p:txBody>
      </p:sp>
      <p:sp>
        <p:nvSpPr>
          <p:cNvPr id="5" name="Espace réservé du pied de page 4">
            <a:extLst>
              <a:ext uri="{FF2B5EF4-FFF2-40B4-BE49-F238E27FC236}">
                <a16:creationId xmlns:a16="http://schemas.microsoft.com/office/drawing/2014/main" id="{409BA783-70E6-40B0-823D-2FD68FEF001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9616810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passif</a:t>
            </a:r>
          </a:p>
        </p:txBody>
      </p:sp>
      <p:sp>
        <p:nvSpPr>
          <p:cNvPr id="3" name="Espace réservé du contenu 2"/>
          <p:cNvSpPr>
            <a:spLocks noGrp="1"/>
          </p:cNvSpPr>
          <p:nvPr>
            <p:ph idx="1"/>
          </p:nvPr>
        </p:nvSpPr>
        <p:spPr>
          <a:xfrm>
            <a:off x="838199" y="1600200"/>
            <a:ext cx="10515599" cy="4756150"/>
          </a:xfrm>
        </p:spPr>
        <p:txBody>
          <a:bodyPr>
            <a:normAutofit/>
          </a:bodyPr>
          <a:lstStyle/>
          <a:p>
            <a:pPr marL="0" indent="0">
              <a:buNone/>
            </a:pPr>
            <a:r>
              <a:rPr lang="fr-FR" dirty="0"/>
              <a:t>Une entité́ doit sortir un passif financier de son bilan lorsque ce passif est éteint </a:t>
            </a:r>
            <a:r>
              <a:rPr lang="fr-FR" i="1" dirty="0"/>
              <a:t>(aucun risque)</a:t>
            </a:r>
            <a:r>
              <a:rPr lang="fr-FR" dirty="0"/>
              <a:t>. </a:t>
            </a:r>
          </a:p>
          <a:p>
            <a:pPr lvl="1"/>
            <a:r>
              <a:rPr lang="fr-FR" dirty="0"/>
              <a:t>lorsque le débiteur acquitte le passif en payant le créancier </a:t>
            </a:r>
            <a:r>
              <a:rPr lang="fr-FR" sz="2200" dirty="0"/>
              <a:t>(changement de créancier)</a:t>
            </a:r>
            <a:r>
              <a:rPr lang="fr-FR" dirty="0"/>
              <a:t>, ou </a:t>
            </a:r>
          </a:p>
          <a:p>
            <a:pPr lvl="1"/>
            <a:r>
              <a:rPr lang="fr-FR" dirty="0"/>
              <a:t>lorsque le débiteur est juridiquement dégagé́ de sa responsabilité́ première à l’égard du passif par voie judiciaire ou par le créancier. </a:t>
            </a:r>
          </a:p>
          <a:p>
            <a:pPr marL="457200" lvl="1" indent="0">
              <a:buNone/>
            </a:pPr>
            <a:endParaRPr lang="fr-FR" sz="1100" dirty="0"/>
          </a:p>
          <a:p>
            <a:pPr lvl="2"/>
            <a:r>
              <a:rPr lang="fr-FR" dirty="0"/>
              <a:t>en l’absence d’une libération juridique, un paiement effectué en faveur d’un tiers, notamment une fiducie (parfois appelé́ « </a:t>
            </a:r>
            <a:r>
              <a:rPr lang="fr-FR" dirty="0" err="1"/>
              <a:t>désendettement</a:t>
            </a:r>
            <a:r>
              <a:rPr lang="fr-FR" dirty="0"/>
              <a:t> de fait »), ne suffit pas à lui seul à relever le débiteur de son obligation première </a:t>
            </a:r>
            <a:r>
              <a:rPr lang="fr-FR" dirty="0" err="1"/>
              <a:t>vis-a</a:t>
            </a:r>
            <a:r>
              <a:rPr lang="fr-FR" dirty="0"/>
              <a:t>̀-vis du créancier. </a:t>
            </a:r>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63</a:t>
            </a:fld>
            <a:endParaRPr lang="fr-FR"/>
          </a:p>
        </p:txBody>
      </p:sp>
      <p:sp>
        <p:nvSpPr>
          <p:cNvPr id="5" name="Espace réservé du pied de page 4">
            <a:extLst>
              <a:ext uri="{FF2B5EF4-FFF2-40B4-BE49-F238E27FC236}">
                <a16:creationId xmlns:a16="http://schemas.microsoft.com/office/drawing/2014/main" id="{4AD53D92-F349-4FAE-A25E-8F338A4C406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6217673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passif</a:t>
            </a:r>
          </a:p>
        </p:txBody>
      </p:sp>
      <p:sp>
        <p:nvSpPr>
          <p:cNvPr id="3" name="Espace réservé du contenu 2"/>
          <p:cNvSpPr>
            <a:spLocks noGrp="1"/>
          </p:cNvSpPr>
          <p:nvPr>
            <p:ph idx="1"/>
          </p:nvPr>
        </p:nvSpPr>
        <p:spPr>
          <a:xfrm>
            <a:off x="904973" y="1600200"/>
            <a:ext cx="10048973" cy="4756150"/>
          </a:xfrm>
        </p:spPr>
        <p:txBody>
          <a:bodyPr>
            <a:normAutofit/>
          </a:bodyPr>
          <a:lstStyle/>
          <a:p>
            <a:pPr marL="914400" lvl="2" indent="0">
              <a:buNone/>
            </a:pPr>
            <a:endParaRPr lang="fr-FR" dirty="0"/>
          </a:p>
          <a:p>
            <a:r>
              <a:rPr lang="fr-FR" sz="2400" dirty="0"/>
              <a:t>Lorsqu’un passif financier est </a:t>
            </a:r>
            <a:r>
              <a:rPr lang="fr-FR" sz="2400" dirty="0" err="1"/>
              <a:t>décomptabilise</a:t>
            </a:r>
            <a:r>
              <a:rPr lang="fr-FR" sz="2400" dirty="0"/>
              <a:t>́, la différence entre la valeur comptable du passif éteint et la juste valeur de la contrepartie versée est comptabilisée en </a:t>
            </a:r>
            <a:r>
              <a:rPr lang="fr-FR" sz="2400" dirty="0">
                <a:solidFill>
                  <a:srgbClr val="0070C0"/>
                </a:solidFill>
              </a:rPr>
              <a:t>résultat net</a:t>
            </a:r>
            <a:r>
              <a:rPr lang="fr-FR" sz="2400" dirty="0"/>
              <a:t>. </a:t>
            </a:r>
          </a:p>
          <a:p>
            <a:pPr marL="0" indent="0">
              <a:buNone/>
            </a:pPr>
            <a:endParaRPr lang="fr-FR" sz="2400" dirty="0"/>
          </a:p>
          <a:p>
            <a:r>
              <a:rPr lang="fr-FR" sz="2400" dirty="0"/>
              <a:t>Lorsqu’une modification entraîne l’extinction, la différence entre la juste valeur du nouvel instrument d’emprunt et la valeur comptable de l’instrument initial est comptabilisée en </a:t>
            </a:r>
            <a:r>
              <a:rPr lang="fr-FR" sz="2400" dirty="0">
                <a:solidFill>
                  <a:srgbClr val="0070C0"/>
                </a:solidFill>
              </a:rPr>
              <a:t>résultat net</a:t>
            </a:r>
            <a:r>
              <a:rPr lang="fr-FR" sz="2400" dirty="0"/>
              <a:t>. </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64</a:t>
            </a:fld>
            <a:endParaRPr lang="fr-FR"/>
          </a:p>
        </p:txBody>
      </p:sp>
      <p:sp>
        <p:nvSpPr>
          <p:cNvPr id="5" name="Espace réservé du pied de page 4">
            <a:extLst>
              <a:ext uri="{FF2B5EF4-FFF2-40B4-BE49-F238E27FC236}">
                <a16:creationId xmlns:a16="http://schemas.microsoft.com/office/drawing/2014/main" id="{F659F151-9298-4ABA-AEC6-E41F82FE419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2730249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passif</a:t>
            </a:r>
          </a:p>
        </p:txBody>
      </p:sp>
      <p:sp>
        <p:nvSpPr>
          <p:cNvPr id="3" name="Espace réservé du contenu 2"/>
          <p:cNvSpPr>
            <a:spLocks noGrp="1"/>
          </p:cNvSpPr>
          <p:nvPr>
            <p:ph idx="1"/>
          </p:nvPr>
        </p:nvSpPr>
        <p:spPr>
          <a:xfrm>
            <a:off x="838199" y="1600200"/>
            <a:ext cx="10049759" cy="4756150"/>
          </a:xfrm>
        </p:spPr>
        <p:txBody>
          <a:bodyPr>
            <a:normAutofit/>
          </a:bodyPr>
          <a:lstStyle/>
          <a:p>
            <a:pPr marL="0" indent="0">
              <a:buNone/>
            </a:pPr>
            <a:r>
              <a:rPr lang="fr-FR" b="1" dirty="0"/>
              <a:t>Renégociation/Refinancement </a:t>
            </a:r>
            <a:r>
              <a:rPr lang="fr-FR" sz="1800" dirty="0"/>
              <a:t>(</a:t>
            </a:r>
            <a:r>
              <a:rPr lang="fr-CA" sz="1800" dirty="0"/>
              <a:t>IFRS 9.3.3.2)</a:t>
            </a:r>
            <a:endParaRPr lang="fr-FR" sz="1800" b="1" dirty="0"/>
          </a:p>
          <a:p>
            <a:pPr lvl="1"/>
            <a:r>
              <a:rPr lang="fr-CA" dirty="0"/>
              <a:t>Un échange, entre un emprunteur et un prêteur existants, d'instruments d'emprunt dont les </a:t>
            </a:r>
            <a:r>
              <a:rPr lang="fr-CA" b="1" dirty="0"/>
              <a:t>conditions sont substantiellement différentes</a:t>
            </a:r>
            <a:endParaRPr lang="fr-CA" dirty="0"/>
          </a:p>
          <a:p>
            <a:pPr lvl="1"/>
            <a:r>
              <a:rPr lang="fr-CA" dirty="0"/>
              <a:t>une </a:t>
            </a:r>
            <a:r>
              <a:rPr lang="fr-CA" b="1" dirty="0"/>
              <a:t>modification substantielle des conditions </a:t>
            </a:r>
            <a:r>
              <a:rPr lang="fr-CA" dirty="0"/>
              <a:t>d'un passif financier existant ou d'une partie d'un passif financier existant (qu'elle soit attribuable ou non aux difficultés financières du débiteur) </a:t>
            </a:r>
          </a:p>
          <a:p>
            <a:pPr marL="450850" indent="0">
              <a:buNone/>
            </a:pPr>
            <a:r>
              <a:rPr lang="fr-CA" dirty="0"/>
              <a:t>doit être comptabilisé comme une </a:t>
            </a:r>
            <a:r>
              <a:rPr lang="fr-CA" b="1" dirty="0"/>
              <a:t>extinction du passif financier initial et la comptabilisation d'un nouveau passif financier</a:t>
            </a:r>
            <a:r>
              <a:rPr lang="fr-CA" dirty="0"/>
              <a:t>.</a:t>
            </a:r>
            <a:endParaRPr lang="fr-FR" dirty="0"/>
          </a:p>
          <a:p>
            <a:endParaRPr lang="fr-FR" sz="3200"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65</a:t>
            </a:fld>
            <a:endParaRPr lang="fr-FR"/>
          </a:p>
        </p:txBody>
      </p:sp>
      <p:sp>
        <p:nvSpPr>
          <p:cNvPr id="5" name="Espace réservé du pied de page 4">
            <a:extLst>
              <a:ext uri="{FF2B5EF4-FFF2-40B4-BE49-F238E27FC236}">
                <a16:creationId xmlns:a16="http://schemas.microsoft.com/office/drawing/2014/main" id="{95BC9AAE-86E3-4FD1-9704-982B503FAE2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3033218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Décomptabilisation</a:t>
            </a:r>
            <a:r>
              <a:rPr lang="fr-FR" dirty="0"/>
              <a:t> - passif</a:t>
            </a:r>
          </a:p>
        </p:txBody>
      </p:sp>
      <p:sp>
        <p:nvSpPr>
          <p:cNvPr id="3" name="Espace réservé du contenu 2"/>
          <p:cNvSpPr>
            <a:spLocks noGrp="1"/>
          </p:cNvSpPr>
          <p:nvPr>
            <p:ph idx="1"/>
          </p:nvPr>
        </p:nvSpPr>
        <p:spPr>
          <a:xfrm>
            <a:off x="838199" y="1600200"/>
            <a:ext cx="10354519" cy="4756150"/>
          </a:xfrm>
        </p:spPr>
        <p:txBody>
          <a:bodyPr>
            <a:normAutofit/>
          </a:bodyPr>
          <a:lstStyle/>
          <a:p>
            <a:pPr marL="0" indent="0">
              <a:buNone/>
            </a:pPr>
            <a:r>
              <a:rPr lang="fr-FR" dirty="0" err="1"/>
              <a:t>Décomptabilisation</a:t>
            </a:r>
            <a:r>
              <a:rPr lang="fr-FR" dirty="0"/>
              <a:t> de l’emprunt initial?</a:t>
            </a:r>
          </a:p>
          <a:p>
            <a:pPr marL="0" indent="0">
              <a:buNone/>
            </a:pPr>
            <a:endParaRPr lang="fr-FR" sz="2100" dirty="0"/>
          </a:p>
          <a:p>
            <a:pPr marL="0" indent="0">
              <a:buNone/>
            </a:pPr>
            <a:r>
              <a:rPr lang="fr-FR" sz="2600" dirty="0"/>
              <a:t>Le 1er janvier 2019 ABC obtient d’une banque un emprunt de 200 000 $ remboursable dans quatre ans à un taux de 8% (taux du marché). </a:t>
            </a:r>
          </a:p>
          <a:p>
            <a:pPr marL="0" indent="0">
              <a:buNone/>
            </a:pPr>
            <a:endParaRPr lang="fr-FR" sz="1000" dirty="0"/>
          </a:p>
          <a:p>
            <a:pPr marL="0" indent="0">
              <a:buNone/>
            </a:pPr>
            <a:r>
              <a:rPr lang="fr-FR" sz="2600" dirty="0"/>
              <a:t>Au cours de 2019, ABC fait face à des difficultés financières. </a:t>
            </a:r>
            <a:endParaRPr lang="fr-FR" dirty="0"/>
          </a:p>
          <a:p>
            <a:pPr marL="0" indent="0">
              <a:buNone/>
            </a:pPr>
            <a:endParaRPr lang="fr-FR" sz="1300" dirty="0"/>
          </a:p>
          <a:p>
            <a:pPr lvl="1"/>
            <a:r>
              <a:rPr lang="fr-FR" dirty="0"/>
              <a:t>Le 31 décembre 2019, la banque accepte de modifier les clauses de l’entente avec ABC en n’exigeant plus le versement des intérêts. Toutefois ABC devra rembourser le capital un an après l’échéance initiale de l’emprunt soit en 2023.</a:t>
            </a:r>
          </a:p>
          <a:p>
            <a:pPr marL="457200" lvl="1" indent="0">
              <a:buNone/>
            </a:pPr>
            <a:endParaRPr lang="fr-FR" sz="1100" dirty="0"/>
          </a:p>
          <a:p>
            <a:pPr lvl="1"/>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66</a:t>
            </a:fld>
            <a:endParaRPr lang="fr-FR"/>
          </a:p>
        </p:txBody>
      </p:sp>
      <p:sp>
        <p:nvSpPr>
          <p:cNvPr id="5" name="Espace réservé du pied de page 4">
            <a:extLst>
              <a:ext uri="{FF2B5EF4-FFF2-40B4-BE49-F238E27FC236}">
                <a16:creationId xmlns:a16="http://schemas.microsoft.com/office/drawing/2014/main" id="{FF5627B3-C126-4FDC-A889-28C735AB85F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831075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Solution</a:t>
            </a: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67</a:t>
            </a:fld>
            <a:endParaRPr lang="fr-FR"/>
          </a:p>
        </p:txBody>
      </p:sp>
      <p:sp>
        <p:nvSpPr>
          <p:cNvPr id="3" name="Espace réservé du pied de page 2">
            <a:extLst>
              <a:ext uri="{FF2B5EF4-FFF2-40B4-BE49-F238E27FC236}">
                <a16:creationId xmlns:a16="http://schemas.microsoft.com/office/drawing/2014/main" id="{B6FC1109-65F3-4A4C-9328-276AEC8D7F86}"/>
              </a:ext>
            </a:extLst>
          </p:cNvPr>
          <p:cNvSpPr>
            <a:spLocks noGrp="1"/>
          </p:cNvSpPr>
          <p:nvPr>
            <p:ph type="ftr" sz="quarter" idx="11"/>
          </p:nvPr>
        </p:nvSpPr>
        <p:spPr/>
        <p:txBody>
          <a:bodyPr/>
          <a:lstStyle/>
          <a:p>
            <a:r>
              <a:rPr lang="fr-CA"/>
              <a:t>Droits réservés - Louise Overbeek</a:t>
            </a:r>
          </a:p>
        </p:txBody>
      </p:sp>
      <p:graphicFrame>
        <p:nvGraphicFramePr>
          <p:cNvPr id="5" name="Objet 4">
            <a:extLst>
              <a:ext uri="{FF2B5EF4-FFF2-40B4-BE49-F238E27FC236}">
                <a16:creationId xmlns:a16="http://schemas.microsoft.com/office/drawing/2014/main" id="{BA752721-734F-4F65-B947-F2DEF8F62BA4}"/>
              </a:ext>
            </a:extLst>
          </p:cNvPr>
          <p:cNvGraphicFramePr>
            <a:graphicFrameLocks noChangeAspect="1"/>
          </p:cNvGraphicFramePr>
          <p:nvPr>
            <p:extLst>
              <p:ext uri="{D42A27DB-BD31-4B8C-83A1-F6EECF244321}">
                <p14:modId xmlns:p14="http://schemas.microsoft.com/office/powerpoint/2010/main" val="690662467"/>
              </p:ext>
            </p:extLst>
          </p:nvPr>
        </p:nvGraphicFramePr>
        <p:xfrm>
          <a:off x="795886" y="1776248"/>
          <a:ext cx="10627284" cy="3310759"/>
        </p:xfrm>
        <a:graphic>
          <a:graphicData uri="http://schemas.openxmlformats.org/presentationml/2006/ole">
            <mc:AlternateContent xmlns:mc="http://schemas.openxmlformats.org/markup-compatibility/2006">
              <mc:Choice xmlns:v="urn:schemas-microsoft-com:vml" Requires="v">
                <p:oleObj name="Worksheet" r:id="rId2" imgW="5340412" imgH="1663759" progId="Excel.Sheet.12">
                  <p:embed/>
                </p:oleObj>
              </mc:Choice>
              <mc:Fallback>
                <p:oleObj name="Worksheet" r:id="rId2" imgW="5340412" imgH="1663759" progId="Excel.Sheet.12">
                  <p:embed/>
                  <p:pic>
                    <p:nvPicPr>
                      <p:cNvPr id="5" name="Objet 4">
                        <a:extLst>
                          <a:ext uri="{FF2B5EF4-FFF2-40B4-BE49-F238E27FC236}">
                            <a16:creationId xmlns:a16="http://schemas.microsoft.com/office/drawing/2014/main" id="{BA752721-734F-4F65-B947-F2DEF8F62BA4}"/>
                          </a:ext>
                        </a:extLst>
                      </p:cNvPr>
                      <p:cNvPicPr/>
                      <p:nvPr/>
                    </p:nvPicPr>
                    <p:blipFill>
                      <a:blip r:embed="rId3"/>
                      <a:stretch>
                        <a:fillRect/>
                      </a:stretch>
                    </p:blipFill>
                    <p:spPr>
                      <a:xfrm>
                        <a:off x="795886" y="1776248"/>
                        <a:ext cx="10627284" cy="3310759"/>
                      </a:xfrm>
                      <a:prstGeom prst="rect">
                        <a:avLst/>
                      </a:prstGeom>
                    </p:spPr>
                  </p:pic>
                </p:oleObj>
              </mc:Fallback>
            </mc:AlternateContent>
          </a:graphicData>
        </a:graphic>
      </p:graphicFrame>
    </p:spTree>
    <p:extLst>
      <p:ext uri="{BB962C8B-B14F-4D97-AF65-F5344CB8AC3E}">
        <p14:creationId xmlns:p14="http://schemas.microsoft.com/office/powerpoint/2010/main" val="20010886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01378" name="Titre 1"/>
          <p:cNvSpPr>
            <a:spLocks noGrp="1"/>
          </p:cNvSpPr>
          <p:nvPr>
            <p:ph type="title" idx="4294967295"/>
          </p:nvPr>
        </p:nvSpPr>
        <p:spPr>
          <a:xfrm>
            <a:off x="903890" y="277814"/>
            <a:ext cx="10449910" cy="1139825"/>
          </a:xfrm>
        </p:spPr>
        <p:txBody>
          <a:bodyPr anchor="ctr">
            <a:normAutofit/>
          </a:bodyPr>
          <a:lstStyle/>
          <a:p>
            <a:pPr eaLnBrk="1" hangingPunct="1"/>
            <a:r>
              <a:rPr lang="fr-CA" altLang="fr-FR" sz="3600" dirty="0" err="1">
                <a:latin typeface="Calibri" panose="020F0502020204030204" pitchFamily="34" charset="0"/>
              </a:rPr>
              <a:t>Décomptabilisation</a:t>
            </a:r>
            <a:r>
              <a:rPr lang="fr-CA" altLang="fr-FR" sz="3600" dirty="0">
                <a:latin typeface="Calibri" panose="020F0502020204030204" pitchFamily="34" charset="0"/>
              </a:rPr>
              <a:t> – passif financier</a:t>
            </a:r>
          </a:p>
        </p:txBody>
      </p:sp>
      <p:sp>
        <p:nvSpPr>
          <p:cNvPr id="84995" name="Espace réservé du contenu 2"/>
          <p:cNvSpPr>
            <a:spLocks noGrp="1"/>
          </p:cNvSpPr>
          <p:nvPr>
            <p:ph idx="4294967295"/>
          </p:nvPr>
        </p:nvSpPr>
        <p:spPr>
          <a:xfrm>
            <a:off x="838200" y="1600200"/>
            <a:ext cx="10449909" cy="4937078"/>
          </a:xfrm>
        </p:spPr>
        <p:txBody>
          <a:bodyPr>
            <a:normAutofit/>
          </a:bodyPr>
          <a:lstStyle/>
          <a:p>
            <a:pPr marL="457200" lvl="1" indent="-6350">
              <a:buNone/>
              <a:defRPr/>
            </a:pPr>
            <a:r>
              <a:rPr lang="fr-CA" dirty="0">
                <a:latin typeface="Calibri" panose="020F0502020204030204" pitchFamily="34" charset="0"/>
              </a:rPr>
              <a:t>ABC a emprunté 1 000 000 $ le 1</a:t>
            </a:r>
            <a:r>
              <a:rPr lang="fr-CA" baseline="30000" dirty="0">
                <a:latin typeface="Calibri" panose="020F0502020204030204" pitchFamily="34" charset="0"/>
              </a:rPr>
              <a:t>er</a:t>
            </a:r>
            <a:r>
              <a:rPr lang="fr-CA" dirty="0">
                <a:latin typeface="Calibri" panose="020F0502020204030204" pitchFamily="34" charset="0"/>
              </a:rPr>
              <a:t> janvier 2017. Taux d’intérêt 7 %, échéance 5 ans (1</a:t>
            </a:r>
            <a:r>
              <a:rPr lang="fr-CA" baseline="30000" dirty="0">
                <a:latin typeface="Calibri" panose="020F0502020204030204" pitchFamily="34" charset="0"/>
              </a:rPr>
              <a:t>er</a:t>
            </a:r>
            <a:r>
              <a:rPr lang="fr-CA" dirty="0">
                <a:latin typeface="Calibri" panose="020F0502020204030204" pitchFamily="34" charset="0"/>
              </a:rPr>
              <a:t> janvier 2022).</a:t>
            </a:r>
          </a:p>
          <a:p>
            <a:pPr marL="457200" lvl="1" indent="-6350">
              <a:buNone/>
              <a:defRPr/>
            </a:pPr>
            <a:r>
              <a:rPr lang="fr-CA" sz="2500" dirty="0">
                <a:latin typeface="Calibri" panose="020F0502020204030204" pitchFamily="34" charset="0"/>
              </a:rPr>
              <a:t>ABC connait des difficultés financières et renégocie les modalités de son emprunt.</a:t>
            </a:r>
          </a:p>
          <a:p>
            <a:pPr marL="457200" lvl="1" indent="-6350" defTabSz="411163">
              <a:buNone/>
              <a:defRPr/>
            </a:pPr>
            <a:r>
              <a:rPr lang="fr-CA" sz="2500" dirty="0">
                <a:latin typeface="Calibri" panose="020F0502020204030204" pitchFamily="34" charset="0"/>
              </a:rPr>
              <a:t>Renégociation le 1</a:t>
            </a:r>
            <a:r>
              <a:rPr lang="fr-CA" sz="2500" baseline="30000" dirty="0">
                <a:latin typeface="Calibri" panose="020F0502020204030204" pitchFamily="34" charset="0"/>
              </a:rPr>
              <a:t>er</a:t>
            </a:r>
            <a:r>
              <a:rPr lang="fr-CA" sz="2500" dirty="0">
                <a:latin typeface="Calibri" panose="020F0502020204030204" pitchFamily="34" charset="0"/>
              </a:rPr>
              <a:t> janvier 2019 : taux d’intérêt ajusté à 2 %, échéance reportée au 1</a:t>
            </a:r>
            <a:r>
              <a:rPr lang="fr-CA" sz="2500" baseline="30000" dirty="0">
                <a:latin typeface="Calibri" panose="020F0502020204030204" pitchFamily="34" charset="0"/>
              </a:rPr>
              <a:t>er</a:t>
            </a:r>
            <a:r>
              <a:rPr lang="fr-CA" sz="2500" dirty="0">
                <a:latin typeface="Calibri" panose="020F0502020204030204" pitchFamily="34" charset="0"/>
              </a:rPr>
              <a:t> janvier 2024</a:t>
            </a:r>
            <a:endParaRPr lang="fr-CA" sz="2500" dirty="0"/>
          </a:p>
          <a:p>
            <a:pPr>
              <a:defRPr/>
            </a:pPr>
            <a:endParaRPr lang="fr-CA" altLang="fr-FR" dirty="0">
              <a:ea typeface="ＭＳ Ｐゴシック" panose="020B0600070205080204" pitchFamily="34" charset="-128"/>
            </a:endParaRPr>
          </a:p>
          <a:p>
            <a:pPr>
              <a:defRPr/>
            </a:pPr>
            <a:endParaRPr lang="fr-CA" altLang="fr-FR" dirty="0">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3CCD850-57C1-B143-82E0-6B89E4215FB0}" type="slidenum">
              <a:rPr lang="fr-FR" smtClean="0"/>
              <a:t>68</a:t>
            </a:fld>
            <a:endParaRPr lang="fr-FR"/>
          </a:p>
        </p:txBody>
      </p:sp>
      <p:sp>
        <p:nvSpPr>
          <p:cNvPr id="3" name="Espace réservé du pied de page 2">
            <a:extLst>
              <a:ext uri="{FF2B5EF4-FFF2-40B4-BE49-F238E27FC236}">
                <a16:creationId xmlns:a16="http://schemas.microsoft.com/office/drawing/2014/main" id="{F7070FCF-E7E0-468F-9C6C-B41B854EC76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034828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01378" name="Titre 1"/>
          <p:cNvSpPr>
            <a:spLocks noGrp="1"/>
          </p:cNvSpPr>
          <p:nvPr>
            <p:ph type="title" idx="4294967295"/>
          </p:nvPr>
        </p:nvSpPr>
        <p:spPr>
          <a:xfrm>
            <a:off x="903890" y="277814"/>
            <a:ext cx="10449910" cy="1139825"/>
          </a:xfrm>
        </p:spPr>
        <p:txBody>
          <a:bodyPr anchor="ctr">
            <a:normAutofit/>
          </a:bodyPr>
          <a:lstStyle/>
          <a:p>
            <a:pPr eaLnBrk="1" hangingPunct="1"/>
            <a:r>
              <a:rPr lang="fr-CA" altLang="fr-FR" sz="3600" dirty="0">
                <a:latin typeface="Calibri" panose="020F0502020204030204" pitchFamily="34" charset="0"/>
              </a:rPr>
              <a:t>Solution</a:t>
            </a:r>
          </a:p>
        </p:txBody>
      </p:sp>
      <p:sp>
        <p:nvSpPr>
          <p:cNvPr id="84995" name="Espace réservé du contenu 2"/>
          <p:cNvSpPr>
            <a:spLocks noGrp="1"/>
          </p:cNvSpPr>
          <p:nvPr>
            <p:ph idx="4294967295"/>
          </p:nvPr>
        </p:nvSpPr>
        <p:spPr>
          <a:xfrm>
            <a:off x="838200" y="1600200"/>
            <a:ext cx="10515599" cy="4937078"/>
          </a:xfrm>
        </p:spPr>
        <p:txBody>
          <a:bodyPr>
            <a:normAutofit/>
          </a:bodyPr>
          <a:lstStyle/>
          <a:p>
            <a:pPr marL="457200" lvl="1" indent="-6350">
              <a:buNone/>
              <a:defRPr/>
            </a:pPr>
            <a:r>
              <a:rPr lang="fr-CA" dirty="0">
                <a:latin typeface="Calibri" panose="020F0502020204030204" pitchFamily="34" charset="0"/>
              </a:rPr>
              <a:t>Valeur actualisée des flux futurs à la date de renégociation du 1</a:t>
            </a:r>
            <a:r>
              <a:rPr lang="fr-CA" baseline="30000" dirty="0">
                <a:latin typeface="Calibri" panose="020F0502020204030204" pitchFamily="34" charset="0"/>
              </a:rPr>
              <a:t>er</a:t>
            </a:r>
            <a:r>
              <a:rPr lang="fr-CA" dirty="0">
                <a:latin typeface="Calibri" panose="020F0502020204030204" pitchFamily="34" charset="0"/>
              </a:rPr>
              <a:t> janvier 2019 :</a:t>
            </a:r>
          </a:p>
          <a:p>
            <a:pPr marL="908050" lvl="1" indent="-457200">
              <a:defRPr/>
            </a:pPr>
            <a:r>
              <a:rPr lang="fr-CA" dirty="0">
                <a:latin typeface="Calibri" panose="020F0502020204030204" pitchFamily="34" charset="0"/>
              </a:rPr>
              <a:t>Ancienne dette : 1 000 000 $</a:t>
            </a:r>
          </a:p>
          <a:p>
            <a:pPr marL="908050" lvl="1" indent="-457200">
              <a:defRPr/>
            </a:pPr>
            <a:r>
              <a:rPr lang="fr-CA" dirty="0">
                <a:latin typeface="Calibri" panose="020F0502020204030204" pitchFamily="34" charset="0"/>
              </a:rPr>
              <a:t>Dette renégociée : 794 990 $</a:t>
            </a:r>
          </a:p>
          <a:p>
            <a:pPr marL="908050" lvl="1" indent="-457200">
              <a:defRPr/>
            </a:pPr>
            <a:endParaRPr lang="fr-CA" dirty="0">
              <a:latin typeface="Calibri" panose="020F0502020204030204" pitchFamily="34" charset="0"/>
            </a:endParaRPr>
          </a:p>
          <a:p>
            <a:pPr marL="908050" lvl="1" indent="-457200">
              <a:defRPr/>
            </a:pPr>
            <a:r>
              <a:rPr lang="fr-CA" dirty="0">
                <a:latin typeface="Calibri" panose="020F0502020204030204" pitchFamily="34" charset="0"/>
              </a:rPr>
              <a:t>Écart plus élevé que 10 %</a:t>
            </a:r>
          </a:p>
          <a:p>
            <a:pPr marL="1308100" lvl="2" indent="-457200">
              <a:defRPr/>
            </a:pPr>
            <a:r>
              <a:rPr lang="fr-CA" dirty="0">
                <a:latin typeface="Calibri" panose="020F0502020204030204" pitchFamily="34" charset="0"/>
              </a:rPr>
              <a:t>Donc </a:t>
            </a:r>
            <a:r>
              <a:rPr lang="fr-CA" dirty="0" err="1">
                <a:latin typeface="Calibri" panose="020F0502020204030204" pitchFamily="34" charset="0"/>
              </a:rPr>
              <a:t>décomptabilisation</a:t>
            </a:r>
            <a:r>
              <a:rPr lang="fr-CA" dirty="0">
                <a:latin typeface="Calibri" panose="020F0502020204030204" pitchFamily="34" charset="0"/>
              </a:rPr>
              <a:t> de l’ancienne dette et comptabilisation de la nouvelle dette, avec gain sur renégociation au résultat net.</a:t>
            </a:r>
            <a:endParaRPr lang="fr-CA" sz="2500" dirty="0"/>
          </a:p>
          <a:p>
            <a:pPr>
              <a:defRPr/>
            </a:pPr>
            <a:endParaRPr lang="fr-CA" altLang="fr-FR" dirty="0">
              <a:ea typeface="ＭＳ Ｐゴシック" panose="020B0600070205080204" pitchFamily="34" charset="-128"/>
            </a:endParaRPr>
          </a:p>
          <a:p>
            <a:pPr>
              <a:defRPr/>
            </a:pPr>
            <a:endParaRPr lang="fr-CA" altLang="fr-FR" dirty="0">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3CCD850-57C1-B143-82E0-6B89E4215FB0}" type="slidenum">
              <a:rPr lang="fr-FR" smtClean="0"/>
              <a:t>69</a:t>
            </a:fld>
            <a:endParaRPr lang="fr-FR"/>
          </a:p>
        </p:txBody>
      </p:sp>
      <p:sp>
        <p:nvSpPr>
          <p:cNvPr id="3" name="Espace réservé du pied de page 2">
            <a:extLst>
              <a:ext uri="{FF2B5EF4-FFF2-40B4-BE49-F238E27FC236}">
                <a16:creationId xmlns:a16="http://schemas.microsoft.com/office/drawing/2014/main" id="{F5CFCC37-EE3E-4F79-8B8C-6959DBAFD89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8762813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Présentation : compensation (IAS 32)</a:t>
            </a:r>
          </a:p>
        </p:txBody>
      </p:sp>
      <p:sp>
        <p:nvSpPr>
          <p:cNvPr id="3" name="Espace réservé du contenu 2"/>
          <p:cNvSpPr>
            <a:spLocks noGrp="1"/>
          </p:cNvSpPr>
          <p:nvPr>
            <p:ph idx="1"/>
          </p:nvPr>
        </p:nvSpPr>
        <p:spPr/>
        <p:txBody>
          <a:bodyPr>
            <a:normAutofit/>
          </a:bodyPr>
          <a:lstStyle/>
          <a:p>
            <a:r>
              <a:rPr lang="fr-FR" dirty="0"/>
              <a:t>Un actif financier et un passif financier doivent faire l’objet d’une compensation, et le solde net doit être présenté́, seulement lorsque les conditions suivantes sont réunies : </a:t>
            </a:r>
          </a:p>
          <a:p>
            <a:pPr lvl="1"/>
            <a:r>
              <a:rPr lang="fr-FR" dirty="0"/>
              <a:t>L’entité a un droit juridiquement exécutoire d’opérer compensation entre les deux éléments </a:t>
            </a:r>
          </a:p>
          <a:p>
            <a:pPr lvl="1"/>
            <a:r>
              <a:rPr lang="fr-FR" dirty="0"/>
              <a:t>L’entité a l’intention soit de procéder à un règlement net, soit de réaliser l’actif et de régler le passif simultanément. </a:t>
            </a:r>
          </a:p>
          <a:p>
            <a:pPr lvl="1"/>
            <a:endParaRPr lang="fr-FR" dirty="0"/>
          </a:p>
          <a:p>
            <a:pPr lvl="2"/>
            <a:r>
              <a:rPr lang="fr-CA" dirty="0"/>
              <a:t>Exemple : compenser la note de crédit accordée à un client avec le solde du compte client</a:t>
            </a:r>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70</a:t>
            </a:fld>
            <a:endParaRPr lang="fr-FR"/>
          </a:p>
        </p:txBody>
      </p:sp>
      <p:sp>
        <p:nvSpPr>
          <p:cNvPr id="5" name="Espace réservé du pied de page 4">
            <a:extLst>
              <a:ext uri="{FF2B5EF4-FFF2-40B4-BE49-F238E27FC236}">
                <a16:creationId xmlns:a16="http://schemas.microsoft.com/office/drawing/2014/main" id="{0F177B31-62DD-41F8-B37B-F2A029D84C9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1896687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EXERCICES SUPPLÉMENTAIRES</a:t>
            </a:r>
          </a:p>
        </p:txBody>
      </p:sp>
      <p:sp>
        <p:nvSpPr>
          <p:cNvPr id="3" name="Espace réservé du contenu 2"/>
          <p:cNvSpPr>
            <a:spLocks noGrp="1"/>
          </p:cNvSpPr>
          <p:nvPr>
            <p:ph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71</a:t>
            </a:fld>
            <a:endParaRPr lang="fr-FR"/>
          </a:p>
        </p:txBody>
      </p:sp>
      <p:sp>
        <p:nvSpPr>
          <p:cNvPr id="5" name="Espace réservé du pied de page 4">
            <a:extLst>
              <a:ext uri="{FF2B5EF4-FFF2-40B4-BE49-F238E27FC236}">
                <a16:creationId xmlns:a16="http://schemas.microsoft.com/office/drawing/2014/main" id="{A934C7E0-6D03-4BFC-BD9C-84538F5AF2C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5304417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Question 1 – Traitement initial</a:t>
            </a:r>
          </a:p>
        </p:txBody>
      </p:sp>
      <p:sp>
        <p:nvSpPr>
          <p:cNvPr id="3" name="Espace réservé du contenu 2"/>
          <p:cNvSpPr>
            <a:spLocks noGrp="1"/>
          </p:cNvSpPr>
          <p:nvPr>
            <p:ph idx="1"/>
          </p:nvPr>
        </p:nvSpPr>
        <p:spPr/>
        <p:txBody>
          <a:bodyPr/>
          <a:lstStyle/>
          <a:p>
            <a:pPr marL="0" indent="0">
              <a:buNone/>
            </a:pPr>
            <a:r>
              <a:rPr lang="fr-FR" dirty="0"/>
              <a:t>ABC vend une machine pour 20 000 $, dont la valeur aux livres dans les stocks est de 14 000 $, et requiert le paiement intégral de la facture sans intérêts dans deux ans. Le prix de vente au comptant de la machine est de 18 000 $.</a:t>
            </a:r>
          </a:p>
          <a:p>
            <a:pPr marL="0" indent="0">
              <a:buNone/>
            </a:pPr>
            <a:r>
              <a:rPr lang="fr-FR" dirty="0"/>
              <a:t> </a:t>
            </a:r>
          </a:p>
          <a:p>
            <a:pPr lvl="1">
              <a:buFont typeface="Wingdings" panose="05000000000000000000" pitchFamily="2" charset="2"/>
              <a:buChar char="Ø"/>
            </a:pPr>
            <a:r>
              <a:rPr lang="fr-FR" i="1" dirty="0"/>
              <a:t>Justifiez le traitement comptable</a:t>
            </a:r>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72</a:t>
            </a:fld>
            <a:endParaRPr lang="fr-FR"/>
          </a:p>
        </p:txBody>
      </p:sp>
      <p:sp>
        <p:nvSpPr>
          <p:cNvPr id="5" name="Espace réservé du pied de page 4">
            <a:extLst>
              <a:ext uri="{FF2B5EF4-FFF2-40B4-BE49-F238E27FC236}">
                <a16:creationId xmlns:a16="http://schemas.microsoft.com/office/drawing/2014/main" id="{B5F41808-1135-4DCD-AD69-2F8E79F33D2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5790656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3" name="Espace réservé du contenu 2"/>
          <p:cNvSpPr>
            <a:spLocks noGrp="1"/>
          </p:cNvSpPr>
          <p:nvPr>
            <p:ph idx="1"/>
          </p:nvPr>
        </p:nvSpPr>
        <p:spPr/>
        <p:txBody>
          <a:bodyPr>
            <a:normAutofit fontScale="62500" lnSpcReduction="20000"/>
          </a:bodyPr>
          <a:lstStyle/>
          <a:p>
            <a:r>
              <a:rPr lang="fr-CA" dirty="0"/>
              <a:t>Taux : 5,41%</a:t>
            </a:r>
          </a:p>
          <a:p>
            <a:endParaRPr lang="fr-CA" dirty="0"/>
          </a:p>
          <a:p>
            <a:pPr marL="0" indent="0">
              <a:buNone/>
            </a:pPr>
            <a:r>
              <a:rPr lang="fr-CA" dirty="0"/>
              <a:t>Clients/Effet			18 000</a:t>
            </a:r>
          </a:p>
          <a:p>
            <a:pPr marL="0" indent="0">
              <a:buNone/>
            </a:pPr>
            <a:r>
              <a:rPr lang="fr-CA" dirty="0"/>
              <a:t>@  Ventes				18 000</a:t>
            </a:r>
          </a:p>
          <a:p>
            <a:pPr marL="0" indent="0">
              <a:buNone/>
            </a:pPr>
            <a:endParaRPr lang="fr-CA" dirty="0"/>
          </a:p>
          <a:p>
            <a:pPr marL="0" indent="0">
              <a:buNone/>
            </a:pPr>
            <a:r>
              <a:rPr lang="fr-CA" dirty="0"/>
              <a:t>CMV				14 000</a:t>
            </a:r>
          </a:p>
          <a:p>
            <a:pPr marL="0" indent="0">
              <a:buNone/>
            </a:pPr>
            <a:r>
              <a:rPr lang="fr-CA" dirty="0"/>
              <a:t>@  Stocks					14 000</a:t>
            </a:r>
          </a:p>
          <a:p>
            <a:pPr marL="0" indent="0">
              <a:buNone/>
            </a:pPr>
            <a:endParaRPr lang="fr-CA" dirty="0"/>
          </a:p>
          <a:p>
            <a:pPr marL="0" indent="0">
              <a:buNone/>
            </a:pPr>
            <a:r>
              <a:rPr lang="fr-CA" dirty="0"/>
              <a:t>Clients/Effet   			    973</a:t>
            </a:r>
          </a:p>
          <a:p>
            <a:pPr marL="0" indent="0">
              <a:buNone/>
            </a:pPr>
            <a:r>
              <a:rPr lang="fr-CA" dirty="0"/>
              <a:t>@  Produits financiers			    973</a:t>
            </a:r>
          </a:p>
          <a:p>
            <a:pPr marL="0" indent="0">
              <a:buNone/>
            </a:pPr>
            <a:endParaRPr lang="fr-CA" dirty="0"/>
          </a:p>
          <a:p>
            <a:pPr marL="0" indent="0">
              <a:buNone/>
            </a:pPr>
            <a:r>
              <a:rPr lang="fr-CA" dirty="0"/>
              <a:t>Clients/Effet		   	   1 027</a:t>
            </a:r>
          </a:p>
          <a:p>
            <a:pPr marL="0" indent="0">
              <a:buNone/>
            </a:pPr>
            <a:r>
              <a:rPr lang="fr-CA" dirty="0"/>
              <a:t>@  Produits financiers			 1 027</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73</a:t>
            </a:fld>
            <a:endParaRPr lang="fr-FR"/>
          </a:p>
        </p:txBody>
      </p:sp>
      <p:sp>
        <p:nvSpPr>
          <p:cNvPr id="5" name="Espace réservé du pied de page 4">
            <a:extLst>
              <a:ext uri="{FF2B5EF4-FFF2-40B4-BE49-F238E27FC236}">
                <a16:creationId xmlns:a16="http://schemas.microsoft.com/office/drawing/2014/main" id="{ECE32F60-5505-49C6-8804-FB9D0E9CC5B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6399204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Question 2 – Créance</a:t>
            </a:r>
          </a:p>
        </p:txBody>
      </p:sp>
      <p:sp>
        <p:nvSpPr>
          <p:cNvPr id="3" name="Espace réservé du contenu 2"/>
          <p:cNvSpPr>
            <a:spLocks noGrp="1"/>
          </p:cNvSpPr>
          <p:nvPr>
            <p:ph idx="1"/>
          </p:nvPr>
        </p:nvSpPr>
        <p:spPr/>
        <p:txBody>
          <a:bodyPr>
            <a:normAutofit/>
          </a:bodyPr>
          <a:lstStyle/>
          <a:p>
            <a:pPr marL="0" indent="0">
              <a:buNone/>
            </a:pPr>
            <a:r>
              <a:rPr lang="fr-FR" dirty="0"/>
              <a:t>Au 31 décembre, le montant des créances de ABC inclut un montant significatif dû par un client qui s’élève à 70 000 $ qui est en souffrance. Suite à des négociations avec le client, ABC a accordé à ce client un délai supplémentaire de deux ans pour régler le montant dû. Taux du marché est 10 %.</a:t>
            </a:r>
          </a:p>
          <a:p>
            <a:pPr marL="0" indent="0">
              <a:buNone/>
            </a:pPr>
            <a:endParaRPr lang="fr-FR" dirty="0"/>
          </a:p>
          <a:p>
            <a:pPr lvl="1">
              <a:buFont typeface="Wingdings" panose="05000000000000000000" pitchFamily="2" charset="2"/>
              <a:buChar char="Ø"/>
            </a:pPr>
            <a:r>
              <a:rPr lang="fr-FR" i="1" dirty="0"/>
              <a:t>Justifiez le traitement comptable</a:t>
            </a:r>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74</a:t>
            </a:fld>
            <a:endParaRPr lang="fr-FR"/>
          </a:p>
        </p:txBody>
      </p:sp>
      <p:sp>
        <p:nvSpPr>
          <p:cNvPr id="5" name="Espace réservé du pied de page 4">
            <a:extLst>
              <a:ext uri="{FF2B5EF4-FFF2-40B4-BE49-F238E27FC236}">
                <a16:creationId xmlns:a16="http://schemas.microsoft.com/office/drawing/2014/main" id="{D27F9E23-5E72-4B98-B1DA-9C97FB7068E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8332377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3" name="Espace réservé du contenu 2"/>
          <p:cNvSpPr>
            <a:spLocks noGrp="1"/>
          </p:cNvSpPr>
          <p:nvPr>
            <p:ph idx="1"/>
          </p:nvPr>
        </p:nvSpPr>
        <p:spPr>
          <a:xfrm>
            <a:off x="838199" y="1407160"/>
            <a:ext cx="10146175" cy="4949190"/>
          </a:xfrm>
        </p:spPr>
        <p:txBody>
          <a:bodyPr>
            <a:normAutofit fontScale="77500" lnSpcReduction="20000"/>
          </a:bodyPr>
          <a:lstStyle/>
          <a:p>
            <a:r>
              <a:rPr lang="fr-CA" dirty="0"/>
              <a:t>Actualisation au taux de 10 %, 2 ans</a:t>
            </a:r>
          </a:p>
          <a:p>
            <a:endParaRPr lang="fr-CA" dirty="0"/>
          </a:p>
          <a:p>
            <a:pPr marL="0" indent="0">
              <a:buNone/>
            </a:pPr>
            <a:r>
              <a:rPr lang="fr-CA" dirty="0"/>
              <a:t>Effet à recevoir			57 851</a:t>
            </a:r>
          </a:p>
          <a:p>
            <a:pPr marL="0" indent="0">
              <a:buNone/>
            </a:pPr>
            <a:r>
              <a:rPr lang="fr-CA" dirty="0"/>
              <a:t>Frais de vente			12 149</a:t>
            </a:r>
          </a:p>
          <a:p>
            <a:pPr marL="0" indent="0">
              <a:buNone/>
            </a:pPr>
            <a:r>
              <a:rPr lang="fr-CA" dirty="0"/>
              <a:t>@  Clients					70 000</a:t>
            </a:r>
          </a:p>
          <a:p>
            <a:pPr marL="0" indent="0">
              <a:buNone/>
            </a:pPr>
            <a:endParaRPr lang="fr-CA" dirty="0"/>
          </a:p>
          <a:p>
            <a:pPr marL="0" indent="0">
              <a:buNone/>
            </a:pPr>
            <a:r>
              <a:rPr lang="fr-CA" dirty="0"/>
              <a:t>Effet à recevoir 			  5 785</a:t>
            </a:r>
          </a:p>
          <a:p>
            <a:pPr marL="0" indent="0">
              <a:buNone/>
            </a:pPr>
            <a:r>
              <a:rPr lang="fr-CA" dirty="0"/>
              <a:t>@  Produits financiers				  5 785</a:t>
            </a:r>
          </a:p>
          <a:p>
            <a:pPr marL="0" indent="0">
              <a:buNone/>
            </a:pPr>
            <a:endParaRPr lang="fr-CA" dirty="0"/>
          </a:p>
          <a:p>
            <a:pPr marL="0" indent="0">
              <a:buNone/>
            </a:pPr>
            <a:r>
              <a:rPr lang="fr-CA" dirty="0"/>
              <a:t>Effet à recevoir 			  6 364</a:t>
            </a:r>
          </a:p>
          <a:p>
            <a:pPr marL="0" indent="0">
              <a:buNone/>
            </a:pPr>
            <a:r>
              <a:rPr lang="fr-CA" dirty="0"/>
              <a:t>@  Produits financiers				  6 364</a:t>
            </a:r>
          </a:p>
          <a:p>
            <a:pPr marL="0" indent="0">
              <a:buNone/>
            </a:pPr>
            <a:endParaRPr lang="fr-CA" dirty="0"/>
          </a:p>
          <a:p>
            <a:pPr>
              <a:buFont typeface="Wingdings" panose="05000000000000000000" pitchFamily="2" charset="2"/>
              <a:buChar char="Ø"/>
            </a:pPr>
            <a:r>
              <a:rPr lang="fr-CA" i="1" dirty="0"/>
              <a:t>Dépréciation requise?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75</a:t>
            </a:fld>
            <a:endParaRPr lang="fr-FR"/>
          </a:p>
        </p:txBody>
      </p:sp>
      <p:sp>
        <p:nvSpPr>
          <p:cNvPr id="5" name="Espace réservé du pied de page 4">
            <a:extLst>
              <a:ext uri="{FF2B5EF4-FFF2-40B4-BE49-F238E27FC236}">
                <a16:creationId xmlns:a16="http://schemas.microsoft.com/office/drawing/2014/main" id="{409FDA44-6F45-4A99-B959-87CBA2685CB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5426909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Question 3 – Prêt à recevoir</a:t>
            </a:r>
          </a:p>
        </p:txBody>
      </p:sp>
      <p:sp>
        <p:nvSpPr>
          <p:cNvPr id="3" name="Espace réservé du contenu 2"/>
          <p:cNvSpPr>
            <a:spLocks noGrp="1"/>
          </p:cNvSpPr>
          <p:nvPr>
            <p:ph idx="1"/>
          </p:nvPr>
        </p:nvSpPr>
        <p:spPr/>
        <p:txBody>
          <a:bodyPr>
            <a:normAutofit fontScale="92500" lnSpcReduction="10000"/>
          </a:bodyPr>
          <a:lstStyle/>
          <a:p>
            <a:pPr marL="0" indent="0">
              <a:buNone/>
            </a:pPr>
            <a:r>
              <a:rPr lang="fr-FR" dirty="0"/>
              <a:t>Le 1</a:t>
            </a:r>
            <a:r>
              <a:rPr lang="fr-FR" baseline="30000" dirty="0"/>
              <a:t>er</a:t>
            </a:r>
            <a:r>
              <a:rPr lang="fr-FR" dirty="0"/>
              <a:t> janvier, ABC a prêté́ 100 000 $, 8%, échéant dans 4 ans, à M. X. Le 31 décembre de la même année ABC apprend que ce dernier ne pourra pas rembourser tout le montant (capital/intérêts) aux dates prévues par le contrat. Par conséquent, ABC décide de renégocier en considérant l’une des 2 possibilités suivantes : </a:t>
            </a:r>
          </a:p>
          <a:p>
            <a:pPr lvl="1"/>
            <a:r>
              <a:rPr lang="fr-FR" dirty="0"/>
              <a:t>M. X paie le plein montant de la créance trois ans après la date d’échéance du prêt, incluant les intérêts au taux de 8%. </a:t>
            </a:r>
          </a:p>
          <a:p>
            <a:pPr lvl="1"/>
            <a:r>
              <a:rPr lang="fr-FR" dirty="0"/>
              <a:t>M.X paie le plein montant de la créance à la date d’échéance du prêt mais ne verse aucun intérêt </a:t>
            </a:r>
          </a:p>
          <a:p>
            <a:pPr marL="0" indent="0">
              <a:buNone/>
            </a:pPr>
            <a:endParaRPr lang="fr-FR" dirty="0"/>
          </a:p>
          <a:p>
            <a:pPr lvl="1">
              <a:buFont typeface="Wingdings" panose="05000000000000000000" pitchFamily="2" charset="2"/>
              <a:buChar char="Ø"/>
            </a:pPr>
            <a:r>
              <a:rPr lang="fr-FR" i="1" dirty="0"/>
              <a:t>Justifiez les traitements comptables</a:t>
            </a:r>
          </a:p>
          <a:p>
            <a:pPr lvl="2">
              <a:buFont typeface="Wingdings" panose="05000000000000000000" pitchFamily="2" charset="2"/>
              <a:buChar char="Ø"/>
            </a:pPr>
            <a:r>
              <a:rPr lang="fr-FR" i="1" dirty="0"/>
              <a:t>S’il y avait des garanties suffisantes, cela pourrait augmenter la valeur</a:t>
            </a:r>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76</a:t>
            </a:fld>
            <a:endParaRPr lang="fr-FR"/>
          </a:p>
        </p:txBody>
      </p:sp>
      <p:sp>
        <p:nvSpPr>
          <p:cNvPr id="5" name="Espace réservé du pied de page 4">
            <a:extLst>
              <a:ext uri="{FF2B5EF4-FFF2-40B4-BE49-F238E27FC236}">
                <a16:creationId xmlns:a16="http://schemas.microsoft.com/office/drawing/2014/main" id="{6FC339AE-6BA8-4C7B-9565-97630E0AF66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363241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3" name="Espace réservé du contenu 2"/>
          <p:cNvSpPr>
            <a:spLocks noGrp="1"/>
          </p:cNvSpPr>
          <p:nvPr>
            <p:ph idx="1"/>
          </p:nvPr>
        </p:nvSpPr>
        <p:spPr/>
        <p:txBody>
          <a:bodyPr>
            <a:normAutofit/>
          </a:bodyPr>
          <a:lstStyle/>
          <a:p>
            <a:pPr marL="457200" lvl="1" indent="-457200"/>
            <a:r>
              <a:rPr lang="fr-FR" dirty="0"/>
              <a:t>M. X paie le plein montant de la créance trois ans après la date d’échéance du prêt, incluant les intérêts au taux de 8%. </a:t>
            </a:r>
          </a:p>
          <a:p>
            <a:pPr marL="857250" lvl="2" indent="-457200">
              <a:buFont typeface="Wingdings" panose="05000000000000000000" pitchFamily="2" charset="2"/>
              <a:buChar char="Ø"/>
            </a:pPr>
            <a:r>
              <a:rPr lang="fr-FR" dirty="0"/>
              <a:t>Aucun impact sur la valeur – intérêts au taux du marché pendant toute la période</a:t>
            </a:r>
          </a:p>
          <a:p>
            <a:pPr marL="457200" lvl="1" indent="-457200"/>
            <a:endParaRPr lang="fr-FR" dirty="0"/>
          </a:p>
          <a:p>
            <a:pPr marL="457200" lvl="1" indent="-457200"/>
            <a:r>
              <a:rPr lang="fr-FR" dirty="0"/>
              <a:t>M.X paie le plein montant de la créance à la date d’échéance du prêt mais ne verse aucun intérêt</a:t>
            </a:r>
          </a:p>
          <a:p>
            <a:pPr lvl="1">
              <a:buFont typeface="Wingdings" panose="05000000000000000000" pitchFamily="2" charset="2"/>
              <a:buChar char="Ø"/>
            </a:pPr>
            <a:r>
              <a:rPr lang="fr-FR" dirty="0"/>
              <a:t>Au 31 décembre, la créance a une valeur de 79 383 $</a:t>
            </a:r>
          </a:p>
          <a:p>
            <a:pPr lvl="2">
              <a:buFont typeface="Wingdings" panose="05000000000000000000" pitchFamily="2" charset="2"/>
              <a:buChar char="Ø"/>
            </a:pPr>
            <a:r>
              <a:rPr lang="fr-FR" dirty="0"/>
              <a:t>Perte au résultat net</a:t>
            </a:r>
          </a:p>
          <a:p>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77</a:t>
            </a:fld>
            <a:endParaRPr lang="fr-FR"/>
          </a:p>
        </p:txBody>
      </p:sp>
      <p:sp>
        <p:nvSpPr>
          <p:cNvPr id="5" name="Espace réservé du pied de page 4">
            <a:extLst>
              <a:ext uri="{FF2B5EF4-FFF2-40B4-BE49-F238E27FC236}">
                <a16:creationId xmlns:a16="http://schemas.microsoft.com/office/drawing/2014/main" id="{8AB409B9-9A60-4488-B7B8-F11CFCD5616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048171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Question 4 – Prêt à recevoir</a:t>
            </a:r>
          </a:p>
        </p:txBody>
      </p:sp>
      <p:sp>
        <p:nvSpPr>
          <p:cNvPr id="3" name="Espace réservé du contenu 2"/>
          <p:cNvSpPr>
            <a:spLocks noGrp="1"/>
          </p:cNvSpPr>
          <p:nvPr>
            <p:ph idx="1"/>
          </p:nvPr>
        </p:nvSpPr>
        <p:spPr/>
        <p:txBody>
          <a:bodyPr>
            <a:normAutofit/>
          </a:bodyPr>
          <a:lstStyle/>
          <a:p>
            <a:pPr marL="0" indent="0">
              <a:buNone/>
            </a:pPr>
            <a:r>
              <a:rPr lang="fr-FR" dirty="0"/>
              <a:t>ABC a accordé le 1</a:t>
            </a:r>
            <a:r>
              <a:rPr lang="fr-FR" baseline="30000" dirty="0"/>
              <a:t>er</a:t>
            </a:r>
            <a:r>
              <a:rPr lang="fr-FR" dirty="0"/>
              <a:t> janvier 2018 un prêt sans intérêts de 80 000 $ à un employé venant à échéance dans 5 ans. Le taux du marché est de 5 %.  Le 31 décembre 2019, l’employé demande à prolonger de trois ans la date d’échéance du prêt sans intérêt. </a:t>
            </a:r>
          </a:p>
          <a:p>
            <a:pPr marL="0" indent="0">
              <a:buNone/>
            </a:pPr>
            <a:endParaRPr lang="fr-FR" dirty="0"/>
          </a:p>
          <a:p>
            <a:pPr lvl="1">
              <a:buFont typeface="Wingdings" panose="05000000000000000000" pitchFamily="2" charset="2"/>
              <a:buChar char="Ø"/>
            </a:pPr>
            <a:r>
              <a:rPr lang="fr-FR" i="1" dirty="0"/>
              <a:t>Justifiez les traitements comptables (1</a:t>
            </a:r>
            <a:r>
              <a:rPr lang="fr-FR" i="1" baseline="30000" dirty="0"/>
              <a:t>er</a:t>
            </a:r>
            <a:r>
              <a:rPr lang="fr-FR" i="1" dirty="0"/>
              <a:t> janvier 2018 au 31 décembre 2019)</a:t>
            </a:r>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78</a:t>
            </a:fld>
            <a:endParaRPr lang="fr-FR"/>
          </a:p>
        </p:txBody>
      </p:sp>
      <p:sp>
        <p:nvSpPr>
          <p:cNvPr id="5" name="Espace réservé du pied de page 4">
            <a:extLst>
              <a:ext uri="{FF2B5EF4-FFF2-40B4-BE49-F238E27FC236}">
                <a16:creationId xmlns:a16="http://schemas.microsoft.com/office/drawing/2014/main" id="{BDFDA7BE-0851-4E96-864E-37D134AE37D8}"/>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6588799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
        <p:nvSpPr>
          <p:cNvPr id="3" name="Espace réservé du contenu 2"/>
          <p:cNvSpPr>
            <a:spLocks noGrp="1"/>
          </p:cNvSpPr>
          <p:nvPr>
            <p:ph idx="1"/>
          </p:nvPr>
        </p:nvSpPr>
        <p:spPr/>
        <p:txBody>
          <a:bodyPr>
            <a:normAutofit fontScale="77500" lnSpcReduction="20000"/>
          </a:bodyPr>
          <a:lstStyle/>
          <a:p>
            <a:pPr marL="0" lvl="1" indent="0">
              <a:buNone/>
            </a:pPr>
            <a:r>
              <a:rPr lang="fr-FR" dirty="0"/>
              <a:t>1</a:t>
            </a:r>
            <a:r>
              <a:rPr lang="fr-FR" baseline="30000" dirty="0"/>
              <a:t>er</a:t>
            </a:r>
            <a:r>
              <a:rPr lang="fr-FR" dirty="0"/>
              <a:t> janvier 2018</a:t>
            </a:r>
          </a:p>
          <a:p>
            <a:pPr marL="0" lvl="1" indent="0">
              <a:buNone/>
            </a:pPr>
            <a:r>
              <a:rPr lang="fr-FR" dirty="0"/>
              <a:t>Prêt à recevoir		62 682</a:t>
            </a:r>
          </a:p>
          <a:p>
            <a:pPr marL="0" lvl="1" indent="0">
              <a:buNone/>
            </a:pPr>
            <a:r>
              <a:rPr lang="fr-FR" dirty="0"/>
              <a:t>Charge salariale		17 318</a:t>
            </a:r>
          </a:p>
          <a:p>
            <a:pPr marL="0" lvl="1" indent="0">
              <a:buNone/>
            </a:pPr>
            <a:r>
              <a:rPr lang="fr-FR" dirty="0"/>
              <a:t>@  Encaisse			80 000</a:t>
            </a:r>
          </a:p>
          <a:p>
            <a:pPr marL="0" lvl="1" indent="0">
              <a:buNone/>
            </a:pPr>
            <a:endParaRPr lang="fr-FR" dirty="0"/>
          </a:p>
          <a:p>
            <a:pPr marL="0" lvl="1" indent="0">
              <a:buNone/>
            </a:pPr>
            <a:r>
              <a:rPr lang="fr-FR" dirty="0"/>
              <a:t>31 décembre 2018</a:t>
            </a:r>
          </a:p>
          <a:p>
            <a:pPr marL="0" lvl="1" indent="0">
              <a:buNone/>
            </a:pPr>
            <a:r>
              <a:rPr lang="fr-FR" dirty="0"/>
              <a:t>Prêt à recevoir		3 134</a:t>
            </a:r>
          </a:p>
          <a:p>
            <a:pPr marL="0" lvl="1" indent="0">
              <a:buNone/>
            </a:pPr>
            <a:r>
              <a:rPr lang="fr-FR" dirty="0"/>
              <a:t>@  Produits financiers		3 134</a:t>
            </a:r>
          </a:p>
          <a:p>
            <a:pPr marL="0" lvl="1" indent="0">
              <a:buNone/>
            </a:pPr>
            <a:endParaRPr lang="fr-FR" dirty="0"/>
          </a:p>
          <a:p>
            <a:pPr marL="0" lvl="1" indent="0">
              <a:buNone/>
            </a:pPr>
            <a:r>
              <a:rPr lang="fr-FR" dirty="0"/>
              <a:t>31 décembre 2019</a:t>
            </a:r>
          </a:p>
          <a:p>
            <a:pPr marL="0" lvl="1" indent="0">
              <a:buNone/>
            </a:pPr>
            <a:r>
              <a:rPr lang="fr-FR" dirty="0"/>
              <a:t>Prêt à recevoir		3 291</a:t>
            </a:r>
          </a:p>
          <a:p>
            <a:pPr marL="0" lvl="1" indent="0">
              <a:buNone/>
            </a:pPr>
            <a:r>
              <a:rPr lang="fr-FR" dirty="0"/>
              <a:t>@  Produits financiers		3 291</a:t>
            </a:r>
          </a:p>
          <a:p>
            <a:pPr marL="0" lvl="1" indent="0">
              <a:buNone/>
            </a:pPr>
            <a:endParaRPr lang="fr-FR" dirty="0"/>
          </a:p>
          <a:p>
            <a:pPr marL="0" lvl="1" indent="0">
              <a:buNone/>
            </a:pPr>
            <a:r>
              <a:rPr lang="fr-FR" dirty="0"/>
              <a:t>Charge salariale		9 410</a:t>
            </a:r>
          </a:p>
          <a:p>
            <a:pPr marL="0" lvl="1" indent="0">
              <a:buNone/>
            </a:pPr>
            <a:r>
              <a:rPr lang="fr-FR" dirty="0"/>
              <a:t>@  Prêt à recevoir			9 410</a:t>
            </a:r>
          </a:p>
          <a:p>
            <a:pPr marL="0" lvl="1" indent="0">
              <a:buNone/>
            </a:pPr>
            <a:r>
              <a:rPr lang="fr-FR" sz="2300" i="1" dirty="0"/>
              <a:t>(59 697 – 69 107)</a:t>
            </a:r>
            <a:endParaRPr lang="fr-FR" i="1"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79</a:t>
            </a:fld>
            <a:endParaRPr lang="fr-FR"/>
          </a:p>
        </p:txBody>
      </p:sp>
      <p:sp>
        <p:nvSpPr>
          <p:cNvPr id="5" name="Espace réservé du pied de page 4">
            <a:extLst>
              <a:ext uri="{FF2B5EF4-FFF2-40B4-BE49-F238E27FC236}">
                <a16:creationId xmlns:a16="http://schemas.microsoft.com/office/drawing/2014/main" id="{78D0877E-5FC5-45C1-B0BD-D8880C00082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2874060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5D49B5-E83C-4A33-AD35-8C738CEEF4C2}"/>
              </a:ext>
            </a:extLst>
          </p:cNvPr>
          <p:cNvSpPr>
            <a:spLocks noGrp="1"/>
          </p:cNvSpPr>
          <p:nvPr>
            <p:ph type="title"/>
          </p:nvPr>
        </p:nvSpPr>
        <p:spPr/>
        <p:txBody>
          <a:bodyPr/>
          <a:lstStyle/>
          <a:p>
            <a:r>
              <a:rPr lang="fr-CA" dirty="0"/>
              <a:t>Revue passif – </a:t>
            </a:r>
            <a:r>
              <a:rPr lang="fr-CA" i="1" dirty="0">
                <a:solidFill>
                  <a:srgbClr val="FF0000"/>
                </a:solidFill>
                <a:highlight>
                  <a:srgbClr val="FFFF00"/>
                </a:highlight>
              </a:rPr>
              <a:t>au besoin</a:t>
            </a:r>
            <a:endParaRPr lang="fr-FR" dirty="0">
              <a:solidFill>
                <a:srgbClr val="FF0000"/>
              </a:solidFill>
              <a:highlight>
                <a:srgbClr val="FFFF00"/>
              </a:highlight>
            </a:endParaRPr>
          </a:p>
        </p:txBody>
      </p:sp>
      <p:sp>
        <p:nvSpPr>
          <p:cNvPr id="3" name="Espace réservé du contenu 2">
            <a:extLst>
              <a:ext uri="{FF2B5EF4-FFF2-40B4-BE49-F238E27FC236}">
                <a16:creationId xmlns:a16="http://schemas.microsoft.com/office/drawing/2014/main" id="{A56AFBA6-7EEB-42C7-B80E-5C3220B44287}"/>
              </a:ext>
            </a:extLst>
          </p:cNvPr>
          <p:cNvSpPr>
            <a:spLocks noGrp="1"/>
          </p:cNvSpPr>
          <p:nvPr>
            <p:ph idx="1"/>
          </p:nvPr>
        </p:nvSpPr>
        <p:spPr/>
        <p:txBody>
          <a:bodyPr/>
          <a:lstStyle/>
          <a:p>
            <a:endParaRPr lang="fr-FR"/>
          </a:p>
        </p:txBody>
      </p:sp>
      <p:sp>
        <p:nvSpPr>
          <p:cNvPr id="4" name="Espace réservé du pied de page 3">
            <a:extLst>
              <a:ext uri="{FF2B5EF4-FFF2-40B4-BE49-F238E27FC236}">
                <a16:creationId xmlns:a16="http://schemas.microsoft.com/office/drawing/2014/main" id="{A43E87C3-AA03-4C3D-B5A5-27688E91E91D}"/>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69FF2DB5-522C-4679-AF00-3B75410517E7}"/>
              </a:ext>
            </a:extLst>
          </p:cNvPr>
          <p:cNvSpPr>
            <a:spLocks noGrp="1"/>
          </p:cNvSpPr>
          <p:nvPr>
            <p:ph type="sldNum" sz="quarter" idx="12"/>
          </p:nvPr>
        </p:nvSpPr>
        <p:spPr/>
        <p:txBody>
          <a:bodyPr/>
          <a:lstStyle/>
          <a:p>
            <a:fld id="{D5C8285E-D276-48ED-A38D-FCE3A7D9B93F}" type="slidenum">
              <a:rPr lang="fr-CA" smtClean="0"/>
              <a:t>80</a:t>
            </a:fld>
            <a:endParaRPr lang="fr-CA"/>
          </a:p>
        </p:txBody>
      </p:sp>
    </p:spTree>
    <p:extLst>
      <p:ext uri="{BB962C8B-B14F-4D97-AF65-F5344CB8AC3E}">
        <p14:creationId xmlns:p14="http://schemas.microsoft.com/office/powerpoint/2010/main" val="38204569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82869" y="274638"/>
            <a:ext cx="10470931" cy="491172"/>
          </a:xfrm>
        </p:spPr>
        <p:txBody>
          <a:bodyPr>
            <a:noAutofit/>
          </a:bodyPr>
          <a:lstStyle/>
          <a:p>
            <a:r>
              <a:rPr lang="fr-CA" sz="3600" dirty="0"/>
              <a:t>Nature des dettes non courantes</a:t>
            </a:r>
          </a:p>
        </p:txBody>
      </p:sp>
      <p:sp>
        <p:nvSpPr>
          <p:cNvPr id="3" name="Espace réservé du contenu 2"/>
          <p:cNvSpPr>
            <a:spLocks noGrp="1"/>
          </p:cNvSpPr>
          <p:nvPr>
            <p:ph idx="1"/>
          </p:nvPr>
        </p:nvSpPr>
        <p:spPr>
          <a:xfrm>
            <a:off x="882869" y="902971"/>
            <a:ext cx="10394731" cy="5223193"/>
          </a:xfrm>
        </p:spPr>
        <p:txBody>
          <a:bodyPr>
            <a:normAutofit/>
          </a:bodyPr>
          <a:lstStyle/>
          <a:p>
            <a:r>
              <a:rPr lang="fr-CA" sz="2400" dirty="0"/>
              <a:t>Les actifs non courants sont habituellement financés par de la dette non courante ou encore par l’émission de capital social (actions)</a:t>
            </a:r>
          </a:p>
          <a:p>
            <a:pPr lvl="1"/>
            <a:r>
              <a:rPr lang="fr-CA" sz="2000" dirty="0"/>
              <a:t>Appariement des échéances</a:t>
            </a:r>
          </a:p>
          <a:p>
            <a:pPr lvl="1"/>
            <a:r>
              <a:rPr lang="fr-CA" sz="2000" dirty="0"/>
              <a:t>Équilibre de la structure financière (ratio d’endettement)</a:t>
            </a:r>
            <a:endParaRPr lang="fr-CA" dirty="0"/>
          </a:p>
          <a:p>
            <a:pPr lvl="1"/>
            <a:endParaRPr lang="fr-CA" dirty="0"/>
          </a:p>
          <a:p>
            <a:pPr marL="0" lvl="1" indent="0">
              <a:buNone/>
            </a:pPr>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81</a:t>
            </a:fld>
            <a:endParaRPr lang="fr-FR"/>
          </a:p>
        </p:txBody>
      </p:sp>
      <p:graphicFrame>
        <p:nvGraphicFramePr>
          <p:cNvPr id="5" name="Tableau 4"/>
          <p:cNvGraphicFramePr>
            <a:graphicFrameLocks noGrp="1"/>
          </p:cNvGraphicFramePr>
          <p:nvPr/>
        </p:nvGraphicFramePr>
        <p:xfrm>
          <a:off x="2232660" y="2872105"/>
          <a:ext cx="7726680" cy="3529080"/>
        </p:xfrm>
        <a:graphic>
          <a:graphicData uri="http://schemas.openxmlformats.org/drawingml/2006/table">
            <a:tbl>
              <a:tblPr firstRow="1" bandRow="1">
                <a:tableStyleId>{5C22544A-7EE6-4342-B048-85BDC9FD1C3A}</a:tableStyleId>
              </a:tblPr>
              <a:tblGrid>
                <a:gridCol w="280035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411730">
                  <a:extLst>
                    <a:ext uri="{9D8B030D-6E8A-4147-A177-3AD203B41FA5}">
                      <a16:colId xmlns:a16="http://schemas.microsoft.com/office/drawing/2014/main" val="20002"/>
                    </a:ext>
                  </a:extLst>
                </a:gridCol>
              </a:tblGrid>
              <a:tr h="352529">
                <a:tc>
                  <a:txBody>
                    <a:bodyPr/>
                    <a:lstStyle/>
                    <a:p>
                      <a:endParaRPr lang="fr-CA" dirty="0"/>
                    </a:p>
                  </a:txBody>
                  <a:tcPr/>
                </a:tc>
                <a:tc>
                  <a:txBody>
                    <a:bodyPr/>
                    <a:lstStyle/>
                    <a:p>
                      <a:pPr algn="ctr"/>
                      <a:r>
                        <a:rPr lang="fr-CA" dirty="0"/>
                        <a:t>Dettes</a:t>
                      </a:r>
                      <a:r>
                        <a:rPr lang="fr-CA" baseline="0" dirty="0"/>
                        <a:t> non courantes</a:t>
                      </a:r>
                      <a:endParaRPr lang="fr-CA" dirty="0"/>
                    </a:p>
                  </a:txBody>
                  <a:tcPr/>
                </a:tc>
                <a:tc>
                  <a:txBody>
                    <a:bodyPr/>
                    <a:lstStyle/>
                    <a:p>
                      <a:pPr algn="ctr"/>
                      <a:r>
                        <a:rPr lang="fr-CA" dirty="0"/>
                        <a:t>Capital</a:t>
                      </a:r>
                      <a:r>
                        <a:rPr lang="fr-CA" baseline="0" dirty="0"/>
                        <a:t> social</a:t>
                      </a:r>
                      <a:endParaRPr lang="fr-CA" dirty="0"/>
                    </a:p>
                  </a:txBody>
                  <a:tcPr/>
                </a:tc>
                <a:extLst>
                  <a:ext uri="{0D108BD9-81ED-4DB2-BD59-A6C34878D82A}">
                    <a16:rowId xmlns:a16="http://schemas.microsoft.com/office/drawing/2014/main" val="10000"/>
                  </a:ext>
                </a:extLst>
              </a:tr>
              <a:tr h="608475">
                <a:tc>
                  <a:txBody>
                    <a:bodyPr/>
                    <a:lstStyle/>
                    <a:p>
                      <a:r>
                        <a:rPr lang="fr-CA" dirty="0"/>
                        <a:t>Contrôle sur les décisions de l’entreprise</a:t>
                      </a:r>
                    </a:p>
                  </a:txBody>
                  <a:tcPr/>
                </a:tc>
                <a:tc>
                  <a:txBody>
                    <a:bodyPr/>
                    <a:lstStyle/>
                    <a:p>
                      <a:pPr algn="ctr"/>
                      <a:r>
                        <a:rPr lang="fr-CA" b="1" dirty="0"/>
                        <a:t>+</a:t>
                      </a:r>
                    </a:p>
                    <a:p>
                      <a:pPr algn="ctr"/>
                      <a:r>
                        <a:rPr lang="fr-CA" dirty="0"/>
                        <a:t>Clauses restrictives</a:t>
                      </a:r>
                    </a:p>
                  </a:txBody>
                  <a:tcPr/>
                </a:tc>
                <a:tc>
                  <a:txBody>
                    <a:bodyPr/>
                    <a:lstStyle/>
                    <a:p>
                      <a:pPr algn="ctr"/>
                      <a:r>
                        <a:rPr lang="fr-CA" b="1" dirty="0"/>
                        <a:t>-</a:t>
                      </a:r>
                    </a:p>
                    <a:p>
                      <a:pPr algn="ctr"/>
                      <a:r>
                        <a:rPr lang="fr-CA" dirty="0"/>
                        <a:t>Dilution des </a:t>
                      </a:r>
                      <a:r>
                        <a:rPr lang="fr-CA" dirty="0" err="1"/>
                        <a:t>act</a:t>
                      </a:r>
                      <a:r>
                        <a:rPr lang="fr-CA" dirty="0"/>
                        <a:t>. actuels</a:t>
                      </a:r>
                    </a:p>
                  </a:txBody>
                  <a:tcPr/>
                </a:tc>
                <a:extLst>
                  <a:ext uri="{0D108BD9-81ED-4DB2-BD59-A6C34878D82A}">
                    <a16:rowId xmlns:a16="http://schemas.microsoft.com/office/drawing/2014/main" val="10001"/>
                  </a:ext>
                </a:extLst>
              </a:tr>
              <a:tr h="1130025">
                <a:tc>
                  <a:txBody>
                    <a:bodyPr/>
                    <a:lstStyle/>
                    <a:p>
                      <a:r>
                        <a:rPr lang="fr-CA" dirty="0"/>
                        <a:t>Coût </a:t>
                      </a:r>
                      <a:r>
                        <a:rPr lang="fr-CA" i="1" dirty="0"/>
                        <a:t>-</a:t>
                      </a:r>
                      <a:r>
                        <a:rPr lang="fr-CA" i="1" baseline="0" dirty="0"/>
                        <a:t> </a:t>
                      </a:r>
                      <a:r>
                        <a:rPr lang="fr-CA" i="1" dirty="0"/>
                        <a:t>fonction du risque</a:t>
                      </a:r>
                    </a:p>
                  </a:txBody>
                  <a:tcPr/>
                </a:tc>
                <a:tc>
                  <a:txBody>
                    <a:bodyPr/>
                    <a:lstStyle/>
                    <a:p>
                      <a:pPr algn="ctr"/>
                      <a:r>
                        <a:rPr lang="fr-CA" b="1" dirty="0"/>
                        <a:t>+</a:t>
                      </a:r>
                    </a:p>
                    <a:p>
                      <a:pPr algn="ctr"/>
                      <a:r>
                        <a:rPr lang="fr-CA" dirty="0"/>
                        <a:t>Intérêts</a:t>
                      </a:r>
                      <a:r>
                        <a:rPr lang="fr-CA" baseline="0" dirty="0"/>
                        <a:t> déductibles</a:t>
                      </a:r>
                    </a:p>
                    <a:p>
                      <a:pPr marL="0" marR="0" lvl="0" indent="0" algn="ctr" defTabSz="457200" rtl="0" eaLnBrk="1" fontAlgn="auto" latinLnBrk="0" hangingPunct="1">
                        <a:lnSpc>
                          <a:spcPct val="100000"/>
                        </a:lnSpc>
                        <a:spcBef>
                          <a:spcPts val="0"/>
                        </a:spcBef>
                        <a:spcAft>
                          <a:spcPts val="0"/>
                        </a:spcAft>
                        <a:buClrTx/>
                        <a:buSzTx/>
                        <a:buFontTx/>
                        <a:buNone/>
                        <a:tabLst/>
                        <a:defRPr/>
                      </a:pPr>
                      <a:r>
                        <a:rPr lang="fr-CA" dirty="0"/>
                        <a:t>Effet de levier</a:t>
                      </a:r>
                    </a:p>
                  </a:txBody>
                  <a:tcPr/>
                </a:tc>
                <a:tc>
                  <a:txBody>
                    <a:bodyPr/>
                    <a:lstStyle/>
                    <a:p>
                      <a:pPr algn="ctr"/>
                      <a:r>
                        <a:rPr lang="fr-CA" b="1" dirty="0"/>
                        <a:t>-</a:t>
                      </a:r>
                      <a:endParaRPr lang="fr-CA" dirty="0"/>
                    </a:p>
                    <a:p>
                      <a:pPr algn="ctr"/>
                      <a:r>
                        <a:rPr lang="fr-CA" dirty="0"/>
                        <a:t>Dividendes non déductibles</a:t>
                      </a:r>
                    </a:p>
                  </a:txBody>
                  <a:tcPr/>
                </a:tc>
                <a:extLst>
                  <a:ext uri="{0D108BD9-81ED-4DB2-BD59-A6C34878D82A}">
                    <a16:rowId xmlns:a16="http://schemas.microsoft.com/office/drawing/2014/main" val="10002"/>
                  </a:ext>
                </a:extLst>
              </a:tr>
              <a:tr h="1393215">
                <a:tc>
                  <a:txBody>
                    <a:bodyPr/>
                    <a:lstStyle/>
                    <a:p>
                      <a:r>
                        <a:rPr lang="fr-CA" dirty="0"/>
                        <a:t>Risque</a:t>
                      </a:r>
                    </a:p>
                  </a:txBody>
                  <a:tcPr/>
                </a:tc>
                <a:tc>
                  <a:txBody>
                    <a:bodyPr/>
                    <a:lstStyle/>
                    <a:p>
                      <a:pPr algn="ctr"/>
                      <a:r>
                        <a:rPr lang="fr-CA" b="1" dirty="0"/>
                        <a:t>-</a:t>
                      </a:r>
                    </a:p>
                    <a:p>
                      <a:pPr algn="ctr"/>
                      <a:r>
                        <a:rPr lang="fr-CA" dirty="0"/>
                        <a:t>Obligation de verser intérêts, rembourser à l’échéance</a:t>
                      </a:r>
                    </a:p>
                  </a:txBody>
                  <a:tcPr/>
                </a:tc>
                <a:tc>
                  <a:txBody>
                    <a:bodyPr/>
                    <a:lstStyle/>
                    <a:p>
                      <a:pPr algn="ctr"/>
                      <a:r>
                        <a:rPr lang="fr-CA" b="1" dirty="0"/>
                        <a:t>+</a:t>
                      </a:r>
                    </a:p>
                    <a:p>
                      <a:pPr algn="ctr"/>
                      <a:r>
                        <a:rPr lang="fr-CA" dirty="0"/>
                        <a:t>Dividendes « discrétionnaires »</a:t>
                      </a:r>
                    </a:p>
                    <a:p>
                      <a:pPr algn="ctr"/>
                      <a:r>
                        <a:rPr lang="fr-CA" dirty="0"/>
                        <a:t>Capital « permanent »</a:t>
                      </a:r>
                    </a:p>
                  </a:txBody>
                  <a:tcPr/>
                </a:tc>
                <a:extLst>
                  <a:ext uri="{0D108BD9-81ED-4DB2-BD59-A6C34878D82A}">
                    <a16:rowId xmlns:a16="http://schemas.microsoft.com/office/drawing/2014/main" val="10003"/>
                  </a:ext>
                </a:extLst>
              </a:tr>
            </a:tbl>
          </a:graphicData>
        </a:graphic>
      </p:graphicFrame>
      <p:sp>
        <p:nvSpPr>
          <p:cNvPr id="6" name="Espace réservé du pied de page 5">
            <a:extLst>
              <a:ext uri="{FF2B5EF4-FFF2-40B4-BE49-F238E27FC236}">
                <a16:creationId xmlns:a16="http://schemas.microsoft.com/office/drawing/2014/main" id="{D7EFC376-4069-4224-92F5-E42E1F88151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803763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Effet de levier (levier financier)</a:t>
            </a:r>
          </a:p>
        </p:txBody>
      </p:sp>
      <p:sp>
        <p:nvSpPr>
          <p:cNvPr id="3" name="Espace réservé du contenu 2"/>
          <p:cNvSpPr>
            <a:spLocks noGrp="1"/>
          </p:cNvSpPr>
          <p:nvPr>
            <p:ph idx="1"/>
          </p:nvPr>
        </p:nvSpPr>
        <p:spPr/>
        <p:txBody>
          <a:bodyPr>
            <a:normAutofit/>
          </a:bodyPr>
          <a:lstStyle/>
          <a:p>
            <a:pPr marL="0" indent="0">
              <a:buNone/>
            </a:pPr>
            <a:r>
              <a:rPr lang="fr-CA" dirty="0"/>
              <a:t>Effet de levier positif si grâce au financement par emprunt (plutôt que par actions ordinaires), le rendement des actionnaires ordinaires augmente</a:t>
            </a:r>
          </a:p>
          <a:p>
            <a:pPr lvl="1"/>
            <a:r>
              <a:rPr lang="fr-CA" dirty="0"/>
              <a:t>Rendement sur actif « doit être » plus élevé que le coût (après impôts) du financement par des tiers </a:t>
            </a:r>
          </a:p>
          <a:p>
            <a:pPr lvl="2"/>
            <a:r>
              <a:rPr lang="fr-CA" dirty="0"/>
              <a:t>Moins de capital émis (se partage le résultat net en un nombre réduit d’actions ordinaires)</a:t>
            </a:r>
          </a:p>
          <a:p>
            <a:pPr lvl="2"/>
            <a:endParaRPr lang="fr-CA" dirty="0"/>
          </a:p>
          <a:p>
            <a:pPr lvl="2">
              <a:buFont typeface="Wingdings" panose="05000000000000000000" pitchFamily="2" charset="2"/>
              <a:buChar char="Ø"/>
            </a:pPr>
            <a:r>
              <a:rPr lang="fr-CA" dirty="0"/>
              <a:t>Financement par dette plus risqué si rentabilité volatile</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82</a:t>
            </a:fld>
            <a:endParaRPr lang="fr-FR"/>
          </a:p>
        </p:txBody>
      </p:sp>
      <p:sp>
        <p:nvSpPr>
          <p:cNvPr id="5" name="Espace réservé du pied de page 4">
            <a:extLst>
              <a:ext uri="{FF2B5EF4-FFF2-40B4-BE49-F238E27FC236}">
                <a16:creationId xmlns:a16="http://schemas.microsoft.com/office/drawing/2014/main" id="{0C841E20-F18E-4BCB-927B-9A7313391FB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5104003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Contrat d’emprunt ou acte de fiducie</a:t>
            </a:r>
          </a:p>
        </p:txBody>
      </p:sp>
      <p:sp>
        <p:nvSpPr>
          <p:cNvPr id="3" name="Espace réservé du contenu 2"/>
          <p:cNvSpPr>
            <a:spLocks noGrp="1"/>
          </p:cNvSpPr>
          <p:nvPr>
            <p:ph idx="1"/>
          </p:nvPr>
        </p:nvSpPr>
        <p:spPr/>
        <p:txBody>
          <a:bodyPr>
            <a:normAutofit/>
          </a:bodyPr>
          <a:lstStyle/>
          <a:p>
            <a:pPr marL="0" indent="0">
              <a:buNone/>
            </a:pPr>
            <a:r>
              <a:rPr lang="fr-CA" dirty="0"/>
              <a:t>Convention de prêt (document juridique)</a:t>
            </a:r>
          </a:p>
          <a:p>
            <a:pPr lvl="1"/>
            <a:r>
              <a:rPr lang="fr-CA" dirty="0"/>
              <a:t>Diverses modalités (montant, taux d’intérêts, échéance, garanties)</a:t>
            </a:r>
          </a:p>
          <a:p>
            <a:pPr lvl="1"/>
            <a:r>
              <a:rPr lang="fr-CA" dirty="0"/>
              <a:t>Clauses restrictives ou protectrices (ratios à respecter, restrictions sur le versement des dividendes…)</a:t>
            </a:r>
          </a:p>
          <a:p>
            <a:pPr lvl="2"/>
            <a:r>
              <a:rPr lang="fr-CA" dirty="0"/>
              <a:t>Fonds de roulement – minimum : liquidité court terme</a:t>
            </a:r>
          </a:p>
          <a:p>
            <a:pPr lvl="2"/>
            <a:r>
              <a:rPr lang="fr-CA" dirty="0"/>
              <a:t>Dette / équité – maximum : structure financière</a:t>
            </a:r>
          </a:p>
          <a:p>
            <a:pPr lvl="2"/>
            <a:r>
              <a:rPr lang="fr-CA" dirty="0"/>
              <a:t>Couverture du service de la dette - minimum : rentabilité, capacité de payer les intérêts et le capital échu</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83</a:t>
            </a:fld>
            <a:endParaRPr lang="fr-FR"/>
          </a:p>
        </p:txBody>
      </p:sp>
      <p:sp>
        <p:nvSpPr>
          <p:cNvPr id="5" name="Espace réservé du pied de page 4">
            <a:extLst>
              <a:ext uri="{FF2B5EF4-FFF2-40B4-BE49-F238E27FC236}">
                <a16:creationId xmlns:a16="http://schemas.microsoft.com/office/drawing/2014/main" id="{C23CF36A-74D2-4A4A-BBDB-DE19632AB41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9232987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Caractéristiques des emprunts obligataires</a:t>
            </a:r>
          </a:p>
        </p:txBody>
      </p:sp>
      <p:sp>
        <p:nvSpPr>
          <p:cNvPr id="3" name="Espace réservé du contenu 2"/>
          <p:cNvSpPr>
            <a:spLocks noGrp="1"/>
          </p:cNvSpPr>
          <p:nvPr>
            <p:ph idx="1"/>
          </p:nvPr>
        </p:nvSpPr>
        <p:spPr/>
        <p:txBody>
          <a:bodyPr/>
          <a:lstStyle/>
          <a:p>
            <a:pPr marL="0" indent="0">
              <a:buNone/>
            </a:pPr>
            <a:r>
              <a:rPr lang="fr-CA" dirty="0"/>
              <a:t>Nature des emprunts obligataires</a:t>
            </a:r>
          </a:p>
          <a:p>
            <a:r>
              <a:rPr lang="fr-CA" dirty="0"/>
              <a:t>Découpage de l’emprunt en multiples coupures</a:t>
            </a:r>
          </a:p>
          <a:p>
            <a:pPr lvl="1"/>
            <a:r>
              <a:rPr lang="fr-CA" dirty="0"/>
              <a:t>Plusieurs obligations (ou coupures) (par exemple valeur nominale de 1000 $ chacune)</a:t>
            </a:r>
          </a:p>
          <a:p>
            <a:pPr lvl="1"/>
            <a:r>
              <a:rPr lang="fr-CA" dirty="0"/>
              <a:t>Donc plusieurs obligataires (prêteurs) possibles</a:t>
            </a:r>
          </a:p>
          <a:p>
            <a:pPr lvl="1"/>
            <a:r>
              <a:rPr lang="fr-CA" dirty="0"/>
              <a:t>Taux d’intérêt (taux nominal / contractuel) fixe ou variable, habituellement payables sur une base semestrielle</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84</a:t>
            </a:fld>
            <a:endParaRPr lang="fr-FR"/>
          </a:p>
        </p:txBody>
      </p:sp>
      <p:sp>
        <p:nvSpPr>
          <p:cNvPr id="5" name="Espace réservé du pied de page 4">
            <a:extLst>
              <a:ext uri="{FF2B5EF4-FFF2-40B4-BE49-F238E27FC236}">
                <a16:creationId xmlns:a16="http://schemas.microsoft.com/office/drawing/2014/main" id="{BA0D4F74-AD95-422B-935B-B91F8A8D45C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9193735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CA" sz="3600" dirty="0"/>
              <a:t>Caractéristiques des emprunts obligataires</a:t>
            </a:r>
          </a:p>
        </p:txBody>
      </p:sp>
      <p:sp>
        <p:nvSpPr>
          <p:cNvPr id="3" name="Espace réservé du contenu 2"/>
          <p:cNvSpPr>
            <a:spLocks noGrp="1"/>
          </p:cNvSpPr>
          <p:nvPr>
            <p:ph idx="1"/>
          </p:nvPr>
        </p:nvSpPr>
        <p:spPr>
          <a:xfrm>
            <a:off x="945931" y="1714501"/>
            <a:ext cx="10247586" cy="4411663"/>
          </a:xfrm>
        </p:spPr>
        <p:txBody>
          <a:bodyPr>
            <a:normAutofit/>
          </a:bodyPr>
          <a:lstStyle/>
          <a:p>
            <a:r>
              <a:rPr lang="fr-CA" dirty="0"/>
              <a:t>Obligations immatriculées et obligations au porteur</a:t>
            </a:r>
          </a:p>
          <a:p>
            <a:pPr lvl="1"/>
            <a:r>
              <a:rPr lang="fr-CA" dirty="0"/>
              <a:t>Immatriculées (ou nominatives) : registre des obligataires</a:t>
            </a:r>
          </a:p>
          <a:p>
            <a:pPr lvl="1"/>
            <a:r>
              <a:rPr lang="fr-CA" dirty="0"/>
              <a:t>Au porteur : pas de mention du nom de l’obligataire</a:t>
            </a:r>
          </a:p>
          <a:p>
            <a:pPr lvl="1"/>
            <a:endParaRPr lang="fr-CA" sz="1800" dirty="0"/>
          </a:p>
          <a:p>
            <a:pPr lvl="2"/>
            <a:r>
              <a:rPr lang="fr-CA" dirty="0"/>
              <a:t>Caisse canadienne de dépôt de valeurs limitée (CDS)</a:t>
            </a:r>
          </a:p>
          <a:p>
            <a:pPr lvl="3"/>
            <a:r>
              <a:rPr lang="fr-CA" dirty="0"/>
              <a:t>Agit à titre de carrefour de dépôt, de compensation et de règlement des valeurs pour l’ensemble des institutions financières au Canada</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85</a:t>
            </a:fld>
            <a:endParaRPr lang="fr-FR"/>
          </a:p>
        </p:txBody>
      </p:sp>
      <p:sp>
        <p:nvSpPr>
          <p:cNvPr id="5" name="Espace réservé du pied de page 4">
            <a:extLst>
              <a:ext uri="{FF2B5EF4-FFF2-40B4-BE49-F238E27FC236}">
                <a16:creationId xmlns:a16="http://schemas.microsoft.com/office/drawing/2014/main" id="{E9DFFD8C-05EC-4078-A58C-B82F4E4AC7D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5701138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CA" sz="3600" dirty="0"/>
              <a:t>Caractéristiques des emprunts obligataires</a:t>
            </a:r>
          </a:p>
        </p:txBody>
      </p:sp>
      <p:sp>
        <p:nvSpPr>
          <p:cNvPr id="3" name="Espace réservé du contenu 2"/>
          <p:cNvSpPr>
            <a:spLocks noGrp="1"/>
          </p:cNvSpPr>
          <p:nvPr>
            <p:ph idx="1"/>
          </p:nvPr>
        </p:nvSpPr>
        <p:spPr>
          <a:xfrm>
            <a:off x="838200" y="1714501"/>
            <a:ext cx="10515600" cy="4411663"/>
          </a:xfrm>
        </p:spPr>
        <p:txBody>
          <a:bodyPr>
            <a:normAutofit/>
          </a:bodyPr>
          <a:lstStyle/>
          <a:p>
            <a:r>
              <a:rPr lang="fr-CA" dirty="0"/>
              <a:t>Obligations garanties et non garanties</a:t>
            </a:r>
          </a:p>
          <a:p>
            <a:pPr lvl="1"/>
            <a:r>
              <a:rPr lang="fr-CA" dirty="0"/>
              <a:t>Garanties</a:t>
            </a:r>
          </a:p>
          <a:p>
            <a:pPr lvl="2"/>
            <a:r>
              <a:rPr lang="fr-CA" dirty="0"/>
              <a:t>Par certains actifs de l’entreprise</a:t>
            </a:r>
          </a:p>
          <a:p>
            <a:pPr lvl="1"/>
            <a:r>
              <a:rPr lang="fr-CA" dirty="0"/>
              <a:t>Non garanties (</a:t>
            </a:r>
            <a:r>
              <a:rPr lang="fr-CA" dirty="0">
                <a:highlight>
                  <a:srgbClr val="FFFF00"/>
                </a:highlight>
              </a:rPr>
              <a:t>ou débentures</a:t>
            </a:r>
            <a:r>
              <a:rPr lang="fr-CA" dirty="0"/>
              <a:t>)</a:t>
            </a:r>
          </a:p>
          <a:p>
            <a:pPr lvl="2"/>
            <a:r>
              <a:rPr lang="fr-CA" dirty="0"/>
              <a:t>Mise sur la solvabilité de l’entreprise</a:t>
            </a:r>
          </a:p>
          <a:p>
            <a:pPr lvl="2"/>
            <a:r>
              <a:rPr lang="fr-CA" dirty="0"/>
              <a:t>Obligations de pacotille (</a:t>
            </a:r>
            <a:r>
              <a:rPr lang="fr-CA" dirty="0" err="1"/>
              <a:t>junk</a:t>
            </a:r>
            <a:r>
              <a:rPr lang="fr-CA" dirty="0"/>
              <a:t> bonds) : taux de rendement élevé car risque élevé</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86</a:t>
            </a:fld>
            <a:endParaRPr lang="fr-FR"/>
          </a:p>
        </p:txBody>
      </p:sp>
      <p:sp>
        <p:nvSpPr>
          <p:cNvPr id="5" name="Espace réservé du pied de page 4">
            <a:extLst>
              <a:ext uri="{FF2B5EF4-FFF2-40B4-BE49-F238E27FC236}">
                <a16:creationId xmlns:a16="http://schemas.microsoft.com/office/drawing/2014/main" id="{713A73A1-DEDC-499F-AE12-1E9778D35A4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6630295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CA" sz="3600" dirty="0"/>
              <a:t>Caractéristiques des emprunts obligataires</a:t>
            </a:r>
          </a:p>
        </p:txBody>
      </p:sp>
      <p:sp>
        <p:nvSpPr>
          <p:cNvPr id="3" name="Espace réservé du contenu 2"/>
          <p:cNvSpPr>
            <a:spLocks noGrp="1"/>
          </p:cNvSpPr>
          <p:nvPr>
            <p:ph idx="1"/>
          </p:nvPr>
        </p:nvSpPr>
        <p:spPr>
          <a:xfrm>
            <a:off x="838200" y="1714501"/>
            <a:ext cx="10515600" cy="4411663"/>
          </a:xfrm>
        </p:spPr>
        <p:txBody>
          <a:bodyPr>
            <a:normAutofit/>
          </a:bodyPr>
          <a:lstStyle/>
          <a:p>
            <a:r>
              <a:rPr lang="fr-CA" dirty="0"/>
              <a:t>Obligations à échéance unique et échéant en série</a:t>
            </a:r>
          </a:p>
          <a:p>
            <a:pPr lvl="1"/>
            <a:r>
              <a:rPr lang="fr-CA" dirty="0"/>
              <a:t>À échéance unique ou obligations à terme</a:t>
            </a:r>
          </a:p>
          <a:p>
            <a:pPr lvl="2"/>
            <a:r>
              <a:rPr lang="fr-CA" dirty="0"/>
              <a:t>Une seule date d’échéance</a:t>
            </a:r>
          </a:p>
          <a:p>
            <a:pPr lvl="1"/>
            <a:r>
              <a:rPr lang="fr-CA" dirty="0"/>
              <a:t>Échéant en série ou échéant par tranches</a:t>
            </a:r>
          </a:p>
          <a:p>
            <a:pPr lvl="2"/>
            <a:r>
              <a:rPr lang="fr-CA" dirty="0"/>
              <a:t>Remboursables par versements périodiques qui s’échelonnent sur la durée des obligations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87</a:t>
            </a:fld>
            <a:endParaRPr lang="fr-FR"/>
          </a:p>
        </p:txBody>
      </p:sp>
      <p:sp>
        <p:nvSpPr>
          <p:cNvPr id="5" name="Espace réservé du pied de page 4">
            <a:extLst>
              <a:ext uri="{FF2B5EF4-FFF2-40B4-BE49-F238E27FC236}">
                <a16:creationId xmlns:a16="http://schemas.microsoft.com/office/drawing/2014/main" id="{0F1F7216-EF1C-410C-9147-81318A860B4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2916688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CA" sz="3600" dirty="0"/>
              <a:t>Caractéristiques des emprunts obligataires</a:t>
            </a:r>
          </a:p>
        </p:txBody>
      </p:sp>
      <p:sp>
        <p:nvSpPr>
          <p:cNvPr id="3" name="Espace réservé du contenu 2"/>
          <p:cNvSpPr>
            <a:spLocks noGrp="1"/>
          </p:cNvSpPr>
          <p:nvPr>
            <p:ph idx="1"/>
          </p:nvPr>
        </p:nvSpPr>
        <p:spPr>
          <a:xfrm>
            <a:off x="838200" y="1714501"/>
            <a:ext cx="10515600" cy="4411663"/>
          </a:xfrm>
        </p:spPr>
        <p:txBody>
          <a:bodyPr>
            <a:normAutofit/>
          </a:bodyPr>
          <a:lstStyle/>
          <a:p>
            <a:r>
              <a:rPr lang="fr-CA" dirty="0"/>
              <a:t>Obligations remboursables par anticipation et encaissables par anticipation</a:t>
            </a:r>
          </a:p>
          <a:p>
            <a:pPr lvl="1"/>
            <a:r>
              <a:rPr lang="fr-CA" dirty="0"/>
              <a:t>Remboursables par anticipation</a:t>
            </a:r>
          </a:p>
          <a:p>
            <a:pPr lvl="2"/>
            <a:r>
              <a:rPr lang="fr-CA" dirty="0"/>
              <a:t>Par l’entreprise</a:t>
            </a:r>
          </a:p>
          <a:p>
            <a:pPr lvl="2"/>
            <a:r>
              <a:rPr lang="fr-CA" dirty="0"/>
              <a:t>Habituellement à un prix supérieur à la valeur nominale (coût additionnel)</a:t>
            </a:r>
          </a:p>
          <a:p>
            <a:pPr lvl="1"/>
            <a:r>
              <a:rPr lang="fr-CA" dirty="0"/>
              <a:t>Encaissables par anticipation</a:t>
            </a:r>
          </a:p>
          <a:p>
            <a:pPr lvl="2"/>
            <a:r>
              <a:rPr lang="fr-CA" dirty="0"/>
              <a:t>Par l’obligataire (détenteur)</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88</a:t>
            </a:fld>
            <a:endParaRPr lang="fr-FR"/>
          </a:p>
        </p:txBody>
      </p:sp>
      <p:sp>
        <p:nvSpPr>
          <p:cNvPr id="5" name="Espace réservé du pied de page 4">
            <a:extLst>
              <a:ext uri="{FF2B5EF4-FFF2-40B4-BE49-F238E27FC236}">
                <a16:creationId xmlns:a16="http://schemas.microsoft.com/office/drawing/2014/main" id="{DAB4F96E-BB2A-4B30-8350-E9252288362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5139492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CA" sz="3600" dirty="0"/>
              <a:t>Caractéristiques des emprunts obligataires</a:t>
            </a:r>
          </a:p>
        </p:txBody>
      </p:sp>
      <p:sp>
        <p:nvSpPr>
          <p:cNvPr id="3" name="Espace réservé du contenu 2"/>
          <p:cNvSpPr>
            <a:spLocks noGrp="1"/>
          </p:cNvSpPr>
          <p:nvPr>
            <p:ph idx="1"/>
          </p:nvPr>
        </p:nvSpPr>
        <p:spPr>
          <a:xfrm>
            <a:off x="838200" y="1714501"/>
            <a:ext cx="10515600" cy="4411663"/>
          </a:xfrm>
        </p:spPr>
        <p:txBody>
          <a:bodyPr>
            <a:normAutofit/>
          </a:bodyPr>
          <a:lstStyle/>
          <a:p>
            <a:r>
              <a:rPr lang="fr-CA" dirty="0"/>
              <a:t>Obligations convertibles</a:t>
            </a:r>
          </a:p>
          <a:p>
            <a:pPr lvl="1"/>
            <a:r>
              <a:rPr lang="fr-CA" dirty="0"/>
              <a:t>Privilège de conversion</a:t>
            </a:r>
          </a:p>
          <a:p>
            <a:pPr lvl="2"/>
            <a:r>
              <a:rPr lang="fr-CA" dirty="0"/>
              <a:t>Habituellement en actions ordinaires</a:t>
            </a:r>
          </a:p>
          <a:p>
            <a:pPr lvl="2"/>
            <a:r>
              <a:rPr lang="fr-CA" dirty="0"/>
              <a:t>Période de conversion peut être restreinte</a:t>
            </a:r>
          </a:p>
          <a:p>
            <a:pPr lvl="2"/>
            <a:r>
              <a:rPr lang="fr-CA" dirty="0"/>
              <a:t>Valeur accordée au privilège de conversion – réduit le taux d’intérêt offert sur l’obligation</a:t>
            </a:r>
          </a:p>
          <a:p>
            <a:pPr marL="914400" lvl="2" indent="0">
              <a:buNone/>
            </a:pPr>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89</a:t>
            </a:fld>
            <a:endParaRPr lang="fr-FR"/>
          </a:p>
        </p:txBody>
      </p:sp>
      <p:sp>
        <p:nvSpPr>
          <p:cNvPr id="5" name="Espace réservé du pied de page 4">
            <a:extLst>
              <a:ext uri="{FF2B5EF4-FFF2-40B4-BE49-F238E27FC236}">
                <a16:creationId xmlns:a16="http://schemas.microsoft.com/office/drawing/2014/main" id="{869D7F97-9636-433F-850D-058D902F2C7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5329710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Émission d’obligations</a:t>
            </a:r>
          </a:p>
        </p:txBody>
      </p:sp>
      <p:sp>
        <p:nvSpPr>
          <p:cNvPr id="3" name="Espace réservé du contenu 2"/>
          <p:cNvSpPr>
            <a:spLocks noGrp="1"/>
          </p:cNvSpPr>
          <p:nvPr>
            <p:ph idx="1"/>
          </p:nvPr>
        </p:nvSpPr>
        <p:spPr>
          <a:xfrm>
            <a:off x="838200" y="1417638"/>
            <a:ext cx="10515600" cy="4800282"/>
          </a:xfrm>
        </p:spPr>
        <p:txBody>
          <a:bodyPr>
            <a:normAutofit fontScale="70000" lnSpcReduction="20000"/>
          </a:bodyPr>
          <a:lstStyle/>
          <a:p>
            <a:r>
              <a:rPr lang="fr-CA" sz="3800" dirty="0"/>
              <a:t>Émission publique</a:t>
            </a:r>
          </a:p>
          <a:p>
            <a:pPr lvl="1"/>
            <a:r>
              <a:rPr lang="fr-CA" sz="3400" dirty="0"/>
              <a:t>Autorité des marchés financiers</a:t>
            </a:r>
          </a:p>
          <a:p>
            <a:pPr lvl="2"/>
            <a:r>
              <a:rPr lang="fr-CA" sz="2900" dirty="0"/>
              <a:t>Prospectus d’information : implication des avocats et des comptable</a:t>
            </a:r>
            <a:r>
              <a:rPr lang="fr-CA" sz="2600" dirty="0"/>
              <a:t>s</a:t>
            </a:r>
          </a:p>
          <a:p>
            <a:pPr lvl="1"/>
            <a:r>
              <a:rPr lang="fr-CA" sz="3400" dirty="0"/>
              <a:t>Fiduciaire : représente et protège les obligataires et s’assure que l’entreprise respecte l’acte de fiducie</a:t>
            </a:r>
          </a:p>
          <a:p>
            <a:pPr marL="914400" lvl="2" indent="0">
              <a:buNone/>
            </a:pPr>
            <a:endParaRPr lang="fr-CA" sz="2600" dirty="0"/>
          </a:p>
          <a:p>
            <a:pPr marL="720725" lvl="2" indent="-366713"/>
            <a:r>
              <a:rPr lang="fr-CA" sz="3400" dirty="0"/>
              <a:t>Risque lié à la vente des obligations </a:t>
            </a:r>
            <a:r>
              <a:rPr lang="fr-CA" sz="2600" dirty="0"/>
              <a:t>:</a:t>
            </a:r>
          </a:p>
          <a:p>
            <a:pPr marL="1165225" lvl="3" indent="-273050"/>
            <a:r>
              <a:rPr lang="fr-CA" sz="3400" dirty="0"/>
              <a:t>Preneur ferme (ou souscripteur à forfait) : se porte acquéreur de l’émission moyennant une commission</a:t>
            </a:r>
          </a:p>
          <a:p>
            <a:pPr marL="1611313" lvl="4" indent="-261938"/>
            <a:r>
              <a:rPr lang="fr-CA" sz="3200" dirty="0"/>
              <a:t>Syndicat financier : groupe du plusieurs preneurs fermes</a:t>
            </a:r>
          </a:p>
          <a:p>
            <a:pPr marL="1165225" lvl="3" indent="-273050"/>
            <a:r>
              <a:rPr lang="fr-CA" sz="3400" dirty="0"/>
              <a:t>Souscripteurs à commissions : reçoivent une commission selon le nombre  d’obligations vendues</a:t>
            </a:r>
          </a:p>
          <a:p>
            <a:pPr marL="1622425" lvl="4" indent="-273050"/>
            <a:r>
              <a:rPr lang="fr-CA" sz="3200" dirty="0"/>
              <a:t>Risque que des obligations ne soient pas vendues – financement incomplet</a:t>
            </a:r>
          </a:p>
          <a:p>
            <a:pPr marL="892175" lvl="3" indent="0">
              <a:buNone/>
            </a:pPr>
            <a:endParaRPr lang="fr-CA" sz="1100" dirty="0"/>
          </a:p>
          <a:p>
            <a:r>
              <a:rPr lang="fr-CA" sz="3800" dirty="0"/>
              <a:t>Émission pri</a:t>
            </a:r>
            <a:r>
              <a:rPr lang="fr-CA" sz="3400" dirty="0"/>
              <a:t>vée</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90</a:t>
            </a:fld>
            <a:endParaRPr lang="fr-FR"/>
          </a:p>
        </p:txBody>
      </p:sp>
      <p:sp>
        <p:nvSpPr>
          <p:cNvPr id="5" name="Espace réservé du pied de page 4">
            <a:extLst>
              <a:ext uri="{FF2B5EF4-FFF2-40B4-BE49-F238E27FC236}">
                <a16:creationId xmlns:a16="http://schemas.microsoft.com/office/drawing/2014/main" id="{EB50E94A-C3FD-4FAB-8C40-2E414A76530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70762272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Émission d’obligations</a:t>
            </a:r>
          </a:p>
        </p:txBody>
      </p:sp>
      <p:sp>
        <p:nvSpPr>
          <p:cNvPr id="3" name="Espace réservé du contenu 2"/>
          <p:cNvSpPr>
            <a:spLocks noGrp="1"/>
          </p:cNvSpPr>
          <p:nvPr>
            <p:ph idx="1"/>
          </p:nvPr>
        </p:nvSpPr>
        <p:spPr/>
        <p:txBody>
          <a:bodyPr>
            <a:normAutofit/>
          </a:bodyPr>
          <a:lstStyle/>
          <a:p>
            <a:r>
              <a:rPr lang="fr-CA" dirty="0"/>
              <a:t>Moment de la comptabilisation</a:t>
            </a:r>
          </a:p>
          <a:p>
            <a:pPr lvl="1"/>
            <a:r>
              <a:rPr lang="fr-CA" dirty="0"/>
              <a:t>Si preneur ferme : dès le transfert au preneur ferme</a:t>
            </a:r>
          </a:p>
          <a:p>
            <a:pPr lvl="1"/>
            <a:r>
              <a:rPr lang="fr-CA" dirty="0"/>
              <a:t>Si souscripteurs à commissions : lors de la vente des obligations aux investisseurs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91</a:t>
            </a:fld>
            <a:endParaRPr lang="fr-FR"/>
          </a:p>
        </p:txBody>
      </p:sp>
      <p:sp>
        <p:nvSpPr>
          <p:cNvPr id="5" name="Espace réservé du pied de page 4">
            <a:extLst>
              <a:ext uri="{FF2B5EF4-FFF2-40B4-BE49-F238E27FC236}">
                <a16:creationId xmlns:a16="http://schemas.microsoft.com/office/drawing/2014/main" id="{AFB4EB0E-DB0B-4E0A-8984-2C34562392C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9630506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t>Détermination du prix d’émission</a:t>
            </a:r>
          </a:p>
        </p:txBody>
      </p:sp>
      <p:sp>
        <p:nvSpPr>
          <p:cNvPr id="3" name="Espace réservé du contenu 2"/>
          <p:cNvSpPr>
            <a:spLocks noGrp="1"/>
          </p:cNvSpPr>
          <p:nvPr>
            <p:ph idx="1"/>
          </p:nvPr>
        </p:nvSpPr>
        <p:spPr/>
        <p:txBody>
          <a:bodyPr/>
          <a:lstStyle/>
          <a:p>
            <a:pPr marL="0" indent="0">
              <a:buNone/>
            </a:pPr>
            <a:r>
              <a:rPr lang="fr-CA" dirty="0"/>
              <a:t>Les emprunts obligataires sont des passifs financiers</a:t>
            </a:r>
          </a:p>
          <a:p>
            <a:pPr lvl="1"/>
            <a:r>
              <a:rPr lang="fr-CA" dirty="0"/>
              <a:t>Comptabilisation initiale : à la juste valeur</a:t>
            </a:r>
          </a:p>
          <a:p>
            <a:pPr lvl="2"/>
            <a:r>
              <a:rPr lang="fr-CA" dirty="0"/>
              <a:t>Valeur actualisée des intérêts périodiques et du principal</a:t>
            </a:r>
          </a:p>
          <a:p>
            <a:pPr lvl="3"/>
            <a:r>
              <a:rPr lang="fr-CA" dirty="0"/>
              <a:t>Contrepartie reçue</a:t>
            </a:r>
          </a:p>
          <a:p>
            <a:pPr lvl="3"/>
            <a:r>
              <a:rPr lang="fr-CA" dirty="0"/>
              <a:t>Intérêts : selon le taux contractuel</a:t>
            </a:r>
          </a:p>
          <a:p>
            <a:pPr lvl="3"/>
            <a:r>
              <a:rPr lang="fr-CA" dirty="0"/>
              <a:t>Taux d’actualisation : taux du marché pour mêmes risques et échéances</a:t>
            </a:r>
          </a:p>
          <a:p>
            <a:pPr lvl="3"/>
            <a:r>
              <a:rPr lang="fr-CA" dirty="0"/>
              <a:t>Émission au pair, à escompte ou à prime : fonction du taux contractuel c. taux du marché</a:t>
            </a:r>
          </a:p>
          <a:p>
            <a:pPr lvl="1"/>
            <a:r>
              <a:rPr lang="fr-CA" dirty="0"/>
              <a:t>Comptabilisation subséquente : au coût amorti</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92</a:t>
            </a:fld>
            <a:endParaRPr lang="fr-FR"/>
          </a:p>
        </p:txBody>
      </p:sp>
      <p:sp>
        <p:nvSpPr>
          <p:cNvPr id="5" name="Espace réservé du pied de page 4">
            <a:extLst>
              <a:ext uri="{FF2B5EF4-FFF2-40B4-BE49-F238E27FC236}">
                <a16:creationId xmlns:a16="http://schemas.microsoft.com/office/drawing/2014/main" id="{7B1A1F0A-A26B-4E4E-9405-ED15A6C6C84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8493144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Détermination du prix d’émission</a:t>
            </a:r>
          </a:p>
        </p:txBody>
      </p:sp>
      <p:sp>
        <p:nvSpPr>
          <p:cNvPr id="3" name="Espace réservé du contenu 2"/>
          <p:cNvSpPr>
            <a:spLocks noGrp="1"/>
          </p:cNvSpPr>
          <p:nvPr>
            <p:ph idx="1"/>
          </p:nvPr>
        </p:nvSpPr>
        <p:spPr/>
        <p:txBody>
          <a:bodyPr/>
          <a:lstStyle/>
          <a:p>
            <a:r>
              <a:rPr lang="fr-CA" dirty="0"/>
              <a:t>Les obligations émises entre deux dates de paiement des intérêts</a:t>
            </a:r>
          </a:p>
          <a:p>
            <a:pPr lvl="1"/>
            <a:r>
              <a:rPr lang="fr-CA" dirty="0"/>
              <a:t>On doit ajouter au prix des obligations émises les intérêts courus depuis la dernière date de paiement des intérêts</a:t>
            </a:r>
            <a:endParaRPr lang="fr-CA" sz="2800" dirty="0"/>
          </a:p>
          <a:p>
            <a:endParaRPr lang="fr-CA" sz="2400" dirty="0"/>
          </a:p>
          <a:p>
            <a:r>
              <a:rPr lang="fr-CA" dirty="0"/>
              <a:t>Évaluation de crédit</a:t>
            </a:r>
          </a:p>
          <a:p>
            <a:pPr lvl="1"/>
            <a:r>
              <a:rPr lang="fr-CA" dirty="0"/>
              <a:t>Les agences de notation</a:t>
            </a:r>
          </a:p>
          <a:p>
            <a:pPr lvl="2"/>
            <a:r>
              <a:rPr lang="fr-CA" dirty="0"/>
              <a:t>Cote est leur appréciation du risque de l’émission : impact sur le taux de rendement exigé par les investisseurs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93</a:t>
            </a:fld>
            <a:endParaRPr lang="fr-FR"/>
          </a:p>
        </p:txBody>
      </p:sp>
      <p:sp>
        <p:nvSpPr>
          <p:cNvPr id="5" name="Espace réservé du pied de page 4">
            <a:extLst>
              <a:ext uri="{FF2B5EF4-FFF2-40B4-BE49-F238E27FC236}">
                <a16:creationId xmlns:a16="http://schemas.microsoft.com/office/drawing/2014/main" id="{19A17F0A-2BCC-4FE6-AFB2-3D0CBD37DBE8}"/>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6982969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t>Traitement comptable des obligations évaluées au coût amorti</a:t>
            </a:r>
            <a:endParaRPr lang="fr-CA" dirty="0"/>
          </a:p>
        </p:txBody>
      </p:sp>
      <p:sp>
        <p:nvSpPr>
          <p:cNvPr id="3" name="Espace réservé du contenu 2"/>
          <p:cNvSpPr>
            <a:spLocks noGrp="1"/>
          </p:cNvSpPr>
          <p:nvPr>
            <p:ph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94</a:t>
            </a:fld>
            <a:endParaRPr lang="fr-FR"/>
          </a:p>
        </p:txBody>
      </p:sp>
      <p:sp>
        <p:nvSpPr>
          <p:cNvPr id="5" name="Espace réservé du pied de page 4">
            <a:extLst>
              <a:ext uri="{FF2B5EF4-FFF2-40B4-BE49-F238E27FC236}">
                <a16:creationId xmlns:a16="http://schemas.microsoft.com/office/drawing/2014/main" id="{1C658A0D-4A88-4D83-B00F-F98B974C68C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230026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Émission à la valeur nominale (au pair)</a:t>
            </a:r>
          </a:p>
        </p:txBody>
      </p:sp>
      <p:sp>
        <p:nvSpPr>
          <p:cNvPr id="3" name="Espace réservé du contenu 2"/>
          <p:cNvSpPr>
            <a:spLocks noGrp="1"/>
          </p:cNvSpPr>
          <p:nvPr>
            <p:ph idx="1"/>
          </p:nvPr>
        </p:nvSpPr>
        <p:spPr/>
        <p:txBody>
          <a:bodyPr/>
          <a:lstStyle/>
          <a:p>
            <a:pPr marL="0" indent="0">
              <a:buNone/>
            </a:pPr>
            <a:r>
              <a:rPr lang="fr-CA" dirty="0"/>
              <a:t>Caisse</a:t>
            </a:r>
          </a:p>
          <a:p>
            <a:pPr marL="0" indent="0">
              <a:buNone/>
            </a:pPr>
            <a:r>
              <a:rPr lang="fr-CA" dirty="0"/>
              <a:t>@  Emprunt obligataire</a:t>
            </a:r>
          </a:p>
          <a:p>
            <a:pPr marL="0" indent="0">
              <a:buNone/>
            </a:pPr>
            <a:endParaRPr lang="fr-CA" dirty="0"/>
          </a:p>
          <a:p>
            <a:pPr marL="0" indent="0">
              <a:buNone/>
            </a:pPr>
            <a:r>
              <a:rPr lang="fr-CA" dirty="0"/>
              <a:t>Intérêts sur emprunt obligataire</a:t>
            </a:r>
          </a:p>
          <a:p>
            <a:pPr marL="0" indent="0">
              <a:buNone/>
            </a:pPr>
            <a:r>
              <a:rPr lang="fr-CA" dirty="0"/>
              <a:t>@  Caisse</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95</a:t>
            </a:fld>
            <a:endParaRPr lang="fr-FR"/>
          </a:p>
        </p:txBody>
      </p:sp>
      <p:sp>
        <p:nvSpPr>
          <p:cNvPr id="5" name="Espace réservé du pied de page 4">
            <a:extLst>
              <a:ext uri="{FF2B5EF4-FFF2-40B4-BE49-F238E27FC236}">
                <a16:creationId xmlns:a16="http://schemas.microsoft.com/office/drawing/2014/main" id="{13F50AEA-A933-4303-9E61-7DBBDD84B668}"/>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8816791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Émission à escompte</a:t>
            </a:r>
          </a:p>
        </p:txBody>
      </p:sp>
      <p:sp>
        <p:nvSpPr>
          <p:cNvPr id="3" name="Espace réservé du contenu 2"/>
          <p:cNvSpPr>
            <a:spLocks noGrp="1"/>
          </p:cNvSpPr>
          <p:nvPr>
            <p:ph idx="1"/>
          </p:nvPr>
        </p:nvSpPr>
        <p:spPr/>
        <p:txBody>
          <a:bodyPr>
            <a:normAutofit lnSpcReduction="10000"/>
          </a:bodyPr>
          <a:lstStyle/>
          <a:p>
            <a:pPr marL="0" indent="0">
              <a:buNone/>
            </a:pPr>
            <a:r>
              <a:rPr lang="fr-CA" dirty="0"/>
              <a:t>Caisse</a:t>
            </a:r>
          </a:p>
          <a:p>
            <a:pPr marL="0" indent="0">
              <a:buNone/>
            </a:pPr>
            <a:r>
              <a:rPr lang="fr-CA" dirty="0"/>
              <a:t>@  Emprunt obligataire</a:t>
            </a:r>
          </a:p>
          <a:p>
            <a:pPr marL="0" indent="0">
              <a:buNone/>
            </a:pPr>
            <a:r>
              <a:rPr lang="fr-CA" i="1" dirty="0"/>
              <a:t>(Montant inférieur à la valeur nominale)</a:t>
            </a:r>
          </a:p>
          <a:p>
            <a:pPr marL="0" indent="0">
              <a:buNone/>
            </a:pPr>
            <a:endParaRPr lang="fr-CA" dirty="0"/>
          </a:p>
          <a:p>
            <a:pPr marL="0" indent="0">
              <a:buNone/>
            </a:pPr>
            <a:r>
              <a:rPr lang="fr-CA" dirty="0"/>
              <a:t>Intérêts sur emprunt obligataire</a:t>
            </a:r>
          </a:p>
          <a:p>
            <a:pPr marL="0" indent="0">
              <a:buNone/>
            </a:pPr>
            <a:r>
              <a:rPr lang="fr-CA" dirty="0"/>
              <a:t>@  Caisse</a:t>
            </a:r>
          </a:p>
          <a:p>
            <a:pPr marL="0" indent="0">
              <a:buNone/>
            </a:pPr>
            <a:r>
              <a:rPr lang="fr-CA" dirty="0"/>
              <a:t>       Emprunt obligataire</a:t>
            </a:r>
          </a:p>
          <a:p>
            <a:pPr marL="0" indent="0">
              <a:buNone/>
            </a:pPr>
            <a:r>
              <a:rPr lang="fr-CA" i="1" dirty="0"/>
              <a:t>(Charge d’intérêts calculée selon valeur comptable * taux effectif)</a:t>
            </a:r>
          </a:p>
          <a:p>
            <a:pPr marL="0" indent="0">
              <a:buNone/>
            </a:pPr>
            <a:r>
              <a:rPr lang="fr-CA" i="1" dirty="0"/>
              <a:t>(Montant Caisse calculé selon valeur nominale * taux contractuel)</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96</a:t>
            </a:fld>
            <a:endParaRPr lang="fr-FR"/>
          </a:p>
        </p:txBody>
      </p:sp>
      <p:sp>
        <p:nvSpPr>
          <p:cNvPr id="5" name="Espace réservé du pied de page 4">
            <a:extLst>
              <a:ext uri="{FF2B5EF4-FFF2-40B4-BE49-F238E27FC236}">
                <a16:creationId xmlns:a16="http://schemas.microsoft.com/office/drawing/2014/main" id="{1703E0D8-C501-4AFD-8D0F-9D57D0455BE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9244906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Émission à prime</a:t>
            </a:r>
          </a:p>
        </p:txBody>
      </p:sp>
      <p:sp>
        <p:nvSpPr>
          <p:cNvPr id="3" name="Espace réservé du contenu 2"/>
          <p:cNvSpPr>
            <a:spLocks noGrp="1"/>
          </p:cNvSpPr>
          <p:nvPr>
            <p:ph idx="1"/>
          </p:nvPr>
        </p:nvSpPr>
        <p:spPr/>
        <p:txBody>
          <a:bodyPr>
            <a:normAutofit lnSpcReduction="10000"/>
          </a:bodyPr>
          <a:lstStyle/>
          <a:p>
            <a:pPr marL="0" indent="0">
              <a:buNone/>
            </a:pPr>
            <a:r>
              <a:rPr lang="fr-CA" dirty="0"/>
              <a:t>Caisse</a:t>
            </a:r>
          </a:p>
          <a:p>
            <a:pPr marL="0" indent="0">
              <a:buNone/>
            </a:pPr>
            <a:r>
              <a:rPr lang="fr-CA" dirty="0"/>
              <a:t>@  Emprunt obligataire</a:t>
            </a:r>
          </a:p>
          <a:p>
            <a:pPr marL="0" indent="0">
              <a:buNone/>
            </a:pPr>
            <a:r>
              <a:rPr lang="fr-CA" i="1" dirty="0"/>
              <a:t>(Montant supérieur à la valeur nominale)</a:t>
            </a:r>
          </a:p>
          <a:p>
            <a:pPr marL="0" indent="0">
              <a:buNone/>
            </a:pPr>
            <a:endParaRPr lang="fr-CA" dirty="0"/>
          </a:p>
          <a:p>
            <a:pPr marL="0" indent="0">
              <a:buNone/>
            </a:pPr>
            <a:r>
              <a:rPr lang="fr-CA" dirty="0"/>
              <a:t>Intérêts sur emprunt obligataire</a:t>
            </a:r>
          </a:p>
          <a:p>
            <a:pPr marL="0" indent="0">
              <a:buNone/>
            </a:pPr>
            <a:r>
              <a:rPr lang="fr-CA" dirty="0"/>
              <a:t>Emprunt obligataire</a:t>
            </a:r>
          </a:p>
          <a:p>
            <a:pPr marL="0" indent="0">
              <a:buNone/>
            </a:pPr>
            <a:r>
              <a:rPr lang="fr-CA" dirty="0"/>
              <a:t>@  Caisse</a:t>
            </a:r>
          </a:p>
          <a:p>
            <a:pPr marL="0" indent="0">
              <a:buNone/>
            </a:pPr>
            <a:r>
              <a:rPr lang="fr-CA" i="1" dirty="0"/>
              <a:t>(Charge d’intérêts calculée selon valeur comptable * taux effectif)</a:t>
            </a:r>
          </a:p>
          <a:p>
            <a:pPr marL="0" indent="0">
              <a:buNone/>
            </a:pPr>
            <a:r>
              <a:rPr lang="fr-CA" i="1" dirty="0"/>
              <a:t>(Montant Caisse calculé selon valeur nominale * taux contractuel)</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97</a:t>
            </a:fld>
            <a:endParaRPr lang="fr-FR"/>
          </a:p>
        </p:txBody>
      </p:sp>
      <p:sp>
        <p:nvSpPr>
          <p:cNvPr id="5" name="Espace réservé du pied de page 4">
            <a:extLst>
              <a:ext uri="{FF2B5EF4-FFF2-40B4-BE49-F238E27FC236}">
                <a16:creationId xmlns:a16="http://schemas.microsoft.com/office/drawing/2014/main" id="{5674AC2A-EFA9-4C7B-94E2-990C9FB7382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474103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Exemples</a:t>
            </a:r>
          </a:p>
        </p:txBody>
      </p:sp>
      <p:sp>
        <p:nvSpPr>
          <p:cNvPr id="3" name="Espace réservé du contenu 2"/>
          <p:cNvSpPr>
            <a:spLocks noGrp="1"/>
          </p:cNvSpPr>
          <p:nvPr>
            <p:ph idx="1"/>
          </p:nvPr>
        </p:nvSpPr>
        <p:spPr/>
        <p:txBody>
          <a:bodyPr>
            <a:normAutofit/>
          </a:bodyPr>
          <a:lstStyle/>
          <a:p>
            <a:pPr marL="0" indent="0">
              <a:buNone/>
            </a:pPr>
            <a:r>
              <a:rPr lang="fr-CA" dirty="0"/>
              <a:t>Émission de 500 000 $</a:t>
            </a:r>
          </a:p>
          <a:p>
            <a:pPr marL="0" indent="0">
              <a:buNone/>
            </a:pPr>
            <a:r>
              <a:rPr lang="fr-CA" dirty="0"/>
              <a:t>Échéance 4 ans</a:t>
            </a:r>
          </a:p>
          <a:p>
            <a:pPr marL="0" indent="0">
              <a:buNone/>
            </a:pPr>
            <a:r>
              <a:rPr lang="fr-CA" dirty="0"/>
              <a:t>Taux contractuel : 10 %, base annuelle</a:t>
            </a:r>
          </a:p>
          <a:p>
            <a:pPr marL="0" indent="0">
              <a:buNone/>
            </a:pPr>
            <a:endParaRPr lang="fr-CA" dirty="0"/>
          </a:p>
          <a:p>
            <a:pPr marL="514350" indent="-514350">
              <a:buAutoNum type="alphaLcParenR"/>
            </a:pPr>
            <a:r>
              <a:rPr lang="fr-CA" dirty="0"/>
              <a:t>Taux marché : 8 %</a:t>
            </a:r>
          </a:p>
          <a:p>
            <a:pPr marL="514350" indent="-514350">
              <a:buAutoNum type="alphaLcParenR"/>
            </a:pPr>
            <a:r>
              <a:rPr lang="fr-CA" dirty="0"/>
              <a:t>Taux marché : 13 %</a:t>
            </a:r>
          </a:p>
          <a:p>
            <a:pPr marL="914400" lvl="1" indent="-514350">
              <a:buFont typeface="Wingdings" panose="05000000000000000000" pitchFamily="2" charset="2"/>
              <a:buChar char="Ø"/>
            </a:pPr>
            <a:r>
              <a:rPr lang="fr-CA" dirty="0"/>
              <a:t>Préparez le tableau d’amortissement de la dette</a:t>
            </a:r>
          </a:p>
          <a:p>
            <a:pPr marL="914400" lvl="1" indent="-514350">
              <a:buFont typeface="Wingdings" panose="05000000000000000000" pitchFamily="2" charset="2"/>
              <a:buChar char="Ø"/>
            </a:pPr>
            <a:r>
              <a:rPr lang="fr-CA" dirty="0"/>
              <a:t>Ainsi que les écritures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98</a:t>
            </a:fld>
            <a:endParaRPr lang="fr-FR"/>
          </a:p>
        </p:txBody>
      </p:sp>
      <p:sp>
        <p:nvSpPr>
          <p:cNvPr id="5" name="Espace réservé du pied de page 4">
            <a:extLst>
              <a:ext uri="{FF2B5EF4-FFF2-40B4-BE49-F238E27FC236}">
                <a16:creationId xmlns:a16="http://schemas.microsoft.com/office/drawing/2014/main" id="{26BD1C9A-8331-4642-8EB5-CC2C723EBB1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7745474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59785"/>
          </a:xfrm>
        </p:spPr>
        <p:txBody>
          <a:bodyPr>
            <a:normAutofit fontScale="90000"/>
          </a:bodyPr>
          <a:lstStyle/>
          <a:p>
            <a:r>
              <a:rPr lang="fr-CA" dirty="0"/>
              <a:t>Solution a) Taux marché : 8 %</a:t>
            </a:r>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99</a:t>
            </a:fld>
            <a:endParaRPr lang="fr-FR"/>
          </a:p>
        </p:txBody>
      </p:sp>
      <p:graphicFrame>
        <p:nvGraphicFramePr>
          <p:cNvPr id="7" name="Objet 6"/>
          <p:cNvGraphicFramePr>
            <a:graphicFrameLocks noChangeAspect="1"/>
          </p:cNvGraphicFramePr>
          <p:nvPr/>
        </p:nvGraphicFramePr>
        <p:xfrm>
          <a:off x="1981200" y="1677352"/>
          <a:ext cx="8126730" cy="956086"/>
        </p:xfrm>
        <a:graphic>
          <a:graphicData uri="http://schemas.openxmlformats.org/presentationml/2006/ole">
            <mc:AlternateContent xmlns:mc="http://schemas.openxmlformats.org/markup-compatibility/2006">
              <mc:Choice xmlns:v="urn:schemas-microsoft-com:vml" Requires="v">
                <p:oleObj name="Feuille de calcul" r:id="rId2" imgW="5343371" imgH="628650" progId="Excel.Sheet.12">
                  <p:embed/>
                </p:oleObj>
              </mc:Choice>
              <mc:Fallback>
                <p:oleObj name="Feuille de calcul" r:id="rId2" imgW="5343371" imgH="628650" progId="Excel.Sheet.12">
                  <p:embed/>
                  <p:pic>
                    <p:nvPicPr>
                      <p:cNvPr id="7" name="Objet 6"/>
                      <p:cNvPicPr/>
                      <p:nvPr/>
                    </p:nvPicPr>
                    <p:blipFill>
                      <a:blip r:embed="rId3"/>
                      <a:stretch>
                        <a:fillRect/>
                      </a:stretch>
                    </p:blipFill>
                    <p:spPr>
                      <a:xfrm>
                        <a:off x="1981200" y="1677352"/>
                        <a:ext cx="8126730" cy="956086"/>
                      </a:xfrm>
                      <a:prstGeom prst="rect">
                        <a:avLst/>
                      </a:prstGeom>
                    </p:spPr>
                  </p:pic>
                </p:oleObj>
              </mc:Fallback>
            </mc:AlternateContent>
          </a:graphicData>
        </a:graphic>
      </p:graphicFrame>
      <p:graphicFrame>
        <p:nvGraphicFramePr>
          <p:cNvPr id="8" name="Objet 7"/>
          <p:cNvGraphicFramePr>
            <a:graphicFrameLocks noChangeAspect="1"/>
          </p:cNvGraphicFramePr>
          <p:nvPr/>
        </p:nvGraphicFramePr>
        <p:xfrm>
          <a:off x="2152650" y="2977515"/>
          <a:ext cx="7086600" cy="3100388"/>
        </p:xfrm>
        <a:graphic>
          <a:graphicData uri="http://schemas.openxmlformats.org/presentationml/2006/ole">
            <mc:AlternateContent xmlns:mc="http://schemas.openxmlformats.org/markup-compatibility/2006">
              <mc:Choice xmlns:v="urn:schemas-microsoft-com:vml" Requires="v">
                <p:oleObj name="Feuille de calcul" r:id="rId4" imgW="2743200" imgH="1200150" progId="Excel.Sheet.12">
                  <p:embed/>
                </p:oleObj>
              </mc:Choice>
              <mc:Fallback>
                <p:oleObj name="Feuille de calcul" r:id="rId4" imgW="2743200" imgH="1200150" progId="Excel.Sheet.12">
                  <p:embed/>
                  <p:pic>
                    <p:nvPicPr>
                      <p:cNvPr id="8" name="Objet 7"/>
                      <p:cNvPicPr/>
                      <p:nvPr/>
                    </p:nvPicPr>
                    <p:blipFill>
                      <a:blip r:embed="rId5"/>
                      <a:stretch>
                        <a:fillRect/>
                      </a:stretch>
                    </p:blipFill>
                    <p:spPr>
                      <a:xfrm>
                        <a:off x="2152650" y="2977515"/>
                        <a:ext cx="7086600" cy="3100388"/>
                      </a:xfrm>
                      <a:prstGeom prst="rect">
                        <a:avLst/>
                      </a:prstGeom>
                    </p:spPr>
                  </p:pic>
                </p:oleObj>
              </mc:Fallback>
            </mc:AlternateContent>
          </a:graphicData>
        </a:graphic>
      </p:graphicFrame>
      <p:sp>
        <p:nvSpPr>
          <p:cNvPr id="5" name="Espace réservé du pied de page 4">
            <a:extLst>
              <a:ext uri="{FF2B5EF4-FFF2-40B4-BE49-F238E27FC236}">
                <a16:creationId xmlns:a16="http://schemas.microsoft.com/office/drawing/2014/main" id="{A786AAFE-8BBB-4F8E-B8A9-8A57BD5D1A1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9717875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85909"/>
          </a:xfrm>
        </p:spPr>
        <p:txBody>
          <a:bodyPr>
            <a:normAutofit fontScale="90000"/>
          </a:bodyPr>
          <a:lstStyle/>
          <a:p>
            <a:r>
              <a:rPr lang="fr-CA" dirty="0"/>
              <a:t>Solution a) Taux marché : 8 %</a:t>
            </a:r>
          </a:p>
        </p:txBody>
      </p:sp>
      <p:sp>
        <p:nvSpPr>
          <p:cNvPr id="3" name="Espace réservé du contenu 2"/>
          <p:cNvSpPr>
            <a:spLocks noGrp="1"/>
          </p:cNvSpPr>
          <p:nvPr>
            <p:ph idx="1"/>
          </p:nvPr>
        </p:nvSpPr>
        <p:spPr/>
        <p:txBody>
          <a:bodyPr>
            <a:normAutofit fontScale="92500" lnSpcReduction="20000"/>
          </a:bodyPr>
          <a:lstStyle/>
          <a:p>
            <a:pPr marL="0" indent="0">
              <a:buNone/>
            </a:pPr>
            <a:r>
              <a:rPr lang="fr-CA" dirty="0"/>
              <a:t>1/01/x1 : 	Encaisse		533 121</a:t>
            </a:r>
          </a:p>
          <a:p>
            <a:pPr marL="0" indent="0">
              <a:buNone/>
            </a:pPr>
            <a:r>
              <a:rPr lang="fr-CA" dirty="0"/>
              <a:t>		@ Emprunt obligataire	533 121</a:t>
            </a:r>
          </a:p>
          <a:p>
            <a:pPr marL="0" indent="0">
              <a:buNone/>
            </a:pPr>
            <a:endParaRPr lang="fr-CA" dirty="0"/>
          </a:p>
          <a:p>
            <a:pPr marL="0" indent="0">
              <a:buNone/>
            </a:pPr>
            <a:r>
              <a:rPr lang="fr-CA" dirty="0"/>
              <a:t>31/12/x1 : 	Frais financiers 	42 650</a:t>
            </a:r>
          </a:p>
          <a:p>
            <a:pPr marL="0" indent="0">
              <a:buNone/>
            </a:pPr>
            <a:r>
              <a:rPr lang="fr-CA" dirty="0"/>
              <a:t>		Emprunt obligataire 7 350</a:t>
            </a:r>
          </a:p>
          <a:p>
            <a:pPr marL="0" indent="0">
              <a:buNone/>
            </a:pPr>
            <a:r>
              <a:rPr lang="fr-CA" dirty="0"/>
              <a:t>		@ Encaisse			50 000</a:t>
            </a:r>
          </a:p>
          <a:p>
            <a:pPr marL="0" indent="0">
              <a:buNone/>
            </a:pPr>
            <a:endParaRPr lang="fr-CA" dirty="0"/>
          </a:p>
          <a:p>
            <a:pPr marL="0" indent="0">
              <a:buNone/>
            </a:pPr>
            <a:r>
              <a:rPr lang="fr-CA" dirty="0"/>
              <a:t>31/12/x2 :	Frais financiers </a:t>
            </a:r>
            <a:r>
              <a:rPr lang="fr-CA"/>
              <a:t>	42 062</a:t>
            </a:r>
            <a:endParaRPr lang="fr-CA" dirty="0"/>
          </a:p>
          <a:p>
            <a:pPr marL="0" indent="0">
              <a:buNone/>
            </a:pPr>
            <a:r>
              <a:rPr lang="fr-CA" dirty="0"/>
              <a:t>		Emprunt obligataire   7 938</a:t>
            </a:r>
          </a:p>
          <a:p>
            <a:pPr marL="0" indent="0">
              <a:buNone/>
            </a:pPr>
            <a:r>
              <a:rPr lang="fr-CA" dirty="0"/>
              <a:t>		@Encaisse			50 000</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100</a:t>
            </a:fld>
            <a:endParaRPr lang="fr-FR"/>
          </a:p>
        </p:txBody>
      </p:sp>
      <p:sp>
        <p:nvSpPr>
          <p:cNvPr id="5" name="Espace réservé du pied de page 4">
            <a:extLst>
              <a:ext uri="{FF2B5EF4-FFF2-40B4-BE49-F238E27FC236}">
                <a16:creationId xmlns:a16="http://schemas.microsoft.com/office/drawing/2014/main" id="{5CF54AEA-32A9-47BB-B6BC-E4CFF9F354E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0199557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465192"/>
          </a:xfrm>
        </p:spPr>
        <p:txBody>
          <a:bodyPr>
            <a:normAutofit fontScale="90000"/>
          </a:bodyPr>
          <a:lstStyle/>
          <a:p>
            <a:r>
              <a:rPr lang="fr-CA" dirty="0"/>
              <a:t>Solution b) Taux marché : 13 %</a:t>
            </a:r>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101</a:t>
            </a:fld>
            <a:endParaRPr lang="fr-FR"/>
          </a:p>
        </p:txBody>
      </p:sp>
      <p:graphicFrame>
        <p:nvGraphicFramePr>
          <p:cNvPr id="5" name="Objet 4"/>
          <p:cNvGraphicFramePr>
            <a:graphicFrameLocks noChangeAspect="1"/>
          </p:cNvGraphicFramePr>
          <p:nvPr/>
        </p:nvGraphicFramePr>
        <p:xfrm>
          <a:off x="1981201" y="1660208"/>
          <a:ext cx="8136727" cy="957262"/>
        </p:xfrm>
        <a:graphic>
          <a:graphicData uri="http://schemas.openxmlformats.org/presentationml/2006/ole">
            <mc:AlternateContent xmlns:mc="http://schemas.openxmlformats.org/markup-compatibility/2006">
              <mc:Choice xmlns:v="urn:schemas-microsoft-com:vml" Requires="v">
                <p:oleObj name="Feuille de calcul" r:id="rId2" imgW="5343371" imgH="628650" progId="Excel.Sheet.12">
                  <p:embed/>
                </p:oleObj>
              </mc:Choice>
              <mc:Fallback>
                <p:oleObj name="Feuille de calcul" r:id="rId2" imgW="5343371" imgH="628650" progId="Excel.Sheet.12">
                  <p:embed/>
                  <p:pic>
                    <p:nvPicPr>
                      <p:cNvPr id="5" name="Objet 4"/>
                      <p:cNvPicPr/>
                      <p:nvPr/>
                    </p:nvPicPr>
                    <p:blipFill>
                      <a:blip r:embed="rId3"/>
                      <a:stretch>
                        <a:fillRect/>
                      </a:stretch>
                    </p:blipFill>
                    <p:spPr>
                      <a:xfrm>
                        <a:off x="1981201" y="1660208"/>
                        <a:ext cx="8136727" cy="957262"/>
                      </a:xfrm>
                      <a:prstGeom prst="rect">
                        <a:avLst/>
                      </a:prstGeom>
                    </p:spPr>
                  </p:pic>
                </p:oleObj>
              </mc:Fallback>
            </mc:AlternateContent>
          </a:graphicData>
        </a:graphic>
      </p:graphicFrame>
      <p:graphicFrame>
        <p:nvGraphicFramePr>
          <p:cNvPr id="6" name="Objet 5"/>
          <p:cNvGraphicFramePr>
            <a:graphicFrameLocks noChangeAspect="1"/>
          </p:cNvGraphicFramePr>
          <p:nvPr/>
        </p:nvGraphicFramePr>
        <p:xfrm>
          <a:off x="1981200" y="2828925"/>
          <a:ext cx="7646670" cy="3345418"/>
        </p:xfrm>
        <a:graphic>
          <a:graphicData uri="http://schemas.openxmlformats.org/presentationml/2006/ole">
            <mc:AlternateContent xmlns:mc="http://schemas.openxmlformats.org/markup-compatibility/2006">
              <mc:Choice xmlns:v="urn:schemas-microsoft-com:vml" Requires="v">
                <p:oleObj name="Feuille de calcul" r:id="rId4" imgW="2743200" imgH="1200150" progId="Excel.Sheet.12">
                  <p:embed/>
                </p:oleObj>
              </mc:Choice>
              <mc:Fallback>
                <p:oleObj name="Feuille de calcul" r:id="rId4" imgW="2743200" imgH="1200150" progId="Excel.Sheet.12">
                  <p:embed/>
                  <p:pic>
                    <p:nvPicPr>
                      <p:cNvPr id="6" name="Objet 5"/>
                      <p:cNvPicPr/>
                      <p:nvPr/>
                    </p:nvPicPr>
                    <p:blipFill>
                      <a:blip r:embed="rId5"/>
                      <a:stretch>
                        <a:fillRect/>
                      </a:stretch>
                    </p:blipFill>
                    <p:spPr>
                      <a:xfrm>
                        <a:off x="1981200" y="2828925"/>
                        <a:ext cx="7646670" cy="3345418"/>
                      </a:xfrm>
                      <a:prstGeom prst="rect">
                        <a:avLst/>
                      </a:prstGeom>
                    </p:spPr>
                  </p:pic>
                </p:oleObj>
              </mc:Fallback>
            </mc:AlternateContent>
          </a:graphicData>
        </a:graphic>
      </p:graphicFrame>
      <p:sp>
        <p:nvSpPr>
          <p:cNvPr id="7" name="Espace réservé du pied de page 6">
            <a:extLst>
              <a:ext uri="{FF2B5EF4-FFF2-40B4-BE49-F238E27FC236}">
                <a16:creationId xmlns:a16="http://schemas.microsoft.com/office/drawing/2014/main" id="{2A2409D7-7CA3-4621-BAF5-2290554D254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07424735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759482"/>
          </a:xfrm>
        </p:spPr>
        <p:txBody>
          <a:bodyPr>
            <a:normAutofit/>
          </a:bodyPr>
          <a:lstStyle/>
          <a:p>
            <a:r>
              <a:rPr lang="fr-CA" dirty="0"/>
              <a:t>Solution b) Taux marché : 13 %</a:t>
            </a:r>
          </a:p>
        </p:txBody>
      </p:sp>
      <p:sp>
        <p:nvSpPr>
          <p:cNvPr id="3" name="Espace réservé du contenu 2"/>
          <p:cNvSpPr>
            <a:spLocks noGrp="1"/>
          </p:cNvSpPr>
          <p:nvPr>
            <p:ph idx="1"/>
          </p:nvPr>
        </p:nvSpPr>
        <p:spPr/>
        <p:txBody>
          <a:bodyPr>
            <a:normAutofit fontScale="92500" lnSpcReduction="20000"/>
          </a:bodyPr>
          <a:lstStyle/>
          <a:p>
            <a:pPr marL="0" indent="0">
              <a:buNone/>
            </a:pPr>
            <a:r>
              <a:rPr lang="fr-CA" dirty="0"/>
              <a:t>1/01/x1 : 	Encaisse		455 383</a:t>
            </a:r>
          </a:p>
          <a:p>
            <a:pPr marL="0" indent="0">
              <a:buNone/>
            </a:pPr>
            <a:r>
              <a:rPr lang="fr-CA" dirty="0"/>
              <a:t>		@ Emprunt obligataire	455 383</a:t>
            </a:r>
          </a:p>
          <a:p>
            <a:pPr marL="0" indent="0">
              <a:buNone/>
            </a:pPr>
            <a:endParaRPr lang="fr-CA" dirty="0"/>
          </a:p>
          <a:p>
            <a:pPr marL="0" indent="0">
              <a:buNone/>
            </a:pPr>
            <a:r>
              <a:rPr lang="fr-CA" dirty="0"/>
              <a:t>31/12/x1 : 	Frais financiers 	59 200</a:t>
            </a:r>
          </a:p>
          <a:p>
            <a:pPr marL="0" indent="0">
              <a:buNone/>
            </a:pPr>
            <a:r>
              <a:rPr lang="fr-CA" dirty="0"/>
              <a:t>		@ Encaisse			50 000</a:t>
            </a:r>
          </a:p>
          <a:p>
            <a:pPr marL="0" indent="0">
              <a:buNone/>
            </a:pPr>
            <a:r>
              <a:rPr lang="fr-CA" dirty="0"/>
              <a:t>		   Emprunt obligataire 	  9 200</a:t>
            </a:r>
          </a:p>
          <a:p>
            <a:pPr marL="0" indent="0">
              <a:buNone/>
            </a:pPr>
            <a:endParaRPr lang="fr-CA" dirty="0"/>
          </a:p>
          <a:p>
            <a:pPr marL="0" indent="0">
              <a:buNone/>
            </a:pPr>
            <a:r>
              <a:rPr lang="fr-CA" dirty="0"/>
              <a:t>31/12/x2 :	Frais financiers 	60 396</a:t>
            </a:r>
          </a:p>
          <a:p>
            <a:pPr marL="0" indent="0">
              <a:buNone/>
            </a:pPr>
            <a:r>
              <a:rPr lang="fr-CA" dirty="0"/>
              <a:t>		@ Encaisse			50 000</a:t>
            </a:r>
          </a:p>
          <a:p>
            <a:pPr marL="0" indent="0">
              <a:buNone/>
            </a:pPr>
            <a:r>
              <a:rPr lang="fr-CA" dirty="0"/>
              <a:t>		  Emprunt obligataire   	10 396</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102</a:t>
            </a:fld>
            <a:endParaRPr lang="fr-FR"/>
          </a:p>
        </p:txBody>
      </p:sp>
      <p:sp>
        <p:nvSpPr>
          <p:cNvPr id="5" name="Espace réservé du pied de page 4">
            <a:extLst>
              <a:ext uri="{FF2B5EF4-FFF2-40B4-BE49-F238E27FC236}">
                <a16:creationId xmlns:a16="http://schemas.microsoft.com/office/drawing/2014/main" id="{1074D61B-03A8-4442-B084-E905DF71271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38428487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Les coûts d’émission d’obligations</a:t>
            </a:r>
          </a:p>
        </p:txBody>
      </p:sp>
      <p:sp>
        <p:nvSpPr>
          <p:cNvPr id="3" name="Espace réservé du contenu 2"/>
          <p:cNvSpPr>
            <a:spLocks noGrp="1"/>
          </p:cNvSpPr>
          <p:nvPr>
            <p:ph idx="1"/>
          </p:nvPr>
        </p:nvSpPr>
        <p:spPr/>
        <p:txBody>
          <a:bodyPr/>
          <a:lstStyle/>
          <a:p>
            <a:r>
              <a:rPr lang="fr-CA" dirty="0"/>
              <a:t>Coûts de transaction : </a:t>
            </a:r>
          </a:p>
          <a:p>
            <a:pPr lvl="1"/>
            <a:r>
              <a:rPr lang="fr-CA" dirty="0"/>
              <a:t>Ex : honoraires et commissions versés à des agents, à des conseillers et à des courtiers ; taxes et droits payés à la Bourse</a:t>
            </a:r>
          </a:p>
          <a:p>
            <a:pPr lvl="1"/>
            <a:r>
              <a:rPr lang="fr-CA" dirty="0"/>
              <a:t>Si mesure subséquente est au coût amorti : les frais seront comptabilisés en diminution du compte emprunt obligataire</a:t>
            </a:r>
          </a:p>
          <a:p>
            <a:pPr lvl="2"/>
            <a:r>
              <a:rPr lang="fr-CA" dirty="0"/>
              <a:t>ce qui a pour effet d’augmenter le taux d’intérêt effectif</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103</a:t>
            </a:fld>
            <a:endParaRPr lang="fr-FR"/>
          </a:p>
        </p:txBody>
      </p:sp>
      <p:sp>
        <p:nvSpPr>
          <p:cNvPr id="5" name="Espace réservé du pied de page 4">
            <a:extLst>
              <a:ext uri="{FF2B5EF4-FFF2-40B4-BE49-F238E27FC236}">
                <a16:creationId xmlns:a16="http://schemas.microsoft.com/office/drawing/2014/main" id="{E0813C4E-6FDB-493C-9FEB-960838201BD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61707250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 – coûts de transaction</a:t>
            </a:r>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Émission valeur nominale de 500 000 $</a:t>
            </a:r>
          </a:p>
          <a:p>
            <a:r>
              <a:rPr lang="fr-CA" dirty="0"/>
              <a:t>Émission « à 99 »</a:t>
            </a:r>
          </a:p>
          <a:p>
            <a:pPr marL="0" indent="0">
              <a:buNone/>
            </a:pPr>
            <a:r>
              <a:rPr lang="fr-CA" dirty="0"/>
              <a:t>Échéance 4 ans</a:t>
            </a:r>
          </a:p>
          <a:p>
            <a:pPr marL="0" indent="0">
              <a:buNone/>
            </a:pPr>
            <a:r>
              <a:rPr lang="fr-CA" dirty="0"/>
              <a:t>Taux contractuel : 12 %, base annuelle</a:t>
            </a:r>
          </a:p>
          <a:p>
            <a:pPr marL="0" indent="0">
              <a:buNone/>
            </a:pPr>
            <a:r>
              <a:rPr lang="fr-CA" dirty="0"/>
              <a:t>Coûts de transaction : 75 000 $</a:t>
            </a:r>
          </a:p>
          <a:p>
            <a:pPr marL="0" indent="0">
              <a:buNone/>
            </a:pPr>
            <a:endParaRPr lang="fr-CA" dirty="0"/>
          </a:p>
          <a:p>
            <a:pPr marL="514350" indent="-514350">
              <a:buAutoNum type="alphaLcParenR"/>
            </a:pPr>
            <a:r>
              <a:rPr lang="fr-CA" dirty="0"/>
              <a:t>Quel est le taux du marché?</a:t>
            </a:r>
          </a:p>
          <a:p>
            <a:pPr marL="514350" indent="-514350">
              <a:buAutoNum type="alphaLcParenR"/>
            </a:pPr>
            <a:r>
              <a:rPr lang="fr-CA" dirty="0"/>
              <a:t>Quel est le taux effectif?</a:t>
            </a:r>
          </a:p>
          <a:p>
            <a:pPr marL="914400" lvl="1" indent="-514350">
              <a:buFont typeface="Wingdings" panose="05000000000000000000" pitchFamily="2" charset="2"/>
              <a:buChar char="Ø"/>
            </a:pPr>
            <a:r>
              <a:rPr lang="fr-CA" dirty="0"/>
              <a:t>Préparez le tableau d’amortissement de la dette</a:t>
            </a:r>
          </a:p>
          <a:p>
            <a:pPr marL="914400" lvl="1" indent="-514350">
              <a:buFont typeface="Wingdings" panose="05000000000000000000" pitchFamily="2" charset="2"/>
              <a:buChar char="Ø"/>
            </a:pPr>
            <a:r>
              <a:rPr lang="fr-CA" dirty="0"/>
              <a:t>Ainsi que les écritures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104</a:t>
            </a:fld>
            <a:endParaRPr lang="fr-FR"/>
          </a:p>
        </p:txBody>
      </p:sp>
      <p:sp>
        <p:nvSpPr>
          <p:cNvPr id="5" name="Espace réservé du pied de page 4">
            <a:extLst>
              <a:ext uri="{FF2B5EF4-FFF2-40B4-BE49-F238E27FC236}">
                <a16:creationId xmlns:a16="http://schemas.microsoft.com/office/drawing/2014/main" id="{47E69BBE-9591-495B-A68F-C38CBEA3366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37517764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Solution - coûts de transaction</a:t>
            </a:r>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105</a:t>
            </a:fld>
            <a:endParaRPr lang="fr-FR"/>
          </a:p>
        </p:txBody>
      </p:sp>
      <p:graphicFrame>
        <p:nvGraphicFramePr>
          <p:cNvPr id="8" name="Objet 7"/>
          <p:cNvGraphicFramePr>
            <a:graphicFrameLocks noChangeAspect="1"/>
          </p:cNvGraphicFramePr>
          <p:nvPr/>
        </p:nvGraphicFramePr>
        <p:xfrm>
          <a:off x="2086928" y="1600200"/>
          <a:ext cx="7772400" cy="914400"/>
        </p:xfrm>
        <a:graphic>
          <a:graphicData uri="http://schemas.openxmlformats.org/presentationml/2006/ole">
            <mc:AlternateContent xmlns:mc="http://schemas.openxmlformats.org/markup-compatibility/2006">
              <mc:Choice xmlns:v="urn:schemas-microsoft-com:vml" Requires="v">
                <p:oleObj name="Feuille de calcul" r:id="rId2" imgW="5343371" imgH="628650" progId="Excel.Sheet.12">
                  <p:embed/>
                </p:oleObj>
              </mc:Choice>
              <mc:Fallback>
                <p:oleObj name="Feuille de calcul" r:id="rId2" imgW="5343371" imgH="628650" progId="Excel.Sheet.12">
                  <p:embed/>
                  <p:pic>
                    <p:nvPicPr>
                      <p:cNvPr id="8" name="Objet 7"/>
                      <p:cNvPicPr/>
                      <p:nvPr/>
                    </p:nvPicPr>
                    <p:blipFill>
                      <a:blip r:embed="rId3"/>
                      <a:stretch>
                        <a:fillRect/>
                      </a:stretch>
                    </p:blipFill>
                    <p:spPr>
                      <a:xfrm>
                        <a:off x="2086928" y="1600200"/>
                        <a:ext cx="7772400" cy="914400"/>
                      </a:xfrm>
                      <a:prstGeom prst="rect">
                        <a:avLst/>
                      </a:prstGeom>
                    </p:spPr>
                  </p:pic>
                </p:oleObj>
              </mc:Fallback>
            </mc:AlternateContent>
          </a:graphicData>
        </a:graphic>
      </p:graphicFrame>
      <p:graphicFrame>
        <p:nvGraphicFramePr>
          <p:cNvPr id="10" name="Objet 9"/>
          <p:cNvGraphicFramePr>
            <a:graphicFrameLocks noChangeAspect="1"/>
          </p:cNvGraphicFramePr>
          <p:nvPr/>
        </p:nvGraphicFramePr>
        <p:xfrm>
          <a:off x="2086928" y="2800350"/>
          <a:ext cx="7772400" cy="914400"/>
        </p:xfrm>
        <a:graphic>
          <a:graphicData uri="http://schemas.openxmlformats.org/presentationml/2006/ole">
            <mc:AlternateContent xmlns:mc="http://schemas.openxmlformats.org/markup-compatibility/2006">
              <mc:Choice xmlns:v="urn:schemas-microsoft-com:vml" Requires="v">
                <p:oleObj name="Feuille de calcul" r:id="rId4" imgW="5343371" imgH="628650" progId="Excel.Sheet.12">
                  <p:embed/>
                </p:oleObj>
              </mc:Choice>
              <mc:Fallback>
                <p:oleObj name="Feuille de calcul" r:id="rId4" imgW="5343371" imgH="628650" progId="Excel.Sheet.12">
                  <p:embed/>
                  <p:pic>
                    <p:nvPicPr>
                      <p:cNvPr id="10" name="Objet 9"/>
                      <p:cNvPicPr/>
                      <p:nvPr/>
                    </p:nvPicPr>
                    <p:blipFill>
                      <a:blip r:embed="rId5"/>
                      <a:stretch>
                        <a:fillRect/>
                      </a:stretch>
                    </p:blipFill>
                    <p:spPr>
                      <a:xfrm>
                        <a:off x="2086928" y="2800350"/>
                        <a:ext cx="7772400" cy="914400"/>
                      </a:xfrm>
                      <a:prstGeom prst="rect">
                        <a:avLst/>
                      </a:prstGeom>
                    </p:spPr>
                  </p:pic>
                </p:oleObj>
              </mc:Fallback>
            </mc:AlternateContent>
          </a:graphicData>
        </a:graphic>
      </p:graphicFrame>
      <p:graphicFrame>
        <p:nvGraphicFramePr>
          <p:cNvPr id="11" name="Objet 10"/>
          <p:cNvGraphicFramePr>
            <a:graphicFrameLocks noChangeAspect="1"/>
          </p:cNvGraphicFramePr>
          <p:nvPr/>
        </p:nvGraphicFramePr>
        <p:xfrm>
          <a:off x="2086928" y="3977640"/>
          <a:ext cx="4923472" cy="2154019"/>
        </p:xfrm>
        <a:graphic>
          <a:graphicData uri="http://schemas.openxmlformats.org/presentationml/2006/ole">
            <mc:AlternateContent xmlns:mc="http://schemas.openxmlformats.org/markup-compatibility/2006">
              <mc:Choice xmlns:v="urn:schemas-microsoft-com:vml" Requires="v">
                <p:oleObj name="Feuille de calcul" r:id="rId6" imgW="2743200" imgH="1200150" progId="Excel.Sheet.12">
                  <p:embed/>
                </p:oleObj>
              </mc:Choice>
              <mc:Fallback>
                <p:oleObj name="Feuille de calcul" r:id="rId6" imgW="2743200" imgH="1200150" progId="Excel.Sheet.12">
                  <p:embed/>
                  <p:pic>
                    <p:nvPicPr>
                      <p:cNvPr id="11" name="Objet 10"/>
                      <p:cNvPicPr/>
                      <p:nvPr/>
                    </p:nvPicPr>
                    <p:blipFill>
                      <a:blip r:embed="rId7"/>
                      <a:stretch>
                        <a:fillRect/>
                      </a:stretch>
                    </p:blipFill>
                    <p:spPr>
                      <a:xfrm>
                        <a:off x="2086928" y="3977640"/>
                        <a:ext cx="4923472" cy="2154019"/>
                      </a:xfrm>
                      <a:prstGeom prst="rect">
                        <a:avLst/>
                      </a:prstGeom>
                    </p:spPr>
                  </p:pic>
                </p:oleObj>
              </mc:Fallback>
            </mc:AlternateContent>
          </a:graphicData>
        </a:graphic>
      </p:graphicFrame>
      <p:sp>
        <p:nvSpPr>
          <p:cNvPr id="5" name="Espace réservé du pied de page 4">
            <a:extLst>
              <a:ext uri="{FF2B5EF4-FFF2-40B4-BE49-F238E27FC236}">
                <a16:creationId xmlns:a16="http://schemas.microsoft.com/office/drawing/2014/main" id="{ED628E55-2291-4AD8-A752-3ABCDD0ADDB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24621700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 – intérêts semestriels</a:t>
            </a:r>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Émission valeur nominale de 800 000 $</a:t>
            </a:r>
          </a:p>
          <a:p>
            <a:r>
              <a:rPr lang="fr-CA" dirty="0"/>
              <a:t>Émission « à 101 »</a:t>
            </a:r>
          </a:p>
          <a:p>
            <a:pPr marL="0" indent="0">
              <a:buNone/>
            </a:pPr>
            <a:r>
              <a:rPr lang="fr-CA" dirty="0"/>
              <a:t>Échéance 4 ans</a:t>
            </a:r>
          </a:p>
          <a:p>
            <a:pPr marL="0" indent="0">
              <a:buNone/>
            </a:pPr>
            <a:r>
              <a:rPr lang="fr-CA" dirty="0"/>
              <a:t>Taux contractuel : 14%, soit 7% semestriellement</a:t>
            </a:r>
          </a:p>
          <a:p>
            <a:pPr marL="0" indent="0">
              <a:buNone/>
            </a:pPr>
            <a:r>
              <a:rPr lang="fr-CA" dirty="0"/>
              <a:t>Coûts de transaction : 95 000 $</a:t>
            </a:r>
          </a:p>
          <a:p>
            <a:pPr marL="0" indent="0">
              <a:buNone/>
            </a:pPr>
            <a:endParaRPr lang="fr-CA" dirty="0"/>
          </a:p>
          <a:p>
            <a:pPr marL="514350" indent="-514350">
              <a:buAutoNum type="alphaLcParenR"/>
            </a:pPr>
            <a:r>
              <a:rPr lang="fr-CA" dirty="0"/>
              <a:t>Quel est le taux du marché?</a:t>
            </a:r>
          </a:p>
          <a:p>
            <a:pPr marL="514350" indent="-514350">
              <a:buAutoNum type="alphaLcParenR"/>
            </a:pPr>
            <a:r>
              <a:rPr lang="fr-CA" dirty="0"/>
              <a:t>Quel est le taux effectif?</a:t>
            </a:r>
          </a:p>
          <a:p>
            <a:pPr marL="914400" lvl="1" indent="-514350">
              <a:buFont typeface="Wingdings" panose="05000000000000000000" pitchFamily="2" charset="2"/>
              <a:buChar char="Ø"/>
            </a:pPr>
            <a:r>
              <a:rPr lang="fr-CA" dirty="0"/>
              <a:t>Préparez le tableau d’amortissement de la dette</a:t>
            </a:r>
          </a:p>
          <a:p>
            <a:pPr marL="914400" lvl="1" indent="-514350">
              <a:buFont typeface="Wingdings" panose="05000000000000000000" pitchFamily="2" charset="2"/>
              <a:buChar char="Ø"/>
            </a:pPr>
            <a:r>
              <a:rPr lang="fr-CA" dirty="0"/>
              <a:t>Ainsi que les écritures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106</a:t>
            </a:fld>
            <a:endParaRPr lang="fr-FR"/>
          </a:p>
        </p:txBody>
      </p:sp>
      <p:sp>
        <p:nvSpPr>
          <p:cNvPr id="5" name="Espace réservé du pied de page 4">
            <a:extLst>
              <a:ext uri="{FF2B5EF4-FFF2-40B4-BE49-F238E27FC236}">
                <a16:creationId xmlns:a16="http://schemas.microsoft.com/office/drawing/2014/main" id="{FA49A81B-329F-4B69-8D71-20B3DF8D9E48}"/>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62903295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Solution - intérêts semestriels</a:t>
            </a:r>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107</a:t>
            </a:fld>
            <a:endParaRPr lang="fr-FR"/>
          </a:p>
        </p:txBody>
      </p:sp>
      <p:graphicFrame>
        <p:nvGraphicFramePr>
          <p:cNvPr id="5" name="Objet 4"/>
          <p:cNvGraphicFramePr>
            <a:graphicFrameLocks noChangeAspect="1"/>
          </p:cNvGraphicFramePr>
          <p:nvPr/>
        </p:nvGraphicFramePr>
        <p:xfrm>
          <a:off x="2124075" y="1753554"/>
          <a:ext cx="6686550" cy="1819275"/>
        </p:xfrm>
        <a:graphic>
          <a:graphicData uri="http://schemas.openxmlformats.org/presentationml/2006/ole">
            <mc:AlternateContent xmlns:mc="http://schemas.openxmlformats.org/markup-compatibility/2006">
              <mc:Choice xmlns:v="urn:schemas-microsoft-com:vml" Requires="v">
                <p:oleObj name="Feuille de calcul" r:id="rId2" imgW="6686365" imgH="1819439" progId="Excel.Sheet.12">
                  <p:embed/>
                </p:oleObj>
              </mc:Choice>
              <mc:Fallback>
                <p:oleObj name="Feuille de calcul" r:id="rId2" imgW="6686365" imgH="1819439" progId="Excel.Sheet.12">
                  <p:embed/>
                  <p:pic>
                    <p:nvPicPr>
                      <p:cNvPr id="5" name="Objet 4"/>
                      <p:cNvPicPr/>
                      <p:nvPr/>
                    </p:nvPicPr>
                    <p:blipFill>
                      <a:blip r:embed="rId3"/>
                      <a:stretch>
                        <a:fillRect/>
                      </a:stretch>
                    </p:blipFill>
                    <p:spPr>
                      <a:xfrm>
                        <a:off x="2124075" y="1753554"/>
                        <a:ext cx="6686550" cy="1819275"/>
                      </a:xfrm>
                      <a:prstGeom prst="rect">
                        <a:avLst/>
                      </a:prstGeom>
                    </p:spPr>
                  </p:pic>
                </p:oleObj>
              </mc:Fallback>
            </mc:AlternateContent>
          </a:graphicData>
        </a:graphic>
      </p:graphicFrame>
      <p:graphicFrame>
        <p:nvGraphicFramePr>
          <p:cNvPr id="6" name="Objet 5"/>
          <p:cNvGraphicFramePr>
            <a:graphicFrameLocks noChangeAspect="1"/>
          </p:cNvGraphicFramePr>
          <p:nvPr/>
        </p:nvGraphicFramePr>
        <p:xfrm>
          <a:off x="2124075" y="3755390"/>
          <a:ext cx="3583305" cy="2563058"/>
        </p:xfrm>
        <a:graphic>
          <a:graphicData uri="http://schemas.openxmlformats.org/presentationml/2006/ole">
            <mc:AlternateContent xmlns:mc="http://schemas.openxmlformats.org/markup-compatibility/2006">
              <mc:Choice xmlns:v="urn:schemas-microsoft-com:vml" Requires="v">
                <p:oleObj name="Feuille de calcul" r:id="rId4" imgW="2743200" imgH="1962314" progId="Excel.Sheet.12">
                  <p:embed/>
                </p:oleObj>
              </mc:Choice>
              <mc:Fallback>
                <p:oleObj name="Feuille de calcul" r:id="rId4" imgW="2743200" imgH="1962314" progId="Excel.Sheet.12">
                  <p:embed/>
                  <p:pic>
                    <p:nvPicPr>
                      <p:cNvPr id="6" name="Objet 5"/>
                      <p:cNvPicPr/>
                      <p:nvPr/>
                    </p:nvPicPr>
                    <p:blipFill>
                      <a:blip r:embed="rId5"/>
                      <a:stretch>
                        <a:fillRect/>
                      </a:stretch>
                    </p:blipFill>
                    <p:spPr>
                      <a:xfrm>
                        <a:off x="2124075" y="3755390"/>
                        <a:ext cx="3583305" cy="2563058"/>
                      </a:xfrm>
                      <a:prstGeom prst="rect">
                        <a:avLst/>
                      </a:prstGeom>
                    </p:spPr>
                  </p:pic>
                </p:oleObj>
              </mc:Fallback>
            </mc:AlternateContent>
          </a:graphicData>
        </a:graphic>
      </p:graphicFrame>
      <p:sp>
        <p:nvSpPr>
          <p:cNvPr id="7" name="Espace réservé du pied de page 6">
            <a:extLst>
              <a:ext uri="{FF2B5EF4-FFF2-40B4-BE49-F238E27FC236}">
                <a16:creationId xmlns:a16="http://schemas.microsoft.com/office/drawing/2014/main" id="{AC17152C-ADE6-49D6-A0AC-F7BFB350E08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7498968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 – obligation convertible</a:t>
            </a:r>
          </a:p>
        </p:txBody>
      </p:sp>
      <p:sp>
        <p:nvSpPr>
          <p:cNvPr id="3" name="Espace réservé du contenu 2"/>
          <p:cNvSpPr>
            <a:spLocks noGrp="1"/>
          </p:cNvSpPr>
          <p:nvPr>
            <p:ph idx="1"/>
          </p:nvPr>
        </p:nvSpPr>
        <p:spPr/>
        <p:txBody>
          <a:bodyPr>
            <a:normAutofit/>
          </a:bodyPr>
          <a:lstStyle/>
          <a:p>
            <a:pPr marL="0" indent="0">
              <a:buNone/>
            </a:pPr>
            <a:r>
              <a:rPr lang="fr-CA" dirty="0"/>
              <a:t>Émission d’une obligation convertible en actions ordinaires, valeur nominale de 600 000 $</a:t>
            </a:r>
          </a:p>
          <a:p>
            <a:pPr marL="0" indent="0">
              <a:buNone/>
            </a:pPr>
            <a:r>
              <a:rPr lang="fr-CA" dirty="0"/>
              <a:t>Échéance 4 ans</a:t>
            </a:r>
          </a:p>
          <a:p>
            <a:pPr marL="0" indent="0">
              <a:buNone/>
            </a:pPr>
            <a:r>
              <a:rPr lang="fr-CA" dirty="0"/>
              <a:t>Taux contractuel : 8 %</a:t>
            </a:r>
          </a:p>
          <a:p>
            <a:pPr marL="0" indent="0">
              <a:buNone/>
            </a:pPr>
            <a:r>
              <a:rPr lang="fr-CA" dirty="0"/>
              <a:t>Taux du marché : 11 %</a:t>
            </a:r>
          </a:p>
          <a:p>
            <a:pPr marL="0" indent="0">
              <a:buNone/>
            </a:pPr>
            <a:endParaRPr lang="fr-CA" dirty="0"/>
          </a:p>
          <a:p>
            <a:pPr marL="914400" lvl="1" indent="-514350">
              <a:buFont typeface="Wingdings" panose="05000000000000000000" pitchFamily="2" charset="2"/>
              <a:buChar char="Ø"/>
            </a:pPr>
            <a:r>
              <a:rPr lang="fr-CA" dirty="0"/>
              <a:t>Préparez le tableau d’amortissement de la dette</a:t>
            </a:r>
          </a:p>
          <a:p>
            <a:pPr marL="914400" lvl="1" indent="-514350">
              <a:buFont typeface="Wingdings" panose="05000000000000000000" pitchFamily="2" charset="2"/>
              <a:buChar char="Ø"/>
            </a:pPr>
            <a:r>
              <a:rPr lang="fr-CA" dirty="0"/>
              <a:t>Ainsi que les écritures</a:t>
            </a:r>
          </a:p>
          <a:p>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108</a:t>
            </a:fld>
            <a:endParaRPr lang="fr-FR"/>
          </a:p>
        </p:txBody>
      </p:sp>
      <p:sp>
        <p:nvSpPr>
          <p:cNvPr id="5" name="Espace réservé du pied de page 4">
            <a:extLst>
              <a:ext uri="{FF2B5EF4-FFF2-40B4-BE49-F238E27FC236}">
                <a16:creationId xmlns:a16="http://schemas.microsoft.com/office/drawing/2014/main" id="{C2B9CC50-9B6C-4B16-A9DD-5155F078E26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82441951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 – obligation convertible</a:t>
            </a:r>
          </a:p>
        </p:txBody>
      </p:sp>
      <p:sp>
        <p:nvSpPr>
          <p:cNvPr id="3" name="Espace réservé du contenu 2"/>
          <p:cNvSpPr>
            <a:spLocks noGrp="1"/>
          </p:cNvSpPr>
          <p:nvPr>
            <p:ph idx="1"/>
          </p:nvPr>
        </p:nvSpPr>
        <p:spPr/>
        <p:txBody>
          <a:bodyPr>
            <a:normAutofit/>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109</a:t>
            </a:fld>
            <a:endParaRPr lang="fr-FR"/>
          </a:p>
        </p:txBody>
      </p:sp>
      <p:graphicFrame>
        <p:nvGraphicFramePr>
          <p:cNvPr id="6" name="Objet 5"/>
          <p:cNvGraphicFramePr>
            <a:graphicFrameLocks noChangeAspect="1"/>
          </p:cNvGraphicFramePr>
          <p:nvPr/>
        </p:nvGraphicFramePr>
        <p:xfrm>
          <a:off x="1981200" y="1600200"/>
          <a:ext cx="6041794" cy="994410"/>
        </p:xfrm>
        <a:graphic>
          <a:graphicData uri="http://schemas.openxmlformats.org/presentationml/2006/ole">
            <mc:AlternateContent xmlns:mc="http://schemas.openxmlformats.org/markup-compatibility/2006">
              <mc:Choice xmlns:v="urn:schemas-microsoft-com:vml" Requires="v">
                <p:oleObj name="Feuille de calcul" r:id="rId2" imgW="3819371" imgH="628650" progId="Excel.Sheet.12">
                  <p:embed/>
                </p:oleObj>
              </mc:Choice>
              <mc:Fallback>
                <p:oleObj name="Feuille de calcul" r:id="rId2" imgW="3819371" imgH="628650" progId="Excel.Sheet.12">
                  <p:embed/>
                  <p:pic>
                    <p:nvPicPr>
                      <p:cNvPr id="6" name="Objet 5"/>
                      <p:cNvPicPr/>
                      <p:nvPr/>
                    </p:nvPicPr>
                    <p:blipFill>
                      <a:blip r:embed="rId3"/>
                      <a:stretch>
                        <a:fillRect/>
                      </a:stretch>
                    </p:blipFill>
                    <p:spPr>
                      <a:xfrm>
                        <a:off x="1981200" y="1600200"/>
                        <a:ext cx="6041794" cy="994410"/>
                      </a:xfrm>
                      <a:prstGeom prst="rect">
                        <a:avLst/>
                      </a:prstGeom>
                    </p:spPr>
                  </p:pic>
                </p:oleObj>
              </mc:Fallback>
            </mc:AlternateContent>
          </a:graphicData>
        </a:graphic>
      </p:graphicFrame>
      <p:graphicFrame>
        <p:nvGraphicFramePr>
          <p:cNvPr id="7" name="Objet 6"/>
          <p:cNvGraphicFramePr>
            <a:graphicFrameLocks noChangeAspect="1"/>
          </p:cNvGraphicFramePr>
          <p:nvPr/>
        </p:nvGraphicFramePr>
        <p:xfrm>
          <a:off x="2244090" y="3148965"/>
          <a:ext cx="4720590" cy="2065258"/>
        </p:xfrm>
        <a:graphic>
          <a:graphicData uri="http://schemas.openxmlformats.org/presentationml/2006/ole">
            <mc:AlternateContent xmlns:mc="http://schemas.openxmlformats.org/markup-compatibility/2006">
              <mc:Choice xmlns:v="urn:schemas-microsoft-com:vml" Requires="v">
                <p:oleObj name="Feuille de calcul" r:id="rId4" imgW="2743200" imgH="1200150" progId="Excel.Sheet.12">
                  <p:embed/>
                </p:oleObj>
              </mc:Choice>
              <mc:Fallback>
                <p:oleObj name="Feuille de calcul" r:id="rId4" imgW="2743200" imgH="1200150" progId="Excel.Sheet.12">
                  <p:embed/>
                  <p:pic>
                    <p:nvPicPr>
                      <p:cNvPr id="7" name="Objet 6"/>
                      <p:cNvPicPr/>
                      <p:nvPr/>
                    </p:nvPicPr>
                    <p:blipFill>
                      <a:blip r:embed="rId5"/>
                      <a:stretch>
                        <a:fillRect/>
                      </a:stretch>
                    </p:blipFill>
                    <p:spPr>
                      <a:xfrm>
                        <a:off x="2244090" y="3148965"/>
                        <a:ext cx="4720590" cy="2065258"/>
                      </a:xfrm>
                      <a:prstGeom prst="rect">
                        <a:avLst/>
                      </a:prstGeom>
                    </p:spPr>
                  </p:pic>
                </p:oleObj>
              </mc:Fallback>
            </mc:AlternateContent>
          </a:graphicData>
        </a:graphic>
      </p:graphicFrame>
      <p:sp>
        <p:nvSpPr>
          <p:cNvPr id="5" name="Espace réservé du pied de page 4">
            <a:extLst>
              <a:ext uri="{FF2B5EF4-FFF2-40B4-BE49-F238E27FC236}">
                <a16:creationId xmlns:a16="http://schemas.microsoft.com/office/drawing/2014/main" id="{28997EB6-5C6A-4068-9AC0-3B7369A5FCB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25308933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 – obligation convertible</a:t>
            </a:r>
          </a:p>
        </p:txBody>
      </p:sp>
      <p:sp>
        <p:nvSpPr>
          <p:cNvPr id="3" name="Espace réservé du contenu 2"/>
          <p:cNvSpPr>
            <a:spLocks noGrp="1"/>
          </p:cNvSpPr>
          <p:nvPr>
            <p:ph idx="1"/>
          </p:nvPr>
        </p:nvSpPr>
        <p:spPr/>
        <p:txBody>
          <a:bodyPr>
            <a:normAutofit/>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110</a:t>
            </a:fld>
            <a:endParaRPr lang="fr-FR"/>
          </a:p>
        </p:txBody>
      </p:sp>
      <p:graphicFrame>
        <p:nvGraphicFramePr>
          <p:cNvPr id="5" name="Objet 4"/>
          <p:cNvGraphicFramePr>
            <a:graphicFrameLocks noChangeAspect="1"/>
          </p:cNvGraphicFramePr>
          <p:nvPr/>
        </p:nvGraphicFramePr>
        <p:xfrm>
          <a:off x="2109788" y="1704976"/>
          <a:ext cx="7289482" cy="4110269"/>
        </p:xfrm>
        <a:graphic>
          <a:graphicData uri="http://schemas.openxmlformats.org/presentationml/2006/ole">
            <mc:AlternateContent xmlns:mc="http://schemas.openxmlformats.org/markup-compatibility/2006">
              <mc:Choice xmlns:v="urn:schemas-microsoft-com:vml" Requires="v">
                <p:oleObj name="Feuille de calcul" r:id="rId2" imgW="3057371" imgH="1723861" progId="Excel.Sheet.12">
                  <p:embed/>
                </p:oleObj>
              </mc:Choice>
              <mc:Fallback>
                <p:oleObj name="Feuille de calcul" r:id="rId2" imgW="3057371" imgH="1723861" progId="Excel.Sheet.12">
                  <p:embed/>
                  <p:pic>
                    <p:nvPicPr>
                      <p:cNvPr id="5" name="Objet 4"/>
                      <p:cNvPicPr/>
                      <p:nvPr/>
                    </p:nvPicPr>
                    <p:blipFill>
                      <a:blip r:embed="rId3"/>
                      <a:stretch>
                        <a:fillRect/>
                      </a:stretch>
                    </p:blipFill>
                    <p:spPr>
                      <a:xfrm>
                        <a:off x="2109788" y="1704976"/>
                        <a:ext cx="7289482" cy="4110269"/>
                      </a:xfrm>
                      <a:prstGeom prst="rect">
                        <a:avLst/>
                      </a:prstGeom>
                    </p:spPr>
                  </p:pic>
                </p:oleObj>
              </mc:Fallback>
            </mc:AlternateContent>
          </a:graphicData>
        </a:graphic>
      </p:graphicFrame>
      <p:sp>
        <p:nvSpPr>
          <p:cNvPr id="6" name="Espace réservé du pied de page 5">
            <a:extLst>
              <a:ext uri="{FF2B5EF4-FFF2-40B4-BE49-F238E27FC236}">
                <a16:creationId xmlns:a16="http://schemas.microsoft.com/office/drawing/2014/main" id="{D71E6CC5-5F4F-4051-BE67-F8E30705E92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3264383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Obligation convertible – lors de la conversion</a:t>
            </a:r>
          </a:p>
        </p:txBody>
      </p:sp>
      <p:sp>
        <p:nvSpPr>
          <p:cNvPr id="3" name="Espace réservé du contenu 2"/>
          <p:cNvSpPr>
            <a:spLocks noGrp="1"/>
          </p:cNvSpPr>
          <p:nvPr>
            <p:ph idx="1"/>
          </p:nvPr>
        </p:nvSpPr>
        <p:spPr>
          <a:xfrm>
            <a:off x="838200" y="1908811"/>
            <a:ext cx="10515600" cy="4217353"/>
          </a:xfrm>
        </p:spPr>
        <p:txBody>
          <a:bodyPr>
            <a:normAutofit fontScale="92500" lnSpcReduction="10000"/>
          </a:bodyPr>
          <a:lstStyle/>
          <a:p>
            <a:r>
              <a:rPr lang="fr-CA" dirty="0"/>
              <a:t>Si l’obligataire opte pour convertir son obligation entre deux dates de versement d’intérêts, il renonce habituellement aux intérêts courus</a:t>
            </a:r>
          </a:p>
          <a:p>
            <a:endParaRPr lang="fr-CA" dirty="0"/>
          </a:p>
          <a:p>
            <a:r>
              <a:rPr lang="fr-CA" dirty="0"/>
              <a:t>Conversion à la valeur comptable</a:t>
            </a:r>
          </a:p>
          <a:p>
            <a:pPr lvl="1"/>
            <a:r>
              <a:rPr lang="fr-CA" dirty="0"/>
              <a:t>Aucun profit/perte</a:t>
            </a:r>
          </a:p>
          <a:p>
            <a:endParaRPr lang="fr-CA" dirty="0"/>
          </a:p>
          <a:p>
            <a:r>
              <a:rPr lang="fr-CA" dirty="0"/>
              <a:t>CP–option de conversion : reclassé dans les actions ordinaires ou dans les RND</a:t>
            </a:r>
          </a:p>
          <a:p>
            <a:pPr marL="457200" lvl="1" indent="0">
              <a:buNone/>
            </a:pPr>
            <a:r>
              <a:rPr lang="fr-CA" dirty="0"/>
              <a:t>    </a:t>
            </a:r>
            <a:r>
              <a:rPr lang="fr-CA" sz="2200" dirty="0"/>
              <a:t>Emprunt obligataire</a:t>
            </a:r>
          </a:p>
          <a:p>
            <a:pPr marL="457200" lvl="1" indent="0">
              <a:buNone/>
            </a:pPr>
            <a:r>
              <a:rPr lang="fr-CA" sz="2200" dirty="0"/>
              <a:t>     CP – Privilège de conversion</a:t>
            </a:r>
          </a:p>
          <a:p>
            <a:pPr marL="457200" lvl="1" indent="0">
              <a:buNone/>
            </a:pPr>
            <a:r>
              <a:rPr lang="fr-CA" sz="2200" dirty="0"/>
              <a:t>    @  Actions ordinaires (OU RND pour le privilège de conversion)</a:t>
            </a:r>
            <a:endParaRPr lang="fr-CA" sz="2600"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111</a:t>
            </a:fld>
            <a:endParaRPr lang="fr-FR"/>
          </a:p>
        </p:txBody>
      </p:sp>
      <p:sp>
        <p:nvSpPr>
          <p:cNvPr id="5" name="Espace réservé du pied de page 4">
            <a:extLst>
              <a:ext uri="{FF2B5EF4-FFF2-40B4-BE49-F238E27FC236}">
                <a16:creationId xmlns:a16="http://schemas.microsoft.com/office/drawing/2014/main" id="{9357882A-A719-4748-B46D-03C82A39D7B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7573366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Obligation convertible </a:t>
            </a:r>
            <a:br>
              <a:rPr lang="fr-CA" dirty="0"/>
            </a:br>
            <a:r>
              <a:rPr lang="fr-CA" dirty="0"/>
              <a:t>- </a:t>
            </a:r>
            <a:r>
              <a:rPr lang="fr-CA" sz="3600" dirty="0"/>
              <a:t>annulation avant l’échéance</a:t>
            </a:r>
            <a:endParaRPr lang="fr-CA" dirty="0"/>
          </a:p>
        </p:txBody>
      </p:sp>
      <p:sp>
        <p:nvSpPr>
          <p:cNvPr id="3" name="Espace réservé du contenu 2"/>
          <p:cNvSpPr>
            <a:spLocks noGrp="1"/>
          </p:cNvSpPr>
          <p:nvPr>
            <p:ph idx="1"/>
          </p:nvPr>
        </p:nvSpPr>
        <p:spPr/>
        <p:txBody>
          <a:bodyPr/>
          <a:lstStyle/>
          <a:p>
            <a:r>
              <a:rPr lang="fr-CA" dirty="0"/>
              <a:t>Si remboursement avant l’échéance :</a:t>
            </a:r>
          </a:p>
          <a:p>
            <a:pPr lvl="1"/>
            <a:r>
              <a:rPr lang="fr-CA" dirty="0"/>
              <a:t>Affecter la contrepartie payée et tous les coûts de transaction du remboursement aux composantes passif et CP</a:t>
            </a:r>
          </a:p>
          <a:p>
            <a:pPr lvl="2"/>
            <a:r>
              <a:rPr lang="fr-CA" dirty="0"/>
              <a:t>méthode marginale : pour évaluer la JV du passif il faut actualiser les flux de trésorerie futurs au </a:t>
            </a:r>
            <a:r>
              <a:rPr lang="fr-CA" u="sng" dirty="0"/>
              <a:t>taux du marché à la date de remboursement</a:t>
            </a:r>
          </a:p>
          <a:p>
            <a:pPr lvl="2"/>
            <a:r>
              <a:rPr lang="fr-CA" dirty="0"/>
              <a:t>Profit/perte composante passif : résultat net</a:t>
            </a:r>
          </a:p>
          <a:p>
            <a:pPr lvl="2"/>
            <a:r>
              <a:rPr lang="fr-CA" dirty="0"/>
              <a:t>Profit/perte composante CP : CP</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112</a:t>
            </a:fld>
            <a:endParaRPr lang="fr-FR"/>
          </a:p>
        </p:txBody>
      </p:sp>
      <p:sp>
        <p:nvSpPr>
          <p:cNvPr id="5" name="Espace réservé du pied de page 4">
            <a:extLst>
              <a:ext uri="{FF2B5EF4-FFF2-40B4-BE49-F238E27FC236}">
                <a16:creationId xmlns:a16="http://schemas.microsoft.com/office/drawing/2014/main" id="{821B84E8-CC6D-41BF-A9A4-BE48408ED74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83372653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Obligation convertible </a:t>
            </a:r>
            <a:br>
              <a:rPr lang="fr-CA" dirty="0"/>
            </a:br>
            <a:r>
              <a:rPr lang="fr-CA" dirty="0"/>
              <a:t>- </a:t>
            </a:r>
            <a:r>
              <a:rPr lang="fr-CA" sz="3600" dirty="0"/>
              <a:t>annulation avant l’échéance</a:t>
            </a:r>
            <a:endParaRPr lang="fr-CA" dirty="0"/>
          </a:p>
        </p:txBody>
      </p:sp>
      <p:sp>
        <p:nvSpPr>
          <p:cNvPr id="3" name="Espace réservé du contenu 2"/>
          <p:cNvSpPr>
            <a:spLocks noGrp="1"/>
          </p:cNvSpPr>
          <p:nvPr>
            <p:ph idx="1"/>
          </p:nvPr>
        </p:nvSpPr>
        <p:spPr/>
        <p:txBody>
          <a:bodyPr>
            <a:normAutofit/>
          </a:bodyPr>
          <a:lstStyle/>
          <a:p>
            <a:r>
              <a:rPr lang="fr-CA" dirty="0"/>
              <a:t>Si modifications des privilèges de conversion initiaux pour induire une conversion anticipée – </a:t>
            </a:r>
            <a:r>
              <a:rPr lang="fr-CA" sz="2600" dirty="0"/>
              <a:t>en offrant un rapport de conversion plus favorable ou en payant une contrepartie supplémentaire en cas de conversion avant une date déterminée</a:t>
            </a:r>
            <a:endParaRPr lang="fr-CA" dirty="0"/>
          </a:p>
          <a:p>
            <a:pPr lvl="1"/>
            <a:r>
              <a:rPr lang="fr-CA" dirty="0"/>
              <a:t>La </a:t>
            </a:r>
            <a:r>
              <a:rPr lang="fr-CA" u="sng" dirty="0">
                <a:solidFill>
                  <a:srgbClr val="0070C0"/>
                </a:solidFill>
              </a:rPr>
              <a:t>différence</a:t>
            </a:r>
            <a:r>
              <a:rPr lang="fr-CA" dirty="0"/>
              <a:t>, à la date de modification des termes, entre la JV de la contrepartie reçue par le porteur lors de la conversion de l’instrument selon les termes modifiés et la JV de la contrepartie que le porteur aurait reçue selon les termes initiaux est comptabilisée à titre de </a:t>
            </a:r>
            <a:r>
              <a:rPr lang="fr-CA" u="sng" dirty="0">
                <a:solidFill>
                  <a:srgbClr val="0070C0"/>
                </a:solidFill>
              </a:rPr>
              <a:t>perte en résultat net</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113</a:t>
            </a:fld>
            <a:endParaRPr lang="fr-FR"/>
          </a:p>
        </p:txBody>
      </p:sp>
      <p:sp>
        <p:nvSpPr>
          <p:cNvPr id="5" name="Espace réservé du pied de page 4">
            <a:extLst>
              <a:ext uri="{FF2B5EF4-FFF2-40B4-BE49-F238E27FC236}">
                <a16:creationId xmlns:a16="http://schemas.microsoft.com/office/drawing/2014/main" id="{3DF9F6FE-0664-4178-BF88-E0B129549EF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71947091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  </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786662560"/>
              </p:ext>
            </p:extLst>
          </p:nvPr>
        </p:nvGraphicFramePr>
        <p:xfrm>
          <a:off x="838201" y="2194560"/>
          <a:ext cx="10515599" cy="3200400"/>
        </p:xfrm>
        <a:graphic>
          <a:graphicData uri="http://schemas.openxmlformats.org/drawingml/2006/table">
            <a:tbl>
              <a:tblPr firstRow="1" bandRow="1">
                <a:tableStyleId>{5C22544A-7EE6-4342-B048-85BDC9FD1C3A}</a:tableStyleId>
              </a:tblPr>
              <a:tblGrid>
                <a:gridCol w="3335557">
                  <a:extLst>
                    <a:ext uri="{9D8B030D-6E8A-4147-A177-3AD203B41FA5}">
                      <a16:colId xmlns:a16="http://schemas.microsoft.com/office/drawing/2014/main" val="20000"/>
                    </a:ext>
                  </a:extLst>
                </a:gridCol>
                <a:gridCol w="3590021">
                  <a:extLst>
                    <a:ext uri="{9D8B030D-6E8A-4147-A177-3AD203B41FA5}">
                      <a16:colId xmlns:a16="http://schemas.microsoft.com/office/drawing/2014/main" val="20001"/>
                    </a:ext>
                  </a:extLst>
                </a:gridCol>
                <a:gridCol w="3590021">
                  <a:extLst>
                    <a:ext uri="{9D8B030D-6E8A-4147-A177-3AD203B41FA5}">
                      <a16:colId xmlns:a16="http://schemas.microsoft.com/office/drawing/2014/main" val="20002"/>
                    </a:ext>
                  </a:extLst>
                </a:gridCol>
              </a:tblGrid>
              <a:tr h="370840">
                <a:tc>
                  <a:txBody>
                    <a:bodyPr/>
                    <a:lstStyle/>
                    <a:p>
                      <a:endParaRPr lang="fr-CA" sz="2400" dirty="0"/>
                    </a:p>
                  </a:txBody>
                  <a:tcPr/>
                </a:tc>
                <a:tc>
                  <a:txBody>
                    <a:bodyPr/>
                    <a:lstStyle/>
                    <a:p>
                      <a:r>
                        <a:rPr lang="fr-CA" sz="2400" dirty="0"/>
                        <a:t>Obligation convertible</a:t>
                      </a:r>
                    </a:p>
                  </a:txBody>
                  <a:tcPr/>
                </a:tc>
                <a:tc>
                  <a:txBody>
                    <a:bodyPr/>
                    <a:lstStyle/>
                    <a:p>
                      <a:r>
                        <a:rPr lang="fr-CA" sz="2400" dirty="0"/>
                        <a:t>Obligation avec bons de souscription</a:t>
                      </a:r>
                    </a:p>
                  </a:txBody>
                  <a:tcPr/>
                </a:tc>
                <a:extLst>
                  <a:ext uri="{0D108BD9-81ED-4DB2-BD59-A6C34878D82A}">
                    <a16:rowId xmlns:a16="http://schemas.microsoft.com/office/drawing/2014/main" val="10000"/>
                  </a:ext>
                </a:extLst>
              </a:tr>
              <a:tr h="370840">
                <a:tc>
                  <a:txBody>
                    <a:bodyPr/>
                    <a:lstStyle/>
                    <a:p>
                      <a:r>
                        <a:rPr lang="fr-CA" sz="2400" dirty="0"/>
                        <a:t>Comptabilisation</a:t>
                      </a:r>
                      <a:r>
                        <a:rPr lang="fr-CA" sz="2400" baseline="0" dirty="0"/>
                        <a:t> initiale</a:t>
                      </a:r>
                      <a:endParaRPr lang="fr-CA" sz="2400" dirty="0"/>
                    </a:p>
                  </a:txBody>
                  <a:tcPr/>
                </a:tc>
                <a:tc>
                  <a:txBody>
                    <a:bodyPr/>
                    <a:lstStyle/>
                    <a:p>
                      <a:r>
                        <a:rPr lang="fr-CA" sz="2400" dirty="0"/>
                        <a:t>2 composantes : passif et CP</a:t>
                      </a:r>
                    </a:p>
                  </a:txBody>
                  <a:tcPr/>
                </a:tc>
                <a:tc>
                  <a:txBody>
                    <a:bodyPr/>
                    <a:lstStyle/>
                    <a:p>
                      <a:r>
                        <a:rPr lang="fr-CA" sz="2400" dirty="0"/>
                        <a:t>idem</a:t>
                      </a:r>
                    </a:p>
                  </a:txBody>
                  <a:tcPr/>
                </a:tc>
                <a:extLst>
                  <a:ext uri="{0D108BD9-81ED-4DB2-BD59-A6C34878D82A}">
                    <a16:rowId xmlns:a16="http://schemas.microsoft.com/office/drawing/2014/main" val="10001"/>
                  </a:ext>
                </a:extLst>
              </a:tr>
              <a:tr h="1112520">
                <a:tc>
                  <a:txBody>
                    <a:bodyPr/>
                    <a:lstStyle/>
                    <a:p>
                      <a:r>
                        <a:rPr lang="fr-CA" sz="2400" dirty="0"/>
                        <a:t>Lors de l’exercice : conversion ou bons</a:t>
                      </a:r>
                    </a:p>
                  </a:txBody>
                  <a:tcPr/>
                </a:tc>
                <a:tc>
                  <a:txBody>
                    <a:bodyPr/>
                    <a:lstStyle/>
                    <a:p>
                      <a:r>
                        <a:rPr lang="fr-CA" sz="2400" dirty="0"/>
                        <a:t>Utilise l’obligation pour « payer » les</a:t>
                      </a:r>
                      <a:r>
                        <a:rPr lang="fr-CA" sz="2400" baseline="0" dirty="0"/>
                        <a:t> actions</a:t>
                      </a:r>
                      <a:endParaRPr lang="fr-CA" sz="2400" dirty="0"/>
                    </a:p>
                  </a:txBody>
                  <a:tcPr/>
                </a:tc>
                <a:tc>
                  <a:txBody>
                    <a:bodyPr/>
                    <a:lstStyle/>
                    <a:p>
                      <a:r>
                        <a:rPr lang="fr-CA" sz="2400" dirty="0"/>
                        <a:t>Doit investir des $ additionnels</a:t>
                      </a:r>
                      <a:r>
                        <a:rPr lang="fr-CA" sz="2400" baseline="0" dirty="0"/>
                        <a:t> pour payer les actions</a:t>
                      </a:r>
                    </a:p>
                    <a:p>
                      <a:r>
                        <a:rPr lang="fr-CA" sz="2400" baseline="0" dirty="0"/>
                        <a:t>Conserve l’obligation</a:t>
                      </a:r>
                      <a:endParaRPr lang="fr-CA" sz="2400" dirty="0"/>
                    </a:p>
                  </a:txBody>
                  <a:tcPr/>
                </a:tc>
                <a:extLst>
                  <a:ext uri="{0D108BD9-81ED-4DB2-BD59-A6C34878D82A}">
                    <a16:rowId xmlns:a16="http://schemas.microsoft.com/office/drawing/2014/main" val="10002"/>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114</a:t>
            </a:fld>
            <a:endParaRPr lang="fr-FR"/>
          </a:p>
        </p:txBody>
      </p:sp>
      <p:sp>
        <p:nvSpPr>
          <p:cNvPr id="3" name="Espace réservé du pied de page 2">
            <a:extLst>
              <a:ext uri="{FF2B5EF4-FFF2-40B4-BE49-F238E27FC236}">
                <a16:creationId xmlns:a16="http://schemas.microsoft.com/office/drawing/2014/main" id="{31373D06-24CF-4815-8C1F-6896D30905A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9122498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Exercice – Emprunt hypothécaire</a:t>
            </a:r>
          </a:p>
        </p:txBody>
      </p:sp>
      <p:sp>
        <p:nvSpPr>
          <p:cNvPr id="3" name="Espace réservé du contenu 2"/>
          <p:cNvSpPr>
            <a:spLocks noGrp="1"/>
          </p:cNvSpPr>
          <p:nvPr>
            <p:ph idx="1"/>
          </p:nvPr>
        </p:nvSpPr>
        <p:spPr/>
        <p:txBody>
          <a:bodyPr>
            <a:normAutofit/>
          </a:bodyPr>
          <a:lstStyle/>
          <a:p>
            <a:r>
              <a:rPr lang="fr-CA" dirty="0"/>
              <a:t>Emprunt de 10 000 $</a:t>
            </a:r>
          </a:p>
          <a:p>
            <a:r>
              <a:rPr lang="fr-CA" dirty="0"/>
              <a:t>Taux d’intérêts : 9 %</a:t>
            </a:r>
          </a:p>
          <a:p>
            <a:r>
              <a:rPr lang="fr-CA" dirty="0"/>
              <a:t>Échéance : 5 ans</a:t>
            </a:r>
          </a:p>
          <a:p>
            <a:r>
              <a:rPr lang="fr-CA" dirty="0"/>
              <a:t>Remboursable par versements annuels égaux</a:t>
            </a:r>
          </a:p>
          <a:p>
            <a:endParaRPr lang="fr-CA" dirty="0"/>
          </a:p>
          <a:p>
            <a:pPr>
              <a:buFont typeface="Wingdings" panose="05000000000000000000" pitchFamily="2" charset="2"/>
              <a:buChar char="Ø"/>
            </a:pPr>
            <a:r>
              <a:rPr lang="fr-CA" i="1" dirty="0"/>
              <a:t>Paiements?</a:t>
            </a:r>
          </a:p>
          <a:p>
            <a:pPr>
              <a:buFont typeface="Wingdings" panose="05000000000000000000" pitchFamily="2" charset="2"/>
              <a:buChar char="Ø"/>
            </a:pPr>
            <a:r>
              <a:rPr lang="fr-CA" i="1" dirty="0"/>
              <a:t>Préparer le tableau d’amortissement et les écritures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115</a:t>
            </a:fld>
            <a:endParaRPr lang="fr-FR"/>
          </a:p>
        </p:txBody>
      </p:sp>
      <p:sp>
        <p:nvSpPr>
          <p:cNvPr id="5" name="Espace réservé du pied de page 4">
            <a:extLst>
              <a:ext uri="{FF2B5EF4-FFF2-40B4-BE49-F238E27FC236}">
                <a16:creationId xmlns:a16="http://schemas.microsoft.com/office/drawing/2014/main" id="{0CC32B4D-8DB3-41E6-8B59-5AEB3B6FCDA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57781041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Exercice – Emprunt hypothécaire</a:t>
            </a:r>
          </a:p>
        </p:txBody>
      </p:sp>
      <p:sp>
        <p:nvSpPr>
          <p:cNvPr id="3" name="Espace réservé du contenu 2"/>
          <p:cNvSpPr>
            <a:spLocks noGrp="1"/>
          </p:cNvSpPr>
          <p:nvPr>
            <p:ph idx="1"/>
          </p:nvPr>
        </p:nvSpPr>
        <p:spPr/>
        <p:txBody>
          <a:bodyPr>
            <a:normAutofit/>
          </a:bodyPr>
          <a:lstStyle/>
          <a:p>
            <a:pPr marL="0" indent="0">
              <a:buNone/>
            </a:pPr>
            <a:r>
              <a:rPr lang="fr-CA" i="1" dirty="0"/>
              <a:t>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116</a:t>
            </a:fld>
            <a:endParaRPr lang="fr-FR"/>
          </a:p>
        </p:txBody>
      </p:sp>
      <p:graphicFrame>
        <p:nvGraphicFramePr>
          <p:cNvPr id="5" name="Objet 4"/>
          <p:cNvGraphicFramePr>
            <a:graphicFrameLocks noChangeAspect="1"/>
          </p:cNvGraphicFramePr>
          <p:nvPr/>
        </p:nvGraphicFramePr>
        <p:xfrm>
          <a:off x="1981200" y="1647826"/>
          <a:ext cx="6663690" cy="904432"/>
        </p:xfrm>
        <a:graphic>
          <a:graphicData uri="http://schemas.openxmlformats.org/presentationml/2006/ole">
            <mc:AlternateContent xmlns:mc="http://schemas.openxmlformats.org/markup-compatibility/2006">
              <mc:Choice xmlns:v="urn:schemas-microsoft-com:vml" Requires="v">
                <p:oleObj name="Feuille de calcul" r:id="rId2" imgW="6105371" imgH="828675" progId="Excel.Sheet.12">
                  <p:embed/>
                </p:oleObj>
              </mc:Choice>
              <mc:Fallback>
                <p:oleObj name="Feuille de calcul" r:id="rId2" imgW="6105371" imgH="828675" progId="Excel.Sheet.12">
                  <p:embed/>
                  <p:pic>
                    <p:nvPicPr>
                      <p:cNvPr id="5" name="Objet 4"/>
                      <p:cNvPicPr/>
                      <p:nvPr/>
                    </p:nvPicPr>
                    <p:blipFill>
                      <a:blip r:embed="rId3"/>
                      <a:stretch>
                        <a:fillRect/>
                      </a:stretch>
                    </p:blipFill>
                    <p:spPr>
                      <a:xfrm>
                        <a:off x="1981200" y="1647826"/>
                        <a:ext cx="6663690" cy="904432"/>
                      </a:xfrm>
                      <a:prstGeom prst="rect">
                        <a:avLst/>
                      </a:prstGeom>
                    </p:spPr>
                  </p:pic>
                </p:oleObj>
              </mc:Fallback>
            </mc:AlternateContent>
          </a:graphicData>
        </a:graphic>
      </p:graphicFrame>
      <p:graphicFrame>
        <p:nvGraphicFramePr>
          <p:cNvPr id="6" name="Objet 5"/>
          <p:cNvGraphicFramePr>
            <a:graphicFrameLocks noChangeAspect="1"/>
          </p:cNvGraphicFramePr>
          <p:nvPr/>
        </p:nvGraphicFramePr>
        <p:xfrm>
          <a:off x="5615940" y="2552259"/>
          <a:ext cx="3909060" cy="1790131"/>
        </p:xfrm>
        <a:graphic>
          <a:graphicData uri="http://schemas.openxmlformats.org/presentationml/2006/ole">
            <mc:AlternateContent xmlns:mc="http://schemas.openxmlformats.org/markup-compatibility/2006">
              <mc:Choice xmlns:v="urn:schemas-microsoft-com:vml" Requires="v">
                <p:oleObj name="Feuille de calcul" r:id="rId4" imgW="3057371" imgH="1400175" progId="Excel.Sheet.12">
                  <p:embed/>
                </p:oleObj>
              </mc:Choice>
              <mc:Fallback>
                <p:oleObj name="Feuille de calcul" r:id="rId4" imgW="3057371" imgH="1400175" progId="Excel.Sheet.12">
                  <p:embed/>
                  <p:pic>
                    <p:nvPicPr>
                      <p:cNvPr id="6" name="Objet 5"/>
                      <p:cNvPicPr/>
                      <p:nvPr/>
                    </p:nvPicPr>
                    <p:blipFill>
                      <a:blip r:embed="rId5"/>
                      <a:stretch>
                        <a:fillRect/>
                      </a:stretch>
                    </p:blipFill>
                    <p:spPr>
                      <a:xfrm>
                        <a:off x="5615940" y="2552259"/>
                        <a:ext cx="3909060" cy="1790131"/>
                      </a:xfrm>
                      <a:prstGeom prst="rect">
                        <a:avLst/>
                      </a:prstGeom>
                    </p:spPr>
                  </p:pic>
                </p:oleObj>
              </mc:Fallback>
            </mc:AlternateContent>
          </a:graphicData>
        </a:graphic>
      </p:graphicFrame>
      <p:graphicFrame>
        <p:nvGraphicFramePr>
          <p:cNvPr id="8" name="Objet 7"/>
          <p:cNvGraphicFramePr>
            <a:graphicFrameLocks noChangeAspect="1"/>
          </p:cNvGraphicFramePr>
          <p:nvPr/>
        </p:nvGraphicFramePr>
        <p:xfrm>
          <a:off x="2095500" y="4141092"/>
          <a:ext cx="4011930" cy="2012214"/>
        </p:xfrm>
        <a:graphic>
          <a:graphicData uri="http://schemas.openxmlformats.org/presentationml/2006/ole">
            <mc:AlternateContent xmlns:mc="http://schemas.openxmlformats.org/markup-compatibility/2006">
              <mc:Choice xmlns:v="urn:schemas-microsoft-com:vml" Requires="v">
                <p:oleObj name="Feuille de calcul" r:id="rId6" imgW="3057371" imgH="1533689" progId="Excel.Sheet.12">
                  <p:embed/>
                </p:oleObj>
              </mc:Choice>
              <mc:Fallback>
                <p:oleObj name="Feuille de calcul" r:id="rId6" imgW="3057371" imgH="1533689" progId="Excel.Sheet.12">
                  <p:embed/>
                  <p:pic>
                    <p:nvPicPr>
                      <p:cNvPr id="8" name="Objet 7"/>
                      <p:cNvPicPr/>
                      <p:nvPr/>
                    </p:nvPicPr>
                    <p:blipFill>
                      <a:blip r:embed="rId7"/>
                      <a:stretch>
                        <a:fillRect/>
                      </a:stretch>
                    </p:blipFill>
                    <p:spPr>
                      <a:xfrm>
                        <a:off x="2095500" y="4141092"/>
                        <a:ext cx="4011930" cy="2012214"/>
                      </a:xfrm>
                      <a:prstGeom prst="rect">
                        <a:avLst/>
                      </a:prstGeom>
                    </p:spPr>
                  </p:pic>
                </p:oleObj>
              </mc:Fallback>
            </mc:AlternateContent>
          </a:graphicData>
        </a:graphic>
      </p:graphicFrame>
      <p:sp>
        <p:nvSpPr>
          <p:cNvPr id="7" name="Espace réservé du pied de page 6">
            <a:extLst>
              <a:ext uri="{FF2B5EF4-FFF2-40B4-BE49-F238E27FC236}">
                <a16:creationId xmlns:a16="http://schemas.microsoft.com/office/drawing/2014/main" id="{00D68C0A-5C82-478B-900D-F773C647AF7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65857099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Exemple restructuration d’une dette</a:t>
            </a:r>
            <a:endParaRPr lang="fr-CA" dirty="0"/>
          </a:p>
        </p:txBody>
      </p:sp>
      <p:sp>
        <p:nvSpPr>
          <p:cNvPr id="3" name="Espace réservé du contenu 2"/>
          <p:cNvSpPr>
            <a:spLocks noGrp="1"/>
          </p:cNvSpPr>
          <p:nvPr>
            <p:ph idx="1"/>
          </p:nvPr>
        </p:nvSpPr>
        <p:spPr/>
        <p:txBody>
          <a:bodyPr>
            <a:normAutofit lnSpcReduction="10000"/>
          </a:bodyPr>
          <a:lstStyle/>
          <a:p>
            <a:pPr marL="0" indent="0">
              <a:buNone/>
            </a:pPr>
            <a:r>
              <a:rPr lang="fr-CA" dirty="0"/>
              <a:t>Au 31 décembre, renégociation des modalités d’un emprunt (donc avec même prêteur)</a:t>
            </a:r>
          </a:p>
          <a:p>
            <a:r>
              <a:rPr lang="fr-CA" dirty="0"/>
              <a:t>Solde du prêt : 400 000 $</a:t>
            </a:r>
          </a:p>
          <a:p>
            <a:r>
              <a:rPr lang="fr-CA" dirty="0"/>
              <a:t>Taux d’intérêt : de </a:t>
            </a:r>
            <a:r>
              <a:rPr lang="fr-CA" dirty="0">
                <a:highlight>
                  <a:srgbClr val="FFFF00"/>
                </a:highlight>
              </a:rPr>
              <a:t>7 % </a:t>
            </a:r>
            <a:r>
              <a:rPr lang="fr-CA" dirty="0"/>
              <a:t>à </a:t>
            </a:r>
            <a:r>
              <a:rPr lang="fr-CA" dirty="0">
                <a:highlight>
                  <a:srgbClr val="FFFF00"/>
                </a:highlight>
              </a:rPr>
              <a:t>5 %</a:t>
            </a:r>
          </a:p>
          <a:p>
            <a:r>
              <a:rPr lang="fr-CA" dirty="0"/>
              <a:t>Échéance : de 4 ans à 6 ans</a:t>
            </a:r>
          </a:p>
          <a:p>
            <a:r>
              <a:rPr lang="fr-CA" dirty="0"/>
              <a:t>Coût de transaction : 30 000 $</a:t>
            </a:r>
          </a:p>
          <a:p>
            <a:endParaRPr lang="fr-CA" dirty="0"/>
          </a:p>
          <a:p>
            <a:pPr>
              <a:buFont typeface="Wingdings" panose="05000000000000000000" pitchFamily="2" charset="2"/>
              <a:buChar char="Ø"/>
            </a:pPr>
            <a:r>
              <a:rPr lang="fr-CA" i="1" dirty="0"/>
              <a:t>Déterminez le traitement comptable</a:t>
            </a:r>
          </a:p>
          <a:p>
            <a:pPr>
              <a:buFont typeface="Wingdings" panose="05000000000000000000" pitchFamily="2" charset="2"/>
              <a:buChar char="Ø"/>
            </a:pPr>
            <a:r>
              <a:rPr lang="fr-CA" i="1" dirty="0"/>
              <a:t>Préparez le tableau d’amortissement de la dette ainsi que les écritures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117</a:t>
            </a:fld>
            <a:endParaRPr lang="fr-FR"/>
          </a:p>
        </p:txBody>
      </p:sp>
      <p:sp>
        <p:nvSpPr>
          <p:cNvPr id="5" name="Espace réservé du pied de page 4">
            <a:extLst>
              <a:ext uri="{FF2B5EF4-FFF2-40B4-BE49-F238E27FC236}">
                <a16:creationId xmlns:a16="http://schemas.microsoft.com/office/drawing/2014/main" id="{937D2310-4D14-4BD0-9B50-914093321BE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86315236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6EFC67-960C-4252-8F1E-21660E859274}"/>
              </a:ext>
            </a:extLst>
          </p:cNvPr>
          <p:cNvSpPr>
            <a:spLocks noGrp="1"/>
          </p:cNvSpPr>
          <p:nvPr>
            <p:ph type="title"/>
          </p:nvPr>
        </p:nvSpPr>
        <p:spPr/>
        <p:txBody>
          <a:bodyPr/>
          <a:lstStyle/>
          <a:p>
            <a:r>
              <a:rPr lang="fr-CA" dirty="0"/>
              <a:t>Restructuration d’une dette</a:t>
            </a:r>
            <a:endParaRPr lang="fr-FR" dirty="0"/>
          </a:p>
        </p:txBody>
      </p:sp>
      <p:sp>
        <p:nvSpPr>
          <p:cNvPr id="3" name="Espace réservé du contenu 2">
            <a:extLst>
              <a:ext uri="{FF2B5EF4-FFF2-40B4-BE49-F238E27FC236}">
                <a16:creationId xmlns:a16="http://schemas.microsoft.com/office/drawing/2014/main" id="{8328210B-7B81-45F7-A0EE-38B665FCA810}"/>
              </a:ext>
            </a:extLst>
          </p:cNvPr>
          <p:cNvSpPr>
            <a:spLocks noGrp="1"/>
          </p:cNvSpPr>
          <p:nvPr>
            <p:ph idx="1"/>
          </p:nvPr>
        </p:nvSpPr>
        <p:spPr/>
        <p:txBody>
          <a:bodyPr/>
          <a:lstStyle/>
          <a:p>
            <a:r>
              <a:rPr lang="fr-CA" dirty="0"/>
              <a:t>Choix d’inclure ou d’exclure les frais liés à la restructuration</a:t>
            </a:r>
          </a:p>
          <a:p>
            <a:r>
              <a:rPr lang="fr-CA" dirty="0"/>
              <a:t>Les deux approches sont présentées</a:t>
            </a:r>
            <a:endParaRPr lang="fr-FR" dirty="0"/>
          </a:p>
        </p:txBody>
      </p:sp>
      <p:sp>
        <p:nvSpPr>
          <p:cNvPr id="4" name="Espace réservé du pied de page 3">
            <a:extLst>
              <a:ext uri="{FF2B5EF4-FFF2-40B4-BE49-F238E27FC236}">
                <a16:creationId xmlns:a16="http://schemas.microsoft.com/office/drawing/2014/main" id="{DAFE5F05-A8E9-4BF2-A5C5-A7E2139C610A}"/>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E92EE857-F726-4FD4-B154-5D814928B9DA}"/>
              </a:ext>
            </a:extLst>
          </p:cNvPr>
          <p:cNvSpPr>
            <a:spLocks noGrp="1"/>
          </p:cNvSpPr>
          <p:nvPr>
            <p:ph type="sldNum" sz="quarter" idx="12"/>
          </p:nvPr>
        </p:nvSpPr>
        <p:spPr/>
        <p:txBody>
          <a:bodyPr/>
          <a:lstStyle/>
          <a:p>
            <a:fld id="{D5C8285E-D276-48ED-A38D-FCE3A7D9B93F}" type="slidenum">
              <a:rPr lang="fr-CA" smtClean="0"/>
              <a:t>118</a:t>
            </a:fld>
            <a:endParaRPr lang="fr-CA"/>
          </a:p>
        </p:txBody>
      </p:sp>
    </p:spTree>
    <p:extLst>
      <p:ext uri="{BB962C8B-B14F-4D97-AF65-F5344CB8AC3E}">
        <p14:creationId xmlns:p14="http://schemas.microsoft.com/office/powerpoint/2010/main" val="19453315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Solution - restructuration d’une dette</a:t>
            </a:r>
            <a:endParaRPr lang="fr-CA" dirty="0"/>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119</a:t>
            </a:fld>
            <a:endParaRPr lang="fr-FR"/>
          </a:p>
        </p:txBody>
      </p:sp>
      <p:graphicFrame>
        <p:nvGraphicFramePr>
          <p:cNvPr id="5" name="Objet 4"/>
          <p:cNvGraphicFramePr>
            <a:graphicFrameLocks noChangeAspect="1"/>
          </p:cNvGraphicFramePr>
          <p:nvPr>
            <p:extLst>
              <p:ext uri="{D42A27DB-BD31-4B8C-83A1-F6EECF244321}">
                <p14:modId xmlns:p14="http://schemas.microsoft.com/office/powerpoint/2010/main" val="3982748698"/>
              </p:ext>
            </p:extLst>
          </p:nvPr>
        </p:nvGraphicFramePr>
        <p:xfrm>
          <a:off x="838200" y="1881186"/>
          <a:ext cx="9574214" cy="3973075"/>
        </p:xfrm>
        <a:graphic>
          <a:graphicData uri="http://schemas.openxmlformats.org/presentationml/2006/ole">
            <mc:AlternateContent xmlns:mc="http://schemas.openxmlformats.org/markup-compatibility/2006">
              <mc:Choice xmlns:v="urn:schemas-microsoft-com:vml" Requires="v">
                <p:oleObj name="Feuille de calcul" r:id="rId2" imgW="6105371" imgH="2533814" progId="Excel.Sheet.12">
                  <p:embed/>
                </p:oleObj>
              </mc:Choice>
              <mc:Fallback>
                <p:oleObj name="Feuille de calcul" r:id="rId2" imgW="6105371" imgH="2533814" progId="Excel.Sheet.12">
                  <p:embed/>
                  <p:pic>
                    <p:nvPicPr>
                      <p:cNvPr id="5" name="Objet 4"/>
                      <p:cNvPicPr/>
                      <p:nvPr/>
                    </p:nvPicPr>
                    <p:blipFill>
                      <a:blip r:embed="rId3"/>
                      <a:stretch>
                        <a:fillRect/>
                      </a:stretch>
                    </p:blipFill>
                    <p:spPr>
                      <a:xfrm>
                        <a:off x="838200" y="1881186"/>
                        <a:ext cx="9574214" cy="3973075"/>
                      </a:xfrm>
                      <a:prstGeom prst="rect">
                        <a:avLst/>
                      </a:prstGeom>
                    </p:spPr>
                  </p:pic>
                </p:oleObj>
              </mc:Fallback>
            </mc:AlternateContent>
          </a:graphicData>
        </a:graphic>
      </p:graphicFrame>
      <p:sp>
        <p:nvSpPr>
          <p:cNvPr id="6" name="Espace réservé du pied de page 5">
            <a:extLst>
              <a:ext uri="{FF2B5EF4-FFF2-40B4-BE49-F238E27FC236}">
                <a16:creationId xmlns:a16="http://schemas.microsoft.com/office/drawing/2014/main" id="{870D2F92-DF2A-4D19-ADA7-ADED6529BF1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7199920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Solution - restructuration d’une dette</a:t>
            </a:r>
            <a:endParaRPr lang="fr-CA" dirty="0"/>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120</a:t>
            </a:fld>
            <a:endParaRPr lang="fr-FR"/>
          </a:p>
        </p:txBody>
      </p:sp>
      <p:graphicFrame>
        <p:nvGraphicFramePr>
          <p:cNvPr id="6" name="Objet 5"/>
          <p:cNvGraphicFramePr>
            <a:graphicFrameLocks noChangeAspect="1"/>
          </p:cNvGraphicFramePr>
          <p:nvPr>
            <p:extLst>
              <p:ext uri="{D42A27DB-BD31-4B8C-83A1-F6EECF244321}">
                <p14:modId xmlns:p14="http://schemas.microsoft.com/office/powerpoint/2010/main" val="2533383763"/>
              </p:ext>
            </p:extLst>
          </p:nvPr>
        </p:nvGraphicFramePr>
        <p:xfrm>
          <a:off x="6202299" y="1646237"/>
          <a:ext cx="5151502" cy="2904741"/>
        </p:xfrm>
        <a:graphic>
          <a:graphicData uri="http://schemas.openxmlformats.org/presentationml/2006/ole">
            <mc:AlternateContent xmlns:mc="http://schemas.openxmlformats.org/markup-compatibility/2006">
              <mc:Choice xmlns:v="urn:schemas-microsoft-com:vml" Requires="v">
                <p:oleObj name="Feuille de calcul" r:id="rId2" imgW="3057371" imgH="1723861" progId="Excel.Sheet.12">
                  <p:embed/>
                </p:oleObj>
              </mc:Choice>
              <mc:Fallback>
                <p:oleObj name="Feuille de calcul" r:id="rId2" imgW="3057371" imgH="1723861" progId="Excel.Sheet.12">
                  <p:embed/>
                  <p:pic>
                    <p:nvPicPr>
                      <p:cNvPr id="6" name="Objet 5"/>
                      <p:cNvPicPr/>
                      <p:nvPr/>
                    </p:nvPicPr>
                    <p:blipFill>
                      <a:blip r:embed="rId3"/>
                      <a:stretch>
                        <a:fillRect/>
                      </a:stretch>
                    </p:blipFill>
                    <p:spPr>
                      <a:xfrm>
                        <a:off x="6202299" y="1646237"/>
                        <a:ext cx="5151502" cy="2904741"/>
                      </a:xfrm>
                      <a:prstGeom prst="rect">
                        <a:avLst/>
                      </a:prstGeom>
                    </p:spPr>
                  </p:pic>
                </p:oleObj>
              </mc:Fallback>
            </mc:AlternateContent>
          </a:graphicData>
        </a:graphic>
      </p:graphicFrame>
      <p:graphicFrame>
        <p:nvGraphicFramePr>
          <p:cNvPr id="9" name="Objet 8"/>
          <p:cNvGraphicFramePr>
            <a:graphicFrameLocks noChangeAspect="1"/>
          </p:cNvGraphicFramePr>
          <p:nvPr>
            <p:extLst>
              <p:ext uri="{D42A27DB-BD31-4B8C-83A1-F6EECF244321}">
                <p14:modId xmlns:p14="http://schemas.microsoft.com/office/powerpoint/2010/main" val="2863800207"/>
              </p:ext>
            </p:extLst>
          </p:nvPr>
        </p:nvGraphicFramePr>
        <p:xfrm>
          <a:off x="838200" y="2934943"/>
          <a:ext cx="5167857" cy="3557933"/>
        </p:xfrm>
        <a:graphic>
          <a:graphicData uri="http://schemas.openxmlformats.org/presentationml/2006/ole">
            <mc:AlternateContent xmlns:mc="http://schemas.openxmlformats.org/markup-compatibility/2006">
              <mc:Choice xmlns:v="urn:schemas-microsoft-com:vml" Requires="v">
                <p:oleObj name="Feuille de calcul" r:id="rId4" imgW="3057371" imgH="2105189" progId="Excel.Sheet.12">
                  <p:embed/>
                </p:oleObj>
              </mc:Choice>
              <mc:Fallback>
                <p:oleObj name="Feuille de calcul" r:id="rId4" imgW="3057371" imgH="2105189" progId="Excel.Sheet.12">
                  <p:embed/>
                  <p:pic>
                    <p:nvPicPr>
                      <p:cNvPr id="9" name="Objet 8"/>
                      <p:cNvPicPr/>
                      <p:nvPr/>
                    </p:nvPicPr>
                    <p:blipFill>
                      <a:blip r:embed="rId5"/>
                      <a:stretch>
                        <a:fillRect/>
                      </a:stretch>
                    </p:blipFill>
                    <p:spPr>
                      <a:xfrm>
                        <a:off x="838200" y="2934943"/>
                        <a:ext cx="5167857" cy="3557933"/>
                      </a:xfrm>
                      <a:prstGeom prst="rect">
                        <a:avLst/>
                      </a:prstGeom>
                    </p:spPr>
                  </p:pic>
                </p:oleObj>
              </mc:Fallback>
            </mc:AlternateContent>
          </a:graphicData>
        </a:graphic>
      </p:graphicFrame>
      <p:sp>
        <p:nvSpPr>
          <p:cNvPr id="5" name="Espace réservé du pied de page 4">
            <a:extLst>
              <a:ext uri="{FF2B5EF4-FFF2-40B4-BE49-F238E27FC236}">
                <a16:creationId xmlns:a16="http://schemas.microsoft.com/office/drawing/2014/main" id="{3EFFC705-D9CB-4B80-B86B-74FD76D654D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49512997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Frais</a:t>
            </a:r>
          </a:p>
        </p:txBody>
      </p:sp>
      <p:sp>
        <p:nvSpPr>
          <p:cNvPr id="3" name="Espace réservé du contenu 2"/>
          <p:cNvSpPr>
            <a:spLocks noGrp="1"/>
          </p:cNvSpPr>
          <p:nvPr>
            <p:ph idx="1"/>
          </p:nvPr>
        </p:nvSpPr>
        <p:spPr/>
        <p:txBody>
          <a:bodyPr>
            <a:normAutofit/>
          </a:bodyPr>
          <a:lstStyle/>
          <a:p>
            <a:pPr marL="0" indent="0">
              <a:buNone/>
            </a:pPr>
            <a:r>
              <a:rPr lang="fr-CA" sz="2000" dirty="0"/>
              <a:t>Frais lors de la modification : </a:t>
            </a:r>
          </a:p>
          <a:p>
            <a:r>
              <a:rPr lang="fr-CA" sz="2000" dirty="0"/>
              <a:t>Honoraires et commissions versés aux agents, conseils et courtiers, montants prélevés par les Bourses de valeur ainsi que taxes et droits de transfert</a:t>
            </a:r>
          </a:p>
          <a:p>
            <a:r>
              <a:rPr lang="fr-CA" sz="2000" dirty="0"/>
              <a:t>Ne comprennent pas les primes ou escomptes sur les titres d’emprunt, les coûts de financement, les frais de gestion interne ou les frais de siège</a:t>
            </a:r>
            <a:endParaRPr lang="fr-CA" dirty="0"/>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121</a:t>
            </a:fld>
            <a:endParaRPr lang="fr-FR"/>
          </a:p>
        </p:txBody>
      </p:sp>
      <p:graphicFrame>
        <p:nvGraphicFramePr>
          <p:cNvPr id="5" name="Tableau 4"/>
          <p:cNvGraphicFramePr>
            <a:graphicFrameLocks noGrp="1"/>
          </p:cNvGraphicFramePr>
          <p:nvPr/>
        </p:nvGraphicFramePr>
        <p:xfrm>
          <a:off x="2087880" y="3863181"/>
          <a:ext cx="7848600" cy="2570480"/>
        </p:xfrm>
        <a:graphic>
          <a:graphicData uri="http://schemas.openxmlformats.org/drawingml/2006/table">
            <a:tbl>
              <a:tblPr firstRow="1" bandRow="1">
                <a:tableStyleId>{5C22544A-7EE6-4342-B048-85BDC9FD1C3A}</a:tableStyleId>
              </a:tblPr>
              <a:tblGrid>
                <a:gridCol w="3924300">
                  <a:extLst>
                    <a:ext uri="{9D8B030D-6E8A-4147-A177-3AD203B41FA5}">
                      <a16:colId xmlns:a16="http://schemas.microsoft.com/office/drawing/2014/main" val="20000"/>
                    </a:ext>
                  </a:extLst>
                </a:gridCol>
                <a:gridCol w="3924300">
                  <a:extLst>
                    <a:ext uri="{9D8B030D-6E8A-4147-A177-3AD203B41FA5}">
                      <a16:colId xmlns:a16="http://schemas.microsoft.com/office/drawing/2014/main" val="20001"/>
                    </a:ext>
                  </a:extLst>
                </a:gridCol>
              </a:tblGrid>
              <a:tr h="370840">
                <a:tc>
                  <a:txBody>
                    <a:bodyPr/>
                    <a:lstStyle/>
                    <a:p>
                      <a:r>
                        <a:rPr lang="fr-CA" dirty="0"/>
                        <a:t>Substance de l’opération</a:t>
                      </a:r>
                    </a:p>
                  </a:txBody>
                  <a:tcPr/>
                </a:tc>
                <a:tc>
                  <a:txBody>
                    <a:bodyPr/>
                    <a:lstStyle/>
                    <a:p>
                      <a:r>
                        <a:rPr lang="fr-CA" dirty="0"/>
                        <a:t>Frais et honoraires</a:t>
                      </a:r>
                    </a:p>
                  </a:txBody>
                  <a:tcPr/>
                </a:tc>
                <a:extLst>
                  <a:ext uri="{0D108BD9-81ED-4DB2-BD59-A6C34878D82A}">
                    <a16:rowId xmlns:a16="http://schemas.microsoft.com/office/drawing/2014/main" val="10000"/>
                  </a:ext>
                </a:extLst>
              </a:tr>
              <a:tr h="370840">
                <a:tc>
                  <a:txBody>
                    <a:bodyPr/>
                    <a:lstStyle/>
                    <a:p>
                      <a:r>
                        <a:rPr lang="fr-CA" dirty="0"/>
                        <a:t>Extinction de la dette initiale</a:t>
                      </a:r>
                    </a:p>
                  </a:txBody>
                  <a:tcPr/>
                </a:tc>
                <a:tc>
                  <a:txBody>
                    <a:bodyPr/>
                    <a:lstStyle/>
                    <a:p>
                      <a:r>
                        <a:rPr lang="fr-CA" dirty="0"/>
                        <a:t>Portion du profit /</a:t>
                      </a:r>
                      <a:r>
                        <a:rPr lang="fr-CA" baseline="0" dirty="0"/>
                        <a:t> perte au résultat net</a:t>
                      </a:r>
                      <a:endParaRPr lang="fr-CA" dirty="0"/>
                    </a:p>
                  </a:txBody>
                  <a:tcPr/>
                </a:tc>
                <a:extLst>
                  <a:ext uri="{0D108BD9-81ED-4DB2-BD59-A6C34878D82A}">
                    <a16:rowId xmlns:a16="http://schemas.microsoft.com/office/drawing/2014/main" val="10001"/>
                  </a:ext>
                </a:extLst>
              </a:tr>
              <a:tr h="370840">
                <a:tc>
                  <a:txBody>
                    <a:bodyPr/>
                    <a:lstStyle/>
                    <a:p>
                      <a:r>
                        <a:rPr lang="fr-CA" dirty="0"/>
                        <a:t>Modification de la dette initiale et le passif est évalué au coût amorti</a:t>
                      </a:r>
                    </a:p>
                  </a:txBody>
                  <a:tcPr/>
                </a:tc>
                <a:tc>
                  <a:txBody>
                    <a:bodyPr/>
                    <a:lstStyle/>
                    <a:p>
                      <a:r>
                        <a:rPr lang="fr-CA" dirty="0"/>
                        <a:t>Ajustés à la valeur comptable de la dette modifiée et amortis sur sa durée de vie restante</a:t>
                      </a:r>
                    </a:p>
                  </a:txBody>
                  <a:tcPr/>
                </a:tc>
                <a:extLst>
                  <a:ext uri="{0D108BD9-81ED-4DB2-BD59-A6C34878D82A}">
                    <a16:rowId xmlns:a16="http://schemas.microsoft.com/office/drawing/2014/main" val="1000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dirty="0"/>
                        <a:t>Modification de la dette initiale et le passif est classé</a:t>
                      </a:r>
                      <a:r>
                        <a:rPr lang="fr-CA" baseline="0" dirty="0"/>
                        <a:t> à la juste valeur par le biais du résultat net</a:t>
                      </a:r>
                      <a:endParaRPr lang="fr-CA" dirty="0"/>
                    </a:p>
                  </a:txBody>
                  <a:tcPr/>
                </a:tc>
                <a:tc>
                  <a:txBody>
                    <a:bodyPr/>
                    <a:lstStyle/>
                    <a:p>
                      <a:r>
                        <a:rPr lang="fr-CA" dirty="0"/>
                        <a:t>Au résultat net</a:t>
                      </a:r>
                    </a:p>
                  </a:txBody>
                  <a:tcPr/>
                </a:tc>
                <a:extLst>
                  <a:ext uri="{0D108BD9-81ED-4DB2-BD59-A6C34878D82A}">
                    <a16:rowId xmlns:a16="http://schemas.microsoft.com/office/drawing/2014/main" val="10003"/>
                  </a:ext>
                </a:extLst>
              </a:tr>
            </a:tbl>
          </a:graphicData>
        </a:graphic>
      </p:graphicFrame>
      <p:sp>
        <p:nvSpPr>
          <p:cNvPr id="6" name="Espace réservé du pied de page 5">
            <a:extLst>
              <a:ext uri="{FF2B5EF4-FFF2-40B4-BE49-F238E27FC236}">
                <a16:creationId xmlns:a16="http://schemas.microsoft.com/office/drawing/2014/main" id="{79F9BEBA-9763-4CCD-B390-71CA4F03BF9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28774844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t>Présentation dans les états financiers</a:t>
            </a:r>
          </a:p>
        </p:txBody>
      </p:sp>
      <p:sp>
        <p:nvSpPr>
          <p:cNvPr id="3" name="Espace réservé du contenu 2"/>
          <p:cNvSpPr>
            <a:spLocks noGrp="1"/>
          </p:cNvSpPr>
          <p:nvPr>
            <p:ph idx="1"/>
          </p:nvPr>
        </p:nvSpPr>
        <p:spPr/>
        <p:txBody>
          <a:bodyPr/>
          <a:lstStyle/>
          <a:p>
            <a:r>
              <a:rPr lang="fr-CA" dirty="0"/>
              <a:t>Classement courant / non courant</a:t>
            </a:r>
          </a:p>
          <a:p>
            <a:pPr lvl="1"/>
            <a:r>
              <a:rPr lang="fr-CA" dirty="0"/>
              <a:t>Attention si manquement aux clauses protectrices : classement dans le courant</a:t>
            </a:r>
          </a:p>
          <a:p>
            <a:pPr lvl="2"/>
            <a:r>
              <a:rPr lang="fr-CA" dirty="0"/>
              <a:t>Sauf si renonciation par le prêteur pour 12 mois</a:t>
            </a:r>
          </a:p>
          <a:p>
            <a:pPr marL="457200" lvl="1" indent="0">
              <a:buNone/>
            </a:pPr>
            <a:endParaRPr lang="fr-CA" dirty="0"/>
          </a:p>
          <a:p>
            <a:r>
              <a:rPr lang="fr-CA" dirty="0"/>
              <a:t>Notes aux états financiers, décrivant les principales modalités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122</a:t>
            </a:fld>
            <a:endParaRPr lang="fr-FR"/>
          </a:p>
        </p:txBody>
      </p:sp>
      <p:sp>
        <p:nvSpPr>
          <p:cNvPr id="5" name="Espace réservé du pied de page 4">
            <a:extLst>
              <a:ext uri="{FF2B5EF4-FFF2-40B4-BE49-F238E27FC236}">
                <a16:creationId xmlns:a16="http://schemas.microsoft.com/office/drawing/2014/main" id="{A5765934-84BE-4096-9C2E-08293804587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501436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solidFill>
                  <a:srgbClr val="FF0000"/>
                </a:solidFill>
              </a:rPr>
              <a:t>Comptabilité de couverture</a:t>
            </a:r>
            <a:endParaRPr lang="fr-CA" dirty="0"/>
          </a:p>
        </p:txBody>
      </p:sp>
      <p:sp>
        <p:nvSpPr>
          <p:cNvPr id="3" name="Espace réservé du contenu 2"/>
          <p:cNvSpPr>
            <a:spLocks noGrp="1"/>
          </p:cNvSpPr>
          <p:nvPr>
            <p:ph idx="1"/>
          </p:nvPr>
        </p:nvSpPr>
        <p:spPr/>
        <p:txBody>
          <a:bodyPr/>
          <a:lstStyle/>
          <a:p>
            <a:pPr marL="0" indent="0" algn="ctr">
              <a:buNone/>
            </a:pPr>
            <a:r>
              <a:rPr lang="fr-CA" sz="4000" dirty="0">
                <a:solidFill>
                  <a:srgbClr val="FF0000"/>
                </a:solidFill>
              </a:rPr>
              <a:t>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123</a:t>
            </a:fld>
            <a:endParaRPr lang="fr-FR"/>
          </a:p>
        </p:txBody>
      </p:sp>
      <p:sp>
        <p:nvSpPr>
          <p:cNvPr id="5" name="Espace réservé du pied de page 4">
            <a:extLst>
              <a:ext uri="{FF2B5EF4-FFF2-40B4-BE49-F238E27FC236}">
                <a16:creationId xmlns:a16="http://schemas.microsoft.com/office/drawing/2014/main" id="{420EBB81-1C41-46FE-859D-86FC4652DE1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17235272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Comptabilité de couverture</a:t>
            </a:r>
          </a:p>
        </p:txBody>
      </p:sp>
      <p:sp>
        <p:nvSpPr>
          <p:cNvPr id="3" name="Espace réservé du contenu 2"/>
          <p:cNvSpPr>
            <a:spLocks noGrp="1"/>
          </p:cNvSpPr>
          <p:nvPr>
            <p:ph idx="1"/>
          </p:nvPr>
        </p:nvSpPr>
        <p:spPr/>
        <p:txBody>
          <a:bodyPr>
            <a:normAutofit/>
          </a:bodyPr>
          <a:lstStyle/>
          <a:p>
            <a:r>
              <a:rPr lang="fr-FR" dirty="0"/>
              <a:t>L’objectif de la comptabilité́ de couverture est que les gains, pertes, produits et charges qui se compensent soient comptabilisés en résultat net au cours de la même ou des mêmes périodes </a:t>
            </a:r>
          </a:p>
          <a:p>
            <a:endParaRPr lang="fr-FR" dirty="0"/>
          </a:p>
          <a:p>
            <a:r>
              <a:rPr lang="fr-FR" dirty="0"/>
              <a:t>La comptabilité́ de couverture est facultative </a:t>
            </a:r>
          </a:p>
          <a:p>
            <a:pPr lvl="1"/>
            <a:r>
              <a:rPr lang="fr-FR" dirty="0"/>
              <a:t>Décision lors de la constatation initiale</a:t>
            </a:r>
          </a:p>
          <a:p>
            <a:pPr lvl="1"/>
            <a:r>
              <a:rPr lang="fr-FR" dirty="0"/>
              <a:t>Les relations de couverture doivent être admissibles</a:t>
            </a:r>
          </a:p>
          <a:p>
            <a:pPr lvl="2"/>
            <a:r>
              <a:rPr lang="fr-FR" dirty="0"/>
              <a:t>Quantités et échéances </a:t>
            </a:r>
            <a:r>
              <a:rPr lang="fr-FR" i="1" dirty="0"/>
              <a:t>concordent</a:t>
            </a:r>
          </a:p>
          <a:p>
            <a:pPr lvl="3"/>
            <a:r>
              <a:rPr lang="fr-FR" i="1" dirty="0"/>
              <a:t>Efficacité de la couverture</a:t>
            </a:r>
            <a:endParaRPr lang="fr-FR" dirty="0"/>
          </a:p>
          <a:p>
            <a:pPr lvl="2"/>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124</a:t>
            </a:fld>
            <a:endParaRPr lang="fr-FR"/>
          </a:p>
        </p:txBody>
      </p:sp>
      <p:sp>
        <p:nvSpPr>
          <p:cNvPr id="5" name="Espace réservé du pied de page 4">
            <a:extLst>
              <a:ext uri="{FF2B5EF4-FFF2-40B4-BE49-F238E27FC236}">
                <a16:creationId xmlns:a16="http://schemas.microsoft.com/office/drawing/2014/main" id="{C3F99308-2F0E-44E8-8E64-5E7DC3887E9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39440325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Types de couverture</a:t>
            </a:r>
          </a:p>
        </p:txBody>
      </p:sp>
      <p:sp>
        <p:nvSpPr>
          <p:cNvPr id="3" name="Espace réservé du contenu 2"/>
          <p:cNvSpPr>
            <a:spLocks noGrp="1"/>
          </p:cNvSpPr>
          <p:nvPr>
            <p:ph idx="1"/>
          </p:nvPr>
        </p:nvSpPr>
        <p:spPr/>
        <p:txBody>
          <a:bodyPr>
            <a:normAutofit/>
          </a:bodyPr>
          <a:lstStyle/>
          <a:p>
            <a:r>
              <a:rPr lang="fr-CA" dirty="0"/>
              <a:t>Couverture de juste valeur </a:t>
            </a:r>
          </a:p>
          <a:p>
            <a:pPr lvl="1"/>
            <a:r>
              <a:rPr lang="fr-CA" dirty="0"/>
              <a:t>Swap taux fixe à taux variable (juste valeur)</a:t>
            </a:r>
          </a:p>
          <a:p>
            <a:pPr marL="457200" lvl="1" indent="0">
              <a:buNone/>
            </a:pPr>
            <a:endParaRPr lang="fr-CA" sz="800" dirty="0"/>
          </a:p>
          <a:p>
            <a:r>
              <a:rPr lang="fr-CA" dirty="0"/>
              <a:t>Couverture de flux de trésorerie</a:t>
            </a:r>
          </a:p>
          <a:p>
            <a:pPr lvl="1"/>
            <a:r>
              <a:rPr lang="fr-CA" dirty="0"/>
              <a:t>Achat </a:t>
            </a:r>
            <a:r>
              <a:rPr lang="fr-CA" dirty="0" err="1"/>
              <a:t>immo</a:t>
            </a:r>
            <a:r>
              <a:rPr lang="fr-CA" dirty="0"/>
              <a:t> en devise, date de paiement dans le futur</a:t>
            </a:r>
          </a:p>
          <a:p>
            <a:pPr marL="457200" lvl="1" indent="0">
              <a:buNone/>
            </a:pPr>
            <a:endParaRPr lang="fr-CA" sz="800" dirty="0"/>
          </a:p>
          <a:p>
            <a:r>
              <a:rPr lang="fr-CA" dirty="0"/>
              <a:t>Couverture d’un investissement net dans un établissement étranger autonome</a:t>
            </a:r>
          </a:p>
          <a:p>
            <a:pPr lvl="1"/>
            <a:r>
              <a:rPr lang="fr-CA" dirty="0"/>
              <a:t>Similaire à couverture de flux de trésorerie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125</a:t>
            </a:fld>
            <a:endParaRPr lang="fr-FR"/>
          </a:p>
        </p:txBody>
      </p:sp>
      <p:sp>
        <p:nvSpPr>
          <p:cNvPr id="5" name="Espace réservé du pied de page 4">
            <a:extLst>
              <a:ext uri="{FF2B5EF4-FFF2-40B4-BE49-F238E27FC236}">
                <a16:creationId xmlns:a16="http://schemas.microsoft.com/office/drawing/2014/main" id="{5E70DF75-CAA6-481A-AE19-C59B2777F66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7857936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Comptabilité de couverture</a:t>
            </a:r>
          </a:p>
        </p:txBody>
      </p:sp>
      <p:sp>
        <p:nvSpPr>
          <p:cNvPr id="3" name="Espace réservé du contenu 2"/>
          <p:cNvSpPr>
            <a:spLocks noGrp="1"/>
          </p:cNvSpPr>
          <p:nvPr>
            <p:ph idx="1"/>
          </p:nvPr>
        </p:nvSpPr>
        <p:spPr/>
        <p:txBody>
          <a:bodyPr>
            <a:normAutofit/>
          </a:bodyPr>
          <a:lstStyle/>
          <a:p>
            <a:r>
              <a:rPr lang="fr-FR" dirty="0"/>
              <a:t>Parmi les types de relations de couverture les plus fréquents, nous trouvons : </a:t>
            </a:r>
          </a:p>
          <a:p>
            <a:pPr lvl="1"/>
            <a:r>
              <a:rPr lang="fr-FR" dirty="0"/>
              <a:t>Couverture de débours et encaissements en trésorerie en provenance et à destination de fournisseurs et de clients étrangers au moyen de contrats de change à terme</a:t>
            </a:r>
          </a:p>
          <a:p>
            <a:pPr lvl="1"/>
            <a:r>
              <a:rPr lang="fr-FR" dirty="0"/>
              <a:t>Couverture du prix des marchandises ayant une incidence sur le coût des fournitures ou le prix de vente, au moyen de contrats à terme de gré́ à gré́ sur marchandises et de contrats à terme négociables en bourse</a:t>
            </a:r>
          </a:p>
          <a:p>
            <a:pPr lvl="1"/>
            <a:r>
              <a:rPr lang="fr-FR" dirty="0"/>
              <a:t>Couverture d’emprunts à taux variable au moyen d’emprunts payeurs de taux d’intérêts fixes/receveurs de taux d’intérêts variables</a:t>
            </a:r>
          </a:p>
          <a:p>
            <a:pPr lvl="1"/>
            <a:endParaRPr lang="fr-FR" dirty="0"/>
          </a:p>
          <a:p>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126</a:t>
            </a:fld>
            <a:endParaRPr lang="fr-FR"/>
          </a:p>
        </p:txBody>
      </p:sp>
      <p:sp>
        <p:nvSpPr>
          <p:cNvPr id="5" name="Espace réservé du pied de page 4">
            <a:extLst>
              <a:ext uri="{FF2B5EF4-FFF2-40B4-BE49-F238E27FC236}">
                <a16:creationId xmlns:a16="http://schemas.microsoft.com/office/drawing/2014/main" id="{44A27AE9-27F7-4BEF-92A2-168D3653779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78131671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274638"/>
            <a:ext cx="10515600" cy="582612"/>
          </a:xfrm>
        </p:spPr>
        <p:txBody>
          <a:bodyPr>
            <a:normAutofit fontScale="90000"/>
          </a:bodyPr>
          <a:lstStyle/>
          <a:p>
            <a:r>
              <a:rPr lang="fr-FR" sz="3600" dirty="0"/>
              <a:t>Comptabilité de couverture – Exemple</a:t>
            </a:r>
          </a:p>
        </p:txBody>
      </p:sp>
      <p:sp>
        <p:nvSpPr>
          <p:cNvPr id="3" name="Espace réservé du contenu 2"/>
          <p:cNvSpPr>
            <a:spLocks noGrp="1"/>
          </p:cNvSpPr>
          <p:nvPr>
            <p:ph idx="1"/>
          </p:nvPr>
        </p:nvSpPr>
        <p:spPr>
          <a:xfrm>
            <a:off x="838200" y="948691"/>
            <a:ext cx="10515600" cy="5538893"/>
          </a:xfrm>
        </p:spPr>
        <p:txBody>
          <a:bodyPr>
            <a:normAutofit fontScale="62500" lnSpcReduction="20000"/>
          </a:bodyPr>
          <a:lstStyle/>
          <a:p>
            <a:pPr marL="0" indent="0">
              <a:buNone/>
            </a:pPr>
            <a:r>
              <a:rPr lang="fr-FR" dirty="0"/>
              <a:t>Le 30 septembre 20x7, ABC commande une machine de 1 M$US. La date prévue de réception et de paiement de la machine est le 31 mars 20x8. Considérez que la machine est effectivement reçue le 31 mars 20x8.</a:t>
            </a:r>
          </a:p>
          <a:p>
            <a:pPr marL="0" indent="0">
              <a:buNone/>
            </a:pPr>
            <a:endParaRPr lang="fr-FR" dirty="0"/>
          </a:p>
          <a:p>
            <a:r>
              <a:rPr lang="fr-FR" dirty="0"/>
              <a:t>Le 30 septembre 20x7, ABC décide de couvrir le risque de change ($US en $CAN) sur l’achat de la machine en $US (élément couvert) en concluant un contrat à terme (élément ou instrument de couverture) pour acheter 1 M$US à un taux fixe (cours à terme). Le contrat vient à échéance le 31 mars 20x8 (sa durée est de 6 mois) </a:t>
            </a:r>
          </a:p>
          <a:p>
            <a:r>
              <a:rPr lang="fr-FR" dirty="0"/>
              <a:t>Voici les cours (taux) de change aux différentes dates </a:t>
            </a:r>
          </a:p>
          <a:p>
            <a:endParaRPr lang="fr-FR" dirty="0"/>
          </a:p>
          <a:p>
            <a:endParaRPr lang="fr-FR" dirty="0"/>
          </a:p>
          <a:p>
            <a:endParaRPr lang="fr-FR" dirty="0"/>
          </a:p>
          <a:p>
            <a:pPr marL="0" indent="0">
              <a:buNone/>
            </a:pPr>
            <a:endParaRPr lang="fr-FR" dirty="0"/>
          </a:p>
          <a:p>
            <a:pPr marL="0" indent="0">
              <a:buNone/>
            </a:pPr>
            <a:endParaRPr lang="fr-FR" dirty="0"/>
          </a:p>
          <a:p>
            <a:endParaRPr lang="fr-FR" dirty="0"/>
          </a:p>
          <a:p>
            <a:pPr marL="0" indent="0">
              <a:buNone/>
            </a:pPr>
            <a:endParaRPr lang="fr-FR" dirty="0"/>
          </a:p>
          <a:p>
            <a:endParaRPr lang="fr-FR" dirty="0"/>
          </a:p>
          <a:p>
            <a:r>
              <a:rPr lang="fr-FR" dirty="0"/>
              <a:t>La juste valeur du contrat à terme le 31 décembre 20x7 et 31 mars 20x8 établie par la banque est de 39 700 $ et 150 000 $ respectivement (au 31 mars 20x8 la JV égale le montant à recevoir en vertu du contrat à terme). </a:t>
            </a:r>
          </a:p>
          <a:p>
            <a:pPr lvl="1"/>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127</a:t>
            </a:fld>
            <a:endParaRPr lang="fr-FR"/>
          </a:p>
        </p:txBody>
      </p:sp>
      <p:graphicFrame>
        <p:nvGraphicFramePr>
          <p:cNvPr id="5" name="Tableau 4"/>
          <p:cNvGraphicFramePr>
            <a:graphicFrameLocks noGrp="1"/>
          </p:cNvGraphicFramePr>
          <p:nvPr>
            <p:extLst>
              <p:ext uri="{D42A27DB-BD31-4B8C-83A1-F6EECF244321}">
                <p14:modId xmlns:p14="http://schemas.microsoft.com/office/powerpoint/2010/main" val="1557420845"/>
              </p:ext>
            </p:extLst>
          </p:nvPr>
        </p:nvGraphicFramePr>
        <p:xfrm>
          <a:off x="2786675" y="3524251"/>
          <a:ext cx="4509474" cy="1676400"/>
        </p:xfrm>
        <a:graphic>
          <a:graphicData uri="http://schemas.openxmlformats.org/drawingml/2006/table">
            <a:tbl>
              <a:tblPr firstRow="1" bandRow="1">
                <a:tableStyleId>{5C22544A-7EE6-4342-B048-85BDC9FD1C3A}</a:tableStyleId>
              </a:tblPr>
              <a:tblGrid>
                <a:gridCol w="1503158">
                  <a:extLst>
                    <a:ext uri="{9D8B030D-6E8A-4147-A177-3AD203B41FA5}">
                      <a16:colId xmlns:a16="http://schemas.microsoft.com/office/drawing/2014/main" val="20000"/>
                    </a:ext>
                  </a:extLst>
                </a:gridCol>
                <a:gridCol w="1503158">
                  <a:extLst>
                    <a:ext uri="{9D8B030D-6E8A-4147-A177-3AD203B41FA5}">
                      <a16:colId xmlns:a16="http://schemas.microsoft.com/office/drawing/2014/main" val="20001"/>
                    </a:ext>
                  </a:extLst>
                </a:gridCol>
                <a:gridCol w="1503158">
                  <a:extLst>
                    <a:ext uri="{9D8B030D-6E8A-4147-A177-3AD203B41FA5}">
                      <a16:colId xmlns:a16="http://schemas.microsoft.com/office/drawing/2014/main" val="20002"/>
                    </a:ext>
                  </a:extLst>
                </a:gridCol>
              </a:tblGrid>
              <a:tr h="492252">
                <a:tc>
                  <a:txBody>
                    <a:bodyPr/>
                    <a:lstStyle/>
                    <a:p>
                      <a:r>
                        <a:rPr lang="fr-CA" dirty="0"/>
                        <a:t>Date</a:t>
                      </a:r>
                    </a:p>
                  </a:txBody>
                  <a:tcPr/>
                </a:tc>
                <a:tc>
                  <a:txBody>
                    <a:bodyPr/>
                    <a:lstStyle/>
                    <a:p>
                      <a:r>
                        <a:rPr lang="fr-CA" dirty="0"/>
                        <a:t>Taux courant</a:t>
                      </a:r>
                    </a:p>
                  </a:txBody>
                  <a:tcPr/>
                </a:tc>
                <a:tc>
                  <a:txBody>
                    <a:bodyPr/>
                    <a:lstStyle/>
                    <a:p>
                      <a:r>
                        <a:rPr lang="fr-CA" dirty="0"/>
                        <a:t>Taux à terme </a:t>
                      </a:r>
                    </a:p>
                    <a:p>
                      <a:r>
                        <a:rPr lang="fr-CA" sz="1400" dirty="0"/>
                        <a:t>31 mars</a:t>
                      </a:r>
                      <a:endParaRPr lang="fr-CA" dirty="0"/>
                    </a:p>
                  </a:txBody>
                  <a:tcPr/>
                </a:tc>
                <a:extLst>
                  <a:ext uri="{0D108BD9-81ED-4DB2-BD59-A6C34878D82A}">
                    <a16:rowId xmlns:a16="http://schemas.microsoft.com/office/drawing/2014/main" val="10000"/>
                  </a:ext>
                </a:extLst>
              </a:tr>
              <a:tr h="310896">
                <a:tc>
                  <a:txBody>
                    <a:bodyPr/>
                    <a:lstStyle/>
                    <a:p>
                      <a:r>
                        <a:rPr lang="fr-CA" dirty="0"/>
                        <a:t>30 sept. 20x7</a:t>
                      </a:r>
                    </a:p>
                  </a:txBody>
                  <a:tcPr/>
                </a:tc>
                <a:tc>
                  <a:txBody>
                    <a:bodyPr/>
                    <a:lstStyle/>
                    <a:p>
                      <a:pPr algn="ctr"/>
                      <a:r>
                        <a:rPr lang="fr-CA" dirty="0"/>
                        <a:t>1,22</a:t>
                      </a:r>
                    </a:p>
                  </a:txBody>
                  <a:tcPr/>
                </a:tc>
                <a:tc>
                  <a:txBody>
                    <a:bodyPr/>
                    <a:lstStyle/>
                    <a:p>
                      <a:pPr algn="ctr"/>
                      <a:r>
                        <a:rPr lang="fr-CA" dirty="0"/>
                        <a:t>1,25</a:t>
                      </a:r>
                    </a:p>
                  </a:txBody>
                  <a:tcPr/>
                </a:tc>
                <a:extLst>
                  <a:ext uri="{0D108BD9-81ED-4DB2-BD59-A6C34878D82A}">
                    <a16:rowId xmlns:a16="http://schemas.microsoft.com/office/drawing/2014/main" val="10001"/>
                  </a:ext>
                </a:extLst>
              </a:tr>
              <a:tr h="310896">
                <a:tc>
                  <a:txBody>
                    <a:bodyPr/>
                    <a:lstStyle/>
                    <a:p>
                      <a:r>
                        <a:rPr lang="fr-CA" dirty="0"/>
                        <a:t>31 déc. 201x7</a:t>
                      </a:r>
                    </a:p>
                  </a:txBody>
                  <a:tcPr/>
                </a:tc>
                <a:tc>
                  <a:txBody>
                    <a:bodyPr/>
                    <a:lstStyle/>
                    <a:p>
                      <a:pPr algn="ctr"/>
                      <a:r>
                        <a:rPr lang="fr-CA" dirty="0"/>
                        <a:t>1,27</a:t>
                      </a:r>
                    </a:p>
                  </a:txBody>
                  <a:tcPr/>
                </a:tc>
                <a:tc>
                  <a:txBody>
                    <a:bodyPr/>
                    <a:lstStyle/>
                    <a:p>
                      <a:pPr algn="ctr"/>
                      <a:r>
                        <a:rPr lang="fr-CA" dirty="0"/>
                        <a:t>1,29</a:t>
                      </a:r>
                    </a:p>
                  </a:txBody>
                  <a:tcPr/>
                </a:tc>
                <a:extLst>
                  <a:ext uri="{0D108BD9-81ED-4DB2-BD59-A6C34878D82A}">
                    <a16:rowId xmlns:a16="http://schemas.microsoft.com/office/drawing/2014/main" val="10002"/>
                  </a:ext>
                </a:extLst>
              </a:tr>
              <a:tr h="310896">
                <a:tc>
                  <a:txBody>
                    <a:bodyPr/>
                    <a:lstStyle/>
                    <a:p>
                      <a:r>
                        <a:rPr lang="fr-CA" dirty="0"/>
                        <a:t>31 mars 20x8</a:t>
                      </a:r>
                    </a:p>
                  </a:txBody>
                  <a:tcPr/>
                </a:tc>
                <a:tc>
                  <a:txBody>
                    <a:bodyPr/>
                    <a:lstStyle/>
                    <a:p>
                      <a:pPr algn="ctr"/>
                      <a:r>
                        <a:rPr lang="fr-CA" dirty="0"/>
                        <a:t>1,40</a:t>
                      </a:r>
                    </a:p>
                  </a:txBody>
                  <a:tcPr/>
                </a:tc>
                <a:tc>
                  <a:txBody>
                    <a:bodyPr/>
                    <a:lstStyle/>
                    <a:p>
                      <a:pPr algn="ctr"/>
                      <a:r>
                        <a:rPr lang="fr-CA" dirty="0"/>
                        <a:t>N/A</a:t>
                      </a:r>
                    </a:p>
                  </a:txBody>
                  <a:tcPr/>
                </a:tc>
                <a:extLst>
                  <a:ext uri="{0D108BD9-81ED-4DB2-BD59-A6C34878D82A}">
                    <a16:rowId xmlns:a16="http://schemas.microsoft.com/office/drawing/2014/main" val="10003"/>
                  </a:ext>
                </a:extLst>
              </a:tr>
            </a:tbl>
          </a:graphicData>
        </a:graphic>
      </p:graphicFrame>
      <p:sp>
        <p:nvSpPr>
          <p:cNvPr id="6" name="Espace réservé du pied de page 5">
            <a:extLst>
              <a:ext uri="{FF2B5EF4-FFF2-40B4-BE49-F238E27FC236}">
                <a16:creationId xmlns:a16="http://schemas.microsoft.com/office/drawing/2014/main" id="{2D5D63B6-AF23-40E7-B888-D1E91020405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87937879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9"/>
            <a:ext cx="10481441" cy="688445"/>
          </a:xfrm>
        </p:spPr>
        <p:txBody>
          <a:bodyPr>
            <a:normAutofit/>
          </a:bodyPr>
          <a:lstStyle/>
          <a:p>
            <a:r>
              <a:rPr lang="fr-FR" sz="3200" dirty="0" err="1"/>
              <a:t>Compt</a:t>
            </a:r>
            <a:r>
              <a:rPr lang="fr-FR" sz="3200" dirty="0"/>
              <a:t>. de couverture – </a:t>
            </a:r>
            <a:r>
              <a:rPr lang="fr-FR" sz="3200" b="1" u="sng" dirty="0"/>
              <a:t>écritures NCECF</a:t>
            </a:r>
          </a:p>
        </p:txBody>
      </p:sp>
      <p:sp>
        <p:nvSpPr>
          <p:cNvPr id="3" name="Espace réservé du contenu 2"/>
          <p:cNvSpPr>
            <a:spLocks noGrp="1"/>
          </p:cNvSpPr>
          <p:nvPr>
            <p:ph idx="1"/>
          </p:nvPr>
        </p:nvSpPr>
        <p:spPr>
          <a:xfrm>
            <a:off x="872359" y="1217084"/>
            <a:ext cx="10481441" cy="4909080"/>
          </a:xfrm>
        </p:spPr>
        <p:txBody>
          <a:bodyPr>
            <a:normAutofit fontScale="62500" lnSpcReduction="20000"/>
          </a:bodyPr>
          <a:lstStyle/>
          <a:p>
            <a:pPr marL="0" indent="0">
              <a:buNone/>
            </a:pPr>
            <a:r>
              <a:rPr lang="fr-FR" sz="4000" b="1" dirty="0"/>
              <a:t>Cas I - ABC choisit de ne pas appliquer la comptabilité́ de couverture </a:t>
            </a:r>
          </a:p>
          <a:p>
            <a:pPr marL="0" indent="0">
              <a:buNone/>
            </a:pPr>
            <a:endParaRPr lang="fr-FR" dirty="0"/>
          </a:p>
          <a:p>
            <a:r>
              <a:rPr lang="fr-FR" dirty="0"/>
              <a:t>30/09/20x7 : aucune écriture </a:t>
            </a:r>
          </a:p>
          <a:p>
            <a:r>
              <a:rPr lang="fr-FR" dirty="0"/>
              <a:t>31/12/20x7 : Dérivé́ à la juste valeur Instrument financier</a:t>
            </a:r>
          </a:p>
          <a:p>
            <a:pPr marL="0" indent="0">
              <a:buNone/>
            </a:pPr>
            <a:r>
              <a:rPr lang="fr-FR" dirty="0"/>
              <a:t>		 Instrument financier – dérivé́ (actif) 			</a:t>
            </a:r>
            <a:r>
              <a:rPr lang="fr-FR" dirty="0">
                <a:solidFill>
                  <a:srgbClr val="00B0F0"/>
                </a:solidFill>
              </a:rPr>
              <a:t>39 700</a:t>
            </a:r>
          </a:p>
          <a:p>
            <a:pPr marL="0" indent="0">
              <a:buNone/>
            </a:pPr>
            <a:r>
              <a:rPr lang="fr-FR" dirty="0"/>
              <a:t>		@ Gain  (état des résultats)					39 700</a:t>
            </a:r>
          </a:p>
          <a:p>
            <a:r>
              <a:rPr lang="fr-FR" dirty="0"/>
              <a:t>31/03/20x8 :</a:t>
            </a:r>
          </a:p>
          <a:p>
            <a:pPr marL="0" indent="0">
              <a:buNone/>
            </a:pPr>
            <a:r>
              <a:rPr lang="fr-FR" dirty="0"/>
              <a:t>		Instrument financier – dérivé́ (actif) 			</a:t>
            </a:r>
            <a:r>
              <a:rPr lang="fr-FR" dirty="0">
                <a:solidFill>
                  <a:srgbClr val="00B0F0"/>
                </a:solidFill>
              </a:rPr>
              <a:t>110 300</a:t>
            </a:r>
          </a:p>
          <a:p>
            <a:pPr marL="0" indent="0">
              <a:buNone/>
            </a:pPr>
            <a:r>
              <a:rPr lang="fr-FR" dirty="0"/>
              <a:t>		@ Gain 							110 300</a:t>
            </a:r>
          </a:p>
          <a:p>
            <a:pPr marL="0" indent="0">
              <a:buNone/>
            </a:pPr>
            <a:endParaRPr lang="fr-FR" sz="1300" dirty="0"/>
          </a:p>
          <a:p>
            <a:pPr marL="0" indent="0">
              <a:buNone/>
            </a:pPr>
            <a:r>
              <a:rPr lang="fr-FR" dirty="0"/>
              <a:t>		Caisse – provenant du contrat   			150 000		</a:t>
            </a:r>
          </a:p>
          <a:p>
            <a:pPr marL="0" indent="0">
              <a:buNone/>
            </a:pPr>
            <a:r>
              <a:rPr lang="fr-FR" dirty="0"/>
              <a:t>		@ Instrument financier – dérivé́ (actif) 				</a:t>
            </a:r>
            <a:r>
              <a:rPr lang="fr-FR" dirty="0">
                <a:solidFill>
                  <a:srgbClr val="00B0F0"/>
                </a:solidFill>
              </a:rPr>
              <a:t>150 000 </a:t>
            </a:r>
          </a:p>
          <a:p>
            <a:pPr marL="0" indent="0">
              <a:buNone/>
            </a:pPr>
            <a:endParaRPr lang="fr-FR" sz="1300" dirty="0"/>
          </a:p>
          <a:p>
            <a:pPr marL="0" indent="0">
              <a:buNone/>
            </a:pPr>
            <a:r>
              <a:rPr lang="fr-FR" dirty="0"/>
              <a:t>		Machine 						</a:t>
            </a:r>
            <a:r>
              <a:rPr lang="fr-FR" dirty="0">
                <a:solidFill>
                  <a:srgbClr val="FF0000"/>
                </a:solidFill>
              </a:rPr>
              <a:t>1 400 000</a:t>
            </a:r>
          </a:p>
          <a:p>
            <a:pPr marL="0" indent="0">
              <a:buNone/>
            </a:pPr>
            <a:r>
              <a:rPr lang="fr-FR" dirty="0"/>
              <a:t>		@ Caisse – au vendeur					1 400 000 </a:t>
            </a:r>
          </a:p>
          <a:p>
            <a:pPr marL="0" indent="0">
              <a:buNone/>
            </a:pPr>
            <a:endParaRPr lang="fr-FR" dirty="0"/>
          </a:p>
          <a:p>
            <a:pPr lvl="1"/>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128</a:t>
            </a:fld>
            <a:endParaRPr lang="fr-FR"/>
          </a:p>
        </p:txBody>
      </p:sp>
      <p:sp>
        <p:nvSpPr>
          <p:cNvPr id="5" name="Espace réservé du pied de page 4">
            <a:extLst>
              <a:ext uri="{FF2B5EF4-FFF2-40B4-BE49-F238E27FC236}">
                <a16:creationId xmlns:a16="http://schemas.microsoft.com/office/drawing/2014/main" id="{7F551FC4-FDCB-427D-B655-53E50B969F1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71032374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274639"/>
            <a:ext cx="10515600" cy="795363"/>
          </a:xfrm>
        </p:spPr>
        <p:txBody>
          <a:bodyPr>
            <a:normAutofit/>
          </a:bodyPr>
          <a:lstStyle/>
          <a:p>
            <a:r>
              <a:rPr lang="fr-FR" sz="3200" dirty="0" err="1"/>
              <a:t>Compt</a:t>
            </a:r>
            <a:r>
              <a:rPr lang="fr-FR" sz="3200" dirty="0"/>
              <a:t>. de couverture – écritures NCECF</a:t>
            </a:r>
          </a:p>
        </p:txBody>
      </p:sp>
      <p:sp>
        <p:nvSpPr>
          <p:cNvPr id="3" name="Espace réservé du contenu 2"/>
          <p:cNvSpPr>
            <a:spLocks noGrp="1"/>
          </p:cNvSpPr>
          <p:nvPr>
            <p:ph idx="1"/>
          </p:nvPr>
        </p:nvSpPr>
        <p:spPr>
          <a:xfrm>
            <a:off x="838200" y="1070001"/>
            <a:ext cx="10515600" cy="5651474"/>
          </a:xfrm>
        </p:spPr>
        <p:txBody>
          <a:bodyPr>
            <a:normAutofit fontScale="40000" lnSpcReduction="20000"/>
          </a:bodyPr>
          <a:lstStyle/>
          <a:p>
            <a:pPr marL="0" indent="0">
              <a:buNone/>
            </a:pPr>
            <a:r>
              <a:rPr lang="fr-FR" sz="8000" b="1" dirty="0"/>
              <a:t>Cas II - ABC choisit d’appliquer la comptabilité́ de couverture </a:t>
            </a:r>
          </a:p>
          <a:p>
            <a:pPr marL="0" indent="0">
              <a:buNone/>
            </a:pPr>
            <a:endParaRPr lang="fr-FR" sz="2100" b="1" dirty="0"/>
          </a:p>
          <a:p>
            <a:pPr marL="0" indent="0">
              <a:buNone/>
            </a:pPr>
            <a:r>
              <a:rPr lang="fr-FR" sz="5500" dirty="0"/>
              <a:t>L</a:t>
            </a:r>
            <a:r>
              <a:rPr lang="fr-FR" sz="6400" dirty="0"/>
              <a:t>e gain sur l’instrument de couverture (le contrat à terme de gré́ à gré́) est comptabilisé en tant qu'ajustement de la valeur comptable de l’élément couvert</a:t>
            </a:r>
          </a:p>
          <a:p>
            <a:pPr marL="0" indent="0">
              <a:buNone/>
            </a:pPr>
            <a:endParaRPr lang="fr-FR" dirty="0"/>
          </a:p>
          <a:p>
            <a:pPr marL="0" indent="0">
              <a:buNone/>
            </a:pPr>
            <a:r>
              <a:rPr lang="fr-FR" sz="6400" dirty="0"/>
              <a:t>30/09/20x7 : aucune écriture </a:t>
            </a:r>
          </a:p>
          <a:p>
            <a:pPr marL="0" indent="0">
              <a:buNone/>
            </a:pPr>
            <a:endParaRPr lang="fr-FR" dirty="0"/>
          </a:p>
          <a:p>
            <a:pPr marL="0" indent="0">
              <a:buNone/>
            </a:pPr>
            <a:r>
              <a:rPr lang="fr-FR" sz="6400" dirty="0"/>
              <a:t>31/12/20x7 : aucune écriture  </a:t>
            </a:r>
            <a:r>
              <a:rPr lang="fr-FR" sz="6000" i="1" dirty="0">
                <a:solidFill>
                  <a:srgbClr val="FF0000"/>
                </a:solidFill>
              </a:rPr>
              <a:t>(IFRS – résultat global)</a:t>
            </a:r>
            <a:endParaRPr lang="fr-FR" sz="6400" dirty="0"/>
          </a:p>
          <a:p>
            <a:pPr marL="0" indent="0">
              <a:buNone/>
            </a:pPr>
            <a:endParaRPr lang="fr-FR" dirty="0"/>
          </a:p>
          <a:p>
            <a:pPr marL="0" indent="0">
              <a:buNone/>
            </a:pPr>
            <a:r>
              <a:rPr lang="fr-FR" sz="6400" dirty="0"/>
              <a:t>31/03/20x8 :</a:t>
            </a:r>
          </a:p>
          <a:p>
            <a:pPr marL="0" indent="0">
              <a:buNone/>
            </a:pPr>
            <a:r>
              <a:rPr lang="fr-FR" sz="2000" dirty="0"/>
              <a:t>		</a:t>
            </a:r>
            <a:endParaRPr lang="fr-FR" sz="2000" dirty="0">
              <a:solidFill>
                <a:srgbClr val="FF0000"/>
              </a:solidFill>
            </a:endParaRPr>
          </a:p>
          <a:p>
            <a:pPr marL="0" indent="0">
              <a:buNone/>
            </a:pPr>
            <a:r>
              <a:rPr lang="fr-FR" sz="6400" dirty="0">
                <a:solidFill>
                  <a:srgbClr val="FF0000"/>
                </a:solidFill>
              </a:rPr>
              <a:t>		</a:t>
            </a:r>
            <a:r>
              <a:rPr lang="fr-FR" sz="6400" dirty="0"/>
              <a:t>Machine 				</a:t>
            </a:r>
            <a:r>
              <a:rPr lang="fr-FR" sz="6400" dirty="0">
                <a:solidFill>
                  <a:srgbClr val="FF0000"/>
                </a:solidFill>
              </a:rPr>
              <a:t>1 250 000</a:t>
            </a:r>
          </a:p>
          <a:p>
            <a:pPr marL="0" indent="0">
              <a:buNone/>
            </a:pPr>
            <a:r>
              <a:rPr lang="fr-FR" sz="6400" dirty="0">
                <a:solidFill>
                  <a:srgbClr val="FF0000"/>
                </a:solidFill>
              </a:rPr>
              <a:t>	</a:t>
            </a:r>
            <a:r>
              <a:rPr lang="fr-FR" sz="6400" dirty="0"/>
              <a:t>	Caisse	(contrat)			   150 000</a:t>
            </a:r>
          </a:p>
          <a:p>
            <a:pPr marL="0" indent="0">
              <a:buNone/>
            </a:pPr>
            <a:r>
              <a:rPr lang="fr-FR" sz="6400" dirty="0"/>
              <a:t>		@ Caisse (vendeur)					1 400 000 </a:t>
            </a:r>
            <a:endParaRPr lang="fr-FR" sz="6400" dirty="0">
              <a:solidFill>
                <a:srgbClr val="FF0000"/>
              </a:solidFill>
            </a:endParaRP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129</a:t>
            </a:fld>
            <a:endParaRPr lang="fr-FR" dirty="0"/>
          </a:p>
        </p:txBody>
      </p:sp>
      <p:sp>
        <p:nvSpPr>
          <p:cNvPr id="5" name="Espace réservé du pied de page 4">
            <a:extLst>
              <a:ext uri="{FF2B5EF4-FFF2-40B4-BE49-F238E27FC236}">
                <a16:creationId xmlns:a16="http://schemas.microsoft.com/office/drawing/2014/main" id="{22C251F6-6CAA-4B79-9186-6CF982E1E008}"/>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15318122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800" dirty="0" err="1"/>
              <a:t>Compt</a:t>
            </a:r>
            <a:r>
              <a:rPr lang="fr-FR" sz="2800" dirty="0"/>
              <a:t>. de couverture - Exemple 2 </a:t>
            </a:r>
            <a:br>
              <a:rPr lang="fr-FR" sz="2800" dirty="0"/>
            </a:br>
            <a:r>
              <a:rPr lang="fr-FR" sz="2800" dirty="0">
                <a:solidFill>
                  <a:srgbClr val="0000FF"/>
                </a:solidFill>
              </a:rPr>
              <a:t>écart d’une semaine entre élément couvert </a:t>
            </a:r>
            <a:br>
              <a:rPr lang="fr-FR" sz="2800" dirty="0">
                <a:solidFill>
                  <a:srgbClr val="0000FF"/>
                </a:solidFill>
              </a:rPr>
            </a:br>
            <a:r>
              <a:rPr lang="fr-FR" sz="2800" dirty="0">
                <a:solidFill>
                  <a:srgbClr val="0000FF"/>
                </a:solidFill>
              </a:rPr>
              <a:t>et élément de couverture</a:t>
            </a:r>
          </a:p>
        </p:txBody>
      </p:sp>
      <p:sp>
        <p:nvSpPr>
          <p:cNvPr id="3" name="Espace réservé du contenu 2"/>
          <p:cNvSpPr>
            <a:spLocks noGrp="1"/>
          </p:cNvSpPr>
          <p:nvPr>
            <p:ph idx="1"/>
          </p:nvPr>
        </p:nvSpPr>
        <p:spPr>
          <a:xfrm>
            <a:off x="838200" y="1600201"/>
            <a:ext cx="10515600" cy="4756150"/>
          </a:xfrm>
        </p:spPr>
        <p:txBody>
          <a:bodyPr>
            <a:normAutofit fontScale="47500" lnSpcReduction="20000"/>
          </a:bodyPr>
          <a:lstStyle/>
          <a:p>
            <a:pPr marL="0" indent="0">
              <a:buNone/>
            </a:pPr>
            <a:r>
              <a:rPr lang="fr-FR" sz="3800" dirty="0"/>
              <a:t>Le 30 septembre 20x7 ABC commande une machine de 1 M$US. La date prévue de réception et de paiement de la machine est le 31 mars 20x8.</a:t>
            </a:r>
            <a:r>
              <a:rPr lang="fr-FR" sz="3800" b="1" dirty="0">
                <a:solidFill>
                  <a:srgbClr val="FF0000"/>
                </a:solidFill>
              </a:rPr>
              <a:t> Considérez que la machine sera en fait reçue le 24 mars 20x8</a:t>
            </a:r>
          </a:p>
          <a:p>
            <a:pPr marL="0" indent="0">
              <a:buNone/>
            </a:pPr>
            <a:endParaRPr lang="fr-FR" sz="3800" dirty="0"/>
          </a:p>
          <a:p>
            <a:r>
              <a:rPr lang="fr-FR" sz="3800" dirty="0"/>
              <a:t>Le 30 septembre 20x7, ABC décide de couvrir le risque de change ($US en $CAN) sur l’achat de la machine en $US (élément couvert) en concluant un contrat à terme (élément ou instrument de couverture) pour acheter 1 M$US  à un taux fixe (cours à terme). Le contrat vient à échéance le 31 mars 2018 (sa durée est de 6 mois) </a:t>
            </a:r>
          </a:p>
          <a:p>
            <a:r>
              <a:rPr lang="fr-FR" sz="3800" dirty="0"/>
              <a:t>Voici les cours (taux) de change aux différentes dates </a:t>
            </a:r>
            <a:endParaRPr lang="fr-FR" sz="3400" dirty="0"/>
          </a:p>
          <a:p>
            <a:pPr marL="0" indent="0">
              <a:buNone/>
            </a:pPr>
            <a:endParaRPr lang="fr-FR" dirty="0"/>
          </a:p>
          <a:p>
            <a:endParaRPr lang="fr-FR" dirty="0"/>
          </a:p>
          <a:p>
            <a:endParaRPr lang="fr-FR" dirty="0"/>
          </a:p>
          <a:p>
            <a:pPr marL="0" indent="0">
              <a:buNone/>
            </a:pPr>
            <a:endParaRPr lang="fr-FR" dirty="0"/>
          </a:p>
          <a:p>
            <a:pPr marL="0" indent="0">
              <a:buNone/>
            </a:pPr>
            <a:endParaRPr lang="fr-FR" dirty="0"/>
          </a:p>
          <a:p>
            <a:pPr marL="0" indent="0">
              <a:buNone/>
            </a:pPr>
            <a:endParaRPr lang="fr-FR" dirty="0"/>
          </a:p>
          <a:p>
            <a:endParaRPr lang="fr-FR" dirty="0"/>
          </a:p>
          <a:p>
            <a:r>
              <a:rPr lang="fr-FR" sz="3800" dirty="0"/>
              <a:t>La juste valeur du contrat à terme le 31 décembre 20x7 et 31 mars 20x8 établie par la banque est de 39 700 $ et 150 000 $ respectivement (au 31 mars 20x8 la JV égale le montant à recevoir en vertu du contrat à terme). </a:t>
            </a:r>
            <a:endParaRPr lang="fr-FR" sz="34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130</a:t>
            </a:fld>
            <a:endParaRPr lang="fr-FR"/>
          </a:p>
        </p:txBody>
      </p:sp>
      <p:graphicFrame>
        <p:nvGraphicFramePr>
          <p:cNvPr id="5" name="Tableau 4"/>
          <p:cNvGraphicFramePr>
            <a:graphicFrameLocks noGrp="1"/>
          </p:cNvGraphicFramePr>
          <p:nvPr>
            <p:extLst>
              <p:ext uri="{D42A27DB-BD31-4B8C-83A1-F6EECF244321}">
                <p14:modId xmlns:p14="http://schemas.microsoft.com/office/powerpoint/2010/main" val="2240859654"/>
              </p:ext>
            </p:extLst>
          </p:nvPr>
        </p:nvGraphicFramePr>
        <p:xfrm>
          <a:off x="2695235" y="3793352"/>
          <a:ext cx="4954857" cy="1470135"/>
        </p:xfrm>
        <a:graphic>
          <a:graphicData uri="http://schemas.openxmlformats.org/drawingml/2006/table">
            <a:tbl>
              <a:tblPr firstRow="1" bandRow="1">
                <a:tableStyleId>{5C22544A-7EE6-4342-B048-85BDC9FD1C3A}</a:tableStyleId>
              </a:tblPr>
              <a:tblGrid>
                <a:gridCol w="1651619">
                  <a:extLst>
                    <a:ext uri="{9D8B030D-6E8A-4147-A177-3AD203B41FA5}">
                      <a16:colId xmlns:a16="http://schemas.microsoft.com/office/drawing/2014/main" val="20000"/>
                    </a:ext>
                  </a:extLst>
                </a:gridCol>
                <a:gridCol w="1651619">
                  <a:extLst>
                    <a:ext uri="{9D8B030D-6E8A-4147-A177-3AD203B41FA5}">
                      <a16:colId xmlns:a16="http://schemas.microsoft.com/office/drawing/2014/main" val="20001"/>
                    </a:ext>
                  </a:extLst>
                </a:gridCol>
                <a:gridCol w="1651619">
                  <a:extLst>
                    <a:ext uri="{9D8B030D-6E8A-4147-A177-3AD203B41FA5}">
                      <a16:colId xmlns:a16="http://schemas.microsoft.com/office/drawing/2014/main" val="20002"/>
                    </a:ext>
                  </a:extLst>
                </a:gridCol>
              </a:tblGrid>
              <a:tr h="309502">
                <a:tc>
                  <a:txBody>
                    <a:bodyPr/>
                    <a:lstStyle/>
                    <a:p>
                      <a:r>
                        <a:rPr lang="fr-CA" sz="1400" dirty="0"/>
                        <a:t>Date</a:t>
                      </a:r>
                    </a:p>
                  </a:txBody>
                  <a:tcPr/>
                </a:tc>
                <a:tc>
                  <a:txBody>
                    <a:bodyPr/>
                    <a:lstStyle/>
                    <a:p>
                      <a:r>
                        <a:rPr lang="fr-CA" sz="1400" dirty="0"/>
                        <a:t>Taux courant</a:t>
                      </a:r>
                    </a:p>
                  </a:txBody>
                  <a:tcPr/>
                </a:tc>
                <a:tc>
                  <a:txBody>
                    <a:bodyPr/>
                    <a:lstStyle/>
                    <a:p>
                      <a:r>
                        <a:rPr lang="fr-CA" sz="1400" dirty="0"/>
                        <a:t>Taux à terme</a:t>
                      </a:r>
                    </a:p>
                  </a:txBody>
                  <a:tcPr/>
                </a:tc>
                <a:extLst>
                  <a:ext uri="{0D108BD9-81ED-4DB2-BD59-A6C34878D82A}">
                    <a16:rowId xmlns:a16="http://schemas.microsoft.com/office/drawing/2014/main" val="10000"/>
                  </a:ext>
                </a:extLst>
              </a:tr>
              <a:tr h="309502">
                <a:tc>
                  <a:txBody>
                    <a:bodyPr/>
                    <a:lstStyle/>
                    <a:p>
                      <a:r>
                        <a:rPr lang="fr-CA" sz="1400" dirty="0"/>
                        <a:t>30 sept. 20x7</a:t>
                      </a:r>
                    </a:p>
                  </a:txBody>
                  <a:tcPr/>
                </a:tc>
                <a:tc>
                  <a:txBody>
                    <a:bodyPr/>
                    <a:lstStyle/>
                    <a:p>
                      <a:pPr algn="ctr"/>
                      <a:r>
                        <a:rPr lang="fr-CA" sz="1400" dirty="0"/>
                        <a:t>1,22</a:t>
                      </a:r>
                    </a:p>
                  </a:txBody>
                  <a:tcPr/>
                </a:tc>
                <a:tc>
                  <a:txBody>
                    <a:bodyPr/>
                    <a:lstStyle/>
                    <a:p>
                      <a:pPr algn="ctr"/>
                      <a:r>
                        <a:rPr lang="fr-CA" sz="1400" dirty="0"/>
                        <a:t>1,25</a:t>
                      </a:r>
                    </a:p>
                  </a:txBody>
                  <a:tcPr/>
                </a:tc>
                <a:extLst>
                  <a:ext uri="{0D108BD9-81ED-4DB2-BD59-A6C34878D82A}">
                    <a16:rowId xmlns:a16="http://schemas.microsoft.com/office/drawing/2014/main" val="10001"/>
                  </a:ext>
                </a:extLst>
              </a:tr>
              <a:tr h="309502">
                <a:tc>
                  <a:txBody>
                    <a:bodyPr/>
                    <a:lstStyle/>
                    <a:p>
                      <a:r>
                        <a:rPr lang="fr-CA" sz="1400" dirty="0"/>
                        <a:t>31 déc. 20x7</a:t>
                      </a:r>
                    </a:p>
                  </a:txBody>
                  <a:tcPr/>
                </a:tc>
                <a:tc>
                  <a:txBody>
                    <a:bodyPr/>
                    <a:lstStyle/>
                    <a:p>
                      <a:pPr algn="ctr"/>
                      <a:r>
                        <a:rPr lang="fr-CA" sz="1400" dirty="0"/>
                        <a:t>1,27</a:t>
                      </a:r>
                    </a:p>
                  </a:txBody>
                  <a:tcPr/>
                </a:tc>
                <a:tc>
                  <a:txBody>
                    <a:bodyPr/>
                    <a:lstStyle/>
                    <a:p>
                      <a:pPr algn="ctr"/>
                      <a:r>
                        <a:rPr lang="fr-CA" sz="1400" dirty="0"/>
                        <a:t>1,29</a:t>
                      </a:r>
                    </a:p>
                  </a:txBody>
                  <a:tcPr/>
                </a:tc>
                <a:extLst>
                  <a:ext uri="{0D108BD9-81ED-4DB2-BD59-A6C34878D82A}">
                    <a16:rowId xmlns:a16="http://schemas.microsoft.com/office/drawing/2014/main" val="10002"/>
                  </a:ext>
                </a:extLst>
              </a:tr>
              <a:tr h="541629">
                <a:tc>
                  <a:txBody>
                    <a:bodyPr/>
                    <a:lstStyle/>
                    <a:p>
                      <a:r>
                        <a:rPr lang="fr-CA" sz="1400" dirty="0">
                          <a:solidFill>
                            <a:srgbClr val="FF0000"/>
                          </a:solidFill>
                        </a:rPr>
                        <a:t>24 mars </a:t>
                      </a:r>
                      <a:r>
                        <a:rPr lang="fr-CA" sz="1400" baseline="0" dirty="0">
                          <a:solidFill>
                            <a:srgbClr val="FF0000"/>
                          </a:solidFill>
                        </a:rPr>
                        <a:t>20x8</a:t>
                      </a:r>
                      <a:endParaRPr lang="fr-CA" sz="1400" dirty="0">
                        <a:solidFill>
                          <a:srgbClr val="FF0000"/>
                        </a:solidFill>
                      </a:endParaRPr>
                    </a:p>
                    <a:p>
                      <a:r>
                        <a:rPr lang="fr-CA" sz="1400" dirty="0"/>
                        <a:t>31 mars 20x8</a:t>
                      </a:r>
                    </a:p>
                  </a:txBody>
                  <a:tcPr/>
                </a:tc>
                <a:tc>
                  <a:txBody>
                    <a:bodyPr/>
                    <a:lstStyle/>
                    <a:p>
                      <a:pPr algn="ctr"/>
                      <a:r>
                        <a:rPr lang="fr-CA" sz="1400" dirty="0">
                          <a:solidFill>
                            <a:srgbClr val="FF0000"/>
                          </a:solidFill>
                        </a:rPr>
                        <a:t>1,35</a:t>
                      </a:r>
                    </a:p>
                    <a:p>
                      <a:pPr algn="ctr"/>
                      <a:r>
                        <a:rPr lang="fr-CA" sz="1400" dirty="0"/>
                        <a:t>1,40</a:t>
                      </a:r>
                    </a:p>
                  </a:txBody>
                  <a:tcPr/>
                </a:tc>
                <a:tc>
                  <a:txBody>
                    <a:bodyPr/>
                    <a:lstStyle/>
                    <a:p>
                      <a:pPr algn="ctr"/>
                      <a:r>
                        <a:rPr lang="fr-CA" sz="1400" dirty="0">
                          <a:solidFill>
                            <a:srgbClr val="FF0000"/>
                          </a:solidFill>
                        </a:rPr>
                        <a:t>1,37</a:t>
                      </a:r>
                    </a:p>
                    <a:p>
                      <a:pPr algn="ctr"/>
                      <a:r>
                        <a:rPr lang="fr-CA" sz="1400" dirty="0"/>
                        <a:t>N/A</a:t>
                      </a:r>
                    </a:p>
                  </a:txBody>
                  <a:tcPr/>
                </a:tc>
                <a:extLst>
                  <a:ext uri="{0D108BD9-81ED-4DB2-BD59-A6C34878D82A}">
                    <a16:rowId xmlns:a16="http://schemas.microsoft.com/office/drawing/2014/main" val="10003"/>
                  </a:ext>
                </a:extLst>
              </a:tr>
            </a:tbl>
          </a:graphicData>
        </a:graphic>
      </p:graphicFrame>
      <p:sp>
        <p:nvSpPr>
          <p:cNvPr id="6" name="Espace réservé du pied de page 5">
            <a:extLst>
              <a:ext uri="{FF2B5EF4-FFF2-40B4-BE49-F238E27FC236}">
                <a16:creationId xmlns:a16="http://schemas.microsoft.com/office/drawing/2014/main" id="{0F1C8ED0-5EE6-482D-9B38-ABC1963801D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83074793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903890" y="274638"/>
            <a:ext cx="10449910" cy="550862"/>
          </a:xfrm>
        </p:spPr>
        <p:txBody>
          <a:bodyPr>
            <a:normAutofit/>
          </a:bodyPr>
          <a:lstStyle/>
          <a:p>
            <a:r>
              <a:rPr lang="fr-FR" sz="2800" dirty="0"/>
              <a:t>Comptabilité de couverture – Exemple 2 (NCECF)</a:t>
            </a:r>
          </a:p>
        </p:txBody>
      </p:sp>
      <p:sp>
        <p:nvSpPr>
          <p:cNvPr id="3" name="Espace réservé du contenu 2"/>
          <p:cNvSpPr>
            <a:spLocks noGrp="1"/>
          </p:cNvSpPr>
          <p:nvPr>
            <p:ph idx="1"/>
          </p:nvPr>
        </p:nvSpPr>
        <p:spPr>
          <a:xfrm>
            <a:off x="903890" y="1185334"/>
            <a:ext cx="10449910" cy="4940830"/>
          </a:xfrm>
        </p:spPr>
        <p:txBody>
          <a:bodyPr>
            <a:normAutofit fontScale="62500" lnSpcReduction="20000"/>
          </a:bodyPr>
          <a:lstStyle/>
          <a:p>
            <a:pPr marL="0" indent="0">
              <a:buNone/>
            </a:pPr>
            <a:r>
              <a:rPr lang="fr-FR" sz="3600" b="1" dirty="0"/>
              <a:t>Cas I - ABC choisit de ne pas appliquer la comptabilité́ de couverture </a:t>
            </a:r>
          </a:p>
          <a:p>
            <a:pPr marL="0" indent="0">
              <a:buNone/>
            </a:pPr>
            <a:endParaRPr lang="fr-FR" dirty="0"/>
          </a:p>
          <a:p>
            <a:r>
              <a:rPr lang="fr-FR" dirty="0"/>
              <a:t>30/09/20x7 : aucune écriture </a:t>
            </a:r>
          </a:p>
          <a:p>
            <a:r>
              <a:rPr lang="fr-FR" dirty="0"/>
              <a:t>31/12/20x7 : Dérivé́ à la juste valeur</a:t>
            </a:r>
          </a:p>
          <a:p>
            <a:pPr marL="0" indent="0">
              <a:buNone/>
            </a:pPr>
            <a:r>
              <a:rPr lang="fr-FR" dirty="0"/>
              <a:t>		 Instrument financier – dérivé́ (actif) 		</a:t>
            </a:r>
            <a:r>
              <a:rPr lang="fr-FR" dirty="0">
                <a:solidFill>
                  <a:srgbClr val="00B0F0"/>
                </a:solidFill>
              </a:rPr>
              <a:t>39 700</a:t>
            </a:r>
          </a:p>
          <a:p>
            <a:pPr marL="0" indent="0">
              <a:buNone/>
            </a:pPr>
            <a:r>
              <a:rPr lang="fr-FR" dirty="0"/>
              <a:t>		@ Gain  (état des résultats)				39 700</a:t>
            </a:r>
          </a:p>
          <a:p>
            <a:r>
              <a:rPr lang="fr-FR" dirty="0">
                <a:solidFill>
                  <a:srgbClr val="FF0000"/>
                </a:solidFill>
              </a:rPr>
              <a:t>24/03/20x8 :</a:t>
            </a:r>
          </a:p>
          <a:p>
            <a:pPr marL="0" indent="0">
              <a:buNone/>
            </a:pPr>
            <a:r>
              <a:rPr lang="fr-FR" dirty="0">
                <a:solidFill>
                  <a:srgbClr val="FF0000"/>
                </a:solidFill>
              </a:rPr>
              <a:t>		Machine 					1 350 000</a:t>
            </a:r>
          </a:p>
          <a:p>
            <a:pPr marL="0" indent="0">
              <a:buNone/>
            </a:pPr>
            <a:r>
              <a:rPr lang="fr-FR" dirty="0">
                <a:solidFill>
                  <a:srgbClr val="FF0000"/>
                </a:solidFill>
              </a:rPr>
              <a:t>		@ Caisse (compte à payer) 				1 350 000 </a:t>
            </a:r>
          </a:p>
          <a:p>
            <a:r>
              <a:rPr lang="fr-FR" dirty="0"/>
              <a:t>31/03/20x8 :</a:t>
            </a:r>
          </a:p>
          <a:p>
            <a:pPr marL="0" indent="0">
              <a:buNone/>
            </a:pPr>
            <a:r>
              <a:rPr lang="fr-FR" dirty="0"/>
              <a:t>		Instrument financier – dérivé́ (actif) 		</a:t>
            </a:r>
            <a:r>
              <a:rPr lang="fr-FR" dirty="0">
                <a:solidFill>
                  <a:srgbClr val="00B0F0"/>
                </a:solidFill>
              </a:rPr>
              <a:t>110 300</a:t>
            </a:r>
          </a:p>
          <a:p>
            <a:pPr marL="0" indent="0">
              <a:buNone/>
            </a:pPr>
            <a:r>
              <a:rPr lang="fr-FR" dirty="0"/>
              <a:t>		@ Gain 						110 300</a:t>
            </a:r>
          </a:p>
          <a:p>
            <a:pPr marL="0" indent="0">
              <a:buNone/>
            </a:pPr>
            <a:endParaRPr lang="fr-FR" sz="1300" dirty="0"/>
          </a:p>
          <a:p>
            <a:pPr marL="0" indent="0">
              <a:buNone/>
            </a:pPr>
            <a:r>
              <a:rPr lang="fr-FR" dirty="0"/>
              <a:t>		Caisse    					150 000		</a:t>
            </a:r>
          </a:p>
          <a:p>
            <a:pPr marL="0" indent="0">
              <a:buNone/>
            </a:pPr>
            <a:r>
              <a:rPr lang="fr-FR" dirty="0"/>
              <a:t>		@ Instrument financier – dérivé́ (actif) 			</a:t>
            </a:r>
            <a:r>
              <a:rPr lang="fr-FR" dirty="0">
                <a:solidFill>
                  <a:srgbClr val="00B0F0"/>
                </a:solidFill>
              </a:rPr>
              <a:t>150 000 </a:t>
            </a:r>
          </a:p>
          <a:p>
            <a:pPr marL="0" indent="0">
              <a:buNone/>
            </a:pPr>
            <a:endParaRPr lang="fr-FR" dirty="0"/>
          </a:p>
          <a:p>
            <a:endParaRPr lang="fr-FR" dirty="0">
              <a:solidFill>
                <a:srgbClr val="3366FF"/>
              </a:solidFill>
            </a:endParaRPr>
          </a:p>
          <a:p>
            <a:pPr marL="0" indent="0">
              <a:buNone/>
            </a:pPr>
            <a:endParaRPr lang="fr-FR" dirty="0"/>
          </a:p>
          <a:p>
            <a:pPr lvl="1"/>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131</a:t>
            </a:fld>
            <a:endParaRPr lang="fr-FR"/>
          </a:p>
        </p:txBody>
      </p:sp>
      <p:sp>
        <p:nvSpPr>
          <p:cNvPr id="5" name="Espace réservé du pied de page 4">
            <a:extLst>
              <a:ext uri="{FF2B5EF4-FFF2-40B4-BE49-F238E27FC236}">
                <a16:creationId xmlns:a16="http://schemas.microsoft.com/office/drawing/2014/main" id="{61CB3880-6E7D-4BE7-BFD5-AF78CE5864E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66216569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924910" y="274639"/>
            <a:ext cx="10428890" cy="529695"/>
          </a:xfrm>
        </p:spPr>
        <p:txBody>
          <a:bodyPr>
            <a:normAutofit/>
          </a:bodyPr>
          <a:lstStyle/>
          <a:p>
            <a:r>
              <a:rPr lang="fr-FR" sz="2800" dirty="0" err="1"/>
              <a:t>Compt</a:t>
            </a:r>
            <a:r>
              <a:rPr lang="fr-FR" sz="2800" dirty="0"/>
              <a:t> de couverture – Exemple 2 (NCECF)</a:t>
            </a:r>
          </a:p>
        </p:txBody>
      </p:sp>
      <p:sp>
        <p:nvSpPr>
          <p:cNvPr id="3" name="Espace réservé du contenu 2"/>
          <p:cNvSpPr>
            <a:spLocks noGrp="1"/>
          </p:cNvSpPr>
          <p:nvPr>
            <p:ph idx="1"/>
          </p:nvPr>
        </p:nvSpPr>
        <p:spPr>
          <a:xfrm>
            <a:off x="838200" y="963084"/>
            <a:ext cx="10515600" cy="5758392"/>
          </a:xfrm>
        </p:spPr>
        <p:txBody>
          <a:bodyPr>
            <a:normAutofit fontScale="47500" lnSpcReduction="20000"/>
          </a:bodyPr>
          <a:lstStyle/>
          <a:p>
            <a:pPr marL="0" indent="0">
              <a:buNone/>
            </a:pPr>
            <a:r>
              <a:rPr lang="fr-FR" sz="6200" b="1" dirty="0"/>
              <a:t>Cas II - ABC choisit d’appliquer la comptabilité́ de couverture </a:t>
            </a:r>
          </a:p>
          <a:p>
            <a:pPr marL="0" indent="0">
              <a:buNone/>
            </a:pPr>
            <a:r>
              <a:rPr lang="fr-FR" sz="4500" dirty="0"/>
              <a:t>Le gain sur l’instrument de couverture (le contrat à terme de gré́ à gré́) est comptabilisé en tant qu'ajustement de la valeur comptable de l’élément couvert</a:t>
            </a:r>
            <a:r>
              <a:rPr lang="fr-FR" sz="4500" dirty="0">
                <a:solidFill>
                  <a:srgbClr val="FF0000"/>
                </a:solidFill>
              </a:rPr>
              <a:t> pour la période de couverture- gain/perte pour période différente</a:t>
            </a:r>
            <a:endParaRPr lang="fr-FR" sz="4200" dirty="0"/>
          </a:p>
          <a:p>
            <a:pPr marL="0" indent="0">
              <a:buNone/>
            </a:pPr>
            <a:endParaRPr lang="fr-FR" dirty="0"/>
          </a:p>
          <a:p>
            <a:pPr marL="0" indent="0">
              <a:buNone/>
            </a:pPr>
            <a:r>
              <a:rPr lang="fr-FR" sz="4200" dirty="0"/>
              <a:t>30/09/20x7 : aucune écriture </a:t>
            </a:r>
          </a:p>
          <a:p>
            <a:pPr marL="0" indent="0">
              <a:buNone/>
            </a:pPr>
            <a:endParaRPr lang="fr-FR" sz="2500" dirty="0"/>
          </a:p>
          <a:p>
            <a:pPr marL="0" indent="0">
              <a:buNone/>
            </a:pPr>
            <a:r>
              <a:rPr lang="fr-FR" sz="4200" dirty="0"/>
              <a:t>31/12/20x7 : aucune écriture</a:t>
            </a:r>
          </a:p>
          <a:p>
            <a:pPr marL="0" indent="0">
              <a:buNone/>
            </a:pPr>
            <a:endParaRPr lang="fr-FR" sz="4200" dirty="0"/>
          </a:p>
          <a:p>
            <a:pPr marL="0" indent="0">
              <a:buNone/>
            </a:pPr>
            <a:r>
              <a:rPr lang="fr-FR" sz="4200" dirty="0">
                <a:solidFill>
                  <a:srgbClr val="3366FF"/>
                </a:solidFill>
              </a:rPr>
              <a:t>24/03/20x8 :	</a:t>
            </a:r>
            <a:r>
              <a:rPr lang="fr-FR" sz="4200" dirty="0">
                <a:solidFill>
                  <a:srgbClr val="FF0000"/>
                </a:solidFill>
              </a:rPr>
              <a:t>Machine (@1,25)				1 250 000</a:t>
            </a:r>
          </a:p>
          <a:p>
            <a:pPr marL="0" indent="0">
              <a:buNone/>
            </a:pPr>
            <a:r>
              <a:rPr lang="fr-FR" sz="4200" dirty="0">
                <a:solidFill>
                  <a:srgbClr val="FF0000"/>
                </a:solidFill>
              </a:rPr>
              <a:t>		Instrument financier – dérivé́ (actif)	    100 000</a:t>
            </a:r>
          </a:p>
          <a:p>
            <a:pPr marL="0" indent="0">
              <a:buNone/>
            </a:pPr>
            <a:r>
              <a:rPr lang="fr-FR" sz="4200" dirty="0">
                <a:solidFill>
                  <a:srgbClr val="FF0000"/>
                </a:solidFill>
              </a:rPr>
              <a:t>		</a:t>
            </a:r>
            <a:r>
              <a:rPr lang="fr-FR" sz="4300" dirty="0">
                <a:solidFill>
                  <a:srgbClr val="FF0000"/>
                </a:solidFill>
              </a:rPr>
              <a:t>@ Caisse (compte à payer) 	 		</a:t>
            </a:r>
            <a:r>
              <a:rPr lang="fr-FR" sz="4200" dirty="0">
                <a:solidFill>
                  <a:srgbClr val="FF0000"/>
                </a:solidFill>
              </a:rPr>
              <a:t>1 350 000 </a:t>
            </a:r>
          </a:p>
          <a:p>
            <a:pPr marL="0" indent="0">
              <a:buNone/>
            </a:pPr>
            <a:endParaRPr lang="fr-FR" sz="2500" dirty="0"/>
          </a:p>
          <a:p>
            <a:pPr marL="0" indent="0">
              <a:buNone/>
            </a:pPr>
            <a:r>
              <a:rPr lang="fr-FR" sz="4200" dirty="0"/>
              <a:t>31/03/20x8 :	</a:t>
            </a:r>
            <a:r>
              <a:rPr lang="fr-FR" sz="4200" dirty="0">
                <a:solidFill>
                  <a:srgbClr val="0000FF"/>
                </a:solidFill>
              </a:rPr>
              <a:t>Instrument financier – dérivé́ (actif)</a:t>
            </a:r>
            <a:r>
              <a:rPr lang="fr-FR" sz="4200" dirty="0"/>
              <a:t> 	50 000</a:t>
            </a:r>
          </a:p>
          <a:p>
            <a:pPr marL="0" indent="0">
              <a:buNone/>
            </a:pPr>
            <a:r>
              <a:rPr lang="fr-FR" sz="4200" dirty="0"/>
              <a:t>		@ </a:t>
            </a:r>
            <a:r>
              <a:rPr lang="fr-FR" sz="4200" b="1" dirty="0">
                <a:solidFill>
                  <a:srgbClr val="008000"/>
                </a:solidFill>
              </a:rPr>
              <a:t>Gain E/R </a:t>
            </a:r>
            <a:r>
              <a:rPr lang="fr-FR" sz="4200" dirty="0">
                <a:solidFill>
                  <a:srgbClr val="FF0000"/>
                </a:solidFill>
              </a:rPr>
              <a:t>(24 mars au 31 mars)</a:t>
            </a:r>
            <a:r>
              <a:rPr lang="fr-FR" sz="4200" dirty="0"/>
              <a:t>			50 000</a:t>
            </a:r>
          </a:p>
          <a:p>
            <a:pPr marL="0" indent="0">
              <a:buNone/>
            </a:pPr>
            <a:endParaRPr lang="fr-FR" sz="4200" dirty="0"/>
          </a:p>
          <a:p>
            <a:pPr marL="0" indent="0">
              <a:buNone/>
            </a:pPr>
            <a:r>
              <a:rPr lang="fr-FR" sz="4200" dirty="0"/>
              <a:t>		Caisse					150 000</a:t>
            </a:r>
          </a:p>
          <a:p>
            <a:pPr marL="0" indent="0">
              <a:buNone/>
            </a:pPr>
            <a:r>
              <a:rPr lang="fr-FR" sz="4200" dirty="0"/>
              <a:t>		@ </a:t>
            </a:r>
            <a:r>
              <a:rPr lang="fr-FR" sz="4200" dirty="0">
                <a:solidFill>
                  <a:srgbClr val="0000FF"/>
                </a:solidFill>
              </a:rPr>
              <a:t>Instrument financier – dérivé́ (actif) 	</a:t>
            </a:r>
            <a:r>
              <a:rPr lang="fr-FR" sz="4200" dirty="0"/>
              <a:t>	150 000 </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132</a:t>
            </a:fld>
            <a:endParaRPr lang="fr-FR" dirty="0"/>
          </a:p>
        </p:txBody>
      </p:sp>
      <p:sp>
        <p:nvSpPr>
          <p:cNvPr id="5" name="Espace réservé du pied de page 4">
            <a:extLst>
              <a:ext uri="{FF2B5EF4-FFF2-40B4-BE49-F238E27FC236}">
                <a16:creationId xmlns:a16="http://schemas.microsoft.com/office/drawing/2014/main" id="{F5CADA7A-27E2-4248-A618-95CCC6F4A12E}"/>
              </a:ext>
            </a:extLst>
          </p:cNvPr>
          <p:cNvSpPr>
            <a:spLocks noGrp="1"/>
          </p:cNvSpPr>
          <p:nvPr>
            <p:ph type="ftr" sz="quarter" idx="11"/>
          </p:nvPr>
        </p:nvSpPr>
        <p:spPr/>
        <p:txBody>
          <a:bodyPr/>
          <a:lstStyle/>
          <a:p>
            <a:r>
              <a:rPr lang="fr-CA" dirty="0"/>
              <a:t>Droits réservés - Louise Overbeek</a:t>
            </a:r>
          </a:p>
        </p:txBody>
      </p:sp>
    </p:spTree>
    <p:extLst>
      <p:ext uri="{BB962C8B-B14F-4D97-AF65-F5344CB8AC3E}">
        <p14:creationId xmlns:p14="http://schemas.microsoft.com/office/powerpoint/2010/main" val="193011231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812034"/>
          </a:xfrm>
        </p:spPr>
        <p:txBody>
          <a:bodyPr>
            <a:normAutofit/>
          </a:bodyPr>
          <a:lstStyle/>
          <a:p>
            <a:r>
              <a:rPr lang="fr-CA" sz="3600" dirty="0"/>
              <a:t>Couverture d’un actif / passif portant intérêt</a:t>
            </a:r>
          </a:p>
        </p:txBody>
      </p:sp>
      <p:sp>
        <p:nvSpPr>
          <p:cNvPr id="3" name="Espace réservé du contenu 2"/>
          <p:cNvSpPr>
            <a:spLocks noGrp="1"/>
          </p:cNvSpPr>
          <p:nvPr>
            <p:ph idx="1"/>
          </p:nvPr>
        </p:nvSpPr>
        <p:spPr>
          <a:xfrm>
            <a:off x="838200" y="1830917"/>
            <a:ext cx="10515600" cy="4295246"/>
          </a:xfrm>
        </p:spPr>
        <p:txBody>
          <a:bodyPr/>
          <a:lstStyle/>
          <a:p>
            <a:r>
              <a:rPr lang="fr-CA" dirty="0"/>
              <a:t>Élément couvert : comptabilise les intérêts au taux prévu </a:t>
            </a:r>
          </a:p>
          <a:p>
            <a:pPr lvl="1"/>
            <a:r>
              <a:rPr lang="fr-CA" dirty="0"/>
              <a:t>Amortissement prime / escompte</a:t>
            </a:r>
          </a:p>
          <a:p>
            <a:pPr lvl="1"/>
            <a:r>
              <a:rPr lang="fr-CA" dirty="0"/>
              <a:t>Amortissement frais transaction</a:t>
            </a:r>
          </a:p>
          <a:p>
            <a:pPr marL="0" indent="0">
              <a:buNone/>
            </a:pPr>
            <a:endParaRPr lang="fr-CA" dirty="0"/>
          </a:p>
          <a:p>
            <a:r>
              <a:rPr lang="fr-CA" dirty="0"/>
              <a:t>Swap : soldes nets du swap de taux sont comptabilisés en tant qu’ajustement des intérêts sur l’élément couvert</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133</a:t>
            </a:fld>
            <a:endParaRPr lang="fr-FR"/>
          </a:p>
        </p:txBody>
      </p:sp>
      <p:sp>
        <p:nvSpPr>
          <p:cNvPr id="5" name="Espace réservé du pied de page 4">
            <a:extLst>
              <a:ext uri="{FF2B5EF4-FFF2-40B4-BE49-F238E27FC236}">
                <a16:creationId xmlns:a16="http://schemas.microsoft.com/office/drawing/2014/main" id="{43246155-2B8A-4182-B7F5-896C38C2833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12437314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854075"/>
          </a:xfrm>
        </p:spPr>
        <p:txBody>
          <a:bodyPr>
            <a:normAutofit/>
          </a:bodyPr>
          <a:lstStyle/>
          <a:p>
            <a:r>
              <a:rPr lang="fr-CA" dirty="0"/>
              <a:t>Effet comptabilité de couverture selon NCECF</a:t>
            </a:r>
          </a:p>
        </p:txBody>
      </p:sp>
      <p:sp>
        <p:nvSpPr>
          <p:cNvPr id="3" name="Espace réservé du contenu 2"/>
          <p:cNvSpPr>
            <a:spLocks noGrp="1"/>
          </p:cNvSpPr>
          <p:nvPr>
            <p:ph idx="1"/>
          </p:nvPr>
        </p:nvSpPr>
        <p:spPr>
          <a:xfrm>
            <a:off x="914400" y="2321127"/>
            <a:ext cx="10439400" cy="3805036"/>
          </a:xfrm>
        </p:spPr>
        <p:txBody>
          <a:bodyPr/>
          <a:lstStyle/>
          <a:p>
            <a:r>
              <a:rPr lang="fr-CA" dirty="0"/>
              <a:t>Dérivé hors bilan</a:t>
            </a:r>
          </a:p>
          <a:p>
            <a:pPr lvl="1"/>
            <a:r>
              <a:rPr lang="fr-CA" dirty="0"/>
              <a:t>Mais info à fournir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134</a:t>
            </a:fld>
            <a:endParaRPr lang="fr-FR"/>
          </a:p>
        </p:txBody>
      </p:sp>
      <p:sp>
        <p:nvSpPr>
          <p:cNvPr id="5" name="Espace réservé du pied de page 4">
            <a:extLst>
              <a:ext uri="{FF2B5EF4-FFF2-40B4-BE49-F238E27FC236}">
                <a16:creationId xmlns:a16="http://schemas.microsoft.com/office/drawing/2014/main" id="{9F7199AB-6172-400D-B401-63ECA36CF58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10477966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8"/>
            <a:ext cx="10481441" cy="571182"/>
          </a:xfrm>
        </p:spPr>
        <p:txBody>
          <a:bodyPr>
            <a:normAutofit fontScale="90000"/>
          </a:bodyPr>
          <a:lstStyle/>
          <a:p>
            <a:r>
              <a:rPr lang="fr-CA" dirty="0" err="1"/>
              <a:t>Compt</a:t>
            </a:r>
            <a:r>
              <a:rPr lang="fr-CA" dirty="0"/>
              <a:t> de couverture – Question A</a:t>
            </a:r>
          </a:p>
        </p:txBody>
      </p:sp>
      <p:sp>
        <p:nvSpPr>
          <p:cNvPr id="3" name="Espace réservé du contenu 2"/>
          <p:cNvSpPr>
            <a:spLocks noGrp="1"/>
          </p:cNvSpPr>
          <p:nvPr>
            <p:ph idx="1"/>
          </p:nvPr>
        </p:nvSpPr>
        <p:spPr>
          <a:xfrm>
            <a:off x="872359" y="1103585"/>
            <a:ext cx="10481441" cy="5252765"/>
          </a:xfrm>
        </p:spPr>
        <p:txBody>
          <a:bodyPr>
            <a:noAutofit/>
          </a:bodyPr>
          <a:lstStyle/>
          <a:p>
            <a:pPr marL="0" indent="0">
              <a:buNone/>
            </a:pPr>
            <a:r>
              <a:rPr lang="fr-CA" sz="1800" dirty="0"/>
              <a:t>Le 30 septembre 20x7 ABC, une société canadienne, commande une machine de XYZ pour un montant de 500 000 Euros (€). La date à laquelle ABC prévoit recevoir la machine et effectuer le paiement à XYZ est le 31 mars 20x8.</a:t>
            </a:r>
          </a:p>
          <a:p>
            <a:pPr marL="0" indent="0">
              <a:buNone/>
            </a:pPr>
            <a:endParaRPr lang="fr-CA" sz="700" dirty="0"/>
          </a:p>
          <a:p>
            <a:pPr marL="0" indent="0">
              <a:buNone/>
            </a:pPr>
            <a:r>
              <a:rPr lang="fr-CA" sz="1800" dirty="0"/>
              <a:t>Le 30 septembre 20x7 ABC décide de couvrir le risque de change (€ en $) sur l’achat de la machine en concluant un contrat à terme de gré à gré pour l’achat de 500 000 € pour 700 000 $. Le contrat vient à échéance le 31 mars 20x8.</a:t>
            </a:r>
          </a:p>
          <a:p>
            <a:pPr marL="0" indent="0">
              <a:buNone/>
            </a:pPr>
            <a:endParaRPr lang="fr-CA" sz="700" dirty="0"/>
          </a:p>
          <a:p>
            <a:pPr marL="0" indent="0">
              <a:buNone/>
            </a:pPr>
            <a:r>
              <a:rPr lang="fr-CA" sz="1800" dirty="0"/>
              <a:t>Le 20 mars 20x8 XYZ livre la machine et ABC effectue le paiement de 500 000 €. </a:t>
            </a:r>
          </a:p>
          <a:p>
            <a:pPr marL="0" indent="0">
              <a:buNone/>
            </a:pPr>
            <a:endParaRPr lang="fr-CA" sz="1100" dirty="0"/>
          </a:p>
          <a:p>
            <a:pPr marL="0" indent="0">
              <a:buNone/>
            </a:pPr>
            <a:r>
              <a:rPr lang="fr-CA" sz="1800" dirty="0"/>
              <a:t>Voici les cours (taux) de change aux différentes dates</a:t>
            </a:r>
          </a:p>
          <a:p>
            <a:pPr marL="0" indent="0">
              <a:buNone/>
            </a:pPr>
            <a:r>
              <a:rPr lang="fr-CA" sz="1800" dirty="0"/>
              <a:t>Date			              Taux courant                      Taux à terme</a:t>
            </a:r>
          </a:p>
          <a:p>
            <a:pPr marL="0" indent="0">
              <a:buNone/>
            </a:pPr>
            <a:r>
              <a:rPr lang="fr-CA" sz="1800" dirty="0"/>
              <a:t>31 décembre 20x7			1,47		        1,50 (3 mois)</a:t>
            </a:r>
          </a:p>
          <a:p>
            <a:pPr marL="0" indent="0">
              <a:buNone/>
            </a:pPr>
            <a:r>
              <a:rPr lang="fr-CA" sz="1800" dirty="0"/>
              <a:t>20 mars 20x8			1,33                           	        1,35 (1 mois)</a:t>
            </a:r>
          </a:p>
          <a:p>
            <a:pPr marL="0" indent="0">
              <a:buNone/>
            </a:pPr>
            <a:r>
              <a:rPr lang="fr-CA" sz="1800" dirty="0"/>
              <a:t>31 mars 20x8                           		1,31                                    N/A               </a:t>
            </a:r>
          </a:p>
          <a:p>
            <a:pPr marL="0" indent="0">
              <a:buNone/>
            </a:pPr>
            <a:r>
              <a:rPr lang="fr-CA" sz="1800" dirty="0"/>
              <a:t>ABC a estimé la juste valeur du contrat à terme au 31 décembre 20x7 à 47 700 $.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135</a:t>
            </a:fld>
            <a:endParaRPr lang="fr-FR"/>
          </a:p>
        </p:txBody>
      </p:sp>
      <p:sp>
        <p:nvSpPr>
          <p:cNvPr id="5" name="Espace réservé du pied de page 4">
            <a:extLst>
              <a:ext uri="{FF2B5EF4-FFF2-40B4-BE49-F238E27FC236}">
                <a16:creationId xmlns:a16="http://schemas.microsoft.com/office/drawing/2014/main" id="{20EC9C34-6479-4B80-98B2-86B0CBED7D0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0382064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274639"/>
            <a:ext cx="10515600" cy="720195"/>
          </a:xfrm>
        </p:spPr>
        <p:txBody>
          <a:bodyPr>
            <a:normAutofit/>
          </a:bodyPr>
          <a:lstStyle/>
          <a:p>
            <a:r>
              <a:rPr lang="fr-CA" sz="3200" dirty="0" err="1"/>
              <a:t>Compt</a:t>
            </a:r>
            <a:r>
              <a:rPr lang="fr-CA" sz="3200" dirty="0"/>
              <a:t> de couverture – Question A</a:t>
            </a:r>
          </a:p>
        </p:txBody>
      </p:sp>
      <p:sp>
        <p:nvSpPr>
          <p:cNvPr id="3" name="Espace réservé du contenu 2"/>
          <p:cNvSpPr>
            <a:spLocks noGrp="1"/>
          </p:cNvSpPr>
          <p:nvPr>
            <p:ph idx="1"/>
          </p:nvPr>
        </p:nvSpPr>
        <p:spPr/>
        <p:txBody>
          <a:bodyPr>
            <a:normAutofit fontScale="92500" lnSpcReduction="20000"/>
          </a:bodyPr>
          <a:lstStyle/>
          <a:p>
            <a:pPr marL="0" indent="0">
              <a:buNone/>
            </a:pPr>
            <a:r>
              <a:rPr lang="fr-CA" i="1" u="sng" dirty="0"/>
              <a:t>Travail à faire : </a:t>
            </a:r>
            <a:endParaRPr lang="fr-CA" sz="3600" dirty="0"/>
          </a:p>
          <a:p>
            <a:pPr marL="0" indent="0">
              <a:buNone/>
            </a:pPr>
            <a:r>
              <a:rPr lang="fr-CA" dirty="0"/>
              <a:t>Pour chacune des dates suivantes : </a:t>
            </a:r>
            <a:endParaRPr lang="fr-CA" sz="3600" dirty="0"/>
          </a:p>
          <a:p>
            <a:pPr lvl="0"/>
            <a:r>
              <a:rPr lang="fr-CA" sz="3100" dirty="0"/>
              <a:t>30 septembre 20x7</a:t>
            </a:r>
          </a:p>
          <a:p>
            <a:pPr lvl="0"/>
            <a:r>
              <a:rPr lang="fr-CA" sz="3100" dirty="0"/>
              <a:t>31 décembre 20x7</a:t>
            </a:r>
          </a:p>
          <a:p>
            <a:pPr lvl="0"/>
            <a:r>
              <a:rPr lang="fr-CA" sz="3100" dirty="0"/>
              <a:t>20 mars 20x8</a:t>
            </a:r>
          </a:p>
          <a:p>
            <a:pPr lvl="0"/>
            <a:r>
              <a:rPr lang="fr-CA" sz="3100" dirty="0"/>
              <a:t>31 mars 20x8</a:t>
            </a:r>
          </a:p>
          <a:p>
            <a:pPr marL="0" indent="0">
              <a:buNone/>
            </a:pPr>
            <a:endParaRPr lang="fr-CA" sz="3600" dirty="0"/>
          </a:p>
          <a:p>
            <a:pPr marL="0" indent="0">
              <a:buNone/>
            </a:pPr>
            <a:r>
              <a:rPr lang="fr-CA" i="1" dirty="0"/>
              <a:t>Préparez les écritures de journal, si au 30 septembre 20x7, ABC décidait :  </a:t>
            </a:r>
            <a:endParaRPr lang="fr-CA" sz="3600" i="1" dirty="0"/>
          </a:p>
          <a:p>
            <a:pPr lvl="1"/>
            <a:r>
              <a:rPr lang="fr-CA" i="1" dirty="0"/>
              <a:t>de ne pas appliquer la comptabilité de couverture</a:t>
            </a:r>
            <a:endParaRPr lang="fr-CA" sz="3600" i="1" dirty="0"/>
          </a:p>
          <a:p>
            <a:pPr lvl="1"/>
            <a:r>
              <a:rPr lang="fr-CA" i="1" dirty="0"/>
              <a:t>d’appliquer la comptabilité de couverture </a:t>
            </a:r>
            <a:endParaRPr lang="fr-CA" sz="3600" i="1" dirty="0"/>
          </a:p>
          <a:p>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136</a:t>
            </a:fld>
            <a:endParaRPr lang="fr-FR"/>
          </a:p>
        </p:txBody>
      </p:sp>
      <p:sp>
        <p:nvSpPr>
          <p:cNvPr id="5" name="Espace réservé du pied de page 4">
            <a:extLst>
              <a:ext uri="{FF2B5EF4-FFF2-40B4-BE49-F238E27FC236}">
                <a16:creationId xmlns:a16="http://schemas.microsoft.com/office/drawing/2014/main" id="{F25360FC-3004-47C7-9ACF-29C93239238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58175255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82869" y="274638"/>
            <a:ext cx="10470931" cy="550862"/>
          </a:xfrm>
        </p:spPr>
        <p:txBody>
          <a:bodyPr>
            <a:normAutofit/>
          </a:bodyPr>
          <a:lstStyle/>
          <a:p>
            <a:r>
              <a:rPr lang="fr-FR" sz="2800" dirty="0"/>
              <a:t>Comptabilité de couverture – Question A (NCECF)</a:t>
            </a:r>
          </a:p>
        </p:txBody>
      </p:sp>
      <p:sp>
        <p:nvSpPr>
          <p:cNvPr id="3" name="Espace réservé du contenu 2"/>
          <p:cNvSpPr>
            <a:spLocks noGrp="1"/>
          </p:cNvSpPr>
          <p:nvPr>
            <p:ph idx="1"/>
          </p:nvPr>
        </p:nvSpPr>
        <p:spPr>
          <a:xfrm>
            <a:off x="882869" y="1185334"/>
            <a:ext cx="10470931" cy="4940830"/>
          </a:xfrm>
        </p:spPr>
        <p:txBody>
          <a:bodyPr>
            <a:normAutofit fontScale="77500" lnSpcReduction="20000"/>
          </a:bodyPr>
          <a:lstStyle/>
          <a:p>
            <a:pPr marL="0" indent="0">
              <a:buNone/>
            </a:pPr>
            <a:r>
              <a:rPr lang="fr-FR" sz="3600" b="1" dirty="0"/>
              <a:t>Cas I - ABC choisit de ne pas appliquer la comptabilité́ de couverture </a:t>
            </a:r>
          </a:p>
          <a:p>
            <a:pPr marL="0" indent="0">
              <a:buNone/>
            </a:pPr>
            <a:endParaRPr lang="fr-FR" dirty="0"/>
          </a:p>
          <a:p>
            <a:r>
              <a:rPr lang="fr-FR" dirty="0"/>
              <a:t>30/09/20x7 : aucune écriture </a:t>
            </a:r>
          </a:p>
          <a:p>
            <a:r>
              <a:rPr lang="fr-FR" dirty="0"/>
              <a:t>31/12/20x7 : Dérivé́ à la juste valeur</a:t>
            </a:r>
          </a:p>
          <a:p>
            <a:pPr marL="0" indent="0">
              <a:buNone/>
            </a:pPr>
            <a:r>
              <a:rPr lang="fr-FR" dirty="0"/>
              <a:t>		 Instrument financier – dérivé́ (actif) 		</a:t>
            </a:r>
            <a:r>
              <a:rPr lang="fr-FR" dirty="0">
                <a:solidFill>
                  <a:srgbClr val="00B0F0"/>
                </a:solidFill>
              </a:rPr>
              <a:t>47 700</a:t>
            </a:r>
          </a:p>
          <a:p>
            <a:pPr marL="0" indent="0">
              <a:buNone/>
            </a:pPr>
            <a:r>
              <a:rPr lang="fr-FR" dirty="0"/>
              <a:t>		@ Gain  (état des résultats)				47 700</a:t>
            </a:r>
          </a:p>
          <a:p>
            <a:r>
              <a:rPr lang="fr-FR" dirty="0">
                <a:solidFill>
                  <a:srgbClr val="FF0000"/>
                </a:solidFill>
              </a:rPr>
              <a:t>20/03/20x8 :</a:t>
            </a:r>
          </a:p>
          <a:p>
            <a:pPr marL="0" indent="0">
              <a:buNone/>
            </a:pPr>
            <a:r>
              <a:rPr lang="fr-FR" dirty="0">
                <a:solidFill>
                  <a:srgbClr val="FF0000"/>
                </a:solidFill>
              </a:rPr>
              <a:t>		Machine 					665 000</a:t>
            </a:r>
          </a:p>
          <a:p>
            <a:pPr marL="0" indent="0">
              <a:buNone/>
            </a:pPr>
            <a:r>
              <a:rPr lang="fr-FR" dirty="0">
                <a:solidFill>
                  <a:srgbClr val="FF0000"/>
                </a:solidFill>
              </a:rPr>
              <a:t>		@ Caisse (compte à payer) 				665 000 </a:t>
            </a:r>
          </a:p>
          <a:p>
            <a:r>
              <a:rPr lang="fr-FR" dirty="0"/>
              <a:t>31/03/20x8 :</a:t>
            </a:r>
          </a:p>
          <a:p>
            <a:pPr marL="0" indent="0">
              <a:buNone/>
            </a:pPr>
            <a:r>
              <a:rPr lang="fr-FR" dirty="0"/>
              <a:t>		Perte						  92 700		</a:t>
            </a:r>
          </a:p>
          <a:p>
            <a:pPr marL="0" indent="0">
              <a:buNone/>
            </a:pPr>
            <a:r>
              <a:rPr lang="fr-FR" dirty="0"/>
              <a:t>		@ Instrument financier – dérivé́ (actif) 			</a:t>
            </a:r>
            <a:r>
              <a:rPr lang="fr-FR" dirty="0">
                <a:solidFill>
                  <a:srgbClr val="00B0F0"/>
                </a:solidFill>
              </a:rPr>
              <a:t>47 700</a:t>
            </a:r>
          </a:p>
          <a:p>
            <a:pPr marL="0" indent="0">
              <a:buNone/>
            </a:pPr>
            <a:r>
              <a:rPr lang="fr-FR" dirty="0">
                <a:solidFill>
                  <a:srgbClr val="00B0F0"/>
                </a:solidFill>
              </a:rPr>
              <a:t>		     </a:t>
            </a:r>
            <a:r>
              <a:rPr lang="fr-FR" dirty="0"/>
              <a:t> Caisse						45 000</a:t>
            </a:r>
          </a:p>
          <a:p>
            <a:pPr marL="0" indent="0">
              <a:buNone/>
            </a:pPr>
            <a:endParaRPr lang="fr-FR" dirty="0"/>
          </a:p>
          <a:p>
            <a:endParaRPr lang="fr-FR" dirty="0">
              <a:solidFill>
                <a:srgbClr val="3366FF"/>
              </a:solidFill>
            </a:endParaRPr>
          </a:p>
          <a:p>
            <a:pPr marL="0" indent="0">
              <a:buNone/>
            </a:pPr>
            <a:endParaRPr lang="fr-FR" dirty="0"/>
          </a:p>
          <a:p>
            <a:pPr lvl="1"/>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137</a:t>
            </a:fld>
            <a:endParaRPr lang="fr-FR"/>
          </a:p>
        </p:txBody>
      </p:sp>
      <p:sp>
        <p:nvSpPr>
          <p:cNvPr id="5" name="Espace réservé du pied de page 4">
            <a:extLst>
              <a:ext uri="{FF2B5EF4-FFF2-40B4-BE49-F238E27FC236}">
                <a16:creationId xmlns:a16="http://schemas.microsoft.com/office/drawing/2014/main" id="{6B5FBF6C-475F-4057-9565-658AADE7F78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40460335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93379" y="274639"/>
            <a:ext cx="10460421" cy="529695"/>
          </a:xfrm>
        </p:spPr>
        <p:txBody>
          <a:bodyPr>
            <a:normAutofit/>
          </a:bodyPr>
          <a:lstStyle/>
          <a:p>
            <a:r>
              <a:rPr lang="fr-FR" sz="2800" dirty="0" err="1"/>
              <a:t>Compt</a:t>
            </a:r>
            <a:r>
              <a:rPr lang="fr-FR" sz="2800" dirty="0"/>
              <a:t> de couverture – Question A (NCECF)</a:t>
            </a:r>
          </a:p>
        </p:txBody>
      </p:sp>
      <p:sp>
        <p:nvSpPr>
          <p:cNvPr id="3" name="Espace réservé du contenu 2"/>
          <p:cNvSpPr>
            <a:spLocks noGrp="1"/>
          </p:cNvSpPr>
          <p:nvPr>
            <p:ph idx="1"/>
          </p:nvPr>
        </p:nvSpPr>
        <p:spPr>
          <a:xfrm>
            <a:off x="838200" y="963084"/>
            <a:ext cx="10515600" cy="5758392"/>
          </a:xfrm>
        </p:spPr>
        <p:txBody>
          <a:bodyPr>
            <a:normAutofit fontScale="47500" lnSpcReduction="20000"/>
          </a:bodyPr>
          <a:lstStyle/>
          <a:p>
            <a:pPr marL="0" indent="0">
              <a:buNone/>
            </a:pPr>
            <a:r>
              <a:rPr lang="fr-FR" sz="6200" b="1" dirty="0"/>
              <a:t>Cas II - ABC choisit d’appliquer la comptabilité́ de couverture </a:t>
            </a:r>
          </a:p>
          <a:p>
            <a:pPr marL="0" indent="0">
              <a:buNone/>
            </a:pPr>
            <a:endParaRPr lang="fr-FR" sz="2100" b="1" dirty="0"/>
          </a:p>
          <a:p>
            <a:pPr marL="0" indent="0">
              <a:buNone/>
            </a:pPr>
            <a:r>
              <a:rPr lang="fr-FR" sz="4200" dirty="0"/>
              <a:t>Le gain sur l’instrument de couverture (le contrat à terme de gré́ à gré́) est comptabilisé en tant qu'ajustement de la valeur comptable de l’élément couvert</a:t>
            </a:r>
            <a:r>
              <a:rPr lang="fr-FR" sz="4200" dirty="0">
                <a:solidFill>
                  <a:srgbClr val="FF0000"/>
                </a:solidFill>
              </a:rPr>
              <a:t> pour la période de couverture- gain/perte pour excédent de couverture</a:t>
            </a:r>
            <a:endParaRPr lang="fr-FR" sz="4200" dirty="0"/>
          </a:p>
          <a:p>
            <a:pPr marL="0" indent="0">
              <a:buNone/>
            </a:pPr>
            <a:endParaRPr lang="fr-FR" dirty="0"/>
          </a:p>
          <a:p>
            <a:pPr marL="0" indent="0">
              <a:buNone/>
            </a:pPr>
            <a:r>
              <a:rPr lang="fr-FR" sz="4200" dirty="0"/>
              <a:t>30/09/20x7 : aucune écriture </a:t>
            </a:r>
          </a:p>
          <a:p>
            <a:pPr marL="0" indent="0">
              <a:buNone/>
            </a:pPr>
            <a:endParaRPr lang="fr-FR" sz="2500" dirty="0"/>
          </a:p>
          <a:p>
            <a:pPr marL="0" indent="0">
              <a:buNone/>
            </a:pPr>
            <a:r>
              <a:rPr lang="fr-FR" sz="4200" dirty="0"/>
              <a:t>31/12/20x7 : aucune écriture</a:t>
            </a:r>
          </a:p>
          <a:p>
            <a:pPr marL="0" indent="0">
              <a:buNone/>
            </a:pPr>
            <a:endParaRPr lang="fr-FR" sz="4200" dirty="0"/>
          </a:p>
          <a:p>
            <a:pPr marL="0" indent="0">
              <a:buNone/>
            </a:pPr>
            <a:r>
              <a:rPr lang="fr-FR" sz="4200" dirty="0">
                <a:solidFill>
                  <a:srgbClr val="3366FF"/>
                </a:solidFill>
              </a:rPr>
              <a:t>20/03/20x8 :	</a:t>
            </a:r>
            <a:r>
              <a:rPr lang="fr-FR" sz="4200" dirty="0">
                <a:solidFill>
                  <a:srgbClr val="FF0000"/>
                </a:solidFill>
              </a:rPr>
              <a:t>Machine					700 000</a:t>
            </a:r>
          </a:p>
          <a:p>
            <a:pPr marL="0" indent="0">
              <a:buNone/>
            </a:pPr>
            <a:r>
              <a:rPr lang="fr-FR" sz="4200" dirty="0">
                <a:solidFill>
                  <a:srgbClr val="FF0000"/>
                </a:solidFill>
              </a:rPr>
              <a:t>		</a:t>
            </a:r>
            <a:r>
              <a:rPr lang="fr-FR" sz="4300" dirty="0">
                <a:solidFill>
                  <a:srgbClr val="FF0000"/>
                </a:solidFill>
              </a:rPr>
              <a:t>@ Caisse (compte à payer) 	 			</a:t>
            </a:r>
            <a:r>
              <a:rPr lang="fr-FR" sz="4200" dirty="0">
                <a:solidFill>
                  <a:srgbClr val="FF0000"/>
                </a:solidFill>
              </a:rPr>
              <a:t>665 000 </a:t>
            </a:r>
          </a:p>
          <a:p>
            <a:pPr marL="0" indent="0">
              <a:buNone/>
            </a:pPr>
            <a:r>
              <a:rPr lang="fr-FR" sz="4200" dirty="0">
                <a:solidFill>
                  <a:srgbClr val="FF0000"/>
                </a:solidFill>
              </a:rPr>
              <a:t>		      Instrument financier – dérivé́ 				  35 000</a:t>
            </a:r>
          </a:p>
          <a:p>
            <a:pPr marL="0" indent="0">
              <a:buNone/>
            </a:pPr>
            <a:endParaRPr lang="fr-FR" sz="4200" dirty="0">
              <a:solidFill>
                <a:srgbClr val="FF0000"/>
              </a:solidFill>
            </a:endParaRPr>
          </a:p>
          <a:p>
            <a:pPr marL="0" indent="0">
              <a:buNone/>
            </a:pPr>
            <a:endParaRPr lang="fr-FR" sz="2500" dirty="0"/>
          </a:p>
          <a:p>
            <a:pPr marL="0" indent="0">
              <a:buNone/>
            </a:pPr>
            <a:r>
              <a:rPr lang="fr-FR" sz="4200" dirty="0"/>
              <a:t>31/03/20x8 :	</a:t>
            </a:r>
            <a:r>
              <a:rPr lang="fr-FR" sz="4200" dirty="0">
                <a:solidFill>
                  <a:srgbClr val="0000FF"/>
                </a:solidFill>
              </a:rPr>
              <a:t>Instrument financier – dérivé́	</a:t>
            </a:r>
            <a:r>
              <a:rPr lang="fr-FR" sz="4200" dirty="0"/>
              <a:t> 	35 000</a:t>
            </a:r>
          </a:p>
          <a:p>
            <a:pPr marL="0" indent="0">
              <a:buNone/>
            </a:pPr>
            <a:r>
              <a:rPr lang="fr-FR" sz="4200" dirty="0"/>
              <a:t>		</a:t>
            </a:r>
            <a:r>
              <a:rPr lang="fr-FR" sz="4200" b="1" dirty="0">
                <a:solidFill>
                  <a:srgbClr val="008000"/>
                </a:solidFill>
              </a:rPr>
              <a:t> Perte E/R 				10 000</a:t>
            </a:r>
            <a:endParaRPr lang="fr-FR" sz="4200" dirty="0"/>
          </a:p>
          <a:p>
            <a:pPr marL="0" indent="0">
              <a:buNone/>
            </a:pPr>
            <a:r>
              <a:rPr lang="fr-FR" sz="4200" dirty="0"/>
              <a:t>		@ Caisse						45 000</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138</a:t>
            </a:fld>
            <a:endParaRPr lang="fr-FR" dirty="0"/>
          </a:p>
        </p:txBody>
      </p:sp>
      <p:sp>
        <p:nvSpPr>
          <p:cNvPr id="5" name="Espace réservé du pied de page 4">
            <a:extLst>
              <a:ext uri="{FF2B5EF4-FFF2-40B4-BE49-F238E27FC236}">
                <a16:creationId xmlns:a16="http://schemas.microsoft.com/office/drawing/2014/main" id="{8825601B-C646-4C42-B400-BA2BB2D1CB3A}"/>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856342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274638"/>
            <a:ext cx="10515600" cy="646112"/>
          </a:xfrm>
        </p:spPr>
        <p:txBody>
          <a:bodyPr>
            <a:normAutofit fontScale="90000"/>
          </a:bodyPr>
          <a:lstStyle/>
          <a:p>
            <a:pPr>
              <a:defRPr/>
            </a:pPr>
            <a:r>
              <a:rPr lang="fr-CA" dirty="0" err="1"/>
              <a:t>Compt</a:t>
            </a:r>
            <a:r>
              <a:rPr lang="fr-CA" dirty="0"/>
              <a:t> de couverture – Question B</a:t>
            </a:r>
          </a:p>
        </p:txBody>
      </p:sp>
      <p:sp>
        <p:nvSpPr>
          <p:cNvPr id="3" name="Espace réservé du contenu 2"/>
          <p:cNvSpPr>
            <a:spLocks noGrp="1"/>
          </p:cNvSpPr>
          <p:nvPr>
            <p:ph idx="1"/>
          </p:nvPr>
        </p:nvSpPr>
        <p:spPr>
          <a:xfrm>
            <a:off x="838200" y="1334814"/>
            <a:ext cx="10515600" cy="4842149"/>
          </a:xfrm>
        </p:spPr>
        <p:txBody>
          <a:bodyPr>
            <a:normAutofit fontScale="62500" lnSpcReduction="20000"/>
          </a:bodyPr>
          <a:lstStyle/>
          <a:p>
            <a:pPr marL="0" indent="0">
              <a:buNone/>
              <a:defRPr/>
            </a:pPr>
            <a:r>
              <a:rPr lang="fr-CA" dirty="0"/>
              <a:t>Le 30 septembre 20x7 ABC, une société canadienne, commande une machine de XYZ pour un montant de 800 000 Euros (€). La date à laquelle ABC prévoit recevoir la machine et effectuer le paiement à XYZ est le 31 mars 20x8.</a:t>
            </a:r>
          </a:p>
          <a:p>
            <a:pPr marL="0" indent="0">
              <a:buNone/>
              <a:defRPr/>
            </a:pPr>
            <a:endParaRPr lang="fr-CA" sz="1500" dirty="0"/>
          </a:p>
          <a:p>
            <a:pPr marL="0" indent="0">
              <a:buNone/>
              <a:defRPr/>
            </a:pPr>
            <a:r>
              <a:rPr lang="fr-CA" dirty="0"/>
              <a:t>Le 30 septembre 20x7 ABC décide de couvrir le risque de change (€ en $) sur l’achat de la machine en concluant un contrat à terme de gré à gré pour l’achat de 800 000 € pour 1 040 000 $. Le contrat vient à échéance le 31 mars 20x8.</a:t>
            </a:r>
          </a:p>
          <a:p>
            <a:pPr marL="0" indent="0">
              <a:buNone/>
              <a:defRPr/>
            </a:pPr>
            <a:endParaRPr lang="fr-CA" sz="3600" dirty="0"/>
          </a:p>
          <a:p>
            <a:pPr marL="0" indent="0">
              <a:buNone/>
              <a:defRPr/>
            </a:pPr>
            <a:r>
              <a:rPr lang="fr-CA" dirty="0"/>
              <a:t>Voici les cours (taux) de change aux différentes dates</a:t>
            </a:r>
            <a:endParaRPr lang="fr-CA" sz="3600" dirty="0"/>
          </a:p>
          <a:p>
            <a:pPr marL="0" indent="0">
              <a:buNone/>
              <a:defRPr/>
            </a:pPr>
            <a:r>
              <a:rPr lang="fr-CA" b="1" dirty="0"/>
              <a:t>Date			              Taux courant                      Taux à terme</a:t>
            </a:r>
            <a:endParaRPr lang="fr-CA" sz="3600" dirty="0"/>
          </a:p>
          <a:p>
            <a:pPr marL="0" indent="0">
              <a:buNone/>
              <a:defRPr/>
            </a:pPr>
            <a:r>
              <a:rPr lang="fr-CA" dirty="0"/>
              <a:t>31 décembre 20x7			1,27		                   1,29 (3 mois)</a:t>
            </a:r>
            <a:endParaRPr lang="fr-CA" sz="3600" dirty="0"/>
          </a:p>
          <a:p>
            <a:pPr marL="0" indent="0">
              <a:buNone/>
              <a:defRPr/>
            </a:pPr>
            <a:r>
              <a:rPr lang="fr-CA" dirty="0"/>
              <a:t>15 mars 20x8			1,26                          		  1,27 (1 mois)</a:t>
            </a:r>
            <a:endParaRPr lang="fr-CA" sz="3600" dirty="0"/>
          </a:p>
          <a:p>
            <a:pPr marL="0" indent="0">
              <a:buNone/>
              <a:defRPr/>
            </a:pPr>
            <a:r>
              <a:rPr lang="fr-CA" dirty="0"/>
              <a:t>31 mars 20x8              	                 1,29                                 	   N/A        </a:t>
            </a:r>
          </a:p>
          <a:p>
            <a:pPr marL="0" indent="0">
              <a:buNone/>
              <a:defRPr/>
            </a:pPr>
            <a:r>
              <a:rPr lang="fr-CA" dirty="0"/>
              <a:t>15 avril 20x8			1,31</a:t>
            </a:r>
          </a:p>
          <a:p>
            <a:pPr marL="0" indent="0">
              <a:buNone/>
              <a:defRPr/>
            </a:pPr>
            <a:r>
              <a:rPr lang="fr-CA" dirty="0"/>
              <a:t>                        </a:t>
            </a:r>
            <a:endParaRPr lang="fr-CA" sz="3600" dirty="0"/>
          </a:p>
          <a:p>
            <a:pPr marL="0" indent="0">
              <a:buNone/>
              <a:defRPr/>
            </a:pPr>
            <a:r>
              <a:rPr lang="fr-CA" dirty="0"/>
              <a:t>ABC a estimé la juste valeur du contrat à terme au 31 décembre 20x7 à 8 000 $</a:t>
            </a:r>
            <a:r>
              <a:rPr lang="fr-CA" b="1" dirty="0"/>
              <a:t>. </a:t>
            </a:r>
            <a:endParaRPr lang="fr-CA" sz="3600" dirty="0"/>
          </a:p>
          <a:p>
            <a:pPr>
              <a:defRPr/>
            </a:pPr>
            <a:endParaRPr lang="fr-CA" dirty="0"/>
          </a:p>
        </p:txBody>
      </p:sp>
      <p:sp>
        <p:nvSpPr>
          <p:cNvPr id="53252" name="Espace réservé du numéro de diapositive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Calibri" charset="0"/>
                <a:ea typeface="MS PGothic" charset="0"/>
                <a:cs typeface="MS PGothic" charset="0"/>
              </a:defRPr>
            </a:lvl1pPr>
            <a:lvl2pPr marL="742950" indent="-285750" eaLnBrk="0" hangingPunct="0">
              <a:defRPr sz="2400">
                <a:solidFill>
                  <a:schemeClr val="tx1"/>
                </a:solidFill>
                <a:latin typeface="Calibri" charset="0"/>
                <a:ea typeface="MS PGothic" charset="0"/>
                <a:cs typeface="MS PGothic" charset="0"/>
              </a:defRPr>
            </a:lvl2pPr>
            <a:lvl3pPr marL="1143000" indent="-228600" eaLnBrk="0" hangingPunct="0">
              <a:defRPr sz="2400">
                <a:solidFill>
                  <a:schemeClr val="tx1"/>
                </a:solidFill>
                <a:latin typeface="Calibri" charset="0"/>
                <a:ea typeface="MS PGothic" charset="0"/>
                <a:cs typeface="MS PGothic" charset="0"/>
              </a:defRPr>
            </a:lvl3pPr>
            <a:lvl4pPr marL="1600200" indent="-228600" eaLnBrk="0" hangingPunct="0">
              <a:defRPr sz="2400">
                <a:solidFill>
                  <a:schemeClr val="tx1"/>
                </a:solidFill>
                <a:latin typeface="Calibri" charset="0"/>
                <a:ea typeface="MS PGothic" charset="0"/>
                <a:cs typeface="MS PGothic" charset="0"/>
              </a:defRPr>
            </a:lvl4pPr>
            <a:lvl5pPr marL="2057400" indent="-228600" eaLnBrk="0" hangingPunct="0">
              <a:defRPr sz="2400">
                <a:solidFill>
                  <a:schemeClr val="tx1"/>
                </a:solidFill>
                <a:latin typeface="Calibri" charset="0"/>
                <a:ea typeface="MS PGothic" charset="0"/>
                <a:cs typeface="MS PGothic" charset="0"/>
              </a:defRPr>
            </a:lvl5pPr>
            <a:lvl6pPr marL="2514600" indent="-228600" eaLnBrk="0" fontAlgn="base" hangingPunct="0">
              <a:spcBef>
                <a:spcPct val="0"/>
              </a:spcBef>
              <a:spcAft>
                <a:spcPct val="0"/>
              </a:spcAft>
              <a:defRPr sz="2400">
                <a:solidFill>
                  <a:schemeClr val="tx1"/>
                </a:solidFill>
                <a:latin typeface="Calibri" charset="0"/>
                <a:ea typeface="MS PGothic" charset="0"/>
                <a:cs typeface="MS PGothic" charset="0"/>
              </a:defRPr>
            </a:lvl6pPr>
            <a:lvl7pPr marL="2971800" indent="-228600" eaLnBrk="0" fontAlgn="base" hangingPunct="0">
              <a:spcBef>
                <a:spcPct val="0"/>
              </a:spcBef>
              <a:spcAft>
                <a:spcPct val="0"/>
              </a:spcAft>
              <a:defRPr sz="2400">
                <a:solidFill>
                  <a:schemeClr val="tx1"/>
                </a:solidFill>
                <a:latin typeface="Calibri" charset="0"/>
                <a:ea typeface="MS PGothic" charset="0"/>
                <a:cs typeface="MS PGothic" charset="0"/>
              </a:defRPr>
            </a:lvl7pPr>
            <a:lvl8pPr marL="3429000" indent="-228600" eaLnBrk="0" fontAlgn="base" hangingPunct="0">
              <a:spcBef>
                <a:spcPct val="0"/>
              </a:spcBef>
              <a:spcAft>
                <a:spcPct val="0"/>
              </a:spcAft>
              <a:defRPr sz="2400">
                <a:solidFill>
                  <a:schemeClr val="tx1"/>
                </a:solidFill>
                <a:latin typeface="Calibri" charset="0"/>
                <a:ea typeface="MS PGothic" charset="0"/>
                <a:cs typeface="MS PGothic" charset="0"/>
              </a:defRPr>
            </a:lvl8pPr>
            <a:lvl9pPr marL="3886200" indent="-228600" eaLnBrk="0" fontAlgn="base" hangingPunct="0">
              <a:spcBef>
                <a:spcPct val="0"/>
              </a:spcBef>
              <a:spcAft>
                <a:spcPct val="0"/>
              </a:spcAft>
              <a:defRPr sz="2400">
                <a:solidFill>
                  <a:schemeClr val="tx1"/>
                </a:solidFill>
                <a:latin typeface="Calibri" charset="0"/>
                <a:ea typeface="MS PGothic" charset="0"/>
                <a:cs typeface="MS PGothic" charset="0"/>
              </a:defRPr>
            </a:lvl9pPr>
          </a:lstStyle>
          <a:p>
            <a:pPr eaLnBrk="1" hangingPunct="1"/>
            <a:fld id="{C2968414-1F60-5942-A22D-B55F19530CFE}" type="slidenum">
              <a:rPr lang="fr-FR" sz="1200">
                <a:solidFill>
                  <a:srgbClr val="898989"/>
                </a:solidFill>
              </a:rPr>
              <a:pPr eaLnBrk="1" hangingPunct="1"/>
              <a:t>139</a:t>
            </a:fld>
            <a:endParaRPr lang="fr-FR" sz="1200">
              <a:solidFill>
                <a:srgbClr val="898989"/>
              </a:solidFill>
            </a:endParaRPr>
          </a:p>
        </p:txBody>
      </p:sp>
      <p:sp>
        <p:nvSpPr>
          <p:cNvPr id="4" name="Espace réservé du pied de page 3">
            <a:extLst>
              <a:ext uri="{FF2B5EF4-FFF2-40B4-BE49-F238E27FC236}">
                <a16:creationId xmlns:a16="http://schemas.microsoft.com/office/drawing/2014/main" id="{86CF47BB-4D09-4CA9-A5D1-DA53EAF2EF8A}"/>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5944544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924910" y="274639"/>
            <a:ext cx="10428890" cy="603779"/>
          </a:xfrm>
        </p:spPr>
        <p:txBody>
          <a:bodyPr>
            <a:normAutofit/>
          </a:bodyPr>
          <a:lstStyle/>
          <a:p>
            <a:pPr>
              <a:defRPr/>
            </a:pPr>
            <a:r>
              <a:rPr lang="fr-CA" sz="3200" dirty="0" err="1"/>
              <a:t>Compt</a:t>
            </a:r>
            <a:r>
              <a:rPr lang="fr-CA" sz="3200" dirty="0"/>
              <a:t> de couverture – Question B</a:t>
            </a:r>
          </a:p>
        </p:txBody>
      </p:sp>
      <p:sp>
        <p:nvSpPr>
          <p:cNvPr id="3" name="Espace réservé du contenu 2"/>
          <p:cNvSpPr>
            <a:spLocks noGrp="1"/>
          </p:cNvSpPr>
          <p:nvPr>
            <p:ph idx="1"/>
          </p:nvPr>
        </p:nvSpPr>
        <p:spPr/>
        <p:txBody>
          <a:bodyPr>
            <a:normAutofit fontScale="92500" lnSpcReduction="10000"/>
          </a:bodyPr>
          <a:lstStyle/>
          <a:p>
            <a:pPr marL="0" indent="0">
              <a:buNone/>
              <a:defRPr/>
            </a:pPr>
            <a:r>
              <a:rPr lang="fr-CA" i="1" u="sng" dirty="0"/>
              <a:t>Travail à faire : </a:t>
            </a:r>
            <a:endParaRPr lang="fr-CA" sz="3600" dirty="0"/>
          </a:p>
          <a:p>
            <a:pPr marL="0" indent="0">
              <a:buNone/>
              <a:defRPr/>
            </a:pPr>
            <a:r>
              <a:rPr lang="fr-CA" dirty="0"/>
              <a:t>Déterminez l’impact, si au 30 septembre 20x7, ABC décidait :  </a:t>
            </a:r>
            <a:endParaRPr lang="fr-CA" sz="3600" dirty="0"/>
          </a:p>
          <a:p>
            <a:pPr lvl="1">
              <a:defRPr/>
            </a:pPr>
            <a:r>
              <a:rPr lang="fr-CA" dirty="0"/>
              <a:t>de ne pas appliquer la comptabilité de couverture</a:t>
            </a:r>
            <a:endParaRPr lang="fr-CA" sz="3600" dirty="0"/>
          </a:p>
          <a:p>
            <a:pPr lvl="1">
              <a:defRPr/>
            </a:pPr>
            <a:r>
              <a:rPr lang="fr-CA" dirty="0"/>
              <a:t>d’appliquer la comptabilité de couverture </a:t>
            </a:r>
          </a:p>
          <a:p>
            <a:pPr marL="0" indent="0">
              <a:buNone/>
              <a:defRPr/>
            </a:pPr>
            <a:endParaRPr lang="fr-CA" dirty="0"/>
          </a:p>
          <a:p>
            <a:pPr marL="0" indent="0">
              <a:buNone/>
              <a:defRPr/>
            </a:pPr>
            <a:endParaRPr lang="fr-CA" sz="1500" dirty="0"/>
          </a:p>
          <a:p>
            <a:pPr marL="514350" indent="-514350">
              <a:buFont typeface="Arial" charset="0"/>
              <a:buAutoNum type="alphaLcParenR"/>
              <a:defRPr/>
            </a:pPr>
            <a:r>
              <a:rPr lang="fr-CA" dirty="0"/>
              <a:t>Le 31 mars XYZ livre la machine et ABC effectue le paiement de 800 000 €. </a:t>
            </a:r>
          </a:p>
          <a:p>
            <a:pPr marL="514350" indent="-514350">
              <a:buFont typeface="Arial" charset="0"/>
              <a:buAutoNum type="alphaLcParenR"/>
              <a:defRPr/>
            </a:pPr>
            <a:r>
              <a:rPr lang="fr-CA" dirty="0"/>
              <a:t>Le 31 mars… mais paiement est finalement de 820 000 €</a:t>
            </a:r>
          </a:p>
          <a:p>
            <a:pPr marL="514350" indent="-514350">
              <a:buFont typeface="Arial" charset="0"/>
              <a:buAutoNum type="alphaLcParenR"/>
              <a:defRPr/>
            </a:pPr>
            <a:r>
              <a:rPr lang="fr-CA" dirty="0"/>
              <a:t>Le 15 mars…</a:t>
            </a:r>
          </a:p>
          <a:p>
            <a:pPr marL="514350" indent="-514350">
              <a:buFont typeface="Arial" charset="0"/>
              <a:buAutoNum type="alphaLcParenR"/>
              <a:defRPr/>
            </a:pPr>
            <a:r>
              <a:rPr lang="fr-CA" dirty="0"/>
              <a:t>Le 15 avril…</a:t>
            </a:r>
            <a:endParaRPr lang="fr-CA" sz="3600" dirty="0"/>
          </a:p>
          <a:p>
            <a:pPr>
              <a:defRPr/>
            </a:pPr>
            <a:endParaRPr lang="fr-CA" dirty="0"/>
          </a:p>
        </p:txBody>
      </p:sp>
      <p:sp>
        <p:nvSpPr>
          <p:cNvPr id="54276" name="Espace réservé du numéro de diapositive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Calibri" charset="0"/>
                <a:ea typeface="MS PGothic" charset="0"/>
                <a:cs typeface="MS PGothic" charset="0"/>
              </a:defRPr>
            </a:lvl1pPr>
            <a:lvl2pPr marL="742950" indent="-285750" eaLnBrk="0" hangingPunct="0">
              <a:defRPr sz="2400">
                <a:solidFill>
                  <a:schemeClr val="tx1"/>
                </a:solidFill>
                <a:latin typeface="Calibri" charset="0"/>
                <a:ea typeface="MS PGothic" charset="0"/>
                <a:cs typeface="MS PGothic" charset="0"/>
              </a:defRPr>
            </a:lvl2pPr>
            <a:lvl3pPr marL="1143000" indent="-228600" eaLnBrk="0" hangingPunct="0">
              <a:defRPr sz="2400">
                <a:solidFill>
                  <a:schemeClr val="tx1"/>
                </a:solidFill>
                <a:latin typeface="Calibri" charset="0"/>
                <a:ea typeface="MS PGothic" charset="0"/>
                <a:cs typeface="MS PGothic" charset="0"/>
              </a:defRPr>
            </a:lvl3pPr>
            <a:lvl4pPr marL="1600200" indent="-228600" eaLnBrk="0" hangingPunct="0">
              <a:defRPr sz="2400">
                <a:solidFill>
                  <a:schemeClr val="tx1"/>
                </a:solidFill>
                <a:latin typeface="Calibri" charset="0"/>
                <a:ea typeface="MS PGothic" charset="0"/>
                <a:cs typeface="MS PGothic" charset="0"/>
              </a:defRPr>
            </a:lvl4pPr>
            <a:lvl5pPr marL="2057400" indent="-228600" eaLnBrk="0" hangingPunct="0">
              <a:defRPr sz="2400">
                <a:solidFill>
                  <a:schemeClr val="tx1"/>
                </a:solidFill>
                <a:latin typeface="Calibri" charset="0"/>
                <a:ea typeface="MS PGothic" charset="0"/>
                <a:cs typeface="MS PGothic" charset="0"/>
              </a:defRPr>
            </a:lvl5pPr>
            <a:lvl6pPr marL="2514600" indent="-228600" eaLnBrk="0" fontAlgn="base" hangingPunct="0">
              <a:spcBef>
                <a:spcPct val="0"/>
              </a:spcBef>
              <a:spcAft>
                <a:spcPct val="0"/>
              </a:spcAft>
              <a:defRPr sz="2400">
                <a:solidFill>
                  <a:schemeClr val="tx1"/>
                </a:solidFill>
                <a:latin typeface="Calibri" charset="0"/>
                <a:ea typeface="MS PGothic" charset="0"/>
                <a:cs typeface="MS PGothic" charset="0"/>
              </a:defRPr>
            </a:lvl6pPr>
            <a:lvl7pPr marL="2971800" indent="-228600" eaLnBrk="0" fontAlgn="base" hangingPunct="0">
              <a:spcBef>
                <a:spcPct val="0"/>
              </a:spcBef>
              <a:spcAft>
                <a:spcPct val="0"/>
              </a:spcAft>
              <a:defRPr sz="2400">
                <a:solidFill>
                  <a:schemeClr val="tx1"/>
                </a:solidFill>
                <a:latin typeface="Calibri" charset="0"/>
                <a:ea typeface="MS PGothic" charset="0"/>
                <a:cs typeface="MS PGothic" charset="0"/>
              </a:defRPr>
            </a:lvl7pPr>
            <a:lvl8pPr marL="3429000" indent="-228600" eaLnBrk="0" fontAlgn="base" hangingPunct="0">
              <a:spcBef>
                <a:spcPct val="0"/>
              </a:spcBef>
              <a:spcAft>
                <a:spcPct val="0"/>
              </a:spcAft>
              <a:defRPr sz="2400">
                <a:solidFill>
                  <a:schemeClr val="tx1"/>
                </a:solidFill>
                <a:latin typeface="Calibri" charset="0"/>
                <a:ea typeface="MS PGothic" charset="0"/>
                <a:cs typeface="MS PGothic" charset="0"/>
              </a:defRPr>
            </a:lvl8pPr>
            <a:lvl9pPr marL="3886200" indent="-228600" eaLnBrk="0" fontAlgn="base" hangingPunct="0">
              <a:spcBef>
                <a:spcPct val="0"/>
              </a:spcBef>
              <a:spcAft>
                <a:spcPct val="0"/>
              </a:spcAft>
              <a:defRPr sz="2400">
                <a:solidFill>
                  <a:schemeClr val="tx1"/>
                </a:solidFill>
                <a:latin typeface="Calibri" charset="0"/>
                <a:ea typeface="MS PGothic" charset="0"/>
                <a:cs typeface="MS PGothic" charset="0"/>
              </a:defRPr>
            </a:lvl9pPr>
          </a:lstStyle>
          <a:p>
            <a:pPr eaLnBrk="1" hangingPunct="1"/>
            <a:fld id="{45CA9D1D-1675-554E-987A-4E11227ABD9B}" type="slidenum">
              <a:rPr lang="fr-FR" sz="1200">
                <a:solidFill>
                  <a:srgbClr val="898989"/>
                </a:solidFill>
              </a:rPr>
              <a:pPr eaLnBrk="1" hangingPunct="1"/>
              <a:t>140</a:t>
            </a:fld>
            <a:endParaRPr lang="fr-FR" sz="1200">
              <a:solidFill>
                <a:srgbClr val="898989"/>
              </a:solidFill>
            </a:endParaRPr>
          </a:p>
        </p:txBody>
      </p:sp>
      <p:sp>
        <p:nvSpPr>
          <p:cNvPr id="4" name="Espace réservé du pied de page 3">
            <a:extLst>
              <a:ext uri="{FF2B5EF4-FFF2-40B4-BE49-F238E27FC236}">
                <a16:creationId xmlns:a16="http://schemas.microsoft.com/office/drawing/2014/main" id="{E27A08B1-E7CE-4B54-812D-2C544DBF3FA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65385561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82869" y="274638"/>
            <a:ext cx="10470931" cy="550862"/>
          </a:xfrm>
        </p:spPr>
        <p:txBody>
          <a:bodyPr>
            <a:normAutofit/>
          </a:bodyPr>
          <a:lstStyle/>
          <a:p>
            <a:r>
              <a:rPr lang="fr-FR" sz="2800" dirty="0"/>
              <a:t>Comptabilité de couverture –(NCECF)</a:t>
            </a:r>
          </a:p>
        </p:txBody>
      </p:sp>
      <p:sp>
        <p:nvSpPr>
          <p:cNvPr id="3" name="Espace réservé du contenu 2"/>
          <p:cNvSpPr>
            <a:spLocks noGrp="1"/>
          </p:cNvSpPr>
          <p:nvPr>
            <p:ph idx="1"/>
          </p:nvPr>
        </p:nvSpPr>
        <p:spPr>
          <a:xfrm>
            <a:off x="882869" y="1185334"/>
            <a:ext cx="10470931" cy="4940830"/>
          </a:xfrm>
        </p:spPr>
        <p:txBody>
          <a:bodyPr>
            <a:normAutofit fontScale="62500" lnSpcReduction="20000"/>
          </a:bodyPr>
          <a:lstStyle/>
          <a:p>
            <a:pPr marL="0" indent="0">
              <a:buNone/>
            </a:pPr>
            <a:r>
              <a:rPr lang="fr-FR" sz="3600" b="1" dirty="0"/>
              <a:t>ABC choisit de ne pas appliquer la comptabilité́ de couverture </a:t>
            </a:r>
            <a:r>
              <a:rPr lang="fr-FR" sz="3600" b="1" dirty="0">
                <a:solidFill>
                  <a:srgbClr val="00B0F0"/>
                </a:solidFill>
              </a:rPr>
              <a:t> - sous-question a)</a:t>
            </a:r>
            <a:endParaRPr lang="fr-FR" sz="3600" b="1" dirty="0"/>
          </a:p>
          <a:p>
            <a:pPr marL="0" indent="0">
              <a:buNone/>
            </a:pPr>
            <a:endParaRPr lang="fr-FR" dirty="0"/>
          </a:p>
          <a:p>
            <a:r>
              <a:rPr lang="fr-FR" dirty="0"/>
              <a:t>30/09/20x7 : aucune écriture </a:t>
            </a:r>
          </a:p>
          <a:p>
            <a:pPr marL="0" indent="0">
              <a:buNone/>
            </a:pPr>
            <a:endParaRPr lang="fr-FR" dirty="0"/>
          </a:p>
          <a:p>
            <a:r>
              <a:rPr lang="fr-FR" dirty="0"/>
              <a:t>31/12/20x7 : Dérivé́ à la juste valeur</a:t>
            </a:r>
          </a:p>
          <a:p>
            <a:pPr marL="0" indent="0">
              <a:buNone/>
            </a:pPr>
            <a:r>
              <a:rPr lang="fr-FR" dirty="0"/>
              <a:t>		 </a:t>
            </a:r>
            <a:r>
              <a:rPr lang="fr-FR" dirty="0">
                <a:solidFill>
                  <a:srgbClr val="00B0F0"/>
                </a:solidFill>
              </a:rPr>
              <a:t>Perte</a:t>
            </a:r>
            <a:r>
              <a:rPr lang="fr-FR" dirty="0"/>
              <a:t> (état des résultats)	 	</a:t>
            </a:r>
            <a:r>
              <a:rPr lang="fr-FR" dirty="0">
                <a:solidFill>
                  <a:srgbClr val="00B0F0"/>
                </a:solidFill>
              </a:rPr>
              <a:t>8 000</a:t>
            </a:r>
          </a:p>
          <a:p>
            <a:pPr marL="0" indent="0">
              <a:buNone/>
            </a:pPr>
            <a:r>
              <a:rPr lang="fr-FR" dirty="0"/>
              <a:t>		@ Instrument financier – dérivé́ 		    8 000</a:t>
            </a:r>
          </a:p>
          <a:p>
            <a:pPr marL="0" indent="0">
              <a:buNone/>
            </a:pPr>
            <a:endParaRPr lang="fr-FR" dirty="0"/>
          </a:p>
          <a:p>
            <a:r>
              <a:rPr lang="fr-FR" dirty="0">
                <a:solidFill>
                  <a:srgbClr val="FF0000"/>
                </a:solidFill>
              </a:rPr>
              <a:t>31/03/20x8 :</a:t>
            </a:r>
          </a:p>
          <a:p>
            <a:pPr marL="0" indent="0">
              <a:buNone/>
            </a:pPr>
            <a:r>
              <a:rPr lang="fr-FR" dirty="0">
                <a:solidFill>
                  <a:srgbClr val="FF0000"/>
                </a:solidFill>
              </a:rPr>
              <a:t>		Machine 				1 032 000</a:t>
            </a:r>
          </a:p>
          <a:p>
            <a:pPr marL="0" indent="0">
              <a:buNone/>
            </a:pPr>
            <a:r>
              <a:rPr lang="fr-FR" dirty="0">
                <a:solidFill>
                  <a:srgbClr val="FF0000"/>
                </a:solidFill>
              </a:rPr>
              <a:t>		@ Caisse (compte à payer) 			1 032 000</a:t>
            </a:r>
          </a:p>
          <a:p>
            <a:pPr marL="0" indent="0">
              <a:buNone/>
            </a:pPr>
            <a:endParaRPr lang="fr-FR" dirty="0"/>
          </a:p>
          <a:p>
            <a:pPr marL="0" indent="0">
              <a:buNone/>
            </a:pPr>
            <a:r>
              <a:rPr lang="fr-FR" dirty="0"/>
              <a:t>		 Instrument financier – dérivé́ 	     8 000		</a:t>
            </a:r>
          </a:p>
          <a:p>
            <a:pPr marL="0" indent="0">
              <a:buNone/>
            </a:pPr>
            <a:r>
              <a:rPr lang="fr-FR" dirty="0"/>
              <a:t>		@</a:t>
            </a:r>
            <a:r>
              <a:rPr lang="fr-FR" dirty="0">
                <a:solidFill>
                  <a:srgbClr val="00B0F0"/>
                </a:solidFill>
              </a:rPr>
              <a:t> </a:t>
            </a:r>
            <a:r>
              <a:rPr lang="fr-FR" dirty="0"/>
              <a:t> Caisse					      8 000</a:t>
            </a:r>
          </a:p>
          <a:p>
            <a:pPr marL="0" indent="0">
              <a:buNone/>
            </a:pPr>
            <a:endParaRPr lang="fr-FR" dirty="0"/>
          </a:p>
          <a:p>
            <a:endParaRPr lang="fr-FR" dirty="0">
              <a:solidFill>
                <a:srgbClr val="3366FF"/>
              </a:solidFill>
            </a:endParaRPr>
          </a:p>
          <a:p>
            <a:pPr marL="0" indent="0">
              <a:buNone/>
            </a:pPr>
            <a:endParaRPr lang="fr-FR" dirty="0"/>
          </a:p>
          <a:p>
            <a:pPr lvl="1"/>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141</a:t>
            </a:fld>
            <a:endParaRPr lang="fr-FR"/>
          </a:p>
        </p:txBody>
      </p:sp>
      <p:sp>
        <p:nvSpPr>
          <p:cNvPr id="5" name="Espace réservé du pied de page 4">
            <a:extLst>
              <a:ext uri="{FF2B5EF4-FFF2-40B4-BE49-F238E27FC236}">
                <a16:creationId xmlns:a16="http://schemas.microsoft.com/office/drawing/2014/main" id="{8A7A574C-BDED-4068-933D-E785DE1038E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7227314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93379" y="274638"/>
            <a:ext cx="10460421" cy="550862"/>
          </a:xfrm>
        </p:spPr>
        <p:txBody>
          <a:bodyPr>
            <a:normAutofit/>
          </a:bodyPr>
          <a:lstStyle/>
          <a:p>
            <a:r>
              <a:rPr lang="fr-FR" sz="2800" dirty="0"/>
              <a:t>Comptabilité de couverture – (NCECF)</a:t>
            </a:r>
          </a:p>
        </p:txBody>
      </p:sp>
      <p:sp>
        <p:nvSpPr>
          <p:cNvPr id="3" name="Espace réservé du contenu 2"/>
          <p:cNvSpPr>
            <a:spLocks noGrp="1"/>
          </p:cNvSpPr>
          <p:nvPr>
            <p:ph idx="1"/>
          </p:nvPr>
        </p:nvSpPr>
        <p:spPr>
          <a:xfrm>
            <a:off x="893379" y="1185334"/>
            <a:ext cx="10460421" cy="4940830"/>
          </a:xfrm>
        </p:spPr>
        <p:txBody>
          <a:bodyPr>
            <a:normAutofit fontScale="62500" lnSpcReduction="20000"/>
          </a:bodyPr>
          <a:lstStyle/>
          <a:p>
            <a:pPr marL="0" indent="0">
              <a:buNone/>
            </a:pPr>
            <a:r>
              <a:rPr lang="fr-FR" sz="3600" b="1" dirty="0"/>
              <a:t>ABC choisit de ne pas appliquer la comptabilité́ de couverture </a:t>
            </a:r>
            <a:r>
              <a:rPr lang="fr-FR" sz="3600" b="1" dirty="0">
                <a:solidFill>
                  <a:srgbClr val="00B0F0"/>
                </a:solidFill>
              </a:rPr>
              <a:t> - sous-question b)</a:t>
            </a:r>
          </a:p>
          <a:p>
            <a:pPr marL="0" indent="0">
              <a:buNone/>
            </a:pPr>
            <a:endParaRPr lang="fr-FR" dirty="0"/>
          </a:p>
          <a:p>
            <a:r>
              <a:rPr lang="fr-FR" dirty="0"/>
              <a:t>30/09/20x7 : aucune écriture </a:t>
            </a:r>
          </a:p>
          <a:p>
            <a:pPr marL="0" indent="0">
              <a:buNone/>
            </a:pPr>
            <a:endParaRPr lang="fr-FR" dirty="0"/>
          </a:p>
          <a:p>
            <a:r>
              <a:rPr lang="fr-FR" dirty="0"/>
              <a:t>31/12/20x7 : Dérivé́ à la juste valeur</a:t>
            </a:r>
          </a:p>
          <a:p>
            <a:pPr marL="0" indent="0">
              <a:buNone/>
            </a:pPr>
            <a:r>
              <a:rPr lang="fr-FR" dirty="0"/>
              <a:t>		 </a:t>
            </a:r>
            <a:r>
              <a:rPr lang="fr-FR" dirty="0">
                <a:solidFill>
                  <a:srgbClr val="00B0F0"/>
                </a:solidFill>
              </a:rPr>
              <a:t>Perte</a:t>
            </a:r>
            <a:r>
              <a:rPr lang="fr-FR" dirty="0"/>
              <a:t> (état des résultats)	 		     </a:t>
            </a:r>
            <a:r>
              <a:rPr lang="fr-FR" dirty="0">
                <a:solidFill>
                  <a:srgbClr val="00B0F0"/>
                </a:solidFill>
              </a:rPr>
              <a:t>8 000</a:t>
            </a:r>
          </a:p>
          <a:p>
            <a:pPr marL="0" indent="0">
              <a:buNone/>
            </a:pPr>
            <a:r>
              <a:rPr lang="fr-FR" dirty="0"/>
              <a:t>		@ Instrument financier – dérivé́ 			        8 000</a:t>
            </a:r>
          </a:p>
          <a:p>
            <a:pPr marL="0" indent="0">
              <a:buNone/>
            </a:pPr>
            <a:endParaRPr lang="fr-FR" dirty="0"/>
          </a:p>
          <a:p>
            <a:r>
              <a:rPr lang="fr-FR" dirty="0">
                <a:solidFill>
                  <a:srgbClr val="FF0000"/>
                </a:solidFill>
              </a:rPr>
              <a:t>31/03/20x8 :</a:t>
            </a:r>
          </a:p>
          <a:p>
            <a:pPr marL="0" indent="0">
              <a:buNone/>
            </a:pPr>
            <a:r>
              <a:rPr lang="fr-FR" dirty="0">
                <a:solidFill>
                  <a:srgbClr val="FF0000"/>
                </a:solidFill>
              </a:rPr>
              <a:t>		Machine 				1 057 800</a:t>
            </a:r>
          </a:p>
          <a:p>
            <a:pPr marL="0" indent="0">
              <a:buNone/>
            </a:pPr>
            <a:r>
              <a:rPr lang="fr-FR" dirty="0">
                <a:solidFill>
                  <a:srgbClr val="FF0000"/>
                </a:solidFill>
              </a:rPr>
              <a:t>		@ Caisse (compte à payer) 				1 057 800</a:t>
            </a:r>
          </a:p>
          <a:p>
            <a:pPr marL="0" indent="0">
              <a:buNone/>
            </a:pPr>
            <a:endParaRPr lang="fr-FR" dirty="0"/>
          </a:p>
          <a:p>
            <a:pPr marL="0" indent="0">
              <a:buNone/>
            </a:pPr>
            <a:r>
              <a:rPr lang="fr-FR" dirty="0"/>
              <a:t>		 Instrument financier – dérivé́ 		     8 000		</a:t>
            </a:r>
          </a:p>
          <a:p>
            <a:pPr marL="0" indent="0">
              <a:buNone/>
            </a:pPr>
            <a:r>
              <a:rPr lang="fr-FR" dirty="0"/>
              <a:t>		@</a:t>
            </a:r>
            <a:r>
              <a:rPr lang="fr-FR" dirty="0">
                <a:solidFill>
                  <a:srgbClr val="00B0F0"/>
                </a:solidFill>
              </a:rPr>
              <a:t> </a:t>
            </a:r>
            <a:r>
              <a:rPr lang="fr-FR" dirty="0"/>
              <a:t> Caisse					    	        8 000</a:t>
            </a:r>
          </a:p>
          <a:p>
            <a:endParaRPr lang="fr-FR" dirty="0">
              <a:solidFill>
                <a:srgbClr val="3366FF"/>
              </a:solidFill>
            </a:endParaRPr>
          </a:p>
          <a:p>
            <a:pPr marL="0" indent="0">
              <a:buNone/>
            </a:pPr>
            <a:endParaRPr lang="fr-FR" dirty="0"/>
          </a:p>
          <a:p>
            <a:pPr lvl="1"/>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142</a:t>
            </a:fld>
            <a:endParaRPr lang="fr-FR"/>
          </a:p>
        </p:txBody>
      </p:sp>
      <p:sp>
        <p:nvSpPr>
          <p:cNvPr id="5" name="Espace réservé du pied de page 4">
            <a:extLst>
              <a:ext uri="{FF2B5EF4-FFF2-40B4-BE49-F238E27FC236}">
                <a16:creationId xmlns:a16="http://schemas.microsoft.com/office/drawing/2014/main" id="{127E45C9-317B-494C-A6E7-CA0B3A031B1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0179988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8"/>
            <a:ext cx="10481441" cy="550862"/>
          </a:xfrm>
        </p:spPr>
        <p:txBody>
          <a:bodyPr>
            <a:normAutofit/>
          </a:bodyPr>
          <a:lstStyle/>
          <a:p>
            <a:r>
              <a:rPr lang="fr-FR" sz="2800" dirty="0"/>
              <a:t>Comptabilité de couverture – (sous-question b) NCECF)</a:t>
            </a:r>
          </a:p>
        </p:txBody>
      </p:sp>
      <p:sp>
        <p:nvSpPr>
          <p:cNvPr id="3" name="Espace réservé du contenu 2"/>
          <p:cNvSpPr>
            <a:spLocks noGrp="1"/>
          </p:cNvSpPr>
          <p:nvPr>
            <p:ph idx="1"/>
          </p:nvPr>
        </p:nvSpPr>
        <p:spPr>
          <a:xfrm>
            <a:off x="872359" y="1185334"/>
            <a:ext cx="10481441" cy="4940830"/>
          </a:xfrm>
        </p:spPr>
        <p:txBody>
          <a:bodyPr>
            <a:normAutofit fontScale="62500" lnSpcReduction="20000"/>
          </a:bodyPr>
          <a:lstStyle/>
          <a:p>
            <a:pPr marL="0" indent="0">
              <a:buNone/>
            </a:pPr>
            <a:r>
              <a:rPr lang="fr-FR" sz="3600" b="1" dirty="0"/>
              <a:t>ABC choisit de ne pas appliquer la comptabilité́ de couverture </a:t>
            </a:r>
            <a:r>
              <a:rPr lang="fr-FR" sz="3600" b="1" dirty="0">
                <a:solidFill>
                  <a:srgbClr val="00B0F0"/>
                </a:solidFill>
              </a:rPr>
              <a:t> - sous-question c)</a:t>
            </a:r>
            <a:endParaRPr lang="fr-FR" sz="3600" b="1" dirty="0"/>
          </a:p>
          <a:p>
            <a:pPr marL="0" indent="0">
              <a:buNone/>
            </a:pPr>
            <a:endParaRPr lang="fr-FR" dirty="0"/>
          </a:p>
          <a:p>
            <a:r>
              <a:rPr lang="fr-FR" dirty="0"/>
              <a:t>30/09/20x7 : aucune écriture </a:t>
            </a:r>
          </a:p>
          <a:p>
            <a:pPr marL="0" indent="0">
              <a:buNone/>
            </a:pPr>
            <a:endParaRPr lang="fr-FR" dirty="0"/>
          </a:p>
          <a:p>
            <a:r>
              <a:rPr lang="fr-FR" dirty="0"/>
              <a:t>31/12/20x7 : Dérivé́ à la juste valeur</a:t>
            </a:r>
          </a:p>
          <a:p>
            <a:pPr marL="0" indent="0">
              <a:buNone/>
            </a:pPr>
            <a:r>
              <a:rPr lang="fr-FR" dirty="0"/>
              <a:t>		 </a:t>
            </a:r>
            <a:r>
              <a:rPr lang="fr-FR" dirty="0">
                <a:solidFill>
                  <a:srgbClr val="00B0F0"/>
                </a:solidFill>
              </a:rPr>
              <a:t>Perte</a:t>
            </a:r>
            <a:r>
              <a:rPr lang="fr-FR" dirty="0"/>
              <a:t> (état des résultats)	 		</a:t>
            </a:r>
            <a:r>
              <a:rPr lang="fr-FR" dirty="0">
                <a:solidFill>
                  <a:srgbClr val="00B0F0"/>
                </a:solidFill>
              </a:rPr>
              <a:t>8 000</a:t>
            </a:r>
          </a:p>
          <a:p>
            <a:pPr marL="0" indent="0">
              <a:buNone/>
            </a:pPr>
            <a:r>
              <a:rPr lang="fr-FR" dirty="0"/>
              <a:t>		@ Instrument financier – dérivé́ 		 	      8 000</a:t>
            </a:r>
          </a:p>
          <a:p>
            <a:pPr marL="0" indent="0">
              <a:buNone/>
            </a:pPr>
            <a:endParaRPr lang="fr-FR" dirty="0"/>
          </a:p>
          <a:p>
            <a:r>
              <a:rPr lang="fr-FR" dirty="0">
                <a:solidFill>
                  <a:srgbClr val="FF0000"/>
                </a:solidFill>
              </a:rPr>
              <a:t>15/03/20x8 :</a:t>
            </a:r>
          </a:p>
          <a:p>
            <a:pPr marL="0" indent="0">
              <a:buNone/>
            </a:pPr>
            <a:r>
              <a:rPr lang="fr-FR" dirty="0">
                <a:solidFill>
                  <a:srgbClr val="FF0000"/>
                </a:solidFill>
              </a:rPr>
              <a:t>		Machine 					1 008 000</a:t>
            </a:r>
          </a:p>
          <a:p>
            <a:pPr marL="0" indent="0">
              <a:buNone/>
            </a:pPr>
            <a:r>
              <a:rPr lang="fr-FR" dirty="0">
                <a:solidFill>
                  <a:srgbClr val="FF0000"/>
                </a:solidFill>
              </a:rPr>
              <a:t>		@ Caisse (compte à payer) 				1 008 000</a:t>
            </a:r>
          </a:p>
          <a:p>
            <a:pPr marL="0" indent="0">
              <a:buNone/>
            </a:pPr>
            <a:endParaRPr lang="fr-FR" dirty="0">
              <a:solidFill>
                <a:srgbClr val="FF0000"/>
              </a:solidFill>
            </a:endParaRPr>
          </a:p>
          <a:p>
            <a:r>
              <a:rPr lang="fr-FR" dirty="0"/>
              <a:t>31/03/20x8 :</a:t>
            </a:r>
          </a:p>
          <a:p>
            <a:pPr marL="0" indent="0">
              <a:buNone/>
            </a:pPr>
            <a:r>
              <a:rPr lang="fr-FR" dirty="0"/>
              <a:t>		 Instrument financier – dérivé́ 		8 000		</a:t>
            </a:r>
          </a:p>
          <a:p>
            <a:pPr marL="0" indent="0">
              <a:buNone/>
            </a:pPr>
            <a:r>
              <a:rPr lang="fr-FR" dirty="0"/>
              <a:t>		@</a:t>
            </a:r>
            <a:r>
              <a:rPr lang="fr-FR" dirty="0">
                <a:solidFill>
                  <a:srgbClr val="00B0F0"/>
                </a:solidFill>
              </a:rPr>
              <a:t> </a:t>
            </a:r>
            <a:r>
              <a:rPr lang="fr-FR" dirty="0"/>
              <a:t> Caisse						       8 000</a:t>
            </a:r>
          </a:p>
          <a:p>
            <a:pPr marL="0" indent="0">
              <a:buNone/>
            </a:pPr>
            <a:endParaRPr lang="fr-FR" dirty="0"/>
          </a:p>
          <a:p>
            <a:endParaRPr lang="fr-FR" dirty="0">
              <a:solidFill>
                <a:srgbClr val="3366FF"/>
              </a:solidFill>
            </a:endParaRPr>
          </a:p>
          <a:p>
            <a:pPr marL="0" indent="0">
              <a:buNone/>
            </a:pPr>
            <a:endParaRPr lang="fr-FR" dirty="0"/>
          </a:p>
          <a:p>
            <a:pPr lvl="1"/>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143</a:t>
            </a:fld>
            <a:endParaRPr lang="fr-FR"/>
          </a:p>
        </p:txBody>
      </p:sp>
      <p:sp>
        <p:nvSpPr>
          <p:cNvPr id="5" name="Espace réservé du pied de page 4">
            <a:extLst>
              <a:ext uri="{FF2B5EF4-FFF2-40B4-BE49-F238E27FC236}">
                <a16:creationId xmlns:a16="http://schemas.microsoft.com/office/drawing/2014/main" id="{EC0D2325-DE6F-45CC-BF8C-2737E49B279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54085341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51338" y="274638"/>
            <a:ext cx="10502462" cy="550862"/>
          </a:xfrm>
        </p:spPr>
        <p:txBody>
          <a:bodyPr>
            <a:normAutofit/>
          </a:bodyPr>
          <a:lstStyle/>
          <a:p>
            <a:r>
              <a:rPr lang="fr-FR" sz="2800" dirty="0"/>
              <a:t>Comptabilité de couverture –(sous-question b) NCECF)</a:t>
            </a:r>
          </a:p>
        </p:txBody>
      </p:sp>
      <p:sp>
        <p:nvSpPr>
          <p:cNvPr id="3" name="Espace réservé du contenu 2"/>
          <p:cNvSpPr>
            <a:spLocks noGrp="1"/>
          </p:cNvSpPr>
          <p:nvPr>
            <p:ph idx="1"/>
          </p:nvPr>
        </p:nvSpPr>
        <p:spPr>
          <a:xfrm>
            <a:off x="924910" y="1185334"/>
            <a:ext cx="10428890" cy="4940830"/>
          </a:xfrm>
        </p:spPr>
        <p:txBody>
          <a:bodyPr>
            <a:normAutofit fontScale="62500" lnSpcReduction="20000"/>
          </a:bodyPr>
          <a:lstStyle/>
          <a:p>
            <a:pPr marL="0" indent="0">
              <a:buNone/>
            </a:pPr>
            <a:r>
              <a:rPr lang="fr-FR" sz="3600" b="1" dirty="0"/>
              <a:t>ABC choisit de ne pas appliquer la comptabilité́ de couverture </a:t>
            </a:r>
            <a:r>
              <a:rPr lang="fr-FR" sz="3600" b="1" dirty="0">
                <a:solidFill>
                  <a:srgbClr val="00B0F0"/>
                </a:solidFill>
              </a:rPr>
              <a:t> - sous-question d)</a:t>
            </a:r>
            <a:endParaRPr lang="fr-FR" sz="3600" b="1" dirty="0"/>
          </a:p>
          <a:p>
            <a:pPr marL="0" indent="0">
              <a:buNone/>
            </a:pPr>
            <a:endParaRPr lang="fr-FR" dirty="0"/>
          </a:p>
          <a:p>
            <a:r>
              <a:rPr lang="fr-FR" dirty="0"/>
              <a:t>30/09/20x7 : aucune écriture </a:t>
            </a:r>
          </a:p>
          <a:p>
            <a:endParaRPr lang="fr-FR" dirty="0"/>
          </a:p>
          <a:p>
            <a:r>
              <a:rPr lang="fr-FR" dirty="0"/>
              <a:t>31/12/20x7 : Dérivé́ à la juste valeur</a:t>
            </a:r>
          </a:p>
          <a:p>
            <a:pPr marL="0" indent="0">
              <a:buNone/>
            </a:pPr>
            <a:r>
              <a:rPr lang="fr-FR" dirty="0"/>
              <a:t>		 </a:t>
            </a:r>
            <a:r>
              <a:rPr lang="fr-FR" dirty="0">
                <a:solidFill>
                  <a:srgbClr val="00B0F0"/>
                </a:solidFill>
              </a:rPr>
              <a:t>Perte</a:t>
            </a:r>
            <a:r>
              <a:rPr lang="fr-FR" dirty="0"/>
              <a:t> (état des résultats)	 		</a:t>
            </a:r>
            <a:r>
              <a:rPr lang="fr-FR" dirty="0">
                <a:solidFill>
                  <a:srgbClr val="00B0F0"/>
                </a:solidFill>
              </a:rPr>
              <a:t>8 000</a:t>
            </a:r>
          </a:p>
          <a:p>
            <a:pPr marL="0" indent="0">
              <a:buNone/>
            </a:pPr>
            <a:r>
              <a:rPr lang="fr-FR" dirty="0"/>
              <a:t>		@ Instrument financier – dérivé́ 			8 000</a:t>
            </a:r>
          </a:p>
          <a:p>
            <a:pPr marL="0" indent="0">
              <a:buNone/>
            </a:pPr>
            <a:endParaRPr lang="fr-FR" dirty="0"/>
          </a:p>
          <a:p>
            <a:r>
              <a:rPr lang="fr-FR" dirty="0"/>
              <a:t>31/03/20x8 :</a:t>
            </a:r>
          </a:p>
          <a:p>
            <a:pPr marL="0" indent="0">
              <a:buNone/>
            </a:pPr>
            <a:r>
              <a:rPr lang="fr-FR" dirty="0"/>
              <a:t>		 Instrument financier – dérivé́ 		8 000		</a:t>
            </a:r>
          </a:p>
          <a:p>
            <a:pPr marL="0" indent="0">
              <a:buNone/>
            </a:pPr>
            <a:r>
              <a:rPr lang="fr-FR" dirty="0"/>
              <a:t>		@</a:t>
            </a:r>
            <a:r>
              <a:rPr lang="fr-FR" dirty="0">
                <a:solidFill>
                  <a:srgbClr val="00B0F0"/>
                </a:solidFill>
              </a:rPr>
              <a:t> </a:t>
            </a:r>
            <a:r>
              <a:rPr lang="fr-FR" dirty="0"/>
              <a:t> Caisse						8 000</a:t>
            </a:r>
          </a:p>
          <a:p>
            <a:pPr marL="0" indent="0">
              <a:buNone/>
            </a:pPr>
            <a:endParaRPr lang="fr-FR" dirty="0"/>
          </a:p>
          <a:p>
            <a:r>
              <a:rPr lang="fr-FR" dirty="0">
                <a:solidFill>
                  <a:srgbClr val="FF0000"/>
                </a:solidFill>
              </a:rPr>
              <a:t>15/04/20x8 :</a:t>
            </a:r>
          </a:p>
          <a:p>
            <a:pPr marL="0" indent="0">
              <a:buNone/>
            </a:pPr>
            <a:r>
              <a:rPr lang="fr-FR" dirty="0">
                <a:solidFill>
                  <a:srgbClr val="FF0000"/>
                </a:solidFill>
              </a:rPr>
              <a:t>		Machine 					1 048 000</a:t>
            </a:r>
          </a:p>
          <a:p>
            <a:pPr marL="0" indent="0">
              <a:buNone/>
            </a:pPr>
            <a:r>
              <a:rPr lang="fr-FR" dirty="0">
                <a:solidFill>
                  <a:srgbClr val="FF0000"/>
                </a:solidFill>
              </a:rPr>
              <a:t>		@ Caisse (compte à payer) 				1 048 000</a:t>
            </a:r>
          </a:p>
          <a:p>
            <a:pPr marL="0" indent="0">
              <a:buNone/>
            </a:pPr>
            <a:endParaRPr lang="fr-FR" dirty="0"/>
          </a:p>
          <a:p>
            <a:pPr marL="0" indent="0">
              <a:buNone/>
            </a:pPr>
            <a:endParaRPr lang="fr-FR" dirty="0"/>
          </a:p>
          <a:p>
            <a:endParaRPr lang="fr-FR" dirty="0">
              <a:solidFill>
                <a:srgbClr val="3366FF"/>
              </a:solidFill>
            </a:endParaRPr>
          </a:p>
          <a:p>
            <a:pPr marL="0" indent="0">
              <a:buNone/>
            </a:pPr>
            <a:endParaRPr lang="fr-FR" dirty="0"/>
          </a:p>
          <a:p>
            <a:pPr lvl="1"/>
            <a:endParaRPr lang="fr-FR" dirty="0"/>
          </a:p>
          <a:p>
            <a:endParaRPr lang="fr-FR"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144</a:t>
            </a:fld>
            <a:endParaRPr lang="fr-FR"/>
          </a:p>
        </p:txBody>
      </p:sp>
      <p:sp>
        <p:nvSpPr>
          <p:cNvPr id="5" name="Espace réservé du pied de page 4">
            <a:extLst>
              <a:ext uri="{FF2B5EF4-FFF2-40B4-BE49-F238E27FC236}">
                <a16:creationId xmlns:a16="http://schemas.microsoft.com/office/drawing/2014/main" id="{9B23124A-BC15-4F1C-A006-C8B04E3CB92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23412018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61848" y="274639"/>
            <a:ext cx="10491952" cy="529695"/>
          </a:xfrm>
        </p:spPr>
        <p:txBody>
          <a:bodyPr>
            <a:normAutofit/>
          </a:bodyPr>
          <a:lstStyle/>
          <a:p>
            <a:r>
              <a:rPr lang="fr-FR" sz="2800" dirty="0" err="1"/>
              <a:t>Compt</a:t>
            </a:r>
            <a:r>
              <a:rPr lang="fr-FR" sz="2800" dirty="0"/>
              <a:t> de couverture –(NCECF)</a:t>
            </a:r>
          </a:p>
        </p:txBody>
      </p:sp>
      <p:sp>
        <p:nvSpPr>
          <p:cNvPr id="3" name="Espace réservé du contenu 2"/>
          <p:cNvSpPr>
            <a:spLocks noGrp="1"/>
          </p:cNvSpPr>
          <p:nvPr>
            <p:ph idx="1"/>
          </p:nvPr>
        </p:nvSpPr>
        <p:spPr>
          <a:xfrm>
            <a:off x="861848" y="963084"/>
            <a:ext cx="10491952" cy="5231976"/>
          </a:xfrm>
        </p:spPr>
        <p:txBody>
          <a:bodyPr>
            <a:normAutofit fontScale="92500" lnSpcReduction="10000"/>
          </a:bodyPr>
          <a:lstStyle/>
          <a:p>
            <a:pPr marL="0" indent="0">
              <a:lnSpc>
                <a:spcPct val="110000"/>
              </a:lnSpc>
              <a:spcBef>
                <a:spcPts val="0"/>
              </a:spcBef>
              <a:buNone/>
            </a:pPr>
            <a:r>
              <a:rPr lang="fr-FR" sz="2400" b="1" dirty="0"/>
              <a:t>Cas II - ABC choisit d’appliquer la comptabilité́ de couverture </a:t>
            </a:r>
            <a:r>
              <a:rPr lang="fr-FR" sz="6200" b="1" dirty="0"/>
              <a:t>- </a:t>
            </a:r>
            <a:r>
              <a:rPr lang="fr-FR" b="1" dirty="0">
                <a:solidFill>
                  <a:srgbClr val="00B0F0"/>
                </a:solidFill>
              </a:rPr>
              <a:t>Question a</a:t>
            </a:r>
            <a:endParaRPr lang="fr-FR" sz="2400" dirty="0"/>
          </a:p>
          <a:p>
            <a:pPr marL="0" indent="0">
              <a:buNone/>
            </a:pPr>
            <a:endParaRPr lang="fr-FR" dirty="0"/>
          </a:p>
          <a:p>
            <a:r>
              <a:rPr lang="fr-FR" dirty="0"/>
              <a:t>30/09/20x7 : aucune écriture </a:t>
            </a:r>
          </a:p>
          <a:p>
            <a:pPr marL="0" indent="0">
              <a:buNone/>
            </a:pPr>
            <a:endParaRPr lang="fr-FR" sz="1600" dirty="0"/>
          </a:p>
          <a:p>
            <a:r>
              <a:rPr lang="fr-FR" dirty="0"/>
              <a:t>31/12/20x7 : aucune écriture</a:t>
            </a:r>
          </a:p>
          <a:p>
            <a:pPr marL="0" indent="0">
              <a:buNone/>
            </a:pPr>
            <a:endParaRPr lang="fr-FR" dirty="0">
              <a:solidFill>
                <a:srgbClr val="3366FF"/>
              </a:solidFill>
            </a:endParaRPr>
          </a:p>
          <a:p>
            <a:r>
              <a:rPr lang="fr-FR" dirty="0">
                <a:solidFill>
                  <a:srgbClr val="3366FF"/>
                </a:solidFill>
              </a:rPr>
              <a:t>31/03/20x8 :</a:t>
            </a:r>
          </a:p>
          <a:p>
            <a:pPr marL="0" indent="0">
              <a:buNone/>
            </a:pPr>
            <a:r>
              <a:rPr lang="fr-FR" dirty="0">
                <a:solidFill>
                  <a:srgbClr val="3366FF"/>
                </a:solidFill>
              </a:rPr>
              <a:t>		</a:t>
            </a:r>
            <a:r>
              <a:rPr lang="fr-FR" dirty="0">
                <a:solidFill>
                  <a:srgbClr val="FF0000"/>
                </a:solidFill>
              </a:rPr>
              <a:t>Machine			1 040 000</a:t>
            </a:r>
          </a:p>
          <a:p>
            <a:pPr marL="0" indent="0">
              <a:buNone/>
            </a:pPr>
            <a:r>
              <a:rPr lang="fr-FR" dirty="0">
                <a:solidFill>
                  <a:srgbClr val="FF0000"/>
                </a:solidFill>
              </a:rPr>
              <a:t>		@ Caisse (compte à payer) 			1 032 000 </a:t>
            </a:r>
          </a:p>
          <a:p>
            <a:pPr marL="0" indent="0">
              <a:buNone/>
            </a:pPr>
            <a:r>
              <a:rPr lang="fr-FR" dirty="0">
                <a:solidFill>
                  <a:srgbClr val="FF0000"/>
                </a:solidFill>
              </a:rPr>
              <a:t>		      </a:t>
            </a:r>
            <a:r>
              <a:rPr lang="fr-FR" dirty="0"/>
              <a:t>Caisse					        8 000</a:t>
            </a:r>
            <a:endParaRPr lang="fr-FR" sz="44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145</a:t>
            </a:fld>
            <a:endParaRPr lang="fr-FR" dirty="0"/>
          </a:p>
        </p:txBody>
      </p:sp>
      <p:sp>
        <p:nvSpPr>
          <p:cNvPr id="5" name="Espace réservé du pied de page 4">
            <a:extLst>
              <a:ext uri="{FF2B5EF4-FFF2-40B4-BE49-F238E27FC236}">
                <a16:creationId xmlns:a16="http://schemas.microsoft.com/office/drawing/2014/main" id="{252F81FE-2EE1-4A55-A1B4-02E02EBCBC5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74345744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914400" y="274639"/>
            <a:ext cx="10439400" cy="529695"/>
          </a:xfrm>
        </p:spPr>
        <p:txBody>
          <a:bodyPr>
            <a:normAutofit/>
          </a:bodyPr>
          <a:lstStyle/>
          <a:p>
            <a:r>
              <a:rPr lang="fr-FR" sz="2800" dirty="0" err="1"/>
              <a:t>Compt</a:t>
            </a:r>
            <a:r>
              <a:rPr lang="fr-FR" sz="2800" dirty="0"/>
              <a:t> de couverture – Question A (NCECF)</a:t>
            </a:r>
          </a:p>
        </p:txBody>
      </p:sp>
      <p:sp>
        <p:nvSpPr>
          <p:cNvPr id="3" name="Espace réservé du contenu 2"/>
          <p:cNvSpPr>
            <a:spLocks noGrp="1"/>
          </p:cNvSpPr>
          <p:nvPr>
            <p:ph idx="1"/>
          </p:nvPr>
        </p:nvSpPr>
        <p:spPr>
          <a:xfrm>
            <a:off x="914400" y="963084"/>
            <a:ext cx="10439400" cy="5003376"/>
          </a:xfrm>
        </p:spPr>
        <p:txBody>
          <a:bodyPr>
            <a:normAutofit fontScale="92500" lnSpcReduction="10000"/>
          </a:bodyPr>
          <a:lstStyle/>
          <a:p>
            <a:pPr marL="0" indent="0">
              <a:lnSpc>
                <a:spcPct val="110000"/>
              </a:lnSpc>
              <a:spcBef>
                <a:spcPts val="0"/>
              </a:spcBef>
              <a:buNone/>
            </a:pPr>
            <a:r>
              <a:rPr lang="fr-FR" sz="2400" b="1" dirty="0"/>
              <a:t>Cas II - ABC choisit d’appliquer la comptabilité́ de couverture </a:t>
            </a:r>
            <a:r>
              <a:rPr lang="fr-FR" sz="6200" b="1" dirty="0"/>
              <a:t>- </a:t>
            </a:r>
            <a:r>
              <a:rPr lang="fr-FR" b="1" dirty="0">
                <a:solidFill>
                  <a:srgbClr val="00B0F0"/>
                </a:solidFill>
              </a:rPr>
              <a:t>Question b</a:t>
            </a:r>
            <a:endParaRPr lang="fr-FR" sz="2400" dirty="0"/>
          </a:p>
          <a:p>
            <a:pPr marL="0" indent="0">
              <a:buNone/>
            </a:pPr>
            <a:endParaRPr lang="fr-FR" dirty="0"/>
          </a:p>
          <a:p>
            <a:r>
              <a:rPr lang="fr-FR" dirty="0"/>
              <a:t>30/09/20x7 : aucune écriture </a:t>
            </a:r>
          </a:p>
          <a:p>
            <a:pPr marL="0" indent="0">
              <a:buNone/>
            </a:pPr>
            <a:endParaRPr lang="fr-FR" sz="1600" dirty="0"/>
          </a:p>
          <a:p>
            <a:r>
              <a:rPr lang="fr-FR" dirty="0"/>
              <a:t>31/12/20x7 : aucune écriture</a:t>
            </a:r>
          </a:p>
          <a:p>
            <a:pPr marL="0" indent="0">
              <a:buNone/>
            </a:pPr>
            <a:endParaRPr lang="fr-FR" dirty="0">
              <a:solidFill>
                <a:srgbClr val="3366FF"/>
              </a:solidFill>
            </a:endParaRPr>
          </a:p>
          <a:p>
            <a:r>
              <a:rPr lang="fr-FR" dirty="0">
                <a:solidFill>
                  <a:srgbClr val="3366FF"/>
                </a:solidFill>
              </a:rPr>
              <a:t>31/03/20x8 :</a:t>
            </a:r>
          </a:p>
          <a:p>
            <a:pPr marL="0" indent="0">
              <a:buNone/>
            </a:pPr>
            <a:r>
              <a:rPr lang="fr-FR" dirty="0">
                <a:solidFill>
                  <a:srgbClr val="3366FF"/>
                </a:solidFill>
              </a:rPr>
              <a:t>		</a:t>
            </a:r>
            <a:r>
              <a:rPr lang="fr-FR" dirty="0">
                <a:solidFill>
                  <a:srgbClr val="FF0000"/>
                </a:solidFill>
              </a:rPr>
              <a:t>Machine			1 065 800</a:t>
            </a:r>
          </a:p>
          <a:p>
            <a:pPr marL="0" indent="0">
              <a:buNone/>
            </a:pPr>
            <a:r>
              <a:rPr lang="fr-FR" dirty="0">
                <a:solidFill>
                  <a:srgbClr val="FF0000"/>
                </a:solidFill>
              </a:rPr>
              <a:t>		@ Caisse (compte à payer) 		1 057 800 </a:t>
            </a:r>
          </a:p>
          <a:p>
            <a:pPr marL="0" indent="0">
              <a:buNone/>
            </a:pPr>
            <a:r>
              <a:rPr lang="fr-FR" dirty="0">
                <a:solidFill>
                  <a:srgbClr val="FF0000"/>
                </a:solidFill>
              </a:rPr>
              <a:t>		      </a:t>
            </a:r>
            <a:r>
              <a:rPr lang="fr-FR" dirty="0"/>
              <a:t>Caisse				       8 000</a:t>
            </a:r>
            <a:endParaRPr lang="fr-FR" sz="44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146</a:t>
            </a:fld>
            <a:endParaRPr lang="fr-FR" dirty="0"/>
          </a:p>
        </p:txBody>
      </p:sp>
      <p:sp>
        <p:nvSpPr>
          <p:cNvPr id="5" name="Espace réservé du pied de page 4">
            <a:extLst>
              <a:ext uri="{FF2B5EF4-FFF2-40B4-BE49-F238E27FC236}">
                <a16:creationId xmlns:a16="http://schemas.microsoft.com/office/drawing/2014/main" id="{A29619D8-015A-40B0-9558-223D8347A30A}"/>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60831689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903890" y="274639"/>
            <a:ext cx="10449910" cy="529695"/>
          </a:xfrm>
        </p:spPr>
        <p:txBody>
          <a:bodyPr>
            <a:normAutofit/>
          </a:bodyPr>
          <a:lstStyle/>
          <a:p>
            <a:r>
              <a:rPr lang="fr-FR" sz="2800" dirty="0" err="1"/>
              <a:t>Compt</a:t>
            </a:r>
            <a:r>
              <a:rPr lang="fr-FR" sz="2800" dirty="0"/>
              <a:t> de couverture – Question A (NCECF)</a:t>
            </a:r>
          </a:p>
        </p:txBody>
      </p:sp>
      <p:sp>
        <p:nvSpPr>
          <p:cNvPr id="3" name="Espace réservé du contenu 2"/>
          <p:cNvSpPr>
            <a:spLocks noGrp="1"/>
          </p:cNvSpPr>
          <p:nvPr>
            <p:ph idx="1"/>
          </p:nvPr>
        </p:nvSpPr>
        <p:spPr>
          <a:xfrm>
            <a:off x="903890" y="963084"/>
            <a:ext cx="10449910" cy="5758392"/>
          </a:xfrm>
        </p:spPr>
        <p:txBody>
          <a:bodyPr>
            <a:normAutofit fontScale="77500" lnSpcReduction="20000"/>
          </a:bodyPr>
          <a:lstStyle/>
          <a:p>
            <a:pPr marL="0" indent="0">
              <a:lnSpc>
                <a:spcPct val="110000"/>
              </a:lnSpc>
              <a:spcBef>
                <a:spcPts val="0"/>
              </a:spcBef>
              <a:buNone/>
            </a:pPr>
            <a:r>
              <a:rPr lang="fr-FR" sz="2400" b="1" dirty="0"/>
              <a:t>Cas II - ABC choisit d’appliquer la comptabilité́ de couverture </a:t>
            </a:r>
            <a:r>
              <a:rPr lang="fr-FR" sz="6200" b="1" dirty="0"/>
              <a:t>- </a:t>
            </a:r>
            <a:r>
              <a:rPr lang="fr-FR" b="1" dirty="0">
                <a:solidFill>
                  <a:srgbClr val="00B0F0"/>
                </a:solidFill>
              </a:rPr>
              <a:t>Question c</a:t>
            </a:r>
            <a:endParaRPr lang="fr-FR" sz="2400" dirty="0"/>
          </a:p>
          <a:p>
            <a:pPr marL="0" indent="0">
              <a:buNone/>
            </a:pPr>
            <a:endParaRPr lang="fr-FR" dirty="0"/>
          </a:p>
          <a:p>
            <a:r>
              <a:rPr lang="fr-FR" dirty="0"/>
              <a:t>30/09/20x7 : aucune écriture </a:t>
            </a:r>
          </a:p>
          <a:p>
            <a:pPr marL="0" indent="0">
              <a:buNone/>
            </a:pPr>
            <a:endParaRPr lang="fr-FR" sz="1600" dirty="0"/>
          </a:p>
          <a:p>
            <a:r>
              <a:rPr lang="fr-FR" dirty="0"/>
              <a:t>31/12/20x7 : aucune écriture</a:t>
            </a:r>
          </a:p>
          <a:p>
            <a:pPr marL="0" indent="0">
              <a:buNone/>
            </a:pPr>
            <a:endParaRPr lang="fr-FR" dirty="0">
              <a:solidFill>
                <a:srgbClr val="3366FF"/>
              </a:solidFill>
            </a:endParaRPr>
          </a:p>
          <a:p>
            <a:r>
              <a:rPr lang="fr-FR" dirty="0">
                <a:solidFill>
                  <a:srgbClr val="3366FF"/>
                </a:solidFill>
              </a:rPr>
              <a:t>15/03/20x8 :</a:t>
            </a:r>
          </a:p>
          <a:p>
            <a:pPr marL="0" indent="0">
              <a:buNone/>
            </a:pPr>
            <a:r>
              <a:rPr lang="fr-FR" dirty="0">
                <a:solidFill>
                  <a:srgbClr val="3366FF"/>
                </a:solidFill>
              </a:rPr>
              <a:t>		</a:t>
            </a:r>
            <a:r>
              <a:rPr lang="fr-FR" dirty="0">
                <a:solidFill>
                  <a:srgbClr val="FF0000"/>
                </a:solidFill>
              </a:rPr>
              <a:t>Machine				1 040 000</a:t>
            </a:r>
          </a:p>
          <a:p>
            <a:pPr marL="0" indent="0">
              <a:buNone/>
            </a:pPr>
            <a:r>
              <a:rPr lang="fr-FR" dirty="0">
                <a:solidFill>
                  <a:srgbClr val="FF0000"/>
                </a:solidFill>
              </a:rPr>
              <a:t>		@ Caisse (compte à payer) 			1 008 000 </a:t>
            </a:r>
          </a:p>
          <a:p>
            <a:pPr marL="0" indent="0">
              <a:buNone/>
            </a:pPr>
            <a:r>
              <a:rPr lang="fr-FR" dirty="0">
                <a:solidFill>
                  <a:srgbClr val="FF0000"/>
                </a:solidFill>
              </a:rPr>
              <a:t>		      </a:t>
            </a:r>
            <a:r>
              <a:rPr lang="fr-FR" dirty="0"/>
              <a:t>Instrument financier			  	    32 000</a:t>
            </a:r>
          </a:p>
          <a:p>
            <a:pPr marL="0" indent="0">
              <a:buNone/>
            </a:pPr>
            <a:endParaRPr lang="fr-FR" dirty="0"/>
          </a:p>
          <a:p>
            <a:r>
              <a:rPr lang="fr-FR" dirty="0"/>
              <a:t>31/03/20x8</a:t>
            </a:r>
          </a:p>
          <a:p>
            <a:pPr marL="0" indent="0">
              <a:buNone/>
            </a:pPr>
            <a:r>
              <a:rPr lang="fr-FR" dirty="0">
                <a:solidFill>
                  <a:srgbClr val="FF0000"/>
                </a:solidFill>
              </a:rPr>
              <a:t>		</a:t>
            </a:r>
            <a:r>
              <a:rPr lang="fr-FR" dirty="0"/>
              <a:t> Instrument financier </a:t>
            </a:r>
            <a:r>
              <a:rPr lang="fr-FR" dirty="0">
                <a:solidFill>
                  <a:srgbClr val="FF0000"/>
                </a:solidFill>
              </a:rPr>
              <a:t>			32 000</a:t>
            </a:r>
          </a:p>
          <a:p>
            <a:pPr marL="0" indent="0">
              <a:buNone/>
            </a:pPr>
            <a:r>
              <a:rPr lang="fr-FR" dirty="0">
                <a:solidFill>
                  <a:srgbClr val="FF0000"/>
                </a:solidFill>
              </a:rPr>
              <a:t>		@ Caisse 					  8 000 </a:t>
            </a:r>
          </a:p>
          <a:p>
            <a:pPr marL="0" indent="0">
              <a:buNone/>
            </a:pPr>
            <a:r>
              <a:rPr lang="fr-FR" dirty="0">
                <a:solidFill>
                  <a:srgbClr val="FF0000"/>
                </a:solidFill>
              </a:rPr>
              <a:t>		      </a:t>
            </a:r>
            <a:r>
              <a:rPr lang="fr-FR" dirty="0">
                <a:solidFill>
                  <a:srgbClr val="00B050"/>
                </a:solidFill>
              </a:rPr>
              <a:t>Gain</a:t>
            </a:r>
            <a:r>
              <a:rPr lang="fr-FR" dirty="0"/>
              <a:t> (RN)					24 000</a:t>
            </a:r>
          </a:p>
          <a:p>
            <a:pPr marL="457200" lvl="1" indent="0">
              <a:buNone/>
            </a:pPr>
            <a:endParaRPr lang="fr-FR" sz="4000" dirty="0"/>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147</a:t>
            </a:fld>
            <a:endParaRPr lang="fr-FR" dirty="0"/>
          </a:p>
        </p:txBody>
      </p:sp>
      <p:sp>
        <p:nvSpPr>
          <p:cNvPr id="5" name="Espace réservé du pied de page 4">
            <a:extLst>
              <a:ext uri="{FF2B5EF4-FFF2-40B4-BE49-F238E27FC236}">
                <a16:creationId xmlns:a16="http://schemas.microsoft.com/office/drawing/2014/main" id="{A5A084E4-05CF-46BE-A640-BB28061B4CC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6630777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9"/>
            <a:ext cx="10481441" cy="529695"/>
          </a:xfrm>
        </p:spPr>
        <p:txBody>
          <a:bodyPr>
            <a:normAutofit/>
          </a:bodyPr>
          <a:lstStyle/>
          <a:p>
            <a:r>
              <a:rPr lang="fr-FR" sz="2800" dirty="0" err="1"/>
              <a:t>Compt</a:t>
            </a:r>
            <a:r>
              <a:rPr lang="fr-FR" sz="2800" dirty="0"/>
              <a:t> de couverture – Question A (NCECF)</a:t>
            </a:r>
          </a:p>
        </p:txBody>
      </p:sp>
      <p:sp>
        <p:nvSpPr>
          <p:cNvPr id="3" name="Espace réservé du contenu 2"/>
          <p:cNvSpPr>
            <a:spLocks noGrp="1"/>
          </p:cNvSpPr>
          <p:nvPr>
            <p:ph idx="1"/>
          </p:nvPr>
        </p:nvSpPr>
        <p:spPr>
          <a:xfrm>
            <a:off x="872359" y="963084"/>
            <a:ext cx="10481441" cy="5758392"/>
          </a:xfrm>
        </p:spPr>
        <p:txBody>
          <a:bodyPr>
            <a:normAutofit fontScale="85000" lnSpcReduction="20000"/>
          </a:bodyPr>
          <a:lstStyle/>
          <a:p>
            <a:pPr marL="0" indent="0">
              <a:lnSpc>
                <a:spcPct val="110000"/>
              </a:lnSpc>
              <a:spcBef>
                <a:spcPts val="0"/>
              </a:spcBef>
              <a:buNone/>
            </a:pPr>
            <a:r>
              <a:rPr lang="fr-FR" sz="2400" b="1" dirty="0"/>
              <a:t>Cas II - ABC choisit d’appliquer la comptabilité́ de couverture </a:t>
            </a:r>
            <a:r>
              <a:rPr lang="fr-FR" sz="6200" b="1" dirty="0"/>
              <a:t>- </a:t>
            </a:r>
            <a:r>
              <a:rPr lang="fr-FR" b="1" dirty="0">
                <a:solidFill>
                  <a:srgbClr val="00B0F0"/>
                </a:solidFill>
              </a:rPr>
              <a:t>Question d</a:t>
            </a:r>
            <a:endParaRPr lang="fr-FR" sz="2400" dirty="0"/>
          </a:p>
          <a:p>
            <a:pPr marL="0" indent="0">
              <a:buNone/>
            </a:pPr>
            <a:endParaRPr lang="fr-FR" dirty="0"/>
          </a:p>
          <a:p>
            <a:r>
              <a:rPr lang="fr-FR" dirty="0"/>
              <a:t>30/09/20x7 : aucune écriture </a:t>
            </a:r>
          </a:p>
          <a:p>
            <a:pPr marL="0" indent="0">
              <a:buNone/>
            </a:pPr>
            <a:endParaRPr lang="fr-FR" sz="1600" dirty="0"/>
          </a:p>
          <a:p>
            <a:r>
              <a:rPr lang="fr-FR" dirty="0"/>
              <a:t>31/12/20x7 : aucune écriture</a:t>
            </a:r>
          </a:p>
          <a:p>
            <a:pPr marL="0" indent="0">
              <a:buNone/>
            </a:pPr>
            <a:endParaRPr lang="fr-FR" dirty="0"/>
          </a:p>
          <a:p>
            <a:r>
              <a:rPr lang="fr-FR" dirty="0"/>
              <a:t>31/03/20x8</a:t>
            </a:r>
          </a:p>
          <a:p>
            <a:pPr marL="0" indent="0">
              <a:buNone/>
            </a:pPr>
            <a:r>
              <a:rPr lang="fr-FR" dirty="0">
                <a:solidFill>
                  <a:srgbClr val="FF0000"/>
                </a:solidFill>
              </a:rPr>
              <a:t>		</a:t>
            </a:r>
            <a:r>
              <a:rPr lang="fr-FR" dirty="0"/>
              <a:t> Instrument financier </a:t>
            </a:r>
            <a:r>
              <a:rPr lang="fr-FR" dirty="0">
                <a:solidFill>
                  <a:srgbClr val="FF0000"/>
                </a:solidFill>
              </a:rPr>
              <a:t>			      8 000</a:t>
            </a:r>
          </a:p>
          <a:p>
            <a:pPr marL="0" indent="0">
              <a:buNone/>
            </a:pPr>
            <a:r>
              <a:rPr lang="fr-FR" dirty="0">
                <a:solidFill>
                  <a:srgbClr val="FF0000"/>
                </a:solidFill>
              </a:rPr>
              <a:t>		@ Caisse 						  8 000 </a:t>
            </a:r>
          </a:p>
          <a:p>
            <a:pPr marL="0" indent="0">
              <a:buNone/>
            </a:pPr>
            <a:r>
              <a:rPr lang="fr-FR" dirty="0">
                <a:solidFill>
                  <a:srgbClr val="FF0000"/>
                </a:solidFill>
              </a:rPr>
              <a:t>	</a:t>
            </a:r>
            <a:endParaRPr lang="fr-FR" dirty="0">
              <a:solidFill>
                <a:srgbClr val="3366FF"/>
              </a:solidFill>
            </a:endParaRPr>
          </a:p>
          <a:p>
            <a:r>
              <a:rPr lang="fr-FR" dirty="0">
                <a:solidFill>
                  <a:srgbClr val="3366FF"/>
                </a:solidFill>
              </a:rPr>
              <a:t>15/04/20x8 :</a:t>
            </a:r>
          </a:p>
          <a:p>
            <a:pPr marL="0" indent="0">
              <a:buNone/>
            </a:pPr>
            <a:r>
              <a:rPr lang="fr-FR" dirty="0">
                <a:solidFill>
                  <a:srgbClr val="3366FF"/>
                </a:solidFill>
              </a:rPr>
              <a:t>		</a:t>
            </a:r>
            <a:r>
              <a:rPr lang="fr-FR" dirty="0">
                <a:solidFill>
                  <a:srgbClr val="FF0000"/>
                </a:solidFill>
              </a:rPr>
              <a:t>Machine				1 056 000</a:t>
            </a:r>
          </a:p>
          <a:p>
            <a:pPr marL="0" indent="0">
              <a:buNone/>
            </a:pPr>
            <a:r>
              <a:rPr lang="fr-FR" dirty="0">
                <a:solidFill>
                  <a:srgbClr val="FF0000"/>
                </a:solidFill>
              </a:rPr>
              <a:t>		@ Caisse (compte à payer) 				1 048 000 </a:t>
            </a:r>
          </a:p>
          <a:p>
            <a:pPr marL="0" indent="0">
              <a:buNone/>
            </a:pPr>
            <a:r>
              <a:rPr lang="fr-FR" dirty="0">
                <a:solidFill>
                  <a:srgbClr val="FF0000"/>
                </a:solidFill>
              </a:rPr>
              <a:t>		      </a:t>
            </a:r>
            <a:r>
              <a:rPr lang="fr-FR" dirty="0"/>
              <a:t>Instrument financier				        8 000</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148</a:t>
            </a:fld>
            <a:endParaRPr lang="fr-FR" dirty="0"/>
          </a:p>
        </p:txBody>
      </p:sp>
      <p:sp>
        <p:nvSpPr>
          <p:cNvPr id="5" name="Espace réservé du pied de page 4">
            <a:extLst>
              <a:ext uri="{FF2B5EF4-FFF2-40B4-BE49-F238E27FC236}">
                <a16:creationId xmlns:a16="http://schemas.microsoft.com/office/drawing/2014/main" id="{C24E18CF-C4E7-46E6-AC69-03B9CF9D180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9477508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55304</TotalTime>
  <Words>15532</Words>
  <Application>Microsoft Office PowerPoint</Application>
  <PresentationFormat>Grand écran</PresentationFormat>
  <Paragraphs>1701</Paragraphs>
  <Slides>148</Slides>
  <Notes>28</Notes>
  <HiddenSlides>0</HiddenSlides>
  <MMClips>0</MMClips>
  <ScaleCrop>false</ScaleCrop>
  <HeadingPairs>
    <vt:vector size="8" baseType="variant">
      <vt:variant>
        <vt:lpstr>Polices utilisées</vt:lpstr>
      </vt:variant>
      <vt:variant>
        <vt:i4>7</vt:i4>
      </vt:variant>
      <vt:variant>
        <vt:lpstr>Thème</vt:lpstr>
      </vt:variant>
      <vt:variant>
        <vt:i4>1</vt:i4>
      </vt:variant>
      <vt:variant>
        <vt:lpstr>Serveurs OLE incorporés</vt:lpstr>
      </vt:variant>
      <vt:variant>
        <vt:i4>2</vt:i4>
      </vt:variant>
      <vt:variant>
        <vt:lpstr>Titres des diapositives</vt:lpstr>
      </vt:variant>
      <vt:variant>
        <vt:i4>148</vt:i4>
      </vt:variant>
    </vt:vector>
  </HeadingPairs>
  <TitlesOfParts>
    <vt:vector size="158" baseType="lpstr">
      <vt:lpstr>ＭＳ Ｐゴシック</vt:lpstr>
      <vt:lpstr>Arial</vt:lpstr>
      <vt:lpstr>Calibri</vt:lpstr>
      <vt:lpstr>Calibri Light</vt:lpstr>
      <vt:lpstr>Gotham A</vt:lpstr>
      <vt:lpstr>Wingdings</vt:lpstr>
      <vt:lpstr>Wingdings 3</vt:lpstr>
      <vt:lpstr>Thème Office</vt:lpstr>
      <vt:lpstr>Worksheet</vt:lpstr>
      <vt:lpstr>Feuille de calcul</vt:lpstr>
      <vt:lpstr>40938 Instruments financiers </vt:lpstr>
      <vt:lpstr>Présentation PowerPoint</vt:lpstr>
      <vt:lpstr>Présentation PowerPoint</vt:lpstr>
      <vt:lpstr>Instruments financiers</vt:lpstr>
      <vt:lpstr>Instruments financiers</vt:lpstr>
      <vt:lpstr>Champs d’application</vt:lpstr>
      <vt:lpstr>Définition -(IAS 32.11)</vt:lpstr>
      <vt:lpstr>Actif financier (IAS 32.11)</vt:lpstr>
      <vt:lpstr>Passif financier (IAS 32.11)</vt:lpstr>
      <vt:lpstr>Instruments de capitaux propres (IAS32.11)</vt:lpstr>
      <vt:lpstr>Dérivés (IFRS 9 Annexe A)</vt:lpstr>
      <vt:lpstr>Dérivés</vt:lpstr>
      <vt:lpstr>Évaluation initiale - actifs financiers</vt:lpstr>
      <vt:lpstr>Évaluation initiale - passifs financiers</vt:lpstr>
      <vt:lpstr>Évaluation ultérieure Classement IFRS 9 - ACTIFS</vt:lpstr>
      <vt:lpstr>Classement IFRS 9 - ACTIFS</vt:lpstr>
      <vt:lpstr>  </vt:lpstr>
      <vt:lpstr>Calcul de coût amorti</vt:lpstr>
      <vt:lpstr>Présentation PowerPoint</vt:lpstr>
      <vt:lpstr>NCECF – 3856.11</vt:lpstr>
      <vt:lpstr>Actifs financiers – IFRS et NCECF</vt:lpstr>
      <vt:lpstr>Actifs financiers – IFRS et NCECF</vt:lpstr>
      <vt:lpstr>EFC</vt:lpstr>
      <vt:lpstr>Questions</vt:lpstr>
      <vt:lpstr>Solution A</vt:lpstr>
      <vt:lpstr>Solution A</vt:lpstr>
      <vt:lpstr>Solution B</vt:lpstr>
      <vt:lpstr>Solution B</vt:lpstr>
      <vt:lpstr>Dépréciation</vt:lpstr>
      <vt:lpstr>Effet à recevoir</vt:lpstr>
      <vt:lpstr>Effet à recevoir</vt:lpstr>
      <vt:lpstr>Effet à recevoir</vt:lpstr>
      <vt:lpstr>Effet à recevoir</vt:lpstr>
      <vt:lpstr>Effet à recevoir</vt:lpstr>
      <vt:lpstr>Placement en actions cotées</vt:lpstr>
      <vt:lpstr>IFRS</vt:lpstr>
      <vt:lpstr>IFRS</vt:lpstr>
      <vt:lpstr>NCECF</vt:lpstr>
      <vt:lpstr>NCECF</vt:lpstr>
      <vt:lpstr>IFRS et NCECF</vt:lpstr>
      <vt:lpstr>Classement PASSIFS (IFRS 9)</vt:lpstr>
      <vt:lpstr>Classement PASSIFS NCECF – 3856.11</vt:lpstr>
      <vt:lpstr>Classement passif / capitaux propres</vt:lpstr>
      <vt:lpstr>Classement passif / capitaux propres - NCECF</vt:lpstr>
      <vt:lpstr>Classement passif / capitaux propres</vt:lpstr>
      <vt:lpstr>Classement passif / capitaux propres</vt:lpstr>
      <vt:lpstr>Classement passif / capitaux propres</vt:lpstr>
      <vt:lpstr>Classement : passifs ou capitaux propres effet sur classement des intérêts, dividendes, pertes / gains </vt:lpstr>
      <vt:lpstr>Classement passif / capitaux propres</vt:lpstr>
      <vt:lpstr>Classement passif / capitaux propres</vt:lpstr>
      <vt:lpstr>Classement passif / capitaux propres</vt:lpstr>
      <vt:lpstr>Classement passif / capitaux propres</vt:lpstr>
      <vt:lpstr>Classement passif / capitaux propres - NCECF</vt:lpstr>
      <vt:lpstr>Risques financiers</vt:lpstr>
      <vt:lpstr>Dérivés</vt:lpstr>
      <vt:lpstr>Dérivés</vt:lpstr>
      <vt:lpstr>IFRS 9 - contrats d’achat ou de vente d’un élément non financier</vt:lpstr>
      <vt:lpstr>IFRS 9 - contrats d’achat ou de vente d’un élément non financier</vt:lpstr>
      <vt:lpstr>IFRS 9 - contrats d’achat ou de vente d’un élément non financier</vt:lpstr>
      <vt:lpstr>Chap 3856 - contrats d’achat ou de vente d’un élément non financier</vt:lpstr>
      <vt:lpstr>Décomptabilisation - actif</vt:lpstr>
      <vt:lpstr>Décomptabilisation - actif</vt:lpstr>
      <vt:lpstr>Décomptabilisation - passif</vt:lpstr>
      <vt:lpstr>Décomptabilisation - passif</vt:lpstr>
      <vt:lpstr>Décomptabilisation - passif</vt:lpstr>
      <vt:lpstr>Décomptabilisation - passif</vt:lpstr>
      <vt:lpstr>Solution</vt:lpstr>
      <vt:lpstr>Décomptabilisation – passif financier</vt:lpstr>
      <vt:lpstr>Solution</vt:lpstr>
      <vt:lpstr>Présentation : compensation (IAS 32)</vt:lpstr>
      <vt:lpstr>EXERCICES SUPPLÉMENTAIRES</vt:lpstr>
      <vt:lpstr>Question 1 – Traitement initial</vt:lpstr>
      <vt:lpstr>Solution</vt:lpstr>
      <vt:lpstr>Question 2 – Créance</vt:lpstr>
      <vt:lpstr>Solution</vt:lpstr>
      <vt:lpstr>Question 3 – Prêt à recevoir</vt:lpstr>
      <vt:lpstr>Solution</vt:lpstr>
      <vt:lpstr>Question 4 – Prêt à recevoir</vt:lpstr>
      <vt:lpstr>Solution</vt:lpstr>
      <vt:lpstr>Revue passif – au besoin</vt:lpstr>
      <vt:lpstr>Nature des dettes non courantes</vt:lpstr>
      <vt:lpstr>Effet de levier (levier financier)</vt:lpstr>
      <vt:lpstr>Contrat d’emprunt ou acte de fiducie</vt:lpstr>
      <vt:lpstr>Caractéristiques des emprunts obligataires</vt:lpstr>
      <vt:lpstr>Caractéristiques des emprunts obligataires</vt:lpstr>
      <vt:lpstr>Caractéristiques des emprunts obligataires</vt:lpstr>
      <vt:lpstr>Caractéristiques des emprunts obligataires</vt:lpstr>
      <vt:lpstr>Caractéristiques des emprunts obligataires</vt:lpstr>
      <vt:lpstr>Caractéristiques des emprunts obligataires</vt:lpstr>
      <vt:lpstr>Émission d’obligations</vt:lpstr>
      <vt:lpstr>Émission d’obligations</vt:lpstr>
      <vt:lpstr>Détermination du prix d’émission</vt:lpstr>
      <vt:lpstr>Détermination du prix d’émission</vt:lpstr>
      <vt:lpstr>Traitement comptable des obligations évaluées au coût amorti</vt:lpstr>
      <vt:lpstr>Émission à la valeur nominale (au pair)</vt:lpstr>
      <vt:lpstr>Émission à escompte</vt:lpstr>
      <vt:lpstr>Émission à prime</vt:lpstr>
      <vt:lpstr>Exemples</vt:lpstr>
      <vt:lpstr>Solution a) Taux marché : 8 %</vt:lpstr>
      <vt:lpstr>Solution a) Taux marché : 8 %</vt:lpstr>
      <vt:lpstr>Solution b) Taux marché : 13 %</vt:lpstr>
      <vt:lpstr>Solution b) Taux marché : 13 %</vt:lpstr>
      <vt:lpstr>Les coûts d’émission d’obligations</vt:lpstr>
      <vt:lpstr>Exemple – coûts de transaction</vt:lpstr>
      <vt:lpstr>Solution - coûts de transaction</vt:lpstr>
      <vt:lpstr>Exemple – intérêts semestriels</vt:lpstr>
      <vt:lpstr>Solution - intérêts semestriels</vt:lpstr>
      <vt:lpstr>Exemple – obligation convertible</vt:lpstr>
      <vt:lpstr>Exemple – obligation convertible</vt:lpstr>
      <vt:lpstr>Exemple – obligation convertible</vt:lpstr>
      <vt:lpstr>Obligation convertible – lors de la conversion</vt:lpstr>
      <vt:lpstr>Obligation convertible  - annulation avant l’échéance</vt:lpstr>
      <vt:lpstr>Obligation convertible  - annulation avant l’échéance</vt:lpstr>
      <vt:lpstr>  </vt:lpstr>
      <vt:lpstr>Exercice – Emprunt hypothécaire</vt:lpstr>
      <vt:lpstr>Exercice – Emprunt hypothécaire</vt:lpstr>
      <vt:lpstr>Exemple restructuration d’une dette</vt:lpstr>
      <vt:lpstr>Restructuration d’une dette</vt:lpstr>
      <vt:lpstr>Solution - restructuration d’une dette</vt:lpstr>
      <vt:lpstr>Solution - restructuration d’une dette</vt:lpstr>
      <vt:lpstr>Frais</vt:lpstr>
      <vt:lpstr>Présentation dans les états financiers</vt:lpstr>
      <vt:lpstr>Comptabilité de couverture</vt:lpstr>
      <vt:lpstr>Comptabilité de couverture</vt:lpstr>
      <vt:lpstr>Types de couverture</vt:lpstr>
      <vt:lpstr>Comptabilité de couverture</vt:lpstr>
      <vt:lpstr>Comptabilité de couverture – Exemple</vt:lpstr>
      <vt:lpstr>Compt. de couverture – écritures NCECF</vt:lpstr>
      <vt:lpstr>Compt. de couverture – écritures NCECF</vt:lpstr>
      <vt:lpstr>Compt. de couverture - Exemple 2  écart d’une semaine entre élément couvert  et élément de couverture</vt:lpstr>
      <vt:lpstr>Comptabilité de couverture – Exemple 2 (NCECF)</vt:lpstr>
      <vt:lpstr>Compt de couverture – Exemple 2 (NCECF)</vt:lpstr>
      <vt:lpstr>Couverture d’un actif / passif portant intérêt</vt:lpstr>
      <vt:lpstr>Effet comptabilité de couverture selon NCECF</vt:lpstr>
      <vt:lpstr>Compt de couverture – Question A</vt:lpstr>
      <vt:lpstr>Compt de couverture – Question A</vt:lpstr>
      <vt:lpstr>Comptabilité de couverture – Question A (NCECF)</vt:lpstr>
      <vt:lpstr>Compt de couverture – Question A (NCECF)</vt:lpstr>
      <vt:lpstr>Compt de couverture – Question B</vt:lpstr>
      <vt:lpstr>Compt de couverture – Question B</vt:lpstr>
      <vt:lpstr>Comptabilité de couverture –(NCECF)</vt:lpstr>
      <vt:lpstr>Comptabilité de couverture – (NCECF)</vt:lpstr>
      <vt:lpstr>Comptabilité de couverture – (sous-question b) NCECF)</vt:lpstr>
      <vt:lpstr>Comptabilité de couverture –(sous-question b) NCECF)</vt:lpstr>
      <vt:lpstr>Compt de couverture –(NCECF)</vt:lpstr>
      <vt:lpstr>Compt de couverture – Question A (NCECF)</vt:lpstr>
      <vt:lpstr>Compt de couverture – Question A (NCECF)</vt:lpstr>
      <vt:lpstr>Compt de couverture – Question A (NCECF)</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SOKRI Marzouk</cp:lastModifiedBy>
  <cp:revision>69</cp:revision>
  <cp:lastPrinted>2020-02-10T18:36:12Z</cp:lastPrinted>
  <dcterms:created xsi:type="dcterms:W3CDTF">2019-09-25T22:03:03Z</dcterms:created>
  <dcterms:modified xsi:type="dcterms:W3CDTF">2025-02-15T21:36:07Z</dcterms:modified>
</cp:coreProperties>
</file>