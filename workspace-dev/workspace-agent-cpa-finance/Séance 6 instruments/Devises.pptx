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9"/>
  </p:notesMasterIdLst>
  <p:handoutMasterIdLst>
    <p:handoutMasterId r:id="rId60"/>
  </p:handoutMasterIdLst>
  <p:sldIdLst>
    <p:sldId id="257" r:id="rId2"/>
    <p:sldId id="312" r:id="rId3"/>
    <p:sldId id="313" r:id="rId4"/>
    <p:sldId id="339" r:id="rId5"/>
    <p:sldId id="315" r:id="rId6"/>
    <p:sldId id="314" r:id="rId7"/>
    <p:sldId id="316" r:id="rId8"/>
    <p:sldId id="292" r:id="rId9"/>
    <p:sldId id="320" r:id="rId10"/>
    <p:sldId id="327" r:id="rId11"/>
    <p:sldId id="340" r:id="rId12"/>
    <p:sldId id="335" r:id="rId13"/>
    <p:sldId id="373" r:id="rId14"/>
    <p:sldId id="329" r:id="rId15"/>
    <p:sldId id="337" r:id="rId16"/>
    <p:sldId id="359" r:id="rId17"/>
    <p:sldId id="360" r:id="rId18"/>
    <p:sldId id="341" r:id="rId19"/>
    <p:sldId id="342" r:id="rId20"/>
    <p:sldId id="354" r:id="rId21"/>
    <p:sldId id="355" r:id="rId22"/>
    <p:sldId id="357" r:id="rId23"/>
    <p:sldId id="358" r:id="rId24"/>
    <p:sldId id="361" r:id="rId25"/>
    <p:sldId id="362" r:id="rId26"/>
    <p:sldId id="343" r:id="rId27"/>
    <p:sldId id="344" r:id="rId28"/>
    <p:sldId id="364" r:id="rId29"/>
    <p:sldId id="363" r:id="rId30"/>
    <p:sldId id="366" r:id="rId31"/>
    <p:sldId id="365" r:id="rId32"/>
    <p:sldId id="328" r:id="rId33"/>
    <p:sldId id="319" r:id="rId34"/>
    <p:sldId id="321" r:id="rId35"/>
    <p:sldId id="325" r:id="rId36"/>
    <p:sldId id="324" r:id="rId37"/>
    <p:sldId id="367" r:id="rId38"/>
    <p:sldId id="368" r:id="rId39"/>
    <p:sldId id="369" r:id="rId40"/>
    <p:sldId id="370" r:id="rId41"/>
    <p:sldId id="371" r:id="rId42"/>
    <p:sldId id="372" r:id="rId43"/>
    <p:sldId id="350" r:id="rId44"/>
    <p:sldId id="345" r:id="rId45"/>
    <p:sldId id="346" r:id="rId46"/>
    <p:sldId id="347" r:id="rId47"/>
    <p:sldId id="348" r:id="rId48"/>
    <p:sldId id="351" r:id="rId49"/>
    <p:sldId id="349" r:id="rId50"/>
    <p:sldId id="323" r:id="rId51"/>
    <p:sldId id="336" r:id="rId52"/>
    <p:sldId id="331" r:id="rId53"/>
    <p:sldId id="338" r:id="rId54"/>
    <p:sldId id="332" r:id="rId55"/>
    <p:sldId id="334" r:id="rId56"/>
    <p:sldId id="330" r:id="rId57"/>
    <p:sldId id="374" r:id="rId58"/>
  </p:sldIdLst>
  <p:sldSz cx="12192000" cy="6858000"/>
  <p:notesSz cx="7010400" cy="92964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61" d="100"/>
          <a:sy n="61" d="100"/>
        </p:scale>
        <p:origin x="8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fr-CA"/>
          </a:p>
        </p:txBody>
      </p:sp>
      <p:sp>
        <p:nvSpPr>
          <p:cNvPr id="3" name="Espace réservé de la date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253C1FB9-C466-44FD-BA03-4085EE8BD29D}" type="datetimeFigureOut">
              <a:rPr lang="fr-CA" smtClean="0"/>
              <a:t>2020-10-01</a:t>
            </a:fld>
            <a:endParaRPr lang="fr-CA"/>
          </a:p>
        </p:txBody>
      </p:sp>
      <p:sp>
        <p:nvSpPr>
          <p:cNvPr id="4" name="Espace réservé du pied de page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fr-CA"/>
          </a:p>
        </p:txBody>
      </p:sp>
      <p:sp>
        <p:nvSpPr>
          <p:cNvPr id="5" name="Espace réservé du numéro de diapositive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59963B2F-88F4-405E-8EA5-23802C80E5CD}" type="slidenum">
              <a:rPr lang="fr-CA" smtClean="0"/>
              <a:t>‹N°›</a:t>
            </a:fld>
            <a:endParaRPr lang="fr-CA"/>
          </a:p>
        </p:txBody>
      </p:sp>
    </p:spTree>
    <p:extLst>
      <p:ext uri="{BB962C8B-B14F-4D97-AF65-F5344CB8AC3E}">
        <p14:creationId xmlns:p14="http://schemas.microsoft.com/office/powerpoint/2010/main" val="6718497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41E66E27-8F3E-41B4-85A1-4AA66561244C}" type="datetimeFigureOut">
              <a:rPr lang="fr-CA" smtClean="0"/>
              <a:t>2020-10-01</a:t>
            </a:fld>
            <a:endParaRPr lang="fr-CA"/>
          </a:p>
        </p:txBody>
      </p:sp>
      <p:sp>
        <p:nvSpPr>
          <p:cNvPr id="4" name="Espace réservé de l'image des diapositives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commentaires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D5CB9DE1-92AE-4859-A507-F48812606A5B}" type="slidenum">
              <a:rPr lang="fr-CA" smtClean="0"/>
              <a:t>‹N°›</a:t>
            </a:fld>
            <a:endParaRPr lang="fr-CA"/>
          </a:p>
        </p:txBody>
      </p:sp>
    </p:spTree>
    <p:extLst>
      <p:ext uri="{BB962C8B-B14F-4D97-AF65-F5344CB8AC3E}">
        <p14:creationId xmlns:p14="http://schemas.microsoft.com/office/powerpoint/2010/main" val="3209393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D5CB9DE1-92AE-4859-A507-F48812606A5B}" type="slidenum">
              <a:rPr lang="fr-CA" smtClean="0"/>
              <a:t>1</a:t>
            </a:fld>
            <a:endParaRPr lang="fr-CA"/>
          </a:p>
        </p:txBody>
      </p:sp>
    </p:spTree>
    <p:extLst>
      <p:ext uri="{BB962C8B-B14F-4D97-AF65-F5344CB8AC3E}">
        <p14:creationId xmlns:p14="http://schemas.microsoft.com/office/powerpoint/2010/main" val="3581359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Espace réservé de l'image des diapositives 1"/>
          <p:cNvSpPr>
            <a:spLocks noGrp="1" noRot="1" noChangeAspect="1" noTextEdit="1"/>
          </p:cNvSpPr>
          <p:nvPr>
            <p:ph type="sldImg"/>
          </p:nvPr>
        </p:nvSpPr>
        <p:spPr>
          <a:ln/>
        </p:spPr>
      </p:sp>
      <p:sp>
        <p:nvSpPr>
          <p:cNvPr id="16387" name="Espace réservé des commentaires 2"/>
          <p:cNvSpPr>
            <a:spLocks noGrp="1"/>
          </p:cNvSpPr>
          <p:nvPr>
            <p:ph type="body" idx="1"/>
          </p:nvPr>
        </p:nvSpPr>
        <p:spPr>
          <a:noFill/>
        </p:spPr>
        <p:txBody>
          <a:bodyPr/>
          <a:lstStyle/>
          <a:p>
            <a:endParaRPr lang="fr-CA" altLang="fr-FR">
              <a:ea typeface="ＭＳ Ｐゴシック" panose="020B0600070205080204" pitchFamily="34" charset="-128"/>
            </a:endParaRPr>
          </a:p>
        </p:txBody>
      </p:sp>
    </p:spTree>
    <p:extLst>
      <p:ext uri="{BB962C8B-B14F-4D97-AF65-F5344CB8AC3E}">
        <p14:creationId xmlns:p14="http://schemas.microsoft.com/office/powerpoint/2010/main" val="3685315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Espace réservé de l'image des diapositives 1"/>
          <p:cNvSpPr>
            <a:spLocks noGrp="1" noRot="1" noChangeAspect="1" noTextEdit="1"/>
          </p:cNvSpPr>
          <p:nvPr>
            <p:ph type="sldImg"/>
          </p:nvPr>
        </p:nvSpPr>
        <p:spPr>
          <a:ln/>
        </p:spPr>
      </p:sp>
      <p:sp>
        <p:nvSpPr>
          <p:cNvPr id="20483" name="Espace réservé des commentaires 2"/>
          <p:cNvSpPr>
            <a:spLocks noGrp="1"/>
          </p:cNvSpPr>
          <p:nvPr>
            <p:ph type="body" idx="1"/>
          </p:nvPr>
        </p:nvSpPr>
        <p:spPr/>
        <p:txBody>
          <a:bodyPr/>
          <a:lstStyle/>
          <a:p>
            <a:pPr eaLnBrk="1" hangingPunct="1">
              <a:spcBef>
                <a:spcPct val="0"/>
              </a:spcBef>
              <a:defRPr/>
            </a:pPr>
            <a:r>
              <a:rPr lang="fr-CA" dirty="0"/>
              <a:t>À la date de l'opération, tout élément d'actif ou de passif et tout produit ou charge doit être converti au cours du change en vigueur à cette date. </a:t>
            </a:r>
          </a:p>
          <a:p>
            <a:pPr eaLnBrk="1" hangingPunct="1">
              <a:spcBef>
                <a:spcPct val="0"/>
              </a:spcBef>
              <a:defRPr/>
            </a:pPr>
            <a:r>
              <a:rPr lang="fr-CA" dirty="0"/>
              <a:t>À chaque date de clôture :</a:t>
            </a:r>
          </a:p>
          <a:p>
            <a:pPr marL="171450" indent="-171450" eaLnBrk="1" hangingPunct="1">
              <a:spcBef>
                <a:spcPct val="0"/>
              </a:spcBef>
              <a:buFont typeface="Arial" panose="020B0604020202020204" pitchFamily="34" charset="0"/>
              <a:buChar char="•"/>
              <a:defRPr/>
            </a:pPr>
            <a:r>
              <a:rPr lang="fr-CA" dirty="0"/>
              <a:t>les éléments monétaires libellés en devises doivent être convertis en fonction du cours de clôture; </a:t>
            </a:r>
          </a:p>
          <a:p>
            <a:pPr marL="171450" indent="-171450" eaLnBrk="1" hangingPunct="1">
              <a:spcBef>
                <a:spcPct val="0"/>
              </a:spcBef>
              <a:buFont typeface="Arial" panose="020B0604020202020204" pitchFamily="34" charset="0"/>
              <a:buChar char="•"/>
              <a:defRPr/>
            </a:pPr>
            <a:r>
              <a:rPr lang="fr-CA" dirty="0"/>
              <a:t>les éléments non monétaires comptabilisés à leur valeur de marché doivent être convertis au cours du change en vigueur à la date de clôture; </a:t>
            </a:r>
          </a:p>
          <a:p>
            <a:pPr marL="171450" indent="-171450" eaLnBrk="1" hangingPunct="1">
              <a:spcBef>
                <a:spcPct val="0"/>
              </a:spcBef>
              <a:buFont typeface="Arial" panose="020B0604020202020204" pitchFamily="34" charset="0"/>
              <a:buChar char="•"/>
              <a:defRPr/>
            </a:pPr>
            <a:r>
              <a:rPr lang="fr-CA" dirty="0"/>
              <a:t>les éléments non monétaires comptabilisés à leur coût historique doivent être convertis au cours du change en vigueur à la date de l’opération.</a:t>
            </a:r>
            <a:endParaRPr lang="fr-CA" altLang="fr-FR" dirty="0">
              <a:ea typeface="ＭＳ Ｐゴシック" panose="020B0600070205080204" pitchFamily="34" charset="-128"/>
            </a:endParaRPr>
          </a:p>
        </p:txBody>
      </p:sp>
    </p:spTree>
    <p:extLst>
      <p:ext uri="{BB962C8B-B14F-4D97-AF65-F5344CB8AC3E}">
        <p14:creationId xmlns:p14="http://schemas.microsoft.com/office/powerpoint/2010/main" val="27553061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D5CB9DE1-92AE-4859-A507-F48812606A5B}" type="slidenum">
              <a:rPr lang="fr-CA" smtClean="0"/>
              <a:t>16</a:t>
            </a:fld>
            <a:endParaRPr lang="fr-CA"/>
          </a:p>
        </p:txBody>
      </p:sp>
    </p:spTree>
    <p:extLst>
      <p:ext uri="{BB962C8B-B14F-4D97-AF65-F5344CB8AC3E}">
        <p14:creationId xmlns:p14="http://schemas.microsoft.com/office/powerpoint/2010/main" val="3027209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D5CB9DE1-92AE-4859-A507-F48812606A5B}" type="slidenum">
              <a:rPr lang="fr-CA" smtClean="0"/>
              <a:t>18</a:t>
            </a:fld>
            <a:endParaRPr lang="fr-CA"/>
          </a:p>
        </p:txBody>
      </p:sp>
    </p:spTree>
    <p:extLst>
      <p:ext uri="{BB962C8B-B14F-4D97-AF65-F5344CB8AC3E}">
        <p14:creationId xmlns:p14="http://schemas.microsoft.com/office/powerpoint/2010/main" val="12487372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D5CB9DE1-92AE-4859-A507-F48812606A5B}" type="slidenum">
              <a:rPr lang="fr-CA" smtClean="0"/>
              <a:t>20</a:t>
            </a:fld>
            <a:endParaRPr lang="fr-CA"/>
          </a:p>
        </p:txBody>
      </p:sp>
    </p:spTree>
    <p:extLst>
      <p:ext uri="{BB962C8B-B14F-4D97-AF65-F5344CB8AC3E}">
        <p14:creationId xmlns:p14="http://schemas.microsoft.com/office/powerpoint/2010/main" val="7230837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D5CB9DE1-92AE-4859-A507-F48812606A5B}" type="slidenum">
              <a:rPr lang="fr-CA" smtClean="0"/>
              <a:t>24</a:t>
            </a:fld>
            <a:endParaRPr lang="fr-CA"/>
          </a:p>
        </p:txBody>
      </p:sp>
    </p:spTree>
    <p:extLst>
      <p:ext uri="{BB962C8B-B14F-4D97-AF65-F5344CB8AC3E}">
        <p14:creationId xmlns:p14="http://schemas.microsoft.com/office/powerpoint/2010/main" val="194854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Espace réservé de l'image des diapositives 1"/>
          <p:cNvSpPr>
            <a:spLocks noGrp="1" noRot="1" noChangeAspect="1" noTextEdit="1"/>
          </p:cNvSpPr>
          <p:nvPr>
            <p:ph type="sldImg"/>
          </p:nvPr>
        </p:nvSpPr>
        <p:spPr>
          <a:ln/>
        </p:spPr>
      </p:sp>
      <p:sp>
        <p:nvSpPr>
          <p:cNvPr id="30723" name="Espace réservé des commentaires 2"/>
          <p:cNvSpPr>
            <a:spLocks noGrp="1"/>
          </p:cNvSpPr>
          <p:nvPr>
            <p:ph type="body" idx="1"/>
          </p:nvPr>
        </p:nvSpPr>
        <p:spPr>
          <a:noFill/>
        </p:spPr>
        <p:txBody>
          <a:bodyPr/>
          <a:lstStyle/>
          <a:p>
            <a:pPr eaLnBrk="1" hangingPunct="1"/>
            <a:endParaRPr lang="fr-CA" altLang="fr-FR">
              <a:ea typeface="ＭＳ Ｐゴシック" panose="020B0600070205080204" pitchFamily="34" charset="-128"/>
            </a:endParaRPr>
          </a:p>
        </p:txBody>
      </p:sp>
    </p:spTree>
    <p:extLst>
      <p:ext uri="{BB962C8B-B14F-4D97-AF65-F5344CB8AC3E}">
        <p14:creationId xmlns:p14="http://schemas.microsoft.com/office/powerpoint/2010/main" val="40239098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Espace réservé de l'image des diapositives 1"/>
          <p:cNvSpPr>
            <a:spLocks noGrp="1" noRot="1" noChangeAspect="1" noTextEdit="1"/>
          </p:cNvSpPr>
          <p:nvPr>
            <p:ph type="sldImg"/>
          </p:nvPr>
        </p:nvSpPr>
        <p:spPr>
          <a:ln/>
        </p:spPr>
      </p:sp>
      <p:sp>
        <p:nvSpPr>
          <p:cNvPr id="32771" name="Espace réservé des commentaires 2"/>
          <p:cNvSpPr>
            <a:spLocks noGrp="1"/>
          </p:cNvSpPr>
          <p:nvPr>
            <p:ph type="body" idx="1"/>
          </p:nvPr>
        </p:nvSpPr>
        <p:spPr>
          <a:noFill/>
        </p:spPr>
        <p:txBody>
          <a:bodyPr/>
          <a:lstStyle/>
          <a:p>
            <a:pPr eaLnBrk="1" hangingPunct="1"/>
            <a:endParaRPr lang="fr-CA" altLang="fr-FR">
              <a:ea typeface="ＭＳ Ｐゴシック" panose="020B0600070205080204" pitchFamily="34" charset="-128"/>
            </a:endParaRPr>
          </a:p>
        </p:txBody>
      </p:sp>
    </p:spTree>
    <p:extLst>
      <p:ext uri="{BB962C8B-B14F-4D97-AF65-F5344CB8AC3E}">
        <p14:creationId xmlns:p14="http://schemas.microsoft.com/office/powerpoint/2010/main" val="23496988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Espace réservé de l'image des diapositives 1"/>
          <p:cNvSpPr>
            <a:spLocks noGrp="1" noRot="1" noChangeAspect="1" noTextEdit="1"/>
          </p:cNvSpPr>
          <p:nvPr>
            <p:ph type="sldImg"/>
          </p:nvPr>
        </p:nvSpPr>
        <p:spPr>
          <a:ln/>
        </p:spPr>
      </p:sp>
      <p:sp>
        <p:nvSpPr>
          <p:cNvPr id="30723" name="Espace réservé des commentaires 2"/>
          <p:cNvSpPr>
            <a:spLocks noGrp="1"/>
          </p:cNvSpPr>
          <p:nvPr>
            <p:ph type="body" idx="1"/>
          </p:nvPr>
        </p:nvSpPr>
        <p:spPr>
          <a:noFill/>
        </p:spPr>
        <p:txBody>
          <a:bodyPr/>
          <a:lstStyle/>
          <a:p>
            <a:pPr eaLnBrk="1" hangingPunct="1"/>
            <a:endParaRPr lang="fr-CA" altLang="fr-FR">
              <a:ea typeface="ＭＳ Ｐゴシック" panose="020B0600070205080204" pitchFamily="34" charset="-128"/>
            </a:endParaRPr>
          </a:p>
        </p:txBody>
      </p:sp>
    </p:spTree>
    <p:extLst>
      <p:ext uri="{BB962C8B-B14F-4D97-AF65-F5344CB8AC3E}">
        <p14:creationId xmlns:p14="http://schemas.microsoft.com/office/powerpoint/2010/main" val="4268245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p:cNvSpPr>
            <a:spLocks noGrp="1"/>
          </p:cNvSpPr>
          <p:nvPr>
            <p:ph type="dt" sz="half" idx="10"/>
          </p:nvPr>
        </p:nvSpPr>
        <p:spPr/>
        <p:txBody>
          <a:bodyPr/>
          <a:lstStyle/>
          <a:p>
            <a:fld id="{9095E70D-4EF3-45AD-B41D-B134D3A650B9}" type="datetime1">
              <a:rPr lang="fr-CA" smtClean="0"/>
              <a:t>2020-10-01</a:t>
            </a:fld>
            <a:endParaRPr lang="fr-CA"/>
          </a:p>
        </p:txBody>
      </p:sp>
      <p:sp>
        <p:nvSpPr>
          <p:cNvPr id="5" name="Espace réservé du pied de page 4"/>
          <p:cNvSpPr>
            <a:spLocks noGrp="1"/>
          </p:cNvSpPr>
          <p:nvPr>
            <p:ph type="ftr" sz="quarter" idx="11"/>
          </p:nvPr>
        </p:nvSpPr>
        <p:spPr/>
        <p:txBody>
          <a:bodyPr/>
          <a:lstStyle/>
          <a:p>
            <a:r>
              <a:rPr lang="fr-CA"/>
              <a:t>Droits réservés - Louise Overbeek</a:t>
            </a:r>
          </a:p>
        </p:txBody>
      </p:sp>
      <p:sp>
        <p:nvSpPr>
          <p:cNvPr id="6" name="Espace réservé du numéro de diapositive 5"/>
          <p:cNvSpPr>
            <a:spLocks noGrp="1"/>
          </p:cNvSpPr>
          <p:nvPr>
            <p:ph type="sldNum" sz="quarter" idx="12"/>
          </p:nvPr>
        </p:nvSpPr>
        <p:spPr/>
        <p:txBody>
          <a:bodyPr/>
          <a:lstStyle/>
          <a:p>
            <a:fld id="{992B40CC-DFA5-47EF-8974-C897708E5DF2}" type="slidenum">
              <a:rPr lang="fr-CA" smtClean="0"/>
              <a:t>‹N°›</a:t>
            </a:fld>
            <a:endParaRPr lang="fr-CA"/>
          </a:p>
        </p:txBody>
      </p:sp>
    </p:spTree>
    <p:extLst>
      <p:ext uri="{BB962C8B-B14F-4D97-AF65-F5344CB8AC3E}">
        <p14:creationId xmlns:p14="http://schemas.microsoft.com/office/powerpoint/2010/main" val="20251593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480F474B-2906-4A7C-8D68-C18CE1B6F1C6}" type="datetime1">
              <a:rPr lang="fr-CA" smtClean="0"/>
              <a:t>2020-10-01</a:t>
            </a:fld>
            <a:endParaRPr lang="fr-CA"/>
          </a:p>
        </p:txBody>
      </p:sp>
      <p:sp>
        <p:nvSpPr>
          <p:cNvPr id="5" name="Espace réservé du pied de page 4"/>
          <p:cNvSpPr>
            <a:spLocks noGrp="1"/>
          </p:cNvSpPr>
          <p:nvPr>
            <p:ph type="ftr" sz="quarter" idx="11"/>
          </p:nvPr>
        </p:nvSpPr>
        <p:spPr/>
        <p:txBody>
          <a:bodyPr/>
          <a:lstStyle/>
          <a:p>
            <a:r>
              <a:rPr lang="fr-CA"/>
              <a:t>Droits réservés - Louise Overbeek</a:t>
            </a:r>
          </a:p>
        </p:txBody>
      </p:sp>
      <p:sp>
        <p:nvSpPr>
          <p:cNvPr id="6" name="Espace réservé du numéro de diapositive 5"/>
          <p:cNvSpPr>
            <a:spLocks noGrp="1"/>
          </p:cNvSpPr>
          <p:nvPr>
            <p:ph type="sldNum" sz="quarter" idx="12"/>
          </p:nvPr>
        </p:nvSpPr>
        <p:spPr/>
        <p:txBody>
          <a:bodyPr/>
          <a:lstStyle/>
          <a:p>
            <a:fld id="{992B40CC-DFA5-47EF-8974-C897708E5DF2}" type="slidenum">
              <a:rPr lang="fr-CA" smtClean="0"/>
              <a:t>‹N°›</a:t>
            </a:fld>
            <a:endParaRPr lang="fr-CA"/>
          </a:p>
        </p:txBody>
      </p:sp>
    </p:spTree>
    <p:extLst>
      <p:ext uri="{BB962C8B-B14F-4D97-AF65-F5344CB8AC3E}">
        <p14:creationId xmlns:p14="http://schemas.microsoft.com/office/powerpoint/2010/main" val="2766843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FCFF2AD3-E060-4A07-9A1C-2389C9C2C7AE}" type="datetime1">
              <a:rPr lang="fr-CA" smtClean="0"/>
              <a:t>2020-10-01</a:t>
            </a:fld>
            <a:endParaRPr lang="fr-CA"/>
          </a:p>
        </p:txBody>
      </p:sp>
      <p:sp>
        <p:nvSpPr>
          <p:cNvPr id="5" name="Espace réservé du pied de page 4"/>
          <p:cNvSpPr>
            <a:spLocks noGrp="1"/>
          </p:cNvSpPr>
          <p:nvPr>
            <p:ph type="ftr" sz="quarter" idx="11"/>
          </p:nvPr>
        </p:nvSpPr>
        <p:spPr/>
        <p:txBody>
          <a:bodyPr/>
          <a:lstStyle/>
          <a:p>
            <a:r>
              <a:rPr lang="fr-CA"/>
              <a:t>Droits réservés - Louise Overbeek</a:t>
            </a:r>
          </a:p>
        </p:txBody>
      </p:sp>
      <p:sp>
        <p:nvSpPr>
          <p:cNvPr id="6" name="Espace réservé du numéro de diapositive 5"/>
          <p:cNvSpPr>
            <a:spLocks noGrp="1"/>
          </p:cNvSpPr>
          <p:nvPr>
            <p:ph type="sldNum" sz="quarter" idx="12"/>
          </p:nvPr>
        </p:nvSpPr>
        <p:spPr/>
        <p:txBody>
          <a:bodyPr/>
          <a:lstStyle/>
          <a:p>
            <a:fld id="{992B40CC-DFA5-47EF-8974-C897708E5DF2}" type="slidenum">
              <a:rPr lang="fr-CA" smtClean="0"/>
              <a:t>‹N°›</a:t>
            </a:fld>
            <a:endParaRPr lang="fr-CA"/>
          </a:p>
        </p:txBody>
      </p:sp>
    </p:spTree>
    <p:extLst>
      <p:ext uri="{BB962C8B-B14F-4D97-AF65-F5344CB8AC3E}">
        <p14:creationId xmlns:p14="http://schemas.microsoft.com/office/powerpoint/2010/main" val="4276665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p:cNvSpPr>
            <a:spLocks noGrp="1"/>
          </p:cNvSpPr>
          <p:nvPr>
            <p:ph type="dt" sz="half" idx="10"/>
          </p:nvPr>
        </p:nvSpPr>
        <p:spPr/>
        <p:txBody>
          <a:bodyPr/>
          <a:lstStyle/>
          <a:p>
            <a:fld id="{7AD4DFF1-E782-49C3-A3D6-7E81D6FE7354}" type="datetime1">
              <a:rPr lang="fr-CA" smtClean="0"/>
              <a:t>2020-10-01</a:t>
            </a:fld>
            <a:endParaRPr lang="fr-CA"/>
          </a:p>
        </p:txBody>
      </p:sp>
      <p:sp>
        <p:nvSpPr>
          <p:cNvPr id="6" name="Espace réservé du pied de page 5"/>
          <p:cNvSpPr>
            <a:spLocks noGrp="1"/>
          </p:cNvSpPr>
          <p:nvPr>
            <p:ph type="ftr" sz="quarter" idx="11"/>
          </p:nvPr>
        </p:nvSpPr>
        <p:spPr/>
        <p:txBody>
          <a:bodyPr/>
          <a:lstStyle/>
          <a:p>
            <a:r>
              <a:rPr lang="fr-CA"/>
              <a:t>Droits réservés - Louise Overbeek</a:t>
            </a:r>
          </a:p>
        </p:txBody>
      </p:sp>
      <p:sp>
        <p:nvSpPr>
          <p:cNvPr id="7" name="Espace réservé du numéro de diapositive 6"/>
          <p:cNvSpPr>
            <a:spLocks noGrp="1"/>
          </p:cNvSpPr>
          <p:nvPr>
            <p:ph type="sldNum" sz="quarter" idx="12"/>
          </p:nvPr>
        </p:nvSpPr>
        <p:spPr/>
        <p:txBody>
          <a:bodyPr/>
          <a:lstStyle/>
          <a:p>
            <a:fld id="{992B40CC-DFA5-47EF-8974-C897708E5DF2}" type="slidenum">
              <a:rPr lang="fr-CA" smtClean="0"/>
              <a:t>‹N°›</a:t>
            </a:fld>
            <a:endParaRPr lang="fr-CA"/>
          </a:p>
        </p:txBody>
      </p:sp>
    </p:spTree>
    <p:extLst>
      <p:ext uri="{BB962C8B-B14F-4D97-AF65-F5344CB8AC3E}">
        <p14:creationId xmlns:p14="http://schemas.microsoft.com/office/powerpoint/2010/main" val="960308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p:cNvSpPr>
            <a:spLocks noGrp="1"/>
          </p:cNvSpPr>
          <p:nvPr>
            <p:ph type="dt" sz="half" idx="10"/>
          </p:nvPr>
        </p:nvSpPr>
        <p:spPr/>
        <p:txBody>
          <a:bodyPr/>
          <a:lstStyle/>
          <a:p>
            <a:fld id="{9A32677C-430F-4A78-BC0D-F9B9F32325AF}" type="datetime1">
              <a:rPr lang="fr-CA" smtClean="0"/>
              <a:t>2020-10-01</a:t>
            </a:fld>
            <a:endParaRPr lang="fr-CA"/>
          </a:p>
        </p:txBody>
      </p:sp>
      <p:sp>
        <p:nvSpPr>
          <p:cNvPr id="8" name="Espace réservé du pied de page 7"/>
          <p:cNvSpPr>
            <a:spLocks noGrp="1"/>
          </p:cNvSpPr>
          <p:nvPr>
            <p:ph type="ftr" sz="quarter" idx="11"/>
          </p:nvPr>
        </p:nvSpPr>
        <p:spPr/>
        <p:txBody>
          <a:bodyPr/>
          <a:lstStyle/>
          <a:p>
            <a:r>
              <a:rPr lang="fr-CA"/>
              <a:t>Droits réservés - Louise Overbeek</a:t>
            </a:r>
          </a:p>
        </p:txBody>
      </p:sp>
      <p:sp>
        <p:nvSpPr>
          <p:cNvPr id="9" name="Espace réservé du numéro de diapositive 8"/>
          <p:cNvSpPr>
            <a:spLocks noGrp="1"/>
          </p:cNvSpPr>
          <p:nvPr>
            <p:ph type="sldNum" sz="quarter" idx="12"/>
          </p:nvPr>
        </p:nvSpPr>
        <p:spPr/>
        <p:txBody>
          <a:bodyPr/>
          <a:lstStyle/>
          <a:p>
            <a:fld id="{992B40CC-DFA5-47EF-8974-C897708E5DF2}" type="slidenum">
              <a:rPr lang="fr-CA" smtClean="0"/>
              <a:t>‹N°›</a:t>
            </a:fld>
            <a:endParaRPr lang="fr-CA"/>
          </a:p>
        </p:txBody>
      </p:sp>
    </p:spTree>
    <p:extLst>
      <p:ext uri="{BB962C8B-B14F-4D97-AF65-F5344CB8AC3E}">
        <p14:creationId xmlns:p14="http://schemas.microsoft.com/office/powerpoint/2010/main" val="2828049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e la date 2"/>
          <p:cNvSpPr>
            <a:spLocks noGrp="1"/>
          </p:cNvSpPr>
          <p:nvPr>
            <p:ph type="dt" sz="half" idx="10"/>
          </p:nvPr>
        </p:nvSpPr>
        <p:spPr/>
        <p:txBody>
          <a:bodyPr/>
          <a:lstStyle/>
          <a:p>
            <a:fld id="{63D8487C-3D4E-453D-9FD2-AB2F957C44F6}" type="datetime1">
              <a:rPr lang="fr-CA" smtClean="0"/>
              <a:t>2020-10-01</a:t>
            </a:fld>
            <a:endParaRPr lang="fr-CA"/>
          </a:p>
        </p:txBody>
      </p:sp>
      <p:sp>
        <p:nvSpPr>
          <p:cNvPr id="4" name="Espace réservé du pied de page 3"/>
          <p:cNvSpPr>
            <a:spLocks noGrp="1"/>
          </p:cNvSpPr>
          <p:nvPr>
            <p:ph type="ftr" sz="quarter" idx="11"/>
          </p:nvPr>
        </p:nvSpPr>
        <p:spPr/>
        <p:txBody>
          <a:bodyPr/>
          <a:lstStyle/>
          <a:p>
            <a:r>
              <a:rPr lang="fr-CA"/>
              <a:t>Droits réservés - Louise Overbeek</a:t>
            </a:r>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‹N°›</a:t>
            </a:fld>
            <a:endParaRPr lang="fr-CA"/>
          </a:p>
        </p:txBody>
      </p:sp>
    </p:spTree>
    <p:extLst>
      <p:ext uri="{BB962C8B-B14F-4D97-AF65-F5344CB8AC3E}">
        <p14:creationId xmlns:p14="http://schemas.microsoft.com/office/powerpoint/2010/main" val="2003414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1737E409-A1A5-4B53-B8E9-9333E148986D}" type="datetime1">
              <a:rPr lang="fr-CA" smtClean="0"/>
              <a:t>2020-10-01</a:t>
            </a:fld>
            <a:endParaRPr lang="fr-CA"/>
          </a:p>
        </p:txBody>
      </p:sp>
      <p:sp>
        <p:nvSpPr>
          <p:cNvPr id="3" name="Espace réservé du pied de page 2"/>
          <p:cNvSpPr>
            <a:spLocks noGrp="1"/>
          </p:cNvSpPr>
          <p:nvPr>
            <p:ph type="ftr" sz="quarter" idx="11"/>
          </p:nvPr>
        </p:nvSpPr>
        <p:spPr/>
        <p:txBody>
          <a:bodyPr/>
          <a:lstStyle/>
          <a:p>
            <a:r>
              <a:rPr lang="fr-CA"/>
              <a:t>Droits réservés - Louise Overbeek</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‹N°›</a:t>
            </a:fld>
            <a:endParaRPr lang="fr-CA"/>
          </a:p>
        </p:txBody>
      </p:sp>
    </p:spTree>
    <p:extLst>
      <p:ext uri="{BB962C8B-B14F-4D97-AF65-F5344CB8AC3E}">
        <p14:creationId xmlns:p14="http://schemas.microsoft.com/office/powerpoint/2010/main" val="1322628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2E0707EA-C4A4-4DA6-9B5B-CE64D459A24A}" type="datetime1">
              <a:rPr lang="fr-CA" smtClean="0"/>
              <a:t>2020-10-01</a:t>
            </a:fld>
            <a:endParaRPr lang="fr-CA"/>
          </a:p>
        </p:txBody>
      </p:sp>
      <p:sp>
        <p:nvSpPr>
          <p:cNvPr id="6" name="Espace réservé du pied de page 5"/>
          <p:cNvSpPr>
            <a:spLocks noGrp="1"/>
          </p:cNvSpPr>
          <p:nvPr>
            <p:ph type="ftr" sz="quarter" idx="11"/>
          </p:nvPr>
        </p:nvSpPr>
        <p:spPr/>
        <p:txBody>
          <a:bodyPr/>
          <a:lstStyle/>
          <a:p>
            <a:r>
              <a:rPr lang="fr-CA"/>
              <a:t>Droits réservés - Louise Overbeek</a:t>
            </a:r>
          </a:p>
        </p:txBody>
      </p:sp>
      <p:sp>
        <p:nvSpPr>
          <p:cNvPr id="7" name="Espace réservé du numéro de diapositive 6"/>
          <p:cNvSpPr>
            <a:spLocks noGrp="1"/>
          </p:cNvSpPr>
          <p:nvPr>
            <p:ph type="sldNum" sz="quarter" idx="12"/>
          </p:nvPr>
        </p:nvSpPr>
        <p:spPr/>
        <p:txBody>
          <a:bodyPr/>
          <a:lstStyle/>
          <a:p>
            <a:fld id="{992B40CC-DFA5-47EF-8974-C897708E5DF2}" type="slidenum">
              <a:rPr lang="fr-CA" smtClean="0"/>
              <a:t>‹N°›</a:t>
            </a:fld>
            <a:endParaRPr lang="fr-CA"/>
          </a:p>
        </p:txBody>
      </p:sp>
    </p:spTree>
    <p:extLst>
      <p:ext uri="{BB962C8B-B14F-4D97-AF65-F5344CB8AC3E}">
        <p14:creationId xmlns:p14="http://schemas.microsoft.com/office/powerpoint/2010/main" val="3677936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4643A9F3-78BE-4E5C-959C-4007C9B34447}" type="datetime1">
              <a:rPr lang="fr-CA" smtClean="0"/>
              <a:t>2020-10-01</a:t>
            </a:fld>
            <a:endParaRPr lang="fr-CA"/>
          </a:p>
        </p:txBody>
      </p:sp>
      <p:sp>
        <p:nvSpPr>
          <p:cNvPr id="6" name="Espace réservé du pied de page 5"/>
          <p:cNvSpPr>
            <a:spLocks noGrp="1"/>
          </p:cNvSpPr>
          <p:nvPr>
            <p:ph type="ftr" sz="quarter" idx="11"/>
          </p:nvPr>
        </p:nvSpPr>
        <p:spPr/>
        <p:txBody>
          <a:bodyPr/>
          <a:lstStyle/>
          <a:p>
            <a:r>
              <a:rPr lang="fr-CA"/>
              <a:t>Droits réservés - Louise Overbeek</a:t>
            </a:r>
          </a:p>
        </p:txBody>
      </p:sp>
      <p:sp>
        <p:nvSpPr>
          <p:cNvPr id="7" name="Espace réservé du numéro de diapositive 6"/>
          <p:cNvSpPr>
            <a:spLocks noGrp="1"/>
          </p:cNvSpPr>
          <p:nvPr>
            <p:ph type="sldNum" sz="quarter" idx="12"/>
          </p:nvPr>
        </p:nvSpPr>
        <p:spPr/>
        <p:txBody>
          <a:bodyPr/>
          <a:lstStyle/>
          <a:p>
            <a:fld id="{992B40CC-DFA5-47EF-8974-C897708E5DF2}" type="slidenum">
              <a:rPr lang="fr-CA" smtClean="0"/>
              <a:t>‹N°›</a:t>
            </a:fld>
            <a:endParaRPr lang="fr-CA"/>
          </a:p>
        </p:txBody>
      </p:sp>
    </p:spTree>
    <p:extLst>
      <p:ext uri="{BB962C8B-B14F-4D97-AF65-F5344CB8AC3E}">
        <p14:creationId xmlns:p14="http://schemas.microsoft.com/office/powerpoint/2010/main" val="348112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7D912381-B763-4E3A-BCCB-D533199BE3BB}" type="datetime1">
              <a:rPr lang="fr-CA" smtClean="0"/>
              <a:t>2020-10-01</a:t>
            </a:fld>
            <a:endParaRPr lang="fr-CA"/>
          </a:p>
        </p:txBody>
      </p:sp>
      <p:sp>
        <p:nvSpPr>
          <p:cNvPr id="5" name="Espace réservé du pied de page 4"/>
          <p:cNvSpPr>
            <a:spLocks noGrp="1"/>
          </p:cNvSpPr>
          <p:nvPr>
            <p:ph type="ftr" sz="quarter" idx="11"/>
          </p:nvPr>
        </p:nvSpPr>
        <p:spPr/>
        <p:txBody>
          <a:bodyPr/>
          <a:lstStyle/>
          <a:p>
            <a:r>
              <a:rPr lang="fr-CA"/>
              <a:t>Droits réservés - Louise Overbeek</a:t>
            </a:r>
          </a:p>
        </p:txBody>
      </p:sp>
      <p:sp>
        <p:nvSpPr>
          <p:cNvPr id="6" name="Espace réservé du numéro de diapositive 5"/>
          <p:cNvSpPr>
            <a:spLocks noGrp="1"/>
          </p:cNvSpPr>
          <p:nvPr>
            <p:ph type="sldNum" sz="quarter" idx="12"/>
          </p:nvPr>
        </p:nvSpPr>
        <p:spPr/>
        <p:txBody>
          <a:bodyPr/>
          <a:lstStyle/>
          <a:p>
            <a:fld id="{992B40CC-DFA5-47EF-8974-C897708E5DF2}" type="slidenum">
              <a:rPr lang="fr-CA" smtClean="0"/>
              <a:t>‹N°›</a:t>
            </a:fld>
            <a:endParaRPr lang="fr-CA"/>
          </a:p>
        </p:txBody>
      </p:sp>
    </p:spTree>
    <p:extLst>
      <p:ext uri="{BB962C8B-B14F-4D97-AF65-F5344CB8AC3E}">
        <p14:creationId xmlns:p14="http://schemas.microsoft.com/office/powerpoint/2010/main" val="172505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B79F5EA6-DCDB-4351-9F25-1602658BF237}" type="datetime1">
              <a:rPr lang="fr-CA" smtClean="0"/>
              <a:t>2020-10-01</a:t>
            </a:fld>
            <a:endParaRPr lang="fr-CA"/>
          </a:p>
        </p:txBody>
      </p:sp>
      <p:sp>
        <p:nvSpPr>
          <p:cNvPr id="5" name="Espace réservé du pied de page 4"/>
          <p:cNvSpPr>
            <a:spLocks noGrp="1"/>
          </p:cNvSpPr>
          <p:nvPr>
            <p:ph type="ftr" sz="quarter" idx="11"/>
          </p:nvPr>
        </p:nvSpPr>
        <p:spPr/>
        <p:txBody>
          <a:bodyPr/>
          <a:lstStyle/>
          <a:p>
            <a:r>
              <a:rPr lang="fr-CA"/>
              <a:t>Droits réservés - Louise Overbeek</a:t>
            </a:r>
          </a:p>
        </p:txBody>
      </p:sp>
      <p:sp>
        <p:nvSpPr>
          <p:cNvPr id="6" name="Espace réservé du numéro de diapositive 5"/>
          <p:cNvSpPr>
            <a:spLocks noGrp="1"/>
          </p:cNvSpPr>
          <p:nvPr>
            <p:ph type="sldNum" sz="quarter" idx="12"/>
          </p:nvPr>
        </p:nvSpPr>
        <p:spPr/>
        <p:txBody>
          <a:bodyPr/>
          <a:lstStyle/>
          <a:p>
            <a:fld id="{992B40CC-DFA5-47EF-8974-C897708E5DF2}" type="slidenum">
              <a:rPr lang="fr-CA" smtClean="0"/>
              <a:t>‹N°›</a:t>
            </a:fld>
            <a:endParaRPr lang="fr-CA"/>
          </a:p>
        </p:txBody>
      </p:sp>
    </p:spTree>
    <p:extLst>
      <p:ext uri="{BB962C8B-B14F-4D97-AF65-F5344CB8AC3E}">
        <p14:creationId xmlns:p14="http://schemas.microsoft.com/office/powerpoint/2010/main" val="3498160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D930C0-3759-422E-B8C1-11FF6C5037CE}" type="datetime1">
              <a:rPr lang="fr-CA" smtClean="0"/>
              <a:t>2020-10-01</a:t>
            </a:fld>
            <a:endParaRPr lang="fr-CA"/>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CA"/>
              <a:t>Droits réservés - Louise Overbeek</a:t>
            </a: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2B40CC-DFA5-47EF-8974-C897708E5DF2}" type="slidenum">
              <a:rPr lang="fr-CA" smtClean="0"/>
              <a:t>‹N°›</a:t>
            </a:fld>
            <a:endParaRPr lang="fr-CA"/>
          </a:p>
        </p:txBody>
      </p:sp>
    </p:spTree>
    <p:extLst>
      <p:ext uri="{BB962C8B-B14F-4D97-AF65-F5344CB8AC3E}">
        <p14:creationId xmlns:p14="http://schemas.microsoft.com/office/powerpoint/2010/main" val="39300459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1.emf"/><Relationship Id="rId4" Type="http://schemas.openxmlformats.org/officeDocument/2006/relationships/package" Target="../embeddings/Microsoft_Excel_Worksheet.xlsx"/></Relationships>
</file>

<file path=ppt/slides/_rels/slide2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2.emf"/></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3.emf"/></Relationships>
</file>

<file path=ppt/slides/_rels/slide3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4.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4098" name="Titre 1"/>
          <p:cNvSpPr>
            <a:spLocks noGrp="1"/>
          </p:cNvSpPr>
          <p:nvPr>
            <p:ph type="ctrTitle"/>
          </p:nvPr>
        </p:nvSpPr>
        <p:spPr/>
        <p:txBody>
          <a:bodyPr>
            <a:normAutofit/>
          </a:bodyPr>
          <a:lstStyle/>
          <a:p>
            <a:pPr eaLnBrk="1" hangingPunct="1"/>
            <a:r>
              <a:rPr lang="fr-FR" altLang="fr-FR" sz="4000" b="1" dirty="0"/>
              <a:t>Devises</a:t>
            </a:r>
            <a:br>
              <a:rPr lang="fr-FR" altLang="fr-FR" sz="4000" b="1" dirty="0"/>
            </a:br>
            <a:endParaRPr lang="fr-FR" altLang="fr-FR" sz="2600" dirty="0"/>
          </a:p>
        </p:txBody>
      </p:sp>
      <p:sp>
        <p:nvSpPr>
          <p:cNvPr id="4099" name="Sous-titre 2"/>
          <p:cNvSpPr>
            <a:spLocks noGrp="1"/>
          </p:cNvSpPr>
          <p:nvPr>
            <p:ph type="subTitle" idx="1"/>
          </p:nvPr>
        </p:nvSpPr>
        <p:spPr>
          <a:xfrm>
            <a:off x="2895600" y="4367213"/>
            <a:ext cx="6400800" cy="1752600"/>
          </a:xfrm>
        </p:spPr>
        <p:txBody>
          <a:bodyPr>
            <a:normAutofit lnSpcReduction="10000"/>
          </a:bodyPr>
          <a:lstStyle/>
          <a:p>
            <a:pPr eaLnBrk="1" hangingPunct="1">
              <a:lnSpc>
                <a:spcPct val="80000"/>
              </a:lnSpc>
            </a:pPr>
            <a:endParaRPr lang="fr-FR" altLang="fr-FR" sz="3000" dirty="0">
              <a:solidFill>
                <a:srgbClr val="898989"/>
              </a:solidFill>
            </a:endParaRPr>
          </a:p>
          <a:p>
            <a:pPr eaLnBrk="1" hangingPunct="1">
              <a:lnSpc>
                <a:spcPct val="80000"/>
              </a:lnSpc>
            </a:pPr>
            <a:endParaRPr lang="fr-FR" altLang="fr-FR" sz="3000" dirty="0">
              <a:solidFill>
                <a:srgbClr val="898989"/>
              </a:solidFill>
            </a:endParaRPr>
          </a:p>
          <a:p>
            <a:pPr eaLnBrk="1" hangingPunct="1">
              <a:lnSpc>
                <a:spcPct val="80000"/>
              </a:lnSpc>
            </a:pPr>
            <a:r>
              <a:rPr lang="fr-FR" altLang="fr-FR" sz="3000" dirty="0">
                <a:solidFill>
                  <a:srgbClr val="898989"/>
                </a:solidFill>
              </a:rPr>
              <a:t>Louise Overbeek</a:t>
            </a:r>
            <a:endParaRPr lang="fr-FR" altLang="fr-FR" dirty="0">
              <a:solidFill>
                <a:srgbClr val="898989"/>
              </a:solidFill>
            </a:endParaRPr>
          </a:p>
          <a:p>
            <a:pPr eaLnBrk="1" hangingPunct="1">
              <a:lnSpc>
                <a:spcPct val="80000"/>
              </a:lnSpc>
            </a:pPr>
            <a:r>
              <a:rPr lang="fr-FR" altLang="fr-FR" sz="1800" dirty="0">
                <a:solidFill>
                  <a:srgbClr val="898989"/>
                </a:solidFill>
              </a:rPr>
              <a:t>Octobre 2020</a:t>
            </a:r>
            <a:endParaRPr lang="fr-FR" altLang="fr-FR" sz="3000" dirty="0">
              <a:solidFill>
                <a:srgbClr val="898989"/>
              </a:solidFill>
            </a:endParaRPr>
          </a:p>
        </p:txBody>
      </p:sp>
    </p:spTree>
    <p:extLst>
      <p:ext uri="{BB962C8B-B14F-4D97-AF65-F5344CB8AC3E}">
        <p14:creationId xmlns:p14="http://schemas.microsoft.com/office/powerpoint/2010/main" val="2702337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Devises</a:t>
            </a:r>
            <a:endParaRPr lang="fr-CA" dirty="0"/>
          </a:p>
        </p:txBody>
      </p:sp>
      <p:sp>
        <p:nvSpPr>
          <p:cNvPr id="3" name="Espace réservé du contenu 2"/>
          <p:cNvSpPr>
            <a:spLocks noGrp="1"/>
          </p:cNvSpPr>
          <p:nvPr>
            <p:ph idx="1"/>
          </p:nvPr>
        </p:nvSpPr>
        <p:spPr>
          <a:xfrm>
            <a:off x="838200" y="1567543"/>
            <a:ext cx="10515600" cy="4609420"/>
          </a:xfrm>
        </p:spPr>
        <p:txBody>
          <a:bodyPr>
            <a:normAutofit fontScale="85000" lnSpcReduction="20000"/>
          </a:bodyPr>
          <a:lstStyle/>
          <a:p>
            <a:r>
              <a:rPr lang="fr-CA" dirty="0"/>
              <a:t>IAS 21 </a:t>
            </a:r>
            <a:r>
              <a:rPr lang="fr-CA" i="1" dirty="0"/>
              <a:t>Effets des variations des cours des monnaies étrangères</a:t>
            </a:r>
          </a:p>
          <a:p>
            <a:endParaRPr lang="fr-CA" i="1" dirty="0"/>
          </a:p>
          <a:p>
            <a:pPr marL="609600" indent="-609600">
              <a:buNone/>
            </a:pPr>
            <a:r>
              <a:rPr lang="fr-CA" altLang="fr-FR" sz="2400" dirty="0">
                <a:solidFill>
                  <a:srgbClr val="0070C0"/>
                </a:solidFill>
                <a:latin typeface="Calibri" panose="020F0502020204030204" pitchFamily="34" charset="0"/>
                <a:ea typeface="ＭＳ Ｐゴシック" panose="020B0600070205080204" pitchFamily="34" charset="-128"/>
                <a:cs typeface="Times New Roman" panose="02020603050405020304" pitchFamily="18" charset="0"/>
              </a:rPr>
              <a:t>S</a:t>
            </a:r>
            <a:r>
              <a:rPr lang="fr-CA" altLang="fr-FR" sz="2400" dirty="0">
                <a:solidFill>
                  <a:srgbClr val="0070C0"/>
                </a:solidFill>
                <a:latin typeface="Calibri" panose="020F0502020204030204" pitchFamily="34" charset="0"/>
                <a:ea typeface="ＭＳ Ｐゴシック" panose="020B0600070205080204" pitchFamily="34" charset="-128"/>
              </a:rPr>
              <a:t>ociété canadienne qui  effectue des opérations en devises</a:t>
            </a:r>
            <a:r>
              <a:rPr lang="fr-CA" altLang="fr-FR" sz="2400" dirty="0">
                <a:latin typeface="Calibri" panose="020F0502020204030204" pitchFamily="34" charset="0"/>
                <a:ea typeface="ＭＳ Ｐゴシック" panose="020B0600070205080204" pitchFamily="34" charset="-128"/>
              </a:rPr>
              <a:t> </a:t>
            </a:r>
            <a:r>
              <a:rPr lang="fr-CA" altLang="fr-FR" sz="2400" dirty="0">
                <a:latin typeface="Calibri" panose="020F0502020204030204" pitchFamily="34" charset="0"/>
                <a:cs typeface="Times New Roman" panose="02020603050405020304" pitchFamily="18" charset="0"/>
              </a:rPr>
              <a:t>:</a:t>
            </a:r>
          </a:p>
          <a:p>
            <a:pPr marL="358775" lvl="1" indent="-184150"/>
            <a:r>
              <a:rPr lang="fr-CA" altLang="fr-FR" dirty="0">
                <a:latin typeface="Calibri" panose="020F0502020204030204" pitchFamily="34" charset="0"/>
                <a:cs typeface="Times New Roman" panose="02020603050405020304" pitchFamily="18" charset="0"/>
              </a:rPr>
              <a:t>Achats ou ventes de marchandises ou de services dont le prix est </a:t>
            </a:r>
            <a:r>
              <a:rPr lang="fr-CA" altLang="fr-FR" dirty="0">
                <a:latin typeface="Calibri" panose="020F0502020204030204" pitchFamily="34" charset="0"/>
                <a:ea typeface="ＭＳ Ｐゴシック" panose="020B0600070205080204" pitchFamily="34" charset="-128"/>
              </a:rPr>
              <a:t>libellé dans une monnaie étrangère</a:t>
            </a:r>
            <a:r>
              <a:rPr lang="fr-CA" altLang="fr-FR" dirty="0">
                <a:latin typeface="Calibri" panose="020F0502020204030204" pitchFamily="34" charset="0"/>
                <a:cs typeface="Times New Roman" panose="02020603050405020304" pitchFamily="18" charset="0"/>
              </a:rPr>
              <a:t> </a:t>
            </a:r>
          </a:p>
          <a:p>
            <a:pPr marL="358775" lvl="1" indent="-184150"/>
            <a:r>
              <a:rPr lang="fr-CA" altLang="fr-FR" dirty="0">
                <a:latin typeface="Calibri" panose="020F0502020204030204" pitchFamily="34" charset="0"/>
              </a:rPr>
              <a:t>Emprunts ou prêts </a:t>
            </a:r>
            <a:r>
              <a:rPr lang="fr-CA" altLang="fr-FR" dirty="0">
                <a:latin typeface="Calibri" panose="020F0502020204030204" pitchFamily="34" charset="0"/>
                <a:ea typeface="ＭＳ Ｐゴシック" panose="020B0600070205080204" pitchFamily="34" charset="-128"/>
              </a:rPr>
              <a:t>de fonds, lorsque les montants à payer ou à recevoir sont libellés dans une monnaie étrangère</a:t>
            </a:r>
            <a:endParaRPr lang="fr-CA" altLang="fr-FR" dirty="0">
              <a:latin typeface="Calibri" panose="020F0502020204030204" pitchFamily="34" charset="0"/>
            </a:endParaRPr>
          </a:p>
          <a:p>
            <a:pPr marL="358775" lvl="1" indent="-184150"/>
            <a:r>
              <a:rPr lang="fr-CA" altLang="fr-FR" dirty="0">
                <a:latin typeface="Calibri" panose="020F0502020204030204" pitchFamily="34" charset="0"/>
                <a:ea typeface="ＭＳ Ｐゴシック" panose="020B0600070205080204" pitchFamily="34" charset="-128"/>
              </a:rPr>
              <a:t> Acquisition d’actifs, y compris des titres de participation, qui sont achetés ou vendus dans une monnaie étrangère</a:t>
            </a:r>
          </a:p>
          <a:p>
            <a:pPr marL="358775" lvl="1" indent="-184150"/>
            <a:r>
              <a:rPr lang="fr-CA" altLang="fr-FR" dirty="0">
                <a:latin typeface="Calibri" panose="020F0502020204030204" pitchFamily="34" charset="0"/>
                <a:ea typeface="ＭＳ Ｐゴシック" panose="020B0600070205080204" pitchFamily="34" charset="-128"/>
              </a:rPr>
              <a:t>Émission de titres de dette, dans une monnaie étrangère</a:t>
            </a:r>
            <a:endParaRPr lang="fr-CA" altLang="fr-FR" dirty="0">
              <a:latin typeface="Calibri" panose="020F0502020204030204" pitchFamily="34" charset="0"/>
            </a:endParaRPr>
          </a:p>
          <a:p>
            <a:pPr marL="358775" lvl="1" indent="-184150"/>
            <a:r>
              <a:rPr lang="fr-CA" altLang="fr-FR" dirty="0">
                <a:latin typeface="Calibri" panose="020F0502020204030204" pitchFamily="34" charset="0"/>
                <a:ea typeface="ＭＳ Ｐゴシック" panose="020B0600070205080204" pitchFamily="34" charset="-128"/>
              </a:rPr>
              <a:t>Opérations sur dérivés libellées dans une monnaie étrangère afin de couvrir des soldes ou des opérations futures libellés dans une monnaie étrangère – </a:t>
            </a:r>
            <a:r>
              <a:rPr lang="fr-CA" altLang="fr-FR" i="1" dirty="0">
                <a:latin typeface="Calibri" panose="020F0502020204030204" pitchFamily="34" charset="0"/>
                <a:ea typeface="ＭＳ Ｐゴシック" panose="020B0600070205080204" pitchFamily="34" charset="-128"/>
              </a:rPr>
              <a:t>non couvert en SCO5240</a:t>
            </a:r>
            <a:endParaRPr lang="fr-CA" i="1" dirty="0"/>
          </a:p>
          <a:p>
            <a:pPr marL="457200" lvl="1" indent="0">
              <a:buNone/>
            </a:pPr>
            <a:endParaRPr lang="fr-CA" dirty="0"/>
          </a:p>
          <a:p>
            <a:pPr marL="609600" indent="-609600">
              <a:buNone/>
            </a:pPr>
            <a:r>
              <a:rPr lang="fr-CA" altLang="fr-FR" sz="2400" dirty="0">
                <a:solidFill>
                  <a:srgbClr val="0070C0"/>
                </a:solidFill>
                <a:latin typeface="Calibri" panose="020F0502020204030204" pitchFamily="34" charset="0"/>
                <a:ea typeface="ＭＳ Ｐゴシック" panose="020B0600070205080204" pitchFamily="34" charset="-128"/>
                <a:cs typeface="Times New Roman" panose="02020603050405020304" pitchFamily="18" charset="0"/>
              </a:rPr>
              <a:t>S</a:t>
            </a:r>
            <a:r>
              <a:rPr lang="fr-CA" altLang="fr-FR" sz="2400" dirty="0">
                <a:solidFill>
                  <a:srgbClr val="0070C0"/>
                </a:solidFill>
                <a:latin typeface="Calibri" panose="020F0502020204030204" pitchFamily="34" charset="0"/>
                <a:ea typeface="ＭＳ Ｐゴシック" panose="020B0600070205080204" pitchFamily="34" charset="-128"/>
              </a:rPr>
              <a:t>ociété canadienne qui a des investissements stratégiques dans des </a:t>
            </a:r>
            <a:r>
              <a:rPr lang="fr-CA" altLang="fr-FR" sz="2400" dirty="0">
                <a:solidFill>
                  <a:srgbClr val="0070C0"/>
                </a:solidFill>
                <a:latin typeface="Calibri" panose="020F0502020204030204" pitchFamily="34" charset="0"/>
                <a:cs typeface="Times New Roman" panose="02020603050405020304" pitchFamily="18" charset="0"/>
              </a:rPr>
              <a:t>établissements étrangers </a:t>
            </a:r>
            <a:r>
              <a:rPr lang="fr-CA" altLang="fr-FR" sz="2400" dirty="0">
                <a:latin typeface="Calibri" panose="020F0502020204030204" pitchFamily="34" charset="0"/>
                <a:cs typeface="Times New Roman" panose="02020603050405020304" pitchFamily="18" charset="0"/>
              </a:rPr>
              <a:t>:</a:t>
            </a:r>
          </a:p>
          <a:p>
            <a:pPr marL="358775" lvl="1" indent="-184150"/>
            <a:r>
              <a:rPr lang="fr-CA" altLang="fr-FR" dirty="0">
                <a:latin typeface="Calibri" panose="020F0502020204030204" pitchFamily="34" charset="0"/>
                <a:ea typeface="ＭＳ Ｐゴシック" panose="020B0600070205080204" pitchFamily="34" charset="-128"/>
              </a:rPr>
              <a:t>Filiales, sociétés sous influence notable, coentreprises ou succursales qui exercent des activités dans un pays étranger. </a:t>
            </a:r>
            <a:endParaRPr lang="fr-CA" dirty="0"/>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2</a:t>
            </a:fld>
            <a:endParaRPr lang="fr-CA"/>
          </a:p>
        </p:txBody>
      </p:sp>
      <p:sp>
        <p:nvSpPr>
          <p:cNvPr id="4" name="Espace réservé du pied de page 3">
            <a:extLst>
              <a:ext uri="{FF2B5EF4-FFF2-40B4-BE49-F238E27FC236}">
                <a16:creationId xmlns:a16="http://schemas.microsoft.com/office/drawing/2014/main" id="{80D0C2C7-9C56-4662-9FE5-71F95A7CCB6B}"/>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780764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Champ d’application</a:t>
            </a:r>
          </a:p>
        </p:txBody>
      </p:sp>
      <p:sp>
        <p:nvSpPr>
          <p:cNvPr id="3" name="Espace réservé du contenu 2"/>
          <p:cNvSpPr>
            <a:spLocks noGrp="1"/>
          </p:cNvSpPr>
          <p:nvPr>
            <p:ph idx="1"/>
          </p:nvPr>
        </p:nvSpPr>
        <p:spPr>
          <a:xfrm>
            <a:off x="838200" y="1825625"/>
            <a:ext cx="10515600" cy="4725646"/>
          </a:xfrm>
        </p:spPr>
        <p:txBody>
          <a:bodyPr>
            <a:normAutofit fontScale="62500" lnSpcReduction="20000"/>
          </a:bodyPr>
          <a:lstStyle/>
          <a:p>
            <a:pPr marL="0" indent="0">
              <a:buNone/>
            </a:pPr>
            <a:r>
              <a:rPr lang="fr-CA" b="1" dirty="0"/>
              <a:t>3     La présente norme s'applique </a:t>
            </a:r>
            <a:r>
              <a:rPr lang="fr-CA" b="1" baseline="30000" dirty="0"/>
              <a:t>1</a:t>
            </a:r>
            <a:r>
              <a:rPr lang="fr-CA" b="1" dirty="0"/>
              <a:t> :</a:t>
            </a:r>
          </a:p>
          <a:p>
            <a:pPr marL="0" indent="0">
              <a:buNone/>
            </a:pPr>
            <a:r>
              <a:rPr lang="fr-CA" b="1" dirty="0"/>
              <a:t>(a)     lors de la comptabilisation des transactions et des soldes en monnaie étrangère, à l'exception des transactions sur dérivés et des soldes qui entrent dans le champ d'application d'IFRS 9 </a:t>
            </a:r>
            <a:r>
              <a:rPr lang="fr-CA" b="1" i="1" dirty="0"/>
              <a:t>Instruments financiers</a:t>
            </a:r>
            <a:r>
              <a:rPr lang="fr-CA" b="1" dirty="0"/>
              <a:t> ;</a:t>
            </a:r>
          </a:p>
          <a:p>
            <a:pPr marL="0" indent="0">
              <a:buNone/>
            </a:pPr>
            <a:r>
              <a:rPr lang="fr-CA" b="1" dirty="0"/>
              <a:t>(b)     à la conversion des résultats et de la situation financière des établissements à l'étranger inclus dans les états financiers de l'entité par consolidation ou par mise en équivalence ; et</a:t>
            </a:r>
          </a:p>
          <a:p>
            <a:pPr marL="0" indent="0">
              <a:buNone/>
            </a:pPr>
            <a:r>
              <a:rPr lang="fr-CA" b="1" dirty="0"/>
              <a:t>(c)     à la conversion des résultats et de la situation financière de l'entité dans une monnaie de présentation.</a:t>
            </a:r>
          </a:p>
          <a:p>
            <a:pPr marL="0" indent="0">
              <a:buNone/>
            </a:pPr>
            <a:endParaRPr lang="fr-CA" b="1" dirty="0"/>
          </a:p>
          <a:p>
            <a:pPr marL="0" indent="0">
              <a:buNone/>
            </a:pPr>
            <a:r>
              <a:rPr lang="fr-CA" dirty="0"/>
              <a:t>4     IFRS 9 s'applique à de nombreux dérivés de change, qui sont en conséquence exclus du champ d'application de la présente norme. Cependant, les dérivés de change qui n'entrent pas dans le champ d'application d'IFRS 9 (par exemple certains dérivés de change qui sont incorporés dans d'autres contrats) entrent dans le champ d'application de la présente norme. De plus, la présente norme s'applique lorsque l'entité convertit des montants relatifs à des instruments dérivés de sa monnaie fonctionnelle à sa monnaie de présentation.</a:t>
            </a:r>
          </a:p>
          <a:p>
            <a:pPr marL="0" indent="0">
              <a:buNone/>
            </a:pPr>
            <a:r>
              <a:rPr lang="fr-CA" dirty="0"/>
              <a:t>5     La présente norme ne s'applique pas en matière de comptabilité de couverture pour les éléments en monnaie étrangère, y compris la couverture de l'investissement net dans un établissement à l'étranger. IFRS 9 s'applique en matière de comptabilité de couverture.</a:t>
            </a:r>
          </a:p>
          <a:p>
            <a:pPr>
              <a:buFont typeface="Wingdings" panose="05000000000000000000" pitchFamily="2" charset="2"/>
              <a:buChar char="Ø"/>
            </a:pPr>
            <a:r>
              <a:rPr lang="fr-CA" dirty="0"/>
              <a:t>	</a:t>
            </a:r>
            <a:r>
              <a:rPr lang="fr-CA" i="1" dirty="0">
                <a:solidFill>
                  <a:srgbClr val="0070C0"/>
                </a:solidFill>
              </a:rPr>
              <a:t>dérivés et comptabilité de couverture non couverts en SCO5240</a:t>
            </a:r>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3</a:t>
            </a:fld>
            <a:endParaRPr lang="fr-CA"/>
          </a:p>
        </p:txBody>
      </p:sp>
      <p:sp>
        <p:nvSpPr>
          <p:cNvPr id="4" name="Espace réservé du pied de page 3">
            <a:extLst>
              <a:ext uri="{FF2B5EF4-FFF2-40B4-BE49-F238E27FC236}">
                <a16:creationId xmlns:a16="http://schemas.microsoft.com/office/drawing/2014/main" id="{7811AA8C-ACE0-4709-946F-041A791FD2F5}"/>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837283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re 1"/>
          <p:cNvSpPr>
            <a:spLocks noGrp="1"/>
          </p:cNvSpPr>
          <p:nvPr>
            <p:ph type="title" idx="4294967295"/>
          </p:nvPr>
        </p:nvSpPr>
        <p:spPr/>
        <p:txBody>
          <a:bodyPr anchor="ctr"/>
          <a:lstStyle/>
          <a:p>
            <a:pPr algn="ctr" eaLnBrk="1" hangingPunct="1"/>
            <a:r>
              <a:rPr lang="fr-CA" altLang="fr-FR" sz="3600" dirty="0">
                <a:latin typeface="Calibri" panose="020F0502020204030204" pitchFamily="34" charset="0"/>
              </a:rPr>
              <a:t>Cours de change</a:t>
            </a:r>
          </a:p>
        </p:txBody>
      </p:sp>
      <p:sp>
        <p:nvSpPr>
          <p:cNvPr id="15363" name="Espace réservé du contenu 2"/>
          <p:cNvSpPr>
            <a:spLocks noGrp="1"/>
          </p:cNvSpPr>
          <p:nvPr>
            <p:ph idx="4294967295"/>
          </p:nvPr>
        </p:nvSpPr>
        <p:spPr>
          <a:xfrm>
            <a:off x="838200" y="1863524"/>
            <a:ext cx="10515600" cy="4262640"/>
          </a:xfrm>
        </p:spPr>
        <p:txBody>
          <a:bodyPr/>
          <a:lstStyle/>
          <a:p>
            <a:pPr marL="0" indent="0">
              <a:lnSpc>
                <a:spcPct val="80000"/>
              </a:lnSpc>
              <a:buNone/>
              <a:defRPr/>
            </a:pPr>
            <a:r>
              <a:rPr lang="fr-CA" altLang="fr-FR" dirty="0">
                <a:latin typeface="Calibri" panose="020F0502020204030204" pitchFamily="34" charset="0"/>
              </a:rPr>
              <a:t>Les cours de change représentent les taux d’échange de deux monnaies, soit un rapport (ratio) de deux devises</a:t>
            </a:r>
          </a:p>
          <a:p>
            <a:pPr marL="0" indent="0">
              <a:lnSpc>
                <a:spcPct val="80000"/>
              </a:lnSpc>
              <a:defRPr/>
            </a:pPr>
            <a:r>
              <a:rPr lang="fr-CA" altLang="fr-FR" dirty="0">
                <a:latin typeface="Calibri" panose="020F0502020204030204" pitchFamily="34" charset="0"/>
              </a:rPr>
              <a:t> une devise exprimée en terme de la valeur d’une autre</a:t>
            </a:r>
          </a:p>
          <a:p>
            <a:pPr marL="742950" lvl="1" indent="-285750">
              <a:lnSpc>
                <a:spcPct val="80000"/>
              </a:lnSpc>
              <a:defRPr/>
            </a:pPr>
            <a:r>
              <a:rPr lang="fr-CA" altLang="fr-FR" sz="2300" dirty="0">
                <a:latin typeface="Calibri" panose="020F0502020204030204" pitchFamily="34" charset="0"/>
              </a:rPr>
              <a:t>Ex. 1 USD = 1,24  CAD  OU  1 CAD = 0.81 USD </a:t>
            </a:r>
            <a:r>
              <a:rPr lang="fr-CA" altLang="fr-FR" sz="2000" dirty="0">
                <a:latin typeface="Calibri" panose="020F0502020204030204" pitchFamily="34" charset="0"/>
              </a:rPr>
              <a:t>soit (1/1,24)</a:t>
            </a:r>
            <a:endParaRPr lang="fr-CA" altLang="fr-FR" sz="2300" dirty="0">
              <a:latin typeface="Calibri" panose="020F0502020204030204" pitchFamily="34" charset="0"/>
            </a:endParaRPr>
          </a:p>
          <a:p>
            <a:pPr marL="0" indent="0">
              <a:lnSpc>
                <a:spcPct val="80000"/>
              </a:lnSpc>
              <a:buNone/>
              <a:defRPr/>
            </a:pPr>
            <a:endParaRPr lang="fr-CA" altLang="fr-FR" dirty="0">
              <a:latin typeface="Calibri" panose="020F0502020204030204" pitchFamily="34" charset="0"/>
            </a:endParaRPr>
          </a:p>
          <a:p>
            <a:pPr marL="0" indent="0">
              <a:lnSpc>
                <a:spcPct val="80000"/>
              </a:lnSpc>
              <a:buNone/>
              <a:defRPr/>
            </a:pPr>
            <a:r>
              <a:rPr lang="fr-CA" altLang="fr-FR" dirty="0">
                <a:latin typeface="Calibri" panose="020F0502020204030204" pitchFamily="34" charset="0"/>
              </a:rPr>
              <a:t>Cours :</a:t>
            </a:r>
          </a:p>
          <a:p>
            <a:pPr eaLnBrk="1" hangingPunct="1">
              <a:lnSpc>
                <a:spcPct val="80000"/>
              </a:lnSpc>
              <a:defRPr/>
            </a:pPr>
            <a:r>
              <a:rPr lang="fr-CA" altLang="fr-FR" dirty="0">
                <a:latin typeface="Calibri" panose="020F0502020204030204" pitchFamily="34" charset="0"/>
              </a:rPr>
              <a:t>Fluctuent constamment (déterminé par le marché)</a:t>
            </a:r>
          </a:p>
          <a:p>
            <a:pPr lvl="1">
              <a:lnSpc>
                <a:spcPct val="80000"/>
              </a:lnSpc>
              <a:defRPr/>
            </a:pPr>
            <a:r>
              <a:rPr lang="fr-CA" altLang="fr-FR" dirty="0">
                <a:latin typeface="Calibri" panose="020F0502020204030204" pitchFamily="34" charset="0"/>
              </a:rPr>
              <a:t>Varient en fonction de plusieurs facteurs incluant l’inflation, les taux d’intérêts, les surplus et déficits commerciaux</a:t>
            </a:r>
          </a:p>
          <a:p>
            <a:pPr marL="0" indent="0">
              <a:lnSpc>
                <a:spcPct val="80000"/>
              </a:lnSpc>
              <a:defRPr/>
            </a:pPr>
            <a:endParaRPr lang="fr-CA" altLang="fr-FR" dirty="0">
              <a:latin typeface="Garamond" panose="02020404030301010803" pitchFamily="18" charset="0"/>
            </a:endParaRPr>
          </a:p>
        </p:txBody>
      </p:sp>
      <p:sp>
        <p:nvSpPr>
          <p:cNvPr id="2" name="Espace réservé du numéro de diapositive 1"/>
          <p:cNvSpPr>
            <a:spLocks noGrp="1"/>
          </p:cNvSpPr>
          <p:nvPr>
            <p:ph type="sldNum" sz="quarter" idx="12"/>
          </p:nvPr>
        </p:nvSpPr>
        <p:spPr/>
        <p:txBody>
          <a:bodyPr/>
          <a:lstStyle/>
          <a:p>
            <a:fld id="{992B40CC-DFA5-47EF-8974-C897708E5DF2}" type="slidenum">
              <a:rPr lang="fr-CA" smtClean="0"/>
              <a:t>4</a:t>
            </a:fld>
            <a:endParaRPr lang="fr-CA"/>
          </a:p>
        </p:txBody>
      </p:sp>
      <p:sp>
        <p:nvSpPr>
          <p:cNvPr id="3" name="Espace réservé du pied de page 2">
            <a:extLst>
              <a:ext uri="{FF2B5EF4-FFF2-40B4-BE49-F238E27FC236}">
                <a16:creationId xmlns:a16="http://schemas.microsoft.com/office/drawing/2014/main" id="{7471B303-0ECC-416D-869E-2E5D4C8B057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105010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Définitions</a:t>
            </a:r>
          </a:p>
        </p:txBody>
      </p:sp>
      <p:sp>
        <p:nvSpPr>
          <p:cNvPr id="3" name="Espace réservé du contenu 2"/>
          <p:cNvSpPr>
            <a:spLocks noGrp="1"/>
          </p:cNvSpPr>
          <p:nvPr>
            <p:ph idx="1"/>
          </p:nvPr>
        </p:nvSpPr>
        <p:spPr/>
        <p:txBody>
          <a:bodyPr>
            <a:normAutofit fontScale="85000" lnSpcReduction="20000"/>
          </a:bodyPr>
          <a:lstStyle/>
          <a:p>
            <a:pPr marL="0" indent="0">
              <a:buNone/>
            </a:pPr>
            <a:r>
              <a:rPr lang="fr-CA" b="1" dirty="0"/>
              <a:t>Définitions   </a:t>
            </a:r>
            <a:r>
              <a:rPr lang="fr-CA" dirty="0"/>
              <a:t>(par 8)</a:t>
            </a:r>
          </a:p>
          <a:p>
            <a:pPr marL="0" indent="0">
              <a:buNone/>
            </a:pPr>
            <a:endParaRPr lang="fr-CA" dirty="0"/>
          </a:p>
          <a:p>
            <a:r>
              <a:rPr lang="fr-CA" dirty="0"/>
              <a:t>Le </a:t>
            </a:r>
            <a:r>
              <a:rPr lang="fr-CA" b="1" i="1" dirty="0"/>
              <a:t>cours de change</a:t>
            </a:r>
            <a:r>
              <a:rPr lang="fr-CA" dirty="0"/>
              <a:t> est le cours auquel sont échangées deux monnaies entre elles.</a:t>
            </a:r>
          </a:p>
          <a:p>
            <a:r>
              <a:rPr lang="fr-CA" dirty="0"/>
              <a:t> Le </a:t>
            </a:r>
            <a:r>
              <a:rPr lang="fr-CA" i="1" dirty="0">
                <a:solidFill>
                  <a:srgbClr val="0070C0"/>
                </a:solidFill>
              </a:rPr>
              <a:t>cours de change au comptant</a:t>
            </a:r>
            <a:r>
              <a:rPr lang="fr-CA" dirty="0"/>
              <a:t> est le cours de change pour une livraison immédiate.</a:t>
            </a:r>
          </a:p>
          <a:p>
            <a:r>
              <a:rPr lang="fr-CA" dirty="0"/>
              <a:t>Le </a:t>
            </a:r>
            <a:r>
              <a:rPr lang="fr-CA" i="1" dirty="0">
                <a:solidFill>
                  <a:srgbClr val="0070C0"/>
                </a:solidFill>
              </a:rPr>
              <a:t>cours de clôture</a:t>
            </a:r>
            <a:r>
              <a:rPr lang="fr-CA" dirty="0"/>
              <a:t> est le cours de change au comptant à la fin de la période de présentation de l'information financière.</a:t>
            </a:r>
          </a:p>
          <a:p>
            <a:r>
              <a:rPr lang="fr-CA" dirty="0"/>
              <a:t>L'</a:t>
            </a:r>
            <a:r>
              <a:rPr lang="fr-CA" i="1" dirty="0">
                <a:solidFill>
                  <a:srgbClr val="0070C0"/>
                </a:solidFill>
              </a:rPr>
              <a:t>écart de change</a:t>
            </a:r>
            <a:r>
              <a:rPr lang="fr-CA" dirty="0"/>
              <a:t> est l'écart provenant de la conversion d'un nombre donné d'unités d'une monnaie dans une autre monnaie à des cours de change différents.</a:t>
            </a:r>
          </a:p>
          <a:p>
            <a:endParaRPr lang="fr-CA" dirty="0"/>
          </a:p>
          <a:p>
            <a:pPr marL="0" indent="0">
              <a:buNone/>
            </a:pPr>
            <a:r>
              <a:rPr lang="fr-CA" dirty="0"/>
              <a:t>   </a:t>
            </a:r>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5</a:t>
            </a:fld>
            <a:endParaRPr lang="fr-CA"/>
          </a:p>
        </p:txBody>
      </p:sp>
      <p:sp>
        <p:nvSpPr>
          <p:cNvPr id="4" name="Espace réservé du pied de page 3">
            <a:extLst>
              <a:ext uri="{FF2B5EF4-FFF2-40B4-BE49-F238E27FC236}">
                <a16:creationId xmlns:a16="http://schemas.microsoft.com/office/drawing/2014/main" id="{8BB5A5B3-EA5E-451A-807D-1C4CBE2C2173}"/>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960704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Définitions</a:t>
            </a:r>
          </a:p>
        </p:txBody>
      </p:sp>
      <p:sp>
        <p:nvSpPr>
          <p:cNvPr id="3" name="Espace réservé du contenu 2"/>
          <p:cNvSpPr>
            <a:spLocks noGrp="1"/>
          </p:cNvSpPr>
          <p:nvPr>
            <p:ph idx="1"/>
          </p:nvPr>
        </p:nvSpPr>
        <p:spPr/>
        <p:txBody>
          <a:bodyPr>
            <a:normAutofit/>
          </a:bodyPr>
          <a:lstStyle/>
          <a:p>
            <a:pPr marL="0" indent="0">
              <a:buNone/>
            </a:pPr>
            <a:r>
              <a:rPr lang="fr-CA" b="1" dirty="0"/>
              <a:t>Définitions   </a:t>
            </a:r>
            <a:r>
              <a:rPr lang="fr-CA" dirty="0"/>
              <a:t>(par 8)</a:t>
            </a:r>
          </a:p>
          <a:p>
            <a:pPr marL="0" indent="0">
              <a:buNone/>
            </a:pPr>
            <a:endParaRPr lang="fr-CA" sz="1200" dirty="0"/>
          </a:p>
          <a:p>
            <a:r>
              <a:rPr lang="fr-CA" sz="2400" dirty="0"/>
              <a:t>Une </a:t>
            </a:r>
            <a:r>
              <a:rPr lang="fr-CA" sz="2400" b="1" i="1" dirty="0"/>
              <a:t>monnaie étrangère</a:t>
            </a:r>
            <a:r>
              <a:rPr lang="fr-CA" sz="2400" b="1" dirty="0"/>
              <a:t> </a:t>
            </a:r>
            <a:r>
              <a:rPr lang="fr-CA" sz="2400" dirty="0"/>
              <a:t>est une monnaie différente de la monnaie fonctionnelle de l'entité.</a:t>
            </a:r>
          </a:p>
          <a:p>
            <a:r>
              <a:rPr lang="fr-CA" sz="2400" dirty="0"/>
              <a:t>La </a:t>
            </a:r>
            <a:r>
              <a:rPr lang="fr-CA" sz="2400" i="1" dirty="0">
                <a:solidFill>
                  <a:srgbClr val="0070C0"/>
                </a:solidFill>
              </a:rPr>
              <a:t>monnaie fonctionnelle</a:t>
            </a:r>
            <a:r>
              <a:rPr lang="fr-CA" sz="2400" dirty="0"/>
              <a:t> est la monnaie de l'environnement économique principal dans lequel l'entité exerce ses activités.</a:t>
            </a:r>
          </a:p>
          <a:p>
            <a:r>
              <a:rPr lang="fr-CA" sz="2400" dirty="0"/>
              <a:t>La </a:t>
            </a:r>
            <a:r>
              <a:rPr lang="fr-CA" sz="2400" i="1" dirty="0">
                <a:solidFill>
                  <a:srgbClr val="0070C0"/>
                </a:solidFill>
              </a:rPr>
              <a:t>monnaie de présentation</a:t>
            </a:r>
            <a:r>
              <a:rPr lang="fr-CA" sz="2400" dirty="0"/>
              <a:t> est la monnaie utilisée pour la présentation des états financiers.</a:t>
            </a:r>
          </a:p>
          <a:p>
            <a:pPr lvl="1"/>
            <a:r>
              <a:rPr lang="fr-CA" sz="2000" dirty="0"/>
              <a:t>Pour les fins de SCO5240, ce sera le dollar canadien</a:t>
            </a:r>
            <a:endParaRPr lang="fr-CA" dirty="0"/>
          </a:p>
          <a:p>
            <a:pPr marL="0" indent="0">
              <a:buNone/>
            </a:pPr>
            <a:endParaRPr lang="fr-CA" dirty="0"/>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6</a:t>
            </a:fld>
            <a:endParaRPr lang="fr-CA"/>
          </a:p>
        </p:txBody>
      </p:sp>
      <p:sp>
        <p:nvSpPr>
          <p:cNvPr id="4" name="Espace réservé du pied de page 3">
            <a:extLst>
              <a:ext uri="{FF2B5EF4-FFF2-40B4-BE49-F238E27FC236}">
                <a16:creationId xmlns:a16="http://schemas.microsoft.com/office/drawing/2014/main" id="{77C417FD-B10C-4EF1-8539-7BB976DA1B4D}"/>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752536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Définitions</a:t>
            </a:r>
          </a:p>
        </p:txBody>
      </p:sp>
      <p:sp>
        <p:nvSpPr>
          <p:cNvPr id="3" name="Espace réservé du contenu 2"/>
          <p:cNvSpPr>
            <a:spLocks noGrp="1"/>
          </p:cNvSpPr>
          <p:nvPr>
            <p:ph idx="1"/>
          </p:nvPr>
        </p:nvSpPr>
        <p:spPr/>
        <p:txBody>
          <a:bodyPr>
            <a:normAutofit fontScale="85000" lnSpcReduction="20000"/>
          </a:bodyPr>
          <a:lstStyle/>
          <a:p>
            <a:pPr marL="0" indent="0">
              <a:buNone/>
            </a:pPr>
            <a:r>
              <a:rPr lang="fr-CA" b="1" dirty="0"/>
              <a:t>Définitions   </a:t>
            </a:r>
            <a:r>
              <a:rPr lang="fr-CA" dirty="0"/>
              <a:t>(par 8)</a:t>
            </a:r>
          </a:p>
          <a:p>
            <a:pPr marL="0" indent="0">
              <a:buNone/>
            </a:pPr>
            <a:endParaRPr lang="fr-CA" sz="1600" dirty="0"/>
          </a:p>
          <a:p>
            <a:r>
              <a:rPr lang="fr-CA" dirty="0"/>
              <a:t>Un </a:t>
            </a:r>
            <a:r>
              <a:rPr lang="fr-CA" i="1" dirty="0">
                <a:solidFill>
                  <a:srgbClr val="0070C0"/>
                </a:solidFill>
              </a:rPr>
              <a:t>établissement à l'étranger</a:t>
            </a:r>
            <a:r>
              <a:rPr lang="fr-CA" dirty="0"/>
              <a:t> est une entité qui est une filiale, une entreprise associée, un partenariat ou une succursale de l'entité présentant l'information financière, et dont les activités sont basées ou conduites dans un pays ou dans une monnaie autres que ceux de l'entité présentant l'information financière.</a:t>
            </a:r>
          </a:p>
          <a:p>
            <a:r>
              <a:rPr lang="fr-CA" dirty="0"/>
              <a:t>L'</a:t>
            </a:r>
            <a:r>
              <a:rPr lang="fr-CA" b="1" i="1" dirty="0"/>
              <a:t>investissement net dans un établissement à l'étranger</a:t>
            </a:r>
            <a:r>
              <a:rPr lang="fr-CA" dirty="0"/>
              <a:t> est le montant de la participation de l'entité présentant l'information financière dans l'actif net de cet établissement.</a:t>
            </a:r>
          </a:p>
          <a:p>
            <a:endParaRPr lang="fr-CA" dirty="0"/>
          </a:p>
          <a:p>
            <a:r>
              <a:rPr lang="fr-CA" dirty="0"/>
              <a:t>Les </a:t>
            </a:r>
            <a:r>
              <a:rPr lang="fr-CA" i="1" dirty="0">
                <a:solidFill>
                  <a:srgbClr val="0070C0"/>
                </a:solidFill>
              </a:rPr>
              <a:t>éléments monétaires</a:t>
            </a:r>
            <a:r>
              <a:rPr lang="fr-CA" dirty="0"/>
              <a:t> sont les unités monétaires détenues et les éléments d'actif et de passif devant être reçus ou payés sous la forme d'un nombre d'unités monétaires déterminé ou déterminable.</a:t>
            </a:r>
          </a:p>
          <a:p>
            <a:pPr marL="0" indent="0">
              <a:buNone/>
            </a:pPr>
            <a:r>
              <a:rPr lang="fr-CA" dirty="0"/>
              <a:t>     </a:t>
            </a:r>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7</a:t>
            </a:fld>
            <a:endParaRPr lang="fr-CA"/>
          </a:p>
        </p:txBody>
      </p:sp>
      <p:sp>
        <p:nvSpPr>
          <p:cNvPr id="4" name="Espace réservé du pied de page 3">
            <a:extLst>
              <a:ext uri="{FF2B5EF4-FFF2-40B4-BE49-F238E27FC236}">
                <a16:creationId xmlns:a16="http://schemas.microsoft.com/office/drawing/2014/main" id="{8131235E-0294-4DB8-8014-D9B19A7E806E}"/>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279881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re 1"/>
          <p:cNvSpPr>
            <a:spLocks noGrp="1"/>
          </p:cNvSpPr>
          <p:nvPr>
            <p:ph type="title" idx="4294967295"/>
          </p:nvPr>
        </p:nvSpPr>
        <p:spPr/>
        <p:txBody>
          <a:bodyPr anchor="ctr"/>
          <a:lstStyle/>
          <a:p>
            <a:pPr algn="ctr" eaLnBrk="1" hangingPunct="1"/>
            <a:r>
              <a:rPr lang="fr-CA" altLang="fr-FR" sz="3600" dirty="0">
                <a:latin typeface="Calibri" panose="020F0502020204030204" pitchFamily="34" charset="0"/>
              </a:rPr>
              <a:t>Objectifs des normes</a:t>
            </a:r>
          </a:p>
        </p:txBody>
      </p:sp>
      <p:sp>
        <p:nvSpPr>
          <p:cNvPr id="15363" name="Espace réservé du contenu 2"/>
          <p:cNvSpPr>
            <a:spLocks noGrp="1"/>
          </p:cNvSpPr>
          <p:nvPr>
            <p:ph idx="4294967295"/>
          </p:nvPr>
        </p:nvSpPr>
        <p:spPr/>
        <p:txBody>
          <a:bodyPr/>
          <a:lstStyle/>
          <a:p>
            <a:pPr eaLnBrk="1" hangingPunct="1">
              <a:lnSpc>
                <a:spcPct val="90000"/>
              </a:lnSpc>
            </a:pPr>
            <a:r>
              <a:rPr lang="fr-CA" altLang="fr-FR" dirty="0">
                <a:latin typeface="Calibri" panose="020F0502020204030204" pitchFamily="34" charset="0"/>
              </a:rPr>
              <a:t>Exprimer les opérations en devises d'une façon compatible avec le traitement comptable des opérations effectuées au Canada</a:t>
            </a:r>
          </a:p>
          <a:p>
            <a:pPr marL="0" indent="0" eaLnBrk="1" hangingPunct="1">
              <a:lnSpc>
                <a:spcPct val="90000"/>
              </a:lnSpc>
              <a:buNone/>
            </a:pPr>
            <a:endParaRPr lang="fr-CA" altLang="fr-FR" dirty="0">
              <a:latin typeface="Calibri" panose="020F0502020204030204" pitchFamily="34" charset="0"/>
            </a:endParaRPr>
          </a:p>
          <a:p>
            <a:pPr eaLnBrk="1" hangingPunct="1">
              <a:lnSpc>
                <a:spcPct val="90000"/>
              </a:lnSpc>
            </a:pPr>
            <a:r>
              <a:rPr lang="fr-CA" altLang="fr-FR" dirty="0">
                <a:latin typeface="Calibri" panose="020F0502020204030204" pitchFamily="34" charset="0"/>
              </a:rPr>
              <a:t>Exprimer en dollars canadiens </a:t>
            </a:r>
            <a:r>
              <a:rPr lang="fr-CA" altLang="fr-FR" sz="2000" dirty="0">
                <a:latin typeface="Calibri" panose="020F0502020204030204" pitchFamily="34" charset="0"/>
              </a:rPr>
              <a:t>(ou autre devise)</a:t>
            </a:r>
            <a:r>
              <a:rPr lang="fr-CA" altLang="fr-FR" dirty="0">
                <a:latin typeface="Calibri" panose="020F0502020204030204" pitchFamily="34" charset="0"/>
              </a:rPr>
              <a:t> les états financiers de l'établissement étranger, de façon à présenter le mieux possible l'exposition de l'entité aux variations du cours du change, compte tenu des faits et circonstances économiques</a:t>
            </a:r>
          </a:p>
        </p:txBody>
      </p:sp>
      <p:sp>
        <p:nvSpPr>
          <p:cNvPr id="2" name="Espace réservé du numéro de diapositive 1"/>
          <p:cNvSpPr>
            <a:spLocks noGrp="1"/>
          </p:cNvSpPr>
          <p:nvPr>
            <p:ph type="sldNum" sz="quarter" idx="12"/>
          </p:nvPr>
        </p:nvSpPr>
        <p:spPr/>
        <p:txBody>
          <a:bodyPr/>
          <a:lstStyle/>
          <a:p>
            <a:fld id="{992B40CC-DFA5-47EF-8974-C897708E5DF2}" type="slidenum">
              <a:rPr lang="fr-CA" smtClean="0"/>
              <a:t>8</a:t>
            </a:fld>
            <a:endParaRPr lang="fr-CA"/>
          </a:p>
        </p:txBody>
      </p:sp>
      <p:sp>
        <p:nvSpPr>
          <p:cNvPr id="3" name="Espace réservé du pied de page 2">
            <a:extLst>
              <a:ext uri="{FF2B5EF4-FFF2-40B4-BE49-F238E27FC236}">
                <a16:creationId xmlns:a16="http://schemas.microsoft.com/office/drawing/2014/main" id="{E0E231BA-69F0-4E3D-8477-BB818B37B71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913724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b="1" dirty="0">
                <a:solidFill>
                  <a:srgbClr val="0070C0"/>
                </a:solidFill>
              </a:rPr>
              <a:t>Pour les transactions en monnaie étrangère</a:t>
            </a:r>
            <a:endParaRPr lang="fr-CA" b="1" dirty="0">
              <a:solidFill>
                <a:srgbClr val="0070C0"/>
              </a:solidFill>
            </a:endParaRPr>
          </a:p>
        </p:txBody>
      </p:sp>
      <p:sp>
        <p:nvSpPr>
          <p:cNvPr id="3" name="Espace réservé du contenu 2"/>
          <p:cNvSpPr>
            <a:spLocks noGrp="1"/>
          </p:cNvSpPr>
          <p:nvPr>
            <p:ph idx="1"/>
          </p:nvPr>
        </p:nvSpPr>
        <p:spPr>
          <a:xfrm>
            <a:off x="838200" y="1690687"/>
            <a:ext cx="10515600" cy="4860583"/>
          </a:xfrm>
        </p:spPr>
        <p:txBody>
          <a:bodyPr>
            <a:normAutofit fontScale="77500" lnSpcReduction="20000"/>
          </a:bodyPr>
          <a:lstStyle/>
          <a:p>
            <a:pPr marL="0" indent="0">
              <a:buNone/>
            </a:pPr>
            <a:r>
              <a:rPr lang="fr-CA" b="1" dirty="0"/>
              <a:t>Comptabilisation initiale</a:t>
            </a:r>
          </a:p>
          <a:p>
            <a:pPr marL="0" indent="0">
              <a:buNone/>
            </a:pPr>
            <a:r>
              <a:rPr lang="fr-CA" dirty="0"/>
              <a:t>20     Une transaction en monnaie étrangère est une transaction qui est libellée ou qui doit être dénouée en monnaie étrangère, ce qui comprend les transactions par lesquelles l'entité :</a:t>
            </a:r>
          </a:p>
          <a:p>
            <a:pPr marL="0" indent="0">
              <a:buNone/>
            </a:pPr>
            <a:r>
              <a:rPr lang="fr-CA" dirty="0"/>
              <a:t>(a)     achète ou vend des biens ou services dont le prix est libellé dans une monnaie étrangère ;</a:t>
            </a:r>
          </a:p>
          <a:p>
            <a:pPr marL="0" indent="0">
              <a:buNone/>
            </a:pPr>
            <a:r>
              <a:rPr lang="fr-CA" dirty="0"/>
              <a:t>(b)     emprunte ou prête des fonds, lorsque les montants à payer ou à recevoir sont libellés dans une monnaie étrangère ; ou</a:t>
            </a:r>
          </a:p>
          <a:p>
            <a:pPr marL="0" indent="0">
              <a:buNone/>
            </a:pPr>
            <a:r>
              <a:rPr lang="fr-CA" dirty="0"/>
              <a:t>(c)     de toute autre façon, acquiert ou cède des actifs ou contracte ou règle des passifs, libellés dans une monnaie étrangère.</a:t>
            </a:r>
          </a:p>
          <a:p>
            <a:pPr marL="0" indent="0">
              <a:buNone/>
            </a:pPr>
            <a:endParaRPr lang="fr-CA" dirty="0"/>
          </a:p>
          <a:p>
            <a:pPr marL="0" indent="0">
              <a:buNone/>
            </a:pPr>
            <a:r>
              <a:rPr lang="fr-CA" b="1" dirty="0"/>
              <a:t>21     Une transaction en monnaie étrangère doit être enregistrée, lors de sa comptabilisation initiale dans la monnaie fonctionnelle, en appliquant au montant en monnaie étrangère le cours de change au comptant entre la monnaie fonctionnelle et la monnaie étrangère à la date de la transaction.</a:t>
            </a:r>
          </a:p>
          <a:p>
            <a:pPr>
              <a:buFont typeface="Wingdings" panose="05000000000000000000" pitchFamily="2" charset="2"/>
              <a:buChar char="Ø"/>
            </a:pPr>
            <a:r>
              <a:rPr lang="fr-CA" dirty="0"/>
              <a:t>Cours moyen accepté si pas de fluctuations importantes des cours</a:t>
            </a:r>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9</a:t>
            </a:fld>
            <a:endParaRPr lang="fr-CA"/>
          </a:p>
        </p:txBody>
      </p:sp>
      <p:sp>
        <p:nvSpPr>
          <p:cNvPr id="4" name="Espace réservé du pied de page 3">
            <a:extLst>
              <a:ext uri="{FF2B5EF4-FFF2-40B4-BE49-F238E27FC236}">
                <a16:creationId xmlns:a16="http://schemas.microsoft.com/office/drawing/2014/main" id="{BE11F13C-0822-499C-BA1B-F7EBBD9C5D99}"/>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112791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Pour les transactions en monnaie étrangère</a:t>
            </a:r>
            <a:endParaRPr lang="fr-CA" dirty="0"/>
          </a:p>
        </p:txBody>
      </p:sp>
      <p:sp>
        <p:nvSpPr>
          <p:cNvPr id="3" name="Espace réservé du contenu 2"/>
          <p:cNvSpPr>
            <a:spLocks noGrp="1"/>
          </p:cNvSpPr>
          <p:nvPr>
            <p:ph idx="1"/>
          </p:nvPr>
        </p:nvSpPr>
        <p:spPr>
          <a:xfrm>
            <a:off x="838200" y="1837200"/>
            <a:ext cx="10515600" cy="4351338"/>
          </a:xfrm>
        </p:spPr>
        <p:txBody>
          <a:bodyPr>
            <a:normAutofit/>
          </a:bodyPr>
          <a:lstStyle/>
          <a:p>
            <a:pPr marL="0" indent="0">
              <a:buNone/>
            </a:pPr>
            <a:r>
              <a:rPr lang="fr-CA" sz="2400" b="1" dirty="0"/>
              <a:t>Comptabilisation à chaque clôture ultérieure</a:t>
            </a:r>
          </a:p>
          <a:p>
            <a:pPr marL="0" indent="0">
              <a:buNone/>
            </a:pPr>
            <a:r>
              <a:rPr lang="fr-CA" sz="2400" dirty="0"/>
              <a:t>23     À chaque clôture :</a:t>
            </a:r>
          </a:p>
          <a:p>
            <a:pPr marL="0" indent="0">
              <a:buNone/>
            </a:pPr>
            <a:r>
              <a:rPr lang="fr-CA" sz="2400" dirty="0"/>
              <a:t>(a)     les éléments monétaires en monnaie étrangère doivent être convertis au cours de clôture ;</a:t>
            </a:r>
          </a:p>
          <a:p>
            <a:pPr marL="0" indent="0">
              <a:buNone/>
            </a:pPr>
            <a:r>
              <a:rPr lang="fr-CA" sz="2400" dirty="0"/>
              <a:t>(b)     les éléments non monétaires en monnaie étrangère qui sont évalués au coût historique doivent être convertis au cours de change à la date de la transaction ; et</a:t>
            </a:r>
          </a:p>
          <a:p>
            <a:pPr marL="0" indent="0">
              <a:buNone/>
            </a:pPr>
            <a:r>
              <a:rPr lang="fr-CA" sz="2400" dirty="0"/>
              <a:t>(c)     les éléments non monétaires en monnaie étrangère qui sont évalués à la juste valeur doivent être convertis au cours de change à la date à laquelle cette juste valeur a été évaluée.</a:t>
            </a:r>
          </a:p>
          <a:p>
            <a:pPr marL="0" indent="0">
              <a:buNone/>
            </a:pPr>
            <a:endParaRPr lang="fr-CA" dirty="0"/>
          </a:p>
          <a:p>
            <a:pPr marL="0" indent="0">
              <a:buNone/>
            </a:pPr>
            <a:endParaRPr lang="fr-CA" dirty="0"/>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10</a:t>
            </a:fld>
            <a:endParaRPr lang="fr-CA"/>
          </a:p>
        </p:txBody>
      </p:sp>
      <p:sp>
        <p:nvSpPr>
          <p:cNvPr id="4" name="Espace réservé du pied de page 3">
            <a:extLst>
              <a:ext uri="{FF2B5EF4-FFF2-40B4-BE49-F238E27FC236}">
                <a16:creationId xmlns:a16="http://schemas.microsoft.com/office/drawing/2014/main" id="{B5509B47-4203-4382-B406-2E11569959A9}"/>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419915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re 1"/>
          <p:cNvSpPr>
            <a:spLocks noGrp="1"/>
          </p:cNvSpPr>
          <p:nvPr>
            <p:ph type="title" idx="4294967295"/>
          </p:nvPr>
        </p:nvSpPr>
        <p:spPr>
          <a:xfrm>
            <a:off x="844951" y="260350"/>
            <a:ext cx="10382491" cy="1143000"/>
          </a:xfrm>
        </p:spPr>
        <p:txBody>
          <a:bodyPr anchor="ctr"/>
          <a:lstStyle/>
          <a:p>
            <a:pPr algn="ctr"/>
            <a:r>
              <a:rPr lang="fr-CA" sz="3600" dirty="0"/>
              <a:t>Pour les transactions en monnaie étrangère</a:t>
            </a:r>
            <a:br>
              <a:rPr lang="fr-CA" altLang="fr-FR" sz="3600" dirty="0">
                <a:latin typeface="Calibri" panose="020F0502020204030204" pitchFamily="34" charset="0"/>
              </a:rPr>
            </a:br>
            <a:r>
              <a:rPr lang="fr-CA" altLang="fr-FR" sz="2800" dirty="0">
                <a:latin typeface="Calibri" panose="020F0502020204030204" pitchFamily="34" charset="0"/>
              </a:rPr>
              <a:t>Conversion des soldes à l’état de la situation financière</a:t>
            </a:r>
            <a:endParaRPr lang="fr-CA" altLang="fr-FR" sz="3600" dirty="0">
              <a:latin typeface="Calibri" panose="020F0502020204030204" pitchFamily="34" charset="0"/>
            </a:endParaRPr>
          </a:p>
        </p:txBody>
      </p:sp>
      <p:sp>
        <p:nvSpPr>
          <p:cNvPr id="24579" name="AutoShape 5"/>
          <p:cNvSpPr>
            <a:spLocks noChangeArrowheads="1"/>
          </p:cNvSpPr>
          <p:nvPr/>
        </p:nvSpPr>
        <p:spPr bwMode="auto">
          <a:xfrm>
            <a:off x="8688389" y="3500438"/>
            <a:ext cx="358775" cy="576262"/>
          </a:xfrm>
          <a:prstGeom prst="downArrow">
            <a:avLst>
              <a:gd name="adj1" fmla="val 50000"/>
              <a:gd name="adj2" fmla="val 40155"/>
            </a:avLst>
          </a:prstGeom>
          <a:solidFill>
            <a:schemeClr val="tx2"/>
          </a:solidFill>
          <a:ln w="9525">
            <a:solidFill>
              <a:schemeClr val="tx2"/>
            </a:solidFill>
            <a:miter lim="800000"/>
            <a:headEnd/>
            <a:tailEnd/>
          </a:ln>
        </p:spPr>
        <p:txBody>
          <a:bodyPr wrap="none" lIns="63500" tIns="0" rIns="0" bIns="0" anchor="ctr"/>
          <a:lstStyle>
            <a:lvl1pPr>
              <a:defRPr>
                <a:solidFill>
                  <a:schemeClr val="tx1"/>
                </a:solidFill>
                <a:latin typeface="Arial" panose="020B0604020202020204" pitchFamily="34" charset="0"/>
                <a:ea typeface="ＭＳ Ｐゴシック" panose="020B0600070205080204" pitchFamily="34" charset="-128"/>
              </a:defRPr>
            </a:lvl1pPr>
            <a:lvl2pPr marL="37931725" indent="-37474525">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fr-CA" altLang="fr-FR">
              <a:latin typeface="Calibri" panose="020F0502020204030204" pitchFamily="34" charset="0"/>
            </a:endParaRPr>
          </a:p>
        </p:txBody>
      </p:sp>
      <p:sp>
        <p:nvSpPr>
          <p:cNvPr id="24580" name="AutoShape 6"/>
          <p:cNvSpPr>
            <a:spLocks noChangeArrowheads="1"/>
          </p:cNvSpPr>
          <p:nvPr/>
        </p:nvSpPr>
        <p:spPr bwMode="auto">
          <a:xfrm>
            <a:off x="6167439" y="3500438"/>
            <a:ext cx="358775" cy="576262"/>
          </a:xfrm>
          <a:prstGeom prst="downArrow">
            <a:avLst>
              <a:gd name="adj1" fmla="val 50000"/>
              <a:gd name="adj2" fmla="val 40155"/>
            </a:avLst>
          </a:prstGeom>
          <a:solidFill>
            <a:schemeClr val="tx2"/>
          </a:solidFill>
          <a:ln w="9525">
            <a:solidFill>
              <a:schemeClr val="tx2"/>
            </a:solidFill>
            <a:miter lim="800000"/>
            <a:headEnd/>
            <a:tailEnd/>
          </a:ln>
        </p:spPr>
        <p:txBody>
          <a:bodyPr wrap="none" lIns="63500" tIns="0" rIns="0" bIns="0" anchor="ctr"/>
          <a:lstStyle>
            <a:lvl1pPr>
              <a:defRPr>
                <a:solidFill>
                  <a:schemeClr val="tx1"/>
                </a:solidFill>
                <a:latin typeface="Arial" panose="020B0604020202020204" pitchFamily="34" charset="0"/>
                <a:ea typeface="ＭＳ Ｐゴシック" panose="020B0600070205080204" pitchFamily="34" charset="-128"/>
              </a:defRPr>
            </a:lvl1pPr>
            <a:lvl2pPr marL="37931725" indent="-37474525">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fr-CA" altLang="fr-FR">
              <a:latin typeface="Calibri" panose="020F0502020204030204" pitchFamily="34" charset="0"/>
            </a:endParaRPr>
          </a:p>
        </p:txBody>
      </p:sp>
      <p:sp>
        <p:nvSpPr>
          <p:cNvPr id="24581" name="Text Box 7"/>
          <p:cNvSpPr txBox="1">
            <a:spLocks noChangeArrowheads="1"/>
          </p:cNvSpPr>
          <p:nvPr/>
        </p:nvSpPr>
        <p:spPr bwMode="gray">
          <a:xfrm>
            <a:off x="2063750" y="1928814"/>
            <a:ext cx="2952750" cy="625475"/>
          </a:xfrm>
          <a:prstGeom prst="rect">
            <a:avLst/>
          </a:prstGeom>
          <a:solidFill>
            <a:srgbClr val="FF99CC"/>
          </a:solidFill>
          <a:ln w="9525">
            <a:solidFill>
              <a:schemeClr val="tx1"/>
            </a:solidFill>
            <a:miter lim="800000"/>
            <a:headEnd/>
            <a:tailEnd/>
          </a:ln>
        </p:spPr>
        <p:txBody>
          <a:bodyPr lIns="0" tIns="187200" rIns="0" bIns="91440" anchor="ctr">
            <a:spAutoFit/>
          </a:bodyPr>
          <a:lstStyle>
            <a:lvl1pPr>
              <a:defRPr>
                <a:solidFill>
                  <a:schemeClr val="tx1"/>
                </a:solidFill>
                <a:latin typeface="Arial" panose="020B0604020202020204" pitchFamily="34" charset="0"/>
                <a:ea typeface="ＭＳ Ｐゴシック" panose="020B0600070205080204" pitchFamily="34" charset="-128"/>
              </a:defRPr>
            </a:lvl1pPr>
            <a:lvl2pPr marL="37931725" indent="-37474525">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92000"/>
              </a:lnSpc>
              <a:spcBef>
                <a:spcPct val="50000"/>
              </a:spcBef>
            </a:pPr>
            <a:r>
              <a:rPr lang="fr-CA" altLang="fr-FR" sz="2400">
                <a:solidFill>
                  <a:srgbClr val="000000"/>
                </a:solidFill>
                <a:latin typeface="Calibri" panose="020F0502020204030204" pitchFamily="34" charset="0"/>
                <a:cs typeface="Arial" panose="020B0604020202020204" pitchFamily="34" charset="0"/>
              </a:rPr>
              <a:t>Élément monétaire</a:t>
            </a:r>
            <a:r>
              <a:rPr lang="en-GB" altLang="fr-FR" sz="2400">
                <a:solidFill>
                  <a:srgbClr val="000000"/>
                </a:solidFill>
                <a:latin typeface="Calibri" panose="020F0502020204030204" pitchFamily="34" charset="0"/>
                <a:cs typeface="Arial" panose="020B0604020202020204" pitchFamily="34" charset="0"/>
              </a:rPr>
              <a:t> </a:t>
            </a:r>
          </a:p>
        </p:txBody>
      </p:sp>
      <p:sp>
        <p:nvSpPr>
          <p:cNvPr id="24582" name="Text Box 7"/>
          <p:cNvSpPr txBox="1">
            <a:spLocks noChangeArrowheads="1"/>
          </p:cNvSpPr>
          <p:nvPr/>
        </p:nvSpPr>
        <p:spPr bwMode="gray">
          <a:xfrm>
            <a:off x="5303839" y="1916114"/>
            <a:ext cx="4752975" cy="625475"/>
          </a:xfrm>
          <a:prstGeom prst="rect">
            <a:avLst/>
          </a:prstGeom>
          <a:solidFill>
            <a:srgbClr val="FF99CC"/>
          </a:solidFill>
          <a:ln w="9525">
            <a:solidFill>
              <a:schemeClr val="tx1"/>
            </a:solidFill>
            <a:miter lim="800000"/>
            <a:headEnd/>
            <a:tailEnd/>
          </a:ln>
        </p:spPr>
        <p:txBody>
          <a:bodyPr lIns="0" tIns="187200" rIns="0" bIns="91440" anchor="ctr">
            <a:spAutoFit/>
          </a:bodyPr>
          <a:lstStyle>
            <a:lvl1pPr>
              <a:defRPr>
                <a:solidFill>
                  <a:schemeClr val="tx1"/>
                </a:solidFill>
                <a:latin typeface="Arial" panose="020B0604020202020204" pitchFamily="34" charset="0"/>
                <a:ea typeface="ＭＳ Ｐゴシック" panose="020B0600070205080204" pitchFamily="34" charset="-128"/>
              </a:defRPr>
            </a:lvl1pPr>
            <a:lvl2pPr marL="37931725" indent="-37474525">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92000"/>
              </a:lnSpc>
              <a:spcBef>
                <a:spcPct val="50000"/>
              </a:spcBef>
            </a:pPr>
            <a:r>
              <a:rPr lang="fr-CA" altLang="fr-FR" sz="2400">
                <a:solidFill>
                  <a:srgbClr val="000000"/>
                </a:solidFill>
                <a:latin typeface="Calibri" panose="020F0502020204030204" pitchFamily="34" charset="0"/>
                <a:cs typeface="Arial" panose="020B0604020202020204" pitchFamily="34" charset="0"/>
              </a:rPr>
              <a:t>Élément non monétaire</a:t>
            </a:r>
            <a:r>
              <a:rPr lang="en-GB" altLang="fr-FR" sz="2400">
                <a:solidFill>
                  <a:srgbClr val="000000"/>
                </a:solidFill>
                <a:latin typeface="Calibri" panose="020F0502020204030204" pitchFamily="34" charset="0"/>
                <a:cs typeface="Arial" panose="020B0604020202020204" pitchFamily="34" charset="0"/>
              </a:rPr>
              <a:t> </a:t>
            </a:r>
          </a:p>
        </p:txBody>
      </p:sp>
      <p:sp>
        <p:nvSpPr>
          <p:cNvPr id="24583" name="Text Box 7"/>
          <p:cNvSpPr txBox="1">
            <a:spLocks noChangeArrowheads="1"/>
          </p:cNvSpPr>
          <p:nvPr/>
        </p:nvSpPr>
        <p:spPr bwMode="gray">
          <a:xfrm>
            <a:off x="5303839" y="2708276"/>
            <a:ext cx="2016125" cy="625475"/>
          </a:xfrm>
          <a:prstGeom prst="rect">
            <a:avLst/>
          </a:prstGeom>
          <a:solidFill>
            <a:srgbClr val="FFCC00"/>
          </a:solidFill>
          <a:ln w="9525">
            <a:solidFill>
              <a:schemeClr val="tx1"/>
            </a:solidFill>
            <a:miter lim="800000"/>
            <a:headEnd/>
            <a:tailEnd/>
          </a:ln>
        </p:spPr>
        <p:txBody>
          <a:bodyPr lIns="0" tIns="187200" rIns="0" bIns="91440" anchor="ctr">
            <a:spAutoFit/>
          </a:bodyPr>
          <a:lstStyle>
            <a:lvl1pPr>
              <a:defRPr>
                <a:solidFill>
                  <a:schemeClr val="tx1"/>
                </a:solidFill>
                <a:latin typeface="Arial" panose="020B0604020202020204" pitchFamily="34" charset="0"/>
                <a:ea typeface="ＭＳ Ｐゴシック" panose="020B0600070205080204" pitchFamily="34" charset="-128"/>
              </a:defRPr>
            </a:lvl1pPr>
            <a:lvl2pPr marL="37931725" indent="-37474525">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92000"/>
              </a:lnSpc>
              <a:spcBef>
                <a:spcPct val="50000"/>
              </a:spcBef>
            </a:pPr>
            <a:r>
              <a:rPr lang="fr-CA" altLang="fr-FR" sz="2400">
                <a:solidFill>
                  <a:srgbClr val="000000"/>
                </a:solidFill>
                <a:latin typeface="Calibri" panose="020F0502020204030204" pitchFamily="34" charset="0"/>
                <a:cs typeface="Arial" panose="020B0604020202020204" pitchFamily="34" charset="0"/>
              </a:rPr>
              <a:t>Évalué au coût</a:t>
            </a:r>
            <a:r>
              <a:rPr lang="en-GB" altLang="fr-FR" sz="2400">
                <a:solidFill>
                  <a:srgbClr val="000000"/>
                </a:solidFill>
                <a:latin typeface="Calibri" panose="020F0502020204030204" pitchFamily="34" charset="0"/>
                <a:cs typeface="Arial" panose="020B0604020202020204" pitchFamily="34" charset="0"/>
              </a:rPr>
              <a:t> </a:t>
            </a:r>
          </a:p>
        </p:txBody>
      </p:sp>
      <p:sp>
        <p:nvSpPr>
          <p:cNvPr id="24584" name="Text Box 7"/>
          <p:cNvSpPr txBox="1">
            <a:spLocks noChangeArrowheads="1"/>
          </p:cNvSpPr>
          <p:nvPr/>
        </p:nvSpPr>
        <p:spPr bwMode="gray">
          <a:xfrm>
            <a:off x="7824789" y="2528889"/>
            <a:ext cx="2232025" cy="962025"/>
          </a:xfrm>
          <a:prstGeom prst="rect">
            <a:avLst/>
          </a:prstGeom>
          <a:solidFill>
            <a:srgbClr val="FFCC00"/>
          </a:solidFill>
          <a:ln w="9525">
            <a:solidFill>
              <a:schemeClr val="tx1"/>
            </a:solidFill>
            <a:miter lim="800000"/>
            <a:headEnd/>
            <a:tailEnd/>
          </a:ln>
        </p:spPr>
        <p:txBody>
          <a:bodyPr lIns="0" tIns="187200" rIns="0" bIns="91440" anchor="ctr">
            <a:spAutoFit/>
          </a:bodyPr>
          <a:lstStyle>
            <a:lvl1pPr>
              <a:defRPr>
                <a:solidFill>
                  <a:schemeClr val="tx1"/>
                </a:solidFill>
                <a:latin typeface="Arial" panose="020B0604020202020204" pitchFamily="34" charset="0"/>
                <a:ea typeface="ＭＳ Ｐゴシック" panose="020B0600070205080204" pitchFamily="34" charset="-128"/>
              </a:defRPr>
            </a:lvl1pPr>
            <a:lvl2pPr marL="37931725" indent="-37474525">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92000"/>
              </a:lnSpc>
              <a:spcBef>
                <a:spcPct val="50000"/>
              </a:spcBef>
            </a:pPr>
            <a:r>
              <a:rPr lang="fr-CA" altLang="fr-FR" sz="2400">
                <a:solidFill>
                  <a:srgbClr val="000000"/>
                </a:solidFill>
                <a:latin typeface="Calibri" panose="020F0502020204030204" pitchFamily="34" charset="0"/>
                <a:cs typeface="Arial" panose="020B0604020202020204" pitchFamily="34" charset="0"/>
              </a:rPr>
              <a:t>Évalué à la juste valeur</a:t>
            </a:r>
            <a:endParaRPr lang="en-GB" altLang="fr-FR" sz="2400">
              <a:solidFill>
                <a:srgbClr val="000000"/>
              </a:solidFill>
              <a:latin typeface="Calibri" panose="020F0502020204030204" pitchFamily="34" charset="0"/>
              <a:cs typeface="Arial" panose="020B0604020202020204" pitchFamily="34" charset="0"/>
            </a:endParaRPr>
          </a:p>
        </p:txBody>
      </p:sp>
      <p:sp>
        <p:nvSpPr>
          <p:cNvPr id="24585" name="Text Box 7"/>
          <p:cNvSpPr txBox="1">
            <a:spLocks noChangeArrowheads="1"/>
          </p:cNvSpPr>
          <p:nvPr/>
        </p:nvSpPr>
        <p:spPr bwMode="gray">
          <a:xfrm>
            <a:off x="5303838" y="4183064"/>
            <a:ext cx="2520950" cy="960437"/>
          </a:xfrm>
          <a:prstGeom prst="rect">
            <a:avLst/>
          </a:prstGeom>
          <a:solidFill>
            <a:srgbClr val="99CC00"/>
          </a:solidFill>
          <a:ln w="9525">
            <a:solidFill>
              <a:schemeClr val="tx1"/>
            </a:solidFill>
            <a:miter lim="800000"/>
            <a:headEnd/>
            <a:tailEnd/>
          </a:ln>
        </p:spPr>
        <p:txBody>
          <a:bodyPr lIns="0" tIns="187200" rIns="0" bIns="91440" anchor="ctr">
            <a:spAutoFit/>
          </a:bodyPr>
          <a:lstStyle>
            <a:lvl1pPr>
              <a:defRPr>
                <a:solidFill>
                  <a:schemeClr val="tx1"/>
                </a:solidFill>
                <a:latin typeface="Arial" panose="020B0604020202020204" pitchFamily="34" charset="0"/>
                <a:ea typeface="ＭＳ Ｐゴシック" panose="020B0600070205080204" pitchFamily="34" charset="-128"/>
              </a:defRPr>
            </a:lvl1pPr>
            <a:lvl2pPr marL="37931725" indent="-37474525">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92000"/>
              </a:lnSpc>
              <a:spcBef>
                <a:spcPct val="50000"/>
              </a:spcBef>
            </a:pPr>
            <a:r>
              <a:rPr lang="fr-CA" altLang="fr-FR" sz="2400">
                <a:latin typeface="Calibri" panose="020F0502020204030204" pitchFamily="34" charset="0"/>
                <a:cs typeface="Arial" panose="020B0604020202020204" pitchFamily="34" charset="0"/>
              </a:rPr>
              <a:t>cours à la date de la transaction</a:t>
            </a:r>
            <a:endParaRPr lang="en-GB" altLang="fr-FR" sz="2400">
              <a:solidFill>
                <a:srgbClr val="000000"/>
              </a:solidFill>
              <a:latin typeface="Calibri" panose="020F0502020204030204" pitchFamily="34" charset="0"/>
              <a:cs typeface="Arial" panose="020B0604020202020204" pitchFamily="34" charset="0"/>
            </a:endParaRPr>
          </a:p>
        </p:txBody>
      </p:sp>
      <p:sp>
        <p:nvSpPr>
          <p:cNvPr id="24586" name="Text Box 7"/>
          <p:cNvSpPr txBox="1">
            <a:spLocks noChangeArrowheads="1"/>
          </p:cNvSpPr>
          <p:nvPr/>
        </p:nvSpPr>
        <p:spPr bwMode="gray">
          <a:xfrm>
            <a:off x="8112125" y="4041776"/>
            <a:ext cx="2305050" cy="1298575"/>
          </a:xfrm>
          <a:prstGeom prst="rect">
            <a:avLst/>
          </a:prstGeom>
          <a:solidFill>
            <a:srgbClr val="99CC00"/>
          </a:solidFill>
          <a:ln w="9525">
            <a:solidFill>
              <a:schemeClr val="tx1"/>
            </a:solidFill>
            <a:miter lim="800000"/>
            <a:headEnd/>
            <a:tailEnd/>
          </a:ln>
        </p:spPr>
        <p:txBody>
          <a:bodyPr lIns="0" tIns="187200" rIns="0" bIns="91440" anchor="ctr">
            <a:spAutoFit/>
          </a:bodyPr>
          <a:lstStyle>
            <a:lvl1pPr>
              <a:defRPr>
                <a:solidFill>
                  <a:schemeClr val="tx1"/>
                </a:solidFill>
                <a:latin typeface="Arial" panose="020B0604020202020204" pitchFamily="34" charset="0"/>
                <a:ea typeface="ＭＳ Ｐゴシック" panose="020B0600070205080204" pitchFamily="34" charset="-128"/>
              </a:defRPr>
            </a:lvl1pPr>
            <a:lvl2pPr marL="37931725" indent="-37474525">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92000"/>
              </a:lnSpc>
              <a:spcBef>
                <a:spcPct val="50000"/>
              </a:spcBef>
            </a:pPr>
            <a:r>
              <a:rPr lang="fr-CA" altLang="fr-FR" sz="2400">
                <a:latin typeface="Calibri" panose="020F0502020204030204" pitchFamily="34" charset="0"/>
                <a:cs typeface="Arial" panose="020B0604020202020204" pitchFamily="34" charset="0"/>
              </a:rPr>
              <a:t>cours à la date de l’évaluation à la juste valeur</a:t>
            </a:r>
            <a:endParaRPr lang="en-GB" altLang="fr-FR" sz="2400">
              <a:solidFill>
                <a:srgbClr val="000000"/>
              </a:solidFill>
              <a:latin typeface="Calibri" panose="020F0502020204030204" pitchFamily="34" charset="0"/>
              <a:cs typeface="Arial" panose="020B0604020202020204" pitchFamily="34" charset="0"/>
            </a:endParaRPr>
          </a:p>
        </p:txBody>
      </p:sp>
      <p:sp>
        <p:nvSpPr>
          <p:cNvPr id="24587" name="Text Box 7"/>
          <p:cNvSpPr txBox="1">
            <a:spLocks noChangeArrowheads="1"/>
          </p:cNvSpPr>
          <p:nvPr/>
        </p:nvSpPr>
        <p:spPr bwMode="gray">
          <a:xfrm>
            <a:off x="2640013" y="4154489"/>
            <a:ext cx="1871662" cy="962025"/>
          </a:xfrm>
          <a:prstGeom prst="rect">
            <a:avLst/>
          </a:prstGeom>
          <a:solidFill>
            <a:srgbClr val="99CC00"/>
          </a:solidFill>
          <a:ln w="9525">
            <a:solidFill>
              <a:schemeClr val="tx1"/>
            </a:solidFill>
            <a:miter lim="800000"/>
            <a:headEnd/>
            <a:tailEnd/>
          </a:ln>
        </p:spPr>
        <p:txBody>
          <a:bodyPr lIns="0" tIns="187200" rIns="0" bIns="91440" anchor="ctr">
            <a:spAutoFit/>
          </a:bodyPr>
          <a:lstStyle>
            <a:lvl1pPr>
              <a:defRPr>
                <a:solidFill>
                  <a:schemeClr val="tx1"/>
                </a:solidFill>
                <a:latin typeface="Arial" panose="020B0604020202020204" pitchFamily="34" charset="0"/>
                <a:ea typeface="ＭＳ Ｐゴシック" panose="020B0600070205080204" pitchFamily="34" charset="-128"/>
              </a:defRPr>
            </a:lvl1pPr>
            <a:lvl2pPr marL="37931725" indent="-37474525">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lnSpc>
                <a:spcPct val="92000"/>
              </a:lnSpc>
              <a:spcBef>
                <a:spcPct val="50000"/>
              </a:spcBef>
            </a:pPr>
            <a:r>
              <a:rPr lang="fr-CA" altLang="fr-FR" sz="2400">
                <a:solidFill>
                  <a:srgbClr val="000000"/>
                </a:solidFill>
                <a:latin typeface="Calibri" panose="020F0502020204030204" pitchFamily="34" charset="0"/>
                <a:cs typeface="Arial" panose="020B0604020202020204" pitchFamily="34" charset="0"/>
              </a:rPr>
              <a:t>cours de clôture</a:t>
            </a:r>
            <a:r>
              <a:rPr lang="en-GB" altLang="fr-FR" sz="2400">
                <a:solidFill>
                  <a:srgbClr val="000000"/>
                </a:solidFill>
                <a:latin typeface="Calibri" panose="020F0502020204030204" pitchFamily="34" charset="0"/>
                <a:cs typeface="Arial" panose="020B0604020202020204" pitchFamily="34" charset="0"/>
              </a:rPr>
              <a:t> </a:t>
            </a:r>
          </a:p>
        </p:txBody>
      </p:sp>
      <p:sp>
        <p:nvSpPr>
          <p:cNvPr id="24588" name="AutoShape 6"/>
          <p:cNvSpPr>
            <a:spLocks noChangeArrowheads="1"/>
          </p:cNvSpPr>
          <p:nvPr/>
        </p:nvSpPr>
        <p:spPr bwMode="auto">
          <a:xfrm>
            <a:off x="3143250" y="2565401"/>
            <a:ext cx="431800" cy="1584325"/>
          </a:xfrm>
          <a:prstGeom prst="downArrow">
            <a:avLst>
              <a:gd name="adj1" fmla="val 50000"/>
              <a:gd name="adj2" fmla="val 91728"/>
            </a:avLst>
          </a:prstGeom>
          <a:solidFill>
            <a:schemeClr val="tx2"/>
          </a:solidFill>
          <a:ln w="9525">
            <a:solidFill>
              <a:schemeClr val="tx2"/>
            </a:solidFill>
            <a:miter lim="800000"/>
            <a:headEnd/>
            <a:tailEnd/>
          </a:ln>
        </p:spPr>
        <p:txBody>
          <a:bodyPr wrap="none" lIns="63500" tIns="0" rIns="0" bIns="0" anchor="ctr"/>
          <a:lstStyle>
            <a:lvl1pPr>
              <a:defRPr>
                <a:solidFill>
                  <a:schemeClr val="tx1"/>
                </a:solidFill>
                <a:latin typeface="Arial" panose="020B0604020202020204" pitchFamily="34" charset="0"/>
                <a:ea typeface="ＭＳ Ｐゴシック" panose="020B0600070205080204" pitchFamily="34" charset="-128"/>
              </a:defRPr>
            </a:lvl1pPr>
            <a:lvl2pPr marL="37931725" indent="-37474525">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fr-CA" altLang="fr-FR">
              <a:latin typeface="Calibri" panose="020F0502020204030204" pitchFamily="34" charset="0"/>
            </a:endParaRPr>
          </a:p>
        </p:txBody>
      </p:sp>
      <p:sp>
        <p:nvSpPr>
          <p:cNvPr id="24589" name="Text Box 11"/>
          <p:cNvSpPr txBox="1">
            <a:spLocks noChangeArrowheads="1"/>
          </p:cNvSpPr>
          <p:nvPr/>
        </p:nvSpPr>
        <p:spPr bwMode="auto">
          <a:xfrm>
            <a:off x="714703" y="5445125"/>
            <a:ext cx="10382491"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3500" tIns="0" rIns="0" bIns="0">
            <a:spAutoFit/>
          </a:bodyPr>
          <a:lstStyle>
            <a:lvl1pPr>
              <a:defRPr>
                <a:solidFill>
                  <a:schemeClr val="tx1"/>
                </a:solidFill>
                <a:latin typeface="Arial" panose="020B0604020202020204" pitchFamily="34" charset="0"/>
                <a:ea typeface="ＭＳ Ｐゴシック" panose="020B0600070205080204" pitchFamily="34" charset="-128"/>
              </a:defRPr>
            </a:lvl1pPr>
            <a:lvl2pPr marL="37931725" indent="-37474525">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fr-CA" altLang="fr-FR" sz="2000" i="1" dirty="0">
                <a:latin typeface="Calibri" panose="020F0502020204030204" pitchFamily="34" charset="0"/>
                <a:cs typeface="Arial" panose="020B0604020202020204" pitchFamily="34" charset="0"/>
              </a:rPr>
              <a:t>Comptabilisation initiale </a:t>
            </a:r>
            <a:r>
              <a:rPr lang="fr-CA" altLang="fr-FR" sz="2000" dirty="0">
                <a:latin typeface="Calibri" panose="020F0502020204030204" pitchFamily="34" charset="0"/>
                <a:cs typeface="Arial" panose="020B0604020202020204" pitchFamily="34" charset="0"/>
              </a:rPr>
              <a:t>: cours au comptant à la date de la transaction (cours moyen s’il constitue une approximation raisonnable)</a:t>
            </a:r>
          </a:p>
          <a:p>
            <a:pPr eaLnBrk="1" hangingPunct="1"/>
            <a:r>
              <a:rPr lang="fr-CA" altLang="fr-FR" sz="2000" dirty="0">
                <a:latin typeface="Calibri" panose="020F0502020204030204" pitchFamily="34" charset="0"/>
                <a:cs typeface="Arial" panose="020B0604020202020204" pitchFamily="34" charset="0"/>
              </a:rPr>
              <a:t>Les gains/pertes de change (écarts de change) qui résultent de la conversion ou du règlement d’un élément monétaire libellé en monnaie étrangère doivent être imputés au résultat net de la période.</a:t>
            </a:r>
          </a:p>
        </p:txBody>
      </p:sp>
      <p:sp>
        <p:nvSpPr>
          <p:cNvPr id="24590" name="Rectangle 15"/>
          <p:cNvSpPr>
            <a:spLocks noChangeArrowheads="1"/>
          </p:cNvSpPr>
          <p:nvPr/>
        </p:nvSpPr>
        <p:spPr bwMode="auto">
          <a:xfrm>
            <a:off x="1703388" y="1125538"/>
            <a:ext cx="80645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37931725" indent="-37474525">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fr-CA" altLang="fr-FR" sz="2400">
              <a:latin typeface="Calibri" panose="020F0502020204030204" pitchFamily="34" charset="0"/>
            </a:endParaRPr>
          </a:p>
          <a:p>
            <a:pPr eaLnBrk="1" hangingPunct="1"/>
            <a:r>
              <a:rPr lang="fr-CA" altLang="fr-FR" sz="2400" i="1">
                <a:latin typeface="Calibri" panose="020F0502020204030204" pitchFamily="34" charset="0"/>
              </a:rPr>
              <a:t>Date des états financiers</a:t>
            </a:r>
            <a:r>
              <a:rPr lang="en-GB" altLang="fr-FR">
                <a:solidFill>
                  <a:schemeClr val="folHlink"/>
                </a:solidFill>
                <a:latin typeface="Calibri" panose="020F0502020204030204" pitchFamily="34" charset="0"/>
              </a:rPr>
              <a:t> </a:t>
            </a:r>
          </a:p>
        </p:txBody>
      </p:sp>
      <p:sp>
        <p:nvSpPr>
          <p:cNvPr id="2" name="Espace réservé du numéro de diapositive 1"/>
          <p:cNvSpPr>
            <a:spLocks noGrp="1"/>
          </p:cNvSpPr>
          <p:nvPr>
            <p:ph type="sldNum" sz="quarter" idx="12"/>
          </p:nvPr>
        </p:nvSpPr>
        <p:spPr/>
        <p:txBody>
          <a:bodyPr/>
          <a:lstStyle/>
          <a:p>
            <a:fld id="{992B40CC-DFA5-47EF-8974-C897708E5DF2}" type="slidenum">
              <a:rPr lang="fr-CA" smtClean="0"/>
              <a:t>11</a:t>
            </a:fld>
            <a:endParaRPr lang="fr-CA"/>
          </a:p>
        </p:txBody>
      </p:sp>
      <p:sp>
        <p:nvSpPr>
          <p:cNvPr id="3" name="Espace réservé du pied de page 2">
            <a:extLst>
              <a:ext uri="{FF2B5EF4-FFF2-40B4-BE49-F238E27FC236}">
                <a16:creationId xmlns:a16="http://schemas.microsoft.com/office/drawing/2014/main" id="{C32FD070-2382-4C7E-881C-DB0C376C7D7F}"/>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633602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Pour les transactions en monnaie étrangère</a:t>
            </a:r>
            <a:endParaRPr lang="fr-CA" dirty="0"/>
          </a:p>
        </p:txBody>
      </p:sp>
      <p:sp>
        <p:nvSpPr>
          <p:cNvPr id="3" name="Espace réservé du contenu 2"/>
          <p:cNvSpPr>
            <a:spLocks noGrp="1"/>
          </p:cNvSpPr>
          <p:nvPr>
            <p:ph idx="1"/>
          </p:nvPr>
        </p:nvSpPr>
        <p:spPr>
          <a:xfrm>
            <a:off x="838200" y="1837200"/>
            <a:ext cx="10515600" cy="4351338"/>
          </a:xfrm>
        </p:spPr>
        <p:txBody>
          <a:bodyPr>
            <a:normAutofit/>
          </a:bodyPr>
          <a:lstStyle/>
          <a:p>
            <a:pPr marL="0" indent="0">
              <a:buNone/>
            </a:pPr>
            <a:r>
              <a:rPr lang="fr-CA" sz="2400" b="1" dirty="0"/>
              <a:t>Comptabilisation à chaque clôture ultérieure – cours à utiliser?</a:t>
            </a:r>
          </a:p>
          <a:p>
            <a:pPr marL="0" indent="0">
              <a:buNone/>
            </a:pPr>
            <a:endParaRPr lang="fr-CA" sz="2400" dirty="0"/>
          </a:p>
          <a:p>
            <a:r>
              <a:rPr lang="fr-CA" sz="2400" dirty="0"/>
              <a:t>Dette en $US?</a:t>
            </a:r>
          </a:p>
          <a:p>
            <a:r>
              <a:rPr lang="fr-CA" sz="2400" dirty="0"/>
              <a:t>Marchandises achetées en Euros?</a:t>
            </a:r>
          </a:p>
          <a:p>
            <a:r>
              <a:rPr lang="fr-CA" sz="2400" dirty="0"/>
              <a:t>Bâtisse évaluée à la juste valeur (IAS 40), évaluation faite en $US?</a:t>
            </a:r>
          </a:p>
          <a:p>
            <a:r>
              <a:rPr lang="fr-CA" sz="2400" dirty="0"/>
              <a:t>Compte à recevoir en Euros?</a:t>
            </a:r>
          </a:p>
          <a:p>
            <a:r>
              <a:rPr lang="fr-CA" sz="2400" dirty="0"/>
              <a:t>Stocks réévalués à la valeur nette de réalisation, calculée en fin de période en devise locale euro?</a:t>
            </a:r>
          </a:p>
          <a:p>
            <a:pPr marL="0" indent="0">
              <a:buNone/>
            </a:pPr>
            <a:endParaRPr lang="fr-CA" dirty="0"/>
          </a:p>
          <a:p>
            <a:pPr marL="0" indent="0">
              <a:buNone/>
            </a:pPr>
            <a:endParaRPr lang="fr-CA" dirty="0"/>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12</a:t>
            </a:fld>
            <a:endParaRPr lang="fr-CA"/>
          </a:p>
        </p:txBody>
      </p:sp>
      <p:sp>
        <p:nvSpPr>
          <p:cNvPr id="4" name="Espace réservé du pied de page 3">
            <a:extLst>
              <a:ext uri="{FF2B5EF4-FFF2-40B4-BE49-F238E27FC236}">
                <a16:creationId xmlns:a16="http://schemas.microsoft.com/office/drawing/2014/main" id="{2F5EDC96-5445-41DC-8091-72925FBAC784}"/>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920596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Pour les transactions en monnaie étrangère</a:t>
            </a:r>
            <a:endParaRPr lang="fr-CA" dirty="0"/>
          </a:p>
        </p:txBody>
      </p:sp>
      <p:sp>
        <p:nvSpPr>
          <p:cNvPr id="3" name="Espace réservé du contenu 2"/>
          <p:cNvSpPr>
            <a:spLocks noGrp="1"/>
          </p:cNvSpPr>
          <p:nvPr>
            <p:ph idx="1"/>
          </p:nvPr>
        </p:nvSpPr>
        <p:spPr>
          <a:xfrm>
            <a:off x="838200" y="1837200"/>
            <a:ext cx="10515600" cy="4351338"/>
          </a:xfrm>
        </p:spPr>
        <p:txBody>
          <a:bodyPr>
            <a:normAutofit/>
          </a:bodyPr>
          <a:lstStyle/>
          <a:p>
            <a:pPr marL="0" indent="0">
              <a:buNone/>
            </a:pPr>
            <a:r>
              <a:rPr lang="fr-CA" sz="2400" b="1" dirty="0"/>
              <a:t>Comptabilisation à chaque clôture ultérieure – cours à utiliser?</a:t>
            </a:r>
          </a:p>
          <a:p>
            <a:pPr marL="0" indent="0">
              <a:buNone/>
            </a:pPr>
            <a:endParaRPr lang="fr-CA" sz="2400" dirty="0"/>
          </a:p>
          <a:p>
            <a:r>
              <a:rPr lang="fr-CA" sz="2400" dirty="0"/>
              <a:t>Dette en $US?  </a:t>
            </a:r>
            <a:r>
              <a:rPr lang="fr-CA" sz="2400" dirty="0">
                <a:solidFill>
                  <a:srgbClr val="FF0000"/>
                </a:solidFill>
              </a:rPr>
              <a:t>Cours clôture - monétaire</a:t>
            </a:r>
            <a:endParaRPr lang="fr-CA" sz="2400" dirty="0"/>
          </a:p>
          <a:p>
            <a:r>
              <a:rPr lang="fr-CA" sz="2400" dirty="0"/>
              <a:t>Marchandises achetées en Euros?    </a:t>
            </a:r>
            <a:r>
              <a:rPr lang="fr-CA" sz="2400" dirty="0">
                <a:solidFill>
                  <a:srgbClr val="FF0000"/>
                </a:solidFill>
              </a:rPr>
              <a:t>Cours historique</a:t>
            </a:r>
            <a:endParaRPr lang="fr-CA" sz="2400" dirty="0"/>
          </a:p>
          <a:p>
            <a:r>
              <a:rPr lang="fr-CA" sz="2400" dirty="0"/>
              <a:t>Bâtisse évaluée à la juste valeur (IAS 40), évaluation faite en $US?  </a:t>
            </a:r>
            <a:r>
              <a:rPr lang="fr-CA" sz="2400" dirty="0">
                <a:solidFill>
                  <a:srgbClr val="FF0000"/>
                </a:solidFill>
              </a:rPr>
              <a:t>Cours clôture - JV</a:t>
            </a:r>
            <a:endParaRPr lang="fr-CA" sz="2400" dirty="0"/>
          </a:p>
          <a:p>
            <a:r>
              <a:rPr lang="fr-CA" sz="2400" dirty="0"/>
              <a:t>Compte à recevoir en Euros? </a:t>
            </a:r>
            <a:r>
              <a:rPr lang="fr-CA" sz="2400" dirty="0">
                <a:solidFill>
                  <a:srgbClr val="FF0000"/>
                </a:solidFill>
              </a:rPr>
              <a:t>Cours clôture - monétaire</a:t>
            </a:r>
            <a:endParaRPr lang="fr-CA" sz="2400" dirty="0"/>
          </a:p>
          <a:p>
            <a:r>
              <a:rPr lang="fr-CA" sz="2400" dirty="0"/>
              <a:t>Stocks réévalués à la valeur nette de réalisation, calculée en fin de période en devise locale euro? </a:t>
            </a:r>
            <a:r>
              <a:rPr lang="fr-CA" sz="2400" dirty="0">
                <a:solidFill>
                  <a:srgbClr val="FF0000"/>
                </a:solidFill>
              </a:rPr>
              <a:t>Cours clôture - JV</a:t>
            </a:r>
            <a:endParaRPr lang="fr-CA" sz="2400" dirty="0"/>
          </a:p>
          <a:p>
            <a:pPr marL="0" indent="0">
              <a:buNone/>
            </a:pPr>
            <a:endParaRPr lang="fr-CA" dirty="0"/>
          </a:p>
          <a:p>
            <a:pPr marL="0" indent="0">
              <a:buNone/>
            </a:pPr>
            <a:endParaRPr lang="fr-CA" dirty="0"/>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13</a:t>
            </a:fld>
            <a:endParaRPr lang="fr-CA"/>
          </a:p>
        </p:txBody>
      </p:sp>
      <p:sp>
        <p:nvSpPr>
          <p:cNvPr id="4" name="Espace réservé du pied de page 3">
            <a:extLst>
              <a:ext uri="{FF2B5EF4-FFF2-40B4-BE49-F238E27FC236}">
                <a16:creationId xmlns:a16="http://schemas.microsoft.com/office/drawing/2014/main" id="{2F5EDC96-5445-41DC-8091-72925FBAC784}"/>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169719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375655"/>
          </a:xfrm>
        </p:spPr>
        <p:txBody>
          <a:bodyPr>
            <a:normAutofit fontScale="90000"/>
          </a:bodyPr>
          <a:lstStyle/>
          <a:p>
            <a:pPr algn="ctr"/>
            <a:r>
              <a:rPr lang="fr-CA" sz="3600" dirty="0"/>
              <a:t>Pour les transactions en monnaie étrangère</a:t>
            </a:r>
            <a:endParaRPr lang="fr-CA" dirty="0"/>
          </a:p>
        </p:txBody>
      </p:sp>
      <p:sp>
        <p:nvSpPr>
          <p:cNvPr id="3" name="Espace réservé du contenu 2"/>
          <p:cNvSpPr>
            <a:spLocks noGrp="1"/>
          </p:cNvSpPr>
          <p:nvPr>
            <p:ph idx="1"/>
          </p:nvPr>
        </p:nvSpPr>
        <p:spPr>
          <a:xfrm>
            <a:off x="486136" y="1134319"/>
            <a:ext cx="11262167" cy="5587156"/>
          </a:xfrm>
        </p:spPr>
        <p:txBody>
          <a:bodyPr>
            <a:normAutofit fontScale="47500" lnSpcReduction="20000"/>
          </a:bodyPr>
          <a:lstStyle/>
          <a:p>
            <a:pPr marL="0" indent="0">
              <a:buNone/>
            </a:pPr>
            <a:r>
              <a:rPr lang="fr-CA" sz="5100" b="1" dirty="0"/>
              <a:t>Comptabilisation à chaque clôture ultérieure</a:t>
            </a:r>
            <a:endParaRPr lang="fr-CA" b="1" dirty="0"/>
          </a:p>
          <a:p>
            <a:pPr marL="0" indent="0">
              <a:buNone/>
            </a:pPr>
            <a:endParaRPr lang="fr-CA" sz="800" dirty="0"/>
          </a:p>
          <a:p>
            <a:pPr marL="0" indent="0">
              <a:buNone/>
            </a:pPr>
            <a:r>
              <a:rPr lang="fr-CA" sz="5100" dirty="0"/>
              <a:t>25     </a:t>
            </a:r>
            <a:r>
              <a:rPr lang="fr-CA" sz="5100" dirty="0">
                <a:solidFill>
                  <a:srgbClr val="0070C0"/>
                </a:solidFill>
              </a:rPr>
              <a:t>La valeur comptable de certains éléments est déterminée par la comparaison de deux montants ou plus</a:t>
            </a:r>
            <a:r>
              <a:rPr lang="fr-CA" sz="5100" dirty="0"/>
              <a:t>. À titre d'exemple, la valeur comptable des stocks est le plus faible du coût et de la valeur nette de réalisation, selon IAS 2 </a:t>
            </a:r>
            <a:r>
              <a:rPr lang="fr-CA" sz="5100" i="1" dirty="0"/>
              <a:t>Stocks</a:t>
            </a:r>
            <a:r>
              <a:rPr lang="fr-CA" sz="5100" dirty="0"/>
              <a:t>. De même, selon IAS 36 </a:t>
            </a:r>
            <a:r>
              <a:rPr lang="fr-CA" sz="5100" i="1" dirty="0"/>
              <a:t>Dépréciation d'actifs</a:t>
            </a:r>
            <a:r>
              <a:rPr lang="fr-CA" sz="5100" dirty="0"/>
              <a:t>, la valeur comptable d'un actif pour lequel il existe un indice de dépréciation est le plus faible de sa valeur comptable avant prise en considération d'éventuelles pertes de valeur et de sa valeur recouvrable. Lorsqu'un tel actif est non monétaire et qu'il est évalué dans une monnaie étrangère, sa valeur comptable est déterminée par comparaison entre :</a:t>
            </a:r>
          </a:p>
          <a:p>
            <a:pPr marL="0" indent="0">
              <a:buNone/>
            </a:pPr>
            <a:r>
              <a:rPr lang="fr-CA" sz="5100" dirty="0"/>
              <a:t>(a)     le coût ou la valeur comptable, selon le cas, converti au cours de change à la date de détermination de ce montant (c'est-à-dire au cours à la date de la transaction pour un élément évalué à son coût historique) ; et</a:t>
            </a:r>
          </a:p>
          <a:p>
            <a:pPr marL="0" indent="0">
              <a:buNone/>
            </a:pPr>
            <a:r>
              <a:rPr lang="fr-CA" sz="5100" dirty="0"/>
              <a:t>(b)     la valeur nette de réalisation ou la valeur recouvrable, selon le cas, convertie au cours de change à la date à laquelle cette valeur a été déterminée (par exemple, le cours de clôture à la fin de la période de présentation de l'information financière).</a:t>
            </a:r>
          </a:p>
          <a:p>
            <a:pPr marL="0" indent="0">
              <a:buNone/>
            </a:pPr>
            <a:r>
              <a:rPr lang="fr-CA" sz="5100" dirty="0"/>
              <a:t>     Cette comparaison peut entraîner la comptabilisation d'une perte de valeur dans la monnaie fonctionnelle, alors qu'elle n'aurait pas été comptabilisée dans la monnaie étrangère, ou vice versa.</a:t>
            </a:r>
          </a:p>
          <a:p>
            <a:pPr marL="0" indent="0">
              <a:buNone/>
            </a:pPr>
            <a:endParaRPr lang="fr-CA" dirty="0"/>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14</a:t>
            </a:fld>
            <a:endParaRPr lang="fr-CA"/>
          </a:p>
        </p:txBody>
      </p:sp>
      <p:sp>
        <p:nvSpPr>
          <p:cNvPr id="4" name="Espace réservé du pied de page 3">
            <a:extLst>
              <a:ext uri="{FF2B5EF4-FFF2-40B4-BE49-F238E27FC236}">
                <a16:creationId xmlns:a16="http://schemas.microsoft.com/office/drawing/2014/main" id="{F87982CD-F6DB-4EA9-8557-E8723C7F16F6}"/>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178774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Comptabilisation des écarts de change</a:t>
            </a:r>
            <a:endParaRPr lang="fr-CA" dirty="0"/>
          </a:p>
        </p:txBody>
      </p:sp>
      <p:sp>
        <p:nvSpPr>
          <p:cNvPr id="3" name="Espace réservé du contenu 2"/>
          <p:cNvSpPr>
            <a:spLocks noGrp="1"/>
          </p:cNvSpPr>
          <p:nvPr>
            <p:ph idx="1"/>
          </p:nvPr>
        </p:nvSpPr>
        <p:spPr>
          <a:xfrm>
            <a:off x="838200" y="1690688"/>
            <a:ext cx="10515600" cy="4486275"/>
          </a:xfrm>
        </p:spPr>
        <p:txBody>
          <a:bodyPr>
            <a:normAutofit fontScale="92500"/>
          </a:bodyPr>
          <a:lstStyle/>
          <a:p>
            <a:pPr marL="0" indent="0">
              <a:buNone/>
            </a:pPr>
            <a:r>
              <a:rPr lang="fr-CA" sz="2600" dirty="0"/>
              <a:t>28     Les écarts de change résultant du règlement d'éléments monétaires ou de la conversion d'éléments monétaires à des cours différents de ceux auxquels ils ont été convertis lors de leur comptabilisation initiale pendant la période ou dans des états financiers antérieurs doivent être comptabilisés </a:t>
            </a:r>
            <a:r>
              <a:rPr lang="fr-CA" sz="2600" dirty="0">
                <a:solidFill>
                  <a:srgbClr val="0070C0"/>
                </a:solidFill>
              </a:rPr>
              <a:t>en résultat net</a:t>
            </a:r>
            <a:r>
              <a:rPr lang="fr-CA" sz="2600" dirty="0"/>
              <a:t> de la période pendant laquelle ils surviennent, hormis les cas décrits au paragraphe 32.</a:t>
            </a:r>
          </a:p>
          <a:p>
            <a:pPr marL="0" indent="0">
              <a:buNone/>
            </a:pPr>
            <a:endParaRPr lang="fr-CA" sz="2600" dirty="0"/>
          </a:p>
          <a:p>
            <a:pPr marL="0" indent="0">
              <a:buNone/>
            </a:pPr>
            <a:r>
              <a:rPr lang="fr-CA" sz="2600" dirty="0"/>
              <a:t>30     Lorsqu'un profit ou une perte sur un élément non monétaire est comptabilisé dans les </a:t>
            </a:r>
            <a:r>
              <a:rPr lang="fr-CA" sz="2600" dirty="0">
                <a:solidFill>
                  <a:srgbClr val="0070C0"/>
                </a:solidFill>
              </a:rPr>
              <a:t>autres éléments du résultat global</a:t>
            </a:r>
            <a:r>
              <a:rPr lang="fr-CA" sz="2600" dirty="0"/>
              <a:t>, chaque composante de change de ce profit ou de cette perte doit être comptabilisée dans les autres éléments du résultat global. À l'inverse, lorsqu'un profit ou une perte sur un élément non monétaire est comptabilisé en résultat net, chaque composante de change de ce profit ou de cette perte doit être comptabilisée en résultat net.</a:t>
            </a:r>
            <a:endParaRPr lang="fr-CA" dirty="0"/>
          </a:p>
          <a:p>
            <a:pPr marL="0" indent="0">
              <a:buNone/>
            </a:pPr>
            <a:endParaRPr lang="fr-CA" dirty="0"/>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15</a:t>
            </a:fld>
            <a:endParaRPr lang="fr-CA"/>
          </a:p>
        </p:txBody>
      </p:sp>
      <p:sp>
        <p:nvSpPr>
          <p:cNvPr id="4" name="Espace réservé du pied de page 3">
            <a:extLst>
              <a:ext uri="{FF2B5EF4-FFF2-40B4-BE49-F238E27FC236}">
                <a16:creationId xmlns:a16="http://schemas.microsoft.com/office/drawing/2014/main" id="{53C7CAEB-FC9C-459C-8106-AD0EC4A2CF92}"/>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777109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7650" name="Titre 1"/>
          <p:cNvSpPr>
            <a:spLocks noGrp="1"/>
          </p:cNvSpPr>
          <p:nvPr>
            <p:ph type="title" idx="4294967295"/>
          </p:nvPr>
        </p:nvSpPr>
        <p:spPr/>
        <p:txBody>
          <a:bodyPr anchor="ctr"/>
          <a:lstStyle/>
          <a:p>
            <a:pPr algn="ctr" eaLnBrk="1" hangingPunct="1"/>
            <a:r>
              <a:rPr lang="fr-CA" altLang="fr-FR" sz="3600" dirty="0">
                <a:solidFill>
                  <a:schemeClr val="hlink"/>
                </a:solidFill>
                <a:latin typeface="Calibri" panose="020F0502020204030204" pitchFamily="34" charset="0"/>
              </a:rPr>
              <a:t>Exercice 1</a:t>
            </a:r>
          </a:p>
        </p:txBody>
      </p:sp>
      <p:sp>
        <p:nvSpPr>
          <p:cNvPr id="27651" name="Espace réservé du contenu 2"/>
          <p:cNvSpPr>
            <a:spLocks noGrp="1"/>
          </p:cNvSpPr>
          <p:nvPr>
            <p:ph idx="4294967295"/>
          </p:nvPr>
        </p:nvSpPr>
        <p:spPr/>
        <p:txBody>
          <a:bodyPr/>
          <a:lstStyle/>
          <a:p>
            <a:pPr marL="0" indent="0" eaLnBrk="1" hangingPunct="1">
              <a:buNone/>
            </a:pPr>
            <a:r>
              <a:rPr lang="fr-CA" altLang="fr-FR" sz="2600" dirty="0">
                <a:solidFill>
                  <a:srgbClr val="000000"/>
                </a:solidFill>
                <a:latin typeface="Calibri" panose="020F0502020204030204" pitchFamily="34" charset="0"/>
              </a:rPr>
              <a:t>ABC acquiert le 30 juin 2020 des marchandises au prix de 50 000 $US. Elle effectue le paiement le 31 juillet 2020.</a:t>
            </a:r>
          </a:p>
          <a:p>
            <a:pPr marL="266700" indent="0" eaLnBrk="1" hangingPunct="1">
              <a:buNone/>
            </a:pPr>
            <a:r>
              <a:rPr lang="fr-CA" altLang="fr-FR" sz="2600" dirty="0">
                <a:solidFill>
                  <a:srgbClr val="000000"/>
                </a:solidFill>
                <a:latin typeface="Calibri" panose="020F0502020204030204" pitchFamily="34" charset="0"/>
              </a:rPr>
              <a:t>Les cours de change au comptant sont :</a:t>
            </a:r>
          </a:p>
          <a:p>
            <a:pPr lvl="1"/>
            <a:r>
              <a:rPr lang="fr-CA" altLang="fr-FR" sz="2200" dirty="0">
                <a:solidFill>
                  <a:srgbClr val="000000"/>
                </a:solidFill>
                <a:latin typeface="Calibri" panose="020F0502020204030204" pitchFamily="34" charset="0"/>
              </a:rPr>
              <a:t>30 juin 2020 : 		1 $US</a:t>
            </a:r>
            <a:r>
              <a:rPr lang="fr-CA" altLang="fr-FR" sz="2200" dirty="0">
                <a:latin typeface="Calibri" panose="020F0502020204030204" pitchFamily="34" charset="0"/>
              </a:rPr>
              <a:t> </a:t>
            </a:r>
            <a:r>
              <a:rPr lang="fr-CA" altLang="fr-FR" sz="2200" dirty="0">
                <a:solidFill>
                  <a:srgbClr val="000000"/>
                </a:solidFill>
                <a:latin typeface="Calibri" panose="020F0502020204030204" pitchFamily="34" charset="0"/>
              </a:rPr>
              <a:t>= 1,20 $</a:t>
            </a:r>
          </a:p>
          <a:p>
            <a:pPr lvl="1" eaLnBrk="1" hangingPunct="1"/>
            <a:r>
              <a:rPr lang="fr-CA" altLang="fr-FR" sz="2200" dirty="0">
                <a:solidFill>
                  <a:srgbClr val="000000"/>
                </a:solidFill>
                <a:latin typeface="Calibri" panose="020F0502020204030204" pitchFamily="34" charset="0"/>
              </a:rPr>
              <a:t>Cours moyen juin : 	1 $US</a:t>
            </a:r>
            <a:r>
              <a:rPr lang="fr-CA" altLang="fr-FR" sz="2200" dirty="0">
                <a:latin typeface="Calibri" panose="020F0502020204030204" pitchFamily="34" charset="0"/>
              </a:rPr>
              <a:t> </a:t>
            </a:r>
            <a:r>
              <a:rPr lang="fr-CA" altLang="fr-FR" sz="2200" dirty="0">
                <a:solidFill>
                  <a:srgbClr val="000000"/>
                </a:solidFill>
                <a:latin typeface="Calibri" panose="020F0502020204030204" pitchFamily="34" charset="0"/>
              </a:rPr>
              <a:t>= 1,18 $ </a:t>
            </a:r>
          </a:p>
          <a:p>
            <a:pPr lvl="1" eaLnBrk="1" hangingPunct="1"/>
            <a:r>
              <a:rPr lang="fr-CA" altLang="fr-FR" sz="2200" dirty="0">
                <a:solidFill>
                  <a:srgbClr val="000000"/>
                </a:solidFill>
                <a:latin typeface="Calibri" panose="020F0502020204030204" pitchFamily="34" charset="0"/>
              </a:rPr>
              <a:t>31 juillet 2020 : 		1 $US</a:t>
            </a:r>
            <a:r>
              <a:rPr lang="fr-CA" altLang="fr-FR" sz="2200" dirty="0">
                <a:latin typeface="Calibri" panose="020F0502020204030204" pitchFamily="34" charset="0"/>
              </a:rPr>
              <a:t> </a:t>
            </a:r>
            <a:r>
              <a:rPr lang="fr-CA" altLang="fr-FR" sz="2200" dirty="0">
                <a:solidFill>
                  <a:srgbClr val="000000"/>
                </a:solidFill>
                <a:latin typeface="Calibri" panose="020F0502020204030204" pitchFamily="34" charset="0"/>
              </a:rPr>
              <a:t>= 1,17 $ </a:t>
            </a:r>
          </a:p>
          <a:p>
            <a:pPr marL="457200" lvl="1" indent="0" eaLnBrk="1" hangingPunct="1">
              <a:buNone/>
            </a:pPr>
            <a:endParaRPr lang="fr-CA" altLang="fr-FR" sz="2200" dirty="0">
              <a:solidFill>
                <a:srgbClr val="000000"/>
              </a:solidFill>
              <a:latin typeface="Calibri" panose="020F0502020204030204" pitchFamily="34" charset="0"/>
            </a:endParaRPr>
          </a:p>
          <a:p>
            <a:pPr>
              <a:buFont typeface="Wingdings" panose="05000000000000000000" pitchFamily="2" charset="2"/>
              <a:buChar char="Ø"/>
            </a:pPr>
            <a:r>
              <a:rPr lang="fr-CA" altLang="fr-FR" sz="2600" i="1" dirty="0">
                <a:solidFill>
                  <a:srgbClr val="000000"/>
                </a:solidFill>
                <a:latin typeface="Calibri" panose="020F0502020204030204" pitchFamily="34" charset="0"/>
              </a:rPr>
              <a:t>Préparez les écritures requises</a:t>
            </a:r>
            <a:endParaRPr lang="fr-CA" altLang="fr-FR" sz="2600" dirty="0">
              <a:latin typeface="Calibri" panose="020F0502020204030204" pitchFamily="34" charset="0"/>
            </a:endParaRPr>
          </a:p>
        </p:txBody>
      </p:sp>
      <p:sp>
        <p:nvSpPr>
          <p:cNvPr id="2" name="Espace réservé du numéro de diapositive 1"/>
          <p:cNvSpPr>
            <a:spLocks noGrp="1"/>
          </p:cNvSpPr>
          <p:nvPr>
            <p:ph type="sldNum" sz="quarter" idx="12"/>
          </p:nvPr>
        </p:nvSpPr>
        <p:spPr/>
        <p:txBody>
          <a:bodyPr/>
          <a:lstStyle/>
          <a:p>
            <a:fld id="{992B40CC-DFA5-47EF-8974-C897708E5DF2}" type="slidenum">
              <a:rPr lang="fr-CA" smtClean="0"/>
              <a:t>16</a:t>
            </a:fld>
            <a:endParaRPr lang="fr-CA"/>
          </a:p>
        </p:txBody>
      </p:sp>
      <p:sp>
        <p:nvSpPr>
          <p:cNvPr id="3" name="Espace réservé du pied de page 2">
            <a:extLst>
              <a:ext uri="{FF2B5EF4-FFF2-40B4-BE49-F238E27FC236}">
                <a16:creationId xmlns:a16="http://schemas.microsoft.com/office/drawing/2014/main" id="{2A34E3D8-3D58-41A8-859B-84C871DD2FF6}"/>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6758270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8674" name="Titre 1"/>
          <p:cNvSpPr>
            <a:spLocks noGrp="1"/>
          </p:cNvSpPr>
          <p:nvPr>
            <p:ph type="title" idx="4294967295"/>
          </p:nvPr>
        </p:nvSpPr>
        <p:spPr/>
        <p:txBody>
          <a:bodyPr anchor="ctr"/>
          <a:lstStyle/>
          <a:p>
            <a:pPr algn="ctr" eaLnBrk="1" hangingPunct="1"/>
            <a:r>
              <a:rPr lang="fr-CA" altLang="fr-FR" sz="3600" dirty="0">
                <a:solidFill>
                  <a:schemeClr val="hlink"/>
                </a:solidFill>
                <a:latin typeface="Calibri" panose="020F0502020204030204" pitchFamily="34" charset="0"/>
              </a:rPr>
              <a:t>Solution</a:t>
            </a:r>
          </a:p>
        </p:txBody>
      </p:sp>
      <p:sp>
        <p:nvSpPr>
          <p:cNvPr id="28675" name="Espace réservé du contenu 2"/>
          <p:cNvSpPr>
            <a:spLocks noGrp="1"/>
          </p:cNvSpPr>
          <p:nvPr>
            <p:ph idx="4294967295"/>
          </p:nvPr>
        </p:nvSpPr>
        <p:spPr/>
        <p:txBody>
          <a:bodyPr>
            <a:normAutofit/>
          </a:bodyPr>
          <a:lstStyle/>
          <a:p>
            <a:pPr eaLnBrk="1" hangingPunct="1">
              <a:buFont typeface="Wingdings" panose="05000000000000000000" pitchFamily="2" charset="2"/>
              <a:buNone/>
            </a:pPr>
            <a:r>
              <a:rPr lang="fr-CA" altLang="fr-FR" sz="2100" i="1" dirty="0">
                <a:solidFill>
                  <a:srgbClr val="FF0066"/>
                </a:solidFill>
                <a:latin typeface="Calibri" panose="020F0502020204030204" pitchFamily="34" charset="0"/>
              </a:rPr>
              <a:t>30 juin 2020</a:t>
            </a:r>
          </a:p>
          <a:p>
            <a:pPr eaLnBrk="1" hangingPunct="1">
              <a:buFont typeface="Wingdings" panose="05000000000000000000" pitchFamily="2" charset="2"/>
              <a:buNone/>
            </a:pPr>
            <a:r>
              <a:rPr lang="fr-CA" altLang="fr-FR" sz="2100" dirty="0">
                <a:solidFill>
                  <a:srgbClr val="000000"/>
                </a:solidFill>
                <a:latin typeface="Calibri" panose="020F0502020204030204" pitchFamily="34" charset="0"/>
              </a:rPr>
              <a:t>Stocks			60 000   </a:t>
            </a:r>
            <a:r>
              <a:rPr lang="fr-CA" altLang="fr-FR" sz="2100" i="1" dirty="0">
                <a:solidFill>
                  <a:srgbClr val="000000"/>
                </a:solidFill>
                <a:latin typeface="Calibri" panose="020F0502020204030204" pitchFamily="34" charset="0"/>
              </a:rPr>
              <a:t>   (cours date de la transaction)</a:t>
            </a:r>
            <a:endParaRPr lang="fr-CA" altLang="fr-FR" sz="2100" dirty="0">
              <a:solidFill>
                <a:srgbClr val="000000"/>
              </a:solidFill>
              <a:latin typeface="Calibri" panose="020F0502020204030204" pitchFamily="34" charset="0"/>
            </a:endParaRPr>
          </a:p>
          <a:p>
            <a:pPr eaLnBrk="1" hangingPunct="1">
              <a:buFont typeface="Wingdings" panose="05000000000000000000" pitchFamily="2" charset="2"/>
              <a:buNone/>
            </a:pPr>
            <a:r>
              <a:rPr lang="fr-CA" altLang="fr-FR" sz="2100" dirty="0">
                <a:solidFill>
                  <a:srgbClr val="000000"/>
                </a:solidFill>
                <a:latin typeface="Calibri" panose="020F0502020204030204" pitchFamily="34" charset="0"/>
              </a:rPr>
              <a:t>@ Compte fournisseur		60 000 </a:t>
            </a:r>
          </a:p>
          <a:p>
            <a:pPr eaLnBrk="1" hangingPunct="1">
              <a:buFont typeface="Wingdings" panose="05000000000000000000" pitchFamily="2" charset="2"/>
              <a:buNone/>
            </a:pPr>
            <a:endParaRPr lang="fr-CA" altLang="fr-FR" sz="2100" dirty="0">
              <a:solidFill>
                <a:srgbClr val="000000"/>
              </a:solidFill>
              <a:latin typeface="Calibri" panose="020F0502020204030204" pitchFamily="34" charset="0"/>
            </a:endParaRPr>
          </a:p>
          <a:p>
            <a:pPr eaLnBrk="1" hangingPunct="1">
              <a:buFont typeface="Wingdings" panose="05000000000000000000" pitchFamily="2" charset="2"/>
              <a:buNone/>
            </a:pPr>
            <a:r>
              <a:rPr lang="fr-CA" altLang="fr-FR" sz="2100" i="1" dirty="0">
                <a:solidFill>
                  <a:srgbClr val="FF0066"/>
                </a:solidFill>
                <a:latin typeface="Calibri" panose="020F0502020204030204" pitchFamily="34" charset="0"/>
              </a:rPr>
              <a:t>31 juillet 2020</a:t>
            </a:r>
          </a:p>
          <a:p>
            <a:pPr>
              <a:buNone/>
            </a:pPr>
            <a:r>
              <a:rPr lang="fr-CA" altLang="fr-FR" sz="2100" dirty="0">
                <a:solidFill>
                  <a:srgbClr val="000000"/>
                </a:solidFill>
                <a:latin typeface="Calibri" panose="020F0502020204030204" pitchFamily="34" charset="0"/>
              </a:rPr>
              <a:t>Compte fournisseur	60 000</a:t>
            </a:r>
          </a:p>
          <a:p>
            <a:pPr>
              <a:buNone/>
            </a:pPr>
            <a:r>
              <a:rPr lang="fr-CA" altLang="fr-FR" sz="2100" dirty="0">
                <a:solidFill>
                  <a:srgbClr val="000000"/>
                </a:solidFill>
                <a:latin typeface="Calibri" panose="020F0502020204030204" pitchFamily="34" charset="0"/>
              </a:rPr>
              <a:t>@ Encaisse			58 500</a:t>
            </a:r>
          </a:p>
          <a:p>
            <a:pPr>
              <a:buNone/>
            </a:pPr>
            <a:r>
              <a:rPr lang="fr-CA" altLang="fr-FR" sz="2100" dirty="0">
                <a:solidFill>
                  <a:srgbClr val="000000"/>
                </a:solidFill>
                <a:latin typeface="Calibri" panose="020F0502020204030204" pitchFamily="34" charset="0"/>
              </a:rPr>
              <a:t>	 Gain sur change  (RN)		  1 500</a:t>
            </a:r>
          </a:p>
          <a:p>
            <a:pPr eaLnBrk="1" hangingPunct="1">
              <a:buFont typeface="Wingdings" panose="05000000000000000000" pitchFamily="2" charset="2"/>
              <a:buNone/>
            </a:pPr>
            <a:endParaRPr lang="fr-CA" altLang="fr-FR" sz="2100" dirty="0">
              <a:solidFill>
                <a:srgbClr val="000000"/>
              </a:solidFill>
              <a:latin typeface="Calibri" panose="020F0502020204030204" pitchFamily="34" charset="0"/>
            </a:endParaRPr>
          </a:p>
        </p:txBody>
      </p:sp>
      <p:sp>
        <p:nvSpPr>
          <p:cNvPr id="2" name="Espace réservé du numéro de diapositive 1"/>
          <p:cNvSpPr>
            <a:spLocks noGrp="1"/>
          </p:cNvSpPr>
          <p:nvPr>
            <p:ph type="sldNum" sz="quarter" idx="12"/>
          </p:nvPr>
        </p:nvSpPr>
        <p:spPr/>
        <p:txBody>
          <a:bodyPr/>
          <a:lstStyle/>
          <a:p>
            <a:fld id="{992B40CC-DFA5-47EF-8974-C897708E5DF2}" type="slidenum">
              <a:rPr lang="fr-CA" smtClean="0"/>
              <a:t>17</a:t>
            </a:fld>
            <a:endParaRPr lang="fr-CA"/>
          </a:p>
        </p:txBody>
      </p:sp>
      <p:sp>
        <p:nvSpPr>
          <p:cNvPr id="3" name="Espace réservé du pied de page 2">
            <a:extLst>
              <a:ext uri="{FF2B5EF4-FFF2-40B4-BE49-F238E27FC236}">
                <a16:creationId xmlns:a16="http://schemas.microsoft.com/office/drawing/2014/main" id="{035047A7-273E-4C80-907B-2C17BE25E044}"/>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0135074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7650" name="Titre 1"/>
          <p:cNvSpPr>
            <a:spLocks noGrp="1"/>
          </p:cNvSpPr>
          <p:nvPr>
            <p:ph type="title" idx="4294967295"/>
          </p:nvPr>
        </p:nvSpPr>
        <p:spPr/>
        <p:txBody>
          <a:bodyPr anchor="ctr"/>
          <a:lstStyle/>
          <a:p>
            <a:pPr algn="ctr" eaLnBrk="1" hangingPunct="1"/>
            <a:r>
              <a:rPr lang="fr-CA" altLang="fr-FR" sz="3600" dirty="0">
                <a:solidFill>
                  <a:schemeClr val="hlink"/>
                </a:solidFill>
                <a:latin typeface="Calibri" panose="020F0502020204030204" pitchFamily="34" charset="0"/>
              </a:rPr>
              <a:t>Exercice 2</a:t>
            </a:r>
          </a:p>
        </p:txBody>
      </p:sp>
      <p:sp>
        <p:nvSpPr>
          <p:cNvPr id="27651" name="Espace réservé du contenu 2"/>
          <p:cNvSpPr>
            <a:spLocks noGrp="1"/>
          </p:cNvSpPr>
          <p:nvPr>
            <p:ph idx="4294967295"/>
          </p:nvPr>
        </p:nvSpPr>
        <p:spPr/>
        <p:txBody>
          <a:bodyPr/>
          <a:lstStyle/>
          <a:p>
            <a:pPr marL="0" indent="0" eaLnBrk="1" hangingPunct="1">
              <a:buNone/>
            </a:pPr>
            <a:r>
              <a:rPr lang="fr-CA" altLang="fr-FR" sz="2600" dirty="0">
                <a:solidFill>
                  <a:srgbClr val="000000"/>
                </a:solidFill>
                <a:latin typeface="Calibri" panose="020F0502020204030204" pitchFamily="34" charset="0"/>
              </a:rPr>
              <a:t>Le 1</a:t>
            </a:r>
            <a:r>
              <a:rPr lang="fr-CA" altLang="fr-FR" sz="2600" baseline="30000" dirty="0">
                <a:solidFill>
                  <a:srgbClr val="000000"/>
                </a:solidFill>
                <a:latin typeface="Calibri" panose="020F0502020204030204" pitchFamily="34" charset="0"/>
              </a:rPr>
              <a:t>er</a:t>
            </a:r>
            <a:r>
              <a:rPr lang="fr-CA" altLang="fr-FR" sz="2600" dirty="0">
                <a:solidFill>
                  <a:srgbClr val="000000"/>
                </a:solidFill>
                <a:latin typeface="Calibri" panose="020F0502020204030204" pitchFamily="34" charset="0"/>
              </a:rPr>
              <a:t> décembre 2019, ABC achète à crédit un équipement d’un fournisseur américain au prix de 50 000 $US, payable le 15 janvier 2020. </a:t>
            </a:r>
          </a:p>
          <a:p>
            <a:pPr marL="266700" indent="0" eaLnBrk="1" hangingPunct="1">
              <a:buNone/>
            </a:pPr>
            <a:r>
              <a:rPr lang="fr-CA" altLang="fr-FR" sz="2600" dirty="0">
                <a:solidFill>
                  <a:srgbClr val="000000"/>
                </a:solidFill>
                <a:latin typeface="Calibri" panose="020F0502020204030204" pitchFamily="34" charset="0"/>
              </a:rPr>
              <a:t>Les cours de change au comptant sont :</a:t>
            </a:r>
          </a:p>
          <a:p>
            <a:pPr lvl="1"/>
            <a:r>
              <a:rPr lang="fr-CA" altLang="fr-FR" sz="2200" dirty="0">
                <a:solidFill>
                  <a:srgbClr val="000000"/>
                </a:solidFill>
                <a:latin typeface="Calibri" panose="020F0502020204030204" pitchFamily="34" charset="0"/>
              </a:rPr>
              <a:t>1</a:t>
            </a:r>
            <a:r>
              <a:rPr lang="fr-CA" altLang="fr-FR" sz="2200" baseline="30000" dirty="0">
                <a:solidFill>
                  <a:srgbClr val="000000"/>
                </a:solidFill>
                <a:latin typeface="Calibri" panose="020F0502020204030204" pitchFamily="34" charset="0"/>
              </a:rPr>
              <a:t>er</a:t>
            </a:r>
            <a:r>
              <a:rPr lang="fr-CA" altLang="fr-FR" sz="2200" dirty="0">
                <a:solidFill>
                  <a:srgbClr val="000000"/>
                </a:solidFill>
                <a:latin typeface="Calibri" panose="020F0502020204030204" pitchFamily="34" charset="0"/>
              </a:rPr>
              <a:t> décembre 2019 : 	1 $US</a:t>
            </a:r>
            <a:r>
              <a:rPr lang="fr-CA" altLang="fr-FR" sz="2200" dirty="0">
                <a:latin typeface="Calibri" panose="020F0502020204030204" pitchFamily="34" charset="0"/>
              </a:rPr>
              <a:t> </a:t>
            </a:r>
            <a:r>
              <a:rPr lang="fr-CA" altLang="fr-FR" sz="2200" dirty="0">
                <a:solidFill>
                  <a:srgbClr val="000000"/>
                </a:solidFill>
                <a:latin typeface="Calibri" panose="020F0502020204030204" pitchFamily="34" charset="0"/>
              </a:rPr>
              <a:t>= 1,10 $</a:t>
            </a:r>
          </a:p>
          <a:p>
            <a:pPr lvl="1"/>
            <a:r>
              <a:rPr lang="fr-CA" altLang="fr-FR" sz="2200" dirty="0">
                <a:solidFill>
                  <a:srgbClr val="000000"/>
                </a:solidFill>
                <a:latin typeface="Calibri" panose="020F0502020204030204" pitchFamily="34" charset="0"/>
              </a:rPr>
              <a:t>31 décembre 2019 : 	1 $US</a:t>
            </a:r>
            <a:r>
              <a:rPr lang="fr-CA" altLang="fr-FR" sz="2200" dirty="0">
                <a:latin typeface="Calibri" panose="020F0502020204030204" pitchFamily="34" charset="0"/>
              </a:rPr>
              <a:t> </a:t>
            </a:r>
            <a:r>
              <a:rPr lang="fr-CA" altLang="fr-FR" sz="2200" dirty="0">
                <a:solidFill>
                  <a:srgbClr val="000000"/>
                </a:solidFill>
                <a:latin typeface="Calibri" panose="020F0502020204030204" pitchFamily="34" charset="0"/>
              </a:rPr>
              <a:t>= 1,13 $ </a:t>
            </a:r>
          </a:p>
          <a:p>
            <a:pPr lvl="1"/>
            <a:r>
              <a:rPr lang="fr-CA" altLang="fr-FR" sz="2200" dirty="0">
                <a:solidFill>
                  <a:srgbClr val="000000"/>
                </a:solidFill>
                <a:latin typeface="Calibri" panose="020F0502020204030204" pitchFamily="34" charset="0"/>
              </a:rPr>
              <a:t>15 janvier 2020 : 		1 $US</a:t>
            </a:r>
            <a:r>
              <a:rPr lang="fr-CA" altLang="fr-FR" sz="2200" dirty="0">
                <a:latin typeface="Calibri" panose="020F0502020204030204" pitchFamily="34" charset="0"/>
              </a:rPr>
              <a:t> </a:t>
            </a:r>
            <a:r>
              <a:rPr lang="fr-CA" altLang="fr-FR" sz="2200" dirty="0">
                <a:solidFill>
                  <a:srgbClr val="000000"/>
                </a:solidFill>
                <a:latin typeface="Calibri" panose="020F0502020204030204" pitchFamily="34" charset="0"/>
              </a:rPr>
              <a:t>= 1,12 $ </a:t>
            </a:r>
          </a:p>
          <a:p>
            <a:pPr marL="457200" lvl="1" indent="0" eaLnBrk="1" hangingPunct="1">
              <a:buNone/>
            </a:pPr>
            <a:endParaRPr lang="fr-CA" altLang="fr-FR" sz="2200" dirty="0">
              <a:solidFill>
                <a:srgbClr val="000000"/>
              </a:solidFill>
              <a:latin typeface="Calibri" panose="020F0502020204030204" pitchFamily="34" charset="0"/>
            </a:endParaRPr>
          </a:p>
          <a:p>
            <a:pPr eaLnBrk="1" hangingPunct="1">
              <a:buFont typeface="Wingdings" panose="05000000000000000000" pitchFamily="2" charset="2"/>
              <a:buChar char="Ø"/>
            </a:pPr>
            <a:r>
              <a:rPr lang="fr-CA" altLang="fr-FR" sz="2600" i="1" dirty="0">
                <a:solidFill>
                  <a:srgbClr val="000000"/>
                </a:solidFill>
                <a:latin typeface="Calibri" panose="020F0502020204030204" pitchFamily="34" charset="0"/>
              </a:rPr>
              <a:t> Préparez les écritures requises, sachant que des états financiers doivent être produits le 31 décembre.</a:t>
            </a:r>
            <a:endParaRPr lang="fr-CA" altLang="fr-FR" sz="2600" i="1" dirty="0">
              <a:latin typeface="Calibri" panose="020F0502020204030204" pitchFamily="34" charset="0"/>
            </a:endParaRPr>
          </a:p>
        </p:txBody>
      </p:sp>
      <p:sp>
        <p:nvSpPr>
          <p:cNvPr id="2" name="Espace réservé du numéro de diapositive 1"/>
          <p:cNvSpPr>
            <a:spLocks noGrp="1"/>
          </p:cNvSpPr>
          <p:nvPr>
            <p:ph type="sldNum" sz="quarter" idx="12"/>
          </p:nvPr>
        </p:nvSpPr>
        <p:spPr/>
        <p:txBody>
          <a:bodyPr/>
          <a:lstStyle/>
          <a:p>
            <a:fld id="{992B40CC-DFA5-47EF-8974-C897708E5DF2}" type="slidenum">
              <a:rPr lang="fr-CA" smtClean="0"/>
              <a:t>18</a:t>
            </a:fld>
            <a:endParaRPr lang="fr-CA"/>
          </a:p>
        </p:txBody>
      </p:sp>
      <p:sp>
        <p:nvSpPr>
          <p:cNvPr id="3" name="Espace réservé du pied de page 2">
            <a:extLst>
              <a:ext uri="{FF2B5EF4-FFF2-40B4-BE49-F238E27FC236}">
                <a16:creationId xmlns:a16="http://schemas.microsoft.com/office/drawing/2014/main" id="{BE6FC6B2-E506-403E-A00E-E8E2D5481901}"/>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564772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8674" name="Titre 1"/>
          <p:cNvSpPr>
            <a:spLocks noGrp="1"/>
          </p:cNvSpPr>
          <p:nvPr>
            <p:ph type="title" idx="4294967295"/>
          </p:nvPr>
        </p:nvSpPr>
        <p:spPr/>
        <p:txBody>
          <a:bodyPr anchor="ctr"/>
          <a:lstStyle/>
          <a:p>
            <a:pPr algn="ctr" eaLnBrk="1" hangingPunct="1"/>
            <a:r>
              <a:rPr lang="fr-CA" altLang="fr-FR" sz="3600" dirty="0">
                <a:solidFill>
                  <a:schemeClr val="hlink"/>
                </a:solidFill>
                <a:latin typeface="Calibri" panose="020F0502020204030204" pitchFamily="34" charset="0"/>
              </a:rPr>
              <a:t>Solution</a:t>
            </a:r>
          </a:p>
        </p:txBody>
      </p:sp>
      <p:sp>
        <p:nvSpPr>
          <p:cNvPr id="28675" name="Espace réservé du contenu 2"/>
          <p:cNvSpPr>
            <a:spLocks noGrp="1"/>
          </p:cNvSpPr>
          <p:nvPr>
            <p:ph idx="4294967295"/>
          </p:nvPr>
        </p:nvSpPr>
        <p:spPr>
          <a:xfrm>
            <a:off x="838200" y="1576552"/>
            <a:ext cx="10515600" cy="4916323"/>
          </a:xfrm>
        </p:spPr>
        <p:txBody>
          <a:bodyPr>
            <a:normAutofit fontScale="85000" lnSpcReduction="20000"/>
          </a:bodyPr>
          <a:lstStyle/>
          <a:p>
            <a:pPr eaLnBrk="1" hangingPunct="1">
              <a:buFont typeface="Wingdings" panose="05000000000000000000" pitchFamily="2" charset="2"/>
              <a:buNone/>
            </a:pPr>
            <a:r>
              <a:rPr lang="fr-CA" altLang="fr-FR" sz="2100" i="1" dirty="0">
                <a:solidFill>
                  <a:srgbClr val="FF0066"/>
                </a:solidFill>
                <a:latin typeface="Calibri" panose="020F0502020204030204" pitchFamily="34" charset="0"/>
              </a:rPr>
              <a:t>1</a:t>
            </a:r>
            <a:r>
              <a:rPr lang="fr-CA" altLang="fr-FR" sz="2100" i="1" baseline="30000" dirty="0">
                <a:solidFill>
                  <a:srgbClr val="FF0066"/>
                </a:solidFill>
                <a:latin typeface="Calibri" panose="020F0502020204030204" pitchFamily="34" charset="0"/>
              </a:rPr>
              <a:t>er</a:t>
            </a:r>
            <a:r>
              <a:rPr lang="fr-CA" altLang="fr-FR" sz="2100" i="1" dirty="0">
                <a:solidFill>
                  <a:srgbClr val="FF0066"/>
                </a:solidFill>
                <a:latin typeface="Calibri" panose="020F0502020204030204" pitchFamily="34" charset="0"/>
              </a:rPr>
              <a:t> décembre 2019</a:t>
            </a:r>
          </a:p>
          <a:p>
            <a:pPr eaLnBrk="1" hangingPunct="1">
              <a:buFont typeface="Wingdings" panose="05000000000000000000" pitchFamily="2" charset="2"/>
              <a:buNone/>
            </a:pPr>
            <a:r>
              <a:rPr lang="fr-CA" altLang="fr-FR" sz="2100" dirty="0">
                <a:solidFill>
                  <a:srgbClr val="000000"/>
                </a:solidFill>
                <a:latin typeface="Calibri" panose="020F0502020204030204" pitchFamily="34" charset="0"/>
              </a:rPr>
              <a:t>Équipement		55 000 $</a:t>
            </a:r>
          </a:p>
          <a:p>
            <a:pPr>
              <a:buNone/>
            </a:pPr>
            <a:r>
              <a:rPr lang="fr-CA" altLang="fr-FR" sz="2100" dirty="0">
                <a:solidFill>
                  <a:srgbClr val="000000"/>
                </a:solidFill>
                <a:latin typeface="Calibri" panose="020F0502020204030204" pitchFamily="34" charset="0"/>
              </a:rPr>
              <a:t>@ Compte à payer			55 000 $     </a:t>
            </a:r>
            <a:r>
              <a:rPr lang="fr-CA" altLang="fr-FR" sz="2100" i="1" dirty="0">
                <a:solidFill>
                  <a:srgbClr val="000000"/>
                </a:solidFill>
                <a:latin typeface="Calibri" panose="020F0502020204030204" pitchFamily="34" charset="0"/>
              </a:rPr>
              <a:t>(50 000 * 1,10)</a:t>
            </a:r>
          </a:p>
          <a:p>
            <a:pPr>
              <a:buNone/>
            </a:pPr>
            <a:endParaRPr lang="fr-CA" altLang="fr-FR" sz="900" dirty="0">
              <a:solidFill>
                <a:srgbClr val="000000"/>
              </a:solidFill>
              <a:latin typeface="Calibri" panose="020F0502020204030204" pitchFamily="34" charset="0"/>
            </a:endParaRPr>
          </a:p>
          <a:p>
            <a:pPr eaLnBrk="1" hangingPunct="1">
              <a:buFont typeface="Wingdings" panose="05000000000000000000" pitchFamily="2" charset="2"/>
              <a:buNone/>
            </a:pPr>
            <a:r>
              <a:rPr lang="fr-CA" altLang="fr-FR" sz="2100" i="1" dirty="0">
                <a:solidFill>
                  <a:srgbClr val="FF0066"/>
                </a:solidFill>
                <a:latin typeface="Calibri" panose="020F0502020204030204" pitchFamily="34" charset="0"/>
              </a:rPr>
              <a:t>31 décembre 2019</a:t>
            </a:r>
          </a:p>
          <a:p>
            <a:pPr eaLnBrk="1" hangingPunct="1">
              <a:buFont typeface="Wingdings" panose="05000000000000000000" pitchFamily="2" charset="2"/>
              <a:buNone/>
            </a:pPr>
            <a:r>
              <a:rPr lang="fr-CA" altLang="fr-FR" sz="2100" dirty="0">
                <a:solidFill>
                  <a:srgbClr val="000000"/>
                </a:solidFill>
                <a:latin typeface="Calibri" panose="020F0502020204030204" pitchFamily="34" charset="0"/>
              </a:rPr>
              <a:t>Perte sur change  	  	 1 500 $                         </a:t>
            </a:r>
            <a:r>
              <a:rPr lang="fr-CA" altLang="fr-FR" sz="2100" i="1" dirty="0">
                <a:solidFill>
                  <a:srgbClr val="000000"/>
                </a:solidFill>
                <a:latin typeface="Calibri" panose="020F0502020204030204" pitchFamily="34" charset="0"/>
              </a:rPr>
              <a:t>présenté au résultat net</a:t>
            </a:r>
            <a:endParaRPr lang="fr-CA" altLang="fr-FR" sz="2100" dirty="0">
              <a:solidFill>
                <a:srgbClr val="000000"/>
              </a:solidFill>
              <a:latin typeface="Calibri" panose="020F0502020204030204" pitchFamily="34" charset="0"/>
            </a:endParaRPr>
          </a:p>
          <a:p>
            <a:pPr>
              <a:buNone/>
            </a:pPr>
            <a:r>
              <a:rPr lang="fr-CA" altLang="fr-FR" sz="2100" dirty="0">
                <a:solidFill>
                  <a:srgbClr val="000000"/>
                </a:solidFill>
                <a:latin typeface="Calibri" panose="020F0502020204030204" pitchFamily="34" charset="0"/>
              </a:rPr>
              <a:t>@ Compte à payer         		1 500 $    </a:t>
            </a:r>
            <a:r>
              <a:rPr lang="fr-CA" altLang="fr-FR" sz="2100" i="1" dirty="0">
                <a:solidFill>
                  <a:srgbClr val="000000"/>
                </a:solidFill>
                <a:latin typeface="Calibri" panose="020F0502020204030204" pitchFamily="34" charset="0"/>
              </a:rPr>
              <a:t>(50 000 * ((1,13-1,10))     </a:t>
            </a:r>
          </a:p>
          <a:p>
            <a:pPr>
              <a:buNone/>
            </a:pPr>
            <a:r>
              <a:rPr lang="fr-CA" altLang="fr-FR" sz="2100" i="1" dirty="0">
                <a:solidFill>
                  <a:srgbClr val="000000"/>
                </a:solidFill>
                <a:latin typeface="Calibri" panose="020F0502020204030204" pitchFamily="34" charset="0"/>
              </a:rPr>
              <a:t>Compte à payer libellés en monnaie étrangère : poste monétaire, donc ajustement cours de clôture</a:t>
            </a:r>
          </a:p>
          <a:p>
            <a:pPr>
              <a:buNone/>
            </a:pPr>
            <a:r>
              <a:rPr lang="fr-CA" altLang="fr-FR" sz="2100" i="1" dirty="0">
                <a:solidFill>
                  <a:srgbClr val="000000"/>
                </a:solidFill>
                <a:latin typeface="Calibri" panose="020F0502020204030204" pitchFamily="34" charset="0"/>
              </a:rPr>
              <a:t>Équipement : non monétaire, donc aucun ajustement</a:t>
            </a:r>
          </a:p>
          <a:p>
            <a:pPr>
              <a:buNone/>
            </a:pPr>
            <a:endParaRPr lang="fr-CA" altLang="fr-FR" sz="1000" i="1" dirty="0">
              <a:solidFill>
                <a:srgbClr val="000000"/>
              </a:solidFill>
              <a:latin typeface="Calibri" panose="020F0502020204030204" pitchFamily="34" charset="0"/>
            </a:endParaRPr>
          </a:p>
          <a:p>
            <a:pPr eaLnBrk="1" hangingPunct="1">
              <a:buFont typeface="Wingdings" panose="05000000000000000000" pitchFamily="2" charset="2"/>
              <a:buNone/>
            </a:pPr>
            <a:r>
              <a:rPr lang="fr-CA" altLang="fr-FR" sz="2100" i="1" dirty="0">
                <a:solidFill>
                  <a:srgbClr val="FF0066"/>
                </a:solidFill>
                <a:latin typeface="Calibri" panose="020F0502020204030204" pitchFamily="34" charset="0"/>
              </a:rPr>
              <a:t>15 janvier 2020</a:t>
            </a:r>
          </a:p>
          <a:p>
            <a:pPr>
              <a:buNone/>
            </a:pPr>
            <a:r>
              <a:rPr lang="fr-CA" altLang="fr-FR" sz="2100" dirty="0">
                <a:solidFill>
                  <a:srgbClr val="000000"/>
                </a:solidFill>
                <a:latin typeface="Calibri" panose="020F0502020204030204" pitchFamily="34" charset="0"/>
              </a:rPr>
              <a:t>Compte à payer	 	      500 $</a:t>
            </a:r>
          </a:p>
          <a:p>
            <a:pPr>
              <a:buNone/>
            </a:pPr>
            <a:r>
              <a:rPr lang="fr-CA" altLang="fr-FR" sz="2100" dirty="0">
                <a:solidFill>
                  <a:srgbClr val="000000"/>
                </a:solidFill>
                <a:latin typeface="Calibri" panose="020F0502020204030204" pitchFamily="34" charset="0"/>
              </a:rPr>
              <a:t>@ Gain sur change 			   500 $      </a:t>
            </a:r>
            <a:r>
              <a:rPr lang="fr-CA" altLang="fr-FR" sz="2100" i="1" dirty="0">
                <a:solidFill>
                  <a:srgbClr val="000000"/>
                </a:solidFill>
                <a:latin typeface="Calibri" panose="020F0502020204030204" pitchFamily="34" charset="0"/>
              </a:rPr>
              <a:t>(50 000 * ((1,12-1,13))</a:t>
            </a:r>
          </a:p>
          <a:p>
            <a:pPr>
              <a:buNone/>
            </a:pPr>
            <a:endParaRPr lang="fr-CA" altLang="fr-FR" sz="800" dirty="0">
              <a:solidFill>
                <a:srgbClr val="000000"/>
              </a:solidFill>
              <a:latin typeface="Calibri" panose="020F0502020204030204" pitchFamily="34" charset="0"/>
            </a:endParaRPr>
          </a:p>
          <a:p>
            <a:pPr>
              <a:buNone/>
            </a:pPr>
            <a:r>
              <a:rPr lang="fr-CA" altLang="fr-FR" sz="2100" dirty="0">
                <a:solidFill>
                  <a:srgbClr val="000000"/>
                </a:solidFill>
                <a:latin typeface="Calibri" panose="020F0502020204030204" pitchFamily="34" charset="0"/>
              </a:rPr>
              <a:t>Compte à payer 		56 000 $</a:t>
            </a:r>
          </a:p>
          <a:p>
            <a:pPr eaLnBrk="1" hangingPunct="1">
              <a:buFont typeface="Wingdings" panose="05000000000000000000" pitchFamily="2" charset="2"/>
              <a:buNone/>
            </a:pPr>
            <a:r>
              <a:rPr lang="fr-CA" altLang="fr-FR" sz="2100" dirty="0">
                <a:solidFill>
                  <a:srgbClr val="000000"/>
                </a:solidFill>
                <a:latin typeface="Calibri" panose="020F0502020204030204" pitchFamily="34" charset="0"/>
              </a:rPr>
              <a:t>@ Caisse     		 	56 000 $    </a:t>
            </a:r>
            <a:r>
              <a:rPr lang="fr-CA" altLang="fr-FR" sz="2100" i="1" dirty="0">
                <a:solidFill>
                  <a:srgbClr val="000000"/>
                </a:solidFill>
                <a:latin typeface="Calibri" panose="020F0502020204030204" pitchFamily="34" charset="0"/>
              </a:rPr>
              <a:t>(50 000 * 1,12)</a:t>
            </a:r>
            <a:endParaRPr lang="fr-CA" altLang="fr-FR" sz="2100" dirty="0">
              <a:solidFill>
                <a:srgbClr val="000000"/>
              </a:solidFill>
              <a:latin typeface="Calibri" panose="020F0502020204030204" pitchFamily="34" charset="0"/>
            </a:endParaRPr>
          </a:p>
        </p:txBody>
      </p:sp>
      <p:sp>
        <p:nvSpPr>
          <p:cNvPr id="2" name="Espace réservé du numéro de diapositive 1"/>
          <p:cNvSpPr>
            <a:spLocks noGrp="1"/>
          </p:cNvSpPr>
          <p:nvPr>
            <p:ph type="sldNum" sz="quarter" idx="12"/>
          </p:nvPr>
        </p:nvSpPr>
        <p:spPr/>
        <p:txBody>
          <a:bodyPr/>
          <a:lstStyle/>
          <a:p>
            <a:fld id="{992B40CC-DFA5-47EF-8974-C897708E5DF2}" type="slidenum">
              <a:rPr lang="fr-CA" smtClean="0"/>
              <a:t>19</a:t>
            </a:fld>
            <a:endParaRPr lang="fr-CA"/>
          </a:p>
        </p:txBody>
      </p:sp>
      <p:sp>
        <p:nvSpPr>
          <p:cNvPr id="3" name="Espace réservé du pied de page 2">
            <a:extLst>
              <a:ext uri="{FF2B5EF4-FFF2-40B4-BE49-F238E27FC236}">
                <a16:creationId xmlns:a16="http://schemas.microsoft.com/office/drawing/2014/main" id="{141E74B9-BB1A-4642-8B35-9083FB32EA04}"/>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56260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7650" name="Titre 1"/>
          <p:cNvSpPr>
            <a:spLocks noGrp="1"/>
          </p:cNvSpPr>
          <p:nvPr>
            <p:ph type="title" idx="4294967295"/>
          </p:nvPr>
        </p:nvSpPr>
        <p:spPr/>
        <p:txBody>
          <a:bodyPr anchor="ctr"/>
          <a:lstStyle/>
          <a:p>
            <a:pPr algn="ctr" eaLnBrk="1" hangingPunct="1"/>
            <a:r>
              <a:rPr lang="fr-CA" altLang="fr-FR" sz="3600" dirty="0">
                <a:solidFill>
                  <a:schemeClr val="hlink"/>
                </a:solidFill>
                <a:latin typeface="Calibri" panose="020F0502020204030204" pitchFamily="34" charset="0"/>
              </a:rPr>
              <a:t>Exercice 3</a:t>
            </a:r>
          </a:p>
        </p:txBody>
      </p:sp>
      <p:sp>
        <p:nvSpPr>
          <p:cNvPr id="27651" name="Espace réservé du contenu 2"/>
          <p:cNvSpPr>
            <a:spLocks noGrp="1"/>
          </p:cNvSpPr>
          <p:nvPr>
            <p:ph idx="4294967295"/>
          </p:nvPr>
        </p:nvSpPr>
        <p:spPr/>
        <p:txBody>
          <a:bodyPr/>
          <a:lstStyle/>
          <a:p>
            <a:pPr eaLnBrk="1" hangingPunct="1"/>
            <a:r>
              <a:rPr lang="fr-CA" altLang="fr-FR" sz="2600" dirty="0">
                <a:solidFill>
                  <a:srgbClr val="000000"/>
                </a:solidFill>
                <a:latin typeface="Calibri" panose="020F0502020204030204" pitchFamily="34" charset="0"/>
              </a:rPr>
              <a:t>ABC emprunte, le</a:t>
            </a:r>
            <a:r>
              <a:rPr lang="fr-CA" altLang="fr-FR" sz="2600" b="1" dirty="0">
                <a:solidFill>
                  <a:srgbClr val="000000"/>
                </a:solidFill>
                <a:latin typeface="Calibri" panose="020F0502020204030204" pitchFamily="34" charset="0"/>
              </a:rPr>
              <a:t> </a:t>
            </a:r>
            <a:r>
              <a:rPr lang="fr-CA" altLang="fr-FR" sz="2600" dirty="0">
                <a:solidFill>
                  <a:srgbClr val="000000"/>
                </a:solidFill>
                <a:latin typeface="Calibri" panose="020F0502020204030204" pitchFamily="34" charset="0"/>
              </a:rPr>
              <a:t> 1</a:t>
            </a:r>
            <a:r>
              <a:rPr lang="fr-CA" altLang="fr-FR" sz="2600" baseline="30000" dirty="0">
                <a:solidFill>
                  <a:srgbClr val="000000"/>
                </a:solidFill>
                <a:latin typeface="Calibri" panose="020F0502020204030204" pitchFamily="34" charset="0"/>
              </a:rPr>
              <a:t>er</a:t>
            </a:r>
            <a:r>
              <a:rPr lang="fr-CA" altLang="fr-FR" sz="2600" dirty="0">
                <a:solidFill>
                  <a:srgbClr val="000000"/>
                </a:solidFill>
                <a:latin typeface="Calibri" panose="020F0502020204030204" pitchFamily="34" charset="0"/>
              </a:rPr>
              <a:t> janvier 2019, 1 000 000 €. </a:t>
            </a:r>
            <a:r>
              <a:rPr lang="fr-CA" altLang="fr-FR" sz="2600" i="1" dirty="0">
                <a:solidFill>
                  <a:srgbClr val="000000"/>
                </a:solidFill>
                <a:latin typeface="Calibri" panose="020F0502020204030204" pitchFamily="34" charset="0"/>
              </a:rPr>
              <a:t>Le prêt porte intérêt au taux de 8 %, payable le 31 décembre de chaque année.</a:t>
            </a:r>
            <a:r>
              <a:rPr lang="fr-CA" altLang="fr-FR" sz="1800" i="1" dirty="0">
                <a:solidFill>
                  <a:srgbClr val="000000"/>
                </a:solidFill>
                <a:latin typeface="Calibri" panose="020F0502020204030204" pitchFamily="34" charset="0"/>
              </a:rPr>
              <a:t> </a:t>
            </a:r>
            <a:r>
              <a:rPr lang="fr-CA" altLang="fr-FR" sz="1800" dirty="0">
                <a:solidFill>
                  <a:srgbClr val="000000"/>
                </a:solidFill>
                <a:latin typeface="Calibri" panose="020F0502020204030204" pitchFamily="34" charset="0"/>
              </a:rPr>
              <a:t>(date de clôture est le 31 décembre</a:t>
            </a:r>
            <a:r>
              <a:rPr lang="fr-CA" altLang="fr-FR" sz="1800" dirty="0">
                <a:latin typeface="Calibri" panose="020F0502020204030204" pitchFamily="34" charset="0"/>
              </a:rPr>
              <a:t>)</a:t>
            </a:r>
            <a:r>
              <a:rPr lang="fr-CA" altLang="fr-FR" sz="2400" dirty="0">
                <a:solidFill>
                  <a:srgbClr val="000000"/>
                </a:solidFill>
                <a:latin typeface="Calibri" panose="020F0502020204030204" pitchFamily="34" charset="0"/>
              </a:rPr>
              <a:t> </a:t>
            </a:r>
            <a:endParaRPr lang="fr-CA" altLang="fr-FR" sz="2600" i="1" dirty="0">
              <a:solidFill>
                <a:srgbClr val="000000"/>
              </a:solidFill>
              <a:latin typeface="Calibri" panose="020F0502020204030204" pitchFamily="34" charset="0"/>
            </a:endParaRPr>
          </a:p>
          <a:p>
            <a:pPr marL="266700" indent="0" eaLnBrk="1" hangingPunct="1">
              <a:buNone/>
            </a:pPr>
            <a:r>
              <a:rPr lang="fr-CA" altLang="fr-FR" sz="2600" dirty="0">
                <a:solidFill>
                  <a:srgbClr val="000000"/>
                </a:solidFill>
                <a:latin typeface="Calibri" panose="020F0502020204030204" pitchFamily="34" charset="0"/>
              </a:rPr>
              <a:t>Les cours de change au comptant sont :</a:t>
            </a:r>
          </a:p>
          <a:p>
            <a:pPr lvl="1"/>
            <a:r>
              <a:rPr lang="fr-CA" altLang="fr-FR" sz="2200" dirty="0">
                <a:solidFill>
                  <a:srgbClr val="000000"/>
                </a:solidFill>
                <a:latin typeface="Calibri" panose="020F0502020204030204" pitchFamily="34" charset="0"/>
              </a:rPr>
              <a:t>1</a:t>
            </a:r>
            <a:r>
              <a:rPr lang="fr-CA" altLang="fr-FR" sz="2200" baseline="30000" dirty="0">
                <a:solidFill>
                  <a:srgbClr val="000000"/>
                </a:solidFill>
                <a:latin typeface="Calibri" panose="020F0502020204030204" pitchFamily="34" charset="0"/>
              </a:rPr>
              <a:t>er</a:t>
            </a:r>
            <a:r>
              <a:rPr lang="fr-CA" altLang="fr-FR" sz="2200" dirty="0">
                <a:solidFill>
                  <a:srgbClr val="000000"/>
                </a:solidFill>
                <a:latin typeface="Calibri" panose="020F0502020204030204" pitchFamily="34" charset="0"/>
              </a:rPr>
              <a:t> janvier 2019 : 		1 €</a:t>
            </a:r>
            <a:r>
              <a:rPr lang="fr-CA" altLang="fr-FR" sz="2200" dirty="0">
                <a:latin typeface="Calibri" panose="020F0502020204030204" pitchFamily="34" charset="0"/>
              </a:rPr>
              <a:t> </a:t>
            </a:r>
            <a:r>
              <a:rPr lang="fr-CA" altLang="fr-FR" sz="2200" dirty="0">
                <a:solidFill>
                  <a:srgbClr val="000000"/>
                </a:solidFill>
                <a:latin typeface="Calibri" panose="020F0502020204030204" pitchFamily="34" charset="0"/>
              </a:rPr>
              <a:t>= 1,38 $</a:t>
            </a:r>
          </a:p>
          <a:p>
            <a:pPr lvl="1"/>
            <a:r>
              <a:rPr lang="fr-CA" altLang="fr-FR" sz="2200" dirty="0">
                <a:solidFill>
                  <a:srgbClr val="000000"/>
                </a:solidFill>
                <a:latin typeface="Calibri" panose="020F0502020204030204" pitchFamily="34" charset="0"/>
              </a:rPr>
              <a:t>31 décembre 2019 : 	1 €</a:t>
            </a:r>
            <a:r>
              <a:rPr lang="fr-CA" altLang="fr-FR" sz="2200" dirty="0">
                <a:latin typeface="Calibri" panose="020F0502020204030204" pitchFamily="34" charset="0"/>
              </a:rPr>
              <a:t> </a:t>
            </a:r>
            <a:r>
              <a:rPr lang="fr-CA" altLang="fr-FR" sz="2200" dirty="0">
                <a:solidFill>
                  <a:srgbClr val="000000"/>
                </a:solidFill>
                <a:latin typeface="Calibri" panose="020F0502020204030204" pitchFamily="34" charset="0"/>
              </a:rPr>
              <a:t>= 1,40 $	cours moyen 2019 : 1 €</a:t>
            </a:r>
            <a:r>
              <a:rPr lang="fr-CA" altLang="fr-FR" sz="2200" dirty="0">
                <a:latin typeface="Calibri" panose="020F0502020204030204" pitchFamily="34" charset="0"/>
              </a:rPr>
              <a:t> </a:t>
            </a:r>
            <a:r>
              <a:rPr lang="fr-CA" altLang="fr-FR" sz="2200" dirty="0">
                <a:solidFill>
                  <a:srgbClr val="000000"/>
                </a:solidFill>
                <a:latin typeface="Calibri" panose="020F0502020204030204" pitchFamily="34" charset="0"/>
              </a:rPr>
              <a:t>= 1,39 $</a:t>
            </a:r>
          </a:p>
          <a:p>
            <a:pPr lvl="1"/>
            <a:r>
              <a:rPr lang="fr-CA" altLang="fr-FR" sz="2200" dirty="0">
                <a:solidFill>
                  <a:srgbClr val="000000"/>
                </a:solidFill>
                <a:latin typeface="Calibri" panose="020F0502020204030204" pitchFamily="34" charset="0"/>
              </a:rPr>
              <a:t>31 décembre 2020 : 	1 €</a:t>
            </a:r>
            <a:r>
              <a:rPr lang="fr-CA" altLang="fr-FR" sz="2200" dirty="0">
                <a:latin typeface="Calibri" panose="020F0502020204030204" pitchFamily="34" charset="0"/>
              </a:rPr>
              <a:t> </a:t>
            </a:r>
            <a:r>
              <a:rPr lang="fr-CA" altLang="fr-FR" sz="2200" dirty="0">
                <a:solidFill>
                  <a:srgbClr val="000000"/>
                </a:solidFill>
                <a:latin typeface="Calibri" panose="020F0502020204030204" pitchFamily="34" charset="0"/>
              </a:rPr>
              <a:t>= 1,45 $ 	cours moyen 2020 : 1 €</a:t>
            </a:r>
            <a:r>
              <a:rPr lang="fr-CA" altLang="fr-FR" sz="2200" dirty="0">
                <a:latin typeface="Calibri" panose="020F0502020204030204" pitchFamily="34" charset="0"/>
              </a:rPr>
              <a:t> </a:t>
            </a:r>
            <a:r>
              <a:rPr lang="fr-CA" altLang="fr-FR" sz="2200" dirty="0">
                <a:solidFill>
                  <a:srgbClr val="000000"/>
                </a:solidFill>
                <a:latin typeface="Calibri" panose="020F0502020204030204" pitchFamily="34" charset="0"/>
              </a:rPr>
              <a:t>= 1,42 $</a:t>
            </a:r>
          </a:p>
          <a:p>
            <a:pPr lvl="1"/>
            <a:r>
              <a:rPr lang="fr-CA" altLang="fr-FR" sz="2200" dirty="0">
                <a:solidFill>
                  <a:srgbClr val="000000"/>
                </a:solidFill>
                <a:latin typeface="Calibri" panose="020F0502020204030204" pitchFamily="34" charset="0"/>
              </a:rPr>
              <a:t>31 décembre 2021 : 	1 €</a:t>
            </a:r>
            <a:r>
              <a:rPr lang="fr-CA" altLang="fr-FR" sz="2200" dirty="0">
                <a:latin typeface="Calibri" panose="020F0502020204030204" pitchFamily="34" charset="0"/>
              </a:rPr>
              <a:t> </a:t>
            </a:r>
            <a:r>
              <a:rPr lang="fr-CA" altLang="fr-FR" sz="2200" dirty="0">
                <a:solidFill>
                  <a:srgbClr val="000000"/>
                </a:solidFill>
                <a:latin typeface="Calibri" panose="020F0502020204030204" pitchFamily="34" charset="0"/>
              </a:rPr>
              <a:t>= 1,30 $ 	cours moyen 2021 : 1 €</a:t>
            </a:r>
            <a:r>
              <a:rPr lang="fr-CA" altLang="fr-FR" sz="2200" dirty="0">
                <a:latin typeface="Calibri" panose="020F0502020204030204" pitchFamily="34" charset="0"/>
              </a:rPr>
              <a:t> </a:t>
            </a:r>
            <a:r>
              <a:rPr lang="fr-CA" altLang="fr-FR" sz="2200" dirty="0">
                <a:solidFill>
                  <a:srgbClr val="000000"/>
                </a:solidFill>
                <a:latin typeface="Calibri" panose="020F0502020204030204" pitchFamily="34" charset="0"/>
              </a:rPr>
              <a:t>= 1,36 $</a:t>
            </a:r>
          </a:p>
          <a:p>
            <a:pPr marL="457200" lvl="1" indent="0" eaLnBrk="1" hangingPunct="1">
              <a:buNone/>
            </a:pPr>
            <a:endParaRPr lang="fr-CA" altLang="fr-FR" sz="2200" dirty="0">
              <a:solidFill>
                <a:srgbClr val="000000"/>
              </a:solidFill>
              <a:latin typeface="Calibri" panose="020F0502020204030204" pitchFamily="34" charset="0"/>
            </a:endParaRPr>
          </a:p>
          <a:p>
            <a:pPr eaLnBrk="1" hangingPunct="1"/>
            <a:r>
              <a:rPr lang="fr-CA" altLang="fr-FR" sz="2600" dirty="0">
                <a:solidFill>
                  <a:srgbClr val="000000"/>
                </a:solidFill>
                <a:latin typeface="Calibri" panose="020F0502020204030204" pitchFamily="34" charset="0"/>
              </a:rPr>
              <a:t>Le 31 décembre 2021,</a:t>
            </a:r>
            <a:r>
              <a:rPr lang="fr-CA" altLang="fr-FR" sz="2600" dirty="0">
                <a:latin typeface="Calibri" panose="020F0502020204030204" pitchFamily="34" charset="0"/>
              </a:rPr>
              <a:t> ABC règle son emprunt</a:t>
            </a:r>
          </a:p>
        </p:txBody>
      </p:sp>
      <p:sp>
        <p:nvSpPr>
          <p:cNvPr id="2" name="Espace réservé du numéro de diapositive 1"/>
          <p:cNvSpPr>
            <a:spLocks noGrp="1"/>
          </p:cNvSpPr>
          <p:nvPr>
            <p:ph type="sldNum" sz="quarter" idx="12"/>
          </p:nvPr>
        </p:nvSpPr>
        <p:spPr/>
        <p:txBody>
          <a:bodyPr/>
          <a:lstStyle/>
          <a:p>
            <a:fld id="{992B40CC-DFA5-47EF-8974-C897708E5DF2}" type="slidenum">
              <a:rPr lang="fr-CA" smtClean="0"/>
              <a:t>20</a:t>
            </a:fld>
            <a:endParaRPr lang="fr-CA"/>
          </a:p>
        </p:txBody>
      </p:sp>
      <p:sp>
        <p:nvSpPr>
          <p:cNvPr id="3" name="Espace réservé du pied de page 2">
            <a:extLst>
              <a:ext uri="{FF2B5EF4-FFF2-40B4-BE49-F238E27FC236}">
                <a16:creationId xmlns:a16="http://schemas.microsoft.com/office/drawing/2014/main" id="{4FF5D081-9EE0-4DD4-83E4-67620CFC7F87}"/>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8513697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8674" name="Titre 1"/>
          <p:cNvSpPr>
            <a:spLocks noGrp="1"/>
          </p:cNvSpPr>
          <p:nvPr>
            <p:ph type="title" idx="4294967295"/>
          </p:nvPr>
        </p:nvSpPr>
        <p:spPr/>
        <p:txBody>
          <a:bodyPr anchor="ctr"/>
          <a:lstStyle/>
          <a:p>
            <a:pPr algn="ctr" eaLnBrk="1" hangingPunct="1"/>
            <a:r>
              <a:rPr lang="fr-CA" altLang="fr-FR" sz="3600" dirty="0">
                <a:solidFill>
                  <a:schemeClr val="hlink"/>
                </a:solidFill>
                <a:latin typeface="Calibri" panose="020F0502020204030204" pitchFamily="34" charset="0"/>
              </a:rPr>
              <a:t>Solution</a:t>
            </a:r>
          </a:p>
        </p:txBody>
      </p:sp>
      <p:sp>
        <p:nvSpPr>
          <p:cNvPr id="28675" name="Espace réservé du contenu 2"/>
          <p:cNvSpPr>
            <a:spLocks noGrp="1"/>
          </p:cNvSpPr>
          <p:nvPr>
            <p:ph idx="4294967295"/>
          </p:nvPr>
        </p:nvSpPr>
        <p:spPr>
          <a:xfrm>
            <a:off x="838200" y="1690688"/>
            <a:ext cx="10515600" cy="4665662"/>
          </a:xfrm>
        </p:spPr>
        <p:txBody>
          <a:bodyPr>
            <a:normAutofit/>
          </a:bodyPr>
          <a:lstStyle/>
          <a:p>
            <a:pPr eaLnBrk="1" hangingPunct="1">
              <a:buFont typeface="Wingdings" panose="05000000000000000000" pitchFamily="2" charset="2"/>
              <a:buNone/>
            </a:pPr>
            <a:r>
              <a:rPr lang="fr-CA" altLang="fr-FR" sz="2100" i="1" dirty="0">
                <a:solidFill>
                  <a:srgbClr val="FF0066"/>
                </a:solidFill>
                <a:latin typeface="Calibri" panose="020F0502020204030204" pitchFamily="34" charset="0"/>
              </a:rPr>
              <a:t>1</a:t>
            </a:r>
            <a:r>
              <a:rPr lang="fr-CA" altLang="fr-FR" sz="2100" i="1" baseline="30000" dirty="0">
                <a:solidFill>
                  <a:srgbClr val="FF0066"/>
                </a:solidFill>
                <a:latin typeface="Calibri" panose="020F0502020204030204" pitchFamily="34" charset="0"/>
              </a:rPr>
              <a:t>er</a:t>
            </a:r>
            <a:r>
              <a:rPr lang="fr-CA" altLang="fr-FR" sz="2100" i="1" dirty="0">
                <a:solidFill>
                  <a:srgbClr val="FF0066"/>
                </a:solidFill>
                <a:latin typeface="Calibri" panose="020F0502020204030204" pitchFamily="34" charset="0"/>
              </a:rPr>
              <a:t> janvier 2019</a:t>
            </a:r>
          </a:p>
          <a:p>
            <a:pPr eaLnBrk="1" hangingPunct="1">
              <a:buFont typeface="Wingdings" panose="05000000000000000000" pitchFamily="2" charset="2"/>
              <a:buNone/>
            </a:pPr>
            <a:r>
              <a:rPr lang="fr-CA" altLang="fr-FR" sz="2100" dirty="0">
                <a:solidFill>
                  <a:srgbClr val="000000"/>
                </a:solidFill>
                <a:latin typeface="Calibri" panose="020F0502020204030204" pitchFamily="34" charset="0"/>
              </a:rPr>
              <a:t>Caisse 			1 380 000 </a:t>
            </a:r>
          </a:p>
          <a:p>
            <a:pPr eaLnBrk="1" hangingPunct="1">
              <a:buFont typeface="Wingdings" panose="05000000000000000000" pitchFamily="2" charset="2"/>
              <a:buNone/>
            </a:pPr>
            <a:r>
              <a:rPr lang="fr-CA" altLang="fr-FR" sz="2100" dirty="0">
                <a:solidFill>
                  <a:srgbClr val="000000"/>
                </a:solidFill>
                <a:latin typeface="Calibri" panose="020F0502020204030204" pitchFamily="34" charset="0"/>
              </a:rPr>
              <a:t>@ Emprunt  			1 380 000 </a:t>
            </a:r>
          </a:p>
          <a:p>
            <a:pPr eaLnBrk="1" hangingPunct="1">
              <a:buFont typeface="Wingdings" panose="05000000000000000000" pitchFamily="2" charset="2"/>
              <a:buNone/>
            </a:pPr>
            <a:endParaRPr lang="fr-CA" altLang="fr-FR" sz="900" dirty="0">
              <a:solidFill>
                <a:srgbClr val="000000"/>
              </a:solidFill>
              <a:latin typeface="Calibri" panose="020F0502020204030204" pitchFamily="34" charset="0"/>
            </a:endParaRPr>
          </a:p>
          <a:p>
            <a:pPr>
              <a:buNone/>
            </a:pPr>
            <a:r>
              <a:rPr lang="fr-CA" altLang="fr-FR" sz="2100" i="1" dirty="0">
                <a:solidFill>
                  <a:srgbClr val="FF0066"/>
                </a:solidFill>
                <a:latin typeface="Calibri" panose="020F0502020204030204" pitchFamily="34" charset="0"/>
              </a:rPr>
              <a:t>Exercice 2019, puis correction au 31 décembre 2019</a:t>
            </a:r>
          </a:p>
          <a:p>
            <a:pPr>
              <a:buNone/>
            </a:pPr>
            <a:r>
              <a:rPr lang="fr-CA" altLang="fr-FR" sz="2100" dirty="0">
                <a:solidFill>
                  <a:srgbClr val="000000"/>
                </a:solidFill>
                <a:latin typeface="Calibri" panose="020F0502020204030204" pitchFamily="34" charset="0"/>
              </a:rPr>
              <a:t>Charge d’intérêts	111 200                                       </a:t>
            </a:r>
            <a:r>
              <a:rPr lang="fr-CA" altLang="fr-FR" sz="2100" i="1" dirty="0">
                <a:solidFill>
                  <a:srgbClr val="000000"/>
                </a:solidFill>
                <a:latin typeface="Calibri" panose="020F0502020204030204" pitchFamily="34" charset="0"/>
              </a:rPr>
              <a:t>80 000 * 1,39  cours moyen </a:t>
            </a:r>
            <a:endParaRPr lang="fr-CA" altLang="fr-FR" sz="2100" dirty="0">
              <a:solidFill>
                <a:srgbClr val="000000"/>
              </a:solidFill>
              <a:latin typeface="Calibri" panose="020F0502020204030204" pitchFamily="34" charset="0"/>
            </a:endParaRPr>
          </a:p>
          <a:p>
            <a:pPr>
              <a:buNone/>
            </a:pPr>
            <a:r>
              <a:rPr lang="fr-CA" altLang="fr-FR" sz="2100" dirty="0">
                <a:solidFill>
                  <a:srgbClr val="000000"/>
                </a:solidFill>
                <a:latin typeface="Calibri" panose="020F0502020204030204" pitchFamily="34" charset="0"/>
              </a:rPr>
              <a:t>Perte de change – RN	        800</a:t>
            </a:r>
          </a:p>
          <a:p>
            <a:pPr>
              <a:buNone/>
            </a:pPr>
            <a:r>
              <a:rPr lang="fr-CA" altLang="fr-FR" sz="2100" dirty="0">
                <a:solidFill>
                  <a:srgbClr val="000000"/>
                </a:solidFill>
                <a:latin typeface="Calibri" panose="020F0502020204030204" pitchFamily="34" charset="0"/>
              </a:rPr>
              <a:t>@ Caisse			112 000</a:t>
            </a:r>
          </a:p>
          <a:p>
            <a:pPr>
              <a:buNone/>
            </a:pPr>
            <a:endParaRPr lang="fr-CA" altLang="fr-FR" sz="800" dirty="0">
              <a:solidFill>
                <a:srgbClr val="000000"/>
              </a:solidFill>
              <a:latin typeface="Calibri" panose="020F0502020204030204" pitchFamily="34" charset="0"/>
            </a:endParaRPr>
          </a:p>
          <a:p>
            <a:pPr>
              <a:buNone/>
            </a:pPr>
            <a:r>
              <a:rPr lang="fr-CA" altLang="fr-FR" sz="2100" i="1" dirty="0">
                <a:solidFill>
                  <a:srgbClr val="FF0066"/>
                </a:solidFill>
                <a:latin typeface="Calibri" panose="020F0502020204030204" pitchFamily="34" charset="0"/>
              </a:rPr>
              <a:t>31 décembre 2019</a:t>
            </a:r>
            <a:endParaRPr lang="fr-CA" altLang="fr-FR" sz="2100" dirty="0">
              <a:solidFill>
                <a:srgbClr val="000000"/>
              </a:solidFill>
              <a:latin typeface="Calibri" panose="020F0502020204030204" pitchFamily="34" charset="0"/>
            </a:endParaRPr>
          </a:p>
          <a:p>
            <a:pPr>
              <a:buNone/>
            </a:pPr>
            <a:r>
              <a:rPr lang="fr-CA" altLang="fr-FR" sz="2100" dirty="0">
                <a:solidFill>
                  <a:srgbClr val="000000"/>
                </a:solidFill>
                <a:latin typeface="Calibri" panose="020F0502020204030204" pitchFamily="34" charset="0"/>
              </a:rPr>
              <a:t>Perte sur change	 	20 000 </a:t>
            </a:r>
          </a:p>
          <a:p>
            <a:pPr>
              <a:buNone/>
            </a:pPr>
            <a:r>
              <a:rPr lang="fr-CA" altLang="fr-FR" sz="2100" dirty="0">
                <a:solidFill>
                  <a:srgbClr val="000000"/>
                </a:solidFill>
                <a:latin typeface="Calibri" panose="020F0502020204030204" pitchFamily="34" charset="0"/>
              </a:rPr>
              <a:t> @ Emprunt        	 		20 000                 </a:t>
            </a:r>
            <a:r>
              <a:rPr lang="fr-CA" altLang="fr-FR" sz="2100" i="1" dirty="0">
                <a:solidFill>
                  <a:srgbClr val="000000"/>
                </a:solidFill>
                <a:latin typeface="Calibri" panose="020F0502020204030204" pitchFamily="34" charset="0"/>
              </a:rPr>
              <a:t>poste monétaire libellé en monnaie étrangère</a:t>
            </a:r>
            <a:endParaRPr lang="fr-CA" altLang="fr-FR" sz="2100" dirty="0">
              <a:solidFill>
                <a:srgbClr val="000000"/>
              </a:solidFill>
              <a:latin typeface="Calibri" panose="020F0502020204030204" pitchFamily="34" charset="0"/>
            </a:endParaRPr>
          </a:p>
          <a:p>
            <a:pPr eaLnBrk="1" hangingPunct="1">
              <a:buFont typeface="Wingdings" panose="05000000000000000000" pitchFamily="2" charset="2"/>
              <a:buNone/>
            </a:pPr>
            <a:endParaRPr lang="fr-CA" altLang="fr-FR" sz="2100" dirty="0">
              <a:solidFill>
                <a:srgbClr val="000000"/>
              </a:solidFill>
              <a:latin typeface="Calibri" panose="020F0502020204030204" pitchFamily="34" charset="0"/>
            </a:endParaRPr>
          </a:p>
        </p:txBody>
      </p:sp>
      <p:sp>
        <p:nvSpPr>
          <p:cNvPr id="2" name="Espace réservé du numéro de diapositive 1"/>
          <p:cNvSpPr>
            <a:spLocks noGrp="1"/>
          </p:cNvSpPr>
          <p:nvPr>
            <p:ph type="sldNum" sz="quarter" idx="12"/>
          </p:nvPr>
        </p:nvSpPr>
        <p:spPr/>
        <p:txBody>
          <a:bodyPr/>
          <a:lstStyle/>
          <a:p>
            <a:fld id="{992B40CC-DFA5-47EF-8974-C897708E5DF2}" type="slidenum">
              <a:rPr lang="fr-CA" smtClean="0"/>
              <a:t>21</a:t>
            </a:fld>
            <a:endParaRPr lang="fr-CA"/>
          </a:p>
        </p:txBody>
      </p:sp>
      <p:sp>
        <p:nvSpPr>
          <p:cNvPr id="3" name="Espace réservé du pied de page 2">
            <a:extLst>
              <a:ext uri="{FF2B5EF4-FFF2-40B4-BE49-F238E27FC236}">
                <a16:creationId xmlns:a16="http://schemas.microsoft.com/office/drawing/2014/main" id="{F74B67C3-D156-4AB2-939A-54BE18DF25F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4192122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8674" name="Titre 1"/>
          <p:cNvSpPr>
            <a:spLocks noGrp="1"/>
          </p:cNvSpPr>
          <p:nvPr>
            <p:ph type="title" idx="4294967295"/>
          </p:nvPr>
        </p:nvSpPr>
        <p:spPr/>
        <p:txBody>
          <a:bodyPr anchor="ctr"/>
          <a:lstStyle/>
          <a:p>
            <a:pPr algn="ctr" eaLnBrk="1" hangingPunct="1"/>
            <a:r>
              <a:rPr lang="fr-CA" altLang="fr-FR" sz="3600" dirty="0">
                <a:solidFill>
                  <a:schemeClr val="hlink"/>
                </a:solidFill>
                <a:latin typeface="Calibri" panose="020F0502020204030204" pitchFamily="34" charset="0"/>
              </a:rPr>
              <a:t>Solution</a:t>
            </a:r>
          </a:p>
        </p:txBody>
      </p:sp>
      <p:sp>
        <p:nvSpPr>
          <p:cNvPr id="28675" name="Espace réservé du contenu 2"/>
          <p:cNvSpPr>
            <a:spLocks noGrp="1"/>
          </p:cNvSpPr>
          <p:nvPr>
            <p:ph idx="4294967295"/>
          </p:nvPr>
        </p:nvSpPr>
        <p:spPr/>
        <p:txBody>
          <a:bodyPr>
            <a:normAutofit/>
          </a:bodyPr>
          <a:lstStyle/>
          <a:p>
            <a:pPr>
              <a:buNone/>
            </a:pPr>
            <a:r>
              <a:rPr lang="fr-CA" altLang="fr-FR" sz="2100" i="1" dirty="0">
                <a:solidFill>
                  <a:srgbClr val="FF0066"/>
                </a:solidFill>
                <a:latin typeface="Calibri" panose="020F0502020204030204" pitchFamily="34" charset="0"/>
              </a:rPr>
              <a:t>Exercice 2020, puis correction au 31 décembre 2020</a:t>
            </a:r>
          </a:p>
          <a:p>
            <a:pPr>
              <a:buNone/>
            </a:pPr>
            <a:r>
              <a:rPr lang="fr-CA" altLang="fr-FR" sz="2100" dirty="0">
                <a:solidFill>
                  <a:srgbClr val="000000"/>
                </a:solidFill>
                <a:latin typeface="Calibri" panose="020F0502020204030204" pitchFamily="34" charset="0"/>
              </a:rPr>
              <a:t>Charge d’intérêts		113 600</a:t>
            </a:r>
          </a:p>
          <a:p>
            <a:pPr>
              <a:buNone/>
            </a:pPr>
            <a:r>
              <a:rPr lang="fr-CA" altLang="fr-FR" sz="2100" dirty="0">
                <a:solidFill>
                  <a:srgbClr val="000000"/>
                </a:solidFill>
                <a:latin typeface="Calibri" panose="020F0502020204030204" pitchFamily="34" charset="0"/>
              </a:rPr>
              <a:t>Perte de change – RN		     2 400</a:t>
            </a:r>
          </a:p>
          <a:p>
            <a:pPr>
              <a:buNone/>
            </a:pPr>
            <a:r>
              <a:rPr lang="fr-CA" altLang="fr-FR" sz="2100" dirty="0">
                <a:solidFill>
                  <a:srgbClr val="000000"/>
                </a:solidFill>
                <a:latin typeface="Calibri" panose="020F0502020204030204" pitchFamily="34" charset="0"/>
              </a:rPr>
              <a:t>@ Caisse				116 000</a:t>
            </a:r>
          </a:p>
          <a:p>
            <a:pPr>
              <a:buNone/>
            </a:pPr>
            <a:endParaRPr lang="fr-CA" altLang="fr-FR" sz="2100" i="1" dirty="0">
              <a:solidFill>
                <a:srgbClr val="FF0066"/>
              </a:solidFill>
              <a:latin typeface="Calibri" panose="020F0502020204030204" pitchFamily="34" charset="0"/>
            </a:endParaRPr>
          </a:p>
          <a:p>
            <a:pPr>
              <a:buNone/>
            </a:pPr>
            <a:r>
              <a:rPr lang="fr-CA" altLang="fr-FR" sz="2100" i="1" dirty="0">
                <a:solidFill>
                  <a:srgbClr val="FF0066"/>
                </a:solidFill>
                <a:latin typeface="Calibri" panose="020F0502020204030204" pitchFamily="34" charset="0"/>
              </a:rPr>
              <a:t>31 décembre 2020</a:t>
            </a:r>
            <a:endParaRPr lang="fr-CA" altLang="fr-FR" sz="2100" dirty="0">
              <a:solidFill>
                <a:srgbClr val="000000"/>
              </a:solidFill>
              <a:latin typeface="Calibri" panose="020F0502020204030204" pitchFamily="34" charset="0"/>
            </a:endParaRPr>
          </a:p>
          <a:p>
            <a:pPr>
              <a:buNone/>
            </a:pPr>
            <a:r>
              <a:rPr lang="fr-CA" altLang="fr-FR" sz="2100" dirty="0">
                <a:solidFill>
                  <a:srgbClr val="000000"/>
                </a:solidFill>
                <a:latin typeface="Calibri" panose="020F0502020204030204" pitchFamily="34" charset="0"/>
              </a:rPr>
              <a:t>Perte sur change 		50 000 </a:t>
            </a:r>
          </a:p>
          <a:p>
            <a:pPr>
              <a:buNone/>
            </a:pPr>
            <a:r>
              <a:rPr lang="fr-CA" altLang="fr-FR" sz="2100" dirty="0">
                <a:solidFill>
                  <a:srgbClr val="000000"/>
                </a:solidFill>
                <a:latin typeface="Calibri" panose="020F0502020204030204" pitchFamily="34" charset="0"/>
              </a:rPr>
              <a:t>@ Emprunt    	     			50 000 </a:t>
            </a:r>
          </a:p>
          <a:p>
            <a:pPr eaLnBrk="1" hangingPunct="1">
              <a:buFont typeface="Wingdings" panose="05000000000000000000" pitchFamily="2" charset="2"/>
              <a:buNone/>
            </a:pPr>
            <a:endParaRPr lang="fr-CA" altLang="fr-FR" sz="2100" dirty="0">
              <a:solidFill>
                <a:srgbClr val="000000"/>
              </a:solidFill>
              <a:latin typeface="Calibri" panose="020F0502020204030204" pitchFamily="34" charset="0"/>
            </a:endParaRPr>
          </a:p>
        </p:txBody>
      </p:sp>
      <p:sp>
        <p:nvSpPr>
          <p:cNvPr id="2" name="Espace réservé du numéro de diapositive 1"/>
          <p:cNvSpPr>
            <a:spLocks noGrp="1"/>
          </p:cNvSpPr>
          <p:nvPr>
            <p:ph type="sldNum" sz="quarter" idx="12"/>
          </p:nvPr>
        </p:nvSpPr>
        <p:spPr/>
        <p:txBody>
          <a:bodyPr/>
          <a:lstStyle/>
          <a:p>
            <a:fld id="{992B40CC-DFA5-47EF-8974-C897708E5DF2}" type="slidenum">
              <a:rPr lang="fr-CA" smtClean="0"/>
              <a:t>22</a:t>
            </a:fld>
            <a:endParaRPr lang="fr-CA"/>
          </a:p>
        </p:txBody>
      </p:sp>
      <p:sp>
        <p:nvSpPr>
          <p:cNvPr id="3" name="Espace réservé du pied de page 2">
            <a:extLst>
              <a:ext uri="{FF2B5EF4-FFF2-40B4-BE49-F238E27FC236}">
                <a16:creationId xmlns:a16="http://schemas.microsoft.com/office/drawing/2014/main" id="{665CE7EF-4ADB-4DEC-9219-506F1BCD417E}"/>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327429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8674" name="Titre 1"/>
          <p:cNvSpPr>
            <a:spLocks noGrp="1"/>
          </p:cNvSpPr>
          <p:nvPr>
            <p:ph type="title" idx="4294967295"/>
          </p:nvPr>
        </p:nvSpPr>
        <p:spPr/>
        <p:txBody>
          <a:bodyPr anchor="ctr"/>
          <a:lstStyle/>
          <a:p>
            <a:pPr algn="ctr" eaLnBrk="1" hangingPunct="1"/>
            <a:r>
              <a:rPr lang="fr-CA" altLang="fr-FR" sz="3600" dirty="0">
                <a:solidFill>
                  <a:schemeClr val="hlink"/>
                </a:solidFill>
                <a:latin typeface="Calibri" panose="020F0502020204030204" pitchFamily="34" charset="0"/>
              </a:rPr>
              <a:t>Solution</a:t>
            </a:r>
          </a:p>
        </p:txBody>
      </p:sp>
      <p:sp>
        <p:nvSpPr>
          <p:cNvPr id="28675" name="Espace réservé du contenu 2"/>
          <p:cNvSpPr>
            <a:spLocks noGrp="1"/>
          </p:cNvSpPr>
          <p:nvPr>
            <p:ph idx="4294967295"/>
          </p:nvPr>
        </p:nvSpPr>
        <p:spPr/>
        <p:txBody>
          <a:bodyPr>
            <a:normAutofit lnSpcReduction="10000"/>
          </a:bodyPr>
          <a:lstStyle/>
          <a:p>
            <a:pPr>
              <a:buNone/>
            </a:pPr>
            <a:r>
              <a:rPr lang="fr-CA" altLang="fr-FR" sz="2100" i="1" dirty="0">
                <a:solidFill>
                  <a:srgbClr val="FF0066"/>
                </a:solidFill>
                <a:latin typeface="Calibri" panose="020F0502020204030204" pitchFamily="34" charset="0"/>
              </a:rPr>
              <a:t>Exercice 2021, puis correction au 31 décembre 2021</a:t>
            </a:r>
          </a:p>
          <a:p>
            <a:pPr>
              <a:buNone/>
            </a:pPr>
            <a:r>
              <a:rPr lang="fr-CA" altLang="fr-FR" sz="2100" dirty="0">
                <a:solidFill>
                  <a:srgbClr val="000000"/>
                </a:solidFill>
                <a:latin typeface="Calibri" panose="020F0502020204030204" pitchFamily="34" charset="0"/>
              </a:rPr>
              <a:t>Charge d’intérêts		108 800</a:t>
            </a:r>
          </a:p>
          <a:p>
            <a:pPr>
              <a:buNone/>
            </a:pPr>
            <a:r>
              <a:rPr lang="fr-CA" altLang="fr-FR" sz="2100" dirty="0">
                <a:solidFill>
                  <a:srgbClr val="000000"/>
                </a:solidFill>
                <a:latin typeface="Calibri" panose="020F0502020204030204" pitchFamily="34" charset="0"/>
              </a:rPr>
              <a:t>@ Caisse				104 000</a:t>
            </a:r>
          </a:p>
          <a:p>
            <a:pPr>
              <a:buNone/>
            </a:pPr>
            <a:r>
              <a:rPr lang="fr-CA" altLang="fr-FR" sz="2100" dirty="0">
                <a:solidFill>
                  <a:srgbClr val="000000"/>
                </a:solidFill>
                <a:latin typeface="Calibri" panose="020F0502020204030204" pitchFamily="34" charset="0"/>
              </a:rPr>
              <a:t>     Gain de change – RN		     	     4 800</a:t>
            </a:r>
          </a:p>
          <a:p>
            <a:pPr>
              <a:buNone/>
            </a:pPr>
            <a:endParaRPr lang="fr-CA" altLang="fr-FR" sz="2100" i="1" dirty="0">
              <a:solidFill>
                <a:srgbClr val="FF0066"/>
              </a:solidFill>
              <a:latin typeface="Calibri" panose="020F0502020204030204" pitchFamily="34" charset="0"/>
            </a:endParaRPr>
          </a:p>
          <a:p>
            <a:pPr>
              <a:buNone/>
            </a:pPr>
            <a:r>
              <a:rPr lang="fr-CA" altLang="fr-FR" sz="2100" i="1" dirty="0">
                <a:solidFill>
                  <a:srgbClr val="FF0066"/>
                </a:solidFill>
                <a:latin typeface="Calibri" panose="020F0502020204030204" pitchFamily="34" charset="0"/>
              </a:rPr>
              <a:t>31 décembre 2021</a:t>
            </a:r>
            <a:endParaRPr lang="fr-CA" altLang="fr-FR" sz="2100" dirty="0">
              <a:solidFill>
                <a:srgbClr val="000000"/>
              </a:solidFill>
              <a:latin typeface="Calibri" panose="020F0502020204030204" pitchFamily="34" charset="0"/>
            </a:endParaRPr>
          </a:p>
          <a:p>
            <a:pPr>
              <a:buNone/>
            </a:pPr>
            <a:r>
              <a:rPr lang="fr-CA" altLang="fr-FR" sz="2100" dirty="0">
                <a:solidFill>
                  <a:srgbClr val="000000"/>
                </a:solidFill>
                <a:latin typeface="Calibri" panose="020F0502020204030204" pitchFamily="34" charset="0"/>
              </a:rPr>
              <a:t>Emprunt 	 		150 000 </a:t>
            </a:r>
          </a:p>
          <a:p>
            <a:pPr>
              <a:buNone/>
            </a:pPr>
            <a:r>
              <a:rPr lang="fr-CA" altLang="fr-FR" sz="2100" dirty="0">
                <a:solidFill>
                  <a:srgbClr val="000000"/>
                </a:solidFill>
                <a:latin typeface="Calibri" panose="020F0502020204030204" pitchFamily="34" charset="0"/>
              </a:rPr>
              <a:t>@ Gain de change - RN			150 000 </a:t>
            </a:r>
          </a:p>
          <a:p>
            <a:pPr>
              <a:buNone/>
            </a:pPr>
            <a:endParaRPr lang="fr-CA" altLang="fr-FR" sz="2100" dirty="0">
              <a:solidFill>
                <a:srgbClr val="000000"/>
              </a:solidFill>
              <a:latin typeface="Calibri" panose="020F0502020204030204" pitchFamily="34" charset="0"/>
            </a:endParaRPr>
          </a:p>
          <a:p>
            <a:pPr>
              <a:buNone/>
            </a:pPr>
            <a:r>
              <a:rPr lang="fr-CA" altLang="fr-FR" sz="2100" dirty="0">
                <a:solidFill>
                  <a:srgbClr val="000000"/>
                </a:solidFill>
                <a:latin typeface="Calibri" panose="020F0502020204030204" pitchFamily="34" charset="0"/>
              </a:rPr>
              <a:t>Emprunt			 1 300 000 </a:t>
            </a:r>
          </a:p>
          <a:p>
            <a:pPr>
              <a:buNone/>
            </a:pPr>
            <a:r>
              <a:rPr lang="fr-CA" altLang="fr-FR" sz="2100" dirty="0">
                <a:solidFill>
                  <a:srgbClr val="000000"/>
                </a:solidFill>
                <a:latin typeface="Calibri" panose="020F0502020204030204" pitchFamily="34" charset="0"/>
              </a:rPr>
              <a:t>@ Caisse   				    1 300 000 </a:t>
            </a:r>
          </a:p>
          <a:p>
            <a:pPr eaLnBrk="1" hangingPunct="1">
              <a:buFont typeface="Wingdings" panose="05000000000000000000" pitchFamily="2" charset="2"/>
              <a:buNone/>
            </a:pPr>
            <a:endParaRPr lang="fr-CA" altLang="fr-FR" sz="2100" dirty="0">
              <a:solidFill>
                <a:srgbClr val="000000"/>
              </a:solidFill>
              <a:latin typeface="Calibri" panose="020F0502020204030204" pitchFamily="34" charset="0"/>
            </a:endParaRPr>
          </a:p>
        </p:txBody>
      </p:sp>
      <p:sp>
        <p:nvSpPr>
          <p:cNvPr id="2" name="Espace réservé du numéro de diapositive 1"/>
          <p:cNvSpPr>
            <a:spLocks noGrp="1"/>
          </p:cNvSpPr>
          <p:nvPr>
            <p:ph type="sldNum" sz="quarter" idx="12"/>
          </p:nvPr>
        </p:nvSpPr>
        <p:spPr/>
        <p:txBody>
          <a:bodyPr/>
          <a:lstStyle/>
          <a:p>
            <a:fld id="{992B40CC-DFA5-47EF-8974-C897708E5DF2}" type="slidenum">
              <a:rPr lang="fr-CA" smtClean="0"/>
              <a:t>23</a:t>
            </a:fld>
            <a:endParaRPr lang="fr-CA"/>
          </a:p>
        </p:txBody>
      </p:sp>
      <p:sp>
        <p:nvSpPr>
          <p:cNvPr id="3" name="Espace réservé du pied de page 2">
            <a:extLst>
              <a:ext uri="{FF2B5EF4-FFF2-40B4-BE49-F238E27FC236}">
                <a16:creationId xmlns:a16="http://schemas.microsoft.com/office/drawing/2014/main" id="{84A751CE-B2F7-43BC-81CA-1E6743EB3F5E}"/>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4474939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7650" name="Titre 1"/>
          <p:cNvSpPr>
            <a:spLocks noGrp="1"/>
          </p:cNvSpPr>
          <p:nvPr>
            <p:ph type="title" idx="4294967295"/>
          </p:nvPr>
        </p:nvSpPr>
        <p:spPr/>
        <p:txBody>
          <a:bodyPr anchor="ctr"/>
          <a:lstStyle/>
          <a:p>
            <a:pPr algn="ctr" eaLnBrk="1" hangingPunct="1"/>
            <a:r>
              <a:rPr lang="fr-CA" altLang="fr-FR" sz="3600" dirty="0">
                <a:solidFill>
                  <a:schemeClr val="hlink"/>
                </a:solidFill>
                <a:latin typeface="Calibri" panose="020F0502020204030204" pitchFamily="34" charset="0"/>
              </a:rPr>
              <a:t>Exercice 4</a:t>
            </a:r>
          </a:p>
        </p:txBody>
      </p:sp>
      <p:sp>
        <p:nvSpPr>
          <p:cNvPr id="27651" name="Espace réservé du contenu 2"/>
          <p:cNvSpPr>
            <a:spLocks noGrp="1"/>
          </p:cNvSpPr>
          <p:nvPr>
            <p:ph idx="4294967295"/>
          </p:nvPr>
        </p:nvSpPr>
        <p:spPr/>
        <p:txBody>
          <a:bodyPr>
            <a:normAutofit lnSpcReduction="10000"/>
          </a:bodyPr>
          <a:lstStyle/>
          <a:p>
            <a:pPr marL="0" indent="0" eaLnBrk="1" hangingPunct="1">
              <a:buNone/>
            </a:pPr>
            <a:r>
              <a:rPr lang="fr-CA" altLang="fr-FR" sz="2600" dirty="0">
                <a:solidFill>
                  <a:srgbClr val="000000"/>
                </a:solidFill>
                <a:latin typeface="Calibri" panose="020F0502020204030204" pitchFamily="34" charset="0"/>
              </a:rPr>
              <a:t>ABC acquiert le 30 septembre 2020 des marchandises au prix de 60 000 $US. Elle effectue le paiement le 31 octobre 2020. Au 31 décembre 2020, les marchandises sont encore invendues et ABC établit la valeur nette de réalisation à 57 000 $CAN.</a:t>
            </a:r>
          </a:p>
          <a:p>
            <a:pPr marL="266700" indent="0" eaLnBrk="1" hangingPunct="1">
              <a:buNone/>
            </a:pPr>
            <a:r>
              <a:rPr lang="fr-CA" altLang="fr-FR" sz="2600" dirty="0">
                <a:solidFill>
                  <a:srgbClr val="000000"/>
                </a:solidFill>
                <a:latin typeface="Calibri" panose="020F0502020204030204" pitchFamily="34" charset="0"/>
              </a:rPr>
              <a:t>Les cours de change au comptant sont :</a:t>
            </a:r>
          </a:p>
          <a:p>
            <a:pPr lvl="1"/>
            <a:r>
              <a:rPr lang="fr-CA" altLang="fr-FR" sz="2200" dirty="0">
                <a:solidFill>
                  <a:srgbClr val="000000"/>
                </a:solidFill>
                <a:latin typeface="Calibri" panose="020F0502020204030204" pitchFamily="34" charset="0"/>
              </a:rPr>
              <a:t>30 septembre 2020 : 	1 $US</a:t>
            </a:r>
            <a:r>
              <a:rPr lang="fr-CA" altLang="fr-FR" sz="2200" dirty="0">
                <a:latin typeface="Calibri" panose="020F0502020204030204" pitchFamily="34" charset="0"/>
              </a:rPr>
              <a:t> </a:t>
            </a:r>
            <a:r>
              <a:rPr lang="fr-CA" altLang="fr-FR" sz="2200" dirty="0">
                <a:solidFill>
                  <a:srgbClr val="000000"/>
                </a:solidFill>
                <a:latin typeface="Calibri" panose="020F0502020204030204" pitchFamily="34" charset="0"/>
              </a:rPr>
              <a:t>= 1,20 $</a:t>
            </a:r>
          </a:p>
          <a:p>
            <a:pPr lvl="1" eaLnBrk="1" hangingPunct="1"/>
            <a:r>
              <a:rPr lang="fr-CA" altLang="fr-FR" sz="2200" dirty="0">
                <a:solidFill>
                  <a:srgbClr val="000000"/>
                </a:solidFill>
                <a:latin typeface="Calibri" panose="020F0502020204030204" pitchFamily="34" charset="0"/>
              </a:rPr>
              <a:t>Cours moyen 4T2020 : 	1 $US</a:t>
            </a:r>
            <a:r>
              <a:rPr lang="fr-CA" altLang="fr-FR" sz="2200" dirty="0">
                <a:latin typeface="Calibri" panose="020F0502020204030204" pitchFamily="34" charset="0"/>
              </a:rPr>
              <a:t> </a:t>
            </a:r>
            <a:r>
              <a:rPr lang="fr-CA" altLang="fr-FR" sz="2200" dirty="0">
                <a:solidFill>
                  <a:srgbClr val="000000"/>
                </a:solidFill>
                <a:latin typeface="Calibri" panose="020F0502020204030204" pitchFamily="34" charset="0"/>
              </a:rPr>
              <a:t>= 1,22 $ </a:t>
            </a:r>
          </a:p>
          <a:p>
            <a:pPr lvl="1"/>
            <a:r>
              <a:rPr lang="fr-CA" altLang="fr-FR" sz="2200" dirty="0">
                <a:solidFill>
                  <a:srgbClr val="000000"/>
                </a:solidFill>
                <a:latin typeface="Calibri" panose="020F0502020204030204" pitchFamily="34" charset="0"/>
              </a:rPr>
              <a:t>31 octobre 2020 : 	1 $US</a:t>
            </a:r>
            <a:r>
              <a:rPr lang="fr-CA" altLang="fr-FR" sz="2200" dirty="0">
                <a:latin typeface="Calibri" panose="020F0502020204030204" pitchFamily="34" charset="0"/>
              </a:rPr>
              <a:t> </a:t>
            </a:r>
            <a:r>
              <a:rPr lang="fr-CA" altLang="fr-FR" sz="2200" dirty="0">
                <a:solidFill>
                  <a:srgbClr val="000000"/>
                </a:solidFill>
                <a:latin typeface="Calibri" panose="020F0502020204030204" pitchFamily="34" charset="0"/>
              </a:rPr>
              <a:t>= 1,21 $</a:t>
            </a:r>
          </a:p>
          <a:p>
            <a:pPr lvl="1" eaLnBrk="1" hangingPunct="1"/>
            <a:r>
              <a:rPr lang="fr-CA" altLang="fr-FR" sz="2200" dirty="0">
                <a:solidFill>
                  <a:srgbClr val="000000"/>
                </a:solidFill>
                <a:latin typeface="Calibri" panose="020F0502020204030204" pitchFamily="34" charset="0"/>
              </a:rPr>
              <a:t>31 décembre 2020 : 	1 $US</a:t>
            </a:r>
            <a:r>
              <a:rPr lang="fr-CA" altLang="fr-FR" sz="2200" dirty="0">
                <a:latin typeface="Calibri" panose="020F0502020204030204" pitchFamily="34" charset="0"/>
              </a:rPr>
              <a:t> </a:t>
            </a:r>
            <a:r>
              <a:rPr lang="fr-CA" altLang="fr-FR" sz="2200" dirty="0">
                <a:solidFill>
                  <a:srgbClr val="000000"/>
                </a:solidFill>
                <a:latin typeface="Calibri" panose="020F0502020204030204" pitchFamily="34" charset="0"/>
              </a:rPr>
              <a:t>= 1,25 $ </a:t>
            </a:r>
          </a:p>
          <a:p>
            <a:pPr marL="457200" lvl="1" indent="0" eaLnBrk="1" hangingPunct="1">
              <a:buNone/>
            </a:pPr>
            <a:endParaRPr lang="fr-CA" altLang="fr-FR" sz="2200" dirty="0">
              <a:solidFill>
                <a:srgbClr val="000000"/>
              </a:solidFill>
              <a:latin typeface="Calibri" panose="020F0502020204030204" pitchFamily="34" charset="0"/>
            </a:endParaRPr>
          </a:p>
          <a:p>
            <a:pPr>
              <a:buFont typeface="Wingdings" panose="05000000000000000000" pitchFamily="2" charset="2"/>
              <a:buChar char="Ø"/>
            </a:pPr>
            <a:r>
              <a:rPr lang="fr-CA" altLang="fr-FR" sz="2600" i="1" dirty="0">
                <a:solidFill>
                  <a:srgbClr val="000000"/>
                </a:solidFill>
                <a:latin typeface="Calibri" panose="020F0502020204030204" pitchFamily="34" charset="0"/>
              </a:rPr>
              <a:t> Préparez les écritures requises, sachant que des états financiers doivent être produits le 31 décembre.</a:t>
            </a:r>
            <a:endParaRPr lang="fr-CA" altLang="fr-FR" sz="2600" i="1" dirty="0">
              <a:latin typeface="Calibri" panose="020F0502020204030204" pitchFamily="34" charset="0"/>
            </a:endParaRPr>
          </a:p>
          <a:p>
            <a:pPr marL="0" indent="0" eaLnBrk="1" hangingPunct="1">
              <a:buNone/>
            </a:pPr>
            <a:endParaRPr lang="fr-CA" altLang="fr-FR" sz="2600" dirty="0">
              <a:latin typeface="Calibri" panose="020F0502020204030204" pitchFamily="34" charset="0"/>
            </a:endParaRPr>
          </a:p>
        </p:txBody>
      </p:sp>
      <p:sp>
        <p:nvSpPr>
          <p:cNvPr id="2" name="Espace réservé du numéro de diapositive 1"/>
          <p:cNvSpPr>
            <a:spLocks noGrp="1"/>
          </p:cNvSpPr>
          <p:nvPr>
            <p:ph type="sldNum" sz="quarter" idx="12"/>
          </p:nvPr>
        </p:nvSpPr>
        <p:spPr/>
        <p:txBody>
          <a:bodyPr/>
          <a:lstStyle/>
          <a:p>
            <a:fld id="{992B40CC-DFA5-47EF-8974-C897708E5DF2}" type="slidenum">
              <a:rPr lang="fr-CA" smtClean="0"/>
              <a:t>24</a:t>
            </a:fld>
            <a:endParaRPr lang="fr-CA"/>
          </a:p>
        </p:txBody>
      </p:sp>
      <p:sp>
        <p:nvSpPr>
          <p:cNvPr id="3" name="Espace réservé du pied de page 2">
            <a:extLst>
              <a:ext uri="{FF2B5EF4-FFF2-40B4-BE49-F238E27FC236}">
                <a16:creationId xmlns:a16="http://schemas.microsoft.com/office/drawing/2014/main" id="{8A256E1E-0ADF-46A0-8EE4-221D731B000C}"/>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41581292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8674" name="Titre 1"/>
          <p:cNvSpPr>
            <a:spLocks noGrp="1"/>
          </p:cNvSpPr>
          <p:nvPr>
            <p:ph type="title" idx="4294967295"/>
          </p:nvPr>
        </p:nvSpPr>
        <p:spPr/>
        <p:txBody>
          <a:bodyPr anchor="ctr"/>
          <a:lstStyle/>
          <a:p>
            <a:pPr algn="ctr" eaLnBrk="1" hangingPunct="1"/>
            <a:r>
              <a:rPr lang="fr-CA" altLang="fr-FR" sz="3600" dirty="0">
                <a:solidFill>
                  <a:schemeClr val="hlink"/>
                </a:solidFill>
                <a:latin typeface="Calibri" panose="020F0502020204030204" pitchFamily="34" charset="0"/>
              </a:rPr>
              <a:t>Solution</a:t>
            </a:r>
          </a:p>
        </p:txBody>
      </p:sp>
      <p:sp>
        <p:nvSpPr>
          <p:cNvPr id="28675" name="Espace réservé du contenu 2"/>
          <p:cNvSpPr>
            <a:spLocks noGrp="1"/>
          </p:cNvSpPr>
          <p:nvPr>
            <p:ph idx="4294967295"/>
          </p:nvPr>
        </p:nvSpPr>
        <p:spPr/>
        <p:txBody>
          <a:bodyPr>
            <a:normAutofit fontScale="92500" lnSpcReduction="10000"/>
          </a:bodyPr>
          <a:lstStyle/>
          <a:p>
            <a:pPr eaLnBrk="1" hangingPunct="1">
              <a:buFont typeface="Wingdings" panose="05000000000000000000" pitchFamily="2" charset="2"/>
              <a:buNone/>
            </a:pPr>
            <a:r>
              <a:rPr lang="fr-CA" altLang="fr-FR" sz="2100" i="1" dirty="0">
                <a:solidFill>
                  <a:srgbClr val="FF0066"/>
                </a:solidFill>
                <a:latin typeface="Calibri" panose="020F0502020204030204" pitchFamily="34" charset="0"/>
              </a:rPr>
              <a:t>30 septembre 2020</a:t>
            </a:r>
          </a:p>
          <a:p>
            <a:pPr eaLnBrk="1" hangingPunct="1">
              <a:buFont typeface="Wingdings" panose="05000000000000000000" pitchFamily="2" charset="2"/>
              <a:buNone/>
            </a:pPr>
            <a:r>
              <a:rPr lang="fr-CA" altLang="fr-FR" sz="2100" dirty="0">
                <a:solidFill>
                  <a:srgbClr val="000000"/>
                </a:solidFill>
                <a:latin typeface="Calibri" panose="020F0502020204030204" pitchFamily="34" charset="0"/>
              </a:rPr>
              <a:t>Stocks				72 000</a:t>
            </a:r>
          </a:p>
          <a:p>
            <a:pPr eaLnBrk="1" hangingPunct="1">
              <a:buFont typeface="Wingdings" panose="05000000000000000000" pitchFamily="2" charset="2"/>
              <a:buNone/>
            </a:pPr>
            <a:r>
              <a:rPr lang="fr-CA" altLang="fr-FR" sz="2100" dirty="0">
                <a:solidFill>
                  <a:srgbClr val="000000"/>
                </a:solidFill>
                <a:latin typeface="Calibri" panose="020F0502020204030204" pitchFamily="34" charset="0"/>
              </a:rPr>
              <a:t>@ Compte fournisseur			72 000 </a:t>
            </a:r>
          </a:p>
          <a:p>
            <a:pPr eaLnBrk="1" hangingPunct="1">
              <a:buFont typeface="Wingdings" panose="05000000000000000000" pitchFamily="2" charset="2"/>
              <a:buNone/>
            </a:pPr>
            <a:endParaRPr lang="fr-CA" altLang="fr-FR" sz="2100" dirty="0">
              <a:solidFill>
                <a:srgbClr val="000000"/>
              </a:solidFill>
              <a:latin typeface="Calibri" panose="020F0502020204030204" pitchFamily="34" charset="0"/>
            </a:endParaRPr>
          </a:p>
          <a:p>
            <a:pPr eaLnBrk="1" hangingPunct="1">
              <a:buFont typeface="Wingdings" panose="05000000000000000000" pitchFamily="2" charset="2"/>
              <a:buNone/>
            </a:pPr>
            <a:r>
              <a:rPr lang="fr-CA" altLang="fr-FR" sz="2100" i="1" dirty="0">
                <a:solidFill>
                  <a:srgbClr val="FF0066"/>
                </a:solidFill>
                <a:latin typeface="Calibri" panose="020F0502020204030204" pitchFamily="34" charset="0"/>
              </a:rPr>
              <a:t>31 octobre 2020</a:t>
            </a:r>
          </a:p>
          <a:p>
            <a:pPr>
              <a:buNone/>
            </a:pPr>
            <a:r>
              <a:rPr lang="fr-CA" altLang="fr-FR" sz="2100" dirty="0">
                <a:solidFill>
                  <a:srgbClr val="000000"/>
                </a:solidFill>
                <a:latin typeface="Calibri" panose="020F0502020204030204" pitchFamily="34" charset="0"/>
              </a:rPr>
              <a:t>Compte fournisseur		72 000</a:t>
            </a:r>
          </a:p>
          <a:p>
            <a:pPr>
              <a:buNone/>
            </a:pPr>
            <a:r>
              <a:rPr lang="fr-CA" altLang="fr-FR" sz="2100" dirty="0">
                <a:solidFill>
                  <a:srgbClr val="000000"/>
                </a:solidFill>
                <a:latin typeface="Calibri" panose="020F0502020204030204" pitchFamily="34" charset="0"/>
              </a:rPr>
              <a:t>Perte sur change (RN)		     600</a:t>
            </a:r>
          </a:p>
          <a:p>
            <a:pPr>
              <a:buNone/>
            </a:pPr>
            <a:r>
              <a:rPr lang="fr-CA" altLang="fr-FR" sz="2100" dirty="0">
                <a:solidFill>
                  <a:srgbClr val="000000"/>
                </a:solidFill>
                <a:latin typeface="Calibri" panose="020F0502020204030204" pitchFamily="34" charset="0"/>
              </a:rPr>
              <a:t>@ Encaisse				72 600</a:t>
            </a:r>
          </a:p>
          <a:p>
            <a:pPr>
              <a:buNone/>
            </a:pPr>
            <a:r>
              <a:rPr lang="fr-CA" altLang="fr-FR" sz="2100" dirty="0">
                <a:solidFill>
                  <a:srgbClr val="000000"/>
                </a:solidFill>
                <a:latin typeface="Calibri" panose="020F0502020204030204" pitchFamily="34" charset="0"/>
              </a:rPr>
              <a:t>	</a:t>
            </a:r>
          </a:p>
          <a:p>
            <a:pPr>
              <a:buNone/>
            </a:pPr>
            <a:r>
              <a:rPr lang="fr-CA" altLang="fr-FR" sz="2100" i="1" dirty="0">
                <a:solidFill>
                  <a:srgbClr val="FF0066"/>
                </a:solidFill>
                <a:latin typeface="Calibri" panose="020F0502020204030204" pitchFamily="34" charset="0"/>
              </a:rPr>
              <a:t>31 décembre 2020</a:t>
            </a:r>
          </a:p>
          <a:p>
            <a:pPr>
              <a:buNone/>
            </a:pPr>
            <a:r>
              <a:rPr lang="fr-CA" altLang="fr-FR" sz="2100" dirty="0">
                <a:solidFill>
                  <a:srgbClr val="000000"/>
                </a:solidFill>
                <a:latin typeface="Calibri" panose="020F0502020204030204" pitchFamily="34" charset="0"/>
              </a:rPr>
              <a:t>Coût des ventes (dépréciation)	15 000</a:t>
            </a:r>
          </a:p>
          <a:p>
            <a:pPr>
              <a:buNone/>
            </a:pPr>
            <a:r>
              <a:rPr lang="fr-CA" altLang="fr-FR" sz="2100" dirty="0">
                <a:solidFill>
                  <a:srgbClr val="000000"/>
                </a:solidFill>
                <a:latin typeface="Calibri" panose="020F0502020204030204" pitchFamily="34" charset="0"/>
              </a:rPr>
              <a:t>@ Stocks					15 000</a:t>
            </a:r>
          </a:p>
        </p:txBody>
      </p:sp>
      <p:sp>
        <p:nvSpPr>
          <p:cNvPr id="2" name="Espace réservé du numéro de diapositive 1"/>
          <p:cNvSpPr>
            <a:spLocks noGrp="1"/>
          </p:cNvSpPr>
          <p:nvPr>
            <p:ph type="sldNum" sz="quarter" idx="12"/>
          </p:nvPr>
        </p:nvSpPr>
        <p:spPr/>
        <p:txBody>
          <a:bodyPr/>
          <a:lstStyle/>
          <a:p>
            <a:fld id="{992B40CC-DFA5-47EF-8974-C897708E5DF2}" type="slidenum">
              <a:rPr lang="fr-CA" smtClean="0"/>
              <a:t>25</a:t>
            </a:fld>
            <a:endParaRPr lang="fr-CA"/>
          </a:p>
        </p:txBody>
      </p:sp>
      <p:sp>
        <p:nvSpPr>
          <p:cNvPr id="3" name="Espace réservé du pied de page 2">
            <a:extLst>
              <a:ext uri="{FF2B5EF4-FFF2-40B4-BE49-F238E27FC236}">
                <a16:creationId xmlns:a16="http://schemas.microsoft.com/office/drawing/2014/main" id="{685ADD5B-E740-401B-8B1E-4A97C05BB729}"/>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4636932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9698" name="Titre 1"/>
          <p:cNvSpPr>
            <a:spLocks noGrp="1"/>
          </p:cNvSpPr>
          <p:nvPr>
            <p:ph type="title" idx="4294967295"/>
          </p:nvPr>
        </p:nvSpPr>
        <p:spPr/>
        <p:txBody>
          <a:bodyPr anchor="ctr"/>
          <a:lstStyle/>
          <a:p>
            <a:pPr algn="ctr" eaLnBrk="1" hangingPunct="1"/>
            <a:r>
              <a:rPr lang="fr-CA" altLang="fr-FR" sz="3600" dirty="0">
                <a:solidFill>
                  <a:schemeClr val="hlink"/>
                </a:solidFill>
                <a:latin typeface="Calibri" panose="020F0502020204030204" pitchFamily="34" charset="0"/>
              </a:rPr>
              <a:t>Exercice 5</a:t>
            </a:r>
          </a:p>
        </p:txBody>
      </p:sp>
      <p:sp>
        <p:nvSpPr>
          <p:cNvPr id="29699" name="Espace réservé du contenu 2"/>
          <p:cNvSpPr>
            <a:spLocks noGrp="1"/>
          </p:cNvSpPr>
          <p:nvPr>
            <p:ph idx="4294967295"/>
          </p:nvPr>
        </p:nvSpPr>
        <p:spPr/>
        <p:txBody>
          <a:bodyPr>
            <a:normAutofit fontScale="92500" lnSpcReduction="10000"/>
          </a:bodyPr>
          <a:lstStyle/>
          <a:p>
            <a:pPr marL="0" indent="0">
              <a:buNone/>
            </a:pPr>
            <a:r>
              <a:rPr lang="fr-CA" altLang="fr-FR" sz="2600" dirty="0">
                <a:latin typeface="Calibri" panose="020F0502020204030204" pitchFamily="34" charset="0"/>
              </a:rPr>
              <a:t>Soldes au 31 décembre 2020 en Euros :</a:t>
            </a:r>
          </a:p>
          <a:p>
            <a:pPr marL="0" indent="0">
              <a:buNone/>
            </a:pPr>
            <a:r>
              <a:rPr lang="fr-CA" altLang="fr-FR" sz="2600" dirty="0">
                <a:solidFill>
                  <a:srgbClr val="000000"/>
                </a:solidFill>
                <a:latin typeface="Calibri" panose="020F0502020204030204" pitchFamily="34" charset="0"/>
              </a:rPr>
              <a:t>Créances                                           		500 000 €</a:t>
            </a:r>
          </a:p>
          <a:p>
            <a:pPr marL="0" indent="0">
              <a:buNone/>
            </a:pPr>
            <a:r>
              <a:rPr lang="fr-CA" altLang="fr-FR" sz="2600" dirty="0">
                <a:solidFill>
                  <a:srgbClr val="000000"/>
                </a:solidFill>
                <a:latin typeface="Calibri" panose="020F0502020204030204" pitchFamily="34" charset="0"/>
              </a:rPr>
              <a:t>Stocks (valeur nette de réalisation)           	600 000 €</a:t>
            </a:r>
          </a:p>
          <a:p>
            <a:pPr marL="0" indent="0">
              <a:buNone/>
            </a:pPr>
            <a:r>
              <a:rPr lang="fr-CA" altLang="fr-FR" sz="2600" dirty="0">
                <a:latin typeface="Calibri" panose="020F0502020204030204" pitchFamily="34" charset="0"/>
              </a:rPr>
              <a:t>Terrain (présenté au coût)         	          1 000 000 </a:t>
            </a:r>
            <a:r>
              <a:rPr lang="fr-CA" altLang="fr-FR" sz="2600" dirty="0">
                <a:solidFill>
                  <a:srgbClr val="000000"/>
                </a:solidFill>
                <a:latin typeface="Calibri" panose="020F0502020204030204" pitchFamily="34" charset="0"/>
              </a:rPr>
              <a:t>€</a:t>
            </a:r>
          </a:p>
          <a:p>
            <a:pPr marL="0" indent="0">
              <a:buNone/>
            </a:pPr>
            <a:endParaRPr lang="fr-CA" altLang="fr-FR" sz="2600" dirty="0">
              <a:solidFill>
                <a:srgbClr val="000000"/>
              </a:solidFill>
              <a:latin typeface="Calibri" panose="020F0502020204030204" pitchFamily="34" charset="0"/>
            </a:endParaRPr>
          </a:p>
          <a:p>
            <a:pPr marL="0" indent="0">
              <a:buNone/>
            </a:pPr>
            <a:r>
              <a:rPr lang="fr-CA" altLang="fr-FR" sz="2600" i="1" dirty="0">
                <a:latin typeface="Calibri" panose="020F0502020204030204" pitchFamily="34" charset="0"/>
              </a:rPr>
              <a:t>Cours de change</a:t>
            </a:r>
          </a:p>
          <a:p>
            <a:pPr marL="0" indent="0">
              <a:buNone/>
            </a:pPr>
            <a:r>
              <a:rPr lang="fr-CA" altLang="fr-FR" sz="2600" dirty="0">
                <a:solidFill>
                  <a:srgbClr val="000000"/>
                </a:solidFill>
                <a:latin typeface="Calibri" panose="020F0502020204030204" pitchFamily="34" charset="0"/>
              </a:rPr>
              <a:t>30 juin 2020 : 		1 € = 1,50 $   </a:t>
            </a:r>
            <a:r>
              <a:rPr lang="fr-CA" altLang="fr-FR" sz="2000" dirty="0">
                <a:solidFill>
                  <a:srgbClr val="000000"/>
                </a:solidFill>
                <a:latin typeface="Calibri" panose="020F0502020204030204" pitchFamily="34" charset="0"/>
              </a:rPr>
              <a:t>(date d’acquisition des stocks et du terrain)</a:t>
            </a:r>
            <a:endParaRPr lang="fr-CA" altLang="fr-FR" sz="2600" dirty="0">
              <a:latin typeface="Calibri" panose="020F0502020204030204" pitchFamily="34" charset="0"/>
            </a:endParaRPr>
          </a:p>
          <a:p>
            <a:pPr marL="0" indent="0">
              <a:buNone/>
            </a:pPr>
            <a:r>
              <a:rPr lang="fr-CA" altLang="fr-FR" sz="2600" dirty="0">
                <a:latin typeface="Calibri" panose="020F0502020204030204" pitchFamily="34" charset="0"/>
              </a:rPr>
              <a:t>31 décembre 2020 : 	1 </a:t>
            </a:r>
            <a:r>
              <a:rPr lang="fr-CA" altLang="fr-FR" sz="2600" dirty="0">
                <a:solidFill>
                  <a:srgbClr val="000000"/>
                </a:solidFill>
                <a:latin typeface="Calibri" panose="020F0502020204030204" pitchFamily="34" charset="0"/>
              </a:rPr>
              <a:t>€ = 1,55 $</a:t>
            </a:r>
          </a:p>
          <a:p>
            <a:pPr marL="0" indent="0">
              <a:buNone/>
            </a:pPr>
            <a:endParaRPr lang="fr-CA" altLang="fr-FR" sz="2600" dirty="0">
              <a:solidFill>
                <a:srgbClr val="000000"/>
              </a:solidFill>
              <a:latin typeface="Calibri" panose="020F0502020204030204" pitchFamily="34" charset="0"/>
            </a:endParaRPr>
          </a:p>
          <a:p>
            <a:pPr>
              <a:buFont typeface="Wingdings" panose="05000000000000000000" pitchFamily="2" charset="2"/>
              <a:buChar char="Ø"/>
            </a:pPr>
            <a:r>
              <a:rPr lang="fr-CA" altLang="fr-FR" sz="2600" i="1" dirty="0">
                <a:solidFill>
                  <a:srgbClr val="000000"/>
                </a:solidFill>
                <a:latin typeface="Calibri" panose="020F0502020204030204" pitchFamily="34" charset="0"/>
              </a:rPr>
              <a:t> Établir les soldes à présenter dans les EF préparés en $CAN.</a:t>
            </a:r>
          </a:p>
        </p:txBody>
      </p:sp>
      <p:sp>
        <p:nvSpPr>
          <p:cNvPr id="2" name="Espace réservé du numéro de diapositive 1"/>
          <p:cNvSpPr>
            <a:spLocks noGrp="1"/>
          </p:cNvSpPr>
          <p:nvPr>
            <p:ph type="sldNum" sz="quarter" idx="12"/>
          </p:nvPr>
        </p:nvSpPr>
        <p:spPr/>
        <p:txBody>
          <a:bodyPr/>
          <a:lstStyle/>
          <a:p>
            <a:fld id="{992B40CC-DFA5-47EF-8974-C897708E5DF2}" type="slidenum">
              <a:rPr lang="fr-CA" smtClean="0"/>
              <a:t>26</a:t>
            </a:fld>
            <a:endParaRPr lang="fr-CA"/>
          </a:p>
        </p:txBody>
      </p:sp>
      <p:sp>
        <p:nvSpPr>
          <p:cNvPr id="3" name="Espace réservé du pied de page 2">
            <a:extLst>
              <a:ext uri="{FF2B5EF4-FFF2-40B4-BE49-F238E27FC236}">
                <a16:creationId xmlns:a16="http://schemas.microsoft.com/office/drawing/2014/main" id="{7AFEC778-3C0D-4E7D-8885-528EC8866BEB}"/>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40016995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1746" name="Titre 1"/>
          <p:cNvSpPr>
            <a:spLocks noGrp="1"/>
          </p:cNvSpPr>
          <p:nvPr>
            <p:ph type="title" idx="4294967295"/>
          </p:nvPr>
        </p:nvSpPr>
        <p:spPr/>
        <p:txBody>
          <a:bodyPr anchor="ctr"/>
          <a:lstStyle/>
          <a:p>
            <a:pPr algn="ctr" eaLnBrk="1" hangingPunct="1"/>
            <a:r>
              <a:rPr lang="fr-CA" altLang="fr-FR" sz="3600" dirty="0">
                <a:solidFill>
                  <a:schemeClr val="hlink"/>
                </a:solidFill>
                <a:latin typeface="Calibri" panose="020F0502020204030204" pitchFamily="34" charset="0"/>
              </a:rPr>
              <a:t>Solution</a:t>
            </a:r>
          </a:p>
        </p:txBody>
      </p:sp>
      <p:sp>
        <p:nvSpPr>
          <p:cNvPr id="31747" name="Espace réservé du contenu 2"/>
          <p:cNvSpPr>
            <a:spLocks noGrp="1"/>
          </p:cNvSpPr>
          <p:nvPr>
            <p:ph idx="4294967295"/>
          </p:nvPr>
        </p:nvSpPr>
        <p:spPr>
          <a:xfrm>
            <a:off x="838200" y="2207171"/>
            <a:ext cx="10515600" cy="3969791"/>
          </a:xfrm>
        </p:spPr>
        <p:txBody>
          <a:bodyPr>
            <a:normAutofit lnSpcReduction="10000"/>
          </a:bodyPr>
          <a:lstStyle/>
          <a:p>
            <a:pPr marL="0" indent="0">
              <a:buNone/>
            </a:pPr>
            <a:r>
              <a:rPr lang="fr-CA" altLang="fr-FR" dirty="0">
                <a:latin typeface="Calibri" panose="020F0502020204030204" pitchFamily="34" charset="0"/>
              </a:rPr>
              <a:t>Soldes au 31 décembre 2020 en $CAN :</a:t>
            </a:r>
          </a:p>
          <a:p>
            <a:pPr marL="0" indent="0">
              <a:buNone/>
            </a:pPr>
            <a:r>
              <a:rPr lang="fr-CA" altLang="fr-FR" dirty="0">
                <a:solidFill>
                  <a:srgbClr val="000000"/>
                </a:solidFill>
                <a:latin typeface="Calibri" panose="020F0502020204030204" pitchFamily="34" charset="0"/>
              </a:rPr>
              <a:t>Créances                                             775 000 $</a:t>
            </a:r>
          </a:p>
          <a:p>
            <a:pPr marL="0" indent="0">
              <a:buNone/>
            </a:pPr>
            <a:r>
              <a:rPr lang="fr-CA" altLang="fr-FR" dirty="0">
                <a:solidFill>
                  <a:srgbClr val="000000"/>
                </a:solidFill>
                <a:latin typeface="Calibri" panose="020F0502020204030204" pitchFamily="34" charset="0"/>
              </a:rPr>
              <a:t>Stocks 		                           930 000 $</a:t>
            </a:r>
          </a:p>
          <a:p>
            <a:pPr marL="0" indent="0">
              <a:buNone/>
            </a:pPr>
            <a:r>
              <a:rPr lang="fr-CA" altLang="fr-FR" dirty="0">
                <a:latin typeface="Calibri" panose="020F0502020204030204" pitchFamily="34" charset="0"/>
              </a:rPr>
              <a:t>Terrain	                                   1 500 000 </a:t>
            </a:r>
            <a:r>
              <a:rPr lang="fr-CA" altLang="fr-FR" dirty="0">
                <a:solidFill>
                  <a:srgbClr val="000000"/>
                </a:solidFill>
                <a:latin typeface="Calibri" panose="020F0502020204030204" pitchFamily="34" charset="0"/>
              </a:rPr>
              <a:t>$</a:t>
            </a:r>
          </a:p>
          <a:p>
            <a:pPr marL="0" indent="0">
              <a:buNone/>
            </a:pPr>
            <a:endParaRPr lang="fr-CA" altLang="fr-FR" dirty="0">
              <a:solidFill>
                <a:srgbClr val="000000"/>
              </a:solidFill>
            </a:endParaRPr>
          </a:p>
          <a:p>
            <a:pPr marL="0" indent="0">
              <a:buNone/>
            </a:pPr>
            <a:endParaRPr lang="fr-CA" altLang="fr-FR" dirty="0">
              <a:solidFill>
                <a:srgbClr val="000000"/>
              </a:solidFill>
            </a:endParaRPr>
          </a:p>
          <a:p>
            <a:pPr marL="0" indent="0">
              <a:buNone/>
            </a:pPr>
            <a:endParaRPr lang="fr-CA" altLang="fr-FR" dirty="0"/>
          </a:p>
          <a:p>
            <a:pPr marL="0" indent="0">
              <a:buNone/>
            </a:pPr>
            <a:r>
              <a:rPr lang="fr-CA" altLang="fr-FR" dirty="0"/>
              <a:t> </a:t>
            </a:r>
          </a:p>
        </p:txBody>
      </p:sp>
      <p:sp>
        <p:nvSpPr>
          <p:cNvPr id="2" name="Espace réservé du numéro de diapositive 1"/>
          <p:cNvSpPr>
            <a:spLocks noGrp="1"/>
          </p:cNvSpPr>
          <p:nvPr>
            <p:ph type="sldNum" sz="quarter" idx="12"/>
          </p:nvPr>
        </p:nvSpPr>
        <p:spPr/>
        <p:txBody>
          <a:bodyPr/>
          <a:lstStyle/>
          <a:p>
            <a:fld id="{992B40CC-DFA5-47EF-8974-C897708E5DF2}" type="slidenum">
              <a:rPr lang="fr-CA" smtClean="0"/>
              <a:t>27</a:t>
            </a:fld>
            <a:endParaRPr lang="fr-CA"/>
          </a:p>
        </p:txBody>
      </p:sp>
      <p:sp>
        <p:nvSpPr>
          <p:cNvPr id="3" name="Espace réservé du pied de page 2">
            <a:extLst>
              <a:ext uri="{FF2B5EF4-FFF2-40B4-BE49-F238E27FC236}">
                <a16:creationId xmlns:a16="http://schemas.microsoft.com/office/drawing/2014/main" id="{28906FC7-550C-4A2E-B9F2-2C7C2D819902}"/>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8070726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9698" name="Titre 1"/>
          <p:cNvSpPr>
            <a:spLocks noGrp="1"/>
          </p:cNvSpPr>
          <p:nvPr>
            <p:ph type="title" idx="4294967295"/>
          </p:nvPr>
        </p:nvSpPr>
        <p:spPr>
          <a:xfrm>
            <a:off x="838200" y="365125"/>
            <a:ext cx="10515600" cy="433661"/>
          </a:xfrm>
        </p:spPr>
        <p:txBody>
          <a:bodyPr anchor="ctr">
            <a:normAutofit fontScale="90000"/>
          </a:bodyPr>
          <a:lstStyle/>
          <a:p>
            <a:pPr algn="ctr" eaLnBrk="1" hangingPunct="1"/>
            <a:r>
              <a:rPr lang="fr-CA" altLang="fr-FR" sz="3600" dirty="0">
                <a:solidFill>
                  <a:schemeClr val="hlink"/>
                </a:solidFill>
                <a:latin typeface="Calibri" panose="020F0502020204030204" pitchFamily="34" charset="0"/>
              </a:rPr>
              <a:t>Exercice 6 – un défi!</a:t>
            </a:r>
          </a:p>
        </p:txBody>
      </p:sp>
      <p:sp>
        <p:nvSpPr>
          <p:cNvPr id="29699" name="Espace réservé du contenu 2"/>
          <p:cNvSpPr>
            <a:spLocks noGrp="1"/>
          </p:cNvSpPr>
          <p:nvPr>
            <p:ph idx="4294967295"/>
          </p:nvPr>
        </p:nvSpPr>
        <p:spPr>
          <a:xfrm>
            <a:off x="838200" y="1825624"/>
            <a:ext cx="10515600" cy="5032376"/>
          </a:xfrm>
        </p:spPr>
        <p:txBody>
          <a:bodyPr>
            <a:normAutofit lnSpcReduction="10000"/>
          </a:bodyPr>
          <a:lstStyle/>
          <a:p>
            <a:pPr marL="0" indent="0">
              <a:buNone/>
            </a:pPr>
            <a:endParaRPr lang="fr-CA" altLang="fr-FR" sz="2600" dirty="0">
              <a:solidFill>
                <a:srgbClr val="000000"/>
              </a:solidFill>
              <a:latin typeface="Calibri" panose="020F0502020204030204" pitchFamily="34" charset="0"/>
            </a:endParaRPr>
          </a:p>
          <a:p>
            <a:pPr marL="0" indent="0">
              <a:buNone/>
            </a:pPr>
            <a:endParaRPr lang="fr-CA" altLang="fr-FR" sz="2600" dirty="0">
              <a:solidFill>
                <a:srgbClr val="000000"/>
              </a:solidFill>
              <a:latin typeface="Calibri" panose="020F0502020204030204" pitchFamily="34" charset="0"/>
            </a:endParaRPr>
          </a:p>
          <a:p>
            <a:pPr marL="0" indent="0">
              <a:buNone/>
            </a:pPr>
            <a:endParaRPr lang="fr-CA" altLang="fr-FR" sz="2600" dirty="0">
              <a:solidFill>
                <a:srgbClr val="000000"/>
              </a:solidFill>
              <a:latin typeface="Calibri" panose="020F0502020204030204" pitchFamily="34" charset="0"/>
            </a:endParaRPr>
          </a:p>
          <a:p>
            <a:pPr marL="0" indent="0">
              <a:buNone/>
            </a:pPr>
            <a:endParaRPr lang="fr-CA" altLang="fr-FR" sz="2600" dirty="0">
              <a:solidFill>
                <a:srgbClr val="000000"/>
              </a:solidFill>
              <a:latin typeface="Calibri" panose="020F0502020204030204" pitchFamily="34" charset="0"/>
            </a:endParaRPr>
          </a:p>
          <a:p>
            <a:pPr marL="0" indent="0">
              <a:buNone/>
            </a:pPr>
            <a:endParaRPr lang="fr-CA" altLang="fr-FR" sz="2600" dirty="0">
              <a:solidFill>
                <a:srgbClr val="000000"/>
              </a:solidFill>
              <a:latin typeface="Calibri" panose="020F0502020204030204" pitchFamily="34" charset="0"/>
            </a:endParaRPr>
          </a:p>
          <a:p>
            <a:pPr marL="0" indent="0">
              <a:buNone/>
            </a:pPr>
            <a:endParaRPr lang="fr-CA" altLang="fr-FR" sz="2600" dirty="0">
              <a:solidFill>
                <a:srgbClr val="000000"/>
              </a:solidFill>
              <a:latin typeface="Calibri" panose="020F0502020204030204" pitchFamily="34" charset="0"/>
            </a:endParaRPr>
          </a:p>
          <a:p>
            <a:pPr marL="0" indent="0">
              <a:buNone/>
            </a:pPr>
            <a:endParaRPr lang="fr-CA" altLang="fr-FR" sz="2600" dirty="0">
              <a:solidFill>
                <a:srgbClr val="000000"/>
              </a:solidFill>
              <a:latin typeface="Calibri" panose="020F0502020204030204" pitchFamily="34" charset="0"/>
            </a:endParaRPr>
          </a:p>
          <a:p>
            <a:pPr marL="0" indent="0">
              <a:buNone/>
            </a:pPr>
            <a:endParaRPr lang="fr-CA" altLang="fr-FR" sz="2600" i="1" dirty="0">
              <a:solidFill>
                <a:srgbClr val="000000"/>
              </a:solidFill>
              <a:latin typeface="Calibri" panose="020F0502020204030204" pitchFamily="34" charset="0"/>
            </a:endParaRPr>
          </a:p>
          <a:p>
            <a:pPr marL="0" indent="0">
              <a:buNone/>
            </a:pPr>
            <a:endParaRPr lang="fr-CA" altLang="fr-FR" sz="2600" i="1" dirty="0">
              <a:solidFill>
                <a:srgbClr val="000000"/>
              </a:solidFill>
              <a:latin typeface="Calibri" panose="020F0502020204030204" pitchFamily="34" charset="0"/>
            </a:endParaRPr>
          </a:p>
          <a:p>
            <a:pPr>
              <a:buFont typeface="Wingdings" panose="05000000000000000000" pitchFamily="2" charset="2"/>
              <a:buChar char="Ø"/>
            </a:pPr>
            <a:r>
              <a:rPr lang="fr-CA" altLang="fr-FR" sz="2600" i="1" dirty="0">
                <a:solidFill>
                  <a:srgbClr val="000000"/>
                </a:solidFill>
                <a:latin typeface="Calibri" panose="020F0502020204030204" pitchFamily="34" charset="0"/>
              </a:rPr>
              <a:t>Préparez les écritures requises, sachant que des états financiers doivent être produits le 31 décembre de chaque année.</a:t>
            </a:r>
            <a:endParaRPr lang="fr-CA" altLang="fr-FR" sz="2600" i="1" dirty="0">
              <a:latin typeface="Calibri" panose="020F0502020204030204" pitchFamily="34" charset="0"/>
            </a:endParaRPr>
          </a:p>
          <a:p>
            <a:pPr marL="0" indent="0">
              <a:buNone/>
            </a:pPr>
            <a:endParaRPr lang="fr-CA" altLang="fr-FR" sz="2600" i="1" dirty="0">
              <a:solidFill>
                <a:srgbClr val="000000"/>
              </a:solidFill>
              <a:latin typeface="Calibri" panose="020F0502020204030204" pitchFamily="34" charset="0"/>
            </a:endParaRPr>
          </a:p>
        </p:txBody>
      </p:sp>
      <p:sp>
        <p:nvSpPr>
          <p:cNvPr id="2" name="Espace réservé du numéro de diapositive 1"/>
          <p:cNvSpPr>
            <a:spLocks noGrp="1"/>
          </p:cNvSpPr>
          <p:nvPr>
            <p:ph type="sldNum" sz="quarter" idx="12"/>
          </p:nvPr>
        </p:nvSpPr>
        <p:spPr/>
        <p:txBody>
          <a:bodyPr/>
          <a:lstStyle/>
          <a:p>
            <a:fld id="{992B40CC-DFA5-47EF-8974-C897708E5DF2}" type="slidenum">
              <a:rPr lang="fr-CA" smtClean="0"/>
              <a:t>28</a:t>
            </a:fld>
            <a:endParaRPr lang="fr-CA"/>
          </a:p>
        </p:txBody>
      </p:sp>
      <p:graphicFrame>
        <p:nvGraphicFramePr>
          <p:cNvPr id="5" name="Objet 4">
            <a:extLst>
              <a:ext uri="{FF2B5EF4-FFF2-40B4-BE49-F238E27FC236}">
                <a16:creationId xmlns:a16="http://schemas.microsoft.com/office/drawing/2014/main" id="{37DCE15B-C510-4AB9-9E21-4E048CC01C46}"/>
              </a:ext>
            </a:extLst>
          </p:cNvPr>
          <p:cNvGraphicFramePr>
            <a:graphicFrameLocks noChangeAspect="1"/>
          </p:cNvGraphicFramePr>
          <p:nvPr>
            <p:extLst>
              <p:ext uri="{D42A27DB-BD31-4B8C-83A1-F6EECF244321}">
                <p14:modId xmlns:p14="http://schemas.microsoft.com/office/powerpoint/2010/main" val="2264623101"/>
              </p:ext>
            </p:extLst>
          </p:nvPr>
        </p:nvGraphicFramePr>
        <p:xfrm>
          <a:off x="2637281" y="798786"/>
          <a:ext cx="6375354" cy="4845269"/>
        </p:xfrm>
        <a:graphic>
          <a:graphicData uri="http://schemas.openxmlformats.org/presentationml/2006/ole">
            <mc:AlternateContent xmlns:mc="http://schemas.openxmlformats.org/markup-compatibility/2006">
              <mc:Choice xmlns:v="urn:schemas-microsoft-com:vml" Requires="v">
                <p:oleObj spid="_x0000_s1038" name="Worksheet" r:id="rId4" imgW="4127525" imgH="3136841" progId="Excel.Sheet.12">
                  <p:embed/>
                </p:oleObj>
              </mc:Choice>
              <mc:Fallback>
                <p:oleObj name="Worksheet" r:id="rId4" imgW="4127525" imgH="3136841" progId="Excel.Sheet.12">
                  <p:embed/>
                  <p:pic>
                    <p:nvPicPr>
                      <p:cNvPr id="0" name=""/>
                      <p:cNvPicPr/>
                      <p:nvPr/>
                    </p:nvPicPr>
                    <p:blipFill>
                      <a:blip r:embed="rId5"/>
                      <a:stretch>
                        <a:fillRect/>
                      </a:stretch>
                    </p:blipFill>
                    <p:spPr>
                      <a:xfrm>
                        <a:off x="2637281" y="798786"/>
                        <a:ext cx="6375354" cy="4845269"/>
                      </a:xfrm>
                      <a:prstGeom prst="rect">
                        <a:avLst/>
                      </a:prstGeom>
                    </p:spPr>
                  </p:pic>
                </p:oleObj>
              </mc:Fallback>
            </mc:AlternateContent>
          </a:graphicData>
        </a:graphic>
      </p:graphicFrame>
      <p:sp>
        <p:nvSpPr>
          <p:cNvPr id="3" name="Espace réservé du pied de page 2">
            <a:extLst>
              <a:ext uri="{FF2B5EF4-FFF2-40B4-BE49-F238E27FC236}">
                <a16:creationId xmlns:a16="http://schemas.microsoft.com/office/drawing/2014/main" id="{55AC24FD-A79D-4DB5-8816-0EDA9EEB204A}"/>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40595900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2FA6A1F-5561-4AA2-A845-B14954C2065F}"/>
              </a:ext>
            </a:extLst>
          </p:cNvPr>
          <p:cNvSpPr>
            <a:spLocks noGrp="1"/>
          </p:cNvSpPr>
          <p:nvPr>
            <p:ph type="sldNum" sz="quarter" idx="12"/>
          </p:nvPr>
        </p:nvSpPr>
        <p:spPr/>
        <p:txBody>
          <a:bodyPr/>
          <a:lstStyle/>
          <a:p>
            <a:fld id="{992B40CC-DFA5-47EF-8974-C897708E5DF2}" type="slidenum">
              <a:rPr lang="fr-CA" smtClean="0"/>
              <a:t>29</a:t>
            </a:fld>
            <a:endParaRPr lang="fr-CA"/>
          </a:p>
        </p:txBody>
      </p:sp>
      <p:graphicFrame>
        <p:nvGraphicFramePr>
          <p:cNvPr id="3" name="Objet 2">
            <a:extLst>
              <a:ext uri="{FF2B5EF4-FFF2-40B4-BE49-F238E27FC236}">
                <a16:creationId xmlns:a16="http://schemas.microsoft.com/office/drawing/2014/main" id="{7B355637-61B6-458E-A791-4983F5972E34}"/>
              </a:ext>
            </a:extLst>
          </p:cNvPr>
          <p:cNvGraphicFramePr>
            <a:graphicFrameLocks noChangeAspect="1"/>
          </p:cNvGraphicFramePr>
          <p:nvPr>
            <p:extLst>
              <p:ext uri="{D42A27DB-BD31-4B8C-83A1-F6EECF244321}">
                <p14:modId xmlns:p14="http://schemas.microsoft.com/office/powerpoint/2010/main" val="246321590"/>
              </p:ext>
            </p:extLst>
          </p:nvPr>
        </p:nvGraphicFramePr>
        <p:xfrm>
          <a:off x="614152" y="1757680"/>
          <a:ext cx="11107541" cy="3383280"/>
        </p:xfrm>
        <a:graphic>
          <a:graphicData uri="http://schemas.openxmlformats.org/presentationml/2006/ole">
            <mc:AlternateContent xmlns:mc="http://schemas.openxmlformats.org/markup-compatibility/2006">
              <mc:Choice xmlns:v="urn:schemas-microsoft-com:vml" Requires="v">
                <p:oleObj spid="_x0000_s2059" name="Worksheet" r:id="rId3" imgW="7880214" imgH="2400300" progId="Excel.Sheet.12">
                  <p:embed/>
                </p:oleObj>
              </mc:Choice>
              <mc:Fallback>
                <p:oleObj name="Worksheet" r:id="rId3" imgW="7880214" imgH="2400300" progId="Excel.Sheet.12">
                  <p:embed/>
                  <p:pic>
                    <p:nvPicPr>
                      <p:cNvPr id="0" name=""/>
                      <p:cNvPicPr/>
                      <p:nvPr/>
                    </p:nvPicPr>
                    <p:blipFill>
                      <a:blip r:embed="rId4"/>
                      <a:stretch>
                        <a:fillRect/>
                      </a:stretch>
                    </p:blipFill>
                    <p:spPr>
                      <a:xfrm>
                        <a:off x="614152" y="1757680"/>
                        <a:ext cx="11107541" cy="3383280"/>
                      </a:xfrm>
                      <a:prstGeom prst="rect">
                        <a:avLst/>
                      </a:prstGeom>
                    </p:spPr>
                  </p:pic>
                </p:oleObj>
              </mc:Fallback>
            </mc:AlternateContent>
          </a:graphicData>
        </a:graphic>
      </p:graphicFrame>
      <p:sp>
        <p:nvSpPr>
          <p:cNvPr id="4" name="Espace réservé du pied de page 3">
            <a:extLst>
              <a:ext uri="{FF2B5EF4-FFF2-40B4-BE49-F238E27FC236}">
                <a16:creationId xmlns:a16="http://schemas.microsoft.com/office/drawing/2014/main" id="{FA60BF1C-2FE2-4FA6-BCFB-682BF2F21A76}"/>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3195654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2FA6A1F-5561-4AA2-A845-B14954C2065F}"/>
              </a:ext>
            </a:extLst>
          </p:cNvPr>
          <p:cNvSpPr>
            <a:spLocks noGrp="1"/>
          </p:cNvSpPr>
          <p:nvPr>
            <p:ph type="sldNum" sz="quarter" idx="12"/>
          </p:nvPr>
        </p:nvSpPr>
        <p:spPr/>
        <p:txBody>
          <a:bodyPr/>
          <a:lstStyle/>
          <a:p>
            <a:fld id="{992B40CC-DFA5-47EF-8974-C897708E5DF2}" type="slidenum">
              <a:rPr lang="fr-CA" smtClean="0"/>
              <a:t>30</a:t>
            </a:fld>
            <a:endParaRPr lang="fr-CA"/>
          </a:p>
        </p:txBody>
      </p:sp>
      <p:graphicFrame>
        <p:nvGraphicFramePr>
          <p:cNvPr id="4" name="Objet 3">
            <a:extLst>
              <a:ext uri="{FF2B5EF4-FFF2-40B4-BE49-F238E27FC236}">
                <a16:creationId xmlns:a16="http://schemas.microsoft.com/office/drawing/2014/main" id="{5D9361A8-0B63-4876-856E-06B6283375FC}"/>
              </a:ext>
            </a:extLst>
          </p:cNvPr>
          <p:cNvGraphicFramePr>
            <a:graphicFrameLocks noChangeAspect="1"/>
          </p:cNvGraphicFramePr>
          <p:nvPr>
            <p:extLst>
              <p:ext uri="{D42A27DB-BD31-4B8C-83A1-F6EECF244321}">
                <p14:modId xmlns:p14="http://schemas.microsoft.com/office/powerpoint/2010/main" val="1455155813"/>
              </p:ext>
            </p:extLst>
          </p:nvPr>
        </p:nvGraphicFramePr>
        <p:xfrm>
          <a:off x="491742" y="2113280"/>
          <a:ext cx="11308709" cy="2651760"/>
        </p:xfrm>
        <a:graphic>
          <a:graphicData uri="http://schemas.openxmlformats.org/presentationml/2006/ole">
            <mc:AlternateContent xmlns:mc="http://schemas.openxmlformats.org/markup-compatibility/2006">
              <mc:Choice xmlns:v="urn:schemas-microsoft-com:vml" Requires="v">
                <p:oleObj spid="_x0000_s3083" name="Worksheet" r:id="rId3" imgW="7880214" imgH="1847696" progId="Excel.Sheet.12">
                  <p:embed/>
                </p:oleObj>
              </mc:Choice>
              <mc:Fallback>
                <p:oleObj name="Worksheet" r:id="rId3" imgW="7880214" imgH="1847696" progId="Excel.Sheet.12">
                  <p:embed/>
                  <p:pic>
                    <p:nvPicPr>
                      <p:cNvPr id="0" name=""/>
                      <p:cNvPicPr/>
                      <p:nvPr/>
                    </p:nvPicPr>
                    <p:blipFill>
                      <a:blip r:embed="rId4"/>
                      <a:stretch>
                        <a:fillRect/>
                      </a:stretch>
                    </p:blipFill>
                    <p:spPr>
                      <a:xfrm>
                        <a:off x="491742" y="2113280"/>
                        <a:ext cx="11308709" cy="2651760"/>
                      </a:xfrm>
                      <a:prstGeom prst="rect">
                        <a:avLst/>
                      </a:prstGeom>
                    </p:spPr>
                  </p:pic>
                </p:oleObj>
              </mc:Fallback>
            </mc:AlternateContent>
          </a:graphicData>
        </a:graphic>
      </p:graphicFrame>
      <p:sp>
        <p:nvSpPr>
          <p:cNvPr id="3" name="Espace réservé du pied de page 2">
            <a:extLst>
              <a:ext uri="{FF2B5EF4-FFF2-40B4-BE49-F238E27FC236}">
                <a16:creationId xmlns:a16="http://schemas.microsoft.com/office/drawing/2014/main" id="{02128E10-4D0C-454E-8378-E7846907EA6E}"/>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1499300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2FA6A1F-5561-4AA2-A845-B14954C2065F}"/>
              </a:ext>
            </a:extLst>
          </p:cNvPr>
          <p:cNvSpPr>
            <a:spLocks noGrp="1"/>
          </p:cNvSpPr>
          <p:nvPr>
            <p:ph type="sldNum" sz="quarter" idx="12"/>
          </p:nvPr>
        </p:nvSpPr>
        <p:spPr/>
        <p:txBody>
          <a:bodyPr/>
          <a:lstStyle/>
          <a:p>
            <a:fld id="{992B40CC-DFA5-47EF-8974-C897708E5DF2}" type="slidenum">
              <a:rPr lang="fr-CA" smtClean="0"/>
              <a:t>31</a:t>
            </a:fld>
            <a:endParaRPr lang="fr-CA"/>
          </a:p>
        </p:txBody>
      </p:sp>
      <p:graphicFrame>
        <p:nvGraphicFramePr>
          <p:cNvPr id="4" name="Objet 3">
            <a:extLst>
              <a:ext uri="{FF2B5EF4-FFF2-40B4-BE49-F238E27FC236}">
                <a16:creationId xmlns:a16="http://schemas.microsoft.com/office/drawing/2014/main" id="{B8C64994-A80D-4F57-B1EE-2C6CAC6EBC55}"/>
              </a:ext>
            </a:extLst>
          </p:cNvPr>
          <p:cNvGraphicFramePr>
            <a:graphicFrameLocks noChangeAspect="1"/>
          </p:cNvGraphicFramePr>
          <p:nvPr>
            <p:extLst>
              <p:ext uri="{D42A27DB-BD31-4B8C-83A1-F6EECF244321}">
                <p14:modId xmlns:p14="http://schemas.microsoft.com/office/powerpoint/2010/main" val="1615307218"/>
              </p:ext>
            </p:extLst>
          </p:nvPr>
        </p:nvGraphicFramePr>
        <p:xfrm>
          <a:off x="532960" y="822960"/>
          <a:ext cx="11241367" cy="5262880"/>
        </p:xfrm>
        <a:graphic>
          <a:graphicData uri="http://schemas.openxmlformats.org/presentationml/2006/ole">
            <mc:AlternateContent xmlns:mc="http://schemas.openxmlformats.org/markup-compatibility/2006">
              <mc:Choice xmlns:v="urn:schemas-microsoft-com:vml" Requires="v">
                <p:oleObj spid="_x0000_s4107" name="Worksheet" r:id="rId3" imgW="7880214" imgH="3689445" progId="Excel.Sheet.12">
                  <p:embed/>
                </p:oleObj>
              </mc:Choice>
              <mc:Fallback>
                <p:oleObj name="Worksheet" r:id="rId3" imgW="7880214" imgH="3689445" progId="Excel.Sheet.12">
                  <p:embed/>
                  <p:pic>
                    <p:nvPicPr>
                      <p:cNvPr id="0" name=""/>
                      <p:cNvPicPr/>
                      <p:nvPr/>
                    </p:nvPicPr>
                    <p:blipFill>
                      <a:blip r:embed="rId4"/>
                      <a:stretch>
                        <a:fillRect/>
                      </a:stretch>
                    </p:blipFill>
                    <p:spPr>
                      <a:xfrm>
                        <a:off x="532960" y="822960"/>
                        <a:ext cx="11241367" cy="5262880"/>
                      </a:xfrm>
                      <a:prstGeom prst="rect">
                        <a:avLst/>
                      </a:prstGeom>
                    </p:spPr>
                  </p:pic>
                </p:oleObj>
              </mc:Fallback>
            </mc:AlternateContent>
          </a:graphicData>
        </a:graphic>
      </p:graphicFrame>
      <p:sp>
        <p:nvSpPr>
          <p:cNvPr id="3" name="Espace réservé du pied de page 2">
            <a:extLst>
              <a:ext uri="{FF2B5EF4-FFF2-40B4-BE49-F238E27FC236}">
                <a16:creationId xmlns:a16="http://schemas.microsoft.com/office/drawing/2014/main" id="{A8010A9A-EEC8-492E-BE65-F14955CB124E}"/>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0699720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b="1" dirty="0">
                <a:solidFill>
                  <a:srgbClr val="0070C0"/>
                </a:solidFill>
              </a:rPr>
              <a:t>Pour les établissements étrangers</a:t>
            </a:r>
            <a:endParaRPr lang="fr-CA" b="1" dirty="0">
              <a:solidFill>
                <a:srgbClr val="0070C0"/>
              </a:solidFill>
            </a:endParaRPr>
          </a:p>
        </p:txBody>
      </p:sp>
      <p:sp>
        <p:nvSpPr>
          <p:cNvPr id="3" name="Espace réservé du contenu 2"/>
          <p:cNvSpPr>
            <a:spLocks noGrp="1"/>
          </p:cNvSpPr>
          <p:nvPr>
            <p:ph idx="1"/>
          </p:nvPr>
        </p:nvSpPr>
        <p:spPr/>
        <p:txBody>
          <a:bodyPr/>
          <a:lstStyle/>
          <a:p>
            <a:r>
              <a:rPr lang="fr-CA" dirty="0"/>
              <a:t>Filiale, succursale, entreprise associée ou partenariat – info fin en devise autre que $ </a:t>
            </a:r>
            <a:r>
              <a:rPr lang="fr-CA" dirty="0" err="1"/>
              <a:t>cdn</a:t>
            </a:r>
            <a:endParaRPr lang="fr-CA" dirty="0"/>
          </a:p>
          <a:p>
            <a:pPr lvl="1"/>
            <a:r>
              <a:rPr lang="fr-CA" dirty="0"/>
              <a:t>Convertir en $ </a:t>
            </a:r>
            <a:r>
              <a:rPr lang="fr-CA" dirty="0" err="1"/>
              <a:t>cdn</a:t>
            </a:r>
            <a:r>
              <a:rPr lang="fr-CA" dirty="0"/>
              <a:t>, afin de regrouper/consolider avec les états financiers de la société canadienne</a:t>
            </a:r>
          </a:p>
          <a:p>
            <a:endParaRPr lang="fr-CA" dirty="0"/>
          </a:p>
          <a:p>
            <a:r>
              <a:rPr lang="fr-CA" dirty="0"/>
              <a:t>Déterminer la </a:t>
            </a:r>
            <a:r>
              <a:rPr lang="fr-CA" i="1" dirty="0"/>
              <a:t>monnaie fonctionnelle</a:t>
            </a:r>
            <a:r>
              <a:rPr lang="fr-CA" dirty="0"/>
              <a:t> de l’entreprise</a:t>
            </a:r>
          </a:p>
          <a:p>
            <a:r>
              <a:rPr lang="fr-CA" dirty="0"/>
              <a:t>Convertir les éléments en monnaie étrangère dans la monnaie fonctionnelle et présenter les effets de cette conversion</a:t>
            </a:r>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32</a:t>
            </a:fld>
            <a:endParaRPr lang="fr-CA"/>
          </a:p>
        </p:txBody>
      </p:sp>
      <p:sp>
        <p:nvSpPr>
          <p:cNvPr id="4" name="Espace réservé du pied de page 3">
            <a:extLst>
              <a:ext uri="{FF2B5EF4-FFF2-40B4-BE49-F238E27FC236}">
                <a16:creationId xmlns:a16="http://schemas.microsoft.com/office/drawing/2014/main" id="{FF9AE460-CA1B-420A-9306-1A2E8AD12522}"/>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7128725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Monnaie fonctionnelle</a:t>
            </a:r>
          </a:p>
        </p:txBody>
      </p:sp>
      <p:sp>
        <p:nvSpPr>
          <p:cNvPr id="3" name="Espace réservé du contenu 2"/>
          <p:cNvSpPr>
            <a:spLocks noGrp="1"/>
          </p:cNvSpPr>
          <p:nvPr>
            <p:ph idx="1"/>
          </p:nvPr>
        </p:nvSpPr>
        <p:spPr/>
        <p:txBody>
          <a:bodyPr>
            <a:normAutofit fontScale="85000" lnSpcReduction="20000"/>
          </a:bodyPr>
          <a:lstStyle/>
          <a:p>
            <a:pPr marL="0" indent="0">
              <a:buNone/>
            </a:pPr>
            <a:r>
              <a:rPr lang="fr-CA" dirty="0"/>
              <a:t>9     L'environnement économique principal dans lequel une entité exerce ses activités est normalement celui dans lequel est principalement générée et dépensée sa trésorerie. Une entité considère les facteurs suivants pour déterminer quelle est sa monnaie fonctionnelle :</a:t>
            </a:r>
          </a:p>
          <a:p>
            <a:pPr marL="0" indent="0">
              <a:buNone/>
            </a:pPr>
            <a:r>
              <a:rPr lang="fr-CA" dirty="0"/>
              <a:t>(a)     la monnaie :</a:t>
            </a:r>
          </a:p>
          <a:p>
            <a:pPr marL="984250" indent="-358775">
              <a:buNone/>
            </a:pPr>
            <a:r>
              <a:rPr lang="fr-CA" dirty="0"/>
              <a:t>(i)  qui influence le plus les </a:t>
            </a:r>
            <a:r>
              <a:rPr lang="fr-CA" dirty="0">
                <a:solidFill>
                  <a:srgbClr val="0070C0"/>
                </a:solidFill>
              </a:rPr>
              <a:t>prix de vente</a:t>
            </a:r>
            <a:r>
              <a:rPr lang="fr-CA" dirty="0"/>
              <a:t> des biens et des services (il s'agit souvent de la monnaie dans laquelle les prix de vente de ces biens et services sont libellés et réglés) ; et</a:t>
            </a:r>
          </a:p>
          <a:p>
            <a:pPr marL="984250" indent="-358775">
              <a:buNone/>
            </a:pPr>
            <a:r>
              <a:rPr lang="fr-CA" dirty="0"/>
              <a:t>(ii) du pays dont les forces concurrentielles et la réglementation déterminent le plus les prix de vente de ses biens et services.</a:t>
            </a:r>
          </a:p>
          <a:p>
            <a:pPr marL="0" indent="0">
              <a:buNone/>
            </a:pPr>
            <a:r>
              <a:rPr lang="fr-CA" dirty="0"/>
              <a:t>(b)     la monnaie qui influence le plus </a:t>
            </a:r>
            <a:r>
              <a:rPr lang="fr-CA" dirty="0">
                <a:solidFill>
                  <a:srgbClr val="0070C0"/>
                </a:solidFill>
              </a:rPr>
              <a:t>le coût</a:t>
            </a:r>
            <a:r>
              <a:rPr lang="fr-CA" dirty="0"/>
              <a:t> de la main-d'œuvre, des matériaux et les autres coûts relatifs à la fourniture de biens ou de services (il s'agit souvent de la monnaie dans laquelle ces coûts sont libellés et réglés).</a:t>
            </a:r>
          </a:p>
          <a:p>
            <a:pPr marL="0" indent="0">
              <a:buNone/>
            </a:pPr>
            <a:endParaRPr lang="fr-CA" dirty="0"/>
          </a:p>
          <a:p>
            <a:endParaRPr lang="fr-CA" dirty="0"/>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33</a:t>
            </a:fld>
            <a:endParaRPr lang="fr-CA"/>
          </a:p>
        </p:txBody>
      </p:sp>
      <p:sp>
        <p:nvSpPr>
          <p:cNvPr id="4" name="Espace réservé du pied de page 3">
            <a:extLst>
              <a:ext uri="{FF2B5EF4-FFF2-40B4-BE49-F238E27FC236}">
                <a16:creationId xmlns:a16="http://schemas.microsoft.com/office/drawing/2014/main" id="{2FE6B3AB-F8BE-4D93-8F96-25616E24AC51}"/>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6788064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Monnaie fonctionnelle</a:t>
            </a:r>
          </a:p>
        </p:txBody>
      </p:sp>
      <p:sp>
        <p:nvSpPr>
          <p:cNvPr id="3" name="Espace réservé du contenu 2"/>
          <p:cNvSpPr>
            <a:spLocks noGrp="1"/>
          </p:cNvSpPr>
          <p:nvPr>
            <p:ph idx="1"/>
          </p:nvPr>
        </p:nvSpPr>
        <p:spPr>
          <a:xfrm>
            <a:off x="838200" y="1690688"/>
            <a:ext cx="10515600" cy="4409170"/>
          </a:xfrm>
        </p:spPr>
        <p:txBody>
          <a:bodyPr>
            <a:normAutofit/>
          </a:bodyPr>
          <a:lstStyle/>
          <a:p>
            <a:pPr marL="0" indent="0">
              <a:buNone/>
            </a:pPr>
            <a:r>
              <a:rPr lang="fr-CA" sz="2400" dirty="0"/>
              <a:t>10     Les facteurs suivants peuvent également donner des indications sur la monnaie fonctionnelle d'une entité :</a:t>
            </a:r>
          </a:p>
          <a:p>
            <a:pPr marL="531813" indent="-531813">
              <a:buNone/>
            </a:pPr>
            <a:r>
              <a:rPr lang="fr-CA" sz="2400" dirty="0"/>
              <a:t>(a)    la monnaie dans laquelle sont générés les fonds provenant des activités de </a:t>
            </a:r>
            <a:r>
              <a:rPr lang="fr-CA" sz="2400" dirty="0">
                <a:solidFill>
                  <a:srgbClr val="0070C0"/>
                </a:solidFill>
              </a:rPr>
              <a:t>financement</a:t>
            </a:r>
            <a:r>
              <a:rPr lang="fr-CA" sz="2400" dirty="0"/>
              <a:t> (c'est-à-dire l'émission d'instruments d'emprunt et de capitaux propres) ;</a:t>
            </a:r>
          </a:p>
          <a:p>
            <a:pPr marL="531813" indent="-531813">
              <a:buNone/>
            </a:pPr>
            <a:r>
              <a:rPr lang="fr-CA" sz="2400" dirty="0"/>
              <a:t>(b)   la monnaie dans laquelle les entrées de trésorerie liées aux activités d'exploitation sont habituellement </a:t>
            </a:r>
            <a:r>
              <a:rPr lang="fr-CA" sz="2400" dirty="0">
                <a:solidFill>
                  <a:srgbClr val="0070C0"/>
                </a:solidFill>
              </a:rPr>
              <a:t>conservées</a:t>
            </a:r>
            <a:r>
              <a:rPr lang="fr-CA" sz="2400" dirty="0"/>
              <a:t>.</a:t>
            </a:r>
            <a:endParaRPr lang="fr-CA" sz="4300" dirty="0"/>
          </a:p>
          <a:p>
            <a:pPr marL="358775" indent="-358775">
              <a:buNone/>
            </a:pPr>
            <a:endParaRPr lang="fr-CA" sz="4300" dirty="0"/>
          </a:p>
          <a:p>
            <a:pPr marL="0" indent="0">
              <a:buNone/>
            </a:pPr>
            <a:endParaRPr lang="fr-CA" sz="4300" dirty="0"/>
          </a:p>
          <a:p>
            <a:endParaRPr lang="fr-CA" dirty="0"/>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34</a:t>
            </a:fld>
            <a:endParaRPr lang="fr-CA"/>
          </a:p>
        </p:txBody>
      </p:sp>
      <p:sp>
        <p:nvSpPr>
          <p:cNvPr id="4" name="Espace réservé du pied de page 3">
            <a:extLst>
              <a:ext uri="{FF2B5EF4-FFF2-40B4-BE49-F238E27FC236}">
                <a16:creationId xmlns:a16="http://schemas.microsoft.com/office/drawing/2014/main" id="{486FE25A-8722-4B30-A337-58706162D550}"/>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3051649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485091"/>
          </a:xfrm>
        </p:spPr>
        <p:txBody>
          <a:bodyPr>
            <a:normAutofit fontScale="90000"/>
          </a:bodyPr>
          <a:lstStyle/>
          <a:p>
            <a:pPr algn="ctr"/>
            <a:r>
              <a:rPr lang="fr-CA" sz="3600" dirty="0"/>
              <a:t>Monnaie fonctionnelle</a:t>
            </a:r>
          </a:p>
        </p:txBody>
      </p:sp>
      <p:sp>
        <p:nvSpPr>
          <p:cNvPr id="3" name="Espace réservé du contenu 2"/>
          <p:cNvSpPr>
            <a:spLocks noGrp="1"/>
          </p:cNvSpPr>
          <p:nvPr>
            <p:ph idx="1"/>
          </p:nvPr>
        </p:nvSpPr>
        <p:spPr>
          <a:xfrm>
            <a:off x="636607" y="979714"/>
            <a:ext cx="10926501" cy="5376636"/>
          </a:xfrm>
        </p:spPr>
        <p:txBody>
          <a:bodyPr>
            <a:normAutofit fontScale="25000" lnSpcReduction="20000"/>
          </a:bodyPr>
          <a:lstStyle/>
          <a:p>
            <a:pPr marL="0" indent="0">
              <a:buNone/>
            </a:pPr>
            <a:r>
              <a:rPr lang="fr-CA" sz="9600" dirty="0"/>
              <a:t>11     (…) l'entité considère les facteurs </a:t>
            </a:r>
            <a:r>
              <a:rPr lang="fr-CA" sz="9600" dirty="0">
                <a:solidFill>
                  <a:srgbClr val="00B0F0"/>
                </a:solidFill>
              </a:rPr>
              <a:t>complémentaires</a:t>
            </a:r>
            <a:r>
              <a:rPr lang="fr-CA" sz="9600" dirty="0"/>
              <a:t> suivants :</a:t>
            </a:r>
          </a:p>
          <a:p>
            <a:pPr marL="0" indent="0">
              <a:buNone/>
            </a:pPr>
            <a:r>
              <a:rPr lang="fr-CA" sz="9600" dirty="0"/>
              <a:t>(a)     si les activités de l'établissement à l'étranger sont menées en tant que</a:t>
            </a:r>
            <a:r>
              <a:rPr lang="fr-CA" sz="9600" dirty="0">
                <a:solidFill>
                  <a:srgbClr val="0070C0"/>
                </a:solidFill>
              </a:rPr>
              <a:t> prolongement des activités de l'entité présentant l'information financière</a:t>
            </a:r>
            <a:r>
              <a:rPr lang="fr-CA" sz="9600" dirty="0"/>
              <a:t> ou si, au contraire, elles sont menées avec un </a:t>
            </a:r>
            <a:r>
              <a:rPr lang="fr-CA" sz="9600" dirty="0">
                <a:solidFill>
                  <a:srgbClr val="0070C0"/>
                </a:solidFill>
              </a:rPr>
              <a:t>degré d'autonomie important</a:t>
            </a:r>
            <a:r>
              <a:rPr lang="fr-CA" sz="9600" dirty="0"/>
              <a:t>. Un exemple du premier cas de figure est celui où l'établissement à l'étranger vend exclusivement des biens importés de l'entité présentant l'information financière et lui en remet le produit. Un exemple du deuxième cas de figure est celui où l'établissement à l'étranger accumule de la trésorerie et d'autres éléments monétaires, engage des charges, génère des produits et négocie des emprunts, pratiquement tous libellés dans sa monnaie locale ;</a:t>
            </a:r>
          </a:p>
          <a:p>
            <a:pPr marL="0" indent="0">
              <a:buNone/>
            </a:pPr>
            <a:r>
              <a:rPr lang="fr-CA" sz="9600" dirty="0"/>
              <a:t>(b)     si les transactions avec l'entité présentant l'information financière représentent une proportion élevée ou faible des activités de l'établissement à l'étranger ;</a:t>
            </a:r>
          </a:p>
          <a:p>
            <a:pPr marL="0" indent="0">
              <a:buNone/>
            </a:pPr>
            <a:r>
              <a:rPr lang="fr-CA" sz="9600" dirty="0"/>
              <a:t>(c)     si les flux de trésorerie générés par les activités de l'établissement à l'étranger affectent directement les flux de trésorerie de l'entité présentant l'information financière et sont immédiatement disponibles pour lui être remis ;</a:t>
            </a:r>
          </a:p>
          <a:p>
            <a:pPr marL="0" indent="0">
              <a:buNone/>
            </a:pPr>
            <a:r>
              <a:rPr lang="fr-CA" sz="9600" dirty="0"/>
              <a:t>(d)     si les flux de trésorerie générés par les activités de l'établissement à l'étranger sont suffisants pour assurer le service des dettes existantes et normalement prévues sans que l'entité présentant l'information financière doive mettre des fonds à disposition.</a:t>
            </a:r>
          </a:p>
          <a:p>
            <a:endParaRPr lang="fr-CA" dirty="0"/>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35</a:t>
            </a:fld>
            <a:endParaRPr lang="fr-CA"/>
          </a:p>
        </p:txBody>
      </p:sp>
      <p:sp>
        <p:nvSpPr>
          <p:cNvPr id="4" name="Espace réservé du pied de page 3">
            <a:extLst>
              <a:ext uri="{FF2B5EF4-FFF2-40B4-BE49-F238E27FC236}">
                <a16:creationId xmlns:a16="http://schemas.microsoft.com/office/drawing/2014/main" id="{7D6D4138-B449-41B8-AA97-FBC0721DA0A4}"/>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0958932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Monnaie fonctionnelle</a:t>
            </a:r>
          </a:p>
        </p:txBody>
      </p:sp>
      <p:sp>
        <p:nvSpPr>
          <p:cNvPr id="3" name="Espace réservé du contenu 2"/>
          <p:cNvSpPr>
            <a:spLocks noGrp="1"/>
          </p:cNvSpPr>
          <p:nvPr>
            <p:ph idx="1"/>
          </p:nvPr>
        </p:nvSpPr>
        <p:spPr/>
        <p:txBody>
          <a:bodyPr>
            <a:normAutofit/>
          </a:bodyPr>
          <a:lstStyle/>
          <a:p>
            <a:pPr marL="0" indent="0">
              <a:buNone/>
            </a:pPr>
            <a:r>
              <a:rPr lang="fr-CA" sz="2400" dirty="0"/>
              <a:t>12     Lorsque les indicateurs qui précèdent sont ambivalents et que la détermination de la monnaie fonctionnelle ne va pas de soi, la direction exerce son </a:t>
            </a:r>
            <a:r>
              <a:rPr lang="fr-CA" sz="2400" dirty="0">
                <a:solidFill>
                  <a:srgbClr val="0070C0"/>
                </a:solidFill>
              </a:rPr>
              <a:t>jugement pour déterminer la monnaie fonctionnelle</a:t>
            </a:r>
            <a:r>
              <a:rPr lang="fr-CA" sz="2400" dirty="0"/>
              <a:t> qui représente le plus fidèlement les effets économiques des transactions, événements et conditions sous-jacents. Dans le cadre de cette approche, la direction donne la </a:t>
            </a:r>
            <a:r>
              <a:rPr lang="fr-CA" sz="2400" u="sng" dirty="0"/>
              <a:t>priorité aux principaux indicateurs cités au paragraphe 9 avant de considérer les indicateurs cités aux paragraphes 10 et 11 </a:t>
            </a:r>
            <a:r>
              <a:rPr lang="fr-CA" sz="2400" dirty="0"/>
              <a:t>qui sont destinés à apporter des éléments probants complémentaires permettant de déterminer quelle est la monnaie fonctionnelle d'une entité.</a:t>
            </a:r>
            <a:endParaRPr lang="fr-CA" dirty="0"/>
          </a:p>
          <a:p>
            <a:endParaRPr lang="fr-CA" dirty="0"/>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36</a:t>
            </a:fld>
            <a:endParaRPr lang="fr-CA"/>
          </a:p>
        </p:txBody>
      </p:sp>
      <p:sp>
        <p:nvSpPr>
          <p:cNvPr id="4" name="Espace réservé du pied de page 3">
            <a:extLst>
              <a:ext uri="{FF2B5EF4-FFF2-40B4-BE49-F238E27FC236}">
                <a16:creationId xmlns:a16="http://schemas.microsoft.com/office/drawing/2014/main" id="{F4A18351-9B61-434B-9B61-44E892001980}"/>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7909599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Conversion des états financiers des établissements à l’étranger</a:t>
            </a:r>
            <a:endParaRPr lang="fr-CA" dirty="0"/>
          </a:p>
        </p:txBody>
      </p:sp>
      <p:sp>
        <p:nvSpPr>
          <p:cNvPr id="3" name="Espace réservé du contenu 2"/>
          <p:cNvSpPr>
            <a:spLocks noGrp="1"/>
          </p:cNvSpPr>
          <p:nvPr>
            <p:ph idx="1"/>
          </p:nvPr>
        </p:nvSpPr>
        <p:spPr/>
        <p:txBody>
          <a:bodyPr/>
          <a:lstStyle/>
          <a:p>
            <a:r>
              <a:rPr lang="fr-CA" dirty="0"/>
              <a:t>Les EF libellés en monnaie étrangère doivent être convertis dans la monnaie de présentation ($CAN) de l’entité présentant l’information financière</a:t>
            </a:r>
          </a:p>
          <a:p>
            <a:endParaRPr lang="fr-CA" dirty="0"/>
          </a:p>
          <a:p>
            <a:r>
              <a:rPr lang="fr-CA" dirty="0">
                <a:solidFill>
                  <a:schemeClr val="bg1">
                    <a:lumMod val="50000"/>
                  </a:schemeClr>
                </a:solidFill>
              </a:rPr>
              <a:t>Pour fins de préparation d’EF consolidés, les normes IFRS exigent une harmonisation des méthodes comptables</a:t>
            </a:r>
          </a:p>
          <a:p>
            <a:pPr lvl="1"/>
            <a:r>
              <a:rPr lang="fr-CA" dirty="0">
                <a:solidFill>
                  <a:schemeClr val="bg1">
                    <a:lumMod val="50000"/>
                  </a:schemeClr>
                </a:solidFill>
              </a:rPr>
              <a:t>Pourrait nécessiter d’ajuster les EF de l’établissement étranger avant d’appliquer les procédures de consolidation</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37</a:t>
            </a:fld>
            <a:endParaRPr lang="fr-CA"/>
          </a:p>
        </p:txBody>
      </p:sp>
      <p:sp>
        <p:nvSpPr>
          <p:cNvPr id="5" name="Espace réservé du pied de page 4">
            <a:extLst>
              <a:ext uri="{FF2B5EF4-FFF2-40B4-BE49-F238E27FC236}">
                <a16:creationId xmlns:a16="http://schemas.microsoft.com/office/drawing/2014/main" id="{9147E733-E67D-40A3-B650-C0F3E6AE3117}"/>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7513400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Risque de change – lié aux variations du cours</a:t>
            </a:r>
          </a:p>
        </p:txBody>
      </p:sp>
      <p:sp>
        <p:nvSpPr>
          <p:cNvPr id="3" name="Espace réservé du contenu 2"/>
          <p:cNvSpPr>
            <a:spLocks noGrp="1"/>
          </p:cNvSpPr>
          <p:nvPr>
            <p:ph idx="1"/>
          </p:nvPr>
        </p:nvSpPr>
        <p:spPr/>
        <p:txBody>
          <a:bodyPr>
            <a:normAutofit fontScale="92500" lnSpcReduction="10000"/>
          </a:bodyPr>
          <a:lstStyle/>
          <a:p>
            <a:r>
              <a:rPr lang="fr-CA" dirty="0"/>
              <a:t>Risque de change comptable</a:t>
            </a:r>
          </a:p>
          <a:p>
            <a:pPr lvl="1"/>
            <a:r>
              <a:rPr lang="fr-CA" dirty="0"/>
              <a:t>Liés à la conversion en $CAN</a:t>
            </a:r>
          </a:p>
          <a:p>
            <a:pPr lvl="2"/>
            <a:r>
              <a:rPr lang="fr-CA" dirty="0"/>
              <a:t>Pour les éléments convertis au cours de clôture (pas d’écart si utilise cours historique)</a:t>
            </a:r>
          </a:p>
          <a:p>
            <a:pPr lvl="2"/>
            <a:endParaRPr lang="fr-CA" sz="800" dirty="0"/>
          </a:p>
          <a:p>
            <a:r>
              <a:rPr lang="fr-CA" dirty="0"/>
              <a:t>Risque de change d’opération</a:t>
            </a:r>
          </a:p>
          <a:p>
            <a:pPr lvl="1"/>
            <a:r>
              <a:rPr lang="fr-CA" dirty="0"/>
              <a:t>Lorsqu’il y a un délai entre la création d’une créance ou d’une dette et la date de son règlement</a:t>
            </a:r>
          </a:p>
          <a:p>
            <a:pPr lvl="2"/>
            <a:r>
              <a:rPr lang="fr-CA" dirty="0"/>
              <a:t>Impact sur les flux de trésorerie</a:t>
            </a:r>
          </a:p>
          <a:p>
            <a:pPr lvl="2"/>
            <a:endParaRPr lang="fr-CA" sz="800" dirty="0"/>
          </a:p>
          <a:p>
            <a:r>
              <a:rPr lang="fr-CA" dirty="0"/>
              <a:t>Risque de change économique</a:t>
            </a:r>
          </a:p>
          <a:p>
            <a:pPr lvl="1"/>
            <a:r>
              <a:rPr lang="fr-CA" dirty="0"/>
              <a:t>Lorsque la valeur actualisée des flux de trésorerie futurs peut changer en raison d’une fluctuation des cours de change</a:t>
            </a:r>
          </a:p>
          <a:p>
            <a:pPr lvl="2"/>
            <a:r>
              <a:rPr lang="fr-CA" dirty="0"/>
              <a:t>Variation des cours a un impact sur le coût des ventes, les prix demandés, les taux d’intérêt…</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38</a:t>
            </a:fld>
            <a:endParaRPr lang="fr-CA"/>
          </a:p>
        </p:txBody>
      </p:sp>
      <p:sp>
        <p:nvSpPr>
          <p:cNvPr id="5" name="Espace réservé du pied de page 4">
            <a:extLst>
              <a:ext uri="{FF2B5EF4-FFF2-40B4-BE49-F238E27FC236}">
                <a16:creationId xmlns:a16="http://schemas.microsoft.com/office/drawing/2014/main" id="{92020572-BB13-4492-99A2-0408CACE4D22}"/>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6893069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6"/>
            <a:ext cx="10515600" cy="769194"/>
          </a:xfrm>
        </p:spPr>
        <p:txBody>
          <a:bodyPr/>
          <a:lstStyle/>
          <a:p>
            <a:pPr algn="ctr"/>
            <a:r>
              <a:rPr lang="fr-CA" sz="3600" dirty="0"/>
              <a:t>Conversion des EF des établissements à l’étranger</a:t>
            </a:r>
            <a:endParaRPr lang="fr-CA" dirty="0"/>
          </a:p>
        </p:txBody>
      </p:sp>
      <p:sp>
        <p:nvSpPr>
          <p:cNvPr id="3" name="Espace réservé du contenu 2"/>
          <p:cNvSpPr>
            <a:spLocks noGrp="1"/>
          </p:cNvSpPr>
          <p:nvPr>
            <p:ph idx="1"/>
          </p:nvPr>
        </p:nvSpPr>
        <p:spPr>
          <a:xfrm>
            <a:off x="838200" y="1747777"/>
            <a:ext cx="10515600" cy="4745620"/>
          </a:xfrm>
        </p:spPr>
        <p:txBody>
          <a:bodyPr>
            <a:normAutofit/>
          </a:bodyPr>
          <a:lstStyle/>
          <a:p>
            <a:pPr marL="0" indent="0">
              <a:buNone/>
            </a:pPr>
            <a:r>
              <a:rPr lang="fr-CA" dirty="0"/>
              <a:t>Deux méthodes (selon monnaie fonctionnelle – </a:t>
            </a:r>
            <a:r>
              <a:rPr lang="fr-CA" sz="2400" dirty="0"/>
              <a:t>monnaie de l’environnement économique principal dans lequel l’entité exerce ses activités</a:t>
            </a:r>
            <a:r>
              <a:rPr lang="fr-CA" dirty="0"/>
              <a:t>)</a:t>
            </a:r>
          </a:p>
          <a:p>
            <a:r>
              <a:rPr lang="fr-CA" dirty="0"/>
              <a:t>Même monnaie fonctionnelle : « Méthode temporelle »</a:t>
            </a:r>
          </a:p>
          <a:p>
            <a:pPr lvl="1"/>
            <a:r>
              <a:rPr lang="fr-CA" dirty="0"/>
              <a:t>« intégré »</a:t>
            </a:r>
          </a:p>
          <a:p>
            <a:pPr lvl="2">
              <a:buFont typeface="Wingdings" panose="05000000000000000000" pitchFamily="2" charset="2"/>
              <a:buChar char="Ø"/>
            </a:pPr>
            <a:r>
              <a:rPr lang="fr-CA" dirty="0"/>
              <a:t> Écart de change au résultat net</a:t>
            </a:r>
          </a:p>
          <a:p>
            <a:r>
              <a:rPr lang="fr-CA" dirty="0"/>
              <a:t>Autre monnaie fonctionnelle : « Méthode du cours de clôture »</a:t>
            </a:r>
          </a:p>
          <a:p>
            <a:pPr lvl="1"/>
            <a:r>
              <a:rPr lang="fr-CA" dirty="0"/>
              <a:t>« autonome »</a:t>
            </a:r>
          </a:p>
          <a:p>
            <a:pPr lvl="2">
              <a:buFont typeface="Wingdings" panose="05000000000000000000" pitchFamily="2" charset="2"/>
              <a:buChar char="Ø"/>
            </a:pPr>
            <a:r>
              <a:rPr lang="fr-CA" dirty="0"/>
              <a:t> Écart de change à autre élément du résultat global ; section distincte dans les capitaux propres</a:t>
            </a:r>
          </a:p>
          <a:p>
            <a:pPr lvl="3">
              <a:buFont typeface="Wingdings" panose="05000000000000000000" pitchFamily="2" charset="2"/>
              <a:buChar char="Ø"/>
            </a:pPr>
            <a:r>
              <a:rPr lang="fr-CA" dirty="0"/>
              <a:t>Si disposition : reclassement au résultat net</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39</a:t>
            </a:fld>
            <a:endParaRPr lang="fr-CA"/>
          </a:p>
        </p:txBody>
      </p:sp>
      <p:sp>
        <p:nvSpPr>
          <p:cNvPr id="5" name="Espace réservé du pied de page 4">
            <a:extLst>
              <a:ext uri="{FF2B5EF4-FFF2-40B4-BE49-F238E27FC236}">
                <a16:creationId xmlns:a16="http://schemas.microsoft.com/office/drawing/2014/main" id="{508DD243-8CBC-458C-AB06-93646BDC0B6D}"/>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1248178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Même monnaie fonctionnelle :</a:t>
            </a:r>
            <a:r>
              <a:rPr lang="fr-CA" sz="4000" dirty="0"/>
              <a:t> </a:t>
            </a:r>
            <a:br>
              <a:rPr lang="fr-CA" sz="4000" dirty="0"/>
            </a:br>
            <a:r>
              <a:rPr lang="fr-CA" sz="3200" dirty="0"/>
              <a:t>« Méthode temporelle » - « intégré »</a:t>
            </a:r>
            <a:endParaRPr lang="fr-CA" dirty="0"/>
          </a:p>
        </p:txBody>
      </p:sp>
      <p:sp>
        <p:nvSpPr>
          <p:cNvPr id="3" name="Espace réservé du contenu 2"/>
          <p:cNvSpPr>
            <a:spLocks noGrp="1"/>
          </p:cNvSpPr>
          <p:nvPr>
            <p:ph idx="1"/>
          </p:nvPr>
        </p:nvSpPr>
        <p:spPr/>
        <p:txBody>
          <a:bodyPr/>
          <a:lstStyle/>
          <a:p>
            <a:r>
              <a:rPr lang="fr-CA" dirty="0"/>
              <a:t>Donne les mêmes résultats que si les opérations avaient eu lieu au Canada</a:t>
            </a:r>
          </a:p>
          <a:p>
            <a:pPr lvl="2"/>
            <a:r>
              <a:rPr lang="fr-CA" sz="2400" dirty="0"/>
              <a:t>Cours historique : éléments non monétaires, capital social, résultats -cours moyen </a:t>
            </a:r>
            <a:r>
              <a:rPr lang="fr-CA" sz="2400" i="1" dirty="0"/>
              <a:t>sauf </a:t>
            </a:r>
            <a:endParaRPr lang="fr-CA" sz="2400" dirty="0"/>
          </a:p>
          <a:p>
            <a:pPr lvl="3">
              <a:buFont typeface="Courier New" panose="02070309020205020404" pitchFamily="49" charset="0"/>
              <a:buChar char="o"/>
            </a:pPr>
            <a:r>
              <a:rPr lang="fr-CA" sz="2000" dirty="0"/>
              <a:t>Amortissement : cours historique</a:t>
            </a:r>
          </a:p>
          <a:p>
            <a:pPr lvl="3">
              <a:buFont typeface="Courier New" panose="02070309020205020404" pitchFamily="49" charset="0"/>
              <a:buChar char="o"/>
            </a:pPr>
            <a:r>
              <a:rPr lang="fr-CA" sz="2000" dirty="0"/>
              <a:t>Coût des ventes : stocks / achats = cours historiques</a:t>
            </a:r>
          </a:p>
          <a:p>
            <a:pPr lvl="2"/>
            <a:r>
              <a:rPr lang="fr-CA" sz="2400" dirty="0"/>
              <a:t>Cours de clôture : éléments monétaires, éléments non monétaires évalués à la juste valeur</a:t>
            </a:r>
          </a:p>
          <a:p>
            <a:pPr lvl="2">
              <a:buFont typeface="Wingdings" panose="05000000000000000000" pitchFamily="2" charset="2"/>
              <a:buChar char="Ø"/>
            </a:pPr>
            <a:r>
              <a:rPr lang="fr-CA" sz="2400" dirty="0"/>
              <a:t> Écart de change au résultat net</a:t>
            </a: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40</a:t>
            </a:fld>
            <a:endParaRPr lang="fr-CA"/>
          </a:p>
        </p:txBody>
      </p:sp>
      <p:sp>
        <p:nvSpPr>
          <p:cNvPr id="5" name="Espace réservé du pied de page 4">
            <a:extLst>
              <a:ext uri="{FF2B5EF4-FFF2-40B4-BE49-F238E27FC236}">
                <a16:creationId xmlns:a16="http://schemas.microsoft.com/office/drawing/2014/main" id="{ACC2BC3F-4688-4EBF-B3BA-55C131693913}"/>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7392638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CA" sz="3600" dirty="0"/>
              <a:t>Autre monnaie fonctionnelle : </a:t>
            </a:r>
            <a:br>
              <a:rPr lang="fr-CA" sz="3600" dirty="0"/>
            </a:br>
            <a:r>
              <a:rPr lang="fr-CA" sz="3200" dirty="0"/>
              <a:t>« Méthode du cours de clôture » - « autonome »</a:t>
            </a:r>
            <a:endParaRPr lang="fr-CA" dirty="0"/>
          </a:p>
        </p:txBody>
      </p:sp>
      <p:sp>
        <p:nvSpPr>
          <p:cNvPr id="3" name="Espace réservé du contenu 2"/>
          <p:cNvSpPr>
            <a:spLocks noGrp="1"/>
          </p:cNvSpPr>
          <p:nvPr>
            <p:ph idx="1"/>
          </p:nvPr>
        </p:nvSpPr>
        <p:spPr/>
        <p:txBody>
          <a:bodyPr/>
          <a:lstStyle/>
          <a:p>
            <a:r>
              <a:rPr lang="fr-CA" dirty="0"/>
              <a:t>Donne des résultats différents car considère « l’investissement net »</a:t>
            </a:r>
          </a:p>
          <a:p>
            <a:pPr lvl="2"/>
            <a:r>
              <a:rPr lang="fr-CA" sz="2400" dirty="0"/>
              <a:t>Cours de clôture : actifs et passifs</a:t>
            </a:r>
          </a:p>
          <a:p>
            <a:pPr lvl="2"/>
            <a:r>
              <a:rPr lang="fr-CA" sz="2400" dirty="0"/>
              <a:t>Cours historique : capital social, résultats (cours moyen)</a:t>
            </a:r>
          </a:p>
          <a:p>
            <a:pPr lvl="3">
              <a:buFont typeface="Courier New" panose="02070309020205020404" pitchFamily="49" charset="0"/>
              <a:buChar char="o"/>
            </a:pPr>
            <a:r>
              <a:rPr lang="fr-CA" sz="2000" dirty="0"/>
              <a:t>Amortissement : cours moyen</a:t>
            </a:r>
          </a:p>
          <a:p>
            <a:pPr lvl="3">
              <a:buFont typeface="Courier New" panose="02070309020205020404" pitchFamily="49" charset="0"/>
              <a:buChar char="o"/>
            </a:pPr>
            <a:r>
              <a:rPr lang="fr-CA" sz="2000" dirty="0"/>
              <a:t>Coût des ventes : cours moyen</a:t>
            </a:r>
          </a:p>
          <a:p>
            <a:pPr lvl="3">
              <a:buFont typeface="Courier New" panose="02070309020205020404" pitchFamily="49" charset="0"/>
              <a:buChar char="o"/>
            </a:pPr>
            <a:r>
              <a:rPr lang="fr-CA" sz="2000" dirty="0"/>
              <a:t>Dividendes déclarés : cours historique</a:t>
            </a:r>
          </a:p>
          <a:p>
            <a:pPr lvl="2">
              <a:buFont typeface="Wingdings" panose="05000000000000000000" pitchFamily="2" charset="2"/>
              <a:buChar char="Ø"/>
            </a:pPr>
            <a:r>
              <a:rPr lang="fr-CA" sz="2400" dirty="0"/>
              <a:t> Écart de change à autre élément du résultat global ; cumul dans section distincte dans les capitaux propres</a:t>
            </a:r>
          </a:p>
          <a:p>
            <a:pPr lvl="3">
              <a:buFont typeface="Wingdings" panose="05000000000000000000" pitchFamily="2" charset="2"/>
              <a:buChar char="Ø"/>
            </a:pPr>
            <a:r>
              <a:rPr lang="fr-CA" sz="2000" dirty="0"/>
              <a:t>Si disposition : reclassement au résultat net</a:t>
            </a: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41</a:t>
            </a:fld>
            <a:endParaRPr lang="fr-CA"/>
          </a:p>
        </p:txBody>
      </p:sp>
      <p:sp>
        <p:nvSpPr>
          <p:cNvPr id="5" name="Espace réservé du pied de page 4">
            <a:extLst>
              <a:ext uri="{FF2B5EF4-FFF2-40B4-BE49-F238E27FC236}">
                <a16:creationId xmlns:a16="http://schemas.microsoft.com/office/drawing/2014/main" id="{6E0261CE-F59D-4AF4-BFAC-867F0E0896DB}"/>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5639687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Économies hautement inflationnistes</a:t>
            </a:r>
            <a:endParaRPr lang="fr-CA" dirty="0"/>
          </a:p>
        </p:txBody>
      </p:sp>
      <p:sp>
        <p:nvSpPr>
          <p:cNvPr id="3" name="Espace réservé du contenu 2"/>
          <p:cNvSpPr>
            <a:spLocks noGrp="1"/>
          </p:cNvSpPr>
          <p:nvPr>
            <p:ph idx="1"/>
          </p:nvPr>
        </p:nvSpPr>
        <p:spPr/>
        <p:txBody>
          <a:bodyPr/>
          <a:lstStyle/>
          <a:p>
            <a:r>
              <a:rPr lang="fr-CA" dirty="0"/>
              <a:t>La norme IAS 29 n’établit pas un taux absolu – jugement!</a:t>
            </a:r>
          </a:p>
          <a:p>
            <a:endParaRPr lang="fr-CA" dirty="0"/>
          </a:p>
          <a:p>
            <a:pPr marL="0" indent="0">
              <a:buNone/>
            </a:pPr>
            <a:r>
              <a:rPr lang="fr-CA" dirty="0"/>
              <a:t>Étapes : </a:t>
            </a:r>
          </a:p>
          <a:p>
            <a:r>
              <a:rPr lang="fr-CA" sz="2400" dirty="0"/>
              <a:t>L’entité à l’étranger doit retraiter ses EF, année en cours et comparatif, selon la méthode indexée sur le niveau général des prix </a:t>
            </a:r>
            <a:r>
              <a:rPr lang="fr-CA" sz="2000" dirty="0"/>
              <a:t>(pour les éléments non monétaires, non à la juste valeur)</a:t>
            </a:r>
            <a:endParaRPr lang="fr-CA" sz="2400" dirty="0"/>
          </a:p>
          <a:p>
            <a:r>
              <a:rPr lang="fr-CA" sz="2400" dirty="0"/>
              <a:t>Tous les montants (bilan, résultats) doivent être convertis au cours de clôture</a:t>
            </a:r>
            <a:endParaRPr lang="fr-CA" dirty="0"/>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42</a:t>
            </a:fld>
            <a:endParaRPr lang="fr-CA"/>
          </a:p>
        </p:txBody>
      </p:sp>
      <p:sp>
        <p:nvSpPr>
          <p:cNvPr id="5" name="Espace réservé du pied de page 4">
            <a:extLst>
              <a:ext uri="{FF2B5EF4-FFF2-40B4-BE49-F238E27FC236}">
                <a16:creationId xmlns:a16="http://schemas.microsoft.com/office/drawing/2014/main" id="{1199F1A7-A323-4561-BBF8-005BB69198FF}"/>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7890380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98A498-C064-481B-B8CE-582E777AE967}"/>
              </a:ext>
            </a:extLst>
          </p:cNvPr>
          <p:cNvSpPr>
            <a:spLocks noGrp="1"/>
          </p:cNvSpPr>
          <p:nvPr>
            <p:ph type="title"/>
          </p:nvPr>
        </p:nvSpPr>
        <p:spPr/>
        <p:txBody>
          <a:bodyPr/>
          <a:lstStyle/>
          <a:p>
            <a:pPr algn="ctr"/>
            <a:r>
              <a:rPr lang="fr-CA" sz="4000" dirty="0"/>
              <a:t>Postes monétaires / non monétaires</a:t>
            </a:r>
            <a:endParaRPr lang="fr-FR" dirty="0"/>
          </a:p>
        </p:txBody>
      </p:sp>
      <p:sp>
        <p:nvSpPr>
          <p:cNvPr id="3" name="Espace réservé du contenu 2">
            <a:extLst>
              <a:ext uri="{FF2B5EF4-FFF2-40B4-BE49-F238E27FC236}">
                <a16:creationId xmlns:a16="http://schemas.microsoft.com/office/drawing/2014/main" id="{2EE82935-6727-454D-A602-3EA4395666F1}"/>
              </a:ext>
            </a:extLst>
          </p:cNvPr>
          <p:cNvSpPr>
            <a:spLocks noGrp="1"/>
          </p:cNvSpPr>
          <p:nvPr>
            <p:ph idx="1"/>
          </p:nvPr>
        </p:nvSpPr>
        <p:spPr/>
        <p:txBody>
          <a:bodyPr>
            <a:normAutofit fontScale="92500" lnSpcReduction="10000"/>
          </a:bodyPr>
          <a:lstStyle/>
          <a:p>
            <a:r>
              <a:rPr lang="fr-CA" dirty="0"/>
              <a:t>Exemples de postes monétaires :</a:t>
            </a:r>
          </a:p>
          <a:p>
            <a:pPr lvl="1"/>
            <a:r>
              <a:rPr lang="fr-CA" dirty="0"/>
              <a:t>Caisse / découvert</a:t>
            </a:r>
          </a:p>
          <a:p>
            <a:pPr lvl="1"/>
            <a:r>
              <a:rPr lang="fr-CA" dirty="0"/>
              <a:t>Débiteurs</a:t>
            </a:r>
          </a:p>
          <a:p>
            <a:pPr lvl="1"/>
            <a:r>
              <a:rPr lang="fr-CA" dirty="0"/>
              <a:t>Comptes à payer</a:t>
            </a:r>
          </a:p>
          <a:p>
            <a:pPr lvl="1"/>
            <a:r>
              <a:rPr lang="fr-CA" dirty="0"/>
              <a:t>Emprunt</a:t>
            </a:r>
          </a:p>
          <a:p>
            <a:pPr lvl="1"/>
            <a:r>
              <a:rPr lang="fr-CA" dirty="0"/>
              <a:t>Actifs / passifs d’impôts futurs</a:t>
            </a:r>
          </a:p>
          <a:p>
            <a:pPr lvl="1"/>
            <a:endParaRPr lang="fr-CA" dirty="0"/>
          </a:p>
          <a:p>
            <a:r>
              <a:rPr lang="fr-CA" dirty="0"/>
              <a:t>Exemples de postes non monétaires :</a:t>
            </a:r>
          </a:p>
          <a:p>
            <a:pPr lvl="1"/>
            <a:r>
              <a:rPr lang="fr-CA" dirty="0"/>
              <a:t>Stocks</a:t>
            </a:r>
          </a:p>
          <a:p>
            <a:pPr lvl="1"/>
            <a:r>
              <a:rPr lang="fr-CA" dirty="0"/>
              <a:t>Frais payés d’avance</a:t>
            </a:r>
          </a:p>
          <a:p>
            <a:pPr lvl="1"/>
            <a:r>
              <a:rPr lang="fr-CA" dirty="0"/>
              <a:t>Immobilisations corporelles, incorporelles</a:t>
            </a:r>
          </a:p>
          <a:p>
            <a:pPr lvl="1"/>
            <a:r>
              <a:rPr lang="fr-CA" dirty="0"/>
              <a:t>Produits différés</a:t>
            </a:r>
            <a:endParaRPr lang="fr-FR" dirty="0"/>
          </a:p>
        </p:txBody>
      </p:sp>
      <p:sp>
        <p:nvSpPr>
          <p:cNvPr id="4" name="Espace réservé du numéro de diapositive 3">
            <a:extLst>
              <a:ext uri="{FF2B5EF4-FFF2-40B4-BE49-F238E27FC236}">
                <a16:creationId xmlns:a16="http://schemas.microsoft.com/office/drawing/2014/main" id="{3546F331-169C-4376-AAFA-C44BCBCD962F}"/>
              </a:ext>
            </a:extLst>
          </p:cNvPr>
          <p:cNvSpPr>
            <a:spLocks noGrp="1"/>
          </p:cNvSpPr>
          <p:nvPr>
            <p:ph type="sldNum" sz="quarter" idx="12"/>
          </p:nvPr>
        </p:nvSpPr>
        <p:spPr/>
        <p:txBody>
          <a:bodyPr/>
          <a:lstStyle/>
          <a:p>
            <a:fld id="{992B40CC-DFA5-47EF-8974-C897708E5DF2}" type="slidenum">
              <a:rPr lang="fr-CA" smtClean="0"/>
              <a:t>43</a:t>
            </a:fld>
            <a:endParaRPr lang="fr-CA"/>
          </a:p>
        </p:txBody>
      </p:sp>
      <p:sp>
        <p:nvSpPr>
          <p:cNvPr id="5" name="Espace réservé du pied de page 4">
            <a:extLst>
              <a:ext uri="{FF2B5EF4-FFF2-40B4-BE49-F238E27FC236}">
                <a16:creationId xmlns:a16="http://schemas.microsoft.com/office/drawing/2014/main" id="{EAAA1FF0-145C-4600-AB3C-D967D54694AD}"/>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4661349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Hilton</a:t>
            </a:r>
            <a:endParaRPr lang="fr-CA" dirty="0"/>
          </a:p>
        </p:txBody>
      </p:sp>
      <p:sp>
        <p:nvSpPr>
          <p:cNvPr id="3" name="Espace réservé du contenu 2"/>
          <p:cNvSpPr>
            <a:spLocks noGrp="1"/>
          </p:cNvSpPr>
          <p:nvPr>
            <p:ph idx="1"/>
          </p:nvPr>
        </p:nvSpPr>
        <p:spPr/>
        <p:txBody>
          <a:bodyPr>
            <a:normAutofit fontScale="92500" lnSpcReduction="10000"/>
          </a:bodyPr>
          <a:lstStyle/>
          <a:p>
            <a:pPr marL="0" indent="0">
              <a:buNone/>
            </a:pPr>
            <a:r>
              <a:rPr lang="fr-CA" dirty="0"/>
              <a:t>Établissement à l’étranger intégré (même monnaie fonctionnelle)</a:t>
            </a:r>
          </a:p>
          <a:p>
            <a:r>
              <a:rPr lang="fr-CA" dirty="0"/>
              <a:t>Voir p. 529</a:t>
            </a:r>
          </a:p>
          <a:p>
            <a:pPr lvl="1"/>
            <a:r>
              <a:rPr lang="fr-CA" dirty="0"/>
              <a:t>Conversion état du résultat net</a:t>
            </a:r>
          </a:p>
          <a:p>
            <a:pPr lvl="2"/>
            <a:r>
              <a:rPr lang="fr-CA" dirty="0"/>
              <a:t>Produits et charges : cours moyen, sauf</a:t>
            </a:r>
          </a:p>
          <a:p>
            <a:pPr lvl="3"/>
            <a:r>
              <a:rPr lang="fr-CA" dirty="0"/>
              <a:t>Amortissement : cours historique</a:t>
            </a:r>
          </a:p>
          <a:p>
            <a:pPr lvl="3"/>
            <a:r>
              <a:rPr lang="fr-CA" dirty="0"/>
              <a:t>Coût des ventes : à calculer - cours historique pour stocks, cours moyen pour achats</a:t>
            </a:r>
          </a:p>
          <a:p>
            <a:pPr lvl="1"/>
            <a:r>
              <a:rPr lang="fr-CA" dirty="0"/>
              <a:t>Conversion état des résultats non distribués</a:t>
            </a:r>
          </a:p>
          <a:p>
            <a:pPr lvl="2"/>
            <a:r>
              <a:rPr lang="fr-CA" dirty="0"/>
              <a:t>Résultat net selon conversion étape précédente</a:t>
            </a:r>
          </a:p>
          <a:p>
            <a:pPr lvl="2"/>
            <a:r>
              <a:rPr lang="fr-CA" dirty="0"/>
              <a:t>Dividende : cours historique</a:t>
            </a:r>
          </a:p>
          <a:p>
            <a:pPr lvl="1"/>
            <a:r>
              <a:rPr lang="fr-CA" dirty="0"/>
              <a:t>Conversion état de la situation financière</a:t>
            </a:r>
          </a:p>
          <a:p>
            <a:pPr lvl="2"/>
            <a:r>
              <a:rPr lang="fr-CA" dirty="0"/>
              <a:t>Cours clôture : monétaires, non monétaires à la juste valeur</a:t>
            </a:r>
          </a:p>
          <a:p>
            <a:pPr lvl="2"/>
            <a:r>
              <a:rPr lang="fr-CA" dirty="0"/>
              <a:t>Cours historique : non monétaires, capital social</a:t>
            </a:r>
          </a:p>
          <a:p>
            <a:pPr lvl="2"/>
            <a:r>
              <a:rPr lang="fr-CA" dirty="0"/>
              <a:t>RND : selon calcul étape précédente</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44</a:t>
            </a:fld>
            <a:endParaRPr lang="fr-CA"/>
          </a:p>
        </p:txBody>
      </p:sp>
      <p:sp>
        <p:nvSpPr>
          <p:cNvPr id="5" name="Espace réservé du pied de page 4">
            <a:extLst>
              <a:ext uri="{FF2B5EF4-FFF2-40B4-BE49-F238E27FC236}">
                <a16:creationId xmlns:a16="http://schemas.microsoft.com/office/drawing/2014/main" id="{B9EF0E0C-A2FA-48D4-A1B2-CCDAD39ECB72}"/>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3939071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Hilton</a:t>
            </a:r>
            <a:endParaRPr lang="fr-CA" dirty="0"/>
          </a:p>
        </p:txBody>
      </p:sp>
      <p:sp>
        <p:nvSpPr>
          <p:cNvPr id="3" name="Espace réservé du contenu 2"/>
          <p:cNvSpPr>
            <a:spLocks noGrp="1"/>
          </p:cNvSpPr>
          <p:nvPr>
            <p:ph idx="1"/>
          </p:nvPr>
        </p:nvSpPr>
        <p:spPr/>
        <p:txBody>
          <a:bodyPr>
            <a:normAutofit fontScale="92500" lnSpcReduction="10000"/>
          </a:bodyPr>
          <a:lstStyle/>
          <a:p>
            <a:pPr marL="0" indent="0">
              <a:buNone/>
            </a:pPr>
            <a:r>
              <a:rPr lang="fr-CA" dirty="0"/>
              <a:t>Établissement à l’étranger intégré (même monnaie fonctionnelle)</a:t>
            </a:r>
          </a:p>
          <a:p>
            <a:r>
              <a:rPr lang="fr-CA" dirty="0"/>
              <a:t>Voir p. 529 (suite p. 532) </a:t>
            </a:r>
            <a:r>
              <a:rPr lang="fr-CA" i="1" dirty="0"/>
              <a:t>avec ajouts</a:t>
            </a:r>
            <a:endParaRPr lang="fr-CA" dirty="0"/>
          </a:p>
          <a:p>
            <a:pPr lvl="1"/>
            <a:r>
              <a:rPr lang="fr-CA" dirty="0"/>
              <a:t>Calcul de l’écart de change</a:t>
            </a:r>
          </a:p>
          <a:p>
            <a:pPr lvl="2"/>
            <a:r>
              <a:rPr lang="fr-CA" dirty="0"/>
              <a:t>Position monétaire nette au début</a:t>
            </a:r>
          </a:p>
          <a:p>
            <a:pPr lvl="3"/>
            <a:r>
              <a:rPr lang="fr-CA" dirty="0"/>
              <a:t>Postes monétaires de l’état de la situation financière (cours début)</a:t>
            </a:r>
          </a:p>
          <a:p>
            <a:pPr lvl="2"/>
            <a:r>
              <a:rPr lang="fr-CA" dirty="0"/>
              <a:t>Variation de la période</a:t>
            </a:r>
          </a:p>
          <a:p>
            <a:pPr lvl="3"/>
            <a:r>
              <a:rPr lang="fr-CA" dirty="0"/>
              <a:t>Résultats (cours moyen), sauf coût des ventes remplacé par achats, pas d’amortissement</a:t>
            </a:r>
          </a:p>
          <a:p>
            <a:pPr lvl="3"/>
            <a:r>
              <a:rPr lang="fr-CA" dirty="0"/>
              <a:t>Pas de gains /pertes sur dispositions (pas monétaires)</a:t>
            </a:r>
          </a:p>
          <a:p>
            <a:pPr lvl="3"/>
            <a:r>
              <a:rPr lang="fr-CA" dirty="0"/>
              <a:t>Dividendes (cours historique)</a:t>
            </a:r>
          </a:p>
          <a:p>
            <a:pPr lvl="3"/>
            <a:r>
              <a:rPr lang="fr-CA" dirty="0"/>
              <a:t>Achat d’actifs / produits de disposition</a:t>
            </a:r>
          </a:p>
          <a:p>
            <a:pPr lvl="3"/>
            <a:r>
              <a:rPr lang="fr-CA" dirty="0"/>
              <a:t>Émission / rachat d’actions</a:t>
            </a:r>
          </a:p>
          <a:p>
            <a:pPr lvl="2"/>
            <a:r>
              <a:rPr lang="fr-CA" dirty="0"/>
              <a:t>= Position monétaire nette calculée à la fin</a:t>
            </a:r>
          </a:p>
          <a:p>
            <a:pPr lvl="2"/>
            <a:r>
              <a:rPr lang="fr-CA" dirty="0"/>
              <a:t>Comparé à : Position monétaire nette réelle à la fin (cours fin)</a:t>
            </a:r>
          </a:p>
          <a:p>
            <a:pPr lvl="2">
              <a:buFont typeface="Wingdings" panose="05000000000000000000" pitchFamily="2" charset="2"/>
              <a:buChar char="Ø"/>
            </a:pPr>
            <a:r>
              <a:rPr lang="fr-CA" dirty="0"/>
              <a:t>= Profit / perte de change de la période</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45</a:t>
            </a:fld>
            <a:endParaRPr lang="fr-CA"/>
          </a:p>
        </p:txBody>
      </p:sp>
      <p:sp>
        <p:nvSpPr>
          <p:cNvPr id="5" name="Espace réservé du pied de page 4">
            <a:extLst>
              <a:ext uri="{FF2B5EF4-FFF2-40B4-BE49-F238E27FC236}">
                <a16:creationId xmlns:a16="http://schemas.microsoft.com/office/drawing/2014/main" id="{530B762D-3B63-4742-9627-0389019B521B}"/>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4334297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Hilton</a:t>
            </a:r>
            <a:endParaRPr lang="fr-CA" dirty="0"/>
          </a:p>
        </p:txBody>
      </p:sp>
      <p:sp>
        <p:nvSpPr>
          <p:cNvPr id="3" name="Espace réservé du contenu 2"/>
          <p:cNvSpPr>
            <a:spLocks noGrp="1"/>
          </p:cNvSpPr>
          <p:nvPr>
            <p:ph idx="1"/>
          </p:nvPr>
        </p:nvSpPr>
        <p:spPr/>
        <p:txBody>
          <a:bodyPr>
            <a:normAutofit fontScale="92500" lnSpcReduction="10000"/>
          </a:bodyPr>
          <a:lstStyle/>
          <a:p>
            <a:pPr marL="0" indent="0">
              <a:buNone/>
            </a:pPr>
            <a:r>
              <a:rPr lang="fr-CA" dirty="0"/>
              <a:t>Établissement à l’étranger autonome (autre monnaie fonctionnelle)</a:t>
            </a:r>
          </a:p>
          <a:p>
            <a:r>
              <a:rPr lang="fr-CA" dirty="0"/>
              <a:t>Voir p. 534</a:t>
            </a:r>
          </a:p>
          <a:p>
            <a:pPr lvl="1"/>
            <a:r>
              <a:rPr lang="fr-CA" dirty="0"/>
              <a:t>Conversion état du résultat net</a:t>
            </a:r>
          </a:p>
          <a:p>
            <a:pPr lvl="2"/>
            <a:r>
              <a:rPr lang="fr-CA" dirty="0"/>
              <a:t>Produits et charges : cours moyen</a:t>
            </a:r>
          </a:p>
          <a:p>
            <a:pPr lvl="1"/>
            <a:r>
              <a:rPr lang="fr-CA" dirty="0"/>
              <a:t>Calcul écart de change pour résultat global </a:t>
            </a:r>
            <a:r>
              <a:rPr lang="fr-CA" sz="2000" dirty="0"/>
              <a:t>(cumul dans un poste distinct capitaux propres)</a:t>
            </a:r>
            <a:endParaRPr lang="fr-CA" dirty="0"/>
          </a:p>
          <a:p>
            <a:pPr lvl="1"/>
            <a:r>
              <a:rPr lang="fr-CA" dirty="0"/>
              <a:t>Conversion état des résultats non distribués</a:t>
            </a:r>
          </a:p>
          <a:p>
            <a:pPr lvl="2"/>
            <a:r>
              <a:rPr lang="fr-CA" dirty="0"/>
              <a:t>Résultat net selon conversion étape précédente</a:t>
            </a:r>
          </a:p>
          <a:p>
            <a:pPr lvl="2"/>
            <a:r>
              <a:rPr lang="fr-CA" dirty="0"/>
              <a:t>Dividende : cours historique</a:t>
            </a:r>
          </a:p>
          <a:p>
            <a:pPr lvl="1"/>
            <a:r>
              <a:rPr lang="fr-CA" dirty="0"/>
              <a:t>Conversion état de la situation financière</a:t>
            </a:r>
          </a:p>
          <a:p>
            <a:pPr lvl="2"/>
            <a:r>
              <a:rPr lang="fr-CA" dirty="0"/>
              <a:t>Cours clôture : actifs et passifs</a:t>
            </a:r>
          </a:p>
          <a:p>
            <a:pPr lvl="2"/>
            <a:r>
              <a:rPr lang="fr-CA" dirty="0"/>
              <a:t>Cours historique : capital social</a:t>
            </a:r>
          </a:p>
          <a:p>
            <a:pPr lvl="2"/>
            <a:r>
              <a:rPr lang="fr-CA" dirty="0"/>
              <a:t>RND : selon calcul étape précédente</a:t>
            </a:r>
          </a:p>
          <a:p>
            <a:pPr lvl="2"/>
            <a:r>
              <a:rPr lang="fr-CA" dirty="0"/>
              <a:t>Cumul des écarts de change : selon étape précédente</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46</a:t>
            </a:fld>
            <a:endParaRPr lang="fr-CA"/>
          </a:p>
        </p:txBody>
      </p:sp>
      <p:sp>
        <p:nvSpPr>
          <p:cNvPr id="5" name="Espace réservé du pied de page 4">
            <a:extLst>
              <a:ext uri="{FF2B5EF4-FFF2-40B4-BE49-F238E27FC236}">
                <a16:creationId xmlns:a16="http://schemas.microsoft.com/office/drawing/2014/main" id="{6AB17460-78E2-4B96-90E8-B39160C690E8}"/>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3239762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Hilton</a:t>
            </a:r>
            <a:endParaRPr lang="fr-CA" dirty="0"/>
          </a:p>
        </p:txBody>
      </p:sp>
      <p:sp>
        <p:nvSpPr>
          <p:cNvPr id="3" name="Espace réservé du contenu 2"/>
          <p:cNvSpPr>
            <a:spLocks noGrp="1"/>
          </p:cNvSpPr>
          <p:nvPr>
            <p:ph idx="1"/>
          </p:nvPr>
        </p:nvSpPr>
        <p:spPr/>
        <p:txBody>
          <a:bodyPr>
            <a:normAutofit/>
          </a:bodyPr>
          <a:lstStyle/>
          <a:p>
            <a:pPr marL="0" indent="0">
              <a:buNone/>
            </a:pPr>
            <a:r>
              <a:rPr lang="fr-CA" dirty="0"/>
              <a:t>Établissement à l’étranger autonome (autre monnaie fonctionnelle)</a:t>
            </a:r>
          </a:p>
          <a:p>
            <a:r>
              <a:rPr lang="fr-CA" dirty="0"/>
              <a:t>Voir p. 534 (suite p. 536)  </a:t>
            </a:r>
            <a:r>
              <a:rPr lang="fr-CA" i="1" dirty="0"/>
              <a:t>avec ajouts</a:t>
            </a:r>
            <a:endParaRPr lang="fr-CA" dirty="0"/>
          </a:p>
          <a:p>
            <a:pPr lvl="1"/>
            <a:r>
              <a:rPr lang="fr-CA" dirty="0"/>
              <a:t>Calcul de l’écart de change</a:t>
            </a:r>
          </a:p>
          <a:p>
            <a:pPr lvl="2"/>
            <a:r>
              <a:rPr lang="fr-CA" dirty="0"/>
              <a:t>Actif net (actif moins passif OU capitaux propres) au début (cours début)</a:t>
            </a:r>
          </a:p>
          <a:p>
            <a:pPr lvl="2"/>
            <a:r>
              <a:rPr lang="fr-CA" dirty="0"/>
              <a:t>Variation de l’actif net de la période</a:t>
            </a:r>
          </a:p>
          <a:p>
            <a:pPr lvl="3"/>
            <a:r>
              <a:rPr lang="fr-CA" dirty="0"/>
              <a:t>Résultats (cours moyen)</a:t>
            </a:r>
          </a:p>
          <a:p>
            <a:pPr lvl="3"/>
            <a:r>
              <a:rPr lang="fr-CA" dirty="0"/>
              <a:t>Dividendes (cours historique)</a:t>
            </a:r>
          </a:p>
          <a:p>
            <a:pPr lvl="3"/>
            <a:r>
              <a:rPr lang="fr-CA" dirty="0"/>
              <a:t>Émission / rachat d’actions?</a:t>
            </a:r>
          </a:p>
          <a:p>
            <a:pPr lvl="2"/>
            <a:r>
              <a:rPr lang="fr-CA" dirty="0"/>
              <a:t>= Actif net calculé à la fin</a:t>
            </a:r>
          </a:p>
          <a:p>
            <a:pPr lvl="2"/>
            <a:r>
              <a:rPr lang="fr-CA" dirty="0"/>
              <a:t>Comparé à : Actif net réel à la fin (cours clôture)</a:t>
            </a:r>
          </a:p>
          <a:p>
            <a:pPr lvl="2">
              <a:buFont typeface="Wingdings" panose="05000000000000000000" pitchFamily="2" charset="2"/>
              <a:buChar char="Ø"/>
            </a:pPr>
            <a:r>
              <a:rPr lang="fr-CA" dirty="0"/>
              <a:t>= Profit / perte de change de la période</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47</a:t>
            </a:fld>
            <a:endParaRPr lang="fr-CA"/>
          </a:p>
        </p:txBody>
      </p:sp>
      <p:sp>
        <p:nvSpPr>
          <p:cNvPr id="5" name="Espace réservé du pied de page 4">
            <a:extLst>
              <a:ext uri="{FF2B5EF4-FFF2-40B4-BE49-F238E27FC236}">
                <a16:creationId xmlns:a16="http://schemas.microsoft.com/office/drawing/2014/main" id="{5285440A-E2F8-455F-BE7F-B631243BCCB7}"/>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6240632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F9936A-8A50-403D-82ED-668AC4C7912A}"/>
              </a:ext>
            </a:extLst>
          </p:cNvPr>
          <p:cNvSpPr>
            <a:spLocks noGrp="1"/>
          </p:cNvSpPr>
          <p:nvPr>
            <p:ph type="title"/>
          </p:nvPr>
        </p:nvSpPr>
        <p:spPr/>
        <p:txBody>
          <a:bodyPr/>
          <a:lstStyle/>
          <a:p>
            <a:pPr algn="ctr"/>
            <a:r>
              <a:rPr lang="fr-CA" sz="4000" dirty="0"/>
              <a:t>Cours historique à utiliser</a:t>
            </a:r>
            <a:endParaRPr lang="fr-FR" dirty="0"/>
          </a:p>
        </p:txBody>
      </p:sp>
      <p:sp>
        <p:nvSpPr>
          <p:cNvPr id="3" name="Espace réservé du contenu 2">
            <a:extLst>
              <a:ext uri="{FF2B5EF4-FFF2-40B4-BE49-F238E27FC236}">
                <a16:creationId xmlns:a16="http://schemas.microsoft.com/office/drawing/2014/main" id="{71A23774-5D52-45CB-8444-07B0F41E84A7}"/>
              </a:ext>
            </a:extLst>
          </p:cNvPr>
          <p:cNvSpPr>
            <a:spLocks noGrp="1"/>
          </p:cNvSpPr>
          <p:nvPr>
            <p:ph idx="1"/>
          </p:nvPr>
        </p:nvSpPr>
        <p:spPr/>
        <p:txBody>
          <a:bodyPr/>
          <a:lstStyle/>
          <a:p>
            <a:r>
              <a:rPr lang="fr-CA" dirty="0"/>
              <a:t>Le cours à la date la plus rapprochée de :</a:t>
            </a:r>
          </a:p>
          <a:p>
            <a:pPr lvl="1"/>
            <a:r>
              <a:rPr lang="fr-CA" dirty="0"/>
              <a:t>La date de l’opération</a:t>
            </a:r>
          </a:p>
          <a:p>
            <a:pPr lvl="1"/>
            <a:r>
              <a:rPr lang="fr-CA" dirty="0"/>
              <a:t>La date de l’acquisition de l’établissement / filiale </a:t>
            </a:r>
          </a:p>
          <a:p>
            <a:pPr lvl="1"/>
            <a:endParaRPr lang="fr-CA" dirty="0"/>
          </a:p>
          <a:p>
            <a:pPr lvl="2"/>
            <a:r>
              <a:rPr lang="fr-CA" dirty="0"/>
              <a:t>Donc toujours postérieur à la date d’acquisition de l’établissement, le cas échéant</a:t>
            </a:r>
            <a:endParaRPr lang="fr-FR" dirty="0"/>
          </a:p>
        </p:txBody>
      </p:sp>
      <p:sp>
        <p:nvSpPr>
          <p:cNvPr id="4" name="Espace réservé du numéro de diapositive 3">
            <a:extLst>
              <a:ext uri="{FF2B5EF4-FFF2-40B4-BE49-F238E27FC236}">
                <a16:creationId xmlns:a16="http://schemas.microsoft.com/office/drawing/2014/main" id="{AF39EC60-A562-4AA2-B9E1-9FAC5E77E911}"/>
              </a:ext>
            </a:extLst>
          </p:cNvPr>
          <p:cNvSpPr>
            <a:spLocks noGrp="1"/>
          </p:cNvSpPr>
          <p:nvPr>
            <p:ph type="sldNum" sz="quarter" idx="12"/>
          </p:nvPr>
        </p:nvSpPr>
        <p:spPr/>
        <p:txBody>
          <a:bodyPr/>
          <a:lstStyle/>
          <a:p>
            <a:fld id="{992B40CC-DFA5-47EF-8974-C897708E5DF2}" type="slidenum">
              <a:rPr lang="fr-CA" smtClean="0"/>
              <a:t>48</a:t>
            </a:fld>
            <a:endParaRPr lang="fr-CA"/>
          </a:p>
        </p:txBody>
      </p:sp>
      <p:sp>
        <p:nvSpPr>
          <p:cNvPr id="5" name="Espace réservé du pied de page 4">
            <a:extLst>
              <a:ext uri="{FF2B5EF4-FFF2-40B4-BE49-F238E27FC236}">
                <a16:creationId xmlns:a16="http://schemas.microsoft.com/office/drawing/2014/main" id="{400AB3FA-A026-4D56-BEAC-B0C61BC501AB}"/>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6309519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Risque de change</a:t>
            </a:r>
            <a:endParaRPr lang="fr-CA" dirty="0"/>
          </a:p>
        </p:txBody>
      </p:sp>
      <p:sp>
        <p:nvSpPr>
          <p:cNvPr id="3" name="Espace réservé du contenu 2"/>
          <p:cNvSpPr>
            <a:spLocks noGrp="1"/>
          </p:cNvSpPr>
          <p:nvPr>
            <p:ph idx="1"/>
          </p:nvPr>
        </p:nvSpPr>
        <p:spPr/>
        <p:txBody>
          <a:bodyPr/>
          <a:lstStyle/>
          <a:p>
            <a:r>
              <a:rPr lang="fr-CA" dirty="0"/>
              <a:t>Même monnaie fonctionnelle :</a:t>
            </a:r>
          </a:p>
          <a:p>
            <a:pPr lvl="1"/>
            <a:r>
              <a:rPr lang="fr-CA" dirty="0"/>
              <a:t>Position monétaire nette est exposés aux fluctuations de la monnaie étrangère</a:t>
            </a:r>
          </a:p>
          <a:p>
            <a:r>
              <a:rPr lang="fr-CA" dirty="0"/>
              <a:t>Autre monnaie fonctionnelle : </a:t>
            </a:r>
          </a:p>
          <a:p>
            <a:pPr lvl="1"/>
            <a:r>
              <a:rPr lang="fr-CA" dirty="0"/>
              <a:t>Position de l’actif net de l’entité à l’étranger est exposée aux fluctuations de la monnaie étrangère</a:t>
            </a:r>
          </a:p>
        </p:txBody>
      </p:sp>
      <p:sp>
        <p:nvSpPr>
          <p:cNvPr id="4" name="Espace réservé du numéro de diapositive 3"/>
          <p:cNvSpPr>
            <a:spLocks noGrp="1"/>
          </p:cNvSpPr>
          <p:nvPr>
            <p:ph type="sldNum" sz="quarter" idx="12"/>
          </p:nvPr>
        </p:nvSpPr>
        <p:spPr/>
        <p:txBody>
          <a:bodyPr/>
          <a:lstStyle/>
          <a:p>
            <a:fld id="{992B40CC-DFA5-47EF-8974-C897708E5DF2}" type="slidenum">
              <a:rPr lang="fr-CA" smtClean="0"/>
              <a:t>49</a:t>
            </a:fld>
            <a:endParaRPr lang="fr-CA"/>
          </a:p>
        </p:txBody>
      </p:sp>
      <p:sp>
        <p:nvSpPr>
          <p:cNvPr id="5" name="Espace réservé du pied de page 4">
            <a:extLst>
              <a:ext uri="{FF2B5EF4-FFF2-40B4-BE49-F238E27FC236}">
                <a16:creationId xmlns:a16="http://schemas.microsoft.com/office/drawing/2014/main" id="{F7836533-5B5D-42D9-8105-259D90E1388B}"/>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212722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b="1" dirty="0"/>
              <a:t>Investissement net dans un établissement à l'étranger</a:t>
            </a:r>
            <a:endParaRPr lang="fr-CA" dirty="0"/>
          </a:p>
        </p:txBody>
      </p:sp>
      <p:sp>
        <p:nvSpPr>
          <p:cNvPr id="3" name="Espace réservé du contenu 2"/>
          <p:cNvSpPr>
            <a:spLocks noGrp="1"/>
          </p:cNvSpPr>
          <p:nvPr>
            <p:ph idx="1"/>
          </p:nvPr>
        </p:nvSpPr>
        <p:spPr/>
        <p:txBody>
          <a:bodyPr/>
          <a:lstStyle/>
          <a:p>
            <a:pPr marL="0" indent="0">
              <a:buNone/>
            </a:pPr>
            <a:r>
              <a:rPr lang="fr-CA" sz="2400" dirty="0"/>
              <a:t>15     </a:t>
            </a:r>
            <a:r>
              <a:rPr lang="fr-CA" sz="2400" dirty="0">
                <a:solidFill>
                  <a:srgbClr val="0070C0"/>
                </a:solidFill>
              </a:rPr>
              <a:t>L'entité peut détenir un élément monétaire qui est une créance sur un établissement à l'étranger ou une dette envers un établissement à l'étranger.</a:t>
            </a:r>
            <a:r>
              <a:rPr lang="fr-CA" sz="2400" dirty="0"/>
              <a:t> Un élément dont le </a:t>
            </a:r>
            <a:r>
              <a:rPr lang="fr-CA" sz="2400" u="sng" dirty="0"/>
              <a:t>règlement n'est ni planifié ni probable dans un avenir prévisible</a:t>
            </a:r>
            <a:r>
              <a:rPr lang="fr-CA" sz="2400" dirty="0"/>
              <a:t> constitue en substance une part de l'investissement net de l'entité dans cet établissement à l'étranger ; il est comptabilisé selon les paragraphes 32 et 33. De tels éléments monétaires peuvent comprendre des créances ou des prêts à long terme. Ils ne comprennent pas les créances clients ou les dettes fournisseurs.</a:t>
            </a:r>
            <a:endParaRPr lang="fr-CA" dirty="0"/>
          </a:p>
          <a:p>
            <a:pPr marL="0" indent="0">
              <a:buNone/>
            </a:pPr>
            <a:endParaRPr lang="fr-CA" dirty="0"/>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50</a:t>
            </a:fld>
            <a:endParaRPr lang="fr-CA"/>
          </a:p>
        </p:txBody>
      </p:sp>
      <p:sp>
        <p:nvSpPr>
          <p:cNvPr id="4" name="Espace réservé du pied de page 3">
            <a:extLst>
              <a:ext uri="{FF2B5EF4-FFF2-40B4-BE49-F238E27FC236}">
                <a16:creationId xmlns:a16="http://schemas.microsoft.com/office/drawing/2014/main" id="{BA62BD7E-7A82-4F7E-A807-5B8DD3DF6AEA}"/>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3926356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Comptabilisation des écarts de change</a:t>
            </a:r>
            <a:endParaRPr lang="fr-CA" dirty="0"/>
          </a:p>
        </p:txBody>
      </p:sp>
      <p:sp>
        <p:nvSpPr>
          <p:cNvPr id="3" name="Espace réservé du contenu 2"/>
          <p:cNvSpPr>
            <a:spLocks noGrp="1"/>
          </p:cNvSpPr>
          <p:nvPr>
            <p:ph idx="1"/>
          </p:nvPr>
        </p:nvSpPr>
        <p:spPr>
          <a:xfrm>
            <a:off x="838200" y="1690688"/>
            <a:ext cx="10515600" cy="4486275"/>
          </a:xfrm>
        </p:spPr>
        <p:txBody>
          <a:bodyPr>
            <a:normAutofit/>
          </a:bodyPr>
          <a:lstStyle/>
          <a:p>
            <a:pPr marL="0" indent="0">
              <a:buNone/>
            </a:pPr>
            <a:r>
              <a:rPr lang="fr-CA" sz="2400" dirty="0"/>
              <a:t>32     Les écarts de change sur un élément monétaire faisant partie de l'investissement net de l'entité présentant l'information financière dans un établissement à l'étranger (voir paragraphe 15) doivent être comptabilisés en résultat net de la période dans les états financiers individuels de l'entité présentant l'information financière ou dans les états financiers individuels de l'établissement à l'étranger, selon le cas. Dans les états financiers qui incluent l'établissement à l'étranger et l'entité présentant l'information financière (par exemple, les états financiers consolidés lorsque l'établissement à l'étranger est une filiale), ces écarts de change doivent être comptabilisés initialement dans les autres éléments du résultat global et reclassés de capitaux propres en résultat net lors de la sortie de l'investissement net selon le paragraphe 48.</a:t>
            </a:r>
            <a:endParaRPr lang="fr-CA" dirty="0"/>
          </a:p>
          <a:p>
            <a:pPr marL="0" indent="0">
              <a:buNone/>
            </a:pPr>
            <a:endParaRPr lang="fr-CA" dirty="0"/>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51</a:t>
            </a:fld>
            <a:endParaRPr lang="fr-CA"/>
          </a:p>
        </p:txBody>
      </p:sp>
      <p:sp>
        <p:nvSpPr>
          <p:cNvPr id="4" name="Espace réservé du pied de page 3">
            <a:extLst>
              <a:ext uri="{FF2B5EF4-FFF2-40B4-BE49-F238E27FC236}">
                <a16:creationId xmlns:a16="http://schemas.microsoft.com/office/drawing/2014/main" id="{D1DB6E65-E713-4BE1-81EF-C35F42136E69}"/>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9854134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Conversion dans la monnaie de présentation</a:t>
            </a:r>
            <a:endParaRPr lang="fr-CA" dirty="0"/>
          </a:p>
        </p:txBody>
      </p:sp>
      <p:sp>
        <p:nvSpPr>
          <p:cNvPr id="3" name="Espace réservé du contenu 2"/>
          <p:cNvSpPr>
            <a:spLocks noGrp="1"/>
          </p:cNvSpPr>
          <p:nvPr>
            <p:ph idx="1"/>
          </p:nvPr>
        </p:nvSpPr>
        <p:spPr>
          <a:xfrm>
            <a:off x="838200" y="1481560"/>
            <a:ext cx="10515600" cy="4874790"/>
          </a:xfrm>
        </p:spPr>
        <p:txBody>
          <a:bodyPr>
            <a:normAutofit fontScale="92500" lnSpcReduction="20000"/>
          </a:bodyPr>
          <a:lstStyle/>
          <a:p>
            <a:pPr marL="0" indent="0">
              <a:buNone/>
            </a:pPr>
            <a:r>
              <a:rPr lang="fr-CA" sz="2400" b="1" dirty="0"/>
              <a:t>39     Les résultats et la situation financière d'une entité dont la monnaie fonctionnelle n'est pas la monnaie d'une économie </a:t>
            </a:r>
            <a:r>
              <a:rPr lang="fr-CA" sz="2400" b="1" dirty="0" err="1"/>
              <a:t>hyperinflationniste</a:t>
            </a:r>
            <a:r>
              <a:rPr lang="fr-CA" sz="2400" b="1" dirty="0"/>
              <a:t> </a:t>
            </a:r>
            <a:r>
              <a:rPr lang="fr-CA" sz="2400" b="1" dirty="0">
                <a:solidFill>
                  <a:srgbClr val="0070C0"/>
                </a:solidFill>
              </a:rPr>
              <a:t>doivent être convertis en une autre monnaie de présentation</a:t>
            </a:r>
            <a:r>
              <a:rPr lang="fr-CA" sz="2400" b="1" dirty="0"/>
              <a:t>, selon les procédures suivantes :</a:t>
            </a:r>
          </a:p>
          <a:p>
            <a:pPr marL="0" indent="0">
              <a:buNone/>
            </a:pPr>
            <a:r>
              <a:rPr lang="fr-CA" sz="2400" b="1" dirty="0"/>
              <a:t>(a)     les actifs et les passifs de chaque état de la situation financière présenté (y compris à titre comparatif) doivent être convertis au </a:t>
            </a:r>
            <a:r>
              <a:rPr lang="fr-CA" sz="2400" b="1" dirty="0">
                <a:solidFill>
                  <a:srgbClr val="0070C0"/>
                </a:solidFill>
              </a:rPr>
              <a:t>cours de clôture</a:t>
            </a:r>
            <a:r>
              <a:rPr lang="fr-CA" sz="2400" b="1" dirty="0"/>
              <a:t> à la date de chacun de ces états de la situation financière ;</a:t>
            </a:r>
          </a:p>
          <a:p>
            <a:pPr marL="0" indent="0">
              <a:buNone/>
            </a:pPr>
            <a:r>
              <a:rPr lang="fr-CA" sz="2400" b="1" dirty="0"/>
              <a:t>(b)     les produits et les charges de chaque état présentant le résultat net et les autres éléments du résultat global (y compris ceux présentés à titre comparatif) doivent être convertis au cours de change en vigueur aux dates des transactions ; et</a:t>
            </a:r>
          </a:p>
          <a:p>
            <a:pPr marL="0" indent="0">
              <a:buNone/>
            </a:pPr>
            <a:r>
              <a:rPr lang="fr-CA" sz="2400" b="1" dirty="0"/>
              <a:t>(c)     tous les </a:t>
            </a:r>
            <a:r>
              <a:rPr lang="fr-CA" sz="2400" b="1" dirty="0">
                <a:solidFill>
                  <a:srgbClr val="0070C0"/>
                </a:solidFill>
              </a:rPr>
              <a:t>écarts de change</a:t>
            </a:r>
            <a:r>
              <a:rPr lang="fr-CA" sz="2400" b="1" dirty="0"/>
              <a:t> en résultant doivent être comptabilisés dans les </a:t>
            </a:r>
            <a:r>
              <a:rPr lang="fr-CA" sz="2400" b="1" dirty="0">
                <a:solidFill>
                  <a:srgbClr val="0070C0"/>
                </a:solidFill>
              </a:rPr>
              <a:t>autres éléments du résultat global</a:t>
            </a:r>
            <a:r>
              <a:rPr lang="fr-CA" sz="2400" b="1" dirty="0"/>
              <a:t>.</a:t>
            </a:r>
          </a:p>
          <a:p>
            <a:pPr marL="0" indent="0">
              <a:buNone/>
            </a:pPr>
            <a:endParaRPr lang="fr-CA" sz="2400" b="1" dirty="0"/>
          </a:p>
          <a:p>
            <a:pPr marL="0" indent="0">
              <a:buNone/>
            </a:pPr>
            <a:r>
              <a:rPr lang="fr-CA" sz="2400" dirty="0"/>
              <a:t>40     Pour des raisons pratiques, un cours approchant les cours de change aux dates des transactions, par exemple un </a:t>
            </a:r>
            <a:r>
              <a:rPr lang="fr-CA" sz="2400" dirty="0">
                <a:solidFill>
                  <a:srgbClr val="0070C0"/>
                </a:solidFill>
              </a:rPr>
              <a:t>cours moyen</a:t>
            </a:r>
            <a:r>
              <a:rPr lang="fr-CA" sz="2400" dirty="0"/>
              <a:t> pour la période, est souvent utilisé pour convertir les éléments de produits et de charges. Toutefois, si les cours de change connaissent des fluctuations importantes, l'utilisation du cours moyen pour une période n'est pas appropriée.</a:t>
            </a:r>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52</a:t>
            </a:fld>
            <a:endParaRPr lang="fr-CA"/>
          </a:p>
        </p:txBody>
      </p:sp>
      <p:sp>
        <p:nvSpPr>
          <p:cNvPr id="4" name="Espace réservé du pied de page 3">
            <a:extLst>
              <a:ext uri="{FF2B5EF4-FFF2-40B4-BE49-F238E27FC236}">
                <a16:creationId xmlns:a16="http://schemas.microsoft.com/office/drawing/2014/main" id="{3CD5D7E9-DE8E-49C3-BBCD-C28B14043179}"/>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8326805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Conversion dans la monnaie de présentation</a:t>
            </a:r>
            <a:endParaRPr lang="fr-CA" dirty="0"/>
          </a:p>
        </p:txBody>
      </p:sp>
      <p:sp>
        <p:nvSpPr>
          <p:cNvPr id="3" name="Espace réservé du contenu 2"/>
          <p:cNvSpPr>
            <a:spLocks noGrp="1"/>
          </p:cNvSpPr>
          <p:nvPr>
            <p:ph idx="1"/>
          </p:nvPr>
        </p:nvSpPr>
        <p:spPr/>
        <p:txBody>
          <a:bodyPr>
            <a:normAutofit fontScale="85000" lnSpcReduction="20000"/>
          </a:bodyPr>
          <a:lstStyle/>
          <a:p>
            <a:pPr marL="0" indent="0">
              <a:buNone/>
            </a:pPr>
            <a:r>
              <a:rPr lang="fr-CA" dirty="0"/>
              <a:t>41     Les écarts de change mentionnés au paragraphe 39(c) résultent de :</a:t>
            </a:r>
          </a:p>
          <a:p>
            <a:pPr marL="0" indent="0">
              <a:buNone/>
            </a:pPr>
            <a:r>
              <a:rPr lang="fr-CA" dirty="0"/>
              <a:t>(a)     la conversion des produits et des charges au cours de change en vigueur à la date des transactions et la conversion des actifs et des passifs au cours de clôture ;</a:t>
            </a:r>
          </a:p>
          <a:p>
            <a:pPr marL="0" indent="0">
              <a:buNone/>
            </a:pPr>
            <a:r>
              <a:rPr lang="fr-CA" dirty="0"/>
              <a:t>(b)     la conversion de l'actif net à l'ouverture, à un cours de clôture différent du cours de clôture précédent.</a:t>
            </a:r>
          </a:p>
          <a:p>
            <a:pPr marL="0" indent="0">
              <a:buNone/>
            </a:pPr>
            <a:r>
              <a:rPr lang="fr-CA" dirty="0"/>
              <a:t>     Ces écarts de change ne sont pas comptabilisés en résultat net parce que les variations des cours de change n'ont que peu ou pas d'effet direct sur les flux de trésorerie actuels et futurs liés à l'activité. Le montant cumulé des écarts de change est présenté dans une composante distincte des capitaux propres jusqu'à la sortie de l'établissement à l'étranger. Lorsque les écarts de change se rapportent à un établissement à l'étranger qui est consolidé sans être totalement détenu, les écarts de change cumulés résultant de la conversion et attribuables aux participations ne donnant pas le contrôle sont affectés aux participations ne donnant pas le contrôle et comptabilisés en tant que tels dans l'état de la situation financière consolidé.</a:t>
            </a:r>
          </a:p>
          <a:p>
            <a:endParaRPr lang="fr-CA" dirty="0"/>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53</a:t>
            </a:fld>
            <a:endParaRPr lang="fr-CA"/>
          </a:p>
        </p:txBody>
      </p:sp>
      <p:sp>
        <p:nvSpPr>
          <p:cNvPr id="4" name="Espace réservé du pied de page 3">
            <a:extLst>
              <a:ext uri="{FF2B5EF4-FFF2-40B4-BE49-F238E27FC236}">
                <a16:creationId xmlns:a16="http://schemas.microsoft.com/office/drawing/2014/main" id="{D759EC3C-BC2D-4508-B20C-54D3E6BAFBF9}"/>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16793556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Conversion d’un établissement à l’étranger</a:t>
            </a:r>
            <a:endParaRPr lang="fr-CA" dirty="0"/>
          </a:p>
        </p:txBody>
      </p:sp>
      <p:sp>
        <p:nvSpPr>
          <p:cNvPr id="3" name="Espace réservé du contenu 2"/>
          <p:cNvSpPr>
            <a:spLocks noGrp="1"/>
          </p:cNvSpPr>
          <p:nvPr>
            <p:ph idx="1"/>
          </p:nvPr>
        </p:nvSpPr>
        <p:spPr/>
        <p:txBody>
          <a:bodyPr>
            <a:normAutofit fontScale="85000" lnSpcReduction="20000"/>
          </a:bodyPr>
          <a:lstStyle/>
          <a:p>
            <a:pPr marL="0" indent="0">
              <a:buNone/>
            </a:pPr>
            <a:r>
              <a:rPr lang="fr-CA" dirty="0"/>
              <a:t>45     L'incorporation des résultats et de la situation financière d'un établissement à l'étranger dans ceux de l'entité présentant l'information financière suit les </a:t>
            </a:r>
            <a:r>
              <a:rPr lang="fr-CA" dirty="0">
                <a:solidFill>
                  <a:srgbClr val="0070C0"/>
                </a:solidFill>
              </a:rPr>
              <a:t>procédures de consolidation normales</a:t>
            </a:r>
            <a:r>
              <a:rPr lang="fr-CA" dirty="0"/>
              <a:t>, telles que l'élimination des soldes intragroupe et des transactions intragroupe d'une filiale (voir IFRS 10 </a:t>
            </a:r>
            <a:r>
              <a:rPr lang="fr-CA" i="1" dirty="0"/>
              <a:t>États financiers consolidés</a:t>
            </a:r>
            <a:r>
              <a:rPr lang="fr-CA" dirty="0"/>
              <a:t>). Toutefois, un actif (ou un passif) monétaire intragroupe, à court comme à long terme, ne peut être éliminé avec le passif (ou l'actif) intragroupe correspondant sans que soit présenté le résultat des fluctuations de change dans les états financiers consolidés. En effet, l'élément monétaire représente un engagement de convertir une monnaie dans une autre monnaie, et expose l'entité présentant l'information financière à un profit ou à une perte découlant des fluctuations de change. En conséquence, dans les états financiers consolidés de l'entité présentant l'information financière, un tel écart de change est comptabilisé en résultat net ou, s'il se produit dans les circonstances décrites au paragraphe 32, il est comptabilisé dans les autres éléments du résultat global et cumulé dans une composante distincte des capitaux propres jusqu'à la sortie de l'établissement à l'étranger.</a:t>
            </a:r>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54</a:t>
            </a:fld>
            <a:endParaRPr lang="fr-CA"/>
          </a:p>
        </p:txBody>
      </p:sp>
      <p:sp>
        <p:nvSpPr>
          <p:cNvPr id="4" name="Espace réservé du pied de page 3">
            <a:extLst>
              <a:ext uri="{FF2B5EF4-FFF2-40B4-BE49-F238E27FC236}">
                <a16:creationId xmlns:a16="http://schemas.microsoft.com/office/drawing/2014/main" id="{850CEA6E-8C31-4409-B1C3-873CC63E5953}"/>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2829877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Conversion d’un établissement à l’étranger</a:t>
            </a:r>
            <a:endParaRPr lang="fr-CA" dirty="0"/>
          </a:p>
        </p:txBody>
      </p:sp>
      <p:sp>
        <p:nvSpPr>
          <p:cNvPr id="3" name="Espace réservé du contenu 2"/>
          <p:cNvSpPr>
            <a:spLocks noGrp="1"/>
          </p:cNvSpPr>
          <p:nvPr>
            <p:ph idx="1"/>
          </p:nvPr>
        </p:nvSpPr>
        <p:spPr/>
        <p:txBody>
          <a:bodyPr>
            <a:normAutofit fontScale="85000" lnSpcReduction="20000"/>
          </a:bodyPr>
          <a:lstStyle/>
          <a:p>
            <a:pPr marL="0" indent="0">
              <a:buNone/>
            </a:pPr>
            <a:r>
              <a:rPr lang="fr-CA" dirty="0"/>
              <a:t>47     Tout </a:t>
            </a:r>
            <a:r>
              <a:rPr lang="fr-CA" dirty="0">
                <a:solidFill>
                  <a:srgbClr val="0070C0"/>
                </a:solidFill>
              </a:rPr>
              <a:t>goodwill</a:t>
            </a:r>
            <a:r>
              <a:rPr lang="fr-CA" dirty="0"/>
              <a:t> provenant de l'acquisition d'un établissement à l'étranger et </a:t>
            </a:r>
            <a:r>
              <a:rPr lang="fr-CA" dirty="0">
                <a:solidFill>
                  <a:srgbClr val="0070C0"/>
                </a:solidFill>
              </a:rPr>
              <a:t>tout ajustement à la juste valeur</a:t>
            </a:r>
            <a:r>
              <a:rPr lang="fr-CA" dirty="0"/>
              <a:t> de la valeur comptable des actifs et passifs provenant de l'acquisition de cet établissement à l'étranger doivent être comptabilisés comme des actifs ou des passifs de l'établissement à l'étranger. Ils doivent donc être libellés dans la monnaie fonctionnelle de l'établissement à l'étranger et convertis au cours de clôture, selon les paragraphes 39 et 42.</a:t>
            </a:r>
          </a:p>
          <a:p>
            <a:pPr marL="0" indent="0">
              <a:buNone/>
            </a:pPr>
            <a:endParaRPr lang="fr-CA" dirty="0"/>
          </a:p>
          <a:p>
            <a:pPr marL="0" indent="0">
              <a:buNone/>
            </a:pPr>
            <a:r>
              <a:rPr lang="fr-CA" b="1" dirty="0"/>
              <a:t>Sortie totale ou partielle d'un établissement à l'étranger</a:t>
            </a:r>
          </a:p>
          <a:p>
            <a:pPr marL="0" indent="0">
              <a:buNone/>
            </a:pPr>
            <a:r>
              <a:rPr lang="fr-CA" dirty="0"/>
              <a:t>48     Lors de la sortie d'un établissement à l'étranger, le montant cumulé des écarts de change relatifs à cet établissement à l'étranger, comptabilisés dans les autres éléments du résultat global et cumulés dans une composante distincte des capitaux propres, doit être reclassé des capitaux propres en résultat net (à titre d'ajustement de reclassement) au moment de la comptabilisation du profit ou de la perte résultant de la sortie (voir IAS 1 </a:t>
            </a:r>
            <a:r>
              <a:rPr lang="fr-CA" i="1" dirty="0"/>
              <a:t>Présentation des états financiers</a:t>
            </a:r>
            <a:r>
              <a:rPr lang="fr-CA" dirty="0"/>
              <a:t> (révisée en 2007)).</a:t>
            </a:r>
          </a:p>
          <a:p>
            <a:pPr marL="0" indent="0">
              <a:buNone/>
            </a:pPr>
            <a:endParaRPr lang="fr-CA" dirty="0"/>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55</a:t>
            </a:fld>
            <a:endParaRPr lang="fr-CA"/>
          </a:p>
        </p:txBody>
      </p:sp>
      <p:sp>
        <p:nvSpPr>
          <p:cNvPr id="4" name="Espace réservé du pied de page 3">
            <a:extLst>
              <a:ext uri="{FF2B5EF4-FFF2-40B4-BE49-F238E27FC236}">
                <a16:creationId xmlns:a16="http://schemas.microsoft.com/office/drawing/2014/main" id="{78349508-E989-4533-8086-E1AA0B616E55}"/>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36197629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CA" sz="3600" dirty="0"/>
              <a:t>Changement de monnaie fonctionnelle</a:t>
            </a:r>
            <a:endParaRPr lang="fr-CA" dirty="0"/>
          </a:p>
        </p:txBody>
      </p:sp>
      <p:sp>
        <p:nvSpPr>
          <p:cNvPr id="3" name="Espace réservé du contenu 2"/>
          <p:cNvSpPr>
            <a:spLocks noGrp="1"/>
          </p:cNvSpPr>
          <p:nvPr>
            <p:ph idx="1"/>
          </p:nvPr>
        </p:nvSpPr>
        <p:spPr/>
        <p:txBody>
          <a:bodyPr>
            <a:normAutofit/>
          </a:bodyPr>
          <a:lstStyle/>
          <a:p>
            <a:pPr marL="0" indent="0">
              <a:buNone/>
            </a:pPr>
            <a:r>
              <a:rPr lang="fr-CA" sz="2400" b="1" dirty="0"/>
              <a:t>35     En cas de changement de monnaie fonctionnelle d'une entité, celle-ci applique les procédures de conversion applicables à la nouvelle monnaie fonctionnelle de manière prospective à compter de la date du changement.</a:t>
            </a:r>
          </a:p>
          <a:p>
            <a:pPr marL="0" indent="0">
              <a:buNone/>
            </a:pPr>
            <a:r>
              <a:rPr lang="fr-CA" sz="2400" dirty="0"/>
              <a:t>36     (…). Par exemple, un changement de la monnaie qui influence le plus les prix de vente des biens et des services peut entraîner un changement de la monnaie fonctionnelle de l'entité.</a:t>
            </a:r>
          </a:p>
          <a:p>
            <a:pPr marL="0" indent="0">
              <a:buNone/>
            </a:pPr>
            <a:r>
              <a:rPr lang="fr-CA" sz="2400" dirty="0"/>
              <a:t>37     (…) Les montants convertis qui en résultent pour les éléments non monétaires sont considérés comme leur coût historique. Les écarts de change qui résultent de la conversion d'un établissement à l'étranger précédemment comptabilisés dans les autres éléments du résultat global selon les paragraphes 32 et 39(c), ne sont pas reclassés de capitaux propres en résultat net avant la sortie de cet établissement.</a:t>
            </a:r>
            <a:endParaRPr lang="fr-CA" dirty="0"/>
          </a:p>
          <a:p>
            <a:pPr marL="0" indent="0">
              <a:buNone/>
            </a:pPr>
            <a:endParaRPr lang="fr-CA" dirty="0"/>
          </a:p>
        </p:txBody>
      </p:sp>
      <p:sp>
        <p:nvSpPr>
          <p:cNvPr id="5" name="Espace réservé du numéro de diapositive 4"/>
          <p:cNvSpPr>
            <a:spLocks noGrp="1"/>
          </p:cNvSpPr>
          <p:nvPr>
            <p:ph type="sldNum" sz="quarter" idx="12"/>
          </p:nvPr>
        </p:nvSpPr>
        <p:spPr/>
        <p:txBody>
          <a:bodyPr/>
          <a:lstStyle/>
          <a:p>
            <a:fld id="{992B40CC-DFA5-47EF-8974-C897708E5DF2}" type="slidenum">
              <a:rPr lang="fr-CA" smtClean="0"/>
              <a:t>56</a:t>
            </a:fld>
            <a:endParaRPr lang="fr-CA"/>
          </a:p>
        </p:txBody>
      </p:sp>
      <p:sp>
        <p:nvSpPr>
          <p:cNvPr id="4" name="Espace réservé du pied de page 3">
            <a:extLst>
              <a:ext uri="{FF2B5EF4-FFF2-40B4-BE49-F238E27FC236}">
                <a16:creationId xmlns:a16="http://schemas.microsoft.com/office/drawing/2014/main" id="{F189A796-12C8-42BF-863D-7230F8BFC006}"/>
              </a:ext>
            </a:extLst>
          </p:cNvPr>
          <p:cNvSpPr>
            <a:spLocks noGrp="1"/>
          </p:cNvSpPr>
          <p:nvPr>
            <p:ph type="ftr" sz="quarter" idx="11"/>
          </p:nvPr>
        </p:nvSpPr>
        <p:spPr/>
        <p:txBody>
          <a:bodyPr/>
          <a:lstStyle/>
          <a:p>
            <a:r>
              <a:rPr lang="fr-CA"/>
              <a:t>Droits réservés - Louise Overbeek</a:t>
            </a:r>
          </a:p>
        </p:txBody>
      </p:sp>
    </p:spTree>
    <p:extLst>
      <p:ext uri="{BB962C8B-B14F-4D97-AF65-F5344CB8AC3E}">
        <p14:creationId xmlns:p14="http://schemas.microsoft.com/office/powerpoint/2010/main" val="25287362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9AE9C5-FA12-4783-9611-476458388137}"/>
              </a:ext>
            </a:extLst>
          </p:cNvPr>
          <p:cNvSpPr>
            <a:spLocks noGrp="1"/>
          </p:cNvSpPr>
          <p:nvPr>
            <p:ph type="title"/>
          </p:nvPr>
        </p:nvSpPr>
        <p:spPr/>
        <p:txBody>
          <a:bodyPr/>
          <a:lstStyle/>
          <a:p>
            <a:r>
              <a:rPr lang="fr-CA" dirty="0"/>
              <a:t>Exercice – voir fichier Excel</a:t>
            </a:r>
            <a:endParaRPr lang="fr-FR" dirty="0"/>
          </a:p>
        </p:txBody>
      </p:sp>
      <p:sp>
        <p:nvSpPr>
          <p:cNvPr id="3" name="Espace réservé du contenu 2">
            <a:extLst>
              <a:ext uri="{FF2B5EF4-FFF2-40B4-BE49-F238E27FC236}">
                <a16:creationId xmlns:a16="http://schemas.microsoft.com/office/drawing/2014/main" id="{376E1541-A993-4739-9B1B-0425ED50DBA1}"/>
              </a:ext>
            </a:extLst>
          </p:cNvPr>
          <p:cNvSpPr>
            <a:spLocks noGrp="1"/>
          </p:cNvSpPr>
          <p:nvPr>
            <p:ph idx="1"/>
          </p:nvPr>
        </p:nvSpPr>
        <p:spPr/>
        <p:txBody>
          <a:bodyPr/>
          <a:lstStyle/>
          <a:p>
            <a:endParaRPr lang="fr-FR" dirty="0"/>
          </a:p>
        </p:txBody>
      </p:sp>
      <p:sp>
        <p:nvSpPr>
          <p:cNvPr id="4" name="Espace réservé du pied de page 3">
            <a:extLst>
              <a:ext uri="{FF2B5EF4-FFF2-40B4-BE49-F238E27FC236}">
                <a16:creationId xmlns:a16="http://schemas.microsoft.com/office/drawing/2014/main" id="{0DCEA3D5-4EF2-45F5-8739-859B8E86C39A}"/>
              </a:ext>
            </a:extLst>
          </p:cNvPr>
          <p:cNvSpPr>
            <a:spLocks noGrp="1"/>
          </p:cNvSpPr>
          <p:nvPr>
            <p:ph type="ftr" sz="quarter" idx="11"/>
          </p:nvPr>
        </p:nvSpPr>
        <p:spPr/>
        <p:txBody>
          <a:bodyPr/>
          <a:lstStyle/>
          <a:p>
            <a:r>
              <a:rPr lang="fr-CA"/>
              <a:t>Droits réservés - Louise Overbeek</a:t>
            </a:r>
          </a:p>
        </p:txBody>
      </p:sp>
      <p:sp>
        <p:nvSpPr>
          <p:cNvPr id="5" name="Espace réservé du numéro de diapositive 4">
            <a:extLst>
              <a:ext uri="{FF2B5EF4-FFF2-40B4-BE49-F238E27FC236}">
                <a16:creationId xmlns:a16="http://schemas.microsoft.com/office/drawing/2014/main" id="{87C3E39A-FC3B-44E5-A0BE-0793DC8157B2}"/>
              </a:ext>
            </a:extLst>
          </p:cNvPr>
          <p:cNvSpPr>
            <a:spLocks noGrp="1"/>
          </p:cNvSpPr>
          <p:nvPr>
            <p:ph type="sldNum" sz="quarter" idx="12"/>
          </p:nvPr>
        </p:nvSpPr>
        <p:spPr/>
        <p:txBody>
          <a:bodyPr/>
          <a:lstStyle/>
          <a:p>
            <a:fld id="{992B40CC-DFA5-47EF-8974-C897708E5DF2}" type="slidenum">
              <a:rPr lang="fr-CA" smtClean="0"/>
              <a:t>57</a:t>
            </a:fld>
            <a:endParaRPr lang="fr-CA"/>
          </a:p>
        </p:txBody>
      </p:sp>
    </p:spTree>
    <p:extLst>
      <p:ext uri="{BB962C8B-B14F-4D97-AF65-F5344CB8AC3E}">
        <p14:creationId xmlns:p14="http://schemas.microsoft.com/office/powerpoint/2010/main" val="316539452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4947</TotalTime>
  <Words>5972</Words>
  <Application>Microsoft Office PowerPoint</Application>
  <PresentationFormat>Grand écran</PresentationFormat>
  <Paragraphs>556</Paragraphs>
  <Slides>57</Slides>
  <Notes>10</Notes>
  <HiddenSlides>0</HiddenSlides>
  <MMClips>0</MMClips>
  <ScaleCrop>false</ScaleCrop>
  <HeadingPairs>
    <vt:vector size="8" baseType="variant">
      <vt:variant>
        <vt:lpstr>Polices utilisées</vt:lpstr>
      </vt:variant>
      <vt:variant>
        <vt:i4>6</vt:i4>
      </vt:variant>
      <vt:variant>
        <vt:lpstr>Thème</vt:lpstr>
      </vt:variant>
      <vt:variant>
        <vt:i4>1</vt:i4>
      </vt:variant>
      <vt:variant>
        <vt:lpstr>Serveurs OLE incorporés</vt:lpstr>
      </vt:variant>
      <vt:variant>
        <vt:i4>1</vt:i4>
      </vt:variant>
      <vt:variant>
        <vt:lpstr>Titres des diapositives</vt:lpstr>
      </vt:variant>
      <vt:variant>
        <vt:i4>57</vt:i4>
      </vt:variant>
    </vt:vector>
  </HeadingPairs>
  <TitlesOfParts>
    <vt:vector size="65" baseType="lpstr">
      <vt:lpstr>Arial</vt:lpstr>
      <vt:lpstr>Calibri</vt:lpstr>
      <vt:lpstr>Calibri Light</vt:lpstr>
      <vt:lpstr>Courier New</vt:lpstr>
      <vt:lpstr>Garamond</vt:lpstr>
      <vt:lpstr>Wingdings</vt:lpstr>
      <vt:lpstr>Thème Office</vt:lpstr>
      <vt:lpstr>Worksheet</vt:lpstr>
      <vt:lpstr>Devises </vt:lpstr>
      <vt:lpstr>Devises</vt:lpstr>
      <vt:lpstr>Champ d’application</vt:lpstr>
      <vt:lpstr>Cours de change</vt:lpstr>
      <vt:lpstr>Définitions</vt:lpstr>
      <vt:lpstr>Définitions</vt:lpstr>
      <vt:lpstr>Définitions</vt:lpstr>
      <vt:lpstr>Objectifs des normes</vt:lpstr>
      <vt:lpstr>Pour les transactions en monnaie étrangère</vt:lpstr>
      <vt:lpstr>Pour les transactions en monnaie étrangère</vt:lpstr>
      <vt:lpstr>Pour les transactions en monnaie étrangère Conversion des soldes à l’état de la situation financière</vt:lpstr>
      <vt:lpstr>Pour les transactions en monnaie étrangère</vt:lpstr>
      <vt:lpstr>Pour les transactions en monnaie étrangère</vt:lpstr>
      <vt:lpstr>Pour les transactions en monnaie étrangère</vt:lpstr>
      <vt:lpstr>Comptabilisation des écarts de change</vt:lpstr>
      <vt:lpstr>Exercice 1</vt:lpstr>
      <vt:lpstr>Solution</vt:lpstr>
      <vt:lpstr>Exercice 2</vt:lpstr>
      <vt:lpstr>Solution</vt:lpstr>
      <vt:lpstr>Exercice 3</vt:lpstr>
      <vt:lpstr>Solution</vt:lpstr>
      <vt:lpstr>Solution</vt:lpstr>
      <vt:lpstr>Solution</vt:lpstr>
      <vt:lpstr>Exercice 4</vt:lpstr>
      <vt:lpstr>Solution</vt:lpstr>
      <vt:lpstr>Exercice 5</vt:lpstr>
      <vt:lpstr>Solution</vt:lpstr>
      <vt:lpstr>Exercice 6 – un défi!</vt:lpstr>
      <vt:lpstr>Présentation PowerPoint</vt:lpstr>
      <vt:lpstr>Présentation PowerPoint</vt:lpstr>
      <vt:lpstr>Présentation PowerPoint</vt:lpstr>
      <vt:lpstr>Pour les établissements étrangers</vt:lpstr>
      <vt:lpstr>Monnaie fonctionnelle</vt:lpstr>
      <vt:lpstr>Monnaie fonctionnelle</vt:lpstr>
      <vt:lpstr>Monnaie fonctionnelle</vt:lpstr>
      <vt:lpstr>Monnaie fonctionnelle</vt:lpstr>
      <vt:lpstr>Conversion des états financiers des établissements à l’étranger</vt:lpstr>
      <vt:lpstr>Risque de change – lié aux variations du cours</vt:lpstr>
      <vt:lpstr>Conversion des EF des établissements à l’étranger</vt:lpstr>
      <vt:lpstr>Même monnaie fonctionnelle :  « Méthode temporelle » - « intégré »</vt:lpstr>
      <vt:lpstr>Autre monnaie fonctionnelle :  « Méthode du cours de clôture » - « autonome »</vt:lpstr>
      <vt:lpstr>Économies hautement inflationnistes</vt:lpstr>
      <vt:lpstr>Postes monétaires / non monétaires</vt:lpstr>
      <vt:lpstr>Hilton</vt:lpstr>
      <vt:lpstr>Hilton</vt:lpstr>
      <vt:lpstr>Hilton</vt:lpstr>
      <vt:lpstr>Hilton</vt:lpstr>
      <vt:lpstr>Cours historique à utiliser</vt:lpstr>
      <vt:lpstr>Risque de change</vt:lpstr>
      <vt:lpstr>Investissement net dans un établissement à l'étranger</vt:lpstr>
      <vt:lpstr>Comptabilisation des écarts de change</vt:lpstr>
      <vt:lpstr>Conversion dans la monnaie de présentation</vt:lpstr>
      <vt:lpstr>Conversion dans la monnaie de présentation</vt:lpstr>
      <vt:lpstr>Conversion d’un établissement à l’étranger</vt:lpstr>
      <vt:lpstr>Conversion d’un établissement à l’étranger</vt:lpstr>
      <vt:lpstr>Changement de monnaie fonctionnelle</vt:lpstr>
      <vt:lpstr>Exercice – voir fichier Excel</vt:lpstr>
    </vt:vector>
  </TitlesOfParts>
  <Company>HEC Montréal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louise overbeek</dc:creator>
  <cp:lastModifiedBy>louise overbeek</cp:lastModifiedBy>
  <cp:revision>85</cp:revision>
  <cp:lastPrinted>2019-05-21T16:40:24Z</cp:lastPrinted>
  <dcterms:created xsi:type="dcterms:W3CDTF">2019-05-21T12:56:47Z</dcterms:created>
  <dcterms:modified xsi:type="dcterms:W3CDTF">2020-10-01T21:12:52Z</dcterms:modified>
</cp:coreProperties>
</file>