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336" r:id="rId3"/>
    <p:sldId id="309" r:id="rId4"/>
    <p:sldId id="310" r:id="rId5"/>
    <p:sldId id="311" r:id="rId6"/>
    <p:sldId id="312" r:id="rId7"/>
    <p:sldId id="304" r:id="rId8"/>
    <p:sldId id="313" r:id="rId9"/>
    <p:sldId id="329" r:id="rId10"/>
    <p:sldId id="318" r:id="rId11"/>
    <p:sldId id="319" r:id="rId12"/>
    <p:sldId id="305" r:id="rId13"/>
    <p:sldId id="314" r:id="rId14"/>
    <p:sldId id="320" r:id="rId15"/>
    <p:sldId id="321" r:id="rId16"/>
    <p:sldId id="322" r:id="rId17"/>
    <p:sldId id="306" r:id="rId18"/>
    <p:sldId id="324" r:id="rId19"/>
    <p:sldId id="325" r:id="rId20"/>
    <p:sldId id="326" r:id="rId21"/>
    <p:sldId id="327" r:id="rId22"/>
    <p:sldId id="328" r:id="rId23"/>
    <p:sldId id="307" r:id="rId24"/>
    <p:sldId id="308" r:id="rId25"/>
    <p:sldId id="330" r:id="rId26"/>
    <p:sldId id="331" r:id="rId27"/>
    <p:sldId id="332" r:id="rId28"/>
    <p:sldId id="333" r:id="rId29"/>
    <p:sldId id="334" r:id="rId30"/>
    <p:sldId id="335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2496E-051B-4B4F-8F28-0C253D8A93E2}" type="datetimeFigureOut">
              <a:rPr lang="fr-FR" smtClean="0"/>
              <a:t>01/10/2020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DE644-9393-45CD-AED9-47130AE2C3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4671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FDB8CD-5EBB-4288-8658-F6BA6B8471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A4C44EF-33B6-4A48-87FC-0BADCB1C0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22E9F5-8E26-4E8D-898C-795A66D5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5E11-BBC8-423D-873E-92509C618086}" type="datetime1">
              <a:rPr lang="fr-FR" smtClean="0"/>
              <a:t>01/10/2020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F09ACE-5F2D-4EED-8292-B04806691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5724E1-6835-4916-9731-C58587143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C899C-3B3F-4D8C-9B79-44D8AEB6E9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7408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19CCB0-2DAE-4B8F-8A9A-E99AAFE25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58E470-FA70-42C3-8294-7C6011B6F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EC477F-D41D-48FB-AD93-5878BADC9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701C7-51AD-469A-A1A0-900B6E9185B8}" type="datetime1">
              <a:rPr lang="fr-FR" smtClean="0"/>
              <a:t>01/10/2020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BEFE7D-CD5D-4665-8FC6-8AEF5B269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08A414-22FB-4224-A8EE-1C92E4812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C899C-3B3F-4D8C-9B79-44D8AEB6E9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19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F3D0A7-DF81-4698-8A7F-7B80ED4AE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567581-DE32-4744-AFDB-BD0AF79CD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A48718-7D47-4514-A3F3-013671A85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63D4A-8726-4528-B3D1-25E3AFD8977B}" type="datetime1">
              <a:rPr lang="fr-FR" smtClean="0"/>
              <a:t>01/10/2020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BAAE0C-6AFB-47EE-906C-80625EDC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0D0D13-77B2-4B62-87D1-209BE528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C899C-3B3F-4D8C-9B79-44D8AEB6E9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9253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287F3E-41CE-4E7D-B493-C1AE577BF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E92DC5-F5C3-444E-A39B-AD820B299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15669B-5B06-4F85-BF13-D7E1ACBA9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F3D74A-3549-4479-8ED2-5989E6ADA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91AF-5E3C-408D-B42B-ED46D666D08F}" type="datetime1">
              <a:rPr lang="fr-FR" smtClean="0"/>
              <a:t>01/10/2020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C694A0-EDF3-4246-BCF1-9D4F10038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E9864E-3F47-4B73-8849-3B8E0387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C899C-3B3F-4D8C-9B79-44D8AEB6E9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992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10DF7D-8EDB-4C01-A228-B62C4AF1C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F78454-3013-47A7-898F-7789B82C5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50AE3B3-EFF8-4526-9D81-3B505DC98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D4A8F63-9EBD-4E2C-B9F7-AA38BAB34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C8A2ABE-D353-4D92-8BC4-F09EA9EF44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A1E6238-DCCE-468E-B950-D02FFA0F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05F06-BC91-443F-832F-3E0C2674C63D}" type="datetime1">
              <a:rPr lang="fr-FR" smtClean="0"/>
              <a:t>01/10/2020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88D93DA-5735-47AB-A92B-66A31F6F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2D47E51-1149-4081-8640-1ABC7CEC9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C899C-3B3F-4D8C-9B79-44D8AEB6E9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223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A6C27-04FC-4B3C-9E8F-43765C57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90162DC-3224-4DDA-84DB-FBDDB8526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0639-EF24-43D3-916B-8298AD69471B}" type="datetime1">
              <a:rPr lang="fr-FR" smtClean="0"/>
              <a:t>01/10/2020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24FB609-8FDE-455D-AEDD-0CDC57BE6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19FDFAF-DE97-4A37-9D39-C1EB1349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C899C-3B3F-4D8C-9B79-44D8AEB6E9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5995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0901C7B-0D67-40B5-9447-B6A20630A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9B26-9EE7-49F7-AB6D-A1BE9F7F0AA3}" type="datetime1">
              <a:rPr lang="fr-FR" smtClean="0"/>
              <a:t>01/10/2020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403A07-7791-4CA6-8584-16F51562E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15D85A-AE51-4728-8CD5-68A10D84C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C899C-3B3F-4D8C-9B79-44D8AEB6E9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7178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80D0EC-A63D-4713-B6CC-6ABBC49CD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0AD1E7-6F0C-4625-B8FA-1B76E1B13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E53005-0FCB-4FAA-98EF-FE5668FBD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BE440B-E892-4106-A2C9-F897BA908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4EB1-25CE-46C1-9F8D-395F368851C3}" type="datetime1">
              <a:rPr lang="fr-FR" smtClean="0"/>
              <a:t>01/10/2020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500BD3E-92F2-4D48-ABAA-CA6348DD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CBA88A-D1EC-46BA-A7FB-5983F4FD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C899C-3B3F-4D8C-9B79-44D8AEB6E9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858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8FAE46-2A42-49A2-ACCE-8EB420ED9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3C57B78-1C83-443A-9081-71EF0386B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19F306-18A8-4083-A26A-3274E8FA0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6DEC5E-5DDF-4A86-B97F-5DD5F2E8D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A2D15-49AF-433F-850A-8F69BD326CF6}" type="datetime1">
              <a:rPr lang="fr-FR" smtClean="0"/>
              <a:t>01/10/2020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E3DF3D-E32E-423B-8591-EA41D2AD5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56A106-3519-454F-B180-55D58C16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C899C-3B3F-4D8C-9B79-44D8AEB6E9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3885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14641D-DC67-4D47-9859-553B21B4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39A1766-E39F-4141-A238-B0294B261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47B78A-F889-497D-9A40-99DC3582C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0638-0F49-4586-9285-C0533C38A625}" type="datetime1">
              <a:rPr lang="fr-FR" smtClean="0"/>
              <a:t>01/10/2020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D39F5E-ECA3-4558-8C1E-A5A159F3F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8F5731-B010-4D32-A4D3-80AA3667F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C899C-3B3F-4D8C-9B79-44D8AEB6E9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1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99FE901-FDA9-4902-8C8B-CCA79DFCF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5842B5D-E42A-4E9E-91FF-02E790A20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3B65B5-292E-43DC-A0BC-1BCB37997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D7369-C4CC-4B2E-9699-920C08540A0F}" type="datetime1">
              <a:rPr lang="fr-FR" smtClean="0"/>
              <a:t>01/10/2020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3387E2-5A73-4B0C-ADBE-E04ED8566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DAB22F-BC3A-462A-A53E-332B3094F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C899C-3B3F-4D8C-9B79-44D8AEB6E9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28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E050C72-566F-4171-848A-F1F901F95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7EAB97-037D-4BD9-80D2-73615BE74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C89C5C-E364-4934-9DFE-F2AAB842C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3826D-AF7A-46CC-BB61-DBE78A1A3D0E}" type="datetime1">
              <a:rPr lang="fr-FR" smtClean="0"/>
              <a:t>01/10/2020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C62F45-D505-4547-88F8-4BFB84375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Droits réservés - Louise Overbeek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ACE0B7-870C-4C0C-A1C5-A93D49365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C899C-3B3F-4D8C-9B79-44D8AEB6E9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792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1A8B73-EE83-4397-B589-B851EC73F5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IFRS 2 – Paiement fondé sur des actions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C14058-18C7-45C4-B29C-62749D373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88220"/>
            <a:ext cx="9144000" cy="1447417"/>
          </a:xfrm>
        </p:spPr>
        <p:txBody>
          <a:bodyPr>
            <a:normAutofit/>
          </a:bodyPr>
          <a:lstStyle/>
          <a:p>
            <a:endParaRPr lang="fr-CA" dirty="0"/>
          </a:p>
          <a:p>
            <a:r>
              <a:rPr lang="fr-FR" dirty="0"/>
              <a:t>Louise Overbeek</a:t>
            </a:r>
          </a:p>
          <a:p>
            <a:r>
              <a:rPr lang="fr-FR" dirty="0"/>
              <a:t>Octobre 2020</a:t>
            </a:r>
          </a:p>
        </p:txBody>
      </p:sp>
    </p:spTree>
    <p:extLst>
      <p:ext uri="{BB962C8B-B14F-4D97-AF65-F5344CB8AC3E}">
        <p14:creationId xmlns:p14="http://schemas.microsoft.com/office/powerpoint/2010/main" val="2116683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EFD07C-12BF-4853-998D-9BD51CB3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517F95-1B02-4E0E-A5CC-59FE01099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Rappel des notions pour ceux qui le souhaitent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A13A176-B220-4EDE-B3C2-0BEC754A6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CDEB81-82E9-4994-8301-030E8D5DA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C899C-3B3F-4D8C-9B79-44D8AEB6E92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7202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Les plans de rémunération </a:t>
            </a:r>
            <a:br>
              <a:rPr lang="fr-CA" dirty="0"/>
            </a:br>
            <a:r>
              <a:rPr lang="fr-CA" dirty="0"/>
              <a:t>fondés sur des actions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794511"/>
            <a:ext cx="10515600" cy="4331653"/>
          </a:xfrm>
        </p:spPr>
        <p:txBody>
          <a:bodyPr/>
          <a:lstStyle/>
          <a:p>
            <a:r>
              <a:rPr lang="fr-CA" dirty="0"/>
              <a:t>Outil de rétention pour les haut-dirigeants (et autres employés) et les membres du conseil d’administration</a:t>
            </a:r>
          </a:p>
          <a:p>
            <a:pPr lvl="1"/>
            <a:r>
              <a:rPr lang="fr-CA" dirty="0"/>
              <a:t>Alignement des objectifs avec ceux des actionnaires</a:t>
            </a:r>
          </a:p>
          <a:p>
            <a:pPr lvl="1"/>
            <a:endParaRPr lang="fr-CA" dirty="0"/>
          </a:p>
          <a:p>
            <a:pPr marL="457200" lvl="1" indent="0">
              <a:buNone/>
            </a:pPr>
            <a:r>
              <a:rPr lang="fr-CA" dirty="0"/>
              <a:t>Différentes formes, par exemple : </a:t>
            </a:r>
          </a:p>
          <a:p>
            <a:pPr lvl="1"/>
            <a:r>
              <a:rPr lang="fr-CA" dirty="0"/>
              <a:t>Options d’achat d’actions</a:t>
            </a:r>
          </a:p>
          <a:p>
            <a:pPr lvl="2"/>
            <a:r>
              <a:rPr lang="fr-CA" dirty="0"/>
              <a:t>Si exerce, doit investir $ pour obtenir des actions de la société</a:t>
            </a:r>
          </a:p>
          <a:p>
            <a:pPr lvl="1"/>
            <a:r>
              <a:rPr lang="fr-CA" dirty="0"/>
              <a:t>Droit à la plus-value du cours (de la valeur) des actions</a:t>
            </a:r>
          </a:p>
          <a:p>
            <a:pPr lvl="2"/>
            <a:r>
              <a:rPr lang="fr-CA" dirty="0"/>
              <a:t>Obtient $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E3A7D7-492A-4409-BFA0-74A815F5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791859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000" dirty="0"/>
              <a:t>Plan de rémunération fondée sur des actions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sz="2400" dirty="0"/>
              <a:t>Accord conclu entre l’entreprise et un membre du personnel</a:t>
            </a:r>
          </a:p>
          <a:p>
            <a:r>
              <a:rPr lang="fr-CA" sz="2400" dirty="0"/>
              <a:t>Donne droit de recevoir de la trésorerie ou d’autres actifs</a:t>
            </a:r>
          </a:p>
          <a:p>
            <a:r>
              <a:rPr lang="fr-CA" sz="2400" dirty="0"/>
              <a:t>Montant fondé sur le cours ou la juste valeur de titres de capitaux propres de l’entreprise</a:t>
            </a:r>
          </a:p>
          <a:p>
            <a:r>
              <a:rPr lang="fr-CA" sz="2400" dirty="0"/>
              <a:t>OU de recevoir des titres de capitaux propres de l’entreprise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A" sz="2400" dirty="0"/>
              <a:t>Conditions d’acquisition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dirty="0"/>
              <a:t>La rémunération est comptabilisée pendant la période d’acquisition des droits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dirty="0"/>
              <a:t>Période (ex : 3 ans) et/ou objectifs de performance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CA9E30-3663-4553-90C6-970CE8BC5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3274090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600" dirty="0"/>
              <a:t>Dates pertinentes dans un </a:t>
            </a:r>
            <a:br>
              <a:rPr lang="fr-CA" sz="3600" dirty="0"/>
            </a:br>
            <a:r>
              <a:rPr lang="fr-CA" sz="3600" dirty="0"/>
              <a:t>plan de rémunération fondé sur des actions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Date d’attribution</a:t>
            </a:r>
          </a:p>
          <a:p>
            <a:pPr lvl="1"/>
            <a:r>
              <a:rPr lang="fr-CA" dirty="0"/>
              <a:t>Options : Mention du nombre d’options, du prix d’exercices et des diverses conditions à rencontrer</a:t>
            </a:r>
          </a:p>
          <a:p>
            <a:pPr lvl="1"/>
            <a:r>
              <a:rPr lang="fr-CA" dirty="0"/>
              <a:t>Trésorerie : montant serait basé sur l’écart de valeur du titre entre deux dates</a:t>
            </a:r>
          </a:p>
          <a:p>
            <a:r>
              <a:rPr lang="fr-CA" dirty="0"/>
              <a:t>Date d’acquisition des droits</a:t>
            </a:r>
          </a:p>
          <a:p>
            <a:pPr lvl="1"/>
            <a:r>
              <a:rPr lang="fr-CA" dirty="0"/>
              <a:t>Détermination du nombre d’options « gagnées » </a:t>
            </a:r>
          </a:p>
          <a:p>
            <a:pPr lvl="1"/>
            <a:r>
              <a:rPr lang="fr-CA" dirty="0"/>
              <a:t>Peut exercer les options / reçoit $</a:t>
            </a:r>
          </a:p>
          <a:p>
            <a:r>
              <a:rPr lang="fr-CA" dirty="0"/>
              <a:t>Date d’expiration des droits</a:t>
            </a:r>
          </a:p>
          <a:p>
            <a:pPr lvl="1"/>
            <a:r>
              <a:rPr lang="fr-CA" dirty="0"/>
              <a:t>Fin de la fenêtre d’exercice des options. Les options non exercées sont « perdues »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08CD57-9C7F-486F-AA23-900CBD4DB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2829840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200" dirty="0"/>
              <a:t>Plan de rémunération fondé sur des actions</a:t>
            </a:r>
            <a:endParaRPr lang="fr-CA" sz="3600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1981200" y="1600200"/>
          <a:ext cx="82296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Règlement</a:t>
                      </a:r>
                      <a:r>
                        <a:rPr lang="fr-CA" baseline="0" dirty="0"/>
                        <a:t> en titres de capitaux propres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Règlement en trésorerie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A" dirty="0"/>
                    </a:p>
                    <a:p>
                      <a:r>
                        <a:rPr lang="fr-CA" dirty="0"/>
                        <a:t>Charge de rémunération</a:t>
                      </a:r>
                    </a:p>
                    <a:p>
                      <a:r>
                        <a:rPr lang="fr-CA" dirty="0"/>
                        <a:t>@  </a:t>
                      </a:r>
                      <a:r>
                        <a:rPr lang="fr-CA" dirty="0">
                          <a:solidFill>
                            <a:srgbClr val="FF0000"/>
                          </a:solidFill>
                        </a:rPr>
                        <a:t>Capitaux propres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dirty="0"/>
                    </a:p>
                    <a:p>
                      <a:r>
                        <a:rPr lang="fr-CA" dirty="0"/>
                        <a:t>Charge de rémunération</a:t>
                      </a:r>
                    </a:p>
                    <a:p>
                      <a:r>
                        <a:rPr lang="fr-CA" dirty="0"/>
                        <a:t>@</a:t>
                      </a:r>
                      <a:r>
                        <a:rPr lang="fr-CA" baseline="0" dirty="0"/>
                        <a:t>  </a:t>
                      </a:r>
                      <a:r>
                        <a:rPr lang="fr-CA" baseline="0" dirty="0">
                          <a:solidFill>
                            <a:srgbClr val="FF0000"/>
                          </a:solidFill>
                        </a:rPr>
                        <a:t>Passif</a:t>
                      </a:r>
                    </a:p>
                    <a:p>
                      <a:endParaRPr lang="fr-CA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Évaluation à la juste valeur des titres</a:t>
                      </a:r>
                      <a:r>
                        <a:rPr lang="fr-CA" baseline="0" dirty="0"/>
                        <a:t> de capitaux à la date d’attribution </a:t>
                      </a:r>
                    </a:p>
                    <a:p>
                      <a:r>
                        <a:rPr lang="fr-CA" baseline="0" dirty="0">
                          <a:solidFill>
                            <a:srgbClr val="FF0000"/>
                          </a:solidFill>
                        </a:rPr>
                        <a:t>sans ajustement par la suite</a:t>
                      </a:r>
                      <a:endParaRPr lang="fr-CA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Évaluation à la juste valeur du passif,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puis </a:t>
                      </a:r>
                      <a:r>
                        <a:rPr lang="fr-CA" dirty="0">
                          <a:solidFill>
                            <a:srgbClr val="FF0000"/>
                          </a:solidFill>
                        </a:rPr>
                        <a:t>réévaluation</a:t>
                      </a:r>
                      <a:r>
                        <a:rPr lang="fr-CA" dirty="0"/>
                        <a:t> à chaque date de clôture et à la date de règlement</a:t>
                      </a:r>
                    </a:p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endParaRPr lang="fr-CA" i="1" dirty="0"/>
                    </a:p>
                    <a:p>
                      <a:pPr algn="ctr"/>
                      <a:r>
                        <a:rPr lang="fr-CA" i="1" dirty="0"/>
                        <a:t>La rémunération est comptabilisée pendant la période d’acquisition des droits</a:t>
                      </a:r>
                    </a:p>
                    <a:p>
                      <a:pPr algn="ctr"/>
                      <a:r>
                        <a:rPr lang="fr-CA" i="1" dirty="0"/>
                        <a:t>Ajustement</a:t>
                      </a:r>
                      <a:r>
                        <a:rPr lang="fr-CA" i="1" baseline="0" dirty="0"/>
                        <a:t>s prospectifs</a:t>
                      </a:r>
                      <a:endParaRPr lang="fr-CA" i="1" dirty="0"/>
                    </a:p>
                    <a:p>
                      <a:pPr algn="ctr"/>
                      <a:endParaRPr lang="fr-CA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B350E07-869E-4D53-BFD4-47871181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614969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600" b="1" dirty="0"/>
              <a:t>Plans prévoyant un règlement en titres de capitaux propres</a:t>
            </a:r>
            <a:endParaRPr lang="fr-CA" sz="4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765738"/>
            <a:ext cx="10515600" cy="4590612"/>
          </a:xfrm>
        </p:spPr>
        <p:txBody>
          <a:bodyPr>
            <a:normAutofit fontScale="92500" lnSpcReduction="20000"/>
          </a:bodyPr>
          <a:lstStyle/>
          <a:p>
            <a:r>
              <a:rPr lang="fr-CA" dirty="0"/>
              <a:t>A) Plans d’actions : attribution d’actions</a:t>
            </a:r>
          </a:p>
          <a:p>
            <a:pPr lvl="1"/>
            <a:r>
              <a:rPr lang="fr-CA" dirty="0"/>
              <a:t>Mesure : juste valeur des actions</a:t>
            </a:r>
          </a:p>
          <a:p>
            <a:pPr lvl="2"/>
            <a:r>
              <a:rPr lang="fr-CA" dirty="0"/>
              <a:t>Juste valeur réduite des dividendes attendus pendant la période d’acquisition des droits</a:t>
            </a:r>
          </a:p>
          <a:p>
            <a:pPr lvl="2"/>
            <a:r>
              <a:rPr lang="fr-CA" dirty="0"/>
              <a:t>Charge – rémunération				Capitaux propres – Plan d’actions</a:t>
            </a:r>
          </a:p>
          <a:p>
            <a:pPr marL="914400" lvl="2" indent="0">
              <a:buNone/>
            </a:pPr>
            <a:r>
              <a:rPr lang="fr-CA" dirty="0"/>
              <a:t>     @ Capitaux propres – Plan d’actions		@ Actions ordinaires</a:t>
            </a:r>
          </a:p>
          <a:p>
            <a:endParaRPr lang="fr-CA" dirty="0"/>
          </a:p>
          <a:p>
            <a:r>
              <a:rPr lang="fr-CA" dirty="0"/>
              <a:t>B) Plans d’options sur actions</a:t>
            </a:r>
          </a:p>
          <a:p>
            <a:pPr lvl="1"/>
            <a:r>
              <a:rPr lang="fr-CA" dirty="0"/>
              <a:t>Mesure : juste valeur des options à la date d’attribution, sans ajustement subséquent</a:t>
            </a:r>
          </a:p>
          <a:p>
            <a:endParaRPr lang="fr-CA" dirty="0"/>
          </a:p>
          <a:p>
            <a:pPr>
              <a:buFont typeface="Wingdings" panose="05000000000000000000" pitchFamily="2" charset="2"/>
              <a:buChar char="Ø"/>
            </a:pPr>
            <a:r>
              <a:rPr lang="fr-CA" dirty="0"/>
              <a:t>Rémunération est évaluée à la juste valeur des titres de capitaux propres à la date d’attribution, sans ajustement subséquent, et la rémunération est comptabilisée pendant toute la période d’acquisition des droits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dirty="0"/>
              <a:t>Section capitaux propres : valeur comptable (pas de réévaluation)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7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2E69AC-6E0F-425D-BF0B-05E58922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159424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3600" dirty="0"/>
              <a:t>Juste valeur des options sur action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Modèle Black-</a:t>
            </a:r>
            <a:r>
              <a:rPr lang="fr-CA" dirty="0" err="1"/>
              <a:t>Scholes</a:t>
            </a:r>
            <a:r>
              <a:rPr lang="fr-CA" dirty="0"/>
              <a:t>-Merton ou modèles de type binomial</a:t>
            </a:r>
          </a:p>
          <a:p>
            <a:pPr lvl="1"/>
            <a:r>
              <a:rPr lang="fr-CA" dirty="0"/>
              <a:t>Vous n’avez pas à connaître – </a:t>
            </a:r>
            <a:r>
              <a:rPr lang="fr-CA" dirty="0">
                <a:solidFill>
                  <a:srgbClr val="0070C0"/>
                </a:solidFill>
              </a:rPr>
              <a:t>valeur serait donnée</a:t>
            </a:r>
          </a:p>
          <a:p>
            <a:pPr lvl="1"/>
            <a:r>
              <a:rPr lang="fr-CA" dirty="0"/>
              <a:t>Valeur établie à partir des paramètres suivants :</a:t>
            </a:r>
          </a:p>
          <a:p>
            <a:pPr lvl="2"/>
            <a:r>
              <a:rPr lang="fr-CA" dirty="0"/>
              <a:t>Prix d’exercice de l’option</a:t>
            </a:r>
          </a:p>
          <a:p>
            <a:pPr lvl="3"/>
            <a:r>
              <a:rPr lang="fr-CA" dirty="0"/>
              <a:t>Le prix actuel des actions sous-jacentes</a:t>
            </a:r>
          </a:p>
          <a:p>
            <a:pPr lvl="3"/>
            <a:r>
              <a:rPr lang="fr-CA" dirty="0"/>
              <a:t>Les dividendes attendus sur les actions</a:t>
            </a:r>
          </a:p>
          <a:p>
            <a:pPr lvl="2"/>
            <a:r>
              <a:rPr lang="fr-CA" dirty="0"/>
              <a:t>Durée de vie de l’option</a:t>
            </a:r>
          </a:p>
          <a:p>
            <a:pPr lvl="2"/>
            <a:r>
              <a:rPr lang="fr-CA" dirty="0"/>
              <a:t>Volatilité attendue du prix de l’action</a:t>
            </a:r>
          </a:p>
          <a:p>
            <a:pPr lvl="2"/>
            <a:r>
              <a:rPr lang="fr-CA" dirty="0"/>
              <a:t>Taux d’intérêt sans risque pour la durée de vie de l’option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37DE71-462A-4F7A-A39C-936CF5059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646650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3600" dirty="0">
                <a:solidFill>
                  <a:srgbClr val="0070C0"/>
                </a:solidFill>
              </a:rPr>
              <a:t>Si exercice avant l’échéance…</a:t>
            </a:r>
            <a:endParaRPr lang="fr-CA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Alors il n’y a plus de valeur « temps et volatilité » dans les instruments </a:t>
            </a:r>
          </a:p>
          <a:p>
            <a:pPr lvl="1"/>
            <a:r>
              <a:rPr lang="fr-CA" dirty="0"/>
              <a:t>Il faut donc ajuster la JV de la dette pour la portion exercée</a:t>
            </a:r>
          </a:p>
          <a:p>
            <a:pPr lvl="2"/>
            <a:r>
              <a:rPr lang="fr-CA" dirty="0"/>
              <a:t>Illustration MGBDL : </a:t>
            </a:r>
            <a:r>
              <a:rPr lang="fr-CA" dirty="0" err="1"/>
              <a:t>chap</a:t>
            </a:r>
            <a:r>
              <a:rPr lang="fr-CA" dirty="0"/>
              <a:t> 14, problème 4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BC94B0-6FFD-47C8-95FA-58AF7AE43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3446334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3600" dirty="0"/>
              <a:t>Exemple </a:t>
            </a:r>
            <a:r>
              <a:rPr lang="fr-CA" sz="2400" dirty="0"/>
              <a:t>p. 14.34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 sz="2000" dirty="0"/>
              <a:t>Au 1</a:t>
            </a:r>
            <a:r>
              <a:rPr lang="fr-CA" sz="2000" baseline="30000" dirty="0"/>
              <a:t>er</a:t>
            </a:r>
            <a:r>
              <a:rPr lang="fr-CA" sz="2000" dirty="0"/>
              <a:t> </a:t>
            </a:r>
            <a:r>
              <a:rPr lang="fr-CA" sz="2000" dirty="0" err="1"/>
              <a:t>janv</a:t>
            </a:r>
            <a:r>
              <a:rPr lang="fr-CA" sz="2000" dirty="0"/>
              <a:t> X0, mise en place d’un plan d’options sur actions ordinaires</a:t>
            </a:r>
          </a:p>
          <a:p>
            <a:r>
              <a:rPr lang="fr-CA" sz="2000" dirty="0"/>
              <a:t>Nombre d’options attribuées par employé : 		500</a:t>
            </a:r>
          </a:p>
          <a:p>
            <a:r>
              <a:rPr lang="fr-CA" sz="2000" dirty="0"/>
              <a:t>Nombre d’employés touchés par le plan :			100</a:t>
            </a:r>
          </a:p>
          <a:p>
            <a:r>
              <a:rPr lang="fr-CA" sz="2000" dirty="0"/>
              <a:t>Prix d’exercice de chaque option :			40 $</a:t>
            </a:r>
          </a:p>
          <a:p>
            <a:r>
              <a:rPr lang="fr-CA" sz="2000" dirty="0"/>
              <a:t>Période d’acquisition des droits : 				2 ans</a:t>
            </a:r>
          </a:p>
          <a:p>
            <a:r>
              <a:rPr lang="fr-CA" sz="2000" dirty="0"/>
              <a:t>Date d’expiration des droits : 				31 </a:t>
            </a:r>
            <a:r>
              <a:rPr lang="fr-CA" sz="2000" dirty="0" err="1"/>
              <a:t>déc</a:t>
            </a:r>
            <a:r>
              <a:rPr lang="fr-CA" sz="2000" dirty="0"/>
              <a:t> X3</a:t>
            </a:r>
          </a:p>
          <a:p>
            <a:r>
              <a:rPr lang="fr-CA" sz="2000" dirty="0"/>
              <a:t>Nombre de départs prévus : 				5 par année</a:t>
            </a:r>
          </a:p>
          <a:p>
            <a:r>
              <a:rPr lang="fr-CA" sz="2000" dirty="0"/>
              <a:t>Valeur unitaire de l’option : 				6,54 $</a:t>
            </a:r>
          </a:p>
          <a:p>
            <a:endParaRPr lang="fr-CA" sz="2000" dirty="0"/>
          </a:p>
          <a:p>
            <a:r>
              <a:rPr lang="fr-CA" sz="2000" dirty="0"/>
              <a:t>Finalement : 15 départs et 75 employés ont exercé leurs droits</a:t>
            </a:r>
          </a:p>
          <a:p>
            <a:r>
              <a:rPr lang="fr-CA" sz="2000" dirty="0"/>
              <a:t>Prix de l’action s’élevait à 56 $ lors de l’exercice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722921-5404-47CD-AB6B-8459B7746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1778442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3600" dirty="0"/>
              <a:t>Exemple </a:t>
            </a:r>
            <a:r>
              <a:rPr lang="fr-CA" sz="2400" dirty="0"/>
              <a:t>p. 14.34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334814"/>
            <a:ext cx="10515600" cy="50215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CA" sz="2000" dirty="0"/>
              <a:t>31 </a:t>
            </a:r>
            <a:r>
              <a:rPr lang="fr-CA" sz="2000" dirty="0" err="1"/>
              <a:t>déc</a:t>
            </a:r>
            <a:r>
              <a:rPr lang="fr-CA" sz="2000" dirty="0"/>
              <a:t> X0</a:t>
            </a:r>
          </a:p>
          <a:p>
            <a:pPr marL="0" indent="0">
              <a:buNone/>
            </a:pPr>
            <a:r>
              <a:rPr lang="fr-CA" sz="2000" dirty="0"/>
              <a:t>Charge – rémunération			147 150		</a:t>
            </a:r>
          </a:p>
          <a:p>
            <a:pPr marL="0" indent="0">
              <a:buNone/>
            </a:pPr>
            <a:r>
              <a:rPr lang="fr-CA" sz="2000" dirty="0"/>
              <a:t>@ Capitaux propres – Plan d’options sur actions		147 150</a:t>
            </a:r>
          </a:p>
          <a:p>
            <a:pPr marL="0" indent="0">
              <a:buNone/>
            </a:pPr>
            <a:r>
              <a:rPr lang="fr-CA" sz="2000" i="1" dirty="0"/>
              <a:t>(90 employés (10 départs) * 500 options * 6,54 = sur deux ans)</a:t>
            </a:r>
          </a:p>
          <a:p>
            <a:pPr marL="914400" lvl="2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sz="2000" dirty="0"/>
              <a:t>31 </a:t>
            </a:r>
            <a:r>
              <a:rPr lang="fr-CA" sz="2000" dirty="0" err="1"/>
              <a:t>déc</a:t>
            </a:r>
            <a:r>
              <a:rPr lang="fr-CA" sz="2000" dirty="0"/>
              <a:t> X1</a:t>
            </a:r>
          </a:p>
          <a:p>
            <a:pPr marL="0" indent="0">
              <a:buNone/>
            </a:pPr>
            <a:r>
              <a:rPr lang="fr-CA" sz="2000" dirty="0"/>
              <a:t>Charge – rémunération			130 800		</a:t>
            </a:r>
          </a:p>
          <a:p>
            <a:pPr marL="0" indent="0">
              <a:buNone/>
            </a:pPr>
            <a:r>
              <a:rPr lang="fr-CA" sz="2000" dirty="0"/>
              <a:t>@ Capitaux propres – Plan d’options sur actions		130 800</a:t>
            </a:r>
          </a:p>
          <a:p>
            <a:pPr marL="0" indent="0">
              <a:buNone/>
            </a:pPr>
            <a:r>
              <a:rPr lang="fr-CA" sz="2000" i="1" dirty="0"/>
              <a:t>(85 employés (15 départs) * 500 options * 6,54 = 147 150 $ déjà </a:t>
            </a:r>
            <a:r>
              <a:rPr lang="fr-CA" sz="2000" i="1" dirty="0" err="1"/>
              <a:t>compt</a:t>
            </a:r>
            <a:r>
              <a:rPr lang="fr-CA" sz="2000" i="1" dirty="0"/>
              <a:t>)</a:t>
            </a:r>
          </a:p>
          <a:p>
            <a:pPr marL="0" indent="0">
              <a:buNone/>
            </a:pPr>
            <a:endParaRPr lang="fr-CA" sz="2000" dirty="0"/>
          </a:p>
          <a:p>
            <a:pPr marL="0" indent="0">
              <a:buNone/>
            </a:pPr>
            <a:r>
              <a:rPr lang="fr-CA" sz="2000" dirty="0"/>
              <a:t>31 </a:t>
            </a:r>
            <a:r>
              <a:rPr lang="fr-CA" sz="2000" dirty="0" err="1"/>
              <a:t>déc</a:t>
            </a:r>
            <a:r>
              <a:rPr lang="fr-CA" sz="2000" dirty="0"/>
              <a:t> X3 (ou avant)</a:t>
            </a:r>
          </a:p>
          <a:p>
            <a:pPr marL="0" lvl="2" indent="0">
              <a:buNone/>
            </a:pPr>
            <a:r>
              <a:rPr lang="fr-CA" dirty="0"/>
              <a:t>Caisse   </a:t>
            </a:r>
            <a:r>
              <a:rPr lang="fr-CA" sz="1600" i="1" dirty="0"/>
              <a:t>(75 employés * 500 options * 40 $/</a:t>
            </a:r>
            <a:r>
              <a:rPr lang="fr-CA" sz="1600" i="1" dirty="0" err="1"/>
              <a:t>opt</a:t>
            </a:r>
            <a:r>
              <a:rPr lang="fr-CA" sz="1600" i="1" dirty="0"/>
              <a:t>)		</a:t>
            </a:r>
            <a:r>
              <a:rPr lang="fr-CA" dirty="0"/>
              <a:t>1 500 000   </a:t>
            </a:r>
          </a:p>
          <a:p>
            <a:pPr marL="0" lvl="2" indent="0">
              <a:buNone/>
            </a:pPr>
            <a:r>
              <a:rPr lang="fr-CA" dirty="0"/>
              <a:t>Capitaux propres – Plan d’options sur actions	   245 250    </a:t>
            </a:r>
            <a:r>
              <a:rPr lang="fr-CA" sz="1600" i="1" dirty="0"/>
              <a:t>(277 950 * 75/85)</a:t>
            </a:r>
            <a:endParaRPr lang="fr-CA" dirty="0"/>
          </a:p>
          <a:p>
            <a:pPr marL="0" lvl="2" indent="0">
              <a:buNone/>
            </a:pPr>
            <a:r>
              <a:rPr lang="fr-CA" dirty="0"/>
              <a:t>@ Actions ordinaires					1 745 250</a:t>
            </a:r>
          </a:p>
          <a:p>
            <a:pPr marL="0" lvl="2" indent="0">
              <a:buNone/>
            </a:pPr>
            <a:endParaRPr lang="fr-CA" dirty="0"/>
          </a:p>
          <a:p>
            <a:pPr marL="0" lvl="2" indent="0">
              <a:buNone/>
            </a:pPr>
            <a:r>
              <a:rPr lang="fr-CA" dirty="0"/>
              <a:t>Capitaux propres – Plan d’options sur actions	   32 700    </a:t>
            </a:r>
            <a:r>
              <a:rPr lang="fr-CA" sz="1600" i="1" dirty="0"/>
              <a:t>(277 950 – 245 250)</a:t>
            </a:r>
            <a:endParaRPr lang="fr-CA" dirty="0"/>
          </a:p>
          <a:p>
            <a:pPr marL="0" lvl="2" indent="0">
              <a:buNone/>
            </a:pPr>
            <a:r>
              <a:rPr lang="fr-CA" dirty="0"/>
              <a:t>@ Résultats non distribués				32 700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29BAA2-F180-4663-BA17-7787A788B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1107594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600" b="1" dirty="0"/>
              <a:t>Plans prévoyant un règlement en trésorerie</a:t>
            </a:r>
            <a:endParaRPr lang="fr-CA" sz="4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Droits à l’appréciation d’actions</a:t>
            </a:r>
          </a:p>
          <a:p>
            <a:pPr lvl="1"/>
            <a:r>
              <a:rPr lang="fr-CA" dirty="0"/>
              <a:t>Paiements fondés sur l’augmentation du prix de l’action</a:t>
            </a:r>
          </a:p>
          <a:p>
            <a:r>
              <a:rPr lang="fr-CA" dirty="0"/>
              <a:t>Plans d’actions fictives</a:t>
            </a:r>
          </a:p>
          <a:p>
            <a:pPr lvl="1"/>
            <a:r>
              <a:rPr lang="fr-CA" dirty="0"/>
              <a:t>Paiements fondés sur la valeur des actions</a:t>
            </a:r>
          </a:p>
          <a:p>
            <a:pPr lvl="1"/>
            <a:endParaRPr lang="fr-CA" dirty="0"/>
          </a:p>
          <a:p>
            <a:pPr marL="457200" lvl="1" indent="0">
              <a:buNone/>
            </a:pPr>
            <a:r>
              <a:rPr lang="fr-CA" sz="2000" dirty="0"/>
              <a:t>Rémunération fondée sur des actions </a:t>
            </a:r>
            <a:r>
              <a:rPr lang="fr-CA" sz="2000" i="1" dirty="0"/>
              <a:t>(charge)</a:t>
            </a:r>
          </a:p>
          <a:p>
            <a:pPr marL="457200" lvl="1" indent="0">
              <a:buNone/>
            </a:pPr>
            <a:r>
              <a:rPr lang="fr-CA" sz="2000" dirty="0"/>
              <a:t>@ Dette liée à la rémunération fondée sur des actions </a:t>
            </a:r>
            <a:r>
              <a:rPr lang="fr-CA" sz="2000" i="1" dirty="0"/>
              <a:t>(passif)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0B24FC-8E68-46CB-B406-3798639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2537180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3600" dirty="0"/>
              <a:t>Exemple</a:t>
            </a:r>
            <a:r>
              <a:rPr lang="fr-CA" dirty="0"/>
              <a:t> </a:t>
            </a:r>
            <a:r>
              <a:rPr lang="fr-CA" sz="2000" dirty="0"/>
              <a:t>p. 14.36</a:t>
            </a:r>
            <a:endParaRPr lang="fr-CA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sz="2000" dirty="0"/>
              <a:t>Au 1</a:t>
            </a:r>
            <a:r>
              <a:rPr lang="fr-CA" sz="2000" baseline="30000" dirty="0"/>
              <a:t>er</a:t>
            </a:r>
            <a:r>
              <a:rPr lang="fr-CA" sz="2000" dirty="0"/>
              <a:t> </a:t>
            </a:r>
            <a:r>
              <a:rPr lang="fr-CA" sz="2000" dirty="0" err="1"/>
              <a:t>janv</a:t>
            </a:r>
            <a:r>
              <a:rPr lang="fr-CA" sz="2000" dirty="0"/>
              <a:t> X2, mise en place d’un plan de droits à l’appréciation d’actions</a:t>
            </a:r>
          </a:p>
          <a:p>
            <a:r>
              <a:rPr lang="fr-CA" sz="2000" dirty="0"/>
              <a:t>5 000 droits à 5 dirigeants</a:t>
            </a:r>
          </a:p>
          <a:p>
            <a:r>
              <a:rPr lang="fr-CA" sz="2000" dirty="0"/>
              <a:t>Prix de l’action à la date d’attribution : 15 $</a:t>
            </a:r>
          </a:p>
          <a:p>
            <a:r>
              <a:rPr lang="fr-CA" sz="2000" dirty="0"/>
              <a:t>Date d’acquisition : 1 </a:t>
            </a:r>
            <a:r>
              <a:rPr lang="fr-CA" sz="2000" dirty="0" err="1"/>
              <a:t>janv</a:t>
            </a:r>
            <a:r>
              <a:rPr lang="fr-CA" sz="2000" dirty="0"/>
              <a:t> X5</a:t>
            </a:r>
          </a:p>
          <a:p>
            <a:r>
              <a:rPr lang="fr-CA" sz="2000" dirty="0"/>
              <a:t>Date d’expiration des droits : 31 </a:t>
            </a:r>
            <a:r>
              <a:rPr lang="fr-CA" sz="2000" dirty="0" err="1"/>
              <a:t>déc</a:t>
            </a:r>
            <a:r>
              <a:rPr lang="fr-CA" sz="2000" dirty="0"/>
              <a:t> X8</a:t>
            </a:r>
          </a:p>
          <a:p>
            <a:endParaRPr lang="fr-CA" sz="2000" dirty="0"/>
          </a:p>
          <a:p>
            <a:pPr marL="0" indent="0">
              <a:buNone/>
            </a:pPr>
            <a:endParaRPr lang="fr-CA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13</a:t>
            </a:fld>
            <a:endParaRPr lang="fr-FR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279771"/>
              </p:ext>
            </p:extLst>
          </p:nvPr>
        </p:nvGraphicFramePr>
        <p:xfrm>
          <a:off x="2047678" y="3797300"/>
          <a:ext cx="7768784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3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3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43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01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JV /</a:t>
                      </a:r>
                      <a:r>
                        <a:rPr lang="fr-CA" sz="1600" baseline="0" dirty="0"/>
                        <a:t> unité </a:t>
                      </a:r>
                      <a:r>
                        <a:rPr lang="fr-CA" sz="1600" dirty="0"/>
                        <a:t>des droits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Rémunération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Charge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Estimation totale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Ratio à ce jour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Total imputé à ce jour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X4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150 000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50 000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50 000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225 000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2/3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150 000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100 000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125 000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3/3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125 000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(25</a:t>
                      </a:r>
                      <a:r>
                        <a:rPr lang="fr-CA" sz="1600" baseline="0" dirty="0"/>
                        <a:t> 000)</a:t>
                      </a:r>
                      <a:endParaRPr lang="fr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B45329-BC63-4C2A-BDCE-E0464D23C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425267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3600" dirty="0"/>
              <a:t>Exemple</a:t>
            </a:r>
            <a:r>
              <a:rPr lang="fr-CA" dirty="0"/>
              <a:t> </a:t>
            </a:r>
            <a:r>
              <a:rPr lang="fr-CA" sz="2000" dirty="0"/>
              <a:t>p. 14.36</a:t>
            </a:r>
            <a:endParaRPr lang="fr-CA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CA" sz="2000" dirty="0"/>
              <a:t>31 </a:t>
            </a:r>
            <a:r>
              <a:rPr lang="fr-CA" sz="2000" dirty="0" err="1"/>
              <a:t>déc</a:t>
            </a:r>
            <a:r>
              <a:rPr lang="fr-CA" sz="2000" dirty="0"/>
              <a:t> X2</a:t>
            </a:r>
          </a:p>
          <a:p>
            <a:pPr marL="0" indent="0">
              <a:buNone/>
            </a:pPr>
            <a:r>
              <a:rPr lang="fr-CA" sz="2000" dirty="0"/>
              <a:t>Rémunération fondée sur des actions			50 000</a:t>
            </a:r>
          </a:p>
          <a:p>
            <a:pPr marL="0" indent="0">
              <a:buNone/>
            </a:pPr>
            <a:r>
              <a:rPr lang="fr-CA" sz="2000" dirty="0"/>
              <a:t>@ Dette liée à la </a:t>
            </a:r>
            <a:r>
              <a:rPr lang="fr-CA" sz="2000" dirty="0" err="1"/>
              <a:t>rémun</a:t>
            </a:r>
            <a:r>
              <a:rPr lang="fr-CA" sz="2000" dirty="0"/>
              <a:t> fondée sur des actions			50 000</a:t>
            </a:r>
          </a:p>
          <a:p>
            <a:pPr marL="0" indent="0">
              <a:buNone/>
            </a:pPr>
            <a:endParaRPr lang="fr-CA" sz="2000" dirty="0"/>
          </a:p>
          <a:p>
            <a:pPr marL="0" indent="0">
              <a:buNone/>
            </a:pPr>
            <a:r>
              <a:rPr lang="fr-CA" sz="2000" dirty="0"/>
              <a:t>31 </a:t>
            </a:r>
            <a:r>
              <a:rPr lang="fr-CA" sz="2000" dirty="0" err="1"/>
              <a:t>déc</a:t>
            </a:r>
            <a:r>
              <a:rPr lang="fr-CA" sz="2000" dirty="0"/>
              <a:t> X3</a:t>
            </a:r>
          </a:p>
          <a:p>
            <a:pPr marL="0" indent="0">
              <a:buNone/>
            </a:pPr>
            <a:r>
              <a:rPr lang="fr-CA" sz="2000" dirty="0"/>
              <a:t>Rémunération fondée sur des actions			100 000</a:t>
            </a:r>
          </a:p>
          <a:p>
            <a:pPr marL="0" indent="0">
              <a:buNone/>
            </a:pPr>
            <a:r>
              <a:rPr lang="fr-CA" sz="2000" dirty="0"/>
              <a:t>@ Dette liée à la </a:t>
            </a:r>
            <a:r>
              <a:rPr lang="fr-CA" sz="2000" dirty="0" err="1"/>
              <a:t>rémun</a:t>
            </a:r>
            <a:r>
              <a:rPr lang="fr-CA" sz="2000" dirty="0"/>
              <a:t> fondée sur des actions			100 000</a:t>
            </a:r>
          </a:p>
          <a:p>
            <a:pPr marL="0" indent="0">
              <a:buNone/>
            </a:pPr>
            <a:endParaRPr lang="fr-CA" sz="2000" dirty="0"/>
          </a:p>
          <a:p>
            <a:pPr marL="0" indent="0">
              <a:buNone/>
            </a:pPr>
            <a:r>
              <a:rPr lang="fr-CA" sz="2000" dirty="0"/>
              <a:t>31 </a:t>
            </a:r>
            <a:r>
              <a:rPr lang="fr-CA" sz="2000" dirty="0" err="1"/>
              <a:t>déc</a:t>
            </a:r>
            <a:r>
              <a:rPr lang="fr-CA" sz="2000" dirty="0"/>
              <a:t> X4</a:t>
            </a:r>
          </a:p>
          <a:p>
            <a:pPr marL="0" indent="0">
              <a:buNone/>
            </a:pPr>
            <a:r>
              <a:rPr lang="fr-CA" sz="2000" dirty="0"/>
              <a:t>Dette liée à la </a:t>
            </a:r>
            <a:r>
              <a:rPr lang="fr-CA" sz="2000" dirty="0" err="1"/>
              <a:t>rémun</a:t>
            </a:r>
            <a:r>
              <a:rPr lang="fr-CA" sz="2000" dirty="0"/>
              <a:t> fondée sur des actions 		25 000</a:t>
            </a:r>
          </a:p>
          <a:p>
            <a:pPr marL="0" indent="0">
              <a:buNone/>
            </a:pPr>
            <a:r>
              <a:rPr lang="fr-CA" sz="2000" dirty="0"/>
              <a:t>@ Rémunération fondée sur des actions 				25 000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405B38-15BD-4F1C-9694-F4A21BFE4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3953167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3600" dirty="0"/>
              <a:t>Exemple</a:t>
            </a:r>
            <a:r>
              <a:rPr lang="fr-CA" dirty="0"/>
              <a:t> </a:t>
            </a:r>
            <a:r>
              <a:rPr lang="fr-CA" sz="2000" dirty="0"/>
              <a:t>p. 14.36</a:t>
            </a:r>
            <a:endParaRPr lang="fr-CA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sz="2000" dirty="0"/>
              <a:t>Au 31 </a:t>
            </a:r>
            <a:r>
              <a:rPr lang="fr-CA" sz="2000" dirty="0" err="1"/>
              <a:t>déc</a:t>
            </a:r>
            <a:r>
              <a:rPr lang="fr-CA" sz="2000" dirty="0"/>
              <a:t> X5, juste valeur unitaire des droits : 8 $</a:t>
            </a:r>
          </a:p>
          <a:p>
            <a:r>
              <a:rPr lang="fr-CA" sz="2000" dirty="0"/>
              <a:t>Au 15 mars X6, tous les dirigeants exercent leurs droits alors que le prix des actions est de 22 $</a:t>
            </a:r>
          </a:p>
          <a:p>
            <a:endParaRPr lang="fr-CA" sz="2000" dirty="0"/>
          </a:p>
          <a:p>
            <a:r>
              <a:rPr lang="fr-CA" sz="2000" dirty="0"/>
              <a:t>Écritures X5 et X6?</a:t>
            </a:r>
          </a:p>
          <a:p>
            <a:pPr marL="0" indent="0">
              <a:buNone/>
            </a:pPr>
            <a:endParaRPr lang="fr-CA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80AA8F-E41C-422E-ACEC-E4657F789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4133489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3600" dirty="0"/>
              <a:t>Exemple</a:t>
            </a:r>
            <a:r>
              <a:rPr lang="fr-CA" dirty="0"/>
              <a:t> </a:t>
            </a:r>
            <a:r>
              <a:rPr lang="fr-CA" sz="2000" dirty="0"/>
              <a:t>p. 14.36</a:t>
            </a:r>
            <a:endParaRPr lang="fr-CA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dirty="0"/>
              <a:t>31 </a:t>
            </a:r>
            <a:r>
              <a:rPr lang="fr-CA" sz="2000" dirty="0" err="1"/>
              <a:t>déc</a:t>
            </a:r>
            <a:r>
              <a:rPr lang="fr-CA" sz="2000" dirty="0"/>
              <a:t> X5</a:t>
            </a:r>
          </a:p>
          <a:p>
            <a:pPr marL="0" indent="0">
              <a:buNone/>
            </a:pPr>
            <a:r>
              <a:rPr lang="fr-CA" sz="2000" dirty="0"/>
              <a:t>Rémunération fondée sur des actions			75 000</a:t>
            </a:r>
          </a:p>
          <a:p>
            <a:pPr marL="0" indent="0">
              <a:buNone/>
            </a:pPr>
            <a:r>
              <a:rPr lang="fr-CA" sz="2000" dirty="0"/>
              <a:t>@ Dette liée à la </a:t>
            </a:r>
            <a:r>
              <a:rPr lang="fr-CA" sz="2000" dirty="0" err="1"/>
              <a:t>rémun</a:t>
            </a:r>
            <a:r>
              <a:rPr lang="fr-CA" sz="2000" dirty="0"/>
              <a:t> fondée sur des actions			75 000</a:t>
            </a:r>
          </a:p>
          <a:p>
            <a:pPr marL="0" indent="0">
              <a:buNone/>
            </a:pPr>
            <a:r>
              <a:rPr lang="fr-CA" sz="2000" i="1" dirty="0"/>
              <a:t>(8$ - 5$   * 25 000 options)</a:t>
            </a:r>
          </a:p>
          <a:p>
            <a:pPr marL="0" indent="0">
              <a:buNone/>
            </a:pPr>
            <a:r>
              <a:rPr lang="fr-CA" sz="2000" i="1" dirty="0"/>
              <a:t> </a:t>
            </a:r>
          </a:p>
          <a:p>
            <a:pPr marL="0" indent="0">
              <a:buNone/>
            </a:pPr>
            <a:r>
              <a:rPr lang="fr-CA" sz="2000" dirty="0"/>
              <a:t>31 </a:t>
            </a:r>
            <a:r>
              <a:rPr lang="fr-CA" sz="2000" dirty="0" err="1"/>
              <a:t>déc</a:t>
            </a:r>
            <a:r>
              <a:rPr lang="fr-CA" sz="2000" dirty="0"/>
              <a:t> X6</a:t>
            </a:r>
          </a:p>
          <a:p>
            <a:pPr marL="0" indent="0">
              <a:buNone/>
            </a:pPr>
            <a:r>
              <a:rPr lang="fr-CA" sz="2000" dirty="0"/>
              <a:t>Dette liée à la </a:t>
            </a:r>
            <a:r>
              <a:rPr lang="fr-CA" sz="2000" dirty="0" err="1"/>
              <a:t>rémun</a:t>
            </a:r>
            <a:r>
              <a:rPr lang="fr-CA" sz="2000" dirty="0"/>
              <a:t> fondée sur des actions 		200 000</a:t>
            </a:r>
          </a:p>
          <a:p>
            <a:pPr marL="0" indent="0">
              <a:buNone/>
            </a:pPr>
            <a:r>
              <a:rPr lang="fr-CA" sz="2000" dirty="0"/>
              <a:t>@ Caisse							175 000</a:t>
            </a:r>
          </a:p>
          <a:p>
            <a:pPr marL="0" indent="0">
              <a:buNone/>
            </a:pPr>
            <a:r>
              <a:rPr lang="fr-CA" sz="2000" dirty="0"/>
              <a:t>       Rémunération fondée sur des actions				  25 000</a:t>
            </a:r>
          </a:p>
          <a:p>
            <a:pPr marL="0" indent="0">
              <a:buNone/>
            </a:pPr>
            <a:r>
              <a:rPr lang="fr-CA" sz="2000" i="1" dirty="0"/>
              <a:t>(22$ - 15$   * 25 000 options)</a:t>
            </a:r>
          </a:p>
          <a:p>
            <a:pPr marL="0" indent="0">
              <a:buNone/>
            </a:pPr>
            <a:endParaRPr lang="fr-CA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341F87-3719-4400-B1EE-41D94A24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1340587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600" b="1" dirty="0"/>
              <a:t>Plans offrant un choix de règlement</a:t>
            </a:r>
            <a:endParaRPr lang="fr-CA" sz="4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Choix entre un règlement en trésorerie ou en titres de capitaux propres</a:t>
            </a:r>
          </a:p>
          <a:p>
            <a:pPr lvl="1"/>
            <a:r>
              <a:rPr lang="fr-CA" dirty="0"/>
              <a:t>Si au choix de l’entreprise : passif si entreprise a pour pratique ou pour politique constante de régler en trésorerie ; sinon, capitaux propres</a:t>
            </a:r>
          </a:p>
          <a:p>
            <a:pPr lvl="1"/>
            <a:r>
              <a:rPr lang="fr-CA" dirty="0"/>
              <a:t>Si au choix du membre du personnel : instrument composé passif </a:t>
            </a:r>
            <a:r>
              <a:rPr lang="fr-CA" i="1" dirty="0"/>
              <a:t>(la somme prévue)</a:t>
            </a:r>
            <a:r>
              <a:rPr lang="fr-CA" dirty="0"/>
              <a:t> et capitaux propres </a:t>
            </a:r>
            <a:r>
              <a:rPr lang="fr-CA" i="1" dirty="0"/>
              <a:t>(si une valeur additionnelle est prévue si choix capitaux propres)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17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772424-EFC8-45A0-800B-76839323D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1837774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3600" dirty="0"/>
              <a:t>Exemple</a:t>
            </a:r>
            <a:r>
              <a:rPr lang="fr-CA" dirty="0"/>
              <a:t> </a:t>
            </a:r>
            <a:r>
              <a:rPr lang="fr-CA" sz="2000" dirty="0"/>
              <a:t>p. 14.39</a:t>
            </a:r>
            <a:endParaRPr lang="fr-CA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A" sz="2000" dirty="0"/>
              <a:t>Au 1</a:t>
            </a:r>
            <a:r>
              <a:rPr lang="fr-CA" sz="2000" baseline="30000" dirty="0"/>
              <a:t>er</a:t>
            </a:r>
            <a:r>
              <a:rPr lang="fr-CA" sz="2000" dirty="0"/>
              <a:t> </a:t>
            </a:r>
            <a:r>
              <a:rPr lang="fr-CA" sz="2000" dirty="0" err="1"/>
              <a:t>janv</a:t>
            </a:r>
            <a:r>
              <a:rPr lang="fr-CA" sz="2000" dirty="0"/>
              <a:t> X2, mise en place d’un plan de droits de recevoir soit 2 000 actions fictives (droit à un paiement en trésorerie égal à la valeur de 2 000 actions), soit 2 400 actions ordinaires</a:t>
            </a:r>
          </a:p>
          <a:p>
            <a:r>
              <a:rPr lang="fr-CA" sz="2000" dirty="0"/>
              <a:t>Période d’acquisition : 3 ans</a:t>
            </a:r>
          </a:p>
          <a:p>
            <a:r>
              <a:rPr lang="fr-CA" sz="2000" dirty="0"/>
              <a:t>À la date d’attribution, prix de l’action est 25 $</a:t>
            </a:r>
          </a:p>
          <a:p>
            <a:pPr lvl="1"/>
            <a:r>
              <a:rPr lang="fr-CA" sz="1600" dirty="0"/>
              <a:t>Au 31 </a:t>
            </a:r>
            <a:r>
              <a:rPr lang="fr-CA" sz="1600" dirty="0" err="1"/>
              <a:t>déc</a:t>
            </a:r>
            <a:r>
              <a:rPr lang="fr-CA" sz="1600" dirty="0"/>
              <a:t> X2 : 28 $</a:t>
            </a:r>
          </a:p>
          <a:p>
            <a:pPr lvl="1"/>
            <a:r>
              <a:rPr lang="fr-CA" sz="1600" dirty="0"/>
              <a:t>Au 31 </a:t>
            </a:r>
            <a:r>
              <a:rPr lang="fr-CA" sz="1600" dirty="0" err="1"/>
              <a:t>déc</a:t>
            </a:r>
            <a:r>
              <a:rPr lang="fr-CA" sz="1600" dirty="0"/>
              <a:t> X3 : 30 $</a:t>
            </a:r>
          </a:p>
          <a:p>
            <a:pPr lvl="1"/>
            <a:r>
              <a:rPr lang="fr-CA" sz="1600" dirty="0"/>
              <a:t>Au 31 </a:t>
            </a:r>
            <a:r>
              <a:rPr lang="fr-CA" sz="1600" dirty="0" err="1"/>
              <a:t>déc</a:t>
            </a:r>
            <a:r>
              <a:rPr lang="fr-CA" sz="1600" dirty="0"/>
              <a:t> X4 : 31 $</a:t>
            </a:r>
            <a:endParaRPr lang="fr-CA" sz="2000" dirty="0"/>
          </a:p>
          <a:p>
            <a:pPr marL="457200" lvl="1" indent="0">
              <a:buNone/>
            </a:pPr>
            <a:endParaRPr lang="fr-CA" sz="2000" dirty="0"/>
          </a:p>
          <a:p>
            <a:pPr marL="342900" lvl="1" indent="-342900"/>
            <a:r>
              <a:rPr lang="fr-CA" sz="2000" dirty="0"/>
              <a:t>À la date d’attribution, juste valeur du choix « actions fictives » : 50 000 $ </a:t>
            </a:r>
          </a:p>
          <a:p>
            <a:pPr marL="0" lvl="1" indent="0">
              <a:buNone/>
            </a:pPr>
            <a:r>
              <a:rPr lang="fr-CA" sz="2000" i="1" dirty="0"/>
              <a:t>	(2 000 actions fictives * 25 $). </a:t>
            </a:r>
          </a:p>
          <a:p>
            <a:pPr marL="342900" lvl="1" indent="-342900"/>
            <a:r>
              <a:rPr lang="fr-CA" sz="2000" dirty="0"/>
              <a:t>La juste valeur du choix « actions » : 60 000 $ </a:t>
            </a:r>
            <a:r>
              <a:rPr lang="fr-CA" sz="2000" i="1" dirty="0"/>
              <a:t>(2 400 * 25 $)</a:t>
            </a:r>
          </a:p>
          <a:p>
            <a:pPr marL="342900" lvl="1" indent="-342900"/>
            <a:endParaRPr lang="fr-CA" sz="2000" i="1" dirty="0"/>
          </a:p>
          <a:p>
            <a:pPr marL="742950" lvl="2" indent="-342900"/>
            <a:r>
              <a:rPr lang="fr-CA" sz="1700" i="1" dirty="0"/>
              <a:t>Juste valeur passif : 50 000 $</a:t>
            </a:r>
          </a:p>
          <a:p>
            <a:pPr marL="742950" lvl="2" indent="-342900"/>
            <a:r>
              <a:rPr lang="fr-CA" sz="1700" i="1" dirty="0"/>
              <a:t>Juste valeur capitaux propres : 10 000 $</a:t>
            </a:r>
            <a:endParaRPr lang="fr-CA" sz="1600" dirty="0"/>
          </a:p>
          <a:p>
            <a:pPr marL="0" lvl="1" indent="0">
              <a:buNone/>
            </a:pPr>
            <a:endParaRPr lang="fr-CA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BA4B26-7CEE-4834-A44C-5CECF6D8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1664176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3600" dirty="0"/>
              <a:t>Exemple</a:t>
            </a:r>
            <a:r>
              <a:rPr lang="fr-CA" dirty="0"/>
              <a:t> </a:t>
            </a:r>
            <a:r>
              <a:rPr lang="fr-CA" sz="2000" dirty="0"/>
              <a:t>p. 14.39</a:t>
            </a:r>
            <a:endParaRPr lang="fr-CA" sz="3200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1981200" y="1529080"/>
          <a:ext cx="8229600" cy="376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Année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Détails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Charge de rémunération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Passif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Capitaux propres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2 000 </a:t>
                      </a:r>
                      <a:r>
                        <a:rPr lang="fr-CA" dirty="0" err="1"/>
                        <a:t>act</a:t>
                      </a:r>
                      <a:r>
                        <a:rPr lang="fr-CA" dirty="0"/>
                        <a:t> * 28$ * 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dirty="0"/>
                        <a:t>18 667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dirty="0"/>
                        <a:t>18 667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10 000 $ * 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dirty="0"/>
                        <a:t>3 333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dirty="0"/>
                        <a:t>3 333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2 000 </a:t>
                      </a:r>
                      <a:r>
                        <a:rPr lang="fr-CA" dirty="0" err="1"/>
                        <a:t>act</a:t>
                      </a:r>
                      <a:r>
                        <a:rPr lang="fr-CA" dirty="0"/>
                        <a:t> * 30$ * 2/3</a:t>
                      </a:r>
                    </a:p>
                    <a:p>
                      <a:r>
                        <a:rPr lang="fr-CA" dirty="0"/>
                        <a:t>- 18 667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dirty="0"/>
                        <a:t>21 333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dirty="0"/>
                        <a:t>21 333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10 000 $ * 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3 333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dirty="0"/>
                        <a:t>3 333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2 000 </a:t>
                      </a:r>
                      <a:r>
                        <a:rPr lang="fr-CA" dirty="0" err="1"/>
                        <a:t>act</a:t>
                      </a:r>
                      <a:r>
                        <a:rPr lang="fr-CA" dirty="0"/>
                        <a:t> * 31$ * 3/3</a:t>
                      </a:r>
                    </a:p>
                    <a:p>
                      <a:r>
                        <a:rPr lang="fr-CA" dirty="0"/>
                        <a:t>- (18 667 + 21 333)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dirty="0"/>
                        <a:t>22 000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dirty="0"/>
                        <a:t>22 000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dirty="0"/>
                        <a:t>3</a:t>
                      </a:r>
                      <a:r>
                        <a:rPr lang="fr-CA" baseline="0" dirty="0"/>
                        <a:t> 334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dirty="0"/>
                        <a:t>3 334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b="1" dirty="0"/>
                        <a:t>72 000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b="1" dirty="0"/>
                        <a:t>62 000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A" b="1" dirty="0"/>
                        <a:t>10 000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19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1981200" y="562356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i="1" dirty="0"/>
              <a:t>Réévaluation de la composante passif mais pas de la composante capitaux propres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B5B73BF-A827-4E0B-86EE-982B5E06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2540014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3200" dirty="0"/>
              <a:t>Exemple</a:t>
            </a:r>
            <a:r>
              <a:rPr lang="fr-CA" sz="1800" dirty="0"/>
              <a:t> p. 14.39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CA" sz="2000" dirty="0"/>
              <a:t>31 </a:t>
            </a:r>
            <a:r>
              <a:rPr lang="fr-CA" sz="2000" dirty="0" err="1"/>
              <a:t>déc</a:t>
            </a:r>
            <a:r>
              <a:rPr lang="fr-CA" sz="2000" dirty="0"/>
              <a:t> X2</a:t>
            </a:r>
          </a:p>
          <a:p>
            <a:pPr marL="0" indent="0">
              <a:buNone/>
            </a:pPr>
            <a:r>
              <a:rPr lang="fr-CA" sz="2000" dirty="0"/>
              <a:t>Rémunération fondée sur des actions				22 000</a:t>
            </a:r>
          </a:p>
          <a:p>
            <a:pPr marL="0" indent="0">
              <a:buNone/>
            </a:pPr>
            <a:r>
              <a:rPr lang="fr-CA" sz="2000" dirty="0"/>
              <a:t>@ Dette liée à la rémunération fondée sur des actions			18 667</a:t>
            </a:r>
          </a:p>
          <a:p>
            <a:pPr marL="0" indent="0">
              <a:buNone/>
            </a:pPr>
            <a:r>
              <a:rPr lang="fr-CA" sz="2000" dirty="0"/>
              <a:t>     Capitaux propres – Plan d’actions					  3 333</a:t>
            </a:r>
          </a:p>
          <a:p>
            <a:pPr marL="0" indent="0">
              <a:buNone/>
            </a:pPr>
            <a:endParaRPr lang="fr-CA" sz="2000" dirty="0"/>
          </a:p>
          <a:p>
            <a:pPr marL="0" indent="0">
              <a:buNone/>
            </a:pPr>
            <a:r>
              <a:rPr lang="fr-CA" sz="2000" dirty="0"/>
              <a:t>31 </a:t>
            </a:r>
            <a:r>
              <a:rPr lang="fr-CA" sz="2000" dirty="0" err="1"/>
              <a:t>déc</a:t>
            </a:r>
            <a:r>
              <a:rPr lang="fr-CA" sz="2000" dirty="0"/>
              <a:t> X3</a:t>
            </a:r>
          </a:p>
          <a:p>
            <a:pPr marL="0" indent="0">
              <a:buNone/>
            </a:pPr>
            <a:r>
              <a:rPr lang="fr-CA" sz="2000" dirty="0"/>
              <a:t>Rémunération fondée sur des actions				24 666</a:t>
            </a:r>
          </a:p>
          <a:p>
            <a:pPr marL="0" indent="0">
              <a:buNone/>
            </a:pPr>
            <a:r>
              <a:rPr lang="fr-CA" sz="2000" dirty="0"/>
              <a:t>@ Dette liée à la rémunération fondée sur des actions			21 333</a:t>
            </a:r>
          </a:p>
          <a:p>
            <a:pPr marL="0" indent="0">
              <a:buNone/>
            </a:pPr>
            <a:r>
              <a:rPr lang="fr-CA" sz="2000" dirty="0"/>
              <a:t>     Capitaux propres – Plan d’actions					  3 333</a:t>
            </a:r>
          </a:p>
          <a:p>
            <a:pPr marL="0" indent="0">
              <a:buNone/>
            </a:pPr>
            <a:endParaRPr lang="fr-CA" sz="2000" dirty="0"/>
          </a:p>
          <a:p>
            <a:pPr marL="0" indent="0">
              <a:buNone/>
            </a:pPr>
            <a:r>
              <a:rPr lang="fr-CA" sz="2000" dirty="0"/>
              <a:t>31 </a:t>
            </a:r>
            <a:r>
              <a:rPr lang="fr-CA" sz="2000" dirty="0" err="1"/>
              <a:t>déc</a:t>
            </a:r>
            <a:r>
              <a:rPr lang="fr-CA" sz="2000" dirty="0"/>
              <a:t> X4</a:t>
            </a:r>
          </a:p>
          <a:p>
            <a:pPr marL="0" indent="0">
              <a:buNone/>
            </a:pPr>
            <a:r>
              <a:rPr lang="fr-CA" sz="2000" dirty="0"/>
              <a:t>Rémunération fondée sur des actions				25 334</a:t>
            </a:r>
          </a:p>
          <a:p>
            <a:pPr marL="0" indent="0">
              <a:buNone/>
            </a:pPr>
            <a:r>
              <a:rPr lang="fr-CA" sz="2000" dirty="0"/>
              <a:t>@ Dette liée à la rémunération fondée sur des actions			22 000</a:t>
            </a:r>
          </a:p>
          <a:p>
            <a:pPr marL="0" indent="0">
              <a:buNone/>
            </a:pPr>
            <a:r>
              <a:rPr lang="fr-CA" sz="2000" dirty="0"/>
              <a:t>     Capitaux propres – Plan d’actions					  3 334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F6CAD9-EF4E-4BD1-8572-D55A619D7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984977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3200" dirty="0"/>
              <a:t>Exemple</a:t>
            </a:r>
            <a:r>
              <a:rPr lang="fr-CA" sz="1800" dirty="0"/>
              <a:t> p. 14.39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Présumons que le règlement a lieu le 15 janvier X5, alors que le prix de l’action est 30$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Il faut réévaluer la composante passif</a:t>
            </a:r>
          </a:p>
          <a:p>
            <a:pPr marL="0" indent="0">
              <a:buNone/>
            </a:pPr>
            <a:r>
              <a:rPr lang="fr-CA" dirty="0"/>
              <a:t>A) si optent pour le paiement en trésorerie?</a:t>
            </a:r>
          </a:p>
          <a:p>
            <a:pPr marL="0" indent="0">
              <a:buNone/>
            </a:pPr>
            <a:r>
              <a:rPr lang="fr-CA" dirty="0"/>
              <a:t>B) si optent pour le règlement en capitaux propres?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58A8E9-A35C-4053-9362-2D68B350A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3241005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3200" dirty="0"/>
              <a:t>Exemple</a:t>
            </a:r>
            <a:r>
              <a:rPr lang="fr-CA" sz="1800" dirty="0"/>
              <a:t> p. 14.39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334814"/>
            <a:ext cx="10515600" cy="50215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CA" sz="2000" dirty="0"/>
              <a:t>15 </a:t>
            </a:r>
            <a:r>
              <a:rPr lang="fr-CA" sz="2000" dirty="0" err="1"/>
              <a:t>janv</a:t>
            </a:r>
            <a:r>
              <a:rPr lang="fr-CA" sz="2000" dirty="0"/>
              <a:t> X5</a:t>
            </a:r>
          </a:p>
          <a:p>
            <a:pPr marL="0" indent="0">
              <a:buNone/>
            </a:pPr>
            <a:r>
              <a:rPr lang="fr-CA" sz="2000" dirty="0"/>
              <a:t>Dette liée à la rémunération fondée sur des actions	 	2 000</a:t>
            </a:r>
          </a:p>
          <a:p>
            <a:pPr marL="0" indent="0">
              <a:buNone/>
            </a:pPr>
            <a:r>
              <a:rPr lang="fr-CA" sz="2000" dirty="0"/>
              <a:t>@ Rémunération fondée sur des actions 				2 000</a:t>
            </a:r>
          </a:p>
          <a:p>
            <a:pPr marL="0" indent="0">
              <a:buNone/>
            </a:pPr>
            <a:r>
              <a:rPr lang="fr-CA" sz="2000" i="1" dirty="0"/>
              <a:t>(2000 actions * 30$ = 60 000 $ - 62 000 $ aux livres)</a:t>
            </a:r>
          </a:p>
          <a:p>
            <a:pPr marL="0" indent="0">
              <a:buNone/>
            </a:pPr>
            <a:endParaRPr lang="fr-CA" sz="2000" dirty="0"/>
          </a:p>
          <a:p>
            <a:pPr marL="457200" indent="-457200">
              <a:buAutoNum type="alphaUcParenR"/>
            </a:pPr>
            <a:r>
              <a:rPr lang="fr-CA" sz="2000" dirty="0"/>
              <a:t>Optent pour trésorerie</a:t>
            </a:r>
          </a:p>
          <a:p>
            <a:pPr marL="0" indent="0">
              <a:buNone/>
            </a:pPr>
            <a:r>
              <a:rPr lang="fr-CA" sz="2000" dirty="0"/>
              <a:t>Dette liée à la rémunération fondée sur des actions 		60 000</a:t>
            </a:r>
          </a:p>
          <a:p>
            <a:pPr marL="0" indent="0">
              <a:buNone/>
            </a:pPr>
            <a:r>
              <a:rPr lang="fr-CA" sz="2000" dirty="0"/>
              <a:t>@ Caisse							60 000</a:t>
            </a:r>
          </a:p>
          <a:p>
            <a:pPr marL="0" indent="0">
              <a:buNone/>
            </a:pPr>
            <a:endParaRPr lang="fr-CA" sz="2000" dirty="0"/>
          </a:p>
          <a:p>
            <a:pPr marL="0" indent="0">
              <a:buNone/>
            </a:pPr>
            <a:r>
              <a:rPr lang="fr-CA" sz="2000" dirty="0"/>
              <a:t>Capitaux propres – Plan d’actions			10 000</a:t>
            </a:r>
          </a:p>
          <a:p>
            <a:pPr marL="0" indent="0">
              <a:buNone/>
            </a:pPr>
            <a:r>
              <a:rPr lang="fr-CA" sz="2000" dirty="0"/>
              <a:t>@ RND							10 000</a:t>
            </a:r>
          </a:p>
          <a:p>
            <a:pPr marL="0" indent="0">
              <a:buNone/>
            </a:pPr>
            <a:r>
              <a:rPr lang="fr-CA" sz="2000" dirty="0"/>
              <a:t>			</a:t>
            </a:r>
          </a:p>
          <a:p>
            <a:pPr marL="0" indent="0">
              <a:buNone/>
            </a:pPr>
            <a:r>
              <a:rPr lang="fr-CA" sz="2000" dirty="0"/>
              <a:t>B)  Optent pour capitaux propres</a:t>
            </a:r>
          </a:p>
          <a:p>
            <a:pPr marL="0" indent="0">
              <a:buNone/>
            </a:pPr>
            <a:r>
              <a:rPr lang="fr-CA" sz="2000" dirty="0"/>
              <a:t>Dette liée à la rémunération fondée sur des actions	 	60 000</a:t>
            </a:r>
          </a:p>
          <a:p>
            <a:pPr marL="0" indent="0">
              <a:buNone/>
            </a:pPr>
            <a:r>
              <a:rPr lang="fr-CA" sz="2000" dirty="0"/>
              <a:t>Capitaux propres – Plan d’actions			10 000</a:t>
            </a:r>
          </a:p>
          <a:p>
            <a:pPr marL="0" indent="0">
              <a:buNone/>
            </a:pPr>
            <a:r>
              <a:rPr lang="fr-CA" sz="2000" dirty="0"/>
              <a:t>@ Actions ordinaires						70 000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1C3D37-8746-43A2-9D3C-E52DCC44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3537654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000" b="1" dirty="0"/>
              <a:t>Plans liés à la performance</a:t>
            </a:r>
            <a:endParaRPr lang="fr-CA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Acquisition des droits dépend non seulement de la prestation de services durant une période déterminée, mais également de l’atteinte d’objectifs de performance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dirty="0"/>
              <a:t>Estimation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dirty="0"/>
              <a:t>Ajustement de façon prospective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314FAA-0A3A-463B-8EDA-A28675CDC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4271186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000" b="1" dirty="0"/>
              <a:t>Présentation dans les états financiers</a:t>
            </a:r>
            <a:endParaRPr lang="fr-CA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Information en notes aux états financiers</a:t>
            </a:r>
          </a:p>
          <a:p>
            <a:pPr lvl="1"/>
            <a:r>
              <a:rPr lang="fr-CA" dirty="0"/>
              <a:t>Description des accords</a:t>
            </a:r>
          </a:p>
          <a:p>
            <a:pPr lvl="1"/>
            <a:r>
              <a:rPr lang="fr-CA" dirty="0"/>
              <a:t>Pour les options : info sur exercices d’options pendant la période et soldes des options en fin de période</a:t>
            </a:r>
          </a:p>
          <a:p>
            <a:pPr lvl="2"/>
            <a:r>
              <a:rPr lang="fr-CA" dirty="0"/>
              <a:t>Nombre et prix d’exercice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453A9D-00A4-4165-9904-BB09D31B0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24883850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600" dirty="0"/>
              <a:t>MGBDL </a:t>
            </a:r>
            <a:r>
              <a:rPr lang="fr-CA" sz="3600" dirty="0" err="1"/>
              <a:t>Chap</a:t>
            </a:r>
            <a:r>
              <a:rPr lang="fr-CA" sz="3600" dirty="0"/>
              <a:t> 14, P4</a:t>
            </a:r>
            <a:endParaRPr lang="fr-CA" sz="3600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25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sz="2400" dirty="0"/>
              <a:t>1</a:t>
            </a:r>
            <a:r>
              <a:rPr lang="fr-CA" sz="2400" baseline="30000" dirty="0"/>
              <a:t>er</a:t>
            </a:r>
            <a:r>
              <a:rPr lang="fr-CA" sz="2400" dirty="0"/>
              <a:t> janvier 20x0 choix entre $ ou actions</a:t>
            </a:r>
          </a:p>
          <a:p>
            <a:r>
              <a:rPr lang="fr-CA" sz="2400" dirty="0"/>
              <a:t>Prix d’exercice : 35 $</a:t>
            </a:r>
          </a:p>
          <a:p>
            <a:r>
              <a:rPr lang="fr-CA" sz="2400" dirty="0"/>
              <a:t>75 000 droits, exerçables entre 1er janvier 20x3 au 31 décembre 20x8</a:t>
            </a:r>
          </a:p>
          <a:p>
            <a:r>
              <a:rPr lang="fr-CA" sz="2400" dirty="0"/>
              <a:t>juste valeur à la date d'attribution : 13 $</a:t>
            </a:r>
          </a:p>
          <a:p>
            <a:endParaRPr lang="fr-CA" sz="2400" dirty="0"/>
          </a:p>
          <a:p>
            <a:endParaRPr lang="fr-CA" sz="2400" dirty="0"/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/>
        </p:nvGraphicFramePr>
        <p:xfrm>
          <a:off x="2462213" y="3793650"/>
          <a:ext cx="5501114" cy="2847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Feuille de calcul" r:id="rId3" imgW="4066959" imgH="2105189" progId="Excel.Sheet.12">
                  <p:embed/>
                </p:oleObj>
              </mc:Choice>
              <mc:Fallback>
                <p:oleObj name="Feuille de calcul" r:id="rId3" imgW="4066959" imgH="2105189" progId="Excel.Sheet.12">
                  <p:embed/>
                  <p:pic>
                    <p:nvPicPr>
                      <p:cNvPr id="7" name="Obje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62213" y="3793650"/>
                        <a:ext cx="5501114" cy="28471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011C802-CFFE-4A89-B7E2-6D0F3BDD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3608318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600" dirty="0"/>
              <a:t>MGBDL </a:t>
            </a:r>
            <a:r>
              <a:rPr lang="fr-CA" sz="3600" dirty="0" err="1"/>
              <a:t>Chap</a:t>
            </a:r>
            <a:r>
              <a:rPr lang="fr-CA" sz="3600" dirty="0"/>
              <a:t> 14, P4 - solution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26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838200" y="1314451"/>
            <a:ext cx="10515600" cy="4811713"/>
          </a:xfrm>
        </p:spPr>
        <p:txBody>
          <a:bodyPr/>
          <a:lstStyle/>
          <a:p>
            <a:r>
              <a:rPr lang="fr-CA" sz="2000" dirty="0"/>
              <a:t>1</a:t>
            </a:r>
            <a:r>
              <a:rPr lang="fr-CA" sz="2000" baseline="30000" dirty="0"/>
              <a:t>er</a:t>
            </a:r>
            <a:r>
              <a:rPr lang="fr-CA" sz="2000" dirty="0"/>
              <a:t> janvier 20x0 choix entre $ ou actions</a:t>
            </a:r>
            <a:r>
              <a:rPr lang="fr-CA" sz="2400" dirty="0">
                <a:solidFill>
                  <a:srgbClr val="FF0000"/>
                </a:solidFill>
              </a:rPr>
              <a:t> – CHOIX : donc dette (si possibilité que payable en $), si montant additionnel pour actions, alors cet excédent en capitaux propres)</a:t>
            </a:r>
            <a:endParaRPr lang="fr-CA" sz="2400" dirty="0"/>
          </a:p>
          <a:p>
            <a:r>
              <a:rPr lang="fr-CA" sz="2000" dirty="0"/>
              <a:t>Prix d’exercice : 35 $</a:t>
            </a:r>
          </a:p>
          <a:p>
            <a:r>
              <a:rPr lang="fr-CA" sz="2000" dirty="0"/>
              <a:t>75 000 droits, exerçables entre 1er janvier 20x3 au 31 décembre 20x8</a:t>
            </a:r>
            <a:r>
              <a:rPr lang="fr-CA" sz="2000" dirty="0">
                <a:solidFill>
                  <a:srgbClr val="FF0000"/>
                </a:solidFill>
              </a:rPr>
              <a:t> – donc « gagnés » sur 3 ans</a:t>
            </a:r>
            <a:endParaRPr lang="fr-CA" sz="2000" dirty="0"/>
          </a:p>
          <a:p>
            <a:r>
              <a:rPr lang="fr-CA" sz="2000" dirty="0"/>
              <a:t>juste valeur à la date d'attribution : 13 $</a:t>
            </a:r>
          </a:p>
          <a:p>
            <a:endParaRPr lang="fr-CA" sz="2400" dirty="0"/>
          </a:p>
          <a:p>
            <a:endParaRPr lang="fr-CA" sz="2400" dirty="0"/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/>
        </p:nvGraphicFramePr>
        <p:xfrm>
          <a:off x="2462213" y="3793650"/>
          <a:ext cx="5501114" cy="2847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Feuille de calcul" r:id="rId3" imgW="4066959" imgH="2105189" progId="Excel.Sheet.12">
                  <p:embed/>
                </p:oleObj>
              </mc:Choice>
              <mc:Fallback>
                <p:oleObj name="Feuille de calcul" r:id="rId3" imgW="4066959" imgH="2105189" progId="Excel.Sheet.12">
                  <p:embed/>
                  <p:pic>
                    <p:nvPicPr>
                      <p:cNvPr id="7" name="Obje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62213" y="3793650"/>
                        <a:ext cx="5501114" cy="28471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FAD721-5ABC-4540-96B0-52577324B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1036792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27</a:t>
            </a:fld>
            <a:endParaRPr lang="fr-FR"/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507117"/>
              </p:ext>
            </p:extLst>
          </p:nvPr>
        </p:nvGraphicFramePr>
        <p:xfrm>
          <a:off x="838199" y="1741788"/>
          <a:ext cx="10536637" cy="3692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Feuille de calcul" r:id="rId3" imgW="7667841" imgH="2686050" progId="Excel.Sheet.12">
                  <p:embed/>
                </p:oleObj>
              </mc:Choice>
              <mc:Fallback>
                <p:oleObj name="Feuille de calcul" r:id="rId3" imgW="7667841" imgH="2686050" progId="Excel.Sheet.12">
                  <p:embed/>
                  <p:pic>
                    <p:nvPicPr>
                      <p:cNvPr id="5" name="Obje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199" y="1741788"/>
                        <a:ext cx="10536637" cy="36920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8FD649-04AF-4F2F-A0FA-2F8B35A56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3765153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28</a:t>
            </a:fld>
            <a:endParaRPr lang="fr-FR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233674"/>
              </p:ext>
            </p:extLst>
          </p:nvPr>
        </p:nvGraphicFramePr>
        <p:xfrm>
          <a:off x="838200" y="2052036"/>
          <a:ext cx="10559893" cy="269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Feuille de calcul" r:id="rId3" imgW="9734365" imgH="2486025" progId="Excel.Sheet.12">
                  <p:embed/>
                </p:oleObj>
              </mc:Choice>
              <mc:Fallback>
                <p:oleObj name="Feuille de calcul" r:id="rId3" imgW="9734365" imgH="2486025" progId="Excel.Sheet.12">
                  <p:embed/>
                  <p:pic>
                    <p:nvPicPr>
                      <p:cNvPr id="6" name="Obje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2052036"/>
                        <a:ext cx="10559893" cy="2698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F3467B-35E8-4084-ACD2-F3B3556B1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4180590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29</a:t>
            </a:fld>
            <a:endParaRPr lang="fr-FR"/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566096"/>
              </p:ext>
            </p:extLst>
          </p:nvPr>
        </p:nvGraphicFramePr>
        <p:xfrm>
          <a:off x="928443" y="1954924"/>
          <a:ext cx="10373093" cy="4067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Feuille de calcul" r:id="rId3" imgW="9258423" imgH="3629025" progId="Excel.Sheet.12">
                  <p:embed/>
                </p:oleObj>
              </mc:Choice>
              <mc:Fallback>
                <p:oleObj name="Feuille de calcul" r:id="rId3" imgW="9258423" imgH="3629025" progId="Excel.Sheet.12">
                  <p:embed/>
                  <p:pic>
                    <p:nvPicPr>
                      <p:cNvPr id="7" name="Obje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8443" y="1954924"/>
                        <a:ext cx="10373093" cy="40675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7C8682-9C35-431D-98EF-A0F49C450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25032759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30</a:t>
            </a:fld>
            <a:endParaRPr lang="fr-FR"/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880828"/>
              </p:ext>
            </p:extLst>
          </p:nvPr>
        </p:nvGraphicFramePr>
        <p:xfrm>
          <a:off x="885069" y="2984938"/>
          <a:ext cx="10388481" cy="111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Feuille de calcul" r:id="rId3" imgW="8982229" imgH="962189" progId="Excel.Sheet.12">
                  <p:embed/>
                </p:oleObj>
              </mc:Choice>
              <mc:Fallback>
                <p:oleObj name="Feuille de calcul" r:id="rId3" imgW="8982229" imgH="962189" progId="Excel.Sheet.12">
                  <p:embed/>
                  <p:pic>
                    <p:nvPicPr>
                      <p:cNvPr id="5" name="Obje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5069" y="2984938"/>
                        <a:ext cx="10388481" cy="111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D686CC-A4B3-4B42-8F0C-99A990C42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Droits réservés - Louise Overbeek</a:t>
            </a:r>
          </a:p>
        </p:txBody>
      </p:sp>
    </p:spTree>
    <p:extLst>
      <p:ext uri="{BB962C8B-B14F-4D97-AF65-F5344CB8AC3E}">
        <p14:creationId xmlns:p14="http://schemas.microsoft.com/office/powerpoint/2010/main" val="2292960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2223</Words>
  <Application>Microsoft Office PowerPoint</Application>
  <PresentationFormat>Grand écran</PresentationFormat>
  <Paragraphs>361</Paragraphs>
  <Slides>30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Wingdings</vt:lpstr>
      <vt:lpstr>Thème Office</vt:lpstr>
      <vt:lpstr>Feuille de calcul</vt:lpstr>
      <vt:lpstr>IFRS 2 – Paiement fondé sur des actions</vt:lpstr>
      <vt:lpstr> </vt:lpstr>
      <vt:lpstr>Les plans de rémunération  fondés sur des actions</vt:lpstr>
      <vt:lpstr>Plan de rémunération fondée sur des actions </vt:lpstr>
      <vt:lpstr>Dates pertinentes dans un  plan de rémunération fondé sur des actions</vt:lpstr>
      <vt:lpstr>Plan de rémunération fondé sur des actions</vt:lpstr>
      <vt:lpstr>Plans prévoyant un règlement en titres de capitaux propres</vt:lpstr>
      <vt:lpstr>Juste valeur des options sur action</vt:lpstr>
      <vt:lpstr>Si exercice avant l’échéance…</vt:lpstr>
      <vt:lpstr>Exemple p. 14.34</vt:lpstr>
      <vt:lpstr>Exemple p. 14.34</vt:lpstr>
      <vt:lpstr>Plans prévoyant un règlement en trésorerie</vt:lpstr>
      <vt:lpstr>Exemple p. 14.36</vt:lpstr>
      <vt:lpstr>Exemple p. 14.36</vt:lpstr>
      <vt:lpstr>Exemple p. 14.36</vt:lpstr>
      <vt:lpstr>Exemple p. 14.36</vt:lpstr>
      <vt:lpstr>Plans offrant un choix de règlement</vt:lpstr>
      <vt:lpstr>Exemple p. 14.39</vt:lpstr>
      <vt:lpstr>Exemple p. 14.39</vt:lpstr>
      <vt:lpstr>Exemple p. 14.39</vt:lpstr>
      <vt:lpstr>Exemple p. 14.39</vt:lpstr>
      <vt:lpstr>Exemple p. 14.39</vt:lpstr>
      <vt:lpstr>Plans liés à la performance</vt:lpstr>
      <vt:lpstr>Présentation dans les états financiers</vt:lpstr>
      <vt:lpstr>MGBDL Chap 14, P4</vt:lpstr>
      <vt:lpstr>MGBDL Chap 14, P4 - solution</vt:lpstr>
      <vt:lpstr> 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IFRS 2 – Paiement fondé sur des actions</dc:title>
  <dc:creator>louise overbeek</dc:creator>
  <cp:lastModifiedBy>louise overbeek</cp:lastModifiedBy>
  <cp:revision>3</cp:revision>
  <dcterms:created xsi:type="dcterms:W3CDTF">2020-10-01T17:52:06Z</dcterms:created>
  <dcterms:modified xsi:type="dcterms:W3CDTF">2020-10-01T18:08:06Z</dcterms:modified>
</cp:coreProperties>
</file>