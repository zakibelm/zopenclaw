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omments/modernComment_125_92DA14B9.xml" ContentType="application/vnd.ms-powerpoint.comment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84"/>
  </p:notesMasterIdLst>
  <p:handoutMasterIdLst>
    <p:handoutMasterId r:id="rId85"/>
  </p:handoutMasterIdLst>
  <p:sldIdLst>
    <p:sldId id="257" r:id="rId2"/>
    <p:sldId id="794" r:id="rId3"/>
    <p:sldId id="258" r:id="rId4"/>
    <p:sldId id="374" r:id="rId5"/>
    <p:sldId id="260" r:id="rId6"/>
    <p:sldId id="269" r:id="rId7"/>
    <p:sldId id="270" r:id="rId8"/>
    <p:sldId id="272" r:id="rId9"/>
    <p:sldId id="273" r:id="rId10"/>
    <p:sldId id="276" r:id="rId11"/>
    <p:sldId id="375" r:id="rId12"/>
    <p:sldId id="282" r:id="rId13"/>
    <p:sldId id="283" r:id="rId14"/>
    <p:sldId id="284" r:id="rId15"/>
    <p:sldId id="285" r:id="rId16"/>
    <p:sldId id="286" r:id="rId17"/>
    <p:sldId id="381" r:id="rId18"/>
    <p:sldId id="790" r:id="rId19"/>
    <p:sldId id="287" r:id="rId20"/>
    <p:sldId id="460" r:id="rId21"/>
    <p:sldId id="288" r:id="rId22"/>
    <p:sldId id="791" r:id="rId23"/>
    <p:sldId id="289" r:id="rId24"/>
    <p:sldId id="290" r:id="rId25"/>
    <p:sldId id="292" r:id="rId26"/>
    <p:sldId id="293" r:id="rId27"/>
    <p:sldId id="788" r:id="rId28"/>
    <p:sldId id="294" r:id="rId29"/>
    <p:sldId id="296" r:id="rId30"/>
    <p:sldId id="295" r:id="rId31"/>
    <p:sldId id="297" r:id="rId32"/>
    <p:sldId id="298" r:id="rId33"/>
    <p:sldId id="383" r:id="rId34"/>
    <p:sldId id="299" r:id="rId35"/>
    <p:sldId id="300" r:id="rId36"/>
    <p:sldId id="301" r:id="rId37"/>
    <p:sldId id="302" r:id="rId38"/>
    <p:sldId id="303" r:id="rId39"/>
    <p:sldId id="304" r:id="rId40"/>
    <p:sldId id="376" r:id="rId41"/>
    <p:sldId id="792" r:id="rId42"/>
    <p:sldId id="793" r:id="rId43"/>
    <p:sldId id="377" r:id="rId44"/>
    <p:sldId id="308" r:id="rId45"/>
    <p:sldId id="309" r:id="rId46"/>
    <p:sldId id="373" r:id="rId47"/>
    <p:sldId id="310" r:id="rId48"/>
    <p:sldId id="311" r:id="rId49"/>
    <p:sldId id="312" r:id="rId50"/>
    <p:sldId id="313" r:id="rId51"/>
    <p:sldId id="314" r:id="rId52"/>
    <p:sldId id="315" r:id="rId53"/>
    <p:sldId id="316" r:id="rId54"/>
    <p:sldId id="317" r:id="rId55"/>
    <p:sldId id="321" r:id="rId56"/>
    <p:sldId id="322" r:id="rId57"/>
    <p:sldId id="331" r:id="rId58"/>
    <p:sldId id="332" r:id="rId59"/>
    <p:sldId id="333" r:id="rId60"/>
    <p:sldId id="334" r:id="rId61"/>
    <p:sldId id="335" r:id="rId62"/>
    <p:sldId id="336" r:id="rId63"/>
    <p:sldId id="337" r:id="rId64"/>
    <p:sldId id="338" r:id="rId65"/>
    <p:sldId id="457" r:id="rId66"/>
    <p:sldId id="339" r:id="rId67"/>
    <p:sldId id="341" r:id="rId68"/>
    <p:sldId id="342" r:id="rId69"/>
    <p:sldId id="349" r:id="rId70"/>
    <p:sldId id="350" r:id="rId71"/>
    <p:sldId id="351" r:id="rId72"/>
    <p:sldId id="352" r:id="rId73"/>
    <p:sldId id="353" r:id="rId74"/>
    <p:sldId id="354" r:id="rId75"/>
    <p:sldId id="365" r:id="rId76"/>
    <p:sldId id="366" r:id="rId77"/>
    <p:sldId id="367" r:id="rId78"/>
    <p:sldId id="368" r:id="rId79"/>
    <p:sldId id="369" r:id="rId80"/>
    <p:sldId id="370" r:id="rId81"/>
    <p:sldId id="371" r:id="rId82"/>
    <p:sldId id="372" r:id="rId83"/>
  </p:sldIdLst>
  <p:sldSz cx="12192000" cy="6858000"/>
  <p:notesSz cx="7010400" cy="92964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8FB975C-4C1D-EA33-8340-77B3D970F02F}" name="SOKRI Marzouk" initials="SM" userId="bca8937e5be247ac"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5FD467-8F54-4383-8D7F-EAF9408F55DB}" v="1" dt="2025-02-07T19:15:41.233"/>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75367" autoAdjust="0"/>
  </p:normalViewPr>
  <p:slideViewPr>
    <p:cSldViewPr snapToGrid="0">
      <p:cViewPr varScale="1">
        <p:scale>
          <a:sx n="72" d="100"/>
          <a:sy n="72" d="100"/>
        </p:scale>
        <p:origin x="110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notesMaster" Target="notesMasters/notesMaster1.xml"/><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microsoft.com/office/2015/10/relationships/revisionInfo" Target="revisionInfo.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91"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comments/modernComment_125_92DA14B9.xml><?xml version="1.0" encoding="utf-8"?>
<p188:cmLst xmlns:a="http://schemas.openxmlformats.org/drawingml/2006/main" xmlns:r="http://schemas.openxmlformats.org/officeDocument/2006/relationships" xmlns:p188="http://schemas.microsoft.com/office/powerpoint/2018/8/main">
  <p188:cm id="{749B1B31-C686-4D8C-83D5-F345700D3093}" authorId="{28FB975C-4C1D-EA33-8340-77B3D970F02F}" created="2025-02-11T14:14:51.976">
    <ac:txMkLst xmlns:ac="http://schemas.microsoft.com/office/drawing/2013/main/command">
      <pc:docMk xmlns:pc="http://schemas.microsoft.com/office/powerpoint/2013/main/command"/>
      <pc:sldMk xmlns:pc="http://schemas.microsoft.com/office/powerpoint/2013/main/command" cId="2463765689" sldId="293"/>
      <ac:spMk id="3" creationId="{00000000-0000-0000-0000-000000000000}"/>
      <ac:txMk cp="383" len="85">
        <ac:context len="624" hash="2513040716"/>
      </ac:txMk>
    </ac:txMkLst>
    <p188:pos x="10453577" y="2852701"/>
    <p188:txBody>
      <a:bodyPr/>
      <a:lstStyle/>
      <a:p>
        <a:r>
          <a:rPr lang="fr-CA"/>
          <a:t>Mais on doit mettre une notes au EF donc pour les NCECCF y’a deux méthodes la deuxième au choix </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fr-CA"/>
          </a:p>
        </p:txBody>
      </p:sp>
      <p:sp>
        <p:nvSpPr>
          <p:cNvPr id="3" name="Espace réservé de la date 2"/>
          <p:cNvSpPr>
            <a:spLocks noGrp="1"/>
          </p:cNvSpPr>
          <p:nvPr>
            <p:ph type="dt" sz="quarter" idx="1"/>
          </p:nvPr>
        </p:nvSpPr>
        <p:spPr>
          <a:xfrm>
            <a:off x="3970938" y="0"/>
            <a:ext cx="3037840" cy="466434"/>
          </a:xfrm>
          <a:prstGeom prst="rect">
            <a:avLst/>
          </a:prstGeom>
        </p:spPr>
        <p:txBody>
          <a:bodyPr vert="horz" lIns="93177" tIns="46589" rIns="93177" bIns="46589" rtlCol="0"/>
          <a:lstStyle>
            <a:lvl1pPr algn="r">
              <a:defRPr sz="1200"/>
            </a:lvl1pPr>
          </a:lstStyle>
          <a:p>
            <a:fld id="{2BD90679-B218-4B77-AB7E-83008E5505F9}" type="datetimeFigureOut">
              <a:rPr lang="fr-CA" smtClean="0"/>
              <a:t>2025-02-11</a:t>
            </a:fld>
            <a:endParaRPr lang="fr-CA"/>
          </a:p>
        </p:txBody>
      </p:sp>
      <p:sp>
        <p:nvSpPr>
          <p:cNvPr id="4" name="Espace réservé du pied de page 3"/>
          <p:cNvSpPr>
            <a:spLocks noGrp="1"/>
          </p:cNvSpPr>
          <p:nvPr>
            <p:ph type="ftr" sz="quarter" idx="2"/>
          </p:nvPr>
        </p:nvSpPr>
        <p:spPr>
          <a:xfrm>
            <a:off x="0" y="8829967"/>
            <a:ext cx="3037840" cy="466433"/>
          </a:xfrm>
          <a:prstGeom prst="rect">
            <a:avLst/>
          </a:prstGeom>
        </p:spPr>
        <p:txBody>
          <a:bodyPr vert="horz" lIns="93177" tIns="46589" rIns="93177" bIns="46589" rtlCol="0" anchor="b"/>
          <a:lstStyle>
            <a:lvl1pPr algn="l">
              <a:defRPr sz="1200"/>
            </a:lvl1pPr>
          </a:lstStyle>
          <a:p>
            <a:endParaRPr lang="fr-CA"/>
          </a:p>
        </p:txBody>
      </p:sp>
      <p:sp>
        <p:nvSpPr>
          <p:cNvPr id="5" name="Espace réservé du numéro de diapositive 4"/>
          <p:cNvSpPr>
            <a:spLocks noGrp="1"/>
          </p:cNvSpPr>
          <p:nvPr>
            <p:ph type="sldNum" sz="quarter" idx="3"/>
          </p:nvPr>
        </p:nvSpPr>
        <p:spPr>
          <a:xfrm>
            <a:off x="3970938" y="8829967"/>
            <a:ext cx="3037840" cy="466433"/>
          </a:xfrm>
          <a:prstGeom prst="rect">
            <a:avLst/>
          </a:prstGeom>
        </p:spPr>
        <p:txBody>
          <a:bodyPr vert="horz" lIns="93177" tIns="46589" rIns="93177" bIns="46589" rtlCol="0" anchor="b"/>
          <a:lstStyle>
            <a:lvl1pPr algn="r">
              <a:defRPr sz="1200"/>
            </a:lvl1pPr>
          </a:lstStyle>
          <a:p>
            <a:fld id="{3D4D2755-AF6B-481D-BF4D-86D4A8477563}" type="slidenum">
              <a:rPr lang="fr-CA" smtClean="0"/>
              <a:t>‹N°›</a:t>
            </a:fld>
            <a:endParaRPr lang="fr-CA"/>
          </a:p>
        </p:txBody>
      </p:sp>
    </p:spTree>
    <p:extLst>
      <p:ext uri="{BB962C8B-B14F-4D97-AF65-F5344CB8AC3E}">
        <p14:creationId xmlns:p14="http://schemas.microsoft.com/office/powerpoint/2010/main" val="27371258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fr-CA"/>
          </a:p>
        </p:txBody>
      </p:sp>
      <p:sp>
        <p:nvSpPr>
          <p:cNvPr id="3" name="Espace réservé de la date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9F907452-4596-4AC5-921A-CDC72DAA979A}" type="datetimeFigureOut">
              <a:rPr lang="fr-CA" smtClean="0"/>
              <a:t>2025-02-11</a:t>
            </a:fld>
            <a:endParaRPr lang="fr-CA"/>
          </a:p>
        </p:txBody>
      </p:sp>
      <p:sp>
        <p:nvSpPr>
          <p:cNvPr id="4" name="Espace réservé de l'image des diapositives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fr-CA"/>
          </a:p>
        </p:txBody>
      </p:sp>
      <p:sp>
        <p:nvSpPr>
          <p:cNvPr id="5" name="Espace réservé des commentaires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pied de page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fr-CA"/>
          </a:p>
        </p:txBody>
      </p:sp>
      <p:sp>
        <p:nvSpPr>
          <p:cNvPr id="7" name="Espace réservé du numéro de diapositive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FDFF8E33-C734-4BA4-9F03-CDAF597606E7}" type="slidenum">
              <a:rPr lang="fr-CA" smtClean="0"/>
              <a:t>‹N°›</a:t>
            </a:fld>
            <a:endParaRPr lang="fr-CA"/>
          </a:p>
        </p:txBody>
      </p:sp>
    </p:spTree>
    <p:extLst>
      <p:ext uri="{BB962C8B-B14F-4D97-AF65-F5344CB8AC3E}">
        <p14:creationId xmlns:p14="http://schemas.microsoft.com/office/powerpoint/2010/main" val="26380240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FDFF8E33-C734-4BA4-9F03-CDAF597606E7}" type="slidenum">
              <a:rPr lang="fr-CA" smtClean="0"/>
              <a:t>1</a:t>
            </a:fld>
            <a:endParaRPr lang="fr-CA"/>
          </a:p>
        </p:txBody>
      </p:sp>
    </p:spTree>
    <p:extLst>
      <p:ext uri="{BB962C8B-B14F-4D97-AF65-F5344CB8AC3E}">
        <p14:creationId xmlns:p14="http://schemas.microsoft.com/office/powerpoint/2010/main" val="21158012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Vous devez mentionner le nom de la norme lorsque on fait la rédaction avec nos mots soit IFRS 9 ou IAS 32 (présentation) ou bien IFRS 13 pour la JV </a:t>
            </a:r>
          </a:p>
        </p:txBody>
      </p:sp>
      <p:sp>
        <p:nvSpPr>
          <p:cNvPr id="4" name="Espace réservé du numéro de diapositive 3"/>
          <p:cNvSpPr>
            <a:spLocks noGrp="1"/>
          </p:cNvSpPr>
          <p:nvPr>
            <p:ph type="sldNum" sz="quarter" idx="5"/>
          </p:nvPr>
        </p:nvSpPr>
        <p:spPr/>
        <p:txBody>
          <a:bodyPr/>
          <a:lstStyle/>
          <a:p>
            <a:fld id="{FDFF8E33-C734-4BA4-9F03-CDAF597606E7}" type="slidenum">
              <a:rPr lang="fr-CA" smtClean="0"/>
              <a:t>2</a:t>
            </a:fld>
            <a:endParaRPr lang="fr-CA"/>
          </a:p>
        </p:txBody>
      </p:sp>
    </p:spTree>
    <p:extLst>
      <p:ext uri="{BB962C8B-B14F-4D97-AF65-F5344CB8AC3E}">
        <p14:creationId xmlns:p14="http://schemas.microsoft.com/office/powerpoint/2010/main" val="18009952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Opération entre apparentés va voir avec les instruments financiers dans les NCECF dont ils ont ajouté au paragraphe NCECF 3856 </a:t>
            </a:r>
          </a:p>
        </p:txBody>
      </p:sp>
      <p:sp>
        <p:nvSpPr>
          <p:cNvPr id="4" name="Espace réservé du numéro de diapositive 3"/>
          <p:cNvSpPr>
            <a:spLocks noGrp="1"/>
          </p:cNvSpPr>
          <p:nvPr>
            <p:ph type="sldNum" sz="quarter" idx="5"/>
          </p:nvPr>
        </p:nvSpPr>
        <p:spPr/>
        <p:txBody>
          <a:bodyPr/>
          <a:lstStyle/>
          <a:p>
            <a:fld id="{FDFF8E33-C734-4BA4-9F03-CDAF597606E7}" type="slidenum">
              <a:rPr lang="fr-CA" smtClean="0"/>
              <a:t>6</a:t>
            </a:fld>
            <a:endParaRPr lang="fr-CA"/>
          </a:p>
        </p:txBody>
      </p:sp>
    </p:spTree>
    <p:extLst>
      <p:ext uri="{BB962C8B-B14F-4D97-AF65-F5344CB8AC3E}">
        <p14:creationId xmlns:p14="http://schemas.microsoft.com/office/powerpoint/2010/main" val="10734050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TIE attention il faut le calculer au premier </a:t>
            </a:r>
          </a:p>
        </p:txBody>
      </p:sp>
      <p:sp>
        <p:nvSpPr>
          <p:cNvPr id="4" name="Espace réservé du numéro de diapositive 3"/>
          <p:cNvSpPr>
            <a:spLocks noGrp="1"/>
          </p:cNvSpPr>
          <p:nvPr>
            <p:ph type="sldNum" sz="quarter" idx="5"/>
          </p:nvPr>
        </p:nvSpPr>
        <p:spPr/>
        <p:txBody>
          <a:bodyPr/>
          <a:lstStyle/>
          <a:p>
            <a:fld id="{FDFF8E33-C734-4BA4-9F03-CDAF597606E7}" type="slidenum">
              <a:rPr lang="fr-CA" smtClean="0"/>
              <a:t>7</a:t>
            </a:fld>
            <a:endParaRPr lang="fr-CA"/>
          </a:p>
        </p:txBody>
      </p:sp>
    </p:spTree>
    <p:extLst>
      <p:ext uri="{BB962C8B-B14F-4D97-AF65-F5344CB8AC3E}">
        <p14:creationId xmlns:p14="http://schemas.microsoft.com/office/powerpoint/2010/main" val="18127103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a:p>
            <a:endParaRPr lang="fr-CA" dirty="0"/>
          </a:p>
        </p:txBody>
      </p:sp>
      <p:sp>
        <p:nvSpPr>
          <p:cNvPr id="4" name="Espace réservé du numéro de diapositive 3"/>
          <p:cNvSpPr>
            <a:spLocks noGrp="1"/>
          </p:cNvSpPr>
          <p:nvPr>
            <p:ph type="sldNum" sz="quarter" idx="10"/>
          </p:nvPr>
        </p:nvSpPr>
        <p:spPr/>
        <p:txBody>
          <a:bodyPr/>
          <a:lstStyle/>
          <a:p>
            <a:fld id="{532612D6-2276-624E-A18E-E725E53548D6}" type="slidenum">
              <a:rPr lang="fr-FR" smtClean="0"/>
              <a:t>8</a:t>
            </a:fld>
            <a:endParaRPr lang="fr-FR"/>
          </a:p>
        </p:txBody>
      </p:sp>
    </p:spTree>
    <p:extLst>
      <p:ext uri="{BB962C8B-B14F-4D97-AF65-F5344CB8AC3E}">
        <p14:creationId xmlns:p14="http://schemas.microsoft.com/office/powerpoint/2010/main" val="33744942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b="1" dirty="0">
                <a:effectLst/>
              </a:rPr>
              <a:t>détenu à des fins de transaction</a:t>
            </a:r>
          </a:p>
          <a:p>
            <a:r>
              <a:rPr lang="fr-CA" dirty="0">
                <a:effectLst/>
              </a:rPr>
              <a:t>Se dit d'un actif financier ou d'un passif financier qui répond à l'une ou l'autre des conditions suivantes :</a:t>
            </a:r>
          </a:p>
          <a:p>
            <a:r>
              <a:rPr lang="fr-CA" dirty="0">
                <a:effectLst/>
              </a:rPr>
              <a:t>(a) il est acquis ou assumé principalement en vue d'une revente prochaine ou d'un rachat prochain ;</a:t>
            </a:r>
          </a:p>
          <a:p>
            <a:r>
              <a:rPr lang="fr-CA" dirty="0">
                <a:effectLst/>
              </a:rPr>
              <a:t>(b) lors de sa comptabilisation initiale, il fait partie d'un portefeuille d'instruments financiers déterminés qui sont gérés ensemble et qui présentent des indications d'un profil récent de prise de profits à court terme ;</a:t>
            </a:r>
          </a:p>
          <a:p>
            <a:r>
              <a:rPr lang="fr-CA" dirty="0">
                <a:effectLst/>
              </a:rPr>
              <a:t>(c) il est un </a:t>
            </a:r>
            <a:r>
              <a:rPr lang="fr-CA" b="1" dirty="0">
                <a:effectLst/>
              </a:rPr>
              <a:t>dérivé</a:t>
            </a:r>
            <a:r>
              <a:rPr lang="fr-CA" dirty="0">
                <a:effectLst/>
              </a:rPr>
              <a:t> (à l'exception d'un dérivé qui est un contrat de garantie financière ou un instrument de couverture désigné et efficace).</a:t>
            </a:r>
          </a:p>
          <a:p>
            <a:endParaRPr lang="fr-CA" dirty="0">
              <a:effectLst/>
            </a:endParaRPr>
          </a:p>
          <a:p>
            <a:endParaRPr lang="fr-CA" dirty="0">
              <a:effectLst/>
            </a:endParaRPr>
          </a:p>
          <a:p>
            <a:endParaRPr lang="fr-CA" dirty="0"/>
          </a:p>
        </p:txBody>
      </p:sp>
      <p:sp>
        <p:nvSpPr>
          <p:cNvPr id="4" name="Espace réservé du numéro de diapositive 3"/>
          <p:cNvSpPr>
            <a:spLocks noGrp="1"/>
          </p:cNvSpPr>
          <p:nvPr>
            <p:ph type="sldNum" sz="quarter" idx="10"/>
          </p:nvPr>
        </p:nvSpPr>
        <p:spPr/>
        <p:txBody>
          <a:bodyPr/>
          <a:lstStyle/>
          <a:p>
            <a:fld id="{532612D6-2276-624E-A18E-E725E53548D6}" type="slidenum">
              <a:rPr lang="fr-FR" smtClean="0"/>
              <a:t>9</a:t>
            </a:fld>
            <a:endParaRPr lang="fr-FR"/>
          </a:p>
        </p:txBody>
      </p:sp>
    </p:spTree>
    <p:extLst>
      <p:ext uri="{BB962C8B-B14F-4D97-AF65-F5344CB8AC3E}">
        <p14:creationId xmlns:p14="http://schemas.microsoft.com/office/powerpoint/2010/main" val="21301144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Si il y’a pas de marché actif on doit le classer initialement au cout par contre si il y’a un marché actif on doit le classer au JVBRN </a:t>
            </a:r>
          </a:p>
        </p:txBody>
      </p:sp>
      <p:sp>
        <p:nvSpPr>
          <p:cNvPr id="4" name="Espace réservé du numéro de diapositive 3"/>
          <p:cNvSpPr>
            <a:spLocks noGrp="1"/>
          </p:cNvSpPr>
          <p:nvPr>
            <p:ph type="sldNum" sz="quarter" idx="5"/>
          </p:nvPr>
        </p:nvSpPr>
        <p:spPr/>
        <p:txBody>
          <a:bodyPr/>
          <a:lstStyle/>
          <a:p>
            <a:fld id="{FDFF8E33-C734-4BA4-9F03-CDAF597606E7}" type="slidenum">
              <a:rPr lang="fr-CA" smtClean="0"/>
              <a:t>10</a:t>
            </a:fld>
            <a:endParaRPr lang="fr-CA"/>
          </a:p>
        </p:txBody>
      </p:sp>
    </p:spTree>
    <p:extLst>
      <p:ext uri="{BB962C8B-B14F-4D97-AF65-F5344CB8AC3E}">
        <p14:creationId xmlns:p14="http://schemas.microsoft.com/office/powerpoint/2010/main" val="15214135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Instrument financier hybride il faut le bien maitriser je sais que tu métrise mais tu dois le faire rapidement et correctement </a:t>
            </a:r>
          </a:p>
          <a:p>
            <a:r>
              <a:rPr lang="fr-CA" dirty="0"/>
              <a:t>Il nous demande des écritures de corrections (on peut renverser l’écriture initiale puis faire la bonne écriture comme ca on minimise le risque d’erreur) </a:t>
            </a:r>
          </a:p>
        </p:txBody>
      </p:sp>
      <p:sp>
        <p:nvSpPr>
          <p:cNvPr id="4" name="Espace réservé du numéro de diapositive 3"/>
          <p:cNvSpPr>
            <a:spLocks noGrp="1"/>
          </p:cNvSpPr>
          <p:nvPr>
            <p:ph type="sldNum" sz="quarter" idx="5"/>
          </p:nvPr>
        </p:nvSpPr>
        <p:spPr/>
        <p:txBody>
          <a:bodyPr/>
          <a:lstStyle/>
          <a:p>
            <a:fld id="{FDFF8E33-C734-4BA4-9F03-CDAF597606E7}" type="slidenum">
              <a:rPr lang="fr-CA" smtClean="0"/>
              <a:t>11</a:t>
            </a:fld>
            <a:endParaRPr lang="fr-CA"/>
          </a:p>
        </p:txBody>
      </p:sp>
    </p:spTree>
    <p:extLst>
      <p:ext uri="{BB962C8B-B14F-4D97-AF65-F5344CB8AC3E}">
        <p14:creationId xmlns:p14="http://schemas.microsoft.com/office/powerpoint/2010/main" val="12420665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Anticiper=IFRS 9 NCECF=Indice </a:t>
            </a:r>
          </a:p>
        </p:txBody>
      </p:sp>
      <p:sp>
        <p:nvSpPr>
          <p:cNvPr id="4" name="Espace réservé du numéro de diapositive 3"/>
          <p:cNvSpPr>
            <a:spLocks noGrp="1"/>
          </p:cNvSpPr>
          <p:nvPr>
            <p:ph type="sldNum" sz="quarter" idx="5"/>
          </p:nvPr>
        </p:nvSpPr>
        <p:spPr/>
        <p:txBody>
          <a:bodyPr/>
          <a:lstStyle/>
          <a:p>
            <a:fld id="{FDFF8E33-C734-4BA4-9F03-CDAF597606E7}" type="slidenum">
              <a:rPr lang="fr-CA" smtClean="0"/>
              <a:t>12</a:t>
            </a:fld>
            <a:endParaRPr lang="fr-CA"/>
          </a:p>
        </p:txBody>
      </p:sp>
    </p:spTree>
    <p:extLst>
      <p:ext uri="{BB962C8B-B14F-4D97-AF65-F5344CB8AC3E}">
        <p14:creationId xmlns:p14="http://schemas.microsoft.com/office/powerpoint/2010/main" val="37758790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Le cadeau ici on parle de taux d’</a:t>
            </a:r>
            <a:r>
              <a:rPr lang="fr-CA" dirty="0" err="1"/>
              <a:t>interet,par</a:t>
            </a:r>
            <a:r>
              <a:rPr lang="fr-CA" dirty="0"/>
              <a:t> contre la subvention sera répartie sur 4 ans attention dans ce cas 3 ans avec 4 ans </a:t>
            </a:r>
          </a:p>
        </p:txBody>
      </p:sp>
      <p:sp>
        <p:nvSpPr>
          <p:cNvPr id="4" name="Espace réservé du numéro de diapositive 3"/>
          <p:cNvSpPr>
            <a:spLocks noGrp="1"/>
          </p:cNvSpPr>
          <p:nvPr>
            <p:ph type="sldNum" sz="quarter" idx="5"/>
          </p:nvPr>
        </p:nvSpPr>
        <p:spPr/>
        <p:txBody>
          <a:bodyPr/>
          <a:lstStyle/>
          <a:p>
            <a:fld id="{FDFF8E33-C734-4BA4-9F03-CDAF597606E7}" type="slidenum">
              <a:rPr lang="fr-CA" smtClean="0"/>
              <a:t>15</a:t>
            </a:fld>
            <a:endParaRPr lang="fr-CA"/>
          </a:p>
        </p:txBody>
      </p:sp>
    </p:spTree>
    <p:extLst>
      <p:ext uri="{BB962C8B-B14F-4D97-AF65-F5344CB8AC3E}">
        <p14:creationId xmlns:p14="http://schemas.microsoft.com/office/powerpoint/2010/main" val="21456700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b="1" dirty="0"/>
              <a:t>La caractéristique fondamentale d’un IF s’apprécie en fct des définitions :</a:t>
            </a:r>
            <a:endParaRPr lang="fr-CA" b="1" i="1" dirty="0"/>
          </a:p>
          <a:p>
            <a:r>
              <a:rPr lang="fr-CA" b="1" dirty="0"/>
              <a:t>PF = relation débiteur/créancier</a:t>
            </a:r>
            <a:endParaRPr lang="fr-CA" dirty="0"/>
          </a:p>
          <a:p>
            <a:pPr lvl="1"/>
            <a:r>
              <a:rPr lang="fr-CA" b="1" dirty="0"/>
              <a:t>Obligation </a:t>
            </a:r>
            <a:r>
              <a:rPr lang="fr-CA" dirty="0"/>
              <a:t>de verser de la trésorerie, etc.</a:t>
            </a:r>
          </a:p>
          <a:p>
            <a:pPr lvl="1"/>
            <a:r>
              <a:rPr lang="fr-CA" dirty="0"/>
              <a:t>Valeur que recevra le détenteur du titre est </a:t>
            </a:r>
            <a:r>
              <a:rPr lang="fr-CA" u="sng" dirty="0"/>
              <a:t>déterminée ou déterminable</a:t>
            </a:r>
            <a:endParaRPr lang="fr-CA" dirty="0"/>
          </a:p>
          <a:p>
            <a:pPr lvl="1"/>
            <a:r>
              <a:rPr lang="fr-CA" dirty="0"/>
              <a:t>Valeur que recevra le détenteur n’est </a:t>
            </a:r>
            <a:r>
              <a:rPr lang="fr-CA" u="sng" dirty="0"/>
              <a:t>pas</a:t>
            </a:r>
            <a:r>
              <a:rPr lang="fr-CA" dirty="0"/>
              <a:t> reliée à la valeur de l’entité ou de ses ICP.</a:t>
            </a:r>
          </a:p>
          <a:p>
            <a:pPr lvl="1"/>
            <a:r>
              <a:rPr lang="fr-CA" dirty="0"/>
              <a:t>Échéance </a:t>
            </a:r>
            <a:r>
              <a:rPr lang="fr-CA" u="sng" dirty="0"/>
              <a:t>déterminée ou déterminable</a:t>
            </a:r>
            <a:endParaRPr lang="fr-CA" dirty="0"/>
          </a:p>
          <a:p>
            <a:r>
              <a:rPr lang="fr-CA" b="1" dirty="0"/>
              <a:t>Conclusion : risque est similaire à celui supporté par un créancier</a:t>
            </a:r>
            <a:endParaRPr lang="fr-CA" dirty="0"/>
          </a:p>
          <a:p>
            <a:r>
              <a:rPr lang="fr-CA" i="1" dirty="0"/>
              <a:t>** Obligation de rembourser peut être </a:t>
            </a:r>
            <a:r>
              <a:rPr lang="fr-CA" i="1" u="sng" dirty="0"/>
              <a:t>explicite</a:t>
            </a:r>
            <a:r>
              <a:rPr lang="fr-CA" i="1" dirty="0"/>
              <a:t> ou </a:t>
            </a:r>
            <a:r>
              <a:rPr lang="fr-CA" i="1" u="sng" dirty="0"/>
              <a:t>implicite</a:t>
            </a:r>
            <a:r>
              <a:rPr lang="fr-CA" i="1" dirty="0"/>
              <a:t> (à cause des conditions prévues au contrat)</a:t>
            </a:r>
            <a:endParaRPr lang="fr-CA" dirty="0"/>
          </a:p>
          <a:p>
            <a:r>
              <a:rPr lang="fr-CA" b="1" dirty="0"/>
              <a:t>ICP = relation AO/entité</a:t>
            </a:r>
            <a:endParaRPr lang="fr-CA" dirty="0"/>
          </a:p>
          <a:p>
            <a:pPr lvl="1"/>
            <a:r>
              <a:rPr lang="fr-CA" b="1" dirty="0"/>
              <a:t>Pas</a:t>
            </a:r>
            <a:r>
              <a:rPr lang="fr-CA" dirty="0"/>
              <a:t> d’obligation de verser de la trésorerie, etc.</a:t>
            </a:r>
          </a:p>
          <a:p>
            <a:pPr lvl="1"/>
            <a:r>
              <a:rPr lang="fr-CA" dirty="0"/>
              <a:t>Valeur que recevra le détenteur du titre est reliée à la valeur de l’entité ou de ses ICP </a:t>
            </a:r>
          </a:p>
          <a:p>
            <a:r>
              <a:rPr lang="fr-CA" i="1" dirty="0"/>
              <a:t>		 (droit résiduel sur l’actif net de l’entité)</a:t>
            </a:r>
            <a:endParaRPr lang="fr-CA" dirty="0"/>
          </a:p>
          <a:p>
            <a:pPr lvl="0"/>
            <a:r>
              <a:rPr lang="fr-CA" dirty="0"/>
              <a:t>Habituellement pas d’échéance</a:t>
            </a:r>
          </a:p>
          <a:p>
            <a:r>
              <a:rPr lang="fr-CA" b="1" dirty="0"/>
              <a:t>Conclusion : risque est similaire à celui supporté par un AO</a:t>
            </a:r>
          </a:p>
          <a:p>
            <a:endParaRPr lang="fr-CA" dirty="0"/>
          </a:p>
          <a:p>
            <a:r>
              <a:rPr lang="fr-CA" i="1" dirty="0"/>
              <a:t>** Pas d’échéance = capital permanent, Valeur à l’échéance FLUCTUE en fct des ICP de l’entité = risque supporté par le porteur</a:t>
            </a:r>
            <a:endParaRPr lang="fr-CA" dirty="0"/>
          </a:p>
          <a:p>
            <a:r>
              <a:rPr lang="fr-CA" b="1" dirty="0"/>
              <a:t>Si Intérêt résiduel = la valeur n’est </a:t>
            </a:r>
            <a:r>
              <a:rPr lang="fr-CA" b="1" u="sng" dirty="0"/>
              <a:t>jamais</a:t>
            </a:r>
            <a:r>
              <a:rPr lang="fr-CA" b="1" dirty="0"/>
              <a:t> déterminée ou déterminable</a:t>
            </a:r>
            <a:endParaRPr lang="fr-CA" dirty="0"/>
          </a:p>
          <a:p>
            <a:r>
              <a:rPr lang="fr-CA" b="1" dirty="0"/>
              <a:t>Si PF = la valeur est déterminée ou déterminable</a:t>
            </a:r>
            <a:endParaRPr lang="fr-CA" dirty="0"/>
          </a:p>
          <a:p>
            <a:r>
              <a:rPr lang="fr-CA" b="1" dirty="0"/>
              <a:t>Si remboursement en nombre fixe d’AO : </a:t>
            </a:r>
            <a:r>
              <a:rPr lang="fr-CA" dirty="0"/>
              <a:t>	La </a:t>
            </a:r>
            <a:r>
              <a:rPr lang="fr-CA" b="1" i="1" u="sng" dirty="0"/>
              <a:t>valeur</a:t>
            </a:r>
            <a:r>
              <a:rPr lang="fr-CA" dirty="0"/>
              <a:t> que recevra le porteur (détenteur)  de l’instrument est déterminée en fonction de l’obligation contractuelle (il ne supporte pas un risque de variation de la valeur  qu’il recevra : nbre d’ICP varie en fct de la valeur).</a:t>
            </a:r>
          </a:p>
          <a:p>
            <a:endParaRPr lang="fr-CA" dirty="0"/>
          </a:p>
        </p:txBody>
      </p:sp>
      <p:sp>
        <p:nvSpPr>
          <p:cNvPr id="4" name="Espace réservé du numéro de diapositive 3"/>
          <p:cNvSpPr>
            <a:spLocks noGrp="1"/>
          </p:cNvSpPr>
          <p:nvPr>
            <p:ph type="sldNum" sz="quarter" idx="10"/>
          </p:nvPr>
        </p:nvSpPr>
        <p:spPr/>
        <p:txBody>
          <a:bodyPr/>
          <a:lstStyle/>
          <a:p>
            <a:fld id="{532612D6-2276-624E-A18E-E725E53548D6}" type="slidenum">
              <a:rPr lang="fr-FR" smtClean="0"/>
              <a:t>19</a:t>
            </a:fld>
            <a:endParaRPr lang="fr-FR"/>
          </a:p>
        </p:txBody>
      </p:sp>
    </p:spTree>
    <p:extLst>
      <p:ext uri="{BB962C8B-B14F-4D97-AF65-F5344CB8AC3E}">
        <p14:creationId xmlns:p14="http://schemas.microsoft.com/office/powerpoint/2010/main" val="39993772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b="1" dirty="0"/>
              <a:t>La caractéristique fondamentale d’un IF s’apprécie en fct des définitions :</a:t>
            </a:r>
            <a:endParaRPr lang="fr-CA" b="1" i="1" dirty="0"/>
          </a:p>
          <a:p>
            <a:r>
              <a:rPr lang="fr-CA" b="1" dirty="0"/>
              <a:t>PF = relation débiteur/créancier</a:t>
            </a:r>
            <a:endParaRPr lang="fr-CA" dirty="0"/>
          </a:p>
          <a:p>
            <a:pPr lvl="1"/>
            <a:r>
              <a:rPr lang="fr-CA" b="1" dirty="0"/>
              <a:t>Obligation </a:t>
            </a:r>
            <a:r>
              <a:rPr lang="fr-CA" dirty="0"/>
              <a:t>de verser de la trésorerie, etc.</a:t>
            </a:r>
          </a:p>
          <a:p>
            <a:pPr lvl="1"/>
            <a:r>
              <a:rPr lang="fr-CA" dirty="0"/>
              <a:t>Valeur que recevra le détenteur du titre est </a:t>
            </a:r>
            <a:r>
              <a:rPr lang="fr-CA" u="sng" dirty="0"/>
              <a:t>déterminée ou déterminable</a:t>
            </a:r>
            <a:endParaRPr lang="fr-CA" dirty="0"/>
          </a:p>
          <a:p>
            <a:pPr lvl="1"/>
            <a:r>
              <a:rPr lang="fr-CA" dirty="0"/>
              <a:t>Valeur que recevra le détenteur n’est </a:t>
            </a:r>
            <a:r>
              <a:rPr lang="fr-CA" u="sng" dirty="0"/>
              <a:t>pas</a:t>
            </a:r>
            <a:r>
              <a:rPr lang="fr-CA" dirty="0"/>
              <a:t> reliée à la valeur de l’entité ou de ses ICP.</a:t>
            </a:r>
          </a:p>
          <a:p>
            <a:pPr lvl="1"/>
            <a:r>
              <a:rPr lang="fr-CA" dirty="0"/>
              <a:t>Échéance </a:t>
            </a:r>
            <a:r>
              <a:rPr lang="fr-CA" u="sng" dirty="0"/>
              <a:t>déterminée ou déterminable</a:t>
            </a:r>
            <a:endParaRPr lang="fr-CA" dirty="0"/>
          </a:p>
          <a:p>
            <a:r>
              <a:rPr lang="fr-CA" b="1" dirty="0"/>
              <a:t>Conclusion : risque est similaire à celui supporté par un créancier</a:t>
            </a:r>
            <a:endParaRPr lang="fr-CA" dirty="0"/>
          </a:p>
          <a:p>
            <a:r>
              <a:rPr lang="fr-CA" i="1" dirty="0"/>
              <a:t>** Obligation de rembourser peut être </a:t>
            </a:r>
            <a:r>
              <a:rPr lang="fr-CA" i="1" u="sng" dirty="0"/>
              <a:t>explicite</a:t>
            </a:r>
            <a:r>
              <a:rPr lang="fr-CA" i="1" dirty="0"/>
              <a:t> ou </a:t>
            </a:r>
            <a:r>
              <a:rPr lang="fr-CA" i="1" u="sng" dirty="0"/>
              <a:t>implicite</a:t>
            </a:r>
            <a:r>
              <a:rPr lang="fr-CA" i="1" dirty="0"/>
              <a:t> (à cause des conditions prévues au contrat)</a:t>
            </a:r>
            <a:endParaRPr lang="fr-CA" dirty="0"/>
          </a:p>
          <a:p>
            <a:r>
              <a:rPr lang="fr-CA" b="1" dirty="0"/>
              <a:t>ICP = relation AO/entité</a:t>
            </a:r>
            <a:endParaRPr lang="fr-CA" dirty="0"/>
          </a:p>
          <a:p>
            <a:pPr lvl="1"/>
            <a:r>
              <a:rPr lang="fr-CA" b="1" dirty="0"/>
              <a:t>Pas</a:t>
            </a:r>
            <a:r>
              <a:rPr lang="fr-CA" dirty="0"/>
              <a:t> d’obligation de verser de la trésorerie, etc.</a:t>
            </a:r>
          </a:p>
          <a:p>
            <a:pPr lvl="1"/>
            <a:r>
              <a:rPr lang="fr-CA" dirty="0"/>
              <a:t>Valeur que recevra le détenteur du titre est reliée à la valeur de l’entité ou de ses ICP </a:t>
            </a:r>
          </a:p>
          <a:p>
            <a:r>
              <a:rPr lang="fr-CA" i="1" dirty="0"/>
              <a:t>		 (droit résiduel sur l’actif net de l’entité)</a:t>
            </a:r>
            <a:endParaRPr lang="fr-CA" dirty="0"/>
          </a:p>
          <a:p>
            <a:pPr lvl="0"/>
            <a:r>
              <a:rPr lang="fr-CA" dirty="0"/>
              <a:t>Habituellement pas d’échéance</a:t>
            </a:r>
          </a:p>
          <a:p>
            <a:r>
              <a:rPr lang="fr-CA" b="1" dirty="0"/>
              <a:t>Conclusion : risque est similaire à celui supporté par un AO</a:t>
            </a:r>
          </a:p>
          <a:p>
            <a:endParaRPr lang="fr-CA" dirty="0"/>
          </a:p>
          <a:p>
            <a:r>
              <a:rPr lang="fr-CA" i="1" dirty="0"/>
              <a:t>** Pas d’échéance = capital permanent, Valeur à l’échéance FLUCTUE en fct des ICP de l’entité = risque supporté par le porteur</a:t>
            </a:r>
            <a:endParaRPr lang="fr-CA" dirty="0"/>
          </a:p>
          <a:p>
            <a:r>
              <a:rPr lang="fr-CA" b="1" dirty="0"/>
              <a:t>Si Intérêt résiduel = la valeur n’est </a:t>
            </a:r>
            <a:r>
              <a:rPr lang="fr-CA" b="1" u="sng" dirty="0"/>
              <a:t>jamais</a:t>
            </a:r>
            <a:r>
              <a:rPr lang="fr-CA" b="1" dirty="0"/>
              <a:t> déterminée ou déterminable</a:t>
            </a:r>
            <a:endParaRPr lang="fr-CA" dirty="0"/>
          </a:p>
          <a:p>
            <a:r>
              <a:rPr lang="fr-CA" b="1" dirty="0"/>
              <a:t>Si PF = la valeur est déterminée ou déterminable</a:t>
            </a:r>
            <a:endParaRPr lang="fr-CA" dirty="0"/>
          </a:p>
          <a:p>
            <a:r>
              <a:rPr lang="fr-CA" b="1" dirty="0"/>
              <a:t>Si remboursement en nombre fixe d’AO : </a:t>
            </a:r>
            <a:r>
              <a:rPr lang="fr-CA" dirty="0"/>
              <a:t>	La </a:t>
            </a:r>
            <a:r>
              <a:rPr lang="fr-CA" b="1" i="1" u="sng" dirty="0"/>
              <a:t>valeur</a:t>
            </a:r>
            <a:r>
              <a:rPr lang="fr-CA" dirty="0"/>
              <a:t> que recevra le porteur (détenteur)  de l’instrument est déterminée en fonction de l’obligation contractuelle (il ne supporte pas un risque de variation de la valeur  qu’il recevra : nbre d’ICP varie en fct de la valeur).</a:t>
            </a:r>
          </a:p>
          <a:p>
            <a:endParaRPr lang="fr-CA" dirty="0"/>
          </a:p>
        </p:txBody>
      </p:sp>
      <p:sp>
        <p:nvSpPr>
          <p:cNvPr id="4" name="Espace réservé du numéro de diapositive 3"/>
          <p:cNvSpPr>
            <a:spLocks noGrp="1"/>
          </p:cNvSpPr>
          <p:nvPr>
            <p:ph type="sldNum" sz="quarter" idx="10"/>
          </p:nvPr>
        </p:nvSpPr>
        <p:spPr/>
        <p:txBody>
          <a:bodyPr/>
          <a:lstStyle/>
          <a:p>
            <a:fld id="{532612D6-2276-624E-A18E-E725E53548D6}" type="slidenum">
              <a:rPr lang="fr-FR" smtClean="0"/>
              <a:t>20</a:t>
            </a:fld>
            <a:endParaRPr lang="fr-FR"/>
          </a:p>
        </p:txBody>
      </p:sp>
    </p:spTree>
    <p:extLst>
      <p:ext uri="{BB962C8B-B14F-4D97-AF65-F5344CB8AC3E}">
        <p14:creationId xmlns:p14="http://schemas.microsoft.com/office/powerpoint/2010/main" val="39993772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a:p>
            <a:endParaRPr lang="fr-CA" dirty="0"/>
          </a:p>
        </p:txBody>
      </p:sp>
      <p:sp>
        <p:nvSpPr>
          <p:cNvPr id="4" name="Espace réservé du numéro de diapositive 3"/>
          <p:cNvSpPr>
            <a:spLocks noGrp="1"/>
          </p:cNvSpPr>
          <p:nvPr>
            <p:ph type="sldNum" sz="quarter" idx="10"/>
          </p:nvPr>
        </p:nvSpPr>
        <p:spPr/>
        <p:txBody>
          <a:bodyPr/>
          <a:lstStyle/>
          <a:p>
            <a:fld id="{532612D6-2276-624E-A18E-E725E53548D6}" type="slidenum">
              <a:rPr lang="fr-FR" smtClean="0"/>
              <a:t>21</a:t>
            </a:fld>
            <a:endParaRPr lang="fr-FR"/>
          </a:p>
        </p:txBody>
      </p:sp>
    </p:spTree>
    <p:extLst>
      <p:ext uri="{BB962C8B-B14F-4D97-AF65-F5344CB8AC3E}">
        <p14:creationId xmlns:p14="http://schemas.microsoft.com/office/powerpoint/2010/main" val="35516453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a:p>
            <a:endParaRPr lang="fr-CA" dirty="0"/>
          </a:p>
        </p:txBody>
      </p:sp>
      <p:sp>
        <p:nvSpPr>
          <p:cNvPr id="4" name="Espace réservé du numéro de diapositive 3"/>
          <p:cNvSpPr>
            <a:spLocks noGrp="1"/>
          </p:cNvSpPr>
          <p:nvPr>
            <p:ph type="sldNum" sz="quarter" idx="10"/>
          </p:nvPr>
        </p:nvSpPr>
        <p:spPr/>
        <p:txBody>
          <a:bodyPr/>
          <a:lstStyle/>
          <a:p>
            <a:fld id="{532612D6-2276-624E-A18E-E725E53548D6}" type="slidenum">
              <a:rPr lang="fr-FR" smtClean="0"/>
              <a:t>22</a:t>
            </a:fld>
            <a:endParaRPr lang="fr-FR"/>
          </a:p>
        </p:txBody>
      </p:sp>
    </p:spTree>
    <p:extLst>
      <p:ext uri="{BB962C8B-B14F-4D97-AF65-F5344CB8AC3E}">
        <p14:creationId xmlns:p14="http://schemas.microsoft.com/office/powerpoint/2010/main" val="20973647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Les actions ordinaires (attention aux caractéristiques mais toujours ca reste comme ordinaire car y’a droit résiduel c’est le mot clés qui s’applique on ajoutant le contrôle dans cas quelque soit la nature de l’action si on le aux capitaux propres aux capitaux propres veut pas dire que est une actions ordinaires donc on passe aux normes des placement) </a:t>
            </a:r>
          </a:p>
          <a:p>
            <a:r>
              <a:rPr lang="fr-CA" dirty="0"/>
              <a:t>Donc il faut bien comprendre les concepts </a:t>
            </a:r>
          </a:p>
        </p:txBody>
      </p:sp>
      <p:sp>
        <p:nvSpPr>
          <p:cNvPr id="4" name="Espace réservé du numéro de diapositive 3"/>
          <p:cNvSpPr>
            <a:spLocks noGrp="1"/>
          </p:cNvSpPr>
          <p:nvPr>
            <p:ph type="sldNum" sz="quarter" idx="5"/>
          </p:nvPr>
        </p:nvSpPr>
        <p:spPr/>
        <p:txBody>
          <a:bodyPr/>
          <a:lstStyle/>
          <a:p>
            <a:fld id="{FDFF8E33-C734-4BA4-9F03-CDAF597606E7}" type="slidenum">
              <a:rPr lang="fr-CA" smtClean="0"/>
              <a:t>23</a:t>
            </a:fld>
            <a:endParaRPr lang="fr-CA"/>
          </a:p>
        </p:txBody>
      </p:sp>
    </p:spTree>
    <p:extLst>
      <p:ext uri="{BB962C8B-B14F-4D97-AF65-F5344CB8AC3E}">
        <p14:creationId xmlns:p14="http://schemas.microsoft.com/office/powerpoint/2010/main" val="36080733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Lorsque y’a rien donc c’est le même pour les deux référentiel </a:t>
            </a:r>
          </a:p>
        </p:txBody>
      </p:sp>
      <p:sp>
        <p:nvSpPr>
          <p:cNvPr id="4" name="Espace réservé du numéro de diapositive 3"/>
          <p:cNvSpPr>
            <a:spLocks noGrp="1"/>
          </p:cNvSpPr>
          <p:nvPr>
            <p:ph type="sldNum" sz="quarter" idx="5"/>
          </p:nvPr>
        </p:nvSpPr>
        <p:spPr/>
        <p:txBody>
          <a:bodyPr/>
          <a:lstStyle/>
          <a:p>
            <a:fld id="{FDFF8E33-C734-4BA4-9F03-CDAF597606E7}" type="slidenum">
              <a:rPr lang="fr-CA" smtClean="0"/>
              <a:t>24</a:t>
            </a:fld>
            <a:endParaRPr lang="fr-CA"/>
          </a:p>
        </p:txBody>
      </p:sp>
    </p:spTree>
    <p:extLst>
      <p:ext uri="{BB962C8B-B14F-4D97-AF65-F5344CB8AC3E}">
        <p14:creationId xmlns:p14="http://schemas.microsoft.com/office/powerpoint/2010/main" val="5839294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defTabSz="465887">
              <a:defRPr/>
            </a:pPr>
            <a:r>
              <a:rPr lang="fr-CA" dirty="0"/>
              <a:t>Une </a:t>
            </a:r>
            <a:r>
              <a:rPr lang="fr-CA" b="1" dirty="0"/>
              <a:t>débenture</a:t>
            </a:r>
            <a:r>
              <a:rPr lang="fr-CA" dirty="0"/>
              <a:t> est un instrument financier qui a les mêmes caractéristiques qu'une obligation, toutefois la </a:t>
            </a:r>
            <a:r>
              <a:rPr lang="fr-CA" b="1" dirty="0"/>
              <a:t>débenture</a:t>
            </a:r>
            <a:r>
              <a:rPr lang="fr-CA" dirty="0"/>
              <a:t> n'offre aucun bien en garantie. Par conséquent, elle offre moins de couverture pour l'acheteur du titre en cas de défaut de paiement.</a:t>
            </a:r>
          </a:p>
          <a:p>
            <a:endParaRPr lang="fr-CA" dirty="0"/>
          </a:p>
        </p:txBody>
      </p:sp>
      <p:sp>
        <p:nvSpPr>
          <p:cNvPr id="4" name="Espace réservé du numéro de diapositive 3"/>
          <p:cNvSpPr>
            <a:spLocks noGrp="1"/>
          </p:cNvSpPr>
          <p:nvPr>
            <p:ph type="sldNum" sz="quarter" idx="10"/>
          </p:nvPr>
        </p:nvSpPr>
        <p:spPr/>
        <p:txBody>
          <a:bodyPr/>
          <a:lstStyle/>
          <a:p>
            <a:fld id="{532612D6-2276-624E-A18E-E725E53548D6}" type="slidenum">
              <a:rPr lang="fr-FR" smtClean="0"/>
              <a:t>25</a:t>
            </a:fld>
            <a:endParaRPr lang="fr-FR"/>
          </a:p>
        </p:txBody>
      </p:sp>
    </p:spTree>
    <p:extLst>
      <p:ext uri="{BB962C8B-B14F-4D97-AF65-F5344CB8AC3E}">
        <p14:creationId xmlns:p14="http://schemas.microsoft.com/office/powerpoint/2010/main" val="32543651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b="1" dirty="0"/>
              <a:t>La caractéristique fondamentale d’un IF s’apprécie en fct des définitions :</a:t>
            </a:r>
            <a:endParaRPr lang="fr-CA" b="1" i="1" dirty="0"/>
          </a:p>
          <a:p>
            <a:r>
              <a:rPr lang="fr-CA" b="1" dirty="0"/>
              <a:t>PF = relation débiteur/créancier</a:t>
            </a:r>
            <a:endParaRPr lang="fr-CA" dirty="0"/>
          </a:p>
          <a:p>
            <a:pPr lvl="1"/>
            <a:r>
              <a:rPr lang="fr-CA" b="1" dirty="0"/>
              <a:t>Obligation </a:t>
            </a:r>
            <a:r>
              <a:rPr lang="fr-CA" dirty="0"/>
              <a:t>de verser de la trésorerie, etc.</a:t>
            </a:r>
          </a:p>
          <a:p>
            <a:pPr lvl="1"/>
            <a:r>
              <a:rPr lang="fr-CA" dirty="0"/>
              <a:t>Valeur que recevra le détenteur du titre est </a:t>
            </a:r>
            <a:r>
              <a:rPr lang="fr-CA" u="sng" dirty="0"/>
              <a:t>déterminée ou déterminable</a:t>
            </a:r>
            <a:endParaRPr lang="fr-CA" dirty="0"/>
          </a:p>
          <a:p>
            <a:pPr lvl="1"/>
            <a:r>
              <a:rPr lang="fr-CA" dirty="0"/>
              <a:t>Valeur que recevra le détenteur n’est </a:t>
            </a:r>
            <a:r>
              <a:rPr lang="fr-CA" u="sng" dirty="0"/>
              <a:t>pas</a:t>
            </a:r>
            <a:r>
              <a:rPr lang="fr-CA" dirty="0"/>
              <a:t> reliée à la valeur de l’entité ou de ses ICP.</a:t>
            </a:r>
          </a:p>
          <a:p>
            <a:pPr lvl="1"/>
            <a:r>
              <a:rPr lang="fr-CA" dirty="0"/>
              <a:t>Échéance </a:t>
            </a:r>
            <a:r>
              <a:rPr lang="fr-CA" u="sng" dirty="0"/>
              <a:t>déterminée ou déterminable</a:t>
            </a:r>
            <a:endParaRPr lang="fr-CA" dirty="0"/>
          </a:p>
          <a:p>
            <a:r>
              <a:rPr lang="fr-CA" b="1" dirty="0"/>
              <a:t>Conclusion : risque est similaire à celui supporté par un créancier</a:t>
            </a:r>
            <a:endParaRPr lang="fr-CA" dirty="0"/>
          </a:p>
          <a:p>
            <a:r>
              <a:rPr lang="fr-CA" i="1" dirty="0"/>
              <a:t>** Obligation de rembourser peut être </a:t>
            </a:r>
            <a:r>
              <a:rPr lang="fr-CA" i="1" u="sng" dirty="0"/>
              <a:t>explicite</a:t>
            </a:r>
            <a:r>
              <a:rPr lang="fr-CA" i="1" dirty="0"/>
              <a:t> ou </a:t>
            </a:r>
            <a:r>
              <a:rPr lang="fr-CA" i="1" u="sng" dirty="0"/>
              <a:t>implicite</a:t>
            </a:r>
            <a:r>
              <a:rPr lang="fr-CA" i="1" dirty="0"/>
              <a:t> (à cause des conditions prévues au contrat)</a:t>
            </a:r>
            <a:endParaRPr lang="fr-CA" dirty="0"/>
          </a:p>
          <a:p>
            <a:r>
              <a:rPr lang="fr-CA" b="1" dirty="0"/>
              <a:t>ICP = relation AO/entité</a:t>
            </a:r>
            <a:endParaRPr lang="fr-CA" dirty="0"/>
          </a:p>
          <a:p>
            <a:pPr lvl="1"/>
            <a:r>
              <a:rPr lang="fr-CA" b="1" dirty="0"/>
              <a:t>Pas</a:t>
            </a:r>
            <a:r>
              <a:rPr lang="fr-CA" dirty="0"/>
              <a:t> d’obligation de verser de la trésorerie, etc.</a:t>
            </a:r>
          </a:p>
          <a:p>
            <a:pPr lvl="1"/>
            <a:r>
              <a:rPr lang="fr-CA" dirty="0"/>
              <a:t>Valeur que recevra le détenteur du titre est reliée à la valeur de l’entité ou de ses ICP </a:t>
            </a:r>
          </a:p>
          <a:p>
            <a:r>
              <a:rPr lang="fr-CA" i="1" dirty="0"/>
              <a:t>		 (droit résiduel sur l’actif net de l’entité)</a:t>
            </a:r>
            <a:endParaRPr lang="fr-CA" dirty="0"/>
          </a:p>
          <a:p>
            <a:pPr lvl="0"/>
            <a:r>
              <a:rPr lang="fr-CA" dirty="0"/>
              <a:t>Habituellement pas d’échéance</a:t>
            </a:r>
          </a:p>
          <a:p>
            <a:r>
              <a:rPr lang="fr-CA" b="1" dirty="0"/>
              <a:t>Conclusion : risque est similaire à celui supporté par un AO</a:t>
            </a:r>
          </a:p>
          <a:p>
            <a:endParaRPr lang="fr-CA" dirty="0"/>
          </a:p>
          <a:p>
            <a:r>
              <a:rPr lang="fr-CA" i="1" dirty="0"/>
              <a:t>** Pas d’échéance = capital permanent, Valeur à l’échéance FLUCTUE en fct des ICP de l’entité = risque supporté par le porteur</a:t>
            </a:r>
            <a:endParaRPr lang="fr-CA" dirty="0"/>
          </a:p>
          <a:p>
            <a:r>
              <a:rPr lang="fr-CA" b="1" dirty="0"/>
              <a:t>Si Intérêt résiduel = la valeur n’est </a:t>
            </a:r>
            <a:r>
              <a:rPr lang="fr-CA" b="1" u="sng" dirty="0"/>
              <a:t>jamais</a:t>
            </a:r>
            <a:r>
              <a:rPr lang="fr-CA" b="1" dirty="0"/>
              <a:t> déterminée ou déterminable</a:t>
            </a:r>
            <a:endParaRPr lang="fr-CA" dirty="0"/>
          </a:p>
          <a:p>
            <a:r>
              <a:rPr lang="fr-CA" b="1" dirty="0"/>
              <a:t>Si PF = la valeur est déterminée ou déterminable</a:t>
            </a:r>
            <a:endParaRPr lang="fr-CA" dirty="0"/>
          </a:p>
          <a:p>
            <a:r>
              <a:rPr lang="fr-CA" b="1" dirty="0"/>
              <a:t>Si remboursement en nombre fixe d’AO : </a:t>
            </a:r>
            <a:r>
              <a:rPr lang="fr-CA" dirty="0"/>
              <a:t>	La </a:t>
            </a:r>
            <a:r>
              <a:rPr lang="fr-CA" b="1" i="1" u="sng" dirty="0"/>
              <a:t>valeur</a:t>
            </a:r>
            <a:r>
              <a:rPr lang="fr-CA" dirty="0"/>
              <a:t> que recevra le porteur (détenteur)  de l’instrument est déterminée en fonction de l’obligation contractuelle (il ne supporte pas un risque de variation de la valeur  qu’il recevra : nbre d’ICP varie en fct de la valeur).</a:t>
            </a:r>
          </a:p>
          <a:p>
            <a:endParaRPr lang="fr-CA" dirty="0"/>
          </a:p>
        </p:txBody>
      </p:sp>
      <p:sp>
        <p:nvSpPr>
          <p:cNvPr id="4" name="Espace réservé du numéro de diapositive 3"/>
          <p:cNvSpPr>
            <a:spLocks noGrp="1"/>
          </p:cNvSpPr>
          <p:nvPr>
            <p:ph type="sldNum" sz="quarter" idx="10"/>
          </p:nvPr>
        </p:nvSpPr>
        <p:spPr/>
        <p:txBody>
          <a:bodyPr/>
          <a:lstStyle/>
          <a:p>
            <a:fld id="{532612D6-2276-624E-A18E-E725E53548D6}" type="slidenum">
              <a:rPr lang="fr-FR" smtClean="0"/>
              <a:t>27</a:t>
            </a:fld>
            <a:endParaRPr lang="fr-FR"/>
          </a:p>
        </p:txBody>
      </p:sp>
    </p:spTree>
    <p:extLst>
      <p:ext uri="{BB962C8B-B14F-4D97-AF65-F5344CB8AC3E}">
        <p14:creationId xmlns:p14="http://schemas.microsoft.com/office/powerpoint/2010/main" val="27262192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10"/>
          </p:nvPr>
        </p:nvSpPr>
        <p:spPr/>
        <p:txBody>
          <a:bodyPr/>
          <a:lstStyle/>
          <a:p>
            <a:fld id="{532612D6-2276-624E-A18E-E725E53548D6}" type="slidenum">
              <a:rPr lang="fr-FR" smtClean="0"/>
              <a:t>28</a:t>
            </a:fld>
            <a:endParaRPr lang="fr-FR"/>
          </a:p>
        </p:txBody>
      </p:sp>
    </p:spTree>
    <p:extLst>
      <p:ext uri="{BB962C8B-B14F-4D97-AF65-F5344CB8AC3E}">
        <p14:creationId xmlns:p14="http://schemas.microsoft.com/office/powerpoint/2010/main" val="35144729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Action de gel c’est seulement au Canada </a:t>
            </a:r>
          </a:p>
          <a:p>
            <a:r>
              <a:rPr lang="fr-CA" dirty="0"/>
              <a:t>Options comportant sur les capitaux propres on touche le RND </a:t>
            </a:r>
          </a:p>
          <a:p>
            <a:r>
              <a:rPr lang="fr-CA" dirty="0"/>
              <a:t>Lorsque l’acheteur n’a pas d’argent donc il paie par tranches mais c’est lui qui prend le relais pour </a:t>
            </a:r>
          </a:p>
        </p:txBody>
      </p:sp>
      <p:sp>
        <p:nvSpPr>
          <p:cNvPr id="4" name="Espace réservé du numéro de diapositive 3"/>
          <p:cNvSpPr>
            <a:spLocks noGrp="1"/>
          </p:cNvSpPr>
          <p:nvPr>
            <p:ph type="sldNum" sz="quarter" idx="5"/>
          </p:nvPr>
        </p:nvSpPr>
        <p:spPr/>
        <p:txBody>
          <a:bodyPr/>
          <a:lstStyle/>
          <a:p>
            <a:fld id="{FDFF8E33-C734-4BA4-9F03-CDAF597606E7}" type="slidenum">
              <a:rPr lang="fr-CA" smtClean="0"/>
              <a:t>34</a:t>
            </a:fld>
            <a:endParaRPr lang="fr-CA"/>
          </a:p>
        </p:txBody>
      </p:sp>
    </p:spTree>
    <p:extLst>
      <p:ext uri="{BB962C8B-B14F-4D97-AF65-F5344CB8AC3E}">
        <p14:creationId xmlns:p14="http://schemas.microsoft.com/office/powerpoint/2010/main" val="34580931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Si on parle de planification fiscale on n'utilise pas ce paragraphe </a:t>
            </a:r>
          </a:p>
          <a:p>
            <a:r>
              <a:rPr lang="fr-CA" dirty="0"/>
              <a:t>Je gèle la valeur actuelle </a:t>
            </a:r>
          </a:p>
        </p:txBody>
      </p:sp>
      <p:sp>
        <p:nvSpPr>
          <p:cNvPr id="4" name="Espace réservé du numéro de diapositive 3"/>
          <p:cNvSpPr>
            <a:spLocks noGrp="1"/>
          </p:cNvSpPr>
          <p:nvPr>
            <p:ph type="sldNum" sz="quarter" idx="5"/>
          </p:nvPr>
        </p:nvSpPr>
        <p:spPr/>
        <p:txBody>
          <a:bodyPr/>
          <a:lstStyle/>
          <a:p>
            <a:fld id="{FDFF8E33-C734-4BA4-9F03-CDAF597606E7}" type="slidenum">
              <a:rPr lang="fr-CA" smtClean="0"/>
              <a:t>35</a:t>
            </a:fld>
            <a:endParaRPr lang="fr-CA"/>
          </a:p>
        </p:txBody>
      </p:sp>
    </p:spTree>
    <p:extLst>
      <p:ext uri="{BB962C8B-B14F-4D97-AF65-F5344CB8AC3E}">
        <p14:creationId xmlns:p14="http://schemas.microsoft.com/office/powerpoint/2010/main" val="962138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Est-ce réellement</a:t>
            </a:r>
            <a:r>
              <a:rPr lang="fr-CA" baseline="0" dirty="0"/>
              <a:t> une vente? Risque d’avoir l’obligation de racheter</a:t>
            </a:r>
            <a:endParaRPr lang="fr-CA" dirty="0"/>
          </a:p>
          <a:p>
            <a:r>
              <a:rPr lang="fr-CA" dirty="0"/>
              <a:t>Encaisse</a:t>
            </a:r>
          </a:p>
          <a:p>
            <a:r>
              <a:rPr lang="fr-CA" dirty="0"/>
              <a:t>@ Passif</a:t>
            </a:r>
          </a:p>
          <a:p>
            <a:r>
              <a:rPr lang="fr-CA" dirty="0"/>
              <a:t>Toujours substance sur la forme </a:t>
            </a:r>
          </a:p>
        </p:txBody>
      </p:sp>
      <p:sp>
        <p:nvSpPr>
          <p:cNvPr id="4" name="Espace réservé du numéro de diapositive 3"/>
          <p:cNvSpPr>
            <a:spLocks noGrp="1"/>
          </p:cNvSpPr>
          <p:nvPr>
            <p:ph type="sldNum" sz="quarter" idx="10"/>
          </p:nvPr>
        </p:nvSpPr>
        <p:spPr/>
        <p:txBody>
          <a:bodyPr/>
          <a:lstStyle/>
          <a:p>
            <a:fld id="{532612D6-2276-624E-A18E-E725E53548D6}" type="slidenum">
              <a:rPr lang="fr-FR" smtClean="0"/>
              <a:t>45</a:t>
            </a:fld>
            <a:endParaRPr lang="fr-FR"/>
          </a:p>
        </p:txBody>
      </p:sp>
    </p:spTree>
    <p:extLst>
      <p:ext uri="{BB962C8B-B14F-4D97-AF65-F5344CB8AC3E}">
        <p14:creationId xmlns:p14="http://schemas.microsoft.com/office/powerpoint/2010/main" val="21693801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10"/>
          </p:nvPr>
        </p:nvSpPr>
        <p:spPr/>
        <p:txBody>
          <a:bodyPr/>
          <a:lstStyle/>
          <a:p>
            <a:fld id="{532612D6-2276-624E-A18E-E725E53548D6}" type="slidenum">
              <a:rPr lang="fr-FR" smtClean="0"/>
              <a:t>47</a:t>
            </a:fld>
            <a:endParaRPr lang="fr-FR"/>
          </a:p>
        </p:txBody>
      </p:sp>
    </p:spTree>
    <p:extLst>
      <p:ext uri="{BB962C8B-B14F-4D97-AF65-F5344CB8AC3E}">
        <p14:creationId xmlns:p14="http://schemas.microsoft.com/office/powerpoint/2010/main" val="390719146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Les bons de souscription donnent le droit, et non l’obligation, d’acheter des </a:t>
            </a:r>
            <a:r>
              <a:rPr lang="fr-CA" b="1" dirty="0"/>
              <a:t>titres</a:t>
            </a:r>
            <a:r>
              <a:rPr lang="fr-CA" dirty="0"/>
              <a:t> supplémentaires (comme des </a:t>
            </a:r>
            <a:r>
              <a:rPr lang="fr-CA" b="1" dirty="0"/>
              <a:t>actions</a:t>
            </a:r>
            <a:r>
              <a:rPr lang="fr-CA" dirty="0"/>
              <a:t>) de la société émettrice à un prix et dans un délai préétablis. Les bons de souscription sont souvent « attachés » à des actions privilégiées ou à des obligations par la société émettrice lors d’une nouvelle émission.</a:t>
            </a:r>
          </a:p>
        </p:txBody>
      </p:sp>
      <p:sp>
        <p:nvSpPr>
          <p:cNvPr id="4" name="Espace réservé du numéro de diapositive 3"/>
          <p:cNvSpPr>
            <a:spLocks noGrp="1"/>
          </p:cNvSpPr>
          <p:nvPr>
            <p:ph type="sldNum" sz="quarter" idx="10"/>
          </p:nvPr>
        </p:nvSpPr>
        <p:spPr/>
        <p:txBody>
          <a:bodyPr/>
          <a:lstStyle/>
          <a:p>
            <a:fld id="{532612D6-2276-624E-A18E-E725E53548D6}" type="slidenum">
              <a:rPr lang="fr-FR" smtClean="0"/>
              <a:t>59</a:t>
            </a:fld>
            <a:endParaRPr lang="fr-FR"/>
          </a:p>
        </p:txBody>
      </p:sp>
    </p:spTree>
    <p:extLst>
      <p:ext uri="{BB962C8B-B14F-4D97-AF65-F5344CB8AC3E}">
        <p14:creationId xmlns:p14="http://schemas.microsoft.com/office/powerpoint/2010/main" val="31850113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10"/>
          </p:nvPr>
        </p:nvSpPr>
        <p:spPr/>
        <p:txBody>
          <a:bodyPr/>
          <a:lstStyle/>
          <a:p>
            <a:fld id="{532612D6-2276-624E-A18E-E725E53548D6}" type="slidenum">
              <a:rPr lang="fr-FR" smtClean="0"/>
              <a:t>66</a:t>
            </a:fld>
            <a:endParaRPr lang="fr-FR"/>
          </a:p>
        </p:txBody>
      </p:sp>
    </p:spTree>
    <p:extLst>
      <p:ext uri="{BB962C8B-B14F-4D97-AF65-F5344CB8AC3E}">
        <p14:creationId xmlns:p14="http://schemas.microsoft.com/office/powerpoint/2010/main" val="79631024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10"/>
          </p:nvPr>
        </p:nvSpPr>
        <p:spPr/>
        <p:txBody>
          <a:bodyPr/>
          <a:lstStyle/>
          <a:p>
            <a:fld id="{532612D6-2276-624E-A18E-E725E53548D6}" type="slidenum">
              <a:rPr lang="fr-FR" smtClean="0"/>
              <a:t>76</a:t>
            </a:fld>
            <a:endParaRPr lang="fr-FR"/>
          </a:p>
        </p:txBody>
      </p:sp>
    </p:spTree>
    <p:extLst>
      <p:ext uri="{BB962C8B-B14F-4D97-AF65-F5344CB8AC3E}">
        <p14:creationId xmlns:p14="http://schemas.microsoft.com/office/powerpoint/2010/main" val="783731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On élimine au premier lieu le </a:t>
            </a:r>
            <a:r>
              <a:rPr lang="fr-CA"/>
              <a:t>surplus d’apport </a:t>
            </a:r>
            <a:endParaRPr lang="fr-CA" dirty="0"/>
          </a:p>
        </p:txBody>
      </p:sp>
      <p:sp>
        <p:nvSpPr>
          <p:cNvPr id="4" name="Espace réservé du numéro de diapositive 3"/>
          <p:cNvSpPr>
            <a:spLocks noGrp="1"/>
          </p:cNvSpPr>
          <p:nvPr>
            <p:ph type="sldNum" sz="quarter" idx="10"/>
          </p:nvPr>
        </p:nvSpPr>
        <p:spPr/>
        <p:txBody>
          <a:bodyPr/>
          <a:lstStyle/>
          <a:p>
            <a:fld id="{532612D6-2276-624E-A18E-E725E53548D6}" type="slidenum">
              <a:rPr lang="fr-FR" smtClean="0"/>
              <a:t>78</a:t>
            </a:fld>
            <a:endParaRPr lang="fr-FR"/>
          </a:p>
        </p:txBody>
      </p:sp>
    </p:spTree>
    <p:extLst>
      <p:ext uri="{BB962C8B-B14F-4D97-AF65-F5344CB8AC3E}">
        <p14:creationId xmlns:p14="http://schemas.microsoft.com/office/powerpoint/2010/main" val="283548134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10"/>
          </p:nvPr>
        </p:nvSpPr>
        <p:spPr/>
        <p:txBody>
          <a:bodyPr/>
          <a:lstStyle/>
          <a:p>
            <a:fld id="{532612D6-2276-624E-A18E-E725E53548D6}" type="slidenum">
              <a:rPr lang="fr-FR" smtClean="0"/>
              <a:t>80</a:t>
            </a:fld>
            <a:endParaRPr lang="fr-FR"/>
          </a:p>
        </p:txBody>
      </p:sp>
    </p:spTree>
    <p:extLst>
      <p:ext uri="{BB962C8B-B14F-4D97-AF65-F5344CB8AC3E}">
        <p14:creationId xmlns:p14="http://schemas.microsoft.com/office/powerpoint/2010/main" val="39329313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fr-CA"/>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CA"/>
          </a:p>
        </p:txBody>
      </p:sp>
      <p:sp>
        <p:nvSpPr>
          <p:cNvPr id="4" name="Espace réservé de la date 3"/>
          <p:cNvSpPr>
            <a:spLocks noGrp="1"/>
          </p:cNvSpPr>
          <p:nvPr>
            <p:ph type="dt" sz="half" idx="10"/>
          </p:nvPr>
        </p:nvSpPr>
        <p:spPr/>
        <p:txBody>
          <a:bodyPr/>
          <a:lstStyle/>
          <a:p>
            <a:fld id="{DF733707-1054-4302-9597-751690DE1EA0}" type="datetime1">
              <a:rPr lang="fr-CA" smtClean="0"/>
              <a:t>2025-02-11</a:t>
            </a:fld>
            <a:endParaRPr lang="fr-CA"/>
          </a:p>
        </p:txBody>
      </p:sp>
      <p:sp>
        <p:nvSpPr>
          <p:cNvPr id="5" name="Espace réservé du pied de page 4"/>
          <p:cNvSpPr>
            <a:spLocks noGrp="1"/>
          </p:cNvSpPr>
          <p:nvPr>
            <p:ph type="ftr" sz="quarter" idx="11"/>
          </p:nvPr>
        </p:nvSpPr>
        <p:spPr/>
        <p:txBody>
          <a:bodyPr/>
          <a:lstStyle/>
          <a:p>
            <a:r>
              <a:rPr lang="fr-CA"/>
              <a:t>Droits réservés - Louise Overbeek</a:t>
            </a:r>
          </a:p>
        </p:txBody>
      </p:sp>
      <p:sp>
        <p:nvSpPr>
          <p:cNvPr id="6" name="Espace réservé du numéro de diapositive 5"/>
          <p:cNvSpPr>
            <a:spLocks noGrp="1"/>
          </p:cNvSpPr>
          <p:nvPr>
            <p:ph type="sldNum" sz="quarter" idx="12"/>
          </p:nvPr>
        </p:nvSpPr>
        <p:spPr/>
        <p:txBody>
          <a:bodyPr/>
          <a:lstStyle/>
          <a:p>
            <a:fld id="{D5C8285E-D276-48ED-A38D-FCE3A7D9B93F}" type="slidenum">
              <a:rPr lang="fr-CA" smtClean="0"/>
              <a:t>‹N°›</a:t>
            </a:fld>
            <a:endParaRPr lang="fr-CA"/>
          </a:p>
        </p:txBody>
      </p:sp>
    </p:spTree>
    <p:extLst>
      <p:ext uri="{BB962C8B-B14F-4D97-AF65-F5344CB8AC3E}">
        <p14:creationId xmlns:p14="http://schemas.microsoft.com/office/powerpoint/2010/main" val="16717515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10"/>
          </p:nvPr>
        </p:nvSpPr>
        <p:spPr/>
        <p:txBody>
          <a:bodyPr/>
          <a:lstStyle/>
          <a:p>
            <a:fld id="{63B3CF7A-B55C-4F43-8D5A-64CCA4DC17A7}" type="datetime1">
              <a:rPr lang="fr-CA" smtClean="0"/>
              <a:t>2025-02-11</a:t>
            </a:fld>
            <a:endParaRPr lang="fr-CA"/>
          </a:p>
        </p:txBody>
      </p:sp>
      <p:sp>
        <p:nvSpPr>
          <p:cNvPr id="5" name="Espace réservé du pied de page 4"/>
          <p:cNvSpPr>
            <a:spLocks noGrp="1"/>
          </p:cNvSpPr>
          <p:nvPr>
            <p:ph type="ftr" sz="quarter" idx="11"/>
          </p:nvPr>
        </p:nvSpPr>
        <p:spPr/>
        <p:txBody>
          <a:bodyPr/>
          <a:lstStyle/>
          <a:p>
            <a:r>
              <a:rPr lang="fr-CA"/>
              <a:t>Droits réservés - Louise Overbeek</a:t>
            </a:r>
          </a:p>
        </p:txBody>
      </p:sp>
      <p:sp>
        <p:nvSpPr>
          <p:cNvPr id="6" name="Espace réservé du numéro de diapositive 5"/>
          <p:cNvSpPr>
            <a:spLocks noGrp="1"/>
          </p:cNvSpPr>
          <p:nvPr>
            <p:ph type="sldNum" sz="quarter" idx="12"/>
          </p:nvPr>
        </p:nvSpPr>
        <p:spPr/>
        <p:txBody>
          <a:bodyPr/>
          <a:lstStyle/>
          <a:p>
            <a:fld id="{D5C8285E-D276-48ED-A38D-FCE3A7D9B93F}" type="slidenum">
              <a:rPr lang="fr-CA" smtClean="0"/>
              <a:t>‹N°›</a:t>
            </a:fld>
            <a:endParaRPr lang="fr-CA"/>
          </a:p>
        </p:txBody>
      </p:sp>
    </p:spTree>
    <p:extLst>
      <p:ext uri="{BB962C8B-B14F-4D97-AF65-F5344CB8AC3E}">
        <p14:creationId xmlns:p14="http://schemas.microsoft.com/office/powerpoint/2010/main" val="25581195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fr-CA"/>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Modifiez les styles du texte du masque</a:t>
            </a:r>
          </a:p>
        </p:txBody>
      </p:sp>
      <p:sp>
        <p:nvSpPr>
          <p:cNvPr id="4" name="Espace réservé de la date 3"/>
          <p:cNvSpPr>
            <a:spLocks noGrp="1"/>
          </p:cNvSpPr>
          <p:nvPr>
            <p:ph type="dt" sz="half" idx="10"/>
          </p:nvPr>
        </p:nvSpPr>
        <p:spPr/>
        <p:txBody>
          <a:bodyPr/>
          <a:lstStyle/>
          <a:p>
            <a:fld id="{572FCF0C-650A-4F6D-865D-D57A706B7F60}" type="datetime1">
              <a:rPr lang="fr-CA" smtClean="0"/>
              <a:t>2025-02-11</a:t>
            </a:fld>
            <a:endParaRPr lang="fr-CA"/>
          </a:p>
        </p:txBody>
      </p:sp>
      <p:sp>
        <p:nvSpPr>
          <p:cNvPr id="5" name="Espace réservé du pied de page 4"/>
          <p:cNvSpPr>
            <a:spLocks noGrp="1"/>
          </p:cNvSpPr>
          <p:nvPr>
            <p:ph type="ftr" sz="quarter" idx="11"/>
          </p:nvPr>
        </p:nvSpPr>
        <p:spPr/>
        <p:txBody>
          <a:bodyPr/>
          <a:lstStyle/>
          <a:p>
            <a:r>
              <a:rPr lang="fr-CA"/>
              <a:t>Droits réservés - Louise Overbeek</a:t>
            </a:r>
          </a:p>
        </p:txBody>
      </p:sp>
      <p:sp>
        <p:nvSpPr>
          <p:cNvPr id="6" name="Espace réservé du numéro de diapositive 5"/>
          <p:cNvSpPr>
            <a:spLocks noGrp="1"/>
          </p:cNvSpPr>
          <p:nvPr>
            <p:ph type="sldNum" sz="quarter" idx="12"/>
          </p:nvPr>
        </p:nvSpPr>
        <p:spPr/>
        <p:txBody>
          <a:bodyPr/>
          <a:lstStyle/>
          <a:p>
            <a:fld id="{D5C8285E-D276-48ED-A38D-FCE3A7D9B93F}" type="slidenum">
              <a:rPr lang="fr-CA" smtClean="0"/>
              <a:t>‹N°›</a:t>
            </a:fld>
            <a:endParaRPr lang="fr-CA"/>
          </a:p>
        </p:txBody>
      </p:sp>
    </p:spTree>
    <p:extLst>
      <p:ext uri="{BB962C8B-B14F-4D97-AF65-F5344CB8AC3E}">
        <p14:creationId xmlns:p14="http://schemas.microsoft.com/office/powerpoint/2010/main" val="31303129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u contenu 2"/>
          <p:cNvSpPr>
            <a:spLocks noGrp="1"/>
          </p:cNvSpPr>
          <p:nvPr>
            <p:ph sz="half" idx="1"/>
          </p:nvPr>
        </p:nvSpPr>
        <p:spPr>
          <a:xfrm>
            <a:off x="838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e la date 4"/>
          <p:cNvSpPr>
            <a:spLocks noGrp="1"/>
          </p:cNvSpPr>
          <p:nvPr>
            <p:ph type="dt" sz="half" idx="10"/>
          </p:nvPr>
        </p:nvSpPr>
        <p:spPr/>
        <p:txBody>
          <a:bodyPr/>
          <a:lstStyle/>
          <a:p>
            <a:fld id="{850900A6-5391-46E4-B6FC-5A696F04C63D}" type="datetime1">
              <a:rPr lang="fr-CA" smtClean="0"/>
              <a:t>2025-02-11</a:t>
            </a:fld>
            <a:endParaRPr lang="fr-CA"/>
          </a:p>
        </p:txBody>
      </p:sp>
      <p:sp>
        <p:nvSpPr>
          <p:cNvPr id="6" name="Espace réservé du pied de page 5"/>
          <p:cNvSpPr>
            <a:spLocks noGrp="1"/>
          </p:cNvSpPr>
          <p:nvPr>
            <p:ph type="ftr" sz="quarter" idx="11"/>
          </p:nvPr>
        </p:nvSpPr>
        <p:spPr/>
        <p:txBody>
          <a:bodyPr/>
          <a:lstStyle/>
          <a:p>
            <a:r>
              <a:rPr lang="fr-CA"/>
              <a:t>Droits réservés - Louise Overbeek</a:t>
            </a:r>
          </a:p>
        </p:txBody>
      </p:sp>
      <p:sp>
        <p:nvSpPr>
          <p:cNvPr id="7" name="Espace réservé du numéro de diapositive 6"/>
          <p:cNvSpPr>
            <a:spLocks noGrp="1"/>
          </p:cNvSpPr>
          <p:nvPr>
            <p:ph type="sldNum" sz="quarter" idx="12"/>
          </p:nvPr>
        </p:nvSpPr>
        <p:spPr/>
        <p:txBody>
          <a:bodyPr/>
          <a:lstStyle/>
          <a:p>
            <a:fld id="{D5C8285E-D276-48ED-A38D-FCE3A7D9B93F}" type="slidenum">
              <a:rPr lang="fr-CA" smtClean="0"/>
              <a:t>‹N°›</a:t>
            </a:fld>
            <a:endParaRPr lang="fr-CA"/>
          </a:p>
        </p:txBody>
      </p:sp>
    </p:spTree>
    <p:extLst>
      <p:ext uri="{BB962C8B-B14F-4D97-AF65-F5344CB8AC3E}">
        <p14:creationId xmlns:p14="http://schemas.microsoft.com/office/powerpoint/2010/main" val="25944350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endParaRPr lang="fr-CA"/>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7" name="Espace réservé de la date 6"/>
          <p:cNvSpPr>
            <a:spLocks noGrp="1"/>
          </p:cNvSpPr>
          <p:nvPr>
            <p:ph type="dt" sz="half" idx="10"/>
          </p:nvPr>
        </p:nvSpPr>
        <p:spPr/>
        <p:txBody>
          <a:bodyPr/>
          <a:lstStyle/>
          <a:p>
            <a:fld id="{6D34D617-3430-4FEE-9716-A46DE0DFE593}" type="datetime1">
              <a:rPr lang="fr-CA" smtClean="0"/>
              <a:t>2025-02-11</a:t>
            </a:fld>
            <a:endParaRPr lang="fr-CA"/>
          </a:p>
        </p:txBody>
      </p:sp>
      <p:sp>
        <p:nvSpPr>
          <p:cNvPr id="8" name="Espace réservé du pied de page 7"/>
          <p:cNvSpPr>
            <a:spLocks noGrp="1"/>
          </p:cNvSpPr>
          <p:nvPr>
            <p:ph type="ftr" sz="quarter" idx="11"/>
          </p:nvPr>
        </p:nvSpPr>
        <p:spPr/>
        <p:txBody>
          <a:bodyPr/>
          <a:lstStyle/>
          <a:p>
            <a:r>
              <a:rPr lang="fr-CA"/>
              <a:t>Droits réservés - Louise Overbeek</a:t>
            </a:r>
          </a:p>
        </p:txBody>
      </p:sp>
      <p:sp>
        <p:nvSpPr>
          <p:cNvPr id="9" name="Espace réservé du numéro de diapositive 8"/>
          <p:cNvSpPr>
            <a:spLocks noGrp="1"/>
          </p:cNvSpPr>
          <p:nvPr>
            <p:ph type="sldNum" sz="quarter" idx="12"/>
          </p:nvPr>
        </p:nvSpPr>
        <p:spPr/>
        <p:txBody>
          <a:bodyPr/>
          <a:lstStyle/>
          <a:p>
            <a:fld id="{D5C8285E-D276-48ED-A38D-FCE3A7D9B93F}" type="slidenum">
              <a:rPr lang="fr-CA" smtClean="0"/>
              <a:t>‹N°›</a:t>
            </a:fld>
            <a:endParaRPr lang="fr-CA"/>
          </a:p>
        </p:txBody>
      </p:sp>
    </p:spTree>
    <p:extLst>
      <p:ext uri="{BB962C8B-B14F-4D97-AF65-F5344CB8AC3E}">
        <p14:creationId xmlns:p14="http://schemas.microsoft.com/office/powerpoint/2010/main" val="30298541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e la date 2"/>
          <p:cNvSpPr>
            <a:spLocks noGrp="1"/>
          </p:cNvSpPr>
          <p:nvPr>
            <p:ph type="dt" sz="half" idx="10"/>
          </p:nvPr>
        </p:nvSpPr>
        <p:spPr/>
        <p:txBody>
          <a:bodyPr/>
          <a:lstStyle/>
          <a:p>
            <a:fld id="{BE106114-2A46-42A1-B33A-BC570101A8EC}" type="datetime1">
              <a:rPr lang="fr-CA" smtClean="0"/>
              <a:t>2025-02-11</a:t>
            </a:fld>
            <a:endParaRPr lang="fr-CA"/>
          </a:p>
        </p:txBody>
      </p:sp>
      <p:sp>
        <p:nvSpPr>
          <p:cNvPr id="4" name="Espace réservé du pied de page 3"/>
          <p:cNvSpPr>
            <a:spLocks noGrp="1"/>
          </p:cNvSpPr>
          <p:nvPr>
            <p:ph type="ftr" sz="quarter" idx="11"/>
          </p:nvPr>
        </p:nvSpPr>
        <p:spPr/>
        <p:txBody>
          <a:bodyPr/>
          <a:lstStyle/>
          <a:p>
            <a:r>
              <a:rPr lang="fr-CA"/>
              <a:t>Droits réservés - Louise Overbeek</a:t>
            </a:r>
          </a:p>
        </p:txBody>
      </p:sp>
      <p:sp>
        <p:nvSpPr>
          <p:cNvPr id="5" name="Espace réservé du numéro de diapositive 4"/>
          <p:cNvSpPr>
            <a:spLocks noGrp="1"/>
          </p:cNvSpPr>
          <p:nvPr>
            <p:ph type="sldNum" sz="quarter" idx="12"/>
          </p:nvPr>
        </p:nvSpPr>
        <p:spPr/>
        <p:txBody>
          <a:bodyPr/>
          <a:lstStyle/>
          <a:p>
            <a:fld id="{D5C8285E-D276-48ED-A38D-FCE3A7D9B93F}" type="slidenum">
              <a:rPr lang="fr-CA" smtClean="0"/>
              <a:t>‹N°›</a:t>
            </a:fld>
            <a:endParaRPr lang="fr-CA"/>
          </a:p>
        </p:txBody>
      </p:sp>
    </p:spTree>
    <p:extLst>
      <p:ext uri="{BB962C8B-B14F-4D97-AF65-F5344CB8AC3E}">
        <p14:creationId xmlns:p14="http://schemas.microsoft.com/office/powerpoint/2010/main" val="35329463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DDAB8709-BD73-46BC-BB8B-8C3908793D6E}" type="datetime1">
              <a:rPr lang="fr-CA" smtClean="0"/>
              <a:t>2025-02-11</a:t>
            </a:fld>
            <a:endParaRPr lang="fr-CA"/>
          </a:p>
        </p:txBody>
      </p:sp>
      <p:sp>
        <p:nvSpPr>
          <p:cNvPr id="3" name="Espace réservé du pied de page 2"/>
          <p:cNvSpPr>
            <a:spLocks noGrp="1"/>
          </p:cNvSpPr>
          <p:nvPr>
            <p:ph type="ftr" sz="quarter" idx="11"/>
          </p:nvPr>
        </p:nvSpPr>
        <p:spPr/>
        <p:txBody>
          <a:bodyPr/>
          <a:lstStyle/>
          <a:p>
            <a:r>
              <a:rPr lang="fr-CA"/>
              <a:t>Droits réservés - Louise Overbeek</a:t>
            </a:r>
          </a:p>
        </p:txBody>
      </p:sp>
      <p:sp>
        <p:nvSpPr>
          <p:cNvPr id="4" name="Espace réservé du numéro de diapositive 3"/>
          <p:cNvSpPr>
            <a:spLocks noGrp="1"/>
          </p:cNvSpPr>
          <p:nvPr>
            <p:ph type="sldNum" sz="quarter" idx="12"/>
          </p:nvPr>
        </p:nvSpPr>
        <p:spPr/>
        <p:txBody>
          <a:bodyPr/>
          <a:lstStyle/>
          <a:p>
            <a:fld id="{D5C8285E-D276-48ED-A38D-FCE3A7D9B93F}" type="slidenum">
              <a:rPr lang="fr-CA" smtClean="0"/>
              <a:t>‹N°›</a:t>
            </a:fld>
            <a:endParaRPr lang="fr-CA"/>
          </a:p>
        </p:txBody>
      </p:sp>
    </p:spTree>
    <p:extLst>
      <p:ext uri="{BB962C8B-B14F-4D97-AF65-F5344CB8AC3E}">
        <p14:creationId xmlns:p14="http://schemas.microsoft.com/office/powerpoint/2010/main" val="8616502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A"/>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C9A80594-8184-4F0D-A64A-DD1136D3A258}" type="datetime1">
              <a:rPr lang="fr-CA" smtClean="0"/>
              <a:t>2025-02-11</a:t>
            </a:fld>
            <a:endParaRPr lang="fr-CA"/>
          </a:p>
        </p:txBody>
      </p:sp>
      <p:sp>
        <p:nvSpPr>
          <p:cNvPr id="6" name="Espace réservé du pied de page 5"/>
          <p:cNvSpPr>
            <a:spLocks noGrp="1"/>
          </p:cNvSpPr>
          <p:nvPr>
            <p:ph type="ftr" sz="quarter" idx="11"/>
          </p:nvPr>
        </p:nvSpPr>
        <p:spPr/>
        <p:txBody>
          <a:bodyPr/>
          <a:lstStyle/>
          <a:p>
            <a:r>
              <a:rPr lang="fr-CA"/>
              <a:t>Droits réservés - Louise Overbeek</a:t>
            </a:r>
          </a:p>
        </p:txBody>
      </p:sp>
      <p:sp>
        <p:nvSpPr>
          <p:cNvPr id="7" name="Espace réservé du numéro de diapositive 6"/>
          <p:cNvSpPr>
            <a:spLocks noGrp="1"/>
          </p:cNvSpPr>
          <p:nvPr>
            <p:ph type="sldNum" sz="quarter" idx="12"/>
          </p:nvPr>
        </p:nvSpPr>
        <p:spPr/>
        <p:txBody>
          <a:bodyPr/>
          <a:lstStyle/>
          <a:p>
            <a:fld id="{D5C8285E-D276-48ED-A38D-FCE3A7D9B93F}" type="slidenum">
              <a:rPr lang="fr-CA" smtClean="0"/>
              <a:t>‹N°›</a:t>
            </a:fld>
            <a:endParaRPr lang="fr-CA"/>
          </a:p>
        </p:txBody>
      </p:sp>
    </p:spTree>
    <p:extLst>
      <p:ext uri="{BB962C8B-B14F-4D97-AF65-F5344CB8AC3E}">
        <p14:creationId xmlns:p14="http://schemas.microsoft.com/office/powerpoint/2010/main" val="12626314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A"/>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CA"/>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0B254E88-2B47-4673-9C8C-9B21F4051186}" type="datetime1">
              <a:rPr lang="fr-CA" smtClean="0"/>
              <a:t>2025-02-11</a:t>
            </a:fld>
            <a:endParaRPr lang="fr-CA"/>
          </a:p>
        </p:txBody>
      </p:sp>
      <p:sp>
        <p:nvSpPr>
          <p:cNvPr id="6" name="Espace réservé du pied de page 5"/>
          <p:cNvSpPr>
            <a:spLocks noGrp="1"/>
          </p:cNvSpPr>
          <p:nvPr>
            <p:ph type="ftr" sz="quarter" idx="11"/>
          </p:nvPr>
        </p:nvSpPr>
        <p:spPr/>
        <p:txBody>
          <a:bodyPr/>
          <a:lstStyle/>
          <a:p>
            <a:r>
              <a:rPr lang="fr-CA"/>
              <a:t>Droits réservés - Louise Overbeek</a:t>
            </a:r>
          </a:p>
        </p:txBody>
      </p:sp>
      <p:sp>
        <p:nvSpPr>
          <p:cNvPr id="7" name="Espace réservé du numéro de diapositive 6"/>
          <p:cNvSpPr>
            <a:spLocks noGrp="1"/>
          </p:cNvSpPr>
          <p:nvPr>
            <p:ph type="sldNum" sz="quarter" idx="12"/>
          </p:nvPr>
        </p:nvSpPr>
        <p:spPr/>
        <p:txBody>
          <a:bodyPr/>
          <a:lstStyle/>
          <a:p>
            <a:fld id="{D5C8285E-D276-48ED-A38D-FCE3A7D9B93F}" type="slidenum">
              <a:rPr lang="fr-CA" smtClean="0"/>
              <a:t>‹N°›</a:t>
            </a:fld>
            <a:endParaRPr lang="fr-CA"/>
          </a:p>
        </p:txBody>
      </p:sp>
    </p:spTree>
    <p:extLst>
      <p:ext uri="{BB962C8B-B14F-4D97-AF65-F5344CB8AC3E}">
        <p14:creationId xmlns:p14="http://schemas.microsoft.com/office/powerpoint/2010/main" val="13798812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10"/>
          </p:nvPr>
        </p:nvSpPr>
        <p:spPr/>
        <p:txBody>
          <a:bodyPr/>
          <a:lstStyle/>
          <a:p>
            <a:fld id="{D64B81E2-30FE-4D55-8076-01A9A7113927}" type="datetime1">
              <a:rPr lang="fr-CA" smtClean="0"/>
              <a:t>2025-02-11</a:t>
            </a:fld>
            <a:endParaRPr lang="fr-CA"/>
          </a:p>
        </p:txBody>
      </p:sp>
      <p:sp>
        <p:nvSpPr>
          <p:cNvPr id="5" name="Espace réservé du pied de page 4"/>
          <p:cNvSpPr>
            <a:spLocks noGrp="1"/>
          </p:cNvSpPr>
          <p:nvPr>
            <p:ph type="ftr" sz="quarter" idx="11"/>
          </p:nvPr>
        </p:nvSpPr>
        <p:spPr/>
        <p:txBody>
          <a:bodyPr/>
          <a:lstStyle/>
          <a:p>
            <a:r>
              <a:rPr lang="fr-CA"/>
              <a:t>Droits réservés - Louise Overbeek</a:t>
            </a:r>
          </a:p>
        </p:txBody>
      </p:sp>
      <p:sp>
        <p:nvSpPr>
          <p:cNvPr id="6" name="Espace réservé du numéro de diapositive 5"/>
          <p:cNvSpPr>
            <a:spLocks noGrp="1"/>
          </p:cNvSpPr>
          <p:nvPr>
            <p:ph type="sldNum" sz="quarter" idx="12"/>
          </p:nvPr>
        </p:nvSpPr>
        <p:spPr/>
        <p:txBody>
          <a:bodyPr/>
          <a:lstStyle/>
          <a:p>
            <a:fld id="{D5C8285E-D276-48ED-A38D-FCE3A7D9B93F}" type="slidenum">
              <a:rPr lang="fr-CA" smtClean="0"/>
              <a:t>‹N°›</a:t>
            </a:fld>
            <a:endParaRPr lang="fr-CA"/>
          </a:p>
        </p:txBody>
      </p:sp>
    </p:spTree>
    <p:extLst>
      <p:ext uri="{BB962C8B-B14F-4D97-AF65-F5344CB8AC3E}">
        <p14:creationId xmlns:p14="http://schemas.microsoft.com/office/powerpoint/2010/main" val="36921982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endParaRPr lang="fr-CA"/>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10"/>
          </p:nvPr>
        </p:nvSpPr>
        <p:spPr/>
        <p:txBody>
          <a:bodyPr/>
          <a:lstStyle/>
          <a:p>
            <a:fld id="{5435C24D-5769-463C-91F3-26D2836A20DC}" type="datetime1">
              <a:rPr lang="fr-CA" smtClean="0"/>
              <a:t>2025-02-11</a:t>
            </a:fld>
            <a:endParaRPr lang="fr-CA"/>
          </a:p>
        </p:txBody>
      </p:sp>
      <p:sp>
        <p:nvSpPr>
          <p:cNvPr id="5" name="Espace réservé du pied de page 4"/>
          <p:cNvSpPr>
            <a:spLocks noGrp="1"/>
          </p:cNvSpPr>
          <p:nvPr>
            <p:ph type="ftr" sz="quarter" idx="11"/>
          </p:nvPr>
        </p:nvSpPr>
        <p:spPr/>
        <p:txBody>
          <a:bodyPr/>
          <a:lstStyle/>
          <a:p>
            <a:r>
              <a:rPr lang="fr-CA"/>
              <a:t>Droits réservés - Louise Overbeek</a:t>
            </a:r>
          </a:p>
        </p:txBody>
      </p:sp>
      <p:sp>
        <p:nvSpPr>
          <p:cNvPr id="6" name="Espace réservé du numéro de diapositive 5"/>
          <p:cNvSpPr>
            <a:spLocks noGrp="1"/>
          </p:cNvSpPr>
          <p:nvPr>
            <p:ph type="sldNum" sz="quarter" idx="12"/>
          </p:nvPr>
        </p:nvSpPr>
        <p:spPr/>
        <p:txBody>
          <a:bodyPr/>
          <a:lstStyle/>
          <a:p>
            <a:fld id="{D5C8285E-D276-48ED-A38D-FCE3A7D9B93F}" type="slidenum">
              <a:rPr lang="fr-CA" smtClean="0"/>
              <a:t>‹N°›</a:t>
            </a:fld>
            <a:endParaRPr lang="fr-CA"/>
          </a:p>
        </p:txBody>
      </p:sp>
    </p:spTree>
    <p:extLst>
      <p:ext uri="{BB962C8B-B14F-4D97-AF65-F5344CB8AC3E}">
        <p14:creationId xmlns:p14="http://schemas.microsoft.com/office/powerpoint/2010/main" val="17669808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CA"/>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331A7B-2519-4893-AA66-E4FCEE39BCBD}" type="datetime1">
              <a:rPr lang="fr-CA" smtClean="0"/>
              <a:t>2025-02-11</a:t>
            </a:fld>
            <a:endParaRPr lang="fr-CA"/>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fr-CA"/>
              <a:t>Droits réservés - Louise Overbeek</a:t>
            </a: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C8285E-D276-48ED-A38D-FCE3A7D9B93F}" type="slidenum">
              <a:rPr lang="fr-CA" smtClean="0"/>
              <a:t>‹N°›</a:t>
            </a:fld>
            <a:endParaRPr lang="fr-CA"/>
          </a:p>
        </p:txBody>
      </p:sp>
    </p:spTree>
    <p:extLst>
      <p:ext uri="{BB962C8B-B14F-4D97-AF65-F5344CB8AC3E}">
        <p14:creationId xmlns:p14="http://schemas.microsoft.com/office/powerpoint/2010/main" val="28054654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package" Target="../embeddings/Microsoft_Excel_Worksheet.xlsx"/><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edu-knotia-ca.proxy2.hec.ca/Knowledge/Home.aspx?productID=114"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microsoft.com/office/2018/10/relationships/comments" Target="../comments/modernComment_125_92DA14B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edu-knotia-ca.proxy2.hec.ca/Knowledge/Home.aspx?productID=114"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package" Target="../embeddings/Microsoft_Excel_Worksheet1.xlsx"/><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hyperlink" Target="https://edu.knotia.ca/Knowledge/Home.aspx?productID=114"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hyperlink" Target="https://edu.knotia.ca/Knowledge/Home.aspx?productID=114"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hyperlink" Target="https://edu.knotia.ca/Knowledge/Home.aspx?productID=114"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hyperlink" Target="https://edu.knotia.ca/Knowledge/Home.aspx?productID=114"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ctrTitle"/>
          </p:nvPr>
        </p:nvSpPr>
        <p:spPr/>
        <p:txBody>
          <a:bodyPr>
            <a:normAutofit/>
          </a:bodyPr>
          <a:lstStyle/>
          <a:p>
            <a:r>
              <a:rPr lang="fr-FR" sz="3200" b="1" dirty="0"/>
              <a:t>40938</a:t>
            </a:r>
            <a:br>
              <a:rPr lang="fr-FR" sz="4000" b="1" dirty="0"/>
            </a:br>
            <a:r>
              <a:rPr lang="fr-FR" sz="4000" b="1" dirty="0"/>
              <a:t>Instruments financiers</a:t>
            </a:r>
            <a:br>
              <a:rPr lang="fr-FR" sz="4000" b="1"/>
            </a:br>
            <a:r>
              <a:rPr lang="fr-FR" sz="4000" b="1"/>
              <a:t>« </a:t>
            </a:r>
            <a:r>
              <a:rPr lang="fr-FR" sz="4000" b="1" i="1"/>
              <a:t>classe »</a:t>
            </a:r>
            <a:br>
              <a:rPr lang="fr-FR" sz="2900" b="1" dirty="0"/>
            </a:br>
            <a:endParaRPr lang="fr-FR" sz="2900" b="1" dirty="0"/>
          </a:p>
        </p:txBody>
      </p:sp>
      <p:sp>
        <p:nvSpPr>
          <p:cNvPr id="3" name="Sous-titre 2"/>
          <p:cNvSpPr>
            <a:spLocks noGrp="1"/>
          </p:cNvSpPr>
          <p:nvPr>
            <p:ph type="subTitle" idx="1"/>
          </p:nvPr>
        </p:nvSpPr>
        <p:spPr/>
        <p:txBody>
          <a:bodyPr>
            <a:normAutofit lnSpcReduction="10000"/>
          </a:bodyPr>
          <a:lstStyle/>
          <a:p>
            <a:endParaRPr lang="fr-FR" dirty="0"/>
          </a:p>
          <a:p>
            <a:endParaRPr lang="fr-FR" dirty="0"/>
          </a:p>
          <a:p>
            <a:r>
              <a:rPr lang="fr-FR" dirty="0">
                <a:solidFill>
                  <a:schemeClr val="tx1"/>
                </a:solidFill>
              </a:rPr>
              <a:t>Louise Overbeek</a:t>
            </a:r>
            <a:endParaRPr lang="fr-FR" sz="2200" dirty="0"/>
          </a:p>
          <a:p>
            <a:r>
              <a:rPr lang="fr-FR" sz="2100" dirty="0"/>
              <a:t>Février 2025</a:t>
            </a:r>
          </a:p>
        </p:txBody>
      </p:sp>
    </p:spTree>
    <p:extLst>
      <p:ext uri="{BB962C8B-B14F-4D97-AF65-F5344CB8AC3E}">
        <p14:creationId xmlns:p14="http://schemas.microsoft.com/office/powerpoint/2010/main" val="8175120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BC45744-CF28-4236-97E6-27FF8EB9BAE3}"/>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49DE65BA-2FBC-4580-A9D4-3B56F534CCD0}"/>
              </a:ext>
            </a:extLst>
          </p:cNvPr>
          <p:cNvSpPr>
            <a:spLocks noGrp="1"/>
          </p:cNvSpPr>
          <p:nvPr>
            <p:ph idx="1"/>
          </p:nvPr>
        </p:nvSpPr>
        <p:spPr>
          <a:xfrm>
            <a:off x="585952" y="1847850"/>
            <a:ext cx="10515600" cy="4351338"/>
          </a:xfrm>
        </p:spPr>
        <p:txBody>
          <a:bodyPr/>
          <a:lstStyle/>
          <a:p>
            <a:r>
              <a:rPr lang="fr-CA" dirty="0"/>
              <a:t>Pages « bleu foncé » : questions</a:t>
            </a:r>
          </a:p>
          <a:p>
            <a:r>
              <a:rPr lang="fr-CA" dirty="0"/>
              <a:t>Pages « bleu pâle » : réponse</a:t>
            </a:r>
          </a:p>
          <a:p>
            <a:r>
              <a:rPr lang="fr-CA" dirty="0"/>
              <a:t>Pages « vert » : à réviser </a:t>
            </a:r>
            <a:r>
              <a:rPr lang="fr-CA" u="sng" dirty="0"/>
              <a:t>au besoin</a:t>
            </a:r>
          </a:p>
          <a:p>
            <a:r>
              <a:rPr lang="fr-FR" dirty="0"/>
              <a:t>Pages « gris » : non requis</a:t>
            </a:r>
          </a:p>
        </p:txBody>
      </p:sp>
      <p:sp>
        <p:nvSpPr>
          <p:cNvPr id="4" name="Espace réservé du pied de page 3">
            <a:extLst>
              <a:ext uri="{FF2B5EF4-FFF2-40B4-BE49-F238E27FC236}">
                <a16:creationId xmlns:a16="http://schemas.microsoft.com/office/drawing/2014/main" id="{1E3BB1CA-5EDE-4E59-876B-A34DA358DB57}"/>
              </a:ext>
            </a:extLst>
          </p:cNvPr>
          <p:cNvSpPr>
            <a:spLocks noGrp="1"/>
          </p:cNvSpPr>
          <p:nvPr>
            <p:ph type="ftr" sz="quarter" idx="11"/>
          </p:nvPr>
        </p:nvSpPr>
        <p:spPr/>
        <p:txBody>
          <a:bodyPr/>
          <a:lstStyle/>
          <a:p>
            <a:r>
              <a:rPr lang="fr-CA"/>
              <a:t>Droits réservés - Louise Overbeek</a:t>
            </a:r>
          </a:p>
        </p:txBody>
      </p:sp>
      <p:sp>
        <p:nvSpPr>
          <p:cNvPr id="5" name="Espace réservé du numéro de diapositive 4">
            <a:extLst>
              <a:ext uri="{FF2B5EF4-FFF2-40B4-BE49-F238E27FC236}">
                <a16:creationId xmlns:a16="http://schemas.microsoft.com/office/drawing/2014/main" id="{1A15EF9F-3B86-4645-BC6B-53893494502D}"/>
              </a:ext>
            </a:extLst>
          </p:cNvPr>
          <p:cNvSpPr>
            <a:spLocks noGrp="1"/>
          </p:cNvSpPr>
          <p:nvPr>
            <p:ph type="sldNum" sz="quarter" idx="12"/>
          </p:nvPr>
        </p:nvSpPr>
        <p:spPr/>
        <p:txBody>
          <a:bodyPr/>
          <a:lstStyle/>
          <a:p>
            <a:fld id="{D5C8285E-D276-48ED-A38D-FCE3A7D9B93F}" type="slidenum">
              <a:rPr lang="fr-CA" smtClean="0"/>
              <a:t>2</a:t>
            </a:fld>
            <a:endParaRPr lang="fr-CA"/>
          </a:p>
        </p:txBody>
      </p:sp>
    </p:spTree>
    <p:extLst>
      <p:ext uri="{BB962C8B-B14F-4D97-AF65-F5344CB8AC3E}">
        <p14:creationId xmlns:p14="http://schemas.microsoft.com/office/powerpoint/2010/main" val="15069466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a:bodyPr>
          <a:lstStyle/>
          <a:p>
            <a:pPr marL="0" indent="0" algn="ctr">
              <a:buNone/>
            </a:pPr>
            <a:r>
              <a:rPr lang="fr-CA" sz="6000" b="1" dirty="0">
                <a:solidFill>
                  <a:srgbClr val="FF0000"/>
                </a:solidFill>
              </a:rPr>
              <a:t>Instruments financiers</a:t>
            </a:r>
          </a:p>
          <a:p>
            <a:pPr marL="0" indent="0" algn="ctr">
              <a:buNone/>
            </a:pPr>
            <a:endParaRPr lang="fr-CA" sz="6000" b="1" dirty="0">
              <a:solidFill>
                <a:srgbClr val="FF0000"/>
              </a:solidFill>
            </a:endParaRPr>
          </a:p>
          <a:p>
            <a:pPr marL="0" indent="0" algn="ctr">
              <a:buNone/>
            </a:pPr>
            <a:r>
              <a:rPr lang="fr-CA" b="1" dirty="0">
                <a:solidFill>
                  <a:srgbClr val="FF0000"/>
                </a:solidFill>
              </a:rPr>
              <a:t>IFRS 9</a:t>
            </a:r>
          </a:p>
          <a:p>
            <a:pPr marL="0" indent="0" algn="ctr">
              <a:buNone/>
            </a:pPr>
            <a:r>
              <a:rPr lang="fr-CA" b="1" dirty="0">
                <a:solidFill>
                  <a:srgbClr val="FF0000"/>
                </a:solidFill>
              </a:rPr>
              <a:t>IAS 32 (Présentation)</a:t>
            </a:r>
          </a:p>
          <a:p>
            <a:pPr marL="0" indent="0" algn="ctr">
              <a:buNone/>
            </a:pPr>
            <a:r>
              <a:rPr lang="fr-CA" b="1" dirty="0">
                <a:solidFill>
                  <a:srgbClr val="FF0000"/>
                </a:solidFill>
              </a:rPr>
              <a:t>IFRS 7 (Information à fournir)</a:t>
            </a:r>
          </a:p>
          <a:p>
            <a:pPr marL="0" indent="0" algn="ctr">
              <a:buNone/>
            </a:pPr>
            <a:endParaRPr lang="fr-CA" sz="1200" b="1" dirty="0">
              <a:solidFill>
                <a:srgbClr val="FF0000"/>
              </a:solidFill>
            </a:endParaRPr>
          </a:p>
          <a:p>
            <a:pPr marL="0" indent="0" algn="ctr">
              <a:buNone/>
            </a:pPr>
            <a:r>
              <a:rPr lang="fr-CA" b="1" dirty="0">
                <a:solidFill>
                  <a:srgbClr val="FF0000"/>
                </a:solidFill>
              </a:rPr>
              <a:t>NCECF chap. 3856</a:t>
            </a:r>
            <a:endParaRPr lang="fr-FR" dirty="0">
              <a:solidFill>
                <a:srgbClr val="FF0000"/>
              </a:solidFill>
            </a:endParaRP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3</a:t>
            </a:fld>
            <a:endParaRPr lang="fr-FR"/>
          </a:p>
        </p:txBody>
      </p:sp>
      <p:sp>
        <p:nvSpPr>
          <p:cNvPr id="5" name="Espace réservé du pied de page 4">
            <a:extLst>
              <a:ext uri="{FF2B5EF4-FFF2-40B4-BE49-F238E27FC236}">
                <a16:creationId xmlns:a16="http://schemas.microsoft.com/office/drawing/2014/main" id="{CA192D04-F5E2-4351-BB3B-00D594DA9EF2}"/>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40758087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Instruments financiers</a:t>
            </a:r>
          </a:p>
        </p:txBody>
      </p:sp>
      <p:sp>
        <p:nvSpPr>
          <p:cNvPr id="3" name="Espace réservé du contenu 2"/>
          <p:cNvSpPr>
            <a:spLocks noGrp="1"/>
          </p:cNvSpPr>
          <p:nvPr>
            <p:ph idx="1"/>
          </p:nvPr>
        </p:nvSpPr>
        <p:spPr/>
        <p:txBody>
          <a:bodyPr/>
          <a:lstStyle/>
          <a:p>
            <a:pPr marL="0" indent="0">
              <a:spcBef>
                <a:spcPct val="50000"/>
              </a:spcBef>
              <a:buClr>
                <a:srgbClr val="FFD200"/>
              </a:buClr>
              <a:buSzPct val="75000"/>
              <a:buNone/>
            </a:pPr>
            <a:r>
              <a:rPr lang="fr-CA" dirty="0"/>
              <a:t>Traitement des instruments financiers :</a:t>
            </a:r>
          </a:p>
          <a:p>
            <a:pPr>
              <a:spcBef>
                <a:spcPct val="50000"/>
              </a:spcBef>
              <a:buClr>
                <a:srgbClr val="FFD200"/>
              </a:buClr>
              <a:buSzPct val="75000"/>
            </a:pPr>
            <a:r>
              <a:rPr lang="fr-CA" dirty="0"/>
              <a:t>IFRS 9 définit les règles de comptabilisation et d’évaluation portant sur les instruments financiers.</a:t>
            </a:r>
          </a:p>
          <a:p>
            <a:pPr>
              <a:spcBef>
                <a:spcPct val="50000"/>
              </a:spcBef>
              <a:buClr>
                <a:srgbClr val="FFD200"/>
              </a:buClr>
              <a:buSzPct val="75000"/>
            </a:pPr>
            <a:r>
              <a:rPr lang="fr-CA" dirty="0"/>
              <a:t>IAS 32 définit les règles de présentation.</a:t>
            </a:r>
          </a:p>
          <a:p>
            <a:pPr>
              <a:spcBef>
                <a:spcPct val="50000"/>
              </a:spcBef>
              <a:buClr>
                <a:srgbClr val="FFD200"/>
              </a:buClr>
              <a:buSzPct val="75000"/>
            </a:pPr>
            <a:r>
              <a:rPr lang="fr-CA" dirty="0"/>
              <a:t>IFRS 7 définit les règles sur les informations à fournir portant sur les instruments financiers.</a:t>
            </a:r>
          </a:p>
          <a:p>
            <a:pPr>
              <a:spcBef>
                <a:spcPct val="50000"/>
              </a:spcBef>
              <a:buClr>
                <a:srgbClr val="FFD200"/>
              </a:buClr>
              <a:buSzPct val="75000"/>
            </a:pPr>
            <a:endParaRPr lang="fr-CA" dirty="0"/>
          </a:p>
          <a:p>
            <a:pPr>
              <a:spcBef>
                <a:spcPct val="50000"/>
              </a:spcBef>
              <a:buClr>
                <a:srgbClr val="FFD200"/>
              </a:buClr>
              <a:buSzPct val="75000"/>
            </a:pPr>
            <a:r>
              <a:rPr lang="fr-CA" dirty="0"/>
              <a:t>NCECF : regroupé dans un chapitre – chap. 3856</a:t>
            </a:r>
          </a:p>
        </p:txBody>
      </p:sp>
      <p:sp>
        <p:nvSpPr>
          <p:cNvPr id="4" name="Espace réservé du pied de page 3">
            <a:extLst>
              <a:ext uri="{FF2B5EF4-FFF2-40B4-BE49-F238E27FC236}">
                <a16:creationId xmlns:a16="http://schemas.microsoft.com/office/drawing/2014/main" id="{100D57D4-FE0F-480E-BB3C-C35DB3D23083}"/>
              </a:ext>
            </a:extLst>
          </p:cNvPr>
          <p:cNvSpPr>
            <a:spLocks noGrp="1"/>
          </p:cNvSpPr>
          <p:nvPr>
            <p:ph type="ftr" sz="quarter" idx="11"/>
          </p:nvPr>
        </p:nvSpPr>
        <p:spPr/>
        <p:txBody>
          <a:bodyPr/>
          <a:lstStyle/>
          <a:p>
            <a:r>
              <a:rPr lang="fr-CA"/>
              <a:t>Droits réservés - Louise Overbeek</a:t>
            </a:r>
          </a:p>
        </p:txBody>
      </p:sp>
      <p:sp>
        <p:nvSpPr>
          <p:cNvPr id="5" name="Espace réservé du numéro de diapositive 4">
            <a:extLst>
              <a:ext uri="{FF2B5EF4-FFF2-40B4-BE49-F238E27FC236}">
                <a16:creationId xmlns:a16="http://schemas.microsoft.com/office/drawing/2014/main" id="{FEEAD24D-794D-4BE4-9F30-847CBA632227}"/>
              </a:ext>
            </a:extLst>
          </p:cNvPr>
          <p:cNvSpPr>
            <a:spLocks noGrp="1"/>
          </p:cNvSpPr>
          <p:nvPr>
            <p:ph type="sldNum" sz="quarter" idx="12"/>
          </p:nvPr>
        </p:nvSpPr>
        <p:spPr/>
        <p:txBody>
          <a:bodyPr/>
          <a:lstStyle/>
          <a:p>
            <a:fld id="{D5C8285E-D276-48ED-A38D-FCE3A7D9B93F}" type="slidenum">
              <a:rPr lang="fr-CA" smtClean="0"/>
              <a:t>4</a:t>
            </a:fld>
            <a:endParaRPr lang="fr-CA"/>
          </a:p>
        </p:txBody>
      </p:sp>
    </p:spTree>
    <p:extLst>
      <p:ext uri="{BB962C8B-B14F-4D97-AF65-F5344CB8AC3E}">
        <p14:creationId xmlns:p14="http://schemas.microsoft.com/office/powerpoint/2010/main" val="29768143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Champs d’application</a:t>
            </a:r>
          </a:p>
        </p:txBody>
      </p:sp>
      <p:sp>
        <p:nvSpPr>
          <p:cNvPr id="3" name="Espace réservé du contenu 2"/>
          <p:cNvSpPr>
            <a:spLocks noGrp="1"/>
          </p:cNvSpPr>
          <p:nvPr>
            <p:ph idx="1"/>
          </p:nvPr>
        </p:nvSpPr>
        <p:spPr/>
        <p:txBody>
          <a:bodyPr/>
          <a:lstStyle/>
          <a:p>
            <a:r>
              <a:rPr lang="fr-CA" dirty="0"/>
              <a:t>Ne s’applique pas à :</a:t>
            </a:r>
          </a:p>
          <a:p>
            <a:pPr lvl="1"/>
            <a:r>
              <a:rPr lang="fr-CA" dirty="0"/>
              <a:t>Contrats de location</a:t>
            </a:r>
          </a:p>
          <a:p>
            <a:pPr lvl="1"/>
            <a:r>
              <a:rPr lang="fr-CA" dirty="0"/>
              <a:t>Placements stratégiques</a:t>
            </a:r>
          </a:p>
          <a:p>
            <a:pPr lvl="1"/>
            <a:r>
              <a:rPr lang="fr-CA" dirty="0"/>
              <a:t>Rémunération à base d’actions</a:t>
            </a:r>
          </a:p>
          <a:p>
            <a:pPr lvl="1"/>
            <a:endParaRPr lang="fr-CA" dirty="0"/>
          </a:p>
          <a:p>
            <a:pPr lvl="2">
              <a:buFont typeface="Wingdings" panose="05000000000000000000" pitchFamily="2" charset="2"/>
              <a:buChar char="Ø"/>
            </a:pPr>
            <a:r>
              <a:rPr lang="fr-CA" dirty="0"/>
              <a:t>Norme spécifique a préséance</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5</a:t>
            </a:fld>
            <a:endParaRPr lang="fr-FR"/>
          </a:p>
        </p:txBody>
      </p:sp>
      <p:sp>
        <p:nvSpPr>
          <p:cNvPr id="5" name="Espace réservé du pied de page 4">
            <a:extLst>
              <a:ext uri="{FF2B5EF4-FFF2-40B4-BE49-F238E27FC236}">
                <a16:creationId xmlns:a16="http://schemas.microsoft.com/office/drawing/2014/main" id="{FA7DB3BA-34A3-4BE8-B6E1-EA06E638C36C}"/>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31726878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C973084-9707-482B-8995-D4FFA940D516}"/>
              </a:ext>
            </a:extLst>
          </p:cNvPr>
          <p:cNvSpPr>
            <a:spLocks noGrp="1"/>
          </p:cNvSpPr>
          <p:nvPr>
            <p:ph type="title"/>
          </p:nvPr>
        </p:nvSpPr>
        <p:spPr/>
        <p:txBody>
          <a:bodyPr>
            <a:normAutofit/>
          </a:bodyPr>
          <a:lstStyle/>
          <a:p>
            <a:r>
              <a:rPr lang="fr-FR" sz="4800" b="1" dirty="0"/>
              <a:t>Évaluation initiale </a:t>
            </a:r>
            <a:r>
              <a:rPr lang="fr-FR" sz="4800" dirty="0"/>
              <a:t>- actifs financiers</a:t>
            </a:r>
            <a:endParaRPr lang="fr-CA" sz="4800" dirty="0"/>
          </a:p>
        </p:txBody>
      </p:sp>
      <p:sp>
        <p:nvSpPr>
          <p:cNvPr id="4" name="Espace réservé du numéro de diapositive 3">
            <a:extLst>
              <a:ext uri="{FF2B5EF4-FFF2-40B4-BE49-F238E27FC236}">
                <a16:creationId xmlns:a16="http://schemas.microsoft.com/office/drawing/2014/main" id="{CEF11F13-A860-4601-8273-961964B2884F}"/>
              </a:ext>
            </a:extLst>
          </p:cNvPr>
          <p:cNvSpPr>
            <a:spLocks noGrp="1"/>
          </p:cNvSpPr>
          <p:nvPr>
            <p:ph type="sldNum" sz="quarter" idx="12"/>
          </p:nvPr>
        </p:nvSpPr>
        <p:spPr/>
        <p:txBody>
          <a:bodyPr/>
          <a:lstStyle/>
          <a:p>
            <a:fld id="{93CCD850-57C1-B143-82E0-6B89E4215FB0}" type="slidenum">
              <a:rPr lang="fr-FR" smtClean="0"/>
              <a:t>6</a:t>
            </a:fld>
            <a:endParaRPr lang="fr-FR"/>
          </a:p>
        </p:txBody>
      </p:sp>
      <p:sp>
        <p:nvSpPr>
          <p:cNvPr id="6" name="Espace réservé du contenu 5">
            <a:extLst>
              <a:ext uri="{FF2B5EF4-FFF2-40B4-BE49-F238E27FC236}">
                <a16:creationId xmlns:a16="http://schemas.microsoft.com/office/drawing/2014/main" id="{9AF047C9-D415-45BD-9210-D9D226F5F80B}"/>
              </a:ext>
            </a:extLst>
          </p:cNvPr>
          <p:cNvSpPr txBox="1">
            <a:spLocks/>
          </p:cNvSpPr>
          <p:nvPr/>
        </p:nvSpPr>
        <p:spPr>
          <a:xfrm>
            <a:off x="1064871" y="1700808"/>
            <a:ext cx="10185721" cy="465554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73050" lvl="1" indent="-273050">
              <a:spcBef>
                <a:spcPts val="0"/>
              </a:spcBef>
              <a:buNone/>
              <a:defRPr/>
            </a:pPr>
            <a:r>
              <a:rPr lang="fr-FR" sz="2400" b="1" dirty="0"/>
              <a:t>IFRS</a:t>
            </a:r>
          </a:p>
          <a:p>
            <a:pPr marL="617220" lvl="1" indent="-342900">
              <a:spcBef>
                <a:spcPts val="0"/>
              </a:spcBef>
              <a:defRPr/>
            </a:pPr>
            <a:r>
              <a:rPr lang="fr-FR" sz="2400" dirty="0"/>
              <a:t>Comptabilisation initiale à la </a:t>
            </a:r>
            <a:r>
              <a:rPr lang="fr-FR" sz="2400" u="sng" dirty="0"/>
              <a:t>juste valeur</a:t>
            </a:r>
          </a:p>
          <a:p>
            <a:pPr marL="1017270" lvl="2" indent="-342900">
              <a:spcBef>
                <a:spcPts val="0"/>
              </a:spcBef>
              <a:buFont typeface="Arial" panose="020B0604020202020204" pitchFamily="34" charset="0"/>
              <a:buChar char="•"/>
              <a:defRPr/>
            </a:pPr>
            <a:r>
              <a:rPr lang="fr-FR" sz="2000" dirty="0"/>
              <a:t>Contrepartie versée</a:t>
            </a:r>
          </a:p>
          <a:p>
            <a:pPr marL="1017270" lvl="2" indent="-342900">
              <a:spcBef>
                <a:spcPts val="0"/>
              </a:spcBef>
              <a:buFont typeface="Arial" panose="020B0604020202020204" pitchFamily="34" charset="0"/>
              <a:buChar char="•"/>
              <a:defRPr/>
            </a:pPr>
            <a:endParaRPr lang="fr-FR" sz="2000" dirty="0"/>
          </a:p>
          <a:p>
            <a:pPr marL="617220" lvl="1" indent="-342900">
              <a:spcBef>
                <a:spcPts val="0"/>
              </a:spcBef>
              <a:defRPr/>
            </a:pPr>
            <a:r>
              <a:rPr lang="fr-FR" sz="2400" dirty="0"/>
              <a:t>Coûts de transaction </a:t>
            </a:r>
          </a:p>
          <a:p>
            <a:pPr marL="1349057" lvl="3" indent="-342900">
              <a:spcBef>
                <a:spcPts val="0"/>
              </a:spcBef>
              <a:buFont typeface="Arial" panose="020B0604020202020204" pitchFamily="34" charset="0"/>
              <a:buChar char="•"/>
              <a:defRPr/>
            </a:pPr>
            <a:r>
              <a:rPr lang="fr-FR" dirty="0"/>
              <a:t>AF à la JVBRN : coûts de transaction passés en RN</a:t>
            </a:r>
          </a:p>
          <a:p>
            <a:pPr marL="1349057" lvl="3" indent="-342900">
              <a:spcBef>
                <a:spcPts val="0"/>
              </a:spcBef>
              <a:buFont typeface="Arial" panose="020B0604020202020204" pitchFamily="34" charset="0"/>
              <a:buChar char="•"/>
              <a:defRPr/>
            </a:pPr>
            <a:r>
              <a:rPr lang="fr-FR" dirty="0"/>
              <a:t>AF comptabilisé au coût amorti </a:t>
            </a:r>
            <a:r>
              <a:rPr lang="fr-FR" i="1" dirty="0"/>
              <a:t>(obligations)</a:t>
            </a:r>
            <a:r>
              <a:rPr lang="fr-FR" dirty="0"/>
              <a:t> ou à la JVBRG : Coûts de transaction ajoutés à la JV</a:t>
            </a:r>
          </a:p>
          <a:p>
            <a:pPr marL="548957" lvl="2" indent="0">
              <a:spcBef>
                <a:spcPts val="0"/>
              </a:spcBef>
              <a:buNone/>
              <a:defRPr/>
            </a:pPr>
            <a:endParaRPr lang="fr-FR" sz="1100" b="1" dirty="0"/>
          </a:p>
          <a:p>
            <a:pPr marL="547688" lvl="2" indent="-547688">
              <a:spcBef>
                <a:spcPts val="0"/>
              </a:spcBef>
              <a:buNone/>
              <a:defRPr/>
            </a:pPr>
            <a:r>
              <a:rPr lang="fr-FR" b="1" dirty="0"/>
              <a:t>NCECF </a:t>
            </a:r>
            <a:r>
              <a:rPr lang="fr-FR" sz="1800" b="1" dirty="0"/>
              <a:t>: </a:t>
            </a:r>
          </a:p>
          <a:p>
            <a:pPr marL="1291907" lvl="3" indent="-285750">
              <a:spcBef>
                <a:spcPts val="0"/>
              </a:spcBef>
              <a:buFont typeface="Wingdings" panose="05000000000000000000" pitchFamily="2" charset="2"/>
              <a:buChar char="Ø"/>
              <a:defRPr/>
            </a:pPr>
            <a:r>
              <a:rPr lang="fr-FR" u="sng" dirty="0"/>
              <a:t>Si</a:t>
            </a:r>
            <a:r>
              <a:rPr lang="fr-FR" b="1" dirty="0"/>
              <a:t> </a:t>
            </a:r>
            <a:r>
              <a:rPr lang="fr-FR" dirty="0"/>
              <a:t>à la juste valeur : frais de transaction au résultat net</a:t>
            </a:r>
          </a:p>
          <a:p>
            <a:pPr marL="1291907" lvl="3" indent="-285750">
              <a:spcBef>
                <a:spcPts val="0"/>
              </a:spcBef>
              <a:buFont typeface="Wingdings" panose="05000000000000000000" pitchFamily="2" charset="2"/>
              <a:buChar char="Ø"/>
              <a:defRPr/>
            </a:pPr>
            <a:r>
              <a:rPr lang="fr-FR" dirty="0"/>
              <a:t>Si au coût : frais de transaction ajoutés à l’actif financier</a:t>
            </a:r>
          </a:p>
        </p:txBody>
      </p:sp>
      <p:sp>
        <p:nvSpPr>
          <p:cNvPr id="3" name="Espace réservé du pied de page 2">
            <a:extLst>
              <a:ext uri="{FF2B5EF4-FFF2-40B4-BE49-F238E27FC236}">
                <a16:creationId xmlns:a16="http://schemas.microsoft.com/office/drawing/2014/main" id="{43DFF243-8C2A-454E-B325-59C8E879D649}"/>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5610955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C973084-9707-482B-8995-D4FFA940D516}"/>
              </a:ext>
            </a:extLst>
          </p:cNvPr>
          <p:cNvSpPr>
            <a:spLocks noGrp="1"/>
          </p:cNvSpPr>
          <p:nvPr>
            <p:ph type="title"/>
          </p:nvPr>
        </p:nvSpPr>
        <p:spPr>
          <a:xfrm>
            <a:off x="903890" y="258892"/>
            <a:ext cx="10449910" cy="1143000"/>
          </a:xfrm>
        </p:spPr>
        <p:txBody>
          <a:bodyPr>
            <a:normAutofit/>
          </a:bodyPr>
          <a:lstStyle/>
          <a:p>
            <a:r>
              <a:rPr lang="fr-FR" sz="4800" dirty="0"/>
              <a:t>Évaluation initiale - passifs financiers</a:t>
            </a:r>
            <a:endParaRPr lang="fr-CA" sz="4800" dirty="0"/>
          </a:p>
        </p:txBody>
      </p:sp>
      <p:sp>
        <p:nvSpPr>
          <p:cNvPr id="4" name="Espace réservé du numéro de diapositive 3">
            <a:extLst>
              <a:ext uri="{FF2B5EF4-FFF2-40B4-BE49-F238E27FC236}">
                <a16:creationId xmlns:a16="http://schemas.microsoft.com/office/drawing/2014/main" id="{CEF11F13-A860-4601-8273-961964B2884F}"/>
              </a:ext>
            </a:extLst>
          </p:cNvPr>
          <p:cNvSpPr>
            <a:spLocks noGrp="1"/>
          </p:cNvSpPr>
          <p:nvPr>
            <p:ph type="sldNum" sz="quarter" idx="12"/>
          </p:nvPr>
        </p:nvSpPr>
        <p:spPr/>
        <p:txBody>
          <a:bodyPr/>
          <a:lstStyle/>
          <a:p>
            <a:fld id="{93CCD850-57C1-B143-82E0-6B89E4215FB0}" type="slidenum">
              <a:rPr lang="fr-FR" smtClean="0"/>
              <a:t>7</a:t>
            </a:fld>
            <a:endParaRPr lang="fr-FR"/>
          </a:p>
        </p:txBody>
      </p:sp>
      <p:sp>
        <p:nvSpPr>
          <p:cNvPr id="6" name="Espace réservé du contenu 5">
            <a:extLst>
              <a:ext uri="{FF2B5EF4-FFF2-40B4-BE49-F238E27FC236}">
                <a16:creationId xmlns:a16="http://schemas.microsoft.com/office/drawing/2014/main" id="{9AF047C9-D415-45BD-9210-D9D226F5F80B}"/>
              </a:ext>
            </a:extLst>
          </p:cNvPr>
          <p:cNvSpPr txBox="1">
            <a:spLocks/>
          </p:cNvSpPr>
          <p:nvPr/>
        </p:nvSpPr>
        <p:spPr>
          <a:xfrm>
            <a:off x="1053295" y="1700808"/>
            <a:ext cx="10000527" cy="4452857"/>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73050" lvl="1" indent="-273050">
              <a:spcBef>
                <a:spcPts val="1800"/>
              </a:spcBef>
              <a:buNone/>
              <a:defRPr/>
            </a:pPr>
            <a:r>
              <a:rPr lang="fr-FR" sz="2400" b="1" dirty="0"/>
              <a:t>IFRS</a:t>
            </a:r>
          </a:p>
          <a:p>
            <a:pPr marL="617220" lvl="1" indent="-342900">
              <a:spcBef>
                <a:spcPts val="1800"/>
              </a:spcBef>
              <a:defRPr/>
            </a:pPr>
            <a:r>
              <a:rPr lang="fr-FR" sz="2400" dirty="0"/>
              <a:t>Comptabilisation </a:t>
            </a:r>
            <a:r>
              <a:rPr lang="fr-FR" sz="2400" b="1" dirty="0"/>
              <a:t>initiale</a:t>
            </a:r>
            <a:r>
              <a:rPr lang="fr-FR" sz="2400" dirty="0"/>
              <a:t> à la juste valeur </a:t>
            </a:r>
            <a:r>
              <a:rPr lang="fr-FR" sz="2400" i="1" dirty="0"/>
              <a:t> </a:t>
            </a:r>
            <a:endParaRPr lang="fr-FR" sz="2400" dirty="0"/>
          </a:p>
          <a:p>
            <a:pPr marL="823277" lvl="2" indent="-274320">
              <a:spcBef>
                <a:spcPts val="1800"/>
              </a:spcBef>
              <a:buFont typeface="Wingdings 3"/>
              <a:buChar char=""/>
              <a:defRPr/>
            </a:pPr>
            <a:r>
              <a:rPr lang="fr-FR" sz="2000" dirty="0"/>
              <a:t>Coûts de transaction </a:t>
            </a:r>
            <a:r>
              <a:rPr lang="fr-FR" sz="2000" u="sng" dirty="0"/>
              <a:t>déduits</a:t>
            </a:r>
            <a:r>
              <a:rPr lang="fr-FR" sz="2000" dirty="0"/>
              <a:t> sauf si évaluation ultérieure à la JV</a:t>
            </a:r>
          </a:p>
          <a:p>
            <a:pPr marL="548957" lvl="2" indent="0">
              <a:spcBef>
                <a:spcPts val="1800"/>
              </a:spcBef>
              <a:buNone/>
              <a:defRPr/>
            </a:pPr>
            <a:endParaRPr lang="fr-FR" sz="1800" b="1" dirty="0"/>
          </a:p>
          <a:p>
            <a:pPr marL="547688" lvl="2" indent="-547688">
              <a:spcBef>
                <a:spcPts val="1800"/>
              </a:spcBef>
              <a:buNone/>
              <a:defRPr/>
            </a:pPr>
            <a:r>
              <a:rPr lang="fr-FR" sz="1800" b="1" dirty="0"/>
              <a:t>NCECF</a:t>
            </a:r>
          </a:p>
          <a:p>
            <a:pPr marL="547688" lvl="2" indent="-547688">
              <a:spcBef>
                <a:spcPts val="1800"/>
              </a:spcBef>
              <a:defRPr/>
            </a:pPr>
            <a:r>
              <a:rPr lang="fr-FR" sz="1800" b="1" dirty="0"/>
              <a:t>idem</a:t>
            </a:r>
            <a:endParaRPr lang="fr-FR" sz="2800" b="1" dirty="0"/>
          </a:p>
        </p:txBody>
      </p:sp>
      <p:sp>
        <p:nvSpPr>
          <p:cNvPr id="3" name="Espace réservé du pied de page 2">
            <a:extLst>
              <a:ext uri="{FF2B5EF4-FFF2-40B4-BE49-F238E27FC236}">
                <a16:creationId xmlns:a16="http://schemas.microsoft.com/office/drawing/2014/main" id="{F66EFA8E-5D90-4F45-A11B-84218CFEE038}"/>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40209881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93379" y="336330"/>
            <a:ext cx="10794124" cy="258030"/>
          </a:xfrm>
        </p:spPr>
        <p:txBody>
          <a:bodyPr>
            <a:normAutofit fontScale="90000"/>
          </a:bodyPr>
          <a:lstStyle/>
          <a:p>
            <a:r>
              <a:rPr lang="fr-CA" b="1" dirty="0"/>
              <a:t>Évaluation ultérieure </a:t>
            </a:r>
            <a:r>
              <a:rPr lang="fr-CA" dirty="0"/>
              <a:t>Classement IFRS 9 - ACTIFS</a:t>
            </a:r>
          </a:p>
        </p:txBody>
      </p:sp>
      <p:sp>
        <p:nvSpPr>
          <p:cNvPr id="3" name="Espace réservé du contenu 2"/>
          <p:cNvSpPr>
            <a:spLocks noGrp="1"/>
          </p:cNvSpPr>
          <p:nvPr>
            <p:ph idx="1"/>
          </p:nvPr>
        </p:nvSpPr>
        <p:spPr>
          <a:xfrm>
            <a:off x="729205" y="1600200"/>
            <a:ext cx="10509813" cy="4663440"/>
          </a:xfrm>
        </p:spPr>
        <p:txBody>
          <a:bodyPr>
            <a:normAutofit/>
          </a:bodyPr>
          <a:lstStyle/>
          <a:p>
            <a:pPr marL="0" indent="0" fontAlgn="base">
              <a:buNone/>
            </a:pPr>
            <a:endParaRPr lang="fr-CA"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8</a:t>
            </a:fld>
            <a:endParaRPr lang="fr-FR"/>
          </a:p>
        </p:txBody>
      </p:sp>
      <p:graphicFrame>
        <p:nvGraphicFramePr>
          <p:cNvPr id="5" name="Tableau 4"/>
          <p:cNvGraphicFramePr>
            <a:graphicFrameLocks noGrp="1"/>
          </p:cNvGraphicFramePr>
          <p:nvPr>
            <p:extLst>
              <p:ext uri="{D42A27DB-BD31-4B8C-83A1-F6EECF244321}">
                <p14:modId xmlns:p14="http://schemas.microsoft.com/office/powerpoint/2010/main" val="341906509"/>
              </p:ext>
            </p:extLst>
          </p:nvPr>
        </p:nvGraphicFramePr>
        <p:xfrm>
          <a:off x="219921" y="587127"/>
          <a:ext cx="11748303" cy="6065520"/>
        </p:xfrm>
        <a:graphic>
          <a:graphicData uri="http://schemas.openxmlformats.org/drawingml/2006/table">
            <a:tbl>
              <a:tblPr firstRow="1" bandRow="1">
                <a:tableStyleId>{5C22544A-7EE6-4342-B048-85BDC9FD1C3A}</a:tableStyleId>
              </a:tblPr>
              <a:tblGrid>
                <a:gridCol w="3136737">
                  <a:extLst>
                    <a:ext uri="{9D8B030D-6E8A-4147-A177-3AD203B41FA5}">
                      <a16:colId xmlns:a16="http://schemas.microsoft.com/office/drawing/2014/main" val="20000"/>
                    </a:ext>
                  </a:extLst>
                </a:gridCol>
                <a:gridCol w="4271058">
                  <a:extLst>
                    <a:ext uri="{9D8B030D-6E8A-4147-A177-3AD203B41FA5}">
                      <a16:colId xmlns:a16="http://schemas.microsoft.com/office/drawing/2014/main" val="20001"/>
                    </a:ext>
                  </a:extLst>
                </a:gridCol>
                <a:gridCol w="4340508">
                  <a:extLst>
                    <a:ext uri="{9D8B030D-6E8A-4147-A177-3AD203B41FA5}">
                      <a16:colId xmlns:a16="http://schemas.microsoft.com/office/drawing/2014/main" val="20002"/>
                    </a:ext>
                  </a:extLst>
                </a:gridCol>
              </a:tblGrid>
              <a:tr h="860248">
                <a:tc>
                  <a:txBody>
                    <a:bodyPr/>
                    <a:lstStyle/>
                    <a:p>
                      <a:r>
                        <a:rPr lang="fr-CA" dirty="0"/>
                        <a:t>Actifs financiers évalués au coût amorti </a:t>
                      </a:r>
                      <a:r>
                        <a:rPr lang="fr-CA" sz="1800" dirty="0"/>
                        <a:t>(au taux effectif) </a:t>
                      </a:r>
                      <a:r>
                        <a:rPr lang="fr-CA" sz="1600" dirty="0"/>
                        <a:t>(4.1.2)</a:t>
                      </a:r>
                      <a:endParaRPr lang="fr-CA" dirty="0"/>
                    </a:p>
                  </a:txBody>
                  <a:tcPr/>
                </a:tc>
                <a:tc>
                  <a:txBody>
                    <a:bodyPr/>
                    <a:lstStyle/>
                    <a:p>
                      <a:r>
                        <a:rPr lang="fr-CA" dirty="0"/>
                        <a:t>Actifs financiers évalués à la juste valeur par le biais des autres éléments du résultat global  </a:t>
                      </a:r>
                      <a:r>
                        <a:rPr lang="fr-CA" sz="1600" dirty="0"/>
                        <a:t>(4.1.2A)</a:t>
                      </a:r>
                      <a:endParaRPr lang="fr-CA" dirty="0"/>
                    </a:p>
                  </a:txBody>
                  <a:tcPr/>
                </a:tc>
                <a:tc>
                  <a:txBody>
                    <a:bodyPr/>
                    <a:lstStyle/>
                    <a:p>
                      <a:r>
                        <a:rPr lang="fr-CA" dirty="0"/>
                        <a:t>Actifs financiers évalués à la juste valeur par le biais du résultat net  </a:t>
                      </a:r>
                      <a:r>
                        <a:rPr lang="fr-CA" sz="1600" dirty="0"/>
                        <a:t>(4.1.4)</a:t>
                      </a:r>
                      <a:endParaRPr lang="fr-CA" dirty="0"/>
                    </a:p>
                  </a:txBody>
                  <a:tcPr/>
                </a:tc>
                <a:extLst>
                  <a:ext uri="{0D108BD9-81ED-4DB2-BD59-A6C34878D82A}">
                    <a16:rowId xmlns:a16="http://schemas.microsoft.com/office/drawing/2014/main" val="10000"/>
                  </a:ext>
                </a:extLst>
              </a:tr>
              <a:tr h="1634471">
                <a:tc>
                  <a:txBody>
                    <a:bodyPr/>
                    <a:lstStyle/>
                    <a:p>
                      <a:r>
                        <a:rPr lang="fr-CA" sz="1800" dirty="0"/>
                        <a:t>Modèle économique est de détenir l’AF afin d’en percevoir les flux de trésorerie contractuels (intérêts et principal)</a:t>
                      </a:r>
                      <a:endParaRPr lang="fr-CA" dirty="0"/>
                    </a:p>
                  </a:txBody>
                  <a:tcPr/>
                </a:tc>
                <a:tc>
                  <a:txBody>
                    <a:bodyPr/>
                    <a:lstStyle/>
                    <a:p>
                      <a:pPr marL="0" lvl="2" indent="0">
                        <a:buFont typeface="Wingdings" panose="05000000000000000000" pitchFamily="2" charset="2"/>
                        <a:buNone/>
                      </a:pPr>
                      <a:r>
                        <a:rPr lang="fr-CA" sz="1800" kern="1200" dirty="0">
                          <a:solidFill>
                            <a:schemeClr val="dk1"/>
                          </a:solidFill>
                          <a:latin typeface="+mn-lt"/>
                          <a:ea typeface="+mn-ea"/>
                          <a:cs typeface="+mn-cs"/>
                        </a:rPr>
                        <a:t>Modèle économique est de détenir l’AF afin d’en percevoir les flux de trésorerie contractuels (intérêts et principal) </a:t>
                      </a:r>
                      <a:r>
                        <a:rPr lang="fr-CA" sz="1800" b="1" kern="1200" dirty="0">
                          <a:solidFill>
                            <a:schemeClr val="dk1"/>
                          </a:solidFill>
                          <a:latin typeface="+mn-lt"/>
                          <a:ea typeface="+mn-ea"/>
                          <a:cs typeface="+mn-cs"/>
                        </a:rPr>
                        <a:t>et de le vendre</a:t>
                      </a:r>
                    </a:p>
                  </a:txBody>
                  <a:tcPr/>
                </a:tc>
                <a:tc>
                  <a:txBody>
                    <a:bodyPr/>
                    <a:lstStyle/>
                    <a:p>
                      <a:r>
                        <a:rPr lang="fr-CA" i="1" dirty="0"/>
                        <a:t>« Fins de transactions »</a:t>
                      </a:r>
                      <a:r>
                        <a:rPr lang="fr-CA" dirty="0"/>
                        <a:t> et si les autres catégories non applicables</a:t>
                      </a:r>
                    </a:p>
                    <a:p>
                      <a:pPr fontAlgn="base"/>
                      <a:r>
                        <a:rPr lang="fr-CA" dirty="0"/>
                        <a:t>Objectif : ni percevoir des FT contractuels, ni conserver des AF.</a:t>
                      </a:r>
                    </a:p>
                    <a:p>
                      <a:pPr fontAlgn="base"/>
                      <a:r>
                        <a:rPr lang="fr-CA" dirty="0"/>
                        <a:t>La réception de FT contractuels est accessoire au modèle économique</a:t>
                      </a:r>
                    </a:p>
                  </a:txBody>
                  <a:tcPr/>
                </a:tc>
                <a:extLst>
                  <a:ext uri="{0D108BD9-81ED-4DB2-BD59-A6C34878D82A}">
                    <a16:rowId xmlns:a16="http://schemas.microsoft.com/office/drawing/2014/main" val="10001"/>
                  </a:ext>
                </a:extLst>
              </a:tr>
              <a:tr h="602174">
                <a:tc>
                  <a:txBody>
                    <a:bodyPr/>
                    <a:lstStyle/>
                    <a:p>
                      <a:r>
                        <a:rPr lang="fr-CA" dirty="0"/>
                        <a:t>Les ventes sont possibles, mais elles sont rares</a:t>
                      </a:r>
                    </a:p>
                  </a:txBody>
                  <a:tcPr/>
                </a:tc>
                <a:tc>
                  <a:txBody>
                    <a:bodyPr/>
                    <a:lstStyle/>
                    <a:p>
                      <a:r>
                        <a:rPr lang="fr-CA" dirty="0"/>
                        <a:t>Les ventes sont plus fréquentes</a:t>
                      </a:r>
                    </a:p>
                  </a:txBody>
                  <a:tcPr/>
                </a:tc>
                <a:tc>
                  <a:txBody>
                    <a:bodyPr/>
                    <a:lstStyle/>
                    <a:p>
                      <a:endParaRPr lang="fr-CA"/>
                    </a:p>
                  </a:txBody>
                  <a:tcPr/>
                </a:tc>
                <a:extLst>
                  <a:ext uri="{0D108BD9-81ED-4DB2-BD59-A6C34878D82A}">
                    <a16:rowId xmlns:a16="http://schemas.microsoft.com/office/drawing/2014/main" val="10002"/>
                  </a:ext>
                </a:extLst>
              </a:tr>
              <a:tr h="13763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i="1" dirty="0"/>
                        <a:t>Donc titres de dette</a:t>
                      </a:r>
                    </a:p>
                    <a:p>
                      <a:pPr marL="0" marR="0" lvl="0" indent="0" algn="l" defTabSz="914400" rtl="0" eaLnBrk="1" fontAlgn="auto" latinLnBrk="0" hangingPunct="1">
                        <a:lnSpc>
                          <a:spcPct val="100000"/>
                        </a:lnSpc>
                        <a:spcBef>
                          <a:spcPts val="0"/>
                        </a:spcBef>
                        <a:spcAft>
                          <a:spcPts val="0"/>
                        </a:spcAft>
                        <a:buClrTx/>
                        <a:buSzTx/>
                        <a:buFontTx/>
                        <a:buNone/>
                        <a:tabLst/>
                        <a:defRPr/>
                      </a:pPr>
                      <a:r>
                        <a:rPr lang="fr-CA" sz="1800" dirty="0">
                          <a:ea typeface="ＭＳ Ｐゴシック" pitchFamily="34" charset="-128"/>
                        </a:rPr>
                        <a:t>Évaluation au coût amorti en utilisant la méthode du taux d'intérêt effectif.</a:t>
                      </a:r>
                      <a:endParaRPr lang="fr-CA" dirty="0"/>
                    </a:p>
                  </a:txBody>
                  <a:tcPr/>
                </a:tc>
                <a:tc>
                  <a:txBody>
                    <a:bodyPr/>
                    <a:lstStyle/>
                    <a:p>
                      <a:r>
                        <a:rPr lang="en-US" sz="1800" b="0" dirty="0"/>
                        <a:t>Les</a:t>
                      </a:r>
                      <a:r>
                        <a:rPr lang="en-US" sz="1800" b="1" dirty="0"/>
                        <a:t> </a:t>
                      </a:r>
                      <a:r>
                        <a:rPr lang="fr-CA" sz="1800" b="1" dirty="0"/>
                        <a:t>instruments de capitaux propres </a:t>
                      </a:r>
                      <a:r>
                        <a:rPr lang="fr-CA" sz="1800" b="0" dirty="0"/>
                        <a:t>qui ne sont pas détenus à des fins de transaction</a:t>
                      </a:r>
                      <a:r>
                        <a:rPr lang="fr-CA" sz="1800" b="1" dirty="0"/>
                        <a:t> peuvent être désignés de façon </a:t>
                      </a:r>
                      <a:r>
                        <a:rPr lang="fr-CA" sz="1800" b="1" u="sng" dirty="0"/>
                        <a:t>irrévocable</a:t>
                      </a:r>
                      <a:r>
                        <a:rPr lang="fr-CA" sz="1800" b="1" dirty="0"/>
                        <a:t> à la JV par le biais des AÉRG   </a:t>
                      </a:r>
                      <a:r>
                        <a:rPr lang="fr-CA" sz="1800" b="1" i="1" dirty="0"/>
                        <a:t>(note)</a:t>
                      </a:r>
                      <a:endParaRPr lang="fr-CA" sz="1800" b="1" dirty="0"/>
                    </a:p>
                    <a:p>
                      <a:pPr marL="0" indent="0">
                        <a:buClr>
                          <a:srgbClr val="E7BE00"/>
                        </a:buClr>
                        <a:buFont typeface="Wingdings" pitchFamily="2" charset="2"/>
                        <a:buNone/>
                      </a:pPr>
                      <a:endParaRPr lang="fr-CA" b="1" dirty="0">
                        <a:solidFill>
                          <a:srgbClr val="0070C0"/>
                        </a:solidFill>
                      </a:endParaRPr>
                    </a:p>
                  </a:txBody>
                  <a:tcPr/>
                </a:tc>
                <a:tc>
                  <a:txBody>
                    <a:bodyPr/>
                    <a:lstStyle/>
                    <a:p>
                      <a:r>
                        <a:rPr lang="fr-CA" sz="1800" dirty="0"/>
                        <a:t>Cette catégorie</a:t>
                      </a:r>
                      <a:r>
                        <a:rPr lang="fr-CA" sz="1800" baseline="0" dirty="0"/>
                        <a:t> inclut également les d</a:t>
                      </a:r>
                      <a:r>
                        <a:rPr lang="fr-CA" sz="1800" dirty="0"/>
                        <a:t>érivés (à l'exception d</a:t>
                      </a:r>
                      <a:r>
                        <a:rPr lang="fr-CA" altLang="fr-FR" sz="1800" dirty="0"/>
                        <a:t>’</a:t>
                      </a:r>
                      <a:r>
                        <a:rPr lang="fr-CA" sz="1800" dirty="0"/>
                        <a:t>instruments de couverture désignés et efficaces). </a:t>
                      </a:r>
                      <a:endParaRPr lang="fr-CA" dirty="0"/>
                    </a:p>
                  </a:txBody>
                  <a:tcPr/>
                </a:tc>
                <a:extLst>
                  <a:ext uri="{0D108BD9-81ED-4DB2-BD59-A6C34878D82A}">
                    <a16:rowId xmlns:a16="http://schemas.microsoft.com/office/drawing/2014/main" val="10003"/>
                  </a:ext>
                </a:extLst>
              </a:tr>
              <a:tr h="624489">
                <a:tc gridSpan="3">
                  <a:txBody>
                    <a:bodyPr/>
                    <a:lstStyle/>
                    <a:p>
                      <a:pPr marL="0" indent="0">
                        <a:buClr>
                          <a:srgbClr val="E7BE00"/>
                        </a:buClr>
                        <a:buFont typeface="Wingdings" pitchFamily="2" charset="2"/>
                        <a:buNone/>
                      </a:pPr>
                      <a:r>
                        <a:rPr lang="fr-CA" sz="1600" b="1" i="1" dirty="0"/>
                        <a:t>(note)  </a:t>
                      </a:r>
                      <a:r>
                        <a:rPr lang="fr-CA" sz="1600" dirty="0"/>
                        <a:t>Si une entité utilise l’</a:t>
                      </a:r>
                      <a:r>
                        <a:rPr lang="fr-CA" sz="1600" b="1" dirty="0"/>
                        <a:t>option de désignation JV</a:t>
                      </a:r>
                      <a:r>
                        <a:rPr lang="fr-CA" sz="1600" b="1" baseline="0" dirty="0"/>
                        <a:t> par le biais des AÉRG </a:t>
                      </a:r>
                      <a:r>
                        <a:rPr lang="fr-CA" sz="1600" dirty="0"/>
                        <a:t>:</a:t>
                      </a:r>
                    </a:p>
                    <a:p>
                      <a:pPr marL="0" indent="0">
                        <a:buClr>
                          <a:srgbClr val="E7BE00"/>
                        </a:buClr>
                        <a:buFont typeface="Arial" panose="020B0604020202020204" pitchFamily="34" charset="0"/>
                        <a:buNone/>
                      </a:pPr>
                      <a:r>
                        <a:rPr lang="fr-CA" sz="1600" dirty="0"/>
                        <a:t>-Les dividendes reçus seront comptabilisés au résultat net;</a:t>
                      </a:r>
                    </a:p>
                    <a:p>
                      <a:pPr marL="0" indent="0">
                        <a:buClr>
                          <a:srgbClr val="E7BE00"/>
                        </a:buClr>
                        <a:buFont typeface="Arial" panose="020B0604020202020204" pitchFamily="34" charset="0"/>
                        <a:buNone/>
                      </a:pPr>
                      <a:r>
                        <a:rPr lang="fr-CA" sz="1600" dirty="0"/>
                        <a:t>-Toutes les variations de juste valeur (incluant les dépréciations) seront comptabilisées aux autres éléments du résultat global;</a:t>
                      </a:r>
                    </a:p>
                    <a:p>
                      <a:pPr marL="0" indent="0">
                        <a:buClr>
                          <a:srgbClr val="E7BE00"/>
                        </a:buClr>
                        <a:buFont typeface="Arial" panose="020B0604020202020204" pitchFamily="34" charset="0"/>
                        <a:buNone/>
                      </a:pPr>
                      <a:r>
                        <a:rPr lang="fr-CA" sz="1600" dirty="0"/>
                        <a:t>-</a:t>
                      </a:r>
                      <a:r>
                        <a:rPr lang="fr-CA" sz="1600" dirty="0">
                          <a:solidFill>
                            <a:srgbClr val="0070C0"/>
                          </a:solidFill>
                        </a:rPr>
                        <a:t>La différence entre le coût d’acquisition et le produit ultérieur de la vente </a:t>
                      </a:r>
                      <a:r>
                        <a:rPr lang="fr-CA" sz="1600" b="1" dirty="0">
                          <a:solidFill>
                            <a:srgbClr val="0070C0"/>
                          </a:solidFill>
                        </a:rPr>
                        <a:t>ne</a:t>
                      </a:r>
                      <a:r>
                        <a:rPr lang="fr-CA" sz="1600" dirty="0">
                          <a:solidFill>
                            <a:srgbClr val="0070C0"/>
                          </a:solidFill>
                        </a:rPr>
                        <a:t> pourra </a:t>
                      </a:r>
                      <a:r>
                        <a:rPr lang="fr-CA" sz="1600" b="1" dirty="0">
                          <a:solidFill>
                            <a:srgbClr val="0070C0"/>
                          </a:solidFill>
                        </a:rPr>
                        <a:t>pas</a:t>
                      </a:r>
                      <a:r>
                        <a:rPr lang="fr-CA" sz="1600" dirty="0">
                          <a:solidFill>
                            <a:srgbClr val="0070C0"/>
                          </a:solidFill>
                        </a:rPr>
                        <a:t> être comptabilisée au résultat net (les gains ou pertes demeurent dans les capitaux propres)</a:t>
                      </a:r>
                      <a:endParaRPr lang="fr-CA" dirty="0"/>
                    </a:p>
                  </a:txBody>
                  <a:tcPr/>
                </a:tc>
                <a:tc hMerge="1">
                  <a:txBody>
                    <a:bodyPr/>
                    <a:lstStyle/>
                    <a:p>
                      <a:pPr marL="0" indent="0">
                        <a:buClr>
                          <a:srgbClr val="E7BE00"/>
                        </a:buClr>
                        <a:buFont typeface="Wingdings" pitchFamily="2" charset="2"/>
                        <a:buNone/>
                      </a:pPr>
                      <a:endParaRPr lang="fr-CA" dirty="0"/>
                    </a:p>
                  </a:txBody>
                  <a:tcPr/>
                </a:tc>
                <a:tc hMerge="1">
                  <a:txBody>
                    <a:bodyPr/>
                    <a:lstStyle/>
                    <a:p>
                      <a:endParaRPr lang="fr-CA" dirty="0"/>
                    </a:p>
                  </a:txBody>
                  <a:tcPr/>
                </a:tc>
                <a:extLst>
                  <a:ext uri="{0D108BD9-81ED-4DB2-BD59-A6C34878D82A}">
                    <a16:rowId xmlns:a16="http://schemas.microsoft.com/office/drawing/2014/main" val="10004"/>
                  </a:ext>
                </a:extLst>
              </a:tr>
            </a:tbl>
          </a:graphicData>
        </a:graphic>
      </p:graphicFrame>
      <p:sp>
        <p:nvSpPr>
          <p:cNvPr id="6" name="Espace réservé du pied de page 5">
            <a:extLst>
              <a:ext uri="{FF2B5EF4-FFF2-40B4-BE49-F238E27FC236}">
                <a16:creationId xmlns:a16="http://schemas.microsoft.com/office/drawing/2014/main" id="{5EAE354C-816A-4F52-B3E0-DC281CE090D0}"/>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19076970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7B7935C9-E15C-48AF-A137-EA6591F19C12}"/>
              </a:ext>
            </a:extLst>
          </p:cNvPr>
          <p:cNvSpPr>
            <a:spLocks noGrp="1"/>
          </p:cNvSpPr>
          <p:nvPr>
            <p:ph type="sldNum" sz="quarter" idx="12"/>
          </p:nvPr>
        </p:nvSpPr>
        <p:spPr/>
        <p:txBody>
          <a:bodyPr/>
          <a:lstStyle/>
          <a:p>
            <a:fld id="{93CCD850-57C1-B143-82E0-6B89E4215FB0}" type="slidenum">
              <a:rPr lang="fr-FR" smtClean="0"/>
              <a:t>9</a:t>
            </a:fld>
            <a:endParaRPr lang="fr-FR"/>
          </a:p>
        </p:txBody>
      </p:sp>
      <p:sp>
        <p:nvSpPr>
          <p:cNvPr id="7" name="Rectangle 6">
            <a:extLst>
              <a:ext uri="{FF2B5EF4-FFF2-40B4-BE49-F238E27FC236}">
                <a16:creationId xmlns:a16="http://schemas.microsoft.com/office/drawing/2014/main" id="{E5E8AB0A-A8EB-4B5A-90CB-54374AF72085}"/>
              </a:ext>
            </a:extLst>
          </p:cNvPr>
          <p:cNvSpPr/>
          <p:nvPr/>
        </p:nvSpPr>
        <p:spPr>
          <a:xfrm>
            <a:off x="8411183" y="1248650"/>
            <a:ext cx="2082113" cy="1229071"/>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fr-CA" dirty="0"/>
              <a:t>Choix irrévocable AERG si non détenus à des fins de transaction</a:t>
            </a:r>
          </a:p>
        </p:txBody>
      </p:sp>
      <p:sp>
        <p:nvSpPr>
          <p:cNvPr id="9" name="ZoneTexte 8">
            <a:extLst>
              <a:ext uri="{FF2B5EF4-FFF2-40B4-BE49-F238E27FC236}">
                <a16:creationId xmlns:a16="http://schemas.microsoft.com/office/drawing/2014/main" id="{EBC03363-EE28-412B-9C65-2FB65DB2FE2B}"/>
              </a:ext>
            </a:extLst>
          </p:cNvPr>
          <p:cNvSpPr txBox="1"/>
          <p:nvPr/>
        </p:nvSpPr>
        <p:spPr>
          <a:xfrm>
            <a:off x="2076632" y="1079710"/>
            <a:ext cx="2612386" cy="923330"/>
          </a:xfrm>
          <a:prstGeom prst="rect">
            <a:avLst/>
          </a:prstGeom>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fr-FR"/>
            </a:defPPr>
            <a:lvl1pPr algn="ctr"/>
          </a:lstStyle>
          <a:p>
            <a:r>
              <a:rPr lang="fr-FR" dirty="0"/>
              <a:t>Les FT contractuels = uniquement principal et intérêts ?</a:t>
            </a:r>
          </a:p>
        </p:txBody>
      </p:sp>
      <p:sp>
        <p:nvSpPr>
          <p:cNvPr id="10" name="ZoneTexte 9">
            <a:extLst>
              <a:ext uri="{FF2B5EF4-FFF2-40B4-BE49-F238E27FC236}">
                <a16:creationId xmlns:a16="http://schemas.microsoft.com/office/drawing/2014/main" id="{937A9F7A-320E-4F6C-8178-F51B42CF17EC}"/>
              </a:ext>
            </a:extLst>
          </p:cNvPr>
          <p:cNvSpPr txBox="1"/>
          <p:nvPr/>
        </p:nvSpPr>
        <p:spPr>
          <a:xfrm>
            <a:off x="2005047" y="2818636"/>
            <a:ext cx="2755556" cy="646331"/>
          </a:xfrm>
          <a:prstGeom prst="rect">
            <a:avLst/>
          </a:prstGeom>
          <a:ln/>
        </p:spPr>
        <p:style>
          <a:lnRef idx="1">
            <a:schemeClr val="accent1"/>
          </a:lnRef>
          <a:fillRef idx="2">
            <a:schemeClr val="accent1"/>
          </a:fillRef>
          <a:effectRef idx="1">
            <a:schemeClr val="accent1"/>
          </a:effectRef>
          <a:fontRef idx="minor">
            <a:schemeClr val="dk1"/>
          </a:fontRef>
        </p:style>
        <p:txBody>
          <a:bodyPr wrap="square">
            <a:spAutoFit/>
          </a:bodyPr>
          <a:lstStyle/>
          <a:p>
            <a:pPr algn="ctr">
              <a:defRPr/>
            </a:pPr>
            <a:r>
              <a:rPr lang="fr-FR" dirty="0"/>
              <a:t>Le modèle de gestion = </a:t>
            </a:r>
            <a:r>
              <a:rPr lang="fr-FR" b="1" dirty="0"/>
              <a:t>percevoir les FT seulement</a:t>
            </a:r>
          </a:p>
        </p:txBody>
      </p:sp>
      <p:sp>
        <p:nvSpPr>
          <p:cNvPr id="18" name="Rectangle 17">
            <a:extLst>
              <a:ext uri="{FF2B5EF4-FFF2-40B4-BE49-F238E27FC236}">
                <a16:creationId xmlns:a16="http://schemas.microsoft.com/office/drawing/2014/main" id="{E9A2C29E-7D2D-4802-BFFC-A6F5A6245E96}"/>
              </a:ext>
            </a:extLst>
          </p:cNvPr>
          <p:cNvSpPr/>
          <p:nvPr/>
        </p:nvSpPr>
        <p:spPr>
          <a:xfrm>
            <a:off x="6837267" y="2994719"/>
            <a:ext cx="1408670" cy="571162"/>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fr-CA" dirty="0"/>
              <a:t>Coût amorti</a:t>
            </a:r>
          </a:p>
        </p:txBody>
      </p:sp>
      <p:sp>
        <p:nvSpPr>
          <p:cNvPr id="31" name="Rectangle 30">
            <a:extLst>
              <a:ext uri="{FF2B5EF4-FFF2-40B4-BE49-F238E27FC236}">
                <a16:creationId xmlns:a16="http://schemas.microsoft.com/office/drawing/2014/main" id="{40898652-9044-4C9F-966B-793C28EB36C6}"/>
              </a:ext>
            </a:extLst>
          </p:cNvPr>
          <p:cNvSpPr/>
          <p:nvPr/>
        </p:nvSpPr>
        <p:spPr>
          <a:xfrm>
            <a:off x="6837267" y="4479918"/>
            <a:ext cx="1408670" cy="57116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fr-CA" dirty="0"/>
              <a:t>JVBRG</a:t>
            </a:r>
          </a:p>
        </p:txBody>
      </p:sp>
      <p:sp>
        <p:nvSpPr>
          <p:cNvPr id="32" name="ZoneTexte 31">
            <a:extLst>
              <a:ext uri="{FF2B5EF4-FFF2-40B4-BE49-F238E27FC236}">
                <a16:creationId xmlns:a16="http://schemas.microsoft.com/office/drawing/2014/main" id="{91D3DC0E-A918-4F7C-B231-9942B243F18D}"/>
              </a:ext>
            </a:extLst>
          </p:cNvPr>
          <p:cNvSpPr txBox="1"/>
          <p:nvPr/>
        </p:nvSpPr>
        <p:spPr>
          <a:xfrm>
            <a:off x="2018248" y="4299459"/>
            <a:ext cx="2755556" cy="646331"/>
          </a:xfrm>
          <a:prstGeom prst="rect">
            <a:avLst/>
          </a:prstGeom>
          <a:ln/>
        </p:spPr>
        <p:style>
          <a:lnRef idx="1">
            <a:schemeClr val="accent1"/>
          </a:lnRef>
          <a:fillRef idx="2">
            <a:schemeClr val="accent1"/>
          </a:fillRef>
          <a:effectRef idx="1">
            <a:schemeClr val="accent1"/>
          </a:effectRef>
          <a:fontRef idx="minor">
            <a:schemeClr val="dk1"/>
          </a:fontRef>
        </p:style>
        <p:txBody>
          <a:bodyPr wrap="square">
            <a:spAutoFit/>
          </a:bodyPr>
          <a:lstStyle/>
          <a:p>
            <a:pPr algn="ctr">
              <a:defRPr/>
            </a:pPr>
            <a:r>
              <a:rPr lang="fr-FR" dirty="0"/>
              <a:t>Le modèle de gestion = </a:t>
            </a:r>
            <a:r>
              <a:rPr lang="fr-FR" b="1" dirty="0"/>
              <a:t>percevoir les FT ET vendre</a:t>
            </a:r>
          </a:p>
        </p:txBody>
      </p:sp>
      <p:cxnSp>
        <p:nvCxnSpPr>
          <p:cNvPr id="38" name="Connecteur droit avec flèche 37">
            <a:extLst>
              <a:ext uri="{FF2B5EF4-FFF2-40B4-BE49-F238E27FC236}">
                <a16:creationId xmlns:a16="http://schemas.microsoft.com/office/drawing/2014/main" id="{70E8BEBA-5D9B-4A18-8073-56E5176AA110}"/>
              </a:ext>
            </a:extLst>
          </p:cNvPr>
          <p:cNvCxnSpPr>
            <a:cxnSpLocks/>
            <a:stCxn id="9" idx="2"/>
            <a:endCxn id="10" idx="0"/>
          </p:cNvCxnSpPr>
          <p:nvPr/>
        </p:nvCxnSpPr>
        <p:spPr>
          <a:xfrm>
            <a:off x="3382825" y="2003041"/>
            <a:ext cx="0" cy="81559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0" name="Connecteur droit avec flèche 39">
            <a:extLst>
              <a:ext uri="{FF2B5EF4-FFF2-40B4-BE49-F238E27FC236}">
                <a16:creationId xmlns:a16="http://schemas.microsoft.com/office/drawing/2014/main" id="{6A002032-FAEC-47E7-8264-07B8606576F4}"/>
              </a:ext>
            </a:extLst>
          </p:cNvPr>
          <p:cNvCxnSpPr>
            <a:stCxn id="10" idx="3"/>
            <a:endCxn id="18" idx="1"/>
          </p:cNvCxnSpPr>
          <p:nvPr/>
        </p:nvCxnSpPr>
        <p:spPr>
          <a:xfrm>
            <a:off x="4760603" y="3141802"/>
            <a:ext cx="2076664" cy="13849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2" name="Connecteur droit avec flèche 41">
            <a:extLst>
              <a:ext uri="{FF2B5EF4-FFF2-40B4-BE49-F238E27FC236}">
                <a16:creationId xmlns:a16="http://schemas.microsoft.com/office/drawing/2014/main" id="{4CE37B74-6469-488E-925F-C614DC4E6ACD}"/>
              </a:ext>
            </a:extLst>
          </p:cNvPr>
          <p:cNvCxnSpPr>
            <a:cxnSpLocks/>
            <a:stCxn id="10" idx="2"/>
            <a:endCxn id="32" idx="0"/>
          </p:cNvCxnSpPr>
          <p:nvPr/>
        </p:nvCxnSpPr>
        <p:spPr>
          <a:xfrm>
            <a:off x="3382826" y="3464966"/>
            <a:ext cx="13201" cy="83449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4" name="Connecteur droit avec flèche 43">
            <a:extLst>
              <a:ext uri="{FF2B5EF4-FFF2-40B4-BE49-F238E27FC236}">
                <a16:creationId xmlns:a16="http://schemas.microsoft.com/office/drawing/2014/main" id="{EC1F9347-5F83-4573-AB05-C6AD89297270}"/>
              </a:ext>
            </a:extLst>
          </p:cNvPr>
          <p:cNvCxnSpPr>
            <a:cxnSpLocks/>
            <a:stCxn id="32" idx="3"/>
            <a:endCxn id="31" idx="1"/>
          </p:cNvCxnSpPr>
          <p:nvPr/>
        </p:nvCxnSpPr>
        <p:spPr>
          <a:xfrm>
            <a:off x="4773805" y="4622625"/>
            <a:ext cx="2063463" cy="1428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7" name="ZoneTexte 56">
            <a:extLst>
              <a:ext uri="{FF2B5EF4-FFF2-40B4-BE49-F238E27FC236}">
                <a16:creationId xmlns:a16="http://schemas.microsoft.com/office/drawing/2014/main" id="{51EDEBB1-B969-401C-9EE4-B78FDF5D86A0}"/>
              </a:ext>
            </a:extLst>
          </p:cNvPr>
          <p:cNvSpPr txBox="1"/>
          <p:nvPr/>
        </p:nvSpPr>
        <p:spPr>
          <a:xfrm>
            <a:off x="3459673" y="2202338"/>
            <a:ext cx="2653290" cy="369332"/>
          </a:xfrm>
          <a:prstGeom prst="rect">
            <a:avLst/>
          </a:prstGeom>
          <a:noFill/>
        </p:spPr>
        <p:txBody>
          <a:bodyPr wrap="none" rtlCol="0">
            <a:spAutoFit/>
          </a:bodyPr>
          <a:lstStyle/>
          <a:p>
            <a:r>
              <a:rPr lang="fr-CA" dirty="0"/>
              <a:t>OUI (Instrument de Dette)</a:t>
            </a:r>
          </a:p>
        </p:txBody>
      </p:sp>
      <p:sp>
        <p:nvSpPr>
          <p:cNvPr id="59" name="Rectangle 58">
            <a:extLst>
              <a:ext uri="{FF2B5EF4-FFF2-40B4-BE49-F238E27FC236}">
                <a16:creationId xmlns:a16="http://schemas.microsoft.com/office/drawing/2014/main" id="{56B58694-AB78-4F3F-8CD7-33333B772164}"/>
              </a:ext>
            </a:extLst>
          </p:cNvPr>
          <p:cNvSpPr/>
          <p:nvPr/>
        </p:nvSpPr>
        <p:spPr>
          <a:xfrm>
            <a:off x="6837267" y="1263172"/>
            <a:ext cx="1408670" cy="57116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fr-CA" dirty="0"/>
              <a:t>JVBRN</a:t>
            </a:r>
          </a:p>
        </p:txBody>
      </p:sp>
      <p:cxnSp>
        <p:nvCxnSpPr>
          <p:cNvPr id="74" name="Connecteur droit avec flèche 73">
            <a:extLst>
              <a:ext uri="{FF2B5EF4-FFF2-40B4-BE49-F238E27FC236}">
                <a16:creationId xmlns:a16="http://schemas.microsoft.com/office/drawing/2014/main" id="{4D6A0B89-F5DD-499B-A993-DBE858798D71}"/>
              </a:ext>
            </a:extLst>
          </p:cNvPr>
          <p:cNvCxnSpPr>
            <a:stCxn id="9" idx="3"/>
            <a:endCxn id="59" idx="1"/>
          </p:cNvCxnSpPr>
          <p:nvPr/>
        </p:nvCxnSpPr>
        <p:spPr>
          <a:xfrm>
            <a:off x="4689019" y="1541375"/>
            <a:ext cx="2148249" cy="737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1" name="ZoneTexte 80">
            <a:extLst>
              <a:ext uri="{FF2B5EF4-FFF2-40B4-BE49-F238E27FC236}">
                <a16:creationId xmlns:a16="http://schemas.microsoft.com/office/drawing/2014/main" id="{2F7D1CA1-94B2-4101-9569-E49EEC7226A0}"/>
              </a:ext>
            </a:extLst>
          </p:cNvPr>
          <p:cNvSpPr txBox="1"/>
          <p:nvPr/>
        </p:nvSpPr>
        <p:spPr>
          <a:xfrm>
            <a:off x="4666481" y="1110225"/>
            <a:ext cx="2170787" cy="369332"/>
          </a:xfrm>
          <a:prstGeom prst="rect">
            <a:avLst/>
          </a:prstGeom>
          <a:noFill/>
        </p:spPr>
        <p:txBody>
          <a:bodyPr wrap="none" rtlCol="0">
            <a:spAutoFit/>
          </a:bodyPr>
          <a:lstStyle/>
          <a:p>
            <a:r>
              <a:rPr lang="fr-CA" dirty="0"/>
              <a:t>NON (Instrument CP)</a:t>
            </a:r>
          </a:p>
        </p:txBody>
      </p:sp>
      <p:sp>
        <p:nvSpPr>
          <p:cNvPr id="92" name="ZoneTexte 91">
            <a:extLst>
              <a:ext uri="{FF2B5EF4-FFF2-40B4-BE49-F238E27FC236}">
                <a16:creationId xmlns:a16="http://schemas.microsoft.com/office/drawing/2014/main" id="{34CD098B-D5F7-4AA3-85E8-CA320320C878}"/>
              </a:ext>
            </a:extLst>
          </p:cNvPr>
          <p:cNvSpPr txBox="1"/>
          <p:nvPr/>
        </p:nvSpPr>
        <p:spPr>
          <a:xfrm>
            <a:off x="4854357" y="2910968"/>
            <a:ext cx="542136" cy="369332"/>
          </a:xfrm>
          <a:prstGeom prst="rect">
            <a:avLst/>
          </a:prstGeom>
          <a:noFill/>
        </p:spPr>
        <p:txBody>
          <a:bodyPr wrap="none" rtlCol="0">
            <a:spAutoFit/>
          </a:bodyPr>
          <a:lstStyle/>
          <a:p>
            <a:r>
              <a:rPr lang="fr-CA" dirty="0"/>
              <a:t>OUI</a:t>
            </a:r>
          </a:p>
        </p:txBody>
      </p:sp>
      <p:sp>
        <p:nvSpPr>
          <p:cNvPr id="93" name="ZoneTexte 92">
            <a:extLst>
              <a:ext uri="{FF2B5EF4-FFF2-40B4-BE49-F238E27FC236}">
                <a16:creationId xmlns:a16="http://schemas.microsoft.com/office/drawing/2014/main" id="{87ED2F9C-D6BC-444F-A91F-BEDEDCED1B91}"/>
              </a:ext>
            </a:extLst>
          </p:cNvPr>
          <p:cNvSpPr txBox="1"/>
          <p:nvPr/>
        </p:nvSpPr>
        <p:spPr>
          <a:xfrm>
            <a:off x="3366699" y="3804264"/>
            <a:ext cx="635110" cy="369332"/>
          </a:xfrm>
          <a:prstGeom prst="rect">
            <a:avLst/>
          </a:prstGeom>
          <a:noFill/>
        </p:spPr>
        <p:txBody>
          <a:bodyPr wrap="none" rtlCol="0">
            <a:spAutoFit/>
          </a:bodyPr>
          <a:lstStyle/>
          <a:p>
            <a:r>
              <a:rPr lang="fr-CA" dirty="0"/>
              <a:t>NON</a:t>
            </a:r>
          </a:p>
        </p:txBody>
      </p:sp>
      <p:sp>
        <p:nvSpPr>
          <p:cNvPr id="96" name="ZoneTexte 95">
            <a:extLst>
              <a:ext uri="{FF2B5EF4-FFF2-40B4-BE49-F238E27FC236}">
                <a16:creationId xmlns:a16="http://schemas.microsoft.com/office/drawing/2014/main" id="{E7DE5A6B-35C1-48A0-B542-6F6ACFBABEE4}"/>
              </a:ext>
            </a:extLst>
          </p:cNvPr>
          <p:cNvSpPr txBox="1"/>
          <p:nvPr/>
        </p:nvSpPr>
        <p:spPr>
          <a:xfrm>
            <a:off x="4854357" y="4345625"/>
            <a:ext cx="542136" cy="369332"/>
          </a:xfrm>
          <a:prstGeom prst="rect">
            <a:avLst/>
          </a:prstGeom>
          <a:noFill/>
        </p:spPr>
        <p:txBody>
          <a:bodyPr wrap="none" rtlCol="0">
            <a:spAutoFit/>
          </a:bodyPr>
          <a:lstStyle/>
          <a:p>
            <a:r>
              <a:rPr lang="fr-CA" dirty="0"/>
              <a:t>OUI</a:t>
            </a:r>
          </a:p>
        </p:txBody>
      </p:sp>
      <p:sp>
        <p:nvSpPr>
          <p:cNvPr id="97" name="ZoneTexte 96">
            <a:extLst>
              <a:ext uri="{FF2B5EF4-FFF2-40B4-BE49-F238E27FC236}">
                <a16:creationId xmlns:a16="http://schemas.microsoft.com/office/drawing/2014/main" id="{1C25CEA0-231E-4CF0-ABD1-351687522B34}"/>
              </a:ext>
            </a:extLst>
          </p:cNvPr>
          <p:cNvSpPr txBox="1"/>
          <p:nvPr/>
        </p:nvSpPr>
        <p:spPr>
          <a:xfrm>
            <a:off x="3389425" y="5495409"/>
            <a:ext cx="3107004" cy="369332"/>
          </a:xfrm>
          <a:prstGeom prst="rect">
            <a:avLst/>
          </a:prstGeom>
          <a:noFill/>
        </p:spPr>
        <p:txBody>
          <a:bodyPr wrap="none" rtlCol="0">
            <a:spAutoFit/>
          </a:bodyPr>
          <a:lstStyle/>
          <a:p>
            <a:r>
              <a:rPr lang="fr-CA" dirty="0"/>
              <a:t>NON (à des fins de transaction)</a:t>
            </a:r>
          </a:p>
        </p:txBody>
      </p:sp>
      <p:sp>
        <p:nvSpPr>
          <p:cNvPr id="98" name="Rectangle 97">
            <a:extLst>
              <a:ext uri="{FF2B5EF4-FFF2-40B4-BE49-F238E27FC236}">
                <a16:creationId xmlns:a16="http://schemas.microsoft.com/office/drawing/2014/main" id="{D23AE2CD-D18E-49F3-BE90-173C8602629A}"/>
              </a:ext>
            </a:extLst>
          </p:cNvPr>
          <p:cNvSpPr/>
          <p:nvPr/>
        </p:nvSpPr>
        <p:spPr>
          <a:xfrm>
            <a:off x="6837267" y="5785188"/>
            <a:ext cx="1408670" cy="57116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fr-CA" dirty="0"/>
              <a:t>JVBRN</a:t>
            </a:r>
          </a:p>
        </p:txBody>
      </p:sp>
      <p:cxnSp>
        <p:nvCxnSpPr>
          <p:cNvPr id="102" name="Connecteur : en angle 101">
            <a:extLst>
              <a:ext uri="{FF2B5EF4-FFF2-40B4-BE49-F238E27FC236}">
                <a16:creationId xmlns:a16="http://schemas.microsoft.com/office/drawing/2014/main" id="{E19E6D54-B07C-40EF-8D25-8130C5A0C35D}"/>
              </a:ext>
            </a:extLst>
          </p:cNvPr>
          <p:cNvCxnSpPr>
            <a:stCxn id="32" idx="2"/>
            <a:endCxn id="98" idx="1"/>
          </p:cNvCxnSpPr>
          <p:nvPr/>
        </p:nvCxnSpPr>
        <p:spPr>
          <a:xfrm rot="16200000" flipH="1">
            <a:off x="4554156" y="3787659"/>
            <a:ext cx="1124980" cy="3441241"/>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105" name="Titre 1">
            <a:extLst>
              <a:ext uri="{FF2B5EF4-FFF2-40B4-BE49-F238E27FC236}">
                <a16:creationId xmlns:a16="http://schemas.microsoft.com/office/drawing/2014/main" id="{C48B0631-820D-4102-BAC0-6C1301B75959}"/>
              </a:ext>
            </a:extLst>
          </p:cNvPr>
          <p:cNvSpPr>
            <a:spLocks noGrp="1"/>
          </p:cNvSpPr>
          <p:nvPr>
            <p:ph type="title"/>
          </p:nvPr>
        </p:nvSpPr>
        <p:spPr>
          <a:xfrm>
            <a:off x="1981200" y="114475"/>
            <a:ext cx="8229600" cy="891222"/>
          </a:xfrm>
        </p:spPr>
        <p:txBody>
          <a:bodyPr/>
          <a:lstStyle/>
          <a:p>
            <a:r>
              <a:rPr lang="fr-CA" dirty="0"/>
              <a:t>Classement IFRS 9 - ACTIFS</a:t>
            </a:r>
          </a:p>
        </p:txBody>
      </p:sp>
      <p:sp>
        <p:nvSpPr>
          <p:cNvPr id="2" name="ZoneTexte 1"/>
          <p:cNvSpPr txBox="1"/>
          <p:nvPr/>
        </p:nvSpPr>
        <p:spPr>
          <a:xfrm>
            <a:off x="8837733" y="2910968"/>
            <a:ext cx="3055716" cy="3247043"/>
          </a:xfrm>
          <a:prstGeom prst="rect">
            <a:avLst/>
          </a:prstGeom>
          <a:noFill/>
        </p:spPr>
        <p:txBody>
          <a:bodyPr wrap="square" rtlCol="0">
            <a:spAutoFit/>
          </a:bodyPr>
          <a:lstStyle/>
          <a:p>
            <a:pPr marL="92075" lvl="1">
              <a:spcBef>
                <a:spcPts val="600"/>
              </a:spcBef>
              <a:buClr>
                <a:schemeClr val="accent2"/>
              </a:buClr>
              <a:buSzPct val="75000"/>
            </a:pPr>
            <a:r>
              <a:rPr lang="fr-CA" sz="2000" i="1" dirty="0"/>
              <a:t>Doit refléter un mode de gestion et non l’intention relative à un actif financier en particulier</a:t>
            </a:r>
          </a:p>
          <a:p>
            <a:pPr lvl="1">
              <a:spcBef>
                <a:spcPts val="600"/>
              </a:spcBef>
              <a:buClr>
                <a:schemeClr val="accent2"/>
              </a:buClr>
              <a:buSzPct val="75000"/>
              <a:buFont typeface="Arial" pitchFamily="34" charset="0"/>
              <a:buChar char="►"/>
            </a:pPr>
            <a:r>
              <a:rPr lang="fr-CA" sz="2000" i="1" dirty="0"/>
              <a:t>N’a pas besoin d’être unique au niveau de l’entité - le modèle d’affaires peut être spécifié au niveau d’un portefeuille.</a:t>
            </a:r>
            <a:endParaRPr lang="fr-CA" dirty="0"/>
          </a:p>
        </p:txBody>
      </p:sp>
      <p:sp>
        <p:nvSpPr>
          <p:cNvPr id="3" name="Espace réservé du pied de page 2">
            <a:extLst>
              <a:ext uri="{FF2B5EF4-FFF2-40B4-BE49-F238E27FC236}">
                <a16:creationId xmlns:a16="http://schemas.microsoft.com/office/drawing/2014/main" id="{039777C8-1768-4DCC-8357-5D77079CC327}"/>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1269003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3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966952" y="274638"/>
            <a:ext cx="10300138" cy="891222"/>
          </a:xfrm>
        </p:spPr>
        <p:txBody>
          <a:bodyPr>
            <a:normAutofit/>
          </a:bodyPr>
          <a:lstStyle/>
          <a:p>
            <a:r>
              <a:rPr lang="fr-CA" dirty="0"/>
              <a:t>NCECF – </a:t>
            </a:r>
            <a:r>
              <a:rPr lang="fr-CA" sz="2400" dirty="0"/>
              <a:t>3856.11</a:t>
            </a:r>
          </a:p>
        </p:txBody>
      </p:sp>
      <p:sp>
        <p:nvSpPr>
          <p:cNvPr id="3" name="Espace réservé du contenu 2"/>
          <p:cNvSpPr>
            <a:spLocks noGrp="1"/>
          </p:cNvSpPr>
          <p:nvPr>
            <p:ph idx="1"/>
          </p:nvPr>
        </p:nvSpPr>
        <p:spPr>
          <a:xfrm>
            <a:off x="893379" y="1776248"/>
            <a:ext cx="10460421" cy="4487392"/>
          </a:xfrm>
        </p:spPr>
        <p:txBody>
          <a:bodyPr>
            <a:normAutofit/>
          </a:bodyPr>
          <a:lstStyle/>
          <a:p>
            <a:pPr marL="0" indent="0">
              <a:buNone/>
            </a:pPr>
            <a:r>
              <a:rPr lang="fr-CA" dirty="0"/>
              <a:t>Actifs financiers : </a:t>
            </a:r>
          </a:p>
          <a:p>
            <a:r>
              <a:rPr lang="fr-CA" dirty="0"/>
              <a:t>À la juste valeur </a:t>
            </a:r>
          </a:p>
          <a:p>
            <a:pPr lvl="1"/>
            <a:r>
              <a:rPr lang="fr-CA" dirty="0"/>
              <a:t>les placements dans des instruments de capitaux propres cotés sur un marché actif </a:t>
            </a:r>
          </a:p>
          <a:p>
            <a:pPr lvl="1"/>
            <a:r>
              <a:rPr lang="fr-CA" dirty="0"/>
              <a:t>les dérivés </a:t>
            </a:r>
          </a:p>
          <a:p>
            <a:pPr lvl="1"/>
            <a:endParaRPr lang="fr-CA" dirty="0"/>
          </a:p>
          <a:p>
            <a:r>
              <a:rPr lang="fr-CA" sz="3600" dirty="0"/>
              <a:t>Sinon</a:t>
            </a:r>
            <a:r>
              <a:rPr lang="fr-CA" dirty="0"/>
              <a:t>, au coût (amorti)</a:t>
            </a:r>
          </a:p>
          <a:p>
            <a:pPr lvl="1"/>
            <a:r>
              <a:rPr lang="fr-CA" dirty="0">
                <a:solidFill>
                  <a:srgbClr val="0070C0"/>
                </a:solidFill>
                <a:highlight>
                  <a:srgbClr val="FFFF00"/>
                </a:highlight>
              </a:rPr>
              <a:t>Choix </a:t>
            </a:r>
            <a:r>
              <a:rPr lang="fr-CA" dirty="0">
                <a:solidFill>
                  <a:srgbClr val="0070C0"/>
                </a:solidFill>
              </a:rPr>
              <a:t>méthode comptable : juste valeur</a:t>
            </a:r>
          </a:p>
          <a:p>
            <a:endParaRPr lang="fr-CA"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10</a:t>
            </a:fld>
            <a:endParaRPr lang="fr-FR"/>
          </a:p>
        </p:txBody>
      </p:sp>
      <p:sp>
        <p:nvSpPr>
          <p:cNvPr id="5" name="Espace réservé du pied de page 4">
            <a:extLst>
              <a:ext uri="{FF2B5EF4-FFF2-40B4-BE49-F238E27FC236}">
                <a16:creationId xmlns:a16="http://schemas.microsoft.com/office/drawing/2014/main" id="{FEF3BA8A-72D9-448F-A48B-25A8F582AC0E}"/>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38314084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CD3A4C0-B678-4A4D-AB6E-A6D7AD0CD216}"/>
              </a:ext>
            </a:extLst>
          </p:cNvPr>
          <p:cNvSpPr>
            <a:spLocks noGrp="1"/>
          </p:cNvSpPr>
          <p:nvPr>
            <p:ph type="title"/>
          </p:nvPr>
        </p:nvSpPr>
        <p:spPr/>
        <p:txBody>
          <a:bodyPr/>
          <a:lstStyle/>
          <a:p>
            <a:r>
              <a:rPr lang="fr-CA" dirty="0"/>
              <a:t>EFC</a:t>
            </a:r>
            <a:endParaRPr lang="fr-FR" dirty="0"/>
          </a:p>
        </p:txBody>
      </p:sp>
      <p:sp>
        <p:nvSpPr>
          <p:cNvPr id="3" name="Espace réservé du contenu 2">
            <a:extLst>
              <a:ext uri="{FF2B5EF4-FFF2-40B4-BE49-F238E27FC236}">
                <a16:creationId xmlns:a16="http://schemas.microsoft.com/office/drawing/2014/main" id="{3DB938B7-8A7C-400D-AED5-99D861B274CA}"/>
              </a:ext>
            </a:extLst>
          </p:cNvPr>
          <p:cNvSpPr>
            <a:spLocks noGrp="1"/>
          </p:cNvSpPr>
          <p:nvPr>
            <p:ph idx="1"/>
          </p:nvPr>
        </p:nvSpPr>
        <p:spPr/>
        <p:txBody>
          <a:bodyPr>
            <a:normAutofit fontScale="92500" lnSpcReduction="10000"/>
          </a:bodyPr>
          <a:lstStyle/>
          <a:p>
            <a:r>
              <a:rPr lang="fr-CA" dirty="0"/>
              <a:t>Classement</a:t>
            </a:r>
          </a:p>
          <a:p>
            <a:pPr lvl="1"/>
            <a:r>
              <a:rPr lang="fr-CA" dirty="0"/>
              <a:t>Actions </a:t>
            </a:r>
            <a:r>
              <a:rPr lang="fr-CA" b="1" dirty="0">
                <a:solidFill>
                  <a:srgbClr val="FF0000"/>
                </a:solidFill>
                <a:highlight>
                  <a:srgbClr val="FFFF00"/>
                </a:highlight>
              </a:rPr>
              <a:t>avec droit de vote</a:t>
            </a:r>
          </a:p>
          <a:p>
            <a:pPr lvl="2"/>
            <a:r>
              <a:rPr lang="fr-CA" dirty="0"/>
              <a:t>Classement déterminé par la présence de contrôle / de contrôle conjoint / d’influence notable / aucune influence</a:t>
            </a:r>
          </a:p>
          <a:p>
            <a:pPr lvl="3"/>
            <a:r>
              <a:rPr lang="fr-CA" dirty="0"/>
              <a:t>Déterminera la  norme applicable</a:t>
            </a:r>
          </a:p>
          <a:p>
            <a:pPr lvl="4"/>
            <a:r>
              <a:rPr lang="fr-CA" dirty="0"/>
              <a:t>Voir séance 8 pour les placements avec influence / avec contrôle</a:t>
            </a:r>
          </a:p>
          <a:p>
            <a:pPr lvl="1"/>
            <a:r>
              <a:rPr lang="fr-CA" dirty="0"/>
              <a:t>Actions </a:t>
            </a:r>
            <a:r>
              <a:rPr lang="fr-CA" b="1" dirty="0">
                <a:solidFill>
                  <a:srgbClr val="FF0000"/>
                </a:solidFill>
                <a:highlight>
                  <a:srgbClr val="FFFF00"/>
                </a:highlight>
              </a:rPr>
              <a:t>sans droit de vote </a:t>
            </a:r>
            <a:r>
              <a:rPr lang="fr-CA" dirty="0"/>
              <a:t>et autres instruments financiers</a:t>
            </a:r>
          </a:p>
          <a:p>
            <a:pPr lvl="2"/>
            <a:r>
              <a:rPr lang="fr-CA" dirty="0"/>
              <a:t>IFRS 9 / chap. 3856</a:t>
            </a:r>
          </a:p>
          <a:p>
            <a:pPr marL="914400" lvl="2" indent="0">
              <a:buNone/>
            </a:pPr>
            <a:endParaRPr lang="fr-CA" dirty="0"/>
          </a:p>
          <a:p>
            <a:r>
              <a:rPr lang="fr-CA" dirty="0"/>
              <a:t>Mesure</a:t>
            </a:r>
          </a:p>
          <a:p>
            <a:pPr lvl="1"/>
            <a:r>
              <a:rPr lang="fr-CA" dirty="0"/>
              <a:t>Instrument hybride : correction possible quant  à la répartition passif / capitaux propres (avec calcul)</a:t>
            </a:r>
          </a:p>
          <a:p>
            <a:pPr lvl="1"/>
            <a:r>
              <a:rPr lang="fr-CA" dirty="0"/>
              <a:t>Mesure subséquente :  </a:t>
            </a:r>
            <a:r>
              <a:rPr lang="fr-CA" i="1" dirty="0"/>
              <a:t>s’attendre à devoir faire des calculs pour solde fin d’exercice</a:t>
            </a:r>
            <a:endParaRPr lang="fr-FR" i="1" dirty="0"/>
          </a:p>
        </p:txBody>
      </p:sp>
      <p:sp>
        <p:nvSpPr>
          <p:cNvPr id="4" name="Espace réservé du pied de page 3">
            <a:extLst>
              <a:ext uri="{FF2B5EF4-FFF2-40B4-BE49-F238E27FC236}">
                <a16:creationId xmlns:a16="http://schemas.microsoft.com/office/drawing/2014/main" id="{1368B8F7-A6E8-4B5E-BE19-63A970FAB116}"/>
              </a:ext>
            </a:extLst>
          </p:cNvPr>
          <p:cNvSpPr>
            <a:spLocks noGrp="1"/>
          </p:cNvSpPr>
          <p:nvPr>
            <p:ph type="ftr" sz="quarter" idx="11"/>
          </p:nvPr>
        </p:nvSpPr>
        <p:spPr/>
        <p:txBody>
          <a:bodyPr/>
          <a:lstStyle/>
          <a:p>
            <a:r>
              <a:rPr lang="fr-CA"/>
              <a:t>Droits réservés - Louise Overbeek</a:t>
            </a:r>
          </a:p>
        </p:txBody>
      </p:sp>
      <p:sp>
        <p:nvSpPr>
          <p:cNvPr id="5" name="Espace réservé du numéro de diapositive 4">
            <a:extLst>
              <a:ext uri="{FF2B5EF4-FFF2-40B4-BE49-F238E27FC236}">
                <a16:creationId xmlns:a16="http://schemas.microsoft.com/office/drawing/2014/main" id="{42F89170-BBCB-45EB-8C22-2FDAAFAD0EAC}"/>
              </a:ext>
            </a:extLst>
          </p:cNvPr>
          <p:cNvSpPr>
            <a:spLocks noGrp="1"/>
          </p:cNvSpPr>
          <p:nvPr>
            <p:ph type="sldNum" sz="quarter" idx="12"/>
          </p:nvPr>
        </p:nvSpPr>
        <p:spPr/>
        <p:txBody>
          <a:bodyPr/>
          <a:lstStyle/>
          <a:p>
            <a:fld id="{D5C8285E-D276-48ED-A38D-FCE3A7D9B93F}" type="slidenum">
              <a:rPr lang="fr-CA" smtClean="0"/>
              <a:t>11</a:t>
            </a:fld>
            <a:endParaRPr lang="fr-CA"/>
          </a:p>
        </p:txBody>
      </p:sp>
    </p:spTree>
    <p:extLst>
      <p:ext uri="{BB962C8B-B14F-4D97-AF65-F5344CB8AC3E}">
        <p14:creationId xmlns:p14="http://schemas.microsoft.com/office/powerpoint/2010/main" val="22525119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Dépréciation</a:t>
            </a:r>
          </a:p>
        </p:txBody>
      </p:sp>
      <p:sp>
        <p:nvSpPr>
          <p:cNvPr id="3" name="Espace réservé du contenu 2"/>
          <p:cNvSpPr>
            <a:spLocks noGrp="1"/>
          </p:cNvSpPr>
          <p:nvPr>
            <p:ph idx="1"/>
          </p:nvPr>
        </p:nvSpPr>
        <p:spPr/>
        <p:txBody>
          <a:bodyPr>
            <a:normAutofit/>
          </a:bodyPr>
          <a:lstStyle/>
          <a:p>
            <a:pPr marL="0" indent="0">
              <a:buNone/>
            </a:pPr>
            <a:r>
              <a:rPr lang="fr-CA" dirty="0"/>
              <a:t>Tous les actifs financiers évalués au coût ou au coût après amortissement doivent être soumis à un test de dépréciation à la fin de chaque période</a:t>
            </a:r>
          </a:p>
          <a:p>
            <a:pPr lvl="1"/>
            <a:r>
              <a:rPr lang="fr-CA" dirty="0"/>
              <a:t>Exemples : prêts à recevoir</a:t>
            </a:r>
          </a:p>
          <a:p>
            <a:pPr lvl="1"/>
            <a:endParaRPr lang="fr-CA" dirty="0"/>
          </a:p>
          <a:p>
            <a:pPr lvl="1">
              <a:buFont typeface="Wingdings" panose="05000000000000000000" pitchFamily="2" charset="2"/>
              <a:buChar char="Ø"/>
            </a:pPr>
            <a:r>
              <a:rPr lang="fr-CA" dirty="0"/>
              <a:t>IFRS 9 : doit </a:t>
            </a:r>
            <a:r>
              <a:rPr lang="fr-CA" b="1" dirty="0">
                <a:highlight>
                  <a:srgbClr val="FFFF00"/>
                </a:highlight>
              </a:rPr>
              <a:t>anticiper</a:t>
            </a:r>
            <a:r>
              <a:rPr lang="fr-CA" dirty="0">
                <a:highlight>
                  <a:srgbClr val="FFFF00"/>
                </a:highlight>
              </a:rPr>
              <a:t> </a:t>
            </a:r>
            <a:r>
              <a:rPr lang="fr-CA" dirty="0"/>
              <a:t>les pertes (refléter les détériorations - ou les améliorations - du risque de crédit) </a:t>
            </a:r>
            <a:r>
              <a:rPr lang="fr-CA" i="1" dirty="0"/>
              <a:t> (ne pas attendre que les pertes soient encourues, comptabilisation plus rapide des pertes)</a:t>
            </a:r>
          </a:p>
          <a:p>
            <a:pPr lvl="1">
              <a:buFont typeface="Wingdings" panose="05000000000000000000" pitchFamily="2" charset="2"/>
              <a:buChar char="Ø"/>
            </a:pPr>
            <a:endParaRPr lang="fr-CA" i="1" dirty="0"/>
          </a:p>
          <a:p>
            <a:pPr lvl="1">
              <a:buFont typeface="Wingdings" panose="05000000000000000000" pitchFamily="2" charset="2"/>
              <a:buChar char="Ø"/>
            </a:pPr>
            <a:r>
              <a:rPr lang="fr-CA" dirty="0"/>
              <a:t>NCECF : Évaluation si présence d’indices</a:t>
            </a:r>
            <a:endParaRPr lang="fr-CA" sz="2400" dirty="0"/>
          </a:p>
          <a:p>
            <a:pPr lvl="1">
              <a:buFont typeface="Wingdings" panose="05000000000000000000" pitchFamily="2" charset="2"/>
              <a:buChar char="Ø"/>
            </a:pPr>
            <a:endParaRPr lang="fr-CA"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12</a:t>
            </a:fld>
            <a:endParaRPr lang="fr-FR"/>
          </a:p>
        </p:txBody>
      </p:sp>
      <p:sp>
        <p:nvSpPr>
          <p:cNvPr id="5" name="Espace réservé du pied de page 4">
            <a:extLst>
              <a:ext uri="{FF2B5EF4-FFF2-40B4-BE49-F238E27FC236}">
                <a16:creationId xmlns:a16="http://schemas.microsoft.com/office/drawing/2014/main" id="{0CCA8606-26B9-4FCC-85AF-B27BF35F744B}"/>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8719398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BCDC5B98-5B01-4FD4-8475-A530ACD85DD5}"/>
              </a:ext>
            </a:extLst>
          </p:cNvPr>
          <p:cNvSpPr>
            <a:spLocks noGrp="1"/>
          </p:cNvSpPr>
          <p:nvPr>
            <p:ph type="sldNum" sz="quarter" idx="12"/>
          </p:nvPr>
        </p:nvSpPr>
        <p:spPr/>
        <p:txBody>
          <a:bodyPr/>
          <a:lstStyle/>
          <a:p>
            <a:fld id="{93CCD850-57C1-B143-82E0-6B89E4215FB0}" type="slidenum">
              <a:rPr lang="fr-FR" smtClean="0"/>
              <a:t>13</a:t>
            </a:fld>
            <a:endParaRPr lang="fr-FR"/>
          </a:p>
        </p:txBody>
      </p:sp>
      <p:sp>
        <p:nvSpPr>
          <p:cNvPr id="5" name="Titre 1">
            <a:extLst>
              <a:ext uri="{FF2B5EF4-FFF2-40B4-BE49-F238E27FC236}">
                <a16:creationId xmlns:a16="http://schemas.microsoft.com/office/drawing/2014/main" id="{0FAF1E1A-C2E7-41C7-BF04-75C51BACF06E}"/>
              </a:ext>
            </a:extLst>
          </p:cNvPr>
          <p:cNvSpPr>
            <a:spLocks noGrp="1"/>
          </p:cNvSpPr>
          <p:nvPr>
            <p:ph type="title"/>
          </p:nvPr>
        </p:nvSpPr>
        <p:spPr/>
        <p:txBody>
          <a:bodyPr/>
          <a:lstStyle/>
          <a:p>
            <a:r>
              <a:rPr lang="fr-CA" dirty="0"/>
              <a:t>Classement PASSIFS </a:t>
            </a:r>
            <a:r>
              <a:rPr lang="fr-CA" sz="2000" dirty="0">
                <a:highlight>
                  <a:srgbClr val="FFFF00"/>
                </a:highlight>
              </a:rPr>
              <a:t>(</a:t>
            </a:r>
            <a:r>
              <a:rPr lang="fr-CA" sz="2000" dirty="0">
                <a:solidFill>
                  <a:srgbClr val="FF0000"/>
                </a:solidFill>
                <a:highlight>
                  <a:srgbClr val="FFFF00"/>
                </a:highlight>
              </a:rPr>
              <a:t>IFRS 9</a:t>
            </a:r>
            <a:r>
              <a:rPr lang="fr-CA" sz="2000" dirty="0">
                <a:highlight>
                  <a:srgbClr val="FFFF00"/>
                </a:highlight>
              </a:rPr>
              <a:t>)</a:t>
            </a:r>
          </a:p>
        </p:txBody>
      </p:sp>
      <p:sp>
        <p:nvSpPr>
          <p:cNvPr id="7" name="Espace réservé du contenu 2">
            <a:extLst>
              <a:ext uri="{FF2B5EF4-FFF2-40B4-BE49-F238E27FC236}">
                <a16:creationId xmlns:a16="http://schemas.microsoft.com/office/drawing/2014/main" id="{EB37B7FE-ECED-4356-90AF-6EB19BDB992F}"/>
              </a:ext>
            </a:extLst>
          </p:cNvPr>
          <p:cNvSpPr>
            <a:spLocks noGrp="1"/>
          </p:cNvSpPr>
          <p:nvPr>
            <p:ph idx="1"/>
          </p:nvPr>
        </p:nvSpPr>
        <p:spPr/>
        <p:txBody>
          <a:bodyPr>
            <a:normAutofit/>
          </a:bodyPr>
          <a:lstStyle/>
          <a:p>
            <a:pPr marL="0" indent="0">
              <a:buNone/>
            </a:pPr>
            <a:r>
              <a:rPr lang="fr-CA" dirty="0"/>
              <a:t>Deux catégories </a:t>
            </a:r>
            <a:r>
              <a:rPr lang="fr-CA" b="1" dirty="0"/>
              <a:t>de passifs financiers </a:t>
            </a:r>
            <a:r>
              <a:rPr lang="fr-CA" sz="2000" dirty="0"/>
              <a:t>(4.2)</a:t>
            </a:r>
            <a:r>
              <a:rPr lang="fr-CA" sz="1600" b="1" dirty="0"/>
              <a:t> </a:t>
            </a:r>
            <a:r>
              <a:rPr lang="fr-CA" dirty="0"/>
              <a:t>:</a:t>
            </a:r>
          </a:p>
          <a:p>
            <a:pPr lvl="1"/>
            <a:r>
              <a:rPr lang="fr-CA" dirty="0"/>
              <a:t>Passifs financiers évalués à la juste valeur par le biais du résultat net</a:t>
            </a:r>
          </a:p>
          <a:p>
            <a:pPr lvl="2"/>
            <a:r>
              <a:rPr lang="fr-CA" dirty="0"/>
              <a:t>Détenu à des fins de transaction </a:t>
            </a:r>
            <a:r>
              <a:rPr lang="fr-CA" i="1" dirty="0"/>
              <a:t>(rare)</a:t>
            </a:r>
            <a:endParaRPr lang="fr-CA" dirty="0"/>
          </a:p>
          <a:p>
            <a:pPr lvl="2"/>
            <a:r>
              <a:rPr lang="fr-CA" dirty="0"/>
              <a:t>Dérivés</a:t>
            </a:r>
          </a:p>
          <a:p>
            <a:pPr lvl="1"/>
            <a:r>
              <a:rPr lang="fr-CA" dirty="0"/>
              <a:t>Passifs financiers évalués au coût amorti (au taux effectif)</a:t>
            </a:r>
          </a:p>
          <a:p>
            <a:pPr lvl="2"/>
            <a:r>
              <a:rPr lang="fr-CA" dirty="0"/>
              <a:t>Le reste</a:t>
            </a:r>
            <a:endParaRPr lang="fr-CA" sz="2400" dirty="0"/>
          </a:p>
        </p:txBody>
      </p:sp>
      <p:sp>
        <p:nvSpPr>
          <p:cNvPr id="2" name="Espace réservé du pied de page 1">
            <a:extLst>
              <a:ext uri="{FF2B5EF4-FFF2-40B4-BE49-F238E27FC236}">
                <a16:creationId xmlns:a16="http://schemas.microsoft.com/office/drawing/2014/main" id="{190814E4-2061-4DC7-8D92-674019278EC5}"/>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9802510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93379" y="274637"/>
            <a:ext cx="10342180" cy="1291403"/>
          </a:xfrm>
        </p:spPr>
        <p:txBody>
          <a:bodyPr>
            <a:normAutofit/>
          </a:bodyPr>
          <a:lstStyle/>
          <a:p>
            <a:r>
              <a:rPr lang="fr-CA" dirty="0"/>
              <a:t>Classement PASSIFS </a:t>
            </a:r>
            <a:r>
              <a:rPr lang="fr-CA" sz="2200" dirty="0">
                <a:solidFill>
                  <a:srgbClr val="FF0000"/>
                </a:solidFill>
                <a:highlight>
                  <a:srgbClr val="FFFF00"/>
                </a:highlight>
              </a:rPr>
              <a:t>NCECF</a:t>
            </a:r>
            <a:r>
              <a:rPr lang="fr-CA" sz="2200" dirty="0">
                <a:highlight>
                  <a:srgbClr val="FFFF00"/>
                </a:highlight>
              </a:rPr>
              <a:t> – 3856.11</a:t>
            </a:r>
          </a:p>
        </p:txBody>
      </p:sp>
      <p:sp>
        <p:nvSpPr>
          <p:cNvPr id="3" name="Espace réservé du contenu 2"/>
          <p:cNvSpPr>
            <a:spLocks noGrp="1"/>
          </p:cNvSpPr>
          <p:nvPr>
            <p:ph idx="1"/>
          </p:nvPr>
        </p:nvSpPr>
        <p:spPr>
          <a:xfrm>
            <a:off x="893379" y="1805651"/>
            <a:ext cx="10460421" cy="4210854"/>
          </a:xfrm>
        </p:spPr>
        <p:txBody>
          <a:bodyPr>
            <a:normAutofit/>
          </a:bodyPr>
          <a:lstStyle/>
          <a:p>
            <a:r>
              <a:rPr lang="fr-CA" dirty="0"/>
              <a:t>À la juste valeur </a:t>
            </a:r>
          </a:p>
          <a:p>
            <a:pPr lvl="1"/>
            <a:r>
              <a:rPr lang="fr-CA" dirty="0"/>
              <a:t>les dérivés </a:t>
            </a:r>
          </a:p>
          <a:p>
            <a:pPr lvl="1"/>
            <a:endParaRPr lang="fr-CA" dirty="0"/>
          </a:p>
          <a:p>
            <a:r>
              <a:rPr lang="fr-CA" dirty="0"/>
              <a:t>Sinon, au coût amorti</a:t>
            </a:r>
          </a:p>
          <a:p>
            <a:endParaRPr lang="fr-CA"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14</a:t>
            </a:fld>
            <a:endParaRPr lang="fr-FR"/>
          </a:p>
        </p:txBody>
      </p:sp>
      <p:sp>
        <p:nvSpPr>
          <p:cNvPr id="5" name="Espace réservé du pied de page 4">
            <a:extLst>
              <a:ext uri="{FF2B5EF4-FFF2-40B4-BE49-F238E27FC236}">
                <a16:creationId xmlns:a16="http://schemas.microsoft.com/office/drawing/2014/main" id="{ED0804D3-05D1-410B-8924-93B971EF4B63}"/>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7267446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Aide gouvernementale </a:t>
            </a:r>
            <a:r>
              <a:rPr lang="fr-CA" sz="3600" i="1" dirty="0"/>
              <a:t>(intégration 2 normes)</a:t>
            </a:r>
            <a:br>
              <a:rPr lang="fr-CA" sz="3600" i="1" dirty="0"/>
            </a:br>
            <a:r>
              <a:rPr lang="fr-CA" sz="2800" i="1" dirty="0">
                <a:solidFill>
                  <a:srgbClr val="FF0000"/>
                </a:solidFill>
              </a:rPr>
              <a:t>voir fichier Word pour extraits norme</a:t>
            </a:r>
            <a:endParaRPr lang="fr-CA" dirty="0">
              <a:solidFill>
                <a:srgbClr val="FF0000"/>
              </a:solidFill>
            </a:endParaRPr>
          </a:p>
        </p:txBody>
      </p:sp>
      <p:sp>
        <p:nvSpPr>
          <p:cNvPr id="3" name="Espace réservé du contenu 2"/>
          <p:cNvSpPr>
            <a:spLocks noGrp="1"/>
          </p:cNvSpPr>
          <p:nvPr>
            <p:ph idx="1"/>
          </p:nvPr>
        </p:nvSpPr>
        <p:spPr/>
        <p:txBody>
          <a:bodyPr/>
          <a:lstStyle/>
          <a:p>
            <a:pPr marL="0" indent="0">
              <a:buNone/>
            </a:pPr>
            <a:r>
              <a:rPr lang="fr-CA" dirty="0"/>
              <a:t>Et si c’était un prêt de 1 000 000 $ d’une durée de trois ans et ne portant pas intérêt, provenant du gouvernement du Québec?</a:t>
            </a:r>
          </a:p>
          <a:p>
            <a:pPr lvl="1"/>
            <a:r>
              <a:rPr lang="fr-CA" dirty="0"/>
              <a:t>L’aide est pour l’acquisition d’un équipement, au coût de 1 500 000 $  (amortissement linéaire 4 ans)</a:t>
            </a:r>
          </a:p>
          <a:p>
            <a:pPr lvl="1"/>
            <a:r>
              <a:rPr lang="fr-CA" dirty="0"/>
              <a:t>Taux du marché est 7 %</a:t>
            </a:r>
          </a:p>
          <a:p>
            <a:pPr marL="0" indent="0">
              <a:buNone/>
            </a:pPr>
            <a:endParaRPr lang="fr-CA" dirty="0"/>
          </a:p>
          <a:p>
            <a:pPr lvl="1">
              <a:buFont typeface="Wingdings" panose="05000000000000000000" pitchFamily="2" charset="2"/>
              <a:buChar char="Ø"/>
            </a:pPr>
            <a:r>
              <a:rPr lang="fr-CA" i="1" dirty="0"/>
              <a:t>Préparez l’analyse ainsi que les écritures </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15</a:t>
            </a:fld>
            <a:endParaRPr lang="fr-FR" dirty="0"/>
          </a:p>
        </p:txBody>
      </p:sp>
      <p:sp>
        <p:nvSpPr>
          <p:cNvPr id="5" name="Espace réservé du pied de page 4">
            <a:extLst>
              <a:ext uri="{FF2B5EF4-FFF2-40B4-BE49-F238E27FC236}">
                <a16:creationId xmlns:a16="http://schemas.microsoft.com/office/drawing/2014/main" id="{217A7BEC-2F5A-4F7D-AED7-2E98245186F1}"/>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9783785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1981200" y="274638"/>
            <a:ext cx="8229600" cy="879792"/>
          </a:xfrm>
        </p:spPr>
        <p:txBody>
          <a:bodyPr/>
          <a:lstStyle/>
          <a:p>
            <a:r>
              <a:rPr lang="fr-CA" dirty="0"/>
              <a:t>Aide gouvernementale</a:t>
            </a:r>
          </a:p>
        </p:txBody>
      </p:sp>
      <p:sp>
        <p:nvSpPr>
          <p:cNvPr id="3" name="Espace réservé du contenu 2"/>
          <p:cNvSpPr>
            <a:spLocks noGrp="1"/>
          </p:cNvSpPr>
          <p:nvPr>
            <p:ph idx="1"/>
          </p:nvPr>
        </p:nvSpPr>
        <p:spPr>
          <a:xfrm>
            <a:off x="544009" y="1154430"/>
            <a:ext cx="10984375" cy="5394960"/>
          </a:xfrm>
        </p:spPr>
        <p:txBody>
          <a:bodyPr>
            <a:noAutofit/>
          </a:bodyPr>
          <a:lstStyle/>
          <a:p>
            <a:pPr marL="0" indent="0">
              <a:buNone/>
            </a:pPr>
            <a:endParaRPr lang="fr-CA" sz="1400"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16</a:t>
            </a:fld>
            <a:endParaRPr lang="fr-FR"/>
          </a:p>
        </p:txBody>
      </p:sp>
      <p:sp>
        <p:nvSpPr>
          <p:cNvPr id="5" name="Espace réservé du pied de page 4">
            <a:extLst>
              <a:ext uri="{FF2B5EF4-FFF2-40B4-BE49-F238E27FC236}">
                <a16:creationId xmlns:a16="http://schemas.microsoft.com/office/drawing/2014/main" id="{D2FB4264-BAA3-4BC9-BFC4-41809D90B88B}"/>
              </a:ext>
            </a:extLst>
          </p:cNvPr>
          <p:cNvSpPr>
            <a:spLocks noGrp="1"/>
          </p:cNvSpPr>
          <p:nvPr>
            <p:ph type="ftr" sz="quarter" idx="11"/>
          </p:nvPr>
        </p:nvSpPr>
        <p:spPr/>
        <p:txBody>
          <a:bodyPr/>
          <a:lstStyle/>
          <a:p>
            <a:r>
              <a:rPr lang="fr-CA"/>
              <a:t>Droits réservés - Louise Overbeek</a:t>
            </a:r>
          </a:p>
        </p:txBody>
      </p:sp>
      <p:graphicFrame>
        <p:nvGraphicFramePr>
          <p:cNvPr id="6" name="Objet 5">
            <a:extLst>
              <a:ext uri="{FF2B5EF4-FFF2-40B4-BE49-F238E27FC236}">
                <a16:creationId xmlns:a16="http://schemas.microsoft.com/office/drawing/2014/main" id="{4356F766-E54C-4D8C-A33F-1EB5B69BBF24}"/>
              </a:ext>
            </a:extLst>
          </p:cNvPr>
          <p:cNvGraphicFramePr>
            <a:graphicFrameLocks noChangeAspect="1"/>
          </p:cNvGraphicFramePr>
          <p:nvPr>
            <p:extLst>
              <p:ext uri="{D42A27DB-BD31-4B8C-83A1-F6EECF244321}">
                <p14:modId xmlns:p14="http://schemas.microsoft.com/office/powerpoint/2010/main" val="2949150401"/>
              </p:ext>
            </p:extLst>
          </p:nvPr>
        </p:nvGraphicFramePr>
        <p:xfrm>
          <a:off x="1527817" y="1109980"/>
          <a:ext cx="7923603" cy="5428932"/>
        </p:xfrm>
        <a:graphic>
          <a:graphicData uri="http://schemas.openxmlformats.org/presentationml/2006/ole">
            <mc:AlternateContent xmlns:mc="http://schemas.openxmlformats.org/markup-compatibility/2006">
              <mc:Choice xmlns:v="urn:schemas-microsoft-com:vml" Requires="v">
                <p:oleObj name="Worksheet" r:id="rId2" imgW="4578510" imgH="3136841" progId="Excel.Sheet.12">
                  <p:embed/>
                </p:oleObj>
              </mc:Choice>
              <mc:Fallback>
                <p:oleObj name="Worksheet" r:id="rId2" imgW="4578510" imgH="3136841" progId="Excel.Sheet.12">
                  <p:embed/>
                  <p:pic>
                    <p:nvPicPr>
                      <p:cNvPr id="6" name="Objet 5">
                        <a:extLst>
                          <a:ext uri="{FF2B5EF4-FFF2-40B4-BE49-F238E27FC236}">
                            <a16:creationId xmlns:a16="http://schemas.microsoft.com/office/drawing/2014/main" id="{4356F766-E54C-4D8C-A33F-1EB5B69BBF24}"/>
                          </a:ext>
                        </a:extLst>
                      </p:cNvPr>
                      <p:cNvPicPr/>
                      <p:nvPr/>
                    </p:nvPicPr>
                    <p:blipFill>
                      <a:blip r:embed="rId3"/>
                      <a:stretch>
                        <a:fillRect/>
                      </a:stretch>
                    </p:blipFill>
                    <p:spPr>
                      <a:xfrm>
                        <a:off x="1527817" y="1109980"/>
                        <a:ext cx="7923603" cy="5428932"/>
                      </a:xfrm>
                      <a:prstGeom prst="rect">
                        <a:avLst/>
                      </a:prstGeom>
                    </p:spPr>
                  </p:pic>
                </p:oleObj>
              </mc:Fallback>
            </mc:AlternateContent>
          </a:graphicData>
        </a:graphic>
      </p:graphicFrame>
    </p:spTree>
    <p:extLst>
      <p:ext uri="{BB962C8B-B14F-4D97-AF65-F5344CB8AC3E}">
        <p14:creationId xmlns:p14="http://schemas.microsoft.com/office/powerpoint/2010/main" val="27605612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1981200" y="274638"/>
            <a:ext cx="8229600" cy="879792"/>
          </a:xfrm>
        </p:spPr>
        <p:txBody>
          <a:bodyPr/>
          <a:lstStyle/>
          <a:p>
            <a:r>
              <a:rPr lang="fr-CA" dirty="0"/>
              <a:t>Aide gouvernementale</a:t>
            </a:r>
          </a:p>
        </p:txBody>
      </p:sp>
      <p:sp>
        <p:nvSpPr>
          <p:cNvPr id="3" name="Espace réservé du contenu 2"/>
          <p:cNvSpPr>
            <a:spLocks noGrp="1"/>
          </p:cNvSpPr>
          <p:nvPr>
            <p:ph idx="1"/>
          </p:nvPr>
        </p:nvSpPr>
        <p:spPr>
          <a:xfrm>
            <a:off x="544009" y="1154430"/>
            <a:ext cx="10984375" cy="5394960"/>
          </a:xfrm>
        </p:spPr>
        <p:txBody>
          <a:bodyPr>
            <a:noAutofit/>
          </a:bodyPr>
          <a:lstStyle/>
          <a:p>
            <a:pPr marL="0" indent="0">
              <a:buNone/>
            </a:pPr>
            <a:r>
              <a:rPr lang="fr-CA" sz="2000" b="1" dirty="0"/>
              <a:t>À la comptabilisation initiale</a:t>
            </a:r>
          </a:p>
          <a:p>
            <a:pPr marL="0" indent="0">
              <a:buNone/>
            </a:pPr>
            <a:r>
              <a:rPr lang="fr-CA" sz="2000" dirty="0"/>
              <a:t>	Encaisse					1 000 000</a:t>
            </a:r>
          </a:p>
          <a:p>
            <a:pPr marL="0" indent="0">
              <a:buNone/>
            </a:pPr>
            <a:r>
              <a:rPr lang="fr-CA" sz="2000" dirty="0"/>
              <a:t>	@ Prêt						816 298</a:t>
            </a:r>
          </a:p>
          <a:p>
            <a:pPr marL="0" indent="0">
              <a:buNone/>
            </a:pPr>
            <a:r>
              <a:rPr lang="fr-CA" sz="2000" dirty="0"/>
              <a:t>	     Aide gouvernementale différée </a:t>
            </a:r>
            <a:r>
              <a:rPr lang="fr-CA" sz="2000" i="1" dirty="0"/>
              <a:t>(ou Équipement)	</a:t>
            </a:r>
            <a:r>
              <a:rPr lang="fr-CA" sz="2000" dirty="0"/>
              <a:t>183 702</a:t>
            </a:r>
          </a:p>
          <a:p>
            <a:pPr marL="0" indent="0">
              <a:buNone/>
            </a:pPr>
            <a:r>
              <a:rPr lang="fr-CA" sz="2000" b="1" dirty="0"/>
              <a:t>31/12/X1</a:t>
            </a:r>
          </a:p>
          <a:p>
            <a:pPr marL="0" indent="0">
              <a:buNone/>
            </a:pPr>
            <a:r>
              <a:rPr lang="fr-CA" sz="2000" dirty="0"/>
              <a:t>	Frais financiers				    57 141</a:t>
            </a:r>
          </a:p>
          <a:p>
            <a:pPr marL="0" indent="0">
              <a:buNone/>
            </a:pPr>
            <a:r>
              <a:rPr lang="fr-CA" sz="2000" dirty="0"/>
              <a:t>	@ Prêt						 57 141</a:t>
            </a:r>
          </a:p>
          <a:p>
            <a:pPr marL="0" indent="0">
              <a:buNone/>
            </a:pPr>
            <a:endParaRPr lang="fr-CA" sz="400" dirty="0"/>
          </a:p>
          <a:p>
            <a:pPr marL="0" indent="0">
              <a:buNone/>
            </a:pPr>
            <a:r>
              <a:rPr lang="fr-CA" sz="2000" dirty="0"/>
              <a:t>	Aide gouvernementale différée		    45 926</a:t>
            </a:r>
          </a:p>
          <a:p>
            <a:pPr marL="0" indent="0">
              <a:buNone/>
            </a:pPr>
            <a:r>
              <a:rPr lang="fr-CA" sz="2000" dirty="0"/>
              <a:t>	@ Autre produit 					45 926</a:t>
            </a:r>
          </a:p>
          <a:p>
            <a:pPr marL="0" indent="0">
              <a:buNone/>
            </a:pPr>
            <a:r>
              <a:rPr lang="fr-CA" sz="2000" dirty="0"/>
              <a:t>	</a:t>
            </a:r>
            <a:r>
              <a:rPr lang="fr-CA" sz="2000" i="1" dirty="0"/>
              <a:t>(ou écriture non requise si a réduit Équipement – se fait via montant amortissement moindre – 	329 074 $)</a:t>
            </a:r>
          </a:p>
          <a:p>
            <a:pPr marL="0" indent="0">
              <a:buNone/>
            </a:pPr>
            <a:r>
              <a:rPr lang="fr-CA" sz="2000" dirty="0"/>
              <a:t>	</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17</a:t>
            </a:fld>
            <a:endParaRPr lang="fr-FR"/>
          </a:p>
        </p:txBody>
      </p:sp>
      <p:sp>
        <p:nvSpPr>
          <p:cNvPr id="5" name="Espace réservé du pied de page 4">
            <a:extLst>
              <a:ext uri="{FF2B5EF4-FFF2-40B4-BE49-F238E27FC236}">
                <a16:creationId xmlns:a16="http://schemas.microsoft.com/office/drawing/2014/main" id="{D2FB4264-BAA3-4BC9-BFC4-41809D90B88B}"/>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4305974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1981200" y="274638"/>
            <a:ext cx="8229600" cy="879792"/>
          </a:xfrm>
        </p:spPr>
        <p:txBody>
          <a:bodyPr/>
          <a:lstStyle/>
          <a:p>
            <a:r>
              <a:rPr lang="fr-CA" dirty="0"/>
              <a:t>Aide gouvernementale</a:t>
            </a:r>
          </a:p>
        </p:txBody>
      </p:sp>
      <p:sp>
        <p:nvSpPr>
          <p:cNvPr id="3" name="Espace réservé du contenu 2"/>
          <p:cNvSpPr>
            <a:spLocks noGrp="1"/>
          </p:cNvSpPr>
          <p:nvPr>
            <p:ph idx="1"/>
          </p:nvPr>
        </p:nvSpPr>
        <p:spPr>
          <a:xfrm>
            <a:off x="544009" y="1154430"/>
            <a:ext cx="10984375" cy="5394960"/>
          </a:xfrm>
        </p:spPr>
        <p:txBody>
          <a:bodyPr>
            <a:noAutofit/>
          </a:bodyPr>
          <a:lstStyle/>
          <a:p>
            <a:pPr marL="0" indent="0">
              <a:buNone/>
            </a:pPr>
            <a:endParaRPr lang="fr-CA" sz="2000" i="1" dirty="0"/>
          </a:p>
          <a:p>
            <a:pPr marL="0" indent="0">
              <a:buNone/>
            </a:pPr>
            <a:r>
              <a:rPr lang="fr-CA" sz="2000" dirty="0"/>
              <a:t>31/12/X2</a:t>
            </a:r>
          </a:p>
          <a:p>
            <a:pPr marL="0" indent="0">
              <a:buNone/>
            </a:pPr>
            <a:r>
              <a:rPr lang="fr-CA" sz="2000" dirty="0"/>
              <a:t>	Frais financiers				    61 141</a:t>
            </a:r>
          </a:p>
          <a:p>
            <a:pPr marL="0" indent="0">
              <a:buNone/>
            </a:pPr>
            <a:r>
              <a:rPr lang="fr-CA" sz="2000" dirty="0"/>
              <a:t>	@ Prêt						61 141</a:t>
            </a:r>
          </a:p>
          <a:p>
            <a:pPr marL="0" indent="0">
              <a:buNone/>
            </a:pPr>
            <a:endParaRPr lang="fr-CA" sz="1050" dirty="0"/>
          </a:p>
          <a:p>
            <a:pPr marL="0" indent="0">
              <a:buNone/>
            </a:pPr>
            <a:r>
              <a:rPr lang="fr-CA" sz="2000" dirty="0"/>
              <a:t>	Aide gouvernementale différée		    45 926</a:t>
            </a:r>
          </a:p>
          <a:p>
            <a:pPr marL="0" indent="0">
              <a:buNone/>
            </a:pPr>
            <a:r>
              <a:rPr lang="fr-CA" sz="2000" dirty="0"/>
              <a:t>	@ Autre produit (ou amortissement)		45 926</a:t>
            </a:r>
          </a:p>
          <a:p>
            <a:pPr marL="0" indent="0">
              <a:buNone/>
            </a:pPr>
            <a:r>
              <a:rPr lang="fr-CA" sz="2000" dirty="0"/>
              <a:t>	</a:t>
            </a:r>
            <a:r>
              <a:rPr lang="fr-CA" sz="2000" i="1" dirty="0"/>
              <a:t> (ou écriture non requise si a réduit Équipement – se fait via montant amortissement moindre)</a:t>
            </a:r>
            <a:endParaRPr lang="fr-CA" sz="1400"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18</a:t>
            </a:fld>
            <a:endParaRPr lang="fr-FR"/>
          </a:p>
        </p:txBody>
      </p:sp>
      <p:sp>
        <p:nvSpPr>
          <p:cNvPr id="5" name="Espace réservé du pied de page 4">
            <a:extLst>
              <a:ext uri="{FF2B5EF4-FFF2-40B4-BE49-F238E27FC236}">
                <a16:creationId xmlns:a16="http://schemas.microsoft.com/office/drawing/2014/main" id="{D2FB4264-BAA3-4BC9-BFC4-41809D90B88B}"/>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7441609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610498" y="274638"/>
            <a:ext cx="9057503" cy="1143000"/>
          </a:xfrm>
        </p:spPr>
        <p:txBody>
          <a:bodyPr>
            <a:normAutofit/>
          </a:bodyPr>
          <a:lstStyle/>
          <a:p>
            <a:r>
              <a:rPr lang="fr-FR" dirty="0"/>
              <a:t>Classement passif / capitaux propres</a:t>
            </a:r>
          </a:p>
        </p:txBody>
      </p:sp>
      <p:sp>
        <p:nvSpPr>
          <p:cNvPr id="3" name="Espace réservé du contenu 2"/>
          <p:cNvSpPr>
            <a:spLocks noGrp="1"/>
          </p:cNvSpPr>
          <p:nvPr>
            <p:ph idx="1"/>
          </p:nvPr>
        </p:nvSpPr>
        <p:spPr>
          <a:xfrm>
            <a:off x="451414" y="1600201"/>
            <a:ext cx="11227442" cy="4756149"/>
          </a:xfrm>
        </p:spPr>
        <p:txBody>
          <a:bodyPr>
            <a:normAutofit fontScale="32500" lnSpcReduction="20000"/>
          </a:bodyPr>
          <a:lstStyle/>
          <a:p>
            <a:pPr marL="0" indent="0">
              <a:lnSpc>
                <a:spcPct val="170000"/>
              </a:lnSpc>
              <a:buNone/>
            </a:pPr>
            <a:r>
              <a:rPr lang="fr-CA" sz="6200" dirty="0"/>
              <a:t>L’émetteur d’un instrument financier doit, </a:t>
            </a:r>
            <a:r>
              <a:rPr lang="fr-CA" sz="6200" u="sng" dirty="0"/>
              <a:t>lors de sa comptabilisation initiale</a:t>
            </a:r>
            <a:r>
              <a:rPr lang="fr-CA" sz="6200" dirty="0"/>
              <a:t>, classer l’instrument (ou ses composantes) en tant que </a:t>
            </a:r>
            <a:r>
              <a:rPr lang="fr-CA" sz="6200" b="1" dirty="0"/>
              <a:t>passif financier</a:t>
            </a:r>
            <a:r>
              <a:rPr lang="fr-CA" sz="6200" dirty="0"/>
              <a:t> ou </a:t>
            </a:r>
            <a:r>
              <a:rPr lang="fr-CA" sz="6200" b="1" dirty="0"/>
              <a:t>instrument de capitaux propres</a:t>
            </a:r>
            <a:r>
              <a:rPr lang="fr-CA" sz="6200" dirty="0"/>
              <a:t> :</a:t>
            </a:r>
          </a:p>
          <a:p>
            <a:pPr lvl="1">
              <a:lnSpc>
                <a:spcPct val="170000"/>
              </a:lnSpc>
            </a:pPr>
            <a:r>
              <a:rPr lang="fr-CA" sz="6200" dirty="0"/>
              <a:t>selon la </a:t>
            </a:r>
            <a:r>
              <a:rPr lang="fr-CA" sz="6200" b="1" u="sng" dirty="0"/>
              <a:t>substance</a:t>
            </a:r>
            <a:r>
              <a:rPr lang="fr-CA" sz="6200" b="1" dirty="0"/>
              <a:t> du contrat</a:t>
            </a:r>
            <a:r>
              <a:rPr lang="fr-CA" sz="6200" dirty="0"/>
              <a:t> </a:t>
            </a:r>
          </a:p>
          <a:p>
            <a:pPr lvl="1">
              <a:lnSpc>
                <a:spcPct val="170000"/>
              </a:lnSpc>
            </a:pPr>
            <a:r>
              <a:rPr lang="fr-CA" sz="6200" dirty="0"/>
              <a:t>et selon les </a:t>
            </a:r>
            <a:r>
              <a:rPr lang="fr-CA" sz="6200" b="1" u="sng" dirty="0"/>
              <a:t>définitions</a:t>
            </a:r>
            <a:r>
              <a:rPr lang="fr-CA" sz="6200" b="1" dirty="0"/>
              <a:t> d’un PF et d’un ICP.</a:t>
            </a:r>
            <a:r>
              <a:rPr lang="fr-CA" sz="6200" dirty="0"/>
              <a:t>  </a:t>
            </a:r>
            <a:r>
              <a:rPr lang="fr-CA" sz="5500" dirty="0"/>
              <a:t>       (IAS 32.15)</a:t>
            </a:r>
            <a:endParaRPr lang="fr-CA" sz="4300" dirty="0"/>
          </a:p>
          <a:p>
            <a:pPr marL="1084263" lvl="1" indent="-452438">
              <a:lnSpc>
                <a:spcPct val="120000"/>
              </a:lnSpc>
              <a:buClr>
                <a:schemeClr val="accent2"/>
              </a:buClr>
              <a:buSzPct val="115000"/>
              <a:buFont typeface="Wingdings" pitchFamily="2" charset="2"/>
              <a:buChar char="Ø"/>
            </a:pPr>
            <a:r>
              <a:rPr lang="fr-CA" sz="5500" dirty="0"/>
              <a:t>L</a:t>
            </a:r>
            <a:r>
              <a:rPr lang="fr-CA" altLang="fr-FR" sz="5500" dirty="0"/>
              <a:t>‘</a:t>
            </a:r>
            <a:r>
              <a:rPr lang="fr-CA" sz="5500" dirty="0"/>
              <a:t>emphase est mise sur l'existence d'une </a:t>
            </a:r>
            <a:r>
              <a:rPr lang="fr-CA" sz="5500" i="1" dirty="0"/>
              <a:t>obligation contractuelle de remettre de la trésorerie, d</a:t>
            </a:r>
            <a:r>
              <a:rPr lang="fr-CA" altLang="fr-FR" sz="5500" i="1" dirty="0"/>
              <a:t>’</a:t>
            </a:r>
            <a:r>
              <a:rPr lang="fr-CA" sz="5500" i="1" dirty="0"/>
              <a:t>autres actifs ou un nombre variable d'actions propres de l’entité elle-même</a:t>
            </a:r>
            <a:r>
              <a:rPr lang="fr-CA" sz="5500" dirty="0"/>
              <a:t>. Si une telle obligation existe, il existe un passif. Cela s</a:t>
            </a:r>
            <a:r>
              <a:rPr lang="fr-CA" altLang="fr-FR" sz="5500" dirty="0"/>
              <a:t>’</a:t>
            </a:r>
            <a:r>
              <a:rPr lang="fr-CA" sz="5500" dirty="0"/>
              <a:t>applique à tous les instruments, qu'il s</a:t>
            </a:r>
            <a:r>
              <a:rPr lang="fr-CA" altLang="fr-FR" sz="5500" dirty="0"/>
              <a:t>’</a:t>
            </a:r>
            <a:r>
              <a:rPr lang="fr-CA" sz="5500" dirty="0"/>
              <a:t>agisse de prêts / obligations ou d'actions privilégiées ou ordinaires. </a:t>
            </a:r>
          </a:p>
          <a:p>
            <a:pPr marL="1084263" lvl="1" indent="-452438">
              <a:lnSpc>
                <a:spcPct val="120000"/>
              </a:lnSpc>
              <a:buClr>
                <a:schemeClr val="accent2"/>
              </a:buClr>
              <a:buSzPct val="115000"/>
              <a:buFont typeface="Wingdings" pitchFamily="2" charset="2"/>
              <a:buChar char="Ø"/>
            </a:pPr>
            <a:r>
              <a:rPr lang="fr-CA" sz="5500" dirty="0"/>
              <a:t>À moins que l'entité n</a:t>
            </a:r>
            <a:r>
              <a:rPr lang="fr-CA" altLang="fr-FR" sz="5500" dirty="0"/>
              <a:t>’</a:t>
            </a:r>
            <a:r>
              <a:rPr lang="fr-CA" sz="5500" dirty="0"/>
              <a:t>ait un droit</a:t>
            </a:r>
            <a:r>
              <a:rPr lang="fr-CA" sz="5500" i="1" dirty="0"/>
              <a:t> inconditionnel</a:t>
            </a:r>
            <a:r>
              <a:rPr lang="fr-CA" sz="5500" dirty="0"/>
              <a:t> d</a:t>
            </a:r>
            <a:r>
              <a:rPr lang="fr-CA" altLang="fr-FR" sz="5500" dirty="0"/>
              <a:t>’</a:t>
            </a:r>
            <a:r>
              <a:rPr lang="fr-CA" sz="5500" dirty="0"/>
              <a:t>éviter de remettre de la trésorerie ou d'autres actifs financiers, il s</a:t>
            </a:r>
            <a:r>
              <a:rPr lang="fr-CA" altLang="fr-FR" sz="5500" dirty="0"/>
              <a:t>’</a:t>
            </a:r>
            <a:r>
              <a:rPr lang="fr-CA" sz="5500" dirty="0"/>
              <a:t>agit d</a:t>
            </a:r>
            <a:r>
              <a:rPr lang="fr-CA" altLang="fr-FR" sz="5500" dirty="0"/>
              <a:t>’</a:t>
            </a:r>
            <a:r>
              <a:rPr lang="fr-CA" sz="5500" dirty="0"/>
              <a:t>un passif.</a:t>
            </a:r>
            <a:r>
              <a:rPr lang="fr-CA" sz="4900" dirty="0"/>
              <a:t>  </a:t>
            </a:r>
          </a:p>
          <a:p>
            <a:pPr marL="174625" indent="0">
              <a:lnSpc>
                <a:spcPct val="120000"/>
              </a:lnSpc>
              <a:buClr>
                <a:schemeClr val="accent2"/>
              </a:buClr>
              <a:buSzPct val="115000"/>
              <a:buNone/>
            </a:pPr>
            <a:r>
              <a:rPr lang="fr-CA" sz="4000" dirty="0"/>
              <a:t>			(IAS 32.17 à IAS 32.20)</a:t>
            </a:r>
          </a:p>
          <a:p>
            <a:pPr marL="457200" lvl="1" indent="0">
              <a:buNone/>
            </a:pPr>
            <a:endParaRPr lang="fr-CA" dirty="0"/>
          </a:p>
          <a:p>
            <a:pPr marL="457200" lvl="1" indent="-457200">
              <a:buNone/>
            </a:pPr>
            <a:r>
              <a:rPr lang="fr-CA" sz="5500" dirty="0">
                <a:solidFill>
                  <a:srgbClr val="0070C0"/>
                </a:solidFill>
              </a:rPr>
              <a:t>Idem NCECF</a:t>
            </a:r>
            <a:endParaRPr lang="fr-CA" sz="4300" dirty="0">
              <a:solidFill>
                <a:srgbClr val="0070C0"/>
              </a:solidFill>
            </a:endParaRPr>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19</a:t>
            </a:fld>
            <a:endParaRPr lang="fr-FR"/>
          </a:p>
        </p:txBody>
      </p:sp>
      <p:sp>
        <p:nvSpPr>
          <p:cNvPr id="5" name="Espace réservé du pied de page 4">
            <a:extLst>
              <a:ext uri="{FF2B5EF4-FFF2-40B4-BE49-F238E27FC236}">
                <a16:creationId xmlns:a16="http://schemas.microsoft.com/office/drawing/2014/main" id="{D61BFFCA-FBB0-4596-84EF-7D339BA809E0}"/>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7027155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72360" y="274638"/>
            <a:ext cx="10481440" cy="1143000"/>
          </a:xfrm>
        </p:spPr>
        <p:txBody>
          <a:bodyPr>
            <a:normAutofit/>
          </a:bodyPr>
          <a:lstStyle/>
          <a:p>
            <a:r>
              <a:rPr lang="fr-FR" dirty="0"/>
              <a:t>Classement passif / capitaux propres - NCECF</a:t>
            </a:r>
          </a:p>
        </p:txBody>
      </p:sp>
      <p:sp>
        <p:nvSpPr>
          <p:cNvPr id="3" name="Espace réservé du contenu 2"/>
          <p:cNvSpPr>
            <a:spLocks noGrp="1"/>
          </p:cNvSpPr>
          <p:nvPr>
            <p:ph idx="1"/>
          </p:nvPr>
        </p:nvSpPr>
        <p:spPr>
          <a:xfrm>
            <a:off x="872360" y="1313793"/>
            <a:ext cx="10481440" cy="5042557"/>
          </a:xfrm>
        </p:spPr>
        <p:txBody>
          <a:bodyPr>
            <a:normAutofit fontScale="85000" lnSpcReduction="20000"/>
          </a:bodyPr>
          <a:lstStyle/>
          <a:p>
            <a:pPr marL="0" indent="0">
              <a:buNone/>
            </a:pPr>
            <a:r>
              <a:rPr lang="fr-CA" b="1" dirty="0"/>
              <a:t>Passifs et capitaux propres</a:t>
            </a:r>
          </a:p>
          <a:p>
            <a:pPr marL="0" indent="0">
              <a:buNone/>
            </a:pPr>
            <a:r>
              <a:rPr lang="fr-CA" dirty="0"/>
              <a:t>.20     </a:t>
            </a:r>
            <a:r>
              <a:rPr lang="fr-CA" i="1" dirty="0"/>
              <a:t>Sauf dans les cas prévus au paragraphe </a:t>
            </a:r>
            <a:r>
              <a:rPr lang="fr-CA" dirty="0">
                <a:hlinkClick r:id="rId3"/>
              </a:rPr>
              <a:t>3856.23</a:t>
            </a:r>
            <a:r>
              <a:rPr lang="fr-CA" i="1" dirty="0"/>
              <a:t> </a:t>
            </a:r>
            <a:r>
              <a:rPr lang="fr-CA" sz="2400" i="1" dirty="0"/>
              <a:t>(</a:t>
            </a:r>
            <a:r>
              <a:rPr lang="fr-CA" sz="2400" i="1" dirty="0" err="1"/>
              <a:t>planif</a:t>
            </a:r>
            <a:r>
              <a:rPr lang="fr-CA" sz="2400" i="1" dirty="0"/>
              <a:t>. fiscale),</a:t>
            </a:r>
            <a:r>
              <a:rPr lang="fr-CA" i="1" dirty="0"/>
              <a:t> l'émetteur d'un instrument financier doit classer l'instrument (ou ses composantes) dans le passif ou les capitaux propres, selon la substance du contrat au moment de la comptabilisation initiale et conformément aux définitions d'un passif financier et d'un instrument de capitaux propres.</a:t>
            </a:r>
            <a:r>
              <a:rPr lang="fr-CA" dirty="0"/>
              <a:t> (Les paragraphes </a:t>
            </a:r>
            <a:r>
              <a:rPr lang="fr-CA" dirty="0">
                <a:hlinkClick r:id="rId3"/>
              </a:rPr>
              <a:t>3856.A22</a:t>
            </a:r>
            <a:r>
              <a:rPr lang="fr-CA" dirty="0"/>
              <a:t> à .A38 fournissent des précisions d'application sur le sujet.)</a:t>
            </a:r>
          </a:p>
          <a:p>
            <a:pPr marL="0" indent="0">
              <a:buNone/>
            </a:pPr>
            <a:endParaRPr lang="fr-CA" dirty="0"/>
          </a:p>
          <a:p>
            <a:pPr marL="0" indent="0">
              <a:buNone/>
            </a:pPr>
            <a:r>
              <a:rPr lang="fr-CA" dirty="0"/>
              <a:t>j)     </a:t>
            </a:r>
            <a:r>
              <a:rPr lang="fr-CA" b="1" dirty="0"/>
              <a:t>Passif financier :</a:t>
            </a:r>
            <a:r>
              <a:rPr lang="fr-CA" dirty="0"/>
              <a:t> tout passif correspondant à une obligation contractuelle :</a:t>
            </a:r>
          </a:p>
          <a:p>
            <a:pPr marL="987425" indent="-450850">
              <a:buNone/>
            </a:pPr>
            <a:r>
              <a:rPr lang="fr-CA" dirty="0"/>
              <a:t>i)     soit de remettre à une autre partie de la trésorerie ou un autre actif financier;</a:t>
            </a:r>
          </a:p>
          <a:p>
            <a:pPr marL="987425" indent="-450850">
              <a:buNone/>
            </a:pPr>
            <a:r>
              <a:rPr lang="fr-CA" dirty="0"/>
              <a:t>ii)     soit d'échanger des instruments financiers avec une autre partie à des conditions potentiellement défavorables pour l'entreprise.</a:t>
            </a:r>
          </a:p>
          <a:p>
            <a:pPr marL="0" indent="0">
              <a:buNone/>
            </a:pPr>
            <a:endParaRPr lang="fr-CA" sz="1200" dirty="0"/>
          </a:p>
          <a:p>
            <a:pPr marL="536575" indent="-536575">
              <a:buNone/>
            </a:pPr>
            <a:r>
              <a:rPr lang="fr-CA" dirty="0"/>
              <a:t>e)     </a:t>
            </a:r>
            <a:r>
              <a:rPr lang="fr-CA" b="1" dirty="0"/>
              <a:t>Instrument de capitaux propres :</a:t>
            </a:r>
            <a:r>
              <a:rPr lang="fr-CA" dirty="0"/>
              <a:t> tout contrat constatant un droit résiduel sur les actifs d'une entreprise après déduction de tous ses passifs.</a:t>
            </a:r>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20</a:t>
            </a:fld>
            <a:endParaRPr lang="fr-FR"/>
          </a:p>
        </p:txBody>
      </p:sp>
      <p:sp>
        <p:nvSpPr>
          <p:cNvPr id="5" name="Espace réservé du pied de page 4">
            <a:extLst>
              <a:ext uri="{FF2B5EF4-FFF2-40B4-BE49-F238E27FC236}">
                <a16:creationId xmlns:a16="http://schemas.microsoft.com/office/drawing/2014/main" id="{D61BFFCA-FBB0-4596-84EF-7D339BA809E0}"/>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37345533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610498" y="95004"/>
            <a:ext cx="9057503" cy="344384"/>
          </a:xfrm>
        </p:spPr>
        <p:txBody>
          <a:bodyPr>
            <a:normAutofit fontScale="90000"/>
          </a:bodyPr>
          <a:lstStyle/>
          <a:p>
            <a:r>
              <a:rPr lang="fr-FR" dirty="0"/>
              <a:t>Classement passif / capitaux propres</a:t>
            </a:r>
          </a:p>
        </p:txBody>
      </p:sp>
      <p:sp>
        <p:nvSpPr>
          <p:cNvPr id="3" name="Espace réservé du contenu 2"/>
          <p:cNvSpPr>
            <a:spLocks noGrp="1"/>
          </p:cNvSpPr>
          <p:nvPr>
            <p:ph idx="1"/>
          </p:nvPr>
        </p:nvSpPr>
        <p:spPr>
          <a:xfrm>
            <a:off x="486137" y="965200"/>
            <a:ext cx="11111696" cy="5756276"/>
          </a:xfrm>
        </p:spPr>
        <p:txBody>
          <a:bodyPr>
            <a:noAutofit/>
          </a:bodyPr>
          <a:lstStyle/>
          <a:p>
            <a:pPr marL="0" indent="0">
              <a:buNone/>
            </a:pPr>
            <a:r>
              <a:rPr lang="fr-CA" sz="2400" b="1" dirty="0"/>
              <a:t>La caractéristique fondamentale d’un IF s’apprécie en fonction des définitions :</a:t>
            </a:r>
            <a:endParaRPr lang="fr-CA" sz="2400" b="1" i="1" dirty="0"/>
          </a:p>
          <a:p>
            <a:pPr marL="0" indent="0">
              <a:buNone/>
            </a:pPr>
            <a:r>
              <a:rPr lang="fr-CA" sz="2400" b="1" dirty="0"/>
              <a:t>PF = relation débiteur/créancier</a:t>
            </a:r>
            <a:endParaRPr lang="fr-CA" sz="2400" dirty="0"/>
          </a:p>
          <a:p>
            <a:pPr marL="177800" lvl="1" indent="-177800"/>
            <a:r>
              <a:rPr lang="fr-CA" b="1" dirty="0"/>
              <a:t>Obligation </a:t>
            </a:r>
            <a:r>
              <a:rPr lang="fr-CA" dirty="0"/>
              <a:t>de verser de la trésorerie, etc.</a:t>
            </a:r>
          </a:p>
          <a:p>
            <a:pPr marL="177800" lvl="1" indent="-177800"/>
            <a:r>
              <a:rPr lang="fr-CA" dirty="0"/>
              <a:t>Valeur que recevra le détenteur du titre est </a:t>
            </a:r>
            <a:r>
              <a:rPr lang="fr-CA" u="sng" dirty="0"/>
              <a:t>déterminée ou déterminable</a:t>
            </a:r>
            <a:endParaRPr lang="fr-CA" dirty="0"/>
          </a:p>
          <a:p>
            <a:pPr marL="177800" lvl="1" indent="-177800"/>
            <a:r>
              <a:rPr lang="fr-CA" dirty="0"/>
              <a:t>Valeur que recevra le détenteur n’est </a:t>
            </a:r>
            <a:r>
              <a:rPr lang="fr-CA" u="sng" dirty="0"/>
              <a:t>pas</a:t>
            </a:r>
            <a:r>
              <a:rPr lang="fr-CA" dirty="0"/>
              <a:t> reliée à la valeur de l’entité ou de ses ICP.</a:t>
            </a:r>
          </a:p>
          <a:p>
            <a:pPr marL="177800" lvl="1" indent="-177800"/>
            <a:r>
              <a:rPr lang="fr-CA" dirty="0"/>
              <a:t>Échéance </a:t>
            </a:r>
            <a:r>
              <a:rPr lang="fr-CA" u="sng" dirty="0"/>
              <a:t>déterminée ou déterminable</a:t>
            </a:r>
            <a:endParaRPr lang="fr-CA" dirty="0"/>
          </a:p>
          <a:p>
            <a:pPr marL="177800" indent="-177800"/>
            <a:r>
              <a:rPr lang="fr-CA" sz="2400" b="1" dirty="0"/>
              <a:t>Conclusion : risque est similaire à celui supporté par un créancier</a:t>
            </a:r>
            <a:endParaRPr lang="fr-CA" sz="2400" dirty="0"/>
          </a:p>
          <a:p>
            <a:pPr marL="177800" indent="-177800"/>
            <a:r>
              <a:rPr lang="fr-CA" sz="2400" i="1" dirty="0"/>
              <a:t>** Obligation de rembourser peut être </a:t>
            </a:r>
            <a:r>
              <a:rPr lang="fr-CA" sz="2400" i="1" u="sng" dirty="0"/>
              <a:t>explicite</a:t>
            </a:r>
            <a:r>
              <a:rPr lang="fr-CA" sz="2400" i="1" dirty="0"/>
              <a:t> ou </a:t>
            </a:r>
            <a:r>
              <a:rPr lang="fr-CA" sz="2400" i="1" u="sng" dirty="0"/>
              <a:t>implicite</a:t>
            </a:r>
            <a:r>
              <a:rPr lang="fr-CA" sz="2400" i="1" dirty="0"/>
              <a:t> (à cause des conditions prévues au contrat)</a:t>
            </a:r>
          </a:p>
          <a:p>
            <a:pPr marL="177800" indent="-177800"/>
            <a:r>
              <a:rPr lang="fr-CA" sz="2400" b="1" dirty="0"/>
              <a:t>Si remboursement en nombre variable d’AO : </a:t>
            </a:r>
            <a:r>
              <a:rPr lang="fr-CA" sz="2400" dirty="0"/>
              <a:t>La </a:t>
            </a:r>
            <a:r>
              <a:rPr lang="fr-CA" sz="2400" b="1" i="1" u="sng" dirty="0"/>
              <a:t>valeur</a:t>
            </a:r>
            <a:r>
              <a:rPr lang="fr-CA" sz="2400" dirty="0"/>
              <a:t> que recevra le porteur (détenteur)  de l’instrument est déterminée en fonction de l’obligation contractuelle (il ne supporte pas un risque de variation de la valeur qu’il recevra : nombre d’ICP varie en fonction de la valeur).</a:t>
            </a:r>
            <a:endParaRPr lang="fr-CA" sz="2400" i="1" dirty="0"/>
          </a:p>
          <a:p>
            <a:pPr marL="0" indent="0">
              <a:buNone/>
            </a:pPr>
            <a:endParaRPr lang="fr-CA" sz="1050" dirty="0"/>
          </a:p>
          <a:p>
            <a:pPr marL="0" indent="0">
              <a:buNone/>
            </a:pPr>
            <a:endParaRPr lang="fr-CA" sz="1600" dirty="0"/>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21</a:t>
            </a:fld>
            <a:endParaRPr lang="fr-FR"/>
          </a:p>
        </p:txBody>
      </p:sp>
      <p:sp>
        <p:nvSpPr>
          <p:cNvPr id="5" name="Espace réservé du pied de page 4">
            <a:extLst>
              <a:ext uri="{FF2B5EF4-FFF2-40B4-BE49-F238E27FC236}">
                <a16:creationId xmlns:a16="http://schemas.microsoft.com/office/drawing/2014/main" id="{D94C241D-99C7-4E72-A93B-03ED54B7CAED}"/>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41450848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610498" y="95004"/>
            <a:ext cx="9057503" cy="344384"/>
          </a:xfrm>
        </p:spPr>
        <p:txBody>
          <a:bodyPr>
            <a:normAutofit fontScale="90000"/>
          </a:bodyPr>
          <a:lstStyle/>
          <a:p>
            <a:r>
              <a:rPr lang="fr-FR" dirty="0"/>
              <a:t>Classement passif / capitaux propres</a:t>
            </a:r>
          </a:p>
        </p:txBody>
      </p:sp>
      <p:sp>
        <p:nvSpPr>
          <p:cNvPr id="3" name="Espace réservé du contenu 2"/>
          <p:cNvSpPr>
            <a:spLocks noGrp="1"/>
          </p:cNvSpPr>
          <p:nvPr>
            <p:ph idx="1"/>
          </p:nvPr>
        </p:nvSpPr>
        <p:spPr>
          <a:xfrm>
            <a:off x="486137" y="1026160"/>
            <a:ext cx="11111696" cy="5695316"/>
          </a:xfrm>
        </p:spPr>
        <p:txBody>
          <a:bodyPr>
            <a:noAutofit/>
          </a:bodyPr>
          <a:lstStyle/>
          <a:p>
            <a:pPr marL="0" indent="0">
              <a:buNone/>
            </a:pPr>
            <a:r>
              <a:rPr lang="fr-CA" sz="2400" b="1" dirty="0"/>
              <a:t>La caractéristique fondamentale d’un IF s’apprécie en fonction des définitions :</a:t>
            </a:r>
            <a:endParaRPr lang="fr-CA" sz="2400" b="1" i="1" dirty="0"/>
          </a:p>
          <a:p>
            <a:pPr marL="0" indent="0">
              <a:buNone/>
            </a:pPr>
            <a:endParaRPr lang="fr-CA" sz="1050" dirty="0"/>
          </a:p>
          <a:p>
            <a:pPr marL="0" indent="0">
              <a:buNone/>
            </a:pPr>
            <a:r>
              <a:rPr lang="fr-CA" sz="2400" b="1" dirty="0"/>
              <a:t>ICP = relation AO/entité</a:t>
            </a:r>
            <a:endParaRPr lang="fr-CA" sz="2400" dirty="0"/>
          </a:p>
          <a:p>
            <a:pPr marL="177800" lvl="1" indent="-177800"/>
            <a:r>
              <a:rPr lang="fr-CA" b="1" dirty="0"/>
              <a:t>Pas</a:t>
            </a:r>
            <a:r>
              <a:rPr lang="fr-CA" dirty="0"/>
              <a:t> d’obligation de verser de la trésorerie, etc.</a:t>
            </a:r>
          </a:p>
          <a:p>
            <a:pPr marL="177800" lvl="1" indent="-177800"/>
            <a:r>
              <a:rPr lang="fr-CA" dirty="0"/>
              <a:t>Valeur que recevra le détenteur du titre est reliée à la valeur de l’entité ou de ses ICP </a:t>
            </a:r>
          </a:p>
          <a:p>
            <a:pPr marL="177800" indent="-177800"/>
            <a:r>
              <a:rPr lang="fr-CA" sz="2400" i="1" dirty="0"/>
              <a:t> (droit résiduel sur l’actif net de l’entité)</a:t>
            </a:r>
            <a:endParaRPr lang="fr-CA" sz="2400" dirty="0"/>
          </a:p>
          <a:p>
            <a:pPr marL="177800" indent="-177800"/>
            <a:r>
              <a:rPr lang="fr-CA" sz="2400" dirty="0"/>
              <a:t>Habituellement pas d’échéance</a:t>
            </a:r>
          </a:p>
          <a:p>
            <a:pPr marL="177800" indent="-177800"/>
            <a:r>
              <a:rPr lang="fr-CA" sz="2400" b="1" dirty="0"/>
              <a:t>Conclusion : risque est similaire à celui supporté par un AO</a:t>
            </a:r>
            <a:endParaRPr lang="fr-CA" sz="2400" dirty="0"/>
          </a:p>
          <a:p>
            <a:pPr marL="177800" indent="-177800"/>
            <a:r>
              <a:rPr lang="fr-CA" sz="2400" i="1" dirty="0"/>
              <a:t>** Pas d’échéance = capital permanent, Valeur à l’échéance FLUCTUE en fonction des ICP de l’entité = risque supporté par le porteur</a:t>
            </a:r>
            <a:endParaRPr lang="fr-CA" sz="2400" dirty="0"/>
          </a:p>
          <a:p>
            <a:pPr marL="177800" indent="-177800"/>
            <a:r>
              <a:rPr lang="fr-CA" sz="2400" b="1" dirty="0"/>
              <a:t>Si Intérêt résiduel = la valeur n’est </a:t>
            </a:r>
            <a:r>
              <a:rPr lang="fr-CA" sz="2400" b="1" u="sng" dirty="0"/>
              <a:t>jamais</a:t>
            </a:r>
            <a:r>
              <a:rPr lang="fr-CA" sz="2400" b="1" dirty="0"/>
              <a:t> déterminée ou déterminable</a:t>
            </a:r>
            <a:endParaRPr lang="fr-CA" sz="1600" dirty="0"/>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22</a:t>
            </a:fld>
            <a:endParaRPr lang="fr-FR"/>
          </a:p>
        </p:txBody>
      </p:sp>
      <p:sp>
        <p:nvSpPr>
          <p:cNvPr id="5" name="Espace réservé du pied de page 4">
            <a:extLst>
              <a:ext uri="{FF2B5EF4-FFF2-40B4-BE49-F238E27FC236}">
                <a16:creationId xmlns:a16="http://schemas.microsoft.com/office/drawing/2014/main" id="{D94C241D-99C7-4E72-A93B-03ED54B7CAED}"/>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2988348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Espace réservé du contenu 4"/>
          <p:cNvGraphicFramePr>
            <a:graphicFrameLocks noGrp="1"/>
          </p:cNvGraphicFramePr>
          <p:nvPr>
            <p:ph idx="1"/>
            <p:extLst>
              <p:ext uri="{D42A27DB-BD31-4B8C-83A1-F6EECF244321}">
                <p14:modId xmlns:p14="http://schemas.microsoft.com/office/powerpoint/2010/main" val="1555872873"/>
              </p:ext>
            </p:extLst>
          </p:nvPr>
        </p:nvGraphicFramePr>
        <p:xfrm>
          <a:off x="883920" y="1789589"/>
          <a:ext cx="10393680" cy="4328160"/>
        </p:xfrm>
        <a:graphic>
          <a:graphicData uri="http://schemas.openxmlformats.org/drawingml/2006/table">
            <a:tbl>
              <a:tblPr firstRow="1" bandRow="1">
                <a:tableStyleId>{5C22544A-7EE6-4342-B048-85BDC9FD1C3A}</a:tableStyleId>
              </a:tblPr>
              <a:tblGrid>
                <a:gridCol w="5196840">
                  <a:extLst>
                    <a:ext uri="{9D8B030D-6E8A-4147-A177-3AD203B41FA5}">
                      <a16:colId xmlns:a16="http://schemas.microsoft.com/office/drawing/2014/main" val="20000"/>
                    </a:ext>
                  </a:extLst>
                </a:gridCol>
                <a:gridCol w="5196840">
                  <a:extLst>
                    <a:ext uri="{9D8B030D-6E8A-4147-A177-3AD203B41FA5}">
                      <a16:colId xmlns:a16="http://schemas.microsoft.com/office/drawing/2014/main" val="20001"/>
                    </a:ext>
                  </a:extLst>
                </a:gridCol>
              </a:tblGrid>
              <a:tr h="370840">
                <a:tc>
                  <a:txBody>
                    <a:bodyPr/>
                    <a:lstStyle/>
                    <a:p>
                      <a:pPr algn="ctr"/>
                      <a:r>
                        <a:rPr lang="fr-CA" sz="2000" dirty="0"/>
                        <a:t>Passif financier</a:t>
                      </a:r>
                    </a:p>
                  </a:txBody>
                  <a:tcPr/>
                </a:tc>
                <a:tc>
                  <a:txBody>
                    <a:bodyPr/>
                    <a:lstStyle/>
                    <a:p>
                      <a:pPr algn="ctr"/>
                      <a:r>
                        <a:rPr lang="fr-CA" sz="2000" dirty="0"/>
                        <a:t>Instrument de capitaux propres</a:t>
                      </a:r>
                    </a:p>
                  </a:txBody>
                  <a:tcPr/>
                </a:tc>
                <a:extLst>
                  <a:ext uri="{0D108BD9-81ED-4DB2-BD59-A6C34878D82A}">
                    <a16:rowId xmlns:a16="http://schemas.microsoft.com/office/drawing/2014/main" val="10000"/>
                  </a:ext>
                </a:extLst>
              </a:tr>
              <a:tr h="370840">
                <a:tc>
                  <a:txBody>
                    <a:bodyPr/>
                    <a:lstStyle/>
                    <a:p>
                      <a:r>
                        <a:rPr lang="fr-CA" sz="2000" dirty="0"/>
                        <a:t>Une entité reçoit 10 000 $</a:t>
                      </a:r>
                      <a:r>
                        <a:rPr lang="fr-CA" sz="2000" baseline="0" dirty="0"/>
                        <a:t> et promet de remettre 3 ans plus tard la somme de 10 000 $ ou des actions ayant une valeur de 10 000 $</a:t>
                      </a:r>
                      <a:endParaRPr lang="fr-CA" sz="20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CA" sz="2000" dirty="0"/>
                        <a:t>Une entité reçoit 10 000 $</a:t>
                      </a:r>
                      <a:r>
                        <a:rPr lang="fr-CA" sz="2000" baseline="0" dirty="0"/>
                        <a:t> et promet de remettre 3 ans plus tard 1000 actions (nombre déterminé d’actions</a:t>
                      </a:r>
                    </a:p>
                    <a:p>
                      <a:pPr marL="0" marR="0" lvl="0" indent="0" algn="l" defTabSz="457200" rtl="0" eaLnBrk="1" fontAlgn="auto" latinLnBrk="0" hangingPunct="1">
                        <a:lnSpc>
                          <a:spcPct val="100000"/>
                        </a:lnSpc>
                        <a:spcBef>
                          <a:spcPts val="0"/>
                        </a:spcBef>
                        <a:spcAft>
                          <a:spcPts val="0"/>
                        </a:spcAft>
                        <a:buClrTx/>
                        <a:buSzTx/>
                        <a:buFontTx/>
                        <a:buNone/>
                        <a:tabLst/>
                        <a:defRPr/>
                      </a:pPr>
                      <a:r>
                        <a:rPr lang="fr-CA" sz="2000" baseline="0" dirty="0"/>
                        <a:t>(= souscription)</a:t>
                      </a:r>
                      <a:endParaRPr lang="fr-CA" sz="2000" dirty="0"/>
                    </a:p>
                    <a:p>
                      <a:endParaRPr lang="fr-CA" sz="2000" dirty="0"/>
                    </a:p>
                  </a:txBody>
                  <a:tcPr/>
                </a:tc>
                <a:extLst>
                  <a:ext uri="{0D108BD9-81ED-4DB2-BD59-A6C34878D82A}">
                    <a16:rowId xmlns:a16="http://schemas.microsoft.com/office/drawing/2014/main" val="10001"/>
                  </a:ext>
                </a:extLst>
              </a:tr>
              <a:tr h="594360">
                <a:tc>
                  <a:txBody>
                    <a:bodyPr/>
                    <a:lstStyle/>
                    <a:p>
                      <a:r>
                        <a:rPr lang="fr-CA" sz="2000" dirty="0"/>
                        <a:t>Actions privilégiées émises</a:t>
                      </a:r>
                      <a:r>
                        <a:rPr lang="fr-CA" sz="2000" baseline="0" dirty="0"/>
                        <a:t> pour 10 000 $, rachetables à une date déterminée à un prix déterminé et assorties de dividendes obligatoires versés à des dates prévues</a:t>
                      </a:r>
                      <a:endParaRPr lang="fr-CA" sz="2000" dirty="0"/>
                    </a:p>
                  </a:txBody>
                  <a:tcPr/>
                </a:tc>
                <a:tc>
                  <a:txBody>
                    <a:bodyPr/>
                    <a:lstStyle/>
                    <a:p>
                      <a:r>
                        <a:rPr lang="fr-CA" sz="2000" dirty="0"/>
                        <a:t>Actions privilégiées émises</a:t>
                      </a:r>
                      <a:r>
                        <a:rPr lang="fr-CA" sz="2000" baseline="0" dirty="0"/>
                        <a:t> pour 10 000 $, sans date de remboursement déterminée, rachetables au gré de l’émetteur, non assorties de dividendes à payer</a:t>
                      </a:r>
                      <a:endParaRPr lang="fr-CA" sz="2000" dirty="0"/>
                    </a:p>
                  </a:txBody>
                  <a:tcPr/>
                </a:tc>
                <a:extLst>
                  <a:ext uri="{0D108BD9-81ED-4DB2-BD59-A6C34878D82A}">
                    <a16:rowId xmlns:a16="http://schemas.microsoft.com/office/drawing/2014/main" val="10002"/>
                  </a:ext>
                </a:extLst>
              </a:tr>
              <a:tr h="594360">
                <a:tc gridSpan="2">
                  <a:txBody>
                    <a:bodyPr/>
                    <a:lstStyle/>
                    <a:p>
                      <a:r>
                        <a:rPr lang="fr-CA" sz="2000" dirty="0"/>
                        <a:t>Actions remboursables</a:t>
                      </a:r>
                      <a:r>
                        <a:rPr lang="fr-CA" sz="2000" baseline="0" dirty="0"/>
                        <a:t> si la valeur nette aux livres est inférieure à xx $?</a:t>
                      </a:r>
                    </a:p>
                    <a:p>
                      <a:r>
                        <a:rPr lang="fr-CA" sz="2000" baseline="0" dirty="0"/>
                        <a:t>Classer comme capitaux propres à moins que la probabilité que la valeur aux livres serait inférieure à xx $ soit « matérielle »</a:t>
                      </a:r>
                      <a:endParaRPr lang="fr-CA" sz="2000" dirty="0"/>
                    </a:p>
                  </a:txBody>
                  <a:tcPr/>
                </a:tc>
                <a:tc hMerge="1">
                  <a:txBody>
                    <a:bodyPr/>
                    <a:lstStyle/>
                    <a:p>
                      <a:endParaRPr lang="fr-CA" dirty="0"/>
                    </a:p>
                  </a:txBody>
                  <a:tcPr/>
                </a:tc>
                <a:extLst>
                  <a:ext uri="{0D108BD9-81ED-4DB2-BD59-A6C34878D82A}">
                    <a16:rowId xmlns:a16="http://schemas.microsoft.com/office/drawing/2014/main" val="10003"/>
                  </a:ext>
                </a:extLst>
              </a:tr>
            </a:tbl>
          </a:graphicData>
        </a:graphic>
      </p:graphicFrame>
      <p:sp>
        <p:nvSpPr>
          <p:cNvPr id="4" name="Espace réservé du numéro de diapositive 3"/>
          <p:cNvSpPr>
            <a:spLocks noGrp="1"/>
          </p:cNvSpPr>
          <p:nvPr>
            <p:ph type="sldNum" sz="quarter" idx="12"/>
          </p:nvPr>
        </p:nvSpPr>
        <p:spPr/>
        <p:txBody>
          <a:bodyPr/>
          <a:lstStyle/>
          <a:p>
            <a:fld id="{93CCD850-57C1-B143-82E0-6B89E4215FB0}" type="slidenum">
              <a:rPr lang="fr-FR" smtClean="0"/>
              <a:t>23</a:t>
            </a:fld>
            <a:endParaRPr lang="fr-FR"/>
          </a:p>
        </p:txBody>
      </p:sp>
      <p:sp>
        <p:nvSpPr>
          <p:cNvPr id="7" name="Titre 1">
            <a:extLst>
              <a:ext uri="{FF2B5EF4-FFF2-40B4-BE49-F238E27FC236}">
                <a16:creationId xmlns:a16="http://schemas.microsoft.com/office/drawing/2014/main" id="{1A961ADD-D8BA-4AAC-9C2E-8C829FC61933}"/>
              </a:ext>
            </a:extLst>
          </p:cNvPr>
          <p:cNvSpPr>
            <a:spLocks noGrp="1"/>
          </p:cNvSpPr>
          <p:nvPr>
            <p:ph type="title"/>
          </p:nvPr>
        </p:nvSpPr>
        <p:spPr>
          <a:xfrm>
            <a:off x="883920" y="274638"/>
            <a:ext cx="10469880" cy="1143000"/>
          </a:xfrm>
        </p:spPr>
        <p:txBody>
          <a:bodyPr>
            <a:normAutofit/>
          </a:bodyPr>
          <a:lstStyle/>
          <a:p>
            <a:r>
              <a:rPr lang="fr-FR" dirty="0"/>
              <a:t>Classement passif / capitaux propres</a:t>
            </a:r>
          </a:p>
        </p:txBody>
      </p:sp>
      <p:sp>
        <p:nvSpPr>
          <p:cNvPr id="2" name="Espace réservé du pied de page 1">
            <a:extLst>
              <a:ext uri="{FF2B5EF4-FFF2-40B4-BE49-F238E27FC236}">
                <a16:creationId xmlns:a16="http://schemas.microsoft.com/office/drawing/2014/main" id="{E38C3C7E-28FA-481A-A063-D18097E92B82}"/>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32570169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r>
              <a:rPr lang="fr-FR" sz="3600" dirty="0"/>
              <a:t>Classement : passifs ou capitaux propres</a:t>
            </a:r>
            <a:br>
              <a:rPr lang="fr-FR" sz="3600" dirty="0"/>
            </a:br>
            <a:r>
              <a:rPr lang="fr-FR" sz="3200" dirty="0"/>
              <a:t>effet sur classement des intérêts, dividendes, pertes / gains</a:t>
            </a:r>
            <a:r>
              <a:rPr lang="fr-FR" sz="3600" dirty="0"/>
              <a:t> </a:t>
            </a:r>
          </a:p>
        </p:txBody>
      </p:sp>
      <p:sp>
        <p:nvSpPr>
          <p:cNvPr id="3" name="Espace réservé du contenu 2"/>
          <p:cNvSpPr>
            <a:spLocks noGrp="1"/>
          </p:cNvSpPr>
          <p:nvPr>
            <p:ph idx="1"/>
          </p:nvPr>
        </p:nvSpPr>
        <p:spPr>
          <a:xfrm>
            <a:off x="838200" y="1767840"/>
            <a:ext cx="10261922" cy="4413041"/>
          </a:xfrm>
        </p:spPr>
        <p:txBody>
          <a:bodyPr>
            <a:normAutofit/>
          </a:bodyPr>
          <a:lstStyle/>
          <a:p>
            <a:pPr marL="0" indent="0">
              <a:buNone/>
            </a:pPr>
            <a:r>
              <a:rPr lang="fr-FR" dirty="0"/>
              <a:t>Le </a:t>
            </a:r>
            <a:r>
              <a:rPr lang="fr-CA" dirty="0"/>
              <a:t>classement d’un instrument financier au bilan détermine si les intérêts, dividendes, pertes et gains qui s’y rattachent sont classés en charges ou en produits et présentés dans l’état des résultats. </a:t>
            </a:r>
          </a:p>
          <a:p>
            <a:pPr lvl="1"/>
            <a:r>
              <a:rPr lang="fr-CA" dirty="0"/>
              <a:t>les dividendes versés sur des actions classées comme passifs sont classés en charges de la même façon que les intérêts sur une obligation, et sont présentés dans l’état des résultats. </a:t>
            </a:r>
          </a:p>
          <a:p>
            <a:pPr lvl="1"/>
            <a:r>
              <a:rPr lang="fr-CA" dirty="0"/>
              <a:t>les gains et les pertes associés au rachat ou au refinancement d’instruments classés comme passifs sont présentés en résultat net, alors que le rachat ou le refinancement d’instruments classés comme capitaux propres sont présentés comme des variations des capitaux propres. Les dividendes passés en charges peuvent être groupés dans l’état des résultats avec les intérêts sur d’autres passifs, ou encore faire l’objet d’un poste distinct. </a:t>
            </a:r>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24</a:t>
            </a:fld>
            <a:endParaRPr lang="fr-FR"/>
          </a:p>
        </p:txBody>
      </p:sp>
      <p:sp>
        <p:nvSpPr>
          <p:cNvPr id="5" name="Espace réservé du pied de page 4">
            <a:extLst>
              <a:ext uri="{FF2B5EF4-FFF2-40B4-BE49-F238E27FC236}">
                <a16:creationId xmlns:a16="http://schemas.microsoft.com/office/drawing/2014/main" id="{113E3E3C-2020-4DEF-A2CD-94FB9BB299F4}"/>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18056223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normAutofit/>
          </a:bodyPr>
          <a:lstStyle/>
          <a:p>
            <a:pPr marL="0" indent="0">
              <a:buNone/>
            </a:pPr>
            <a:r>
              <a:rPr lang="fr-FR" b="1" dirty="0"/>
              <a:t>Instrument composé (hybride)- IFRS</a:t>
            </a:r>
          </a:p>
          <a:p>
            <a:r>
              <a:rPr lang="fr-CA" sz="2600" dirty="0"/>
              <a:t>Si contient à la fois une composante de passif et une composante de capitaux propres : ces composantes doivent être classées séparément </a:t>
            </a:r>
            <a:r>
              <a:rPr lang="fr-CA" sz="1600" dirty="0"/>
              <a:t>(IAS 32.28)</a:t>
            </a:r>
          </a:p>
          <a:p>
            <a:pPr marL="0" indent="0">
              <a:buNone/>
            </a:pPr>
            <a:endParaRPr lang="fr-FR" sz="1600" dirty="0"/>
          </a:p>
          <a:p>
            <a:r>
              <a:rPr lang="fr-FR" sz="2400" dirty="0"/>
              <a:t>Ex: Débenture convertible</a:t>
            </a:r>
          </a:p>
          <a:p>
            <a:pPr lvl="1"/>
            <a:r>
              <a:rPr lang="fr-FR" dirty="0"/>
              <a:t>Dette + option de conversion</a:t>
            </a:r>
          </a:p>
          <a:p>
            <a:pPr lvl="1"/>
            <a:endParaRPr lang="fr-FR" dirty="0"/>
          </a:p>
          <a:p>
            <a:pPr marL="457200" lvl="1" indent="0">
              <a:buNone/>
            </a:pPr>
            <a:r>
              <a:rPr lang="fr-CA" sz="2000" i="1" dirty="0"/>
              <a:t>Une </a:t>
            </a:r>
            <a:r>
              <a:rPr lang="fr-CA" sz="2000" b="1" i="1" dirty="0"/>
              <a:t>débenture</a:t>
            </a:r>
            <a:r>
              <a:rPr lang="fr-CA" sz="2000" i="1" dirty="0"/>
              <a:t> est un instrument financier qui a les mêmes caractéristiques qu'une obligation, toutefois la </a:t>
            </a:r>
            <a:r>
              <a:rPr lang="fr-CA" sz="2000" b="1" i="1" dirty="0"/>
              <a:t>débenture</a:t>
            </a:r>
            <a:r>
              <a:rPr lang="fr-CA" sz="2000" i="1" dirty="0"/>
              <a:t> n'offre aucun bien en garantie. Par conséquent, elle offre moins de couverture pour l'acheteur du titre en cas de défaut de paiement.</a:t>
            </a:r>
            <a:endParaRPr lang="fr-FR" i="1" dirty="0"/>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25</a:t>
            </a:fld>
            <a:endParaRPr lang="fr-FR"/>
          </a:p>
        </p:txBody>
      </p:sp>
      <p:sp>
        <p:nvSpPr>
          <p:cNvPr id="9" name="Titre 1">
            <a:extLst>
              <a:ext uri="{FF2B5EF4-FFF2-40B4-BE49-F238E27FC236}">
                <a16:creationId xmlns:a16="http://schemas.microsoft.com/office/drawing/2014/main" id="{D0CBDF15-59E1-4B59-AD8C-270800B891E7}"/>
              </a:ext>
            </a:extLst>
          </p:cNvPr>
          <p:cNvSpPr>
            <a:spLocks noGrp="1"/>
          </p:cNvSpPr>
          <p:nvPr>
            <p:ph type="title"/>
          </p:nvPr>
        </p:nvSpPr>
        <p:spPr>
          <a:xfrm>
            <a:off x="1610498" y="274638"/>
            <a:ext cx="9057503" cy="1143000"/>
          </a:xfrm>
        </p:spPr>
        <p:txBody>
          <a:bodyPr>
            <a:normAutofit/>
          </a:bodyPr>
          <a:lstStyle/>
          <a:p>
            <a:r>
              <a:rPr lang="fr-FR" dirty="0"/>
              <a:t>Classement passif / capitaux propres</a:t>
            </a:r>
          </a:p>
        </p:txBody>
      </p:sp>
      <p:sp>
        <p:nvSpPr>
          <p:cNvPr id="2" name="Espace réservé du pied de page 1">
            <a:extLst>
              <a:ext uri="{FF2B5EF4-FFF2-40B4-BE49-F238E27FC236}">
                <a16:creationId xmlns:a16="http://schemas.microsoft.com/office/drawing/2014/main" id="{135AC5C2-B820-44EB-BA59-91870E4D7A86}"/>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14154921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normAutofit fontScale="92500" lnSpcReduction="10000"/>
          </a:bodyPr>
          <a:lstStyle/>
          <a:p>
            <a:pPr marL="0" indent="0">
              <a:buNone/>
            </a:pPr>
            <a:r>
              <a:rPr lang="fr-FR" b="1" dirty="0"/>
              <a:t>Instrument composé (hybride)</a:t>
            </a:r>
          </a:p>
          <a:p>
            <a:r>
              <a:rPr lang="fr-FR" dirty="0"/>
              <a:t>Pour séparer la valeur des deux composantes</a:t>
            </a:r>
          </a:p>
          <a:p>
            <a:pPr lvl="2"/>
            <a:r>
              <a:rPr lang="fr-FR" dirty="0"/>
              <a:t>IFRS (IAS 32.31) : </a:t>
            </a:r>
          </a:p>
          <a:p>
            <a:pPr lvl="3"/>
            <a:r>
              <a:rPr lang="fr-FR" sz="2400" dirty="0"/>
              <a:t>Méthode résiduelle : déterminer la JV de la composante passif, le résidu étant attribué à la composante capitaux propres.</a:t>
            </a:r>
            <a:endParaRPr lang="fr-CA" sz="2400" dirty="0"/>
          </a:p>
          <a:p>
            <a:pPr lvl="2"/>
            <a:r>
              <a:rPr lang="fr-FR" dirty="0"/>
              <a:t>NCECF (3856.22) :</a:t>
            </a:r>
          </a:p>
          <a:p>
            <a:pPr lvl="3"/>
            <a:r>
              <a:rPr lang="fr-CA" sz="2400" dirty="0"/>
              <a:t>Méthode marginale : mesure la composante la plus facile à évaluer et on attribue la valeur à l’autre composante par différence </a:t>
            </a:r>
            <a:r>
              <a:rPr lang="fr-CA" sz="2400" i="1" dirty="0"/>
              <a:t>(= méthode résiduelle)</a:t>
            </a:r>
          </a:p>
          <a:p>
            <a:pPr lvl="3"/>
            <a:r>
              <a:rPr lang="fr-FR" sz="2400" dirty="0">
                <a:solidFill>
                  <a:srgbClr val="FF0000"/>
                </a:solidFill>
              </a:rPr>
              <a:t>Choix</a:t>
            </a:r>
            <a:r>
              <a:rPr lang="fr-FR" sz="2400" dirty="0"/>
              <a:t> : </a:t>
            </a:r>
            <a:r>
              <a:rPr lang="fr-FR" sz="2400" dirty="0">
                <a:solidFill>
                  <a:srgbClr val="FF0000"/>
                </a:solidFill>
              </a:rPr>
              <a:t>Totalité du montant au passif (valeur 0 $ pour capitaux propres) </a:t>
            </a:r>
            <a:r>
              <a:rPr lang="fr-CA" sz="2400" i="1" dirty="0"/>
              <a:t>choix allégé</a:t>
            </a:r>
          </a:p>
          <a:p>
            <a:pPr marL="0" lvl="3" indent="0">
              <a:buNone/>
            </a:pPr>
            <a:endParaRPr lang="fr-CA" sz="2400" i="1" dirty="0">
              <a:solidFill>
                <a:srgbClr val="FF0000"/>
              </a:solidFill>
            </a:endParaRPr>
          </a:p>
          <a:p>
            <a:pPr marL="266700" lvl="3" indent="-266700"/>
            <a:r>
              <a:rPr lang="fr-FR" sz="2400" dirty="0"/>
              <a:t>Les frais d'émission</a:t>
            </a:r>
            <a:r>
              <a:rPr lang="fr-CA" sz="2400" dirty="0"/>
              <a:t> sont également séparés en fonction du pourcentage de la valeur attribuée à chacune des deux composantes – passif et capitaux propres</a:t>
            </a:r>
            <a:endParaRPr lang="fr-FR" sz="2400" i="1" dirty="0">
              <a:solidFill>
                <a:srgbClr val="FF0000"/>
              </a:solidFill>
            </a:endParaRPr>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26</a:t>
            </a:fld>
            <a:endParaRPr lang="fr-FR"/>
          </a:p>
        </p:txBody>
      </p:sp>
      <p:sp>
        <p:nvSpPr>
          <p:cNvPr id="8" name="Titre 1">
            <a:extLst>
              <a:ext uri="{FF2B5EF4-FFF2-40B4-BE49-F238E27FC236}">
                <a16:creationId xmlns:a16="http://schemas.microsoft.com/office/drawing/2014/main" id="{B3A10D40-06E7-4598-9381-A0D9CF506191}"/>
              </a:ext>
            </a:extLst>
          </p:cNvPr>
          <p:cNvSpPr>
            <a:spLocks noGrp="1"/>
          </p:cNvSpPr>
          <p:nvPr>
            <p:ph type="title"/>
          </p:nvPr>
        </p:nvSpPr>
        <p:spPr>
          <a:xfrm>
            <a:off x="1610498" y="274638"/>
            <a:ext cx="9057503" cy="1143000"/>
          </a:xfrm>
        </p:spPr>
        <p:txBody>
          <a:bodyPr>
            <a:normAutofit/>
          </a:bodyPr>
          <a:lstStyle/>
          <a:p>
            <a:r>
              <a:rPr lang="fr-FR" dirty="0"/>
              <a:t>Classement passif / capitaux propres</a:t>
            </a:r>
          </a:p>
        </p:txBody>
      </p:sp>
      <p:sp>
        <p:nvSpPr>
          <p:cNvPr id="2" name="Espace réservé du pied de page 1">
            <a:extLst>
              <a:ext uri="{FF2B5EF4-FFF2-40B4-BE49-F238E27FC236}">
                <a16:creationId xmlns:a16="http://schemas.microsoft.com/office/drawing/2014/main" id="{D000248A-052D-483E-B3BB-901F0EF23D47}"/>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463765689"/>
      </p:ext>
    </p:extLst>
  </p:cSld>
  <p:clrMapOvr>
    <a:masterClrMapping/>
  </p:clrMapOvr>
  <p:extLst>
    <p:ext uri="{6950BFC3-D8DA-4A85-94F7-54DA5524770B}">
      <p188:commentRel xmlns:p188="http://schemas.microsoft.com/office/powerpoint/2018/8/main" r:id="rId2"/>
    </p:ext>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72360" y="274638"/>
            <a:ext cx="10481440" cy="1143000"/>
          </a:xfrm>
        </p:spPr>
        <p:txBody>
          <a:bodyPr>
            <a:normAutofit/>
          </a:bodyPr>
          <a:lstStyle/>
          <a:p>
            <a:r>
              <a:rPr lang="fr-FR" dirty="0"/>
              <a:t>Classement passif / capitaux propres - NCECF</a:t>
            </a:r>
          </a:p>
        </p:txBody>
      </p:sp>
      <p:sp>
        <p:nvSpPr>
          <p:cNvPr id="3" name="Espace réservé du contenu 2"/>
          <p:cNvSpPr>
            <a:spLocks noGrp="1"/>
          </p:cNvSpPr>
          <p:nvPr>
            <p:ph idx="1"/>
          </p:nvPr>
        </p:nvSpPr>
        <p:spPr>
          <a:xfrm>
            <a:off x="872360" y="1313793"/>
            <a:ext cx="10481440" cy="5042557"/>
          </a:xfrm>
        </p:spPr>
        <p:txBody>
          <a:bodyPr>
            <a:normAutofit fontScale="70000" lnSpcReduction="20000"/>
          </a:bodyPr>
          <a:lstStyle/>
          <a:p>
            <a:pPr marL="0" indent="0">
              <a:buNone/>
            </a:pPr>
            <a:r>
              <a:rPr lang="fr-CA" dirty="0"/>
              <a:t>.21     </a:t>
            </a:r>
            <a:r>
              <a:rPr lang="fr-CA" i="1" dirty="0"/>
              <a:t>L'émetteur d'un instrument financier qui contient à la fois une composante passif et une composante capitaux propres, y compris un bon de souscription ou une option émis avec un passif financier mais détachable de celui-ci, doit classer séparément les composantes de l'instrument selon le paragraphe </a:t>
            </a:r>
            <a:r>
              <a:rPr lang="fr-CA" dirty="0">
                <a:hlinkClick r:id="rId3"/>
              </a:rPr>
              <a:t>3856.20</a:t>
            </a:r>
            <a:r>
              <a:rPr lang="fr-CA" i="1" dirty="0"/>
              <a:t>. </a:t>
            </a:r>
            <a:r>
              <a:rPr lang="fr-CA" dirty="0"/>
              <a:t>(Les paragraphes </a:t>
            </a:r>
            <a:r>
              <a:rPr lang="fr-CA" dirty="0">
                <a:hlinkClick r:id="rId3"/>
              </a:rPr>
              <a:t>3856.A30</a:t>
            </a:r>
            <a:r>
              <a:rPr lang="fr-CA" dirty="0"/>
              <a:t> à .A38 fournissent des précisions d'application sur le sujet.)</a:t>
            </a:r>
          </a:p>
          <a:p>
            <a:pPr marL="0" indent="0">
              <a:buNone/>
            </a:pPr>
            <a:endParaRPr lang="fr-CA" dirty="0"/>
          </a:p>
          <a:p>
            <a:pPr marL="0" indent="0">
              <a:buNone/>
            </a:pPr>
            <a:r>
              <a:rPr lang="fr-CA" b="1" dirty="0"/>
              <a:t>Opérations conclues dans des conditions de pleine concurrence</a:t>
            </a:r>
          </a:p>
          <a:p>
            <a:pPr marL="0" indent="0">
              <a:buNone/>
            </a:pPr>
            <a:r>
              <a:rPr lang="fr-CA" dirty="0"/>
              <a:t>.22     Les deux méthodes suivantes sont acceptables aux fins de l'évaluation initiale des composantes passif et capitaux propres distinctes d'un instrument émis dans une opération conclue dans des conditions de pleine concurrence visé par le paragraphe </a:t>
            </a:r>
            <a:r>
              <a:rPr lang="fr-CA" dirty="0">
                <a:hlinkClick r:id="rId3"/>
              </a:rPr>
              <a:t>3856.21</a:t>
            </a:r>
            <a:r>
              <a:rPr lang="fr-CA" dirty="0"/>
              <a:t> :</a:t>
            </a:r>
          </a:p>
          <a:p>
            <a:pPr marL="0" indent="0">
              <a:buNone/>
            </a:pPr>
            <a:r>
              <a:rPr lang="fr-CA" dirty="0"/>
              <a:t>a)     La composante capitaux propres est évaluée à zéro. La totalité du produit de l'émission est attribuée à la composante passif.</a:t>
            </a:r>
          </a:p>
          <a:p>
            <a:pPr marL="0" indent="0">
              <a:buNone/>
            </a:pPr>
            <a:r>
              <a:rPr lang="fr-CA" dirty="0"/>
              <a:t>b)     La valeur de la composante la plus facile à évaluer est déduite du produit total de l'émission. La différence donne la valeur de la composante restante.</a:t>
            </a:r>
          </a:p>
          <a:p>
            <a:pPr marL="0" indent="0">
              <a:buNone/>
            </a:pPr>
            <a:r>
              <a:rPr lang="fr-CA" dirty="0"/>
              <a:t>La somme des valeurs comptables attribuées respectivement aux composantes passif et capitaux propres lors de la comptabilisation initiale est toujours égale à la valeur comptable qui serait attribuée à l'instrument pris dans son ensemble. Le fait de comptabiliser et de présenter séparément les composantes de l'instrument ne peut donner lieu à un gain ou à une perte. [Le libellé de l'ancien paragraphe 3856.22 se trouve dans les Prises de position archivées.]</a:t>
            </a:r>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27</a:t>
            </a:fld>
            <a:endParaRPr lang="fr-FR"/>
          </a:p>
        </p:txBody>
      </p:sp>
      <p:sp>
        <p:nvSpPr>
          <p:cNvPr id="5" name="Espace réservé du pied de page 4">
            <a:extLst>
              <a:ext uri="{FF2B5EF4-FFF2-40B4-BE49-F238E27FC236}">
                <a16:creationId xmlns:a16="http://schemas.microsoft.com/office/drawing/2014/main" id="{D61BFFCA-FBB0-4596-84EF-7D339BA809E0}"/>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1186053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Instrument composé (hybride)</a:t>
            </a:r>
            <a:br>
              <a:rPr lang="fr-FR" dirty="0"/>
            </a:br>
            <a:r>
              <a:rPr lang="fr-FR" sz="3600" i="1" dirty="0">
                <a:solidFill>
                  <a:srgbClr val="0070C0"/>
                </a:solidFill>
              </a:rPr>
              <a:t>voir fichier Word pour extraits norme</a:t>
            </a:r>
            <a:endParaRPr lang="fr-FR" dirty="0">
              <a:solidFill>
                <a:srgbClr val="0070C0"/>
              </a:solidFill>
            </a:endParaRPr>
          </a:p>
        </p:txBody>
      </p:sp>
      <p:sp>
        <p:nvSpPr>
          <p:cNvPr id="3" name="Espace réservé du contenu 2"/>
          <p:cNvSpPr>
            <a:spLocks noGrp="1"/>
          </p:cNvSpPr>
          <p:nvPr>
            <p:ph idx="1"/>
          </p:nvPr>
        </p:nvSpPr>
        <p:spPr>
          <a:xfrm>
            <a:off x="838199" y="1932972"/>
            <a:ext cx="10423967" cy="4193192"/>
          </a:xfrm>
        </p:spPr>
        <p:txBody>
          <a:bodyPr>
            <a:normAutofit lnSpcReduction="10000"/>
          </a:bodyPr>
          <a:lstStyle/>
          <a:p>
            <a:pPr marL="0" indent="0">
              <a:buNone/>
            </a:pPr>
            <a:r>
              <a:rPr lang="fr-FR" dirty="0"/>
              <a:t>Débenture 100 000 $, taux d’intérêts de 3 % payable annuellement, convertible en 10 actions ordinaires par tranche de 1000 $, échéance 5 ans</a:t>
            </a:r>
          </a:p>
          <a:p>
            <a:r>
              <a:rPr lang="fr-FR" dirty="0">
                <a:highlight>
                  <a:srgbClr val="FFFF00"/>
                </a:highlight>
              </a:rPr>
              <a:t>Taux sans option de conversion serait de 7 %</a:t>
            </a:r>
          </a:p>
          <a:p>
            <a:pPr marL="0" indent="0">
              <a:buNone/>
            </a:pPr>
            <a:endParaRPr lang="fr-FR" dirty="0"/>
          </a:p>
          <a:p>
            <a:pPr marL="708025" lvl="3" indent="-354013"/>
            <a:r>
              <a:rPr lang="fr-FR" sz="2800" i="1" dirty="0"/>
              <a:t>Préparez les écritures selon les méthodes en NCECF</a:t>
            </a:r>
          </a:p>
          <a:p>
            <a:pPr marL="708025" lvl="3" indent="-354013"/>
            <a:r>
              <a:rPr lang="fr-FR" sz="2800" i="1" dirty="0"/>
              <a:t>Que recommanderiez-vous si NCECF?  </a:t>
            </a:r>
            <a:r>
              <a:rPr lang="fr-FR" sz="2800" i="1" dirty="0">
                <a:solidFill>
                  <a:srgbClr val="FF0000"/>
                </a:solidFill>
              </a:rPr>
              <a:t>Choix de méthode</a:t>
            </a:r>
            <a:endParaRPr lang="fr-FR" sz="2800" i="1" dirty="0"/>
          </a:p>
          <a:p>
            <a:pPr marL="708025" lvl="3" indent="-354013"/>
            <a:endParaRPr lang="fr-FR" sz="2800" i="1" dirty="0"/>
          </a:p>
          <a:p>
            <a:pPr marL="708025" lvl="3" indent="-354013"/>
            <a:r>
              <a:rPr lang="fr-FR" sz="2800" i="1" dirty="0"/>
              <a:t>Si n’avait pas été convertible en un nombre fixe d’actions</a:t>
            </a:r>
          </a:p>
          <a:p>
            <a:pPr marL="708025" lvl="3" indent="-354013"/>
            <a:r>
              <a:rPr lang="fr-FR" sz="2800" i="1" dirty="0"/>
              <a:t>Traitement comptable si conversion?</a:t>
            </a:r>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28</a:t>
            </a:fld>
            <a:endParaRPr lang="fr-FR"/>
          </a:p>
        </p:txBody>
      </p:sp>
      <p:sp>
        <p:nvSpPr>
          <p:cNvPr id="5" name="Espace réservé du pied de page 4">
            <a:extLst>
              <a:ext uri="{FF2B5EF4-FFF2-40B4-BE49-F238E27FC236}">
                <a16:creationId xmlns:a16="http://schemas.microsoft.com/office/drawing/2014/main" id="{7C8A55FD-DB5F-46F4-85A6-E0356BCB186E}"/>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19525924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Solution</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29</a:t>
            </a:fld>
            <a:endParaRPr lang="fr-FR"/>
          </a:p>
        </p:txBody>
      </p:sp>
      <p:sp>
        <p:nvSpPr>
          <p:cNvPr id="3" name="Espace réservé du pied de page 2">
            <a:extLst>
              <a:ext uri="{FF2B5EF4-FFF2-40B4-BE49-F238E27FC236}">
                <a16:creationId xmlns:a16="http://schemas.microsoft.com/office/drawing/2014/main" id="{A125B754-4BF0-430F-8736-0EE3AA3E7E7F}"/>
              </a:ext>
            </a:extLst>
          </p:cNvPr>
          <p:cNvSpPr>
            <a:spLocks noGrp="1"/>
          </p:cNvSpPr>
          <p:nvPr>
            <p:ph type="ftr" sz="quarter" idx="11"/>
          </p:nvPr>
        </p:nvSpPr>
        <p:spPr/>
        <p:txBody>
          <a:bodyPr/>
          <a:lstStyle/>
          <a:p>
            <a:r>
              <a:rPr lang="fr-CA"/>
              <a:t>Droits réservés - Louise Overbeek</a:t>
            </a:r>
          </a:p>
        </p:txBody>
      </p:sp>
      <p:graphicFrame>
        <p:nvGraphicFramePr>
          <p:cNvPr id="5" name="Objet 4">
            <a:extLst>
              <a:ext uri="{FF2B5EF4-FFF2-40B4-BE49-F238E27FC236}">
                <a16:creationId xmlns:a16="http://schemas.microsoft.com/office/drawing/2014/main" id="{314A5747-BFCB-4DA7-81E4-152FDBB97AD7}"/>
              </a:ext>
            </a:extLst>
          </p:cNvPr>
          <p:cNvGraphicFramePr>
            <a:graphicFrameLocks noChangeAspect="1"/>
          </p:cNvGraphicFramePr>
          <p:nvPr>
            <p:extLst>
              <p:ext uri="{D42A27DB-BD31-4B8C-83A1-F6EECF244321}">
                <p14:modId xmlns:p14="http://schemas.microsoft.com/office/powerpoint/2010/main" val="4167957"/>
              </p:ext>
            </p:extLst>
          </p:nvPr>
        </p:nvGraphicFramePr>
        <p:xfrm>
          <a:off x="904313" y="1986454"/>
          <a:ext cx="10451610" cy="2900855"/>
        </p:xfrm>
        <a:graphic>
          <a:graphicData uri="http://schemas.openxmlformats.org/presentationml/2006/ole">
            <mc:AlternateContent xmlns:mc="http://schemas.openxmlformats.org/markup-compatibility/2006">
              <mc:Choice xmlns:v="urn:schemas-microsoft-com:vml" Requires="v">
                <p:oleObj name="Worksheet" r:id="rId2" imgW="4667287" imgH="1295488" progId="Excel.Sheet.12">
                  <p:embed/>
                </p:oleObj>
              </mc:Choice>
              <mc:Fallback>
                <p:oleObj name="Worksheet" r:id="rId2" imgW="4667287" imgH="1295488" progId="Excel.Sheet.12">
                  <p:embed/>
                  <p:pic>
                    <p:nvPicPr>
                      <p:cNvPr id="5" name="Objet 4">
                        <a:extLst>
                          <a:ext uri="{FF2B5EF4-FFF2-40B4-BE49-F238E27FC236}">
                            <a16:creationId xmlns:a16="http://schemas.microsoft.com/office/drawing/2014/main" id="{314A5747-BFCB-4DA7-81E4-152FDBB97AD7}"/>
                          </a:ext>
                        </a:extLst>
                      </p:cNvPr>
                      <p:cNvPicPr/>
                      <p:nvPr/>
                    </p:nvPicPr>
                    <p:blipFill>
                      <a:blip r:embed="rId3"/>
                      <a:stretch>
                        <a:fillRect/>
                      </a:stretch>
                    </p:blipFill>
                    <p:spPr>
                      <a:xfrm>
                        <a:off x="904313" y="1986454"/>
                        <a:ext cx="10451610" cy="2900855"/>
                      </a:xfrm>
                      <a:prstGeom prst="rect">
                        <a:avLst/>
                      </a:prstGeom>
                    </p:spPr>
                  </p:pic>
                </p:oleObj>
              </mc:Fallback>
            </mc:AlternateContent>
          </a:graphicData>
        </a:graphic>
      </p:graphicFrame>
    </p:spTree>
    <p:extLst>
      <p:ext uri="{BB962C8B-B14F-4D97-AF65-F5344CB8AC3E}">
        <p14:creationId xmlns:p14="http://schemas.microsoft.com/office/powerpoint/2010/main" val="14014774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dirty="0"/>
              <a:t>Solution – choix comme IFRS</a:t>
            </a:r>
          </a:p>
        </p:txBody>
      </p:sp>
      <p:sp>
        <p:nvSpPr>
          <p:cNvPr id="3" name="Espace réservé du contenu 2"/>
          <p:cNvSpPr>
            <a:spLocks noGrp="1"/>
          </p:cNvSpPr>
          <p:nvPr>
            <p:ph idx="1"/>
          </p:nvPr>
        </p:nvSpPr>
        <p:spPr/>
        <p:txBody>
          <a:bodyPr>
            <a:normAutofit fontScale="92500" lnSpcReduction="10000"/>
          </a:bodyPr>
          <a:lstStyle/>
          <a:p>
            <a:pPr marL="0" lvl="2" indent="0">
              <a:buNone/>
            </a:pPr>
            <a:r>
              <a:rPr lang="fr-CA" sz="2900" dirty="0">
                <a:solidFill>
                  <a:srgbClr val="FF0000"/>
                </a:solidFill>
              </a:rPr>
              <a:t>Encaisse				100 000</a:t>
            </a:r>
          </a:p>
          <a:p>
            <a:pPr marL="0" lvl="2" indent="0">
              <a:buNone/>
            </a:pPr>
            <a:r>
              <a:rPr lang="fr-CA" sz="2900" dirty="0">
                <a:solidFill>
                  <a:srgbClr val="FF0000"/>
                </a:solidFill>
              </a:rPr>
              <a:t>@  Dette						83 599</a:t>
            </a:r>
          </a:p>
          <a:p>
            <a:pPr marL="0" lvl="2" indent="0">
              <a:buNone/>
            </a:pPr>
            <a:r>
              <a:rPr lang="fr-CA" sz="2900" dirty="0">
                <a:solidFill>
                  <a:srgbClr val="FF0000"/>
                </a:solidFill>
              </a:rPr>
              <a:t>@  Option conversion (CP)				16 401</a:t>
            </a:r>
          </a:p>
          <a:p>
            <a:pPr marL="0" lvl="2" indent="0">
              <a:buNone/>
            </a:pPr>
            <a:endParaRPr lang="fr-CA" sz="2900" dirty="0">
              <a:solidFill>
                <a:srgbClr val="FF0000"/>
              </a:solidFill>
            </a:endParaRPr>
          </a:p>
          <a:p>
            <a:pPr marL="0" lvl="2" indent="0">
              <a:buNone/>
            </a:pPr>
            <a:r>
              <a:rPr lang="fr-CA" sz="2900" dirty="0">
                <a:solidFill>
                  <a:srgbClr val="FF0000"/>
                </a:solidFill>
              </a:rPr>
              <a:t>Frais financiers			5 852		</a:t>
            </a:r>
          </a:p>
          <a:p>
            <a:pPr marL="0" lvl="2" indent="0">
              <a:buNone/>
            </a:pPr>
            <a:r>
              <a:rPr lang="fr-CA" sz="2900" dirty="0">
                <a:solidFill>
                  <a:srgbClr val="FF0000"/>
                </a:solidFill>
              </a:rPr>
              <a:t>@  Encaisse						3 000</a:t>
            </a:r>
          </a:p>
          <a:p>
            <a:pPr marL="0" lvl="2" indent="0">
              <a:buNone/>
            </a:pPr>
            <a:r>
              <a:rPr lang="fr-CA" sz="2900" dirty="0">
                <a:solidFill>
                  <a:srgbClr val="FF0000"/>
                </a:solidFill>
              </a:rPr>
              <a:t>@ Dette 						2 852</a:t>
            </a:r>
          </a:p>
          <a:p>
            <a:pPr marL="0" lvl="2" indent="0">
              <a:buNone/>
            </a:pPr>
            <a:endParaRPr lang="fr-CA" sz="2900" dirty="0">
              <a:solidFill>
                <a:srgbClr val="FF0000"/>
              </a:solidFill>
            </a:endParaRPr>
          </a:p>
          <a:p>
            <a:pPr marL="0" lvl="2" indent="0">
              <a:buNone/>
            </a:pPr>
            <a:r>
              <a:rPr lang="fr-CA" sz="2900" dirty="0">
                <a:solidFill>
                  <a:srgbClr val="FF0000"/>
                </a:solidFill>
              </a:rPr>
              <a:t>Frais financiers			6 052		</a:t>
            </a:r>
          </a:p>
          <a:p>
            <a:pPr marL="0" lvl="2" indent="0">
              <a:buNone/>
            </a:pPr>
            <a:r>
              <a:rPr lang="fr-CA" sz="2900" dirty="0">
                <a:solidFill>
                  <a:srgbClr val="FF0000"/>
                </a:solidFill>
              </a:rPr>
              <a:t>@  Encaisse						3 000</a:t>
            </a:r>
          </a:p>
          <a:p>
            <a:pPr marL="0" lvl="2" indent="0">
              <a:buNone/>
            </a:pPr>
            <a:r>
              <a:rPr lang="fr-CA" sz="2900" dirty="0">
                <a:solidFill>
                  <a:srgbClr val="FF0000"/>
                </a:solidFill>
              </a:rPr>
              <a:t>@ Dette 						3 052</a:t>
            </a:r>
          </a:p>
          <a:p>
            <a:pPr marL="0" lvl="2" indent="0">
              <a:buNone/>
            </a:pPr>
            <a:endParaRPr lang="fr-CA" sz="2900"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30</a:t>
            </a:fld>
            <a:endParaRPr lang="fr-FR"/>
          </a:p>
        </p:txBody>
      </p:sp>
      <p:sp>
        <p:nvSpPr>
          <p:cNvPr id="5" name="Espace réservé du pied de page 4">
            <a:extLst>
              <a:ext uri="{FF2B5EF4-FFF2-40B4-BE49-F238E27FC236}">
                <a16:creationId xmlns:a16="http://schemas.microsoft.com/office/drawing/2014/main" id="{0EFA1FFC-D4D7-48F0-A764-1C1D0029F086}"/>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10080664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Solution – choix « allégé » NCECF</a:t>
            </a:r>
          </a:p>
        </p:txBody>
      </p:sp>
      <p:sp>
        <p:nvSpPr>
          <p:cNvPr id="3" name="Espace réservé du contenu 2"/>
          <p:cNvSpPr>
            <a:spLocks noGrp="1"/>
          </p:cNvSpPr>
          <p:nvPr>
            <p:ph idx="1"/>
          </p:nvPr>
        </p:nvSpPr>
        <p:spPr/>
        <p:txBody>
          <a:bodyPr>
            <a:normAutofit/>
          </a:bodyPr>
          <a:lstStyle/>
          <a:p>
            <a:pPr marL="0" lvl="2" indent="0">
              <a:buNone/>
            </a:pPr>
            <a:r>
              <a:rPr lang="fr-CA" sz="2900" dirty="0">
                <a:solidFill>
                  <a:srgbClr val="FF0000"/>
                </a:solidFill>
              </a:rPr>
              <a:t>Encaisse			100 000</a:t>
            </a:r>
          </a:p>
          <a:p>
            <a:pPr marL="0" lvl="2" indent="0">
              <a:buNone/>
            </a:pPr>
            <a:r>
              <a:rPr lang="fr-CA" sz="2900" dirty="0">
                <a:solidFill>
                  <a:srgbClr val="FF0000"/>
                </a:solidFill>
              </a:rPr>
              <a:t>@  Dette					100 000</a:t>
            </a:r>
          </a:p>
          <a:p>
            <a:pPr marL="0" lvl="2" indent="0">
              <a:buNone/>
            </a:pPr>
            <a:r>
              <a:rPr lang="fr-CA" sz="2900" dirty="0">
                <a:solidFill>
                  <a:srgbClr val="FF0000"/>
                </a:solidFill>
              </a:rPr>
              <a:t>@  Option conversion (CP)		       0</a:t>
            </a:r>
          </a:p>
          <a:p>
            <a:pPr marL="0" lvl="2" indent="0">
              <a:buNone/>
            </a:pPr>
            <a:endParaRPr lang="fr-CA" sz="2900" dirty="0">
              <a:solidFill>
                <a:srgbClr val="FF0000"/>
              </a:solidFill>
            </a:endParaRPr>
          </a:p>
          <a:p>
            <a:pPr marL="0" lvl="2" indent="0">
              <a:buNone/>
            </a:pPr>
            <a:r>
              <a:rPr lang="fr-CA" sz="2900" dirty="0">
                <a:solidFill>
                  <a:srgbClr val="FF0000"/>
                </a:solidFill>
              </a:rPr>
              <a:t>Frais financiers		3 000		</a:t>
            </a:r>
          </a:p>
          <a:p>
            <a:pPr marL="0" lvl="2" indent="0">
              <a:buNone/>
            </a:pPr>
            <a:r>
              <a:rPr lang="fr-CA" sz="2900" dirty="0">
                <a:solidFill>
                  <a:srgbClr val="FF0000"/>
                </a:solidFill>
              </a:rPr>
              <a:t>@  Encaisse					3 000</a:t>
            </a:r>
          </a:p>
          <a:p>
            <a:pPr marL="0" lvl="2" indent="0">
              <a:buNone/>
            </a:pPr>
            <a:endParaRPr lang="fr-CA" sz="2900" dirty="0">
              <a:solidFill>
                <a:srgbClr val="FF0000"/>
              </a:solidFill>
            </a:endParaRPr>
          </a:p>
          <a:p>
            <a:pPr marL="0" lvl="2" indent="0">
              <a:buNone/>
            </a:pPr>
            <a:r>
              <a:rPr lang="fr-CA" sz="2900" dirty="0">
                <a:solidFill>
                  <a:srgbClr val="FF0000"/>
                </a:solidFill>
              </a:rPr>
              <a:t>Frais financiers		3 000		</a:t>
            </a:r>
          </a:p>
          <a:p>
            <a:pPr marL="0" lvl="2" indent="0">
              <a:buNone/>
            </a:pPr>
            <a:r>
              <a:rPr lang="fr-CA" sz="2900" dirty="0">
                <a:solidFill>
                  <a:srgbClr val="FF0000"/>
                </a:solidFill>
              </a:rPr>
              <a:t>@  Encaisse					3 000</a:t>
            </a:r>
          </a:p>
          <a:p>
            <a:pPr marL="0" lvl="2" indent="0">
              <a:buNone/>
            </a:pPr>
            <a:endParaRPr lang="fr-CA" sz="2900"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31</a:t>
            </a:fld>
            <a:endParaRPr lang="fr-FR"/>
          </a:p>
        </p:txBody>
      </p:sp>
      <p:sp>
        <p:nvSpPr>
          <p:cNvPr id="5" name="Espace réservé du pied de page 4">
            <a:extLst>
              <a:ext uri="{FF2B5EF4-FFF2-40B4-BE49-F238E27FC236}">
                <a16:creationId xmlns:a16="http://schemas.microsoft.com/office/drawing/2014/main" id="{A654D173-0F70-4792-8FEC-938A548E8A89}"/>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39009534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Solution</a:t>
            </a:r>
          </a:p>
        </p:txBody>
      </p:sp>
      <p:sp>
        <p:nvSpPr>
          <p:cNvPr id="3" name="Espace réservé du contenu 2"/>
          <p:cNvSpPr>
            <a:spLocks noGrp="1"/>
          </p:cNvSpPr>
          <p:nvPr>
            <p:ph idx="1"/>
          </p:nvPr>
        </p:nvSpPr>
        <p:spPr/>
        <p:txBody>
          <a:bodyPr>
            <a:normAutofit/>
          </a:bodyPr>
          <a:lstStyle/>
          <a:p>
            <a:pPr marL="0" lvl="2" indent="0">
              <a:buNone/>
            </a:pPr>
            <a:r>
              <a:rPr lang="fr-FR" sz="3200" i="1" dirty="0"/>
              <a:t>Que recommanderiez-vous si NCECF?</a:t>
            </a:r>
          </a:p>
          <a:p>
            <a:pPr marL="0" lvl="2" indent="0">
              <a:buNone/>
            </a:pPr>
            <a:endParaRPr lang="fr-CA" sz="2900" dirty="0">
              <a:solidFill>
                <a:srgbClr val="FF0000"/>
              </a:solidFill>
            </a:endParaRPr>
          </a:p>
          <a:p>
            <a:pPr marL="0" lvl="2" indent="0">
              <a:buNone/>
            </a:pPr>
            <a:r>
              <a:rPr lang="fr-CA" sz="2900" dirty="0">
                <a:solidFill>
                  <a:srgbClr val="FF0000"/>
                </a:solidFill>
              </a:rPr>
              <a:t>Approche IFRS </a:t>
            </a:r>
          </a:p>
          <a:p>
            <a:pPr marL="457200" lvl="2" indent="-457200"/>
            <a:r>
              <a:rPr lang="fr-CA" sz="2900" dirty="0">
                <a:solidFill>
                  <a:srgbClr val="FF0000"/>
                </a:solidFill>
              </a:rPr>
              <a:t>Dette plus faible mais résultat net inférieur</a:t>
            </a:r>
          </a:p>
          <a:p>
            <a:pPr marL="0" lvl="2" indent="0">
              <a:buNone/>
            </a:pPr>
            <a:endParaRPr lang="fr-CA" sz="2900" dirty="0">
              <a:solidFill>
                <a:srgbClr val="FF0000"/>
              </a:solidFill>
            </a:endParaRPr>
          </a:p>
          <a:p>
            <a:pPr marL="0" lvl="2" indent="0">
              <a:buNone/>
            </a:pPr>
            <a:r>
              <a:rPr lang="fr-CA" sz="2900" dirty="0">
                <a:solidFill>
                  <a:srgbClr val="FF0000"/>
                </a:solidFill>
              </a:rPr>
              <a:t>Choix NCECF</a:t>
            </a:r>
          </a:p>
          <a:p>
            <a:pPr marL="457200" lvl="2" indent="-457200"/>
            <a:r>
              <a:rPr lang="fr-CA" sz="2900" dirty="0">
                <a:solidFill>
                  <a:srgbClr val="FF0000"/>
                </a:solidFill>
              </a:rPr>
              <a:t>Résultat net plus élevé mais dette plus élevée</a:t>
            </a:r>
          </a:p>
          <a:p>
            <a:pPr marL="0" lvl="2" indent="0">
              <a:buNone/>
            </a:pPr>
            <a:endParaRPr lang="fr-CA" sz="2900" dirty="0">
              <a:solidFill>
                <a:srgbClr val="FF0000"/>
              </a:solidFill>
            </a:endParaRP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32</a:t>
            </a:fld>
            <a:endParaRPr lang="fr-FR"/>
          </a:p>
        </p:txBody>
      </p:sp>
      <p:sp>
        <p:nvSpPr>
          <p:cNvPr id="5" name="Espace réservé du pied de page 4">
            <a:extLst>
              <a:ext uri="{FF2B5EF4-FFF2-40B4-BE49-F238E27FC236}">
                <a16:creationId xmlns:a16="http://schemas.microsoft.com/office/drawing/2014/main" id="{3F305ECB-0713-476C-BBD8-1B6EB1527F97}"/>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3465919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CF8A910-6468-4BD4-876B-AF4AAF3354B3}"/>
              </a:ext>
            </a:extLst>
          </p:cNvPr>
          <p:cNvSpPr>
            <a:spLocks noGrp="1"/>
          </p:cNvSpPr>
          <p:nvPr>
            <p:ph type="title"/>
          </p:nvPr>
        </p:nvSpPr>
        <p:spPr/>
        <p:txBody>
          <a:bodyPr/>
          <a:lstStyle/>
          <a:p>
            <a:r>
              <a:rPr lang="fr-CA" dirty="0"/>
              <a:t>Solution</a:t>
            </a:r>
            <a:endParaRPr lang="fr-FR" dirty="0"/>
          </a:p>
        </p:txBody>
      </p:sp>
      <p:sp>
        <p:nvSpPr>
          <p:cNvPr id="3" name="Espace réservé du contenu 2">
            <a:extLst>
              <a:ext uri="{FF2B5EF4-FFF2-40B4-BE49-F238E27FC236}">
                <a16:creationId xmlns:a16="http://schemas.microsoft.com/office/drawing/2014/main" id="{FD4C6A6B-4714-40F0-8400-1247E1B6DDD2}"/>
              </a:ext>
            </a:extLst>
          </p:cNvPr>
          <p:cNvSpPr>
            <a:spLocks noGrp="1"/>
          </p:cNvSpPr>
          <p:nvPr>
            <p:ph idx="1"/>
          </p:nvPr>
        </p:nvSpPr>
        <p:spPr/>
        <p:txBody>
          <a:bodyPr/>
          <a:lstStyle/>
          <a:p>
            <a:pPr marL="708025" lvl="3" indent="-354013"/>
            <a:r>
              <a:rPr lang="fr-FR" sz="2800" i="1" dirty="0"/>
              <a:t>Si n’avait pas été convertible en un nombre fixe d’actions</a:t>
            </a:r>
          </a:p>
          <a:p>
            <a:pPr marL="1165225" lvl="4" indent="-354013"/>
            <a:r>
              <a:rPr lang="fr-FR" sz="2800" i="1" dirty="0">
                <a:solidFill>
                  <a:srgbClr val="FF0000"/>
                </a:solidFill>
              </a:rPr>
              <a:t>Passif</a:t>
            </a:r>
          </a:p>
          <a:p>
            <a:pPr marL="1165225" lvl="4" indent="-354013"/>
            <a:endParaRPr lang="fr-FR" sz="2800" i="1" dirty="0">
              <a:solidFill>
                <a:srgbClr val="FF0000"/>
              </a:solidFill>
            </a:endParaRPr>
          </a:p>
          <a:p>
            <a:pPr marL="708025" lvl="3" indent="-354013"/>
            <a:r>
              <a:rPr lang="fr-FR" sz="2800" i="1" dirty="0"/>
              <a:t>Traitement comptable si conversion?</a:t>
            </a:r>
          </a:p>
          <a:p>
            <a:pPr marL="1165225" lvl="4" indent="-354013"/>
            <a:r>
              <a:rPr lang="fr-FR" sz="2800" i="1" dirty="0">
                <a:solidFill>
                  <a:srgbClr val="FF0000"/>
                </a:solidFill>
              </a:rPr>
              <a:t>Conversion à la valeur comptable</a:t>
            </a:r>
          </a:p>
          <a:p>
            <a:pPr marL="1622425" lvl="5" indent="-354013"/>
            <a:r>
              <a:rPr lang="fr-FR" sz="2800" i="1" dirty="0">
                <a:solidFill>
                  <a:srgbClr val="FF0000"/>
                </a:solidFill>
              </a:rPr>
              <a:t>Pas de réévaluation</a:t>
            </a:r>
          </a:p>
        </p:txBody>
      </p:sp>
      <p:sp>
        <p:nvSpPr>
          <p:cNvPr id="4" name="Espace réservé du pied de page 3">
            <a:extLst>
              <a:ext uri="{FF2B5EF4-FFF2-40B4-BE49-F238E27FC236}">
                <a16:creationId xmlns:a16="http://schemas.microsoft.com/office/drawing/2014/main" id="{A56971AD-C518-4E0C-9E26-252279C44B1A}"/>
              </a:ext>
            </a:extLst>
          </p:cNvPr>
          <p:cNvSpPr>
            <a:spLocks noGrp="1"/>
          </p:cNvSpPr>
          <p:nvPr>
            <p:ph type="ftr" sz="quarter" idx="11"/>
          </p:nvPr>
        </p:nvSpPr>
        <p:spPr/>
        <p:txBody>
          <a:bodyPr/>
          <a:lstStyle/>
          <a:p>
            <a:r>
              <a:rPr lang="fr-CA"/>
              <a:t>Droits réservés - Louise Overbeek</a:t>
            </a:r>
          </a:p>
        </p:txBody>
      </p:sp>
      <p:sp>
        <p:nvSpPr>
          <p:cNvPr id="5" name="Espace réservé du numéro de diapositive 4">
            <a:extLst>
              <a:ext uri="{FF2B5EF4-FFF2-40B4-BE49-F238E27FC236}">
                <a16:creationId xmlns:a16="http://schemas.microsoft.com/office/drawing/2014/main" id="{0BF01FBF-9C7C-449C-854A-0909A7B0F08E}"/>
              </a:ext>
            </a:extLst>
          </p:cNvPr>
          <p:cNvSpPr>
            <a:spLocks noGrp="1"/>
          </p:cNvSpPr>
          <p:nvPr>
            <p:ph type="sldNum" sz="quarter" idx="12"/>
          </p:nvPr>
        </p:nvSpPr>
        <p:spPr/>
        <p:txBody>
          <a:bodyPr/>
          <a:lstStyle/>
          <a:p>
            <a:fld id="{D5C8285E-D276-48ED-A38D-FCE3A7D9B93F}" type="slidenum">
              <a:rPr lang="fr-CA" smtClean="0"/>
              <a:t>33</a:t>
            </a:fld>
            <a:endParaRPr lang="fr-CA"/>
          </a:p>
        </p:txBody>
      </p:sp>
    </p:spTree>
    <p:extLst>
      <p:ext uri="{BB962C8B-B14F-4D97-AF65-F5344CB8AC3E}">
        <p14:creationId xmlns:p14="http://schemas.microsoft.com/office/powerpoint/2010/main" val="29669220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5"/>
            <a:ext cx="10515600" cy="1812018"/>
          </a:xfrm>
        </p:spPr>
        <p:txBody>
          <a:bodyPr>
            <a:normAutofit fontScale="90000"/>
          </a:bodyPr>
          <a:lstStyle/>
          <a:p>
            <a:r>
              <a:rPr lang="fr-CA" dirty="0"/>
              <a:t>Actions privilégiées émises à titre de mesure de planification fiscale </a:t>
            </a:r>
            <a:r>
              <a:rPr lang="fr-CA" sz="3600" dirty="0"/>
              <a:t>(gel)</a:t>
            </a:r>
            <a:br>
              <a:rPr lang="fr-CA" sz="3600" dirty="0"/>
            </a:br>
            <a:r>
              <a:rPr lang="fr-CA" sz="2200" i="1" dirty="0"/>
              <a:t>dans le cadre des dispositions prévues aux articles 51, 85, 85.1, 86, 87 ou 88 de la « Loi de l’impôt sur le revenu » (Canada).</a:t>
            </a:r>
            <a:endParaRPr lang="fr-CA" sz="3600" i="1" dirty="0"/>
          </a:p>
        </p:txBody>
      </p:sp>
      <p:graphicFrame>
        <p:nvGraphicFramePr>
          <p:cNvPr id="5" name="Espace réservé du contenu 4"/>
          <p:cNvGraphicFramePr>
            <a:graphicFrameLocks noGrp="1"/>
          </p:cNvGraphicFramePr>
          <p:nvPr>
            <p:ph idx="1"/>
            <p:extLst>
              <p:ext uri="{D42A27DB-BD31-4B8C-83A1-F6EECF244321}">
                <p14:modId xmlns:p14="http://schemas.microsoft.com/office/powerpoint/2010/main" val="3847581419"/>
              </p:ext>
            </p:extLst>
          </p:nvPr>
        </p:nvGraphicFramePr>
        <p:xfrm>
          <a:off x="838200" y="2257034"/>
          <a:ext cx="10515600" cy="3205480"/>
        </p:xfrm>
        <a:graphic>
          <a:graphicData uri="http://schemas.openxmlformats.org/drawingml/2006/table">
            <a:tbl>
              <a:tblPr firstRow="1" bandRow="1">
                <a:tableStyleId>{5C22544A-7EE6-4342-B048-85BDC9FD1C3A}</a:tableStyleId>
              </a:tblPr>
              <a:tblGrid>
                <a:gridCol w="4555603">
                  <a:extLst>
                    <a:ext uri="{9D8B030D-6E8A-4147-A177-3AD203B41FA5}">
                      <a16:colId xmlns:a16="http://schemas.microsoft.com/office/drawing/2014/main" val="20000"/>
                    </a:ext>
                  </a:extLst>
                </a:gridCol>
                <a:gridCol w="5959997">
                  <a:extLst>
                    <a:ext uri="{9D8B030D-6E8A-4147-A177-3AD203B41FA5}">
                      <a16:colId xmlns:a16="http://schemas.microsoft.com/office/drawing/2014/main" val="20001"/>
                    </a:ext>
                  </a:extLst>
                </a:gridCol>
              </a:tblGrid>
              <a:tr h="370840">
                <a:tc>
                  <a:txBody>
                    <a:bodyPr/>
                    <a:lstStyle/>
                    <a:p>
                      <a:pPr algn="ctr"/>
                      <a:r>
                        <a:rPr lang="fr-CA" dirty="0"/>
                        <a:t>IFRS</a:t>
                      </a:r>
                    </a:p>
                  </a:txBody>
                  <a:tcPr/>
                </a:tc>
                <a:tc>
                  <a:txBody>
                    <a:bodyPr/>
                    <a:lstStyle/>
                    <a:p>
                      <a:pPr algn="ctr"/>
                      <a:r>
                        <a:rPr lang="fr-CA" dirty="0"/>
                        <a:t>NCECF</a:t>
                      </a:r>
                    </a:p>
                  </a:txBody>
                  <a:tcPr/>
                </a:tc>
                <a:extLst>
                  <a:ext uri="{0D108BD9-81ED-4DB2-BD59-A6C34878D82A}">
                    <a16:rowId xmlns:a16="http://schemas.microsoft.com/office/drawing/2014/main" val="10000"/>
                  </a:ext>
                </a:extLst>
              </a:tr>
              <a:tr h="370840">
                <a:tc>
                  <a:txBody>
                    <a:bodyPr/>
                    <a:lstStyle/>
                    <a:p>
                      <a:r>
                        <a:rPr lang="fr-CA" dirty="0"/>
                        <a:t>Instruments financiers</a:t>
                      </a:r>
                    </a:p>
                    <a:p>
                      <a:r>
                        <a:rPr lang="fr-CA" dirty="0"/>
                        <a:t>Rachetables au gré détenteur – passif</a:t>
                      </a:r>
                    </a:p>
                    <a:p>
                      <a:r>
                        <a:rPr lang="fr-CA" dirty="0"/>
                        <a:t>À la valeur (actualisée) de rachat</a:t>
                      </a:r>
                    </a:p>
                  </a:txBody>
                  <a:tcPr/>
                </a:tc>
                <a:tc>
                  <a:txBody>
                    <a:bodyPr/>
                    <a:lstStyle/>
                    <a:p>
                      <a:r>
                        <a:rPr lang="fr-CA" dirty="0"/>
                        <a:t>Idem – voir par 3856.23 (nouvelle norme)</a:t>
                      </a:r>
                    </a:p>
                    <a:p>
                      <a:endParaRPr lang="fr-CA" dirty="0"/>
                    </a:p>
                    <a:p>
                      <a:r>
                        <a:rPr lang="fr-CA" dirty="0">
                          <a:solidFill>
                            <a:srgbClr val="FF0000"/>
                          </a:solidFill>
                        </a:rPr>
                        <a:t>Si</a:t>
                      </a:r>
                      <a:r>
                        <a:rPr lang="fr-CA" baseline="0" dirty="0">
                          <a:solidFill>
                            <a:srgbClr val="FF0000"/>
                          </a:solidFill>
                        </a:rPr>
                        <a:t> respecte critères (très rare) :</a:t>
                      </a:r>
                      <a:r>
                        <a:rPr lang="fr-CA" baseline="0" dirty="0"/>
                        <a:t> </a:t>
                      </a:r>
                      <a:endParaRPr lang="fr-CA" dirty="0"/>
                    </a:p>
                    <a:p>
                      <a:r>
                        <a:rPr lang="fr-CA" dirty="0"/>
                        <a:t>Jusqu’au rachat : Capitaux propres - à la valeur comptable </a:t>
                      </a:r>
                    </a:p>
                    <a:p>
                      <a:r>
                        <a:rPr lang="fr-CA" i="1" dirty="0"/>
                        <a:t>Mention au bilan de la valeur de rachat</a:t>
                      </a:r>
                    </a:p>
                    <a:p>
                      <a:endParaRPr lang="fr-CA" i="1" dirty="0"/>
                    </a:p>
                    <a:p>
                      <a:r>
                        <a:rPr lang="fr-CA" dirty="0"/>
                        <a:t>Lors</a:t>
                      </a:r>
                      <a:r>
                        <a:rPr lang="fr-CA" baseline="0" dirty="0"/>
                        <a:t> du déclenchement du processus de rachat : passif, à la valeur (actualisée) de rachat</a:t>
                      </a:r>
                    </a:p>
                    <a:p>
                      <a:pPr marL="285750" indent="-285750">
                        <a:buFont typeface="Wingdings" panose="05000000000000000000" pitchFamily="2" charset="2"/>
                        <a:buChar char="Ø"/>
                      </a:pPr>
                      <a:r>
                        <a:rPr lang="fr-CA" dirty="0"/>
                        <a:t>Écart</a:t>
                      </a:r>
                      <a:r>
                        <a:rPr lang="fr-CA" baseline="0" dirty="0"/>
                        <a:t> de valeur directement aux BNR (sans passer par l’état des résultats)</a:t>
                      </a:r>
                    </a:p>
                  </a:txBody>
                  <a:tcPr/>
                </a:tc>
                <a:extLst>
                  <a:ext uri="{0D108BD9-81ED-4DB2-BD59-A6C34878D82A}">
                    <a16:rowId xmlns:a16="http://schemas.microsoft.com/office/drawing/2014/main" val="10001"/>
                  </a:ext>
                </a:extLst>
              </a:tr>
            </a:tbl>
          </a:graphicData>
        </a:graphic>
      </p:graphicFrame>
      <p:sp>
        <p:nvSpPr>
          <p:cNvPr id="4" name="Espace réservé du numéro de diapositive 3"/>
          <p:cNvSpPr>
            <a:spLocks noGrp="1"/>
          </p:cNvSpPr>
          <p:nvPr>
            <p:ph type="sldNum" sz="quarter" idx="12"/>
          </p:nvPr>
        </p:nvSpPr>
        <p:spPr/>
        <p:txBody>
          <a:bodyPr/>
          <a:lstStyle/>
          <a:p>
            <a:fld id="{1979E831-8B4F-8947-B719-B3666B4E8645}" type="slidenum">
              <a:rPr lang="fr-FR" smtClean="0"/>
              <a:t>34</a:t>
            </a:fld>
            <a:endParaRPr lang="fr-FR"/>
          </a:p>
        </p:txBody>
      </p:sp>
      <p:sp>
        <p:nvSpPr>
          <p:cNvPr id="3" name="Espace réservé du pied de page 2">
            <a:extLst>
              <a:ext uri="{FF2B5EF4-FFF2-40B4-BE49-F238E27FC236}">
                <a16:creationId xmlns:a16="http://schemas.microsoft.com/office/drawing/2014/main" id="{E4833E21-7272-49D0-A01C-B01331540733}"/>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37994261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70857" y="274639"/>
            <a:ext cx="10482943" cy="782637"/>
          </a:xfrm>
        </p:spPr>
        <p:txBody>
          <a:bodyPr>
            <a:normAutofit fontScale="90000"/>
          </a:bodyPr>
          <a:lstStyle/>
          <a:p>
            <a:r>
              <a:rPr lang="fr-CA" sz="3100" dirty="0"/>
              <a:t>NCECF : Actions rachetables au gré du porteur ou obligatoirement rachetables émises dans une opération de planification fiscale</a:t>
            </a:r>
            <a:endParaRPr lang="fr-CA" dirty="0"/>
          </a:p>
        </p:txBody>
      </p:sp>
      <p:sp>
        <p:nvSpPr>
          <p:cNvPr id="3" name="Espace réservé du contenu 2"/>
          <p:cNvSpPr>
            <a:spLocks noGrp="1"/>
          </p:cNvSpPr>
          <p:nvPr>
            <p:ph idx="1"/>
          </p:nvPr>
        </p:nvSpPr>
        <p:spPr>
          <a:xfrm>
            <a:off x="578733" y="1271589"/>
            <a:ext cx="10961225" cy="5337555"/>
          </a:xfrm>
        </p:spPr>
        <p:txBody>
          <a:bodyPr>
            <a:normAutofit fontScale="25000" lnSpcReduction="20000"/>
          </a:bodyPr>
          <a:lstStyle/>
          <a:p>
            <a:pPr marL="0" indent="0">
              <a:buNone/>
            </a:pPr>
            <a:r>
              <a:rPr lang="fr-CA" sz="8000" dirty="0"/>
              <a:t>.23     </a:t>
            </a:r>
            <a:r>
              <a:rPr lang="fr-CA" sz="8000" i="1" dirty="0"/>
              <a:t>Une entreprise qui émet, dans une opération de planification fiscale, des actions rachetables au gré du porteur ou obligatoirement rachetables ne peut choisir de présenter ces actions à la valeur nominale, sinon à la valeur attribuée ou déclarée, dans un poste distinct sous la rubrique des capitaux propres du bilan que si toutes les conditions suivantes sont réunies :</a:t>
            </a:r>
            <a:endParaRPr lang="fr-CA" sz="8000" dirty="0"/>
          </a:p>
          <a:p>
            <a:pPr marL="0" indent="0">
              <a:buNone/>
            </a:pPr>
            <a:r>
              <a:rPr lang="fr-CA" sz="8000" i="1" dirty="0"/>
              <a:t>a)     </a:t>
            </a:r>
            <a:r>
              <a:rPr lang="fr-CA" sz="8000" i="1" u="sng" dirty="0"/>
              <a:t>le contrôle</a:t>
            </a:r>
            <a:r>
              <a:rPr lang="fr-CA" sz="8000" u="sng" dirty="0"/>
              <a:t> </a:t>
            </a:r>
            <a:r>
              <a:rPr lang="fr-CA" sz="8000" dirty="0"/>
              <a:t>(voir le chapitre 1591, FILIALES) </a:t>
            </a:r>
            <a:r>
              <a:rPr lang="fr-CA" sz="8000" i="1" dirty="0"/>
              <a:t>de l'entreprise qui émet, dans une opération de planification fiscale, des actions rachetables au gré du porteur ou obligatoirement rachetables </a:t>
            </a:r>
            <a:r>
              <a:rPr lang="fr-CA" sz="8000" i="1" u="sng" dirty="0"/>
              <a:t>est conservé par l'actionnaire qui reçoit les actions dans l'opération;</a:t>
            </a:r>
            <a:endParaRPr lang="fr-CA" sz="8000" u="sng" dirty="0"/>
          </a:p>
          <a:p>
            <a:pPr marL="0" indent="0">
              <a:buNone/>
            </a:pPr>
            <a:r>
              <a:rPr lang="fr-CA" sz="8000" i="1" dirty="0"/>
              <a:t>b)     dans le cadre de l'opération :</a:t>
            </a:r>
            <a:endParaRPr lang="fr-CA" sz="8000" dirty="0"/>
          </a:p>
          <a:p>
            <a:pPr marL="357188" indent="0">
              <a:buNone/>
            </a:pPr>
            <a:r>
              <a:rPr lang="fr-CA" sz="8000" i="1" dirty="0"/>
              <a:t>i)     soit l'entreprise qui émet les actions rachetables au gré du porteur ou obligatoirement rachetables ne reçoit aucune contrepartie,</a:t>
            </a:r>
            <a:endParaRPr lang="fr-CA" sz="8000" dirty="0"/>
          </a:p>
          <a:p>
            <a:pPr marL="357188" indent="0">
              <a:buNone/>
            </a:pPr>
            <a:r>
              <a:rPr lang="fr-CA" sz="8000" i="1" dirty="0"/>
              <a:t>ii)     soit seules des actions de l'entreprise qui émet les actions rachetables au gré du porteur ou obligatoirement rachetables sont échangées;</a:t>
            </a:r>
            <a:endParaRPr lang="fr-CA" sz="8000" dirty="0"/>
          </a:p>
          <a:p>
            <a:pPr marL="0" indent="0">
              <a:buNone/>
            </a:pPr>
            <a:r>
              <a:rPr lang="fr-CA" sz="8000" i="1" dirty="0"/>
              <a:t>c)     </a:t>
            </a:r>
            <a:r>
              <a:rPr lang="fr-CA" sz="8000" i="1" u="sng" dirty="0"/>
              <a:t>il n'existe aucun autre accord écrit ou verbal, comme un calendrier de rachat, qui donne au porteur des actions le droit contractuel de réclamer le rachat des actions par l'entreprise à une date fixe ou déterminable ou dans un délai fixe ou déterminable</a:t>
            </a:r>
            <a:r>
              <a:rPr lang="fr-CA" sz="8000" i="1" dirty="0"/>
              <a:t>.</a:t>
            </a:r>
            <a:endParaRPr lang="fr-CA" sz="8000" dirty="0"/>
          </a:p>
          <a:p>
            <a:pPr marL="0" indent="0">
              <a:buNone/>
            </a:pPr>
            <a:r>
              <a:rPr lang="fr-CA" sz="8000" dirty="0"/>
              <a:t>     </a:t>
            </a:r>
            <a:r>
              <a:rPr lang="fr-CA" sz="8000" i="1" dirty="0">
                <a:solidFill>
                  <a:srgbClr val="FF0000"/>
                </a:solidFill>
              </a:rPr>
              <a:t>Si l'une ou l'autre de ces conditions n'est pas remplie</a:t>
            </a:r>
            <a:r>
              <a:rPr lang="fr-CA" sz="8000" i="1" dirty="0"/>
              <a:t> pour une partie ou la totalité des actions émises, l'émetteur doit classer ces actions </a:t>
            </a:r>
            <a:r>
              <a:rPr lang="fr-CA" sz="8000" i="1" u="sng" dirty="0">
                <a:solidFill>
                  <a:srgbClr val="FF0000"/>
                </a:solidFill>
              </a:rPr>
              <a:t>comme passifs financiers</a:t>
            </a:r>
            <a:r>
              <a:rPr lang="fr-CA" sz="8000" i="1" dirty="0"/>
              <a:t>, les présenter sous un poste distinct dans le bilan et les évaluer conformément au paragraphe 3856.09A. Tout ajustement qui en résulte doit être comptabilisé soit dans les bénéfices non répartis, soit sous un poste distinct dans les capitaux propres</a:t>
            </a:r>
            <a:r>
              <a:rPr lang="fr-CA" sz="8000" dirty="0"/>
              <a:t> (voir le chapitre 3251, CAPITAUX PROPRES).</a:t>
            </a:r>
            <a:endParaRPr lang="fr-CA" sz="5600"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35</a:t>
            </a:fld>
            <a:endParaRPr lang="fr-FR"/>
          </a:p>
        </p:txBody>
      </p:sp>
      <p:sp>
        <p:nvSpPr>
          <p:cNvPr id="5" name="Espace réservé du pied de page 4">
            <a:extLst>
              <a:ext uri="{FF2B5EF4-FFF2-40B4-BE49-F238E27FC236}">
                <a16:creationId xmlns:a16="http://schemas.microsoft.com/office/drawing/2014/main" id="{368C6CB9-67EB-4177-A4CB-DC789D797D12}"/>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4308182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CA" sz="3100" dirty="0"/>
              <a:t>NCECF : Actions rachetables au gré du porteur ou obligatoirement rachetables émises dans une opération de planification fiscale</a:t>
            </a:r>
            <a:endParaRPr lang="fr-CA" dirty="0"/>
          </a:p>
        </p:txBody>
      </p:sp>
      <p:sp>
        <p:nvSpPr>
          <p:cNvPr id="3" name="Espace réservé du contenu 2"/>
          <p:cNvSpPr>
            <a:spLocks noGrp="1"/>
          </p:cNvSpPr>
          <p:nvPr>
            <p:ph idx="1"/>
          </p:nvPr>
        </p:nvSpPr>
        <p:spPr>
          <a:xfrm>
            <a:off x="838200" y="1921397"/>
            <a:ext cx="10609162" cy="4305784"/>
          </a:xfrm>
        </p:spPr>
        <p:txBody>
          <a:bodyPr>
            <a:normAutofit/>
          </a:bodyPr>
          <a:lstStyle/>
          <a:p>
            <a:pPr marL="0" indent="0">
              <a:buNone/>
            </a:pPr>
            <a:r>
              <a:rPr lang="fr-CA" sz="2200" dirty="0"/>
              <a:t>.23A     </a:t>
            </a:r>
            <a:r>
              <a:rPr lang="fr-CA" sz="2200" i="1" dirty="0"/>
              <a:t>L'entreprise qui émet, dans une opération de planification fiscale, des actions rachetables au gré du porteur ou obligatoirement rachetables peut choisir de présenter ces actions comme passifs financiers. L'entreprise qui fait ce choix présente les actions sous un poste distinct dans le bilan et les évalue conformément au paragraphe</a:t>
            </a:r>
            <a:r>
              <a:rPr lang="fr-CA" sz="2200" dirty="0"/>
              <a:t> 3856.09A</a:t>
            </a:r>
            <a:r>
              <a:rPr lang="fr-CA" sz="2200" i="1" dirty="0"/>
              <a:t>. Tout ajustement qui en résulte doit être comptabilisé soit dans les bénéfices non répartis, soit sous un poste distinct dans les capitaux propres</a:t>
            </a:r>
            <a:r>
              <a:rPr lang="fr-CA" sz="2200" dirty="0"/>
              <a:t> (voir le chapitre 3251, CAPITAUX PROPRES)</a:t>
            </a:r>
            <a:r>
              <a:rPr lang="fr-CA" sz="2200" i="1" dirty="0"/>
              <a:t>.</a:t>
            </a:r>
            <a:endParaRPr lang="fr-CA" sz="2200" dirty="0"/>
          </a:p>
          <a:p>
            <a:pPr marL="0" indent="0">
              <a:buNone/>
            </a:pPr>
            <a:r>
              <a:rPr lang="fr-CA" sz="2200" dirty="0"/>
              <a:t>.23AA     </a:t>
            </a:r>
            <a:r>
              <a:rPr lang="fr-CA" sz="2200" i="1" dirty="0"/>
              <a:t>Les actions rachetables au gré du porteur ou obligatoirement rachetables émises dans une opération de planification fiscale qui sont classées comme passifs financiers conformément aux paragraphes</a:t>
            </a:r>
            <a:r>
              <a:rPr lang="fr-CA" sz="2200" dirty="0"/>
              <a:t> 3856.23 et 3856.23A ne peuvent pas être reclassées ultérieurement comme capitaux propres.</a:t>
            </a:r>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36</a:t>
            </a:fld>
            <a:endParaRPr lang="fr-FR"/>
          </a:p>
        </p:txBody>
      </p:sp>
      <p:sp>
        <p:nvSpPr>
          <p:cNvPr id="5" name="Espace réservé du pied de page 4">
            <a:extLst>
              <a:ext uri="{FF2B5EF4-FFF2-40B4-BE49-F238E27FC236}">
                <a16:creationId xmlns:a16="http://schemas.microsoft.com/office/drawing/2014/main" id="{477C740F-E88C-4EAB-8964-FCE394ADA85B}"/>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2204976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833377" y="499665"/>
            <a:ext cx="10718157" cy="1143000"/>
          </a:xfrm>
        </p:spPr>
        <p:txBody>
          <a:bodyPr>
            <a:normAutofit fontScale="90000"/>
          </a:bodyPr>
          <a:lstStyle/>
          <a:p>
            <a:r>
              <a:rPr lang="fr-CA" dirty="0"/>
              <a:t>Actions préférentielles rachetables émises à titre de planification fiscale - NCECF</a:t>
            </a:r>
            <a:endParaRPr lang="fr-FR" dirty="0"/>
          </a:p>
        </p:txBody>
      </p:sp>
      <p:sp>
        <p:nvSpPr>
          <p:cNvPr id="3" name="Espace réservé du contenu 2"/>
          <p:cNvSpPr>
            <a:spLocks noGrp="1"/>
          </p:cNvSpPr>
          <p:nvPr>
            <p:ph idx="1"/>
          </p:nvPr>
        </p:nvSpPr>
        <p:spPr>
          <a:xfrm>
            <a:off x="914400" y="2320291"/>
            <a:ext cx="10637134" cy="3805873"/>
          </a:xfrm>
        </p:spPr>
        <p:txBody>
          <a:bodyPr>
            <a:normAutofit/>
          </a:bodyPr>
          <a:lstStyle/>
          <a:p>
            <a:pPr marL="0" indent="0">
              <a:buNone/>
            </a:pPr>
            <a:r>
              <a:rPr lang="fr-FR" dirty="0"/>
              <a:t>Alexandre veut transférer son entreprise à ses enfants mais voudrait reporter l’impôt en utilisant le roulement de l’article 85. Il reçoit en échange du transfert de ses actions ordinaires valeur comptable 1000 $ des actions privilégiées remboursables au montant de la juste valeur de l’entreprise lors de la conversion, soit 800 000 $</a:t>
            </a:r>
          </a:p>
          <a:p>
            <a:pPr>
              <a:buFont typeface="Wingdings" panose="05000000000000000000" pitchFamily="2" charset="2"/>
              <a:buChar char="Ø"/>
            </a:pPr>
            <a:r>
              <a:rPr lang="fr-FR" i="1" dirty="0"/>
              <a:t>Préparer les écritures à la conversion et lors de la demande de rachat 2 ans plus tard</a:t>
            </a:r>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37</a:t>
            </a:fld>
            <a:endParaRPr lang="fr-FR"/>
          </a:p>
        </p:txBody>
      </p:sp>
      <p:sp>
        <p:nvSpPr>
          <p:cNvPr id="5" name="Espace réservé du pied de page 4">
            <a:extLst>
              <a:ext uri="{FF2B5EF4-FFF2-40B4-BE49-F238E27FC236}">
                <a16:creationId xmlns:a16="http://schemas.microsoft.com/office/drawing/2014/main" id="{ACEE64E3-0B56-4397-89C8-5B72EA17B625}"/>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8464604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sz="3600" dirty="0"/>
              <a:t>Actions préférentielles rachetables émises à titre de planification fiscale</a:t>
            </a:r>
            <a:endParaRPr lang="fr-FR" sz="3600" dirty="0"/>
          </a:p>
        </p:txBody>
      </p:sp>
      <p:sp>
        <p:nvSpPr>
          <p:cNvPr id="3" name="Espace réservé du contenu 2"/>
          <p:cNvSpPr>
            <a:spLocks noGrp="1"/>
          </p:cNvSpPr>
          <p:nvPr>
            <p:ph idx="1"/>
          </p:nvPr>
        </p:nvSpPr>
        <p:spPr>
          <a:xfrm>
            <a:off x="972273" y="1690689"/>
            <a:ext cx="9238527" cy="4665662"/>
          </a:xfrm>
        </p:spPr>
        <p:txBody>
          <a:bodyPr>
            <a:normAutofit fontScale="62500" lnSpcReduction="20000"/>
          </a:bodyPr>
          <a:lstStyle/>
          <a:p>
            <a:pPr marL="0" indent="0">
              <a:buNone/>
            </a:pPr>
            <a:r>
              <a:rPr lang="fr-FR" b="1" dirty="0"/>
              <a:t>IFRS : </a:t>
            </a:r>
            <a:r>
              <a:rPr lang="fr-FR" dirty="0"/>
              <a:t>dette au moment de la conversion </a:t>
            </a:r>
          </a:p>
          <a:p>
            <a:pPr marL="0" indent="0">
              <a:buNone/>
            </a:pPr>
            <a:r>
              <a:rPr lang="fr-FR" dirty="0"/>
              <a:t>Actions ordinaires		        1 000</a:t>
            </a:r>
          </a:p>
          <a:p>
            <a:pPr marL="0" indent="0">
              <a:buNone/>
            </a:pPr>
            <a:r>
              <a:rPr lang="fr-FR" dirty="0"/>
              <a:t>RND			   799 000</a:t>
            </a:r>
          </a:p>
          <a:p>
            <a:pPr marL="0" indent="0">
              <a:buNone/>
            </a:pPr>
            <a:r>
              <a:rPr lang="fr-FR" dirty="0"/>
              <a:t>@  Dette				800 000</a:t>
            </a:r>
          </a:p>
          <a:p>
            <a:pPr marL="0" indent="0">
              <a:buNone/>
            </a:pPr>
            <a:endParaRPr lang="fr-FR" dirty="0"/>
          </a:p>
          <a:p>
            <a:pPr marL="0" indent="0">
              <a:buNone/>
            </a:pPr>
            <a:r>
              <a:rPr lang="fr-FR" b="1" dirty="0"/>
              <a:t>NCECF</a:t>
            </a:r>
            <a:r>
              <a:rPr lang="fr-FR" dirty="0"/>
              <a:t> si respect critères : 		</a:t>
            </a:r>
            <a:r>
              <a:rPr lang="fr-FR" i="1" dirty="0"/>
              <a:t> </a:t>
            </a:r>
            <a:r>
              <a:rPr lang="fr-FR" i="1" dirty="0">
                <a:solidFill>
                  <a:srgbClr val="FF0000"/>
                </a:solidFill>
              </a:rPr>
              <a:t>(si ne respecte pas critères = IFRS)</a:t>
            </a:r>
            <a:endParaRPr lang="fr-FR" dirty="0">
              <a:solidFill>
                <a:srgbClr val="FF0000"/>
              </a:solidFill>
            </a:endParaRPr>
          </a:p>
          <a:p>
            <a:pPr marL="0" indent="0">
              <a:buNone/>
            </a:pPr>
            <a:r>
              <a:rPr lang="fr-FR" dirty="0"/>
              <a:t>Lors de la conversion :</a:t>
            </a:r>
          </a:p>
          <a:p>
            <a:pPr marL="0" indent="0">
              <a:buNone/>
            </a:pPr>
            <a:r>
              <a:rPr lang="fr-FR" dirty="0"/>
              <a:t>Actions ordinaires		    1 000</a:t>
            </a:r>
          </a:p>
          <a:p>
            <a:pPr marL="0" indent="0">
              <a:buNone/>
            </a:pPr>
            <a:r>
              <a:rPr lang="fr-FR" dirty="0"/>
              <a:t>@ Actions privilégiées - CP		    1 000</a:t>
            </a:r>
          </a:p>
          <a:p>
            <a:pPr marL="0" indent="0">
              <a:buNone/>
            </a:pPr>
            <a:endParaRPr lang="fr-FR" sz="1500" dirty="0"/>
          </a:p>
          <a:p>
            <a:pPr marL="0" indent="0">
              <a:buNone/>
            </a:pPr>
            <a:r>
              <a:rPr lang="fr-FR" dirty="0"/>
              <a:t>Lors de la demande de rachat :</a:t>
            </a:r>
          </a:p>
          <a:p>
            <a:pPr marL="0" indent="0">
              <a:buNone/>
            </a:pPr>
            <a:r>
              <a:rPr lang="fr-FR" dirty="0"/>
              <a:t>Actions privilégiées- CP	    1 000</a:t>
            </a:r>
          </a:p>
          <a:p>
            <a:pPr marL="0" indent="0">
              <a:buNone/>
            </a:pPr>
            <a:r>
              <a:rPr lang="fr-FR" dirty="0"/>
              <a:t>BNR			799 000</a:t>
            </a:r>
          </a:p>
          <a:p>
            <a:pPr marL="0" indent="0">
              <a:buNone/>
            </a:pPr>
            <a:r>
              <a:rPr lang="fr-FR" dirty="0"/>
              <a:t>@ Actions </a:t>
            </a:r>
            <a:r>
              <a:rPr lang="fr-FR" dirty="0" err="1"/>
              <a:t>priv</a:t>
            </a:r>
            <a:r>
              <a:rPr lang="fr-FR" dirty="0"/>
              <a:t> - Dette			800 000</a:t>
            </a:r>
          </a:p>
          <a:p>
            <a:pPr marL="0" indent="0">
              <a:buNone/>
            </a:pPr>
            <a:r>
              <a:rPr lang="fr-FR" sz="2600" i="1" dirty="0"/>
              <a:t>Déterminez s’il faut actualiser la dette de 800 000 $</a:t>
            </a:r>
            <a:endParaRPr lang="fr-FR" dirty="0"/>
          </a:p>
          <a:p>
            <a:pPr marL="0" indent="0">
              <a:buNone/>
            </a:pPr>
            <a:endParaRPr lang="fr-FR" dirty="0"/>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38</a:t>
            </a:fld>
            <a:endParaRPr lang="fr-FR"/>
          </a:p>
        </p:txBody>
      </p:sp>
      <p:sp>
        <p:nvSpPr>
          <p:cNvPr id="5" name="Espace réservé du pied de page 4">
            <a:extLst>
              <a:ext uri="{FF2B5EF4-FFF2-40B4-BE49-F238E27FC236}">
                <a16:creationId xmlns:a16="http://schemas.microsoft.com/office/drawing/2014/main" id="{361AB79C-D08B-454D-A331-7BD3C98E17A5}"/>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3131951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Risques financiers</a:t>
            </a:r>
          </a:p>
        </p:txBody>
      </p:sp>
      <p:sp>
        <p:nvSpPr>
          <p:cNvPr id="3" name="Espace réservé du contenu 2"/>
          <p:cNvSpPr>
            <a:spLocks noGrp="1"/>
          </p:cNvSpPr>
          <p:nvPr>
            <p:ph idx="1"/>
          </p:nvPr>
        </p:nvSpPr>
        <p:spPr>
          <a:xfrm>
            <a:off x="838200" y="1585732"/>
            <a:ext cx="10515600" cy="4591231"/>
          </a:xfrm>
        </p:spPr>
        <p:txBody>
          <a:bodyPr>
            <a:normAutofit fontScale="62500" lnSpcReduction="20000"/>
          </a:bodyPr>
          <a:lstStyle/>
          <a:p>
            <a:pPr>
              <a:buClr>
                <a:schemeClr val="accent2"/>
              </a:buClr>
            </a:pPr>
            <a:r>
              <a:rPr lang="fr-CA" sz="3200" b="1" dirty="0">
                <a:solidFill>
                  <a:srgbClr val="0070C0"/>
                </a:solidFill>
              </a:rPr>
              <a:t>Risque de crédit</a:t>
            </a:r>
            <a:r>
              <a:rPr lang="fr-CA" sz="3200" dirty="0"/>
              <a:t> : risque qu'une partie à un instrument financier manque à une de ses obligations et amène de ce fait l'autre partie à subir une perte financière</a:t>
            </a:r>
          </a:p>
          <a:p>
            <a:pPr>
              <a:buClr>
                <a:schemeClr val="accent2"/>
              </a:buClr>
            </a:pPr>
            <a:r>
              <a:rPr lang="fr-CA" sz="3200" b="1" dirty="0">
                <a:solidFill>
                  <a:srgbClr val="0070C0"/>
                </a:solidFill>
              </a:rPr>
              <a:t>Risque de liquidité </a:t>
            </a:r>
            <a:r>
              <a:rPr lang="fr-CA" sz="3200" dirty="0"/>
              <a:t>: risque qu'une entité éprouve des difficultés à honorer des engagements liés à des passifs financiers</a:t>
            </a:r>
          </a:p>
          <a:p>
            <a:pPr>
              <a:buClr>
                <a:schemeClr val="accent2"/>
              </a:buClr>
            </a:pPr>
            <a:r>
              <a:rPr lang="fr-CA" sz="3200" b="1" dirty="0">
                <a:solidFill>
                  <a:srgbClr val="0070C0"/>
                </a:solidFill>
              </a:rPr>
              <a:t>Risque de marché </a:t>
            </a:r>
            <a:r>
              <a:rPr lang="fr-CA" sz="3200" dirty="0"/>
              <a:t>: risque que la juste valeur ou les flux de trésorerie futurs d'un instrument financier fluctuent en raison des variations des prix du marché</a:t>
            </a:r>
          </a:p>
          <a:p>
            <a:pPr marL="685800" lvl="2">
              <a:spcBef>
                <a:spcPts val="1000"/>
              </a:spcBef>
              <a:buClr>
                <a:schemeClr val="accent2"/>
              </a:buClr>
            </a:pPr>
            <a:r>
              <a:rPr lang="fr-CA" sz="3300" dirty="0"/>
              <a:t>Le risque de marché inclut trois types de risque: le </a:t>
            </a:r>
            <a:r>
              <a:rPr lang="fr-CA" sz="3300" dirty="0">
                <a:solidFill>
                  <a:srgbClr val="0070C0"/>
                </a:solidFill>
              </a:rPr>
              <a:t>risque de taux d'intérêt</a:t>
            </a:r>
            <a:r>
              <a:rPr lang="fr-CA" sz="3300" dirty="0"/>
              <a:t>, le </a:t>
            </a:r>
            <a:r>
              <a:rPr lang="fr-CA" sz="3300" dirty="0">
                <a:solidFill>
                  <a:srgbClr val="0070C0"/>
                </a:solidFill>
              </a:rPr>
              <a:t>risque de change </a:t>
            </a:r>
            <a:r>
              <a:rPr lang="fr-CA" sz="3300" dirty="0"/>
              <a:t>et les </a:t>
            </a:r>
            <a:r>
              <a:rPr lang="fr-CA" sz="3300" dirty="0">
                <a:solidFill>
                  <a:srgbClr val="0070C0"/>
                </a:solidFill>
              </a:rPr>
              <a:t>autres risques de prix</a:t>
            </a:r>
            <a:r>
              <a:rPr lang="fr-CA" sz="3300" dirty="0"/>
              <a:t>.</a:t>
            </a:r>
            <a:endParaRPr lang="fr-CA" sz="2800" dirty="0"/>
          </a:p>
          <a:p>
            <a:pPr marL="0" indent="0">
              <a:buNone/>
            </a:pPr>
            <a:endParaRPr lang="fr-CA" dirty="0"/>
          </a:p>
          <a:p>
            <a:pPr marL="0" indent="0">
              <a:buNone/>
            </a:pPr>
            <a:r>
              <a:rPr lang="fr-CA" dirty="0"/>
              <a:t>Couvrir le risque en tout ou en partie</a:t>
            </a:r>
          </a:p>
          <a:p>
            <a:r>
              <a:rPr lang="fr-CA" dirty="0"/>
              <a:t>Risque de prix : fixer le prix</a:t>
            </a:r>
          </a:p>
          <a:p>
            <a:r>
              <a:rPr lang="fr-CA" dirty="0"/>
              <a:t>Risque de taux d’intérêt : variation taux d’intérêt</a:t>
            </a:r>
          </a:p>
          <a:p>
            <a:r>
              <a:rPr lang="fr-CA" dirty="0"/>
              <a:t>Risque de change : variation taux de change</a:t>
            </a:r>
          </a:p>
          <a:p>
            <a:r>
              <a:rPr lang="fr-CA" dirty="0"/>
              <a:t>Risque de crédit (de contrepartie) : assurance</a:t>
            </a:r>
          </a:p>
          <a:p>
            <a:r>
              <a:rPr lang="fr-CA" dirty="0"/>
              <a:t>Risque de liquidité (ou de financement) : prévenir…</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39</a:t>
            </a:fld>
            <a:endParaRPr lang="fr-FR"/>
          </a:p>
        </p:txBody>
      </p:sp>
      <p:sp>
        <p:nvSpPr>
          <p:cNvPr id="5" name="Espace réservé du pied de page 4">
            <a:extLst>
              <a:ext uri="{FF2B5EF4-FFF2-40B4-BE49-F238E27FC236}">
                <a16:creationId xmlns:a16="http://schemas.microsoft.com/office/drawing/2014/main" id="{50EAFDB5-1AF9-46F8-9C6C-0AB3A7416BA4}"/>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0539089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4B94EA5-3082-420F-9090-AF1845731A19}"/>
              </a:ext>
            </a:extLst>
          </p:cNvPr>
          <p:cNvSpPr>
            <a:spLocks noGrp="1"/>
          </p:cNvSpPr>
          <p:nvPr>
            <p:ph type="title"/>
          </p:nvPr>
        </p:nvSpPr>
        <p:spPr>
          <a:xfrm>
            <a:off x="838200" y="365126"/>
            <a:ext cx="10515600" cy="511568"/>
          </a:xfrm>
        </p:spPr>
        <p:txBody>
          <a:bodyPr>
            <a:noAutofit/>
          </a:bodyPr>
          <a:lstStyle/>
          <a:p>
            <a:r>
              <a:rPr lang="fr-CA" sz="3600" dirty="0"/>
              <a:t>IFRS 9 - </a:t>
            </a:r>
            <a:r>
              <a:rPr lang="fr-CA" sz="2800" dirty="0"/>
              <a:t>contrats d’achat ou de vente d’un élément non financier</a:t>
            </a:r>
            <a:endParaRPr lang="fr-FR" sz="3600" dirty="0"/>
          </a:p>
        </p:txBody>
      </p:sp>
      <p:sp>
        <p:nvSpPr>
          <p:cNvPr id="3" name="Espace réservé du contenu 2">
            <a:extLst>
              <a:ext uri="{FF2B5EF4-FFF2-40B4-BE49-F238E27FC236}">
                <a16:creationId xmlns:a16="http://schemas.microsoft.com/office/drawing/2014/main" id="{856B754F-5A7E-474C-9E3F-34BA2B1D02B9}"/>
              </a:ext>
            </a:extLst>
          </p:cNvPr>
          <p:cNvSpPr>
            <a:spLocks noGrp="1"/>
          </p:cNvSpPr>
          <p:nvPr>
            <p:ph idx="1"/>
          </p:nvPr>
        </p:nvSpPr>
        <p:spPr>
          <a:xfrm>
            <a:off x="838200" y="1121790"/>
            <a:ext cx="10515600" cy="5175315"/>
          </a:xfrm>
        </p:spPr>
        <p:txBody>
          <a:bodyPr>
            <a:normAutofit fontScale="92500" lnSpcReduction="20000"/>
          </a:bodyPr>
          <a:lstStyle/>
          <a:p>
            <a:pPr marL="0" indent="0">
              <a:buNone/>
            </a:pPr>
            <a:r>
              <a:rPr lang="fr-CA" sz="2500" dirty="0"/>
              <a:t>2.4     </a:t>
            </a:r>
            <a:r>
              <a:rPr lang="fr-CA" sz="2500" u="sng" dirty="0"/>
              <a:t>La présente norme doit être appliquée </a:t>
            </a:r>
            <a:r>
              <a:rPr lang="fr-CA" sz="2500" dirty="0"/>
              <a:t>aux contrats d'achat ou de vente d'un élément non financier </a:t>
            </a:r>
            <a:r>
              <a:rPr lang="fr-CA" sz="2500" u="sng" dirty="0"/>
              <a:t>qui peuvent faire l'objet d'un règlement net en trésorerie</a:t>
            </a:r>
            <a:r>
              <a:rPr lang="fr-CA" sz="2500" dirty="0"/>
              <a:t>, en un autre instrument financier ou par l'échange d'instruments financiers, comme si ces contrats étaient des instruments financiers, </a:t>
            </a:r>
            <a:r>
              <a:rPr lang="fr-CA" sz="2500" u="sng" dirty="0"/>
              <a:t>à l'exception des contrats conclus et maintenus en vue de la réception ou de la livraison d'un élément non financier selon les besoins prévus de l'entité en matière d'achat, de vente ou d'utilisation</a:t>
            </a:r>
            <a:r>
              <a:rPr lang="fr-CA" sz="2500" dirty="0"/>
              <a:t>. La présente norme doit toutefois être appliquée aux contrats que l'entité désigne comme étant évalués à la juste valeur par le biais du résultat net selon le paragraphe </a:t>
            </a:r>
            <a:r>
              <a:rPr lang="fr-CA" sz="2500" dirty="0">
                <a:hlinkClick r:id="rId2"/>
              </a:rPr>
              <a:t>2.5</a:t>
            </a:r>
            <a:r>
              <a:rPr lang="fr-CA" sz="2500" dirty="0"/>
              <a:t>.</a:t>
            </a:r>
          </a:p>
          <a:p>
            <a:pPr marL="0" indent="0">
              <a:buNone/>
            </a:pPr>
            <a:r>
              <a:rPr lang="fr-CA" sz="2500" dirty="0"/>
              <a:t>2.5     Un contrat d'achat ou de vente d'un élément non financier qui peut faire l'objet d'un règlement net en trésorerie ou en un autre instrument financier, ou par l'échange d'instruments financiers, comme si ce contrat était un instrument financier, peut être désigné irrévocablement comme étant évalué à la juste valeur par le biais du résultat net même s'il a été conclu en vue de la réception ou de la livraison d'un élément non financier selon les besoins prévus de l'entité en matière d'achat, de vente ou d'utilisation. Cette désignation n'est possible qu'au moment de la passation du contrat et seulement si elle élimine ou réduit de façon importante une incohérence dans la comptabilisation (parfois appelée « non-concordance comptable ») qui, autrement, découlerait de la non-comptabilisation de ce contrat au motif qu'il est exclu du champ d'application de la présente norme (voir paragraphe </a:t>
            </a:r>
            <a:r>
              <a:rPr lang="fr-CA" sz="2500" dirty="0">
                <a:hlinkClick r:id="rId2"/>
              </a:rPr>
              <a:t>2.4</a:t>
            </a:r>
            <a:r>
              <a:rPr lang="fr-CA" sz="2500" dirty="0"/>
              <a:t>).</a:t>
            </a:r>
          </a:p>
          <a:p>
            <a:pPr marL="0" indent="0">
              <a:buNone/>
            </a:pPr>
            <a:endParaRPr lang="fr-FR" dirty="0"/>
          </a:p>
        </p:txBody>
      </p:sp>
      <p:sp>
        <p:nvSpPr>
          <p:cNvPr id="4" name="Espace réservé du pied de page 3">
            <a:extLst>
              <a:ext uri="{FF2B5EF4-FFF2-40B4-BE49-F238E27FC236}">
                <a16:creationId xmlns:a16="http://schemas.microsoft.com/office/drawing/2014/main" id="{4C95F3F9-1B4F-4149-AE70-D8C98D35D47D}"/>
              </a:ext>
            </a:extLst>
          </p:cNvPr>
          <p:cNvSpPr>
            <a:spLocks noGrp="1"/>
          </p:cNvSpPr>
          <p:nvPr>
            <p:ph type="ftr" sz="quarter" idx="11"/>
          </p:nvPr>
        </p:nvSpPr>
        <p:spPr/>
        <p:txBody>
          <a:bodyPr/>
          <a:lstStyle/>
          <a:p>
            <a:r>
              <a:rPr lang="fr-CA"/>
              <a:t>Droits réservés - Louise Overbeek</a:t>
            </a:r>
          </a:p>
        </p:txBody>
      </p:sp>
      <p:sp>
        <p:nvSpPr>
          <p:cNvPr id="5" name="Espace réservé du numéro de diapositive 4">
            <a:extLst>
              <a:ext uri="{FF2B5EF4-FFF2-40B4-BE49-F238E27FC236}">
                <a16:creationId xmlns:a16="http://schemas.microsoft.com/office/drawing/2014/main" id="{C42E1D59-8C67-4446-82A2-4B0BC9029DA8}"/>
              </a:ext>
            </a:extLst>
          </p:cNvPr>
          <p:cNvSpPr>
            <a:spLocks noGrp="1"/>
          </p:cNvSpPr>
          <p:nvPr>
            <p:ph type="sldNum" sz="quarter" idx="12"/>
          </p:nvPr>
        </p:nvSpPr>
        <p:spPr/>
        <p:txBody>
          <a:bodyPr/>
          <a:lstStyle/>
          <a:p>
            <a:fld id="{D5C8285E-D276-48ED-A38D-FCE3A7D9B93F}" type="slidenum">
              <a:rPr lang="fr-CA" smtClean="0"/>
              <a:t>40</a:t>
            </a:fld>
            <a:endParaRPr lang="fr-CA"/>
          </a:p>
        </p:txBody>
      </p:sp>
    </p:spTree>
    <p:extLst>
      <p:ext uri="{BB962C8B-B14F-4D97-AF65-F5344CB8AC3E}">
        <p14:creationId xmlns:p14="http://schemas.microsoft.com/office/powerpoint/2010/main" val="2871869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4B94EA5-3082-420F-9090-AF1845731A19}"/>
              </a:ext>
            </a:extLst>
          </p:cNvPr>
          <p:cNvSpPr>
            <a:spLocks noGrp="1"/>
          </p:cNvSpPr>
          <p:nvPr>
            <p:ph type="title"/>
          </p:nvPr>
        </p:nvSpPr>
        <p:spPr>
          <a:xfrm>
            <a:off x="838200" y="365126"/>
            <a:ext cx="10515600" cy="511568"/>
          </a:xfrm>
        </p:spPr>
        <p:txBody>
          <a:bodyPr>
            <a:noAutofit/>
          </a:bodyPr>
          <a:lstStyle/>
          <a:p>
            <a:r>
              <a:rPr lang="fr-CA" sz="3600" dirty="0"/>
              <a:t>IFRS 9 - </a:t>
            </a:r>
            <a:r>
              <a:rPr lang="fr-CA" sz="2800" dirty="0"/>
              <a:t>contrats d’achat ou de vente d’un élément non financier</a:t>
            </a:r>
            <a:endParaRPr lang="fr-FR" sz="3600" dirty="0"/>
          </a:p>
        </p:txBody>
      </p:sp>
      <p:sp>
        <p:nvSpPr>
          <p:cNvPr id="3" name="Espace réservé du contenu 2">
            <a:extLst>
              <a:ext uri="{FF2B5EF4-FFF2-40B4-BE49-F238E27FC236}">
                <a16:creationId xmlns:a16="http://schemas.microsoft.com/office/drawing/2014/main" id="{856B754F-5A7E-474C-9E3F-34BA2B1D02B9}"/>
              </a:ext>
            </a:extLst>
          </p:cNvPr>
          <p:cNvSpPr>
            <a:spLocks noGrp="1"/>
          </p:cNvSpPr>
          <p:nvPr>
            <p:ph idx="1"/>
          </p:nvPr>
        </p:nvSpPr>
        <p:spPr>
          <a:xfrm>
            <a:off x="838200" y="985520"/>
            <a:ext cx="10515600" cy="5507354"/>
          </a:xfrm>
        </p:spPr>
        <p:txBody>
          <a:bodyPr>
            <a:normAutofit fontScale="77500" lnSpcReduction="20000"/>
          </a:bodyPr>
          <a:lstStyle/>
          <a:p>
            <a:pPr marL="0" indent="0">
              <a:buNone/>
            </a:pPr>
            <a:r>
              <a:rPr lang="fr-CA" sz="2500" dirty="0"/>
              <a:t>2.6     Il existe plusieurs façons, pour un contrat d'achat ou de vente d'un élément non financier, de pouvoir faire l'objet d'un règlement net en trésorerie, en un autre instrument financier ou par l'échange d'instruments financiers. C'est le cas dans les situations suivantes :</a:t>
            </a:r>
          </a:p>
          <a:p>
            <a:pPr marL="0" indent="0">
              <a:buNone/>
            </a:pPr>
            <a:r>
              <a:rPr lang="fr-CA" sz="2500" dirty="0"/>
              <a:t>(a)     lorsque les conditions du contrat permettent à l'une ou l'autre partie de procéder à un règlement net en trésorerie, en un autre instrument financier ou par l'échange d'instruments financiers ;</a:t>
            </a:r>
          </a:p>
          <a:p>
            <a:pPr marL="0" indent="0">
              <a:buNone/>
            </a:pPr>
            <a:r>
              <a:rPr lang="fr-CA" sz="2500" dirty="0"/>
              <a:t>(b)     lorsque la possibilité de procéder à un règlement net en trésorerie, en un autre instrument financier ou par l'échange d'instruments financiers n'est pas explicite dans les conditions du contrat, mais que, pour des contrats similaires, l'entité a pour pratique de procéder à leur règlement net en trésorerie, en un autre instrument financier ou par l'échange d'instruments financiers (que ce soit avec la contrepartie, au moyen de contrats de compensation ou par la vente du contrat avant son exercice ou son échéance) ;</a:t>
            </a:r>
          </a:p>
          <a:p>
            <a:pPr marL="0" indent="0">
              <a:buNone/>
            </a:pPr>
            <a:r>
              <a:rPr lang="fr-CA" sz="2500" dirty="0"/>
              <a:t>(c)     lorsque, pour des contrats similaires, l'entité a pour pratique de prendre livraison du sous-jacent et de le vendre dans un bref délai après la livraison, dans le but de dégager un bénéfice des fluctuations à court terme du prix ou de la marge du contrepartiste ;</a:t>
            </a:r>
          </a:p>
          <a:p>
            <a:pPr marL="0" indent="0">
              <a:buNone/>
            </a:pPr>
            <a:r>
              <a:rPr lang="fr-CA" sz="2500" dirty="0"/>
              <a:t>(d)     lorsque l'élément non financier qui constitue l'objet du contrat est immédiatement convertible en trésorerie.</a:t>
            </a:r>
          </a:p>
          <a:p>
            <a:pPr marL="0" indent="0">
              <a:buNone/>
            </a:pPr>
            <a:r>
              <a:rPr lang="fr-CA" sz="2500" dirty="0"/>
              <a:t>     Un contrat auquel s'appliquent les points (b) ou (c) n'est pas conclu en vue de la réception ou de la livraison de l'élément non financier selon les besoins prévus de l'entité en matière d'achat, de vente ou d'utilisation et, par conséquent, entre dans le champ d'application de la présente norme. On évalue les autres contrats auxquels s'applique le paragraphe </a:t>
            </a:r>
            <a:r>
              <a:rPr lang="fr-CA" sz="2500" dirty="0">
                <a:hlinkClick r:id="rId2"/>
              </a:rPr>
              <a:t>2.4</a:t>
            </a:r>
            <a:r>
              <a:rPr lang="fr-CA" sz="2500" dirty="0"/>
              <a:t> pour déterminer s'ils ont été conclus et s'ils sont maintenus en vue de la réception ou de la livraison de l'élément non financier selon les besoins prévus de l'entité en matière d'achat, de vente ou d'utilisation et, par conséquent, s'ils entrent dans le champ d'application de la présente norme.</a:t>
            </a:r>
          </a:p>
        </p:txBody>
      </p:sp>
      <p:sp>
        <p:nvSpPr>
          <p:cNvPr id="4" name="Espace réservé du pied de page 3">
            <a:extLst>
              <a:ext uri="{FF2B5EF4-FFF2-40B4-BE49-F238E27FC236}">
                <a16:creationId xmlns:a16="http://schemas.microsoft.com/office/drawing/2014/main" id="{4C95F3F9-1B4F-4149-AE70-D8C98D35D47D}"/>
              </a:ext>
            </a:extLst>
          </p:cNvPr>
          <p:cNvSpPr>
            <a:spLocks noGrp="1"/>
          </p:cNvSpPr>
          <p:nvPr>
            <p:ph type="ftr" sz="quarter" idx="11"/>
          </p:nvPr>
        </p:nvSpPr>
        <p:spPr/>
        <p:txBody>
          <a:bodyPr/>
          <a:lstStyle/>
          <a:p>
            <a:r>
              <a:rPr lang="fr-CA"/>
              <a:t>Droits réservés - Louise Overbeek</a:t>
            </a:r>
          </a:p>
        </p:txBody>
      </p:sp>
      <p:sp>
        <p:nvSpPr>
          <p:cNvPr id="5" name="Espace réservé du numéro de diapositive 4">
            <a:extLst>
              <a:ext uri="{FF2B5EF4-FFF2-40B4-BE49-F238E27FC236}">
                <a16:creationId xmlns:a16="http://schemas.microsoft.com/office/drawing/2014/main" id="{C42E1D59-8C67-4446-82A2-4B0BC9029DA8}"/>
              </a:ext>
            </a:extLst>
          </p:cNvPr>
          <p:cNvSpPr>
            <a:spLocks noGrp="1"/>
          </p:cNvSpPr>
          <p:nvPr>
            <p:ph type="sldNum" sz="quarter" idx="12"/>
          </p:nvPr>
        </p:nvSpPr>
        <p:spPr/>
        <p:txBody>
          <a:bodyPr/>
          <a:lstStyle/>
          <a:p>
            <a:fld id="{D5C8285E-D276-48ED-A38D-FCE3A7D9B93F}" type="slidenum">
              <a:rPr lang="fr-CA" smtClean="0"/>
              <a:t>41</a:t>
            </a:fld>
            <a:endParaRPr lang="fr-CA"/>
          </a:p>
        </p:txBody>
      </p:sp>
    </p:spTree>
    <p:extLst>
      <p:ext uri="{BB962C8B-B14F-4D97-AF65-F5344CB8AC3E}">
        <p14:creationId xmlns:p14="http://schemas.microsoft.com/office/powerpoint/2010/main" val="2065471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4B94EA5-3082-420F-9090-AF1845731A19}"/>
              </a:ext>
            </a:extLst>
          </p:cNvPr>
          <p:cNvSpPr>
            <a:spLocks noGrp="1"/>
          </p:cNvSpPr>
          <p:nvPr>
            <p:ph type="title"/>
          </p:nvPr>
        </p:nvSpPr>
        <p:spPr>
          <a:xfrm>
            <a:off x="838200" y="365126"/>
            <a:ext cx="10515600" cy="511568"/>
          </a:xfrm>
        </p:spPr>
        <p:txBody>
          <a:bodyPr>
            <a:noAutofit/>
          </a:bodyPr>
          <a:lstStyle/>
          <a:p>
            <a:r>
              <a:rPr lang="fr-CA" sz="3600" dirty="0"/>
              <a:t>IFRS 9 - </a:t>
            </a:r>
            <a:r>
              <a:rPr lang="fr-CA" sz="2800" dirty="0"/>
              <a:t>contrats d’achat ou de vente d’un élément non financier</a:t>
            </a:r>
            <a:endParaRPr lang="fr-FR" sz="3600" dirty="0"/>
          </a:p>
        </p:txBody>
      </p:sp>
      <p:sp>
        <p:nvSpPr>
          <p:cNvPr id="3" name="Espace réservé du contenu 2">
            <a:extLst>
              <a:ext uri="{FF2B5EF4-FFF2-40B4-BE49-F238E27FC236}">
                <a16:creationId xmlns:a16="http://schemas.microsoft.com/office/drawing/2014/main" id="{856B754F-5A7E-474C-9E3F-34BA2B1D02B9}"/>
              </a:ext>
            </a:extLst>
          </p:cNvPr>
          <p:cNvSpPr>
            <a:spLocks noGrp="1"/>
          </p:cNvSpPr>
          <p:nvPr>
            <p:ph idx="1"/>
          </p:nvPr>
        </p:nvSpPr>
        <p:spPr>
          <a:xfrm>
            <a:off x="838200" y="1121790"/>
            <a:ext cx="10515600" cy="5175315"/>
          </a:xfrm>
        </p:spPr>
        <p:txBody>
          <a:bodyPr>
            <a:normAutofit/>
          </a:bodyPr>
          <a:lstStyle/>
          <a:p>
            <a:pPr marL="0" indent="0">
              <a:buNone/>
            </a:pPr>
            <a:r>
              <a:rPr lang="fr-CA" sz="2500" dirty="0"/>
              <a:t>2.7     Une option vendue d'achat ou de vente d'un élément non financier </a:t>
            </a:r>
            <a:r>
              <a:rPr lang="fr-CA" sz="2500" u="sng" dirty="0"/>
              <a:t>pouvant faire l'objet d'un règlement net en trésorerie</a:t>
            </a:r>
            <a:r>
              <a:rPr lang="fr-CA" sz="2500" dirty="0"/>
              <a:t>, en un autre instrument financier ou par l'échange d'instruments financiers selon le paragraphe </a:t>
            </a:r>
            <a:r>
              <a:rPr lang="fr-CA" sz="2500" dirty="0">
                <a:hlinkClick r:id="rId2"/>
              </a:rPr>
              <a:t>2.6</a:t>
            </a:r>
            <a:r>
              <a:rPr lang="fr-CA" sz="2500" dirty="0"/>
              <a:t>(a) ou (d) </a:t>
            </a:r>
            <a:r>
              <a:rPr lang="fr-CA" sz="2500" u="sng" dirty="0"/>
              <a:t>entre dans le champ d'application de la présente norme</a:t>
            </a:r>
            <a:r>
              <a:rPr lang="fr-CA" sz="2500" dirty="0"/>
              <a:t>. Un tel contrat ne peut être conclu en vue de la réception ou de la livraison de l'élément non financier selon les besoins prévus de l'entité en matière d'achat, de vente ou d'utilisation.</a:t>
            </a:r>
          </a:p>
          <a:p>
            <a:pPr marL="0" indent="0">
              <a:buNone/>
            </a:pPr>
            <a:endParaRPr lang="fr-FR" dirty="0"/>
          </a:p>
        </p:txBody>
      </p:sp>
      <p:sp>
        <p:nvSpPr>
          <p:cNvPr id="4" name="Espace réservé du pied de page 3">
            <a:extLst>
              <a:ext uri="{FF2B5EF4-FFF2-40B4-BE49-F238E27FC236}">
                <a16:creationId xmlns:a16="http://schemas.microsoft.com/office/drawing/2014/main" id="{4C95F3F9-1B4F-4149-AE70-D8C98D35D47D}"/>
              </a:ext>
            </a:extLst>
          </p:cNvPr>
          <p:cNvSpPr>
            <a:spLocks noGrp="1"/>
          </p:cNvSpPr>
          <p:nvPr>
            <p:ph type="ftr" sz="quarter" idx="11"/>
          </p:nvPr>
        </p:nvSpPr>
        <p:spPr/>
        <p:txBody>
          <a:bodyPr/>
          <a:lstStyle/>
          <a:p>
            <a:r>
              <a:rPr lang="fr-CA"/>
              <a:t>Droits réservés - Louise Overbeek</a:t>
            </a:r>
          </a:p>
        </p:txBody>
      </p:sp>
      <p:sp>
        <p:nvSpPr>
          <p:cNvPr id="5" name="Espace réservé du numéro de diapositive 4">
            <a:extLst>
              <a:ext uri="{FF2B5EF4-FFF2-40B4-BE49-F238E27FC236}">
                <a16:creationId xmlns:a16="http://schemas.microsoft.com/office/drawing/2014/main" id="{C42E1D59-8C67-4446-82A2-4B0BC9029DA8}"/>
              </a:ext>
            </a:extLst>
          </p:cNvPr>
          <p:cNvSpPr>
            <a:spLocks noGrp="1"/>
          </p:cNvSpPr>
          <p:nvPr>
            <p:ph type="sldNum" sz="quarter" idx="12"/>
          </p:nvPr>
        </p:nvSpPr>
        <p:spPr/>
        <p:txBody>
          <a:bodyPr/>
          <a:lstStyle/>
          <a:p>
            <a:fld id="{D5C8285E-D276-48ED-A38D-FCE3A7D9B93F}" type="slidenum">
              <a:rPr lang="fr-CA" smtClean="0"/>
              <a:t>42</a:t>
            </a:fld>
            <a:endParaRPr lang="fr-CA"/>
          </a:p>
        </p:txBody>
      </p:sp>
    </p:spTree>
    <p:extLst>
      <p:ext uri="{BB962C8B-B14F-4D97-AF65-F5344CB8AC3E}">
        <p14:creationId xmlns:p14="http://schemas.microsoft.com/office/powerpoint/2010/main" val="38914782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4B94EA5-3082-420F-9090-AF1845731A19}"/>
              </a:ext>
            </a:extLst>
          </p:cNvPr>
          <p:cNvSpPr>
            <a:spLocks noGrp="1"/>
          </p:cNvSpPr>
          <p:nvPr>
            <p:ph type="title"/>
          </p:nvPr>
        </p:nvSpPr>
        <p:spPr>
          <a:xfrm>
            <a:off x="838200" y="365126"/>
            <a:ext cx="10515600" cy="511568"/>
          </a:xfrm>
        </p:spPr>
        <p:txBody>
          <a:bodyPr>
            <a:noAutofit/>
          </a:bodyPr>
          <a:lstStyle/>
          <a:p>
            <a:r>
              <a:rPr lang="fr-CA" sz="3600" dirty="0">
                <a:solidFill>
                  <a:srgbClr val="FF0000"/>
                </a:solidFill>
              </a:rPr>
              <a:t>Chap. 3856 </a:t>
            </a:r>
            <a:r>
              <a:rPr lang="fr-CA" sz="3600" dirty="0"/>
              <a:t>- </a:t>
            </a:r>
            <a:r>
              <a:rPr lang="fr-CA" sz="2800" dirty="0"/>
              <a:t>contrats d’achat ou de vente d’un élément non financier</a:t>
            </a:r>
            <a:endParaRPr lang="fr-FR" sz="3600" dirty="0"/>
          </a:p>
        </p:txBody>
      </p:sp>
      <p:sp>
        <p:nvSpPr>
          <p:cNvPr id="3" name="Espace réservé du contenu 2">
            <a:extLst>
              <a:ext uri="{FF2B5EF4-FFF2-40B4-BE49-F238E27FC236}">
                <a16:creationId xmlns:a16="http://schemas.microsoft.com/office/drawing/2014/main" id="{856B754F-5A7E-474C-9E3F-34BA2B1D02B9}"/>
              </a:ext>
            </a:extLst>
          </p:cNvPr>
          <p:cNvSpPr>
            <a:spLocks noGrp="1"/>
          </p:cNvSpPr>
          <p:nvPr>
            <p:ph idx="1"/>
          </p:nvPr>
        </p:nvSpPr>
        <p:spPr>
          <a:xfrm>
            <a:off x="838200" y="1121790"/>
            <a:ext cx="10515600" cy="5175315"/>
          </a:xfrm>
        </p:spPr>
        <p:txBody>
          <a:bodyPr>
            <a:normAutofit/>
          </a:bodyPr>
          <a:lstStyle/>
          <a:p>
            <a:pPr marL="0" indent="0">
              <a:buNone/>
            </a:pPr>
            <a:r>
              <a:rPr lang="fr-CA" b="1" dirty="0"/>
              <a:t>OBJET ET CHAMP D'APPLICATION</a:t>
            </a:r>
          </a:p>
          <a:p>
            <a:pPr marL="0" indent="0">
              <a:buNone/>
            </a:pPr>
            <a:r>
              <a:rPr lang="fr-CA" sz="2000" dirty="0"/>
              <a:t>.04    </a:t>
            </a:r>
            <a:r>
              <a:rPr lang="fr-CA" sz="2000" dirty="0">
                <a:solidFill>
                  <a:srgbClr val="0070C0"/>
                </a:solidFill>
              </a:rPr>
              <a:t> Le présent chapitre </a:t>
            </a:r>
            <a:r>
              <a:rPr lang="fr-CA" sz="2000" u="sng" dirty="0">
                <a:solidFill>
                  <a:srgbClr val="0070C0"/>
                </a:solidFill>
              </a:rPr>
              <a:t>ne s'applique pas </a:t>
            </a:r>
            <a:r>
              <a:rPr lang="fr-CA" sz="2000" dirty="0"/>
              <a:t>:</a:t>
            </a:r>
          </a:p>
          <a:p>
            <a:pPr marL="0" indent="0">
              <a:buNone/>
            </a:pPr>
            <a:r>
              <a:rPr lang="fr-CA" sz="2000" dirty="0">
                <a:solidFill>
                  <a:srgbClr val="0070C0"/>
                </a:solidFill>
              </a:rPr>
              <a:t>a)     aux contrats d'achat ou de vente d'éléments non financiers, à moins que ce soit :</a:t>
            </a:r>
          </a:p>
          <a:p>
            <a:pPr marL="895350" indent="-452438">
              <a:buNone/>
            </a:pPr>
            <a:r>
              <a:rPr lang="fr-CA" sz="2000" dirty="0">
                <a:solidFill>
                  <a:srgbClr val="0070C0"/>
                </a:solidFill>
              </a:rPr>
              <a:t>i)     des contrats à terme boursiers,</a:t>
            </a:r>
          </a:p>
          <a:p>
            <a:pPr marL="895350" indent="-452438">
              <a:buNone/>
            </a:pPr>
            <a:r>
              <a:rPr lang="fr-CA" sz="2000" dirty="0">
                <a:solidFill>
                  <a:srgbClr val="0070C0"/>
                </a:solidFill>
              </a:rPr>
              <a:t>ii)     des contrats désignés comme éléments constitutifs d'une relation de couverture admissible selon les paragraphes </a:t>
            </a:r>
            <a:r>
              <a:rPr lang="fr-CA" sz="2000" dirty="0">
                <a:solidFill>
                  <a:srgbClr val="0070C0"/>
                </a:solidFill>
                <a:hlinkClick r:id="rId2">
                  <a:extLst>
                    <a:ext uri="{A12FA001-AC4F-418D-AE19-62706E023703}">
                      <ahyp:hlinkClr xmlns:ahyp="http://schemas.microsoft.com/office/drawing/2018/hyperlinkcolor" val="tx"/>
                    </a:ext>
                  </a:extLst>
                </a:hlinkClick>
              </a:rPr>
              <a:t>3856.30</a:t>
            </a:r>
            <a:r>
              <a:rPr lang="fr-CA" sz="2000" dirty="0">
                <a:solidFill>
                  <a:srgbClr val="0070C0"/>
                </a:solidFill>
              </a:rPr>
              <a:t> à .36;</a:t>
            </a:r>
          </a:p>
          <a:p>
            <a:pPr marL="0" indent="0">
              <a:buNone/>
            </a:pPr>
            <a:r>
              <a:rPr lang="fr-CA" sz="2000" dirty="0"/>
              <a:t>b)     aux actifs non financiers et aux passifs non financiers.</a:t>
            </a:r>
          </a:p>
          <a:p>
            <a:pPr marL="0" indent="0">
              <a:buNone/>
            </a:pPr>
            <a:endParaRPr lang="fr-FR" dirty="0"/>
          </a:p>
        </p:txBody>
      </p:sp>
      <p:sp>
        <p:nvSpPr>
          <p:cNvPr id="4" name="Espace réservé du pied de page 3">
            <a:extLst>
              <a:ext uri="{FF2B5EF4-FFF2-40B4-BE49-F238E27FC236}">
                <a16:creationId xmlns:a16="http://schemas.microsoft.com/office/drawing/2014/main" id="{616CECE3-390B-45D0-BB6D-377595502FF4}"/>
              </a:ext>
            </a:extLst>
          </p:cNvPr>
          <p:cNvSpPr>
            <a:spLocks noGrp="1"/>
          </p:cNvSpPr>
          <p:nvPr>
            <p:ph type="ftr" sz="quarter" idx="11"/>
          </p:nvPr>
        </p:nvSpPr>
        <p:spPr/>
        <p:txBody>
          <a:bodyPr/>
          <a:lstStyle/>
          <a:p>
            <a:r>
              <a:rPr lang="fr-CA"/>
              <a:t>Droits réservés - Louise Overbeek</a:t>
            </a:r>
          </a:p>
        </p:txBody>
      </p:sp>
      <p:sp>
        <p:nvSpPr>
          <p:cNvPr id="5" name="Espace réservé du numéro de diapositive 4">
            <a:extLst>
              <a:ext uri="{FF2B5EF4-FFF2-40B4-BE49-F238E27FC236}">
                <a16:creationId xmlns:a16="http://schemas.microsoft.com/office/drawing/2014/main" id="{1AB8EC68-A901-45E8-B26C-DCF17767321C}"/>
              </a:ext>
            </a:extLst>
          </p:cNvPr>
          <p:cNvSpPr>
            <a:spLocks noGrp="1"/>
          </p:cNvSpPr>
          <p:nvPr>
            <p:ph type="sldNum" sz="quarter" idx="12"/>
          </p:nvPr>
        </p:nvSpPr>
        <p:spPr/>
        <p:txBody>
          <a:bodyPr/>
          <a:lstStyle/>
          <a:p>
            <a:fld id="{D5C8285E-D276-48ED-A38D-FCE3A7D9B93F}" type="slidenum">
              <a:rPr lang="fr-CA" smtClean="0"/>
              <a:t>43</a:t>
            </a:fld>
            <a:endParaRPr lang="fr-CA"/>
          </a:p>
        </p:txBody>
      </p:sp>
    </p:spTree>
    <p:extLst>
      <p:ext uri="{BB962C8B-B14F-4D97-AF65-F5344CB8AC3E}">
        <p14:creationId xmlns:p14="http://schemas.microsoft.com/office/powerpoint/2010/main" val="25885448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61848" y="274638"/>
            <a:ext cx="10491952" cy="461632"/>
          </a:xfrm>
        </p:spPr>
        <p:txBody>
          <a:bodyPr>
            <a:normAutofit fontScale="90000"/>
          </a:bodyPr>
          <a:lstStyle/>
          <a:p>
            <a:r>
              <a:rPr lang="fr-FR" sz="4900" b="1" dirty="0" err="1"/>
              <a:t>Décomptabilisation</a:t>
            </a:r>
            <a:r>
              <a:rPr lang="fr-FR" dirty="0"/>
              <a:t> - actif</a:t>
            </a:r>
          </a:p>
        </p:txBody>
      </p:sp>
      <p:sp>
        <p:nvSpPr>
          <p:cNvPr id="3" name="Espace réservé du contenu 2"/>
          <p:cNvSpPr>
            <a:spLocks noGrp="1"/>
          </p:cNvSpPr>
          <p:nvPr>
            <p:ph idx="1"/>
          </p:nvPr>
        </p:nvSpPr>
        <p:spPr>
          <a:xfrm>
            <a:off x="717630" y="975360"/>
            <a:ext cx="10636170" cy="5380990"/>
          </a:xfrm>
        </p:spPr>
        <p:txBody>
          <a:bodyPr>
            <a:normAutofit fontScale="40000" lnSpcReduction="20000"/>
          </a:bodyPr>
          <a:lstStyle/>
          <a:p>
            <a:pPr marL="0" indent="0">
              <a:buNone/>
            </a:pPr>
            <a:r>
              <a:rPr lang="fr-CA" sz="6000" dirty="0"/>
              <a:t>L'entité ne doit </a:t>
            </a:r>
            <a:r>
              <a:rPr lang="fr-CA" sz="6000" dirty="0" err="1"/>
              <a:t>décomptabiliser</a:t>
            </a:r>
            <a:r>
              <a:rPr lang="fr-CA" sz="6000" dirty="0"/>
              <a:t> un actif financier que dans l'un ou l'autre des cas suivants :</a:t>
            </a:r>
          </a:p>
          <a:p>
            <a:pPr marL="457200" indent="-457200">
              <a:buNone/>
            </a:pPr>
            <a:r>
              <a:rPr lang="fr-CA" sz="6000" dirty="0"/>
              <a:t>(a)   les droits contractuels sur les flux de trésorerie de l'actif financier arrivent à expiration ;</a:t>
            </a:r>
          </a:p>
          <a:p>
            <a:pPr marL="457200" lvl="1" indent="-457200">
              <a:buNone/>
            </a:pPr>
            <a:r>
              <a:rPr lang="fr-CA" sz="6000" dirty="0"/>
              <a:t>(b)   l'entité transfère l'actif financier et cela répond à certaines conditions</a:t>
            </a:r>
          </a:p>
          <a:p>
            <a:pPr marL="450850" lvl="2" indent="-450850">
              <a:buNone/>
            </a:pPr>
            <a:r>
              <a:rPr lang="fr-CA" sz="2500" dirty="0"/>
              <a:t>	</a:t>
            </a:r>
            <a:r>
              <a:rPr lang="fr-CA" sz="5500" dirty="0"/>
              <a:t>L'entité qui transfère un actif financier doit </a:t>
            </a:r>
            <a:r>
              <a:rPr lang="fr-CA" sz="5500" b="1" dirty="0"/>
              <a:t>apprécier la mesure dans laquelle elle conserve les risques et avantages inhérents à la propriété de l'actif financier</a:t>
            </a:r>
            <a:r>
              <a:rPr lang="fr-CA" sz="4500" dirty="0"/>
              <a:t>. Selon le cas :</a:t>
            </a:r>
          </a:p>
          <a:p>
            <a:pPr marL="450850" lvl="3" indent="-450850">
              <a:buNone/>
            </a:pPr>
            <a:r>
              <a:rPr lang="fr-CA" sz="4500" dirty="0"/>
              <a:t>	(a)  si l'entité transfère la quasi-totalité des risques et avantages inhérents à la propriété de l'actif financier, elle doit </a:t>
            </a:r>
            <a:r>
              <a:rPr lang="fr-CA" sz="4500" dirty="0" err="1"/>
              <a:t>décomptabiliser</a:t>
            </a:r>
            <a:r>
              <a:rPr lang="fr-CA" sz="4500" dirty="0"/>
              <a:t> l'actif financier et comptabiliser séparément en tant qu'actifs ou en tant que passifs tous les droits et obligations créés ou conservés lors du transfert ;</a:t>
            </a:r>
          </a:p>
          <a:p>
            <a:pPr marL="450850" indent="-450850">
              <a:buNone/>
            </a:pPr>
            <a:r>
              <a:rPr lang="fr-CA" sz="4500" dirty="0"/>
              <a:t>	(b)  si l'entité conserve la quasi-totalité des risques et des avantages inhérents à la propriété de l'actif financier, elle doit laisser l'actif financier comptabilisé ;</a:t>
            </a:r>
          </a:p>
          <a:p>
            <a:pPr marL="450850" indent="-450850">
              <a:buNone/>
            </a:pPr>
            <a:r>
              <a:rPr lang="fr-CA" sz="4500" dirty="0"/>
              <a:t>	(c) si l'entité ne transfère ni ne conserve la quasi-totalité des risques et avantages inhérents à la propriété de l'actif financier, elle doit déterminer si elle conserve le contrôle de l'actif financier. Selon le cas :</a:t>
            </a:r>
          </a:p>
          <a:p>
            <a:pPr marL="903288" indent="-903288">
              <a:buNone/>
            </a:pPr>
            <a:r>
              <a:rPr lang="fr-CA" sz="4500" dirty="0"/>
              <a:t>		(i) si elle n'a plus le contrôle, elle doit </a:t>
            </a:r>
            <a:r>
              <a:rPr lang="fr-CA" sz="4500" dirty="0" err="1"/>
              <a:t>décomptabiliser</a:t>
            </a:r>
            <a:r>
              <a:rPr lang="fr-CA" sz="4500" dirty="0"/>
              <a:t> l'actif financier et comptabiliser séparément en tant qu'actifs ﻿ou en tant que passifs tous les droits et obligations créés ou conservés lors du transfert,</a:t>
            </a:r>
          </a:p>
          <a:p>
            <a:pPr marL="903288" indent="-903288">
              <a:buNone/>
            </a:pPr>
            <a:r>
              <a:rPr lang="fr-CA" sz="4500" dirty="0"/>
              <a:t>		(ii) si elle a encore le contrôle, elle doit laisser l'actif financier comptabilisé dans la mesure du lien qu'elle conserve avec celui-ci (voir paragraphe 3.2.16).</a:t>
            </a:r>
            <a:endParaRPr lang="fr-CA" sz="2500" dirty="0"/>
          </a:p>
          <a:p>
            <a:pPr marL="0" indent="0">
              <a:buNone/>
            </a:pPr>
            <a:r>
              <a:rPr lang="fr-CA" sz="4000" dirty="0"/>
              <a:t>(IFRS 9.3.2.3)</a:t>
            </a:r>
            <a:endParaRPr lang="fr-CA" sz="3800" dirty="0"/>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44</a:t>
            </a:fld>
            <a:endParaRPr lang="fr-FR"/>
          </a:p>
        </p:txBody>
      </p:sp>
      <p:sp>
        <p:nvSpPr>
          <p:cNvPr id="5" name="Espace réservé du pied de page 4">
            <a:extLst>
              <a:ext uri="{FF2B5EF4-FFF2-40B4-BE49-F238E27FC236}">
                <a16:creationId xmlns:a16="http://schemas.microsoft.com/office/drawing/2014/main" id="{1C94DE41-B84E-477B-B059-862DDAA781BB}"/>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388338241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Décomptabilisation</a:t>
            </a:r>
            <a:r>
              <a:rPr lang="fr-FR" dirty="0"/>
              <a:t> – actif</a:t>
            </a:r>
            <a:br>
              <a:rPr lang="fr-FR" dirty="0"/>
            </a:br>
            <a:r>
              <a:rPr lang="fr-FR" sz="3600" i="1" dirty="0">
                <a:solidFill>
                  <a:srgbClr val="0070C0"/>
                </a:solidFill>
              </a:rPr>
              <a:t>Voir fichier Word pour extraits norme</a:t>
            </a:r>
            <a:endParaRPr lang="fr-FR" dirty="0">
              <a:solidFill>
                <a:srgbClr val="0070C0"/>
              </a:solidFill>
            </a:endParaRPr>
          </a:p>
        </p:txBody>
      </p:sp>
      <p:sp>
        <p:nvSpPr>
          <p:cNvPr id="3" name="Espace réservé du contenu 2"/>
          <p:cNvSpPr>
            <a:spLocks noGrp="1"/>
          </p:cNvSpPr>
          <p:nvPr>
            <p:ph idx="1"/>
          </p:nvPr>
        </p:nvSpPr>
        <p:spPr/>
        <p:txBody>
          <a:bodyPr>
            <a:normAutofit/>
          </a:bodyPr>
          <a:lstStyle/>
          <a:p>
            <a:pPr marL="0" indent="0">
              <a:buNone/>
            </a:pPr>
            <a:r>
              <a:rPr lang="fr-FR" dirty="0"/>
              <a:t>Devrait-on </a:t>
            </a:r>
            <a:r>
              <a:rPr lang="fr-FR" dirty="0" err="1"/>
              <a:t>décomptabiliser</a:t>
            </a:r>
            <a:r>
              <a:rPr lang="fr-FR" dirty="0"/>
              <a:t> le placement en actions suivant?  </a:t>
            </a:r>
          </a:p>
          <a:p>
            <a:pPr lvl="1"/>
            <a:r>
              <a:rPr lang="fr-FR" dirty="0"/>
              <a:t>ABC vend un placement en actions à XYZ avec une option de vente permettant à XYZ (l’acquéreur) de demander à ABC (le vendeur) de racheter le placement en actions à un prix établi</a:t>
            </a:r>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45</a:t>
            </a:fld>
            <a:endParaRPr lang="fr-FR"/>
          </a:p>
        </p:txBody>
      </p:sp>
      <p:sp>
        <p:nvSpPr>
          <p:cNvPr id="5" name="Espace réservé du pied de page 4">
            <a:extLst>
              <a:ext uri="{FF2B5EF4-FFF2-40B4-BE49-F238E27FC236}">
                <a16:creationId xmlns:a16="http://schemas.microsoft.com/office/drawing/2014/main" id="{58AE2732-F5FD-47AA-8567-87CCF8D711AB}"/>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08920283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5"/>
            <a:ext cx="10515600" cy="727951"/>
          </a:xfrm>
        </p:spPr>
        <p:txBody>
          <a:bodyPr/>
          <a:lstStyle/>
          <a:p>
            <a:r>
              <a:rPr lang="fr-CA" sz="3600" dirty="0"/>
              <a:t>Solution</a:t>
            </a:r>
            <a:endParaRPr lang="fr-CA" dirty="0"/>
          </a:p>
        </p:txBody>
      </p:sp>
      <p:sp>
        <p:nvSpPr>
          <p:cNvPr id="3" name="Espace réservé du contenu 2"/>
          <p:cNvSpPr>
            <a:spLocks noGrp="1"/>
          </p:cNvSpPr>
          <p:nvPr>
            <p:ph idx="1"/>
          </p:nvPr>
        </p:nvSpPr>
        <p:spPr>
          <a:xfrm>
            <a:off x="838200" y="1271752"/>
            <a:ext cx="10515600" cy="4905211"/>
          </a:xfrm>
        </p:spPr>
        <p:txBody>
          <a:bodyPr>
            <a:normAutofit fontScale="70000" lnSpcReduction="20000"/>
          </a:bodyPr>
          <a:lstStyle/>
          <a:p>
            <a:pPr marL="0" indent="0">
              <a:buNone/>
            </a:pPr>
            <a:r>
              <a:rPr lang="fr-CA" dirty="0"/>
              <a:t>Est-ce réellement</a:t>
            </a:r>
            <a:r>
              <a:rPr lang="fr-CA" baseline="0" dirty="0"/>
              <a:t> une vente? Risque d’avoir l’obligation de racheter</a:t>
            </a:r>
          </a:p>
          <a:p>
            <a:pPr marL="0" indent="0">
              <a:buNone/>
            </a:pPr>
            <a:endParaRPr lang="fr-CA" dirty="0"/>
          </a:p>
          <a:p>
            <a:pPr marL="0" indent="0">
              <a:buNone/>
            </a:pPr>
            <a:r>
              <a:rPr lang="fr-CA" dirty="0"/>
              <a:t>Encaisse</a:t>
            </a:r>
          </a:p>
          <a:p>
            <a:pPr marL="0" indent="0">
              <a:buNone/>
            </a:pPr>
            <a:r>
              <a:rPr lang="fr-CA" dirty="0"/>
              <a:t>@ Dette</a:t>
            </a:r>
          </a:p>
          <a:p>
            <a:pPr marL="0" indent="0">
              <a:buNone/>
            </a:pPr>
            <a:endParaRPr lang="fr-CA" dirty="0"/>
          </a:p>
          <a:p>
            <a:pPr marL="0" indent="0">
              <a:buNone/>
            </a:pPr>
            <a:r>
              <a:rPr lang="fr-CA" dirty="0"/>
              <a:t>Si rachat à un prix inférieur : </a:t>
            </a:r>
          </a:p>
          <a:p>
            <a:pPr marL="0" indent="0">
              <a:buNone/>
            </a:pPr>
            <a:r>
              <a:rPr lang="fr-CA" dirty="0"/>
              <a:t>Dette</a:t>
            </a:r>
          </a:p>
          <a:p>
            <a:pPr marL="0" indent="0">
              <a:buNone/>
            </a:pPr>
            <a:r>
              <a:rPr lang="fr-CA" dirty="0"/>
              <a:t>@  Encaisse</a:t>
            </a:r>
          </a:p>
          <a:p>
            <a:pPr marL="0" indent="0">
              <a:buNone/>
            </a:pPr>
            <a:r>
              <a:rPr lang="fr-CA" dirty="0"/>
              <a:t>      Gain</a:t>
            </a:r>
          </a:p>
          <a:p>
            <a:pPr marL="0" indent="0">
              <a:buNone/>
            </a:pPr>
            <a:endParaRPr lang="fr-CA" dirty="0"/>
          </a:p>
          <a:p>
            <a:pPr marL="0" indent="0">
              <a:buNone/>
            </a:pPr>
            <a:r>
              <a:rPr lang="fr-CA" dirty="0"/>
              <a:t>Si pas de rachat :</a:t>
            </a:r>
          </a:p>
          <a:p>
            <a:pPr marL="0" indent="0">
              <a:buNone/>
            </a:pPr>
            <a:r>
              <a:rPr lang="fr-CA" dirty="0"/>
              <a:t>Dette</a:t>
            </a:r>
          </a:p>
          <a:p>
            <a:pPr marL="0" indent="0">
              <a:buNone/>
            </a:pPr>
            <a:r>
              <a:rPr lang="fr-CA" dirty="0"/>
              <a:t>@   Actions (actif disposé)</a:t>
            </a:r>
          </a:p>
          <a:p>
            <a:pPr marL="0" indent="0">
              <a:buNone/>
            </a:pPr>
            <a:r>
              <a:rPr lang="fr-CA" dirty="0"/>
              <a:t>       Gain (perte) sur cession</a:t>
            </a:r>
          </a:p>
        </p:txBody>
      </p:sp>
      <p:sp>
        <p:nvSpPr>
          <p:cNvPr id="4" name="Espace réservé du pied de page 3">
            <a:extLst>
              <a:ext uri="{FF2B5EF4-FFF2-40B4-BE49-F238E27FC236}">
                <a16:creationId xmlns:a16="http://schemas.microsoft.com/office/drawing/2014/main" id="{77B33887-F0DA-42E2-8718-757C417F0621}"/>
              </a:ext>
            </a:extLst>
          </p:cNvPr>
          <p:cNvSpPr>
            <a:spLocks noGrp="1"/>
          </p:cNvSpPr>
          <p:nvPr>
            <p:ph type="ftr" sz="quarter" idx="11"/>
          </p:nvPr>
        </p:nvSpPr>
        <p:spPr/>
        <p:txBody>
          <a:bodyPr/>
          <a:lstStyle/>
          <a:p>
            <a:r>
              <a:rPr lang="fr-CA"/>
              <a:t>Droits réservés - Louise Overbeek</a:t>
            </a:r>
          </a:p>
        </p:txBody>
      </p:sp>
      <p:sp>
        <p:nvSpPr>
          <p:cNvPr id="5" name="Espace réservé du numéro de diapositive 4">
            <a:extLst>
              <a:ext uri="{FF2B5EF4-FFF2-40B4-BE49-F238E27FC236}">
                <a16:creationId xmlns:a16="http://schemas.microsoft.com/office/drawing/2014/main" id="{259C8A47-86E9-4850-8B5F-8859827CA5C9}"/>
              </a:ext>
            </a:extLst>
          </p:cNvPr>
          <p:cNvSpPr>
            <a:spLocks noGrp="1"/>
          </p:cNvSpPr>
          <p:nvPr>
            <p:ph type="sldNum" sz="quarter" idx="12"/>
          </p:nvPr>
        </p:nvSpPr>
        <p:spPr/>
        <p:txBody>
          <a:bodyPr/>
          <a:lstStyle/>
          <a:p>
            <a:fld id="{D5C8285E-D276-48ED-A38D-FCE3A7D9B93F}" type="slidenum">
              <a:rPr lang="fr-CA" smtClean="0"/>
              <a:t>46</a:t>
            </a:fld>
            <a:endParaRPr lang="fr-CA"/>
          </a:p>
        </p:txBody>
      </p:sp>
    </p:spTree>
    <p:extLst>
      <p:ext uri="{BB962C8B-B14F-4D97-AF65-F5344CB8AC3E}">
        <p14:creationId xmlns:p14="http://schemas.microsoft.com/office/powerpoint/2010/main" val="20416475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Décomptabilisation</a:t>
            </a:r>
            <a:r>
              <a:rPr lang="fr-FR" dirty="0"/>
              <a:t> - actif</a:t>
            </a:r>
          </a:p>
        </p:txBody>
      </p:sp>
      <p:sp>
        <p:nvSpPr>
          <p:cNvPr id="3" name="Espace réservé du contenu 2"/>
          <p:cNvSpPr>
            <a:spLocks noGrp="1"/>
          </p:cNvSpPr>
          <p:nvPr>
            <p:ph idx="1"/>
          </p:nvPr>
        </p:nvSpPr>
        <p:spPr/>
        <p:txBody>
          <a:bodyPr>
            <a:normAutofit/>
          </a:bodyPr>
          <a:lstStyle/>
          <a:p>
            <a:r>
              <a:rPr lang="fr-FR" dirty="0"/>
              <a:t>Une entité́ doit </a:t>
            </a:r>
            <a:r>
              <a:rPr lang="fr-FR" dirty="0" err="1"/>
              <a:t>décomptabiliser</a:t>
            </a:r>
            <a:r>
              <a:rPr lang="fr-FR" dirty="0"/>
              <a:t> des créances cédées à une autre entité́ (affacturage) seulement lorsqu’elle en abandonne les risques et avantages ainsi que le contrôle</a:t>
            </a:r>
          </a:p>
          <a:p>
            <a:pPr lvl="1"/>
            <a:r>
              <a:rPr lang="fr-FR" dirty="0"/>
              <a:t>Problème : déterminer si l’opération doit être traitée comme une vente ou un emprunt avec nantissement. </a:t>
            </a:r>
          </a:p>
          <a:p>
            <a:pPr lvl="2"/>
            <a:endParaRPr lang="fr-FR" dirty="0"/>
          </a:p>
          <a:p>
            <a:pPr lvl="2"/>
            <a:r>
              <a:rPr lang="fr-FR" i="1" dirty="0"/>
              <a:t>Actif/passif pour les honoraires de gestion si rémunération inadéquate</a:t>
            </a:r>
          </a:p>
          <a:p>
            <a:endParaRPr lang="fr-FR" dirty="0"/>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47</a:t>
            </a:fld>
            <a:endParaRPr lang="fr-FR"/>
          </a:p>
        </p:txBody>
      </p:sp>
      <p:sp>
        <p:nvSpPr>
          <p:cNvPr id="5" name="Espace réservé du pied de page 4">
            <a:extLst>
              <a:ext uri="{FF2B5EF4-FFF2-40B4-BE49-F238E27FC236}">
                <a16:creationId xmlns:a16="http://schemas.microsoft.com/office/drawing/2014/main" id="{409BA783-70E6-40B0-823D-2FD68FEF0010}"/>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96168104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Décomptabilisation</a:t>
            </a:r>
            <a:r>
              <a:rPr lang="fr-FR" dirty="0"/>
              <a:t> – actif</a:t>
            </a:r>
            <a:br>
              <a:rPr lang="fr-FR" dirty="0"/>
            </a:br>
            <a:r>
              <a:rPr lang="fr-FR" sz="3600" i="1" dirty="0">
                <a:solidFill>
                  <a:srgbClr val="0070C0"/>
                </a:solidFill>
              </a:rPr>
              <a:t>Voir fichier Word pour extraits norme</a:t>
            </a:r>
            <a:endParaRPr lang="fr-FR" dirty="0"/>
          </a:p>
        </p:txBody>
      </p:sp>
      <p:sp>
        <p:nvSpPr>
          <p:cNvPr id="3" name="Espace réservé du contenu 2"/>
          <p:cNvSpPr>
            <a:spLocks noGrp="1"/>
          </p:cNvSpPr>
          <p:nvPr>
            <p:ph idx="1"/>
          </p:nvPr>
        </p:nvSpPr>
        <p:spPr>
          <a:xfrm>
            <a:off x="838200" y="1600202"/>
            <a:ext cx="10515600" cy="4279738"/>
          </a:xfrm>
        </p:spPr>
        <p:txBody>
          <a:bodyPr>
            <a:normAutofit fontScale="85000" lnSpcReduction="20000"/>
          </a:bodyPr>
          <a:lstStyle/>
          <a:p>
            <a:pPr marL="0" indent="0">
              <a:buNone/>
            </a:pPr>
            <a:r>
              <a:rPr lang="fr-FR" dirty="0"/>
              <a:t>Devrait-on </a:t>
            </a:r>
            <a:r>
              <a:rPr lang="fr-FR" dirty="0" err="1"/>
              <a:t>décomptabiliser</a:t>
            </a:r>
            <a:r>
              <a:rPr lang="fr-FR" dirty="0"/>
              <a:t> les créances suivantes?</a:t>
            </a:r>
          </a:p>
          <a:p>
            <a:pPr marL="0" indent="0">
              <a:buNone/>
            </a:pPr>
            <a:r>
              <a:rPr lang="fr-FR" sz="1600" dirty="0"/>
              <a:t>  </a:t>
            </a:r>
          </a:p>
          <a:p>
            <a:pPr marL="0" indent="0">
              <a:buNone/>
            </a:pPr>
            <a:r>
              <a:rPr lang="fr-FR" dirty="0"/>
              <a:t>ABC conclut une entente avec un tiers en vertu de laquelle ABC cède des créances d'une valeur comptable de 190 000 $ (soit 200 000 $ moins un montant de provision pour créances douteuses de 10 000 $). La tierce partie paie 180 000 $ pour les créances. </a:t>
            </a:r>
          </a:p>
          <a:p>
            <a:pPr marL="0" indent="0">
              <a:buNone/>
            </a:pPr>
            <a:endParaRPr lang="fr-FR" sz="2300" dirty="0"/>
          </a:p>
          <a:p>
            <a:pPr lvl="1"/>
            <a:r>
              <a:rPr lang="fr-FR" sz="2800" dirty="0"/>
              <a:t>Situation A : ABC ne donne aucune garantie concernant le recouvrement des créances. ABC continuera à recouvrer les comptes et doit remettre tous les encaissements à la tierce partie. Suite à cette entente, ABC n’a recouvré que 170 000 $ et a remis à la tierce partie cette somme. </a:t>
            </a:r>
          </a:p>
          <a:p>
            <a:pPr marL="457200" lvl="1" indent="0">
              <a:buNone/>
            </a:pPr>
            <a:endParaRPr lang="fr-FR" sz="1200" dirty="0"/>
          </a:p>
          <a:p>
            <a:pPr lvl="1"/>
            <a:r>
              <a:rPr lang="fr-FR" sz="2800" dirty="0"/>
              <a:t>Situation B : ABC devra remettre la tierce partie tout montant reçu jusqu’à 190 000 $ Si le montant est moindre que 190 000 $, ABC devra verser la différence à la tierce partie. ABC n’a recouvré que 170 000 $. </a:t>
            </a:r>
          </a:p>
          <a:p>
            <a:pPr lvl="1"/>
            <a:endParaRPr lang="fr-FR" dirty="0"/>
          </a:p>
          <a:p>
            <a:endParaRPr lang="fr-FR" dirty="0"/>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48</a:t>
            </a:fld>
            <a:endParaRPr lang="fr-FR"/>
          </a:p>
        </p:txBody>
      </p:sp>
      <p:sp>
        <p:nvSpPr>
          <p:cNvPr id="5" name="Espace réservé du pied de page 4">
            <a:extLst>
              <a:ext uri="{FF2B5EF4-FFF2-40B4-BE49-F238E27FC236}">
                <a16:creationId xmlns:a16="http://schemas.microsoft.com/office/drawing/2014/main" id="{0C9C7D0A-ED2C-4F1D-A594-129DA1A8C840}"/>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951292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   </a:t>
            </a:r>
          </a:p>
        </p:txBody>
      </p:sp>
      <p:sp>
        <p:nvSpPr>
          <p:cNvPr id="3" name="Espace réservé du contenu 2"/>
          <p:cNvSpPr>
            <a:spLocks noGrp="1"/>
          </p:cNvSpPr>
          <p:nvPr>
            <p:ph idx="1"/>
          </p:nvPr>
        </p:nvSpPr>
        <p:spPr/>
        <p:txBody>
          <a:bodyPr/>
          <a:lstStyle/>
          <a:p>
            <a:r>
              <a:rPr lang="fr-CA" dirty="0"/>
              <a:t>Déterminer si l’opération doit être traitée comme</a:t>
            </a:r>
          </a:p>
          <a:p>
            <a:pPr lvl="1"/>
            <a:r>
              <a:rPr lang="fr-CA" dirty="0"/>
              <a:t>Une vente?</a:t>
            </a:r>
          </a:p>
          <a:p>
            <a:pPr lvl="1"/>
            <a:r>
              <a:rPr lang="fr-CA" dirty="0"/>
              <a:t>Un emprunt avec nantissement?</a:t>
            </a:r>
          </a:p>
          <a:p>
            <a:pPr lvl="2"/>
            <a:r>
              <a:rPr lang="fr-CA" dirty="0"/>
              <a:t>Frais financiers</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49</a:t>
            </a:fld>
            <a:endParaRPr lang="fr-FR"/>
          </a:p>
        </p:txBody>
      </p:sp>
      <p:sp>
        <p:nvSpPr>
          <p:cNvPr id="5" name="Espace réservé du pied de page 4">
            <a:extLst>
              <a:ext uri="{FF2B5EF4-FFF2-40B4-BE49-F238E27FC236}">
                <a16:creationId xmlns:a16="http://schemas.microsoft.com/office/drawing/2014/main" id="{E3899ADF-0FB2-401D-9AE7-CA4795D1AC1D}"/>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52134231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dirty="0"/>
              <a:t>Solution – Situation A</a:t>
            </a:r>
            <a:br>
              <a:rPr lang="fr-CA" dirty="0"/>
            </a:br>
            <a:r>
              <a:rPr lang="fr-CA" sz="4000" dirty="0"/>
              <a:t>Vente des créances</a:t>
            </a:r>
            <a:endParaRPr lang="fr-CA" dirty="0"/>
          </a:p>
        </p:txBody>
      </p:sp>
      <p:sp>
        <p:nvSpPr>
          <p:cNvPr id="3" name="Espace réservé du contenu 2"/>
          <p:cNvSpPr>
            <a:spLocks noGrp="1"/>
          </p:cNvSpPr>
          <p:nvPr>
            <p:ph idx="1"/>
          </p:nvPr>
        </p:nvSpPr>
        <p:spPr>
          <a:xfrm>
            <a:off x="925975" y="2331721"/>
            <a:ext cx="10637134" cy="3794443"/>
          </a:xfrm>
        </p:spPr>
        <p:txBody>
          <a:bodyPr/>
          <a:lstStyle/>
          <a:p>
            <a:pPr marL="0" indent="0">
              <a:buNone/>
            </a:pPr>
            <a:r>
              <a:rPr lang="fr-CA" i="1" dirty="0"/>
              <a:t>Ne conserve pas le contrôle / les risques</a:t>
            </a:r>
          </a:p>
          <a:p>
            <a:pPr marL="0" indent="0">
              <a:buNone/>
            </a:pPr>
            <a:endParaRPr lang="fr-CA" dirty="0"/>
          </a:p>
          <a:p>
            <a:pPr marL="0" indent="0">
              <a:buNone/>
            </a:pPr>
            <a:r>
              <a:rPr lang="fr-CA" dirty="0"/>
              <a:t>Encaisse				180 000</a:t>
            </a:r>
          </a:p>
          <a:p>
            <a:pPr marL="0" indent="0">
              <a:buNone/>
            </a:pPr>
            <a:r>
              <a:rPr lang="fr-CA" dirty="0"/>
              <a:t>Perte sur cession  			  10 000</a:t>
            </a:r>
          </a:p>
          <a:p>
            <a:pPr marL="0" indent="0">
              <a:buNone/>
            </a:pPr>
            <a:r>
              <a:rPr lang="fr-CA" dirty="0"/>
              <a:t>Provision </a:t>
            </a:r>
            <a:r>
              <a:rPr lang="fr-CA" dirty="0" err="1"/>
              <a:t>cr</a:t>
            </a:r>
            <a:r>
              <a:rPr lang="fr-CA" dirty="0"/>
              <a:t> douteuses		  10 000</a:t>
            </a:r>
          </a:p>
          <a:p>
            <a:pPr marL="0" indent="0">
              <a:buNone/>
            </a:pPr>
            <a:r>
              <a:rPr lang="fr-CA" dirty="0"/>
              <a:t>@  Clients						200 000</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50</a:t>
            </a:fld>
            <a:endParaRPr lang="fr-FR"/>
          </a:p>
        </p:txBody>
      </p:sp>
      <p:sp>
        <p:nvSpPr>
          <p:cNvPr id="5" name="Espace réservé du pied de page 4">
            <a:extLst>
              <a:ext uri="{FF2B5EF4-FFF2-40B4-BE49-F238E27FC236}">
                <a16:creationId xmlns:a16="http://schemas.microsoft.com/office/drawing/2014/main" id="{54613558-8166-4A25-BABD-14F2F6DDF74F}"/>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129431506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5"/>
            <a:ext cx="10515600" cy="801523"/>
          </a:xfrm>
        </p:spPr>
        <p:txBody>
          <a:bodyPr>
            <a:normAutofit fontScale="90000"/>
          </a:bodyPr>
          <a:lstStyle/>
          <a:p>
            <a:r>
              <a:rPr lang="fr-CA" sz="3600" dirty="0"/>
              <a:t>Solution – Situation B</a:t>
            </a:r>
            <a:br>
              <a:rPr lang="fr-CA" sz="3600" dirty="0"/>
            </a:br>
            <a:r>
              <a:rPr lang="fr-CA" sz="3200" dirty="0"/>
              <a:t>conserve risques </a:t>
            </a:r>
            <a:r>
              <a:rPr lang="fr-CA" sz="2700" i="1" dirty="0"/>
              <a:t>(garantit la valeur recouvrable)</a:t>
            </a:r>
            <a:r>
              <a:rPr lang="fr-CA" sz="3200" dirty="0"/>
              <a:t> – « prêt » et non vente</a:t>
            </a:r>
            <a:endParaRPr lang="fr-CA" sz="3600" dirty="0"/>
          </a:p>
        </p:txBody>
      </p:sp>
      <p:sp>
        <p:nvSpPr>
          <p:cNvPr id="3" name="Espace réservé du contenu 2"/>
          <p:cNvSpPr>
            <a:spLocks noGrp="1"/>
          </p:cNvSpPr>
          <p:nvPr>
            <p:ph idx="1"/>
          </p:nvPr>
        </p:nvSpPr>
        <p:spPr>
          <a:xfrm>
            <a:off x="752354" y="1324303"/>
            <a:ext cx="10428790" cy="5202227"/>
          </a:xfrm>
        </p:spPr>
        <p:txBody>
          <a:bodyPr>
            <a:normAutofit fontScale="62500" lnSpcReduction="20000"/>
          </a:bodyPr>
          <a:lstStyle/>
          <a:p>
            <a:pPr marL="0" indent="0">
              <a:buNone/>
            </a:pPr>
            <a:r>
              <a:rPr lang="fr-CA" dirty="0"/>
              <a:t>Encaisse					180 000</a:t>
            </a:r>
          </a:p>
          <a:p>
            <a:pPr marL="0" indent="0">
              <a:buNone/>
            </a:pPr>
            <a:r>
              <a:rPr lang="fr-CA" dirty="0"/>
              <a:t>@  Dette						180 000</a:t>
            </a:r>
          </a:p>
          <a:p>
            <a:pPr marL="0" indent="0">
              <a:buNone/>
            </a:pPr>
            <a:endParaRPr lang="fr-CA" dirty="0"/>
          </a:p>
          <a:p>
            <a:pPr marL="0" indent="0">
              <a:buNone/>
            </a:pPr>
            <a:r>
              <a:rPr lang="fr-CA" dirty="0"/>
              <a:t>Dette					170 000</a:t>
            </a:r>
          </a:p>
          <a:p>
            <a:pPr marL="0" indent="0">
              <a:buNone/>
            </a:pPr>
            <a:r>
              <a:rPr lang="fr-CA" dirty="0"/>
              <a:t>@  Clients						170 000</a:t>
            </a:r>
          </a:p>
          <a:p>
            <a:pPr marL="0" indent="0">
              <a:buNone/>
            </a:pPr>
            <a:endParaRPr lang="fr-CA" dirty="0"/>
          </a:p>
          <a:p>
            <a:pPr marL="0" indent="0">
              <a:buNone/>
            </a:pPr>
            <a:r>
              <a:rPr lang="fr-CA" dirty="0"/>
              <a:t>Frais financiers				 10 000</a:t>
            </a:r>
          </a:p>
          <a:p>
            <a:pPr marL="0" indent="0">
              <a:buNone/>
            </a:pPr>
            <a:r>
              <a:rPr lang="fr-CA" dirty="0"/>
              <a:t>@  Dette						10 000</a:t>
            </a:r>
          </a:p>
          <a:p>
            <a:pPr marL="0" indent="0">
              <a:buNone/>
            </a:pPr>
            <a:r>
              <a:rPr lang="fr-CA" i="1" dirty="0"/>
              <a:t>(avec le passage du temps, et non lors de la transaction initiale)</a:t>
            </a:r>
          </a:p>
          <a:p>
            <a:pPr marL="0" indent="0">
              <a:buNone/>
            </a:pPr>
            <a:endParaRPr lang="fr-CA" i="1" dirty="0"/>
          </a:p>
          <a:p>
            <a:pPr marL="0" indent="0">
              <a:buNone/>
            </a:pPr>
            <a:r>
              <a:rPr lang="fr-CA" dirty="0"/>
              <a:t>Dette					20 000</a:t>
            </a:r>
          </a:p>
          <a:p>
            <a:pPr marL="0" indent="0">
              <a:buNone/>
            </a:pPr>
            <a:r>
              <a:rPr lang="fr-CA" dirty="0"/>
              <a:t>@  Caisse						20 000</a:t>
            </a:r>
          </a:p>
          <a:p>
            <a:pPr marL="0" indent="0">
              <a:buNone/>
            </a:pPr>
            <a:endParaRPr lang="fr-CA" dirty="0"/>
          </a:p>
          <a:p>
            <a:pPr marL="0" indent="0">
              <a:buNone/>
            </a:pPr>
            <a:r>
              <a:rPr lang="fr-CA" dirty="0"/>
              <a:t>Provision </a:t>
            </a:r>
            <a:r>
              <a:rPr lang="fr-CA" dirty="0" err="1"/>
              <a:t>cr</a:t>
            </a:r>
            <a:r>
              <a:rPr lang="fr-CA" dirty="0"/>
              <a:t> douteuses			  	 10 000</a:t>
            </a:r>
          </a:p>
          <a:p>
            <a:pPr marL="0" indent="0">
              <a:buNone/>
            </a:pPr>
            <a:r>
              <a:rPr lang="fr-CA" dirty="0"/>
              <a:t>Mauvaises créances				 20 000</a:t>
            </a:r>
          </a:p>
          <a:p>
            <a:pPr marL="0" indent="0">
              <a:buNone/>
            </a:pPr>
            <a:r>
              <a:rPr lang="fr-CA" dirty="0"/>
              <a:t>@  Clients						30 000</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51</a:t>
            </a:fld>
            <a:endParaRPr lang="fr-FR"/>
          </a:p>
        </p:txBody>
      </p:sp>
      <p:sp>
        <p:nvSpPr>
          <p:cNvPr id="5" name="Espace réservé du pied de page 4">
            <a:extLst>
              <a:ext uri="{FF2B5EF4-FFF2-40B4-BE49-F238E27FC236}">
                <a16:creationId xmlns:a16="http://schemas.microsoft.com/office/drawing/2014/main" id="{0EE14032-9752-4639-ADDB-D1A8362A2953}"/>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9633948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Décomptabilisation</a:t>
            </a:r>
            <a:r>
              <a:rPr lang="fr-FR" dirty="0"/>
              <a:t> - passif</a:t>
            </a:r>
          </a:p>
        </p:txBody>
      </p:sp>
      <p:sp>
        <p:nvSpPr>
          <p:cNvPr id="3" name="Espace réservé du contenu 2"/>
          <p:cNvSpPr>
            <a:spLocks noGrp="1"/>
          </p:cNvSpPr>
          <p:nvPr>
            <p:ph idx="1"/>
          </p:nvPr>
        </p:nvSpPr>
        <p:spPr>
          <a:xfrm>
            <a:off x="838199" y="1600200"/>
            <a:ext cx="10515599" cy="4756150"/>
          </a:xfrm>
        </p:spPr>
        <p:txBody>
          <a:bodyPr>
            <a:normAutofit/>
          </a:bodyPr>
          <a:lstStyle/>
          <a:p>
            <a:pPr marL="0" indent="0">
              <a:buNone/>
            </a:pPr>
            <a:r>
              <a:rPr lang="fr-FR" dirty="0"/>
              <a:t>Une entité́ doit sortir un passif financier de son bilan lorsque ce passif est éteint </a:t>
            </a:r>
            <a:r>
              <a:rPr lang="fr-FR" i="1" dirty="0"/>
              <a:t>(aucun risque)</a:t>
            </a:r>
            <a:r>
              <a:rPr lang="fr-FR" dirty="0"/>
              <a:t>. </a:t>
            </a:r>
          </a:p>
          <a:p>
            <a:pPr lvl="1"/>
            <a:r>
              <a:rPr lang="fr-FR" dirty="0"/>
              <a:t>lorsque le débiteur acquitte le passif en payant le créancier </a:t>
            </a:r>
            <a:r>
              <a:rPr lang="fr-FR" sz="2200" dirty="0"/>
              <a:t>(changement de créancier)</a:t>
            </a:r>
            <a:r>
              <a:rPr lang="fr-FR" dirty="0"/>
              <a:t>, ou </a:t>
            </a:r>
          </a:p>
          <a:p>
            <a:pPr lvl="1"/>
            <a:r>
              <a:rPr lang="fr-FR" dirty="0"/>
              <a:t>lorsque le débiteur est juridiquement dégagé́ de sa responsabilité́ première à l’égard du passif par voie judiciaire ou par le créancier. </a:t>
            </a:r>
          </a:p>
          <a:p>
            <a:pPr marL="457200" lvl="1" indent="0">
              <a:buNone/>
            </a:pPr>
            <a:endParaRPr lang="fr-FR" sz="1100" dirty="0"/>
          </a:p>
          <a:p>
            <a:pPr lvl="2"/>
            <a:r>
              <a:rPr lang="fr-FR" dirty="0"/>
              <a:t>en l’absence d’une libération juridique, un paiement effectué en faveur d’un tiers, notamment une fiducie (parfois appelé́ « </a:t>
            </a:r>
            <a:r>
              <a:rPr lang="fr-FR" dirty="0" err="1"/>
              <a:t>désendettement</a:t>
            </a:r>
            <a:r>
              <a:rPr lang="fr-FR" dirty="0"/>
              <a:t> de fait »), ne suffit pas à lui seul à relever le débiteur de son obligation première </a:t>
            </a:r>
            <a:r>
              <a:rPr lang="fr-FR" dirty="0" err="1"/>
              <a:t>vis-a</a:t>
            </a:r>
            <a:r>
              <a:rPr lang="fr-FR" dirty="0"/>
              <a:t>̀-vis du créancier. </a:t>
            </a:r>
          </a:p>
          <a:p>
            <a:endParaRPr lang="fr-FR" dirty="0"/>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52</a:t>
            </a:fld>
            <a:endParaRPr lang="fr-FR"/>
          </a:p>
        </p:txBody>
      </p:sp>
      <p:sp>
        <p:nvSpPr>
          <p:cNvPr id="5" name="Espace réservé du pied de page 4">
            <a:extLst>
              <a:ext uri="{FF2B5EF4-FFF2-40B4-BE49-F238E27FC236}">
                <a16:creationId xmlns:a16="http://schemas.microsoft.com/office/drawing/2014/main" id="{4AD53D92-F349-4FAE-A25E-8F338A4C406E}"/>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62176737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Décomptabilisation</a:t>
            </a:r>
            <a:r>
              <a:rPr lang="fr-FR" dirty="0"/>
              <a:t> - passif</a:t>
            </a:r>
          </a:p>
        </p:txBody>
      </p:sp>
      <p:sp>
        <p:nvSpPr>
          <p:cNvPr id="3" name="Espace réservé du contenu 2"/>
          <p:cNvSpPr>
            <a:spLocks noGrp="1"/>
          </p:cNvSpPr>
          <p:nvPr>
            <p:ph idx="1"/>
          </p:nvPr>
        </p:nvSpPr>
        <p:spPr>
          <a:xfrm>
            <a:off x="904973" y="1600200"/>
            <a:ext cx="10048973" cy="4756150"/>
          </a:xfrm>
        </p:spPr>
        <p:txBody>
          <a:bodyPr>
            <a:normAutofit/>
          </a:bodyPr>
          <a:lstStyle/>
          <a:p>
            <a:pPr marL="914400" lvl="2" indent="0">
              <a:buNone/>
            </a:pPr>
            <a:endParaRPr lang="fr-FR" dirty="0"/>
          </a:p>
          <a:p>
            <a:r>
              <a:rPr lang="fr-FR" sz="2400" dirty="0"/>
              <a:t>Lorsqu’un passif financier est </a:t>
            </a:r>
            <a:r>
              <a:rPr lang="fr-FR" sz="2400" dirty="0" err="1"/>
              <a:t>décomptabilise</a:t>
            </a:r>
            <a:r>
              <a:rPr lang="fr-FR" sz="2400" dirty="0"/>
              <a:t>́, la différence entre la valeur comptable du passif éteint et la juste valeur de la contrepartie versée est comptabilisée en </a:t>
            </a:r>
            <a:r>
              <a:rPr lang="fr-FR" sz="2400" dirty="0">
                <a:solidFill>
                  <a:srgbClr val="0070C0"/>
                </a:solidFill>
              </a:rPr>
              <a:t>résultat net</a:t>
            </a:r>
            <a:r>
              <a:rPr lang="fr-FR" sz="2400" dirty="0"/>
              <a:t>. </a:t>
            </a:r>
          </a:p>
          <a:p>
            <a:pPr marL="0" indent="0">
              <a:buNone/>
            </a:pPr>
            <a:endParaRPr lang="fr-FR" sz="2400" dirty="0"/>
          </a:p>
          <a:p>
            <a:r>
              <a:rPr lang="fr-FR" sz="2400" dirty="0"/>
              <a:t>Lorsqu’une modification entraîne l’extinction, la différence entre la juste valeur du nouvel instrument d’emprunt et la valeur comptable de l’instrument initial est comptabilisée en </a:t>
            </a:r>
            <a:r>
              <a:rPr lang="fr-FR" sz="2400" dirty="0">
                <a:solidFill>
                  <a:srgbClr val="0070C0"/>
                </a:solidFill>
              </a:rPr>
              <a:t>résultat net</a:t>
            </a:r>
            <a:r>
              <a:rPr lang="fr-FR" sz="2400" dirty="0"/>
              <a:t>. </a:t>
            </a:r>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53</a:t>
            </a:fld>
            <a:endParaRPr lang="fr-FR"/>
          </a:p>
        </p:txBody>
      </p:sp>
      <p:sp>
        <p:nvSpPr>
          <p:cNvPr id="5" name="Espace réservé du pied de page 4">
            <a:extLst>
              <a:ext uri="{FF2B5EF4-FFF2-40B4-BE49-F238E27FC236}">
                <a16:creationId xmlns:a16="http://schemas.microsoft.com/office/drawing/2014/main" id="{F659F151-9298-4ABA-AEC6-E41F82FE419C}"/>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27302495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Décomptabilisation</a:t>
            </a:r>
            <a:r>
              <a:rPr lang="fr-FR" dirty="0"/>
              <a:t> - passif</a:t>
            </a:r>
          </a:p>
        </p:txBody>
      </p:sp>
      <p:sp>
        <p:nvSpPr>
          <p:cNvPr id="3" name="Espace réservé du contenu 2"/>
          <p:cNvSpPr>
            <a:spLocks noGrp="1"/>
          </p:cNvSpPr>
          <p:nvPr>
            <p:ph idx="1"/>
          </p:nvPr>
        </p:nvSpPr>
        <p:spPr>
          <a:xfrm>
            <a:off x="838199" y="1600200"/>
            <a:ext cx="10049759" cy="4756150"/>
          </a:xfrm>
        </p:spPr>
        <p:txBody>
          <a:bodyPr>
            <a:normAutofit/>
          </a:bodyPr>
          <a:lstStyle/>
          <a:p>
            <a:pPr marL="0" indent="0">
              <a:buNone/>
            </a:pPr>
            <a:r>
              <a:rPr lang="fr-FR" b="1" dirty="0"/>
              <a:t>Renégociation/Refinancement </a:t>
            </a:r>
            <a:r>
              <a:rPr lang="fr-FR" sz="1800" dirty="0"/>
              <a:t>(</a:t>
            </a:r>
            <a:r>
              <a:rPr lang="fr-CA" sz="1800" dirty="0"/>
              <a:t>IFRS 9.3.3.2)</a:t>
            </a:r>
            <a:endParaRPr lang="fr-FR" sz="1800" b="1" dirty="0"/>
          </a:p>
          <a:p>
            <a:pPr lvl="1"/>
            <a:r>
              <a:rPr lang="fr-CA" dirty="0"/>
              <a:t>Un échange, </a:t>
            </a:r>
            <a:r>
              <a:rPr lang="fr-CA" u="sng" dirty="0">
                <a:solidFill>
                  <a:srgbClr val="0070C0"/>
                </a:solidFill>
              </a:rPr>
              <a:t>entre un emprunteur et un prêteur existants</a:t>
            </a:r>
            <a:r>
              <a:rPr lang="fr-CA" dirty="0"/>
              <a:t>, d'instruments d'emprunt dont les </a:t>
            </a:r>
            <a:r>
              <a:rPr lang="fr-CA" b="1" dirty="0"/>
              <a:t>conditions sont substantiellement différentes</a:t>
            </a:r>
            <a:endParaRPr lang="fr-CA" dirty="0"/>
          </a:p>
          <a:p>
            <a:pPr lvl="1"/>
            <a:r>
              <a:rPr lang="fr-CA" dirty="0"/>
              <a:t>une </a:t>
            </a:r>
            <a:r>
              <a:rPr lang="fr-CA" b="1" u="sng" dirty="0">
                <a:solidFill>
                  <a:srgbClr val="0070C0"/>
                </a:solidFill>
              </a:rPr>
              <a:t>modification substantielle des conditions </a:t>
            </a:r>
            <a:r>
              <a:rPr lang="fr-CA" dirty="0"/>
              <a:t>d'un passif financier existant ou d'une partie d'un passif financier existant (qu'elle soit attribuable ou non aux difficultés financières du débiteur) </a:t>
            </a:r>
          </a:p>
          <a:p>
            <a:pPr marL="450850" indent="0">
              <a:buNone/>
            </a:pPr>
            <a:r>
              <a:rPr lang="fr-CA" dirty="0"/>
              <a:t>doit être comptabilisé comme une </a:t>
            </a:r>
            <a:r>
              <a:rPr lang="fr-CA" b="1" dirty="0"/>
              <a:t>extinction du passif financier initial et la comptabilisation d'un nouveau passif financier</a:t>
            </a:r>
            <a:r>
              <a:rPr lang="fr-CA" dirty="0"/>
              <a:t>.</a:t>
            </a:r>
            <a:endParaRPr lang="fr-FR" dirty="0"/>
          </a:p>
          <a:p>
            <a:endParaRPr lang="fr-FR" sz="3200" dirty="0"/>
          </a:p>
          <a:p>
            <a:endParaRPr lang="fr-FR" dirty="0"/>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54</a:t>
            </a:fld>
            <a:endParaRPr lang="fr-FR"/>
          </a:p>
        </p:txBody>
      </p:sp>
      <p:sp>
        <p:nvSpPr>
          <p:cNvPr id="5" name="Espace réservé du pied de page 4">
            <a:extLst>
              <a:ext uri="{FF2B5EF4-FFF2-40B4-BE49-F238E27FC236}">
                <a16:creationId xmlns:a16="http://schemas.microsoft.com/office/drawing/2014/main" id="{95BC9AAE-86E3-4FD1-9704-982B503FAE2C}"/>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30332188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Présentation : compensation (IAS 32)</a:t>
            </a:r>
          </a:p>
        </p:txBody>
      </p:sp>
      <p:sp>
        <p:nvSpPr>
          <p:cNvPr id="3" name="Espace réservé du contenu 2"/>
          <p:cNvSpPr>
            <a:spLocks noGrp="1"/>
          </p:cNvSpPr>
          <p:nvPr>
            <p:ph idx="1"/>
          </p:nvPr>
        </p:nvSpPr>
        <p:spPr/>
        <p:txBody>
          <a:bodyPr>
            <a:normAutofit/>
          </a:bodyPr>
          <a:lstStyle/>
          <a:p>
            <a:r>
              <a:rPr lang="fr-FR" dirty="0"/>
              <a:t>Un actif financier et un passif financier doivent faire l’objet d’une compensation, et le solde net doit être présenté́, seulement lorsque les conditions suivantes sont réunies : </a:t>
            </a:r>
          </a:p>
          <a:p>
            <a:pPr lvl="1"/>
            <a:r>
              <a:rPr lang="fr-FR" dirty="0"/>
              <a:t>L’entité a un droit juridiquement exécutoire d’opérer compensation entre les deux éléments </a:t>
            </a:r>
          </a:p>
          <a:p>
            <a:pPr lvl="1"/>
            <a:r>
              <a:rPr lang="fr-FR" dirty="0"/>
              <a:t>L’entité a l’intention soit de procéder à un règlement net, soit de réaliser l’actif et de régler le passif simultanément. </a:t>
            </a:r>
          </a:p>
          <a:p>
            <a:pPr lvl="1"/>
            <a:endParaRPr lang="fr-FR" dirty="0"/>
          </a:p>
          <a:p>
            <a:pPr lvl="2"/>
            <a:r>
              <a:rPr lang="fr-CA" dirty="0"/>
              <a:t>Exemple : compenser la note de crédit accordée à un client avec le solde du compte client</a:t>
            </a:r>
            <a:endParaRPr lang="fr-FR" dirty="0"/>
          </a:p>
          <a:p>
            <a:endParaRPr lang="fr-FR" dirty="0"/>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55</a:t>
            </a:fld>
            <a:endParaRPr lang="fr-FR"/>
          </a:p>
        </p:txBody>
      </p:sp>
      <p:sp>
        <p:nvSpPr>
          <p:cNvPr id="5" name="Espace réservé du pied de page 4">
            <a:extLst>
              <a:ext uri="{FF2B5EF4-FFF2-40B4-BE49-F238E27FC236}">
                <a16:creationId xmlns:a16="http://schemas.microsoft.com/office/drawing/2014/main" id="{0F177B31-62DD-41F8-B37B-F2A029D84C9D}"/>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118966871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EXERCICES SUPPLÉMENTAIRES</a:t>
            </a:r>
          </a:p>
        </p:txBody>
      </p:sp>
      <p:sp>
        <p:nvSpPr>
          <p:cNvPr id="3" name="Espace réservé du contenu 2"/>
          <p:cNvSpPr>
            <a:spLocks noGrp="1"/>
          </p:cNvSpPr>
          <p:nvPr>
            <p:ph idx="1"/>
          </p:nvPr>
        </p:nvSpPr>
        <p:spPr/>
        <p:txBody>
          <a:bodyPr/>
          <a:lstStyle/>
          <a:p>
            <a:pPr marL="0" indent="0">
              <a:buNone/>
            </a:pPr>
            <a:r>
              <a:rPr lang="fr-CA" dirty="0"/>
              <a:t>  </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56</a:t>
            </a:fld>
            <a:endParaRPr lang="fr-FR"/>
          </a:p>
        </p:txBody>
      </p:sp>
      <p:sp>
        <p:nvSpPr>
          <p:cNvPr id="5" name="Espace réservé du pied de page 4">
            <a:extLst>
              <a:ext uri="{FF2B5EF4-FFF2-40B4-BE49-F238E27FC236}">
                <a16:creationId xmlns:a16="http://schemas.microsoft.com/office/drawing/2014/main" id="{A934C7E0-6D03-4BFC-BD9C-84538F5AF2CE}"/>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53044171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Question A - Dette convertible</a:t>
            </a:r>
          </a:p>
        </p:txBody>
      </p:sp>
      <p:sp>
        <p:nvSpPr>
          <p:cNvPr id="3" name="Espace réservé du contenu 2"/>
          <p:cNvSpPr>
            <a:spLocks noGrp="1"/>
          </p:cNvSpPr>
          <p:nvPr>
            <p:ph idx="1"/>
          </p:nvPr>
        </p:nvSpPr>
        <p:spPr/>
        <p:txBody>
          <a:bodyPr>
            <a:normAutofit/>
          </a:bodyPr>
          <a:lstStyle/>
          <a:p>
            <a:pPr marL="0" indent="0">
              <a:buNone/>
            </a:pPr>
            <a:r>
              <a:rPr lang="fr-CA" sz="3000" dirty="0"/>
              <a:t>Émission au 1</a:t>
            </a:r>
            <a:r>
              <a:rPr lang="fr-CA" sz="3000" baseline="30000" dirty="0"/>
              <a:t>er</a:t>
            </a:r>
            <a:r>
              <a:rPr lang="fr-CA" sz="3000" dirty="0"/>
              <a:t> janvier X1 d’une débenture de 1 000 000 $, convertible en un nombre fixe d’actions ordinaires, échéance dans 5 ans. Intérêts au taux de 2 % alors que taux du marché est à 9 %.</a:t>
            </a:r>
          </a:p>
          <a:p>
            <a:endParaRPr lang="fr-CA" dirty="0"/>
          </a:p>
          <a:p>
            <a:pPr lvl="1">
              <a:buFont typeface="Wingdings" charset="2"/>
              <a:buChar char="Ø"/>
            </a:pPr>
            <a:r>
              <a:rPr lang="fr-CA" i="1" dirty="0"/>
              <a:t>Préparez les écritures comptables pour les deux premiers exercices</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57</a:t>
            </a:fld>
            <a:endParaRPr lang="fr-FR"/>
          </a:p>
        </p:txBody>
      </p:sp>
      <p:sp>
        <p:nvSpPr>
          <p:cNvPr id="5" name="Espace réservé du pied de page 4">
            <a:extLst>
              <a:ext uri="{FF2B5EF4-FFF2-40B4-BE49-F238E27FC236}">
                <a16:creationId xmlns:a16="http://schemas.microsoft.com/office/drawing/2014/main" id="{35059F61-8168-44D7-BEE0-551996FF0440}"/>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388516412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Solution</a:t>
            </a:r>
          </a:p>
        </p:txBody>
      </p:sp>
      <p:sp>
        <p:nvSpPr>
          <p:cNvPr id="3" name="Espace réservé du contenu 2"/>
          <p:cNvSpPr>
            <a:spLocks noGrp="1"/>
          </p:cNvSpPr>
          <p:nvPr>
            <p:ph idx="1"/>
          </p:nvPr>
        </p:nvSpPr>
        <p:spPr/>
        <p:txBody>
          <a:bodyPr>
            <a:normAutofit fontScale="92500" lnSpcReduction="20000"/>
          </a:bodyPr>
          <a:lstStyle/>
          <a:p>
            <a:pPr marL="0" lvl="1" indent="0">
              <a:buNone/>
            </a:pPr>
            <a:r>
              <a:rPr lang="fr-FR" dirty="0"/>
              <a:t>1</a:t>
            </a:r>
            <a:r>
              <a:rPr lang="fr-FR" baseline="30000" dirty="0"/>
              <a:t>er</a:t>
            </a:r>
            <a:r>
              <a:rPr lang="fr-FR" dirty="0"/>
              <a:t> janvier X1</a:t>
            </a:r>
          </a:p>
          <a:p>
            <a:pPr marL="0" lvl="1" indent="0">
              <a:buNone/>
            </a:pPr>
            <a:r>
              <a:rPr lang="fr-FR" dirty="0"/>
              <a:t>Encaisse			1 000 000</a:t>
            </a:r>
          </a:p>
          <a:p>
            <a:pPr marL="0" lvl="1" indent="0">
              <a:buNone/>
            </a:pPr>
            <a:r>
              <a:rPr lang="fr-FR" dirty="0"/>
              <a:t>@  Dette				727 724</a:t>
            </a:r>
          </a:p>
          <a:p>
            <a:pPr marL="0" lvl="1" indent="0">
              <a:buNone/>
            </a:pPr>
            <a:r>
              <a:rPr lang="fr-FR" dirty="0"/>
              <a:t>      Option de conversion (CP)		272 276</a:t>
            </a:r>
          </a:p>
          <a:p>
            <a:pPr marL="0" lvl="1" indent="0">
              <a:buNone/>
            </a:pPr>
            <a:endParaRPr lang="fr-FR" dirty="0"/>
          </a:p>
          <a:p>
            <a:pPr marL="0" lvl="1" indent="0">
              <a:buNone/>
            </a:pPr>
            <a:r>
              <a:rPr lang="fr-FR" dirty="0"/>
              <a:t>31 décembre X1</a:t>
            </a:r>
          </a:p>
          <a:p>
            <a:pPr marL="0" lvl="1" indent="0">
              <a:buNone/>
            </a:pPr>
            <a:r>
              <a:rPr lang="fr-FR" dirty="0"/>
              <a:t>Frais financiers			65 495</a:t>
            </a:r>
          </a:p>
          <a:p>
            <a:pPr marL="0" lvl="1" indent="0">
              <a:buNone/>
            </a:pPr>
            <a:r>
              <a:rPr lang="fr-FR" dirty="0"/>
              <a:t>@  Encaisse				20 000</a:t>
            </a:r>
          </a:p>
          <a:p>
            <a:pPr marL="0" lvl="1" indent="0">
              <a:buNone/>
            </a:pPr>
            <a:r>
              <a:rPr lang="fr-FR" dirty="0"/>
              <a:t>       Dette				45 495</a:t>
            </a:r>
          </a:p>
          <a:p>
            <a:pPr marL="0" lvl="1" indent="0">
              <a:buNone/>
            </a:pPr>
            <a:endParaRPr lang="fr-FR" dirty="0"/>
          </a:p>
          <a:p>
            <a:pPr marL="0" lvl="1" indent="0">
              <a:buNone/>
            </a:pPr>
            <a:r>
              <a:rPr lang="fr-FR" dirty="0"/>
              <a:t>31 décembre X2</a:t>
            </a:r>
          </a:p>
          <a:p>
            <a:pPr marL="0" lvl="1" indent="0">
              <a:buNone/>
            </a:pPr>
            <a:r>
              <a:rPr lang="fr-FR" dirty="0"/>
              <a:t>Frais financiers			69 590</a:t>
            </a:r>
          </a:p>
          <a:p>
            <a:pPr marL="0" lvl="1" indent="0">
              <a:buNone/>
            </a:pPr>
            <a:r>
              <a:rPr lang="fr-FR" dirty="0"/>
              <a:t>@  Encaisse				20 000</a:t>
            </a:r>
          </a:p>
          <a:p>
            <a:pPr marL="0" lvl="1" indent="0">
              <a:buNone/>
            </a:pPr>
            <a:r>
              <a:rPr lang="fr-FR" dirty="0"/>
              <a:t>       Dette				49 590</a:t>
            </a:r>
          </a:p>
          <a:p>
            <a:pPr marL="0" lvl="1" indent="0">
              <a:buNone/>
            </a:pPr>
            <a:endParaRPr lang="fr-FR" i="1"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58</a:t>
            </a:fld>
            <a:endParaRPr lang="fr-FR"/>
          </a:p>
        </p:txBody>
      </p:sp>
      <p:sp>
        <p:nvSpPr>
          <p:cNvPr id="5" name="Espace réservé du pied de page 4">
            <a:extLst>
              <a:ext uri="{FF2B5EF4-FFF2-40B4-BE49-F238E27FC236}">
                <a16:creationId xmlns:a16="http://schemas.microsoft.com/office/drawing/2014/main" id="{90C4E3EB-41CE-459C-9A8A-1189500867FD}"/>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37577497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dirty="0"/>
              <a:t>Question B - Dette avec bons de souscription</a:t>
            </a:r>
          </a:p>
        </p:txBody>
      </p:sp>
      <p:sp>
        <p:nvSpPr>
          <p:cNvPr id="3" name="Espace réservé du contenu 2"/>
          <p:cNvSpPr>
            <a:spLocks noGrp="1"/>
          </p:cNvSpPr>
          <p:nvPr>
            <p:ph idx="1"/>
          </p:nvPr>
        </p:nvSpPr>
        <p:spPr>
          <a:xfrm>
            <a:off x="838200" y="2036461"/>
            <a:ext cx="10342944" cy="4089702"/>
          </a:xfrm>
        </p:spPr>
        <p:txBody>
          <a:bodyPr>
            <a:normAutofit fontScale="92500" lnSpcReduction="20000"/>
          </a:bodyPr>
          <a:lstStyle/>
          <a:p>
            <a:pPr marL="0" indent="0">
              <a:buNone/>
            </a:pPr>
            <a:r>
              <a:rPr lang="fr-CA" dirty="0"/>
              <a:t>Émission au 1</a:t>
            </a:r>
            <a:r>
              <a:rPr lang="fr-CA" baseline="30000" dirty="0"/>
              <a:t>er</a:t>
            </a:r>
            <a:r>
              <a:rPr lang="fr-CA" dirty="0"/>
              <a:t> janvier d’une dette de 2 000 000 $, échéance 4 ans. 100 bons de souscription sont « donnés » au prêteur. Intérêts au taux de 4% alors que taux du marché est à 7%.</a:t>
            </a:r>
          </a:p>
          <a:p>
            <a:endParaRPr lang="fr-CA" dirty="0"/>
          </a:p>
          <a:p>
            <a:pPr lvl="1">
              <a:buFont typeface="Wingdings" charset="2"/>
              <a:buChar char="Ø"/>
            </a:pPr>
            <a:r>
              <a:rPr lang="fr-CA" i="1" dirty="0"/>
              <a:t>Préparez les écritures comptables pour les deux premiers exercices</a:t>
            </a:r>
          </a:p>
          <a:p>
            <a:pPr lvl="1">
              <a:buFont typeface="Wingdings" charset="2"/>
              <a:buChar char="Ø"/>
            </a:pPr>
            <a:endParaRPr lang="fr-CA" i="1" dirty="0"/>
          </a:p>
          <a:p>
            <a:pPr lvl="1">
              <a:buFont typeface="Wingdings" charset="2"/>
              <a:buChar char="Ø"/>
            </a:pPr>
            <a:endParaRPr lang="fr-CA" i="1" dirty="0"/>
          </a:p>
          <a:p>
            <a:pPr lvl="1">
              <a:buFont typeface="Wingdings" charset="2"/>
              <a:buChar char="Ø"/>
            </a:pPr>
            <a:endParaRPr lang="fr-CA" i="1" dirty="0"/>
          </a:p>
          <a:p>
            <a:pPr marL="457200" lvl="1" indent="0">
              <a:buNone/>
            </a:pPr>
            <a:r>
              <a:rPr lang="fr-CA" i="1" dirty="0"/>
              <a:t>Les bons de souscription donnent le droit, et non l’obligation, d’acheter des </a:t>
            </a:r>
            <a:r>
              <a:rPr lang="fr-CA" b="1" i="1" dirty="0"/>
              <a:t>titres</a:t>
            </a:r>
            <a:r>
              <a:rPr lang="fr-CA" i="1" dirty="0"/>
              <a:t> supplémentaires (comme des </a:t>
            </a:r>
            <a:r>
              <a:rPr lang="fr-CA" b="1" i="1" dirty="0"/>
              <a:t>actions</a:t>
            </a:r>
            <a:r>
              <a:rPr lang="fr-CA" i="1" dirty="0"/>
              <a:t>) de la société émettrice à un prix et dans un délai préétablis. Les bons de souscription sont souvent « attachés » à des actions privilégiées ou à des obligations par la société émettrice lors d’une nouvelle émission.</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59</a:t>
            </a:fld>
            <a:endParaRPr lang="fr-FR"/>
          </a:p>
        </p:txBody>
      </p:sp>
      <p:sp>
        <p:nvSpPr>
          <p:cNvPr id="5" name="Espace réservé du pied de page 4">
            <a:extLst>
              <a:ext uri="{FF2B5EF4-FFF2-40B4-BE49-F238E27FC236}">
                <a16:creationId xmlns:a16="http://schemas.microsoft.com/office/drawing/2014/main" id="{29496B46-C605-41B6-83F9-D4F1AA880A34}"/>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18576332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Solution</a:t>
            </a:r>
          </a:p>
        </p:txBody>
      </p:sp>
      <p:sp>
        <p:nvSpPr>
          <p:cNvPr id="3" name="Espace réservé du contenu 2"/>
          <p:cNvSpPr>
            <a:spLocks noGrp="1"/>
          </p:cNvSpPr>
          <p:nvPr>
            <p:ph idx="1"/>
          </p:nvPr>
        </p:nvSpPr>
        <p:spPr/>
        <p:txBody>
          <a:bodyPr>
            <a:normAutofit fontScale="92500" lnSpcReduction="20000"/>
          </a:bodyPr>
          <a:lstStyle/>
          <a:p>
            <a:pPr marL="0" lvl="1" indent="0">
              <a:buNone/>
            </a:pPr>
            <a:r>
              <a:rPr lang="fr-FR" dirty="0"/>
              <a:t>1</a:t>
            </a:r>
            <a:r>
              <a:rPr lang="fr-FR" baseline="30000" dirty="0"/>
              <a:t>er</a:t>
            </a:r>
            <a:r>
              <a:rPr lang="fr-FR" dirty="0"/>
              <a:t> janvier X1</a:t>
            </a:r>
          </a:p>
          <a:p>
            <a:pPr marL="0" lvl="1" indent="0">
              <a:buNone/>
            </a:pPr>
            <a:r>
              <a:rPr lang="fr-FR" dirty="0"/>
              <a:t>Encaisse			2 000 000</a:t>
            </a:r>
          </a:p>
          <a:p>
            <a:pPr marL="0" lvl="1" indent="0">
              <a:buNone/>
            </a:pPr>
            <a:r>
              <a:rPr lang="fr-FR" dirty="0"/>
              <a:t>@  Dette				1 796 767</a:t>
            </a:r>
          </a:p>
          <a:p>
            <a:pPr marL="0" lvl="1" indent="0">
              <a:buNone/>
            </a:pPr>
            <a:r>
              <a:rPr lang="fr-FR" dirty="0"/>
              <a:t>      Bons de souscription (CP)		   203 233</a:t>
            </a:r>
          </a:p>
          <a:p>
            <a:pPr marL="0" lvl="1" indent="0">
              <a:buNone/>
            </a:pPr>
            <a:endParaRPr lang="fr-FR" dirty="0"/>
          </a:p>
          <a:p>
            <a:pPr marL="0" lvl="1" indent="0">
              <a:buNone/>
            </a:pPr>
            <a:r>
              <a:rPr lang="fr-FR" dirty="0"/>
              <a:t>31 décembre X1</a:t>
            </a:r>
          </a:p>
          <a:p>
            <a:pPr marL="0" lvl="1" indent="0">
              <a:buNone/>
            </a:pPr>
            <a:r>
              <a:rPr lang="fr-FR" dirty="0"/>
              <a:t>Frais financiers			125 774</a:t>
            </a:r>
          </a:p>
          <a:p>
            <a:pPr marL="0" lvl="1" indent="0">
              <a:buNone/>
            </a:pPr>
            <a:r>
              <a:rPr lang="fr-FR" dirty="0"/>
              <a:t>@  Encaisse				80 000</a:t>
            </a:r>
          </a:p>
          <a:p>
            <a:pPr marL="0" lvl="1" indent="0">
              <a:buNone/>
            </a:pPr>
            <a:r>
              <a:rPr lang="fr-FR" dirty="0"/>
              <a:t>       Dette				45 774</a:t>
            </a:r>
          </a:p>
          <a:p>
            <a:pPr marL="0" lvl="1" indent="0">
              <a:buNone/>
            </a:pPr>
            <a:endParaRPr lang="fr-FR" dirty="0"/>
          </a:p>
          <a:p>
            <a:pPr marL="0" lvl="1" indent="0">
              <a:buNone/>
            </a:pPr>
            <a:r>
              <a:rPr lang="fr-FR" dirty="0"/>
              <a:t>31 décembre X2</a:t>
            </a:r>
          </a:p>
          <a:p>
            <a:pPr marL="0" lvl="1" indent="0">
              <a:buNone/>
            </a:pPr>
            <a:r>
              <a:rPr lang="fr-FR" dirty="0"/>
              <a:t>Frais financiers			128 978</a:t>
            </a:r>
          </a:p>
          <a:p>
            <a:pPr marL="0" lvl="1" indent="0">
              <a:buNone/>
            </a:pPr>
            <a:r>
              <a:rPr lang="fr-FR" dirty="0"/>
              <a:t>@  Encaisse				80 000</a:t>
            </a:r>
          </a:p>
          <a:p>
            <a:pPr marL="0" lvl="1" indent="0">
              <a:buNone/>
            </a:pPr>
            <a:r>
              <a:rPr lang="fr-FR" dirty="0"/>
              <a:t>       Dette				48 978</a:t>
            </a:r>
          </a:p>
          <a:p>
            <a:pPr marL="0" lvl="1" indent="0">
              <a:buNone/>
            </a:pPr>
            <a:endParaRPr lang="fr-FR" i="1"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60</a:t>
            </a:fld>
            <a:endParaRPr lang="fr-FR"/>
          </a:p>
        </p:txBody>
      </p:sp>
      <p:sp>
        <p:nvSpPr>
          <p:cNvPr id="5" name="Espace réservé du pied de page 4">
            <a:extLst>
              <a:ext uri="{FF2B5EF4-FFF2-40B4-BE49-F238E27FC236}">
                <a16:creationId xmlns:a16="http://schemas.microsoft.com/office/drawing/2014/main" id="{E6EC67FD-5358-43A1-B7F0-5CADBC1DF725}"/>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168841810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dirty="0"/>
              <a:t>Question C - Dette prime / escompte</a:t>
            </a:r>
          </a:p>
        </p:txBody>
      </p:sp>
      <p:sp>
        <p:nvSpPr>
          <p:cNvPr id="3" name="Espace réservé du contenu 2"/>
          <p:cNvSpPr>
            <a:spLocks noGrp="1"/>
          </p:cNvSpPr>
          <p:nvPr>
            <p:ph idx="1"/>
          </p:nvPr>
        </p:nvSpPr>
        <p:spPr>
          <a:xfrm>
            <a:off x="838200" y="1825625"/>
            <a:ext cx="10662920" cy="4351338"/>
          </a:xfrm>
        </p:spPr>
        <p:txBody>
          <a:bodyPr>
            <a:normAutofit/>
          </a:bodyPr>
          <a:lstStyle/>
          <a:p>
            <a:pPr marL="0" indent="0">
              <a:buNone/>
            </a:pPr>
            <a:r>
              <a:rPr lang="fr-CA" dirty="0"/>
              <a:t>Émission au 1</a:t>
            </a:r>
            <a:r>
              <a:rPr lang="fr-CA" baseline="30000" dirty="0"/>
              <a:t>er</a:t>
            </a:r>
            <a:r>
              <a:rPr lang="fr-CA" dirty="0"/>
              <a:t> janvier d’une obligation de 1 000 000 $, échéance 5 ans. Intérêts (annuels) au taux de 7% alors que taux du marché est à 8 %.</a:t>
            </a:r>
          </a:p>
          <a:p>
            <a:endParaRPr lang="fr-CA" dirty="0"/>
          </a:p>
          <a:p>
            <a:pPr lvl="1">
              <a:buFont typeface="Wingdings" charset="2"/>
              <a:buChar char="Ø"/>
            </a:pPr>
            <a:r>
              <a:rPr lang="fr-CA" i="1" dirty="0"/>
              <a:t>Montant qui sera reçu suite à l’émission de l’obligation (aucun frais…)</a:t>
            </a:r>
          </a:p>
          <a:p>
            <a:pPr lvl="1">
              <a:buFont typeface="Wingdings" charset="2"/>
              <a:buChar char="Ø"/>
            </a:pPr>
            <a:r>
              <a:rPr lang="fr-CA" i="1" dirty="0"/>
              <a:t>Préparez les écritures comptables pour les deux premiers exercices</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61</a:t>
            </a:fld>
            <a:endParaRPr lang="fr-FR"/>
          </a:p>
        </p:txBody>
      </p:sp>
      <p:sp>
        <p:nvSpPr>
          <p:cNvPr id="5" name="Espace réservé du pied de page 4">
            <a:extLst>
              <a:ext uri="{FF2B5EF4-FFF2-40B4-BE49-F238E27FC236}">
                <a16:creationId xmlns:a16="http://schemas.microsoft.com/office/drawing/2014/main" id="{0B412328-6931-462B-BA51-08AADFC18F8A}"/>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140892692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Solution</a:t>
            </a:r>
          </a:p>
        </p:txBody>
      </p:sp>
      <p:sp>
        <p:nvSpPr>
          <p:cNvPr id="3" name="Espace réservé du contenu 2"/>
          <p:cNvSpPr>
            <a:spLocks noGrp="1"/>
          </p:cNvSpPr>
          <p:nvPr>
            <p:ph idx="1"/>
          </p:nvPr>
        </p:nvSpPr>
        <p:spPr/>
        <p:txBody>
          <a:bodyPr>
            <a:normAutofit fontScale="92500" lnSpcReduction="10000"/>
          </a:bodyPr>
          <a:lstStyle/>
          <a:p>
            <a:pPr marL="0" lvl="1" indent="0">
              <a:buNone/>
            </a:pPr>
            <a:r>
              <a:rPr lang="fr-FR" dirty="0"/>
              <a:t>1</a:t>
            </a:r>
            <a:r>
              <a:rPr lang="fr-FR" baseline="30000" dirty="0"/>
              <a:t>er</a:t>
            </a:r>
            <a:r>
              <a:rPr lang="fr-FR" dirty="0"/>
              <a:t> janvier X1</a:t>
            </a:r>
          </a:p>
          <a:p>
            <a:pPr marL="0" lvl="1" indent="0">
              <a:buNone/>
            </a:pPr>
            <a:r>
              <a:rPr lang="fr-FR" dirty="0"/>
              <a:t>Encaisse			960 073</a:t>
            </a:r>
          </a:p>
          <a:p>
            <a:pPr marL="0" lvl="1" indent="0">
              <a:buNone/>
            </a:pPr>
            <a:r>
              <a:rPr lang="fr-FR" dirty="0"/>
              <a:t>@  Dette				960 073</a:t>
            </a:r>
          </a:p>
          <a:p>
            <a:pPr marL="0" lvl="1" indent="0">
              <a:buNone/>
            </a:pPr>
            <a:r>
              <a:rPr lang="fr-FR" dirty="0"/>
              <a:t>      </a:t>
            </a:r>
          </a:p>
          <a:p>
            <a:pPr marL="0" lvl="1" indent="0">
              <a:buNone/>
            </a:pPr>
            <a:r>
              <a:rPr lang="fr-FR" dirty="0"/>
              <a:t>31 décembre X1</a:t>
            </a:r>
          </a:p>
          <a:p>
            <a:pPr marL="0" lvl="1" indent="0">
              <a:buNone/>
            </a:pPr>
            <a:r>
              <a:rPr lang="fr-FR" dirty="0"/>
              <a:t>Frais financiers			76 806</a:t>
            </a:r>
          </a:p>
          <a:p>
            <a:pPr marL="0" lvl="1" indent="0">
              <a:buNone/>
            </a:pPr>
            <a:r>
              <a:rPr lang="fr-FR" dirty="0"/>
              <a:t>@  Encaisse				70 000</a:t>
            </a:r>
          </a:p>
          <a:p>
            <a:pPr marL="0" lvl="1" indent="0">
              <a:buNone/>
            </a:pPr>
            <a:r>
              <a:rPr lang="fr-FR" dirty="0"/>
              <a:t>       Dette				  6 806</a:t>
            </a:r>
          </a:p>
          <a:p>
            <a:pPr marL="0" lvl="1" indent="0">
              <a:buNone/>
            </a:pPr>
            <a:endParaRPr lang="fr-FR" dirty="0"/>
          </a:p>
          <a:p>
            <a:pPr marL="0" lvl="1" indent="0">
              <a:buNone/>
            </a:pPr>
            <a:r>
              <a:rPr lang="fr-FR" dirty="0"/>
              <a:t>31 décembre X2</a:t>
            </a:r>
          </a:p>
          <a:p>
            <a:pPr marL="0" lvl="1" indent="0">
              <a:buNone/>
            </a:pPr>
            <a:r>
              <a:rPr lang="fr-FR" dirty="0"/>
              <a:t>Frais financiers			77 350</a:t>
            </a:r>
          </a:p>
          <a:p>
            <a:pPr marL="0" lvl="1" indent="0">
              <a:buNone/>
            </a:pPr>
            <a:r>
              <a:rPr lang="fr-FR" dirty="0"/>
              <a:t>@  Encaisse				70 000</a:t>
            </a:r>
          </a:p>
          <a:p>
            <a:pPr marL="0" lvl="1" indent="0">
              <a:buNone/>
            </a:pPr>
            <a:r>
              <a:rPr lang="fr-FR" dirty="0"/>
              <a:t>       Dette				  7 350</a:t>
            </a:r>
          </a:p>
          <a:p>
            <a:pPr marL="0" lvl="1" indent="0">
              <a:buNone/>
            </a:pPr>
            <a:endParaRPr lang="fr-FR" i="1"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62</a:t>
            </a:fld>
            <a:endParaRPr lang="fr-FR"/>
          </a:p>
        </p:txBody>
      </p:sp>
      <p:sp>
        <p:nvSpPr>
          <p:cNvPr id="5" name="Espace réservé du pied de page 4">
            <a:extLst>
              <a:ext uri="{FF2B5EF4-FFF2-40B4-BE49-F238E27FC236}">
                <a16:creationId xmlns:a16="http://schemas.microsoft.com/office/drawing/2014/main" id="{034A035B-6D5E-4489-A9FC-4EFD59F3312B}"/>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148564735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dirty="0"/>
              <a:t>Question D - Dette prime / escompte</a:t>
            </a:r>
          </a:p>
        </p:txBody>
      </p:sp>
      <p:sp>
        <p:nvSpPr>
          <p:cNvPr id="3" name="Espace réservé du contenu 2"/>
          <p:cNvSpPr>
            <a:spLocks noGrp="1"/>
          </p:cNvSpPr>
          <p:nvPr>
            <p:ph idx="1"/>
          </p:nvPr>
        </p:nvSpPr>
        <p:spPr/>
        <p:txBody>
          <a:bodyPr>
            <a:normAutofit/>
          </a:bodyPr>
          <a:lstStyle/>
          <a:p>
            <a:pPr marL="0" indent="0">
              <a:buNone/>
            </a:pPr>
            <a:r>
              <a:rPr lang="fr-CA" dirty="0"/>
              <a:t>Émission au 1</a:t>
            </a:r>
            <a:r>
              <a:rPr lang="fr-CA" baseline="30000" dirty="0"/>
              <a:t>er</a:t>
            </a:r>
            <a:r>
              <a:rPr lang="fr-CA" dirty="0"/>
              <a:t> janvier d’une obligation de 1 000 000 $, échéance 5 ans. Intérêts au taux de 7 % (annuels) alors que le montant reçu est 1 050 000 $</a:t>
            </a:r>
          </a:p>
          <a:p>
            <a:pPr marL="892175" indent="-892175">
              <a:buNone/>
            </a:pPr>
            <a:r>
              <a:rPr lang="fr-CA" dirty="0"/>
              <a:t>		(</a:t>
            </a:r>
            <a:r>
              <a:rPr lang="fr-CA" sz="2400" i="1" dirty="0"/>
              <a:t>ou encore faire ce problème à titre de placement et faire les écritures miroir)</a:t>
            </a:r>
            <a:endParaRPr lang="fr-CA" dirty="0"/>
          </a:p>
          <a:p>
            <a:endParaRPr lang="fr-CA" dirty="0"/>
          </a:p>
          <a:p>
            <a:pPr lvl="1">
              <a:buFont typeface="Wingdings" charset="2"/>
              <a:buChar char="Ø"/>
            </a:pPr>
            <a:r>
              <a:rPr lang="fr-CA" i="1" dirty="0"/>
              <a:t>Taux « réel » de la dette?</a:t>
            </a:r>
          </a:p>
          <a:p>
            <a:pPr lvl="1">
              <a:buFont typeface="Wingdings" charset="2"/>
              <a:buChar char="Ø"/>
            </a:pPr>
            <a:r>
              <a:rPr lang="fr-CA" i="1" dirty="0"/>
              <a:t>Préparez les écritures comptables pour les deux premiers exercices</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63</a:t>
            </a:fld>
            <a:endParaRPr lang="fr-FR"/>
          </a:p>
        </p:txBody>
      </p:sp>
      <p:sp>
        <p:nvSpPr>
          <p:cNvPr id="5" name="Espace réservé du pied de page 4">
            <a:extLst>
              <a:ext uri="{FF2B5EF4-FFF2-40B4-BE49-F238E27FC236}">
                <a16:creationId xmlns:a16="http://schemas.microsoft.com/office/drawing/2014/main" id="{0C4D0CE4-B711-4571-AAD2-DB17F4350163}"/>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151236689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Solution</a:t>
            </a:r>
          </a:p>
        </p:txBody>
      </p:sp>
      <p:sp>
        <p:nvSpPr>
          <p:cNvPr id="3" name="Espace réservé du contenu 2"/>
          <p:cNvSpPr>
            <a:spLocks noGrp="1"/>
          </p:cNvSpPr>
          <p:nvPr>
            <p:ph idx="1"/>
          </p:nvPr>
        </p:nvSpPr>
        <p:spPr/>
        <p:txBody>
          <a:bodyPr>
            <a:normAutofit fontScale="85000" lnSpcReduction="20000"/>
          </a:bodyPr>
          <a:lstStyle/>
          <a:p>
            <a:pPr marL="0" lvl="1" indent="0">
              <a:buNone/>
            </a:pPr>
            <a:r>
              <a:rPr lang="fr-FR" dirty="0"/>
              <a:t>5.82%</a:t>
            </a:r>
          </a:p>
          <a:p>
            <a:pPr marL="0" lvl="1" indent="0">
              <a:buNone/>
            </a:pPr>
            <a:endParaRPr lang="fr-FR" dirty="0"/>
          </a:p>
          <a:p>
            <a:pPr marL="0" lvl="1" indent="0">
              <a:buNone/>
            </a:pPr>
            <a:r>
              <a:rPr lang="fr-FR" dirty="0"/>
              <a:t>1</a:t>
            </a:r>
            <a:r>
              <a:rPr lang="fr-FR" baseline="30000" dirty="0"/>
              <a:t>er</a:t>
            </a:r>
            <a:r>
              <a:rPr lang="fr-FR" dirty="0"/>
              <a:t> janvier X1</a:t>
            </a:r>
          </a:p>
          <a:p>
            <a:pPr marL="0" lvl="1" indent="0">
              <a:buNone/>
            </a:pPr>
            <a:r>
              <a:rPr lang="fr-FR" dirty="0"/>
              <a:t>Encaisse				1 050 000</a:t>
            </a:r>
          </a:p>
          <a:p>
            <a:pPr marL="0" lvl="1" indent="0">
              <a:buNone/>
            </a:pPr>
            <a:r>
              <a:rPr lang="fr-FR" dirty="0"/>
              <a:t>@  Dette				1 050 000</a:t>
            </a:r>
          </a:p>
          <a:p>
            <a:pPr marL="0" lvl="1" indent="0">
              <a:buNone/>
            </a:pPr>
            <a:r>
              <a:rPr lang="fr-FR" dirty="0"/>
              <a:t>      </a:t>
            </a:r>
          </a:p>
          <a:p>
            <a:pPr marL="0" lvl="1" indent="0">
              <a:buNone/>
            </a:pPr>
            <a:r>
              <a:rPr lang="fr-FR" dirty="0"/>
              <a:t>31 décembre X1</a:t>
            </a:r>
          </a:p>
          <a:p>
            <a:pPr marL="0" lvl="1" indent="0">
              <a:buNone/>
            </a:pPr>
            <a:r>
              <a:rPr lang="fr-FR" dirty="0"/>
              <a:t>Frais financiers			61 110</a:t>
            </a:r>
          </a:p>
          <a:p>
            <a:pPr marL="0" lvl="1" indent="0">
              <a:buNone/>
            </a:pPr>
            <a:r>
              <a:rPr lang="fr-FR" dirty="0"/>
              <a:t>Dette				  8 890</a:t>
            </a:r>
          </a:p>
          <a:p>
            <a:pPr marL="0" lvl="1" indent="0">
              <a:buNone/>
            </a:pPr>
            <a:r>
              <a:rPr lang="fr-FR" dirty="0"/>
              <a:t>@  Encaisse				70 000</a:t>
            </a:r>
          </a:p>
          <a:p>
            <a:pPr marL="0" lvl="1" indent="0">
              <a:buNone/>
            </a:pPr>
            <a:r>
              <a:rPr lang="fr-FR" dirty="0"/>
              <a:t>       </a:t>
            </a:r>
          </a:p>
          <a:p>
            <a:pPr marL="0" lvl="1" indent="0">
              <a:buNone/>
            </a:pPr>
            <a:r>
              <a:rPr lang="fr-FR" dirty="0"/>
              <a:t>31 décembre X2</a:t>
            </a:r>
          </a:p>
          <a:p>
            <a:pPr marL="0" lvl="1" indent="0">
              <a:buNone/>
            </a:pPr>
            <a:r>
              <a:rPr lang="fr-FR" dirty="0"/>
              <a:t>Frais financiers			60 593</a:t>
            </a:r>
          </a:p>
          <a:p>
            <a:pPr marL="0" lvl="1" indent="0">
              <a:buNone/>
            </a:pPr>
            <a:r>
              <a:rPr lang="fr-FR" dirty="0"/>
              <a:t>Dette				  9 407</a:t>
            </a:r>
          </a:p>
          <a:p>
            <a:pPr marL="0" lvl="1" indent="0">
              <a:buNone/>
            </a:pPr>
            <a:r>
              <a:rPr lang="fr-FR" dirty="0"/>
              <a:t>@  Encaisse				70 000</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64</a:t>
            </a:fld>
            <a:endParaRPr lang="fr-FR"/>
          </a:p>
        </p:txBody>
      </p:sp>
      <p:sp>
        <p:nvSpPr>
          <p:cNvPr id="5" name="Espace réservé du pied de page 4">
            <a:extLst>
              <a:ext uri="{FF2B5EF4-FFF2-40B4-BE49-F238E27FC236}">
                <a16:creationId xmlns:a16="http://schemas.microsoft.com/office/drawing/2014/main" id="{FBE4CC26-B6B1-44C7-8E0F-FF516B453A8C}"/>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02987189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b="1" dirty="0"/>
              <a:t>Présentation dans les états financiers</a:t>
            </a:r>
          </a:p>
        </p:txBody>
      </p:sp>
      <p:sp>
        <p:nvSpPr>
          <p:cNvPr id="3" name="Espace réservé du contenu 2"/>
          <p:cNvSpPr>
            <a:spLocks noGrp="1"/>
          </p:cNvSpPr>
          <p:nvPr>
            <p:ph idx="1"/>
          </p:nvPr>
        </p:nvSpPr>
        <p:spPr/>
        <p:txBody>
          <a:bodyPr/>
          <a:lstStyle/>
          <a:p>
            <a:r>
              <a:rPr lang="fr-CA" dirty="0"/>
              <a:t>Classement courant / non courant</a:t>
            </a:r>
          </a:p>
          <a:p>
            <a:pPr lvl="1"/>
            <a:r>
              <a:rPr lang="fr-CA" dirty="0"/>
              <a:t>Attention si manquement aux clauses protectrices : classement dans le courant</a:t>
            </a:r>
          </a:p>
          <a:p>
            <a:pPr lvl="2"/>
            <a:r>
              <a:rPr lang="fr-CA" dirty="0"/>
              <a:t>Sauf si renonciation par le prêteur pour 12 mois</a:t>
            </a:r>
          </a:p>
          <a:p>
            <a:pPr lvl="3"/>
            <a:r>
              <a:rPr lang="fr-CA" dirty="0"/>
              <a:t>IFRS : avant la date de fin de période</a:t>
            </a:r>
          </a:p>
          <a:p>
            <a:pPr lvl="3"/>
            <a:r>
              <a:rPr lang="fr-CA" dirty="0"/>
              <a:t>NCECF : avant la finalisation des états financiers</a:t>
            </a:r>
          </a:p>
          <a:p>
            <a:pPr marL="457200" lvl="1" indent="0">
              <a:buNone/>
            </a:pPr>
            <a:endParaRPr lang="fr-CA" dirty="0"/>
          </a:p>
          <a:p>
            <a:r>
              <a:rPr lang="fr-CA" dirty="0"/>
              <a:t>Notes aux états financiers, décrivant les principales modalités</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65</a:t>
            </a:fld>
            <a:endParaRPr lang="fr-FR"/>
          </a:p>
        </p:txBody>
      </p:sp>
      <p:sp>
        <p:nvSpPr>
          <p:cNvPr id="5" name="Espace réservé du pied de page 4">
            <a:extLst>
              <a:ext uri="{FF2B5EF4-FFF2-40B4-BE49-F238E27FC236}">
                <a16:creationId xmlns:a16="http://schemas.microsoft.com/office/drawing/2014/main" id="{A5765934-84BE-4096-9C2E-08293804587F}"/>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4501436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dirty="0">
                <a:solidFill>
                  <a:srgbClr val="FF0000"/>
                </a:solidFill>
              </a:rPr>
              <a:t>Comptabilité de couverture</a:t>
            </a:r>
            <a:endParaRPr lang="fr-CA" dirty="0"/>
          </a:p>
        </p:txBody>
      </p:sp>
      <p:sp>
        <p:nvSpPr>
          <p:cNvPr id="3" name="Espace réservé du contenu 2"/>
          <p:cNvSpPr>
            <a:spLocks noGrp="1"/>
          </p:cNvSpPr>
          <p:nvPr>
            <p:ph idx="1"/>
          </p:nvPr>
        </p:nvSpPr>
        <p:spPr/>
        <p:txBody>
          <a:bodyPr/>
          <a:lstStyle/>
          <a:p>
            <a:pPr marL="0" indent="0" algn="ctr">
              <a:buNone/>
            </a:pPr>
            <a:r>
              <a:rPr lang="fr-CA" sz="4000" dirty="0">
                <a:solidFill>
                  <a:srgbClr val="FF0000"/>
                </a:solidFill>
              </a:rPr>
              <a:t> </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66</a:t>
            </a:fld>
            <a:endParaRPr lang="fr-FR"/>
          </a:p>
        </p:txBody>
      </p:sp>
      <p:sp>
        <p:nvSpPr>
          <p:cNvPr id="5" name="Espace réservé du pied de page 4">
            <a:extLst>
              <a:ext uri="{FF2B5EF4-FFF2-40B4-BE49-F238E27FC236}">
                <a16:creationId xmlns:a16="http://schemas.microsoft.com/office/drawing/2014/main" id="{420EBB81-1C41-46FE-859D-86FC4652DE1F}"/>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417235272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Types de couverture</a:t>
            </a:r>
          </a:p>
        </p:txBody>
      </p:sp>
      <p:sp>
        <p:nvSpPr>
          <p:cNvPr id="3" name="Espace réservé du contenu 2"/>
          <p:cNvSpPr>
            <a:spLocks noGrp="1"/>
          </p:cNvSpPr>
          <p:nvPr>
            <p:ph idx="1"/>
          </p:nvPr>
        </p:nvSpPr>
        <p:spPr/>
        <p:txBody>
          <a:bodyPr>
            <a:normAutofit/>
          </a:bodyPr>
          <a:lstStyle/>
          <a:p>
            <a:r>
              <a:rPr lang="fr-CA" dirty="0"/>
              <a:t>Couverture de juste valeur </a:t>
            </a:r>
          </a:p>
          <a:p>
            <a:pPr lvl="1"/>
            <a:r>
              <a:rPr lang="fr-CA" dirty="0"/>
              <a:t>Swap taux fixe à taux variable (juste valeur)</a:t>
            </a:r>
          </a:p>
          <a:p>
            <a:pPr marL="457200" lvl="1" indent="0">
              <a:buNone/>
            </a:pPr>
            <a:endParaRPr lang="fr-CA" sz="800" dirty="0"/>
          </a:p>
          <a:p>
            <a:r>
              <a:rPr lang="fr-CA" dirty="0"/>
              <a:t>Couverture de flux de trésorerie</a:t>
            </a:r>
          </a:p>
          <a:p>
            <a:pPr lvl="1"/>
            <a:r>
              <a:rPr lang="fr-CA" dirty="0"/>
              <a:t>Achat </a:t>
            </a:r>
            <a:r>
              <a:rPr lang="fr-CA" dirty="0" err="1"/>
              <a:t>immo</a:t>
            </a:r>
            <a:r>
              <a:rPr lang="fr-CA" dirty="0"/>
              <a:t> en devise, date de paiement dans le futur</a:t>
            </a:r>
          </a:p>
          <a:p>
            <a:pPr marL="457200" lvl="1" indent="0">
              <a:buNone/>
            </a:pPr>
            <a:endParaRPr lang="fr-CA" sz="800" dirty="0"/>
          </a:p>
          <a:p>
            <a:r>
              <a:rPr lang="fr-CA" dirty="0"/>
              <a:t>Couverture d’un investissement net dans un établissement étranger autonome</a:t>
            </a:r>
          </a:p>
          <a:p>
            <a:pPr lvl="1"/>
            <a:r>
              <a:rPr lang="fr-CA" dirty="0"/>
              <a:t>Similaire à couverture de flux de trésorerie</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67</a:t>
            </a:fld>
            <a:endParaRPr lang="fr-FR"/>
          </a:p>
        </p:txBody>
      </p:sp>
      <p:sp>
        <p:nvSpPr>
          <p:cNvPr id="5" name="Espace réservé du pied de page 4">
            <a:extLst>
              <a:ext uri="{FF2B5EF4-FFF2-40B4-BE49-F238E27FC236}">
                <a16:creationId xmlns:a16="http://schemas.microsoft.com/office/drawing/2014/main" id="{5E70DF75-CAA6-481A-AE19-C59B2777F660}"/>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47857936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Comptabilité de couverture</a:t>
            </a:r>
          </a:p>
        </p:txBody>
      </p:sp>
      <p:sp>
        <p:nvSpPr>
          <p:cNvPr id="3" name="Espace réservé du contenu 2"/>
          <p:cNvSpPr>
            <a:spLocks noGrp="1"/>
          </p:cNvSpPr>
          <p:nvPr>
            <p:ph idx="1"/>
          </p:nvPr>
        </p:nvSpPr>
        <p:spPr/>
        <p:txBody>
          <a:bodyPr>
            <a:normAutofit/>
          </a:bodyPr>
          <a:lstStyle/>
          <a:p>
            <a:r>
              <a:rPr lang="fr-FR" dirty="0"/>
              <a:t>Parmi les types de relations de couverture les plus fréquents, nous trouvons : </a:t>
            </a:r>
          </a:p>
          <a:p>
            <a:pPr lvl="1"/>
            <a:r>
              <a:rPr lang="fr-FR" dirty="0"/>
              <a:t>Couverture de débours et encaissements en trésorerie en provenance et à destination de fournisseurs et de clients étrangers au moyen de contrats de change à terme</a:t>
            </a:r>
          </a:p>
          <a:p>
            <a:pPr lvl="1"/>
            <a:r>
              <a:rPr lang="fr-FR" dirty="0"/>
              <a:t>Couverture du prix des marchandises ayant une incidence sur le coût des fournitures ou le prix de vente, au moyen de contrats à terme de gré́ à gré́ sur marchandises et de contrats à terme négociables en bourse</a:t>
            </a:r>
          </a:p>
          <a:p>
            <a:pPr lvl="1"/>
            <a:r>
              <a:rPr lang="fr-FR" dirty="0"/>
              <a:t>Couverture d’emprunts à taux variable au moyen d’emprunts payeurs de taux d’intérêts fixes/receveurs de taux d’intérêts variables</a:t>
            </a:r>
          </a:p>
          <a:p>
            <a:pPr lvl="1"/>
            <a:endParaRPr lang="fr-FR" dirty="0"/>
          </a:p>
          <a:p>
            <a:endParaRPr lang="fr-FR" dirty="0"/>
          </a:p>
          <a:p>
            <a:endParaRPr lang="fr-FR" dirty="0"/>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68</a:t>
            </a:fld>
            <a:endParaRPr lang="fr-FR"/>
          </a:p>
        </p:txBody>
      </p:sp>
      <p:sp>
        <p:nvSpPr>
          <p:cNvPr id="5" name="Espace réservé du pied de page 4">
            <a:extLst>
              <a:ext uri="{FF2B5EF4-FFF2-40B4-BE49-F238E27FC236}">
                <a16:creationId xmlns:a16="http://schemas.microsoft.com/office/drawing/2014/main" id="{44A27AE9-27F7-4BEF-92A2-168D3653779C}"/>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78131671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6"/>
            <a:ext cx="10515600" cy="812034"/>
          </a:xfrm>
        </p:spPr>
        <p:txBody>
          <a:bodyPr>
            <a:normAutofit/>
          </a:bodyPr>
          <a:lstStyle/>
          <a:p>
            <a:r>
              <a:rPr lang="fr-CA" sz="3600" dirty="0"/>
              <a:t>Couverture d’un actif / passif portant intérêt</a:t>
            </a:r>
          </a:p>
        </p:txBody>
      </p:sp>
      <p:sp>
        <p:nvSpPr>
          <p:cNvPr id="3" name="Espace réservé du contenu 2"/>
          <p:cNvSpPr>
            <a:spLocks noGrp="1"/>
          </p:cNvSpPr>
          <p:nvPr>
            <p:ph idx="1"/>
          </p:nvPr>
        </p:nvSpPr>
        <p:spPr>
          <a:xfrm>
            <a:off x="838200" y="1830917"/>
            <a:ext cx="10515600" cy="4295246"/>
          </a:xfrm>
        </p:spPr>
        <p:txBody>
          <a:bodyPr/>
          <a:lstStyle/>
          <a:p>
            <a:r>
              <a:rPr lang="fr-CA" dirty="0"/>
              <a:t>Élément couvert : comptabilise les intérêts au taux prévu </a:t>
            </a:r>
          </a:p>
          <a:p>
            <a:pPr lvl="1"/>
            <a:r>
              <a:rPr lang="fr-CA" dirty="0"/>
              <a:t>Amortissement prime / escompte</a:t>
            </a:r>
          </a:p>
          <a:p>
            <a:pPr lvl="1"/>
            <a:r>
              <a:rPr lang="fr-CA" dirty="0"/>
              <a:t>Amortissement frais transaction</a:t>
            </a:r>
          </a:p>
          <a:p>
            <a:pPr marL="0" indent="0">
              <a:buNone/>
            </a:pPr>
            <a:endParaRPr lang="fr-CA" dirty="0"/>
          </a:p>
          <a:p>
            <a:r>
              <a:rPr lang="fr-CA" dirty="0"/>
              <a:t>Swap : soldes nets du swap de taux sont comptabilisés en tant qu’ajustement des intérêts sur l’élément couvert</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69</a:t>
            </a:fld>
            <a:endParaRPr lang="fr-FR"/>
          </a:p>
        </p:txBody>
      </p:sp>
      <p:sp>
        <p:nvSpPr>
          <p:cNvPr id="5" name="Espace réservé du pied de page 4">
            <a:extLst>
              <a:ext uri="{FF2B5EF4-FFF2-40B4-BE49-F238E27FC236}">
                <a16:creationId xmlns:a16="http://schemas.microsoft.com/office/drawing/2014/main" id="{43246155-2B8A-4182-B7F5-896C38C2833D}"/>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112437314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5"/>
            <a:ext cx="10515600" cy="854075"/>
          </a:xfrm>
        </p:spPr>
        <p:txBody>
          <a:bodyPr>
            <a:normAutofit/>
          </a:bodyPr>
          <a:lstStyle/>
          <a:p>
            <a:r>
              <a:rPr lang="fr-CA" dirty="0"/>
              <a:t>Effet comptabilité de couverture selon NCECF</a:t>
            </a:r>
          </a:p>
        </p:txBody>
      </p:sp>
      <p:sp>
        <p:nvSpPr>
          <p:cNvPr id="3" name="Espace réservé du contenu 2"/>
          <p:cNvSpPr>
            <a:spLocks noGrp="1"/>
          </p:cNvSpPr>
          <p:nvPr>
            <p:ph idx="1"/>
          </p:nvPr>
        </p:nvSpPr>
        <p:spPr>
          <a:xfrm>
            <a:off x="914400" y="2321127"/>
            <a:ext cx="10439400" cy="3805036"/>
          </a:xfrm>
        </p:spPr>
        <p:txBody>
          <a:bodyPr/>
          <a:lstStyle/>
          <a:p>
            <a:r>
              <a:rPr lang="fr-CA" dirty="0"/>
              <a:t>Dérivé hors bilan</a:t>
            </a:r>
          </a:p>
          <a:p>
            <a:pPr lvl="1"/>
            <a:r>
              <a:rPr lang="fr-CA" dirty="0"/>
              <a:t>Mais info à fournir</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70</a:t>
            </a:fld>
            <a:endParaRPr lang="fr-FR"/>
          </a:p>
        </p:txBody>
      </p:sp>
      <p:sp>
        <p:nvSpPr>
          <p:cNvPr id="5" name="Espace réservé du pied de page 4">
            <a:extLst>
              <a:ext uri="{FF2B5EF4-FFF2-40B4-BE49-F238E27FC236}">
                <a16:creationId xmlns:a16="http://schemas.microsoft.com/office/drawing/2014/main" id="{9F7199AB-6172-400D-B401-63ECA36CF580}"/>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410477966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872359" y="274638"/>
            <a:ext cx="10481441" cy="571182"/>
          </a:xfrm>
        </p:spPr>
        <p:txBody>
          <a:bodyPr>
            <a:normAutofit fontScale="90000"/>
          </a:bodyPr>
          <a:lstStyle/>
          <a:p>
            <a:r>
              <a:rPr lang="fr-CA" dirty="0" err="1"/>
              <a:t>Compt</a:t>
            </a:r>
            <a:r>
              <a:rPr lang="fr-CA" dirty="0"/>
              <a:t>. de couverture – Question A</a:t>
            </a:r>
          </a:p>
        </p:txBody>
      </p:sp>
      <p:sp>
        <p:nvSpPr>
          <p:cNvPr id="3" name="Espace réservé du contenu 2"/>
          <p:cNvSpPr>
            <a:spLocks noGrp="1"/>
          </p:cNvSpPr>
          <p:nvPr>
            <p:ph idx="1"/>
          </p:nvPr>
        </p:nvSpPr>
        <p:spPr>
          <a:xfrm>
            <a:off x="872359" y="1103585"/>
            <a:ext cx="10481441" cy="5252765"/>
          </a:xfrm>
        </p:spPr>
        <p:txBody>
          <a:bodyPr>
            <a:noAutofit/>
          </a:bodyPr>
          <a:lstStyle/>
          <a:p>
            <a:pPr marL="0" indent="0">
              <a:buNone/>
            </a:pPr>
            <a:r>
              <a:rPr lang="fr-CA" sz="1800" dirty="0"/>
              <a:t>Le 30 septembre 20X7 ABC, une société canadienne, commande une machine de XYZ pour un montant de 500 000 Euros (€). La date à laquelle ABC prévoit recevoir la machine et effectuer le paiement à XYZ est le 31 mars 20X8.</a:t>
            </a:r>
          </a:p>
          <a:p>
            <a:pPr marL="0" indent="0">
              <a:buNone/>
            </a:pPr>
            <a:endParaRPr lang="fr-CA" sz="700" dirty="0"/>
          </a:p>
          <a:p>
            <a:pPr marL="0" indent="0">
              <a:buNone/>
            </a:pPr>
            <a:r>
              <a:rPr lang="fr-CA" sz="1800" dirty="0"/>
              <a:t>Le 30 septembre 20X7, ABC décide de couvrir le risque de change (€ en $) sur l’achat de la machine en concluant un contrat à terme de gré à gré pour l’achat de 500 000 € pour 700 000 $. Le contrat vient à échéance le 31 mars 20X8.</a:t>
            </a:r>
          </a:p>
          <a:p>
            <a:pPr marL="0" indent="0">
              <a:buNone/>
            </a:pPr>
            <a:endParaRPr lang="fr-CA" sz="700" dirty="0"/>
          </a:p>
          <a:p>
            <a:pPr marL="0" indent="0">
              <a:buNone/>
            </a:pPr>
            <a:r>
              <a:rPr lang="fr-CA" sz="1800" dirty="0"/>
              <a:t>Le 20 mars 20X8, XYZ livre la machine et ABC effectue le paiement de 500 000 €. </a:t>
            </a:r>
          </a:p>
          <a:p>
            <a:pPr marL="0" indent="0">
              <a:buNone/>
            </a:pPr>
            <a:endParaRPr lang="fr-CA" sz="1100" dirty="0"/>
          </a:p>
          <a:p>
            <a:pPr marL="0" indent="0">
              <a:buNone/>
            </a:pPr>
            <a:r>
              <a:rPr lang="fr-CA" sz="1800" dirty="0"/>
              <a:t>Voici les cours (taux) de change aux différentes dates</a:t>
            </a:r>
          </a:p>
          <a:p>
            <a:pPr marL="0" indent="0">
              <a:buNone/>
            </a:pPr>
            <a:r>
              <a:rPr lang="fr-CA" sz="1800" dirty="0"/>
              <a:t>Date			              Taux courant                      Taux à terme</a:t>
            </a:r>
          </a:p>
          <a:p>
            <a:pPr marL="0" indent="0">
              <a:buNone/>
            </a:pPr>
            <a:r>
              <a:rPr lang="fr-CA" sz="1800" dirty="0"/>
              <a:t>31 décembre 20X7			1,47		        1,50 (3 mois)</a:t>
            </a:r>
          </a:p>
          <a:p>
            <a:pPr marL="0" indent="0">
              <a:buNone/>
            </a:pPr>
            <a:r>
              <a:rPr lang="fr-CA" sz="1800" dirty="0"/>
              <a:t>20 mars 20X8			1,33                           	        1,35 (1 mois)</a:t>
            </a:r>
          </a:p>
          <a:p>
            <a:pPr marL="0" indent="0">
              <a:buNone/>
            </a:pPr>
            <a:r>
              <a:rPr lang="fr-CA" sz="1800" dirty="0"/>
              <a:t>31 mars 20X8                           		1,31                                    N/A               </a:t>
            </a:r>
          </a:p>
          <a:p>
            <a:pPr marL="0" indent="0">
              <a:buNone/>
            </a:pPr>
            <a:r>
              <a:rPr lang="fr-CA" sz="1800" dirty="0"/>
              <a:t>ABC a estimé la juste valeur du contrat à terme au 31 décembre 20X7 à 47 700 $. </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71</a:t>
            </a:fld>
            <a:endParaRPr lang="fr-FR"/>
          </a:p>
        </p:txBody>
      </p:sp>
      <p:sp>
        <p:nvSpPr>
          <p:cNvPr id="5" name="Espace réservé du pied de page 4">
            <a:extLst>
              <a:ext uri="{FF2B5EF4-FFF2-40B4-BE49-F238E27FC236}">
                <a16:creationId xmlns:a16="http://schemas.microsoft.com/office/drawing/2014/main" id="{20EC9C34-6479-4B80-98B2-86B0CBED7D0D}"/>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0382064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838200" y="274639"/>
            <a:ext cx="10515600" cy="720195"/>
          </a:xfrm>
        </p:spPr>
        <p:txBody>
          <a:bodyPr>
            <a:normAutofit/>
          </a:bodyPr>
          <a:lstStyle/>
          <a:p>
            <a:r>
              <a:rPr lang="fr-CA" sz="3200" dirty="0" err="1"/>
              <a:t>Compt</a:t>
            </a:r>
            <a:r>
              <a:rPr lang="fr-CA" sz="3200" dirty="0"/>
              <a:t> de couverture – Question A</a:t>
            </a:r>
          </a:p>
        </p:txBody>
      </p:sp>
      <p:sp>
        <p:nvSpPr>
          <p:cNvPr id="3" name="Espace réservé du contenu 2"/>
          <p:cNvSpPr>
            <a:spLocks noGrp="1"/>
          </p:cNvSpPr>
          <p:nvPr>
            <p:ph idx="1"/>
          </p:nvPr>
        </p:nvSpPr>
        <p:spPr/>
        <p:txBody>
          <a:bodyPr>
            <a:normAutofit lnSpcReduction="10000"/>
          </a:bodyPr>
          <a:lstStyle/>
          <a:p>
            <a:pPr marL="0" indent="0">
              <a:buNone/>
            </a:pPr>
            <a:r>
              <a:rPr lang="fr-CA" sz="2600" i="1" u="sng" dirty="0"/>
              <a:t>Travail à faire : </a:t>
            </a:r>
            <a:endParaRPr lang="fr-CA" sz="3500" dirty="0"/>
          </a:p>
          <a:p>
            <a:pPr marL="0" indent="0">
              <a:buNone/>
            </a:pPr>
            <a:r>
              <a:rPr lang="fr-CA" sz="1900" dirty="0"/>
              <a:t>Pour chacune des dates suivantes : </a:t>
            </a:r>
            <a:endParaRPr lang="fr-CA" sz="2600" dirty="0"/>
          </a:p>
          <a:p>
            <a:pPr lvl="0"/>
            <a:r>
              <a:rPr lang="fr-CA" sz="2200" dirty="0"/>
              <a:t>30 septembre 20X7</a:t>
            </a:r>
          </a:p>
          <a:p>
            <a:pPr lvl="0"/>
            <a:r>
              <a:rPr lang="fr-CA" sz="2200" dirty="0"/>
              <a:t>31 décembre 20X7</a:t>
            </a:r>
          </a:p>
          <a:p>
            <a:pPr lvl="0"/>
            <a:r>
              <a:rPr lang="fr-CA" sz="2200" dirty="0"/>
              <a:t>20 mars 20X8</a:t>
            </a:r>
          </a:p>
          <a:p>
            <a:pPr lvl="0"/>
            <a:r>
              <a:rPr lang="fr-CA" sz="2200" dirty="0"/>
              <a:t>31 mars 20X8</a:t>
            </a:r>
          </a:p>
          <a:p>
            <a:pPr marL="0" indent="0">
              <a:buNone/>
            </a:pPr>
            <a:endParaRPr lang="fr-CA" sz="3500" dirty="0"/>
          </a:p>
          <a:p>
            <a:pPr marL="0" indent="0">
              <a:buNone/>
            </a:pPr>
            <a:r>
              <a:rPr lang="fr-CA" sz="2600" i="1" dirty="0"/>
              <a:t>Préparez les écritures de journal, si au 30 septembre 2017, ABC décidait :  </a:t>
            </a:r>
            <a:endParaRPr lang="fr-CA" sz="3500" i="1" dirty="0"/>
          </a:p>
          <a:p>
            <a:pPr lvl="1"/>
            <a:r>
              <a:rPr lang="fr-CA" sz="2200" i="1" dirty="0"/>
              <a:t>de ne pas appliquer la comptabilité de couverture</a:t>
            </a:r>
            <a:endParaRPr lang="fr-CA" sz="3500" i="1" dirty="0"/>
          </a:p>
          <a:p>
            <a:pPr lvl="1"/>
            <a:r>
              <a:rPr lang="fr-CA" sz="2200" i="1" dirty="0"/>
              <a:t>d’appliquer la comptabilité de couverture </a:t>
            </a:r>
            <a:endParaRPr lang="fr-CA" sz="3500" i="1" dirty="0"/>
          </a:p>
          <a:p>
            <a:endParaRPr lang="fr-CA"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72</a:t>
            </a:fld>
            <a:endParaRPr lang="fr-FR"/>
          </a:p>
        </p:txBody>
      </p:sp>
      <p:sp>
        <p:nvSpPr>
          <p:cNvPr id="5" name="Espace réservé du pied de page 4">
            <a:extLst>
              <a:ext uri="{FF2B5EF4-FFF2-40B4-BE49-F238E27FC236}">
                <a16:creationId xmlns:a16="http://schemas.microsoft.com/office/drawing/2014/main" id="{F25360FC-3004-47C7-9ACF-29C932392384}"/>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58175255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882869" y="274638"/>
            <a:ext cx="10470931" cy="550862"/>
          </a:xfrm>
        </p:spPr>
        <p:txBody>
          <a:bodyPr>
            <a:normAutofit/>
          </a:bodyPr>
          <a:lstStyle/>
          <a:p>
            <a:r>
              <a:rPr lang="fr-FR" sz="2800" dirty="0"/>
              <a:t>Comptabilité de couverture – Question A (NCECF)</a:t>
            </a:r>
          </a:p>
        </p:txBody>
      </p:sp>
      <p:sp>
        <p:nvSpPr>
          <p:cNvPr id="3" name="Espace réservé du contenu 2"/>
          <p:cNvSpPr>
            <a:spLocks noGrp="1"/>
          </p:cNvSpPr>
          <p:nvPr>
            <p:ph idx="1"/>
          </p:nvPr>
        </p:nvSpPr>
        <p:spPr>
          <a:xfrm>
            <a:off x="882869" y="1185334"/>
            <a:ext cx="10470931" cy="4940830"/>
          </a:xfrm>
        </p:spPr>
        <p:txBody>
          <a:bodyPr>
            <a:normAutofit fontScale="77500" lnSpcReduction="20000"/>
          </a:bodyPr>
          <a:lstStyle/>
          <a:p>
            <a:pPr marL="0" indent="0">
              <a:buNone/>
            </a:pPr>
            <a:r>
              <a:rPr lang="fr-FR" sz="3600" b="1" dirty="0"/>
              <a:t>Cas I - ABC choisit de ne pas appliquer la comptabilité́ de couverture </a:t>
            </a:r>
          </a:p>
          <a:p>
            <a:pPr marL="0" indent="0">
              <a:buNone/>
            </a:pPr>
            <a:endParaRPr lang="fr-FR" dirty="0"/>
          </a:p>
          <a:p>
            <a:r>
              <a:rPr lang="fr-FR" dirty="0"/>
              <a:t>30/09/20X7 : aucune écriture </a:t>
            </a:r>
          </a:p>
          <a:p>
            <a:r>
              <a:rPr lang="fr-FR" dirty="0"/>
              <a:t>31/12/20X7 : Dérivé́ à la juste valeur</a:t>
            </a:r>
          </a:p>
          <a:p>
            <a:pPr marL="0" indent="0">
              <a:buNone/>
            </a:pPr>
            <a:r>
              <a:rPr lang="fr-FR" dirty="0"/>
              <a:t>		 Instrument financier – dérivé́ (actif) 		</a:t>
            </a:r>
            <a:r>
              <a:rPr lang="fr-FR" dirty="0">
                <a:solidFill>
                  <a:srgbClr val="00B0F0"/>
                </a:solidFill>
              </a:rPr>
              <a:t>47 700</a:t>
            </a:r>
          </a:p>
          <a:p>
            <a:pPr marL="0" indent="0">
              <a:buNone/>
            </a:pPr>
            <a:r>
              <a:rPr lang="fr-FR" dirty="0"/>
              <a:t>		@ Gain  (état des résultats)				47 700</a:t>
            </a:r>
          </a:p>
          <a:p>
            <a:r>
              <a:rPr lang="fr-FR" dirty="0">
                <a:solidFill>
                  <a:srgbClr val="FF0000"/>
                </a:solidFill>
              </a:rPr>
              <a:t>20/03/20X8 :</a:t>
            </a:r>
          </a:p>
          <a:p>
            <a:pPr marL="0" indent="0">
              <a:buNone/>
            </a:pPr>
            <a:r>
              <a:rPr lang="fr-FR" dirty="0">
                <a:solidFill>
                  <a:srgbClr val="FF0000"/>
                </a:solidFill>
              </a:rPr>
              <a:t>		Machine 					665 000</a:t>
            </a:r>
          </a:p>
          <a:p>
            <a:pPr marL="0" indent="0">
              <a:buNone/>
            </a:pPr>
            <a:r>
              <a:rPr lang="fr-FR" dirty="0">
                <a:solidFill>
                  <a:srgbClr val="FF0000"/>
                </a:solidFill>
              </a:rPr>
              <a:t>		@ Caisse (compte à payer) 				665 000 </a:t>
            </a:r>
          </a:p>
          <a:p>
            <a:r>
              <a:rPr lang="fr-FR" dirty="0"/>
              <a:t>31/03/20X8 :</a:t>
            </a:r>
          </a:p>
          <a:p>
            <a:pPr marL="0" indent="0">
              <a:buNone/>
            </a:pPr>
            <a:r>
              <a:rPr lang="fr-FR" dirty="0"/>
              <a:t>		Perte						  92 700		</a:t>
            </a:r>
          </a:p>
          <a:p>
            <a:pPr marL="0" indent="0">
              <a:buNone/>
            </a:pPr>
            <a:r>
              <a:rPr lang="fr-FR" dirty="0"/>
              <a:t>		@ Instrument financier – dérivé́ (actif) 			</a:t>
            </a:r>
            <a:r>
              <a:rPr lang="fr-FR" dirty="0">
                <a:solidFill>
                  <a:srgbClr val="00B0F0"/>
                </a:solidFill>
              </a:rPr>
              <a:t>47 700</a:t>
            </a:r>
          </a:p>
          <a:p>
            <a:pPr marL="0" indent="0">
              <a:buNone/>
            </a:pPr>
            <a:r>
              <a:rPr lang="fr-FR" dirty="0">
                <a:solidFill>
                  <a:srgbClr val="00B0F0"/>
                </a:solidFill>
              </a:rPr>
              <a:t>		     </a:t>
            </a:r>
            <a:r>
              <a:rPr lang="fr-FR" dirty="0"/>
              <a:t> Caisse						45 000</a:t>
            </a:r>
          </a:p>
          <a:p>
            <a:pPr marL="0" indent="0">
              <a:buNone/>
            </a:pPr>
            <a:endParaRPr lang="fr-FR" dirty="0"/>
          </a:p>
          <a:p>
            <a:endParaRPr lang="fr-FR" dirty="0">
              <a:solidFill>
                <a:srgbClr val="3366FF"/>
              </a:solidFill>
            </a:endParaRPr>
          </a:p>
          <a:p>
            <a:pPr marL="0" indent="0">
              <a:buNone/>
            </a:pPr>
            <a:endParaRPr lang="fr-FR" dirty="0"/>
          </a:p>
          <a:p>
            <a:pPr lvl="1"/>
            <a:endParaRPr lang="fr-FR" dirty="0"/>
          </a:p>
          <a:p>
            <a:endParaRPr lang="fr-FR" dirty="0"/>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73</a:t>
            </a:fld>
            <a:endParaRPr lang="fr-FR"/>
          </a:p>
        </p:txBody>
      </p:sp>
      <p:sp>
        <p:nvSpPr>
          <p:cNvPr id="5" name="Espace réservé du pied de page 4">
            <a:extLst>
              <a:ext uri="{FF2B5EF4-FFF2-40B4-BE49-F238E27FC236}">
                <a16:creationId xmlns:a16="http://schemas.microsoft.com/office/drawing/2014/main" id="{6B5FBF6C-475F-4057-9565-658AADE7F783}"/>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340460335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893379" y="274639"/>
            <a:ext cx="10460421" cy="529695"/>
          </a:xfrm>
        </p:spPr>
        <p:txBody>
          <a:bodyPr>
            <a:normAutofit/>
          </a:bodyPr>
          <a:lstStyle/>
          <a:p>
            <a:r>
              <a:rPr lang="fr-FR" sz="2800" dirty="0" err="1"/>
              <a:t>Compt</a:t>
            </a:r>
            <a:r>
              <a:rPr lang="fr-FR" sz="2800" dirty="0"/>
              <a:t>. de couverture – Question A (NCECF)</a:t>
            </a:r>
          </a:p>
        </p:txBody>
      </p:sp>
      <p:sp>
        <p:nvSpPr>
          <p:cNvPr id="3" name="Espace réservé du contenu 2"/>
          <p:cNvSpPr>
            <a:spLocks noGrp="1"/>
          </p:cNvSpPr>
          <p:nvPr>
            <p:ph idx="1"/>
          </p:nvPr>
        </p:nvSpPr>
        <p:spPr>
          <a:xfrm>
            <a:off x="838200" y="963084"/>
            <a:ext cx="10515600" cy="5758392"/>
          </a:xfrm>
        </p:spPr>
        <p:txBody>
          <a:bodyPr>
            <a:normAutofit fontScale="47500" lnSpcReduction="20000"/>
          </a:bodyPr>
          <a:lstStyle/>
          <a:p>
            <a:pPr marL="0" indent="0">
              <a:buNone/>
            </a:pPr>
            <a:r>
              <a:rPr lang="fr-FR" sz="6200" b="1" dirty="0"/>
              <a:t>Cas II - ABC choisit d’appliquer la comptabilité́ de couverture </a:t>
            </a:r>
          </a:p>
          <a:p>
            <a:pPr marL="0" indent="0">
              <a:buNone/>
            </a:pPr>
            <a:endParaRPr lang="fr-FR" sz="2100" b="1" dirty="0"/>
          </a:p>
          <a:p>
            <a:pPr marL="0" indent="0">
              <a:buNone/>
            </a:pPr>
            <a:r>
              <a:rPr lang="fr-FR" sz="4200" dirty="0"/>
              <a:t>Le gain sur l’instrument de couverture (le contrat à terme de gré́ à gré́) est comptabilisé en tant qu'ajustement de la valeur comptable de l’élément couvert</a:t>
            </a:r>
            <a:r>
              <a:rPr lang="fr-FR" sz="4200" dirty="0">
                <a:solidFill>
                  <a:srgbClr val="FF0000"/>
                </a:solidFill>
              </a:rPr>
              <a:t> pour la période de couverture- gain/perte pour excédent de couverture</a:t>
            </a:r>
            <a:endParaRPr lang="fr-FR" sz="4200" dirty="0"/>
          </a:p>
          <a:p>
            <a:pPr marL="0" indent="0">
              <a:buNone/>
            </a:pPr>
            <a:endParaRPr lang="fr-FR" dirty="0"/>
          </a:p>
          <a:p>
            <a:pPr marL="0" indent="0">
              <a:buNone/>
            </a:pPr>
            <a:r>
              <a:rPr lang="fr-FR" sz="4200" dirty="0"/>
              <a:t>30/09/20X7 : aucune écriture </a:t>
            </a:r>
          </a:p>
          <a:p>
            <a:pPr marL="0" indent="0">
              <a:buNone/>
            </a:pPr>
            <a:endParaRPr lang="fr-FR" sz="2500" dirty="0"/>
          </a:p>
          <a:p>
            <a:pPr marL="0" indent="0">
              <a:buNone/>
            </a:pPr>
            <a:r>
              <a:rPr lang="fr-FR" sz="4200" dirty="0"/>
              <a:t>31/12/20X7 : aucune écriture</a:t>
            </a:r>
          </a:p>
          <a:p>
            <a:pPr marL="0" indent="0">
              <a:buNone/>
            </a:pPr>
            <a:endParaRPr lang="fr-FR" sz="4200" dirty="0"/>
          </a:p>
          <a:p>
            <a:pPr marL="0" indent="0">
              <a:buNone/>
            </a:pPr>
            <a:r>
              <a:rPr lang="fr-FR" sz="4200" dirty="0">
                <a:solidFill>
                  <a:srgbClr val="3366FF"/>
                </a:solidFill>
              </a:rPr>
              <a:t>20/03/20X8 :	</a:t>
            </a:r>
            <a:r>
              <a:rPr lang="fr-FR" sz="4200" dirty="0">
                <a:solidFill>
                  <a:srgbClr val="FF0000"/>
                </a:solidFill>
              </a:rPr>
              <a:t>Machine					700 000</a:t>
            </a:r>
          </a:p>
          <a:p>
            <a:pPr marL="0" indent="0">
              <a:buNone/>
            </a:pPr>
            <a:r>
              <a:rPr lang="fr-FR" sz="4200" dirty="0">
                <a:solidFill>
                  <a:srgbClr val="FF0000"/>
                </a:solidFill>
              </a:rPr>
              <a:t>		</a:t>
            </a:r>
            <a:r>
              <a:rPr lang="fr-FR" sz="4300" dirty="0">
                <a:solidFill>
                  <a:srgbClr val="FF0000"/>
                </a:solidFill>
              </a:rPr>
              <a:t>@ Caisse (compte à payer) 	 			</a:t>
            </a:r>
            <a:r>
              <a:rPr lang="fr-FR" sz="4200" dirty="0">
                <a:solidFill>
                  <a:srgbClr val="FF0000"/>
                </a:solidFill>
              </a:rPr>
              <a:t>665 000 </a:t>
            </a:r>
          </a:p>
          <a:p>
            <a:pPr marL="0" indent="0">
              <a:buNone/>
            </a:pPr>
            <a:r>
              <a:rPr lang="fr-FR" sz="4200" dirty="0">
                <a:solidFill>
                  <a:srgbClr val="FF0000"/>
                </a:solidFill>
              </a:rPr>
              <a:t>		      Instrument financier – dérivé́ 				  35 000</a:t>
            </a:r>
          </a:p>
          <a:p>
            <a:pPr marL="0" indent="0">
              <a:buNone/>
            </a:pPr>
            <a:endParaRPr lang="fr-FR" sz="4200" dirty="0">
              <a:solidFill>
                <a:srgbClr val="FF0000"/>
              </a:solidFill>
            </a:endParaRPr>
          </a:p>
          <a:p>
            <a:pPr marL="0" indent="0">
              <a:buNone/>
            </a:pPr>
            <a:endParaRPr lang="fr-FR" sz="2500" dirty="0"/>
          </a:p>
          <a:p>
            <a:pPr marL="0" indent="0">
              <a:buNone/>
            </a:pPr>
            <a:r>
              <a:rPr lang="fr-FR" sz="4200" dirty="0"/>
              <a:t>31/03/20X8 :	</a:t>
            </a:r>
            <a:r>
              <a:rPr lang="fr-FR" sz="4200" dirty="0">
                <a:solidFill>
                  <a:srgbClr val="0000FF"/>
                </a:solidFill>
              </a:rPr>
              <a:t>Instrument financier – dérivé́	</a:t>
            </a:r>
            <a:r>
              <a:rPr lang="fr-FR" sz="4200" dirty="0"/>
              <a:t> 	35 000</a:t>
            </a:r>
          </a:p>
          <a:p>
            <a:pPr marL="0" indent="0">
              <a:buNone/>
            </a:pPr>
            <a:r>
              <a:rPr lang="fr-FR" sz="4200" dirty="0"/>
              <a:t>		</a:t>
            </a:r>
            <a:r>
              <a:rPr lang="fr-FR" sz="4200" b="1" dirty="0">
                <a:solidFill>
                  <a:srgbClr val="008000"/>
                </a:solidFill>
              </a:rPr>
              <a:t> Perte E/R 				10 000</a:t>
            </a:r>
            <a:endParaRPr lang="fr-FR" sz="4200" dirty="0"/>
          </a:p>
          <a:p>
            <a:pPr marL="0" indent="0">
              <a:buNone/>
            </a:pPr>
            <a:r>
              <a:rPr lang="fr-FR" sz="4200" dirty="0"/>
              <a:t>		@ Caisse						45 000</a:t>
            </a:r>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74</a:t>
            </a:fld>
            <a:endParaRPr lang="fr-FR" dirty="0"/>
          </a:p>
        </p:txBody>
      </p:sp>
      <p:sp>
        <p:nvSpPr>
          <p:cNvPr id="5" name="Espace réservé du pied de page 4">
            <a:extLst>
              <a:ext uri="{FF2B5EF4-FFF2-40B4-BE49-F238E27FC236}">
                <a16:creationId xmlns:a16="http://schemas.microsoft.com/office/drawing/2014/main" id="{8825601B-C646-4C42-B400-BA2BB2D1CB3A}"/>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18563426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solidFill>
                  <a:srgbClr val="FF0000"/>
                </a:solidFill>
              </a:rPr>
              <a:t>Capitaux propres</a:t>
            </a:r>
          </a:p>
        </p:txBody>
      </p:sp>
      <p:sp>
        <p:nvSpPr>
          <p:cNvPr id="3" name="Espace réservé du contenu 2"/>
          <p:cNvSpPr>
            <a:spLocks noGrp="1"/>
          </p:cNvSpPr>
          <p:nvPr>
            <p:ph idx="1"/>
          </p:nvPr>
        </p:nvSpPr>
        <p:spPr/>
        <p:txBody>
          <a:bodyPr/>
          <a:lstStyle/>
          <a:p>
            <a:endParaRPr lang="fr-CA" dirty="0"/>
          </a:p>
          <a:p>
            <a:pPr marL="0" indent="0">
              <a:buNone/>
            </a:pPr>
            <a:endParaRPr lang="fr-CA" dirty="0"/>
          </a:p>
          <a:p>
            <a:r>
              <a:rPr lang="fr-CA" dirty="0"/>
              <a:t>Chap. 3240  Capital-actions</a:t>
            </a:r>
          </a:p>
          <a:p>
            <a:r>
              <a:rPr lang="fr-CA" dirty="0"/>
              <a:t>Chap. 3251  Capitaux propres</a:t>
            </a:r>
          </a:p>
          <a:p>
            <a:r>
              <a:rPr lang="fr-CA" dirty="0"/>
              <a:t>Chap. 3260  Réserves</a:t>
            </a:r>
          </a:p>
          <a:p>
            <a:r>
              <a:rPr lang="fr-CA" dirty="0"/>
              <a:t>Chap. 3610  Opérations portant sur les capitaux propres</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75</a:t>
            </a:fld>
            <a:endParaRPr lang="fr-FR"/>
          </a:p>
        </p:txBody>
      </p:sp>
      <p:sp>
        <p:nvSpPr>
          <p:cNvPr id="5" name="Espace réservé du pied de page 4">
            <a:extLst>
              <a:ext uri="{FF2B5EF4-FFF2-40B4-BE49-F238E27FC236}">
                <a16:creationId xmlns:a16="http://schemas.microsoft.com/office/drawing/2014/main" id="{CC4CF4BA-8250-463A-9D8D-3D97F9CA887C}"/>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88905451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dirty="0"/>
              <a:t>Frais liés à l’émission d’actions ordinaires</a:t>
            </a:r>
          </a:p>
        </p:txBody>
      </p:sp>
      <p:sp>
        <p:nvSpPr>
          <p:cNvPr id="3" name="Espace réservé du contenu 2"/>
          <p:cNvSpPr>
            <a:spLocks noGrp="1"/>
          </p:cNvSpPr>
          <p:nvPr>
            <p:ph idx="1"/>
          </p:nvPr>
        </p:nvSpPr>
        <p:spPr>
          <a:xfrm>
            <a:off x="972273" y="1900239"/>
            <a:ext cx="10381527" cy="4225925"/>
          </a:xfrm>
        </p:spPr>
        <p:txBody>
          <a:bodyPr>
            <a:normAutofit/>
          </a:bodyPr>
          <a:lstStyle/>
          <a:p>
            <a:pPr marL="0" indent="0">
              <a:buNone/>
            </a:pPr>
            <a:r>
              <a:rPr lang="fr-CA" dirty="0"/>
              <a:t>Préparez l’écriture de journal requise par ABC pour l’émission de 1000 actions ordinaires au prix de 20 $ par action, contrepartie au comptant. ABC a encouru des honoraires juridiques s’élevant à 700 $ relativement à cette émission.</a:t>
            </a:r>
          </a:p>
          <a:p>
            <a:pPr marL="0" indent="0">
              <a:buNone/>
            </a:pPr>
            <a:endParaRPr lang="fr-CA" dirty="0"/>
          </a:p>
          <a:p>
            <a:pPr marL="0" indent="0">
              <a:buNone/>
            </a:pPr>
            <a:r>
              <a:rPr lang="fr-CA" dirty="0"/>
              <a:t> </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76</a:t>
            </a:fld>
            <a:endParaRPr lang="fr-FR"/>
          </a:p>
        </p:txBody>
      </p:sp>
      <p:sp>
        <p:nvSpPr>
          <p:cNvPr id="5" name="Espace réservé du pied de page 4">
            <a:extLst>
              <a:ext uri="{FF2B5EF4-FFF2-40B4-BE49-F238E27FC236}">
                <a16:creationId xmlns:a16="http://schemas.microsoft.com/office/drawing/2014/main" id="{BB629520-A42B-4197-AFE0-007EC1D96BEB}"/>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16722864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 </a:t>
            </a:r>
          </a:p>
        </p:txBody>
      </p:sp>
      <p:sp>
        <p:nvSpPr>
          <p:cNvPr id="3" name="Espace réservé du contenu 2"/>
          <p:cNvSpPr>
            <a:spLocks noGrp="1"/>
          </p:cNvSpPr>
          <p:nvPr>
            <p:ph idx="1"/>
          </p:nvPr>
        </p:nvSpPr>
        <p:spPr/>
        <p:txBody>
          <a:bodyPr/>
          <a:lstStyle/>
          <a:p>
            <a:pPr marL="0" indent="0">
              <a:buNone/>
            </a:pPr>
            <a:r>
              <a:rPr lang="fr-CA" dirty="0"/>
              <a:t>Encaisse 				20 000</a:t>
            </a:r>
          </a:p>
          <a:p>
            <a:pPr marL="0" indent="0">
              <a:buNone/>
            </a:pPr>
            <a:r>
              <a:rPr lang="fr-CA" dirty="0"/>
              <a:t>@ Capital-actions 				20 000</a:t>
            </a:r>
          </a:p>
          <a:p>
            <a:pPr marL="0" indent="0">
              <a:buNone/>
            </a:pPr>
            <a:endParaRPr lang="fr-CA" dirty="0"/>
          </a:p>
          <a:p>
            <a:pPr marL="0" indent="0">
              <a:buNone/>
            </a:pPr>
            <a:r>
              <a:rPr lang="fr-CA" dirty="0"/>
              <a:t>Capital-actions / RND</a:t>
            </a:r>
            <a:r>
              <a:rPr lang="fr-CA" sz="2000" dirty="0"/>
              <a:t>/BNR</a:t>
            </a:r>
            <a:r>
              <a:rPr lang="fr-CA" dirty="0"/>
              <a:t>	  	       700		</a:t>
            </a:r>
            <a:r>
              <a:rPr lang="fr-CA" i="1" dirty="0"/>
              <a:t>choix</a:t>
            </a:r>
            <a:endParaRPr lang="fr-CA" dirty="0"/>
          </a:p>
          <a:p>
            <a:pPr marL="0" indent="0">
              <a:buNone/>
            </a:pPr>
            <a:r>
              <a:rPr lang="fr-CA" dirty="0"/>
              <a:t>@ Encaisse					       700</a:t>
            </a:r>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77</a:t>
            </a:fld>
            <a:endParaRPr lang="fr-FR"/>
          </a:p>
        </p:txBody>
      </p:sp>
      <p:sp>
        <p:nvSpPr>
          <p:cNvPr id="5" name="Espace réservé du pied de page 4">
            <a:extLst>
              <a:ext uri="{FF2B5EF4-FFF2-40B4-BE49-F238E27FC236}">
                <a16:creationId xmlns:a16="http://schemas.microsoft.com/office/drawing/2014/main" id="{C684BEA8-39C6-4018-8BAA-9026B10DFFE3}"/>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317410539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Acquisition ou rachat d’actions</a:t>
            </a:r>
          </a:p>
        </p:txBody>
      </p:sp>
      <p:sp>
        <p:nvSpPr>
          <p:cNvPr id="3" name="Espace réservé du contenu 2"/>
          <p:cNvSpPr>
            <a:spLocks noGrp="1"/>
          </p:cNvSpPr>
          <p:nvPr>
            <p:ph idx="1"/>
          </p:nvPr>
        </p:nvSpPr>
        <p:spPr/>
        <p:txBody>
          <a:bodyPr>
            <a:normAutofit/>
          </a:bodyPr>
          <a:lstStyle/>
          <a:p>
            <a:pPr marL="0" indent="0">
              <a:buNone/>
            </a:pPr>
            <a:r>
              <a:rPr lang="fr-CA" dirty="0"/>
              <a:t>Préparez l’écriture de journal requise pour le rachat par ABC de 100 actions au prix de 500 $ comptant</a:t>
            </a:r>
          </a:p>
          <a:p>
            <a:r>
              <a:rPr lang="fr-CA" dirty="0"/>
              <a:t>Capitaux propres de ABC :</a:t>
            </a:r>
          </a:p>
          <a:p>
            <a:pPr marL="0" indent="358775">
              <a:buNone/>
            </a:pPr>
            <a:r>
              <a:rPr lang="fr-CA" dirty="0"/>
              <a:t>Capital-actions ordinaire  </a:t>
            </a:r>
          </a:p>
          <a:p>
            <a:pPr marL="0" indent="358775">
              <a:buNone/>
            </a:pPr>
            <a:r>
              <a:rPr lang="fr-CA" dirty="0"/>
              <a:t>		1000 actions	3 000</a:t>
            </a:r>
          </a:p>
          <a:p>
            <a:pPr marL="0" indent="358775">
              <a:buNone/>
            </a:pPr>
            <a:r>
              <a:rPr lang="fr-CA" dirty="0"/>
              <a:t>Surplus d’apport			   125</a:t>
            </a:r>
          </a:p>
          <a:p>
            <a:pPr marL="0" indent="358775">
              <a:buNone/>
            </a:pPr>
            <a:r>
              <a:rPr lang="fr-CA" dirty="0"/>
              <a:t>RND </a:t>
            </a:r>
            <a:r>
              <a:rPr lang="fr-CA" sz="2400" dirty="0"/>
              <a:t>/ BNR</a:t>
            </a:r>
            <a:r>
              <a:rPr lang="fr-CA" dirty="0"/>
              <a:t>				1 000</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78</a:t>
            </a:fld>
            <a:endParaRPr lang="fr-FR"/>
          </a:p>
        </p:txBody>
      </p:sp>
      <p:sp>
        <p:nvSpPr>
          <p:cNvPr id="5" name="Espace réservé du pied de page 4">
            <a:extLst>
              <a:ext uri="{FF2B5EF4-FFF2-40B4-BE49-F238E27FC236}">
                <a16:creationId xmlns:a16="http://schemas.microsoft.com/office/drawing/2014/main" id="{6F18E221-AF95-4F70-AEFA-DC080A154196}"/>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315377175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  </a:t>
            </a:r>
          </a:p>
        </p:txBody>
      </p:sp>
      <p:sp>
        <p:nvSpPr>
          <p:cNvPr id="3" name="Espace réservé du contenu 2"/>
          <p:cNvSpPr>
            <a:spLocks noGrp="1"/>
          </p:cNvSpPr>
          <p:nvPr>
            <p:ph idx="1"/>
          </p:nvPr>
        </p:nvSpPr>
        <p:spPr/>
        <p:txBody>
          <a:bodyPr/>
          <a:lstStyle/>
          <a:p>
            <a:pPr marL="0" indent="0">
              <a:buNone/>
            </a:pPr>
            <a:r>
              <a:rPr lang="fr-CA" dirty="0"/>
              <a:t>Capital-actions (valeur comptable)	 300</a:t>
            </a:r>
          </a:p>
          <a:p>
            <a:pPr marL="0" indent="0">
              <a:buNone/>
            </a:pPr>
            <a:r>
              <a:rPr lang="fr-CA" dirty="0"/>
              <a:t>Surplus d’apport (si solde créditeur)	 125</a:t>
            </a:r>
          </a:p>
          <a:p>
            <a:pPr marL="0" indent="0">
              <a:buNone/>
            </a:pPr>
            <a:r>
              <a:rPr lang="fr-CA" dirty="0"/>
              <a:t>RND / BNR					   75</a:t>
            </a:r>
          </a:p>
          <a:p>
            <a:pPr marL="0" indent="0">
              <a:buNone/>
            </a:pPr>
            <a:r>
              <a:rPr lang="fr-CA" dirty="0"/>
              <a:t>@ Encaisse 						500</a:t>
            </a:r>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79</a:t>
            </a:fld>
            <a:endParaRPr lang="fr-FR"/>
          </a:p>
        </p:txBody>
      </p:sp>
      <p:sp>
        <p:nvSpPr>
          <p:cNvPr id="5" name="Espace réservé du pied de page 4">
            <a:extLst>
              <a:ext uri="{FF2B5EF4-FFF2-40B4-BE49-F238E27FC236}">
                <a16:creationId xmlns:a16="http://schemas.microsoft.com/office/drawing/2014/main" id="{B58F5594-65D5-4BEB-A774-A4F1D762C8A2}"/>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113295665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Dividende</a:t>
            </a:r>
          </a:p>
        </p:txBody>
      </p:sp>
      <p:sp>
        <p:nvSpPr>
          <p:cNvPr id="3" name="Espace réservé du contenu 2"/>
          <p:cNvSpPr>
            <a:spLocks noGrp="1"/>
          </p:cNvSpPr>
          <p:nvPr>
            <p:ph idx="1"/>
          </p:nvPr>
        </p:nvSpPr>
        <p:spPr/>
        <p:txBody>
          <a:bodyPr/>
          <a:lstStyle/>
          <a:p>
            <a:pPr marL="0" indent="0">
              <a:buNone/>
            </a:pPr>
            <a:r>
              <a:rPr lang="fr-CA" dirty="0"/>
              <a:t>Préparez les écritures de journal requises pour ABC relativement à la déclaration d’un dividende de 300 $ le 15 décembre, payable à ses actionnaires ordinaires le 28 décembre.</a:t>
            </a:r>
          </a:p>
          <a:p>
            <a:pPr marL="0" indent="0">
              <a:buNone/>
            </a:pPr>
            <a:endParaRPr lang="fr-CA" dirty="0"/>
          </a:p>
          <a:p>
            <a:pPr marL="0" indent="0">
              <a:buNone/>
            </a:pPr>
            <a:r>
              <a:rPr lang="fr-CA" dirty="0"/>
              <a:t>Et si cela avait été une déclaration d’un dividende de 200 $ sur des actions privilégiées, rachetables au gré du détenteur?</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80</a:t>
            </a:fld>
            <a:endParaRPr lang="fr-FR"/>
          </a:p>
        </p:txBody>
      </p:sp>
      <p:sp>
        <p:nvSpPr>
          <p:cNvPr id="5" name="Espace réservé du pied de page 4">
            <a:extLst>
              <a:ext uri="{FF2B5EF4-FFF2-40B4-BE49-F238E27FC236}">
                <a16:creationId xmlns:a16="http://schemas.microsoft.com/office/drawing/2014/main" id="{642CED27-512B-4550-A04D-1EC4C7DA6A8F}"/>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144063014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 </a:t>
            </a:r>
          </a:p>
        </p:txBody>
      </p:sp>
      <p:sp>
        <p:nvSpPr>
          <p:cNvPr id="3" name="Espace réservé du contenu 2"/>
          <p:cNvSpPr>
            <a:spLocks noGrp="1"/>
          </p:cNvSpPr>
          <p:nvPr>
            <p:ph idx="1"/>
          </p:nvPr>
        </p:nvSpPr>
        <p:spPr/>
        <p:txBody>
          <a:bodyPr/>
          <a:lstStyle/>
          <a:p>
            <a:pPr marL="0" indent="0">
              <a:buNone/>
            </a:pPr>
            <a:r>
              <a:rPr lang="fr-CA" dirty="0"/>
              <a:t>Dividende (RND</a:t>
            </a:r>
            <a:r>
              <a:rPr lang="fr-CA" sz="2400" dirty="0"/>
              <a:t>/BNR</a:t>
            </a:r>
            <a:r>
              <a:rPr lang="fr-CA" dirty="0"/>
              <a:t>)			300</a:t>
            </a:r>
          </a:p>
          <a:p>
            <a:pPr marL="0" indent="0">
              <a:buNone/>
            </a:pPr>
            <a:r>
              <a:rPr lang="fr-CA" dirty="0"/>
              <a:t>@ Dividende à payer				300</a:t>
            </a:r>
          </a:p>
          <a:p>
            <a:pPr marL="0" indent="0">
              <a:buNone/>
            </a:pPr>
            <a:endParaRPr lang="fr-CA" dirty="0"/>
          </a:p>
          <a:p>
            <a:pPr marL="0" indent="0">
              <a:buNone/>
            </a:pPr>
            <a:r>
              <a:rPr lang="fr-CA" dirty="0"/>
              <a:t>Charge financière				200		 </a:t>
            </a:r>
          </a:p>
          <a:p>
            <a:pPr marL="0" indent="0">
              <a:buNone/>
            </a:pPr>
            <a:r>
              <a:rPr lang="fr-CA" sz="2000" dirty="0"/>
              <a:t>(car instrument classé dans le passif)</a:t>
            </a:r>
            <a:endParaRPr lang="fr-CA" dirty="0"/>
          </a:p>
          <a:p>
            <a:pPr marL="0" indent="0">
              <a:buNone/>
            </a:pPr>
            <a:r>
              <a:rPr lang="fr-CA" dirty="0"/>
              <a:t>@ Dividende à payer				200</a:t>
            </a:r>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81</a:t>
            </a:fld>
            <a:endParaRPr lang="fr-FR"/>
          </a:p>
        </p:txBody>
      </p:sp>
      <p:sp>
        <p:nvSpPr>
          <p:cNvPr id="5" name="Espace réservé du pied de page 4">
            <a:extLst>
              <a:ext uri="{FF2B5EF4-FFF2-40B4-BE49-F238E27FC236}">
                <a16:creationId xmlns:a16="http://schemas.microsoft.com/office/drawing/2014/main" id="{ACE7F165-ED17-48E1-A5BF-1D74BE25030F}"/>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145025720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Affectations / Réserves</a:t>
            </a:r>
          </a:p>
        </p:txBody>
      </p:sp>
      <p:sp>
        <p:nvSpPr>
          <p:cNvPr id="3" name="Espace réservé du contenu 2"/>
          <p:cNvSpPr>
            <a:spLocks noGrp="1"/>
          </p:cNvSpPr>
          <p:nvPr>
            <p:ph idx="1"/>
          </p:nvPr>
        </p:nvSpPr>
        <p:spPr/>
        <p:txBody>
          <a:bodyPr/>
          <a:lstStyle/>
          <a:p>
            <a:r>
              <a:rPr lang="fr-CA" dirty="0"/>
              <a:t>Affectation des RND </a:t>
            </a:r>
            <a:r>
              <a:rPr lang="fr-CA" sz="2400" dirty="0"/>
              <a:t>/ BNR </a:t>
            </a:r>
            <a:r>
              <a:rPr lang="fr-CA" dirty="0"/>
              <a:t>et autres postes du surplus</a:t>
            </a:r>
          </a:p>
          <a:p>
            <a:pPr lvl="1"/>
            <a:r>
              <a:rPr lang="fr-CA" dirty="0"/>
              <a:t>Ex.  : montant de règlement élevé relativement à une poursuite</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82</a:t>
            </a:fld>
            <a:endParaRPr lang="fr-FR"/>
          </a:p>
        </p:txBody>
      </p:sp>
      <p:sp>
        <p:nvSpPr>
          <p:cNvPr id="5" name="Espace réservé du pied de page 4">
            <a:extLst>
              <a:ext uri="{FF2B5EF4-FFF2-40B4-BE49-F238E27FC236}">
                <a16:creationId xmlns:a16="http://schemas.microsoft.com/office/drawing/2014/main" id="{F7E79E21-7A94-4493-B240-A5788D76A037}"/>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624937801"/>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58647</TotalTime>
  <Words>9189</Words>
  <Application>Microsoft Office PowerPoint</Application>
  <PresentationFormat>Grand écran</PresentationFormat>
  <Paragraphs>943</Paragraphs>
  <Slides>82</Slides>
  <Notes>28</Notes>
  <HiddenSlides>0</HiddenSlides>
  <MMClips>0</MMClips>
  <ScaleCrop>false</ScaleCrop>
  <HeadingPairs>
    <vt:vector size="8" baseType="variant">
      <vt:variant>
        <vt:lpstr>Polices utilisées</vt:lpstr>
      </vt:variant>
      <vt:variant>
        <vt:i4>6</vt:i4>
      </vt:variant>
      <vt:variant>
        <vt:lpstr>Thème</vt:lpstr>
      </vt:variant>
      <vt:variant>
        <vt:i4>1</vt:i4>
      </vt:variant>
      <vt:variant>
        <vt:lpstr>Serveurs OLE incorporés</vt:lpstr>
      </vt:variant>
      <vt:variant>
        <vt:i4>1</vt:i4>
      </vt:variant>
      <vt:variant>
        <vt:lpstr>Titres des diapositives</vt:lpstr>
      </vt:variant>
      <vt:variant>
        <vt:i4>82</vt:i4>
      </vt:variant>
    </vt:vector>
  </HeadingPairs>
  <TitlesOfParts>
    <vt:vector size="90" baseType="lpstr">
      <vt:lpstr>ＭＳ Ｐゴシック</vt:lpstr>
      <vt:lpstr>Arial</vt:lpstr>
      <vt:lpstr>Calibri</vt:lpstr>
      <vt:lpstr>Calibri Light</vt:lpstr>
      <vt:lpstr>Wingdings</vt:lpstr>
      <vt:lpstr>Wingdings 3</vt:lpstr>
      <vt:lpstr>Thème Office</vt:lpstr>
      <vt:lpstr>Worksheet</vt:lpstr>
      <vt:lpstr>40938 Instruments financiers « classe » </vt:lpstr>
      <vt:lpstr>Présentation PowerPoint</vt:lpstr>
      <vt:lpstr>Présentation PowerPoint</vt:lpstr>
      <vt:lpstr>Instruments financiers</vt:lpstr>
      <vt:lpstr>Champs d’application</vt:lpstr>
      <vt:lpstr>Évaluation initiale - actifs financiers</vt:lpstr>
      <vt:lpstr>Évaluation initiale - passifs financiers</vt:lpstr>
      <vt:lpstr>Évaluation ultérieure Classement IFRS 9 - ACTIFS</vt:lpstr>
      <vt:lpstr>Classement IFRS 9 - ACTIFS</vt:lpstr>
      <vt:lpstr>NCECF – 3856.11</vt:lpstr>
      <vt:lpstr>EFC</vt:lpstr>
      <vt:lpstr>Dépréciation</vt:lpstr>
      <vt:lpstr>Classement PASSIFS (IFRS 9)</vt:lpstr>
      <vt:lpstr>Classement PASSIFS NCECF – 3856.11</vt:lpstr>
      <vt:lpstr>Aide gouvernementale (intégration 2 normes) voir fichier Word pour extraits norme</vt:lpstr>
      <vt:lpstr>Aide gouvernementale</vt:lpstr>
      <vt:lpstr>Aide gouvernementale</vt:lpstr>
      <vt:lpstr>Aide gouvernementale</vt:lpstr>
      <vt:lpstr>Classement passif / capitaux propres</vt:lpstr>
      <vt:lpstr>Classement passif / capitaux propres - NCECF</vt:lpstr>
      <vt:lpstr>Classement passif / capitaux propres</vt:lpstr>
      <vt:lpstr>Classement passif / capitaux propres</vt:lpstr>
      <vt:lpstr>Classement passif / capitaux propres</vt:lpstr>
      <vt:lpstr>Classement : passifs ou capitaux propres effet sur classement des intérêts, dividendes, pertes / gains </vt:lpstr>
      <vt:lpstr>Classement passif / capitaux propres</vt:lpstr>
      <vt:lpstr>Classement passif / capitaux propres</vt:lpstr>
      <vt:lpstr>Classement passif / capitaux propres - NCECF</vt:lpstr>
      <vt:lpstr>Instrument composé (hybride) voir fichier Word pour extraits norme</vt:lpstr>
      <vt:lpstr>Solution</vt:lpstr>
      <vt:lpstr>Solution – choix comme IFRS</vt:lpstr>
      <vt:lpstr>Solution – choix « allégé » NCECF</vt:lpstr>
      <vt:lpstr>Solution</vt:lpstr>
      <vt:lpstr>Solution</vt:lpstr>
      <vt:lpstr>Actions privilégiées émises à titre de mesure de planification fiscale (gel) dans le cadre des dispositions prévues aux articles 51, 85, 85.1, 86, 87 ou 88 de la « Loi de l’impôt sur le revenu » (Canada).</vt:lpstr>
      <vt:lpstr>NCECF : Actions rachetables au gré du porteur ou obligatoirement rachetables émises dans une opération de planification fiscale</vt:lpstr>
      <vt:lpstr>NCECF : Actions rachetables au gré du porteur ou obligatoirement rachetables émises dans une opération de planification fiscale</vt:lpstr>
      <vt:lpstr>Actions préférentielles rachetables émises à titre de planification fiscale - NCECF</vt:lpstr>
      <vt:lpstr>Actions préférentielles rachetables émises à titre de planification fiscale</vt:lpstr>
      <vt:lpstr>Risques financiers</vt:lpstr>
      <vt:lpstr>IFRS 9 - contrats d’achat ou de vente d’un élément non financier</vt:lpstr>
      <vt:lpstr>IFRS 9 - contrats d’achat ou de vente d’un élément non financier</vt:lpstr>
      <vt:lpstr>IFRS 9 - contrats d’achat ou de vente d’un élément non financier</vt:lpstr>
      <vt:lpstr>Chap. 3856 - contrats d’achat ou de vente d’un élément non financier</vt:lpstr>
      <vt:lpstr>Décomptabilisation - actif</vt:lpstr>
      <vt:lpstr>Décomptabilisation – actif Voir fichier Word pour extraits norme</vt:lpstr>
      <vt:lpstr>Solution</vt:lpstr>
      <vt:lpstr>Décomptabilisation - actif</vt:lpstr>
      <vt:lpstr>Décomptabilisation – actif Voir fichier Word pour extraits norme</vt:lpstr>
      <vt:lpstr>   </vt:lpstr>
      <vt:lpstr>Solution – Situation A Vente des créances</vt:lpstr>
      <vt:lpstr>Solution – Situation B conserve risques (garantit la valeur recouvrable) – « prêt » et non vente</vt:lpstr>
      <vt:lpstr>Décomptabilisation - passif</vt:lpstr>
      <vt:lpstr>Décomptabilisation - passif</vt:lpstr>
      <vt:lpstr>Décomptabilisation - passif</vt:lpstr>
      <vt:lpstr>Présentation : compensation (IAS 32)</vt:lpstr>
      <vt:lpstr>EXERCICES SUPPLÉMENTAIRES</vt:lpstr>
      <vt:lpstr>Question A - Dette convertible</vt:lpstr>
      <vt:lpstr>Solution</vt:lpstr>
      <vt:lpstr>Question B - Dette avec bons de souscription</vt:lpstr>
      <vt:lpstr>Solution</vt:lpstr>
      <vt:lpstr>Question C - Dette prime / escompte</vt:lpstr>
      <vt:lpstr>Solution</vt:lpstr>
      <vt:lpstr>Question D - Dette prime / escompte</vt:lpstr>
      <vt:lpstr>Solution</vt:lpstr>
      <vt:lpstr>Présentation dans les états financiers</vt:lpstr>
      <vt:lpstr>Comptabilité de couverture</vt:lpstr>
      <vt:lpstr>Types de couverture</vt:lpstr>
      <vt:lpstr>Comptabilité de couverture</vt:lpstr>
      <vt:lpstr>Couverture d’un actif / passif portant intérêt</vt:lpstr>
      <vt:lpstr>Effet comptabilité de couverture selon NCECF</vt:lpstr>
      <vt:lpstr>Compt. de couverture – Question A</vt:lpstr>
      <vt:lpstr>Compt de couverture – Question A</vt:lpstr>
      <vt:lpstr>Comptabilité de couverture – Question A (NCECF)</vt:lpstr>
      <vt:lpstr>Compt. de couverture – Question A (NCECF)</vt:lpstr>
      <vt:lpstr>Capitaux propres</vt:lpstr>
      <vt:lpstr>Frais liés à l’émission d’actions ordinaires</vt:lpstr>
      <vt:lpstr> </vt:lpstr>
      <vt:lpstr>Acquisition ou rachat d’actions</vt:lpstr>
      <vt:lpstr>  </vt:lpstr>
      <vt:lpstr>Dividende</vt:lpstr>
      <vt:lpstr> </vt:lpstr>
      <vt:lpstr>Affectations / Réserves</vt:lpstr>
    </vt:vector>
  </TitlesOfParts>
  <Company>HEC Montréal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louise overbeek</dc:creator>
  <cp:lastModifiedBy>SOKRI Marzouk</cp:lastModifiedBy>
  <cp:revision>79</cp:revision>
  <cp:lastPrinted>2022-02-07T23:21:06Z</cp:lastPrinted>
  <dcterms:created xsi:type="dcterms:W3CDTF">2019-09-25T22:03:03Z</dcterms:created>
  <dcterms:modified xsi:type="dcterms:W3CDTF">2025-02-11T15:54:05Z</dcterms:modified>
</cp:coreProperties>
</file>