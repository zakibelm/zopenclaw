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110C2C0D.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sldIdLst>
    <p:sldId id="256" r:id="rId2"/>
    <p:sldId id="258" r:id="rId3"/>
    <p:sldId id="1099" r:id="rId4"/>
    <p:sldId id="265" r:id="rId5"/>
    <p:sldId id="1096" r:id="rId6"/>
    <p:sldId id="1097" r:id="rId7"/>
    <p:sldId id="1093" r:id="rId8"/>
    <p:sldId id="1092" r:id="rId9"/>
    <p:sldId id="260" r:id="rId10"/>
    <p:sldId id="599" r:id="rId11"/>
    <p:sldId id="1107" r:id="rId12"/>
    <p:sldId id="264" r:id="rId13"/>
    <p:sldId id="598" r:id="rId14"/>
    <p:sldId id="269" r:id="rId15"/>
    <p:sldId id="614" r:id="rId16"/>
    <p:sldId id="263" r:id="rId17"/>
    <p:sldId id="590" r:id="rId18"/>
    <p:sldId id="1109" r:id="rId19"/>
    <p:sldId id="1106" r:id="rId20"/>
    <p:sldId id="767" r:id="rId21"/>
    <p:sldId id="268" r:id="rId22"/>
    <p:sldId id="770" r:id="rId23"/>
    <p:sldId id="769" r:id="rId24"/>
    <p:sldId id="1108" r:id="rId25"/>
    <p:sldId id="778" r:id="rId26"/>
    <p:sldId id="779" r:id="rId27"/>
    <p:sldId id="780" r:id="rId28"/>
    <p:sldId id="781" r:id="rId29"/>
    <p:sldId id="1102" r:id="rId30"/>
    <p:sldId id="752" r:id="rId31"/>
    <p:sldId id="1101" r:id="rId32"/>
    <p:sldId id="1103" r:id="rId33"/>
    <p:sldId id="1100" r:id="rId34"/>
    <p:sldId id="585" r:id="rId35"/>
    <p:sldId id="751" r:id="rId36"/>
    <p:sldId id="771" r:id="rId37"/>
    <p:sldId id="1091" r:id="rId38"/>
    <p:sldId id="1110" r:id="rId39"/>
    <p:sldId id="1104" r:id="rId40"/>
    <p:sldId id="1095" r:id="rId41"/>
    <p:sldId id="1105" r:id="rId42"/>
    <p:sldId id="1094" r:id="rId43"/>
    <p:sldId id="587" r:id="rId4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FB975C-4C1D-EA33-8340-77B3D970F02F}" name="SOKRI Marzouk" initials="SM" userId="bca8937e5be247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BA813-2F37-4DAB-8C07-BE46C03E0B74}" v="34" dt="2025-03-14T16:22:48.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7571" autoAdjust="0"/>
  </p:normalViewPr>
  <p:slideViewPr>
    <p:cSldViewPr snapToGrid="0">
      <p:cViewPr varScale="1">
        <p:scale>
          <a:sx n="83" d="100"/>
          <a:sy n="83" d="100"/>
        </p:scale>
        <p:origin x="45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02_110C2C0D.xml><?xml version="1.0" encoding="utf-8"?>
<p188:cmLst xmlns:a="http://schemas.openxmlformats.org/drawingml/2006/main" xmlns:r="http://schemas.openxmlformats.org/officeDocument/2006/relationships" xmlns:p188="http://schemas.microsoft.com/office/powerpoint/2018/8/main">
  <p188:cm id="{9B876930-4731-4B1B-9939-F6FAFCED31DE}" authorId="{28FB975C-4C1D-EA33-8340-77B3D970F02F}" created="2025-04-17T22:05:31.925">
    <ac:txMkLst xmlns:ac="http://schemas.microsoft.com/office/drawing/2013/main/command">
      <pc:docMk xmlns:pc="http://schemas.microsoft.com/office/powerpoint/2013/main/command"/>
      <pc:sldMk xmlns:pc="http://schemas.microsoft.com/office/powerpoint/2013/main/command" cId="286010381" sldId="258"/>
      <ac:spMk id="3" creationId="{0892E791-9F8C-4838-B5DA-9FF456096B73}"/>
      <ac:txMk cp="313" len="4">
        <ac:context len="319" hash="2203665070"/>
      </ac:txMk>
    </ac:txMkLst>
    <p188:pos x="3229303" y="4226636"/>
    <p188:txBody>
      <a:bodyPr/>
      <a:lstStyle/>
      <a:p>
        <a:r>
          <a:rPr lang="fr-CA"/>
          <a:t>Je pense 3856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583B7-C70D-4E8F-A204-0AE89D66DFEE}" type="datetimeFigureOut">
              <a:rPr lang="fr-FR" smtClean="0"/>
              <a:t>17/04/2025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CEC0A-9F91-45EB-9AD5-E52DCC70D307}" type="slidenum">
              <a:rPr lang="fr-FR" smtClean="0"/>
              <a:t>‹N°›</a:t>
            </a:fld>
            <a:endParaRPr lang="fr-FR"/>
          </a:p>
        </p:txBody>
      </p:sp>
    </p:spTree>
    <p:extLst>
      <p:ext uri="{BB962C8B-B14F-4D97-AF65-F5344CB8AC3E}">
        <p14:creationId xmlns:p14="http://schemas.microsoft.com/office/powerpoint/2010/main" val="1741431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 l’EFC on aura les ÉF sou forme Excel dans le but de préparer les ÉF consolidés donc attention ce que tu comptabilisation subséquente fais au cours de groupement tu va le revoir et ensuite tu utilise la norme pour répondre et analyse de ton enjeu selon la prof y’a seulement initiale donc pas de comptabilisation subséquente </a:t>
            </a:r>
          </a:p>
        </p:txBody>
      </p:sp>
      <p:sp>
        <p:nvSpPr>
          <p:cNvPr id="4" name="Espace réservé du numéro de diapositive 3"/>
          <p:cNvSpPr>
            <a:spLocks noGrp="1"/>
          </p:cNvSpPr>
          <p:nvPr>
            <p:ph type="sldNum" sz="quarter" idx="5"/>
          </p:nvPr>
        </p:nvSpPr>
        <p:spPr/>
        <p:txBody>
          <a:bodyPr/>
          <a:lstStyle/>
          <a:p>
            <a:fld id="{A4CCEC0A-9F91-45EB-9AD5-E52DCC70D307}" type="slidenum">
              <a:rPr lang="fr-FR" smtClean="0"/>
              <a:t>1</a:t>
            </a:fld>
            <a:endParaRPr lang="fr-FR"/>
          </a:p>
        </p:txBody>
      </p:sp>
    </p:spTree>
    <p:extLst>
      <p:ext uri="{BB962C8B-B14F-4D97-AF65-F5344CB8AC3E}">
        <p14:creationId xmlns:p14="http://schemas.microsoft.com/office/powerpoint/2010/main" val="3524525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On corrige la valeur des actions émise en contre partie en emmètre des nouvelles actions donc on aura une nouvelle valeur comptable des actions comptables qui reflète la juste valeur des actions sur le marché donc on peut payer en papier soit en actions ou bien en encaisse </a:t>
            </a:r>
          </a:p>
        </p:txBody>
      </p:sp>
      <p:sp>
        <p:nvSpPr>
          <p:cNvPr id="4" name="Espace réservé du numéro de diapositive 3"/>
          <p:cNvSpPr>
            <a:spLocks noGrp="1"/>
          </p:cNvSpPr>
          <p:nvPr>
            <p:ph type="sldNum" sz="quarter" idx="5"/>
          </p:nvPr>
        </p:nvSpPr>
        <p:spPr/>
        <p:txBody>
          <a:bodyPr/>
          <a:lstStyle/>
          <a:p>
            <a:fld id="{A4CCEC0A-9F91-45EB-9AD5-E52DCC70D307}" type="slidenum">
              <a:rPr lang="fr-FR" smtClean="0"/>
              <a:t>2</a:t>
            </a:fld>
            <a:endParaRPr lang="fr-FR"/>
          </a:p>
        </p:txBody>
      </p:sp>
    </p:spTree>
    <p:extLst>
      <p:ext uri="{BB962C8B-B14F-4D97-AF65-F5344CB8AC3E}">
        <p14:creationId xmlns:p14="http://schemas.microsoft.com/office/powerpoint/2010/main" val="396390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Attention lorsque y’a une participation a moins de 100% c’est est un traitement spécial attention </a:t>
            </a:r>
          </a:p>
        </p:txBody>
      </p:sp>
      <p:sp>
        <p:nvSpPr>
          <p:cNvPr id="4" name="Espace réservé du numéro de diapositive 3"/>
          <p:cNvSpPr>
            <a:spLocks noGrp="1"/>
          </p:cNvSpPr>
          <p:nvPr>
            <p:ph type="sldNum" sz="quarter" idx="5"/>
          </p:nvPr>
        </p:nvSpPr>
        <p:spPr/>
        <p:txBody>
          <a:bodyPr/>
          <a:lstStyle/>
          <a:p>
            <a:fld id="{A4CCEC0A-9F91-45EB-9AD5-E52DCC70D307}" type="slidenum">
              <a:rPr lang="fr-FR" smtClean="0"/>
              <a:t>6</a:t>
            </a:fld>
            <a:endParaRPr lang="fr-FR"/>
          </a:p>
        </p:txBody>
      </p:sp>
    </p:spTree>
    <p:extLst>
      <p:ext uri="{BB962C8B-B14F-4D97-AF65-F5344CB8AC3E}">
        <p14:creationId xmlns:p14="http://schemas.microsoft.com/office/powerpoint/2010/main" val="3626441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Tu va le payer en papier et pas en trésorerie le vendeur va participer dans ton capital action </a:t>
            </a:r>
          </a:p>
          <a:p>
            <a:endParaRPr lang="fr-CA" dirty="0"/>
          </a:p>
        </p:txBody>
      </p:sp>
      <p:sp>
        <p:nvSpPr>
          <p:cNvPr id="4" name="Espace réservé du numéro de diapositive 3"/>
          <p:cNvSpPr>
            <a:spLocks noGrp="1"/>
          </p:cNvSpPr>
          <p:nvPr>
            <p:ph type="sldNum" sz="quarter" idx="5"/>
          </p:nvPr>
        </p:nvSpPr>
        <p:spPr/>
        <p:txBody>
          <a:bodyPr/>
          <a:lstStyle/>
          <a:p>
            <a:fld id="{A4CCEC0A-9F91-45EB-9AD5-E52DCC70D307}" type="slidenum">
              <a:rPr lang="fr-FR" smtClean="0"/>
              <a:t>7</a:t>
            </a:fld>
            <a:endParaRPr lang="fr-FR"/>
          </a:p>
        </p:txBody>
      </p:sp>
    </p:spTree>
    <p:extLst>
      <p:ext uri="{BB962C8B-B14F-4D97-AF65-F5344CB8AC3E}">
        <p14:creationId xmlns:p14="http://schemas.microsoft.com/office/powerpoint/2010/main" val="1433303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32612D6-2276-624E-A18E-E725E53548D6}" type="slidenum">
              <a:rPr lang="fr-FR" smtClean="0"/>
              <a:t>17</a:t>
            </a:fld>
            <a:endParaRPr lang="fr-FR"/>
          </a:p>
        </p:txBody>
      </p:sp>
    </p:spTree>
    <p:extLst>
      <p:ext uri="{BB962C8B-B14F-4D97-AF65-F5344CB8AC3E}">
        <p14:creationId xmlns:p14="http://schemas.microsoft.com/office/powerpoint/2010/main" val="3707379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ABB8A-6BF9-B777-024A-E6B1FBF83F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DA74C7E-BF23-B07C-F593-17C39684B58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5A90A97-387E-06ED-A4D7-5E1670B7A21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763AED1-6CA7-90B0-17AF-C662C5150537}"/>
              </a:ext>
            </a:extLst>
          </p:cNvPr>
          <p:cNvSpPr>
            <a:spLocks noGrp="1"/>
          </p:cNvSpPr>
          <p:nvPr>
            <p:ph type="sldNum" sz="quarter" idx="10"/>
          </p:nvPr>
        </p:nvSpPr>
        <p:spPr/>
        <p:txBody>
          <a:bodyPr/>
          <a:lstStyle/>
          <a:p>
            <a:fld id="{532612D6-2276-624E-A18E-E725E53548D6}" type="slidenum">
              <a:rPr lang="fr-FR" smtClean="0"/>
              <a:t>18</a:t>
            </a:fld>
            <a:endParaRPr lang="fr-FR"/>
          </a:p>
        </p:txBody>
      </p:sp>
    </p:spTree>
    <p:extLst>
      <p:ext uri="{BB962C8B-B14F-4D97-AF65-F5344CB8AC3E}">
        <p14:creationId xmlns:p14="http://schemas.microsoft.com/office/powerpoint/2010/main" val="2030216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a:ln/>
        </p:spPr>
      </p:sp>
      <p:sp>
        <p:nvSpPr>
          <p:cNvPr id="17411" name="Espace réservé des commentaires 2"/>
          <p:cNvSpPr>
            <a:spLocks noGrp="1"/>
          </p:cNvSpPr>
          <p:nvPr>
            <p:ph type="body" idx="1"/>
          </p:nvPr>
        </p:nvSpPr>
        <p:spPr>
          <a:noFill/>
        </p:spPr>
        <p:txBody>
          <a:bodyPr/>
          <a:lstStyle/>
          <a:p>
            <a:r>
              <a:rPr lang="fr-CA" altLang="fr-FR">
                <a:ea typeface="ＭＳ Ｐゴシック" panose="020B0600070205080204" pitchFamily="34" charset="-128"/>
              </a:rPr>
              <a:t>Chapitre 22 du Guide NCECF</a:t>
            </a:r>
          </a:p>
        </p:txBody>
      </p:sp>
      <p:sp>
        <p:nvSpPr>
          <p:cNvPr id="17412" name="Espace réservé du numéro de diapositive 3"/>
          <p:cNvSpPr>
            <a:spLocks noGrp="1"/>
          </p:cNvSpPr>
          <p:nvPr>
            <p:ph type="sldNum" sz="quarter" idx="5"/>
          </p:nvPr>
        </p:nvSpPr>
        <p:spPr>
          <a:noFill/>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66DFD11-2050-452C-B7CC-F9F189972F31}" type="slidenum">
              <a:rPr lang="fr-CA" altLang="fr-FR">
                <a:latin typeface="Calibri" panose="020F0502020204030204" pitchFamily="34" charset="0"/>
              </a:rPr>
              <a:pPr/>
              <a:t>30</a:t>
            </a:fld>
            <a:endParaRPr lang="fr-CA" altLang="fr-FR">
              <a:latin typeface="Calibri" panose="020F0502020204030204" pitchFamily="34" charset="0"/>
            </a:endParaRPr>
          </a:p>
        </p:txBody>
      </p:sp>
    </p:spTree>
    <p:extLst>
      <p:ext uri="{BB962C8B-B14F-4D97-AF65-F5344CB8AC3E}">
        <p14:creationId xmlns:p14="http://schemas.microsoft.com/office/powerpoint/2010/main" val="860995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a:noFill/>
        </p:spPr>
        <p:txBody>
          <a:bodyPr/>
          <a:lstStyle/>
          <a:p>
            <a:endParaRPr lang="fr-CA" altLang="fr-FR">
              <a:ea typeface="ＭＳ Ｐゴシック" panose="020B0600070205080204" pitchFamily="34" charset="-128"/>
            </a:endParaRPr>
          </a:p>
          <a:p>
            <a:endParaRPr lang="fr-CA" altLang="fr-FR">
              <a:ea typeface="ＭＳ Ｐゴシック" panose="020B0600070205080204" pitchFamily="34" charset="-128"/>
            </a:endParaRPr>
          </a:p>
        </p:txBody>
      </p:sp>
      <p:sp>
        <p:nvSpPr>
          <p:cNvPr id="31748" name="Espace réservé du numéro de diapositive 3"/>
          <p:cNvSpPr>
            <a:spLocks noGrp="1"/>
          </p:cNvSpPr>
          <p:nvPr>
            <p:ph type="sldNum" sz="quarter" idx="5"/>
          </p:nvPr>
        </p:nvSpPr>
        <p:spPr>
          <a:noFill/>
        </p:spPr>
        <p:txBody>
          <a:bodyPr/>
          <a:lstStyle>
            <a:lvl1pPr defTabSz="966788">
              <a:defRPr>
                <a:solidFill>
                  <a:schemeClr val="tx1"/>
                </a:solidFill>
                <a:latin typeface="Arial" panose="020B0604020202020204" pitchFamily="34" charset="0"/>
                <a:ea typeface="ＭＳ Ｐゴシック" panose="020B0600070205080204" pitchFamily="34" charset="-128"/>
              </a:defRPr>
            </a:lvl1pPr>
            <a:lvl2pPr marL="742950" indent="-285750" defTabSz="966788">
              <a:defRPr>
                <a:solidFill>
                  <a:schemeClr val="tx1"/>
                </a:solidFill>
                <a:latin typeface="Arial" panose="020B0604020202020204" pitchFamily="34" charset="0"/>
                <a:ea typeface="ＭＳ Ｐゴシック" panose="020B0600070205080204" pitchFamily="34" charset="-128"/>
              </a:defRPr>
            </a:lvl2pPr>
            <a:lvl3pPr marL="1143000" indent="-228600" defTabSz="966788">
              <a:defRPr>
                <a:solidFill>
                  <a:schemeClr val="tx1"/>
                </a:solidFill>
                <a:latin typeface="Arial" panose="020B0604020202020204" pitchFamily="34" charset="0"/>
                <a:ea typeface="ＭＳ Ｐゴシック" panose="020B0600070205080204" pitchFamily="34" charset="-128"/>
              </a:defRPr>
            </a:lvl3pPr>
            <a:lvl4pPr marL="1600200" indent="-228600" defTabSz="966788">
              <a:defRPr>
                <a:solidFill>
                  <a:schemeClr val="tx1"/>
                </a:solidFill>
                <a:latin typeface="Arial" panose="020B0604020202020204" pitchFamily="34" charset="0"/>
                <a:ea typeface="ＭＳ Ｐゴシック" panose="020B0600070205080204" pitchFamily="34" charset="-128"/>
              </a:defRPr>
            </a:lvl4pPr>
            <a:lvl5pPr marL="2057400" indent="-228600" defTabSz="966788">
              <a:defRPr>
                <a:solidFill>
                  <a:schemeClr val="tx1"/>
                </a:solidFill>
                <a:latin typeface="Arial" panose="020B0604020202020204" pitchFamily="34" charset="0"/>
                <a:ea typeface="ＭＳ Ｐゴシック" panose="020B0600070205080204" pitchFamily="34" charset="-128"/>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B578EC6-E0B1-4B65-8E0F-CE779B6493B6}" type="slidenum">
              <a:rPr lang="fr-CA" altLang="fr-FR">
                <a:latin typeface="Calibri" panose="020F0502020204030204" pitchFamily="34" charset="0"/>
              </a:rPr>
              <a:pPr/>
              <a:t>35</a:t>
            </a:fld>
            <a:endParaRPr lang="fr-CA" altLang="fr-FR">
              <a:latin typeface="Calibri" panose="020F0502020204030204" pitchFamily="34" charset="0"/>
            </a:endParaRPr>
          </a:p>
        </p:txBody>
      </p:sp>
    </p:spTree>
    <p:extLst>
      <p:ext uri="{BB962C8B-B14F-4D97-AF65-F5344CB8AC3E}">
        <p14:creationId xmlns:p14="http://schemas.microsoft.com/office/powerpoint/2010/main" val="3573077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A4CCEC0A-9F91-45EB-9AD5-E52DCC70D307}" type="slidenum">
              <a:rPr lang="fr-FR" smtClean="0"/>
              <a:t>40</a:t>
            </a:fld>
            <a:endParaRPr lang="fr-FR"/>
          </a:p>
        </p:txBody>
      </p:sp>
    </p:spTree>
    <p:extLst>
      <p:ext uri="{BB962C8B-B14F-4D97-AF65-F5344CB8AC3E}">
        <p14:creationId xmlns:p14="http://schemas.microsoft.com/office/powerpoint/2010/main" val="324814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CBFFD0-1509-43CB-BC40-F2827C32A86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A349B10-D34F-4667-AFB8-C7A80658F9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2732BE2-71AC-4857-885E-781BACD013E5}"/>
              </a:ext>
            </a:extLst>
          </p:cNvPr>
          <p:cNvSpPr>
            <a:spLocks noGrp="1"/>
          </p:cNvSpPr>
          <p:nvPr>
            <p:ph type="dt" sz="half" idx="10"/>
          </p:nvPr>
        </p:nvSpPr>
        <p:spPr/>
        <p:txBody>
          <a:bodyPr/>
          <a:lstStyle/>
          <a:p>
            <a:fld id="{26E8461D-2531-4624-9E98-BE224964C5FB}" type="datetime1">
              <a:rPr lang="fr-FR" smtClean="0"/>
              <a:t>17/04/2025</a:t>
            </a:fld>
            <a:endParaRPr lang="fr-FR"/>
          </a:p>
        </p:txBody>
      </p:sp>
      <p:sp>
        <p:nvSpPr>
          <p:cNvPr id="5" name="Espace réservé du pied de page 4">
            <a:extLst>
              <a:ext uri="{FF2B5EF4-FFF2-40B4-BE49-F238E27FC236}">
                <a16:creationId xmlns:a16="http://schemas.microsoft.com/office/drawing/2014/main" id="{79176F5F-45B5-4E39-80CF-9C05F256410F}"/>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507DEA5D-C2FE-4BCA-8E18-A421CFB39B86}"/>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1636192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42430-47DE-4DE3-A8C9-8B362C577D7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9EBD0D2-E90F-477E-9E87-58055879D82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03DEAC2-806C-4742-BD61-2072871DFE27}"/>
              </a:ext>
            </a:extLst>
          </p:cNvPr>
          <p:cNvSpPr>
            <a:spLocks noGrp="1"/>
          </p:cNvSpPr>
          <p:nvPr>
            <p:ph type="dt" sz="half" idx="10"/>
          </p:nvPr>
        </p:nvSpPr>
        <p:spPr/>
        <p:txBody>
          <a:bodyPr/>
          <a:lstStyle/>
          <a:p>
            <a:fld id="{C7F37A6D-55C4-4DEB-A4A9-D64180964DD3}" type="datetime1">
              <a:rPr lang="fr-FR" smtClean="0"/>
              <a:t>17/04/2025</a:t>
            </a:fld>
            <a:endParaRPr lang="fr-FR"/>
          </a:p>
        </p:txBody>
      </p:sp>
      <p:sp>
        <p:nvSpPr>
          <p:cNvPr id="5" name="Espace réservé du pied de page 4">
            <a:extLst>
              <a:ext uri="{FF2B5EF4-FFF2-40B4-BE49-F238E27FC236}">
                <a16:creationId xmlns:a16="http://schemas.microsoft.com/office/drawing/2014/main" id="{31622D86-1FF8-42FF-8F02-95E595441EA5}"/>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45AF3C7C-8A9E-44EF-B79C-EED2BBB6EE36}"/>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2565306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0DB208-4199-40C2-93AA-8C7E0066730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5A65004-24C9-4C5D-8345-9E648FF7C5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570A4A9-C934-4EE5-B505-17BA97FB8428}"/>
              </a:ext>
            </a:extLst>
          </p:cNvPr>
          <p:cNvSpPr>
            <a:spLocks noGrp="1"/>
          </p:cNvSpPr>
          <p:nvPr>
            <p:ph type="dt" sz="half" idx="10"/>
          </p:nvPr>
        </p:nvSpPr>
        <p:spPr/>
        <p:txBody>
          <a:bodyPr/>
          <a:lstStyle/>
          <a:p>
            <a:fld id="{35A8B543-F210-48EB-BF85-5E7070F6E894}" type="datetime1">
              <a:rPr lang="fr-FR" smtClean="0"/>
              <a:t>17/04/2025</a:t>
            </a:fld>
            <a:endParaRPr lang="fr-FR"/>
          </a:p>
        </p:txBody>
      </p:sp>
      <p:sp>
        <p:nvSpPr>
          <p:cNvPr id="5" name="Espace réservé du pied de page 4">
            <a:extLst>
              <a:ext uri="{FF2B5EF4-FFF2-40B4-BE49-F238E27FC236}">
                <a16:creationId xmlns:a16="http://schemas.microsoft.com/office/drawing/2014/main" id="{7690CFC0-A2DD-4116-ADCC-2BDC149A53CD}"/>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5BF4B322-41BF-4BC5-B4E2-A7A2D30E212E}"/>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4236507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09FB1B-825B-43C4-A203-B6CE9EACDF6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6F6A26A-843F-458B-95E1-C295B403E17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2565FBC-03BA-4A1E-9111-343A794A624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367CC00-0A51-4C3E-8FC4-CDE6C5166E31}"/>
              </a:ext>
            </a:extLst>
          </p:cNvPr>
          <p:cNvSpPr>
            <a:spLocks noGrp="1"/>
          </p:cNvSpPr>
          <p:nvPr>
            <p:ph type="dt" sz="half" idx="10"/>
          </p:nvPr>
        </p:nvSpPr>
        <p:spPr/>
        <p:txBody>
          <a:bodyPr/>
          <a:lstStyle/>
          <a:p>
            <a:fld id="{723AB327-264D-413D-BB3B-E1101024CB97}" type="datetime1">
              <a:rPr lang="fr-FR" smtClean="0"/>
              <a:t>17/04/2025</a:t>
            </a:fld>
            <a:endParaRPr lang="fr-FR"/>
          </a:p>
        </p:txBody>
      </p:sp>
      <p:sp>
        <p:nvSpPr>
          <p:cNvPr id="6" name="Espace réservé du pied de page 5">
            <a:extLst>
              <a:ext uri="{FF2B5EF4-FFF2-40B4-BE49-F238E27FC236}">
                <a16:creationId xmlns:a16="http://schemas.microsoft.com/office/drawing/2014/main" id="{B34B6359-D17C-4A41-BA96-768B595125C3}"/>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EE8B565F-62AE-4113-BA07-DD6B224C5178}"/>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1870696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D384A2-32C1-4F1F-95A7-33A3A8103AB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461E23B-6712-4D2E-A3FF-FE0A995016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722BC1D-3EE8-43E9-8A15-2F33FA8C369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B482865-A11A-4436-BC60-C0251ADFED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41399EE-8AA6-4E39-9845-0FFE00A502E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4C0AF73-FFD0-470A-A683-8195155CEB4F}"/>
              </a:ext>
            </a:extLst>
          </p:cNvPr>
          <p:cNvSpPr>
            <a:spLocks noGrp="1"/>
          </p:cNvSpPr>
          <p:nvPr>
            <p:ph type="dt" sz="half" idx="10"/>
          </p:nvPr>
        </p:nvSpPr>
        <p:spPr/>
        <p:txBody>
          <a:bodyPr/>
          <a:lstStyle/>
          <a:p>
            <a:fld id="{B9C23D75-B4EA-41B9-90CC-D207997719FC}" type="datetime1">
              <a:rPr lang="fr-FR" smtClean="0"/>
              <a:t>17/04/2025</a:t>
            </a:fld>
            <a:endParaRPr lang="fr-FR"/>
          </a:p>
        </p:txBody>
      </p:sp>
      <p:sp>
        <p:nvSpPr>
          <p:cNvPr id="8" name="Espace réservé du pied de page 7">
            <a:extLst>
              <a:ext uri="{FF2B5EF4-FFF2-40B4-BE49-F238E27FC236}">
                <a16:creationId xmlns:a16="http://schemas.microsoft.com/office/drawing/2014/main" id="{72B672D9-5D97-4B5C-89FB-7599C6B918B5}"/>
              </a:ext>
            </a:extLst>
          </p:cNvPr>
          <p:cNvSpPr>
            <a:spLocks noGrp="1"/>
          </p:cNvSpPr>
          <p:nvPr>
            <p:ph type="ftr" sz="quarter" idx="11"/>
          </p:nvPr>
        </p:nvSpPr>
        <p:spPr/>
        <p:txBody>
          <a:bodyPr/>
          <a:lstStyle/>
          <a:p>
            <a:r>
              <a:rPr lang="fr-FR"/>
              <a:t>Droits réservés - Louise Overbeek</a:t>
            </a:r>
          </a:p>
        </p:txBody>
      </p:sp>
      <p:sp>
        <p:nvSpPr>
          <p:cNvPr id="9" name="Espace réservé du numéro de diapositive 8">
            <a:extLst>
              <a:ext uri="{FF2B5EF4-FFF2-40B4-BE49-F238E27FC236}">
                <a16:creationId xmlns:a16="http://schemas.microsoft.com/office/drawing/2014/main" id="{57B4E569-FE4C-41CE-9458-8A8398C42089}"/>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4171608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BA03C7-28F3-4A62-8157-4604B8B18FD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3A31BCC-DC95-45A6-B7B7-2FDC9CD11CD3}"/>
              </a:ext>
            </a:extLst>
          </p:cNvPr>
          <p:cNvSpPr>
            <a:spLocks noGrp="1"/>
          </p:cNvSpPr>
          <p:nvPr>
            <p:ph type="dt" sz="half" idx="10"/>
          </p:nvPr>
        </p:nvSpPr>
        <p:spPr/>
        <p:txBody>
          <a:bodyPr/>
          <a:lstStyle/>
          <a:p>
            <a:fld id="{877651D2-FD09-4621-8B3D-C069A101F40A}" type="datetime1">
              <a:rPr lang="fr-FR" smtClean="0"/>
              <a:t>17/04/2025</a:t>
            </a:fld>
            <a:endParaRPr lang="fr-FR"/>
          </a:p>
        </p:txBody>
      </p:sp>
      <p:sp>
        <p:nvSpPr>
          <p:cNvPr id="4" name="Espace réservé du pied de page 3">
            <a:extLst>
              <a:ext uri="{FF2B5EF4-FFF2-40B4-BE49-F238E27FC236}">
                <a16:creationId xmlns:a16="http://schemas.microsoft.com/office/drawing/2014/main" id="{5B2B8934-DBAD-4BA1-A850-9B550C9C904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4BE669C-DE94-49D5-9229-B9E440984D44}"/>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4091489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AC23DE7-739B-4D18-B1E9-5A0418B8B7B8}"/>
              </a:ext>
            </a:extLst>
          </p:cNvPr>
          <p:cNvSpPr>
            <a:spLocks noGrp="1"/>
          </p:cNvSpPr>
          <p:nvPr>
            <p:ph type="dt" sz="half" idx="10"/>
          </p:nvPr>
        </p:nvSpPr>
        <p:spPr/>
        <p:txBody>
          <a:bodyPr/>
          <a:lstStyle/>
          <a:p>
            <a:fld id="{5034F3A5-FF5E-488C-A786-118BB206CCD1}" type="datetime1">
              <a:rPr lang="fr-FR" smtClean="0"/>
              <a:t>17/04/2025</a:t>
            </a:fld>
            <a:endParaRPr lang="fr-FR"/>
          </a:p>
        </p:txBody>
      </p:sp>
      <p:sp>
        <p:nvSpPr>
          <p:cNvPr id="3" name="Espace réservé du pied de page 2">
            <a:extLst>
              <a:ext uri="{FF2B5EF4-FFF2-40B4-BE49-F238E27FC236}">
                <a16:creationId xmlns:a16="http://schemas.microsoft.com/office/drawing/2014/main" id="{D0704442-37C4-4DBB-B11B-13EFC382F43B}"/>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1C3637EA-F3A4-40E0-97B2-CDB502A1B2EC}"/>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75879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B5B7AE-DABF-4816-AA11-14A7A1753CE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AA254CC-48D4-48E7-BBDC-B21FDA940D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3FCCA7C-247A-4A69-8B25-1BE3606EA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B9D740D-BBC0-464D-8CD1-1A44C4E73C53}"/>
              </a:ext>
            </a:extLst>
          </p:cNvPr>
          <p:cNvSpPr>
            <a:spLocks noGrp="1"/>
          </p:cNvSpPr>
          <p:nvPr>
            <p:ph type="dt" sz="half" idx="10"/>
          </p:nvPr>
        </p:nvSpPr>
        <p:spPr/>
        <p:txBody>
          <a:bodyPr/>
          <a:lstStyle/>
          <a:p>
            <a:fld id="{8300ABE4-C632-4569-835E-FEF8CE37EF64}" type="datetime1">
              <a:rPr lang="fr-FR" smtClean="0"/>
              <a:t>17/04/2025</a:t>
            </a:fld>
            <a:endParaRPr lang="fr-FR"/>
          </a:p>
        </p:txBody>
      </p:sp>
      <p:sp>
        <p:nvSpPr>
          <p:cNvPr id="6" name="Espace réservé du pied de page 5">
            <a:extLst>
              <a:ext uri="{FF2B5EF4-FFF2-40B4-BE49-F238E27FC236}">
                <a16:creationId xmlns:a16="http://schemas.microsoft.com/office/drawing/2014/main" id="{08E6EC6D-3A77-45C1-87B1-12E7F4AEAC50}"/>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8BF5835E-25F7-4D5A-94C7-74FE375C7FA3}"/>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3289244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992C26-BDDA-46D0-8DA6-19F3E7A3450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22C801E-B2AC-4338-B26C-BBB2CCA6B2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DB1BA39-A557-473E-B300-A781E14990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73FA0D6-E213-4060-A0EA-BC8588D3E30C}"/>
              </a:ext>
            </a:extLst>
          </p:cNvPr>
          <p:cNvSpPr>
            <a:spLocks noGrp="1"/>
          </p:cNvSpPr>
          <p:nvPr>
            <p:ph type="dt" sz="half" idx="10"/>
          </p:nvPr>
        </p:nvSpPr>
        <p:spPr/>
        <p:txBody>
          <a:bodyPr/>
          <a:lstStyle/>
          <a:p>
            <a:fld id="{3EF56221-E45A-48C8-A295-741C85CF5230}" type="datetime1">
              <a:rPr lang="fr-FR" smtClean="0"/>
              <a:t>17/04/2025</a:t>
            </a:fld>
            <a:endParaRPr lang="fr-FR"/>
          </a:p>
        </p:txBody>
      </p:sp>
      <p:sp>
        <p:nvSpPr>
          <p:cNvPr id="6" name="Espace réservé du pied de page 5">
            <a:extLst>
              <a:ext uri="{FF2B5EF4-FFF2-40B4-BE49-F238E27FC236}">
                <a16:creationId xmlns:a16="http://schemas.microsoft.com/office/drawing/2014/main" id="{AD034191-3E40-4F6C-8B42-50CBB6705E37}"/>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BFF67579-94E2-45DA-B953-C150DC68D3BC}"/>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3396714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2FA945-0F77-4E11-816A-8A1E100ABBE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4D0B61F-58AA-4698-A001-EF288D5E7D1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B08D25E-A3A5-47BB-83AD-ACF67E7FC3C7}"/>
              </a:ext>
            </a:extLst>
          </p:cNvPr>
          <p:cNvSpPr>
            <a:spLocks noGrp="1"/>
          </p:cNvSpPr>
          <p:nvPr>
            <p:ph type="dt" sz="half" idx="10"/>
          </p:nvPr>
        </p:nvSpPr>
        <p:spPr/>
        <p:txBody>
          <a:bodyPr/>
          <a:lstStyle/>
          <a:p>
            <a:fld id="{11ED9C82-1122-4B07-807C-885F06FC5D77}" type="datetime1">
              <a:rPr lang="fr-FR" smtClean="0"/>
              <a:t>17/04/2025</a:t>
            </a:fld>
            <a:endParaRPr lang="fr-FR"/>
          </a:p>
        </p:txBody>
      </p:sp>
      <p:sp>
        <p:nvSpPr>
          <p:cNvPr id="5" name="Espace réservé du pied de page 4">
            <a:extLst>
              <a:ext uri="{FF2B5EF4-FFF2-40B4-BE49-F238E27FC236}">
                <a16:creationId xmlns:a16="http://schemas.microsoft.com/office/drawing/2014/main" id="{165784C1-847B-4BE1-BF29-BB8910A4D401}"/>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CEDEA7B4-3B00-450C-A26C-8D78AF683CDC}"/>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144732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5CD493-4D39-497C-9B57-FEEFAB9B08F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F113834-8DDA-4C45-8244-29A37D7430F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9E1AB8-D447-4F58-94B8-C9A3361E01C7}"/>
              </a:ext>
            </a:extLst>
          </p:cNvPr>
          <p:cNvSpPr>
            <a:spLocks noGrp="1"/>
          </p:cNvSpPr>
          <p:nvPr>
            <p:ph type="dt" sz="half" idx="10"/>
          </p:nvPr>
        </p:nvSpPr>
        <p:spPr/>
        <p:txBody>
          <a:bodyPr/>
          <a:lstStyle/>
          <a:p>
            <a:fld id="{92D7F615-2B56-4E91-B0C6-D9E17B18B5D5}" type="datetime1">
              <a:rPr lang="fr-FR" smtClean="0"/>
              <a:t>17/04/2025</a:t>
            </a:fld>
            <a:endParaRPr lang="fr-FR"/>
          </a:p>
        </p:txBody>
      </p:sp>
      <p:sp>
        <p:nvSpPr>
          <p:cNvPr id="5" name="Espace réservé du pied de page 4">
            <a:extLst>
              <a:ext uri="{FF2B5EF4-FFF2-40B4-BE49-F238E27FC236}">
                <a16:creationId xmlns:a16="http://schemas.microsoft.com/office/drawing/2014/main" id="{22A06DD5-22B1-4939-BF36-89759F7BD5B0}"/>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DE9CA7D0-6045-431F-BC8F-E66EBF640497}"/>
              </a:ext>
            </a:extLst>
          </p:cNvPr>
          <p:cNvSpPr>
            <a:spLocks noGrp="1"/>
          </p:cNvSpPr>
          <p:nvPr>
            <p:ph type="sldNum" sz="quarter" idx="12"/>
          </p:nvPr>
        </p:nvSpPr>
        <p:spPr/>
        <p:txBody>
          <a:bodyPr/>
          <a:lstStyle/>
          <a:p>
            <a:fld id="{BA55C67B-76F5-4A5A-9DE0-EA5E28301294}" type="slidenum">
              <a:rPr lang="fr-FR" smtClean="0"/>
              <a:t>‹N°›</a:t>
            </a:fld>
            <a:endParaRPr lang="fr-FR"/>
          </a:p>
        </p:txBody>
      </p:sp>
    </p:spTree>
    <p:extLst>
      <p:ext uri="{BB962C8B-B14F-4D97-AF65-F5344CB8AC3E}">
        <p14:creationId xmlns:p14="http://schemas.microsoft.com/office/powerpoint/2010/main" val="1563228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B2FFF04-D7E6-4DCB-AF70-CB82655A1E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0278EEB-8342-4C07-9D46-066D2242BD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E05ADF6-F761-46F1-8958-BD9019CC97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2E748-C2F1-4D19-B7FE-0BB116F3EEAB}" type="datetime1">
              <a:rPr lang="fr-FR" smtClean="0"/>
              <a:t>17/04/2025</a:t>
            </a:fld>
            <a:endParaRPr lang="fr-FR"/>
          </a:p>
        </p:txBody>
      </p:sp>
      <p:sp>
        <p:nvSpPr>
          <p:cNvPr id="5" name="Espace réservé du pied de page 4">
            <a:extLst>
              <a:ext uri="{FF2B5EF4-FFF2-40B4-BE49-F238E27FC236}">
                <a16:creationId xmlns:a16="http://schemas.microsoft.com/office/drawing/2014/main" id="{B9F63E18-C1FB-4AC7-B01B-DA1427B36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5BFA6348-15A6-479B-B436-E0183F9BA1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55C67B-76F5-4A5A-9DE0-EA5E28301294}" type="slidenum">
              <a:rPr lang="fr-FR" smtClean="0"/>
              <a:t>‹N°›</a:t>
            </a:fld>
            <a:endParaRPr lang="fr-FR"/>
          </a:p>
        </p:txBody>
      </p:sp>
    </p:spTree>
    <p:extLst>
      <p:ext uri="{BB962C8B-B14F-4D97-AF65-F5344CB8AC3E}">
        <p14:creationId xmlns:p14="http://schemas.microsoft.com/office/powerpoint/2010/main" val="533952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2_110C2C0D.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knotia.ca/knowledge/home.aspx?productid=8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knotia.ca/knowledge/home.aspx?productid=127"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7D6C0D-4363-4108-9B43-BF3C7C169618}"/>
              </a:ext>
            </a:extLst>
          </p:cNvPr>
          <p:cNvSpPr>
            <a:spLocks noGrp="1"/>
          </p:cNvSpPr>
          <p:nvPr>
            <p:ph type="ctrTitle"/>
          </p:nvPr>
        </p:nvSpPr>
        <p:spPr/>
        <p:txBody>
          <a:bodyPr/>
          <a:lstStyle/>
          <a:p>
            <a:r>
              <a:rPr lang="fr-CA" dirty="0"/>
              <a:t>40938</a:t>
            </a:r>
            <a:br>
              <a:rPr lang="fr-CA" dirty="0"/>
            </a:br>
            <a:r>
              <a:rPr lang="fr-CA" dirty="0"/>
              <a:t>Placements stratégiques</a:t>
            </a:r>
            <a:endParaRPr lang="fr-FR" dirty="0"/>
          </a:p>
        </p:txBody>
      </p:sp>
      <p:sp>
        <p:nvSpPr>
          <p:cNvPr id="3" name="Sous-titre 2">
            <a:extLst>
              <a:ext uri="{FF2B5EF4-FFF2-40B4-BE49-F238E27FC236}">
                <a16:creationId xmlns:a16="http://schemas.microsoft.com/office/drawing/2014/main" id="{82CA13E9-6ABB-4A43-98D6-F2FE53F45B0A}"/>
              </a:ext>
            </a:extLst>
          </p:cNvPr>
          <p:cNvSpPr>
            <a:spLocks noGrp="1"/>
          </p:cNvSpPr>
          <p:nvPr>
            <p:ph type="subTitle" idx="1"/>
          </p:nvPr>
        </p:nvSpPr>
        <p:spPr>
          <a:xfrm>
            <a:off x="1524000" y="4226560"/>
            <a:ext cx="9144000" cy="1763078"/>
          </a:xfrm>
        </p:spPr>
        <p:txBody>
          <a:bodyPr>
            <a:normAutofit/>
          </a:bodyPr>
          <a:lstStyle/>
          <a:p>
            <a:endParaRPr lang="fr-CA" dirty="0"/>
          </a:p>
          <a:p>
            <a:endParaRPr lang="fr-FR" dirty="0"/>
          </a:p>
          <a:p>
            <a:r>
              <a:rPr lang="fr-FR" dirty="0"/>
              <a:t>Louise Overbeek</a:t>
            </a:r>
          </a:p>
          <a:p>
            <a:r>
              <a:rPr lang="fr-FR" sz="2000" dirty="0"/>
              <a:t>Mars 2025</a:t>
            </a:r>
          </a:p>
          <a:p>
            <a:endParaRPr lang="fr-FR" dirty="0"/>
          </a:p>
        </p:txBody>
      </p:sp>
    </p:spTree>
    <p:extLst>
      <p:ext uri="{BB962C8B-B14F-4D97-AF65-F5344CB8AC3E}">
        <p14:creationId xmlns:p14="http://schemas.microsoft.com/office/powerpoint/2010/main" val="810579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4CFB9-D7FF-4A9F-9B92-A790AB75F60E}"/>
              </a:ext>
            </a:extLst>
          </p:cNvPr>
          <p:cNvSpPr>
            <a:spLocks noGrp="1"/>
          </p:cNvSpPr>
          <p:nvPr>
            <p:ph type="title"/>
          </p:nvPr>
        </p:nvSpPr>
        <p:spPr/>
        <p:txBody>
          <a:bodyPr/>
          <a:lstStyle/>
          <a:p>
            <a:r>
              <a:rPr lang="fr-CA" sz="4000" dirty="0"/>
              <a:t>Revue des notions - Placements « stratégiques »</a:t>
            </a:r>
            <a:endParaRPr lang="fr-FR" dirty="0"/>
          </a:p>
        </p:txBody>
      </p:sp>
      <p:sp>
        <p:nvSpPr>
          <p:cNvPr id="3" name="Espace réservé du contenu 2">
            <a:extLst>
              <a:ext uri="{FF2B5EF4-FFF2-40B4-BE49-F238E27FC236}">
                <a16:creationId xmlns:a16="http://schemas.microsoft.com/office/drawing/2014/main" id="{0892E791-9F8C-4838-B5DA-9FF456096B73}"/>
              </a:ext>
            </a:extLst>
          </p:cNvPr>
          <p:cNvSpPr>
            <a:spLocks noGrp="1"/>
          </p:cNvSpPr>
          <p:nvPr>
            <p:ph idx="1"/>
          </p:nvPr>
        </p:nvSpPr>
        <p:spPr>
          <a:xfrm>
            <a:off x="838200" y="1690688"/>
            <a:ext cx="10515600" cy="4486275"/>
          </a:xfrm>
        </p:spPr>
        <p:txBody>
          <a:bodyPr>
            <a:normAutofit/>
          </a:bodyPr>
          <a:lstStyle/>
          <a:p>
            <a:pPr marL="0" indent="0">
              <a:buNone/>
            </a:pPr>
            <a:r>
              <a:rPr lang="fr-CA" dirty="0"/>
              <a:t>Nature pour un placement avec droits de vote :</a:t>
            </a:r>
          </a:p>
          <a:p>
            <a:r>
              <a:rPr lang="fr-CA" dirty="0"/>
              <a:t>Contrôle</a:t>
            </a:r>
          </a:p>
          <a:p>
            <a:r>
              <a:rPr lang="fr-CA" dirty="0"/>
              <a:t>Contrôle conjoint </a:t>
            </a:r>
          </a:p>
          <a:p>
            <a:r>
              <a:rPr lang="fr-CA" dirty="0"/>
              <a:t>Influence</a:t>
            </a:r>
          </a:p>
          <a:p>
            <a:pPr lvl="1">
              <a:buFont typeface="Wingdings" panose="05000000000000000000" pitchFamily="2" charset="2"/>
              <a:buChar char="Ø"/>
            </a:pPr>
            <a:r>
              <a:rPr lang="fr-CA" dirty="0"/>
              <a:t>Classer le placement permet de déterminer la norme applicable ainsi que le traitement comptable</a:t>
            </a:r>
          </a:p>
          <a:p>
            <a:pPr marL="457200" lvl="1" indent="0">
              <a:buNone/>
            </a:pPr>
            <a:endParaRPr lang="fr-CA" dirty="0"/>
          </a:p>
          <a:p>
            <a:r>
              <a:rPr lang="fr-CA" dirty="0"/>
              <a:t>Alors que placement sans influence</a:t>
            </a:r>
          </a:p>
          <a:p>
            <a:pPr lvl="1"/>
            <a:r>
              <a:rPr lang="fr-CA" dirty="0"/>
              <a:t>Titre de revenu fixe et actions avec droits de vote insuffisant pour influence : IFRS 9 / chap. 3056</a:t>
            </a:r>
          </a:p>
          <a:p>
            <a:pPr marL="0" indent="0">
              <a:buNone/>
            </a:pPr>
            <a:endParaRPr lang="fr-CA" dirty="0"/>
          </a:p>
        </p:txBody>
      </p:sp>
      <p:sp>
        <p:nvSpPr>
          <p:cNvPr id="4" name="Espace réservé du pied de page 3">
            <a:extLst>
              <a:ext uri="{FF2B5EF4-FFF2-40B4-BE49-F238E27FC236}">
                <a16:creationId xmlns:a16="http://schemas.microsoft.com/office/drawing/2014/main" id="{5BD9E785-5E99-F474-945F-E28E585C00B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42A3F5D-8143-99AE-7095-555C34DA191E}"/>
              </a:ext>
            </a:extLst>
          </p:cNvPr>
          <p:cNvSpPr>
            <a:spLocks noGrp="1"/>
          </p:cNvSpPr>
          <p:nvPr>
            <p:ph type="sldNum" sz="quarter" idx="12"/>
          </p:nvPr>
        </p:nvSpPr>
        <p:spPr/>
        <p:txBody>
          <a:bodyPr/>
          <a:lstStyle/>
          <a:p>
            <a:fld id="{BA55C67B-76F5-4A5A-9DE0-EA5E28301294}" type="slidenum">
              <a:rPr lang="fr-FR" smtClean="0"/>
              <a:t>2</a:t>
            </a:fld>
            <a:endParaRPr lang="fr-FR"/>
          </a:p>
        </p:txBody>
      </p:sp>
    </p:spTree>
    <p:extLst>
      <p:ext uri="{BB962C8B-B14F-4D97-AF65-F5344CB8AC3E}">
        <p14:creationId xmlns:p14="http://schemas.microsoft.com/office/powerpoint/2010/main" val="28601038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D51E0D-67F8-1B04-4A39-EA4046E51C88}"/>
              </a:ext>
            </a:extLst>
          </p:cNvPr>
          <p:cNvSpPr>
            <a:spLocks noGrp="1"/>
          </p:cNvSpPr>
          <p:nvPr>
            <p:ph type="title"/>
          </p:nvPr>
        </p:nvSpPr>
        <p:spPr/>
        <p:txBody>
          <a:bodyPr/>
          <a:lstStyle/>
          <a:p>
            <a:r>
              <a:rPr lang="fr-CA" dirty="0"/>
              <a:t>Rédaction de cas</a:t>
            </a:r>
            <a:endParaRPr lang="fr-FR" dirty="0"/>
          </a:p>
        </p:txBody>
      </p:sp>
      <p:sp>
        <p:nvSpPr>
          <p:cNvPr id="3" name="Espace réservé du contenu 2">
            <a:extLst>
              <a:ext uri="{FF2B5EF4-FFF2-40B4-BE49-F238E27FC236}">
                <a16:creationId xmlns:a16="http://schemas.microsoft.com/office/drawing/2014/main" id="{CB104125-ED01-A632-0A32-4DA1EC3CC398}"/>
              </a:ext>
            </a:extLst>
          </p:cNvPr>
          <p:cNvSpPr>
            <a:spLocks noGrp="1"/>
          </p:cNvSpPr>
          <p:nvPr>
            <p:ph idx="1"/>
          </p:nvPr>
        </p:nvSpPr>
        <p:spPr/>
        <p:txBody>
          <a:bodyPr/>
          <a:lstStyle/>
          <a:p>
            <a:r>
              <a:rPr lang="fr-CA" dirty="0"/>
              <a:t>Approche d’analyse pour un enjeu information financière : norme et application au cas</a:t>
            </a:r>
          </a:p>
          <a:p>
            <a:pPr lvl="1"/>
            <a:r>
              <a:rPr lang="fr-CA" dirty="0"/>
              <a:t>Donc ne pas oublier de supporter votre application au cas avec les concepts de la norme</a:t>
            </a:r>
          </a:p>
          <a:p>
            <a:pPr lvl="1"/>
            <a:endParaRPr lang="fr-CA" dirty="0"/>
          </a:p>
          <a:p>
            <a:pPr lvl="1"/>
            <a:endParaRPr lang="fr-FR" dirty="0"/>
          </a:p>
        </p:txBody>
      </p:sp>
      <p:sp>
        <p:nvSpPr>
          <p:cNvPr id="4" name="Espace réservé du pied de page 3">
            <a:extLst>
              <a:ext uri="{FF2B5EF4-FFF2-40B4-BE49-F238E27FC236}">
                <a16:creationId xmlns:a16="http://schemas.microsoft.com/office/drawing/2014/main" id="{618FC488-A716-2C43-93DF-C1BB94EEB7F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62000EE-8C30-180F-01BB-D0D2789E1ACD}"/>
              </a:ext>
            </a:extLst>
          </p:cNvPr>
          <p:cNvSpPr>
            <a:spLocks noGrp="1"/>
          </p:cNvSpPr>
          <p:nvPr>
            <p:ph type="sldNum" sz="quarter" idx="12"/>
          </p:nvPr>
        </p:nvSpPr>
        <p:spPr/>
        <p:txBody>
          <a:bodyPr/>
          <a:lstStyle/>
          <a:p>
            <a:fld id="{BA55C67B-76F5-4A5A-9DE0-EA5E28301294}" type="slidenum">
              <a:rPr lang="fr-FR" smtClean="0"/>
              <a:t>3</a:t>
            </a:fld>
            <a:endParaRPr lang="fr-FR"/>
          </a:p>
        </p:txBody>
      </p:sp>
    </p:spTree>
    <p:extLst>
      <p:ext uri="{BB962C8B-B14F-4D97-AF65-F5344CB8AC3E}">
        <p14:creationId xmlns:p14="http://schemas.microsoft.com/office/powerpoint/2010/main" val="254493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4CFB9-D7FF-4A9F-9B92-A790AB75F60E}"/>
              </a:ext>
            </a:extLst>
          </p:cNvPr>
          <p:cNvSpPr>
            <a:spLocks noGrp="1"/>
          </p:cNvSpPr>
          <p:nvPr>
            <p:ph type="title"/>
          </p:nvPr>
        </p:nvSpPr>
        <p:spPr/>
        <p:txBody>
          <a:bodyPr/>
          <a:lstStyle/>
          <a:p>
            <a:r>
              <a:rPr lang="fr-CA" sz="4000" b="1" dirty="0">
                <a:solidFill>
                  <a:schemeClr val="accent1"/>
                </a:solidFill>
              </a:rPr>
              <a:t>Placements avec contrôle</a:t>
            </a:r>
            <a:endParaRPr lang="fr-FR" b="1" dirty="0">
              <a:solidFill>
                <a:schemeClr val="accent1"/>
              </a:solidFill>
            </a:endParaRPr>
          </a:p>
        </p:txBody>
      </p:sp>
      <p:sp>
        <p:nvSpPr>
          <p:cNvPr id="3" name="Espace réservé du contenu 2">
            <a:extLst>
              <a:ext uri="{FF2B5EF4-FFF2-40B4-BE49-F238E27FC236}">
                <a16:creationId xmlns:a16="http://schemas.microsoft.com/office/drawing/2014/main" id="{0892E791-9F8C-4838-B5DA-9FF456096B73}"/>
              </a:ext>
            </a:extLst>
          </p:cNvPr>
          <p:cNvSpPr>
            <a:spLocks noGrp="1"/>
          </p:cNvSpPr>
          <p:nvPr>
            <p:ph idx="1"/>
          </p:nvPr>
        </p:nvSpPr>
        <p:spPr>
          <a:xfrm>
            <a:off x="838200" y="1520328"/>
            <a:ext cx="10515600" cy="4972547"/>
          </a:xfrm>
        </p:spPr>
        <p:txBody>
          <a:bodyPr>
            <a:normAutofit fontScale="92500" lnSpcReduction="10000"/>
          </a:bodyPr>
          <a:lstStyle/>
          <a:p>
            <a:pPr marL="0" lvl="1" indent="0">
              <a:buNone/>
            </a:pPr>
            <a:r>
              <a:rPr lang="fr-CA" dirty="0"/>
              <a:t>Notion de </a:t>
            </a:r>
            <a:r>
              <a:rPr lang="fr-CA" dirty="0">
                <a:solidFill>
                  <a:srgbClr val="0070C0"/>
                </a:solidFill>
              </a:rPr>
              <a:t>contrôle</a:t>
            </a:r>
            <a:r>
              <a:rPr lang="fr-CA" dirty="0"/>
              <a:t> – IFRS 10</a:t>
            </a:r>
          </a:p>
          <a:p>
            <a:pPr lvl="1"/>
            <a:r>
              <a:rPr lang="fr-FR" dirty="0"/>
              <a:t>pouvoir de définir, de manière durable et </a:t>
            </a:r>
            <a:r>
              <a:rPr lang="fr-FR" dirty="0">
                <a:solidFill>
                  <a:schemeClr val="accent1"/>
                </a:solidFill>
              </a:rPr>
              <a:t>sans le concours de tiers</a:t>
            </a:r>
            <a:r>
              <a:rPr lang="fr-FR" dirty="0"/>
              <a:t>, les politiques stratégiques d’une entité en matière d’exploitation, d’investissement et de financement</a:t>
            </a:r>
          </a:p>
          <a:p>
            <a:pPr lvl="2"/>
            <a:r>
              <a:rPr lang="fr-FR" dirty="0"/>
              <a:t>IFRS : notions de rendements variables (EDDV)</a:t>
            </a:r>
            <a:endParaRPr lang="fr-CA" dirty="0"/>
          </a:p>
          <a:p>
            <a:pPr marL="0" indent="0">
              <a:buNone/>
            </a:pPr>
            <a:r>
              <a:rPr lang="fr-CA" sz="2000" dirty="0"/>
              <a:t>6     Un investisseur contrôle une entité émettrice lorsqu'il est exposé ou qu'il a droit à des rendements variables en raison de ses liens avec l'entité émettrice et qu'il a la capacité d'influer sur ces rendements du fait du pouvoir qu'il détient sur celle-ci.</a:t>
            </a:r>
          </a:p>
          <a:p>
            <a:pPr marL="0" indent="0">
              <a:buNone/>
            </a:pPr>
            <a:endParaRPr lang="fr-CA" sz="2000" dirty="0"/>
          </a:p>
          <a:p>
            <a:pPr marL="0" indent="0">
              <a:buNone/>
            </a:pPr>
            <a:r>
              <a:rPr lang="fr-CA" sz="2000" dirty="0"/>
              <a:t>7     Par conséquent, l'investisseur contrôle une entité émettrice si et seulement si tous les éléments ci-dessous sont réunis :</a:t>
            </a:r>
          </a:p>
          <a:p>
            <a:pPr marL="0" indent="0">
              <a:buNone/>
            </a:pPr>
            <a:r>
              <a:rPr lang="fr-CA" sz="2000" dirty="0"/>
              <a:t>(a)     il détient le pouvoir sur l'entité émettrice (voir paragraphes </a:t>
            </a:r>
            <a:r>
              <a:rPr lang="fr-CA" sz="2000" dirty="0">
                <a:hlinkClick r:id="rId2"/>
              </a:rPr>
              <a:t>10</a:t>
            </a:r>
            <a:r>
              <a:rPr lang="fr-CA" sz="2000" dirty="0"/>
              <a:t> à 14) ;</a:t>
            </a:r>
          </a:p>
          <a:p>
            <a:pPr marL="0" indent="0">
              <a:buNone/>
            </a:pPr>
            <a:r>
              <a:rPr lang="fr-CA" sz="2000" dirty="0"/>
              <a:t>(b)     il est exposé ou a droit à des rendements variables en raison de ses liens avec l'entité émettrice (voir paragraphes </a:t>
            </a:r>
            <a:r>
              <a:rPr lang="fr-CA" sz="2000" dirty="0">
                <a:hlinkClick r:id="rId2"/>
              </a:rPr>
              <a:t>15</a:t>
            </a:r>
            <a:r>
              <a:rPr lang="fr-CA" sz="2000" dirty="0"/>
              <a:t> et 16) ;</a:t>
            </a:r>
          </a:p>
          <a:p>
            <a:pPr marL="0" indent="0">
              <a:buNone/>
            </a:pPr>
            <a:r>
              <a:rPr lang="fr-CA" sz="2000" dirty="0"/>
              <a:t>(c)     il a la capacité d'exercer son pouvoir sur l'entité émettrice de manière à influer sur le montant des rendements qu'il obtient (voir paragraphes </a:t>
            </a:r>
            <a:r>
              <a:rPr lang="fr-CA" sz="2000" dirty="0">
                <a:hlinkClick r:id="rId2"/>
              </a:rPr>
              <a:t>17</a:t>
            </a:r>
            <a:r>
              <a:rPr lang="fr-CA" sz="2000" dirty="0"/>
              <a:t> et 18).</a:t>
            </a:r>
          </a:p>
        </p:txBody>
      </p:sp>
      <p:sp>
        <p:nvSpPr>
          <p:cNvPr id="4" name="Espace réservé du pied de page 3">
            <a:extLst>
              <a:ext uri="{FF2B5EF4-FFF2-40B4-BE49-F238E27FC236}">
                <a16:creationId xmlns:a16="http://schemas.microsoft.com/office/drawing/2014/main" id="{891E2967-812F-D069-A51D-CB223EE839B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4F3E8D34-CB64-1693-73E1-2D9897D111A0}"/>
              </a:ext>
            </a:extLst>
          </p:cNvPr>
          <p:cNvSpPr>
            <a:spLocks noGrp="1"/>
          </p:cNvSpPr>
          <p:nvPr>
            <p:ph type="sldNum" sz="quarter" idx="12"/>
          </p:nvPr>
        </p:nvSpPr>
        <p:spPr/>
        <p:txBody>
          <a:bodyPr/>
          <a:lstStyle/>
          <a:p>
            <a:fld id="{BA55C67B-76F5-4A5A-9DE0-EA5E28301294}" type="slidenum">
              <a:rPr lang="fr-FR" smtClean="0"/>
              <a:t>4</a:t>
            </a:fld>
            <a:endParaRPr lang="fr-FR"/>
          </a:p>
        </p:txBody>
      </p:sp>
    </p:spTree>
    <p:extLst>
      <p:ext uri="{BB962C8B-B14F-4D97-AF65-F5344CB8AC3E}">
        <p14:creationId xmlns:p14="http://schemas.microsoft.com/office/powerpoint/2010/main" val="1540975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53859-6462-7E6A-00E7-0DF0E3A4556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783DEE-281C-CC1B-E4AE-A5C21B0A6C4C}"/>
              </a:ext>
            </a:extLst>
          </p:cNvPr>
          <p:cNvSpPr>
            <a:spLocks noGrp="1"/>
          </p:cNvSpPr>
          <p:nvPr>
            <p:ph type="title"/>
          </p:nvPr>
        </p:nvSpPr>
        <p:spPr/>
        <p:txBody>
          <a:bodyPr/>
          <a:lstStyle/>
          <a:p>
            <a:r>
              <a:rPr lang="fr-CA" sz="4000" dirty="0"/>
              <a:t>Placements avec contrôle</a:t>
            </a:r>
            <a:endParaRPr lang="fr-FR" dirty="0"/>
          </a:p>
        </p:txBody>
      </p:sp>
      <p:sp>
        <p:nvSpPr>
          <p:cNvPr id="3" name="Espace réservé du contenu 2">
            <a:extLst>
              <a:ext uri="{FF2B5EF4-FFF2-40B4-BE49-F238E27FC236}">
                <a16:creationId xmlns:a16="http://schemas.microsoft.com/office/drawing/2014/main" id="{B8296C20-65CE-3C04-EC63-045BD9EFF40C}"/>
              </a:ext>
            </a:extLst>
          </p:cNvPr>
          <p:cNvSpPr>
            <a:spLocks noGrp="1"/>
          </p:cNvSpPr>
          <p:nvPr>
            <p:ph idx="1"/>
          </p:nvPr>
        </p:nvSpPr>
        <p:spPr>
          <a:xfrm>
            <a:off x="838200" y="1520328"/>
            <a:ext cx="10515600" cy="5122843"/>
          </a:xfrm>
        </p:spPr>
        <p:txBody>
          <a:bodyPr>
            <a:normAutofit/>
          </a:bodyPr>
          <a:lstStyle/>
          <a:p>
            <a:pPr marL="0" indent="0">
              <a:buNone/>
            </a:pPr>
            <a:r>
              <a:rPr lang="fr-CA" dirty="0"/>
              <a:t>Contextes :</a:t>
            </a:r>
          </a:p>
          <a:p>
            <a:pPr marL="820738" lvl="2" indent="-363538"/>
            <a:r>
              <a:rPr lang="fr-CA" sz="2400" dirty="0"/>
              <a:t>Société mère détient 100 % des actions avec droits de vote ou présence d’une part des actionnaires sans contrôle (PASC)</a:t>
            </a:r>
          </a:p>
          <a:p>
            <a:pPr marL="363538" lvl="1" indent="-363538"/>
            <a:endParaRPr lang="fr-CA" sz="2800" dirty="0"/>
          </a:p>
          <a:p>
            <a:pPr marL="363538" lvl="1" indent="-363538"/>
            <a:r>
              <a:rPr lang="fr-CA" sz="2800" dirty="0"/>
              <a:t>Date de regroupement / EF consolidés par la suite</a:t>
            </a:r>
          </a:p>
          <a:p>
            <a:pPr marL="820738" lvl="2" indent="-363538"/>
            <a:r>
              <a:rPr lang="fr-CA" sz="2400" dirty="0"/>
              <a:t>Vous indique la norme à utiliser</a:t>
            </a:r>
          </a:p>
          <a:p>
            <a:pPr marL="1277938" lvl="3" indent="-363538"/>
            <a:r>
              <a:rPr lang="fr-CA" sz="2000" dirty="0"/>
              <a:t>Les normes portant sur le « regroupement » : IFRS 3 / 1582 et 1591</a:t>
            </a:r>
          </a:p>
          <a:p>
            <a:pPr marL="1277938" lvl="3" indent="-363538"/>
            <a:r>
              <a:rPr lang="fr-CA" sz="2000" dirty="0"/>
              <a:t>Les normes portant sur la consolidation : IFRS 10 / 1601 et 1602</a:t>
            </a:r>
          </a:p>
        </p:txBody>
      </p:sp>
      <p:sp>
        <p:nvSpPr>
          <p:cNvPr id="4" name="Espace réservé du pied de page 3">
            <a:extLst>
              <a:ext uri="{FF2B5EF4-FFF2-40B4-BE49-F238E27FC236}">
                <a16:creationId xmlns:a16="http://schemas.microsoft.com/office/drawing/2014/main" id="{C5B55170-0FCA-4CD7-E5A1-8C47A7984CE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0F5F0D3-C134-474F-BDB0-0A6061B5722C}"/>
              </a:ext>
            </a:extLst>
          </p:cNvPr>
          <p:cNvSpPr>
            <a:spLocks noGrp="1"/>
          </p:cNvSpPr>
          <p:nvPr>
            <p:ph type="sldNum" sz="quarter" idx="12"/>
          </p:nvPr>
        </p:nvSpPr>
        <p:spPr/>
        <p:txBody>
          <a:bodyPr/>
          <a:lstStyle/>
          <a:p>
            <a:fld id="{BA55C67B-76F5-4A5A-9DE0-EA5E28301294}" type="slidenum">
              <a:rPr lang="fr-FR" smtClean="0"/>
              <a:t>5</a:t>
            </a:fld>
            <a:endParaRPr lang="fr-FR"/>
          </a:p>
        </p:txBody>
      </p:sp>
    </p:spTree>
    <p:extLst>
      <p:ext uri="{BB962C8B-B14F-4D97-AF65-F5344CB8AC3E}">
        <p14:creationId xmlns:p14="http://schemas.microsoft.com/office/powerpoint/2010/main" val="915025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D5C1-DEC9-C165-9119-79CAAE1A912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2D1D4F-6974-30C8-F84B-BDEA521B2D42}"/>
              </a:ext>
            </a:extLst>
          </p:cNvPr>
          <p:cNvSpPr>
            <a:spLocks noGrp="1"/>
          </p:cNvSpPr>
          <p:nvPr>
            <p:ph type="title"/>
          </p:nvPr>
        </p:nvSpPr>
        <p:spPr/>
        <p:txBody>
          <a:bodyPr>
            <a:normAutofit/>
          </a:bodyPr>
          <a:lstStyle/>
          <a:p>
            <a:r>
              <a:rPr lang="fr-CA" sz="4000" dirty="0"/>
              <a:t>Si enjeu est à la date de regroupement</a:t>
            </a:r>
            <a:endParaRPr lang="fr-FR" sz="4000" dirty="0"/>
          </a:p>
        </p:txBody>
      </p:sp>
      <p:sp>
        <p:nvSpPr>
          <p:cNvPr id="3" name="Espace réservé du contenu 2">
            <a:extLst>
              <a:ext uri="{FF2B5EF4-FFF2-40B4-BE49-F238E27FC236}">
                <a16:creationId xmlns:a16="http://schemas.microsoft.com/office/drawing/2014/main" id="{E3797ADB-CB0E-1EC3-DC51-75DDAC85AAD4}"/>
              </a:ext>
            </a:extLst>
          </p:cNvPr>
          <p:cNvSpPr>
            <a:spLocks noGrp="1"/>
          </p:cNvSpPr>
          <p:nvPr>
            <p:ph idx="1"/>
          </p:nvPr>
        </p:nvSpPr>
        <p:spPr>
          <a:xfrm>
            <a:off x="838200" y="1520328"/>
            <a:ext cx="10515600" cy="5122843"/>
          </a:xfrm>
        </p:spPr>
        <p:txBody>
          <a:bodyPr>
            <a:normAutofit/>
          </a:bodyPr>
          <a:lstStyle/>
          <a:p>
            <a:pPr marL="0" lvl="1" indent="0">
              <a:buNone/>
            </a:pPr>
            <a:r>
              <a:rPr lang="fr-CA" dirty="0"/>
              <a:t>Approche cas – étapes :</a:t>
            </a:r>
          </a:p>
          <a:p>
            <a:pPr marL="0" lvl="1" indent="0">
              <a:buNone/>
            </a:pPr>
            <a:endParaRPr lang="fr-CA" dirty="0"/>
          </a:p>
          <a:p>
            <a:pPr marL="342900" lvl="1" indent="-342900"/>
            <a:r>
              <a:rPr lang="fr-CA" dirty="0"/>
              <a:t>Identification de l’acquéreur</a:t>
            </a:r>
          </a:p>
          <a:p>
            <a:pPr marL="1277938" lvl="3" indent="-363538"/>
            <a:r>
              <a:rPr lang="fr-CA" sz="2000" dirty="0"/>
              <a:t>Prise de contrôle inversée</a:t>
            </a:r>
          </a:p>
          <a:p>
            <a:pPr marL="1277938" lvl="3" indent="-363538"/>
            <a:endParaRPr lang="fr-CA" dirty="0"/>
          </a:p>
          <a:p>
            <a:pPr marL="342900" lvl="1" indent="-342900"/>
            <a:r>
              <a:rPr lang="fr-CA" dirty="0"/>
              <a:t>Date d’acquisition</a:t>
            </a:r>
          </a:p>
          <a:p>
            <a:pPr marL="1277938" lvl="3" indent="-363538"/>
            <a:r>
              <a:rPr lang="fr-CA" sz="2000" dirty="0"/>
              <a:t>Prise effective du contrôle (et non nécessairement date légale)</a:t>
            </a:r>
          </a:p>
          <a:p>
            <a:pPr marL="1277938" lvl="3" indent="-363538"/>
            <a:endParaRPr lang="fr-CA" dirty="0"/>
          </a:p>
          <a:p>
            <a:pPr marL="342900" lvl="1" indent="-342900"/>
            <a:r>
              <a:rPr lang="fr-CA" dirty="0"/>
              <a:t>Calcul du goodwill/écart d’acquisition</a:t>
            </a:r>
          </a:p>
          <a:p>
            <a:pPr marL="1277938" lvl="3" indent="-363538"/>
            <a:r>
              <a:rPr lang="fr-CA" sz="2000" dirty="0"/>
              <a:t>Actif </a:t>
            </a:r>
          </a:p>
          <a:p>
            <a:pPr marL="1277938" lvl="3" indent="-363538"/>
            <a:r>
              <a:rPr lang="fr-CA" sz="2000" dirty="0"/>
              <a:t>Si goodwill « négatif » : gain aux résultats nets</a:t>
            </a:r>
          </a:p>
          <a:p>
            <a:pPr marL="1277938" lvl="3" indent="-363538"/>
            <a:endParaRPr lang="fr-CA" dirty="0"/>
          </a:p>
          <a:p>
            <a:pPr marL="342900" lvl="1" indent="-342900"/>
            <a:r>
              <a:rPr lang="fr-CA" dirty="0"/>
              <a:t>Impact EF</a:t>
            </a:r>
          </a:p>
          <a:p>
            <a:pPr marL="1277938" lvl="3" indent="-363538"/>
            <a:r>
              <a:rPr lang="fr-CA" sz="2000" dirty="0"/>
              <a:t>On pourrait vous demander de préparer les EF consolidés à la date de prise de contrôle</a:t>
            </a:r>
          </a:p>
        </p:txBody>
      </p:sp>
      <p:sp>
        <p:nvSpPr>
          <p:cNvPr id="4" name="Espace réservé du pied de page 3">
            <a:extLst>
              <a:ext uri="{FF2B5EF4-FFF2-40B4-BE49-F238E27FC236}">
                <a16:creationId xmlns:a16="http://schemas.microsoft.com/office/drawing/2014/main" id="{F6495441-5BC2-9A42-4C04-4B181D861BF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D393FF0-6A58-802E-DC52-260D67B69535}"/>
              </a:ext>
            </a:extLst>
          </p:cNvPr>
          <p:cNvSpPr>
            <a:spLocks noGrp="1"/>
          </p:cNvSpPr>
          <p:nvPr>
            <p:ph type="sldNum" sz="quarter" idx="12"/>
          </p:nvPr>
        </p:nvSpPr>
        <p:spPr/>
        <p:txBody>
          <a:bodyPr/>
          <a:lstStyle/>
          <a:p>
            <a:fld id="{BA55C67B-76F5-4A5A-9DE0-EA5E28301294}" type="slidenum">
              <a:rPr lang="fr-FR" smtClean="0"/>
              <a:t>6</a:t>
            </a:fld>
            <a:endParaRPr lang="fr-FR"/>
          </a:p>
        </p:txBody>
      </p:sp>
    </p:spTree>
    <p:extLst>
      <p:ext uri="{BB962C8B-B14F-4D97-AF65-F5344CB8AC3E}">
        <p14:creationId xmlns:p14="http://schemas.microsoft.com/office/powerpoint/2010/main" val="663599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4CFB9-D7FF-4A9F-9B92-A790AB75F60E}"/>
              </a:ext>
            </a:extLst>
          </p:cNvPr>
          <p:cNvSpPr>
            <a:spLocks noGrp="1"/>
          </p:cNvSpPr>
          <p:nvPr>
            <p:ph type="title"/>
          </p:nvPr>
        </p:nvSpPr>
        <p:spPr>
          <a:xfrm>
            <a:off x="838200" y="365125"/>
            <a:ext cx="10515600" cy="815605"/>
          </a:xfrm>
        </p:spPr>
        <p:txBody>
          <a:bodyPr/>
          <a:lstStyle/>
          <a:p>
            <a:pPr marL="0" lvl="3" indent="0">
              <a:buNone/>
            </a:pPr>
            <a:r>
              <a:rPr lang="fr-CA" sz="4000" dirty="0"/>
              <a:t>Calcul du goodwill (écart d’acquisition)</a:t>
            </a:r>
          </a:p>
        </p:txBody>
      </p:sp>
      <p:sp>
        <p:nvSpPr>
          <p:cNvPr id="3" name="Espace réservé du contenu 2">
            <a:extLst>
              <a:ext uri="{FF2B5EF4-FFF2-40B4-BE49-F238E27FC236}">
                <a16:creationId xmlns:a16="http://schemas.microsoft.com/office/drawing/2014/main" id="{0892E791-9F8C-4838-B5DA-9FF456096B73}"/>
              </a:ext>
            </a:extLst>
          </p:cNvPr>
          <p:cNvSpPr>
            <a:spLocks noGrp="1"/>
          </p:cNvSpPr>
          <p:nvPr>
            <p:ph idx="1"/>
          </p:nvPr>
        </p:nvSpPr>
        <p:spPr>
          <a:xfrm>
            <a:off x="838200" y="1384918"/>
            <a:ext cx="10515600" cy="5258254"/>
          </a:xfrm>
        </p:spPr>
        <p:txBody>
          <a:bodyPr>
            <a:normAutofit fontScale="85000" lnSpcReduction="20000"/>
          </a:bodyPr>
          <a:lstStyle/>
          <a:p>
            <a:pPr marL="0" lvl="3" indent="0">
              <a:buNone/>
            </a:pPr>
            <a:r>
              <a:rPr lang="fr-CA" sz="2400" dirty="0"/>
              <a:t>JV de la contrepartie versée   </a:t>
            </a:r>
          </a:p>
          <a:p>
            <a:pPr marL="800100" lvl="4" indent="-342900"/>
            <a:r>
              <a:rPr lang="fr-CA" sz="2200" dirty="0"/>
              <a:t>Pour l’acquisition </a:t>
            </a:r>
            <a:r>
              <a:rPr lang="fr-CA" sz="2200" i="1" dirty="0"/>
              <a:t>(et non à titre de rémunération subséquente)</a:t>
            </a:r>
          </a:p>
          <a:p>
            <a:pPr marL="800100" lvl="4" indent="-342900"/>
            <a:r>
              <a:rPr lang="fr-CA" sz="2200" dirty="0"/>
              <a:t>Pourrait inclure une </a:t>
            </a:r>
            <a:r>
              <a:rPr lang="fr-CA" sz="2200" dirty="0">
                <a:highlight>
                  <a:srgbClr val="FFFF00"/>
                </a:highlight>
              </a:rPr>
              <a:t>contrepartie éventuelle / conditionnelle  </a:t>
            </a:r>
            <a:r>
              <a:rPr lang="fr-CA" sz="2200" dirty="0"/>
              <a:t>(le crédit est habituellement au passif – paiement $), à la juste valeur</a:t>
            </a:r>
          </a:p>
          <a:p>
            <a:pPr marL="1257300" lvl="5" indent="-342900"/>
            <a:r>
              <a:rPr lang="fr-CA" sz="2000" dirty="0">
                <a:highlight>
                  <a:srgbClr val="FFFF00"/>
                </a:highlight>
              </a:rPr>
              <a:t>Déterminer si </a:t>
            </a:r>
            <a:r>
              <a:rPr lang="fr-CA" sz="2000" dirty="0"/>
              <a:t>: </a:t>
            </a:r>
          </a:p>
          <a:p>
            <a:pPr marL="1714500" lvl="6" indent="-342900"/>
            <a:r>
              <a:rPr lang="fr-CA" sz="2000" dirty="0"/>
              <a:t>Liée au prix payé : inclure dans calcul goodwill / écart d’acquisition  </a:t>
            </a:r>
          </a:p>
          <a:p>
            <a:pPr marL="1714500" lvl="6" indent="-342900"/>
            <a:r>
              <a:rPr lang="fr-CA" sz="2000" dirty="0"/>
              <a:t>Liée à la valeur de la contrepartie versée (</a:t>
            </a:r>
            <a:r>
              <a:rPr lang="fr-CA" sz="2000" dirty="0">
                <a:highlight>
                  <a:srgbClr val="FFFF00"/>
                </a:highlight>
              </a:rPr>
              <a:t>actions ordinaires</a:t>
            </a:r>
            <a:r>
              <a:rPr lang="fr-CA" sz="2000" dirty="0"/>
              <a:t>) : sans impact sur calcul goodwill / écart d’acquisition – ajustement de la valeur des actions préalablement émises</a:t>
            </a:r>
            <a:endParaRPr lang="fr-CA" sz="2000" i="1" dirty="0"/>
          </a:p>
          <a:p>
            <a:pPr marL="0" lvl="1" indent="0">
              <a:buNone/>
            </a:pPr>
            <a:r>
              <a:rPr lang="fr-CA" dirty="0">
                <a:highlight>
                  <a:srgbClr val="FFFF00"/>
                </a:highlight>
              </a:rPr>
              <a:t>MS</a:t>
            </a:r>
            <a:r>
              <a:rPr lang="fr-CA" dirty="0"/>
              <a:t> : valeur comptable de l’avoir ordinaire</a:t>
            </a:r>
          </a:p>
          <a:p>
            <a:pPr marL="0" lvl="1" indent="0">
              <a:buNone/>
            </a:pPr>
            <a:r>
              <a:rPr lang="fr-CA" dirty="0">
                <a:highlight>
                  <a:srgbClr val="FFFF00"/>
                </a:highlight>
              </a:rPr>
              <a:t>= Écart première conso</a:t>
            </a:r>
          </a:p>
          <a:p>
            <a:pPr marL="0" lvl="1" indent="0">
              <a:buNone/>
            </a:pPr>
            <a:r>
              <a:rPr lang="fr-CA" dirty="0"/>
              <a:t>Ajustements  JV - VC des éléments bilan de la société acquise</a:t>
            </a:r>
          </a:p>
          <a:p>
            <a:pPr marL="800100" lvl="2" indent="-342900"/>
            <a:r>
              <a:rPr lang="fr-CA" sz="2200" dirty="0"/>
              <a:t>JV des actifs / passifs inscrits et non inscrits</a:t>
            </a:r>
          </a:p>
          <a:p>
            <a:pPr marL="1257300" lvl="3" indent="-342900"/>
            <a:r>
              <a:rPr lang="fr-CA" sz="2000" dirty="0"/>
              <a:t>préséance IFRS 3   (par exemple bail favorable, passif éventuel)</a:t>
            </a:r>
          </a:p>
          <a:p>
            <a:pPr marL="1257300" lvl="3" indent="-342900"/>
            <a:r>
              <a:rPr lang="fr-CA" sz="2000" dirty="0"/>
              <a:t>JV : voir si nécessite de référer à IFRS 13 (uniquement si plus d’une valeur) / quelques éléments particuliers (par exemple passifs éventuels)</a:t>
            </a:r>
          </a:p>
          <a:p>
            <a:pPr marL="1257300" lvl="3" indent="-342900"/>
            <a:r>
              <a:rPr lang="fr-CA" sz="2000" dirty="0"/>
              <a:t>Pour présentation distincte du goodwill / écart d’acquisition, doit respecter les autres normes (enjeu pour actif incorporel si effectivement peut présenter distinctement – exemple valeur des frais de recherche non)</a:t>
            </a:r>
          </a:p>
          <a:p>
            <a:pPr marL="0" lvl="3" indent="0">
              <a:buNone/>
            </a:pPr>
            <a:r>
              <a:rPr lang="fr-CA" sz="2200" dirty="0"/>
              <a:t>= </a:t>
            </a:r>
            <a:r>
              <a:rPr lang="fr-CA" sz="2500" dirty="0">
                <a:highlight>
                  <a:srgbClr val="FFFF00"/>
                </a:highlight>
              </a:rPr>
              <a:t>Goodwill</a:t>
            </a:r>
            <a:r>
              <a:rPr lang="fr-CA" sz="2500" dirty="0"/>
              <a:t>/écart d’acquisition : actif ou gain au résultat net</a:t>
            </a:r>
          </a:p>
          <a:p>
            <a:pPr marL="457200" lvl="4" indent="0">
              <a:buNone/>
            </a:pPr>
            <a:endParaRPr lang="fr-CA" sz="2000" i="1" dirty="0"/>
          </a:p>
          <a:p>
            <a:pPr marL="363538" lvl="4" indent="-363538">
              <a:buFont typeface="Wingdings" panose="05000000000000000000" pitchFamily="2" charset="2"/>
              <a:buChar char="Ø"/>
            </a:pPr>
            <a:r>
              <a:rPr lang="fr-CA" sz="2500" dirty="0"/>
              <a:t>Ajustements subséquents – 12 mois</a:t>
            </a:r>
          </a:p>
        </p:txBody>
      </p:sp>
      <p:sp>
        <p:nvSpPr>
          <p:cNvPr id="4" name="Espace réservé du pied de page 3">
            <a:extLst>
              <a:ext uri="{FF2B5EF4-FFF2-40B4-BE49-F238E27FC236}">
                <a16:creationId xmlns:a16="http://schemas.microsoft.com/office/drawing/2014/main" id="{C5FF0501-E57C-D770-DAE3-30608C13E7E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C65764F-BE33-6F90-E886-2805BFBDBBCF}"/>
              </a:ext>
            </a:extLst>
          </p:cNvPr>
          <p:cNvSpPr>
            <a:spLocks noGrp="1"/>
          </p:cNvSpPr>
          <p:nvPr>
            <p:ph type="sldNum" sz="quarter" idx="12"/>
          </p:nvPr>
        </p:nvSpPr>
        <p:spPr/>
        <p:txBody>
          <a:bodyPr/>
          <a:lstStyle/>
          <a:p>
            <a:fld id="{BA55C67B-76F5-4A5A-9DE0-EA5E28301294}" type="slidenum">
              <a:rPr lang="fr-FR" smtClean="0"/>
              <a:t>7</a:t>
            </a:fld>
            <a:endParaRPr lang="fr-FR"/>
          </a:p>
        </p:txBody>
      </p:sp>
    </p:spTree>
    <p:extLst>
      <p:ext uri="{BB962C8B-B14F-4D97-AF65-F5344CB8AC3E}">
        <p14:creationId xmlns:p14="http://schemas.microsoft.com/office/powerpoint/2010/main" val="1842229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4CFB9-D7FF-4A9F-9B92-A790AB75F60E}"/>
              </a:ext>
            </a:extLst>
          </p:cNvPr>
          <p:cNvSpPr>
            <a:spLocks noGrp="1"/>
          </p:cNvSpPr>
          <p:nvPr>
            <p:ph type="title"/>
          </p:nvPr>
        </p:nvSpPr>
        <p:spPr/>
        <p:txBody>
          <a:bodyPr/>
          <a:lstStyle/>
          <a:p>
            <a:r>
              <a:rPr lang="fr-CA" sz="4000" dirty="0"/>
              <a:t>Placements avec contrôle</a:t>
            </a:r>
            <a:endParaRPr lang="fr-FR" dirty="0"/>
          </a:p>
        </p:txBody>
      </p:sp>
      <p:sp>
        <p:nvSpPr>
          <p:cNvPr id="3" name="Espace réservé du contenu 2">
            <a:extLst>
              <a:ext uri="{FF2B5EF4-FFF2-40B4-BE49-F238E27FC236}">
                <a16:creationId xmlns:a16="http://schemas.microsoft.com/office/drawing/2014/main" id="{0892E791-9F8C-4838-B5DA-9FF456096B73}"/>
              </a:ext>
            </a:extLst>
          </p:cNvPr>
          <p:cNvSpPr>
            <a:spLocks noGrp="1"/>
          </p:cNvSpPr>
          <p:nvPr>
            <p:ph idx="1"/>
          </p:nvPr>
        </p:nvSpPr>
        <p:spPr>
          <a:xfrm>
            <a:off x="838200" y="1690688"/>
            <a:ext cx="10515600" cy="4802187"/>
          </a:xfrm>
        </p:spPr>
        <p:txBody>
          <a:bodyPr>
            <a:normAutofit/>
          </a:bodyPr>
          <a:lstStyle/>
          <a:p>
            <a:pPr marL="363538" lvl="1" indent="-363538"/>
            <a:r>
              <a:rPr lang="fr-CA" dirty="0"/>
              <a:t>Impôts différés dans le calcul du goodwill</a:t>
            </a:r>
          </a:p>
          <a:p>
            <a:pPr marL="820738" lvl="2" indent="-363538"/>
            <a:r>
              <a:rPr lang="fr-CA" dirty="0"/>
              <a:t>NCECF : impôts futurs </a:t>
            </a:r>
            <a:r>
              <a:rPr lang="fr-CA" u="sng" dirty="0"/>
              <a:t>si</a:t>
            </a:r>
            <a:r>
              <a:rPr lang="fr-CA" dirty="0"/>
              <a:t> c’est le choix de méthode comptable</a:t>
            </a:r>
          </a:p>
          <a:p>
            <a:pPr marL="820738" lvl="3" indent="-363538"/>
            <a:r>
              <a:rPr lang="fr-CA" sz="2200" dirty="0"/>
              <a:t>Approche simplifiée dans le cadre d’un cas EFC</a:t>
            </a:r>
          </a:p>
          <a:p>
            <a:pPr marL="1277938" lvl="4" indent="-363538"/>
            <a:r>
              <a:rPr lang="fr-CA" sz="2200" dirty="0"/>
              <a:t>Somme nette des écarts </a:t>
            </a:r>
            <a:r>
              <a:rPr lang="fr-CA" sz="2200" dirty="0">
                <a:highlight>
                  <a:srgbClr val="FFFF00"/>
                </a:highlight>
              </a:rPr>
              <a:t>JV – VC</a:t>
            </a:r>
            <a:r>
              <a:rPr lang="fr-CA" sz="2200" dirty="0"/>
              <a:t>, puis multiplier par taux d’impôts</a:t>
            </a:r>
          </a:p>
          <a:p>
            <a:pPr marL="1735138" lvl="5" indent="-363538"/>
            <a:r>
              <a:rPr lang="fr-CA" sz="2200" dirty="0"/>
              <a:t>Et insérer dans le calcul du goodwill</a:t>
            </a:r>
          </a:p>
          <a:p>
            <a:pPr marL="1735138" lvl="5" indent="-363538"/>
            <a:endParaRPr lang="fr-CA" sz="2200" dirty="0"/>
          </a:p>
          <a:p>
            <a:pPr marL="1735138" lvl="5" indent="-363538"/>
            <a:endParaRPr lang="fr-CA" sz="2200" dirty="0"/>
          </a:p>
          <a:p>
            <a:pPr marL="355600" lvl="5" indent="-355600"/>
            <a:r>
              <a:rPr lang="fr-CA" sz="2400" dirty="0"/>
              <a:t>Frais liés à la transaction : </a:t>
            </a:r>
            <a:r>
              <a:rPr lang="fr-CA" sz="2400" dirty="0">
                <a:highlight>
                  <a:srgbClr val="FFFF00"/>
                </a:highlight>
              </a:rPr>
              <a:t>en charge </a:t>
            </a:r>
          </a:p>
          <a:p>
            <a:pPr marL="812800" lvl="6" indent="-355600"/>
            <a:r>
              <a:rPr lang="fr-CA" sz="2000" dirty="0"/>
              <a:t>par exemple : frais audit diligent</a:t>
            </a:r>
          </a:p>
          <a:p>
            <a:pPr marL="355600" lvl="5" indent="-355600"/>
            <a:r>
              <a:rPr lang="fr-CA" sz="2400" dirty="0"/>
              <a:t>Frais de restructuration – post-regroupement</a:t>
            </a:r>
          </a:p>
          <a:p>
            <a:pPr marL="812800" lvl="6" indent="-355600"/>
            <a:r>
              <a:rPr lang="fr-CA" sz="2000" dirty="0"/>
              <a:t>donc ne pas intégrer à la date de regroupement</a:t>
            </a:r>
          </a:p>
        </p:txBody>
      </p:sp>
      <p:sp>
        <p:nvSpPr>
          <p:cNvPr id="4" name="Espace réservé du pied de page 3">
            <a:extLst>
              <a:ext uri="{FF2B5EF4-FFF2-40B4-BE49-F238E27FC236}">
                <a16:creationId xmlns:a16="http://schemas.microsoft.com/office/drawing/2014/main" id="{69875051-7D6B-31E8-1ABC-F6BF2BD5775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3BCEF59-576A-F5A6-C939-4305463D1F94}"/>
              </a:ext>
            </a:extLst>
          </p:cNvPr>
          <p:cNvSpPr>
            <a:spLocks noGrp="1"/>
          </p:cNvSpPr>
          <p:nvPr>
            <p:ph type="sldNum" sz="quarter" idx="12"/>
          </p:nvPr>
        </p:nvSpPr>
        <p:spPr/>
        <p:txBody>
          <a:bodyPr/>
          <a:lstStyle/>
          <a:p>
            <a:fld id="{BA55C67B-76F5-4A5A-9DE0-EA5E28301294}" type="slidenum">
              <a:rPr lang="fr-FR" smtClean="0"/>
              <a:t>8</a:t>
            </a:fld>
            <a:endParaRPr lang="fr-FR"/>
          </a:p>
        </p:txBody>
      </p:sp>
    </p:spTree>
    <p:extLst>
      <p:ext uri="{BB962C8B-B14F-4D97-AF65-F5344CB8AC3E}">
        <p14:creationId xmlns:p14="http://schemas.microsoft.com/office/powerpoint/2010/main" val="652716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ABD55-8C5B-4DCE-A33D-46DA67F68130}"/>
              </a:ext>
            </a:extLst>
          </p:cNvPr>
          <p:cNvSpPr>
            <a:spLocks noGrp="1"/>
          </p:cNvSpPr>
          <p:nvPr>
            <p:ph type="title"/>
          </p:nvPr>
        </p:nvSpPr>
        <p:spPr>
          <a:xfrm>
            <a:off x="838200" y="365125"/>
            <a:ext cx="10515600" cy="1022241"/>
          </a:xfrm>
        </p:spPr>
        <p:txBody>
          <a:bodyPr>
            <a:normAutofit/>
          </a:bodyPr>
          <a:lstStyle/>
          <a:p>
            <a:r>
              <a:rPr lang="fr-CA" sz="4400" dirty="0"/>
              <a:t>IFRS 10 </a:t>
            </a:r>
            <a:r>
              <a:rPr lang="fr-CA" dirty="0"/>
              <a:t>– exception à la consolidation</a:t>
            </a:r>
            <a:endParaRPr lang="fr-FR" dirty="0"/>
          </a:p>
        </p:txBody>
      </p:sp>
      <p:sp>
        <p:nvSpPr>
          <p:cNvPr id="3" name="Espace réservé du contenu 2">
            <a:extLst>
              <a:ext uri="{FF2B5EF4-FFF2-40B4-BE49-F238E27FC236}">
                <a16:creationId xmlns:a16="http://schemas.microsoft.com/office/drawing/2014/main" id="{7F41E482-0052-4517-9F81-C027AC2D6949}"/>
              </a:ext>
            </a:extLst>
          </p:cNvPr>
          <p:cNvSpPr>
            <a:spLocks noGrp="1"/>
          </p:cNvSpPr>
          <p:nvPr>
            <p:ph idx="1"/>
          </p:nvPr>
        </p:nvSpPr>
        <p:spPr>
          <a:xfrm>
            <a:off x="838200" y="1387366"/>
            <a:ext cx="10515600" cy="5031189"/>
          </a:xfrm>
        </p:spPr>
        <p:txBody>
          <a:bodyPr>
            <a:normAutofit fontScale="47500" lnSpcReduction="20000"/>
          </a:bodyPr>
          <a:lstStyle/>
          <a:p>
            <a:pPr marL="0" indent="0">
              <a:buNone/>
            </a:pPr>
            <a:r>
              <a:rPr lang="fr-CA" sz="3300" b="1" dirty="0"/>
              <a:t>Champ d'application</a:t>
            </a:r>
          </a:p>
          <a:p>
            <a:pPr marL="0" indent="0">
              <a:buNone/>
            </a:pPr>
            <a:r>
              <a:rPr lang="fr-CA" sz="3300" dirty="0"/>
              <a:t>4       L'entité qui est une société mère doit présenter des états financiers consolidés. La présente norme s'applique à toute entité, sous réserve de ce qui suit :</a:t>
            </a:r>
          </a:p>
          <a:p>
            <a:pPr marL="0" indent="0">
              <a:buNone/>
            </a:pPr>
            <a:r>
              <a:rPr lang="fr-CA" sz="3300" dirty="0"/>
              <a:t>(a)     une société mère n'est pas tenue de présenter d'états financiers consolidés si toutes les conditions suivantes sont remplies :</a:t>
            </a:r>
          </a:p>
          <a:p>
            <a:pPr marL="714375" indent="-357188">
              <a:buNone/>
            </a:pPr>
            <a:r>
              <a:rPr lang="fr-CA" sz="3300" dirty="0"/>
              <a:t>(i)     il s'agit d'une filiale entièrement détenue, ou encore d'une filiale partiellement détenue par une autre entité et tous ses autres propriétaires, y compris ceux qui ne sont généralement pas habilités à voter, ont été informés que la société mère ne présente pas d'états financiers consolidés et ne s'y opposent pas,</a:t>
            </a:r>
          </a:p>
          <a:p>
            <a:pPr marL="714375" indent="-357188">
              <a:buNone/>
            </a:pPr>
            <a:r>
              <a:rPr lang="fr-CA" sz="3300" dirty="0"/>
              <a:t>(ii)    ses instruments de dette ou de capitaux propres ne sont pas négociés sur un marché organisé (une bourse des valeurs nationale ou étrangère ou un marché de gré à gré, y compris un marché local ou régional),</a:t>
            </a:r>
          </a:p>
          <a:p>
            <a:pPr marL="714375" indent="-357188">
              <a:buNone/>
            </a:pPr>
            <a:r>
              <a:rPr lang="fr-CA" sz="3300" dirty="0"/>
              <a:t>(iii)   elle n'a pas déposé, et n'est pas en voie de déposer, ses états financiers auprès d'une autorité de réglementation des valeurs mobilières ou d'une autre autorité de réglementation, aux fins d'émettre des instruments d'une catégorie quelconque sur un marché organisé,</a:t>
            </a:r>
          </a:p>
          <a:p>
            <a:pPr marL="714375" indent="-357188">
              <a:buNone/>
            </a:pPr>
            <a:r>
              <a:rPr lang="fr-CA" sz="3300" dirty="0"/>
              <a:t>(iv)    la société mère ultime ou une société mère intermédiaire de la société mère produit des états financiers mis à la disposition du public qui sont conformes aux IFRS, dans lesquels les filiales sont consolidées ou sont évaluées à la juste valeur par le biais du résultat net selon la présente norme.</a:t>
            </a:r>
          </a:p>
          <a:p>
            <a:pPr marL="0" indent="0">
              <a:buNone/>
            </a:pPr>
            <a:endParaRPr lang="fr-CA" sz="3300" dirty="0"/>
          </a:p>
          <a:p>
            <a:pPr marL="0" indent="0">
              <a:buNone/>
            </a:pPr>
            <a:r>
              <a:rPr lang="fr-CA" sz="3300" dirty="0"/>
              <a:t>4B     Une société mère qui est une société d'investissement ne doit pas présenter d'états financiers consolidés si elle a l'obligation, selon le paragraphe </a:t>
            </a:r>
            <a:r>
              <a:rPr lang="fr-CA" sz="3300" dirty="0">
                <a:hlinkClick r:id="rId2"/>
              </a:rPr>
              <a:t>31</a:t>
            </a:r>
            <a:r>
              <a:rPr lang="fr-CA" sz="3300" dirty="0"/>
              <a:t> de la présente norme, d'évaluer toutes ses filiales à la juste valeur par le biais du résultat net.</a:t>
            </a:r>
          </a:p>
          <a:p>
            <a:endParaRPr lang="fr-FR" dirty="0"/>
          </a:p>
        </p:txBody>
      </p:sp>
      <p:sp>
        <p:nvSpPr>
          <p:cNvPr id="4" name="Espace réservé du pied de page 3">
            <a:extLst>
              <a:ext uri="{FF2B5EF4-FFF2-40B4-BE49-F238E27FC236}">
                <a16:creationId xmlns:a16="http://schemas.microsoft.com/office/drawing/2014/main" id="{B2206C8D-7616-4669-9FCD-D5F69B49B71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C26606E-F0D7-486F-A325-F8C27458C710}"/>
              </a:ext>
            </a:extLst>
          </p:cNvPr>
          <p:cNvSpPr>
            <a:spLocks noGrp="1"/>
          </p:cNvSpPr>
          <p:nvPr>
            <p:ph type="sldNum" sz="quarter" idx="12"/>
          </p:nvPr>
        </p:nvSpPr>
        <p:spPr/>
        <p:txBody>
          <a:bodyPr/>
          <a:lstStyle/>
          <a:p>
            <a:fld id="{6742B2D9-3BE5-4388-BF10-DC81BED15C57}" type="slidenum">
              <a:rPr lang="fr-FR" smtClean="0"/>
              <a:t>9</a:t>
            </a:fld>
            <a:endParaRPr lang="fr-FR"/>
          </a:p>
        </p:txBody>
      </p:sp>
    </p:spTree>
    <p:extLst>
      <p:ext uri="{BB962C8B-B14F-4D97-AF65-F5344CB8AC3E}">
        <p14:creationId xmlns:p14="http://schemas.microsoft.com/office/powerpoint/2010/main" val="1256146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000" dirty="0"/>
              <a:t>Participations ne donnant pas le contrôle (PASC)</a:t>
            </a:r>
          </a:p>
        </p:txBody>
      </p:sp>
      <p:sp>
        <p:nvSpPr>
          <p:cNvPr id="3" name="Espace réservé du contenu 2"/>
          <p:cNvSpPr>
            <a:spLocks noGrp="1"/>
          </p:cNvSpPr>
          <p:nvPr>
            <p:ph idx="1"/>
          </p:nvPr>
        </p:nvSpPr>
        <p:spPr/>
        <p:txBody>
          <a:bodyPr>
            <a:normAutofit fontScale="85000" lnSpcReduction="20000"/>
          </a:bodyPr>
          <a:lstStyle/>
          <a:p>
            <a:r>
              <a:rPr lang="fr-FR" dirty="0"/>
              <a:t>Participation dans une filiale qui n’est pas attribuable, directement ou indirectement, à la société mère – </a:t>
            </a:r>
            <a:r>
              <a:rPr lang="fr-FR" i="1" dirty="0"/>
              <a:t>détient moins de 100 % des actions avec droits de vote</a:t>
            </a:r>
            <a:endParaRPr lang="fr-FR" dirty="0"/>
          </a:p>
          <a:p>
            <a:pPr lvl="1"/>
            <a:r>
              <a:rPr lang="fr-FR" dirty="0">
                <a:solidFill>
                  <a:srgbClr val="FF0000"/>
                </a:solidFill>
              </a:rPr>
              <a:t>NCECF seulement : </a:t>
            </a:r>
            <a:r>
              <a:rPr lang="fr-FR" dirty="0"/>
              <a:t>Mesure (chap. 1582) : choix juste valeur ou part proportionnelle de la participation ne donnant pas le contrôle dans l’actif net identifiable de l’entreprise acquise (écart d’acquisition à juste valeur ou seulement pour part avec contrôle)</a:t>
            </a:r>
          </a:p>
          <a:p>
            <a:pPr marL="342900" lvl="1" indent="-342900"/>
            <a:endParaRPr lang="fr-CA" dirty="0"/>
          </a:p>
          <a:p>
            <a:pPr marL="342900" lvl="1" indent="-342900"/>
            <a:r>
              <a:rPr lang="fr-CA" sz="2800" dirty="0"/>
              <a:t>Doit consolider à 100 % même si ne détient pas toutes les actions, ce qui explique la création du poste </a:t>
            </a:r>
            <a:r>
              <a:rPr lang="fr-CA" sz="2800" i="1" dirty="0"/>
              <a:t>Part des actionnaires sans contrôle</a:t>
            </a:r>
            <a:endParaRPr lang="fr-FR" sz="2800" dirty="0"/>
          </a:p>
          <a:p>
            <a:pPr marL="0" indent="0">
              <a:buNone/>
            </a:pPr>
            <a:endParaRPr lang="fr-FR" sz="1800" dirty="0"/>
          </a:p>
          <a:p>
            <a:r>
              <a:rPr lang="fr-CA" sz="2800" dirty="0"/>
              <a:t>Présentation : </a:t>
            </a:r>
          </a:p>
          <a:p>
            <a:pPr lvl="1"/>
            <a:r>
              <a:rPr lang="fr-CA" dirty="0"/>
              <a:t>PASC présentée dans les capitaux propres</a:t>
            </a:r>
            <a:r>
              <a:rPr lang="fr-FR" dirty="0"/>
              <a:t>, séparément des capitaux propres attribuables aux propriétaires de la société mère	</a:t>
            </a:r>
            <a:endParaRPr lang="fr-FR" sz="1800" dirty="0"/>
          </a:p>
          <a:p>
            <a:pPr lvl="1"/>
            <a:r>
              <a:rPr lang="fr-CA" dirty="0"/>
              <a:t>Aux résultats, il faut distinguer dans le bas la part de contrôle de la part des actionnaires sans contrôle</a:t>
            </a:r>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10</a:t>
            </a:fld>
            <a:endParaRPr lang="fr-FR"/>
          </a:p>
        </p:txBody>
      </p:sp>
      <p:sp>
        <p:nvSpPr>
          <p:cNvPr id="5" name="Espace réservé du pied de page 4">
            <a:extLst>
              <a:ext uri="{FF2B5EF4-FFF2-40B4-BE49-F238E27FC236}">
                <a16:creationId xmlns:a16="http://schemas.microsoft.com/office/drawing/2014/main" id="{00EFBB49-19D4-45E7-835B-84F8ED3A95E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56156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6B6BC5-85A9-147A-63D0-CCD080D522FE}"/>
              </a:ext>
            </a:extLst>
          </p:cNvPr>
          <p:cNvSpPr>
            <a:spLocks noGrp="1"/>
          </p:cNvSpPr>
          <p:nvPr>
            <p:ph type="title"/>
          </p:nvPr>
        </p:nvSpPr>
        <p:spPr/>
        <p:txBody>
          <a:bodyPr/>
          <a:lstStyle/>
          <a:p>
            <a:r>
              <a:rPr lang="fr-CA" dirty="0"/>
              <a:t>Placements avec contrôle</a:t>
            </a:r>
            <a:endParaRPr lang="fr-FR" dirty="0"/>
          </a:p>
        </p:txBody>
      </p:sp>
      <p:sp>
        <p:nvSpPr>
          <p:cNvPr id="3" name="Espace réservé du contenu 2">
            <a:extLst>
              <a:ext uri="{FF2B5EF4-FFF2-40B4-BE49-F238E27FC236}">
                <a16:creationId xmlns:a16="http://schemas.microsoft.com/office/drawing/2014/main" id="{7EED386B-4BCB-C798-B324-9C909530F50D}"/>
              </a:ext>
            </a:extLst>
          </p:cNvPr>
          <p:cNvSpPr>
            <a:spLocks noGrp="1"/>
          </p:cNvSpPr>
          <p:nvPr>
            <p:ph idx="1"/>
          </p:nvPr>
        </p:nvSpPr>
        <p:spPr/>
        <p:txBody>
          <a:bodyPr/>
          <a:lstStyle/>
          <a:p>
            <a:r>
              <a:rPr lang="fr-FR" dirty="0"/>
              <a:t>Entreprise (actions ou actifs) : </a:t>
            </a:r>
          </a:p>
          <a:p>
            <a:pPr lvl="1"/>
            <a:r>
              <a:rPr lang="fr-FR" dirty="0"/>
              <a:t>Ensemble intégré d’activités et d’actifs, susceptible d’être exploité et géré dans le but de fournir directement aux investisseurs ou autres propriétaires, sociétaires ou participants un rendement sous forme de dividendes, de coûts inférieurs ou d’autres avantages économiques</a:t>
            </a:r>
          </a:p>
          <a:p>
            <a:pPr lvl="2"/>
            <a:r>
              <a:rPr lang="fr-FR" dirty="0"/>
              <a:t>Entrées + processus</a:t>
            </a:r>
          </a:p>
          <a:p>
            <a:pPr lvl="3"/>
            <a:r>
              <a:rPr lang="fr-FR" dirty="0"/>
              <a:t>S’il s’agit d’une acquisition d’entreprise, alors il faut comptabiliser le goodwill/écart d’acquisition</a:t>
            </a:r>
          </a:p>
          <a:p>
            <a:pPr lvl="4"/>
            <a:r>
              <a:rPr lang="fr-FR" dirty="0"/>
              <a:t>Mais les titres des EF n’auront pas le terme « consolidé » - enregistre directement les différents éléments bilan</a:t>
            </a:r>
          </a:p>
          <a:p>
            <a:pPr lvl="2"/>
            <a:endParaRPr lang="fr-FR" dirty="0"/>
          </a:p>
          <a:p>
            <a:pPr lvl="2"/>
            <a:r>
              <a:rPr lang="fr-FR" dirty="0">
                <a:solidFill>
                  <a:srgbClr val="4F81BD"/>
                </a:solidFill>
              </a:rPr>
              <a:t>C. acquisition d’un groupe d’actifs – </a:t>
            </a:r>
            <a:r>
              <a:rPr lang="fr-FR" dirty="0"/>
              <a:t>aucun goodwill si ce n’est pas une acquisition d’entreprise</a:t>
            </a:r>
          </a:p>
          <a:p>
            <a:endParaRPr lang="fr-FR" dirty="0"/>
          </a:p>
        </p:txBody>
      </p:sp>
      <p:sp>
        <p:nvSpPr>
          <p:cNvPr id="4" name="Espace réservé du pied de page 3">
            <a:extLst>
              <a:ext uri="{FF2B5EF4-FFF2-40B4-BE49-F238E27FC236}">
                <a16:creationId xmlns:a16="http://schemas.microsoft.com/office/drawing/2014/main" id="{8AD3D0CD-5718-EAF0-8516-274EFC22C06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374DC7D-52E1-AEBE-8472-B8FC3191550E}"/>
              </a:ext>
            </a:extLst>
          </p:cNvPr>
          <p:cNvSpPr>
            <a:spLocks noGrp="1"/>
          </p:cNvSpPr>
          <p:nvPr>
            <p:ph type="sldNum" sz="quarter" idx="12"/>
          </p:nvPr>
        </p:nvSpPr>
        <p:spPr/>
        <p:txBody>
          <a:bodyPr/>
          <a:lstStyle/>
          <a:p>
            <a:fld id="{BA55C67B-76F5-4A5A-9DE0-EA5E28301294}" type="slidenum">
              <a:rPr lang="fr-FR" smtClean="0"/>
              <a:t>11</a:t>
            </a:fld>
            <a:endParaRPr lang="fr-FR"/>
          </a:p>
        </p:txBody>
      </p:sp>
    </p:spTree>
    <p:extLst>
      <p:ext uri="{BB962C8B-B14F-4D97-AF65-F5344CB8AC3E}">
        <p14:creationId xmlns:p14="http://schemas.microsoft.com/office/powerpoint/2010/main" val="381341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4CFB9-D7FF-4A9F-9B92-A790AB75F60E}"/>
              </a:ext>
            </a:extLst>
          </p:cNvPr>
          <p:cNvSpPr>
            <a:spLocks noGrp="1"/>
          </p:cNvSpPr>
          <p:nvPr>
            <p:ph type="title"/>
          </p:nvPr>
        </p:nvSpPr>
        <p:spPr/>
        <p:txBody>
          <a:bodyPr/>
          <a:lstStyle/>
          <a:p>
            <a:pPr marL="447675" lvl="1" indent="-447675">
              <a:buNone/>
            </a:pPr>
            <a:r>
              <a:rPr lang="fr-CA" sz="4000" dirty="0"/>
              <a:t>Différences IFRS – NCECF </a:t>
            </a:r>
          </a:p>
        </p:txBody>
      </p:sp>
      <p:sp>
        <p:nvSpPr>
          <p:cNvPr id="3" name="Espace réservé du contenu 2">
            <a:extLst>
              <a:ext uri="{FF2B5EF4-FFF2-40B4-BE49-F238E27FC236}">
                <a16:creationId xmlns:a16="http://schemas.microsoft.com/office/drawing/2014/main" id="{0892E791-9F8C-4838-B5DA-9FF456096B73}"/>
              </a:ext>
            </a:extLst>
          </p:cNvPr>
          <p:cNvSpPr>
            <a:spLocks noGrp="1"/>
          </p:cNvSpPr>
          <p:nvPr>
            <p:ph idx="1"/>
          </p:nvPr>
        </p:nvSpPr>
        <p:spPr>
          <a:xfrm>
            <a:off x="838200" y="1690688"/>
            <a:ext cx="10515600" cy="4486275"/>
          </a:xfrm>
        </p:spPr>
        <p:txBody>
          <a:bodyPr>
            <a:normAutofit/>
          </a:bodyPr>
          <a:lstStyle/>
          <a:p>
            <a:pPr marL="447675" lvl="1" indent="-447675"/>
            <a:r>
              <a:rPr lang="fr-CA" dirty="0"/>
              <a:t>NCECF : choix de méthodes comptables</a:t>
            </a:r>
          </a:p>
          <a:p>
            <a:pPr marL="904875" lvl="2" indent="-447675"/>
            <a:r>
              <a:rPr lang="fr-CA" dirty="0"/>
              <a:t>EF consolidés</a:t>
            </a:r>
          </a:p>
          <a:p>
            <a:pPr marL="904875" lvl="2" indent="-447675"/>
            <a:r>
              <a:rPr lang="fr-CA" dirty="0"/>
              <a:t>Valeur de consolidation (identique à la méthode mise en équivalence)</a:t>
            </a:r>
          </a:p>
          <a:p>
            <a:pPr marL="904875" lvl="2" indent="-447675"/>
            <a:r>
              <a:rPr lang="fr-CA" dirty="0"/>
              <a:t>Valeur d’acquisition</a:t>
            </a:r>
          </a:p>
          <a:p>
            <a:pPr marL="1362075" lvl="3" indent="-447675"/>
            <a:r>
              <a:rPr lang="fr-FR" dirty="0"/>
              <a:t>Comptabiliser toutes les participations dans des entités sous influence notable selon la même méthode</a:t>
            </a:r>
            <a:endParaRPr lang="fr-CA" dirty="0"/>
          </a:p>
          <a:p>
            <a:pPr marL="904875" lvl="2" indent="-447675"/>
            <a:endParaRPr lang="fr-CA" dirty="0"/>
          </a:p>
          <a:p>
            <a:pPr marL="1362075" lvl="3" indent="-447675">
              <a:buFont typeface="Wingdings" panose="05000000000000000000" pitchFamily="2" charset="2"/>
              <a:buChar char="Ø"/>
            </a:pPr>
            <a:r>
              <a:rPr lang="fr-CA" dirty="0"/>
              <a:t>Recommander en lien avec besoin/biais partie prenante (nommer la partie prenante)</a:t>
            </a:r>
          </a:p>
          <a:p>
            <a:pPr marL="457200" lvl="2" indent="0">
              <a:buNone/>
            </a:pPr>
            <a:endParaRPr lang="fr-CA" dirty="0"/>
          </a:p>
          <a:p>
            <a:pPr marL="447675" lvl="1" indent="-447675"/>
            <a:r>
              <a:rPr lang="fr-CA" sz="2400" dirty="0"/>
              <a:t>Choix NCECF pour montant écart d’acquisition </a:t>
            </a:r>
            <a:r>
              <a:rPr lang="fr-CA" sz="2000" i="1" dirty="0"/>
              <a:t>(non requis – très pointu)</a:t>
            </a:r>
            <a:endParaRPr lang="fr-CA" sz="2400" dirty="0"/>
          </a:p>
        </p:txBody>
      </p:sp>
      <p:sp>
        <p:nvSpPr>
          <p:cNvPr id="4" name="Espace réservé du pied de page 3">
            <a:extLst>
              <a:ext uri="{FF2B5EF4-FFF2-40B4-BE49-F238E27FC236}">
                <a16:creationId xmlns:a16="http://schemas.microsoft.com/office/drawing/2014/main" id="{AED0D8EE-C574-9A7C-A9A1-3561BD2B481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13C5284-8E47-9A66-105B-5F2933973629}"/>
              </a:ext>
            </a:extLst>
          </p:cNvPr>
          <p:cNvSpPr>
            <a:spLocks noGrp="1"/>
          </p:cNvSpPr>
          <p:nvPr>
            <p:ph type="sldNum" sz="quarter" idx="12"/>
          </p:nvPr>
        </p:nvSpPr>
        <p:spPr/>
        <p:txBody>
          <a:bodyPr/>
          <a:lstStyle/>
          <a:p>
            <a:fld id="{BA55C67B-76F5-4A5A-9DE0-EA5E28301294}" type="slidenum">
              <a:rPr lang="fr-FR" smtClean="0"/>
              <a:t>12</a:t>
            </a:fld>
            <a:endParaRPr lang="fr-FR"/>
          </a:p>
        </p:txBody>
      </p:sp>
    </p:spTree>
    <p:extLst>
      <p:ext uri="{BB962C8B-B14F-4D97-AF65-F5344CB8AC3E}">
        <p14:creationId xmlns:p14="http://schemas.microsoft.com/office/powerpoint/2010/main" val="1478787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EF consolidés et besoins des utilisateurs</a:t>
            </a:r>
          </a:p>
        </p:txBody>
      </p:sp>
      <p:sp>
        <p:nvSpPr>
          <p:cNvPr id="3" name="Espace réservé du contenu 2"/>
          <p:cNvSpPr>
            <a:spLocks noGrp="1"/>
          </p:cNvSpPr>
          <p:nvPr>
            <p:ph idx="1"/>
          </p:nvPr>
        </p:nvSpPr>
        <p:spPr/>
        <p:txBody>
          <a:bodyPr>
            <a:normAutofit lnSpcReduction="10000"/>
          </a:bodyPr>
          <a:lstStyle/>
          <a:p>
            <a:r>
              <a:rPr lang="fr-FR" dirty="0"/>
              <a:t>EF consolidés ne reflètent pas les activités d’une entité juridique réelle</a:t>
            </a:r>
          </a:p>
          <a:p>
            <a:pPr lvl="1"/>
            <a:r>
              <a:rPr lang="fr-FR" dirty="0"/>
              <a:t>Répondent aux besoins des actionnaires de la société mère (acquéreur)</a:t>
            </a:r>
          </a:p>
          <a:p>
            <a:pPr marL="457200" lvl="1" indent="0">
              <a:buNone/>
            </a:pPr>
            <a:endParaRPr lang="fr-FR" dirty="0"/>
          </a:p>
          <a:p>
            <a:pPr marL="0" indent="0">
              <a:buNone/>
            </a:pPr>
            <a:r>
              <a:rPr lang="fr-FR" dirty="0"/>
              <a:t>Utilisateurs :</a:t>
            </a:r>
          </a:p>
          <a:p>
            <a:r>
              <a:rPr lang="fr-FR" dirty="0"/>
              <a:t>Créanciers : habituellement entité juridique, mais parfois garanties </a:t>
            </a:r>
            <a:r>
              <a:rPr lang="fr-FR" dirty="0" err="1"/>
              <a:t>intersociétés</a:t>
            </a:r>
            <a:endParaRPr lang="fr-FR" dirty="0"/>
          </a:p>
          <a:p>
            <a:r>
              <a:rPr lang="fr-FR" dirty="0"/>
              <a:t>Administrations fiscales : entité juridique</a:t>
            </a:r>
          </a:p>
          <a:p>
            <a:r>
              <a:rPr lang="fr-FR" dirty="0"/>
              <a:t>Actionnaires ne détenant pas le contrôle : EF de la filiale (ne détiennent pas une participation dans les EF de la société mère)</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13</a:t>
            </a:fld>
            <a:endParaRPr lang="fr-FR"/>
          </a:p>
        </p:txBody>
      </p:sp>
      <p:sp>
        <p:nvSpPr>
          <p:cNvPr id="5" name="Espace réservé du pied de page 4">
            <a:extLst>
              <a:ext uri="{FF2B5EF4-FFF2-40B4-BE49-F238E27FC236}">
                <a16:creationId xmlns:a16="http://schemas.microsoft.com/office/drawing/2014/main" id="{ACB4B0A4-7F57-4E0C-A8F1-C5E3EB1DD56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97810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DAB1CE-5CC6-44F1-835E-7693AE8BE5D1}"/>
              </a:ext>
            </a:extLst>
          </p:cNvPr>
          <p:cNvSpPr>
            <a:spLocks noGrp="1"/>
          </p:cNvSpPr>
          <p:nvPr>
            <p:ph type="title"/>
          </p:nvPr>
        </p:nvSpPr>
        <p:spPr/>
        <p:txBody>
          <a:bodyPr/>
          <a:lstStyle/>
          <a:p>
            <a:r>
              <a:rPr lang="fr-CA" dirty="0"/>
              <a:t>NCECF – choix de méthodes comptables</a:t>
            </a:r>
            <a:endParaRPr lang="fr-FR" dirty="0"/>
          </a:p>
        </p:txBody>
      </p:sp>
      <p:sp>
        <p:nvSpPr>
          <p:cNvPr id="3" name="Espace réservé du contenu 2">
            <a:extLst>
              <a:ext uri="{FF2B5EF4-FFF2-40B4-BE49-F238E27FC236}">
                <a16:creationId xmlns:a16="http://schemas.microsoft.com/office/drawing/2014/main" id="{9BD15DF8-1F54-4962-B6BE-C53AF37023E3}"/>
              </a:ext>
            </a:extLst>
          </p:cNvPr>
          <p:cNvSpPr>
            <a:spLocks noGrp="1"/>
          </p:cNvSpPr>
          <p:nvPr>
            <p:ph idx="1"/>
          </p:nvPr>
        </p:nvSpPr>
        <p:spPr>
          <a:xfrm>
            <a:off x="838200" y="1460938"/>
            <a:ext cx="10515600" cy="4803227"/>
          </a:xfrm>
        </p:spPr>
        <p:txBody>
          <a:bodyPr>
            <a:normAutofit fontScale="47500" lnSpcReduction="20000"/>
          </a:bodyPr>
          <a:lstStyle/>
          <a:p>
            <a:pPr marL="0" indent="0">
              <a:buNone/>
            </a:pPr>
            <a:r>
              <a:rPr lang="fr-CA" sz="4000" dirty="0"/>
              <a:t>Chap. 1591</a:t>
            </a:r>
          </a:p>
          <a:p>
            <a:pPr marL="0" indent="0">
              <a:buNone/>
            </a:pPr>
            <a:r>
              <a:rPr lang="fr-CA" sz="4000" dirty="0"/>
              <a:t>.24     </a:t>
            </a:r>
            <a:r>
              <a:rPr lang="fr-CA" sz="4000" i="1" dirty="0"/>
              <a:t>L'entreprise doit adopter l'une ou l'autre des méthodes comptables suivantes :</a:t>
            </a:r>
            <a:endParaRPr lang="fr-CA" sz="4000" dirty="0"/>
          </a:p>
          <a:p>
            <a:pPr marL="0" indent="0">
              <a:buNone/>
            </a:pPr>
            <a:r>
              <a:rPr lang="fr-CA" sz="4000" i="1" dirty="0"/>
              <a:t>a)     consolider ses filiales</a:t>
            </a:r>
            <a:r>
              <a:rPr lang="fr-CA" sz="4000" dirty="0"/>
              <a:t> (voir le chapitre </a:t>
            </a:r>
            <a:r>
              <a:rPr lang="fr-CA" sz="4000" dirty="0">
                <a:hlinkClick r:id="rId2"/>
              </a:rPr>
              <a:t>1601</a:t>
            </a:r>
            <a:r>
              <a:rPr lang="fr-CA" sz="4000" dirty="0"/>
              <a:t>, ÉTATS FINANCIERS CONSOLIDÉS)</a:t>
            </a:r>
            <a:r>
              <a:rPr lang="fr-CA" sz="4000" i="1" dirty="0"/>
              <a:t>;</a:t>
            </a:r>
            <a:endParaRPr lang="fr-CA" sz="4000" dirty="0"/>
          </a:p>
          <a:p>
            <a:pPr marL="0" indent="0">
              <a:buNone/>
            </a:pPr>
            <a:r>
              <a:rPr lang="fr-CA" sz="4000" i="1" dirty="0"/>
              <a:t>b)     comptabiliser les filiales qu'elle contrôle au moyen :</a:t>
            </a:r>
            <a:endParaRPr lang="fr-CA" sz="4000" dirty="0"/>
          </a:p>
          <a:p>
            <a:pPr marL="0" indent="0">
              <a:buNone/>
            </a:pPr>
            <a:r>
              <a:rPr lang="fr-CA" sz="4000" i="1" dirty="0"/>
              <a:t>i)     de la détention de droits de vote, de droits de vote potentiels ou d'une combinaison des deux, selon la méthode de la comptabilisation à la valeur d'acquisition </a:t>
            </a:r>
            <a:r>
              <a:rPr lang="fr-CA" sz="4000" dirty="0"/>
              <a:t>(voir les paragraphes </a:t>
            </a:r>
            <a:r>
              <a:rPr lang="fr-CA" sz="4000" dirty="0">
                <a:hlinkClick r:id="rId2"/>
              </a:rPr>
              <a:t>1591.26A</a:t>
            </a:r>
            <a:r>
              <a:rPr lang="fr-CA" sz="4000" dirty="0"/>
              <a:t> et .26B)</a:t>
            </a:r>
            <a:r>
              <a:rPr lang="fr-CA" sz="4000" i="1" dirty="0"/>
              <a:t> ou la méthode de la comptabilisation à la valeur de consolidation </a:t>
            </a:r>
            <a:r>
              <a:rPr lang="fr-CA" sz="4000" dirty="0"/>
              <a:t>(voir le paragraphe </a:t>
            </a:r>
            <a:r>
              <a:rPr lang="fr-CA" sz="4000" dirty="0">
                <a:hlinkClick r:id="rId2"/>
              </a:rPr>
              <a:t>1591.27</a:t>
            </a:r>
            <a:r>
              <a:rPr lang="fr-CA" sz="4000" dirty="0"/>
              <a:t>)</a:t>
            </a:r>
            <a:r>
              <a:rPr lang="fr-CA" sz="4000" i="1" dirty="0"/>
              <a:t>,</a:t>
            </a:r>
            <a:endParaRPr lang="fr-CA" sz="4000" dirty="0"/>
          </a:p>
          <a:p>
            <a:pPr marL="0" indent="0">
              <a:buNone/>
            </a:pPr>
            <a:r>
              <a:rPr lang="fr-CA" sz="4000" i="1" dirty="0"/>
              <a:t>ii)     d'accords contractuels, conformément au chapitre applicable selon la nature de l'accord contractuel, par exemple un contrat de location </a:t>
            </a:r>
            <a:r>
              <a:rPr lang="fr-CA" sz="4000" dirty="0"/>
              <a:t>(voir le chapitre </a:t>
            </a:r>
            <a:r>
              <a:rPr lang="fr-CA" sz="4000" dirty="0">
                <a:hlinkClick r:id="rId2"/>
              </a:rPr>
              <a:t>3065</a:t>
            </a:r>
            <a:r>
              <a:rPr lang="fr-CA" sz="4000" dirty="0"/>
              <a:t>, CONTRATS DE LOCATION)</a:t>
            </a:r>
            <a:r>
              <a:rPr lang="fr-CA" sz="4000" i="1" dirty="0"/>
              <a:t>, un actif financier ou un passif financier </a:t>
            </a:r>
            <a:r>
              <a:rPr lang="fr-CA" sz="4000" dirty="0"/>
              <a:t>(voir le chapitre </a:t>
            </a:r>
            <a:r>
              <a:rPr lang="fr-CA" sz="4000" dirty="0">
                <a:hlinkClick r:id="rId2"/>
              </a:rPr>
              <a:t>3856</a:t>
            </a:r>
            <a:r>
              <a:rPr lang="fr-CA" sz="4000" dirty="0"/>
              <a:t>, INSTRUMENTS FINANCIERS)</a:t>
            </a:r>
            <a:r>
              <a:rPr lang="fr-CA" sz="4000" i="1" dirty="0"/>
              <a:t>,</a:t>
            </a:r>
            <a:endParaRPr lang="fr-CA" sz="4000" dirty="0"/>
          </a:p>
          <a:p>
            <a:pPr marL="0" indent="0">
              <a:buNone/>
            </a:pPr>
            <a:r>
              <a:rPr lang="fr-CA" sz="4000" i="1" dirty="0"/>
              <a:t>iii)     de la détention de droits de vote, de droits de vote potentiels ou d'une combinaison des deux, en association avec des accords contractuels, conformément au sous-alinéa i) en ce qui concerne la détention de droits de vote, de droits de vote potentiels ou d'une combinaison des deux, et conformément au sous-alinéa ii) en ce qui concerne les accords contractuels.</a:t>
            </a:r>
            <a:endParaRPr lang="fr-CA" sz="4000" dirty="0"/>
          </a:p>
          <a:p>
            <a:pPr marL="0" indent="0">
              <a:buNone/>
            </a:pPr>
            <a:r>
              <a:rPr lang="fr-CA" sz="4000" i="1" dirty="0"/>
              <a:t>Toutes les filiales doivent être comptabilisées selon la même méthode. Pour choisir l'une des méthodes comptables permises, l'entreprise n'est pas tenue de remplir le critère énoncé à l'alinéa </a:t>
            </a:r>
            <a:r>
              <a:rPr lang="fr-CA" sz="4000" dirty="0">
                <a:hlinkClick r:id="rId2"/>
              </a:rPr>
              <a:t>.06</a:t>
            </a:r>
            <a:r>
              <a:rPr lang="fr-CA" sz="4000" i="1" dirty="0"/>
              <a:t> b) du chapitre 1506, MODIFICATIONS COMPTABLES. </a:t>
            </a:r>
            <a:r>
              <a:rPr lang="fr-CA" sz="4000" dirty="0"/>
              <a:t>[Le libellé de l'ancien paragraphe </a:t>
            </a:r>
            <a:r>
              <a:rPr lang="fr-CA" sz="4000" dirty="0">
                <a:hlinkClick r:id="rId2"/>
              </a:rPr>
              <a:t>1591.24</a:t>
            </a:r>
            <a:r>
              <a:rPr lang="fr-CA" sz="4000" dirty="0"/>
              <a:t> se trouve dans les Prises de position archivées.]</a:t>
            </a:r>
            <a:endParaRPr lang="fr-CA" dirty="0"/>
          </a:p>
        </p:txBody>
      </p:sp>
      <p:sp>
        <p:nvSpPr>
          <p:cNvPr id="4" name="Espace réservé du pied de page 3">
            <a:extLst>
              <a:ext uri="{FF2B5EF4-FFF2-40B4-BE49-F238E27FC236}">
                <a16:creationId xmlns:a16="http://schemas.microsoft.com/office/drawing/2014/main" id="{0F331E67-D14F-42B8-ABF4-F56F65CBA69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040C213-AE81-4AA4-BCF8-907E46B56CAD}"/>
              </a:ext>
            </a:extLst>
          </p:cNvPr>
          <p:cNvSpPr>
            <a:spLocks noGrp="1"/>
          </p:cNvSpPr>
          <p:nvPr>
            <p:ph type="sldNum" sz="quarter" idx="12"/>
          </p:nvPr>
        </p:nvSpPr>
        <p:spPr/>
        <p:txBody>
          <a:bodyPr/>
          <a:lstStyle/>
          <a:p>
            <a:fld id="{6742B2D9-3BE5-4388-BF10-DC81BED15C57}" type="slidenum">
              <a:rPr lang="fr-FR" smtClean="0"/>
              <a:t>14</a:t>
            </a:fld>
            <a:endParaRPr lang="fr-FR"/>
          </a:p>
        </p:txBody>
      </p:sp>
    </p:spTree>
    <p:extLst>
      <p:ext uri="{BB962C8B-B14F-4D97-AF65-F5344CB8AC3E}">
        <p14:creationId xmlns:p14="http://schemas.microsoft.com/office/powerpoint/2010/main" val="107253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NCECF - NOC 18  Sociétés de placement</a:t>
            </a:r>
          </a:p>
        </p:txBody>
      </p:sp>
      <p:sp>
        <p:nvSpPr>
          <p:cNvPr id="3" name="Espace réservé du contenu 2"/>
          <p:cNvSpPr>
            <a:spLocks noGrp="1"/>
          </p:cNvSpPr>
          <p:nvPr>
            <p:ph idx="1"/>
          </p:nvPr>
        </p:nvSpPr>
        <p:spPr/>
        <p:txBody>
          <a:bodyPr/>
          <a:lstStyle/>
          <a:p>
            <a:r>
              <a:rPr lang="fr-FR" dirty="0"/>
              <a:t>Société de placement </a:t>
            </a:r>
          </a:p>
          <a:p>
            <a:pPr lvl="1"/>
            <a:r>
              <a:rPr lang="fr-FR" dirty="0"/>
              <a:t>Principale activité : acheter, détenir et vendre des placements</a:t>
            </a:r>
          </a:p>
          <a:p>
            <a:pPr lvl="2"/>
            <a:r>
              <a:rPr lang="fr-FR" dirty="0"/>
              <a:t>Des placements non stratégiques</a:t>
            </a:r>
          </a:p>
          <a:p>
            <a:pPr lvl="2"/>
            <a:endParaRPr lang="fr-FR" dirty="0"/>
          </a:p>
          <a:p>
            <a:pPr lvl="1"/>
            <a:r>
              <a:rPr lang="fr-FR" dirty="0"/>
              <a:t>Mesure des placements : juste valeur</a:t>
            </a:r>
          </a:p>
          <a:p>
            <a:pPr lvl="2"/>
            <a:r>
              <a:rPr lang="fr-FR" dirty="0"/>
              <a:t>Base de mesure des actifs</a:t>
            </a:r>
          </a:p>
          <a:p>
            <a:pPr lvl="2"/>
            <a:r>
              <a:rPr lang="fr-FR" dirty="0"/>
              <a:t>Base de mesure pour les transactions « capitaux propres »  </a:t>
            </a:r>
          </a:p>
          <a:p>
            <a:pPr lvl="2"/>
            <a:endParaRPr lang="fr-FR" dirty="0"/>
          </a:p>
          <a:p>
            <a:pPr lvl="2"/>
            <a:r>
              <a:rPr lang="fr-FR" dirty="0"/>
              <a:t>penser à des fonds mutuels</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15</a:t>
            </a:fld>
            <a:endParaRPr lang="fr-FR"/>
          </a:p>
        </p:txBody>
      </p:sp>
      <p:sp>
        <p:nvSpPr>
          <p:cNvPr id="5" name="Espace réservé du pied de page 4">
            <a:extLst>
              <a:ext uri="{FF2B5EF4-FFF2-40B4-BE49-F238E27FC236}">
                <a16:creationId xmlns:a16="http://schemas.microsoft.com/office/drawing/2014/main" id="{5597C263-1A5F-4EEB-BF21-8AF3C96D2B37}"/>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071014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4CFB9-D7FF-4A9F-9B92-A790AB75F60E}"/>
              </a:ext>
            </a:extLst>
          </p:cNvPr>
          <p:cNvSpPr>
            <a:spLocks noGrp="1"/>
          </p:cNvSpPr>
          <p:nvPr>
            <p:ph type="title"/>
          </p:nvPr>
        </p:nvSpPr>
        <p:spPr/>
        <p:txBody>
          <a:bodyPr/>
          <a:lstStyle/>
          <a:p>
            <a:r>
              <a:rPr lang="fr-CA" sz="4000" b="1" dirty="0">
                <a:solidFill>
                  <a:schemeClr val="accent1"/>
                </a:solidFill>
              </a:rPr>
              <a:t>Placements avec contrôle conjoint</a:t>
            </a:r>
            <a:endParaRPr lang="fr-FR" sz="4000" b="1" dirty="0">
              <a:solidFill>
                <a:schemeClr val="accent1"/>
              </a:solidFill>
            </a:endParaRPr>
          </a:p>
        </p:txBody>
      </p:sp>
      <p:sp>
        <p:nvSpPr>
          <p:cNvPr id="3" name="Espace réservé du contenu 2">
            <a:extLst>
              <a:ext uri="{FF2B5EF4-FFF2-40B4-BE49-F238E27FC236}">
                <a16:creationId xmlns:a16="http://schemas.microsoft.com/office/drawing/2014/main" id="{0892E791-9F8C-4838-B5DA-9FF456096B73}"/>
              </a:ext>
            </a:extLst>
          </p:cNvPr>
          <p:cNvSpPr>
            <a:spLocks noGrp="1"/>
          </p:cNvSpPr>
          <p:nvPr>
            <p:ph idx="1"/>
          </p:nvPr>
        </p:nvSpPr>
        <p:spPr>
          <a:xfrm>
            <a:off x="838200" y="1409700"/>
            <a:ext cx="10515600" cy="5181599"/>
          </a:xfrm>
        </p:spPr>
        <p:txBody>
          <a:bodyPr>
            <a:normAutofit lnSpcReduction="10000"/>
          </a:bodyPr>
          <a:lstStyle/>
          <a:p>
            <a:pPr marL="0" indent="0">
              <a:buNone/>
            </a:pPr>
            <a:r>
              <a:rPr lang="fr-CA" sz="2400" dirty="0"/>
              <a:t>Normes : </a:t>
            </a:r>
          </a:p>
          <a:p>
            <a:r>
              <a:rPr lang="fr-CA" sz="2400" dirty="0"/>
              <a:t>IFRS 11</a:t>
            </a:r>
          </a:p>
          <a:p>
            <a:r>
              <a:rPr lang="fr-CA" sz="2400" dirty="0"/>
              <a:t>3056</a:t>
            </a:r>
          </a:p>
          <a:p>
            <a:endParaRPr lang="fr-CA" sz="2400" dirty="0"/>
          </a:p>
          <a:p>
            <a:pPr marL="0" indent="0">
              <a:buNone/>
            </a:pPr>
            <a:r>
              <a:rPr lang="fr-CA" sz="2400" dirty="0"/>
              <a:t>4     Un partenariat est une entreprise sur laquelle deux parties ou plus exercent un contrôle conjoint.</a:t>
            </a:r>
          </a:p>
          <a:p>
            <a:pPr marL="0" indent="0">
              <a:buNone/>
            </a:pPr>
            <a:endParaRPr lang="fr-CA" sz="2400" dirty="0"/>
          </a:p>
          <a:p>
            <a:pPr marL="0" indent="0">
              <a:buNone/>
            </a:pPr>
            <a:r>
              <a:rPr lang="fr-FR" dirty="0">
                <a:solidFill>
                  <a:srgbClr val="3366FF"/>
                </a:solidFill>
              </a:rPr>
              <a:t>Contrôle conjoint </a:t>
            </a:r>
          </a:p>
          <a:p>
            <a:pPr lvl="1"/>
            <a:r>
              <a:rPr lang="fr-FR" dirty="0"/>
              <a:t>D’une activité économique est le pouvoir, </a:t>
            </a:r>
            <a:r>
              <a:rPr lang="fr-FR" dirty="0">
                <a:solidFill>
                  <a:schemeClr val="accent1"/>
                </a:solidFill>
              </a:rPr>
              <a:t>exercé collégialement</a:t>
            </a:r>
            <a:r>
              <a:rPr lang="fr-FR" dirty="0"/>
              <a:t> en vertu d’un accord contractuel à cet effet, de définir de manière durable les politiques stratégiques en matière d’exploitation, d’investissement et de financement relativement à cette activité</a:t>
            </a:r>
          </a:p>
          <a:p>
            <a:pPr lvl="2"/>
            <a:r>
              <a:rPr lang="fr-FR" dirty="0"/>
              <a:t>Sans égard aux participations détenues</a:t>
            </a:r>
          </a:p>
          <a:p>
            <a:pPr lvl="2"/>
            <a:r>
              <a:rPr lang="fr-FR" dirty="0"/>
              <a:t>Généralement constaté par écrit</a:t>
            </a:r>
          </a:p>
          <a:p>
            <a:pPr marL="0" indent="0">
              <a:buNone/>
            </a:pPr>
            <a:endParaRPr lang="fr-CA" sz="2400" dirty="0"/>
          </a:p>
        </p:txBody>
      </p:sp>
      <p:sp>
        <p:nvSpPr>
          <p:cNvPr id="4" name="Espace réservé du pied de page 3">
            <a:extLst>
              <a:ext uri="{FF2B5EF4-FFF2-40B4-BE49-F238E27FC236}">
                <a16:creationId xmlns:a16="http://schemas.microsoft.com/office/drawing/2014/main" id="{39302B60-4946-0D1B-B95D-5E1E25E82E2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2BE6B05-5898-DC45-0CA2-F39F34150B31}"/>
              </a:ext>
            </a:extLst>
          </p:cNvPr>
          <p:cNvSpPr>
            <a:spLocks noGrp="1"/>
          </p:cNvSpPr>
          <p:nvPr>
            <p:ph type="sldNum" sz="quarter" idx="12"/>
          </p:nvPr>
        </p:nvSpPr>
        <p:spPr/>
        <p:txBody>
          <a:bodyPr/>
          <a:lstStyle/>
          <a:p>
            <a:fld id="{BA55C67B-76F5-4A5A-9DE0-EA5E28301294}" type="slidenum">
              <a:rPr lang="fr-FR" smtClean="0"/>
              <a:t>16</a:t>
            </a:fld>
            <a:endParaRPr lang="fr-FR"/>
          </a:p>
        </p:txBody>
      </p:sp>
    </p:spTree>
    <p:extLst>
      <p:ext uri="{BB962C8B-B14F-4D97-AF65-F5344CB8AC3E}">
        <p14:creationId xmlns:p14="http://schemas.microsoft.com/office/powerpoint/2010/main" val="2242590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400" dirty="0"/>
              <a:t>Placements avec contrôle conjoint</a:t>
            </a:r>
            <a:endParaRPr lang="fr-FR" dirty="0"/>
          </a:p>
        </p:txBody>
      </p:sp>
      <p:sp>
        <p:nvSpPr>
          <p:cNvPr id="3" name="Espace réservé du contenu 2"/>
          <p:cNvSpPr>
            <a:spLocks noGrp="1"/>
          </p:cNvSpPr>
          <p:nvPr>
            <p:ph idx="1"/>
          </p:nvPr>
        </p:nvSpPr>
        <p:spPr/>
        <p:txBody>
          <a:bodyPr>
            <a:normAutofit fontScale="77500" lnSpcReduction="20000"/>
          </a:bodyPr>
          <a:lstStyle/>
          <a:p>
            <a:r>
              <a:rPr lang="fr-FR" dirty="0"/>
              <a:t>Activités sous contrôle conjoint</a:t>
            </a:r>
          </a:p>
          <a:p>
            <a:pPr lvl="1"/>
            <a:r>
              <a:rPr lang="fr-FR" dirty="0"/>
              <a:t>Utilisation des actifs / ressources des investisseurs sans mettre en commun</a:t>
            </a:r>
          </a:p>
          <a:p>
            <a:pPr lvl="2"/>
            <a:r>
              <a:rPr lang="fr-FR" dirty="0"/>
              <a:t>Comptabilisation de sa part des résultats</a:t>
            </a:r>
          </a:p>
          <a:p>
            <a:pPr marL="0" indent="0" algn="l">
              <a:buNone/>
            </a:pPr>
            <a:r>
              <a:rPr lang="fr-CA" sz="2000" b="0" i="0" dirty="0">
                <a:solidFill>
                  <a:srgbClr val="444444"/>
                </a:solidFill>
                <a:effectLst/>
                <a:latin typeface="Gotham A"/>
              </a:rPr>
              <a:t>17    </a:t>
            </a:r>
            <a:r>
              <a:rPr lang="fr-CA" sz="2000" b="0" i="1" dirty="0">
                <a:solidFill>
                  <a:srgbClr val="444444"/>
                </a:solidFill>
                <a:effectLst/>
                <a:latin typeface="Gotham A"/>
              </a:rPr>
              <a:t>Dans le cas des activités sous contrôle conjoint, l'investisseur qui participe au contrôle conjoint doit comptabiliser :</a:t>
            </a:r>
            <a:endParaRPr lang="fr-CA" sz="2000" b="0" i="0" dirty="0">
              <a:solidFill>
                <a:srgbClr val="444444"/>
              </a:solidFill>
              <a:effectLst/>
              <a:latin typeface="Gotham A"/>
            </a:endParaRPr>
          </a:p>
          <a:p>
            <a:pPr marL="0" indent="0" algn="l">
              <a:buNone/>
            </a:pPr>
            <a:r>
              <a:rPr lang="fr-CA" sz="2000" b="0" i="1" dirty="0">
                <a:solidFill>
                  <a:srgbClr val="444444"/>
                </a:solidFill>
                <a:effectLst/>
                <a:latin typeface="Gotham A"/>
              </a:rPr>
              <a:t>a)     dans son bilan, les éléments d'actif qu'il contrôle ainsi que les éléments de passif qu'il contracte;</a:t>
            </a:r>
            <a:endParaRPr lang="fr-CA" sz="2000" b="0" i="0" dirty="0">
              <a:solidFill>
                <a:srgbClr val="444444"/>
              </a:solidFill>
              <a:effectLst/>
              <a:latin typeface="Gotham A"/>
            </a:endParaRPr>
          </a:p>
          <a:p>
            <a:pPr marL="0" indent="0" algn="l">
              <a:buNone/>
            </a:pPr>
            <a:r>
              <a:rPr lang="fr-CA" sz="2000" b="0" i="1" dirty="0">
                <a:solidFill>
                  <a:srgbClr val="444444"/>
                </a:solidFill>
                <a:effectLst/>
                <a:latin typeface="Gotham A"/>
              </a:rPr>
              <a:t>b)     dans son état des résultats, sa part des produits du partenariat et sa part des charges engagées par celui-ci.</a:t>
            </a:r>
            <a:endParaRPr lang="fr-FR" dirty="0"/>
          </a:p>
          <a:p>
            <a:pPr marL="914400" lvl="2" indent="0">
              <a:buNone/>
            </a:pPr>
            <a:endParaRPr lang="fr-FR" dirty="0"/>
          </a:p>
          <a:p>
            <a:r>
              <a:rPr lang="fr-FR" dirty="0"/>
              <a:t>Actifs sous contrôle conjoint</a:t>
            </a:r>
          </a:p>
          <a:p>
            <a:pPr lvl="1"/>
            <a:r>
              <a:rPr lang="fr-FR" dirty="0"/>
              <a:t>Conjointement propriétaires d’éléments d’actif, sans création d’une entité</a:t>
            </a:r>
          </a:p>
          <a:p>
            <a:pPr lvl="2"/>
            <a:r>
              <a:rPr lang="fr-FR" dirty="0"/>
              <a:t>Comptabilisation de sa part des éléments bilan et résultats</a:t>
            </a:r>
          </a:p>
          <a:p>
            <a:pPr marL="0" indent="0" algn="l">
              <a:buNone/>
            </a:pPr>
            <a:r>
              <a:rPr lang="fr-CA" sz="2000" b="0" i="0" dirty="0">
                <a:solidFill>
                  <a:srgbClr val="444444"/>
                </a:solidFill>
                <a:effectLst/>
                <a:latin typeface="Gotham A"/>
              </a:rPr>
              <a:t>.18    </a:t>
            </a:r>
            <a:r>
              <a:rPr lang="fr-CA" sz="2000" b="0" i="1" dirty="0">
                <a:solidFill>
                  <a:srgbClr val="444444"/>
                </a:solidFill>
                <a:effectLst/>
                <a:latin typeface="Gotham A"/>
              </a:rPr>
              <a:t>Dans le cas des actifs sous contrôle conjoint, l'investisseur qui participe au contrôle conjoint doit comptabiliser :</a:t>
            </a:r>
            <a:endParaRPr lang="fr-CA" sz="2000" b="0" i="0" dirty="0">
              <a:solidFill>
                <a:srgbClr val="444444"/>
              </a:solidFill>
              <a:effectLst/>
              <a:latin typeface="Gotham A"/>
            </a:endParaRPr>
          </a:p>
          <a:p>
            <a:pPr marL="0" indent="0" algn="l">
              <a:buNone/>
            </a:pPr>
            <a:r>
              <a:rPr lang="fr-CA" sz="2000" b="0" i="1" dirty="0">
                <a:solidFill>
                  <a:srgbClr val="444444"/>
                </a:solidFill>
                <a:effectLst/>
                <a:latin typeface="Gotham A"/>
              </a:rPr>
              <a:t>a)     dans son bilan, sa part des éléments d'actif sous contrôle conjoint et sa part des éléments de passif qu'il a contractés conjointement avec les autres investisseurs relativement au partenariat;</a:t>
            </a:r>
            <a:endParaRPr lang="fr-CA" sz="2000" b="0" i="0" dirty="0">
              <a:solidFill>
                <a:srgbClr val="444444"/>
              </a:solidFill>
              <a:effectLst/>
              <a:latin typeface="Gotham A"/>
            </a:endParaRPr>
          </a:p>
          <a:p>
            <a:pPr marL="0" indent="0" algn="l">
              <a:buNone/>
            </a:pPr>
            <a:r>
              <a:rPr lang="fr-CA" sz="2000" b="0" i="1" dirty="0">
                <a:solidFill>
                  <a:srgbClr val="444444"/>
                </a:solidFill>
                <a:effectLst/>
                <a:latin typeface="Gotham A"/>
              </a:rPr>
              <a:t>b)     dans son état des résultats, les produits tirés de la vente ou de l'utilisation de sa part de la production du partenariat, et sa part des charges engagées par le partenariat.</a:t>
            </a:r>
            <a:endParaRPr lang="fr-CA" i="1"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17</a:t>
            </a:fld>
            <a:endParaRPr lang="fr-FR"/>
          </a:p>
        </p:txBody>
      </p:sp>
      <p:sp>
        <p:nvSpPr>
          <p:cNvPr id="5" name="Espace réservé du pied de page 4">
            <a:extLst>
              <a:ext uri="{FF2B5EF4-FFF2-40B4-BE49-F238E27FC236}">
                <a16:creationId xmlns:a16="http://schemas.microsoft.com/office/drawing/2014/main" id="{3025FB43-E275-4CFF-A5C1-B7B505AB41F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43066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4FFD1-8732-7A7F-D143-217BF7F8F9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DC7166-BA47-6DCB-B340-447343E99891}"/>
              </a:ext>
            </a:extLst>
          </p:cNvPr>
          <p:cNvSpPr>
            <a:spLocks noGrp="1"/>
          </p:cNvSpPr>
          <p:nvPr>
            <p:ph type="title"/>
          </p:nvPr>
        </p:nvSpPr>
        <p:spPr/>
        <p:txBody>
          <a:bodyPr>
            <a:normAutofit/>
          </a:bodyPr>
          <a:lstStyle/>
          <a:p>
            <a:r>
              <a:rPr lang="fr-CA" sz="4400" dirty="0"/>
              <a:t>Placements avec contrôle conjoint</a:t>
            </a:r>
            <a:endParaRPr lang="fr-FR" dirty="0"/>
          </a:p>
        </p:txBody>
      </p:sp>
      <p:sp>
        <p:nvSpPr>
          <p:cNvPr id="3" name="Espace réservé du contenu 2">
            <a:extLst>
              <a:ext uri="{FF2B5EF4-FFF2-40B4-BE49-F238E27FC236}">
                <a16:creationId xmlns:a16="http://schemas.microsoft.com/office/drawing/2014/main" id="{1A1F4740-117E-12E7-402A-CAF93C50190B}"/>
              </a:ext>
            </a:extLst>
          </p:cNvPr>
          <p:cNvSpPr>
            <a:spLocks noGrp="1"/>
          </p:cNvSpPr>
          <p:nvPr>
            <p:ph idx="1"/>
          </p:nvPr>
        </p:nvSpPr>
        <p:spPr>
          <a:xfrm>
            <a:off x="838200" y="1438183"/>
            <a:ext cx="10515600" cy="5054692"/>
          </a:xfrm>
        </p:spPr>
        <p:txBody>
          <a:bodyPr>
            <a:normAutofit fontScale="55000" lnSpcReduction="20000"/>
          </a:bodyPr>
          <a:lstStyle/>
          <a:p>
            <a:r>
              <a:rPr lang="fr-FR" sz="4000" dirty="0"/>
              <a:t>Entreprises sous contrôle conjoint</a:t>
            </a:r>
          </a:p>
          <a:p>
            <a:pPr lvl="1"/>
            <a:r>
              <a:rPr lang="fr-FR" sz="3500" dirty="0"/>
              <a:t>Si droit sur actif net : </a:t>
            </a:r>
          </a:p>
          <a:p>
            <a:pPr lvl="2"/>
            <a:r>
              <a:rPr lang="fr-FR" sz="3100" dirty="0"/>
              <a:t>IFRS : mise en équivalence ; NCECF : choix valeur de consolidation, valeur d’acquisition</a:t>
            </a:r>
          </a:p>
          <a:p>
            <a:pPr lvl="1"/>
            <a:r>
              <a:rPr lang="fr-FR" sz="3500" dirty="0"/>
              <a:t>Si droit sur éléments d’actif / obligations : quote-part</a:t>
            </a:r>
          </a:p>
          <a:p>
            <a:pPr marL="0" indent="0">
              <a:buNone/>
            </a:pPr>
            <a:r>
              <a:rPr lang="fr-CA" dirty="0"/>
              <a:t>Entreprises sous contrôle conjoint </a:t>
            </a:r>
            <a:r>
              <a:rPr lang="fr-CA" sz="2000" i="1" dirty="0"/>
              <a:t>(par. 14)</a:t>
            </a:r>
          </a:p>
          <a:p>
            <a:pPr marL="0" indent="0" algn="l">
              <a:buNone/>
            </a:pPr>
            <a:r>
              <a:rPr lang="fr-CA" b="0" i="0" dirty="0">
                <a:solidFill>
                  <a:srgbClr val="444444"/>
                </a:solidFill>
                <a:effectLst/>
                <a:latin typeface="Gotham A"/>
              </a:rPr>
              <a:t>.29    </a:t>
            </a:r>
            <a:r>
              <a:rPr lang="fr-CA" b="0" i="1" dirty="0">
                <a:solidFill>
                  <a:srgbClr val="444444"/>
                </a:solidFill>
                <a:effectLst/>
                <a:latin typeface="Gotham A"/>
              </a:rPr>
              <a:t>L'investisseur qui a des intérêts dans une entreprise sous contrôle conjoint doit adopter l'une ou l'autre des méthodes comptables suivantes :</a:t>
            </a:r>
            <a:endParaRPr lang="fr-CA" b="0" i="0" dirty="0">
              <a:solidFill>
                <a:srgbClr val="444444"/>
              </a:solidFill>
              <a:effectLst/>
              <a:latin typeface="Gotham A"/>
            </a:endParaRPr>
          </a:p>
          <a:p>
            <a:pPr marL="0" indent="0" algn="l">
              <a:buNone/>
            </a:pPr>
            <a:r>
              <a:rPr lang="fr-CA" b="0" i="1" dirty="0">
                <a:solidFill>
                  <a:srgbClr val="444444"/>
                </a:solidFill>
                <a:effectLst/>
                <a:latin typeface="Gotham A"/>
              </a:rPr>
              <a:t>a)     comptabiliser tous ces intérêts selon la méthode de la comptabilisation à la valeur de consolidation (au sens du chapitre </a:t>
            </a:r>
            <a:r>
              <a:rPr lang="fr-CA" b="0" i="0" u="none" strike="noStrike" dirty="0">
                <a:solidFill>
                  <a:srgbClr val="006FBA"/>
                </a:solidFill>
                <a:effectLst/>
                <a:latin typeface="Gotham A"/>
                <a:hlinkClick r:id="rId3"/>
              </a:rPr>
              <a:t>3051</a:t>
            </a:r>
            <a:r>
              <a:rPr lang="fr-CA" b="0" i="1" dirty="0">
                <a:solidFill>
                  <a:srgbClr val="444444"/>
                </a:solidFill>
                <a:effectLst/>
                <a:latin typeface="Gotham A"/>
              </a:rPr>
              <a:t>, PLACEMENTS);</a:t>
            </a:r>
            <a:endParaRPr lang="fr-CA" b="0" i="0" dirty="0">
              <a:solidFill>
                <a:srgbClr val="444444"/>
              </a:solidFill>
              <a:effectLst/>
              <a:latin typeface="Gotham A"/>
            </a:endParaRPr>
          </a:p>
          <a:p>
            <a:pPr marL="0" indent="0" algn="l">
              <a:buNone/>
            </a:pPr>
            <a:r>
              <a:rPr lang="fr-CA" b="0" i="1" dirty="0">
                <a:solidFill>
                  <a:srgbClr val="444444"/>
                </a:solidFill>
                <a:effectLst/>
                <a:latin typeface="Gotham A"/>
              </a:rPr>
              <a:t>b)     comptabiliser tous ces intérêts selon la méthode de la comptabilisation à la valeur d'acquisition (au sens du chapitre</a:t>
            </a:r>
            <a:r>
              <a:rPr lang="fr-CA" b="0" i="0" dirty="0">
                <a:solidFill>
                  <a:srgbClr val="444444"/>
                </a:solidFill>
                <a:effectLst/>
                <a:latin typeface="Gotham A"/>
              </a:rPr>
              <a:t> </a:t>
            </a:r>
            <a:r>
              <a:rPr lang="fr-CA" b="0" i="0" u="none" strike="noStrike" dirty="0">
                <a:solidFill>
                  <a:srgbClr val="006FBA"/>
                </a:solidFill>
                <a:effectLst/>
                <a:latin typeface="Gotham A"/>
                <a:hlinkClick r:id="rId3"/>
              </a:rPr>
              <a:t>3051</a:t>
            </a:r>
            <a:r>
              <a:rPr lang="fr-CA" b="0" i="1" dirty="0">
                <a:solidFill>
                  <a:srgbClr val="444444"/>
                </a:solidFill>
                <a:effectLst/>
                <a:latin typeface="Gotham A"/>
              </a:rPr>
              <a:t>, PLACEMENTS); ou</a:t>
            </a:r>
            <a:endParaRPr lang="fr-CA" b="0" i="0" dirty="0">
              <a:solidFill>
                <a:srgbClr val="444444"/>
              </a:solidFill>
              <a:effectLst/>
              <a:latin typeface="Gotham A"/>
            </a:endParaRPr>
          </a:p>
          <a:p>
            <a:pPr marL="0" indent="0" algn="l">
              <a:buNone/>
            </a:pPr>
            <a:r>
              <a:rPr lang="fr-CA" b="0" i="1" dirty="0">
                <a:solidFill>
                  <a:srgbClr val="444444"/>
                </a:solidFill>
                <a:effectLst/>
                <a:latin typeface="Gotham A"/>
              </a:rPr>
              <a:t>c)     analyser tous ces intérêts pour déterminer s'ils représentent un droit sur l'actif net ou des droits sur les éléments d'actif et des obligations au titre des éléments de passif qui ont trait au partenariat, puis comptabiliser :</a:t>
            </a:r>
            <a:endParaRPr lang="fr-CA" b="0" i="0" dirty="0">
              <a:solidFill>
                <a:srgbClr val="444444"/>
              </a:solidFill>
              <a:effectLst/>
              <a:latin typeface="Gotham A"/>
            </a:endParaRPr>
          </a:p>
          <a:p>
            <a:pPr marL="358775" indent="0" algn="l">
              <a:buNone/>
            </a:pPr>
            <a:r>
              <a:rPr lang="fr-CA" b="0" i="1" dirty="0">
                <a:solidFill>
                  <a:srgbClr val="444444"/>
                </a:solidFill>
                <a:effectLst/>
                <a:latin typeface="Gotham A"/>
              </a:rPr>
              <a:t>i)     tous les intérêts dans l'actif net d'une entreprise sous contrôle conjoint selon l'alinéa </a:t>
            </a:r>
            <a:r>
              <a:rPr lang="fr-CA" b="0" i="0" u="none" strike="noStrike" dirty="0">
                <a:solidFill>
                  <a:srgbClr val="006FBA"/>
                </a:solidFill>
                <a:effectLst/>
                <a:latin typeface="Gotham A"/>
                <a:hlinkClick r:id="rId3"/>
              </a:rPr>
              <a:t>3056.29</a:t>
            </a:r>
            <a:r>
              <a:rPr lang="fr-CA" b="0" i="1" dirty="0">
                <a:solidFill>
                  <a:srgbClr val="444444"/>
                </a:solidFill>
                <a:effectLst/>
                <a:latin typeface="Gotham A"/>
              </a:rPr>
              <a:t> a) ou b);</a:t>
            </a:r>
            <a:endParaRPr lang="fr-CA" b="0" i="0" dirty="0">
              <a:solidFill>
                <a:srgbClr val="444444"/>
              </a:solidFill>
              <a:effectLst/>
              <a:latin typeface="Gotham A"/>
            </a:endParaRPr>
          </a:p>
          <a:p>
            <a:pPr marL="358775" indent="0" algn="l">
              <a:buNone/>
            </a:pPr>
            <a:r>
              <a:rPr lang="fr-CA" b="0" i="1" dirty="0">
                <a:solidFill>
                  <a:srgbClr val="444444"/>
                </a:solidFill>
                <a:effectLst/>
                <a:latin typeface="Gotham A"/>
              </a:rPr>
              <a:t>ii)     tous les intérêts qui représentent des droits sur les éléments d'actif et des obligations au titre des éléments de passif relatifs au partenariat selon les paragraphes </a:t>
            </a:r>
            <a:r>
              <a:rPr lang="fr-CA" b="0" i="0" u="none" strike="noStrike" dirty="0">
                <a:solidFill>
                  <a:srgbClr val="006FBA"/>
                </a:solidFill>
                <a:effectLst/>
                <a:latin typeface="Gotham A"/>
                <a:hlinkClick r:id="rId3"/>
              </a:rPr>
              <a:t>3056.17</a:t>
            </a:r>
            <a:r>
              <a:rPr lang="fr-CA" b="0" i="1" dirty="0">
                <a:solidFill>
                  <a:srgbClr val="444444"/>
                </a:solidFill>
                <a:effectLst/>
                <a:latin typeface="Gotham A"/>
              </a:rPr>
              <a:t> et .18.</a:t>
            </a:r>
            <a:endParaRPr lang="fr-CA" b="0" i="0" dirty="0">
              <a:solidFill>
                <a:srgbClr val="444444"/>
              </a:solidFill>
              <a:effectLst/>
              <a:latin typeface="Gotham A"/>
            </a:endParaRPr>
          </a:p>
          <a:p>
            <a:pPr marL="0" indent="0" algn="l">
              <a:buNone/>
            </a:pPr>
            <a:r>
              <a:rPr lang="fr-CA" b="0" i="1" dirty="0">
                <a:solidFill>
                  <a:srgbClr val="444444"/>
                </a:solidFill>
                <a:effectLst/>
                <a:latin typeface="Gotham A"/>
              </a:rPr>
              <a:t>L'investisseur doit comptabiliser selon la même méthode (c'est-à-dire conformément à l'alinéa </a:t>
            </a:r>
            <a:r>
              <a:rPr lang="fr-CA" b="0" i="0" u="none" strike="noStrike" dirty="0">
                <a:solidFill>
                  <a:srgbClr val="006FBA"/>
                </a:solidFill>
                <a:effectLst/>
                <a:latin typeface="Gotham A"/>
                <a:hlinkClick r:id="rId3"/>
              </a:rPr>
              <a:t>3056.29</a:t>
            </a:r>
            <a:r>
              <a:rPr lang="fr-CA" b="0" i="1" dirty="0">
                <a:solidFill>
                  <a:srgbClr val="444444"/>
                </a:solidFill>
                <a:effectLst/>
                <a:latin typeface="Gotham A"/>
              </a:rPr>
              <a:t> a), b) ou c)) tous ses intérêts dans des entreprises sous contrôle conjoint. Pour le choix de la méthode comptable, l'investisseur n'est pas tenu de satisfaire au critère de l'alinéa </a:t>
            </a:r>
            <a:r>
              <a:rPr lang="fr-CA" b="0" i="0" u="none" strike="noStrike" dirty="0">
                <a:solidFill>
                  <a:srgbClr val="006FBA"/>
                </a:solidFill>
                <a:effectLst/>
                <a:latin typeface="Gotham A"/>
                <a:hlinkClick r:id="rId3"/>
              </a:rPr>
              <a:t>.06</a:t>
            </a:r>
            <a:r>
              <a:rPr lang="fr-CA" b="0" i="1" dirty="0">
                <a:solidFill>
                  <a:srgbClr val="444444"/>
                </a:solidFill>
                <a:effectLst/>
                <a:latin typeface="Gotham A"/>
              </a:rPr>
              <a:t> b) du chapitre 1506, MODIFICATIONS COMPTABLES.</a:t>
            </a:r>
            <a:endParaRPr lang="fr-CA" b="0" i="0" dirty="0">
              <a:solidFill>
                <a:srgbClr val="444444"/>
              </a:solidFill>
              <a:effectLst/>
              <a:latin typeface="Gotham A"/>
            </a:endParaRPr>
          </a:p>
        </p:txBody>
      </p:sp>
      <p:sp>
        <p:nvSpPr>
          <p:cNvPr id="4" name="Espace réservé du numéro de diapositive 3">
            <a:extLst>
              <a:ext uri="{FF2B5EF4-FFF2-40B4-BE49-F238E27FC236}">
                <a16:creationId xmlns:a16="http://schemas.microsoft.com/office/drawing/2014/main" id="{597578EC-65AC-82D6-9D72-35B3FB0807B1}"/>
              </a:ext>
            </a:extLst>
          </p:cNvPr>
          <p:cNvSpPr>
            <a:spLocks noGrp="1"/>
          </p:cNvSpPr>
          <p:nvPr>
            <p:ph type="sldNum" sz="quarter" idx="12"/>
          </p:nvPr>
        </p:nvSpPr>
        <p:spPr/>
        <p:txBody>
          <a:bodyPr/>
          <a:lstStyle/>
          <a:p>
            <a:fld id="{93CCD850-57C1-B143-82E0-6B89E4215FB0}" type="slidenum">
              <a:rPr lang="fr-FR" smtClean="0"/>
              <a:t>18</a:t>
            </a:fld>
            <a:endParaRPr lang="fr-FR"/>
          </a:p>
        </p:txBody>
      </p:sp>
      <p:sp>
        <p:nvSpPr>
          <p:cNvPr id="5" name="Espace réservé du pied de page 4">
            <a:extLst>
              <a:ext uri="{FF2B5EF4-FFF2-40B4-BE49-F238E27FC236}">
                <a16:creationId xmlns:a16="http://schemas.microsoft.com/office/drawing/2014/main" id="{B3124762-BE1C-4DA4-8761-9F4439181D6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259544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48BE40-17E3-7BA7-71A9-A0FBBBDACA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F10952-74B8-2FA6-37A0-EDF2338844E5}"/>
              </a:ext>
            </a:extLst>
          </p:cNvPr>
          <p:cNvSpPr>
            <a:spLocks noGrp="1"/>
          </p:cNvSpPr>
          <p:nvPr>
            <p:ph type="title"/>
          </p:nvPr>
        </p:nvSpPr>
        <p:spPr/>
        <p:txBody>
          <a:bodyPr/>
          <a:lstStyle/>
          <a:p>
            <a:r>
              <a:rPr lang="fr-CA" sz="4000" dirty="0"/>
              <a:t>Placements avec contrôle conjoint</a:t>
            </a:r>
            <a:endParaRPr lang="fr-FR" sz="4000" dirty="0"/>
          </a:p>
        </p:txBody>
      </p:sp>
      <p:sp>
        <p:nvSpPr>
          <p:cNvPr id="3" name="Espace réservé du contenu 2">
            <a:extLst>
              <a:ext uri="{FF2B5EF4-FFF2-40B4-BE49-F238E27FC236}">
                <a16:creationId xmlns:a16="http://schemas.microsoft.com/office/drawing/2014/main" id="{CE76DA00-D0FC-0952-E815-9D389B05BF3E}"/>
              </a:ext>
            </a:extLst>
          </p:cNvPr>
          <p:cNvSpPr>
            <a:spLocks noGrp="1"/>
          </p:cNvSpPr>
          <p:nvPr>
            <p:ph idx="1"/>
          </p:nvPr>
        </p:nvSpPr>
        <p:spPr>
          <a:xfrm>
            <a:off x="838200" y="1690688"/>
            <a:ext cx="10515600" cy="4900611"/>
          </a:xfrm>
        </p:spPr>
        <p:txBody>
          <a:bodyPr>
            <a:normAutofit/>
          </a:bodyPr>
          <a:lstStyle/>
          <a:p>
            <a:pPr marL="0" indent="0">
              <a:buNone/>
            </a:pPr>
            <a:r>
              <a:rPr lang="fr-FR" sz="2400" b="1" dirty="0">
                <a:solidFill>
                  <a:srgbClr val="444444"/>
                </a:solidFill>
                <a:latin typeface="Gotham A"/>
              </a:rPr>
              <a:t>P</a:t>
            </a:r>
            <a:r>
              <a:rPr lang="fr-FR" sz="2400" b="1" i="0" dirty="0">
                <a:solidFill>
                  <a:srgbClr val="444444"/>
                </a:solidFill>
                <a:effectLst/>
                <a:latin typeface="Gotham A"/>
              </a:rPr>
              <a:t>artenariat : </a:t>
            </a:r>
            <a:r>
              <a:rPr lang="fr-CA" sz="2400" b="0" i="0" dirty="0">
                <a:solidFill>
                  <a:srgbClr val="444444"/>
                </a:solidFill>
                <a:effectLst/>
                <a:latin typeface="Gotham A"/>
              </a:rPr>
              <a:t>Entreprise sur laquelle deux parties ou plus exercent un </a:t>
            </a:r>
            <a:r>
              <a:rPr lang="fr-CA" sz="2400" b="1" i="0" dirty="0">
                <a:solidFill>
                  <a:srgbClr val="444444"/>
                </a:solidFill>
                <a:effectLst/>
                <a:latin typeface="Gotham A"/>
              </a:rPr>
              <a:t>contrôle conjoint</a:t>
            </a:r>
            <a:r>
              <a:rPr lang="fr-CA" sz="2400" b="0" i="0" dirty="0">
                <a:solidFill>
                  <a:srgbClr val="444444"/>
                </a:solidFill>
                <a:effectLst/>
                <a:latin typeface="Gotham A"/>
              </a:rPr>
              <a:t>.</a:t>
            </a:r>
          </a:p>
          <a:p>
            <a:pPr marL="0" indent="0">
              <a:buNone/>
            </a:pPr>
            <a:endParaRPr lang="fr-CA" sz="2400" dirty="0"/>
          </a:p>
          <a:p>
            <a:pPr marL="0" indent="0">
              <a:buNone/>
            </a:pPr>
            <a:r>
              <a:rPr lang="fr-CA" sz="2400" dirty="0"/>
              <a:t>5     Le partenariat possède les caractéristiques suivantes :</a:t>
            </a:r>
          </a:p>
          <a:p>
            <a:pPr marL="1166813" indent="-714375">
              <a:buNone/>
            </a:pPr>
            <a:r>
              <a:rPr lang="fr-CA" sz="2400" dirty="0"/>
              <a:t>(a)   les parties sont liées par un accord contractuel ;</a:t>
            </a:r>
          </a:p>
          <a:p>
            <a:pPr marL="1166813" indent="-714375">
              <a:buNone/>
            </a:pPr>
            <a:r>
              <a:rPr lang="fr-CA" sz="2400" dirty="0"/>
              <a:t>(b)   l'accord contractuel confère à deux parties ou plus le contrôle conjoint de l'entreprise </a:t>
            </a:r>
          </a:p>
          <a:p>
            <a:pPr marL="1166813" indent="-714375">
              <a:buNone/>
            </a:pPr>
            <a:endParaRPr lang="fr-CA" sz="2400" dirty="0"/>
          </a:p>
          <a:p>
            <a:pPr marL="0" indent="0">
              <a:buNone/>
            </a:pPr>
            <a:r>
              <a:rPr lang="fr-CA" sz="2400" dirty="0"/>
              <a:t>6     Un partenariat est soit une </a:t>
            </a:r>
            <a:r>
              <a:rPr lang="fr-CA" sz="2400" i="1" dirty="0"/>
              <a:t>entreprise commune</a:t>
            </a:r>
            <a:r>
              <a:rPr lang="fr-CA" sz="2400" dirty="0"/>
              <a:t>, soit une </a:t>
            </a:r>
            <a:r>
              <a:rPr lang="fr-CA" sz="2400" i="1" dirty="0"/>
              <a:t>coentreprise</a:t>
            </a:r>
            <a:r>
              <a:rPr lang="fr-CA" sz="2400" dirty="0"/>
              <a:t>.</a:t>
            </a:r>
          </a:p>
        </p:txBody>
      </p:sp>
      <p:sp>
        <p:nvSpPr>
          <p:cNvPr id="4" name="Espace réservé du pied de page 3">
            <a:extLst>
              <a:ext uri="{FF2B5EF4-FFF2-40B4-BE49-F238E27FC236}">
                <a16:creationId xmlns:a16="http://schemas.microsoft.com/office/drawing/2014/main" id="{D2CE81CF-3823-862A-133B-65B82E01DC5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DE49EBC-8F46-110C-4CC8-B43256B05077}"/>
              </a:ext>
            </a:extLst>
          </p:cNvPr>
          <p:cNvSpPr>
            <a:spLocks noGrp="1"/>
          </p:cNvSpPr>
          <p:nvPr>
            <p:ph type="sldNum" sz="quarter" idx="12"/>
          </p:nvPr>
        </p:nvSpPr>
        <p:spPr/>
        <p:txBody>
          <a:bodyPr/>
          <a:lstStyle/>
          <a:p>
            <a:fld id="{BA55C67B-76F5-4A5A-9DE0-EA5E28301294}" type="slidenum">
              <a:rPr lang="fr-FR" smtClean="0"/>
              <a:t>19</a:t>
            </a:fld>
            <a:endParaRPr lang="fr-FR"/>
          </a:p>
        </p:txBody>
      </p:sp>
    </p:spTree>
    <p:extLst>
      <p:ext uri="{BB962C8B-B14F-4D97-AF65-F5344CB8AC3E}">
        <p14:creationId xmlns:p14="http://schemas.microsoft.com/office/powerpoint/2010/main" val="3605094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FBABB9-0E80-6512-A611-170D9B385DAD}"/>
              </a:ext>
            </a:extLst>
          </p:cNvPr>
          <p:cNvSpPr>
            <a:spLocks noGrp="1"/>
          </p:cNvSpPr>
          <p:nvPr>
            <p:ph type="title"/>
          </p:nvPr>
        </p:nvSpPr>
        <p:spPr/>
        <p:txBody>
          <a:bodyPr/>
          <a:lstStyle/>
          <a:p>
            <a:r>
              <a:rPr lang="fr-CA"/>
              <a:t>IFRS 11 </a:t>
            </a:r>
            <a:r>
              <a:rPr lang="fr-CA" i="1"/>
              <a:t>Partenariats – Annexe A </a:t>
            </a:r>
            <a:r>
              <a:rPr lang="fr-CA" sz="3600" i="1"/>
              <a:t>(ou par. 14 à 16)</a:t>
            </a:r>
            <a:endParaRPr lang="fr-FR"/>
          </a:p>
        </p:txBody>
      </p:sp>
      <p:sp>
        <p:nvSpPr>
          <p:cNvPr id="3" name="Espace réservé du contenu 2">
            <a:extLst>
              <a:ext uri="{FF2B5EF4-FFF2-40B4-BE49-F238E27FC236}">
                <a16:creationId xmlns:a16="http://schemas.microsoft.com/office/drawing/2014/main" id="{3437E170-3D82-4C2A-507B-B312732F59CB}"/>
              </a:ext>
            </a:extLst>
          </p:cNvPr>
          <p:cNvSpPr>
            <a:spLocks noGrp="1"/>
          </p:cNvSpPr>
          <p:nvPr>
            <p:ph idx="1"/>
          </p:nvPr>
        </p:nvSpPr>
        <p:spPr>
          <a:xfrm>
            <a:off x="838200" y="1825624"/>
            <a:ext cx="10515600" cy="4667251"/>
          </a:xfrm>
        </p:spPr>
        <p:txBody>
          <a:bodyPr>
            <a:normAutofit fontScale="92500" lnSpcReduction="20000"/>
          </a:bodyPr>
          <a:lstStyle/>
          <a:p>
            <a:pPr marL="0" indent="0" algn="l">
              <a:buNone/>
            </a:pPr>
            <a:r>
              <a:rPr lang="fr-CA" i="0" dirty="0">
                <a:solidFill>
                  <a:srgbClr val="444444"/>
                </a:solidFill>
                <a:effectLst/>
                <a:latin typeface="Gotham A"/>
              </a:rPr>
              <a:t>14     L'entité doit déterminer le type de partenariat auquel elle participe. Le classement d'un partenariat en tant qu'entreprise commune ou que coentreprise est fonction des droits et des obligations des parties à l'entreprise.</a:t>
            </a:r>
          </a:p>
          <a:p>
            <a:pPr marL="0" indent="0" algn="l">
              <a:buNone/>
            </a:pPr>
            <a:endParaRPr lang="fr-CA" dirty="0">
              <a:solidFill>
                <a:srgbClr val="444444"/>
              </a:solidFill>
              <a:latin typeface="Gotham A"/>
            </a:endParaRPr>
          </a:p>
          <a:p>
            <a:pPr marL="0" indent="0" algn="l">
              <a:buNone/>
            </a:pPr>
            <a:r>
              <a:rPr lang="fr-FR" b="1" dirty="0">
                <a:solidFill>
                  <a:srgbClr val="444444"/>
                </a:solidFill>
                <a:latin typeface="Gotham A"/>
              </a:rPr>
              <a:t>E</a:t>
            </a:r>
            <a:r>
              <a:rPr lang="fr-FR" b="1" i="0" dirty="0">
                <a:solidFill>
                  <a:srgbClr val="444444"/>
                </a:solidFill>
                <a:effectLst/>
                <a:latin typeface="Gotham A"/>
              </a:rPr>
              <a:t>ntreprise commune : </a:t>
            </a:r>
            <a:r>
              <a:rPr lang="fr-CA" b="1" i="0" dirty="0">
                <a:solidFill>
                  <a:srgbClr val="444444"/>
                </a:solidFill>
                <a:effectLst/>
                <a:latin typeface="Gotham A"/>
              </a:rPr>
              <a:t>Partenariat</a:t>
            </a:r>
            <a:r>
              <a:rPr lang="fr-CA" b="0" i="0" dirty="0">
                <a:solidFill>
                  <a:srgbClr val="444444"/>
                </a:solidFill>
                <a:effectLst/>
                <a:latin typeface="Gotham A"/>
              </a:rPr>
              <a:t> dans lequel les parties qui exercent un </a:t>
            </a:r>
            <a:r>
              <a:rPr lang="fr-CA" b="1" i="0" dirty="0">
                <a:solidFill>
                  <a:srgbClr val="444444"/>
                </a:solidFill>
                <a:effectLst/>
                <a:latin typeface="Gotham A"/>
              </a:rPr>
              <a:t>contrôle conjoint</a:t>
            </a:r>
            <a:r>
              <a:rPr lang="fr-CA" b="0" i="0" dirty="0">
                <a:solidFill>
                  <a:srgbClr val="444444"/>
                </a:solidFill>
                <a:effectLst/>
                <a:latin typeface="Gotham A"/>
              </a:rPr>
              <a:t> sur l'entreprise ont </a:t>
            </a:r>
            <a:r>
              <a:rPr lang="fr-CA" b="0" i="0" u="sng" dirty="0">
                <a:solidFill>
                  <a:srgbClr val="444444"/>
                </a:solidFill>
                <a:effectLst/>
                <a:latin typeface="Gotham A"/>
              </a:rPr>
              <a:t>des droits sur les actifs, et des obligations au titre des passifs</a:t>
            </a:r>
            <a:r>
              <a:rPr lang="fr-CA" b="0" i="0" dirty="0">
                <a:solidFill>
                  <a:srgbClr val="444444"/>
                </a:solidFill>
                <a:effectLst/>
                <a:latin typeface="Gotham A"/>
              </a:rPr>
              <a:t>, relatifs à celle-ci.</a:t>
            </a:r>
          </a:p>
          <a:p>
            <a:pPr algn="l">
              <a:buFont typeface="Wingdings" panose="05000000000000000000" pitchFamily="2" charset="2"/>
              <a:buChar char="Ø"/>
            </a:pPr>
            <a:r>
              <a:rPr lang="fr-CA" b="0" i="0" dirty="0">
                <a:solidFill>
                  <a:srgbClr val="444444"/>
                </a:solidFill>
                <a:effectLst/>
                <a:latin typeface="Gotham A"/>
              </a:rPr>
              <a:t> </a:t>
            </a:r>
            <a:r>
              <a:rPr lang="fr-CA" b="0" i="1" dirty="0">
                <a:solidFill>
                  <a:srgbClr val="444444"/>
                </a:solidFill>
                <a:effectLst/>
                <a:latin typeface="Gotham A"/>
              </a:rPr>
              <a:t>Partage d’activités, partage d’actifs…</a:t>
            </a:r>
          </a:p>
          <a:p>
            <a:pPr marL="0" indent="0" algn="l">
              <a:buNone/>
            </a:pPr>
            <a:endParaRPr lang="fr-CA" dirty="0">
              <a:solidFill>
                <a:srgbClr val="444444"/>
              </a:solidFill>
              <a:latin typeface="Gotham A"/>
            </a:endParaRPr>
          </a:p>
          <a:p>
            <a:pPr marL="0" indent="0" algn="l">
              <a:buNone/>
            </a:pPr>
            <a:r>
              <a:rPr lang="fr-FR" b="1" dirty="0">
                <a:solidFill>
                  <a:srgbClr val="444444"/>
                </a:solidFill>
                <a:latin typeface="Gotham A"/>
              </a:rPr>
              <a:t>C</a:t>
            </a:r>
            <a:r>
              <a:rPr lang="fr-FR" b="1" i="0" dirty="0">
                <a:solidFill>
                  <a:srgbClr val="444444"/>
                </a:solidFill>
                <a:effectLst/>
                <a:latin typeface="Gotham A"/>
              </a:rPr>
              <a:t>oentreprise : </a:t>
            </a:r>
            <a:r>
              <a:rPr lang="fr-CA" b="1" i="0" dirty="0">
                <a:solidFill>
                  <a:srgbClr val="444444"/>
                </a:solidFill>
                <a:effectLst/>
                <a:latin typeface="Gotham A"/>
              </a:rPr>
              <a:t>Partenariat</a:t>
            </a:r>
            <a:r>
              <a:rPr lang="fr-CA" b="0" i="0" dirty="0">
                <a:solidFill>
                  <a:srgbClr val="444444"/>
                </a:solidFill>
                <a:effectLst/>
                <a:latin typeface="Gotham A"/>
              </a:rPr>
              <a:t> dans lequel les parties qui exercent un </a:t>
            </a:r>
            <a:r>
              <a:rPr lang="fr-CA" b="1" i="0" dirty="0">
                <a:solidFill>
                  <a:srgbClr val="444444"/>
                </a:solidFill>
                <a:effectLst/>
                <a:latin typeface="Gotham A"/>
              </a:rPr>
              <a:t>contrôle conjoint</a:t>
            </a:r>
            <a:r>
              <a:rPr lang="fr-CA" b="0" i="0" dirty="0">
                <a:solidFill>
                  <a:srgbClr val="444444"/>
                </a:solidFill>
                <a:effectLst/>
                <a:latin typeface="Gotham A"/>
              </a:rPr>
              <a:t> sur l'entreprise ont </a:t>
            </a:r>
            <a:r>
              <a:rPr lang="fr-CA" b="0" i="0" u="sng" dirty="0">
                <a:solidFill>
                  <a:srgbClr val="444444"/>
                </a:solidFill>
                <a:effectLst/>
                <a:latin typeface="Gotham A"/>
              </a:rPr>
              <a:t>des droits sur l'actif net </a:t>
            </a:r>
            <a:r>
              <a:rPr lang="fr-CA" b="0" i="0" dirty="0">
                <a:solidFill>
                  <a:srgbClr val="444444"/>
                </a:solidFill>
                <a:effectLst/>
                <a:latin typeface="Gotham A"/>
              </a:rPr>
              <a:t>de celle-ci.</a:t>
            </a:r>
          </a:p>
          <a:p>
            <a:pPr algn="l">
              <a:buFont typeface="Wingdings" panose="05000000000000000000" pitchFamily="2" charset="2"/>
              <a:buChar char="Ø"/>
            </a:pPr>
            <a:r>
              <a:rPr lang="fr-CA" i="1" dirty="0">
                <a:solidFill>
                  <a:srgbClr val="444444"/>
                </a:solidFill>
                <a:latin typeface="Gotham A"/>
              </a:rPr>
              <a:t>Nécessairement une entreprise</a:t>
            </a:r>
            <a:endParaRPr lang="fr-CA" b="1" i="1" dirty="0">
              <a:solidFill>
                <a:srgbClr val="444444"/>
              </a:solidFill>
              <a:effectLst/>
              <a:latin typeface="Gotham A"/>
            </a:endParaRPr>
          </a:p>
        </p:txBody>
      </p:sp>
      <p:sp>
        <p:nvSpPr>
          <p:cNvPr id="4" name="Espace réservé du pied de page 3">
            <a:extLst>
              <a:ext uri="{FF2B5EF4-FFF2-40B4-BE49-F238E27FC236}">
                <a16:creationId xmlns:a16="http://schemas.microsoft.com/office/drawing/2014/main" id="{94658FAF-9396-E3D0-3A00-4343C7F67F6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26B7890-D3A2-1B67-DCBC-0405BFBCBC36}"/>
              </a:ext>
            </a:extLst>
          </p:cNvPr>
          <p:cNvSpPr>
            <a:spLocks noGrp="1"/>
          </p:cNvSpPr>
          <p:nvPr>
            <p:ph type="sldNum" sz="quarter" idx="12"/>
          </p:nvPr>
        </p:nvSpPr>
        <p:spPr/>
        <p:txBody>
          <a:bodyPr/>
          <a:lstStyle/>
          <a:p>
            <a:fld id="{098D0D95-D6EB-4994-ACE5-44EFFB481EBC}" type="slidenum">
              <a:rPr lang="fr-FR" smtClean="0"/>
              <a:t>20</a:t>
            </a:fld>
            <a:endParaRPr lang="fr-FR"/>
          </a:p>
        </p:txBody>
      </p:sp>
    </p:spTree>
    <p:extLst>
      <p:ext uri="{BB962C8B-B14F-4D97-AF65-F5344CB8AC3E}">
        <p14:creationId xmlns:p14="http://schemas.microsoft.com/office/powerpoint/2010/main" val="2386401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50D204-A684-42D9-B11D-3FBB48A70A7F}"/>
              </a:ext>
            </a:extLst>
          </p:cNvPr>
          <p:cNvSpPr>
            <a:spLocks noGrp="1"/>
          </p:cNvSpPr>
          <p:nvPr>
            <p:ph type="title"/>
          </p:nvPr>
        </p:nvSpPr>
        <p:spPr/>
        <p:txBody>
          <a:bodyPr/>
          <a:lstStyle/>
          <a:p>
            <a:r>
              <a:rPr lang="fr-CA" dirty="0"/>
              <a:t>Partenariat – IFRS 11</a:t>
            </a:r>
            <a:endParaRPr lang="fr-FR" dirty="0"/>
          </a:p>
        </p:txBody>
      </p:sp>
      <p:sp>
        <p:nvSpPr>
          <p:cNvPr id="3" name="Espace réservé du contenu 2">
            <a:extLst>
              <a:ext uri="{FF2B5EF4-FFF2-40B4-BE49-F238E27FC236}">
                <a16:creationId xmlns:a16="http://schemas.microsoft.com/office/drawing/2014/main" id="{F7DCE42C-3F80-4ED0-AF97-FD93B194DA71}"/>
              </a:ext>
            </a:extLst>
          </p:cNvPr>
          <p:cNvSpPr>
            <a:spLocks noGrp="1"/>
          </p:cNvSpPr>
          <p:nvPr>
            <p:ph idx="1"/>
          </p:nvPr>
        </p:nvSpPr>
        <p:spPr>
          <a:xfrm>
            <a:off x="838200" y="1355834"/>
            <a:ext cx="10515600" cy="5137041"/>
          </a:xfrm>
        </p:spPr>
        <p:txBody>
          <a:bodyPr>
            <a:normAutofit fontScale="47500" lnSpcReduction="20000"/>
          </a:bodyPr>
          <a:lstStyle/>
          <a:p>
            <a:pPr marL="0" indent="0">
              <a:buNone/>
            </a:pPr>
            <a:r>
              <a:rPr lang="fr-CA" sz="4000" b="1" dirty="0"/>
              <a:t>Entreprises communes</a:t>
            </a:r>
          </a:p>
          <a:p>
            <a:pPr marL="0" indent="0">
              <a:buNone/>
            </a:pPr>
            <a:r>
              <a:rPr lang="fr-CA" sz="4000" dirty="0"/>
              <a:t>20     Le coparticipant doit comptabiliser les éléments suivants relativement à ses intérêts dans une entreprise commune :</a:t>
            </a:r>
          </a:p>
          <a:p>
            <a:pPr marL="1250950" indent="-620713">
              <a:buNone/>
            </a:pPr>
            <a:r>
              <a:rPr lang="fr-CA" sz="4000" dirty="0"/>
              <a:t>(a)     ses actifs, y compris sa quote-part des actifs détenus conjointement, le cas échéant ;</a:t>
            </a:r>
          </a:p>
          <a:p>
            <a:pPr marL="1250950" indent="-620713">
              <a:buNone/>
            </a:pPr>
            <a:r>
              <a:rPr lang="fr-CA" sz="4000" dirty="0"/>
              <a:t>(b)     ses passifs, y compris sa quote-part des passifs assumés conjointement, le cas échéant ;</a:t>
            </a:r>
          </a:p>
          <a:p>
            <a:pPr marL="1250950" indent="-620713">
              <a:buNone/>
            </a:pPr>
            <a:r>
              <a:rPr lang="fr-CA" sz="4000" dirty="0"/>
              <a:t>(c)     les produits qu'il a tirés de la vente de sa quote-part de la production générée par l'entreprise commune ;</a:t>
            </a:r>
          </a:p>
          <a:p>
            <a:pPr marL="1250950" indent="-620713">
              <a:buNone/>
            </a:pPr>
            <a:r>
              <a:rPr lang="fr-CA" sz="4000" dirty="0"/>
              <a:t>(d)     sa quote-part des produits tirés de la vente de la production générée par l'entreprise commune ;</a:t>
            </a:r>
          </a:p>
          <a:p>
            <a:pPr marL="1250950" indent="-620713">
              <a:buNone/>
            </a:pPr>
            <a:r>
              <a:rPr lang="fr-CA" sz="4000" dirty="0"/>
              <a:t>(e)     les charges qu'il a engagées, y compris sa quote-part des charges engagées conjointement, le cas échéant.</a:t>
            </a:r>
          </a:p>
          <a:p>
            <a:pPr marL="1250950" indent="-620713">
              <a:buNone/>
            </a:pPr>
            <a:r>
              <a:rPr lang="fr-CA" sz="4000" b="1" i="1" dirty="0">
                <a:solidFill>
                  <a:srgbClr val="0070C0"/>
                </a:solidFill>
                <a:latin typeface="Gotham A"/>
              </a:rPr>
              <a:t> Bref, doit comptabiliser les différents postes de l’entreprise commune à sa quote-part</a:t>
            </a:r>
            <a:endParaRPr lang="fr-CA" sz="4000" b="1" i="1" dirty="0">
              <a:solidFill>
                <a:srgbClr val="0070C0"/>
              </a:solidFill>
              <a:effectLst/>
              <a:latin typeface="Gotham A"/>
            </a:endParaRPr>
          </a:p>
          <a:p>
            <a:pPr marL="1250950" indent="-620713">
              <a:buNone/>
            </a:pPr>
            <a:endParaRPr lang="fr-CA" sz="4000" dirty="0"/>
          </a:p>
          <a:p>
            <a:pPr marL="0" indent="0">
              <a:buNone/>
            </a:pPr>
            <a:r>
              <a:rPr lang="fr-CA" sz="4000" b="1" dirty="0"/>
              <a:t>Coentreprises</a:t>
            </a:r>
          </a:p>
          <a:p>
            <a:pPr marL="0" indent="0">
              <a:buNone/>
            </a:pPr>
            <a:r>
              <a:rPr lang="fr-CA" sz="4000" dirty="0"/>
              <a:t>24     Un </a:t>
            </a:r>
            <a:r>
              <a:rPr lang="fr-CA" sz="4000" dirty="0" err="1"/>
              <a:t>coentrepreneur</a:t>
            </a:r>
            <a:r>
              <a:rPr lang="fr-CA" sz="4000" dirty="0"/>
              <a:t> doit comptabiliser ses intérêts dans une coentreprise à titre de participation selon la méthode de la mise en équivalence, conformément à IAS 28 </a:t>
            </a:r>
            <a:r>
              <a:rPr lang="fr-CA" sz="4000" i="1" dirty="0"/>
              <a:t>Participations dans des entreprises associées et des coentreprises</a:t>
            </a:r>
            <a:r>
              <a:rPr lang="fr-CA" sz="4000" dirty="0"/>
              <a:t>, sauf si l'entité est exemptée de l'application de la méthode de la mise en équivalence selon les dispositions de cette norme.</a:t>
            </a:r>
          </a:p>
          <a:p>
            <a:pPr marL="1250950" indent="-620713">
              <a:buNone/>
            </a:pPr>
            <a:endParaRPr lang="fr-CA" dirty="0"/>
          </a:p>
          <a:p>
            <a:pPr marL="0" indent="0">
              <a:buNone/>
            </a:pPr>
            <a:endParaRPr lang="fr-FR" dirty="0"/>
          </a:p>
        </p:txBody>
      </p:sp>
      <p:sp>
        <p:nvSpPr>
          <p:cNvPr id="4" name="Espace réservé du pied de page 3">
            <a:extLst>
              <a:ext uri="{FF2B5EF4-FFF2-40B4-BE49-F238E27FC236}">
                <a16:creationId xmlns:a16="http://schemas.microsoft.com/office/drawing/2014/main" id="{69BF1F34-62BF-42B2-82AB-71681502BC2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139080D-52A6-47CF-8CA7-C8E735BA34EF}"/>
              </a:ext>
            </a:extLst>
          </p:cNvPr>
          <p:cNvSpPr>
            <a:spLocks noGrp="1"/>
          </p:cNvSpPr>
          <p:nvPr>
            <p:ph type="sldNum" sz="quarter" idx="12"/>
          </p:nvPr>
        </p:nvSpPr>
        <p:spPr/>
        <p:txBody>
          <a:bodyPr/>
          <a:lstStyle/>
          <a:p>
            <a:fld id="{6742B2D9-3BE5-4388-BF10-DC81BED15C57}" type="slidenum">
              <a:rPr lang="fr-FR" smtClean="0"/>
              <a:t>21</a:t>
            </a:fld>
            <a:endParaRPr lang="fr-FR"/>
          </a:p>
        </p:txBody>
      </p:sp>
    </p:spTree>
    <p:extLst>
      <p:ext uri="{BB962C8B-B14F-4D97-AF65-F5344CB8AC3E}">
        <p14:creationId xmlns:p14="http://schemas.microsoft.com/office/powerpoint/2010/main" val="3669532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FBABB9-0E80-6512-A611-170D9B385DAD}"/>
              </a:ext>
            </a:extLst>
          </p:cNvPr>
          <p:cNvSpPr>
            <a:spLocks noGrp="1"/>
          </p:cNvSpPr>
          <p:nvPr>
            <p:ph type="title"/>
          </p:nvPr>
        </p:nvSpPr>
        <p:spPr/>
        <p:txBody>
          <a:bodyPr/>
          <a:lstStyle/>
          <a:p>
            <a:r>
              <a:rPr lang="fr-CA"/>
              <a:t>Entreprises communes</a:t>
            </a:r>
            <a:endParaRPr lang="fr-FR"/>
          </a:p>
        </p:txBody>
      </p:sp>
      <p:sp>
        <p:nvSpPr>
          <p:cNvPr id="3" name="Espace réservé du contenu 2">
            <a:extLst>
              <a:ext uri="{FF2B5EF4-FFF2-40B4-BE49-F238E27FC236}">
                <a16:creationId xmlns:a16="http://schemas.microsoft.com/office/drawing/2014/main" id="{3437E170-3D82-4C2A-507B-B312732F59CB}"/>
              </a:ext>
            </a:extLst>
          </p:cNvPr>
          <p:cNvSpPr>
            <a:spLocks noGrp="1"/>
          </p:cNvSpPr>
          <p:nvPr>
            <p:ph idx="1"/>
          </p:nvPr>
        </p:nvSpPr>
        <p:spPr>
          <a:xfrm>
            <a:off x="838200" y="1572322"/>
            <a:ext cx="10515600" cy="4604641"/>
          </a:xfrm>
        </p:spPr>
        <p:txBody>
          <a:bodyPr>
            <a:normAutofit/>
          </a:bodyPr>
          <a:lstStyle/>
          <a:p>
            <a:pPr marL="0" indent="0" algn="l">
              <a:buNone/>
            </a:pPr>
            <a:r>
              <a:rPr lang="fr-CA" sz="2400" b="0" i="0">
                <a:solidFill>
                  <a:srgbClr val="444444"/>
                </a:solidFill>
                <a:effectLst/>
                <a:latin typeface="Gotham A"/>
              </a:rPr>
              <a:t>23     Une partie qui participe à une entreprise commune, sans toutefois exercer un contrôle conjoint sur celle-ci, doit elle aussi comptabiliser ses intérêts dans l'entreprise selon les paragraphes </a:t>
            </a:r>
            <a:r>
              <a:rPr lang="fr-CA" sz="2400" b="0" i="0" u="none" strike="noStrike">
                <a:solidFill>
                  <a:srgbClr val="006FBA"/>
                </a:solidFill>
                <a:effectLst/>
                <a:latin typeface="Gotham A"/>
              </a:rPr>
              <a:t>20</a:t>
            </a:r>
            <a:r>
              <a:rPr lang="fr-CA" sz="2400" b="0" i="0">
                <a:solidFill>
                  <a:srgbClr val="444444"/>
                </a:solidFill>
                <a:effectLst/>
                <a:latin typeface="Gotham A"/>
              </a:rPr>
              <a:t> à 22 si elle a des droits sur les actifs, et des obligations au titre des passifs, relatifs à l'entreprise commune. Si elle n'a pas de droit sur les actifs, ni d'obligation au titre des passifs, relatifs à l'entreprise commune, elle doit comptabiliser ses intérêts dans celle-ci conformément aux IFRS applicables au type d'intérêts dont il s'agit.</a:t>
            </a:r>
            <a:endParaRPr lang="fr-CA" b="1" i="1">
              <a:solidFill>
                <a:srgbClr val="0070C0"/>
              </a:solidFill>
              <a:effectLst/>
              <a:latin typeface="Gotham A"/>
            </a:endParaRPr>
          </a:p>
        </p:txBody>
      </p:sp>
      <p:sp>
        <p:nvSpPr>
          <p:cNvPr id="4" name="Espace réservé du pied de page 3">
            <a:extLst>
              <a:ext uri="{FF2B5EF4-FFF2-40B4-BE49-F238E27FC236}">
                <a16:creationId xmlns:a16="http://schemas.microsoft.com/office/drawing/2014/main" id="{94658FAF-9396-E3D0-3A00-4343C7F67F6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26B7890-D3A2-1B67-DCBC-0405BFBCBC36}"/>
              </a:ext>
            </a:extLst>
          </p:cNvPr>
          <p:cNvSpPr>
            <a:spLocks noGrp="1"/>
          </p:cNvSpPr>
          <p:nvPr>
            <p:ph type="sldNum" sz="quarter" idx="12"/>
          </p:nvPr>
        </p:nvSpPr>
        <p:spPr/>
        <p:txBody>
          <a:bodyPr/>
          <a:lstStyle/>
          <a:p>
            <a:fld id="{098D0D95-D6EB-4994-ACE5-44EFFB481EBC}" type="slidenum">
              <a:rPr lang="fr-FR" smtClean="0"/>
              <a:t>22</a:t>
            </a:fld>
            <a:endParaRPr lang="fr-FR"/>
          </a:p>
        </p:txBody>
      </p:sp>
    </p:spTree>
    <p:extLst>
      <p:ext uri="{BB962C8B-B14F-4D97-AF65-F5344CB8AC3E}">
        <p14:creationId xmlns:p14="http://schemas.microsoft.com/office/powerpoint/2010/main" val="107098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FBABB9-0E80-6512-A611-170D9B385DAD}"/>
              </a:ext>
            </a:extLst>
          </p:cNvPr>
          <p:cNvSpPr>
            <a:spLocks noGrp="1"/>
          </p:cNvSpPr>
          <p:nvPr>
            <p:ph type="title"/>
          </p:nvPr>
        </p:nvSpPr>
        <p:spPr/>
        <p:txBody>
          <a:bodyPr/>
          <a:lstStyle/>
          <a:p>
            <a:r>
              <a:rPr lang="fr-CA"/>
              <a:t>Coentreprises</a:t>
            </a:r>
            <a:endParaRPr lang="fr-FR"/>
          </a:p>
        </p:txBody>
      </p:sp>
      <p:sp>
        <p:nvSpPr>
          <p:cNvPr id="3" name="Espace réservé du contenu 2">
            <a:extLst>
              <a:ext uri="{FF2B5EF4-FFF2-40B4-BE49-F238E27FC236}">
                <a16:creationId xmlns:a16="http://schemas.microsoft.com/office/drawing/2014/main" id="{3437E170-3D82-4C2A-507B-B312732F59CB}"/>
              </a:ext>
            </a:extLst>
          </p:cNvPr>
          <p:cNvSpPr>
            <a:spLocks noGrp="1"/>
          </p:cNvSpPr>
          <p:nvPr>
            <p:ph idx="1"/>
          </p:nvPr>
        </p:nvSpPr>
        <p:spPr>
          <a:xfrm>
            <a:off x="838200" y="1572322"/>
            <a:ext cx="10515600" cy="4604641"/>
          </a:xfrm>
        </p:spPr>
        <p:txBody>
          <a:bodyPr>
            <a:normAutofit/>
          </a:bodyPr>
          <a:lstStyle/>
          <a:p>
            <a:pPr marL="0" indent="0" algn="l">
              <a:buNone/>
            </a:pPr>
            <a:r>
              <a:rPr lang="fr-CA" sz="2400" b="1" i="0">
                <a:solidFill>
                  <a:srgbClr val="444444"/>
                </a:solidFill>
                <a:effectLst/>
                <a:latin typeface="Gotham A"/>
              </a:rPr>
              <a:t>24     Un </a:t>
            </a:r>
            <a:r>
              <a:rPr lang="fr-CA" sz="2400" b="1" i="0" err="1">
                <a:solidFill>
                  <a:srgbClr val="444444"/>
                </a:solidFill>
                <a:effectLst/>
                <a:latin typeface="Gotham A"/>
              </a:rPr>
              <a:t>coentrepreneur</a:t>
            </a:r>
            <a:r>
              <a:rPr lang="fr-CA" sz="2400" b="1" i="0">
                <a:solidFill>
                  <a:srgbClr val="444444"/>
                </a:solidFill>
                <a:effectLst/>
                <a:latin typeface="Gotham A"/>
              </a:rPr>
              <a:t> doit comptabiliser ses intérêts dans une coentreprise à titre de participation selon la méthode de la mise en équivalence, conformément à </a:t>
            </a:r>
            <a:r>
              <a:rPr lang="fr-CA" sz="2400" b="1" i="0" u="none" strike="noStrike">
                <a:solidFill>
                  <a:srgbClr val="006FBA"/>
                </a:solidFill>
                <a:effectLst/>
                <a:latin typeface="Gotham A"/>
                <a:hlinkClick r:id="rId2"/>
              </a:rPr>
              <a:t>IAS 28</a:t>
            </a:r>
            <a:r>
              <a:rPr lang="fr-CA" sz="2400" b="1" i="0">
                <a:solidFill>
                  <a:srgbClr val="444444"/>
                </a:solidFill>
                <a:effectLst/>
                <a:latin typeface="Gotham A"/>
              </a:rPr>
              <a:t> </a:t>
            </a:r>
            <a:r>
              <a:rPr lang="fr-CA" sz="2400" b="1" i="1">
                <a:solidFill>
                  <a:srgbClr val="444444"/>
                </a:solidFill>
                <a:effectLst/>
                <a:latin typeface="Gotham A"/>
              </a:rPr>
              <a:t>Participations dans des entreprises associées et des coentreprises</a:t>
            </a:r>
            <a:r>
              <a:rPr lang="fr-CA" sz="2400" b="1" i="0">
                <a:solidFill>
                  <a:srgbClr val="444444"/>
                </a:solidFill>
                <a:effectLst/>
                <a:latin typeface="Gotham A"/>
              </a:rPr>
              <a:t>, sauf si l'entité est exemptée de l'application de la méthode de la mise en équivalence selon les dispositions de cette norme.</a:t>
            </a:r>
          </a:p>
          <a:p>
            <a:pPr marL="0" indent="0" algn="l">
              <a:buNone/>
            </a:pPr>
            <a:endParaRPr lang="fr-CA" sz="2400" b="1">
              <a:solidFill>
                <a:srgbClr val="444444"/>
              </a:solidFill>
              <a:latin typeface="Gotham A"/>
            </a:endParaRPr>
          </a:p>
          <a:p>
            <a:pPr marL="0" indent="0" algn="l">
              <a:buNone/>
            </a:pPr>
            <a:r>
              <a:rPr lang="fr-CA" sz="2400" b="0" i="0">
                <a:solidFill>
                  <a:srgbClr val="444444"/>
                </a:solidFill>
                <a:effectLst/>
                <a:latin typeface="Gotham A"/>
              </a:rPr>
              <a:t>25     Une partie qui participe à une coentreprise sans toutefois exercer un contrôle conjoint sur celle-ci doit comptabiliser ses intérêts dans l'entreprise selon </a:t>
            </a:r>
            <a:r>
              <a:rPr lang="fr-CA" sz="2400" b="0" i="0" u="none" strike="noStrike">
                <a:solidFill>
                  <a:srgbClr val="006FBA"/>
                </a:solidFill>
                <a:effectLst/>
                <a:latin typeface="Gotham A"/>
                <a:hlinkClick r:id="rId2"/>
              </a:rPr>
              <a:t>IFRS 9</a:t>
            </a:r>
            <a:r>
              <a:rPr lang="fr-CA" sz="2400" b="0" i="0">
                <a:solidFill>
                  <a:srgbClr val="444444"/>
                </a:solidFill>
                <a:effectLst/>
                <a:latin typeface="Gotham A"/>
              </a:rPr>
              <a:t> </a:t>
            </a:r>
            <a:r>
              <a:rPr lang="fr-CA" sz="2400" b="0" i="1">
                <a:solidFill>
                  <a:srgbClr val="444444"/>
                </a:solidFill>
                <a:effectLst/>
                <a:latin typeface="Gotham A"/>
              </a:rPr>
              <a:t>Instruments financiers</a:t>
            </a:r>
            <a:r>
              <a:rPr lang="fr-CA" sz="2400" b="0" i="0">
                <a:solidFill>
                  <a:srgbClr val="444444"/>
                </a:solidFill>
                <a:effectLst/>
                <a:latin typeface="Gotham A"/>
              </a:rPr>
              <a:t>, à moins qu'elle n'exerce une influence notable sur la coentreprise, auquel cas elle doit comptabiliser ses intérêts selon </a:t>
            </a:r>
            <a:r>
              <a:rPr lang="fr-CA" sz="2400" b="0" i="0" u="none" strike="noStrike">
                <a:solidFill>
                  <a:srgbClr val="006FBA"/>
                </a:solidFill>
                <a:effectLst/>
                <a:latin typeface="Gotham A"/>
              </a:rPr>
              <a:t>IAS 28</a:t>
            </a:r>
            <a:r>
              <a:rPr lang="fr-CA" sz="2400" b="0" i="0">
                <a:solidFill>
                  <a:srgbClr val="444444"/>
                </a:solidFill>
                <a:effectLst/>
                <a:latin typeface="Gotham A"/>
              </a:rPr>
              <a:t> </a:t>
            </a:r>
            <a:endParaRPr lang="fr-CA" b="1" i="1">
              <a:solidFill>
                <a:srgbClr val="0070C0"/>
              </a:solidFill>
              <a:effectLst/>
              <a:latin typeface="Gotham A"/>
            </a:endParaRPr>
          </a:p>
        </p:txBody>
      </p:sp>
      <p:sp>
        <p:nvSpPr>
          <p:cNvPr id="4" name="Espace réservé du pied de page 3">
            <a:extLst>
              <a:ext uri="{FF2B5EF4-FFF2-40B4-BE49-F238E27FC236}">
                <a16:creationId xmlns:a16="http://schemas.microsoft.com/office/drawing/2014/main" id="{94658FAF-9396-E3D0-3A00-4343C7F67F6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26B7890-D3A2-1B67-DCBC-0405BFBCBC36}"/>
              </a:ext>
            </a:extLst>
          </p:cNvPr>
          <p:cNvSpPr>
            <a:spLocks noGrp="1"/>
          </p:cNvSpPr>
          <p:nvPr>
            <p:ph type="sldNum" sz="quarter" idx="12"/>
          </p:nvPr>
        </p:nvSpPr>
        <p:spPr/>
        <p:txBody>
          <a:bodyPr/>
          <a:lstStyle/>
          <a:p>
            <a:fld id="{098D0D95-D6EB-4994-ACE5-44EFFB481EBC}" type="slidenum">
              <a:rPr lang="fr-FR" smtClean="0"/>
              <a:t>23</a:t>
            </a:fld>
            <a:endParaRPr lang="fr-FR"/>
          </a:p>
        </p:txBody>
      </p:sp>
    </p:spTree>
    <p:extLst>
      <p:ext uri="{BB962C8B-B14F-4D97-AF65-F5344CB8AC3E}">
        <p14:creationId xmlns:p14="http://schemas.microsoft.com/office/powerpoint/2010/main" val="1932034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71A88C-C232-FAD8-775D-0DD9FA623A12}"/>
              </a:ext>
            </a:extLst>
          </p:cNvPr>
          <p:cNvSpPr>
            <a:spLocks noGrp="1"/>
          </p:cNvSpPr>
          <p:nvPr>
            <p:ph type="title"/>
          </p:nvPr>
        </p:nvSpPr>
        <p:spPr/>
        <p:txBody>
          <a:bodyPr/>
          <a:lstStyle/>
          <a:p>
            <a:r>
              <a:rPr lang="fr-CA"/>
              <a:t>Enjeux : profit/perte non matérialisé</a:t>
            </a:r>
            <a:endParaRPr lang="fr-FR"/>
          </a:p>
        </p:txBody>
      </p:sp>
      <p:sp>
        <p:nvSpPr>
          <p:cNvPr id="3" name="Espace réservé du contenu 2">
            <a:extLst>
              <a:ext uri="{FF2B5EF4-FFF2-40B4-BE49-F238E27FC236}">
                <a16:creationId xmlns:a16="http://schemas.microsoft.com/office/drawing/2014/main" id="{80E26808-C3B8-EBD6-D49E-E2ABE742DCA2}"/>
              </a:ext>
            </a:extLst>
          </p:cNvPr>
          <p:cNvSpPr>
            <a:spLocks noGrp="1"/>
          </p:cNvSpPr>
          <p:nvPr>
            <p:ph idx="1"/>
          </p:nvPr>
        </p:nvSpPr>
        <p:spPr>
          <a:xfrm>
            <a:off x="838200" y="1583473"/>
            <a:ext cx="10515600" cy="4909402"/>
          </a:xfrm>
        </p:spPr>
        <p:txBody>
          <a:bodyPr>
            <a:normAutofit fontScale="77500" lnSpcReduction="20000"/>
          </a:bodyPr>
          <a:lstStyle/>
          <a:p>
            <a:pPr marL="0" indent="0">
              <a:buNone/>
            </a:pPr>
            <a:r>
              <a:rPr lang="fr-CA" sz="3600" dirty="0"/>
              <a:t>Quand il y a une transaction avec l’entreprise commune</a:t>
            </a:r>
          </a:p>
          <a:p>
            <a:pPr lvl="1"/>
            <a:r>
              <a:rPr lang="fr-CA" sz="3100" dirty="0"/>
              <a:t>Profit/perte sur la quote-part « à soi-même » ne peut être constaté</a:t>
            </a:r>
          </a:p>
          <a:p>
            <a:pPr lvl="1"/>
            <a:endParaRPr lang="fr-CA" dirty="0"/>
          </a:p>
          <a:p>
            <a:pPr marL="0" indent="0" algn="l">
              <a:buNone/>
            </a:pPr>
            <a:r>
              <a:rPr lang="fr-CA" b="1" i="0" dirty="0">
                <a:solidFill>
                  <a:srgbClr val="444444"/>
                </a:solidFill>
                <a:effectLst/>
                <a:latin typeface="Gotham A"/>
              </a:rPr>
              <a:t>Comptabilisation des ventes ou apports d'actifs à une entreprise commune</a:t>
            </a:r>
          </a:p>
          <a:p>
            <a:pPr marL="0" indent="0" algn="l">
              <a:buNone/>
            </a:pPr>
            <a:r>
              <a:rPr lang="fr-CA" b="0" i="0" dirty="0">
                <a:solidFill>
                  <a:srgbClr val="444444"/>
                </a:solidFill>
                <a:effectLst/>
                <a:latin typeface="Gotham A"/>
              </a:rPr>
              <a:t>B34   Lorsqu'une entité conclut une transaction telle qu'une vente ou un apport d'actifs avec une entreprise commune dans laquelle elle est un coparticipant, c'est avec les autres parties à l'entreprise commune qu'elle effectue la transaction. Par conséquent, le coparticipant doit comptabiliser les gains et les pertes découlant d'une telle transaction seulement à concurrence des intérêts des autres parties dans l'entreprise commune.</a:t>
            </a:r>
          </a:p>
          <a:p>
            <a:pPr marL="0" lvl="1" indent="0">
              <a:buNone/>
            </a:pPr>
            <a:endParaRPr lang="fr-CA" dirty="0"/>
          </a:p>
          <a:p>
            <a:pPr marL="0" indent="0" algn="l">
              <a:buNone/>
            </a:pPr>
            <a:r>
              <a:rPr lang="fr-CA" b="1" i="0" dirty="0">
                <a:solidFill>
                  <a:srgbClr val="444444"/>
                </a:solidFill>
                <a:effectLst/>
                <a:latin typeface="Gotham A"/>
              </a:rPr>
              <a:t>Comptabilisation des achats d'actifs auprès d'une entreprise commune</a:t>
            </a:r>
          </a:p>
          <a:p>
            <a:pPr marL="0" indent="0" algn="l">
              <a:buNone/>
            </a:pPr>
            <a:r>
              <a:rPr lang="fr-CA" b="0" i="0" dirty="0">
                <a:solidFill>
                  <a:srgbClr val="444444"/>
                </a:solidFill>
                <a:effectLst/>
                <a:latin typeface="Gotham A"/>
              </a:rPr>
              <a:t>B36   Lorsqu'une entité conclut une transaction telle qu'un achat d'actifs avec une entreprise commune dans laquelle elle est un coparticipant, elle ne doit pas comptabiliser sa quote-part des gains ou des pertes avant d'avoir revendu ces actifs à un tiers.</a:t>
            </a:r>
          </a:p>
        </p:txBody>
      </p:sp>
      <p:sp>
        <p:nvSpPr>
          <p:cNvPr id="4" name="Espace réservé du pied de page 3">
            <a:extLst>
              <a:ext uri="{FF2B5EF4-FFF2-40B4-BE49-F238E27FC236}">
                <a16:creationId xmlns:a16="http://schemas.microsoft.com/office/drawing/2014/main" id="{59C1E1A0-D03D-CA02-310D-66B14C18F6A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C5501C-82E7-772D-74C0-F6C02BB0AEB3}"/>
              </a:ext>
            </a:extLst>
          </p:cNvPr>
          <p:cNvSpPr>
            <a:spLocks noGrp="1"/>
          </p:cNvSpPr>
          <p:nvPr>
            <p:ph type="sldNum" sz="quarter" idx="12"/>
          </p:nvPr>
        </p:nvSpPr>
        <p:spPr/>
        <p:txBody>
          <a:bodyPr/>
          <a:lstStyle/>
          <a:p>
            <a:fld id="{098D0D95-D6EB-4994-ACE5-44EFFB481EBC}" type="slidenum">
              <a:rPr lang="fr-FR" smtClean="0"/>
              <a:t>24</a:t>
            </a:fld>
            <a:endParaRPr lang="fr-FR"/>
          </a:p>
        </p:txBody>
      </p:sp>
    </p:spTree>
    <p:extLst>
      <p:ext uri="{BB962C8B-B14F-4D97-AF65-F5344CB8AC3E}">
        <p14:creationId xmlns:p14="http://schemas.microsoft.com/office/powerpoint/2010/main" val="391520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6F08C-E167-6451-3457-68D8054824C1}"/>
              </a:ext>
            </a:extLst>
          </p:cNvPr>
          <p:cNvSpPr>
            <a:spLocks noGrp="1"/>
          </p:cNvSpPr>
          <p:nvPr>
            <p:ph type="title"/>
          </p:nvPr>
        </p:nvSpPr>
        <p:spPr/>
        <p:txBody>
          <a:bodyPr/>
          <a:lstStyle/>
          <a:p>
            <a:r>
              <a:rPr lang="fr-CA"/>
              <a:t>Quel type de partenariat?</a:t>
            </a:r>
            <a:endParaRPr lang="fr-FR"/>
          </a:p>
        </p:txBody>
      </p:sp>
      <p:sp>
        <p:nvSpPr>
          <p:cNvPr id="3" name="Espace réservé du contenu 2">
            <a:extLst>
              <a:ext uri="{FF2B5EF4-FFF2-40B4-BE49-F238E27FC236}">
                <a16:creationId xmlns:a16="http://schemas.microsoft.com/office/drawing/2014/main" id="{0F5202E5-F071-06DD-0383-B9178C7322DE}"/>
              </a:ext>
            </a:extLst>
          </p:cNvPr>
          <p:cNvSpPr>
            <a:spLocks noGrp="1"/>
          </p:cNvSpPr>
          <p:nvPr>
            <p:ph idx="1"/>
          </p:nvPr>
        </p:nvSpPr>
        <p:spPr/>
        <p:txBody>
          <a:bodyPr/>
          <a:lstStyle/>
          <a:p>
            <a:r>
              <a:rPr lang="fr-CA"/>
              <a:t>Y et Z détiennent chacun 50 % des actions avec droit de vote de A </a:t>
            </a:r>
            <a:r>
              <a:rPr lang="fr-CA" err="1"/>
              <a:t>inc.</a:t>
            </a:r>
            <a:endParaRPr lang="fr-CA"/>
          </a:p>
          <a:p>
            <a:r>
              <a:rPr lang="fr-CA"/>
              <a:t>A possède les droits sur ses actifs et assume ses passifs</a:t>
            </a:r>
          </a:p>
          <a:p>
            <a:r>
              <a:rPr lang="fr-CA"/>
              <a:t>Les créanciers n’ont pas de recours contre les actionnaires.</a:t>
            </a:r>
          </a:p>
          <a:p>
            <a:r>
              <a:rPr lang="fr-CA"/>
              <a:t>Aucun autre accord ne vient modifier les caractéristiques de la nouvelle entité.</a:t>
            </a:r>
          </a:p>
          <a:p>
            <a:endParaRPr lang="fr-CA"/>
          </a:p>
          <a:p>
            <a:pPr>
              <a:buFont typeface="Wingdings" panose="05000000000000000000" pitchFamily="2" charset="2"/>
              <a:buChar char="Ø"/>
            </a:pPr>
            <a:r>
              <a:rPr lang="fr-CA"/>
              <a:t> </a:t>
            </a:r>
            <a:r>
              <a:rPr lang="fr-CA" i="1"/>
              <a:t>Déterminer le type de partenariat</a:t>
            </a:r>
            <a:endParaRPr lang="fr-FR"/>
          </a:p>
        </p:txBody>
      </p:sp>
      <p:sp>
        <p:nvSpPr>
          <p:cNvPr id="4" name="Espace réservé du pied de page 3">
            <a:extLst>
              <a:ext uri="{FF2B5EF4-FFF2-40B4-BE49-F238E27FC236}">
                <a16:creationId xmlns:a16="http://schemas.microsoft.com/office/drawing/2014/main" id="{71578A35-F3D3-4331-0BB0-7D8B4B127DF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4917993-E2A2-962D-194C-0C41AD45479F}"/>
              </a:ext>
            </a:extLst>
          </p:cNvPr>
          <p:cNvSpPr>
            <a:spLocks noGrp="1"/>
          </p:cNvSpPr>
          <p:nvPr>
            <p:ph type="sldNum" sz="quarter" idx="12"/>
          </p:nvPr>
        </p:nvSpPr>
        <p:spPr/>
        <p:txBody>
          <a:bodyPr/>
          <a:lstStyle/>
          <a:p>
            <a:fld id="{098D0D95-D6EB-4994-ACE5-44EFFB481EBC}" type="slidenum">
              <a:rPr lang="fr-FR" smtClean="0"/>
              <a:t>25</a:t>
            </a:fld>
            <a:endParaRPr lang="fr-FR"/>
          </a:p>
        </p:txBody>
      </p:sp>
    </p:spTree>
    <p:extLst>
      <p:ext uri="{BB962C8B-B14F-4D97-AF65-F5344CB8AC3E}">
        <p14:creationId xmlns:p14="http://schemas.microsoft.com/office/powerpoint/2010/main" val="2540674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6F08C-E167-6451-3457-68D8054824C1}"/>
              </a:ext>
            </a:extLst>
          </p:cNvPr>
          <p:cNvSpPr>
            <a:spLocks noGrp="1"/>
          </p:cNvSpPr>
          <p:nvPr>
            <p:ph type="title"/>
          </p:nvPr>
        </p:nvSpPr>
        <p:spPr/>
        <p:txBody>
          <a:bodyPr/>
          <a:lstStyle/>
          <a:p>
            <a:r>
              <a:rPr lang="fr-CA"/>
              <a:t>Quel type de partenariat?</a:t>
            </a:r>
            <a:endParaRPr lang="fr-FR"/>
          </a:p>
        </p:txBody>
      </p:sp>
      <p:sp>
        <p:nvSpPr>
          <p:cNvPr id="3" name="Espace réservé du contenu 2">
            <a:extLst>
              <a:ext uri="{FF2B5EF4-FFF2-40B4-BE49-F238E27FC236}">
                <a16:creationId xmlns:a16="http://schemas.microsoft.com/office/drawing/2014/main" id="{0F5202E5-F071-06DD-0383-B9178C7322DE}"/>
              </a:ext>
            </a:extLst>
          </p:cNvPr>
          <p:cNvSpPr>
            <a:spLocks noGrp="1"/>
          </p:cNvSpPr>
          <p:nvPr>
            <p:ph idx="1"/>
          </p:nvPr>
        </p:nvSpPr>
        <p:spPr/>
        <p:txBody>
          <a:bodyPr/>
          <a:lstStyle/>
          <a:p>
            <a:pPr marL="0" indent="0">
              <a:buNone/>
            </a:pPr>
            <a:r>
              <a:rPr lang="fr-CA"/>
              <a:t>Y et Z ont des droits sur l’actif net de A. Il s’agit donc d’une coentreprise.</a:t>
            </a:r>
            <a:endParaRPr lang="fr-FR"/>
          </a:p>
        </p:txBody>
      </p:sp>
      <p:sp>
        <p:nvSpPr>
          <p:cNvPr id="4" name="Espace réservé du pied de page 3">
            <a:extLst>
              <a:ext uri="{FF2B5EF4-FFF2-40B4-BE49-F238E27FC236}">
                <a16:creationId xmlns:a16="http://schemas.microsoft.com/office/drawing/2014/main" id="{71578A35-F3D3-4331-0BB0-7D8B4B127DF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4917993-E2A2-962D-194C-0C41AD45479F}"/>
              </a:ext>
            </a:extLst>
          </p:cNvPr>
          <p:cNvSpPr>
            <a:spLocks noGrp="1"/>
          </p:cNvSpPr>
          <p:nvPr>
            <p:ph type="sldNum" sz="quarter" idx="12"/>
          </p:nvPr>
        </p:nvSpPr>
        <p:spPr/>
        <p:txBody>
          <a:bodyPr/>
          <a:lstStyle/>
          <a:p>
            <a:fld id="{098D0D95-D6EB-4994-ACE5-44EFFB481EBC}" type="slidenum">
              <a:rPr lang="fr-FR" smtClean="0"/>
              <a:t>26</a:t>
            </a:fld>
            <a:endParaRPr lang="fr-FR"/>
          </a:p>
        </p:txBody>
      </p:sp>
    </p:spTree>
    <p:extLst>
      <p:ext uri="{BB962C8B-B14F-4D97-AF65-F5344CB8AC3E}">
        <p14:creationId xmlns:p14="http://schemas.microsoft.com/office/powerpoint/2010/main" val="3881066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6F08C-E167-6451-3457-68D8054824C1}"/>
              </a:ext>
            </a:extLst>
          </p:cNvPr>
          <p:cNvSpPr>
            <a:spLocks noGrp="1"/>
          </p:cNvSpPr>
          <p:nvPr>
            <p:ph type="title"/>
          </p:nvPr>
        </p:nvSpPr>
        <p:spPr/>
        <p:txBody>
          <a:bodyPr/>
          <a:lstStyle/>
          <a:p>
            <a:r>
              <a:rPr lang="fr-CA"/>
              <a:t>Quel type de partenariat? exemple 2 </a:t>
            </a:r>
            <a:r>
              <a:rPr lang="fr-CA" i="1"/>
              <a:t>complexe</a:t>
            </a:r>
            <a:endParaRPr lang="fr-FR"/>
          </a:p>
        </p:txBody>
      </p:sp>
      <p:sp>
        <p:nvSpPr>
          <p:cNvPr id="3" name="Espace réservé du contenu 2">
            <a:extLst>
              <a:ext uri="{FF2B5EF4-FFF2-40B4-BE49-F238E27FC236}">
                <a16:creationId xmlns:a16="http://schemas.microsoft.com/office/drawing/2014/main" id="{0F5202E5-F071-06DD-0383-B9178C7322DE}"/>
              </a:ext>
            </a:extLst>
          </p:cNvPr>
          <p:cNvSpPr>
            <a:spLocks noGrp="1"/>
          </p:cNvSpPr>
          <p:nvPr>
            <p:ph idx="1"/>
          </p:nvPr>
        </p:nvSpPr>
        <p:spPr/>
        <p:txBody>
          <a:bodyPr>
            <a:normAutofit/>
          </a:bodyPr>
          <a:lstStyle/>
          <a:p>
            <a:r>
              <a:rPr lang="fr-CA"/>
              <a:t>Y et Z détiennent chacun 50 % des actions avec droit de vote de A </a:t>
            </a:r>
            <a:r>
              <a:rPr lang="fr-CA" err="1"/>
              <a:t>inc.</a:t>
            </a:r>
            <a:endParaRPr lang="fr-CA"/>
          </a:p>
          <a:p>
            <a:r>
              <a:rPr lang="fr-CA"/>
              <a:t>L’approvisionnement étant complexe, Y et Z ont créé A pour fabriquer des matériaux utilisés par Y et Z dans leur processus de fabrication.</a:t>
            </a:r>
          </a:p>
          <a:p>
            <a:r>
              <a:rPr lang="fr-CA"/>
              <a:t>Y et Z ont conclu un accord contractuel selon lequel ils achèteront chacun 50 % de la production de A. Au besoin A pourrait vendre à des tiers, mais uniquement si Y et Z y consentent unanimement.</a:t>
            </a:r>
          </a:p>
          <a:p>
            <a:endParaRPr lang="fr-CA"/>
          </a:p>
          <a:p>
            <a:pPr>
              <a:buFont typeface="Wingdings" panose="05000000000000000000" pitchFamily="2" charset="2"/>
              <a:buChar char="Ø"/>
            </a:pPr>
            <a:r>
              <a:rPr lang="fr-CA"/>
              <a:t> </a:t>
            </a:r>
            <a:r>
              <a:rPr lang="fr-CA" i="1"/>
              <a:t>Déterminer le type de partenariat</a:t>
            </a:r>
            <a:endParaRPr lang="fr-FR"/>
          </a:p>
        </p:txBody>
      </p:sp>
      <p:sp>
        <p:nvSpPr>
          <p:cNvPr id="4" name="Espace réservé du pied de page 3">
            <a:extLst>
              <a:ext uri="{FF2B5EF4-FFF2-40B4-BE49-F238E27FC236}">
                <a16:creationId xmlns:a16="http://schemas.microsoft.com/office/drawing/2014/main" id="{71578A35-F3D3-4331-0BB0-7D8B4B127DF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4917993-E2A2-962D-194C-0C41AD45479F}"/>
              </a:ext>
            </a:extLst>
          </p:cNvPr>
          <p:cNvSpPr>
            <a:spLocks noGrp="1"/>
          </p:cNvSpPr>
          <p:nvPr>
            <p:ph type="sldNum" sz="quarter" idx="12"/>
          </p:nvPr>
        </p:nvSpPr>
        <p:spPr/>
        <p:txBody>
          <a:bodyPr/>
          <a:lstStyle/>
          <a:p>
            <a:fld id="{098D0D95-D6EB-4994-ACE5-44EFFB481EBC}" type="slidenum">
              <a:rPr lang="fr-FR" smtClean="0"/>
              <a:t>27</a:t>
            </a:fld>
            <a:endParaRPr lang="fr-FR"/>
          </a:p>
        </p:txBody>
      </p:sp>
    </p:spTree>
    <p:extLst>
      <p:ext uri="{BB962C8B-B14F-4D97-AF65-F5344CB8AC3E}">
        <p14:creationId xmlns:p14="http://schemas.microsoft.com/office/powerpoint/2010/main" val="394283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6F08C-E167-6451-3457-68D8054824C1}"/>
              </a:ext>
            </a:extLst>
          </p:cNvPr>
          <p:cNvSpPr>
            <a:spLocks noGrp="1"/>
          </p:cNvSpPr>
          <p:nvPr>
            <p:ph type="title"/>
          </p:nvPr>
        </p:nvSpPr>
        <p:spPr/>
        <p:txBody>
          <a:bodyPr/>
          <a:lstStyle/>
          <a:p>
            <a:r>
              <a:rPr lang="fr-CA"/>
              <a:t>Quel type de partenariat?</a:t>
            </a:r>
            <a:endParaRPr lang="fr-FR"/>
          </a:p>
        </p:txBody>
      </p:sp>
      <p:sp>
        <p:nvSpPr>
          <p:cNvPr id="3" name="Espace réservé du contenu 2">
            <a:extLst>
              <a:ext uri="{FF2B5EF4-FFF2-40B4-BE49-F238E27FC236}">
                <a16:creationId xmlns:a16="http://schemas.microsoft.com/office/drawing/2014/main" id="{0F5202E5-F071-06DD-0383-B9178C7322DE}"/>
              </a:ext>
            </a:extLst>
          </p:cNvPr>
          <p:cNvSpPr>
            <a:spLocks noGrp="1"/>
          </p:cNvSpPr>
          <p:nvPr>
            <p:ph idx="1"/>
          </p:nvPr>
        </p:nvSpPr>
        <p:spPr/>
        <p:txBody>
          <a:bodyPr/>
          <a:lstStyle/>
          <a:p>
            <a:r>
              <a:rPr lang="fr-CA"/>
              <a:t>A dépend de Y et Z pour générer ses flux de trésorerie. </a:t>
            </a:r>
          </a:p>
          <a:p>
            <a:r>
              <a:rPr lang="fr-CA"/>
              <a:t>Y et Z consomment la totalité des avantages économiques des actifs de A.</a:t>
            </a:r>
          </a:p>
          <a:p>
            <a:r>
              <a:rPr lang="fr-CA"/>
              <a:t>Ils sont responsables de financer A pour le règlement de ses passifs.</a:t>
            </a:r>
          </a:p>
          <a:p>
            <a:endParaRPr lang="fr-CA"/>
          </a:p>
          <a:p>
            <a:pPr>
              <a:buFont typeface="Wingdings" panose="05000000000000000000" pitchFamily="2" charset="2"/>
              <a:buChar char="Ø"/>
            </a:pPr>
            <a:r>
              <a:rPr lang="fr-CA" i="1"/>
              <a:t>Cela en ferait une entreprise commune!</a:t>
            </a:r>
          </a:p>
          <a:p>
            <a:pPr>
              <a:buFont typeface="Wingdings" panose="05000000000000000000" pitchFamily="2" charset="2"/>
              <a:buChar char="Ø"/>
            </a:pPr>
            <a:r>
              <a:rPr lang="fr-CA" i="1"/>
              <a:t>Car les partenaires ont droit à la quote-part des actifs et assument leur quote-part des passifs.</a:t>
            </a:r>
            <a:endParaRPr lang="fr-FR" i="1"/>
          </a:p>
        </p:txBody>
      </p:sp>
      <p:sp>
        <p:nvSpPr>
          <p:cNvPr id="4" name="Espace réservé du pied de page 3">
            <a:extLst>
              <a:ext uri="{FF2B5EF4-FFF2-40B4-BE49-F238E27FC236}">
                <a16:creationId xmlns:a16="http://schemas.microsoft.com/office/drawing/2014/main" id="{71578A35-F3D3-4331-0BB0-7D8B4B127DF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4917993-E2A2-962D-194C-0C41AD45479F}"/>
              </a:ext>
            </a:extLst>
          </p:cNvPr>
          <p:cNvSpPr>
            <a:spLocks noGrp="1"/>
          </p:cNvSpPr>
          <p:nvPr>
            <p:ph type="sldNum" sz="quarter" idx="12"/>
          </p:nvPr>
        </p:nvSpPr>
        <p:spPr/>
        <p:txBody>
          <a:bodyPr/>
          <a:lstStyle/>
          <a:p>
            <a:fld id="{098D0D95-D6EB-4994-ACE5-44EFFB481EBC}" type="slidenum">
              <a:rPr lang="fr-FR" smtClean="0"/>
              <a:t>28</a:t>
            </a:fld>
            <a:endParaRPr lang="fr-FR"/>
          </a:p>
        </p:txBody>
      </p:sp>
    </p:spTree>
    <p:extLst>
      <p:ext uri="{BB962C8B-B14F-4D97-AF65-F5344CB8AC3E}">
        <p14:creationId xmlns:p14="http://schemas.microsoft.com/office/powerpoint/2010/main" val="2158773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3ABE7-E2CE-9864-D2C0-282A682B4A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781C28-15AD-023E-2DF1-654B87142893}"/>
              </a:ext>
            </a:extLst>
          </p:cNvPr>
          <p:cNvSpPr>
            <a:spLocks noGrp="1"/>
          </p:cNvSpPr>
          <p:nvPr>
            <p:ph type="title"/>
          </p:nvPr>
        </p:nvSpPr>
        <p:spPr/>
        <p:txBody>
          <a:bodyPr/>
          <a:lstStyle/>
          <a:p>
            <a:r>
              <a:rPr lang="fr-CA" sz="4000" dirty="0"/>
              <a:t>Placements avec contrôle conjoint</a:t>
            </a:r>
            <a:endParaRPr lang="fr-FR" dirty="0"/>
          </a:p>
        </p:txBody>
      </p:sp>
      <p:sp>
        <p:nvSpPr>
          <p:cNvPr id="3" name="Espace réservé du contenu 2">
            <a:extLst>
              <a:ext uri="{FF2B5EF4-FFF2-40B4-BE49-F238E27FC236}">
                <a16:creationId xmlns:a16="http://schemas.microsoft.com/office/drawing/2014/main" id="{27C34D60-467B-E0C4-38D6-54ED0FA33F20}"/>
              </a:ext>
            </a:extLst>
          </p:cNvPr>
          <p:cNvSpPr>
            <a:spLocks noGrp="1"/>
          </p:cNvSpPr>
          <p:nvPr>
            <p:ph idx="1"/>
          </p:nvPr>
        </p:nvSpPr>
        <p:spPr>
          <a:xfrm>
            <a:off x="838200" y="1690688"/>
            <a:ext cx="10515600" cy="4486275"/>
          </a:xfrm>
        </p:spPr>
        <p:txBody>
          <a:bodyPr>
            <a:normAutofit fontScale="92500" lnSpcReduction="10000"/>
          </a:bodyPr>
          <a:lstStyle/>
          <a:p>
            <a:pPr marL="0" lvl="1" indent="0">
              <a:buNone/>
            </a:pPr>
            <a:r>
              <a:rPr lang="fr-FR" dirty="0"/>
              <a:t>IFRS :</a:t>
            </a:r>
          </a:p>
          <a:p>
            <a:pPr lvl="1"/>
            <a:r>
              <a:rPr lang="fr-FR" dirty="0"/>
              <a:t>Si activités ou actifs sous contrôle conjoint : Conso proportionnelle</a:t>
            </a:r>
          </a:p>
          <a:p>
            <a:pPr lvl="1"/>
            <a:r>
              <a:rPr lang="fr-FR" dirty="0"/>
              <a:t>Si entreprises sous contrôle conjoint : mise en équivalence</a:t>
            </a:r>
          </a:p>
          <a:p>
            <a:pPr lvl="1"/>
            <a:endParaRPr lang="fr-FR" dirty="0"/>
          </a:p>
          <a:p>
            <a:pPr marL="447675" lvl="1" indent="-447675">
              <a:buNone/>
            </a:pPr>
            <a:endParaRPr lang="fr-CA" sz="2800" dirty="0"/>
          </a:p>
          <a:p>
            <a:pPr marL="0" lvl="1" indent="0">
              <a:buNone/>
            </a:pPr>
            <a:r>
              <a:rPr lang="fr-CA" dirty="0"/>
              <a:t>NCECF : choix de méthodes comptables</a:t>
            </a:r>
          </a:p>
          <a:p>
            <a:pPr marL="904875" lvl="2" indent="-447675"/>
            <a:r>
              <a:rPr lang="fr-FR" dirty="0"/>
              <a:t>Si activités ou actifs sous contrôle conjoint : Conso proportionnelle</a:t>
            </a:r>
            <a:endParaRPr lang="fr-CA" dirty="0"/>
          </a:p>
          <a:p>
            <a:pPr marL="904875" lvl="2" indent="-447675"/>
            <a:r>
              <a:rPr lang="fr-FR" dirty="0"/>
              <a:t>Si entreprises sous contrôle conjoint : choix</a:t>
            </a:r>
          </a:p>
          <a:p>
            <a:pPr marL="1362075" lvl="3" indent="-447675"/>
            <a:r>
              <a:rPr lang="fr-CA" dirty="0"/>
              <a:t>Valeur de consolidation (identique à la méthode mise en équivalence)</a:t>
            </a:r>
          </a:p>
          <a:p>
            <a:pPr marL="1362075" lvl="3" indent="-447675"/>
            <a:r>
              <a:rPr lang="fr-CA" dirty="0"/>
              <a:t>Valeur d’acquisition</a:t>
            </a:r>
          </a:p>
          <a:p>
            <a:pPr marL="1819275" lvl="4" indent="-447675"/>
            <a:r>
              <a:rPr lang="fr-FR" dirty="0"/>
              <a:t>Comptabiliser toutes les participations dans des entités sous influence notable selon la même méthode</a:t>
            </a:r>
            <a:endParaRPr lang="fr-CA" altLang="fr-FR" sz="2000" dirty="0">
              <a:latin typeface="Calibri" panose="020F0502020204030204" pitchFamily="34" charset="0"/>
            </a:endParaRPr>
          </a:p>
          <a:p>
            <a:pPr marL="1362075" lvl="3" indent="-447675"/>
            <a:endParaRPr lang="fr-CA" dirty="0"/>
          </a:p>
          <a:p>
            <a:pPr lvl="2">
              <a:buFont typeface="Wingdings" panose="05000000000000000000" pitchFamily="2" charset="2"/>
              <a:buChar char="Ø"/>
            </a:pPr>
            <a:r>
              <a:rPr lang="fr-CA" dirty="0"/>
              <a:t>Recommander en lien avec besoin/biais partie prenante (nommer la partie prenante)</a:t>
            </a:r>
          </a:p>
        </p:txBody>
      </p:sp>
      <p:sp>
        <p:nvSpPr>
          <p:cNvPr id="4" name="Espace réservé du pied de page 3">
            <a:extLst>
              <a:ext uri="{FF2B5EF4-FFF2-40B4-BE49-F238E27FC236}">
                <a16:creationId xmlns:a16="http://schemas.microsoft.com/office/drawing/2014/main" id="{BFA7AE8E-5CA1-0868-85B7-A327B3C05B8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881686F-7654-D1BE-8AE4-C94759F5CFDF}"/>
              </a:ext>
            </a:extLst>
          </p:cNvPr>
          <p:cNvSpPr>
            <a:spLocks noGrp="1"/>
          </p:cNvSpPr>
          <p:nvPr>
            <p:ph type="sldNum" sz="quarter" idx="12"/>
          </p:nvPr>
        </p:nvSpPr>
        <p:spPr/>
        <p:txBody>
          <a:bodyPr/>
          <a:lstStyle/>
          <a:p>
            <a:fld id="{BA55C67B-76F5-4A5A-9DE0-EA5E28301294}" type="slidenum">
              <a:rPr lang="fr-FR" smtClean="0"/>
              <a:t>29</a:t>
            </a:fld>
            <a:endParaRPr lang="fr-FR"/>
          </a:p>
        </p:txBody>
      </p:sp>
    </p:spTree>
    <p:extLst>
      <p:ext uri="{BB962C8B-B14F-4D97-AF65-F5344CB8AC3E}">
        <p14:creationId xmlns:p14="http://schemas.microsoft.com/office/powerpoint/2010/main" val="3887384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Imag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1600201"/>
            <a:ext cx="8424863" cy="514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itre 1"/>
          <p:cNvSpPr txBox="1">
            <a:spLocks/>
          </p:cNvSpPr>
          <p:nvPr/>
        </p:nvSpPr>
        <p:spPr bwMode="auto">
          <a:xfrm>
            <a:off x="1524000" y="460376"/>
            <a:ext cx="903605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r-CA" altLang="fr-FR" sz="3600">
                <a:latin typeface="Calibri" panose="020F0502020204030204" pitchFamily="34" charset="0"/>
              </a:rPr>
              <a:t>Partenariats</a:t>
            </a:r>
            <a:br>
              <a:rPr lang="fr-CA" altLang="fr-FR" sz="3600">
                <a:latin typeface="Calibri" panose="020F0502020204030204" pitchFamily="34" charset="0"/>
              </a:rPr>
            </a:br>
            <a:r>
              <a:rPr lang="fr-CA" altLang="fr-FR" sz="3600">
                <a:latin typeface="Calibri" panose="020F0502020204030204" pitchFamily="34" charset="0"/>
              </a:rPr>
              <a:t>Chapitre 3056 Intérêts dans des partenariats</a:t>
            </a:r>
          </a:p>
        </p:txBody>
      </p:sp>
      <p:sp>
        <p:nvSpPr>
          <p:cNvPr id="2" name="Espace réservé du pied de page 1">
            <a:extLst>
              <a:ext uri="{FF2B5EF4-FFF2-40B4-BE49-F238E27FC236}">
                <a16:creationId xmlns:a16="http://schemas.microsoft.com/office/drawing/2014/main" id="{F967C220-73EE-4B15-83E6-03013423B372}"/>
              </a:ext>
            </a:extLst>
          </p:cNvPr>
          <p:cNvSpPr>
            <a:spLocks noGrp="1"/>
          </p:cNvSpPr>
          <p:nvPr>
            <p:ph type="ftr" sz="quarter" idx="11"/>
          </p:nvPr>
        </p:nvSpPr>
        <p:spPr/>
        <p:txBody>
          <a:bodyPr/>
          <a:lstStyle/>
          <a:p>
            <a:r>
              <a:rPr lang="fr-FR"/>
              <a:t>Droits réservés - Louise Overbeek</a:t>
            </a:r>
          </a:p>
        </p:txBody>
      </p:sp>
      <p:sp>
        <p:nvSpPr>
          <p:cNvPr id="3" name="Espace réservé du numéro de diapositive 2">
            <a:extLst>
              <a:ext uri="{FF2B5EF4-FFF2-40B4-BE49-F238E27FC236}">
                <a16:creationId xmlns:a16="http://schemas.microsoft.com/office/drawing/2014/main" id="{F462B675-363A-4956-BB7B-55E69DD3FCDD}"/>
              </a:ext>
            </a:extLst>
          </p:cNvPr>
          <p:cNvSpPr>
            <a:spLocks noGrp="1"/>
          </p:cNvSpPr>
          <p:nvPr>
            <p:ph type="sldNum" sz="quarter" idx="12"/>
          </p:nvPr>
        </p:nvSpPr>
        <p:spPr/>
        <p:txBody>
          <a:bodyPr/>
          <a:lstStyle/>
          <a:p>
            <a:fld id="{4CAA9DFC-C24B-450E-B112-88B1D83A08E6}" type="slidenum">
              <a:rPr lang="fr-FR" smtClean="0"/>
              <a:t>30</a:t>
            </a:fld>
            <a:endParaRPr lang="fr-FR"/>
          </a:p>
        </p:txBody>
      </p:sp>
    </p:spTree>
    <p:extLst>
      <p:ext uri="{BB962C8B-B14F-4D97-AF65-F5344CB8AC3E}">
        <p14:creationId xmlns:p14="http://schemas.microsoft.com/office/powerpoint/2010/main" val="508098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A649B7D-F6CF-2F1B-B8A2-BC804A6F75B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682416-97EB-8F9F-6CAB-808590C7C291}"/>
              </a:ext>
            </a:extLst>
          </p:cNvPr>
          <p:cNvSpPr>
            <a:spLocks noGrp="1"/>
          </p:cNvSpPr>
          <p:nvPr>
            <p:ph type="title"/>
          </p:nvPr>
        </p:nvSpPr>
        <p:spPr/>
        <p:txBody>
          <a:bodyPr/>
          <a:lstStyle/>
          <a:p>
            <a:r>
              <a:rPr lang="fr-CA" sz="4000" b="1" dirty="0">
                <a:solidFill>
                  <a:schemeClr val="accent1"/>
                </a:solidFill>
              </a:rPr>
              <a:t>Placements avec influence notable</a:t>
            </a:r>
            <a:endParaRPr lang="fr-FR" sz="4000" b="1" dirty="0">
              <a:solidFill>
                <a:schemeClr val="accent1"/>
              </a:solidFill>
            </a:endParaRPr>
          </a:p>
        </p:txBody>
      </p:sp>
      <p:sp>
        <p:nvSpPr>
          <p:cNvPr id="3" name="Espace réservé du contenu 2">
            <a:extLst>
              <a:ext uri="{FF2B5EF4-FFF2-40B4-BE49-F238E27FC236}">
                <a16:creationId xmlns:a16="http://schemas.microsoft.com/office/drawing/2014/main" id="{D6243DDC-83E3-BEF2-668A-1A356266F150}"/>
              </a:ext>
            </a:extLst>
          </p:cNvPr>
          <p:cNvSpPr>
            <a:spLocks noGrp="1"/>
          </p:cNvSpPr>
          <p:nvPr>
            <p:ph idx="1"/>
          </p:nvPr>
        </p:nvSpPr>
        <p:spPr>
          <a:xfrm>
            <a:off x="838200" y="1409700"/>
            <a:ext cx="10515600" cy="5181599"/>
          </a:xfrm>
        </p:spPr>
        <p:txBody>
          <a:bodyPr>
            <a:normAutofit/>
          </a:bodyPr>
          <a:lstStyle/>
          <a:p>
            <a:pPr marL="0" indent="0">
              <a:buNone/>
            </a:pPr>
            <a:r>
              <a:rPr lang="fr-CA" sz="2400" dirty="0"/>
              <a:t>Normes : </a:t>
            </a:r>
          </a:p>
          <a:p>
            <a:r>
              <a:rPr lang="fr-CA" sz="2400" dirty="0"/>
              <a:t>IFRS – IAS 28 : mise en équivalence</a:t>
            </a:r>
          </a:p>
          <a:p>
            <a:r>
              <a:rPr lang="fr-CA" sz="2400" dirty="0"/>
              <a:t>NCECF – chap. 3051</a:t>
            </a:r>
          </a:p>
          <a:p>
            <a:endParaRPr lang="fr-CA" sz="2400" dirty="0"/>
          </a:p>
          <a:p>
            <a:r>
              <a:rPr lang="fr-FR" dirty="0"/>
              <a:t>Influence notable</a:t>
            </a:r>
          </a:p>
          <a:p>
            <a:pPr lvl="1"/>
            <a:r>
              <a:rPr lang="fr-FR" dirty="0"/>
              <a:t>Sur les politiques stratégiques relatives aux activités d’exploitation, d’investissement et de financement d’une entité émettrice, sans toutefois la contrôler ou participer au contrôle conjoint de celle-ci</a:t>
            </a:r>
          </a:p>
          <a:p>
            <a:endParaRPr lang="fr-CA" sz="4000" dirty="0"/>
          </a:p>
          <a:p>
            <a:endParaRPr lang="fr-CA" sz="4000" dirty="0"/>
          </a:p>
        </p:txBody>
      </p:sp>
      <p:sp>
        <p:nvSpPr>
          <p:cNvPr id="4" name="Espace réservé du pied de page 3">
            <a:extLst>
              <a:ext uri="{FF2B5EF4-FFF2-40B4-BE49-F238E27FC236}">
                <a16:creationId xmlns:a16="http://schemas.microsoft.com/office/drawing/2014/main" id="{4A422F68-98D1-4874-22CC-7074083B3B0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6ED7E98-40C0-A75E-3AF6-7571AF1A2675}"/>
              </a:ext>
            </a:extLst>
          </p:cNvPr>
          <p:cNvSpPr>
            <a:spLocks noGrp="1"/>
          </p:cNvSpPr>
          <p:nvPr>
            <p:ph type="sldNum" sz="quarter" idx="12"/>
          </p:nvPr>
        </p:nvSpPr>
        <p:spPr/>
        <p:txBody>
          <a:bodyPr/>
          <a:lstStyle/>
          <a:p>
            <a:fld id="{BA55C67B-76F5-4A5A-9DE0-EA5E28301294}" type="slidenum">
              <a:rPr lang="fr-FR" smtClean="0"/>
              <a:t>31</a:t>
            </a:fld>
            <a:endParaRPr lang="fr-FR"/>
          </a:p>
        </p:txBody>
      </p:sp>
    </p:spTree>
    <p:extLst>
      <p:ext uri="{BB962C8B-B14F-4D97-AF65-F5344CB8AC3E}">
        <p14:creationId xmlns:p14="http://schemas.microsoft.com/office/powerpoint/2010/main" val="28297341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41E246-237D-9ECF-3BAF-4440C710FD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666646-CC03-6FF9-D680-6ED6BB0798ED}"/>
              </a:ext>
            </a:extLst>
          </p:cNvPr>
          <p:cNvSpPr>
            <a:spLocks noGrp="1"/>
          </p:cNvSpPr>
          <p:nvPr>
            <p:ph type="title"/>
          </p:nvPr>
        </p:nvSpPr>
        <p:spPr/>
        <p:txBody>
          <a:bodyPr/>
          <a:lstStyle/>
          <a:p>
            <a:r>
              <a:rPr lang="fr-CA" sz="4000" b="1" dirty="0">
                <a:solidFill>
                  <a:schemeClr val="accent1"/>
                </a:solidFill>
              </a:rPr>
              <a:t>Placements avec influence notable</a:t>
            </a:r>
            <a:endParaRPr lang="fr-FR" sz="4000" b="1" dirty="0">
              <a:solidFill>
                <a:schemeClr val="accent1"/>
              </a:solidFill>
            </a:endParaRPr>
          </a:p>
        </p:txBody>
      </p:sp>
      <p:sp>
        <p:nvSpPr>
          <p:cNvPr id="3" name="Espace réservé du contenu 2">
            <a:extLst>
              <a:ext uri="{FF2B5EF4-FFF2-40B4-BE49-F238E27FC236}">
                <a16:creationId xmlns:a16="http://schemas.microsoft.com/office/drawing/2014/main" id="{4CB94886-553B-3D4B-C4FA-31B330313CD9}"/>
              </a:ext>
            </a:extLst>
          </p:cNvPr>
          <p:cNvSpPr>
            <a:spLocks noGrp="1"/>
          </p:cNvSpPr>
          <p:nvPr>
            <p:ph idx="1"/>
          </p:nvPr>
        </p:nvSpPr>
        <p:spPr>
          <a:xfrm>
            <a:off x="838200" y="1409700"/>
            <a:ext cx="10515600" cy="5181599"/>
          </a:xfrm>
        </p:spPr>
        <p:txBody>
          <a:bodyPr>
            <a:normAutofit/>
          </a:bodyPr>
          <a:lstStyle/>
          <a:p>
            <a:pPr marL="0" indent="0">
              <a:buNone/>
            </a:pPr>
            <a:r>
              <a:rPr lang="fr-CA" sz="2600" dirty="0"/>
              <a:t>Indicateurs d’influence – idem pour les deux référentiels</a:t>
            </a:r>
          </a:p>
          <a:p>
            <a:pPr lvl="2"/>
            <a:r>
              <a:rPr lang="fr-FR" dirty="0"/>
              <a:t>Représentation au conseil d’administration</a:t>
            </a:r>
          </a:p>
          <a:p>
            <a:pPr lvl="2"/>
            <a:r>
              <a:rPr lang="fr-FR" dirty="0"/>
              <a:t>Participation à l’établissement des politiques</a:t>
            </a:r>
          </a:p>
          <a:p>
            <a:pPr lvl="2"/>
            <a:r>
              <a:rPr lang="fr-FR" dirty="0"/>
              <a:t>Opérations </a:t>
            </a:r>
            <a:r>
              <a:rPr lang="fr-FR" dirty="0" err="1"/>
              <a:t>intersociétés</a:t>
            </a:r>
            <a:r>
              <a:rPr lang="fr-FR" dirty="0"/>
              <a:t> significatives</a:t>
            </a:r>
          </a:p>
          <a:p>
            <a:pPr lvl="2"/>
            <a:r>
              <a:rPr lang="fr-FR" dirty="0"/>
              <a:t>Échange de cadres</a:t>
            </a:r>
          </a:p>
          <a:p>
            <a:pPr lvl="2"/>
            <a:r>
              <a:rPr lang="fr-FR" dirty="0"/>
              <a:t>Fourniture d’informations techniques</a:t>
            </a:r>
          </a:p>
          <a:p>
            <a:pPr lvl="3"/>
            <a:r>
              <a:rPr lang="fr-FR" dirty="0"/>
              <a:t>Influence présumée avec participation d’au moins 20% (&lt;50%)</a:t>
            </a:r>
          </a:p>
          <a:p>
            <a:pPr marL="363538" lvl="1" indent="-363538"/>
            <a:endParaRPr lang="fr-CA" dirty="0"/>
          </a:p>
          <a:p>
            <a:pPr marL="820738" lvl="2" indent="-363538"/>
            <a:r>
              <a:rPr lang="fr-CA" sz="2600" dirty="0"/>
              <a:t>Application au cas : couvrir les indicateurs de l’énoncé</a:t>
            </a:r>
          </a:p>
          <a:p>
            <a:pPr marL="820738" lvl="2" indent="-363538"/>
            <a:r>
              <a:rPr lang="fr-CA" sz="2600" dirty="0"/>
              <a:t>Conclusion explicite</a:t>
            </a:r>
          </a:p>
        </p:txBody>
      </p:sp>
      <p:sp>
        <p:nvSpPr>
          <p:cNvPr id="4" name="Espace réservé du pied de page 3">
            <a:extLst>
              <a:ext uri="{FF2B5EF4-FFF2-40B4-BE49-F238E27FC236}">
                <a16:creationId xmlns:a16="http://schemas.microsoft.com/office/drawing/2014/main" id="{37DC2551-39FC-2B4D-63AC-81D51756954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8C811C8-57C1-D50F-CF35-DFB54BBA9993}"/>
              </a:ext>
            </a:extLst>
          </p:cNvPr>
          <p:cNvSpPr>
            <a:spLocks noGrp="1"/>
          </p:cNvSpPr>
          <p:nvPr>
            <p:ph type="sldNum" sz="quarter" idx="12"/>
          </p:nvPr>
        </p:nvSpPr>
        <p:spPr/>
        <p:txBody>
          <a:bodyPr/>
          <a:lstStyle/>
          <a:p>
            <a:fld id="{BA55C67B-76F5-4A5A-9DE0-EA5E28301294}" type="slidenum">
              <a:rPr lang="fr-FR" smtClean="0"/>
              <a:t>32</a:t>
            </a:fld>
            <a:endParaRPr lang="fr-FR"/>
          </a:p>
        </p:txBody>
      </p:sp>
    </p:spTree>
    <p:extLst>
      <p:ext uri="{BB962C8B-B14F-4D97-AF65-F5344CB8AC3E}">
        <p14:creationId xmlns:p14="http://schemas.microsoft.com/office/powerpoint/2010/main" val="2704253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C05EAB-F149-C75D-6276-0C16EC58A12C}"/>
              </a:ext>
            </a:extLst>
          </p:cNvPr>
          <p:cNvSpPr>
            <a:spLocks noGrp="1"/>
          </p:cNvSpPr>
          <p:nvPr>
            <p:ph type="title"/>
          </p:nvPr>
        </p:nvSpPr>
        <p:spPr/>
        <p:txBody>
          <a:bodyPr/>
          <a:lstStyle/>
          <a:p>
            <a:r>
              <a:rPr lang="fr-FR" dirty="0"/>
              <a:t>Méthode mise en équivalence / valeur de consolidation</a:t>
            </a:r>
          </a:p>
        </p:txBody>
      </p:sp>
      <p:sp>
        <p:nvSpPr>
          <p:cNvPr id="3" name="Espace réservé du contenu 2">
            <a:extLst>
              <a:ext uri="{FF2B5EF4-FFF2-40B4-BE49-F238E27FC236}">
                <a16:creationId xmlns:a16="http://schemas.microsoft.com/office/drawing/2014/main" id="{5DCE51F4-16D4-F114-6CB0-C4652A942E8F}"/>
              </a:ext>
            </a:extLst>
          </p:cNvPr>
          <p:cNvSpPr>
            <a:spLocks noGrp="1"/>
          </p:cNvSpPr>
          <p:nvPr>
            <p:ph idx="1"/>
          </p:nvPr>
        </p:nvSpPr>
        <p:spPr/>
        <p:txBody>
          <a:bodyPr>
            <a:normAutofit fontScale="70000" lnSpcReduction="20000"/>
          </a:bodyPr>
          <a:lstStyle/>
          <a:p>
            <a:r>
              <a:rPr lang="fr-CA" dirty="0"/>
              <a:t>Participation</a:t>
            </a:r>
          </a:p>
          <a:p>
            <a:pPr lvl="1"/>
            <a:r>
              <a:rPr lang="fr-CA" dirty="0"/>
              <a:t>Contrepartie versée à l’acquisition</a:t>
            </a:r>
          </a:p>
          <a:p>
            <a:pPr lvl="1"/>
            <a:r>
              <a:rPr lang="fr-CA" dirty="0"/>
              <a:t>Plus : Quote-part du résultat net </a:t>
            </a:r>
          </a:p>
          <a:p>
            <a:pPr lvl="2"/>
            <a:r>
              <a:rPr lang="fr-FR" dirty="0"/>
              <a:t>Calculée selon les règles de consolidation (matérialisation écart, gain/perte non matérialisé…)</a:t>
            </a:r>
          </a:p>
          <a:p>
            <a:pPr lvl="2"/>
            <a:r>
              <a:rPr lang="fr-FR" dirty="0"/>
              <a:t>Quote-part des opérations sur les capitaux propres </a:t>
            </a:r>
          </a:p>
          <a:p>
            <a:pPr lvl="3"/>
            <a:r>
              <a:rPr lang="fr-FR" dirty="0"/>
              <a:t>+ </a:t>
            </a:r>
            <a:r>
              <a:rPr lang="fr-FR" dirty="0" err="1"/>
              <a:t>modif</a:t>
            </a:r>
            <a:r>
              <a:rPr lang="fr-FR" dirty="0"/>
              <a:t> méthodes comptables / correction erreurs</a:t>
            </a:r>
            <a:endParaRPr lang="fr-CA" dirty="0"/>
          </a:p>
          <a:p>
            <a:pPr lvl="1"/>
            <a:r>
              <a:rPr lang="fr-CA" dirty="0"/>
              <a:t>Moins : Dividendes reçus</a:t>
            </a:r>
          </a:p>
          <a:p>
            <a:pPr lvl="1"/>
            <a:r>
              <a:rPr lang="fr-CA" dirty="0"/>
              <a:t>Matérialisation écart de conso (écart JV)</a:t>
            </a:r>
          </a:p>
          <a:p>
            <a:pPr marL="457200" lvl="1" indent="0">
              <a:buNone/>
            </a:pPr>
            <a:endParaRPr lang="fr-CA" dirty="0"/>
          </a:p>
          <a:p>
            <a:pPr lvl="1">
              <a:buFont typeface="Wingdings" panose="05000000000000000000" pitchFamily="2" charset="2"/>
              <a:buChar char="Ø"/>
            </a:pPr>
            <a:r>
              <a:rPr lang="fr-CA" dirty="0"/>
              <a:t>Sujet à dépréciation</a:t>
            </a:r>
          </a:p>
          <a:p>
            <a:pPr lvl="1"/>
            <a:endParaRPr lang="fr-CA" dirty="0"/>
          </a:p>
          <a:p>
            <a:r>
              <a:rPr lang="fr-CA" dirty="0"/>
              <a:t>Produit de participation</a:t>
            </a:r>
          </a:p>
          <a:p>
            <a:pPr lvl="1"/>
            <a:r>
              <a:rPr lang="fr-CA" dirty="0"/>
              <a:t>Quote-part du résultat net </a:t>
            </a:r>
          </a:p>
          <a:p>
            <a:pPr lvl="3"/>
            <a:r>
              <a:rPr lang="fr-FR" sz="1900" dirty="0"/>
              <a:t>Calculée selon les règles de consolidation (matérialisation écart, gain/perte non matérialisé…)</a:t>
            </a:r>
            <a:endParaRPr lang="fr-FR" sz="1900" b="1" dirty="0"/>
          </a:p>
          <a:p>
            <a:pPr lvl="2"/>
            <a:r>
              <a:rPr lang="fr-CA" dirty="0"/>
              <a:t>Et non dividendes reçus qui sont venus réduire le montant bilan</a:t>
            </a:r>
          </a:p>
          <a:p>
            <a:pPr lvl="1"/>
            <a:endParaRPr lang="fr-FR" dirty="0"/>
          </a:p>
          <a:p>
            <a:pPr lvl="1">
              <a:buFont typeface="Wingdings" panose="05000000000000000000" pitchFamily="2" charset="2"/>
              <a:buChar char="Ø"/>
            </a:pPr>
            <a:r>
              <a:rPr lang="fr-FR" dirty="0"/>
              <a:t>Même résultat net et total capitaux propres que si avait préparé des EF consolidés</a:t>
            </a:r>
          </a:p>
        </p:txBody>
      </p:sp>
      <p:sp>
        <p:nvSpPr>
          <p:cNvPr id="4" name="Espace réservé du pied de page 3">
            <a:extLst>
              <a:ext uri="{FF2B5EF4-FFF2-40B4-BE49-F238E27FC236}">
                <a16:creationId xmlns:a16="http://schemas.microsoft.com/office/drawing/2014/main" id="{AB5EC21C-99A4-A8A3-E1A7-E039F92EF7E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74CFAEB-95E5-AD1F-7040-5088C36006CB}"/>
              </a:ext>
            </a:extLst>
          </p:cNvPr>
          <p:cNvSpPr>
            <a:spLocks noGrp="1"/>
          </p:cNvSpPr>
          <p:nvPr>
            <p:ph type="sldNum" sz="quarter" idx="12"/>
          </p:nvPr>
        </p:nvSpPr>
        <p:spPr/>
        <p:txBody>
          <a:bodyPr/>
          <a:lstStyle/>
          <a:p>
            <a:fld id="{BA55C67B-76F5-4A5A-9DE0-EA5E28301294}" type="slidenum">
              <a:rPr lang="fr-FR" smtClean="0"/>
              <a:t>33</a:t>
            </a:fld>
            <a:endParaRPr lang="fr-FR"/>
          </a:p>
        </p:txBody>
      </p:sp>
    </p:spTree>
    <p:extLst>
      <p:ext uri="{BB962C8B-B14F-4D97-AF65-F5344CB8AC3E}">
        <p14:creationId xmlns:p14="http://schemas.microsoft.com/office/powerpoint/2010/main" val="1589209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274639"/>
            <a:ext cx="10515600" cy="1056321"/>
          </a:xfrm>
        </p:spPr>
        <p:txBody>
          <a:bodyPr>
            <a:normAutofit/>
          </a:bodyPr>
          <a:lstStyle/>
          <a:p>
            <a:r>
              <a:rPr lang="fr-FR" dirty="0"/>
              <a:t>Méthode valeur d’acquisition</a:t>
            </a:r>
            <a:endParaRPr lang="fr-FR" sz="2700" dirty="0"/>
          </a:p>
        </p:txBody>
      </p:sp>
      <p:sp>
        <p:nvSpPr>
          <p:cNvPr id="3" name="Espace réservé du contenu 2"/>
          <p:cNvSpPr>
            <a:spLocks noGrp="1"/>
          </p:cNvSpPr>
          <p:nvPr>
            <p:ph idx="1"/>
          </p:nvPr>
        </p:nvSpPr>
        <p:spPr/>
        <p:txBody>
          <a:bodyPr>
            <a:normAutofit/>
          </a:bodyPr>
          <a:lstStyle/>
          <a:p>
            <a:r>
              <a:rPr lang="fr-FR" dirty="0"/>
              <a:t>Valeur d’acquisition :</a:t>
            </a:r>
          </a:p>
          <a:p>
            <a:pPr lvl="1"/>
            <a:r>
              <a:rPr lang="fr-FR" dirty="0"/>
              <a:t>État des résultats :</a:t>
            </a:r>
          </a:p>
          <a:p>
            <a:pPr lvl="2"/>
            <a:r>
              <a:rPr lang="fr-FR" dirty="0"/>
              <a:t> quote-part des dividendes</a:t>
            </a:r>
            <a:endParaRPr lang="fr-FR" b="1" dirty="0"/>
          </a:p>
          <a:p>
            <a:pPr marL="914400" lvl="2" indent="0">
              <a:buNone/>
            </a:pPr>
            <a:endParaRPr lang="fr-FR" dirty="0"/>
          </a:p>
          <a:p>
            <a:pPr lvl="1"/>
            <a:r>
              <a:rPr lang="fr-FR" dirty="0"/>
              <a:t>Bilan :	</a:t>
            </a:r>
          </a:p>
          <a:p>
            <a:pPr lvl="2"/>
            <a:r>
              <a:rPr lang="fr-FR" dirty="0"/>
              <a:t>Placement au coût d’acquisition</a:t>
            </a:r>
          </a:p>
          <a:p>
            <a:pPr lvl="3"/>
            <a:r>
              <a:rPr lang="fr-FR" dirty="0"/>
              <a:t>Dividendes de liquidation</a:t>
            </a:r>
          </a:p>
          <a:p>
            <a:pPr lvl="2"/>
            <a:endParaRPr lang="fr-FR" dirty="0"/>
          </a:p>
          <a:p>
            <a:r>
              <a:rPr lang="fr-FR" dirty="0"/>
              <a:t>Si titres de l’entité émettrice sont cotés sur un marché actif :</a:t>
            </a:r>
          </a:p>
          <a:p>
            <a:pPr lvl="1"/>
            <a:r>
              <a:rPr lang="fr-FR" dirty="0"/>
              <a:t>Valeur de conso ou au cours du marché </a:t>
            </a:r>
          </a:p>
          <a:p>
            <a:pPr marL="914400" lvl="2" indent="0">
              <a:buNone/>
            </a:pPr>
            <a:endParaRPr lang="fr-FR"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34</a:t>
            </a:fld>
            <a:endParaRPr lang="fr-FR"/>
          </a:p>
        </p:txBody>
      </p:sp>
      <p:sp>
        <p:nvSpPr>
          <p:cNvPr id="5" name="Espace réservé du pied de page 4">
            <a:extLst>
              <a:ext uri="{FF2B5EF4-FFF2-40B4-BE49-F238E27FC236}">
                <a16:creationId xmlns:a16="http://schemas.microsoft.com/office/drawing/2014/main" id="{7DAFE252-580E-4A13-91D7-36F7E8A74FB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45179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30722" name="Titre 1"/>
          <p:cNvSpPr>
            <a:spLocks noGrp="1"/>
          </p:cNvSpPr>
          <p:nvPr>
            <p:ph type="title" idx="4294967295"/>
          </p:nvPr>
        </p:nvSpPr>
        <p:spPr>
          <a:xfrm>
            <a:off x="838200" y="277814"/>
            <a:ext cx="10515600" cy="1139825"/>
          </a:xfrm>
        </p:spPr>
        <p:txBody>
          <a:bodyPr anchor="ctr">
            <a:normAutofit/>
          </a:bodyPr>
          <a:lstStyle/>
          <a:p>
            <a:pPr eaLnBrk="1" hangingPunct="1"/>
            <a:r>
              <a:rPr lang="fr-CA" altLang="fr-FR" sz="3600" dirty="0">
                <a:latin typeface="Calibri" panose="020F0502020204030204" pitchFamily="34" charset="0"/>
              </a:rPr>
              <a:t>Exemple : impact bilan et résultats</a:t>
            </a:r>
          </a:p>
        </p:txBody>
      </p:sp>
      <p:sp>
        <p:nvSpPr>
          <p:cNvPr id="30723" name="Espace réservé du contenu 2"/>
          <p:cNvSpPr>
            <a:spLocks noGrp="1"/>
          </p:cNvSpPr>
          <p:nvPr>
            <p:ph idx="4294967295"/>
          </p:nvPr>
        </p:nvSpPr>
        <p:spPr>
          <a:xfrm>
            <a:off x="838200" y="1494328"/>
            <a:ext cx="10515600" cy="5085857"/>
          </a:xfrm>
        </p:spPr>
        <p:txBody>
          <a:bodyPr>
            <a:normAutofit lnSpcReduction="10000"/>
          </a:bodyPr>
          <a:lstStyle/>
          <a:p>
            <a:pPr marL="0" indent="0">
              <a:buNone/>
            </a:pPr>
            <a:r>
              <a:rPr lang="fr-CA" altLang="fr-FR" sz="2400" dirty="0">
                <a:latin typeface="Calibri" panose="020F0502020204030204" pitchFamily="34" charset="0"/>
              </a:rPr>
              <a:t>Le 31 décembre X0, Détentrice acquiert 30 % des actions de Émettrice pour 18 000 $. À cette date, la valeur comptable de l'actif net identifiable de Émettrice s'élève à 50 000 $. La juste valeur de chacun des actifs et des passifs de Émettrice correspond à leur valeur comptable. Les dividendes sont versés tous les ans au 1</a:t>
            </a:r>
            <a:r>
              <a:rPr lang="fr-CA" altLang="fr-FR" sz="2400" baseline="30000" dirty="0">
                <a:latin typeface="Calibri" panose="020F0502020204030204" pitchFamily="34" charset="0"/>
              </a:rPr>
              <a:t>er</a:t>
            </a:r>
            <a:r>
              <a:rPr lang="fr-CA" altLang="fr-FR" sz="2400" dirty="0">
                <a:latin typeface="Calibri" panose="020F0502020204030204" pitchFamily="34" charset="0"/>
              </a:rPr>
              <a:t> décembre. Fin d’exercice 31 décembre.</a:t>
            </a:r>
          </a:p>
          <a:p>
            <a:pPr marL="0" indent="0">
              <a:buNone/>
            </a:pPr>
            <a:endParaRPr lang="fr-CA" altLang="fr-FR" sz="2400" dirty="0">
              <a:latin typeface="Calibri" panose="020F0502020204030204" pitchFamily="34" charset="0"/>
            </a:endParaRPr>
          </a:p>
          <a:p>
            <a:pPr marL="0" indent="0">
              <a:buNone/>
            </a:pPr>
            <a:endParaRPr lang="fr-CA" altLang="fr-FR" sz="2400" dirty="0">
              <a:latin typeface="Calibri" panose="020F0502020204030204" pitchFamily="34" charset="0"/>
            </a:endParaRPr>
          </a:p>
          <a:p>
            <a:pPr marL="0" indent="0">
              <a:buNone/>
            </a:pPr>
            <a:endParaRPr lang="fr-CA" altLang="fr-FR" sz="2400" dirty="0">
              <a:latin typeface="Calibri" panose="020F0502020204030204" pitchFamily="34" charset="0"/>
            </a:endParaRPr>
          </a:p>
          <a:p>
            <a:pPr marL="0" indent="0">
              <a:buNone/>
            </a:pPr>
            <a:endParaRPr lang="fr-CA" altLang="fr-FR" sz="2400" dirty="0">
              <a:latin typeface="Calibri" panose="020F0502020204030204" pitchFamily="34" charset="0"/>
            </a:endParaRPr>
          </a:p>
          <a:p>
            <a:pPr marL="0" indent="0">
              <a:buNone/>
            </a:pPr>
            <a:endParaRPr lang="fr-CA" altLang="fr-FR" sz="2400" dirty="0">
              <a:latin typeface="Calibri" panose="020F0502020204030204" pitchFamily="34" charset="0"/>
            </a:endParaRPr>
          </a:p>
          <a:p>
            <a:pPr marL="457200" indent="-457200">
              <a:buAutoNum type="alphaUcParenR"/>
            </a:pPr>
            <a:endParaRPr lang="fr-CA" altLang="fr-FR" sz="2400" dirty="0">
              <a:latin typeface="Calibri" panose="020F0502020204030204" pitchFamily="34" charset="0"/>
            </a:endParaRPr>
          </a:p>
          <a:p>
            <a:pPr marL="457200" indent="-457200">
              <a:buAutoNum type="alphaUcParenR"/>
            </a:pPr>
            <a:r>
              <a:rPr lang="fr-CA" altLang="fr-FR" sz="2400" dirty="0">
                <a:latin typeface="Calibri" panose="020F0502020204030204" pitchFamily="34" charset="0"/>
              </a:rPr>
              <a:t>Choix méthode valeur d’acquisition</a:t>
            </a:r>
          </a:p>
          <a:p>
            <a:pPr marL="457200" indent="-457200">
              <a:buAutoNum type="alphaUcParenR"/>
            </a:pPr>
            <a:r>
              <a:rPr lang="fr-CA" altLang="fr-FR" sz="2400" dirty="0">
                <a:latin typeface="Calibri" panose="020F0502020204030204" pitchFamily="34" charset="0"/>
              </a:rPr>
              <a:t>Choix méthode valeur de consolidation</a:t>
            </a:r>
            <a:endParaRPr lang="fr-CA" altLang="fr-FR" dirty="0">
              <a:latin typeface="Calibri" panose="020F0502020204030204" pitchFamily="34" charset="0"/>
            </a:endParaRPr>
          </a:p>
          <a:p>
            <a:pPr marL="0" indent="0">
              <a:buNone/>
            </a:pPr>
            <a:endParaRPr lang="fr-CA" altLang="fr-FR" dirty="0">
              <a:latin typeface="Calibri" panose="020F0502020204030204" pitchFamily="34" charset="0"/>
            </a:endParaRPr>
          </a:p>
        </p:txBody>
      </p:sp>
      <p:graphicFrame>
        <p:nvGraphicFramePr>
          <p:cNvPr id="2" name="Tableau 1"/>
          <p:cNvGraphicFramePr>
            <a:graphicFrameLocks noGrp="1"/>
          </p:cNvGraphicFramePr>
          <p:nvPr/>
        </p:nvGraphicFramePr>
        <p:xfrm>
          <a:off x="2044262" y="3514233"/>
          <a:ext cx="7931151" cy="1849439"/>
        </p:xfrm>
        <a:graphic>
          <a:graphicData uri="http://schemas.openxmlformats.org/drawingml/2006/table">
            <a:tbl>
              <a:tblPr firstRow="1" bandRow="1">
                <a:tableStyleId>{5C22544A-7EE6-4342-B048-85BDC9FD1C3A}</a:tableStyleId>
              </a:tblPr>
              <a:tblGrid>
                <a:gridCol w="2643717">
                  <a:extLst>
                    <a:ext uri="{9D8B030D-6E8A-4147-A177-3AD203B41FA5}">
                      <a16:colId xmlns:a16="http://schemas.microsoft.com/office/drawing/2014/main" val="20000"/>
                    </a:ext>
                  </a:extLst>
                </a:gridCol>
                <a:gridCol w="2643717">
                  <a:extLst>
                    <a:ext uri="{9D8B030D-6E8A-4147-A177-3AD203B41FA5}">
                      <a16:colId xmlns:a16="http://schemas.microsoft.com/office/drawing/2014/main" val="20001"/>
                    </a:ext>
                  </a:extLst>
                </a:gridCol>
                <a:gridCol w="2643717">
                  <a:extLst>
                    <a:ext uri="{9D8B030D-6E8A-4147-A177-3AD203B41FA5}">
                      <a16:colId xmlns:a16="http://schemas.microsoft.com/office/drawing/2014/main" val="20002"/>
                    </a:ext>
                  </a:extLst>
                </a:gridCol>
              </a:tblGrid>
              <a:tr h="370904">
                <a:tc>
                  <a:txBody>
                    <a:bodyPr/>
                    <a:lstStyle/>
                    <a:p>
                      <a:pPr algn="ctr"/>
                      <a:r>
                        <a:rPr lang="fr-CA" sz="1800" dirty="0"/>
                        <a:t>Année</a:t>
                      </a:r>
                    </a:p>
                  </a:txBody>
                  <a:tcPr marL="91439" marR="91439" marT="45728" marB="45728"/>
                </a:tc>
                <a:tc>
                  <a:txBody>
                    <a:bodyPr/>
                    <a:lstStyle/>
                    <a:p>
                      <a:pPr algn="ctr"/>
                      <a:r>
                        <a:rPr lang="fr-CA" sz="1800" dirty="0"/>
                        <a:t>Bénéfice net $</a:t>
                      </a:r>
                    </a:p>
                  </a:txBody>
                  <a:tcPr marL="91439" marR="91439" marT="45728" marB="45728"/>
                </a:tc>
                <a:tc>
                  <a:txBody>
                    <a:bodyPr/>
                    <a:lstStyle/>
                    <a:p>
                      <a:pPr algn="ctr"/>
                      <a:r>
                        <a:rPr lang="fr-CA" sz="1800" dirty="0"/>
                        <a:t>Dividende $</a:t>
                      </a:r>
                    </a:p>
                  </a:txBody>
                  <a:tcPr marL="91439" marR="91439" marT="45728" marB="45728"/>
                </a:tc>
                <a:extLst>
                  <a:ext uri="{0D108BD9-81ED-4DB2-BD59-A6C34878D82A}">
                    <a16:rowId xmlns:a16="http://schemas.microsoft.com/office/drawing/2014/main" val="10000"/>
                  </a:ext>
                </a:extLst>
              </a:tr>
              <a:tr h="370904">
                <a:tc>
                  <a:txBody>
                    <a:bodyPr/>
                    <a:lstStyle/>
                    <a:p>
                      <a:pPr algn="ctr"/>
                      <a:r>
                        <a:rPr lang="fr-CA" sz="1800" dirty="0"/>
                        <a:t>X1</a:t>
                      </a:r>
                    </a:p>
                  </a:txBody>
                  <a:tcPr marL="91439" marR="91439" marT="45728" marB="45728"/>
                </a:tc>
                <a:tc>
                  <a:txBody>
                    <a:bodyPr/>
                    <a:lstStyle/>
                    <a:p>
                      <a:pPr algn="ctr"/>
                      <a:r>
                        <a:rPr lang="fr-CA" sz="1800" dirty="0"/>
                        <a:t>2 000</a:t>
                      </a:r>
                    </a:p>
                  </a:txBody>
                  <a:tcPr marL="91439" marR="91439" marT="45728" marB="45728"/>
                </a:tc>
                <a:tc>
                  <a:txBody>
                    <a:bodyPr/>
                    <a:lstStyle/>
                    <a:p>
                      <a:pPr algn="ctr"/>
                      <a:r>
                        <a:rPr lang="fr-CA" sz="1800" dirty="0"/>
                        <a:t>1</a:t>
                      </a:r>
                      <a:r>
                        <a:rPr lang="fr-CA" sz="1800" baseline="0" dirty="0"/>
                        <a:t> 500</a:t>
                      </a:r>
                      <a:endParaRPr lang="fr-CA" sz="1800" dirty="0"/>
                    </a:p>
                  </a:txBody>
                  <a:tcPr marL="91439" marR="91439" marT="45728" marB="45728"/>
                </a:tc>
                <a:extLst>
                  <a:ext uri="{0D108BD9-81ED-4DB2-BD59-A6C34878D82A}">
                    <a16:rowId xmlns:a16="http://schemas.microsoft.com/office/drawing/2014/main" val="10001"/>
                  </a:ext>
                </a:extLst>
              </a:tr>
              <a:tr h="370904">
                <a:tc>
                  <a:txBody>
                    <a:bodyPr/>
                    <a:lstStyle/>
                    <a:p>
                      <a:pPr algn="ctr"/>
                      <a:r>
                        <a:rPr lang="fr-CA" sz="1800" dirty="0"/>
                        <a:t>X2</a:t>
                      </a:r>
                    </a:p>
                  </a:txBody>
                  <a:tcPr marL="91439" marR="91439" marT="45728" marB="45728"/>
                </a:tc>
                <a:tc>
                  <a:txBody>
                    <a:bodyPr/>
                    <a:lstStyle/>
                    <a:p>
                      <a:pPr algn="ctr"/>
                      <a:r>
                        <a:rPr lang="fr-CA" sz="1800" dirty="0"/>
                        <a:t>500</a:t>
                      </a:r>
                    </a:p>
                  </a:txBody>
                  <a:tcPr marL="91439" marR="91439" marT="45728" marB="45728"/>
                </a:tc>
                <a:tc>
                  <a:txBody>
                    <a:bodyPr/>
                    <a:lstStyle/>
                    <a:p>
                      <a:pPr algn="ctr"/>
                      <a:r>
                        <a:rPr lang="fr-CA" sz="1800" dirty="0"/>
                        <a:t>1</a:t>
                      </a:r>
                      <a:r>
                        <a:rPr lang="fr-CA" sz="1800" baseline="0" dirty="0"/>
                        <a:t> 500</a:t>
                      </a:r>
                      <a:endParaRPr lang="fr-CA" sz="1800" dirty="0"/>
                    </a:p>
                  </a:txBody>
                  <a:tcPr marL="91439" marR="91439" marT="45728" marB="45728"/>
                </a:tc>
                <a:extLst>
                  <a:ext uri="{0D108BD9-81ED-4DB2-BD59-A6C34878D82A}">
                    <a16:rowId xmlns:a16="http://schemas.microsoft.com/office/drawing/2014/main" val="10002"/>
                  </a:ext>
                </a:extLst>
              </a:tr>
              <a:tr h="370904">
                <a:tc>
                  <a:txBody>
                    <a:bodyPr/>
                    <a:lstStyle/>
                    <a:p>
                      <a:pPr algn="ctr"/>
                      <a:r>
                        <a:rPr lang="fr-CA" sz="1800" dirty="0"/>
                        <a:t>X3</a:t>
                      </a:r>
                    </a:p>
                  </a:txBody>
                  <a:tcPr marL="91439" marR="91439" marT="45728" marB="45728"/>
                </a:tc>
                <a:tc>
                  <a:txBody>
                    <a:bodyPr/>
                    <a:lstStyle/>
                    <a:p>
                      <a:pPr algn="ctr"/>
                      <a:r>
                        <a:rPr lang="fr-CA" sz="1800" dirty="0"/>
                        <a:t>3</a:t>
                      </a:r>
                      <a:r>
                        <a:rPr lang="fr-CA" sz="1800" baseline="0" dirty="0"/>
                        <a:t> 500</a:t>
                      </a:r>
                      <a:endParaRPr lang="fr-CA" sz="1800" dirty="0"/>
                    </a:p>
                  </a:txBody>
                  <a:tcPr marL="91439" marR="91439" marT="45728" marB="45728"/>
                </a:tc>
                <a:tc>
                  <a:txBody>
                    <a:bodyPr/>
                    <a:lstStyle/>
                    <a:p>
                      <a:pPr algn="ctr"/>
                      <a:r>
                        <a:rPr lang="fr-CA" sz="1800" dirty="0"/>
                        <a:t>1</a:t>
                      </a:r>
                      <a:r>
                        <a:rPr lang="fr-CA" sz="1800" baseline="0" dirty="0"/>
                        <a:t> 700</a:t>
                      </a:r>
                      <a:endParaRPr lang="fr-CA" sz="1800" dirty="0"/>
                    </a:p>
                  </a:txBody>
                  <a:tcPr marL="91439" marR="91439" marT="45728" marB="45728"/>
                </a:tc>
                <a:extLst>
                  <a:ext uri="{0D108BD9-81ED-4DB2-BD59-A6C34878D82A}">
                    <a16:rowId xmlns:a16="http://schemas.microsoft.com/office/drawing/2014/main" val="10003"/>
                  </a:ext>
                </a:extLst>
              </a:tr>
              <a:tr h="365823">
                <a:tc>
                  <a:txBody>
                    <a:bodyPr/>
                    <a:lstStyle/>
                    <a:p>
                      <a:pPr algn="ctr"/>
                      <a:r>
                        <a:rPr lang="fr-CA" sz="1800" i="1" dirty="0"/>
                        <a:t>Total</a:t>
                      </a:r>
                    </a:p>
                  </a:txBody>
                  <a:tcPr marL="91439" marR="91439" marT="45728" marB="45728"/>
                </a:tc>
                <a:tc>
                  <a:txBody>
                    <a:bodyPr/>
                    <a:lstStyle/>
                    <a:p>
                      <a:pPr algn="ctr"/>
                      <a:r>
                        <a:rPr lang="fr-CA" sz="1800" i="1" dirty="0"/>
                        <a:t>6</a:t>
                      </a:r>
                      <a:r>
                        <a:rPr lang="fr-CA" sz="1800" i="1" baseline="0" dirty="0"/>
                        <a:t> 000</a:t>
                      </a:r>
                      <a:endParaRPr lang="fr-CA" sz="1800" i="1" dirty="0"/>
                    </a:p>
                  </a:txBody>
                  <a:tcPr marL="91439" marR="91439" marT="45728" marB="45728"/>
                </a:tc>
                <a:tc>
                  <a:txBody>
                    <a:bodyPr/>
                    <a:lstStyle/>
                    <a:p>
                      <a:pPr algn="ctr"/>
                      <a:r>
                        <a:rPr lang="fr-CA" sz="1800" i="1" dirty="0"/>
                        <a:t>4</a:t>
                      </a:r>
                      <a:r>
                        <a:rPr lang="fr-CA" sz="1800" i="1" baseline="0" dirty="0"/>
                        <a:t> 700</a:t>
                      </a:r>
                      <a:endParaRPr lang="fr-CA" sz="1800" i="1" dirty="0"/>
                    </a:p>
                  </a:txBody>
                  <a:tcPr marL="91439" marR="91439" marT="45728" marB="45728"/>
                </a:tc>
                <a:extLst>
                  <a:ext uri="{0D108BD9-81ED-4DB2-BD59-A6C34878D82A}">
                    <a16:rowId xmlns:a16="http://schemas.microsoft.com/office/drawing/2014/main" val="10004"/>
                  </a:ext>
                </a:extLst>
              </a:tr>
            </a:tbl>
          </a:graphicData>
        </a:graphic>
      </p:graphicFrame>
      <p:sp>
        <p:nvSpPr>
          <p:cNvPr id="3" name="Espace réservé du pied de page 2">
            <a:extLst>
              <a:ext uri="{FF2B5EF4-FFF2-40B4-BE49-F238E27FC236}">
                <a16:creationId xmlns:a16="http://schemas.microsoft.com/office/drawing/2014/main" id="{2420B006-9CA1-41E1-A760-C80BE11777A6}"/>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DBF7F705-40F5-4801-8B23-5B8DA20617B6}"/>
              </a:ext>
            </a:extLst>
          </p:cNvPr>
          <p:cNvSpPr>
            <a:spLocks noGrp="1"/>
          </p:cNvSpPr>
          <p:nvPr>
            <p:ph type="sldNum" sz="quarter" idx="12"/>
          </p:nvPr>
        </p:nvSpPr>
        <p:spPr/>
        <p:txBody>
          <a:bodyPr/>
          <a:lstStyle/>
          <a:p>
            <a:fld id="{4CAA9DFC-C24B-450E-B112-88B1D83A08E6}" type="slidenum">
              <a:rPr lang="fr-FR" smtClean="0"/>
              <a:t>35</a:t>
            </a:fld>
            <a:endParaRPr lang="fr-FR"/>
          </a:p>
        </p:txBody>
      </p:sp>
    </p:spTree>
    <p:extLst>
      <p:ext uri="{BB962C8B-B14F-4D97-AF65-F5344CB8AC3E}">
        <p14:creationId xmlns:p14="http://schemas.microsoft.com/office/powerpoint/2010/main" val="1334709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37B52BF-D0AB-44A5-AF85-FE29BD927B58}"/>
              </a:ext>
            </a:extLst>
          </p:cNvPr>
          <p:cNvSpPr>
            <a:spLocks noGrp="1"/>
          </p:cNvSpPr>
          <p:nvPr>
            <p:ph type="ftr" sz="quarter" idx="11"/>
          </p:nvPr>
        </p:nvSpPr>
        <p:spPr/>
        <p:txBody>
          <a:bodyPr/>
          <a:lstStyle/>
          <a:p>
            <a:r>
              <a:rPr lang="fr-FR"/>
              <a:t>Droits réservés - Louise Overbeek</a:t>
            </a:r>
          </a:p>
        </p:txBody>
      </p:sp>
      <p:sp>
        <p:nvSpPr>
          <p:cNvPr id="3" name="Espace réservé du numéro de diapositive 2">
            <a:extLst>
              <a:ext uri="{FF2B5EF4-FFF2-40B4-BE49-F238E27FC236}">
                <a16:creationId xmlns:a16="http://schemas.microsoft.com/office/drawing/2014/main" id="{2B43199A-5E93-4F95-B785-FC452EDCD3E5}"/>
              </a:ext>
            </a:extLst>
          </p:cNvPr>
          <p:cNvSpPr>
            <a:spLocks noGrp="1"/>
          </p:cNvSpPr>
          <p:nvPr>
            <p:ph type="sldNum" sz="quarter" idx="12"/>
          </p:nvPr>
        </p:nvSpPr>
        <p:spPr/>
        <p:txBody>
          <a:bodyPr/>
          <a:lstStyle/>
          <a:p>
            <a:fld id="{4CAA9DFC-C24B-450E-B112-88B1D83A08E6}" type="slidenum">
              <a:rPr lang="fr-FR" smtClean="0"/>
              <a:t>36</a:t>
            </a:fld>
            <a:endParaRPr lang="fr-FR"/>
          </a:p>
        </p:txBody>
      </p:sp>
      <p:sp>
        <p:nvSpPr>
          <p:cNvPr id="4" name="Rectangle 3">
            <a:extLst>
              <a:ext uri="{FF2B5EF4-FFF2-40B4-BE49-F238E27FC236}">
                <a16:creationId xmlns:a16="http://schemas.microsoft.com/office/drawing/2014/main" id="{8938EB0F-581D-43DF-9679-B81E2366209C}"/>
              </a:ext>
            </a:extLst>
          </p:cNvPr>
          <p:cNvSpPr/>
          <p:nvPr/>
        </p:nvSpPr>
        <p:spPr>
          <a:xfrm>
            <a:off x="504497" y="798787"/>
            <a:ext cx="11077903" cy="5078313"/>
          </a:xfrm>
          <a:prstGeom prst="rect">
            <a:avLst/>
          </a:prstGeom>
        </p:spPr>
        <p:txBody>
          <a:bodyPr wrap="square">
            <a:spAutoFit/>
          </a:bodyPr>
          <a:lstStyle/>
          <a:p>
            <a:pPr marL="457200" indent="-457200">
              <a:buAutoNum type="alphaUcParenR"/>
            </a:pPr>
            <a:r>
              <a:rPr lang="fr-CA" altLang="fr-FR" dirty="0">
                <a:latin typeface="Calibri" panose="020F0502020204030204" pitchFamily="34" charset="0"/>
              </a:rPr>
              <a:t>Choix méthode valeur d’acquisition</a:t>
            </a:r>
          </a:p>
          <a:p>
            <a:pPr marL="742950" lvl="1" indent="-285750">
              <a:buFont typeface="Arial" panose="020B0604020202020204" pitchFamily="34" charset="0"/>
              <a:buChar char="•"/>
            </a:pPr>
            <a:r>
              <a:rPr lang="fr-CA" altLang="fr-FR" dirty="0">
                <a:latin typeface="Calibri" panose="020F0502020204030204" pitchFamily="34" charset="0"/>
              </a:rPr>
              <a:t>Bilan : reste au coût – sauf dépréciation peut-être à l’année 2</a:t>
            </a:r>
          </a:p>
          <a:p>
            <a:pPr marL="742950" lvl="1" indent="-285750">
              <a:buFont typeface="Arial" panose="020B0604020202020204" pitchFamily="34" charset="0"/>
              <a:buChar char="•"/>
            </a:pPr>
            <a:r>
              <a:rPr lang="fr-CA" altLang="fr-FR" dirty="0">
                <a:latin typeface="Calibri" panose="020F0502020204030204" pitchFamily="34" charset="0"/>
              </a:rPr>
              <a:t>Résultats : montant des dividendes</a:t>
            </a:r>
          </a:p>
          <a:p>
            <a:pPr marL="285750" indent="-285750">
              <a:buFont typeface="Arial" panose="020B0604020202020204" pitchFamily="34" charset="0"/>
              <a:buChar char="•"/>
            </a:pPr>
            <a:endParaRPr lang="fr-CA" altLang="fr-FR" dirty="0">
              <a:latin typeface="Calibri" panose="020F0502020204030204" pitchFamily="34" charset="0"/>
            </a:endParaRPr>
          </a:p>
          <a:p>
            <a:r>
              <a:rPr lang="fr-CA" altLang="fr-FR" dirty="0">
                <a:latin typeface="Calibri" panose="020F0502020204030204" pitchFamily="34" charset="0"/>
              </a:rPr>
              <a:t>      Encaisse</a:t>
            </a:r>
          </a:p>
          <a:p>
            <a:r>
              <a:rPr lang="fr-CA" altLang="fr-FR" dirty="0">
                <a:latin typeface="Calibri" panose="020F0502020204030204" pitchFamily="34" charset="0"/>
              </a:rPr>
              <a:t>     @  Produit de dividendes</a:t>
            </a:r>
          </a:p>
          <a:p>
            <a:pPr marL="457200" indent="-457200">
              <a:buAutoNum type="alphaUcParenR"/>
            </a:pPr>
            <a:endParaRPr lang="fr-CA" altLang="fr-FR" dirty="0">
              <a:latin typeface="Calibri" panose="020F0502020204030204" pitchFamily="34" charset="0"/>
            </a:endParaRPr>
          </a:p>
          <a:p>
            <a:pPr marL="457200" indent="-457200">
              <a:buAutoNum type="alphaUcParenR"/>
            </a:pPr>
            <a:endParaRPr lang="fr-CA" altLang="fr-FR" dirty="0">
              <a:latin typeface="Calibri" panose="020F0502020204030204" pitchFamily="34" charset="0"/>
            </a:endParaRPr>
          </a:p>
          <a:p>
            <a:pPr marL="342900" indent="-342900">
              <a:buAutoNum type="alphaUcParenR" startAt="2"/>
            </a:pPr>
            <a:r>
              <a:rPr lang="fr-CA" altLang="fr-FR" dirty="0">
                <a:latin typeface="Calibri" panose="020F0502020204030204" pitchFamily="34" charset="0"/>
              </a:rPr>
              <a:t>Choix méthode valeur de consolidation</a:t>
            </a:r>
          </a:p>
          <a:p>
            <a:pPr marL="800100" lvl="1" indent="-342900">
              <a:buFont typeface="Arial" panose="020B0604020202020204" pitchFamily="34" charset="0"/>
              <a:buChar char="•"/>
            </a:pPr>
            <a:r>
              <a:rPr lang="fr-CA" altLang="fr-FR" dirty="0">
                <a:latin typeface="Calibri" panose="020F0502020204030204" pitchFamily="34" charset="0"/>
              </a:rPr>
              <a:t>Bilan : coût initial + QP RN – QP dividendes</a:t>
            </a:r>
          </a:p>
          <a:p>
            <a:pPr marL="800100" lvl="1" indent="-342900">
              <a:buFont typeface="Arial" panose="020B0604020202020204" pitchFamily="34" charset="0"/>
              <a:buChar char="•"/>
            </a:pPr>
            <a:r>
              <a:rPr lang="fr-CA" altLang="fr-FR" dirty="0">
                <a:latin typeface="Calibri" panose="020F0502020204030204" pitchFamily="34" charset="0"/>
              </a:rPr>
              <a:t>Résultats : QP RN</a:t>
            </a:r>
          </a:p>
          <a:p>
            <a:pPr marL="342900" indent="-342900">
              <a:buFont typeface="Arial" panose="020B0604020202020204" pitchFamily="34" charset="0"/>
              <a:buChar char="•"/>
            </a:pPr>
            <a:endParaRPr lang="fr-CA" altLang="fr-FR" dirty="0">
              <a:latin typeface="Calibri" panose="020F0502020204030204" pitchFamily="34" charset="0"/>
            </a:endParaRPr>
          </a:p>
          <a:p>
            <a:r>
              <a:rPr lang="fr-CA" altLang="fr-FR" dirty="0">
                <a:latin typeface="Calibri" panose="020F0502020204030204" pitchFamily="34" charset="0"/>
              </a:rPr>
              <a:t>      Participation</a:t>
            </a:r>
          </a:p>
          <a:p>
            <a:r>
              <a:rPr lang="fr-CA" altLang="fr-FR" dirty="0">
                <a:latin typeface="Calibri" panose="020F0502020204030204" pitchFamily="34" charset="0"/>
              </a:rPr>
              <a:t>     @  Produit de participation   (QP RN)</a:t>
            </a:r>
          </a:p>
          <a:p>
            <a:endParaRPr lang="fr-CA" altLang="fr-FR" dirty="0">
              <a:latin typeface="Calibri" panose="020F0502020204030204" pitchFamily="34" charset="0"/>
            </a:endParaRPr>
          </a:p>
          <a:p>
            <a:r>
              <a:rPr lang="fr-CA" altLang="fr-FR" dirty="0">
                <a:latin typeface="Calibri" panose="020F0502020204030204" pitchFamily="34" charset="0"/>
              </a:rPr>
              <a:t>     Encaisse</a:t>
            </a:r>
          </a:p>
          <a:p>
            <a:r>
              <a:rPr lang="fr-CA" altLang="fr-FR" dirty="0">
                <a:latin typeface="Calibri" panose="020F0502020204030204" pitchFamily="34" charset="0"/>
              </a:rPr>
              <a:t>     @  Participation   (dividendes reçus)</a:t>
            </a:r>
          </a:p>
          <a:p>
            <a:endParaRPr lang="fr-CA" altLang="fr-FR" dirty="0">
              <a:latin typeface="Calibri" panose="020F0502020204030204" pitchFamily="34" charset="0"/>
            </a:endParaRPr>
          </a:p>
        </p:txBody>
      </p:sp>
    </p:spTree>
    <p:extLst>
      <p:ext uri="{BB962C8B-B14F-4D97-AF65-F5344CB8AC3E}">
        <p14:creationId xmlns:p14="http://schemas.microsoft.com/office/powerpoint/2010/main" val="1158474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Question </a:t>
            </a:r>
          </a:p>
        </p:txBody>
      </p:sp>
      <p:sp>
        <p:nvSpPr>
          <p:cNvPr id="3" name="Espace réservé du contenu 2"/>
          <p:cNvSpPr>
            <a:spLocks noGrp="1"/>
          </p:cNvSpPr>
          <p:nvPr>
            <p:ph idx="1"/>
          </p:nvPr>
        </p:nvSpPr>
        <p:spPr>
          <a:xfrm>
            <a:off x="838200" y="1615440"/>
            <a:ext cx="10515600" cy="4877435"/>
          </a:xfrm>
        </p:spPr>
        <p:txBody>
          <a:bodyPr>
            <a:normAutofit fontScale="92500" lnSpcReduction="20000"/>
          </a:bodyPr>
          <a:lstStyle/>
          <a:p>
            <a:pPr marL="0" indent="0">
              <a:buNone/>
            </a:pPr>
            <a:r>
              <a:rPr lang="fr-CA" sz="2600" dirty="0"/>
              <a:t>ABC a acquis l’ensemble des équipements et certains autres éléments d’actif d’une division de XYZ pour la somme de 400 000 $.</a:t>
            </a:r>
          </a:p>
          <a:p>
            <a:pPr marL="0" indent="0">
              <a:buNone/>
            </a:pPr>
            <a:endParaRPr lang="fr-CA" sz="2400" dirty="0"/>
          </a:p>
          <a:p>
            <a:pPr marL="0" indent="0">
              <a:buNone/>
            </a:pPr>
            <a:endParaRPr lang="fr-CA" dirty="0"/>
          </a:p>
          <a:p>
            <a:pPr marL="0" indent="0">
              <a:buNone/>
            </a:pPr>
            <a:endParaRPr lang="fr-CA" dirty="0"/>
          </a:p>
          <a:p>
            <a:pPr marL="0" indent="0">
              <a:buNone/>
            </a:pPr>
            <a:endParaRPr lang="fr-CA" dirty="0"/>
          </a:p>
          <a:p>
            <a:pPr marL="0" indent="0">
              <a:buNone/>
            </a:pPr>
            <a:endParaRPr lang="fr-CA" dirty="0"/>
          </a:p>
          <a:p>
            <a:pPr marL="0" indent="0">
              <a:buNone/>
            </a:pPr>
            <a:endParaRPr lang="fr-CA" sz="1200" dirty="0"/>
          </a:p>
          <a:p>
            <a:pPr marL="0" indent="0">
              <a:buNone/>
            </a:pPr>
            <a:r>
              <a:rPr lang="fr-CA" sz="2600" dirty="0"/>
              <a:t>De plus, ABC a été autorisée à approcher les employés de la division pour leur offrir un poste équivalent, ce qui avait été une condition d’ABC. Presque tous les employés ont accepté l’offre. ABC estime que des employés déjà « formés » a certainement une valeur de 20 000 $.</a:t>
            </a:r>
          </a:p>
          <a:p>
            <a:pPr marL="0" indent="0">
              <a:buNone/>
            </a:pPr>
            <a:endParaRPr lang="fr-CA" sz="2600" dirty="0"/>
          </a:p>
          <a:p>
            <a:pPr marL="0" indent="0">
              <a:buNone/>
            </a:pPr>
            <a:r>
              <a:rPr lang="fr-CA" sz="2600" i="1" dirty="0"/>
              <a:t>Déterminez le traitement comptable dans les livres d’ABC.</a:t>
            </a:r>
            <a:endParaRPr lang="fr-CA" sz="3000" dirty="0"/>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37</a:t>
            </a:fld>
            <a:endParaRPr lang="fr-FR"/>
          </a:p>
        </p:txBody>
      </p:sp>
      <p:sp>
        <p:nvSpPr>
          <p:cNvPr id="5" name="Espace réservé du pied de page 4">
            <a:extLst>
              <a:ext uri="{FF2B5EF4-FFF2-40B4-BE49-F238E27FC236}">
                <a16:creationId xmlns:a16="http://schemas.microsoft.com/office/drawing/2014/main" id="{4F96E7D5-CCC6-4B62-BE0B-F4CD7BD529FD}"/>
              </a:ext>
            </a:extLst>
          </p:cNvPr>
          <p:cNvSpPr>
            <a:spLocks noGrp="1"/>
          </p:cNvSpPr>
          <p:nvPr>
            <p:ph type="ftr" sz="quarter" idx="11"/>
          </p:nvPr>
        </p:nvSpPr>
        <p:spPr/>
        <p:txBody>
          <a:bodyPr/>
          <a:lstStyle/>
          <a:p>
            <a:r>
              <a:rPr lang="fr-FR"/>
              <a:t>Droits réservés - Louise Overbeek</a:t>
            </a:r>
          </a:p>
        </p:txBody>
      </p:sp>
      <p:graphicFrame>
        <p:nvGraphicFramePr>
          <p:cNvPr id="6" name="Tableau 6">
            <a:extLst>
              <a:ext uri="{FF2B5EF4-FFF2-40B4-BE49-F238E27FC236}">
                <a16:creationId xmlns:a16="http://schemas.microsoft.com/office/drawing/2014/main" id="{49F68EE7-F540-4E3D-B743-021B106B1134}"/>
              </a:ext>
            </a:extLst>
          </p:cNvPr>
          <p:cNvGraphicFramePr>
            <a:graphicFrameLocks noGrp="1"/>
          </p:cNvGraphicFramePr>
          <p:nvPr/>
        </p:nvGraphicFramePr>
        <p:xfrm>
          <a:off x="943241" y="2320224"/>
          <a:ext cx="8114890" cy="1854200"/>
        </p:xfrm>
        <a:graphic>
          <a:graphicData uri="http://schemas.openxmlformats.org/drawingml/2006/table">
            <a:tbl>
              <a:tblPr firstRow="1" bandRow="1">
                <a:tableStyleId>{5C22544A-7EE6-4342-B048-85BDC9FD1C3A}</a:tableStyleId>
              </a:tblPr>
              <a:tblGrid>
                <a:gridCol w="4424516">
                  <a:extLst>
                    <a:ext uri="{9D8B030D-6E8A-4147-A177-3AD203B41FA5}">
                      <a16:colId xmlns:a16="http://schemas.microsoft.com/office/drawing/2014/main" val="260755994"/>
                    </a:ext>
                  </a:extLst>
                </a:gridCol>
                <a:gridCol w="1838633">
                  <a:extLst>
                    <a:ext uri="{9D8B030D-6E8A-4147-A177-3AD203B41FA5}">
                      <a16:colId xmlns:a16="http://schemas.microsoft.com/office/drawing/2014/main" val="3778498515"/>
                    </a:ext>
                  </a:extLst>
                </a:gridCol>
                <a:gridCol w="1851741">
                  <a:extLst>
                    <a:ext uri="{9D8B030D-6E8A-4147-A177-3AD203B41FA5}">
                      <a16:colId xmlns:a16="http://schemas.microsoft.com/office/drawing/2014/main" val="4167136481"/>
                    </a:ext>
                  </a:extLst>
                </a:gridCol>
              </a:tblGrid>
              <a:tr h="370840">
                <a:tc>
                  <a:txBody>
                    <a:bodyPr/>
                    <a:lstStyle/>
                    <a:p>
                      <a:endParaRPr lang="fr-FR" sz="1600" dirty="0"/>
                    </a:p>
                  </a:txBody>
                  <a:tcPr/>
                </a:tc>
                <a:tc>
                  <a:txBody>
                    <a:bodyPr/>
                    <a:lstStyle/>
                    <a:p>
                      <a:pPr algn="ctr"/>
                      <a:r>
                        <a:rPr lang="fr-CA" sz="1600" dirty="0"/>
                        <a:t>Valeur comptable</a:t>
                      </a:r>
                      <a:endParaRPr lang="fr-FR" sz="1600" dirty="0"/>
                    </a:p>
                  </a:txBody>
                  <a:tcPr/>
                </a:tc>
                <a:tc>
                  <a:txBody>
                    <a:bodyPr/>
                    <a:lstStyle/>
                    <a:p>
                      <a:pPr algn="ctr"/>
                      <a:r>
                        <a:rPr lang="fr-CA" sz="1600" dirty="0"/>
                        <a:t>Juste valeur établie</a:t>
                      </a:r>
                      <a:endParaRPr lang="fr-FR" sz="1600" dirty="0"/>
                    </a:p>
                  </a:txBody>
                  <a:tcPr/>
                </a:tc>
                <a:extLst>
                  <a:ext uri="{0D108BD9-81ED-4DB2-BD59-A6C34878D82A}">
                    <a16:rowId xmlns:a16="http://schemas.microsoft.com/office/drawing/2014/main" val="3189762882"/>
                  </a:ext>
                </a:extLst>
              </a:tr>
              <a:tr h="370840">
                <a:tc>
                  <a:txBody>
                    <a:bodyPr/>
                    <a:lstStyle/>
                    <a:p>
                      <a:r>
                        <a:rPr lang="fr-CA" sz="1600" dirty="0"/>
                        <a:t>Stocks</a:t>
                      </a:r>
                      <a:endParaRPr lang="fr-FR" sz="1600" dirty="0"/>
                    </a:p>
                  </a:txBody>
                  <a:tcPr/>
                </a:tc>
                <a:tc>
                  <a:txBody>
                    <a:bodyPr/>
                    <a:lstStyle/>
                    <a:p>
                      <a:pPr algn="r"/>
                      <a:r>
                        <a:rPr lang="fr-CA" sz="1600" dirty="0"/>
                        <a:t>30 000 $</a:t>
                      </a:r>
                      <a:endParaRPr lang="fr-FR" sz="1600" dirty="0"/>
                    </a:p>
                  </a:txBody>
                  <a:tcPr/>
                </a:tc>
                <a:tc>
                  <a:txBody>
                    <a:bodyPr/>
                    <a:lstStyle/>
                    <a:p>
                      <a:pPr algn="r"/>
                      <a:r>
                        <a:rPr lang="fr-CA" sz="1600" dirty="0"/>
                        <a:t>30 000 $</a:t>
                      </a:r>
                      <a:endParaRPr lang="fr-FR" sz="1600" dirty="0"/>
                    </a:p>
                  </a:txBody>
                  <a:tcPr/>
                </a:tc>
                <a:extLst>
                  <a:ext uri="{0D108BD9-81ED-4DB2-BD59-A6C34878D82A}">
                    <a16:rowId xmlns:a16="http://schemas.microsoft.com/office/drawing/2014/main" val="2772561267"/>
                  </a:ext>
                </a:extLst>
              </a:tr>
              <a:tr h="370840">
                <a:tc>
                  <a:txBody>
                    <a:bodyPr/>
                    <a:lstStyle/>
                    <a:p>
                      <a:r>
                        <a:rPr lang="fr-CA" sz="1600" dirty="0"/>
                        <a:t>Tous les équipements de production</a:t>
                      </a:r>
                      <a:endParaRPr lang="fr-FR" sz="1600" dirty="0"/>
                    </a:p>
                  </a:txBody>
                  <a:tcPr/>
                </a:tc>
                <a:tc>
                  <a:txBody>
                    <a:bodyPr/>
                    <a:lstStyle/>
                    <a:p>
                      <a:pPr algn="r"/>
                      <a:r>
                        <a:rPr lang="fr-CA" sz="1600" dirty="0"/>
                        <a:t>200 000 $</a:t>
                      </a:r>
                      <a:endParaRPr lang="fr-FR" sz="1600" dirty="0"/>
                    </a:p>
                  </a:txBody>
                  <a:tcPr/>
                </a:tc>
                <a:tc>
                  <a:txBody>
                    <a:bodyPr/>
                    <a:lstStyle/>
                    <a:p>
                      <a:pPr algn="r"/>
                      <a:r>
                        <a:rPr lang="fr-CA" sz="1600" dirty="0"/>
                        <a:t>180 000 $</a:t>
                      </a:r>
                      <a:endParaRPr lang="fr-FR" sz="1600" dirty="0"/>
                    </a:p>
                  </a:txBody>
                  <a:tcPr/>
                </a:tc>
                <a:extLst>
                  <a:ext uri="{0D108BD9-81ED-4DB2-BD59-A6C34878D82A}">
                    <a16:rowId xmlns:a16="http://schemas.microsoft.com/office/drawing/2014/main" val="1265551166"/>
                  </a:ext>
                </a:extLst>
              </a:tr>
              <a:tr h="370840">
                <a:tc>
                  <a:txBody>
                    <a:bodyPr/>
                    <a:lstStyle/>
                    <a:p>
                      <a:r>
                        <a:rPr lang="fr-CA" sz="1600" dirty="0"/>
                        <a:t>Matériel roulant</a:t>
                      </a:r>
                      <a:endParaRPr lang="fr-FR" sz="1600" dirty="0"/>
                    </a:p>
                  </a:txBody>
                  <a:tcPr/>
                </a:tc>
                <a:tc>
                  <a:txBody>
                    <a:bodyPr/>
                    <a:lstStyle/>
                    <a:p>
                      <a:pPr algn="r"/>
                      <a:r>
                        <a:rPr lang="fr-CA" sz="1600" dirty="0"/>
                        <a:t>110 000 $</a:t>
                      </a:r>
                      <a:endParaRPr lang="fr-FR" sz="1600" dirty="0"/>
                    </a:p>
                  </a:txBody>
                  <a:tcPr/>
                </a:tc>
                <a:tc>
                  <a:txBody>
                    <a:bodyPr/>
                    <a:lstStyle/>
                    <a:p>
                      <a:pPr algn="r"/>
                      <a:r>
                        <a:rPr lang="fr-CA" sz="1600" dirty="0"/>
                        <a:t>90 000 $</a:t>
                      </a:r>
                      <a:endParaRPr lang="fr-FR" sz="1600" dirty="0"/>
                    </a:p>
                  </a:txBody>
                  <a:tcPr/>
                </a:tc>
                <a:extLst>
                  <a:ext uri="{0D108BD9-81ED-4DB2-BD59-A6C34878D82A}">
                    <a16:rowId xmlns:a16="http://schemas.microsoft.com/office/drawing/2014/main" val="3262976695"/>
                  </a:ext>
                </a:extLst>
              </a:tr>
              <a:tr h="370840">
                <a:tc>
                  <a:txBody>
                    <a:bodyPr/>
                    <a:lstStyle/>
                    <a:p>
                      <a:r>
                        <a:rPr lang="fr-CA" sz="1600" dirty="0"/>
                        <a:t>Marque de commerce</a:t>
                      </a:r>
                      <a:endParaRPr lang="fr-FR" sz="1600" dirty="0"/>
                    </a:p>
                  </a:txBody>
                  <a:tcPr/>
                </a:tc>
                <a:tc>
                  <a:txBody>
                    <a:bodyPr/>
                    <a:lstStyle/>
                    <a:p>
                      <a:pPr algn="r"/>
                      <a:r>
                        <a:rPr lang="fr-CA" sz="1600" dirty="0"/>
                        <a:t>0 $</a:t>
                      </a:r>
                      <a:endParaRPr lang="fr-FR" sz="1600" dirty="0"/>
                    </a:p>
                  </a:txBody>
                  <a:tcPr/>
                </a:tc>
                <a:tc>
                  <a:txBody>
                    <a:bodyPr/>
                    <a:lstStyle/>
                    <a:p>
                      <a:pPr algn="r"/>
                      <a:r>
                        <a:rPr lang="fr-CA" sz="1600" dirty="0"/>
                        <a:t>40 000 $</a:t>
                      </a:r>
                      <a:endParaRPr lang="fr-FR" sz="1600" dirty="0"/>
                    </a:p>
                  </a:txBody>
                  <a:tcPr/>
                </a:tc>
                <a:extLst>
                  <a:ext uri="{0D108BD9-81ED-4DB2-BD59-A6C34878D82A}">
                    <a16:rowId xmlns:a16="http://schemas.microsoft.com/office/drawing/2014/main" val="3902762778"/>
                  </a:ext>
                </a:extLst>
              </a:tr>
            </a:tbl>
          </a:graphicData>
        </a:graphic>
      </p:graphicFrame>
    </p:spTree>
    <p:extLst>
      <p:ext uri="{BB962C8B-B14F-4D97-AF65-F5344CB8AC3E}">
        <p14:creationId xmlns:p14="http://schemas.microsoft.com/office/powerpoint/2010/main" val="11171601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C6F92C6A-B777-D2D1-C745-FCD0ED4F4FA9}"/>
            </a:ext>
          </a:extLst>
        </p:cNvPr>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27D3F6CE-85D0-1517-32F7-DE2BC95B6330}"/>
              </a:ext>
            </a:extLst>
          </p:cNvPr>
          <p:cNvSpPr>
            <a:spLocks noGrp="1"/>
          </p:cNvSpPr>
          <p:nvPr>
            <p:ph type="ftr" sz="quarter" idx="11"/>
          </p:nvPr>
        </p:nvSpPr>
        <p:spPr/>
        <p:txBody>
          <a:bodyPr/>
          <a:lstStyle/>
          <a:p>
            <a:r>
              <a:rPr lang="fr-FR"/>
              <a:t>Droits réservés - Louise Overbeek</a:t>
            </a:r>
          </a:p>
        </p:txBody>
      </p:sp>
      <p:sp>
        <p:nvSpPr>
          <p:cNvPr id="3" name="Espace réservé du numéro de diapositive 2">
            <a:extLst>
              <a:ext uri="{FF2B5EF4-FFF2-40B4-BE49-F238E27FC236}">
                <a16:creationId xmlns:a16="http://schemas.microsoft.com/office/drawing/2014/main" id="{21FE160A-ACAE-4B5A-327E-CD380DDF442B}"/>
              </a:ext>
            </a:extLst>
          </p:cNvPr>
          <p:cNvSpPr>
            <a:spLocks noGrp="1"/>
          </p:cNvSpPr>
          <p:nvPr>
            <p:ph type="sldNum" sz="quarter" idx="12"/>
          </p:nvPr>
        </p:nvSpPr>
        <p:spPr/>
        <p:txBody>
          <a:bodyPr/>
          <a:lstStyle/>
          <a:p>
            <a:fld id="{4CAA9DFC-C24B-450E-B112-88B1D83A08E6}" type="slidenum">
              <a:rPr lang="fr-FR" smtClean="0"/>
              <a:t>38</a:t>
            </a:fld>
            <a:endParaRPr lang="fr-FR"/>
          </a:p>
        </p:txBody>
      </p:sp>
      <p:sp>
        <p:nvSpPr>
          <p:cNvPr id="4" name="Rectangle 3">
            <a:extLst>
              <a:ext uri="{FF2B5EF4-FFF2-40B4-BE49-F238E27FC236}">
                <a16:creationId xmlns:a16="http://schemas.microsoft.com/office/drawing/2014/main" id="{878C014C-18CD-452F-D186-EF1D6F7C2668}"/>
              </a:ext>
            </a:extLst>
          </p:cNvPr>
          <p:cNvSpPr/>
          <p:nvPr/>
        </p:nvSpPr>
        <p:spPr>
          <a:xfrm>
            <a:off x="557048" y="1979517"/>
            <a:ext cx="11077903" cy="4154984"/>
          </a:xfrm>
          <a:prstGeom prst="rect">
            <a:avLst/>
          </a:prstGeom>
        </p:spPr>
        <p:txBody>
          <a:bodyPr wrap="square">
            <a:spAutoFit/>
          </a:bodyPr>
          <a:lstStyle/>
          <a:p>
            <a:pPr marL="457200" indent="-457200">
              <a:buAutoNum type="arabicParenR"/>
            </a:pPr>
            <a:r>
              <a:rPr lang="fr-CA" altLang="fr-FR" sz="2400" b="1" dirty="0">
                <a:latin typeface="Calibri" panose="020F0502020204030204" pitchFamily="34" charset="0"/>
              </a:rPr>
              <a:t>S’agit-il d’une entreprise</a:t>
            </a:r>
          </a:p>
          <a:p>
            <a:pPr marL="342900" indent="-342900">
              <a:buFont typeface="Arial" panose="020B0604020202020204" pitchFamily="34" charset="0"/>
              <a:buChar char="•"/>
            </a:pPr>
            <a:r>
              <a:rPr lang="fr-CA" altLang="fr-FR" sz="2400" dirty="0">
                <a:latin typeface="Calibri" panose="020F0502020204030204" pitchFamily="34" charset="0"/>
              </a:rPr>
              <a:t>Faire l’analyse avec la définition d’une entreprise</a:t>
            </a:r>
          </a:p>
          <a:p>
            <a:pPr marL="342900" indent="-342900">
              <a:buFont typeface="Arial" panose="020B0604020202020204" pitchFamily="34" charset="0"/>
              <a:buChar char="•"/>
            </a:pPr>
            <a:r>
              <a:rPr lang="fr-CA" altLang="fr-FR" sz="2400" dirty="0">
                <a:latin typeface="Calibri" panose="020F0502020204030204" pitchFamily="34" charset="0"/>
              </a:rPr>
              <a:t>Conclusion : oui donc il s’agit d’un regroupement d’entreprises</a:t>
            </a:r>
          </a:p>
          <a:p>
            <a:pPr lvl="1"/>
            <a:endParaRPr lang="fr-CA" altLang="fr-FR" sz="2400" dirty="0">
              <a:latin typeface="Calibri" panose="020F0502020204030204" pitchFamily="34" charset="0"/>
            </a:endParaRPr>
          </a:p>
          <a:p>
            <a:r>
              <a:rPr lang="fr-CA" altLang="fr-FR" sz="2400" dirty="0">
                <a:latin typeface="Calibri" panose="020F0502020204030204" pitchFamily="34" charset="0"/>
              </a:rPr>
              <a:t>2) </a:t>
            </a:r>
            <a:r>
              <a:rPr lang="fr-CA" altLang="fr-FR" sz="2400" b="1" dirty="0">
                <a:latin typeface="Calibri" panose="020F0502020204030204" pitchFamily="34" charset="0"/>
              </a:rPr>
              <a:t>Traitement comptable</a:t>
            </a:r>
          </a:p>
          <a:p>
            <a:pPr marL="342900" indent="-342900">
              <a:buFont typeface="Arial" panose="020B0604020202020204" pitchFamily="34" charset="0"/>
              <a:buChar char="•"/>
            </a:pPr>
            <a:r>
              <a:rPr lang="fr-CA" altLang="fr-FR" sz="2400" dirty="0">
                <a:latin typeface="Calibri" panose="020F0502020204030204" pitchFamily="34" charset="0"/>
              </a:rPr>
              <a:t>IFRS : EF consolidés</a:t>
            </a:r>
          </a:p>
          <a:p>
            <a:pPr marL="800100" lvl="1" indent="-342900">
              <a:buFont typeface="Arial" panose="020B0604020202020204" pitchFamily="34" charset="0"/>
              <a:buChar char="•"/>
            </a:pPr>
            <a:r>
              <a:rPr lang="fr-CA" altLang="fr-FR" sz="2400" dirty="0">
                <a:latin typeface="Calibri" panose="020F0502020204030204" pitchFamily="34" charset="0"/>
              </a:rPr>
              <a:t>Calculer le goodwill à la date de regroupement</a:t>
            </a:r>
          </a:p>
          <a:p>
            <a:pPr marL="1257300" lvl="2" indent="-342900">
              <a:buFont typeface="Arial" panose="020B0604020202020204" pitchFamily="34" charset="0"/>
              <a:buChar char="•"/>
            </a:pPr>
            <a:r>
              <a:rPr lang="fr-CA" altLang="fr-FR" sz="2400" dirty="0">
                <a:latin typeface="Calibri" panose="020F0502020204030204" pitchFamily="34" charset="0"/>
              </a:rPr>
              <a:t>Les « employés » ne sont pas un actif identifiable (IAS 38 / 3064)</a:t>
            </a:r>
          </a:p>
          <a:p>
            <a:pPr marL="342900" indent="-342900">
              <a:buFont typeface="Arial" panose="020B0604020202020204" pitchFamily="34" charset="0"/>
              <a:buChar char="•"/>
            </a:pPr>
            <a:r>
              <a:rPr lang="fr-CA" altLang="fr-FR" sz="2400" dirty="0">
                <a:latin typeface="Calibri" panose="020F0502020204030204" pitchFamily="34" charset="0"/>
              </a:rPr>
              <a:t>NCECF : chois de méthodes comptables</a:t>
            </a:r>
          </a:p>
          <a:p>
            <a:pPr marL="800100" lvl="1" indent="-342900">
              <a:buFont typeface="Arial" panose="020B0604020202020204" pitchFamily="34" charset="0"/>
              <a:buChar char="•"/>
            </a:pPr>
            <a:r>
              <a:rPr lang="fr-CA" altLang="fr-FR" sz="2400" dirty="0">
                <a:latin typeface="Calibri" panose="020F0502020204030204" pitchFamily="34" charset="0"/>
              </a:rPr>
              <a:t>Analyse</a:t>
            </a:r>
          </a:p>
          <a:p>
            <a:pPr marL="800100" lvl="1" indent="-342900">
              <a:buFont typeface="Arial" panose="020B0604020202020204" pitchFamily="34" charset="0"/>
              <a:buChar char="•"/>
            </a:pPr>
            <a:r>
              <a:rPr lang="fr-CA" altLang="fr-FR" sz="2400" dirty="0">
                <a:latin typeface="Calibri" panose="020F0502020204030204" pitchFamily="34" charset="0"/>
              </a:rPr>
              <a:t>Recommandation en lien avec les parties prenantes</a:t>
            </a:r>
          </a:p>
        </p:txBody>
      </p:sp>
      <p:sp>
        <p:nvSpPr>
          <p:cNvPr id="5" name="ZoneTexte 4">
            <a:extLst>
              <a:ext uri="{FF2B5EF4-FFF2-40B4-BE49-F238E27FC236}">
                <a16:creationId xmlns:a16="http://schemas.microsoft.com/office/drawing/2014/main" id="{7F8C659D-A392-7208-5E21-823897502C83}"/>
              </a:ext>
            </a:extLst>
          </p:cNvPr>
          <p:cNvSpPr txBox="1"/>
          <p:nvPr/>
        </p:nvSpPr>
        <p:spPr>
          <a:xfrm>
            <a:off x="594804" y="719091"/>
            <a:ext cx="11043821" cy="707886"/>
          </a:xfrm>
          <a:prstGeom prst="rect">
            <a:avLst/>
          </a:prstGeom>
          <a:noFill/>
        </p:spPr>
        <p:txBody>
          <a:bodyPr wrap="square" rtlCol="0">
            <a:spAutoFit/>
          </a:bodyPr>
          <a:lstStyle/>
          <a:p>
            <a:r>
              <a:rPr lang="fr-CA" sz="4000" dirty="0"/>
              <a:t>Solution</a:t>
            </a:r>
            <a:endParaRPr lang="fr-FR" sz="4000" dirty="0"/>
          </a:p>
        </p:txBody>
      </p:sp>
    </p:spTree>
    <p:extLst>
      <p:ext uri="{BB962C8B-B14F-4D97-AF65-F5344CB8AC3E}">
        <p14:creationId xmlns:p14="http://schemas.microsoft.com/office/powerpoint/2010/main" val="3015350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F3016F-0A9D-3C28-51B6-B163E28AF5D8}"/>
              </a:ext>
            </a:extLst>
          </p:cNvPr>
          <p:cNvSpPr>
            <a:spLocks noGrp="1"/>
          </p:cNvSpPr>
          <p:nvPr>
            <p:ph type="title"/>
          </p:nvPr>
        </p:nvSpPr>
        <p:spPr/>
        <p:txBody>
          <a:bodyPr/>
          <a:lstStyle/>
          <a:p>
            <a:r>
              <a:rPr lang="fr-CA" dirty="0"/>
              <a:t>Placements avec influence</a:t>
            </a:r>
            <a:endParaRPr lang="fr-FR" dirty="0"/>
          </a:p>
        </p:txBody>
      </p:sp>
      <p:sp>
        <p:nvSpPr>
          <p:cNvPr id="3" name="Espace réservé du contenu 2">
            <a:extLst>
              <a:ext uri="{FF2B5EF4-FFF2-40B4-BE49-F238E27FC236}">
                <a16:creationId xmlns:a16="http://schemas.microsoft.com/office/drawing/2014/main" id="{BF380F6C-EEAC-8643-C3F6-D57F34A96EC0}"/>
              </a:ext>
            </a:extLst>
          </p:cNvPr>
          <p:cNvSpPr>
            <a:spLocks noGrp="1"/>
          </p:cNvSpPr>
          <p:nvPr>
            <p:ph idx="1"/>
          </p:nvPr>
        </p:nvSpPr>
        <p:spPr/>
        <p:txBody>
          <a:bodyPr/>
          <a:lstStyle/>
          <a:p>
            <a:r>
              <a:rPr lang="fr-FR" dirty="0">
                <a:solidFill>
                  <a:srgbClr val="3366FF"/>
                </a:solidFill>
              </a:rPr>
              <a:t>Montant « négatif » (créditeur) </a:t>
            </a:r>
            <a:r>
              <a:rPr lang="fr-FR" dirty="0"/>
              <a:t>si garantit les obligations ou prévoit que redeviendra rentable sous peu</a:t>
            </a:r>
          </a:p>
          <a:p>
            <a:endParaRPr lang="fr-FR" dirty="0"/>
          </a:p>
        </p:txBody>
      </p:sp>
      <p:sp>
        <p:nvSpPr>
          <p:cNvPr id="4" name="Espace réservé du pied de page 3">
            <a:extLst>
              <a:ext uri="{FF2B5EF4-FFF2-40B4-BE49-F238E27FC236}">
                <a16:creationId xmlns:a16="http://schemas.microsoft.com/office/drawing/2014/main" id="{32916422-1CA5-E151-A746-980A571526C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FC5A036-153C-581E-95EE-B1675231625B}"/>
              </a:ext>
            </a:extLst>
          </p:cNvPr>
          <p:cNvSpPr>
            <a:spLocks noGrp="1"/>
          </p:cNvSpPr>
          <p:nvPr>
            <p:ph type="sldNum" sz="quarter" idx="12"/>
          </p:nvPr>
        </p:nvSpPr>
        <p:spPr/>
        <p:txBody>
          <a:bodyPr/>
          <a:lstStyle/>
          <a:p>
            <a:fld id="{BA55C67B-76F5-4A5A-9DE0-EA5E28301294}" type="slidenum">
              <a:rPr lang="fr-FR" smtClean="0"/>
              <a:t>39</a:t>
            </a:fld>
            <a:endParaRPr lang="fr-FR"/>
          </a:p>
        </p:txBody>
      </p:sp>
    </p:spTree>
    <p:extLst>
      <p:ext uri="{BB962C8B-B14F-4D97-AF65-F5344CB8AC3E}">
        <p14:creationId xmlns:p14="http://schemas.microsoft.com/office/powerpoint/2010/main" val="3966268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2E9A-28F6-CA3F-94BF-6E2D24C1405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DB442D-F714-2913-26C1-6409E3799BA3}"/>
              </a:ext>
            </a:extLst>
          </p:cNvPr>
          <p:cNvSpPr>
            <a:spLocks noGrp="1"/>
          </p:cNvSpPr>
          <p:nvPr>
            <p:ph type="title"/>
          </p:nvPr>
        </p:nvSpPr>
        <p:spPr/>
        <p:txBody>
          <a:bodyPr/>
          <a:lstStyle/>
          <a:p>
            <a:r>
              <a:rPr lang="fr-CA" sz="4000" dirty="0"/>
              <a:t>Placements avec influence notable</a:t>
            </a:r>
            <a:endParaRPr lang="fr-FR" dirty="0"/>
          </a:p>
        </p:txBody>
      </p:sp>
      <p:sp>
        <p:nvSpPr>
          <p:cNvPr id="3" name="Espace réservé du contenu 2">
            <a:extLst>
              <a:ext uri="{FF2B5EF4-FFF2-40B4-BE49-F238E27FC236}">
                <a16:creationId xmlns:a16="http://schemas.microsoft.com/office/drawing/2014/main" id="{56F3EEEF-42A5-6D10-2AF4-29D97A3F5B33}"/>
              </a:ext>
            </a:extLst>
          </p:cNvPr>
          <p:cNvSpPr>
            <a:spLocks noGrp="1"/>
          </p:cNvSpPr>
          <p:nvPr>
            <p:ph idx="1"/>
          </p:nvPr>
        </p:nvSpPr>
        <p:spPr>
          <a:xfrm>
            <a:off x="838200" y="1690688"/>
            <a:ext cx="10515600" cy="4486275"/>
          </a:xfrm>
        </p:spPr>
        <p:txBody>
          <a:bodyPr>
            <a:normAutofit/>
          </a:bodyPr>
          <a:lstStyle/>
          <a:p>
            <a:pPr marL="447675" lvl="1" indent="-447675">
              <a:buNone/>
            </a:pPr>
            <a:r>
              <a:rPr lang="fr-CA" sz="2800" dirty="0"/>
              <a:t>Différences IFRS – NCECF :</a:t>
            </a:r>
          </a:p>
          <a:p>
            <a:pPr marL="447675" lvl="1" indent="-447675"/>
            <a:r>
              <a:rPr lang="fr-CA" dirty="0"/>
              <a:t>NCECF : choix de </a:t>
            </a:r>
            <a:r>
              <a:rPr lang="fr-CA" b="1" dirty="0">
                <a:highlight>
                  <a:srgbClr val="FFFF00"/>
                </a:highlight>
              </a:rPr>
              <a:t>méthodes comptables</a:t>
            </a:r>
          </a:p>
          <a:p>
            <a:pPr marL="904875" lvl="2" indent="-447675"/>
            <a:r>
              <a:rPr lang="fr-CA" dirty="0">
                <a:highlight>
                  <a:srgbClr val="FFFF00"/>
                </a:highlight>
              </a:rPr>
              <a:t>Valeur</a:t>
            </a:r>
            <a:r>
              <a:rPr lang="fr-CA" dirty="0"/>
              <a:t> de consolidation (identique à la méthode mise en équivalence)</a:t>
            </a:r>
          </a:p>
          <a:p>
            <a:pPr marL="904875" lvl="2" indent="-447675"/>
            <a:r>
              <a:rPr lang="fr-CA" dirty="0">
                <a:highlight>
                  <a:srgbClr val="FFFF00"/>
                </a:highlight>
              </a:rPr>
              <a:t>Valeur</a:t>
            </a:r>
            <a:r>
              <a:rPr lang="fr-CA" dirty="0"/>
              <a:t> d’acquisition</a:t>
            </a:r>
          </a:p>
          <a:p>
            <a:pPr marL="1362075" lvl="3" indent="-447675"/>
            <a:r>
              <a:rPr lang="fr-FR" dirty="0"/>
              <a:t>Comptabiliser toutes les participations dans des entités sous influence notable selon la même méthode</a:t>
            </a:r>
            <a:endParaRPr lang="fr-CA" altLang="fr-FR" sz="2200" dirty="0">
              <a:latin typeface="Calibri" panose="020F0502020204030204" pitchFamily="34" charset="0"/>
            </a:endParaRPr>
          </a:p>
          <a:p>
            <a:pPr marL="904875" lvl="2" indent="-447675"/>
            <a:endParaRPr lang="fr-CA" dirty="0"/>
          </a:p>
          <a:p>
            <a:pPr lvl="2">
              <a:buFont typeface="Wingdings" panose="05000000000000000000" pitchFamily="2" charset="2"/>
              <a:buChar char="Ø"/>
            </a:pPr>
            <a:r>
              <a:rPr lang="fr-CA" dirty="0"/>
              <a:t>Recommander en lien avec besoin/biais partie prenante (nommer la partie prenante)</a:t>
            </a:r>
          </a:p>
          <a:p>
            <a:pPr lvl="2">
              <a:buFont typeface="Wingdings" panose="05000000000000000000" pitchFamily="2" charset="2"/>
              <a:buChar char="Ø"/>
            </a:pPr>
            <a:endParaRPr lang="fr-CA" dirty="0"/>
          </a:p>
          <a:p>
            <a:pPr marL="914400" lvl="2" indent="0">
              <a:buNone/>
            </a:pPr>
            <a:endParaRPr lang="fr-CA" dirty="0"/>
          </a:p>
        </p:txBody>
      </p:sp>
      <p:sp>
        <p:nvSpPr>
          <p:cNvPr id="4" name="Espace réservé du pied de page 3">
            <a:extLst>
              <a:ext uri="{FF2B5EF4-FFF2-40B4-BE49-F238E27FC236}">
                <a16:creationId xmlns:a16="http://schemas.microsoft.com/office/drawing/2014/main" id="{4A1E6EF0-8D49-B85F-96AE-3F4D91B6B07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3E2EB0E-D519-B72E-573F-3CECDA401799}"/>
              </a:ext>
            </a:extLst>
          </p:cNvPr>
          <p:cNvSpPr>
            <a:spLocks noGrp="1"/>
          </p:cNvSpPr>
          <p:nvPr>
            <p:ph type="sldNum" sz="quarter" idx="12"/>
          </p:nvPr>
        </p:nvSpPr>
        <p:spPr/>
        <p:txBody>
          <a:bodyPr/>
          <a:lstStyle/>
          <a:p>
            <a:fld id="{BA55C67B-76F5-4A5A-9DE0-EA5E28301294}" type="slidenum">
              <a:rPr lang="fr-FR" smtClean="0"/>
              <a:t>40</a:t>
            </a:fld>
            <a:endParaRPr lang="fr-FR"/>
          </a:p>
        </p:txBody>
      </p:sp>
    </p:spTree>
    <p:extLst>
      <p:ext uri="{BB962C8B-B14F-4D97-AF65-F5344CB8AC3E}">
        <p14:creationId xmlns:p14="http://schemas.microsoft.com/office/powerpoint/2010/main" val="4128507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EA1BB5-EFA4-231F-ADA3-CC157FA37E8F}"/>
              </a:ext>
            </a:extLst>
          </p:cNvPr>
          <p:cNvSpPr>
            <a:spLocks noGrp="1"/>
          </p:cNvSpPr>
          <p:nvPr>
            <p:ph type="title"/>
          </p:nvPr>
        </p:nvSpPr>
        <p:spPr/>
        <p:txBody>
          <a:bodyPr/>
          <a:lstStyle/>
          <a:p>
            <a:r>
              <a:rPr lang="fr-CA" dirty="0"/>
              <a:t>Dépréciation</a:t>
            </a:r>
            <a:endParaRPr lang="fr-FR" dirty="0"/>
          </a:p>
        </p:txBody>
      </p:sp>
      <p:sp>
        <p:nvSpPr>
          <p:cNvPr id="3" name="Espace réservé du contenu 2">
            <a:extLst>
              <a:ext uri="{FF2B5EF4-FFF2-40B4-BE49-F238E27FC236}">
                <a16:creationId xmlns:a16="http://schemas.microsoft.com/office/drawing/2014/main" id="{94C38CA3-D080-65A1-5336-2AE870FEB6EB}"/>
              </a:ext>
            </a:extLst>
          </p:cNvPr>
          <p:cNvSpPr>
            <a:spLocks noGrp="1"/>
          </p:cNvSpPr>
          <p:nvPr>
            <p:ph idx="1"/>
          </p:nvPr>
        </p:nvSpPr>
        <p:spPr/>
        <p:txBody>
          <a:bodyPr>
            <a:normAutofit fontScale="70000" lnSpcReduction="20000"/>
          </a:bodyPr>
          <a:lstStyle/>
          <a:p>
            <a:r>
              <a:rPr lang="fr-CA" dirty="0"/>
              <a:t>Valider si le placement « stratégique » devrait être déprécié</a:t>
            </a:r>
          </a:p>
          <a:p>
            <a:pPr lvl="1"/>
            <a:r>
              <a:rPr lang="fr-CA" dirty="0"/>
              <a:t>Uniquement si indice de dépréciation dans l’énoncé</a:t>
            </a:r>
          </a:p>
          <a:p>
            <a:pPr lvl="1"/>
            <a:endParaRPr lang="fr-CA" dirty="0"/>
          </a:p>
          <a:p>
            <a:r>
              <a:rPr lang="fr-FR" dirty="0"/>
              <a:t>Éléments déclencheurs :</a:t>
            </a:r>
          </a:p>
          <a:p>
            <a:pPr lvl="1"/>
            <a:r>
              <a:rPr lang="fr-FR" dirty="0"/>
              <a:t>Au niveau de l’entité émettrice : </a:t>
            </a:r>
            <a:r>
              <a:rPr lang="fr-FR" sz="2000" dirty="0"/>
              <a:t>par exemple </a:t>
            </a:r>
          </a:p>
          <a:p>
            <a:pPr lvl="2"/>
            <a:r>
              <a:rPr lang="fr-CA" altLang="fr-FR" dirty="0">
                <a:ea typeface="ＭＳ Ｐゴシック" panose="020B0600070205080204" pitchFamily="34" charset="-128"/>
              </a:rPr>
              <a:t>Difficultés financières importantes : possibilité de faillite/restructuration financière</a:t>
            </a:r>
          </a:p>
          <a:p>
            <a:pPr lvl="2"/>
            <a:r>
              <a:rPr lang="fr-CA" altLang="fr-FR" dirty="0">
                <a:ea typeface="ＭＳ Ｐゴシック" panose="020B0600070205080204" pitchFamily="34" charset="-128"/>
              </a:rPr>
              <a:t>Changements défavorables technologique/marché/économique/juridique</a:t>
            </a:r>
            <a:endParaRPr lang="fr-FR" dirty="0"/>
          </a:p>
          <a:p>
            <a:pPr lvl="1"/>
            <a:endParaRPr lang="fr-FR" dirty="0"/>
          </a:p>
          <a:p>
            <a:pPr lvl="1"/>
            <a:r>
              <a:rPr lang="fr-FR" dirty="0"/>
              <a:t>Au niveau de l’entité détentrice : </a:t>
            </a:r>
            <a:r>
              <a:rPr lang="fr-FR" sz="2000" dirty="0"/>
              <a:t>par exemple </a:t>
            </a:r>
          </a:p>
          <a:p>
            <a:pPr lvl="2">
              <a:lnSpc>
                <a:spcPct val="120000"/>
              </a:lnSpc>
            </a:pPr>
            <a:r>
              <a:rPr lang="fr-CA" altLang="fr-FR" dirty="0">
                <a:ea typeface="ＭＳ Ｐゴシック" panose="020B0600070205080204" pitchFamily="34" charset="-128"/>
              </a:rPr>
              <a:t>Acquiert une participation additionnelle ou vend une partie de sa participation pour une contrepartie (payée/reçue) inférieure à la part proportionnelle de la valeur comptable de la participation immédiatement avant l'acquisition/ vente</a:t>
            </a:r>
          </a:p>
          <a:p>
            <a:pPr lvl="2">
              <a:lnSpc>
                <a:spcPct val="120000"/>
              </a:lnSpc>
            </a:pPr>
            <a:r>
              <a:rPr lang="fr-CA" altLang="fr-FR" dirty="0">
                <a:ea typeface="ＭＳ Ｐゴシック" panose="020B0600070205080204" pitchFamily="34" charset="-128"/>
              </a:rPr>
              <a:t>Montant des flux de trésorerie futurs attendus de la détention est inférieur à la valeur comptable</a:t>
            </a:r>
          </a:p>
          <a:p>
            <a:pPr lvl="2">
              <a:lnSpc>
                <a:spcPct val="120000"/>
              </a:lnSpc>
            </a:pPr>
            <a:endParaRPr lang="fr-CA" altLang="fr-FR" dirty="0">
              <a:ea typeface="ＭＳ Ｐゴシック" panose="020B0600070205080204" pitchFamily="34" charset="-128"/>
            </a:endParaRPr>
          </a:p>
          <a:p>
            <a:pPr marL="0" indent="0">
              <a:buNone/>
              <a:defRPr/>
            </a:pPr>
            <a:r>
              <a:rPr lang="fr-CA" sz="2000" b="1" i="1" dirty="0">
                <a:latin typeface="Calibri" panose="020F0502020204030204" pitchFamily="34" charset="0"/>
                <a:ea typeface="ＭＳ Ｐゴシック" pitchFamily="-1" charset="-128"/>
                <a:cs typeface="ＭＳ Ｐゴシック" pitchFamily="-1" charset="-128"/>
              </a:rPr>
              <a:t>Dépréciation = le plus élevé de </a:t>
            </a:r>
            <a:r>
              <a:rPr lang="fr-CA" sz="2000" dirty="0">
                <a:latin typeface="Calibri" panose="020F0502020204030204" pitchFamily="34" charset="0"/>
                <a:ea typeface="ＭＳ Ｐゴシック" pitchFamily="-1" charset="-128"/>
                <a:cs typeface="ＭＳ Ｐゴシック" pitchFamily="-1" charset="-128"/>
              </a:rPr>
              <a:t>:</a:t>
            </a:r>
          </a:p>
          <a:p>
            <a:pPr eaLnBrk="1" hangingPunct="1">
              <a:defRPr/>
            </a:pPr>
            <a:r>
              <a:rPr lang="fr-CA" sz="2000" dirty="0">
                <a:latin typeface="Calibri" panose="020F0502020204030204" pitchFamily="34" charset="0"/>
                <a:ea typeface="ＭＳ Ｐゴシック" pitchFamily="-1" charset="-128"/>
                <a:cs typeface="ＭＳ Ｐゴシック" pitchFamily="-1" charset="-128"/>
              </a:rPr>
              <a:t>Valeur actualisée des flux de trésorerie attendus du placement; OU</a:t>
            </a:r>
          </a:p>
          <a:p>
            <a:pPr eaLnBrk="1" hangingPunct="1">
              <a:defRPr/>
            </a:pPr>
            <a:r>
              <a:rPr lang="fr-CA" sz="2000" dirty="0">
                <a:latin typeface="Calibri" panose="020F0502020204030204" pitchFamily="34" charset="0"/>
                <a:ea typeface="ＭＳ Ｐゴシック" pitchFamily="-1" charset="-128"/>
                <a:cs typeface="ＭＳ Ｐゴシック" pitchFamily="-1" charset="-128"/>
              </a:rPr>
              <a:t>Valeur de réalisation</a:t>
            </a:r>
            <a:endParaRPr lang="fr-CA" altLang="fr-FR" dirty="0">
              <a:ea typeface="ＭＳ Ｐゴシック" panose="020B0600070205080204" pitchFamily="34" charset="-128"/>
            </a:endParaRPr>
          </a:p>
        </p:txBody>
      </p:sp>
      <p:sp>
        <p:nvSpPr>
          <p:cNvPr id="4" name="Espace réservé du pied de page 3">
            <a:extLst>
              <a:ext uri="{FF2B5EF4-FFF2-40B4-BE49-F238E27FC236}">
                <a16:creationId xmlns:a16="http://schemas.microsoft.com/office/drawing/2014/main" id="{0A6908C2-C5E4-6C92-8F00-B992D57588B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14E87AD-4B45-86E3-2296-8498A945AB69}"/>
              </a:ext>
            </a:extLst>
          </p:cNvPr>
          <p:cNvSpPr>
            <a:spLocks noGrp="1"/>
          </p:cNvSpPr>
          <p:nvPr>
            <p:ph type="sldNum" sz="quarter" idx="12"/>
          </p:nvPr>
        </p:nvSpPr>
        <p:spPr/>
        <p:txBody>
          <a:bodyPr/>
          <a:lstStyle/>
          <a:p>
            <a:fld id="{BA55C67B-76F5-4A5A-9DE0-EA5E28301294}" type="slidenum">
              <a:rPr lang="fr-FR" smtClean="0"/>
              <a:t>41</a:t>
            </a:fld>
            <a:endParaRPr lang="fr-FR"/>
          </a:p>
        </p:txBody>
      </p:sp>
    </p:spTree>
    <p:extLst>
      <p:ext uri="{BB962C8B-B14F-4D97-AF65-F5344CB8AC3E}">
        <p14:creationId xmlns:p14="http://schemas.microsoft.com/office/powerpoint/2010/main" val="1866089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D8B77C-D35D-96F6-4DAD-E12E2FABF462}"/>
              </a:ext>
            </a:extLst>
          </p:cNvPr>
          <p:cNvSpPr>
            <a:spLocks noGrp="1"/>
          </p:cNvSpPr>
          <p:nvPr>
            <p:ph type="title"/>
          </p:nvPr>
        </p:nvSpPr>
        <p:spPr/>
        <p:txBody>
          <a:bodyPr/>
          <a:lstStyle/>
          <a:p>
            <a:r>
              <a:rPr lang="fr-CA" b="1" dirty="0">
                <a:solidFill>
                  <a:srgbClr val="0070C0"/>
                </a:solidFill>
              </a:rPr>
              <a:t>Placement sans influence </a:t>
            </a:r>
            <a:r>
              <a:rPr lang="fr-CA" sz="3200" b="1" dirty="0"/>
              <a:t>– </a:t>
            </a:r>
            <a:r>
              <a:rPr lang="fr-CA" sz="3200" b="1" i="1" dirty="0"/>
              <a:t>séance 8</a:t>
            </a:r>
            <a:endParaRPr lang="fr-FR" b="1" dirty="0"/>
          </a:p>
        </p:txBody>
      </p:sp>
      <p:sp>
        <p:nvSpPr>
          <p:cNvPr id="3" name="Espace réservé du contenu 2">
            <a:extLst>
              <a:ext uri="{FF2B5EF4-FFF2-40B4-BE49-F238E27FC236}">
                <a16:creationId xmlns:a16="http://schemas.microsoft.com/office/drawing/2014/main" id="{A2875FAF-6EA5-4D47-C7DB-8F5FB00CF1C8}"/>
              </a:ext>
            </a:extLst>
          </p:cNvPr>
          <p:cNvSpPr>
            <a:spLocks noGrp="1"/>
          </p:cNvSpPr>
          <p:nvPr>
            <p:ph idx="1"/>
          </p:nvPr>
        </p:nvSpPr>
        <p:spPr/>
        <p:txBody>
          <a:bodyPr/>
          <a:lstStyle/>
          <a:p>
            <a:r>
              <a:rPr lang="fr-CA" dirty="0"/>
              <a:t>IFRS : </a:t>
            </a:r>
          </a:p>
          <a:p>
            <a:pPr lvl="1"/>
            <a:r>
              <a:rPr lang="fr-CA" dirty="0"/>
              <a:t>IFRS 9 – selon le modèle économique</a:t>
            </a:r>
          </a:p>
          <a:p>
            <a:pPr lvl="2"/>
            <a:r>
              <a:rPr lang="fr-CA" dirty="0"/>
              <a:t>Coût amorti – presque toujours pour les titres de revenus fixes</a:t>
            </a:r>
          </a:p>
          <a:p>
            <a:pPr lvl="2"/>
            <a:r>
              <a:rPr lang="fr-CA" dirty="0"/>
              <a:t>JV-RN – presque toujours pour les titres d’actions</a:t>
            </a:r>
          </a:p>
          <a:p>
            <a:pPr lvl="2"/>
            <a:r>
              <a:rPr lang="fr-CA" dirty="0"/>
              <a:t>JV-AERG</a:t>
            </a:r>
          </a:p>
          <a:p>
            <a:pPr marL="914400" lvl="2" indent="0">
              <a:buNone/>
            </a:pPr>
            <a:endParaRPr lang="fr-CA" dirty="0"/>
          </a:p>
          <a:p>
            <a:r>
              <a:rPr lang="fr-CA" dirty="0"/>
              <a:t>NCECF : </a:t>
            </a:r>
          </a:p>
          <a:p>
            <a:pPr lvl="1"/>
            <a:r>
              <a:rPr lang="fr-CA" dirty="0"/>
              <a:t>chap. 3856 </a:t>
            </a:r>
          </a:p>
          <a:p>
            <a:pPr lvl="2"/>
            <a:r>
              <a:rPr lang="fr-CA" dirty="0"/>
              <a:t>JV : dérivés, si JV facilement disponibles</a:t>
            </a:r>
          </a:p>
          <a:p>
            <a:pPr lvl="2"/>
            <a:r>
              <a:rPr lang="fr-CA" dirty="0"/>
              <a:t>Coût : titres non cotés, mais a le choix d’opter pour la JV</a:t>
            </a:r>
          </a:p>
          <a:p>
            <a:endParaRPr lang="fr-FR" dirty="0"/>
          </a:p>
        </p:txBody>
      </p:sp>
      <p:sp>
        <p:nvSpPr>
          <p:cNvPr id="4" name="Espace réservé du pied de page 3">
            <a:extLst>
              <a:ext uri="{FF2B5EF4-FFF2-40B4-BE49-F238E27FC236}">
                <a16:creationId xmlns:a16="http://schemas.microsoft.com/office/drawing/2014/main" id="{0E4F6CC9-1A99-37F4-DCCA-6BFF455B949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DC95EA7-379C-3225-6FE3-BC02DA1D30BE}"/>
              </a:ext>
            </a:extLst>
          </p:cNvPr>
          <p:cNvSpPr>
            <a:spLocks noGrp="1"/>
          </p:cNvSpPr>
          <p:nvPr>
            <p:ph type="sldNum" sz="quarter" idx="12"/>
          </p:nvPr>
        </p:nvSpPr>
        <p:spPr/>
        <p:txBody>
          <a:bodyPr/>
          <a:lstStyle/>
          <a:p>
            <a:fld id="{BA55C67B-76F5-4A5A-9DE0-EA5E28301294}" type="slidenum">
              <a:rPr lang="fr-FR" smtClean="0"/>
              <a:t>42</a:t>
            </a:fld>
            <a:endParaRPr lang="fr-FR"/>
          </a:p>
        </p:txBody>
      </p:sp>
    </p:spTree>
    <p:extLst>
      <p:ext uri="{BB962C8B-B14F-4D97-AF65-F5344CB8AC3E}">
        <p14:creationId xmlns:p14="http://schemas.microsoft.com/office/powerpoint/2010/main" val="12155933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Autres placements</a:t>
            </a:r>
          </a:p>
        </p:txBody>
      </p:sp>
      <p:sp>
        <p:nvSpPr>
          <p:cNvPr id="3" name="Espace réservé du contenu 2"/>
          <p:cNvSpPr>
            <a:spLocks noGrp="1"/>
          </p:cNvSpPr>
          <p:nvPr>
            <p:ph idx="1"/>
          </p:nvPr>
        </p:nvSpPr>
        <p:spPr/>
        <p:txBody>
          <a:bodyPr/>
          <a:lstStyle/>
          <a:p>
            <a:r>
              <a:rPr lang="fr-FR" dirty="0"/>
              <a:t>Qui ne sont pas des instruments financiers : œuvres d’art, terrains, placements dans des immeubles locatifs</a:t>
            </a:r>
          </a:p>
          <a:p>
            <a:pPr lvl="1"/>
            <a:r>
              <a:rPr lang="fr-FR" dirty="0"/>
              <a:t>Immobilisation corporelle – valeur d’acquisition, sujet à amortissement</a:t>
            </a:r>
          </a:p>
          <a:p>
            <a:pPr lvl="1"/>
            <a:endParaRPr lang="fr-FR" dirty="0"/>
          </a:p>
          <a:p>
            <a:pPr lvl="2"/>
            <a:r>
              <a:rPr lang="fr-FR" dirty="0"/>
              <a:t>Sauf : IFRS : pourrait se qualifier à IAS 40 Immeubles de placement </a:t>
            </a:r>
          </a:p>
          <a:p>
            <a:pPr lvl="3"/>
            <a:r>
              <a:rPr lang="fr-FR" dirty="0"/>
              <a:t>choix coût et juste valeur</a:t>
            </a:r>
          </a:p>
        </p:txBody>
      </p:sp>
      <p:sp>
        <p:nvSpPr>
          <p:cNvPr id="4" name="Espace réservé du numéro de diapositive 3"/>
          <p:cNvSpPr>
            <a:spLocks noGrp="1"/>
          </p:cNvSpPr>
          <p:nvPr>
            <p:ph type="sldNum" sz="quarter" idx="12"/>
          </p:nvPr>
        </p:nvSpPr>
        <p:spPr/>
        <p:txBody>
          <a:bodyPr/>
          <a:lstStyle/>
          <a:p>
            <a:fld id="{93CCD850-57C1-B143-82E0-6B89E4215FB0}" type="slidenum">
              <a:rPr lang="fr-FR" smtClean="0"/>
              <a:t>43</a:t>
            </a:fld>
            <a:endParaRPr lang="fr-FR"/>
          </a:p>
        </p:txBody>
      </p:sp>
      <p:sp>
        <p:nvSpPr>
          <p:cNvPr id="5" name="Espace réservé du pied de page 4">
            <a:extLst>
              <a:ext uri="{FF2B5EF4-FFF2-40B4-BE49-F238E27FC236}">
                <a16:creationId xmlns:a16="http://schemas.microsoft.com/office/drawing/2014/main" id="{90AB67EB-B6C3-489F-8F67-69957F25C54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22955350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3095</TotalTime>
  <Words>4721</Words>
  <Application>Microsoft Office PowerPoint</Application>
  <PresentationFormat>Grand écran</PresentationFormat>
  <Paragraphs>528</Paragraphs>
  <Slides>43</Slides>
  <Notes>9</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43</vt:i4>
      </vt:variant>
    </vt:vector>
  </HeadingPairs>
  <TitlesOfParts>
    <vt:vector size="51" baseType="lpstr">
      <vt:lpstr>ＭＳ Ｐゴシック</vt:lpstr>
      <vt:lpstr>Aptos</vt:lpstr>
      <vt:lpstr>Arial</vt:lpstr>
      <vt:lpstr>Calibri</vt:lpstr>
      <vt:lpstr>Calibri Light</vt:lpstr>
      <vt:lpstr>Gotham A</vt:lpstr>
      <vt:lpstr>Wingdings</vt:lpstr>
      <vt:lpstr>Thème Office</vt:lpstr>
      <vt:lpstr>40938 Placements stratégiques</vt:lpstr>
      <vt:lpstr>Revue des notions - Placements « stratégiques »</vt:lpstr>
      <vt:lpstr>Rédaction de cas</vt:lpstr>
      <vt:lpstr>Placements avec contrôle</vt:lpstr>
      <vt:lpstr>Placements avec contrôle</vt:lpstr>
      <vt:lpstr>Si enjeu est à la date de regroupement</vt:lpstr>
      <vt:lpstr>Calcul du goodwill (écart d’acquisition)</vt:lpstr>
      <vt:lpstr>Placements avec contrôle</vt:lpstr>
      <vt:lpstr>IFRS 10 – exception à la consolidation</vt:lpstr>
      <vt:lpstr>Participations ne donnant pas le contrôle (PASC)</vt:lpstr>
      <vt:lpstr>Placements avec contrôle</vt:lpstr>
      <vt:lpstr>Différences IFRS – NCECF </vt:lpstr>
      <vt:lpstr>EF consolidés et besoins des utilisateurs</vt:lpstr>
      <vt:lpstr>NCECF – choix de méthodes comptables</vt:lpstr>
      <vt:lpstr>NCECF - NOC 18  Sociétés de placement</vt:lpstr>
      <vt:lpstr>Placements avec contrôle conjoint</vt:lpstr>
      <vt:lpstr>Placements avec contrôle conjoint</vt:lpstr>
      <vt:lpstr>Placements avec contrôle conjoint</vt:lpstr>
      <vt:lpstr>Placements avec contrôle conjoint</vt:lpstr>
      <vt:lpstr>IFRS 11 Partenariats – Annexe A (ou par. 14 à 16)</vt:lpstr>
      <vt:lpstr>Partenariat – IFRS 11</vt:lpstr>
      <vt:lpstr>Entreprises communes</vt:lpstr>
      <vt:lpstr>Coentreprises</vt:lpstr>
      <vt:lpstr>Enjeux : profit/perte non matérialisé</vt:lpstr>
      <vt:lpstr>Quel type de partenariat?</vt:lpstr>
      <vt:lpstr>Quel type de partenariat?</vt:lpstr>
      <vt:lpstr>Quel type de partenariat? exemple 2 complexe</vt:lpstr>
      <vt:lpstr>Quel type de partenariat?</vt:lpstr>
      <vt:lpstr>Placements avec contrôle conjoint</vt:lpstr>
      <vt:lpstr>Présentation PowerPoint</vt:lpstr>
      <vt:lpstr>Placements avec influence notable</vt:lpstr>
      <vt:lpstr>Placements avec influence notable</vt:lpstr>
      <vt:lpstr>Méthode mise en équivalence / valeur de consolidation</vt:lpstr>
      <vt:lpstr>Méthode valeur d’acquisition</vt:lpstr>
      <vt:lpstr>Exemple : impact bilan et résultats</vt:lpstr>
      <vt:lpstr>Présentation PowerPoint</vt:lpstr>
      <vt:lpstr>Question </vt:lpstr>
      <vt:lpstr>Présentation PowerPoint</vt:lpstr>
      <vt:lpstr>Placements avec influence</vt:lpstr>
      <vt:lpstr>Placements avec influence notable</vt:lpstr>
      <vt:lpstr>Dépréciation</vt:lpstr>
      <vt:lpstr>Placement sans influence – séance 8</vt:lpstr>
      <vt:lpstr>Autres placements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32</cp:revision>
  <dcterms:created xsi:type="dcterms:W3CDTF">2020-09-16T12:08:10Z</dcterms:created>
  <dcterms:modified xsi:type="dcterms:W3CDTF">2025-04-18T14:58:57Z</dcterms:modified>
</cp:coreProperties>
</file>