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7232" autoAdjust="0"/>
  </p:normalViewPr>
  <p:slideViewPr>
    <p:cSldViewPr snapToGrid="0">
      <p:cViewPr varScale="1">
        <p:scale>
          <a:sx n="83" d="100"/>
          <a:sy n="83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8631A-5A5D-48FD-983D-B7CD7130F6BB}" type="datetimeFigureOut">
              <a:rPr lang="fr-CA" smtClean="0"/>
              <a:t>2025-03-18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2B8C8-F5F5-4687-A5D1-C592EB7577C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7793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L’estimation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2B8C8-F5F5-4687-A5D1-C592EB7577C8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0497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CBFFD0-1509-43CB-BC40-F2827C32A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349B10-D34F-4667-AFB8-C7A80658F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732BE2-71AC-4857-885E-781BACD0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176F5F-45B5-4E39-80CF-9C05F256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7DEA5D-C2FE-4BCA-8E18-A421CFB39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19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A42430-47DE-4DE3-A8C9-8B362C57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EBD0D2-E90F-477E-9E87-58055879D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3DEAC2-806C-4742-BD61-2072871D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622D86-1FF8-42FF-8F02-95E595441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AF3C7C-8A9E-44EF-B79C-EED2BBB6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30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0DB208-4199-40C2-93AA-8C7E00667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A65004-24C9-4C5D-8345-9E648FF7C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70A4A9-C934-4EE5-B505-17BA97FB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90CFC0-A2DD-4116-ADCC-2BDC149A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F4B322-41BF-4BC5-B4E2-A7A2D30E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50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09FB1B-825B-43C4-A203-B6CE9EACD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F6A26A-843F-458B-95E1-C295B403E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2565FBC-03BA-4A1E-9111-343A794A6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67CC00-0A51-4C3E-8FC4-CDE6C516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4B6359-D17C-4A41-BA96-768B5951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8B565F-62AE-4113-BA07-DD6B224C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69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D384A2-32C1-4F1F-95A7-33A3A8103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61E23B-6712-4D2E-A3FF-FE0A99501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22BC1D-3EE8-43E9-8A15-2F33FA8C3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482865-A11A-4436-BC60-C0251ADFED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1399EE-8AA6-4E39-9845-0FFE00A50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4C0AF73-FFD0-470A-A683-8195155CE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B672D9-5D97-4B5C-89FB-7599C6B9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7B4E569-FE4C-41CE-9458-8A8398C4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60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BA03C7-28F3-4A62-8157-4604B8B1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3A31BCC-DC95-45A6-B7B7-2FDC9CD11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B2B8934-DBAD-4BA1-A850-9B550C9C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BE669C-DE94-49D5-9229-B9E44098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48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AC23DE7-739B-4D18-B1E9-5A0418B8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0704442-37C4-4DBB-B11B-13EFC382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3637EA-F3A4-40E0-97B2-CDB502A1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79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B5B7AE-DABF-4816-AA11-14A7A175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A254CC-48D4-48E7-BBDC-B21FDA940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FCCA7C-247A-4A69-8B25-1BE3606EA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9D740D-BBC0-464D-8CD1-1A44C4E7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E6EC6D-3A77-45C1-87B1-12E7F4AE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F5835E-25F7-4D5A-94C7-74FE375C7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24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992C26-BDDA-46D0-8DA6-19F3E7A3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22C801E-B2AC-4338-B26C-BBB2CCA6B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B1BA39-A557-473E-B300-A781E1499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3FA0D6-E213-4060-A0EA-BC8588D3E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034191-3E40-4F6C-8B42-50CBB670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F67579-94E2-45DA-B953-C150DC68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714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2FA945-0F77-4E11-816A-8A1E100A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D0B61F-58AA-4698-A001-EF288D5E7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8D25E-A3A5-47BB-83AD-ACF67E7F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5784C1-847B-4BE1-BF29-BB8910A4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DEA7B4-3B00-450C-A26C-8D78AF683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32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5CD493-4D39-497C-9B57-FEEFAB9B0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113834-8DDA-4C45-8244-29A37D743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9E1AB8-D447-4F58-94B8-C9A3361E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A06DD5-22B1-4939-BF36-89759F7B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9CA7D0-6045-431F-BC8F-E66EBF64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22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B2FFF04-D7E6-4DCB-AF70-CB82655A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278EEB-8342-4C07-9D46-066D2242B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05ADF6-F761-46F1-8958-BD9019CC9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62A8D-25CC-4954-9D2C-3EEB7D2C3DF5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F63E18-C1FB-4AC7-B01B-DA1427B36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FA6348-15A6-479B-B436-E0183F9BA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5C67B-76F5-4A5A-9DE0-EA5E283012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395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D6C0D-4363-4108-9B43-BF3C7C1696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40938</a:t>
            </a:r>
            <a:br>
              <a:rPr lang="fr-CA" dirty="0"/>
            </a:br>
            <a:r>
              <a:rPr lang="fr-CA" dirty="0"/>
              <a:t>Séance 9 - organisation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CA13E9-6ABB-4A43-98D6-F2FE53F45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6560"/>
            <a:ext cx="9144000" cy="1763078"/>
          </a:xfrm>
        </p:spPr>
        <p:txBody>
          <a:bodyPr>
            <a:normAutofit/>
          </a:bodyPr>
          <a:lstStyle/>
          <a:p>
            <a:endParaRPr lang="fr-CA" dirty="0"/>
          </a:p>
          <a:p>
            <a:endParaRPr lang="fr-FR" dirty="0"/>
          </a:p>
          <a:p>
            <a:r>
              <a:rPr lang="fr-FR" dirty="0"/>
              <a:t>Louise Overbeek</a:t>
            </a:r>
          </a:p>
          <a:p>
            <a:r>
              <a:rPr lang="fr-FR" sz="2000" dirty="0"/>
              <a:t>Hiver 2025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0579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64CFB9-D7FF-4A9F-9B92-A790AB75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4000" dirty="0"/>
              <a:t>Revue des notions - Placements « stratégiques »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92E791-9F8C-4838-B5DA-9FF45609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Classement : contrôle, contrôle conjoint, influence, instrument financier</a:t>
            </a:r>
          </a:p>
          <a:p>
            <a:r>
              <a:rPr lang="fr-CA" dirty="0"/>
              <a:t>Contrôle</a:t>
            </a:r>
          </a:p>
          <a:p>
            <a:r>
              <a:rPr lang="fr-CA"/>
              <a:t>Contrôle conjoint </a:t>
            </a:r>
          </a:p>
          <a:p>
            <a:r>
              <a:rPr lang="fr-CA"/>
              <a:t>Influence</a:t>
            </a:r>
            <a:endParaRPr lang="fr-CA" dirty="0"/>
          </a:p>
          <a:p>
            <a:r>
              <a:rPr lang="fr-CA" dirty="0"/>
              <a:t>Placement sans influence</a:t>
            </a:r>
          </a:p>
          <a:p>
            <a:endParaRPr lang="fr-CA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CA" dirty="0"/>
              <a:t>Classer le placement permet de déterminer la norme applicable ainsi que le traitement comptable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601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33577F-1EE3-44FA-84A2-2953F1E1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Cas </a:t>
            </a:r>
            <a:r>
              <a:rPr lang="fr-CA" dirty="0" err="1"/>
              <a:t>Electronic</a:t>
            </a:r>
            <a:r>
              <a:rPr lang="fr-CA" dirty="0"/>
              <a:t> Games </a:t>
            </a:r>
            <a:r>
              <a:rPr lang="fr-CA" dirty="0" err="1"/>
              <a:t>inc.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DFFC16-FE41-4B39-B70D-D37A2CFC6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A" dirty="0"/>
              <a:t>Questions sur la version préparée (IFRS)?</a:t>
            </a:r>
          </a:p>
          <a:p>
            <a:endParaRPr lang="fr-CA" dirty="0"/>
          </a:p>
          <a:p>
            <a:r>
              <a:rPr lang="fr-CA" dirty="0"/>
              <a:t>Préparer la solution au même cas, mais version </a:t>
            </a:r>
            <a:r>
              <a:rPr lang="fr-CA" dirty="0">
                <a:highlight>
                  <a:srgbClr val="FFFF00"/>
                </a:highlight>
              </a:rPr>
              <a:t>NCECF</a:t>
            </a:r>
            <a:r>
              <a:rPr lang="fr-CA" dirty="0"/>
              <a:t> (en équipe)</a:t>
            </a:r>
          </a:p>
          <a:p>
            <a:endParaRPr lang="fr-CA" dirty="0"/>
          </a:p>
          <a:p>
            <a:r>
              <a:rPr lang="fr-CA" dirty="0"/>
              <a:t>Présentation au groupe : </a:t>
            </a:r>
          </a:p>
          <a:p>
            <a:pPr lvl="1"/>
            <a:r>
              <a:rPr lang="fr-CA" dirty="0"/>
              <a:t>Choix de méthodes comptables</a:t>
            </a:r>
          </a:p>
          <a:p>
            <a:pPr lvl="1"/>
            <a:r>
              <a:rPr lang="fr-CA" dirty="0"/>
              <a:t>Acquisition d’EAI : calcul de l’écart d’acquisition considérant </a:t>
            </a:r>
          </a:p>
          <a:p>
            <a:pPr lvl="2"/>
            <a:r>
              <a:rPr lang="fr-CA" dirty="0"/>
              <a:t>le bail</a:t>
            </a:r>
          </a:p>
          <a:p>
            <a:pPr lvl="2"/>
            <a:r>
              <a:rPr lang="fr-CA" dirty="0"/>
              <a:t>La rémunération de 200 000 $ ET la rémunération de 250 000 $</a:t>
            </a:r>
          </a:p>
          <a:p>
            <a:pPr lvl="1"/>
            <a:r>
              <a:rPr lang="fr-CA" dirty="0"/>
              <a:t>Acquisition des actifs plutôt que des actions</a:t>
            </a:r>
          </a:p>
          <a:p>
            <a:pPr lvl="1"/>
            <a:r>
              <a:rPr lang="fr-CA" dirty="0"/>
              <a:t>Contrepartie conditionnelle</a:t>
            </a:r>
          </a:p>
          <a:p>
            <a:pPr lvl="1"/>
            <a:r>
              <a:rPr lang="fr-CA" dirty="0"/>
              <a:t>Nouvelles informations : </a:t>
            </a:r>
          </a:p>
          <a:p>
            <a:pPr lvl="2"/>
            <a:r>
              <a:rPr lang="fr-CA" dirty="0"/>
              <a:t>Logiciel</a:t>
            </a:r>
          </a:p>
          <a:p>
            <a:pPr lvl="2"/>
            <a:r>
              <a:rPr lang="fr-CA" dirty="0"/>
              <a:t>bonis</a:t>
            </a:r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873911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CEE71C-B656-42F1-B433-AF39A8805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Travaux après la séance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2518C4-41EF-4019-B76F-B01C3054C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Fiches aide mémoire – 2 points</a:t>
            </a:r>
          </a:p>
          <a:p>
            <a:pPr lvl="1"/>
            <a:r>
              <a:rPr lang="fr-FR" dirty="0"/>
              <a:t>23 mars 20h00 : Immobilisations </a:t>
            </a:r>
            <a:r>
              <a:rPr lang="fr-FR" u="sng" dirty="0"/>
              <a:t>in</a:t>
            </a:r>
            <a:r>
              <a:rPr lang="fr-FR" dirty="0"/>
              <a:t>corporelles : doit couvrir les deux référentiels (IFRS et NCECF), mais l’approche doit être de structurer comme pour une rédaction de cas (nature, mesure initiale-subséquente…), en lien avec la norme IFRS, tout en faisant ressortir les différences du référentiel NCECF (ou encore une section différences à la fin de la fiche) car les normes sont similaires – </a:t>
            </a:r>
            <a:r>
              <a:rPr lang="fr-FR" u="sng" dirty="0"/>
              <a:t>et non faire en double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30 mars 20h00 : Produits : IFRS 15, chap. 3400 : </a:t>
            </a:r>
          </a:p>
          <a:p>
            <a:pPr lvl="2"/>
            <a:r>
              <a:rPr lang="fr-FR" dirty="0"/>
              <a:t>Pour IFRS 15 : structurer avec les 5 étapes (svp présenter « moment » à l’étape 5), inclure les enjeux « usuels » de l’annexe B</a:t>
            </a:r>
          </a:p>
          <a:p>
            <a:pPr lvl="2"/>
            <a:r>
              <a:rPr lang="fr-FR" dirty="0"/>
              <a:t>Pour le chap. 3400 : préciser si pour ventes de biens / ventes de services, inclure les éléments importants de l’annexe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692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D61567-0EFF-433C-B21C-C50911BC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Séance 10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BEF9FF-126F-4740-9D6A-188399B79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« Carte mentale »</a:t>
            </a:r>
          </a:p>
          <a:p>
            <a:pPr lvl="1"/>
            <a:r>
              <a:rPr lang="fr-CA" dirty="0"/>
              <a:t>Revoir les normes</a:t>
            </a:r>
          </a:p>
          <a:p>
            <a:pPr lvl="2"/>
            <a:r>
              <a:rPr lang="fr-CA" sz="2400" dirty="0"/>
              <a:t>Choisir une norme que vous avez le plus besoin de travailler en équipe</a:t>
            </a:r>
          </a:p>
          <a:p>
            <a:pPr lvl="3"/>
            <a:r>
              <a:rPr lang="fr-CA" sz="2400" dirty="0"/>
              <a:t>Contrat location NCECF?</a:t>
            </a:r>
          </a:p>
          <a:p>
            <a:pPr lvl="1"/>
            <a:r>
              <a:rPr lang="fr-CA" dirty="0"/>
              <a:t>Penser à l’outil qui sera utilisé pour produire la carte : « papier » ou Excel/graphique/Word</a:t>
            </a:r>
          </a:p>
          <a:p>
            <a:pPr lvl="1"/>
            <a:r>
              <a:rPr lang="fr-CA" dirty="0"/>
              <a:t>Pendant la séance : en sous-groupes, préparer une carte mentale sur le sujet qui vous sera attribué</a:t>
            </a:r>
          </a:p>
          <a:p>
            <a:pPr lvl="2"/>
            <a:r>
              <a:rPr lang="fr-CA" dirty="0"/>
              <a:t>Concepts, et non « texte »</a:t>
            </a:r>
          </a:p>
          <a:p>
            <a:pPr lvl="2"/>
            <a:r>
              <a:rPr lang="fr-CA" dirty="0"/>
              <a:t>Déposer après 2h30 et présentation au groupe : 2 points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49122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355</Words>
  <Application>Microsoft Office PowerPoint</Application>
  <PresentationFormat>Grand écran</PresentationFormat>
  <Paragraphs>45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Wingdings</vt:lpstr>
      <vt:lpstr>Thème Office</vt:lpstr>
      <vt:lpstr>40938 Séance 9 - organisation</vt:lpstr>
      <vt:lpstr>Revue des notions - Placements « stratégiques »</vt:lpstr>
      <vt:lpstr>Cas Electronic Games inc.</vt:lpstr>
      <vt:lpstr>Travaux après la séance</vt:lpstr>
      <vt:lpstr>Séance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louise overbeek</dc:creator>
  <cp:lastModifiedBy>SOKRI Marzouk</cp:lastModifiedBy>
  <cp:revision>28</cp:revision>
  <dcterms:created xsi:type="dcterms:W3CDTF">2020-09-16T12:08:10Z</dcterms:created>
  <dcterms:modified xsi:type="dcterms:W3CDTF">2025-03-18T16:21:18Z</dcterms:modified>
</cp:coreProperties>
</file>