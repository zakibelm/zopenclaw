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9144000" cy="6858000" type="screen4x3"/>
  <p:notesSz cx="68580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972" y="72"/>
      </p:cViewPr>
      <p:guideLst>
        <p:guide orient="horz" pos="2160"/>
        <p:guide pos="2880"/>
      </p:guideLst>
    </p:cSldViewPr>
  </p:slideViewPr>
  <p:notesTextViewPr>
    <p:cViewPr>
      <p:scale>
        <a:sx n="1" d="1"/>
        <a:sy n="1" d="1"/>
      </p:scale>
      <p:origin x="0" y="0"/>
    </p:cViewPr>
  </p:notesTextViewPr>
  <p:notesViewPr>
    <p:cSldViewPr>
      <p:cViewPr>
        <p:scale>
          <a:sx n="100" d="100"/>
          <a:sy n="100" d="100"/>
        </p:scale>
        <p:origin x="920" y="-1924"/>
      </p:cViewPr>
      <p:guideLst>
        <p:guide orient="horz" pos="2928"/>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99D2FCBE-1406-4308-9118-BD01B8360531}" type="datetimeFigureOut">
              <a:rPr lang="fr-CA" smtClean="0"/>
              <a:t>2016-05-16</a:t>
            </a:fld>
            <a:endParaRPr lang="fr-CA"/>
          </a:p>
        </p:txBody>
      </p:sp>
      <p:sp>
        <p:nvSpPr>
          <p:cNvPr id="4" name="Espace réservé de l'image des diapositives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15790"/>
            <a:ext cx="5486400" cy="418338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A"/>
          </a:p>
        </p:txBody>
      </p:sp>
      <p:sp>
        <p:nvSpPr>
          <p:cNvPr id="6" name="Espace réservé du pied de page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3CACE5B7-EE65-4DB6-886D-0F99A3D340E4}" type="slidenum">
              <a:rPr lang="fr-CA" smtClean="0"/>
              <a:t>‹N°›</a:t>
            </a:fld>
            <a:endParaRPr lang="fr-CA"/>
          </a:p>
        </p:txBody>
      </p:sp>
    </p:spTree>
    <p:extLst>
      <p:ext uri="{BB962C8B-B14F-4D97-AF65-F5344CB8AC3E}">
        <p14:creationId xmlns:p14="http://schemas.microsoft.com/office/powerpoint/2010/main" val="1729405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B3AAE05B-CCDC-4F8B-A04D-83BB4F2017A3}" type="slidenum">
              <a:rPr lang="fr-CA" smtClean="0">
                <a:solidFill>
                  <a:prstClr val="black"/>
                </a:solidFill>
              </a:rPr>
              <a:pPr>
                <a:defRPr/>
              </a:pPr>
              <a:t>1</a:t>
            </a:fld>
            <a:endParaRPr lang="fr-CA" dirty="0">
              <a:solidFill>
                <a:prstClr val="black"/>
              </a:solidFill>
            </a:endParaRPr>
          </a:p>
        </p:txBody>
      </p:sp>
    </p:spTree>
    <p:extLst>
      <p:ext uri="{BB962C8B-B14F-4D97-AF65-F5344CB8AC3E}">
        <p14:creationId xmlns:p14="http://schemas.microsoft.com/office/powerpoint/2010/main" val="394611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a:noFill/>
        </p:spPr>
        <p:txBody>
          <a:bodyPr/>
          <a:lstStyle/>
          <a:p>
            <a:r>
              <a:rPr lang="fr-CA" altLang="fr-FR" sz="1100" b="1" dirty="0"/>
              <a:t>FAUX.</a:t>
            </a:r>
            <a:r>
              <a:rPr lang="fr-CA" altLang="fr-FR" sz="1100" dirty="0"/>
              <a:t>  </a:t>
            </a:r>
          </a:p>
          <a:p>
            <a:endParaRPr lang="fr-CA" altLang="fr-FR" sz="1100" b="1" dirty="0"/>
          </a:p>
          <a:p>
            <a:r>
              <a:rPr lang="fr-CA" altLang="fr-FR" sz="1100" b="1" dirty="0"/>
              <a:t>Dans le règlement </a:t>
            </a:r>
            <a:r>
              <a:rPr lang="fr-CA" altLang="fr-FR" sz="1100" b="1" dirty="0" smtClean="0"/>
              <a:t>51-102, Loi sur les valeurs mobilières, «</a:t>
            </a:r>
            <a:r>
              <a:rPr lang="fr-CA" altLang="fr-FR" sz="1100" b="1" dirty="0"/>
              <a:t> Obligations d’information continue » : </a:t>
            </a:r>
          </a:p>
          <a:p>
            <a:r>
              <a:rPr lang="fr-CA" altLang="fr-FR" sz="1100" b="1" dirty="0"/>
              <a:t>                </a:t>
            </a:r>
            <a:r>
              <a:rPr lang="fr-CA" altLang="fr-FR" sz="1300" b="1" dirty="0"/>
              <a:t>aucune obligation de faire examiner les ÉF intermédiaires </a:t>
            </a:r>
          </a:p>
          <a:p>
            <a:endParaRPr lang="fr-CA" altLang="fr-FR" sz="1100" dirty="0"/>
          </a:p>
          <a:p>
            <a:r>
              <a:rPr lang="fr-CA" altLang="fr-FR" sz="1100" dirty="0"/>
              <a:t>Règlement 51-102 en date du 17 novembre 2015 – </a:t>
            </a:r>
            <a:r>
              <a:rPr lang="fr-CA" altLang="fr-FR" sz="1100" dirty="0" err="1"/>
              <a:t>parag</a:t>
            </a:r>
            <a:r>
              <a:rPr lang="fr-CA" altLang="fr-FR" sz="1100" dirty="0"/>
              <a:t>. 4.3 (3) (a) :</a:t>
            </a:r>
            <a:endParaRPr lang="fr-CA" altLang="fr-FR" sz="1100" b="1" dirty="0"/>
          </a:p>
          <a:p>
            <a:pPr marL="449263"/>
            <a:r>
              <a:rPr lang="fr-CA" altLang="fr-FR" sz="1100" dirty="0">
                <a:latin typeface="Arial" panose="020B0604020202020204" pitchFamily="34" charset="0"/>
              </a:rPr>
              <a:t>« L'information concernant l'examen par l'auditeur du rapport financier interm</a:t>
            </a:r>
            <a:r>
              <a:rPr lang="fr-CA" altLang="fr-FR" sz="1100" dirty="0"/>
              <a:t>é</a:t>
            </a:r>
            <a:r>
              <a:rPr lang="fr-CA" altLang="fr-FR" sz="1100" dirty="0">
                <a:latin typeface="Arial" panose="020B0604020202020204" pitchFamily="34" charset="0"/>
              </a:rPr>
              <a:t>diaire est communiqu</a:t>
            </a:r>
            <a:r>
              <a:rPr lang="fr-CA" altLang="fr-FR" sz="1100" dirty="0"/>
              <a:t>é</a:t>
            </a:r>
            <a:r>
              <a:rPr lang="fr-CA" altLang="fr-FR" sz="1100" dirty="0">
                <a:latin typeface="Arial" panose="020B0604020202020204" pitchFamily="34" charset="0"/>
              </a:rPr>
              <a:t>e selon les modalit</a:t>
            </a:r>
            <a:r>
              <a:rPr lang="fr-CA" altLang="fr-FR" sz="1100" dirty="0"/>
              <a:t>é</a:t>
            </a:r>
            <a:r>
              <a:rPr lang="fr-CA" altLang="fr-FR" sz="1100" dirty="0">
                <a:latin typeface="Arial" panose="020B0604020202020204" pitchFamily="34" charset="0"/>
              </a:rPr>
              <a:t>s suivantes: </a:t>
            </a:r>
          </a:p>
          <a:p>
            <a:pPr marL="449263"/>
            <a:r>
              <a:rPr lang="fr-CA" altLang="fr-FR" sz="1100" dirty="0">
                <a:latin typeface="Arial" panose="020B0604020202020204" pitchFamily="34" charset="0"/>
              </a:rPr>
              <a:t>a</a:t>
            </a:r>
            <a:r>
              <a:rPr lang="fr-CA" altLang="fr-FR" sz="1100" i="1" dirty="0">
                <a:latin typeface="Arial" panose="020B0604020202020204" pitchFamily="34" charset="0"/>
              </a:rPr>
              <a:t>) </a:t>
            </a:r>
            <a:r>
              <a:rPr lang="fr-CA" altLang="fr-FR" sz="1100" dirty="0">
                <a:latin typeface="Arial" panose="020B0604020202020204" pitchFamily="34" charset="0"/>
              </a:rPr>
              <a:t>si l'auditeur </a:t>
            </a:r>
            <a:r>
              <a:rPr lang="fr-CA" altLang="fr-FR" sz="1100" b="1" dirty="0">
                <a:latin typeface="Arial" panose="020B0604020202020204" pitchFamily="34" charset="0"/>
              </a:rPr>
              <a:t>n'a </a:t>
            </a:r>
            <a:r>
              <a:rPr lang="fr-CA" altLang="fr-FR" sz="1100" b="1" u="sng" dirty="0">
                <a:latin typeface="Arial" panose="020B0604020202020204" pitchFamily="34" charset="0"/>
              </a:rPr>
              <a:t>pas </a:t>
            </a:r>
            <a:r>
              <a:rPr lang="fr-CA" altLang="fr-FR" sz="1100" b="1" dirty="0">
                <a:latin typeface="Arial" panose="020B0604020202020204" pitchFamily="34" charset="0"/>
              </a:rPr>
              <a:t>effectu</a:t>
            </a:r>
            <a:r>
              <a:rPr lang="fr-CA" altLang="fr-FR" sz="1100" b="1" dirty="0"/>
              <a:t>é</a:t>
            </a:r>
            <a:r>
              <a:rPr lang="fr-CA" altLang="fr-FR" sz="1100" b="1" dirty="0">
                <a:latin typeface="Arial" panose="020B0604020202020204" pitchFamily="34" charset="0"/>
              </a:rPr>
              <a:t> l'examen</a:t>
            </a:r>
            <a:r>
              <a:rPr lang="fr-CA" altLang="fr-FR" sz="1100" dirty="0">
                <a:latin typeface="Arial" panose="020B0604020202020204" pitchFamily="34" charset="0"/>
              </a:rPr>
              <a:t> du rapport financier interm</a:t>
            </a:r>
            <a:r>
              <a:rPr lang="fr-CA" altLang="fr-FR" sz="1100" dirty="0"/>
              <a:t>é</a:t>
            </a:r>
            <a:r>
              <a:rPr lang="fr-CA" altLang="fr-FR" sz="1100" dirty="0">
                <a:latin typeface="Arial" panose="020B0604020202020204" pitchFamily="34" charset="0"/>
              </a:rPr>
              <a:t>diaire </a:t>
            </a:r>
            <a:r>
              <a:rPr lang="fr-CA" altLang="fr-FR" sz="1100" dirty="0"/>
              <a:t>à</a:t>
            </a:r>
            <a:r>
              <a:rPr lang="fr-CA" altLang="fr-FR" sz="1100" dirty="0">
                <a:latin typeface="Arial" panose="020B0604020202020204" pitchFamily="34" charset="0"/>
              </a:rPr>
              <a:t> d</a:t>
            </a:r>
            <a:r>
              <a:rPr lang="fr-CA" altLang="fr-FR" sz="1100" dirty="0"/>
              <a:t>é</a:t>
            </a:r>
            <a:r>
              <a:rPr lang="fr-CA" altLang="fr-FR" sz="1100" dirty="0">
                <a:latin typeface="Arial" panose="020B0604020202020204" pitchFamily="34" charset="0"/>
              </a:rPr>
              <a:t>poser en vertu du paragraphe 1, </a:t>
            </a:r>
            <a:r>
              <a:rPr lang="fr-CA" altLang="fr-FR" sz="1100" b="1" dirty="0">
                <a:latin typeface="Arial" panose="020B0604020202020204" pitchFamily="34" charset="0"/>
              </a:rPr>
              <a:t>un avis</a:t>
            </a:r>
            <a:r>
              <a:rPr lang="fr-CA" altLang="fr-FR" sz="1100" dirty="0">
                <a:latin typeface="Arial" panose="020B0604020202020204" pitchFamily="34" charset="0"/>
              </a:rPr>
              <a:t> accompagnant le rapport financier interm</a:t>
            </a:r>
            <a:r>
              <a:rPr lang="fr-CA" altLang="fr-FR" sz="1100" dirty="0"/>
              <a:t>é</a:t>
            </a:r>
            <a:r>
              <a:rPr lang="fr-CA" altLang="fr-FR" sz="1100" dirty="0">
                <a:latin typeface="Arial" panose="020B0604020202020204" pitchFamily="34" charset="0"/>
              </a:rPr>
              <a:t>diaire </a:t>
            </a:r>
            <a:r>
              <a:rPr lang="fr-CA" altLang="fr-FR" sz="1100" b="1" dirty="0">
                <a:latin typeface="Arial" panose="020B0604020202020204" pitchFamily="34" charset="0"/>
              </a:rPr>
              <a:t>doit en faire </a:t>
            </a:r>
            <a:r>
              <a:rPr lang="fr-CA" altLang="fr-FR" sz="1100" b="1" dirty="0"/>
              <a:t>é</a:t>
            </a:r>
            <a:r>
              <a:rPr lang="fr-CA" altLang="fr-FR" sz="1100" b="1" dirty="0">
                <a:latin typeface="Arial" panose="020B0604020202020204" pitchFamily="34" charset="0"/>
              </a:rPr>
              <a:t>tat. »</a:t>
            </a:r>
          </a:p>
        </p:txBody>
      </p:sp>
    </p:spTree>
    <p:extLst>
      <p:ext uri="{BB962C8B-B14F-4D97-AF65-F5344CB8AC3E}">
        <p14:creationId xmlns:p14="http://schemas.microsoft.com/office/powerpoint/2010/main" val="43938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Espace réservé de l'image des diapositives 1"/>
          <p:cNvSpPr>
            <a:spLocks noGrp="1" noRot="1" noChangeAspect="1" noTextEdit="1"/>
          </p:cNvSpPr>
          <p:nvPr>
            <p:ph type="sldImg"/>
          </p:nvPr>
        </p:nvSpPr>
        <p:spPr>
          <a:ln/>
        </p:spPr>
      </p:sp>
      <p:sp>
        <p:nvSpPr>
          <p:cNvPr id="122883" name="Espace réservé des commentaires 2"/>
          <p:cNvSpPr>
            <a:spLocks noGrp="1"/>
          </p:cNvSpPr>
          <p:nvPr>
            <p:ph type="body" idx="1"/>
          </p:nvPr>
        </p:nvSpPr>
        <p:spPr>
          <a:noFill/>
        </p:spPr>
        <p:txBody>
          <a:bodyPr/>
          <a:lstStyle/>
          <a:p>
            <a:r>
              <a:rPr lang="fr-CA" sz="1300" b="1" dirty="0"/>
              <a:t>Faux. </a:t>
            </a:r>
            <a:endParaRPr lang="fr-CA" sz="1300" b="1" dirty="0" smtClean="0"/>
          </a:p>
          <a:p>
            <a:endParaRPr lang="fr-CA" sz="1100" b="1" dirty="0"/>
          </a:p>
          <a:p>
            <a:r>
              <a:rPr lang="fr-CA" sz="1100" dirty="0" smtClean="0"/>
              <a:t>Le </a:t>
            </a:r>
            <a:r>
              <a:rPr lang="fr-CA" sz="1100" dirty="0"/>
              <a:t>rapport, </a:t>
            </a:r>
            <a:r>
              <a:rPr lang="fr-CA" sz="1100" b="1" dirty="0"/>
              <a:t>verbal ou </a:t>
            </a:r>
            <a:r>
              <a:rPr lang="fr-CA" sz="1100" b="1" dirty="0" smtClean="0"/>
              <a:t>écrit, </a:t>
            </a:r>
            <a:r>
              <a:rPr lang="fr-CA" sz="1100" dirty="0" smtClean="0"/>
              <a:t>est </a:t>
            </a:r>
            <a:r>
              <a:rPr lang="fr-CA" sz="1100" dirty="0"/>
              <a:t>habituellement </a:t>
            </a:r>
            <a:r>
              <a:rPr lang="fr-CA" sz="1100" b="1" dirty="0"/>
              <a:t>destiné au comité </a:t>
            </a:r>
            <a:r>
              <a:rPr lang="fr-CA" sz="1100" b="1" dirty="0" smtClean="0"/>
              <a:t>d’audit. </a:t>
            </a:r>
            <a:r>
              <a:rPr lang="fr-CA" sz="1100" dirty="0" smtClean="0"/>
              <a:t>Donc</a:t>
            </a:r>
            <a:r>
              <a:rPr lang="fr-CA" sz="1100" dirty="0"/>
              <a:t>, c’est la </a:t>
            </a:r>
            <a:r>
              <a:rPr lang="fr-CA" sz="1100" b="1" dirty="0"/>
              <a:t>partie prenante</a:t>
            </a:r>
            <a:r>
              <a:rPr lang="fr-CA" sz="1100" dirty="0"/>
              <a:t>, ici</a:t>
            </a:r>
            <a:r>
              <a:rPr lang="fr-CA" sz="1100" dirty="0" smtClean="0"/>
              <a:t>. (voir ANC 7060.20)</a:t>
            </a:r>
          </a:p>
          <a:p>
            <a:endParaRPr lang="fr-CA" sz="1100" dirty="0" smtClean="0"/>
          </a:p>
          <a:p>
            <a:r>
              <a:rPr lang="fr-FR" sz="1100" dirty="0" smtClean="0"/>
              <a:t>Pourquoi </a:t>
            </a:r>
            <a:r>
              <a:rPr lang="fr-FR" sz="1100" dirty="0"/>
              <a:t>on ne le diffuse pas? Parce que sa </a:t>
            </a:r>
            <a:r>
              <a:rPr lang="fr-FR" sz="1100" b="1" dirty="0"/>
              <a:t>portée est très limitée</a:t>
            </a:r>
            <a:r>
              <a:rPr lang="fr-FR" sz="1100" dirty="0"/>
              <a:t>. Les actionnaires risquent d’y accorder trop de crédibilité.</a:t>
            </a:r>
          </a:p>
          <a:p>
            <a:endParaRPr lang="fr-CA" sz="1000" dirty="0"/>
          </a:p>
          <a:p>
            <a:r>
              <a:rPr lang="fr-CA" sz="1100" b="1" dirty="0"/>
              <a:t>Le but du rapport</a:t>
            </a:r>
            <a:r>
              <a:rPr lang="fr-CA" sz="1100" dirty="0"/>
              <a:t> : aider le comité d’audit à s’acquitter de ses responsabilités à l’égard des EF </a:t>
            </a:r>
            <a:r>
              <a:rPr lang="fr-CA" sz="1100" dirty="0" smtClean="0"/>
              <a:t>intermédiaires. (ANC 7060.01)</a:t>
            </a:r>
          </a:p>
          <a:p>
            <a:endParaRPr lang="fr-CA" sz="1100" dirty="0">
              <a:solidFill>
                <a:srgbClr val="3333CC"/>
              </a:solidFill>
            </a:endParaRPr>
          </a:p>
          <a:p>
            <a:endParaRPr lang="fr-FR" sz="1100" dirty="0"/>
          </a:p>
        </p:txBody>
      </p:sp>
      <p:sp>
        <p:nvSpPr>
          <p:cNvPr id="122884"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7B030E7D-5C82-45EB-8DC2-B7B4F6887E04}" type="slidenum">
              <a:rPr lang="fr-CA" sz="1200">
                <a:solidFill>
                  <a:prstClr val="black"/>
                </a:solidFill>
              </a:rPr>
              <a:pPr eaLnBrk="1" hangingPunct="1"/>
              <a:t>3</a:t>
            </a:fld>
            <a:endParaRPr lang="fr-CA" sz="1200" dirty="0">
              <a:solidFill>
                <a:prstClr val="black"/>
              </a:solidFill>
            </a:endParaRPr>
          </a:p>
        </p:txBody>
      </p:sp>
    </p:spTree>
    <p:extLst>
      <p:ext uri="{BB962C8B-B14F-4D97-AF65-F5344CB8AC3E}">
        <p14:creationId xmlns:p14="http://schemas.microsoft.com/office/powerpoint/2010/main" val="1225139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Espace réservé de l'image des diapositives 1"/>
          <p:cNvSpPr>
            <a:spLocks noGrp="1" noRot="1" noChangeAspect="1" noTextEdit="1"/>
          </p:cNvSpPr>
          <p:nvPr>
            <p:ph type="sldImg"/>
          </p:nvPr>
        </p:nvSpPr>
        <p:spPr>
          <a:ln/>
        </p:spPr>
      </p:sp>
      <p:sp>
        <p:nvSpPr>
          <p:cNvPr id="3" name="Espace réservé des commentaires 2"/>
          <p:cNvSpPr>
            <a:spLocks noGrp="1"/>
          </p:cNvSpPr>
          <p:nvPr>
            <p:ph type="body" idx="1"/>
          </p:nvPr>
        </p:nvSpPr>
        <p:spPr>
          <a:xfrm>
            <a:off x="914400" y="4415790"/>
            <a:ext cx="5250904" cy="4480881"/>
          </a:xfrm>
        </p:spPr>
        <p:txBody>
          <a:bodyPr/>
          <a:lstStyle/>
          <a:p>
            <a:pPr>
              <a:defRPr/>
            </a:pPr>
            <a:r>
              <a:rPr lang="fr-CA" altLang="fr-FR" sz="1400" b="1" dirty="0"/>
              <a:t>Faux. </a:t>
            </a:r>
          </a:p>
          <a:p>
            <a:pPr>
              <a:defRPr/>
            </a:pPr>
            <a:r>
              <a:rPr lang="fr-CA" altLang="fr-FR" sz="1100" dirty="0"/>
              <a:t>Le rapport peut être </a:t>
            </a:r>
            <a:r>
              <a:rPr lang="fr-CA" altLang="fr-FR" sz="1100" b="1" dirty="0"/>
              <a:t>verbal ou écrit </a:t>
            </a:r>
            <a:r>
              <a:rPr lang="fr-CA" altLang="fr-FR" sz="1100" dirty="0"/>
              <a:t>et il est habituellement </a:t>
            </a:r>
            <a:r>
              <a:rPr lang="fr-CA" altLang="fr-FR" sz="1100" b="1" dirty="0"/>
              <a:t>destiné au comité d’audit </a:t>
            </a:r>
            <a:r>
              <a:rPr lang="fr-CA" altLang="fr-FR" sz="1100" dirty="0" smtClean="0"/>
              <a:t>(ANC 7060.20 </a:t>
            </a:r>
            <a:r>
              <a:rPr lang="fr-CA" altLang="fr-FR" sz="1100" dirty="0"/>
              <a:t>(a) + A33) </a:t>
            </a:r>
          </a:p>
          <a:p>
            <a:pPr>
              <a:defRPr/>
            </a:pPr>
            <a:endParaRPr lang="fr-CA" altLang="fr-FR" sz="1000" dirty="0"/>
          </a:p>
          <a:p>
            <a:r>
              <a:rPr lang="fr-CA" altLang="fr-FR" sz="1000" dirty="0" smtClean="0"/>
              <a:t>ANC 7060.05 </a:t>
            </a:r>
            <a:r>
              <a:rPr lang="fr-CA" altLang="fr-FR" sz="1000" dirty="0"/>
              <a:t>: </a:t>
            </a:r>
            <a:r>
              <a:rPr lang="fr-CA" altLang="fr-FR" sz="1000" b="1" dirty="0"/>
              <a:t>Les conditions convenues de la mission </a:t>
            </a:r>
            <a:r>
              <a:rPr lang="fr-CA" altLang="fr-FR" sz="1000" dirty="0"/>
              <a:t>doivent être consignées dans une lettre de mission ou dans un autre type d'accord écrit établi sous une forme appropriée, et </a:t>
            </a:r>
            <a:r>
              <a:rPr lang="fr-CA" altLang="fr-FR" sz="1000" u="sng" dirty="0"/>
              <a:t>doivent préciser notamment</a:t>
            </a:r>
            <a:r>
              <a:rPr lang="fr-CA" altLang="fr-FR" sz="1000" dirty="0"/>
              <a:t>, qu'un rapport d'examen intermédiaire de l'auditeur accompagnera les états financiers intermédiaires dans l'un ou l'autre des cas suivants : </a:t>
            </a:r>
          </a:p>
          <a:p>
            <a:pPr marL="360363" indent="-360363"/>
            <a:r>
              <a:rPr lang="fr-CA" sz="1000" dirty="0"/>
              <a:t>i)     </a:t>
            </a:r>
            <a:r>
              <a:rPr lang="fr-CA" sz="1000" u="sng" dirty="0"/>
              <a:t>il est prévu </a:t>
            </a:r>
            <a:r>
              <a:rPr lang="fr-CA" sz="1000" dirty="0"/>
              <a:t>qu'un document public fasse mention de l'examen intermédiaire de l'auditeur,</a:t>
            </a:r>
          </a:p>
          <a:p>
            <a:pPr marL="360363" indent="-360363"/>
            <a:r>
              <a:rPr lang="fr-CA" sz="1000" dirty="0"/>
              <a:t>ii)     le rapport d'examen intermédiaire de l'auditeur</a:t>
            </a:r>
            <a:r>
              <a:rPr lang="fr-CA" sz="1000" u="sng" dirty="0"/>
              <a:t> comporte une conclusion modifiée </a:t>
            </a:r>
            <a:r>
              <a:rPr lang="fr-CA" sz="1000" dirty="0"/>
              <a:t>en raison d'une dérogation au référentiel d'information financière applicable, à moins que cette dérogation découle d'une exemption accordée par la réglementation des valeurs mobilières. (Réf. : par. A8 et A9)</a:t>
            </a:r>
          </a:p>
          <a:p>
            <a:pPr>
              <a:defRPr/>
            </a:pPr>
            <a:r>
              <a:rPr lang="fr-CA" altLang="fr-FR" sz="1000" b="1" u="sng" dirty="0"/>
              <a:t>Conclusion</a:t>
            </a:r>
            <a:r>
              <a:rPr lang="fr-CA" altLang="fr-FR" sz="1000" b="1" dirty="0"/>
              <a:t> :  si rien n’est prévu ou s’il n’y a pas de conclusion modifiée dans le rapport, le rapport n’accompagnera </a:t>
            </a:r>
            <a:r>
              <a:rPr lang="fr-CA" altLang="fr-FR" sz="1000" b="1" u="sng" dirty="0"/>
              <a:t>pas</a:t>
            </a:r>
            <a:r>
              <a:rPr lang="fr-CA" altLang="fr-FR" sz="1000" b="1" dirty="0"/>
              <a:t> les EF. </a:t>
            </a:r>
          </a:p>
          <a:p>
            <a:pPr>
              <a:defRPr/>
            </a:pPr>
            <a:endParaRPr lang="fr-CA" altLang="fr-FR" sz="1000" b="1" dirty="0"/>
          </a:p>
          <a:p>
            <a:pPr>
              <a:defRPr/>
            </a:pPr>
            <a:r>
              <a:rPr lang="fr-CA" altLang="fr-FR" sz="1000" b="1" u="sng" dirty="0"/>
              <a:t>MAIS </a:t>
            </a:r>
            <a:r>
              <a:rPr lang="fr-CA" altLang="fr-FR" sz="1000" b="1" dirty="0"/>
              <a:t>: SI ÉF INTERMÉDIAIRES NE SONT </a:t>
            </a:r>
            <a:r>
              <a:rPr lang="fr-CA" altLang="fr-FR" sz="1000" b="1" u="sng" dirty="0"/>
              <a:t>PAS</a:t>
            </a:r>
            <a:r>
              <a:rPr lang="fr-CA" altLang="fr-FR" sz="1000" b="1" dirty="0"/>
              <a:t> EXAMINÉS PAR L’AUDITEUR EXTERNE, CELA DOIT ÊTRE MENTIONNÉ DANS UN AVIS ACCOMPAGNANT LES ÉF :</a:t>
            </a:r>
          </a:p>
          <a:p>
            <a:r>
              <a:rPr lang="fr-CA" altLang="fr-FR" sz="1000" b="1" dirty="0"/>
              <a:t>Règlement </a:t>
            </a:r>
            <a:r>
              <a:rPr lang="fr-CA" altLang="fr-FR" sz="1000" b="1" dirty="0" smtClean="0"/>
              <a:t>51-102 (Loi sur les valeurs mobilières) </a:t>
            </a:r>
            <a:r>
              <a:rPr lang="fr-CA" altLang="fr-FR" sz="1000" dirty="0"/>
              <a:t>en date du </a:t>
            </a:r>
            <a:r>
              <a:rPr lang="fr-CA" altLang="fr-FR" sz="1000" dirty="0" smtClean="0"/>
              <a:t>17/11/2015 </a:t>
            </a:r>
            <a:r>
              <a:rPr lang="fr-CA" altLang="fr-FR" sz="1000" dirty="0"/>
              <a:t>– </a:t>
            </a:r>
            <a:r>
              <a:rPr lang="fr-CA" altLang="fr-FR" sz="1000" dirty="0" err="1"/>
              <a:t>parag</a:t>
            </a:r>
            <a:r>
              <a:rPr lang="fr-CA" altLang="fr-FR" sz="1000" dirty="0"/>
              <a:t>. 4.3 (3) (a) :</a:t>
            </a:r>
            <a:endParaRPr lang="fr-CA" altLang="fr-FR" sz="1000" b="1" dirty="0"/>
          </a:p>
          <a:p>
            <a:r>
              <a:rPr lang="fr-CA" altLang="fr-FR" sz="1000" dirty="0"/>
              <a:t>« L'information concernant l'examen par l'auditeur du rapport financier intermédiaire est communiquée selon les modalités suivantes: </a:t>
            </a:r>
          </a:p>
          <a:p>
            <a:pPr marL="498475" indent="-228600">
              <a:buAutoNum type="alphaLcParenR"/>
            </a:pPr>
            <a:r>
              <a:rPr lang="fr-CA" altLang="fr-FR" sz="1000" dirty="0"/>
              <a:t>si l'auditeur </a:t>
            </a:r>
            <a:r>
              <a:rPr lang="fr-CA" altLang="fr-FR" sz="1000" b="1" dirty="0"/>
              <a:t>n'a </a:t>
            </a:r>
            <a:r>
              <a:rPr lang="fr-CA" altLang="fr-FR" sz="1000" b="1" u="sng" dirty="0"/>
              <a:t>pas </a:t>
            </a:r>
            <a:r>
              <a:rPr lang="fr-CA" altLang="fr-FR" sz="1000" b="1" dirty="0"/>
              <a:t>effectué l'examen</a:t>
            </a:r>
            <a:r>
              <a:rPr lang="fr-CA" altLang="fr-FR" sz="1000" dirty="0"/>
              <a:t> du rapport financier intermédiaire à déposer en vertu du paragraphe 1, </a:t>
            </a:r>
            <a:r>
              <a:rPr lang="fr-CA" altLang="fr-FR" sz="1000" b="1" u="sng" dirty="0"/>
              <a:t>un avis</a:t>
            </a:r>
            <a:r>
              <a:rPr lang="fr-CA" altLang="fr-FR" sz="1000" u="sng" dirty="0"/>
              <a:t> accompagnant le rapport financier intermédiaire </a:t>
            </a:r>
            <a:r>
              <a:rPr lang="fr-CA" altLang="fr-FR" sz="1000" b="1" u="sng" dirty="0"/>
              <a:t>doit en faire état</a:t>
            </a:r>
            <a:r>
              <a:rPr lang="fr-CA" altLang="fr-FR" sz="1000" b="1" dirty="0"/>
              <a:t>. » </a:t>
            </a:r>
            <a:r>
              <a:rPr lang="fr-CA" altLang="fr-FR" sz="1000" dirty="0"/>
              <a:t>(…)  </a:t>
            </a:r>
            <a:r>
              <a:rPr lang="fr-CA" altLang="fr-FR" sz="1000" b="1" i="1" dirty="0">
                <a:solidFill>
                  <a:srgbClr val="0070C0"/>
                </a:solidFill>
              </a:rPr>
              <a:t>voir l’exemple de </a:t>
            </a:r>
            <a:r>
              <a:rPr lang="fr-CA" altLang="fr-FR" sz="1000" b="1" i="1" dirty="0" err="1">
                <a:solidFill>
                  <a:srgbClr val="0070C0"/>
                </a:solidFill>
              </a:rPr>
              <a:t>Mediagrif</a:t>
            </a:r>
            <a:r>
              <a:rPr lang="fr-CA" altLang="fr-FR" sz="1000" b="1" i="1" dirty="0">
                <a:solidFill>
                  <a:srgbClr val="0070C0"/>
                </a:solidFill>
              </a:rPr>
              <a:t> (diapo suivante)</a:t>
            </a:r>
          </a:p>
          <a:p>
            <a:pPr marL="269875"/>
            <a:endParaRPr lang="fr-CA" altLang="fr-FR" sz="1000" dirty="0"/>
          </a:p>
          <a:p>
            <a:pPr marL="449263" indent="-179388">
              <a:defRPr/>
            </a:pPr>
            <a:r>
              <a:rPr lang="fr-CA" sz="1000" i="1" dirty="0"/>
              <a:t>c) </a:t>
            </a:r>
            <a:r>
              <a:rPr lang="fr-CA" sz="1000" dirty="0"/>
              <a:t>si l'auditeur </a:t>
            </a:r>
            <a:r>
              <a:rPr lang="fr-CA" sz="1000" b="1" dirty="0"/>
              <a:t>a effectué</a:t>
            </a:r>
            <a:r>
              <a:rPr lang="fr-CA" sz="1000" dirty="0"/>
              <a:t> l'examen du rapport financier intermédiaire à déposer en vertu du paragraphe 1 </a:t>
            </a:r>
            <a:r>
              <a:rPr lang="fr-CA" sz="1000" b="1" u="sng" dirty="0"/>
              <a:t>et</a:t>
            </a:r>
            <a:r>
              <a:rPr lang="fr-CA" sz="1000" b="1" dirty="0"/>
              <a:t> formulé une restriction </a:t>
            </a:r>
            <a:r>
              <a:rPr lang="fr-CA" sz="1000" dirty="0"/>
              <a:t>dans le rapport d'examen intermédiaire, </a:t>
            </a:r>
            <a:r>
              <a:rPr lang="fr-CA" sz="1000" b="1" u="sng" dirty="0"/>
              <a:t>un rapport d'examen écrit doit</a:t>
            </a:r>
            <a:r>
              <a:rPr lang="fr-CA" sz="1000" b="1" dirty="0"/>
              <a:t> accompagner le rapport financier intermédiaire. </a:t>
            </a:r>
            <a:r>
              <a:rPr lang="fr-CA" sz="1000" dirty="0"/>
              <a:t>»</a:t>
            </a:r>
            <a:endParaRPr lang="fr-CA" altLang="fr-FR" sz="1000" dirty="0"/>
          </a:p>
        </p:txBody>
      </p:sp>
      <p:sp>
        <p:nvSpPr>
          <p:cNvPr id="124932"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729BE512-1680-4AFA-AB13-BE14D7E3A4F1}" type="slidenum">
              <a:rPr lang="fr-CA" sz="1200">
                <a:solidFill>
                  <a:prstClr val="black"/>
                </a:solidFill>
              </a:rPr>
              <a:pPr eaLnBrk="1" hangingPunct="1"/>
              <a:t>4</a:t>
            </a:fld>
            <a:endParaRPr lang="fr-CA" sz="1200" dirty="0">
              <a:solidFill>
                <a:prstClr val="black"/>
              </a:solidFill>
            </a:endParaRPr>
          </a:p>
        </p:txBody>
      </p:sp>
    </p:spTree>
    <p:extLst>
      <p:ext uri="{BB962C8B-B14F-4D97-AF65-F5344CB8AC3E}">
        <p14:creationId xmlns:p14="http://schemas.microsoft.com/office/powerpoint/2010/main" val="228350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Espace réservé de l'image des diapositives 1"/>
          <p:cNvSpPr>
            <a:spLocks noGrp="1" noRot="1" noChangeAspect="1" noTextEdit="1"/>
          </p:cNvSpPr>
          <p:nvPr>
            <p:ph type="sldImg"/>
          </p:nvPr>
        </p:nvSpPr>
        <p:spPr>
          <a:ln/>
        </p:spPr>
      </p:sp>
      <p:sp>
        <p:nvSpPr>
          <p:cNvPr id="125955" name="Espace réservé des commentaires 2"/>
          <p:cNvSpPr>
            <a:spLocks noGrp="1"/>
          </p:cNvSpPr>
          <p:nvPr>
            <p:ph type="body" idx="1"/>
          </p:nvPr>
        </p:nvSpPr>
        <p:spPr>
          <a:noFill/>
        </p:spPr>
        <p:txBody>
          <a:bodyPr/>
          <a:lstStyle/>
          <a:p>
            <a:endParaRPr lang="fr-CA" altLang="fr-FR" dirty="0"/>
          </a:p>
          <a:p>
            <a:r>
              <a:rPr lang="fr-CA" altLang="fr-FR" b="1" dirty="0" err="1"/>
              <a:t>Médiagrif</a:t>
            </a:r>
            <a:r>
              <a:rPr lang="fr-CA" altLang="fr-FR" b="1" dirty="0"/>
              <a:t> répond ici à l’exigence du règlement 51-102 qui dit qu’il faut aviser le lecteur des ÉF intermédiaires si l’auditeur externe n’a pas examiné ces </a:t>
            </a:r>
            <a:r>
              <a:rPr lang="fr-CA" altLang="fr-FR" b="1" dirty="0" smtClean="0"/>
              <a:t>ÉF </a:t>
            </a:r>
            <a:r>
              <a:rPr lang="fr-CA" altLang="fr-FR" dirty="0"/>
              <a:t>(extrait à la diapo précédente</a:t>
            </a:r>
            <a:r>
              <a:rPr lang="fr-CA" altLang="fr-FR" dirty="0" smtClean="0"/>
              <a:t>).</a:t>
            </a:r>
            <a:endParaRPr lang="fr-CA" altLang="fr-FR" dirty="0"/>
          </a:p>
          <a:p>
            <a:endParaRPr lang="fr-CA" dirty="0" smtClean="0"/>
          </a:p>
        </p:txBody>
      </p:sp>
      <p:sp>
        <p:nvSpPr>
          <p:cNvPr id="125956"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E9184D81-BD80-4F12-8AB4-8F16436F68CC}" type="slidenum">
              <a:rPr lang="fr-CA" sz="1200">
                <a:solidFill>
                  <a:prstClr val="black"/>
                </a:solidFill>
              </a:rPr>
              <a:pPr eaLnBrk="1" hangingPunct="1"/>
              <a:t>5</a:t>
            </a:fld>
            <a:endParaRPr lang="fr-CA" sz="1200" dirty="0">
              <a:solidFill>
                <a:prstClr val="black"/>
              </a:solidFill>
            </a:endParaRPr>
          </a:p>
        </p:txBody>
      </p:sp>
    </p:spTree>
    <p:extLst>
      <p:ext uri="{BB962C8B-B14F-4D97-AF65-F5344CB8AC3E}">
        <p14:creationId xmlns:p14="http://schemas.microsoft.com/office/powerpoint/2010/main" val="1410136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ce réservé de l'image des diapositives 1"/>
          <p:cNvSpPr>
            <a:spLocks noGrp="1" noRot="1" noChangeAspect="1" noTextEdit="1"/>
          </p:cNvSpPr>
          <p:nvPr>
            <p:ph type="sldImg"/>
          </p:nvPr>
        </p:nvSpPr>
        <p:spPr>
          <a:xfrm>
            <a:off x="1466850" y="696913"/>
            <a:ext cx="3924300" cy="2943225"/>
          </a:xfrm>
          <a:ln/>
        </p:spPr>
      </p:sp>
      <p:sp>
        <p:nvSpPr>
          <p:cNvPr id="123907" name="Espace réservé des commentaires 2"/>
          <p:cNvSpPr>
            <a:spLocks noGrp="1"/>
          </p:cNvSpPr>
          <p:nvPr>
            <p:ph type="body" idx="1"/>
          </p:nvPr>
        </p:nvSpPr>
        <p:spPr>
          <a:xfrm>
            <a:off x="914400" y="3712097"/>
            <a:ext cx="5322912" cy="4887075"/>
          </a:xfrm>
          <a:noFill/>
        </p:spPr>
        <p:txBody>
          <a:bodyPr/>
          <a:lstStyle/>
          <a:p>
            <a:endParaRPr lang="fr-FR" sz="1100" dirty="0"/>
          </a:p>
          <a:p>
            <a:r>
              <a:rPr lang="fr-FR" sz="1100" b="1" dirty="0" smtClean="0"/>
              <a:t>Voir ANC 7060.A17 + exemples de l’annexe 2</a:t>
            </a:r>
          </a:p>
          <a:p>
            <a:endParaRPr lang="fr-FR" sz="1100" dirty="0" smtClean="0"/>
          </a:p>
          <a:p>
            <a:r>
              <a:rPr lang="fr-FR" sz="1100" dirty="0" smtClean="0"/>
              <a:t>B</a:t>
            </a:r>
            <a:r>
              <a:rPr lang="fr-FR" sz="1100" dirty="0"/>
              <a:t>) </a:t>
            </a:r>
            <a:r>
              <a:rPr lang="fr-FR" sz="1100" dirty="0" smtClean="0"/>
              <a:t>est </a:t>
            </a:r>
            <a:r>
              <a:rPr lang="fr-FR" sz="1100" b="1" dirty="0" smtClean="0"/>
              <a:t>VRAI</a:t>
            </a:r>
            <a:r>
              <a:rPr lang="fr-FR" sz="1100" b="1" dirty="0"/>
              <a:t>. </a:t>
            </a:r>
            <a:r>
              <a:rPr lang="fr-FR" sz="1100" dirty="0"/>
              <a:t>La lecture des procès-verbaux des assemblées des actionnaires, des réunions du conseil d'administration et des comités de celui-ci </a:t>
            </a:r>
            <a:r>
              <a:rPr lang="fr-FR" sz="1100" b="1" dirty="0"/>
              <a:t>pour relever les points susceptibles d'avoir une incidence sur les états financiers intermédiaires</a:t>
            </a:r>
            <a:r>
              <a:rPr lang="fr-FR" sz="1100" dirty="0"/>
              <a:t>; </a:t>
            </a:r>
            <a:endParaRPr lang="fr-FR" sz="1100" dirty="0" smtClean="0"/>
          </a:p>
          <a:p>
            <a:endParaRPr lang="fr-FR" sz="1100" dirty="0"/>
          </a:p>
          <a:p>
            <a:r>
              <a:rPr lang="fr-FR" sz="1100" dirty="0" smtClean="0"/>
              <a:t>P.S</a:t>
            </a:r>
            <a:r>
              <a:rPr lang="fr-FR" sz="1100" dirty="0"/>
              <a:t>. Le </a:t>
            </a:r>
            <a:r>
              <a:rPr lang="fr-FR" sz="1100" dirty="0" smtClean="0"/>
              <a:t>comité </a:t>
            </a:r>
            <a:r>
              <a:rPr lang="fr-FR" sz="1100" dirty="0"/>
              <a:t>d’audit est un comité du conseil d’administration</a:t>
            </a:r>
            <a:r>
              <a:rPr lang="fr-FR" sz="1100" dirty="0" smtClean="0"/>
              <a:t>.</a:t>
            </a:r>
          </a:p>
          <a:p>
            <a:endParaRPr lang="fr-FR" sz="1100" dirty="0"/>
          </a:p>
          <a:p>
            <a:r>
              <a:rPr lang="fr-FR" sz="1100" dirty="0" smtClean="0"/>
              <a:t>L'examen des EF intermédiaires a pour objectif de fournir à l'auditeur de l'entité une base qui lui permettra de déclarer s'il est au courant de quelque modification significative à apporter à ces EF pour que ceux-ci soient conformes aux IFRS.</a:t>
            </a:r>
          </a:p>
          <a:p>
            <a:endParaRPr lang="fr-FR" sz="1100" dirty="0" smtClean="0"/>
          </a:p>
          <a:p>
            <a:r>
              <a:rPr lang="fr-FR" sz="1100" dirty="0" smtClean="0"/>
              <a:t>Les procédures d’examen sont concentrées sur les changements depuis le dernier audit. Elles consistent essentiellement à des demandes d’information, des procédures analytiques et des entretiens.</a:t>
            </a:r>
          </a:p>
          <a:p>
            <a:endParaRPr lang="fr-FR" sz="1100" dirty="0" smtClean="0"/>
          </a:p>
          <a:p>
            <a:r>
              <a:rPr lang="fr-FR" sz="1100" dirty="0" smtClean="0"/>
              <a:t>L’examen ne vise </a:t>
            </a:r>
            <a:r>
              <a:rPr lang="fr-FR" sz="1100" b="1" dirty="0" smtClean="0"/>
              <a:t>pas </a:t>
            </a:r>
            <a:r>
              <a:rPr lang="fr-FR" sz="1100" dirty="0" smtClean="0"/>
              <a:t>à fournir une assurance à l’effet que les ÉF intermédiaires ne contiennent pas d’anomalies significatives.</a:t>
            </a:r>
          </a:p>
          <a:p>
            <a:endParaRPr lang="fr-FR" sz="1100" dirty="0">
              <a:solidFill>
                <a:srgbClr val="3333CC"/>
              </a:solidFill>
            </a:endParaRPr>
          </a:p>
        </p:txBody>
      </p:sp>
      <p:sp>
        <p:nvSpPr>
          <p:cNvPr id="123908"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8FDD8948-8573-4F02-BC09-3E268D54512C}" type="slidenum">
              <a:rPr lang="fr-CA" sz="1200">
                <a:solidFill>
                  <a:prstClr val="black"/>
                </a:solidFill>
              </a:rPr>
              <a:pPr eaLnBrk="1" hangingPunct="1"/>
              <a:t>6</a:t>
            </a:fld>
            <a:endParaRPr lang="fr-CA" sz="1200" dirty="0">
              <a:solidFill>
                <a:prstClr val="black"/>
              </a:solidFill>
            </a:endParaRPr>
          </a:p>
        </p:txBody>
      </p:sp>
    </p:spTree>
    <p:extLst>
      <p:ext uri="{BB962C8B-B14F-4D97-AF65-F5344CB8AC3E}">
        <p14:creationId xmlns:p14="http://schemas.microsoft.com/office/powerpoint/2010/main" val="228453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Espace réservé de l'image des diapositives 1"/>
          <p:cNvSpPr>
            <a:spLocks noGrp="1" noRot="1" noChangeAspect="1" noTextEdit="1"/>
          </p:cNvSpPr>
          <p:nvPr>
            <p:ph type="sldImg"/>
          </p:nvPr>
        </p:nvSpPr>
        <p:spPr>
          <a:ln/>
        </p:spPr>
      </p:sp>
      <p:sp>
        <p:nvSpPr>
          <p:cNvPr id="126979" name="Espace réservé des commentaires 2"/>
          <p:cNvSpPr>
            <a:spLocks noGrp="1"/>
          </p:cNvSpPr>
          <p:nvPr>
            <p:ph type="body" idx="1"/>
          </p:nvPr>
        </p:nvSpPr>
        <p:spPr>
          <a:noFill/>
        </p:spPr>
        <p:txBody>
          <a:bodyPr/>
          <a:lstStyle/>
          <a:p>
            <a:r>
              <a:rPr lang="fr-FR" b="1" dirty="0" smtClean="0"/>
              <a:t>FAUX.</a:t>
            </a:r>
            <a:r>
              <a:rPr lang="fr-FR" dirty="0" smtClean="0"/>
              <a:t> </a:t>
            </a:r>
          </a:p>
          <a:p>
            <a:r>
              <a:rPr lang="fr-FR" b="1" dirty="0" smtClean="0"/>
              <a:t>Voir ANC 7060.12</a:t>
            </a:r>
          </a:p>
          <a:p>
            <a:endParaRPr lang="fr-FR" b="1" dirty="0" smtClean="0"/>
          </a:p>
          <a:p>
            <a:r>
              <a:rPr lang="fr-FR" dirty="0" smtClean="0"/>
              <a:t>Les auditeurs </a:t>
            </a:r>
            <a:r>
              <a:rPr lang="fr-FR" b="1" dirty="0" smtClean="0"/>
              <a:t>DOIVENT le lire </a:t>
            </a:r>
            <a:r>
              <a:rPr lang="fr-FR" dirty="0" smtClean="0"/>
              <a:t>pour détecter des incohérences significatives entre ces informations et les états financiers intermédiaires. </a:t>
            </a:r>
          </a:p>
          <a:p>
            <a:endParaRPr lang="fr-FR" i="1" dirty="0" smtClean="0"/>
          </a:p>
        </p:txBody>
      </p:sp>
      <p:sp>
        <p:nvSpPr>
          <p:cNvPr id="126980"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F0B511C5-B784-4F4D-A201-4201C4C5F562}" type="slidenum">
              <a:rPr lang="fr-CA" sz="1200">
                <a:solidFill>
                  <a:prstClr val="black"/>
                </a:solidFill>
              </a:rPr>
              <a:pPr eaLnBrk="1" hangingPunct="1"/>
              <a:t>7</a:t>
            </a:fld>
            <a:endParaRPr lang="fr-CA" sz="1200" dirty="0">
              <a:solidFill>
                <a:prstClr val="black"/>
              </a:solidFill>
            </a:endParaRPr>
          </a:p>
        </p:txBody>
      </p:sp>
    </p:spTree>
    <p:extLst>
      <p:ext uri="{BB962C8B-B14F-4D97-AF65-F5344CB8AC3E}">
        <p14:creationId xmlns:p14="http://schemas.microsoft.com/office/powerpoint/2010/main" val="217024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a:noFill/>
        </p:spPr>
        <p:txBody>
          <a:bodyPr/>
          <a:lstStyle/>
          <a:p>
            <a:pPr marL="230188" indent="-230188">
              <a:buFontTx/>
              <a:buAutoNum type="alphaLcParenR"/>
            </a:pPr>
            <a:r>
              <a:rPr lang="fr-CA" altLang="fr-FR" b="1" dirty="0" smtClean="0"/>
              <a:t>VRAI</a:t>
            </a:r>
            <a:r>
              <a:rPr lang="fr-CA" altLang="fr-FR" b="1" dirty="0"/>
              <a:t>. C’est la bonne réponse car a), b) et c) sont exacts.</a:t>
            </a:r>
          </a:p>
          <a:p>
            <a:endParaRPr lang="fr-CA" dirty="0" smtClean="0"/>
          </a:p>
          <a:p>
            <a:r>
              <a:rPr lang="fr-CA" dirty="0" smtClean="0"/>
              <a:t>Voir ANC 7060, annexe 2</a:t>
            </a:r>
          </a:p>
        </p:txBody>
      </p:sp>
    </p:spTree>
    <p:extLst>
      <p:ext uri="{BB962C8B-B14F-4D97-AF65-F5344CB8AC3E}">
        <p14:creationId xmlns:p14="http://schemas.microsoft.com/office/powerpoint/2010/main" val="3707072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Espace réservé de l'image des diapositives 1"/>
          <p:cNvSpPr>
            <a:spLocks noGrp="1" noRot="1" noChangeAspect="1" noTextEdit="1"/>
          </p:cNvSpPr>
          <p:nvPr>
            <p:ph type="sldImg"/>
          </p:nvPr>
        </p:nvSpPr>
        <p:spPr>
          <a:ln/>
        </p:spPr>
      </p:sp>
      <p:sp>
        <p:nvSpPr>
          <p:cNvPr id="128003" name="Espace réservé des commentaires 2"/>
          <p:cNvSpPr>
            <a:spLocks noGrp="1"/>
          </p:cNvSpPr>
          <p:nvPr>
            <p:ph type="body" idx="1"/>
          </p:nvPr>
        </p:nvSpPr>
        <p:spPr>
          <a:noFill/>
        </p:spPr>
        <p:txBody>
          <a:bodyPr/>
          <a:lstStyle/>
          <a:p>
            <a:r>
              <a:rPr lang="fr-CA" altLang="fr-FR" sz="1100" b="1" dirty="0" smtClean="0"/>
              <a:t>Vrai</a:t>
            </a:r>
            <a:r>
              <a:rPr lang="fr-CA" altLang="fr-FR" sz="1100" dirty="0"/>
              <a:t>. </a:t>
            </a:r>
            <a:endParaRPr lang="fr-CA" altLang="fr-FR" sz="1100" dirty="0" smtClean="0"/>
          </a:p>
          <a:p>
            <a:r>
              <a:rPr lang="fr-CA" altLang="fr-FR" sz="1100" dirty="0" smtClean="0"/>
              <a:t>L'auditeur </a:t>
            </a:r>
            <a:r>
              <a:rPr lang="fr-CA" altLang="fr-FR" sz="1100" dirty="0"/>
              <a:t>doit prendre en considération le caractère significatif par rapport aux états financiers intermédiaires, en tenant compte du référentiel d'information financière applicable, lorsqu'il détermine la nature et l'étendue des procédures à mettre en </a:t>
            </a:r>
            <a:r>
              <a:rPr lang="fr-CA" altLang="fr-FR" sz="1100" dirty="0" err="1"/>
              <a:t>oeuvre</a:t>
            </a:r>
            <a:r>
              <a:rPr lang="fr-CA" altLang="fr-FR" sz="1100" dirty="0"/>
              <a:t> et lorsqu'il évalue l'incidence des anomalies. (ANC 7060.7)</a:t>
            </a:r>
          </a:p>
          <a:p>
            <a:pPr>
              <a:buFontTx/>
              <a:buChar char="•"/>
            </a:pPr>
            <a:endParaRPr lang="fr-CA" altLang="fr-FR" sz="1100" dirty="0"/>
          </a:p>
          <a:p>
            <a:r>
              <a:rPr lang="fr-CA" altLang="fr-FR" sz="1100" dirty="0"/>
              <a:t> La prise en considération du caractère significatif par l'auditeur relève du jugement professionnel. Dans cette prise en considération, l'auditeur peut juger utile d'acquérir une compréhension des vues et des attentes du comité d'audit. </a:t>
            </a:r>
            <a:r>
              <a:rPr lang="fr-CA" altLang="fr-FR" sz="1100" b="1" dirty="0"/>
              <a:t>(ANC 7060.A11)</a:t>
            </a:r>
          </a:p>
          <a:p>
            <a:endParaRPr lang="fr-CA" sz="1000" dirty="0"/>
          </a:p>
        </p:txBody>
      </p:sp>
      <p:sp>
        <p:nvSpPr>
          <p:cNvPr id="128004"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54243" indent="-290093" eaLnBrk="0" hangingPunct="0">
              <a:defRPr sz="2400">
                <a:solidFill>
                  <a:schemeClr val="tx1"/>
                </a:solidFill>
                <a:latin typeface="Times New Roman" pitchFamily="18" charset="0"/>
              </a:defRPr>
            </a:lvl2pPr>
            <a:lvl3pPr marL="1160374" indent="-232075" eaLnBrk="0" hangingPunct="0">
              <a:defRPr sz="2400">
                <a:solidFill>
                  <a:schemeClr val="tx1"/>
                </a:solidFill>
                <a:latin typeface="Times New Roman" pitchFamily="18" charset="0"/>
              </a:defRPr>
            </a:lvl3pPr>
            <a:lvl4pPr marL="1624523" indent="-232075" eaLnBrk="0" hangingPunct="0">
              <a:defRPr sz="2400">
                <a:solidFill>
                  <a:schemeClr val="tx1"/>
                </a:solidFill>
                <a:latin typeface="Times New Roman" pitchFamily="18" charset="0"/>
              </a:defRPr>
            </a:lvl4pPr>
            <a:lvl5pPr marL="2088672" indent="-232075" eaLnBrk="0" hangingPunct="0">
              <a:defRPr sz="2400">
                <a:solidFill>
                  <a:schemeClr val="tx1"/>
                </a:solidFill>
                <a:latin typeface="Times New Roman" pitchFamily="18" charset="0"/>
              </a:defRPr>
            </a:lvl5pPr>
            <a:lvl6pPr marL="2552822" indent="-232075" eaLnBrk="0" fontAlgn="base" hangingPunct="0">
              <a:spcBef>
                <a:spcPct val="0"/>
              </a:spcBef>
              <a:spcAft>
                <a:spcPct val="0"/>
              </a:spcAft>
              <a:defRPr sz="2400">
                <a:solidFill>
                  <a:schemeClr val="tx1"/>
                </a:solidFill>
                <a:latin typeface="Times New Roman" pitchFamily="18" charset="0"/>
              </a:defRPr>
            </a:lvl6pPr>
            <a:lvl7pPr marL="3016971" indent="-232075" eaLnBrk="0" fontAlgn="base" hangingPunct="0">
              <a:spcBef>
                <a:spcPct val="0"/>
              </a:spcBef>
              <a:spcAft>
                <a:spcPct val="0"/>
              </a:spcAft>
              <a:defRPr sz="2400">
                <a:solidFill>
                  <a:schemeClr val="tx1"/>
                </a:solidFill>
                <a:latin typeface="Times New Roman" pitchFamily="18" charset="0"/>
              </a:defRPr>
            </a:lvl7pPr>
            <a:lvl8pPr marL="3481121" indent="-232075" eaLnBrk="0" fontAlgn="base" hangingPunct="0">
              <a:spcBef>
                <a:spcPct val="0"/>
              </a:spcBef>
              <a:spcAft>
                <a:spcPct val="0"/>
              </a:spcAft>
              <a:defRPr sz="2400">
                <a:solidFill>
                  <a:schemeClr val="tx1"/>
                </a:solidFill>
                <a:latin typeface="Times New Roman" pitchFamily="18" charset="0"/>
              </a:defRPr>
            </a:lvl8pPr>
            <a:lvl9pPr marL="3945270" indent="-232075" eaLnBrk="0" fontAlgn="base" hangingPunct="0">
              <a:spcBef>
                <a:spcPct val="0"/>
              </a:spcBef>
              <a:spcAft>
                <a:spcPct val="0"/>
              </a:spcAft>
              <a:defRPr sz="2400">
                <a:solidFill>
                  <a:schemeClr val="tx1"/>
                </a:solidFill>
                <a:latin typeface="Times New Roman" pitchFamily="18" charset="0"/>
              </a:defRPr>
            </a:lvl9pPr>
          </a:lstStyle>
          <a:p>
            <a:pPr eaLnBrk="1" hangingPunct="1"/>
            <a:fld id="{9BDF05EB-97F2-4DFD-9E1E-300B45090578}" type="slidenum">
              <a:rPr lang="fr-CA" sz="1200">
                <a:solidFill>
                  <a:prstClr val="black"/>
                </a:solidFill>
              </a:rPr>
              <a:pPr eaLnBrk="1" hangingPunct="1"/>
              <a:t>9</a:t>
            </a:fld>
            <a:endParaRPr lang="fr-CA" sz="1200" dirty="0">
              <a:solidFill>
                <a:prstClr val="black"/>
              </a:solidFill>
            </a:endParaRPr>
          </a:p>
        </p:txBody>
      </p:sp>
    </p:spTree>
    <p:extLst>
      <p:ext uri="{BB962C8B-B14F-4D97-AF65-F5344CB8AC3E}">
        <p14:creationId xmlns:p14="http://schemas.microsoft.com/office/powerpoint/2010/main" val="2900526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ChangeArrowheads="1" noTextEdit="1"/>
          </p:cNvSpPr>
          <p:nvPr>
            <p:ph type="sldImg"/>
          </p:nvPr>
        </p:nvSpPr>
        <p:spPr>
          <a:ln/>
        </p:spPr>
      </p:sp>
      <p:sp>
        <p:nvSpPr>
          <p:cNvPr id="161795" name="Rectangle 3"/>
          <p:cNvSpPr>
            <a:spLocks noGrp="1" noChangeArrowheads="1"/>
          </p:cNvSpPr>
          <p:nvPr>
            <p:ph type="body" idx="1"/>
          </p:nvPr>
        </p:nvSpPr>
        <p:spPr>
          <a:noFill/>
        </p:spPr>
        <p:txBody>
          <a:bodyPr/>
          <a:lstStyle/>
          <a:p>
            <a:r>
              <a:rPr lang="fr-CA" b="1" dirty="0" smtClean="0"/>
              <a:t>FAUX </a:t>
            </a:r>
          </a:p>
          <a:p>
            <a:r>
              <a:rPr lang="fr-CA" b="1" dirty="0" smtClean="0"/>
              <a:t>Voir ANC 7060.16</a:t>
            </a:r>
          </a:p>
          <a:p>
            <a:r>
              <a:rPr lang="fr-CA" dirty="0" smtClean="0"/>
              <a:t>Il faut tenir compte des effets d’une présentation inadéquate de l’information.</a:t>
            </a:r>
          </a:p>
          <a:p>
            <a:endParaRPr lang="fr-CA" dirty="0" smtClean="0"/>
          </a:p>
          <a:p>
            <a:endParaRPr lang="fr-CA" dirty="0" smtClean="0"/>
          </a:p>
        </p:txBody>
      </p:sp>
    </p:spTree>
    <p:extLst>
      <p:ext uri="{BB962C8B-B14F-4D97-AF65-F5344CB8AC3E}">
        <p14:creationId xmlns:p14="http://schemas.microsoft.com/office/powerpoint/2010/main" val="2437395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a:noFill/>
        </p:spPr>
        <p:txBody>
          <a:bodyPr/>
          <a:lstStyle/>
          <a:p>
            <a:r>
              <a:rPr lang="fr-CA" sz="1100" dirty="0" smtClean="0"/>
              <a:t>Sur </a:t>
            </a:r>
            <a:r>
              <a:rPr lang="fr-CA" sz="1100" dirty="0"/>
              <a:t>la diapo suivante, le choix de réponses.</a:t>
            </a:r>
          </a:p>
          <a:p>
            <a:endParaRPr lang="fr-CA" sz="1100" dirty="0"/>
          </a:p>
        </p:txBody>
      </p:sp>
    </p:spTree>
    <p:extLst>
      <p:ext uri="{BB962C8B-B14F-4D97-AF65-F5344CB8AC3E}">
        <p14:creationId xmlns:p14="http://schemas.microsoft.com/office/powerpoint/2010/main" val="851541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noFill/>
        </p:spPr>
        <p:txBody>
          <a:bodyPr/>
          <a:lstStyle/>
          <a:p>
            <a:pPr marL="232075" indent="-232075">
              <a:buFontTx/>
              <a:buAutoNum type="alphaUcParenR"/>
            </a:pPr>
            <a:r>
              <a:rPr lang="fr-CA" dirty="0" smtClean="0"/>
              <a:t>Vrai. Déclaré dans la première ligne de la déclaration.</a:t>
            </a:r>
          </a:p>
          <a:p>
            <a:pPr marL="230188" indent="-230188">
              <a:buFontTx/>
              <a:buAutoNum type="alphaUcParenR"/>
            </a:pPr>
            <a:r>
              <a:rPr lang="fr-CA" dirty="0" smtClean="0"/>
              <a:t>Vrai selon les Autorités canadiennes en valeurs mobilières </a:t>
            </a:r>
            <a:r>
              <a:rPr lang="fr-CA" altLang="fr-FR" dirty="0"/>
              <a:t>(règlement 51-102).</a:t>
            </a:r>
          </a:p>
          <a:p>
            <a:pPr marL="232075" indent="-232075">
              <a:buFontTx/>
              <a:buAutoNum type="alphaUcParenR"/>
            </a:pPr>
            <a:r>
              <a:rPr lang="fr-CA" dirty="0" smtClean="0"/>
              <a:t>Vrai, l’avis au lecteur précise que «  L’auditeur indépendant effectuera un audit des états financiers annuels du Fonds conformément aux normes d’audit généralement reconnues du Canada »</a:t>
            </a:r>
          </a:p>
          <a:p>
            <a:pPr marL="232075" indent="-232075">
              <a:buFontTx/>
              <a:buAutoNum type="alphaUcParenR"/>
            </a:pPr>
            <a:r>
              <a:rPr lang="fr-CA" b="1" dirty="0" smtClean="0"/>
              <a:t> est VRAI. La meilleure réponse est D car toutes les déclarations précédentes sont exactes.</a:t>
            </a:r>
          </a:p>
        </p:txBody>
      </p:sp>
    </p:spTree>
    <p:extLst>
      <p:ext uri="{BB962C8B-B14F-4D97-AF65-F5344CB8AC3E}">
        <p14:creationId xmlns:p14="http://schemas.microsoft.com/office/powerpoint/2010/main" val="194343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a:noFill/>
        </p:spPr>
        <p:txBody>
          <a:bodyPr/>
          <a:lstStyle/>
          <a:p>
            <a:r>
              <a:rPr lang="fr-CA" sz="1100" dirty="0" smtClean="0"/>
              <a:t>Un examen des états financiers intermédiaires pourrait </a:t>
            </a:r>
            <a:r>
              <a:rPr lang="fr-CA" sz="1100" dirty="0"/>
              <a:t>contrer la gestion des résultats</a:t>
            </a:r>
            <a:r>
              <a:rPr lang="fr-CA" sz="1100" dirty="0" smtClean="0"/>
              <a:t>.</a:t>
            </a:r>
          </a:p>
          <a:p>
            <a:endParaRPr lang="fr-CA" sz="1100" dirty="0"/>
          </a:p>
          <a:p>
            <a:r>
              <a:rPr lang="fr-CA" sz="1100" dirty="0" smtClean="0"/>
              <a:t>Mais, pour l’instant, ce n’est pas obligatoire.</a:t>
            </a:r>
            <a:endParaRPr lang="fr-CA" sz="1100" dirty="0"/>
          </a:p>
          <a:p>
            <a:endParaRPr lang="fr-CA" sz="1100" dirty="0"/>
          </a:p>
          <a:p>
            <a:r>
              <a:rPr lang="fr-CA" sz="1100" b="1" dirty="0" smtClean="0"/>
              <a:t>En pratique, en moyenne  </a:t>
            </a:r>
            <a:r>
              <a:rPr lang="fr-CA" sz="1100" b="1" dirty="0"/>
              <a:t>49% de tous les ajustements apportés le sont pendant le 4e trimestre. </a:t>
            </a:r>
            <a:endParaRPr lang="fr-CA" sz="1100" b="1" dirty="0" smtClean="0"/>
          </a:p>
          <a:p>
            <a:endParaRPr lang="fr-CA" sz="1100" b="1" dirty="0" smtClean="0"/>
          </a:p>
          <a:p>
            <a:r>
              <a:rPr lang="fr-CA" sz="1100" dirty="0" smtClean="0"/>
              <a:t>Certains disent que </a:t>
            </a:r>
            <a:r>
              <a:rPr lang="fr-CA" sz="1100" dirty="0"/>
              <a:t>les normes </a:t>
            </a:r>
            <a:r>
              <a:rPr lang="fr-CA" sz="1100" dirty="0" smtClean="0"/>
              <a:t>(ici, l’ANC 7060) devraient </a:t>
            </a:r>
            <a:r>
              <a:rPr lang="fr-CA" sz="1100" dirty="0"/>
              <a:t>exiger plus de l’auditeur pendant l’examen </a:t>
            </a:r>
            <a:r>
              <a:rPr lang="fr-CA" sz="1100" dirty="0" smtClean="0"/>
              <a:t>des états financiers intermédiaires.</a:t>
            </a:r>
            <a:endParaRPr lang="fr-CA" sz="1100" dirty="0"/>
          </a:p>
          <a:p>
            <a:endParaRPr lang="fr-CA" sz="1000" dirty="0"/>
          </a:p>
        </p:txBody>
      </p:sp>
    </p:spTree>
    <p:extLst>
      <p:ext uri="{BB962C8B-B14F-4D97-AF65-F5344CB8AC3E}">
        <p14:creationId xmlns:p14="http://schemas.microsoft.com/office/powerpoint/2010/main" val="291723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useBgFill="1">
        <p:nvSpPr>
          <p:cNvPr id="11" name="Rectangle à coins arrondis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useBgFill="1">
        <p:nvSpPr>
          <p:cNvPr id="12" name="Rectangle à coins arrondis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8" name="Titr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fr-FR" smtClean="0"/>
              <a:t>Modifiez le style du titre</a:t>
            </a:r>
            <a:endParaRPr lang="en-US"/>
          </a:p>
        </p:txBody>
      </p:sp>
      <p:sp>
        <p:nvSpPr>
          <p:cNvPr id="9" name="Sous-titr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smtClean="0"/>
              <a:t>Modifiez le style des sous-titres du masque</a:t>
            </a:r>
            <a:endParaRPr lang="en-US"/>
          </a:p>
        </p:txBody>
      </p:sp>
      <p:sp>
        <p:nvSpPr>
          <p:cNvPr id="17" name="Espace réservé de la date 27"/>
          <p:cNvSpPr>
            <a:spLocks noGrp="1"/>
          </p:cNvSpPr>
          <p:nvPr>
            <p:ph type="dt" sz="half" idx="10"/>
          </p:nvPr>
        </p:nvSpPr>
        <p:spPr>
          <a:xfrm>
            <a:off x="6705600" y="4206875"/>
            <a:ext cx="960438" cy="457200"/>
          </a:xfrm>
        </p:spPr>
        <p:txBody>
          <a:bodyPr/>
          <a:lstStyle>
            <a:lvl1pPr>
              <a:defRPr/>
            </a:lvl1pPr>
          </a:lstStyle>
          <a:p>
            <a:pPr>
              <a:defRPr/>
            </a:pPr>
            <a:fld id="{186F22EF-D1AB-4827-8CB3-E77634B6A1E3}" type="datetime1">
              <a:rPr lang="fr-CA" smtClean="0">
                <a:solidFill>
                  <a:srgbClr val="E40059"/>
                </a:solidFill>
              </a:rPr>
              <a:pPr>
                <a:defRPr/>
              </a:pPr>
              <a:t>2016-05-16</a:t>
            </a:fld>
            <a:endParaRPr lang="fr-FR" dirty="0">
              <a:solidFill>
                <a:srgbClr val="E40059"/>
              </a:solidFill>
            </a:endParaRPr>
          </a:p>
        </p:txBody>
      </p:sp>
      <p:sp>
        <p:nvSpPr>
          <p:cNvPr id="18" name="Espace réservé du pied de page 16"/>
          <p:cNvSpPr>
            <a:spLocks noGrp="1"/>
          </p:cNvSpPr>
          <p:nvPr>
            <p:ph type="ftr" sz="quarter" idx="11"/>
          </p:nvPr>
        </p:nvSpPr>
        <p:spPr>
          <a:xfrm>
            <a:off x="5410200" y="4205288"/>
            <a:ext cx="1295400" cy="457200"/>
          </a:xfrm>
        </p:spPr>
        <p:txBody>
          <a:bodyPr/>
          <a:lstStyle>
            <a:lvl1pPr>
              <a:defRPr/>
            </a:lvl1pPr>
          </a:lstStyle>
          <a:p>
            <a:pPr>
              <a:defRPr/>
            </a:pPr>
            <a:r>
              <a:rPr lang="fr-FR" dirty="0">
                <a:solidFill>
                  <a:srgbClr val="E40059"/>
                </a:solidFill>
              </a:rPr>
              <a:t>© 2014,  Sylviane Beauregard</a:t>
            </a:r>
          </a:p>
        </p:txBody>
      </p:sp>
      <p:sp>
        <p:nvSpPr>
          <p:cNvPr id="19" name="Espace réservé du numéro de diapositive 28"/>
          <p:cNvSpPr>
            <a:spLocks noGrp="1"/>
          </p:cNvSpPr>
          <p:nvPr>
            <p:ph type="sldNum" sz="quarter" idx="12"/>
          </p:nvPr>
        </p:nvSpPr>
        <p:spPr>
          <a:xfrm>
            <a:off x="8320088" y="1588"/>
            <a:ext cx="747712" cy="365125"/>
          </a:xfrm>
        </p:spPr>
        <p:txBody>
          <a:bodyPr/>
          <a:lstStyle>
            <a:lvl1pPr algn="r">
              <a:defRPr sz="1800">
                <a:solidFill>
                  <a:schemeClr val="bg1"/>
                </a:solidFill>
              </a:defRPr>
            </a:lvl1pPr>
          </a:lstStyle>
          <a:p>
            <a:pPr>
              <a:defRPr/>
            </a:pPr>
            <a:fld id="{607AE446-D5C8-43B4-895F-7EB622E5EEDE}" type="slidenum">
              <a:rPr lang="fr-FR">
                <a:solidFill>
                  <a:prstClr val="white"/>
                </a:solidFill>
              </a:rPr>
              <a:pPr>
                <a:defRPr/>
              </a:pPr>
              <a:t>‹N°›</a:t>
            </a:fld>
            <a:endParaRPr lang="fr-FR" dirty="0">
              <a:solidFill>
                <a:prstClr val="white"/>
              </a:solidFill>
            </a:endParaRPr>
          </a:p>
        </p:txBody>
      </p:sp>
    </p:spTree>
    <p:extLst>
      <p:ext uri="{BB962C8B-B14F-4D97-AF65-F5344CB8AC3E}">
        <p14:creationId xmlns:p14="http://schemas.microsoft.com/office/powerpoint/2010/main" val="3294536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B50A54BD-FE40-4730-AFBC-CB6EE0E29805}" type="datetime1">
              <a:rPr lang="fr-CA" smtClean="0">
                <a:solidFill>
                  <a:srgbClr val="E40059"/>
                </a:solidFill>
              </a:rPr>
              <a:pPr>
                <a:defRPr/>
              </a:pPr>
              <a:t>2016-05-16</a:t>
            </a:fld>
            <a:endParaRPr lang="fr-FR" dirty="0">
              <a:solidFill>
                <a:srgbClr val="E40059"/>
              </a:solidFill>
            </a:endParaRPr>
          </a:p>
        </p:txBody>
      </p:sp>
      <p:sp>
        <p:nvSpPr>
          <p:cNvPr id="5"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6" name="Espace réservé du numéro de diapositive 22"/>
          <p:cNvSpPr>
            <a:spLocks noGrp="1"/>
          </p:cNvSpPr>
          <p:nvPr>
            <p:ph type="sldNum" sz="quarter" idx="12"/>
          </p:nvPr>
        </p:nvSpPr>
        <p:spPr/>
        <p:txBody>
          <a:bodyPr/>
          <a:lstStyle>
            <a:lvl1pPr>
              <a:defRPr sz="2400"/>
            </a:lvl1pPr>
          </a:lstStyle>
          <a:p>
            <a:pPr>
              <a:defRPr/>
            </a:pPr>
            <a:fld id="{E38B9BED-A9D7-4D40-A955-6C45E62E8898}" type="slidenum">
              <a:rPr lang="fr-FR" smtClean="0"/>
              <a:pPr>
                <a:defRPr/>
              </a:pPr>
              <a:t>‹N°›</a:t>
            </a:fld>
            <a:endParaRPr lang="fr-FR" dirty="0"/>
          </a:p>
        </p:txBody>
      </p:sp>
    </p:spTree>
    <p:extLst>
      <p:ext uri="{BB962C8B-B14F-4D97-AF65-F5344CB8AC3E}">
        <p14:creationId xmlns:p14="http://schemas.microsoft.com/office/powerpoint/2010/main" val="1603497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fr-FR" smtClean="0"/>
              <a:t>Modifiez le style du titre</a:t>
            </a:r>
            <a:endParaRPr lang="en-US"/>
          </a:p>
        </p:txBody>
      </p:sp>
      <p:sp>
        <p:nvSpPr>
          <p:cNvPr id="3" name="Espace réservé du texte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smtClean="0"/>
              <a:t>Modifiez les styles du texte du masque</a:t>
            </a:r>
          </a:p>
        </p:txBody>
      </p:sp>
      <p:sp>
        <p:nvSpPr>
          <p:cNvPr id="4" name="Espace réservé de la date 13"/>
          <p:cNvSpPr>
            <a:spLocks noGrp="1"/>
          </p:cNvSpPr>
          <p:nvPr>
            <p:ph type="dt" sz="half" idx="10"/>
          </p:nvPr>
        </p:nvSpPr>
        <p:spPr/>
        <p:txBody>
          <a:bodyPr/>
          <a:lstStyle>
            <a:lvl1pPr>
              <a:defRPr/>
            </a:lvl1pPr>
          </a:lstStyle>
          <a:p>
            <a:pPr>
              <a:defRPr/>
            </a:pPr>
            <a:fld id="{1FE22658-0EB6-4BB5-A850-DB2B4E0835A6}" type="datetime1">
              <a:rPr lang="fr-CA" smtClean="0">
                <a:solidFill>
                  <a:srgbClr val="E40059"/>
                </a:solidFill>
              </a:rPr>
              <a:pPr>
                <a:defRPr/>
              </a:pPr>
              <a:t>2016-05-16</a:t>
            </a:fld>
            <a:endParaRPr lang="fr-FR" dirty="0">
              <a:solidFill>
                <a:srgbClr val="E40059"/>
              </a:solidFill>
            </a:endParaRPr>
          </a:p>
        </p:txBody>
      </p:sp>
      <p:sp>
        <p:nvSpPr>
          <p:cNvPr id="5"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6" name="Espace réservé du numéro de diapositive 22"/>
          <p:cNvSpPr>
            <a:spLocks noGrp="1"/>
          </p:cNvSpPr>
          <p:nvPr>
            <p:ph type="sldNum" sz="quarter" idx="12"/>
          </p:nvPr>
        </p:nvSpPr>
        <p:spPr/>
        <p:txBody>
          <a:bodyPr/>
          <a:lstStyle>
            <a:lvl1pPr>
              <a:defRPr/>
            </a:lvl1pPr>
          </a:lstStyle>
          <a:p>
            <a:pPr>
              <a:defRPr/>
            </a:pPr>
            <a:fld id="{41B44D53-4CC8-426C-954F-F017C2309CAA}" type="slidenum">
              <a:rPr lang="fr-FR"/>
              <a:pPr>
                <a:defRPr/>
              </a:pPr>
              <a:t>‹N°›</a:t>
            </a:fld>
            <a:endParaRPr lang="fr-FR" dirty="0"/>
          </a:p>
        </p:txBody>
      </p:sp>
    </p:spTree>
    <p:extLst>
      <p:ext uri="{BB962C8B-B14F-4D97-AF65-F5344CB8AC3E}">
        <p14:creationId xmlns:p14="http://schemas.microsoft.com/office/powerpoint/2010/main" val="59663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13"/>
          <p:cNvSpPr>
            <a:spLocks noGrp="1"/>
          </p:cNvSpPr>
          <p:nvPr>
            <p:ph type="dt" sz="half" idx="10"/>
          </p:nvPr>
        </p:nvSpPr>
        <p:spPr/>
        <p:txBody>
          <a:bodyPr/>
          <a:lstStyle>
            <a:lvl1pPr>
              <a:defRPr/>
            </a:lvl1pPr>
          </a:lstStyle>
          <a:p>
            <a:pPr>
              <a:defRPr/>
            </a:pPr>
            <a:fld id="{FCE73BBD-CDA8-4516-BA7C-A97913F66B96}" type="datetime1">
              <a:rPr lang="fr-CA" smtClean="0">
                <a:solidFill>
                  <a:srgbClr val="E40059"/>
                </a:solidFill>
              </a:rPr>
              <a:pPr>
                <a:defRPr/>
              </a:pPr>
              <a:t>2016-05-16</a:t>
            </a:fld>
            <a:endParaRPr lang="fr-FR" dirty="0">
              <a:solidFill>
                <a:srgbClr val="E40059"/>
              </a:solidFill>
            </a:endParaRPr>
          </a:p>
        </p:txBody>
      </p:sp>
      <p:sp>
        <p:nvSpPr>
          <p:cNvPr id="6"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7" name="Espace réservé du numéro de diapositive 22"/>
          <p:cNvSpPr>
            <a:spLocks noGrp="1"/>
          </p:cNvSpPr>
          <p:nvPr>
            <p:ph type="sldNum" sz="quarter" idx="12"/>
          </p:nvPr>
        </p:nvSpPr>
        <p:spPr/>
        <p:txBody>
          <a:bodyPr/>
          <a:lstStyle>
            <a:lvl1pPr>
              <a:defRPr/>
            </a:lvl1pPr>
          </a:lstStyle>
          <a:p>
            <a:pPr>
              <a:defRPr/>
            </a:pPr>
            <a:fld id="{9505A128-55BC-43B0-9548-5110FABBCC46}" type="slidenum">
              <a:rPr lang="fr-FR"/>
              <a:pPr>
                <a:defRPr/>
              </a:pPr>
              <a:t>‹N°›</a:t>
            </a:fld>
            <a:endParaRPr lang="fr-FR" dirty="0"/>
          </a:p>
        </p:txBody>
      </p:sp>
    </p:spTree>
    <p:extLst>
      <p:ext uri="{BB962C8B-B14F-4D97-AF65-F5344CB8AC3E}">
        <p14:creationId xmlns:p14="http://schemas.microsoft.com/office/powerpoint/2010/main" val="2541577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1143000"/>
            <a:ext cx="8229600" cy="1069848"/>
          </a:xfrm>
        </p:spPr>
        <p:txBody>
          <a:bodyPr/>
          <a:lstStyle>
            <a:lvl1pPr>
              <a:defRPr sz="4000">
                <a:solidFill>
                  <a:schemeClr val="tx2"/>
                </a:solidFill>
              </a:defRPr>
            </a:lvl1pPr>
          </a:lstStyle>
          <a:p>
            <a:r>
              <a:rPr lang="fr-FR" smtClean="0"/>
              <a:t>Modifiez le style du titre</a:t>
            </a:r>
            <a:endParaRPr lang="en-US"/>
          </a:p>
        </p:txBody>
      </p:sp>
      <p:sp>
        <p:nvSpPr>
          <p:cNvPr id="3" name="Espace réservé de la date 2"/>
          <p:cNvSpPr>
            <a:spLocks noGrp="1"/>
          </p:cNvSpPr>
          <p:nvPr>
            <p:ph type="dt" sz="half" idx="10"/>
          </p:nvPr>
        </p:nvSpPr>
        <p:spPr>
          <a:xfrm>
            <a:off x="6583363" y="612775"/>
            <a:ext cx="957262" cy="457200"/>
          </a:xfrm>
        </p:spPr>
        <p:txBody>
          <a:bodyPr/>
          <a:lstStyle>
            <a:lvl1pPr>
              <a:defRPr/>
            </a:lvl1pPr>
          </a:lstStyle>
          <a:p>
            <a:pPr>
              <a:defRPr/>
            </a:pPr>
            <a:fld id="{7A7B8364-2CB4-4992-A2BE-4BF44C4EF8F7}" type="datetime1">
              <a:rPr lang="fr-CA" smtClean="0">
                <a:solidFill>
                  <a:srgbClr val="E40059"/>
                </a:solidFill>
              </a:rPr>
              <a:pPr>
                <a:defRPr/>
              </a:pPr>
              <a:t>2016-05-16</a:t>
            </a:fld>
            <a:endParaRPr lang="fr-FR" dirty="0">
              <a:solidFill>
                <a:srgbClr val="E40059"/>
              </a:solidFill>
            </a:endParaRPr>
          </a:p>
        </p:txBody>
      </p:sp>
      <p:sp>
        <p:nvSpPr>
          <p:cNvPr id="4" name="Espace réservé du pied de page 3"/>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5" name="Espace réservé du numéro de diapositive 4"/>
          <p:cNvSpPr>
            <a:spLocks noGrp="1"/>
          </p:cNvSpPr>
          <p:nvPr>
            <p:ph type="sldNum" sz="quarter" idx="12"/>
          </p:nvPr>
        </p:nvSpPr>
        <p:spPr/>
        <p:txBody>
          <a:bodyPr/>
          <a:lstStyle>
            <a:lvl1pPr>
              <a:defRPr/>
            </a:lvl1pPr>
          </a:lstStyle>
          <a:p>
            <a:pPr>
              <a:defRPr/>
            </a:pPr>
            <a:fld id="{F3122825-4910-47B9-B830-F45EB3ADC101}" type="slidenum">
              <a:rPr lang="fr-FR"/>
              <a:pPr>
                <a:defRPr/>
              </a:pPr>
              <a:t>‹N°›</a:t>
            </a:fld>
            <a:endParaRPr lang="fr-FR" dirty="0"/>
          </a:p>
        </p:txBody>
      </p:sp>
    </p:spTree>
    <p:extLst>
      <p:ext uri="{BB962C8B-B14F-4D97-AF65-F5344CB8AC3E}">
        <p14:creationId xmlns:p14="http://schemas.microsoft.com/office/powerpoint/2010/main" val="117270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3"/>
          <p:cNvSpPr>
            <a:spLocks noGrp="1"/>
          </p:cNvSpPr>
          <p:nvPr>
            <p:ph type="dt" sz="half" idx="10"/>
          </p:nvPr>
        </p:nvSpPr>
        <p:spPr/>
        <p:txBody>
          <a:bodyPr/>
          <a:lstStyle>
            <a:lvl1pPr>
              <a:defRPr/>
            </a:lvl1pPr>
          </a:lstStyle>
          <a:p>
            <a:pPr>
              <a:defRPr/>
            </a:pPr>
            <a:fld id="{D3964753-985E-46C4-84EE-0573C6CE06E0}" type="datetime1">
              <a:rPr lang="fr-CA" smtClean="0">
                <a:solidFill>
                  <a:srgbClr val="E40059"/>
                </a:solidFill>
              </a:rPr>
              <a:pPr>
                <a:defRPr/>
              </a:pPr>
              <a:t>2016-05-16</a:t>
            </a:fld>
            <a:endParaRPr lang="fr-FR" dirty="0">
              <a:solidFill>
                <a:srgbClr val="E40059"/>
              </a:solidFill>
            </a:endParaRPr>
          </a:p>
        </p:txBody>
      </p:sp>
      <p:sp>
        <p:nvSpPr>
          <p:cNvPr id="3"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4" name="Espace réservé du numéro de diapositive 22"/>
          <p:cNvSpPr>
            <a:spLocks noGrp="1"/>
          </p:cNvSpPr>
          <p:nvPr>
            <p:ph type="sldNum" sz="quarter" idx="12"/>
          </p:nvPr>
        </p:nvSpPr>
        <p:spPr/>
        <p:txBody>
          <a:bodyPr/>
          <a:lstStyle>
            <a:lvl1pPr>
              <a:defRPr/>
            </a:lvl1pPr>
          </a:lstStyle>
          <a:p>
            <a:pPr>
              <a:defRPr/>
            </a:pPr>
            <a:fld id="{92C7ABF8-FA70-416F-BFC5-5C0FAB420894}" type="slidenum">
              <a:rPr lang="fr-FR"/>
              <a:pPr>
                <a:defRPr/>
              </a:pPr>
              <a:t>‹N°›</a:t>
            </a:fld>
            <a:endParaRPr lang="fr-FR" dirty="0"/>
          </a:p>
        </p:txBody>
      </p:sp>
    </p:spTree>
    <p:extLst>
      <p:ext uri="{BB962C8B-B14F-4D97-AF65-F5344CB8AC3E}">
        <p14:creationId xmlns:p14="http://schemas.microsoft.com/office/powerpoint/2010/main" val="29821189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53496" y="1101970"/>
            <a:ext cx="3383280" cy="877824"/>
          </a:xfrm>
        </p:spPr>
        <p:txBody>
          <a:bodyPr anchor="b"/>
          <a:lstStyle>
            <a:lvl1pPr algn="l">
              <a:buNone/>
              <a:defRPr sz="1800" b="1"/>
            </a:lvl1pPr>
          </a:lstStyle>
          <a:p>
            <a:r>
              <a:rPr lang="fr-FR" smtClean="0"/>
              <a:t>Modifiez le style du titre</a:t>
            </a:r>
            <a:endParaRPr lang="en-US"/>
          </a:p>
        </p:txBody>
      </p:sp>
      <p:sp>
        <p:nvSpPr>
          <p:cNvPr id="3" name="Espace réservé du texte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fr-FR" smtClean="0"/>
              <a:t>Modifiez les styles du texte du masque</a:t>
            </a:r>
          </a:p>
        </p:txBody>
      </p:sp>
      <p:sp>
        <p:nvSpPr>
          <p:cNvPr id="4" name="Espace réservé du contenu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13"/>
          <p:cNvSpPr>
            <a:spLocks noGrp="1"/>
          </p:cNvSpPr>
          <p:nvPr>
            <p:ph type="dt" sz="half" idx="10"/>
          </p:nvPr>
        </p:nvSpPr>
        <p:spPr/>
        <p:txBody>
          <a:bodyPr/>
          <a:lstStyle>
            <a:lvl1pPr>
              <a:defRPr/>
            </a:lvl1pPr>
          </a:lstStyle>
          <a:p>
            <a:pPr>
              <a:defRPr/>
            </a:pPr>
            <a:fld id="{BE55FAA1-2A5F-4558-BF7B-DBD2775DE032}" type="datetime1">
              <a:rPr lang="fr-CA" smtClean="0">
                <a:solidFill>
                  <a:srgbClr val="E40059"/>
                </a:solidFill>
              </a:rPr>
              <a:pPr>
                <a:defRPr/>
              </a:pPr>
              <a:t>2016-05-16</a:t>
            </a:fld>
            <a:endParaRPr lang="fr-FR" dirty="0">
              <a:solidFill>
                <a:srgbClr val="E40059"/>
              </a:solidFill>
            </a:endParaRPr>
          </a:p>
        </p:txBody>
      </p:sp>
      <p:sp>
        <p:nvSpPr>
          <p:cNvPr id="6"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7" name="Espace réservé du numéro de diapositive 22"/>
          <p:cNvSpPr>
            <a:spLocks noGrp="1"/>
          </p:cNvSpPr>
          <p:nvPr>
            <p:ph type="sldNum" sz="quarter" idx="12"/>
          </p:nvPr>
        </p:nvSpPr>
        <p:spPr/>
        <p:txBody>
          <a:bodyPr/>
          <a:lstStyle>
            <a:lvl1pPr>
              <a:defRPr/>
            </a:lvl1pPr>
          </a:lstStyle>
          <a:p>
            <a:pPr>
              <a:defRPr/>
            </a:pPr>
            <a:fld id="{5B680908-0F42-4C44-8787-F0E38B12BE99}" type="slidenum">
              <a:rPr lang="fr-FR"/>
              <a:pPr>
                <a:defRPr/>
              </a:pPr>
              <a:t>‹N°›</a:t>
            </a:fld>
            <a:endParaRPr lang="fr-FR" dirty="0"/>
          </a:p>
        </p:txBody>
      </p:sp>
    </p:spTree>
    <p:extLst>
      <p:ext uri="{BB962C8B-B14F-4D97-AF65-F5344CB8AC3E}">
        <p14:creationId xmlns:p14="http://schemas.microsoft.com/office/powerpoint/2010/main" val="30569096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fr-FR" smtClean="0"/>
              <a:t>Modifiez le style du titre</a:t>
            </a:r>
            <a:endParaRPr lang="en-US"/>
          </a:p>
        </p:txBody>
      </p:sp>
      <p:sp>
        <p:nvSpPr>
          <p:cNvPr id="3" name="Espace réservé pour une image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fr-FR" noProof="0" dirty="0" smtClean="0"/>
              <a:t>Cliquez sur l'icône pour ajouter une image</a:t>
            </a:r>
            <a:endParaRPr lang="en-US" noProof="0" dirty="0"/>
          </a:p>
        </p:txBody>
      </p:sp>
      <p:sp>
        <p:nvSpPr>
          <p:cNvPr id="4" name="Espace réservé du texte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fr-FR" smtClean="0"/>
              <a:t>Modifiez les styles du texte du masque</a:t>
            </a:r>
          </a:p>
        </p:txBody>
      </p:sp>
      <p:sp>
        <p:nvSpPr>
          <p:cNvPr id="5" name="Espace réservé de la date 13"/>
          <p:cNvSpPr>
            <a:spLocks noGrp="1"/>
          </p:cNvSpPr>
          <p:nvPr>
            <p:ph type="dt" sz="half" idx="10"/>
          </p:nvPr>
        </p:nvSpPr>
        <p:spPr/>
        <p:txBody>
          <a:bodyPr/>
          <a:lstStyle>
            <a:lvl1pPr>
              <a:defRPr/>
            </a:lvl1pPr>
          </a:lstStyle>
          <a:p>
            <a:pPr>
              <a:defRPr/>
            </a:pPr>
            <a:fld id="{B7B88910-DD80-4C6B-AABB-FE6660CB1EA9}" type="datetime1">
              <a:rPr lang="fr-CA" smtClean="0">
                <a:solidFill>
                  <a:srgbClr val="E40059"/>
                </a:solidFill>
              </a:rPr>
              <a:pPr>
                <a:defRPr/>
              </a:pPr>
              <a:t>2016-05-16</a:t>
            </a:fld>
            <a:endParaRPr lang="fr-FR" dirty="0">
              <a:solidFill>
                <a:srgbClr val="E40059"/>
              </a:solidFill>
            </a:endParaRPr>
          </a:p>
        </p:txBody>
      </p:sp>
      <p:sp>
        <p:nvSpPr>
          <p:cNvPr id="6"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7" name="Espace réservé du numéro de diapositive 22"/>
          <p:cNvSpPr>
            <a:spLocks noGrp="1"/>
          </p:cNvSpPr>
          <p:nvPr>
            <p:ph type="sldNum" sz="quarter" idx="12"/>
          </p:nvPr>
        </p:nvSpPr>
        <p:spPr/>
        <p:txBody>
          <a:bodyPr/>
          <a:lstStyle>
            <a:lvl1pPr>
              <a:defRPr/>
            </a:lvl1pPr>
          </a:lstStyle>
          <a:p>
            <a:pPr>
              <a:defRPr/>
            </a:pPr>
            <a:fld id="{B2F50F19-4859-40E6-B242-C2C00DBA9428}" type="slidenum">
              <a:rPr lang="fr-FR"/>
              <a:pPr>
                <a:defRPr/>
              </a:pPr>
              <a:t>‹N°›</a:t>
            </a:fld>
            <a:endParaRPr lang="fr-FR" dirty="0"/>
          </a:p>
        </p:txBody>
      </p:sp>
    </p:spTree>
    <p:extLst>
      <p:ext uri="{BB962C8B-B14F-4D97-AF65-F5344CB8AC3E}">
        <p14:creationId xmlns:p14="http://schemas.microsoft.com/office/powerpoint/2010/main" val="383338155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A5E6E341-2F62-42DF-9771-53C7D660CC5C}" type="datetime1">
              <a:rPr lang="fr-CA" smtClean="0">
                <a:solidFill>
                  <a:srgbClr val="E40059"/>
                </a:solidFill>
              </a:rPr>
              <a:pPr>
                <a:defRPr/>
              </a:pPr>
              <a:t>2016-05-16</a:t>
            </a:fld>
            <a:endParaRPr lang="fr-FR" dirty="0">
              <a:solidFill>
                <a:srgbClr val="E40059"/>
              </a:solidFill>
            </a:endParaRPr>
          </a:p>
        </p:txBody>
      </p:sp>
      <p:sp>
        <p:nvSpPr>
          <p:cNvPr id="5"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6" name="Espace réservé du numéro de diapositive 22"/>
          <p:cNvSpPr>
            <a:spLocks noGrp="1"/>
          </p:cNvSpPr>
          <p:nvPr>
            <p:ph type="sldNum" sz="quarter" idx="12"/>
          </p:nvPr>
        </p:nvSpPr>
        <p:spPr/>
        <p:txBody>
          <a:bodyPr/>
          <a:lstStyle>
            <a:lvl1pPr>
              <a:defRPr/>
            </a:lvl1pPr>
          </a:lstStyle>
          <a:p>
            <a:pPr>
              <a:defRPr/>
            </a:pPr>
            <a:fld id="{93D975CC-3995-4C21-8441-F234A825227C}" type="slidenum">
              <a:rPr lang="fr-FR"/>
              <a:pPr>
                <a:defRPr/>
              </a:pPr>
              <a:t>‹N°›</a:t>
            </a:fld>
            <a:endParaRPr lang="fr-FR" dirty="0"/>
          </a:p>
        </p:txBody>
      </p:sp>
    </p:spTree>
    <p:extLst>
      <p:ext uri="{BB962C8B-B14F-4D97-AF65-F5344CB8AC3E}">
        <p14:creationId xmlns:p14="http://schemas.microsoft.com/office/powerpoint/2010/main" val="4099763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81800" y="1143000"/>
            <a:ext cx="1905000" cy="5486400"/>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457200" y="1143000"/>
            <a:ext cx="6248400" cy="548640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8814A966-61CC-4A95-9767-2421316E2FF4}" type="datetime1">
              <a:rPr lang="fr-CA" smtClean="0">
                <a:solidFill>
                  <a:srgbClr val="E40059"/>
                </a:solidFill>
              </a:rPr>
              <a:pPr>
                <a:defRPr/>
              </a:pPr>
              <a:t>2016-05-16</a:t>
            </a:fld>
            <a:endParaRPr lang="fr-FR" dirty="0">
              <a:solidFill>
                <a:srgbClr val="E40059"/>
              </a:solidFill>
            </a:endParaRPr>
          </a:p>
        </p:txBody>
      </p:sp>
      <p:sp>
        <p:nvSpPr>
          <p:cNvPr id="5" name="Espace réservé du pied de page 2"/>
          <p:cNvSpPr>
            <a:spLocks noGrp="1"/>
          </p:cNvSpPr>
          <p:nvPr>
            <p:ph type="ftr" sz="quarter" idx="11"/>
          </p:nvPr>
        </p:nvSpPr>
        <p:spPr/>
        <p:txBody>
          <a:bodyPr/>
          <a:lstStyle>
            <a:lvl1pPr>
              <a:defRPr/>
            </a:lvl1pPr>
          </a:lstStyle>
          <a:p>
            <a:pPr>
              <a:defRPr/>
            </a:pPr>
            <a:r>
              <a:rPr lang="fr-FR" dirty="0">
                <a:solidFill>
                  <a:srgbClr val="E40059"/>
                </a:solidFill>
              </a:rPr>
              <a:t>© 2014,  Sylviane Beauregard</a:t>
            </a:r>
          </a:p>
        </p:txBody>
      </p:sp>
      <p:sp>
        <p:nvSpPr>
          <p:cNvPr id="6" name="Espace réservé du numéro de diapositive 22"/>
          <p:cNvSpPr>
            <a:spLocks noGrp="1"/>
          </p:cNvSpPr>
          <p:nvPr>
            <p:ph type="sldNum" sz="quarter" idx="12"/>
          </p:nvPr>
        </p:nvSpPr>
        <p:spPr/>
        <p:txBody>
          <a:bodyPr/>
          <a:lstStyle>
            <a:lvl1pPr>
              <a:defRPr/>
            </a:lvl1pPr>
          </a:lstStyle>
          <a:p>
            <a:pPr>
              <a:defRPr/>
            </a:pPr>
            <a:fld id="{6C1A1127-54D1-4EA2-B2AD-EFF65CA05689}" type="slidenum">
              <a:rPr lang="fr-FR"/>
              <a:pPr>
                <a:defRPr/>
              </a:pPr>
              <a:t>‹N°›</a:t>
            </a:fld>
            <a:endParaRPr lang="fr-FR" dirty="0"/>
          </a:p>
        </p:txBody>
      </p:sp>
    </p:spTree>
    <p:extLst>
      <p:ext uri="{BB962C8B-B14F-4D97-AF65-F5344CB8AC3E}">
        <p14:creationId xmlns:p14="http://schemas.microsoft.com/office/powerpoint/2010/main" val="2654709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useBgFill="1">
        <p:nvSpPr>
          <p:cNvPr id="33" name="Rectangle à coins arrondis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useBgFill="1">
        <p:nvSpPr>
          <p:cNvPr id="34" name="Rectangle à coins arrondis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base">
              <a:spcBef>
                <a:spcPct val="0"/>
              </a:spcBef>
              <a:spcAft>
                <a:spcPct val="0"/>
              </a:spcAft>
              <a:defRPr/>
            </a:pPr>
            <a:endParaRPr lang="en-US" sz="2400" dirty="0">
              <a:solidFill>
                <a:prstClr val="white"/>
              </a:solidFill>
            </a:endParaRPr>
          </a:p>
        </p:txBody>
      </p:sp>
      <p:sp>
        <p:nvSpPr>
          <p:cNvPr id="1039" name="Espace réservé du titre 21"/>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Modifiez le style du titre</a:t>
            </a:r>
            <a:endParaRPr lang="en-US" smtClean="0"/>
          </a:p>
        </p:txBody>
      </p:sp>
      <p:sp>
        <p:nvSpPr>
          <p:cNvPr id="1040" name="Espace réservé du texte 12"/>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smtClean="0"/>
          </a:p>
        </p:txBody>
      </p:sp>
      <p:sp>
        <p:nvSpPr>
          <p:cNvPr id="14" name="Espace réservé de la date 13"/>
          <p:cNvSpPr>
            <a:spLocks noGrp="1"/>
          </p:cNvSpPr>
          <p:nvPr>
            <p:ph type="dt" sz="half" idx="2"/>
          </p:nvPr>
        </p:nvSpPr>
        <p:spPr>
          <a:xfrm>
            <a:off x="6586538" y="612775"/>
            <a:ext cx="957262" cy="457200"/>
          </a:xfrm>
          <a:prstGeom prst="rect">
            <a:avLst/>
          </a:prstGeom>
        </p:spPr>
        <p:txBody>
          <a:bodyPr vert="horz"/>
          <a:lstStyle>
            <a:lvl1pPr algn="l" eaLnBrk="1" latinLnBrk="0" hangingPunct="1">
              <a:defRPr kumimoji="0" sz="800">
                <a:solidFill>
                  <a:schemeClr val="accent2"/>
                </a:solidFill>
              </a:defRPr>
            </a:lvl1pPr>
          </a:lstStyle>
          <a:p>
            <a:pPr fontAlgn="base">
              <a:spcBef>
                <a:spcPct val="0"/>
              </a:spcBef>
              <a:spcAft>
                <a:spcPct val="0"/>
              </a:spcAft>
              <a:defRPr/>
            </a:pPr>
            <a:fld id="{0771FE9E-B497-42A4-8768-E4A08E42B860}" type="datetime1">
              <a:rPr lang="fr-CA" smtClean="0">
                <a:solidFill>
                  <a:srgbClr val="E40059"/>
                </a:solidFill>
                <a:latin typeface="Times New Roman" pitchFamily="18" charset="0"/>
              </a:rPr>
              <a:pPr fontAlgn="base">
                <a:spcBef>
                  <a:spcPct val="0"/>
                </a:spcBef>
                <a:spcAft>
                  <a:spcPct val="0"/>
                </a:spcAft>
                <a:defRPr/>
              </a:pPr>
              <a:t>2016-05-16</a:t>
            </a:fld>
            <a:endParaRPr lang="fr-FR" dirty="0">
              <a:solidFill>
                <a:srgbClr val="E40059"/>
              </a:solidFill>
              <a:latin typeface="Times New Roman" pitchFamily="18" charset="0"/>
            </a:endParaRPr>
          </a:p>
        </p:txBody>
      </p:sp>
      <p:sp>
        <p:nvSpPr>
          <p:cNvPr id="3" name="Espace réservé du pied de page 2"/>
          <p:cNvSpPr>
            <a:spLocks noGrp="1"/>
          </p:cNvSpPr>
          <p:nvPr>
            <p:ph type="ftr" sz="quarter" idx="3"/>
          </p:nvPr>
        </p:nvSpPr>
        <p:spPr>
          <a:xfrm>
            <a:off x="5257800" y="612775"/>
            <a:ext cx="1325563" cy="457200"/>
          </a:xfrm>
          <a:prstGeom prst="rect">
            <a:avLst/>
          </a:prstGeom>
        </p:spPr>
        <p:txBody>
          <a:bodyPr vert="horz"/>
          <a:lstStyle>
            <a:lvl1pPr algn="r" eaLnBrk="1" latinLnBrk="0" hangingPunct="1">
              <a:defRPr kumimoji="0" sz="800">
                <a:solidFill>
                  <a:schemeClr val="accent2"/>
                </a:solidFill>
              </a:defRPr>
            </a:lvl1pPr>
          </a:lstStyle>
          <a:p>
            <a:pPr fontAlgn="base">
              <a:spcBef>
                <a:spcPct val="0"/>
              </a:spcBef>
              <a:spcAft>
                <a:spcPct val="0"/>
              </a:spcAft>
              <a:defRPr/>
            </a:pPr>
            <a:r>
              <a:rPr lang="fr-FR" dirty="0">
                <a:solidFill>
                  <a:srgbClr val="E40059"/>
                </a:solidFill>
                <a:latin typeface="Times New Roman" pitchFamily="18" charset="0"/>
              </a:rPr>
              <a:t>© 2014,  Sylviane Beauregard</a:t>
            </a:r>
          </a:p>
        </p:txBody>
      </p:sp>
      <p:sp>
        <p:nvSpPr>
          <p:cNvPr id="23" name="Espace réservé du numéro de diapositive 22"/>
          <p:cNvSpPr>
            <a:spLocks noGrp="1"/>
          </p:cNvSpPr>
          <p:nvPr>
            <p:ph type="sldNum" sz="quarter" idx="4"/>
          </p:nvPr>
        </p:nvSpPr>
        <p:spPr>
          <a:xfrm>
            <a:off x="8174038" y="1588"/>
            <a:ext cx="762000" cy="366712"/>
          </a:xfrm>
          <a:prstGeom prst="rect">
            <a:avLst/>
          </a:prstGeom>
        </p:spPr>
        <p:txBody>
          <a:bodyPr vert="horz" anchor="b"/>
          <a:lstStyle>
            <a:lvl1pPr algn="r" eaLnBrk="1" latinLnBrk="0" hangingPunct="1">
              <a:defRPr kumimoji="0" sz="2400" baseline="0">
                <a:solidFill>
                  <a:srgbClr val="FFFFFF"/>
                </a:solidFill>
              </a:defRPr>
            </a:lvl1pPr>
          </a:lstStyle>
          <a:p>
            <a:pPr fontAlgn="base">
              <a:spcBef>
                <a:spcPct val="0"/>
              </a:spcBef>
              <a:spcAft>
                <a:spcPct val="0"/>
              </a:spcAft>
              <a:defRPr/>
            </a:pPr>
            <a:fld id="{7B27932E-69E4-40A5-898A-B7349CA16A03}" type="slidenum">
              <a:rPr lang="fr-FR" smtClean="0">
                <a:latin typeface="Times New Roman" pitchFamily="18" charset="0"/>
              </a:rPr>
              <a:pPr fontAlgn="base">
                <a:spcBef>
                  <a:spcPct val="0"/>
                </a:spcBef>
                <a:spcAft>
                  <a:spcPct val="0"/>
                </a:spcAft>
                <a:defRPr/>
              </a:pPr>
              <a:t>‹N°›</a:t>
            </a:fld>
            <a:endParaRPr lang="fr-FR" dirty="0">
              <a:latin typeface="Times New Roman" pitchFamily="18" charset="0"/>
            </a:endParaRPr>
          </a:p>
        </p:txBody>
      </p:sp>
    </p:spTree>
    <p:extLst>
      <p:ext uri="{BB962C8B-B14F-4D97-AF65-F5344CB8AC3E}">
        <p14:creationId xmlns:p14="http://schemas.microsoft.com/office/powerpoint/2010/main" val="3302174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par>
    </p:tnLst>
  </p:timing>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9C007F"/>
        </a:buClr>
        <a:buFont typeface="Georgia"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9C007F"/>
        </a:buClr>
        <a:buFont typeface="Georgia" pitchFamily="18" charset="0"/>
        <a:buChar char="▫"/>
        <a:defRPr sz="2000" kern="1200">
          <a:solidFill>
            <a:srgbClr val="9C007F"/>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re 5"/>
          <p:cNvSpPr>
            <a:spLocks noGrp="1"/>
          </p:cNvSpPr>
          <p:nvPr>
            <p:ph type="ctrTitle"/>
          </p:nvPr>
        </p:nvSpPr>
        <p:spPr>
          <a:xfrm>
            <a:off x="457200" y="2060849"/>
            <a:ext cx="8458200" cy="1440160"/>
          </a:xfrm>
        </p:spPr>
        <p:txBody>
          <a:bodyPr/>
          <a:lstStyle/>
          <a:p>
            <a:r>
              <a:rPr lang="fr-FR" dirty="0" smtClean="0"/>
              <a:t>Examen des états financiers intermédiaires par l'auditeur</a:t>
            </a:r>
            <a:endParaRPr lang="fr-CA" dirty="0" smtClean="0"/>
          </a:p>
        </p:txBody>
      </p:sp>
      <p:sp>
        <p:nvSpPr>
          <p:cNvPr id="59395" name="Sous-titre 6"/>
          <p:cNvSpPr>
            <a:spLocks noGrp="1"/>
          </p:cNvSpPr>
          <p:nvPr>
            <p:ph type="subTitle" idx="1"/>
          </p:nvPr>
        </p:nvSpPr>
        <p:spPr>
          <a:xfrm>
            <a:off x="457200" y="4005064"/>
            <a:ext cx="7859216" cy="2304256"/>
          </a:xfrm>
        </p:spPr>
        <p:txBody>
          <a:bodyPr/>
          <a:lstStyle/>
          <a:p>
            <a:pPr marL="63500"/>
            <a:r>
              <a:rPr lang="fr-CA" sz="2600" dirty="0" smtClean="0">
                <a:solidFill>
                  <a:schemeClr val="tx1"/>
                </a:solidFill>
              </a:rPr>
              <a:t>10 questions  au sujet du chapitre </a:t>
            </a:r>
          </a:p>
          <a:p>
            <a:pPr marL="63500"/>
            <a:r>
              <a:rPr lang="fr-CA" sz="2600" dirty="0" smtClean="0">
                <a:solidFill>
                  <a:schemeClr val="tx1"/>
                </a:solidFill>
              </a:rPr>
              <a:t>ANC 7060 du Manuel de CPA Canada</a:t>
            </a:r>
          </a:p>
          <a:p>
            <a:pPr marL="63500"/>
            <a:endParaRPr lang="fr-CA" dirty="0" smtClean="0"/>
          </a:p>
          <a:p>
            <a:pPr marL="63500"/>
            <a:r>
              <a:rPr lang="fr-CA" b="1" dirty="0" smtClean="0">
                <a:solidFill>
                  <a:srgbClr val="3333CC"/>
                </a:solidFill>
              </a:rPr>
              <a:t>RÉPONSES AUX QUESTIONS</a:t>
            </a:r>
          </a:p>
          <a:p>
            <a:pPr marL="63500"/>
            <a:r>
              <a:rPr lang="fr-CA" b="1" smtClean="0">
                <a:solidFill>
                  <a:srgbClr val="FF0000"/>
                </a:solidFill>
              </a:rPr>
              <a:t>Sylviane </a:t>
            </a:r>
            <a:r>
              <a:rPr lang="fr-CA" b="1" dirty="0" smtClean="0">
                <a:solidFill>
                  <a:srgbClr val="FF0000"/>
                </a:solidFill>
              </a:rPr>
              <a:t>Beauregard, HEC Montréal </a:t>
            </a:r>
            <a:r>
              <a:rPr lang="fr-CA" b="1" dirty="0">
                <a:solidFill>
                  <a:srgbClr val="FF0000"/>
                </a:solidFill>
              </a:rPr>
              <a:t>(2014</a:t>
            </a:r>
            <a:r>
              <a:rPr lang="fr-CA" b="1" dirty="0" smtClean="0">
                <a:solidFill>
                  <a:srgbClr val="FF0000"/>
                </a:solidFill>
              </a:rPr>
              <a:t>)</a:t>
            </a:r>
            <a:endParaRPr lang="fr-CA" b="1" dirty="0">
              <a:solidFill>
                <a:srgbClr val="FF0000"/>
              </a:solidFill>
            </a:endParaRPr>
          </a:p>
        </p:txBody>
      </p:sp>
    </p:spTree>
    <p:extLst>
      <p:ext uri="{BB962C8B-B14F-4D97-AF65-F5344CB8AC3E}">
        <p14:creationId xmlns:p14="http://schemas.microsoft.com/office/powerpoint/2010/main" val="8691438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p:cNvSpPr>
          <p:nvPr>
            <p:ph type="title"/>
          </p:nvPr>
        </p:nvSpPr>
        <p:spPr/>
        <p:txBody>
          <a:bodyPr/>
          <a:lstStyle/>
          <a:p>
            <a:pPr marL="363538" indent="-363538">
              <a:buFontTx/>
              <a:buAutoNum type="arabicPeriod"/>
            </a:pPr>
            <a:r>
              <a:rPr lang="fr-CA" sz="3200" b="1" dirty="0" smtClean="0">
                <a:solidFill>
                  <a:srgbClr val="353535"/>
                </a:solidFill>
              </a:rPr>
              <a:t>Vrai ou faux?</a:t>
            </a:r>
            <a:r>
              <a:rPr lang="fr-CA" sz="6000" b="1" dirty="0" smtClean="0">
                <a:solidFill>
                  <a:srgbClr val="353535"/>
                </a:solidFill>
              </a:rPr>
              <a:t/>
            </a:r>
            <a:br>
              <a:rPr lang="fr-CA" sz="6000" b="1" dirty="0" smtClean="0">
                <a:solidFill>
                  <a:srgbClr val="353535"/>
                </a:solidFill>
              </a:rPr>
            </a:br>
            <a:r>
              <a:rPr lang="fr-CA" sz="2800" b="1" dirty="0" smtClean="0">
                <a:solidFill>
                  <a:srgbClr val="353535"/>
                </a:solidFill>
              </a:rPr>
              <a:t>Justifiez votre réponse.</a:t>
            </a:r>
          </a:p>
        </p:txBody>
      </p:sp>
      <p:sp>
        <p:nvSpPr>
          <p:cNvPr id="156675" name="Rectangle 3"/>
          <p:cNvSpPr>
            <a:spLocks noGrp="1"/>
          </p:cNvSpPr>
          <p:nvPr>
            <p:ph type="body" idx="1"/>
          </p:nvPr>
        </p:nvSpPr>
        <p:spPr>
          <a:xfrm>
            <a:off x="457200" y="2533650"/>
            <a:ext cx="8229600" cy="3790950"/>
          </a:xfrm>
        </p:spPr>
        <p:txBody>
          <a:bodyPr/>
          <a:lstStyle/>
          <a:p>
            <a:pPr marL="96838" indent="12700">
              <a:buFont typeface="Georgia" pitchFamily="18" charset="0"/>
              <a:buNone/>
            </a:pPr>
            <a:r>
              <a:rPr lang="fr-CA" dirty="0" smtClean="0"/>
              <a:t>Les entités qui déposent leurs EF intermédiaires en vertu de la Loi sur les valeurs mobilières sont tenues de faire examiner ces EF par un auditeur.</a:t>
            </a:r>
          </a:p>
        </p:txBody>
      </p:sp>
      <p:sp>
        <p:nvSpPr>
          <p:cNvPr id="2" name="Espace réservé du pied de page 1"/>
          <p:cNvSpPr>
            <a:spLocks noGrp="1"/>
          </p:cNvSpPr>
          <p:nvPr>
            <p:ph type="ftr" sz="quarter" idx="11"/>
          </p:nvPr>
        </p:nvSpPr>
        <p:spPr>
          <a:xfrm>
            <a:off x="5257800" y="612775"/>
            <a:ext cx="1978496"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2</a:t>
            </a:fld>
            <a:endParaRPr lang="fr-FR" dirty="0"/>
          </a:p>
        </p:txBody>
      </p:sp>
    </p:spTree>
    <p:extLst>
      <p:ext uri="{BB962C8B-B14F-4D97-AF65-F5344CB8AC3E}">
        <p14:creationId xmlns:p14="http://schemas.microsoft.com/office/powerpoint/2010/main" val="1422684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re 1"/>
          <p:cNvSpPr>
            <a:spLocks noGrp="1"/>
          </p:cNvSpPr>
          <p:nvPr>
            <p:ph type="title"/>
          </p:nvPr>
        </p:nvSpPr>
        <p:spPr>
          <a:xfrm>
            <a:off x="457200" y="1143000"/>
            <a:ext cx="8153400" cy="1295400"/>
          </a:xfrm>
        </p:spPr>
        <p:txBody>
          <a:bodyPr/>
          <a:lstStyle/>
          <a:p>
            <a:pPr marL="388938" indent="-388938"/>
            <a:r>
              <a:rPr lang="fr-CA" sz="3200" b="1" dirty="0" smtClean="0">
                <a:solidFill>
                  <a:srgbClr val="353535"/>
                </a:solidFill>
              </a:rPr>
              <a:t>2.Vrai ou faux?</a:t>
            </a:r>
            <a:r>
              <a:rPr lang="fr-CA" sz="6000" b="1" dirty="0" smtClean="0">
                <a:solidFill>
                  <a:srgbClr val="353535"/>
                </a:solidFill>
              </a:rPr>
              <a:t/>
            </a:r>
            <a:br>
              <a:rPr lang="fr-CA" sz="6000" b="1" dirty="0" smtClean="0">
                <a:solidFill>
                  <a:srgbClr val="353535"/>
                </a:solidFill>
              </a:rPr>
            </a:br>
            <a:r>
              <a:rPr lang="fr-CA" sz="2800" b="1" dirty="0" smtClean="0">
                <a:solidFill>
                  <a:srgbClr val="353535"/>
                </a:solidFill>
              </a:rPr>
              <a:t>Justifiez votre réponse en vous référant au Manuel de l’ICCA.</a:t>
            </a:r>
            <a:endParaRPr lang="fr-CA" sz="2800" dirty="0" smtClean="0"/>
          </a:p>
        </p:txBody>
      </p:sp>
      <p:sp>
        <p:nvSpPr>
          <p:cNvPr id="60419" name="Espace réservé du contenu 2"/>
          <p:cNvSpPr>
            <a:spLocks noGrp="1"/>
          </p:cNvSpPr>
          <p:nvPr>
            <p:ph idx="1"/>
          </p:nvPr>
        </p:nvSpPr>
        <p:spPr>
          <a:xfrm>
            <a:off x="381000" y="2743200"/>
            <a:ext cx="8229600" cy="3733800"/>
          </a:xfrm>
        </p:spPr>
        <p:txBody>
          <a:bodyPr/>
          <a:lstStyle/>
          <a:p>
            <a:pPr marL="0" indent="0">
              <a:buFont typeface="Georgia" pitchFamily="18" charset="0"/>
              <a:buNone/>
            </a:pPr>
            <a:endParaRPr lang="fr-CA" dirty="0" smtClean="0"/>
          </a:p>
          <a:p>
            <a:pPr marL="0" indent="0">
              <a:buFont typeface="Georgia" pitchFamily="18" charset="0"/>
              <a:buNone/>
            </a:pPr>
            <a:r>
              <a:rPr lang="fr-CA" dirty="0" smtClean="0"/>
              <a:t>Le rapport d’examen des états financiers intermédiaires est adressé aux actionnaires.</a:t>
            </a:r>
          </a:p>
        </p:txBody>
      </p:sp>
      <p:sp>
        <p:nvSpPr>
          <p:cNvPr id="60420" name="Espace réservé du pied de page 3"/>
          <p:cNvSpPr>
            <a:spLocks noGrp="1"/>
          </p:cNvSpPr>
          <p:nvPr>
            <p:ph type="ftr" sz="quarter" idx="11"/>
          </p:nvPr>
        </p:nvSpPr>
        <p:spPr bwMode="auto">
          <a:xfrm>
            <a:off x="5257800" y="612775"/>
            <a:ext cx="19065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0421"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1A77F41-3B69-40A3-BCBB-75FB2A1433E7}" type="slidenum">
              <a:rPr lang="fr-FR" sz="1800" smtClean="0">
                <a:solidFill>
                  <a:srgbClr val="FFFFFF"/>
                </a:solidFill>
              </a:rPr>
              <a:pPr eaLnBrk="1" hangingPunct="1"/>
              <a:t>3</a:t>
            </a:fld>
            <a:endParaRPr lang="fr-FR" sz="1800" dirty="0" smtClean="0">
              <a:solidFill>
                <a:srgbClr val="FFFFFF"/>
              </a:solidFill>
            </a:endParaRPr>
          </a:p>
        </p:txBody>
      </p:sp>
    </p:spTree>
    <p:extLst>
      <p:ext uri="{BB962C8B-B14F-4D97-AF65-F5344CB8AC3E}">
        <p14:creationId xmlns:p14="http://schemas.microsoft.com/office/powerpoint/2010/main" val="2664365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re 1"/>
          <p:cNvSpPr>
            <a:spLocks noGrp="1"/>
          </p:cNvSpPr>
          <p:nvPr>
            <p:ph type="title"/>
          </p:nvPr>
        </p:nvSpPr>
        <p:spPr>
          <a:xfrm>
            <a:off x="457200" y="1143000"/>
            <a:ext cx="8229600" cy="1295400"/>
          </a:xfrm>
        </p:spPr>
        <p:txBody>
          <a:bodyPr/>
          <a:lstStyle/>
          <a:p>
            <a:pPr marL="365125" indent="-365125"/>
            <a:r>
              <a:rPr lang="fr-CA" sz="3200" b="1" dirty="0" smtClean="0">
                <a:solidFill>
                  <a:srgbClr val="353535"/>
                </a:solidFill>
              </a:rPr>
              <a:t>3.Vrai ou faux?</a:t>
            </a:r>
            <a:r>
              <a:rPr lang="fr-CA" sz="4400" b="1" dirty="0" smtClean="0">
                <a:solidFill>
                  <a:srgbClr val="353535"/>
                </a:solidFill>
              </a:rPr>
              <a:t/>
            </a:r>
            <a:br>
              <a:rPr lang="fr-CA" sz="4400" b="1" dirty="0" smtClean="0">
                <a:solidFill>
                  <a:srgbClr val="353535"/>
                </a:solidFill>
              </a:rPr>
            </a:br>
            <a:r>
              <a:rPr lang="fr-CA" sz="2800" b="1" dirty="0" smtClean="0">
                <a:solidFill>
                  <a:srgbClr val="353535"/>
                </a:solidFill>
              </a:rPr>
              <a:t>Justifiez votre réponse en vous appuyant sur le Manuel de l’ICCA.</a:t>
            </a:r>
            <a:endParaRPr lang="fr-CA" sz="2800" dirty="0" smtClean="0"/>
          </a:p>
        </p:txBody>
      </p:sp>
      <p:sp>
        <p:nvSpPr>
          <p:cNvPr id="62467" name="Espace réservé du contenu 2"/>
          <p:cNvSpPr>
            <a:spLocks noGrp="1"/>
          </p:cNvSpPr>
          <p:nvPr>
            <p:ph idx="1"/>
          </p:nvPr>
        </p:nvSpPr>
        <p:spPr>
          <a:xfrm>
            <a:off x="457200" y="2514600"/>
            <a:ext cx="8229600" cy="4059238"/>
          </a:xfrm>
        </p:spPr>
        <p:txBody>
          <a:bodyPr/>
          <a:lstStyle/>
          <a:p>
            <a:pPr marL="0" indent="0"/>
            <a:endParaRPr lang="fr-CA" dirty="0" smtClean="0"/>
          </a:p>
          <a:p>
            <a:pPr marL="0" indent="0">
              <a:buFont typeface="Georgia" pitchFamily="18" charset="0"/>
              <a:buNone/>
            </a:pPr>
            <a:r>
              <a:rPr lang="fr-CA" dirty="0" smtClean="0"/>
              <a:t>Lorsque les états financiers intermédiaires ne sont pas accompagnés d’un rapport d’examen intermédiaire signé par les auditeurs de l’entité, cela signifie que l’auditeur n’a pas procédé à un examen de ces états financiers.</a:t>
            </a:r>
          </a:p>
        </p:txBody>
      </p:sp>
      <p:sp>
        <p:nvSpPr>
          <p:cNvPr id="62468" name="Espace réservé du pied de page 3"/>
          <p:cNvSpPr>
            <a:spLocks noGrp="1"/>
          </p:cNvSpPr>
          <p:nvPr>
            <p:ph type="ftr" sz="quarter" idx="11"/>
          </p:nvPr>
        </p:nvSpPr>
        <p:spPr bwMode="auto">
          <a:xfrm>
            <a:off x="5257800" y="612775"/>
            <a:ext cx="16906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246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6D22C77-2408-4B6B-BEE0-25CBC4CEE7D5}" type="slidenum">
              <a:rPr lang="fr-FR" sz="1800" smtClean="0">
                <a:solidFill>
                  <a:srgbClr val="FFFFFF"/>
                </a:solidFill>
              </a:rPr>
              <a:pPr eaLnBrk="1" hangingPunct="1"/>
              <a:t>4</a:t>
            </a:fld>
            <a:endParaRPr lang="fr-FR" sz="1800" dirty="0" smtClean="0">
              <a:solidFill>
                <a:srgbClr val="FFFFFF"/>
              </a:solidFill>
            </a:endParaRPr>
          </a:p>
        </p:txBody>
      </p:sp>
    </p:spTree>
    <p:extLst>
      <p:ext uri="{BB962C8B-B14F-4D97-AF65-F5344CB8AC3E}">
        <p14:creationId xmlns:p14="http://schemas.microsoft.com/office/powerpoint/2010/main" val="33207615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re 1"/>
          <p:cNvSpPr>
            <a:spLocks noGrp="1"/>
          </p:cNvSpPr>
          <p:nvPr>
            <p:ph type="title"/>
          </p:nvPr>
        </p:nvSpPr>
        <p:spPr/>
        <p:txBody>
          <a:bodyPr/>
          <a:lstStyle/>
          <a:p>
            <a:r>
              <a:rPr lang="fr-CA" sz="3200" dirty="0"/>
              <a:t>Q</a:t>
            </a:r>
            <a:r>
              <a:rPr lang="fr-CA" sz="3200" dirty="0" smtClean="0"/>
              <a:t>uand les EF n’ont pas fait l’objet d’un examen intermédiaire </a:t>
            </a:r>
          </a:p>
        </p:txBody>
      </p:sp>
      <p:sp>
        <p:nvSpPr>
          <p:cNvPr id="3" name="Espace réservé du contenu 2"/>
          <p:cNvSpPr>
            <a:spLocks noGrp="1"/>
          </p:cNvSpPr>
          <p:nvPr>
            <p:ph idx="1"/>
          </p:nvPr>
        </p:nvSpPr>
        <p:spPr/>
        <p:txBody>
          <a:bodyPr/>
          <a:lstStyle/>
          <a:p>
            <a:pPr marL="109537" indent="0">
              <a:buFont typeface="Georgia" pitchFamily="18" charset="0"/>
              <a:buNone/>
              <a:defRPr/>
            </a:pPr>
            <a:endParaRPr lang="fr-FR" dirty="0" smtClean="0">
              <a:latin typeface="Calibri" pitchFamily="34" charset="0"/>
            </a:endParaRPr>
          </a:p>
          <a:p>
            <a:pPr marL="109537" indent="0">
              <a:buFont typeface="Georgia" pitchFamily="18" charset="0"/>
              <a:buNone/>
              <a:defRPr/>
            </a:pPr>
            <a:r>
              <a:rPr lang="fr-FR" dirty="0" smtClean="0">
                <a:latin typeface="Calibri" pitchFamily="34" charset="0"/>
              </a:rPr>
              <a:t>Mediagrif </a:t>
            </a:r>
            <a:r>
              <a:rPr lang="fr-FR" dirty="0">
                <a:latin typeface="Calibri" pitchFamily="34" charset="0"/>
              </a:rPr>
              <a:t>technologies interactives</a:t>
            </a:r>
          </a:p>
          <a:p>
            <a:pPr marL="109537" indent="0">
              <a:buFont typeface="Georgia" pitchFamily="18" charset="0"/>
              <a:buNone/>
              <a:defRPr/>
            </a:pPr>
            <a:r>
              <a:rPr lang="fr-FR" dirty="0">
                <a:latin typeface="Calibri" pitchFamily="34" charset="0"/>
              </a:rPr>
              <a:t>États financiers consolidés intermédiaires résumés </a:t>
            </a:r>
          </a:p>
          <a:p>
            <a:pPr marL="109537" indent="0">
              <a:buFont typeface="Georgia" pitchFamily="18" charset="0"/>
              <a:buNone/>
              <a:defRPr/>
            </a:pPr>
            <a:r>
              <a:rPr lang="fr-FR" dirty="0">
                <a:latin typeface="Calibri" pitchFamily="34" charset="0"/>
              </a:rPr>
              <a:t>pour les périodes de trois mois terminées </a:t>
            </a:r>
          </a:p>
          <a:p>
            <a:pPr marL="109537" indent="0">
              <a:buFont typeface="Georgia" pitchFamily="18" charset="0"/>
              <a:buNone/>
              <a:defRPr/>
            </a:pPr>
            <a:r>
              <a:rPr lang="fr-FR" b="1" dirty="0" smtClean="0">
                <a:latin typeface="Calibri" pitchFamily="34" charset="0"/>
              </a:rPr>
              <a:t>le </a:t>
            </a:r>
            <a:r>
              <a:rPr lang="fr-FR" b="1" dirty="0">
                <a:latin typeface="Calibri" pitchFamily="34" charset="0"/>
              </a:rPr>
              <a:t>30 juin </a:t>
            </a:r>
            <a:r>
              <a:rPr lang="fr-FR" b="1" dirty="0" smtClean="0">
                <a:latin typeface="Calibri" pitchFamily="34" charset="0"/>
              </a:rPr>
              <a:t>2014</a:t>
            </a:r>
            <a:endParaRPr lang="fr-FR" b="1" dirty="0">
              <a:latin typeface="Calibri" pitchFamily="34" charset="0"/>
            </a:endParaRPr>
          </a:p>
          <a:p>
            <a:pPr marL="109537" indent="0">
              <a:buFont typeface="Georgia" pitchFamily="18" charset="0"/>
              <a:buNone/>
              <a:defRPr/>
            </a:pPr>
            <a:r>
              <a:rPr lang="fr-FR" b="1" dirty="0">
                <a:latin typeface="Calibri" pitchFamily="34" charset="0"/>
              </a:rPr>
              <a:t>(non audités et </a:t>
            </a:r>
            <a:r>
              <a:rPr lang="fr-FR" b="1" u="sng" dirty="0">
                <a:latin typeface="Calibri" pitchFamily="34" charset="0"/>
              </a:rPr>
              <a:t>non examinés </a:t>
            </a:r>
            <a:r>
              <a:rPr lang="fr-FR" b="1" dirty="0">
                <a:latin typeface="Calibri" pitchFamily="34" charset="0"/>
              </a:rPr>
              <a:t> </a:t>
            </a:r>
            <a:r>
              <a:rPr lang="fr-FR" b="1" u="sng" dirty="0">
                <a:latin typeface="Calibri" pitchFamily="34" charset="0"/>
              </a:rPr>
              <a:t>par les auditeurs indépendants</a:t>
            </a:r>
            <a:r>
              <a:rPr lang="fr-FR" b="1" dirty="0">
                <a:latin typeface="Calibri" pitchFamily="34" charset="0"/>
              </a:rPr>
              <a:t>)</a:t>
            </a:r>
          </a:p>
          <a:p>
            <a:pPr>
              <a:defRPr/>
            </a:pPr>
            <a:endParaRPr lang="fr-CA" dirty="0"/>
          </a:p>
        </p:txBody>
      </p:sp>
      <p:sp>
        <p:nvSpPr>
          <p:cNvPr id="63492" name="Espace réservé du pied de page 3"/>
          <p:cNvSpPr>
            <a:spLocks noGrp="1"/>
          </p:cNvSpPr>
          <p:nvPr>
            <p:ph type="ftr" sz="quarter" idx="11"/>
          </p:nvPr>
        </p:nvSpPr>
        <p:spPr bwMode="auto">
          <a:xfrm>
            <a:off x="5257800" y="612775"/>
            <a:ext cx="2050504"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3493"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2CFFC52-BD57-4DF2-A414-623B61C31D2C}" type="slidenum">
              <a:rPr lang="fr-FR" sz="1800" smtClean="0">
                <a:solidFill>
                  <a:srgbClr val="FFFFFF"/>
                </a:solidFill>
              </a:rPr>
              <a:pPr eaLnBrk="1" hangingPunct="1"/>
              <a:t>5</a:t>
            </a:fld>
            <a:endParaRPr lang="fr-FR" sz="1800" dirty="0" smtClean="0">
              <a:solidFill>
                <a:srgbClr val="FFFFFF"/>
              </a:solidFill>
            </a:endParaRPr>
          </a:p>
        </p:txBody>
      </p:sp>
    </p:spTree>
    <p:extLst>
      <p:ext uri="{BB962C8B-B14F-4D97-AF65-F5344CB8AC3E}">
        <p14:creationId xmlns:p14="http://schemas.microsoft.com/office/powerpoint/2010/main" val="3943939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re 1"/>
          <p:cNvSpPr>
            <a:spLocks noGrp="1"/>
          </p:cNvSpPr>
          <p:nvPr>
            <p:ph type="title"/>
          </p:nvPr>
        </p:nvSpPr>
        <p:spPr>
          <a:xfrm>
            <a:off x="468313" y="1125538"/>
            <a:ext cx="8229600" cy="1066800"/>
          </a:xfrm>
        </p:spPr>
        <p:txBody>
          <a:bodyPr/>
          <a:lstStyle/>
          <a:p>
            <a:pPr marL="292100" indent="-292100"/>
            <a:r>
              <a:rPr lang="fr-CA" sz="2600" b="1" dirty="0" smtClean="0">
                <a:solidFill>
                  <a:schemeClr val="tx1"/>
                </a:solidFill>
              </a:rPr>
              <a:t>4.Laquelle des procédures suivantes est normalement appliquée dans le cadre d’un examen des EF intermédiaires? Justifiez votre choix</a:t>
            </a:r>
          </a:p>
        </p:txBody>
      </p:sp>
      <p:sp>
        <p:nvSpPr>
          <p:cNvPr id="61443" name="Espace réservé du contenu 2"/>
          <p:cNvSpPr>
            <a:spLocks noGrp="1"/>
          </p:cNvSpPr>
          <p:nvPr>
            <p:ph idx="1"/>
          </p:nvPr>
        </p:nvSpPr>
        <p:spPr>
          <a:xfrm>
            <a:off x="457200" y="2514600"/>
            <a:ext cx="8229600" cy="4059238"/>
          </a:xfrm>
        </p:spPr>
        <p:txBody>
          <a:bodyPr/>
          <a:lstStyle/>
          <a:p>
            <a:pPr marL="641350" indent="-533400">
              <a:buFont typeface="Trebuchet MS" pitchFamily="34" charset="0"/>
              <a:buAutoNum type="alphaLcParenR"/>
            </a:pPr>
            <a:r>
              <a:rPr lang="fr-CA" dirty="0" smtClean="0"/>
              <a:t>Une demande de confirmation bancaire.</a:t>
            </a:r>
          </a:p>
          <a:p>
            <a:pPr marL="641350" indent="-533400">
              <a:buFont typeface="Trebuchet MS" pitchFamily="34" charset="0"/>
              <a:buAutoNum type="alphaLcParenR"/>
            </a:pPr>
            <a:r>
              <a:rPr lang="fr-CA" dirty="0"/>
              <a:t>L</a:t>
            </a:r>
            <a:r>
              <a:rPr lang="fr-CA" dirty="0" smtClean="0"/>
              <a:t>a lecture des procès-verbaux </a:t>
            </a:r>
            <a:r>
              <a:rPr lang="fr-FR" dirty="0" smtClean="0"/>
              <a:t>des assemblées des actionnaires, des réunions du conseil d'administration et du comité d’audit.</a:t>
            </a:r>
          </a:p>
          <a:p>
            <a:pPr marL="641350" indent="-533400">
              <a:buFont typeface="Trebuchet MS" pitchFamily="34" charset="0"/>
              <a:buAutoNum type="alphaLcParenR"/>
            </a:pPr>
            <a:r>
              <a:rPr lang="fr-FR" dirty="0"/>
              <a:t>L</a:t>
            </a:r>
            <a:r>
              <a:rPr lang="fr-FR" dirty="0" smtClean="0"/>
              <a:t>’inspection d’un immeuble acquis durant le trimestre.</a:t>
            </a:r>
          </a:p>
          <a:p>
            <a:pPr marL="641350" indent="-533400">
              <a:buFont typeface="Trebuchet MS" pitchFamily="34" charset="0"/>
              <a:buAutoNum type="alphaLcParenR"/>
            </a:pPr>
            <a:r>
              <a:rPr lang="fr-FR" dirty="0" smtClean="0"/>
              <a:t>Le contrôle mathématique de quelques factures de fournisseurs. </a:t>
            </a:r>
          </a:p>
        </p:txBody>
      </p:sp>
      <p:sp>
        <p:nvSpPr>
          <p:cNvPr id="61444" name="Espace réservé du pied de page 3"/>
          <p:cNvSpPr>
            <a:spLocks noGrp="1"/>
          </p:cNvSpPr>
          <p:nvPr>
            <p:ph type="ftr" sz="quarter" idx="11"/>
          </p:nvPr>
        </p:nvSpPr>
        <p:spPr bwMode="auto">
          <a:xfrm>
            <a:off x="5257800" y="612775"/>
            <a:ext cx="154622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1445"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E9DC7AC-03FF-4B93-8B5C-BEAE2AB65AB1}" type="slidenum">
              <a:rPr lang="fr-FR" sz="1800" smtClean="0">
                <a:solidFill>
                  <a:srgbClr val="FFFFFF"/>
                </a:solidFill>
              </a:rPr>
              <a:pPr eaLnBrk="1" hangingPunct="1"/>
              <a:t>6</a:t>
            </a:fld>
            <a:endParaRPr lang="fr-FR" sz="1800" dirty="0" smtClean="0">
              <a:solidFill>
                <a:srgbClr val="FFFFFF"/>
              </a:solidFill>
            </a:endParaRPr>
          </a:p>
        </p:txBody>
      </p:sp>
    </p:spTree>
    <p:extLst>
      <p:ext uri="{BB962C8B-B14F-4D97-AF65-F5344CB8AC3E}">
        <p14:creationId xmlns:p14="http://schemas.microsoft.com/office/powerpoint/2010/main" val="3561681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re 1"/>
          <p:cNvSpPr>
            <a:spLocks noGrp="1"/>
          </p:cNvSpPr>
          <p:nvPr>
            <p:ph type="title"/>
          </p:nvPr>
        </p:nvSpPr>
        <p:spPr/>
        <p:txBody>
          <a:bodyPr/>
          <a:lstStyle/>
          <a:p>
            <a:pPr marL="292100" indent="-292100"/>
            <a:r>
              <a:rPr lang="fr-CA" sz="3200" b="1" dirty="0" smtClean="0">
                <a:solidFill>
                  <a:schemeClr val="tx1"/>
                </a:solidFill>
              </a:rPr>
              <a:t>5.Vrai ou faux?</a:t>
            </a:r>
            <a:br>
              <a:rPr lang="fr-CA" sz="3200" b="1" dirty="0" smtClean="0">
                <a:solidFill>
                  <a:schemeClr val="tx1"/>
                </a:solidFill>
              </a:rPr>
            </a:br>
            <a:r>
              <a:rPr lang="fr-CA" sz="2800" b="1" dirty="0" smtClean="0">
                <a:solidFill>
                  <a:schemeClr val="tx1"/>
                </a:solidFill>
              </a:rPr>
              <a:t>Justifiez votre réponse.</a:t>
            </a:r>
          </a:p>
        </p:txBody>
      </p:sp>
      <p:sp>
        <p:nvSpPr>
          <p:cNvPr id="64515" name="Espace réservé du contenu 2"/>
          <p:cNvSpPr>
            <a:spLocks noGrp="1"/>
          </p:cNvSpPr>
          <p:nvPr>
            <p:ph idx="1"/>
          </p:nvPr>
        </p:nvSpPr>
        <p:spPr>
          <a:xfrm>
            <a:off x="457200" y="2590800"/>
            <a:ext cx="8229600" cy="3983038"/>
          </a:xfrm>
        </p:spPr>
        <p:txBody>
          <a:bodyPr/>
          <a:lstStyle/>
          <a:p>
            <a:pPr marL="96838" indent="12700"/>
            <a:endParaRPr lang="fr-CA" dirty="0" smtClean="0"/>
          </a:p>
          <a:p>
            <a:pPr marL="96838" indent="12700">
              <a:buFont typeface="Georgia" pitchFamily="18" charset="0"/>
              <a:buNone/>
            </a:pPr>
            <a:r>
              <a:rPr lang="fr-CA" dirty="0" smtClean="0"/>
              <a:t>Les auditeurs peuvent lire le rapport de gestion intermédiaire qui accompagne les EF intermédiaires.</a:t>
            </a:r>
          </a:p>
        </p:txBody>
      </p:sp>
      <p:sp>
        <p:nvSpPr>
          <p:cNvPr id="64516" name="Espace réservé du pied de page 3"/>
          <p:cNvSpPr>
            <a:spLocks noGrp="1"/>
          </p:cNvSpPr>
          <p:nvPr>
            <p:ph type="ftr" sz="quarter" idx="11"/>
          </p:nvPr>
        </p:nvSpPr>
        <p:spPr bwMode="auto">
          <a:xfrm>
            <a:off x="5257800" y="612775"/>
            <a:ext cx="205105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4517"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A590802-D701-4365-ADCA-E211F59A3C73}" type="slidenum">
              <a:rPr lang="fr-FR" sz="1800" smtClean="0">
                <a:solidFill>
                  <a:srgbClr val="FFFFFF"/>
                </a:solidFill>
              </a:rPr>
              <a:pPr eaLnBrk="1" hangingPunct="1"/>
              <a:t>7</a:t>
            </a:fld>
            <a:endParaRPr lang="fr-FR" sz="1800" dirty="0" smtClean="0">
              <a:solidFill>
                <a:srgbClr val="FFFFFF"/>
              </a:solidFill>
            </a:endParaRPr>
          </a:p>
        </p:txBody>
      </p:sp>
    </p:spTree>
    <p:extLst>
      <p:ext uri="{BB962C8B-B14F-4D97-AF65-F5344CB8AC3E}">
        <p14:creationId xmlns:p14="http://schemas.microsoft.com/office/powerpoint/2010/main" val="2149815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p:cNvSpPr>
          <p:nvPr>
            <p:ph type="title"/>
          </p:nvPr>
        </p:nvSpPr>
        <p:spPr>
          <a:xfrm>
            <a:off x="467544" y="980728"/>
            <a:ext cx="8229600" cy="1066800"/>
          </a:xfrm>
        </p:spPr>
        <p:txBody>
          <a:bodyPr/>
          <a:lstStyle/>
          <a:p>
            <a:r>
              <a:rPr lang="fr-CA" sz="2800" b="1" dirty="0" smtClean="0">
                <a:solidFill>
                  <a:schemeClr val="tx1"/>
                </a:solidFill>
              </a:rPr>
              <a:t>6. Normalement, l'auditeur de l'entité :</a:t>
            </a:r>
          </a:p>
        </p:txBody>
      </p:sp>
      <p:sp>
        <p:nvSpPr>
          <p:cNvPr id="158723" name="Rectangle 3"/>
          <p:cNvSpPr>
            <a:spLocks noGrp="1"/>
          </p:cNvSpPr>
          <p:nvPr>
            <p:ph type="body" idx="1"/>
          </p:nvPr>
        </p:nvSpPr>
        <p:spPr>
          <a:xfrm>
            <a:off x="457200" y="2286000"/>
            <a:ext cx="8229600" cy="4267200"/>
          </a:xfrm>
        </p:spPr>
        <p:txBody>
          <a:bodyPr/>
          <a:lstStyle/>
          <a:p>
            <a:pPr marL="642938" indent="-533400">
              <a:lnSpc>
                <a:spcPct val="90000"/>
              </a:lnSpc>
              <a:buFont typeface="Georgia" pitchFamily="18" charset="0"/>
              <a:buAutoNum type="alphaLcParenR"/>
            </a:pPr>
            <a:r>
              <a:rPr lang="fr-CA" dirty="0" smtClean="0"/>
              <a:t>examine les résultats des procédures d'audit mises en œuvre à l'égard des états financiers de l'exercice en cours.</a:t>
            </a:r>
          </a:p>
          <a:p>
            <a:pPr marL="642938" indent="-533400">
              <a:lnSpc>
                <a:spcPct val="90000"/>
              </a:lnSpc>
              <a:buFont typeface="Georgia" pitchFamily="18" charset="0"/>
              <a:buAutoNum type="alphaLcParenR"/>
            </a:pPr>
            <a:r>
              <a:rPr lang="fr-CA" dirty="0" smtClean="0"/>
              <a:t>demande si des modifications ont été apportées aux pratiques comptables de l'entité. </a:t>
            </a:r>
          </a:p>
          <a:p>
            <a:pPr marL="642938" indent="-533400">
              <a:lnSpc>
                <a:spcPct val="90000"/>
              </a:lnSpc>
              <a:buFont typeface="Georgia" pitchFamily="18" charset="0"/>
              <a:buAutoNum type="alphaLcParenR"/>
            </a:pPr>
            <a:r>
              <a:rPr lang="fr-CA" dirty="0" smtClean="0"/>
              <a:t>demande des informations sur les écritures de journal importantes et les autres ajustements importants.</a:t>
            </a:r>
          </a:p>
          <a:p>
            <a:pPr marL="642938" indent="-533400">
              <a:lnSpc>
                <a:spcPct val="90000"/>
              </a:lnSpc>
              <a:buFont typeface="Georgia" pitchFamily="18" charset="0"/>
              <a:buAutoNum type="alphaLcParenR"/>
            </a:pPr>
            <a:r>
              <a:rPr lang="fr-CA" dirty="0" smtClean="0"/>
              <a:t>Toutes ces réponses.</a:t>
            </a:r>
          </a:p>
          <a:p>
            <a:pPr marL="642938" indent="-533400">
              <a:lnSpc>
                <a:spcPct val="90000"/>
              </a:lnSpc>
              <a:buFont typeface="Georgia" pitchFamily="18" charset="0"/>
              <a:buAutoNum type="alphaLcParenR"/>
            </a:pPr>
            <a:r>
              <a:rPr lang="fr-CA" dirty="0" smtClean="0"/>
              <a:t>Aucune de ces réponses.</a:t>
            </a:r>
          </a:p>
        </p:txBody>
      </p:sp>
      <p:sp>
        <p:nvSpPr>
          <p:cNvPr id="2" name="Espace réservé du pied de page 1"/>
          <p:cNvSpPr>
            <a:spLocks noGrp="1"/>
          </p:cNvSpPr>
          <p:nvPr>
            <p:ph type="ftr" sz="quarter" idx="11"/>
          </p:nvPr>
        </p:nvSpPr>
        <p:spPr>
          <a:xfrm>
            <a:off x="5257800" y="612775"/>
            <a:ext cx="2122512"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8</a:t>
            </a:fld>
            <a:endParaRPr lang="fr-FR" dirty="0"/>
          </a:p>
        </p:txBody>
      </p:sp>
    </p:spTree>
    <p:extLst>
      <p:ext uri="{BB962C8B-B14F-4D97-AF65-F5344CB8AC3E}">
        <p14:creationId xmlns:p14="http://schemas.microsoft.com/office/powerpoint/2010/main" val="1683867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re 5"/>
          <p:cNvSpPr>
            <a:spLocks noGrp="1"/>
          </p:cNvSpPr>
          <p:nvPr>
            <p:ph type="title"/>
          </p:nvPr>
        </p:nvSpPr>
        <p:spPr>
          <a:xfrm>
            <a:off x="381000" y="1143000"/>
            <a:ext cx="8305800" cy="1295400"/>
          </a:xfrm>
        </p:spPr>
        <p:txBody>
          <a:bodyPr/>
          <a:lstStyle/>
          <a:p>
            <a:pPr marL="292100" indent="-292100"/>
            <a:r>
              <a:rPr lang="fr-CA" sz="3200" b="1" dirty="0" smtClean="0">
                <a:solidFill>
                  <a:schemeClr val="tx1"/>
                </a:solidFill>
              </a:rPr>
              <a:t>7.Vrai ou Faux?</a:t>
            </a:r>
            <a:br>
              <a:rPr lang="fr-CA" sz="3200" b="1" dirty="0" smtClean="0">
                <a:solidFill>
                  <a:schemeClr val="tx1"/>
                </a:solidFill>
              </a:rPr>
            </a:br>
            <a:r>
              <a:rPr lang="fr-CA" sz="2800" b="1" dirty="0" smtClean="0">
                <a:solidFill>
                  <a:schemeClr val="tx1"/>
                </a:solidFill>
              </a:rPr>
              <a:t>Justifiez votre réponse.</a:t>
            </a:r>
          </a:p>
        </p:txBody>
      </p:sp>
      <p:sp>
        <p:nvSpPr>
          <p:cNvPr id="65539" name="Espace réservé du contenu 6"/>
          <p:cNvSpPr>
            <a:spLocks noGrp="1"/>
          </p:cNvSpPr>
          <p:nvPr>
            <p:ph idx="1"/>
          </p:nvPr>
        </p:nvSpPr>
        <p:spPr>
          <a:xfrm>
            <a:off x="419100" y="2511425"/>
            <a:ext cx="8229600" cy="4081462"/>
          </a:xfrm>
        </p:spPr>
        <p:txBody>
          <a:bodyPr/>
          <a:lstStyle/>
          <a:p>
            <a:pPr marL="107950" indent="0">
              <a:buFont typeface="Georgia" pitchFamily="18" charset="0"/>
              <a:buNone/>
            </a:pPr>
            <a:r>
              <a:rPr lang="fr-CA" sz="3200" b="1" dirty="0" smtClean="0">
                <a:solidFill>
                  <a:srgbClr val="353535"/>
                </a:solidFill>
              </a:rPr>
              <a:t>Les auditeurs qui effectuent une mission d’examen selon le chapitre ANC 7060, </a:t>
            </a:r>
            <a:r>
              <a:rPr lang="fr-CA" sz="3200" b="1" dirty="0" smtClean="0">
                <a:solidFill>
                  <a:srgbClr val="E90062"/>
                </a:solidFill>
              </a:rPr>
              <a:t>Examen des états financiers intermédiaires par l’auditeur</a:t>
            </a:r>
            <a:r>
              <a:rPr lang="fr-CA" sz="3200" b="1" dirty="0" smtClean="0">
                <a:solidFill>
                  <a:srgbClr val="353535"/>
                </a:solidFill>
              </a:rPr>
              <a:t>, devraient établir un seuil d’importance relative.</a:t>
            </a:r>
          </a:p>
          <a:p>
            <a:pPr marL="107950" indent="0" algn="just">
              <a:buFont typeface="Georgia" pitchFamily="18" charset="0"/>
              <a:buNone/>
            </a:pPr>
            <a:endParaRPr lang="fr-CA" dirty="0" smtClean="0"/>
          </a:p>
        </p:txBody>
      </p:sp>
      <p:sp>
        <p:nvSpPr>
          <p:cNvPr id="65540" name="Espace réservé du pied de page 3"/>
          <p:cNvSpPr>
            <a:spLocks noGrp="1"/>
          </p:cNvSpPr>
          <p:nvPr>
            <p:ph type="ftr" sz="quarter" idx="11"/>
          </p:nvPr>
        </p:nvSpPr>
        <p:spPr bwMode="auto">
          <a:xfrm>
            <a:off x="5257800" y="612775"/>
            <a:ext cx="19065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FR" sz="800" dirty="0" smtClean="0">
                <a:solidFill>
                  <a:srgbClr val="E40059"/>
                </a:solidFill>
              </a:rPr>
              <a:t>© 2014,  Sylviane Beauregard</a:t>
            </a:r>
          </a:p>
        </p:txBody>
      </p:sp>
      <p:sp>
        <p:nvSpPr>
          <p:cNvPr id="65541"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8E6370C-4687-4844-8B6F-5322B0A7CDD2}" type="slidenum">
              <a:rPr lang="fr-FR" sz="1800" smtClean="0">
                <a:solidFill>
                  <a:srgbClr val="FFFFFF"/>
                </a:solidFill>
              </a:rPr>
              <a:pPr eaLnBrk="1" hangingPunct="1"/>
              <a:t>9</a:t>
            </a:fld>
            <a:endParaRPr lang="fr-FR" sz="1800" dirty="0" smtClean="0">
              <a:solidFill>
                <a:srgbClr val="FFFFFF"/>
              </a:solidFill>
            </a:endParaRPr>
          </a:p>
        </p:txBody>
      </p:sp>
    </p:spTree>
    <p:extLst>
      <p:ext uri="{BB962C8B-B14F-4D97-AF65-F5344CB8AC3E}">
        <p14:creationId xmlns:p14="http://schemas.microsoft.com/office/powerpoint/2010/main" val="27670018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p:cNvSpPr>
          <p:nvPr>
            <p:ph type="title"/>
          </p:nvPr>
        </p:nvSpPr>
        <p:spPr>
          <a:xfrm>
            <a:off x="467544" y="836712"/>
            <a:ext cx="8229600" cy="1440160"/>
          </a:xfrm>
        </p:spPr>
        <p:txBody>
          <a:bodyPr/>
          <a:lstStyle/>
          <a:p>
            <a:pPr marL="292100" indent="-292100"/>
            <a:r>
              <a:rPr lang="fr-CA" sz="3200" b="1" dirty="0" smtClean="0">
                <a:solidFill>
                  <a:schemeClr val="tx1"/>
                </a:solidFill>
              </a:rPr>
              <a:t>8.Vrai ou faux</a:t>
            </a:r>
            <a:r>
              <a:rPr lang="fr-CA" sz="3200" b="1" dirty="0">
                <a:solidFill>
                  <a:schemeClr val="tx1"/>
                </a:solidFill>
              </a:rPr>
              <a:t>? </a:t>
            </a:r>
            <a:r>
              <a:rPr lang="fr-CA" sz="3200" b="1" dirty="0" smtClean="0">
                <a:solidFill>
                  <a:schemeClr val="tx1"/>
                </a:solidFill>
              </a:rPr>
              <a:t/>
            </a:r>
            <a:br>
              <a:rPr lang="fr-CA" sz="3200" b="1" dirty="0" smtClean="0">
                <a:solidFill>
                  <a:schemeClr val="tx1"/>
                </a:solidFill>
              </a:rPr>
            </a:br>
            <a:r>
              <a:rPr lang="fr-CA" sz="3200" b="1" dirty="0" smtClean="0">
                <a:solidFill>
                  <a:schemeClr val="tx1"/>
                </a:solidFill>
              </a:rPr>
              <a:t>Justifiez </a:t>
            </a:r>
            <a:r>
              <a:rPr lang="fr-CA" sz="3200" b="1" dirty="0">
                <a:solidFill>
                  <a:schemeClr val="tx1"/>
                </a:solidFill>
              </a:rPr>
              <a:t>votre réponse en vous appuyant sur le Manuel de l’ICCA.</a:t>
            </a:r>
            <a:endParaRPr lang="fr-CA" sz="3200" b="1" dirty="0" smtClean="0">
              <a:solidFill>
                <a:schemeClr val="tx1"/>
              </a:solidFill>
            </a:endParaRPr>
          </a:p>
        </p:txBody>
      </p:sp>
      <p:sp>
        <p:nvSpPr>
          <p:cNvPr id="160771" name="Rectangle 3"/>
          <p:cNvSpPr>
            <a:spLocks noGrp="1"/>
          </p:cNvSpPr>
          <p:nvPr>
            <p:ph type="body" idx="1"/>
          </p:nvPr>
        </p:nvSpPr>
        <p:spPr>
          <a:xfrm>
            <a:off x="467544" y="2636912"/>
            <a:ext cx="8229600" cy="4022030"/>
          </a:xfrm>
        </p:spPr>
        <p:txBody>
          <a:bodyPr/>
          <a:lstStyle/>
          <a:p>
            <a:r>
              <a:rPr lang="fr-CA" dirty="0" smtClean="0"/>
              <a:t>Les anomalies détectées par l'auditeur de l'entité ou portées à son attention, à l’exclusion de la présentation inadéquate de l'information, font l'objet d'une évaluation individuelle et d'ensemble en vue de déterminer s'il est nécessaire d'apporter quelque modification significative aux états financiers intermédiaires pour que ceux-ci soient conformes aux IFRS. </a:t>
            </a:r>
          </a:p>
        </p:txBody>
      </p:sp>
      <p:sp>
        <p:nvSpPr>
          <p:cNvPr id="2" name="Espace réservé du pied de page 1"/>
          <p:cNvSpPr>
            <a:spLocks noGrp="1"/>
          </p:cNvSpPr>
          <p:nvPr>
            <p:ph type="ftr" sz="quarter" idx="11"/>
          </p:nvPr>
        </p:nvSpPr>
        <p:spPr>
          <a:xfrm>
            <a:off x="5257800" y="612775"/>
            <a:ext cx="2122512"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10</a:t>
            </a:fld>
            <a:endParaRPr lang="fr-FR" dirty="0"/>
          </a:p>
        </p:txBody>
      </p:sp>
    </p:spTree>
    <p:extLst>
      <p:ext uri="{BB962C8B-B14F-4D97-AF65-F5344CB8AC3E}">
        <p14:creationId xmlns:p14="http://schemas.microsoft.com/office/powerpoint/2010/main" val="33894997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p:cNvSpPr>
          <p:nvPr>
            <p:ph type="title"/>
          </p:nvPr>
        </p:nvSpPr>
        <p:spPr/>
        <p:txBody>
          <a:bodyPr/>
          <a:lstStyle/>
          <a:p>
            <a:pPr marL="388938" indent="-388938"/>
            <a:r>
              <a:rPr lang="fr-CA" sz="2800" b="1" dirty="0" smtClean="0">
                <a:solidFill>
                  <a:schemeClr val="tx1"/>
                </a:solidFill>
              </a:rPr>
              <a:t>9.Cette déclaration apparaît sur la première page du rapport semestriel du Fonds Fidelity Répartition d’actifs canadiens</a:t>
            </a:r>
          </a:p>
        </p:txBody>
      </p:sp>
      <p:sp>
        <p:nvSpPr>
          <p:cNvPr id="147459" name="Rectangle 1027"/>
          <p:cNvSpPr>
            <a:spLocks noGrp="1"/>
          </p:cNvSpPr>
          <p:nvPr>
            <p:ph type="body" idx="1"/>
          </p:nvPr>
        </p:nvSpPr>
        <p:spPr>
          <a:xfrm>
            <a:off x="467544" y="2276872"/>
            <a:ext cx="8229600" cy="4224958"/>
          </a:xfrm>
        </p:spPr>
        <p:txBody>
          <a:bodyPr/>
          <a:lstStyle/>
          <a:p>
            <a:pPr marL="96838" indent="0">
              <a:lnSpc>
                <a:spcPct val="90000"/>
              </a:lnSpc>
              <a:buFont typeface="Georgia" pitchFamily="18" charset="0"/>
              <a:buNone/>
            </a:pPr>
            <a:r>
              <a:rPr lang="fr-CA" sz="2600" b="1" dirty="0" smtClean="0"/>
              <a:t>Avis aux lecteurs</a:t>
            </a:r>
          </a:p>
          <a:p>
            <a:pPr marL="96838" indent="0">
              <a:lnSpc>
                <a:spcPct val="90000"/>
              </a:lnSpc>
              <a:buFont typeface="Georgia" pitchFamily="18" charset="0"/>
              <a:buNone/>
            </a:pPr>
            <a:r>
              <a:rPr lang="fr-CA" sz="2600" dirty="0" smtClean="0"/>
              <a:t>Les états financiers intermédiaires ci-joints n’ont pas été revus par l’auditeur indépendant du Fonds. L’auditeur indépendant effectuera un audit des états financiers annuels du Fonds conformément aux normes d’audit généralement reconnues du Canada.</a:t>
            </a:r>
          </a:p>
          <a:p>
            <a:pPr marL="96838" indent="0">
              <a:lnSpc>
                <a:spcPct val="90000"/>
              </a:lnSpc>
              <a:buFont typeface="Georgia" pitchFamily="18" charset="0"/>
              <a:buNone/>
            </a:pPr>
            <a:endParaRPr lang="fr-CA" b="1" dirty="0" smtClean="0"/>
          </a:p>
          <a:p>
            <a:pPr marL="96838" indent="0">
              <a:lnSpc>
                <a:spcPct val="90000"/>
              </a:lnSpc>
              <a:buFont typeface="Georgia" pitchFamily="18" charset="0"/>
              <a:buNone/>
            </a:pPr>
            <a:r>
              <a:rPr lang="fr-CA" b="1" dirty="0" smtClean="0"/>
              <a:t>Comment interpréter cette déclaration?</a:t>
            </a:r>
          </a:p>
          <a:p>
            <a:pPr marL="96838" indent="0">
              <a:lnSpc>
                <a:spcPct val="90000"/>
              </a:lnSpc>
              <a:buFont typeface="Georgia" pitchFamily="18" charset="0"/>
              <a:buNone/>
            </a:pPr>
            <a:r>
              <a:rPr lang="fr-CA" sz="2400" dirty="0" smtClean="0"/>
              <a:t>(choix de réponses diapo suivante)</a:t>
            </a:r>
          </a:p>
        </p:txBody>
      </p:sp>
      <p:sp>
        <p:nvSpPr>
          <p:cNvPr id="2" name="Espace réservé du pied de page 1"/>
          <p:cNvSpPr>
            <a:spLocks noGrp="1"/>
          </p:cNvSpPr>
          <p:nvPr>
            <p:ph type="ftr" sz="quarter" idx="11"/>
          </p:nvPr>
        </p:nvSpPr>
        <p:spPr>
          <a:xfrm>
            <a:off x="5257800" y="612775"/>
            <a:ext cx="2194520"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11</a:t>
            </a:fld>
            <a:endParaRPr lang="fr-FR" dirty="0"/>
          </a:p>
        </p:txBody>
      </p:sp>
    </p:spTree>
    <p:extLst>
      <p:ext uri="{BB962C8B-B14F-4D97-AF65-F5344CB8AC3E}">
        <p14:creationId xmlns:p14="http://schemas.microsoft.com/office/powerpoint/2010/main" val="36562517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p:cNvSpPr>
          <p:nvPr>
            <p:ph type="title"/>
          </p:nvPr>
        </p:nvSpPr>
        <p:spPr>
          <a:xfrm>
            <a:off x="457200" y="1143000"/>
            <a:ext cx="8229600" cy="1143000"/>
          </a:xfrm>
        </p:spPr>
        <p:txBody>
          <a:bodyPr/>
          <a:lstStyle/>
          <a:p>
            <a:r>
              <a:rPr lang="fr-CA" sz="3200" b="1" dirty="0" smtClean="0">
                <a:solidFill>
                  <a:schemeClr val="tx1"/>
                </a:solidFill>
              </a:rPr>
              <a:t>Parmi les affirmations qui suivent, laquelle est juste?</a:t>
            </a:r>
          </a:p>
        </p:txBody>
      </p:sp>
      <p:sp>
        <p:nvSpPr>
          <p:cNvPr id="149507" name="Rectangle 3"/>
          <p:cNvSpPr>
            <a:spLocks noGrp="1"/>
          </p:cNvSpPr>
          <p:nvPr>
            <p:ph type="body" idx="1"/>
          </p:nvPr>
        </p:nvSpPr>
        <p:spPr>
          <a:xfrm>
            <a:off x="304800" y="2514600"/>
            <a:ext cx="8229600" cy="3733800"/>
          </a:xfrm>
        </p:spPr>
        <p:txBody>
          <a:bodyPr/>
          <a:lstStyle/>
          <a:p>
            <a:pPr marL="642938" indent="-533400">
              <a:lnSpc>
                <a:spcPct val="90000"/>
              </a:lnSpc>
              <a:buFont typeface="Trebuchet MS" pitchFamily="34" charset="0"/>
              <a:buAutoNum type="alphaLcParenR"/>
            </a:pPr>
            <a:r>
              <a:rPr lang="fr-CA" dirty="0" smtClean="0"/>
              <a:t>L’auditeur n’a procédé ni à un examen, ni à un audit des états intermédiaires du Fonds.</a:t>
            </a:r>
          </a:p>
          <a:p>
            <a:pPr marL="642938" indent="-533400">
              <a:lnSpc>
                <a:spcPct val="90000"/>
              </a:lnSpc>
              <a:buFont typeface="Trebuchet MS" pitchFamily="34" charset="0"/>
              <a:buAutoNum type="alphaLcParenR"/>
            </a:pPr>
            <a:r>
              <a:rPr lang="fr-FR" dirty="0" smtClean="0"/>
              <a:t>Il est obligatoire de faire cette mention pour éviter que les utilisateurs accordent plus de crédibilité que nécessaire au rapport semestriel.</a:t>
            </a:r>
          </a:p>
          <a:p>
            <a:pPr marL="642938" indent="-533400">
              <a:lnSpc>
                <a:spcPct val="90000"/>
              </a:lnSpc>
              <a:buFont typeface="Trebuchet MS" pitchFamily="34" charset="0"/>
              <a:buAutoNum type="alphaLcParenR"/>
            </a:pPr>
            <a:r>
              <a:rPr lang="fr-FR" dirty="0" smtClean="0"/>
              <a:t>Les investisseurs auront accès à des EF annuels qui, eux, seront audités.</a:t>
            </a:r>
          </a:p>
          <a:p>
            <a:pPr marL="642938" indent="-533400">
              <a:lnSpc>
                <a:spcPct val="90000"/>
              </a:lnSpc>
              <a:buFont typeface="Trebuchet MS" pitchFamily="34" charset="0"/>
              <a:buAutoNum type="alphaLcParenR"/>
            </a:pPr>
            <a:r>
              <a:rPr lang="fr-FR" dirty="0" smtClean="0"/>
              <a:t>Toutes ces réponses.</a:t>
            </a:r>
            <a:endParaRPr lang="fr-CA" dirty="0" smtClean="0"/>
          </a:p>
        </p:txBody>
      </p:sp>
      <p:sp>
        <p:nvSpPr>
          <p:cNvPr id="2" name="Espace réservé du pied de page 1"/>
          <p:cNvSpPr>
            <a:spLocks noGrp="1"/>
          </p:cNvSpPr>
          <p:nvPr>
            <p:ph type="ftr" sz="quarter" idx="11"/>
          </p:nvPr>
        </p:nvSpPr>
        <p:spPr>
          <a:xfrm>
            <a:off x="5257800" y="612775"/>
            <a:ext cx="2338536"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12</a:t>
            </a:fld>
            <a:endParaRPr lang="fr-FR" dirty="0"/>
          </a:p>
        </p:txBody>
      </p:sp>
    </p:spTree>
    <p:extLst>
      <p:ext uri="{BB962C8B-B14F-4D97-AF65-F5344CB8AC3E}">
        <p14:creationId xmlns:p14="http://schemas.microsoft.com/office/powerpoint/2010/main" val="1430362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p:cNvSpPr>
          <p:nvPr>
            <p:ph type="title"/>
          </p:nvPr>
        </p:nvSpPr>
        <p:spPr/>
        <p:txBody>
          <a:bodyPr/>
          <a:lstStyle/>
          <a:p>
            <a:pPr marL="292100" indent="-292100"/>
            <a:r>
              <a:rPr lang="fr-CA" sz="3200" b="1" dirty="0" smtClean="0">
                <a:solidFill>
                  <a:schemeClr val="tx1"/>
                </a:solidFill>
              </a:rPr>
              <a:t>10.Discutez.</a:t>
            </a:r>
          </a:p>
        </p:txBody>
      </p:sp>
      <p:sp>
        <p:nvSpPr>
          <p:cNvPr id="151555" name="Rectangle 3"/>
          <p:cNvSpPr>
            <a:spLocks noGrp="1"/>
          </p:cNvSpPr>
          <p:nvPr>
            <p:ph type="body" idx="1"/>
          </p:nvPr>
        </p:nvSpPr>
        <p:spPr/>
        <p:txBody>
          <a:bodyPr/>
          <a:lstStyle/>
          <a:p>
            <a:pPr marL="96838" indent="12700">
              <a:buFont typeface="Georgia" pitchFamily="18" charset="0"/>
              <a:buNone/>
            </a:pPr>
            <a:endParaRPr lang="fr-CA" dirty="0" smtClean="0"/>
          </a:p>
          <a:p>
            <a:pPr marL="96838" indent="12700">
              <a:buFont typeface="Georgia" pitchFamily="18" charset="0"/>
              <a:buNone/>
            </a:pPr>
            <a:r>
              <a:rPr lang="fr-CA" dirty="0" smtClean="0"/>
              <a:t>Dans la séance 3, on a abordé la question de la gestion du résultat. Un examen intermédiaire pourrait contribuer à réduire les régularisations inattendues pendant le quatrième trimestre.</a:t>
            </a:r>
          </a:p>
        </p:txBody>
      </p:sp>
      <p:sp>
        <p:nvSpPr>
          <p:cNvPr id="2" name="Espace réservé du pied de page 1"/>
          <p:cNvSpPr>
            <a:spLocks noGrp="1"/>
          </p:cNvSpPr>
          <p:nvPr>
            <p:ph type="ftr" sz="quarter" idx="11"/>
          </p:nvPr>
        </p:nvSpPr>
        <p:spPr>
          <a:xfrm>
            <a:off x="5257800" y="612775"/>
            <a:ext cx="2122512" cy="457200"/>
          </a:xfrm>
        </p:spPr>
        <p:txBody>
          <a:bodyPr/>
          <a:lstStyle/>
          <a:p>
            <a:pPr>
              <a:defRPr/>
            </a:pPr>
            <a:r>
              <a:rPr lang="fr-FR" dirty="0" smtClean="0">
                <a:solidFill>
                  <a:srgbClr val="E40059"/>
                </a:solidFill>
              </a:rPr>
              <a:t>© 2014,  Sylviane Beauregard</a:t>
            </a:r>
            <a:endParaRPr lang="fr-FR" dirty="0">
              <a:solidFill>
                <a:srgbClr val="E40059"/>
              </a:solidFill>
            </a:endParaRPr>
          </a:p>
        </p:txBody>
      </p:sp>
      <p:sp>
        <p:nvSpPr>
          <p:cNvPr id="3" name="Espace réservé du numéro de diapositive 2"/>
          <p:cNvSpPr>
            <a:spLocks noGrp="1"/>
          </p:cNvSpPr>
          <p:nvPr>
            <p:ph type="sldNum" sz="quarter" idx="12"/>
          </p:nvPr>
        </p:nvSpPr>
        <p:spPr/>
        <p:txBody>
          <a:bodyPr/>
          <a:lstStyle/>
          <a:p>
            <a:pPr>
              <a:defRPr/>
            </a:pPr>
            <a:fld id="{E38B9BED-A9D7-4D40-A955-6C45E62E8898}" type="slidenum">
              <a:rPr lang="fr-FR" smtClean="0"/>
              <a:pPr>
                <a:defRPr/>
              </a:pPr>
              <a:t>13</a:t>
            </a:fld>
            <a:endParaRPr lang="fr-FR" dirty="0"/>
          </a:p>
        </p:txBody>
      </p:sp>
    </p:spTree>
    <p:extLst>
      <p:ext uri="{BB962C8B-B14F-4D97-AF65-F5344CB8AC3E}">
        <p14:creationId xmlns:p14="http://schemas.microsoft.com/office/powerpoint/2010/main" val="262287075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i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Urbai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i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358</TotalTime>
  <Words>1208</Words>
  <Application>Microsoft Office PowerPoint</Application>
  <PresentationFormat>Affichage à l'écran (4:3)</PresentationFormat>
  <Paragraphs>153</Paragraphs>
  <Slides>13</Slides>
  <Notes>13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13</vt:i4>
      </vt:variant>
    </vt:vector>
  </HeadingPairs>
  <TitlesOfParts>
    <vt:vector size="20" baseType="lpstr">
      <vt:lpstr>Arial</vt:lpstr>
      <vt:lpstr>Calibri</vt:lpstr>
      <vt:lpstr>Georgia</vt:lpstr>
      <vt:lpstr>Times New Roman</vt:lpstr>
      <vt:lpstr>Trebuchet MS</vt:lpstr>
      <vt:lpstr>Wingdings 2</vt:lpstr>
      <vt:lpstr>Urbain</vt:lpstr>
      <vt:lpstr>Examen des états financiers intermédiaires par l'auditeur</vt:lpstr>
      <vt:lpstr>Vrai ou faux? Justifiez votre réponse.</vt:lpstr>
      <vt:lpstr>2.Vrai ou faux? Justifiez votre réponse en vous référant au Manuel de l’ICCA.</vt:lpstr>
      <vt:lpstr>3.Vrai ou faux? Justifiez votre réponse en vous appuyant sur le Manuel de l’ICCA.</vt:lpstr>
      <vt:lpstr>Quand les EF n’ont pas fait l’objet d’un examen intermédiaire </vt:lpstr>
      <vt:lpstr>4.Laquelle des procédures suivantes est normalement appliquée dans le cadre d’un examen des EF intermédiaires? Justifiez votre choix</vt:lpstr>
      <vt:lpstr>5.Vrai ou faux? Justifiez votre réponse.</vt:lpstr>
      <vt:lpstr>6. Normalement, l'auditeur de l'entité :</vt:lpstr>
      <vt:lpstr>7.Vrai ou Faux? Justifiez votre réponse.</vt:lpstr>
      <vt:lpstr>8.Vrai ou faux?  Justifiez votre réponse en vous appuyant sur le Manuel de l’ICCA.</vt:lpstr>
      <vt:lpstr>9.Cette déclaration apparaît sur la première page du rapport semestriel du Fonds Fidelity Répartition d’actifs canadiens</vt:lpstr>
      <vt:lpstr>Parmi les affirmations qui suivent, laquelle est juste?</vt:lpstr>
      <vt:lpstr>10.Discutez.</vt:lpstr>
    </vt:vector>
  </TitlesOfParts>
  <Company>HEC Montréal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Examen des états financiers intermédiaires par l'auditeur</dc:title>
  <dc:creator>Utilisateur</dc:creator>
  <cp:lastModifiedBy>louise overbeek</cp:lastModifiedBy>
  <cp:revision>40</cp:revision>
  <cp:lastPrinted>2014-06-18T18:19:27Z</cp:lastPrinted>
  <dcterms:created xsi:type="dcterms:W3CDTF">2014-06-18T17:55:22Z</dcterms:created>
  <dcterms:modified xsi:type="dcterms:W3CDTF">2016-05-16T12:17:26Z</dcterms:modified>
</cp:coreProperties>
</file>