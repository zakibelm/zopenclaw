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handoutMasterIdLst>
    <p:handoutMasterId r:id="rId32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2" r:id="rId18"/>
    <p:sldId id="273" r:id="rId19"/>
    <p:sldId id="274" r:id="rId20"/>
    <p:sldId id="283" r:id="rId21"/>
    <p:sldId id="284" r:id="rId22"/>
    <p:sldId id="275" r:id="rId23"/>
    <p:sldId id="276" r:id="rId24"/>
    <p:sldId id="277" r:id="rId25"/>
    <p:sldId id="278" r:id="rId26"/>
    <p:sldId id="279" r:id="rId27"/>
    <p:sldId id="285" r:id="rId28"/>
    <p:sldId id="280" r:id="rId29"/>
    <p:sldId id="281" r:id="rId30"/>
  </p:sldIdLst>
  <p:sldSz cx="9144000" cy="6858000" type="screen4x3"/>
  <p:notesSz cx="6858000" cy="9296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89718" autoAdjust="0"/>
  </p:normalViewPr>
  <p:slideViewPr>
    <p:cSldViewPr snapToGrid="0">
      <p:cViewPr varScale="1">
        <p:scale>
          <a:sx n="57" d="100"/>
          <a:sy n="57" d="100"/>
        </p:scale>
        <p:origin x="14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81" d="100"/>
          <a:sy n="81" d="100"/>
        </p:scale>
        <p:origin x="1340" y="-5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2FE767-F198-4189-9831-018A3C529AE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C1DE1AC-986D-4EA9-825A-D08D5584AD9C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CA" sz="2600" b="1" dirty="0"/>
            <a:t>1. Identifier le principal  décideur opérationnel  (IFRS 8-5b)</a:t>
          </a:r>
        </a:p>
      </dgm:t>
    </dgm:pt>
    <dgm:pt modelId="{F3837E95-F8D5-4B8A-B753-945ACC143941}" type="parTrans" cxnId="{1998DB66-FEF4-4FCB-923A-494E50B3D0BC}">
      <dgm:prSet/>
      <dgm:spPr/>
      <dgm:t>
        <a:bodyPr/>
        <a:lstStyle/>
        <a:p>
          <a:endParaRPr lang="fr-CA"/>
        </a:p>
      </dgm:t>
    </dgm:pt>
    <dgm:pt modelId="{42852D5E-B59A-4260-B9A9-8C6D592511F7}" type="sibTrans" cxnId="{1998DB66-FEF4-4FCB-923A-494E50B3D0BC}">
      <dgm:prSet/>
      <dgm:spPr/>
      <dgm:t>
        <a:bodyPr/>
        <a:lstStyle/>
        <a:p>
          <a:endParaRPr lang="fr-CA"/>
        </a:p>
      </dgm:t>
    </dgm:pt>
    <dgm:pt modelId="{4BB2D1DC-A539-4C40-AF63-23C77114170F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pPr algn="ctr"/>
          <a:r>
            <a:rPr lang="fr-CA" sz="3200" dirty="0"/>
            <a:t>2. </a:t>
          </a:r>
          <a:r>
            <a:rPr lang="fr-CA" sz="2400" dirty="0"/>
            <a:t>Identifier les secteurs opérationnels</a:t>
          </a:r>
        </a:p>
      </dgm:t>
    </dgm:pt>
    <dgm:pt modelId="{81096B3B-A3E7-42BC-A84C-908F715D864F}" type="parTrans" cxnId="{3D20FD44-691A-4C22-96E8-4E297B66F683}">
      <dgm:prSet/>
      <dgm:spPr/>
      <dgm:t>
        <a:bodyPr/>
        <a:lstStyle/>
        <a:p>
          <a:endParaRPr lang="fr-CA"/>
        </a:p>
      </dgm:t>
    </dgm:pt>
    <dgm:pt modelId="{E50C1C2E-DA46-4437-9E54-33EE4D2389C5}" type="sibTrans" cxnId="{3D20FD44-691A-4C22-96E8-4E297B66F683}">
      <dgm:prSet/>
      <dgm:spPr/>
      <dgm:t>
        <a:bodyPr/>
        <a:lstStyle/>
        <a:p>
          <a:endParaRPr lang="fr-CA"/>
        </a:p>
      </dgm:t>
    </dgm:pt>
    <dgm:pt modelId="{C1585521-E2A2-461A-80F7-3CE1B4741EA5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3. </a:t>
          </a:r>
          <a:r>
            <a:rPr lang="fr-CA" sz="2400" dirty="0"/>
            <a:t>Regrouper les secteurs opérationnels similaires</a:t>
          </a:r>
        </a:p>
      </dgm:t>
    </dgm:pt>
    <dgm:pt modelId="{DF142EBF-6810-4D7A-80BB-9142E6C4B506}" type="parTrans" cxnId="{30742767-B92B-4030-A7F2-1D74D447AE1E}">
      <dgm:prSet/>
      <dgm:spPr/>
      <dgm:t>
        <a:bodyPr/>
        <a:lstStyle/>
        <a:p>
          <a:endParaRPr lang="fr-CA"/>
        </a:p>
      </dgm:t>
    </dgm:pt>
    <dgm:pt modelId="{3909CC20-16CA-4A35-8534-A922F4661921}" type="sibTrans" cxnId="{30742767-B92B-4030-A7F2-1D74D447AE1E}">
      <dgm:prSet/>
      <dgm:spPr/>
      <dgm:t>
        <a:bodyPr/>
        <a:lstStyle/>
        <a:p>
          <a:endParaRPr lang="fr-CA"/>
        </a:p>
      </dgm:t>
    </dgm:pt>
    <dgm:pt modelId="{50B2F1FB-FCFF-4D0F-B6FD-EDC2F5F1EABD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4. </a:t>
          </a:r>
          <a:r>
            <a:rPr lang="fr-CA" sz="2400" dirty="0"/>
            <a:t>Établir quels sont les secteurs à présenter</a:t>
          </a:r>
        </a:p>
      </dgm:t>
    </dgm:pt>
    <dgm:pt modelId="{08DF4257-C8DF-41D7-9033-B7E547848AAA}" type="parTrans" cxnId="{2C586D05-F5BB-4CFC-9CF6-80B5D22CD555}">
      <dgm:prSet/>
      <dgm:spPr/>
      <dgm:t>
        <a:bodyPr/>
        <a:lstStyle/>
        <a:p>
          <a:endParaRPr lang="fr-CA"/>
        </a:p>
      </dgm:t>
    </dgm:pt>
    <dgm:pt modelId="{CA3309FF-9711-4DB6-AF90-827770BC1EEA}" type="sibTrans" cxnId="{2C586D05-F5BB-4CFC-9CF6-80B5D22CD555}">
      <dgm:prSet/>
      <dgm:spPr/>
      <dgm:t>
        <a:bodyPr/>
        <a:lstStyle/>
        <a:p>
          <a:endParaRPr lang="fr-CA"/>
        </a:p>
      </dgm:t>
    </dgm:pt>
    <dgm:pt modelId="{EF083D2A-4AE8-4C7E-9ECA-C12A6A5BE161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5. </a:t>
          </a:r>
          <a:r>
            <a:rPr lang="fr-CA" sz="2400" dirty="0"/>
            <a:t>Présenter l’information </a:t>
          </a:r>
        </a:p>
      </dgm:t>
    </dgm:pt>
    <dgm:pt modelId="{33D9D847-F4A2-4E07-A510-35675AFCC464}" type="parTrans" cxnId="{054F850A-EC11-4DB1-A927-62D6A09AE13D}">
      <dgm:prSet/>
      <dgm:spPr/>
      <dgm:t>
        <a:bodyPr/>
        <a:lstStyle/>
        <a:p>
          <a:endParaRPr lang="fr-CA"/>
        </a:p>
      </dgm:t>
    </dgm:pt>
    <dgm:pt modelId="{A3624A86-4B98-4563-BCD1-7DA269F270C1}" type="sibTrans" cxnId="{054F850A-EC11-4DB1-A927-62D6A09AE13D}">
      <dgm:prSet/>
      <dgm:spPr/>
      <dgm:t>
        <a:bodyPr/>
        <a:lstStyle/>
        <a:p>
          <a:endParaRPr lang="fr-CA"/>
        </a:p>
      </dgm:t>
    </dgm:pt>
    <dgm:pt modelId="{1EE84734-203A-4477-8B40-52A314C0270C}" type="pres">
      <dgm:prSet presAssocID="{982FE767-F198-4189-9831-018A3C529AEA}" presName="Name0" presStyleCnt="0">
        <dgm:presLayoutVars>
          <dgm:dir/>
          <dgm:animLvl val="lvl"/>
          <dgm:resizeHandles val="exact"/>
        </dgm:presLayoutVars>
      </dgm:prSet>
      <dgm:spPr/>
    </dgm:pt>
    <dgm:pt modelId="{1A8DD73E-9F0C-4E61-AF89-AEF8F5CD9732}" type="pres">
      <dgm:prSet presAssocID="{EF083D2A-4AE8-4C7E-9ECA-C12A6A5BE161}" presName="boxAndChildren" presStyleCnt="0"/>
      <dgm:spPr/>
    </dgm:pt>
    <dgm:pt modelId="{EA2C732F-F26D-40C5-9778-9CF62D454A6E}" type="pres">
      <dgm:prSet presAssocID="{EF083D2A-4AE8-4C7E-9ECA-C12A6A5BE161}" presName="parentTextBox" presStyleLbl="node1" presStyleIdx="0" presStyleCnt="5"/>
      <dgm:spPr/>
    </dgm:pt>
    <dgm:pt modelId="{0667D24D-842D-4641-899E-8303079AC825}" type="pres">
      <dgm:prSet presAssocID="{CA3309FF-9711-4DB6-AF90-827770BC1EEA}" presName="sp" presStyleCnt="0"/>
      <dgm:spPr/>
    </dgm:pt>
    <dgm:pt modelId="{2E3AE261-2984-49FF-AD5E-5DD837A63E27}" type="pres">
      <dgm:prSet presAssocID="{50B2F1FB-FCFF-4D0F-B6FD-EDC2F5F1EABD}" presName="arrowAndChildren" presStyleCnt="0"/>
      <dgm:spPr/>
    </dgm:pt>
    <dgm:pt modelId="{7253A5DE-E948-4A37-814F-880B83762E7C}" type="pres">
      <dgm:prSet presAssocID="{50B2F1FB-FCFF-4D0F-B6FD-EDC2F5F1EABD}" presName="parentTextArrow" presStyleLbl="node1" presStyleIdx="1" presStyleCnt="5"/>
      <dgm:spPr/>
    </dgm:pt>
    <dgm:pt modelId="{B447BE44-AE39-45E8-94C1-8478831E63C5}" type="pres">
      <dgm:prSet presAssocID="{3909CC20-16CA-4A35-8534-A922F4661921}" presName="sp" presStyleCnt="0"/>
      <dgm:spPr/>
    </dgm:pt>
    <dgm:pt modelId="{CDC0BB7C-7855-44EF-BBBE-E94F4D79B869}" type="pres">
      <dgm:prSet presAssocID="{C1585521-E2A2-461A-80F7-3CE1B4741EA5}" presName="arrowAndChildren" presStyleCnt="0"/>
      <dgm:spPr/>
    </dgm:pt>
    <dgm:pt modelId="{86B7F235-6714-445B-B484-0B6A6B5E02BB}" type="pres">
      <dgm:prSet presAssocID="{C1585521-E2A2-461A-80F7-3CE1B4741EA5}" presName="parentTextArrow" presStyleLbl="node1" presStyleIdx="2" presStyleCnt="5"/>
      <dgm:spPr/>
    </dgm:pt>
    <dgm:pt modelId="{C33F5379-C18E-4ED4-A04F-DC65D87B72F7}" type="pres">
      <dgm:prSet presAssocID="{E50C1C2E-DA46-4437-9E54-33EE4D2389C5}" presName="sp" presStyleCnt="0"/>
      <dgm:spPr/>
    </dgm:pt>
    <dgm:pt modelId="{6687DE27-DE71-40B2-9711-E20FFCDDF873}" type="pres">
      <dgm:prSet presAssocID="{4BB2D1DC-A539-4C40-AF63-23C77114170F}" presName="arrowAndChildren" presStyleCnt="0"/>
      <dgm:spPr/>
    </dgm:pt>
    <dgm:pt modelId="{713D4D5E-B5B4-492D-B0C7-94DC1481F3A3}" type="pres">
      <dgm:prSet presAssocID="{4BB2D1DC-A539-4C40-AF63-23C77114170F}" presName="parentTextArrow" presStyleLbl="node1" presStyleIdx="3" presStyleCnt="5"/>
      <dgm:spPr/>
    </dgm:pt>
    <dgm:pt modelId="{1663490C-C778-4797-AFC8-5D4F555568C2}" type="pres">
      <dgm:prSet presAssocID="{42852D5E-B59A-4260-B9A9-8C6D592511F7}" presName="sp" presStyleCnt="0"/>
      <dgm:spPr/>
    </dgm:pt>
    <dgm:pt modelId="{FE14E78B-4E49-4873-A127-A3A9AD066944}" type="pres">
      <dgm:prSet presAssocID="{DC1DE1AC-986D-4EA9-825A-D08D5584AD9C}" presName="arrowAndChildren" presStyleCnt="0"/>
      <dgm:spPr/>
    </dgm:pt>
    <dgm:pt modelId="{B41D2B95-6990-40F8-ACA7-38313F002970}" type="pres">
      <dgm:prSet presAssocID="{DC1DE1AC-986D-4EA9-825A-D08D5584AD9C}" presName="parentTextArrow" presStyleLbl="node1" presStyleIdx="4" presStyleCnt="5"/>
      <dgm:spPr/>
    </dgm:pt>
  </dgm:ptLst>
  <dgm:cxnLst>
    <dgm:cxn modelId="{2C586D05-F5BB-4CFC-9CF6-80B5D22CD555}" srcId="{982FE767-F198-4189-9831-018A3C529AEA}" destId="{50B2F1FB-FCFF-4D0F-B6FD-EDC2F5F1EABD}" srcOrd="3" destOrd="0" parTransId="{08DF4257-C8DF-41D7-9033-B7E547848AAA}" sibTransId="{CA3309FF-9711-4DB6-AF90-827770BC1EEA}"/>
    <dgm:cxn modelId="{054F850A-EC11-4DB1-A927-62D6A09AE13D}" srcId="{982FE767-F198-4189-9831-018A3C529AEA}" destId="{EF083D2A-4AE8-4C7E-9ECA-C12A6A5BE161}" srcOrd="4" destOrd="0" parTransId="{33D9D847-F4A2-4E07-A510-35675AFCC464}" sibTransId="{A3624A86-4B98-4563-BCD1-7DA269F270C1}"/>
    <dgm:cxn modelId="{8391C130-DD22-47FE-8205-A897B3D3A94B}" type="presOf" srcId="{982FE767-F198-4189-9831-018A3C529AEA}" destId="{1EE84734-203A-4477-8B40-52A314C0270C}" srcOrd="0" destOrd="0" presId="urn:microsoft.com/office/officeart/2005/8/layout/process4"/>
    <dgm:cxn modelId="{509B7D38-4431-4E6C-9D53-D43B2F2AE9E3}" type="presOf" srcId="{50B2F1FB-FCFF-4D0F-B6FD-EDC2F5F1EABD}" destId="{7253A5DE-E948-4A37-814F-880B83762E7C}" srcOrd="0" destOrd="0" presId="urn:microsoft.com/office/officeart/2005/8/layout/process4"/>
    <dgm:cxn modelId="{3D20FD44-691A-4C22-96E8-4E297B66F683}" srcId="{982FE767-F198-4189-9831-018A3C529AEA}" destId="{4BB2D1DC-A539-4C40-AF63-23C77114170F}" srcOrd="1" destOrd="0" parTransId="{81096B3B-A3E7-42BC-A84C-908F715D864F}" sibTransId="{E50C1C2E-DA46-4437-9E54-33EE4D2389C5}"/>
    <dgm:cxn modelId="{1998DB66-FEF4-4FCB-923A-494E50B3D0BC}" srcId="{982FE767-F198-4189-9831-018A3C529AEA}" destId="{DC1DE1AC-986D-4EA9-825A-D08D5584AD9C}" srcOrd="0" destOrd="0" parTransId="{F3837E95-F8D5-4B8A-B753-945ACC143941}" sibTransId="{42852D5E-B59A-4260-B9A9-8C6D592511F7}"/>
    <dgm:cxn modelId="{30742767-B92B-4030-A7F2-1D74D447AE1E}" srcId="{982FE767-F198-4189-9831-018A3C529AEA}" destId="{C1585521-E2A2-461A-80F7-3CE1B4741EA5}" srcOrd="2" destOrd="0" parTransId="{DF142EBF-6810-4D7A-80BB-9142E6C4B506}" sibTransId="{3909CC20-16CA-4A35-8534-A922F4661921}"/>
    <dgm:cxn modelId="{C63EF969-BFE1-4FD7-BF51-FF955488413B}" type="presOf" srcId="{EF083D2A-4AE8-4C7E-9ECA-C12A6A5BE161}" destId="{EA2C732F-F26D-40C5-9778-9CF62D454A6E}" srcOrd="0" destOrd="0" presId="urn:microsoft.com/office/officeart/2005/8/layout/process4"/>
    <dgm:cxn modelId="{97F32D6D-1654-4560-87D6-C3F98F63748B}" type="presOf" srcId="{4BB2D1DC-A539-4C40-AF63-23C77114170F}" destId="{713D4D5E-B5B4-492D-B0C7-94DC1481F3A3}" srcOrd="0" destOrd="0" presId="urn:microsoft.com/office/officeart/2005/8/layout/process4"/>
    <dgm:cxn modelId="{E0FD8C4D-F27C-4BEF-8FD8-5EB20288D7E4}" type="presOf" srcId="{DC1DE1AC-986D-4EA9-825A-D08D5584AD9C}" destId="{B41D2B95-6990-40F8-ACA7-38313F002970}" srcOrd="0" destOrd="0" presId="urn:microsoft.com/office/officeart/2005/8/layout/process4"/>
    <dgm:cxn modelId="{C3ACD7BB-2F32-45A2-A2C7-65F7416A310A}" type="presOf" srcId="{C1585521-E2A2-461A-80F7-3CE1B4741EA5}" destId="{86B7F235-6714-445B-B484-0B6A6B5E02BB}" srcOrd="0" destOrd="0" presId="urn:microsoft.com/office/officeart/2005/8/layout/process4"/>
    <dgm:cxn modelId="{9D5BC0EC-D788-402C-9717-E0B90CA47819}" type="presParOf" srcId="{1EE84734-203A-4477-8B40-52A314C0270C}" destId="{1A8DD73E-9F0C-4E61-AF89-AEF8F5CD9732}" srcOrd="0" destOrd="0" presId="urn:microsoft.com/office/officeart/2005/8/layout/process4"/>
    <dgm:cxn modelId="{0E1FC17A-07CF-4081-8FCE-7A278301F3A1}" type="presParOf" srcId="{1A8DD73E-9F0C-4E61-AF89-AEF8F5CD9732}" destId="{EA2C732F-F26D-40C5-9778-9CF62D454A6E}" srcOrd="0" destOrd="0" presId="urn:microsoft.com/office/officeart/2005/8/layout/process4"/>
    <dgm:cxn modelId="{55A8DCA4-9CC9-4462-BE06-2D586A7020C6}" type="presParOf" srcId="{1EE84734-203A-4477-8B40-52A314C0270C}" destId="{0667D24D-842D-4641-899E-8303079AC825}" srcOrd="1" destOrd="0" presId="urn:microsoft.com/office/officeart/2005/8/layout/process4"/>
    <dgm:cxn modelId="{FA591492-7918-4370-8E29-7AD0C6FDC400}" type="presParOf" srcId="{1EE84734-203A-4477-8B40-52A314C0270C}" destId="{2E3AE261-2984-49FF-AD5E-5DD837A63E27}" srcOrd="2" destOrd="0" presId="urn:microsoft.com/office/officeart/2005/8/layout/process4"/>
    <dgm:cxn modelId="{C9C7EFDE-91F2-4DC6-B50D-5C8A6AEDC746}" type="presParOf" srcId="{2E3AE261-2984-49FF-AD5E-5DD837A63E27}" destId="{7253A5DE-E948-4A37-814F-880B83762E7C}" srcOrd="0" destOrd="0" presId="urn:microsoft.com/office/officeart/2005/8/layout/process4"/>
    <dgm:cxn modelId="{9657DBE0-3CC8-4E27-BA0C-286CA256AA24}" type="presParOf" srcId="{1EE84734-203A-4477-8B40-52A314C0270C}" destId="{B447BE44-AE39-45E8-94C1-8478831E63C5}" srcOrd="3" destOrd="0" presId="urn:microsoft.com/office/officeart/2005/8/layout/process4"/>
    <dgm:cxn modelId="{2CC4BE81-8B61-45E2-963D-D9AC0B84B7DD}" type="presParOf" srcId="{1EE84734-203A-4477-8B40-52A314C0270C}" destId="{CDC0BB7C-7855-44EF-BBBE-E94F4D79B869}" srcOrd="4" destOrd="0" presId="urn:microsoft.com/office/officeart/2005/8/layout/process4"/>
    <dgm:cxn modelId="{7C8284AB-7484-4D9C-BE86-27C58B8896F8}" type="presParOf" srcId="{CDC0BB7C-7855-44EF-BBBE-E94F4D79B869}" destId="{86B7F235-6714-445B-B484-0B6A6B5E02BB}" srcOrd="0" destOrd="0" presId="urn:microsoft.com/office/officeart/2005/8/layout/process4"/>
    <dgm:cxn modelId="{219F6D72-EB74-4BD2-8BC0-967A0F184A7B}" type="presParOf" srcId="{1EE84734-203A-4477-8B40-52A314C0270C}" destId="{C33F5379-C18E-4ED4-A04F-DC65D87B72F7}" srcOrd="5" destOrd="0" presId="urn:microsoft.com/office/officeart/2005/8/layout/process4"/>
    <dgm:cxn modelId="{173B1651-F98B-4306-9628-05107EBFAD72}" type="presParOf" srcId="{1EE84734-203A-4477-8B40-52A314C0270C}" destId="{6687DE27-DE71-40B2-9711-E20FFCDDF873}" srcOrd="6" destOrd="0" presId="urn:microsoft.com/office/officeart/2005/8/layout/process4"/>
    <dgm:cxn modelId="{BCE335EA-17A8-4FBD-8F17-3FBFA02687A9}" type="presParOf" srcId="{6687DE27-DE71-40B2-9711-E20FFCDDF873}" destId="{713D4D5E-B5B4-492D-B0C7-94DC1481F3A3}" srcOrd="0" destOrd="0" presId="urn:microsoft.com/office/officeart/2005/8/layout/process4"/>
    <dgm:cxn modelId="{3681691B-B9C1-4EF4-AA20-E60916E5CDDE}" type="presParOf" srcId="{1EE84734-203A-4477-8B40-52A314C0270C}" destId="{1663490C-C778-4797-AFC8-5D4F555568C2}" srcOrd="7" destOrd="0" presId="urn:microsoft.com/office/officeart/2005/8/layout/process4"/>
    <dgm:cxn modelId="{B03839A2-326D-4848-BC32-FFC6E862D3F6}" type="presParOf" srcId="{1EE84734-203A-4477-8B40-52A314C0270C}" destId="{FE14E78B-4E49-4873-A127-A3A9AD066944}" srcOrd="8" destOrd="0" presId="urn:microsoft.com/office/officeart/2005/8/layout/process4"/>
    <dgm:cxn modelId="{600BA8F7-BF9C-461E-A822-ADB3603A4AC0}" type="presParOf" srcId="{FE14E78B-4E49-4873-A127-A3A9AD066944}" destId="{B41D2B95-6990-40F8-ACA7-38313F0029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2FE767-F198-4189-9831-018A3C529AE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C1DE1AC-986D-4EA9-825A-D08D5584AD9C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1</a:t>
          </a:r>
          <a:r>
            <a:rPr lang="fr-CA" sz="2300" dirty="0"/>
            <a:t>. Identifier le principal  décideur opérationnel  (IFRS 8-5b)</a:t>
          </a:r>
        </a:p>
      </dgm:t>
    </dgm:pt>
    <dgm:pt modelId="{F3837E95-F8D5-4B8A-B753-945ACC143941}" type="parTrans" cxnId="{1998DB66-FEF4-4FCB-923A-494E50B3D0BC}">
      <dgm:prSet/>
      <dgm:spPr/>
      <dgm:t>
        <a:bodyPr/>
        <a:lstStyle/>
        <a:p>
          <a:endParaRPr lang="fr-CA"/>
        </a:p>
      </dgm:t>
    </dgm:pt>
    <dgm:pt modelId="{42852D5E-B59A-4260-B9A9-8C6D592511F7}" type="sibTrans" cxnId="{1998DB66-FEF4-4FCB-923A-494E50B3D0BC}">
      <dgm:prSet/>
      <dgm:spPr/>
      <dgm:t>
        <a:bodyPr/>
        <a:lstStyle/>
        <a:p>
          <a:endParaRPr lang="fr-CA"/>
        </a:p>
      </dgm:t>
    </dgm:pt>
    <dgm:pt modelId="{4BB2D1DC-A539-4C40-AF63-23C77114170F}">
      <dgm:prSet phldrT="[Texte]" custT="1"/>
      <dgm:spPr>
        <a:solidFill>
          <a:schemeClr val="accent2"/>
        </a:solidFill>
      </dgm:spPr>
      <dgm:t>
        <a:bodyPr/>
        <a:lstStyle/>
        <a:p>
          <a:pPr algn="ctr"/>
          <a:r>
            <a:rPr lang="fr-CA" sz="2600" b="1" dirty="0"/>
            <a:t>2. Identifier les secteurs opérationnels</a:t>
          </a:r>
        </a:p>
      </dgm:t>
    </dgm:pt>
    <dgm:pt modelId="{81096B3B-A3E7-42BC-A84C-908F715D864F}" type="parTrans" cxnId="{3D20FD44-691A-4C22-96E8-4E297B66F683}">
      <dgm:prSet/>
      <dgm:spPr/>
      <dgm:t>
        <a:bodyPr/>
        <a:lstStyle/>
        <a:p>
          <a:endParaRPr lang="fr-CA"/>
        </a:p>
      </dgm:t>
    </dgm:pt>
    <dgm:pt modelId="{E50C1C2E-DA46-4437-9E54-33EE4D2389C5}" type="sibTrans" cxnId="{3D20FD44-691A-4C22-96E8-4E297B66F683}">
      <dgm:prSet/>
      <dgm:spPr/>
      <dgm:t>
        <a:bodyPr/>
        <a:lstStyle/>
        <a:p>
          <a:endParaRPr lang="fr-CA"/>
        </a:p>
      </dgm:t>
    </dgm:pt>
    <dgm:pt modelId="{C1585521-E2A2-461A-80F7-3CE1B4741EA5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3. </a:t>
          </a:r>
          <a:r>
            <a:rPr lang="fr-CA" sz="2400" dirty="0"/>
            <a:t>Regrouper les secteurs opérationnels similaires</a:t>
          </a:r>
        </a:p>
      </dgm:t>
    </dgm:pt>
    <dgm:pt modelId="{DF142EBF-6810-4D7A-80BB-9142E6C4B506}" type="parTrans" cxnId="{30742767-B92B-4030-A7F2-1D74D447AE1E}">
      <dgm:prSet/>
      <dgm:spPr/>
      <dgm:t>
        <a:bodyPr/>
        <a:lstStyle/>
        <a:p>
          <a:endParaRPr lang="fr-CA"/>
        </a:p>
      </dgm:t>
    </dgm:pt>
    <dgm:pt modelId="{3909CC20-16CA-4A35-8534-A922F4661921}" type="sibTrans" cxnId="{30742767-B92B-4030-A7F2-1D74D447AE1E}">
      <dgm:prSet/>
      <dgm:spPr/>
      <dgm:t>
        <a:bodyPr/>
        <a:lstStyle/>
        <a:p>
          <a:endParaRPr lang="fr-CA"/>
        </a:p>
      </dgm:t>
    </dgm:pt>
    <dgm:pt modelId="{50B2F1FB-FCFF-4D0F-B6FD-EDC2F5F1EABD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4. </a:t>
          </a:r>
          <a:r>
            <a:rPr lang="fr-CA" sz="2400" dirty="0"/>
            <a:t>Établir quels sont les secteurs à présenter</a:t>
          </a:r>
        </a:p>
      </dgm:t>
    </dgm:pt>
    <dgm:pt modelId="{08DF4257-C8DF-41D7-9033-B7E547848AAA}" type="parTrans" cxnId="{2C586D05-F5BB-4CFC-9CF6-80B5D22CD555}">
      <dgm:prSet/>
      <dgm:spPr/>
      <dgm:t>
        <a:bodyPr/>
        <a:lstStyle/>
        <a:p>
          <a:endParaRPr lang="fr-CA"/>
        </a:p>
      </dgm:t>
    </dgm:pt>
    <dgm:pt modelId="{CA3309FF-9711-4DB6-AF90-827770BC1EEA}" type="sibTrans" cxnId="{2C586D05-F5BB-4CFC-9CF6-80B5D22CD555}">
      <dgm:prSet/>
      <dgm:spPr/>
      <dgm:t>
        <a:bodyPr/>
        <a:lstStyle/>
        <a:p>
          <a:endParaRPr lang="fr-CA"/>
        </a:p>
      </dgm:t>
    </dgm:pt>
    <dgm:pt modelId="{EF083D2A-4AE8-4C7E-9ECA-C12A6A5BE161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5. </a:t>
          </a:r>
          <a:r>
            <a:rPr lang="fr-CA" sz="2400" dirty="0"/>
            <a:t>Présenter l’information </a:t>
          </a:r>
        </a:p>
      </dgm:t>
    </dgm:pt>
    <dgm:pt modelId="{33D9D847-F4A2-4E07-A510-35675AFCC464}" type="parTrans" cxnId="{054F850A-EC11-4DB1-A927-62D6A09AE13D}">
      <dgm:prSet/>
      <dgm:spPr/>
      <dgm:t>
        <a:bodyPr/>
        <a:lstStyle/>
        <a:p>
          <a:endParaRPr lang="fr-CA"/>
        </a:p>
      </dgm:t>
    </dgm:pt>
    <dgm:pt modelId="{A3624A86-4B98-4563-BCD1-7DA269F270C1}" type="sibTrans" cxnId="{054F850A-EC11-4DB1-A927-62D6A09AE13D}">
      <dgm:prSet/>
      <dgm:spPr/>
      <dgm:t>
        <a:bodyPr/>
        <a:lstStyle/>
        <a:p>
          <a:endParaRPr lang="fr-CA"/>
        </a:p>
      </dgm:t>
    </dgm:pt>
    <dgm:pt modelId="{1EE84734-203A-4477-8B40-52A314C0270C}" type="pres">
      <dgm:prSet presAssocID="{982FE767-F198-4189-9831-018A3C529AEA}" presName="Name0" presStyleCnt="0">
        <dgm:presLayoutVars>
          <dgm:dir/>
          <dgm:animLvl val="lvl"/>
          <dgm:resizeHandles val="exact"/>
        </dgm:presLayoutVars>
      </dgm:prSet>
      <dgm:spPr/>
    </dgm:pt>
    <dgm:pt modelId="{1A8DD73E-9F0C-4E61-AF89-AEF8F5CD9732}" type="pres">
      <dgm:prSet presAssocID="{EF083D2A-4AE8-4C7E-9ECA-C12A6A5BE161}" presName="boxAndChildren" presStyleCnt="0"/>
      <dgm:spPr/>
    </dgm:pt>
    <dgm:pt modelId="{EA2C732F-F26D-40C5-9778-9CF62D454A6E}" type="pres">
      <dgm:prSet presAssocID="{EF083D2A-4AE8-4C7E-9ECA-C12A6A5BE161}" presName="parentTextBox" presStyleLbl="node1" presStyleIdx="0" presStyleCnt="5"/>
      <dgm:spPr/>
    </dgm:pt>
    <dgm:pt modelId="{0667D24D-842D-4641-899E-8303079AC825}" type="pres">
      <dgm:prSet presAssocID="{CA3309FF-9711-4DB6-AF90-827770BC1EEA}" presName="sp" presStyleCnt="0"/>
      <dgm:spPr/>
    </dgm:pt>
    <dgm:pt modelId="{2E3AE261-2984-49FF-AD5E-5DD837A63E27}" type="pres">
      <dgm:prSet presAssocID="{50B2F1FB-FCFF-4D0F-B6FD-EDC2F5F1EABD}" presName="arrowAndChildren" presStyleCnt="0"/>
      <dgm:spPr/>
    </dgm:pt>
    <dgm:pt modelId="{7253A5DE-E948-4A37-814F-880B83762E7C}" type="pres">
      <dgm:prSet presAssocID="{50B2F1FB-FCFF-4D0F-B6FD-EDC2F5F1EABD}" presName="parentTextArrow" presStyleLbl="node1" presStyleIdx="1" presStyleCnt="5"/>
      <dgm:spPr/>
    </dgm:pt>
    <dgm:pt modelId="{B447BE44-AE39-45E8-94C1-8478831E63C5}" type="pres">
      <dgm:prSet presAssocID="{3909CC20-16CA-4A35-8534-A922F4661921}" presName="sp" presStyleCnt="0"/>
      <dgm:spPr/>
    </dgm:pt>
    <dgm:pt modelId="{CDC0BB7C-7855-44EF-BBBE-E94F4D79B869}" type="pres">
      <dgm:prSet presAssocID="{C1585521-E2A2-461A-80F7-3CE1B4741EA5}" presName="arrowAndChildren" presStyleCnt="0"/>
      <dgm:spPr/>
    </dgm:pt>
    <dgm:pt modelId="{86B7F235-6714-445B-B484-0B6A6B5E02BB}" type="pres">
      <dgm:prSet presAssocID="{C1585521-E2A2-461A-80F7-3CE1B4741EA5}" presName="parentTextArrow" presStyleLbl="node1" presStyleIdx="2" presStyleCnt="5"/>
      <dgm:spPr/>
    </dgm:pt>
    <dgm:pt modelId="{C33F5379-C18E-4ED4-A04F-DC65D87B72F7}" type="pres">
      <dgm:prSet presAssocID="{E50C1C2E-DA46-4437-9E54-33EE4D2389C5}" presName="sp" presStyleCnt="0"/>
      <dgm:spPr/>
    </dgm:pt>
    <dgm:pt modelId="{6687DE27-DE71-40B2-9711-E20FFCDDF873}" type="pres">
      <dgm:prSet presAssocID="{4BB2D1DC-A539-4C40-AF63-23C77114170F}" presName="arrowAndChildren" presStyleCnt="0"/>
      <dgm:spPr/>
    </dgm:pt>
    <dgm:pt modelId="{713D4D5E-B5B4-492D-B0C7-94DC1481F3A3}" type="pres">
      <dgm:prSet presAssocID="{4BB2D1DC-A539-4C40-AF63-23C77114170F}" presName="parentTextArrow" presStyleLbl="node1" presStyleIdx="3" presStyleCnt="5"/>
      <dgm:spPr/>
    </dgm:pt>
    <dgm:pt modelId="{1663490C-C778-4797-AFC8-5D4F555568C2}" type="pres">
      <dgm:prSet presAssocID="{42852D5E-B59A-4260-B9A9-8C6D592511F7}" presName="sp" presStyleCnt="0"/>
      <dgm:spPr/>
    </dgm:pt>
    <dgm:pt modelId="{FE14E78B-4E49-4873-A127-A3A9AD066944}" type="pres">
      <dgm:prSet presAssocID="{DC1DE1AC-986D-4EA9-825A-D08D5584AD9C}" presName="arrowAndChildren" presStyleCnt="0"/>
      <dgm:spPr/>
    </dgm:pt>
    <dgm:pt modelId="{B41D2B95-6990-40F8-ACA7-38313F002970}" type="pres">
      <dgm:prSet presAssocID="{DC1DE1AC-986D-4EA9-825A-D08D5584AD9C}" presName="parentTextArrow" presStyleLbl="node1" presStyleIdx="4" presStyleCnt="5"/>
      <dgm:spPr/>
    </dgm:pt>
  </dgm:ptLst>
  <dgm:cxnLst>
    <dgm:cxn modelId="{2C586D05-F5BB-4CFC-9CF6-80B5D22CD555}" srcId="{982FE767-F198-4189-9831-018A3C529AEA}" destId="{50B2F1FB-FCFF-4D0F-B6FD-EDC2F5F1EABD}" srcOrd="3" destOrd="0" parTransId="{08DF4257-C8DF-41D7-9033-B7E547848AAA}" sibTransId="{CA3309FF-9711-4DB6-AF90-827770BC1EEA}"/>
    <dgm:cxn modelId="{054F850A-EC11-4DB1-A927-62D6A09AE13D}" srcId="{982FE767-F198-4189-9831-018A3C529AEA}" destId="{EF083D2A-4AE8-4C7E-9ECA-C12A6A5BE161}" srcOrd="4" destOrd="0" parTransId="{33D9D847-F4A2-4E07-A510-35675AFCC464}" sibTransId="{A3624A86-4B98-4563-BCD1-7DA269F270C1}"/>
    <dgm:cxn modelId="{D5176B3E-C15F-437F-9E4E-B46D46D38DD4}" type="presOf" srcId="{C1585521-E2A2-461A-80F7-3CE1B4741EA5}" destId="{86B7F235-6714-445B-B484-0B6A6B5E02BB}" srcOrd="0" destOrd="0" presId="urn:microsoft.com/office/officeart/2005/8/layout/process4"/>
    <dgm:cxn modelId="{3D20FD44-691A-4C22-96E8-4E297B66F683}" srcId="{982FE767-F198-4189-9831-018A3C529AEA}" destId="{4BB2D1DC-A539-4C40-AF63-23C77114170F}" srcOrd="1" destOrd="0" parTransId="{81096B3B-A3E7-42BC-A84C-908F715D864F}" sibTransId="{E50C1C2E-DA46-4437-9E54-33EE4D2389C5}"/>
    <dgm:cxn modelId="{1998DB66-FEF4-4FCB-923A-494E50B3D0BC}" srcId="{982FE767-F198-4189-9831-018A3C529AEA}" destId="{DC1DE1AC-986D-4EA9-825A-D08D5584AD9C}" srcOrd="0" destOrd="0" parTransId="{F3837E95-F8D5-4B8A-B753-945ACC143941}" sibTransId="{42852D5E-B59A-4260-B9A9-8C6D592511F7}"/>
    <dgm:cxn modelId="{30742767-B92B-4030-A7F2-1D74D447AE1E}" srcId="{982FE767-F198-4189-9831-018A3C529AEA}" destId="{C1585521-E2A2-461A-80F7-3CE1B4741EA5}" srcOrd="2" destOrd="0" parTransId="{DF142EBF-6810-4D7A-80BB-9142E6C4B506}" sibTransId="{3909CC20-16CA-4A35-8534-A922F4661921}"/>
    <dgm:cxn modelId="{A154C271-A47D-40ED-A6A2-B2B208D20540}" type="presOf" srcId="{DC1DE1AC-986D-4EA9-825A-D08D5584AD9C}" destId="{B41D2B95-6990-40F8-ACA7-38313F002970}" srcOrd="0" destOrd="0" presId="urn:microsoft.com/office/officeart/2005/8/layout/process4"/>
    <dgm:cxn modelId="{73317C8B-7971-4B54-8FD6-A792C242DEBA}" type="presOf" srcId="{EF083D2A-4AE8-4C7E-9ECA-C12A6A5BE161}" destId="{EA2C732F-F26D-40C5-9778-9CF62D454A6E}" srcOrd="0" destOrd="0" presId="urn:microsoft.com/office/officeart/2005/8/layout/process4"/>
    <dgm:cxn modelId="{1FDDC2E0-E69C-45B2-8D85-9718B4C5C1ED}" type="presOf" srcId="{982FE767-F198-4189-9831-018A3C529AEA}" destId="{1EE84734-203A-4477-8B40-52A314C0270C}" srcOrd="0" destOrd="0" presId="urn:microsoft.com/office/officeart/2005/8/layout/process4"/>
    <dgm:cxn modelId="{2D6099EA-68C6-4261-9D41-5535CD004E19}" type="presOf" srcId="{50B2F1FB-FCFF-4D0F-B6FD-EDC2F5F1EABD}" destId="{7253A5DE-E948-4A37-814F-880B83762E7C}" srcOrd="0" destOrd="0" presId="urn:microsoft.com/office/officeart/2005/8/layout/process4"/>
    <dgm:cxn modelId="{A98235F7-F65C-44B9-A724-1C2E4BE6E854}" type="presOf" srcId="{4BB2D1DC-A539-4C40-AF63-23C77114170F}" destId="{713D4D5E-B5B4-492D-B0C7-94DC1481F3A3}" srcOrd="0" destOrd="0" presId="urn:microsoft.com/office/officeart/2005/8/layout/process4"/>
    <dgm:cxn modelId="{B3B31BC0-DDCF-47B4-8DDA-B479B1F54EDC}" type="presParOf" srcId="{1EE84734-203A-4477-8B40-52A314C0270C}" destId="{1A8DD73E-9F0C-4E61-AF89-AEF8F5CD9732}" srcOrd="0" destOrd="0" presId="urn:microsoft.com/office/officeart/2005/8/layout/process4"/>
    <dgm:cxn modelId="{7BC8F11E-EEE8-4B1E-AFC9-343BD6DB2245}" type="presParOf" srcId="{1A8DD73E-9F0C-4E61-AF89-AEF8F5CD9732}" destId="{EA2C732F-F26D-40C5-9778-9CF62D454A6E}" srcOrd="0" destOrd="0" presId="urn:microsoft.com/office/officeart/2005/8/layout/process4"/>
    <dgm:cxn modelId="{89472885-94EB-4580-9B09-84ADD3B9BE43}" type="presParOf" srcId="{1EE84734-203A-4477-8B40-52A314C0270C}" destId="{0667D24D-842D-4641-899E-8303079AC825}" srcOrd="1" destOrd="0" presId="urn:microsoft.com/office/officeart/2005/8/layout/process4"/>
    <dgm:cxn modelId="{EF975F13-25D7-4057-ACCB-BAA5AE494497}" type="presParOf" srcId="{1EE84734-203A-4477-8B40-52A314C0270C}" destId="{2E3AE261-2984-49FF-AD5E-5DD837A63E27}" srcOrd="2" destOrd="0" presId="urn:microsoft.com/office/officeart/2005/8/layout/process4"/>
    <dgm:cxn modelId="{5BADA35A-4CF5-44C2-A820-837F85D3E867}" type="presParOf" srcId="{2E3AE261-2984-49FF-AD5E-5DD837A63E27}" destId="{7253A5DE-E948-4A37-814F-880B83762E7C}" srcOrd="0" destOrd="0" presId="urn:microsoft.com/office/officeart/2005/8/layout/process4"/>
    <dgm:cxn modelId="{CFA64360-7585-40D6-80B4-4425BE2D9A34}" type="presParOf" srcId="{1EE84734-203A-4477-8B40-52A314C0270C}" destId="{B447BE44-AE39-45E8-94C1-8478831E63C5}" srcOrd="3" destOrd="0" presId="urn:microsoft.com/office/officeart/2005/8/layout/process4"/>
    <dgm:cxn modelId="{400CA970-9709-46EE-9596-E074653796D8}" type="presParOf" srcId="{1EE84734-203A-4477-8B40-52A314C0270C}" destId="{CDC0BB7C-7855-44EF-BBBE-E94F4D79B869}" srcOrd="4" destOrd="0" presId="urn:microsoft.com/office/officeart/2005/8/layout/process4"/>
    <dgm:cxn modelId="{6967CA64-56F9-4600-8C0C-518ED4CEC2E7}" type="presParOf" srcId="{CDC0BB7C-7855-44EF-BBBE-E94F4D79B869}" destId="{86B7F235-6714-445B-B484-0B6A6B5E02BB}" srcOrd="0" destOrd="0" presId="urn:microsoft.com/office/officeart/2005/8/layout/process4"/>
    <dgm:cxn modelId="{F0A2BB6E-A092-45D2-A9D2-BE0D621BD3FA}" type="presParOf" srcId="{1EE84734-203A-4477-8B40-52A314C0270C}" destId="{C33F5379-C18E-4ED4-A04F-DC65D87B72F7}" srcOrd="5" destOrd="0" presId="urn:microsoft.com/office/officeart/2005/8/layout/process4"/>
    <dgm:cxn modelId="{3B944B06-8E91-479A-B497-129795E10AA3}" type="presParOf" srcId="{1EE84734-203A-4477-8B40-52A314C0270C}" destId="{6687DE27-DE71-40B2-9711-E20FFCDDF873}" srcOrd="6" destOrd="0" presId="urn:microsoft.com/office/officeart/2005/8/layout/process4"/>
    <dgm:cxn modelId="{D106AEFA-2B44-4C36-B215-6683759C266B}" type="presParOf" srcId="{6687DE27-DE71-40B2-9711-E20FFCDDF873}" destId="{713D4D5E-B5B4-492D-B0C7-94DC1481F3A3}" srcOrd="0" destOrd="0" presId="urn:microsoft.com/office/officeart/2005/8/layout/process4"/>
    <dgm:cxn modelId="{7367C5BB-C58B-410E-8A10-AF84C5A51D2A}" type="presParOf" srcId="{1EE84734-203A-4477-8B40-52A314C0270C}" destId="{1663490C-C778-4797-AFC8-5D4F555568C2}" srcOrd="7" destOrd="0" presId="urn:microsoft.com/office/officeart/2005/8/layout/process4"/>
    <dgm:cxn modelId="{0B764AC8-E524-4E02-A4A8-30C3A010B0D7}" type="presParOf" srcId="{1EE84734-203A-4477-8B40-52A314C0270C}" destId="{FE14E78B-4E49-4873-A127-A3A9AD066944}" srcOrd="8" destOrd="0" presId="urn:microsoft.com/office/officeart/2005/8/layout/process4"/>
    <dgm:cxn modelId="{91A84812-0E87-4D5A-96DD-AE5CD177BCDF}" type="presParOf" srcId="{FE14E78B-4E49-4873-A127-A3A9AD066944}" destId="{B41D2B95-6990-40F8-ACA7-38313F0029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2FE767-F198-4189-9831-018A3C529AE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C1DE1AC-986D-4EA9-825A-D08D5584AD9C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1</a:t>
          </a:r>
          <a:r>
            <a:rPr lang="fr-CA" sz="2300" dirty="0"/>
            <a:t>. Identifier le principal  décideur opérationnel  (IFRS 8-5b)</a:t>
          </a:r>
        </a:p>
      </dgm:t>
    </dgm:pt>
    <dgm:pt modelId="{F3837E95-F8D5-4B8A-B753-945ACC143941}" type="parTrans" cxnId="{1998DB66-FEF4-4FCB-923A-494E50B3D0BC}">
      <dgm:prSet/>
      <dgm:spPr/>
      <dgm:t>
        <a:bodyPr/>
        <a:lstStyle/>
        <a:p>
          <a:endParaRPr lang="fr-CA"/>
        </a:p>
      </dgm:t>
    </dgm:pt>
    <dgm:pt modelId="{42852D5E-B59A-4260-B9A9-8C6D592511F7}" type="sibTrans" cxnId="{1998DB66-FEF4-4FCB-923A-494E50B3D0BC}">
      <dgm:prSet/>
      <dgm:spPr/>
      <dgm:t>
        <a:bodyPr/>
        <a:lstStyle/>
        <a:p>
          <a:endParaRPr lang="fr-CA"/>
        </a:p>
      </dgm:t>
    </dgm:pt>
    <dgm:pt modelId="{4BB2D1DC-A539-4C40-AF63-23C77114170F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pPr algn="ctr"/>
          <a:r>
            <a:rPr lang="fr-CA" sz="3200" dirty="0"/>
            <a:t>2. </a:t>
          </a:r>
          <a:r>
            <a:rPr lang="fr-CA" sz="2400" dirty="0"/>
            <a:t>Identifier les secteurs opérationnels</a:t>
          </a:r>
        </a:p>
      </dgm:t>
    </dgm:pt>
    <dgm:pt modelId="{81096B3B-A3E7-42BC-A84C-908F715D864F}" type="parTrans" cxnId="{3D20FD44-691A-4C22-96E8-4E297B66F683}">
      <dgm:prSet/>
      <dgm:spPr/>
      <dgm:t>
        <a:bodyPr/>
        <a:lstStyle/>
        <a:p>
          <a:endParaRPr lang="fr-CA"/>
        </a:p>
      </dgm:t>
    </dgm:pt>
    <dgm:pt modelId="{E50C1C2E-DA46-4437-9E54-33EE4D2389C5}" type="sibTrans" cxnId="{3D20FD44-691A-4C22-96E8-4E297B66F683}">
      <dgm:prSet/>
      <dgm:spPr/>
      <dgm:t>
        <a:bodyPr/>
        <a:lstStyle/>
        <a:p>
          <a:endParaRPr lang="fr-CA"/>
        </a:p>
      </dgm:t>
    </dgm:pt>
    <dgm:pt modelId="{C1585521-E2A2-461A-80F7-3CE1B4741EA5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CA" sz="2600" b="1" dirty="0"/>
            <a:t>3. Regrouper les </a:t>
          </a:r>
        </a:p>
        <a:p>
          <a:r>
            <a:rPr lang="fr-CA" sz="2600" b="1" dirty="0"/>
            <a:t>secteurs opérationnels similaires</a:t>
          </a:r>
        </a:p>
      </dgm:t>
    </dgm:pt>
    <dgm:pt modelId="{DF142EBF-6810-4D7A-80BB-9142E6C4B506}" type="parTrans" cxnId="{30742767-B92B-4030-A7F2-1D74D447AE1E}">
      <dgm:prSet/>
      <dgm:spPr/>
      <dgm:t>
        <a:bodyPr/>
        <a:lstStyle/>
        <a:p>
          <a:endParaRPr lang="fr-CA"/>
        </a:p>
      </dgm:t>
    </dgm:pt>
    <dgm:pt modelId="{3909CC20-16CA-4A35-8534-A922F4661921}" type="sibTrans" cxnId="{30742767-B92B-4030-A7F2-1D74D447AE1E}">
      <dgm:prSet/>
      <dgm:spPr/>
      <dgm:t>
        <a:bodyPr/>
        <a:lstStyle/>
        <a:p>
          <a:endParaRPr lang="fr-CA"/>
        </a:p>
      </dgm:t>
    </dgm:pt>
    <dgm:pt modelId="{50B2F1FB-FCFF-4D0F-B6FD-EDC2F5F1EABD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4. </a:t>
          </a:r>
          <a:r>
            <a:rPr lang="fr-CA" sz="2400" dirty="0"/>
            <a:t>Établir quels sont les secteurs à présenter</a:t>
          </a:r>
        </a:p>
      </dgm:t>
    </dgm:pt>
    <dgm:pt modelId="{08DF4257-C8DF-41D7-9033-B7E547848AAA}" type="parTrans" cxnId="{2C586D05-F5BB-4CFC-9CF6-80B5D22CD555}">
      <dgm:prSet/>
      <dgm:spPr/>
      <dgm:t>
        <a:bodyPr/>
        <a:lstStyle/>
        <a:p>
          <a:endParaRPr lang="fr-CA"/>
        </a:p>
      </dgm:t>
    </dgm:pt>
    <dgm:pt modelId="{CA3309FF-9711-4DB6-AF90-827770BC1EEA}" type="sibTrans" cxnId="{2C586D05-F5BB-4CFC-9CF6-80B5D22CD555}">
      <dgm:prSet/>
      <dgm:spPr/>
      <dgm:t>
        <a:bodyPr/>
        <a:lstStyle/>
        <a:p>
          <a:endParaRPr lang="fr-CA"/>
        </a:p>
      </dgm:t>
    </dgm:pt>
    <dgm:pt modelId="{EF083D2A-4AE8-4C7E-9ECA-C12A6A5BE161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5. </a:t>
          </a:r>
          <a:r>
            <a:rPr lang="fr-CA" sz="2400" dirty="0"/>
            <a:t>Présenter l’information </a:t>
          </a:r>
        </a:p>
      </dgm:t>
    </dgm:pt>
    <dgm:pt modelId="{33D9D847-F4A2-4E07-A510-35675AFCC464}" type="parTrans" cxnId="{054F850A-EC11-4DB1-A927-62D6A09AE13D}">
      <dgm:prSet/>
      <dgm:spPr/>
      <dgm:t>
        <a:bodyPr/>
        <a:lstStyle/>
        <a:p>
          <a:endParaRPr lang="fr-CA"/>
        </a:p>
      </dgm:t>
    </dgm:pt>
    <dgm:pt modelId="{A3624A86-4B98-4563-BCD1-7DA269F270C1}" type="sibTrans" cxnId="{054F850A-EC11-4DB1-A927-62D6A09AE13D}">
      <dgm:prSet/>
      <dgm:spPr/>
      <dgm:t>
        <a:bodyPr/>
        <a:lstStyle/>
        <a:p>
          <a:endParaRPr lang="fr-CA"/>
        </a:p>
      </dgm:t>
    </dgm:pt>
    <dgm:pt modelId="{1EE84734-203A-4477-8B40-52A314C0270C}" type="pres">
      <dgm:prSet presAssocID="{982FE767-F198-4189-9831-018A3C529AEA}" presName="Name0" presStyleCnt="0">
        <dgm:presLayoutVars>
          <dgm:dir/>
          <dgm:animLvl val="lvl"/>
          <dgm:resizeHandles val="exact"/>
        </dgm:presLayoutVars>
      </dgm:prSet>
      <dgm:spPr/>
    </dgm:pt>
    <dgm:pt modelId="{1A8DD73E-9F0C-4E61-AF89-AEF8F5CD9732}" type="pres">
      <dgm:prSet presAssocID="{EF083D2A-4AE8-4C7E-9ECA-C12A6A5BE161}" presName="boxAndChildren" presStyleCnt="0"/>
      <dgm:spPr/>
    </dgm:pt>
    <dgm:pt modelId="{EA2C732F-F26D-40C5-9778-9CF62D454A6E}" type="pres">
      <dgm:prSet presAssocID="{EF083D2A-4AE8-4C7E-9ECA-C12A6A5BE161}" presName="parentTextBox" presStyleLbl="node1" presStyleIdx="0" presStyleCnt="5"/>
      <dgm:spPr/>
    </dgm:pt>
    <dgm:pt modelId="{0667D24D-842D-4641-899E-8303079AC825}" type="pres">
      <dgm:prSet presAssocID="{CA3309FF-9711-4DB6-AF90-827770BC1EEA}" presName="sp" presStyleCnt="0"/>
      <dgm:spPr/>
    </dgm:pt>
    <dgm:pt modelId="{2E3AE261-2984-49FF-AD5E-5DD837A63E27}" type="pres">
      <dgm:prSet presAssocID="{50B2F1FB-FCFF-4D0F-B6FD-EDC2F5F1EABD}" presName="arrowAndChildren" presStyleCnt="0"/>
      <dgm:spPr/>
    </dgm:pt>
    <dgm:pt modelId="{7253A5DE-E948-4A37-814F-880B83762E7C}" type="pres">
      <dgm:prSet presAssocID="{50B2F1FB-FCFF-4D0F-B6FD-EDC2F5F1EABD}" presName="parentTextArrow" presStyleLbl="node1" presStyleIdx="1" presStyleCnt="5"/>
      <dgm:spPr/>
    </dgm:pt>
    <dgm:pt modelId="{B447BE44-AE39-45E8-94C1-8478831E63C5}" type="pres">
      <dgm:prSet presAssocID="{3909CC20-16CA-4A35-8534-A922F4661921}" presName="sp" presStyleCnt="0"/>
      <dgm:spPr/>
    </dgm:pt>
    <dgm:pt modelId="{CDC0BB7C-7855-44EF-BBBE-E94F4D79B869}" type="pres">
      <dgm:prSet presAssocID="{C1585521-E2A2-461A-80F7-3CE1B4741EA5}" presName="arrowAndChildren" presStyleCnt="0"/>
      <dgm:spPr/>
    </dgm:pt>
    <dgm:pt modelId="{86B7F235-6714-445B-B484-0B6A6B5E02BB}" type="pres">
      <dgm:prSet presAssocID="{C1585521-E2A2-461A-80F7-3CE1B4741EA5}" presName="parentTextArrow" presStyleLbl="node1" presStyleIdx="2" presStyleCnt="5" custScaleY="135583"/>
      <dgm:spPr/>
    </dgm:pt>
    <dgm:pt modelId="{C33F5379-C18E-4ED4-A04F-DC65D87B72F7}" type="pres">
      <dgm:prSet presAssocID="{E50C1C2E-DA46-4437-9E54-33EE4D2389C5}" presName="sp" presStyleCnt="0"/>
      <dgm:spPr/>
    </dgm:pt>
    <dgm:pt modelId="{6687DE27-DE71-40B2-9711-E20FFCDDF873}" type="pres">
      <dgm:prSet presAssocID="{4BB2D1DC-A539-4C40-AF63-23C77114170F}" presName="arrowAndChildren" presStyleCnt="0"/>
      <dgm:spPr/>
    </dgm:pt>
    <dgm:pt modelId="{713D4D5E-B5B4-492D-B0C7-94DC1481F3A3}" type="pres">
      <dgm:prSet presAssocID="{4BB2D1DC-A539-4C40-AF63-23C77114170F}" presName="parentTextArrow" presStyleLbl="node1" presStyleIdx="3" presStyleCnt="5"/>
      <dgm:spPr/>
    </dgm:pt>
    <dgm:pt modelId="{1663490C-C778-4797-AFC8-5D4F555568C2}" type="pres">
      <dgm:prSet presAssocID="{42852D5E-B59A-4260-B9A9-8C6D592511F7}" presName="sp" presStyleCnt="0"/>
      <dgm:spPr/>
    </dgm:pt>
    <dgm:pt modelId="{FE14E78B-4E49-4873-A127-A3A9AD066944}" type="pres">
      <dgm:prSet presAssocID="{DC1DE1AC-986D-4EA9-825A-D08D5584AD9C}" presName="arrowAndChildren" presStyleCnt="0"/>
      <dgm:spPr/>
    </dgm:pt>
    <dgm:pt modelId="{B41D2B95-6990-40F8-ACA7-38313F002970}" type="pres">
      <dgm:prSet presAssocID="{DC1DE1AC-986D-4EA9-825A-D08D5584AD9C}" presName="parentTextArrow" presStyleLbl="node1" presStyleIdx="4" presStyleCnt="5"/>
      <dgm:spPr/>
    </dgm:pt>
  </dgm:ptLst>
  <dgm:cxnLst>
    <dgm:cxn modelId="{2C586D05-F5BB-4CFC-9CF6-80B5D22CD555}" srcId="{982FE767-F198-4189-9831-018A3C529AEA}" destId="{50B2F1FB-FCFF-4D0F-B6FD-EDC2F5F1EABD}" srcOrd="3" destOrd="0" parTransId="{08DF4257-C8DF-41D7-9033-B7E547848AAA}" sibTransId="{CA3309FF-9711-4DB6-AF90-827770BC1EEA}"/>
    <dgm:cxn modelId="{054F850A-EC11-4DB1-A927-62D6A09AE13D}" srcId="{982FE767-F198-4189-9831-018A3C529AEA}" destId="{EF083D2A-4AE8-4C7E-9ECA-C12A6A5BE161}" srcOrd="4" destOrd="0" parTransId="{33D9D847-F4A2-4E07-A510-35675AFCC464}" sibTransId="{A3624A86-4B98-4563-BCD1-7DA269F270C1}"/>
    <dgm:cxn modelId="{3D20FD44-691A-4C22-96E8-4E297B66F683}" srcId="{982FE767-F198-4189-9831-018A3C529AEA}" destId="{4BB2D1DC-A539-4C40-AF63-23C77114170F}" srcOrd="1" destOrd="0" parTransId="{81096B3B-A3E7-42BC-A84C-908F715D864F}" sibTransId="{E50C1C2E-DA46-4437-9E54-33EE4D2389C5}"/>
    <dgm:cxn modelId="{1998DB66-FEF4-4FCB-923A-494E50B3D0BC}" srcId="{982FE767-F198-4189-9831-018A3C529AEA}" destId="{DC1DE1AC-986D-4EA9-825A-D08D5584AD9C}" srcOrd="0" destOrd="0" parTransId="{F3837E95-F8D5-4B8A-B753-945ACC143941}" sibTransId="{42852D5E-B59A-4260-B9A9-8C6D592511F7}"/>
    <dgm:cxn modelId="{30742767-B92B-4030-A7F2-1D74D447AE1E}" srcId="{982FE767-F198-4189-9831-018A3C529AEA}" destId="{C1585521-E2A2-461A-80F7-3CE1B4741EA5}" srcOrd="2" destOrd="0" parTransId="{DF142EBF-6810-4D7A-80BB-9142E6C4B506}" sibTransId="{3909CC20-16CA-4A35-8534-A922F4661921}"/>
    <dgm:cxn modelId="{D2C71F8A-8B0E-45E0-8052-CB63532F2406}" type="presOf" srcId="{DC1DE1AC-986D-4EA9-825A-D08D5584AD9C}" destId="{B41D2B95-6990-40F8-ACA7-38313F002970}" srcOrd="0" destOrd="0" presId="urn:microsoft.com/office/officeart/2005/8/layout/process4"/>
    <dgm:cxn modelId="{6A2FADAD-6E56-45E0-B297-70788DFB2579}" type="presOf" srcId="{50B2F1FB-FCFF-4D0F-B6FD-EDC2F5F1EABD}" destId="{7253A5DE-E948-4A37-814F-880B83762E7C}" srcOrd="0" destOrd="0" presId="urn:microsoft.com/office/officeart/2005/8/layout/process4"/>
    <dgm:cxn modelId="{303A1FB1-D9C1-43FD-AB9E-932F3A313F6D}" type="presOf" srcId="{C1585521-E2A2-461A-80F7-3CE1B4741EA5}" destId="{86B7F235-6714-445B-B484-0B6A6B5E02BB}" srcOrd="0" destOrd="0" presId="urn:microsoft.com/office/officeart/2005/8/layout/process4"/>
    <dgm:cxn modelId="{7E6E3BCB-83E2-4923-8CCE-5E66C569F2FB}" type="presOf" srcId="{EF083D2A-4AE8-4C7E-9ECA-C12A6A5BE161}" destId="{EA2C732F-F26D-40C5-9778-9CF62D454A6E}" srcOrd="0" destOrd="0" presId="urn:microsoft.com/office/officeart/2005/8/layout/process4"/>
    <dgm:cxn modelId="{A1C262DF-17BB-4BE4-A5B2-8FA449C309C7}" type="presOf" srcId="{4BB2D1DC-A539-4C40-AF63-23C77114170F}" destId="{713D4D5E-B5B4-492D-B0C7-94DC1481F3A3}" srcOrd="0" destOrd="0" presId="urn:microsoft.com/office/officeart/2005/8/layout/process4"/>
    <dgm:cxn modelId="{B2B74FF5-EC4B-48C6-BC42-FA68DBC9F844}" type="presOf" srcId="{982FE767-F198-4189-9831-018A3C529AEA}" destId="{1EE84734-203A-4477-8B40-52A314C0270C}" srcOrd="0" destOrd="0" presId="urn:microsoft.com/office/officeart/2005/8/layout/process4"/>
    <dgm:cxn modelId="{65414FC5-2AC7-477C-B767-116645C9802D}" type="presParOf" srcId="{1EE84734-203A-4477-8B40-52A314C0270C}" destId="{1A8DD73E-9F0C-4E61-AF89-AEF8F5CD9732}" srcOrd="0" destOrd="0" presId="urn:microsoft.com/office/officeart/2005/8/layout/process4"/>
    <dgm:cxn modelId="{58708B76-996A-49D0-83F6-90617858F1B5}" type="presParOf" srcId="{1A8DD73E-9F0C-4E61-AF89-AEF8F5CD9732}" destId="{EA2C732F-F26D-40C5-9778-9CF62D454A6E}" srcOrd="0" destOrd="0" presId="urn:microsoft.com/office/officeart/2005/8/layout/process4"/>
    <dgm:cxn modelId="{0967D8D6-6CB5-429A-9131-54551B58D855}" type="presParOf" srcId="{1EE84734-203A-4477-8B40-52A314C0270C}" destId="{0667D24D-842D-4641-899E-8303079AC825}" srcOrd="1" destOrd="0" presId="urn:microsoft.com/office/officeart/2005/8/layout/process4"/>
    <dgm:cxn modelId="{FE70E0CD-B958-4226-9144-6541E394A94B}" type="presParOf" srcId="{1EE84734-203A-4477-8B40-52A314C0270C}" destId="{2E3AE261-2984-49FF-AD5E-5DD837A63E27}" srcOrd="2" destOrd="0" presId="urn:microsoft.com/office/officeart/2005/8/layout/process4"/>
    <dgm:cxn modelId="{FC132B19-92FC-4C26-9ABF-73E334DC0D66}" type="presParOf" srcId="{2E3AE261-2984-49FF-AD5E-5DD837A63E27}" destId="{7253A5DE-E948-4A37-814F-880B83762E7C}" srcOrd="0" destOrd="0" presId="urn:microsoft.com/office/officeart/2005/8/layout/process4"/>
    <dgm:cxn modelId="{E7DA5394-AEA9-4F27-9B6F-515D42068A0E}" type="presParOf" srcId="{1EE84734-203A-4477-8B40-52A314C0270C}" destId="{B447BE44-AE39-45E8-94C1-8478831E63C5}" srcOrd="3" destOrd="0" presId="urn:microsoft.com/office/officeart/2005/8/layout/process4"/>
    <dgm:cxn modelId="{623E9EEC-E6CE-4E71-BF6F-72A86A9B02E7}" type="presParOf" srcId="{1EE84734-203A-4477-8B40-52A314C0270C}" destId="{CDC0BB7C-7855-44EF-BBBE-E94F4D79B869}" srcOrd="4" destOrd="0" presId="urn:microsoft.com/office/officeart/2005/8/layout/process4"/>
    <dgm:cxn modelId="{5513CB73-6D07-43A5-B52F-CE3F18FD3ECF}" type="presParOf" srcId="{CDC0BB7C-7855-44EF-BBBE-E94F4D79B869}" destId="{86B7F235-6714-445B-B484-0B6A6B5E02BB}" srcOrd="0" destOrd="0" presId="urn:microsoft.com/office/officeart/2005/8/layout/process4"/>
    <dgm:cxn modelId="{368EF1DD-7E7B-4C08-915E-AB42FDFC8F14}" type="presParOf" srcId="{1EE84734-203A-4477-8B40-52A314C0270C}" destId="{C33F5379-C18E-4ED4-A04F-DC65D87B72F7}" srcOrd="5" destOrd="0" presId="urn:microsoft.com/office/officeart/2005/8/layout/process4"/>
    <dgm:cxn modelId="{4868AB19-6723-4D9E-B40B-0FD6C00EEF14}" type="presParOf" srcId="{1EE84734-203A-4477-8B40-52A314C0270C}" destId="{6687DE27-DE71-40B2-9711-E20FFCDDF873}" srcOrd="6" destOrd="0" presId="urn:microsoft.com/office/officeart/2005/8/layout/process4"/>
    <dgm:cxn modelId="{59978DAE-B480-4AA2-8BC4-E38D43959746}" type="presParOf" srcId="{6687DE27-DE71-40B2-9711-E20FFCDDF873}" destId="{713D4D5E-B5B4-492D-B0C7-94DC1481F3A3}" srcOrd="0" destOrd="0" presId="urn:microsoft.com/office/officeart/2005/8/layout/process4"/>
    <dgm:cxn modelId="{05F66C36-C2FF-4392-8EA2-2EEC4DE4687C}" type="presParOf" srcId="{1EE84734-203A-4477-8B40-52A314C0270C}" destId="{1663490C-C778-4797-AFC8-5D4F555568C2}" srcOrd="7" destOrd="0" presId="urn:microsoft.com/office/officeart/2005/8/layout/process4"/>
    <dgm:cxn modelId="{9BF692A6-5C3F-493E-ABD5-845EC4A0DE1B}" type="presParOf" srcId="{1EE84734-203A-4477-8B40-52A314C0270C}" destId="{FE14E78B-4E49-4873-A127-A3A9AD066944}" srcOrd="8" destOrd="0" presId="urn:microsoft.com/office/officeart/2005/8/layout/process4"/>
    <dgm:cxn modelId="{8F2CC8BF-6936-43E1-8380-7979481D12B9}" type="presParOf" srcId="{FE14E78B-4E49-4873-A127-A3A9AD066944}" destId="{B41D2B95-6990-40F8-ACA7-38313F0029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2FE767-F198-4189-9831-018A3C529AE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C1DE1AC-986D-4EA9-825A-D08D5584AD9C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1</a:t>
          </a:r>
          <a:r>
            <a:rPr lang="fr-CA" sz="2300" dirty="0"/>
            <a:t>. Identifier le principal  décideur opérationnel  (IFRS 8-5b)</a:t>
          </a:r>
        </a:p>
      </dgm:t>
    </dgm:pt>
    <dgm:pt modelId="{F3837E95-F8D5-4B8A-B753-945ACC143941}" type="parTrans" cxnId="{1998DB66-FEF4-4FCB-923A-494E50B3D0BC}">
      <dgm:prSet/>
      <dgm:spPr/>
      <dgm:t>
        <a:bodyPr/>
        <a:lstStyle/>
        <a:p>
          <a:endParaRPr lang="fr-CA"/>
        </a:p>
      </dgm:t>
    </dgm:pt>
    <dgm:pt modelId="{42852D5E-B59A-4260-B9A9-8C6D592511F7}" type="sibTrans" cxnId="{1998DB66-FEF4-4FCB-923A-494E50B3D0BC}">
      <dgm:prSet/>
      <dgm:spPr/>
      <dgm:t>
        <a:bodyPr/>
        <a:lstStyle/>
        <a:p>
          <a:endParaRPr lang="fr-CA"/>
        </a:p>
      </dgm:t>
    </dgm:pt>
    <dgm:pt modelId="{4BB2D1DC-A539-4C40-AF63-23C77114170F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pPr algn="ctr"/>
          <a:r>
            <a:rPr lang="fr-CA" sz="3200" dirty="0"/>
            <a:t>2. </a:t>
          </a:r>
          <a:r>
            <a:rPr lang="fr-CA" sz="2400" dirty="0"/>
            <a:t>Identifier les secteurs opérationnels</a:t>
          </a:r>
        </a:p>
      </dgm:t>
    </dgm:pt>
    <dgm:pt modelId="{81096B3B-A3E7-42BC-A84C-908F715D864F}" type="parTrans" cxnId="{3D20FD44-691A-4C22-96E8-4E297B66F683}">
      <dgm:prSet/>
      <dgm:spPr/>
      <dgm:t>
        <a:bodyPr/>
        <a:lstStyle/>
        <a:p>
          <a:endParaRPr lang="fr-CA"/>
        </a:p>
      </dgm:t>
    </dgm:pt>
    <dgm:pt modelId="{E50C1C2E-DA46-4437-9E54-33EE4D2389C5}" type="sibTrans" cxnId="{3D20FD44-691A-4C22-96E8-4E297B66F683}">
      <dgm:prSet/>
      <dgm:spPr/>
      <dgm:t>
        <a:bodyPr/>
        <a:lstStyle/>
        <a:p>
          <a:endParaRPr lang="fr-CA"/>
        </a:p>
      </dgm:t>
    </dgm:pt>
    <dgm:pt modelId="{C1585521-E2A2-461A-80F7-3CE1B4741EA5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3. </a:t>
          </a:r>
          <a:r>
            <a:rPr lang="fr-CA" sz="2400" dirty="0"/>
            <a:t>Regrouper les secteurs opérationnels similaires</a:t>
          </a:r>
        </a:p>
      </dgm:t>
    </dgm:pt>
    <dgm:pt modelId="{DF142EBF-6810-4D7A-80BB-9142E6C4B506}" type="parTrans" cxnId="{30742767-B92B-4030-A7F2-1D74D447AE1E}">
      <dgm:prSet/>
      <dgm:spPr/>
      <dgm:t>
        <a:bodyPr/>
        <a:lstStyle/>
        <a:p>
          <a:endParaRPr lang="fr-CA"/>
        </a:p>
      </dgm:t>
    </dgm:pt>
    <dgm:pt modelId="{3909CC20-16CA-4A35-8534-A922F4661921}" type="sibTrans" cxnId="{30742767-B92B-4030-A7F2-1D74D447AE1E}">
      <dgm:prSet/>
      <dgm:spPr/>
      <dgm:t>
        <a:bodyPr/>
        <a:lstStyle/>
        <a:p>
          <a:endParaRPr lang="fr-CA"/>
        </a:p>
      </dgm:t>
    </dgm:pt>
    <dgm:pt modelId="{50B2F1FB-FCFF-4D0F-B6FD-EDC2F5F1EABD}">
      <dgm:prSet phldrT="[Texte]" custT="1"/>
      <dgm:spPr>
        <a:solidFill>
          <a:schemeClr val="accent2"/>
        </a:solidFill>
        <a:ln>
          <a:solidFill>
            <a:schemeClr val="accent2"/>
          </a:solidFill>
        </a:ln>
      </dgm:spPr>
      <dgm:t>
        <a:bodyPr/>
        <a:lstStyle/>
        <a:p>
          <a:r>
            <a:rPr lang="fr-CA" sz="2600" b="1" dirty="0"/>
            <a:t>4. Établir quels sont les secteurs à présenter</a:t>
          </a:r>
        </a:p>
      </dgm:t>
    </dgm:pt>
    <dgm:pt modelId="{08DF4257-C8DF-41D7-9033-B7E547848AAA}" type="parTrans" cxnId="{2C586D05-F5BB-4CFC-9CF6-80B5D22CD555}">
      <dgm:prSet/>
      <dgm:spPr/>
      <dgm:t>
        <a:bodyPr/>
        <a:lstStyle/>
        <a:p>
          <a:endParaRPr lang="fr-CA"/>
        </a:p>
      </dgm:t>
    </dgm:pt>
    <dgm:pt modelId="{CA3309FF-9711-4DB6-AF90-827770BC1EEA}" type="sibTrans" cxnId="{2C586D05-F5BB-4CFC-9CF6-80B5D22CD555}">
      <dgm:prSet/>
      <dgm:spPr/>
      <dgm:t>
        <a:bodyPr/>
        <a:lstStyle/>
        <a:p>
          <a:endParaRPr lang="fr-CA"/>
        </a:p>
      </dgm:t>
    </dgm:pt>
    <dgm:pt modelId="{EF083D2A-4AE8-4C7E-9ECA-C12A6A5BE161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5. </a:t>
          </a:r>
          <a:r>
            <a:rPr lang="fr-CA" sz="2400" dirty="0"/>
            <a:t>Présenter l’information </a:t>
          </a:r>
        </a:p>
      </dgm:t>
    </dgm:pt>
    <dgm:pt modelId="{33D9D847-F4A2-4E07-A510-35675AFCC464}" type="parTrans" cxnId="{054F850A-EC11-4DB1-A927-62D6A09AE13D}">
      <dgm:prSet/>
      <dgm:spPr/>
      <dgm:t>
        <a:bodyPr/>
        <a:lstStyle/>
        <a:p>
          <a:endParaRPr lang="fr-CA"/>
        </a:p>
      </dgm:t>
    </dgm:pt>
    <dgm:pt modelId="{A3624A86-4B98-4563-BCD1-7DA269F270C1}" type="sibTrans" cxnId="{054F850A-EC11-4DB1-A927-62D6A09AE13D}">
      <dgm:prSet/>
      <dgm:spPr/>
      <dgm:t>
        <a:bodyPr/>
        <a:lstStyle/>
        <a:p>
          <a:endParaRPr lang="fr-CA"/>
        </a:p>
      </dgm:t>
    </dgm:pt>
    <dgm:pt modelId="{1EE84734-203A-4477-8B40-52A314C0270C}" type="pres">
      <dgm:prSet presAssocID="{982FE767-F198-4189-9831-018A3C529AEA}" presName="Name0" presStyleCnt="0">
        <dgm:presLayoutVars>
          <dgm:dir/>
          <dgm:animLvl val="lvl"/>
          <dgm:resizeHandles val="exact"/>
        </dgm:presLayoutVars>
      </dgm:prSet>
      <dgm:spPr/>
    </dgm:pt>
    <dgm:pt modelId="{1A8DD73E-9F0C-4E61-AF89-AEF8F5CD9732}" type="pres">
      <dgm:prSet presAssocID="{EF083D2A-4AE8-4C7E-9ECA-C12A6A5BE161}" presName="boxAndChildren" presStyleCnt="0"/>
      <dgm:spPr/>
    </dgm:pt>
    <dgm:pt modelId="{EA2C732F-F26D-40C5-9778-9CF62D454A6E}" type="pres">
      <dgm:prSet presAssocID="{EF083D2A-4AE8-4C7E-9ECA-C12A6A5BE161}" presName="parentTextBox" presStyleLbl="node1" presStyleIdx="0" presStyleCnt="5"/>
      <dgm:spPr/>
    </dgm:pt>
    <dgm:pt modelId="{0667D24D-842D-4641-899E-8303079AC825}" type="pres">
      <dgm:prSet presAssocID="{CA3309FF-9711-4DB6-AF90-827770BC1EEA}" presName="sp" presStyleCnt="0"/>
      <dgm:spPr/>
    </dgm:pt>
    <dgm:pt modelId="{2E3AE261-2984-49FF-AD5E-5DD837A63E27}" type="pres">
      <dgm:prSet presAssocID="{50B2F1FB-FCFF-4D0F-B6FD-EDC2F5F1EABD}" presName="arrowAndChildren" presStyleCnt="0"/>
      <dgm:spPr/>
    </dgm:pt>
    <dgm:pt modelId="{7253A5DE-E948-4A37-814F-880B83762E7C}" type="pres">
      <dgm:prSet presAssocID="{50B2F1FB-FCFF-4D0F-B6FD-EDC2F5F1EABD}" presName="parentTextArrow" presStyleLbl="node1" presStyleIdx="1" presStyleCnt="5"/>
      <dgm:spPr/>
    </dgm:pt>
    <dgm:pt modelId="{B447BE44-AE39-45E8-94C1-8478831E63C5}" type="pres">
      <dgm:prSet presAssocID="{3909CC20-16CA-4A35-8534-A922F4661921}" presName="sp" presStyleCnt="0"/>
      <dgm:spPr/>
    </dgm:pt>
    <dgm:pt modelId="{CDC0BB7C-7855-44EF-BBBE-E94F4D79B869}" type="pres">
      <dgm:prSet presAssocID="{C1585521-E2A2-461A-80F7-3CE1B4741EA5}" presName="arrowAndChildren" presStyleCnt="0"/>
      <dgm:spPr/>
    </dgm:pt>
    <dgm:pt modelId="{86B7F235-6714-445B-B484-0B6A6B5E02BB}" type="pres">
      <dgm:prSet presAssocID="{C1585521-E2A2-461A-80F7-3CE1B4741EA5}" presName="parentTextArrow" presStyleLbl="node1" presStyleIdx="2" presStyleCnt="5"/>
      <dgm:spPr/>
    </dgm:pt>
    <dgm:pt modelId="{C33F5379-C18E-4ED4-A04F-DC65D87B72F7}" type="pres">
      <dgm:prSet presAssocID="{E50C1C2E-DA46-4437-9E54-33EE4D2389C5}" presName="sp" presStyleCnt="0"/>
      <dgm:spPr/>
    </dgm:pt>
    <dgm:pt modelId="{6687DE27-DE71-40B2-9711-E20FFCDDF873}" type="pres">
      <dgm:prSet presAssocID="{4BB2D1DC-A539-4C40-AF63-23C77114170F}" presName="arrowAndChildren" presStyleCnt="0"/>
      <dgm:spPr/>
    </dgm:pt>
    <dgm:pt modelId="{713D4D5E-B5B4-492D-B0C7-94DC1481F3A3}" type="pres">
      <dgm:prSet presAssocID="{4BB2D1DC-A539-4C40-AF63-23C77114170F}" presName="parentTextArrow" presStyleLbl="node1" presStyleIdx="3" presStyleCnt="5"/>
      <dgm:spPr/>
    </dgm:pt>
    <dgm:pt modelId="{1663490C-C778-4797-AFC8-5D4F555568C2}" type="pres">
      <dgm:prSet presAssocID="{42852D5E-B59A-4260-B9A9-8C6D592511F7}" presName="sp" presStyleCnt="0"/>
      <dgm:spPr/>
    </dgm:pt>
    <dgm:pt modelId="{FE14E78B-4E49-4873-A127-A3A9AD066944}" type="pres">
      <dgm:prSet presAssocID="{DC1DE1AC-986D-4EA9-825A-D08D5584AD9C}" presName="arrowAndChildren" presStyleCnt="0"/>
      <dgm:spPr/>
    </dgm:pt>
    <dgm:pt modelId="{B41D2B95-6990-40F8-ACA7-38313F002970}" type="pres">
      <dgm:prSet presAssocID="{DC1DE1AC-986D-4EA9-825A-D08D5584AD9C}" presName="parentTextArrow" presStyleLbl="node1" presStyleIdx="4" presStyleCnt="5"/>
      <dgm:spPr/>
    </dgm:pt>
  </dgm:ptLst>
  <dgm:cxnLst>
    <dgm:cxn modelId="{2C586D05-F5BB-4CFC-9CF6-80B5D22CD555}" srcId="{982FE767-F198-4189-9831-018A3C529AEA}" destId="{50B2F1FB-FCFF-4D0F-B6FD-EDC2F5F1EABD}" srcOrd="3" destOrd="0" parTransId="{08DF4257-C8DF-41D7-9033-B7E547848AAA}" sibTransId="{CA3309FF-9711-4DB6-AF90-827770BC1EEA}"/>
    <dgm:cxn modelId="{17381B0A-37A3-451E-91AC-D4F76659D94A}" type="presOf" srcId="{982FE767-F198-4189-9831-018A3C529AEA}" destId="{1EE84734-203A-4477-8B40-52A314C0270C}" srcOrd="0" destOrd="0" presId="urn:microsoft.com/office/officeart/2005/8/layout/process4"/>
    <dgm:cxn modelId="{054F850A-EC11-4DB1-A927-62D6A09AE13D}" srcId="{982FE767-F198-4189-9831-018A3C529AEA}" destId="{EF083D2A-4AE8-4C7E-9ECA-C12A6A5BE161}" srcOrd="4" destOrd="0" parTransId="{33D9D847-F4A2-4E07-A510-35675AFCC464}" sibTransId="{A3624A86-4B98-4563-BCD1-7DA269F270C1}"/>
    <dgm:cxn modelId="{6AF9FA63-B789-49AA-B1F7-84C1610D649A}" type="presOf" srcId="{EF083D2A-4AE8-4C7E-9ECA-C12A6A5BE161}" destId="{EA2C732F-F26D-40C5-9778-9CF62D454A6E}" srcOrd="0" destOrd="0" presId="urn:microsoft.com/office/officeart/2005/8/layout/process4"/>
    <dgm:cxn modelId="{3D20FD44-691A-4C22-96E8-4E297B66F683}" srcId="{982FE767-F198-4189-9831-018A3C529AEA}" destId="{4BB2D1DC-A539-4C40-AF63-23C77114170F}" srcOrd="1" destOrd="0" parTransId="{81096B3B-A3E7-42BC-A84C-908F715D864F}" sibTransId="{E50C1C2E-DA46-4437-9E54-33EE4D2389C5}"/>
    <dgm:cxn modelId="{8C303E65-647F-4194-9329-09B4C85703A7}" type="presOf" srcId="{C1585521-E2A2-461A-80F7-3CE1B4741EA5}" destId="{86B7F235-6714-445B-B484-0B6A6B5E02BB}" srcOrd="0" destOrd="0" presId="urn:microsoft.com/office/officeart/2005/8/layout/process4"/>
    <dgm:cxn modelId="{1998DB66-FEF4-4FCB-923A-494E50B3D0BC}" srcId="{982FE767-F198-4189-9831-018A3C529AEA}" destId="{DC1DE1AC-986D-4EA9-825A-D08D5584AD9C}" srcOrd="0" destOrd="0" parTransId="{F3837E95-F8D5-4B8A-B753-945ACC143941}" sibTransId="{42852D5E-B59A-4260-B9A9-8C6D592511F7}"/>
    <dgm:cxn modelId="{30742767-B92B-4030-A7F2-1D74D447AE1E}" srcId="{982FE767-F198-4189-9831-018A3C529AEA}" destId="{C1585521-E2A2-461A-80F7-3CE1B4741EA5}" srcOrd="2" destOrd="0" parTransId="{DF142EBF-6810-4D7A-80BB-9142E6C4B506}" sibTransId="{3909CC20-16CA-4A35-8534-A922F4661921}"/>
    <dgm:cxn modelId="{EA5A2D67-0477-4C8F-A2AD-5B27798EC598}" type="presOf" srcId="{DC1DE1AC-986D-4EA9-825A-D08D5584AD9C}" destId="{B41D2B95-6990-40F8-ACA7-38313F002970}" srcOrd="0" destOrd="0" presId="urn:microsoft.com/office/officeart/2005/8/layout/process4"/>
    <dgm:cxn modelId="{664583B0-A30E-48F5-A24D-2C3D6A846EEC}" type="presOf" srcId="{50B2F1FB-FCFF-4D0F-B6FD-EDC2F5F1EABD}" destId="{7253A5DE-E948-4A37-814F-880B83762E7C}" srcOrd="0" destOrd="0" presId="urn:microsoft.com/office/officeart/2005/8/layout/process4"/>
    <dgm:cxn modelId="{3F3F9CE8-5DEA-423A-8E24-E5365E400528}" type="presOf" srcId="{4BB2D1DC-A539-4C40-AF63-23C77114170F}" destId="{713D4D5E-B5B4-492D-B0C7-94DC1481F3A3}" srcOrd="0" destOrd="0" presId="urn:microsoft.com/office/officeart/2005/8/layout/process4"/>
    <dgm:cxn modelId="{26353A7C-EC7C-48D5-B07A-C26B9F13C98C}" type="presParOf" srcId="{1EE84734-203A-4477-8B40-52A314C0270C}" destId="{1A8DD73E-9F0C-4E61-AF89-AEF8F5CD9732}" srcOrd="0" destOrd="0" presId="urn:microsoft.com/office/officeart/2005/8/layout/process4"/>
    <dgm:cxn modelId="{71E3D887-E9E9-4147-8A24-56FD3C73312D}" type="presParOf" srcId="{1A8DD73E-9F0C-4E61-AF89-AEF8F5CD9732}" destId="{EA2C732F-F26D-40C5-9778-9CF62D454A6E}" srcOrd="0" destOrd="0" presId="urn:microsoft.com/office/officeart/2005/8/layout/process4"/>
    <dgm:cxn modelId="{7140ADED-7791-406B-84DB-A125D52DCCA6}" type="presParOf" srcId="{1EE84734-203A-4477-8B40-52A314C0270C}" destId="{0667D24D-842D-4641-899E-8303079AC825}" srcOrd="1" destOrd="0" presId="urn:microsoft.com/office/officeart/2005/8/layout/process4"/>
    <dgm:cxn modelId="{E317189F-58A3-46FA-8306-D300276566C6}" type="presParOf" srcId="{1EE84734-203A-4477-8B40-52A314C0270C}" destId="{2E3AE261-2984-49FF-AD5E-5DD837A63E27}" srcOrd="2" destOrd="0" presId="urn:microsoft.com/office/officeart/2005/8/layout/process4"/>
    <dgm:cxn modelId="{45894AA3-D6F8-407B-A985-CFEEFA21D5FC}" type="presParOf" srcId="{2E3AE261-2984-49FF-AD5E-5DD837A63E27}" destId="{7253A5DE-E948-4A37-814F-880B83762E7C}" srcOrd="0" destOrd="0" presId="urn:microsoft.com/office/officeart/2005/8/layout/process4"/>
    <dgm:cxn modelId="{DAFB22DD-82B4-4230-88F2-908F50461151}" type="presParOf" srcId="{1EE84734-203A-4477-8B40-52A314C0270C}" destId="{B447BE44-AE39-45E8-94C1-8478831E63C5}" srcOrd="3" destOrd="0" presId="urn:microsoft.com/office/officeart/2005/8/layout/process4"/>
    <dgm:cxn modelId="{C8315980-E2AB-490E-9999-BA4BC23CD061}" type="presParOf" srcId="{1EE84734-203A-4477-8B40-52A314C0270C}" destId="{CDC0BB7C-7855-44EF-BBBE-E94F4D79B869}" srcOrd="4" destOrd="0" presId="urn:microsoft.com/office/officeart/2005/8/layout/process4"/>
    <dgm:cxn modelId="{84616162-A309-49C2-9B17-383FE6709265}" type="presParOf" srcId="{CDC0BB7C-7855-44EF-BBBE-E94F4D79B869}" destId="{86B7F235-6714-445B-B484-0B6A6B5E02BB}" srcOrd="0" destOrd="0" presId="urn:microsoft.com/office/officeart/2005/8/layout/process4"/>
    <dgm:cxn modelId="{62AF2A3A-2B3F-463B-B183-191E0C9BA6D9}" type="presParOf" srcId="{1EE84734-203A-4477-8B40-52A314C0270C}" destId="{C33F5379-C18E-4ED4-A04F-DC65D87B72F7}" srcOrd="5" destOrd="0" presId="urn:microsoft.com/office/officeart/2005/8/layout/process4"/>
    <dgm:cxn modelId="{DFD01B26-2D24-49C6-B4D8-03A36A43CFAC}" type="presParOf" srcId="{1EE84734-203A-4477-8B40-52A314C0270C}" destId="{6687DE27-DE71-40B2-9711-E20FFCDDF873}" srcOrd="6" destOrd="0" presId="urn:microsoft.com/office/officeart/2005/8/layout/process4"/>
    <dgm:cxn modelId="{C1B76541-D641-4C02-84E3-BB9CA23B77B9}" type="presParOf" srcId="{6687DE27-DE71-40B2-9711-E20FFCDDF873}" destId="{713D4D5E-B5B4-492D-B0C7-94DC1481F3A3}" srcOrd="0" destOrd="0" presId="urn:microsoft.com/office/officeart/2005/8/layout/process4"/>
    <dgm:cxn modelId="{93AF6BC6-8A9F-4891-9196-FC7882DF7019}" type="presParOf" srcId="{1EE84734-203A-4477-8B40-52A314C0270C}" destId="{1663490C-C778-4797-AFC8-5D4F555568C2}" srcOrd="7" destOrd="0" presId="urn:microsoft.com/office/officeart/2005/8/layout/process4"/>
    <dgm:cxn modelId="{0BC9E2F8-604A-4911-8D16-AC78083689C2}" type="presParOf" srcId="{1EE84734-203A-4477-8B40-52A314C0270C}" destId="{FE14E78B-4E49-4873-A127-A3A9AD066944}" srcOrd="8" destOrd="0" presId="urn:microsoft.com/office/officeart/2005/8/layout/process4"/>
    <dgm:cxn modelId="{BA983BFC-9D2B-47B6-9352-7B49FE26403C}" type="presParOf" srcId="{FE14E78B-4E49-4873-A127-A3A9AD066944}" destId="{B41D2B95-6990-40F8-ACA7-38313F0029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82FE767-F198-4189-9831-018A3C529AEA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DC1DE1AC-986D-4EA9-825A-D08D5584AD9C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1</a:t>
          </a:r>
          <a:r>
            <a:rPr lang="fr-CA" sz="2300" dirty="0"/>
            <a:t>. Identifier le principal  décideur opérationnel  (IFRS 8-5b)</a:t>
          </a:r>
        </a:p>
      </dgm:t>
    </dgm:pt>
    <dgm:pt modelId="{F3837E95-F8D5-4B8A-B753-945ACC143941}" type="parTrans" cxnId="{1998DB66-FEF4-4FCB-923A-494E50B3D0BC}">
      <dgm:prSet/>
      <dgm:spPr/>
      <dgm:t>
        <a:bodyPr/>
        <a:lstStyle/>
        <a:p>
          <a:endParaRPr lang="fr-CA"/>
        </a:p>
      </dgm:t>
    </dgm:pt>
    <dgm:pt modelId="{42852D5E-B59A-4260-B9A9-8C6D592511F7}" type="sibTrans" cxnId="{1998DB66-FEF4-4FCB-923A-494E50B3D0BC}">
      <dgm:prSet/>
      <dgm:spPr/>
      <dgm:t>
        <a:bodyPr/>
        <a:lstStyle/>
        <a:p>
          <a:endParaRPr lang="fr-CA"/>
        </a:p>
      </dgm:t>
    </dgm:pt>
    <dgm:pt modelId="{4BB2D1DC-A539-4C40-AF63-23C77114170F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pPr algn="ctr"/>
          <a:r>
            <a:rPr lang="fr-CA" sz="3200" dirty="0"/>
            <a:t>2. </a:t>
          </a:r>
          <a:r>
            <a:rPr lang="fr-CA" sz="2400" dirty="0"/>
            <a:t>Identifier les secteurs opérationnels</a:t>
          </a:r>
        </a:p>
      </dgm:t>
    </dgm:pt>
    <dgm:pt modelId="{81096B3B-A3E7-42BC-A84C-908F715D864F}" type="parTrans" cxnId="{3D20FD44-691A-4C22-96E8-4E297B66F683}">
      <dgm:prSet/>
      <dgm:spPr/>
      <dgm:t>
        <a:bodyPr/>
        <a:lstStyle/>
        <a:p>
          <a:endParaRPr lang="fr-CA"/>
        </a:p>
      </dgm:t>
    </dgm:pt>
    <dgm:pt modelId="{E50C1C2E-DA46-4437-9E54-33EE4D2389C5}" type="sibTrans" cxnId="{3D20FD44-691A-4C22-96E8-4E297B66F683}">
      <dgm:prSet/>
      <dgm:spPr/>
      <dgm:t>
        <a:bodyPr/>
        <a:lstStyle/>
        <a:p>
          <a:endParaRPr lang="fr-CA"/>
        </a:p>
      </dgm:t>
    </dgm:pt>
    <dgm:pt modelId="{C1585521-E2A2-461A-80F7-3CE1B4741EA5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3. </a:t>
          </a:r>
          <a:r>
            <a:rPr lang="fr-CA" sz="2400" dirty="0"/>
            <a:t>Regrouper les secteurs opérationnels similaires</a:t>
          </a:r>
        </a:p>
      </dgm:t>
    </dgm:pt>
    <dgm:pt modelId="{DF142EBF-6810-4D7A-80BB-9142E6C4B506}" type="parTrans" cxnId="{30742767-B92B-4030-A7F2-1D74D447AE1E}">
      <dgm:prSet/>
      <dgm:spPr/>
      <dgm:t>
        <a:bodyPr/>
        <a:lstStyle/>
        <a:p>
          <a:endParaRPr lang="fr-CA"/>
        </a:p>
      </dgm:t>
    </dgm:pt>
    <dgm:pt modelId="{3909CC20-16CA-4A35-8534-A922F4661921}" type="sibTrans" cxnId="{30742767-B92B-4030-A7F2-1D74D447AE1E}">
      <dgm:prSet/>
      <dgm:spPr/>
      <dgm:t>
        <a:bodyPr/>
        <a:lstStyle/>
        <a:p>
          <a:endParaRPr lang="fr-CA"/>
        </a:p>
      </dgm:t>
    </dgm:pt>
    <dgm:pt modelId="{50B2F1FB-FCFF-4D0F-B6FD-EDC2F5F1EABD}">
      <dgm:prSet phldrT="[Texte]" custT="1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fr-CA" sz="3200" dirty="0"/>
            <a:t>4. </a:t>
          </a:r>
          <a:r>
            <a:rPr lang="fr-CA" sz="2400" dirty="0"/>
            <a:t>Établir quels sont les secteurs à présenter</a:t>
          </a:r>
        </a:p>
      </dgm:t>
    </dgm:pt>
    <dgm:pt modelId="{08DF4257-C8DF-41D7-9033-B7E547848AAA}" type="parTrans" cxnId="{2C586D05-F5BB-4CFC-9CF6-80B5D22CD555}">
      <dgm:prSet/>
      <dgm:spPr/>
      <dgm:t>
        <a:bodyPr/>
        <a:lstStyle/>
        <a:p>
          <a:endParaRPr lang="fr-CA"/>
        </a:p>
      </dgm:t>
    </dgm:pt>
    <dgm:pt modelId="{CA3309FF-9711-4DB6-AF90-827770BC1EEA}" type="sibTrans" cxnId="{2C586D05-F5BB-4CFC-9CF6-80B5D22CD555}">
      <dgm:prSet/>
      <dgm:spPr/>
      <dgm:t>
        <a:bodyPr/>
        <a:lstStyle/>
        <a:p>
          <a:endParaRPr lang="fr-CA"/>
        </a:p>
      </dgm:t>
    </dgm:pt>
    <dgm:pt modelId="{EF083D2A-4AE8-4C7E-9ECA-C12A6A5BE161}">
      <dgm:prSet phldrT="[Texte]" custT="1"/>
      <dgm:spPr>
        <a:solidFill>
          <a:schemeClr val="accent2"/>
        </a:solidFill>
      </dgm:spPr>
      <dgm:t>
        <a:bodyPr/>
        <a:lstStyle/>
        <a:p>
          <a:r>
            <a:rPr lang="fr-CA" sz="2600" b="1" dirty="0"/>
            <a:t>5. Présenter l’information </a:t>
          </a:r>
        </a:p>
      </dgm:t>
    </dgm:pt>
    <dgm:pt modelId="{33D9D847-F4A2-4E07-A510-35675AFCC464}" type="parTrans" cxnId="{054F850A-EC11-4DB1-A927-62D6A09AE13D}">
      <dgm:prSet/>
      <dgm:spPr/>
      <dgm:t>
        <a:bodyPr/>
        <a:lstStyle/>
        <a:p>
          <a:endParaRPr lang="fr-CA"/>
        </a:p>
      </dgm:t>
    </dgm:pt>
    <dgm:pt modelId="{A3624A86-4B98-4563-BCD1-7DA269F270C1}" type="sibTrans" cxnId="{054F850A-EC11-4DB1-A927-62D6A09AE13D}">
      <dgm:prSet/>
      <dgm:spPr/>
      <dgm:t>
        <a:bodyPr/>
        <a:lstStyle/>
        <a:p>
          <a:endParaRPr lang="fr-CA"/>
        </a:p>
      </dgm:t>
    </dgm:pt>
    <dgm:pt modelId="{1EE84734-203A-4477-8B40-52A314C0270C}" type="pres">
      <dgm:prSet presAssocID="{982FE767-F198-4189-9831-018A3C529AEA}" presName="Name0" presStyleCnt="0">
        <dgm:presLayoutVars>
          <dgm:dir/>
          <dgm:animLvl val="lvl"/>
          <dgm:resizeHandles val="exact"/>
        </dgm:presLayoutVars>
      </dgm:prSet>
      <dgm:spPr/>
    </dgm:pt>
    <dgm:pt modelId="{1A8DD73E-9F0C-4E61-AF89-AEF8F5CD9732}" type="pres">
      <dgm:prSet presAssocID="{EF083D2A-4AE8-4C7E-9ECA-C12A6A5BE161}" presName="boxAndChildren" presStyleCnt="0"/>
      <dgm:spPr/>
    </dgm:pt>
    <dgm:pt modelId="{EA2C732F-F26D-40C5-9778-9CF62D454A6E}" type="pres">
      <dgm:prSet presAssocID="{EF083D2A-4AE8-4C7E-9ECA-C12A6A5BE161}" presName="parentTextBox" presStyleLbl="node1" presStyleIdx="0" presStyleCnt="5"/>
      <dgm:spPr/>
    </dgm:pt>
    <dgm:pt modelId="{0667D24D-842D-4641-899E-8303079AC825}" type="pres">
      <dgm:prSet presAssocID="{CA3309FF-9711-4DB6-AF90-827770BC1EEA}" presName="sp" presStyleCnt="0"/>
      <dgm:spPr/>
    </dgm:pt>
    <dgm:pt modelId="{2E3AE261-2984-49FF-AD5E-5DD837A63E27}" type="pres">
      <dgm:prSet presAssocID="{50B2F1FB-FCFF-4D0F-B6FD-EDC2F5F1EABD}" presName="arrowAndChildren" presStyleCnt="0"/>
      <dgm:spPr/>
    </dgm:pt>
    <dgm:pt modelId="{7253A5DE-E948-4A37-814F-880B83762E7C}" type="pres">
      <dgm:prSet presAssocID="{50B2F1FB-FCFF-4D0F-B6FD-EDC2F5F1EABD}" presName="parentTextArrow" presStyleLbl="node1" presStyleIdx="1" presStyleCnt="5"/>
      <dgm:spPr/>
    </dgm:pt>
    <dgm:pt modelId="{B447BE44-AE39-45E8-94C1-8478831E63C5}" type="pres">
      <dgm:prSet presAssocID="{3909CC20-16CA-4A35-8534-A922F4661921}" presName="sp" presStyleCnt="0"/>
      <dgm:spPr/>
    </dgm:pt>
    <dgm:pt modelId="{CDC0BB7C-7855-44EF-BBBE-E94F4D79B869}" type="pres">
      <dgm:prSet presAssocID="{C1585521-E2A2-461A-80F7-3CE1B4741EA5}" presName="arrowAndChildren" presStyleCnt="0"/>
      <dgm:spPr/>
    </dgm:pt>
    <dgm:pt modelId="{86B7F235-6714-445B-B484-0B6A6B5E02BB}" type="pres">
      <dgm:prSet presAssocID="{C1585521-E2A2-461A-80F7-3CE1B4741EA5}" presName="parentTextArrow" presStyleLbl="node1" presStyleIdx="2" presStyleCnt="5"/>
      <dgm:spPr/>
    </dgm:pt>
    <dgm:pt modelId="{C33F5379-C18E-4ED4-A04F-DC65D87B72F7}" type="pres">
      <dgm:prSet presAssocID="{E50C1C2E-DA46-4437-9E54-33EE4D2389C5}" presName="sp" presStyleCnt="0"/>
      <dgm:spPr/>
    </dgm:pt>
    <dgm:pt modelId="{6687DE27-DE71-40B2-9711-E20FFCDDF873}" type="pres">
      <dgm:prSet presAssocID="{4BB2D1DC-A539-4C40-AF63-23C77114170F}" presName="arrowAndChildren" presStyleCnt="0"/>
      <dgm:spPr/>
    </dgm:pt>
    <dgm:pt modelId="{713D4D5E-B5B4-492D-B0C7-94DC1481F3A3}" type="pres">
      <dgm:prSet presAssocID="{4BB2D1DC-A539-4C40-AF63-23C77114170F}" presName="parentTextArrow" presStyleLbl="node1" presStyleIdx="3" presStyleCnt="5"/>
      <dgm:spPr/>
    </dgm:pt>
    <dgm:pt modelId="{1663490C-C778-4797-AFC8-5D4F555568C2}" type="pres">
      <dgm:prSet presAssocID="{42852D5E-B59A-4260-B9A9-8C6D592511F7}" presName="sp" presStyleCnt="0"/>
      <dgm:spPr/>
    </dgm:pt>
    <dgm:pt modelId="{FE14E78B-4E49-4873-A127-A3A9AD066944}" type="pres">
      <dgm:prSet presAssocID="{DC1DE1AC-986D-4EA9-825A-D08D5584AD9C}" presName="arrowAndChildren" presStyleCnt="0"/>
      <dgm:spPr/>
    </dgm:pt>
    <dgm:pt modelId="{B41D2B95-6990-40F8-ACA7-38313F002970}" type="pres">
      <dgm:prSet presAssocID="{DC1DE1AC-986D-4EA9-825A-D08D5584AD9C}" presName="parentTextArrow" presStyleLbl="node1" presStyleIdx="4" presStyleCnt="5"/>
      <dgm:spPr/>
    </dgm:pt>
  </dgm:ptLst>
  <dgm:cxnLst>
    <dgm:cxn modelId="{2C586D05-F5BB-4CFC-9CF6-80B5D22CD555}" srcId="{982FE767-F198-4189-9831-018A3C529AEA}" destId="{50B2F1FB-FCFF-4D0F-B6FD-EDC2F5F1EABD}" srcOrd="3" destOrd="0" parTransId="{08DF4257-C8DF-41D7-9033-B7E547848AAA}" sibTransId="{CA3309FF-9711-4DB6-AF90-827770BC1EEA}"/>
    <dgm:cxn modelId="{054F850A-EC11-4DB1-A927-62D6A09AE13D}" srcId="{982FE767-F198-4189-9831-018A3C529AEA}" destId="{EF083D2A-4AE8-4C7E-9ECA-C12A6A5BE161}" srcOrd="4" destOrd="0" parTransId="{33D9D847-F4A2-4E07-A510-35675AFCC464}" sibTransId="{A3624A86-4B98-4563-BCD1-7DA269F270C1}"/>
    <dgm:cxn modelId="{0BAF9D23-F191-432E-90CE-36266EADD562}" type="presOf" srcId="{C1585521-E2A2-461A-80F7-3CE1B4741EA5}" destId="{86B7F235-6714-445B-B484-0B6A6B5E02BB}" srcOrd="0" destOrd="0" presId="urn:microsoft.com/office/officeart/2005/8/layout/process4"/>
    <dgm:cxn modelId="{B12FF933-99CC-4D4A-BA6F-F039FAAC6463}" type="presOf" srcId="{50B2F1FB-FCFF-4D0F-B6FD-EDC2F5F1EABD}" destId="{7253A5DE-E948-4A37-814F-880B83762E7C}" srcOrd="0" destOrd="0" presId="urn:microsoft.com/office/officeart/2005/8/layout/process4"/>
    <dgm:cxn modelId="{747A9338-B724-400C-B672-C5D425B19E8C}" type="presOf" srcId="{4BB2D1DC-A539-4C40-AF63-23C77114170F}" destId="{713D4D5E-B5B4-492D-B0C7-94DC1481F3A3}" srcOrd="0" destOrd="0" presId="urn:microsoft.com/office/officeart/2005/8/layout/process4"/>
    <dgm:cxn modelId="{3D20FD44-691A-4C22-96E8-4E297B66F683}" srcId="{982FE767-F198-4189-9831-018A3C529AEA}" destId="{4BB2D1DC-A539-4C40-AF63-23C77114170F}" srcOrd="1" destOrd="0" parTransId="{81096B3B-A3E7-42BC-A84C-908F715D864F}" sibTransId="{E50C1C2E-DA46-4437-9E54-33EE4D2389C5}"/>
    <dgm:cxn modelId="{1998DB66-FEF4-4FCB-923A-494E50B3D0BC}" srcId="{982FE767-F198-4189-9831-018A3C529AEA}" destId="{DC1DE1AC-986D-4EA9-825A-D08D5584AD9C}" srcOrd="0" destOrd="0" parTransId="{F3837E95-F8D5-4B8A-B753-945ACC143941}" sibTransId="{42852D5E-B59A-4260-B9A9-8C6D592511F7}"/>
    <dgm:cxn modelId="{30742767-B92B-4030-A7F2-1D74D447AE1E}" srcId="{982FE767-F198-4189-9831-018A3C529AEA}" destId="{C1585521-E2A2-461A-80F7-3CE1B4741EA5}" srcOrd="2" destOrd="0" parTransId="{DF142EBF-6810-4D7A-80BB-9142E6C4B506}" sibTransId="{3909CC20-16CA-4A35-8534-A922F4661921}"/>
    <dgm:cxn modelId="{AEEA9250-6817-4E16-BD46-80E6352480C4}" type="presOf" srcId="{DC1DE1AC-986D-4EA9-825A-D08D5584AD9C}" destId="{B41D2B95-6990-40F8-ACA7-38313F002970}" srcOrd="0" destOrd="0" presId="urn:microsoft.com/office/officeart/2005/8/layout/process4"/>
    <dgm:cxn modelId="{F72A6180-AC17-4EEA-AC07-453FB9EB16DC}" type="presOf" srcId="{982FE767-F198-4189-9831-018A3C529AEA}" destId="{1EE84734-203A-4477-8B40-52A314C0270C}" srcOrd="0" destOrd="0" presId="urn:microsoft.com/office/officeart/2005/8/layout/process4"/>
    <dgm:cxn modelId="{2A20F497-7D43-49B2-B0CF-0D8F913E573E}" type="presOf" srcId="{EF083D2A-4AE8-4C7E-9ECA-C12A6A5BE161}" destId="{EA2C732F-F26D-40C5-9778-9CF62D454A6E}" srcOrd="0" destOrd="0" presId="urn:microsoft.com/office/officeart/2005/8/layout/process4"/>
    <dgm:cxn modelId="{D881F1DD-1A59-4D94-B39A-9E9418CF1A59}" type="presParOf" srcId="{1EE84734-203A-4477-8B40-52A314C0270C}" destId="{1A8DD73E-9F0C-4E61-AF89-AEF8F5CD9732}" srcOrd="0" destOrd="0" presId="urn:microsoft.com/office/officeart/2005/8/layout/process4"/>
    <dgm:cxn modelId="{8AEA1F11-5C82-42D5-89B8-BEF27AD65C33}" type="presParOf" srcId="{1A8DD73E-9F0C-4E61-AF89-AEF8F5CD9732}" destId="{EA2C732F-F26D-40C5-9778-9CF62D454A6E}" srcOrd="0" destOrd="0" presId="urn:microsoft.com/office/officeart/2005/8/layout/process4"/>
    <dgm:cxn modelId="{792B09BA-4604-40F8-929C-07CA1AD99040}" type="presParOf" srcId="{1EE84734-203A-4477-8B40-52A314C0270C}" destId="{0667D24D-842D-4641-899E-8303079AC825}" srcOrd="1" destOrd="0" presId="urn:microsoft.com/office/officeart/2005/8/layout/process4"/>
    <dgm:cxn modelId="{2210C7C1-6073-48C5-9507-391C1C84DF8F}" type="presParOf" srcId="{1EE84734-203A-4477-8B40-52A314C0270C}" destId="{2E3AE261-2984-49FF-AD5E-5DD837A63E27}" srcOrd="2" destOrd="0" presId="urn:microsoft.com/office/officeart/2005/8/layout/process4"/>
    <dgm:cxn modelId="{5696A6BA-B5C3-4818-A990-C8BEA92091E9}" type="presParOf" srcId="{2E3AE261-2984-49FF-AD5E-5DD837A63E27}" destId="{7253A5DE-E948-4A37-814F-880B83762E7C}" srcOrd="0" destOrd="0" presId="urn:microsoft.com/office/officeart/2005/8/layout/process4"/>
    <dgm:cxn modelId="{82B9AA21-CB8E-4F52-901F-23A6FE58D863}" type="presParOf" srcId="{1EE84734-203A-4477-8B40-52A314C0270C}" destId="{B447BE44-AE39-45E8-94C1-8478831E63C5}" srcOrd="3" destOrd="0" presId="urn:microsoft.com/office/officeart/2005/8/layout/process4"/>
    <dgm:cxn modelId="{63447F7D-5C94-442C-9044-BB575BAA43F0}" type="presParOf" srcId="{1EE84734-203A-4477-8B40-52A314C0270C}" destId="{CDC0BB7C-7855-44EF-BBBE-E94F4D79B869}" srcOrd="4" destOrd="0" presId="urn:microsoft.com/office/officeart/2005/8/layout/process4"/>
    <dgm:cxn modelId="{C7825586-17BC-403D-AFB0-E1679D5E2E6B}" type="presParOf" srcId="{CDC0BB7C-7855-44EF-BBBE-E94F4D79B869}" destId="{86B7F235-6714-445B-B484-0B6A6B5E02BB}" srcOrd="0" destOrd="0" presId="urn:microsoft.com/office/officeart/2005/8/layout/process4"/>
    <dgm:cxn modelId="{F20DA2AB-A594-421F-9474-5BB4FA5E21B0}" type="presParOf" srcId="{1EE84734-203A-4477-8B40-52A314C0270C}" destId="{C33F5379-C18E-4ED4-A04F-DC65D87B72F7}" srcOrd="5" destOrd="0" presId="urn:microsoft.com/office/officeart/2005/8/layout/process4"/>
    <dgm:cxn modelId="{87D30DA0-1532-42E2-A7AA-AA1204DB83BB}" type="presParOf" srcId="{1EE84734-203A-4477-8B40-52A314C0270C}" destId="{6687DE27-DE71-40B2-9711-E20FFCDDF873}" srcOrd="6" destOrd="0" presId="urn:microsoft.com/office/officeart/2005/8/layout/process4"/>
    <dgm:cxn modelId="{7D62E7FB-5532-446B-AFEB-2B02271C02B4}" type="presParOf" srcId="{6687DE27-DE71-40B2-9711-E20FFCDDF873}" destId="{713D4D5E-B5B4-492D-B0C7-94DC1481F3A3}" srcOrd="0" destOrd="0" presId="urn:microsoft.com/office/officeart/2005/8/layout/process4"/>
    <dgm:cxn modelId="{52D768F4-EA80-4EB5-91D7-D1F36B5CB170}" type="presParOf" srcId="{1EE84734-203A-4477-8B40-52A314C0270C}" destId="{1663490C-C778-4797-AFC8-5D4F555568C2}" srcOrd="7" destOrd="0" presId="urn:microsoft.com/office/officeart/2005/8/layout/process4"/>
    <dgm:cxn modelId="{35728C35-A4D7-45B2-A824-93A39B35224C}" type="presParOf" srcId="{1EE84734-203A-4477-8B40-52A314C0270C}" destId="{FE14E78B-4E49-4873-A127-A3A9AD066944}" srcOrd="8" destOrd="0" presId="urn:microsoft.com/office/officeart/2005/8/layout/process4"/>
    <dgm:cxn modelId="{F6E9B333-E8B1-4C86-ABAB-851BECA7AB00}" type="presParOf" srcId="{FE14E78B-4E49-4873-A127-A3A9AD066944}" destId="{B41D2B95-6990-40F8-ACA7-38313F00297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732F-F26D-40C5-9778-9CF62D454A6E}">
      <dsp:nvSpPr>
        <dsp:cNvPr id="0" name=""/>
        <dsp:cNvSpPr/>
      </dsp:nvSpPr>
      <dsp:spPr>
        <a:xfrm>
          <a:off x="0" y="4047418"/>
          <a:ext cx="6172199" cy="664012"/>
        </a:xfrm>
        <a:prstGeom prst="rec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5. </a:t>
          </a:r>
          <a:r>
            <a:rPr lang="fr-CA" sz="2400" kern="1200" dirty="0"/>
            <a:t>Présenter l’information </a:t>
          </a:r>
        </a:p>
      </dsp:txBody>
      <dsp:txXfrm>
        <a:off x="0" y="4047418"/>
        <a:ext cx="6172199" cy="664012"/>
      </dsp:txXfrm>
    </dsp:sp>
    <dsp:sp modelId="{7253A5DE-E948-4A37-814F-880B83762E7C}">
      <dsp:nvSpPr>
        <dsp:cNvPr id="0" name=""/>
        <dsp:cNvSpPr/>
      </dsp:nvSpPr>
      <dsp:spPr>
        <a:xfrm rot="10800000">
          <a:off x="0" y="3036127"/>
          <a:ext cx="6172199" cy="102125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4. </a:t>
          </a:r>
          <a:r>
            <a:rPr lang="fr-CA" sz="2400" kern="1200" dirty="0"/>
            <a:t>Établir quels sont les secteurs à présenter</a:t>
          </a:r>
        </a:p>
      </dsp:txBody>
      <dsp:txXfrm rot="10800000">
        <a:off x="0" y="3036127"/>
        <a:ext cx="6172199" cy="663578"/>
      </dsp:txXfrm>
    </dsp:sp>
    <dsp:sp modelId="{86B7F235-6714-445B-B484-0B6A6B5E02BB}">
      <dsp:nvSpPr>
        <dsp:cNvPr id="0" name=""/>
        <dsp:cNvSpPr/>
      </dsp:nvSpPr>
      <dsp:spPr>
        <a:xfrm rot="10800000">
          <a:off x="0" y="2024836"/>
          <a:ext cx="6172199" cy="102125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3. </a:t>
          </a:r>
          <a:r>
            <a:rPr lang="fr-CA" sz="2400" kern="1200" dirty="0"/>
            <a:t>Regrouper les secteurs opérationnels similaires</a:t>
          </a:r>
        </a:p>
      </dsp:txBody>
      <dsp:txXfrm rot="10800000">
        <a:off x="0" y="2024836"/>
        <a:ext cx="6172199" cy="663578"/>
      </dsp:txXfrm>
    </dsp:sp>
    <dsp:sp modelId="{713D4D5E-B5B4-492D-B0C7-94DC1481F3A3}">
      <dsp:nvSpPr>
        <dsp:cNvPr id="0" name=""/>
        <dsp:cNvSpPr/>
      </dsp:nvSpPr>
      <dsp:spPr>
        <a:xfrm rot="10800000">
          <a:off x="0" y="1013544"/>
          <a:ext cx="6172199" cy="102125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2. </a:t>
          </a:r>
          <a:r>
            <a:rPr lang="fr-CA" sz="2400" kern="1200" dirty="0"/>
            <a:t>Identifier les secteurs opérationnels</a:t>
          </a:r>
        </a:p>
      </dsp:txBody>
      <dsp:txXfrm rot="10800000">
        <a:off x="0" y="1013544"/>
        <a:ext cx="6172199" cy="663578"/>
      </dsp:txXfrm>
    </dsp:sp>
    <dsp:sp modelId="{B41D2B95-6990-40F8-ACA7-38313F002970}">
      <dsp:nvSpPr>
        <dsp:cNvPr id="0" name=""/>
        <dsp:cNvSpPr/>
      </dsp:nvSpPr>
      <dsp:spPr>
        <a:xfrm rot="10800000">
          <a:off x="0" y="2253"/>
          <a:ext cx="6172199" cy="1021251"/>
        </a:xfrm>
        <a:prstGeom prst="upArrowCallou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1. Identifier le principal  décideur opérationnel  (IFRS 8-5b)</a:t>
          </a:r>
        </a:p>
      </dsp:txBody>
      <dsp:txXfrm rot="10800000">
        <a:off x="0" y="2253"/>
        <a:ext cx="6172199" cy="6635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732F-F26D-40C5-9778-9CF62D454A6E}">
      <dsp:nvSpPr>
        <dsp:cNvPr id="0" name=""/>
        <dsp:cNvSpPr/>
      </dsp:nvSpPr>
      <dsp:spPr>
        <a:xfrm>
          <a:off x="0" y="3973810"/>
          <a:ext cx="6172199" cy="651936"/>
        </a:xfrm>
        <a:prstGeom prst="rec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5. </a:t>
          </a:r>
          <a:r>
            <a:rPr lang="fr-CA" sz="2400" kern="1200" dirty="0"/>
            <a:t>Présenter l’information </a:t>
          </a:r>
        </a:p>
      </dsp:txBody>
      <dsp:txXfrm>
        <a:off x="0" y="3973810"/>
        <a:ext cx="6172199" cy="651936"/>
      </dsp:txXfrm>
    </dsp:sp>
    <dsp:sp modelId="{7253A5DE-E948-4A37-814F-880B83762E7C}">
      <dsp:nvSpPr>
        <dsp:cNvPr id="0" name=""/>
        <dsp:cNvSpPr/>
      </dsp:nvSpPr>
      <dsp:spPr>
        <a:xfrm rot="10800000">
          <a:off x="0" y="2980910"/>
          <a:ext cx="6172199" cy="1002678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4. </a:t>
          </a:r>
          <a:r>
            <a:rPr lang="fr-CA" sz="2400" kern="1200" dirty="0"/>
            <a:t>Établir quels sont les secteurs à présenter</a:t>
          </a:r>
        </a:p>
      </dsp:txBody>
      <dsp:txXfrm rot="10800000">
        <a:off x="0" y="2980910"/>
        <a:ext cx="6172199" cy="651510"/>
      </dsp:txXfrm>
    </dsp:sp>
    <dsp:sp modelId="{86B7F235-6714-445B-B484-0B6A6B5E02BB}">
      <dsp:nvSpPr>
        <dsp:cNvPr id="0" name=""/>
        <dsp:cNvSpPr/>
      </dsp:nvSpPr>
      <dsp:spPr>
        <a:xfrm rot="10800000">
          <a:off x="0" y="1988011"/>
          <a:ext cx="6172199" cy="1002678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3. </a:t>
          </a:r>
          <a:r>
            <a:rPr lang="fr-CA" sz="2400" kern="1200" dirty="0"/>
            <a:t>Regrouper les secteurs opérationnels similaires</a:t>
          </a:r>
        </a:p>
      </dsp:txBody>
      <dsp:txXfrm rot="10800000">
        <a:off x="0" y="1988011"/>
        <a:ext cx="6172199" cy="651510"/>
      </dsp:txXfrm>
    </dsp:sp>
    <dsp:sp modelId="{713D4D5E-B5B4-492D-B0C7-94DC1481F3A3}">
      <dsp:nvSpPr>
        <dsp:cNvPr id="0" name=""/>
        <dsp:cNvSpPr/>
      </dsp:nvSpPr>
      <dsp:spPr>
        <a:xfrm rot="10800000">
          <a:off x="0" y="995111"/>
          <a:ext cx="6172199" cy="1002678"/>
        </a:xfrm>
        <a:prstGeom prst="upArrowCallou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2. Identifier les secteurs opérationnels</a:t>
          </a:r>
        </a:p>
      </dsp:txBody>
      <dsp:txXfrm rot="10800000">
        <a:off x="0" y="995111"/>
        <a:ext cx="6172199" cy="651510"/>
      </dsp:txXfrm>
    </dsp:sp>
    <dsp:sp modelId="{B41D2B95-6990-40F8-ACA7-38313F002970}">
      <dsp:nvSpPr>
        <dsp:cNvPr id="0" name=""/>
        <dsp:cNvSpPr/>
      </dsp:nvSpPr>
      <dsp:spPr>
        <a:xfrm rot="10800000">
          <a:off x="0" y="2212"/>
          <a:ext cx="6172199" cy="1002678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1</a:t>
          </a:r>
          <a:r>
            <a:rPr lang="fr-CA" sz="2300" kern="1200" dirty="0"/>
            <a:t>. Identifier le principal  décideur opérationnel  (IFRS 8-5b)</a:t>
          </a:r>
        </a:p>
      </dsp:txBody>
      <dsp:txXfrm rot="10800000">
        <a:off x="0" y="2212"/>
        <a:ext cx="6172199" cy="6515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732F-F26D-40C5-9778-9CF62D454A6E}">
      <dsp:nvSpPr>
        <dsp:cNvPr id="0" name=""/>
        <dsp:cNvSpPr/>
      </dsp:nvSpPr>
      <dsp:spPr>
        <a:xfrm>
          <a:off x="0" y="4157119"/>
          <a:ext cx="6172199" cy="626022"/>
        </a:xfrm>
        <a:prstGeom prst="rec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5. </a:t>
          </a:r>
          <a:r>
            <a:rPr lang="fr-CA" sz="2400" kern="1200" dirty="0"/>
            <a:t>Présenter l’information </a:t>
          </a:r>
        </a:p>
      </dsp:txBody>
      <dsp:txXfrm>
        <a:off x="0" y="4157119"/>
        <a:ext cx="6172199" cy="626022"/>
      </dsp:txXfrm>
    </dsp:sp>
    <dsp:sp modelId="{7253A5DE-E948-4A37-814F-880B83762E7C}">
      <dsp:nvSpPr>
        <dsp:cNvPr id="0" name=""/>
        <dsp:cNvSpPr/>
      </dsp:nvSpPr>
      <dsp:spPr>
        <a:xfrm rot="10800000">
          <a:off x="0" y="3203687"/>
          <a:ext cx="6172199" cy="962822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4. </a:t>
          </a:r>
          <a:r>
            <a:rPr lang="fr-CA" sz="2400" kern="1200" dirty="0"/>
            <a:t>Établir quels sont les secteurs à présenter</a:t>
          </a:r>
        </a:p>
      </dsp:txBody>
      <dsp:txXfrm rot="10800000">
        <a:off x="0" y="3203687"/>
        <a:ext cx="6172199" cy="625613"/>
      </dsp:txXfrm>
    </dsp:sp>
    <dsp:sp modelId="{86B7F235-6714-445B-B484-0B6A6B5E02BB}">
      <dsp:nvSpPr>
        <dsp:cNvPr id="0" name=""/>
        <dsp:cNvSpPr/>
      </dsp:nvSpPr>
      <dsp:spPr>
        <a:xfrm rot="10800000">
          <a:off x="0" y="1907654"/>
          <a:ext cx="6172199" cy="1305423"/>
        </a:xfrm>
        <a:prstGeom prst="upArrowCallou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3. Regrouper les </a:t>
          </a:r>
        </a:p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secteurs opérationnels similaires</a:t>
          </a:r>
        </a:p>
      </dsp:txBody>
      <dsp:txXfrm rot="10800000">
        <a:off x="0" y="1907654"/>
        <a:ext cx="6172199" cy="848225"/>
      </dsp:txXfrm>
    </dsp:sp>
    <dsp:sp modelId="{713D4D5E-B5B4-492D-B0C7-94DC1481F3A3}">
      <dsp:nvSpPr>
        <dsp:cNvPr id="0" name=""/>
        <dsp:cNvSpPr/>
      </dsp:nvSpPr>
      <dsp:spPr>
        <a:xfrm rot="10800000">
          <a:off x="0" y="954222"/>
          <a:ext cx="6172199" cy="962822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2. </a:t>
          </a:r>
          <a:r>
            <a:rPr lang="fr-CA" sz="2400" kern="1200" dirty="0"/>
            <a:t>Identifier les secteurs opérationnels</a:t>
          </a:r>
        </a:p>
      </dsp:txBody>
      <dsp:txXfrm rot="10800000">
        <a:off x="0" y="954222"/>
        <a:ext cx="6172199" cy="625613"/>
      </dsp:txXfrm>
    </dsp:sp>
    <dsp:sp modelId="{B41D2B95-6990-40F8-ACA7-38313F002970}">
      <dsp:nvSpPr>
        <dsp:cNvPr id="0" name=""/>
        <dsp:cNvSpPr/>
      </dsp:nvSpPr>
      <dsp:spPr>
        <a:xfrm rot="10800000">
          <a:off x="0" y="790"/>
          <a:ext cx="6172199" cy="962822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1</a:t>
          </a:r>
          <a:r>
            <a:rPr lang="fr-CA" sz="2300" kern="1200" dirty="0"/>
            <a:t>. Identifier le principal  décideur opérationnel  (IFRS 8-5b)</a:t>
          </a:r>
        </a:p>
      </dsp:txBody>
      <dsp:txXfrm rot="10800000">
        <a:off x="0" y="790"/>
        <a:ext cx="6172199" cy="6256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732F-F26D-40C5-9778-9CF62D454A6E}">
      <dsp:nvSpPr>
        <dsp:cNvPr id="0" name=""/>
        <dsp:cNvSpPr/>
      </dsp:nvSpPr>
      <dsp:spPr>
        <a:xfrm>
          <a:off x="0" y="4175722"/>
          <a:ext cx="6172199" cy="685061"/>
        </a:xfrm>
        <a:prstGeom prst="rec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5. </a:t>
          </a:r>
          <a:r>
            <a:rPr lang="fr-CA" sz="2400" kern="1200" dirty="0"/>
            <a:t>Présenter l’information </a:t>
          </a:r>
        </a:p>
      </dsp:txBody>
      <dsp:txXfrm>
        <a:off x="0" y="4175722"/>
        <a:ext cx="6172199" cy="685061"/>
      </dsp:txXfrm>
    </dsp:sp>
    <dsp:sp modelId="{7253A5DE-E948-4A37-814F-880B83762E7C}">
      <dsp:nvSpPr>
        <dsp:cNvPr id="0" name=""/>
        <dsp:cNvSpPr/>
      </dsp:nvSpPr>
      <dsp:spPr>
        <a:xfrm rot="10800000">
          <a:off x="0" y="3132372"/>
          <a:ext cx="6172199" cy="1053625"/>
        </a:xfrm>
        <a:prstGeom prst="upArrowCallout">
          <a:avLst/>
        </a:prstGeom>
        <a:solidFill>
          <a:schemeClr val="accent2"/>
        </a:solidFill>
        <a:ln w="1905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4. Établir quels sont les secteurs à présenter</a:t>
          </a:r>
        </a:p>
      </dsp:txBody>
      <dsp:txXfrm rot="10800000">
        <a:off x="0" y="3132372"/>
        <a:ext cx="6172199" cy="684614"/>
      </dsp:txXfrm>
    </dsp:sp>
    <dsp:sp modelId="{86B7F235-6714-445B-B484-0B6A6B5E02BB}">
      <dsp:nvSpPr>
        <dsp:cNvPr id="0" name=""/>
        <dsp:cNvSpPr/>
      </dsp:nvSpPr>
      <dsp:spPr>
        <a:xfrm rot="10800000">
          <a:off x="0" y="2089023"/>
          <a:ext cx="6172199" cy="1053625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3. </a:t>
          </a:r>
          <a:r>
            <a:rPr lang="fr-CA" sz="2400" kern="1200" dirty="0"/>
            <a:t>Regrouper les secteurs opérationnels similaires</a:t>
          </a:r>
        </a:p>
      </dsp:txBody>
      <dsp:txXfrm rot="10800000">
        <a:off x="0" y="2089023"/>
        <a:ext cx="6172199" cy="684614"/>
      </dsp:txXfrm>
    </dsp:sp>
    <dsp:sp modelId="{713D4D5E-B5B4-492D-B0C7-94DC1481F3A3}">
      <dsp:nvSpPr>
        <dsp:cNvPr id="0" name=""/>
        <dsp:cNvSpPr/>
      </dsp:nvSpPr>
      <dsp:spPr>
        <a:xfrm rot="10800000">
          <a:off x="0" y="1045674"/>
          <a:ext cx="6172199" cy="1053625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2. </a:t>
          </a:r>
          <a:r>
            <a:rPr lang="fr-CA" sz="2400" kern="1200" dirty="0"/>
            <a:t>Identifier les secteurs opérationnels</a:t>
          </a:r>
        </a:p>
      </dsp:txBody>
      <dsp:txXfrm rot="10800000">
        <a:off x="0" y="1045674"/>
        <a:ext cx="6172199" cy="684614"/>
      </dsp:txXfrm>
    </dsp:sp>
    <dsp:sp modelId="{B41D2B95-6990-40F8-ACA7-38313F002970}">
      <dsp:nvSpPr>
        <dsp:cNvPr id="0" name=""/>
        <dsp:cNvSpPr/>
      </dsp:nvSpPr>
      <dsp:spPr>
        <a:xfrm rot="10800000">
          <a:off x="0" y="2324"/>
          <a:ext cx="6172199" cy="1053625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1</a:t>
          </a:r>
          <a:r>
            <a:rPr lang="fr-CA" sz="2300" kern="1200" dirty="0"/>
            <a:t>. Identifier le principal  décideur opérationnel  (IFRS 8-5b)</a:t>
          </a:r>
        </a:p>
      </dsp:txBody>
      <dsp:txXfrm rot="10800000">
        <a:off x="0" y="2324"/>
        <a:ext cx="6172199" cy="6846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C732F-F26D-40C5-9778-9CF62D454A6E}">
      <dsp:nvSpPr>
        <dsp:cNvPr id="0" name=""/>
        <dsp:cNvSpPr/>
      </dsp:nvSpPr>
      <dsp:spPr>
        <a:xfrm>
          <a:off x="0" y="3862376"/>
          <a:ext cx="6172199" cy="633655"/>
        </a:xfrm>
        <a:prstGeom prst="rect">
          <a:avLst/>
        </a:prstGeom>
        <a:solidFill>
          <a:schemeClr val="accent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600" b="1" kern="1200" dirty="0"/>
            <a:t>5. Présenter l’information </a:t>
          </a:r>
        </a:p>
      </dsp:txBody>
      <dsp:txXfrm>
        <a:off x="0" y="3862376"/>
        <a:ext cx="6172199" cy="633655"/>
      </dsp:txXfrm>
    </dsp:sp>
    <dsp:sp modelId="{7253A5DE-E948-4A37-814F-880B83762E7C}">
      <dsp:nvSpPr>
        <dsp:cNvPr id="0" name=""/>
        <dsp:cNvSpPr/>
      </dsp:nvSpPr>
      <dsp:spPr>
        <a:xfrm rot="10800000">
          <a:off x="0" y="2897320"/>
          <a:ext cx="6172199" cy="97456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4. </a:t>
          </a:r>
          <a:r>
            <a:rPr lang="fr-CA" sz="2400" kern="1200" dirty="0"/>
            <a:t>Établir quels sont les secteurs à présenter</a:t>
          </a:r>
        </a:p>
      </dsp:txBody>
      <dsp:txXfrm rot="10800000">
        <a:off x="0" y="2897320"/>
        <a:ext cx="6172199" cy="633241"/>
      </dsp:txXfrm>
    </dsp:sp>
    <dsp:sp modelId="{86B7F235-6714-445B-B484-0B6A6B5E02BB}">
      <dsp:nvSpPr>
        <dsp:cNvPr id="0" name=""/>
        <dsp:cNvSpPr/>
      </dsp:nvSpPr>
      <dsp:spPr>
        <a:xfrm rot="10800000">
          <a:off x="0" y="1932263"/>
          <a:ext cx="6172199" cy="97456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3. </a:t>
          </a:r>
          <a:r>
            <a:rPr lang="fr-CA" sz="2400" kern="1200" dirty="0"/>
            <a:t>Regrouper les secteurs opérationnels similaires</a:t>
          </a:r>
        </a:p>
      </dsp:txBody>
      <dsp:txXfrm rot="10800000">
        <a:off x="0" y="1932263"/>
        <a:ext cx="6172199" cy="633241"/>
      </dsp:txXfrm>
    </dsp:sp>
    <dsp:sp modelId="{713D4D5E-B5B4-492D-B0C7-94DC1481F3A3}">
      <dsp:nvSpPr>
        <dsp:cNvPr id="0" name=""/>
        <dsp:cNvSpPr/>
      </dsp:nvSpPr>
      <dsp:spPr>
        <a:xfrm rot="10800000">
          <a:off x="0" y="967206"/>
          <a:ext cx="6172199" cy="97456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2. </a:t>
          </a:r>
          <a:r>
            <a:rPr lang="fr-CA" sz="2400" kern="1200" dirty="0"/>
            <a:t>Identifier les secteurs opérationnels</a:t>
          </a:r>
        </a:p>
      </dsp:txBody>
      <dsp:txXfrm rot="10800000">
        <a:off x="0" y="967206"/>
        <a:ext cx="6172199" cy="633241"/>
      </dsp:txXfrm>
    </dsp:sp>
    <dsp:sp modelId="{B41D2B95-6990-40F8-ACA7-38313F002970}">
      <dsp:nvSpPr>
        <dsp:cNvPr id="0" name=""/>
        <dsp:cNvSpPr/>
      </dsp:nvSpPr>
      <dsp:spPr>
        <a:xfrm rot="10800000">
          <a:off x="0" y="2150"/>
          <a:ext cx="6172199" cy="974561"/>
        </a:xfrm>
        <a:prstGeom prst="upArrowCallout">
          <a:avLst/>
        </a:prstGeom>
        <a:solidFill>
          <a:schemeClr val="tx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3200" kern="1200" dirty="0"/>
            <a:t>1</a:t>
          </a:r>
          <a:r>
            <a:rPr lang="fr-CA" sz="2300" kern="1200" dirty="0"/>
            <a:t>. Identifier le principal  décideur opérationnel  (IFRS 8-5b)</a:t>
          </a:r>
        </a:p>
      </dsp:txBody>
      <dsp:txXfrm rot="10800000">
        <a:off x="0" y="2150"/>
        <a:ext cx="6172199" cy="6332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454148-7CAE-47CF-9D1B-9DE81E4B5165}" type="datetimeFigureOut">
              <a:rPr lang="fr-CA" smtClean="0"/>
              <a:t>2020-09-15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A48FF-36AD-4F8F-A699-E7DC6B45B37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489096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43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C300E1-589E-45FA-8F85-4EDA41D569F7}" type="datetimeFigureOut">
              <a:rPr lang="fr-CA" smtClean="0"/>
              <a:t>2020-09-15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382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73892"/>
            <a:ext cx="548640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64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574371" y="8596751"/>
            <a:ext cx="2842759" cy="434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5D1A8C-00AD-4977-9029-AD1809DD03EA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766809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solidFill>
            <a:srgbClr val="FFFFFF"/>
          </a:solidFill>
          <a:ln/>
        </p:spPr>
      </p:sp>
      <p:sp>
        <p:nvSpPr>
          <p:cNvPr id="79875" name="Espace réservé des commentaires 2"/>
          <p:cNvSpPr>
            <a:spLocks noGrp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fr-CA" altLang="fr-FR"/>
          </a:p>
        </p:txBody>
      </p:sp>
      <p:sp>
        <p:nvSpPr>
          <p:cNvPr id="79876" name="Espace réservé du numéro de diapositive 3"/>
          <p:cNvSpPr txBox="1">
            <a:spLocks noGrp="1"/>
          </p:cNvSpPr>
          <p:nvPr/>
        </p:nvSpPr>
        <p:spPr bwMode="auto">
          <a:xfrm>
            <a:off x="3886993" y="8978452"/>
            <a:ext cx="2971009" cy="472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446" tIns="46223" rIns="92446" bIns="46223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fld id="{B9F60D44-E7BF-41EE-8F97-0BA921CCE073}" type="slidenum">
              <a:rPr lang="fr-CA" altLang="fr-FR">
                <a:solidFill>
                  <a:srgbClr val="000000"/>
                </a:solidFill>
                <a:latin typeface="Times New Roman" panose="02020603050405020304" pitchFamily="18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64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81923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8192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D33B73-75EC-4086-91D6-517B8E64CC0C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463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8397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8397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EF34CA2-9397-45A9-891E-3F3BA55A45DE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747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86019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8602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801C19-7E1C-49A2-9626-63A26427B3A6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4922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88067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8806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4C677D-FF21-46DE-9243-222E9D17E21C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038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90115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9011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48DD17-8C98-4915-91B3-A350E41A41DD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973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92163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9216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494AB83-3CB7-43F7-87CF-2001B14D4DDE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1199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9421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FR" altLang="fr-FR" sz="1000" dirty="0"/>
          </a:p>
        </p:txBody>
      </p:sp>
      <p:sp>
        <p:nvSpPr>
          <p:cNvPr id="9421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AC86C1-A24C-4349-9A07-AD8E9937A349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859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96259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9626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B33E02-D0CB-4D06-9E61-1EFC2359BDC7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06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98307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9830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A883C9-44F9-4407-8095-43BD6E6B2FE5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198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00355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Tx/>
              <a:buChar char="•"/>
            </a:pPr>
            <a:endParaRPr lang="fr-CA" altLang="fr-FR" sz="900" dirty="0"/>
          </a:p>
        </p:txBody>
      </p:sp>
      <p:sp>
        <p:nvSpPr>
          <p:cNvPr id="1003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76DD1EC-B492-4F5E-9C93-C5EE4BF80F22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918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02403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10240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AF8E147-7161-4520-A3CF-F91E28998231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160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04451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b="1" dirty="0"/>
          </a:p>
        </p:txBody>
      </p:sp>
      <p:sp>
        <p:nvSpPr>
          <p:cNvPr id="10445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70DF5F-C41C-4C00-84F6-D68D02EB0282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99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06499" name="Espace réservé des commentaires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/>
          </a:p>
        </p:txBody>
      </p:sp>
      <p:sp>
        <p:nvSpPr>
          <p:cNvPr id="10650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50888" indent="-2873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5411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17663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79625" indent="-23018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368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940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512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908425" indent="-2301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45023BC-EC14-4210-A5CA-54C3357CA8FB}" type="slidenum">
              <a:rPr lang="fr-CA" altLang="fr-FR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fr-CA" altLang="fr-FR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799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15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8504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16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2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17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9059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515938"/>
            <a:ext cx="4181475" cy="3136900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854669"/>
            <a:ext cx="5486400" cy="4863662"/>
          </a:xfrm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18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6660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z="1000" kern="1200" dirty="0">
              <a:solidFill>
                <a:schemeClr val="tx1"/>
              </a:solidFill>
              <a:effectLst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19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6631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z="1000" kern="1200" dirty="0">
              <a:solidFill>
                <a:schemeClr val="tx1"/>
              </a:solidFill>
              <a:effectLst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20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149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sz="1000" kern="1200" dirty="0">
              <a:solidFill>
                <a:schemeClr val="tx1"/>
              </a:solidFill>
              <a:effectLst/>
              <a:latin typeface="Calibri" pitchFamily="34" charset="0"/>
              <a:ea typeface="+mn-ea"/>
              <a:cs typeface="+mn-cs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21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364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F87672C-8344-4F5C-9675-0B84CDBEC2E5}" type="slidenum">
              <a:rPr lang="fr-CA" altLang="fr-FR" smtClean="0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fr-CA" alt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3337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b="1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23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50078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sz="10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24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0040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25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7173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 typeface="Arial" pitchFamily="34" charset="0"/>
              <a:buNone/>
              <a:defRPr/>
            </a:pPr>
            <a:endParaRPr lang="fr-CA" sz="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26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1363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5D1A8C-00AD-4977-9029-AD1809DD03EA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79222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>
          <a:xfrm>
            <a:off x="3886993" y="8978452"/>
            <a:ext cx="2971009" cy="47288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F87672C-8344-4F5C-9675-0B84CDBEC2E5}" type="slidenum">
              <a:rPr lang="fr-CA" altLang="fr-FR" smtClean="0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fr-CA" alt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893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38263" y="1162050"/>
            <a:ext cx="4181475" cy="3136900"/>
          </a:xfrm>
          <a:ln/>
        </p:spPr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fr-CA" altLang="fr-FR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528E28-397C-4154-ABDD-FC04FBBE3CDB}" type="slidenum">
              <a:rPr lang="fr-CA" smtClean="0">
                <a:solidFill>
                  <a:srgbClr val="000000"/>
                </a:solidFill>
              </a:rPr>
              <a:pPr/>
              <a:t>29</a:t>
            </a:fld>
            <a:endParaRPr lang="fr-CA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11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5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1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5410201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 flipV="1">
            <a:off x="5410201" y="4198940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 useBgFill="1">
        <p:nvSpPr>
          <p:cNvPr id="11" name="Rectangle à coins arrondis 10"/>
          <p:cNvSpPr/>
          <p:nvPr/>
        </p:nvSpPr>
        <p:spPr bwMode="white">
          <a:xfrm>
            <a:off x="5410201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 useBgFill="1">
        <p:nvSpPr>
          <p:cNvPr id="12" name="Rectangle à coins arrondis 11"/>
          <p:cNvSpPr/>
          <p:nvPr/>
        </p:nvSpPr>
        <p:spPr bwMode="white">
          <a:xfrm>
            <a:off x="7377113" y="4060827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0" y="3649665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3675065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2401889"/>
            <a:ext cx="8458200" cy="1470025"/>
          </a:xfrm>
        </p:spPr>
        <p:txBody>
          <a:bodyPr anchor="b"/>
          <a:lstStyle>
            <a:lvl1pPr>
              <a:defRPr sz="33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48006" indent="0" algn="l">
              <a:buNone/>
              <a:defRPr sz="1800">
                <a:solidFill>
                  <a:schemeClr val="tx2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17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5595E-9469-4AE3-AC89-C01B2A2B6B5E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18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1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8320089" y="1589"/>
            <a:ext cx="747712" cy="662290"/>
          </a:xfrm>
        </p:spPr>
        <p:txBody>
          <a:bodyPr/>
          <a:lstStyle>
            <a:lvl1pPr>
              <a:defRPr sz="15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9449DFA-EB65-4246-8514-34B6B4E874A3}" type="slidenum">
              <a:rPr lang="fr-FR" altLang="fr-FR" smtClean="0"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 lang="fr-FR" altLang="fr-FR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07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8D9AE7-C150-4079-B7B1-DC7DFE513D84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2213C-3817-4F02-8459-8E0ED3E32B0B}" type="slidenum">
              <a:rPr lang="fr-FR" altLang="fr-FR"/>
              <a:pPr>
                <a:defRPr/>
              </a:pPr>
              <a:t>‹N°›</a:t>
            </a:fld>
            <a:endParaRPr lang="fr-FR" altLang="fr-FR" dirty="0"/>
          </a:p>
        </p:txBody>
      </p:sp>
    </p:spTree>
    <p:extLst>
      <p:ext uri="{BB962C8B-B14F-4D97-AF65-F5344CB8AC3E}">
        <p14:creationId xmlns:p14="http://schemas.microsoft.com/office/powerpoint/2010/main" val="3550297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1981202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3225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34290" indent="0">
              <a:buNone/>
              <a:defRPr sz="1575" b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2F6E6-3D05-4BB1-8E28-A86800B34A42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D59BF-93C8-47FF-8186-7799C24A949C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736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2249426"/>
            <a:ext cx="4038600" cy="4525963"/>
          </a:xfrm>
        </p:spPr>
        <p:txBody>
          <a:bodyPr/>
          <a:lstStyle>
            <a:lvl1pPr>
              <a:defRPr sz="1500"/>
            </a:lvl1pPr>
            <a:lvl2pPr>
              <a:defRPr sz="1425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2249426"/>
            <a:ext cx="4038600" cy="4525963"/>
          </a:xfrm>
        </p:spPr>
        <p:txBody>
          <a:bodyPr/>
          <a:lstStyle>
            <a:lvl1pPr>
              <a:defRPr sz="1500"/>
            </a:lvl1pPr>
            <a:lvl2pPr>
              <a:defRPr sz="1425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80696-4B95-4415-A13F-806A5718CDBF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8A76D-C7EB-4F7F-BD6B-38CCE20F7F9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76254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300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583364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77DE13-72EB-492A-A3CE-CA393C1ADC55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AEDBC-1B17-46C7-807B-60961D44CA2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12532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B5DDC-D606-49E4-9141-1837831A709A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4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0578E-814A-40F4-BED7-B9FB156FB55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7485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350" b="1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6858" indent="0">
              <a:buNone/>
              <a:defRPr sz="1050"/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B6C8AE-E68D-45A6-9D04-AF655E927B2C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7A38E-C33C-461B-9811-BF1AB7F83E4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7747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40435" y="1109162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1500" b="1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fr-FR" noProof="0" dirty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88443" y="3274310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75"/>
            </a:lvl1pPr>
            <a:lvl2pPr>
              <a:buFontTx/>
              <a:buNone/>
              <a:defRPr sz="900"/>
            </a:lvl2pPr>
            <a:lvl3pPr>
              <a:buFontTx/>
              <a:buNone/>
              <a:defRPr sz="750"/>
            </a:lvl3pPr>
            <a:lvl4pPr>
              <a:buFontTx/>
              <a:buNone/>
              <a:defRPr sz="675"/>
            </a:lvl4pPr>
            <a:lvl5pPr>
              <a:buFontTx/>
              <a:buNone/>
              <a:defRPr sz="675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57D6E-3CB8-4E88-A8A0-C7ACFF739552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6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7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49E352-D0B1-4BD6-9D97-B08624D5C7AF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097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D0487-FC7E-4B6B-98EE-1616B1930CC3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286C2-94D7-4432-9A72-B60325B2AFC1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5427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3B5214-3F7A-40F4-BCE7-A30AE6468727}" type="datetime1">
              <a:rPr lang="fr-CA">
                <a:solidFill>
                  <a:srgbClr val="E40059"/>
                </a:solidFill>
              </a:rPr>
              <a:pPr>
                <a:defRPr/>
              </a:pPr>
              <a:t>2020-09-15</a:t>
            </a:fld>
            <a:endParaRPr lang="fr-FR" dirty="0">
              <a:solidFill>
                <a:srgbClr val="E40059"/>
              </a:solidFill>
            </a:endParaRPr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6" name="Espace réservé du numéro de diapositive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C93B3-77F7-4B4E-825D-071A7769E3B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05431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5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307977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5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40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 useBgFill="1">
        <p:nvSpPr>
          <p:cNvPr id="33" name="Rectangle à coins arrondis 32"/>
          <p:cNvSpPr/>
          <p:nvPr/>
        </p:nvSpPr>
        <p:spPr bwMode="white">
          <a:xfrm>
            <a:off x="5407026" y="496889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 useBgFill="1">
        <p:nvSpPr>
          <p:cNvPr id="34" name="Rectangle à coins arrondis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39" name="Rectangle 38"/>
          <p:cNvSpPr/>
          <p:nvPr/>
        </p:nvSpPr>
        <p:spPr bwMode="invGray">
          <a:xfrm>
            <a:off x="8915401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 dirty="0">
              <a:solidFill>
                <a:prstClr val="white"/>
              </a:solidFill>
            </a:endParaRPr>
          </a:p>
        </p:txBody>
      </p:sp>
      <p:sp>
        <p:nvSpPr>
          <p:cNvPr id="1039" name="Espace réservé du titre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  <a:endParaRPr lang="en-US" altLang="fr-FR"/>
          </a:p>
        </p:txBody>
      </p:sp>
      <p:sp>
        <p:nvSpPr>
          <p:cNvPr id="1040" name="Espace réservé du texte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586539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6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B40D34-B4E2-4043-A3AC-B4AB6CDC1295}" type="datetime1">
              <a:rPr lang="fr-CA">
                <a:solidFill>
                  <a:srgbClr val="E40059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2020-09-15</a:t>
            </a:fld>
            <a:endParaRPr lang="fr-FR" dirty="0">
              <a:solidFill>
                <a:srgbClr val="E4005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5257801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600">
                <a:solidFill>
                  <a:schemeClr val="accent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50">
                <a:solidFill>
                  <a:srgbClr val="FF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F95E61-E561-4D05-B055-6F8727EACF48}" type="slidenum">
              <a:rPr lang="fr-FR" altLang="fr-FR"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fr-FR" altLang="fr-FR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231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Trebuchet MS" pitchFamily="34" charset="0"/>
        </a:defRPr>
      </a:lvl9pPr>
    </p:titleStyle>
    <p:bodyStyle>
      <a:lvl1pPr marL="273844" indent="-191691" algn="l" rtl="0" eaLnBrk="0" fontAlgn="base" hangingPunct="0">
        <a:spcBef>
          <a:spcPts val="225"/>
        </a:spcBef>
        <a:spcAft>
          <a:spcPct val="0"/>
        </a:spcAft>
        <a:buClr>
          <a:srgbClr val="9C007F"/>
        </a:buClr>
        <a:buFont typeface="Georgia" panose="02040502050405020303" pitchFamily="18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19" indent="-184547" algn="l" rtl="0" eaLnBrk="0" fontAlgn="base" hangingPunct="0">
        <a:spcBef>
          <a:spcPts val="225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1950" kern="1200">
          <a:solidFill>
            <a:schemeClr val="accent2"/>
          </a:solidFill>
          <a:latin typeface="+mn-lt"/>
          <a:ea typeface="+mn-ea"/>
          <a:cs typeface="+mn-cs"/>
        </a:defRPr>
      </a:lvl2pPr>
      <a:lvl3pPr marL="691754" indent="-164306" algn="l" rtl="0" eaLnBrk="0" fontAlgn="base" hangingPunct="0">
        <a:spcBef>
          <a:spcPts val="225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84635" indent="-150019" algn="l" rtl="0" eaLnBrk="0" fontAlgn="base" hangingPunct="0">
        <a:spcBef>
          <a:spcPts val="225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165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41797" indent="-136922" algn="l" rtl="0" eaLnBrk="0" fontAlgn="base" hangingPunct="0">
        <a:spcBef>
          <a:spcPts val="225"/>
        </a:spcBef>
        <a:spcAft>
          <a:spcPct val="0"/>
        </a:spcAft>
        <a:buClr>
          <a:srgbClr val="9C007F"/>
        </a:buClr>
        <a:buFont typeface="Georgia" panose="02040502050405020303" pitchFamily="18" charset="0"/>
        <a:buChar char="▫"/>
        <a:defRPr sz="1500" kern="1200">
          <a:solidFill>
            <a:srgbClr val="9C007F"/>
          </a:solidFill>
          <a:latin typeface="+mn-lt"/>
          <a:ea typeface="+mn-ea"/>
          <a:cs typeface="+mn-cs"/>
        </a:defRPr>
      </a:lvl5pPr>
      <a:lvl6pPr marL="1207008" indent="-137160" algn="l" rtl="0" eaLnBrk="1" latinLnBrk="0" hangingPunct="1">
        <a:spcBef>
          <a:spcPts val="225"/>
        </a:spcBef>
        <a:buClr>
          <a:schemeClr val="accent3"/>
        </a:buClr>
        <a:buFont typeface="Georgia"/>
        <a:buChar char="▫"/>
        <a:defRPr kumimoji="0" sz="135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371600" indent="-137160" algn="l" rtl="0" eaLnBrk="1" latinLnBrk="0" hangingPunct="1">
        <a:spcBef>
          <a:spcPts val="225"/>
        </a:spcBef>
        <a:buClr>
          <a:schemeClr val="accent3"/>
        </a:buClr>
        <a:buFont typeface="Georgia"/>
        <a:buChar char="▫"/>
        <a:defRPr kumimoji="0" sz="12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1522476" indent="-137160" algn="l" rtl="0" eaLnBrk="1" latinLnBrk="0" hangingPunct="1">
        <a:spcBef>
          <a:spcPts val="225"/>
        </a:spcBef>
        <a:buClr>
          <a:schemeClr val="accent3"/>
        </a:buClr>
        <a:buFont typeface="Georgia"/>
        <a:buChar char="◦"/>
        <a:defRPr kumimoji="0" sz="1125" kern="1200">
          <a:solidFill>
            <a:schemeClr val="accent3"/>
          </a:solidFill>
          <a:latin typeface="+mn-lt"/>
          <a:ea typeface="+mn-ea"/>
          <a:cs typeface="+mn-cs"/>
        </a:defRPr>
      </a:lvl8pPr>
      <a:lvl9pPr marL="1680210" indent="-137160" algn="l" rtl="0" eaLnBrk="1" latinLnBrk="0" hangingPunct="1">
        <a:spcBef>
          <a:spcPts val="225"/>
        </a:spcBef>
        <a:buClr>
          <a:schemeClr val="accent3"/>
        </a:buClr>
        <a:buFont typeface="Georgia"/>
        <a:buChar char="◦"/>
        <a:defRPr kumimoji="0" sz="105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re 2"/>
          <p:cNvSpPr>
            <a:spLocks noGrp="1"/>
          </p:cNvSpPr>
          <p:nvPr>
            <p:ph type="ctrTitle"/>
          </p:nvPr>
        </p:nvSpPr>
        <p:spPr>
          <a:xfrm>
            <a:off x="728663" y="2003382"/>
            <a:ext cx="7100887" cy="1183710"/>
          </a:xfrm>
        </p:spPr>
        <p:txBody>
          <a:bodyPr/>
          <a:lstStyle/>
          <a:p>
            <a:pPr eaLnBrk="1" hangingPunct="1"/>
            <a:r>
              <a:rPr lang="fr-CA" altLang="fr-FR" sz="4000" b="1" dirty="0"/>
              <a:t>Secteurs opérationnels </a:t>
            </a:r>
            <a:r>
              <a:rPr lang="fr-CA" altLang="fr-FR" sz="2700" b="1" dirty="0"/>
              <a:t>(IFRS 8)</a:t>
            </a:r>
            <a:endParaRPr lang="fr-CA" altLang="fr-FR" b="1" dirty="0"/>
          </a:p>
        </p:txBody>
      </p:sp>
      <p:sp>
        <p:nvSpPr>
          <p:cNvPr id="78852" name="Espace réservé du pied de page 1"/>
          <p:cNvSpPr txBox="1">
            <a:spLocks noGrp="1"/>
          </p:cNvSpPr>
          <p:nvPr/>
        </p:nvSpPr>
        <p:spPr bwMode="auto">
          <a:xfrm>
            <a:off x="4629150" y="4243387"/>
            <a:ext cx="4004414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300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fr-FR" altLang="fr-FR" sz="2400" dirty="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78853" name="Espace réservé du numéro de diapositive 2"/>
          <p:cNvSpPr txBox="1">
            <a:spLocks noGrp="1"/>
          </p:cNvSpPr>
          <p:nvPr/>
        </p:nvSpPr>
        <p:spPr bwMode="auto">
          <a:xfrm>
            <a:off x="7383066" y="858442"/>
            <a:ext cx="560784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300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8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ts val="300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260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4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ts val="3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220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ts val="300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20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fld id="{3F7E7DAF-BCF4-4339-B5C5-812B7314140A}" type="slidenum">
              <a:rPr lang="fr-FR" altLang="fr-FR" sz="1350">
                <a:solidFill>
                  <a:prstClr val="white"/>
                </a:solidFill>
                <a:latin typeface="Times New Roman" panose="02020603050405020304" pitchFamily="18" charset="0"/>
              </a:rPr>
              <a:pPr algn="r" fontAlgn="base"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</a:pPr>
              <a:t>1</a:t>
            </a:fld>
            <a:endParaRPr lang="fr-FR" altLang="fr-FR" sz="1350">
              <a:solidFill>
                <a:prstClr val="white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860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/>
              <a:t>Les Secteurs opérationnels</a:t>
            </a:r>
          </a:p>
        </p:txBody>
      </p:sp>
      <p:sp>
        <p:nvSpPr>
          <p:cNvPr id="80899" name="Espace réservé du contenu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indent="-385763">
              <a:buFont typeface="Trebuchet MS" panose="020B0603020202020204" pitchFamily="34" charset="0"/>
              <a:buAutoNum type="arabicPeriod"/>
            </a:pPr>
            <a:r>
              <a:rPr lang="fr-CA" altLang="fr-FR"/>
              <a:t>IFRS 8 : un survol</a:t>
            </a:r>
          </a:p>
          <a:p>
            <a:pPr marL="466725" indent="-385763">
              <a:buFont typeface="Trebuchet MS" panose="020B0603020202020204" pitchFamily="34" charset="0"/>
              <a:buAutoNum type="arabicPeriod"/>
            </a:pPr>
            <a:r>
              <a:rPr lang="fr-CA" altLang="fr-FR"/>
              <a:t>Les secteurs opérationnels dans les états financiers trimestriels</a:t>
            </a:r>
          </a:p>
        </p:txBody>
      </p:sp>
      <p:sp>
        <p:nvSpPr>
          <p:cNvPr id="80900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4299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80901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E5149D-A99E-4A2A-B44D-7E35556BC10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17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 sz="2400" b="1">
                <a:solidFill>
                  <a:srgbClr val="353535"/>
                </a:solidFill>
              </a:rPr>
              <a:t>Secteurs opérationnels (IFRS 8)</a:t>
            </a:r>
            <a:br>
              <a:rPr lang="fr-CA" altLang="fr-FR" sz="2400" b="1">
                <a:solidFill>
                  <a:srgbClr val="353535"/>
                </a:solidFill>
              </a:rPr>
            </a:br>
            <a:r>
              <a:rPr lang="fr-CA" altLang="fr-FR" sz="2100" b="1">
                <a:solidFill>
                  <a:srgbClr val="353535"/>
                </a:solidFill>
              </a:rPr>
              <a:t>Le principe fondamental</a:t>
            </a:r>
          </a:p>
        </p:txBody>
      </p:sp>
      <p:sp>
        <p:nvSpPr>
          <p:cNvPr id="41987" name="Espace réservé du contenu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FR" dirty="0"/>
              <a:t>Évaluer la </a:t>
            </a:r>
            <a:r>
              <a:rPr lang="fr-FR" b="1" dirty="0"/>
              <a:t>nature</a:t>
            </a:r>
            <a:r>
              <a:rPr lang="fr-FR" dirty="0"/>
              <a:t> et les </a:t>
            </a:r>
            <a:r>
              <a:rPr lang="fr-FR" b="1" dirty="0"/>
              <a:t>effets financiers </a:t>
            </a:r>
          </a:p>
          <a:p>
            <a:pPr marL="557213" lvl="1" indent="-214313">
              <a:defRPr/>
            </a:pPr>
            <a:r>
              <a:rPr lang="fr-FR" b="1" dirty="0">
                <a:solidFill>
                  <a:schemeClr val="tx1"/>
                </a:solidFill>
              </a:rPr>
              <a:t>des </a:t>
            </a:r>
            <a:r>
              <a:rPr lang="fr-FR" b="1" dirty="0">
                <a:solidFill>
                  <a:schemeClr val="accent1"/>
                </a:solidFill>
              </a:rPr>
              <a:t>activités</a:t>
            </a:r>
            <a:r>
              <a:rPr lang="fr-FR" b="1" dirty="0">
                <a:solidFill>
                  <a:schemeClr val="tx1"/>
                </a:solidFill>
              </a:rPr>
              <a:t> auxquelles une entité se livre</a:t>
            </a:r>
          </a:p>
          <a:p>
            <a:pPr marL="342900" lvl="1" indent="0">
              <a:buNone/>
              <a:defRPr/>
            </a:pPr>
            <a:endParaRPr lang="fr-FR" b="1" dirty="0">
              <a:solidFill>
                <a:schemeClr val="tx1"/>
              </a:solidFill>
            </a:endParaRPr>
          </a:p>
          <a:p>
            <a:pPr marL="342900" lvl="1" indent="0">
              <a:buNone/>
              <a:defRPr/>
            </a:pPr>
            <a:r>
              <a:rPr lang="fr-FR" b="1" dirty="0">
                <a:solidFill>
                  <a:schemeClr val="tx1"/>
                </a:solidFill>
              </a:rPr>
              <a:t> </a:t>
            </a:r>
            <a:r>
              <a:rPr lang="fr-FR" dirty="0">
                <a:solidFill>
                  <a:schemeClr val="tx1"/>
                </a:solidFill>
              </a:rPr>
              <a:t>et</a:t>
            </a:r>
            <a:r>
              <a:rPr lang="fr-FR" dirty="0"/>
              <a:t> </a:t>
            </a:r>
          </a:p>
          <a:p>
            <a:pPr marL="342900" lvl="1" indent="0">
              <a:buNone/>
              <a:defRPr/>
            </a:pPr>
            <a:endParaRPr lang="fr-FR" dirty="0"/>
          </a:p>
          <a:p>
            <a:pPr marL="557213" lvl="1" indent="-214313">
              <a:defRPr/>
            </a:pPr>
            <a:r>
              <a:rPr lang="fr-FR" b="1" dirty="0">
                <a:solidFill>
                  <a:schemeClr val="tx1"/>
                </a:solidFill>
              </a:rPr>
              <a:t>des </a:t>
            </a:r>
            <a:r>
              <a:rPr lang="fr-FR" b="1" dirty="0">
                <a:solidFill>
                  <a:schemeClr val="accent1"/>
                </a:solidFill>
              </a:rPr>
              <a:t>environnements économiques</a:t>
            </a:r>
            <a:r>
              <a:rPr lang="fr-FR" b="1" dirty="0">
                <a:solidFill>
                  <a:schemeClr val="tx1"/>
                </a:solidFill>
              </a:rPr>
              <a:t> dans lesquels elle exerce ces activités.</a:t>
            </a:r>
            <a:endParaRPr lang="fr-CA" b="1" dirty="0">
              <a:solidFill>
                <a:schemeClr val="tx1"/>
              </a:solidFill>
            </a:endParaRPr>
          </a:p>
        </p:txBody>
      </p:sp>
      <p:sp>
        <p:nvSpPr>
          <p:cNvPr id="82948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4299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8294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98BFAA-BC77-4831-843C-269B7A785CAD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37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re 1"/>
          <p:cNvSpPr>
            <a:spLocks noGrp="1"/>
          </p:cNvSpPr>
          <p:nvPr>
            <p:ph type="title"/>
          </p:nvPr>
        </p:nvSpPr>
        <p:spPr>
          <a:xfrm>
            <a:off x="1485900" y="1714501"/>
            <a:ext cx="6172200" cy="526256"/>
          </a:xfrm>
        </p:spPr>
        <p:txBody>
          <a:bodyPr/>
          <a:lstStyle/>
          <a:p>
            <a:r>
              <a:rPr lang="fr-CA" altLang="fr-FR" sz="2400" b="1"/>
              <a:t>Qui est visé?</a:t>
            </a:r>
          </a:p>
        </p:txBody>
      </p:sp>
      <p:sp>
        <p:nvSpPr>
          <p:cNvPr id="43011" name="Espace réservé du contenu 2"/>
          <p:cNvSpPr>
            <a:spLocks noGrp="1"/>
          </p:cNvSpPr>
          <p:nvPr>
            <p:ph idx="1"/>
          </p:nvPr>
        </p:nvSpPr>
        <p:spPr>
          <a:xfrm>
            <a:off x="1439466" y="2240757"/>
            <a:ext cx="6172200" cy="3456385"/>
          </a:xfrm>
        </p:spPr>
        <p:txBody>
          <a:bodyPr/>
          <a:lstStyle/>
          <a:p>
            <a:pPr>
              <a:buFont typeface="Georgia" panose="02040502050405020303" pitchFamily="18" charset="0"/>
              <a:buNone/>
              <a:defRPr/>
            </a:pPr>
            <a:r>
              <a:rPr lang="fr-FR" sz="1950" dirty="0"/>
              <a:t>Les états financiers d'une entité :</a:t>
            </a:r>
          </a:p>
          <a:p>
            <a:pPr>
              <a:buFont typeface="Trebuchet MS" pitchFamily="34" charset="0"/>
              <a:buAutoNum type="romanLcPeriod"/>
              <a:defRPr/>
            </a:pPr>
            <a:r>
              <a:rPr lang="fr-FR" sz="1950" dirty="0"/>
              <a:t>dont les instruments d'</a:t>
            </a:r>
            <a:r>
              <a:rPr lang="fr-FR" sz="1950" b="1" dirty="0">
                <a:solidFill>
                  <a:srgbClr val="E90062"/>
                </a:solidFill>
              </a:rPr>
              <a:t>emprunt </a:t>
            </a:r>
            <a:r>
              <a:rPr lang="fr-FR" sz="1950" dirty="0"/>
              <a:t>ou de </a:t>
            </a:r>
            <a:r>
              <a:rPr lang="fr-FR" sz="1950" b="1" dirty="0">
                <a:solidFill>
                  <a:srgbClr val="E90062"/>
                </a:solidFill>
              </a:rPr>
              <a:t>capitaux</a:t>
            </a:r>
            <a:r>
              <a:rPr lang="fr-FR" sz="1950" dirty="0"/>
              <a:t> </a:t>
            </a:r>
            <a:r>
              <a:rPr lang="fr-FR" sz="1950" b="1" dirty="0">
                <a:solidFill>
                  <a:srgbClr val="E90062"/>
                </a:solidFill>
              </a:rPr>
              <a:t>propres</a:t>
            </a:r>
            <a:r>
              <a:rPr lang="fr-FR" sz="1950" dirty="0"/>
              <a:t> </a:t>
            </a:r>
            <a:r>
              <a:rPr lang="fr-FR" sz="1950" b="1" dirty="0"/>
              <a:t>sont négociés </a:t>
            </a:r>
            <a:r>
              <a:rPr lang="fr-FR" sz="1950" dirty="0"/>
              <a:t>sur un marché organisé ou</a:t>
            </a:r>
          </a:p>
          <a:p>
            <a:pPr indent="-273844">
              <a:buFont typeface="Trebuchet MS" pitchFamily="34" charset="0"/>
              <a:buAutoNum type="romanLcPeriod"/>
              <a:defRPr/>
            </a:pPr>
            <a:r>
              <a:rPr lang="fr-FR" sz="1950" dirty="0"/>
              <a:t>qui </a:t>
            </a:r>
            <a:r>
              <a:rPr lang="fr-FR" sz="1950" b="1" dirty="0"/>
              <a:t>dépose</a:t>
            </a:r>
            <a:r>
              <a:rPr lang="fr-FR" sz="1950" dirty="0"/>
              <a:t> ou </a:t>
            </a:r>
            <a:r>
              <a:rPr lang="fr-FR" sz="1950" b="1" dirty="0"/>
              <a:t>qui est sur le point de déposer </a:t>
            </a:r>
            <a:r>
              <a:rPr lang="fr-FR" sz="1950" dirty="0"/>
              <a:t>ses états financiers auprès d'une autorité de réglementation des valeurs mobilières ou d'une autre autorité de réglementation aux fins d'émettre des instruments d'une catégorie quelconque sur un marché organisé </a:t>
            </a:r>
            <a:r>
              <a:rPr lang="fr-FR" sz="1950" b="1" dirty="0"/>
              <a:t>(IFRS 8 – 2)</a:t>
            </a:r>
          </a:p>
          <a:p>
            <a:pPr>
              <a:defRPr/>
            </a:pPr>
            <a:endParaRPr lang="fr-CA" b="1" dirty="0"/>
          </a:p>
        </p:txBody>
      </p:sp>
      <p:sp>
        <p:nvSpPr>
          <p:cNvPr id="84996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1" y="1316831"/>
            <a:ext cx="132159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8499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44676F-DACC-407A-B6B9-7CE48C1770B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78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re 1"/>
          <p:cNvSpPr>
            <a:spLocks noGrp="1"/>
          </p:cNvSpPr>
          <p:nvPr>
            <p:ph type="title"/>
          </p:nvPr>
        </p:nvSpPr>
        <p:spPr>
          <a:xfrm>
            <a:off x="1485900" y="1316831"/>
            <a:ext cx="6426994" cy="527447"/>
          </a:xfrm>
        </p:spPr>
        <p:txBody>
          <a:bodyPr anchor="t"/>
          <a:lstStyle/>
          <a:p>
            <a:r>
              <a:rPr lang="fr-CA" altLang="fr-FR" sz="2400" dirty="0"/>
              <a:t>Présenter l’information sectorielle : 5 étapes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3340250"/>
              </p:ext>
            </p:extLst>
          </p:nvPr>
        </p:nvGraphicFramePr>
        <p:xfrm>
          <a:off x="1485900" y="1844278"/>
          <a:ext cx="6172200" cy="4713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7044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20776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8704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9FCEE78-FE25-4A41-BB83-937E0DDE95D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35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36947" indent="-336947"/>
            <a:r>
              <a:rPr lang="fr-CA" altLang="fr-FR" sz="2700" b="1"/>
              <a:t>1. Le principal décideur opérationnel (PDO) c’est d’abord...</a:t>
            </a:r>
          </a:p>
        </p:txBody>
      </p:sp>
      <p:sp>
        <p:nvSpPr>
          <p:cNvPr id="89091" name="Espace réservé du contenu 6"/>
          <p:cNvSpPr>
            <a:spLocks noGrp="1"/>
          </p:cNvSpPr>
          <p:nvPr>
            <p:ph idx="1"/>
          </p:nvPr>
        </p:nvSpPr>
        <p:spPr>
          <a:xfrm>
            <a:off x="971550" y="2249488"/>
            <a:ext cx="7715250" cy="4324350"/>
          </a:xfrm>
        </p:spPr>
        <p:txBody>
          <a:bodyPr/>
          <a:lstStyle/>
          <a:p>
            <a:r>
              <a:rPr lang="fr-FR" altLang="fr-FR" dirty="0"/>
              <a:t>une </a:t>
            </a:r>
            <a:r>
              <a:rPr lang="fr-FR" altLang="fr-FR" b="1" dirty="0">
                <a:solidFill>
                  <a:srgbClr val="E90062"/>
                </a:solidFill>
              </a:rPr>
              <a:t>fonction</a:t>
            </a:r>
            <a:r>
              <a:rPr lang="fr-FR" altLang="fr-FR" dirty="0"/>
              <a:t> plutôt qu’un titre particulier. </a:t>
            </a:r>
          </a:p>
          <a:p>
            <a:r>
              <a:rPr lang="fr-FR" altLang="fr-FR" dirty="0"/>
              <a:t>Cette fonction consiste à :</a:t>
            </a:r>
          </a:p>
          <a:p>
            <a:pPr lvl="1"/>
            <a:r>
              <a:rPr lang="fr-FR" altLang="fr-FR" b="1" dirty="0">
                <a:solidFill>
                  <a:srgbClr val="E90062"/>
                </a:solidFill>
              </a:rPr>
              <a:t>affecter des ressources </a:t>
            </a:r>
            <a:r>
              <a:rPr lang="fr-FR" altLang="fr-FR" b="1" dirty="0">
                <a:solidFill>
                  <a:srgbClr val="353535"/>
                </a:solidFill>
              </a:rPr>
              <a:t>aux secteurs opérationnels d'une entité et</a:t>
            </a:r>
          </a:p>
          <a:p>
            <a:pPr lvl="1"/>
            <a:r>
              <a:rPr lang="fr-FR" altLang="fr-FR" b="1" dirty="0">
                <a:solidFill>
                  <a:srgbClr val="0D0D0D"/>
                </a:solidFill>
              </a:rPr>
              <a:t>évaluer la </a:t>
            </a:r>
            <a:r>
              <a:rPr lang="fr-FR" altLang="fr-FR" b="1" dirty="0">
                <a:solidFill>
                  <a:srgbClr val="E90062"/>
                </a:solidFill>
              </a:rPr>
              <a:t>performance </a:t>
            </a:r>
            <a:r>
              <a:rPr lang="fr-FR" altLang="fr-FR" b="1" dirty="0">
                <a:solidFill>
                  <a:srgbClr val="353535"/>
                </a:solidFill>
              </a:rPr>
              <a:t>de ces secteurs. </a:t>
            </a:r>
          </a:p>
          <a:p>
            <a:r>
              <a:rPr lang="fr-FR" altLang="fr-FR" dirty="0"/>
              <a:t>Qui?</a:t>
            </a:r>
          </a:p>
          <a:p>
            <a:pPr lvl="1"/>
            <a:r>
              <a:rPr lang="fr-FR" altLang="fr-FR" b="1" dirty="0">
                <a:solidFill>
                  <a:srgbClr val="262626"/>
                </a:solidFill>
              </a:rPr>
              <a:t>Le</a:t>
            </a:r>
            <a:r>
              <a:rPr lang="fr-FR" altLang="fr-FR" dirty="0"/>
              <a:t> </a:t>
            </a:r>
            <a:r>
              <a:rPr lang="fr-FR" altLang="fr-FR" b="1" dirty="0">
                <a:solidFill>
                  <a:srgbClr val="E90062"/>
                </a:solidFill>
              </a:rPr>
              <a:t>président-directeur général </a:t>
            </a:r>
            <a:r>
              <a:rPr lang="fr-FR" altLang="fr-FR" b="1" dirty="0">
                <a:solidFill>
                  <a:srgbClr val="262626"/>
                </a:solidFill>
              </a:rPr>
              <a:t>ou le </a:t>
            </a:r>
            <a:r>
              <a:rPr lang="fr-FR" altLang="fr-FR" b="1" dirty="0">
                <a:solidFill>
                  <a:srgbClr val="E90062"/>
                </a:solidFill>
              </a:rPr>
              <a:t>directeur général</a:t>
            </a:r>
            <a:r>
              <a:rPr lang="fr-FR" altLang="fr-FR" dirty="0"/>
              <a:t>.</a:t>
            </a:r>
          </a:p>
          <a:p>
            <a:pPr lvl="1"/>
            <a:r>
              <a:rPr lang="fr-FR" altLang="fr-FR" b="1" dirty="0">
                <a:solidFill>
                  <a:srgbClr val="0D0D0D"/>
                </a:solidFill>
              </a:rPr>
              <a:t>Ou un </a:t>
            </a:r>
            <a:r>
              <a:rPr lang="fr-FR" altLang="fr-FR" b="1" dirty="0">
                <a:solidFill>
                  <a:srgbClr val="E90062"/>
                </a:solidFill>
              </a:rPr>
              <a:t>groupe de directeurs généraux </a:t>
            </a:r>
            <a:r>
              <a:rPr lang="fr-FR" altLang="fr-FR" b="1" dirty="0">
                <a:solidFill>
                  <a:srgbClr val="353535"/>
                </a:solidFill>
              </a:rPr>
              <a:t>ou</a:t>
            </a:r>
            <a:r>
              <a:rPr lang="fr-FR" altLang="fr-FR" b="1" dirty="0">
                <a:solidFill>
                  <a:srgbClr val="E90062"/>
                </a:solidFill>
              </a:rPr>
              <a:t> d'autres personnes.</a:t>
            </a:r>
            <a:endParaRPr lang="fr-CA" altLang="fr-FR" b="1" dirty="0">
              <a:solidFill>
                <a:srgbClr val="E90062"/>
              </a:solidFill>
            </a:endParaRPr>
          </a:p>
        </p:txBody>
      </p:sp>
      <p:sp>
        <p:nvSpPr>
          <p:cNvPr id="89092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3763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8909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0B822A-1180-4092-8693-B2791AA0987E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139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re 1"/>
          <p:cNvSpPr>
            <a:spLocks noGrp="1"/>
          </p:cNvSpPr>
          <p:nvPr>
            <p:ph type="title"/>
          </p:nvPr>
        </p:nvSpPr>
        <p:spPr>
          <a:xfrm>
            <a:off x="1358503" y="1316831"/>
            <a:ext cx="6426994" cy="527447"/>
          </a:xfrm>
        </p:spPr>
        <p:txBody>
          <a:bodyPr anchor="t"/>
          <a:lstStyle/>
          <a:p>
            <a:r>
              <a:rPr lang="fr-CA" altLang="fr-FR" sz="2400" dirty="0"/>
              <a:t>Présenter l’information sectorielle : 5 étapes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9011861"/>
              </p:ext>
            </p:extLst>
          </p:nvPr>
        </p:nvGraphicFramePr>
        <p:xfrm>
          <a:off x="1485900" y="1844278"/>
          <a:ext cx="6172200" cy="4627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1140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1" y="1316831"/>
            <a:ext cx="164544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91141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E10637-3FE0-44F0-8124-CBC47D658734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12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1331120" y="1428750"/>
            <a:ext cx="6669881" cy="400050"/>
          </a:xfrm>
        </p:spPr>
        <p:txBody>
          <a:bodyPr anchor="t"/>
          <a:lstStyle/>
          <a:p>
            <a:pPr marL="404813" indent="-404813">
              <a:defRPr/>
            </a:pPr>
            <a:r>
              <a:rPr lang="fr-CA" sz="2400" b="1" dirty="0">
                <a:solidFill>
                  <a:schemeClr val="tx2">
                    <a:lumMod val="75000"/>
                  </a:schemeClr>
                </a:solidFill>
              </a:rPr>
              <a:t>2. Identifier les secteurs opérationnels</a:t>
            </a:r>
            <a:br>
              <a:rPr lang="fr-CA" sz="2400" b="1" dirty="0">
                <a:solidFill>
                  <a:schemeClr val="tx2">
                    <a:lumMod val="75000"/>
                  </a:schemeClr>
                </a:solidFill>
              </a:rPr>
            </a:br>
            <a:endParaRPr lang="fr-CA" sz="2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3187" name="Espace réservé du contenu 6"/>
          <p:cNvSpPr>
            <a:spLocks noGrp="1"/>
          </p:cNvSpPr>
          <p:nvPr>
            <p:ph idx="1"/>
          </p:nvPr>
        </p:nvSpPr>
        <p:spPr>
          <a:xfrm>
            <a:off x="1358503" y="1828801"/>
            <a:ext cx="6642497" cy="3921919"/>
          </a:xfrm>
        </p:spPr>
        <p:txBody>
          <a:bodyPr/>
          <a:lstStyle/>
          <a:p>
            <a:pPr marL="294085" indent="-294085">
              <a:buNone/>
            </a:pPr>
            <a:r>
              <a:rPr lang="fr-FR" altLang="fr-FR" b="1">
                <a:solidFill>
                  <a:srgbClr val="4D4D4D"/>
                </a:solidFill>
              </a:rPr>
              <a:t>Un secteur opérationnel est une composante d'une entité :</a:t>
            </a:r>
            <a:endParaRPr lang="fr-FR" altLang="fr-FR"/>
          </a:p>
          <a:p>
            <a:pPr marL="294085" indent="-294085">
              <a:buFont typeface="Trebuchet MS" panose="020B0603020202020204" pitchFamily="34" charset="0"/>
              <a:buAutoNum type="alphaLcParenR"/>
            </a:pPr>
            <a:r>
              <a:rPr lang="fr-FR" altLang="fr-FR"/>
              <a:t>qui se livre à des activités ordinaires dont elle peut </a:t>
            </a:r>
            <a:r>
              <a:rPr lang="fr-FR" altLang="fr-FR" b="1">
                <a:solidFill>
                  <a:srgbClr val="AB0043"/>
                </a:solidFill>
              </a:rPr>
              <a:t>tirer des produits </a:t>
            </a:r>
            <a:r>
              <a:rPr lang="fr-FR" altLang="fr-FR"/>
              <a:t>et pour lesquelles </a:t>
            </a:r>
            <a:r>
              <a:rPr lang="fr-FR" altLang="fr-FR" b="1">
                <a:solidFill>
                  <a:srgbClr val="AB0043"/>
                </a:solidFill>
              </a:rPr>
              <a:t>elle peut engager des charges </a:t>
            </a:r>
          </a:p>
          <a:p>
            <a:pPr marL="294085" indent="-294085">
              <a:buFont typeface="Trebuchet MS" panose="020B0603020202020204" pitchFamily="34" charset="0"/>
              <a:buAutoNum type="alphaLcParenR"/>
            </a:pPr>
            <a:r>
              <a:rPr lang="fr-FR" altLang="fr-FR"/>
              <a:t>dont les résultats d'exploitation sont </a:t>
            </a:r>
            <a:r>
              <a:rPr lang="fr-FR" altLang="fr-FR" b="1">
                <a:solidFill>
                  <a:srgbClr val="AB0043"/>
                </a:solidFill>
              </a:rPr>
              <a:t>régulièrement examinés </a:t>
            </a:r>
            <a:r>
              <a:rPr lang="fr-FR" altLang="fr-FR"/>
              <a:t>par le PDO de l'entité en vue de prendre des décisions sur les ressources à affecter au secteur et d'évaluer la performance de celui-ci ; et</a:t>
            </a:r>
          </a:p>
          <a:p>
            <a:pPr marL="294085" indent="-294085">
              <a:buFont typeface="Trebuchet MS" panose="020B0603020202020204" pitchFamily="34" charset="0"/>
              <a:buAutoNum type="alphaLcParenR"/>
            </a:pPr>
            <a:r>
              <a:rPr lang="fr-FR" altLang="fr-FR"/>
              <a:t>pour laquelle des </a:t>
            </a:r>
            <a:r>
              <a:rPr lang="fr-FR" altLang="fr-FR" b="1">
                <a:solidFill>
                  <a:srgbClr val="AB0043"/>
                </a:solidFill>
              </a:rPr>
              <a:t>informations financières distinctes</a:t>
            </a:r>
            <a:r>
              <a:rPr lang="fr-FR" altLang="fr-FR"/>
              <a:t> sont disponibles.  (IFRS 8 – 5)</a:t>
            </a:r>
          </a:p>
          <a:p>
            <a:pPr marL="294085" indent="-294085"/>
            <a:endParaRPr lang="fr-CA" altLang="fr-FR"/>
          </a:p>
        </p:txBody>
      </p:sp>
      <p:sp>
        <p:nvSpPr>
          <p:cNvPr id="93188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3763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9318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7533EC-E614-4239-ADC6-572EAB31D8BF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4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re 1"/>
          <p:cNvSpPr>
            <a:spLocks noGrp="1"/>
          </p:cNvSpPr>
          <p:nvPr>
            <p:ph type="title"/>
          </p:nvPr>
        </p:nvSpPr>
        <p:spPr>
          <a:xfrm>
            <a:off x="1485900" y="1132284"/>
            <a:ext cx="6426994" cy="527447"/>
          </a:xfrm>
        </p:spPr>
        <p:txBody>
          <a:bodyPr anchor="t"/>
          <a:lstStyle/>
          <a:p>
            <a:r>
              <a:rPr lang="fr-CA" altLang="fr-FR" sz="2400" dirty="0"/>
              <a:t>Présenter l’information sectorielle : 5 étapes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7641013"/>
              </p:ext>
            </p:extLst>
          </p:nvPr>
        </p:nvGraphicFramePr>
        <p:xfrm>
          <a:off x="1485900" y="1659731"/>
          <a:ext cx="6172200" cy="47839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5236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20776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9523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749E9D-C8B7-4490-9784-E4AFED036FA9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098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77541" y="1484711"/>
            <a:ext cx="6480572" cy="921544"/>
          </a:xfrm>
        </p:spPr>
        <p:txBody>
          <a:bodyPr anchor="t"/>
          <a:lstStyle/>
          <a:p>
            <a:pPr marL="336947" indent="-336947">
              <a:defRPr/>
            </a:pPr>
            <a:r>
              <a:rPr lang="fr-CA" b="1" dirty="0">
                <a:solidFill>
                  <a:schemeClr val="bg2">
                    <a:lumMod val="25000"/>
                  </a:schemeClr>
                </a:solidFill>
              </a:rPr>
              <a:t>3.</a:t>
            </a:r>
            <a:r>
              <a:rPr lang="fr-CA" sz="2400" b="1" dirty="0">
                <a:solidFill>
                  <a:schemeClr val="bg2">
                    <a:lumMod val="25000"/>
                  </a:schemeClr>
                </a:solidFill>
              </a:rPr>
              <a:t>Regrouper les secteurs opérationnels similaires</a:t>
            </a:r>
            <a:br>
              <a:rPr lang="fr-CA" dirty="0"/>
            </a:br>
            <a:endParaRPr lang="fr-CA" dirty="0"/>
          </a:p>
        </p:txBody>
      </p:sp>
      <p:sp>
        <p:nvSpPr>
          <p:cNvPr id="97283" name="Espace réservé du contenu 2"/>
          <p:cNvSpPr>
            <a:spLocks noGrp="1"/>
          </p:cNvSpPr>
          <p:nvPr>
            <p:ph idx="1"/>
          </p:nvPr>
        </p:nvSpPr>
        <p:spPr>
          <a:xfrm>
            <a:off x="1277541" y="2574134"/>
            <a:ext cx="6896498" cy="3999703"/>
          </a:xfrm>
        </p:spPr>
        <p:txBody>
          <a:bodyPr/>
          <a:lstStyle/>
          <a:p>
            <a:r>
              <a:rPr lang="fr-FR" altLang="fr-FR" b="1" dirty="0">
                <a:solidFill>
                  <a:schemeClr val="accent1"/>
                </a:solidFill>
              </a:rPr>
              <a:t>Des secteurs opérationnels peuvent être regroupés  </a:t>
            </a:r>
          </a:p>
          <a:p>
            <a:pPr lvl="1"/>
            <a:r>
              <a:rPr lang="fr-FR" altLang="fr-FR" b="1" dirty="0">
                <a:solidFill>
                  <a:srgbClr val="353535"/>
                </a:solidFill>
              </a:rPr>
              <a:t>s'ils ont des caractéristiques économiques similaires qui font en sorte qu’on peut s’attendre </a:t>
            </a:r>
          </a:p>
          <a:p>
            <a:pPr lvl="2"/>
            <a:r>
              <a:rPr lang="fr-FR" altLang="fr-FR" b="1" dirty="0">
                <a:solidFill>
                  <a:srgbClr val="353535"/>
                </a:solidFill>
              </a:rPr>
              <a:t>à ce que leur performance financière à long terme soit similaire.  (IFRS 8-12)</a:t>
            </a:r>
            <a:endParaRPr lang="fr-CA" altLang="fr-FR" b="1" dirty="0">
              <a:solidFill>
                <a:srgbClr val="353535"/>
              </a:solidFill>
            </a:endParaRPr>
          </a:p>
        </p:txBody>
      </p:sp>
      <p:sp>
        <p:nvSpPr>
          <p:cNvPr id="97284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3763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9728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A3E145-A436-4CD4-9256-40A39C9D9AC5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6776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re 1"/>
          <p:cNvSpPr>
            <a:spLocks noGrp="1"/>
          </p:cNvSpPr>
          <p:nvPr>
            <p:ph type="title"/>
          </p:nvPr>
        </p:nvSpPr>
        <p:spPr>
          <a:xfrm>
            <a:off x="1494235" y="1538289"/>
            <a:ext cx="6172200" cy="540544"/>
          </a:xfrm>
        </p:spPr>
        <p:txBody>
          <a:bodyPr/>
          <a:lstStyle/>
          <a:p>
            <a:r>
              <a:rPr lang="fr-CA" altLang="fr-FR" sz="2400" b="1"/>
              <a:t>Les critères de regroupement</a:t>
            </a:r>
          </a:p>
        </p:txBody>
      </p:sp>
      <p:sp>
        <p:nvSpPr>
          <p:cNvPr id="99331" name="Espace réservé du contenu 2"/>
          <p:cNvSpPr>
            <a:spLocks noGrp="1"/>
          </p:cNvSpPr>
          <p:nvPr>
            <p:ph idx="1"/>
          </p:nvPr>
        </p:nvSpPr>
        <p:spPr>
          <a:xfrm>
            <a:off x="1547813" y="2132411"/>
            <a:ext cx="6172200" cy="3726656"/>
          </a:xfrm>
        </p:spPr>
        <p:txBody>
          <a:bodyPr/>
          <a:lstStyle/>
          <a:p>
            <a:pPr marL="289322" indent="-289322"/>
            <a:r>
              <a:rPr lang="fr-FR" altLang="fr-FR" sz="1500" b="1" dirty="0">
                <a:solidFill>
                  <a:srgbClr val="353535"/>
                </a:solidFill>
              </a:rPr>
              <a:t>Le regroupement est conforme au principe fondamental de la présente norme</a:t>
            </a:r>
          </a:p>
          <a:p>
            <a:pPr marL="289322" indent="-289322"/>
            <a:r>
              <a:rPr lang="fr-FR" altLang="fr-FR" sz="1500" b="1" dirty="0">
                <a:solidFill>
                  <a:srgbClr val="353535"/>
                </a:solidFill>
              </a:rPr>
              <a:t>Les secteurs présentent des caractéristiques économiques similaires ET</a:t>
            </a:r>
          </a:p>
          <a:p>
            <a:pPr marL="0" indent="0">
              <a:buNone/>
            </a:pPr>
            <a:r>
              <a:rPr lang="fr-FR" altLang="fr-FR" sz="1500" b="1" dirty="0">
                <a:solidFill>
                  <a:srgbClr val="353535"/>
                </a:solidFill>
              </a:rPr>
              <a:t>	ils sont similaires en ce qui concerne </a:t>
            </a:r>
            <a:r>
              <a:rPr lang="fr-FR" altLang="fr-FR" sz="1500" b="1" dirty="0">
                <a:solidFill>
                  <a:schemeClr val="accent1"/>
                </a:solidFill>
              </a:rPr>
              <a:t>chacun</a:t>
            </a:r>
            <a:r>
              <a:rPr lang="fr-FR" altLang="fr-FR" sz="1500" b="1" dirty="0">
                <a:solidFill>
                  <a:srgbClr val="353535"/>
                </a:solidFill>
              </a:rPr>
              <a:t> des 	points suivants:</a:t>
            </a:r>
          </a:p>
          <a:p>
            <a:pPr marL="289322" indent="-289322">
              <a:buFont typeface="Trebuchet MS" panose="020B0603020202020204" pitchFamily="34" charset="0"/>
              <a:buAutoNum type="alphaLcParenR"/>
            </a:pPr>
            <a:r>
              <a:rPr lang="fr-FR" altLang="fr-FR" sz="1500" b="1" dirty="0">
                <a:solidFill>
                  <a:srgbClr val="353535"/>
                </a:solidFill>
              </a:rPr>
              <a:t>la nature des produits et services ;</a:t>
            </a:r>
          </a:p>
          <a:p>
            <a:pPr marL="289322" indent="-289322">
              <a:buFont typeface="Trebuchet MS" panose="020B0603020202020204" pitchFamily="34" charset="0"/>
              <a:buAutoNum type="alphaLcParenR"/>
            </a:pPr>
            <a:r>
              <a:rPr lang="fr-FR" altLang="fr-FR" sz="1500" b="1" dirty="0">
                <a:solidFill>
                  <a:srgbClr val="353535"/>
                </a:solidFill>
              </a:rPr>
              <a:t>la nature des procédés de fabrication ;</a:t>
            </a:r>
          </a:p>
          <a:p>
            <a:pPr marL="289322" indent="-289322">
              <a:buFont typeface="Trebuchet MS" panose="020B0603020202020204" pitchFamily="34" charset="0"/>
              <a:buAutoNum type="alphaLcParenR"/>
            </a:pPr>
            <a:r>
              <a:rPr lang="fr-FR" altLang="fr-FR" sz="1500" b="1" dirty="0">
                <a:solidFill>
                  <a:srgbClr val="353535"/>
                </a:solidFill>
              </a:rPr>
              <a:t>le type ou la catégorie de clients auxquels sont destinés leurs produits et services ;</a:t>
            </a:r>
          </a:p>
          <a:p>
            <a:pPr marL="289322" indent="-289322">
              <a:buFont typeface="Trebuchet MS" panose="020B0603020202020204" pitchFamily="34" charset="0"/>
              <a:buAutoNum type="alphaLcParenR"/>
            </a:pPr>
            <a:r>
              <a:rPr lang="fr-FR" altLang="fr-FR" sz="1500" b="1" dirty="0">
                <a:solidFill>
                  <a:srgbClr val="353535"/>
                </a:solidFill>
              </a:rPr>
              <a:t>les méthodes utilisées pour distribuer leurs produits ou fournir leurs services ; et</a:t>
            </a:r>
          </a:p>
          <a:p>
            <a:pPr marL="289322" indent="-289322">
              <a:buFont typeface="Trebuchet MS" panose="020B0603020202020204" pitchFamily="34" charset="0"/>
              <a:buAutoNum type="alphaLcParenR"/>
            </a:pPr>
            <a:r>
              <a:rPr lang="fr-FR" altLang="fr-FR" sz="1500" b="1" dirty="0">
                <a:solidFill>
                  <a:schemeClr val="accent1"/>
                </a:solidFill>
              </a:rPr>
              <a:t>s'il y a lieu</a:t>
            </a:r>
            <a:r>
              <a:rPr lang="fr-FR" altLang="fr-FR" sz="1500" b="1" dirty="0">
                <a:solidFill>
                  <a:srgbClr val="353535"/>
                </a:solidFill>
              </a:rPr>
              <a:t>, la nature de l'environnement réglementaire, par exemple dans le cas des banques, des compagnies d'assurance ou des services publics. (IFRS 8 – 12)</a:t>
            </a:r>
          </a:p>
          <a:p>
            <a:pPr marL="289322" indent="-289322"/>
            <a:endParaRPr lang="fr-CA" altLang="fr-FR" dirty="0"/>
          </a:p>
        </p:txBody>
      </p:sp>
      <p:sp>
        <p:nvSpPr>
          <p:cNvPr id="99332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3763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9933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C6C1007-3C2D-4BA8-84E8-44C28D02B72C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705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re 1"/>
          <p:cNvSpPr>
            <a:spLocks noGrp="1"/>
          </p:cNvSpPr>
          <p:nvPr>
            <p:ph type="title"/>
          </p:nvPr>
        </p:nvSpPr>
        <p:spPr>
          <a:xfrm>
            <a:off x="1485900" y="1053107"/>
            <a:ext cx="6426994" cy="527447"/>
          </a:xfrm>
        </p:spPr>
        <p:txBody>
          <a:bodyPr anchor="t"/>
          <a:lstStyle/>
          <a:p>
            <a:r>
              <a:rPr lang="fr-CA" altLang="fr-FR" sz="2400" dirty="0"/>
              <a:t>Présenter l’information sectorielle : 5 étapes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920309"/>
              </p:ext>
            </p:extLst>
          </p:nvPr>
        </p:nvGraphicFramePr>
        <p:xfrm>
          <a:off x="1485900" y="1580554"/>
          <a:ext cx="6172200" cy="4863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1380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20776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1381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C121DB-24A8-4DCF-BC16-E5E4999A3F2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947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re 1"/>
          <p:cNvSpPr>
            <a:spLocks noGrp="1"/>
          </p:cNvSpPr>
          <p:nvPr>
            <p:ph type="title"/>
          </p:nvPr>
        </p:nvSpPr>
        <p:spPr>
          <a:xfrm>
            <a:off x="982265" y="1316831"/>
            <a:ext cx="6434138" cy="457200"/>
          </a:xfrm>
        </p:spPr>
        <p:txBody>
          <a:bodyPr/>
          <a:lstStyle/>
          <a:p>
            <a:pPr marL="272654" indent="-272654"/>
            <a:r>
              <a:rPr lang="fr-CA" altLang="fr-FR" sz="2400" dirty="0"/>
              <a:t>4.Quels sont les secteurs à présenter</a:t>
            </a:r>
          </a:p>
        </p:txBody>
      </p:sp>
      <p:sp>
        <p:nvSpPr>
          <p:cNvPr id="49155" name="Espace réservé du contenu 2"/>
          <p:cNvSpPr>
            <a:spLocks noGrp="1"/>
          </p:cNvSpPr>
          <p:nvPr>
            <p:ph idx="1"/>
          </p:nvPr>
        </p:nvSpPr>
        <p:spPr>
          <a:xfrm>
            <a:off x="1110853" y="1774030"/>
            <a:ext cx="7063184" cy="4512469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fr-FR" sz="1650" dirty="0"/>
              <a:t>Une entité </a:t>
            </a:r>
            <a:r>
              <a:rPr lang="fr-FR" sz="1650" b="1" dirty="0">
                <a:solidFill>
                  <a:srgbClr val="E90062"/>
                </a:solidFill>
              </a:rPr>
              <a:t>doit</a:t>
            </a:r>
            <a:r>
              <a:rPr lang="fr-FR" sz="1650" dirty="0"/>
              <a:t> présenter séparément les informations relatives à un secteur opérationnel qui atteint </a:t>
            </a:r>
            <a:r>
              <a:rPr lang="fr-FR" sz="1650" b="1" dirty="0">
                <a:solidFill>
                  <a:srgbClr val="E90062"/>
                </a:solidFill>
              </a:rPr>
              <a:t>l'un des seuils quantitatifs </a:t>
            </a:r>
            <a:r>
              <a:rPr lang="fr-FR" sz="1650" dirty="0"/>
              <a:t>suivants:</a:t>
            </a:r>
          </a:p>
          <a:p>
            <a:pPr marL="196454" indent="-196454">
              <a:buFont typeface="Trebuchet MS" pitchFamily="34" charset="0"/>
              <a:buAutoNum type="alphaLcParenR"/>
              <a:defRPr/>
            </a:pPr>
            <a:r>
              <a:rPr lang="fr-FR" sz="1650" dirty="0"/>
              <a:t>les produits des activités ordinaires présentés pour le secteur, comprenant à la fois les ventes à des clients externes et les ventes ou transferts intersectoriels, représentent </a:t>
            </a:r>
            <a:r>
              <a:rPr lang="fr-FR" sz="1650" b="1" dirty="0">
                <a:solidFill>
                  <a:srgbClr val="E90062"/>
                </a:solidFill>
              </a:rPr>
              <a:t>au moins 10 % </a:t>
            </a:r>
            <a:r>
              <a:rPr lang="fr-FR" sz="1650" dirty="0"/>
              <a:t>des </a:t>
            </a:r>
            <a:r>
              <a:rPr lang="fr-FR" sz="1650" b="1" dirty="0">
                <a:solidFill>
                  <a:srgbClr val="E90062"/>
                </a:solidFill>
              </a:rPr>
              <a:t>produits des activités ordinaires </a:t>
            </a:r>
            <a:r>
              <a:rPr lang="fr-FR" sz="1650" dirty="0"/>
              <a:t>cumulés, de sources internes et externes, de tous les secteurs opérationnels ;</a:t>
            </a:r>
          </a:p>
          <a:p>
            <a:pPr marL="196454" indent="-196454">
              <a:buFont typeface="Trebuchet MS" pitchFamily="34" charset="0"/>
              <a:buAutoNum type="alphaLcParenR"/>
              <a:defRPr/>
            </a:pPr>
            <a:r>
              <a:rPr lang="fr-FR" sz="1650" dirty="0"/>
              <a:t>la valeur absolue du résultat net présenté pour le secteur représente </a:t>
            </a:r>
            <a:r>
              <a:rPr lang="fr-FR" sz="1650" b="1" dirty="0">
                <a:solidFill>
                  <a:srgbClr val="E90062"/>
                </a:solidFill>
              </a:rPr>
              <a:t>au moins 10 % </a:t>
            </a:r>
            <a:r>
              <a:rPr lang="fr-FR" sz="1650" b="1" u="sng" dirty="0">
                <a:solidFill>
                  <a:srgbClr val="E90062"/>
                </a:solidFill>
              </a:rPr>
              <a:t>du plus élevé </a:t>
            </a:r>
            <a:r>
              <a:rPr lang="fr-FR" sz="1650" dirty="0"/>
              <a:t>des montants suivants, en valeur absolue : (i) le bénéfice cumulé présenté pour tous les secteurs opérationnels n'ayant pas présenté de perte, </a:t>
            </a:r>
            <a:r>
              <a:rPr lang="fr-FR" sz="1650" b="1" u="sng" dirty="0">
                <a:solidFill>
                  <a:schemeClr val="accent2"/>
                </a:solidFill>
              </a:rPr>
              <a:t>ou</a:t>
            </a:r>
            <a:r>
              <a:rPr lang="fr-FR" sz="1650" dirty="0"/>
              <a:t> (ii) la perte cumulée présentée pour tous les secteurs opérationnels ayant présenté une perte ;</a:t>
            </a:r>
          </a:p>
          <a:p>
            <a:pPr marL="196454" indent="-196454">
              <a:buFont typeface="Trebuchet MS" pitchFamily="34" charset="0"/>
              <a:buAutoNum type="alphaLcParenR"/>
              <a:defRPr/>
            </a:pPr>
            <a:r>
              <a:rPr lang="fr-FR" sz="1650" dirty="0"/>
              <a:t>les actifs du secteur représentent </a:t>
            </a:r>
            <a:r>
              <a:rPr lang="fr-FR" sz="1650" b="1" dirty="0">
                <a:solidFill>
                  <a:srgbClr val="E90062"/>
                </a:solidFill>
              </a:rPr>
              <a:t>au moins 10 % des actifs </a:t>
            </a:r>
            <a:r>
              <a:rPr lang="fr-FR" sz="1650" dirty="0"/>
              <a:t>cumulés de tous les secteurs opérationnels. </a:t>
            </a:r>
            <a:r>
              <a:rPr lang="fr-FR" sz="1650" b="1" dirty="0">
                <a:solidFill>
                  <a:schemeClr val="accent2"/>
                </a:solidFill>
              </a:rPr>
              <a:t>(IFRS 8 – 13)</a:t>
            </a:r>
          </a:p>
        </p:txBody>
      </p:sp>
      <p:sp>
        <p:nvSpPr>
          <p:cNvPr id="103428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1" y="1316831"/>
            <a:ext cx="132159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3429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E130E9C-B0B6-452F-A253-F1EA11DE1019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7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re 1"/>
          <p:cNvSpPr>
            <a:spLocks noGrp="1"/>
          </p:cNvSpPr>
          <p:nvPr>
            <p:ph type="title"/>
          </p:nvPr>
        </p:nvSpPr>
        <p:spPr>
          <a:xfrm>
            <a:off x="1485900" y="1053107"/>
            <a:ext cx="6426994" cy="527447"/>
          </a:xfrm>
        </p:spPr>
        <p:txBody>
          <a:bodyPr anchor="t"/>
          <a:lstStyle/>
          <a:p>
            <a:r>
              <a:rPr lang="fr-CA" altLang="fr-FR" sz="2400" dirty="0"/>
              <a:t>Présenter l’information sectorielle : 5 étapes</a:t>
            </a:r>
          </a:p>
        </p:txBody>
      </p:sp>
      <p:graphicFrame>
        <p:nvGraphicFramePr>
          <p:cNvPr id="6" name="Espace réservé du conten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589428"/>
              </p:ext>
            </p:extLst>
          </p:nvPr>
        </p:nvGraphicFramePr>
        <p:xfrm>
          <a:off x="1485900" y="1659731"/>
          <a:ext cx="6172200" cy="4498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5476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20776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5477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8E03C2-7368-4463-AB00-C485FD86FB1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965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re 5"/>
          <p:cNvSpPr>
            <a:spLocks noGrp="1"/>
          </p:cNvSpPr>
          <p:nvPr>
            <p:ph type="title"/>
          </p:nvPr>
        </p:nvSpPr>
        <p:spPr>
          <a:xfrm>
            <a:off x="1485900" y="1574707"/>
            <a:ext cx="6172200" cy="800100"/>
          </a:xfrm>
        </p:spPr>
        <p:txBody>
          <a:bodyPr/>
          <a:lstStyle/>
          <a:p>
            <a:r>
              <a:rPr lang="fr-CA" altLang="fr-FR" sz="2400" dirty="0"/>
              <a:t>Info à fournir - </a:t>
            </a:r>
            <a:br>
              <a:rPr lang="fr-CA" altLang="fr-FR" dirty="0"/>
            </a:br>
            <a:r>
              <a:rPr lang="fr-CA" altLang="fr-FR" sz="2100" dirty="0"/>
              <a:t>informations générales (IFRS 8 – 22)</a:t>
            </a:r>
          </a:p>
        </p:txBody>
      </p:sp>
      <p:sp>
        <p:nvSpPr>
          <p:cNvPr id="107523" name="Espace réservé du contenu 6"/>
          <p:cNvSpPr>
            <a:spLocks noGrp="1"/>
          </p:cNvSpPr>
          <p:nvPr>
            <p:ph idx="1"/>
          </p:nvPr>
        </p:nvSpPr>
        <p:spPr>
          <a:xfrm>
            <a:off x="1385646" y="2374808"/>
            <a:ext cx="6459383" cy="3412822"/>
          </a:xfrm>
        </p:spPr>
        <p:txBody>
          <a:bodyPr/>
          <a:lstStyle/>
          <a:p>
            <a:r>
              <a:rPr lang="fr-FR" altLang="fr-FR" sz="1950" dirty="0"/>
              <a:t>Les </a:t>
            </a:r>
            <a:r>
              <a:rPr lang="fr-FR" altLang="fr-FR" sz="1950" b="1" dirty="0"/>
              <a:t>facteurs utilisés </a:t>
            </a:r>
            <a:r>
              <a:rPr lang="fr-FR" altLang="fr-FR" sz="1950" dirty="0"/>
              <a:t>pour identifier les secteurs de l'entité à présenter, </a:t>
            </a:r>
            <a:r>
              <a:rPr lang="fr-FR" altLang="fr-FR" sz="1950" u="sng" dirty="0"/>
              <a:t>y</a:t>
            </a:r>
            <a:r>
              <a:rPr lang="fr-CA" altLang="fr-FR" sz="1950" u="sng" dirty="0"/>
              <a:t> compris la base d’organisation retenue </a:t>
            </a:r>
            <a:r>
              <a:rPr lang="fr-CA" altLang="fr-FR" sz="1800" dirty="0"/>
              <a:t>(ex : e</a:t>
            </a:r>
            <a:r>
              <a:rPr lang="fr-FR" altLang="fr-FR" sz="1800" dirty="0">
                <a:solidFill>
                  <a:srgbClr val="353535"/>
                </a:solidFill>
              </a:rPr>
              <a:t>n fonction des particularités des produits et services ou des zones géographiques, etc. –voir diapo 47)</a:t>
            </a:r>
          </a:p>
          <a:p>
            <a:r>
              <a:rPr lang="fr-FR" altLang="fr-FR" sz="1950" dirty="0">
                <a:solidFill>
                  <a:srgbClr val="353535"/>
                </a:solidFill>
              </a:rPr>
              <a:t>Les </a:t>
            </a:r>
            <a:r>
              <a:rPr lang="fr-FR" altLang="fr-FR" sz="1950" b="1" dirty="0">
                <a:solidFill>
                  <a:srgbClr val="353535"/>
                </a:solidFill>
              </a:rPr>
              <a:t>jugements </a:t>
            </a:r>
            <a:r>
              <a:rPr lang="fr-FR" altLang="fr-FR" sz="1950" dirty="0">
                <a:solidFill>
                  <a:srgbClr val="353535"/>
                </a:solidFill>
              </a:rPr>
              <a:t>portés par la direction pour regrouper les secteurs </a:t>
            </a:r>
            <a:r>
              <a:rPr lang="fr-FR" altLang="fr-FR" sz="1800" dirty="0">
                <a:solidFill>
                  <a:srgbClr val="353535"/>
                </a:solidFill>
              </a:rPr>
              <a:t>(décrire les secteurs regroupés et préciser les indicateurs économiques utilisés pour les regrouper)</a:t>
            </a:r>
          </a:p>
          <a:p>
            <a:r>
              <a:rPr lang="fr-FR" altLang="fr-FR" sz="1950" dirty="0">
                <a:solidFill>
                  <a:srgbClr val="353535"/>
                </a:solidFill>
              </a:rPr>
              <a:t>Les</a:t>
            </a:r>
            <a:r>
              <a:rPr lang="fr-FR" altLang="fr-FR" sz="1950" b="1" dirty="0">
                <a:solidFill>
                  <a:srgbClr val="353535"/>
                </a:solidFill>
              </a:rPr>
              <a:t> types de produits/services </a:t>
            </a:r>
            <a:r>
              <a:rPr lang="fr-FR" altLang="fr-FR" sz="1950" dirty="0">
                <a:solidFill>
                  <a:srgbClr val="353535"/>
                </a:solidFill>
              </a:rPr>
              <a:t>composant les produits des activités ordinaires de chaque secteur présenté.</a:t>
            </a:r>
          </a:p>
        </p:txBody>
      </p:sp>
      <p:sp>
        <p:nvSpPr>
          <p:cNvPr id="107524" name="Espace réservé du pied de page 3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376363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752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75241A-40C6-478D-A456-22EF13A46778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52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26"/>
          <p:cNvSpPr>
            <a:spLocks noGrp="1"/>
          </p:cNvSpPr>
          <p:nvPr>
            <p:ph type="title"/>
          </p:nvPr>
        </p:nvSpPr>
        <p:spPr>
          <a:xfrm>
            <a:off x="1485900" y="1485900"/>
            <a:ext cx="6172200" cy="400050"/>
          </a:xfrm>
        </p:spPr>
        <p:txBody>
          <a:bodyPr/>
          <a:lstStyle/>
          <a:p>
            <a:r>
              <a:rPr lang="fr-CA" altLang="fr-FR" dirty="0"/>
              <a:t>En pratique : </a:t>
            </a:r>
            <a:r>
              <a:rPr lang="fr-CA" altLang="fr-FR" dirty="0" err="1"/>
              <a:t>Saputo</a:t>
            </a:r>
            <a:r>
              <a:rPr lang="fr-CA" altLang="fr-FR" dirty="0"/>
              <a:t> </a:t>
            </a:r>
            <a:r>
              <a:rPr lang="fr-CA" altLang="fr-FR" sz="2700" dirty="0">
                <a:solidFill>
                  <a:schemeClr val="accent1">
                    <a:lumMod val="75000"/>
                  </a:schemeClr>
                </a:solidFill>
              </a:rPr>
              <a:t>31 mars 2013</a:t>
            </a:r>
          </a:p>
        </p:txBody>
      </p:sp>
      <p:sp>
        <p:nvSpPr>
          <p:cNvPr id="109571" name="Rectangle 1027"/>
          <p:cNvSpPr>
            <a:spLocks noGrp="1"/>
          </p:cNvSpPr>
          <p:nvPr>
            <p:ph type="body" idx="1"/>
          </p:nvPr>
        </p:nvSpPr>
        <p:spPr>
          <a:xfrm>
            <a:off x="1543050" y="1943100"/>
            <a:ext cx="6172200" cy="3771900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672704" algn="l"/>
              </a:tabLst>
            </a:pPr>
            <a:r>
              <a:rPr lang="fr-CA" altLang="fr-FR" sz="1650" dirty="0">
                <a:latin typeface="Helvetica" panose="020B0604020202020204" pitchFamily="34" charset="0"/>
              </a:rPr>
              <a:t>La Soci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 exerce ses activit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 dans deux secteurs : le Secteur Produits laitiers et le Secteur Produits d</a:t>
            </a:r>
            <a:r>
              <a:rPr lang="fr-CA" altLang="fr-FR" sz="1650" dirty="0"/>
              <a:t>’é</a:t>
            </a:r>
            <a:r>
              <a:rPr lang="fr-CA" altLang="fr-FR" sz="1650" dirty="0">
                <a:latin typeface="Helvetica" panose="020B0604020202020204" pitchFamily="34" charset="0"/>
              </a:rPr>
              <a:t>picerie.</a:t>
            </a:r>
          </a:p>
          <a:p>
            <a:pPr>
              <a:lnSpc>
                <a:spcPct val="90000"/>
              </a:lnSpc>
              <a:tabLst>
                <a:tab pos="672704" algn="l"/>
              </a:tabLst>
            </a:pPr>
            <a:r>
              <a:rPr lang="fr-CA" altLang="fr-FR" sz="1650" dirty="0">
                <a:latin typeface="Helvetica" panose="020B0604020202020204" pitchFamily="34" charset="0"/>
              </a:rPr>
              <a:t>Le Secteur Produits laitiers comprend principalement la fabrication et la distribution de fromage, de lait nature et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ingr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dients laitiers. Les activit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 de ce secteur sont exerc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es au Canada, en Europe, en Argentine (CEA) et aux 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tats-Unis (USA).</a:t>
            </a:r>
          </a:p>
          <a:p>
            <a:pPr>
              <a:lnSpc>
                <a:spcPct val="90000"/>
              </a:lnSpc>
              <a:tabLst>
                <a:tab pos="672704" algn="l"/>
              </a:tabLst>
            </a:pPr>
            <a:r>
              <a:rPr lang="fr-CA" altLang="fr-FR" sz="1650" dirty="0">
                <a:latin typeface="Helvetica" panose="020B0604020202020204" pitchFamily="34" charset="0"/>
              </a:rPr>
              <a:t>Le Secteur Produits d</a:t>
            </a:r>
            <a:r>
              <a:rPr lang="fr-CA" altLang="fr-FR" sz="1650" dirty="0"/>
              <a:t>’é</a:t>
            </a:r>
            <a:r>
              <a:rPr lang="fr-CA" altLang="fr-FR" sz="1650" dirty="0">
                <a:latin typeface="Helvetica" panose="020B0604020202020204" pitchFamily="34" charset="0"/>
              </a:rPr>
              <a:t>picerie repr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sente les activit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 de fabrication et de distribution, principalement de petits gâteaux.</a:t>
            </a:r>
          </a:p>
          <a:p>
            <a:pPr>
              <a:lnSpc>
                <a:spcPct val="90000"/>
              </a:lnSpc>
              <a:tabLst>
                <a:tab pos="672704" algn="l"/>
              </a:tabLst>
            </a:pPr>
            <a:r>
              <a:rPr lang="fr-CA" altLang="fr-FR" sz="1650" dirty="0">
                <a:latin typeface="Helvetica" panose="020B0604020202020204" pitchFamily="34" charset="0"/>
              </a:rPr>
              <a:t>Ces Secteurs sont g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r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 distinctement puisque chaque secteur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activit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 repr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sente une unit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affaires strat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gique qui offre diff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rents produits et qui dessert diff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rents march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s. La Soci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 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value la performance en fonction du b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n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fice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exploitation g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ographique et du b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n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fice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exploitation des secteurs d</a:t>
            </a:r>
            <a:r>
              <a:rPr lang="fr-CA" altLang="fr-FR" sz="1650" dirty="0"/>
              <a:t>’</a:t>
            </a:r>
            <a:r>
              <a:rPr lang="fr-CA" altLang="fr-FR" sz="1650" dirty="0">
                <a:latin typeface="Helvetica" panose="020B0604020202020204" pitchFamily="34" charset="0"/>
              </a:rPr>
              <a:t>activit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 pris isol</a:t>
            </a:r>
            <a:r>
              <a:rPr lang="fr-CA" altLang="fr-FR" sz="1650" dirty="0"/>
              <a:t>é</a:t>
            </a:r>
            <a:r>
              <a:rPr lang="fr-CA" altLang="fr-FR" sz="1650" dirty="0">
                <a:latin typeface="Helvetica" panose="020B0604020202020204" pitchFamily="34" charset="0"/>
              </a:rPr>
              <a:t>ment. (rapport trimestriel 2013)</a:t>
            </a:r>
          </a:p>
        </p:txBody>
      </p:sp>
      <p:sp>
        <p:nvSpPr>
          <p:cNvPr id="109572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112544" y="1269206"/>
            <a:ext cx="1295400" cy="323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9573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6C1D94-BC77-4283-8AC8-0995DBFF2AB9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6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026"/>
          <p:cNvSpPr>
            <a:spLocks noGrp="1"/>
          </p:cNvSpPr>
          <p:nvPr>
            <p:ph type="title"/>
          </p:nvPr>
        </p:nvSpPr>
        <p:spPr>
          <a:xfrm>
            <a:off x="1485900" y="1485900"/>
            <a:ext cx="6172200" cy="400050"/>
          </a:xfrm>
        </p:spPr>
        <p:txBody>
          <a:bodyPr/>
          <a:lstStyle/>
          <a:p>
            <a:r>
              <a:rPr lang="fr-CA" altLang="fr-FR" dirty="0"/>
              <a:t>En pratique : </a:t>
            </a:r>
            <a:r>
              <a:rPr lang="fr-CA" altLang="fr-FR" dirty="0" err="1"/>
              <a:t>Saputo</a:t>
            </a:r>
            <a:r>
              <a:rPr lang="fr-CA" altLang="fr-FR" dirty="0"/>
              <a:t> </a:t>
            </a:r>
            <a:r>
              <a:rPr lang="fr-CA" altLang="fr-FR" sz="2700" dirty="0">
                <a:solidFill>
                  <a:schemeClr val="accent1">
                    <a:lumMod val="75000"/>
                  </a:schemeClr>
                </a:solidFill>
              </a:rPr>
              <a:t>31 mars 2014</a:t>
            </a:r>
          </a:p>
        </p:txBody>
      </p:sp>
      <p:sp>
        <p:nvSpPr>
          <p:cNvPr id="109572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112544" y="1269206"/>
            <a:ext cx="1295400" cy="323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09573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6C1D94-BC77-4283-8AC8-0995DBFF2AB9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45" y="1885950"/>
            <a:ext cx="7672388" cy="401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32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/>
          </p:cNvSpPr>
          <p:nvPr>
            <p:ph type="title"/>
          </p:nvPr>
        </p:nvSpPr>
        <p:spPr>
          <a:xfrm>
            <a:off x="814388" y="1488281"/>
            <a:ext cx="6843712" cy="569119"/>
          </a:xfrm>
        </p:spPr>
        <p:txBody>
          <a:bodyPr/>
          <a:lstStyle/>
          <a:p>
            <a:r>
              <a:rPr lang="fr-CA" altLang="fr-FR" sz="2400" dirty="0"/>
              <a:t>Information relative au résultat net </a:t>
            </a:r>
            <a:r>
              <a:rPr lang="fr-CA" altLang="fr-FR" sz="2100" dirty="0"/>
              <a:t>(IFRS 8-23)</a:t>
            </a:r>
          </a:p>
        </p:txBody>
      </p:sp>
      <p:sp>
        <p:nvSpPr>
          <p:cNvPr id="111619" name="Rectangle 3"/>
          <p:cNvSpPr>
            <a:spLocks noGrp="1"/>
          </p:cNvSpPr>
          <p:nvPr>
            <p:ph type="body" idx="1"/>
          </p:nvPr>
        </p:nvSpPr>
        <p:spPr>
          <a:xfrm>
            <a:off x="814388" y="2249488"/>
            <a:ext cx="7872412" cy="4324350"/>
          </a:xfrm>
        </p:spPr>
        <p:txBody>
          <a:bodyPr/>
          <a:lstStyle/>
          <a:p>
            <a:r>
              <a:rPr lang="fr-CA" altLang="fr-FR" dirty="0"/>
              <a:t>Une entité doit présenter </a:t>
            </a:r>
            <a:r>
              <a:rPr lang="fr-CA" altLang="fr-FR" b="1" dirty="0"/>
              <a:t>un indicateur du résultat net</a:t>
            </a:r>
            <a:r>
              <a:rPr lang="fr-CA" altLang="fr-FR" dirty="0"/>
              <a:t> pour chaque secteur reportable qu’elle a identifié. </a:t>
            </a:r>
          </a:p>
          <a:p>
            <a:r>
              <a:rPr lang="fr-CA" altLang="fr-FR" dirty="0"/>
              <a:t>Les éléments présentés par secteur</a:t>
            </a:r>
            <a:r>
              <a:rPr lang="fr-CA" altLang="fr-FR" b="1" dirty="0"/>
              <a:t> doivent correspondre aux éléments qui sont présentés au PDO </a:t>
            </a:r>
            <a:r>
              <a:rPr lang="fr-CA" altLang="fr-FR" dirty="0"/>
              <a:t>à des fins décisionnelles (IFRS 8-25), par exemple :</a:t>
            </a:r>
          </a:p>
          <a:p>
            <a:pPr lvl="1"/>
            <a:r>
              <a:rPr lang="fr-CA" altLang="fr-FR" dirty="0"/>
              <a:t>Détail des produits et des charges</a:t>
            </a:r>
          </a:p>
          <a:p>
            <a:pPr lvl="1"/>
            <a:r>
              <a:rPr lang="fr-CA" altLang="fr-FR" dirty="0"/>
              <a:t>Total des actifs et des passifs</a:t>
            </a:r>
          </a:p>
        </p:txBody>
      </p:sp>
      <p:sp>
        <p:nvSpPr>
          <p:cNvPr id="111620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591866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1621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FF97E1-74E4-4871-9C80-AE6F500A3929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01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1371600" y="1543335"/>
            <a:ext cx="6515100" cy="800100"/>
          </a:xfrm>
        </p:spPr>
        <p:txBody>
          <a:bodyPr/>
          <a:lstStyle/>
          <a:p>
            <a:r>
              <a:rPr lang="fr-CA" altLang="fr-FR" sz="2400" b="1" dirty="0"/>
              <a:t>Rapprocher l’info sectorielle de l’information globale de l’entité </a:t>
            </a:r>
            <a:r>
              <a:rPr lang="fr-CA" altLang="fr-FR" sz="2100" b="1" dirty="0"/>
              <a:t>(IFRS 8-28)</a:t>
            </a:r>
          </a:p>
        </p:txBody>
      </p:sp>
      <p:sp>
        <p:nvSpPr>
          <p:cNvPr id="113667" name="Rectangle 3"/>
          <p:cNvSpPr>
            <a:spLocks noGrp="1"/>
          </p:cNvSpPr>
          <p:nvPr>
            <p:ph type="body" sz="half" idx="1"/>
          </p:nvPr>
        </p:nvSpPr>
        <p:spPr>
          <a:xfrm>
            <a:off x="1485900" y="2510408"/>
            <a:ext cx="2978088" cy="3277221"/>
          </a:xfrm>
        </p:spPr>
        <p:txBody>
          <a:bodyPr/>
          <a:lstStyle/>
          <a:p>
            <a:pPr marL="82153" indent="0">
              <a:buNone/>
            </a:pPr>
            <a:r>
              <a:rPr lang="fr-CA" altLang="fr-FR" sz="1800" b="1" u="sng" dirty="0">
                <a:solidFill>
                  <a:srgbClr val="0070C0"/>
                </a:solidFill>
              </a:rPr>
              <a:t>Info sectorielle</a:t>
            </a:r>
            <a:r>
              <a:rPr lang="fr-CA" altLang="fr-FR" sz="1800" b="1" dirty="0">
                <a:solidFill>
                  <a:srgbClr val="0070C0"/>
                </a:solidFill>
              </a:rPr>
              <a:t>      </a:t>
            </a:r>
            <a:r>
              <a:rPr lang="fr-CA" altLang="fr-FR" sz="1950" b="1" dirty="0">
                <a:solidFill>
                  <a:srgbClr val="0070C0"/>
                </a:solidFill>
              </a:rPr>
              <a:t>- vs -</a:t>
            </a:r>
          </a:p>
          <a:p>
            <a:r>
              <a:rPr lang="fr-CA" altLang="fr-FR" sz="1800" dirty="0"/>
              <a:t>Total des produits des secteurs</a:t>
            </a:r>
          </a:p>
          <a:p>
            <a:r>
              <a:rPr lang="fr-CA" altLang="fr-FR" sz="1800" dirty="0"/>
              <a:t>Total des indicateurs des résultats nets des secteurs </a:t>
            </a:r>
          </a:p>
          <a:p>
            <a:r>
              <a:rPr lang="fr-CA" altLang="fr-FR" sz="1800" dirty="0"/>
              <a:t>Total des actifs / passifs des secteurs (si fournis)</a:t>
            </a:r>
          </a:p>
          <a:p>
            <a:r>
              <a:rPr lang="fr-CA" altLang="fr-FR" sz="1800" dirty="0"/>
              <a:t>Autres éléments d’info significatifs fournis pour les secteurs</a:t>
            </a:r>
          </a:p>
        </p:txBody>
      </p:sp>
      <p:sp>
        <p:nvSpPr>
          <p:cNvPr id="113668" name="Rectangle 4"/>
          <p:cNvSpPr>
            <a:spLocks noGrp="1"/>
          </p:cNvSpPr>
          <p:nvPr>
            <p:ph type="body" sz="half" idx="2"/>
          </p:nvPr>
        </p:nvSpPr>
        <p:spPr>
          <a:xfrm>
            <a:off x="4629150" y="2510408"/>
            <a:ext cx="3028950" cy="3277221"/>
          </a:xfrm>
        </p:spPr>
        <p:txBody>
          <a:bodyPr/>
          <a:lstStyle/>
          <a:p>
            <a:pPr marL="82153" indent="0">
              <a:buNone/>
            </a:pPr>
            <a:r>
              <a:rPr lang="fr-CA" altLang="fr-FR" sz="1800" b="1" u="sng" dirty="0">
                <a:solidFill>
                  <a:srgbClr val="0070C0"/>
                </a:solidFill>
              </a:rPr>
              <a:t>Info globale</a:t>
            </a:r>
          </a:p>
          <a:p>
            <a:r>
              <a:rPr lang="fr-CA" altLang="fr-FR" sz="1800" dirty="0"/>
              <a:t>Produits des activités ordinaires de l'entité </a:t>
            </a:r>
          </a:p>
          <a:p>
            <a:r>
              <a:rPr lang="fr-CA" altLang="fr-FR" sz="1800" dirty="0"/>
              <a:t>Résultat net de l'entité avant charge d'impôt et activités abandonnées</a:t>
            </a:r>
          </a:p>
          <a:p>
            <a:r>
              <a:rPr lang="fr-CA" altLang="fr-FR" sz="1800" dirty="0"/>
              <a:t>Total des actifs / passifs de l’entité </a:t>
            </a:r>
          </a:p>
          <a:p>
            <a:r>
              <a:rPr lang="fr-CA" altLang="fr-FR" sz="1800" dirty="0"/>
              <a:t>Montant correspondant pour l'entité </a:t>
            </a:r>
          </a:p>
        </p:txBody>
      </p:sp>
      <p:sp>
        <p:nvSpPr>
          <p:cNvPr id="113669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57776" y="1376363"/>
            <a:ext cx="151209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3670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A318A5-9879-488F-9D6B-A3C2E10792C7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605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830262" y="1376363"/>
            <a:ext cx="7970837" cy="1581151"/>
          </a:xfrm>
        </p:spPr>
        <p:txBody>
          <a:bodyPr/>
          <a:lstStyle/>
          <a:p>
            <a:r>
              <a:rPr lang="fr-CA" altLang="fr-FR" sz="1800" b="1" dirty="0"/>
              <a:t>Rapprocher l’info sectorielle de l’information globale de l’entité </a:t>
            </a:r>
            <a:br>
              <a:rPr lang="fr-CA" altLang="fr-FR" sz="1800" b="1" dirty="0"/>
            </a:br>
            <a:r>
              <a:rPr lang="fr-CA" altLang="fr-FR" sz="1800" b="1" dirty="0"/>
              <a:t>Note 35 : « </a:t>
            </a:r>
            <a:r>
              <a:rPr lang="fr-CA" sz="1800" dirty="0"/>
              <a:t>Le principal décideur en matière d’exploitation de la société évalue périodiquement les résultats sectoriels en se fondant sur le montant ajusté du BAIIA1) et le montant ajusté du résultat d’exploitation1), présentés à la direction interne périodiquement. »</a:t>
            </a:r>
            <a:br>
              <a:rPr lang="fr-CA" altLang="fr-FR" sz="1800" b="1" dirty="0"/>
            </a:br>
            <a:endParaRPr lang="fr-CA" altLang="fr-FR" sz="1800" b="1" dirty="0"/>
          </a:p>
        </p:txBody>
      </p:sp>
      <p:sp>
        <p:nvSpPr>
          <p:cNvPr id="113669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7042944" y="700881"/>
            <a:ext cx="151209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 dirty="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3670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A318A5-9879-488F-9D6B-A3C2E10792C7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1026"/>
          <p:cNvSpPr txBox="1">
            <a:spLocks/>
          </p:cNvSpPr>
          <p:nvPr/>
        </p:nvSpPr>
        <p:spPr bwMode="auto">
          <a:xfrm>
            <a:off x="1071563" y="745759"/>
            <a:ext cx="617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r>
              <a:rPr lang="fr-CA" altLang="fr-FR" dirty="0"/>
              <a:t>En pratique : </a:t>
            </a:r>
            <a:r>
              <a:rPr lang="fr-CA" altLang="fr-FR" dirty="0" err="1"/>
              <a:t>Loblaw’s</a:t>
            </a:r>
            <a:r>
              <a:rPr lang="fr-CA" altLang="fr-FR" dirty="0"/>
              <a:t> </a:t>
            </a:r>
            <a:r>
              <a:rPr lang="fr-CA" altLang="fr-FR" sz="2700" dirty="0">
                <a:solidFill>
                  <a:schemeClr val="accent1">
                    <a:lumMod val="75000"/>
                  </a:schemeClr>
                </a:solidFill>
              </a:rPr>
              <a:t>2014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63" y="2828924"/>
            <a:ext cx="7970837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822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/>
          </p:cNvSpPr>
          <p:nvPr>
            <p:ph type="title"/>
          </p:nvPr>
        </p:nvSpPr>
        <p:spPr>
          <a:xfrm>
            <a:off x="1128713" y="1376363"/>
            <a:ext cx="7515225" cy="1036270"/>
          </a:xfrm>
        </p:spPr>
        <p:txBody>
          <a:bodyPr/>
          <a:lstStyle/>
          <a:p>
            <a:r>
              <a:rPr lang="fr-CA" altLang="fr-FR" sz="1800" b="1" dirty="0" err="1"/>
              <a:t>Loblaw’s</a:t>
            </a:r>
            <a:r>
              <a:rPr lang="fr-CA" altLang="fr-FR" sz="1800" b="1" dirty="0"/>
              <a:t> fournit le total des actifs par secteur opérationnel :</a:t>
            </a:r>
          </a:p>
        </p:txBody>
      </p:sp>
      <p:sp>
        <p:nvSpPr>
          <p:cNvPr id="113669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57776" y="1376363"/>
            <a:ext cx="1512094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3670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A318A5-9879-488F-9D6B-A3C2E10792C7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angle 1026"/>
          <p:cNvSpPr txBox="1">
            <a:spLocks/>
          </p:cNvSpPr>
          <p:nvPr/>
        </p:nvSpPr>
        <p:spPr bwMode="auto">
          <a:xfrm>
            <a:off x="1128713" y="931496"/>
            <a:ext cx="6172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r>
              <a:rPr lang="fr-CA" altLang="fr-FR" dirty="0"/>
              <a:t>En pratique : </a:t>
            </a:r>
            <a:r>
              <a:rPr lang="fr-CA" altLang="fr-FR" dirty="0" err="1"/>
              <a:t>Loblaw’s</a:t>
            </a:r>
            <a:r>
              <a:rPr lang="fr-CA" altLang="fr-FR" dirty="0"/>
              <a:t> </a:t>
            </a:r>
            <a:r>
              <a:rPr lang="fr-CA" altLang="fr-FR" sz="2700" dirty="0">
                <a:solidFill>
                  <a:schemeClr val="accent1">
                    <a:lumMod val="75000"/>
                  </a:schemeClr>
                </a:solidFill>
              </a:rPr>
              <a:t>2014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2538412"/>
            <a:ext cx="8215313" cy="256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83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re 6"/>
          <p:cNvSpPr>
            <a:spLocks noGrp="1"/>
          </p:cNvSpPr>
          <p:nvPr>
            <p:ph type="ctrTitle"/>
          </p:nvPr>
        </p:nvSpPr>
        <p:spPr>
          <a:xfrm>
            <a:off x="1485900" y="2658667"/>
            <a:ext cx="6343650" cy="1102519"/>
          </a:xfrm>
        </p:spPr>
        <p:txBody>
          <a:bodyPr/>
          <a:lstStyle/>
          <a:p>
            <a:r>
              <a:rPr lang="fr-CA" altLang="fr-FR"/>
              <a:t>Secteurs d’activité</a:t>
            </a:r>
          </a:p>
        </p:txBody>
      </p:sp>
      <p:sp>
        <p:nvSpPr>
          <p:cNvPr id="115715" name="Sous-titre 7"/>
          <p:cNvSpPr>
            <a:spLocks noGrp="1"/>
          </p:cNvSpPr>
          <p:nvPr>
            <p:ph type="subTitle" idx="1"/>
          </p:nvPr>
        </p:nvSpPr>
        <p:spPr>
          <a:xfrm>
            <a:off x="1485900" y="4100512"/>
            <a:ext cx="3714750" cy="996553"/>
          </a:xfrm>
        </p:spPr>
        <p:txBody>
          <a:bodyPr/>
          <a:lstStyle/>
          <a:p>
            <a:pPr marL="47625"/>
            <a:r>
              <a:rPr lang="fr-CA" altLang="fr-FR" sz="2600" dirty="0"/>
              <a:t>Autres infos à fournir</a:t>
            </a:r>
          </a:p>
        </p:txBody>
      </p:sp>
    </p:spTree>
    <p:extLst>
      <p:ext uri="{BB962C8B-B14F-4D97-AF65-F5344CB8AC3E}">
        <p14:creationId xmlns:p14="http://schemas.microsoft.com/office/powerpoint/2010/main" val="25620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/>
          </p:cNvSpPr>
          <p:nvPr>
            <p:ph type="title"/>
          </p:nvPr>
        </p:nvSpPr>
        <p:spPr>
          <a:xfrm>
            <a:off x="1485900" y="1600200"/>
            <a:ext cx="6172200" cy="514350"/>
          </a:xfrm>
        </p:spPr>
        <p:txBody>
          <a:bodyPr/>
          <a:lstStyle/>
          <a:p>
            <a:r>
              <a:rPr lang="fr-CA" altLang="fr-FR" sz="2100"/>
              <a:t>Infos relatives aux produits et services</a:t>
            </a:r>
          </a:p>
        </p:txBody>
      </p:sp>
      <p:sp>
        <p:nvSpPr>
          <p:cNvPr id="116739" name="Rectangle 3"/>
          <p:cNvSpPr>
            <a:spLocks noGrp="1"/>
          </p:cNvSpPr>
          <p:nvPr>
            <p:ph type="body" idx="1"/>
          </p:nvPr>
        </p:nvSpPr>
        <p:spPr>
          <a:xfrm>
            <a:off x="1494235" y="2294336"/>
            <a:ext cx="6172200" cy="3526631"/>
          </a:xfrm>
        </p:spPr>
        <p:txBody>
          <a:bodyPr/>
          <a:lstStyle/>
          <a:p>
            <a:pPr marL="257175" indent="-257175"/>
            <a:r>
              <a:rPr lang="fr-CA" altLang="fr-FR" sz="1800"/>
              <a:t>Une entité doit présenter les produits d'activités ordinaires provenant de </a:t>
            </a:r>
            <a:r>
              <a:rPr lang="fr-CA" altLang="fr-FR" sz="1800" b="1"/>
              <a:t>clients externes</a:t>
            </a:r>
            <a:r>
              <a:rPr lang="fr-CA" altLang="fr-FR" sz="1800"/>
              <a:t> pour chaque produit et service, ou pour chaque groupe de produits et de services similaires, </a:t>
            </a:r>
            <a:r>
              <a:rPr lang="fr-CA" altLang="fr-FR" sz="1800" b="1">
                <a:solidFill>
                  <a:schemeClr val="accent1"/>
                </a:solidFill>
              </a:rPr>
              <a:t>sauf si les informations nécessaires ne sont pas disponibles et que le coût de leur élaboration serait excessif, auquel cas ce fait doit être indiqué</a:t>
            </a:r>
            <a:r>
              <a:rPr lang="fr-CA" altLang="fr-FR" sz="1800"/>
              <a:t>. </a:t>
            </a:r>
          </a:p>
          <a:p>
            <a:pPr marL="257175" indent="-257175"/>
            <a:r>
              <a:rPr lang="fr-CA" altLang="fr-FR" sz="1800"/>
              <a:t>Les montants des produits d'activités ordinaires présentés doivent être basés sur les informations financières utilisées pour produire les états financiers de l'entité. (IFRS 8-32)</a:t>
            </a:r>
          </a:p>
        </p:txBody>
      </p:sp>
      <p:sp>
        <p:nvSpPr>
          <p:cNvPr id="116740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429941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6741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2C17EA-1133-4743-BD3F-FB729A974ABC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556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/>
          </p:cNvSpPr>
          <p:nvPr>
            <p:ph type="title"/>
          </p:nvPr>
        </p:nvSpPr>
        <p:spPr>
          <a:xfrm>
            <a:off x="1485900" y="1714500"/>
            <a:ext cx="6172200" cy="571500"/>
          </a:xfrm>
        </p:spPr>
        <p:txBody>
          <a:bodyPr/>
          <a:lstStyle/>
          <a:p>
            <a:r>
              <a:rPr lang="fr-CA" altLang="fr-FR" sz="2100"/>
              <a:t>Infos relatives aux zones géographiques</a:t>
            </a:r>
            <a:br>
              <a:rPr lang="fr-CA" altLang="fr-FR" sz="2100"/>
            </a:br>
            <a:r>
              <a:rPr lang="fr-CA" altLang="fr-FR" sz="2100"/>
              <a:t>Les </a:t>
            </a:r>
            <a:r>
              <a:rPr lang="fr-CA" altLang="fr-FR" sz="2100" b="1"/>
              <a:t>produits</a:t>
            </a:r>
            <a:r>
              <a:rPr lang="fr-CA" altLang="fr-FR" sz="2100"/>
              <a:t> provenant de clients externes </a:t>
            </a:r>
            <a:br>
              <a:rPr lang="fr-CA" altLang="fr-FR" sz="2100"/>
            </a:br>
            <a:r>
              <a:rPr lang="fr-CA" altLang="fr-FR" sz="1500" b="1"/>
              <a:t>(IFRS 8-33 a)</a:t>
            </a:r>
            <a:r>
              <a:rPr lang="fr-CA" altLang="fr-FR" sz="2100"/>
              <a:t> :</a:t>
            </a:r>
          </a:p>
        </p:txBody>
      </p:sp>
      <p:sp>
        <p:nvSpPr>
          <p:cNvPr id="118787" name="Rectangle 3"/>
          <p:cNvSpPr>
            <a:spLocks noGrp="1"/>
          </p:cNvSpPr>
          <p:nvPr>
            <p:ph type="body" sz="half" idx="1"/>
          </p:nvPr>
        </p:nvSpPr>
        <p:spPr>
          <a:xfrm>
            <a:off x="1485900" y="2544366"/>
            <a:ext cx="3028950" cy="3243263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Georgia" panose="02040502050405020303" pitchFamily="18" charset="0"/>
              <a:buAutoNum type="romanLcParenBoth"/>
            </a:pPr>
            <a:r>
              <a:rPr lang="fr-CA" altLang="fr-FR" sz="1800"/>
              <a:t> affectés </a:t>
            </a:r>
            <a:r>
              <a:rPr lang="fr-CA" altLang="fr-FR" sz="1800" b="1">
                <a:solidFill>
                  <a:schemeClr val="accent1"/>
                </a:solidFill>
              </a:rPr>
              <a:t>au pays</a:t>
            </a:r>
            <a:r>
              <a:rPr lang="fr-CA" altLang="fr-FR" sz="1800"/>
              <a:t> où est situé le siège social et</a:t>
            </a:r>
          </a:p>
          <a:p>
            <a:pPr marL="0" indent="0">
              <a:lnSpc>
                <a:spcPct val="90000"/>
              </a:lnSpc>
              <a:buFont typeface="Georgia" panose="02040502050405020303" pitchFamily="18" charset="0"/>
              <a:buAutoNum type="romanLcParenBoth"/>
            </a:pPr>
            <a:r>
              <a:rPr lang="fr-CA" altLang="fr-FR" sz="1800"/>
              <a:t> affectés </a:t>
            </a:r>
            <a:r>
              <a:rPr lang="fr-CA" altLang="fr-FR" sz="1800">
                <a:solidFill>
                  <a:schemeClr val="accent1"/>
                </a:solidFill>
              </a:rPr>
              <a:t>à </a:t>
            </a:r>
            <a:r>
              <a:rPr lang="fr-CA" altLang="fr-FR" sz="1800" b="1">
                <a:solidFill>
                  <a:schemeClr val="accent1"/>
                </a:solidFill>
              </a:rPr>
              <a:t>l'ensemble de tous les pays étrangers</a:t>
            </a:r>
            <a:r>
              <a:rPr lang="fr-CA" altLang="fr-FR" sz="1800"/>
              <a:t> dont l'entité tire des produits d'activités ordinaires.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CA" altLang="fr-FR" sz="1800"/>
              <a:t>Si les produits provenant de clients externes affectés à un pays étranger donné sont </a:t>
            </a:r>
            <a:r>
              <a:rPr lang="fr-CA" altLang="fr-FR" sz="1800" b="1">
                <a:solidFill>
                  <a:schemeClr val="accent1"/>
                </a:solidFill>
              </a:rPr>
              <a:t>significatifs</a:t>
            </a:r>
            <a:r>
              <a:rPr lang="fr-CA" altLang="fr-FR" sz="1800"/>
              <a:t>, ils doivent être présentés séparément. </a:t>
            </a:r>
          </a:p>
          <a:p>
            <a:pPr marL="0" indent="0">
              <a:lnSpc>
                <a:spcPct val="90000"/>
              </a:lnSpc>
              <a:buNone/>
            </a:pPr>
            <a:endParaRPr lang="fr-CA" altLang="fr-FR" sz="1800"/>
          </a:p>
        </p:txBody>
      </p:sp>
      <p:sp>
        <p:nvSpPr>
          <p:cNvPr id="118788" name="Rectangle 4"/>
          <p:cNvSpPr>
            <a:spLocks noGrp="1"/>
          </p:cNvSpPr>
          <p:nvPr>
            <p:ph type="body" sz="half" idx="2"/>
          </p:nvPr>
        </p:nvSpPr>
        <p:spPr>
          <a:xfrm>
            <a:off x="4629150" y="2544366"/>
            <a:ext cx="3028950" cy="3243263"/>
          </a:xfrm>
        </p:spPr>
        <p:txBody>
          <a:bodyPr/>
          <a:lstStyle/>
          <a:p>
            <a:r>
              <a:rPr lang="fr-CA" altLang="fr-FR" sz="1800"/>
              <a:t>L'entité doit indiquer la base de répartition des produits d'activités ordinaires provenant de clients externes entre les différents pays</a:t>
            </a:r>
          </a:p>
        </p:txBody>
      </p:sp>
      <p:sp>
        <p:nvSpPr>
          <p:cNvPr id="118789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1" y="1316831"/>
            <a:ext cx="1483519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18790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7CC82A-E5C5-4CB3-B521-C135490A160C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04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 sz="2100" dirty="0"/>
              <a:t>Infos relatives aux zones géographiques</a:t>
            </a:r>
            <a:br>
              <a:rPr lang="fr-CA" altLang="fr-FR" sz="2100" dirty="0"/>
            </a:br>
            <a:r>
              <a:rPr lang="fr-CA" altLang="fr-FR" sz="2100" dirty="0"/>
              <a:t>Les </a:t>
            </a:r>
            <a:r>
              <a:rPr lang="fr-CA" altLang="fr-FR" sz="2100" b="1" dirty="0"/>
              <a:t>actifs </a:t>
            </a:r>
            <a:r>
              <a:rPr lang="fr-CA" altLang="fr-FR" sz="2100" b="1" u="sng" dirty="0"/>
              <a:t>non</a:t>
            </a:r>
            <a:r>
              <a:rPr lang="fr-CA" altLang="fr-FR" sz="2100" b="1" dirty="0"/>
              <a:t> courants (IFRS 8-33 b)</a:t>
            </a:r>
            <a:r>
              <a:rPr lang="fr-CA" altLang="fr-FR" sz="2100" dirty="0"/>
              <a:t> :</a:t>
            </a:r>
          </a:p>
        </p:txBody>
      </p:sp>
      <p:sp>
        <p:nvSpPr>
          <p:cNvPr id="120835" name="Rectangle 3"/>
          <p:cNvSpPr>
            <a:spLocks noGrp="1"/>
          </p:cNvSpPr>
          <p:nvPr>
            <p:ph type="body" sz="half" idx="1"/>
          </p:nvPr>
        </p:nvSpPr>
        <p:spPr>
          <a:xfrm>
            <a:off x="1485900" y="2209800"/>
            <a:ext cx="3028950" cy="3577829"/>
          </a:xfrm>
        </p:spPr>
        <p:txBody>
          <a:bodyPr/>
          <a:lstStyle/>
          <a:p>
            <a:pPr marL="211931" indent="-145256">
              <a:lnSpc>
                <a:spcPct val="90000"/>
              </a:lnSpc>
            </a:pPr>
            <a:r>
              <a:rPr lang="fr-CA" altLang="fr-FR" sz="1800" dirty="0"/>
              <a:t>situés dans le pays où est situé le siège social de l'entité et </a:t>
            </a:r>
          </a:p>
          <a:p>
            <a:pPr marL="211931" indent="-145256">
              <a:lnSpc>
                <a:spcPct val="90000"/>
              </a:lnSpc>
            </a:pPr>
            <a:r>
              <a:rPr lang="fr-CA" altLang="fr-FR" sz="1800" dirty="0"/>
              <a:t> situés dans l'ensemble de tous les pays étrangers dans lesquels l'entité détient des actifs </a:t>
            </a:r>
          </a:p>
          <a:p>
            <a:pPr marL="211931" indent="-145256">
              <a:lnSpc>
                <a:spcPct val="90000"/>
              </a:lnSpc>
              <a:buNone/>
            </a:pPr>
            <a:endParaRPr lang="fr-CA" altLang="fr-FR" sz="1800" dirty="0"/>
          </a:p>
          <a:p>
            <a:pPr marL="211931" indent="-145256">
              <a:lnSpc>
                <a:spcPct val="90000"/>
              </a:lnSpc>
              <a:buNone/>
            </a:pPr>
            <a:r>
              <a:rPr lang="fr-CA" altLang="fr-FR" sz="1800" dirty="0"/>
              <a:t>Si les actifs dans un pays étranger donné sont </a:t>
            </a:r>
            <a:r>
              <a:rPr lang="fr-CA" altLang="fr-FR" sz="1800" b="1" dirty="0">
                <a:solidFill>
                  <a:schemeClr val="accent1"/>
                </a:solidFill>
              </a:rPr>
              <a:t>significatifs</a:t>
            </a:r>
            <a:r>
              <a:rPr lang="fr-CA" altLang="fr-FR" sz="1800" dirty="0"/>
              <a:t>, ils doivent être présentés séparément. </a:t>
            </a:r>
          </a:p>
        </p:txBody>
      </p:sp>
      <p:sp>
        <p:nvSpPr>
          <p:cNvPr id="120836" name="Rectangle 4"/>
          <p:cNvSpPr>
            <a:spLocks noGrp="1"/>
          </p:cNvSpPr>
          <p:nvPr>
            <p:ph type="body" sz="half" idx="2"/>
          </p:nvPr>
        </p:nvSpPr>
        <p:spPr>
          <a:xfrm>
            <a:off x="4629150" y="2209800"/>
            <a:ext cx="3028950" cy="3577829"/>
          </a:xfrm>
        </p:spPr>
        <p:txBody>
          <a:bodyPr/>
          <a:lstStyle/>
          <a:p>
            <a:r>
              <a:rPr lang="fr-CA" altLang="fr-FR" sz="1800" dirty="0"/>
              <a:t>Ces actifs excluent :</a:t>
            </a:r>
          </a:p>
          <a:p>
            <a:pPr lvl="1"/>
            <a:r>
              <a:rPr lang="fr-CA" altLang="fr-FR" sz="1650" b="1" dirty="0">
                <a:solidFill>
                  <a:schemeClr val="tx2"/>
                </a:solidFill>
              </a:rPr>
              <a:t>les instruments financiers, </a:t>
            </a:r>
          </a:p>
          <a:p>
            <a:pPr lvl="1"/>
            <a:r>
              <a:rPr lang="fr-CA" altLang="fr-FR" sz="1650" b="1" dirty="0">
                <a:solidFill>
                  <a:schemeClr val="tx2"/>
                </a:solidFill>
              </a:rPr>
              <a:t>les actifs d'impôt différé, les actifs relatifs aux avantages postérieurs à l'emploi, et</a:t>
            </a:r>
          </a:p>
          <a:p>
            <a:pPr lvl="1"/>
            <a:r>
              <a:rPr lang="fr-CA" altLang="fr-FR" sz="1650" b="1" dirty="0">
                <a:solidFill>
                  <a:schemeClr val="tx2"/>
                </a:solidFill>
              </a:rPr>
              <a:t> les droits découlant de contrats d'assurance. </a:t>
            </a:r>
          </a:p>
        </p:txBody>
      </p:sp>
      <p:sp>
        <p:nvSpPr>
          <p:cNvPr id="120837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1" y="1316831"/>
            <a:ext cx="1807369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20838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194615-CE6E-48C9-BB86-A9F8354D469B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641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/>
          </p:cNvSpPr>
          <p:nvPr>
            <p:ph type="title"/>
          </p:nvPr>
        </p:nvSpPr>
        <p:spPr>
          <a:xfrm>
            <a:off x="1057275" y="1714501"/>
            <a:ext cx="6600825" cy="471487"/>
          </a:xfrm>
        </p:spPr>
        <p:txBody>
          <a:bodyPr/>
          <a:lstStyle/>
          <a:p>
            <a:r>
              <a:rPr lang="fr-CA" altLang="fr-FR" sz="2400" dirty="0"/>
              <a:t>Infos relatives aux principaux clients </a:t>
            </a:r>
            <a:r>
              <a:rPr lang="fr-CA" altLang="fr-FR" sz="1500" dirty="0"/>
              <a:t>(IFRS 8-34)</a:t>
            </a:r>
            <a:endParaRPr lang="fr-CA" altLang="fr-FR" sz="2400" dirty="0"/>
          </a:p>
        </p:txBody>
      </p:sp>
      <p:sp>
        <p:nvSpPr>
          <p:cNvPr id="122883" name="Rectangle 3"/>
          <p:cNvSpPr>
            <a:spLocks noGrp="1"/>
          </p:cNvSpPr>
          <p:nvPr>
            <p:ph type="body" sz="half" idx="1"/>
          </p:nvPr>
        </p:nvSpPr>
        <p:spPr>
          <a:xfrm>
            <a:off x="1485900" y="2544366"/>
            <a:ext cx="3028950" cy="3243263"/>
          </a:xfrm>
        </p:spPr>
        <p:txBody>
          <a:bodyPr/>
          <a:lstStyle/>
          <a:p>
            <a:r>
              <a:rPr lang="fr-CA" altLang="fr-FR" sz="1800" dirty="0"/>
              <a:t>Objectif : DOIT fournir des informations sur son </a:t>
            </a:r>
            <a:r>
              <a:rPr lang="fr-CA" altLang="fr-FR" sz="1800" b="1" dirty="0">
                <a:solidFill>
                  <a:schemeClr val="accent1"/>
                </a:solidFill>
              </a:rPr>
              <a:t>degré de dépendance</a:t>
            </a:r>
            <a:r>
              <a:rPr lang="fr-CA" altLang="fr-FR" sz="1800" dirty="0"/>
              <a:t> à l'égard de ses principaux clients </a:t>
            </a:r>
          </a:p>
        </p:txBody>
      </p:sp>
      <p:sp>
        <p:nvSpPr>
          <p:cNvPr id="58372" name="Rectangle 4"/>
          <p:cNvSpPr>
            <a:spLocks noGrp="1"/>
          </p:cNvSpPr>
          <p:nvPr>
            <p:ph type="body" sz="half" idx="2"/>
          </p:nvPr>
        </p:nvSpPr>
        <p:spPr>
          <a:xfrm>
            <a:off x="4629150" y="2544366"/>
            <a:ext cx="3028950" cy="3243263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fr-CA" dirty="0"/>
              <a:t>Si les produits d'activités ordinaires provenant de transactions avec un même client externe s'élèvent à </a:t>
            </a:r>
            <a:r>
              <a:rPr lang="fr-CA" b="1" dirty="0"/>
              <a:t>10 %</a:t>
            </a:r>
            <a:r>
              <a:rPr lang="fr-CA" dirty="0"/>
              <a:t> ou plus du produit des activités ordinaires de l'entité</a:t>
            </a:r>
          </a:p>
          <a:p>
            <a:pPr lvl="1">
              <a:lnSpc>
                <a:spcPct val="90000"/>
              </a:lnSpc>
              <a:defRPr/>
            </a:pPr>
            <a:r>
              <a:rPr lang="fr-CA" sz="1500" b="1" dirty="0"/>
              <a:t>indiquer ce fait;</a:t>
            </a:r>
          </a:p>
          <a:p>
            <a:pPr lvl="1">
              <a:lnSpc>
                <a:spcPct val="90000"/>
              </a:lnSpc>
              <a:defRPr/>
            </a:pPr>
            <a:r>
              <a:rPr lang="fr-CA" sz="1500" b="1" dirty="0">
                <a:solidFill>
                  <a:schemeClr val="bg2">
                    <a:lumMod val="25000"/>
                  </a:schemeClr>
                </a:solidFill>
              </a:rPr>
              <a:t>le montant total des produits d'activités ordinaires provenant de ce client et;</a:t>
            </a:r>
          </a:p>
          <a:p>
            <a:pPr lvl="1">
              <a:lnSpc>
                <a:spcPct val="90000"/>
              </a:lnSpc>
              <a:defRPr/>
            </a:pPr>
            <a:r>
              <a:rPr lang="fr-CA" sz="1500" b="1" dirty="0"/>
              <a:t>l'identité du ou des secteurs présentant ces produits.</a:t>
            </a:r>
            <a:r>
              <a:rPr lang="fr-CA" sz="1500" dirty="0"/>
              <a:t> </a:t>
            </a:r>
          </a:p>
        </p:txBody>
      </p:sp>
      <p:sp>
        <p:nvSpPr>
          <p:cNvPr id="122885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591866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22886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014D28-B811-4964-B170-FE808F1592A0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857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E40059"/>
                </a:solidFill>
              </a:rPr>
              <a:t>© 2014,  Sylviane Beauregard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E8A76D-C7EB-4F7F-BD6B-38CCE20F7F9B}" type="slidenum">
              <a:rPr lang="fr-FR" altLang="fr-FR" smtClean="0"/>
              <a:pPr>
                <a:defRPr/>
              </a:pPr>
              <a:t>27</a:t>
            </a:fld>
            <a:endParaRPr lang="fr-FR" altLang="fr-FR"/>
          </a:p>
        </p:txBody>
      </p:sp>
      <p:sp>
        <p:nvSpPr>
          <p:cNvPr id="7" name="Rectangle 1026"/>
          <p:cNvSpPr>
            <a:spLocks noGrp="1"/>
          </p:cNvSpPr>
          <p:nvPr>
            <p:ph type="title"/>
          </p:nvPr>
        </p:nvSpPr>
        <p:spPr>
          <a:xfrm>
            <a:off x="528638" y="841375"/>
            <a:ext cx="8229600" cy="673100"/>
          </a:xfrm>
        </p:spPr>
        <p:txBody>
          <a:bodyPr/>
          <a:lstStyle/>
          <a:p>
            <a:r>
              <a:rPr lang="fr-CA" altLang="fr-FR" dirty="0"/>
              <a:t>En pratique : </a:t>
            </a:r>
            <a:r>
              <a:rPr lang="fr-CA" altLang="fr-FR" dirty="0" err="1"/>
              <a:t>Boralex</a:t>
            </a:r>
            <a:r>
              <a:rPr lang="fr-CA" altLang="fr-FR" sz="2700" dirty="0">
                <a:solidFill>
                  <a:schemeClr val="accent1">
                    <a:lumMod val="75000"/>
                  </a:schemeClr>
                </a:solidFill>
              </a:rPr>
              <a:t> 2014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987550"/>
            <a:ext cx="8593138" cy="398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6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re 6"/>
          <p:cNvSpPr>
            <a:spLocks noGrp="1"/>
          </p:cNvSpPr>
          <p:nvPr>
            <p:ph type="ctrTitle"/>
          </p:nvPr>
        </p:nvSpPr>
        <p:spPr>
          <a:xfrm>
            <a:off x="1485900" y="2658667"/>
            <a:ext cx="6343650" cy="1102519"/>
          </a:xfrm>
        </p:spPr>
        <p:txBody>
          <a:bodyPr/>
          <a:lstStyle/>
          <a:p>
            <a:r>
              <a:rPr lang="fr-CA" altLang="fr-FR" dirty="0"/>
              <a:t>Secteurs opérationnels</a:t>
            </a:r>
          </a:p>
        </p:txBody>
      </p:sp>
      <p:sp>
        <p:nvSpPr>
          <p:cNvPr id="124931" name="Sous-titre 7"/>
          <p:cNvSpPr>
            <a:spLocks noGrp="1"/>
          </p:cNvSpPr>
          <p:nvPr>
            <p:ph type="subTitle" idx="1"/>
          </p:nvPr>
        </p:nvSpPr>
        <p:spPr>
          <a:xfrm>
            <a:off x="1485900" y="4114800"/>
            <a:ext cx="3714750" cy="982266"/>
          </a:xfrm>
        </p:spPr>
        <p:txBody>
          <a:bodyPr/>
          <a:lstStyle/>
          <a:p>
            <a:pPr marL="47625"/>
            <a:r>
              <a:rPr lang="fr-CA" altLang="fr-FR" sz="2600" dirty="0"/>
              <a:t>Dans les états financiers trimestriels</a:t>
            </a:r>
          </a:p>
        </p:txBody>
      </p:sp>
    </p:spTree>
    <p:extLst>
      <p:ext uri="{BB962C8B-B14F-4D97-AF65-F5344CB8AC3E}">
        <p14:creationId xmlns:p14="http://schemas.microsoft.com/office/powerpoint/2010/main" val="3305493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altLang="fr-FR" sz="2400"/>
              <a:t>Info sectorielle trimestrielle à fournir – allégement (IAS 34-16g)</a:t>
            </a:r>
          </a:p>
        </p:txBody>
      </p:sp>
      <p:sp>
        <p:nvSpPr>
          <p:cNvPr id="125955" name="Rectangle 3"/>
          <p:cNvSpPr>
            <a:spLocks noGrp="1"/>
          </p:cNvSpPr>
          <p:nvPr>
            <p:ph type="body" sz="half" idx="1"/>
          </p:nvPr>
        </p:nvSpPr>
        <p:spPr>
          <a:xfrm>
            <a:off x="1485900" y="2544366"/>
            <a:ext cx="4514850" cy="3243263"/>
          </a:xfrm>
        </p:spPr>
        <p:txBody>
          <a:bodyPr/>
          <a:lstStyle/>
          <a:p>
            <a:r>
              <a:rPr lang="fr-CA" altLang="fr-FR"/>
              <a:t>Produits provenant des clients externes, si inclus dans indicateur examiné par le DPO</a:t>
            </a:r>
          </a:p>
          <a:p>
            <a:r>
              <a:rPr lang="fr-CA" altLang="fr-FR"/>
              <a:t>Produits intersectoriels si inclus dans indicateur examiné par le DPO</a:t>
            </a:r>
          </a:p>
          <a:p>
            <a:r>
              <a:rPr lang="fr-CA" altLang="fr-FR"/>
              <a:t>Un indicateur du résultat net sectoriel</a:t>
            </a:r>
          </a:p>
          <a:p>
            <a:r>
              <a:rPr lang="fr-CA" altLang="fr-FR"/>
              <a:t>Un rapprochement entre le total des indicateurs des résultats nets des secteurs à présenter et le RN de l’entité avant impôts et activités abandonnées</a:t>
            </a:r>
          </a:p>
          <a:p>
            <a:r>
              <a:rPr lang="fr-CA" altLang="fr-FR"/>
              <a:t>Description des différences par rapport aux derniers EF annuels dans la base de sectorisation ou dans la base d’évaluation du RN sectoriel</a:t>
            </a:r>
          </a:p>
          <a:p>
            <a:endParaRPr lang="fr-CA" altLang="fr-FR"/>
          </a:p>
        </p:txBody>
      </p:sp>
      <p:sp>
        <p:nvSpPr>
          <p:cNvPr id="125956" name="Rectangle 4"/>
          <p:cNvSpPr>
            <a:spLocks noGrp="1"/>
          </p:cNvSpPr>
          <p:nvPr>
            <p:ph type="body" sz="half" idx="2"/>
          </p:nvPr>
        </p:nvSpPr>
        <p:spPr>
          <a:xfrm>
            <a:off x="6000750" y="2544366"/>
            <a:ext cx="1657350" cy="3243263"/>
          </a:xfrm>
        </p:spPr>
        <p:txBody>
          <a:bodyPr/>
          <a:lstStyle/>
          <a:p>
            <a:r>
              <a:rPr lang="fr-CA" altLang="fr-FR"/>
              <a:t>IFRS 8-32</a:t>
            </a:r>
          </a:p>
          <a:p>
            <a:pPr>
              <a:buFont typeface="Georgia" panose="02040502050405020303" pitchFamily="18" charset="0"/>
              <a:buNone/>
            </a:pPr>
            <a:endParaRPr lang="fr-CA" altLang="fr-FR"/>
          </a:p>
          <a:p>
            <a:pPr>
              <a:buFont typeface="Georgia" panose="02040502050405020303" pitchFamily="18" charset="0"/>
              <a:buNone/>
            </a:pPr>
            <a:r>
              <a:rPr lang="fr-CA" altLang="fr-FR"/>
              <a:t>IAS 34-16 g) ii)</a:t>
            </a:r>
          </a:p>
          <a:p>
            <a:pPr>
              <a:buFont typeface="Georgia" panose="02040502050405020303" pitchFamily="18" charset="0"/>
              <a:buNone/>
            </a:pPr>
            <a:endParaRPr lang="fr-CA" altLang="fr-FR"/>
          </a:p>
          <a:p>
            <a:r>
              <a:rPr lang="fr-CA" altLang="fr-FR"/>
              <a:t>IFRS 8-23</a:t>
            </a:r>
          </a:p>
          <a:p>
            <a:pPr>
              <a:buFont typeface="Georgia" panose="02040502050405020303" pitchFamily="18" charset="0"/>
              <a:buNone/>
            </a:pPr>
            <a:endParaRPr lang="fr-CA" altLang="fr-FR"/>
          </a:p>
          <a:p>
            <a:r>
              <a:rPr lang="fr-CA" altLang="fr-FR"/>
              <a:t>IFRS 8-28</a:t>
            </a:r>
          </a:p>
          <a:p>
            <a:endParaRPr lang="fr-CA" altLang="fr-FR"/>
          </a:p>
          <a:p>
            <a:endParaRPr lang="fr-CA" altLang="fr-FR"/>
          </a:p>
          <a:p>
            <a:r>
              <a:rPr lang="fr-CA" altLang="fr-FR"/>
              <a:t>IAS 34-16 g) v)</a:t>
            </a:r>
          </a:p>
          <a:p>
            <a:pPr>
              <a:buFont typeface="Georgia" panose="02040502050405020303" pitchFamily="18" charset="0"/>
              <a:buNone/>
            </a:pPr>
            <a:endParaRPr lang="fr-CA" altLang="fr-FR"/>
          </a:p>
          <a:p>
            <a:pPr>
              <a:buFont typeface="Georgia" panose="02040502050405020303" pitchFamily="18" charset="0"/>
              <a:buNone/>
            </a:pPr>
            <a:endParaRPr lang="fr-CA" altLang="fr-FR"/>
          </a:p>
        </p:txBody>
      </p:sp>
      <p:sp>
        <p:nvSpPr>
          <p:cNvPr id="125957" name="Espace réservé du pied de page 1"/>
          <p:cNvSpPr>
            <a:spLocks noGrp="1"/>
          </p:cNvSpPr>
          <p:nvPr>
            <p:ph type="ftr" sz="quarter" idx="11"/>
          </p:nvPr>
        </p:nvSpPr>
        <p:spPr bwMode="auto">
          <a:xfrm>
            <a:off x="5086350" y="1316831"/>
            <a:ext cx="1538288" cy="34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fr-FR" altLang="fr-FR" sz="600">
                <a:solidFill>
                  <a:srgbClr val="E40059"/>
                </a:solidFill>
                <a:latin typeface="Times New Roman" panose="02020603050405020304" pitchFamily="18" charset="0"/>
              </a:rPr>
              <a:t>© 2014,  Sylviane Beauregard</a:t>
            </a:r>
          </a:p>
        </p:txBody>
      </p:sp>
      <p:sp>
        <p:nvSpPr>
          <p:cNvPr id="125958" name="Espace réservé du numéro de diapositive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•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557213" indent="-214313">
              <a:spcBef>
                <a:spcPts val="225"/>
              </a:spcBef>
              <a:buClr>
                <a:schemeClr val="accent2"/>
              </a:buClr>
              <a:buFont typeface="Georgia" panose="02040502050405020303" pitchFamily="18" charset="0"/>
              <a:buChar char="▫"/>
              <a:defRPr sz="1950">
                <a:solidFill>
                  <a:schemeClr val="accent2"/>
                </a:solidFill>
                <a:latin typeface="Georgia" panose="02040502050405020303" pitchFamily="18" charset="0"/>
              </a:defRPr>
            </a:lvl2pPr>
            <a:lvl3pPr marL="8572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800">
                <a:solidFill>
                  <a:schemeClr val="accent1"/>
                </a:solidFill>
                <a:latin typeface="Georgia" panose="02040502050405020303" pitchFamily="18" charset="0"/>
              </a:defRPr>
            </a:lvl3pPr>
            <a:lvl4pPr marL="1200150" indent="-171450">
              <a:spcBef>
                <a:spcPts val="225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650">
                <a:solidFill>
                  <a:schemeClr val="accent1"/>
                </a:solidFill>
                <a:latin typeface="Georgia" panose="02040502050405020303" pitchFamily="18" charset="0"/>
              </a:defRPr>
            </a:lvl4pPr>
            <a:lvl5pPr marL="1543050" indent="-171450">
              <a:spcBef>
                <a:spcPts val="225"/>
              </a:spcBef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5pPr>
            <a:lvl6pPr marL="18859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6pPr>
            <a:lvl7pPr marL="22288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7pPr>
            <a:lvl8pPr marL="25717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8pPr>
            <a:lvl9pPr marL="2914650" indent="-171450" eaLnBrk="0" fontAlgn="base" hangingPunct="0">
              <a:spcBef>
                <a:spcPts val="225"/>
              </a:spcBef>
              <a:spcAft>
                <a:spcPct val="0"/>
              </a:spcAft>
              <a:buClr>
                <a:srgbClr val="9C007F"/>
              </a:buClr>
              <a:buFont typeface="Georgia" panose="02040502050405020303" pitchFamily="18" charset="0"/>
              <a:buChar char="▫"/>
              <a:defRPr sz="1500">
                <a:solidFill>
                  <a:srgbClr val="9C007F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EE91A8-4876-471A-8985-43BBF9C57C5C}" type="slidenum">
              <a:rPr lang="fr-FR" altLang="fr-FR" sz="1350">
                <a:solidFill>
                  <a:srgbClr val="FFFFFF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fr-FR" altLang="fr-FR" sz="135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9049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i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Urbai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Urbai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1928</Words>
  <Application>Microsoft Office PowerPoint</Application>
  <PresentationFormat>Affichage à l'écran (4:3)</PresentationFormat>
  <Paragraphs>235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7" baseType="lpstr">
      <vt:lpstr>Arial</vt:lpstr>
      <vt:lpstr>Calibri</vt:lpstr>
      <vt:lpstr>Georgia</vt:lpstr>
      <vt:lpstr>Helvetica</vt:lpstr>
      <vt:lpstr>Times New Roman</vt:lpstr>
      <vt:lpstr>Trebuchet MS</vt:lpstr>
      <vt:lpstr>Wingdings 2</vt:lpstr>
      <vt:lpstr>Urbain</vt:lpstr>
      <vt:lpstr>Secteurs opérationnels (IFRS 8)</vt:lpstr>
      <vt:lpstr>Les Secteurs opérationnels</vt:lpstr>
      <vt:lpstr>Secteurs opérationnels (IFRS 8) Le principe fondamental</vt:lpstr>
      <vt:lpstr>Qui est visé?</vt:lpstr>
      <vt:lpstr>Présenter l’information sectorielle : 5 étapes</vt:lpstr>
      <vt:lpstr>1. Le principal décideur opérationnel (PDO) c’est d’abord...</vt:lpstr>
      <vt:lpstr>Présenter l’information sectorielle : 5 étapes</vt:lpstr>
      <vt:lpstr>2. Identifier les secteurs opérationnels </vt:lpstr>
      <vt:lpstr>Présenter l’information sectorielle : 5 étapes</vt:lpstr>
      <vt:lpstr>3.Regrouper les secteurs opérationnels similaires </vt:lpstr>
      <vt:lpstr>Les critères de regroupement</vt:lpstr>
      <vt:lpstr>Présenter l’information sectorielle : 5 étapes</vt:lpstr>
      <vt:lpstr>4.Quels sont les secteurs à présenter</vt:lpstr>
      <vt:lpstr>Présenter l’information sectorielle : 5 étapes</vt:lpstr>
      <vt:lpstr>Info à fournir -  informations générales (IFRS 8 – 22)</vt:lpstr>
      <vt:lpstr>En pratique : Saputo 31 mars 2013</vt:lpstr>
      <vt:lpstr>En pratique : Saputo 31 mars 2014</vt:lpstr>
      <vt:lpstr>Information relative au résultat net (IFRS 8-23)</vt:lpstr>
      <vt:lpstr>Rapprocher l’info sectorielle de l’information globale de l’entité (IFRS 8-28)</vt:lpstr>
      <vt:lpstr>Rapprocher l’info sectorielle de l’information globale de l’entité  Note 35 : « Le principal décideur en matière d’exploitation de la société évalue périodiquement les résultats sectoriels en se fondant sur le montant ajusté du BAIIA1) et le montant ajusté du résultat d’exploitation1), présentés à la direction interne périodiquement. » </vt:lpstr>
      <vt:lpstr>Loblaw’s fournit le total des actifs par secteur opérationnel :</vt:lpstr>
      <vt:lpstr>Secteurs d’activité</vt:lpstr>
      <vt:lpstr>Infos relatives aux produits et services</vt:lpstr>
      <vt:lpstr>Infos relatives aux zones géographiques Les produits provenant de clients externes  (IFRS 8-33 a) :</vt:lpstr>
      <vt:lpstr>Infos relatives aux zones géographiques Les actifs non courants (IFRS 8-33 b) :</vt:lpstr>
      <vt:lpstr>Infos relatives aux principaux clients (IFRS 8-34)</vt:lpstr>
      <vt:lpstr>En pratique : Boralex 2014</vt:lpstr>
      <vt:lpstr>Secteurs opérationnels</vt:lpstr>
      <vt:lpstr>Info sectorielle trimestrielle à fournir – allégement (IAS 34-16g)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Secteurs opérationnels (m.a.j. 2016)</dc:title>
  <dc:creator>sylviane.beauregard@hec.ca</dc:creator>
  <cp:lastModifiedBy>louise overbeek</cp:lastModifiedBy>
  <cp:revision>33</cp:revision>
  <cp:lastPrinted>2015-12-22T22:22:42Z</cp:lastPrinted>
  <dcterms:created xsi:type="dcterms:W3CDTF">2015-12-22T21:23:33Z</dcterms:created>
  <dcterms:modified xsi:type="dcterms:W3CDTF">2020-09-15T23:38:56Z</dcterms:modified>
</cp:coreProperties>
</file>