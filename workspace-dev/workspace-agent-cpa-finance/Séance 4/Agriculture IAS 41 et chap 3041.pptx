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257" r:id="rId3"/>
    <p:sldId id="259" r:id="rId4"/>
    <p:sldId id="260" r:id="rId5"/>
    <p:sldId id="261" r:id="rId6"/>
    <p:sldId id="262" r:id="rId7"/>
    <p:sldId id="263" r:id="rId8"/>
    <p:sldId id="264" r:id="rId9"/>
    <p:sldId id="265" r:id="rId10"/>
    <p:sldId id="266" r:id="rId11"/>
    <p:sldId id="258" r:id="rId12"/>
    <p:sldId id="268" r:id="rId13"/>
    <p:sldId id="269" r:id="rId14"/>
    <p:sldId id="298" r:id="rId15"/>
    <p:sldId id="299" r:id="rId16"/>
    <p:sldId id="274" r:id="rId17"/>
    <p:sldId id="571" r:id="rId18"/>
    <p:sldId id="572" r:id="rId19"/>
    <p:sldId id="573" r:id="rId20"/>
    <p:sldId id="574" r:id="rId21"/>
    <p:sldId id="575" r:id="rId22"/>
    <p:sldId id="576"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8" autoAdjust="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e Overbeek" userId="5ffb9102-b48a-46c4-9734-67bf4ff91752" providerId="ADAL" clId="{D0A9549D-3437-44D7-A127-35E64A70A779}"/>
    <pc:docChg chg="addSld delSld modSld">
      <pc:chgData name="Louise Overbeek" userId="5ffb9102-b48a-46c4-9734-67bf4ff91752" providerId="ADAL" clId="{D0A9549D-3437-44D7-A127-35E64A70A779}" dt="2023-05-12T16:12:11.679" v="26" actId="47"/>
      <pc:docMkLst>
        <pc:docMk/>
      </pc:docMkLst>
      <pc:sldChg chg="add">
        <pc:chgData name="Louise Overbeek" userId="5ffb9102-b48a-46c4-9734-67bf4ff91752" providerId="ADAL" clId="{D0A9549D-3437-44D7-A127-35E64A70A779}" dt="2023-05-12T16:11:30.075" v="0"/>
        <pc:sldMkLst>
          <pc:docMk/>
          <pc:sldMk cId="1546707400" sldId="268"/>
        </pc:sldMkLst>
      </pc:sldChg>
      <pc:sldChg chg="add">
        <pc:chgData name="Louise Overbeek" userId="5ffb9102-b48a-46c4-9734-67bf4ff91752" providerId="ADAL" clId="{D0A9549D-3437-44D7-A127-35E64A70A779}" dt="2023-05-12T16:11:30.075" v="0"/>
        <pc:sldMkLst>
          <pc:docMk/>
          <pc:sldMk cId="3317026446" sldId="269"/>
        </pc:sldMkLst>
      </pc:sldChg>
      <pc:sldChg chg="del">
        <pc:chgData name="Louise Overbeek" userId="5ffb9102-b48a-46c4-9734-67bf4ff91752" providerId="ADAL" clId="{D0A9549D-3437-44D7-A127-35E64A70A779}" dt="2023-05-12T16:11:39.114" v="2" actId="47"/>
        <pc:sldMkLst>
          <pc:docMk/>
          <pc:sldMk cId="2288701814" sldId="270"/>
        </pc:sldMkLst>
      </pc:sldChg>
      <pc:sldChg chg="del">
        <pc:chgData name="Louise Overbeek" userId="5ffb9102-b48a-46c4-9734-67bf4ff91752" providerId="ADAL" clId="{D0A9549D-3437-44D7-A127-35E64A70A779}" dt="2023-05-12T16:11:39.847" v="3" actId="47"/>
        <pc:sldMkLst>
          <pc:docMk/>
          <pc:sldMk cId="815333813" sldId="271"/>
        </pc:sldMkLst>
      </pc:sldChg>
      <pc:sldChg chg="del">
        <pc:chgData name="Louise Overbeek" userId="5ffb9102-b48a-46c4-9734-67bf4ff91752" providerId="ADAL" clId="{D0A9549D-3437-44D7-A127-35E64A70A779}" dt="2023-05-12T16:11:40.798" v="4" actId="47"/>
        <pc:sldMkLst>
          <pc:docMk/>
          <pc:sldMk cId="2463291856" sldId="272"/>
        </pc:sldMkLst>
      </pc:sldChg>
      <pc:sldChg chg="del">
        <pc:chgData name="Louise Overbeek" userId="5ffb9102-b48a-46c4-9734-67bf4ff91752" providerId="ADAL" clId="{D0A9549D-3437-44D7-A127-35E64A70A779}" dt="2023-05-12T16:11:41.596" v="5" actId="47"/>
        <pc:sldMkLst>
          <pc:docMk/>
          <pc:sldMk cId="1261622508" sldId="273"/>
        </pc:sldMkLst>
      </pc:sldChg>
      <pc:sldChg chg="add">
        <pc:chgData name="Louise Overbeek" userId="5ffb9102-b48a-46c4-9734-67bf4ff91752" providerId="ADAL" clId="{D0A9549D-3437-44D7-A127-35E64A70A779}" dt="2023-05-12T16:11:30.075" v="0"/>
        <pc:sldMkLst>
          <pc:docMk/>
          <pc:sldMk cId="1432517592" sldId="274"/>
        </pc:sldMkLst>
      </pc:sldChg>
      <pc:sldChg chg="del">
        <pc:chgData name="Louise Overbeek" userId="5ffb9102-b48a-46c4-9734-67bf4ff91752" providerId="ADAL" clId="{D0A9549D-3437-44D7-A127-35E64A70A779}" dt="2023-05-12T16:11:42.481" v="6" actId="47"/>
        <pc:sldMkLst>
          <pc:docMk/>
          <pc:sldMk cId="3750866070" sldId="275"/>
        </pc:sldMkLst>
      </pc:sldChg>
      <pc:sldChg chg="del">
        <pc:chgData name="Louise Overbeek" userId="5ffb9102-b48a-46c4-9734-67bf4ff91752" providerId="ADAL" clId="{D0A9549D-3437-44D7-A127-35E64A70A779}" dt="2023-05-12T16:11:43.278" v="7" actId="47"/>
        <pc:sldMkLst>
          <pc:docMk/>
          <pc:sldMk cId="1809814741" sldId="276"/>
        </pc:sldMkLst>
      </pc:sldChg>
      <pc:sldChg chg="del">
        <pc:chgData name="Louise Overbeek" userId="5ffb9102-b48a-46c4-9734-67bf4ff91752" providerId="ADAL" clId="{D0A9549D-3437-44D7-A127-35E64A70A779}" dt="2023-05-12T16:11:44.829" v="8" actId="47"/>
        <pc:sldMkLst>
          <pc:docMk/>
          <pc:sldMk cId="3244553851" sldId="277"/>
        </pc:sldMkLst>
      </pc:sldChg>
      <pc:sldChg chg="del">
        <pc:chgData name="Louise Overbeek" userId="5ffb9102-b48a-46c4-9734-67bf4ff91752" providerId="ADAL" clId="{D0A9549D-3437-44D7-A127-35E64A70A779}" dt="2023-05-12T16:11:47.022" v="9" actId="47"/>
        <pc:sldMkLst>
          <pc:docMk/>
          <pc:sldMk cId="1443165665" sldId="278"/>
        </pc:sldMkLst>
      </pc:sldChg>
      <pc:sldChg chg="del">
        <pc:chgData name="Louise Overbeek" userId="5ffb9102-b48a-46c4-9734-67bf4ff91752" providerId="ADAL" clId="{D0A9549D-3437-44D7-A127-35E64A70A779}" dt="2023-05-12T16:11:48.050" v="10" actId="47"/>
        <pc:sldMkLst>
          <pc:docMk/>
          <pc:sldMk cId="3991590594" sldId="279"/>
        </pc:sldMkLst>
      </pc:sldChg>
      <pc:sldChg chg="del">
        <pc:chgData name="Louise Overbeek" userId="5ffb9102-b48a-46c4-9734-67bf4ff91752" providerId="ADAL" clId="{D0A9549D-3437-44D7-A127-35E64A70A779}" dt="2023-05-12T16:11:51.457" v="13" actId="47"/>
        <pc:sldMkLst>
          <pc:docMk/>
          <pc:sldMk cId="3578522178" sldId="280"/>
        </pc:sldMkLst>
      </pc:sldChg>
      <pc:sldChg chg="del">
        <pc:chgData name="Louise Overbeek" userId="5ffb9102-b48a-46c4-9734-67bf4ff91752" providerId="ADAL" clId="{D0A9549D-3437-44D7-A127-35E64A70A779}" dt="2023-05-12T16:11:52.302" v="14" actId="47"/>
        <pc:sldMkLst>
          <pc:docMk/>
          <pc:sldMk cId="3443327483" sldId="281"/>
        </pc:sldMkLst>
      </pc:sldChg>
      <pc:sldChg chg="del">
        <pc:chgData name="Louise Overbeek" userId="5ffb9102-b48a-46c4-9734-67bf4ff91752" providerId="ADAL" clId="{D0A9549D-3437-44D7-A127-35E64A70A779}" dt="2023-05-12T16:12:06.460" v="24" actId="47"/>
        <pc:sldMkLst>
          <pc:docMk/>
          <pc:sldMk cId="1566355299" sldId="282"/>
        </pc:sldMkLst>
      </pc:sldChg>
      <pc:sldChg chg="del">
        <pc:chgData name="Louise Overbeek" userId="5ffb9102-b48a-46c4-9734-67bf4ff91752" providerId="ADAL" clId="{D0A9549D-3437-44D7-A127-35E64A70A779}" dt="2023-05-12T16:11:54.369" v="16" actId="47"/>
        <pc:sldMkLst>
          <pc:docMk/>
          <pc:sldMk cId="4147412775" sldId="283"/>
        </pc:sldMkLst>
      </pc:sldChg>
      <pc:sldChg chg="del">
        <pc:chgData name="Louise Overbeek" userId="5ffb9102-b48a-46c4-9734-67bf4ff91752" providerId="ADAL" clId="{D0A9549D-3437-44D7-A127-35E64A70A779}" dt="2023-05-12T16:11:55.593" v="17" actId="47"/>
        <pc:sldMkLst>
          <pc:docMk/>
          <pc:sldMk cId="287193637" sldId="284"/>
        </pc:sldMkLst>
      </pc:sldChg>
      <pc:sldChg chg="del">
        <pc:chgData name="Louise Overbeek" userId="5ffb9102-b48a-46c4-9734-67bf4ff91752" providerId="ADAL" clId="{D0A9549D-3437-44D7-A127-35E64A70A779}" dt="2023-05-12T16:11:56.731" v="18" actId="47"/>
        <pc:sldMkLst>
          <pc:docMk/>
          <pc:sldMk cId="3823792817" sldId="285"/>
        </pc:sldMkLst>
      </pc:sldChg>
      <pc:sldChg chg="del">
        <pc:chgData name="Louise Overbeek" userId="5ffb9102-b48a-46c4-9734-67bf4ff91752" providerId="ADAL" clId="{D0A9549D-3437-44D7-A127-35E64A70A779}" dt="2023-05-12T16:11:58.997" v="20" actId="47"/>
        <pc:sldMkLst>
          <pc:docMk/>
          <pc:sldMk cId="1024057699" sldId="287"/>
        </pc:sldMkLst>
      </pc:sldChg>
      <pc:sldChg chg="del">
        <pc:chgData name="Louise Overbeek" userId="5ffb9102-b48a-46c4-9734-67bf4ff91752" providerId="ADAL" clId="{D0A9549D-3437-44D7-A127-35E64A70A779}" dt="2023-05-12T16:11:59.813" v="21" actId="47"/>
        <pc:sldMkLst>
          <pc:docMk/>
          <pc:sldMk cId="2963159116" sldId="288"/>
        </pc:sldMkLst>
      </pc:sldChg>
      <pc:sldChg chg="del">
        <pc:chgData name="Louise Overbeek" userId="5ffb9102-b48a-46c4-9734-67bf4ff91752" providerId="ADAL" clId="{D0A9549D-3437-44D7-A127-35E64A70A779}" dt="2023-05-12T16:12:00.588" v="22" actId="47"/>
        <pc:sldMkLst>
          <pc:docMk/>
          <pc:sldMk cId="511087476" sldId="289"/>
        </pc:sldMkLst>
      </pc:sldChg>
      <pc:sldChg chg="del">
        <pc:chgData name="Louise Overbeek" userId="5ffb9102-b48a-46c4-9734-67bf4ff91752" providerId="ADAL" clId="{D0A9549D-3437-44D7-A127-35E64A70A779}" dt="2023-05-12T16:12:04.633" v="23" actId="47"/>
        <pc:sldMkLst>
          <pc:docMk/>
          <pc:sldMk cId="2987347619" sldId="290"/>
        </pc:sldMkLst>
      </pc:sldChg>
      <pc:sldChg chg="del">
        <pc:chgData name="Louise Overbeek" userId="5ffb9102-b48a-46c4-9734-67bf4ff91752" providerId="ADAL" clId="{D0A9549D-3437-44D7-A127-35E64A70A779}" dt="2023-05-12T16:12:08.402" v="25" actId="47"/>
        <pc:sldMkLst>
          <pc:docMk/>
          <pc:sldMk cId="908479269" sldId="291"/>
        </pc:sldMkLst>
      </pc:sldChg>
      <pc:sldChg chg="del">
        <pc:chgData name="Louise Overbeek" userId="5ffb9102-b48a-46c4-9734-67bf4ff91752" providerId="ADAL" clId="{D0A9549D-3437-44D7-A127-35E64A70A779}" dt="2023-05-12T16:11:49.036" v="11" actId="47"/>
        <pc:sldMkLst>
          <pc:docMk/>
          <pc:sldMk cId="2217789007" sldId="293"/>
        </pc:sldMkLst>
      </pc:sldChg>
      <pc:sldChg chg="del">
        <pc:chgData name="Louise Overbeek" userId="5ffb9102-b48a-46c4-9734-67bf4ff91752" providerId="ADAL" clId="{D0A9549D-3437-44D7-A127-35E64A70A779}" dt="2023-05-12T16:11:50.216" v="12" actId="47"/>
        <pc:sldMkLst>
          <pc:docMk/>
          <pc:sldMk cId="675974767" sldId="294"/>
        </pc:sldMkLst>
      </pc:sldChg>
      <pc:sldChg chg="del">
        <pc:chgData name="Louise Overbeek" userId="5ffb9102-b48a-46c4-9734-67bf4ff91752" providerId="ADAL" clId="{D0A9549D-3437-44D7-A127-35E64A70A779}" dt="2023-05-12T16:11:53.046" v="15" actId="47"/>
        <pc:sldMkLst>
          <pc:docMk/>
          <pc:sldMk cId="2629736682" sldId="295"/>
        </pc:sldMkLst>
      </pc:sldChg>
      <pc:sldChg chg="del">
        <pc:chgData name="Louise Overbeek" userId="5ffb9102-b48a-46c4-9734-67bf4ff91752" providerId="ADAL" clId="{D0A9549D-3437-44D7-A127-35E64A70A779}" dt="2023-05-12T16:11:58.135" v="19" actId="47"/>
        <pc:sldMkLst>
          <pc:docMk/>
          <pc:sldMk cId="2026059300" sldId="296"/>
        </pc:sldMkLst>
      </pc:sldChg>
      <pc:sldChg chg="del">
        <pc:chgData name="Louise Overbeek" userId="5ffb9102-b48a-46c4-9734-67bf4ff91752" providerId="ADAL" clId="{D0A9549D-3437-44D7-A127-35E64A70A779}" dt="2023-05-12T16:11:36.712" v="1" actId="47"/>
        <pc:sldMkLst>
          <pc:docMk/>
          <pc:sldMk cId="3956213469" sldId="297"/>
        </pc:sldMkLst>
      </pc:sldChg>
      <pc:sldChg chg="add">
        <pc:chgData name="Louise Overbeek" userId="5ffb9102-b48a-46c4-9734-67bf4ff91752" providerId="ADAL" clId="{D0A9549D-3437-44D7-A127-35E64A70A779}" dt="2023-05-12T16:11:30.075" v="0"/>
        <pc:sldMkLst>
          <pc:docMk/>
          <pc:sldMk cId="3623150443" sldId="298"/>
        </pc:sldMkLst>
      </pc:sldChg>
      <pc:sldChg chg="add">
        <pc:chgData name="Louise Overbeek" userId="5ffb9102-b48a-46c4-9734-67bf4ff91752" providerId="ADAL" clId="{D0A9549D-3437-44D7-A127-35E64A70A779}" dt="2023-05-12T16:11:30.075" v="0"/>
        <pc:sldMkLst>
          <pc:docMk/>
          <pc:sldMk cId="2633121579" sldId="299"/>
        </pc:sldMkLst>
      </pc:sldChg>
      <pc:sldChg chg="add">
        <pc:chgData name="Louise Overbeek" userId="5ffb9102-b48a-46c4-9734-67bf4ff91752" providerId="ADAL" clId="{D0A9549D-3437-44D7-A127-35E64A70A779}" dt="2023-05-12T16:11:30.075" v="0"/>
        <pc:sldMkLst>
          <pc:docMk/>
          <pc:sldMk cId="1345934347" sldId="571"/>
        </pc:sldMkLst>
      </pc:sldChg>
      <pc:sldChg chg="add">
        <pc:chgData name="Louise Overbeek" userId="5ffb9102-b48a-46c4-9734-67bf4ff91752" providerId="ADAL" clId="{D0A9549D-3437-44D7-A127-35E64A70A779}" dt="2023-05-12T16:11:30.075" v="0"/>
        <pc:sldMkLst>
          <pc:docMk/>
          <pc:sldMk cId="2543991521" sldId="572"/>
        </pc:sldMkLst>
      </pc:sldChg>
      <pc:sldChg chg="add">
        <pc:chgData name="Louise Overbeek" userId="5ffb9102-b48a-46c4-9734-67bf4ff91752" providerId="ADAL" clId="{D0A9549D-3437-44D7-A127-35E64A70A779}" dt="2023-05-12T16:11:30.075" v="0"/>
        <pc:sldMkLst>
          <pc:docMk/>
          <pc:sldMk cId="414830896" sldId="573"/>
        </pc:sldMkLst>
      </pc:sldChg>
      <pc:sldChg chg="add">
        <pc:chgData name="Louise Overbeek" userId="5ffb9102-b48a-46c4-9734-67bf4ff91752" providerId="ADAL" clId="{D0A9549D-3437-44D7-A127-35E64A70A779}" dt="2023-05-12T16:11:30.075" v="0"/>
        <pc:sldMkLst>
          <pc:docMk/>
          <pc:sldMk cId="1756150" sldId="574"/>
        </pc:sldMkLst>
      </pc:sldChg>
      <pc:sldChg chg="add">
        <pc:chgData name="Louise Overbeek" userId="5ffb9102-b48a-46c4-9734-67bf4ff91752" providerId="ADAL" clId="{D0A9549D-3437-44D7-A127-35E64A70A779}" dt="2023-05-12T16:11:30.075" v="0"/>
        <pc:sldMkLst>
          <pc:docMk/>
          <pc:sldMk cId="188397076" sldId="575"/>
        </pc:sldMkLst>
      </pc:sldChg>
      <pc:sldChg chg="add">
        <pc:chgData name="Louise Overbeek" userId="5ffb9102-b48a-46c4-9734-67bf4ff91752" providerId="ADAL" clId="{D0A9549D-3437-44D7-A127-35E64A70A779}" dt="2023-05-12T16:11:30.075" v="0"/>
        <pc:sldMkLst>
          <pc:docMk/>
          <pc:sldMk cId="740056152" sldId="576"/>
        </pc:sldMkLst>
      </pc:sldChg>
      <pc:sldChg chg="add del">
        <pc:chgData name="Louise Overbeek" userId="5ffb9102-b48a-46c4-9734-67bf4ff91752" providerId="ADAL" clId="{D0A9549D-3437-44D7-A127-35E64A70A779}" dt="2023-05-12T16:12:11.679" v="26" actId="47"/>
        <pc:sldMkLst>
          <pc:docMk/>
          <pc:sldMk cId="1436540197" sldId="577"/>
        </pc:sldMkLst>
      </pc:sldChg>
    </pc:docChg>
  </pc:docChgLst>
  <pc:docChgLst>
    <pc:chgData name="Louise Overbeek" userId="5ffb9102-b48a-46c4-9734-67bf4ff91752" providerId="ADAL" clId="{B876E183-7CED-492E-95EE-FE25373A4B64}"/>
    <pc:docChg chg="undo custSel modSld">
      <pc:chgData name="Louise Overbeek" userId="5ffb9102-b48a-46c4-9734-67bf4ff91752" providerId="ADAL" clId="{B876E183-7CED-492E-95EE-FE25373A4B64}" dt="2023-09-17T02:22:12.905" v="17" actId="20577"/>
      <pc:docMkLst>
        <pc:docMk/>
      </pc:docMkLst>
      <pc:sldChg chg="modSp mod">
        <pc:chgData name="Louise Overbeek" userId="5ffb9102-b48a-46c4-9734-67bf4ff91752" providerId="ADAL" clId="{B876E183-7CED-492E-95EE-FE25373A4B64}" dt="2023-09-17T02:16:41.466" v="5" actId="255"/>
        <pc:sldMkLst>
          <pc:docMk/>
          <pc:sldMk cId="1044832405" sldId="260"/>
        </pc:sldMkLst>
        <pc:spChg chg="mod">
          <ac:chgData name="Louise Overbeek" userId="5ffb9102-b48a-46c4-9734-67bf4ff91752" providerId="ADAL" clId="{B876E183-7CED-492E-95EE-FE25373A4B64}" dt="2023-09-17T02:16:41.466" v="5" actId="255"/>
          <ac:spMkLst>
            <pc:docMk/>
            <pc:sldMk cId="1044832405" sldId="260"/>
            <ac:spMk id="3" creationId="{48F896AD-3AAB-47BF-164F-13CD10E4638B}"/>
          </ac:spMkLst>
        </pc:spChg>
      </pc:sldChg>
      <pc:sldChg chg="modSp mod">
        <pc:chgData name="Louise Overbeek" userId="5ffb9102-b48a-46c4-9734-67bf4ff91752" providerId="ADAL" clId="{B876E183-7CED-492E-95EE-FE25373A4B64}" dt="2023-09-17T02:19:16.731" v="8" actId="115"/>
        <pc:sldMkLst>
          <pc:docMk/>
          <pc:sldMk cId="860539343" sldId="264"/>
        </pc:sldMkLst>
        <pc:spChg chg="mod">
          <ac:chgData name="Louise Overbeek" userId="5ffb9102-b48a-46c4-9734-67bf4ff91752" providerId="ADAL" clId="{B876E183-7CED-492E-95EE-FE25373A4B64}" dt="2023-09-17T02:19:16.731" v="8" actId="115"/>
          <ac:spMkLst>
            <pc:docMk/>
            <pc:sldMk cId="860539343" sldId="264"/>
            <ac:spMk id="3" creationId="{19108925-63FC-A6EB-250E-17E5C962ED86}"/>
          </ac:spMkLst>
        </pc:spChg>
      </pc:sldChg>
      <pc:sldChg chg="modSp mod">
        <pc:chgData name="Louise Overbeek" userId="5ffb9102-b48a-46c4-9734-67bf4ff91752" providerId="ADAL" clId="{B876E183-7CED-492E-95EE-FE25373A4B64}" dt="2023-09-17T02:20:51.809" v="11" actId="6549"/>
        <pc:sldMkLst>
          <pc:docMk/>
          <pc:sldMk cId="2633121579" sldId="299"/>
        </pc:sldMkLst>
        <pc:spChg chg="mod">
          <ac:chgData name="Louise Overbeek" userId="5ffb9102-b48a-46c4-9734-67bf4ff91752" providerId="ADAL" clId="{B876E183-7CED-492E-95EE-FE25373A4B64}" dt="2023-09-17T02:20:51.809" v="11" actId="6549"/>
          <ac:spMkLst>
            <pc:docMk/>
            <pc:sldMk cId="2633121579" sldId="299"/>
            <ac:spMk id="3" creationId="{2ADBE731-F011-4362-8FAA-1AE033FED850}"/>
          </ac:spMkLst>
        </pc:spChg>
      </pc:sldChg>
      <pc:sldChg chg="modSp mod">
        <pc:chgData name="Louise Overbeek" userId="5ffb9102-b48a-46c4-9734-67bf4ff91752" providerId="ADAL" clId="{B876E183-7CED-492E-95EE-FE25373A4B64}" dt="2023-09-17T02:21:32.475" v="12" actId="115"/>
        <pc:sldMkLst>
          <pc:docMk/>
          <pc:sldMk cId="1345934347" sldId="571"/>
        </pc:sldMkLst>
        <pc:spChg chg="mod">
          <ac:chgData name="Louise Overbeek" userId="5ffb9102-b48a-46c4-9734-67bf4ff91752" providerId="ADAL" clId="{B876E183-7CED-492E-95EE-FE25373A4B64}" dt="2023-09-17T02:21:32.475" v="12" actId="115"/>
          <ac:spMkLst>
            <pc:docMk/>
            <pc:sldMk cId="1345934347" sldId="571"/>
            <ac:spMk id="3" creationId="{00000000-0000-0000-0000-000000000000}"/>
          </ac:spMkLst>
        </pc:spChg>
      </pc:sldChg>
      <pc:sldChg chg="modSp mod">
        <pc:chgData name="Louise Overbeek" userId="5ffb9102-b48a-46c4-9734-67bf4ff91752" providerId="ADAL" clId="{B876E183-7CED-492E-95EE-FE25373A4B64}" dt="2023-09-17T02:21:46.402" v="15" actId="14100"/>
        <pc:sldMkLst>
          <pc:docMk/>
          <pc:sldMk cId="2543991521" sldId="572"/>
        </pc:sldMkLst>
        <pc:spChg chg="mod">
          <ac:chgData name="Louise Overbeek" userId="5ffb9102-b48a-46c4-9734-67bf4ff91752" providerId="ADAL" clId="{B876E183-7CED-492E-95EE-FE25373A4B64}" dt="2023-09-17T02:21:46.402" v="15" actId="14100"/>
          <ac:spMkLst>
            <pc:docMk/>
            <pc:sldMk cId="2543991521" sldId="572"/>
            <ac:spMk id="3" creationId="{F86468C0-658C-43E0-B01D-6E5146CB2CD2}"/>
          </ac:spMkLst>
        </pc:spChg>
      </pc:sldChg>
      <pc:sldChg chg="modSp mod">
        <pc:chgData name="Louise Overbeek" userId="5ffb9102-b48a-46c4-9734-67bf4ff91752" providerId="ADAL" clId="{B876E183-7CED-492E-95EE-FE25373A4B64}" dt="2023-09-17T02:22:12.905" v="17" actId="20577"/>
        <pc:sldMkLst>
          <pc:docMk/>
          <pc:sldMk cId="188397076" sldId="575"/>
        </pc:sldMkLst>
        <pc:spChg chg="mod">
          <ac:chgData name="Louise Overbeek" userId="5ffb9102-b48a-46c4-9734-67bf4ff91752" providerId="ADAL" clId="{B876E183-7CED-492E-95EE-FE25373A4B64}" dt="2023-09-17T02:22:12.905" v="17" actId="20577"/>
          <ac:spMkLst>
            <pc:docMk/>
            <pc:sldMk cId="188397076" sldId="575"/>
            <ac:spMk id="3" creationId="{226A3D19-CD53-4193-8F1A-7FADFBB9994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7FD6D3-A8DD-47D8-8002-08EBEEC94CAB}" type="datetimeFigureOut">
              <a:rPr lang="fr-FR" smtClean="0"/>
              <a:t>24/11/2025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CACE1-A590-410A-9E37-A02241412981}" type="slidenum">
              <a:rPr lang="fr-FR" smtClean="0"/>
              <a:t>‹N°›</a:t>
            </a:fld>
            <a:endParaRPr lang="fr-FR"/>
          </a:p>
        </p:txBody>
      </p:sp>
    </p:spTree>
    <p:extLst>
      <p:ext uri="{BB962C8B-B14F-4D97-AF65-F5344CB8AC3E}">
        <p14:creationId xmlns:p14="http://schemas.microsoft.com/office/powerpoint/2010/main" val="2189083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2</a:t>
            </a:fld>
            <a:endParaRPr lang="fr-FR"/>
          </a:p>
        </p:txBody>
      </p:sp>
    </p:spTree>
    <p:extLst>
      <p:ext uri="{BB962C8B-B14F-4D97-AF65-F5344CB8AC3E}">
        <p14:creationId xmlns:p14="http://schemas.microsoft.com/office/powerpoint/2010/main" val="1428230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Actif biologique et actifs biologique productif attention au terme pour avoir la note complète </a:t>
            </a:r>
          </a:p>
          <a:p>
            <a:r>
              <a:rPr lang="fr-CA" dirty="0"/>
              <a:t>Les produits agricoles qui sont récolés des actifs biologiques au moment de la récolte par la suite on passe IAS 2 soit la norme sur les stocks </a:t>
            </a:r>
          </a:p>
          <a:p>
            <a:r>
              <a:rPr lang="fr-CA" dirty="0"/>
              <a:t>La notion de stock agricole se parle seulement dans les NCECF et pas dans les IFRS attention </a:t>
            </a:r>
          </a:p>
          <a:p>
            <a:endParaRPr lang="fr-CA" dirty="0"/>
          </a:p>
          <a:p>
            <a:endParaRPr lang="fr-CA" dirty="0"/>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3</a:t>
            </a:fld>
            <a:endParaRPr lang="fr-FR"/>
          </a:p>
        </p:txBody>
      </p:sp>
    </p:spTree>
    <p:extLst>
      <p:ext uri="{BB962C8B-B14F-4D97-AF65-F5344CB8AC3E}">
        <p14:creationId xmlns:p14="http://schemas.microsoft.com/office/powerpoint/2010/main" val="1306338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Terrains liés a la production agricole sont pas a </a:t>
            </a:r>
            <a:r>
              <a:rPr lang="fr-CA" dirty="0" err="1"/>
              <a:t>taiter</a:t>
            </a:r>
            <a:r>
              <a:rPr lang="fr-CA" dirty="0"/>
              <a:t> dans la norme de l’agriculture mais seront traiter dans la norme des immobilisation corporelle soit IAS 16 </a:t>
            </a:r>
          </a:p>
          <a:p>
            <a:r>
              <a:rPr lang="fr-CA" dirty="0"/>
              <a:t>c’est la même chose avec les plante </a:t>
            </a:r>
            <a:r>
              <a:rPr lang="fr-CA" dirty="0" err="1"/>
              <a:t>productirice</a:t>
            </a:r>
            <a:r>
              <a:rPr lang="fr-CA" dirty="0"/>
              <a:t> </a:t>
            </a:r>
          </a:p>
          <a:p>
            <a:endParaRPr lang="fr-CA" dirty="0"/>
          </a:p>
          <a:p>
            <a:r>
              <a:rPr lang="fr-CA" dirty="0"/>
              <a:t>Plante productrice est une plante vivante </a:t>
            </a:r>
          </a:p>
          <a:p>
            <a:endParaRPr lang="fr-CA" dirty="0"/>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4</a:t>
            </a:fld>
            <a:endParaRPr lang="fr-FR"/>
          </a:p>
        </p:txBody>
      </p:sp>
    </p:spTree>
    <p:extLst>
      <p:ext uri="{BB962C8B-B14F-4D97-AF65-F5344CB8AC3E}">
        <p14:creationId xmlns:p14="http://schemas.microsoft.com/office/powerpoint/2010/main" val="3718778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7</a:t>
            </a:fld>
            <a:endParaRPr lang="fr-FR"/>
          </a:p>
        </p:txBody>
      </p:sp>
    </p:spTree>
    <p:extLst>
      <p:ext uri="{BB962C8B-B14F-4D97-AF65-F5344CB8AC3E}">
        <p14:creationId xmlns:p14="http://schemas.microsoft.com/office/powerpoint/2010/main" val="3067627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9</a:t>
            </a:fld>
            <a:endParaRPr lang="fr-FR"/>
          </a:p>
        </p:txBody>
      </p:sp>
    </p:spTree>
    <p:extLst>
      <p:ext uri="{BB962C8B-B14F-4D97-AF65-F5344CB8AC3E}">
        <p14:creationId xmlns:p14="http://schemas.microsoft.com/office/powerpoint/2010/main" val="2648310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Pour les subvention on diminue les actifs si sont </a:t>
            </a:r>
            <a:r>
              <a:rPr lang="fr-CA" dirty="0" err="1"/>
              <a:t>évalueé</a:t>
            </a:r>
            <a:r>
              <a:rPr lang="fr-CA" dirty="0"/>
              <a:t> au cout </a:t>
            </a:r>
            <a:r>
              <a:rPr lang="fr-CA" dirty="0" err="1"/>
              <a:t>das</a:t>
            </a:r>
            <a:r>
              <a:rPr lang="fr-CA" dirty="0"/>
              <a:t> IAS 40 par contre si évalué a la </a:t>
            </a:r>
            <a:r>
              <a:rPr lang="fr-CA" dirty="0" err="1"/>
              <a:t>la</a:t>
            </a:r>
            <a:r>
              <a:rPr lang="fr-CA" dirty="0"/>
              <a:t> JV on </a:t>
            </a:r>
            <a:r>
              <a:rPr lang="fr-CA" dirty="0" err="1"/>
              <a:t>attned</a:t>
            </a:r>
            <a:r>
              <a:rPr lang="fr-CA" dirty="0"/>
              <a:t> jusqu’à la fin par contre pour les NCECF on change rien </a:t>
            </a:r>
          </a:p>
          <a:p>
            <a:r>
              <a:rPr lang="fr-CA" dirty="0"/>
              <a:t>Pour les immeuble de placement analyse bien avec l’intention de l’entreprise donc si seulement </a:t>
            </a:r>
            <a:r>
              <a:rPr lang="fr-CA" dirty="0" err="1"/>
              <a:t>tomporaire</a:t>
            </a:r>
            <a:r>
              <a:rPr lang="fr-CA" dirty="0"/>
              <a:t> on reste dans les immobilisation </a:t>
            </a:r>
          </a:p>
          <a:p>
            <a:r>
              <a:rPr lang="fr-CA" dirty="0"/>
              <a:t>Le surplus de quota de lait n’est pas un actif </a:t>
            </a:r>
          </a:p>
          <a:p>
            <a:r>
              <a:rPr lang="fr-CA" dirty="0"/>
              <a:t>Pour les amélioration de terrain ils vont être </a:t>
            </a:r>
            <a:r>
              <a:rPr lang="fr-CA"/>
              <a:t>ajoutée au cout de terrain </a:t>
            </a:r>
            <a:endParaRPr lang="fr-CA" dirty="0"/>
          </a:p>
          <a:p>
            <a:endParaRPr lang="fr-CA" dirty="0"/>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10</a:t>
            </a:fld>
            <a:endParaRPr lang="fr-FR"/>
          </a:p>
        </p:txBody>
      </p:sp>
    </p:spTree>
    <p:extLst>
      <p:ext uri="{BB962C8B-B14F-4D97-AF65-F5344CB8AC3E}">
        <p14:creationId xmlns:p14="http://schemas.microsoft.com/office/powerpoint/2010/main" val="3075266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Actifs biologique productifs en construction (donc on capitalise les couts de notre actif)</a:t>
            </a:r>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11</a:t>
            </a:fld>
            <a:endParaRPr lang="fr-FR"/>
          </a:p>
        </p:txBody>
      </p:sp>
    </p:spTree>
    <p:extLst>
      <p:ext uri="{BB962C8B-B14F-4D97-AF65-F5344CB8AC3E}">
        <p14:creationId xmlns:p14="http://schemas.microsoft.com/office/powerpoint/2010/main" val="3881021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Pour les plantes productrices dans les IFRS ils ont des NCECF dans le même chapitre soit NCECF 3041 donc dans les NCECF sont pas traiter comme des immobilisations </a:t>
            </a:r>
          </a:p>
          <a:p>
            <a:r>
              <a:rPr lang="fr-CA" dirty="0"/>
              <a:t> </a:t>
            </a:r>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15</a:t>
            </a:fld>
            <a:endParaRPr lang="fr-FR"/>
          </a:p>
        </p:txBody>
      </p:sp>
    </p:spTree>
    <p:extLst>
      <p:ext uri="{BB962C8B-B14F-4D97-AF65-F5344CB8AC3E}">
        <p14:creationId xmlns:p14="http://schemas.microsoft.com/office/powerpoint/2010/main" val="4039997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Actif biologique producteur donc pour le long terme </a:t>
            </a:r>
          </a:p>
          <a:p>
            <a:r>
              <a:rPr lang="fr-CA" dirty="0"/>
              <a:t>Le stock agricole a cours terme </a:t>
            </a:r>
          </a:p>
        </p:txBody>
      </p:sp>
      <p:sp>
        <p:nvSpPr>
          <p:cNvPr id="4" name="Espace réservé du numéro de diapositive 3"/>
          <p:cNvSpPr>
            <a:spLocks noGrp="1"/>
          </p:cNvSpPr>
          <p:nvPr>
            <p:ph type="sldNum" sz="quarter" idx="5"/>
          </p:nvPr>
        </p:nvSpPr>
        <p:spPr/>
        <p:txBody>
          <a:bodyPr/>
          <a:lstStyle/>
          <a:p>
            <a:fld id="{37ACACE1-A590-410A-9E37-A02241412981}" type="slidenum">
              <a:rPr lang="fr-FR" smtClean="0"/>
              <a:t>16</a:t>
            </a:fld>
            <a:endParaRPr lang="fr-FR"/>
          </a:p>
        </p:txBody>
      </p:sp>
    </p:spTree>
    <p:extLst>
      <p:ext uri="{BB962C8B-B14F-4D97-AF65-F5344CB8AC3E}">
        <p14:creationId xmlns:p14="http://schemas.microsoft.com/office/powerpoint/2010/main" val="3273181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D5F3BB-7579-94B7-F8D0-185583B7495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83D98E2-E661-CDFA-C90B-4694BB92B8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C73E1D1-02C9-37FF-9700-9139C8FFBFE5}"/>
              </a:ext>
            </a:extLst>
          </p:cNvPr>
          <p:cNvSpPr>
            <a:spLocks noGrp="1"/>
          </p:cNvSpPr>
          <p:nvPr>
            <p:ph type="dt" sz="half" idx="10"/>
          </p:nvPr>
        </p:nvSpPr>
        <p:spPr/>
        <p:txBody>
          <a:bodyPr/>
          <a:lstStyle/>
          <a:p>
            <a:fld id="{B3866837-9637-4288-BC8D-488CAB50F4FC}" type="datetime1">
              <a:rPr lang="fr-FR" smtClean="0"/>
              <a:t>24/11/2025</a:t>
            </a:fld>
            <a:endParaRPr lang="fr-FR"/>
          </a:p>
        </p:txBody>
      </p:sp>
      <p:sp>
        <p:nvSpPr>
          <p:cNvPr id="5" name="Espace réservé du pied de page 4">
            <a:extLst>
              <a:ext uri="{FF2B5EF4-FFF2-40B4-BE49-F238E27FC236}">
                <a16:creationId xmlns:a16="http://schemas.microsoft.com/office/drawing/2014/main" id="{2190CAF5-6273-901E-327D-395FB1C4CDF9}"/>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24B49AF2-8CFD-DFCE-042C-9BF0DD3063B4}"/>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2054153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D2C804-AEC6-58F8-EA47-AD3642A9E1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3465879-71A2-C3D6-1BB8-39A9A075999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AE619D-BCD0-C93B-BAB3-EC63D6FD5AD8}"/>
              </a:ext>
            </a:extLst>
          </p:cNvPr>
          <p:cNvSpPr>
            <a:spLocks noGrp="1"/>
          </p:cNvSpPr>
          <p:nvPr>
            <p:ph type="dt" sz="half" idx="10"/>
          </p:nvPr>
        </p:nvSpPr>
        <p:spPr/>
        <p:txBody>
          <a:bodyPr/>
          <a:lstStyle/>
          <a:p>
            <a:fld id="{1A0F45EA-6EA2-491E-855F-12C619C2AF84}" type="datetime1">
              <a:rPr lang="fr-FR" smtClean="0"/>
              <a:t>24/11/2025</a:t>
            </a:fld>
            <a:endParaRPr lang="fr-FR"/>
          </a:p>
        </p:txBody>
      </p:sp>
      <p:sp>
        <p:nvSpPr>
          <p:cNvPr id="5" name="Espace réservé du pied de page 4">
            <a:extLst>
              <a:ext uri="{FF2B5EF4-FFF2-40B4-BE49-F238E27FC236}">
                <a16:creationId xmlns:a16="http://schemas.microsoft.com/office/drawing/2014/main" id="{8A788DA9-862B-0215-94E6-5A7E8D4C3948}"/>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DA7BFDB9-B79C-F631-BD8E-92F52C8E6ACA}"/>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3894711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07AA03-E508-FDF5-F920-BF6BC036778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2D29D33-6683-758C-F7AC-2AD4AD85A9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32C3FB3-DC0A-6F07-C8E0-BF7A296D64E7}"/>
              </a:ext>
            </a:extLst>
          </p:cNvPr>
          <p:cNvSpPr>
            <a:spLocks noGrp="1"/>
          </p:cNvSpPr>
          <p:nvPr>
            <p:ph type="dt" sz="half" idx="10"/>
          </p:nvPr>
        </p:nvSpPr>
        <p:spPr/>
        <p:txBody>
          <a:bodyPr/>
          <a:lstStyle/>
          <a:p>
            <a:fld id="{900D3B11-5BAE-4565-9FEC-6D435300BD78}" type="datetime1">
              <a:rPr lang="fr-FR" smtClean="0"/>
              <a:t>24/11/2025</a:t>
            </a:fld>
            <a:endParaRPr lang="fr-FR"/>
          </a:p>
        </p:txBody>
      </p:sp>
      <p:sp>
        <p:nvSpPr>
          <p:cNvPr id="5" name="Espace réservé du pied de page 4">
            <a:extLst>
              <a:ext uri="{FF2B5EF4-FFF2-40B4-BE49-F238E27FC236}">
                <a16:creationId xmlns:a16="http://schemas.microsoft.com/office/drawing/2014/main" id="{F25FD37D-9A8A-3693-C0B5-C64463A580EF}"/>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F51A4192-A39C-D107-0505-993E64E80EE7}"/>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3568071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4DB166-7EAD-0C01-277C-1E960E1433E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409A7AB-231D-627A-5C47-1CDAD454452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D9EFA1C-ACE3-5963-91FF-1FD5A953696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724EA39-8C53-3A76-0315-2204080C4C4D}"/>
              </a:ext>
            </a:extLst>
          </p:cNvPr>
          <p:cNvSpPr>
            <a:spLocks noGrp="1"/>
          </p:cNvSpPr>
          <p:nvPr>
            <p:ph type="dt" sz="half" idx="10"/>
          </p:nvPr>
        </p:nvSpPr>
        <p:spPr/>
        <p:txBody>
          <a:bodyPr/>
          <a:lstStyle/>
          <a:p>
            <a:fld id="{791C73BC-21C8-4808-9612-617F40947AE8}" type="datetime1">
              <a:rPr lang="fr-FR" smtClean="0"/>
              <a:t>24/11/2025</a:t>
            </a:fld>
            <a:endParaRPr lang="fr-FR"/>
          </a:p>
        </p:txBody>
      </p:sp>
      <p:sp>
        <p:nvSpPr>
          <p:cNvPr id="6" name="Espace réservé du pied de page 5">
            <a:extLst>
              <a:ext uri="{FF2B5EF4-FFF2-40B4-BE49-F238E27FC236}">
                <a16:creationId xmlns:a16="http://schemas.microsoft.com/office/drawing/2014/main" id="{D5FA70F5-9A02-035C-3E78-9D98EECD4FEF}"/>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4DB8EE18-0E88-5C66-F403-3491AE9E284B}"/>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261178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FBCB4A-E1D9-A7AB-CB94-4F7D8AD96D1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E9A9E2A-CFCA-056D-A4F7-70A3F8EF07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C6CAB0F-593E-0B65-E241-941459EF18B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1194200-3CBD-58C6-C836-A990943DFF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48FC5A8-2B41-FEC7-F1C6-7DFC3C23BE9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1F25E9C-BD59-5D39-D1FD-484A8962A4CB}"/>
              </a:ext>
            </a:extLst>
          </p:cNvPr>
          <p:cNvSpPr>
            <a:spLocks noGrp="1"/>
          </p:cNvSpPr>
          <p:nvPr>
            <p:ph type="dt" sz="half" idx="10"/>
          </p:nvPr>
        </p:nvSpPr>
        <p:spPr/>
        <p:txBody>
          <a:bodyPr/>
          <a:lstStyle/>
          <a:p>
            <a:fld id="{C228E514-20E1-485C-B48F-0E7F26403856}" type="datetime1">
              <a:rPr lang="fr-FR" smtClean="0"/>
              <a:t>24/11/2025</a:t>
            </a:fld>
            <a:endParaRPr lang="fr-FR"/>
          </a:p>
        </p:txBody>
      </p:sp>
      <p:sp>
        <p:nvSpPr>
          <p:cNvPr id="8" name="Espace réservé du pied de page 7">
            <a:extLst>
              <a:ext uri="{FF2B5EF4-FFF2-40B4-BE49-F238E27FC236}">
                <a16:creationId xmlns:a16="http://schemas.microsoft.com/office/drawing/2014/main" id="{568C8D92-059E-2CB5-1ED0-952F11E41373}"/>
              </a:ext>
            </a:extLst>
          </p:cNvPr>
          <p:cNvSpPr>
            <a:spLocks noGrp="1"/>
          </p:cNvSpPr>
          <p:nvPr>
            <p:ph type="ftr" sz="quarter" idx="11"/>
          </p:nvPr>
        </p:nvSpPr>
        <p:spPr/>
        <p:txBody>
          <a:bodyPr/>
          <a:lstStyle/>
          <a:p>
            <a:r>
              <a:rPr lang="fr-FR"/>
              <a:t>Droits réservés - Louise Overbeek</a:t>
            </a:r>
          </a:p>
        </p:txBody>
      </p:sp>
      <p:sp>
        <p:nvSpPr>
          <p:cNvPr id="9" name="Espace réservé du numéro de diapositive 8">
            <a:extLst>
              <a:ext uri="{FF2B5EF4-FFF2-40B4-BE49-F238E27FC236}">
                <a16:creationId xmlns:a16="http://schemas.microsoft.com/office/drawing/2014/main" id="{2AF360A9-C890-B7F2-8D70-A2AFFC3DACB1}"/>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1489058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6DA8D-430F-7943-9ADB-4E477178349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21F30C6-6363-8CC2-7ADF-0F376F783FF5}"/>
              </a:ext>
            </a:extLst>
          </p:cNvPr>
          <p:cNvSpPr>
            <a:spLocks noGrp="1"/>
          </p:cNvSpPr>
          <p:nvPr>
            <p:ph type="dt" sz="half" idx="10"/>
          </p:nvPr>
        </p:nvSpPr>
        <p:spPr/>
        <p:txBody>
          <a:bodyPr/>
          <a:lstStyle/>
          <a:p>
            <a:fld id="{4D0FAFD8-541C-47E0-8622-6125B04F022C}" type="datetime1">
              <a:rPr lang="fr-FR" smtClean="0"/>
              <a:t>24/11/2025</a:t>
            </a:fld>
            <a:endParaRPr lang="fr-FR"/>
          </a:p>
        </p:txBody>
      </p:sp>
      <p:sp>
        <p:nvSpPr>
          <p:cNvPr id="4" name="Espace réservé du pied de page 3">
            <a:extLst>
              <a:ext uri="{FF2B5EF4-FFF2-40B4-BE49-F238E27FC236}">
                <a16:creationId xmlns:a16="http://schemas.microsoft.com/office/drawing/2014/main" id="{8711EF80-4796-9BC8-BC9E-9B783FEC8CD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FDF82FA-25F6-DCFF-6E2C-35B19905862F}"/>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261580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C3EC6CD-8E83-97CB-1AAC-22C508B9F318}"/>
              </a:ext>
            </a:extLst>
          </p:cNvPr>
          <p:cNvSpPr>
            <a:spLocks noGrp="1"/>
          </p:cNvSpPr>
          <p:nvPr>
            <p:ph type="dt" sz="half" idx="10"/>
          </p:nvPr>
        </p:nvSpPr>
        <p:spPr/>
        <p:txBody>
          <a:bodyPr/>
          <a:lstStyle/>
          <a:p>
            <a:fld id="{A3447A48-B281-446A-A8A6-4841EFED62A0}" type="datetime1">
              <a:rPr lang="fr-FR" smtClean="0"/>
              <a:t>24/11/2025</a:t>
            </a:fld>
            <a:endParaRPr lang="fr-FR"/>
          </a:p>
        </p:txBody>
      </p:sp>
      <p:sp>
        <p:nvSpPr>
          <p:cNvPr id="3" name="Espace réservé du pied de page 2">
            <a:extLst>
              <a:ext uri="{FF2B5EF4-FFF2-40B4-BE49-F238E27FC236}">
                <a16:creationId xmlns:a16="http://schemas.microsoft.com/office/drawing/2014/main" id="{EB076E34-D4FD-51E6-A222-B322C12513FD}"/>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C66B9FA8-25A6-891E-9006-90AF81F88CB4}"/>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2674129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C48C55-5A59-DBE6-5B35-4926AB843D7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4244C69-627A-7C27-A80C-37B2A213F8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7E9BBFC-B264-CCDC-AC3F-22C8DF3C1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D6AE6E2-22D1-673A-989B-2A1AFCE46EE1}"/>
              </a:ext>
            </a:extLst>
          </p:cNvPr>
          <p:cNvSpPr>
            <a:spLocks noGrp="1"/>
          </p:cNvSpPr>
          <p:nvPr>
            <p:ph type="dt" sz="half" idx="10"/>
          </p:nvPr>
        </p:nvSpPr>
        <p:spPr/>
        <p:txBody>
          <a:bodyPr/>
          <a:lstStyle/>
          <a:p>
            <a:fld id="{911CD99A-5667-4098-A228-35A5B2324A09}" type="datetime1">
              <a:rPr lang="fr-FR" smtClean="0"/>
              <a:t>24/11/2025</a:t>
            </a:fld>
            <a:endParaRPr lang="fr-FR"/>
          </a:p>
        </p:txBody>
      </p:sp>
      <p:sp>
        <p:nvSpPr>
          <p:cNvPr id="6" name="Espace réservé du pied de page 5">
            <a:extLst>
              <a:ext uri="{FF2B5EF4-FFF2-40B4-BE49-F238E27FC236}">
                <a16:creationId xmlns:a16="http://schemas.microsoft.com/office/drawing/2014/main" id="{ACA33012-52F0-5BC6-4366-C24208892638}"/>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A6F5FFBC-24E1-3AD2-4DD9-8A0E53164A56}"/>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1457496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CC832-92E9-9C79-D202-D2BC460B7AB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6320A8C-AFA2-DE6B-E5E6-C3D6059B1E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F6CDCC2-4E58-BE39-82F2-B5AAFEEE95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9E6A1A8-AF64-07BA-2234-47E47264F155}"/>
              </a:ext>
            </a:extLst>
          </p:cNvPr>
          <p:cNvSpPr>
            <a:spLocks noGrp="1"/>
          </p:cNvSpPr>
          <p:nvPr>
            <p:ph type="dt" sz="half" idx="10"/>
          </p:nvPr>
        </p:nvSpPr>
        <p:spPr/>
        <p:txBody>
          <a:bodyPr/>
          <a:lstStyle/>
          <a:p>
            <a:fld id="{350A45BF-0CA3-4D84-ABC7-9F788FAAD82A}" type="datetime1">
              <a:rPr lang="fr-FR" smtClean="0"/>
              <a:t>24/11/2025</a:t>
            </a:fld>
            <a:endParaRPr lang="fr-FR"/>
          </a:p>
        </p:txBody>
      </p:sp>
      <p:sp>
        <p:nvSpPr>
          <p:cNvPr id="6" name="Espace réservé du pied de page 5">
            <a:extLst>
              <a:ext uri="{FF2B5EF4-FFF2-40B4-BE49-F238E27FC236}">
                <a16:creationId xmlns:a16="http://schemas.microsoft.com/office/drawing/2014/main" id="{749626C7-DCA0-A5CE-BA1F-919A7C6751DF}"/>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DE3445E9-C261-D59B-B607-B16D8C0D5D13}"/>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2006052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AB72D6-4725-DB20-638E-06D9ECA26D2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DED01BA-96C0-0956-FA3B-F0E834B136A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10D883-974F-5E36-D3CF-02E5BE083204}"/>
              </a:ext>
            </a:extLst>
          </p:cNvPr>
          <p:cNvSpPr>
            <a:spLocks noGrp="1"/>
          </p:cNvSpPr>
          <p:nvPr>
            <p:ph type="dt" sz="half" idx="10"/>
          </p:nvPr>
        </p:nvSpPr>
        <p:spPr/>
        <p:txBody>
          <a:bodyPr/>
          <a:lstStyle/>
          <a:p>
            <a:fld id="{5FC65075-EBA5-4004-8762-D03E41641BBD}" type="datetime1">
              <a:rPr lang="fr-FR" smtClean="0"/>
              <a:t>24/11/2025</a:t>
            </a:fld>
            <a:endParaRPr lang="fr-FR"/>
          </a:p>
        </p:txBody>
      </p:sp>
      <p:sp>
        <p:nvSpPr>
          <p:cNvPr id="5" name="Espace réservé du pied de page 4">
            <a:extLst>
              <a:ext uri="{FF2B5EF4-FFF2-40B4-BE49-F238E27FC236}">
                <a16:creationId xmlns:a16="http://schemas.microsoft.com/office/drawing/2014/main" id="{461ACA22-3BD0-AE05-EC57-281C28E5306C}"/>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1B2D95BA-83F2-7AF0-57ED-A7E81F073A97}"/>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3019751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42B1025-BE30-8EBA-97B0-C453CC3F005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F502B63-31EB-4699-E759-1868C683737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508EFF2-827F-D5B7-514D-50C0F46ADEFF}"/>
              </a:ext>
            </a:extLst>
          </p:cNvPr>
          <p:cNvSpPr>
            <a:spLocks noGrp="1"/>
          </p:cNvSpPr>
          <p:nvPr>
            <p:ph type="dt" sz="half" idx="10"/>
          </p:nvPr>
        </p:nvSpPr>
        <p:spPr/>
        <p:txBody>
          <a:bodyPr/>
          <a:lstStyle/>
          <a:p>
            <a:fld id="{AC365DB9-FDE3-4890-B5BF-14E435A786FE}" type="datetime1">
              <a:rPr lang="fr-FR" smtClean="0"/>
              <a:t>24/11/2025</a:t>
            </a:fld>
            <a:endParaRPr lang="fr-FR"/>
          </a:p>
        </p:txBody>
      </p:sp>
      <p:sp>
        <p:nvSpPr>
          <p:cNvPr id="5" name="Espace réservé du pied de page 4">
            <a:extLst>
              <a:ext uri="{FF2B5EF4-FFF2-40B4-BE49-F238E27FC236}">
                <a16:creationId xmlns:a16="http://schemas.microsoft.com/office/drawing/2014/main" id="{6F6A9B44-5166-ACE1-6BA9-E46A03FC0914}"/>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AF6A9D2C-33DC-057C-510C-A04DA71DAFD6}"/>
              </a:ext>
            </a:extLst>
          </p:cNvPr>
          <p:cNvSpPr>
            <a:spLocks noGrp="1"/>
          </p:cNvSpPr>
          <p:nvPr>
            <p:ph type="sldNum" sz="quarter" idx="12"/>
          </p:nvPr>
        </p:nvSpPr>
        <p:spPr/>
        <p:txBody>
          <a:bodyPr/>
          <a:lstStyle/>
          <a:p>
            <a:fld id="{23073BCF-F77B-4559-9AE5-DE4418D93C7B}" type="slidenum">
              <a:rPr lang="fr-FR" smtClean="0"/>
              <a:t>‹N°›</a:t>
            </a:fld>
            <a:endParaRPr lang="fr-FR"/>
          </a:p>
        </p:txBody>
      </p:sp>
    </p:spTree>
    <p:extLst>
      <p:ext uri="{BB962C8B-B14F-4D97-AF65-F5344CB8AC3E}">
        <p14:creationId xmlns:p14="http://schemas.microsoft.com/office/powerpoint/2010/main" val="331971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509E6CB-126F-4D5E-6CB7-6A5116AB93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606F689-6FA2-C551-CC34-BA072558D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C6F9F80-DA47-5728-9984-8EEBA116F8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3D3AF8-9F08-4826-B5F7-10B77DED7D18}" type="datetime1">
              <a:rPr lang="fr-FR" smtClean="0"/>
              <a:t>24/11/2025</a:t>
            </a:fld>
            <a:endParaRPr lang="fr-FR"/>
          </a:p>
        </p:txBody>
      </p:sp>
      <p:sp>
        <p:nvSpPr>
          <p:cNvPr id="5" name="Espace réservé du pied de page 4">
            <a:extLst>
              <a:ext uri="{FF2B5EF4-FFF2-40B4-BE49-F238E27FC236}">
                <a16:creationId xmlns:a16="http://schemas.microsoft.com/office/drawing/2014/main" id="{55CC6E01-374F-487C-874C-75B32A2FE3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9F356FF7-B688-32C4-CD23-DE766181B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073BCF-F77B-4559-9AE5-DE4418D93C7B}" type="slidenum">
              <a:rPr lang="fr-FR" smtClean="0"/>
              <a:t>‹N°›</a:t>
            </a:fld>
            <a:endParaRPr lang="fr-FR"/>
          </a:p>
        </p:txBody>
      </p:sp>
    </p:spTree>
    <p:extLst>
      <p:ext uri="{BB962C8B-B14F-4D97-AF65-F5344CB8AC3E}">
        <p14:creationId xmlns:p14="http://schemas.microsoft.com/office/powerpoint/2010/main" val="3749530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notia.ca/Knowledge/Home.aspx?productID=8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notia.ca/Knowledge/Home.aspx?productID=8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knotia.ca/Knowledge/Home.aspx?productID=8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knotia.ca/Knowledge/Home.aspx?productID=8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file:///C:\Users\85310481\Documents\cours%20HEC\40938-16%20info%20fin%20int&#233;grit&#233;%20et%20conformit&#233;\H2020\S&#233;ance%204\3061" TargetMode="External"/><Relationship Id="rId2" Type="http://schemas.openxmlformats.org/officeDocument/2006/relationships/hyperlink" Target="file:///C:\Users\85310481\Documents\cours%20HEC\40938-16%20info%20fin%20int&#233;grit&#233;%20et%20conformit&#233;\H2020\S&#233;ance%204\3031" TargetMode="External"/><Relationship Id="rId1" Type="http://schemas.openxmlformats.org/officeDocument/2006/relationships/slideLayout" Target="../slideLayouts/slideLayout2.xml"/><Relationship Id="rId6" Type="http://schemas.openxmlformats.org/officeDocument/2006/relationships/hyperlink" Target="file:///C:\Users\85310481\Documents\cours%20HEC\40938-16%20info%20fin%20int&#233;grit&#233;%20et%20conformit&#233;\H2020\S&#233;ance%204\3856" TargetMode="External"/><Relationship Id="rId5" Type="http://schemas.openxmlformats.org/officeDocument/2006/relationships/hyperlink" Target="file:///C:\Users\85310481\Documents\cours%20HEC\40938-16%20info%20fin%20int&#233;grit&#233;%20et%20conformit&#233;\H2020\S&#233;ance%204\3800" TargetMode="External"/><Relationship Id="rId4" Type="http://schemas.openxmlformats.org/officeDocument/2006/relationships/hyperlink" Target="file:///C:\Users\85310481\Documents\cours%20HEC\40938-16%20info%20fin%20int&#233;grit&#233;%20et%20conformit&#233;\H2020\S&#233;ance%204\306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ACE7F4-6581-9206-F189-FD88F3E305BD}"/>
              </a:ext>
            </a:extLst>
          </p:cNvPr>
          <p:cNvSpPr>
            <a:spLocks noGrp="1"/>
          </p:cNvSpPr>
          <p:nvPr>
            <p:ph type="ctrTitle"/>
          </p:nvPr>
        </p:nvSpPr>
        <p:spPr>
          <a:xfrm>
            <a:off x="1524000" y="1122363"/>
            <a:ext cx="9144000" cy="2576334"/>
          </a:xfrm>
        </p:spPr>
        <p:txBody>
          <a:bodyPr/>
          <a:lstStyle/>
          <a:p>
            <a:r>
              <a:rPr lang="fr-CA" dirty="0"/>
              <a:t>Secteur agricole</a:t>
            </a:r>
            <a:br>
              <a:rPr lang="fr-CA" dirty="0"/>
            </a:br>
            <a:r>
              <a:rPr lang="fr-CA" dirty="0"/>
              <a:t>IAS 41 et chap. 3041</a:t>
            </a:r>
            <a:endParaRPr lang="fr-FR" dirty="0"/>
          </a:p>
        </p:txBody>
      </p:sp>
      <p:sp>
        <p:nvSpPr>
          <p:cNvPr id="3" name="Sous-titre 2">
            <a:extLst>
              <a:ext uri="{FF2B5EF4-FFF2-40B4-BE49-F238E27FC236}">
                <a16:creationId xmlns:a16="http://schemas.microsoft.com/office/drawing/2014/main" id="{D5C6C2F2-DB1D-7DEC-6E3F-7B0C155B33D7}"/>
              </a:ext>
            </a:extLst>
          </p:cNvPr>
          <p:cNvSpPr>
            <a:spLocks noGrp="1"/>
          </p:cNvSpPr>
          <p:nvPr>
            <p:ph type="subTitle" idx="1"/>
          </p:nvPr>
        </p:nvSpPr>
        <p:spPr/>
        <p:txBody>
          <a:bodyPr/>
          <a:lstStyle/>
          <a:p>
            <a:endParaRPr lang="fr-CA" dirty="0"/>
          </a:p>
          <a:p>
            <a:r>
              <a:rPr lang="fr-FR" sz="2800" dirty="0"/>
              <a:t>Louise Overbeek</a:t>
            </a:r>
          </a:p>
          <a:p>
            <a:r>
              <a:rPr lang="fr-FR" dirty="0"/>
              <a:t>Janvier 2023</a:t>
            </a:r>
          </a:p>
        </p:txBody>
      </p:sp>
    </p:spTree>
    <p:extLst>
      <p:ext uri="{BB962C8B-B14F-4D97-AF65-F5344CB8AC3E}">
        <p14:creationId xmlns:p14="http://schemas.microsoft.com/office/powerpoint/2010/main" val="1232802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26A492-9EC4-221C-5255-888FD7EC40E7}"/>
              </a:ext>
            </a:extLst>
          </p:cNvPr>
          <p:cNvSpPr>
            <a:spLocks noGrp="1"/>
          </p:cNvSpPr>
          <p:nvPr>
            <p:ph type="title"/>
          </p:nvPr>
        </p:nvSpPr>
        <p:spPr/>
        <p:txBody>
          <a:bodyPr/>
          <a:lstStyle/>
          <a:p>
            <a:r>
              <a:rPr lang="fr-CA" dirty="0"/>
              <a:t>IAS 41  Agriculture</a:t>
            </a:r>
            <a:endParaRPr lang="fr-FR" dirty="0"/>
          </a:p>
        </p:txBody>
      </p:sp>
      <p:sp>
        <p:nvSpPr>
          <p:cNvPr id="3" name="Espace réservé du contenu 2">
            <a:extLst>
              <a:ext uri="{FF2B5EF4-FFF2-40B4-BE49-F238E27FC236}">
                <a16:creationId xmlns:a16="http://schemas.microsoft.com/office/drawing/2014/main" id="{B862E1F1-B9D3-00A9-2052-F83338233A7D}"/>
              </a:ext>
            </a:extLst>
          </p:cNvPr>
          <p:cNvSpPr>
            <a:spLocks noGrp="1"/>
          </p:cNvSpPr>
          <p:nvPr>
            <p:ph idx="1"/>
          </p:nvPr>
        </p:nvSpPr>
        <p:spPr/>
        <p:txBody>
          <a:bodyPr/>
          <a:lstStyle/>
          <a:p>
            <a:r>
              <a:rPr lang="fr-CA" b="0" i="0" dirty="0">
                <a:solidFill>
                  <a:srgbClr val="444444"/>
                </a:solidFill>
                <a:effectLst/>
                <a:latin typeface="Gotham A"/>
              </a:rPr>
              <a:t>L'objectif de la présente norme est de prescrire le traitement comptable et les informations à fournir liés à l'activité agricole.</a:t>
            </a:r>
            <a:endParaRPr lang="fr-FR" dirty="0"/>
          </a:p>
        </p:txBody>
      </p:sp>
      <p:sp>
        <p:nvSpPr>
          <p:cNvPr id="4" name="Espace réservé du pied de page 3">
            <a:extLst>
              <a:ext uri="{FF2B5EF4-FFF2-40B4-BE49-F238E27FC236}">
                <a16:creationId xmlns:a16="http://schemas.microsoft.com/office/drawing/2014/main" id="{29EB5300-A06F-8D24-AB29-DD6AF5163A5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CAA46F5-D1E2-218C-C8B4-689A3A2AC58D}"/>
              </a:ext>
            </a:extLst>
          </p:cNvPr>
          <p:cNvSpPr>
            <a:spLocks noGrp="1"/>
          </p:cNvSpPr>
          <p:nvPr>
            <p:ph type="sldNum" sz="quarter" idx="12"/>
          </p:nvPr>
        </p:nvSpPr>
        <p:spPr/>
        <p:txBody>
          <a:bodyPr/>
          <a:lstStyle/>
          <a:p>
            <a:fld id="{23073BCF-F77B-4559-9AE5-DE4418D93C7B}" type="slidenum">
              <a:rPr lang="fr-FR" smtClean="0"/>
              <a:t>2</a:t>
            </a:fld>
            <a:endParaRPr lang="fr-FR"/>
          </a:p>
        </p:txBody>
      </p:sp>
    </p:spTree>
    <p:extLst>
      <p:ext uri="{BB962C8B-B14F-4D97-AF65-F5344CB8AC3E}">
        <p14:creationId xmlns:p14="http://schemas.microsoft.com/office/powerpoint/2010/main" val="1050428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8B7589-2ABF-747A-4A11-EBF3A1313B4B}"/>
              </a:ext>
            </a:extLst>
          </p:cNvPr>
          <p:cNvSpPr>
            <a:spLocks noGrp="1"/>
          </p:cNvSpPr>
          <p:nvPr>
            <p:ph type="title"/>
          </p:nvPr>
        </p:nvSpPr>
        <p:spPr/>
        <p:txBody>
          <a:bodyPr/>
          <a:lstStyle/>
          <a:p>
            <a:r>
              <a:rPr lang="fr-CA" dirty="0"/>
              <a:t>Nature – Champ d’application</a:t>
            </a:r>
            <a:endParaRPr lang="fr-FR" dirty="0"/>
          </a:p>
        </p:txBody>
      </p:sp>
      <p:sp>
        <p:nvSpPr>
          <p:cNvPr id="3" name="Espace réservé du contenu 2">
            <a:extLst>
              <a:ext uri="{FF2B5EF4-FFF2-40B4-BE49-F238E27FC236}">
                <a16:creationId xmlns:a16="http://schemas.microsoft.com/office/drawing/2014/main" id="{48F896AD-3AAB-47BF-164F-13CD10E4638B}"/>
              </a:ext>
            </a:extLst>
          </p:cNvPr>
          <p:cNvSpPr>
            <a:spLocks noGrp="1"/>
          </p:cNvSpPr>
          <p:nvPr>
            <p:ph idx="1"/>
          </p:nvPr>
        </p:nvSpPr>
        <p:spPr>
          <a:xfrm>
            <a:off x="838200" y="1463039"/>
            <a:ext cx="10515600" cy="5258435"/>
          </a:xfrm>
        </p:spPr>
        <p:txBody>
          <a:bodyPr>
            <a:normAutofit fontScale="47500" lnSpcReduction="20000"/>
          </a:bodyPr>
          <a:lstStyle/>
          <a:p>
            <a:pPr marL="0" indent="0">
              <a:buNone/>
            </a:pPr>
            <a:r>
              <a:rPr lang="fr-CA" sz="5100" i="0" dirty="0">
                <a:solidFill>
                  <a:srgbClr val="FF0000"/>
                </a:solidFill>
                <a:effectLst/>
                <a:latin typeface="Gotham A"/>
              </a:rPr>
              <a:t>L'</a:t>
            </a:r>
            <a:r>
              <a:rPr lang="fr-CA" sz="5100" i="1" dirty="0">
                <a:solidFill>
                  <a:srgbClr val="FF0000"/>
                </a:solidFill>
                <a:effectLst/>
                <a:latin typeface="Gotham A"/>
              </a:rPr>
              <a:t>activité agricole</a:t>
            </a:r>
            <a:r>
              <a:rPr lang="fr-CA" sz="5100" i="0" dirty="0">
                <a:solidFill>
                  <a:srgbClr val="FF0000"/>
                </a:solidFill>
                <a:effectLst/>
                <a:latin typeface="Gotham A"/>
              </a:rPr>
              <a:t> </a:t>
            </a:r>
            <a:r>
              <a:rPr lang="fr-CA" sz="5100" i="0" dirty="0">
                <a:solidFill>
                  <a:srgbClr val="00B0F0"/>
                </a:solidFill>
                <a:effectLst/>
                <a:latin typeface="Gotham A"/>
              </a:rPr>
              <a:t>est la </a:t>
            </a:r>
            <a:r>
              <a:rPr lang="fr-CA" sz="5100" i="0" u="sng" dirty="0">
                <a:solidFill>
                  <a:srgbClr val="00B0F0"/>
                </a:solidFill>
                <a:effectLst/>
                <a:latin typeface="Gotham A"/>
              </a:rPr>
              <a:t>gestion</a:t>
            </a:r>
            <a:r>
              <a:rPr lang="fr-CA" sz="5100" i="0" dirty="0">
                <a:solidFill>
                  <a:srgbClr val="00B0F0"/>
                </a:solidFill>
                <a:effectLst/>
                <a:latin typeface="Gotham A"/>
              </a:rPr>
              <a:t> par une entité de la transformation biologique et de la récolte d'actifs biologiques en vue de la vente ou de la transformation en produits agricoles ou en d'autres actifs biologiques.</a:t>
            </a:r>
          </a:p>
          <a:p>
            <a:endParaRPr lang="fr-CA" sz="2200" dirty="0">
              <a:solidFill>
                <a:srgbClr val="00B0F0"/>
              </a:solidFill>
              <a:latin typeface="Gotham A"/>
            </a:endParaRPr>
          </a:p>
          <a:p>
            <a:pPr marL="0" indent="0" algn="l">
              <a:buNone/>
            </a:pPr>
            <a:r>
              <a:rPr lang="fr-CA" sz="4600" i="0" dirty="0">
                <a:solidFill>
                  <a:srgbClr val="444444"/>
                </a:solidFill>
                <a:effectLst/>
                <a:latin typeface="Gotham A"/>
              </a:rPr>
              <a:t>1      La présente norme doit être appliquée à la comptabilisation des éléments suivants, lorsqu'ils sont liés à l'activité agricole :</a:t>
            </a:r>
          </a:p>
          <a:p>
            <a:pPr marL="0" indent="803275" algn="l">
              <a:buNone/>
            </a:pPr>
            <a:r>
              <a:rPr lang="fr-CA" sz="4600" i="0" dirty="0">
                <a:solidFill>
                  <a:srgbClr val="444444"/>
                </a:solidFill>
                <a:effectLst/>
                <a:latin typeface="Gotham A"/>
              </a:rPr>
              <a:t>(a)     actifs biologiques, sauf les plantes productrices ;</a:t>
            </a:r>
          </a:p>
          <a:p>
            <a:pPr marL="0" indent="803275" algn="l">
              <a:buNone/>
            </a:pPr>
            <a:r>
              <a:rPr lang="fr-CA" sz="4600" i="0" dirty="0">
                <a:solidFill>
                  <a:srgbClr val="444444"/>
                </a:solidFill>
                <a:effectLst/>
                <a:latin typeface="Gotham A"/>
              </a:rPr>
              <a:t>(b)     produits agricoles au moment de la récolte ; et</a:t>
            </a:r>
          </a:p>
          <a:p>
            <a:pPr marL="0" indent="803275" algn="l">
              <a:buNone/>
            </a:pPr>
            <a:r>
              <a:rPr lang="fr-CA" sz="4600" i="0" dirty="0">
                <a:solidFill>
                  <a:srgbClr val="444444"/>
                </a:solidFill>
                <a:effectLst/>
                <a:latin typeface="Gotham A"/>
              </a:rPr>
              <a:t>(c)     subventions publiques traitées aux paragraphes </a:t>
            </a:r>
            <a:r>
              <a:rPr lang="fr-CA" sz="4600" i="0" u="none" strike="noStrike" dirty="0">
                <a:solidFill>
                  <a:srgbClr val="006FBA"/>
                </a:solidFill>
                <a:effectLst/>
                <a:latin typeface="Gotham A"/>
              </a:rPr>
              <a:t>34</a:t>
            </a:r>
            <a:r>
              <a:rPr lang="fr-CA" sz="4600" i="0" dirty="0">
                <a:solidFill>
                  <a:srgbClr val="444444"/>
                </a:solidFill>
                <a:effectLst/>
                <a:latin typeface="Gotham A"/>
              </a:rPr>
              <a:t> et 35.</a:t>
            </a:r>
          </a:p>
          <a:p>
            <a:pPr marL="0" indent="803275" algn="l">
              <a:buNone/>
            </a:pPr>
            <a:endParaRPr lang="fr-CA" sz="2200" i="0" dirty="0">
              <a:solidFill>
                <a:srgbClr val="444444"/>
              </a:solidFill>
              <a:effectLst/>
              <a:latin typeface="Gotham A"/>
            </a:endParaRPr>
          </a:p>
          <a:p>
            <a:pPr marL="0" indent="0" algn="l">
              <a:buNone/>
            </a:pPr>
            <a:r>
              <a:rPr lang="fr-CA" sz="4400" b="0" i="0" dirty="0">
                <a:solidFill>
                  <a:srgbClr val="444444"/>
                </a:solidFill>
                <a:effectLst/>
                <a:latin typeface="Gotham A"/>
              </a:rPr>
              <a:t>3       La présente norme s'applique aux produits agricoles, qui sont les produits récoltés des actifs biologiques de l'entité, au moment de la récolte. </a:t>
            </a:r>
            <a:r>
              <a:rPr lang="fr-CA" sz="4400" b="0" i="0" dirty="0">
                <a:solidFill>
                  <a:srgbClr val="444444"/>
                </a:solidFill>
                <a:effectLst/>
                <a:highlight>
                  <a:srgbClr val="FFFF00"/>
                </a:highlight>
                <a:latin typeface="Gotham A"/>
              </a:rPr>
              <a:t>Par la suite, on applique </a:t>
            </a:r>
            <a:r>
              <a:rPr lang="fr-CA" sz="4400" b="0" i="0" u="none" strike="noStrike" dirty="0">
                <a:solidFill>
                  <a:srgbClr val="006FBA"/>
                </a:solidFill>
                <a:effectLst/>
                <a:highlight>
                  <a:srgbClr val="FFFF00"/>
                </a:highlight>
                <a:latin typeface="Gotham A"/>
                <a:hlinkClick r:id="rId3"/>
              </a:rPr>
              <a:t>IAS 2</a:t>
            </a:r>
            <a:r>
              <a:rPr lang="fr-CA" sz="4400" b="0" i="0" dirty="0">
                <a:solidFill>
                  <a:srgbClr val="444444"/>
                </a:solidFill>
                <a:effectLst/>
                <a:highlight>
                  <a:srgbClr val="FFFF00"/>
                </a:highlight>
                <a:latin typeface="Gotham A"/>
              </a:rPr>
              <a:t> </a:t>
            </a:r>
            <a:r>
              <a:rPr lang="fr-CA" sz="4400" b="0" i="1" dirty="0">
                <a:solidFill>
                  <a:srgbClr val="444444"/>
                </a:solidFill>
                <a:effectLst/>
                <a:highlight>
                  <a:srgbClr val="FFFF00"/>
                </a:highlight>
                <a:latin typeface="Gotham A"/>
              </a:rPr>
              <a:t>Stocks</a:t>
            </a:r>
            <a:r>
              <a:rPr lang="fr-CA" sz="4400" b="0" i="0" dirty="0">
                <a:solidFill>
                  <a:srgbClr val="444444"/>
                </a:solidFill>
                <a:effectLst/>
                <a:highlight>
                  <a:srgbClr val="FFFF00"/>
                </a:highlight>
                <a:latin typeface="Gotham A"/>
              </a:rPr>
              <a:t> ou toute autre norme applicable. En conséquence, la présente norme ne couvre pas la transformation des produits agricoles au-delà de la récolte </a:t>
            </a:r>
            <a:r>
              <a:rPr lang="fr-CA" sz="4400" b="0" i="0" dirty="0">
                <a:solidFill>
                  <a:srgbClr val="444444"/>
                </a:solidFill>
                <a:effectLst/>
                <a:latin typeface="Gotham A"/>
              </a:rPr>
              <a:t>; par exemple, la transformation de raisins en vin par un viticulteur qui a cultivé lui-même les raisins. Alors qu'une telle transformation peut sembler être un prolongement logique et naturel de l'activité agricole et que les activités qu'elle renferme présentent quelques similarités avec la transformation biologique, elle n'entre pas dans la définition de l'activité agricole de la présente norme.</a:t>
            </a:r>
            <a:endParaRPr lang="fr-CA" sz="4400" i="0" dirty="0">
              <a:solidFill>
                <a:srgbClr val="444444"/>
              </a:solidFill>
              <a:effectLst/>
              <a:latin typeface="Gotham A"/>
            </a:endParaRPr>
          </a:p>
        </p:txBody>
      </p:sp>
      <p:sp>
        <p:nvSpPr>
          <p:cNvPr id="4" name="Espace réservé du pied de page 3">
            <a:extLst>
              <a:ext uri="{FF2B5EF4-FFF2-40B4-BE49-F238E27FC236}">
                <a16:creationId xmlns:a16="http://schemas.microsoft.com/office/drawing/2014/main" id="{39CD401D-578E-2360-1B13-6608E2A3D32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19858412-4C40-36F4-ADD5-54DA8A0D1CBD}"/>
              </a:ext>
            </a:extLst>
          </p:cNvPr>
          <p:cNvSpPr>
            <a:spLocks noGrp="1"/>
          </p:cNvSpPr>
          <p:nvPr>
            <p:ph type="sldNum" sz="quarter" idx="12"/>
          </p:nvPr>
        </p:nvSpPr>
        <p:spPr/>
        <p:txBody>
          <a:bodyPr/>
          <a:lstStyle/>
          <a:p>
            <a:fld id="{23073BCF-F77B-4559-9AE5-DE4418D93C7B}" type="slidenum">
              <a:rPr lang="fr-FR" smtClean="0"/>
              <a:t>3</a:t>
            </a:fld>
            <a:endParaRPr lang="fr-FR"/>
          </a:p>
        </p:txBody>
      </p:sp>
    </p:spTree>
    <p:extLst>
      <p:ext uri="{BB962C8B-B14F-4D97-AF65-F5344CB8AC3E}">
        <p14:creationId xmlns:p14="http://schemas.microsoft.com/office/powerpoint/2010/main" val="3696988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8B7589-2ABF-747A-4A11-EBF3A1313B4B}"/>
              </a:ext>
            </a:extLst>
          </p:cNvPr>
          <p:cNvSpPr>
            <a:spLocks noGrp="1"/>
          </p:cNvSpPr>
          <p:nvPr>
            <p:ph type="title"/>
          </p:nvPr>
        </p:nvSpPr>
        <p:spPr/>
        <p:txBody>
          <a:bodyPr/>
          <a:lstStyle/>
          <a:p>
            <a:r>
              <a:rPr lang="fr-CA" dirty="0"/>
              <a:t>Nature – Hors du champ d’application</a:t>
            </a:r>
            <a:endParaRPr lang="fr-FR" dirty="0"/>
          </a:p>
        </p:txBody>
      </p:sp>
      <p:sp>
        <p:nvSpPr>
          <p:cNvPr id="3" name="Espace réservé du contenu 2">
            <a:extLst>
              <a:ext uri="{FF2B5EF4-FFF2-40B4-BE49-F238E27FC236}">
                <a16:creationId xmlns:a16="http://schemas.microsoft.com/office/drawing/2014/main" id="{48F896AD-3AAB-47BF-164F-13CD10E4638B}"/>
              </a:ext>
            </a:extLst>
          </p:cNvPr>
          <p:cNvSpPr>
            <a:spLocks noGrp="1"/>
          </p:cNvSpPr>
          <p:nvPr>
            <p:ph idx="1"/>
          </p:nvPr>
        </p:nvSpPr>
        <p:spPr>
          <a:xfrm>
            <a:off x="838200" y="1555532"/>
            <a:ext cx="10515600" cy="5119588"/>
          </a:xfrm>
        </p:spPr>
        <p:txBody>
          <a:bodyPr>
            <a:normAutofit fontScale="55000" lnSpcReduction="20000"/>
          </a:bodyPr>
          <a:lstStyle/>
          <a:p>
            <a:pPr marL="0" indent="0" algn="l">
              <a:buNone/>
            </a:pPr>
            <a:r>
              <a:rPr lang="fr-CA" sz="3600" b="0" i="0" dirty="0">
                <a:solidFill>
                  <a:srgbClr val="444444"/>
                </a:solidFill>
                <a:effectLst/>
                <a:latin typeface="Gotham A"/>
              </a:rPr>
              <a:t>2       La présente norme ne s'applique pas :</a:t>
            </a:r>
          </a:p>
          <a:p>
            <a:pPr marL="0" indent="0" algn="l">
              <a:buNone/>
            </a:pPr>
            <a:r>
              <a:rPr lang="fr-CA" sz="3600" b="0" i="0" dirty="0">
                <a:solidFill>
                  <a:srgbClr val="444444"/>
                </a:solidFill>
                <a:effectLst/>
                <a:latin typeface="Gotham A"/>
              </a:rPr>
              <a:t>(a)     aux </a:t>
            </a:r>
            <a:r>
              <a:rPr lang="fr-CA" sz="3600" b="0" i="0" dirty="0">
                <a:solidFill>
                  <a:srgbClr val="00B0F0"/>
                </a:solidFill>
                <a:effectLst/>
                <a:latin typeface="Gotham A"/>
              </a:rPr>
              <a:t>terrains</a:t>
            </a:r>
            <a:r>
              <a:rPr lang="fr-CA" sz="3600" b="0" i="0" dirty="0">
                <a:solidFill>
                  <a:srgbClr val="444444"/>
                </a:solidFill>
                <a:effectLst/>
                <a:latin typeface="Gotham A"/>
              </a:rPr>
              <a:t> liés à l'activité agricole (voir </a:t>
            </a:r>
            <a:r>
              <a:rPr lang="fr-CA" sz="3600" b="0" i="0" u="none" strike="noStrike" dirty="0">
                <a:solidFill>
                  <a:srgbClr val="006FBA"/>
                </a:solidFill>
                <a:effectLst/>
                <a:latin typeface="Gotham A"/>
              </a:rPr>
              <a:t>IAS 16</a:t>
            </a:r>
            <a:r>
              <a:rPr lang="fr-CA" sz="3600" b="0" i="0" dirty="0">
                <a:solidFill>
                  <a:srgbClr val="444444"/>
                </a:solidFill>
                <a:effectLst/>
                <a:latin typeface="Gotham A"/>
              </a:rPr>
              <a:t> </a:t>
            </a:r>
            <a:r>
              <a:rPr lang="fr-CA" sz="3600" b="0" i="1" dirty="0">
                <a:solidFill>
                  <a:srgbClr val="444444"/>
                </a:solidFill>
                <a:effectLst/>
                <a:latin typeface="Gotham A"/>
              </a:rPr>
              <a:t>Immobilisations corporelles</a:t>
            </a:r>
            <a:r>
              <a:rPr lang="fr-CA" sz="3600" b="0" i="0" dirty="0">
                <a:solidFill>
                  <a:srgbClr val="444444"/>
                </a:solidFill>
                <a:effectLst/>
                <a:latin typeface="Gotham A"/>
              </a:rPr>
              <a:t> et </a:t>
            </a:r>
            <a:r>
              <a:rPr lang="fr-CA" sz="3600" b="0" i="0" u="none" strike="noStrike" dirty="0">
                <a:solidFill>
                  <a:srgbClr val="006FBA"/>
                </a:solidFill>
                <a:effectLst/>
                <a:latin typeface="Gotham A"/>
                <a:hlinkClick r:id="rId3"/>
              </a:rPr>
              <a:t>IAS 40</a:t>
            </a:r>
            <a:r>
              <a:rPr lang="fr-CA" sz="3600" b="0" i="0" dirty="0">
                <a:solidFill>
                  <a:srgbClr val="444444"/>
                </a:solidFill>
                <a:effectLst/>
                <a:latin typeface="Gotham A"/>
              </a:rPr>
              <a:t> </a:t>
            </a:r>
            <a:r>
              <a:rPr lang="fr-CA" sz="3600" b="0" i="1" dirty="0">
                <a:solidFill>
                  <a:srgbClr val="444444"/>
                </a:solidFill>
                <a:effectLst/>
                <a:latin typeface="Gotham A"/>
              </a:rPr>
              <a:t>Immeubles de placement</a:t>
            </a:r>
            <a:r>
              <a:rPr lang="fr-CA" sz="3600" b="0" i="0" dirty="0">
                <a:solidFill>
                  <a:srgbClr val="444444"/>
                </a:solidFill>
                <a:effectLst/>
                <a:latin typeface="Gotham A"/>
              </a:rPr>
              <a:t>) ;</a:t>
            </a:r>
          </a:p>
          <a:p>
            <a:pPr marL="0" indent="0" algn="l">
              <a:buNone/>
            </a:pPr>
            <a:r>
              <a:rPr lang="fr-CA" sz="3600" b="0" i="0" dirty="0">
                <a:solidFill>
                  <a:srgbClr val="444444"/>
                </a:solidFill>
                <a:effectLst/>
                <a:latin typeface="Gotham A"/>
              </a:rPr>
              <a:t>(b)     aux </a:t>
            </a:r>
            <a:r>
              <a:rPr lang="fr-CA" sz="3600" b="0" i="0" dirty="0">
                <a:solidFill>
                  <a:srgbClr val="00B0F0"/>
                </a:solidFill>
                <a:effectLst/>
                <a:latin typeface="Gotham A"/>
              </a:rPr>
              <a:t>plantes productrices </a:t>
            </a:r>
            <a:r>
              <a:rPr lang="fr-CA" sz="3600" b="0" i="0" dirty="0">
                <a:solidFill>
                  <a:srgbClr val="444444"/>
                </a:solidFill>
                <a:effectLst/>
                <a:latin typeface="Gotham A"/>
              </a:rPr>
              <a:t>liées à l'activité agricole (voir </a:t>
            </a:r>
            <a:r>
              <a:rPr lang="fr-CA" sz="3600" b="0" i="0" u="none" strike="noStrike" dirty="0">
                <a:solidFill>
                  <a:srgbClr val="006FBA"/>
                </a:solidFill>
                <a:effectLst/>
                <a:latin typeface="Gotham A"/>
                <a:hlinkClick r:id="rId3"/>
              </a:rPr>
              <a:t>IAS 16</a:t>
            </a:r>
            <a:r>
              <a:rPr lang="fr-CA" sz="3600" b="0" i="0" dirty="0">
                <a:solidFill>
                  <a:srgbClr val="444444"/>
                </a:solidFill>
                <a:effectLst/>
                <a:latin typeface="Gotham A"/>
              </a:rPr>
              <a:t>), bien qu'elle s'applique aux produits de ces plantes productrices ;</a:t>
            </a:r>
          </a:p>
          <a:p>
            <a:pPr marL="0" indent="0" algn="l">
              <a:buNone/>
            </a:pPr>
            <a:r>
              <a:rPr lang="fr-CA" sz="3600" b="0" i="0" dirty="0">
                <a:solidFill>
                  <a:srgbClr val="444444"/>
                </a:solidFill>
                <a:effectLst/>
                <a:latin typeface="Gotham A"/>
              </a:rPr>
              <a:t>(c)     aux </a:t>
            </a:r>
            <a:r>
              <a:rPr lang="fr-CA" sz="3600" b="0" i="0" dirty="0">
                <a:solidFill>
                  <a:srgbClr val="00B0F0"/>
                </a:solidFill>
                <a:effectLst/>
                <a:latin typeface="Gotham A"/>
              </a:rPr>
              <a:t>subventions publiques liées aux plantes productrices </a:t>
            </a:r>
            <a:r>
              <a:rPr lang="fr-CA" sz="3600" b="0" i="0" dirty="0">
                <a:solidFill>
                  <a:srgbClr val="444444"/>
                </a:solidFill>
                <a:effectLst/>
                <a:latin typeface="Gotham A"/>
              </a:rPr>
              <a:t>(voir </a:t>
            </a:r>
            <a:r>
              <a:rPr lang="fr-CA" sz="3600" b="0" i="0" u="none" strike="noStrike" dirty="0">
                <a:solidFill>
                  <a:srgbClr val="006FBA"/>
                </a:solidFill>
                <a:effectLst/>
                <a:latin typeface="Gotham A"/>
                <a:hlinkClick r:id="rId3"/>
              </a:rPr>
              <a:t>IAS 20</a:t>
            </a:r>
            <a:r>
              <a:rPr lang="fr-CA" sz="3600" b="0" i="0" dirty="0">
                <a:solidFill>
                  <a:srgbClr val="444444"/>
                </a:solidFill>
                <a:effectLst/>
                <a:latin typeface="Gotham A"/>
              </a:rPr>
              <a:t> </a:t>
            </a:r>
            <a:r>
              <a:rPr lang="fr-CA" sz="3600" b="0" i="1" dirty="0">
                <a:solidFill>
                  <a:srgbClr val="444444"/>
                </a:solidFill>
                <a:effectLst/>
                <a:latin typeface="Gotham A"/>
              </a:rPr>
              <a:t>Comptabilisation des subventions publiques et informations à fournir sur l'aide publique</a:t>
            </a:r>
            <a:r>
              <a:rPr lang="fr-CA" sz="3600" b="0" i="0" dirty="0">
                <a:solidFill>
                  <a:srgbClr val="444444"/>
                </a:solidFill>
                <a:effectLst/>
                <a:latin typeface="Gotham A"/>
              </a:rPr>
              <a:t>) ;</a:t>
            </a:r>
          </a:p>
          <a:p>
            <a:pPr marL="0" indent="0" algn="l">
              <a:buNone/>
            </a:pPr>
            <a:r>
              <a:rPr lang="fr-CA" sz="3600" b="0" i="0" dirty="0">
                <a:solidFill>
                  <a:srgbClr val="444444"/>
                </a:solidFill>
                <a:effectLst/>
                <a:latin typeface="Gotham A"/>
              </a:rPr>
              <a:t>(d)     aux </a:t>
            </a:r>
            <a:r>
              <a:rPr lang="fr-CA" sz="3600" b="0" i="0" dirty="0">
                <a:solidFill>
                  <a:srgbClr val="00B0F0"/>
                </a:solidFill>
                <a:effectLst/>
                <a:latin typeface="Gotham A"/>
              </a:rPr>
              <a:t>immobilisations incorporelles</a:t>
            </a:r>
            <a:r>
              <a:rPr lang="fr-CA" sz="3600" b="0" i="0" dirty="0">
                <a:solidFill>
                  <a:srgbClr val="444444"/>
                </a:solidFill>
                <a:effectLst/>
                <a:latin typeface="Gotham A"/>
              </a:rPr>
              <a:t> liées à l'activité agricole (voir </a:t>
            </a:r>
            <a:r>
              <a:rPr lang="fr-CA" sz="3600" b="0" i="0" u="none" strike="noStrike" dirty="0">
                <a:solidFill>
                  <a:srgbClr val="006FBA"/>
                </a:solidFill>
                <a:effectLst/>
                <a:latin typeface="Gotham A"/>
              </a:rPr>
              <a:t>IAS 38</a:t>
            </a:r>
            <a:r>
              <a:rPr lang="fr-CA" sz="3600" b="0" i="0" dirty="0">
                <a:solidFill>
                  <a:srgbClr val="444444"/>
                </a:solidFill>
                <a:effectLst/>
                <a:latin typeface="Gotham A"/>
              </a:rPr>
              <a:t> </a:t>
            </a:r>
            <a:r>
              <a:rPr lang="fr-CA" sz="3600" b="0" i="1" dirty="0">
                <a:solidFill>
                  <a:srgbClr val="444444"/>
                </a:solidFill>
                <a:effectLst/>
                <a:latin typeface="Gotham A"/>
              </a:rPr>
              <a:t>Immobilisations incorporelles</a:t>
            </a:r>
            <a:r>
              <a:rPr lang="fr-CA" sz="3600" b="0" i="0" dirty="0">
                <a:solidFill>
                  <a:srgbClr val="444444"/>
                </a:solidFill>
                <a:effectLst/>
                <a:latin typeface="Gotham A"/>
              </a:rPr>
              <a:t>) ;</a:t>
            </a:r>
          </a:p>
          <a:p>
            <a:pPr marL="0" indent="0" algn="l">
              <a:buNone/>
            </a:pPr>
            <a:r>
              <a:rPr lang="fr-CA" sz="3600" b="0" i="0" dirty="0">
                <a:solidFill>
                  <a:srgbClr val="444444"/>
                </a:solidFill>
                <a:effectLst/>
                <a:latin typeface="Gotham A"/>
              </a:rPr>
              <a:t>(e)     </a:t>
            </a:r>
            <a:r>
              <a:rPr lang="fr-CA" sz="3600" b="0" i="0" dirty="0">
                <a:solidFill>
                  <a:srgbClr val="00B0F0"/>
                </a:solidFill>
                <a:effectLst/>
                <a:latin typeface="Gotham A"/>
              </a:rPr>
              <a:t>aux actifs au titre des droits d'utilisation découlant de contrats de location </a:t>
            </a:r>
            <a:r>
              <a:rPr lang="fr-CA" sz="3600" b="0" i="0" dirty="0">
                <a:solidFill>
                  <a:srgbClr val="444444"/>
                </a:solidFill>
                <a:effectLst/>
                <a:latin typeface="Gotham A"/>
              </a:rPr>
              <a:t>de terrains liés à l'activité agricole (voir </a:t>
            </a:r>
            <a:r>
              <a:rPr lang="fr-CA" sz="3600" b="0" i="0" u="none" strike="noStrike" dirty="0">
                <a:solidFill>
                  <a:srgbClr val="006FBA"/>
                </a:solidFill>
                <a:effectLst/>
                <a:latin typeface="Gotham A"/>
              </a:rPr>
              <a:t>IFRS 16</a:t>
            </a:r>
            <a:r>
              <a:rPr lang="fr-CA" sz="3600" b="0" i="0" dirty="0">
                <a:solidFill>
                  <a:srgbClr val="444444"/>
                </a:solidFill>
                <a:effectLst/>
                <a:latin typeface="Gotham A"/>
              </a:rPr>
              <a:t> </a:t>
            </a:r>
            <a:r>
              <a:rPr lang="fr-CA" sz="3600" b="0" i="1" dirty="0">
                <a:solidFill>
                  <a:srgbClr val="444444"/>
                </a:solidFill>
                <a:effectLst/>
                <a:latin typeface="Gotham A"/>
              </a:rPr>
              <a:t>Contrats de location</a:t>
            </a:r>
            <a:r>
              <a:rPr lang="fr-CA" sz="3600" b="0" i="0" dirty="0">
                <a:solidFill>
                  <a:srgbClr val="444444"/>
                </a:solidFill>
                <a:effectLst/>
                <a:latin typeface="Gotham A"/>
              </a:rPr>
              <a:t>).</a:t>
            </a:r>
          </a:p>
          <a:p>
            <a:pPr marL="0" indent="0" algn="l">
              <a:buNone/>
            </a:pPr>
            <a:endParaRPr lang="fr-CA" dirty="0">
              <a:solidFill>
                <a:srgbClr val="444444"/>
              </a:solidFill>
              <a:latin typeface="Gotham A"/>
            </a:endParaRPr>
          </a:p>
          <a:p>
            <a:pPr marL="0" indent="0" algn="l">
              <a:buNone/>
            </a:pPr>
            <a:r>
              <a:rPr lang="fr-CA" sz="3600" i="0" dirty="0">
                <a:solidFill>
                  <a:srgbClr val="444444"/>
                </a:solidFill>
                <a:effectLst/>
                <a:latin typeface="Gotham A"/>
              </a:rPr>
              <a:t>Une </a:t>
            </a:r>
            <a:r>
              <a:rPr lang="fr-CA" sz="3600" i="1" dirty="0">
                <a:solidFill>
                  <a:srgbClr val="FF0000"/>
                </a:solidFill>
                <a:effectLst/>
                <a:latin typeface="Gotham A"/>
              </a:rPr>
              <a:t>plante productrice</a:t>
            </a:r>
            <a:r>
              <a:rPr lang="fr-CA" sz="3600" i="0" dirty="0">
                <a:solidFill>
                  <a:srgbClr val="FF0000"/>
                </a:solidFill>
                <a:effectLst/>
                <a:latin typeface="Gotham A"/>
              </a:rPr>
              <a:t> </a:t>
            </a:r>
            <a:r>
              <a:rPr lang="fr-CA" sz="3600" i="0" dirty="0">
                <a:solidFill>
                  <a:srgbClr val="444444"/>
                </a:solidFill>
                <a:effectLst/>
                <a:latin typeface="Gotham A"/>
              </a:rPr>
              <a:t>est une plante vivante qui :</a:t>
            </a:r>
          </a:p>
          <a:p>
            <a:pPr marL="0" indent="0" algn="l">
              <a:buNone/>
            </a:pPr>
            <a:r>
              <a:rPr lang="fr-CA" sz="3600" i="0" dirty="0">
                <a:solidFill>
                  <a:srgbClr val="444444"/>
                </a:solidFill>
                <a:effectLst/>
                <a:latin typeface="Gotham A"/>
              </a:rPr>
              <a:t>(a)     est utilisée dans la production ou la fourniture de produits agricoles ;   </a:t>
            </a:r>
            <a:r>
              <a:rPr lang="fr-CA" sz="3600" i="1" dirty="0">
                <a:solidFill>
                  <a:srgbClr val="00B0F0"/>
                </a:solidFill>
                <a:effectLst/>
                <a:latin typeface="Gotham A"/>
              </a:rPr>
              <a:t>est un « producteur »</a:t>
            </a:r>
            <a:endParaRPr lang="fr-CA" sz="3600" i="0" dirty="0">
              <a:solidFill>
                <a:srgbClr val="444444"/>
              </a:solidFill>
              <a:effectLst/>
              <a:latin typeface="Gotham A"/>
            </a:endParaRPr>
          </a:p>
          <a:p>
            <a:pPr marL="0" indent="0" algn="l">
              <a:buNone/>
            </a:pPr>
            <a:r>
              <a:rPr lang="fr-CA" sz="3600" i="0" dirty="0">
                <a:solidFill>
                  <a:srgbClr val="444444"/>
                </a:solidFill>
                <a:effectLst/>
                <a:latin typeface="Gotham A"/>
              </a:rPr>
              <a:t>(b)     est susceptible de produire sur plus d'une période ;   </a:t>
            </a:r>
            <a:r>
              <a:rPr lang="fr-CA" sz="3600" i="0" dirty="0">
                <a:solidFill>
                  <a:srgbClr val="FF0000"/>
                </a:solidFill>
                <a:effectLst/>
                <a:latin typeface="Gotham A"/>
              </a:rPr>
              <a:t>  </a:t>
            </a:r>
            <a:r>
              <a:rPr lang="fr-CA" sz="3600" i="1" dirty="0">
                <a:solidFill>
                  <a:srgbClr val="00B0F0"/>
                </a:solidFill>
                <a:effectLst/>
                <a:latin typeface="Gotham A"/>
              </a:rPr>
              <a:t>et non une culture annuelle</a:t>
            </a:r>
            <a:endParaRPr lang="fr-CA" sz="3600" i="0" dirty="0">
              <a:solidFill>
                <a:srgbClr val="00B0F0"/>
              </a:solidFill>
              <a:effectLst/>
              <a:latin typeface="Gotham A"/>
            </a:endParaRPr>
          </a:p>
          <a:p>
            <a:pPr marL="0" indent="0" algn="l">
              <a:buNone/>
            </a:pPr>
            <a:r>
              <a:rPr lang="fr-CA" sz="3600" i="0" dirty="0">
                <a:solidFill>
                  <a:srgbClr val="444444"/>
                </a:solidFill>
                <a:effectLst/>
                <a:latin typeface="Gotham A"/>
              </a:rPr>
              <a:t>(c)     n'a qu'une faible probabilité d'être vendue comme produit agricole, sauf à titre accessoire en tant que rebut.</a:t>
            </a:r>
          </a:p>
        </p:txBody>
      </p:sp>
      <p:sp>
        <p:nvSpPr>
          <p:cNvPr id="4" name="Espace réservé du pied de page 3">
            <a:extLst>
              <a:ext uri="{FF2B5EF4-FFF2-40B4-BE49-F238E27FC236}">
                <a16:creationId xmlns:a16="http://schemas.microsoft.com/office/drawing/2014/main" id="{8710B9FE-E4A9-B8BC-4DB8-9893E1758A7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8DC728C-42C1-397C-F5E0-1560B8C2E727}"/>
              </a:ext>
            </a:extLst>
          </p:cNvPr>
          <p:cNvSpPr>
            <a:spLocks noGrp="1"/>
          </p:cNvSpPr>
          <p:nvPr>
            <p:ph type="sldNum" sz="quarter" idx="12"/>
          </p:nvPr>
        </p:nvSpPr>
        <p:spPr/>
        <p:txBody>
          <a:bodyPr/>
          <a:lstStyle/>
          <a:p>
            <a:fld id="{23073BCF-F77B-4559-9AE5-DE4418D93C7B}" type="slidenum">
              <a:rPr lang="fr-FR" smtClean="0"/>
              <a:t>4</a:t>
            </a:fld>
            <a:endParaRPr lang="fr-FR"/>
          </a:p>
        </p:txBody>
      </p:sp>
    </p:spTree>
    <p:extLst>
      <p:ext uri="{BB962C8B-B14F-4D97-AF65-F5344CB8AC3E}">
        <p14:creationId xmlns:p14="http://schemas.microsoft.com/office/powerpoint/2010/main" val="1044832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883E7E-AE2B-ABE6-423B-35CF4FEB1602}"/>
              </a:ext>
            </a:extLst>
          </p:cNvPr>
          <p:cNvSpPr>
            <a:spLocks noGrp="1"/>
          </p:cNvSpPr>
          <p:nvPr>
            <p:ph type="title"/>
          </p:nvPr>
        </p:nvSpPr>
        <p:spPr/>
        <p:txBody>
          <a:bodyPr/>
          <a:lstStyle/>
          <a:p>
            <a:r>
              <a:rPr lang="fr-CA" dirty="0"/>
              <a:t>Autres définitions</a:t>
            </a:r>
            <a:endParaRPr lang="fr-FR" dirty="0"/>
          </a:p>
        </p:txBody>
      </p:sp>
      <p:sp>
        <p:nvSpPr>
          <p:cNvPr id="3" name="Espace réservé du contenu 2">
            <a:extLst>
              <a:ext uri="{FF2B5EF4-FFF2-40B4-BE49-F238E27FC236}">
                <a16:creationId xmlns:a16="http://schemas.microsoft.com/office/drawing/2014/main" id="{F63DA7E3-B11C-B499-F611-DE00F6E19B69}"/>
              </a:ext>
            </a:extLst>
          </p:cNvPr>
          <p:cNvSpPr>
            <a:spLocks noGrp="1"/>
          </p:cNvSpPr>
          <p:nvPr>
            <p:ph idx="1"/>
          </p:nvPr>
        </p:nvSpPr>
        <p:spPr/>
        <p:txBody>
          <a:bodyPr/>
          <a:lstStyle/>
          <a:p>
            <a:r>
              <a:rPr lang="fr-CA" i="0" dirty="0">
                <a:solidFill>
                  <a:srgbClr val="444444"/>
                </a:solidFill>
                <a:effectLst/>
                <a:highlight>
                  <a:srgbClr val="FFFF00"/>
                </a:highlight>
                <a:latin typeface="Gotham A"/>
              </a:rPr>
              <a:t>Un </a:t>
            </a:r>
            <a:r>
              <a:rPr lang="fr-CA" i="1" dirty="0">
                <a:solidFill>
                  <a:srgbClr val="444444"/>
                </a:solidFill>
                <a:effectLst/>
                <a:highlight>
                  <a:srgbClr val="FFFF00"/>
                </a:highlight>
                <a:latin typeface="Gotham A"/>
              </a:rPr>
              <a:t>actif biologique</a:t>
            </a:r>
            <a:r>
              <a:rPr lang="fr-CA" i="0" dirty="0">
                <a:solidFill>
                  <a:srgbClr val="444444"/>
                </a:solidFill>
                <a:effectLst/>
                <a:highlight>
                  <a:srgbClr val="FFFF00"/>
                </a:highlight>
                <a:latin typeface="Gotham A"/>
              </a:rPr>
              <a:t> </a:t>
            </a:r>
            <a:r>
              <a:rPr lang="fr-CA" i="0" dirty="0">
                <a:solidFill>
                  <a:srgbClr val="444444"/>
                </a:solidFill>
                <a:effectLst/>
                <a:latin typeface="Gotham A"/>
              </a:rPr>
              <a:t>est un animal vivant ou une plante vivante.</a:t>
            </a:r>
          </a:p>
          <a:p>
            <a:pPr lvl="1"/>
            <a:r>
              <a:rPr lang="fr-CA" dirty="0">
                <a:solidFill>
                  <a:srgbClr val="00B0F0"/>
                </a:solidFill>
                <a:latin typeface="Gotham A"/>
              </a:rPr>
              <a:t>Exclure les plantes productrices - IAS 16</a:t>
            </a:r>
            <a:endParaRPr lang="fr-CA" i="0" dirty="0">
              <a:solidFill>
                <a:srgbClr val="00B0F0"/>
              </a:solidFill>
              <a:effectLst/>
              <a:latin typeface="Gotham A"/>
            </a:endParaRPr>
          </a:p>
          <a:p>
            <a:endParaRPr lang="fr-CA" dirty="0">
              <a:solidFill>
                <a:srgbClr val="444444"/>
              </a:solidFill>
              <a:latin typeface="Gotham A"/>
            </a:endParaRPr>
          </a:p>
          <a:p>
            <a:r>
              <a:rPr lang="fr-CA" i="0" dirty="0">
                <a:solidFill>
                  <a:srgbClr val="444444"/>
                </a:solidFill>
                <a:effectLst/>
                <a:latin typeface="Gotham A"/>
              </a:rPr>
              <a:t>La </a:t>
            </a:r>
            <a:r>
              <a:rPr lang="fr-CA" i="1" dirty="0">
                <a:solidFill>
                  <a:srgbClr val="444444"/>
                </a:solidFill>
                <a:effectLst/>
                <a:latin typeface="Gotham A"/>
              </a:rPr>
              <a:t>récolte</a:t>
            </a:r>
            <a:r>
              <a:rPr lang="fr-CA" i="0" dirty="0">
                <a:solidFill>
                  <a:srgbClr val="444444"/>
                </a:solidFill>
                <a:effectLst/>
                <a:latin typeface="Gotham A"/>
              </a:rPr>
              <a:t> est le détachement de produits d'un actif biologique ou l'arrêt des processus vitaux d'un actif biologique.</a:t>
            </a:r>
          </a:p>
          <a:p>
            <a:endParaRPr lang="fr-CA" i="0" dirty="0">
              <a:solidFill>
                <a:srgbClr val="444444"/>
              </a:solidFill>
              <a:effectLst/>
              <a:latin typeface="Gotham A"/>
            </a:endParaRPr>
          </a:p>
          <a:p>
            <a:r>
              <a:rPr lang="fr-CA" i="0" dirty="0">
                <a:solidFill>
                  <a:srgbClr val="444444"/>
                </a:solidFill>
                <a:effectLst/>
                <a:latin typeface="Gotham A"/>
              </a:rPr>
              <a:t>Un </a:t>
            </a:r>
            <a:r>
              <a:rPr lang="fr-CA" i="1" dirty="0">
                <a:solidFill>
                  <a:srgbClr val="444444"/>
                </a:solidFill>
                <a:effectLst/>
                <a:latin typeface="Gotham A"/>
              </a:rPr>
              <a:t>produit agricole</a:t>
            </a:r>
            <a:r>
              <a:rPr lang="fr-CA" i="0" dirty="0">
                <a:solidFill>
                  <a:srgbClr val="444444"/>
                </a:solidFill>
                <a:effectLst/>
                <a:latin typeface="Gotham A"/>
              </a:rPr>
              <a:t> est un produit récolté des actifs biologiques de l'entité.</a:t>
            </a:r>
            <a:endParaRPr lang="fr-FR" dirty="0"/>
          </a:p>
        </p:txBody>
      </p:sp>
      <p:sp>
        <p:nvSpPr>
          <p:cNvPr id="4" name="Espace réservé du pied de page 3">
            <a:extLst>
              <a:ext uri="{FF2B5EF4-FFF2-40B4-BE49-F238E27FC236}">
                <a16:creationId xmlns:a16="http://schemas.microsoft.com/office/drawing/2014/main" id="{6DA48186-2B16-6B33-60F9-BB98FFECC85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EFFC31A-82E5-6195-7D10-89523103A3BF}"/>
              </a:ext>
            </a:extLst>
          </p:cNvPr>
          <p:cNvSpPr>
            <a:spLocks noGrp="1"/>
          </p:cNvSpPr>
          <p:nvPr>
            <p:ph type="sldNum" sz="quarter" idx="12"/>
          </p:nvPr>
        </p:nvSpPr>
        <p:spPr/>
        <p:txBody>
          <a:bodyPr/>
          <a:lstStyle/>
          <a:p>
            <a:fld id="{23073BCF-F77B-4559-9AE5-DE4418D93C7B}" type="slidenum">
              <a:rPr lang="fr-FR" smtClean="0"/>
              <a:t>5</a:t>
            </a:fld>
            <a:endParaRPr lang="fr-FR"/>
          </a:p>
        </p:txBody>
      </p:sp>
    </p:spTree>
    <p:extLst>
      <p:ext uri="{BB962C8B-B14F-4D97-AF65-F5344CB8AC3E}">
        <p14:creationId xmlns:p14="http://schemas.microsoft.com/office/powerpoint/2010/main" val="3592149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4238C1-2BB0-FEB6-91F9-E8413C12D9E1}"/>
              </a:ext>
            </a:extLst>
          </p:cNvPr>
          <p:cNvSpPr>
            <a:spLocks noGrp="1"/>
          </p:cNvSpPr>
          <p:nvPr>
            <p:ph type="title"/>
          </p:nvPr>
        </p:nvSpPr>
        <p:spPr/>
        <p:txBody>
          <a:bodyPr/>
          <a:lstStyle/>
          <a:p>
            <a:r>
              <a:rPr lang="fr-CA" dirty="0"/>
              <a:t>Comptabilisation</a:t>
            </a:r>
            <a:endParaRPr lang="fr-FR" dirty="0"/>
          </a:p>
        </p:txBody>
      </p:sp>
      <p:sp>
        <p:nvSpPr>
          <p:cNvPr id="3" name="Espace réservé du contenu 2">
            <a:extLst>
              <a:ext uri="{FF2B5EF4-FFF2-40B4-BE49-F238E27FC236}">
                <a16:creationId xmlns:a16="http://schemas.microsoft.com/office/drawing/2014/main" id="{811392D7-756C-8E5E-EFDE-468E60BEE54C}"/>
              </a:ext>
            </a:extLst>
          </p:cNvPr>
          <p:cNvSpPr>
            <a:spLocks noGrp="1"/>
          </p:cNvSpPr>
          <p:nvPr>
            <p:ph idx="1"/>
          </p:nvPr>
        </p:nvSpPr>
        <p:spPr/>
        <p:txBody>
          <a:bodyPr/>
          <a:lstStyle/>
          <a:p>
            <a:pPr marL="0" indent="0" algn="l">
              <a:buNone/>
            </a:pPr>
            <a:r>
              <a:rPr lang="fr-CA" sz="2400" i="0" dirty="0">
                <a:solidFill>
                  <a:srgbClr val="444444"/>
                </a:solidFill>
                <a:effectLst/>
                <a:latin typeface="Gotham A"/>
              </a:rPr>
              <a:t>10     Une entité doit comptabiliser un actif biologique ou un produit agricole si et seulement si :</a:t>
            </a:r>
          </a:p>
          <a:p>
            <a:pPr marL="0" indent="0" algn="l">
              <a:buNone/>
            </a:pPr>
            <a:r>
              <a:rPr lang="fr-CA" sz="2400" i="0" dirty="0">
                <a:solidFill>
                  <a:srgbClr val="444444"/>
                </a:solidFill>
                <a:effectLst/>
                <a:latin typeface="Gotham A"/>
              </a:rPr>
              <a:t>(a)     l'entité a le contrôle de l'actif du fait d'événements passés ;</a:t>
            </a:r>
          </a:p>
          <a:p>
            <a:pPr marL="0" indent="0" algn="l">
              <a:buNone/>
            </a:pPr>
            <a:r>
              <a:rPr lang="fr-CA" sz="2400" i="0" dirty="0">
                <a:solidFill>
                  <a:srgbClr val="444444"/>
                </a:solidFill>
                <a:effectLst/>
                <a:latin typeface="Gotham A"/>
              </a:rPr>
              <a:t>(b)     il est probable que les avantages économiques futurs associés à cet actif iront à l'entité ; et</a:t>
            </a:r>
          </a:p>
          <a:p>
            <a:pPr marL="0" indent="0" algn="l">
              <a:buNone/>
            </a:pPr>
            <a:r>
              <a:rPr lang="fr-CA" sz="2400" i="0" dirty="0">
                <a:solidFill>
                  <a:srgbClr val="444444"/>
                </a:solidFill>
                <a:effectLst/>
                <a:latin typeface="Gotham A"/>
              </a:rPr>
              <a:t>(c)     la juste valeur ou le coût de cet actif peut être évalué de façon fiable.</a:t>
            </a:r>
          </a:p>
          <a:p>
            <a:pPr marL="0" indent="0">
              <a:buNone/>
            </a:pPr>
            <a:endParaRPr lang="fr-FR" dirty="0"/>
          </a:p>
        </p:txBody>
      </p:sp>
      <p:sp>
        <p:nvSpPr>
          <p:cNvPr id="4" name="Espace réservé du pied de page 3">
            <a:extLst>
              <a:ext uri="{FF2B5EF4-FFF2-40B4-BE49-F238E27FC236}">
                <a16:creationId xmlns:a16="http://schemas.microsoft.com/office/drawing/2014/main" id="{E7B9A69F-5CAE-F4F1-FF46-756E12A7291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9FB1FEC-5D10-D0C8-A8A0-26EF5582F2A7}"/>
              </a:ext>
            </a:extLst>
          </p:cNvPr>
          <p:cNvSpPr>
            <a:spLocks noGrp="1"/>
          </p:cNvSpPr>
          <p:nvPr>
            <p:ph type="sldNum" sz="quarter" idx="12"/>
          </p:nvPr>
        </p:nvSpPr>
        <p:spPr/>
        <p:txBody>
          <a:bodyPr/>
          <a:lstStyle/>
          <a:p>
            <a:fld id="{23073BCF-F77B-4559-9AE5-DE4418D93C7B}" type="slidenum">
              <a:rPr lang="fr-FR" smtClean="0"/>
              <a:t>6</a:t>
            </a:fld>
            <a:endParaRPr lang="fr-FR"/>
          </a:p>
        </p:txBody>
      </p:sp>
    </p:spTree>
    <p:extLst>
      <p:ext uri="{BB962C8B-B14F-4D97-AF65-F5344CB8AC3E}">
        <p14:creationId xmlns:p14="http://schemas.microsoft.com/office/powerpoint/2010/main" val="2032455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A13A0F-1D60-1109-65FD-6826A256D49D}"/>
              </a:ext>
            </a:extLst>
          </p:cNvPr>
          <p:cNvSpPr>
            <a:spLocks noGrp="1"/>
          </p:cNvSpPr>
          <p:nvPr>
            <p:ph type="title"/>
          </p:nvPr>
        </p:nvSpPr>
        <p:spPr/>
        <p:txBody>
          <a:bodyPr/>
          <a:lstStyle/>
          <a:p>
            <a:r>
              <a:rPr lang="fr-CA" dirty="0"/>
              <a:t>Mesure – initiale et subséquente</a:t>
            </a:r>
            <a:endParaRPr lang="fr-FR" dirty="0"/>
          </a:p>
        </p:txBody>
      </p:sp>
      <p:sp>
        <p:nvSpPr>
          <p:cNvPr id="3" name="Espace réservé du contenu 2">
            <a:extLst>
              <a:ext uri="{FF2B5EF4-FFF2-40B4-BE49-F238E27FC236}">
                <a16:creationId xmlns:a16="http://schemas.microsoft.com/office/drawing/2014/main" id="{19108925-63FC-A6EB-250E-17E5C962ED86}"/>
              </a:ext>
            </a:extLst>
          </p:cNvPr>
          <p:cNvSpPr>
            <a:spLocks noGrp="1"/>
          </p:cNvSpPr>
          <p:nvPr>
            <p:ph idx="1"/>
          </p:nvPr>
        </p:nvSpPr>
        <p:spPr>
          <a:xfrm>
            <a:off x="838200" y="1584960"/>
            <a:ext cx="10515600" cy="4771389"/>
          </a:xfrm>
        </p:spPr>
        <p:txBody>
          <a:bodyPr>
            <a:normAutofit lnSpcReduction="10000"/>
          </a:bodyPr>
          <a:lstStyle/>
          <a:p>
            <a:pPr marL="0" indent="0" algn="l">
              <a:buNone/>
            </a:pPr>
            <a:r>
              <a:rPr lang="fr-CA" sz="2400" i="0" dirty="0">
                <a:solidFill>
                  <a:srgbClr val="444444"/>
                </a:solidFill>
                <a:effectLst/>
                <a:latin typeface="Gotham A"/>
              </a:rPr>
              <a:t>12     Un </a:t>
            </a:r>
            <a:r>
              <a:rPr lang="fr-CA" sz="2400" i="0" dirty="0">
                <a:solidFill>
                  <a:srgbClr val="FF0000"/>
                </a:solidFill>
                <a:effectLst/>
                <a:latin typeface="Gotham A"/>
              </a:rPr>
              <a:t>actif biologique </a:t>
            </a:r>
            <a:r>
              <a:rPr lang="fr-CA" sz="2400" i="0" dirty="0">
                <a:solidFill>
                  <a:srgbClr val="444444"/>
                </a:solidFill>
                <a:effectLst/>
                <a:latin typeface="Gotham A"/>
              </a:rPr>
              <a:t>doit être évalué lors de la comptabilisation</a:t>
            </a:r>
            <a:r>
              <a:rPr lang="fr-CA" sz="2400" i="0" dirty="0">
                <a:solidFill>
                  <a:srgbClr val="444444"/>
                </a:solidFill>
                <a:effectLst/>
                <a:highlight>
                  <a:srgbClr val="FFFF00"/>
                </a:highlight>
                <a:latin typeface="Gotham A"/>
              </a:rPr>
              <a:t> initiale </a:t>
            </a:r>
            <a:r>
              <a:rPr lang="fr-CA" sz="2400" i="0" dirty="0">
                <a:solidFill>
                  <a:srgbClr val="444444"/>
                </a:solidFill>
                <a:effectLst/>
                <a:latin typeface="Gotham A"/>
              </a:rPr>
              <a:t>et à la </a:t>
            </a:r>
            <a:r>
              <a:rPr lang="fr-CA" sz="2400" i="0" dirty="0">
                <a:solidFill>
                  <a:srgbClr val="444444"/>
                </a:solidFill>
                <a:effectLst/>
                <a:highlight>
                  <a:srgbClr val="FFFF00"/>
                </a:highlight>
                <a:latin typeface="Gotham A"/>
              </a:rPr>
              <a:t>fin</a:t>
            </a:r>
            <a:r>
              <a:rPr lang="fr-CA" sz="2400" i="0" dirty="0">
                <a:solidFill>
                  <a:srgbClr val="444444"/>
                </a:solidFill>
                <a:effectLst/>
                <a:latin typeface="Gotham A"/>
              </a:rPr>
              <a:t> de chaque période de présentation de l'information financière à </a:t>
            </a:r>
            <a:r>
              <a:rPr lang="fr-CA" sz="2400" i="0" dirty="0">
                <a:solidFill>
                  <a:srgbClr val="444444"/>
                </a:solidFill>
                <a:effectLst/>
                <a:highlight>
                  <a:srgbClr val="FFFF00"/>
                </a:highlight>
                <a:latin typeface="Gotham A"/>
              </a:rPr>
              <a:t>sa juste valeur </a:t>
            </a:r>
            <a:r>
              <a:rPr lang="fr-CA" sz="2400" i="0" dirty="0">
                <a:solidFill>
                  <a:srgbClr val="00B0F0"/>
                </a:solidFill>
                <a:effectLst/>
                <a:highlight>
                  <a:srgbClr val="FFFF00"/>
                </a:highlight>
                <a:latin typeface="Gotham A"/>
              </a:rPr>
              <a:t>diminuée des coûts de la vente</a:t>
            </a:r>
            <a:r>
              <a:rPr lang="fr-CA" sz="2400" i="0" dirty="0">
                <a:solidFill>
                  <a:srgbClr val="444444"/>
                </a:solidFill>
                <a:effectLst/>
                <a:latin typeface="Gotham A"/>
              </a:rPr>
              <a:t>, sauf pour le cas décrit au paragraphe </a:t>
            </a:r>
            <a:r>
              <a:rPr lang="fr-CA" sz="2400" i="0" u="none" strike="noStrike" dirty="0">
                <a:solidFill>
                  <a:srgbClr val="006FBA"/>
                </a:solidFill>
                <a:effectLst/>
                <a:latin typeface="Gotham A"/>
                <a:hlinkClick r:id="rId3"/>
              </a:rPr>
              <a:t>30</a:t>
            </a:r>
            <a:r>
              <a:rPr lang="fr-CA" sz="2400" i="0" dirty="0">
                <a:solidFill>
                  <a:srgbClr val="444444"/>
                </a:solidFill>
                <a:effectLst/>
                <a:latin typeface="Gotham A"/>
              </a:rPr>
              <a:t> lorsque la juste valeur ne peut être évaluée de manière fiable.</a:t>
            </a:r>
          </a:p>
          <a:p>
            <a:pPr lvl="1">
              <a:buFont typeface="Wingdings" panose="05000000000000000000" pitchFamily="2" charset="2"/>
              <a:buChar char="Ø"/>
            </a:pPr>
            <a:r>
              <a:rPr lang="fr-CA" sz="2000" i="1" dirty="0">
                <a:solidFill>
                  <a:srgbClr val="00B0F0"/>
                </a:solidFill>
                <a:latin typeface="Gotham A"/>
              </a:rPr>
              <a:t>donc diffère de IFRS 13</a:t>
            </a:r>
          </a:p>
          <a:p>
            <a:pPr lvl="1">
              <a:buFont typeface="Wingdings" panose="05000000000000000000" pitchFamily="2" charset="2"/>
              <a:buChar char="Ø"/>
            </a:pPr>
            <a:r>
              <a:rPr lang="fr-CA" sz="2000" i="1" dirty="0">
                <a:solidFill>
                  <a:srgbClr val="444444"/>
                </a:solidFill>
                <a:effectLst/>
                <a:latin typeface="Gotham A"/>
              </a:rPr>
              <a:t>Juste valeur du marché, même si l’actif est attaché à un contrat de vente à un prix différent</a:t>
            </a:r>
          </a:p>
          <a:p>
            <a:pPr marL="0" indent="0" algn="l">
              <a:buNone/>
            </a:pPr>
            <a:endParaRPr lang="fr-CA" sz="2400" i="0" dirty="0">
              <a:solidFill>
                <a:srgbClr val="444444"/>
              </a:solidFill>
              <a:effectLst/>
              <a:latin typeface="Gotham A"/>
            </a:endParaRPr>
          </a:p>
          <a:p>
            <a:pPr marL="0" indent="0" algn="l">
              <a:buNone/>
            </a:pPr>
            <a:r>
              <a:rPr lang="fr-CA" sz="2400" i="0" dirty="0">
                <a:solidFill>
                  <a:srgbClr val="444444"/>
                </a:solidFill>
                <a:effectLst/>
                <a:latin typeface="Gotham A"/>
              </a:rPr>
              <a:t>13     Un </a:t>
            </a:r>
            <a:r>
              <a:rPr lang="fr-CA" sz="2400" i="0" dirty="0">
                <a:solidFill>
                  <a:srgbClr val="FF0000"/>
                </a:solidFill>
                <a:effectLst/>
                <a:latin typeface="Gotham A"/>
              </a:rPr>
              <a:t>produit agricole </a:t>
            </a:r>
            <a:r>
              <a:rPr lang="fr-CA" sz="2400" i="0" dirty="0">
                <a:solidFill>
                  <a:srgbClr val="444444"/>
                </a:solidFill>
                <a:effectLst/>
                <a:latin typeface="Gotham A"/>
              </a:rPr>
              <a:t>récolté à partir des actifs biologiques d'une entité doit être évalué à sa </a:t>
            </a:r>
            <a:r>
              <a:rPr lang="fr-CA" sz="2400" i="0" dirty="0">
                <a:solidFill>
                  <a:srgbClr val="444444"/>
                </a:solidFill>
                <a:effectLst/>
                <a:highlight>
                  <a:srgbClr val="FFFF00"/>
                </a:highlight>
                <a:latin typeface="Gotham A"/>
              </a:rPr>
              <a:t>juste valeur </a:t>
            </a:r>
            <a:r>
              <a:rPr lang="fr-CA" sz="2400" i="0" dirty="0">
                <a:solidFill>
                  <a:srgbClr val="FF0000"/>
                </a:solidFill>
                <a:effectLst/>
                <a:latin typeface="Gotham A"/>
              </a:rPr>
              <a:t>diminuée</a:t>
            </a:r>
            <a:r>
              <a:rPr lang="fr-CA" sz="2400" i="0" dirty="0">
                <a:solidFill>
                  <a:srgbClr val="00B0F0"/>
                </a:solidFill>
                <a:effectLst/>
                <a:latin typeface="Gotham A"/>
              </a:rPr>
              <a:t> des </a:t>
            </a:r>
            <a:r>
              <a:rPr lang="fr-CA" sz="2400" i="0" dirty="0">
                <a:solidFill>
                  <a:srgbClr val="FF0000"/>
                </a:solidFill>
                <a:effectLst/>
                <a:latin typeface="Gotham A"/>
              </a:rPr>
              <a:t>coûts de la vente </a:t>
            </a:r>
            <a:r>
              <a:rPr lang="fr-CA" sz="2400" i="0" dirty="0">
                <a:solidFill>
                  <a:srgbClr val="0070C0"/>
                </a:solidFill>
                <a:effectLst/>
                <a:latin typeface="Gotham A"/>
              </a:rPr>
              <a:t>au </a:t>
            </a:r>
            <a:r>
              <a:rPr lang="fr-CA" sz="2400" i="0" dirty="0">
                <a:solidFill>
                  <a:srgbClr val="FF0000"/>
                </a:solidFill>
                <a:effectLst/>
                <a:latin typeface="Gotham A"/>
              </a:rPr>
              <a:t>moment </a:t>
            </a:r>
            <a:r>
              <a:rPr lang="fr-CA" sz="2400" i="0" dirty="0">
                <a:solidFill>
                  <a:srgbClr val="0070C0"/>
                </a:solidFill>
                <a:effectLst/>
                <a:latin typeface="Gotham A"/>
              </a:rPr>
              <a:t>de la </a:t>
            </a:r>
            <a:r>
              <a:rPr lang="fr-CA" sz="2400" i="0" dirty="0">
                <a:solidFill>
                  <a:srgbClr val="0070C0"/>
                </a:solidFill>
                <a:effectLst/>
                <a:highlight>
                  <a:srgbClr val="FFFF00"/>
                </a:highlight>
                <a:latin typeface="Gotham A"/>
              </a:rPr>
              <a:t>récolte</a:t>
            </a:r>
            <a:r>
              <a:rPr lang="fr-CA" sz="2400" i="0" dirty="0">
                <a:solidFill>
                  <a:srgbClr val="444444"/>
                </a:solidFill>
                <a:effectLst/>
                <a:latin typeface="Gotham A"/>
              </a:rPr>
              <a:t>. Cette évaluation est le coût à cette date selon </a:t>
            </a:r>
            <a:r>
              <a:rPr lang="fr-CA" sz="2400" i="0" u="none" strike="noStrike" dirty="0">
                <a:solidFill>
                  <a:srgbClr val="006FBA"/>
                </a:solidFill>
                <a:effectLst/>
                <a:latin typeface="Gotham A"/>
              </a:rPr>
              <a:t>IAS 2</a:t>
            </a:r>
            <a:r>
              <a:rPr lang="fr-CA" sz="2400" i="0" dirty="0">
                <a:solidFill>
                  <a:srgbClr val="444444"/>
                </a:solidFill>
                <a:effectLst/>
                <a:latin typeface="Gotham A"/>
              </a:rPr>
              <a:t> </a:t>
            </a:r>
            <a:r>
              <a:rPr lang="fr-CA" sz="2400" i="1" dirty="0">
                <a:solidFill>
                  <a:srgbClr val="444444"/>
                </a:solidFill>
                <a:effectLst/>
                <a:latin typeface="Gotham A"/>
              </a:rPr>
              <a:t>Stocks</a:t>
            </a:r>
            <a:r>
              <a:rPr lang="fr-CA" sz="2400" i="0" dirty="0">
                <a:solidFill>
                  <a:srgbClr val="444444"/>
                </a:solidFill>
                <a:effectLst/>
                <a:latin typeface="Gotham A"/>
              </a:rPr>
              <a:t> ou selon une autre norme applicable.</a:t>
            </a:r>
          </a:p>
          <a:p>
            <a:pPr lvl="1">
              <a:buFont typeface="Wingdings" panose="05000000000000000000" pitchFamily="2" charset="2"/>
              <a:buChar char="Ø"/>
            </a:pPr>
            <a:r>
              <a:rPr lang="fr-CA" sz="2000" i="1" dirty="0">
                <a:solidFill>
                  <a:srgbClr val="00B0F0"/>
                </a:solidFill>
                <a:latin typeface="Gotham A"/>
              </a:rPr>
              <a:t>donc diffère de IFRS 13 ; même mesure que actif biologique (nous force à remesurer avant le transfert sous IAS 2)</a:t>
            </a:r>
            <a:endParaRPr lang="fr-CA" sz="2000" i="1" dirty="0">
              <a:solidFill>
                <a:srgbClr val="00B0F0"/>
              </a:solidFill>
              <a:effectLst/>
              <a:latin typeface="Gotham A"/>
            </a:endParaRPr>
          </a:p>
          <a:p>
            <a:pPr lvl="1">
              <a:buFont typeface="Wingdings" panose="05000000000000000000" pitchFamily="2" charset="2"/>
              <a:buChar char="Ø"/>
            </a:pPr>
            <a:r>
              <a:rPr lang="fr-CA" sz="2000" i="1" dirty="0">
                <a:solidFill>
                  <a:srgbClr val="00B0F0"/>
                </a:solidFill>
                <a:latin typeface="Gotham A"/>
              </a:rPr>
              <a:t>Est la </a:t>
            </a:r>
            <a:r>
              <a:rPr lang="fr-CA" sz="2000" i="1" dirty="0">
                <a:solidFill>
                  <a:srgbClr val="00B0F0"/>
                </a:solidFill>
                <a:effectLst/>
                <a:latin typeface="Gotham A"/>
              </a:rPr>
              <a:t>valeur d’entrée de IAS 2 – le coût du stock</a:t>
            </a:r>
          </a:p>
          <a:p>
            <a:pPr lvl="2">
              <a:buFont typeface="Wingdings" panose="05000000000000000000" pitchFamily="2" charset="2"/>
              <a:buChar char="Ø"/>
            </a:pPr>
            <a:r>
              <a:rPr lang="fr-CA" i="1" dirty="0">
                <a:latin typeface="Gotham A"/>
              </a:rPr>
              <a:t>Puis fera moindre du coût et VNR</a:t>
            </a:r>
            <a:endParaRPr lang="fr-CA" i="1" dirty="0">
              <a:effectLst/>
              <a:latin typeface="Gotham A"/>
            </a:endParaRPr>
          </a:p>
          <a:p>
            <a:pPr marL="0" indent="0">
              <a:buNone/>
            </a:pPr>
            <a:endParaRPr lang="fr-FR" dirty="0"/>
          </a:p>
        </p:txBody>
      </p:sp>
      <p:sp>
        <p:nvSpPr>
          <p:cNvPr id="4" name="Espace réservé du pied de page 3">
            <a:extLst>
              <a:ext uri="{FF2B5EF4-FFF2-40B4-BE49-F238E27FC236}">
                <a16:creationId xmlns:a16="http://schemas.microsoft.com/office/drawing/2014/main" id="{F872C7E2-BB96-FDA9-8F90-F9F52CB79C9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1FF80841-27EB-F6B1-3765-066313C0182D}"/>
              </a:ext>
            </a:extLst>
          </p:cNvPr>
          <p:cNvSpPr>
            <a:spLocks noGrp="1"/>
          </p:cNvSpPr>
          <p:nvPr>
            <p:ph type="sldNum" sz="quarter" idx="12"/>
          </p:nvPr>
        </p:nvSpPr>
        <p:spPr/>
        <p:txBody>
          <a:bodyPr/>
          <a:lstStyle/>
          <a:p>
            <a:fld id="{23073BCF-F77B-4559-9AE5-DE4418D93C7B}" type="slidenum">
              <a:rPr lang="fr-FR" smtClean="0"/>
              <a:t>7</a:t>
            </a:fld>
            <a:endParaRPr lang="fr-FR"/>
          </a:p>
        </p:txBody>
      </p:sp>
    </p:spTree>
    <p:extLst>
      <p:ext uri="{BB962C8B-B14F-4D97-AF65-F5344CB8AC3E}">
        <p14:creationId xmlns:p14="http://schemas.microsoft.com/office/powerpoint/2010/main" val="113767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A13A0F-1D60-1109-65FD-6826A256D49D}"/>
              </a:ext>
            </a:extLst>
          </p:cNvPr>
          <p:cNvSpPr>
            <a:spLocks noGrp="1"/>
          </p:cNvSpPr>
          <p:nvPr>
            <p:ph type="title"/>
          </p:nvPr>
        </p:nvSpPr>
        <p:spPr/>
        <p:txBody>
          <a:bodyPr/>
          <a:lstStyle/>
          <a:p>
            <a:r>
              <a:rPr lang="fr-CA" dirty="0"/>
              <a:t>Mesure – initiale et subséquente</a:t>
            </a:r>
            <a:endParaRPr lang="fr-FR" dirty="0"/>
          </a:p>
        </p:txBody>
      </p:sp>
      <p:sp>
        <p:nvSpPr>
          <p:cNvPr id="3" name="Espace réservé du contenu 2">
            <a:extLst>
              <a:ext uri="{FF2B5EF4-FFF2-40B4-BE49-F238E27FC236}">
                <a16:creationId xmlns:a16="http://schemas.microsoft.com/office/drawing/2014/main" id="{19108925-63FC-A6EB-250E-17E5C962ED86}"/>
              </a:ext>
            </a:extLst>
          </p:cNvPr>
          <p:cNvSpPr>
            <a:spLocks noGrp="1"/>
          </p:cNvSpPr>
          <p:nvPr>
            <p:ph idx="1"/>
          </p:nvPr>
        </p:nvSpPr>
        <p:spPr>
          <a:xfrm>
            <a:off x="838200" y="1584960"/>
            <a:ext cx="10515600" cy="4771389"/>
          </a:xfrm>
        </p:spPr>
        <p:txBody>
          <a:bodyPr>
            <a:normAutofit/>
          </a:bodyPr>
          <a:lstStyle/>
          <a:p>
            <a:pPr marL="0" indent="0" algn="l">
              <a:buNone/>
            </a:pPr>
            <a:r>
              <a:rPr lang="fr-CA" sz="2400" i="0" dirty="0">
                <a:solidFill>
                  <a:srgbClr val="444444"/>
                </a:solidFill>
                <a:effectLst/>
                <a:latin typeface="Gotham A"/>
              </a:rPr>
              <a:t>26     Un profit ou une perte résultant de la comptabilisation initiale d'un </a:t>
            </a:r>
            <a:r>
              <a:rPr lang="fr-CA" sz="2400" i="0" dirty="0">
                <a:solidFill>
                  <a:srgbClr val="00B0F0"/>
                </a:solidFill>
                <a:effectLst/>
                <a:latin typeface="Gotham A"/>
              </a:rPr>
              <a:t>actif biologique </a:t>
            </a:r>
            <a:r>
              <a:rPr lang="fr-CA" sz="2400" i="0" dirty="0">
                <a:solidFill>
                  <a:srgbClr val="444444"/>
                </a:solidFill>
                <a:effectLst/>
                <a:latin typeface="Gotham A"/>
              </a:rPr>
              <a:t>à sa </a:t>
            </a:r>
            <a:r>
              <a:rPr lang="fr-CA" sz="2400" i="0" dirty="0">
                <a:solidFill>
                  <a:srgbClr val="FF0000"/>
                </a:solidFill>
                <a:effectLst/>
                <a:latin typeface="Gotham A"/>
              </a:rPr>
              <a:t>juste valeur diminuée</a:t>
            </a:r>
            <a:r>
              <a:rPr lang="fr-CA" sz="2400" i="0" dirty="0">
                <a:solidFill>
                  <a:srgbClr val="444444"/>
                </a:solidFill>
                <a:effectLst/>
                <a:latin typeface="Gotham A"/>
              </a:rPr>
              <a:t> des </a:t>
            </a:r>
            <a:r>
              <a:rPr lang="fr-CA" sz="2400" i="0" dirty="0">
                <a:solidFill>
                  <a:srgbClr val="FF0000"/>
                </a:solidFill>
                <a:effectLst/>
                <a:latin typeface="Gotham A"/>
              </a:rPr>
              <a:t>coûts de la vente </a:t>
            </a:r>
            <a:r>
              <a:rPr lang="fr-CA" sz="2400" i="0" dirty="0">
                <a:solidFill>
                  <a:srgbClr val="444444"/>
                </a:solidFill>
                <a:effectLst/>
                <a:latin typeface="Gotham A"/>
              </a:rPr>
              <a:t>et d'une variation de la juste valeur diminuée des coûts de la vente d'un actif biologique devra être inclus dans le </a:t>
            </a:r>
            <a:r>
              <a:rPr lang="fr-CA" sz="2400" i="0" u="sng" dirty="0">
                <a:solidFill>
                  <a:srgbClr val="444444"/>
                </a:solidFill>
                <a:effectLst/>
                <a:highlight>
                  <a:srgbClr val="FFFF00"/>
                </a:highlight>
                <a:latin typeface="Gotham A"/>
              </a:rPr>
              <a:t>résultat net</a:t>
            </a:r>
            <a:r>
              <a:rPr lang="fr-CA" sz="2400" i="0" dirty="0">
                <a:solidFill>
                  <a:srgbClr val="444444"/>
                </a:solidFill>
                <a:effectLst/>
                <a:highlight>
                  <a:srgbClr val="FFFF00"/>
                </a:highlight>
                <a:latin typeface="Gotham A"/>
              </a:rPr>
              <a:t> </a:t>
            </a:r>
            <a:r>
              <a:rPr lang="fr-CA" sz="2400" i="0" dirty="0">
                <a:solidFill>
                  <a:srgbClr val="444444"/>
                </a:solidFill>
                <a:effectLst/>
                <a:latin typeface="Gotham A"/>
              </a:rPr>
              <a:t>de la période pendant laquelle il se produit.</a:t>
            </a:r>
          </a:p>
          <a:p>
            <a:pPr lvl="1">
              <a:buFont typeface="Wingdings" panose="05000000000000000000" pitchFamily="2" charset="2"/>
              <a:buChar char="Ø"/>
            </a:pPr>
            <a:r>
              <a:rPr lang="fr-CA" sz="2000" i="1" dirty="0">
                <a:solidFill>
                  <a:srgbClr val="444444"/>
                </a:solidFill>
                <a:effectLst/>
                <a:latin typeface="Gotham A"/>
              </a:rPr>
              <a:t>Mesure au coût si la juste valeur n’est pas disponible, revenir à la norme quand juste valeur est disponible (ce </a:t>
            </a:r>
            <a:r>
              <a:rPr lang="fr-CA" sz="2000" i="1" dirty="0">
                <a:solidFill>
                  <a:srgbClr val="444444"/>
                </a:solidFill>
                <a:effectLst/>
                <a:highlight>
                  <a:srgbClr val="FFFF00"/>
                </a:highlight>
                <a:latin typeface="Gotham A"/>
              </a:rPr>
              <a:t>n’est pas un choix </a:t>
            </a:r>
            <a:r>
              <a:rPr lang="fr-CA" sz="2000" i="1" dirty="0">
                <a:solidFill>
                  <a:srgbClr val="444444"/>
                </a:solidFill>
                <a:effectLst/>
                <a:latin typeface="Gotham A"/>
              </a:rPr>
              <a:t>de méthode comptable)</a:t>
            </a:r>
          </a:p>
          <a:p>
            <a:pPr marL="0" indent="0" algn="l">
              <a:buNone/>
            </a:pPr>
            <a:endParaRPr lang="fr-CA" sz="2400" i="0" dirty="0">
              <a:solidFill>
                <a:srgbClr val="444444"/>
              </a:solidFill>
              <a:effectLst/>
              <a:latin typeface="Gotham A"/>
            </a:endParaRPr>
          </a:p>
          <a:p>
            <a:pPr marL="0" indent="0" algn="l">
              <a:buNone/>
            </a:pPr>
            <a:r>
              <a:rPr lang="fr-CA" sz="2400" i="0" dirty="0">
                <a:solidFill>
                  <a:srgbClr val="444444"/>
                </a:solidFill>
                <a:effectLst/>
                <a:latin typeface="Gotham A"/>
              </a:rPr>
              <a:t>28     Un profit ou une perte résultant de la comptabilisation initiale d'un </a:t>
            </a:r>
            <a:r>
              <a:rPr lang="fr-CA" sz="2400" i="0" dirty="0">
                <a:solidFill>
                  <a:srgbClr val="00B0F0"/>
                </a:solidFill>
                <a:effectLst/>
                <a:latin typeface="Gotham A"/>
              </a:rPr>
              <a:t>produit agricole</a:t>
            </a:r>
            <a:r>
              <a:rPr lang="fr-CA" sz="2400" i="0" dirty="0">
                <a:solidFill>
                  <a:srgbClr val="444444"/>
                </a:solidFill>
                <a:effectLst/>
                <a:latin typeface="Gotham A"/>
              </a:rPr>
              <a:t> à la juste valeur diminuée des coûts de la vente doit être inclus dans le </a:t>
            </a:r>
            <a:r>
              <a:rPr lang="fr-CA" sz="2400" i="0" u="sng" dirty="0">
                <a:solidFill>
                  <a:srgbClr val="444444"/>
                </a:solidFill>
                <a:effectLst/>
                <a:latin typeface="Gotham A"/>
              </a:rPr>
              <a:t>résultat net</a:t>
            </a:r>
            <a:r>
              <a:rPr lang="fr-CA" sz="2400" i="0" dirty="0">
                <a:solidFill>
                  <a:srgbClr val="444444"/>
                </a:solidFill>
                <a:effectLst/>
                <a:latin typeface="Gotham A"/>
              </a:rPr>
              <a:t> de l'exercice au cours duquel il se produit.</a:t>
            </a:r>
          </a:p>
          <a:p>
            <a:pPr lvl="1">
              <a:buFont typeface="Wingdings" panose="05000000000000000000" pitchFamily="2" charset="2"/>
              <a:buChar char="Ø"/>
            </a:pPr>
            <a:r>
              <a:rPr lang="fr-CA" i="1" dirty="0">
                <a:solidFill>
                  <a:srgbClr val="00B0F0"/>
                </a:solidFill>
                <a:latin typeface="Gotham A"/>
              </a:rPr>
              <a:t>Variation de valeur au résultat net</a:t>
            </a:r>
          </a:p>
          <a:p>
            <a:pPr lvl="1">
              <a:buFont typeface="Wingdings" panose="05000000000000000000" pitchFamily="2" charset="2"/>
              <a:buChar char="Ø"/>
            </a:pPr>
            <a:endParaRPr lang="fr-CA" i="1" dirty="0">
              <a:solidFill>
                <a:srgbClr val="00B0F0"/>
              </a:solidFill>
              <a:latin typeface="Gotham A"/>
            </a:endParaRPr>
          </a:p>
          <a:p>
            <a:pPr marL="457200" lvl="1" indent="0">
              <a:buNone/>
            </a:pPr>
            <a:endParaRPr lang="fr-FR" i="1" dirty="0"/>
          </a:p>
        </p:txBody>
      </p:sp>
      <p:sp>
        <p:nvSpPr>
          <p:cNvPr id="4" name="Espace réservé du pied de page 3">
            <a:extLst>
              <a:ext uri="{FF2B5EF4-FFF2-40B4-BE49-F238E27FC236}">
                <a16:creationId xmlns:a16="http://schemas.microsoft.com/office/drawing/2014/main" id="{F872C7E2-BB96-FDA9-8F90-F9F52CB79C9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1FF80841-27EB-F6B1-3765-066313C0182D}"/>
              </a:ext>
            </a:extLst>
          </p:cNvPr>
          <p:cNvSpPr>
            <a:spLocks noGrp="1"/>
          </p:cNvSpPr>
          <p:nvPr>
            <p:ph type="sldNum" sz="quarter" idx="12"/>
          </p:nvPr>
        </p:nvSpPr>
        <p:spPr/>
        <p:txBody>
          <a:bodyPr/>
          <a:lstStyle/>
          <a:p>
            <a:fld id="{23073BCF-F77B-4559-9AE5-DE4418D93C7B}" type="slidenum">
              <a:rPr lang="fr-FR" smtClean="0"/>
              <a:t>8</a:t>
            </a:fld>
            <a:endParaRPr lang="fr-FR"/>
          </a:p>
        </p:txBody>
      </p:sp>
    </p:spTree>
    <p:extLst>
      <p:ext uri="{BB962C8B-B14F-4D97-AF65-F5344CB8AC3E}">
        <p14:creationId xmlns:p14="http://schemas.microsoft.com/office/powerpoint/2010/main" val="860539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A13A0F-1D60-1109-65FD-6826A256D49D}"/>
              </a:ext>
            </a:extLst>
          </p:cNvPr>
          <p:cNvSpPr>
            <a:spLocks noGrp="1"/>
          </p:cNvSpPr>
          <p:nvPr>
            <p:ph type="title"/>
          </p:nvPr>
        </p:nvSpPr>
        <p:spPr/>
        <p:txBody>
          <a:bodyPr/>
          <a:lstStyle/>
          <a:p>
            <a:r>
              <a:rPr lang="fr-CA" dirty="0"/>
              <a:t>Mesure – initiale et subséquente</a:t>
            </a:r>
            <a:endParaRPr lang="fr-FR" dirty="0"/>
          </a:p>
        </p:txBody>
      </p:sp>
      <p:sp>
        <p:nvSpPr>
          <p:cNvPr id="3" name="Espace réservé du contenu 2">
            <a:extLst>
              <a:ext uri="{FF2B5EF4-FFF2-40B4-BE49-F238E27FC236}">
                <a16:creationId xmlns:a16="http://schemas.microsoft.com/office/drawing/2014/main" id="{19108925-63FC-A6EB-250E-17E5C962ED86}"/>
              </a:ext>
            </a:extLst>
          </p:cNvPr>
          <p:cNvSpPr>
            <a:spLocks noGrp="1"/>
          </p:cNvSpPr>
          <p:nvPr>
            <p:ph idx="1"/>
          </p:nvPr>
        </p:nvSpPr>
        <p:spPr>
          <a:xfrm>
            <a:off x="838200" y="1584960"/>
            <a:ext cx="10515600" cy="4771389"/>
          </a:xfrm>
        </p:spPr>
        <p:txBody>
          <a:bodyPr>
            <a:normAutofit/>
          </a:bodyPr>
          <a:lstStyle/>
          <a:p>
            <a:pPr marL="0" lvl="1" indent="0">
              <a:buNone/>
            </a:pPr>
            <a:r>
              <a:rPr lang="fr-CA" dirty="0">
                <a:solidFill>
                  <a:srgbClr val="00B0F0"/>
                </a:solidFill>
                <a:latin typeface="Gotham A"/>
              </a:rPr>
              <a:t>Comptabilisation initiale</a:t>
            </a:r>
          </a:p>
          <a:p>
            <a:pPr marL="0" lvl="1" indent="0">
              <a:buNone/>
            </a:pPr>
            <a:r>
              <a:rPr lang="fr-CA" dirty="0">
                <a:latin typeface="Gotham A"/>
              </a:rPr>
              <a:t>Actif biologique</a:t>
            </a:r>
          </a:p>
          <a:p>
            <a:pPr marL="0" lvl="1" indent="0">
              <a:buNone/>
            </a:pPr>
            <a:r>
              <a:rPr lang="fr-CA" dirty="0">
                <a:latin typeface="Gotham A"/>
              </a:rPr>
              <a:t>@ Trésorerie / Gain au résultat net </a:t>
            </a:r>
          </a:p>
          <a:p>
            <a:pPr marL="0" lvl="1" indent="0">
              <a:buNone/>
            </a:pPr>
            <a:endParaRPr lang="fr-CA" dirty="0">
              <a:latin typeface="Gotham A"/>
            </a:endParaRPr>
          </a:p>
          <a:p>
            <a:pPr marL="0" lvl="1" indent="0">
              <a:buNone/>
            </a:pPr>
            <a:r>
              <a:rPr lang="fr-CA" dirty="0">
                <a:solidFill>
                  <a:srgbClr val="00B0F0"/>
                </a:solidFill>
                <a:latin typeface="Gotham A"/>
              </a:rPr>
              <a:t>Lors de la récolte</a:t>
            </a:r>
          </a:p>
          <a:p>
            <a:pPr marL="0" lvl="1" indent="0">
              <a:buNone/>
            </a:pPr>
            <a:r>
              <a:rPr lang="fr-CA" dirty="0">
                <a:latin typeface="Gotham A"/>
              </a:rPr>
              <a:t>Produit agricole (JV-cout de sortie) </a:t>
            </a:r>
          </a:p>
          <a:p>
            <a:pPr marL="0" lvl="1" indent="0">
              <a:buNone/>
            </a:pPr>
            <a:r>
              <a:rPr lang="fr-CA" dirty="0">
                <a:highlight>
                  <a:srgbClr val="FFFF00"/>
                </a:highlight>
                <a:latin typeface="Gotham A"/>
              </a:rPr>
              <a:t>                                                           @ Actif biologique (JV-cout de sortie)</a:t>
            </a:r>
          </a:p>
          <a:p>
            <a:pPr marL="0" lvl="1" indent="0">
              <a:buNone/>
            </a:pPr>
            <a:r>
              <a:rPr lang="fr-CA" dirty="0">
                <a:latin typeface="Gotham A"/>
              </a:rPr>
              <a:t>                                                            Gain au résultat ne</a:t>
            </a:r>
          </a:p>
          <a:p>
            <a:pPr marL="0" lvl="1" indent="0">
              <a:buNone/>
            </a:pPr>
            <a:endParaRPr lang="fr-CA" dirty="0">
              <a:latin typeface="Gotham A"/>
            </a:endParaRPr>
          </a:p>
          <a:p>
            <a:pPr marL="0" lvl="1" indent="0">
              <a:buNone/>
            </a:pPr>
            <a:r>
              <a:rPr lang="fr-CA" dirty="0">
                <a:solidFill>
                  <a:srgbClr val="00B0F0"/>
                </a:solidFill>
                <a:latin typeface="Gotham A"/>
              </a:rPr>
              <a:t>Tout de suite après la récolte – transfert à IAS 2</a:t>
            </a:r>
          </a:p>
          <a:p>
            <a:pPr marL="0" lvl="1" indent="0">
              <a:buNone/>
            </a:pPr>
            <a:r>
              <a:rPr lang="fr-CA" dirty="0">
                <a:latin typeface="Gotham A"/>
              </a:rPr>
              <a:t>Stocks</a:t>
            </a:r>
          </a:p>
          <a:p>
            <a:pPr marL="0" lvl="1" indent="0">
              <a:buNone/>
            </a:pPr>
            <a:r>
              <a:rPr lang="fr-CA" dirty="0">
                <a:latin typeface="Gotham A"/>
              </a:rPr>
              <a:t>@ Produit agricole</a:t>
            </a:r>
          </a:p>
          <a:p>
            <a:pPr marL="0" lvl="1" indent="0">
              <a:buNone/>
            </a:pPr>
            <a:endParaRPr lang="fr-CA" i="1" dirty="0">
              <a:solidFill>
                <a:srgbClr val="00B0F0"/>
              </a:solidFill>
              <a:latin typeface="Gotham A"/>
            </a:endParaRPr>
          </a:p>
          <a:p>
            <a:pPr marL="457200" lvl="1" indent="0">
              <a:buNone/>
            </a:pPr>
            <a:endParaRPr lang="fr-FR" i="1" dirty="0"/>
          </a:p>
        </p:txBody>
      </p:sp>
      <p:sp>
        <p:nvSpPr>
          <p:cNvPr id="4" name="Espace réservé du pied de page 3">
            <a:extLst>
              <a:ext uri="{FF2B5EF4-FFF2-40B4-BE49-F238E27FC236}">
                <a16:creationId xmlns:a16="http://schemas.microsoft.com/office/drawing/2014/main" id="{F872C7E2-BB96-FDA9-8F90-F9F52CB79C9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1FF80841-27EB-F6B1-3765-066313C0182D}"/>
              </a:ext>
            </a:extLst>
          </p:cNvPr>
          <p:cNvSpPr>
            <a:spLocks noGrp="1"/>
          </p:cNvSpPr>
          <p:nvPr>
            <p:ph type="sldNum" sz="quarter" idx="12"/>
          </p:nvPr>
        </p:nvSpPr>
        <p:spPr/>
        <p:txBody>
          <a:bodyPr/>
          <a:lstStyle/>
          <a:p>
            <a:fld id="{23073BCF-F77B-4559-9AE5-DE4418D93C7B}" type="slidenum">
              <a:rPr lang="fr-FR" smtClean="0"/>
              <a:t>9</a:t>
            </a:fld>
            <a:endParaRPr lang="fr-FR"/>
          </a:p>
        </p:txBody>
      </p:sp>
    </p:spTree>
    <p:extLst>
      <p:ext uri="{BB962C8B-B14F-4D97-AF65-F5344CB8AC3E}">
        <p14:creationId xmlns:p14="http://schemas.microsoft.com/office/powerpoint/2010/main" val="3642484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57212E-75D7-5EF1-15F4-A6E115ECAD02}"/>
              </a:ext>
            </a:extLst>
          </p:cNvPr>
          <p:cNvSpPr>
            <a:spLocks noGrp="1"/>
          </p:cNvSpPr>
          <p:nvPr>
            <p:ph type="title"/>
          </p:nvPr>
        </p:nvSpPr>
        <p:spPr/>
        <p:txBody>
          <a:bodyPr/>
          <a:lstStyle/>
          <a:p>
            <a:r>
              <a:rPr lang="fr-CA" dirty="0"/>
              <a:t>Subventions publiques</a:t>
            </a:r>
            <a:endParaRPr lang="fr-FR" dirty="0"/>
          </a:p>
        </p:txBody>
      </p:sp>
      <p:sp>
        <p:nvSpPr>
          <p:cNvPr id="3" name="Espace réservé du contenu 2">
            <a:extLst>
              <a:ext uri="{FF2B5EF4-FFF2-40B4-BE49-F238E27FC236}">
                <a16:creationId xmlns:a16="http://schemas.microsoft.com/office/drawing/2014/main" id="{BE5692F4-F1A1-D7D9-6286-5F3A8B488F2B}"/>
              </a:ext>
            </a:extLst>
          </p:cNvPr>
          <p:cNvSpPr>
            <a:spLocks noGrp="1"/>
          </p:cNvSpPr>
          <p:nvPr>
            <p:ph idx="1"/>
          </p:nvPr>
        </p:nvSpPr>
        <p:spPr>
          <a:xfrm>
            <a:off x="838200" y="1825625"/>
            <a:ext cx="10515600" cy="4667250"/>
          </a:xfrm>
        </p:spPr>
        <p:txBody>
          <a:bodyPr>
            <a:normAutofit lnSpcReduction="10000"/>
          </a:bodyPr>
          <a:lstStyle/>
          <a:p>
            <a:pPr marL="0" indent="0" algn="l">
              <a:buNone/>
            </a:pPr>
            <a:r>
              <a:rPr lang="fr-CA" sz="2400" i="0" dirty="0">
                <a:solidFill>
                  <a:srgbClr val="444444"/>
                </a:solidFill>
                <a:effectLst/>
                <a:latin typeface="Gotham A"/>
              </a:rPr>
              <a:t>34     Une subvention publique </a:t>
            </a:r>
            <a:r>
              <a:rPr lang="fr-CA" sz="2400" i="0" dirty="0">
                <a:solidFill>
                  <a:srgbClr val="00B0F0"/>
                </a:solidFill>
                <a:effectLst/>
                <a:latin typeface="Gotham A"/>
              </a:rPr>
              <a:t>sans conditions </a:t>
            </a:r>
            <a:r>
              <a:rPr lang="fr-CA" sz="2400" i="0" dirty="0">
                <a:solidFill>
                  <a:srgbClr val="444444"/>
                </a:solidFill>
                <a:effectLst/>
                <a:latin typeface="Gotham A"/>
              </a:rPr>
              <a:t>concernant un actif biologique </a:t>
            </a:r>
            <a:r>
              <a:rPr lang="fr-CA" sz="2400" i="0" u="sng" dirty="0">
                <a:solidFill>
                  <a:srgbClr val="444444"/>
                </a:solidFill>
                <a:effectLst/>
                <a:latin typeface="Gotham A"/>
              </a:rPr>
              <a:t>évalué à sa juste valeur diminuée des coûts de la vente </a:t>
            </a:r>
            <a:r>
              <a:rPr lang="fr-CA" sz="2400" i="0" dirty="0">
                <a:solidFill>
                  <a:srgbClr val="444444"/>
                </a:solidFill>
                <a:effectLst/>
                <a:latin typeface="Gotham A"/>
              </a:rPr>
              <a:t>doit être comptabilisée </a:t>
            </a:r>
            <a:r>
              <a:rPr lang="fr-CA" sz="2400" i="0" dirty="0">
                <a:solidFill>
                  <a:srgbClr val="00B0F0"/>
                </a:solidFill>
                <a:effectLst/>
                <a:latin typeface="Gotham A"/>
              </a:rPr>
              <a:t>en résultat net lorsque, et seulement lorsque, la subvention publique devient une créance acquise.</a:t>
            </a:r>
          </a:p>
          <a:p>
            <a:pPr marL="0" indent="0" algn="l">
              <a:buNone/>
            </a:pPr>
            <a:r>
              <a:rPr lang="fr-CA" sz="2400" i="0" dirty="0">
                <a:solidFill>
                  <a:srgbClr val="444444"/>
                </a:solidFill>
                <a:effectLst/>
                <a:latin typeface="Gotham A"/>
              </a:rPr>
              <a:t>35     Si une subvention publique concernant un actif biologique, </a:t>
            </a:r>
            <a:r>
              <a:rPr lang="fr-CA" sz="2400" i="0" u="sng" dirty="0">
                <a:solidFill>
                  <a:srgbClr val="444444"/>
                </a:solidFill>
                <a:effectLst/>
                <a:latin typeface="Gotham A"/>
              </a:rPr>
              <a:t>évalué à sa juste valeur diminuée des coûts de la vente</a:t>
            </a:r>
            <a:r>
              <a:rPr lang="fr-CA" sz="2400" i="0" dirty="0">
                <a:solidFill>
                  <a:srgbClr val="444444"/>
                </a:solidFill>
                <a:effectLst/>
                <a:latin typeface="Gotham A"/>
              </a:rPr>
              <a:t>, est soumise à </a:t>
            </a:r>
            <a:r>
              <a:rPr lang="fr-CA" sz="2400" i="0" dirty="0">
                <a:solidFill>
                  <a:srgbClr val="00B0F0"/>
                </a:solidFill>
                <a:effectLst/>
                <a:latin typeface="Gotham A"/>
              </a:rPr>
              <a:t>condition</a:t>
            </a:r>
            <a:r>
              <a:rPr lang="fr-CA" sz="2400" i="0" dirty="0">
                <a:solidFill>
                  <a:srgbClr val="444444"/>
                </a:solidFill>
                <a:effectLst/>
                <a:latin typeface="Gotham A"/>
              </a:rPr>
              <a:t>, y compris lorsque la subvention publique impose à l'entité de ne pas s'engager dans des activités agricoles spécifiées, l'entité doit comptabiliser la subvention publique </a:t>
            </a:r>
            <a:r>
              <a:rPr lang="fr-CA" sz="2400" i="0" dirty="0">
                <a:solidFill>
                  <a:srgbClr val="00B0F0"/>
                </a:solidFill>
                <a:effectLst/>
                <a:latin typeface="Gotham A"/>
              </a:rPr>
              <a:t>en résultat net lorsque, et uniquement lorsque, les conditions liées à la subvention publique sont remplies.</a:t>
            </a:r>
          </a:p>
          <a:p>
            <a:pPr marL="0" indent="0" algn="l">
              <a:buNone/>
            </a:pPr>
            <a:endParaRPr lang="fr-CA" sz="1800" dirty="0">
              <a:solidFill>
                <a:srgbClr val="00B0F0"/>
              </a:solidFill>
              <a:latin typeface="Gotham A"/>
            </a:endParaRPr>
          </a:p>
          <a:p>
            <a:pPr marL="0" indent="0" algn="l">
              <a:buNone/>
            </a:pPr>
            <a:r>
              <a:rPr lang="fr-CA" sz="2400" b="0" i="0" dirty="0">
                <a:solidFill>
                  <a:srgbClr val="444444"/>
                </a:solidFill>
                <a:effectLst/>
                <a:latin typeface="Gotham A"/>
              </a:rPr>
              <a:t>37     Si une subvention publique est liée à un actif biologique </a:t>
            </a:r>
            <a:r>
              <a:rPr lang="fr-CA" sz="2400" b="0" i="0" u="sng" dirty="0">
                <a:solidFill>
                  <a:srgbClr val="444444"/>
                </a:solidFill>
                <a:effectLst/>
                <a:latin typeface="Gotham A"/>
              </a:rPr>
              <a:t>évalué à son coût </a:t>
            </a:r>
            <a:r>
              <a:rPr lang="fr-CA" sz="2400" b="0" i="0" dirty="0">
                <a:solidFill>
                  <a:srgbClr val="444444"/>
                </a:solidFill>
                <a:effectLst/>
                <a:latin typeface="Gotham A"/>
              </a:rPr>
              <a:t>diminué du cumul des amortissements et du cumul des pertes de valeur (voir paragraphe </a:t>
            </a:r>
            <a:r>
              <a:rPr lang="fr-CA" sz="2400" b="0" i="0" u="none" strike="noStrike" dirty="0">
                <a:solidFill>
                  <a:srgbClr val="006FBA"/>
                </a:solidFill>
                <a:effectLst/>
                <a:latin typeface="Gotham A"/>
                <a:hlinkClick r:id="rId3"/>
              </a:rPr>
              <a:t>30</a:t>
            </a:r>
            <a:r>
              <a:rPr lang="fr-CA" sz="2400" b="0" i="0" dirty="0">
                <a:solidFill>
                  <a:srgbClr val="444444"/>
                </a:solidFill>
                <a:effectLst/>
                <a:latin typeface="Gotham A"/>
              </a:rPr>
              <a:t>), on applique </a:t>
            </a:r>
            <a:r>
              <a:rPr lang="fr-CA" sz="2400" b="0" i="0" u="none" strike="noStrike" dirty="0">
                <a:solidFill>
                  <a:srgbClr val="006FBA"/>
                </a:solidFill>
                <a:effectLst/>
                <a:latin typeface="Gotham A"/>
              </a:rPr>
              <a:t>IAS 20</a:t>
            </a:r>
            <a:r>
              <a:rPr lang="fr-CA" sz="2400" b="0" i="0" dirty="0">
                <a:solidFill>
                  <a:srgbClr val="444444"/>
                </a:solidFill>
                <a:effectLst/>
                <a:latin typeface="Gotham A"/>
              </a:rPr>
              <a:t>.</a:t>
            </a:r>
            <a:endParaRPr lang="fr-CA" sz="2400" i="0" dirty="0">
              <a:solidFill>
                <a:srgbClr val="00B0F0"/>
              </a:solidFill>
              <a:effectLst/>
              <a:latin typeface="Gotham A"/>
            </a:endParaRPr>
          </a:p>
        </p:txBody>
      </p:sp>
      <p:sp>
        <p:nvSpPr>
          <p:cNvPr id="4" name="Espace réservé du pied de page 3">
            <a:extLst>
              <a:ext uri="{FF2B5EF4-FFF2-40B4-BE49-F238E27FC236}">
                <a16:creationId xmlns:a16="http://schemas.microsoft.com/office/drawing/2014/main" id="{1450B54D-057A-CD0F-4A77-BFB6069D561E}"/>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3302B77-E192-129A-AEE6-4FE1D7C45DEB}"/>
              </a:ext>
            </a:extLst>
          </p:cNvPr>
          <p:cNvSpPr>
            <a:spLocks noGrp="1"/>
          </p:cNvSpPr>
          <p:nvPr>
            <p:ph type="sldNum" sz="quarter" idx="12"/>
          </p:nvPr>
        </p:nvSpPr>
        <p:spPr/>
        <p:txBody>
          <a:bodyPr/>
          <a:lstStyle/>
          <a:p>
            <a:fld id="{23073BCF-F77B-4559-9AE5-DE4418D93C7B}" type="slidenum">
              <a:rPr lang="fr-FR" smtClean="0"/>
              <a:t>10</a:t>
            </a:fld>
            <a:endParaRPr lang="fr-FR"/>
          </a:p>
        </p:txBody>
      </p:sp>
    </p:spTree>
    <p:extLst>
      <p:ext uri="{BB962C8B-B14F-4D97-AF65-F5344CB8AC3E}">
        <p14:creationId xmlns:p14="http://schemas.microsoft.com/office/powerpoint/2010/main" val="10091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26A492-9EC4-221C-5255-888FD7EC40E7}"/>
              </a:ext>
            </a:extLst>
          </p:cNvPr>
          <p:cNvSpPr>
            <a:spLocks noGrp="1"/>
          </p:cNvSpPr>
          <p:nvPr>
            <p:ph type="title"/>
          </p:nvPr>
        </p:nvSpPr>
        <p:spPr/>
        <p:txBody>
          <a:bodyPr/>
          <a:lstStyle/>
          <a:p>
            <a:r>
              <a:rPr lang="fr-CA" dirty="0"/>
              <a:t>Chap. 3041  Agriculture</a:t>
            </a:r>
            <a:endParaRPr lang="fr-FR" dirty="0"/>
          </a:p>
        </p:txBody>
      </p:sp>
      <p:sp>
        <p:nvSpPr>
          <p:cNvPr id="3" name="Espace réservé du contenu 2">
            <a:extLst>
              <a:ext uri="{FF2B5EF4-FFF2-40B4-BE49-F238E27FC236}">
                <a16:creationId xmlns:a16="http://schemas.microsoft.com/office/drawing/2014/main" id="{B862E1F1-B9D3-00A9-2052-F83338233A7D}"/>
              </a:ext>
            </a:extLst>
          </p:cNvPr>
          <p:cNvSpPr>
            <a:spLocks noGrp="1"/>
          </p:cNvSpPr>
          <p:nvPr>
            <p:ph idx="1"/>
          </p:nvPr>
        </p:nvSpPr>
        <p:spPr/>
        <p:txBody>
          <a:bodyPr/>
          <a:lstStyle/>
          <a:p>
            <a:pPr marL="0" indent="0">
              <a:buNone/>
            </a:pPr>
            <a:r>
              <a:rPr lang="fr-FR" altLang="fr-FR" sz="2800" dirty="0">
                <a:latin typeface="Arial" panose="020B0604020202020204" pitchFamily="34" charset="0"/>
              </a:rPr>
              <a:t>.01     Le présent chapitre établit des normes de </a:t>
            </a:r>
            <a:r>
              <a:rPr lang="fr-FR" altLang="fr-FR" sz="2800" dirty="0">
                <a:highlight>
                  <a:srgbClr val="FFFF00"/>
                </a:highlight>
                <a:latin typeface="Arial" panose="020B0604020202020204" pitchFamily="34" charset="0"/>
              </a:rPr>
              <a:t>comptabilisation</a:t>
            </a:r>
            <a:r>
              <a:rPr lang="fr-FR" altLang="fr-FR" sz="2800" dirty="0">
                <a:latin typeface="Arial" panose="020B0604020202020204" pitchFamily="34" charset="0"/>
              </a:rPr>
              <a:t>, </a:t>
            </a:r>
            <a:r>
              <a:rPr lang="fr-FR" altLang="fr-FR" sz="2800" dirty="0">
                <a:highlight>
                  <a:srgbClr val="FFFF00"/>
                </a:highlight>
                <a:latin typeface="Arial" panose="020B0604020202020204" pitchFamily="34" charset="0"/>
              </a:rPr>
              <a:t>d'évaluation</a:t>
            </a:r>
            <a:r>
              <a:rPr lang="fr-FR" altLang="fr-FR" sz="2800" dirty="0">
                <a:latin typeface="Arial" panose="020B0604020202020204" pitchFamily="34" charset="0"/>
              </a:rPr>
              <a:t>, de </a:t>
            </a:r>
            <a:r>
              <a:rPr lang="fr-FR" altLang="fr-FR" sz="2800" dirty="0">
                <a:highlight>
                  <a:srgbClr val="FFFF00"/>
                </a:highlight>
                <a:latin typeface="Arial" panose="020B0604020202020204" pitchFamily="34" charset="0"/>
              </a:rPr>
              <a:t>présentation</a:t>
            </a:r>
            <a:r>
              <a:rPr lang="fr-FR" altLang="fr-FR" sz="2800" dirty="0">
                <a:latin typeface="Arial" panose="020B0604020202020204" pitchFamily="34" charset="0"/>
              </a:rPr>
              <a:t> et d'information concernant les </a:t>
            </a:r>
            <a:r>
              <a:rPr lang="fr-FR" altLang="fr-FR" sz="2800" b="1" dirty="0">
                <a:solidFill>
                  <a:srgbClr val="0070C0"/>
                </a:solidFill>
                <a:latin typeface="Arial" panose="020B0604020202020204" pitchFamily="34" charset="0"/>
              </a:rPr>
              <a:t>stocks agricoles </a:t>
            </a:r>
            <a:r>
              <a:rPr lang="fr-FR" altLang="fr-FR" sz="2800" dirty="0">
                <a:latin typeface="Arial" panose="020B0604020202020204" pitchFamily="34" charset="0"/>
              </a:rPr>
              <a:t>et les </a:t>
            </a:r>
            <a:r>
              <a:rPr lang="fr-FR" altLang="fr-FR" sz="2800" b="1" dirty="0">
                <a:solidFill>
                  <a:srgbClr val="0070C0"/>
                </a:solidFill>
                <a:latin typeface="Arial" panose="020B0604020202020204" pitchFamily="34" charset="0"/>
              </a:rPr>
              <a:t>actifs biologiques producteurs</a:t>
            </a:r>
            <a:r>
              <a:rPr lang="fr-FR" altLang="fr-FR" sz="2800" dirty="0">
                <a:latin typeface="Arial" panose="020B0604020202020204" pitchFamily="34" charset="0"/>
              </a:rPr>
              <a:t> des producteurs agricoles.</a:t>
            </a:r>
          </a:p>
          <a:p>
            <a:endParaRPr lang="fr-FR" dirty="0"/>
          </a:p>
        </p:txBody>
      </p:sp>
      <p:sp>
        <p:nvSpPr>
          <p:cNvPr id="4" name="Espace réservé du pied de page 3">
            <a:extLst>
              <a:ext uri="{FF2B5EF4-FFF2-40B4-BE49-F238E27FC236}">
                <a16:creationId xmlns:a16="http://schemas.microsoft.com/office/drawing/2014/main" id="{306C8E73-8F5F-41DD-8724-FD4729983A17}"/>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5BE57951-3552-A056-3E0D-E62CB690D90D}"/>
              </a:ext>
            </a:extLst>
          </p:cNvPr>
          <p:cNvSpPr>
            <a:spLocks noGrp="1"/>
          </p:cNvSpPr>
          <p:nvPr>
            <p:ph type="sldNum" sz="quarter" idx="12"/>
          </p:nvPr>
        </p:nvSpPr>
        <p:spPr/>
        <p:txBody>
          <a:bodyPr/>
          <a:lstStyle/>
          <a:p>
            <a:fld id="{23073BCF-F77B-4559-9AE5-DE4418D93C7B}" type="slidenum">
              <a:rPr lang="fr-FR" smtClean="0"/>
              <a:t>11</a:t>
            </a:fld>
            <a:endParaRPr lang="fr-FR"/>
          </a:p>
        </p:txBody>
      </p:sp>
    </p:spTree>
    <p:extLst>
      <p:ext uri="{BB962C8B-B14F-4D97-AF65-F5344CB8AC3E}">
        <p14:creationId xmlns:p14="http://schemas.microsoft.com/office/powerpoint/2010/main" val="250768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D47F15-BC39-40A9-A7BB-7CC9FFB7C1DA}"/>
              </a:ext>
            </a:extLst>
          </p:cNvPr>
          <p:cNvSpPr>
            <a:spLocks noGrp="1"/>
          </p:cNvSpPr>
          <p:nvPr>
            <p:ph type="title"/>
          </p:nvPr>
        </p:nvSpPr>
        <p:spPr/>
        <p:txBody>
          <a:bodyPr/>
          <a:lstStyle/>
          <a:p>
            <a:r>
              <a:rPr lang="fr-FR" altLang="fr-FR" sz="3600" dirty="0">
                <a:latin typeface="Arial" panose="020B0604020202020204" pitchFamily="34" charset="0"/>
              </a:rPr>
              <a:t>OBJET ET CHAMP D'APPLICATION</a:t>
            </a:r>
            <a:endParaRPr lang="fr-FR" dirty="0"/>
          </a:p>
        </p:txBody>
      </p:sp>
      <p:sp>
        <p:nvSpPr>
          <p:cNvPr id="3" name="Espace réservé du contenu 2">
            <a:extLst>
              <a:ext uri="{FF2B5EF4-FFF2-40B4-BE49-F238E27FC236}">
                <a16:creationId xmlns:a16="http://schemas.microsoft.com/office/drawing/2014/main" id="{103F9174-94C2-43AF-B8CC-31F3BB8F15DC}"/>
              </a:ext>
            </a:extLst>
          </p:cNvPr>
          <p:cNvSpPr>
            <a:spLocks noGrp="1"/>
          </p:cNvSpPr>
          <p:nvPr>
            <p:ph idx="1"/>
          </p:nvPr>
        </p:nvSpPr>
        <p:spPr>
          <a:xfrm>
            <a:off x="838200" y="1690689"/>
            <a:ext cx="10515600" cy="4665662"/>
          </a:xfrm>
        </p:spPr>
        <p:txBody>
          <a:bodyPr>
            <a:normAutofit fontScale="62500" lnSpcReduction="20000"/>
          </a:bodyPr>
          <a:lstStyle/>
          <a:p>
            <a:pPr marL="0" lvl="0" indent="0" eaLnBrk="0" fontAlgn="base" hangingPunct="0">
              <a:lnSpc>
                <a:spcPct val="170000"/>
              </a:lnSpc>
              <a:spcBef>
                <a:spcPct val="0"/>
              </a:spcBef>
              <a:spcAft>
                <a:spcPct val="0"/>
              </a:spcAft>
              <a:buNone/>
            </a:pPr>
            <a:r>
              <a:rPr lang="fr-FR" altLang="fr-FR" sz="3800" dirty="0">
                <a:solidFill>
                  <a:srgbClr val="0070C0"/>
                </a:solidFill>
                <a:latin typeface="Arial" panose="020B0604020202020204" pitchFamily="34" charset="0"/>
              </a:rPr>
              <a:t>Norme pour le secteur agricole : </a:t>
            </a:r>
          </a:p>
          <a:p>
            <a:pPr marL="0" lvl="0" indent="0" eaLnBrk="0" fontAlgn="base" hangingPunct="0">
              <a:lnSpc>
                <a:spcPct val="100000"/>
              </a:lnSpc>
              <a:spcBef>
                <a:spcPct val="0"/>
              </a:spcBef>
              <a:spcAft>
                <a:spcPct val="0"/>
              </a:spcAft>
              <a:buNone/>
            </a:pPr>
            <a:r>
              <a:rPr lang="fr-FR" altLang="fr-FR" sz="3200" i="1" dirty="0">
                <a:latin typeface="Arial" panose="020B0604020202020204" pitchFamily="34" charset="0"/>
              </a:rPr>
              <a:t>De la section définition : </a:t>
            </a:r>
          </a:p>
          <a:p>
            <a:pPr marL="0" indent="0" eaLnBrk="0" fontAlgn="base" hangingPunct="0">
              <a:lnSpc>
                <a:spcPct val="100000"/>
              </a:lnSpc>
              <a:spcBef>
                <a:spcPct val="0"/>
              </a:spcBef>
              <a:spcAft>
                <a:spcPct val="0"/>
              </a:spcAft>
              <a:buNone/>
            </a:pPr>
            <a:r>
              <a:rPr lang="fr-CA" sz="3800" dirty="0">
                <a:effectLst/>
              </a:rPr>
              <a:t>a) </a:t>
            </a:r>
            <a:r>
              <a:rPr lang="fr-CA" sz="3800" b="1" dirty="0">
                <a:solidFill>
                  <a:srgbClr val="0070C0"/>
                </a:solidFill>
                <a:effectLst/>
              </a:rPr>
              <a:t>Production ﻿agricole </a:t>
            </a:r>
            <a:r>
              <a:rPr lang="fr-CA" sz="3800" b="1" dirty="0">
                <a:effectLst/>
              </a:rPr>
              <a:t>:</a:t>
            </a:r>
            <a:r>
              <a:rPr lang="fr-CA" sz="3800" dirty="0">
                <a:effectLst/>
              </a:rPr>
              <a:t> développement et récolte d'actifs biologiques en vue de la vente ou de l'utilisation à des fins de production.</a:t>
            </a:r>
          </a:p>
          <a:p>
            <a:pPr marL="0" lvl="0" indent="0" eaLnBrk="0" fontAlgn="base" hangingPunct="0">
              <a:lnSpc>
                <a:spcPct val="100000"/>
              </a:lnSpc>
              <a:spcBef>
                <a:spcPct val="0"/>
              </a:spcBef>
              <a:spcAft>
                <a:spcPct val="0"/>
              </a:spcAft>
              <a:buNone/>
            </a:pPr>
            <a:endParaRPr lang="fr-FR" altLang="fr-FR" sz="3200" dirty="0">
              <a:latin typeface="Arial" panose="020B0604020202020204" pitchFamily="34" charset="0"/>
            </a:endParaRPr>
          </a:p>
          <a:p>
            <a:pPr marL="0" lvl="0" indent="0" eaLnBrk="0" fontAlgn="base" hangingPunct="0">
              <a:lnSpc>
                <a:spcPct val="100000"/>
              </a:lnSpc>
              <a:spcBef>
                <a:spcPct val="0"/>
              </a:spcBef>
              <a:spcAft>
                <a:spcPct val="0"/>
              </a:spcAft>
              <a:buNone/>
            </a:pPr>
            <a:endParaRPr lang="fr-FR" altLang="fr-FR" sz="3200" dirty="0">
              <a:latin typeface="Arial" panose="020B0604020202020204" pitchFamily="34" charset="0"/>
            </a:endParaRPr>
          </a:p>
          <a:p>
            <a:pPr marL="0" lvl="0" indent="0" eaLnBrk="0" fontAlgn="base" hangingPunct="0">
              <a:lnSpc>
                <a:spcPct val="100000"/>
              </a:lnSpc>
              <a:spcBef>
                <a:spcPct val="0"/>
              </a:spcBef>
              <a:spcAft>
                <a:spcPct val="0"/>
              </a:spcAft>
              <a:buNone/>
            </a:pPr>
            <a:endParaRPr lang="fr-FR" altLang="fr-FR" sz="3200" dirty="0">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3200" dirty="0">
                <a:latin typeface="Arial" panose="020B0604020202020204" pitchFamily="34" charset="0"/>
              </a:rPr>
              <a:t>.03     (…) la </a:t>
            </a:r>
            <a:r>
              <a:rPr lang="fr-FR" altLang="fr-FR" sz="3200" b="1" u="sng" dirty="0">
                <a:solidFill>
                  <a:srgbClr val="0070C0"/>
                </a:solidFill>
                <a:latin typeface="Arial" panose="020B0604020202020204" pitchFamily="34" charset="0"/>
              </a:rPr>
              <a:t>production agricole </a:t>
            </a:r>
            <a:r>
              <a:rPr lang="fr-FR" altLang="fr-FR" sz="3200" dirty="0">
                <a:latin typeface="Arial" panose="020B0604020202020204" pitchFamily="34" charset="0"/>
              </a:rPr>
              <a:t>couvre un éventail d'activités diversifiées telles que :</a:t>
            </a:r>
          </a:p>
          <a:p>
            <a:pPr marL="0" lvl="0" indent="0" eaLnBrk="0" fontAlgn="base" hangingPunct="0">
              <a:lnSpc>
                <a:spcPct val="100000"/>
              </a:lnSpc>
              <a:spcBef>
                <a:spcPct val="0"/>
              </a:spcBef>
              <a:spcAft>
                <a:spcPct val="0"/>
              </a:spcAft>
              <a:buNone/>
            </a:pPr>
            <a:r>
              <a:rPr lang="fr-FR" altLang="fr-FR" sz="3200" dirty="0">
                <a:latin typeface="Arial" panose="020B0604020202020204" pitchFamily="34" charset="0"/>
              </a:rPr>
              <a:t>a)     la récolte de plantes annuelles ou vivaces;</a:t>
            </a:r>
          </a:p>
          <a:p>
            <a:pPr marL="0" lvl="0" indent="0" eaLnBrk="0" fontAlgn="base" hangingPunct="0">
              <a:lnSpc>
                <a:spcPct val="100000"/>
              </a:lnSpc>
              <a:spcBef>
                <a:spcPct val="0"/>
              </a:spcBef>
              <a:spcAft>
                <a:spcPct val="0"/>
              </a:spcAft>
              <a:buNone/>
            </a:pPr>
            <a:r>
              <a:rPr lang="fr-FR" altLang="fr-FR" sz="3200" dirty="0">
                <a:latin typeface="Arial" panose="020B0604020202020204" pitchFamily="34" charset="0"/>
              </a:rPr>
              <a:t>b)     l'élevage de bétail ou d'organismes aquatiques;</a:t>
            </a:r>
          </a:p>
          <a:p>
            <a:pPr marL="0" lvl="0" indent="0" eaLnBrk="0" fontAlgn="base" hangingPunct="0">
              <a:lnSpc>
                <a:spcPct val="100000"/>
              </a:lnSpc>
              <a:spcBef>
                <a:spcPct val="0"/>
              </a:spcBef>
              <a:spcAft>
                <a:spcPct val="0"/>
              </a:spcAft>
              <a:buNone/>
            </a:pPr>
            <a:r>
              <a:rPr lang="fr-FR" altLang="fr-FR" sz="3200" dirty="0">
                <a:latin typeface="Arial" panose="020B0604020202020204" pitchFamily="34" charset="0"/>
              </a:rPr>
              <a:t>c)     la culture de vergers ou de plantations.</a:t>
            </a:r>
          </a:p>
          <a:p>
            <a:pPr marL="0" lvl="0" indent="0" eaLnBrk="0" fontAlgn="base" hangingPunct="0">
              <a:lnSpc>
                <a:spcPct val="100000"/>
              </a:lnSpc>
              <a:spcBef>
                <a:spcPct val="0"/>
              </a:spcBef>
              <a:spcAft>
                <a:spcPct val="0"/>
              </a:spcAft>
              <a:buNone/>
            </a:pPr>
            <a:endParaRPr lang="fr-FR" altLang="fr-FR" sz="3200" dirty="0">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3200" dirty="0">
                <a:latin typeface="Arial" panose="020B0604020202020204" pitchFamily="34" charset="0"/>
              </a:rPr>
              <a:t>.04     (…) les activités suivantes ne sont pas de la production agricole :</a:t>
            </a:r>
          </a:p>
          <a:p>
            <a:pPr marL="536575" lvl="0" indent="-536575" eaLnBrk="0" fontAlgn="base" hangingPunct="0">
              <a:lnSpc>
                <a:spcPct val="100000"/>
              </a:lnSpc>
              <a:spcBef>
                <a:spcPct val="0"/>
              </a:spcBef>
              <a:spcAft>
                <a:spcPct val="0"/>
              </a:spcAft>
              <a:buNone/>
              <a:tabLst>
                <a:tab pos="536575" algn="l"/>
              </a:tabLst>
            </a:pPr>
            <a:r>
              <a:rPr lang="fr-FR" altLang="fr-FR" sz="3200" dirty="0">
                <a:latin typeface="Arial" panose="020B0604020202020204" pitchFamily="34" charset="0"/>
              </a:rPr>
              <a:t>a)     l'exploitation forestière;</a:t>
            </a:r>
          </a:p>
          <a:p>
            <a:pPr marL="536575" lvl="0" indent="-536575" eaLnBrk="0" fontAlgn="base" hangingPunct="0">
              <a:lnSpc>
                <a:spcPct val="100000"/>
              </a:lnSpc>
              <a:spcBef>
                <a:spcPct val="0"/>
              </a:spcBef>
              <a:spcAft>
                <a:spcPct val="0"/>
              </a:spcAft>
              <a:buNone/>
              <a:tabLst>
                <a:tab pos="536575" algn="l"/>
              </a:tabLst>
            </a:pPr>
            <a:r>
              <a:rPr lang="fr-FR" altLang="fr-FR" sz="3200" dirty="0">
                <a:latin typeface="Arial" panose="020B0604020202020204" pitchFamily="34" charset="0"/>
              </a:rPr>
              <a:t>b)     la récolte à partir de sources que le producteur agricole ne possède pas ou ne contrôle pas (par exemple la pêche en haute mer, la chasse et le piégeage);</a:t>
            </a:r>
          </a:p>
          <a:p>
            <a:pPr marL="536575" lvl="0" indent="-536575" eaLnBrk="0" fontAlgn="base" hangingPunct="0">
              <a:lnSpc>
                <a:spcPct val="100000"/>
              </a:lnSpc>
              <a:spcBef>
                <a:spcPct val="0"/>
              </a:spcBef>
              <a:spcAft>
                <a:spcPct val="0"/>
              </a:spcAft>
              <a:buNone/>
              <a:tabLst>
                <a:tab pos="536575" algn="l"/>
              </a:tabLst>
            </a:pPr>
            <a:r>
              <a:rPr lang="fr-FR" altLang="fr-FR" sz="3200" dirty="0">
                <a:latin typeface="Arial" panose="020B0604020202020204" pitchFamily="34" charset="0"/>
              </a:rPr>
              <a:t>c)     l'élevage ou l'achat d'animaux pour les besoins d'un sport de compétition.</a:t>
            </a:r>
            <a:endParaRPr lang="fr-FR" sz="3200" dirty="0"/>
          </a:p>
        </p:txBody>
      </p:sp>
      <p:sp>
        <p:nvSpPr>
          <p:cNvPr id="4" name="Espace réservé du numéro de diapositive 3">
            <a:extLst>
              <a:ext uri="{FF2B5EF4-FFF2-40B4-BE49-F238E27FC236}">
                <a16:creationId xmlns:a16="http://schemas.microsoft.com/office/drawing/2014/main" id="{B8B1599E-77CA-4384-BEE3-8AECFB838D71}"/>
              </a:ext>
            </a:extLst>
          </p:cNvPr>
          <p:cNvSpPr>
            <a:spLocks noGrp="1"/>
          </p:cNvSpPr>
          <p:nvPr>
            <p:ph type="sldNum" sz="quarter" idx="12"/>
          </p:nvPr>
        </p:nvSpPr>
        <p:spPr/>
        <p:txBody>
          <a:bodyPr/>
          <a:lstStyle/>
          <a:p>
            <a:fld id="{6770FFFA-C405-4014-8A18-4EE1B97D8629}" type="slidenum">
              <a:rPr lang="fr-FR" smtClean="0"/>
              <a:t>12</a:t>
            </a:fld>
            <a:endParaRPr lang="fr-FR"/>
          </a:p>
        </p:txBody>
      </p:sp>
      <p:sp>
        <p:nvSpPr>
          <p:cNvPr id="5" name="Espace réservé du pied de page 4">
            <a:extLst>
              <a:ext uri="{FF2B5EF4-FFF2-40B4-BE49-F238E27FC236}">
                <a16:creationId xmlns:a16="http://schemas.microsoft.com/office/drawing/2014/main" id="{387BFE2A-2865-426F-B863-2FDF55C8D1E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46707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D47F15-BC39-40A9-A7BB-7CC9FFB7C1DA}"/>
              </a:ext>
            </a:extLst>
          </p:cNvPr>
          <p:cNvSpPr>
            <a:spLocks noGrp="1"/>
          </p:cNvSpPr>
          <p:nvPr>
            <p:ph type="title"/>
          </p:nvPr>
        </p:nvSpPr>
        <p:spPr>
          <a:xfrm>
            <a:off x="838200" y="365125"/>
            <a:ext cx="10515600" cy="488315"/>
          </a:xfrm>
        </p:spPr>
        <p:txBody>
          <a:bodyPr>
            <a:normAutofit fontScale="90000"/>
          </a:bodyPr>
          <a:lstStyle/>
          <a:p>
            <a:r>
              <a:rPr lang="fr-FR" altLang="fr-FR" sz="3600" dirty="0">
                <a:latin typeface="Arial" panose="020B0604020202020204" pitchFamily="34" charset="0"/>
              </a:rPr>
              <a:t>OBJET ET CHAMP D'APPLICATION  </a:t>
            </a:r>
            <a:r>
              <a:rPr lang="fr-FR" altLang="fr-FR" sz="2400" i="1" dirty="0">
                <a:latin typeface="Arial" panose="020B0604020202020204" pitchFamily="34" charset="0"/>
              </a:rPr>
              <a:t>(suite)</a:t>
            </a:r>
            <a:endParaRPr lang="fr-FR" dirty="0"/>
          </a:p>
        </p:txBody>
      </p:sp>
      <p:sp>
        <p:nvSpPr>
          <p:cNvPr id="3" name="Espace réservé du contenu 2">
            <a:extLst>
              <a:ext uri="{FF2B5EF4-FFF2-40B4-BE49-F238E27FC236}">
                <a16:creationId xmlns:a16="http://schemas.microsoft.com/office/drawing/2014/main" id="{103F9174-94C2-43AF-B8CC-31F3BB8F15DC}"/>
              </a:ext>
            </a:extLst>
          </p:cNvPr>
          <p:cNvSpPr>
            <a:spLocks noGrp="1"/>
          </p:cNvSpPr>
          <p:nvPr>
            <p:ph idx="1"/>
          </p:nvPr>
        </p:nvSpPr>
        <p:spPr>
          <a:xfrm>
            <a:off x="838200" y="853440"/>
            <a:ext cx="10515600" cy="5868035"/>
          </a:xfrm>
        </p:spPr>
        <p:txBody>
          <a:bodyPr>
            <a:normAutofit fontScale="77500" lnSpcReduction="20000"/>
          </a:bodyPr>
          <a:lstStyle/>
          <a:p>
            <a:pPr marL="0" lvl="0" indent="0" eaLnBrk="0" fontAlgn="base" hangingPunct="0">
              <a:lnSpc>
                <a:spcPct val="120000"/>
              </a:lnSpc>
              <a:spcBef>
                <a:spcPct val="0"/>
              </a:spcBef>
              <a:spcAft>
                <a:spcPct val="0"/>
              </a:spcAft>
              <a:buNone/>
            </a:pPr>
            <a:r>
              <a:rPr lang="fr-FR" altLang="fr-FR" sz="2400" dirty="0">
                <a:latin typeface="Arial" panose="020B0604020202020204" pitchFamily="34" charset="0"/>
              </a:rPr>
              <a:t>.06     Le présent chapitre </a:t>
            </a:r>
            <a:r>
              <a:rPr lang="fr-FR" altLang="fr-FR" sz="2400" dirty="0">
                <a:solidFill>
                  <a:srgbClr val="0070C0"/>
                </a:solidFill>
                <a:latin typeface="Arial" panose="020B0604020202020204" pitchFamily="34" charset="0"/>
              </a:rPr>
              <a:t>ne s'applique pas </a:t>
            </a:r>
            <a:r>
              <a:rPr lang="fr-FR" altLang="fr-FR" sz="2400" dirty="0">
                <a:latin typeface="Arial" panose="020B0604020202020204" pitchFamily="34" charset="0"/>
              </a:rPr>
              <a:t>à une transaction ou à un autre événement relatif à la </a:t>
            </a:r>
            <a:r>
              <a:rPr lang="fr-FR" altLang="fr-FR" sz="2400" u="sng" dirty="0">
                <a:solidFill>
                  <a:srgbClr val="0070C0"/>
                </a:solidFill>
                <a:latin typeface="Arial" panose="020B0604020202020204" pitchFamily="34" charset="0"/>
              </a:rPr>
              <a:t>production secondaire</a:t>
            </a:r>
            <a:r>
              <a:rPr lang="fr-FR" altLang="fr-FR" sz="2400" dirty="0">
                <a:latin typeface="Arial" panose="020B0604020202020204" pitchFamily="34" charset="0"/>
              </a:rPr>
              <a:t>, qui consiste à transformer des éléments de stocks agricoles en des actifs différents. Les actifs qui résultent de la production secondaire sont comptabilisés conformément à d'autres chapitres, comme le chapitre </a:t>
            </a:r>
            <a:r>
              <a:rPr lang="fr-FR" altLang="fr-FR" sz="2400" dirty="0">
                <a:latin typeface="Arial" panose="020B0604020202020204" pitchFamily="34" charset="0"/>
                <a:hlinkMouseOver r:id="rId2"/>
              </a:rPr>
              <a:t>3031</a:t>
            </a:r>
            <a:r>
              <a:rPr lang="fr-FR" altLang="fr-FR" sz="2400" dirty="0">
                <a:latin typeface="Arial" panose="020B0604020202020204" pitchFamily="34" charset="0"/>
              </a:rPr>
              <a:t>, STOCKS.</a:t>
            </a:r>
          </a:p>
          <a:p>
            <a:pPr eaLnBrk="0" fontAlgn="base" hangingPunct="0">
              <a:lnSpc>
                <a:spcPct val="100000"/>
              </a:lnSpc>
              <a:spcBef>
                <a:spcPct val="0"/>
              </a:spcBef>
              <a:spcAft>
                <a:spcPct val="0"/>
              </a:spcAft>
              <a:buFont typeface="Wingdings" panose="05000000000000000000" pitchFamily="2" charset="2"/>
              <a:buChar char="Ø"/>
            </a:pPr>
            <a:r>
              <a:rPr lang="fr-FR" altLang="fr-FR" sz="2400" i="1" dirty="0">
                <a:solidFill>
                  <a:srgbClr val="FF0000"/>
                </a:solidFill>
                <a:latin typeface="Arial" panose="020B0604020202020204" pitchFamily="34" charset="0"/>
              </a:rPr>
              <a:t>Transfert au chap. 3031 seulement lors de la transformation des stocks agricoles </a:t>
            </a:r>
          </a:p>
          <a:p>
            <a:pPr eaLnBrk="0" fontAlgn="base" hangingPunct="0">
              <a:lnSpc>
                <a:spcPct val="100000"/>
              </a:lnSpc>
              <a:spcBef>
                <a:spcPct val="0"/>
              </a:spcBef>
              <a:spcAft>
                <a:spcPct val="0"/>
              </a:spcAft>
              <a:buFont typeface="Wingdings" panose="05000000000000000000" pitchFamily="2" charset="2"/>
              <a:buChar char="Ø"/>
            </a:pPr>
            <a:r>
              <a:rPr lang="fr-FR" altLang="fr-FR" sz="2200" i="1" dirty="0">
                <a:solidFill>
                  <a:srgbClr val="FF0000"/>
                </a:solidFill>
                <a:latin typeface="Arial" panose="020B0604020202020204" pitchFamily="34" charset="0"/>
              </a:rPr>
              <a:t>3041 couvre le traitement comptable des stocks agricoles non transformés</a:t>
            </a:r>
          </a:p>
          <a:p>
            <a:pPr eaLnBrk="0" fontAlgn="base" hangingPunct="0">
              <a:lnSpc>
                <a:spcPct val="100000"/>
              </a:lnSpc>
              <a:spcBef>
                <a:spcPct val="0"/>
              </a:spcBef>
              <a:spcAft>
                <a:spcPct val="0"/>
              </a:spcAft>
              <a:buFont typeface="Wingdings" panose="05000000000000000000" pitchFamily="2" charset="2"/>
              <a:buChar char="Ø"/>
            </a:pPr>
            <a:endParaRPr lang="fr-FR" altLang="fr-FR" sz="2200" i="1" dirty="0">
              <a:solidFill>
                <a:srgbClr val="FF0000"/>
              </a:solidFill>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2200" dirty="0">
                <a:latin typeface="Arial" panose="020B0604020202020204" pitchFamily="34" charset="0"/>
              </a:rPr>
              <a:t>.08     Le présent chapitre ne traite pas :</a:t>
            </a:r>
          </a:p>
          <a:p>
            <a:pPr marL="0" lvl="0" indent="0" eaLnBrk="0" fontAlgn="base" hangingPunct="0">
              <a:lnSpc>
                <a:spcPct val="100000"/>
              </a:lnSpc>
              <a:spcBef>
                <a:spcPct val="0"/>
              </a:spcBef>
              <a:spcAft>
                <a:spcPct val="0"/>
              </a:spcAft>
              <a:buNone/>
            </a:pPr>
            <a:endParaRPr lang="fr-FR" altLang="fr-FR" sz="2200" dirty="0">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2200" dirty="0">
                <a:latin typeface="Arial" panose="020B0604020202020204" pitchFamily="34" charset="0"/>
              </a:rPr>
              <a:t>a)     des stocks agricoles détenus par des entreprises qui ne sont pas des producteurs agricoles (voir le chapitre </a:t>
            </a:r>
            <a:r>
              <a:rPr lang="fr-FR" altLang="fr-FR" sz="2200" dirty="0">
                <a:latin typeface="Arial" panose="020B0604020202020204" pitchFamily="34" charset="0"/>
                <a:hlinkMouseOver r:id="rId2"/>
              </a:rPr>
              <a:t>3031</a:t>
            </a:r>
            <a:r>
              <a:rPr lang="fr-FR" altLang="fr-FR" sz="2200" dirty="0">
                <a:latin typeface="Arial" panose="020B0604020202020204" pitchFamily="34" charset="0"/>
              </a:rPr>
              <a:t>, STOCKS);</a:t>
            </a:r>
          </a:p>
          <a:p>
            <a:pPr marL="0" lvl="0" indent="0" eaLnBrk="0" fontAlgn="base" hangingPunct="0">
              <a:lnSpc>
                <a:spcPct val="100000"/>
              </a:lnSpc>
              <a:spcBef>
                <a:spcPct val="0"/>
              </a:spcBef>
              <a:spcAft>
                <a:spcPct val="0"/>
              </a:spcAft>
              <a:buNone/>
            </a:pPr>
            <a:endParaRPr lang="fr-FR" altLang="fr-FR" sz="2200" dirty="0">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2200" dirty="0">
                <a:latin typeface="Arial" panose="020B0604020202020204" pitchFamily="34" charset="0"/>
              </a:rPr>
              <a:t>b)     des terrains (voir le chapitre </a:t>
            </a:r>
            <a:r>
              <a:rPr lang="fr-FR" altLang="fr-FR" sz="2200" dirty="0">
                <a:latin typeface="Arial" panose="020B0604020202020204" pitchFamily="34" charset="0"/>
                <a:hlinkMouseOver r:id="rId3"/>
              </a:rPr>
              <a:t>3061</a:t>
            </a:r>
            <a:r>
              <a:rPr lang="fr-FR" altLang="fr-FR" sz="2200" dirty="0">
                <a:latin typeface="Arial" panose="020B0604020202020204" pitchFamily="34" charset="0"/>
              </a:rPr>
              <a:t>, IMMOBILISATIONS CORPORELLES);</a:t>
            </a:r>
          </a:p>
          <a:p>
            <a:pPr lvl="0" eaLnBrk="0" fontAlgn="base" hangingPunct="0">
              <a:lnSpc>
                <a:spcPct val="100000"/>
              </a:lnSpc>
              <a:spcBef>
                <a:spcPct val="0"/>
              </a:spcBef>
              <a:spcAft>
                <a:spcPct val="0"/>
              </a:spcAft>
              <a:buFont typeface="Wingdings" panose="05000000000000000000" pitchFamily="2" charset="2"/>
              <a:buChar char="Ø"/>
            </a:pPr>
            <a:r>
              <a:rPr lang="fr-FR" altLang="fr-FR" sz="2200" dirty="0">
                <a:solidFill>
                  <a:srgbClr val="0070C0"/>
                </a:solidFill>
                <a:latin typeface="Arial" panose="020B0604020202020204" pitchFamily="34" charset="0"/>
              </a:rPr>
              <a:t>Donc pas de JV</a:t>
            </a:r>
          </a:p>
          <a:p>
            <a:pPr lvl="0" eaLnBrk="0" fontAlgn="base" hangingPunct="0">
              <a:lnSpc>
                <a:spcPct val="100000"/>
              </a:lnSpc>
              <a:spcBef>
                <a:spcPct val="0"/>
              </a:spcBef>
              <a:spcAft>
                <a:spcPct val="0"/>
              </a:spcAft>
              <a:buFont typeface="Wingdings" panose="05000000000000000000" pitchFamily="2" charset="2"/>
              <a:buChar char="Ø"/>
            </a:pPr>
            <a:endParaRPr lang="fr-FR" altLang="fr-FR" sz="2200" dirty="0">
              <a:solidFill>
                <a:srgbClr val="0070C0"/>
              </a:solidFill>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2200" dirty="0">
                <a:latin typeface="Arial" panose="020B0604020202020204" pitchFamily="34" charset="0"/>
              </a:rPr>
              <a:t>c)     des actifs incorporels comme les quotas de production et les permis de pêche (voir le chapitre </a:t>
            </a:r>
            <a:r>
              <a:rPr lang="fr-FR" altLang="fr-FR" sz="2200" dirty="0">
                <a:latin typeface="Arial" panose="020B0604020202020204" pitchFamily="34" charset="0"/>
                <a:hlinkMouseOver r:id="rId4"/>
              </a:rPr>
              <a:t>3064</a:t>
            </a:r>
            <a:r>
              <a:rPr lang="fr-FR" altLang="fr-FR" sz="2200" dirty="0">
                <a:latin typeface="Arial" panose="020B0604020202020204" pitchFamily="34" charset="0"/>
              </a:rPr>
              <a:t>, ÉCARTS D'ACQUISITION ET ACTIFS INCORPORELS);</a:t>
            </a:r>
          </a:p>
          <a:p>
            <a:pPr lvl="0" eaLnBrk="0" fontAlgn="base" hangingPunct="0">
              <a:lnSpc>
                <a:spcPct val="100000"/>
              </a:lnSpc>
              <a:spcBef>
                <a:spcPct val="0"/>
              </a:spcBef>
              <a:spcAft>
                <a:spcPct val="0"/>
              </a:spcAft>
              <a:buFont typeface="Wingdings" panose="05000000000000000000" pitchFamily="2" charset="2"/>
              <a:buChar char="Ø"/>
            </a:pPr>
            <a:r>
              <a:rPr lang="fr-FR" altLang="fr-FR" sz="2200" dirty="0">
                <a:solidFill>
                  <a:srgbClr val="0070C0"/>
                </a:solidFill>
                <a:latin typeface="Arial" panose="020B0604020202020204" pitchFamily="34" charset="0"/>
              </a:rPr>
              <a:t>Donc pas de JV</a:t>
            </a:r>
          </a:p>
          <a:p>
            <a:pPr lvl="0" eaLnBrk="0" fontAlgn="base" hangingPunct="0">
              <a:lnSpc>
                <a:spcPct val="100000"/>
              </a:lnSpc>
              <a:spcBef>
                <a:spcPct val="0"/>
              </a:spcBef>
              <a:spcAft>
                <a:spcPct val="0"/>
              </a:spcAft>
              <a:buFont typeface="Wingdings" panose="05000000000000000000" pitchFamily="2" charset="2"/>
              <a:buChar char="Ø"/>
            </a:pPr>
            <a:endParaRPr lang="fr-FR" altLang="fr-FR" sz="2200" dirty="0">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2200" dirty="0">
                <a:latin typeface="Arial" panose="020B0604020202020204" pitchFamily="34" charset="0"/>
              </a:rPr>
              <a:t>d)     des subventions gouvernementales (voir le chapitre </a:t>
            </a:r>
            <a:r>
              <a:rPr lang="fr-FR" altLang="fr-FR" sz="2200" dirty="0">
                <a:latin typeface="Arial" panose="020B0604020202020204" pitchFamily="34" charset="0"/>
                <a:hlinkMouseOver r:id="rId5"/>
              </a:rPr>
              <a:t>3800</a:t>
            </a:r>
            <a:r>
              <a:rPr lang="fr-FR" altLang="fr-FR" sz="2200" dirty="0">
                <a:latin typeface="Arial" panose="020B0604020202020204" pitchFamily="34" charset="0"/>
              </a:rPr>
              <a:t>, AIDE GOUVERNEMENTALE);</a:t>
            </a:r>
          </a:p>
          <a:p>
            <a:pPr lvl="0" eaLnBrk="0" fontAlgn="base" hangingPunct="0">
              <a:lnSpc>
                <a:spcPct val="100000"/>
              </a:lnSpc>
              <a:spcBef>
                <a:spcPct val="0"/>
              </a:spcBef>
              <a:spcAft>
                <a:spcPct val="0"/>
              </a:spcAft>
              <a:buFont typeface="Wingdings" panose="05000000000000000000" pitchFamily="2" charset="2"/>
              <a:buChar char="Ø"/>
            </a:pPr>
            <a:r>
              <a:rPr lang="fr-FR" altLang="fr-FR" sz="2200" dirty="0">
                <a:solidFill>
                  <a:srgbClr val="FF0000"/>
                </a:solidFill>
                <a:latin typeface="Arial" panose="020B0604020202020204" pitchFamily="34" charset="0"/>
              </a:rPr>
              <a:t>Alors que couvert par IAS 41</a:t>
            </a:r>
          </a:p>
          <a:p>
            <a:pPr lvl="0" eaLnBrk="0" fontAlgn="base" hangingPunct="0">
              <a:lnSpc>
                <a:spcPct val="100000"/>
              </a:lnSpc>
              <a:spcBef>
                <a:spcPct val="0"/>
              </a:spcBef>
              <a:spcAft>
                <a:spcPct val="0"/>
              </a:spcAft>
              <a:buFont typeface="Wingdings" panose="05000000000000000000" pitchFamily="2" charset="2"/>
              <a:buChar char="Ø"/>
            </a:pPr>
            <a:endParaRPr lang="fr-FR" altLang="fr-FR" sz="2200" dirty="0">
              <a:solidFill>
                <a:srgbClr val="0070C0"/>
              </a:solidFill>
              <a:latin typeface="Arial" panose="020B0604020202020204" pitchFamily="34" charset="0"/>
            </a:endParaRPr>
          </a:p>
          <a:p>
            <a:pPr marL="0" lvl="0" indent="0" eaLnBrk="0" fontAlgn="base" hangingPunct="0">
              <a:lnSpc>
                <a:spcPct val="100000"/>
              </a:lnSpc>
              <a:spcBef>
                <a:spcPct val="0"/>
              </a:spcBef>
              <a:spcAft>
                <a:spcPct val="0"/>
              </a:spcAft>
              <a:buNone/>
            </a:pPr>
            <a:r>
              <a:rPr lang="fr-FR" altLang="fr-FR" sz="2200" dirty="0">
                <a:latin typeface="Arial" panose="020B0604020202020204" pitchFamily="34" charset="0"/>
              </a:rPr>
              <a:t>e)     des contrats d'achat ou de vente d'éléments non financiers, comme les contrats à terme de gré à gré et les contrats à terme normalisés (voir le chapitre </a:t>
            </a:r>
            <a:r>
              <a:rPr lang="fr-FR" altLang="fr-FR" sz="2200" dirty="0">
                <a:latin typeface="Arial" panose="020B0604020202020204" pitchFamily="34" charset="0"/>
                <a:hlinkMouseOver r:id="rId6"/>
              </a:rPr>
              <a:t>3856</a:t>
            </a:r>
            <a:r>
              <a:rPr lang="fr-FR" altLang="fr-FR" sz="2200" dirty="0">
                <a:latin typeface="Arial" panose="020B0604020202020204" pitchFamily="34" charset="0"/>
              </a:rPr>
              <a:t>, INSTRUMENTS FINANCIERS).</a:t>
            </a:r>
            <a:endParaRPr lang="fr-FR" altLang="fr-FR" dirty="0">
              <a:latin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1B0E9E68-FBD2-4982-97BF-C0BA7A3941F0}"/>
              </a:ext>
            </a:extLst>
          </p:cNvPr>
          <p:cNvSpPr>
            <a:spLocks noGrp="1"/>
          </p:cNvSpPr>
          <p:nvPr>
            <p:ph type="sldNum" sz="quarter" idx="12"/>
          </p:nvPr>
        </p:nvSpPr>
        <p:spPr/>
        <p:txBody>
          <a:bodyPr/>
          <a:lstStyle/>
          <a:p>
            <a:fld id="{6770FFFA-C405-4014-8A18-4EE1B97D8629}" type="slidenum">
              <a:rPr lang="fr-FR" smtClean="0"/>
              <a:t>13</a:t>
            </a:fld>
            <a:endParaRPr lang="fr-FR"/>
          </a:p>
        </p:txBody>
      </p:sp>
      <p:sp>
        <p:nvSpPr>
          <p:cNvPr id="5" name="Espace réservé du pied de page 4">
            <a:extLst>
              <a:ext uri="{FF2B5EF4-FFF2-40B4-BE49-F238E27FC236}">
                <a16:creationId xmlns:a16="http://schemas.microsoft.com/office/drawing/2014/main" id="{2CC24427-D703-43B6-92CC-E5BF2CEBDB6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317026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3DAAD8FA-5087-45F3-A822-1AEA535CD47E}"/>
              </a:ext>
            </a:extLst>
          </p:cNvPr>
          <p:cNvGraphicFramePr>
            <a:graphicFrameLocks noGrp="1"/>
          </p:cNvGraphicFramePr>
          <p:nvPr>
            <p:ph idx="1"/>
          </p:nvPr>
        </p:nvGraphicFramePr>
        <p:xfrm>
          <a:off x="838200" y="569626"/>
          <a:ext cx="10515600" cy="5059493"/>
        </p:xfrm>
        <a:graphic>
          <a:graphicData uri="http://schemas.openxmlformats.org/drawingml/2006/table">
            <a:tbl>
              <a:tblPr/>
              <a:tblGrid>
                <a:gridCol w="3106884">
                  <a:extLst>
                    <a:ext uri="{9D8B030D-6E8A-4147-A177-3AD203B41FA5}">
                      <a16:colId xmlns:a16="http://schemas.microsoft.com/office/drawing/2014/main" val="2224057626"/>
                    </a:ext>
                  </a:extLst>
                </a:gridCol>
                <a:gridCol w="3584862">
                  <a:extLst>
                    <a:ext uri="{9D8B030D-6E8A-4147-A177-3AD203B41FA5}">
                      <a16:colId xmlns:a16="http://schemas.microsoft.com/office/drawing/2014/main" val="3988184924"/>
                    </a:ext>
                  </a:extLst>
                </a:gridCol>
                <a:gridCol w="3823854">
                  <a:extLst>
                    <a:ext uri="{9D8B030D-6E8A-4147-A177-3AD203B41FA5}">
                      <a16:colId xmlns:a16="http://schemas.microsoft.com/office/drawing/2014/main" val="3111728127"/>
                    </a:ext>
                  </a:extLst>
                </a:gridCol>
              </a:tblGrid>
              <a:tr h="809469">
                <a:tc>
                  <a:txBody>
                    <a:bodyPr/>
                    <a:lstStyle/>
                    <a:p>
                      <a:br>
                        <a:rPr lang="fr-FR" sz="1800" b="1" dirty="0"/>
                      </a:br>
                      <a:r>
                        <a:rPr lang="fr-FR" sz="1800" b="1" dirty="0"/>
                        <a:t>Actifs biologiques </a:t>
                      </a:r>
                    </a:p>
                  </a:txBody>
                  <a:tcPr marL="17775" marR="17775" marT="17775" marB="17775">
                    <a:lnL>
                      <a:noFill/>
                    </a:lnL>
                    <a:lnR>
                      <a:noFill/>
                    </a:lnR>
                    <a:lnT>
                      <a:noFill/>
                    </a:lnT>
                    <a:lnB>
                      <a:noFill/>
                    </a:lnB>
                  </a:tcPr>
                </a:tc>
                <a:tc>
                  <a:txBody>
                    <a:bodyPr/>
                    <a:lstStyle/>
                    <a:p>
                      <a:br>
                        <a:rPr lang="fr-FR" sz="1800" b="1"/>
                      </a:br>
                      <a:r>
                        <a:rPr lang="fr-FR" sz="1800" b="1"/>
                        <a:t>Stocks agricoles</a:t>
                      </a:r>
                    </a:p>
                  </a:txBody>
                  <a:tcPr marL="17775" marR="17775" marT="17775" marB="17775">
                    <a:lnL>
                      <a:noFill/>
                    </a:lnL>
                    <a:lnR>
                      <a:noFill/>
                    </a:lnR>
                    <a:lnT>
                      <a:noFill/>
                    </a:lnT>
                    <a:lnB>
                      <a:noFill/>
                    </a:lnB>
                  </a:tcPr>
                </a:tc>
                <a:tc>
                  <a:txBody>
                    <a:bodyPr/>
                    <a:lstStyle/>
                    <a:p>
                      <a:r>
                        <a:rPr lang="fr-CA" sz="1800" b="1" dirty="0"/>
                        <a:t>Actifs qui résultent de la production secondaire</a:t>
                      </a:r>
                      <a:r>
                        <a:rPr lang="fr-CA" sz="1800" b="1" i="1" dirty="0"/>
                        <a:t>  </a:t>
                      </a:r>
                      <a:r>
                        <a:rPr lang="fr-CA" sz="1800" b="1" i="1" dirty="0">
                          <a:solidFill>
                            <a:srgbClr val="0070C0"/>
                          </a:solidFill>
                        </a:rPr>
                        <a:t>(chap. 3031 - Stocks)</a:t>
                      </a:r>
                      <a:endParaRPr lang="fr-CA" sz="1800" b="1" dirty="0">
                        <a:solidFill>
                          <a:srgbClr val="0070C0"/>
                        </a:solidFill>
                      </a:endParaRPr>
                    </a:p>
                  </a:txBody>
                  <a:tcPr marL="17775" marR="17775" marT="17775" marB="17775">
                    <a:lnL>
                      <a:noFill/>
                    </a:lnL>
                    <a:lnR>
                      <a:noFill/>
                    </a:lnR>
                    <a:lnT>
                      <a:noFill/>
                    </a:lnT>
                    <a:lnB>
                      <a:noFill/>
                    </a:lnB>
                  </a:tcPr>
                </a:tc>
                <a:extLst>
                  <a:ext uri="{0D108BD9-81ED-4DB2-BD59-A6C34878D82A}">
                    <a16:rowId xmlns:a16="http://schemas.microsoft.com/office/drawing/2014/main" val="3419402886"/>
                  </a:ext>
                </a:extLst>
              </a:tr>
              <a:tr h="737987">
                <a:tc>
                  <a:txBody>
                    <a:bodyPr/>
                    <a:lstStyle/>
                    <a:p>
                      <a:r>
                        <a:rPr lang="fr-FR" sz="2000" dirty="0"/>
                        <a:t>Moutons</a:t>
                      </a:r>
                    </a:p>
                  </a:txBody>
                  <a:tcPr marL="17775" marR="17775" marT="17775" marB="17775">
                    <a:lnL>
                      <a:noFill/>
                    </a:lnL>
                    <a:lnR>
                      <a:noFill/>
                    </a:lnR>
                    <a:lnT>
                      <a:noFill/>
                    </a:lnT>
                    <a:lnB>
                      <a:noFill/>
                    </a:lnB>
                  </a:tcPr>
                </a:tc>
                <a:tc>
                  <a:txBody>
                    <a:bodyPr/>
                    <a:lstStyle/>
                    <a:p>
                      <a:r>
                        <a:rPr lang="fr-FR" sz="2000"/>
                        <a:t>Laine</a:t>
                      </a:r>
                    </a:p>
                  </a:txBody>
                  <a:tcPr marL="17775" marR="17775" marT="17775" marB="17775">
                    <a:lnL>
                      <a:noFill/>
                    </a:lnL>
                    <a:lnR>
                      <a:noFill/>
                    </a:lnR>
                    <a:lnT>
                      <a:noFill/>
                    </a:lnT>
                    <a:lnB>
                      <a:noFill/>
                    </a:lnB>
                  </a:tcPr>
                </a:tc>
                <a:tc>
                  <a:txBody>
                    <a:bodyPr/>
                    <a:lstStyle/>
                    <a:p>
                      <a:r>
                        <a:rPr lang="fr-FR" sz="2000"/>
                        <a:t>Fil de tissage, tapis</a:t>
                      </a:r>
                    </a:p>
                  </a:txBody>
                  <a:tcPr marL="17775" marR="17775" marT="17775" marB="17775">
                    <a:lnL>
                      <a:noFill/>
                    </a:lnL>
                    <a:lnR>
                      <a:noFill/>
                    </a:lnR>
                    <a:lnT>
                      <a:noFill/>
                    </a:lnT>
                    <a:lnB>
                      <a:noFill/>
                    </a:lnB>
                  </a:tcPr>
                </a:tc>
                <a:extLst>
                  <a:ext uri="{0D108BD9-81ED-4DB2-BD59-A6C34878D82A}">
                    <a16:rowId xmlns:a16="http://schemas.microsoft.com/office/drawing/2014/main" val="2658501527"/>
                  </a:ext>
                </a:extLst>
              </a:tr>
              <a:tr h="474279">
                <a:tc>
                  <a:txBody>
                    <a:bodyPr/>
                    <a:lstStyle/>
                    <a:p>
                      <a:r>
                        <a:rPr lang="fr-FR" sz="2000"/>
                        <a:t>Blé </a:t>
                      </a:r>
                    </a:p>
                  </a:txBody>
                  <a:tcPr marL="17775" marR="17775" marT="17775" marB="17775">
                    <a:lnL>
                      <a:noFill/>
                    </a:lnL>
                    <a:lnR>
                      <a:noFill/>
                    </a:lnR>
                    <a:lnT>
                      <a:noFill/>
                    </a:lnT>
                    <a:lnB>
                      <a:noFill/>
                    </a:lnB>
                  </a:tcPr>
                </a:tc>
                <a:tc>
                  <a:txBody>
                    <a:bodyPr/>
                    <a:lstStyle/>
                    <a:p>
                      <a:r>
                        <a:rPr lang="fr-FR" sz="2000"/>
                        <a:t>Blé récolté</a:t>
                      </a:r>
                    </a:p>
                  </a:txBody>
                  <a:tcPr marL="17775" marR="17775" marT="17775" marB="17775">
                    <a:lnL>
                      <a:noFill/>
                    </a:lnL>
                    <a:lnR>
                      <a:noFill/>
                    </a:lnR>
                    <a:lnT>
                      <a:noFill/>
                    </a:lnT>
                    <a:lnB>
                      <a:noFill/>
                    </a:lnB>
                  </a:tcPr>
                </a:tc>
                <a:tc>
                  <a:txBody>
                    <a:bodyPr/>
                    <a:lstStyle/>
                    <a:p>
                      <a:r>
                        <a:rPr lang="fr-FR" sz="2000"/>
                        <a:t>Farine</a:t>
                      </a:r>
                    </a:p>
                  </a:txBody>
                  <a:tcPr marL="17775" marR="17775" marT="17775" marB="17775">
                    <a:lnL>
                      <a:noFill/>
                    </a:lnL>
                    <a:lnR>
                      <a:noFill/>
                    </a:lnR>
                    <a:lnT>
                      <a:noFill/>
                    </a:lnT>
                    <a:lnB>
                      <a:noFill/>
                    </a:lnB>
                  </a:tcPr>
                </a:tc>
                <a:extLst>
                  <a:ext uri="{0D108BD9-81ED-4DB2-BD59-A6C34878D82A}">
                    <a16:rowId xmlns:a16="http://schemas.microsoft.com/office/drawing/2014/main" val="709571506"/>
                  </a:ext>
                </a:extLst>
              </a:tr>
              <a:tr h="506293">
                <a:tc>
                  <a:txBody>
                    <a:bodyPr/>
                    <a:lstStyle/>
                    <a:p>
                      <a:r>
                        <a:rPr lang="fr-FR" sz="2000"/>
                        <a:t>Bovins laitiers</a:t>
                      </a:r>
                    </a:p>
                  </a:txBody>
                  <a:tcPr marL="17775" marR="17775" marT="17775" marB="17775">
                    <a:lnL>
                      <a:noFill/>
                    </a:lnL>
                    <a:lnR>
                      <a:noFill/>
                    </a:lnR>
                    <a:lnT>
                      <a:noFill/>
                    </a:lnT>
                    <a:lnB>
                      <a:noFill/>
                    </a:lnB>
                  </a:tcPr>
                </a:tc>
                <a:tc>
                  <a:txBody>
                    <a:bodyPr/>
                    <a:lstStyle/>
                    <a:p>
                      <a:r>
                        <a:rPr lang="fr-FR" sz="2000"/>
                        <a:t>Lait</a:t>
                      </a:r>
                    </a:p>
                  </a:txBody>
                  <a:tcPr marL="17775" marR="17775" marT="17775" marB="17775">
                    <a:lnL>
                      <a:noFill/>
                    </a:lnL>
                    <a:lnR>
                      <a:noFill/>
                    </a:lnR>
                    <a:lnT>
                      <a:noFill/>
                    </a:lnT>
                    <a:lnB>
                      <a:noFill/>
                    </a:lnB>
                  </a:tcPr>
                </a:tc>
                <a:tc>
                  <a:txBody>
                    <a:bodyPr/>
                    <a:lstStyle/>
                    <a:p>
                      <a:r>
                        <a:rPr lang="fr-FR" sz="2000"/>
                        <a:t>Fromage</a:t>
                      </a:r>
                    </a:p>
                  </a:txBody>
                  <a:tcPr marL="17775" marR="17775" marT="17775" marB="17775">
                    <a:lnL>
                      <a:noFill/>
                    </a:lnL>
                    <a:lnR>
                      <a:noFill/>
                    </a:lnR>
                    <a:lnT>
                      <a:noFill/>
                    </a:lnT>
                    <a:lnB>
                      <a:noFill/>
                    </a:lnB>
                  </a:tcPr>
                </a:tc>
                <a:extLst>
                  <a:ext uri="{0D108BD9-81ED-4DB2-BD59-A6C34878D82A}">
                    <a16:rowId xmlns:a16="http://schemas.microsoft.com/office/drawing/2014/main" val="2787956907"/>
                  </a:ext>
                </a:extLst>
              </a:tr>
              <a:tr h="506293">
                <a:tc>
                  <a:txBody>
                    <a:bodyPr/>
                    <a:lstStyle/>
                    <a:p>
                      <a:r>
                        <a:rPr lang="fr-FR" sz="2000"/>
                        <a:t>Truies</a:t>
                      </a:r>
                    </a:p>
                  </a:txBody>
                  <a:tcPr marL="17775" marR="17775" marT="17775" marB="17775">
                    <a:lnL>
                      <a:noFill/>
                    </a:lnL>
                    <a:lnR>
                      <a:noFill/>
                    </a:lnR>
                    <a:lnT>
                      <a:noFill/>
                    </a:lnT>
                    <a:lnB>
                      <a:noFill/>
                    </a:lnB>
                  </a:tcPr>
                </a:tc>
                <a:tc>
                  <a:txBody>
                    <a:bodyPr/>
                    <a:lstStyle/>
                    <a:p>
                      <a:r>
                        <a:rPr lang="fr-FR" sz="2000"/>
                        <a:t>Porcelets sevrés</a:t>
                      </a:r>
                    </a:p>
                  </a:txBody>
                  <a:tcPr marL="17775" marR="17775" marT="17775" marB="17775">
                    <a:lnL>
                      <a:noFill/>
                    </a:lnL>
                    <a:lnR>
                      <a:noFill/>
                    </a:lnR>
                    <a:lnT>
                      <a:noFill/>
                    </a:lnT>
                    <a:lnB>
                      <a:noFill/>
                    </a:lnB>
                  </a:tcPr>
                </a:tc>
                <a:tc>
                  <a:txBody>
                    <a:bodyPr/>
                    <a:lstStyle/>
                    <a:p>
                      <a:r>
                        <a:rPr lang="fr-FR" sz="2000"/>
                        <a:t>Saucisse, jambon</a:t>
                      </a:r>
                    </a:p>
                  </a:txBody>
                  <a:tcPr marL="17775" marR="17775" marT="17775" marB="17775">
                    <a:lnL>
                      <a:noFill/>
                    </a:lnL>
                    <a:lnR>
                      <a:noFill/>
                    </a:lnR>
                    <a:lnT>
                      <a:noFill/>
                    </a:lnT>
                    <a:lnB>
                      <a:noFill/>
                    </a:lnB>
                  </a:tcPr>
                </a:tc>
                <a:extLst>
                  <a:ext uri="{0D108BD9-81ED-4DB2-BD59-A6C34878D82A}">
                    <a16:rowId xmlns:a16="http://schemas.microsoft.com/office/drawing/2014/main" val="1730375954"/>
                  </a:ext>
                </a:extLst>
              </a:tr>
              <a:tr h="506293">
                <a:tc>
                  <a:txBody>
                    <a:bodyPr/>
                    <a:lstStyle/>
                    <a:p>
                      <a:r>
                        <a:rPr lang="fr-FR" sz="2000"/>
                        <a:t>Esturgeons</a:t>
                      </a:r>
                    </a:p>
                  </a:txBody>
                  <a:tcPr marL="17775" marR="17775" marT="17775" marB="17775">
                    <a:lnL>
                      <a:noFill/>
                    </a:lnL>
                    <a:lnR>
                      <a:noFill/>
                    </a:lnR>
                    <a:lnT>
                      <a:noFill/>
                    </a:lnT>
                    <a:lnB>
                      <a:noFill/>
                    </a:lnB>
                  </a:tcPr>
                </a:tc>
                <a:tc>
                  <a:txBody>
                    <a:bodyPr/>
                    <a:lstStyle/>
                    <a:p>
                      <a:r>
                        <a:rPr lang="fr-FR" sz="2000"/>
                        <a:t>Œufs</a:t>
                      </a:r>
                    </a:p>
                  </a:txBody>
                  <a:tcPr marL="17775" marR="17775" marT="17775" marB="17775">
                    <a:lnL>
                      <a:noFill/>
                    </a:lnL>
                    <a:lnR>
                      <a:noFill/>
                    </a:lnR>
                    <a:lnT>
                      <a:noFill/>
                    </a:lnT>
                    <a:lnB>
                      <a:noFill/>
                    </a:lnB>
                  </a:tcPr>
                </a:tc>
                <a:tc>
                  <a:txBody>
                    <a:bodyPr/>
                    <a:lstStyle/>
                    <a:p>
                      <a:r>
                        <a:rPr lang="fr-FR" sz="2000"/>
                        <a:t>Caviar</a:t>
                      </a:r>
                    </a:p>
                  </a:txBody>
                  <a:tcPr marL="17775" marR="17775" marT="17775" marB="17775">
                    <a:lnL>
                      <a:noFill/>
                    </a:lnL>
                    <a:lnR>
                      <a:noFill/>
                    </a:lnR>
                    <a:lnT>
                      <a:noFill/>
                    </a:lnT>
                    <a:lnB>
                      <a:noFill/>
                    </a:lnB>
                  </a:tcPr>
                </a:tc>
                <a:extLst>
                  <a:ext uri="{0D108BD9-81ED-4DB2-BD59-A6C34878D82A}">
                    <a16:rowId xmlns:a16="http://schemas.microsoft.com/office/drawing/2014/main" val="3162530859"/>
                  </a:ext>
                </a:extLst>
              </a:tr>
              <a:tr h="506293">
                <a:tc>
                  <a:txBody>
                    <a:bodyPr/>
                    <a:lstStyle/>
                    <a:p>
                      <a:r>
                        <a:rPr lang="fr-FR" sz="2000"/>
                        <a:t>Ceps de vigne</a:t>
                      </a:r>
                    </a:p>
                  </a:txBody>
                  <a:tcPr marL="17775" marR="17775" marT="17775" marB="17775">
                    <a:lnL>
                      <a:noFill/>
                    </a:lnL>
                    <a:lnR>
                      <a:noFill/>
                    </a:lnR>
                    <a:lnT>
                      <a:noFill/>
                    </a:lnT>
                    <a:lnB>
                      <a:noFill/>
                    </a:lnB>
                  </a:tcPr>
                </a:tc>
                <a:tc>
                  <a:txBody>
                    <a:bodyPr/>
                    <a:lstStyle/>
                    <a:p>
                      <a:r>
                        <a:rPr lang="fr-FR" sz="2000"/>
                        <a:t>Raisins récoltés</a:t>
                      </a:r>
                    </a:p>
                  </a:txBody>
                  <a:tcPr marL="17775" marR="17775" marT="17775" marB="17775">
                    <a:lnL>
                      <a:noFill/>
                    </a:lnL>
                    <a:lnR>
                      <a:noFill/>
                    </a:lnR>
                    <a:lnT>
                      <a:noFill/>
                    </a:lnT>
                    <a:lnB>
                      <a:noFill/>
                    </a:lnB>
                  </a:tcPr>
                </a:tc>
                <a:tc>
                  <a:txBody>
                    <a:bodyPr/>
                    <a:lstStyle/>
                    <a:p>
                      <a:r>
                        <a:rPr lang="fr-FR" sz="2000"/>
                        <a:t>Vin</a:t>
                      </a:r>
                    </a:p>
                  </a:txBody>
                  <a:tcPr marL="17775" marR="17775" marT="17775" marB="17775">
                    <a:lnL>
                      <a:noFill/>
                    </a:lnL>
                    <a:lnR>
                      <a:noFill/>
                    </a:lnR>
                    <a:lnT>
                      <a:noFill/>
                    </a:lnT>
                    <a:lnB>
                      <a:noFill/>
                    </a:lnB>
                  </a:tcPr>
                </a:tc>
                <a:extLst>
                  <a:ext uri="{0D108BD9-81ED-4DB2-BD59-A6C34878D82A}">
                    <a16:rowId xmlns:a16="http://schemas.microsoft.com/office/drawing/2014/main" val="3970598453"/>
                  </a:ext>
                </a:extLst>
              </a:tr>
              <a:tr h="506293">
                <a:tc>
                  <a:txBody>
                    <a:bodyPr/>
                    <a:lstStyle/>
                    <a:p>
                      <a:r>
                        <a:rPr lang="fr-FR" sz="2000"/>
                        <a:t>Arbres fruitiers</a:t>
                      </a:r>
                    </a:p>
                  </a:txBody>
                  <a:tcPr marL="17775" marR="17775" marT="17775" marB="17775">
                    <a:lnL>
                      <a:noFill/>
                    </a:lnL>
                    <a:lnR>
                      <a:noFill/>
                    </a:lnR>
                    <a:lnT>
                      <a:noFill/>
                    </a:lnT>
                    <a:lnB>
                      <a:noFill/>
                    </a:lnB>
                  </a:tcPr>
                </a:tc>
                <a:tc>
                  <a:txBody>
                    <a:bodyPr/>
                    <a:lstStyle/>
                    <a:p>
                      <a:r>
                        <a:rPr lang="fr-FR" sz="2000"/>
                        <a:t>Fruits récoltés</a:t>
                      </a:r>
                    </a:p>
                  </a:txBody>
                  <a:tcPr marL="17775" marR="17775" marT="17775" marB="17775">
                    <a:lnL>
                      <a:noFill/>
                    </a:lnL>
                    <a:lnR>
                      <a:noFill/>
                    </a:lnR>
                    <a:lnT>
                      <a:noFill/>
                    </a:lnT>
                    <a:lnB>
                      <a:noFill/>
                    </a:lnB>
                  </a:tcPr>
                </a:tc>
                <a:tc>
                  <a:txBody>
                    <a:bodyPr/>
                    <a:lstStyle/>
                    <a:p>
                      <a:r>
                        <a:rPr lang="fr-FR" sz="2000"/>
                        <a:t>Confiture</a:t>
                      </a:r>
                    </a:p>
                  </a:txBody>
                  <a:tcPr marL="17775" marR="17775" marT="17775" marB="17775">
                    <a:lnL>
                      <a:noFill/>
                    </a:lnL>
                    <a:lnR>
                      <a:noFill/>
                    </a:lnR>
                    <a:lnT>
                      <a:noFill/>
                    </a:lnT>
                    <a:lnB>
                      <a:noFill/>
                    </a:lnB>
                  </a:tcPr>
                </a:tc>
                <a:extLst>
                  <a:ext uri="{0D108BD9-81ED-4DB2-BD59-A6C34878D82A}">
                    <a16:rowId xmlns:a16="http://schemas.microsoft.com/office/drawing/2014/main" val="1741648929"/>
                  </a:ext>
                </a:extLst>
              </a:tr>
              <a:tr h="506293">
                <a:tc>
                  <a:txBody>
                    <a:bodyPr/>
                    <a:lstStyle/>
                    <a:p>
                      <a:r>
                        <a:rPr lang="fr-FR" sz="2000"/>
                        <a:t>Bovins de boucherie</a:t>
                      </a:r>
                    </a:p>
                  </a:txBody>
                  <a:tcPr marL="17775" marR="17775" marT="17775" marB="17775">
                    <a:lnL>
                      <a:noFill/>
                    </a:lnL>
                    <a:lnR>
                      <a:noFill/>
                    </a:lnR>
                    <a:lnT>
                      <a:noFill/>
                    </a:lnT>
                    <a:lnB>
                      <a:noFill/>
                    </a:lnB>
                  </a:tcPr>
                </a:tc>
                <a:tc>
                  <a:txBody>
                    <a:bodyPr/>
                    <a:lstStyle/>
                    <a:p>
                      <a:r>
                        <a:rPr lang="fr-FR" sz="2000"/>
                        <a:t>Boeuf</a:t>
                      </a:r>
                    </a:p>
                  </a:txBody>
                  <a:tcPr marL="17775" marR="17775" marT="17775" marB="17775">
                    <a:lnL>
                      <a:noFill/>
                    </a:lnL>
                    <a:lnR>
                      <a:noFill/>
                    </a:lnR>
                    <a:lnT>
                      <a:noFill/>
                    </a:lnT>
                    <a:lnB>
                      <a:noFill/>
                    </a:lnB>
                  </a:tcPr>
                </a:tc>
                <a:tc>
                  <a:txBody>
                    <a:bodyPr/>
                    <a:lstStyle/>
                    <a:p>
                      <a:r>
                        <a:rPr lang="fr-FR" sz="2000" dirty="0" err="1"/>
                        <a:t>Boeuf</a:t>
                      </a:r>
                      <a:r>
                        <a:rPr lang="fr-FR" sz="2000" dirty="0"/>
                        <a:t> haché</a:t>
                      </a:r>
                    </a:p>
                  </a:txBody>
                  <a:tcPr marL="17775" marR="17775" marT="17775" marB="17775">
                    <a:lnL>
                      <a:noFill/>
                    </a:lnL>
                    <a:lnR>
                      <a:noFill/>
                    </a:lnR>
                    <a:lnT>
                      <a:noFill/>
                    </a:lnT>
                    <a:lnB>
                      <a:noFill/>
                    </a:lnB>
                  </a:tcPr>
                </a:tc>
                <a:extLst>
                  <a:ext uri="{0D108BD9-81ED-4DB2-BD59-A6C34878D82A}">
                    <a16:rowId xmlns:a16="http://schemas.microsoft.com/office/drawing/2014/main" val="960020102"/>
                  </a:ext>
                </a:extLst>
              </a:tr>
            </a:tbl>
          </a:graphicData>
        </a:graphic>
      </p:graphicFrame>
      <p:sp>
        <p:nvSpPr>
          <p:cNvPr id="5" name="Rectangle 1">
            <a:extLst>
              <a:ext uri="{FF2B5EF4-FFF2-40B4-BE49-F238E27FC236}">
                <a16:creationId xmlns:a16="http://schemas.microsoft.com/office/drawing/2014/main" id="{FF7DFD88-BF8B-44CF-8232-06463EA0F077}"/>
              </a:ext>
            </a:extLst>
          </p:cNvPr>
          <p:cNvSpPr>
            <a:spLocks noChangeArrowheads="1"/>
          </p:cNvSpPr>
          <p:nvPr/>
        </p:nvSpPr>
        <p:spPr bwMode="auto">
          <a:xfrm>
            <a:off x="-21224828" y="0"/>
            <a:ext cx="5464165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sp>
        <p:nvSpPr>
          <p:cNvPr id="6" name="Espace réservé du numéro de diapositive 5">
            <a:extLst>
              <a:ext uri="{FF2B5EF4-FFF2-40B4-BE49-F238E27FC236}">
                <a16:creationId xmlns:a16="http://schemas.microsoft.com/office/drawing/2014/main" id="{1038DE0C-8CBC-4476-94B6-D40552D8F36C}"/>
              </a:ext>
            </a:extLst>
          </p:cNvPr>
          <p:cNvSpPr>
            <a:spLocks noGrp="1"/>
          </p:cNvSpPr>
          <p:nvPr>
            <p:ph type="sldNum" sz="quarter" idx="12"/>
          </p:nvPr>
        </p:nvSpPr>
        <p:spPr/>
        <p:txBody>
          <a:bodyPr/>
          <a:lstStyle/>
          <a:p>
            <a:fld id="{6770FFFA-C405-4014-8A18-4EE1B97D8629}" type="slidenum">
              <a:rPr lang="fr-FR" smtClean="0"/>
              <a:t>14</a:t>
            </a:fld>
            <a:endParaRPr lang="fr-FR"/>
          </a:p>
        </p:txBody>
      </p:sp>
      <p:sp>
        <p:nvSpPr>
          <p:cNvPr id="2" name="Espace réservé du pied de page 1">
            <a:extLst>
              <a:ext uri="{FF2B5EF4-FFF2-40B4-BE49-F238E27FC236}">
                <a16:creationId xmlns:a16="http://schemas.microsoft.com/office/drawing/2014/main" id="{30ACBCD9-A00D-434B-A421-322FDA04D24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623150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728E97-8EFE-466F-B035-3A1BF3C0E05C}"/>
              </a:ext>
            </a:extLst>
          </p:cNvPr>
          <p:cNvSpPr>
            <a:spLocks noGrp="1"/>
          </p:cNvSpPr>
          <p:nvPr>
            <p:ph type="title"/>
          </p:nvPr>
        </p:nvSpPr>
        <p:spPr>
          <a:xfrm>
            <a:off x="838200" y="365125"/>
            <a:ext cx="10515600" cy="607027"/>
          </a:xfrm>
        </p:spPr>
        <p:txBody>
          <a:bodyPr/>
          <a:lstStyle/>
          <a:p>
            <a:r>
              <a:rPr lang="fr-CA" sz="3600" dirty="0">
                <a:effectLst/>
              </a:rPr>
              <a:t>DÉFINITIONS – </a:t>
            </a:r>
            <a:r>
              <a:rPr lang="fr-CA" sz="3600" i="1" dirty="0">
                <a:effectLst/>
              </a:rPr>
              <a:t>nature – </a:t>
            </a:r>
            <a:r>
              <a:rPr lang="fr-CA" sz="3600" dirty="0">
                <a:effectLst/>
              </a:rPr>
              <a:t>Classement des actifs agricoles</a:t>
            </a:r>
            <a:endParaRPr lang="fr-FR" dirty="0"/>
          </a:p>
        </p:txBody>
      </p:sp>
      <p:sp>
        <p:nvSpPr>
          <p:cNvPr id="3" name="Espace réservé du contenu 2">
            <a:extLst>
              <a:ext uri="{FF2B5EF4-FFF2-40B4-BE49-F238E27FC236}">
                <a16:creationId xmlns:a16="http://schemas.microsoft.com/office/drawing/2014/main" id="{2ADBE731-F011-4362-8FAA-1AE033FED850}"/>
              </a:ext>
            </a:extLst>
          </p:cNvPr>
          <p:cNvSpPr>
            <a:spLocks noGrp="1"/>
          </p:cNvSpPr>
          <p:nvPr>
            <p:ph idx="1"/>
          </p:nvPr>
        </p:nvSpPr>
        <p:spPr>
          <a:xfrm>
            <a:off x="838200" y="1261240"/>
            <a:ext cx="10515600" cy="5381297"/>
          </a:xfrm>
        </p:spPr>
        <p:txBody>
          <a:bodyPr>
            <a:normAutofit fontScale="70000" lnSpcReduction="20000"/>
          </a:bodyPr>
          <a:lstStyle/>
          <a:p>
            <a:pPr marL="0" indent="0">
              <a:spcBef>
                <a:spcPts val="0"/>
              </a:spcBef>
              <a:buNone/>
            </a:pPr>
            <a:r>
              <a:rPr lang="fr-CA" dirty="0">
                <a:effectLst/>
              </a:rPr>
              <a:t>b) </a:t>
            </a:r>
            <a:r>
              <a:rPr lang="fr-CA" b="1" dirty="0">
                <a:solidFill>
                  <a:srgbClr val="0070C0"/>
                </a:solidFill>
                <a:effectLst/>
              </a:rPr>
              <a:t>Stocks agricoles </a:t>
            </a:r>
            <a:r>
              <a:rPr lang="fr-CA" b="1" dirty="0">
                <a:effectLst/>
              </a:rPr>
              <a:t>:</a:t>
            </a:r>
            <a:r>
              <a:rPr lang="fr-CA" dirty="0">
                <a:effectLst/>
              </a:rPr>
              <a:t> actifs biologiques, ou produits récoltés des actifs biologiques, qui répondent à l'un des critères suivants :</a:t>
            </a:r>
          </a:p>
          <a:p>
            <a:pPr marL="355600" indent="0">
              <a:spcBef>
                <a:spcPts val="0"/>
              </a:spcBef>
              <a:buNone/>
            </a:pPr>
            <a:r>
              <a:rPr lang="fr-CA" dirty="0">
                <a:effectLst/>
              </a:rPr>
              <a:t>i)     ils sont détenus en vue de la vente dans le cours normal de l'activité;</a:t>
            </a:r>
          </a:p>
          <a:p>
            <a:pPr marL="355600" indent="0">
              <a:spcBef>
                <a:spcPts val="0"/>
              </a:spcBef>
              <a:buNone/>
            </a:pPr>
            <a:r>
              <a:rPr lang="fr-CA" dirty="0">
                <a:effectLst/>
              </a:rPr>
              <a:t>ii)     ils sont en cours de production agricole en vue de la vente ou de l'utilisation à des fins de ﻿ production;</a:t>
            </a:r>
          </a:p>
          <a:p>
            <a:pPr marL="355600" indent="0">
              <a:spcBef>
                <a:spcPts val="0"/>
              </a:spcBef>
              <a:buNone/>
            </a:pPr>
            <a:r>
              <a:rPr lang="fr-CA" dirty="0">
                <a:effectLst/>
              </a:rPr>
              <a:t>iii)     ils sont sous forme de matières premières ou de fournitures devant être consommées dans le processus de production agricole de l'entreprise;</a:t>
            </a:r>
          </a:p>
          <a:p>
            <a:pPr marL="355600" indent="0">
              <a:spcBef>
                <a:spcPts val="0"/>
              </a:spcBef>
              <a:buNone/>
            </a:pPr>
            <a:r>
              <a:rPr lang="fr-CA" dirty="0">
                <a:effectLst/>
              </a:rPr>
              <a:t>iv)     ils sont détenus en vue de l'utilisation à des fins de production et ont une courte durée de vie productive.</a:t>
            </a:r>
          </a:p>
          <a:p>
            <a:pPr indent="127000">
              <a:spcBef>
                <a:spcPts val="0"/>
              </a:spcBef>
              <a:buFont typeface="Wingdings" panose="05000000000000000000" pitchFamily="2" charset="2"/>
              <a:buChar char="Ø"/>
            </a:pPr>
            <a:r>
              <a:rPr lang="fr-CA" i="1" dirty="0"/>
              <a:t>Actif avant d’être mises en terre (graines et autres éléments)</a:t>
            </a:r>
            <a:endParaRPr lang="fr-CA" i="1" dirty="0">
              <a:effectLst/>
            </a:endParaRPr>
          </a:p>
          <a:p>
            <a:pPr marL="0" indent="0">
              <a:buNone/>
            </a:pPr>
            <a:endParaRPr lang="fr-CA" sz="2000" dirty="0">
              <a:solidFill>
                <a:srgbClr val="0070C0"/>
              </a:solidFill>
              <a:effectLst/>
            </a:endParaRPr>
          </a:p>
          <a:p>
            <a:pPr marL="0" indent="0">
              <a:spcBef>
                <a:spcPts val="0"/>
              </a:spcBef>
              <a:buNone/>
            </a:pPr>
            <a:r>
              <a:rPr lang="fr-CA" dirty="0">
                <a:solidFill>
                  <a:srgbClr val="0070C0"/>
                </a:solidFill>
                <a:effectLst/>
              </a:rPr>
              <a:t>h) </a:t>
            </a:r>
            <a:r>
              <a:rPr lang="fr-CA" b="1" dirty="0">
                <a:solidFill>
                  <a:srgbClr val="0070C0"/>
                </a:solidFill>
                <a:effectLst/>
              </a:rPr>
              <a:t>Actifs biologiques producteurs</a:t>
            </a:r>
            <a:r>
              <a:rPr lang="fr-CA" b="1" dirty="0">
                <a:effectLst/>
              </a:rPr>
              <a:t> :</a:t>
            </a:r>
            <a:r>
              <a:rPr lang="fr-CA" dirty="0">
                <a:effectLst/>
              </a:rPr>
              <a:t> actifs biologiques qui répondent à tous les critères suivants :</a:t>
            </a:r>
          </a:p>
          <a:p>
            <a:pPr marL="355600" indent="0">
              <a:spcBef>
                <a:spcPts val="0"/>
              </a:spcBef>
              <a:buNone/>
            </a:pPr>
            <a:r>
              <a:rPr lang="fr-CA" dirty="0">
                <a:effectLst/>
              </a:rPr>
              <a:t>i)     ils sont détenus en vue d'être utilisés dans la production ou la fourniture de stocks agricoles ou d'autres actifs biologiques producteurs;</a:t>
            </a:r>
          </a:p>
          <a:p>
            <a:pPr marL="355600" indent="0">
              <a:spcBef>
                <a:spcPts val="0"/>
              </a:spcBef>
              <a:buNone/>
            </a:pPr>
            <a:r>
              <a:rPr lang="fr-CA" dirty="0">
                <a:effectLst/>
              </a:rPr>
              <a:t>ii)     ils sont acquis ou développés en vue d'être utilisés de façon durable et n'ont pas une courte durée de vie productive;</a:t>
            </a:r>
          </a:p>
          <a:p>
            <a:pPr marL="355600" indent="0">
              <a:spcBef>
                <a:spcPts val="0"/>
              </a:spcBef>
              <a:buNone/>
            </a:pPr>
            <a:r>
              <a:rPr lang="fr-CA" dirty="0">
                <a:effectLst/>
              </a:rPr>
              <a:t>iii)     ils ne sont pas destinés à la vente dans le cours normal de l'activité.</a:t>
            </a:r>
          </a:p>
          <a:p>
            <a:pPr marL="355600" indent="0">
              <a:spcBef>
                <a:spcPts val="0"/>
              </a:spcBef>
              <a:buFont typeface="Wingdings" panose="05000000000000000000" pitchFamily="2" charset="2"/>
              <a:buChar char="Ø"/>
            </a:pPr>
            <a:r>
              <a:rPr lang="fr-CA" i="1" dirty="0"/>
              <a:t>Actif même si coûts déductibles au fiscal</a:t>
            </a:r>
          </a:p>
          <a:p>
            <a:pPr marL="355600" indent="0">
              <a:spcBef>
                <a:spcPts val="0"/>
              </a:spcBef>
              <a:buFont typeface="Wingdings" panose="05000000000000000000" pitchFamily="2" charset="2"/>
              <a:buChar char="Ø"/>
            </a:pPr>
            <a:endParaRPr lang="fr-CA" i="1" dirty="0">
              <a:effectLst/>
            </a:endParaRPr>
          </a:p>
          <a:p>
            <a:pPr marL="355600" indent="0">
              <a:spcBef>
                <a:spcPts val="0"/>
              </a:spcBef>
              <a:buFont typeface="Wingdings" panose="05000000000000000000" pitchFamily="2" charset="2"/>
              <a:buChar char="Ø"/>
            </a:pPr>
            <a:r>
              <a:rPr lang="fr-CA" i="1" dirty="0">
                <a:solidFill>
                  <a:srgbClr val="FF0000"/>
                </a:solidFill>
              </a:rPr>
              <a:t>Classification diffère de IAS 41</a:t>
            </a:r>
          </a:p>
          <a:p>
            <a:pPr marL="355600" indent="0">
              <a:spcBef>
                <a:spcPts val="0"/>
              </a:spcBef>
              <a:buFont typeface="Wingdings" panose="05000000000000000000" pitchFamily="2" charset="2"/>
              <a:buChar char="Ø"/>
            </a:pPr>
            <a:endParaRPr lang="fr-CA" i="1" dirty="0">
              <a:solidFill>
                <a:srgbClr val="FF0000"/>
              </a:solidFill>
              <a:effectLst/>
            </a:endParaRPr>
          </a:p>
          <a:p>
            <a:pPr marL="355600" indent="0">
              <a:spcBef>
                <a:spcPts val="0"/>
              </a:spcBef>
              <a:buFont typeface="Wingdings" panose="05000000000000000000" pitchFamily="2" charset="2"/>
              <a:buChar char="Ø"/>
            </a:pPr>
            <a:r>
              <a:rPr lang="fr-FR" altLang="fr-FR" dirty="0">
                <a:latin typeface="Arial" panose="020B0604020202020204" pitchFamily="34" charset="0"/>
              </a:rPr>
              <a:t>.07    (…) Les actifs biologiques peuvent être soit des stocks agricoles, soit des actifs biologiques producteurs (…</a:t>
            </a:r>
          </a:p>
        </p:txBody>
      </p:sp>
      <p:sp>
        <p:nvSpPr>
          <p:cNvPr id="4" name="Espace réservé du numéro de diapositive 3">
            <a:extLst>
              <a:ext uri="{FF2B5EF4-FFF2-40B4-BE49-F238E27FC236}">
                <a16:creationId xmlns:a16="http://schemas.microsoft.com/office/drawing/2014/main" id="{AD6AE0C0-DA13-4680-88E3-D8577176C012}"/>
              </a:ext>
            </a:extLst>
          </p:cNvPr>
          <p:cNvSpPr>
            <a:spLocks noGrp="1"/>
          </p:cNvSpPr>
          <p:nvPr>
            <p:ph type="sldNum" sz="quarter" idx="12"/>
          </p:nvPr>
        </p:nvSpPr>
        <p:spPr/>
        <p:txBody>
          <a:bodyPr/>
          <a:lstStyle/>
          <a:p>
            <a:fld id="{6770FFFA-C405-4014-8A18-4EE1B97D8629}" type="slidenum">
              <a:rPr lang="fr-FR" smtClean="0"/>
              <a:t>15</a:t>
            </a:fld>
            <a:endParaRPr lang="fr-FR"/>
          </a:p>
        </p:txBody>
      </p:sp>
      <p:sp>
        <p:nvSpPr>
          <p:cNvPr id="5" name="Espace réservé du pied de page 4">
            <a:extLst>
              <a:ext uri="{FF2B5EF4-FFF2-40B4-BE49-F238E27FC236}">
                <a16:creationId xmlns:a16="http://schemas.microsoft.com/office/drawing/2014/main" id="{E11B9D12-A6F1-4A5F-8C74-0AB9FE4E8362}"/>
              </a:ext>
            </a:extLst>
          </p:cNvPr>
          <p:cNvSpPr>
            <a:spLocks noGrp="1"/>
          </p:cNvSpPr>
          <p:nvPr>
            <p:ph type="ftr" sz="quarter" idx="11"/>
          </p:nvPr>
        </p:nvSpPr>
        <p:spPr/>
        <p:txBody>
          <a:bodyPr/>
          <a:lstStyle/>
          <a:p>
            <a:r>
              <a:rPr lang="fr-FR" dirty="0"/>
              <a:t>Droits réservés - Louise Overbeek</a:t>
            </a:r>
          </a:p>
        </p:txBody>
      </p:sp>
    </p:spTree>
    <p:extLst>
      <p:ext uri="{BB962C8B-B14F-4D97-AF65-F5344CB8AC3E}">
        <p14:creationId xmlns:p14="http://schemas.microsoft.com/office/powerpoint/2010/main" val="2633121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728E97-8EFE-466F-B035-3A1BF3C0E05C}"/>
              </a:ext>
            </a:extLst>
          </p:cNvPr>
          <p:cNvSpPr>
            <a:spLocks noGrp="1"/>
          </p:cNvSpPr>
          <p:nvPr>
            <p:ph type="title"/>
          </p:nvPr>
        </p:nvSpPr>
        <p:spPr/>
        <p:txBody>
          <a:bodyPr/>
          <a:lstStyle/>
          <a:p>
            <a:r>
              <a:rPr lang="fr-CA" sz="3600" dirty="0">
                <a:effectLst/>
              </a:rPr>
              <a:t>DÉFINITIONS</a:t>
            </a:r>
            <a:endParaRPr lang="fr-FR" dirty="0"/>
          </a:p>
        </p:txBody>
      </p:sp>
      <p:sp>
        <p:nvSpPr>
          <p:cNvPr id="3" name="Espace réservé du contenu 2">
            <a:extLst>
              <a:ext uri="{FF2B5EF4-FFF2-40B4-BE49-F238E27FC236}">
                <a16:creationId xmlns:a16="http://schemas.microsoft.com/office/drawing/2014/main" id="{2ADBE731-F011-4362-8FAA-1AE033FED850}"/>
              </a:ext>
            </a:extLst>
          </p:cNvPr>
          <p:cNvSpPr>
            <a:spLocks noGrp="1"/>
          </p:cNvSpPr>
          <p:nvPr>
            <p:ph idx="1"/>
          </p:nvPr>
        </p:nvSpPr>
        <p:spPr/>
        <p:txBody>
          <a:bodyPr>
            <a:normAutofit/>
          </a:bodyPr>
          <a:lstStyle/>
          <a:p>
            <a:pPr marL="0" indent="0">
              <a:spcBef>
                <a:spcPts val="0"/>
              </a:spcBef>
              <a:buNone/>
            </a:pPr>
            <a:r>
              <a:rPr lang="fr-CA" dirty="0">
                <a:effectLst/>
              </a:rPr>
              <a:t>﻿ f)     </a:t>
            </a:r>
            <a:r>
              <a:rPr lang="fr-CA" b="1" dirty="0">
                <a:effectLst/>
              </a:rPr>
              <a:t>Récolte :</a:t>
            </a:r>
            <a:r>
              <a:rPr lang="fr-CA" dirty="0">
                <a:effectLst/>
              </a:rPr>
              <a:t> détachement de produits d'un actif biologique (y compris la naissance de descendants) ou l'arrêt des processus vitaux d'un actif biologique.</a:t>
            </a:r>
          </a:p>
          <a:p>
            <a:pPr marL="0" indent="0">
              <a:spcBef>
                <a:spcPts val="0"/>
              </a:spcBef>
              <a:buNone/>
            </a:pPr>
            <a:endParaRPr lang="fr-CA" dirty="0">
              <a:effectLst/>
            </a:endParaRPr>
          </a:p>
          <a:p>
            <a:pPr marL="0" indent="0">
              <a:spcBef>
                <a:spcPts val="0"/>
              </a:spcBef>
              <a:buNone/>
            </a:pPr>
            <a:r>
              <a:rPr lang="fr-CA" dirty="0">
                <a:effectLst/>
              </a:rPr>
              <a:t>g)     </a:t>
            </a:r>
            <a:r>
              <a:rPr lang="fr-CA" b="1" dirty="0">
                <a:effectLst/>
              </a:rPr>
              <a:t>Valeur nette de réalisation :</a:t>
            </a:r>
            <a:r>
              <a:rPr lang="fr-CA" dirty="0">
                <a:effectLst/>
              </a:rPr>
              <a:t> prix de vente estimé dans le cours normal de l'activité, diminué des coûts estimés pour l'achèvement et des coûts estimés nécessaires pour réaliser la vente.</a:t>
            </a:r>
          </a:p>
          <a:p>
            <a:pPr marL="0" indent="0">
              <a:spcBef>
                <a:spcPts val="0"/>
              </a:spcBef>
              <a:buNone/>
            </a:pPr>
            <a:endParaRPr lang="fr-CA" dirty="0">
              <a:effectLst/>
            </a:endParaRPr>
          </a:p>
          <a:p>
            <a:pPr marL="0" indent="0">
              <a:buNone/>
            </a:pPr>
            <a:endParaRPr lang="fr-CA" dirty="0">
              <a:effectLst/>
            </a:endParaRPr>
          </a:p>
          <a:p>
            <a:pPr marL="0" indent="0">
              <a:buNone/>
            </a:pPr>
            <a:endParaRPr lang="fr-CA" dirty="0">
              <a:effectLst/>
            </a:endParaRPr>
          </a:p>
          <a:p>
            <a:pPr marL="0" indent="0">
              <a:buNone/>
            </a:pPr>
            <a:endParaRPr lang="fr-FR" dirty="0"/>
          </a:p>
        </p:txBody>
      </p:sp>
      <p:sp>
        <p:nvSpPr>
          <p:cNvPr id="4" name="Espace réservé du numéro de diapositive 3">
            <a:extLst>
              <a:ext uri="{FF2B5EF4-FFF2-40B4-BE49-F238E27FC236}">
                <a16:creationId xmlns:a16="http://schemas.microsoft.com/office/drawing/2014/main" id="{E293E360-FCDA-4407-8EC5-EFFFE7BD663F}"/>
              </a:ext>
            </a:extLst>
          </p:cNvPr>
          <p:cNvSpPr>
            <a:spLocks noGrp="1"/>
          </p:cNvSpPr>
          <p:nvPr>
            <p:ph type="sldNum" sz="quarter" idx="12"/>
          </p:nvPr>
        </p:nvSpPr>
        <p:spPr/>
        <p:txBody>
          <a:bodyPr/>
          <a:lstStyle/>
          <a:p>
            <a:fld id="{6770FFFA-C405-4014-8A18-4EE1B97D8629}" type="slidenum">
              <a:rPr lang="fr-FR" smtClean="0"/>
              <a:t>16</a:t>
            </a:fld>
            <a:endParaRPr lang="fr-FR"/>
          </a:p>
        </p:txBody>
      </p:sp>
      <p:sp>
        <p:nvSpPr>
          <p:cNvPr id="5" name="Espace réservé du pied de page 4">
            <a:extLst>
              <a:ext uri="{FF2B5EF4-FFF2-40B4-BE49-F238E27FC236}">
                <a16:creationId xmlns:a16="http://schemas.microsoft.com/office/drawing/2014/main" id="{7699E9DC-5EF8-44C2-9524-F576FF1FAB28}"/>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432517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effectLst/>
              </a:rPr>
              <a:t>ÉVALUATION DES </a:t>
            </a:r>
            <a:r>
              <a:rPr lang="fr-CA" sz="4000" b="1" dirty="0">
                <a:solidFill>
                  <a:srgbClr val="FF0000"/>
                </a:solidFill>
                <a:effectLst/>
              </a:rPr>
              <a:t>STOCKS AGRICOLES﻿</a:t>
            </a:r>
            <a:br>
              <a:rPr lang="fr-CA" sz="4000" dirty="0">
                <a:effectLst/>
              </a:rPr>
            </a:br>
            <a:r>
              <a:rPr lang="fr-CA" sz="4000" dirty="0">
                <a:effectLst/>
              </a:rPr>
              <a:t>Méthode comptable</a:t>
            </a:r>
            <a:endParaRPr lang="fr-CA" sz="4000" dirty="0"/>
          </a:p>
        </p:txBody>
      </p:sp>
      <p:sp>
        <p:nvSpPr>
          <p:cNvPr id="3" name="Espace réservé du contenu 2"/>
          <p:cNvSpPr>
            <a:spLocks noGrp="1"/>
          </p:cNvSpPr>
          <p:nvPr>
            <p:ph idx="1"/>
          </p:nvPr>
        </p:nvSpPr>
        <p:spPr>
          <a:xfrm>
            <a:off x="838200" y="1825625"/>
            <a:ext cx="10515600" cy="4667250"/>
          </a:xfrm>
        </p:spPr>
        <p:txBody>
          <a:bodyPr>
            <a:normAutofit fontScale="85000" lnSpcReduction="20000"/>
          </a:bodyPr>
          <a:lstStyle/>
          <a:p>
            <a:pPr marL="0" indent="0">
              <a:buNone/>
            </a:pPr>
            <a:r>
              <a:rPr lang="fr-CA" dirty="0"/>
              <a:t>Choix de méthode comptable :</a:t>
            </a:r>
          </a:p>
          <a:p>
            <a:r>
              <a:rPr lang="fr-CA" dirty="0">
                <a:solidFill>
                  <a:srgbClr val="0070C0"/>
                </a:solidFill>
              </a:rPr>
              <a:t>coût</a:t>
            </a:r>
            <a:r>
              <a:rPr lang="fr-CA" dirty="0"/>
              <a:t> </a:t>
            </a:r>
          </a:p>
          <a:p>
            <a:pPr lvl="1"/>
            <a:r>
              <a:rPr lang="fr-CA" sz="2800" dirty="0"/>
              <a:t>Choix entre   </a:t>
            </a:r>
            <a:r>
              <a:rPr lang="fr-CA" dirty="0"/>
              <a:t>(une seule méthode pour l’ensemble des stocks mesurés au coût)</a:t>
            </a:r>
          </a:p>
          <a:p>
            <a:pPr lvl="2"/>
            <a:r>
              <a:rPr lang="fr-CA" sz="2800" dirty="0"/>
              <a:t>Coût complet </a:t>
            </a:r>
            <a:r>
              <a:rPr lang="fr-CA" sz="2400" dirty="0"/>
              <a:t>: incluant coûts indirects affectés</a:t>
            </a:r>
          </a:p>
          <a:p>
            <a:pPr lvl="2"/>
            <a:r>
              <a:rPr lang="fr-CA" sz="2800" dirty="0"/>
              <a:t>Uniquement coût des intrants </a:t>
            </a:r>
            <a:r>
              <a:rPr lang="fr-CA" sz="2400" dirty="0"/>
              <a:t>: matières premières, main-d’œuvre directe si facilement déterminable</a:t>
            </a:r>
          </a:p>
          <a:p>
            <a:pPr lvl="1"/>
            <a:r>
              <a:rPr lang="fr-CA" sz="2600" dirty="0"/>
              <a:t>Moindre coût et valeur nette de réalisation</a:t>
            </a:r>
          </a:p>
          <a:p>
            <a:r>
              <a:rPr lang="fr-CA" dirty="0">
                <a:solidFill>
                  <a:srgbClr val="0070C0"/>
                </a:solidFill>
              </a:rPr>
              <a:t>valeur nette de réalisation </a:t>
            </a:r>
          </a:p>
          <a:p>
            <a:pPr lvl="1"/>
            <a:r>
              <a:rPr lang="fr-CA" i="1" dirty="0">
                <a:effectLst/>
              </a:rPr>
              <a:t>Seulement lorsque </a:t>
            </a:r>
            <a:r>
              <a:rPr lang="fr-CA" i="1" u="sng" dirty="0">
                <a:effectLst/>
              </a:rPr>
              <a:t>toutes</a:t>
            </a:r>
            <a:r>
              <a:rPr lang="fr-CA" i="1" dirty="0">
                <a:effectLst/>
              </a:rPr>
              <a:t> les conditions suivantes sont remplies :</a:t>
            </a:r>
            <a:endParaRPr lang="fr-CA" dirty="0">
              <a:effectLst/>
            </a:endParaRPr>
          </a:p>
          <a:p>
            <a:pPr marL="1166813" indent="-536575">
              <a:buNone/>
            </a:pPr>
            <a:r>
              <a:rPr lang="fr-CA" sz="2400" i="1" dirty="0">
                <a:effectLst/>
              </a:rPr>
              <a:t>i)     il existe un prix du marché fiable, facilement déterminable et réalisable pour le produit,</a:t>
            </a:r>
            <a:endParaRPr lang="fr-CA" sz="2400" dirty="0">
              <a:effectLst/>
            </a:endParaRPr>
          </a:p>
          <a:p>
            <a:pPr marL="1166813" indent="-536575">
              <a:buNone/>
            </a:pPr>
            <a:r>
              <a:rPr lang="fr-CA" sz="2400" i="1" dirty="0">
                <a:effectLst/>
              </a:rPr>
              <a:t>ii)     les frais de sortie qui se rattachent au produit peuvent être évalués de façon fiable et sont prévisibles,</a:t>
            </a:r>
            <a:endParaRPr lang="fr-CA" sz="2400" dirty="0">
              <a:effectLst/>
            </a:endParaRPr>
          </a:p>
          <a:p>
            <a:pPr marL="1166813" indent="-536575">
              <a:buNone/>
            </a:pPr>
            <a:r>
              <a:rPr lang="fr-CA" sz="2400" i="1" dirty="0">
                <a:effectLst/>
              </a:rPr>
              <a:t>iii)     le produit est prêt à la livraison</a:t>
            </a:r>
            <a:endParaRPr lang="fr-CA" sz="2400" dirty="0"/>
          </a:p>
          <a:p>
            <a:pPr marL="0" indent="0">
              <a:buNone/>
            </a:pPr>
            <a:r>
              <a:rPr lang="fr-CA" dirty="0"/>
              <a:t>même méthode pour tous les stocks agricoles de nature similaire</a:t>
            </a:r>
          </a:p>
        </p:txBody>
      </p:sp>
      <p:sp>
        <p:nvSpPr>
          <p:cNvPr id="4" name="Espace réservé du numéro de diapositive 3">
            <a:extLst>
              <a:ext uri="{FF2B5EF4-FFF2-40B4-BE49-F238E27FC236}">
                <a16:creationId xmlns:a16="http://schemas.microsoft.com/office/drawing/2014/main" id="{D7DDEC0F-1B50-408E-85A7-0CF8CBBDD7E4}"/>
              </a:ext>
            </a:extLst>
          </p:cNvPr>
          <p:cNvSpPr>
            <a:spLocks noGrp="1"/>
          </p:cNvSpPr>
          <p:nvPr>
            <p:ph type="sldNum" sz="quarter" idx="12"/>
          </p:nvPr>
        </p:nvSpPr>
        <p:spPr/>
        <p:txBody>
          <a:bodyPr/>
          <a:lstStyle/>
          <a:p>
            <a:fld id="{6770FFFA-C405-4014-8A18-4EE1B97D8629}" type="slidenum">
              <a:rPr lang="fr-FR" smtClean="0"/>
              <a:t>17</a:t>
            </a:fld>
            <a:endParaRPr lang="fr-FR"/>
          </a:p>
        </p:txBody>
      </p:sp>
      <p:sp>
        <p:nvSpPr>
          <p:cNvPr id="5" name="Espace réservé du pied de page 4">
            <a:extLst>
              <a:ext uri="{FF2B5EF4-FFF2-40B4-BE49-F238E27FC236}">
                <a16:creationId xmlns:a16="http://schemas.microsoft.com/office/drawing/2014/main" id="{E1782716-B240-4233-AAE8-EB234A20BF5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345934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34789D-EC96-4B54-9B9A-A84B90586F11}"/>
              </a:ext>
            </a:extLst>
          </p:cNvPr>
          <p:cNvSpPr>
            <a:spLocks noGrp="1"/>
          </p:cNvSpPr>
          <p:nvPr>
            <p:ph type="title"/>
          </p:nvPr>
        </p:nvSpPr>
        <p:spPr>
          <a:xfrm>
            <a:off x="838200" y="365125"/>
            <a:ext cx="10515600" cy="927647"/>
          </a:xfrm>
        </p:spPr>
        <p:txBody>
          <a:bodyPr>
            <a:normAutofit fontScale="90000"/>
          </a:bodyPr>
          <a:lstStyle/>
          <a:p>
            <a:r>
              <a:rPr lang="fr-CA" sz="3600" dirty="0">
                <a:effectLst/>
              </a:rPr>
              <a:t>ÉVALUATION DES STOCKS AGRICOLES﻿</a:t>
            </a:r>
            <a:br>
              <a:rPr lang="fr-CA" sz="3600" dirty="0">
                <a:effectLst/>
              </a:rPr>
            </a:br>
            <a:r>
              <a:rPr lang="fr-CA" sz="3600" dirty="0">
                <a:effectLst/>
              </a:rPr>
              <a:t>Méthode comptable</a:t>
            </a:r>
            <a:r>
              <a:rPr lang="fr-CA" sz="3600" i="1" dirty="0">
                <a:effectLst/>
              </a:rPr>
              <a:t>  </a:t>
            </a:r>
            <a:r>
              <a:rPr lang="fr-CA" sz="2800" i="1" dirty="0">
                <a:effectLst/>
              </a:rPr>
              <a:t>(suite) </a:t>
            </a:r>
            <a:r>
              <a:rPr lang="fr-CA" sz="2800" dirty="0">
                <a:effectLst/>
              </a:rPr>
              <a:t>conditions valeur nette de réalisation</a:t>
            </a:r>
            <a:endParaRPr lang="fr-FR" dirty="0"/>
          </a:p>
        </p:txBody>
      </p:sp>
      <p:sp>
        <p:nvSpPr>
          <p:cNvPr id="3" name="Espace réservé du contenu 2">
            <a:extLst>
              <a:ext uri="{FF2B5EF4-FFF2-40B4-BE49-F238E27FC236}">
                <a16:creationId xmlns:a16="http://schemas.microsoft.com/office/drawing/2014/main" id="{F86468C0-658C-43E0-B01D-6E5146CB2CD2}"/>
              </a:ext>
            </a:extLst>
          </p:cNvPr>
          <p:cNvSpPr>
            <a:spLocks noGrp="1"/>
          </p:cNvSpPr>
          <p:nvPr>
            <p:ph idx="1"/>
          </p:nvPr>
        </p:nvSpPr>
        <p:spPr>
          <a:xfrm>
            <a:off x="838201" y="1910080"/>
            <a:ext cx="10515600" cy="4227961"/>
          </a:xfrm>
        </p:spPr>
        <p:txBody>
          <a:bodyPr>
            <a:noAutofit/>
          </a:bodyPr>
          <a:lstStyle/>
          <a:p>
            <a:pPr marL="0" indent="0">
              <a:spcBef>
                <a:spcPts val="0"/>
              </a:spcBef>
              <a:buNone/>
            </a:pPr>
            <a:r>
              <a:rPr lang="fr-CA" sz="2400" dirty="0">
                <a:effectLst/>
              </a:rPr>
              <a:t>.</a:t>
            </a:r>
            <a:r>
              <a:rPr lang="fr-CA" sz="2400" dirty="0">
                <a:solidFill>
                  <a:srgbClr val="0070C0"/>
                </a:solidFill>
                <a:effectLst/>
              </a:rPr>
              <a:t>21     Lorsque le producteur agricole a choisi, aux termes de l'alinéa 3041.17 b), d'évaluer ses stocks agricoles selon le modèle de la valeur nette de réalisation mais que les conditions pour ce faire ne sont pas remplies, il applique le modèle du coût pour évaluer les stocks agricoles (voir le paragraphe 3041.22). Lorsque les conditions sont remplies, il applique le modèle de la valeur nette de réalisation (voir le paragraphe 3041.49).</a:t>
            </a:r>
          </a:p>
        </p:txBody>
      </p:sp>
      <p:sp>
        <p:nvSpPr>
          <p:cNvPr id="4" name="Espace réservé du numéro de diapositive 3">
            <a:extLst>
              <a:ext uri="{FF2B5EF4-FFF2-40B4-BE49-F238E27FC236}">
                <a16:creationId xmlns:a16="http://schemas.microsoft.com/office/drawing/2014/main" id="{A2804F86-5378-4FFF-A1DA-CCFFFAB6821A}"/>
              </a:ext>
            </a:extLst>
          </p:cNvPr>
          <p:cNvSpPr>
            <a:spLocks noGrp="1"/>
          </p:cNvSpPr>
          <p:nvPr>
            <p:ph type="sldNum" sz="quarter" idx="12"/>
          </p:nvPr>
        </p:nvSpPr>
        <p:spPr/>
        <p:txBody>
          <a:bodyPr/>
          <a:lstStyle/>
          <a:p>
            <a:fld id="{6770FFFA-C405-4014-8A18-4EE1B97D8629}" type="slidenum">
              <a:rPr lang="fr-FR" smtClean="0"/>
              <a:t>18</a:t>
            </a:fld>
            <a:endParaRPr lang="fr-FR" dirty="0"/>
          </a:p>
        </p:txBody>
      </p:sp>
      <p:sp>
        <p:nvSpPr>
          <p:cNvPr id="5" name="Espace réservé du pied de page 4">
            <a:extLst>
              <a:ext uri="{FF2B5EF4-FFF2-40B4-BE49-F238E27FC236}">
                <a16:creationId xmlns:a16="http://schemas.microsoft.com/office/drawing/2014/main" id="{B34764AA-DDD1-4D37-9173-D5A8297C14D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543991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57B091-7DAD-4F9F-889C-6CE031DE825A}"/>
              </a:ext>
            </a:extLst>
          </p:cNvPr>
          <p:cNvSpPr>
            <a:spLocks noGrp="1"/>
          </p:cNvSpPr>
          <p:nvPr>
            <p:ph type="title"/>
          </p:nvPr>
        </p:nvSpPr>
        <p:spPr/>
        <p:txBody>
          <a:bodyPr>
            <a:normAutofit fontScale="90000"/>
          </a:bodyPr>
          <a:lstStyle/>
          <a:p>
            <a:r>
              <a:rPr lang="fr-CA" sz="4000" dirty="0">
                <a:effectLst/>
              </a:rPr>
              <a:t>ÉVALUATION DES </a:t>
            </a:r>
            <a:r>
              <a:rPr lang="fr-CA" sz="4000" b="1" dirty="0">
                <a:solidFill>
                  <a:srgbClr val="FF0000"/>
                </a:solidFill>
                <a:effectLst/>
              </a:rPr>
              <a:t>ACTIFS BIOLOGIQUES PRODUCTEURS﻿</a:t>
            </a:r>
            <a:br>
              <a:rPr lang="fr-CA" sz="4000" dirty="0">
                <a:effectLst/>
              </a:rPr>
            </a:br>
            <a:r>
              <a:rPr lang="fr-CA" sz="4000" dirty="0">
                <a:effectLst/>
              </a:rPr>
              <a:t>Coût﻿</a:t>
            </a:r>
            <a:endParaRPr lang="fr-FR" dirty="0"/>
          </a:p>
        </p:txBody>
      </p:sp>
      <p:sp>
        <p:nvSpPr>
          <p:cNvPr id="3" name="Espace réservé du contenu 2">
            <a:extLst>
              <a:ext uri="{FF2B5EF4-FFF2-40B4-BE49-F238E27FC236}">
                <a16:creationId xmlns:a16="http://schemas.microsoft.com/office/drawing/2014/main" id="{226A3D19-CD53-4193-8F1A-7FADFBB99944}"/>
              </a:ext>
            </a:extLst>
          </p:cNvPr>
          <p:cNvSpPr>
            <a:spLocks noGrp="1"/>
          </p:cNvSpPr>
          <p:nvPr>
            <p:ph idx="1"/>
          </p:nvPr>
        </p:nvSpPr>
        <p:spPr/>
        <p:txBody>
          <a:bodyPr>
            <a:normAutofit/>
          </a:bodyPr>
          <a:lstStyle/>
          <a:p>
            <a:pPr marL="0" indent="0">
              <a:spcBef>
                <a:spcPts val="0"/>
              </a:spcBef>
              <a:buNone/>
            </a:pPr>
            <a:r>
              <a:rPr lang="fr-CA" dirty="0">
                <a:effectLst/>
              </a:rPr>
              <a:t>.58     </a:t>
            </a:r>
            <a:r>
              <a:rPr lang="fr-CA" i="1" dirty="0">
                <a:effectLst/>
              </a:rPr>
              <a:t>Les actifs biologiques producteurs doivent être évalués au coût.</a:t>
            </a:r>
          </a:p>
          <a:p>
            <a:pPr marL="0" indent="0">
              <a:spcBef>
                <a:spcPts val="0"/>
              </a:spcBef>
              <a:buNone/>
            </a:pPr>
            <a:endParaRPr lang="fr-CA" dirty="0">
              <a:effectLst/>
            </a:endParaRPr>
          </a:p>
          <a:p>
            <a:pPr marL="0" indent="0">
              <a:spcBef>
                <a:spcPts val="0"/>
              </a:spcBef>
              <a:buNone/>
            </a:pPr>
            <a:r>
              <a:rPr lang="fr-CA" dirty="0">
                <a:effectLst/>
              </a:rPr>
              <a:t>.59     Le coût des actifs biologiques producteurs correspond au montant de la contrepartie donnée </a:t>
            </a:r>
            <a:r>
              <a:rPr lang="fr-CA" u="sng" dirty="0">
                <a:solidFill>
                  <a:srgbClr val="0070C0"/>
                </a:solidFill>
                <a:effectLst/>
              </a:rPr>
              <a:t>pour acquérir, développer ou améliorer les actifs</a:t>
            </a:r>
            <a:r>
              <a:rPr lang="fr-CA" dirty="0">
                <a:effectLst/>
              </a:rPr>
              <a:t>. Il englobe les frais directement attribuables à l'acquisition, au développement ou à l'amélioration des actifs, y compris les frais engagés pour amener ceux-ci à l'endroit et dans l'état où ils doivent se trouver aux fins de leur utilisation prévue. Le coût comprend tout coût de mise hors service comptabilisé conformément au chapitre 3110, OBLIGATIONS LIÉES À LA MISE HORS SERVICE D'IMMOBILISATIONS.</a:t>
            </a:r>
          </a:p>
          <a:p>
            <a:pPr marL="0" indent="0">
              <a:buNone/>
            </a:pPr>
            <a:endParaRPr lang="fr-FR" dirty="0"/>
          </a:p>
        </p:txBody>
      </p:sp>
      <p:sp>
        <p:nvSpPr>
          <p:cNvPr id="4" name="Espace réservé du numéro de diapositive 3">
            <a:extLst>
              <a:ext uri="{FF2B5EF4-FFF2-40B4-BE49-F238E27FC236}">
                <a16:creationId xmlns:a16="http://schemas.microsoft.com/office/drawing/2014/main" id="{761B58CA-3525-4992-8467-8B3D418A8311}"/>
              </a:ext>
            </a:extLst>
          </p:cNvPr>
          <p:cNvSpPr>
            <a:spLocks noGrp="1"/>
          </p:cNvSpPr>
          <p:nvPr>
            <p:ph type="sldNum" sz="quarter" idx="12"/>
          </p:nvPr>
        </p:nvSpPr>
        <p:spPr/>
        <p:txBody>
          <a:bodyPr/>
          <a:lstStyle/>
          <a:p>
            <a:fld id="{6770FFFA-C405-4014-8A18-4EE1B97D8629}" type="slidenum">
              <a:rPr lang="fr-FR" smtClean="0"/>
              <a:t>19</a:t>
            </a:fld>
            <a:endParaRPr lang="fr-FR"/>
          </a:p>
        </p:txBody>
      </p:sp>
      <p:sp>
        <p:nvSpPr>
          <p:cNvPr id="5" name="Espace réservé du pied de page 4">
            <a:extLst>
              <a:ext uri="{FF2B5EF4-FFF2-40B4-BE49-F238E27FC236}">
                <a16:creationId xmlns:a16="http://schemas.microsoft.com/office/drawing/2014/main" id="{6F19F1CA-77D0-466F-B771-7232BDC78F0E}"/>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4830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57B091-7DAD-4F9F-889C-6CE031DE825A}"/>
              </a:ext>
            </a:extLst>
          </p:cNvPr>
          <p:cNvSpPr>
            <a:spLocks noGrp="1"/>
          </p:cNvSpPr>
          <p:nvPr>
            <p:ph type="title"/>
          </p:nvPr>
        </p:nvSpPr>
        <p:spPr/>
        <p:txBody>
          <a:bodyPr>
            <a:normAutofit fontScale="90000"/>
          </a:bodyPr>
          <a:lstStyle/>
          <a:p>
            <a:r>
              <a:rPr lang="fr-CA" sz="4000" dirty="0">
                <a:effectLst/>
              </a:rPr>
              <a:t>ÉVALUATION DES ACTIFS BIOLOGIQUES PRODUCTEURS﻿</a:t>
            </a:r>
            <a:br>
              <a:rPr lang="fr-CA" sz="4000" dirty="0">
                <a:effectLst/>
              </a:rPr>
            </a:br>
            <a:r>
              <a:rPr lang="fr-CA" sz="3100" i="1" dirty="0">
                <a:effectLst/>
              </a:rPr>
              <a:t>(suite)</a:t>
            </a:r>
            <a:endParaRPr lang="fr-FR" i="1" dirty="0"/>
          </a:p>
        </p:txBody>
      </p:sp>
      <p:sp>
        <p:nvSpPr>
          <p:cNvPr id="3" name="Espace réservé du contenu 2">
            <a:extLst>
              <a:ext uri="{FF2B5EF4-FFF2-40B4-BE49-F238E27FC236}">
                <a16:creationId xmlns:a16="http://schemas.microsoft.com/office/drawing/2014/main" id="{226A3D19-CD53-4193-8F1A-7FADFBB99944}"/>
              </a:ext>
            </a:extLst>
          </p:cNvPr>
          <p:cNvSpPr>
            <a:spLocks noGrp="1"/>
          </p:cNvSpPr>
          <p:nvPr>
            <p:ph idx="1"/>
          </p:nvPr>
        </p:nvSpPr>
        <p:spPr>
          <a:xfrm>
            <a:off x="838200" y="1825625"/>
            <a:ext cx="10515600" cy="4667250"/>
          </a:xfrm>
        </p:spPr>
        <p:txBody>
          <a:bodyPr>
            <a:normAutofit fontScale="92500" lnSpcReduction="10000"/>
          </a:bodyPr>
          <a:lstStyle/>
          <a:p>
            <a:pPr marL="0" indent="0">
              <a:spcBef>
                <a:spcPts val="0"/>
              </a:spcBef>
              <a:buNone/>
            </a:pPr>
            <a:r>
              <a:rPr lang="fr-CA" dirty="0">
                <a:effectLst/>
              </a:rPr>
              <a:t>On retrouve les concepts suivants qui sont les mêmes que pour immobilisations corporelles : </a:t>
            </a:r>
          </a:p>
          <a:p>
            <a:pPr marL="0" indent="0">
              <a:spcBef>
                <a:spcPts val="0"/>
              </a:spcBef>
              <a:buNone/>
            </a:pPr>
            <a:endParaRPr lang="fr-CA" dirty="0">
              <a:effectLst/>
            </a:endParaRPr>
          </a:p>
          <a:p>
            <a:pPr>
              <a:spcBef>
                <a:spcPts val="0"/>
              </a:spcBef>
              <a:buFontTx/>
              <a:buChar char="-"/>
            </a:pPr>
            <a:r>
              <a:rPr lang="fr-CA" b="1" dirty="0">
                <a:effectLst/>
              </a:rPr>
              <a:t>Frais d'acquisition : </a:t>
            </a:r>
            <a:r>
              <a:rPr lang="fr-CA" dirty="0">
                <a:effectLst/>
              </a:rPr>
              <a:t>frais liés à l’acquisition des actifs</a:t>
            </a:r>
          </a:p>
          <a:p>
            <a:pPr>
              <a:spcBef>
                <a:spcPts val="0"/>
              </a:spcBef>
              <a:buFontTx/>
              <a:buChar char="-"/>
            </a:pPr>
            <a:endParaRPr lang="fr-CA" dirty="0">
              <a:effectLst/>
            </a:endParaRPr>
          </a:p>
          <a:p>
            <a:pPr marL="0" indent="0">
              <a:spcBef>
                <a:spcPts val="0"/>
              </a:spcBef>
              <a:buNone/>
            </a:pPr>
            <a:r>
              <a:rPr lang="fr-CA" b="1" dirty="0">
                <a:effectLst/>
              </a:rPr>
              <a:t>- Frais de développement : </a:t>
            </a:r>
            <a:r>
              <a:rPr lang="fr-CA" dirty="0">
                <a:effectLst/>
              </a:rPr>
              <a:t>frais liés à la période de croissance de l’actif biologique (concept « construction »)</a:t>
            </a:r>
          </a:p>
          <a:p>
            <a:pPr marL="0" indent="0">
              <a:spcBef>
                <a:spcPts val="0"/>
              </a:spcBef>
              <a:buNone/>
            </a:pPr>
            <a:r>
              <a:rPr lang="fr-CA" dirty="0">
                <a:solidFill>
                  <a:srgbClr val="0070C0"/>
                </a:solidFill>
                <a:effectLst/>
              </a:rPr>
              <a:t>.62     Le producteur agricole cesse d'inscrire les frais de développement à l'actif lorsque l'actif biologique devient producteur. </a:t>
            </a:r>
            <a:r>
              <a:rPr lang="fr-CA" dirty="0">
                <a:effectLst/>
              </a:rPr>
              <a:t>(…)</a:t>
            </a:r>
          </a:p>
          <a:p>
            <a:pPr marL="0" indent="0">
              <a:spcBef>
                <a:spcPts val="0"/>
              </a:spcBef>
              <a:buNone/>
            </a:pPr>
            <a:endParaRPr lang="fr-CA" dirty="0">
              <a:effectLst/>
            </a:endParaRPr>
          </a:p>
          <a:p>
            <a:pPr marL="0" indent="0">
              <a:spcBef>
                <a:spcPts val="0"/>
              </a:spcBef>
              <a:buNone/>
            </a:pPr>
            <a:r>
              <a:rPr lang="fr-CA" dirty="0">
                <a:effectLst/>
              </a:rPr>
              <a:t>.63     Les produits nets ou charges nettes afférents à un actif biologique avant qu'il devienne producteur sont pris en compte dans la détermination du coût.</a:t>
            </a:r>
          </a:p>
        </p:txBody>
      </p:sp>
      <p:sp>
        <p:nvSpPr>
          <p:cNvPr id="4" name="Espace réservé du numéro de diapositive 3">
            <a:extLst>
              <a:ext uri="{FF2B5EF4-FFF2-40B4-BE49-F238E27FC236}">
                <a16:creationId xmlns:a16="http://schemas.microsoft.com/office/drawing/2014/main" id="{912994EF-0399-4648-987E-63A6891577FF}"/>
              </a:ext>
            </a:extLst>
          </p:cNvPr>
          <p:cNvSpPr>
            <a:spLocks noGrp="1"/>
          </p:cNvSpPr>
          <p:nvPr>
            <p:ph type="sldNum" sz="quarter" idx="12"/>
          </p:nvPr>
        </p:nvSpPr>
        <p:spPr/>
        <p:txBody>
          <a:bodyPr/>
          <a:lstStyle/>
          <a:p>
            <a:fld id="{6770FFFA-C405-4014-8A18-4EE1B97D8629}" type="slidenum">
              <a:rPr lang="fr-FR" smtClean="0"/>
              <a:t>20</a:t>
            </a:fld>
            <a:endParaRPr lang="fr-FR"/>
          </a:p>
        </p:txBody>
      </p:sp>
      <p:sp>
        <p:nvSpPr>
          <p:cNvPr id="5" name="Espace réservé du pied de page 4">
            <a:extLst>
              <a:ext uri="{FF2B5EF4-FFF2-40B4-BE49-F238E27FC236}">
                <a16:creationId xmlns:a16="http://schemas.microsoft.com/office/drawing/2014/main" id="{336DC69A-489D-45DD-87F6-53E7A602C60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56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57B091-7DAD-4F9F-889C-6CE031DE825A}"/>
              </a:ext>
            </a:extLst>
          </p:cNvPr>
          <p:cNvSpPr>
            <a:spLocks noGrp="1"/>
          </p:cNvSpPr>
          <p:nvPr>
            <p:ph type="title"/>
          </p:nvPr>
        </p:nvSpPr>
        <p:spPr/>
        <p:txBody>
          <a:bodyPr>
            <a:normAutofit fontScale="90000"/>
          </a:bodyPr>
          <a:lstStyle/>
          <a:p>
            <a:r>
              <a:rPr lang="fr-CA" sz="4000" dirty="0">
                <a:effectLst/>
              </a:rPr>
              <a:t>ÉVALUATION DES ACTIFS BIOLOGIQUES PRODUCTEURS﻿</a:t>
            </a:r>
            <a:br>
              <a:rPr lang="fr-CA" sz="4000" dirty="0">
                <a:effectLst/>
              </a:rPr>
            </a:br>
            <a:r>
              <a:rPr lang="fr-CA" sz="3100" i="1" dirty="0">
                <a:effectLst/>
              </a:rPr>
              <a:t>(suite)</a:t>
            </a:r>
            <a:endParaRPr lang="fr-FR" i="1" dirty="0"/>
          </a:p>
        </p:txBody>
      </p:sp>
      <p:sp>
        <p:nvSpPr>
          <p:cNvPr id="3" name="Espace réservé du contenu 2">
            <a:extLst>
              <a:ext uri="{FF2B5EF4-FFF2-40B4-BE49-F238E27FC236}">
                <a16:creationId xmlns:a16="http://schemas.microsoft.com/office/drawing/2014/main" id="{226A3D19-CD53-4193-8F1A-7FADFBB99944}"/>
              </a:ext>
            </a:extLst>
          </p:cNvPr>
          <p:cNvSpPr>
            <a:spLocks noGrp="1"/>
          </p:cNvSpPr>
          <p:nvPr>
            <p:ph idx="1"/>
          </p:nvPr>
        </p:nvSpPr>
        <p:spPr>
          <a:xfrm>
            <a:off x="838200" y="1825625"/>
            <a:ext cx="10515600" cy="4667250"/>
          </a:xfrm>
        </p:spPr>
        <p:txBody>
          <a:bodyPr>
            <a:noAutofit/>
          </a:bodyPr>
          <a:lstStyle/>
          <a:p>
            <a:pPr marL="0" indent="0">
              <a:spcBef>
                <a:spcPts val="0"/>
              </a:spcBef>
              <a:buNone/>
            </a:pPr>
            <a:r>
              <a:rPr lang="fr-CA" sz="2400" b="1" dirty="0">
                <a:effectLst/>
              </a:rPr>
              <a:t>- Améliorations</a:t>
            </a:r>
            <a:r>
              <a:rPr lang="fr-CA" sz="2400" dirty="0">
                <a:effectLst/>
              </a:rPr>
              <a:t>﻿﻿ : si augmente la capacité de production, ou réduction des frais</a:t>
            </a:r>
          </a:p>
          <a:p>
            <a:pPr marL="0" indent="0">
              <a:spcBef>
                <a:spcPts val="0"/>
              </a:spcBef>
              <a:buNone/>
            </a:pPr>
            <a:endParaRPr lang="fr-CA" sz="2400" dirty="0">
              <a:effectLst/>
            </a:endParaRPr>
          </a:p>
          <a:p>
            <a:pPr marL="0" indent="0">
              <a:spcBef>
                <a:spcPts val="0"/>
              </a:spcBef>
              <a:buNone/>
            </a:pPr>
            <a:r>
              <a:rPr lang="fr-CA" sz="2400" b="1" dirty="0">
                <a:effectLst/>
              </a:rPr>
              <a:t>- Amortissement : </a:t>
            </a:r>
            <a:r>
              <a:rPr lang="fr-CA" sz="2400" dirty="0">
                <a:effectLst/>
              </a:rPr>
              <a:t>sur la durée de vie</a:t>
            </a:r>
          </a:p>
          <a:p>
            <a:pPr marL="0" indent="0">
              <a:spcBef>
                <a:spcPts val="0"/>
              </a:spcBef>
              <a:buNone/>
            </a:pPr>
            <a:r>
              <a:rPr lang="fr-CA" sz="2200" dirty="0">
                <a:effectLst/>
              </a:rPr>
              <a:t>.66     Certains actifs biologiques producteurs sont gérés sur une base collective pour maintenir indéfiniment leur capacité de production collective. On considère que les actifs biologiques producteurs de ce type ont une durée de vie utile indéfinie et ils ne sont pas amortissables. Ce serait le cas, par exemple, d'un troupeau géré sur une base collective pour remplir indéfiniment un quota de production. Les coûts engagés pour le maintien du potentiel de service d'un troupeau représentent des frais d'entretien, et non une amélioration.</a:t>
            </a:r>
          </a:p>
          <a:p>
            <a:pPr marL="0" indent="0">
              <a:spcBef>
                <a:spcPts val="0"/>
              </a:spcBef>
              <a:buNone/>
            </a:pPr>
            <a:r>
              <a:rPr lang="fr-CA" sz="2200" dirty="0">
                <a:effectLst/>
              </a:rPr>
              <a:t>.67     </a:t>
            </a:r>
            <a:r>
              <a:rPr lang="fr-CA" sz="2200" i="1" dirty="0">
                <a:effectLst/>
              </a:rPr>
              <a:t>Lorsque la durée de vie des actifs biologiques producteurs est tenue pour indéfinie, les actifs ne doivent pas être amortis tant et aussi longtemps que leur durée de vie n'est pas considérée comme limitée.</a:t>
            </a:r>
          </a:p>
          <a:p>
            <a:pPr marL="0" indent="0">
              <a:spcBef>
                <a:spcPts val="0"/>
              </a:spcBef>
              <a:buNone/>
            </a:pPr>
            <a:endParaRPr lang="fr-CA" sz="2400" i="1" dirty="0">
              <a:effectLst/>
            </a:endParaRPr>
          </a:p>
          <a:p>
            <a:pPr marL="0" indent="0">
              <a:spcBef>
                <a:spcPts val="0"/>
              </a:spcBef>
              <a:buNone/>
            </a:pPr>
            <a:r>
              <a:rPr lang="fr-CA" sz="2400" b="1" dirty="0">
                <a:effectLst/>
              </a:rPr>
              <a:t>- Dépréciation : </a:t>
            </a:r>
            <a:r>
              <a:rPr lang="fr-CA" sz="2400" dirty="0">
                <a:effectLst/>
              </a:rPr>
              <a:t>référer au chap. 3063, </a:t>
            </a:r>
            <a:r>
              <a:rPr lang="fr-CA" sz="2400" i="1" dirty="0">
                <a:effectLst/>
              </a:rPr>
              <a:t>DÉPRÉCIATION D'ACTIFS À LONG TERME.</a:t>
            </a:r>
            <a:endParaRPr lang="fr-CA" sz="2400" dirty="0">
              <a:effectLst/>
            </a:endParaRPr>
          </a:p>
        </p:txBody>
      </p:sp>
      <p:sp>
        <p:nvSpPr>
          <p:cNvPr id="4" name="Espace réservé du numéro de diapositive 3">
            <a:extLst>
              <a:ext uri="{FF2B5EF4-FFF2-40B4-BE49-F238E27FC236}">
                <a16:creationId xmlns:a16="http://schemas.microsoft.com/office/drawing/2014/main" id="{447FF586-F527-4428-A932-0ED21E895FA3}"/>
              </a:ext>
            </a:extLst>
          </p:cNvPr>
          <p:cNvSpPr>
            <a:spLocks noGrp="1"/>
          </p:cNvSpPr>
          <p:nvPr>
            <p:ph type="sldNum" sz="quarter" idx="12"/>
          </p:nvPr>
        </p:nvSpPr>
        <p:spPr/>
        <p:txBody>
          <a:bodyPr/>
          <a:lstStyle/>
          <a:p>
            <a:fld id="{6770FFFA-C405-4014-8A18-4EE1B97D8629}" type="slidenum">
              <a:rPr lang="fr-FR" smtClean="0"/>
              <a:t>21</a:t>
            </a:fld>
            <a:endParaRPr lang="fr-FR"/>
          </a:p>
        </p:txBody>
      </p:sp>
      <p:sp>
        <p:nvSpPr>
          <p:cNvPr id="5" name="Espace réservé du pied de page 4">
            <a:extLst>
              <a:ext uri="{FF2B5EF4-FFF2-40B4-BE49-F238E27FC236}">
                <a16:creationId xmlns:a16="http://schemas.microsoft.com/office/drawing/2014/main" id="{080DB9EB-608A-4C62-B37C-C7ED6FC5638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88397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C89A09-FF4A-441F-A760-8F8DCE2180C6}"/>
              </a:ext>
            </a:extLst>
          </p:cNvPr>
          <p:cNvSpPr>
            <a:spLocks noGrp="1"/>
          </p:cNvSpPr>
          <p:nvPr>
            <p:ph type="title"/>
          </p:nvPr>
        </p:nvSpPr>
        <p:spPr/>
        <p:txBody>
          <a:bodyPr/>
          <a:lstStyle/>
          <a:p>
            <a:r>
              <a:rPr lang="fr-CA" sz="3600" dirty="0">
                <a:effectLst/>
              </a:rPr>
              <a:t>PRÉSENTATION</a:t>
            </a:r>
            <a:endParaRPr lang="fr-FR" dirty="0"/>
          </a:p>
        </p:txBody>
      </p:sp>
      <p:sp>
        <p:nvSpPr>
          <p:cNvPr id="3" name="Espace réservé du contenu 2">
            <a:extLst>
              <a:ext uri="{FF2B5EF4-FFF2-40B4-BE49-F238E27FC236}">
                <a16:creationId xmlns:a16="http://schemas.microsoft.com/office/drawing/2014/main" id="{E8673B73-7856-40C5-A745-1D94267E2F51}"/>
              </a:ext>
            </a:extLst>
          </p:cNvPr>
          <p:cNvSpPr>
            <a:spLocks noGrp="1"/>
          </p:cNvSpPr>
          <p:nvPr>
            <p:ph idx="1"/>
          </p:nvPr>
        </p:nvSpPr>
        <p:spPr/>
        <p:txBody>
          <a:bodyPr/>
          <a:lstStyle/>
          <a:p>
            <a:pPr marL="0" indent="0">
              <a:buNone/>
            </a:pPr>
            <a:r>
              <a:rPr lang="fr-CA" dirty="0">
                <a:effectLst/>
              </a:rPr>
              <a:t>.83     </a:t>
            </a:r>
            <a:r>
              <a:rPr lang="fr-CA" i="1" dirty="0">
                <a:effectLst/>
              </a:rPr>
              <a:t>Les montants des stocks agricoles et des actifs biologiques producteurs doivent être présentés sous des postes distincts dans le bilan du producteur agricole.</a:t>
            </a:r>
          </a:p>
          <a:p>
            <a:pPr marL="0" indent="0">
              <a:buNone/>
            </a:pPr>
            <a:endParaRPr lang="fr-CA" i="1" dirty="0"/>
          </a:p>
          <a:p>
            <a:pPr>
              <a:buFont typeface="Wingdings" panose="05000000000000000000" pitchFamily="2" charset="2"/>
              <a:buChar char="Ø"/>
            </a:pPr>
            <a:r>
              <a:rPr lang="fr-CA" i="1" dirty="0"/>
              <a:t>Présentation aux résultats non normalisée</a:t>
            </a:r>
            <a:endParaRPr lang="fr-CA" i="1" dirty="0">
              <a:effectLst/>
            </a:endParaRPr>
          </a:p>
          <a:p>
            <a:pPr marL="0" indent="0">
              <a:buNone/>
            </a:pPr>
            <a:endParaRPr lang="fr-FR" dirty="0"/>
          </a:p>
        </p:txBody>
      </p:sp>
      <p:sp>
        <p:nvSpPr>
          <p:cNvPr id="4" name="Espace réservé du numéro de diapositive 3">
            <a:extLst>
              <a:ext uri="{FF2B5EF4-FFF2-40B4-BE49-F238E27FC236}">
                <a16:creationId xmlns:a16="http://schemas.microsoft.com/office/drawing/2014/main" id="{75E0CB89-43A5-4B87-9967-B3828A54E1AE}"/>
              </a:ext>
            </a:extLst>
          </p:cNvPr>
          <p:cNvSpPr>
            <a:spLocks noGrp="1"/>
          </p:cNvSpPr>
          <p:nvPr>
            <p:ph type="sldNum" sz="quarter" idx="12"/>
          </p:nvPr>
        </p:nvSpPr>
        <p:spPr/>
        <p:txBody>
          <a:bodyPr/>
          <a:lstStyle/>
          <a:p>
            <a:fld id="{6770FFFA-C405-4014-8A18-4EE1B97D8629}" type="slidenum">
              <a:rPr lang="fr-FR" smtClean="0"/>
              <a:t>22</a:t>
            </a:fld>
            <a:endParaRPr lang="fr-FR"/>
          </a:p>
        </p:txBody>
      </p:sp>
      <p:sp>
        <p:nvSpPr>
          <p:cNvPr id="5" name="Espace réservé du pied de page 4">
            <a:extLst>
              <a:ext uri="{FF2B5EF4-FFF2-40B4-BE49-F238E27FC236}">
                <a16:creationId xmlns:a16="http://schemas.microsoft.com/office/drawing/2014/main" id="{79D6B5F1-5559-44AB-9074-87E3A50BB99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4005615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747</TotalTime>
  <Words>2882</Words>
  <Application>Microsoft Office PowerPoint</Application>
  <PresentationFormat>Grand écran</PresentationFormat>
  <Paragraphs>266</Paragraphs>
  <Slides>22</Slides>
  <Notes>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Arial</vt:lpstr>
      <vt:lpstr>Calibri</vt:lpstr>
      <vt:lpstr>Calibri Light</vt:lpstr>
      <vt:lpstr>Gotham A</vt:lpstr>
      <vt:lpstr>Wingdings</vt:lpstr>
      <vt:lpstr>Thème Office</vt:lpstr>
      <vt:lpstr>Secteur agricole IAS 41 et chap. 3041</vt:lpstr>
      <vt:lpstr>IAS 41  Agriculture</vt:lpstr>
      <vt:lpstr>Nature – Champ d’application</vt:lpstr>
      <vt:lpstr>Nature – Hors du champ d’application</vt:lpstr>
      <vt:lpstr>Autres définitions</vt:lpstr>
      <vt:lpstr>Comptabilisation</vt:lpstr>
      <vt:lpstr>Mesure – initiale et subséquente</vt:lpstr>
      <vt:lpstr>Mesure – initiale et subséquente</vt:lpstr>
      <vt:lpstr>Mesure – initiale et subséquente</vt:lpstr>
      <vt:lpstr>Subventions publiques</vt:lpstr>
      <vt:lpstr>Chap. 3041  Agriculture</vt:lpstr>
      <vt:lpstr>OBJET ET CHAMP D'APPLICATION</vt:lpstr>
      <vt:lpstr>OBJET ET CHAMP D'APPLICATION  (suite)</vt:lpstr>
      <vt:lpstr>Présentation PowerPoint</vt:lpstr>
      <vt:lpstr>DÉFINITIONS – nature – Classement des actifs agricoles</vt:lpstr>
      <vt:lpstr>DÉFINITIONS</vt:lpstr>
      <vt:lpstr>ÉVALUATION DES STOCKS AGRICOLES﻿ Méthode comptable</vt:lpstr>
      <vt:lpstr>ÉVALUATION DES STOCKS AGRICOLES﻿ Méthode comptable  (suite) conditions valeur nette de réalisation</vt:lpstr>
      <vt:lpstr>ÉVALUATION DES ACTIFS BIOLOGIQUES PRODUCTEURS﻿ Coût﻿</vt:lpstr>
      <vt:lpstr>ÉVALUATION DES ACTIFS BIOLOGIQUES PRODUCTEURS﻿ (suite)</vt:lpstr>
      <vt:lpstr>ÉVALUATION DES ACTIFS BIOLOGIQUES PRODUCTEURS﻿ (suite)</vt:lpstr>
      <vt:lpstr>PRÉSENTATION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16</cp:revision>
  <dcterms:created xsi:type="dcterms:W3CDTF">2023-01-31T22:04:41Z</dcterms:created>
  <dcterms:modified xsi:type="dcterms:W3CDTF">2025-11-24T13:46:59Z</dcterms:modified>
</cp:coreProperties>
</file>